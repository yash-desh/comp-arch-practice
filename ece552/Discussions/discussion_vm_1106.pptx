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6" r:id="rId9"/>
    <p:sldId id="267" r:id="rId10"/>
    <p:sldId id="268" r:id="rId11"/>
    <p:sldId id="263" r:id="rId12"/>
    <p:sldId id="264" r:id="rId13"/>
    <p:sldId id="269" r:id="rId14"/>
    <p:sldId id="270"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9" autoAdjust="0"/>
    <p:restoredTop sz="74441" autoAdjust="0"/>
  </p:normalViewPr>
  <p:slideViewPr>
    <p:cSldViewPr snapToGrid="0">
      <p:cViewPr varScale="1">
        <p:scale>
          <a:sx n="57" d="100"/>
          <a:sy n="57" d="100"/>
        </p:scale>
        <p:origin x="9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042555-2242-4E12-974A-97BC2023BE53}"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D2284-B658-41AC-957B-38A5BF1EB108}" type="slidenum">
              <a:rPr lang="en-US" smtClean="0"/>
              <a:t>‹#›</a:t>
            </a:fld>
            <a:endParaRPr lang="en-US"/>
          </a:p>
        </p:txBody>
      </p:sp>
    </p:spTree>
    <p:extLst>
      <p:ext uri="{BB962C8B-B14F-4D97-AF65-F5344CB8AC3E}">
        <p14:creationId xmlns:p14="http://schemas.microsoft.com/office/powerpoint/2010/main" val="3433240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2</a:t>
            </a:fld>
            <a:endParaRPr lang="en-US"/>
          </a:p>
        </p:txBody>
      </p:sp>
    </p:spTree>
    <p:extLst>
      <p:ext uri="{BB962C8B-B14F-4D97-AF65-F5344CB8AC3E}">
        <p14:creationId xmlns:p14="http://schemas.microsoft.com/office/powerpoint/2010/main" val="2574212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3</a:t>
            </a:fld>
            <a:endParaRPr lang="en-US"/>
          </a:p>
        </p:txBody>
      </p:sp>
    </p:spTree>
    <p:extLst>
      <p:ext uri="{BB962C8B-B14F-4D97-AF65-F5344CB8AC3E}">
        <p14:creationId xmlns:p14="http://schemas.microsoft.com/office/powerpoint/2010/main" val="360032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4</a:t>
            </a:fld>
            <a:endParaRPr lang="en-US"/>
          </a:p>
        </p:txBody>
      </p:sp>
    </p:spTree>
    <p:extLst>
      <p:ext uri="{BB962C8B-B14F-4D97-AF65-F5344CB8AC3E}">
        <p14:creationId xmlns:p14="http://schemas.microsoft.com/office/powerpoint/2010/main" val="1805583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5</a:t>
            </a:fld>
            <a:endParaRPr lang="en-US"/>
          </a:p>
        </p:txBody>
      </p:sp>
    </p:spTree>
    <p:extLst>
      <p:ext uri="{BB962C8B-B14F-4D97-AF65-F5344CB8AC3E}">
        <p14:creationId xmlns:p14="http://schemas.microsoft.com/office/powerpoint/2010/main" val="3507290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6</a:t>
            </a:fld>
            <a:endParaRPr lang="en-US"/>
          </a:p>
        </p:txBody>
      </p:sp>
    </p:spTree>
    <p:extLst>
      <p:ext uri="{BB962C8B-B14F-4D97-AF65-F5344CB8AC3E}">
        <p14:creationId xmlns:p14="http://schemas.microsoft.com/office/powerpoint/2010/main" val="908904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7</a:t>
            </a:fld>
            <a:endParaRPr lang="en-US"/>
          </a:p>
        </p:txBody>
      </p:sp>
    </p:spTree>
    <p:extLst>
      <p:ext uri="{BB962C8B-B14F-4D97-AF65-F5344CB8AC3E}">
        <p14:creationId xmlns:p14="http://schemas.microsoft.com/office/powerpoint/2010/main" val="2461898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8</a:t>
            </a:fld>
            <a:endParaRPr lang="en-US"/>
          </a:p>
        </p:txBody>
      </p:sp>
    </p:spTree>
    <p:extLst>
      <p:ext uri="{BB962C8B-B14F-4D97-AF65-F5344CB8AC3E}">
        <p14:creationId xmlns:p14="http://schemas.microsoft.com/office/powerpoint/2010/main" val="1074426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9</a:t>
            </a:fld>
            <a:endParaRPr lang="en-US"/>
          </a:p>
        </p:txBody>
      </p:sp>
    </p:spTree>
    <p:extLst>
      <p:ext uri="{BB962C8B-B14F-4D97-AF65-F5344CB8AC3E}">
        <p14:creationId xmlns:p14="http://schemas.microsoft.com/office/powerpoint/2010/main" val="959831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10</a:t>
            </a:fld>
            <a:endParaRPr lang="en-US"/>
          </a:p>
        </p:txBody>
      </p:sp>
    </p:spTree>
    <p:extLst>
      <p:ext uri="{BB962C8B-B14F-4D97-AF65-F5344CB8AC3E}">
        <p14:creationId xmlns:p14="http://schemas.microsoft.com/office/powerpoint/2010/main" val="2239110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11</a:t>
            </a:fld>
            <a:endParaRPr lang="en-US"/>
          </a:p>
        </p:txBody>
      </p:sp>
    </p:spTree>
    <p:extLst>
      <p:ext uri="{BB962C8B-B14F-4D97-AF65-F5344CB8AC3E}">
        <p14:creationId xmlns:p14="http://schemas.microsoft.com/office/powerpoint/2010/main" val="1506791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12</a:t>
            </a:fld>
            <a:endParaRPr lang="en-US"/>
          </a:p>
        </p:txBody>
      </p:sp>
    </p:spTree>
    <p:extLst>
      <p:ext uri="{BB962C8B-B14F-4D97-AF65-F5344CB8AC3E}">
        <p14:creationId xmlns:p14="http://schemas.microsoft.com/office/powerpoint/2010/main" val="406609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13</a:t>
            </a:fld>
            <a:endParaRPr lang="en-US"/>
          </a:p>
        </p:txBody>
      </p:sp>
    </p:spTree>
    <p:extLst>
      <p:ext uri="{BB962C8B-B14F-4D97-AF65-F5344CB8AC3E}">
        <p14:creationId xmlns:p14="http://schemas.microsoft.com/office/powerpoint/2010/main" val="661739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14</a:t>
            </a:fld>
            <a:endParaRPr lang="en-US"/>
          </a:p>
        </p:txBody>
      </p:sp>
    </p:spTree>
    <p:extLst>
      <p:ext uri="{BB962C8B-B14F-4D97-AF65-F5344CB8AC3E}">
        <p14:creationId xmlns:p14="http://schemas.microsoft.com/office/powerpoint/2010/main" val="181259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5D2284-B658-41AC-957B-38A5BF1EB108}" type="slidenum">
              <a:rPr lang="en-US" smtClean="0"/>
              <a:t>15</a:t>
            </a:fld>
            <a:endParaRPr lang="en-US"/>
          </a:p>
        </p:txBody>
      </p:sp>
    </p:spTree>
    <p:extLst>
      <p:ext uri="{BB962C8B-B14F-4D97-AF65-F5344CB8AC3E}">
        <p14:creationId xmlns:p14="http://schemas.microsoft.com/office/powerpoint/2010/main" val="4005668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DF72-2928-48DB-85E5-A8624A92E3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0F7A18-6407-4896-AA86-CE7E4BF2C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18D3C-4FBA-4790-BB19-6675E5C10B17}"/>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B907E199-7FDE-420C-B04E-A2E85E3E21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56166-C1E0-44F4-8C24-882A5F7CDCAF}"/>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1053482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DEB64-13ED-40FB-B2EE-586050EDF0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8F6BB7-6F57-497E-9185-9C4AEA2B67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F8973-2E76-4A29-8E65-4A042E9A2C55}"/>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C5ABA413-E97E-441A-9B71-CB24C6038D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3C7DA2-9903-45ED-A4E5-3A779DE76EA3}"/>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4194070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00C2-F4C4-4E7D-BF36-56B3A13CC0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81968D-A56C-49B8-A9AD-65C9311618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FEC319-7DC1-4C93-A7C5-3AAC5A3897FD}"/>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9F445DE3-A8AD-4A66-B774-2205B0387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E95DC-EA23-48D8-BE6A-8AAC1F30D9B0}"/>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2973222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7F17D-C17F-48D2-90CC-2F49C608A6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CB282F-5A31-4D19-85F7-F0449F19EF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5781E6-D493-4429-A3A0-F43D3B2B7D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D57855-BB58-4F7E-BE27-C813CAF4E3B7}"/>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6" name="Footer Placeholder 5">
            <a:extLst>
              <a:ext uri="{FF2B5EF4-FFF2-40B4-BE49-F238E27FC236}">
                <a16:creationId xmlns:a16="http://schemas.microsoft.com/office/drawing/2014/main" id="{77E152C8-5A7C-4C1F-B203-CA7784658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E4E8C-7ADC-41BB-BA43-3FE4549F4CD5}"/>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389801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64D16-7101-4B94-8D42-C677A0382C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290603-0A69-4803-897D-BDA27F286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7EFE3A-8EBD-4C26-9596-A6B2128BAB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7443C1-082E-4341-8664-7E6A924AD6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E8C499-8E7C-47B5-8DB9-67B475A72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853A9A-BB4D-4AE4-B739-593005D9EE29}"/>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8" name="Footer Placeholder 7">
            <a:extLst>
              <a:ext uri="{FF2B5EF4-FFF2-40B4-BE49-F238E27FC236}">
                <a16:creationId xmlns:a16="http://schemas.microsoft.com/office/drawing/2014/main" id="{568AD00D-C6EE-4911-9857-D6B5E79939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1102F1-C66E-4137-85F3-225F986A0CE8}"/>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2732324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1F10-F790-41CA-8CF1-3F61A25A98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DC0AF6-432B-4E0E-854A-24AA10A05E36}"/>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4" name="Footer Placeholder 3">
            <a:extLst>
              <a:ext uri="{FF2B5EF4-FFF2-40B4-BE49-F238E27FC236}">
                <a16:creationId xmlns:a16="http://schemas.microsoft.com/office/drawing/2014/main" id="{4ABAC67A-2DCB-4A74-853C-9FD0E4D016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D96B66-1483-4557-840E-22FA2269F802}"/>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214056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B2A8A8-49C7-4086-8E0C-CACA03FAFBE2}"/>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3" name="Footer Placeholder 2">
            <a:extLst>
              <a:ext uri="{FF2B5EF4-FFF2-40B4-BE49-F238E27FC236}">
                <a16:creationId xmlns:a16="http://schemas.microsoft.com/office/drawing/2014/main" id="{F3162225-1C6D-40FA-B537-B9D08BCFB7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240C2C-352F-4B0E-A84C-5D52FA786379}"/>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4096741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6C791-8C53-440D-AA62-7B9744659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6CDAC8-BF43-4C76-BF5A-1F5A667002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A07EAA-7CCC-4CA9-B7B6-88AC63091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9B6903-C3CD-4546-9310-ABA8A3E159DD}"/>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6" name="Footer Placeholder 5">
            <a:extLst>
              <a:ext uri="{FF2B5EF4-FFF2-40B4-BE49-F238E27FC236}">
                <a16:creationId xmlns:a16="http://schemas.microsoft.com/office/drawing/2014/main" id="{A691C097-77C8-49B9-9190-47EE5A5F0E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2D44AA-810D-44EE-9928-BBDCE7F1A11A}"/>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983889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10852-1B24-44E0-9870-F526765EBD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CE7099-7FE0-4E5B-956E-3152091CD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98E839-4BBD-47E7-AA12-F09055C35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F5B9A-A27E-498F-96F7-BF31CC37A07D}"/>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6" name="Footer Placeholder 5">
            <a:extLst>
              <a:ext uri="{FF2B5EF4-FFF2-40B4-BE49-F238E27FC236}">
                <a16:creationId xmlns:a16="http://schemas.microsoft.com/office/drawing/2014/main" id="{5D5E8C14-D8A6-4838-9558-58CE1AAED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BA19D3-6988-4EC1-9AEE-84CF827BCF4B}"/>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2284352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99EFA-10EC-43EA-B7AF-04A6D462FC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798BB7-3C13-4F1A-A76C-F91C62DACB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2184A7-F174-41BA-9147-F686D982998D}"/>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00739E65-8DCD-4005-9D94-5C6602843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D20D3-1E2E-4D8E-82CA-3503901C3ADE}"/>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85646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D2E17F-CFBA-428E-9BAB-ACB23BFFCC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10A301-886D-4E5F-9C7B-7E009DA7F7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B0F635-CD00-44E6-956A-AA8C8D5D53ED}"/>
              </a:ext>
            </a:extLst>
          </p:cNvPr>
          <p:cNvSpPr>
            <a:spLocks noGrp="1"/>
          </p:cNvSpPr>
          <p:nvPr>
            <p:ph type="dt" sz="half" idx="10"/>
          </p:nvPr>
        </p:nvSpPr>
        <p:spPr/>
        <p:txBody>
          <a:body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9373597D-856D-49AB-8D69-AF076EE78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116D-1CE9-467F-BAA2-90841F90AA98}"/>
              </a:ext>
            </a:extLst>
          </p:cNvPr>
          <p:cNvSpPr>
            <a:spLocks noGrp="1"/>
          </p:cNvSpPr>
          <p:nvPr>
            <p:ph type="sldNum" sz="quarter" idx="12"/>
          </p:nvPr>
        </p:nvSpPr>
        <p:spPr/>
        <p:txBody>
          <a:bodyPr/>
          <a:lstStyle/>
          <a:p>
            <a:fld id="{3DB3D194-8A36-4065-A18E-7E23BDC061D2}" type="slidenum">
              <a:rPr lang="en-US" smtClean="0"/>
              <a:t>‹#›</a:t>
            </a:fld>
            <a:endParaRPr lang="en-US"/>
          </a:p>
        </p:txBody>
      </p:sp>
    </p:spTree>
    <p:extLst>
      <p:ext uri="{BB962C8B-B14F-4D97-AF65-F5344CB8AC3E}">
        <p14:creationId xmlns:p14="http://schemas.microsoft.com/office/powerpoint/2010/main" val="2022700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1A0602-B5CF-4D5C-A19D-E92F6E6C5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1CDD7-737D-44E0-9614-31C5491473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2AC027-05F9-42CD-8193-E7C290BE9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ACC4F1-C7AB-4502-9AE4-2398EEC387DE}" type="datetimeFigureOut">
              <a:rPr lang="en-US" smtClean="0"/>
              <a:t>11/6/2024</a:t>
            </a:fld>
            <a:endParaRPr lang="en-US"/>
          </a:p>
        </p:txBody>
      </p:sp>
      <p:sp>
        <p:nvSpPr>
          <p:cNvPr id="5" name="Footer Placeholder 4">
            <a:extLst>
              <a:ext uri="{FF2B5EF4-FFF2-40B4-BE49-F238E27FC236}">
                <a16:creationId xmlns:a16="http://schemas.microsoft.com/office/drawing/2014/main" id="{E4159716-733C-4879-87F1-D3A2AF2783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9B4464-3997-4C4D-8871-76B60EAB40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B3D194-8A36-4065-A18E-7E23BDC061D2}" type="slidenum">
              <a:rPr lang="en-US" smtClean="0"/>
              <a:t>‹#›</a:t>
            </a:fld>
            <a:endParaRPr lang="en-US"/>
          </a:p>
        </p:txBody>
      </p:sp>
    </p:spTree>
    <p:extLst>
      <p:ext uri="{BB962C8B-B14F-4D97-AF65-F5344CB8AC3E}">
        <p14:creationId xmlns:p14="http://schemas.microsoft.com/office/powerpoint/2010/main" val="2069121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0617-0C9F-4713-9DD0-7934C9A78F30}"/>
              </a:ext>
            </a:extLst>
          </p:cNvPr>
          <p:cNvSpPr>
            <a:spLocks noGrp="1"/>
          </p:cNvSpPr>
          <p:nvPr>
            <p:ph type="ctrTitle"/>
          </p:nvPr>
        </p:nvSpPr>
        <p:spPr/>
        <p:txBody>
          <a:bodyPr/>
          <a:lstStyle/>
          <a:p>
            <a:r>
              <a:rPr lang="en-US" dirty="0"/>
              <a:t>Virtual Memory</a:t>
            </a:r>
          </a:p>
        </p:txBody>
      </p:sp>
      <p:sp>
        <p:nvSpPr>
          <p:cNvPr id="3" name="Subtitle 2">
            <a:extLst>
              <a:ext uri="{FF2B5EF4-FFF2-40B4-BE49-F238E27FC236}">
                <a16:creationId xmlns:a16="http://schemas.microsoft.com/office/drawing/2014/main" id="{FB65E08C-BC2E-4414-BEE3-0ACC7A9F360B}"/>
              </a:ext>
            </a:extLst>
          </p:cNvPr>
          <p:cNvSpPr>
            <a:spLocks noGrp="1"/>
          </p:cNvSpPr>
          <p:nvPr>
            <p:ph type="subTitle" idx="1"/>
          </p:nvPr>
        </p:nvSpPr>
        <p:spPr/>
        <p:txBody>
          <a:bodyPr/>
          <a:lstStyle/>
          <a:p>
            <a:r>
              <a:rPr lang="en-US" dirty="0"/>
              <a:t>Discussion 11/06/24</a:t>
            </a:r>
          </a:p>
        </p:txBody>
      </p:sp>
    </p:spTree>
    <p:extLst>
      <p:ext uri="{BB962C8B-B14F-4D97-AF65-F5344CB8AC3E}">
        <p14:creationId xmlns:p14="http://schemas.microsoft.com/office/powerpoint/2010/main" val="206097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7B5-1795-4015-A396-73E166E9CA58}"/>
              </a:ext>
            </a:extLst>
          </p:cNvPr>
          <p:cNvSpPr>
            <a:spLocks noGrp="1"/>
          </p:cNvSpPr>
          <p:nvPr>
            <p:ph type="title"/>
          </p:nvPr>
        </p:nvSpPr>
        <p:spPr/>
        <p:txBody>
          <a:bodyPr/>
          <a:lstStyle/>
          <a:p>
            <a:r>
              <a:rPr lang="en-US" dirty="0"/>
              <a:t>Why Virtual Memory?</a:t>
            </a:r>
          </a:p>
        </p:txBody>
      </p:sp>
      <p:sp>
        <p:nvSpPr>
          <p:cNvPr id="3" name="Content Placeholder 2">
            <a:extLst>
              <a:ext uri="{FF2B5EF4-FFF2-40B4-BE49-F238E27FC236}">
                <a16:creationId xmlns:a16="http://schemas.microsoft.com/office/drawing/2014/main" id="{D96A5B76-3440-4C60-A1F2-C4F3EE115DC1}"/>
              </a:ext>
            </a:extLst>
          </p:cNvPr>
          <p:cNvSpPr>
            <a:spLocks noGrp="1"/>
          </p:cNvSpPr>
          <p:nvPr>
            <p:ph idx="1"/>
          </p:nvPr>
        </p:nvSpPr>
        <p:spPr/>
        <p:txBody>
          <a:bodyPr/>
          <a:lstStyle/>
          <a:p>
            <a:r>
              <a:rPr lang="en-US" dirty="0"/>
              <a:t>Programmer and Hardware have different views of memory</a:t>
            </a:r>
          </a:p>
          <a:p>
            <a:r>
              <a:rPr lang="en-US" dirty="0"/>
              <a:t>VM reconciles this</a:t>
            </a:r>
          </a:p>
          <a:p>
            <a:r>
              <a:rPr lang="en-US" dirty="0"/>
              <a:t>Multiple programs running can now view memory as if they are the only programs running </a:t>
            </a:r>
          </a:p>
          <a:p>
            <a:endParaRPr lang="en-US" dirty="0"/>
          </a:p>
          <a:p>
            <a:endParaRPr lang="en-US" dirty="0"/>
          </a:p>
        </p:txBody>
      </p:sp>
    </p:spTree>
    <p:extLst>
      <p:ext uri="{BB962C8B-B14F-4D97-AF65-F5344CB8AC3E}">
        <p14:creationId xmlns:p14="http://schemas.microsoft.com/office/powerpoint/2010/main" val="2825341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8F96-860D-46E7-8E45-7515BF784DE7}"/>
              </a:ext>
            </a:extLst>
          </p:cNvPr>
          <p:cNvSpPr>
            <a:spLocks noGrp="1"/>
          </p:cNvSpPr>
          <p:nvPr>
            <p:ph type="title"/>
          </p:nvPr>
        </p:nvSpPr>
        <p:spPr/>
        <p:txBody>
          <a:bodyPr/>
          <a:lstStyle/>
          <a:p>
            <a:r>
              <a:rPr lang="en-US" dirty="0"/>
              <a:t>Physical Memory – Processor’s View	</a:t>
            </a:r>
          </a:p>
        </p:txBody>
      </p:sp>
      <p:sp>
        <p:nvSpPr>
          <p:cNvPr id="3" name="Content Placeholder 2">
            <a:extLst>
              <a:ext uri="{FF2B5EF4-FFF2-40B4-BE49-F238E27FC236}">
                <a16:creationId xmlns:a16="http://schemas.microsoft.com/office/drawing/2014/main" id="{0EF9E0A1-7B47-47A2-8D24-D0423345CADB}"/>
              </a:ext>
            </a:extLst>
          </p:cNvPr>
          <p:cNvSpPr>
            <a:spLocks noGrp="1"/>
          </p:cNvSpPr>
          <p:nvPr>
            <p:ph idx="1"/>
          </p:nvPr>
        </p:nvSpPr>
        <p:spPr/>
        <p:txBody>
          <a:bodyPr/>
          <a:lstStyle/>
          <a:p>
            <a:r>
              <a:rPr lang="en-US" dirty="0"/>
              <a:t>PM – Actual Memory modules</a:t>
            </a:r>
          </a:p>
          <a:p>
            <a:pPr lvl="1"/>
            <a:r>
              <a:rPr lang="en-US" dirty="0"/>
              <a:t>In the range of 4 GB (Sometimes even lesser)</a:t>
            </a:r>
          </a:p>
          <a:p>
            <a:pPr lvl="1"/>
            <a:r>
              <a:rPr lang="en-US" dirty="0"/>
              <a:t>Never 4 GB per process</a:t>
            </a:r>
          </a:p>
          <a:p>
            <a:pPr lvl="1"/>
            <a:r>
              <a:rPr lang="en-US" dirty="0"/>
              <a:t>Not 2^16 B per process</a:t>
            </a:r>
          </a:p>
          <a:p>
            <a:r>
              <a:rPr lang="en-US" dirty="0"/>
              <a:t>PM is less than what the programs can access</a:t>
            </a:r>
          </a:p>
          <a:p>
            <a:r>
              <a:rPr lang="en-US" dirty="0"/>
              <a:t>Addresses have 1:1 mapping to the bytes /words in the PM</a:t>
            </a:r>
          </a:p>
          <a:p>
            <a:endParaRPr lang="en-US" dirty="0"/>
          </a:p>
        </p:txBody>
      </p:sp>
    </p:spTree>
    <p:extLst>
      <p:ext uri="{BB962C8B-B14F-4D97-AF65-F5344CB8AC3E}">
        <p14:creationId xmlns:p14="http://schemas.microsoft.com/office/powerpoint/2010/main" val="3522844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0812-713A-49A2-93B5-C8022A205101}"/>
              </a:ext>
            </a:extLst>
          </p:cNvPr>
          <p:cNvSpPr>
            <a:spLocks noGrp="1"/>
          </p:cNvSpPr>
          <p:nvPr>
            <p:ph type="title"/>
          </p:nvPr>
        </p:nvSpPr>
        <p:spPr/>
        <p:txBody>
          <a:bodyPr/>
          <a:lstStyle/>
          <a:p>
            <a:r>
              <a:rPr lang="en-US" dirty="0"/>
              <a:t>Program’s View</a:t>
            </a:r>
          </a:p>
        </p:txBody>
      </p:sp>
      <p:sp>
        <p:nvSpPr>
          <p:cNvPr id="3" name="Content Placeholder 2">
            <a:extLst>
              <a:ext uri="{FF2B5EF4-FFF2-40B4-BE49-F238E27FC236}">
                <a16:creationId xmlns:a16="http://schemas.microsoft.com/office/drawing/2014/main" id="{B46072B2-1E5A-4FCB-A303-BEC448F795EA}"/>
              </a:ext>
            </a:extLst>
          </p:cNvPr>
          <p:cNvSpPr>
            <a:spLocks noGrp="1"/>
          </p:cNvSpPr>
          <p:nvPr>
            <p:ph idx="1"/>
          </p:nvPr>
        </p:nvSpPr>
        <p:spPr>
          <a:xfrm>
            <a:off x="838200" y="1825625"/>
            <a:ext cx="6290569" cy="4351338"/>
          </a:xfrm>
        </p:spPr>
        <p:txBody>
          <a:bodyPr/>
          <a:lstStyle/>
          <a:p>
            <a:r>
              <a:rPr lang="en-US" dirty="0"/>
              <a:t>Contiguous array of memory (0 – 2^64)</a:t>
            </a:r>
          </a:p>
          <a:p>
            <a:r>
              <a:rPr lang="en-US" dirty="0"/>
              <a:t>Program thinks it has a lot of memory</a:t>
            </a:r>
          </a:p>
          <a:p>
            <a:pPr lvl="1"/>
            <a:r>
              <a:rPr lang="en-US" dirty="0"/>
              <a:t>But the program might not even use all of this memory!</a:t>
            </a:r>
          </a:p>
          <a:p>
            <a:r>
              <a:rPr lang="en-US" dirty="0"/>
              <a:t>Need to go where it goes in the PM</a:t>
            </a:r>
          </a:p>
          <a:p>
            <a:r>
              <a:rPr lang="en-US" dirty="0"/>
              <a:t>Same address can map to different locations in the PM</a:t>
            </a:r>
          </a:p>
          <a:p>
            <a:pPr lvl="1"/>
            <a:r>
              <a:rPr lang="en-US" dirty="0"/>
              <a:t>Look at Synonyms and Homonyms problem in adv cache</a:t>
            </a:r>
          </a:p>
          <a:p>
            <a:endParaRPr lang="en-US" dirty="0"/>
          </a:p>
        </p:txBody>
      </p:sp>
      <p:grpSp>
        <p:nvGrpSpPr>
          <p:cNvPr id="14" name="Group 13">
            <a:extLst>
              <a:ext uri="{FF2B5EF4-FFF2-40B4-BE49-F238E27FC236}">
                <a16:creationId xmlns:a16="http://schemas.microsoft.com/office/drawing/2014/main" id="{E9DADC16-1475-4CAF-BF30-1674E48240B2}"/>
              </a:ext>
            </a:extLst>
          </p:cNvPr>
          <p:cNvGrpSpPr/>
          <p:nvPr/>
        </p:nvGrpSpPr>
        <p:grpSpPr>
          <a:xfrm>
            <a:off x="10298097" y="1875550"/>
            <a:ext cx="1500326" cy="3559945"/>
            <a:chOff x="1393794" y="2299317"/>
            <a:chExt cx="1500326" cy="3559945"/>
          </a:xfrm>
        </p:grpSpPr>
        <p:sp>
          <p:nvSpPr>
            <p:cNvPr id="4" name="Rectangle 3">
              <a:extLst>
                <a:ext uri="{FF2B5EF4-FFF2-40B4-BE49-F238E27FC236}">
                  <a16:creationId xmlns:a16="http://schemas.microsoft.com/office/drawing/2014/main" id="{71FCFAB8-7235-4076-B0E2-ABDAD2102C3A}"/>
                </a:ext>
              </a:extLst>
            </p:cNvPr>
            <p:cNvSpPr/>
            <p:nvPr/>
          </p:nvSpPr>
          <p:spPr>
            <a:xfrm>
              <a:off x="1393794" y="2299317"/>
              <a:ext cx="1500326" cy="355994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7154261-1F94-4668-AADC-BB33F703B000}"/>
                </a:ext>
              </a:extLst>
            </p:cNvPr>
            <p:cNvCxnSpPr/>
            <p:nvPr/>
          </p:nvCxnSpPr>
          <p:spPr>
            <a:xfrm>
              <a:off x="1393794" y="2965142"/>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02EA306-A1D8-446A-8986-4B23AD44DF50}"/>
                </a:ext>
              </a:extLst>
            </p:cNvPr>
            <p:cNvCxnSpPr/>
            <p:nvPr/>
          </p:nvCxnSpPr>
          <p:spPr>
            <a:xfrm>
              <a:off x="1393794" y="3854389"/>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DCEAA13-BE60-4869-931A-17C768EFECCE}"/>
                </a:ext>
              </a:extLst>
            </p:cNvPr>
            <p:cNvCxnSpPr/>
            <p:nvPr/>
          </p:nvCxnSpPr>
          <p:spPr>
            <a:xfrm>
              <a:off x="1393794" y="5018844"/>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15E8D8E-288F-45CD-B7C5-9660B92C3100}"/>
                </a:ext>
              </a:extLst>
            </p:cNvPr>
            <p:cNvCxnSpPr/>
            <p:nvPr/>
          </p:nvCxnSpPr>
          <p:spPr>
            <a:xfrm>
              <a:off x="2121763" y="3773010"/>
              <a:ext cx="0" cy="3462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93B0684-F96E-4A8C-B95A-CC4A31609E82}"/>
                </a:ext>
              </a:extLst>
            </p:cNvPr>
            <p:cNvCxnSpPr>
              <a:cxnSpLocks/>
            </p:cNvCxnSpPr>
            <p:nvPr/>
          </p:nvCxnSpPr>
          <p:spPr>
            <a:xfrm flipV="1">
              <a:off x="2112884" y="4788440"/>
              <a:ext cx="0" cy="2821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923F4044-17F6-4488-B51C-0B4D33B6F9AE}"/>
              </a:ext>
            </a:extLst>
          </p:cNvPr>
          <p:cNvGrpSpPr/>
          <p:nvPr/>
        </p:nvGrpSpPr>
        <p:grpSpPr>
          <a:xfrm>
            <a:off x="7128769" y="1955053"/>
            <a:ext cx="1500326" cy="3559945"/>
            <a:chOff x="1393794" y="2299317"/>
            <a:chExt cx="1500326" cy="3559945"/>
          </a:xfrm>
        </p:grpSpPr>
        <p:sp>
          <p:nvSpPr>
            <p:cNvPr id="16" name="Rectangle 15">
              <a:extLst>
                <a:ext uri="{FF2B5EF4-FFF2-40B4-BE49-F238E27FC236}">
                  <a16:creationId xmlns:a16="http://schemas.microsoft.com/office/drawing/2014/main" id="{11E5A847-F355-4D0F-9D41-F33C16A145F0}"/>
                </a:ext>
              </a:extLst>
            </p:cNvPr>
            <p:cNvSpPr/>
            <p:nvPr/>
          </p:nvSpPr>
          <p:spPr>
            <a:xfrm>
              <a:off x="1393794" y="2299317"/>
              <a:ext cx="1500326" cy="355994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2B247D5D-CE2F-4562-8F37-EB8B861431FF}"/>
                </a:ext>
              </a:extLst>
            </p:cNvPr>
            <p:cNvCxnSpPr/>
            <p:nvPr/>
          </p:nvCxnSpPr>
          <p:spPr>
            <a:xfrm>
              <a:off x="1393794" y="2965142"/>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CC1BDB3-7FB9-4103-A9FD-271F2972EE4B}"/>
                </a:ext>
              </a:extLst>
            </p:cNvPr>
            <p:cNvCxnSpPr/>
            <p:nvPr/>
          </p:nvCxnSpPr>
          <p:spPr>
            <a:xfrm>
              <a:off x="1393794" y="3854389"/>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47AC07-4AAE-40A9-92D0-AC94E23DBA2C}"/>
                </a:ext>
              </a:extLst>
            </p:cNvPr>
            <p:cNvCxnSpPr/>
            <p:nvPr/>
          </p:nvCxnSpPr>
          <p:spPr>
            <a:xfrm>
              <a:off x="1393794" y="5018844"/>
              <a:ext cx="150032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848D632-0C98-4759-BB4D-5990F1BB704B}"/>
                </a:ext>
              </a:extLst>
            </p:cNvPr>
            <p:cNvCxnSpPr/>
            <p:nvPr/>
          </p:nvCxnSpPr>
          <p:spPr>
            <a:xfrm>
              <a:off x="2121763" y="3773010"/>
              <a:ext cx="0" cy="3462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A05FF4-0573-491A-AB7F-1439469FA744}"/>
                </a:ext>
              </a:extLst>
            </p:cNvPr>
            <p:cNvCxnSpPr>
              <a:cxnSpLocks/>
            </p:cNvCxnSpPr>
            <p:nvPr/>
          </p:nvCxnSpPr>
          <p:spPr>
            <a:xfrm flipV="1">
              <a:off x="2112884" y="4788440"/>
              <a:ext cx="0" cy="2821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600FA020-0402-42EB-BB21-3D40F7234B41}"/>
              </a:ext>
            </a:extLst>
          </p:cNvPr>
          <p:cNvSpPr txBox="1"/>
          <p:nvPr/>
        </p:nvSpPr>
        <p:spPr>
          <a:xfrm>
            <a:off x="7390659" y="5590289"/>
            <a:ext cx="1500326" cy="369332"/>
          </a:xfrm>
          <a:prstGeom prst="rect">
            <a:avLst/>
          </a:prstGeom>
          <a:noFill/>
        </p:spPr>
        <p:txBody>
          <a:bodyPr wrap="square" rtlCol="0">
            <a:spAutoFit/>
          </a:bodyPr>
          <a:lstStyle/>
          <a:p>
            <a:r>
              <a:rPr lang="en-US" dirty="0"/>
              <a:t>Program 1 </a:t>
            </a:r>
          </a:p>
        </p:txBody>
      </p:sp>
      <p:sp>
        <p:nvSpPr>
          <p:cNvPr id="30" name="TextBox 29">
            <a:extLst>
              <a:ext uri="{FF2B5EF4-FFF2-40B4-BE49-F238E27FC236}">
                <a16:creationId xmlns:a16="http://schemas.microsoft.com/office/drawing/2014/main" id="{88C79882-A211-4507-90BD-B9D9C17CCEB0}"/>
              </a:ext>
            </a:extLst>
          </p:cNvPr>
          <p:cNvSpPr txBox="1"/>
          <p:nvPr/>
        </p:nvSpPr>
        <p:spPr>
          <a:xfrm>
            <a:off x="10537055" y="5470096"/>
            <a:ext cx="1500326" cy="369332"/>
          </a:xfrm>
          <a:prstGeom prst="rect">
            <a:avLst/>
          </a:prstGeom>
          <a:noFill/>
        </p:spPr>
        <p:txBody>
          <a:bodyPr wrap="square" rtlCol="0">
            <a:spAutoFit/>
          </a:bodyPr>
          <a:lstStyle/>
          <a:p>
            <a:r>
              <a:rPr lang="en-US" dirty="0"/>
              <a:t>Program 2 </a:t>
            </a:r>
          </a:p>
        </p:txBody>
      </p:sp>
      <p:sp>
        <p:nvSpPr>
          <p:cNvPr id="31" name="Rectangle 30">
            <a:extLst>
              <a:ext uri="{FF2B5EF4-FFF2-40B4-BE49-F238E27FC236}">
                <a16:creationId xmlns:a16="http://schemas.microsoft.com/office/drawing/2014/main" id="{39E0EDC4-3055-4564-9E50-D40B5432ED98}"/>
              </a:ext>
            </a:extLst>
          </p:cNvPr>
          <p:cNvSpPr/>
          <p:nvPr/>
        </p:nvSpPr>
        <p:spPr>
          <a:xfrm>
            <a:off x="9072979" y="2415193"/>
            <a:ext cx="834501" cy="1094927"/>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PM</a:t>
            </a:r>
          </a:p>
        </p:txBody>
      </p:sp>
    </p:spTree>
    <p:extLst>
      <p:ext uri="{BB962C8B-B14F-4D97-AF65-F5344CB8AC3E}">
        <p14:creationId xmlns:p14="http://schemas.microsoft.com/office/powerpoint/2010/main" val="3676475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D5EB-22DB-4C3F-B10E-B8A47886FA1A}"/>
              </a:ext>
            </a:extLst>
          </p:cNvPr>
          <p:cNvSpPr>
            <a:spLocks noGrp="1"/>
          </p:cNvSpPr>
          <p:nvPr>
            <p:ph type="title"/>
          </p:nvPr>
        </p:nvSpPr>
        <p:spPr/>
        <p:txBody>
          <a:bodyPr/>
          <a:lstStyle/>
          <a:p>
            <a:r>
              <a:rPr lang="en-US" dirty="0"/>
              <a:t>Mapping VM </a:t>
            </a:r>
            <a:r>
              <a:rPr lang="en-US" dirty="0">
                <a:sym typeface="Wingdings" panose="05000000000000000000" pitchFamily="2" charset="2"/>
              </a:rPr>
              <a:t> PM</a:t>
            </a:r>
            <a:endParaRPr lang="en-US" dirty="0"/>
          </a:p>
        </p:txBody>
      </p:sp>
      <p:sp>
        <p:nvSpPr>
          <p:cNvPr id="3" name="Content Placeholder 2">
            <a:extLst>
              <a:ext uri="{FF2B5EF4-FFF2-40B4-BE49-F238E27FC236}">
                <a16:creationId xmlns:a16="http://schemas.microsoft.com/office/drawing/2014/main" id="{4FA85723-A8D4-4AA4-9CD1-9EF15CCF6920}"/>
              </a:ext>
            </a:extLst>
          </p:cNvPr>
          <p:cNvSpPr>
            <a:spLocks noGrp="1"/>
          </p:cNvSpPr>
          <p:nvPr>
            <p:ph idx="1"/>
          </p:nvPr>
        </p:nvSpPr>
        <p:spPr/>
        <p:txBody>
          <a:bodyPr>
            <a:normAutofit/>
          </a:bodyPr>
          <a:lstStyle/>
          <a:p>
            <a:r>
              <a:rPr lang="en-US" dirty="0"/>
              <a:t>We cannot have every byte in the VM map to some arbitrary address in the PM – this requires a huge table of mappings (large memory)</a:t>
            </a:r>
          </a:p>
          <a:p>
            <a:r>
              <a:rPr lang="en-US" dirty="0"/>
              <a:t>Instead divide the VM into pages (typically 4KB)</a:t>
            </a:r>
          </a:p>
          <a:p>
            <a:pPr lvl="1"/>
            <a:r>
              <a:rPr lang="en-US" dirty="0"/>
              <a:t>Each page aligns with the page size</a:t>
            </a:r>
          </a:p>
          <a:p>
            <a:r>
              <a:rPr lang="en-US" dirty="0"/>
              <a:t>PM is divided into Frames (Like caches)</a:t>
            </a:r>
          </a:p>
          <a:p>
            <a:pPr lvl="1"/>
            <a:r>
              <a:rPr lang="en-US" dirty="0"/>
              <a:t>PM is a cache to VM</a:t>
            </a:r>
          </a:p>
          <a:p>
            <a:r>
              <a:rPr lang="en-US" dirty="0"/>
              <a:t>Mapping mechanism – Page Table</a:t>
            </a:r>
          </a:p>
          <a:p>
            <a:pPr lvl="1"/>
            <a:r>
              <a:rPr lang="en-US" dirty="0"/>
              <a:t>For each VM, where does it map to in the PM. OS does this</a:t>
            </a:r>
          </a:p>
          <a:p>
            <a:r>
              <a:rPr lang="en-US" dirty="0"/>
              <a:t>Different processes have a different Page Tables</a:t>
            </a:r>
          </a:p>
        </p:txBody>
      </p:sp>
    </p:spTree>
    <p:extLst>
      <p:ext uri="{BB962C8B-B14F-4D97-AF65-F5344CB8AC3E}">
        <p14:creationId xmlns:p14="http://schemas.microsoft.com/office/powerpoint/2010/main" val="59427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BD64E-CC73-4248-ACD1-EC3B58CCCAD3}"/>
              </a:ext>
            </a:extLst>
          </p:cNvPr>
          <p:cNvSpPr>
            <a:spLocks noGrp="1"/>
          </p:cNvSpPr>
          <p:nvPr>
            <p:ph type="title"/>
          </p:nvPr>
        </p:nvSpPr>
        <p:spPr/>
        <p:txBody>
          <a:bodyPr/>
          <a:lstStyle/>
          <a:p>
            <a:r>
              <a:rPr lang="en-US" dirty="0"/>
              <a:t>Page Tables</a:t>
            </a:r>
          </a:p>
        </p:txBody>
      </p:sp>
      <p:sp>
        <p:nvSpPr>
          <p:cNvPr id="3" name="Content Placeholder 2">
            <a:extLst>
              <a:ext uri="{FF2B5EF4-FFF2-40B4-BE49-F238E27FC236}">
                <a16:creationId xmlns:a16="http://schemas.microsoft.com/office/drawing/2014/main" id="{C2CA666B-83FF-4643-A7CC-FD59BB2F37C5}"/>
              </a:ext>
            </a:extLst>
          </p:cNvPr>
          <p:cNvSpPr>
            <a:spLocks noGrp="1"/>
          </p:cNvSpPr>
          <p:nvPr>
            <p:ph idx="1"/>
          </p:nvPr>
        </p:nvSpPr>
        <p:spPr/>
        <p:txBody>
          <a:bodyPr/>
          <a:lstStyle/>
          <a:p>
            <a:r>
              <a:rPr lang="en-US" dirty="0"/>
              <a:t>For a 2GB PM, 4 GB VM, 4 KB Page Size</a:t>
            </a:r>
          </a:p>
          <a:p>
            <a:pPr lvl="1"/>
            <a:r>
              <a:rPr lang="en-US" dirty="0"/>
              <a:t>How many page frames (PM) and how many entries in each page table?</a:t>
            </a:r>
          </a:p>
          <a:p>
            <a:pPr lvl="1"/>
            <a:r>
              <a:rPr lang="en-US" dirty="0"/>
              <a:t>#Frames = 2GB/4GB = 2^19 frames</a:t>
            </a:r>
          </a:p>
          <a:p>
            <a:pPr lvl="1"/>
            <a:r>
              <a:rPr lang="en-US" dirty="0"/>
              <a:t>1 entry for each page in the VM = 4 GB/4KB = 2^20 = 1M entries</a:t>
            </a:r>
          </a:p>
          <a:p>
            <a:r>
              <a:rPr lang="en-US" dirty="0"/>
              <a:t>Where is the missing memory? On the disk</a:t>
            </a:r>
          </a:p>
          <a:p>
            <a:pPr lvl="1"/>
            <a:r>
              <a:rPr lang="en-US" dirty="0"/>
              <a:t>VM significantly exceeds the size of PM</a:t>
            </a:r>
          </a:p>
          <a:p>
            <a:pPr lvl="1"/>
            <a:endParaRPr lang="en-US" dirty="0"/>
          </a:p>
          <a:p>
            <a:pPr lvl="1"/>
            <a:endParaRPr lang="en-US" dirty="0"/>
          </a:p>
        </p:txBody>
      </p:sp>
    </p:spTree>
    <p:extLst>
      <p:ext uri="{BB962C8B-B14F-4D97-AF65-F5344CB8AC3E}">
        <p14:creationId xmlns:p14="http://schemas.microsoft.com/office/powerpoint/2010/main" val="116442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1FAC0-F742-4A32-96B7-972ED4920506}"/>
              </a:ext>
            </a:extLst>
          </p:cNvPr>
          <p:cNvSpPr>
            <a:spLocks noGrp="1"/>
          </p:cNvSpPr>
          <p:nvPr>
            <p:ph type="title"/>
          </p:nvPr>
        </p:nvSpPr>
        <p:spPr/>
        <p:txBody>
          <a:bodyPr/>
          <a:lstStyle/>
          <a:p>
            <a:r>
              <a:rPr lang="en-US" dirty="0"/>
              <a:t>Translating VA </a:t>
            </a:r>
            <a:r>
              <a:rPr lang="en-US" dirty="0">
                <a:sym typeface="Wingdings" panose="05000000000000000000" pitchFamily="2" charset="2"/>
              </a:rPr>
              <a:t> PA</a:t>
            </a:r>
            <a:endParaRPr lang="en-US" dirty="0"/>
          </a:p>
        </p:txBody>
      </p:sp>
      <p:sp>
        <p:nvSpPr>
          <p:cNvPr id="9" name="Content Placeholder 2">
            <a:extLst>
              <a:ext uri="{FF2B5EF4-FFF2-40B4-BE49-F238E27FC236}">
                <a16:creationId xmlns:a16="http://schemas.microsoft.com/office/drawing/2014/main" id="{EABE4E14-C7AC-4F32-8957-2912A16BA95A}"/>
              </a:ext>
            </a:extLst>
          </p:cNvPr>
          <p:cNvSpPr>
            <a:spLocks noGrp="1"/>
          </p:cNvSpPr>
          <p:nvPr>
            <p:ph idx="1"/>
          </p:nvPr>
        </p:nvSpPr>
        <p:spPr>
          <a:xfrm>
            <a:off x="838200" y="1825625"/>
            <a:ext cx="10811494" cy="4667250"/>
          </a:xfrm>
        </p:spPr>
        <p:txBody>
          <a:bodyPr>
            <a:normAutofit/>
          </a:bodyPr>
          <a:lstStyle/>
          <a:p>
            <a:r>
              <a:rPr lang="en-US" dirty="0"/>
              <a:t>VPN used to index into the PT</a:t>
            </a:r>
          </a:p>
          <a:p>
            <a:pPr lvl="1"/>
            <a:r>
              <a:rPr lang="en-US" dirty="0"/>
              <a:t>This tells the frame # corresponding to the VPN</a:t>
            </a:r>
          </a:p>
          <a:p>
            <a:r>
              <a:rPr lang="en-US" dirty="0"/>
              <a:t>{Physical frame #/PPN, Page Offset} is used to access the PM</a:t>
            </a:r>
          </a:p>
          <a:p>
            <a:r>
              <a:rPr lang="en-US" dirty="0"/>
              <a:t>LSB bits do not change!!</a:t>
            </a:r>
          </a:p>
          <a:p>
            <a:r>
              <a:rPr lang="en-US" dirty="0"/>
              <a:t>4-entry PT, 16 bit VA space and 20 bit PA space</a:t>
            </a:r>
          </a:p>
          <a:p>
            <a:pPr lvl="1"/>
            <a:r>
              <a:rPr lang="en-US" dirty="0"/>
              <a:t>0x1F			</a:t>
            </a:r>
          </a:p>
          <a:p>
            <a:pPr lvl="1"/>
            <a:r>
              <a:rPr lang="en-US" dirty="0"/>
              <a:t>0x3F</a:t>
            </a:r>
          </a:p>
          <a:p>
            <a:pPr lvl="1"/>
            <a:r>
              <a:rPr lang="en-US" dirty="0"/>
              <a:t>0x23</a:t>
            </a:r>
          </a:p>
          <a:p>
            <a:pPr lvl="1"/>
            <a:r>
              <a:rPr lang="en-US" dirty="0"/>
              <a:t>0x17</a:t>
            </a:r>
          </a:p>
          <a:p>
            <a:pPr lvl="1"/>
            <a:r>
              <a:rPr lang="en-US" dirty="0"/>
              <a:t>Where does 0xF0F0 map to?</a:t>
            </a:r>
          </a:p>
        </p:txBody>
      </p:sp>
      <p:sp>
        <p:nvSpPr>
          <p:cNvPr id="10" name="TextBox 9">
            <a:extLst>
              <a:ext uri="{FF2B5EF4-FFF2-40B4-BE49-F238E27FC236}">
                <a16:creationId xmlns:a16="http://schemas.microsoft.com/office/drawing/2014/main" id="{851E1FC4-9A1B-43D0-BA94-EF3FDCDC284E}"/>
              </a:ext>
            </a:extLst>
          </p:cNvPr>
          <p:cNvSpPr txBox="1"/>
          <p:nvPr/>
        </p:nvSpPr>
        <p:spPr>
          <a:xfrm>
            <a:off x="4888674" y="4242377"/>
            <a:ext cx="7303326" cy="1938992"/>
          </a:xfrm>
          <a:prstGeom prst="rect">
            <a:avLst/>
          </a:prstGeom>
          <a:noFill/>
        </p:spPr>
        <p:txBody>
          <a:bodyPr wrap="square" rtlCol="0">
            <a:spAutoFit/>
          </a:bodyPr>
          <a:lstStyle/>
          <a:p>
            <a:r>
              <a:rPr lang="en-US" sz="2000" b="1" dirty="0">
                <a:solidFill>
                  <a:schemeClr val="accent1"/>
                </a:solidFill>
              </a:rPr>
              <a:t>16 bit VA space and 4 entry PT =&gt; MSB 2 bits are PN and remaining 14 bits are page offset</a:t>
            </a:r>
          </a:p>
          <a:p>
            <a:r>
              <a:rPr lang="en-US" sz="2000" b="1" dirty="0">
                <a:solidFill>
                  <a:schemeClr val="accent1"/>
                </a:solidFill>
              </a:rPr>
              <a:t>11|11 0000 1111 0000</a:t>
            </a:r>
          </a:p>
          <a:p>
            <a:r>
              <a:rPr lang="en-US" sz="2000" b="1" dirty="0">
                <a:solidFill>
                  <a:schemeClr val="accent1"/>
                </a:solidFill>
              </a:rPr>
              <a:t>00|00 0000 0001 1111</a:t>
            </a:r>
          </a:p>
          <a:p>
            <a:r>
              <a:rPr lang="en-US" sz="2000" b="1" dirty="0">
                <a:solidFill>
                  <a:schemeClr val="accent1"/>
                </a:solidFill>
              </a:rPr>
              <a:t>{0001 0111 (since it access 0x17 (index 3)) , page offset} – 0x5F0F0</a:t>
            </a:r>
          </a:p>
          <a:p>
            <a:endParaRPr lang="en-US" sz="2000" b="1" dirty="0">
              <a:solidFill>
                <a:schemeClr val="accent1"/>
              </a:solidFill>
            </a:endParaRPr>
          </a:p>
        </p:txBody>
      </p:sp>
    </p:spTree>
    <p:extLst>
      <p:ext uri="{BB962C8B-B14F-4D97-AF65-F5344CB8AC3E}">
        <p14:creationId xmlns:p14="http://schemas.microsoft.com/office/powerpoint/2010/main" val="300091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AD72-A0AC-4074-8EB6-162166FFE81F}"/>
              </a:ext>
            </a:extLst>
          </p:cNvPr>
          <p:cNvSpPr>
            <a:spLocks noGrp="1"/>
          </p:cNvSpPr>
          <p:nvPr>
            <p:ph type="title"/>
          </p:nvPr>
        </p:nvSpPr>
        <p:spPr/>
        <p:txBody>
          <a:bodyPr/>
          <a:lstStyle/>
          <a:p>
            <a:r>
              <a:rPr lang="en-US" dirty="0"/>
              <a:t>Flat PT</a:t>
            </a:r>
          </a:p>
        </p:txBody>
      </p:sp>
      <p:sp>
        <p:nvSpPr>
          <p:cNvPr id="3" name="Content Placeholder 2">
            <a:extLst>
              <a:ext uri="{FF2B5EF4-FFF2-40B4-BE49-F238E27FC236}">
                <a16:creationId xmlns:a16="http://schemas.microsoft.com/office/drawing/2014/main" id="{6800722C-073B-41D6-B6A7-73D95C41B615}"/>
              </a:ext>
            </a:extLst>
          </p:cNvPr>
          <p:cNvSpPr>
            <a:spLocks noGrp="1"/>
          </p:cNvSpPr>
          <p:nvPr>
            <p:ph idx="1"/>
          </p:nvPr>
        </p:nvSpPr>
        <p:spPr>
          <a:xfrm>
            <a:off x="838199" y="1825625"/>
            <a:ext cx="11452762" cy="4351338"/>
          </a:xfrm>
        </p:spPr>
        <p:txBody>
          <a:bodyPr/>
          <a:lstStyle/>
          <a:p>
            <a:r>
              <a:rPr lang="en-US" dirty="0"/>
              <a:t>For entry per page in the entire VA space, even for those pages that are never accessed by the program!</a:t>
            </a:r>
          </a:p>
          <a:p>
            <a:pPr lvl="1"/>
            <a:r>
              <a:rPr lang="en-US" dirty="0"/>
              <a:t>For </a:t>
            </a:r>
            <a:r>
              <a:rPr lang="en-US" dirty="0" err="1"/>
              <a:t>eg.</a:t>
            </a:r>
            <a:r>
              <a:rPr lang="en-US" dirty="0"/>
              <a:t>, (4GB/4KB)*4B = 4 MB – but the process might not even use the entire 4 GB</a:t>
            </a:r>
          </a:p>
          <a:p>
            <a:r>
              <a:rPr lang="en-US" dirty="0"/>
              <a:t>Entry has Frame # + Bits that says if the page is accessible (protection bits/bits that say if it is present in the PM or not)</a:t>
            </a:r>
          </a:p>
          <a:p>
            <a:r>
              <a:rPr lang="en-US" dirty="0"/>
              <a:t>Overall size = (</a:t>
            </a:r>
            <a:r>
              <a:rPr lang="en-US" dirty="0" err="1"/>
              <a:t>Sizeof</a:t>
            </a:r>
            <a:r>
              <a:rPr lang="en-US" dirty="0"/>
              <a:t>(VM)/Page Size) * Size of each PTE</a:t>
            </a:r>
          </a:p>
          <a:p>
            <a:r>
              <a:rPr lang="en-US" dirty="0"/>
              <a:t>Very large PT size</a:t>
            </a:r>
          </a:p>
          <a:p>
            <a:r>
              <a:rPr lang="en-US" dirty="0"/>
              <a:t>If VM is 64 bit, then PT is 2^32 x 4GB!!</a:t>
            </a:r>
          </a:p>
          <a:p>
            <a:endParaRPr lang="en-US" dirty="0"/>
          </a:p>
        </p:txBody>
      </p:sp>
    </p:spTree>
    <p:extLst>
      <p:ext uri="{BB962C8B-B14F-4D97-AF65-F5344CB8AC3E}">
        <p14:creationId xmlns:p14="http://schemas.microsoft.com/office/powerpoint/2010/main" val="67199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3DBB-4A08-43EA-8069-348F63B78AB0}"/>
              </a:ext>
            </a:extLst>
          </p:cNvPr>
          <p:cNvSpPr>
            <a:spLocks noGrp="1"/>
          </p:cNvSpPr>
          <p:nvPr>
            <p:ph type="title"/>
          </p:nvPr>
        </p:nvSpPr>
        <p:spPr/>
        <p:txBody>
          <a:bodyPr/>
          <a:lstStyle/>
          <a:p>
            <a:r>
              <a:rPr lang="en-US" dirty="0"/>
              <a:t>Flat PT</a:t>
            </a:r>
          </a:p>
        </p:txBody>
      </p:sp>
      <p:sp>
        <p:nvSpPr>
          <p:cNvPr id="3" name="Content Placeholder 2">
            <a:extLst>
              <a:ext uri="{FF2B5EF4-FFF2-40B4-BE49-F238E27FC236}">
                <a16:creationId xmlns:a16="http://schemas.microsoft.com/office/drawing/2014/main" id="{5503A5CA-C265-4E52-B8E9-BF9823EB48E6}"/>
              </a:ext>
            </a:extLst>
          </p:cNvPr>
          <p:cNvSpPr>
            <a:spLocks noGrp="1"/>
          </p:cNvSpPr>
          <p:nvPr>
            <p:ph idx="1"/>
          </p:nvPr>
        </p:nvSpPr>
        <p:spPr/>
        <p:txBody>
          <a:bodyPr/>
          <a:lstStyle/>
          <a:p>
            <a:r>
              <a:rPr lang="en-US" dirty="0"/>
              <a:t>8B Entry (64 bit PA space)</a:t>
            </a:r>
          </a:p>
          <a:p>
            <a:r>
              <a:rPr lang="en-US" dirty="0"/>
              <a:t>4 KB page size</a:t>
            </a:r>
          </a:p>
          <a:p>
            <a:r>
              <a:rPr lang="en-US" dirty="0"/>
              <a:t>Two processes</a:t>
            </a:r>
          </a:p>
          <a:p>
            <a:r>
              <a:rPr lang="en-US" dirty="0"/>
              <a:t>2 GB PM</a:t>
            </a:r>
          </a:p>
          <a:p>
            <a:r>
              <a:rPr lang="en-US" dirty="0"/>
              <a:t>32 bit VA</a:t>
            </a:r>
          </a:p>
          <a:p>
            <a:r>
              <a:rPr lang="en-US" dirty="0"/>
              <a:t>Process 1 uses only 1 MB of the </a:t>
            </a:r>
            <a:r>
              <a:rPr lang="en-US" dirty="0" err="1"/>
              <a:t>addr</a:t>
            </a:r>
            <a:r>
              <a:rPr lang="en-US" dirty="0"/>
              <a:t> space</a:t>
            </a:r>
          </a:p>
          <a:p>
            <a:r>
              <a:rPr lang="en-US" dirty="0"/>
              <a:t>Process 2 uses 1 GB</a:t>
            </a:r>
          </a:p>
          <a:p>
            <a:r>
              <a:rPr lang="en-US" dirty="0"/>
              <a:t>What is the total size of Page Tables?</a:t>
            </a:r>
          </a:p>
        </p:txBody>
      </p:sp>
      <p:sp>
        <p:nvSpPr>
          <p:cNvPr id="4" name="TextBox 3">
            <a:extLst>
              <a:ext uri="{FF2B5EF4-FFF2-40B4-BE49-F238E27FC236}">
                <a16:creationId xmlns:a16="http://schemas.microsoft.com/office/drawing/2014/main" id="{B55EDB21-E6B0-436D-9EE4-6D217CD4846E}"/>
              </a:ext>
            </a:extLst>
          </p:cNvPr>
          <p:cNvSpPr txBox="1"/>
          <p:nvPr/>
        </p:nvSpPr>
        <p:spPr>
          <a:xfrm>
            <a:off x="6096000" y="2045364"/>
            <a:ext cx="5783284" cy="2246769"/>
          </a:xfrm>
          <a:prstGeom prst="rect">
            <a:avLst/>
          </a:prstGeom>
          <a:noFill/>
        </p:spPr>
        <p:txBody>
          <a:bodyPr wrap="square" rtlCol="0">
            <a:spAutoFit/>
          </a:bodyPr>
          <a:lstStyle/>
          <a:p>
            <a:r>
              <a:rPr lang="en-US" sz="2000" b="1" dirty="0">
                <a:solidFill>
                  <a:schemeClr val="accent1"/>
                </a:solidFill>
              </a:rPr>
              <a:t>2 page tables are needed</a:t>
            </a:r>
          </a:p>
          <a:p>
            <a:r>
              <a:rPr lang="en-US" sz="2000" b="1" dirty="0">
                <a:solidFill>
                  <a:schemeClr val="accent1"/>
                </a:solidFill>
              </a:rPr>
              <a:t>2 x (2^32/2^12) x 8 = 16 x 2^20 = 16MB</a:t>
            </a:r>
          </a:p>
          <a:p>
            <a:r>
              <a:rPr lang="en-US" sz="2000" b="1" dirty="0">
                <a:solidFill>
                  <a:schemeClr val="accent1"/>
                </a:solidFill>
              </a:rPr>
              <a:t>How much mem the processor uses does not matter – it needs to have an entry for each possible page in the VA space. Does not matter how much PM we have (what matters is the size of entry)</a:t>
            </a:r>
          </a:p>
          <a:p>
            <a:endParaRPr lang="en-US" sz="2000" b="1" dirty="0">
              <a:solidFill>
                <a:schemeClr val="accent1"/>
              </a:solidFill>
            </a:endParaRPr>
          </a:p>
        </p:txBody>
      </p:sp>
    </p:spTree>
    <p:extLst>
      <p:ext uri="{BB962C8B-B14F-4D97-AF65-F5344CB8AC3E}">
        <p14:creationId xmlns:p14="http://schemas.microsoft.com/office/powerpoint/2010/main" val="1818753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6BD4B-F2AF-40DA-9B9B-A53DB42BA403}"/>
              </a:ext>
            </a:extLst>
          </p:cNvPr>
          <p:cNvSpPr>
            <a:spLocks noGrp="1"/>
          </p:cNvSpPr>
          <p:nvPr>
            <p:ph type="title"/>
          </p:nvPr>
        </p:nvSpPr>
        <p:spPr/>
        <p:txBody>
          <a:bodyPr/>
          <a:lstStyle/>
          <a:p>
            <a:r>
              <a:rPr lang="en-US" dirty="0"/>
              <a:t>Multi Level PTs</a:t>
            </a:r>
          </a:p>
        </p:txBody>
      </p:sp>
      <p:sp>
        <p:nvSpPr>
          <p:cNvPr id="3" name="Content Placeholder 2">
            <a:extLst>
              <a:ext uri="{FF2B5EF4-FFF2-40B4-BE49-F238E27FC236}">
                <a16:creationId xmlns:a16="http://schemas.microsoft.com/office/drawing/2014/main" id="{4DE74B6B-65D6-4814-ABF3-41AF8C5253CF}"/>
              </a:ext>
            </a:extLst>
          </p:cNvPr>
          <p:cNvSpPr>
            <a:spLocks noGrp="1"/>
          </p:cNvSpPr>
          <p:nvPr>
            <p:ph idx="1"/>
          </p:nvPr>
        </p:nvSpPr>
        <p:spPr/>
        <p:txBody>
          <a:bodyPr/>
          <a:lstStyle/>
          <a:p>
            <a:r>
              <a:rPr lang="en-US" dirty="0"/>
              <a:t>Size of flat PT proportional to the address space</a:t>
            </a:r>
          </a:p>
          <a:p>
            <a:r>
              <a:rPr lang="en-US" dirty="0"/>
              <a:t>32 bit VA – Flat PT is couple MB even if the program uses only few KB</a:t>
            </a:r>
          </a:p>
          <a:p>
            <a:r>
              <a:rPr lang="en-US" dirty="0"/>
              <a:t>64 bit???? Too big (So flat PT cannot be used)</a:t>
            </a:r>
          </a:p>
          <a:p>
            <a:r>
              <a:rPr lang="en-US" dirty="0"/>
              <a:t>Multi level PTs – reduce the PT size</a:t>
            </a:r>
          </a:p>
          <a:p>
            <a:pPr lvl="1"/>
            <a:r>
              <a:rPr lang="en-US" dirty="0"/>
              <a:t>Uses bits to index into the PT</a:t>
            </a:r>
          </a:p>
          <a:p>
            <a:pPr lvl="1"/>
            <a:r>
              <a:rPr lang="en-US" dirty="0"/>
              <a:t>Avoid the use of PT for the region between heap and stack</a:t>
            </a:r>
          </a:p>
          <a:p>
            <a:endParaRPr lang="en-US" dirty="0"/>
          </a:p>
        </p:txBody>
      </p:sp>
    </p:spTree>
    <p:extLst>
      <p:ext uri="{BB962C8B-B14F-4D97-AF65-F5344CB8AC3E}">
        <p14:creationId xmlns:p14="http://schemas.microsoft.com/office/powerpoint/2010/main" val="3586906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A695A-30C7-4C8B-8642-5E2A406D0F2E}"/>
              </a:ext>
            </a:extLst>
          </p:cNvPr>
          <p:cNvSpPr>
            <a:spLocks noGrp="1"/>
          </p:cNvSpPr>
          <p:nvPr>
            <p:ph type="title"/>
          </p:nvPr>
        </p:nvSpPr>
        <p:spPr/>
        <p:txBody>
          <a:bodyPr/>
          <a:lstStyle/>
          <a:p>
            <a:r>
              <a:rPr lang="en-US" dirty="0"/>
              <a:t>Multi Level PTs</a:t>
            </a:r>
          </a:p>
        </p:txBody>
      </p:sp>
      <p:sp>
        <p:nvSpPr>
          <p:cNvPr id="3" name="Content Placeholder 2">
            <a:extLst>
              <a:ext uri="{FF2B5EF4-FFF2-40B4-BE49-F238E27FC236}">
                <a16:creationId xmlns:a16="http://schemas.microsoft.com/office/drawing/2014/main" id="{6EE827B1-32AE-4E20-8545-F3AEE8937E5B}"/>
              </a:ext>
            </a:extLst>
          </p:cNvPr>
          <p:cNvSpPr>
            <a:spLocks noGrp="1"/>
          </p:cNvSpPr>
          <p:nvPr>
            <p:ph idx="1"/>
          </p:nvPr>
        </p:nvSpPr>
        <p:spPr>
          <a:xfrm>
            <a:off x="838199" y="1825625"/>
            <a:ext cx="10680865" cy="4351338"/>
          </a:xfrm>
        </p:spPr>
        <p:txBody>
          <a:bodyPr/>
          <a:lstStyle/>
          <a:p>
            <a:r>
              <a:rPr lang="en-US" dirty="0"/>
              <a:t>Page Number (PN) partitioned into inner and outer PN</a:t>
            </a:r>
          </a:p>
          <a:p>
            <a:r>
              <a:rPr lang="en-US" dirty="0"/>
              <a:t>Outer PN used to index into the outer PT – tells where to find the inner PT. Use the inner PN to index into the inner PT to find the frame#</a:t>
            </a:r>
          </a:p>
          <a:p>
            <a:r>
              <a:rPr lang="en-US" dirty="0"/>
              <a:t>Same entries in the inner PT and have added an extra layer. How does it save space?</a:t>
            </a:r>
          </a:p>
          <a:p>
            <a:r>
              <a:rPr lang="en-US" dirty="0"/>
              <a:t>For </a:t>
            </a:r>
            <a:r>
              <a:rPr lang="en-US" dirty="0" err="1"/>
              <a:t>eg</a:t>
            </a:r>
            <a:r>
              <a:rPr lang="en-US" dirty="0"/>
              <a:t>; 4 bit offset and 4 bit PN</a:t>
            </a:r>
          </a:p>
          <a:p>
            <a:pPr lvl="1"/>
            <a:r>
              <a:rPr lang="en-US" dirty="0"/>
              <a:t>4 X 4 entries + some outer PT</a:t>
            </a:r>
          </a:p>
          <a:p>
            <a:pPr lvl="1"/>
            <a:r>
              <a:rPr lang="en-US" dirty="0"/>
              <a:t>If there is an used large part, then we can mark that the entry is not valid and eliminate that PT. So we have only one large outer PT and smaller inner PTs</a:t>
            </a:r>
          </a:p>
          <a:p>
            <a:endParaRPr lang="en-US" dirty="0"/>
          </a:p>
          <a:p>
            <a:pPr marL="0" indent="0">
              <a:buNone/>
            </a:pPr>
            <a:endParaRPr lang="en-US" dirty="0"/>
          </a:p>
        </p:txBody>
      </p:sp>
    </p:spTree>
    <p:extLst>
      <p:ext uri="{BB962C8B-B14F-4D97-AF65-F5344CB8AC3E}">
        <p14:creationId xmlns:p14="http://schemas.microsoft.com/office/powerpoint/2010/main" val="4024544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64DA-5C67-4039-A950-ADB2DAE5ADF1}"/>
              </a:ext>
            </a:extLst>
          </p:cNvPr>
          <p:cNvSpPr>
            <a:spLocks noGrp="1"/>
          </p:cNvSpPr>
          <p:nvPr>
            <p:ph type="title"/>
          </p:nvPr>
        </p:nvSpPr>
        <p:spPr/>
        <p:txBody>
          <a:bodyPr/>
          <a:lstStyle/>
          <a:p>
            <a:r>
              <a:rPr lang="en-US" dirty="0"/>
              <a:t>Multi Level PTs</a:t>
            </a:r>
          </a:p>
        </p:txBody>
      </p:sp>
      <p:sp>
        <p:nvSpPr>
          <p:cNvPr id="3" name="Content Placeholder 2">
            <a:extLst>
              <a:ext uri="{FF2B5EF4-FFF2-40B4-BE49-F238E27FC236}">
                <a16:creationId xmlns:a16="http://schemas.microsoft.com/office/drawing/2014/main" id="{D5EA5E98-462B-41CB-8DEA-687EE4D2B8C4}"/>
              </a:ext>
            </a:extLst>
          </p:cNvPr>
          <p:cNvSpPr>
            <a:spLocks noGrp="1"/>
          </p:cNvSpPr>
          <p:nvPr>
            <p:ph idx="1"/>
          </p:nvPr>
        </p:nvSpPr>
        <p:spPr/>
        <p:txBody>
          <a:bodyPr>
            <a:normAutofit/>
          </a:bodyPr>
          <a:lstStyle/>
          <a:p>
            <a:r>
              <a:rPr lang="en-US" sz="2400" dirty="0"/>
              <a:t>32 bit </a:t>
            </a:r>
            <a:r>
              <a:rPr lang="en-US" sz="2400" dirty="0" err="1"/>
              <a:t>addr</a:t>
            </a:r>
            <a:r>
              <a:rPr lang="en-US" sz="2400" dirty="0"/>
              <a:t> space</a:t>
            </a:r>
          </a:p>
          <a:p>
            <a:r>
              <a:rPr lang="en-US" sz="2400" dirty="0"/>
              <a:t>4 KB page</a:t>
            </a:r>
          </a:p>
          <a:p>
            <a:r>
              <a:rPr lang="en-US" sz="2400" dirty="0"/>
              <a:t>1024 entry outer PT, 1024 entry inner PT</a:t>
            </a:r>
          </a:p>
          <a:p>
            <a:r>
              <a:rPr lang="en-US" sz="2400" dirty="0"/>
              <a:t>PT entry is 8 bytes</a:t>
            </a:r>
          </a:p>
          <a:p>
            <a:r>
              <a:rPr lang="en-US" sz="2400" dirty="0"/>
              <a:t>Program uses VM at 0x.. 0x00010 000 </a:t>
            </a:r>
          </a:p>
          <a:p>
            <a:pPr marL="0" indent="0">
              <a:buNone/>
            </a:pPr>
            <a:r>
              <a:rPr lang="en-US" sz="2400" dirty="0"/>
              <a:t>   and 0xFFFF0000 … 0xFFFF FFFF</a:t>
            </a:r>
          </a:p>
          <a:p>
            <a:r>
              <a:rPr lang="en-US" sz="2400" dirty="0"/>
              <a:t>What is the size? Flat and 2 level PTs?</a:t>
            </a:r>
          </a:p>
        </p:txBody>
      </p:sp>
      <p:sp>
        <p:nvSpPr>
          <p:cNvPr id="4" name="TextBox 3">
            <a:extLst>
              <a:ext uri="{FF2B5EF4-FFF2-40B4-BE49-F238E27FC236}">
                <a16:creationId xmlns:a16="http://schemas.microsoft.com/office/drawing/2014/main" id="{56F48DD3-9BD9-4F2C-91AF-1C19B3BEB62B}"/>
              </a:ext>
            </a:extLst>
          </p:cNvPr>
          <p:cNvSpPr txBox="1"/>
          <p:nvPr/>
        </p:nvSpPr>
        <p:spPr>
          <a:xfrm>
            <a:off x="5094250" y="1966672"/>
            <a:ext cx="9322419" cy="369332"/>
          </a:xfrm>
          <a:prstGeom prst="rect">
            <a:avLst/>
          </a:prstGeom>
          <a:noFill/>
        </p:spPr>
        <p:txBody>
          <a:bodyPr wrap="square" rtlCol="0">
            <a:spAutoFit/>
          </a:bodyPr>
          <a:lstStyle/>
          <a:p>
            <a:r>
              <a:rPr lang="en-US" b="1" dirty="0">
                <a:solidFill>
                  <a:schemeClr val="accent1"/>
                </a:solidFill>
              </a:rPr>
              <a:t>Flat PT – 2^32 pages/2^12 bytes in each page = 2^20 entries x 8 = 8 MB</a:t>
            </a:r>
          </a:p>
        </p:txBody>
      </p:sp>
      <p:sp>
        <p:nvSpPr>
          <p:cNvPr id="5" name="TextBox 4">
            <a:extLst>
              <a:ext uri="{FF2B5EF4-FFF2-40B4-BE49-F238E27FC236}">
                <a16:creationId xmlns:a16="http://schemas.microsoft.com/office/drawing/2014/main" id="{D875A896-2F0B-48B3-859F-2C99E4BAE36D}"/>
              </a:ext>
            </a:extLst>
          </p:cNvPr>
          <p:cNvSpPr txBox="1"/>
          <p:nvPr/>
        </p:nvSpPr>
        <p:spPr>
          <a:xfrm>
            <a:off x="6096000" y="3314641"/>
            <a:ext cx="5969620" cy="2862322"/>
          </a:xfrm>
          <a:prstGeom prst="rect">
            <a:avLst/>
          </a:prstGeom>
          <a:noFill/>
        </p:spPr>
        <p:txBody>
          <a:bodyPr wrap="square" rtlCol="0">
            <a:spAutoFit/>
          </a:bodyPr>
          <a:lstStyle/>
          <a:p>
            <a:r>
              <a:rPr lang="en-US" b="1" dirty="0">
                <a:solidFill>
                  <a:schemeClr val="accent1"/>
                </a:solidFill>
              </a:rPr>
              <a:t>2 level – address has 12 bit offset, 10 bit inner and outer PN</a:t>
            </a:r>
          </a:p>
          <a:p>
            <a:r>
              <a:rPr lang="en-US" b="1" dirty="0">
                <a:solidFill>
                  <a:schemeClr val="accent1"/>
                </a:solidFill>
              </a:rPr>
              <a:t>Outer PT = 2^10 X 8 bytes per entry = 8 KB for outer PT</a:t>
            </a:r>
          </a:p>
          <a:p>
            <a:r>
              <a:rPr lang="en-US" b="1" dirty="0">
                <a:solidFill>
                  <a:schemeClr val="accent1"/>
                </a:solidFill>
              </a:rPr>
              <a:t>Which of these entries point to actual inner PT?</a:t>
            </a:r>
          </a:p>
          <a:p>
            <a:r>
              <a:rPr lang="en-US" b="1" dirty="0">
                <a:solidFill>
                  <a:schemeClr val="accent1"/>
                </a:solidFill>
              </a:rPr>
              <a:t>Split the 20 bit PN into 10 bit groups –</a:t>
            </a:r>
          </a:p>
          <a:p>
            <a:r>
              <a:rPr lang="en-US" b="1" dirty="0">
                <a:solidFill>
                  <a:schemeClr val="accent1"/>
                </a:solidFill>
              </a:rPr>
              <a:t>0000 0000 00 | 00 0001 0000 same outer PN – only entry 0 points to inner PT</a:t>
            </a:r>
          </a:p>
          <a:p>
            <a:r>
              <a:rPr lang="en-US" b="1" dirty="0">
                <a:solidFill>
                  <a:schemeClr val="accent1"/>
                </a:solidFill>
              </a:rPr>
              <a:t>FFFF0 – FFFFF same outer PN – only last outer PTE points</a:t>
            </a:r>
          </a:p>
          <a:p>
            <a:r>
              <a:rPr lang="en-US" b="1" dirty="0">
                <a:solidFill>
                  <a:schemeClr val="accent1"/>
                </a:solidFill>
              </a:rPr>
              <a:t>Out of 1024 entries only 2 point to the inner PTs = 2X 1024X8 = 16 KB </a:t>
            </a:r>
          </a:p>
          <a:p>
            <a:r>
              <a:rPr lang="en-US" b="1" dirty="0">
                <a:solidFill>
                  <a:schemeClr val="accent1"/>
                </a:solidFill>
              </a:rPr>
              <a:t>Which is 24 KB - this is why we use multi-level PTs</a:t>
            </a:r>
          </a:p>
        </p:txBody>
      </p:sp>
    </p:spTree>
    <p:extLst>
      <p:ext uri="{BB962C8B-B14F-4D97-AF65-F5344CB8AC3E}">
        <p14:creationId xmlns:p14="http://schemas.microsoft.com/office/powerpoint/2010/main" val="3664814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29950-DA1C-4F85-AFDA-8430A8164C3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5C6969B-FC54-4293-90AD-ECF6DA9F8C8C}"/>
              </a:ext>
            </a:extLst>
          </p:cNvPr>
          <p:cNvSpPr>
            <a:spLocks noGrp="1"/>
          </p:cNvSpPr>
          <p:nvPr>
            <p:ph idx="1"/>
          </p:nvPr>
        </p:nvSpPr>
        <p:spPr/>
        <p:txBody>
          <a:bodyPr/>
          <a:lstStyle/>
          <a:p>
            <a:r>
              <a:rPr lang="en-US" dirty="0"/>
              <a:t>Memory access time for VA </a:t>
            </a:r>
            <a:r>
              <a:rPr lang="en-US" dirty="0">
                <a:sym typeface="Wingdings" panose="05000000000000000000" pitchFamily="2" charset="2"/>
              </a:rPr>
              <a:t> PA translation?</a:t>
            </a:r>
          </a:p>
          <a:p>
            <a:r>
              <a:rPr lang="en-US" dirty="0">
                <a:sym typeface="Wingdings" panose="05000000000000000000" pitchFamily="2" charset="2"/>
              </a:rPr>
              <a:t>Say LW R1, 4(R2) // this is the VA</a:t>
            </a:r>
          </a:p>
          <a:p>
            <a:r>
              <a:rPr lang="en-US" dirty="0">
                <a:sym typeface="Wingdings" panose="05000000000000000000" pitchFamily="2" charset="2"/>
              </a:rPr>
              <a:t>Need a memory access for all loads? Costs a lot more</a:t>
            </a:r>
          </a:p>
          <a:p>
            <a:pPr lvl="1"/>
            <a:r>
              <a:rPr lang="en-US" dirty="0">
                <a:sym typeface="Wingdings" panose="05000000000000000000" pitchFamily="2" charset="2"/>
              </a:rPr>
              <a:t>1 cycle to compute VA, 1 cycle to </a:t>
            </a:r>
            <a:r>
              <a:rPr lang="en-US" dirty="0" err="1">
                <a:sym typeface="Wingdings" panose="05000000000000000000" pitchFamily="2" charset="2"/>
              </a:rPr>
              <a:t>acess</a:t>
            </a:r>
            <a:r>
              <a:rPr lang="en-US" dirty="0">
                <a:sym typeface="Wingdings" panose="05000000000000000000" pitchFamily="2" charset="2"/>
              </a:rPr>
              <a:t> cache, 10 cycles to access mem, 90 % hit rate, PTE are in memory </a:t>
            </a:r>
          </a:p>
          <a:p>
            <a:pPr lvl="1"/>
            <a:r>
              <a:rPr lang="en-US" dirty="0">
                <a:sym typeface="Wingdings" panose="05000000000000000000" pitchFamily="2" charset="2"/>
              </a:rPr>
              <a:t>How many cycles for this </a:t>
            </a:r>
            <a:r>
              <a:rPr lang="en-US" dirty="0" err="1">
                <a:sym typeface="Wingdings" panose="05000000000000000000" pitchFamily="2" charset="2"/>
              </a:rPr>
              <a:t>instr</a:t>
            </a:r>
            <a:r>
              <a:rPr lang="en-US" dirty="0">
                <a:sym typeface="Wingdings" panose="05000000000000000000" pitchFamily="2" charset="2"/>
              </a:rPr>
              <a:t> for a 3 level PT? </a:t>
            </a:r>
          </a:p>
          <a:p>
            <a:pPr lvl="1"/>
            <a:r>
              <a:rPr lang="en-US" dirty="0">
                <a:sym typeface="Wingdings" panose="05000000000000000000" pitchFamily="2" charset="2"/>
              </a:rPr>
              <a:t>Say the PTE are now cached? How many cycles now?</a:t>
            </a:r>
          </a:p>
          <a:p>
            <a:endParaRPr lang="en-US" dirty="0">
              <a:sym typeface="Wingdings" panose="05000000000000000000" pitchFamily="2" charset="2"/>
            </a:endParaRPr>
          </a:p>
          <a:p>
            <a:endParaRPr lang="en-US" dirty="0"/>
          </a:p>
        </p:txBody>
      </p:sp>
      <p:sp>
        <p:nvSpPr>
          <p:cNvPr id="4" name="TextBox 3">
            <a:extLst>
              <a:ext uri="{FF2B5EF4-FFF2-40B4-BE49-F238E27FC236}">
                <a16:creationId xmlns:a16="http://schemas.microsoft.com/office/drawing/2014/main" id="{DBFCB704-FAF0-47F6-9379-05C57CFBF57A}"/>
              </a:ext>
            </a:extLst>
          </p:cNvPr>
          <p:cNvSpPr txBox="1"/>
          <p:nvPr/>
        </p:nvSpPr>
        <p:spPr>
          <a:xfrm>
            <a:off x="838200" y="5015547"/>
            <a:ext cx="10796239" cy="1754326"/>
          </a:xfrm>
          <a:prstGeom prst="rect">
            <a:avLst/>
          </a:prstGeom>
          <a:noFill/>
        </p:spPr>
        <p:txBody>
          <a:bodyPr wrap="square" rtlCol="0">
            <a:spAutoFit/>
          </a:bodyPr>
          <a:lstStyle/>
          <a:p>
            <a:r>
              <a:rPr lang="en-US" b="1" dirty="0">
                <a:solidFill>
                  <a:schemeClr val="accent1"/>
                </a:solidFill>
              </a:rPr>
              <a:t>Need a mem access for each load if the PT is in mem</a:t>
            </a:r>
          </a:p>
          <a:p>
            <a:r>
              <a:rPr lang="en-US" b="1" dirty="0">
                <a:solidFill>
                  <a:schemeClr val="accent1"/>
                </a:solidFill>
              </a:rPr>
              <a:t>PTE in mem and not in cache? 1 cycle to find </a:t>
            </a:r>
            <a:r>
              <a:rPr lang="en-US" b="1" dirty="0" err="1">
                <a:solidFill>
                  <a:schemeClr val="accent1"/>
                </a:solidFill>
              </a:rPr>
              <a:t>addr</a:t>
            </a:r>
            <a:r>
              <a:rPr lang="en-US" b="1" dirty="0">
                <a:solidFill>
                  <a:schemeClr val="accent1"/>
                </a:solidFill>
              </a:rPr>
              <a:t> + 10 cycles to access inner most PT + actual cache access</a:t>
            </a:r>
            <a:br>
              <a:rPr lang="en-US" b="1" dirty="0">
                <a:solidFill>
                  <a:schemeClr val="accent1"/>
                </a:solidFill>
              </a:rPr>
            </a:br>
            <a:r>
              <a:rPr lang="en-US" b="1" dirty="0">
                <a:solidFill>
                  <a:schemeClr val="accent1"/>
                </a:solidFill>
              </a:rPr>
              <a:t>1 + 3X10 + 1 + 0.1X10 = 33 cycles (30 only to access the PTs)</a:t>
            </a:r>
          </a:p>
          <a:p>
            <a:r>
              <a:rPr lang="en-US" b="1" dirty="0">
                <a:solidFill>
                  <a:schemeClr val="accent1"/>
                </a:solidFill>
              </a:rPr>
              <a:t>PTE in cache - 1 cycle + 3X(1+0.1X10) + (1+0.1X10) = 9 cycles</a:t>
            </a:r>
          </a:p>
          <a:p>
            <a:r>
              <a:rPr lang="en-US" b="1" dirty="0">
                <a:solidFill>
                  <a:schemeClr val="accent1"/>
                </a:solidFill>
              </a:rPr>
              <a:t>MOTIVATION FOR TLB</a:t>
            </a:r>
          </a:p>
          <a:p>
            <a:endParaRPr lang="en-US" b="1" dirty="0">
              <a:solidFill>
                <a:schemeClr val="accent1"/>
              </a:solidFill>
            </a:endParaRPr>
          </a:p>
        </p:txBody>
      </p:sp>
    </p:spTree>
    <p:extLst>
      <p:ext uri="{BB962C8B-B14F-4D97-AF65-F5344CB8AC3E}">
        <p14:creationId xmlns:p14="http://schemas.microsoft.com/office/powerpoint/2010/main" val="3485695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60E5-9AB6-43FF-B0BA-6C5FE8BB24DC}"/>
              </a:ext>
            </a:extLst>
          </p:cNvPr>
          <p:cNvSpPr>
            <a:spLocks noGrp="1"/>
          </p:cNvSpPr>
          <p:nvPr>
            <p:ph type="title"/>
          </p:nvPr>
        </p:nvSpPr>
        <p:spPr/>
        <p:txBody>
          <a:bodyPr/>
          <a:lstStyle/>
          <a:p>
            <a:r>
              <a:rPr lang="en-US" dirty="0"/>
              <a:t>Translation Look-aside Buffer (TLB)</a:t>
            </a:r>
          </a:p>
        </p:txBody>
      </p:sp>
      <p:sp>
        <p:nvSpPr>
          <p:cNvPr id="3" name="Content Placeholder 2">
            <a:extLst>
              <a:ext uri="{FF2B5EF4-FFF2-40B4-BE49-F238E27FC236}">
                <a16:creationId xmlns:a16="http://schemas.microsoft.com/office/drawing/2014/main" id="{EE8295F3-2BB2-4615-93C6-D9929C172086}"/>
              </a:ext>
            </a:extLst>
          </p:cNvPr>
          <p:cNvSpPr>
            <a:spLocks noGrp="1"/>
          </p:cNvSpPr>
          <p:nvPr>
            <p:ph idx="1"/>
          </p:nvPr>
        </p:nvSpPr>
        <p:spPr/>
        <p:txBody>
          <a:bodyPr/>
          <a:lstStyle/>
          <a:p>
            <a:r>
              <a:rPr lang="en-US" dirty="0"/>
              <a:t>Cache for the address translations</a:t>
            </a:r>
          </a:p>
          <a:p>
            <a:pPr lvl="1"/>
            <a:r>
              <a:rPr lang="en-US" dirty="0"/>
              <a:t>But relatively smaller than the cache</a:t>
            </a:r>
          </a:p>
          <a:p>
            <a:r>
              <a:rPr lang="en-US" dirty="0"/>
              <a:t>TLB only stores the final translation and not the intermediate PTNs</a:t>
            </a:r>
          </a:p>
          <a:p>
            <a:r>
              <a:rPr lang="en-US" dirty="0"/>
              <a:t>So we need only one access to get the data</a:t>
            </a:r>
          </a:p>
          <a:p>
            <a:r>
              <a:rPr lang="en-US" dirty="0"/>
              <a:t>What if there is a TLB miss?</a:t>
            </a:r>
          </a:p>
          <a:p>
            <a:pPr lvl="1"/>
            <a:r>
              <a:rPr lang="en-US" dirty="0"/>
              <a:t>Software miss handling by the OS (like a tree or hashing structure)</a:t>
            </a:r>
          </a:p>
          <a:p>
            <a:pPr lvl="1"/>
            <a:r>
              <a:rPr lang="en-US" dirty="0"/>
              <a:t>Hardware miss handling (processor can automatically read the PTs and update the TLB. Faster at the expense of hardware complexity )</a:t>
            </a:r>
          </a:p>
        </p:txBody>
      </p:sp>
    </p:spTree>
    <p:extLst>
      <p:ext uri="{BB962C8B-B14F-4D97-AF65-F5344CB8AC3E}">
        <p14:creationId xmlns:p14="http://schemas.microsoft.com/office/powerpoint/2010/main" val="3662399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A039-1F93-4C59-A3E6-096ED622F9A6}"/>
              </a:ext>
            </a:extLst>
          </p:cNvPr>
          <p:cNvSpPr>
            <a:spLocks noGrp="1"/>
          </p:cNvSpPr>
          <p:nvPr>
            <p:ph type="title"/>
          </p:nvPr>
        </p:nvSpPr>
        <p:spPr/>
        <p:txBody>
          <a:bodyPr/>
          <a:lstStyle/>
          <a:p>
            <a:r>
              <a:rPr lang="en-US" dirty="0"/>
              <a:t>4 Level PT</a:t>
            </a:r>
          </a:p>
        </p:txBody>
      </p:sp>
      <p:sp>
        <p:nvSpPr>
          <p:cNvPr id="3" name="Content Placeholder 2">
            <a:extLst>
              <a:ext uri="{FF2B5EF4-FFF2-40B4-BE49-F238E27FC236}">
                <a16:creationId xmlns:a16="http://schemas.microsoft.com/office/drawing/2014/main" id="{30AAC33F-EB2A-40E0-B3DD-48D82BECC703}"/>
              </a:ext>
            </a:extLst>
          </p:cNvPr>
          <p:cNvSpPr>
            <a:spLocks noGrp="1"/>
          </p:cNvSpPr>
          <p:nvPr>
            <p:ph idx="1"/>
          </p:nvPr>
        </p:nvSpPr>
        <p:spPr/>
        <p:txBody>
          <a:bodyPr/>
          <a:lstStyle/>
          <a:p>
            <a:r>
              <a:rPr lang="en-US" dirty="0"/>
              <a:t>64 bit VA</a:t>
            </a:r>
          </a:p>
          <a:p>
            <a:r>
              <a:rPr lang="en-US" dirty="0"/>
              <a:t>64 bit Page size</a:t>
            </a:r>
          </a:p>
          <a:p>
            <a:r>
              <a:rPr lang="en-US" dirty="0"/>
              <a:t>8B PTE</a:t>
            </a:r>
          </a:p>
          <a:p>
            <a:r>
              <a:rPr lang="en-US" dirty="0"/>
              <a:t>Program uses only 0.. 4GB</a:t>
            </a:r>
          </a:p>
          <a:p>
            <a:r>
              <a:rPr lang="en-US" dirty="0"/>
              <a:t>Size of flat and 4 level PT?</a:t>
            </a:r>
          </a:p>
          <a:p>
            <a:pPr lvl="1"/>
            <a:endParaRPr lang="en-US" dirty="0"/>
          </a:p>
        </p:txBody>
      </p:sp>
      <p:sp>
        <p:nvSpPr>
          <p:cNvPr id="4" name="TextBox 3">
            <a:extLst>
              <a:ext uri="{FF2B5EF4-FFF2-40B4-BE49-F238E27FC236}">
                <a16:creationId xmlns:a16="http://schemas.microsoft.com/office/drawing/2014/main" id="{E88318F4-0FDA-441C-A06A-1188B1BD6C01}"/>
              </a:ext>
            </a:extLst>
          </p:cNvPr>
          <p:cNvSpPr txBox="1"/>
          <p:nvPr/>
        </p:nvSpPr>
        <p:spPr>
          <a:xfrm>
            <a:off x="5309754" y="1220171"/>
            <a:ext cx="6276109" cy="5078313"/>
          </a:xfrm>
          <a:prstGeom prst="rect">
            <a:avLst/>
          </a:prstGeom>
          <a:noFill/>
        </p:spPr>
        <p:txBody>
          <a:bodyPr wrap="square" rtlCol="0">
            <a:spAutoFit/>
          </a:bodyPr>
          <a:lstStyle/>
          <a:p>
            <a:r>
              <a:rPr lang="en-US" b="1" dirty="0">
                <a:solidFill>
                  <a:schemeClr val="accent1"/>
                </a:solidFill>
              </a:rPr>
              <a:t>2^64/2^16 = 2^48 entries</a:t>
            </a:r>
          </a:p>
          <a:p>
            <a:r>
              <a:rPr lang="en-US" b="1" dirty="0">
                <a:solidFill>
                  <a:schemeClr val="accent1"/>
                </a:solidFill>
              </a:rPr>
              <a:t>Flat = 2^48 X 8 = 2^51 B</a:t>
            </a:r>
          </a:p>
          <a:p>
            <a:endParaRPr lang="en-US" b="1" dirty="0">
              <a:solidFill>
                <a:schemeClr val="accent1"/>
              </a:solidFill>
            </a:endParaRPr>
          </a:p>
          <a:p>
            <a:r>
              <a:rPr lang="en-US" b="1" dirty="0">
                <a:solidFill>
                  <a:schemeClr val="accent1"/>
                </a:solidFill>
              </a:rPr>
              <a:t>48 bit PN is split into 4 pieces of 12 bits </a:t>
            </a:r>
          </a:p>
          <a:p>
            <a:r>
              <a:rPr lang="en-US" b="1" dirty="0">
                <a:solidFill>
                  <a:schemeClr val="accent1"/>
                </a:solidFill>
              </a:rPr>
              <a:t>Now figure out how many inner PTs we have</a:t>
            </a:r>
          </a:p>
          <a:p>
            <a:r>
              <a:rPr lang="en-US" b="1" dirty="0">
                <a:solidFill>
                  <a:schemeClr val="accent1"/>
                </a:solidFill>
              </a:rPr>
              <a:t>4 GB mem = 2^32 bytes = 2^16 x 2^16 (2^16 pages) </a:t>
            </a:r>
          </a:p>
          <a:p>
            <a:r>
              <a:rPr lang="en-US" b="1" dirty="0">
                <a:solidFill>
                  <a:schemeClr val="accent1"/>
                </a:solidFill>
              </a:rPr>
              <a:t>1 inner most PT has 2^12 entries – so it covers 2^12 pages</a:t>
            </a:r>
          </a:p>
          <a:p>
            <a:r>
              <a:rPr lang="en-US" b="1" dirty="0">
                <a:solidFill>
                  <a:schemeClr val="accent1"/>
                </a:solidFill>
              </a:rPr>
              <a:t>To cover 2^16 pages, we need 2^4 of these inner most PTs (so we have 16 inner most PTs)</a:t>
            </a:r>
          </a:p>
          <a:p>
            <a:r>
              <a:rPr lang="en-US" b="1" dirty="0">
                <a:solidFill>
                  <a:schemeClr val="accent1"/>
                </a:solidFill>
              </a:rPr>
              <a:t>How many PTs at the next level do we need to point to these? (these can also have 2^12 entries and this is only 2^4 – so we need only 1)</a:t>
            </a:r>
          </a:p>
          <a:p>
            <a:r>
              <a:rPr lang="en-US" b="1" dirty="0">
                <a:solidFill>
                  <a:schemeClr val="accent1"/>
                </a:solidFill>
              </a:rPr>
              <a:t>Outer most has 4096 entries (only one has a valid pointer)</a:t>
            </a:r>
          </a:p>
          <a:p>
            <a:r>
              <a:rPr lang="en-US" b="1" dirty="0">
                <a:solidFill>
                  <a:schemeClr val="accent1"/>
                </a:solidFill>
              </a:rPr>
              <a:t>Next level has 4096 also has only 1 valid</a:t>
            </a:r>
          </a:p>
          <a:p>
            <a:r>
              <a:rPr lang="en-US" b="1" dirty="0">
                <a:solidFill>
                  <a:schemeClr val="accent1"/>
                </a:solidFill>
              </a:rPr>
              <a:t>Next level has 16 entries that point to inner most PTs</a:t>
            </a:r>
          </a:p>
          <a:p>
            <a:endParaRPr lang="en-US" b="1" dirty="0">
              <a:solidFill>
                <a:schemeClr val="accent1"/>
              </a:solidFill>
            </a:endParaRPr>
          </a:p>
          <a:p>
            <a:r>
              <a:rPr lang="en-US" b="1" dirty="0">
                <a:solidFill>
                  <a:schemeClr val="accent1"/>
                </a:solidFill>
              </a:rPr>
              <a:t>1 + 1 + 1 + 16 = 19 (2^12 X 2^3 X 19)</a:t>
            </a:r>
          </a:p>
          <a:p>
            <a:endParaRPr lang="en-US" b="1" dirty="0">
              <a:solidFill>
                <a:schemeClr val="accent1"/>
              </a:solidFill>
            </a:endParaRPr>
          </a:p>
        </p:txBody>
      </p:sp>
    </p:spTree>
    <p:extLst>
      <p:ext uri="{BB962C8B-B14F-4D97-AF65-F5344CB8AC3E}">
        <p14:creationId xmlns:p14="http://schemas.microsoft.com/office/powerpoint/2010/main" val="707650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TotalTime>
  <Words>1462</Words>
  <Application>Microsoft Office PowerPoint</Application>
  <PresentationFormat>Widescreen</PresentationFormat>
  <Paragraphs>157</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Virtual Memory</vt:lpstr>
      <vt:lpstr>Why Virtual Memory?</vt:lpstr>
      <vt:lpstr>Physical Memory – Processor’s View </vt:lpstr>
      <vt:lpstr>Program’s View</vt:lpstr>
      <vt:lpstr>Mapping VM  PM</vt:lpstr>
      <vt:lpstr>Page Tables</vt:lpstr>
      <vt:lpstr>Translating VA  PA</vt:lpstr>
      <vt:lpstr>Flat PT</vt:lpstr>
      <vt:lpstr>Flat PT</vt:lpstr>
      <vt:lpstr>Multi Level PTs</vt:lpstr>
      <vt:lpstr>Multi Level PTs</vt:lpstr>
      <vt:lpstr>Multi Level PTs</vt:lpstr>
      <vt:lpstr>PowerPoint Presentation</vt:lpstr>
      <vt:lpstr>Translation Look-aside Buffer (TLB)</vt:lpstr>
      <vt:lpstr>4 Level 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dc:title>
  <dc:creator>Shreya Malkurthi</dc:creator>
  <cp:lastModifiedBy>Shreya Malkurthi</cp:lastModifiedBy>
  <cp:revision>20</cp:revision>
  <dcterms:created xsi:type="dcterms:W3CDTF">2024-11-06T19:04:48Z</dcterms:created>
  <dcterms:modified xsi:type="dcterms:W3CDTF">2024-11-07T01:37:57Z</dcterms:modified>
</cp:coreProperties>
</file>