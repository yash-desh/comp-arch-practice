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6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Attribution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of salad with fried rice, boiled eggs, and chopsticks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with salmon cakes, salad, and hummus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ECE/CS 552 project 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ECE/CS 552 project p1</a:t>
            </a:r>
          </a:p>
        </p:txBody>
      </p:sp>
      <p:sp>
        <p:nvSpPr>
          <p:cNvPr id="153" name="9/18/2023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9/</a:t>
            </a:r>
            <a:r>
              <a:rPr lang="en-US" dirty="0"/>
              <a:t>25</a:t>
            </a:r>
            <a:r>
              <a:rPr dirty="0"/>
              <a:t>/202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D63D0-35B9-4EF9-9DD3-FBD3150D54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Due on Monday, October 16, 2023, 11:59pm on canvas…"/>
          <p:cNvSpPr txBox="1">
            <a:spLocks noGrp="1"/>
          </p:cNvSpPr>
          <p:nvPr>
            <p:ph type="body" idx="1"/>
          </p:nvPr>
        </p:nvSpPr>
        <p:spPr>
          <a:xfrm>
            <a:off x="698500" y="1479418"/>
            <a:ext cx="11607800" cy="7575682"/>
          </a:xfrm>
          <a:prstGeom prst="rect">
            <a:avLst/>
          </a:prstGeom>
        </p:spPr>
        <p:txBody>
          <a:bodyPr/>
          <a:lstStyle/>
          <a:p>
            <a:r>
              <a:rPr dirty="0"/>
              <a:t>Due on Monday, October </a:t>
            </a:r>
            <a:r>
              <a:rPr lang="en-US" dirty="0"/>
              <a:t>21</a:t>
            </a:r>
            <a:r>
              <a:rPr dirty="0"/>
              <a:t>, 202</a:t>
            </a:r>
            <a:r>
              <a:rPr lang="en-US" dirty="0"/>
              <a:t>4</a:t>
            </a:r>
            <a:r>
              <a:rPr dirty="0"/>
              <a:t>, 11:59pm on canvas</a:t>
            </a:r>
          </a:p>
          <a:p>
            <a:r>
              <a:rPr dirty="0"/>
              <a:t>Submit your code as a zip file</a:t>
            </a:r>
          </a:p>
          <a:p>
            <a:r>
              <a:rPr dirty="0"/>
              <a:t>One submission per group</a:t>
            </a:r>
            <a:endParaRPr lang="en-US" dirty="0"/>
          </a:p>
          <a:p>
            <a:endParaRPr dirty="0"/>
          </a:p>
        </p:txBody>
      </p:sp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716590">
              <a:defRPr sz="5940" spc="-118"/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“Single-cycle”: On every cycle, one instruction is completed."/>
          <p:cNvSpPr txBox="1">
            <a:spLocks noGrp="1"/>
          </p:cNvSpPr>
          <p:nvPr>
            <p:ph type="body" sz="quarter" idx="1"/>
          </p:nvPr>
        </p:nvSpPr>
        <p:spPr>
          <a:xfrm>
            <a:off x="698499" y="8383595"/>
            <a:ext cx="11607801" cy="864455"/>
          </a:xfrm>
          <a:prstGeom prst="rect">
            <a:avLst/>
          </a:prstGeom>
        </p:spPr>
        <p:txBody>
          <a:bodyPr/>
          <a:lstStyle/>
          <a:p>
            <a:r>
              <a:t>“Single-cycle”: On every cycle, one instruction is completed.</a:t>
            </a:r>
          </a:p>
        </p:txBody>
      </p:sp>
      <p:sp>
        <p:nvSpPr>
          <p:cNvPr id="16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MIPS single-cycle CPU datap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MIPS single-cycle CPU datapath</a:t>
            </a:r>
          </a:p>
        </p:txBody>
      </p:sp>
      <p:grpSp>
        <p:nvGrpSpPr>
          <p:cNvPr id="173" name="Group"/>
          <p:cNvGrpSpPr/>
          <p:nvPr/>
        </p:nvGrpSpPr>
        <p:grpSpPr>
          <a:xfrm>
            <a:off x="1941799" y="1546787"/>
            <a:ext cx="8267701" cy="6674511"/>
            <a:chOff x="0" y="0"/>
            <a:chExt cx="8267700" cy="6674510"/>
          </a:xfrm>
        </p:grpSpPr>
        <p:pic>
          <p:nvPicPr>
            <p:cNvPr id="171" name="Screen Shot 2023-09-18 at 10.52.40 AM.png" descr="Screen Shot 2023-09-18 at 10.52.40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67701" cy="6248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2" name="Caption"/>
            <p:cNvSpPr/>
            <p:nvPr/>
          </p:nvSpPr>
          <p:spPr>
            <a:xfrm>
              <a:off x="0" y="6350000"/>
              <a:ext cx="8267701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Fig. 4.2 in COD</a:t>
              </a: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7" name="MIPS single-cycle CPU datap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MIPS single-cycle CPU datapath</a:t>
            </a:r>
          </a:p>
        </p:txBody>
      </p:sp>
      <p:grpSp>
        <p:nvGrpSpPr>
          <p:cNvPr id="180" name="Group"/>
          <p:cNvGrpSpPr/>
          <p:nvPr/>
        </p:nvGrpSpPr>
        <p:grpSpPr>
          <a:xfrm>
            <a:off x="1941799" y="1546787"/>
            <a:ext cx="8267701" cy="6674511"/>
            <a:chOff x="0" y="0"/>
            <a:chExt cx="8267700" cy="6674510"/>
          </a:xfrm>
        </p:grpSpPr>
        <p:pic>
          <p:nvPicPr>
            <p:cNvPr id="178" name="Screen Shot 2023-09-18 at 10.52.40 AM.png" descr="Screen Shot 2023-09-18 at 10.52.40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67701" cy="6248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9" name="Caption"/>
            <p:cNvSpPr/>
            <p:nvPr/>
          </p:nvSpPr>
          <p:spPr>
            <a:xfrm>
              <a:off x="0" y="6350000"/>
              <a:ext cx="8267701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Fig. 4.2 in COD</a:t>
              </a:r>
            </a:p>
          </p:txBody>
        </p:sp>
      </p:grpSp>
      <p:sp>
        <p:nvSpPr>
          <p:cNvPr id="181" name="Rectangle"/>
          <p:cNvSpPr/>
          <p:nvPr/>
        </p:nvSpPr>
        <p:spPr>
          <a:xfrm>
            <a:off x="2140408" y="2595648"/>
            <a:ext cx="2453978" cy="3546957"/>
          </a:xfrm>
          <a:prstGeom prst="rect">
            <a:avLst/>
          </a:prstGeom>
          <a:solidFill>
            <a:schemeClr val="accent4">
              <a:hueOff val="-476017"/>
              <a:lumOff val="-10042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2" name="- Fetching instruction…"/>
          <p:cNvSpPr txBox="1"/>
          <p:nvPr/>
        </p:nvSpPr>
        <p:spPr>
          <a:xfrm>
            <a:off x="1081795" y="6327991"/>
            <a:ext cx="3251861" cy="905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6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- Fetching instruction</a:t>
            </a:r>
          </a:p>
          <a:p>
            <a:pPr algn="l">
              <a:defRPr sz="26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- Incrementing PC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MIPS single-cycle CPU datap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MIPS single-cycle CPU datapath</a:t>
            </a:r>
          </a:p>
        </p:txBody>
      </p:sp>
      <p:grpSp>
        <p:nvGrpSpPr>
          <p:cNvPr id="189" name="Group"/>
          <p:cNvGrpSpPr/>
          <p:nvPr/>
        </p:nvGrpSpPr>
        <p:grpSpPr>
          <a:xfrm>
            <a:off x="1941799" y="1546787"/>
            <a:ext cx="8267701" cy="6674511"/>
            <a:chOff x="0" y="0"/>
            <a:chExt cx="8267700" cy="6674510"/>
          </a:xfrm>
        </p:grpSpPr>
        <p:pic>
          <p:nvPicPr>
            <p:cNvPr id="187" name="Screen Shot 2023-09-18 at 10.52.40 AM.png" descr="Screen Shot 2023-09-18 at 10.52.40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67701" cy="6248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8" name="Caption"/>
            <p:cNvSpPr/>
            <p:nvPr/>
          </p:nvSpPr>
          <p:spPr>
            <a:xfrm>
              <a:off x="0" y="6350000"/>
              <a:ext cx="8267701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Fig. 4.2 in COD</a:t>
              </a:r>
            </a:p>
          </p:txBody>
        </p:sp>
      </p:grpSp>
      <p:sp>
        <p:nvSpPr>
          <p:cNvPr id="190" name="Rectangle"/>
          <p:cNvSpPr/>
          <p:nvPr/>
        </p:nvSpPr>
        <p:spPr>
          <a:xfrm>
            <a:off x="4887251" y="4323665"/>
            <a:ext cx="1739813" cy="1788100"/>
          </a:xfrm>
          <a:prstGeom prst="rect">
            <a:avLst/>
          </a:prstGeom>
          <a:solidFill>
            <a:schemeClr val="accent6"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1" name="Rectangle"/>
          <p:cNvSpPr/>
          <p:nvPr/>
        </p:nvSpPr>
        <p:spPr>
          <a:xfrm>
            <a:off x="7201013" y="4424938"/>
            <a:ext cx="753961" cy="1585554"/>
          </a:xfrm>
          <a:prstGeom prst="rect">
            <a:avLst/>
          </a:prstGeom>
          <a:solidFill>
            <a:schemeClr val="accent6"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2" name="- R-type ALU operations"/>
          <p:cNvSpPr txBox="1"/>
          <p:nvPr/>
        </p:nvSpPr>
        <p:spPr>
          <a:xfrm>
            <a:off x="6173274" y="2640588"/>
            <a:ext cx="3716453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6"/>
                </a:solidFill>
              </a:defRPr>
            </a:lvl1pPr>
          </a:lstStyle>
          <a:p>
            <a:r>
              <a:t>- R-type ALU operations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MIPS single-cycle CPU datap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MIPS single-cycle CPU datapath</a:t>
            </a:r>
          </a:p>
        </p:txBody>
      </p:sp>
      <p:grpSp>
        <p:nvGrpSpPr>
          <p:cNvPr id="199" name="Group"/>
          <p:cNvGrpSpPr/>
          <p:nvPr/>
        </p:nvGrpSpPr>
        <p:grpSpPr>
          <a:xfrm>
            <a:off x="1941799" y="1546787"/>
            <a:ext cx="8267701" cy="6674511"/>
            <a:chOff x="0" y="0"/>
            <a:chExt cx="8267700" cy="6674510"/>
          </a:xfrm>
        </p:grpSpPr>
        <p:pic>
          <p:nvPicPr>
            <p:cNvPr id="197" name="Screen Shot 2023-09-18 at 10.52.40 AM.png" descr="Screen Shot 2023-09-18 at 10.52.40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67701" cy="6248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8" name="Caption"/>
            <p:cNvSpPr/>
            <p:nvPr/>
          </p:nvSpPr>
          <p:spPr>
            <a:xfrm>
              <a:off x="0" y="6350000"/>
              <a:ext cx="8267701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Fig. 4.2 in COD</a:t>
              </a:r>
            </a:p>
          </p:txBody>
        </p:sp>
      </p:grpSp>
      <p:sp>
        <p:nvSpPr>
          <p:cNvPr id="200" name="Ld/st operations"/>
          <p:cNvSpPr txBox="1"/>
          <p:nvPr/>
        </p:nvSpPr>
        <p:spPr>
          <a:xfrm>
            <a:off x="7538276" y="7567234"/>
            <a:ext cx="2530044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5"/>
                </a:solidFill>
              </a:defRPr>
            </a:lvl1pPr>
          </a:lstStyle>
          <a:p>
            <a:r>
              <a:t>Ld/st operations</a:t>
            </a:r>
          </a:p>
        </p:txBody>
      </p:sp>
      <p:sp>
        <p:nvSpPr>
          <p:cNvPr id="201" name="Rectangle"/>
          <p:cNvSpPr/>
          <p:nvPr/>
        </p:nvSpPr>
        <p:spPr>
          <a:xfrm>
            <a:off x="8191487" y="4733657"/>
            <a:ext cx="1540985" cy="1788101"/>
          </a:xfrm>
          <a:prstGeom prst="rect">
            <a:avLst/>
          </a:prstGeom>
          <a:solidFill>
            <a:schemeClr val="accent5"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2" name="Rectangle"/>
          <p:cNvSpPr/>
          <p:nvPr/>
        </p:nvSpPr>
        <p:spPr>
          <a:xfrm>
            <a:off x="7253798" y="4526212"/>
            <a:ext cx="650451" cy="1459232"/>
          </a:xfrm>
          <a:prstGeom prst="rect">
            <a:avLst/>
          </a:prstGeom>
          <a:solidFill>
            <a:schemeClr val="accent5"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3" name="Rectangle"/>
          <p:cNvSpPr/>
          <p:nvPr/>
        </p:nvSpPr>
        <p:spPr>
          <a:xfrm>
            <a:off x="4859590" y="4395946"/>
            <a:ext cx="1818551" cy="1719764"/>
          </a:xfrm>
          <a:prstGeom prst="rect">
            <a:avLst/>
          </a:prstGeom>
          <a:solidFill>
            <a:schemeClr val="accent5"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7" name="MIPS single-cycle CPU datap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MIPS single-cycle CPU datapath</a:t>
            </a:r>
          </a:p>
        </p:txBody>
      </p:sp>
      <p:grpSp>
        <p:nvGrpSpPr>
          <p:cNvPr id="210" name="Group"/>
          <p:cNvGrpSpPr/>
          <p:nvPr/>
        </p:nvGrpSpPr>
        <p:grpSpPr>
          <a:xfrm>
            <a:off x="1941799" y="1546787"/>
            <a:ext cx="8267701" cy="6674511"/>
            <a:chOff x="0" y="0"/>
            <a:chExt cx="8267700" cy="6674510"/>
          </a:xfrm>
        </p:grpSpPr>
        <p:pic>
          <p:nvPicPr>
            <p:cNvPr id="208" name="Screen Shot 2023-09-18 at 10.52.40 AM.png" descr="Screen Shot 2023-09-18 at 10.52.40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67701" cy="6248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9" name="Caption"/>
            <p:cNvSpPr/>
            <p:nvPr/>
          </p:nvSpPr>
          <p:spPr>
            <a:xfrm>
              <a:off x="0" y="6350000"/>
              <a:ext cx="8267701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Fig. 4.2 in COD</a:t>
              </a:r>
            </a:p>
          </p:txBody>
        </p:sp>
      </p:grpSp>
      <p:sp>
        <p:nvSpPr>
          <p:cNvPr id="211" name="Branch target addr"/>
          <p:cNvSpPr txBox="1"/>
          <p:nvPr/>
        </p:nvSpPr>
        <p:spPr>
          <a:xfrm>
            <a:off x="5172711" y="1268026"/>
            <a:ext cx="2887651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t>Branch target addr</a:t>
            </a:r>
          </a:p>
        </p:txBody>
      </p:sp>
      <p:sp>
        <p:nvSpPr>
          <p:cNvPr id="212" name="Rectangle"/>
          <p:cNvSpPr/>
          <p:nvPr/>
        </p:nvSpPr>
        <p:spPr>
          <a:xfrm>
            <a:off x="3587739" y="1869764"/>
            <a:ext cx="2530044" cy="2285599"/>
          </a:xfrm>
          <a:prstGeom prst="rect">
            <a:avLst/>
          </a:prstGeom>
          <a:solidFill>
            <a:srgbClr val="00A1FF">
              <a:alpha val="40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6" name="MIPS single-cycle CPU datapa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MIPS single-cycle CPU datapath</a:t>
            </a:r>
          </a:p>
        </p:txBody>
      </p:sp>
      <p:grpSp>
        <p:nvGrpSpPr>
          <p:cNvPr id="219" name="Group"/>
          <p:cNvGrpSpPr/>
          <p:nvPr/>
        </p:nvGrpSpPr>
        <p:grpSpPr>
          <a:xfrm>
            <a:off x="1941799" y="1546787"/>
            <a:ext cx="8267701" cy="6674511"/>
            <a:chOff x="0" y="0"/>
            <a:chExt cx="8267700" cy="6674510"/>
          </a:xfrm>
        </p:grpSpPr>
        <p:pic>
          <p:nvPicPr>
            <p:cNvPr id="217" name="Screen Shot 2023-09-18 at 10.52.40 AM.png" descr="Screen Shot 2023-09-18 at 10.52.40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267701" cy="6248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8" name="Caption"/>
            <p:cNvSpPr/>
            <p:nvPr/>
          </p:nvSpPr>
          <p:spPr>
            <a:xfrm>
              <a:off x="0" y="6350000"/>
              <a:ext cx="8267701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Fig. 4.2 in COD</a:t>
              </a:r>
            </a:p>
          </p:txBody>
        </p:sp>
      </p:grpSp>
      <p:sp>
        <p:nvSpPr>
          <p:cNvPr id="220" name="Control signal generation"/>
          <p:cNvSpPr txBox="1"/>
          <p:nvPr/>
        </p:nvSpPr>
        <p:spPr>
          <a:xfrm>
            <a:off x="6320490" y="7416685"/>
            <a:ext cx="3807918" cy="49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>
                <a:solidFill>
                  <a:schemeClr val="accent3"/>
                </a:solidFill>
              </a:defRPr>
            </a:lvl1pPr>
          </a:lstStyle>
          <a:p>
            <a:r>
              <a:t>Control signal generation</a:t>
            </a:r>
          </a:p>
        </p:txBody>
      </p:sp>
      <p:sp>
        <p:nvSpPr>
          <p:cNvPr id="221" name="Rectangle"/>
          <p:cNvSpPr/>
          <p:nvPr/>
        </p:nvSpPr>
        <p:spPr>
          <a:xfrm>
            <a:off x="4848343" y="6444829"/>
            <a:ext cx="1245121" cy="1402302"/>
          </a:xfrm>
          <a:prstGeom prst="rect">
            <a:avLst/>
          </a:prstGeom>
          <a:solidFill>
            <a:schemeClr val="accent3"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ALU (read 1.1 in phase 1 instruction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/>
              <a:t>ALU </a:t>
            </a:r>
            <a:r>
              <a:t>(read 1.1 in phase 1 instruction)</a:t>
            </a:r>
            <a:endParaRPr b="1"/>
          </a:p>
          <a:p>
            <a:pPr lvl="1"/>
            <a:r>
              <a:rPr i="1"/>
              <a:t>ADD, SUB, NAND, XOR</a:t>
            </a:r>
            <a:r>
              <a:t> in homework 2</a:t>
            </a:r>
          </a:p>
          <a:p>
            <a:pPr lvl="1"/>
            <a:r>
              <a:t>Parallel sub-word add (</a:t>
            </a:r>
            <a:r>
              <a:rPr i="1"/>
              <a:t>PADDSUB</a:t>
            </a:r>
            <a:r>
              <a:t>), shifter (</a:t>
            </a:r>
            <a:r>
              <a:rPr i="1"/>
              <a:t>SLL, SRA</a:t>
            </a:r>
            <a:r>
              <a:t>) in upcoming homework</a:t>
            </a:r>
          </a:p>
          <a:p>
            <a:pPr lvl="1"/>
            <a:r>
              <a:t>Extra logics e.g., reduction unit (</a:t>
            </a:r>
            <a:r>
              <a:rPr i="1"/>
              <a:t>RED</a:t>
            </a:r>
            <a:r>
              <a:t>), rotate shifter unit (</a:t>
            </a:r>
            <a:r>
              <a:rPr i="1"/>
              <a:t>ROR</a:t>
            </a:r>
            <a:r>
              <a:t>)</a:t>
            </a:r>
          </a:p>
          <a:p>
            <a:r>
              <a:rPr b="1"/>
              <a:t>Register file</a:t>
            </a:r>
            <a:r>
              <a:t> in upcoming homework</a:t>
            </a:r>
          </a:p>
          <a:p>
            <a:pPr>
              <a:defRPr b="1"/>
            </a:pPr>
            <a:r>
              <a:t>Instruction/data memory </a:t>
            </a:r>
            <a:r>
              <a:rPr b="0"/>
              <a:t>use the provided model</a:t>
            </a:r>
          </a:p>
        </p:txBody>
      </p:sp>
      <p:sp>
        <p:nvSpPr>
          <p:cNvPr id="22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Key compon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Key components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bullet text"/>
          <p:cNvSpPr txBox="1">
            <a:spLocks noGrp="1"/>
          </p:cNvSpPr>
          <p:nvPr>
            <p:ph type="body" idx="1"/>
          </p:nvPr>
        </p:nvSpPr>
        <p:spPr>
          <a:xfrm>
            <a:off x="698499" y="2163886"/>
            <a:ext cx="11607801" cy="689121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" name="ADD, SU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ADD, SUB</a:t>
            </a:r>
          </a:p>
        </p:txBody>
      </p:sp>
      <p:sp>
        <p:nvSpPr>
          <p:cNvPr id="229" name="ALU (hw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 (hw2)</a:t>
            </a:r>
          </a:p>
        </p:txBody>
      </p:sp>
      <p:sp>
        <p:nvSpPr>
          <p:cNvPr id="230" name="Text"/>
          <p:cNvSpPr txBox="1"/>
          <p:nvPr/>
        </p:nvSpPr>
        <p:spPr>
          <a:xfrm>
            <a:off x="1811746" y="4365207"/>
            <a:ext cx="127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1200">
                <a:solidFill>
                  <a:srgbClr val="569CD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D4D4D4"/>
              </a:solidFill>
            </a:endParaRPr>
          </a:p>
        </p:txBody>
      </p:sp>
      <p:pic>
        <p:nvPicPr>
          <p:cNvPr id="231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28840" y="2699982"/>
            <a:ext cx="8547120" cy="29695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lide bullet text"/>
          <p:cNvSpPr txBox="1">
            <a:spLocks noGrp="1"/>
          </p:cNvSpPr>
          <p:nvPr>
            <p:ph type="body" idx="1"/>
          </p:nvPr>
        </p:nvSpPr>
        <p:spPr>
          <a:xfrm>
            <a:off x="698500" y="2163886"/>
            <a:ext cx="11607800" cy="689121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4" name="ADD, SU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ADD, SUB</a:t>
            </a:r>
          </a:p>
        </p:txBody>
      </p:sp>
      <p:sp>
        <p:nvSpPr>
          <p:cNvPr id="235" name="ALU (hw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 (hw2)</a:t>
            </a:r>
          </a:p>
        </p:txBody>
      </p:sp>
      <p:sp>
        <p:nvSpPr>
          <p:cNvPr id="236" name="Text"/>
          <p:cNvSpPr txBox="1"/>
          <p:nvPr/>
        </p:nvSpPr>
        <p:spPr>
          <a:xfrm>
            <a:off x="1811746" y="4365207"/>
            <a:ext cx="127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1200">
                <a:solidFill>
                  <a:srgbClr val="569CD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D4D4D4"/>
              </a:solidFill>
            </a:endParaRPr>
          </a:p>
        </p:txBody>
      </p:sp>
      <p:pic>
        <p:nvPicPr>
          <p:cNvPr id="2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40" y="2699982"/>
            <a:ext cx="8547120" cy="2969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0" name="Group"/>
          <p:cNvGrpSpPr/>
          <p:nvPr/>
        </p:nvGrpSpPr>
        <p:grpSpPr>
          <a:xfrm>
            <a:off x="396434" y="5807386"/>
            <a:ext cx="4699763" cy="2555000"/>
            <a:chOff x="0" y="0"/>
            <a:chExt cx="4699761" cy="2554999"/>
          </a:xfrm>
        </p:grpSpPr>
        <p:pic>
          <p:nvPicPr>
            <p:cNvPr id="238" name="Gate Level Diagram.png" descr="Gate Level 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699762" cy="21288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9" name="Caption"/>
            <p:cNvSpPr/>
            <p:nvPr/>
          </p:nvSpPr>
          <p:spPr>
            <a:xfrm>
              <a:off x="0" y="2230488"/>
              <a:ext cx="4699762" cy="324512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1-bit full adder gate-level schematic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lide bullet text"/>
          <p:cNvSpPr txBox="1">
            <a:spLocks noGrp="1"/>
          </p:cNvSpPr>
          <p:nvPr>
            <p:ph type="body" idx="1"/>
          </p:nvPr>
        </p:nvSpPr>
        <p:spPr>
          <a:xfrm>
            <a:off x="698500" y="2163886"/>
            <a:ext cx="11607800" cy="689121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3" name="ADD, SU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ADD, SUB</a:t>
            </a:r>
          </a:p>
        </p:txBody>
      </p:sp>
      <p:sp>
        <p:nvSpPr>
          <p:cNvPr id="244" name="ALU (hw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 (hw2)</a:t>
            </a:r>
          </a:p>
        </p:txBody>
      </p:sp>
      <p:sp>
        <p:nvSpPr>
          <p:cNvPr id="245" name="Text"/>
          <p:cNvSpPr txBox="1"/>
          <p:nvPr/>
        </p:nvSpPr>
        <p:spPr>
          <a:xfrm>
            <a:off x="1811746" y="4365207"/>
            <a:ext cx="127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1200">
                <a:solidFill>
                  <a:srgbClr val="569CD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D4D4D4"/>
              </a:solidFill>
            </a:endParaRPr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40" y="2699982"/>
            <a:ext cx="8547120" cy="2969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9" name="Group"/>
          <p:cNvGrpSpPr/>
          <p:nvPr/>
        </p:nvGrpSpPr>
        <p:grpSpPr>
          <a:xfrm>
            <a:off x="396434" y="5807386"/>
            <a:ext cx="4699763" cy="2555000"/>
            <a:chOff x="0" y="0"/>
            <a:chExt cx="4699761" cy="2554999"/>
          </a:xfrm>
        </p:grpSpPr>
        <p:pic>
          <p:nvPicPr>
            <p:cNvPr id="247" name="Gate Level Diagram.png" descr="Gate Level 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699762" cy="21288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8" name="Caption"/>
            <p:cNvSpPr/>
            <p:nvPr/>
          </p:nvSpPr>
          <p:spPr>
            <a:xfrm>
              <a:off x="0" y="2230488"/>
              <a:ext cx="4699762" cy="324512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1-bit full adder gate-level schematic</a:t>
              </a:r>
            </a:p>
          </p:txBody>
        </p:sp>
      </p:grpSp>
      <p:grpSp>
        <p:nvGrpSpPr>
          <p:cNvPr id="252" name="Group"/>
          <p:cNvGrpSpPr/>
          <p:nvPr/>
        </p:nvGrpSpPr>
        <p:grpSpPr>
          <a:xfrm>
            <a:off x="6116350" y="5724695"/>
            <a:ext cx="5609369" cy="3122923"/>
            <a:chOff x="0" y="0"/>
            <a:chExt cx="5609368" cy="3122922"/>
          </a:xfrm>
        </p:grpSpPr>
        <p:pic>
          <p:nvPicPr>
            <p:cNvPr id="250" name="adder_subtractor.gif" descr="adder_subtractor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609369" cy="26968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1" name="Caption"/>
            <p:cNvSpPr/>
            <p:nvPr/>
          </p:nvSpPr>
          <p:spPr>
            <a:xfrm>
              <a:off x="0" y="2798411"/>
              <a:ext cx="5609369" cy="324512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4-bit ripple carry adder/subtractor</a:t>
              </a:r>
            </a:p>
          </p:txBody>
        </p: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lide bullet text"/>
          <p:cNvSpPr txBox="1">
            <a:spLocks noGrp="1"/>
          </p:cNvSpPr>
          <p:nvPr>
            <p:ph type="body" idx="1"/>
          </p:nvPr>
        </p:nvSpPr>
        <p:spPr>
          <a:xfrm>
            <a:off x="698500" y="2163886"/>
            <a:ext cx="11607800" cy="689121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" name="ADD, SU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ADD, SUB</a:t>
            </a:r>
          </a:p>
        </p:txBody>
      </p:sp>
      <p:sp>
        <p:nvSpPr>
          <p:cNvPr id="256" name="ALU (hw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 (hw2)</a:t>
            </a:r>
          </a:p>
        </p:txBody>
      </p:sp>
      <p:sp>
        <p:nvSpPr>
          <p:cNvPr id="257" name="Text"/>
          <p:cNvSpPr txBox="1"/>
          <p:nvPr/>
        </p:nvSpPr>
        <p:spPr>
          <a:xfrm>
            <a:off x="1811746" y="4365207"/>
            <a:ext cx="127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1200">
                <a:solidFill>
                  <a:srgbClr val="569CD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D4D4D4"/>
              </a:solidFill>
            </a:endParaRPr>
          </a:p>
        </p:txBody>
      </p:sp>
      <p:pic>
        <p:nvPicPr>
          <p:cNvPr id="25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40" y="2699982"/>
            <a:ext cx="8547120" cy="2969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1" name="Group"/>
          <p:cNvGrpSpPr/>
          <p:nvPr/>
        </p:nvGrpSpPr>
        <p:grpSpPr>
          <a:xfrm>
            <a:off x="396434" y="5807386"/>
            <a:ext cx="4699763" cy="2555000"/>
            <a:chOff x="0" y="0"/>
            <a:chExt cx="4699761" cy="2554999"/>
          </a:xfrm>
        </p:grpSpPr>
        <p:pic>
          <p:nvPicPr>
            <p:cNvPr id="259" name="Gate Level Diagram.png" descr="Gate Level 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699762" cy="21288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0" name="Caption"/>
            <p:cNvSpPr/>
            <p:nvPr/>
          </p:nvSpPr>
          <p:spPr>
            <a:xfrm>
              <a:off x="0" y="2230488"/>
              <a:ext cx="4699762" cy="324512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1-bit full adder gate-level schematic</a:t>
              </a:r>
            </a:p>
          </p:txBody>
        </p:sp>
      </p:grpSp>
      <p:sp>
        <p:nvSpPr>
          <p:cNvPr id="262" name="SUB is add/sub indicator"/>
          <p:cNvSpPr txBox="1"/>
          <p:nvPr/>
        </p:nvSpPr>
        <p:spPr>
          <a:xfrm>
            <a:off x="8988526" y="5000117"/>
            <a:ext cx="3671888" cy="47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chemeClr val="accent5"/>
                </a:solidFill>
              </a:defRPr>
            </a:lvl1pPr>
          </a:lstStyle>
          <a:p>
            <a:r>
              <a:t>SUB is add/sub indicator</a:t>
            </a:r>
          </a:p>
        </p:txBody>
      </p:sp>
      <p:sp>
        <p:nvSpPr>
          <p:cNvPr id="263" name="When SUB=1’b1: Cin=1’b1, ~B input to FA =&gt; subtraction…"/>
          <p:cNvSpPr txBox="1"/>
          <p:nvPr/>
        </p:nvSpPr>
        <p:spPr>
          <a:xfrm>
            <a:off x="5324064" y="9017678"/>
            <a:ext cx="7678814" cy="804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solidFill>
                  <a:schemeClr val="accent5"/>
                </a:solidFill>
              </a:defRPr>
            </a:pPr>
            <a:r>
              <a:t>When SUB=1’b1: Cin=1’b1, ~B input to FA =&gt; subtraction</a:t>
            </a:r>
          </a:p>
          <a:p>
            <a:pPr algn="l">
              <a:defRPr sz="2300">
                <a:solidFill>
                  <a:schemeClr val="accent5"/>
                </a:solidFill>
              </a:defRPr>
            </a:pPr>
            <a:r>
              <a:t>When SUB=1’b0: Cin=1’b0, B input to FA =&gt; addition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6116350" y="5724695"/>
            <a:ext cx="5609369" cy="3122923"/>
            <a:chOff x="0" y="0"/>
            <a:chExt cx="5609368" cy="3122922"/>
          </a:xfrm>
        </p:grpSpPr>
        <p:pic>
          <p:nvPicPr>
            <p:cNvPr id="264" name="adder_subtractor.gif" descr="adder_subtractor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609369" cy="26968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5" name="Caption"/>
            <p:cNvSpPr/>
            <p:nvPr/>
          </p:nvSpPr>
          <p:spPr>
            <a:xfrm>
              <a:off x="0" y="2798411"/>
              <a:ext cx="5609369" cy="324512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4-bit ripple carry adder/subtractor</a:t>
              </a:r>
            </a:p>
          </p:txBody>
        </p:sp>
      </p:grpSp>
      <p:sp>
        <p:nvSpPr>
          <p:cNvPr id="267" name="Rectangle"/>
          <p:cNvSpPr/>
          <p:nvPr/>
        </p:nvSpPr>
        <p:spPr>
          <a:xfrm>
            <a:off x="10984080" y="6910389"/>
            <a:ext cx="919978" cy="325424"/>
          </a:xfrm>
          <a:prstGeom prst="rect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Do not use +/- in design! You may use them in testbench…"/>
          <p:cNvSpPr txBox="1">
            <a:spLocks noGrp="1"/>
          </p:cNvSpPr>
          <p:nvPr>
            <p:ph type="body" idx="1"/>
          </p:nvPr>
        </p:nvSpPr>
        <p:spPr>
          <a:xfrm>
            <a:off x="698500" y="2163886"/>
            <a:ext cx="11607800" cy="6891214"/>
          </a:xfrm>
          <a:prstGeom prst="rect">
            <a:avLst/>
          </a:prstGeom>
        </p:spPr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>
              <a:defRPr b="1"/>
            </a:pPr>
            <a:endParaRPr/>
          </a:p>
          <a:p>
            <a:pPr>
              <a:defRPr b="1"/>
            </a:pPr>
            <a:r>
              <a:t>Do not use +/- in design! You may use them in testbench</a:t>
            </a:r>
          </a:p>
          <a:p>
            <a:r>
              <a:t>For project phase 1, you need </a:t>
            </a:r>
            <a:r>
              <a:rPr b="1"/>
              <a:t>16 bit</a:t>
            </a:r>
            <a:r>
              <a:t> carry look-ahead (</a:t>
            </a:r>
            <a:r>
              <a:rPr b="1"/>
              <a:t>CLA</a:t>
            </a:r>
            <a:r>
              <a:t>) adder/subtractor</a:t>
            </a:r>
          </a:p>
        </p:txBody>
      </p:sp>
      <p:sp>
        <p:nvSpPr>
          <p:cNvPr id="270" name="ADD, SU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ADD, SUB</a:t>
            </a:r>
          </a:p>
        </p:txBody>
      </p:sp>
      <p:sp>
        <p:nvSpPr>
          <p:cNvPr id="271" name="ALU (hw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 (hw2)</a:t>
            </a:r>
          </a:p>
        </p:txBody>
      </p:sp>
      <p:sp>
        <p:nvSpPr>
          <p:cNvPr id="272" name="Text"/>
          <p:cNvSpPr txBox="1"/>
          <p:nvPr/>
        </p:nvSpPr>
        <p:spPr>
          <a:xfrm>
            <a:off x="1811746" y="4365207"/>
            <a:ext cx="127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1200">
                <a:solidFill>
                  <a:srgbClr val="569CD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D4D4D4"/>
              </a:solidFill>
            </a:endParaRPr>
          </a:p>
        </p:txBody>
      </p:sp>
      <p:pic>
        <p:nvPicPr>
          <p:cNvPr id="2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40" y="2699982"/>
            <a:ext cx="8547120" cy="29695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7" name="CL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CLA</a:t>
            </a:r>
          </a:p>
        </p:txBody>
      </p:sp>
      <p:grpSp>
        <p:nvGrpSpPr>
          <p:cNvPr id="280" name="Group"/>
          <p:cNvGrpSpPr/>
          <p:nvPr/>
        </p:nvGrpSpPr>
        <p:grpSpPr>
          <a:xfrm>
            <a:off x="1435803" y="1828799"/>
            <a:ext cx="10133194" cy="6522112"/>
            <a:chOff x="0" y="0"/>
            <a:chExt cx="10133192" cy="6522110"/>
          </a:xfrm>
        </p:grpSpPr>
        <p:pic>
          <p:nvPicPr>
            <p:cNvPr id="278" name="phpcoYB4q.png" descr="phpcoYB4q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0133193" cy="609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9" name="Caption"/>
            <p:cNvSpPr/>
            <p:nvPr/>
          </p:nvSpPr>
          <p:spPr>
            <a:xfrm>
              <a:off x="0" y="6197599"/>
              <a:ext cx="10133193" cy="324512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4-bit CLA with add/sub selection</a:t>
              </a:r>
            </a:p>
          </p:txBody>
        </p:sp>
      </p:grp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RED</a:t>
            </a:r>
          </a:p>
        </p:txBody>
      </p:sp>
      <p:sp>
        <p:nvSpPr>
          <p:cNvPr id="283" name="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</a:t>
            </a:r>
          </a:p>
        </p:txBody>
      </p:sp>
      <p:sp>
        <p:nvSpPr>
          <p:cNvPr id="284" name="aaaaaaaa"/>
          <p:cNvSpPr txBox="1"/>
          <p:nvPr/>
        </p:nvSpPr>
        <p:spPr>
          <a:xfrm>
            <a:off x="5055089" y="3703482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aaaaaaaa</a:t>
            </a:r>
          </a:p>
        </p:txBody>
      </p:sp>
      <p:sp>
        <p:nvSpPr>
          <p:cNvPr id="285" name="bbbbbbbb"/>
          <p:cNvSpPr txBox="1"/>
          <p:nvPr/>
        </p:nvSpPr>
        <p:spPr>
          <a:xfrm>
            <a:off x="7188764" y="3700643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bbbbbbbb</a:t>
            </a:r>
          </a:p>
        </p:txBody>
      </p:sp>
      <p:sp>
        <p:nvSpPr>
          <p:cNvPr id="286" name="REG rs"/>
          <p:cNvSpPr txBox="1"/>
          <p:nvPr/>
        </p:nvSpPr>
        <p:spPr>
          <a:xfrm>
            <a:off x="3485384" y="368778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1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rs</a:t>
            </a:r>
          </a:p>
        </p:txBody>
      </p:sp>
      <p:sp>
        <p:nvSpPr>
          <p:cNvPr id="287" name="REG rt"/>
          <p:cNvSpPr txBox="1"/>
          <p:nvPr/>
        </p:nvSpPr>
        <p:spPr>
          <a:xfrm>
            <a:off x="3485384" y="4254971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5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rt</a:t>
            </a:r>
          </a:p>
        </p:txBody>
      </p:sp>
      <p:sp>
        <p:nvSpPr>
          <p:cNvPr id="288" name="cccccccc"/>
          <p:cNvSpPr txBox="1"/>
          <p:nvPr/>
        </p:nvSpPr>
        <p:spPr>
          <a:xfrm>
            <a:off x="5055089" y="4254971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cccccccc</a:t>
            </a:r>
          </a:p>
        </p:txBody>
      </p:sp>
      <p:sp>
        <p:nvSpPr>
          <p:cNvPr id="289" name="dddddddd"/>
          <p:cNvSpPr txBox="1"/>
          <p:nvPr/>
        </p:nvSpPr>
        <p:spPr>
          <a:xfrm>
            <a:off x="7188764" y="4267834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dddddddd</a:t>
            </a:r>
          </a:p>
        </p:txBody>
      </p:sp>
      <p:sp>
        <p:nvSpPr>
          <p:cNvPr id="290" name="REG rd"/>
          <p:cNvSpPr txBox="1"/>
          <p:nvPr/>
        </p:nvSpPr>
        <p:spPr>
          <a:xfrm>
            <a:off x="3485384" y="504141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4">
                    <a:hueOff val="-476017"/>
                    <a:lumOff val="-10042"/>
                  </a:schemeClr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rd</a:t>
            </a:r>
          </a:p>
        </p:txBody>
      </p:sp>
      <p:sp>
        <p:nvSpPr>
          <p:cNvPr id="291" name="Byte 1"/>
          <p:cNvSpPr txBox="1"/>
          <p:nvPr/>
        </p:nvSpPr>
        <p:spPr>
          <a:xfrm>
            <a:off x="5144125" y="3159869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1</a:t>
            </a:r>
          </a:p>
        </p:txBody>
      </p:sp>
      <p:sp>
        <p:nvSpPr>
          <p:cNvPr id="292" name="Byte 0"/>
          <p:cNvSpPr txBox="1"/>
          <p:nvPr/>
        </p:nvSpPr>
        <p:spPr>
          <a:xfrm>
            <a:off x="7426010" y="3172733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0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RED</a:t>
            </a:r>
          </a:p>
        </p:txBody>
      </p:sp>
      <p:sp>
        <p:nvSpPr>
          <p:cNvPr id="295" name="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</a:t>
            </a:r>
          </a:p>
        </p:txBody>
      </p:sp>
      <p:sp>
        <p:nvSpPr>
          <p:cNvPr id="296" name="aaaaaaaa"/>
          <p:cNvSpPr txBox="1"/>
          <p:nvPr/>
        </p:nvSpPr>
        <p:spPr>
          <a:xfrm>
            <a:off x="5055089" y="3703482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aaaaaaaa</a:t>
            </a:r>
          </a:p>
        </p:txBody>
      </p:sp>
      <p:sp>
        <p:nvSpPr>
          <p:cNvPr id="297" name="bbbbbbbb"/>
          <p:cNvSpPr txBox="1"/>
          <p:nvPr/>
        </p:nvSpPr>
        <p:spPr>
          <a:xfrm>
            <a:off x="7188764" y="3700643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bbbbbbbb</a:t>
            </a:r>
          </a:p>
        </p:txBody>
      </p:sp>
      <p:sp>
        <p:nvSpPr>
          <p:cNvPr id="298" name="REG rs"/>
          <p:cNvSpPr txBox="1"/>
          <p:nvPr/>
        </p:nvSpPr>
        <p:spPr>
          <a:xfrm>
            <a:off x="3485384" y="368778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1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rs</a:t>
            </a:r>
          </a:p>
        </p:txBody>
      </p:sp>
      <p:sp>
        <p:nvSpPr>
          <p:cNvPr id="299" name="REG rt"/>
          <p:cNvSpPr txBox="1"/>
          <p:nvPr/>
        </p:nvSpPr>
        <p:spPr>
          <a:xfrm>
            <a:off x="3485384" y="4254971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5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rt</a:t>
            </a:r>
          </a:p>
        </p:txBody>
      </p:sp>
      <p:sp>
        <p:nvSpPr>
          <p:cNvPr id="300" name="cccccccc"/>
          <p:cNvSpPr txBox="1"/>
          <p:nvPr/>
        </p:nvSpPr>
        <p:spPr>
          <a:xfrm>
            <a:off x="5055089" y="4254971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cccccccc</a:t>
            </a:r>
          </a:p>
        </p:txBody>
      </p:sp>
      <p:sp>
        <p:nvSpPr>
          <p:cNvPr id="301" name="dddddddd"/>
          <p:cNvSpPr txBox="1"/>
          <p:nvPr/>
        </p:nvSpPr>
        <p:spPr>
          <a:xfrm>
            <a:off x="7188764" y="4267834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dddddddd</a:t>
            </a:r>
          </a:p>
        </p:txBody>
      </p:sp>
      <p:sp>
        <p:nvSpPr>
          <p:cNvPr id="302" name="REG rd"/>
          <p:cNvSpPr txBox="1"/>
          <p:nvPr/>
        </p:nvSpPr>
        <p:spPr>
          <a:xfrm>
            <a:off x="3485384" y="504141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4">
                    <a:hueOff val="-476017"/>
                    <a:lumOff val="-10042"/>
                  </a:schemeClr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rd</a:t>
            </a:r>
          </a:p>
        </p:txBody>
      </p:sp>
      <p:sp>
        <p:nvSpPr>
          <p:cNvPr id="303" name="Byte 1"/>
          <p:cNvSpPr txBox="1"/>
          <p:nvPr/>
        </p:nvSpPr>
        <p:spPr>
          <a:xfrm>
            <a:off x="5144125" y="3159869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1</a:t>
            </a:r>
          </a:p>
        </p:txBody>
      </p:sp>
      <p:sp>
        <p:nvSpPr>
          <p:cNvPr id="304" name="Byte 0"/>
          <p:cNvSpPr txBox="1"/>
          <p:nvPr/>
        </p:nvSpPr>
        <p:spPr>
          <a:xfrm>
            <a:off x="7426010" y="3172733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0</a:t>
            </a:r>
          </a:p>
        </p:txBody>
      </p:sp>
      <p:sp>
        <p:nvSpPr>
          <p:cNvPr id="305" name="Line"/>
          <p:cNvSpPr/>
          <p:nvPr/>
        </p:nvSpPr>
        <p:spPr>
          <a:xfrm>
            <a:off x="6012968" y="3800604"/>
            <a:ext cx="1" cy="1280864"/>
          </a:xfrm>
          <a:prstGeom prst="line">
            <a:avLst/>
          </a:prstGeom>
          <a:ln w="635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6" name="Line"/>
          <p:cNvSpPr/>
          <p:nvPr/>
        </p:nvSpPr>
        <p:spPr>
          <a:xfrm>
            <a:off x="8101904" y="3800604"/>
            <a:ext cx="1" cy="1280864"/>
          </a:xfrm>
          <a:prstGeom prst="line">
            <a:avLst/>
          </a:prstGeom>
          <a:ln w="635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7" name="Byte wise reduction (level 1)"/>
          <p:cNvSpPr txBox="1"/>
          <p:nvPr/>
        </p:nvSpPr>
        <p:spPr>
          <a:xfrm>
            <a:off x="5023160" y="5150702"/>
            <a:ext cx="6095493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4">
                    <a:hueOff val="-476017"/>
                    <a:lumOff val="-10042"/>
                  </a:schemeClr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wise reduction (level 1)</a:t>
            </a:r>
          </a:p>
        </p:txBody>
      </p:sp>
      <p:sp>
        <p:nvSpPr>
          <p:cNvPr id="308" name="4-bit CLA x2"/>
          <p:cNvSpPr txBox="1"/>
          <p:nvPr/>
        </p:nvSpPr>
        <p:spPr>
          <a:xfrm>
            <a:off x="5383708" y="6033569"/>
            <a:ext cx="1258521" cy="324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4-bit CLA x2</a:t>
            </a:r>
          </a:p>
        </p:txBody>
      </p:sp>
      <p:sp>
        <p:nvSpPr>
          <p:cNvPr id="309" name="4-bit CLA x2"/>
          <p:cNvSpPr txBox="1"/>
          <p:nvPr/>
        </p:nvSpPr>
        <p:spPr>
          <a:xfrm>
            <a:off x="7472645" y="6033569"/>
            <a:ext cx="1258520" cy="324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4-bit CLA x2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RED</a:t>
            </a:r>
          </a:p>
        </p:txBody>
      </p:sp>
      <p:sp>
        <p:nvSpPr>
          <p:cNvPr id="312" name="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</a:t>
            </a:r>
          </a:p>
        </p:txBody>
      </p:sp>
      <p:sp>
        <p:nvSpPr>
          <p:cNvPr id="313" name="aaaaaaaa"/>
          <p:cNvSpPr txBox="1"/>
          <p:nvPr/>
        </p:nvSpPr>
        <p:spPr>
          <a:xfrm>
            <a:off x="5055089" y="3703482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aaaaaaaa</a:t>
            </a:r>
          </a:p>
        </p:txBody>
      </p:sp>
      <p:sp>
        <p:nvSpPr>
          <p:cNvPr id="314" name="bbbbbbbb"/>
          <p:cNvSpPr txBox="1"/>
          <p:nvPr/>
        </p:nvSpPr>
        <p:spPr>
          <a:xfrm>
            <a:off x="7188764" y="3700643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bbbbbbbb</a:t>
            </a:r>
          </a:p>
        </p:txBody>
      </p:sp>
      <p:sp>
        <p:nvSpPr>
          <p:cNvPr id="315" name="REG rs"/>
          <p:cNvSpPr txBox="1"/>
          <p:nvPr/>
        </p:nvSpPr>
        <p:spPr>
          <a:xfrm>
            <a:off x="3485384" y="368778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1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rs</a:t>
            </a:r>
          </a:p>
        </p:txBody>
      </p:sp>
      <p:sp>
        <p:nvSpPr>
          <p:cNvPr id="316" name="REG rt"/>
          <p:cNvSpPr txBox="1"/>
          <p:nvPr/>
        </p:nvSpPr>
        <p:spPr>
          <a:xfrm>
            <a:off x="3485384" y="4254971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5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rt</a:t>
            </a:r>
          </a:p>
        </p:txBody>
      </p:sp>
      <p:sp>
        <p:nvSpPr>
          <p:cNvPr id="317" name="cccccccc"/>
          <p:cNvSpPr txBox="1"/>
          <p:nvPr/>
        </p:nvSpPr>
        <p:spPr>
          <a:xfrm>
            <a:off x="5055089" y="4254971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cccccccc</a:t>
            </a:r>
          </a:p>
        </p:txBody>
      </p:sp>
      <p:sp>
        <p:nvSpPr>
          <p:cNvPr id="318" name="dddddddd"/>
          <p:cNvSpPr txBox="1"/>
          <p:nvPr/>
        </p:nvSpPr>
        <p:spPr>
          <a:xfrm>
            <a:off x="7188764" y="4267834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dddddddd</a:t>
            </a:r>
          </a:p>
        </p:txBody>
      </p:sp>
      <p:sp>
        <p:nvSpPr>
          <p:cNvPr id="319" name="REG rd"/>
          <p:cNvSpPr txBox="1"/>
          <p:nvPr/>
        </p:nvSpPr>
        <p:spPr>
          <a:xfrm>
            <a:off x="3485384" y="504141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4">
                    <a:hueOff val="-476017"/>
                    <a:lumOff val="-10042"/>
                  </a:schemeClr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rd</a:t>
            </a:r>
          </a:p>
        </p:txBody>
      </p:sp>
      <p:sp>
        <p:nvSpPr>
          <p:cNvPr id="320" name="aaaaaaaa+…"/>
          <p:cNvSpPr txBox="1"/>
          <p:nvPr/>
        </p:nvSpPr>
        <p:spPr>
          <a:xfrm>
            <a:off x="4951965" y="4806460"/>
            <a:ext cx="1970533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aaaaaaaa+</a:t>
            </a:r>
          </a:p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cccccccc</a:t>
            </a:r>
          </a:p>
        </p:txBody>
      </p:sp>
      <p:sp>
        <p:nvSpPr>
          <p:cNvPr id="321" name="bbbbbbbb+…"/>
          <p:cNvSpPr txBox="1"/>
          <p:nvPr/>
        </p:nvSpPr>
        <p:spPr>
          <a:xfrm>
            <a:off x="7116638" y="4832186"/>
            <a:ext cx="1970533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bbbbbbbb+</a:t>
            </a:r>
          </a:p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dddddddd</a:t>
            </a:r>
          </a:p>
        </p:txBody>
      </p:sp>
      <p:sp>
        <p:nvSpPr>
          <p:cNvPr id="322" name="Byte 1"/>
          <p:cNvSpPr txBox="1"/>
          <p:nvPr/>
        </p:nvSpPr>
        <p:spPr>
          <a:xfrm>
            <a:off x="5144125" y="3159869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1</a:t>
            </a:r>
          </a:p>
        </p:txBody>
      </p:sp>
      <p:sp>
        <p:nvSpPr>
          <p:cNvPr id="323" name="Byte 0"/>
          <p:cNvSpPr txBox="1"/>
          <p:nvPr/>
        </p:nvSpPr>
        <p:spPr>
          <a:xfrm>
            <a:off x="7426010" y="3172733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0</a:t>
            </a:r>
          </a:p>
        </p:txBody>
      </p:sp>
      <p:sp>
        <p:nvSpPr>
          <p:cNvPr id="324" name="9 bit"/>
          <p:cNvSpPr txBox="1"/>
          <p:nvPr/>
        </p:nvSpPr>
        <p:spPr>
          <a:xfrm>
            <a:off x="5680538" y="5893684"/>
            <a:ext cx="513386" cy="324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 bit</a:t>
            </a:r>
          </a:p>
        </p:txBody>
      </p:sp>
      <p:sp>
        <p:nvSpPr>
          <p:cNvPr id="325" name="9 bit"/>
          <p:cNvSpPr txBox="1"/>
          <p:nvPr/>
        </p:nvSpPr>
        <p:spPr>
          <a:xfrm>
            <a:off x="7845212" y="5890846"/>
            <a:ext cx="513386" cy="324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 bit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RED</a:t>
            </a:r>
          </a:p>
        </p:txBody>
      </p:sp>
      <p:sp>
        <p:nvSpPr>
          <p:cNvPr id="328" name="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</a:t>
            </a:r>
          </a:p>
        </p:txBody>
      </p:sp>
      <p:sp>
        <p:nvSpPr>
          <p:cNvPr id="329" name="aaaaaaaa"/>
          <p:cNvSpPr txBox="1"/>
          <p:nvPr/>
        </p:nvSpPr>
        <p:spPr>
          <a:xfrm>
            <a:off x="5055089" y="3703482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aaaaaaaa</a:t>
            </a:r>
          </a:p>
        </p:txBody>
      </p:sp>
      <p:sp>
        <p:nvSpPr>
          <p:cNvPr id="330" name="bbbbbbbb"/>
          <p:cNvSpPr txBox="1"/>
          <p:nvPr/>
        </p:nvSpPr>
        <p:spPr>
          <a:xfrm>
            <a:off x="7188764" y="3700643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bbbbbbbb</a:t>
            </a:r>
          </a:p>
        </p:txBody>
      </p:sp>
      <p:sp>
        <p:nvSpPr>
          <p:cNvPr id="331" name="REG rs"/>
          <p:cNvSpPr txBox="1"/>
          <p:nvPr/>
        </p:nvSpPr>
        <p:spPr>
          <a:xfrm>
            <a:off x="3485384" y="368778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1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rs</a:t>
            </a:r>
          </a:p>
        </p:txBody>
      </p:sp>
      <p:sp>
        <p:nvSpPr>
          <p:cNvPr id="332" name="REG rt"/>
          <p:cNvSpPr txBox="1"/>
          <p:nvPr/>
        </p:nvSpPr>
        <p:spPr>
          <a:xfrm>
            <a:off x="3485384" y="4254971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5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rt</a:t>
            </a:r>
          </a:p>
        </p:txBody>
      </p:sp>
      <p:sp>
        <p:nvSpPr>
          <p:cNvPr id="333" name="cccccccc"/>
          <p:cNvSpPr txBox="1"/>
          <p:nvPr/>
        </p:nvSpPr>
        <p:spPr>
          <a:xfrm>
            <a:off x="5055089" y="4254971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cccccccc</a:t>
            </a:r>
          </a:p>
        </p:txBody>
      </p:sp>
      <p:sp>
        <p:nvSpPr>
          <p:cNvPr id="334" name="dddddddd"/>
          <p:cNvSpPr txBox="1"/>
          <p:nvPr/>
        </p:nvSpPr>
        <p:spPr>
          <a:xfrm>
            <a:off x="7188764" y="4267834"/>
            <a:ext cx="1764285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dddddddd</a:t>
            </a:r>
          </a:p>
        </p:txBody>
      </p:sp>
      <p:sp>
        <p:nvSpPr>
          <p:cNvPr id="335" name="REG rd"/>
          <p:cNvSpPr txBox="1"/>
          <p:nvPr/>
        </p:nvSpPr>
        <p:spPr>
          <a:xfrm>
            <a:off x="3485384" y="5041410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4">
                    <a:hueOff val="-476017"/>
                    <a:lumOff val="-10042"/>
                  </a:schemeClr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REG rd</a:t>
            </a:r>
          </a:p>
        </p:txBody>
      </p:sp>
      <p:sp>
        <p:nvSpPr>
          <p:cNvPr id="336" name="aaaaaaaa+…"/>
          <p:cNvSpPr txBox="1"/>
          <p:nvPr/>
        </p:nvSpPr>
        <p:spPr>
          <a:xfrm>
            <a:off x="4951965" y="4806460"/>
            <a:ext cx="1970533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aaaaaaaa+</a:t>
            </a:r>
          </a:p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cccccccc</a:t>
            </a:r>
          </a:p>
        </p:txBody>
      </p:sp>
      <p:sp>
        <p:nvSpPr>
          <p:cNvPr id="337" name="bbbbbbbb+…"/>
          <p:cNvSpPr txBox="1"/>
          <p:nvPr/>
        </p:nvSpPr>
        <p:spPr>
          <a:xfrm>
            <a:off x="7116638" y="4832186"/>
            <a:ext cx="1970533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bbbbbbbb+</a:t>
            </a:r>
          </a:p>
          <a:p>
            <a: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pPr>
            <a:r>
              <a:t>dddddddd</a:t>
            </a:r>
          </a:p>
        </p:txBody>
      </p:sp>
      <p:sp>
        <p:nvSpPr>
          <p:cNvPr id="338" name="Byte 1"/>
          <p:cNvSpPr txBox="1"/>
          <p:nvPr/>
        </p:nvSpPr>
        <p:spPr>
          <a:xfrm>
            <a:off x="5144125" y="3159869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1</a:t>
            </a:r>
          </a:p>
        </p:txBody>
      </p:sp>
      <p:sp>
        <p:nvSpPr>
          <p:cNvPr id="339" name="Byte 0"/>
          <p:cNvSpPr txBox="1"/>
          <p:nvPr/>
        </p:nvSpPr>
        <p:spPr>
          <a:xfrm>
            <a:off x="7426010" y="3172733"/>
            <a:ext cx="13517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000000"/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Byte 0</a:t>
            </a:r>
          </a:p>
        </p:txBody>
      </p:sp>
      <p:sp>
        <p:nvSpPr>
          <p:cNvPr id="340" name="+ (level 2)"/>
          <p:cNvSpPr txBox="1"/>
          <p:nvPr/>
        </p:nvSpPr>
        <p:spPr>
          <a:xfrm>
            <a:off x="6879392" y="6289151"/>
            <a:ext cx="238302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chemeClr val="accent4">
                    <a:hueOff val="-476017"/>
                    <a:lumOff val="-10042"/>
                  </a:schemeClr>
                </a:solidFill>
                <a:latin typeface="Code Saver Regular"/>
                <a:ea typeface="Code Saver Regular"/>
                <a:cs typeface="Code Saver Regular"/>
                <a:sym typeface="Code Saver Regular"/>
              </a:defRPr>
            </a:lvl1pPr>
          </a:lstStyle>
          <a:p>
            <a:r>
              <a:t>+ (level 2)</a:t>
            </a:r>
          </a:p>
        </p:txBody>
      </p:sp>
      <p:sp>
        <p:nvSpPr>
          <p:cNvPr id="341" name="Line"/>
          <p:cNvSpPr/>
          <p:nvPr/>
        </p:nvSpPr>
        <p:spPr>
          <a:xfrm>
            <a:off x="6138987" y="5717621"/>
            <a:ext cx="692595" cy="692595"/>
          </a:xfrm>
          <a:prstGeom prst="line">
            <a:avLst/>
          </a:prstGeom>
          <a:ln w="635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2" name="Line"/>
          <p:cNvSpPr/>
          <p:nvPr/>
        </p:nvSpPr>
        <p:spPr>
          <a:xfrm flipH="1">
            <a:off x="7173289" y="5792782"/>
            <a:ext cx="793269" cy="545976"/>
          </a:xfrm>
          <a:prstGeom prst="line">
            <a:avLst/>
          </a:prstGeom>
          <a:ln w="635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3" name="4-bit CLA x3"/>
          <p:cNvSpPr txBox="1"/>
          <p:nvPr/>
        </p:nvSpPr>
        <p:spPr>
          <a:xfrm>
            <a:off x="6438499" y="6792504"/>
            <a:ext cx="1258520" cy="324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4-bit CLA x3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lev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Top-level</a:t>
            </a:r>
          </a:p>
        </p:txBody>
      </p:sp>
      <p:sp>
        <p:nvSpPr>
          <p:cNvPr id="346" name="AL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ALU</a:t>
            </a:r>
          </a:p>
        </p:txBody>
      </p:sp>
      <p:grpSp>
        <p:nvGrpSpPr>
          <p:cNvPr id="349" name="Group"/>
          <p:cNvGrpSpPr/>
          <p:nvPr/>
        </p:nvGrpSpPr>
        <p:grpSpPr>
          <a:xfrm>
            <a:off x="1569296" y="2113607"/>
            <a:ext cx="4849520" cy="6775748"/>
            <a:chOff x="0" y="0"/>
            <a:chExt cx="4849518" cy="6775746"/>
          </a:xfrm>
        </p:grpSpPr>
        <p:pic>
          <p:nvPicPr>
            <p:cNvPr id="347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849519" cy="63496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8" name="Caption"/>
            <p:cNvSpPr/>
            <p:nvPr/>
          </p:nvSpPr>
          <p:spPr>
            <a:xfrm>
              <a:off x="0" y="6451236"/>
              <a:ext cx="4849519" cy="3245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Sample ALU top level file</a:t>
              </a:r>
            </a:p>
          </p:txBody>
        </p:sp>
      </p:grpSp>
      <p:grpSp>
        <p:nvGrpSpPr>
          <p:cNvPr id="352" name="Group"/>
          <p:cNvGrpSpPr/>
          <p:nvPr/>
        </p:nvGrpSpPr>
        <p:grpSpPr>
          <a:xfrm>
            <a:off x="6677128" y="2262008"/>
            <a:ext cx="5631025" cy="5884294"/>
            <a:chOff x="0" y="0"/>
            <a:chExt cx="5631023" cy="5884292"/>
          </a:xfrm>
        </p:grpSpPr>
        <p:pic>
          <p:nvPicPr>
            <p:cNvPr id="350" name="IMG_0018.jpg" descr="IMG_0018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631024" cy="52295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1" name="Caption"/>
            <p:cNvSpPr/>
            <p:nvPr/>
          </p:nvSpPr>
          <p:spPr>
            <a:xfrm>
              <a:off x="0" y="5331182"/>
              <a:ext cx="5631024" cy="55311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r>
                <a:t>ALU is effectively all compute subcomponent connected to a MUX; opcode is the selection signal</a:t>
              </a:r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Keep your design modula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Keep your design modular</a:t>
            </a:r>
          </a:p>
          <a:p>
            <a:r>
              <a:t>Test your modules</a:t>
            </a:r>
          </a:p>
          <a:p>
            <a:r>
              <a:t>Draw block diagrams</a:t>
            </a:r>
          </a:p>
        </p:txBody>
      </p:sp>
      <p:sp>
        <p:nvSpPr>
          <p:cNvPr id="35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6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716590">
              <a:defRPr sz="5940" spc="-118"/>
            </a:pPr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457</Words>
  <Application>Microsoft Office PowerPoint</Application>
  <PresentationFormat>Custom</PresentationFormat>
  <Paragraphs>124</Paragraphs>
  <Slides>21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Code Saver Regular</vt:lpstr>
      <vt:lpstr>Helvetica Neue</vt:lpstr>
      <vt:lpstr>Helvetica Neue Medium</vt:lpstr>
      <vt:lpstr>Menlo Regular</vt:lpstr>
      <vt:lpstr>21_BasicWhite</vt:lpstr>
      <vt:lpstr>ECE/CS 552 project p1</vt:lpstr>
      <vt:lpstr>PowerPoint Presentation</vt:lpstr>
      <vt:lpstr>MIPS single-cycle CPU datapath</vt:lpstr>
      <vt:lpstr>MIPS single-cycle CPU datapath</vt:lpstr>
      <vt:lpstr>MIPS single-cycle CPU datapath</vt:lpstr>
      <vt:lpstr>MIPS single-cycle CPU datapath</vt:lpstr>
      <vt:lpstr>MIPS single-cycle CPU datapath</vt:lpstr>
      <vt:lpstr>MIPS single-cycle CPU datapath</vt:lpstr>
      <vt:lpstr>Key components</vt:lpstr>
      <vt:lpstr>ALU (hw2)</vt:lpstr>
      <vt:lpstr>ALU (hw2)</vt:lpstr>
      <vt:lpstr>ALU (hw2)</vt:lpstr>
      <vt:lpstr>ALU (hw2)</vt:lpstr>
      <vt:lpstr>ALU (hw2)</vt:lpstr>
      <vt:lpstr>CLA</vt:lpstr>
      <vt:lpstr>ALU</vt:lpstr>
      <vt:lpstr>ALU</vt:lpstr>
      <vt:lpstr>ALU</vt:lpstr>
      <vt:lpstr>ALU</vt:lpstr>
      <vt:lpstr>ALU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 project p1</dc:title>
  <dc:creator>Patron</dc:creator>
  <cp:lastModifiedBy>Shreya Malkurthi</cp:lastModifiedBy>
  <cp:revision>2</cp:revision>
  <dcterms:modified xsi:type="dcterms:W3CDTF">2024-10-03T21:21:21Z</dcterms:modified>
</cp:coreProperties>
</file>