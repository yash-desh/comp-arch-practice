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76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0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Attribution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ECE/CS 552 test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ECE/CS 552 testing</a:t>
            </a:r>
          </a:p>
        </p:txBody>
      </p:sp>
      <p:sp>
        <p:nvSpPr>
          <p:cNvPr id="153" name="9/25/2023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10</a:t>
            </a:r>
            <a:r>
              <a:rPr dirty="0"/>
              <a:t>/2/202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9352" y="9220199"/>
            <a:ext cx="206096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D6034-51D1-4F87-A03C-7934B2D029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HW 3 due Oct 1s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Project phase 1 due Oct </a:t>
            </a:r>
            <a:r>
              <a:rPr lang="en-US" dirty="0"/>
              <a:t>21</a:t>
            </a:r>
            <a:r>
              <a:rPr lang="en-US" baseline="30000" dirty="0"/>
              <a:t>st</a:t>
            </a:r>
            <a:endParaRPr lang="en-US" dirty="0"/>
          </a:p>
          <a:p>
            <a:r>
              <a:rPr lang="en-US" dirty="0"/>
              <a:t>Shifter Implementation in next discussion session </a:t>
            </a:r>
          </a:p>
          <a:p>
            <a:pPr lvl="1"/>
            <a:r>
              <a:rPr lang="en-US" dirty="0"/>
              <a:t>Use 3x1 MUX for Shifter implementation </a:t>
            </a:r>
          </a:p>
        </p:txBody>
      </p:sp>
      <p:sp>
        <p:nvSpPr>
          <p:cNvPr id="15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5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716590">
              <a:defRPr sz="5940" spc="-118"/>
            </a:pP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5965" y="9220199"/>
            <a:ext cx="206097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67" name="Wire vs re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Wire vs reg</a:t>
            </a:r>
          </a:p>
        </p:txBody>
      </p:sp>
      <p:sp>
        <p:nvSpPr>
          <p:cNvPr id="168" name="LHS of continuous assignment -&gt; wir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LHS of continuous assignment -&gt; wire</a:t>
            </a:r>
          </a:p>
          <a:p>
            <a:endParaRPr dirty="0"/>
          </a:p>
          <a:p>
            <a:pPr>
              <a:spcBef>
                <a:spcPts val="200"/>
              </a:spcBef>
            </a:pPr>
            <a:r>
              <a:rPr dirty="0"/>
              <a:t>LH</a:t>
            </a:r>
            <a:r>
              <a:rPr lang="en-US" dirty="0"/>
              <a:t>S</a:t>
            </a:r>
            <a:r>
              <a:rPr dirty="0"/>
              <a:t> of procedural assignment -&gt; reg</a:t>
            </a:r>
          </a:p>
          <a:p>
            <a:r>
              <a:rPr dirty="0"/>
              <a:t>Ports are by default wires unless otherwise specified</a:t>
            </a:r>
          </a:p>
          <a:p>
            <a:r>
              <a:rPr dirty="0"/>
              <a:t>Input ports should always be wires</a:t>
            </a:r>
          </a:p>
          <a:p>
            <a:pPr>
              <a:spcBef>
                <a:spcPts val="1200"/>
              </a:spcBef>
            </a:pPr>
            <a:r>
              <a:rPr dirty="0"/>
              <a:t>Output ports can be anything</a:t>
            </a:r>
          </a:p>
          <a:p>
            <a:r>
              <a:rPr dirty="0"/>
              <a:t>Output ports should be connected to wires</a:t>
            </a:r>
          </a:p>
          <a:p>
            <a:pPr>
              <a:spcBef>
                <a:spcPts val="1200"/>
              </a:spcBef>
            </a:pPr>
            <a:r>
              <a:rPr dirty="0"/>
              <a:t>Input ports can be connected to any</a:t>
            </a:r>
          </a:p>
        </p:txBody>
      </p:sp>
      <p:sp>
        <p:nvSpPr>
          <p:cNvPr id="169" name="wire result;…"/>
          <p:cNvSpPr txBox="1"/>
          <p:nvPr/>
        </p:nvSpPr>
        <p:spPr>
          <a:xfrm>
            <a:off x="1782294" y="3432449"/>
            <a:ext cx="3551239" cy="85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500"/>
            </a:pPr>
            <a:r>
              <a:rPr b="1" dirty="0"/>
              <a:t>wire</a:t>
            </a:r>
            <a:r>
              <a:rPr dirty="0"/>
              <a:t> result; </a:t>
            </a:r>
          </a:p>
          <a:p>
            <a:pPr algn="l">
              <a:defRPr sz="2500"/>
            </a:pPr>
            <a:r>
              <a:rPr dirty="0"/>
              <a:t>assign result = s ? A : B;</a:t>
            </a:r>
          </a:p>
        </p:txBody>
      </p:sp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5965" y="9220199"/>
            <a:ext cx="206097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equential…"/>
          <p:cNvSpPr txBox="1">
            <a:spLocks noGrp="1"/>
          </p:cNvSpPr>
          <p:nvPr>
            <p:ph type="body" idx="1"/>
          </p:nvPr>
        </p:nvSpPr>
        <p:spPr>
          <a:xfrm>
            <a:off x="695113" y="2584785"/>
            <a:ext cx="11607800" cy="60960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/>
              <a:t>Sequential</a:t>
            </a:r>
          </a:p>
          <a:p>
            <a:pPr lvl="1"/>
            <a:r>
              <a:rPr dirty="0"/>
              <a:t>Instantiate the provided DFF module; </a:t>
            </a:r>
            <a:r>
              <a:rPr b="1" dirty="0"/>
              <a:t>do not</a:t>
            </a:r>
            <a:r>
              <a:rPr dirty="0"/>
              <a:t> write your own sequential logic</a:t>
            </a:r>
          </a:p>
          <a:p>
            <a:endParaRPr dirty="0"/>
          </a:p>
          <a:p>
            <a:pPr>
              <a:defRPr b="1"/>
            </a:pPr>
            <a:r>
              <a:rPr dirty="0"/>
              <a:t>Combinational</a:t>
            </a:r>
          </a:p>
          <a:p>
            <a:pPr lvl="1"/>
            <a:r>
              <a:rPr dirty="0"/>
              <a:t>Continuous assignment</a:t>
            </a:r>
          </a:p>
          <a:p>
            <a:pPr lvl="1"/>
            <a:r>
              <a:rPr dirty="0"/>
              <a:t>Procedural assignment</a:t>
            </a:r>
          </a:p>
          <a:p>
            <a:pPr lvl="1"/>
            <a:r>
              <a:rPr dirty="0"/>
              <a:t>Gate level/structural</a:t>
            </a:r>
          </a:p>
        </p:txBody>
      </p:sp>
      <p:sp>
        <p:nvSpPr>
          <p:cNvPr id="17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75" name="Sequential vs combination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Sequential vs combinational</a:t>
            </a:r>
          </a:p>
        </p:txBody>
      </p:sp>
      <p:sp>
        <p:nvSpPr>
          <p:cNvPr id="176" name="dff d0 ( .q(flop_out), .d(flop_in), .rst(reset), .clk(clock) );"/>
          <p:cNvSpPr txBox="1"/>
          <p:nvPr/>
        </p:nvSpPr>
        <p:spPr>
          <a:xfrm>
            <a:off x="1473575" y="4820191"/>
            <a:ext cx="8217536" cy="47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500" b="1"/>
            </a:lvl1pPr>
          </a:lstStyle>
          <a:p>
            <a:pPr>
              <a:defRPr b="0"/>
            </a:pPr>
            <a:r>
              <a:rPr b="1"/>
              <a:t>dff d0 ( .q(flop_out), .d(flop_in), .rst(reset), .clk(clock) );</a:t>
            </a:r>
          </a:p>
        </p:txBody>
      </p:sp>
      <p:sp>
        <p:nvSpPr>
          <p:cNvPr id="177" name="Note: Only case and casex go into always block; no module…"/>
          <p:cNvSpPr txBox="1"/>
          <p:nvPr/>
        </p:nvSpPr>
        <p:spPr>
          <a:xfrm>
            <a:off x="5722169" y="7437281"/>
            <a:ext cx="6907277" cy="704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000" i="1"/>
            </a:pPr>
            <a:r>
              <a:rPr dirty="0"/>
              <a:t>Note: Only case and </a:t>
            </a:r>
            <a:r>
              <a:rPr dirty="0" err="1"/>
              <a:t>casex</a:t>
            </a:r>
            <a:r>
              <a:rPr dirty="0"/>
              <a:t> go into always block; no module </a:t>
            </a:r>
          </a:p>
          <a:p>
            <a:pPr algn="l">
              <a:defRPr sz="2000" i="1"/>
            </a:pPr>
            <a:r>
              <a:rPr dirty="0"/>
              <a:t>instantiation or continuous assignment in always block!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5965" y="9220199"/>
            <a:ext cx="206097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un checker…"/>
          <p:cNvSpPr txBox="1">
            <a:spLocks noGrp="1"/>
          </p:cNvSpPr>
          <p:nvPr>
            <p:ph type="body" idx="1"/>
          </p:nvPr>
        </p:nvSpPr>
        <p:spPr>
          <a:xfrm>
            <a:off x="695113" y="2810094"/>
            <a:ext cx="11607800" cy="6096000"/>
          </a:xfrm>
          <a:prstGeom prst="rect">
            <a:avLst/>
          </a:prstGeom>
        </p:spPr>
        <p:txBody>
          <a:bodyPr/>
          <a:lstStyle/>
          <a:p>
            <a:r>
              <a:rPr dirty="0"/>
              <a:t>Run checker</a:t>
            </a:r>
          </a:p>
          <a:p>
            <a:endParaRPr dirty="0"/>
          </a:p>
          <a:p>
            <a:r>
              <a:rPr dirty="0"/>
              <a:t>No error</a:t>
            </a:r>
          </a:p>
          <a:p>
            <a:endParaRPr dirty="0"/>
          </a:p>
          <a:p>
            <a:r>
              <a:rPr dirty="0"/>
              <a:t>Error</a:t>
            </a:r>
          </a:p>
        </p:txBody>
      </p:sp>
      <p:sp>
        <p:nvSpPr>
          <p:cNvPr id="18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82" name="Syntax check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Syntax checker</a:t>
            </a:r>
          </a:p>
        </p:txBody>
      </p:sp>
      <p:sp>
        <p:nvSpPr>
          <p:cNvPr id="183" name="java Vcheck &lt;myfile.v&gt;"/>
          <p:cNvSpPr txBox="1"/>
          <p:nvPr/>
        </p:nvSpPr>
        <p:spPr>
          <a:xfrm>
            <a:off x="1795158" y="3672747"/>
            <a:ext cx="3370898" cy="4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500"/>
            </a:lvl1pPr>
          </a:lstStyle>
          <a:p>
            <a:r>
              <a:t>java Vcheck &lt;myfile.v&gt;</a:t>
            </a:r>
          </a:p>
        </p:txBody>
      </p:sp>
      <p:sp>
        <p:nvSpPr>
          <p:cNvPr id="184" name="End of file /tmp/foo.v. Hash = 377189683"/>
          <p:cNvSpPr txBox="1"/>
          <p:nvPr/>
        </p:nvSpPr>
        <p:spPr>
          <a:xfrm>
            <a:off x="1730841" y="5384383"/>
            <a:ext cx="5939474" cy="4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500"/>
            </a:lvl1pPr>
          </a:lstStyle>
          <a:p>
            <a:r>
              <a:t>End of file /tmp/foo.v. Hash = 377189683</a:t>
            </a:r>
          </a:p>
        </p:txBody>
      </p:sp>
      <p:sp>
        <p:nvSpPr>
          <p:cNvPr id="185" name="Line 5: Expected '@' after 'always' Line 5: Always without case(x) End of file /tmp/foo.v. Hash = -994087497"/>
          <p:cNvSpPr txBox="1"/>
          <p:nvPr/>
        </p:nvSpPr>
        <p:spPr>
          <a:xfrm>
            <a:off x="1665469" y="6941660"/>
            <a:ext cx="9992987" cy="854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500"/>
            </a:lvl1pPr>
          </a:lstStyle>
          <a:p>
            <a:r>
              <a:t>Line 5: Expected '@' after 'always' Line 5: Always without case(x) End of file /tmp/foo.v. Hash = -994087497</a:t>
            </a:r>
          </a:p>
        </p:txBody>
      </p:sp>
      <p:sp>
        <p:nvSpPr>
          <p:cNvPr id="1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5965" y="9220199"/>
            <a:ext cx="206097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Use the test case programs provided on canvas; you can also write additional program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Use the test case programs provided on canvas; you can also write additional programs</a:t>
            </a:r>
          </a:p>
          <a:p>
            <a:r>
              <a:rPr dirty="0"/>
              <a:t>Assemble the test program to create binary image (readme for WISC-assembler)</a:t>
            </a:r>
          </a:p>
          <a:p>
            <a:r>
              <a:rPr dirty="0"/>
              <a:t>Load binary image into memory (readme for </a:t>
            </a:r>
            <a:r>
              <a:rPr dirty="0" err="1"/>
              <a:t>singlecycle</a:t>
            </a:r>
            <a:r>
              <a:rPr dirty="0"/>
              <a:t>-memory)</a:t>
            </a:r>
          </a:p>
          <a:p>
            <a:r>
              <a:rPr dirty="0"/>
              <a:t>After reset, PC starts from 0; execution kicks off</a:t>
            </a:r>
          </a:p>
          <a:p>
            <a:r>
              <a:rPr dirty="0"/>
              <a:t>Check register and memory values as program runs; check waveform and outputs (project-phase1-testbench.v)</a:t>
            </a:r>
          </a:p>
        </p:txBody>
      </p:sp>
      <p:sp>
        <p:nvSpPr>
          <p:cNvPr id="18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190" name="Project testing flo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Project testing flow</a:t>
            </a:r>
          </a:p>
        </p:txBody>
      </p:sp>
      <p:sp>
        <p:nvSpPr>
          <p:cNvPr id="191" name="Adapted from Sinclair, M. (no date) CS/ECE 552 spring 2022, CS/ECE 552 Spring 2022 Verification &amp; simulation."/>
          <p:cNvSpPr txBox="1"/>
          <p:nvPr/>
        </p:nvSpPr>
        <p:spPr>
          <a:xfrm>
            <a:off x="2047895" y="8945534"/>
            <a:ext cx="9398971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1200"/>
            </a:lvl1pPr>
          </a:lstStyle>
          <a:p>
            <a:r>
              <a:t>Adapted from Sinclair, M. (no date) CS/ECE 552 spring 2022, CS/ECE 552 Spring 2022 Verification &amp; simulation.</a:t>
            </a:r>
          </a:p>
        </p:txBody>
      </p:sp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95965" y="9220199"/>
            <a:ext cx="206097" cy="2874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xamples of verilog code that are ok in testbenches but not ok in hardware modules…"/>
          <p:cNvSpPr txBox="1">
            <a:spLocks noGrp="1"/>
          </p:cNvSpPr>
          <p:nvPr>
            <p:ph type="body" idx="1"/>
          </p:nvPr>
        </p:nvSpPr>
        <p:spPr>
          <a:xfrm>
            <a:off x="698500" y="1938828"/>
            <a:ext cx="11607800" cy="7116272"/>
          </a:xfrm>
          <a:prstGeom prst="rect">
            <a:avLst/>
          </a:prstGeom>
        </p:spPr>
        <p:txBody>
          <a:bodyPr/>
          <a:lstStyle/>
          <a:p>
            <a:pPr marL="297179" indent="-297179" defTabSz="1352465">
              <a:spcBef>
                <a:spcPts val="2400"/>
              </a:spcBef>
              <a:defRPr sz="2340"/>
            </a:pPr>
            <a:r>
              <a:t>Examples of verilog code that are ok in testbenches but not ok in hardware modules</a:t>
            </a:r>
          </a:p>
          <a:p>
            <a:pPr marL="594359" lvl="1" indent="-297179" defTabSz="1352465">
              <a:spcBef>
                <a:spcPts val="2400"/>
              </a:spcBef>
              <a:defRPr sz="2340"/>
            </a:pPr>
            <a:r>
              <a:rPr b="1"/>
              <a:t>“#” delay statements</a:t>
            </a:r>
            <a:r>
              <a:t> are essential in testing modules and should never be in hardware (except for “clock to Q” delays in D FFs) </a:t>
            </a:r>
          </a:p>
          <a:p>
            <a:pPr marL="594359" lvl="1" indent="-297179" defTabSz="1352465">
              <a:spcBef>
                <a:spcPts val="2400"/>
              </a:spcBef>
              <a:defRPr sz="2340"/>
            </a:pPr>
            <a:r>
              <a:rPr b="1"/>
              <a:t>“signed” regs and wires</a:t>
            </a:r>
            <a:r>
              <a:t> are extremely useful for printing 2’s complement signals </a:t>
            </a:r>
          </a:p>
          <a:p>
            <a:pPr marL="594359" lvl="1" indent="-297179" defTabSz="1352465">
              <a:spcBef>
                <a:spcPts val="2400"/>
              </a:spcBef>
              <a:defRPr sz="2340" b="1"/>
            </a:pPr>
            <a:r>
              <a:t>“for” loops </a:t>
            </a:r>
          </a:p>
          <a:p>
            <a:pPr marL="594359" lvl="1" indent="-297179" defTabSz="1352465">
              <a:spcBef>
                <a:spcPts val="2400"/>
              </a:spcBef>
              <a:defRPr sz="2340" b="1"/>
            </a:pPr>
            <a:r>
              <a:t>$write(“format”, var1, var2, …) 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writes text to screen or file using the specified 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format with optional variables. Example: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$write("in = %b, out1 = %b, ", in, out1);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$write("out2 = %b, out3 = %b", out2, out3);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$write("\n"); </a:t>
            </a:r>
          </a:p>
          <a:p>
            <a:pPr marL="594359" lvl="1" indent="-297179" defTabSz="1352465">
              <a:spcBef>
                <a:spcPts val="2400"/>
              </a:spcBef>
              <a:defRPr sz="2340" b="1"/>
            </a:pPr>
            <a:r>
              <a:t>$display(“format”, var1, var2, …)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same as $write except it adds a \n new line</a:t>
            </a:r>
          </a:p>
          <a:p>
            <a:pPr marL="0" lvl="2" indent="713231" defTabSz="1352465">
              <a:spcBef>
                <a:spcPts val="100"/>
              </a:spcBef>
              <a:buSzTx/>
              <a:buNone/>
              <a:defRPr sz="2340">
                <a:solidFill>
                  <a:srgbClr val="5E5E5E"/>
                </a:solidFill>
              </a:defRPr>
            </a:pPr>
            <a:r>
              <a:t>// automatically.</a:t>
            </a:r>
          </a:p>
        </p:txBody>
      </p:sp>
      <p:sp>
        <p:nvSpPr>
          <p:cNvPr id="20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207" name="Verilog Code in Testbe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Verilog Code in Testbenches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@(posedge clock);…"/>
          <p:cNvSpPr txBox="1">
            <a:spLocks noGrp="1"/>
          </p:cNvSpPr>
          <p:nvPr>
            <p:ph type="body" idx="1"/>
          </p:nvPr>
        </p:nvSpPr>
        <p:spPr>
          <a:xfrm>
            <a:off x="698500" y="2200165"/>
            <a:ext cx="11607800" cy="6096001"/>
          </a:xfrm>
          <a:prstGeom prst="rect">
            <a:avLst/>
          </a:prstGeom>
        </p:spPr>
        <p:txBody>
          <a:bodyPr/>
          <a:lstStyle/>
          <a:p>
            <a:pPr marL="377190" indent="-377190" defTabSz="1716590">
              <a:spcBef>
                <a:spcPts val="3100"/>
              </a:spcBef>
              <a:defRPr sz="2970" b="1"/>
            </a:pPr>
            <a:r>
              <a:t>@(posedge clock);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only for testbenches</a:t>
            </a:r>
          </a:p>
          <a:p>
            <a:pPr marL="377190" indent="-377190" defTabSz="1716590">
              <a:spcBef>
                <a:spcPts val="100"/>
              </a:spcBef>
              <a:defRPr sz="2970" b="1"/>
            </a:pPr>
            <a:r>
              <a:t>@(negedge clock); 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used as a standalone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statement that waits for the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next positive or negative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edge of “clock” in this case</a:t>
            </a:r>
          </a:p>
          <a:p>
            <a:pPr marL="377190" indent="-377190" defTabSz="1716590">
              <a:spcBef>
                <a:spcPts val="3100"/>
              </a:spcBef>
              <a:defRPr sz="2970" b="1"/>
            </a:pPr>
            <a:r>
              <a:t>repeat (50) @(posedge clk);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the “repeat” statement can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be very handy for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repeatedly executing a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statement (or a block of 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statements)</a:t>
            </a:r>
          </a:p>
        </p:txBody>
      </p:sp>
      <p:sp>
        <p:nvSpPr>
          <p:cNvPr id="21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212" name="Verilog Code in Testbe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Verilog Code in Testbenches</a:t>
            </a:r>
          </a:p>
        </p:txBody>
      </p:sp>
      <p:sp>
        <p:nvSpPr>
          <p:cNvPr id="2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$stop;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77190" indent="-377190" defTabSz="1716590">
              <a:spcBef>
                <a:spcPts val="3100"/>
              </a:spcBef>
              <a:defRPr sz="2970" b="1"/>
            </a:pPr>
            <a:r>
              <a:t>$stop;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Halts the simulation.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This is probably the better one to use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for Modelsim because $finish causes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>
                <a:solidFill>
                  <a:srgbClr val="5E5E5E"/>
                </a:solidFill>
              </a:defRPr>
            </a:pPr>
            <a:r>
              <a:t>// Modelsim to ask if you really want to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quit the simulator which is probably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not what you want. </a:t>
            </a:r>
          </a:p>
          <a:p>
            <a:pPr marL="377190" indent="-377190" defTabSz="1716590">
              <a:spcBef>
                <a:spcPts val="3100"/>
              </a:spcBef>
              <a:defRPr sz="2970" b="1"/>
            </a:pPr>
            <a:r>
              <a:t>`timescale time_unit base / precision base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The first argument specifies “#1” delay. The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second argument specifies the precision with 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which delays may be specified.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Base is {s,ms,us,ns,ps,fs}</a:t>
            </a:r>
          </a:p>
          <a:p>
            <a:pPr marL="0" lvl="1" indent="452627" defTabSz="1716590">
              <a:spcBef>
                <a:spcPts val="100"/>
              </a:spcBef>
              <a:buSzTx/>
              <a:buNone/>
              <a:defRPr sz="2970"/>
            </a:pPr>
            <a:r>
              <a:rPr>
                <a:solidFill>
                  <a:srgbClr val="5E5E5E"/>
                </a:solidFill>
              </a:rPr>
              <a:t>// Ex: `timescale 1ns/10ps</a:t>
            </a:r>
          </a:p>
        </p:txBody>
      </p:sp>
      <p:sp>
        <p:nvSpPr>
          <p:cNvPr id="21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217" name="Verilog Code in Testbe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Verilog Code in Testbenches</a:t>
            </a:r>
          </a:p>
        </p:txBody>
      </p:sp>
      <p:sp>
        <p:nvSpPr>
          <p:cNvPr id="2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A number of ways to verify designs:…"/>
          <p:cNvSpPr txBox="1">
            <a:spLocks noGrp="1"/>
          </p:cNvSpPr>
          <p:nvPr>
            <p:ph type="body" idx="1"/>
          </p:nvPr>
        </p:nvSpPr>
        <p:spPr>
          <a:xfrm>
            <a:off x="698500" y="2041082"/>
            <a:ext cx="11607800" cy="7014018"/>
          </a:xfrm>
          <a:prstGeom prst="rect">
            <a:avLst/>
          </a:prstGeom>
        </p:spPr>
        <p:txBody>
          <a:bodyPr/>
          <a:lstStyle/>
          <a:p>
            <a:pPr marL="331470" indent="-331470" defTabSz="1508519">
              <a:spcBef>
                <a:spcPts val="2700"/>
              </a:spcBef>
              <a:defRPr sz="2610"/>
            </a:pPr>
            <a:r>
              <a:rPr dirty="0"/>
              <a:t>A number of ways to verify designs: </a:t>
            </a:r>
          </a:p>
          <a:p>
            <a:pPr marL="662940" lvl="1" indent="-331470" defTabSz="1508519">
              <a:spcBef>
                <a:spcPts val="2700"/>
              </a:spcBef>
              <a:defRPr sz="2610"/>
            </a:pPr>
            <a:r>
              <a:rPr dirty="0"/>
              <a:t>Eyeball text printouts </a:t>
            </a:r>
            <a:r>
              <a:rPr lang="en-US" dirty="0"/>
              <a:t>and waveforms</a:t>
            </a:r>
          </a:p>
          <a:p>
            <a:pPr marL="1043940" lvl="2" indent="-331470" defTabSz="1508519">
              <a:spcBef>
                <a:spcPts val="2700"/>
              </a:spcBef>
              <a:defRPr sz="2610"/>
            </a:pPr>
            <a:r>
              <a:rPr dirty="0"/>
              <a:t>Quick and easy for some simple designs </a:t>
            </a:r>
          </a:p>
        </p:txBody>
      </p:sp>
      <p:sp>
        <p:nvSpPr>
          <p:cNvPr id="25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257" name="Verifying Hardware Correctn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z="5940" spc="-118"/>
            </a:lvl1pPr>
          </a:lstStyle>
          <a:p>
            <a:r>
              <a:t>Verifying Hardware Correctness</a:t>
            </a:r>
          </a:p>
        </p:txBody>
      </p:sp>
      <p:sp>
        <p:nvSpPr>
          <p:cNvPr id="2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FD230-8366-4421-A609-66129C9E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5" y="2428978"/>
            <a:ext cx="10113170" cy="21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4869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FD230-8366-4421-A609-66129C9E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5" y="2428978"/>
            <a:ext cx="10113170" cy="2195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61CC4-56E6-4F9A-BC85-FB678E51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12" y="5154722"/>
            <a:ext cx="7634588" cy="233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585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F1BCA-BAFE-476E-B8F8-C04F6572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78" y="2606778"/>
            <a:ext cx="10157321" cy="319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265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F1BCA-BAFE-476E-B8F8-C04F6572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78" y="2606778"/>
            <a:ext cx="10157321" cy="3199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2D7C2-940B-45D7-9F1C-FF45E768C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26" y="5893621"/>
            <a:ext cx="8963473" cy="244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4205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B8C5F-8C89-4960-A77F-7633C13D8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27" y="1456267"/>
            <a:ext cx="8326873" cy="6648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0A701C-A2DB-4D7C-B8E6-A146EA24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62" y="8105052"/>
            <a:ext cx="8260588" cy="1372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E4EF86-C0AF-4EB2-BE4F-18725C0A7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600" y="3526969"/>
            <a:ext cx="2729627" cy="31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8699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51C9C-3AC8-4B05-894B-738598D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7B68-FADA-4B15-9D14-45B4B1BCDB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0564CA-EB9A-41D1-B568-DDC89DAE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BFD414-62BE-46A0-BEAF-661B111D4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91" y="2428978"/>
            <a:ext cx="9832709" cy="55555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D83442-332A-4A27-B6E9-AA6747D7705B}"/>
              </a:ext>
            </a:extLst>
          </p:cNvPr>
          <p:cNvSpPr/>
          <p:nvPr/>
        </p:nvSpPr>
        <p:spPr>
          <a:xfrm>
            <a:off x="4978400" y="5297714"/>
            <a:ext cx="624114" cy="29028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F6E8AA-00F8-4EF9-AF4D-3BABAB4F707D}"/>
              </a:ext>
            </a:extLst>
          </p:cNvPr>
          <p:cNvSpPr/>
          <p:nvPr/>
        </p:nvSpPr>
        <p:spPr>
          <a:xfrm>
            <a:off x="4978400" y="5641912"/>
            <a:ext cx="624114" cy="29028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69C5A1-B2F9-4F4A-9BAA-621031EF5BBA}"/>
              </a:ext>
            </a:extLst>
          </p:cNvPr>
          <p:cNvSpPr/>
          <p:nvPr/>
        </p:nvSpPr>
        <p:spPr>
          <a:xfrm>
            <a:off x="6049188" y="5297714"/>
            <a:ext cx="624114" cy="29028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105E40-F904-4874-A9E2-ABA1BDBDABA2}"/>
              </a:ext>
            </a:extLst>
          </p:cNvPr>
          <p:cNvSpPr/>
          <p:nvPr/>
        </p:nvSpPr>
        <p:spPr>
          <a:xfrm>
            <a:off x="6502400" y="6641126"/>
            <a:ext cx="624114" cy="29028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66B8D-2D6A-4174-A03A-C7D9DB8E10F6}"/>
              </a:ext>
            </a:extLst>
          </p:cNvPr>
          <p:cNvSpPr/>
          <p:nvPr/>
        </p:nvSpPr>
        <p:spPr>
          <a:xfrm>
            <a:off x="4978400" y="7027919"/>
            <a:ext cx="624114" cy="29028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0817696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9E0AB1-BC14-4155-B49E-F77C1A71E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A7463-10A5-4289-9F25-E1ACDC807D0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7B8460-F8CB-4149-93DE-18DBD301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55BA-10F1-44F0-B7BA-EFD4A375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91" y="2330587"/>
            <a:ext cx="9832709" cy="555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478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706</Words>
  <Application>Microsoft Office PowerPoint</Application>
  <PresentationFormat>Custom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Helvetica Neue</vt:lpstr>
      <vt:lpstr>Helvetica Neue Medium</vt:lpstr>
      <vt:lpstr>21_BasicWhite</vt:lpstr>
      <vt:lpstr>ECE/CS 552 testing</vt:lpstr>
      <vt:lpstr>PowerPoint Presentation</vt:lpstr>
      <vt:lpstr>Wire vs reg</vt:lpstr>
      <vt:lpstr>Sequential vs combinational</vt:lpstr>
      <vt:lpstr>Syntax checker</vt:lpstr>
      <vt:lpstr>Project testing flow</vt:lpstr>
      <vt:lpstr>Verilog Code in Testbenches</vt:lpstr>
      <vt:lpstr>Verilog Code in Testbenches</vt:lpstr>
      <vt:lpstr>Verilog Code in Testbenches</vt:lpstr>
      <vt:lpstr>Verifying Hardware Correctness</vt:lpstr>
      <vt:lpstr>Practice Questions</vt:lpstr>
      <vt:lpstr>Practice Questions</vt:lpstr>
      <vt:lpstr>Practice Questions</vt:lpstr>
      <vt:lpstr>Practice Questions</vt:lpstr>
      <vt:lpstr>Practice Questions</vt:lpstr>
      <vt:lpstr>Practice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 testing</dc:title>
  <dc:creator>Patron</dc:creator>
  <cp:lastModifiedBy>Shreya Malkurthi</cp:lastModifiedBy>
  <cp:revision>4</cp:revision>
  <dcterms:modified xsi:type="dcterms:W3CDTF">2024-10-02T19:56:34Z</dcterms:modified>
</cp:coreProperties>
</file>