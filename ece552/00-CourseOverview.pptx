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74" r:id="rId1"/>
  </p:sldMasterIdLst>
  <p:notesMasterIdLst>
    <p:notesMasterId r:id="rId17"/>
  </p:notesMasterIdLst>
  <p:handoutMasterIdLst>
    <p:handoutMasterId r:id="rId18"/>
  </p:handoutMasterIdLst>
  <p:sldIdLst>
    <p:sldId id="256" r:id="rId2"/>
    <p:sldId id="748" r:id="rId3"/>
    <p:sldId id="257" r:id="rId4"/>
    <p:sldId id="258" r:id="rId5"/>
    <p:sldId id="265" r:id="rId6"/>
    <p:sldId id="262" r:id="rId7"/>
    <p:sldId id="260" r:id="rId8"/>
    <p:sldId id="264" r:id="rId9"/>
    <p:sldId id="266" r:id="rId10"/>
    <p:sldId id="270" r:id="rId11"/>
    <p:sldId id="271" r:id="rId12"/>
    <p:sldId id="761" r:id="rId13"/>
    <p:sldId id="267" r:id="rId14"/>
    <p:sldId id="268" r:id="rId15"/>
    <p:sldId id="269" r:id="rId16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926EA1-898E-7641-9402-C3765B6A1844}" v="1" dt="2024-09-05T00:06:08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9"/>
    <p:restoredTop sz="89728" autoAdjust="0"/>
  </p:normalViewPr>
  <p:slideViewPr>
    <p:cSldViewPr>
      <p:cViewPr varScale="1">
        <p:scale>
          <a:sx n="114" d="100"/>
          <a:sy n="114" d="100"/>
        </p:scale>
        <p:origin x="15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62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F5926EA1-898E-7641-9402-C3765B6A1844}"/>
    <pc:docChg chg="undo custSel modSld">
      <pc:chgData name="Boone Severson" userId="1d942a2b-e0b5-491a-b49e-d500fa0ad426" providerId="ADAL" clId="{F5926EA1-898E-7641-9402-C3765B6A1844}" dt="2024-09-05T00:06:45.265" v="61" actId="20577"/>
      <pc:docMkLst>
        <pc:docMk/>
      </pc:docMkLst>
      <pc:sldChg chg="modSp mod">
        <pc:chgData name="Boone Severson" userId="1d942a2b-e0b5-491a-b49e-d500fa0ad426" providerId="ADAL" clId="{F5926EA1-898E-7641-9402-C3765B6A1844}" dt="2024-09-04T23:50:18.866" v="31" actId="20577"/>
        <pc:sldMkLst>
          <pc:docMk/>
          <pc:sldMk cId="28421712" sldId="267"/>
        </pc:sldMkLst>
        <pc:spChg chg="mod">
          <ac:chgData name="Boone Severson" userId="1d942a2b-e0b5-491a-b49e-d500fa0ad426" providerId="ADAL" clId="{F5926EA1-898E-7641-9402-C3765B6A1844}" dt="2024-09-04T23:50:18.866" v="31" actId="20577"/>
          <ac:spMkLst>
            <pc:docMk/>
            <pc:sldMk cId="28421712" sldId="267"/>
            <ac:spMk id="36867" creationId="{00000000-0000-0000-0000-000000000000}"/>
          </ac:spMkLst>
        </pc:spChg>
      </pc:sldChg>
      <pc:sldChg chg="modSp mod">
        <pc:chgData name="Boone Severson" userId="1d942a2b-e0b5-491a-b49e-d500fa0ad426" providerId="ADAL" clId="{F5926EA1-898E-7641-9402-C3765B6A1844}" dt="2024-09-05T00:06:35.715" v="45" actId="20577"/>
        <pc:sldMkLst>
          <pc:docMk/>
          <pc:sldMk cId="3630267623" sldId="268"/>
        </pc:sldMkLst>
        <pc:spChg chg="mod">
          <ac:chgData name="Boone Severson" userId="1d942a2b-e0b5-491a-b49e-d500fa0ad426" providerId="ADAL" clId="{F5926EA1-898E-7641-9402-C3765B6A1844}" dt="2024-09-05T00:06:35.715" v="45" actId="20577"/>
          <ac:spMkLst>
            <pc:docMk/>
            <pc:sldMk cId="3630267623" sldId="268"/>
            <ac:spMk id="37891" creationId="{00000000-0000-0000-0000-000000000000}"/>
          </ac:spMkLst>
        </pc:spChg>
      </pc:sldChg>
      <pc:sldChg chg="modSp mod">
        <pc:chgData name="Boone Severson" userId="1d942a2b-e0b5-491a-b49e-d500fa0ad426" providerId="ADAL" clId="{F5926EA1-898E-7641-9402-C3765B6A1844}" dt="2024-09-05T00:06:45.265" v="61" actId="20577"/>
        <pc:sldMkLst>
          <pc:docMk/>
          <pc:sldMk cId="2890198719" sldId="269"/>
        </pc:sldMkLst>
        <pc:spChg chg="mod">
          <ac:chgData name="Boone Severson" userId="1d942a2b-e0b5-491a-b49e-d500fa0ad426" providerId="ADAL" clId="{F5926EA1-898E-7641-9402-C3765B6A1844}" dt="2024-09-05T00:06:45.265" v="61" actId="20577"/>
          <ac:spMkLst>
            <pc:docMk/>
            <pc:sldMk cId="2890198719" sldId="269"/>
            <ac:spMk id="38915" creationId="{00000000-0000-0000-0000-000000000000}"/>
          </ac:spMkLst>
        </pc:spChg>
      </pc:sldChg>
      <pc:sldChg chg="modSp mod">
        <pc:chgData name="Boone Severson" userId="1d942a2b-e0b5-491a-b49e-d500fa0ad426" providerId="ADAL" clId="{F5926EA1-898E-7641-9402-C3765B6A1844}" dt="2024-09-05T00:06:09.373" v="37" actId="20577"/>
        <pc:sldMkLst>
          <pc:docMk/>
          <pc:sldMk cId="954687508" sldId="748"/>
        </pc:sldMkLst>
        <pc:spChg chg="mod">
          <ac:chgData name="Boone Severson" userId="1d942a2b-e0b5-491a-b49e-d500fa0ad426" providerId="ADAL" clId="{F5926EA1-898E-7641-9402-C3765B6A1844}" dt="2024-09-05T00:06:09.373" v="37" actId="20577"/>
          <ac:spMkLst>
            <pc:docMk/>
            <pc:sldMk cId="954687508" sldId="748"/>
            <ac:spMk id="2" creationId="{9DF5245E-0F0E-4AF5-B94B-25132E1D2428}"/>
          </ac:spMkLst>
        </pc:spChg>
      </pc:sldChg>
      <pc:sldChg chg="modSp mod">
        <pc:chgData name="Boone Severson" userId="1d942a2b-e0b5-491a-b49e-d500fa0ad426" providerId="ADAL" clId="{F5926EA1-898E-7641-9402-C3765B6A1844}" dt="2024-09-04T23:46:09.819" v="28" actId="207"/>
        <pc:sldMkLst>
          <pc:docMk/>
          <pc:sldMk cId="1204500525" sldId="761"/>
        </pc:sldMkLst>
        <pc:spChg chg="mod">
          <ac:chgData name="Boone Severson" userId="1d942a2b-e0b5-491a-b49e-d500fa0ad426" providerId="ADAL" clId="{F5926EA1-898E-7641-9402-C3765B6A1844}" dt="2024-09-04T23:46:09.819" v="28" actId="207"/>
          <ac:spMkLst>
            <pc:docMk/>
            <pc:sldMk cId="1204500525" sldId="761"/>
            <ac:spMk id="3584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9EF30F0-3CD5-4AB8-B65D-20E57D74E2F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453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85A34-5EB1-4EEE-91B1-AD777D7046AF}" type="datetimeFigureOut">
              <a:rPr lang="en-US" smtClean="0"/>
              <a:pPr/>
              <a:t>9/4/24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B111E-7273-48BB-98D6-47422F3153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2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B111E-7273-48BB-98D6-47422F31539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26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2C6236-7902-4BF1-962C-8AC34C15B400}" type="slidenum">
              <a:rPr kumimoji="0" lang="en-US" altLang="en-US"/>
              <a:pPr>
                <a:spcBef>
                  <a:spcPct val="0"/>
                </a:spcBef>
              </a:pPr>
              <a:t>14</a:t>
            </a:fld>
            <a:endParaRPr kumimoji="0" lang="en-US" alt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346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fld id="{9626A65E-FB95-4DC0-BA28-21EA57B04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7090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28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28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2pPr lvl="1">
              <a:defRPr sz="1400"/>
            </a:lvl2pPr>
          </a:lstStyle>
          <a:p>
            <a:fld id="{59EF35A5-CD04-42C6-A3B2-27ABFC27DC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1038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2000"/>
            </a:lvl1pPr>
            <a:lvl2pPr>
              <a:lnSpc>
                <a:spcPct val="110000"/>
              </a:lnSpc>
              <a:spcBef>
                <a:spcPts val="600"/>
              </a:spcBef>
              <a:defRPr sz="1800"/>
            </a:lvl2pPr>
            <a:lvl3pPr>
              <a:lnSpc>
                <a:spcPct val="110000"/>
              </a:lnSpc>
              <a:spcBef>
                <a:spcPts val="600"/>
              </a:spcBef>
              <a:defRPr sz="1600"/>
            </a:lvl3pPr>
            <a:lvl4pPr>
              <a:lnSpc>
                <a:spcPct val="110000"/>
              </a:lnSpc>
              <a:spcBef>
                <a:spcPts val="600"/>
              </a:spcBef>
              <a:defRPr sz="1400"/>
            </a:lvl4pPr>
            <a:lvl5pPr>
              <a:lnSpc>
                <a:spcPct val="11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F35A5-CD04-42C6-A3B2-27ABFC27DCC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7" descr="LOGO_20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28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F35A5-CD04-42C6-A3B2-27ABFC27DCC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7" descr="LOGO_20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28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lvl="1" algn="r">
              <a:defRPr baseline="0">
                <a:latin typeface="Calibri" panose="020F0502020204030204" pitchFamily="34" charset="0"/>
                <a:cs typeface="+mn-cs"/>
              </a:defRPr>
            </a:lvl2pPr>
          </a:lstStyle>
          <a:p>
            <a:fld id="{59EF35A5-CD04-42C6-A3B2-27ABFC27DCC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_200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28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0256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50" r:id="rId3"/>
    <p:sldLayoutId id="2147483661" r:id="rId4"/>
  </p:sldLayoutIdLst>
  <p:transition/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bseverson3@wisc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dlbits.01xz.net/wiki/Main_Pag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47950"/>
            <a:ext cx="7772400" cy="1238250"/>
          </a:xfrm>
        </p:spPr>
        <p:txBody>
          <a:bodyPr/>
          <a:lstStyle/>
          <a:p>
            <a:r>
              <a:rPr lang="en-US" sz="4000" b="1" dirty="0">
                <a:latin typeface="+mn-lt"/>
              </a:rPr>
              <a:t>ECE/CS 552</a:t>
            </a:r>
            <a:br>
              <a:rPr lang="en-US" sz="4000" b="1" dirty="0">
                <a:latin typeface="+mn-lt"/>
              </a:rPr>
            </a:br>
            <a:r>
              <a:rPr lang="en-US" sz="4000" dirty="0">
                <a:latin typeface="+mn-lt"/>
              </a:rPr>
              <a:t>Course Overview</a:t>
            </a:r>
            <a:endParaRPr lang="en-US" sz="4000" b="1" dirty="0">
              <a:latin typeface="+mn-lt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3886200"/>
            <a:ext cx="7086600" cy="1752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000" i="1" dirty="0"/>
              <a:t>Boone Severson</a:t>
            </a:r>
          </a:p>
          <a:p>
            <a:pPr>
              <a:spcBef>
                <a:spcPts val="0"/>
              </a:spcBef>
            </a:pPr>
            <a:r>
              <a:rPr lang="en-US" sz="2000" i="1" dirty="0"/>
              <a:t>University of Wisconsin – Madison</a:t>
            </a:r>
          </a:p>
          <a:p>
            <a:pPr>
              <a:spcBef>
                <a:spcPts val="0"/>
              </a:spcBef>
            </a:pPr>
            <a:r>
              <a:rPr lang="en-US" sz="2000" i="1" dirty="0"/>
              <a:t>Dept. Electrical and Computer Engineering</a:t>
            </a:r>
          </a:p>
          <a:p>
            <a:pPr>
              <a:spcBef>
                <a:spcPts val="0"/>
              </a:spcBef>
            </a:pPr>
            <a:r>
              <a:rPr lang="en-US" sz="2000" i="1" dirty="0"/>
              <a:t>Madison, WI 53706</a:t>
            </a:r>
          </a:p>
          <a:p>
            <a:pPr>
              <a:spcBef>
                <a:spcPts val="0"/>
              </a:spcBef>
            </a:pPr>
            <a:r>
              <a:rPr lang="en-US" sz="2000" i="1" dirty="0"/>
              <a:t>bseverson3@wisc.edu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01B54AFE-9729-4611-B8D5-E1EEE227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Who am I?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F5245E-0F0E-4AF5-B94B-25132E1D2428}"/>
              </a:ext>
            </a:extLst>
          </p:cNvPr>
          <p:cNvSpPr txBox="1"/>
          <p:nvPr/>
        </p:nvSpPr>
        <p:spPr>
          <a:xfrm>
            <a:off x="679450" y="1414463"/>
            <a:ext cx="7931150" cy="50387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 sz="2000" b="1" dirty="0">
                <a:latin typeface="+mn-lt"/>
              </a:rPr>
              <a:t>Boone Severson</a:t>
            </a:r>
          </a:p>
          <a:p>
            <a:pPr>
              <a:defRPr/>
            </a:pPr>
            <a:r>
              <a:rPr lang="en-US" sz="2000" dirty="0">
                <a:latin typeface="+mn-lt"/>
                <a:hlinkClick r:id="rId2"/>
              </a:rPr>
              <a:t>bseverson3@wisc.edu</a:t>
            </a:r>
            <a:endParaRPr lang="en-US" sz="2000" dirty="0">
              <a:latin typeface="+mn-lt"/>
            </a:endParaRPr>
          </a:p>
          <a:p>
            <a:pPr>
              <a:defRPr/>
            </a:pPr>
            <a:r>
              <a:rPr lang="en-US" sz="2000" dirty="0">
                <a:latin typeface="+mn-lt"/>
              </a:rPr>
              <a:t>Engineering Hall 4613</a:t>
            </a:r>
          </a:p>
          <a:p>
            <a:pPr>
              <a:defRPr/>
            </a:pPr>
            <a:endParaRPr lang="en-US" sz="1800" dirty="0">
              <a:latin typeface="+mn-lt"/>
            </a:endParaRPr>
          </a:p>
          <a:p>
            <a:pPr>
              <a:defRPr/>
            </a:pPr>
            <a:r>
              <a:rPr lang="en-US" sz="2000" b="1" dirty="0">
                <a:latin typeface="+mn-lt"/>
              </a:rPr>
              <a:t>Education: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UW-Madison BSEE w/Computer Option 1999</a:t>
            </a:r>
          </a:p>
          <a:p>
            <a:pPr>
              <a:defRPr/>
            </a:pPr>
            <a:endParaRPr lang="en-US" sz="1800" dirty="0">
              <a:latin typeface="+mn-lt"/>
            </a:endParaRPr>
          </a:p>
          <a:p>
            <a:pPr>
              <a:defRPr/>
            </a:pPr>
            <a:r>
              <a:rPr lang="en-US" sz="2000" b="1" dirty="0">
                <a:latin typeface="+mn-lt"/>
              </a:rPr>
              <a:t>Industry Career: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Design &amp; Verification, Infrastructure, Code Generators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Industries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High Performance Computing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Scalable Vector Processors, Cache Coherence, Networking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Machine Learning Silicon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Unique ISAs &amp; Organization</a:t>
            </a:r>
          </a:p>
        </p:txBody>
      </p:sp>
    </p:spTree>
    <p:extLst>
      <p:ext uri="{BB962C8B-B14F-4D97-AF65-F5344CB8AC3E}">
        <p14:creationId xmlns:p14="http://schemas.microsoft.com/office/powerpoint/2010/main" val="95468750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ECE 552 addresses basics of modern micro-processor design.</a:t>
            </a:r>
          </a:p>
          <a:p>
            <a:r>
              <a:rPr lang="en-US" sz="2400" dirty="0"/>
              <a:t>Related Courses</a:t>
            </a:r>
          </a:p>
          <a:p>
            <a:pPr lvl="1"/>
            <a:r>
              <a:rPr lang="en-US" sz="2000" dirty="0"/>
              <a:t>252/352 (Prerequisites) – gates, logic, memory, organization</a:t>
            </a:r>
          </a:p>
          <a:p>
            <a:pPr lvl="1"/>
            <a:r>
              <a:rPr lang="en-US" sz="2000" dirty="0"/>
              <a:t>252/354 (Prerequisites) – high-level language down to machine language interface or instruction set architecture (ISA)</a:t>
            </a:r>
          </a:p>
          <a:p>
            <a:pPr lvl="1"/>
            <a:r>
              <a:rPr lang="en-US" sz="2000" dirty="0"/>
              <a:t>551 – Verilog design of low level logic blocks</a:t>
            </a:r>
          </a:p>
          <a:p>
            <a:pPr lvl="1"/>
            <a:r>
              <a:rPr lang="en-US" sz="2000" dirty="0"/>
              <a:t>555 – transistor level IC design</a:t>
            </a:r>
          </a:p>
          <a:p>
            <a:pPr lvl="1"/>
            <a:r>
              <a:rPr lang="en-US" sz="2000" dirty="0"/>
              <a:t>752/757 – advanced topics of architecture, multi-core, parallel processing</a:t>
            </a:r>
          </a:p>
          <a:p>
            <a:pPr lvl="1"/>
            <a:r>
              <a:rPr lang="en-US" sz="2000" dirty="0"/>
              <a:t>759 – GPU programming</a:t>
            </a:r>
          </a:p>
          <a:p>
            <a:pPr lvl="1"/>
            <a:r>
              <a:rPr lang="en-US" sz="2000" dirty="0"/>
              <a:t>Compiler, operating systems – system software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F35A5-CD04-42C6-A3B2-27ABFC27DCC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9696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66800" y="1600200"/>
            <a:ext cx="7315200" cy="4724400"/>
          </a:xfrm>
        </p:spPr>
        <p:txBody>
          <a:bodyPr/>
          <a:lstStyle/>
          <a:p>
            <a:r>
              <a:rPr lang="en-US" sz="2400" dirty="0"/>
              <a:t>Performance</a:t>
            </a:r>
          </a:p>
          <a:p>
            <a:r>
              <a:rPr lang="en-US" sz="2400" dirty="0"/>
              <a:t>Instruction set architecture (ISA): MIPS</a:t>
            </a:r>
          </a:p>
          <a:p>
            <a:r>
              <a:rPr lang="en-US" sz="2400" dirty="0"/>
              <a:t>Basic data path implementation of ISA</a:t>
            </a:r>
          </a:p>
          <a:p>
            <a:r>
              <a:rPr lang="en-US" sz="2400" dirty="0"/>
              <a:t>Pipelined data path (in great detail)</a:t>
            </a:r>
          </a:p>
          <a:p>
            <a:r>
              <a:rPr lang="en-US" sz="2400" dirty="0"/>
              <a:t>Cache and virtual memory</a:t>
            </a:r>
          </a:p>
          <a:p>
            <a:r>
              <a:rPr lang="en-US" sz="2400" dirty="0"/>
              <a:t>Arithmetic algorithms: multiplication, division </a:t>
            </a:r>
          </a:p>
          <a:p>
            <a:r>
              <a:rPr lang="en-US" sz="2400" dirty="0"/>
              <a:t>I/O </a:t>
            </a:r>
          </a:p>
          <a:p>
            <a:r>
              <a:rPr lang="en-US" sz="2400" dirty="0"/>
              <a:t>Advanced topics: superscalar,  multicore, security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F35A5-CD04-42C6-A3B2-27ABFC27DC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104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Format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4953000"/>
          </a:xfrm>
        </p:spPr>
        <p:txBody>
          <a:bodyPr/>
          <a:lstStyle/>
          <a:p>
            <a:r>
              <a:rPr lang="en-US" sz="2400" dirty="0"/>
              <a:t>Before the lecture</a:t>
            </a:r>
          </a:p>
          <a:p>
            <a:pPr lvl="1"/>
            <a:r>
              <a:rPr lang="en-US" sz="2000" dirty="0"/>
              <a:t>Students must watch video lectures and read assigned textbook sections</a:t>
            </a:r>
          </a:p>
          <a:p>
            <a:pPr lvl="1"/>
            <a:r>
              <a:rPr lang="en-US" sz="2000" dirty="0"/>
              <a:t>A short weekly quiz will be posted on Canvas that covers the lecture and reading material. Quizzes can be completed outside class hours. </a:t>
            </a:r>
          </a:p>
          <a:p>
            <a:r>
              <a:rPr lang="en-US" sz="2400" dirty="0"/>
              <a:t>During the lecture</a:t>
            </a:r>
          </a:p>
          <a:p>
            <a:pPr lvl="1"/>
            <a:r>
              <a:rPr lang="en-US" sz="2000" dirty="0"/>
              <a:t>Instructor will provide a summary review, work on examples, exercise problems.</a:t>
            </a:r>
          </a:p>
          <a:p>
            <a:pPr lvl="1"/>
            <a:r>
              <a:rPr lang="en-US" sz="2000" dirty="0"/>
              <a:t>Students will be asked to work on in-class exercise problems with laptops. All exercise answers need to be submitted through Canvas by midnight.</a:t>
            </a:r>
          </a:p>
          <a:p>
            <a:r>
              <a:rPr lang="en-US" sz="2400" dirty="0"/>
              <a:t>After the lecture</a:t>
            </a:r>
          </a:p>
          <a:p>
            <a:pPr lvl="1"/>
            <a:r>
              <a:rPr lang="en-US" sz="2000" dirty="0"/>
              <a:t>Students will work on weekly homework problems, which include Verilog. Homework answers need to be submitted through Canvas.</a:t>
            </a:r>
          </a:p>
          <a:p>
            <a:pPr lvl="1"/>
            <a:r>
              <a:rPr lang="en-US" sz="2000" dirty="0"/>
              <a:t>Students will also work on their course projects.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F35A5-CD04-42C6-A3B2-27ABFC27DCC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6716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Course Outcomes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Students will be able to </a:t>
            </a:r>
            <a:r>
              <a:rPr lang="en-US" sz="2400" u="sng" dirty="0"/>
              <a:t>use standard performance metrics </a:t>
            </a:r>
            <a:r>
              <a:rPr lang="en-US" sz="2400" dirty="0"/>
              <a:t>to compare performance of different digital systems</a:t>
            </a:r>
          </a:p>
          <a:p>
            <a:r>
              <a:rPr lang="en-US" sz="2400" dirty="0"/>
              <a:t>Students will be able to </a:t>
            </a:r>
            <a:r>
              <a:rPr lang="en-US" sz="2400" u="sng" dirty="0"/>
              <a:t>design a pipelined data path for a RISC </a:t>
            </a:r>
            <a:r>
              <a:rPr lang="en-US" sz="2400" dirty="0"/>
              <a:t>(reduced instruction set computer) instruction set and be familiar with concepts of data dependence, pipelined hazards and out of order execution.</a:t>
            </a:r>
          </a:p>
          <a:p>
            <a:r>
              <a:rPr lang="en-US" sz="2400" dirty="0"/>
              <a:t>Students will be able to </a:t>
            </a:r>
            <a:r>
              <a:rPr lang="en-US" sz="2400" u="sng" dirty="0"/>
              <a:t>design basic data and control cache subsystems </a:t>
            </a:r>
            <a:r>
              <a:rPr lang="en-US" sz="2400" dirty="0"/>
              <a:t>and understand basic memory organization</a:t>
            </a:r>
          </a:p>
          <a:p>
            <a:r>
              <a:rPr lang="en-US" sz="2400" dirty="0"/>
              <a:t>Students will be able to design a pipelined RISC micro-processor system with data cache </a:t>
            </a:r>
            <a:r>
              <a:rPr lang="en-US" sz="2400" u="sng" dirty="0"/>
              <a:t>using computer aided design tool </a:t>
            </a:r>
            <a:r>
              <a:rPr lang="en-US" sz="2400" dirty="0"/>
              <a:t>and </a:t>
            </a:r>
            <a:r>
              <a:rPr lang="en-US" sz="2400" u="sng" dirty="0"/>
              <a:t>validate the correctness of the design using logic simulation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F35A5-CD04-42C6-A3B2-27ABFC27DCC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7291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CAD Tools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724400"/>
          </a:xfrm>
        </p:spPr>
        <p:txBody>
          <a:bodyPr/>
          <a:lstStyle/>
          <a:p>
            <a:r>
              <a:rPr lang="en-US" sz="2400" dirty="0"/>
              <a:t>Verilog simulator:</a:t>
            </a:r>
          </a:p>
          <a:p>
            <a:pPr lvl="1"/>
            <a:r>
              <a:rPr lang="en-US" sz="2000" dirty="0" err="1"/>
              <a:t>ModelSim</a:t>
            </a:r>
            <a:endParaRPr lang="en-US" sz="2000" dirty="0"/>
          </a:p>
          <a:p>
            <a:pPr lvl="1"/>
            <a:r>
              <a:rPr lang="en-US" sz="2000" dirty="0"/>
              <a:t>(or Icarus)</a:t>
            </a:r>
          </a:p>
          <a:p>
            <a:r>
              <a:rPr lang="en-US" sz="2400" dirty="0"/>
              <a:t>Great Verilog practice material:</a:t>
            </a:r>
          </a:p>
          <a:p>
            <a:pPr lvl="1"/>
            <a:r>
              <a:rPr lang="en-US" sz="2000" dirty="0">
                <a:hlinkClick r:id="rId2"/>
              </a:rPr>
              <a:t>https://hdlbits.01xz.net/wiki/Main_Page</a:t>
            </a:r>
            <a:endParaRPr lang="en-US" altLang="en-US" sz="22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F35A5-CD04-42C6-A3B2-27ABFC27DCC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5898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to ECE 551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400" dirty="0"/>
              <a:t>ECE 551 </a:t>
            </a:r>
          </a:p>
          <a:p>
            <a:pPr lvl="1"/>
            <a:r>
              <a:rPr lang="en-US" sz="2000" dirty="0"/>
              <a:t>Focuses on function block level digital design using Verilog. </a:t>
            </a:r>
          </a:p>
          <a:p>
            <a:pPr lvl="1"/>
            <a:r>
              <a:rPr lang="en-US" sz="2000" dirty="0"/>
              <a:t>Comprehensive coverage of Verilog</a:t>
            </a:r>
          </a:p>
          <a:p>
            <a:r>
              <a:rPr lang="en-US" sz="2400" dirty="0"/>
              <a:t>ECE 552</a:t>
            </a:r>
          </a:p>
          <a:p>
            <a:pPr lvl="1"/>
            <a:r>
              <a:rPr lang="en-US" sz="2000" dirty="0"/>
              <a:t>Focuses on core level (processor level) digital system design</a:t>
            </a:r>
          </a:p>
          <a:p>
            <a:pPr lvl="1"/>
            <a:r>
              <a:rPr lang="en-US" sz="2000" dirty="0"/>
              <a:t>Architecture issues: Pipelined data path, cache and virtual memory</a:t>
            </a:r>
          </a:p>
          <a:p>
            <a:pPr lvl="1"/>
            <a:r>
              <a:rPr lang="en-US" sz="2000" dirty="0"/>
              <a:t>Verilog language usage will be restricted to a basic subset</a:t>
            </a:r>
          </a:p>
          <a:p>
            <a:pPr lvl="2"/>
            <a:r>
              <a:rPr lang="en-US" sz="1600" dirty="0"/>
              <a:t>“Think like hardware”</a:t>
            </a:r>
          </a:p>
          <a:p>
            <a:pPr lvl="1"/>
            <a:r>
              <a:rPr lang="en-US" sz="2000" dirty="0"/>
              <a:t>Students will be assumed to have basic knowledge of Verilog and be able to start by designing simple digital modules in class.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F35A5-CD04-42C6-A3B2-27ABFC27DCC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4113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Textbook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u="sng" dirty="0"/>
              <a:t>Computer Organization and Design</a:t>
            </a:r>
            <a:r>
              <a:rPr lang="en-US" sz="2800" dirty="0"/>
              <a:t>, </a:t>
            </a:r>
            <a:r>
              <a:rPr lang="en-US" sz="2800" u="sng" dirty="0"/>
              <a:t>Sixth Edition, MIPS Edition</a:t>
            </a:r>
            <a:r>
              <a:rPr lang="en-US" sz="2800" dirty="0"/>
              <a:t>, David Patterson and John Hennessy</a:t>
            </a:r>
          </a:p>
          <a:p>
            <a:pPr lvl="0"/>
            <a:r>
              <a:rPr lang="en-US" sz="2800" dirty="0"/>
              <a:t>Publisher: © 2020 Elsevier Inc</a:t>
            </a:r>
          </a:p>
        </p:txBody>
      </p:sp>
    </p:spTree>
    <p:extLst>
      <p:ext uri="{BB962C8B-B14F-4D97-AF65-F5344CB8AC3E}">
        <p14:creationId xmlns:p14="http://schemas.microsoft.com/office/powerpoint/2010/main" val="123643736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Quizzes and Exercises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>
              <a:lnSpc>
                <a:spcPct val="70000"/>
              </a:lnSpc>
              <a:spcAft>
                <a:spcPts val="500"/>
              </a:spcAft>
            </a:pPr>
            <a:r>
              <a:rPr lang="en-US" altLang="en-US" sz="2800" dirty="0"/>
              <a:t>Weekly Quizzes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Released on Canvas on Fridays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Must watch video lectures and read textbook sections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Complete quizzes outside class hours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Due Mondays midnight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No late quizzes will be accepted</a:t>
            </a:r>
          </a:p>
          <a:p>
            <a:pPr marL="457200" lvl="1" indent="0">
              <a:lnSpc>
                <a:spcPct val="80000"/>
              </a:lnSpc>
              <a:spcAft>
                <a:spcPts val="500"/>
              </a:spcAft>
              <a:buNone/>
            </a:pPr>
            <a:endParaRPr lang="en-US" altLang="en-US" sz="1600" dirty="0"/>
          </a:p>
          <a:p>
            <a:pPr eaLnBrk="1" hangingPunct="1">
              <a:lnSpc>
                <a:spcPct val="70000"/>
              </a:lnSpc>
              <a:spcAft>
                <a:spcPts val="500"/>
              </a:spcAft>
            </a:pPr>
            <a:r>
              <a:rPr lang="en-US" altLang="en-US" sz="2800" dirty="0"/>
              <a:t>In-Class Exercises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Every lecture session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Due midnight same day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Lowest three exercise scores will be dropped</a:t>
            </a:r>
          </a:p>
        </p:txBody>
      </p:sp>
    </p:spTree>
    <p:extLst>
      <p:ext uri="{BB962C8B-B14F-4D97-AF65-F5344CB8AC3E}">
        <p14:creationId xmlns:p14="http://schemas.microsoft.com/office/powerpoint/2010/main" val="70923680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Homework and Late Policy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  <a:spcAft>
                <a:spcPts val="500"/>
              </a:spcAft>
            </a:pPr>
            <a:r>
              <a:rPr lang="en-US" altLang="en-US" sz="2800" dirty="0"/>
              <a:t>Homework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11 homework assignments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Due Sundays midnight</a:t>
            </a:r>
          </a:p>
          <a:p>
            <a:pPr eaLnBrk="1" hangingPunct="1">
              <a:lnSpc>
                <a:spcPct val="80000"/>
              </a:lnSpc>
              <a:spcAft>
                <a:spcPts val="500"/>
              </a:spcAft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800" dirty="0"/>
              <a:t>Late Submission Policy: 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Applies to exercises, homework, and project deliverables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20% mark deduction per day late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Up to two days late max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Late submissions not accepted for quizzes</a:t>
            </a:r>
          </a:p>
          <a:p>
            <a:pPr marL="0" indent="0" eaLnBrk="1" hangingPunct="1">
              <a:lnSpc>
                <a:spcPct val="70000"/>
              </a:lnSpc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5575578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Discussion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spcAft>
                <a:spcPts val="500"/>
              </a:spcAft>
            </a:pPr>
            <a:r>
              <a:rPr lang="en-US" altLang="en-US" sz="2800" dirty="0"/>
              <a:t>Discussion (TA office) hours: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TA: Shreya </a:t>
            </a:r>
            <a:r>
              <a:rPr lang="en-US" altLang="en-US" sz="2400" dirty="0" err="1"/>
              <a:t>Malkurthi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shreya.malkurthi@wisc.edu</a:t>
            </a:r>
            <a:endParaRPr lang="en-US" altLang="en-US" sz="2400" dirty="0"/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Wednesdays 3:30-4:30PM in 209 Animal Science</a:t>
            </a:r>
            <a:endParaRPr lang="en-US" altLang="en-US" sz="2400" i="1" dirty="0"/>
          </a:p>
          <a:p>
            <a:pPr marL="457200" lvl="1" indent="0">
              <a:lnSpc>
                <a:spcPct val="80000"/>
              </a:lnSpc>
              <a:spcAft>
                <a:spcPts val="500"/>
              </a:spcAft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spcAft>
                <a:spcPts val="500"/>
              </a:spcAft>
            </a:pPr>
            <a:r>
              <a:rPr lang="en-US" altLang="en-US" sz="2800" dirty="0"/>
              <a:t>Piazza Discussion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Link on left side of Canvas page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</a:rPr>
              <a:t>Access code: </a:t>
            </a:r>
            <a:r>
              <a:rPr lang="en-US" altLang="en-US" sz="2400" i="1" dirty="0" err="1">
                <a:solidFill>
                  <a:schemeClr val="bg1">
                    <a:lumMod val="50000"/>
                  </a:schemeClr>
                </a:solidFill>
              </a:rPr>
              <a:t>comparch</a:t>
            </a: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marL="457200" lvl="1" indent="0">
              <a:lnSpc>
                <a:spcPct val="80000"/>
              </a:lnSpc>
              <a:spcAft>
                <a:spcPts val="500"/>
              </a:spcAft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spcAft>
                <a:spcPts val="500"/>
              </a:spcAft>
            </a:pPr>
            <a:r>
              <a:rPr lang="en-US" altLang="en-US" sz="2800" dirty="0"/>
              <a:t>Instructor office hours: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Tuesdays 8:30-9:25AM in Engineering Hall 4613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Available mornings/evenings by appointment (Zoom)</a:t>
            </a:r>
          </a:p>
        </p:txBody>
      </p:sp>
    </p:spTree>
    <p:extLst>
      <p:ext uri="{BB962C8B-B14F-4D97-AF65-F5344CB8AC3E}">
        <p14:creationId xmlns:p14="http://schemas.microsoft.com/office/powerpoint/2010/main" val="120450052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Course Project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eaLnBrk="1" hangingPunct="1">
              <a:spcAft>
                <a:spcPts val="500"/>
              </a:spcAft>
            </a:pPr>
            <a:r>
              <a:rPr lang="en-US" altLang="en-US" dirty="0"/>
              <a:t>Project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Implement processor </a:t>
            </a:r>
            <a:r>
              <a:rPr lang="en-US" altLang="en-US"/>
              <a:t>for WISC-F24 </a:t>
            </a:r>
            <a:r>
              <a:rPr lang="en-US" altLang="en-US" dirty="0"/>
              <a:t>ISA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Three phases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Extra credit points available in the end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Groups of 2-3 students, no individual projects</a:t>
            </a:r>
          </a:p>
          <a:p>
            <a:pPr lvl="2" eaLnBrk="1" hangingPunct="1">
              <a:spcAft>
                <a:spcPts val="500"/>
              </a:spcAft>
            </a:pPr>
            <a:r>
              <a:rPr lang="en-US" altLang="en-US" dirty="0"/>
              <a:t>Declare teams on Canvas by September 16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Must submit written final report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More details later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2171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Course Grading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500"/>
              </a:spcAft>
            </a:pPr>
            <a:r>
              <a:rPr lang="en-US" altLang="en-US" dirty="0"/>
              <a:t>Grading</a:t>
            </a:r>
          </a:p>
          <a:p>
            <a:pPr lvl="1"/>
            <a:r>
              <a:rPr lang="en-US" dirty="0"/>
              <a:t>In-class exercises (attendance required)	10%</a:t>
            </a:r>
          </a:p>
          <a:p>
            <a:pPr lvl="1"/>
            <a:r>
              <a:rPr lang="en-US" dirty="0"/>
              <a:t>Homework						10%</a:t>
            </a:r>
          </a:p>
          <a:p>
            <a:pPr lvl="1"/>
            <a:r>
              <a:rPr lang="en-US" dirty="0"/>
              <a:t>Weekly quizzes					10%</a:t>
            </a:r>
          </a:p>
          <a:p>
            <a:pPr lvl="1"/>
            <a:r>
              <a:rPr lang="en-US" dirty="0"/>
              <a:t>Midterm in-class					20%</a:t>
            </a:r>
          </a:p>
          <a:p>
            <a:pPr lvl="1"/>
            <a:r>
              <a:rPr lang="en-US" dirty="0"/>
              <a:t>Project							20%</a:t>
            </a:r>
          </a:p>
          <a:p>
            <a:pPr lvl="1"/>
            <a:r>
              <a:rPr lang="en-US" dirty="0"/>
              <a:t>Final exam						30%</a:t>
            </a:r>
          </a:p>
          <a:p>
            <a:r>
              <a:rPr lang="en-US" dirty="0"/>
              <a:t>Letter grade curved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3026762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Midterm and Final Exams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534400" cy="4708525"/>
          </a:xfrm>
        </p:spPr>
        <p:txBody>
          <a:bodyPr/>
          <a:lstStyle/>
          <a:p>
            <a:pPr eaLnBrk="1" hangingPunct="1">
              <a:spcAft>
                <a:spcPts val="500"/>
              </a:spcAft>
            </a:pPr>
            <a:r>
              <a:rPr lang="en-US" altLang="en-US" sz="2800" dirty="0"/>
              <a:t>Exams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sz="2400" dirty="0"/>
              <a:t>In-class </a:t>
            </a:r>
            <a:r>
              <a:rPr lang="en-US" altLang="en-US" sz="2400"/>
              <a:t>midterm Thursday </a:t>
            </a:r>
            <a:r>
              <a:rPr lang="en-US" altLang="en-US" sz="2400" dirty="0"/>
              <a:t>October 24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sz="2400" dirty="0"/>
              <a:t>Final exam 12:25-2:25pm Tuesday December 17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9019871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SECTOMILLISECCONVERTED" val="1"/>
  <p:tag name="MMPROD_UIDATA" val="&lt;database version=&quot;11.0&quot;&gt;&lt;object type=&quot;1&quot; unique_id=&quot;10001&quot;&gt;&lt;object type=&quot;2&quot; unique_id=&quot;10585&quot;&gt;&lt;object type=&quot;3&quot; unique_id=&quot;10586&quot;&gt;&lt;property id=&quot;20148&quot; value=&quot;5&quot;/&gt;&lt;property id=&quot;20300&quot; value=&quot;Slide 1 - &amp;quot;ECE/CS 552 Course Overview&amp;quot;&quot;/&gt;&lt;property id=&quot;20307&quot; value=&quot;256&quot;/&gt;&lt;/object&gt;&lt;object type=&quot;3&quot; unique_id=&quot;10587&quot;&gt;&lt;property id=&quot;20148&quot; value=&quot;5&quot;/&gt;&lt;property id=&quot;20300&quot; value=&quot;Slide 3 - &amp;quot;Overview&amp;quot;&quot;/&gt;&lt;property id=&quot;20307&quot; value=&quot;257&quot;/&gt;&lt;/object&gt;&lt;object type=&quot;3&quot; unique_id=&quot;10588&quot;&gt;&lt;property id=&quot;20148&quot; value=&quot;5&quot;/&gt;&lt;property id=&quot;20300&quot; value=&quot;Slide 4 - &amp;quot;Coverage&amp;quot;&quot;/&gt;&lt;property id=&quot;20307&quot; value=&quot;258&quot;/&gt;&lt;/object&gt;&lt;object type=&quot;3&quot; unique_id=&quot;10590&quot;&gt;&lt;property id=&quot;20148&quot; value=&quot;5&quot;/&gt;&lt;property id=&quot;20300&quot; value=&quot;Slide 6 - &amp;quot;Expected Course Outcomes&amp;quot;&quot;/&gt;&lt;property id=&quot;20307&quot; value=&quot;262&quot;/&gt;&lt;/object&gt;&lt;object type=&quot;3&quot; unique_id=&quot;10591&quot;&gt;&lt;property id=&quot;20148&quot; value=&quot;5&quot;/&gt;&lt;property id=&quot;20300&quot; value=&quot;Slide 7 - &amp;quot;CAD Tools&amp;quot;&quot;/&gt;&lt;property id=&quot;20307&quot; value=&quot;260&quot;/&gt;&lt;/object&gt;&lt;object type=&quot;3&quot; unique_id=&quot;10592&quot;&gt;&lt;property id=&quot;20148&quot; value=&quot;5&quot;/&gt;&lt;property id=&quot;20300&quot; value=&quot;Slide 8 - &amp;quot;Relationship to ECE 551&amp;quot;&quot;/&gt;&lt;property id=&quot;20307&quot; value=&quot;264&quot;/&gt;&lt;/object&gt;&lt;object type=&quot;3&quot; unique_id=&quot;10737&quot;&gt;&lt;property id=&quot;20148&quot; value=&quot;5&quot;/&gt;&lt;property id=&quot;20300&quot; value=&quot;Slide 5 - &amp;quot;Lecture Format&amp;quot;&quot;/&gt;&lt;property id=&quot;20307&quot; value=&quot;265&quot;/&gt;&lt;/object&gt;&lt;object type=&quot;3&quot; unique_id=&quot;10738&quot;&gt;&lt;property id=&quot;20148&quot; value=&quot;5&quot;/&gt;&lt;property id=&quot;20300&quot; value=&quot;Slide 9 - &amp;quot;Textbook&amp;quot;&quot;/&gt;&lt;property id=&quot;20307&quot; value=&quot;266&quot;/&gt;&lt;/object&gt;&lt;object type=&quot;3&quot; unique_id=&quot;10739&quot;&gt;&lt;property id=&quot;20148&quot; value=&quot;5&quot;/&gt;&lt;property id=&quot;20300&quot; value=&quot;Slide 10 - &amp;quot;Quizzes and Exercises&amp;quot;&quot;/&gt;&lt;property id=&quot;20307&quot; value=&quot;270&quot;/&gt;&lt;/object&gt;&lt;object type=&quot;3&quot; unique_id=&quot;10740&quot;&gt;&lt;property id=&quot;20148&quot; value=&quot;5&quot;/&gt;&lt;property id=&quot;20300&quot; value=&quot;Slide 13 - &amp;quot;Course Project&amp;quot;&quot;/&gt;&lt;property id=&quot;20307&quot; value=&quot;267&quot;/&gt;&lt;/object&gt;&lt;object type=&quot;3&quot; unique_id=&quot;10741&quot;&gt;&lt;property id=&quot;20148&quot; value=&quot;5&quot;/&gt;&lt;property id=&quot;20300&quot; value=&quot;Slide 14 - &amp;quot;Course Grading&amp;quot;&quot;/&gt;&lt;property id=&quot;20307&quot; value=&quot;268&quot;/&gt;&lt;/object&gt;&lt;object type=&quot;3&quot; unique_id=&quot;10742&quot;&gt;&lt;property id=&quot;20148&quot; value=&quot;5&quot;/&gt;&lt;property id=&quot;20300&quot; value=&quot;Slide 15 - &amp;quot;Midterm and Final Exams&amp;quot;&quot;/&gt;&lt;property id=&quot;20307&quot; value=&quot;269&quot;/&gt;&lt;/object&gt;&lt;object type=&quot;3&quot; unique_id=&quot;10744&quot;&gt;&lt;property id=&quot;20148&quot; value=&quot;5&quot;/&gt;&lt;property id=&quot;20300&quot; value=&quot;Slide 11 - &amp;quot;Homework and Late Policy&amp;quot;&quot;/&gt;&lt;property id=&quot;20307&quot; value=&quot;271&quot;/&gt;&lt;/object&gt;&lt;object type=&quot;3&quot; unique_id=&quot;11030&quot;&gt;&lt;property id=&quot;20148&quot; value=&quot;5&quot;/&gt;&lt;property id=&quot;20300&quot; value=&quot;Slide 12 - &amp;quot;Discussion&amp;quot;&quot;/&gt;&lt;property id=&quot;20307&quot; value=&quot;272&quot;/&gt;&lt;/object&gt;&lt;object type=&quot;3&quot; unique_id=&quot;160098&quot;&gt;&lt;property id=&quot;20148&quot; value=&quot;5&quot;/&gt;&lt;property id=&quot;20300&quot; value=&quot;Slide 2 - &amp;quot;Who am I?&amp;quot;&quot;/&gt;&lt;property id=&quot;20307&quot; value=&quot;295&quot;/&gt;&lt;/object&gt;&lt;/object&gt;&lt;object type=&quot;8&quot; unique_id=&quot;10601&quot;&gt;&lt;/object&gt;&lt;/object&gt;&lt;/database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heme/theme1.xml><?xml version="1.0" encoding="utf-8"?>
<a:theme xmlns:a="http://schemas.openxmlformats.org/drawingml/2006/main" name="ece7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e752" id="{403BFDBC-09F7-41BB-BA73-F0BE479C08C9}" vid="{A1AB00B6-2EAA-4289-A62E-4606446741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ece752</Template>
  <TotalTime>87</TotalTime>
  <Words>833</Words>
  <Application>Microsoft Macintosh PowerPoint</Application>
  <PresentationFormat>On-screen Show (4:3)</PresentationFormat>
  <Paragraphs>139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</vt:lpstr>
      <vt:lpstr>ece752</vt:lpstr>
      <vt:lpstr>ECE/CS 552 Course Overview</vt:lpstr>
      <vt:lpstr>Who am I?</vt:lpstr>
      <vt:lpstr>Overview</vt:lpstr>
      <vt:lpstr>Coverage</vt:lpstr>
      <vt:lpstr>Lecture Format</vt:lpstr>
      <vt:lpstr>Expected Course Outcomes</vt:lpstr>
      <vt:lpstr>CAD Tools</vt:lpstr>
      <vt:lpstr>Relationship to ECE 551</vt:lpstr>
      <vt:lpstr>Textbook</vt:lpstr>
      <vt:lpstr>Quizzes and Exercises</vt:lpstr>
      <vt:lpstr>Homework and Late Policy</vt:lpstr>
      <vt:lpstr>Discussion</vt:lpstr>
      <vt:lpstr>Course Project</vt:lpstr>
      <vt:lpstr>Course Grading</vt:lpstr>
      <vt:lpstr>Midterm and Final Exams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 Course Overview</dc:title>
  <dc:creator/>
  <cp:lastModifiedBy>Boone Severson</cp:lastModifiedBy>
  <cp:revision>220</cp:revision>
  <dcterms:created xsi:type="dcterms:W3CDTF">2011-02-25T15:25:49Z</dcterms:created>
  <dcterms:modified xsi:type="dcterms:W3CDTF">2024-09-05T00:06:45Z</dcterms:modified>
</cp:coreProperties>
</file>