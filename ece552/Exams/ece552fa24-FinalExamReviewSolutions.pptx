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3.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6.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7.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8.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9.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0.xml" ContentType="application/vnd.openxmlformats-officedocument.presentationml.notesSlide+xml"/>
  <Override PartName="/ppt/tags/tag54.xml" ContentType="application/vnd.openxmlformats-officedocument.presentationml.tags+xml"/>
  <Override PartName="/ppt/notesSlides/notesSlide11.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4.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0" r:id="rId1"/>
  </p:sldMasterIdLst>
  <p:notesMasterIdLst>
    <p:notesMasterId r:id="rId52"/>
  </p:notesMasterIdLst>
  <p:handoutMasterIdLst>
    <p:handoutMasterId r:id="rId53"/>
  </p:handoutMasterIdLst>
  <p:sldIdLst>
    <p:sldId id="495" r:id="rId2"/>
    <p:sldId id="799" r:id="rId3"/>
    <p:sldId id="815" r:id="rId4"/>
    <p:sldId id="803" r:id="rId5"/>
    <p:sldId id="804" r:id="rId6"/>
    <p:sldId id="805" r:id="rId7"/>
    <p:sldId id="779" r:id="rId8"/>
    <p:sldId id="781" r:id="rId9"/>
    <p:sldId id="780" r:id="rId10"/>
    <p:sldId id="783" r:id="rId11"/>
    <p:sldId id="782" r:id="rId12"/>
    <p:sldId id="784" r:id="rId13"/>
    <p:sldId id="748" r:id="rId14"/>
    <p:sldId id="794" r:id="rId15"/>
    <p:sldId id="797" r:id="rId16"/>
    <p:sldId id="796" r:id="rId17"/>
    <p:sldId id="795" r:id="rId18"/>
    <p:sldId id="798" r:id="rId19"/>
    <p:sldId id="749" r:id="rId20"/>
    <p:sldId id="806" r:id="rId21"/>
    <p:sldId id="793" r:id="rId22"/>
    <p:sldId id="736" r:id="rId23"/>
    <p:sldId id="759" r:id="rId24"/>
    <p:sldId id="786" r:id="rId25"/>
    <p:sldId id="787" r:id="rId26"/>
    <p:sldId id="789" r:id="rId27"/>
    <p:sldId id="791" r:id="rId28"/>
    <p:sldId id="790" r:id="rId29"/>
    <p:sldId id="792" r:id="rId30"/>
    <p:sldId id="807" r:id="rId31"/>
    <p:sldId id="731" r:id="rId32"/>
    <p:sldId id="808" r:id="rId33"/>
    <p:sldId id="809" r:id="rId34"/>
    <p:sldId id="761" r:id="rId35"/>
    <p:sldId id="763" r:id="rId36"/>
    <p:sldId id="764" r:id="rId37"/>
    <p:sldId id="765" r:id="rId38"/>
    <p:sldId id="766" r:id="rId39"/>
    <p:sldId id="767" r:id="rId40"/>
    <p:sldId id="768" r:id="rId41"/>
    <p:sldId id="810" r:id="rId42"/>
    <p:sldId id="811" r:id="rId43"/>
    <p:sldId id="814" r:id="rId44"/>
    <p:sldId id="813" r:id="rId45"/>
    <p:sldId id="347" r:id="rId46"/>
    <p:sldId id="738" r:id="rId47"/>
    <p:sldId id="754" r:id="rId48"/>
    <p:sldId id="757" r:id="rId49"/>
    <p:sldId id="756" r:id="rId50"/>
    <p:sldId id="758" r:id="rId51"/>
  </p:sldIdLst>
  <p:sldSz cx="9144000" cy="6858000" type="screen4x3"/>
  <p:notesSz cx="6845300" cy="9396413"/>
  <p:custDataLst>
    <p:tags r:id="rId54"/>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8">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0BD9"/>
    <a:srgbClr val="DBEEF4"/>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FBA84C-6997-4843-9886-20E32362BFD9}" v="238" dt="2024-12-09T04:30:35.1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58" autoAdjust="0"/>
    <p:restoredTop sz="96497"/>
  </p:normalViewPr>
  <p:slideViewPr>
    <p:cSldViewPr>
      <p:cViewPr varScale="1">
        <p:scale>
          <a:sx n="150" d="100"/>
          <a:sy n="150" d="100"/>
        </p:scale>
        <p:origin x="936"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1764" y="-66"/>
      </p:cViewPr>
      <p:guideLst>
        <p:guide orient="horz" pos="2958"/>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ne Severson" userId="1d942a2b-e0b5-491a-b49e-d500fa0ad426" providerId="ADAL" clId="{C2FBA84C-6997-4843-9886-20E32362BFD9}"/>
    <pc:docChg chg="undo custSel addSld delSld modSld sldOrd">
      <pc:chgData name="Boone Severson" userId="1d942a2b-e0b5-491a-b49e-d500fa0ad426" providerId="ADAL" clId="{C2FBA84C-6997-4843-9886-20E32362BFD9}" dt="2024-12-09T05:01:46.896" v="6472" actId="20577"/>
      <pc:docMkLst>
        <pc:docMk/>
      </pc:docMkLst>
      <pc:sldChg chg="delSp modSp add mod delAnim modAnim">
        <pc:chgData name="Boone Severson" userId="1d942a2b-e0b5-491a-b49e-d500fa0ad426" providerId="ADAL" clId="{C2FBA84C-6997-4843-9886-20E32362BFD9}" dt="2024-12-09T04:30:35.165" v="6462" actId="20577"/>
        <pc:sldMkLst>
          <pc:docMk/>
          <pc:sldMk cId="2248115243" sldId="347"/>
        </pc:sldMkLst>
        <pc:spChg chg="mod">
          <ac:chgData name="Boone Severson" userId="1d942a2b-e0b5-491a-b49e-d500fa0ad426" providerId="ADAL" clId="{C2FBA84C-6997-4843-9886-20E32362BFD9}" dt="2024-12-09T04:30:19.687" v="6438" actId="1076"/>
          <ac:spMkLst>
            <pc:docMk/>
            <pc:sldMk cId="2248115243" sldId="347"/>
            <ac:spMk id="12" creationId="{C17ED8B5-5C3B-47C0-B3A8-946B40A7D4B8}"/>
          </ac:spMkLst>
        </pc:spChg>
        <pc:spChg chg="mod">
          <ac:chgData name="Boone Severson" userId="1d942a2b-e0b5-491a-b49e-d500fa0ad426" providerId="ADAL" clId="{C2FBA84C-6997-4843-9886-20E32362BFD9}" dt="2024-12-09T04:30:35.165" v="6462" actId="20577"/>
          <ac:spMkLst>
            <pc:docMk/>
            <pc:sldMk cId="2248115243" sldId="347"/>
            <ac:spMk id="15" creationId="{2A86E490-6BBD-4785-B214-E2B4C8FBDD46}"/>
          </ac:spMkLst>
        </pc:spChg>
        <pc:spChg chg="mod">
          <ac:chgData name="Boone Severson" userId="1d942a2b-e0b5-491a-b49e-d500fa0ad426" providerId="ADAL" clId="{C2FBA84C-6997-4843-9886-20E32362BFD9}" dt="2024-12-09T04:30:06.754" v="6437" actId="20577"/>
          <ac:spMkLst>
            <pc:docMk/>
            <pc:sldMk cId="2248115243" sldId="347"/>
            <ac:spMk id="7171" creationId="{1EBB49D9-6F05-4F71-9969-CA9CDC398240}"/>
          </ac:spMkLst>
        </pc:spChg>
        <pc:graphicFrameChg chg="mod modGraphic">
          <ac:chgData name="Boone Severson" userId="1d942a2b-e0b5-491a-b49e-d500fa0ad426" providerId="ADAL" clId="{C2FBA84C-6997-4843-9886-20E32362BFD9}" dt="2024-12-09T04:28:50.942" v="6368" actId="1036"/>
          <ac:graphicFrameMkLst>
            <pc:docMk/>
            <pc:sldMk cId="2248115243" sldId="347"/>
            <ac:graphicFrameMk id="10" creationId="{EE67C9F5-6D44-40AA-ABC9-D8FB38F13289}"/>
          </ac:graphicFrameMkLst>
        </pc:graphicFrameChg>
        <pc:cxnChg chg="del">
          <ac:chgData name="Boone Severson" userId="1d942a2b-e0b5-491a-b49e-d500fa0ad426" providerId="ADAL" clId="{C2FBA84C-6997-4843-9886-20E32362BFD9}" dt="2024-12-09T04:28:56.425" v="6369" actId="478"/>
          <ac:cxnSpMkLst>
            <pc:docMk/>
            <pc:sldMk cId="2248115243" sldId="347"/>
            <ac:cxnSpMk id="11" creationId="{A4D0D090-B76D-4EA4-9567-576DE995DD0F}"/>
          </ac:cxnSpMkLst>
        </pc:cxnChg>
        <pc:cxnChg chg="del">
          <ac:chgData name="Boone Severson" userId="1d942a2b-e0b5-491a-b49e-d500fa0ad426" providerId="ADAL" clId="{C2FBA84C-6997-4843-9886-20E32362BFD9}" dt="2024-12-09T04:28:59.875" v="6370" actId="478"/>
          <ac:cxnSpMkLst>
            <pc:docMk/>
            <pc:sldMk cId="2248115243" sldId="347"/>
            <ac:cxnSpMk id="14" creationId="{D322201F-9EAA-48E3-901F-3157AAE7D1A2}"/>
          </ac:cxnSpMkLst>
        </pc:cxnChg>
      </pc:sldChg>
      <pc:sldChg chg="modSp mod">
        <pc:chgData name="Boone Severson" userId="1d942a2b-e0b5-491a-b49e-d500fa0ad426" providerId="ADAL" clId="{C2FBA84C-6997-4843-9886-20E32362BFD9}" dt="2024-12-09T05:01:46.896" v="6472" actId="20577"/>
        <pc:sldMkLst>
          <pc:docMk/>
          <pc:sldMk cId="2392838502" sldId="495"/>
        </pc:sldMkLst>
        <pc:spChg chg="mod">
          <ac:chgData name="Boone Severson" userId="1d942a2b-e0b5-491a-b49e-d500fa0ad426" providerId="ADAL" clId="{C2FBA84C-6997-4843-9886-20E32362BFD9}" dt="2024-12-09T05:01:46.896" v="6472" actId="20577"/>
          <ac:spMkLst>
            <pc:docMk/>
            <pc:sldMk cId="2392838502" sldId="495"/>
            <ac:spMk id="3" creationId="{00000000-0000-0000-0000-000000000000}"/>
          </ac:spMkLst>
        </pc:spChg>
      </pc:sldChg>
      <pc:sldChg chg="add del">
        <pc:chgData name="Boone Severson" userId="1d942a2b-e0b5-491a-b49e-d500fa0ad426" providerId="ADAL" clId="{C2FBA84C-6997-4843-9886-20E32362BFD9}" dt="2024-12-08T04:26:37.710" v="1256" actId="2696"/>
        <pc:sldMkLst>
          <pc:docMk/>
          <pc:sldMk cId="2083144665" sldId="660"/>
        </pc:sldMkLst>
      </pc:sldChg>
      <pc:sldChg chg="add del">
        <pc:chgData name="Boone Severson" userId="1d942a2b-e0b5-491a-b49e-d500fa0ad426" providerId="ADAL" clId="{C2FBA84C-6997-4843-9886-20E32362BFD9}" dt="2024-12-08T04:26:39.003" v="1259" actId="2696"/>
        <pc:sldMkLst>
          <pc:docMk/>
          <pc:sldMk cId="746396038" sldId="662"/>
        </pc:sldMkLst>
      </pc:sldChg>
      <pc:sldChg chg="add del">
        <pc:chgData name="Boone Severson" userId="1d942a2b-e0b5-491a-b49e-d500fa0ad426" providerId="ADAL" clId="{C2FBA84C-6997-4843-9886-20E32362BFD9}" dt="2024-12-08T04:26:39.788" v="1260" actId="2696"/>
        <pc:sldMkLst>
          <pc:docMk/>
          <pc:sldMk cId="636215203" sldId="665"/>
        </pc:sldMkLst>
      </pc:sldChg>
      <pc:sldChg chg="add del">
        <pc:chgData name="Boone Severson" userId="1d942a2b-e0b5-491a-b49e-d500fa0ad426" providerId="ADAL" clId="{C2FBA84C-6997-4843-9886-20E32362BFD9}" dt="2024-12-08T06:11:39.242" v="5751" actId="2696"/>
        <pc:sldMkLst>
          <pc:docMk/>
          <pc:sldMk cId="3192962033" sldId="706"/>
        </pc:sldMkLst>
      </pc:sldChg>
      <pc:sldChg chg="add del">
        <pc:chgData name="Boone Severson" userId="1d942a2b-e0b5-491a-b49e-d500fa0ad426" providerId="ADAL" clId="{C2FBA84C-6997-4843-9886-20E32362BFD9}" dt="2024-12-08T04:26:36.163" v="1252" actId="2696"/>
        <pc:sldMkLst>
          <pc:docMk/>
          <pc:sldMk cId="661001989" sldId="711"/>
        </pc:sldMkLst>
      </pc:sldChg>
      <pc:sldChg chg="add del">
        <pc:chgData name="Boone Severson" userId="1d942a2b-e0b5-491a-b49e-d500fa0ad426" providerId="ADAL" clId="{C2FBA84C-6997-4843-9886-20E32362BFD9}" dt="2024-12-08T04:26:35.369" v="1250" actId="2696"/>
        <pc:sldMkLst>
          <pc:docMk/>
          <pc:sldMk cId="2031500327" sldId="724"/>
        </pc:sldMkLst>
      </pc:sldChg>
      <pc:sldChg chg="add del">
        <pc:chgData name="Boone Severson" userId="1d942a2b-e0b5-491a-b49e-d500fa0ad426" providerId="ADAL" clId="{C2FBA84C-6997-4843-9886-20E32362BFD9}" dt="2024-12-08T04:26:37.224" v="1255" actId="2696"/>
        <pc:sldMkLst>
          <pc:docMk/>
          <pc:sldMk cId="755774690" sldId="729"/>
        </pc:sldMkLst>
      </pc:sldChg>
      <pc:sldChg chg="add">
        <pc:chgData name="Boone Severson" userId="1d942a2b-e0b5-491a-b49e-d500fa0ad426" providerId="ADAL" clId="{C2FBA84C-6997-4843-9886-20E32362BFD9}" dt="2024-12-08T05:26:10.165" v="3598"/>
        <pc:sldMkLst>
          <pc:docMk/>
          <pc:sldMk cId="1246140948" sldId="731"/>
        </pc:sldMkLst>
      </pc:sldChg>
      <pc:sldChg chg="add del">
        <pc:chgData name="Boone Severson" userId="1d942a2b-e0b5-491a-b49e-d500fa0ad426" providerId="ADAL" clId="{C2FBA84C-6997-4843-9886-20E32362BFD9}" dt="2024-12-08T04:26:36.451" v="1253" actId="2696"/>
        <pc:sldMkLst>
          <pc:docMk/>
          <pc:sldMk cId="1630145754" sldId="734"/>
        </pc:sldMkLst>
      </pc:sldChg>
      <pc:sldChg chg="ord">
        <pc:chgData name="Boone Severson" userId="1d942a2b-e0b5-491a-b49e-d500fa0ad426" providerId="ADAL" clId="{C2FBA84C-6997-4843-9886-20E32362BFD9}" dt="2024-12-08T06:11:35.428" v="5750" actId="20578"/>
        <pc:sldMkLst>
          <pc:docMk/>
          <pc:sldMk cId="3400317748" sldId="736"/>
        </pc:sldMkLst>
      </pc:sldChg>
      <pc:sldChg chg="add">
        <pc:chgData name="Boone Severson" userId="1d942a2b-e0b5-491a-b49e-d500fa0ad426" providerId="ADAL" clId="{C2FBA84C-6997-4843-9886-20E32362BFD9}" dt="2024-12-08T06:24:41.387" v="5793"/>
        <pc:sldMkLst>
          <pc:docMk/>
          <pc:sldMk cId="1173871329" sldId="738"/>
        </pc:sldMkLst>
      </pc:sldChg>
      <pc:sldChg chg="add del">
        <pc:chgData name="Boone Severson" userId="1d942a2b-e0b5-491a-b49e-d500fa0ad426" providerId="ADAL" clId="{C2FBA84C-6997-4843-9886-20E32362BFD9}" dt="2024-12-08T04:26:36.858" v="1254" actId="2696"/>
        <pc:sldMkLst>
          <pc:docMk/>
          <pc:sldMk cId="944418959" sldId="746"/>
        </pc:sldMkLst>
      </pc:sldChg>
      <pc:sldChg chg="ord">
        <pc:chgData name="Boone Severson" userId="1d942a2b-e0b5-491a-b49e-d500fa0ad426" providerId="ADAL" clId="{C2FBA84C-6997-4843-9886-20E32362BFD9}" dt="2024-12-08T04:53:49.423" v="1808" actId="20578"/>
        <pc:sldMkLst>
          <pc:docMk/>
          <pc:sldMk cId="3043974641" sldId="748"/>
        </pc:sldMkLst>
      </pc:sldChg>
      <pc:sldChg chg="ord">
        <pc:chgData name="Boone Severson" userId="1d942a2b-e0b5-491a-b49e-d500fa0ad426" providerId="ADAL" clId="{C2FBA84C-6997-4843-9886-20E32362BFD9}" dt="2024-12-08T04:53:49.423" v="1808" actId="20578"/>
        <pc:sldMkLst>
          <pc:docMk/>
          <pc:sldMk cId="488610041" sldId="749"/>
        </pc:sldMkLst>
      </pc:sldChg>
      <pc:sldChg chg="add del">
        <pc:chgData name="Boone Severson" userId="1d942a2b-e0b5-491a-b49e-d500fa0ad426" providerId="ADAL" clId="{C2FBA84C-6997-4843-9886-20E32362BFD9}" dt="2024-12-08T04:26:38.264" v="1257" actId="2696"/>
        <pc:sldMkLst>
          <pc:docMk/>
          <pc:sldMk cId="4040512231" sldId="750"/>
        </pc:sldMkLst>
      </pc:sldChg>
      <pc:sldChg chg="add del">
        <pc:chgData name="Boone Severson" userId="1d942a2b-e0b5-491a-b49e-d500fa0ad426" providerId="ADAL" clId="{C2FBA84C-6997-4843-9886-20E32362BFD9}" dt="2024-12-08T04:26:38.577" v="1258" actId="2696"/>
        <pc:sldMkLst>
          <pc:docMk/>
          <pc:sldMk cId="2955284984" sldId="752"/>
        </pc:sldMkLst>
      </pc:sldChg>
      <pc:sldChg chg="modSp mod ord">
        <pc:chgData name="Boone Severson" userId="1d942a2b-e0b5-491a-b49e-d500fa0ad426" providerId="ADAL" clId="{C2FBA84C-6997-4843-9886-20E32362BFD9}" dt="2024-12-09T04:45:11.666" v="6464" actId="20577"/>
        <pc:sldMkLst>
          <pc:docMk/>
          <pc:sldMk cId="2581072820" sldId="754"/>
        </pc:sldMkLst>
        <pc:spChg chg="mod">
          <ac:chgData name="Boone Severson" userId="1d942a2b-e0b5-491a-b49e-d500fa0ad426" providerId="ADAL" clId="{C2FBA84C-6997-4843-9886-20E32362BFD9}" dt="2024-12-09T04:45:11.666" v="6464" actId="20577"/>
          <ac:spMkLst>
            <pc:docMk/>
            <pc:sldMk cId="2581072820" sldId="754"/>
            <ac:spMk id="39940" creationId="{00000000-0000-0000-0000-000000000000}"/>
          </ac:spMkLst>
        </pc:spChg>
      </pc:sldChg>
      <pc:sldChg chg="modSp mod ord">
        <pc:chgData name="Boone Severson" userId="1d942a2b-e0b5-491a-b49e-d500fa0ad426" providerId="ADAL" clId="{C2FBA84C-6997-4843-9886-20E32362BFD9}" dt="2024-12-09T04:45:23.703" v="6468" actId="20577"/>
        <pc:sldMkLst>
          <pc:docMk/>
          <pc:sldMk cId="148817257" sldId="756"/>
        </pc:sldMkLst>
        <pc:spChg chg="mod">
          <ac:chgData name="Boone Severson" userId="1d942a2b-e0b5-491a-b49e-d500fa0ad426" providerId="ADAL" clId="{C2FBA84C-6997-4843-9886-20E32362BFD9}" dt="2024-12-09T04:45:23.703" v="6468" actId="20577"/>
          <ac:spMkLst>
            <pc:docMk/>
            <pc:sldMk cId="148817257" sldId="756"/>
            <ac:spMk id="39940" creationId="{00000000-0000-0000-0000-000000000000}"/>
          </ac:spMkLst>
        </pc:spChg>
      </pc:sldChg>
      <pc:sldChg chg="modSp mod ord">
        <pc:chgData name="Boone Severson" userId="1d942a2b-e0b5-491a-b49e-d500fa0ad426" providerId="ADAL" clId="{C2FBA84C-6997-4843-9886-20E32362BFD9}" dt="2024-12-09T04:45:18.703" v="6466" actId="20577"/>
        <pc:sldMkLst>
          <pc:docMk/>
          <pc:sldMk cId="2802666303" sldId="757"/>
        </pc:sldMkLst>
        <pc:spChg chg="mod">
          <ac:chgData name="Boone Severson" userId="1d942a2b-e0b5-491a-b49e-d500fa0ad426" providerId="ADAL" clId="{C2FBA84C-6997-4843-9886-20E32362BFD9}" dt="2024-12-09T04:45:18.703" v="6466" actId="20577"/>
          <ac:spMkLst>
            <pc:docMk/>
            <pc:sldMk cId="2802666303" sldId="757"/>
            <ac:spMk id="39940" creationId="{00000000-0000-0000-0000-000000000000}"/>
          </ac:spMkLst>
        </pc:spChg>
      </pc:sldChg>
      <pc:sldChg chg="modSp mod ord">
        <pc:chgData name="Boone Severson" userId="1d942a2b-e0b5-491a-b49e-d500fa0ad426" providerId="ADAL" clId="{C2FBA84C-6997-4843-9886-20E32362BFD9}" dt="2024-12-09T04:45:29.224" v="6470" actId="20577"/>
        <pc:sldMkLst>
          <pc:docMk/>
          <pc:sldMk cId="335837069" sldId="758"/>
        </pc:sldMkLst>
        <pc:spChg chg="mod">
          <ac:chgData name="Boone Severson" userId="1d942a2b-e0b5-491a-b49e-d500fa0ad426" providerId="ADAL" clId="{C2FBA84C-6997-4843-9886-20E32362BFD9}" dt="2024-12-09T04:45:29.224" v="6470" actId="20577"/>
          <ac:spMkLst>
            <pc:docMk/>
            <pc:sldMk cId="335837069" sldId="758"/>
            <ac:spMk id="39940" creationId="{00000000-0000-0000-0000-000000000000}"/>
          </ac:spMkLst>
        </pc:spChg>
      </pc:sldChg>
      <pc:sldChg chg="ord">
        <pc:chgData name="Boone Severson" userId="1d942a2b-e0b5-491a-b49e-d500fa0ad426" providerId="ADAL" clId="{C2FBA84C-6997-4843-9886-20E32362BFD9}" dt="2024-12-08T06:11:35.428" v="5750" actId="20578"/>
        <pc:sldMkLst>
          <pc:docMk/>
          <pc:sldMk cId="3645945507" sldId="759"/>
        </pc:sldMkLst>
      </pc:sldChg>
      <pc:sldChg chg="ord">
        <pc:chgData name="Boone Severson" userId="1d942a2b-e0b5-491a-b49e-d500fa0ad426" providerId="ADAL" clId="{C2FBA84C-6997-4843-9886-20E32362BFD9}" dt="2024-12-08T06:11:13.466" v="5749" actId="20578"/>
        <pc:sldMkLst>
          <pc:docMk/>
          <pc:sldMk cId="2541946621" sldId="761"/>
        </pc:sldMkLst>
      </pc:sldChg>
      <pc:sldChg chg="ord">
        <pc:chgData name="Boone Severson" userId="1d942a2b-e0b5-491a-b49e-d500fa0ad426" providerId="ADAL" clId="{C2FBA84C-6997-4843-9886-20E32362BFD9}" dt="2024-12-08T06:11:13.466" v="5749" actId="20578"/>
        <pc:sldMkLst>
          <pc:docMk/>
          <pc:sldMk cId="3461249126" sldId="763"/>
        </pc:sldMkLst>
      </pc:sldChg>
      <pc:sldChg chg="ord">
        <pc:chgData name="Boone Severson" userId="1d942a2b-e0b5-491a-b49e-d500fa0ad426" providerId="ADAL" clId="{C2FBA84C-6997-4843-9886-20E32362BFD9}" dt="2024-12-08T06:11:13.466" v="5749" actId="20578"/>
        <pc:sldMkLst>
          <pc:docMk/>
          <pc:sldMk cId="671529067" sldId="764"/>
        </pc:sldMkLst>
      </pc:sldChg>
      <pc:sldChg chg="ord">
        <pc:chgData name="Boone Severson" userId="1d942a2b-e0b5-491a-b49e-d500fa0ad426" providerId="ADAL" clId="{C2FBA84C-6997-4843-9886-20E32362BFD9}" dt="2024-12-08T06:11:13.466" v="5749" actId="20578"/>
        <pc:sldMkLst>
          <pc:docMk/>
          <pc:sldMk cId="650441596" sldId="765"/>
        </pc:sldMkLst>
      </pc:sldChg>
      <pc:sldChg chg="ord">
        <pc:chgData name="Boone Severson" userId="1d942a2b-e0b5-491a-b49e-d500fa0ad426" providerId="ADAL" clId="{C2FBA84C-6997-4843-9886-20E32362BFD9}" dt="2024-12-08T06:11:13.466" v="5749" actId="20578"/>
        <pc:sldMkLst>
          <pc:docMk/>
          <pc:sldMk cId="87687662" sldId="766"/>
        </pc:sldMkLst>
      </pc:sldChg>
      <pc:sldChg chg="ord">
        <pc:chgData name="Boone Severson" userId="1d942a2b-e0b5-491a-b49e-d500fa0ad426" providerId="ADAL" clId="{C2FBA84C-6997-4843-9886-20E32362BFD9}" dt="2024-12-08T06:11:13.466" v="5749" actId="20578"/>
        <pc:sldMkLst>
          <pc:docMk/>
          <pc:sldMk cId="4213224079" sldId="767"/>
        </pc:sldMkLst>
      </pc:sldChg>
      <pc:sldChg chg="ord">
        <pc:chgData name="Boone Severson" userId="1d942a2b-e0b5-491a-b49e-d500fa0ad426" providerId="ADAL" clId="{C2FBA84C-6997-4843-9886-20E32362BFD9}" dt="2024-12-08T06:11:13.466" v="5749" actId="20578"/>
        <pc:sldMkLst>
          <pc:docMk/>
          <pc:sldMk cId="1270735152" sldId="768"/>
        </pc:sldMkLst>
      </pc:sldChg>
      <pc:sldChg chg="add del">
        <pc:chgData name="Boone Severson" userId="1d942a2b-e0b5-491a-b49e-d500fa0ad426" providerId="ADAL" clId="{C2FBA84C-6997-4843-9886-20E32362BFD9}" dt="2024-12-08T04:26:40.271" v="1261" actId="2696"/>
        <pc:sldMkLst>
          <pc:docMk/>
          <pc:sldMk cId="3022034606" sldId="772"/>
        </pc:sldMkLst>
      </pc:sldChg>
      <pc:sldChg chg="del">
        <pc:chgData name="Boone Severson" userId="1d942a2b-e0b5-491a-b49e-d500fa0ad426" providerId="ADAL" clId="{C2FBA84C-6997-4843-9886-20E32362BFD9}" dt="2024-12-07T22:15:54.971" v="11" actId="2696"/>
        <pc:sldMkLst>
          <pc:docMk/>
          <pc:sldMk cId="3397960016" sldId="777"/>
        </pc:sldMkLst>
      </pc:sldChg>
      <pc:sldChg chg="modSp mod ord">
        <pc:chgData name="Boone Severson" userId="1d942a2b-e0b5-491a-b49e-d500fa0ad426" providerId="ADAL" clId="{C2FBA84C-6997-4843-9886-20E32362BFD9}" dt="2024-12-09T03:37:48.186" v="6235" actId="20577"/>
        <pc:sldMkLst>
          <pc:docMk/>
          <pc:sldMk cId="1378978067" sldId="779"/>
        </pc:sldMkLst>
        <pc:spChg chg="mod">
          <ac:chgData name="Boone Severson" userId="1d942a2b-e0b5-491a-b49e-d500fa0ad426" providerId="ADAL" clId="{C2FBA84C-6997-4843-9886-20E32362BFD9}" dt="2024-12-09T03:37:48.186" v="6235" actId="20577"/>
          <ac:spMkLst>
            <pc:docMk/>
            <pc:sldMk cId="1378978067" sldId="779"/>
            <ac:spMk id="39941" creationId="{00000000-0000-0000-0000-000000000000}"/>
          </ac:spMkLst>
        </pc:spChg>
      </pc:sldChg>
      <pc:sldChg chg="modSp mod ord">
        <pc:chgData name="Boone Severson" userId="1d942a2b-e0b5-491a-b49e-d500fa0ad426" providerId="ADAL" clId="{C2FBA84C-6997-4843-9886-20E32362BFD9}" dt="2024-12-09T03:38:37.455" v="6239" actId="20577"/>
        <pc:sldMkLst>
          <pc:docMk/>
          <pc:sldMk cId="1676839503" sldId="780"/>
        </pc:sldMkLst>
        <pc:spChg chg="mod">
          <ac:chgData name="Boone Severson" userId="1d942a2b-e0b5-491a-b49e-d500fa0ad426" providerId="ADAL" clId="{C2FBA84C-6997-4843-9886-20E32362BFD9}" dt="2024-12-09T03:38:37.455" v="6239" actId="20577"/>
          <ac:spMkLst>
            <pc:docMk/>
            <pc:sldMk cId="1676839503" sldId="780"/>
            <ac:spMk id="39941" creationId="{00000000-0000-0000-0000-000000000000}"/>
          </ac:spMkLst>
        </pc:spChg>
      </pc:sldChg>
      <pc:sldChg chg="modSp mod ord">
        <pc:chgData name="Boone Severson" userId="1d942a2b-e0b5-491a-b49e-d500fa0ad426" providerId="ADAL" clId="{C2FBA84C-6997-4843-9886-20E32362BFD9}" dt="2024-12-09T03:38:30.354" v="6237" actId="20577"/>
        <pc:sldMkLst>
          <pc:docMk/>
          <pc:sldMk cId="2225264571" sldId="781"/>
        </pc:sldMkLst>
        <pc:spChg chg="mod">
          <ac:chgData name="Boone Severson" userId="1d942a2b-e0b5-491a-b49e-d500fa0ad426" providerId="ADAL" clId="{C2FBA84C-6997-4843-9886-20E32362BFD9}" dt="2024-12-09T03:38:30.354" v="6237" actId="20577"/>
          <ac:spMkLst>
            <pc:docMk/>
            <pc:sldMk cId="2225264571" sldId="781"/>
            <ac:spMk id="39941" creationId="{00000000-0000-0000-0000-000000000000}"/>
          </ac:spMkLst>
        </pc:spChg>
      </pc:sldChg>
      <pc:sldChg chg="modSp mod ord">
        <pc:chgData name="Boone Severson" userId="1d942a2b-e0b5-491a-b49e-d500fa0ad426" providerId="ADAL" clId="{C2FBA84C-6997-4843-9886-20E32362BFD9}" dt="2024-12-09T03:38:45.692" v="6243" actId="20577"/>
        <pc:sldMkLst>
          <pc:docMk/>
          <pc:sldMk cId="1066870790" sldId="782"/>
        </pc:sldMkLst>
        <pc:spChg chg="mod">
          <ac:chgData name="Boone Severson" userId="1d942a2b-e0b5-491a-b49e-d500fa0ad426" providerId="ADAL" clId="{C2FBA84C-6997-4843-9886-20E32362BFD9}" dt="2024-12-09T03:38:45.692" v="6243" actId="20577"/>
          <ac:spMkLst>
            <pc:docMk/>
            <pc:sldMk cId="1066870790" sldId="782"/>
            <ac:spMk id="39941" creationId="{00000000-0000-0000-0000-000000000000}"/>
          </ac:spMkLst>
        </pc:spChg>
      </pc:sldChg>
      <pc:sldChg chg="modSp mod ord">
        <pc:chgData name="Boone Severson" userId="1d942a2b-e0b5-491a-b49e-d500fa0ad426" providerId="ADAL" clId="{C2FBA84C-6997-4843-9886-20E32362BFD9}" dt="2024-12-09T03:38:41.303" v="6241" actId="20577"/>
        <pc:sldMkLst>
          <pc:docMk/>
          <pc:sldMk cId="2918486766" sldId="783"/>
        </pc:sldMkLst>
        <pc:spChg chg="mod">
          <ac:chgData name="Boone Severson" userId="1d942a2b-e0b5-491a-b49e-d500fa0ad426" providerId="ADAL" clId="{C2FBA84C-6997-4843-9886-20E32362BFD9}" dt="2024-12-09T03:38:41.303" v="6241" actId="20577"/>
          <ac:spMkLst>
            <pc:docMk/>
            <pc:sldMk cId="2918486766" sldId="783"/>
            <ac:spMk id="39941" creationId="{00000000-0000-0000-0000-000000000000}"/>
          </ac:spMkLst>
        </pc:spChg>
      </pc:sldChg>
      <pc:sldChg chg="modSp mod ord">
        <pc:chgData name="Boone Severson" userId="1d942a2b-e0b5-491a-b49e-d500fa0ad426" providerId="ADAL" clId="{C2FBA84C-6997-4843-9886-20E32362BFD9}" dt="2024-12-09T03:38:50.629" v="6245" actId="20577"/>
        <pc:sldMkLst>
          <pc:docMk/>
          <pc:sldMk cId="1866288406" sldId="784"/>
        </pc:sldMkLst>
        <pc:spChg chg="mod">
          <ac:chgData name="Boone Severson" userId="1d942a2b-e0b5-491a-b49e-d500fa0ad426" providerId="ADAL" clId="{C2FBA84C-6997-4843-9886-20E32362BFD9}" dt="2024-12-09T03:38:50.629" v="6245" actId="20577"/>
          <ac:spMkLst>
            <pc:docMk/>
            <pc:sldMk cId="1866288406" sldId="784"/>
            <ac:spMk id="39941" creationId="{00000000-0000-0000-0000-000000000000}"/>
          </ac:spMkLst>
        </pc:spChg>
      </pc:sldChg>
      <pc:sldChg chg="ord">
        <pc:chgData name="Boone Severson" userId="1d942a2b-e0b5-491a-b49e-d500fa0ad426" providerId="ADAL" clId="{C2FBA84C-6997-4843-9886-20E32362BFD9}" dt="2024-12-08T06:11:35.428" v="5750" actId="20578"/>
        <pc:sldMkLst>
          <pc:docMk/>
          <pc:sldMk cId="1391393001" sldId="786"/>
        </pc:sldMkLst>
      </pc:sldChg>
      <pc:sldChg chg="ord">
        <pc:chgData name="Boone Severson" userId="1d942a2b-e0b5-491a-b49e-d500fa0ad426" providerId="ADAL" clId="{C2FBA84C-6997-4843-9886-20E32362BFD9}" dt="2024-12-08T06:11:35.428" v="5750" actId="20578"/>
        <pc:sldMkLst>
          <pc:docMk/>
          <pc:sldMk cId="1586420332" sldId="787"/>
        </pc:sldMkLst>
      </pc:sldChg>
      <pc:sldChg chg="ord">
        <pc:chgData name="Boone Severson" userId="1d942a2b-e0b5-491a-b49e-d500fa0ad426" providerId="ADAL" clId="{C2FBA84C-6997-4843-9886-20E32362BFD9}" dt="2024-12-08T06:11:35.428" v="5750" actId="20578"/>
        <pc:sldMkLst>
          <pc:docMk/>
          <pc:sldMk cId="4114416833" sldId="789"/>
        </pc:sldMkLst>
      </pc:sldChg>
      <pc:sldChg chg="ord">
        <pc:chgData name="Boone Severson" userId="1d942a2b-e0b5-491a-b49e-d500fa0ad426" providerId="ADAL" clId="{C2FBA84C-6997-4843-9886-20E32362BFD9}" dt="2024-12-08T06:11:35.428" v="5750" actId="20578"/>
        <pc:sldMkLst>
          <pc:docMk/>
          <pc:sldMk cId="3358041388" sldId="790"/>
        </pc:sldMkLst>
      </pc:sldChg>
      <pc:sldChg chg="ord">
        <pc:chgData name="Boone Severson" userId="1d942a2b-e0b5-491a-b49e-d500fa0ad426" providerId="ADAL" clId="{C2FBA84C-6997-4843-9886-20E32362BFD9}" dt="2024-12-08T06:11:35.428" v="5750" actId="20578"/>
        <pc:sldMkLst>
          <pc:docMk/>
          <pc:sldMk cId="3321696447" sldId="791"/>
        </pc:sldMkLst>
      </pc:sldChg>
      <pc:sldChg chg="ord">
        <pc:chgData name="Boone Severson" userId="1d942a2b-e0b5-491a-b49e-d500fa0ad426" providerId="ADAL" clId="{C2FBA84C-6997-4843-9886-20E32362BFD9}" dt="2024-12-08T06:11:35.428" v="5750" actId="20578"/>
        <pc:sldMkLst>
          <pc:docMk/>
          <pc:sldMk cId="4099281931" sldId="792"/>
        </pc:sldMkLst>
      </pc:sldChg>
      <pc:sldChg chg="ord">
        <pc:chgData name="Boone Severson" userId="1d942a2b-e0b5-491a-b49e-d500fa0ad426" providerId="ADAL" clId="{C2FBA84C-6997-4843-9886-20E32362BFD9}" dt="2024-12-08T06:18:10.580" v="5766" actId="20578"/>
        <pc:sldMkLst>
          <pc:docMk/>
          <pc:sldMk cId="204327327" sldId="793"/>
        </pc:sldMkLst>
      </pc:sldChg>
      <pc:sldChg chg="ord">
        <pc:chgData name="Boone Severson" userId="1d942a2b-e0b5-491a-b49e-d500fa0ad426" providerId="ADAL" clId="{C2FBA84C-6997-4843-9886-20E32362BFD9}" dt="2024-12-08T04:53:49.423" v="1808" actId="20578"/>
        <pc:sldMkLst>
          <pc:docMk/>
          <pc:sldMk cId="3062800790" sldId="794"/>
        </pc:sldMkLst>
      </pc:sldChg>
      <pc:sldChg chg="ord">
        <pc:chgData name="Boone Severson" userId="1d942a2b-e0b5-491a-b49e-d500fa0ad426" providerId="ADAL" clId="{C2FBA84C-6997-4843-9886-20E32362BFD9}" dt="2024-12-08T04:53:49.423" v="1808" actId="20578"/>
        <pc:sldMkLst>
          <pc:docMk/>
          <pc:sldMk cId="1398092122" sldId="795"/>
        </pc:sldMkLst>
      </pc:sldChg>
      <pc:sldChg chg="ord">
        <pc:chgData name="Boone Severson" userId="1d942a2b-e0b5-491a-b49e-d500fa0ad426" providerId="ADAL" clId="{C2FBA84C-6997-4843-9886-20E32362BFD9}" dt="2024-12-08T04:53:49.423" v="1808" actId="20578"/>
        <pc:sldMkLst>
          <pc:docMk/>
          <pc:sldMk cId="557847138" sldId="796"/>
        </pc:sldMkLst>
      </pc:sldChg>
      <pc:sldChg chg="ord">
        <pc:chgData name="Boone Severson" userId="1d942a2b-e0b5-491a-b49e-d500fa0ad426" providerId="ADAL" clId="{C2FBA84C-6997-4843-9886-20E32362BFD9}" dt="2024-12-08T04:53:49.423" v="1808" actId="20578"/>
        <pc:sldMkLst>
          <pc:docMk/>
          <pc:sldMk cId="2733507697" sldId="797"/>
        </pc:sldMkLst>
      </pc:sldChg>
      <pc:sldChg chg="ord">
        <pc:chgData name="Boone Severson" userId="1d942a2b-e0b5-491a-b49e-d500fa0ad426" providerId="ADAL" clId="{C2FBA84C-6997-4843-9886-20E32362BFD9}" dt="2024-12-08T04:53:49.423" v="1808" actId="20578"/>
        <pc:sldMkLst>
          <pc:docMk/>
          <pc:sldMk cId="453875634" sldId="798"/>
        </pc:sldMkLst>
      </pc:sldChg>
      <pc:sldChg chg="modSp add mod ord">
        <pc:chgData name="Boone Severson" userId="1d942a2b-e0b5-491a-b49e-d500fa0ad426" providerId="ADAL" clId="{C2FBA84C-6997-4843-9886-20E32362BFD9}" dt="2024-12-08T06:30:57.086" v="6151" actId="20577"/>
        <pc:sldMkLst>
          <pc:docMk/>
          <pc:sldMk cId="567604528" sldId="799"/>
        </pc:sldMkLst>
        <pc:spChg chg="mod">
          <ac:chgData name="Boone Severson" userId="1d942a2b-e0b5-491a-b49e-d500fa0ad426" providerId="ADAL" clId="{C2FBA84C-6997-4843-9886-20E32362BFD9}" dt="2024-12-08T06:30:57.086" v="6151" actId="20577"/>
          <ac:spMkLst>
            <pc:docMk/>
            <pc:sldMk cId="567604528" sldId="799"/>
            <ac:spMk id="6147" creationId="{143F1B7B-9CFC-4121-9F3D-4F3565D718B3}"/>
          </ac:spMkLst>
        </pc:spChg>
      </pc:sldChg>
      <pc:sldChg chg="modSp new del mod">
        <pc:chgData name="Boone Severson" userId="1d942a2b-e0b5-491a-b49e-d500fa0ad426" providerId="ADAL" clId="{C2FBA84C-6997-4843-9886-20E32362BFD9}" dt="2024-12-08T06:26:09.441" v="5795" actId="2696"/>
        <pc:sldMkLst>
          <pc:docMk/>
          <pc:sldMk cId="4258408394" sldId="800"/>
        </pc:sldMkLst>
        <pc:spChg chg="mod">
          <ac:chgData name="Boone Severson" userId="1d942a2b-e0b5-491a-b49e-d500fa0ad426" providerId="ADAL" clId="{C2FBA84C-6997-4843-9886-20E32362BFD9}" dt="2024-12-08T06:15:47.178" v="5762" actId="400"/>
          <ac:spMkLst>
            <pc:docMk/>
            <pc:sldMk cId="4258408394" sldId="800"/>
            <ac:spMk id="3" creationId="{E25EF8A1-1DD7-D499-DF10-E5BCA83B392C}"/>
          </ac:spMkLst>
        </pc:spChg>
      </pc:sldChg>
      <pc:sldChg chg="modSp new del mod">
        <pc:chgData name="Boone Severson" userId="1d942a2b-e0b5-491a-b49e-d500fa0ad426" providerId="ADAL" clId="{C2FBA84C-6997-4843-9886-20E32362BFD9}" dt="2024-12-08T06:26:10.015" v="5796" actId="2696"/>
        <pc:sldMkLst>
          <pc:docMk/>
          <pc:sldMk cId="2910431303" sldId="801"/>
        </pc:sldMkLst>
        <pc:spChg chg="mod">
          <ac:chgData name="Boone Severson" userId="1d942a2b-e0b5-491a-b49e-d500fa0ad426" providerId="ADAL" clId="{C2FBA84C-6997-4843-9886-20E32362BFD9}" dt="2024-12-08T04:04:56.446" v="409" actId="20577"/>
          <ac:spMkLst>
            <pc:docMk/>
            <pc:sldMk cId="2910431303" sldId="801"/>
            <ac:spMk id="2" creationId="{64A2D69C-B206-DCE6-0F73-71BCCA6577EF}"/>
          </ac:spMkLst>
        </pc:spChg>
        <pc:spChg chg="mod">
          <ac:chgData name="Boone Severson" userId="1d942a2b-e0b5-491a-b49e-d500fa0ad426" providerId="ADAL" clId="{C2FBA84C-6997-4843-9886-20E32362BFD9}" dt="2024-12-08T06:19:59.162" v="5767" actId="400"/>
          <ac:spMkLst>
            <pc:docMk/>
            <pc:sldMk cId="2910431303" sldId="801"/>
            <ac:spMk id="3" creationId="{ABB9BF46-73D3-92E9-A5E9-1F1EF8D60F86}"/>
          </ac:spMkLst>
        </pc:spChg>
      </pc:sldChg>
      <pc:sldChg chg="modSp new del mod">
        <pc:chgData name="Boone Severson" userId="1d942a2b-e0b5-491a-b49e-d500fa0ad426" providerId="ADAL" clId="{C2FBA84C-6997-4843-9886-20E32362BFD9}" dt="2024-12-08T06:26:10.549" v="5797" actId="2696"/>
        <pc:sldMkLst>
          <pc:docMk/>
          <pc:sldMk cId="181341924" sldId="802"/>
        </pc:sldMkLst>
        <pc:spChg chg="mod">
          <ac:chgData name="Boone Severson" userId="1d942a2b-e0b5-491a-b49e-d500fa0ad426" providerId="ADAL" clId="{C2FBA84C-6997-4843-9886-20E32362BFD9}" dt="2024-12-08T04:08:07.780" v="841" actId="20577"/>
          <ac:spMkLst>
            <pc:docMk/>
            <pc:sldMk cId="181341924" sldId="802"/>
            <ac:spMk id="2" creationId="{E557C2BE-9BBB-BA9F-B56B-30FCBE23AA68}"/>
          </ac:spMkLst>
        </pc:spChg>
        <pc:spChg chg="mod">
          <ac:chgData name="Boone Severson" userId="1d942a2b-e0b5-491a-b49e-d500fa0ad426" providerId="ADAL" clId="{C2FBA84C-6997-4843-9886-20E32362BFD9}" dt="2024-12-08T06:26:00.952" v="5794" actId="400"/>
          <ac:spMkLst>
            <pc:docMk/>
            <pc:sldMk cId="181341924" sldId="802"/>
            <ac:spMk id="3" creationId="{DD885774-2255-5CC9-E614-F2F2AD02C028}"/>
          </ac:spMkLst>
        </pc:spChg>
      </pc:sldChg>
      <pc:sldChg chg="addSp modSp new mod">
        <pc:chgData name="Boone Severson" userId="1d942a2b-e0b5-491a-b49e-d500fa0ad426" providerId="ADAL" clId="{C2FBA84C-6997-4843-9886-20E32362BFD9}" dt="2024-12-08T06:31:30.865" v="6175" actId="20577"/>
        <pc:sldMkLst>
          <pc:docMk/>
          <pc:sldMk cId="241384568" sldId="803"/>
        </pc:sldMkLst>
        <pc:spChg chg="mod">
          <ac:chgData name="Boone Severson" userId="1d942a2b-e0b5-491a-b49e-d500fa0ad426" providerId="ADAL" clId="{C2FBA84C-6997-4843-9886-20E32362BFD9}" dt="2024-12-08T04:12:16.410" v="1020" actId="20577"/>
          <ac:spMkLst>
            <pc:docMk/>
            <pc:sldMk cId="241384568" sldId="803"/>
            <ac:spMk id="2" creationId="{605FCFD1-767A-14E8-EBB6-408AA507E167}"/>
          </ac:spMkLst>
        </pc:spChg>
        <pc:spChg chg="mod">
          <ac:chgData name="Boone Severson" userId="1d942a2b-e0b5-491a-b49e-d500fa0ad426" providerId="ADAL" clId="{C2FBA84C-6997-4843-9886-20E32362BFD9}" dt="2024-12-08T06:31:30.865" v="6175" actId="20577"/>
          <ac:spMkLst>
            <pc:docMk/>
            <pc:sldMk cId="241384568" sldId="803"/>
            <ac:spMk id="3" creationId="{8A0C4BF6-9517-A3EF-2CD5-9B60B72CDE21}"/>
          </ac:spMkLst>
        </pc:spChg>
        <pc:picChg chg="add mod">
          <ac:chgData name="Boone Severson" userId="1d942a2b-e0b5-491a-b49e-d500fa0ad426" providerId="ADAL" clId="{C2FBA84C-6997-4843-9886-20E32362BFD9}" dt="2024-12-08T04:17:03.713" v="1238" actId="14100"/>
          <ac:picMkLst>
            <pc:docMk/>
            <pc:sldMk cId="241384568" sldId="803"/>
            <ac:picMk id="6" creationId="{8B98E088-ED44-209B-AE32-30CDD6B729DC}"/>
          </ac:picMkLst>
        </pc:picChg>
      </pc:sldChg>
      <pc:sldChg chg="modSp new mod">
        <pc:chgData name="Boone Severson" userId="1d942a2b-e0b5-491a-b49e-d500fa0ad426" providerId="ADAL" clId="{C2FBA84C-6997-4843-9886-20E32362BFD9}" dt="2024-12-08T04:46:45.277" v="1575" actId="20577"/>
        <pc:sldMkLst>
          <pc:docMk/>
          <pc:sldMk cId="1148629414" sldId="804"/>
        </pc:sldMkLst>
        <pc:spChg chg="mod">
          <ac:chgData name="Boone Severson" userId="1d942a2b-e0b5-491a-b49e-d500fa0ad426" providerId="ADAL" clId="{C2FBA84C-6997-4843-9886-20E32362BFD9}" dt="2024-12-08T04:27:48.817" v="1272" actId="20577"/>
          <ac:spMkLst>
            <pc:docMk/>
            <pc:sldMk cId="1148629414" sldId="804"/>
            <ac:spMk id="2" creationId="{B135650E-0991-27EA-2EE6-1FE3FF8229D6}"/>
          </ac:spMkLst>
        </pc:spChg>
        <pc:spChg chg="mod">
          <ac:chgData name="Boone Severson" userId="1d942a2b-e0b5-491a-b49e-d500fa0ad426" providerId="ADAL" clId="{C2FBA84C-6997-4843-9886-20E32362BFD9}" dt="2024-12-08T04:46:45.277" v="1575" actId="20577"/>
          <ac:spMkLst>
            <pc:docMk/>
            <pc:sldMk cId="1148629414" sldId="804"/>
            <ac:spMk id="3" creationId="{94DBA69D-D97E-86F8-3BF9-312B632C18A8}"/>
          </ac:spMkLst>
        </pc:spChg>
      </pc:sldChg>
      <pc:sldChg chg="add del">
        <pc:chgData name="Boone Severson" userId="1d942a2b-e0b5-491a-b49e-d500fa0ad426" providerId="ADAL" clId="{C2FBA84C-6997-4843-9886-20E32362BFD9}" dt="2024-12-08T04:26:35.813" v="1251" actId="2696"/>
        <pc:sldMkLst>
          <pc:docMk/>
          <pc:sldMk cId="1853456764" sldId="804"/>
        </pc:sldMkLst>
      </pc:sldChg>
      <pc:sldChg chg="modSp new mod">
        <pc:chgData name="Boone Severson" userId="1d942a2b-e0b5-491a-b49e-d500fa0ad426" providerId="ADAL" clId="{C2FBA84C-6997-4843-9886-20E32362BFD9}" dt="2024-12-08T04:52:07.836" v="1807" actId="20577"/>
        <pc:sldMkLst>
          <pc:docMk/>
          <pc:sldMk cId="1729779448" sldId="805"/>
        </pc:sldMkLst>
        <pc:spChg chg="mod">
          <ac:chgData name="Boone Severson" userId="1d942a2b-e0b5-491a-b49e-d500fa0ad426" providerId="ADAL" clId="{C2FBA84C-6997-4843-9886-20E32362BFD9}" dt="2024-12-08T04:46:28.553" v="1552" actId="20577"/>
          <ac:spMkLst>
            <pc:docMk/>
            <pc:sldMk cId="1729779448" sldId="805"/>
            <ac:spMk id="2" creationId="{1AC4C695-91E1-8441-7BB5-5EAC220EE24F}"/>
          </ac:spMkLst>
        </pc:spChg>
        <pc:spChg chg="mod">
          <ac:chgData name="Boone Severson" userId="1d942a2b-e0b5-491a-b49e-d500fa0ad426" providerId="ADAL" clId="{C2FBA84C-6997-4843-9886-20E32362BFD9}" dt="2024-12-08T04:52:07.836" v="1807" actId="20577"/>
          <ac:spMkLst>
            <pc:docMk/>
            <pc:sldMk cId="1729779448" sldId="805"/>
            <ac:spMk id="3" creationId="{E903D2C2-659A-4930-FF80-2E320928F78B}"/>
          </ac:spMkLst>
        </pc:spChg>
      </pc:sldChg>
      <pc:sldChg chg="modSp new mod">
        <pc:chgData name="Boone Severson" userId="1d942a2b-e0b5-491a-b49e-d500fa0ad426" providerId="ADAL" clId="{C2FBA84C-6997-4843-9886-20E32362BFD9}" dt="2024-12-08T05:08:05.451" v="2644" actId="20577"/>
        <pc:sldMkLst>
          <pc:docMk/>
          <pc:sldMk cId="3397507444" sldId="806"/>
        </pc:sldMkLst>
        <pc:spChg chg="mod">
          <ac:chgData name="Boone Severson" userId="1d942a2b-e0b5-491a-b49e-d500fa0ad426" providerId="ADAL" clId="{C2FBA84C-6997-4843-9886-20E32362BFD9}" dt="2024-12-08T04:58:19.418" v="1848" actId="20577"/>
          <ac:spMkLst>
            <pc:docMk/>
            <pc:sldMk cId="3397507444" sldId="806"/>
            <ac:spMk id="2" creationId="{7BCDBD04-1EBE-5B08-FEBF-5541BEBA2B19}"/>
          </ac:spMkLst>
        </pc:spChg>
        <pc:spChg chg="mod">
          <ac:chgData name="Boone Severson" userId="1d942a2b-e0b5-491a-b49e-d500fa0ad426" providerId="ADAL" clId="{C2FBA84C-6997-4843-9886-20E32362BFD9}" dt="2024-12-08T05:08:05.451" v="2644" actId="20577"/>
          <ac:spMkLst>
            <pc:docMk/>
            <pc:sldMk cId="3397507444" sldId="806"/>
            <ac:spMk id="3" creationId="{9D7D4E34-19DA-15AD-F1A2-B1F2EB386881}"/>
          </ac:spMkLst>
        </pc:spChg>
      </pc:sldChg>
      <pc:sldChg chg="addSp modSp new mod modNotesTx">
        <pc:chgData name="Boone Severson" userId="1d942a2b-e0b5-491a-b49e-d500fa0ad426" providerId="ADAL" clId="{C2FBA84C-6997-4843-9886-20E32362BFD9}" dt="2024-12-08T05:26:04.152" v="3597"/>
        <pc:sldMkLst>
          <pc:docMk/>
          <pc:sldMk cId="105164569" sldId="807"/>
        </pc:sldMkLst>
        <pc:spChg chg="mod">
          <ac:chgData name="Boone Severson" userId="1d942a2b-e0b5-491a-b49e-d500fa0ad426" providerId="ADAL" clId="{C2FBA84C-6997-4843-9886-20E32362BFD9}" dt="2024-12-08T05:09:38.040" v="2661" actId="20577"/>
          <ac:spMkLst>
            <pc:docMk/>
            <pc:sldMk cId="105164569" sldId="807"/>
            <ac:spMk id="2" creationId="{6CBD81CF-5977-5089-106B-0B2BDE13BA51}"/>
          </ac:spMkLst>
        </pc:spChg>
        <pc:spChg chg="mod">
          <ac:chgData name="Boone Severson" userId="1d942a2b-e0b5-491a-b49e-d500fa0ad426" providerId="ADAL" clId="{C2FBA84C-6997-4843-9886-20E32362BFD9}" dt="2024-12-08T05:23:12.811" v="3378" actId="20577"/>
          <ac:spMkLst>
            <pc:docMk/>
            <pc:sldMk cId="105164569" sldId="807"/>
            <ac:spMk id="3" creationId="{BE232D4E-FD64-A5B8-2A42-F7D7FFCFB22B}"/>
          </ac:spMkLst>
        </pc:spChg>
        <pc:spChg chg="add mod">
          <ac:chgData name="Boone Severson" userId="1d942a2b-e0b5-491a-b49e-d500fa0ad426" providerId="ADAL" clId="{C2FBA84C-6997-4843-9886-20E32362BFD9}" dt="2024-12-08T05:18:41.405" v="3282" actId="1076"/>
          <ac:spMkLst>
            <pc:docMk/>
            <pc:sldMk cId="105164569" sldId="807"/>
            <ac:spMk id="5" creationId="{CCD5CEA7-1986-95AF-8FBC-C397C3CF7FF6}"/>
          </ac:spMkLst>
        </pc:spChg>
        <pc:spChg chg="mod">
          <ac:chgData name="Boone Severson" userId="1d942a2b-e0b5-491a-b49e-d500fa0ad426" providerId="ADAL" clId="{C2FBA84C-6997-4843-9886-20E32362BFD9}" dt="2024-12-08T05:26:04.152" v="3597"/>
          <ac:spMkLst>
            <pc:docMk/>
            <pc:sldMk cId="105164569" sldId="807"/>
            <ac:spMk id="12" creationId="{869783FF-E310-6974-64EF-1EAA6ECF231B}"/>
          </ac:spMkLst>
        </pc:spChg>
        <pc:spChg chg="mod">
          <ac:chgData name="Boone Severson" userId="1d942a2b-e0b5-491a-b49e-d500fa0ad426" providerId="ADAL" clId="{C2FBA84C-6997-4843-9886-20E32362BFD9}" dt="2024-12-08T05:26:04.152" v="3597"/>
          <ac:spMkLst>
            <pc:docMk/>
            <pc:sldMk cId="105164569" sldId="807"/>
            <ac:spMk id="13" creationId="{4CADC042-2F76-2A06-1132-DE65FFF6DC60}"/>
          </ac:spMkLst>
        </pc:spChg>
        <pc:spChg chg="mod">
          <ac:chgData name="Boone Severson" userId="1d942a2b-e0b5-491a-b49e-d500fa0ad426" providerId="ADAL" clId="{C2FBA84C-6997-4843-9886-20E32362BFD9}" dt="2024-12-08T05:26:04.152" v="3597"/>
          <ac:spMkLst>
            <pc:docMk/>
            <pc:sldMk cId="105164569" sldId="807"/>
            <ac:spMk id="18" creationId="{23161140-8B72-525F-ABEF-C6F1A50AFF4A}"/>
          </ac:spMkLst>
        </pc:spChg>
        <pc:grpChg chg="add mod">
          <ac:chgData name="Boone Severson" userId="1d942a2b-e0b5-491a-b49e-d500fa0ad426" providerId="ADAL" clId="{C2FBA84C-6997-4843-9886-20E32362BFD9}" dt="2024-12-08T05:26:04.152" v="3597"/>
          <ac:grpSpMkLst>
            <pc:docMk/>
            <pc:sldMk cId="105164569" sldId="807"/>
            <ac:grpSpMk id="6" creationId="{8F66FF2D-A079-26F5-C1E4-138B11557650}"/>
          </ac:grpSpMkLst>
        </pc:grpChg>
        <pc:picChg chg="mod">
          <ac:chgData name="Boone Severson" userId="1d942a2b-e0b5-491a-b49e-d500fa0ad426" providerId="ADAL" clId="{C2FBA84C-6997-4843-9886-20E32362BFD9}" dt="2024-12-08T05:26:04.152" v="3597"/>
          <ac:picMkLst>
            <pc:docMk/>
            <pc:sldMk cId="105164569" sldId="807"/>
            <ac:picMk id="11" creationId="{508E744F-FAB8-2189-CEEF-69B4B4347B2A}"/>
          </ac:picMkLst>
        </pc:picChg>
        <pc:cxnChg chg="mod">
          <ac:chgData name="Boone Severson" userId="1d942a2b-e0b5-491a-b49e-d500fa0ad426" providerId="ADAL" clId="{C2FBA84C-6997-4843-9886-20E32362BFD9}" dt="2024-12-08T05:26:04.152" v="3597"/>
          <ac:cxnSpMkLst>
            <pc:docMk/>
            <pc:sldMk cId="105164569" sldId="807"/>
            <ac:cxnSpMk id="7" creationId="{75FBB947-DC17-0B21-36D5-70CDC68161C1}"/>
          </ac:cxnSpMkLst>
        </pc:cxnChg>
        <pc:cxnChg chg="mod">
          <ac:chgData name="Boone Severson" userId="1d942a2b-e0b5-491a-b49e-d500fa0ad426" providerId="ADAL" clId="{C2FBA84C-6997-4843-9886-20E32362BFD9}" dt="2024-12-08T05:26:04.152" v="3597"/>
          <ac:cxnSpMkLst>
            <pc:docMk/>
            <pc:sldMk cId="105164569" sldId="807"/>
            <ac:cxnSpMk id="8" creationId="{20340ACA-822E-A5C8-C19A-0DEA533A5398}"/>
          </ac:cxnSpMkLst>
        </pc:cxnChg>
        <pc:cxnChg chg="mod">
          <ac:chgData name="Boone Severson" userId="1d942a2b-e0b5-491a-b49e-d500fa0ad426" providerId="ADAL" clId="{C2FBA84C-6997-4843-9886-20E32362BFD9}" dt="2024-12-08T05:26:04.152" v="3597"/>
          <ac:cxnSpMkLst>
            <pc:docMk/>
            <pc:sldMk cId="105164569" sldId="807"/>
            <ac:cxnSpMk id="9" creationId="{08354DE3-6F6E-3ABC-FDC2-1820C8FF3082}"/>
          </ac:cxnSpMkLst>
        </pc:cxnChg>
        <pc:cxnChg chg="mod">
          <ac:chgData name="Boone Severson" userId="1d942a2b-e0b5-491a-b49e-d500fa0ad426" providerId="ADAL" clId="{C2FBA84C-6997-4843-9886-20E32362BFD9}" dt="2024-12-08T05:26:04.152" v="3597"/>
          <ac:cxnSpMkLst>
            <pc:docMk/>
            <pc:sldMk cId="105164569" sldId="807"/>
            <ac:cxnSpMk id="10" creationId="{55FF8E12-2C80-901A-573E-B991EEA7F126}"/>
          </ac:cxnSpMkLst>
        </pc:cxnChg>
        <pc:cxnChg chg="mod">
          <ac:chgData name="Boone Severson" userId="1d942a2b-e0b5-491a-b49e-d500fa0ad426" providerId="ADAL" clId="{C2FBA84C-6997-4843-9886-20E32362BFD9}" dt="2024-12-08T05:26:04.152" v="3597"/>
          <ac:cxnSpMkLst>
            <pc:docMk/>
            <pc:sldMk cId="105164569" sldId="807"/>
            <ac:cxnSpMk id="14" creationId="{550902FE-7D5E-539A-0D89-B3588190ACD5}"/>
          </ac:cxnSpMkLst>
        </pc:cxnChg>
        <pc:cxnChg chg="mod">
          <ac:chgData name="Boone Severson" userId="1d942a2b-e0b5-491a-b49e-d500fa0ad426" providerId="ADAL" clId="{C2FBA84C-6997-4843-9886-20E32362BFD9}" dt="2024-12-08T05:26:04.152" v="3597"/>
          <ac:cxnSpMkLst>
            <pc:docMk/>
            <pc:sldMk cId="105164569" sldId="807"/>
            <ac:cxnSpMk id="15" creationId="{6A61522B-0447-93CF-6552-24F78F68DC69}"/>
          </ac:cxnSpMkLst>
        </pc:cxnChg>
        <pc:cxnChg chg="mod">
          <ac:chgData name="Boone Severson" userId="1d942a2b-e0b5-491a-b49e-d500fa0ad426" providerId="ADAL" clId="{C2FBA84C-6997-4843-9886-20E32362BFD9}" dt="2024-12-08T05:26:04.152" v="3597"/>
          <ac:cxnSpMkLst>
            <pc:docMk/>
            <pc:sldMk cId="105164569" sldId="807"/>
            <ac:cxnSpMk id="16" creationId="{595F5021-C56A-06B1-64A8-A6F51722979F}"/>
          </ac:cxnSpMkLst>
        </pc:cxnChg>
        <pc:cxnChg chg="mod">
          <ac:chgData name="Boone Severson" userId="1d942a2b-e0b5-491a-b49e-d500fa0ad426" providerId="ADAL" clId="{C2FBA84C-6997-4843-9886-20E32362BFD9}" dt="2024-12-08T05:26:04.152" v="3597"/>
          <ac:cxnSpMkLst>
            <pc:docMk/>
            <pc:sldMk cId="105164569" sldId="807"/>
            <ac:cxnSpMk id="17" creationId="{5D4B72E7-9535-836B-7416-C4BF1735A87A}"/>
          </ac:cxnSpMkLst>
        </pc:cxnChg>
        <pc:cxnChg chg="mod">
          <ac:chgData name="Boone Severson" userId="1d942a2b-e0b5-491a-b49e-d500fa0ad426" providerId="ADAL" clId="{C2FBA84C-6997-4843-9886-20E32362BFD9}" dt="2024-12-08T05:26:04.152" v="3597"/>
          <ac:cxnSpMkLst>
            <pc:docMk/>
            <pc:sldMk cId="105164569" sldId="807"/>
            <ac:cxnSpMk id="19" creationId="{047D85B0-228B-3A08-A223-FDF761D9D685}"/>
          </ac:cxnSpMkLst>
        </pc:cxnChg>
      </pc:sldChg>
      <pc:sldChg chg="addSp delSp modSp new del mod">
        <pc:chgData name="Boone Severson" userId="1d942a2b-e0b5-491a-b49e-d500fa0ad426" providerId="ADAL" clId="{C2FBA84C-6997-4843-9886-20E32362BFD9}" dt="2024-12-08T05:26:12.126" v="3599" actId="2696"/>
        <pc:sldMkLst>
          <pc:docMk/>
          <pc:sldMk cId="3395841331" sldId="808"/>
        </pc:sldMkLst>
        <pc:spChg chg="mod">
          <ac:chgData name="Boone Severson" userId="1d942a2b-e0b5-491a-b49e-d500fa0ad426" providerId="ADAL" clId="{C2FBA84C-6997-4843-9886-20E32362BFD9}" dt="2024-12-08T05:23:42.618" v="3415" actId="20577"/>
          <ac:spMkLst>
            <pc:docMk/>
            <pc:sldMk cId="3395841331" sldId="808"/>
            <ac:spMk id="2" creationId="{7C95B5FB-70E2-15E7-4D8D-95CFD5E2275A}"/>
          </ac:spMkLst>
        </pc:spChg>
        <pc:spChg chg="del mod">
          <ac:chgData name="Boone Severson" userId="1d942a2b-e0b5-491a-b49e-d500fa0ad426" providerId="ADAL" clId="{C2FBA84C-6997-4843-9886-20E32362BFD9}" dt="2024-12-08T05:25:56.948" v="3596" actId="478"/>
          <ac:spMkLst>
            <pc:docMk/>
            <pc:sldMk cId="3395841331" sldId="808"/>
            <ac:spMk id="3" creationId="{69E709B5-7C72-DE83-31D7-98896BB5E728}"/>
          </ac:spMkLst>
        </pc:spChg>
        <pc:spChg chg="add mod">
          <ac:chgData name="Boone Severson" userId="1d942a2b-e0b5-491a-b49e-d500fa0ad426" providerId="ADAL" clId="{C2FBA84C-6997-4843-9886-20E32362BFD9}" dt="2024-12-08T05:25:38.528" v="3558"/>
          <ac:spMkLst>
            <pc:docMk/>
            <pc:sldMk cId="3395841331" sldId="808"/>
            <ac:spMk id="7" creationId="{0ABF8C9B-E1DD-3B9E-EDDC-CA4D06E64AA2}"/>
          </ac:spMkLst>
        </pc:spChg>
        <pc:spChg chg="add mod">
          <ac:chgData name="Boone Severson" userId="1d942a2b-e0b5-491a-b49e-d500fa0ad426" providerId="ADAL" clId="{C2FBA84C-6997-4843-9886-20E32362BFD9}" dt="2024-12-08T05:25:38.528" v="3558"/>
          <ac:spMkLst>
            <pc:docMk/>
            <pc:sldMk cId="3395841331" sldId="808"/>
            <ac:spMk id="8" creationId="{F8337539-40B9-4182-7925-D9A0F63677C9}"/>
          </ac:spMkLst>
        </pc:spChg>
        <pc:spChg chg="add mod">
          <ac:chgData name="Boone Severson" userId="1d942a2b-e0b5-491a-b49e-d500fa0ad426" providerId="ADAL" clId="{C2FBA84C-6997-4843-9886-20E32362BFD9}" dt="2024-12-08T05:25:38.528" v="3558"/>
          <ac:spMkLst>
            <pc:docMk/>
            <pc:sldMk cId="3395841331" sldId="808"/>
            <ac:spMk id="9" creationId="{AF17B1F5-A834-3F8F-5562-EAD98C38F8FF}"/>
          </ac:spMkLst>
        </pc:spChg>
        <pc:spChg chg="add mod">
          <ac:chgData name="Boone Severson" userId="1d942a2b-e0b5-491a-b49e-d500fa0ad426" providerId="ADAL" clId="{C2FBA84C-6997-4843-9886-20E32362BFD9}" dt="2024-12-08T05:25:38.528" v="3558"/>
          <ac:spMkLst>
            <pc:docMk/>
            <pc:sldMk cId="3395841331" sldId="808"/>
            <ac:spMk id="10" creationId="{F5EB0FE0-BAFE-BAE1-DAC8-E7E9694615AD}"/>
          </ac:spMkLst>
        </pc:spChg>
        <pc:spChg chg="mod">
          <ac:chgData name="Boone Severson" userId="1d942a2b-e0b5-491a-b49e-d500fa0ad426" providerId="ADAL" clId="{C2FBA84C-6997-4843-9886-20E32362BFD9}" dt="2024-12-08T05:25:45.582" v="3559"/>
          <ac:spMkLst>
            <pc:docMk/>
            <pc:sldMk cId="3395841331" sldId="808"/>
            <ac:spMk id="17" creationId="{08A0738D-A229-8E0E-FFCA-9A12BC56E0E9}"/>
          </ac:spMkLst>
        </pc:spChg>
        <pc:spChg chg="mod">
          <ac:chgData name="Boone Severson" userId="1d942a2b-e0b5-491a-b49e-d500fa0ad426" providerId="ADAL" clId="{C2FBA84C-6997-4843-9886-20E32362BFD9}" dt="2024-12-08T05:25:45.582" v="3559"/>
          <ac:spMkLst>
            <pc:docMk/>
            <pc:sldMk cId="3395841331" sldId="808"/>
            <ac:spMk id="18" creationId="{DCF62443-0F2C-8C06-27A6-C706C4B483EE}"/>
          </ac:spMkLst>
        </pc:spChg>
        <pc:spChg chg="mod">
          <ac:chgData name="Boone Severson" userId="1d942a2b-e0b5-491a-b49e-d500fa0ad426" providerId="ADAL" clId="{C2FBA84C-6997-4843-9886-20E32362BFD9}" dt="2024-12-08T05:25:45.582" v="3559"/>
          <ac:spMkLst>
            <pc:docMk/>
            <pc:sldMk cId="3395841331" sldId="808"/>
            <ac:spMk id="23" creationId="{49222A53-81E6-2415-E25C-8839319DCF92}"/>
          </ac:spMkLst>
        </pc:spChg>
        <pc:grpChg chg="add mod">
          <ac:chgData name="Boone Severson" userId="1d942a2b-e0b5-491a-b49e-d500fa0ad426" providerId="ADAL" clId="{C2FBA84C-6997-4843-9886-20E32362BFD9}" dt="2024-12-08T05:25:45.582" v="3559"/>
          <ac:grpSpMkLst>
            <pc:docMk/>
            <pc:sldMk cId="3395841331" sldId="808"/>
            <ac:grpSpMk id="11" creationId="{61F4A59E-5C2B-906B-FAD0-E17F3FACA649}"/>
          </ac:grpSpMkLst>
        </pc:grpChg>
        <pc:picChg chg="mod">
          <ac:chgData name="Boone Severson" userId="1d942a2b-e0b5-491a-b49e-d500fa0ad426" providerId="ADAL" clId="{C2FBA84C-6997-4843-9886-20E32362BFD9}" dt="2024-12-08T05:25:45.582" v="3559"/>
          <ac:picMkLst>
            <pc:docMk/>
            <pc:sldMk cId="3395841331" sldId="808"/>
            <ac:picMk id="16" creationId="{AF4EC357-D545-F459-DB9A-2D3BA1659FA3}"/>
          </ac:picMkLst>
        </pc:picChg>
        <pc:cxnChg chg="add mod">
          <ac:chgData name="Boone Severson" userId="1d942a2b-e0b5-491a-b49e-d500fa0ad426" providerId="ADAL" clId="{C2FBA84C-6997-4843-9886-20E32362BFD9}" dt="2024-12-08T05:25:38.528" v="3558"/>
          <ac:cxnSpMkLst>
            <pc:docMk/>
            <pc:sldMk cId="3395841331" sldId="808"/>
            <ac:cxnSpMk id="5" creationId="{4652A6ED-9097-3C0F-4F95-5D63305D9D79}"/>
          </ac:cxnSpMkLst>
        </pc:cxnChg>
        <pc:cxnChg chg="add mod">
          <ac:chgData name="Boone Severson" userId="1d942a2b-e0b5-491a-b49e-d500fa0ad426" providerId="ADAL" clId="{C2FBA84C-6997-4843-9886-20E32362BFD9}" dt="2024-12-08T05:25:38.528" v="3558"/>
          <ac:cxnSpMkLst>
            <pc:docMk/>
            <pc:sldMk cId="3395841331" sldId="808"/>
            <ac:cxnSpMk id="6" creationId="{0DC92618-8714-C851-9E75-D1B7363DE725}"/>
          </ac:cxnSpMkLst>
        </pc:cxnChg>
        <pc:cxnChg chg="mod">
          <ac:chgData name="Boone Severson" userId="1d942a2b-e0b5-491a-b49e-d500fa0ad426" providerId="ADAL" clId="{C2FBA84C-6997-4843-9886-20E32362BFD9}" dt="2024-12-08T05:25:45.582" v="3559"/>
          <ac:cxnSpMkLst>
            <pc:docMk/>
            <pc:sldMk cId="3395841331" sldId="808"/>
            <ac:cxnSpMk id="12" creationId="{3CB3705A-325A-29F5-0FD0-F6723045D487}"/>
          </ac:cxnSpMkLst>
        </pc:cxnChg>
        <pc:cxnChg chg="mod">
          <ac:chgData name="Boone Severson" userId="1d942a2b-e0b5-491a-b49e-d500fa0ad426" providerId="ADAL" clId="{C2FBA84C-6997-4843-9886-20E32362BFD9}" dt="2024-12-08T05:25:45.582" v="3559"/>
          <ac:cxnSpMkLst>
            <pc:docMk/>
            <pc:sldMk cId="3395841331" sldId="808"/>
            <ac:cxnSpMk id="13" creationId="{E4310D01-E59D-1E45-C0C7-BC34F4D6AE7B}"/>
          </ac:cxnSpMkLst>
        </pc:cxnChg>
        <pc:cxnChg chg="mod">
          <ac:chgData name="Boone Severson" userId="1d942a2b-e0b5-491a-b49e-d500fa0ad426" providerId="ADAL" clId="{C2FBA84C-6997-4843-9886-20E32362BFD9}" dt="2024-12-08T05:25:45.582" v="3559"/>
          <ac:cxnSpMkLst>
            <pc:docMk/>
            <pc:sldMk cId="3395841331" sldId="808"/>
            <ac:cxnSpMk id="14" creationId="{C7C43155-5ED7-5012-5F18-37CCEB2D45D4}"/>
          </ac:cxnSpMkLst>
        </pc:cxnChg>
        <pc:cxnChg chg="mod">
          <ac:chgData name="Boone Severson" userId="1d942a2b-e0b5-491a-b49e-d500fa0ad426" providerId="ADAL" clId="{C2FBA84C-6997-4843-9886-20E32362BFD9}" dt="2024-12-08T05:25:45.582" v="3559"/>
          <ac:cxnSpMkLst>
            <pc:docMk/>
            <pc:sldMk cId="3395841331" sldId="808"/>
            <ac:cxnSpMk id="15" creationId="{FE03B088-3283-AB21-D7F6-6CF0EC12D819}"/>
          </ac:cxnSpMkLst>
        </pc:cxnChg>
        <pc:cxnChg chg="mod">
          <ac:chgData name="Boone Severson" userId="1d942a2b-e0b5-491a-b49e-d500fa0ad426" providerId="ADAL" clId="{C2FBA84C-6997-4843-9886-20E32362BFD9}" dt="2024-12-08T05:25:45.582" v="3559"/>
          <ac:cxnSpMkLst>
            <pc:docMk/>
            <pc:sldMk cId="3395841331" sldId="808"/>
            <ac:cxnSpMk id="19" creationId="{83146CB4-B009-6BDA-AE11-54406DFD07F4}"/>
          </ac:cxnSpMkLst>
        </pc:cxnChg>
        <pc:cxnChg chg="mod">
          <ac:chgData name="Boone Severson" userId="1d942a2b-e0b5-491a-b49e-d500fa0ad426" providerId="ADAL" clId="{C2FBA84C-6997-4843-9886-20E32362BFD9}" dt="2024-12-08T05:25:45.582" v="3559"/>
          <ac:cxnSpMkLst>
            <pc:docMk/>
            <pc:sldMk cId="3395841331" sldId="808"/>
            <ac:cxnSpMk id="20" creationId="{6F1B19E5-FA12-5EED-821A-7044AB395375}"/>
          </ac:cxnSpMkLst>
        </pc:cxnChg>
        <pc:cxnChg chg="mod">
          <ac:chgData name="Boone Severson" userId="1d942a2b-e0b5-491a-b49e-d500fa0ad426" providerId="ADAL" clId="{C2FBA84C-6997-4843-9886-20E32362BFD9}" dt="2024-12-08T05:25:45.582" v="3559"/>
          <ac:cxnSpMkLst>
            <pc:docMk/>
            <pc:sldMk cId="3395841331" sldId="808"/>
            <ac:cxnSpMk id="21" creationId="{DC742628-ED91-5DA4-9DE9-4344F8E2874E}"/>
          </ac:cxnSpMkLst>
        </pc:cxnChg>
        <pc:cxnChg chg="mod">
          <ac:chgData name="Boone Severson" userId="1d942a2b-e0b5-491a-b49e-d500fa0ad426" providerId="ADAL" clId="{C2FBA84C-6997-4843-9886-20E32362BFD9}" dt="2024-12-08T05:25:45.582" v="3559"/>
          <ac:cxnSpMkLst>
            <pc:docMk/>
            <pc:sldMk cId="3395841331" sldId="808"/>
            <ac:cxnSpMk id="22" creationId="{D23178B0-0CF9-E98C-24D1-4A03F7559084}"/>
          </ac:cxnSpMkLst>
        </pc:cxnChg>
        <pc:cxnChg chg="mod">
          <ac:chgData name="Boone Severson" userId="1d942a2b-e0b5-491a-b49e-d500fa0ad426" providerId="ADAL" clId="{C2FBA84C-6997-4843-9886-20E32362BFD9}" dt="2024-12-08T05:25:45.582" v="3559"/>
          <ac:cxnSpMkLst>
            <pc:docMk/>
            <pc:sldMk cId="3395841331" sldId="808"/>
            <ac:cxnSpMk id="24" creationId="{3727F4D6-D967-A8F0-9659-D48AA61C93B4}"/>
          </ac:cxnSpMkLst>
        </pc:cxnChg>
      </pc:sldChg>
      <pc:sldChg chg="modSp new mod">
        <pc:chgData name="Boone Severson" userId="1d942a2b-e0b5-491a-b49e-d500fa0ad426" providerId="ADAL" clId="{C2FBA84C-6997-4843-9886-20E32362BFD9}" dt="2024-12-08T05:32:03.549" v="3863" actId="20577"/>
        <pc:sldMkLst>
          <pc:docMk/>
          <pc:sldMk cId="3573194768" sldId="808"/>
        </pc:sldMkLst>
        <pc:spChg chg="mod">
          <ac:chgData name="Boone Severson" userId="1d942a2b-e0b5-491a-b49e-d500fa0ad426" providerId="ADAL" clId="{C2FBA84C-6997-4843-9886-20E32362BFD9}" dt="2024-12-08T05:26:29.046" v="3621" actId="20577"/>
          <ac:spMkLst>
            <pc:docMk/>
            <pc:sldMk cId="3573194768" sldId="808"/>
            <ac:spMk id="2" creationId="{271B03DC-62EE-B1EA-94FB-BF7B40546053}"/>
          </ac:spMkLst>
        </pc:spChg>
        <pc:spChg chg="mod">
          <ac:chgData name="Boone Severson" userId="1d942a2b-e0b5-491a-b49e-d500fa0ad426" providerId="ADAL" clId="{C2FBA84C-6997-4843-9886-20E32362BFD9}" dt="2024-12-08T05:32:03.549" v="3863" actId="20577"/>
          <ac:spMkLst>
            <pc:docMk/>
            <pc:sldMk cId="3573194768" sldId="808"/>
            <ac:spMk id="3" creationId="{8185B5CE-61BD-7D2B-05E4-CAEFAF3B64A7}"/>
          </ac:spMkLst>
        </pc:spChg>
      </pc:sldChg>
      <pc:sldChg chg="modSp new mod">
        <pc:chgData name="Boone Severson" userId="1d942a2b-e0b5-491a-b49e-d500fa0ad426" providerId="ADAL" clId="{C2FBA84C-6997-4843-9886-20E32362BFD9}" dt="2024-12-08T05:47:47.160" v="4611" actId="20577"/>
        <pc:sldMkLst>
          <pc:docMk/>
          <pc:sldMk cId="3127673947" sldId="809"/>
        </pc:sldMkLst>
        <pc:spChg chg="mod">
          <ac:chgData name="Boone Severson" userId="1d942a2b-e0b5-491a-b49e-d500fa0ad426" providerId="ADAL" clId="{C2FBA84C-6997-4843-9886-20E32362BFD9}" dt="2024-12-08T05:32:21.319" v="3875" actId="20577"/>
          <ac:spMkLst>
            <pc:docMk/>
            <pc:sldMk cId="3127673947" sldId="809"/>
            <ac:spMk id="2" creationId="{1727924B-801F-C332-D05A-37873D97D434}"/>
          </ac:spMkLst>
        </pc:spChg>
        <pc:spChg chg="mod">
          <ac:chgData name="Boone Severson" userId="1d942a2b-e0b5-491a-b49e-d500fa0ad426" providerId="ADAL" clId="{C2FBA84C-6997-4843-9886-20E32362BFD9}" dt="2024-12-08T05:47:47.160" v="4611" actId="20577"/>
          <ac:spMkLst>
            <pc:docMk/>
            <pc:sldMk cId="3127673947" sldId="809"/>
            <ac:spMk id="3" creationId="{405EBCDD-F2E4-1F6A-AFC7-4A11E5CCA521}"/>
          </ac:spMkLst>
        </pc:spChg>
      </pc:sldChg>
      <pc:sldChg chg="modSp new mod">
        <pc:chgData name="Boone Severson" userId="1d942a2b-e0b5-491a-b49e-d500fa0ad426" providerId="ADAL" clId="{C2FBA84C-6997-4843-9886-20E32362BFD9}" dt="2024-12-08T06:15:08.095" v="5761" actId="20577"/>
        <pc:sldMkLst>
          <pc:docMk/>
          <pc:sldMk cId="262680977" sldId="810"/>
        </pc:sldMkLst>
        <pc:spChg chg="mod">
          <ac:chgData name="Boone Severson" userId="1d942a2b-e0b5-491a-b49e-d500fa0ad426" providerId="ADAL" clId="{C2FBA84C-6997-4843-9886-20E32362BFD9}" dt="2024-12-08T05:47:55.728" v="4616" actId="20577"/>
          <ac:spMkLst>
            <pc:docMk/>
            <pc:sldMk cId="262680977" sldId="810"/>
            <ac:spMk id="2" creationId="{01AE0861-3627-9815-1CB8-19CB206D5899}"/>
          </ac:spMkLst>
        </pc:spChg>
        <pc:spChg chg="mod">
          <ac:chgData name="Boone Severson" userId="1d942a2b-e0b5-491a-b49e-d500fa0ad426" providerId="ADAL" clId="{C2FBA84C-6997-4843-9886-20E32362BFD9}" dt="2024-12-08T06:15:08.095" v="5761" actId="20577"/>
          <ac:spMkLst>
            <pc:docMk/>
            <pc:sldMk cId="262680977" sldId="810"/>
            <ac:spMk id="3" creationId="{A3B53E09-A902-484C-1777-1932584BCE2E}"/>
          </ac:spMkLst>
        </pc:spChg>
      </pc:sldChg>
      <pc:sldChg chg="modSp new mod">
        <pc:chgData name="Boone Severson" userId="1d942a2b-e0b5-491a-b49e-d500fa0ad426" providerId="ADAL" clId="{C2FBA84C-6997-4843-9886-20E32362BFD9}" dt="2024-12-08T05:57:56.146" v="4975" actId="20577"/>
        <pc:sldMkLst>
          <pc:docMk/>
          <pc:sldMk cId="2423175419" sldId="811"/>
        </pc:sldMkLst>
        <pc:spChg chg="mod">
          <ac:chgData name="Boone Severson" userId="1d942a2b-e0b5-491a-b49e-d500fa0ad426" providerId="ADAL" clId="{C2FBA84C-6997-4843-9886-20E32362BFD9}" dt="2024-12-08T05:54:48.037" v="4870" actId="20577"/>
          <ac:spMkLst>
            <pc:docMk/>
            <pc:sldMk cId="2423175419" sldId="811"/>
            <ac:spMk id="2" creationId="{B0E8D97B-EE0B-7946-CF3E-254409BAE8BB}"/>
          </ac:spMkLst>
        </pc:spChg>
        <pc:spChg chg="mod">
          <ac:chgData name="Boone Severson" userId="1d942a2b-e0b5-491a-b49e-d500fa0ad426" providerId="ADAL" clId="{C2FBA84C-6997-4843-9886-20E32362BFD9}" dt="2024-12-08T05:57:56.146" v="4975" actId="20577"/>
          <ac:spMkLst>
            <pc:docMk/>
            <pc:sldMk cId="2423175419" sldId="811"/>
            <ac:spMk id="3" creationId="{F382B05F-5EB0-A096-B3F3-D4A8C4754F5E}"/>
          </ac:spMkLst>
        </pc:spChg>
      </pc:sldChg>
      <pc:sldChg chg="modSp new del mod">
        <pc:chgData name="Boone Severson" userId="1d942a2b-e0b5-491a-b49e-d500fa0ad426" providerId="ADAL" clId="{C2FBA84C-6997-4843-9886-20E32362BFD9}" dt="2024-12-08T06:06:26.623" v="5516" actId="2696"/>
        <pc:sldMkLst>
          <pc:docMk/>
          <pc:sldMk cId="3294777706" sldId="812"/>
        </pc:sldMkLst>
        <pc:spChg chg="mod">
          <ac:chgData name="Boone Severson" userId="1d942a2b-e0b5-491a-b49e-d500fa0ad426" providerId="ADAL" clId="{C2FBA84C-6997-4843-9886-20E32362BFD9}" dt="2024-12-08T05:59:38.131" v="5013" actId="20577"/>
          <ac:spMkLst>
            <pc:docMk/>
            <pc:sldMk cId="3294777706" sldId="812"/>
            <ac:spMk id="2" creationId="{6CB97676-4C07-14D1-6ED4-C79C9A308507}"/>
          </ac:spMkLst>
        </pc:spChg>
        <pc:spChg chg="mod">
          <ac:chgData name="Boone Severson" userId="1d942a2b-e0b5-491a-b49e-d500fa0ad426" providerId="ADAL" clId="{C2FBA84C-6997-4843-9886-20E32362BFD9}" dt="2024-12-08T06:05:57.406" v="5496" actId="21"/>
          <ac:spMkLst>
            <pc:docMk/>
            <pc:sldMk cId="3294777706" sldId="812"/>
            <ac:spMk id="3" creationId="{BD715481-CD64-1F00-D2F5-A88183628296}"/>
          </ac:spMkLst>
        </pc:spChg>
      </pc:sldChg>
      <pc:sldChg chg="modSp new mod">
        <pc:chgData name="Boone Severson" userId="1d942a2b-e0b5-491a-b49e-d500fa0ad426" providerId="ADAL" clId="{C2FBA84C-6997-4843-9886-20E32362BFD9}" dt="2024-12-08T06:09:39.324" v="5748" actId="20577"/>
        <pc:sldMkLst>
          <pc:docMk/>
          <pc:sldMk cId="4095594584" sldId="813"/>
        </pc:sldMkLst>
        <pc:spChg chg="mod">
          <ac:chgData name="Boone Severson" userId="1d942a2b-e0b5-491a-b49e-d500fa0ad426" providerId="ADAL" clId="{C2FBA84C-6997-4843-9886-20E32362BFD9}" dt="2024-12-08T06:04:08.650" v="5391" actId="20577"/>
          <ac:spMkLst>
            <pc:docMk/>
            <pc:sldMk cId="4095594584" sldId="813"/>
            <ac:spMk id="2" creationId="{E75F66AF-A63E-340A-D8FE-E242486FDA17}"/>
          </ac:spMkLst>
        </pc:spChg>
        <pc:spChg chg="mod">
          <ac:chgData name="Boone Severson" userId="1d942a2b-e0b5-491a-b49e-d500fa0ad426" providerId="ADAL" clId="{C2FBA84C-6997-4843-9886-20E32362BFD9}" dt="2024-12-08T06:09:39.324" v="5748" actId="20577"/>
          <ac:spMkLst>
            <pc:docMk/>
            <pc:sldMk cId="4095594584" sldId="813"/>
            <ac:spMk id="3" creationId="{FBD2CF7B-8A87-0379-8930-0DB497C5C871}"/>
          </ac:spMkLst>
        </pc:spChg>
      </pc:sldChg>
      <pc:sldChg chg="modSp add mod">
        <pc:chgData name="Boone Severson" userId="1d942a2b-e0b5-491a-b49e-d500fa0ad426" providerId="ADAL" clId="{C2FBA84C-6997-4843-9886-20E32362BFD9}" dt="2024-12-08T06:06:48.390" v="5543" actId="20577"/>
        <pc:sldMkLst>
          <pc:docMk/>
          <pc:sldMk cId="3226549366" sldId="814"/>
        </pc:sldMkLst>
        <pc:spChg chg="mod">
          <ac:chgData name="Boone Severson" userId="1d942a2b-e0b5-491a-b49e-d500fa0ad426" providerId="ADAL" clId="{C2FBA84C-6997-4843-9886-20E32362BFD9}" dt="2024-12-08T06:04:21.630" v="5414" actId="20577"/>
          <ac:spMkLst>
            <pc:docMk/>
            <pc:sldMk cId="3226549366" sldId="814"/>
            <ac:spMk id="2" creationId="{28C6A20D-FD05-2351-7943-2934A89F57C7}"/>
          </ac:spMkLst>
        </pc:spChg>
        <pc:spChg chg="mod">
          <ac:chgData name="Boone Severson" userId="1d942a2b-e0b5-491a-b49e-d500fa0ad426" providerId="ADAL" clId="{C2FBA84C-6997-4843-9886-20E32362BFD9}" dt="2024-12-08T06:06:48.390" v="5543" actId="20577"/>
          <ac:spMkLst>
            <pc:docMk/>
            <pc:sldMk cId="3226549366" sldId="814"/>
            <ac:spMk id="3" creationId="{5C452FC4-62E5-273D-FE03-6EFAA470BA54}"/>
          </ac:spMkLst>
        </pc:spChg>
      </pc:sldChg>
      <pc:sldChg chg="modSp new mod ord">
        <pc:chgData name="Boone Severson" userId="1d942a2b-e0b5-491a-b49e-d500fa0ad426" providerId="ADAL" clId="{C2FBA84C-6997-4843-9886-20E32362BFD9}" dt="2024-12-09T00:59:42.749" v="6233" actId="20577"/>
        <pc:sldMkLst>
          <pc:docMk/>
          <pc:sldMk cId="1123535266" sldId="815"/>
        </pc:sldMkLst>
        <pc:spChg chg="mod">
          <ac:chgData name="Boone Severson" userId="1d942a2b-e0b5-491a-b49e-d500fa0ad426" providerId="ADAL" clId="{C2FBA84C-6997-4843-9886-20E32362BFD9}" dt="2024-12-08T06:28:14.002" v="5812" actId="20577"/>
          <ac:spMkLst>
            <pc:docMk/>
            <pc:sldMk cId="1123535266" sldId="815"/>
            <ac:spMk id="2" creationId="{F41CCDEA-032D-DC61-7276-2752C95A0FC3}"/>
          </ac:spMkLst>
        </pc:spChg>
        <pc:spChg chg="mod">
          <ac:chgData name="Boone Severson" userId="1d942a2b-e0b5-491a-b49e-d500fa0ad426" providerId="ADAL" clId="{C2FBA84C-6997-4843-9886-20E32362BFD9}" dt="2024-12-09T00:59:42.749" v="6233" actId="20577"/>
          <ac:spMkLst>
            <pc:docMk/>
            <pc:sldMk cId="1123535266" sldId="815"/>
            <ac:spMk id="3" creationId="{59A81D42-6507-78A0-B09E-4A37E91CC497}"/>
          </ac:spMkLst>
        </pc:spChg>
      </pc:sldChg>
      <pc:sldChg chg="new del">
        <pc:chgData name="Boone Severson" userId="1d942a2b-e0b5-491a-b49e-d500fa0ad426" providerId="ADAL" clId="{C2FBA84C-6997-4843-9886-20E32362BFD9}" dt="2024-12-08T06:24:03.312" v="5776" actId="2696"/>
        <pc:sldMkLst>
          <pc:docMk/>
          <pc:sldMk cId="1987357376" sldId="815"/>
        </pc:sldMkLst>
      </pc:sldChg>
      <pc:sldChg chg="add del">
        <pc:chgData name="Boone Severson" userId="1d942a2b-e0b5-491a-b49e-d500fa0ad426" providerId="ADAL" clId="{C2FBA84C-6997-4843-9886-20E32362BFD9}" dt="2024-12-08T06:23:55.162" v="5774"/>
        <pc:sldMkLst>
          <pc:docMk/>
          <pc:sldMk cId="3397960016" sldId="81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5363" name="Rectangle 3"/>
          <p:cNvSpPr>
            <a:spLocks noGrp="1" noChangeArrowheads="1"/>
          </p:cNvSpPr>
          <p:nvPr>
            <p:ph type="dt" sz="quarter"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15364" name="Rectangle 4"/>
          <p:cNvSpPr>
            <a:spLocks noGrp="1" noChangeArrowheads="1"/>
          </p:cNvSpPr>
          <p:nvPr>
            <p:ph type="ftr" sz="quarter" idx="2"/>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r>
              <a:rPr lang="en-US"/>
              <a:t>CS/ECE 552: Introduction To Computer Architecture</a:t>
            </a:r>
          </a:p>
        </p:txBody>
      </p:sp>
      <p:sp>
        <p:nvSpPr>
          <p:cNvPr id="15365" name="Rectangle 5"/>
          <p:cNvSpPr>
            <a:spLocks noGrp="1" noChangeArrowheads="1"/>
          </p:cNvSpPr>
          <p:nvPr>
            <p:ph type="sldNum" sz="quarter" idx="3"/>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A83ACFC1-9505-4A40-9977-AABD7496088F}" type="slidenum">
              <a:rPr lang="en-US" altLang="en-US"/>
              <a:pPr/>
              <a:t>‹#›</a:t>
            </a:fld>
            <a:endParaRPr lang="en-US" altLang="en-US"/>
          </a:p>
        </p:txBody>
      </p:sp>
    </p:spTree>
    <p:extLst>
      <p:ext uri="{BB962C8B-B14F-4D97-AF65-F5344CB8AC3E}">
        <p14:creationId xmlns:p14="http://schemas.microsoft.com/office/powerpoint/2010/main" val="2208075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7411" name="Rectangle 3"/>
          <p:cNvSpPr>
            <a:spLocks noGrp="1" noChangeArrowheads="1"/>
          </p:cNvSpPr>
          <p:nvPr>
            <p:ph type="dt"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77828" name="Rectangle 4"/>
          <p:cNvSpPr>
            <a:spLocks noGrp="1" noRot="1" noChangeAspect="1" noChangeArrowheads="1" noTextEdit="1"/>
          </p:cNvSpPr>
          <p:nvPr>
            <p:ph type="sldImg" idx="2"/>
          </p:nvPr>
        </p:nvSpPr>
        <p:spPr bwMode="auto">
          <a:xfrm>
            <a:off x="1074738" y="706438"/>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2813" y="4464050"/>
            <a:ext cx="5019675" cy="4225925"/>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endParaRPr lang="en-US"/>
          </a:p>
        </p:txBody>
      </p:sp>
      <p:sp>
        <p:nvSpPr>
          <p:cNvPr id="17415" name="Rectangle 7"/>
          <p:cNvSpPr>
            <a:spLocks noGrp="1" noChangeArrowheads="1"/>
          </p:cNvSpPr>
          <p:nvPr>
            <p:ph type="sldNum" sz="quarter" idx="5"/>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BD4F155C-6C9D-4ED5-8550-5376FDF284CA}" type="slidenum">
              <a:rPr lang="en-US" altLang="en-US"/>
              <a:pPr/>
              <a:t>‹#›</a:t>
            </a:fld>
            <a:endParaRPr lang="en-US" altLang="en-US"/>
          </a:p>
        </p:txBody>
      </p:sp>
    </p:spTree>
    <p:extLst>
      <p:ext uri="{BB962C8B-B14F-4D97-AF65-F5344CB8AC3E}">
        <p14:creationId xmlns:p14="http://schemas.microsoft.com/office/powerpoint/2010/main" val="23907389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5B0F207-7F00-4985-B46D-7543007A9E37}" type="slidenum">
              <a:rPr lang="en-US" altLang="en-US" smtClean="0"/>
              <a:pPr/>
              <a:t>2</a:t>
            </a:fld>
            <a:endParaRPr lang="en-US" altLang="en-US"/>
          </a:p>
        </p:txBody>
      </p:sp>
    </p:spTree>
    <p:extLst>
      <p:ext uri="{BB962C8B-B14F-4D97-AF65-F5344CB8AC3E}">
        <p14:creationId xmlns:p14="http://schemas.microsoft.com/office/powerpoint/2010/main" val="2887914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6</a:t>
            </a:fld>
            <a:endParaRPr lang="en-US" altLang="en-US"/>
          </a:p>
        </p:txBody>
      </p:sp>
    </p:spTree>
    <p:extLst>
      <p:ext uri="{BB962C8B-B14F-4D97-AF65-F5344CB8AC3E}">
        <p14:creationId xmlns:p14="http://schemas.microsoft.com/office/powerpoint/2010/main" val="3608446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13</a:t>
            </a:fld>
            <a:endParaRPr lang="en-US" altLang="en-US"/>
          </a:p>
        </p:txBody>
      </p:sp>
    </p:spTree>
    <p:extLst>
      <p:ext uri="{BB962C8B-B14F-4D97-AF65-F5344CB8AC3E}">
        <p14:creationId xmlns:p14="http://schemas.microsoft.com/office/powerpoint/2010/main" val="2397983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14</a:t>
            </a:fld>
            <a:endParaRPr lang="en-US" altLang="en-US"/>
          </a:p>
        </p:txBody>
      </p:sp>
    </p:spTree>
    <p:extLst>
      <p:ext uri="{BB962C8B-B14F-4D97-AF65-F5344CB8AC3E}">
        <p14:creationId xmlns:p14="http://schemas.microsoft.com/office/powerpoint/2010/main" val="3601937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15</a:t>
            </a:fld>
            <a:endParaRPr lang="en-US" altLang="en-US"/>
          </a:p>
        </p:txBody>
      </p:sp>
    </p:spTree>
    <p:extLst>
      <p:ext uri="{BB962C8B-B14F-4D97-AF65-F5344CB8AC3E}">
        <p14:creationId xmlns:p14="http://schemas.microsoft.com/office/powerpoint/2010/main" val="4206019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16</a:t>
            </a:fld>
            <a:endParaRPr lang="en-US" altLang="en-US"/>
          </a:p>
        </p:txBody>
      </p:sp>
    </p:spTree>
    <p:extLst>
      <p:ext uri="{BB962C8B-B14F-4D97-AF65-F5344CB8AC3E}">
        <p14:creationId xmlns:p14="http://schemas.microsoft.com/office/powerpoint/2010/main" val="710629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17</a:t>
            </a:fld>
            <a:endParaRPr lang="en-US" altLang="en-US"/>
          </a:p>
        </p:txBody>
      </p:sp>
    </p:spTree>
    <p:extLst>
      <p:ext uri="{BB962C8B-B14F-4D97-AF65-F5344CB8AC3E}">
        <p14:creationId xmlns:p14="http://schemas.microsoft.com/office/powerpoint/2010/main" val="94250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18</a:t>
            </a:fld>
            <a:endParaRPr lang="en-US" altLang="en-US"/>
          </a:p>
        </p:txBody>
      </p:sp>
    </p:spTree>
    <p:extLst>
      <p:ext uri="{BB962C8B-B14F-4D97-AF65-F5344CB8AC3E}">
        <p14:creationId xmlns:p14="http://schemas.microsoft.com/office/powerpoint/2010/main" val="3613519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19</a:t>
            </a:fld>
            <a:endParaRPr lang="en-US" altLang="en-US"/>
          </a:p>
        </p:txBody>
      </p:sp>
    </p:spTree>
    <p:extLst>
      <p:ext uri="{BB962C8B-B14F-4D97-AF65-F5344CB8AC3E}">
        <p14:creationId xmlns:p14="http://schemas.microsoft.com/office/powerpoint/2010/main" val="3603465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21</a:t>
            </a:fld>
            <a:endParaRPr lang="en-US" altLang="en-US"/>
          </a:p>
        </p:txBody>
      </p:sp>
    </p:spTree>
    <p:extLst>
      <p:ext uri="{BB962C8B-B14F-4D97-AF65-F5344CB8AC3E}">
        <p14:creationId xmlns:p14="http://schemas.microsoft.com/office/powerpoint/2010/main" val="887047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SISD</a:t>
            </a:r>
          </a:p>
          <a:p>
            <a:r>
              <a:rPr lang="en-US" dirty="0"/>
              <a:t>SIMD</a:t>
            </a:r>
          </a:p>
          <a:p>
            <a:r>
              <a:rPr lang="en-US" dirty="0"/>
              <a:t>MISD</a:t>
            </a:r>
          </a:p>
          <a:p>
            <a:r>
              <a:rPr lang="en-US" dirty="0"/>
              <a:t>MIMD - TLP</a:t>
            </a:r>
          </a:p>
          <a:p>
            <a:endParaRPr lang="en-US" dirty="0"/>
          </a:p>
          <a:p>
            <a:r>
              <a:rPr lang="en-US" dirty="0"/>
              <a:t>ILP – superscalar</a:t>
            </a:r>
          </a:p>
          <a:p>
            <a:r>
              <a:rPr lang="en-US" dirty="0"/>
              <a:t>TLP - MIMD</a:t>
            </a:r>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30</a:t>
            </a:fld>
            <a:endParaRPr lang="en-US" altLang="en-US"/>
          </a:p>
        </p:txBody>
      </p:sp>
    </p:spTree>
    <p:extLst>
      <p:ext uri="{BB962C8B-B14F-4D97-AF65-F5344CB8AC3E}">
        <p14:creationId xmlns:p14="http://schemas.microsoft.com/office/powerpoint/2010/main" val="3122690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31</a:t>
            </a:fld>
            <a:endParaRPr lang="en-US" altLang="en-US"/>
          </a:p>
        </p:txBody>
      </p:sp>
    </p:spTree>
    <p:extLst>
      <p:ext uri="{BB962C8B-B14F-4D97-AF65-F5344CB8AC3E}">
        <p14:creationId xmlns:p14="http://schemas.microsoft.com/office/powerpoint/2010/main" val="1343335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32</a:t>
            </a:fld>
            <a:endParaRPr lang="en-US" altLang="en-US"/>
          </a:p>
        </p:txBody>
      </p:sp>
    </p:spTree>
    <p:extLst>
      <p:ext uri="{BB962C8B-B14F-4D97-AF65-F5344CB8AC3E}">
        <p14:creationId xmlns:p14="http://schemas.microsoft.com/office/powerpoint/2010/main" val="3098194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B5B0F207-7F00-4985-B46D-7543007A9E37}" type="slidenum">
              <a:rPr lang="en-US" altLang="en-US" smtClean="0"/>
              <a:pPr/>
              <a:t>45</a:t>
            </a:fld>
            <a:endParaRPr lang="en-US" altLang="en-US"/>
          </a:p>
        </p:txBody>
      </p:sp>
    </p:spTree>
    <p:extLst>
      <p:ext uri="{BB962C8B-B14F-4D97-AF65-F5344CB8AC3E}">
        <p14:creationId xmlns:p14="http://schemas.microsoft.com/office/powerpoint/2010/main" val="4095189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5B0F207-7F00-4985-B46D-7543007A9E37}" type="slidenum">
              <a:rPr lang="en-US" altLang="en-US" smtClean="0"/>
              <a:pPr/>
              <a:t>46</a:t>
            </a:fld>
            <a:endParaRPr lang="en-US" altLang="en-US"/>
          </a:p>
        </p:txBody>
      </p:sp>
    </p:spTree>
    <p:extLst>
      <p:ext uri="{BB962C8B-B14F-4D97-AF65-F5344CB8AC3E}">
        <p14:creationId xmlns:p14="http://schemas.microsoft.com/office/powerpoint/2010/main" val="832968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50</a:t>
            </a:fld>
            <a:endParaRPr lang="en-US" altLang="en-US"/>
          </a:p>
        </p:txBody>
      </p:sp>
    </p:spTree>
    <p:extLst>
      <p:ext uri="{BB962C8B-B14F-4D97-AF65-F5344CB8AC3E}">
        <p14:creationId xmlns:p14="http://schemas.microsoft.com/office/powerpoint/2010/main" val="41198083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2pPr lvl="1">
              <a:defRPr/>
            </a:lvl2pPr>
          </a:lstStyle>
          <a:p>
            <a:pPr lvl="1"/>
            <a:fld id="{75A2B101-C660-424C-9ADC-11231547BD22}" type="slidenum">
              <a:rPr lang="en-US" altLang="en-US" smtClean="0"/>
              <a:pPr lvl="1"/>
              <a:t>‹#›</a:t>
            </a:fld>
            <a:endParaRPr lang="en-US" altLang="en-US"/>
          </a:p>
        </p:txBody>
      </p:sp>
      <p:pic>
        <p:nvPicPr>
          <p:cNvPr id="7" name="Picture 6" descr="LOGO_200"/>
          <p:cNvPicPr>
            <a:picLocks noChangeAspect="1" noChangeArrowheads="1"/>
          </p:cNvPicPr>
          <p:nvPr/>
        </p:nvPicPr>
        <p:blipFill>
          <a:blip r:embed="rId2" cstate="print"/>
          <a:srcRect/>
          <a:stretch>
            <a:fillRect/>
          </a:stretch>
        </p:blipFill>
        <p:spPr bwMode="auto">
          <a:xfrm>
            <a:off x="3276600" y="228600"/>
            <a:ext cx="2286000" cy="2286000"/>
          </a:xfrm>
          <a:prstGeom prst="rect">
            <a:avLst/>
          </a:prstGeom>
          <a:noFill/>
          <a:ln w="9525">
            <a:noFill/>
            <a:miter lim="800000"/>
            <a:headEnd/>
            <a:tailEnd/>
          </a:ln>
        </p:spPr>
      </p:pic>
      <p:pic>
        <p:nvPicPr>
          <p:cNvPr id="8" name="Picture 7" descr="LOGO_200"/>
          <p:cNvPicPr>
            <a:picLocks noChangeAspect="1" noChangeArrowheads="1"/>
          </p:cNvPicPr>
          <p:nvPr/>
        </p:nvPicPr>
        <p:blipFill>
          <a:blip r:embed="rId2" cstate="print"/>
          <a:srcRect/>
          <a:stretch>
            <a:fillRect/>
          </a:stretch>
        </p:blipFill>
        <p:spPr bwMode="auto">
          <a:xfrm>
            <a:off x="3276600" y="228600"/>
            <a:ext cx="2286000" cy="2286000"/>
          </a:xfrm>
          <a:prstGeom prst="rect">
            <a:avLst/>
          </a:prstGeom>
          <a:noFill/>
          <a:ln w="9525">
            <a:noFill/>
            <a:miter lim="800000"/>
            <a:headEnd/>
            <a:tailEnd/>
          </a:ln>
        </p:spPr>
      </p:pic>
    </p:spTree>
    <p:extLst>
      <p:ext uri="{BB962C8B-B14F-4D97-AF65-F5344CB8AC3E}">
        <p14:creationId xmlns:p14="http://schemas.microsoft.com/office/powerpoint/2010/main" val="295510146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2pPr lvl="1">
              <a:defRPr/>
            </a:lvl2pPr>
          </a:lstStyle>
          <a:p>
            <a:pPr lvl="1"/>
            <a:fld id="{35B60D93-CC8C-4BE3-8466-59E10CB9DAB3}" type="slidenum">
              <a:rPr lang="en-US" altLang="en-US" smtClean="0"/>
              <a:pPr lvl="1"/>
              <a:t>‹#›</a:t>
            </a:fld>
            <a:endParaRPr lang="en-US" altLang="en-US">
              <a:latin typeface="Calibri" panose="020F0502020204030204" pitchFamily="34" charset="0"/>
            </a:endParaRPr>
          </a:p>
        </p:txBody>
      </p:sp>
    </p:spTree>
    <p:extLst>
      <p:ext uri="{BB962C8B-B14F-4D97-AF65-F5344CB8AC3E}">
        <p14:creationId xmlns:p14="http://schemas.microsoft.com/office/powerpoint/2010/main" val="2235375274"/>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6" name="Slide Number Placeholder 5"/>
          <p:cNvSpPr>
            <a:spLocks noGrp="1"/>
          </p:cNvSpPr>
          <p:nvPr>
            <p:ph type="sldNum" sz="quarter" idx="4"/>
          </p:nvPr>
        </p:nvSpPr>
        <p:spPr>
          <a:xfrm>
            <a:off x="7620000" y="6356350"/>
            <a:ext cx="1066800" cy="365125"/>
          </a:xfrm>
          <a:prstGeom prst="rect">
            <a:avLst/>
          </a:prstGeom>
        </p:spPr>
        <p:txBody>
          <a:bodyPr vert="horz" lIns="91440" tIns="45720" rIns="91440" bIns="45720" rtlCol="0" anchor="ctr"/>
          <a:lstStyle>
            <a:lvl1pPr algn="r">
              <a:defRPr sz="1200">
                <a:solidFill>
                  <a:schemeClr val="tx1">
                    <a:tint val="75000"/>
                  </a:schemeClr>
                </a:solidFill>
              </a:defRPr>
            </a:lvl1pPr>
            <a:lvl2pPr lvl="1" algn="r">
              <a:defRPr baseline="0">
                <a:latin typeface="Calibri" panose="020F0502020204030204" pitchFamily="34" charset="0"/>
              </a:defRPr>
            </a:lvl2pPr>
          </a:lstStyle>
          <a:p>
            <a:pPr lvl="1"/>
            <a:fld id="{364C03C9-A82B-4593-8D4F-5FC476352E11}" type="slidenum">
              <a:rPr lang="en-US" altLang="en-US" smtClean="0"/>
              <a:pPr lvl="1"/>
              <a:t>‹#›</a:t>
            </a:fld>
            <a:endParaRPr lang="en-US" altLang="en-US"/>
          </a:p>
        </p:txBody>
      </p:sp>
    </p:spTree>
    <p:extLst>
      <p:ext uri="{BB962C8B-B14F-4D97-AF65-F5344CB8AC3E}">
        <p14:creationId xmlns:p14="http://schemas.microsoft.com/office/powerpoint/2010/main" val="2379839104"/>
      </p:ext>
    </p:extLst>
  </p:cSld>
  <p:clrMap bg1="lt1" tx1="dk1" bg2="lt2" tx2="dk2" accent1="accent1" accent2="accent2" accent3="accent3" accent4="accent4" accent5="accent5" accent6="accent6" hlink="hlink" folHlink="folHlink"/>
  <p:sldLayoutIdLst>
    <p:sldLayoutId id="2147483701" r:id="rId1"/>
    <p:sldLayoutId id="2147483702" r:id="rId2"/>
  </p:sldLayoutIdLst>
  <p:transition/>
  <p:hf hdr="0" dt="0"/>
  <p:txStyles>
    <p:titleStyle>
      <a:lvl1pPr algn="ctr" rtl="0" eaLnBrk="1" fontAlgn="base" hangingPunct="1">
        <a:spcBef>
          <a:spcPct val="0"/>
        </a:spcBef>
        <a:spcAft>
          <a:spcPct val="0"/>
        </a:spcAft>
        <a:defRPr sz="4400" b="0" i="0" u="none"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hyperlink" Target="https://heliocampusac.wisc.edu/" TargetMode="Externa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anvas.wisc.edu/courses/430867/pages/weekly-outline?module_item_id=764904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1.xml"/><Relationship Id="rId7"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17.xml"/><Relationship Id="rId7"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23.xml"/><Relationship Id="rId7"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29.xml"/><Relationship Id="rId7"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35.xml"/><Relationship Id="rId7"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41.xml"/><Relationship Id="rId7"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47.xml"/><Relationship Id="rId7"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54.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tags" Target="../tags/tag67.xml"/><Relationship Id="rId18" Type="http://schemas.openxmlformats.org/officeDocument/2006/relationships/tags" Target="../tags/tag72.xml"/><Relationship Id="rId3" Type="http://schemas.openxmlformats.org/officeDocument/2006/relationships/tags" Target="../tags/tag57.xml"/><Relationship Id="rId21" Type="http://schemas.openxmlformats.org/officeDocument/2006/relationships/notesSlide" Target="../notesSlides/notesSlide12.xml"/><Relationship Id="rId7" Type="http://schemas.openxmlformats.org/officeDocument/2006/relationships/tags" Target="../tags/tag61.xml"/><Relationship Id="rId12" Type="http://schemas.openxmlformats.org/officeDocument/2006/relationships/tags" Target="../tags/tag66.xml"/><Relationship Id="rId17" Type="http://schemas.openxmlformats.org/officeDocument/2006/relationships/tags" Target="../tags/tag71.xml"/><Relationship Id="rId2" Type="http://schemas.openxmlformats.org/officeDocument/2006/relationships/tags" Target="../tags/tag56.xml"/><Relationship Id="rId16" Type="http://schemas.openxmlformats.org/officeDocument/2006/relationships/tags" Target="../tags/tag70.xml"/><Relationship Id="rId20" Type="http://schemas.openxmlformats.org/officeDocument/2006/relationships/slideLayout" Target="../slideLayouts/slideLayout2.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5" Type="http://schemas.openxmlformats.org/officeDocument/2006/relationships/tags" Target="../tags/tag59.xml"/><Relationship Id="rId15" Type="http://schemas.openxmlformats.org/officeDocument/2006/relationships/tags" Target="../tags/tag69.xml"/><Relationship Id="rId10" Type="http://schemas.openxmlformats.org/officeDocument/2006/relationships/tags" Target="../tags/tag64.xml"/><Relationship Id="rId19" Type="http://schemas.openxmlformats.org/officeDocument/2006/relationships/tags" Target="../tags/tag73.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tags" Target="../tags/tag68.xml"/><Relationship Id="rId22" Type="http://schemas.openxmlformats.org/officeDocument/2006/relationships/image" Target="../media/image5.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notesSlide" Target="../notesSlides/notesSlide14.xml"/><Relationship Id="rId3" Type="http://schemas.openxmlformats.org/officeDocument/2006/relationships/tags" Target="../tags/tag76.xml"/><Relationship Id="rId7" Type="http://schemas.openxmlformats.org/officeDocument/2006/relationships/tags" Target="../tags/tag80.xml"/><Relationship Id="rId12"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5" Type="http://schemas.openxmlformats.org/officeDocument/2006/relationships/tags" Target="../tags/tag78.xml"/><Relationship Id="rId10" Type="http://schemas.openxmlformats.org/officeDocument/2006/relationships/tags" Target="../tags/tag83.xml"/><Relationship Id="rId4" Type="http://schemas.openxmlformats.org/officeDocument/2006/relationships/tags" Target="../tags/tag77.xml"/><Relationship Id="rId9" Type="http://schemas.openxmlformats.org/officeDocument/2006/relationships/tags" Target="../tags/tag82.xml"/></Relationships>
</file>

<file path=ppt/slides/_rels/slide46.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tags" Target="../tags/tag8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custDataLst>
              <p:tags r:id="rId2"/>
            </p:custDataLst>
          </p:nvPr>
        </p:nvSpPr>
        <p:spPr>
          <a:xfrm>
            <a:off x="457200" y="2362200"/>
            <a:ext cx="8229600" cy="1524000"/>
          </a:xfrm>
        </p:spPr>
        <p:txBody>
          <a:bodyPr/>
          <a:lstStyle/>
          <a:p>
            <a:pPr eaLnBrk="1" hangingPunct="1"/>
            <a:r>
              <a:rPr lang="en-US" altLang="en-US" dirty="0"/>
              <a:t>ECE/CS 552: Final Exam Review</a:t>
            </a:r>
          </a:p>
        </p:txBody>
      </p:sp>
      <p:sp>
        <p:nvSpPr>
          <p:cNvPr id="3" name="Subtitle 2"/>
          <p:cNvSpPr>
            <a:spLocks noGrp="1"/>
          </p:cNvSpPr>
          <p:nvPr>
            <p:ph type="subTitle" idx="1"/>
            <p:custDataLst>
              <p:tags r:id="rId3"/>
            </p:custDataLst>
          </p:nvPr>
        </p:nvSpPr>
        <p:spPr/>
        <p:txBody>
          <a:bodyPr>
            <a:normAutofit fontScale="55000" lnSpcReduction="20000"/>
          </a:bodyPr>
          <a:lstStyle/>
          <a:p>
            <a:pPr eaLnBrk="1" hangingPunct="1">
              <a:buFont typeface="Arial" charset="0"/>
              <a:buNone/>
              <a:defRPr/>
            </a:pPr>
            <a:r>
              <a:rPr lang="en-US" dirty="0"/>
              <a:t>Boone Severson</a:t>
            </a:r>
          </a:p>
          <a:p>
            <a:pPr eaLnBrk="1" hangingPunct="1">
              <a:buFont typeface="Arial" charset="0"/>
              <a:buNone/>
              <a:defRPr/>
            </a:pPr>
            <a:endParaRPr lang="en-US" dirty="0"/>
          </a:p>
          <a:p>
            <a:pPr eaLnBrk="1" hangingPunct="1">
              <a:buFont typeface="Arial" charset="0"/>
              <a:buNone/>
              <a:defRPr/>
            </a:pPr>
            <a:r>
              <a:rPr lang="en-US" dirty="0"/>
              <a:t>Based </a:t>
            </a:r>
            <a:r>
              <a:rPr lang="en-US"/>
              <a:t>on notes </a:t>
            </a:r>
            <a:r>
              <a:rPr lang="en-US" dirty="0"/>
              <a:t>from Joshua San Miguel</a:t>
            </a:r>
          </a:p>
          <a:p>
            <a:pPr eaLnBrk="1" hangingPunct="1">
              <a:buFont typeface="Arial" charset="0"/>
              <a:buNone/>
              <a:defRPr/>
            </a:pPr>
            <a:endParaRPr lang="en-US" dirty="0"/>
          </a:p>
          <a:p>
            <a:pPr eaLnBrk="1" hangingPunct="1">
              <a:buFont typeface="Arial" charset="0"/>
              <a:buNone/>
              <a:defRPr/>
            </a:pPr>
            <a:endParaRPr lang="en-US" dirty="0"/>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extLst>
      <p:ext uri="{BB962C8B-B14F-4D97-AF65-F5344CB8AC3E}">
        <p14:creationId xmlns:p14="http://schemas.microsoft.com/office/powerpoint/2010/main" val="239283850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C78AEE4-3ADA-41D1-BAD2-6C1450538497}"/>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Announcements</a:t>
            </a:r>
          </a:p>
        </p:txBody>
      </p:sp>
      <p:sp>
        <p:nvSpPr>
          <p:cNvPr id="6147" name="Rectangle 3">
            <a:extLst>
              <a:ext uri="{FF2B5EF4-FFF2-40B4-BE49-F238E27FC236}">
                <a16:creationId xmlns:a16="http://schemas.microsoft.com/office/drawing/2014/main" id="{143F1B7B-9CFC-4121-9F3D-4F3565D718B3}"/>
              </a:ext>
            </a:extLst>
          </p:cNvPr>
          <p:cNvSpPr>
            <a:spLocks noGrp="1" noChangeArrowheads="1"/>
          </p:cNvSpPr>
          <p:nvPr>
            <p:ph idx="1"/>
            <p:custDataLst>
              <p:tags r:id="rId3"/>
            </p:custDataLst>
          </p:nvPr>
        </p:nvSpPr>
        <p:spPr>
          <a:xfrm>
            <a:off x="457200" y="1600200"/>
            <a:ext cx="8534400" cy="5029199"/>
          </a:xfrm>
        </p:spPr>
        <p:txBody>
          <a:bodyPr/>
          <a:lstStyle/>
          <a:p>
            <a:pPr eaLnBrk="1" hangingPunct="1">
              <a:lnSpc>
                <a:spcPct val="80000"/>
              </a:lnSpc>
            </a:pPr>
            <a:r>
              <a:rPr lang="en-US" altLang="en-US" dirty="0"/>
              <a:t>Final exam: </a:t>
            </a:r>
            <a:r>
              <a:rPr lang="en-US" altLang="en-US" b="1" dirty="0"/>
              <a:t>Tue 12/17 </a:t>
            </a:r>
          </a:p>
          <a:p>
            <a:pPr lvl="1" eaLnBrk="1" hangingPunct="1">
              <a:lnSpc>
                <a:spcPct val="90000"/>
              </a:lnSpc>
            </a:pPr>
            <a:r>
              <a:rPr lang="en-US" altLang="en-US" dirty="0"/>
              <a:t>12:25 - 2:25 PM in Van Hise 494</a:t>
            </a:r>
          </a:p>
          <a:p>
            <a:pPr lvl="1" eaLnBrk="1" hangingPunct="1">
              <a:lnSpc>
                <a:spcPct val="90000"/>
              </a:lnSpc>
            </a:pPr>
            <a:r>
              <a:rPr lang="en-US" altLang="en-US" dirty="0"/>
              <a:t>See Final Exam Info on Canvas</a:t>
            </a:r>
          </a:p>
          <a:p>
            <a:pPr lvl="1" eaLnBrk="1" hangingPunct="1">
              <a:lnSpc>
                <a:spcPct val="90000"/>
              </a:lnSpc>
            </a:pPr>
            <a:r>
              <a:rPr lang="en-US" altLang="en-US" dirty="0"/>
              <a:t>Final exam review: </a:t>
            </a:r>
            <a:r>
              <a:rPr lang="en-US" altLang="en-US" i="1" dirty="0"/>
              <a:t>Now, 12/10</a:t>
            </a:r>
          </a:p>
          <a:p>
            <a:pPr eaLnBrk="1" hangingPunct="1">
              <a:lnSpc>
                <a:spcPct val="80000"/>
              </a:lnSpc>
            </a:pPr>
            <a:endParaRPr lang="en-US" altLang="en-US" b="1" dirty="0"/>
          </a:p>
          <a:p>
            <a:pPr eaLnBrk="1" hangingPunct="1">
              <a:lnSpc>
                <a:spcPct val="80000"/>
              </a:lnSpc>
            </a:pPr>
            <a:r>
              <a:rPr lang="en-US" altLang="en-US" dirty="0"/>
              <a:t>Please take the time to complete course eval:</a:t>
            </a:r>
          </a:p>
          <a:p>
            <a:pPr lvl="1" eaLnBrk="1" hangingPunct="1">
              <a:lnSpc>
                <a:spcPct val="80000"/>
              </a:lnSpc>
            </a:pPr>
            <a:r>
              <a:rPr lang="en-US" altLang="en-US" dirty="0">
                <a:hlinkClick r:id="rId7"/>
              </a:rPr>
              <a:t>https://heliocampusac.wisc.edu/</a:t>
            </a:r>
            <a:r>
              <a:rPr lang="en-US" altLang="en-US" dirty="0"/>
              <a:t> </a:t>
            </a:r>
          </a:p>
        </p:txBody>
      </p:sp>
      <p:sp>
        <p:nvSpPr>
          <p:cNvPr id="7172" name="Slide Number Placeholder 5">
            <a:extLst>
              <a:ext uri="{FF2B5EF4-FFF2-40B4-BE49-F238E27FC236}">
                <a16:creationId xmlns:a16="http://schemas.microsoft.com/office/drawing/2014/main" id="{DAF4329D-C55E-47DA-BA90-1897BD2EBD3B}"/>
              </a:ext>
            </a:extLst>
          </p:cNvPr>
          <p:cNvSpPr>
            <a:spLocks noGrp="1"/>
          </p:cNvSpPr>
          <p:nvPr>
            <p:ph type="sldNum" sz="quarter" idx="12"/>
            <p:custDataLst>
              <p:tags r:id="rId4"/>
            </p:custDataLst>
          </p:nvPr>
        </p:nvSpPr>
        <p:spPr bwMode="auto">
          <a:xfrm>
            <a:off x="7620000" y="6356350"/>
            <a:ext cx="10668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21B898B0-BC8F-4462-B6C6-C83A0D12B710}" type="slidenum">
              <a:rPr lang="en-US" altLang="en-US" sz="2400"/>
              <a:pPr lvl="1" eaLnBrk="1" hangingPunct="1">
                <a:spcBef>
                  <a:spcPct val="0"/>
                </a:spcBef>
                <a:buFontTx/>
                <a:buNone/>
              </a:pPr>
              <a:t>2</a:t>
            </a:fld>
            <a:endParaRPr lang="en-US" altLang="en-US" sz="2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56760452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CCDEA-032D-DC61-7276-2752C95A0FC3}"/>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59A81D42-6507-78A0-B09E-4A37E91CC497}"/>
              </a:ext>
            </a:extLst>
          </p:cNvPr>
          <p:cNvSpPr>
            <a:spLocks noGrp="1"/>
          </p:cNvSpPr>
          <p:nvPr>
            <p:ph idx="1"/>
          </p:nvPr>
        </p:nvSpPr>
        <p:spPr/>
        <p:txBody>
          <a:bodyPr/>
          <a:lstStyle/>
          <a:p>
            <a:r>
              <a:rPr lang="en-US" dirty="0"/>
              <a:t>Phase 3 due Monday 12/16</a:t>
            </a:r>
          </a:p>
          <a:p>
            <a:pPr lvl="1"/>
            <a:r>
              <a:rPr lang="en-US" dirty="0"/>
              <a:t>12/17 means -20%</a:t>
            </a:r>
          </a:p>
          <a:p>
            <a:pPr lvl="1"/>
            <a:r>
              <a:rPr lang="en-US" dirty="0"/>
              <a:t>12/18 means -40%</a:t>
            </a:r>
          </a:p>
          <a:p>
            <a:r>
              <a:rPr lang="en-US" dirty="0"/>
              <a:t>Extra Credit due Monday 12/16</a:t>
            </a:r>
          </a:p>
          <a:p>
            <a:pPr lvl="1"/>
            <a:r>
              <a:rPr lang="en-US" dirty="0"/>
              <a:t>Not graded if Phase 3 incomplete or late</a:t>
            </a:r>
          </a:p>
          <a:p>
            <a:pPr lvl="1"/>
            <a:r>
              <a:rPr lang="en-US" dirty="0"/>
              <a:t>Talk to Shreya/Boone for expectations before starting to avoid surprises</a:t>
            </a:r>
          </a:p>
        </p:txBody>
      </p:sp>
      <p:sp>
        <p:nvSpPr>
          <p:cNvPr id="4" name="Slide Number Placeholder 3">
            <a:extLst>
              <a:ext uri="{FF2B5EF4-FFF2-40B4-BE49-F238E27FC236}">
                <a16:creationId xmlns:a16="http://schemas.microsoft.com/office/drawing/2014/main" id="{58862EE0-806D-9887-AF19-2C22CB5B5D2D}"/>
              </a:ext>
            </a:extLst>
          </p:cNvPr>
          <p:cNvSpPr>
            <a:spLocks noGrp="1"/>
          </p:cNvSpPr>
          <p:nvPr>
            <p:ph type="sldNum" sz="quarter" idx="12"/>
          </p:nvPr>
        </p:nvSpPr>
        <p:spPr/>
        <p:txBody>
          <a:bodyPr/>
          <a:lstStyle/>
          <a:p>
            <a:pPr lvl="1"/>
            <a:fld id="{35B60D93-CC8C-4BE3-8466-59E10CB9DAB3}" type="slidenum">
              <a:rPr lang="en-US" altLang="en-US" smtClean="0"/>
              <a:pPr lvl="1"/>
              <a:t>3</a:t>
            </a:fld>
            <a:endParaRPr lang="en-US" altLang="en-US">
              <a:latin typeface="Calibri" panose="020F0502020204030204" pitchFamily="34" charset="0"/>
            </a:endParaRPr>
          </a:p>
        </p:txBody>
      </p:sp>
    </p:spTree>
    <p:extLst>
      <p:ext uri="{BB962C8B-B14F-4D97-AF65-F5344CB8AC3E}">
        <p14:creationId xmlns:p14="http://schemas.microsoft.com/office/powerpoint/2010/main" val="11235352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FCFD1-767A-14E8-EBB6-408AA507E167}"/>
              </a:ext>
            </a:extLst>
          </p:cNvPr>
          <p:cNvSpPr>
            <a:spLocks noGrp="1"/>
          </p:cNvSpPr>
          <p:nvPr>
            <p:ph type="title"/>
          </p:nvPr>
        </p:nvSpPr>
        <p:spPr/>
        <p:txBody>
          <a:bodyPr/>
          <a:lstStyle/>
          <a:p>
            <a:r>
              <a:rPr lang="en-US" dirty="0"/>
              <a:t>Final Exam</a:t>
            </a:r>
          </a:p>
        </p:txBody>
      </p:sp>
      <p:sp>
        <p:nvSpPr>
          <p:cNvPr id="3" name="Content Placeholder 2">
            <a:extLst>
              <a:ext uri="{FF2B5EF4-FFF2-40B4-BE49-F238E27FC236}">
                <a16:creationId xmlns:a16="http://schemas.microsoft.com/office/drawing/2014/main" id="{8A0C4BF6-9517-A3EF-2CD5-9B60B72CDE21}"/>
              </a:ext>
            </a:extLst>
          </p:cNvPr>
          <p:cNvSpPr>
            <a:spLocks noGrp="1"/>
          </p:cNvSpPr>
          <p:nvPr>
            <p:ph idx="1"/>
          </p:nvPr>
        </p:nvSpPr>
        <p:spPr>
          <a:xfrm>
            <a:off x="457200" y="1600200"/>
            <a:ext cx="4038600" cy="4525963"/>
          </a:xfrm>
        </p:spPr>
        <p:txBody>
          <a:bodyPr/>
          <a:lstStyle/>
          <a:p>
            <a:r>
              <a:rPr lang="en-US" dirty="0"/>
              <a:t>See </a:t>
            </a:r>
            <a:r>
              <a:rPr lang="en-US" dirty="0">
                <a:hlinkClick r:id="rId2"/>
              </a:rPr>
              <a:t>Weekly Outline</a:t>
            </a:r>
            <a:r>
              <a:rPr lang="en-US" dirty="0"/>
              <a:t> in Canvas</a:t>
            </a:r>
          </a:p>
          <a:p>
            <a:pPr lvl="1"/>
            <a:r>
              <a:rPr lang="en-US" dirty="0"/>
              <a:t>Lectures 12 – 21</a:t>
            </a:r>
          </a:p>
          <a:p>
            <a:pPr lvl="2"/>
            <a:r>
              <a:rPr lang="en-US" dirty="0"/>
              <a:t>Textbook Readings</a:t>
            </a:r>
          </a:p>
          <a:p>
            <a:pPr lvl="2"/>
            <a:r>
              <a:rPr lang="en-US" dirty="0"/>
              <a:t>PDF handouts</a:t>
            </a:r>
          </a:p>
          <a:p>
            <a:pPr lvl="2"/>
            <a:r>
              <a:rPr lang="en-US" dirty="0"/>
              <a:t>Class exercises</a:t>
            </a:r>
          </a:p>
          <a:p>
            <a:pPr lvl="2"/>
            <a:r>
              <a:rPr lang="en-US" dirty="0"/>
              <a:t>Homework</a:t>
            </a:r>
          </a:p>
          <a:p>
            <a:pPr lvl="2"/>
            <a:r>
              <a:rPr lang="en-US" dirty="0"/>
              <a:t>Quizzes</a:t>
            </a:r>
          </a:p>
        </p:txBody>
      </p:sp>
      <p:sp>
        <p:nvSpPr>
          <p:cNvPr id="4" name="Slide Number Placeholder 3">
            <a:extLst>
              <a:ext uri="{FF2B5EF4-FFF2-40B4-BE49-F238E27FC236}">
                <a16:creationId xmlns:a16="http://schemas.microsoft.com/office/drawing/2014/main" id="{41EA1461-F598-E967-037B-FCA9C015E171}"/>
              </a:ext>
            </a:extLst>
          </p:cNvPr>
          <p:cNvSpPr>
            <a:spLocks noGrp="1"/>
          </p:cNvSpPr>
          <p:nvPr>
            <p:ph type="sldNum" sz="quarter" idx="12"/>
          </p:nvPr>
        </p:nvSpPr>
        <p:spPr/>
        <p:txBody>
          <a:bodyPr/>
          <a:lstStyle/>
          <a:p>
            <a:pPr lvl="1"/>
            <a:fld id="{35B60D93-CC8C-4BE3-8466-59E10CB9DAB3}" type="slidenum">
              <a:rPr lang="en-US" altLang="en-US" smtClean="0"/>
              <a:pPr lvl="1"/>
              <a:t>4</a:t>
            </a:fld>
            <a:endParaRPr lang="en-US" altLang="en-US">
              <a:latin typeface="Calibri" panose="020F0502020204030204" pitchFamily="34" charset="0"/>
            </a:endParaRPr>
          </a:p>
        </p:txBody>
      </p:sp>
      <p:pic>
        <p:nvPicPr>
          <p:cNvPr id="6" name="Picture 5" descr="A screenshot of a computer&#10;&#10;Description automatically generated">
            <a:extLst>
              <a:ext uri="{FF2B5EF4-FFF2-40B4-BE49-F238E27FC236}">
                <a16:creationId xmlns:a16="http://schemas.microsoft.com/office/drawing/2014/main" id="{8B98E088-ED44-209B-AE32-30CDD6B72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2454" y="1905000"/>
            <a:ext cx="4937876" cy="4451350"/>
          </a:xfrm>
          <a:prstGeom prst="rect">
            <a:avLst/>
          </a:prstGeom>
        </p:spPr>
      </p:pic>
    </p:spTree>
    <p:extLst>
      <p:ext uri="{BB962C8B-B14F-4D97-AF65-F5344CB8AC3E}">
        <p14:creationId xmlns:p14="http://schemas.microsoft.com/office/powerpoint/2010/main" val="24138456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5650E-0991-27EA-2EE6-1FE3FF8229D6}"/>
              </a:ext>
            </a:extLst>
          </p:cNvPr>
          <p:cNvSpPr>
            <a:spLocks noGrp="1"/>
          </p:cNvSpPr>
          <p:nvPr>
            <p:ph type="title"/>
          </p:nvPr>
        </p:nvSpPr>
        <p:spPr/>
        <p:txBody>
          <a:bodyPr/>
          <a:lstStyle/>
          <a:p>
            <a:r>
              <a:rPr lang="en-US" dirty="0"/>
              <a:t>Caches</a:t>
            </a:r>
          </a:p>
        </p:txBody>
      </p:sp>
      <p:sp>
        <p:nvSpPr>
          <p:cNvPr id="3" name="Content Placeholder 2">
            <a:extLst>
              <a:ext uri="{FF2B5EF4-FFF2-40B4-BE49-F238E27FC236}">
                <a16:creationId xmlns:a16="http://schemas.microsoft.com/office/drawing/2014/main" id="{94DBA69D-D97E-86F8-3BF9-312B632C18A8}"/>
              </a:ext>
            </a:extLst>
          </p:cNvPr>
          <p:cNvSpPr>
            <a:spLocks noGrp="1"/>
          </p:cNvSpPr>
          <p:nvPr>
            <p:ph idx="1"/>
          </p:nvPr>
        </p:nvSpPr>
        <p:spPr/>
        <p:txBody>
          <a:bodyPr/>
          <a:lstStyle/>
          <a:p>
            <a:r>
              <a:rPr lang="en-US" dirty="0"/>
              <a:t>Placement, Replacement, Write Policy</a:t>
            </a:r>
          </a:p>
          <a:p>
            <a:r>
              <a:rPr lang="en-US" dirty="0"/>
              <a:t>Hit, Miss (Cold/Compulsory, Conflict, Capacity)</a:t>
            </a:r>
          </a:p>
          <a:p>
            <a:r>
              <a:rPr lang="en-US" dirty="0"/>
              <a:t>Set-associativity (Direct-mapped, 2+ way)</a:t>
            </a:r>
          </a:p>
          <a:p>
            <a:r>
              <a:rPr lang="en-US" dirty="0"/>
              <a:t>Global/Local miss rates, Average memory access time</a:t>
            </a:r>
          </a:p>
          <a:p>
            <a:endParaRPr lang="en-US" dirty="0"/>
          </a:p>
        </p:txBody>
      </p:sp>
      <p:sp>
        <p:nvSpPr>
          <p:cNvPr id="4" name="Slide Number Placeholder 3">
            <a:extLst>
              <a:ext uri="{FF2B5EF4-FFF2-40B4-BE49-F238E27FC236}">
                <a16:creationId xmlns:a16="http://schemas.microsoft.com/office/drawing/2014/main" id="{65ABF891-ED96-67E3-5765-2F95D4FD0508}"/>
              </a:ext>
            </a:extLst>
          </p:cNvPr>
          <p:cNvSpPr>
            <a:spLocks noGrp="1"/>
          </p:cNvSpPr>
          <p:nvPr>
            <p:ph type="sldNum" sz="quarter" idx="12"/>
          </p:nvPr>
        </p:nvSpPr>
        <p:spPr/>
        <p:txBody>
          <a:bodyPr/>
          <a:lstStyle/>
          <a:p>
            <a:pPr lvl="1"/>
            <a:fld id="{35B60D93-CC8C-4BE3-8466-59E10CB9DAB3}" type="slidenum">
              <a:rPr lang="en-US" altLang="en-US" smtClean="0"/>
              <a:pPr lvl="1"/>
              <a:t>5</a:t>
            </a:fld>
            <a:endParaRPr lang="en-US" altLang="en-US">
              <a:latin typeface="Calibri" panose="020F0502020204030204" pitchFamily="34" charset="0"/>
            </a:endParaRPr>
          </a:p>
        </p:txBody>
      </p:sp>
    </p:spTree>
    <p:extLst>
      <p:ext uri="{BB962C8B-B14F-4D97-AF65-F5344CB8AC3E}">
        <p14:creationId xmlns:p14="http://schemas.microsoft.com/office/powerpoint/2010/main" val="114862941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4C695-91E1-8441-7BB5-5EAC220EE24F}"/>
              </a:ext>
            </a:extLst>
          </p:cNvPr>
          <p:cNvSpPr>
            <a:spLocks noGrp="1"/>
          </p:cNvSpPr>
          <p:nvPr>
            <p:ph type="title"/>
          </p:nvPr>
        </p:nvSpPr>
        <p:spPr/>
        <p:txBody>
          <a:bodyPr/>
          <a:lstStyle/>
          <a:p>
            <a:r>
              <a:rPr lang="en-US" dirty="0"/>
              <a:t>Physical/Virtual Addresses</a:t>
            </a:r>
          </a:p>
        </p:txBody>
      </p:sp>
      <p:sp>
        <p:nvSpPr>
          <p:cNvPr id="3" name="Content Placeholder 2">
            <a:extLst>
              <a:ext uri="{FF2B5EF4-FFF2-40B4-BE49-F238E27FC236}">
                <a16:creationId xmlns:a16="http://schemas.microsoft.com/office/drawing/2014/main" id="{E903D2C2-659A-4930-FF80-2E320928F78B}"/>
              </a:ext>
            </a:extLst>
          </p:cNvPr>
          <p:cNvSpPr>
            <a:spLocks noGrp="1"/>
          </p:cNvSpPr>
          <p:nvPr>
            <p:ph idx="1"/>
          </p:nvPr>
        </p:nvSpPr>
        <p:spPr/>
        <p:txBody>
          <a:bodyPr/>
          <a:lstStyle/>
          <a:p>
            <a:r>
              <a:rPr lang="en-US" dirty="0"/>
              <a:t>Why Virtualize Addresses?</a:t>
            </a:r>
          </a:p>
          <a:p>
            <a:r>
              <a:rPr lang="en-US" dirty="0"/>
              <a:t>1 level &amp; multi-level Page Tables</a:t>
            </a:r>
          </a:p>
          <a:p>
            <a:r>
              <a:rPr lang="en-US" dirty="0"/>
              <a:t>Address translation</a:t>
            </a:r>
          </a:p>
          <a:p>
            <a:pPr lvl="1"/>
            <a:r>
              <a:rPr lang="en-US" dirty="0"/>
              <a:t>VPN</a:t>
            </a:r>
            <a:r>
              <a:rPr lang="en-US" dirty="0">
                <a:sym typeface="Wingdings" pitchFamily="2" charset="2"/>
              </a:rPr>
              <a:t>PPN, POFS</a:t>
            </a:r>
            <a:endParaRPr lang="en-US" dirty="0"/>
          </a:p>
          <a:p>
            <a:r>
              <a:rPr lang="en-US" dirty="0"/>
              <a:t>TLB cache for PTEs; Reach</a:t>
            </a:r>
          </a:p>
          <a:p>
            <a:r>
              <a:rPr lang="en-US" dirty="0"/>
              <a:t>PIPT, VIVT, VIPT caches (synonym/homonym)</a:t>
            </a:r>
          </a:p>
          <a:p>
            <a:r>
              <a:rPr lang="en-US" dirty="0"/>
              <a:t>Code/Heap/Stack pages</a:t>
            </a:r>
          </a:p>
          <a:p>
            <a:endParaRPr lang="en-US" dirty="0"/>
          </a:p>
        </p:txBody>
      </p:sp>
      <p:sp>
        <p:nvSpPr>
          <p:cNvPr id="4" name="Slide Number Placeholder 3">
            <a:extLst>
              <a:ext uri="{FF2B5EF4-FFF2-40B4-BE49-F238E27FC236}">
                <a16:creationId xmlns:a16="http://schemas.microsoft.com/office/drawing/2014/main" id="{9E7F6E12-00F9-8DAD-EAEA-EB6492CA3313}"/>
              </a:ext>
            </a:extLst>
          </p:cNvPr>
          <p:cNvSpPr>
            <a:spLocks noGrp="1"/>
          </p:cNvSpPr>
          <p:nvPr>
            <p:ph type="sldNum" sz="quarter" idx="12"/>
          </p:nvPr>
        </p:nvSpPr>
        <p:spPr/>
        <p:txBody>
          <a:bodyPr/>
          <a:lstStyle/>
          <a:p>
            <a:pPr lvl="1"/>
            <a:fld id="{35B60D93-CC8C-4BE3-8466-59E10CB9DAB3}" type="slidenum">
              <a:rPr lang="en-US" altLang="en-US" smtClean="0"/>
              <a:pPr lvl="1"/>
              <a:t>6</a:t>
            </a:fld>
            <a:endParaRPr lang="en-US" altLang="en-US">
              <a:latin typeface="Calibri" panose="020F0502020204030204" pitchFamily="34" charset="0"/>
            </a:endParaRPr>
          </a:p>
        </p:txBody>
      </p:sp>
    </p:spTree>
    <p:extLst>
      <p:ext uri="{BB962C8B-B14F-4D97-AF65-F5344CB8AC3E}">
        <p14:creationId xmlns:p14="http://schemas.microsoft.com/office/powerpoint/2010/main" val="172977944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Caches and Virtual Memory</a:t>
            </a:r>
          </a:p>
        </p:txBody>
      </p:sp>
      <p:sp>
        <p:nvSpPr>
          <p:cNvPr id="39941" name="Rectangle 3"/>
          <p:cNvSpPr>
            <a:spLocks noGrp="1" noChangeArrowheads="1"/>
          </p:cNvSpPr>
          <p:nvPr>
            <p:ph idx="1"/>
          </p:nvPr>
        </p:nvSpPr>
        <p:spPr>
          <a:xfrm>
            <a:off x="457200" y="1143000"/>
            <a:ext cx="8610600" cy="1752600"/>
          </a:xfrm>
        </p:spPr>
        <p:txBody>
          <a:bodyPr/>
          <a:lstStyle/>
          <a:p>
            <a:pPr marL="0" indent="0">
              <a:buNone/>
            </a:pPr>
            <a:r>
              <a:rPr lang="en-US" altLang="en-US" sz="2400" dirty="0"/>
              <a:t>Load word for 32-bit virtual address 0xC080A114 on a system with 4KiB pages. The cache is 3-way set-associative with 64B blocks and 24KiB capacity. Given TLB contents below, what are the </a:t>
            </a:r>
            <a:r>
              <a:rPr lang="en-US" altLang="en-US" sz="2400" b="1" dirty="0"/>
              <a:t>set</a:t>
            </a:r>
            <a:r>
              <a:rPr lang="en-US" altLang="en-US" sz="2400" dirty="0"/>
              <a:t>, </a:t>
            </a:r>
            <a:r>
              <a:rPr lang="en-US" altLang="en-US" sz="2400" b="1" dirty="0"/>
              <a:t>offset</a:t>
            </a:r>
            <a:r>
              <a:rPr lang="en-US" altLang="en-US" sz="2400" dirty="0"/>
              <a:t> and </a:t>
            </a:r>
            <a:r>
              <a:rPr lang="en-US" altLang="en-US" sz="2400" b="1" dirty="0"/>
              <a:t>tag</a:t>
            </a:r>
            <a:r>
              <a:rPr lang="en-US" altLang="en-US" sz="2400" dirty="0"/>
              <a:t> bits used to access the cache, if (a) VIVT? (b) PIPT?</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7</a:t>
            </a:fld>
            <a:endParaRPr lang="en-US" altLang="en-US"/>
          </a:p>
        </p:txBody>
      </p:sp>
      <p:graphicFrame>
        <p:nvGraphicFramePr>
          <p:cNvPr id="2" name="Table 1">
            <a:extLst>
              <a:ext uri="{FF2B5EF4-FFF2-40B4-BE49-F238E27FC236}">
                <a16:creationId xmlns:a16="http://schemas.microsoft.com/office/drawing/2014/main" id="{E05CAF34-A59D-5134-87C2-B6B9749CAF1E}"/>
              </a:ext>
            </a:extLst>
          </p:cNvPr>
          <p:cNvGraphicFramePr>
            <a:graphicFrameLocks noGrp="1"/>
          </p:cNvGraphicFramePr>
          <p:nvPr>
            <p:extLst>
              <p:ext uri="{D42A27DB-BD31-4B8C-83A1-F6EECF244321}">
                <p14:modId xmlns:p14="http://schemas.microsoft.com/office/powerpoint/2010/main" val="3884438994"/>
              </p:ext>
            </p:extLst>
          </p:nvPr>
        </p:nvGraphicFramePr>
        <p:xfrm>
          <a:off x="4800600" y="3352800"/>
          <a:ext cx="3810000" cy="3352800"/>
        </p:xfrm>
        <a:graphic>
          <a:graphicData uri="http://schemas.openxmlformats.org/drawingml/2006/table">
            <a:tbl>
              <a:tblPr firstRow="1" bandRow="1">
                <a:tableStyleId>{5C22544A-7EE6-4342-B048-85BDC9FD1C3A}</a:tableStyleId>
              </a:tblPr>
              <a:tblGrid>
                <a:gridCol w="571500">
                  <a:extLst>
                    <a:ext uri="{9D8B030D-6E8A-4147-A177-3AD203B41FA5}">
                      <a16:colId xmlns:a16="http://schemas.microsoft.com/office/drawing/2014/main" val="3942499774"/>
                    </a:ext>
                  </a:extLst>
                </a:gridCol>
                <a:gridCol w="1701132">
                  <a:extLst>
                    <a:ext uri="{9D8B030D-6E8A-4147-A177-3AD203B41FA5}">
                      <a16:colId xmlns:a16="http://schemas.microsoft.com/office/drawing/2014/main" val="3867553916"/>
                    </a:ext>
                  </a:extLst>
                </a:gridCol>
                <a:gridCol w="1537368">
                  <a:extLst>
                    <a:ext uri="{9D8B030D-6E8A-4147-A177-3AD203B41FA5}">
                      <a16:colId xmlns:a16="http://schemas.microsoft.com/office/drawing/2014/main" val="1667985789"/>
                    </a:ext>
                  </a:extLst>
                </a:gridCol>
              </a:tblGrid>
              <a:tr h="274320">
                <a:tc gridSpan="3">
                  <a:txBody>
                    <a:bodyPr/>
                    <a:lstStyle/>
                    <a:p>
                      <a:pPr algn="ctr"/>
                      <a:r>
                        <a:rPr lang="en-US" sz="1600" dirty="0">
                          <a:solidFill>
                            <a:schemeClr val="tx1"/>
                          </a:solidFill>
                        </a:rPr>
                        <a:t>TLB </a:t>
                      </a:r>
                      <a:r>
                        <a:rPr lang="en-US" sz="1600" b="0" dirty="0">
                          <a:solidFill>
                            <a:schemeClr val="tx1"/>
                          </a:solidFill>
                        </a:rPr>
                        <a:t>(8-entry, 2-way set-associative)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5911879"/>
                  </a:ext>
                </a:extLst>
              </a:tr>
              <a:tr h="274320">
                <a:tc>
                  <a:txBody>
                    <a:bodyPr/>
                    <a:lstStyle/>
                    <a:p>
                      <a:pPr algn="ctr"/>
                      <a:r>
                        <a:rPr lang="en-US" sz="1600" b="1" dirty="0">
                          <a:solidFill>
                            <a:schemeClr val="tx1"/>
                          </a:solidFill>
                        </a:rPr>
                        <a:t>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tx1"/>
                          </a:solidFill>
                        </a:rPr>
                        <a:t>18-bit Tag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tx1"/>
                          </a:solidFill>
                        </a:rPr>
                        <a:t>8-bit PPN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7885084"/>
                  </a:ext>
                </a:extLst>
              </a:tr>
              <a:tr h="274320">
                <a:tc rowSpan="2">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0x18042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2849627"/>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0x30601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9684116"/>
                  </a:ext>
                </a:extLst>
              </a:tr>
              <a:tr h="274320">
                <a:tc rowSpan="2">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0x30804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950698"/>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0x2C0A0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46377"/>
                  </a:ext>
                </a:extLst>
              </a:tr>
              <a:tr h="274320">
                <a:tc rowSpan="2">
                  <a:txBody>
                    <a:bodyPr/>
                    <a:lstStyle/>
                    <a:p>
                      <a:pPr algn="ctr"/>
                      <a:r>
                        <a:rPr lang="en-US" sz="1600"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0x06040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1669051"/>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829265"/>
                  </a:ext>
                </a:extLst>
              </a:tr>
              <a:tr h="274320">
                <a:tc rowSpan="2">
                  <a:txBody>
                    <a:bodyPr/>
                    <a:lstStyle/>
                    <a:p>
                      <a:pPr algn="ctr"/>
                      <a:r>
                        <a:rPr lang="en-US" sz="16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0x20810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8478426"/>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0x30402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0xE3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9771478"/>
                  </a:ext>
                </a:extLst>
              </a:tr>
            </a:tbl>
          </a:graphicData>
        </a:graphic>
      </p:graphicFrame>
    </p:spTree>
    <p:extLst>
      <p:ext uri="{BB962C8B-B14F-4D97-AF65-F5344CB8AC3E}">
        <p14:creationId xmlns:p14="http://schemas.microsoft.com/office/powerpoint/2010/main" val="137897806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Caches and Virtual Memory</a:t>
            </a:r>
          </a:p>
        </p:txBody>
      </p:sp>
      <p:sp>
        <p:nvSpPr>
          <p:cNvPr id="39941" name="Rectangle 3"/>
          <p:cNvSpPr>
            <a:spLocks noGrp="1" noChangeArrowheads="1"/>
          </p:cNvSpPr>
          <p:nvPr>
            <p:ph idx="1"/>
          </p:nvPr>
        </p:nvSpPr>
        <p:spPr>
          <a:xfrm>
            <a:off x="457200" y="1143000"/>
            <a:ext cx="8610600" cy="1752600"/>
          </a:xfrm>
        </p:spPr>
        <p:txBody>
          <a:bodyPr/>
          <a:lstStyle/>
          <a:p>
            <a:pPr marL="0" indent="0">
              <a:buNone/>
            </a:pPr>
            <a:r>
              <a:rPr lang="en-US" altLang="en-US" sz="2400" dirty="0"/>
              <a:t>Load word for 32-bit virtual address 0xC080A114 on a system with 4KiB pages. The cache is 3-way set-associative with 64B blocks and 24KiB capacity. Given TLB contents below, what are the </a:t>
            </a:r>
            <a:r>
              <a:rPr lang="en-US" altLang="en-US" sz="2400" b="1" dirty="0"/>
              <a:t>set</a:t>
            </a:r>
            <a:r>
              <a:rPr lang="en-US" altLang="en-US" sz="2400" dirty="0"/>
              <a:t>, </a:t>
            </a:r>
            <a:r>
              <a:rPr lang="en-US" altLang="en-US" sz="2400" b="1" dirty="0"/>
              <a:t>offset</a:t>
            </a:r>
            <a:r>
              <a:rPr lang="en-US" altLang="en-US" sz="2400" dirty="0"/>
              <a:t> and </a:t>
            </a:r>
            <a:r>
              <a:rPr lang="en-US" altLang="en-US" sz="2400" b="1" dirty="0"/>
              <a:t>tag</a:t>
            </a:r>
            <a:r>
              <a:rPr lang="en-US" altLang="en-US" sz="2400" dirty="0"/>
              <a:t> bits used to access the cache, if (a) VIVT? (b) PIPT?</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8</a:t>
            </a:fld>
            <a:endParaRPr lang="en-US" altLang="en-US"/>
          </a:p>
        </p:txBody>
      </p:sp>
      <p:graphicFrame>
        <p:nvGraphicFramePr>
          <p:cNvPr id="2" name="Table 1">
            <a:extLst>
              <a:ext uri="{FF2B5EF4-FFF2-40B4-BE49-F238E27FC236}">
                <a16:creationId xmlns:a16="http://schemas.microsoft.com/office/drawing/2014/main" id="{E05CAF34-A59D-5134-87C2-B6B9749CAF1E}"/>
              </a:ext>
            </a:extLst>
          </p:cNvPr>
          <p:cNvGraphicFramePr>
            <a:graphicFrameLocks noGrp="1"/>
          </p:cNvGraphicFramePr>
          <p:nvPr>
            <p:extLst>
              <p:ext uri="{D42A27DB-BD31-4B8C-83A1-F6EECF244321}">
                <p14:modId xmlns:p14="http://schemas.microsoft.com/office/powerpoint/2010/main" val="1908852069"/>
              </p:ext>
            </p:extLst>
          </p:nvPr>
        </p:nvGraphicFramePr>
        <p:xfrm>
          <a:off x="4800600" y="3352800"/>
          <a:ext cx="3810000" cy="3352800"/>
        </p:xfrm>
        <a:graphic>
          <a:graphicData uri="http://schemas.openxmlformats.org/drawingml/2006/table">
            <a:tbl>
              <a:tblPr firstRow="1" bandRow="1">
                <a:tableStyleId>{5C22544A-7EE6-4342-B048-85BDC9FD1C3A}</a:tableStyleId>
              </a:tblPr>
              <a:tblGrid>
                <a:gridCol w="571500">
                  <a:extLst>
                    <a:ext uri="{9D8B030D-6E8A-4147-A177-3AD203B41FA5}">
                      <a16:colId xmlns:a16="http://schemas.microsoft.com/office/drawing/2014/main" val="3942499774"/>
                    </a:ext>
                  </a:extLst>
                </a:gridCol>
                <a:gridCol w="1701132">
                  <a:extLst>
                    <a:ext uri="{9D8B030D-6E8A-4147-A177-3AD203B41FA5}">
                      <a16:colId xmlns:a16="http://schemas.microsoft.com/office/drawing/2014/main" val="3867553916"/>
                    </a:ext>
                  </a:extLst>
                </a:gridCol>
                <a:gridCol w="1537368">
                  <a:extLst>
                    <a:ext uri="{9D8B030D-6E8A-4147-A177-3AD203B41FA5}">
                      <a16:colId xmlns:a16="http://schemas.microsoft.com/office/drawing/2014/main" val="1667985789"/>
                    </a:ext>
                  </a:extLst>
                </a:gridCol>
              </a:tblGrid>
              <a:tr h="274320">
                <a:tc gridSpan="3">
                  <a:txBody>
                    <a:bodyPr/>
                    <a:lstStyle/>
                    <a:p>
                      <a:pPr algn="ctr"/>
                      <a:r>
                        <a:rPr lang="en-US" sz="1600" dirty="0">
                          <a:solidFill>
                            <a:schemeClr val="tx1"/>
                          </a:solidFill>
                        </a:rPr>
                        <a:t>TLB </a:t>
                      </a:r>
                      <a:r>
                        <a:rPr lang="en-US" sz="1600" b="0" dirty="0">
                          <a:solidFill>
                            <a:schemeClr val="tx1"/>
                          </a:solidFill>
                        </a:rPr>
                        <a:t>(8-entry, 2-way set-associative)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5911879"/>
                  </a:ext>
                </a:extLst>
              </a:tr>
              <a:tr h="274320">
                <a:tc>
                  <a:txBody>
                    <a:bodyPr/>
                    <a:lstStyle/>
                    <a:p>
                      <a:pPr algn="ctr"/>
                      <a:r>
                        <a:rPr lang="en-US" sz="1600" b="1" dirty="0">
                          <a:solidFill>
                            <a:schemeClr val="tx1"/>
                          </a:solidFill>
                        </a:rPr>
                        <a:t>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tx1"/>
                          </a:solidFill>
                        </a:rPr>
                        <a:t>18-bit Tag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tx1"/>
                          </a:solidFill>
                        </a:rPr>
                        <a:t>8-bit PPN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7885084"/>
                  </a:ext>
                </a:extLst>
              </a:tr>
              <a:tr h="274320">
                <a:tc rowSpan="2">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0x18042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2849627"/>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0x30601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9684116"/>
                  </a:ext>
                </a:extLst>
              </a:tr>
              <a:tr h="274320">
                <a:tc rowSpan="2">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0x30804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950698"/>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0x2C0A0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46377"/>
                  </a:ext>
                </a:extLst>
              </a:tr>
              <a:tr h="274320">
                <a:tc rowSpan="2">
                  <a:txBody>
                    <a:bodyPr/>
                    <a:lstStyle/>
                    <a:p>
                      <a:pPr algn="ctr"/>
                      <a:r>
                        <a:rPr lang="en-US" sz="1600"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0x06040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1669051"/>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829265"/>
                  </a:ext>
                </a:extLst>
              </a:tr>
              <a:tr h="274320">
                <a:tc rowSpan="2">
                  <a:txBody>
                    <a:bodyPr/>
                    <a:lstStyle/>
                    <a:p>
                      <a:pPr algn="ctr"/>
                      <a:r>
                        <a:rPr lang="en-US" sz="16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0x20810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8478426"/>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0x30402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0xE3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9771478"/>
                  </a:ext>
                </a:extLst>
              </a:tr>
            </a:tbl>
          </a:graphicData>
        </a:graphic>
      </p:graphicFrame>
      <p:sp>
        <p:nvSpPr>
          <p:cNvPr id="4" name="Rectangle 3">
            <a:extLst>
              <a:ext uri="{FF2B5EF4-FFF2-40B4-BE49-F238E27FC236}">
                <a16:creationId xmlns:a16="http://schemas.microsoft.com/office/drawing/2014/main" id="{45A1AEC4-C46E-4B0A-80FD-0EACA927F49C}"/>
              </a:ext>
            </a:extLst>
          </p:cNvPr>
          <p:cNvSpPr txBox="1">
            <a:spLocks noChangeArrowheads="1"/>
          </p:cNvSpPr>
          <p:nvPr/>
        </p:nvSpPr>
        <p:spPr bwMode="auto">
          <a:xfrm>
            <a:off x="457200" y="2675487"/>
            <a:ext cx="8101584" cy="82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a:solidFill>
                  <a:schemeClr val="accent6">
                    <a:lumMod val="75000"/>
                  </a:schemeClr>
                </a:solidFill>
                <a:cs typeface="Courier New" panose="02070309020205020404" pitchFamily="49" charset="0"/>
              </a:rPr>
              <a:t>If VIVT: </a:t>
            </a:r>
            <a:r>
              <a:rPr lang="en-US" altLang="en-US" sz="1800" b="1" dirty="0">
                <a:solidFill>
                  <a:schemeClr val="accent6">
                    <a:lumMod val="75000"/>
                  </a:schemeClr>
                </a:solidFill>
                <a:latin typeface="Courier New" panose="02070309020205020404" pitchFamily="49" charset="0"/>
                <a:cs typeface="Courier New" panose="02070309020205020404" pitchFamily="49" charset="0"/>
              </a:rPr>
              <a:t>VA = 1100000010000000101 0000100 010100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   o  |</a:t>
            </a:r>
          </a:p>
          <a:p>
            <a:pPr marL="0" indent="0">
              <a:buFont typeface="Arial" charset="0"/>
              <a:buNone/>
            </a:pPr>
            <a:endParaRPr lang="en-US" altLang="en-US" sz="1800" b="1" dirty="0">
              <a:solidFill>
                <a:schemeClr val="accent6">
                  <a:lumMod val="7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2526457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Caches and Virtual Memory</a:t>
            </a:r>
          </a:p>
        </p:txBody>
      </p:sp>
      <p:sp>
        <p:nvSpPr>
          <p:cNvPr id="39941" name="Rectangle 3"/>
          <p:cNvSpPr>
            <a:spLocks noGrp="1" noChangeArrowheads="1"/>
          </p:cNvSpPr>
          <p:nvPr>
            <p:ph idx="1"/>
          </p:nvPr>
        </p:nvSpPr>
        <p:spPr>
          <a:xfrm>
            <a:off x="457200" y="1143000"/>
            <a:ext cx="8610600" cy="1752600"/>
          </a:xfrm>
        </p:spPr>
        <p:txBody>
          <a:bodyPr/>
          <a:lstStyle/>
          <a:p>
            <a:pPr marL="0" indent="0">
              <a:buNone/>
            </a:pPr>
            <a:r>
              <a:rPr lang="en-US" altLang="en-US" sz="2400" dirty="0"/>
              <a:t>Load word for 32-bit virtual address 0xC080A114 on a system with 4KiB pages. The cache is 3-way set-associative with 64B blocks and 24KiB capacity. Given TLB contents below, what are the </a:t>
            </a:r>
            <a:r>
              <a:rPr lang="en-US" altLang="en-US" sz="2400" b="1" dirty="0"/>
              <a:t>set</a:t>
            </a:r>
            <a:r>
              <a:rPr lang="en-US" altLang="en-US" sz="2400" dirty="0"/>
              <a:t>, </a:t>
            </a:r>
            <a:r>
              <a:rPr lang="en-US" altLang="en-US" sz="2400" b="1" dirty="0"/>
              <a:t>offset</a:t>
            </a:r>
            <a:r>
              <a:rPr lang="en-US" altLang="en-US" sz="2400" dirty="0"/>
              <a:t> and </a:t>
            </a:r>
            <a:r>
              <a:rPr lang="en-US" altLang="en-US" sz="2400" b="1" dirty="0"/>
              <a:t>tag</a:t>
            </a:r>
            <a:r>
              <a:rPr lang="en-US" altLang="en-US" sz="2400" dirty="0"/>
              <a:t> bits used to access the cache, if (a) VIVT? (b) PIPT?</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9</a:t>
            </a:fld>
            <a:endParaRPr lang="en-US" altLang="en-US"/>
          </a:p>
        </p:txBody>
      </p:sp>
      <p:graphicFrame>
        <p:nvGraphicFramePr>
          <p:cNvPr id="2" name="Table 1">
            <a:extLst>
              <a:ext uri="{FF2B5EF4-FFF2-40B4-BE49-F238E27FC236}">
                <a16:creationId xmlns:a16="http://schemas.microsoft.com/office/drawing/2014/main" id="{E05CAF34-A59D-5134-87C2-B6B9749CAF1E}"/>
              </a:ext>
            </a:extLst>
          </p:cNvPr>
          <p:cNvGraphicFramePr>
            <a:graphicFrameLocks noGrp="1"/>
          </p:cNvGraphicFramePr>
          <p:nvPr>
            <p:extLst>
              <p:ext uri="{D42A27DB-BD31-4B8C-83A1-F6EECF244321}">
                <p14:modId xmlns:p14="http://schemas.microsoft.com/office/powerpoint/2010/main" val="2161672653"/>
              </p:ext>
            </p:extLst>
          </p:nvPr>
        </p:nvGraphicFramePr>
        <p:xfrm>
          <a:off x="4800600" y="3352800"/>
          <a:ext cx="3810000" cy="3352800"/>
        </p:xfrm>
        <a:graphic>
          <a:graphicData uri="http://schemas.openxmlformats.org/drawingml/2006/table">
            <a:tbl>
              <a:tblPr firstRow="1" bandRow="1">
                <a:tableStyleId>{5C22544A-7EE6-4342-B048-85BDC9FD1C3A}</a:tableStyleId>
              </a:tblPr>
              <a:tblGrid>
                <a:gridCol w="571500">
                  <a:extLst>
                    <a:ext uri="{9D8B030D-6E8A-4147-A177-3AD203B41FA5}">
                      <a16:colId xmlns:a16="http://schemas.microsoft.com/office/drawing/2014/main" val="3942499774"/>
                    </a:ext>
                  </a:extLst>
                </a:gridCol>
                <a:gridCol w="1701132">
                  <a:extLst>
                    <a:ext uri="{9D8B030D-6E8A-4147-A177-3AD203B41FA5}">
                      <a16:colId xmlns:a16="http://schemas.microsoft.com/office/drawing/2014/main" val="3867553916"/>
                    </a:ext>
                  </a:extLst>
                </a:gridCol>
                <a:gridCol w="1537368">
                  <a:extLst>
                    <a:ext uri="{9D8B030D-6E8A-4147-A177-3AD203B41FA5}">
                      <a16:colId xmlns:a16="http://schemas.microsoft.com/office/drawing/2014/main" val="1667985789"/>
                    </a:ext>
                  </a:extLst>
                </a:gridCol>
              </a:tblGrid>
              <a:tr h="274320">
                <a:tc gridSpan="3">
                  <a:txBody>
                    <a:bodyPr/>
                    <a:lstStyle/>
                    <a:p>
                      <a:pPr algn="ctr"/>
                      <a:r>
                        <a:rPr lang="en-US" sz="1600" dirty="0">
                          <a:solidFill>
                            <a:schemeClr val="tx1"/>
                          </a:solidFill>
                        </a:rPr>
                        <a:t>TLB </a:t>
                      </a:r>
                      <a:r>
                        <a:rPr lang="en-US" sz="1600" b="0" dirty="0">
                          <a:solidFill>
                            <a:schemeClr val="tx1"/>
                          </a:solidFill>
                        </a:rPr>
                        <a:t>(8-entry, 2-way set-associative)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5911879"/>
                  </a:ext>
                </a:extLst>
              </a:tr>
              <a:tr h="274320">
                <a:tc>
                  <a:txBody>
                    <a:bodyPr/>
                    <a:lstStyle/>
                    <a:p>
                      <a:pPr algn="ctr"/>
                      <a:r>
                        <a:rPr lang="en-US" sz="1600" b="1" dirty="0">
                          <a:solidFill>
                            <a:schemeClr val="tx1"/>
                          </a:solidFill>
                        </a:rPr>
                        <a:t>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tx1"/>
                          </a:solidFill>
                        </a:rPr>
                        <a:t>18-bit Tag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tx1"/>
                          </a:solidFill>
                        </a:rPr>
                        <a:t>8-bit PPN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7885084"/>
                  </a:ext>
                </a:extLst>
              </a:tr>
              <a:tr h="274320">
                <a:tc rowSpan="2">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0x18042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2849627"/>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0x30601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9684116"/>
                  </a:ext>
                </a:extLst>
              </a:tr>
              <a:tr h="274320">
                <a:tc rowSpan="2">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0x30804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950698"/>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0x2C0A0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46377"/>
                  </a:ext>
                </a:extLst>
              </a:tr>
              <a:tr h="274320">
                <a:tc rowSpan="2">
                  <a:txBody>
                    <a:bodyPr/>
                    <a:lstStyle/>
                    <a:p>
                      <a:pPr algn="ctr"/>
                      <a:r>
                        <a:rPr lang="en-US" sz="1600"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0x06040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1669051"/>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829265"/>
                  </a:ext>
                </a:extLst>
              </a:tr>
              <a:tr h="274320">
                <a:tc rowSpan="2">
                  <a:txBody>
                    <a:bodyPr/>
                    <a:lstStyle/>
                    <a:p>
                      <a:pPr algn="ctr"/>
                      <a:r>
                        <a:rPr lang="en-US" sz="16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0x20810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8478426"/>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0x30402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0xE3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9771478"/>
                  </a:ext>
                </a:extLst>
              </a:tr>
            </a:tbl>
          </a:graphicData>
        </a:graphic>
      </p:graphicFrame>
      <p:sp>
        <p:nvSpPr>
          <p:cNvPr id="3" name="Rectangle 3">
            <a:extLst>
              <a:ext uri="{FF2B5EF4-FFF2-40B4-BE49-F238E27FC236}">
                <a16:creationId xmlns:a16="http://schemas.microsoft.com/office/drawing/2014/main" id="{C6F2A8E4-7D18-5B6E-999A-7725CD975672}"/>
              </a:ext>
            </a:extLst>
          </p:cNvPr>
          <p:cNvSpPr txBox="1">
            <a:spLocks noChangeArrowheads="1"/>
          </p:cNvSpPr>
          <p:nvPr/>
        </p:nvSpPr>
        <p:spPr bwMode="auto">
          <a:xfrm>
            <a:off x="457200" y="3429000"/>
            <a:ext cx="4495800"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a:solidFill>
                  <a:schemeClr val="accent6">
                    <a:lumMod val="75000"/>
                  </a:schemeClr>
                </a:solidFill>
                <a:cs typeface="Courier New" panose="02070309020205020404" pitchFamily="49" charset="0"/>
              </a:rPr>
              <a:t>If PIPT:</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VPN = 0xC080A</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VPN = 110000001000000010 10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a:t>
            </a:r>
          </a:p>
          <a:p>
            <a:pPr marL="0" indent="0">
              <a:buFont typeface="Arial" charset="0"/>
              <a:buNone/>
            </a:pPr>
            <a:endParaRPr lang="en-US" altLang="en-US" sz="1800" b="1" dirty="0">
              <a:solidFill>
                <a:schemeClr val="accent6">
                  <a:lumMod val="75000"/>
                </a:schemeClr>
              </a:solidFill>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45A1AEC4-C46E-4B0A-80FD-0EACA927F49C}"/>
              </a:ext>
            </a:extLst>
          </p:cNvPr>
          <p:cNvSpPr txBox="1">
            <a:spLocks noChangeArrowheads="1"/>
          </p:cNvSpPr>
          <p:nvPr/>
        </p:nvSpPr>
        <p:spPr bwMode="auto">
          <a:xfrm>
            <a:off x="457200" y="2675487"/>
            <a:ext cx="8101584" cy="82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a:solidFill>
                  <a:schemeClr val="accent6">
                    <a:lumMod val="75000"/>
                  </a:schemeClr>
                </a:solidFill>
                <a:cs typeface="Courier New" panose="02070309020205020404" pitchFamily="49" charset="0"/>
              </a:rPr>
              <a:t>If VIVT: </a:t>
            </a:r>
            <a:r>
              <a:rPr lang="en-US" altLang="en-US" sz="1800" b="1" dirty="0">
                <a:solidFill>
                  <a:schemeClr val="accent6">
                    <a:lumMod val="75000"/>
                  </a:schemeClr>
                </a:solidFill>
                <a:latin typeface="Courier New" panose="02070309020205020404" pitchFamily="49" charset="0"/>
                <a:cs typeface="Courier New" panose="02070309020205020404" pitchFamily="49" charset="0"/>
              </a:rPr>
              <a:t>VA = 1100000010000000101 0000100 010100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   o  |</a:t>
            </a:r>
          </a:p>
          <a:p>
            <a:pPr marL="0" indent="0">
              <a:buFont typeface="Arial" charset="0"/>
              <a:buNone/>
            </a:pPr>
            <a:endParaRPr lang="en-US" altLang="en-US" sz="1800" b="1" dirty="0">
              <a:solidFill>
                <a:schemeClr val="accent6">
                  <a:lumMod val="7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768395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Caches and Virtual Memory</a:t>
            </a:r>
          </a:p>
        </p:txBody>
      </p:sp>
      <p:sp>
        <p:nvSpPr>
          <p:cNvPr id="39941" name="Rectangle 3"/>
          <p:cNvSpPr>
            <a:spLocks noGrp="1" noChangeArrowheads="1"/>
          </p:cNvSpPr>
          <p:nvPr>
            <p:ph idx="1"/>
          </p:nvPr>
        </p:nvSpPr>
        <p:spPr>
          <a:xfrm>
            <a:off x="457200" y="1143000"/>
            <a:ext cx="8610600" cy="1752600"/>
          </a:xfrm>
        </p:spPr>
        <p:txBody>
          <a:bodyPr/>
          <a:lstStyle/>
          <a:p>
            <a:pPr marL="0" indent="0">
              <a:buNone/>
            </a:pPr>
            <a:r>
              <a:rPr lang="en-US" altLang="en-US" sz="2400" dirty="0"/>
              <a:t>Load word for 32-bit virtual address 0xC080A114 on a system with 4KiB pages. The cache is 3-way set-associative with 64B blocks and 24KiB capacity. Given TLB contents below, what are the </a:t>
            </a:r>
            <a:r>
              <a:rPr lang="en-US" altLang="en-US" sz="2400" b="1" dirty="0"/>
              <a:t>set</a:t>
            </a:r>
            <a:r>
              <a:rPr lang="en-US" altLang="en-US" sz="2400" dirty="0"/>
              <a:t>, </a:t>
            </a:r>
            <a:r>
              <a:rPr lang="en-US" altLang="en-US" sz="2400" b="1" dirty="0"/>
              <a:t>offset</a:t>
            </a:r>
            <a:r>
              <a:rPr lang="en-US" altLang="en-US" sz="2400" dirty="0"/>
              <a:t> and </a:t>
            </a:r>
            <a:r>
              <a:rPr lang="en-US" altLang="en-US" sz="2400" b="1" dirty="0"/>
              <a:t>tag</a:t>
            </a:r>
            <a:r>
              <a:rPr lang="en-US" altLang="en-US" sz="2400" dirty="0"/>
              <a:t> bits used to access the cache, if (a) VIVT? (b) PIPT?</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10</a:t>
            </a:fld>
            <a:endParaRPr lang="en-US" altLang="en-US"/>
          </a:p>
        </p:txBody>
      </p:sp>
      <p:graphicFrame>
        <p:nvGraphicFramePr>
          <p:cNvPr id="2" name="Table 1">
            <a:extLst>
              <a:ext uri="{FF2B5EF4-FFF2-40B4-BE49-F238E27FC236}">
                <a16:creationId xmlns:a16="http://schemas.microsoft.com/office/drawing/2014/main" id="{E05CAF34-A59D-5134-87C2-B6B9749CAF1E}"/>
              </a:ext>
            </a:extLst>
          </p:cNvPr>
          <p:cNvGraphicFramePr>
            <a:graphicFrameLocks noGrp="1"/>
          </p:cNvGraphicFramePr>
          <p:nvPr>
            <p:extLst>
              <p:ext uri="{D42A27DB-BD31-4B8C-83A1-F6EECF244321}">
                <p14:modId xmlns:p14="http://schemas.microsoft.com/office/powerpoint/2010/main" val="4082956530"/>
              </p:ext>
            </p:extLst>
          </p:nvPr>
        </p:nvGraphicFramePr>
        <p:xfrm>
          <a:off x="4800600" y="3352800"/>
          <a:ext cx="3810000" cy="3352800"/>
        </p:xfrm>
        <a:graphic>
          <a:graphicData uri="http://schemas.openxmlformats.org/drawingml/2006/table">
            <a:tbl>
              <a:tblPr firstRow="1" bandRow="1">
                <a:tableStyleId>{5C22544A-7EE6-4342-B048-85BDC9FD1C3A}</a:tableStyleId>
              </a:tblPr>
              <a:tblGrid>
                <a:gridCol w="571500">
                  <a:extLst>
                    <a:ext uri="{9D8B030D-6E8A-4147-A177-3AD203B41FA5}">
                      <a16:colId xmlns:a16="http://schemas.microsoft.com/office/drawing/2014/main" val="3942499774"/>
                    </a:ext>
                  </a:extLst>
                </a:gridCol>
                <a:gridCol w="1701132">
                  <a:extLst>
                    <a:ext uri="{9D8B030D-6E8A-4147-A177-3AD203B41FA5}">
                      <a16:colId xmlns:a16="http://schemas.microsoft.com/office/drawing/2014/main" val="3867553916"/>
                    </a:ext>
                  </a:extLst>
                </a:gridCol>
                <a:gridCol w="1537368">
                  <a:extLst>
                    <a:ext uri="{9D8B030D-6E8A-4147-A177-3AD203B41FA5}">
                      <a16:colId xmlns:a16="http://schemas.microsoft.com/office/drawing/2014/main" val="1667985789"/>
                    </a:ext>
                  </a:extLst>
                </a:gridCol>
              </a:tblGrid>
              <a:tr h="274320">
                <a:tc gridSpan="3">
                  <a:txBody>
                    <a:bodyPr/>
                    <a:lstStyle/>
                    <a:p>
                      <a:pPr algn="ctr"/>
                      <a:r>
                        <a:rPr lang="en-US" sz="1600" dirty="0">
                          <a:solidFill>
                            <a:schemeClr val="tx1"/>
                          </a:solidFill>
                        </a:rPr>
                        <a:t>TLB </a:t>
                      </a:r>
                      <a:r>
                        <a:rPr lang="en-US" sz="1600" b="0" dirty="0">
                          <a:solidFill>
                            <a:schemeClr val="tx1"/>
                          </a:solidFill>
                        </a:rPr>
                        <a:t>(8-entry, 2-way set-associative)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5911879"/>
                  </a:ext>
                </a:extLst>
              </a:tr>
              <a:tr h="274320">
                <a:tc>
                  <a:txBody>
                    <a:bodyPr/>
                    <a:lstStyle/>
                    <a:p>
                      <a:pPr algn="ctr"/>
                      <a:r>
                        <a:rPr lang="en-US" sz="1600" b="1" dirty="0">
                          <a:solidFill>
                            <a:schemeClr val="tx1"/>
                          </a:solidFill>
                        </a:rPr>
                        <a:t>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tx1"/>
                          </a:solidFill>
                        </a:rPr>
                        <a:t>18-bit Tag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tx1"/>
                          </a:solidFill>
                        </a:rPr>
                        <a:t>8-bit PPN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7885084"/>
                  </a:ext>
                </a:extLst>
              </a:tr>
              <a:tr h="274320">
                <a:tc rowSpan="2">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0x18042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2849627"/>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0x30601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9684116"/>
                  </a:ext>
                </a:extLst>
              </a:tr>
              <a:tr h="274320">
                <a:tc rowSpan="2">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0x30804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950698"/>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0x2C0A0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46377"/>
                  </a:ext>
                </a:extLst>
              </a:tr>
              <a:tr h="274320">
                <a:tc rowSpan="2">
                  <a:txBody>
                    <a:bodyPr/>
                    <a:lstStyle/>
                    <a:p>
                      <a:pPr algn="ctr"/>
                      <a:r>
                        <a:rPr lang="en-US" sz="1600"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600" dirty="0">
                          <a:solidFill>
                            <a:schemeClr val="tx1"/>
                          </a:solidFill>
                        </a:rPr>
                        <a:t>0x06040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1669051"/>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600" dirty="0">
                          <a:solidFill>
                            <a:schemeClr val="tx1"/>
                          </a:solidFill>
                        </a:rPr>
                        <a:t>0x81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80829265"/>
                  </a:ext>
                </a:extLst>
              </a:tr>
              <a:tr h="274320">
                <a:tc rowSpan="2">
                  <a:txBody>
                    <a:bodyPr/>
                    <a:lstStyle/>
                    <a:p>
                      <a:pPr algn="ctr"/>
                      <a:r>
                        <a:rPr lang="en-US" sz="16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0x20810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8478426"/>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0x30402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0xE3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9771478"/>
                  </a:ext>
                </a:extLst>
              </a:tr>
            </a:tbl>
          </a:graphicData>
        </a:graphic>
      </p:graphicFrame>
      <p:sp>
        <p:nvSpPr>
          <p:cNvPr id="3" name="Rectangle 3">
            <a:extLst>
              <a:ext uri="{FF2B5EF4-FFF2-40B4-BE49-F238E27FC236}">
                <a16:creationId xmlns:a16="http://schemas.microsoft.com/office/drawing/2014/main" id="{C6F2A8E4-7D18-5B6E-999A-7725CD975672}"/>
              </a:ext>
            </a:extLst>
          </p:cNvPr>
          <p:cNvSpPr txBox="1">
            <a:spLocks noChangeArrowheads="1"/>
          </p:cNvSpPr>
          <p:nvPr/>
        </p:nvSpPr>
        <p:spPr bwMode="auto">
          <a:xfrm>
            <a:off x="457200" y="3429000"/>
            <a:ext cx="4495800"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a:solidFill>
                  <a:schemeClr val="accent6">
                    <a:lumMod val="75000"/>
                  </a:schemeClr>
                </a:solidFill>
                <a:cs typeface="Courier New" panose="02070309020205020404" pitchFamily="49" charset="0"/>
              </a:rPr>
              <a:t>If PIPT:</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VPN = 0xC080A</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VPN = 110000001000000010 10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PPN = 0x81</a:t>
            </a:r>
          </a:p>
          <a:p>
            <a:pPr marL="0" indent="0">
              <a:buFont typeface="Arial" charset="0"/>
              <a:buNone/>
            </a:pPr>
            <a:endParaRPr lang="en-US" altLang="en-US" sz="1800" b="1" dirty="0">
              <a:solidFill>
                <a:schemeClr val="accent6">
                  <a:lumMod val="75000"/>
                </a:schemeClr>
              </a:solidFill>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45A1AEC4-C46E-4B0A-80FD-0EACA927F49C}"/>
              </a:ext>
            </a:extLst>
          </p:cNvPr>
          <p:cNvSpPr txBox="1">
            <a:spLocks noChangeArrowheads="1"/>
          </p:cNvSpPr>
          <p:nvPr/>
        </p:nvSpPr>
        <p:spPr bwMode="auto">
          <a:xfrm>
            <a:off x="457200" y="2675487"/>
            <a:ext cx="8101584" cy="82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a:solidFill>
                  <a:schemeClr val="accent6">
                    <a:lumMod val="75000"/>
                  </a:schemeClr>
                </a:solidFill>
                <a:cs typeface="Courier New" panose="02070309020205020404" pitchFamily="49" charset="0"/>
              </a:rPr>
              <a:t>If VIVT: </a:t>
            </a:r>
            <a:r>
              <a:rPr lang="en-US" altLang="en-US" sz="1800" b="1" dirty="0">
                <a:solidFill>
                  <a:schemeClr val="accent6">
                    <a:lumMod val="75000"/>
                  </a:schemeClr>
                </a:solidFill>
                <a:latin typeface="Courier New" panose="02070309020205020404" pitchFamily="49" charset="0"/>
                <a:cs typeface="Courier New" panose="02070309020205020404" pitchFamily="49" charset="0"/>
              </a:rPr>
              <a:t>VA = 1100000010000000101 0000100 010100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   o  |</a:t>
            </a:r>
          </a:p>
          <a:p>
            <a:pPr marL="0" indent="0">
              <a:buFont typeface="Arial" charset="0"/>
              <a:buNone/>
            </a:pPr>
            <a:endParaRPr lang="en-US" altLang="en-US" sz="1800" b="1" dirty="0">
              <a:solidFill>
                <a:schemeClr val="accent6">
                  <a:lumMod val="7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1848676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Caches and Virtual Memory</a:t>
            </a:r>
          </a:p>
        </p:txBody>
      </p:sp>
      <p:sp>
        <p:nvSpPr>
          <p:cNvPr id="39941" name="Rectangle 3"/>
          <p:cNvSpPr>
            <a:spLocks noGrp="1" noChangeArrowheads="1"/>
          </p:cNvSpPr>
          <p:nvPr>
            <p:ph idx="1"/>
          </p:nvPr>
        </p:nvSpPr>
        <p:spPr>
          <a:xfrm>
            <a:off x="457200" y="1143000"/>
            <a:ext cx="8610600" cy="1752600"/>
          </a:xfrm>
        </p:spPr>
        <p:txBody>
          <a:bodyPr/>
          <a:lstStyle/>
          <a:p>
            <a:pPr marL="0" indent="0">
              <a:buNone/>
            </a:pPr>
            <a:r>
              <a:rPr lang="en-US" altLang="en-US" sz="2400" dirty="0"/>
              <a:t>Load word for 32-bit virtual address 0xC080A114 on a system with 4KiB pages. The cache is 3-way set-associative with 64B blocks and 24KiB capacity. Given TLB contents below, what are the </a:t>
            </a:r>
            <a:r>
              <a:rPr lang="en-US" altLang="en-US" sz="2400" b="1" dirty="0"/>
              <a:t>set</a:t>
            </a:r>
            <a:r>
              <a:rPr lang="en-US" altLang="en-US" sz="2400" dirty="0"/>
              <a:t>, </a:t>
            </a:r>
            <a:r>
              <a:rPr lang="en-US" altLang="en-US" sz="2400" b="1" dirty="0"/>
              <a:t>offset</a:t>
            </a:r>
            <a:r>
              <a:rPr lang="en-US" altLang="en-US" sz="2400" dirty="0"/>
              <a:t> and </a:t>
            </a:r>
            <a:r>
              <a:rPr lang="en-US" altLang="en-US" sz="2400" b="1" dirty="0"/>
              <a:t>tag</a:t>
            </a:r>
            <a:r>
              <a:rPr lang="en-US" altLang="en-US" sz="2400" dirty="0"/>
              <a:t> bits used to access the cache, if (a) VIVT? (b) PIPT?</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11</a:t>
            </a:fld>
            <a:endParaRPr lang="en-US" altLang="en-US"/>
          </a:p>
        </p:txBody>
      </p:sp>
      <p:graphicFrame>
        <p:nvGraphicFramePr>
          <p:cNvPr id="2" name="Table 1">
            <a:extLst>
              <a:ext uri="{FF2B5EF4-FFF2-40B4-BE49-F238E27FC236}">
                <a16:creationId xmlns:a16="http://schemas.microsoft.com/office/drawing/2014/main" id="{E05CAF34-A59D-5134-87C2-B6B9749CAF1E}"/>
              </a:ext>
            </a:extLst>
          </p:cNvPr>
          <p:cNvGraphicFramePr>
            <a:graphicFrameLocks noGrp="1"/>
          </p:cNvGraphicFramePr>
          <p:nvPr>
            <p:extLst>
              <p:ext uri="{D42A27DB-BD31-4B8C-83A1-F6EECF244321}">
                <p14:modId xmlns:p14="http://schemas.microsoft.com/office/powerpoint/2010/main" val="2841879906"/>
              </p:ext>
            </p:extLst>
          </p:nvPr>
        </p:nvGraphicFramePr>
        <p:xfrm>
          <a:off x="4800600" y="3352800"/>
          <a:ext cx="3810000" cy="3352800"/>
        </p:xfrm>
        <a:graphic>
          <a:graphicData uri="http://schemas.openxmlformats.org/drawingml/2006/table">
            <a:tbl>
              <a:tblPr firstRow="1" bandRow="1">
                <a:tableStyleId>{5C22544A-7EE6-4342-B048-85BDC9FD1C3A}</a:tableStyleId>
              </a:tblPr>
              <a:tblGrid>
                <a:gridCol w="571500">
                  <a:extLst>
                    <a:ext uri="{9D8B030D-6E8A-4147-A177-3AD203B41FA5}">
                      <a16:colId xmlns:a16="http://schemas.microsoft.com/office/drawing/2014/main" val="3942499774"/>
                    </a:ext>
                  </a:extLst>
                </a:gridCol>
                <a:gridCol w="1701132">
                  <a:extLst>
                    <a:ext uri="{9D8B030D-6E8A-4147-A177-3AD203B41FA5}">
                      <a16:colId xmlns:a16="http://schemas.microsoft.com/office/drawing/2014/main" val="3867553916"/>
                    </a:ext>
                  </a:extLst>
                </a:gridCol>
                <a:gridCol w="1537368">
                  <a:extLst>
                    <a:ext uri="{9D8B030D-6E8A-4147-A177-3AD203B41FA5}">
                      <a16:colId xmlns:a16="http://schemas.microsoft.com/office/drawing/2014/main" val="1667985789"/>
                    </a:ext>
                  </a:extLst>
                </a:gridCol>
              </a:tblGrid>
              <a:tr h="274320">
                <a:tc gridSpan="3">
                  <a:txBody>
                    <a:bodyPr/>
                    <a:lstStyle/>
                    <a:p>
                      <a:pPr algn="ctr"/>
                      <a:r>
                        <a:rPr lang="en-US" sz="1600" dirty="0">
                          <a:solidFill>
                            <a:schemeClr val="tx1"/>
                          </a:solidFill>
                        </a:rPr>
                        <a:t>TLB </a:t>
                      </a:r>
                      <a:r>
                        <a:rPr lang="en-US" sz="1600" b="0" dirty="0">
                          <a:solidFill>
                            <a:schemeClr val="tx1"/>
                          </a:solidFill>
                        </a:rPr>
                        <a:t>(8-entry, 2-way set-associative)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5911879"/>
                  </a:ext>
                </a:extLst>
              </a:tr>
              <a:tr h="274320">
                <a:tc>
                  <a:txBody>
                    <a:bodyPr/>
                    <a:lstStyle/>
                    <a:p>
                      <a:pPr algn="ctr"/>
                      <a:r>
                        <a:rPr lang="en-US" sz="1600" b="1" dirty="0">
                          <a:solidFill>
                            <a:schemeClr val="tx1"/>
                          </a:solidFill>
                        </a:rPr>
                        <a:t>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tx1"/>
                          </a:solidFill>
                        </a:rPr>
                        <a:t>18-bit Tag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tx1"/>
                          </a:solidFill>
                        </a:rPr>
                        <a:t>8-bit PPN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7885084"/>
                  </a:ext>
                </a:extLst>
              </a:tr>
              <a:tr h="274320">
                <a:tc rowSpan="2">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0x18042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2849627"/>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0x30601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9684116"/>
                  </a:ext>
                </a:extLst>
              </a:tr>
              <a:tr h="274320">
                <a:tc rowSpan="2">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0x30804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9950698"/>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0x2C0A0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46377"/>
                  </a:ext>
                </a:extLst>
              </a:tr>
              <a:tr h="274320">
                <a:tc rowSpan="2">
                  <a:txBody>
                    <a:bodyPr/>
                    <a:lstStyle/>
                    <a:p>
                      <a:pPr algn="ctr"/>
                      <a:r>
                        <a:rPr lang="en-US" sz="1600"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600" dirty="0">
                          <a:solidFill>
                            <a:schemeClr val="tx1"/>
                          </a:solidFill>
                        </a:rPr>
                        <a:t>0x06040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1669051"/>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600" dirty="0">
                          <a:solidFill>
                            <a:schemeClr val="tx1"/>
                          </a:solidFill>
                        </a:rPr>
                        <a:t>0x81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80829265"/>
                  </a:ext>
                </a:extLst>
              </a:tr>
              <a:tr h="274320">
                <a:tc rowSpan="2">
                  <a:txBody>
                    <a:bodyPr/>
                    <a:lstStyle/>
                    <a:p>
                      <a:pPr algn="ctr"/>
                      <a:r>
                        <a:rPr lang="en-US" sz="16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0x20810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8478426"/>
                  </a:ext>
                </a:extLst>
              </a:tr>
              <a:tr h="274320">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0x30402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rPr>
                        <a:t>0xE3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9771478"/>
                  </a:ext>
                </a:extLst>
              </a:tr>
            </a:tbl>
          </a:graphicData>
        </a:graphic>
      </p:graphicFrame>
      <p:sp>
        <p:nvSpPr>
          <p:cNvPr id="3" name="Rectangle 3">
            <a:extLst>
              <a:ext uri="{FF2B5EF4-FFF2-40B4-BE49-F238E27FC236}">
                <a16:creationId xmlns:a16="http://schemas.microsoft.com/office/drawing/2014/main" id="{C6F2A8E4-7D18-5B6E-999A-7725CD975672}"/>
              </a:ext>
            </a:extLst>
          </p:cNvPr>
          <p:cNvSpPr txBox="1">
            <a:spLocks noChangeArrowheads="1"/>
          </p:cNvSpPr>
          <p:nvPr/>
        </p:nvSpPr>
        <p:spPr bwMode="auto">
          <a:xfrm>
            <a:off x="457200" y="3429000"/>
            <a:ext cx="4495800"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a:solidFill>
                  <a:schemeClr val="accent6">
                    <a:lumMod val="75000"/>
                  </a:schemeClr>
                </a:solidFill>
                <a:cs typeface="Courier New" panose="02070309020205020404" pitchFamily="49" charset="0"/>
              </a:rPr>
              <a:t>If PIPT:</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VPN = 0xC080A</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VPN = 110000001000000010 10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PPN = 0x81</a:t>
            </a:r>
          </a:p>
          <a:p>
            <a:pPr marL="0" indent="0">
              <a:buFont typeface="Arial" charset="0"/>
              <a:buNone/>
            </a:pPr>
            <a:endParaRPr lang="en-US" altLang="en-US" sz="1800" b="1" dirty="0">
              <a:solidFill>
                <a:schemeClr val="accent6">
                  <a:lumMod val="75000"/>
                </a:schemeClr>
              </a:solidFill>
              <a:latin typeface="Courier New" panose="02070309020205020404" pitchFamily="49" charset="0"/>
              <a:cs typeface="Courier New" panose="02070309020205020404" pitchFamily="49" charset="0"/>
            </a:endParaRP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PA = 0x81114</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PA = 1000000 1000100 010100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   o  |</a:t>
            </a:r>
          </a:p>
        </p:txBody>
      </p:sp>
      <p:sp>
        <p:nvSpPr>
          <p:cNvPr id="4" name="Rectangle 3">
            <a:extLst>
              <a:ext uri="{FF2B5EF4-FFF2-40B4-BE49-F238E27FC236}">
                <a16:creationId xmlns:a16="http://schemas.microsoft.com/office/drawing/2014/main" id="{45A1AEC4-C46E-4B0A-80FD-0EACA927F49C}"/>
              </a:ext>
            </a:extLst>
          </p:cNvPr>
          <p:cNvSpPr txBox="1">
            <a:spLocks noChangeArrowheads="1"/>
          </p:cNvSpPr>
          <p:nvPr/>
        </p:nvSpPr>
        <p:spPr bwMode="auto">
          <a:xfrm>
            <a:off x="457200" y="2675487"/>
            <a:ext cx="8101584" cy="82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a:solidFill>
                  <a:schemeClr val="accent6">
                    <a:lumMod val="75000"/>
                  </a:schemeClr>
                </a:solidFill>
                <a:cs typeface="Courier New" panose="02070309020205020404" pitchFamily="49" charset="0"/>
              </a:rPr>
              <a:t>If VIVT: </a:t>
            </a:r>
            <a:r>
              <a:rPr lang="en-US" altLang="en-US" sz="1800" b="1" dirty="0">
                <a:solidFill>
                  <a:schemeClr val="accent6">
                    <a:lumMod val="75000"/>
                  </a:schemeClr>
                </a:solidFill>
                <a:latin typeface="Courier New" panose="02070309020205020404" pitchFamily="49" charset="0"/>
                <a:cs typeface="Courier New" panose="02070309020205020404" pitchFamily="49" charset="0"/>
              </a:rPr>
              <a:t>VA = 1100000010000000101 0000100 010100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   o  |</a:t>
            </a:r>
          </a:p>
          <a:p>
            <a:pPr marL="0" indent="0">
              <a:buFont typeface="Arial" charset="0"/>
              <a:buNone/>
            </a:pPr>
            <a:endParaRPr lang="en-US" altLang="en-US" sz="1800" b="1" dirty="0">
              <a:solidFill>
                <a:schemeClr val="accent6">
                  <a:lumMod val="7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668707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Caches and Virtual Memory</a:t>
            </a:r>
          </a:p>
        </p:txBody>
      </p:sp>
      <p:sp>
        <p:nvSpPr>
          <p:cNvPr id="39941" name="Rectangle 3"/>
          <p:cNvSpPr>
            <a:spLocks noGrp="1" noChangeArrowheads="1"/>
          </p:cNvSpPr>
          <p:nvPr>
            <p:ph idx="1"/>
          </p:nvPr>
        </p:nvSpPr>
        <p:spPr>
          <a:xfrm>
            <a:off x="457200" y="1143000"/>
            <a:ext cx="8610600" cy="1752600"/>
          </a:xfrm>
        </p:spPr>
        <p:txBody>
          <a:bodyPr/>
          <a:lstStyle/>
          <a:p>
            <a:pPr marL="0" indent="0">
              <a:buNone/>
            </a:pPr>
            <a:r>
              <a:rPr lang="en-US" altLang="en-US" sz="2400" dirty="0"/>
              <a:t>Load word for 32-bit virtual address 0xC080A114 on a system with 4KiB pages. The cache is 3-way set-associative with 64B blocks and 24KiB capacity. Given TLB contents below, what are the </a:t>
            </a:r>
            <a:r>
              <a:rPr lang="en-US" altLang="en-US" sz="2400" b="1" dirty="0"/>
              <a:t>set</a:t>
            </a:r>
            <a:r>
              <a:rPr lang="en-US" altLang="en-US" sz="2400" dirty="0"/>
              <a:t>, </a:t>
            </a:r>
            <a:r>
              <a:rPr lang="en-US" altLang="en-US" sz="2400" b="1" dirty="0"/>
              <a:t>offset</a:t>
            </a:r>
            <a:r>
              <a:rPr lang="en-US" altLang="en-US" sz="2400" dirty="0"/>
              <a:t> and </a:t>
            </a:r>
            <a:r>
              <a:rPr lang="en-US" altLang="en-US" sz="2400" b="1" dirty="0"/>
              <a:t>tag</a:t>
            </a:r>
            <a:r>
              <a:rPr lang="en-US" altLang="en-US" sz="2400" dirty="0"/>
              <a:t> bits used to access the cache, if (a) VIVT? (b) PIPT?</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12</a:t>
            </a:fld>
            <a:endParaRPr lang="en-US" altLang="en-US"/>
          </a:p>
        </p:txBody>
      </p:sp>
      <p:sp>
        <p:nvSpPr>
          <p:cNvPr id="3" name="Rectangle 3">
            <a:extLst>
              <a:ext uri="{FF2B5EF4-FFF2-40B4-BE49-F238E27FC236}">
                <a16:creationId xmlns:a16="http://schemas.microsoft.com/office/drawing/2014/main" id="{C6F2A8E4-7D18-5B6E-999A-7725CD975672}"/>
              </a:ext>
            </a:extLst>
          </p:cNvPr>
          <p:cNvSpPr txBox="1">
            <a:spLocks noChangeArrowheads="1"/>
          </p:cNvSpPr>
          <p:nvPr/>
        </p:nvSpPr>
        <p:spPr bwMode="auto">
          <a:xfrm>
            <a:off x="457200" y="3429000"/>
            <a:ext cx="4495800"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a:solidFill>
                  <a:schemeClr val="accent6">
                    <a:lumMod val="75000"/>
                  </a:schemeClr>
                </a:solidFill>
                <a:cs typeface="Courier New" panose="02070309020205020404" pitchFamily="49" charset="0"/>
              </a:rPr>
              <a:t>If PIPT:</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VPN = 0xC080A</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VPN = 110000001000000010 10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PPN = 0x81</a:t>
            </a:r>
          </a:p>
          <a:p>
            <a:pPr marL="0" indent="0">
              <a:buFont typeface="Arial" charset="0"/>
              <a:buNone/>
            </a:pPr>
            <a:endParaRPr lang="en-US" altLang="en-US" sz="1800" b="1" dirty="0">
              <a:solidFill>
                <a:schemeClr val="accent6">
                  <a:lumMod val="75000"/>
                </a:schemeClr>
              </a:solidFill>
              <a:latin typeface="Courier New" panose="02070309020205020404" pitchFamily="49" charset="0"/>
              <a:cs typeface="Courier New" panose="02070309020205020404" pitchFamily="49" charset="0"/>
            </a:endParaRP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PA = 0x81114</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PA = 1000000 1000100 010100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   o  |</a:t>
            </a:r>
          </a:p>
        </p:txBody>
      </p:sp>
      <p:sp>
        <p:nvSpPr>
          <p:cNvPr id="4" name="Rectangle 3">
            <a:extLst>
              <a:ext uri="{FF2B5EF4-FFF2-40B4-BE49-F238E27FC236}">
                <a16:creationId xmlns:a16="http://schemas.microsoft.com/office/drawing/2014/main" id="{45A1AEC4-C46E-4B0A-80FD-0EACA927F49C}"/>
              </a:ext>
            </a:extLst>
          </p:cNvPr>
          <p:cNvSpPr txBox="1">
            <a:spLocks noChangeArrowheads="1"/>
          </p:cNvSpPr>
          <p:nvPr/>
        </p:nvSpPr>
        <p:spPr bwMode="auto">
          <a:xfrm>
            <a:off x="457200" y="2675487"/>
            <a:ext cx="8101584" cy="82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a:solidFill>
                  <a:schemeClr val="accent6">
                    <a:lumMod val="75000"/>
                  </a:schemeClr>
                </a:solidFill>
                <a:cs typeface="Courier New" panose="02070309020205020404" pitchFamily="49" charset="0"/>
              </a:rPr>
              <a:t>If VIVT: </a:t>
            </a:r>
            <a:r>
              <a:rPr lang="en-US" altLang="en-US" sz="1800" b="1" dirty="0">
                <a:solidFill>
                  <a:schemeClr val="accent6">
                    <a:lumMod val="75000"/>
                  </a:schemeClr>
                </a:solidFill>
                <a:latin typeface="Courier New" panose="02070309020205020404" pitchFamily="49" charset="0"/>
                <a:cs typeface="Courier New" panose="02070309020205020404" pitchFamily="49" charset="0"/>
              </a:rPr>
              <a:t>VA = 1100000010000000101 0000100 010100</a:t>
            </a:r>
          </a:p>
          <a:p>
            <a:pPr marL="0" indent="0">
              <a:buFont typeface="Arial" charset="0"/>
              <a:buNone/>
            </a:pPr>
            <a:r>
              <a:rPr lang="en-US" altLang="en-US" sz="1800" b="1" dirty="0">
                <a:solidFill>
                  <a:schemeClr val="accent6">
                    <a:lumMod val="75000"/>
                  </a:schemeClr>
                </a:solidFill>
                <a:latin typeface="Courier New" panose="02070309020205020404" pitchFamily="49" charset="0"/>
                <a:cs typeface="Courier New" panose="02070309020205020404" pitchFamily="49" charset="0"/>
              </a:rPr>
              <a:t>           |         t         |   s   |   o  |</a:t>
            </a:r>
          </a:p>
          <a:p>
            <a:pPr marL="0" indent="0">
              <a:buFont typeface="Arial" charset="0"/>
              <a:buNone/>
            </a:pPr>
            <a:endParaRPr lang="en-US" altLang="en-US" sz="1800" b="1" dirty="0">
              <a:solidFill>
                <a:schemeClr val="accent6">
                  <a:lumMod val="75000"/>
                </a:schemeClr>
              </a:solidFill>
              <a:latin typeface="Courier New" panose="02070309020205020404" pitchFamily="49" charset="0"/>
              <a:cs typeface="Courier New" panose="02070309020205020404" pitchFamily="49" charset="0"/>
            </a:endParaRPr>
          </a:p>
        </p:txBody>
      </p:sp>
      <p:sp>
        <p:nvSpPr>
          <p:cNvPr id="5" name="Rectangle 3">
            <a:extLst>
              <a:ext uri="{FF2B5EF4-FFF2-40B4-BE49-F238E27FC236}">
                <a16:creationId xmlns:a16="http://schemas.microsoft.com/office/drawing/2014/main" id="{95546BED-937B-A581-0099-0F173095BED4}"/>
              </a:ext>
            </a:extLst>
          </p:cNvPr>
          <p:cNvSpPr txBox="1">
            <a:spLocks noChangeArrowheads="1"/>
          </p:cNvSpPr>
          <p:nvPr/>
        </p:nvSpPr>
        <p:spPr bwMode="auto">
          <a:xfrm>
            <a:off x="4572000" y="3551238"/>
            <a:ext cx="4572000"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000" dirty="0">
                <a:cs typeface="Courier New" panose="02070309020205020404" pitchFamily="49" charset="0"/>
              </a:rPr>
              <a:t>If VIPT, would </a:t>
            </a:r>
            <a:r>
              <a:rPr lang="en-US" altLang="en-US" sz="2000" b="1" dirty="0">
                <a:cs typeface="Courier New" panose="02070309020205020404" pitchFamily="49" charset="0"/>
              </a:rPr>
              <a:t>synonyms</a:t>
            </a:r>
            <a:r>
              <a:rPr lang="en-US" altLang="en-US" sz="2000" dirty="0">
                <a:cs typeface="Courier New" panose="02070309020205020404" pitchFamily="49" charset="0"/>
              </a:rPr>
              <a:t> be a problem?</a:t>
            </a:r>
          </a:p>
          <a:p>
            <a:pPr marL="0" indent="0">
              <a:buFont typeface="Arial" charset="0"/>
              <a:buNone/>
            </a:pPr>
            <a:r>
              <a:rPr lang="en-US" altLang="en-US" sz="2000" b="1" dirty="0">
                <a:solidFill>
                  <a:schemeClr val="accent6">
                    <a:lumMod val="75000"/>
                  </a:schemeClr>
                </a:solidFill>
                <a:cs typeface="Courier New" panose="02070309020205020404" pitchFamily="49" charset="0"/>
              </a:rPr>
              <a:t>Yes, since:</a:t>
            </a:r>
          </a:p>
          <a:p>
            <a:pPr marL="0" indent="0">
              <a:buFont typeface="Arial" charset="0"/>
              <a:buNone/>
            </a:pPr>
            <a:r>
              <a:rPr lang="en-US" altLang="en-US" sz="2000" b="1" dirty="0" err="1">
                <a:solidFill>
                  <a:schemeClr val="accent6">
                    <a:lumMod val="75000"/>
                  </a:schemeClr>
                </a:solidFill>
                <a:cs typeface="Courier New" panose="02070309020205020404" pitchFamily="49" charset="0"/>
              </a:rPr>
              <a:t>set+offset</a:t>
            </a:r>
            <a:r>
              <a:rPr lang="en-US" altLang="en-US" sz="2000" b="1" dirty="0">
                <a:solidFill>
                  <a:schemeClr val="accent6">
                    <a:lumMod val="75000"/>
                  </a:schemeClr>
                </a:solidFill>
                <a:cs typeface="Courier New" panose="02070309020205020404" pitchFamily="49" charset="0"/>
              </a:rPr>
              <a:t> bits = 13 &gt; page offset bits = 12</a:t>
            </a:r>
          </a:p>
        </p:txBody>
      </p:sp>
    </p:spTree>
    <p:extLst>
      <p:ext uri="{BB962C8B-B14F-4D97-AF65-F5344CB8AC3E}">
        <p14:creationId xmlns:p14="http://schemas.microsoft.com/office/powerpoint/2010/main" val="18662884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13</a:t>
            </a:fld>
            <a:endParaRPr lang="en-US" altLang="en-US" sz="1400">
              <a:latin typeface="Times New Roman" panose="02020603050405020304" pitchFamily="18" charset="0"/>
            </a:endParaRPr>
          </a:p>
        </p:txBody>
      </p:sp>
      <p:sp>
        <p:nvSpPr>
          <p:cNvPr id="28" name="TextBox 27">
            <a:extLst>
              <a:ext uri="{FF2B5EF4-FFF2-40B4-BE49-F238E27FC236}">
                <a16:creationId xmlns:a16="http://schemas.microsoft.com/office/drawing/2014/main" id="{B461CF69-18E7-444D-AC6E-329C0EEED875}"/>
              </a:ext>
            </a:extLst>
          </p:cNvPr>
          <p:cNvSpPr txBox="1"/>
          <p:nvPr>
            <p:custDataLst>
              <p:tags r:id="rId3"/>
            </p:custDataLst>
          </p:nvPr>
        </p:nvSpPr>
        <p:spPr>
          <a:xfrm>
            <a:off x="526930" y="1414732"/>
            <a:ext cx="8464670" cy="1709468"/>
          </a:xfrm>
          <a:prstGeom prst="rect">
            <a:avLst/>
          </a:prstGeom>
          <a:noFill/>
        </p:spPr>
        <p:txBody>
          <a:bodyPr wrap="square" rtlCol="0" anchor="t">
            <a:noAutofit/>
          </a:bodyPr>
          <a:lstStyle/>
          <a:p>
            <a:r>
              <a:rPr lang="en-US" sz="2400" dirty="0">
                <a:latin typeface="+mn-lt"/>
              </a:rPr>
              <a:t>One or two bit-flips </a:t>
            </a:r>
            <a:r>
              <a:rPr lang="en-US" sz="2400" b="1" dirty="0">
                <a:latin typeface="+mn-lt"/>
              </a:rPr>
              <a:t>may have occurred </a:t>
            </a:r>
            <a:r>
              <a:rPr lang="en-US" sz="2400" dirty="0">
                <a:latin typeface="+mn-lt"/>
              </a:rPr>
              <a:t>in this </a:t>
            </a:r>
            <a:r>
              <a:rPr lang="en-US" sz="2400" b="1" dirty="0">
                <a:latin typeface="+mn-lt"/>
              </a:rPr>
              <a:t>SECDED</a:t>
            </a:r>
            <a:r>
              <a:rPr lang="en-US" sz="2400" dirty="0">
                <a:latin typeface="+mn-lt"/>
              </a:rPr>
              <a:t> codeword: W</a:t>
            </a:r>
            <a:r>
              <a:rPr lang="en-US" sz="2400" baseline="-25000" dirty="0">
                <a:latin typeface="+mn-lt"/>
              </a:rPr>
              <a:t>8</a:t>
            </a:r>
            <a:r>
              <a:rPr lang="en-US" sz="2400" dirty="0">
                <a:latin typeface="+mn-lt"/>
              </a:rPr>
              <a:t>W</a:t>
            </a:r>
            <a:r>
              <a:rPr lang="en-US" sz="2400" baseline="-25000" dirty="0">
                <a:latin typeface="+mn-lt"/>
              </a:rPr>
              <a:t>7</a:t>
            </a:r>
            <a:r>
              <a:rPr lang="en-US" sz="2400" dirty="0">
                <a:latin typeface="+mn-lt"/>
              </a:rPr>
              <a:t>W</a:t>
            </a:r>
            <a:r>
              <a:rPr lang="en-US" sz="2400" baseline="-25000" dirty="0">
                <a:latin typeface="+mn-lt"/>
              </a:rPr>
              <a:t>6</a:t>
            </a:r>
            <a:r>
              <a:rPr lang="en-US" sz="2400" dirty="0">
                <a:latin typeface="+mn-lt"/>
              </a:rPr>
              <a:t>W</a:t>
            </a:r>
            <a:r>
              <a:rPr lang="en-US" sz="2400" baseline="-25000" dirty="0">
                <a:latin typeface="+mn-lt"/>
              </a:rPr>
              <a:t>5</a:t>
            </a:r>
            <a:r>
              <a:rPr lang="en-US" sz="2400" dirty="0">
                <a:latin typeface="+mn-lt"/>
              </a:rPr>
              <a:t>W</a:t>
            </a:r>
            <a:r>
              <a:rPr lang="en-US" sz="2400" baseline="-25000" dirty="0">
                <a:latin typeface="+mn-lt"/>
              </a:rPr>
              <a:t>4</a:t>
            </a:r>
            <a:r>
              <a:rPr lang="en-US" sz="2400" dirty="0">
                <a:latin typeface="+mn-lt"/>
              </a:rPr>
              <a:t>W</a:t>
            </a:r>
            <a:r>
              <a:rPr lang="en-US" sz="2400" baseline="-25000" dirty="0">
                <a:latin typeface="+mn-lt"/>
              </a:rPr>
              <a:t>3</a:t>
            </a:r>
            <a:r>
              <a:rPr lang="en-US" sz="2400" dirty="0">
                <a:latin typeface="+mn-lt"/>
              </a:rPr>
              <a:t>W</a:t>
            </a:r>
            <a:r>
              <a:rPr lang="en-US" sz="2400" baseline="-25000" dirty="0">
                <a:latin typeface="+mn-lt"/>
              </a:rPr>
              <a:t>2</a:t>
            </a:r>
            <a:r>
              <a:rPr lang="en-US" sz="2400" dirty="0">
                <a:latin typeface="+mn-lt"/>
              </a:rPr>
              <a:t>W</a:t>
            </a:r>
            <a:r>
              <a:rPr lang="en-US" sz="2400" baseline="-25000" dirty="0">
                <a:latin typeface="+mn-lt"/>
              </a:rPr>
              <a:t>1</a:t>
            </a:r>
            <a:r>
              <a:rPr lang="en-US" sz="2400" dirty="0">
                <a:latin typeface="+mn-lt"/>
              </a:rPr>
              <a:t> = 01101011. Recover the </a:t>
            </a:r>
            <a:r>
              <a:rPr lang="en-US" sz="2400" b="1" dirty="0">
                <a:latin typeface="+mn-lt"/>
              </a:rPr>
              <a:t>original</a:t>
            </a:r>
            <a:r>
              <a:rPr lang="en-US" sz="2400" dirty="0">
                <a:latin typeface="+mn-lt"/>
              </a:rPr>
              <a:t> data.</a:t>
            </a:r>
          </a:p>
        </p:txBody>
      </p:sp>
      <p:graphicFrame>
        <p:nvGraphicFramePr>
          <p:cNvPr id="25" name="Table 24">
            <a:extLst>
              <a:ext uri="{FF2B5EF4-FFF2-40B4-BE49-F238E27FC236}">
                <a16:creationId xmlns:a16="http://schemas.microsoft.com/office/drawing/2014/main" id="{3134B770-94C2-4422-8CED-32A524A936FA}"/>
              </a:ext>
            </a:extLst>
          </p:cNvPr>
          <p:cNvGraphicFramePr>
            <a:graphicFrameLocks noGrp="1"/>
          </p:cNvGraphicFramePr>
          <p:nvPr>
            <p:custDataLst>
              <p:tags r:id="rId4"/>
            </p:custDataLst>
            <p:extLst>
              <p:ext uri="{D42A27DB-BD31-4B8C-83A1-F6EECF244321}">
                <p14:modId xmlns:p14="http://schemas.microsoft.com/office/powerpoint/2010/main" val="3339618829"/>
              </p:ext>
            </p:extLst>
          </p:nvPr>
        </p:nvGraphicFramePr>
        <p:xfrm>
          <a:off x="533400" y="32004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graphicFrame>
        <p:nvGraphicFramePr>
          <p:cNvPr id="30" name="Table 29">
            <a:extLst>
              <a:ext uri="{FF2B5EF4-FFF2-40B4-BE49-F238E27FC236}">
                <a16:creationId xmlns:a16="http://schemas.microsoft.com/office/drawing/2014/main" id="{A8A985EE-1062-4917-837E-F8524AFD8AB0}"/>
              </a:ext>
            </a:extLst>
          </p:cNvPr>
          <p:cNvGraphicFramePr>
            <a:graphicFrameLocks noGrp="1"/>
          </p:cNvGraphicFramePr>
          <p:nvPr>
            <p:custDataLst>
              <p:tags r:id="rId5"/>
            </p:custDataLst>
            <p:extLst>
              <p:ext uri="{D42A27DB-BD31-4B8C-83A1-F6EECF244321}">
                <p14:modId xmlns:p14="http://schemas.microsoft.com/office/powerpoint/2010/main" val="508981667"/>
              </p:ext>
            </p:extLst>
          </p:nvPr>
        </p:nvGraphicFramePr>
        <p:xfrm>
          <a:off x="3352800" y="41351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29" name="Table 28">
            <a:extLst>
              <a:ext uri="{FF2B5EF4-FFF2-40B4-BE49-F238E27FC236}">
                <a16:creationId xmlns:a16="http://schemas.microsoft.com/office/drawing/2014/main" id="{70C818F8-0CFD-4C1B-BE7F-0B10CC30F587}"/>
              </a:ext>
            </a:extLst>
          </p:cNvPr>
          <p:cNvGraphicFramePr>
            <a:graphicFrameLocks noGrp="1"/>
          </p:cNvGraphicFramePr>
          <p:nvPr>
            <p:custDataLst>
              <p:tags r:id="rId6"/>
            </p:custDataLst>
            <p:extLst>
              <p:ext uri="{D42A27DB-BD31-4B8C-83A1-F6EECF244321}">
                <p14:modId xmlns:p14="http://schemas.microsoft.com/office/powerpoint/2010/main" val="77286679"/>
              </p:ext>
            </p:extLst>
          </p:nvPr>
        </p:nvGraphicFramePr>
        <p:xfrm>
          <a:off x="6124755" y="32004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3102305"/>
                  </a:ext>
                </a:extLst>
              </a:tr>
            </a:tbl>
          </a:graphicData>
        </a:graphic>
      </p:graphicFrame>
      <p:sp>
        <p:nvSpPr>
          <p:cNvPr id="3" name="Title 2">
            <a:extLst>
              <a:ext uri="{FF2B5EF4-FFF2-40B4-BE49-F238E27FC236}">
                <a16:creationId xmlns:a16="http://schemas.microsoft.com/office/drawing/2014/main" id="{68CEA6D0-7D15-4B93-BABE-D316392B3F6F}"/>
              </a:ext>
            </a:extLst>
          </p:cNvPr>
          <p:cNvSpPr>
            <a:spLocks noGrp="1"/>
          </p:cNvSpPr>
          <p:nvPr>
            <p:ph type="title"/>
          </p:nvPr>
        </p:nvSpPr>
        <p:spPr/>
        <p:txBody>
          <a:bodyPr/>
          <a:lstStyle/>
          <a:p>
            <a:r>
              <a:rPr lang="en-US" altLang="en-US" dirty="0"/>
              <a:t>ECC</a:t>
            </a:r>
            <a:endParaRPr lang="en-US" dirty="0"/>
          </a:p>
        </p:txBody>
      </p:sp>
    </p:spTree>
    <p:custDataLst>
      <p:tags r:id="rId1"/>
    </p:custDataLst>
    <p:extLst>
      <p:ext uri="{BB962C8B-B14F-4D97-AF65-F5344CB8AC3E}">
        <p14:creationId xmlns:p14="http://schemas.microsoft.com/office/powerpoint/2010/main" val="304397464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14</a:t>
            </a:fld>
            <a:endParaRPr lang="en-US" altLang="en-US" sz="1400">
              <a:latin typeface="Times New Roman" panose="02020603050405020304" pitchFamily="18" charset="0"/>
            </a:endParaRPr>
          </a:p>
        </p:txBody>
      </p:sp>
      <p:sp>
        <p:nvSpPr>
          <p:cNvPr id="28" name="TextBox 27">
            <a:extLst>
              <a:ext uri="{FF2B5EF4-FFF2-40B4-BE49-F238E27FC236}">
                <a16:creationId xmlns:a16="http://schemas.microsoft.com/office/drawing/2014/main" id="{B461CF69-18E7-444D-AC6E-329C0EEED875}"/>
              </a:ext>
            </a:extLst>
          </p:cNvPr>
          <p:cNvSpPr txBox="1"/>
          <p:nvPr>
            <p:custDataLst>
              <p:tags r:id="rId3"/>
            </p:custDataLst>
          </p:nvPr>
        </p:nvSpPr>
        <p:spPr>
          <a:xfrm>
            <a:off x="526930" y="1414732"/>
            <a:ext cx="8464670" cy="1709468"/>
          </a:xfrm>
          <a:prstGeom prst="rect">
            <a:avLst/>
          </a:prstGeom>
          <a:noFill/>
        </p:spPr>
        <p:txBody>
          <a:bodyPr wrap="square" rtlCol="0" anchor="t">
            <a:noAutofit/>
          </a:bodyPr>
          <a:lstStyle/>
          <a:p>
            <a:r>
              <a:rPr lang="en-US" sz="2400" dirty="0">
                <a:latin typeface="+mn-lt"/>
              </a:rPr>
              <a:t>One or two bit-flips </a:t>
            </a:r>
            <a:r>
              <a:rPr lang="en-US" sz="2400" b="1" dirty="0">
                <a:latin typeface="+mn-lt"/>
              </a:rPr>
              <a:t>may have occurred </a:t>
            </a:r>
            <a:r>
              <a:rPr lang="en-US" sz="2400" dirty="0">
                <a:latin typeface="+mn-lt"/>
              </a:rPr>
              <a:t>in this </a:t>
            </a:r>
            <a:r>
              <a:rPr lang="en-US" sz="2400" b="1" dirty="0">
                <a:latin typeface="+mn-lt"/>
              </a:rPr>
              <a:t>SECDED</a:t>
            </a:r>
            <a:r>
              <a:rPr lang="en-US" sz="2400" dirty="0">
                <a:latin typeface="+mn-lt"/>
              </a:rPr>
              <a:t> codeword: W</a:t>
            </a:r>
            <a:r>
              <a:rPr lang="en-US" sz="2400" baseline="-25000" dirty="0">
                <a:latin typeface="+mn-lt"/>
              </a:rPr>
              <a:t>8</a:t>
            </a:r>
            <a:r>
              <a:rPr lang="en-US" sz="2400" dirty="0">
                <a:latin typeface="+mn-lt"/>
              </a:rPr>
              <a:t>W</a:t>
            </a:r>
            <a:r>
              <a:rPr lang="en-US" sz="2400" baseline="-25000" dirty="0">
                <a:latin typeface="+mn-lt"/>
              </a:rPr>
              <a:t>7</a:t>
            </a:r>
            <a:r>
              <a:rPr lang="en-US" sz="2400" dirty="0">
                <a:latin typeface="+mn-lt"/>
              </a:rPr>
              <a:t>W</a:t>
            </a:r>
            <a:r>
              <a:rPr lang="en-US" sz="2400" baseline="-25000" dirty="0">
                <a:latin typeface="+mn-lt"/>
              </a:rPr>
              <a:t>6</a:t>
            </a:r>
            <a:r>
              <a:rPr lang="en-US" sz="2400" dirty="0">
                <a:latin typeface="+mn-lt"/>
              </a:rPr>
              <a:t>W</a:t>
            </a:r>
            <a:r>
              <a:rPr lang="en-US" sz="2400" baseline="-25000" dirty="0">
                <a:latin typeface="+mn-lt"/>
              </a:rPr>
              <a:t>5</a:t>
            </a:r>
            <a:r>
              <a:rPr lang="en-US" sz="2400" dirty="0">
                <a:latin typeface="+mn-lt"/>
              </a:rPr>
              <a:t>W</a:t>
            </a:r>
            <a:r>
              <a:rPr lang="en-US" sz="2400" baseline="-25000" dirty="0">
                <a:latin typeface="+mn-lt"/>
              </a:rPr>
              <a:t>4</a:t>
            </a:r>
            <a:r>
              <a:rPr lang="en-US" sz="2400" dirty="0">
                <a:latin typeface="+mn-lt"/>
              </a:rPr>
              <a:t>W</a:t>
            </a:r>
            <a:r>
              <a:rPr lang="en-US" sz="2400" baseline="-25000" dirty="0">
                <a:latin typeface="+mn-lt"/>
              </a:rPr>
              <a:t>3</a:t>
            </a:r>
            <a:r>
              <a:rPr lang="en-US" sz="2400" dirty="0">
                <a:latin typeface="+mn-lt"/>
              </a:rPr>
              <a:t>W</a:t>
            </a:r>
            <a:r>
              <a:rPr lang="en-US" sz="2400" baseline="-25000" dirty="0">
                <a:latin typeface="+mn-lt"/>
              </a:rPr>
              <a:t>2</a:t>
            </a:r>
            <a:r>
              <a:rPr lang="en-US" sz="2400" dirty="0">
                <a:latin typeface="+mn-lt"/>
              </a:rPr>
              <a:t>W</a:t>
            </a:r>
            <a:r>
              <a:rPr lang="en-US" sz="2400" baseline="-25000" dirty="0">
                <a:latin typeface="+mn-lt"/>
              </a:rPr>
              <a:t>1</a:t>
            </a:r>
            <a:r>
              <a:rPr lang="en-US" sz="2400" dirty="0">
                <a:latin typeface="+mn-lt"/>
              </a:rPr>
              <a:t> = 0</a:t>
            </a:r>
            <a:r>
              <a:rPr lang="en-US" sz="2400" b="1" dirty="0">
                <a:solidFill>
                  <a:schemeClr val="accent6">
                    <a:lumMod val="75000"/>
                  </a:schemeClr>
                </a:solidFill>
                <a:latin typeface="+mn-lt"/>
              </a:rPr>
              <a:t>1</a:t>
            </a:r>
            <a:r>
              <a:rPr lang="en-US" sz="2400" dirty="0">
                <a:latin typeface="+mn-lt"/>
              </a:rPr>
              <a:t>1</a:t>
            </a:r>
            <a:r>
              <a:rPr lang="en-US" sz="2400" b="1" dirty="0">
                <a:solidFill>
                  <a:schemeClr val="accent6">
                    <a:lumMod val="75000"/>
                  </a:schemeClr>
                </a:solidFill>
                <a:latin typeface="+mn-lt"/>
              </a:rPr>
              <a:t>0</a:t>
            </a:r>
            <a:r>
              <a:rPr lang="en-US" sz="2400" dirty="0">
                <a:latin typeface="+mn-lt"/>
              </a:rPr>
              <a:t>1</a:t>
            </a:r>
            <a:r>
              <a:rPr lang="en-US" sz="2400" b="1" dirty="0">
                <a:solidFill>
                  <a:schemeClr val="accent6">
                    <a:lumMod val="75000"/>
                  </a:schemeClr>
                </a:solidFill>
                <a:latin typeface="+mn-lt"/>
              </a:rPr>
              <a:t>0</a:t>
            </a:r>
            <a:r>
              <a:rPr lang="en-US" sz="2400" dirty="0">
                <a:latin typeface="+mn-lt"/>
              </a:rPr>
              <a:t>1</a:t>
            </a:r>
            <a:r>
              <a:rPr lang="en-US" sz="2400" b="1" dirty="0">
                <a:solidFill>
                  <a:schemeClr val="accent6">
                    <a:lumMod val="75000"/>
                  </a:schemeClr>
                </a:solidFill>
                <a:latin typeface="+mn-lt"/>
              </a:rPr>
              <a:t>1</a:t>
            </a:r>
            <a:r>
              <a:rPr lang="en-US" sz="2400" dirty="0">
                <a:latin typeface="+mn-lt"/>
              </a:rPr>
              <a:t>. Recover the </a:t>
            </a:r>
            <a:r>
              <a:rPr lang="en-US" sz="2400" b="1" dirty="0">
                <a:latin typeface="+mn-lt"/>
              </a:rPr>
              <a:t>original</a:t>
            </a:r>
            <a:r>
              <a:rPr lang="en-US" sz="2400" dirty="0">
                <a:latin typeface="+mn-lt"/>
              </a:rPr>
              <a:t> data.</a:t>
            </a:r>
          </a:p>
        </p:txBody>
      </p:sp>
      <p:graphicFrame>
        <p:nvGraphicFramePr>
          <p:cNvPr id="25" name="Table 24">
            <a:extLst>
              <a:ext uri="{FF2B5EF4-FFF2-40B4-BE49-F238E27FC236}">
                <a16:creationId xmlns:a16="http://schemas.microsoft.com/office/drawing/2014/main" id="{3134B770-94C2-4422-8CED-32A524A936FA}"/>
              </a:ext>
            </a:extLst>
          </p:cNvPr>
          <p:cNvGraphicFramePr>
            <a:graphicFrameLocks noGrp="1"/>
          </p:cNvGraphicFramePr>
          <p:nvPr>
            <p:custDataLst>
              <p:tags r:id="rId4"/>
            </p:custDataLst>
          </p:nvPr>
        </p:nvGraphicFramePr>
        <p:xfrm>
          <a:off x="533400" y="32004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graphicFrame>
        <p:nvGraphicFramePr>
          <p:cNvPr id="30" name="Table 29">
            <a:extLst>
              <a:ext uri="{FF2B5EF4-FFF2-40B4-BE49-F238E27FC236}">
                <a16:creationId xmlns:a16="http://schemas.microsoft.com/office/drawing/2014/main" id="{A8A985EE-1062-4917-837E-F8524AFD8AB0}"/>
              </a:ext>
            </a:extLst>
          </p:cNvPr>
          <p:cNvGraphicFramePr>
            <a:graphicFrameLocks noGrp="1"/>
          </p:cNvGraphicFramePr>
          <p:nvPr>
            <p:custDataLst>
              <p:tags r:id="rId5"/>
            </p:custDataLst>
            <p:extLst>
              <p:ext uri="{D42A27DB-BD31-4B8C-83A1-F6EECF244321}">
                <p14:modId xmlns:p14="http://schemas.microsoft.com/office/powerpoint/2010/main" val="1462486847"/>
              </p:ext>
            </p:extLst>
          </p:nvPr>
        </p:nvGraphicFramePr>
        <p:xfrm>
          <a:off x="3352800" y="41351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29" name="Table 28">
            <a:extLst>
              <a:ext uri="{FF2B5EF4-FFF2-40B4-BE49-F238E27FC236}">
                <a16:creationId xmlns:a16="http://schemas.microsoft.com/office/drawing/2014/main" id="{70C818F8-0CFD-4C1B-BE7F-0B10CC30F587}"/>
              </a:ext>
            </a:extLst>
          </p:cNvPr>
          <p:cNvGraphicFramePr>
            <a:graphicFrameLocks noGrp="1"/>
          </p:cNvGraphicFramePr>
          <p:nvPr>
            <p:custDataLst>
              <p:tags r:id="rId6"/>
            </p:custDataLst>
          </p:nvPr>
        </p:nvGraphicFramePr>
        <p:xfrm>
          <a:off x="6124755" y="32004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3102305"/>
                  </a:ext>
                </a:extLst>
              </a:tr>
            </a:tbl>
          </a:graphicData>
        </a:graphic>
      </p:graphicFrame>
      <p:sp>
        <p:nvSpPr>
          <p:cNvPr id="3" name="Title 2">
            <a:extLst>
              <a:ext uri="{FF2B5EF4-FFF2-40B4-BE49-F238E27FC236}">
                <a16:creationId xmlns:a16="http://schemas.microsoft.com/office/drawing/2014/main" id="{68CEA6D0-7D15-4B93-BABE-D316392B3F6F}"/>
              </a:ext>
            </a:extLst>
          </p:cNvPr>
          <p:cNvSpPr>
            <a:spLocks noGrp="1"/>
          </p:cNvSpPr>
          <p:nvPr>
            <p:ph type="title"/>
          </p:nvPr>
        </p:nvSpPr>
        <p:spPr/>
        <p:txBody>
          <a:bodyPr/>
          <a:lstStyle/>
          <a:p>
            <a:r>
              <a:rPr lang="en-US" altLang="en-US" dirty="0"/>
              <a:t>ECC</a:t>
            </a:r>
            <a:endParaRPr lang="en-US" dirty="0"/>
          </a:p>
        </p:txBody>
      </p:sp>
      <p:sp>
        <p:nvSpPr>
          <p:cNvPr id="2" name="Rectangle 3">
            <a:extLst>
              <a:ext uri="{FF2B5EF4-FFF2-40B4-BE49-F238E27FC236}">
                <a16:creationId xmlns:a16="http://schemas.microsoft.com/office/drawing/2014/main" id="{5F9EF192-5C01-F37E-7D71-9D35247B768A}"/>
              </a:ext>
            </a:extLst>
          </p:cNvPr>
          <p:cNvSpPr txBox="1">
            <a:spLocks noChangeArrowheads="1"/>
          </p:cNvSpPr>
          <p:nvPr/>
        </p:nvSpPr>
        <p:spPr bwMode="auto">
          <a:xfrm>
            <a:off x="4114800" y="2819400"/>
            <a:ext cx="914400" cy="124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1</a:t>
            </a:r>
            <a:r>
              <a:rPr lang="en-US" altLang="en-US" sz="1600" b="1" dirty="0">
                <a:solidFill>
                  <a:schemeClr val="accent6">
                    <a:lumMod val="75000"/>
                  </a:schemeClr>
                </a:solidFill>
              </a:rPr>
              <a:t> = 0</a:t>
            </a:r>
          </a:p>
        </p:txBody>
      </p:sp>
    </p:spTree>
    <p:custDataLst>
      <p:tags r:id="rId1"/>
    </p:custDataLst>
    <p:extLst>
      <p:ext uri="{BB962C8B-B14F-4D97-AF65-F5344CB8AC3E}">
        <p14:creationId xmlns:p14="http://schemas.microsoft.com/office/powerpoint/2010/main" val="30628007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15</a:t>
            </a:fld>
            <a:endParaRPr lang="en-US" altLang="en-US" sz="1400">
              <a:latin typeface="Times New Roman" panose="02020603050405020304" pitchFamily="18" charset="0"/>
            </a:endParaRPr>
          </a:p>
        </p:txBody>
      </p:sp>
      <p:sp>
        <p:nvSpPr>
          <p:cNvPr id="28" name="TextBox 27">
            <a:extLst>
              <a:ext uri="{FF2B5EF4-FFF2-40B4-BE49-F238E27FC236}">
                <a16:creationId xmlns:a16="http://schemas.microsoft.com/office/drawing/2014/main" id="{B461CF69-18E7-444D-AC6E-329C0EEED875}"/>
              </a:ext>
            </a:extLst>
          </p:cNvPr>
          <p:cNvSpPr txBox="1"/>
          <p:nvPr>
            <p:custDataLst>
              <p:tags r:id="rId3"/>
            </p:custDataLst>
          </p:nvPr>
        </p:nvSpPr>
        <p:spPr>
          <a:xfrm>
            <a:off x="526930" y="1414732"/>
            <a:ext cx="8464670" cy="1709468"/>
          </a:xfrm>
          <a:prstGeom prst="rect">
            <a:avLst/>
          </a:prstGeom>
          <a:noFill/>
        </p:spPr>
        <p:txBody>
          <a:bodyPr wrap="square" rtlCol="0" anchor="t">
            <a:noAutofit/>
          </a:bodyPr>
          <a:lstStyle/>
          <a:p>
            <a:r>
              <a:rPr lang="en-US" sz="2400" dirty="0">
                <a:latin typeface="+mn-lt"/>
              </a:rPr>
              <a:t>One or two bit-flips </a:t>
            </a:r>
            <a:r>
              <a:rPr lang="en-US" sz="2400" b="1" dirty="0">
                <a:latin typeface="+mn-lt"/>
              </a:rPr>
              <a:t>may have occurred </a:t>
            </a:r>
            <a:r>
              <a:rPr lang="en-US" sz="2400" dirty="0">
                <a:latin typeface="+mn-lt"/>
              </a:rPr>
              <a:t>in this </a:t>
            </a:r>
            <a:r>
              <a:rPr lang="en-US" sz="2400" b="1" dirty="0">
                <a:latin typeface="+mn-lt"/>
              </a:rPr>
              <a:t>SECDED</a:t>
            </a:r>
            <a:r>
              <a:rPr lang="en-US" sz="2400" dirty="0">
                <a:latin typeface="+mn-lt"/>
              </a:rPr>
              <a:t> codeword: W</a:t>
            </a:r>
            <a:r>
              <a:rPr lang="en-US" sz="2400" baseline="-25000" dirty="0">
                <a:latin typeface="+mn-lt"/>
              </a:rPr>
              <a:t>8</a:t>
            </a:r>
            <a:r>
              <a:rPr lang="en-US" sz="2400" dirty="0">
                <a:latin typeface="+mn-lt"/>
              </a:rPr>
              <a:t>W</a:t>
            </a:r>
            <a:r>
              <a:rPr lang="en-US" sz="2400" baseline="-25000" dirty="0">
                <a:latin typeface="+mn-lt"/>
              </a:rPr>
              <a:t>7</a:t>
            </a:r>
            <a:r>
              <a:rPr lang="en-US" sz="2400" dirty="0">
                <a:latin typeface="+mn-lt"/>
              </a:rPr>
              <a:t>W</a:t>
            </a:r>
            <a:r>
              <a:rPr lang="en-US" sz="2400" baseline="-25000" dirty="0">
                <a:latin typeface="+mn-lt"/>
              </a:rPr>
              <a:t>6</a:t>
            </a:r>
            <a:r>
              <a:rPr lang="en-US" sz="2400" dirty="0">
                <a:latin typeface="+mn-lt"/>
              </a:rPr>
              <a:t>W</a:t>
            </a:r>
            <a:r>
              <a:rPr lang="en-US" sz="2400" baseline="-25000" dirty="0">
                <a:latin typeface="+mn-lt"/>
              </a:rPr>
              <a:t>5</a:t>
            </a:r>
            <a:r>
              <a:rPr lang="en-US" sz="2400" dirty="0">
                <a:latin typeface="+mn-lt"/>
              </a:rPr>
              <a:t>W</a:t>
            </a:r>
            <a:r>
              <a:rPr lang="en-US" sz="2400" baseline="-25000" dirty="0">
                <a:latin typeface="+mn-lt"/>
              </a:rPr>
              <a:t>4</a:t>
            </a:r>
            <a:r>
              <a:rPr lang="en-US" sz="2400" dirty="0">
                <a:latin typeface="+mn-lt"/>
              </a:rPr>
              <a:t>W</a:t>
            </a:r>
            <a:r>
              <a:rPr lang="en-US" sz="2400" baseline="-25000" dirty="0">
                <a:latin typeface="+mn-lt"/>
              </a:rPr>
              <a:t>3</a:t>
            </a:r>
            <a:r>
              <a:rPr lang="en-US" sz="2400" dirty="0">
                <a:latin typeface="+mn-lt"/>
              </a:rPr>
              <a:t>W</a:t>
            </a:r>
            <a:r>
              <a:rPr lang="en-US" sz="2400" baseline="-25000" dirty="0">
                <a:latin typeface="+mn-lt"/>
              </a:rPr>
              <a:t>2</a:t>
            </a:r>
            <a:r>
              <a:rPr lang="en-US" sz="2400" dirty="0">
                <a:latin typeface="+mn-lt"/>
              </a:rPr>
              <a:t>W</a:t>
            </a:r>
            <a:r>
              <a:rPr lang="en-US" sz="2400" baseline="-25000" dirty="0">
                <a:latin typeface="+mn-lt"/>
              </a:rPr>
              <a:t>1</a:t>
            </a:r>
            <a:r>
              <a:rPr lang="en-US" sz="2400" dirty="0">
                <a:latin typeface="+mn-lt"/>
              </a:rPr>
              <a:t> = 0</a:t>
            </a:r>
            <a:r>
              <a:rPr lang="en-US" sz="2400" b="1" dirty="0">
                <a:solidFill>
                  <a:schemeClr val="accent6">
                    <a:lumMod val="75000"/>
                  </a:schemeClr>
                </a:solidFill>
                <a:latin typeface="+mn-lt"/>
              </a:rPr>
              <a:t>11</a:t>
            </a:r>
            <a:r>
              <a:rPr lang="en-US" sz="2400" dirty="0">
                <a:latin typeface="+mn-lt"/>
              </a:rPr>
              <a:t>01</a:t>
            </a:r>
            <a:r>
              <a:rPr lang="en-US" sz="2400" b="1" dirty="0">
                <a:solidFill>
                  <a:schemeClr val="accent6">
                    <a:lumMod val="75000"/>
                  </a:schemeClr>
                </a:solidFill>
                <a:latin typeface="+mn-lt"/>
              </a:rPr>
              <a:t>01</a:t>
            </a:r>
            <a:r>
              <a:rPr lang="en-US" sz="2400" dirty="0">
                <a:latin typeface="+mn-lt"/>
              </a:rPr>
              <a:t>1. Recover the </a:t>
            </a:r>
            <a:r>
              <a:rPr lang="en-US" sz="2400" b="1" dirty="0">
                <a:latin typeface="+mn-lt"/>
              </a:rPr>
              <a:t>original</a:t>
            </a:r>
            <a:r>
              <a:rPr lang="en-US" sz="2400" dirty="0">
                <a:latin typeface="+mn-lt"/>
              </a:rPr>
              <a:t> data.</a:t>
            </a:r>
          </a:p>
        </p:txBody>
      </p:sp>
      <p:graphicFrame>
        <p:nvGraphicFramePr>
          <p:cNvPr id="25" name="Table 24">
            <a:extLst>
              <a:ext uri="{FF2B5EF4-FFF2-40B4-BE49-F238E27FC236}">
                <a16:creationId xmlns:a16="http://schemas.microsoft.com/office/drawing/2014/main" id="{3134B770-94C2-4422-8CED-32A524A936FA}"/>
              </a:ext>
            </a:extLst>
          </p:cNvPr>
          <p:cNvGraphicFramePr>
            <a:graphicFrameLocks noGrp="1"/>
          </p:cNvGraphicFramePr>
          <p:nvPr>
            <p:custDataLst>
              <p:tags r:id="rId4"/>
            </p:custDataLst>
          </p:nvPr>
        </p:nvGraphicFramePr>
        <p:xfrm>
          <a:off x="533400" y="32004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graphicFrame>
        <p:nvGraphicFramePr>
          <p:cNvPr id="30" name="Table 29">
            <a:extLst>
              <a:ext uri="{FF2B5EF4-FFF2-40B4-BE49-F238E27FC236}">
                <a16:creationId xmlns:a16="http://schemas.microsoft.com/office/drawing/2014/main" id="{A8A985EE-1062-4917-837E-F8524AFD8AB0}"/>
              </a:ext>
            </a:extLst>
          </p:cNvPr>
          <p:cNvGraphicFramePr>
            <a:graphicFrameLocks noGrp="1"/>
          </p:cNvGraphicFramePr>
          <p:nvPr>
            <p:custDataLst>
              <p:tags r:id="rId5"/>
            </p:custDataLst>
            <p:extLst>
              <p:ext uri="{D42A27DB-BD31-4B8C-83A1-F6EECF244321}">
                <p14:modId xmlns:p14="http://schemas.microsoft.com/office/powerpoint/2010/main" val="624398512"/>
              </p:ext>
            </p:extLst>
          </p:nvPr>
        </p:nvGraphicFramePr>
        <p:xfrm>
          <a:off x="3352800" y="41351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29" name="Table 28">
            <a:extLst>
              <a:ext uri="{FF2B5EF4-FFF2-40B4-BE49-F238E27FC236}">
                <a16:creationId xmlns:a16="http://schemas.microsoft.com/office/drawing/2014/main" id="{70C818F8-0CFD-4C1B-BE7F-0B10CC30F587}"/>
              </a:ext>
            </a:extLst>
          </p:cNvPr>
          <p:cNvGraphicFramePr>
            <a:graphicFrameLocks noGrp="1"/>
          </p:cNvGraphicFramePr>
          <p:nvPr>
            <p:custDataLst>
              <p:tags r:id="rId6"/>
            </p:custDataLst>
          </p:nvPr>
        </p:nvGraphicFramePr>
        <p:xfrm>
          <a:off x="6124755" y="32004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3102305"/>
                  </a:ext>
                </a:extLst>
              </a:tr>
            </a:tbl>
          </a:graphicData>
        </a:graphic>
      </p:graphicFrame>
      <p:sp>
        <p:nvSpPr>
          <p:cNvPr id="3" name="Title 2">
            <a:extLst>
              <a:ext uri="{FF2B5EF4-FFF2-40B4-BE49-F238E27FC236}">
                <a16:creationId xmlns:a16="http://schemas.microsoft.com/office/drawing/2014/main" id="{68CEA6D0-7D15-4B93-BABE-D316392B3F6F}"/>
              </a:ext>
            </a:extLst>
          </p:cNvPr>
          <p:cNvSpPr>
            <a:spLocks noGrp="1"/>
          </p:cNvSpPr>
          <p:nvPr>
            <p:ph type="title"/>
          </p:nvPr>
        </p:nvSpPr>
        <p:spPr/>
        <p:txBody>
          <a:bodyPr/>
          <a:lstStyle/>
          <a:p>
            <a:r>
              <a:rPr lang="en-US" altLang="en-US" dirty="0"/>
              <a:t>ECC</a:t>
            </a:r>
            <a:endParaRPr lang="en-US" dirty="0"/>
          </a:p>
        </p:txBody>
      </p:sp>
      <p:sp>
        <p:nvSpPr>
          <p:cNvPr id="2" name="Rectangle 3">
            <a:extLst>
              <a:ext uri="{FF2B5EF4-FFF2-40B4-BE49-F238E27FC236}">
                <a16:creationId xmlns:a16="http://schemas.microsoft.com/office/drawing/2014/main" id="{5F9EF192-5C01-F37E-7D71-9D35247B768A}"/>
              </a:ext>
            </a:extLst>
          </p:cNvPr>
          <p:cNvSpPr txBox="1">
            <a:spLocks noChangeArrowheads="1"/>
          </p:cNvSpPr>
          <p:nvPr/>
        </p:nvSpPr>
        <p:spPr bwMode="auto">
          <a:xfrm>
            <a:off x="4114800" y="2819400"/>
            <a:ext cx="914400" cy="124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1</a:t>
            </a:r>
            <a:r>
              <a:rPr lang="en-US" altLang="en-US" sz="1600" b="1" dirty="0">
                <a:solidFill>
                  <a:schemeClr val="accent6">
                    <a:lumMod val="75000"/>
                  </a:schemeClr>
                </a:solidFill>
              </a:rPr>
              <a:t> = 0</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2</a:t>
            </a:r>
            <a:r>
              <a:rPr lang="en-US" altLang="en-US" sz="1600" b="1" dirty="0">
                <a:solidFill>
                  <a:schemeClr val="accent6">
                    <a:lumMod val="75000"/>
                  </a:schemeClr>
                </a:solidFill>
              </a:rPr>
              <a:t> = 1</a:t>
            </a:r>
          </a:p>
        </p:txBody>
      </p:sp>
    </p:spTree>
    <p:custDataLst>
      <p:tags r:id="rId1"/>
    </p:custDataLst>
    <p:extLst>
      <p:ext uri="{BB962C8B-B14F-4D97-AF65-F5344CB8AC3E}">
        <p14:creationId xmlns:p14="http://schemas.microsoft.com/office/powerpoint/2010/main" val="27335076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16</a:t>
            </a:fld>
            <a:endParaRPr lang="en-US" altLang="en-US" sz="1400">
              <a:latin typeface="Times New Roman" panose="02020603050405020304" pitchFamily="18" charset="0"/>
            </a:endParaRPr>
          </a:p>
        </p:txBody>
      </p:sp>
      <p:sp>
        <p:nvSpPr>
          <p:cNvPr id="28" name="TextBox 27">
            <a:extLst>
              <a:ext uri="{FF2B5EF4-FFF2-40B4-BE49-F238E27FC236}">
                <a16:creationId xmlns:a16="http://schemas.microsoft.com/office/drawing/2014/main" id="{B461CF69-18E7-444D-AC6E-329C0EEED875}"/>
              </a:ext>
            </a:extLst>
          </p:cNvPr>
          <p:cNvSpPr txBox="1"/>
          <p:nvPr>
            <p:custDataLst>
              <p:tags r:id="rId3"/>
            </p:custDataLst>
          </p:nvPr>
        </p:nvSpPr>
        <p:spPr>
          <a:xfrm>
            <a:off x="526930" y="1414732"/>
            <a:ext cx="8464670" cy="1709468"/>
          </a:xfrm>
          <a:prstGeom prst="rect">
            <a:avLst/>
          </a:prstGeom>
          <a:noFill/>
        </p:spPr>
        <p:txBody>
          <a:bodyPr wrap="square" rtlCol="0" anchor="t">
            <a:noAutofit/>
          </a:bodyPr>
          <a:lstStyle/>
          <a:p>
            <a:r>
              <a:rPr lang="en-US" sz="2400" dirty="0">
                <a:latin typeface="+mn-lt"/>
              </a:rPr>
              <a:t>One or two bit-flips </a:t>
            </a:r>
            <a:r>
              <a:rPr lang="en-US" sz="2400" b="1" dirty="0">
                <a:latin typeface="+mn-lt"/>
              </a:rPr>
              <a:t>may have occurred </a:t>
            </a:r>
            <a:r>
              <a:rPr lang="en-US" sz="2400" dirty="0">
                <a:latin typeface="+mn-lt"/>
              </a:rPr>
              <a:t>in this </a:t>
            </a:r>
            <a:r>
              <a:rPr lang="en-US" sz="2400" b="1" dirty="0">
                <a:latin typeface="+mn-lt"/>
              </a:rPr>
              <a:t>SECDED</a:t>
            </a:r>
            <a:r>
              <a:rPr lang="en-US" sz="2400" dirty="0">
                <a:latin typeface="+mn-lt"/>
              </a:rPr>
              <a:t> codeword: W</a:t>
            </a:r>
            <a:r>
              <a:rPr lang="en-US" sz="2400" baseline="-25000" dirty="0">
                <a:latin typeface="+mn-lt"/>
              </a:rPr>
              <a:t>8</a:t>
            </a:r>
            <a:r>
              <a:rPr lang="en-US" sz="2400" dirty="0">
                <a:latin typeface="+mn-lt"/>
              </a:rPr>
              <a:t>W</a:t>
            </a:r>
            <a:r>
              <a:rPr lang="en-US" sz="2400" baseline="-25000" dirty="0">
                <a:latin typeface="+mn-lt"/>
              </a:rPr>
              <a:t>7</a:t>
            </a:r>
            <a:r>
              <a:rPr lang="en-US" sz="2400" dirty="0">
                <a:latin typeface="+mn-lt"/>
              </a:rPr>
              <a:t>W</a:t>
            </a:r>
            <a:r>
              <a:rPr lang="en-US" sz="2400" baseline="-25000" dirty="0">
                <a:latin typeface="+mn-lt"/>
              </a:rPr>
              <a:t>6</a:t>
            </a:r>
            <a:r>
              <a:rPr lang="en-US" sz="2400" dirty="0">
                <a:latin typeface="+mn-lt"/>
              </a:rPr>
              <a:t>W</a:t>
            </a:r>
            <a:r>
              <a:rPr lang="en-US" sz="2400" baseline="-25000" dirty="0">
                <a:latin typeface="+mn-lt"/>
              </a:rPr>
              <a:t>5</a:t>
            </a:r>
            <a:r>
              <a:rPr lang="en-US" sz="2400" dirty="0">
                <a:latin typeface="+mn-lt"/>
              </a:rPr>
              <a:t>W</a:t>
            </a:r>
            <a:r>
              <a:rPr lang="en-US" sz="2400" baseline="-25000" dirty="0">
                <a:latin typeface="+mn-lt"/>
              </a:rPr>
              <a:t>4</a:t>
            </a:r>
            <a:r>
              <a:rPr lang="en-US" sz="2400" dirty="0">
                <a:latin typeface="+mn-lt"/>
              </a:rPr>
              <a:t>W</a:t>
            </a:r>
            <a:r>
              <a:rPr lang="en-US" sz="2400" baseline="-25000" dirty="0">
                <a:latin typeface="+mn-lt"/>
              </a:rPr>
              <a:t>3</a:t>
            </a:r>
            <a:r>
              <a:rPr lang="en-US" sz="2400" dirty="0">
                <a:latin typeface="+mn-lt"/>
              </a:rPr>
              <a:t>W</a:t>
            </a:r>
            <a:r>
              <a:rPr lang="en-US" sz="2400" baseline="-25000" dirty="0">
                <a:latin typeface="+mn-lt"/>
              </a:rPr>
              <a:t>2</a:t>
            </a:r>
            <a:r>
              <a:rPr lang="en-US" sz="2400" dirty="0">
                <a:latin typeface="+mn-lt"/>
              </a:rPr>
              <a:t>W</a:t>
            </a:r>
            <a:r>
              <a:rPr lang="en-US" sz="2400" baseline="-25000" dirty="0">
                <a:latin typeface="+mn-lt"/>
              </a:rPr>
              <a:t>1</a:t>
            </a:r>
            <a:r>
              <a:rPr lang="en-US" sz="2400" dirty="0">
                <a:latin typeface="+mn-lt"/>
              </a:rPr>
              <a:t> = 0</a:t>
            </a:r>
            <a:r>
              <a:rPr lang="en-US" sz="2400" b="1" dirty="0">
                <a:solidFill>
                  <a:schemeClr val="accent6">
                    <a:lumMod val="75000"/>
                  </a:schemeClr>
                </a:solidFill>
                <a:latin typeface="+mn-lt"/>
              </a:rPr>
              <a:t>1101</a:t>
            </a:r>
            <a:r>
              <a:rPr lang="en-US" sz="2400" dirty="0">
                <a:latin typeface="+mn-lt"/>
              </a:rPr>
              <a:t>011. Recover the </a:t>
            </a:r>
            <a:r>
              <a:rPr lang="en-US" sz="2400" b="1" dirty="0">
                <a:latin typeface="+mn-lt"/>
              </a:rPr>
              <a:t>original</a:t>
            </a:r>
            <a:r>
              <a:rPr lang="en-US" sz="2400" dirty="0">
                <a:latin typeface="+mn-lt"/>
              </a:rPr>
              <a:t> data.</a:t>
            </a:r>
          </a:p>
        </p:txBody>
      </p:sp>
      <p:graphicFrame>
        <p:nvGraphicFramePr>
          <p:cNvPr id="25" name="Table 24">
            <a:extLst>
              <a:ext uri="{FF2B5EF4-FFF2-40B4-BE49-F238E27FC236}">
                <a16:creationId xmlns:a16="http://schemas.microsoft.com/office/drawing/2014/main" id="{3134B770-94C2-4422-8CED-32A524A936FA}"/>
              </a:ext>
            </a:extLst>
          </p:cNvPr>
          <p:cNvGraphicFramePr>
            <a:graphicFrameLocks noGrp="1"/>
          </p:cNvGraphicFramePr>
          <p:nvPr>
            <p:custDataLst>
              <p:tags r:id="rId4"/>
            </p:custDataLst>
          </p:nvPr>
        </p:nvGraphicFramePr>
        <p:xfrm>
          <a:off x="533400" y="32004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graphicFrame>
        <p:nvGraphicFramePr>
          <p:cNvPr id="30" name="Table 29">
            <a:extLst>
              <a:ext uri="{FF2B5EF4-FFF2-40B4-BE49-F238E27FC236}">
                <a16:creationId xmlns:a16="http://schemas.microsoft.com/office/drawing/2014/main" id="{A8A985EE-1062-4917-837E-F8524AFD8AB0}"/>
              </a:ext>
            </a:extLst>
          </p:cNvPr>
          <p:cNvGraphicFramePr>
            <a:graphicFrameLocks noGrp="1"/>
          </p:cNvGraphicFramePr>
          <p:nvPr>
            <p:custDataLst>
              <p:tags r:id="rId5"/>
            </p:custDataLst>
            <p:extLst>
              <p:ext uri="{D42A27DB-BD31-4B8C-83A1-F6EECF244321}">
                <p14:modId xmlns:p14="http://schemas.microsoft.com/office/powerpoint/2010/main" val="437260263"/>
              </p:ext>
            </p:extLst>
          </p:nvPr>
        </p:nvGraphicFramePr>
        <p:xfrm>
          <a:off x="3352800" y="41351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29" name="Table 28">
            <a:extLst>
              <a:ext uri="{FF2B5EF4-FFF2-40B4-BE49-F238E27FC236}">
                <a16:creationId xmlns:a16="http://schemas.microsoft.com/office/drawing/2014/main" id="{70C818F8-0CFD-4C1B-BE7F-0B10CC30F587}"/>
              </a:ext>
            </a:extLst>
          </p:cNvPr>
          <p:cNvGraphicFramePr>
            <a:graphicFrameLocks noGrp="1"/>
          </p:cNvGraphicFramePr>
          <p:nvPr>
            <p:custDataLst>
              <p:tags r:id="rId6"/>
            </p:custDataLst>
          </p:nvPr>
        </p:nvGraphicFramePr>
        <p:xfrm>
          <a:off x="6124755" y="32004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3102305"/>
                  </a:ext>
                </a:extLst>
              </a:tr>
            </a:tbl>
          </a:graphicData>
        </a:graphic>
      </p:graphicFrame>
      <p:sp>
        <p:nvSpPr>
          <p:cNvPr id="3" name="Title 2">
            <a:extLst>
              <a:ext uri="{FF2B5EF4-FFF2-40B4-BE49-F238E27FC236}">
                <a16:creationId xmlns:a16="http://schemas.microsoft.com/office/drawing/2014/main" id="{68CEA6D0-7D15-4B93-BABE-D316392B3F6F}"/>
              </a:ext>
            </a:extLst>
          </p:cNvPr>
          <p:cNvSpPr>
            <a:spLocks noGrp="1"/>
          </p:cNvSpPr>
          <p:nvPr>
            <p:ph type="title"/>
          </p:nvPr>
        </p:nvSpPr>
        <p:spPr/>
        <p:txBody>
          <a:bodyPr/>
          <a:lstStyle/>
          <a:p>
            <a:r>
              <a:rPr lang="en-US" altLang="en-US" dirty="0"/>
              <a:t>ECC</a:t>
            </a:r>
            <a:endParaRPr lang="en-US" dirty="0"/>
          </a:p>
        </p:txBody>
      </p:sp>
      <p:sp>
        <p:nvSpPr>
          <p:cNvPr id="2" name="Rectangle 3">
            <a:extLst>
              <a:ext uri="{FF2B5EF4-FFF2-40B4-BE49-F238E27FC236}">
                <a16:creationId xmlns:a16="http://schemas.microsoft.com/office/drawing/2014/main" id="{5F9EF192-5C01-F37E-7D71-9D35247B768A}"/>
              </a:ext>
            </a:extLst>
          </p:cNvPr>
          <p:cNvSpPr txBox="1">
            <a:spLocks noChangeArrowheads="1"/>
          </p:cNvSpPr>
          <p:nvPr/>
        </p:nvSpPr>
        <p:spPr bwMode="auto">
          <a:xfrm>
            <a:off x="4114800" y="2819400"/>
            <a:ext cx="914400" cy="124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1</a:t>
            </a:r>
            <a:r>
              <a:rPr lang="en-US" altLang="en-US" sz="1600" b="1" dirty="0">
                <a:solidFill>
                  <a:schemeClr val="accent6">
                    <a:lumMod val="75000"/>
                  </a:schemeClr>
                </a:solidFill>
              </a:rPr>
              <a:t> = 0</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2</a:t>
            </a:r>
            <a:r>
              <a:rPr lang="en-US" altLang="en-US" sz="1600" b="1" dirty="0">
                <a:solidFill>
                  <a:schemeClr val="accent6">
                    <a:lumMod val="75000"/>
                  </a:schemeClr>
                </a:solidFill>
              </a:rPr>
              <a:t> = 1</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3</a:t>
            </a:r>
            <a:r>
              <a:rPr lang="en-US" altLang="en-US" sz="1600" b="1" dirty="0">
                <a:solidFill>
                  <a:schemeClr val="accent6">
                    <a:lumMod val="75000"/>
                  </a:schemeClr>
                </a:solidFill>
              </a:rPr>
              <a:t> = 1</a:t>
            </a:r>
          </a:p>
        </p:txBody>
      </p:sp>
    </p:spTree>
    <p:custDataLst>
      <p:tags r:id="rId1"/>
    </p:custDataLst>
    <p:extLst>
      <p:ext uri="{BB962C8B-B14F-4D97-AF65-F5344CB8AC3E}">
        <p14:creationId xmlns:p14="http://schemas.microsoft.com/office/powerpoint/2010/main" val="5578471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17</a:t>
            </a:fld>
            <a:endParaRPr lang="en-US" altLang="en-US" sz="1400">
              <a:latin typeface="Times New Roman" panose="02020603050405020304" pitchFamily="18" charset="0"/>
            </a:endParaRPr>
          </a:p>
        </p:txBody>
      </p:sp>
      <p:sp>
        <p:nvSpPr>
          <p:cNvPr id="28" name="TextBox 27">
            <a:extLst>
              <a:ext uri="{FF2B5EF4-FFF2-40B4-BE49-F238E27FC236}">
                <a16:creationId xmlns:a16="http://schemas.microsoft.com/office/drawing/2014/main" id="{B461CF69-18E7-444D-AC6E-329C0EEED875}"/>
              </a:ext>
            </a:extLst>
          </p:cNvPr>
          <p:cNvSpPr txBox="1"/>
          <p:nvPr>
            <p:custDataLst>
              <p:tags r:id="rId3"/>
            </p:custDataLst>
          </p:nvPr>
        </p:nvSpPr>
        <p:spPr>
          <a:xfrm>
            <a:off x="526930" y="1414732"/>
            <a:ext cx="8464670" cy="1709468"/>
          </a:xfrm>
          <a:prstGeom prst="rect">
            <a:avLst/>
          </a:prstGeom>
          <a:noFill/>
        </p:spPr>
        <p:txBody>
          <a:bodyPr wrap="square" rtlCol="0" anchor="t">
            <a:noAutofit/>
          </a:bodyPr>
          <a:lstStyle/>
          <a:p>
            <a:r>
              <a:rPr lang="en-US" sz="2400" dirty="0">
                <a:latin typeface="+mn-lt"/>
              </a:rPr>
              <a:t>One or two bit-flips </a:t>
            </a:r>
            <a:r>
              <a:rPr lang="en-US" sz="2400" b="1" dirty="0">
                <a:latin typeface="+mn-lt"/>
              </a:rPr>
              <a:t>may have occurred </a:t>
            </a:r>
            <a:r>
              <a:rPr lang="en-US" sz="2400" dirty="0">
                <a:latin typeface="+mn-lt"/>
              </a:rPr>
              <a:t>in this </a:t>
            </a:r>
            <a:r>
              <a:rPr lang="en-US" sz="2400" b="1" dirty="0">
                <a:latin typeface="+mn-lt"/>
              </a:rPr>
              <a:t>SECDED</a:t>
            </a:r>
            <a:r>
              <a:rPr lang="en-US" sz="2400" dirty="0">
                <a:latin typeface="+mn-lt"/>
              </a:rPr>
              <a:t> codeword: W</a:t>
            </a:r>
            <a:r>
              <a:rPr lang="en-US" sz="2400" baseline="-25000" dirty="0">
                <a:latin typeface="+mn-lt"/>
              </a:rPr>
              <a:t>8</a:t>
            </a:r>
            <a:r>
              <a:rPr lang="en-US" sz="2400" dirty="0">
                <a:latin typeface="+mn-lt"/>
              </a:rPr>
              <a:t>W</a:t>
            </a:r>
            <a:r>
              <a:rPr lang="en-US" sz="2400" baseline="-25000" dirty="0">
                <a:latin typeface="+mn-lt"/>
              </a:rPr>
              <a:t>7</a:t>
            </a:r>
            <a:r>
              <a:rPr lang="en-US" sz="2400" dirty="0">
                <a:latin typeface="+mn-lt"/>
              </a:rPr>
              <a:t>W</a:t>
            </a:r>
            <a:r>
              <a:rPr lang="en-US" sz="2400" baseline="-25000" dirty="0">
                <a:latin typeface="+mn-lt"/>
              </a:rPr>
              <a:t>6</a:t>
            </a:r>
            <a:r>
              <a:rPr lang="en-US" sz="2400" dirty="0">
                <a:latin typeface="+mn-lt"/>
              </a:rPr>
              <a:t>W</a:t>
            </a:r>
            <a:r>
              <a:rPr lang="en-US" sz="2400" baseline="-25000" dirty="0">
                <a:latin typeface="+mn-lt"/>
              </a:rPr>
              <a:t>5</a:t>
            </a:r>
            <a:r>
              <a:rPr lang="en-US" sz="2400" dirty="0">
                <a:latin typeface="+mn-lt"/>
              </a:rPr>
              <a:t>W</a:t>
            </a:r>
            <a:r>
              <a:rPr lang="en-US" sz="2400" baseline="-25000" dirty="0">
                <a:latin typeface="+mn-lt"/>
              </a:rPr>
              <a:t>4</a:t>
            </a:r>
            <a:r>
              <a:rPr lang="en-US" sz="2400" dirty="0">
                <a:latin typeface="+mn-lt"/>
              </a:rPr>
              <a:t>W</a:t>
            </a:r>
            <a:r>
              <a:rPr lang="en-US" sz="2400" baseline="-25000" dirty="0">
                <a:latin typeface="+mn-lt"/>
              </a:rPr>
              <a:t>3</a:t>
            </a:r>
            <a:r>
              <a:rPr lang="en-US" sz="2400" dirty="0">
                <a:latin typeface="+mn-lt"/>
              </a:rPr>
              <a:t>W</a:t>
            </a:r>
            <a:r>
              <a:rPr lang="en-US" sz="2400" baseline="-25000" dirty="0">
                <a:latin typeface="+mn-lt"/>
              </a:rPr>
              <a:t>2</a:t>
            </a:r>
            <a:r>
              <a:rPr lang="en-US" sz="2400" dirty="0">
                <a:latin typeface="+mn-lt"/>
              </a:rPr>
              <a:t>W</a:t>
            </a:r>
            <a:r>
              <a:rPr lang="en-US" sz="2400" baseline="-25000" dirty="0">
                <a:latin typeface="+mn-lt"/>
              </a:rPr>
              <a:t>1</a:t>
            </a:r>
            <a:r>
              <a:rPr lang="en-US" sz="2400" dirty="0">
                <a:latin typeface="+mn-lt"/>
              </a:rPr>
              <a:t> = </a:t>
            </a:r>
            <a:r>
              <a:rPr lang="en-US" sz="2400" b="1" dirty="0">
                <a:solidFill>
                  <a:schemeClr val="accent6">
                    <a:lumMod val="75000"/>
                  </a:schemeClr>
                </a:solidFill>
                <a:latin typeface="+mn-lt"/>
              </a:rPr>
              <a:t>01101011</a:t>
            </a:r>
            <a:r>
              <a:rPr lang="en-US" sz="2400" dirty="0">
                <a:latin typeface="+mn-lt"/>
              </a:rPr>
              <a:t>. Recover the </a:t>
            </a:r>
            <a:r>
              <a:rPr lang="en-US" sz="2400" b="1" dirty="0">
                <a:latin typeface="+mn-lt"/>
              </a:rPr>
              <a:t>original</a:t>
            </a:r>
            <a:r>
              <a:rPr lang="en-US" sz="2400" dirty="0">
                <a:latin typeface="+mn-lt"/>
              </a:rPr>
              <a:t> data.</a:t>
            </a:r>
          </a:p>
        </p:txBody>
      </p:sp>
      <p:graphicFrame>
        <p:nvGraphicFramePr>
          <p:cNvPr id="25" name="Table 24">
            <a:extLst>
              <a:ext uri="{FF2B5EF4-FFF2-40B4-BE49-F238E27FC236}">
                <a16:creationId xmlns:a16="http://schemas.microsoft.com/office/drawing/2014/main" id="{3134B770-94C2-4422-8CED-32A524A936FA}"/>
              </a:ext>
            </a:extLst>
          </p:cNvPr>
          <p:cNvGraphicFramePr>
            <a:graphicFrameLocks noGrp="1"/>
          </p:cNvGraphicFramePr>
          <p:nvPr>
            <p:custDataLst>
              <p:tags r:id="rId4"/>
            </p:custDataLst>
          </p:nvPr>
        </p:nvGraphicFramePr>
        <p:xfrm>
          <a:off x="533400" y="32004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graphicFrame>
        <p:nvGraphicFramePr>
          <p:cNvPr id="30" name="Table 29">
            <a:extLst>
              <a:ext uri="{FF2B5EF4-FFF2-40B4-BE49-F238E27FC236}">
                <a16:creationId xmlns:a16="http://schemas.microsoft.com/office/drawing/2014/main" id="{A8A985EE-1062-4917-837E-F8524AFD8AB0}"/>
              </a:ext>
            </a:extLst>
          </p:cNvPr>
          <p:cNvGraphicFramePr>
            <a:graphicFrameLocks noGrp="1"/>
          </p:cNvGraphicFramePr>
          <p:nvPr>
            <p:custDataLst>
              <p:tags r:id="rId5"/>
            </p:custDataLst>
            <p:extLst>
              <p:ext uri="{D42A27DB-BD31-4B8C-83A1-F6EECF244321}">
                <p14:modId xmlns:p14="http://schemas.microsoft.com/office/powerpoint/2010/main" val="2968868992"/>
              </p:ext>
            </p:extLst>
          </p:nvPr>
        </p:nvGraphicFramePr>
        <p:xfrm>
          <a:off x="3352800" y="41351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979451835"/>
                  </a:ext>
                </a:extLst>
              </a:tr>
            </a:tbl>
          </a:graphicData>
        </a:graphic>
      </p:graphicFrame>
      <p:graphicFrame>
        <p:nvGraphicFramePr>
          <p:cNvPr id="29" name="Table 28">
            <a:extLst>
              <a:ext uri="{FF2B5EF4-FFF2-40B4-BE49-F238E27FC236}">
                <a16:creationId xmlns:a16="http://schemas.microsoft.com/office/drawing/2014/main" id="{70C818F8-0CFD-4C1B-BE7F-0B10CC30F587}"/>
              </a:ext>
            </a:extLst>
          </p:cNvPr>
          <p:cNvGraphicFramePr>
            <a:graphicFrameLocks noGrp="1"/>
          </p:cNvGraphicFramePr>
          <p:nvPr>
            <p:custDataLst>
              <p:tags r:id="rId6"/>
            </p:custDataLst>
          </p:nvPr>
        </p:nvGraphicFramePr>
        <p:xfrm>
          <a:off x="6124755" y="32004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3102305"/>
                  </a:ext>
                </a:extLst>
              </a:tr>
            </a:tbl>
          </a:graphicData>
        </a:graphic>
      </p:graphicFrame>
      <p:sp>
        <p:nvSpPr>
          <p:cNvPr id="3" name="Title 2">
            <a:extLst>
              <a:ext uri="{FF2B5EF4-FFF2-40B4-BE49-F238E27FC236}">
                <a16:creationId xmlns:a16="http://schemas.microsoft.com/office/drawing/2014/main" id="{68CEA6D0-7D15-4B93-BABE-D316392B3F6F}"/>
              </a:ext>
            </a:extLst>
          </p:cNvPr>
          <p:cNvSpPr>
            <a:spLocks noGrp="1"/>
          </p:cNvSpPr>
          <p:nvPr>
            <p:ph type="title"/>
          </p:nvPr>
        </p:nvSpPr>
        <p:spPr/>
        <p:txBody>
          <a:bodyPr/>
          <a:lstStyle/>
          <a:p>
            <a:r>
              <a:rPr lang="en-US" altLang="en-US" dirty="0"/>
              <a:t>ECC</a:t>
            </a:r>
            <a:endParaRPr lang="en-US" dirty="0"/>
          </a:p>
        </p:txBody>
      </p:sp>
      <p:sp>
        <p:nvSpPr>
          <p:cNvPr id="2" name="Rectangle 3">
            <a:extLst>
              <a:ext uri="{FF2B5EF4-FFF2-40B4-BE49-F238E27FC236}">
                <a16:creationId xmlns:a16="http://schemas.microsoft.com/office/drawing/2014/main" id="{5F9EF192-5C01-F37E-7D71-9D35247B768A}"/>
              </a:ext>
            </a:extLst>
          </p:cNvPr>
          <p:cNvSpPr txBox="1">
            <a:spLocks noChangeArrowheads="1"/>
          </p:cNvSpPr>
          <p:nvPr/>
        </p:nvSpPr>
        <p:spPr bwMode="auto">
          <a:xfrm>
            <a:off x="4114800" y="2819400"/>
            <a:ext cx="914400" cy="124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1</a:t>
            </a:r>
            <a:r>
              <a:rPr lang="en-US" altLang="en-US" sz="1600" b="1" dirty="0">
                <a:solidFill>
                  <a:schemeClr val="accent6">
                    <a:lumMod val="75000"/>
                  </a:schemeClr>
                </a:solidFill>
              </a:rPr>
              <a:t> = 0</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2</a:t>
            </a:r>
            <a:r>
              <a:rPr lang="en-US" altLang="en-US" sz="1600" b="1" dirty="0">
                <a:solidFill>
                  <a:schemeClr val="accent6">
                    <a:lumMod val="75000"/>
                  </a:schemeClr>
                </a:solidFill>
              </a:rPr>
              <a:t> = 1</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3</a:t>
            </a:r>
            <a:r>
              <a:rPr lang="en-US" altLang="en-US" sz="1600" b="1" dirty="0">
                <a:solidFill>
                  <a:schemeClr val="accent6">
                    <a:lumMod val="75000"/>
                  </a:schemeClr>
                </a:solidFill>
              </a:rPr>
              <a:t> = 1</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P</a:t>
            </a:r>
            <a:r>
              <a:rPr lang="en-US" altLang="en-US" sz="1600" b="1" dirty="0">
                <a:solidFill>
                  <a:schemeClr val="accent6">
                    <a:lumMod val="75000"/>
                  </a:schemeClr>
                </a:solidFill>
              </a:rPr>
              <a:t> = 1</a:t>
            </a:r>
          </a:p>
        </p:txBody>
      </p:sp>
    </p:spTree>
    <p:custDataLst>
      <p:tags r:id="rId1"/>
    </p:custDataLst>
    <p:extLst>
      <p:ext uri="{BB962C8B-B14F-4D97-AF65-F5344CB8AC3E}">
        <p14:creationId xmlns:p14="http://schemas.microsoft.com/office/powerpoint/2010/main" val="13980921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18</a:t>
            </a:fld>
            <a:endParaRPr lang="en-US" altLang="en-US" sz="1400">
              <a:latin typeface="Times New Roman" panose="02020603050405020304" pitchFamily="18" charset="0"/>
            </a:endParaRPr>
          </a:p>
        </p:txBody>
      </p:sp>
      <p:sp>
        <p:nvSpPr>
          <p:cNvPr id="28" name="TextBox 27">
            <a:extLst>
              <a:ext uri="{FF2B5EF4-FFF2-40B4-BE49-F238E27FC236}">
                <a16:creationId xmlns:a16="http://schemas.microsoft.com/office/drawing/2014/main" id="{B461CF69-18E7-444D-AC6E-329C0EEED875}"/>
              </a:ext>
            </a:extLst>
          </p:cNvPr>
          <p:cNvSpPr txBox="1"/>
          <p:nvPr>
            <p:custDataLst>
              <p:tags r:id="rId3"/>
            </p:custDataLst>
          </p:nvPr>
        </p:nvSpPr>
        <p:spPr>
          <a:xfrm>
            <a:off x="526930" y="1414732"/>
            <a:ext cx="8464670" cy="1709468"/>
          </a:xfrm>
          <a:prstGeom prst="rect">
            <a:avLst/>
          </a:prstGeom>
          <a:noFill/>
        </p:spPr>
        <p:txBody>
          <a:bodyPr wrap="square" rtlCol="0" anchor="t">
            <a:noAutofit/>
          </a:bodyPr>
          <a:lstStyle/>
          <a:p>
            <a:r>
              <a:rPr lang="en-US" sz="2400" dirty="0">
                <a:latin typeface="+mn-lt"/>
              </a:rPr>
              <a:t>One or two bit-flips </a:t>
            </a:r>
            <a:r>
              <a:rPr lang="en-US" sz="2400" b="1" dirty="0">
                <a:latin typeface="+mn-lt"/>
              </a:rPr>
              <a:t>may have occurred </a:t>
            </a:r>
            <a:r>
              <a:rPr lang="en-US" sz="2400" dirty="0">
                <a:latin typeface="+mn-lt"/>
              </a:rPr>
              <a:t>in this </a:t>
            </a:r>
            <a:r>
              <a:rPr lang="en-US" sz="2400" b="1" dirty="0">
                <a:latin typeface="+mn-lt"/>
              </a:rPr>
              <a:t>SECDED</a:t>
            </a:r>
            <a:r>
              <a:rPr lang="en-US" sz="2400" dirty="0">
                <a:latin typeface="+mn-lt"/>
              </a:rPr>
              <a:t> codeword: W</a:t>
            </a:r>
            <a:r>
              <a:rPr lang="en-US" sz="2400" baseline="-25000" dirty="0">
                <a:latin typeface="+mn-lt"/>
              </a:rPr>
              <a:t>8</a:t>
            </a:r>
            <a:r>
              <a:rPr lang="en-US" sz="2400" dirty="0">
                <a:latin typeface="+mn-lt"/>
              </a:rPr>
              <a:t>W</a:t>
            </a:r>
            <a:r>
              <a:rPr lang="en-US" sz="2400" baseline="-25000" dirty="0">
                <a:latin typeface="+mn-lt"/>
              </a:rPr>
              <a:t>7</a:t>
            </a:r>
            <a:r>
              <a:rPr lang="en-US" sz="2400" dirty="0">
                <a:latin typeface="+mn-lt"/>
              </a:rPr>
              <a:t>W</a:t>
            </a:r>
            <a:r>
              <a:rPr lang="en-US" sz="2400" baseline="-25000" dirty="0">
                <a:latin typeface="+mn-lt"/>
              </a:rPr>
              <a:t>6</a:t>
            </a:r>
            <a:r>
              <a:rPr lang="en-US" sz="2400" dirty="0">
                <a:latin typeface="+mn-lt"/>
              </a:rPr>
              <a:t>W</a:t>
            </a:r>
            <a:r>
              <a:rPr lang="en-US" sz="2400" baseline="-25000" dirty="0">
                <a:latin typeface="+mn-lt"/>
              </a:rPr>
              <a:t>5</a:t>
            </a:r>
            <a:r>
              <a:rPr lang="en-US" sz="2400" dirty="0">
                <a:latin typeface="+mn-lt"/>
              </a:rPr>
              <a:t>W</a:t>
            </a:r>
            <a:r>
              <a:rPr lang="en-US" sz="2400" baseline="-25000" dirty="0">
                <a:latin typeface="+mn-lt"/>
              </a:rPr>
              <a:t>4</a:t>
            </a:r>
            <a:r>
              <a:rPr lang="en-US" sz="2400" dirty="0">
                <a:latin typeface="+mn-lt"/>
              </a:rPr>
              <a:t>W</a:t>
            </a:r>
            <a:r>
              <a:rPr lang="en-US" sz="2400" baseline="-25000" dirty="0">
                <a:latin typeface="+mn-lt"/>
              </a:rPr>
              <a:t>3</a:t>
            </a:r>
            <a:r>
              <a:rPr lang="en-US" sz="2400" dirty="0">
                <a:latin typeface="+mn-lt"/>
              </a:rPr>
              <a:t>W</a:t>
            </a:r>
            <a:r>
              <a:rPr lang="en-US" sz="2400" baseline="-25000" dirty="0">
                <a:latin typeface="+mn-lt"/>
              </a:rPr>
              <a:t>2</a:t>
            </a:r>
            <a:r>
              <a:rPr lang="en-US" sz="2400" dirty="0">
                <a:latin typeface="+mn-lt"/>
              </a:rPr>
              <a:t>W</a:t>
            </a:r>
            <a:r>
              <a:rPr lang="en-US" sz="2400" baseline="-25000" dirty="0">
                <a:latin typeface="+mn-lt"/>
              </a:rPr>
              <a:t>1</a:t>
            </a:r>
            <a:r>
              <a:rPr lang="en-US" sz="2400" dirty="0">
                <a:latin typeface="+mn-lt"/>
              </a:rPr>
              <a:t> = 01</a:t>
            </a:r>
            <a:r>
              <a:rPr lang="en-US" sz="2400" b="1" strike="sngStrike" dirty="0">
                <a:solidFill>
                  <a:schemeClr val="accent6">
                    <a:lumMod val="75000"/>
                  </a:schemeClr>
                </a:solidFill>
                <a:latin typeface="+mn-lt"/>
              </a:rPr>
              <a:t>1</a:t>
            </a:r>
            <a:r>
              <a:rPr lang="en-US" sz="2400" dirty="0">
                <a:latin typeface="+mn-lt"/>
              </a:rPr>
              <a:t>01011. Recover the </a:t>
            </a:r>
            <a:r>
              <a:rPr lang="en-US" sz="2400" b="1" dirty="0">
                <a:latin typeface="+mn-lt"/>
              </a:rPr>
              <a:t>original</a:t>
            </a:r>
            <a:r>
              <a:rPr lang="en-US" sz="2400" dirty="0">
                <a:latin typeface="+mn-lt"/>
              </a:rPr>
              <a:t> data.</a:t>
            </a:r>
          </a:p>
        </p:txBody>
      </p:sp>
      <p:graphicFrame>
        <p:nvGraphicFramePr>
          <p:cNvPr id="25" name="Table 24">
            <a:extLst>
              <a:ext uri="{FF2B5EF4-FFF2-40B4-BE49-F238E27FC236}">
                <a16:creationId xmlns:a16="http://schemas.microsoft.com/office/drawing/2014/main" id="{3134B770-94C2-4422-8CED-32A524A936FA}"/>
              </a:ext>
            </a:extLst>
          </p:cNvPr>
          <p:cNvGraphicFramePr>
            <a:graphicFrameLocks noGrp="1"/>
          </p:cNvGraphicFramePr>
          <p:nvPr>
            <p:custDataLst>
              <p:tags r:id="rId4"/>
            </p:custDataLst>
            <p:extLst>
              <p:ext uri="{D42A27DB-BD31-4B8C-83A1-F6EECF244321}">
                <p14:modId xmlns:p14="http://schemas.microsoft.com/office/powerpoint/2010/main" val="369564765"/>
              </p:ext>
            </p:extLst>
          </p:nvPr>
        </p:nvGraphicFramePr>
        <p:xfrm>
          <a:off x="533400" y="32004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graphicFrame>
        <p:nvGraphicFramePr>
          <p:cNvPr id="30" name="Table 29">
            <a:extLst>
              <a:ext uri="{FF2B5EF4-FFF2-40B4-BE49-F238E27FC236}">
                <a16:creationId xmlns:a16="http://schemas.microsoft.com/office/drawing/2014/main" id="{A8A985EE-1062-4917-837E-F8524AFD8AB0}"/>
              </a:ext>
            </a:extLst>
          </p:cNvPr>
          <p:cNvGraphicFramePr>
            <a:graphicFrameLocks noGrp="1"/>
          </p:cNvGraphicFramePr>
          <p:nvPr>
            <p:custDataLst>
              <p:tags r:id="rId5"/>
            </p:custDataLst>
          </p:nvPr>
        </p:nvGraphicFramePr>
        <p:xfrm>
          <a:off x="3352800" y="41351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29" name="Table 28">
            <a:extLst>
              <a:ext uri="{FF2B5EF4-FFF2-40B4-BE49-F238E27FC236}">
                <a16:creationId xmlns:a16="http://schemas.microsoft.com/office/drawing/2014/main" id="{70C818F8-0CFD-4C1B-BE7F-0B10CC30F587}"/>
              </a:ext>
            </a:extLst>
          </p:cNvPr>
          <p:cNvGraphicFramePr>
            <a:graphicFrameLocks noGrp="1"/>
          </p:cNvGraphicFramePr>
          <p:nvPr>
            <p:custDataLst>
              <p:tags r:id="rId6"/>
            </p:custDataLst>
          </p:nvPr>
        </p:nvGraphicFramePr>
        <p:xfrm>
          <a:off x="6124755" y="32004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3102305"/>
                  </a:ext>
                </a:extLst>
              </a:tr>
            </a:tbl>
          </a:graphicData>
        </a:graphic>
      </p:graphicFrame>
      <p:sp>
        <p:nvSpPr>
          <p:cNvPr id="3" name="Title 2">
            <a:extLst>
              <a:ext uri="{FF2B5EF4-FFF2-40B4-BE49-F238E27FC236}">
                <a16:creationId xmlns:a16="http://schemas.microsoft.com/office/drawing/2014/main" id="{68CEA6D0-7D15-4B93-BABE-D316392B3F6F}"/>
              </a:ext>
            </a:extLst>
          </p:cNvPr>
          <p:cNvSpPr>
            <a:spLocks noGrp="1"/>
          </p:cNvSpPr>
          <p:nvPr>
            <p:ph type="title"/>
          </p:nvPr>
        </p:nvSpPr>
        <p:spPr/>
        <p:txBody>
          <a:bodyPr/>
          <a:lstStyle/>
          <a:p>
            <a:r>
              <a:rPr lang="en-US" altLang="en-US" dirty="0"/>
              <a:t>ECC</a:t>
            </a:r>
            <a:endParaRPr lang="en-US" dirty="0"/>
          </a:p>
        </p:txBody>
      </p:sp>
      <p:sp>
        <p:nvSpPr>
          <p:cNvPr id="2" name="Rectangle 3">
            <a:extLst>
              <a:ext uri="{FF2B5EF4-FFF2-40B4-BE49-F238E27FC236}">
                <a16:creationId xmlns:a16="http://schemas.microsoft.com/office/drawing/2014/main" id="{5F9EF192-5C01-F37E-7D71-9D35247B768A}"/>
              </a:ext>
            </a:extLst>
          </p:cNvPr>
          <p:cNvSpPr txBox="1">
            <a:spLocks noChangeArrowheads="1"/>
          </p:cNvSpPr>
          <p:nvPr/>
        </p:nvSpPr>
        <p:spPr bwMode="auto">
          <a:xfrm>
            <a:off x="4114800" y="2819400"/>
            <a:ext cx="914400" cy="124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1</a:t>
            </a:r>
            <a:r>
              <a:rPr lang="en-US" altLang="en-US" sz="1600" b="1" dirty="0">
                <a:solidFill>
                  <a:schemeClr val="accent6">
                    <a:lumMod val="75000"/>
                  </a:schemeClr>
                </a:solidFill>
              </a:rPr>
              <a:t> = 0</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2</a:t>
            </a:r>
            <a:r>
              <a:rPr lang="en-US" altLang="en-US" sz="1600" b="1" dirty="0">
                <a:solidFill>
                  <a:schemeClr val="accent6">
                    <a:lumMod val="75000"/>
                  </a:schemeClr>
                </a:solidFill>
              </a:rPr>
              <a:t> = 1</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3</a:t>
            </a:r>
            <a:r>
              <a:rPr lang="en-US" altLang="en-US" sz="1600" b="1" dirty="0">
                <a:solidFill>
                  <a:schemeClr val="accent6">
                    <a:lumMod val="75000"/>
                  </a:schemeClr>
                </a:solidFill>
              </a:rPr>
              <a:t> = 1</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P</a:t>
            </a:r>
            <a:r>
              <a:rPr lang="en-US" altLang="en-US" sz="1600" b="1" dirty="0">
                <a:solidFill>
                  <a:schemeClr val="accent6">
                    <a:lumMod val="75000"/>
                  </a:schemeClr>
                </a:solidFill>
              </a:rPr>
              <a:t> = 1</a:t>
            </a:r>
          </a:p>
        </p:txBody>
      </p:sp>
    </p:spTree>
    <p:custDataLst>
      <p:tags r:id="rId1"/>
    </p:custDataLst>
    <p:extLst>
      <p:ext uri="{BB962C8B-B14F-4D97-AF65-F5344CB8AC3E}">
        <p14:creationId xmlns:p14="http://schemas.microsoft.com/office/powerpoint/2010/main" val="45387563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19</a:t>
            </a:fld>
            <a:endParaRPr lang="en-US" altLang="en-US" sz="1400">
              <a:latin typeface="Times New Roman" panose="02020603050405020304" pitchFamily="18" charset="0"/>
            </a:endParaRPr>
          </a:p>
        </p:txBody>
      </p:sp>
      <p:sp>
        <p:nvSpPr>
          <p:cNvPr id="28" name="TextBox 27">
            <a:extLst>
              <a:ext uri="{FF2B5EF4-FFF2-40B4-BE49-F238E27FC236}">
                <a16:creationId xmlns:a16="http://schemas.microsoft.com/office/drawing/2014/main" id="{B461CF69-18E7-444D-AC6E-329C0EEED875}"/>
              </a:ext>
            </a:extLst>
          </p:cNvPr>
          <p:cNvSpPr txBox="1"/>
          <p:nvPr>
            <p:custDataLst>
              <p:tags r:id="rId3"/>
            </p:custDataLst>
          </p:nvPr>
        </p:nvSpPr>
        <p:spPr>
          <a:xfrm>
            <a:off x="526930" y="1414732"/>
            <a:ext cx="8464670" cy="1709468"/>
          </a:xfrm>
          <a:prstGeom prst="rect">
            <a:avLst/>
          </a:prstGeom>
          <a:noFill/>
        </p:spPr>
        <p:txBody>
          <a:bodyPr wrap="square" rtlCol="0" anchor="t">
            <a:noAutofit/>
          </a:bodyPr>
          <a:lstStyle/>
          <a:p>
            <a:r>
              <a:rPr lang="en-US" sz="2400" dirty="0">
                <a:latin typeface="+mn-lt"/>
              </a:rPr>
              <a:t>One or two bit-flips </a:t>
            </a:r>
            <a:r>
              <a:rPr lang="en-US" sz="2400" b="1" dirty="0">
                <a:latin typeface="+mn-lt"/>
              </a:rPr>
              <a:t>may have occurred </a:t>
            </a:r>
            <a:r>
              <a:rPr lang="en-US" sz="2400" dirty="0">
                <a:latin typeface="+mn-lt"/>
              </a:rPr>
              <a:t>in this </a:t>
            </a:r>
            <a:r>
              <a:rPr lang="en-US" sz="2400" b="1" dirty="0">
                <a:latin typeface="+mn-lt"/>
              </a:rPr>
              <a:t>SECDED</a:t>
            </a:r>
            <a:r>
              <a:rPr lang="en-US" sz="2400" dirty="0">
                <a:latin typeface="+mn-lt"/>
              </a:rPr>
              <a:t> codeword: W</a:t>
            </a:r>
            <a:r>
              <a:rPr lang="en-US" sz="2400" baseline="-25000" dirty="0">
                <a:latin typeface="+mn-lt"/>
              </a:rPr>
              <a:t>8</a:t>
            </a:r>
            <a:r>
              <a:rPr lang="en-US" sz="2400" dirty="0">
                <a:latin typeface="+mn-lt"/>
              </a:rPr>
              <a:t>W</a:t>
            </a:r>
            <a:r>
              <a:rPr lang="en-US" sz="2400" baseline="-25000" dirty="0">
                <a:latin typeface="+mn-lt"/>
              </a:rPr>
              <a:t>7</a:t>
            </a:r>
            <a:r>
              <a:rPr lang="en-US" sz="2400" dirty="0">
                <a:latin typeface="+mn-lt"/>
              </a:rPr>
              <a:t>W</a:t>
            </a:r>
            <a:r>
              <a:rPr lang="en-US" sz="2400" baseline="-25000" dirty="0">
                <a:latin typeface="+mn-lt"/>
              </a:rPr>
              <a:t>6</a:t>
            </a:r>
            <a:r>
              <a:rPr lang="en-US" sz="2400" dirty="0">
                <a:latin typeface="+mn-lt"/>
              </a:rPr>
              <a:t>W</a:t>
            </a:r>
            <a:r>
              <a:rPr lang="en-US" sz="2400" baseline="-25000" dirty="0">
                <a:latin typeface="+mn-lt"/>
              </a:rPr>
              <a:t>5</a:t>
            </a:r>
            <a:r>
              <a:rPr lang="en-US" sz="2400" dirty="0">
                <a:latin typeface="+mn-lt"/>
              </a:rPr>
              <a:t>W</a:t>
            </a:r>
            <a:r>
              <a:rPr lang="en-US" sz="2400" baseline="-25000" dirty="0">
                <a:latin typeface="+mn-lt"/>
              </a:rPr>
              <a:t>4</a:t>
            </a:r>
            <a:r>
              <a:rPr lang="en-US" sz="2400" dirty="0">
                <a:latin typeface="+mn-lt"/>
              </a:rPr>
              <a:t>W</a:t>
            </a:r>
            <a:r>
              <a:rPr lang="en-US" sz="2400" baseline="-25000" dirty="0">
                <a:latin typeface="+mn-lt"/>
              </a:rPr>
              <a:t>3</a:t>
            </a:r>
            <a:r>
              <a:rPr lang="en-US" sz="2400" dirty="0">
                <a:latin typeface="+mn-lt"/>
              </a:rPr>
              <a:t>W</a:t>
            </a:r>
            <a:r>
              <a:rPr lang="en-US" sz="2400" baseline="-25000" dirty="0">
                <a:latin typeface="+mn-lt"/>
              </a:rPr>
              <a:t>2</a:t>
            </a:r>
            <a:r>
              <a:rPr lang="en-US" sz="2400" dirty="0">
                <a:latin typeface="+mn-lt"/>
              </a:rPr>
              <a:t>W</a:t>
            </a:r>
            <a:r>
              <a:rPr lang="en-US" sz="2400" baseline="-25000" dirty="0">
                <a:latin typeface="+mn-lt"/>
              </a:rPr>
              <a:t>1</a:t>
            </a:r>
            <a:r>
              <a:rPr lang="en-US" sz="2400" dirty="0">
                <a:latin typeface="+mn-lt"/>
              </a:rPr>
              <a:t> = 01</a:t>
            </a:r>
            <a:r>
              <a:rPr lang="en-US" sz="2400" b="1" strike="sngStrike" dirty="0">
                <a:solidFill>
                  <a:schemeClr val="accent6">
                    <a:lumMod val="75000"/>
                  </a:schemeClr>
                </a:solidFill>
                <a:latin typeface="+mn-lt"/>
              </a:rPr>
              <a:t>1</a:t>
            </a:r>
            <a:r>
              <a:rPr lang="en-US" sz="2400" dirty="0">
                <a:latin typeface="+mn-lt"/>
              </a:rPr>
              <a:t>01011. Recover the </a:t>
            </a:r>
            <a:r>
              <a:rPr lang="en-US" sz="2400" b="1" dirty="0">
                <a:latin typeface="+mn-lt"/>
              </a:rPr>
              <a:t>original</a:t>
            </a:r>
            <a:r>
              <a:rPr lang="en-US" sz="2400" dirty="0">
                <a:latin typeface="+mn-lt"/>
              </a:rPr>
              <a:t> data.</a:t>
            </a:r>
          </a:p>
          <a:p>
            <a:endParaRPr lang="en-US" sz="1800" dirty="0">
              <a:latin typeface="+mn-lt"/>
            </a:endParaRPr>
          </a:p>
          <a:p>
            <a:r>
              <a:rPr lang="en-US" sz="2400" b="1" dirty="0">
                <a:solidFill>
                  <a:schemeClr val="accent6">
                    <a:lumMod val="75000"/>
                  </a:schemeClr>
                </a:solidFill>
                <a:latin typeface="+mn-lt"/>
              </a:rPr>
              <a:t>W</a:t>
            </a:r>
            <a:r>
              <a:rPr lang="en-US" sz="2400" b="1" baseline="-25000" dirty="0">
                <a:solidFill>
                  <a:schemeClr val="accent6">
                    <a:lumMod val="75000"/>
                  </a:schemeClr>
                </a:solidFill>
                <a:latin typeface="+mn-lt"/>
              </a:rPr>
              <a:t>6</a:t>
            </a:r>
            <a:r>
              <a:rPr lang="en-US" sz="2400" b="1" dirty="0">
                <a:solidFill>
                  <a:schemeClr val="accent6">
                    <a:lumMod val="75000"/>
                  </a:schemeClr>
                </a:solidFill>
                <a:latin typeface="+mn-lt"/>
              </a:rPr>
              <a:t> has flipped: original data b</a:t>
            </a:r>
            <a:r>
              <a:rPr lang="en-US" sz="2400" b="1" baseline="-25000" dirty="0">
                <a:solidFill>
                  <a:schemeClr val="accent6">
                    <a:lumMod val="75000"/>
                  </a:schemeClr>
                </a:solidFill>
                <a:latin typeface="+mn-lt"/>
              </a:rPr>
              <a:t>4</a:t>
            </a:r>
            <a:r>
              <a:rPr lang="en-US" sz="2400" b="1" dirty="0">
                <a:solidFill>
                  <a:schemeClr val="accent6">
                    <a:lumMod val="75000"/>
                  </a:schemeClr>
                </a:solidFill>
                <a:latin typeface="+mn-lt"/>
              </a:rPr>
              <a:t>b</a:t>
            </a:r>
            <a:r>
              <a:rPr lang="en-US" sz="2400" b="1" baseline="-25000" dirty="0">
                <a:solidFill>
                  <a:schemeClr val="accent6">
                    <a:lumMod val="75000"/>
                  </a:schemeClr>
                </a:solidFill>
                <a:latin typeface="+mn-lt"/>
              </a:rPr>
              <a:t>3</a:t>
            </a:r>
            <a:r>
              <a:rPr lang="en-US" sz="2400" b="1" dirty="0">
                <a:solidFill>
                  <a:schemeClr val="accent6">
                    <a:lumMod val="75000"/>
                  </a:schemeClr>
                </a:solidFill>
                <a:latin typeface="+mn-lt"/>
              </a:rPr>
              <a:t>b</a:t>
            </a:r>
            <a:r>
              <a:rPr lang="en-US" sz="2400" b="1" baseline="-25000" dirty="0">
                <a:solidFill>
                  <a:schemeClr val="accent6">
                    <a:lumMod val="75000"/>
                  </a:schemeClr>
                </a:solidFill>
                <a:latin typeface="+mn-lt"/>
              </a:rPr>
              <a:t>2</a:t>
            </a:r>
            <a:r>
              <a:rPr lang="en-US" sz="2400" b="1" dirty="0">
                <a:solidFill>
                  <a:schemeClr val="accent6">
                    <a:lumMod val="75000"/>
                  </a:schemeClr>
                </a:solidFill>
                <a:latin typeface="+mn-lt"/>
              </a:rPr>
              <a:t>b</a:t>
            </a:r>
            <a:r>
              <a:rPr lang="en-US" sz="2400" b="1" baseline="-25000" dirty="0">
                <a:solidFill>
                  <a:schemeClr val="accent6">
                    <a:lumMod val="75000"/>
                  </a:schemeClr>
                </a:solidFill>
                <a:latin typeface="+mn-lt"/>
              </a:rPr>
              <a:t>1</a:t>
            </a:r>
            <a:r>
              <a:rPr lang="en-US" sz="2400" b="1" dirty="0">
                <a:solidFill>
                  <a:schemeClr val="accent6">
                    <a:lumMod val="75000"/>
                  </a:schemeClr>
                </a:solidFill>
                <a:latin typeface="+mn-lt"/>
              </a:rPr>
              <a:t> = 1000</a:t>
            </a:r>
          </a:p>
        </p:txBody>
      </p:sp>
      <p:graphicFrame>
        <p:nvGraphicFramePr>
          <p:cNvPr id="25" name="Table 24">
            <a:extLst>
              <a:ext uri="{FF2B5EF4-FFF2-40B4-BE49-F238E27FC236}">
                <a16:creationId xmlns:a16="http://schemas.microsoft.com/office/drawing/2014/main" id="{3134B770-94C2-4422-8CED-32A524A936FA}"/>
              </a:ext>
            </a:extLst>
          </p:cNvPr>
          <p:cNvGraphicFramePr>
            <a:graphicFrameLocks noGrp="1"/>
          </p:cNvGraphicFramePr>
          <p:nvPr>
            <p:custDataLst>
              <p:tags r:id="rId4"/>
            </p:custDataLst>
            <p:extLst>
              <p:ext uri="{D42A27DB-BD31-4B8C-83A1-F6EECF244321}">
                <p14:modId xmlns:p14="http://schemas.microsoft.com/office/powerpoint/2010/main" val="2929946121"/>
              </p:ext>
            </p:extLst>
          </p:nvPr>
        </p:nvGraphicFramePr>
        <p:xfrm>
          <a:off x="533400" y="32004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graphicFrame>
        <p:nvGraphicFramePr>
          <p:cNvPr id="30" name="Table 29">
            <a:extLst>
              <a:ext uri="{FF2B5EF4-FFF2-40B4-BE49-F238E27FC236}">
                <a16:creationId xmlns:a16="http://schemas.microsoft.com/office/drawing/2014/main" id="{A8A985EE-1062-4917-837E-F8524AFD8AB0}"/>
              </a:ext>
            </a:extLst>
          </p:cNvPr>
          <p:cNvGraphicFramePr>
            <a:graphicFrameLocks noGrp="1"/>
          </p:cNvGraphicFramePr>
          <p:nvPr>
            <p:custDataLst>
              <p:tags r:id="rId5"/>
            </p:custDataLst>
          </p:nvPr>
        </p:nvGraphicFramePr>
        <p:xfrm>
          <a:off x="3352800" y="41351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29" name="Table 28">
            <a:extLst>
              <a:ext uri="{FF2B5EF4-FFF2-40B4-BE49-F238E27FC236}">
                <a16:creationId xmlns:a16="http://schemas.microsoft.com/office/drawing/2014/main" id="{70C818F8-0CFD-4C1B-BE7F-0B10CC30F587}"/>
              </a:ext>
            </a:extLst>
          </p:cNvPr>
          <p:cNvGraphicFramePr>
            <a:graphicFrameLocks noGrp="1"/>
          </p:cNvGraphicFramePr>
          <p:nvPr>
            <p:custDataLst>
              <p:tags r:id="rId6"/>
            </p:custDataLst>
          </p:nvPr>
        </p:nvGraphicFramePr>
        <p:xfrm>
          <a:off x="6124755" y="32004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3102305"/>
                  </a:ext>
                </a:extLst>
              </a:tr>
            </a:tbl>
          </a:graphicData>
        </a:graphic>
      </p:graphicFrame>
      <p:sp>
        <p:nvSpPr>
          <p:cNvPr id="3" name="Title 2">
            <a:extLst>
              <a:ext uri="{FF2B5EF4-FFF2-40B4-BE49-F238E27FC236}">
                <a16:creationId xmlns:a16="http://schemas.microsoft.com/office/drawing/2014/main" id="{94808341-E1F3-4481-9FE3-E9B1B5A88AE4}"/>
              </a:ext>
            </a:extLst>
          </p:cNvPr>
          <p:cNvSpPr>
            <a:spLocks noGrp="1"/>
          </p:cNvSpPr>
          <p:nvPr>
            <p:ph type="title"/>
          </p:nvPr>
        </p:nvSpPr>
        <p:spPr/>
        <p:txBody>
          <a:bodyPr/>
          <a:lstStyle/>
          <a:p>
            <a:r>
              <a:rPr lang="en-US" altLang="en-US" dirty="0"/>
              <a:t>ECC</a:t>
            </a:r>
            <a:endParaRPr lang="en-US" dirty="0"/>
          </a:p>
        </p:txBody>
      </p:sp>
      <p:sp>
        <p:nvSpPr>
          <p:cNvPr id="2" name="Rectangle 3">
            <a:extLst>
              <a:ext uri="{FF2B5EF4-FFF2-40B4-BE49-F238E27FC236}">
                <a16:creationId xmlns:a16="http://schemas.microsoft.com/office/drawing/2014/main" id="{0C488A96-B2F6-35EE-F09E-2667659A8C01}"/>
              </a:ext>
            </a:extLst>
          </p:cNvPr>
          <p:cNvSpPr txBox="1">
            <a:spLocks noChangeArrowheads="1"/>
          </p:cNvSpPr>
          <p:nvPr/>
        </p:nvSpPr>
        <p:spPr bwMode="auto">
          <a:xfrm>
            <a:off x="4114800" y="2819400"/>
            <a:ext cx="914400" cy="124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1</a:t>
            </a:r>
            <a:r>
              <a:rPr lang="en-US" altLang="en-US" sz="1600" b="1" dirty="0">
                <a:solidFill>
                  <a:schemeClr val="accent6">
                    <a:lumMod val="75000"/>
                  </a:schemeClr>
                </a:solidFill>
              </a:rPr>
              <a:t> = 0</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2</a:t>
            </a:r>
            <a:r>
              <a:rPr lang="en-US" altLang="en-US" sz="1600" b="1" dirty="0">
                <a:solidFill>
                  <a:schemeClr val="accent6">
                    <a:lumMod val="75000"/>
                  </a:schemeClr>
                </a:solidFill>
              </a:rPr>
              <a:t> = 1</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3</a:t>
            </a:r>
            <a:r>
              <a:rPr lang="en-US" altLang="en-US" sz="1600" b="1" dirty="0">
                <a:solidFill>
                  <a:schemeClr val="accent6">
                    <a:lumMod val="75000"/>
                  </a:schemeClr>
                </a:solidFill>
              </a:rPr>
              <a:t> = 1</a:t>
            </a:r>
          </a:p>
          <a:p>
            <a:pPr marL="0" indent="0" algn="ctr">
              <a:buFont typeface="Arial" charset="0"/>
              <a:buNone/>
            </a:pPr>
            <a:r>
              <a:rPr lang="en-US" altLang="en-US" sz="1600" b="1" dirty="0">
                <a:solidFill>
                  <a:schemeClr val="accent6">
                    <a:lumMod val="75000"/>
                  </a:schemeClr>
                </a:solidFill>
              </a:rPr>
              <a:t>S</a:t>
            </a:r>
            <a:r>
              <a:rPr lang="en-US" altLang="en-US" sz="1600" b="1" baseline="-25000" dirty="0">
                <a:solidFill>
                  <a:schemeClr val="accent6">
                    <a:lumMod val="75000"/>
                  </a:schemeClr>
                </a:solidFill>
              </a:rPr>
              <a:t>P</a:t>
            </a:r>
            <a:r>
              <a:rPr lang="en-US" altLang="en-US" sz="1600" b="1" dirty="0">
                <a:solidFill>
                  <a:schemeClr val="accent6">
                    <a:lumMod val="75000"/>
                  </a:schemeClr>
                </a:solidFill>
              </a:rPr>
              <a:t> = 1</a:t>
            </a:r>
          </a:p>
        </p:txBody>
      </p:sp>
    </p:spTree>
    <p:custDataLst>
      <p:tags r:id="rId1"/>
    </p:custDataLst>
    <p:extLst>
      <p:ext uri="{BB962C8B-B14F-4D97-AF65-F5344CB8AC3E}">
        <p14:creationId xmlns:p14="http://schemas.microsoft.com/office/powerpoint/2010/main" val="48861004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DBD04-1EBE-5B08-FEBF-5541BEBA2B19}"/>
              </a:ext>
            </a:extLst>
          </p:cNvPr>
          <p:cNvSpPr>
            <a:spLocks noGrp="1"/>
          </p:cNvSpPr>
          <p:nvPr>
            <p:ph type="title"/>
          </p:nvPr>
        </p:nvSpPr>
        <p:spPr/>
        <p:txBody>
          <a:bodyPr/>
          <a:lstStyle/>
          <a:p>
            <a:r>
              <a:rPr lang="en-US" dirty="0"/>
              <a:t>Superscalar, </a:t>
            </a:r>
            <a:r>
              <a:rPr lang="en-US" dirty="0" err="1"/>
              <a:t>OoO</a:t>
            </a:r>
            <a:r>
              <a:rPr lang="en-US" dirty="0"/>
              <a:t>, MIPS R10K</a:t>
            </a:r>
          </a:p>
        </p:txBody>
      </p:sp>
      <p:sp>
        <p:nvSpPr>
          <p:cNvPr id="3" name="Content Placeholder 2">
            <a:extLst>
              <a:ext uri="{FF2B5EF4-FFF2-40B4-BE49-F238E27FC236}">
                <a16:creationId xmlns:a16="http://schemas.microsoft.com/office/drawing/2014/main" id="{9D7D4E34-19DA-15AD-F1A2-B1F2EB386881}"/>
              </a:ext>
            </a:extLst>
          </p:cNvPr>
          <p:cNvSpPr>
            <a:spLocks noGrp="1"/>
          </p:cNvSpPr>
          <p:nvPr>
            <p:ph idx="1"/>
          </p:nvPr>
        </p:nvSpPr>
        <p:spPr/>
        <p:txBody>
          <a:bodyPr/>
          <a:lstStyle/>
          <a:p>
            <a:r>
              <a:rPr lang="en-US" dirty="0"/>
              <a:t>Fewer stalls, parallelism, more efficiency</a:t>
            </a:r>
          </a:p>
          <a:p>
            <a:r>
              <a:rPr lang="en-US" dirty="0"/>
              <a:t>R10K (R10K-like)</a:t>
            </a:r>
          </a:p>
          <a:p>
            <a:pPr lvl="1"/>
            <a:r>
              <a:rPr lang="en-US" dirty="0"/>
              <a:t>Register Renaming (hazards)</a:t>
            </a:r>
          </a:p>
          <a:p>
            <a:pPr lvl="2"/>
            <a:r>
              <a:rPr lang="en-US" dirty="0"/>
              <a:t>Map Table, Free List</a:t>
            </a:r>
          </a:p>
          <a:p>
            <a:pPr lvl="1"/>
            <a:r>
              <a:rPr lang="en-US" dirty="0"/>
              <a:t>Multiple pipelines (</a:t>
            </a:r>
            <a:r>
              <a:rPr lang="en-US" dirty="0" err="1"/>
              <a:t>OoO</a:t>
            </a:r>
            <a:r>
              <a:rPr lang="en-US" dirty="0"/>
              <a:t>)</a:t>
            </a:r>
          </a:p>
          <a:p>
            <a:pPr lvl="1"/>
            <a:r>
              <a:rPr lang="en-US" dirty="0"/>
              <a:t>Reorder Buffer (speculation)</a:t>
            </a:r>
          </a:p>
          <a:p>
            <a:pPr lvl="1"/>
            <a:r>
              <a:rPr lang="en-US" dirty="0"/>
              <a:t>Pipeline Diagrams, purpose of each stage, where/why stalls happen</a:t>
            </a:r>
          </a:p>
          <a:p>
            <a:endParaRPr lang="en-US" dirty="0"/>
          </a:p>
          <a:p>
            <a:endParaRPr lang="en-US" dirty="0"/>
          </a:p>
        </p:txBody>
      </p:sp>
      <p:sp>
        <p:nvSpPr>
          <p:cNvPr id="4" name="Slide Number Placeholder 3">
            <a:extLst>
              <a:ext uri="{FF2B5EF4-FFF2-40B4-BE49-F238E27FC236}">
                <a16:creationId xmlns:a16="http://schemas.microsoft.com/office/drawing/2014/main" id="{98D04A21-1A2D-47A0-4B69-D356E4F9F8D4}"/>
              </a:ext>
            </a:extLst>
          </p:cNvPr>
          <p:cNvSpPr>
            <a:spLocks noGrp="1"/>
          </p:cNvSpPr>
          <p:nvPr>
            <p:ph type="sldNum" sz="quarter" idx="12"/>
          </p:nvPr>
        </p:nvSpPr>
        <p:spPr/>
        <p:txBody>
          <a:bodyPr/>
          <a:lstStyle/>
          <a:p>
            <a:pPr lvl="1"/>
            <a:fld id="{35B60D93-CC8C-4BE3-8466-59E10CB9DAB3}" type="slidenum">
              <a:rPr lang="en-US" altLang="en-US" smtClean="0"/>
              <a:pPr lvl="1"/>
              <a:t>20</a:t>
            </a:fld>
            <a:endParaRPr lang="en-US" altLang="en-US">
              <a:latin typeface="Calibri" panose="020F0502020204030204" pitchFamily="34" charset="0"/>
            </a:endParaRPr>
          </a:p>
        </p:txBody>
      </p:sp>
    </p:spTree>
    <p:extLst>
      <p:ext uri="{BB962C8B-B14F-4D97-AF65-F5344CB8AC3E}">
        <p14:creationId xmlns:p14="http://schemas.microsoft.com/office/powerpoint/2010/main" val="339750744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MIPS R10K</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21</a:t>
            </a:fld>
            <a:endParaRPr lang="en-US" altLang="en-US"/>
          </a:p>
        </p:txBody>
      </p:sp>
      <p:sp>
        <p:nvSpPr>
          <p:cNvPr id="3" name="Rectangle 2">
            <a:extLst>
              <a:ext uri="{FF2B5EF4-FFF2-40B4-BE49-F238E27FC236}">
                <a16:creationId xmlns:a16="http://schemas.microsoft.com/office/drawing/2014/main" id="{C0C249D5-90DF-560F-7EF7-9587FADDC91B}"/>
              </a:ext>
            </a:extLst>
          </p:cNvPr>
          <p:cNvSpPr/>
          <p:nvPr/>
        </p:nvSpPr>
        <p:spPr>
          <a:xfrm>
            <a:off x="1240641" y="2444314"/>
            <a:ext cx="76200" cy="12954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542EB6A-26ED-BE67-2821-9853C6F5AACA}"/>
              </a:ext>
            </a:extLst>
          </p:cNvPr>
          <p:cNvSpPr/>
          <p:nvPr/>
        </p:nvSpPr>
        <p:spPr>
          <a:xfrm>
            <a:off x="2155041" y="2444314"/>
            <a:ext cx="76200" cy="12954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A32CFD0-D547-C23A-9D43-2ABB97A483AB}"/>
              </a:ext>
            </a:extLst>
          </p:cNvPr>
          <p:cNvSpPr/>
          <p:nvPr/>
        </p:nvSpPr>
        <p:spPr>
          <a:xfrm>
            <a:off x="4822041" y="1963578"/>
            <a:ext cx="76200" cy="54864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4AEC30B-91DE-0496-1E5F-258F64FCF94D}"/>
              </a:ext>
            </a:extLst>
          </p:cNvPr>
          <p:cNvSpPr txBox="1"/>
          <p:nvPr/>
        </p:nvSpPr>
        <p:spPr>
          <a:xfrm>
            <a:off x="597772" y="2743200"/>
            <a:ext cx="697628" cy="369332"/>
          </a:xfrm>
          <a:prstGeom prst="rect">
            <a:avLst/>
          </a:prstGeom>
          <a:noFill/>
        </p:spPr>
        <p:txBody>
          <a:bodyPr wrap="none" rtlCol="0">
            <a:spAutoFit/>
          </a:bodyPr>
          <a:lstStyle/>
          <a:p>
            <a:pPr algn="ctr"/>
            <a:r>
              <a:rPr lang="en-US" sz="1800" b="1" dirty="0">
                <a:solidFill>
                  <a:schemeClr val="accent6">
                    <a:lumMod val="75000"/>
                  </a:schemeClr>
                </a:solidFill>
                <a:latin typeface="+mj-lt"/>
              </a:rPr>
              <a:t>Fetch</a:t>
            </a:r>
          </a:p>
        </p:txBody>
      </p:sp>
      <p:sp>
        <p:nvSpPr>
          <p:cNvPr id="9" name="TextBox 8">
            <a:extLst>
              <a:ext uri="{FF2B5EF4-FFF2-40B4-BE49-F238E27FC236}">
                <a16:creationId xmlns:a16="http://schemas.microsoft.com/office/drawing/2014/main" id="{FF66758E-9A9B-056A-3388-1A1E7D4132C9}"/>
              </a:ext>
            </a:extLst>
          </p:cNvPr>
          <p:cNvSpPr txBox="1"/>
          <p:nvPr/>
        </p:nvSpPr>
        <p:spPr>
          <a:xfrm>
            <a:off x="1295400" y="2743200"/>
            <a:ext cx="903261" cy="369332"/>
          </a:xfrm>
          <a:prstGeom prst="rect">
            <a:avLst/>
          </a:prstGeom>
          <a:noFill/>
        </p:spPr>
        <p:txBody>
          <a:bodyPr wrap="none" rtlCol="0">
            <a:spAutoFit/>
          </a:bodyPr>
          <a:lstStyle/>
          <a:p>
            <a:pPr algn="ctr"/>
            <a:r>
              <a:rPr lang="en-US" sz="1800" b="1" dirty="0">
                <a:solidFill>
                  <a:schemeClr val="accent6">
                    <a:lumMod val="75000"/>
                  </a:schemeClr>
                </a:solidFill>
                <a:latin typeface="+mj-lt"/>
              </a:rPr>
              <a:t>Decode</a:t>
            </a:r>
          </a:p>
        </p:txBody>
      </p:sp>
      <p:sp>
        <p:nvSpPr>
          <p:cNvPr id="10" name="TextBox 9">
            <a:extLst>
              <a:ext uri="{FF2B5EF4-FFF2-40B4-BE49-F238E27FC236}">
                <a16:creationId xmlns:a16="http://schemas.microsoft.com/office/drawing/2014/main" id="{48C83F0E-2690-3419-5511-651FC99EAB4B}"/>
              </a:ext>
            </a:extLst>
          </p:cNvPr>
          <p:cNvSpPr txBox="1"/>
          <p:nvPr/>
        </p:nvSpPr>
        <p:spPr>
          <a:xfrm>
            <a:off x="2266707" y="2743200"/>
            <a:ext cx="1009893" cy="369332"/>
          </a:xfrm>
          <a:prstGeom prst="rect">
            <a:avLst/>
          </a:prstGeom>
          <a:noFill/>
        </p:spPr>
        <p:txBody>
          <a:bodyPr wrap="none" rtlCol="0">
            <a:spAutoFit/>
          </a:bodyPr>
          <a:lstStyle/>
          <a:p>
            <a:pPr algn="ctr"/>
            <a:r>
              <a:rPr lang="en-US" sz="1800" b="1" dirty="0">
                <a:solidFill>
                  <a:schemeClr val="accent6">
                    <a:lumMod val="75000"/>
                  </a:schemeClr>
                </a:solidFill>
                <a:latin typeface="+mj-lt"/>
              </a:rPr>
              <a:t>Dispatch</a:t>
            </a:r>
          </a:p>
        </p:txBody>
      </p:sp>
      <p:sp>
        <p:nvSpPr>
          <p:cNvPr id="12" name="Rectangle 11">
            <a:extLst>
              <a:ext uri="{FF2B5EF4-FFF2-40B4-BE49-F238E27FC236}">
                <a16:creationId xmlns:a16="http://schemas.microsoft.com/office/drawing/2014/main" id="{ED89EA01-97DB-04E8-509F-061C912133C5}"/>
              </a:ext>
            </a:extLst>
          </p:cNvPr>
          <p:cNvSpPr/>
          <p:nvPr/>
        </p:nvSpPr>
        <p:spPr>
          <a:xfrm>
            <a:off x="4822041" y="3008749"/>
            <a:ext cx="76200" cy="54864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9E99C0F-B9FB-C9FE-A568-A2DC841E1D14}"/>
              </a:ext>
            </a:extLst>
          </p:cNvPr>
          <p:cNvSpPr/>
          <p:nvPr/>
        </p:nvSpPr>
        <p:spPr>
          <a:xfrm>
            <a:off x="4822041" y="4098766"/>
            <a:ext cx="76200" cy="54864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5FC2827-1177-30D6-8069-0015272CB44C}"/>
              </a:ext>
            </a:extLst>
          </p:cNvPr>
          <p:cNvSpPr/>
          <p:nvPr/>
        </p:nvSpPr>
        <p:spPr>
          <a:xfrm>
            <a:off x="5279241" y="4099560"/>
            <a:ext cx="76200" cy="54864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738188C-883B-1675-7FD6-68A4C86CCDEB}"/>
              </a:ext>
            </a:extLst>
          </p:cNvPr>
          <p:cNvSpPr/>
          <p:nvPr/>
        </p:nvSpPr>
        <p:spPr>
          <a:xfrm>
            <a:off x="6022193" y="1817052"/>
            <a:ext cx="76200" cy="83899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2BE1E7-6C77-75FA-FFB6-B3096C98D724}"/>
              </a:ext>
            </a:extLst>
          </p:cNvPr>
          <p:cNvSpPr/>
          <p:nvPr/>
        </p:nvSpPr>
        <p:spPr>
          <a:xfrm>
            <a:off x="6022193" y="2862223"/>
            <a:ext cx="76200" cy="83899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1A5CDE8-7F8C-D95B-879E-20985AB4716E}"/>
              </a:ext>
            </a:extLst>
          </p:cNvPr>
          <p:cNvSpPr/>
          <p:nvPr/>
        </p:nvSpPr>
        <p:spPr>
          <a:xfrm>
            <a:off x="6022193" y="3952240"/>
            <a:ext cx="76200" cy="83899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E6205A3-A6B7-4BF2-EACC-4E31B382C3DF}"/>
              </a:ext>
            </a:extLst>
          </p:cNvPr>
          <p:cNvSpPr/>
          <p:nvPr/>
        </p:nvSpPr>
        <p:spPr>
          <a:xfrm>
            <a:off x="4364841" y="1817052"/>
            <a:ext cx="76200" cy="83899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D4A841D-867A-5035-F465-602DF8410EA7}"/>
              </a:ext>
            </a:extLst>
          </p:cNvPr>
          <p:cNvSpPr/>
          <p:nvPr/>
        </p:nvSpPr>
        <p:spPr>
          <a:xfrm>
            <a:off x="4364841" y="2862223"/>
            <a:ext cx="76200" cy="83899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307AED4-2020-E1C9-9972-1DEF202D7314}"/>
              </a:ext>
            </a:extLst>
          </p:cNvPr>
          <p:cNvSpPr/>
          <p:nvPr/>
        </p:nvSpPr>
        <p:spPr>
          <a:xfrm>
            <a:off x="4364841" y="3952240"/>
            <a:ext cx="76200" cy="83899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91171FD-0400-183C-8176-9EBFED9E0D20}"/>
              </a:ext>
            </a:extLst>
          </p:cNvPr>
          <p:cNvSpPr/>
          <p:nvPr/>
        </p:nvSpPr>
        <p:spPr>
          <a:xfrm>
            <a:off x="457200" y="2760018"/>
            <a:ext cx="182008" cy="762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PC</a:t>
            </a:r>
          </a:p>
        </p:txBody>
      </p:sp>
      <p:sp>
        <p:nvSpPr>
          <p:cNvPr id="24" name="Rectangle 23">
            <a:extLst>
              <a:ext uri="{FF2B5EF4-FFF2-40B4-BE49-F238E27FC236}">
                <a16:creationId xmlns:a16="http://schemas.microsoft.com/office/drawing/2014/main" id="{AAD7DA18-09E6-1A1F-30E2-DDC07D4526FA}"/>
              </a:ext>
            </a:extLst>
          </p:cNvPr>
          <p:cNvSpPr/>
          <p:nvPr/>
        </p:nvSpPr>
        <p:spPr>
          <a:xfrm>
            <a:off x="3359437" y="1877972"/>
            <a:ext cx="182008" cy="762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RS</a:t>
            </a:r>
          </a:p>
        </p:txBody>
      </p:sp>
      <p:sp>
        <p:nvSpPr>
          <p:cNvPr id="25" name="Rectangle 24">
            <a:extLst>
              <a:ext uri="{FF2B5EF4-FFF2-40B4-BE49-F238E27FC236}">
                <a16:creationId xmlns:a16="http://schemas.microsoft.com/office/drawing/2014/main" id="{104CFC82-113B-9446-5B06-EBB112F24FE8}"/>
              </a:ext>
            </a:extLst>
          </p:cNvPr>
          <p:cNvSpPr/>
          <p:nvPr/>
        </p:nvSpPr>
        <p:spPr>
          <a:xfrm>
            <a:off x="3359437" y="2900720"/>
            <a:ext cx="182008" cy="762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RS</a:t>
            </a:r>
          </a:p>
        </p:txBody>
      </p:sp>
      <p:sp>
        <p:nvSpPr>
          <p:cNvPr id="26" name="Rectangle 25">
            <a:extLst>
              <a:ext uri="{FF2B5EF4-FFF2-40B4-BE49-F238E27FC236}">
                <a16:creationId xmlns:a16="http://schemas.microsoft.com/office/drawing/2014/main" id="{0E9318D0-9674-B2BC-715E-7B826D23880D}"/>
              </a:ext>
            </a:extLst>
          </p:cNvPr>
          <p:cNvSpPr/>
          <p:nvPr/>
        </p:nvSpPr>
        <p:spPr>
          <a:xfrm>
            <a:off x="3359437" y="3990737"/>
            <a:ext cx="182008" cy="762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RS</a:t>
            </a:r>
          </a:p>
        </p:txBody>
      </p:sp>
      <p:graphicFrame>
        <p:nvGraphicFramePr>
          <p:cNvPr id="27" name="Table 26">
            <a:extLst>
              <a:ext uri="{FF2B5EF4-FFF2-40B4-BE49-F238E27FC236}">
                <a16:creationId xmlns:a16="http://schemas.microsoft.com/office/drawing/2014/main" id="{31A24CEE-AFE2-452C-4BBC-1D0C23AC3627}"/>
              </a:ext>
            </a:extLst>
          </p:cNvPr>
          <p:cNvGraphicFramePr>
            <a:graphicFrameLocks noGrp="1"/>
          </p:cNvGraphicFramePr>
          <p:nvPr/>
        </p:nvGraphicFramePr>
        <p:xfrm>
          <a:off x="3359437" y="1278205"/>
          <a:ext cx="3886200" cy="370840"/>
        </p:xfrm>
        <a:graphic>
          <a:graphicData uri="http://schemas.openxmlformats.org/drawingml/2006/table">
            <a:tbl>
              <a:tblPr firstRow="1" bandRow="1">
                <a:tableStyleId>{5C22544A-7EE6-4342-B048-85BDC9FD1C3A}</a:tableStyleId>
              </a:tblPr>
              <a:tblGrid>
                <a:gridCol w="228600">
                  <a:extLst>
                    <a:ext uri="{9D8B030D-6E8A-4147-A177-3AD203B41FA5}">
                      <a16:colId xmlns:a16="http://schemas.microsoft.com/office/drawing/2014/main" val="1027758811"/>
                    </a:ext>
                  </a:extLst>
                </a:gridCol>
                <a:gridCol w="228600">
                  <a:extLst>
                    <a:ext uri="{9D8B030D-6E8A-4147-A177-3AD203B41FA5}">
                      <a16:colId xmlns:a16="http://schemas.microsoft.com/office/drawing/2014/main" val="3730777603"/>
                    </a:ext>
                  </a:extLst>
                </a:gridCol>
                <a:gridCol w="228600">
                  <a:extLst>
                    <a:ext uri="{9D8B030D-6E8A-4147-A177-3AD203B41FA5}">
                      <a16:colId xmlns:a16="http://schemas.microsoft.com/office/drawing/2014/main" val="1583854714"/>
                    </a:ext>
                  </a:extLst>
                </a:gridCol>
                <a:gridCol w="228600">
                  <a:extLst>
                    <a:ext uri="{9D8B030D-6E8A-4147-A177-3AD203B41FA5}">
                      <a16:colId xmlns:a16="http://schemas.microsoft.com/office/drawing/2014/main" val="951328479"/>
                    </a:ext>
                  </a:extLst>
                </a:gridCol>
                <a:gridCol w="228600">
                  <a:extLst>
                    <a:ext uri="{9D8B030D-6E8A-4147-A177-3AD203B41FA5}">
                      <a16:colId xmlns:a16="http://schemas.microsoft.com/office/drawing/2014/main" val="3388620779"/>
                    </a:ext>
                  </a:extLst>
                </a:gridCol>
                <a:gridCol w="228600">
                  <a:extLst>
                    <a:ext uri="{9D8B030D-6E8A-4147-A177-3AD203B41FA5}">
                      <a16:colId xmlns:a16="http://schemas.microsoft.com/office/drawing/2014/main" val="155444037"/>
                    </a:ext>
                  </a:extLst>
                </a:gridCol>
                <a:gridCol w="228600">
                  <a:extLst>
                    <a:ext uri="{9D8B030D-6E8A-4147-A177-3AD203B41FA5}">
                      <a16:colId xmlns:a16="http://schemas.microsoft.com/office/drawing/2014/main" val="2619739535"/>
                    </a:ext>
                  </a:extLst>
                </a:gridCol>
                <a:gridCol w="228600">
                  <a:extLst>
                    <a:ext uri="{9D8B030D-6E8A-4147-A177-3AD203B41FA5}">
                      <a16:colId xmlns:a16="http://schemas.microsoft.com/office/drawing/2014/main" val="413790502"/>
                    </a:ext>
                  </a:extLst>
                </a:gridCol>
                <a:gridCol w="228600">
                  <a:extLst>
                    <a:ext uri="{9D8B030D-6E8A-4147-A177-3AD203B41FA5}">
                      <a16:colId xmlns:a16="http://schemas.microsoft.com/office/drawing/2014/main" val="2921660551"/>
                    </a:ext>
                  </a:extLst>
                </a:gridCol>
                <a:gridCol w="228600">
                  <a:extLst>
                    <a:ext uri="{9D8B030D-6E8A-4147-A177-3AD203B41FA5}">
                      <a16:colId xmlns:a16="http://schemas.microsoft.com/office/drawing/2014/main" val="3830735029"/>
                    </a:ext>
                  </a:extLst>
                </a:gridCol>
                <a:gridCol w="228600">
                  <a:extLst>
                    <a:ext uri="{9D8B030D-6E8A-4147-A177-3AD203B41FA5}">
                      <a16:colId xmlns:a16="http://schemas.microsoft.com/office/drawing/2014/main" val="998534544"/>
                    </a:ext>
                  </a:extLst>
                </a:gridCol>
                <a:gridCol w="228600">
                  <a:extLst>
                    <a:ext uri="{9D8B030D-6E8A-4147-A177-3AD203B41FA5}">
                      <a16:colId xmlns:a16="http://schemas.microsoft.com/office/drawing/2014/main" val="2662491134"/>
                    </a:ext>
                  </a:extLst>
                </a:gridCol>
                <a:gridCol w="228600">
                  <a:extLst>
                    <a:ext uri="{9D8B030D-6E8A-4147-A177-3AD203B41FA5}">
                      <a16:colId xmlns:a16="http://schemas.microsoft.com/office/drawing/2014/main" val="3991215197"/>
                    </a:ext>
                  </a:extLst>
                </a:gridCol>
                <a:gridCol w="228600">
                  <a:extLst>
                    <a:ext uri="{9D8B030D-6E8A-4147-A177-3AD203B41FA5}">
                      <a16:colId xmlns:a16="http://schemas.microsoft.com/office/drawing/2014/main" val="3749243704"/>
                    </a:ext>
                  </a:extLst>
                </a:gridCol>
                <a:gridCol w="228600">
                  <a:extLst>
                    <a:ext uri="{9D8B030D-6E8A-4147-A177-3AD203B41FA5}">
                      <a16:colId xmlns:a16="http://schemas.microsoft.com/office/drawing/2014/main" val="2327892540"/>
                    </a:ext>
                  </a:extLst>
                </a:gridCol>
                <a:gridCol w="228600">
                  <a:extLst>
                    <a:ext uri="{9D8B030D-6E8A-4147-A177-3AD203B41FA5}">
                      <a16:colId xmlns:a16="http://schemas.microsoft.com/office/drawing/2014/main" val="178463886"/>
                    </a:ext>
                  </a:extLst>
                </a:gridCol>
                <a:gridCol w="228600">
                  <a:extLst>
                    <a:ext uri="{9D8B030D-6E8A-4147-A177-3AD203B41FA5}">
                      <a16:colId xmlns:a16="http://schemas.microsoft.com/office/drawing/2014/main" val="3149300046"/>
                    </a:ext>
                  </a:extLst>
                </a:gridCol>
              </a:tblGrid>
              <a:tr h="370840">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54733528"/>
                  </a:ext>
                </a:extLst>
              </a:tr>
            </a:tbl>
          </a:graphicData>
        </a:graphic>
      </p:graphicFrame>
      <p:sp>
        <p:nvSpPr>
          <p:cNvPr id="28" name="Rectangle 27">
            <a:extLst>
              <a:ext uri="{FF2B5EF4-FFF2-40B4-BE49-F238E27FC236}">
                <a16:creationId xmlns:a16="http://schemas.microsoft.com/office/drawing/2014/main" id="{F409C73A-1547-086E-5900-C065E6BDCA53}"/>
              </a:ext>
            </a:extLst>
          </p:cNvPr>
          <p:cNvSpPr/>
          <p:nvPr/>
        </p:nvSpPr>
        <p:spPr>
          <a:xfrm>
            <a:off x="3359437" y="6037858"/>
            <a:ext cx="1096408" cy="591542"/>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Map Table</a:t>
            </a:r>
          </a:p>
          <a:p>
            <a:pPr algn="ctr"/>
            <a:r>
              <a:rPr lang="en-US" sz="1600" b="1" dirty="0">
                <a:solidFill>
                  <a:schemeClr val="tx1"/>
                </a:solidFill>
              </a:rPr>
              <a:t>&amp; Free List</a:t>
            </a:r>
          </a:p>
        </p:txBody>
      </p:sp>
      <p:sp>
        <p:nvSpPr>
          <p:cNvPr id="29" name="Rectangle 28">
            <a:extLst>
              <a:ext uri="{FF2B5EF4-FFF2-40B4-BE49-F238E27FC236}">
                <a16:creationId xmlns:a16="http://schemas.microsoft.com/office/drawing/2014/main" id="{585580D9-D540-0F75-84C6-11933E4A8D95}"/>
              </a:ext>
            </a:extLst>
          </p:cNvPr>
          <p:cNvSpPr/>
          <p:nvPr/>
        </p:nvSpPr>
        <p:spPr>
          <a:xfrm>
            <a:off x="4625229" y="4953000"/>
            <a:ext cx="1325008" cy="762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Physical</a:t>
            </a:r>
          </a:p>
          <a:p>
            <a:pPr algn="ctr"/>
            <a:r>
              <a:rPr lang="en-US" sz="1600" b="1" dirty="0">
                <a:solidFill>
                  <a:schemeClr val="tx1"/>
                </a:solidFill>
              </a:rPr>
              <a:t>Register File</a:t>
            </a:r>
          </a:p>
        </p:txBody>
      </p:sp>
      <p:sp>
        <p:nvSpPr>
          <p:cNvPr id="30" name="TextBox 29">
            <a:extLst>
              <a:ext uri="{FF2B5EF4-FFF2-40B4-BE49-F238E27FC236}">
                <a16:creationId xmlns:a16="http://schemas.microsoft.com/office/drawing/2014/main" id="{190FD931-60AC-7743-91FA-95051C28525E}"/>
              </a:ext>
            </a:extLst>
          </p:cNvPr>
          <p:cNvSpPr txBox="1"/>
          <p:nvPr/>
        </p:nvSpPr>
        <p:spPr>
          <a:xfrm>
            <a:off x="6096000" y="2743200"/>
            <a:ext cx="1103572" cy="369332"/>
          </a:xfrm>
          <a:prstGeom prst="rect">
            <a:avLst/>
          </a:prstGeom>
          <a:noFill/>
        </p:spPr>
        <p:txBody>
          <a:bodyPr wrap="none" rtlCol="0">
            <a:spAutoFit/>
          </a:bodyPr>
          <a:lstStyle/>
          <a:p>
            <a:pPr algn="ctr"/>
            <a:r>
              <a:rPr lang="en-US" sz="1800" b="1" dirty="0">
                <a:solidFill>
                  <a:schemeClr val="accent6">
                    <a:lumMod val="75000"/>
                  </a:schemeClr>
                </a:solidFill>
                <a:latin typeface="+mj-lt"/>
              </a:rPr>
              <a:t>Complete</a:t>
            </a:r>
          </a:p>
        </p:txBody>
      </p:sp>
      <p:sp>
        <p:nvSpPr>
          <p:cNvPr id="31" name="TextBox 30">
            <a:extLst>
              <a:ext uri="{FF2B5EF4-FFF2-40B4-BE49-F238E27FC236}">
                <a16:creationId xmlns:a16="http://schemas.microsoft.com/office/drawing/2014/main" id="{BB91DAC9-75B3-B3FD-96C2-C3E0B9C0EF91}"/>
              </a:ext>
            </a:extLst>
          </p:cNvPr>
          <p:cNvSpPr txBox="1"/>
          <p:nvPr/>
        </p:nvSpPr>
        <p:spPr>
          <a:xfrm>
            <a:off x="7290194" y="2743200"/>
            <a:ext cx="755784" cy="369332"/>
          </a:xfrm>
          <a:prstGeom prst="rect">
            <a:avLst/>
          </a:prstGeom>
          <a:noFill/>
        </p:spPr>
        <p:txBody>
          <a:bodyPr wrap="none" rtlCol="0">
            <a:spAutoFit/>
          </a:bodyPr>
          <a:lstStyle/>
          <a:p>
            <a:pPr algn="ctr"/>
            <a:r>
              <a:rPr lang="en-US" sz="1800" b="1" dirty="0">
                <a:solidFill>
                  <a:schemeClr val="accent6">
                    <a:lumMod val="75000"/>
                  </a:schemeClr>
                </a:solidFill>
                <a:latin typeface="+mj-lt"/>
              </a:rPr>
              <a:t>Retire</a:t>
            </a:r>
          </a:p>
        </p:txBody>
      </p:sp>
      <p:sp>
        <p:nvSpPr>
          <p:cNvPr id="32" name="TextBox 31">
            <a:extLst>
              <a:ext uri="{FF2B5EF4-FFF2-40B4-BE49-F238E27FC236}">
                <a16:creationId xmlns:a16="http://schemas.microsoft.com/office/drawing/2014/main" id="{A36976A9-7C3B-3714-F218-E0853D30CA0A}"/>
              </a:ext>
            </a:extLst>
          </p:cNvPr>
          <p:cNvSpPr txBox="1"/>
          <p:nvPr/>
        </p:nvSpPr>
        <p:spPr>
          <a:xfrm>
            <a:off x="3574056" y="2743200"/>
            <a:ext cx="667170" cy="369332"/>
          </a:xfrm>
          <a:prstGeom prst="rect">
            <a:avLst/>
          </a:prstGeom>
          <a:noFill/>
        </p:spPr>
        <p:txBody>
          <a:bodyPr wrap="none" rtlCol="0">
            <a:spAutoFit/>
          </a:bodyPr>
          <a:lstStyle/>
          <a:p>
            <a:pPr algn="ctr"/>
            <a:r>
              <a:rPr lang="en-US" sz="1800" b="1" dirty="0">
                <a:solidFill>
                  <a:schemeClr val="accent6">
                    <a:lumMod val="75000"/>
                  </a:schemeClr>
                </a:solidFill>
                <a:latin typeface="+mj-lt"/>
              </a:rPr>
              <a:t>Issue</a:t>
            </a:r>
          </a:p>
        </p:txBody>
      </p:sp>
      <p:cxnSp>
        <p:nvCxnSpPr>
          <p:cNvPr id="34" name="Straight Connector 33">
            <a:extLst>
              <a:ext uri="{FF2B5EF4-FFF2-40B4-BE49-F238E27FC236}">
                <a16:creationId xmlns:a16="http://schemas.microsoft.com/office/drawing/2014/main" id="{2E082356-E0C3-538A-5600-DEBC0EF2BD5A}"/>
              </a:ext>
            </a:extLst>
          </p:cNvPr>
          <p:cNvCxnSpPr/>
          <p:nvPr/>
        </p:nvCxnSpPr>
        <p:spPr>
          <a:xfrm>
            <a:off x="2667000" y="1463624"/>
            <a:ext cx="0" cy="4892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2A1F932-5C65-1490-2CA6-936D5ECC2320}"/>
              </a:ext>
            </a:extLst>
          </p:cNvPr>
          <p:cNvCxnSpPr>
            <a:cxnSpLocks/>
          </p:cNvCxnSpPr>
          <p:nvPr/>
        </p:nvCxnSpPr>
        <p:spPr>
          <a:xfrm flipV="1">
            <a:off x="6611623" y="1645920"/>
            <a:ext cx="0" cy="420624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FF205CF-F304-6828-0E37-3A5FA8E154D4}"/>
              </a:ext>
            </a:extLst>
          </p:cNvPr>
          <p:cNvCxnSpPr>
            <a:cxnSpLocks/>
          </p:cNvCxnSpPr>
          <p:nvPr/>
        </p:nvCxnSpPr>
        <p:spPr>
          <a:xfrm rot="5400000">
            <a:off x="5028217" y="4290060"/>
            <a:ext cx="0" cy="3154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40E3553-AE4F-AA11-AE5D-76B72B190224}"/>
              </a:ext>
            </a:extLst>
          </p:cNvPr>
          <p:cNvCxnSpPr/>
          <p:nvPr/>
        </p:nvCxnSpPr>
        <p:spPr>
          <a:xfrm>
            <a:off x="7626637" y="1463624"/>
            <a:ext cx="0" cy="48463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8CAC9C6-A433-EC05-9782-AEE5A47FB489}"/>
              </a:ext>
            </a:extLst>
          </p:cNvPr>
          <p:cNvCxnSpPr>
            <a:cxnSpLocks/>
          </p:cNvCxnSpPr>
          <p:nvPr/>
        </p:nvCxnSpPr>
        <p:spPr>
          <a:xfrm rot="5400000" flipV="1">
            <a:off x="3016537" y="1120724"/>
            <a:ext cx="0" cy="68580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DC28203-2B74-B54D-9CCA-8F3762782985}"/>
              </a:ext>
            </a:extLst>
          </p:cNvPr>
          <p:cNvCxnSpPr>
            <a:cxnSpLocks/>
          </p:cNvCxnSpPr>
          <p:nvPr/>
        </p:nvCxnSpPr>
        <p:spPr>
          <a:xfrm rot="5400000" flipV="1">
            <a:off x="3003244" y="1943100"/>
            <a:ext cx="0" cy="68580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1140542-7D24-B823-DEBA-DDE7203CDD29}"/>
              </a:ext>
            </a:extLst>
          </p:cNvPr>
          <p:cNvCxnSpPr>
            <a:cxnSpLocks/>
          </p:cNvCxnSpPr>
          <p:nvPr/>
        </p:nvCxnSpPr>
        <p:spPr>
          <a:xfrm rot="5400000" flipV="1">
            <a:off x="3003244" y="2950518"/>
            <a:ext cx="0" cy="68580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A74AFD4-6822-145F-2917-532AE1707E71}"/>
              </a:ext>
            </a:extLst>
          </p:cNvPr>
          <p:cNvCxnSpPr>
            <a:cxnSpLocks/>
          </p:cNvCxnSpPr>
          <p:nvPr/>
        </p:nvCxnSpPr>
        <p:spPr>
          <a:xfrm rot="5400000" flipV="1">
            <a:off x="3003244" y="4076700"/>
            <a:ext cx="0" cy="68580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9963797-FABB-1719-DC00-2398E1BA8CAD}"/>
              </a:ext>
            </a:extLst>
          </p:cNvPr>
          <p:cNvCxnSpPr>
            <a:cxnSpLocks/>
          </p:cNvCxnSpPr>
          <p:nvPr/>
        </p:nvCxnSpPr>
        <p:spPr>
          <a:xfrm rot="5400000" flipV="1">
            <a:off x="3016537" y="5981700"/>
            <a:ext cx="0" cy="68580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AC7E27A-B63D-B949-124D-8D3D5BF2021B}"/>
              </a:ext>
            </a:extLst>
          </p:cNvPr>
          <p:cNvCxnSpPr>
            <a:cxnSpLocks/>
          </p:cNvCxnSpPr>
          <p:nvPr/>
        </p:nvCxnSpPr>
        <p:spPr>
          <a:xfrm flipV="1">
            <a:off x="3450441" y="4754880"/>
            <a:ext cx="0" cy="109728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FF03E6-B441-5799-F6E3-FA3C96425CEC}"/>
              </a:ext>
            </a:extLst>
          </p:cNvPr>
          <p:cNvCxnSpPr>
            <a:cxnSpLocks/>
          </p:cNvCxnSpPr>
          <p:nvPr/>
        </p:nvCxnSpPr>
        <p:spPr>
          <a:xfrm>
            <a:off x="3892837" y="5867400"/>
            <a:ext cx="0" cy="18288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1DC4AE0-8668-7BDD-123A-65D563477808}"/>
              </a:ext>
            </a:extLst>
          </p:cNvPr>
          <p:cNvCxnSpPr>
            <a:cxnSpLocks/>
          </p:cNvCxnSpPr>
          <p:nvPr/>
        </p:nvCxnSpPr>
        <p:spPr>
          <a:xfrm rot="5400000" flipV="1">
            <a:off x="7588537" y="1104900"/>
            <a:ext cx="0" cy="68580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6178294-ADC2-31DA-14F6-46896AABDE11}"/>
              </a:ext>
            </a:extLst>
          </p:cNvPr>
          <p:cNvCxnSpPr>
            <a:cxnSpLocks/>
          </p:cNvCxnSpPr>
          <p:nvPr/>
        </p:nvCxnSpPr>
        <p:spPr>
          <a:xfrm rot="5400000" flipV="1">
            <a:off x="3953361" y="1722120"/>
            <a:ext cx="0" cy="82296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8585D5A-5692-9B5F-F493-80299C68F0F3}"/>
              </a:ext>
            </a:extLst>
          </p:cNvPr>
          <p:cNvCxnSpPr>
            <a:cxnSpLocks/>
          </p:cNvCxnSpPr>
          <p:nvPr/>
        </p:nvCxnSpPr>
        <p:spPr>
          <a:xfrm rot="5400000" flipV="1">
            <a:off x="3953361" y="2729538"/>
            <a:ext cx="0" cy="82296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DB9DAAE-4D64-DC42-F221-577E22EE6E1E}"/>
              </a:ext>
            </a:extLst>
          </p:cNvPr>
          <p:cNvCxnSpPr>
            <a:cxnSpLocks/>
          </p:cNvCxnSpPr>
          <p:nvPr/>
        </p:nvCxnSpPr>
        <p:spPr>
          <a:xfrm rot="5400000" flipV="1">
            <a:off x="3953361" y="3855720"/>
            <a:ext cx="0" cy="82296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FF5737D-6E2B-B3ED-5B6C-FF52C2B7F2BB}"/>
              </a:ext>
            </a:extLst>
          </p:cNvPr>
          <p:cNvCxnSpPr>
            <a:cxnSpLocks/>
          </p:cNvCxnSpPr>
          <p:nvPr/>
        </p:nvCxnSpPr>
        <p:spPr>
          <a:xfrm rot="5400000" flipV="1">
            <a:off x="4273401" y="4404360"/>
            <a:ext cx="0" cy="18288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91262A8-7EA3-8871-0B18-21BDF35755EF}"/>
              </a:ext>
            </a:extLst>
          </p:cNvPr>
          <p:cNvCxnSpPr>
            <a:cxnSpLocks/>
          </p:cNvCxnSpPr>
          <p:nvPr/>
        </p:nvCxnSpPr>
        <p:spPr>
          <a:xfrm rot="5400000" flipV="1">
            <a:off x="4273401" y="3261360"/>
            <a:ext cx="0" cy="18288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B2B978C-6F53-F17B-3BA1-A58EE5FA21C1}"/>
              </a:ext>
            </a:extLst>
          </p:cNvPr>
          <p:cNvCxnSpPr>
            <a:cxnSpLocks/>
          </p:cNvCxnSpPr>
          <p:nvPr/>
        </p:nvCxnSpPr>
        <p:spPr>
          <a:xfrm rot="5400000" flipV="1">
            <a:off x="4273401" y="2270760"/>
            <a:ext cx="0" cy="18288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BB183C0-6C55-C666-BD52-25F182672A77}"/>
              </a:ext>
            </a:extLst>
          </p:cNvPr>
          <p:cNvCxnSpPr/>
          <p:nvPr/>
        </p:nvCxnSpPr>
        <p:spPr>
          <a:xfrm>
            <a:off x="4181961" y="2362200"/>
            <a:ext cx="0" cy="2971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B289BD5-71CD-5B6D-146C-E70445796889}"/>
              </a:ext>
            </a:extLst>
          </p:cNvPr>
          <p:cNvCxnSpPr>
            <a:cxnSpLocks/>
          </p:cNvCxnSpPr>
          <p:nvPr/>
        </p:nvCxnSpPr>
        <p:spPr>
          <a:xfrm rot="16200000" flipH="1" flipV="1">
            <a:off x="6285080" y="5035207"/>
            <a:ext cx="0" cy="64008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6F2079F-708F-B73C-DEB3-D29FC6AA3BFD}"/>
              </a:ext>
            </a:extLst>
          </p:cNvPr>
          <p:cNvCxnSpPr>
            <a:cxnSpLocks/>
          </p:cNvCxnSpPr>
          <p:nvPr/>
        </p:nvCxnSpPr>
        <p:spPr>
          <a:xfrm rot="5400000" flipV="1">
            <a:off x="936824" y="2815263"/>
            <a:ext cx="0" cy="59436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3302C27-6A62-39DC-7C3A-359B7F7C9464}"/>
              </a:ext>
            </a:extLst>
          </p:cNvPr>
          <p:cNvCxnSpPr>
            <a:cxnSpLocks/>
          </p:cNvCxnSpPr>
          <p:nvPr/>
        </p:nvCxnSpPr>
        <p:spPr>
          <a:xfrm rot="5400000" flipV="1">
            <a:off x="1743561" y="2700963"/>
            <a:ext cx="0" cy="82296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B2DC05F-75E2-3DFD-5341-FD88E38C7870}"/>
              </a:ext>
            </a:extLst>
          </p:cNvPr>
          <p:cNvCxnSpPr>
            <a:cxnSpLocks/>
          </p:cNvCxnSpPr>
          <p:nvPr/>
        </p:nvCxnSpPr>
        <p:spPr>
          <a:xfrm rot="5400000" flipV="1">
            <a:off x="2467897" y="2906703"/>
            <a:ext cx="0" cy="411480"/>
          </a:xfrm>
          <a:prstGeom prst="line">
            <a:avLst/>
          </a:prstGeom>
          <a:ln w="19050">
            <a:solidFill>
              <a:schemeClr val="tx1"/>
            </a:solidFill>
            <a:headEnd type="none"/>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BBA6843-3640-8DA0-C440-5ED3AFB9B3C8}"/>
              </a:ext>
            </a:extLst>
          </p:cNvPr>
          <p:cNvCxnSpPr>
            <a:cxnSpLocks/>
          </p:cNvCxnSpPr>
          <p:nvPr/>
        </p:nvCxnSpPr>
        <p:spPr>
          <a:xfrm rot="5400000" flipV="1">
            <a:off x="6353660" y="1979622"/>
            <a:ext cx="0" cy="502920"/>
          </a:xfrm>
          <a:prstGeom prst="line">
            <a:avLst/>
          </a:prstGeom>
          <a:ln w="19050">
            <a:solidFill>
              <a:schemeClr val="tx1"/>
            </a:solidFill>
            <a:headEnd type="none"/>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86E32C1-4565-DF69-EEB1-4689D00C1DEE}"/>
              </a:ext>
            </a:extLst>
          </p:cNvPr>
          <p:cNvCxnSpPr>
            <a:cxnSpLocks/>
          </p:cNvCxnSpPr>
          <p:nvPr/>
        </p:nvCxnSpPr>
        <p:spPr>
          <a:xfrm rot="5400000" flipV="1">
            <a:off x="6353660" y="3025140"/>
            <a:ext cx="0" cy="502920"/>
          </a:xfrm>
          <a:prstGeom prst="line">
            <a:avLst/>
          </a:prstGeom>
          <a:ln w="19050">
            <a:solidFill>
              <a:schemeClr val="tx1"/>
            </a:solidFill>
            <a:headEnd type="none"/>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76F4FB5-F1BA-E2EB-1A88-05E82D20C68D}"/>
              </a:ext>
            </a:extLst>
          </p:cNvPr>
          <p:cNvCxnSpPr>
            <a:cxnSpLocks/>
          </p:cNvCxnSpPr>
          <p:nvPr/>
        </p:nvCxnSpPr>
        <p:spPr>
          <a:xfrm rot="5400000" flipV="1">
            <a:off x="6353660" y="4113222"/>
            <a:ext cx="0" cy="502920"/>
          </a:xfrm>
          <a:prstGeom prst="line">
            <a:avLst/>
          </a:prstGeom>
          <a:ln w="19050">
            <a:solidFill>
              <a:schemeClr val="tx1"/>
            </a:solidFill>
            <a:headEnd type="none"/>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32578BA-8D8B-7AAE-F861-6271CC583CB8}"/>
              </a:ext>
            </a:extLst>
          </p:cNvPr>
          <p:cNvCxnSpPr>
            <a:cxnSpLocks/>
          </p:cNvCxnSpPr>
          <p:nvPr/>
        </p:nvCxnSpPr>
        <p:spPr>
          <a:xfrm rot="16200000" flipH="1" flipV="1">
            <a:off x="6046477" y="4715768"/>
            <a:ext cx="0" cy="3154680"/>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A5E8A2AB-5699-45DF-DA2D-7FEC8A3EA051}"/>
              </a:ext>
            </a:extLst>
          </p:cNvPr>
          <p:cNvSpPr txBox="1"/>
          <p:nvPr/>
        </p:nvSpPr>
        <p:spPr>
          <a:xfrm>
            <a:off x="4621187" y="1297673"/>
            <a:ext cx="1445140" cy="338554"/>
          </a:xfrm>
          <a:prstGeom prst="rect">
            <a:avLst/>
          </a:prstGeom>
          <a:solidFill>
            <a:schemeClr val="bg1">
              <a:lumMod val="95000"/>
            </a:schemeClr>
          </a:solidFill>
        </p:spPr>
        <p:txBody>
          <a:bodyPr wrap="none" rtlCol="0">
            <a:spAutoFit/>
          </a:bodyPr>
          <a:lstStyle/>
          <a:p>
            <a:pPr algn="ctr"/>
            <a:r>
              <a:rPr lang="en-US" sz="1600" b="1" dirty="0">
                <a:latin typeface="+mj-lt"/>
              </a:rPr>
              <a:t>Reorder Buffer</a:t>
            </a:r>
          </a:p>
        </p:txBody>
      </p:sp>
      <p:cxnSp>
        <p:nvCxnSpPr>
          <p:cNvPr id="2048" name="Straight Connector 2047">
            <a:extLst>
              <a:ext uri="{FF2B5EF4-FFF2-40B4-BE49-F238E27FC236}">
                <a16:creationId xmlns:a16="http://schemas.microsoft.com/office/drawing/2014/main" id="{F96F88E0-FBA7-5C40-7306-43E9921E6104}"/>
              </a:ext>
            </a:extLst>
          </p:cNvPr>
          <p:cNvCxnSpPr>
            <a:cxnSpLocks/>
          </p:cNvCxnSpPr>
          <p:nvPr/>
        </p:nvCxnSpPr>
        <p:spPr>
          <a:xfrm rot="5400000" flipV="1">
            <a:off x="5473553" y="1682442"/>
            <a:ext cx="0" cy="1097280"/>
          </a:xfrm>
          <a:prstGeom prst="line">
            <a:avLst/>
          </a:prstGeom>
          <a:ln w="19050">
            <a:solidFill>
              <a:schemeClr val="tx1"/>
            </a:solidFill>
            <a:prstDash val="sysDot"/>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29CFD74C-D889-D8EF-D6CD-28A2E846EE23}"/>
              </a:ext>
            </a:extLst>
          </p:cNvPr>
          <p:cNvCxnSpPr>
            <a:cxnSpLocks/>
          </p:cNvCxnSpPr>
          <p:nvPr/>
        </p:nvCxnSpPr>
        <p:spPr>
          <a:xfrm rot="5400000" flipV="1">
            <a:off x="5473553" y="2727960"/>
            <a:ext cx="0" cy="1097280"/>
          </a:xfrm>
          <a:prstGeom prst="line">
            <a:avLst/>
          </a:prstGeom>
          <a:ln w="19050">
            <a:solidFill>
              <a:schemeClr val="tx1"/>
            </a:solidFill>
            <a:prstDash val="sysDot"/>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2050" name="Straight Connector 2049">
            <a:extLst>
              <a:ext uri="{FF2B5EF4-FFF2-40B4-BE49-F238E27FC236}">
                <a16:creationId xmlns:a16="http://schemas.microsoft.com/office/drawing/2014/main" id="{78AAAB3C-6BCF-7BC1-F928-CB7F6C087C14}"/>
              </a:ext>
            </a:extLst>
          </p:cNvPr>
          <p:cNvCxnSpPr>
            <a:cxnSpLocks/>
          </p:cNvCxnSpPr>
          <p:nvPr/>
        </p:nvCxnSpPr>
        <p:spPr>
          <a:xfrm rot="5400000" flipV="1">
            <a:off x="5702153" y="4044642"/>
            <a:ext cx="0" cy="640080"/>
          </a:xfrm>
          <a:prstGeom prst="line">
            <a:avLst/>
          </a:prstGeom>
          <a:ln w="19050">
            <a:solidFill>
              <a:schemeClr val="tx1"/>
            </a:solidFill>
            <a:prstDash val="sysDot"/>
            <a:headEnd type="none"/>
            <a:tailEnd type="triangle" w="lg" len="med"/>
          </a:ln>
        </p:spPr>
        <p:style>
          <a:lnRef idx="1">
            <a:schemeClr val="accent1"/>
          </a:lnRef>
          <a:fillRef idx="0">
            <a:schemeClr val="accent1"/>
          </a:fillRef>
          <a:effectRef idx="0">
            <a:schemeClr val="accent1"/>
          </a:effectRef>
          <a:fontRef idx="minor">
            <a:schemeClr val="tx1"/>
          </a:fontRef>
        </p:style>
      </p:cxnSp>
      <p:sp>
        <p:nvSpPr>
          <p:cNvPr id="2051" name="TextBox 2050">
            <a:extLst>
              <a:ext uri="{FF2B5EF4-FFF2-40B4-BE49-F238E27FC236}">
                <a16:creationId xmlns:a16="http://schemas.microsoft.com/office/drawing/2014/main" id="{CD7B373F-4F31-A510-07A8-EDF50E9E315D}"/>
              </a:ext>
            </a:extLst>
          </p:cNvPr>
          <p:cNvSpPr txBox="1"/>
          <p:nvPr/>
        </p:nvSpPr>
        <p:spPr>
          <a:xfrm>
            <a:off x="4790067" y="2743198"/>
            <a:ext cx="924933" cy="369332"/>
          </a:xfrm>
          <a:prstGeom prst="rect">
            <a:avLst/>
          </a:prstGeom>
          <a:noFill/>
        </p:spPr>
        <p:txBody>
          <a:bodyPr wrap="none" rtlCol="0">
            <a:spAutoFit/>
          </a:bodyPr>
          <a:lstStyle/>
          <a:p>
            <a:pPr algn="ctr"/>
            <a:r>
              <a:rPr lang="en-US" sz="1800" b="1" dirty="0">
                <a:solidFill>
                  <a:schemeClr val="accent6">
                    <a:lumMod val="75000"/>
                  </a:schemeClr>
                </a:solidFill>
                <a:latin typeface="+mj-lt"/>
              </a:rPr>
              <a:t>Execute</a:t>
            </a:r>
          </a:p>
        </p:txBody>
      </p:sp>
      <p:pic>
        <p:nvPicPr>
          <p:cNvPr id="2053" name="Picture 2052">
            <a:extLst>
              <a:ext uri="{FF2B5EF4-FFF2-40B4-BE49-F238E27FC236}">
                <a16:creationId xmlns:a16="http://schemas.microsoft.com/office/drawing/2014/main" id="{4ABE77B9-FA9E-EF66-9FCC-7284B450465A}"/>
              </a:ext>
            </a:extLst>
          </p:cNvPr>
          <p:cNvPicPr>
            <a:picLocks noChangeAspect="1"/>
          </p:cNvPicPr>
          <p:nvPr/>
        </p:nvPicPr>
        <p:blipFill>
          <a:blip r:embed="rId6"/>
          <a:stretch>
            <a:fillRect/>
          </a:stretch>
        </p:blipFill>
        <p:spPr>
          <a:xfrm rot="16200000">
            <a:off x="4337818" y="3221502"/>
            <a:ext cx="615225" cy="171212"/>
          </a:xfrm>
          <a:prstGeom prst="rect">
            <a:avLst/>
          </a:prstGeom>
        </p:spPr>
      </p:pic>
      <p:pic>
        <p:nvPicPr>
          <p:cNvPr id="2056" name="Picture 2055">
            <a:extLst>
              <a:ext uri="{FF2B5EF4-FFF2-40B4-BE49-F238E27FC236}">
                <a16:creationId xmlns:a16="http://schemas.microsoft.com/office/drawing/2014/main" id="{CF7D8CC0-B9F8-CCE5-B762-019AE170D8CE}"/>
              </a:ext>
            </a:extLst>
          </p:cNvPr>
          <p:cNvPicPr>
            <a:picLocks noChangeAspect="1"/>
          </p:cNvPicPr>
          <p:nvPr/>
        </p:nvPicPr>
        <p:blipFill>
          <a:blip r:embed="rId6"/>
          <a:stretch>
            <a:fillRect/>
          </a:stretch>
        </p:blipFill>
        <p:spPr>
          <a:xfrm rot="16200000">
            <a:off x="4337819" y="2173365"/>
            <a:ext cx="615225" cy="171212"/>
          </a:xfrm>
          <a:prstGeom prst="rect">
            <a:avLst/>
          </a:prstGeom>
        </p:spPr>
      </p:pic>
      <p:pic>
        <p:nvPicPr>
          <p:cNvPr id="2057" name="Picture 2056">
            <a:extLst>
              <a:ext uri="{FF2B5EF4-FFF2-40B4-BE49-F238E27FC236}">
                <a16:creationId xmlns:a16="http://schemas.microsoft.com/office/drawing/2014/main" id="{119FEDA3-35E2-50C6-90B0-BD4AA6BD1ED6}"/>
              </a:ext>
            </a:extLst>
          </p:cNvPr>
          <p:cNvPicPr>
            <a:picLocks noChangeAspect="1"/>
          </p:cNvPicPr>
          <p:nvPr/>
        </p:nvPicPr>
        <p:blipFill>
          <a:blip r:embed="rId6"/>
          <a:stretch>
            <a:fillRect/>
          </a:stretch>
        </p:blipFill>
        <p:spPr>
          <a:xfrm rot="16200000">
            <a:off x="4328539" y="4260607"/>
            <a:ext cx="615225" cy="171212"/>
          </a:xfrm>
          <a:prstGeom prst="rect">
            <a:avLst/>
          </a:prstGeom>
        </p:spPr>
      </p:pic>
      <p:pic>
        <p:nvPicPr>
          <p:cNvPr id="2059" name="Picture 2058">
            <a:extLst>
              <a:ext uri="{FF2B5EF4-FFF2-40B4-BE49-F238E27FC236}">
                <a16:creationId xmlns:a16="http://schemas.microsoft.com/office/drawing/2014/main" id="{A65A156B-4CA7-B181-5CC0-89DA90AC335E}"/>
              </a:ext>
            </a:extLst>
          </p:cNvPr>
          <p:cNvPicPr>
            <a:picLocks noChangeAspect="1"/>
          </p:cNvPicPr>
          <p:nvPr/>
        </p:nvPicPr>
        <p:blipFill>
          <a:blip r:embed="rId6"/>
          <a:stretch>
            <a:fillRect/>
          </a:stretch>
        </p:blipFill>
        <p:spPr>
          <a:xfrm rot="16200000">
            <a:off x="4794815" y="4260606"/>
            <a:ext cx="615225" cy="171212"/>
          </a:xfrm>
          <a:prstGeom prst="rect">
            <a:avLst/>
          </a:prstGeom>
        </p:spPr>
      </p:pic>
      <p:cxnSp>
        <p:nvCxnSpPr>
          <p:cNvPr id="2060" name="Straight Connector 2059">
            <a:extLst>
              <a:ext uri="{FF2B5EF4-FFF2-40B4-BE49-F238E27FC236}">
                <a16:creationId xmlns:a16="http://schemas.microsoft.com/office/drawing/2014/main" id="{BEBA3889-8B2F-288A-4B2E-53F215A8AA34}"/>
              </a:ext>
            </a:extLst>
          </p:cNvPr>
          <p:cNvCxnSpPr>
            <a:cxnSpLocks/>
          </p:cNvCxnSpPr>
          <p:nvPr/>
        </p:nvCxnSpPr>
        <p:spPr>
          <a:xfrm rot="5400000" flipV="1">
            <a:off x="4768874" y="3247672"/>
            <a:ext cx="0" cy="118872"/>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712CC574-4D2F-ABBC-B2C4-B46D023BF918}"/>
              </a:ext>
            </a:extLst>
          </p:cNvPr>
          <p:cNvCxnSpPr>
            <a:cxnSpLocks/>
          </p:cNvCxnSpPr>
          <p:nvPr/>
        </p:nvCxnSpPr>
        <p:spPr>
          <a:xfrm rot="5400000" flipV="1">
            <a:off x="4790473" y="2199535"/>
            <a:ext cx="0" cy="118872"/>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2062" name="Straight Connector 2061">
            <a:extLst>
              <a:ext uri="{FF2B5EF4-FFF2-40B4-BE49-F238E27FC236}">
                <a16:creationId xmlns:a16="http://schemas.microsoft.com/office/drawing/2014/main" id="{37C74AE5-A2C4-2BD8-7888-AA563C5BE8F1}"/>
              </a:ext>
            </a:extLst>
          </p:cNvPr>
          <p:cNvCxnSpPr>
            <a:cxnSpLocks/>
          </p:cNvCxnSpPr>
          <p:nvPr/>
        </p:nvCxnSpPr>
        <p:spPr>
          <a:xfrm rot="5400000" flipV="1">
            <a:off x="4768874" y="4286776"/>
            <a:ext cx="0" cy="118872"/>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2063" name="Straight Connector 2062">
            <a:extLst>
              <a:ext uri="{FF2B5EF4-FFF2-40B4-BE49-F238E27FC236}">
                <a16:creationId xmlns:a16="http://schemas.microsoft.com/office/drawing/2014/main" id="{F764FD9A-8FA7-FCDE-BAA7-799C5410156B}"/>
              </a:ext>
            </a:extLst>
          </p:cNvPr>
          <p:cNvCxnSpPr>
            <a:cxnSpLocks/>
          </p:cNvCxnSpPr>
          <p:nvPr/>
        </p:nvCxnSpPr>
        <p:spPr>
          <a:xfrm rot="5400000" flipV="1">
            <a:off x="5228297" y="4305246"/>
            <a:ext cx="0" cy="118872"/>
          </a:xfrm>
          <a:prstGeom prst="line">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B3E5D573-734F-0175-CF74-28ED0FC0265B}"/>
              </a:ext>
            </a:extLst>
          </p:cNvPr>
          <p:cNvCxnSpPr>
            <a:cxnSpLocks/>
          </p:cNvCxnSpPr>
          <p:nvPr/>
        </p:nvCxnSpPr>
        <p:spPr>
          <a:xfrm rot="16200000" flipH="1" flipV="1">
            <a:off x="4410060" y="5109793"/>
            <a:ext cx="0" cy="457200"/>
          </a:xfrm>
          <a:prstGeom prst="line">
            <a:avLst/>
          </a:prstGeom>
          <a:ln w="19050">
            <a:solidFill>
              <a:schemeClr val="tx1"/>
            </a:solidFill>
            <a:headEnd type="none"/>
            <a:tailEnd type="none" w="lg"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41580B4-AF7C-7CD4-BA74-07268BBCE0CC}"/>
              </a:ext>
            </a:extLst>
          </p:cNvPr>
          <p:cNvSpPr txBox="1"/>
          <p:nvPr/>
        </p:nvSpPr>
        <p:spPr>
          <a:xfrm>
            <a:off x="282558" y="886361"/>
            <a:ext cx="2143151" cy="1323439"/>
          </a:xfrm>
          <a:prstGeom prst="rect">
            <a:avLst/>
          </a:prstGeom>
          <a:noFill/>
        </p:spPr>
        <p:txBody>
          <a:bodyPr wrap="none" rtlCol="0">
            <a:spAutoFit/>
          </a:bodyPr>
          <a:lstStyle/>
          <a:p>
            <a:r>
              <a:rPr lang="en-US" sz="1600" b="1" dirty="0">
                <a:solidFill>
                  <a:schemeClr val="accent6">
                    <a:lumMod val="75000"/>
                  </a:schemeClr>
                </a:solidFill>
                <a:latin typeface="+mj-lt"/>
              </a:rPr>
              <a:t>Dispatch (Di):</a:t>
            </a:r>
          </a:p>
          <a:p>
            <a:pPr marL="285750" indent="-285750">
              <a:buFont typeface="Arial" panose="020B0604020202020204" pitchFamily="34" charset="0"/>
              <a:buChar char="•"/>
            </a:pPr>
            <a:r>
              <a:rPr lang="en-US" sz="1600" dirty="0">
                <a:solidFill>
                  <a:schemeClr val="accent6">
                    <a:lumMod val="75000"/>
                  </a:schemeClr>
                </a:solidFill>
                <a:latin typeface="+mj-lt"/>
              </a:rPr>
              <a:t>Get + set MT</a:t>
            </a:r>
          </a:p>
          <a:p>
            <a:pPr marL="285750" indent="-285750">
              <a:buFont typeface="Arial" panose="020B0604020202020204" pitchFamily="34" charset="0"/>
              <a:buChar char="•"/>
            </a:pPr>
            <a:r>
              <a:rPr lang="en-US" sz="1600" dirty="0">
                <a:solidFill>
                  <a:schemeClr val="accent6">
                    <a:lumMod val="75000"/>
                  </a:schemeClr>
                </a:solidFill>
                <a:latin typeface="+mj-lt"/>
              </a:rPr>
              <a:t>Push entry into ROB</a:t>
            </a:r>
          </a:p>
          <a:p>
            <a:pPr marL="285750" indent="-285750">
              <a:buFont typeface="Arial" panose="020B0604020202020204" pitchFamily="34" charset="0"/>
              <a:buChar char="•"/>
            </a:pPr>
            <a:r>
              <a:rPr lang="en-US" sz="1600" dirty="0">
                <a:solidFill>
                  <a:schemeClr val="accent6">
                    <a:lumMod val="75000"/>
                  </a:schemeClr>
                </a:solidFill>
                <a:latin typeface="+mj-lt"/>
              </a:rPr>
              <a:t>Allocate RS</a:t>
            </a:r>
          </a:p>
          <a:p>
            <a:pPr marL="285750" indent="-285750">
              <a:buFont typeface="Arial" panose="020B0604020202020204" pitchFamily="34" charset="0"/>
              <a:buChar char="•"/>
            </a:pPr>
            <a:r>
              <a:rPr lang="en-US" sz="1600" dirty="0">
                <a:solidFill>
                  <a:schemeClr val="accent6">
                    <a:lumMod val="75000"/>
                  </a:schemeClr>
                </a:solidFill>
                <a:latin typeface="+mj-lt"/>
              </a:rPr>
              <a:t>Otherwise, stall</a:t>
            </a:r>
          </a:p>
        </p:txBody>
      </p:sp>
      <p:cxnSp>
        <p:nvCxnSpPr>
          <p:cNvPr id="5" name="Straight Connector 4">
            <a:extLst>
              <a:ext uri="{FF2B5EF4-FFF2-40B4-BE49-F238E27FC236}">
                <a16:creationId xmlns:a16="http://schemas.microsoft.com/office/drawing/2014/main" id="{36A34967-9687-66B0-DB8F-E56A1A5080F2}"/>
              </a:ext>
            </a:extLst>
          </p:cNvPr>
          <p:cNvCxnSpPr>
            <a:cxnSpLocks/>
          </p:cNvCxnSpPr>
          <p:nvPr/>
        </p:nvCxnSpPr>
        <p:spPr>
          <a:xfrm flipH="1" flipV="1">
            <a:off x="2025165" y="2029361"/>
            <a:ext cx="571682" cy="787142"/>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A79FEF7-62E1-A2A6-A232-866C78579009}"/>
              </a:ext>
            </a:extLst>
          </p:cNvPr>
          <p:cNvSpPr txBox="1"/>
          <p:nvPr/>
        </p:nvSpPr>
        <p:spPr>
          <a:xfrm>
            <a:off x="0" y="4648200"/>
            <a:ext cx="3508781" cy="1323439"/>
          </a:xfrm>
          <a:prstGeom prst="rect">
            <a:avLst/>
          </a:prstGeom>
          <a:noFill/>
        </p:spPr>
        <p:txBody>
          <a:bodyPr wrap="none" rtlCol="0">
            <a:spAutoFit/>
          </a:bodyPr>
          <a:lstStyle/>
          <a:p>
            <a:r>
              <a:rPr lang="en-US" sz="1600" b="1" dirty="0">
                <a:solidFill>
                  <a:schemeClr val="accent6">
                    <a:lumMod val="75000"/>
                  </a:schemeClr>
                </a:solidFill>
                <a:latin typeface="+mj-lt"/>
              </a:rPr>
              <a:t>Issue (S):</a:t>
            </a:r>
          </a:p>
          <a:p>
            <a:pPr marL="285750" indent="-285750">
              <a:buFont typeface="Arial" panose="020B0604020202020204" pitchFamily="34" charset="0"/>
              <a:buChar char="•"/>
            </a:pPr>
            <a:r>
              <a:rPr lang="en-US" sz="1600" dirty="0">
                <a:solidFill>
                  <a:schemeClr val="accent6">
                    <a:lumMod val="75000"/>
                  </a:schemeClr>
                </a:solidFill>
                <a:latin typeface="+mj-lt"/>
              </a:rPr>
              <a:t>Read from reg file, if operands ready</a:t>
            </a:r>
          </a:p>
          <a:p>
            <a:pPr marL="285750" indent="-285750">
              <a:buFont typeface="Arial" panose="020B0604020202020204" pitchFamily="34" charset="0"/>
              <a:buChar char="•"/>
            </a:pPr>
            <a:r>
              <a:rPr lang="en-US" sz="1600" dirty="0">
                <a:solidFill>
                  <a:schemeClr val="accent6">
                    <a:lumMod val="75000"/>
                  </a:schemeClr>
                </a:solidFill>
                <a:latin typeface="+mj-lt"/>
              </a:rPr>
              <a:t>Allocate functional unit</a:t>
            </a:r>
          </a:p>
          <a:p>
            <a:pPr marL="285750" indent="-285750">
              <a:buFont typeface="Arial" panose="020B0604020202020204" pitchFamily="34" charset="0"/>
              <a:buChar char="•"/>
            </a:pPr>
            <a:r>
              <a:rPr lang="en-US" sz="1600" dirty="0">
                <a:solidFill>
                  <a:schemeClr val="accent6">
                    <a:lumMod val="75000"/>
                  </a:schemeClr>
                </a:solidFill>
                <a:latin typeface="+mj-lt"/>
              </a:rPr>
              <a:t>Free RS</a:t>
            </a:r>
          </a:p>
          <a:p>
            <a:pPr marL="285750" indent="-285750">
              <a:buFont typeface="Arial" panose="020B0604020202020204" pitchFamily="34" charset="0"/>
              <a:buChar char="•"/>
            </a:pPr>
            <a:r>
              <a:rPr lang="en-US" sz="1600" dirty="0">
                <a:solidFill>
                  <a:schemeClr val="accent6">
                    <a:lumMod val="75000"/>
                  </a:schemeClr>
                </a:solidFill>
                <a:latin typeface="+mj-lt"/>
              </a:rPr>
              <a:t>Otherwise, wait</a:t>
            </a:r>
          </a:p>
        </p:txBody>
      </p:sp>
      <p:cxnSp>
        <p:nvCxnSpPr>
          <p:cNvPr id="11" name="Straight Connector 10">
            <a:extLst>
              <a:ext uri="{FF2B5EF4-FFF2-40B4-BE49-F238E27FC236}">
                <a16:creationId xmlns:a16="http://schemas.microsoft.com/office/drawing/2014/main" id="{E3B9CBFD-57C6-E2CD-52FE-175E40D67455}"/>
              </a:ext>
            </a:extLst>
          </p:cNvPr>
          <p:cNvCxnSpPr>
            <a:cxnSpLocks/>
          </p:cNvCxnSpPr>
          <p:nvPr/>
        </p:nvCxnSpPr>
        <p:spPr>
          <a:xfrm flipV="1">
            <a:off x="2047783" y="3220007"/>
            <a:ext cx="1739390" cy="1692679"/>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A1946F3-2865-5A09-E437-07E5903EFDAA}"/>
              </a:ext>
            </a:extLst>
          </p:cNvPr>
          <p:cNvSpPr txBox="1"/>
          <p:nvPr/>
        </p:nvSpPr>
        <p:spPr>
          <a:xfrm>
            <a:off x="6690521" y="4504706"/>
            <a:ext cx="2301079" cy="1077218"/>
          </a:xfrm>
          <a:prstGeom prst="rect">
            <a:avLst/>
          </a:prstGeom>
          <a:noFill/>
        </p:spPr>
        <p:txBody>
          <a:bodyPr wrap="none" rtlCol="0">
            <a:spAutoFit/>
          </a:bodyPr>
          <a:lstStyle/>
          <a:p>
            <a:r>
              <a:rPr lang="en-US" sz="1600" b="1" dirty="0">
                <a:solidFill>
                  <a:schemeClr val="accent6">
                    <a:lumMod val="75000"/>
                  </a:schemeClr>
                </a:solidFill>
                <a:latin typeface="+mj-lt"/>
              </a:rPr>
              <a:t>Complete (C):</a:t>
            </a:r>
          </a:p>
          <a:p>
            <a:pPr marL="285750" indent="-285750">
              <a:buFont typeface="Arial" panose="020B0604020202020204" pitchFamily="34" charset="0"/>
              <a:buChar char="•"/>
            </a:pPr>
            <a:r>
              <a:rPr lang="en-US" sz="1600" dirty="0">
                <a:solidFill>
                  <a:schemeClr val="accent6">
                    <a:lumMod val="75000"/>
                  </a:schemeClr>
                </a:solidFill>
                <a:latin typeface="+mj-lt"/>
              </a:rPr>
              <a:t>Write result to reg file</a:t>
            </a:r>
          </a:p>
          <a:p>
            <a:pPr marL="285750" indent="-285750">
              <a:buFont typeface="Arial" panose="020B0604020202020204" pitchFamily="34" charset="0"/>
              <a:buChar char="•"/>
            </a:pPr>
            <a:r>
              <a:rPr lang="en-US" sz="1600" dirty="0">
                <a:solidFill>
                  <a:schemeClr val="accent6">
                    <a:lumMod val="75000"/>
                  </a:schemeClr>
                </a:solidFill>
                <a:latin typeface="+mj-lt"/>
              </a:rPr>
              <a:t>Set ready flag in MT</a:t>
            </a:r>
          </a:p>
          <a:p>
            <a:pPr marL="285750" indent="-285750">
              <a:buFont typeface="Arial" panose="020B0604020202020204" pitchFamily="34" charset="0"/>
              <a:buChar char="•"/>
            </a:pPr>
            <a:r>
              <a:rPr lang="en-US" sz="1600" dirty="0">
                <a:solidFill>
                  <a:schemeClr val="accent6">
                    <a:lumMod val="75000"/>
                  </a:schemeClr>
                </a:solidFill>
                <a:latin typeface="+mj-lt"/>
              </a:rPr>
              <a:t>Set ready flag in RSs</a:t>
            </a:r>
          </a:p>
        </p:txBody>
      </p:sp>
      <p:cxnSp>
        <p:nvCxnSpPr>
          <p:cNvPr id="15" name="Straight Connector 14">
            <a:extLst>
              <a:ext uri="{FF2B5EF4-FFF2-40B4-BE49-F238E27FC236}">
                <a16:creationId xmlns:a16="http://schemas.microsoft.com/office/drawing/2014/main" id="{C1E04687-1460-B08E-A44B-17ACC1C290C1}"/>
              </a:ext>
            </a:extLst>
          </p:cNvPr>
          <p:cNvCxnSpPr>
            <a:cxnSpLocks/>
          </p:cNvCxnSpPr>
          <p:nvPr/>
        </p:nvCxnSpPr>
        <p:spPr>
          <a:xfrm flipH="1" flipV="1">
            <a:off x="6700846" y="3067338"/>
            <a:ext cx="651908" cy="1484419"/>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9CB4F70-BC0C-040B-07C1-9D48E2C148D0}"/>
              </a:ext>
            </a:extLst>
          </p:cNvPr>
          <p:cNvSpPr txBox="1"/>
          <p:nvPr/>
        </p:nvSpPr>
        <p:spPr>
          <a:xfrm>
            <a:off x="6408098" y="141982"/>
            <a:ext cx="2659702" cy="1077218"/>
          </a:xfrm>
          <a:prstGeom prst="rect">
            <a:avLst/>
          </a:prstGeom>
          <a:noFill/>
        </p:spPr>
        <p:txBody>
          <a:bodyPr wrap="none" rtlCol="0">
            <a:spAutoFit/>
          </a:bodyPr>
          <a:lstStyle/>
          <a:p>
            <a:r>
              <a:rPr lang="en-US" sz="1600" b="1" dirty="0">
                <a:solidFill>
                  <a:schemeClr val="accent6">
                    <a:lumMod val="75000"/>
                  </a:schemeClr>
                </a:solidFill>
                <a:latin typeface="+mj-lt"/>
              </a:rPr>
              <a:t>Retire (R):</a:t>
            </a:r>
          </a:p>
          <a:p>
            <a:pPr marL="285750" indent="-285750">
              <a:buFont typeface="Arial" panose="020B0604020202020204" pitchFamily="34" charset="0"/>
              <a:buChar char="•"/>
            </a:pPr>
            <a:r>
              <a:rPr lang="en-US" sz="1600" dirty="0">
                <a:solidFill>
                  <a:schemeClr val="accent6">
                    <a:lumMod val="75000"/>
                  </a:schemeClr>
                </a:solidFill>
                <a:latin typeface="+mj-lt"/>
              </a:rPr>
              <a:t>Stall, if not at head of ROB</a:t>
            </a:r>
          </a:p>
          <a:p>
            <a:pPr marL="285750" indent="-285750">
              <a:buFont typeface="Arial" panose="020B0604020202020204" pitchFamily="34" charset="0"/>
              <a:buChar char="•"/>
            </a:pPr>
            <a:r>
              <a:rPr lang="en-US" sz="1600" dirty="0">
                <a:solidFill>
                  <a:schemeClr val="accent6">
                    <a:lumMod val="75000"/>
                  </a:schemeClr>
                </a:solidFill>
                <a:latin typeface="+mj-lt"/>
              </a:rPr>
              <a:t>Push old reg to Free List</a:t>
            </a:r>
          </a:p>
          <a:p>
            <a:pPr marL="285750" indent="-285750">
              <a:buFont typeface="Arial" panose="020B0604020202020204" pitchFamily="34" charset="0"/>
              <a:buChar char="•"/>
            </a:pPr>
            <a:r>
              <a:rPr lang="en-US" sz="1600" dirty="0">
                <a:solidFill>
                  <a:schemeClr val="accent6">
                    <a:lumMod val="75000"/>
                  </a:schemeClr>
                </a:solidFill>
                <a:latin typeface="+mj-lt"/>
              </a:rPr>
              <a:t>Pop entry from ROB</a:t>
            </a:r>
          </a:p>
        </p:txBody>
      </p:sp>
      <p:cxnSp>
        <p:nvCxnSpPr>
          <p:cNvPr id="39" name="Straight Connector 38">
            <a:extLst>
              <a:ext uri="{FF2B5EF4-FFF2-40B4-BE49-F238E27FC236}">
                <a16:creationId xmlns:a16="http://schemas.microsoft.com/office/drawing/2014/main" id="{FB830EE0-B816-524F-7269-06DBE5331954}"/>
              </a:ext>
            </a:extLst>
          </p:cNvPr>
          <p:cNvCxnSpPr>
            <a:cxnSpLocks/>
          </p:cNvCxnSpPr>
          <p:nvPr/>
        </p:nvCxnSpPr>
        <p:spPr>
          <a:xfrm flipH="1" flipV="1">
            <a:off x="7415096" y="1209768"/>
            <a:ext cx="143001" cy="1599719"/>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0432732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MIPS R10K</a:t>
            </a:r>
          </a:p>
        </p:txBody>
      </p:sp>
      <p:sp>
        <p:nvSpPr>
          <p:cNvPr id="39941" name="Rectangle 3"/>
          <p:cNvSpPr>
            <a:spLocks noGrp="1" noChangeArrowheads="1"/>
          </p:cNvSpPr>
          <p:nvPr>
            <p:ph idx="1"/>
          </p:nvPr>
        </p:nvSpPr>
        <p:spPr>
          <a:xfrm>
            <a:off x="457200" y="1295400"/>
            <a:ext cx="8686800" cy="1339850"/>
          </a:xfrm>
        </p:spPr>
        <p:txBody>
          <a:bodyPr/>
          <a:lstStyle/>
          <a:p>
            <a:pPr marL="0" indent="0">
              <a:buNone/>
            </a:pPr>
            <a:r>
              <a:rPr lang="en-US" altLang="en-US" sz="2400" dirty="0"/>
              <a:t>Assume </a:t>
            </a:r>
            <a:r>
              <a:rPr lang="en-US" altLang="en-US" sz="2400" b="1" dirty="0"/>
              <a:t>MIPS R10K-like processor </a:t>
            </a:r>
            <a:r>
              <a:rPr lang="en-US" altLang="en-US" sz="2400" dirty="0"/>
              <a:t>with one-cycle X stage and infinite hardware. What is the </a:t>
            </a:r>
            <a:r>
              <a:rPr lang="en-US" altLang="en-US" sz="2400" b="1" dirty="0"/>
              <a:t>minimum number of ROB entries</a:t>
            </a:r>
            <a:r>
              <a:rPr lang="en-US" altLang="en-US" sz="2400" dirty="0"/>
              <a:t> required such that the program </a:t>
            </a:r>
            <a:r>
              <a:rPr lang="en-US" altLang="en-US" sz="2400" b="1" dirty="0"/>
              <a:t>never stalls </a:t>
            </a:r>
            <a:r>
              <a:rPr lang="en-US" altLang="en-US" sz="2400" dirty="0"/>
              <a:t>due to a full ROB?</a:t>
            </a:r>
            <a:endParaRPr lang="en-US" altLang="en-US" sz="2000" dirty="0"/>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22</a:t>
            </a:fld>
            <a:endParaRPr lang="en-US" altLang="en-US"/>
          </a:p>
        </p:txBody>
      </p:sp>
      <p:sp>
        <p:nvSpPr>
          <p:cNvPr id="6" name="Rectangle 3">
            <a:extLst>
              <a:ext uri="{FF2B5EF4-FFF2-40B4-BE49-F238E27FC236}">
                <a16:creationId xmlns:a16="http://schemas.microsoft.com/office/drawing/2014/main" id="{11E3DC0C-D0BD-4FC3-B4D7-5CFD4A467781}"/>
              </a:ext>
            </a:extLst>
          </p:cNvPr>
          <p:cNvSpPr txBox="1">
            <a:spLocks noChangeArrowheads="1"/>
          </p:cNvSpPr>
          <p:nvPr/>
        </p:nvSpPr>
        <p:spPr bwMode="auto">
          <a:xfrm>
            <a:off x="533400" y="2438400"/>
            <a:ext cx="8229600"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en-US" sz="1800" b="1" dirty="0">
                <a:latin typeface="Courier New" panose="02070309020205020404" pitchFamily="49" charset="0"/>
                <a:cs typeface="Courier New" panose="02070309020205020404" pitchFamily="49" charset="0"/>
              </a:rPr>
              <a:t>{   I1:  and  $t1, $s5, $t1</a:t>
            </a:r>
          </a:p>
          <a:p>
            <a:pPr marL="0" indent="0">
              <a:buNone/>
            </a:pPr>
            <a:r>
              <a:rPr lang="en-US" altLang="en-US" sz="1800" b="1" dirty="0">
                <a:latin typeface="Courier New" panose="02070309020205020404" pitchFamily="49" charset="0"/>
                <a:cs typeface="Courier New" panose="02070309020205020404" pitchFamily="49" charset="0"/>
              </a:rPr>
              <a:t>    I2:  sub  $s1, $s1, $s0</a:t>
            </a:r>
          </a:p>
          <a:p>
            <a:pPr marL="0" indent="0">
              <a:buNone/>
            </a:pPr>
            <a:r>
              <a:rPr lang="en-US" altLang="en-US" sz="1800" b="1" dirty="0">
                <a:latin typeface="Courier New" panose="02070309020205020404" pitchFamily="49" charset="0"/>
                <a:cs typeface="Courier New" panose="02070309020205020404" pitchFamily="49" charset="0"/>
              </a:rPr>
              <a:t>    I3:  </a:t>
            </a:r>
            <a:r>
              <a:rPr lang="en-US" altLang="en-US" sz="1800" b="1" dirty="0" err="1">
                <a:latin typeface="Courier New" panose="02070309020205020404" pitchFamily="49" charset="0"/>
                <a:cs typeface="Courier New" panose="02070309020205020404" pitchFamily="49" charset="0"/>
              </a:rPr>
              <a:t>lw</a:t>
            </a:r>
            <a:r>
              <a:rPr lang="en-US" altLang="en-US" sz="1800" b="1" dirty="0">
                <a:latin typeface="Courier New" panose="02070309020205020404" pitchFamily="49" charset="0"/>
                <a:cs typeface="Courier New" panose="02070309020205020404" pitchFamily="49" charset="0"/>
              </a:rPr>
              <a:t>   $t1, 0($s2)		} × 100</a:t>
            </a:r>
          </a:p>
        </p:txBody>
      </p:sp>
      <p:graphicFrame>
        <p:nvGraphicFramePr>
          <p:cNvPr id="2" name="Table 1">
            <a:extLst>
              <a:ext uri="{FF2B5EF4-FFF2-40B4-BE49-F238E27FC236}">
                <a16:creationId xmlns:a16="http://schemas.microsoft.com/office/drawing/2014/main" id="{7FAA6B4D-EEB4-D6A1-30E5-5DBEAAF53F2F}"/>
              </a:ext>
            </a:extLst>
          </p:cNvPr>
          <p:cNvGraphicFramePr>
            <a:graphicFrameLocks noGrp="1"/>
          </p:cNvGraphicFramePr>
          <p:nvPr>
            <p:extLst>
              <p:ext uri="{D42A27DB-BD31-4B8C-83A1-F6EECF244321}">
                <p14:modId xmlns:p14="http://schemas.microsoft.com/office/powerpoint/2010/main" val="3569894146"/>
              </p:ext>
            </p:extLst>
          </p:nvPr>
        </p:nvGraphicFramePr>
        <p:xfrm>
          <a:off x="1143000" y="3505200"/>
          <a:ext cx="6886071" cy="3115080"/>
        </p:xfrm>
        <a:graphic>
          <a:graphicData uri="http://schemas.openxmlformats.org/drawingml/2006/table">
            <a:tbl>
              <a:tblPr>
                <a:tableStyleId>{5C22544A-7EE6-4342-B048-85BDC9FD1C3A}</a:tableStyleId>
              </a:tblPr>
              <a:tblGrid>
                <a:gridCol w="405063">
                  <a:extLst>
                    <a:ext uri="{9D8B030D-6E8A-4147-A177-3AD203B41FA5}">
                      <a16:colId xmlns:a16="http://schemas.microsoft.com/office/drawing/2014/main" val="3115574416"/>
                    </a:ext>
                  </a:extLst>
                </a:gridCol>
                <a:gridCol w="405063">
                  <a:extLst>
                    <a:ext uri="{9D8B030D-6E8A-4147-A177-3AD203B41FA5}">
                      <a16:colId xmlns:a16="http://schemas.microsoft.com/office/drawing/2014/main" val="3697231158"/>
                    </a:ext>
                  </a:extLst>
                </a:gridCol>
                <a:gridCol w="405063">
                  <a:extLst>
                    <a:ext uri="{9D8B030D-6E8A-4147-A177-3AD203B41FA5}">
                      <a16:colId xmlns:a16="http://schemas.microsoft.com/office/drawing/2014/main" val="2517028253"/>
                    </a:ext>
                  </a:extLst>
                </a:gridCol>
                <a:gridCol w="405063">
                  <a:extLst>
                    <a:ext uri="{9D8B030D-6E8A-4147-A177-3AD203B41FA5}">
                      <a16:colId xmlns:a16="http://schemas.microsoft.com/office/drawing/2014/main" val="7044062"/>
                    </a:ext>
                  </a:extLst>
                </a:gridCol>
                <a:gridCol w="405063">
                  <a:extLst>
                    <a:ext uri="{9D8B030D-6E8A-4147-A177-3AD203B41FA5}">
                      <a16:colId xmlns:a16="http://schemas.microsoft.com/office/drawing/2014/main" val="266605747"/>
                    </a:ext>
                  </a:extLst>
                </a:gridCol>
                <a:gridCol w="405063">
                  <a:extLst>
                    <a:ext uri="{9D8B030D-6E8A-4147-A177-3AD203B41FA5}">
                      <a16:colId xmlns:a16="http://schemas.microsoft.com/office/drawing/2014/main" val="335519539"/>
                    </a:ext>
                  </a:extLst>
                </a:gridCol>
                <a:gridCol w="405063">
                  <a:extLst>
                    <a:ext uri="{9D8B030D-6E8A-4147-A177-3AD203B41FA5}">
                      <a16:colId xmlns:a16="http://schemas.microsoft.com/office/drawing/2014/main" val="2176790291"/>
                    </a:ext>
                  </a:extLst>
                </a:gridCol>
                <a:gridCol w="405063">
                  <a:extLst>
                    <a:ext uri="{9D8B030D-6E8A-4147-A177-3AD203B41FA5}">
                      <a16:colId xmlns:a16="http://schemas.microsoft.com/office/drawing/2014/main" val="3537170093"/>
                    </a:ext>
                  </a:extLst>
                </a:gridCol>
                <a:gridCol w="405063">
                  <a:extLst>
                    <a:ext uri="{9D8B030D-6E8A-4147-A177-3AD203B41FA5}">
                      <a16:colId xmlns:a16="http://schemas.microsoft.com/office/drawing/2014/main" val="75539878"/>
                    </a:ext>
                  </a:extLst>
                </a:gridCol>
                <a:gridCol w="405063">
                  <a:extLst>
                    <a:ext uri="{9D8B030D-6E8A-4147-A177-3AD203B41FA5}">
                      <a16:colId xmlns:a16="http://schemas.microsoft.com/office/drawing/2014/main" val="1918929953"/>
                    </a:ext>
                  </a:extLst>
                </a:gridCol>
                <a:gridCol w="405063">
                  <a:extLst>
                    <a:ext uri="{9D8B030D-6E8A-4147-A177-3AD203B41FA5}">
                      <a16:colId xmlns:a16="http://schemas.microsoft.com/office/drawing/2014/main" val="1029486498"/>
                    </a:ext>
                  </a:extLst>
                </a:gridCol>
                <a:gridCol w="405063">
                  <a:extLst>
                    <a:ext uri="{9D8B030D-6E8A-4147-A177-3AD203B41FA5}">
                      <a16:colId xmlns:a16="http://schemas.microsoft.com/office/drawing/2014/main" val="3018848160"/>
                    </a:ext>
                  </a:extLst>
                </a:gridCol>
                <a:gridCol w="405063">
                  <a:extLst>
                    <a:ext uri="{9D8B030D-6E8A-4147-A177-3AD203B41FA5}">
                      <a16:colId xmlns:a16="http://schemas.microsoft.com/office/drawing/2014/main" val="3448723297"/>
                    </a:ext>
                  </a:extLst>
                </a:gridCol>
                <a:gridCol w="405063">
                  <a:extLst>
                    <a:ext uri="{9D8B030D-6E8A-4147-A177-3AD203B41FA5}">
                      <a16:colId xmlns:a16="http://schemas.microsoft.com/office/drawing/2014/main" val="1666711157"/>
                    </a:ext>
                  </a:extLst>
                </a:gridCol>
                <a:gridCol w="405063">
                  <a:extLst>
                    <a:ext uri="{9D8B030D-6E8A-4147-A177-3AD203B41FA5}">
                      <a16:colId xmlns:a16="http://schemas.microsoft.com/office/drawing/2014/main" val="3277107126"/>
                    </a:ext>
                  </a:extLst>
                </a:gridCol>
                <a:gridCol w="405063">
                  <a:extLst>
                    <a:ext uri="{9D8B030D-6E8A-4147-A177-3AD203B41FA5}">
                      <a16:colId xmlns:a16="http://schemas.microsoft.com/office/drawing/2014/main" val="2818178276"/>
                    </a:ext>
                  </a:extLst>
                </a:gridCol>
                <a:gridCol w="405063">
                  <a:extLst>
                    <a:ext uri="{9D8B030D-6E8A-4147-A177-3AD203B41FA5}">
                      <a16:colId xmlns:a16="http://schemas.microsoft.com/office/drawing/2014/main" val="3780757665"/>
                    </a:ext>
                  </a:extLst>
                </a:gridCol>
              </a:tblGrid>
              <a:tr h="207238">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2</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3</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4</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5</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6</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7</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8</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9</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10</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12</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13</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14</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15</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16</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15291865"/>
                  </a:ext>
                </a:extLst>
              </a:tr>
              <a:tr h="241810">
                <a:tc>
                  <a:txBody>
                    <a:bodyPr/>
                    <a:lstStyle/>
                    <a:p>
                      <a:pPr marL="0" marR="0" algn="ctr">
                        <a:spcBef>
                          <a:spcPts val="0"/>
                        </a:spcBef>
                        <a:spcAft>
                          <a:spcPts val="0"/>
                        </a:spcAft>
                      </a:pPr>
                      <a:r>
                        <a:rPr lang="en-US" sz="1400" b="1" dirty="0">
                          <a:effectLst/>
                        </a:rPr>
                        <a:t>I1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4419978"/>
                  </a:ext>
                </a:extLst>
              </a:tr>
              <a:tr h="241810">
                <a:tc>
                  <a:txBody>
                    <a:bodyPr/>
                    <a:lstStyle/>
                    <a:p>
                      <a:pPr marL="0" marR="0" algn="ctr">
                        <a:spcBef>
                          <a:spcPts val="0"/>
                        </a:spcBef>
                        <a:spcAft>
                          <a:spcPts val="0"/>
                        </a:spcAft>
                      </a:pPr>
                      <a:r>
                        <a:rPr lang="en-US" sz="1400" b="1" dirty="0">
                          <a:effectLst/>
                        </a:rPr>
                        <a:t>I2</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F</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3865937"/>
                  </a:ext>
                </a:extLst>
              </a:tr>
              <a:tr h="241810">
                <a:tc>
                  <a:txBody>
                    <a:bodyPr/>
                    <a:lstStyle/>
                    <a:p>
                      <a:pPr marL="0" marR="0" algn="ctr">
                        <a:spcBef>
                          <a:spcPts val="0"/>
                        </a:spcBef>
                        <a:spcAft>
                          <a:spcPts val="0"/>
                        </a:spcAft>
                      </a:pPr>
                      <a:r>
                        <a:rPr lang="en-US" sz="1400" b="1">
                          <a:effectLst/>
                        </a:rPr>
                        <a:t>I3</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De</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3686573"/>
                  </a:ext>
                </a:extLst>
              </a:tr>
              <a:tr h="241810">
                <a:tc>
                  <a:txBody>
                    <a:bodyPr/>
                    <a:lstStyle/>
                    <a:p>
                      <a:pPr marL="0" marR="0" algn="ctr">
                        <a:spcBef>
                          <a:spcPts val="0"/>
                        </a:spcBef>
                        <a:spcAft>
                          <a:spcPts val="0"/>
                        </a:spcAft>
                      </a:pPr>
                      <a:r>
                        <a:rPr lang="en-US" sz="1400" b="1" dirty="0">
                          <a:effectLst/>
                        </a:rPr>
                        <a:t>I1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S</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5095708"/>
                  </a:ext>
                </a:extLst>
              </a:tr>
              <a:tr h="241810">
                <a:tc>
                  <a:txBody>
                    <a:bodyPr/>
                    <a:lstStyle/>
                    <a:p>
                      <a:pPr marL="0" marR="0" algn="ctr">
                        <a:spcBef>
                          <a:spcPts val="0"/>
                        </a:spcBef>
                        <a:spcAft>
                          <a:spcPts val="0"/>
                        </a:spcAft>
                      </a:pPr>
                      <a:r>
                        <a:rPr lang="en-US" sz="1400" b="1">
                          <a:effectLst/>
                        </a:rPr>
                        <a:t>I2</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X</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R</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9233904"/>
                  </a:ext>
                </a:extLst>
              </a:tr>
              <a:tr h="241810">
                <a:tc>
                  <a:txBody>
                    <a:bodyPr/>
                    <a:lstStyle/>
                    <a:p>
                      <a:pPr marL="0" marR="0" algn="ctr">
                        <a:spcBef>
                          <a:spcPts val="0"/>
                        </a:spcBef>
                        <a:spcAft>
                          <a:spcPts val="0"/>
                        </a:spcAft>
                      </a:pPr>
                      <a:r>
                        <a:rPr lang="en-US" sz="1400" b="1" dirty="0">
                          <a:effectLst/>
                        </a:rPr>
                        <a:t>I3</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R</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123339"/>
                  </a:ext>
                </a:extLst>
              </a:tr>
              <a:tr h="241810">
                <a:tc>
                  <a:txBody>
                    <a:bodyPr/>
                    <a:lstStyle/>
                    <a:p>
                      <a:pPr marL="0" marR="0" algn="ctr">
                        <a:spcBef>
                          <a:spcPts val="0"/>
                        </a:spcBef>
                        <a:spcAft>
                          <a:spcPts val="0"/>
                        </a:spcAft>
                      </a:pPr>
                      <a:r>
                        <a:rPr lang="en-US" sz="1400" b="1" dirty="0">
                          <a:effectLst/>
                        </a:rPr>
                        <a:t>I1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S</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X</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265260"/>
                  </a:ext>
                </a:extLst>
              </a:tr>
              <a:tr h="241810">
                <a:tc>
                  <a:txBody>
                    <a:bodyPr/>
                    <a:lstStyle/>
                    <a:p>
                      <a:pPr marL="0" marR="0" algn="ctr">
                        <a:spcBef>
                          <a:spcPts val="0"/>
                        </a:spcBef>
                        <a:spcAft>
                          <a:spcPts val="0"/>
                        </a:spcAft>
                      </a:pPr>
                      <a:r>
                        <a:rPr lang="en-US" sz="1400" b="1" dirty="0">
                          <a:effectLst/>
                        </a:rPr>
                        <a:t>I2</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S</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X</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R</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R</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01548676"/>
                  </a:ext>
                </a:extLst>
              </a:tr>
              <a:tr h="241810">
                <a:tc>
                  <a:txBody>
                    <a:bodyPr/>
                    <a:lstStyle/>
                    <a:p>
                      <a:pPr marL="0" marR="0" algn="ctr">
                        <a:spcBef>
                          <a:spcPts val="0"/>
                        </a:spcBef>
                        <a:spcAft>
                          <a:spcPts val="0"/>
                        </a:spcAft>
                      </a:pPr>
                      <a:r>
                        <a:rPr lang="en-US" sz="1400" b="1" dirty="0">
                          <a:effectLst/>
                        </a:rPr>
                        <a:t>I3</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F</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De</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Di</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S</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R</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4466086"/>
                  </a:ext>
                </a:extLst>
              </a:tr>
              <a:tr h="241810">
                <a:tc>
                  <a:txBody>
                    <a:bodyPr/>
                    <a:lstStyle/>
                    <a:p>
                      <a:pPr marL="0" marR="0" algn="ctr">
                        <a:spcBef>
                          <a:spcPts val="0"/>
                        </a:spcBef>
                        <a:spcAft>
                          <a:spcPts val="0"/>
                        </a:spcAft>
                      </a:pPr>
                      <a:r>
                        <a:rPr lang="en-US" sz="1400" b="1" dirty="0">
                          <a:effectLst/>
                        </a:rPr>
                        <a:t>I1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F</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De</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Di</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45468514"/>
                  </a:ext>
                </a:extLst>
              </a:tr>
              <a:tr h="241810">
                <a:tc>
                  <a:txBody>
                    <a:bodyPr/>
                    <a:lstStyle/>
                    <a:p>
                      <a:pPr marL="0" marR="0" algn="ctr">
                        <a:spcBef>
                          <a:spcPts val="0"/>
                        </a:spcBef>
                        <a:spcAft>
                          <a:spcPts val="0"/>
                        </a:spcAft>
                      </a:pPr>
                      <a:r>
                        <a:rPr lang="en-US" sz="1400" b="1" dirty="0">
                          <a:effectLst/>
                        </a:rPr>
                        <a:t>I2</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De</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Di</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S</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X</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C</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0754206"/>
                  </a:ext>
                </a:extLst>
              </a:tr>
              <a:tr h="241810">
                <a:tc>
                  <a:txBody>
                    <a:bodyPr/>
                    <a:lstStyle/>
                    <a:p>
                      <a:pPr marL="0" marR="0" algn="ctr">
                        <a:spcBef>
                          <a:spcPts val="0"/>
                        </a:spcBef>
                        <a:spcAft>
                          <a:spcPts val="0"/>
                        </a:spcAft>
                      </a:pPr>
                      <a:r>
                        <a:rPr lang="en-US" sz="1400" b="1" dirty="0">
                          <a:effectLst/>
                        </a:rPr>
                        <a:t>I3</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F</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De</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Di</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X</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60710858"/>
                  </a:ext>
                </a:extLst>
              </a:tr>
            </a:tbl>
          </a:graphicData>
        </a:graphic>
      </p:graphicFrame>
    </p:spTree>
    <p:extLst>
      <p:ext uri="{BB962C8B-B14F-4D97-AF65-F5344CB8AC3E}">
        <p14:creationId xmlns:p14="http://schemas.microsoft.com/office/powerpoint/2010/main" val="340031774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MIPS R10K</a:t>
            </a:r>
          </a:p>
        </p:txBody>
      </p:sp>
      <p:sp>
        <p:nvSpPr>
          <p:cNvPr id="39941" name="Rectangle 3"/>
          <p:cNvSpPr>
            <a:spLocks noGrp="1" noChangeArrowheads="1"/>
          </p:cNvSpPr>
          <p:nvPr>
            <p:ph idx="1"/>
          </p:nvPr>
        </p:nvSpPr>
        <p:spPr>
          <a:xfrm>
            <a:off x="457200" y="1295400"/>
            <a:ext cx="8686800" cy="1339850"/>
          </a:xfrm>
        </p:spPr>
        <p:txBody>
          <a:bodyPr/>
          <a:lstStyle/>
          <a:p>
            <a:pPr marL="0" indent="0">
              <a:buNone/>
            </a:pPr>
            <a:r>
              <a:rPr lang="en-US" altLang="en-US" sz="2400" dirty="0"/>
              <a:t>Assume </a:t>
            </a:r>
            <a:r>
              <a:rPr lang="en-US" altLang="en-US" sz="2400" b="1" dirty="0"/>
              <a:t>MIPS R10K-like processor </a:t>
            </a:r>
            <a:r>
              <a:rPr lang="en-US" altLang="en-US" sz="2400" dirty="0"/>
              <a:t>with one-cycle X stage and infinite hardware. What is the </a:t>
            </a:r>
            <a:r>
              <a:rPr lang="en-US" altLang="en-US" sz="2400" b="1" dirty="0"/>
              <a:t>minimum number of ROB entries</a:t>
            </a:r>
            <a:r>
              <a:rPr lang="en-US" altLang="en-US" sz="2400" dirty="0"/>
              <a:t> required such that the program </a:t>
            </a:r>
            <a:r>
              <a:rPr lang="en-US" altLang="en-US" sz="2400" b="1" dirty="0"/>
              <a:t>never stalls </a:t>
            </a:r>
            <a:r>
              <a:rPr lang="en-US" altLang="en-US" sz="2400" dirty="0"/>
              <a:t>due to a full ROB?</a:t>
            </a:r>
            <a:endParaRPr lang="en-US" altLang="en-US" sz="2000" dirty="0"/>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23</a:t>
            </a:fld>
            <a:endParaRPr lang="en-US" altLang="en-US"/>
          </a:p>
        </p:txBody>
      </p:sp>
      <p:sp>
        <p:nvSpPr>
          <p:cNvPr id="6" name="Rectangle 3">
            <a:extLst>
              <a:ext uri="{FF2B5EF4-FFF2-40B4-BE49-F238E27FC236}">
                <a16:creationId xmlns:a16="http://schemas.microsoft.com/office/drawing/2014/main" id="{11E3DC0C-D0BD-4FC3-B4D7-5CFD4A467781}"/>
              </a:ext>
            </a:extLst>
          </p:cNvPr>
          <p:cNvSpPr txBox="1">
            <a:spLocks noChangeArrowheads="1"/>
          </p:cNvSpPr>
          <p:nvPr/>
        </p:nvSpPr>
        <p:spPr bwMode="auto">
          <a:xfrm>
            <a:off x="533400" y="2438400"/>
            <a:ext cx="8229600"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en-US" sz="1800" b="1" dirty="0">
                <a:latin typeface="Courier New" panose="02070309020205020404" pitchFamily="49" charset="0"/>
                <a:cs typeface="Courier New" panose="02070309020205020404" pitchFamily="49" charset="0"/>
              </a:rPr>
              <a:t>{   I1:  and  $t1, $s5, $t1</a:t>
            </a:r>
          </a:p>
          <a:p>
            <a:pPr marL="0" indent="0">
              <a:buNone/>
            </a:pPr>
            <a:r>
              <a:rPr lang="en-US" altLang="en-US" sz="1800" b="1" dirty="0">
                <a:latin typeface="Courier New" panose="02070309020205020404" pitchFamily="49" charset="0"/>
                <a:cs typeface="Courier New" panose="02070309020205020404" pitchFamily="49" charset="0"/>
              </a:rPr>
              <a:t>    I2:  sub  $s1, $s1, $s0</a:t>
            </a:r>
          </a:p>
          <a:p>
            <a:pPr marL="0" indent="0">
              <a:buNone/>
            </a:pPr>
            <a:r>
              <a:rPr lang="en-US" altLang="en-US" sz="1800" b="1" dirty="0">
                <a:latin typeface="Courier New" panose="02070309020205020404" pitchFamily="49" charset="0"/>
                <a:cs typeface="Courier New" panose="02070309020205020404" pitchFamily="49" charset="0"/>
              </a:rPr>
              <a:t>    I3:  </a:t>
            </a:r>
            <a:r>
              <a:rPr lang="en-US" altLang="en-US" sz="1800" b="1" dirty="0" err="1">
                <a:latin typeface="Courier New" panose="02070309020205020404" pitchFamily="49" charset="0"/>
                <a:cs typeface="Courier New" panose="02070309020205020404" pitchFamily="49" charset="0"/>
              </a:rPr>
              <a:t>lw</a:t>
            </a:r>
            <a:r>
              <a:rPr lang="en-US" altLang="en-US" sz="1800" b="1" dirty="0">
                <a:latin typeface="Courier New" panose="02070309020205020404" pitchFamily="49" charset="0"/>
                <a:cs typeface="Courier New" panose="02070309020205020404" pitchFamily="49" charset="0"/>
              </a:rPr>
              <a:t>   $t1, 0($s2)		} × 100</a:t>
            </a:r>
          </a:p>
        </p:txBody>
      </p:sp>
      <p:graphicFrame>
        <p:nvGraphicFramePr>
          <p:cNvPr id="2" name="Table 1">
            <a:extLst>
              <a:ext uri="{FF2B5EF4-FFF2-40B4-BE49-F238E27FC236}">
                <a16:creationId xmlns:a16="http://schemas.microsoft.com/office/drawing/2014/main" id="{7FAA6B4D-EEB4-D6A1-30E5-5DBEAAF53F2F}"/>
              </a:ext>
            </a:extLst>
          </p:cNvPr>
          <p:cNvGraphicFramePr>
            <a:graphicFrameLocks noGrp="1"/>
          </p:cNvGraphicFramePr>
          <p:nvPr>
            <p:extLst>
              <p:ext uri="{D42A27DB-BD31-4B8C-83A1-F6EECF244321}">
                <p14:modId xmlns:p14="http://schemas.microsoft.com/office/powerpoint/2010/main" val="3140771976"/>
              </p:ext>
            </p:extLst>
          </p:nvPr>
        </p:nvGraphicFramePr>
        <p:xfrm>
          <a:off x="1143000" y="3505200"/>
          <a:ext cx="6886071" cy="3115080"/>
        </p:xfrm>
        <a:graphic>
          <a:graphicData uri="http://schemas.openxmlformats.org/drawingml/2006/table">
            <a:tbl>
              <a:tblPr>
                <a:tableStyleId>{5C22544A-7EE6-4342-B048-85BDC9FD1C3A}</a:tableStyleId>
              </a:tblPr>
              <a:tblGrid>
                <a:gridCol w="405063">
                  <a:extLst>
                    <a:ext uri="{9D8B030D-6E8A-4147-A177-3AD203B41FA5}">
                      <a16:colId xmlns:a16="http://schemas.microsoft.com/office/drawing/2014/main" val="3115574416"/>
                    </a:ext>
                  </a:extLst>
                </a:gridCol>
                <a:gridCol w="405063">
                  <a:extLst>
                    <a:ext uri="{9D8B030D-6E8A-4147-A177-3AD203B41FA5}">
                      <a16:colId xmlns:a16="http://schemas.microsoft.com/office/drawing/2014/main" val="3697231158"/>
                    </a:ext>
                  </a:extLst>
                </a:gridCol>
                <a:gridCol w="405063">
                  <a:extLst>
                    <a:ext uri="{9D8B030D-6E8A-4147-A177-3AD203B41FA5}">
                      <a16:colId xmlns:a16="http://schemas.microsoft.com/office/drawing/2014/main" val="2517028253"/>
                    </a:ext>
                  </a:extLst>
                </a:gridCol>
                <a:gridCol w="405063">
                  <a:extLst>
                    <a:ext uri="{9D8B030D-6E8A-4147-A177-3AD203B41FA5}">
                      <a16:colId xmlns:a16="http://schemas.microsoft.com/office/drawing/2014/main" val="7044062"/>
                    </a:ext>
                  </a:extLst>
                </a:gridCol>
                <a:gridCol w="405063">
                  <a:extLst>
                    <a:ext uri="{9D8B030D-6E8A-4147-A177-3AD203B41FA5}">
                      <a16:colId xmlns:a16="http://schemas.microsoft.com/office/drawing/2014/main" val="266605747"/>
                    </a:ext>
                  </a:extLst>
                </a:gridCol>
                <a:gridCol w="405063">
                  <a:extLst>
                    <a:ext uri="{9D8B030D-6E8A-4147-A177-3AD203B41FA5}">
                      <a16:colId xmlns:a16="http://schemas.microsoft.com/office/drawing/2014/main" val="335519539"/>
                    </a:ext>
                  </a:extLst>
                </a:gridCol>
                <a:gridCol w="405063">
                  <a:extLst>
                    <a:ext uri="{9D8B030D-6E8A-4147-A177-3AD203B41FA5}">
                      <a16:colId xmlns:a16="http://schemas.microsoft.com/office/drawing/2014/main" val="2176790291"/>
                    </a:ext>
                  </a:extLst>
                </a:gridCol>
                <a:gridCol w="405063">
                  <a:extLst>
                    <a:ext uri="{9D8B030D-6E8A-4147-A177-3AD203B41FA5}">
                      <a16:colId xmlns:a16="http://schemas.microsoft.com/office/drawing/2014/main" val="3537170093"/>
                    </a:ext>
                  </a:extLst>
                </a:gridCol>
                <a:gridCol w="405063">
                  <a:extLst>
                    <a:ext uri="{9D8B030D-6E8A-4147-A177-3AD203B41FA5}">
                      <a16:colId xmlns:a16="http://schemas.microsoft.com/office/drawing/2014/main" val="75539878"/>
                    </a:ext>
                  </a:extLst>
                </a:gridCol>
                <a:gridCol w="405063">
                  <a:extLst>
                    <a:ext uri="{9D8B030D-6E8A-4147-A177-3AD203B41FA5}">
                      <a16:colId xmlns:a16="http://schemas.microsoft.com/office/drawing/2014/main" val="1918929953"/>
                    </a:ext>
                  </a:extLst>
                </a:gridCol>
                <a:gridCol w="405063">
                  <a:extLst>
                    <a:ext uri="{9D8B030D-6E8A-4147-A177-3AD203B41FA5}">
                      <a16:colId xmlns:a16="http://schemas.microsoft.com/office/drawing/2014/main" val="1029486498"/>
                    </a:ext>
                  </a:extLst>
                </a:gridCol>
                <a:gridCol w="405063">
                  <a:extLst>
                    <a:ext uri="{9D8B030D-6E8A-4147-A177-3AD203B41FA5}">
                      <a16:colId xmlns:a16="http://schemas.microsoft.com/office/drawing/2014/main" val="3018848160"/>
                    </a:ext>
                  </a:extLst>
                </a:gridCol>
                <a:gridCol w="405063">
                  <a:extLst>
                    <a:ext uri="{9D8B030D-6E8A-4147-A177-3AD203B41FA5}">
                      <a16:colId xmlns:a16="http://schemas.microsoft.com/office/drawing/2014/main" val="3448723297"/>
                    </a:ext>
                  </a:extLst>
                </a:gridCol>
                <a:gridCol w="405063">
                  <a:extLst>
                    <a:ext uri="{9D8B030D-6E8A-4147-A177-3AD203B41FA5}">
                      <a16:colId xmlns:a16="http://schemas.microsoft.com/office/drawing/2014/main" val="1666711157"/>
                    </a:ext>
                  </a:extLst>
                </a:gridCol>
                <a:gridCol w="405063">
                  <a:extLst>
                    <a:ext uri="{9D8B030D-6E8A-4147-A177-3AD203B41FA5}">
                      <a16:colId xmlns:a16="http://schemas.microsoft.com/office/drawing/2014/main" val="3277107126"/>
                    </a:ext>
                  </a:extLst>
                </a:gridCol>
                <a:gridCol w="405063">
                  <a:extLst>
                    <a:ext uri="{9D8B030D-6E8A-4147-A177-3AD203B41FA5}">
                      <a16:colId xmlns:a16="http://schemas.microsoft.com/office/drawing/2014/main" val="2818178276"/>
                    </a:ext>
                  </a:extLst>
                </a:gridCol>
                <a:gridCol w="405063">
                  <a:extLst>
                    <a:ext uri="{9D8B030D-6E8A-4147-A177-3AD203B41FA5}">
                      <a16:colId xmlns:a16="http://schemas.microsoft.com/office/drawing/2014/main" val="3780757665"/>
                    </a:ext>
                  </a:extLst>
                </a:gridCol>
              </a:tblGrid>
              <a:tr h="207238">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2</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3</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4</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5</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6</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7</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8</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9</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10</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12</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13</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14</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15</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16</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15291865"/>
                  </a:ext>
                </a:extLst>
              </a:tr>
              <a:tr h="241810">
                <a:tc>
                  <a:txBody>
                    <a:bodyPr/>
                    <a:lstStyle/>
                    <a:p>
                      <a:pPr marL="0" marR="0" algn="ctr">
                        <a:spcBef>
                          <a:spcPts val="0"/>
                        </a:spcBef>
                        <a:spcAft>
                          <a:spcPts val="0"/>
                        </a:spcAft>
                      </a:pPr>
                      <a:r>
                        <a:rPr lang="en-US" sz="1400" b="1" dirty="0">
                          <a:effectLst/>
                        </a:rPr>
                        <a:t>I1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4419978"/>
                  </a:ext>
                </a:extLst>
              </a:tr>
              <a:tr h="241810">
                <a:tc>
                  <a:txBody>
                    <a:bodyPr/>
                    <a:lstStyle/>
                    <a:p>
                      <a:pPr marL="0" marR="0" algn="ctr">
                        <a:spcBef>
                          <a:spcPts val="0"/>
                        </a:spcBef>
                        <a:spcAft>
                          <a:spcPts val="0"/>
                        </a:spcAft>
                      </a:pPr>
                      <a:r>
                        <a:rPr lang="en-US" sz="1400" b="1" dirty="0">
                          <a:effectLst/>
                        </a:rPr>
                        <a:t>I2</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F</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3865937"/>
                  </a:ext>
                </a:extLst>
              </a:tr>
              <a:tr h="241810">
                <a:tc>
                  <a:txBody>
                    <a:bodyPr/>
                    <a:lstStyle/>
                    <a:p>
                      <a:pPr marL="0" marR="0" algn="ctr">
                        <a:spcBef>
                          <a:spcPts val="0"/>
                        </a:spcBef>
                        <a:spcAft>
                          <a:spcPts val="0"/>
                        </a:spcAft>
                      </a:pPr>
                      <a:r>
                        <a:rPr lang="en-US" sz="1400" b="1">
                          <a:effectLst/>
                        </a:rPr>
                        <a:t>I3</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De</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3686573"/>
                  </a:ext>
                </a:extLst>
              </a:tr>
              <a:tr h="241810">
                <a:tc>
                  <a:txBody>
                    <a:bodyPr/>
                    <a:lstStyle/>
                    <a:p>
                      <a:pPr marL="0" marR="0" algn="ctr">
                        <a:spcBef>
                          <a:spcPts val="0"/>
                        </a:spcBef>
                        <a:spcAft>
                          <a:spcPts val="0"/>
                        </a:spcAft>
                      </a:pPr>
                      <a:r>
                        <a:rPr lang="en-US" sz="1400" b="1" dirty="0">
                          <a:effectLst/>
                        </a:rPr>
                        <a:t>I1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S</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5095708"/>
                  </a:ext>
                </a:extLst>
              </a:tr>
              <a:tr h="241810">
                <a:tc>
                  <a:txBody>
                    <a:bodyPr/>
                    <a:lstStyle/>
                    <a:p>
                      <a:pPr marL="0" marR="0" algn="ctr">
                        <a:spcBef>
                          <a:spcPts val="0"/>
                        </a:spcBef>
                        <a:spcAft>
                          <a:spcPts val="0"/>
                        </a:spcAft>
                      </a:pPr>
                      <a:r>
                        <a:rPr lang="en-US" sz="1400" b="1">
                          <a:effectLst/>
                        </a:rPr>
                        <a:t>I2</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X</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R</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9233904"/>
                  </a:ext>
                </a:extLst>
              </a:tr>
              <a:tr h="241810">
                <a:tc>
                  <a:txBody>
                    <a:bodyPr/>
                    <a:lstStyle/>
                    <a:p>
                      <a:pPr marL="0" marR="0" algn="ctr">
                        <a:spcBef>
                          <a:spcPts val="0"/>
                        </a:spcBef>
                        <a:spcAft>
                          <a:spcPts val="0"/>
                        </a:spcAft>
                      </a:pPr>
                      <a:r>
                        <a:rPr lang="en-US" sz="1400" b="1" dirty="0">
                          <a:effectLst/>
                        </a:rPr>
                        <a:t>I3</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R</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123339"/>
                  </a:ext>
                </a:extLst>
              </a:tr>
              <a:tr h="241810">
                <a:tc>
                  <a:txBody>
                    <a:bodyPr/>
                    <a:lstStyle/>
                    <a:p>
                      <a:pPr marL="0" marR="0" algn="ctr">
                        <a:spcBef>
                          <a:spcPts val="0"/>
                        </a:spcBef>
                        <a:spcAft>
                          <a:spcPts val="0"/>
                        </a:spcAft>
                      </a:pPr>
                      <a:r>
                        <a:rPr lang="en-US" sz="1400" b="1" dirty="0">
                          <a:effectLst/>
                        </a:rPr>
                        <a:t>I1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S</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X</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265260"/>
                  </a:ext>
                </a:extLst>
              </a:tr>
              <a:tr h="241810">
                <a:tc>
                  <a:txBody>
                    <a:bodyPr/>
                    <a:lstStyle/>
                    <a:p>
                      <a:pPr marL="0" marR="0" algn="ctr">
                        <a:spcBef>
                          <a:spcPts val="0"/>
                        </a:spcBef>
                        <a:spcAft>
                          <a:spcPts val="0"/>
                        </a:spcAft>
                      </a:pPr>
                      <a:r>
                        <a:rPr lang="en-US" sz="1400" b="1" dirty="0">
                          <a:effectLst/>
                        </a:rPr>
                        <a:t>I2</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De</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Di</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S</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X</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R</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R</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01548676"/>
                  </a:ext>
                </a:extLst>
              </a:tr>
              <a:tr h="241810">
                <a:tc>
                  <a:txBody>
                    <a:bodyPr/>
                    <a:lstStyle/>
                    <a:p>
                      <a:pPr marL="0" marR="0" algn="ctr">
                        <a:spcBef>
                          <a:spcPts val="0"/>
                        </a:spcBef>
                        <a:spcAft>
                          <a:spcPts val="0"/>
                        </a:spcAft>
                      </a:pPr>
                      <a:r>
                        <a:rPr lang="en-US" sz="1400" b="1" dirty="0">
                          <a:effectLst/>
                        </a:rPr>
                        <a:t>I3</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F</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De</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Di</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S</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R</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R</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4466086"/>
                  </a:ext>
                </a:extLst>
              </a:tr>
              <a:tr h="241810">
                <a:tc>
                  <a:txBody>
                    <a:bodyPr/>
                    <a:lstStyle/>
                    <a:p>
                      <a:pPr marL="0" marR="0" algn="ctr">
                        <a:spcBef>
                          <a:spcPts val="0"/>
                        </a:spcBef>
                        <a:spcAft>
                          <a:spcPts val="0"/>
                        </a:spcAft>
                      </a:pPr>
                      <a:r>
                        <a:rPr lang="en-US" sz="1400" b="1" dirty="0">
                          <a:effectLst/>
                        </a:rPr>
                        <a:t>I1</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F</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De</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Di</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X</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C</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45468514"/>
                  </a:ext>
                </a:extLst>
              </a:tr>
              <a:tr h="241810">
                <a:tc>
                  <a:txBody>
                    <a:bodyPr/>
                    <a:lstStyle/>
                    <a:p>
                      <a:pPr marL="0" marR="0" algn="ctr">
                        <a:spcBef>
                          <a:spcPts val="0"/>
                        </a:spcBef>
                        <a:spcAft>
                          <a:spcPts val="0"/>
                        </a:spcAft>
                      </a:pPr>
                      <a:r>
                        <a:rPr lang="en-US" sz="1400" b="1" dirty="0">
                          <a:effectLst/>
                        </a:rPr>
                        <a:t>I2</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F</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De</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Di</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S</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X</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C</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0754206"/>
                  </a:ext>
                </a:extLst>
              </a:tr>
              <a:tr h="241810">
                <a:tc>
                  <a:txBody>
                    <a:bodyPr/>
                    <a:lstStyle/>
                    <a:p>
                      <a:pPr marL="0" marR="0" algn="ctr">
                        <a:spcBef>
                          <a:spcPts val="0"/>
                        </a:spcBef>
                        <a:spcAft>
                          <a:spcPts val="0"/>
                        </a:spcAft>
                      </a:pPr>
                      <a:r>
                        <a:rPr lang="en-US" sz="1400" b="1" dirty="0">
                          <a:effectLst/>
                        </a:rPr>
                        <a:t>I3</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 </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 </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F</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De</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Di</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a:effectLst/>
                        </a:rPr>
                        <a:t>S</a:t>
                      </a:r>
                      <a:endParaRPr lang="en-US" sz="1400" b="1">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400" b="1" dirty="0">
                          <a:effectLst/>
                        </a:rPr>
                        <a:t>X</a:t>
                      </a:r>
                      <a:endParaRPr lang="en-US" sz="1400" b="1" dirty="0">
                        <a:solidFill>
                          <a:srgbClr val="00000A"/>
                        </a:solidFill>
                        <a:effectLst/>
                        <a:latin typeface="Times New Roman" panose="02020603050405020304" pitchFamily="18" charset="0"/>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60710858"/>
                  </a:ext>
                </a:extLst>
              </a:tr>
            </a:tbl>
          </a:graphicData>
        </a:graphic>
      </p:graphicFrame>
      <p:sp>
        <p:nvSpPr>
          <p:cNvPr id="3" name="Rectangle 3">
            <a:extLst>
              <a:ext uri="{FF2B5EF4-FFF2-40B4-BE49-F238E27FC236}">
                <a16:creationId xmlns:a16="http://schemas.microsoft.com/office/drawing/2014/main" id="{87A5EC2B-227A-36C1-1B25-466BFEC89B59}"/>
              </a:ext>
            </a:extLst>
          </p:cNvPr>
          <p:cNvSpPr txBox="1">
            <a:spLocks noChangeArrowheads="1"/>
          </p:cNvSpPr>
          <p:nvPr/>
        </p:nvSpPr>
        <p:spPr bwMode="auto">
          <a:xfrm>
            <a:off x="6172200" y="2438400"/>
            <a:ext cx="2971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a:solidFill>
                  <a:schemeClr val="accent6">
                    <a:lumMod val="75000"/>
                  </a:schemeClr>
                </a:solidFill>
              </a:rPr>
              <a:t>The ROB should have at least 5 entries.</a:t>
            </a:r>
            <a:endParaRPr lang="en-US" altLang="en-US" sz="2000" b="1" dirty="0">
              <a:solidFill>
                <a:schemeClr val="accent6">
                  <a:lumMod val="75000"/>
                </a:schemeClr>
              </a:solidFill>
            </a:endParaRPr>
          </a:p>
        </p:txBody>
      </p:sp>
    </p:spTree>
    <p:extLst>
      <p:ext uri="{BB962C8B-B14F-4D97-AF65-F5344CB8AC3E}">
        <p14:creationId xmlns:p14="http://schemas.microsoft.com/office/powerpoint/2010/main" val="364594550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MIPS R10K</a:t>
            </a:r>
          </a:p>
        </p:txBody>
      </p:sp>
      <p:sp>
        <p:nvSpPr>
          <p:cNvPr id="39941" name="Rectangle 3"/>
          <p:cNvSpPr>
            <a:spLocks noGrp="1" noChangeArrowheads="1"/>
          </p:cNvSpPr>
          <p:nvPr>
            <p:ph idx="1"/>
          </p:nvPr>
        </p:nvSpPr>
        <p:spPr>
          <a:xfrm>
            <a:off x="457200" y="1295400"/>
            <a:ext cx="8686800" cy="2133600"/>
          </a:xfrm>
        </p:spPr>
        <p:txBody>
          <a:bodyPr/>
          <a:lstStyle/>
          <a:p>
            <a:pPr marL="0" indent="0">
              <a:buNone/>
            </a:pPr>
            <a:r>
              <a:rPr lang="en-US" altLang="en-US" sz="2400" dirty="0"/>
              <a:t>In our </a:t>
            </a:r>
            <a:r>
              <a:rPr lang="en-US" altLang="en-US" sz="2400" b="1" dirty="0"/>
              <a:t>MIPS R10K-like processor</a:t>
            </a:r>
            <a:r>
              <a:rPr lang="en-US" altLang="en-US" sz="2400" dirty="0"/>
              <a:t>, old physical registers are </a:t>
            </a:r>
            <a:r>
              <a:rPr lang="en-US" altLang="en-US" sz="2400" b="1" dirty="0"/>
              <a:t>freed</a:t>
            </a:r>
            <a:r>
              <a:rPr lang="en-US" altLang="en-US" sz="2400" dirty="0"/>
              <a:t> at the end of the R stage. If they were freed at C instead, then _________ [</a:t>
            </a:r>
            <a:r>
              <a:rPr lang="en-US" altLang="en-US" sz="2400" i="1" dirty="0"/>
              <a:t>older/younger</a:t>
            </a:r>
            <a:r>
              <a:rPr lang="en-US" altLang="en-US" sz="2400" dirty="0"/>
              <a:t>] instructions can erroneously _________ [</a:t>
            </a:r>
            <a:r>
              <a:rPr lang="en-US" altLang="en-US" sz="2400" i="1" dirty="0"/>
              <a:t>read from/write to</a:t>
            </a:r>
            <a:r>
              <a:rPr lang="en-US" altLang="en-US" sz="2400" dirty="0"/>
              <a:t>] registers that still have yet to be _________ [</a:t>
            </a:r>
            <a:r>
              <a:rPr lang="en-US" altLang="en-US" sz="2400" i="1" dirty="0"/>
              <a:t>read/written</a:t>
            </a:r>
            <a:r>
              <a:rPr lang="en-US" altLang="en-US" sz="2400" dirty="0"/>
              <a:t>] by _________ [</a:t>
            </a:r>
            <a:r>
              <a:rPr lang="en-US" altLang="en-US" sz="2400" i="1" dirty="0"/>
              <a:t>older/younger</a:t>
            </a:r>
            <a:r>
              <a:rPr lang="en-US" altLang="en-US" sz="2400" dirty="0"/>
              <a:t>] instructions.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24</a:t>
            </a:fld>
            <a:endParaRPr lang="en-US" altLang="en-US"/>
          </a:p>
        </p:txBody>
      </p:sp>
    </p:spTree>
    <p:extLst>
      <p:ext uri="{BB962C8B-B14F-4D97-AF65-F5344CB8AC3E}">
        <p14:creationId xmlns:p14="http://schemas.microsoft.com/office/powerpoint/2010/main" val="139139300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MIPS R10K</a:t>
            </a:r>
          </a:p>
        </p:txBody>
      </p:sp>
      <p:sp>
        <p:nvSpPr>
          <p:cNvPr id="39941" name="Rectangle 3"/>
          <p:cNvSpPr>
            <a:spLocks noGrp="1" noChangeArrowheads="1"/>
          </p:cNvSpPr>
          <p:nvPr>
            <p:ph idx="1"/>
          </p:nvPr>
        </p:nvSpPr>
        <p:spPr>
          <a:xfrm>
            <a:off x="457200" y="1295400"/>
            <a:ext cx="8686800" cy="2133600"/>
          </a:xfrm>
        </p:spPr>
        <p:txBody>
          <a:bodyPr/>
          <a:lstStyle/>
          <a:p>
            <a:pPr marL="0" indent="0">
              <a:buNone/>
            </a:pPr>
            <a:r>
              <a:rPr lang="en-US" altLang="en-US" sz="2400" dirty="0"/>
              <a:t>In our </a:t>
            </a:r>
            <a:r>
              <a:rPr lang="en-US" altLang="en-US" sz="2400" b="1" dirty="0"/>
              <a:t>MIPS R10K-like processor</a:t>
            </a:r>
            <a:r>
              <a:rPr lang="en-US" altLang="en-US" sz="2400" dirty="0"/>
              <a:t>, old physical registers are </a:t>
            </a:r>
            <a:r>
              <a:rPr lang="en-US" altLang="en-US" sz="2400" b="1" dirty="0"/>
              <a:t>freed</a:t>
            </a:r>
            <a:r>
              <a:rPr lang="en-US" altLang="en-US" sz="2400" dirty="0"/>
              <a:t> at the end of the R stage. If they were freed at C instead, then _________ [</a:t>
            </a:r>
            <a:r>
              <a:rPr lang="en-US" altLang="en-US" sz="2400" i="1" dirty="0"/>
              <a:t>older/younger</a:t>
            </a:r>
            <a:r>
              <a:rPr lang="en-US" altLang="en-US" sz="2400" dirty="0"/>
              <a:t>] instructions can erroneously _________ [</a:t>
            </a:r>
            <a:r>
              <a:rPr lang="en-US" altLang="en-US" sz="2400" i="1" dirty="0"/>
              <a:t>read from/write to</a:t>
            </a:r>
            <a:r>
              <a:rPr lang="en-US" altLang="en-US" sz="2400" dirty="0"/>
              <a:t>] registers that still have yet to be _________ [</a:t>
            </a:r>
            <a:r>
              <a:rPr lang="en-US" altLang="en-US" sz="2400" i="1" dirty="0"/>
              <a:t>read/written</a:t>
            </a:r>
            <a:r>
              <a:rPr lang="en-US" altLang="en-US" sz="2400" dirty="0"/>
              <a:t>] by _________ [</a:t>
            </a:r>
            <a:r>
              <a:rPr lang="en-US" altLang="en-US" sz="2400" i="1" dirty="0"/>
              <a:t>older/younger</a:t>
            </a:r>
            <a:r>
              <a:rPr lang="en-US" altLang="en-US" sz="2400" dirty="0"/>
              <a:t>] instructions.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25</a:t>
            </a:fld>
            <a:endParaRPr lang="en-US" altLang="en-US"/>
          </a:p>
        </p:txBody>
      </p:sp>
      <p:graphicFrame>
        <p:nvGraphicFramePr>
          <p:cNvPr id="2" name="Table 1">
            <a:extLst>
              <a:ext uri="{FF2B5EF4-FFF2-40B4-BE49-F238E27FC236}">
                <a16:creationId xmlns:a16="http://schemas.microsoft.com/office/drawing/2014/main" id="{7FAA6B4D-EEB4-D6A1-30E5-5DBEAAF53F2F}"/>
              </a:ext>
            </a:extLst>
          </p:cNvPr>
          <p:cNvGraphicFramePr>
            <a:graphicFrameLocks noGrp="1"/>
          </p:cNvGraphicFramePr>
          <p:nvPr/>
        </p:nvGraphicFramePr>
        <p:xfrm>
          <a:off x="457204" y="3752102"/>
          <a:ext cx="8229592" cy="1658098"/>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3115574416"/>
                    </a:ext>
                  </a:extLst>
                </a:gridCol>
                <a:gridCol w="1143000">
                  <a:extLst>
                    <a:ext uri="{9D8B030D-6E8A-4147-A177-3AD203B41FA5}">
                      <a16:colId xmlns:a16="http://schemas.microsoft.com/office/drawing/2014/main" val="61508127"/>
                    </a:ext>
                  </a:extLst>
                </a:gridCol>
                <a:gridCol w="366712">
                  <a:extLst>
                    <a:ext uri="{9D8B030D-6E8A-4147-A177-3AD203B41FA5}">
                      <a16:colId xmlns:a16="http://schemas.microsoft.com/office/drawing/2014/main" val="3697231158"/>
                    </a:ext>
                  </a:extLst>
                </a:gridCol>
                <a:gridCol w="366712">
                  <a:extLst>
                    <a:ext uri="{9D8B030D-6E8A-4147-A177-3AD203B41FA5}">
                      <a16:colId xmlns:a16="http://schemas.microsoft.com/office/drawing/2014/main" val="2517028253"/>
                    </a:ext>
                  </a:extLst>
                </a:gridCol>
                <a:gridCol w="366712">
                  <a:extLst>
                    <a:ext uri="{9D8B030D-6E8A-4147-A177-3AD203B41FA5}">
                      <a16:colId xmlns:a16="http://schemas.microsoft.com/office/drawing/2014/main" val="7044062"/>
                    </a:ext>
                  </a:extLst>
                </a:gridCol>
                <a:gridCol w="366712">
                  <a:extLst>
                    <a:ext uri="{9D8B030D-6E8A-4147-A177-3AD203B41FA5}">
                      <a16:colId xmlns:a16="http://schemas.microsoft.com/office/drawing/2014/main" val="266605747"/>
                    </a:ext>
                  </a:extLst>
                </a:gridCol>
                <a:gridCol w="366712">
                  <a:extLst>
                    <a:ext uri="{9D8B030D-6E8A-4147-A177-3AD203B41FA5}">
                      <a16:colId xmlns:a16="http://schemas.microsoft.com/office/drawing/2014/main" val="335519539"/>
                    </a:ext>
                  </a:extLst>
                </a:gridCol>
                <a:gridCol w="366712">
                  <a:extLst>
                    <a:ext uri="{9D8B030D-6E8A-4147-A177-3AD203B41FA5}">
                      <a16:colId xmlns:a16="http://schemas.microsoft.com/office/drawing/2014/main" val="2176790291"/>
                    </a:ext>
                  </a:extLst>
                </a:gridCol>
                <a:gridCol w="366712">
                  <a:extLst>
                    <a:ext uri="{9D8B030D-6E8A-4147-A177-3AD203B41FA5}">
                      <a16:colId xmlns:a16="http://schemas.microsoft.com/office/drawing/2014/main" val="3537170093"/>
                    </a:ext>
                  </a:extLst>
                </a:gridCol>
                <a:gridCol w="366712">
                  <a:extLst>
                    <a:ext uri="{9D8B030D-6E8A-4147-A177-3AD203B41FA5}">
                      <a16:colId xmlns:a16="http://schemas.microsoft.com/office/drawing/2014/main" val="75539878"/>
                    </a:ext>
                  </a:extLst>
                </a:gridCol>
                <a:gridCol w="366712">
                  <a:extLst>
                    <a:ext uri="{9D8B030D-6E8A-4147-A177-3AD203B41FA5}">
                      <a16:colId xmlns:a16="http://schemas.microsoft.com/office/drawing/2014/main" val="1918929953"/>
                    </a:ext>
                  </a:extLst>
                </a:gridCol>
                <a:gridCol w="366712">
                  <a:extLst>
                    <a:ext uri="{9D8B030D-6E8A-4147-A177-3AD203B41FA5}">
                      <a16:colId xmlns:a16="http://schemas.microsoft.com/office/drawing/2014/main" val="1029486498"/>
                    </a:ext>
                  </a:extLst>
                </a:gridCol>
                <a:gridCol w="366712">
                  <a:extLst>
                    <a:ext uri="{9D8B030D-6E8A-4147-A177-3AD203B41FA5}">
                      <a16:colId xmlns:a16="http://schemas.microsoft.com/office/drawing/2014/main" val="3018848160"/>
                    </a:ext>
                  </a:extLst>
                </a:gridCol>
                <a:gridCol w="366712">
                  <a:extLst>
                    <a:ext uri="{9D8B030D-6E8A-4147-A177-3AD203B41FA5}">
                      <a16:colId xmlns:a16="http://schemas.microsoft.com/office/drawing/2014/main" val="3448723297"/>
                    </a:ext>
                  </a:extLst>
                </a:gridCol>
                <a:gridCol w="366712">
                  <a:extLst>
                    <a:ext uri="{9D8B030D-6E8A-4147-A177-3AD203B41FA5}">
                      <a16:colId xmlns:a16="http://schemas.microsoft.com/office/drawing/2014/main" val="1666711157"/>
                    </a:ext>
                  </a:extLst>
                </a:gridCol>
                <a:gridCol w="366712">
                  <a:extLst>
                    <a:ext uri="{9D8B030D-6E8A-4147-A177-3AD203B41FA5}">
                      <a16:colId xmlns:a16="http://schemas.microsoft.com/office/drawing/2014/main" val="3277107126"/>
                    </a:ext>
                  </a:extLst>
                </a:gridCol>
                <a:gridCol w="366712">
                  <a:extLst>
                    <a:ext uri="{9D8B030D-6E8A-4147-A177-3AD203B41FA5}">
                      <a16:colId xmlns:a16="http://schemas.microsoft.com/office/drawing/2014/main" val="2818178276"/>
                    </a:ext>
                  </a:extLst>
                </a:gridCol>
                <a:gridCol w="366712">
                  <a:extLst>
                    <a:ext uri="{9D8B030D-6E8A-4147-A177-3AD203B41FA5}">
                      <a16:colId xmlns:a16="http://schemas.microsoft.com/office/drawing/2014/main" val="3780757665"/>
                    </a:ext>
                  </a:extLst>
                </a:gridCol>
              </a:tblGrid>
              <a:tr h="207238">
                <a:tc>
                  <a:txBody>
                    <a:bodyPr/>
                    <a:lstStyle/>
                    <a:p>
                      <a:pPr marL="0" marR="0" algn="ctr">
                        <a:spcBef>
                          <a:spcPts val="0"/>
                        </a:spcBef>
                        <a:spcAft>
                          <a:spcPts val="0"/>
                        </a:spcAft>
                      </a:pPr>
                      <a:r>
                        <a:rPr lang="en-US" sz="1200" b="1" dirty="0">
                          <a:effectLst/>
                          <a:latin typeface="+mn-lt"/>
                        </a:rPr>
                        <a:t> </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solidFill>
                            <a:srgbClr val="00000A"/>
                          </a:solidFill>
                          <a:effectLst/>
                          <a:latin typeface="+mn-lt"/>
                          <a:ea typeface="PMingLiU" panose="02020500000000000000" pitchFamily="18" charset="-120"/>
                        </a:rPr>
                        <a:t>renamed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2</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3</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4</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5</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6</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7</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8</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9</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10</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12</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13</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14</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15</a:t>
                      </a:r>
                      <a:endParaRPr lang="en-US" sz="1200" b="1" dirty="0">
                        <a:solidFill>
                          <a:srgbClr val="00000A"/>
                        </a:solidFill>
                        <a:effectLst/>
                        <a:latin typeface="+mn-lt"/>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16</a:t>
                      </a:r>
                      <a:endParaRPr lang="en-US" sz="1200" b="1" dirty="0">
                        <a:solidFill>
                          <a:srgbClr val="00000A"/>
                        </a:solidFill>
                        <a:effectLst/>
                        <a:latin typeface="+mn-lt"/>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15291865"/>
                  </a:ext>
                </a:extLst>
              </a:tr>
              <a:tr h="241810">
                <a:tc>
                  <a:txBody>
                    <a:bodyPr/>
                    <a:lstStyle/>
                    <a:p>
                      <a:pPr marL="0" marR="0" algn="ctr">
                        <a:spcBef>
                          <a:spcPts val="0"/>
                        </a:spcBef>
                        <a:spcAft>
                          <a:spcPts val="0"/>
                        </a:spcAft>
                      </a:pPr>
                      <a:r>
                        <a:rPr lang="en-US" sz="1200" b="1" dirty="0" err="1">
                          <a:effectLst/>
                          <a:latin typeface="+mn-lt"/>
                        </a:rPr>
                        <a:t>lw</a:t>
                      </a:r>
                      <a:r>
                        <a:rPr lang="en-US" sz="1200" b="1" dirty="0">
                          <a:effectLst/>
                          <a:latin typeface="+mn-lt"/>
                        </a:rPr>
                        <a:t> $t0, 0($t1)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lw</a:t>
                      </a:r>
                      <a:r>
                        <a:rPr lang="en-US" sz="1200" b="1" dirty="0">
                          <a:solidFill>
                            <a:srgbClr val="00000A"/>
                          </a:solidFill>
                          <a:effectLst/>
                          <a:latin typeface="+mn-lt"/>
                          <a:ea typeface="PMingLiU" panose="02020500000000000000" pitchFamily="18" charset="-120"/>
                        </a:rPr>
                        <a:t> P7, 0(P1)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4419978"/>
                  </a:ext>
                </a:extLst>
              </a:tr>
              <a:tr h="241810">
                <a:tc>
                  <a:txBody>
                    <a:bodyPr/>
                    <a:lstStyle/>
                    <a:p>
                      <a:pPr marL="0" marR="0" algn="ctr">
                        <a:spcBef>
                          <a:spcPts val="0"/>
                        </a:spcBef>
                        <a:spcAft>
                          <a:spcPts val="0"/>
                        </a:spcAft>
                      </a:pPr>
                      <a:r>
                        <a:rPr lang="en-US" sz="1200" b="1" dirty="0">
                          <a:effectLst/>
                          <a:latin typeface="+mn-lt"/>
                        </a:rPr>
                        <a:t>sub $t2, $t3, $t0</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solidFill>
                            <a:srgbClr val="00000A"/>
                          </a:solidFill>
                          <a:effectLst/>
                          <a:latin typeface="+mn-lt"/>
                          <a:ea typeface="PMingLiU" panose="02020500000000000000" pitchFamily="18" charset="-120"/>
                        </a:rPr>
                        <a:t>sub P8, P3, P7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3865937"/>
                  </a:ext>
                </a:extLst>
              </a:tr>
              <a:tr h="241810">
                <a:tc>
                  <a:txBody>
                    <a:bodyPr/>
                    <a:lstStyle/>
                    <a:p>
                      <a:pPr marL="0" marR="0" algn="ctr">
                        <a:spcBef>
                          <a:spcPts val="0"/>
                        </a:spcBef>
                        <a:spcAft>
                          <a:spcPts val="0"/>
                        </a:spcAft>
                      </a:pPr>
                      <a:r>
                        <a:rPr lang="en-US" sz="1200" b="1" dirty="0" err="1">
                          <a:effectLst/>
                          <a:latin typeface="+mn-lt"/>
                        </a:rPr>
                        <a:t>addi</a:t>
                      </a:r>
                      <a:r>
                        <a:rPr lang="en-US" sz="1200" b="1" dirty="0">
                          <a:effectLst/>
                          <a:latin typeface="+mn-lt"/>
                        </a:rPr>
                        <a:t> $t3, $t4, 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addi</a:t>
                      </a:r>
                      <a:r>
                        <a:rPr lang="en-US" sz="1200" b="1" dirty="0">
                          <a:solidFill>
                            <a:srgbClr val="00000A"/>
                          </a:solidFill>
                          <a:effectLst/>
                          <a:latin typeface="+mn-lt"/>
                          <a:ea typeface="PMingLiU" panose="02020500000000000000" pitchFamily="18" charset="-120"/>
                        </a:rPr>
                        <a:t> P9, P4, 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3686573"/>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$t4, 0($t1)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P4, 0(P1)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5095708"/>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$t5, 4($t1)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P5, 4(P1)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9233904"/>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ori</a:t>
                      </a:r>
                      <a:r>
                        <a:rPr lang="en-US" sz="1200" b="1" dirty="0">
                          <a:solidFill>
                            <a:srgbClr val="00000A"/>
                          </a:solidFill>
                          <a:effectLst/>
                          <a:latin typeface="+mn-lt"/>
                          <a:ea typeface="PMingLiU" panose="02020500000000000000" pitchFamily="18" charset="-120"/>
                        </a:rPr>
                        <a:t> $t6, $t6, 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ori</a:t>
                      </a:r>
                      <a:r>
                        <a:rPr lang="en-US" sz="1200" b="1" dirty="0">
                          <a:solidFill>
                            <a:srgbClr val="00000A"/>
                          </a:solidFill>
                          <a:effectLst/>
                          <a:latin typeface="+mn-lt"/>
                          <a:ea typeface="PMingLiU" panose="02020500000000000000" pitchFamily="18" charset="-120"/>
                        </a:rPr>
                        <a:t> P3, P6, 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123339"/>
                  </a:ext>
                </a:extLst>
              </a:tr>
            </a:tbl>
          </a:graphicData>
        </a:graphic>
      </p:graphicFrame>
    </p:spTree>
    <p:extLst>
      <p:ext uri="{BB962C8B-B14F-4D97-AF65-F5344CB8AC3E}">
        <p14:creationId xmlns:p14="http://schemas.microsoft.com/office/powerpoint/2010/main" val="158642033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MIPS R10K</a:t>
            </a:r>
          </a:p>
        </p:txBody>
      </p:sp>
      <p:sp>
        <p:nvSpPr>
          <p:cNvPr id="39941" name="Rectangle 3"/>
          <p:cNvSpPr>
            <a:spLocks noGrp="1" noChangeArrowheads="1"/>
          </p:cNvSpPr>
          <p:nvPr>
            <p:ph idx="1"/>
          </p:nvPr>
        </p:nvSpPr>
        <p:spPr>
          <a:xfrm>
            <a:off x="457200" y="1295400"/>
            <a:ext cx="8686800" cy="2133600"/>
          </a:xfrm>
        </p:spPr>
        <p:txBody>
          <a:bodyPr/>
          <a:lstStyle/>
          <a:p>
            <a:pPr marL="0" indent="0">
              <a:buNone/>
            </a:pPr>
            <a:r>
              <a:rPr lang="en-US" altLang="en-US" sz="2400" dirty="0"/>
              <a:t>In our </a:t>
            </a:r>
            <a:r>
              <a:rPr lang="en-US" altLang="en-US" sz="2400" b="1" dirty="0"/>
              <a:t>MIPS R10K-like processor</a:t>
            </a:r>
            <a:r>
              <a:rPr lang="en-US" altLang="en-US" sz="2400" dirty="0"/>
              <a:t>, old physical registers are </a:t>
            </a:r>
            <a:r>
              <a:rPr lang="en-US" altLang="en-US" sz="2400" b="1" dirty="0"/>
              <a:t>freed</a:t>
            </a:r>
            <a:r>
              <a:rPr lang="en-US" altLang="en-US" sz="2400" dirty="0"/>
              <a:t> at the end of the R stage. If they were freed at C instead, then _________ [</a:t>
            </a:r>
            <a:r>
              <a:rPr lang="en-US" altLang="en-US" sz="2400" i="1" dirty="0"/>
              <a:t>older/younger</a:t>
            </a:r>
            <a:r>
              <a:rPr lang="en-US" altLang="en-US" sz="2400" dirty="0"/>
              <a:t>] instructions can erroneously _________ [</a:t>
            </a:r>
            <a:r>
              <a:rPr lang="en-US" altLang="en-US" sz="2400" i="1" dirty="0"/>
              <a:t>read from/write to</a:t>
            </a:r>
            <a:r>
              <a:rPr lang="en-US" altLang="en-US" sz="2400" dirty="0"/>
              <a:t>] registers that still have yet to be _________ [</a:t>
            </a:r>
            <a:r>
              <a:rPr lang="en-US" altLang="en-US" sz="2400" i="1" dirty="0"/>
              <a:t>read/written</a:t>
            </a:r>
            <a:r>
              <a:rPr lang="en-US" altLang="en-US" sz="2400" dirty="0"/>
              <a:t>] by _________ [</a:t>
            </a:r>
            <a:r>
              <a:rPr lang="en-US" altLang="en-US" sz="2400" i="1" dirty="0"/>
              <a:t>older/younger</a:t>
            </a:r>
            <a:r>
              <a:rPr lang="en-US" altLang="en-US" sz="2400" dirty="0"/>
              <a:t>] instructions.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26</a:t>
            </a:fld>
            <a:endParaRPr lang="en-US" altLang="en-US"/>
          </a:p>
        </p:txBody>
      </p:sp>
      <p:graphicFrame>
        <p:nvGraphicFramePr>
          <p:cNvPr id="2" name="Table 1">
            <a:extLst>
              <a:ext uri="{FF2B5EF4-FFF2-40B4-BE49-F238E27FC236}">
                <a16:creationId xmlns:a16="http://schemas.microsoft.com/office/drawing/2014/main" id="{7FAA6B4D-EEB4-D6A1-30E5-5DBEAAF53F2F}"/>
              </a:ext>
            </a:extLst>
          </p:cNvPr>
          <p:cNvGraphicFramePr>
            <a:graphicFrameLocks noGrp="1"/>
          </p:cNvGraphicFramePr>
          <p:nvPr>
            <p:extLst>
              <p:ext uri="{D42A27DB-BD31-4B8C-83A1-F6EECF244321}">
                <p14:modId xmlns:p14="http://schemas.microsoft.com/office/powerpoint/2010/main" val="402263602"/>
              </p:ext>
            </p:extLst>
          </p:nvPr>
        </p:nvGraphicFramePr>
        <p:xfrm>
          <a:off x="457204" y="3752102"/>
          <a:ext cx="8229592" cy="1658098"/>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3115574416"/>
                    </a:ext>
                  </a:extLst>
                </a:gridCol>
                <a:gridCol w="1143000">
                  <a:extLst>
                    <a:ext uri="{9D8B030D-6E8A-4147-A177-3AD203B41FA5}">
                      <a16:colId xmlns:a16="http://schemas.microsoft.com/office/drawing/2014/main" val="61508127"/>
                    </a:ext>
                  </a:extLst>
                </a:gridCol>
                <a:gridCol w="366712">
                  <a:extLst>
                    <a:ext uri="{9D8B030D-6E8A-4147-A177-3AD203B41FA5}">
                      <a16:colId xmlns:a16="http://schemas.microsoft.com/office/drawing/2014/main" val="3697231158"/>
                    </a:ext>
                  </a:extLst>
                </a:gridCol>
                <a:gridCol w="366712">
                  <a:extLst>
                    <a:ext uri="{9D8B030D-6E8A-4147-A177-3AD203B41FA5}">
                      <a16:colId xmlns:a16="http://schemas.microsoft.com/office/drawing/2014/main" val="2517028253"/>
                    </a:ext>
                  </a:extLst>
                </a:gridCol>
                <a:gridCol w="366712">
                  <a:extLst>
                    <a:ext uri="{9D8B030D-6E8A-4147-A177-3AD203B41FA5}">
                      <a16:colId xmlns:a16="http://schemas.microsoft.com/office/drawing/2014/main" val="7044062"/>
                    </a:ext>
                  </a:extLst>
                </a:gridCol>
                <a:gridCol w="366712">
                  <a:extLst>
                    <a:ext uri="{9D8B030D-6E8A-4147-A177-3AD203B41FA5}">
                      <a16:colId xmlns:a16="http://schemas.microsoft.com/office/drawing/2014/main" val="266605747"/>
                    </a:ext>
                  </a:extLst>
                </a:gridCol>
                <a:gridCol w="366712">
                  <a:extLst>
                    <a:ext uri="{9D8B030D-6E8A-4147-A177-3AD203B41FA5}">
                      <a16:colId xmlns:a16="http://schemas.microsoft.com/office/drawing/2014/main" val="335519539"/>
                    </a:ext>
                  </a:extLst>
                </a:gridCol>
                <a:gridCol w="366712">
                  <a:extLst>
                    <a:ext uri="{9D8B030D-6E8A-4147-A177-3AD203B41FA5}">
                      <a16:colId xmlns:a16="http://schemas.microsoft.com/office/drawing/2014/main" val="2176790291"/>
                    </a:ext>
                  </a:extLst>
                </a:gridCol>
                <a:gridCol w="366712">
                  <a:extLst>
                    <a:ext uri="{9D8B030D-6E8A-4147-A177-3AD203B41FA5}">
                      <a16:colId xmlns:a16="http://schemas.microsoft.com/office/drawing/2014/main" val="3537170093"/>
                    </a:ext>
                  </a:extLst>
                </a:gridCol>
                <a:gridCol w="366712">
                  <a:extLst>
                    <a:ext uri="{9D8B030D-6E8A-4147-A177-3AD203B41FA5}">
                      <a16:colId xmlns:a16="http://schemas.microsoft.com/office/drawing/2014/main" val="75539878"/>
                    </a:ext>
                  </a:extLst>
                </a:gridCol>
                <a:gridCol w="366712">
                  <a:extLst>
                    <a:ext uri="{9D8B030D-6E8A-4147-A177-3AD203B41FA5}">
                      <a16:colId xmlns:a16="http://schemas.microsoft.com/office/drawing/2014/main" val="1918929953"/>
                    </a:ext>
                  </a:extLst>
                </a:gridCol>
                <a:gridCol w="366712">
                  <a:extLst>
                    <a:ext uri="{9D8B030D-6E8A-4147-A177-3AD203B41FA5}">
                      <a16:colId xmlns:a16="http://schemas.microsoft.com/office/drawing/2014/main" val="1029486498"/>
                    </a:ext>
                  </a:extLst>
                </a:gridCol>
                <a:gridCol w="366712">
                  <a:extLst>
                    <a:ext uri="{9D8B030D-6E8A-4147-A177-3AD203B41FA5}">
                      <a16:colId xmlns:a16="http://schemas.microsoft.com/office/drawing/2014/main" val="3018848160"/>
                    </a:ext>
                  </a:extLst>
                </a:gridCol>
                <a:gridCol w="366712">
                  <a:extLst>
                    <a:ext uri="{9D8B030D-6E8A-4147-A177-3AD203B41FA5}">
                      <a16:colId xmlns:a16="http://schemas.microsoft.com/office/drawing/2014/main" val="3448723297"/>
                    </a:ext>
                  </a:extLst>
                </a:gridCol>
                <a:gridCol w="366712">
                  <a:extLst>
                    <a:ext uri="{9D8B030D-6E8A-4147-A177-3AD203B41FA5}">
                      <a16:colId xmlns:a16="http://schemas.microsoft.com/office/drawing/2014/main" val="1666711157"/>
                    </a:ext>
                  </a:extLst>
                </a:gridCol>
                <a:gridCol w="366712">
                  <a:extLst>
                    <a:ext uri="{9D8B030D-6E8A-4147-A177-3AD203B41FA5}">
                      <a16:colId xmlns:a16="http://schemas.microsoft.com/office/drawing/2014/main" val="3277107126"/>
                    </a:ext>
                  </a:extLst>
                </a:gridCol>
                <a:gridCol w="366712">
                  <a:extLst>
                    <a:ext uri="{9D8B030D-6E8A-4147-A177-3AD203B41FA5}">
                      <a16:colId xmlns:a16="http://schemas.microsoft.com/office/drawing/2014/main" val="2818178276"/>
                    </a:ext>
                  </a:extLst>
                </a:gridCol>
                <a:gridCol w="366712">
                  <a:extLst>
                    <a:ext uri="{9D8B030D-6E8A-4147-A177-3AD203B41FA5}">
                      <a16:colId xmlns:a16="http://schemas.microsoft.com/office/drawing/2014/main" val="3780757665"/>
                    </a:ext>
                  </a:extLst>
                </a:gridCol>
              </a:tblGrid>
              <a:tr h="207238">
                <a:tc>
                  <a:txBody>
                    <a:bodyPr/>
                    <a:lstStyle/>
                    <a:p>
                      <a:pPr marL="0" marR="0" algn="ctr">
                        <a:spcBef>
                          <a:spcPts val="0"/>
                        </a:spcBef>
                        <a:spcAft>
                          <a:spcPts val="0"/>
                        </a:spcAft>
                      </a:pPr>
                      <a:r>
                        <a:rPr lang="en-US" sz="1200" b="1" dirty="0">
                          <a:effectLst/>
                          <a:latin typeface="+mn-lt"/>
                        </a:rPr>
                        <a:t> </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solidFill>
                            <a:srgbClr val="00000A"/>
                          </a:solidFill>
                          <a:effectLst/>
                          <a:latin typeface="+mn-lt"/>
                          <a:ea typeface="PMingLiU" panose="02020500000000000000" pitchFamily="18" charset="-120"/>
                        </a:rPr>
                        <a:t>renamed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2</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3</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4</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5</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6</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7</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8</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9</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10</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12</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13</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14</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15</a:t>
                      </a:r>
                      <a:endParaRPr lang="en-US" sz="1200" b="1" dirty="0">
                        <a:solidFill>
                          <a:srgbClr val="00000A"/>
                        </a:solidFill>
                        <a:effectLst/>
                        <a:latin typeface="+mn-lt"/>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16</a:t>
                      </a:r>
                      <a:endParaRPr lang="en-US" sz="1200" b="1" dirty="0">
                        <a:solidFill>
                          <a:srgbClr val="00000A"/>
                        </a:solidFill>
                        <a:effectLst/>
                        <a:latin typeface="+mn-lt"/>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15291865"/>
                  </a:ext>
                </a:extLst>
              </a:tr>
              <a:tr h="241810">
                <a:tc>
                  <a:txBody>
                    <a:bodyPr/>
                    <a:lstStyle/>
                    <a:p>
                      <a:pPr marL="0" marR="0" algn="ctr">
                        <a:spcBef>
                          <a:spcPts val="0"/>
                        </a:spcBef>
                        <a:spcAft>
                          <a:spcPts val="0"/>
                        </a:spcAft>
                      </a:pPr>
                      <a:r>
                        <a:rPr lang="en-US" sz="1200" b="1" dirty="0" err="1">
                          <a:effectLst/>
                          <a:latin typeface="+mn-lt"/>
                        </a:rPr>
                        <a:t>lw</a:t>
                      </a:r>
                      <a:r>
                        <a:rPr lang="en-US" sz="1200" b="1" dirty="0">
                          <a:effectLst/>
                          <a:latin typeface="+mn-lt"/>
                        </a:rPr>
                        <a:t> $t0, 0($t1)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lw</a:t>
                      </a:r>
                      <a:r>
                        <a:rPr lang="en-US" sz="1200" b="1" dirty="0">
                          <a:solidFill>
                            <a:srgbClr val="00000A"/>
                          </a:solidFill>
                          <a:effectLst/>
                          <a:latin typeface="+mn-lt"/>
                          <a:ea typeface="PMingLiU" panose="02020500000000000000" pitchFamily="18" charset="-120"/>
                        </a:rPr>
                        <a:t> P7, 0(P1)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4419978"/>
                  </a:ext>
                </a:extLst>
              </a:tr>
              <a:tr h="241810">
                <a:tc>
                  <a:txBody>
                    <a:bodyPr/>
                    <a:lstStyle/>
                    <a:p>
                      <a:pPr marL="0" marR="0" algn="ctr">
                        <a:spcBef>
                          <a:spcPts val="0"/>
                        </a:spcBef>
                        <a:spcAft>
                          <a:spcPts val="0"/>
                        </a:spcAft>
                      </a:pPr>
                      <a:r>
                        <a:rPr lang="en-US" sz="1200" b="1" dirty="0">
                          <a:effectLst/>
                          <a:latin typeface="+mn-lt"/>
                        </a:rPr>
                        <a:t>sub $t2, $t3, $t0</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solidFill>
                            <a:srgbClr val="00000A"/>
                          </a:solidFill>
                          <a:effectLst/>
                          <a:latin typeface="+mn-lt"/>
                          <a:ea typeface="PMingLiU" panose="02020500000000000000" pitchFamily="18" charset="-120"/>
                        </a:rPr>
                        <a:t>sub P8, P3, P7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3865937"/>
                  </a:ext>
                </a:extLst>
              </a:tr>
              <a:tr h="241810">
                <a:tc>
                  <a:txBody>
                    <a:bodyPr/>
                    <a:lstStyle/>
                    <a:p>
                      <a:pPr marL="0" marR="0" algn="ctr">
                        <a:spcBef>
                          <a:spcPts val="0"/>
                        </a:spcBef>
                        <a:spcAft>
                          <a:spcPts val="0"/>
                        </a:spcAft>
                      </a:pPr>
                      <a:r>
                        <a:rPr lang="en-US" sz="1200" b="1" dirty="0" err="1">
                          <a:effectLst/>
                          <a:latin typeface="+mn-lt"/>
                        </a:rPr>
                        <a:t>addi</a:t>
                      </a:r>
                      <a:r>
                        <a:rPr lang="en-US" sz="1200" b="1" dirty="0">
                          <a:effectLst/>
                          <a:latin typeface="+mn-lt"/>
                        </a:rPr>
                        <a:t> $t3, $t4, 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addi</a:t>
                      </a:r>
                      <a:r>
                        <a:rPr lang="en-US" sz="1200" b="1" dirty="0">
                          <a:solidFill>
                            <a:srgbClr val="00000A"/>
                          </a:solidFill>
                          <a:effectLst/>
                          <a:latin typeface="+mn-lt"/>
                          <a:ea typeface="PMingLiU" panose="02020500000000000000" pitchFamily="18" charset="-120"/>
                        </a:rPr>
                        <a:t> P9, P4, 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3686573"/>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$t4, 0($t1)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P4, 0(P1)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5095708"/>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$t5, 4($t1)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P5, 4(P1)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9233904"/>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ori</a:t>
                      </a:r>
                      <a:r>
                        <a:rPr lang="en-US" sz="1200" b="1" dirty="0">
                          <a:solidFill>
                            <a:srgbClr val="00000A"/>
                          </a:solidFill>
                          <a:effectLst/>
                          <a:latin typeface="+mn-lt"/>
                          <a:ea typeface="PMingLiU" panose="02020500000000000000" pitchFamily="18" charset="-120"/>
                        </a:rPr>
                        <a:t> $t6, $t6, 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ori</a:t>
                      </a:r>
                      <a:r>
                        <a:rPr lang="en-US" sz="1200" b="1" dirty="0">
                          <a:solidFill>
                            <a:srgbClr val="00000A"/>
                          </a:solidFill>
                          <a:effectLst/>
                          <a:latin typeface="+mn-lt"/>
                          <a:ea typeface="PMingLiU" panose="02020500000000000000" pitchFamily="18" charset="-120"/>
                        </a:rPr>
                        <a:t> P3, P6, 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123339"/>
                  </a:ext>
                </a:extLst>
              </a:tr>
            </a:tbl>
          </a:graphicData>
        </a:graphic>
      </p:graphicFrame>
      <p:sp>
        <p:nvSpPr>
          <p:cNvPr id="3" name="Rectangle 3">
            <a:extLst>
              <a:ext uri="{FF2B5EF4-FFF2-40B4-BE49-F238E27FC236}">
                <a16:creationId xmlns:a16="http://schemas.microsoft.com/office/drawing/2014/main" id="{8DCE6F35-5F3E-EC57-A89B-3F649F9DC857}"/>
              </a:ext>
            </a:extLst>
          </p:cNvPr>
          <p:cNvSpPr txBox="1">
            <a:spLocks noChangeArrowheads="1"/>
          </p:cNvSpPr>
          <p:nvPr/>
        </p:nvSpPr>
        <p:spPr bwMode="auto">
          <a:xfrm>
            <a:off x="4114800" y="3323851"/>
            <a:ext cx="914400" cy="2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frees P3</a:t>
            </a:r>
            <a:endParaRPr lang="en-US" altLang="en-US" sz="1400" b="1" dirty="0">
              <a:solidFill>
                <a:schemeClr val="accent6">
                  <a:lumMod val="75000"/>
                </a:schemeClr>
              </a:solidFill>
            </a:endParaRPr>
          </a:p>
        </p:txBody>
      </p:sp>
      <p:cxnSp>
        <p:nvCxnSpPr>
          <p:cNvPr id="5" name="Straight Connector 4">
            <a:extLst>
              <a:ext uri="{FF2B5EF4-FFF2-40B4-BE49-F238E27FC236}">
                <a16:creationId xmlns:a16="http://schemas.microsoft.com/office/drawing/2014/main" id="{001F3CD7-1E12-E8C2-954D-40228276BC19}"/>
              </a:ext>
            </a:extLst>
          </p:cNvPr>
          <p:cNvCxnSpPr>
            <a:cxnSpLocks/>
          </p:cNvCxnSpPr>
          <p:nvPr/>
        </p:nvCxnSpPr>
        <p:spPr>
          <a:xfrm flipH="1" flipV="1">
            <a:off x="4800600" y="3570753"/>
            <a:ext cx="685800" cy="101039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41683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MIPS R10K</a:t>
            </a:r>
          </a:p>
        </p:txBody>
      </p:sp>
      <p:sp>
        <p:nvSpPr>
          <p:cNvPr id="39941" name="Rectangle 3"/>
          <p:cNvSpPr>
            <a:spLocks noGrp="1" noChangeArrowheads="1"/>
          </p:cNvSpPr>
          <p:nvPr>
            <p:ph idx="1"/>
          </p:nvPr>
        </p:nvSpPr>
        <p:spPr>
          <a:xfrm>
            <a:off x="457200" y="1295400"/>
            <a:ext cx="8686800" cy="2133600"/>
          </a:xfrm>
        </p:spPr>
        <p:txBody>
          <a:bodyPr/>
          <a:lstStyle/>
          <a:p>
            <a:pPr marL="0" indent="0">
              <a:buNone/>
            </a:pPr>
            <a:r>
              <a:rPr lang="en-US" altLang="en-US" sz="2400" dirty="0"/>
              <a:t>In our </a:t>
            </a:r>
            <a:r>
              <a:rPr lang="en-US" altLang="en-US" sz="2400" b="1" dirty="0"/>
              <a:t>MIPS R10K-like processor</a:t>
            </a:r>
            <a:r>
              <a:rPr lang="en-US" altLang="en-US" sz="2400" dirty="0"/>
              <a:t>, old physical registers are </a:t>
            </a:r>
            <a:r>
              <a:rPr lang="en-US" altLang="en-US" sz="2400" b="1" dirty="0"/>
              <a:t>freed</a:t>
            </a:r>
            <a:r>
              <a:rPr lang="en-US" altLang="en-US" sz="2400" dirty="0"/>
              <a:t> at the end of the R stage. If they were freed at C instead, then _________ [</a:t>
            </a:r>
            <a:r>
              <a:rPr lang="en-US" altLang="en-US" sz="2400" i="1" dirty="0"/>
              <a:t>older/younger</a:t>
            </a:r>
            <a:r>
              <a:rPr lang="en-US" altLang="en-US" sz="2400" dirty="0"/>
              <a:t>] instructions can erroneously _________ [</a:t>
            </a:r>
            <a:r>
              <a:rPr lang="en-US" altLang="en-US" sz="2400" i="1" dirty="0"/>
              <a:t>read from/write to</a:t>
            </a:r>
            <a:r>
              <a:rPr lang="en-US" altLang="en-US" sz="2400" dirty="0"/>
              <a:t>] registers that still have yet to be _________ [</a:t>
            </a:r>
            <a:r>
              <a:rPr lang="en-US" altLang="en-US" sz="2400" i="1" dirty="0"/>
              <a:t>read/written</a:t>
            </a:r>
            <a:r>
              <a:rPr lang="en-US" altLang="en-US" sz="2400" dirty="0"/>
              <a:t>] by _________ [</a:t>
            </a:r>
            <a:r>
              <a:rPr lang="en-US" altLang="en-US" sz="2400" i="1" dirty="0"/>
              <a:t>older/younger</a:t>
            </a:r>
            <a:r>
              <a:rPr lang="en-US" altLang="en-US" sz="2400" dirty="0"/>
              <a:t>] instructions.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27</a:t>
            </a:fld>
            <a:endParaRPr lang="en-US" altLang="en-US"/>
          </a:p>
        </p:txBody>
      </p:sp>
      <p:graphicFrame>
        <p:nvGraphicFramePr>
          <p:cNvPr id="2" name="Table 1">
            <a:extLst>
              <a:ext uri="{FF2B5EF4-FFF2-40B4-BE49-F238E27FC236}">
                <a16:creationId xmlns:a16="http://schemas.microsoft.com/office/drawing/2014/main" id="{7FAA6B4D-EEB4-D6A1-30E5-5DBEAAF53F2F}"/>
              </a:ext>
            </a:extLst>
          </p:cNvPr>
          <p:cNvGraphicFramePr>
            <a:graphicFrameLocks noGrp="1"/>
          </p:cNvGraphicFramePr>
          <p:nvPr/>
        </p:nvGraphicFramePr>
        <p:xfrm>
          <a:off x="457204" y="3752102"/>
          <a:ext cx="8229592" cy="1658098"/>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3115574416"/>
                    </a:ext>
                  </a:extLst>
                </a:gridCol>
                <a:gridCol w="1143000">
                  <a:extLst>
                    <a:ext uri="{9D8B030D-6E8A-4147-A177-3AD203B41FA5}">
                      <a16:colId xmlns:a16="http://schemas.microsoft.com/office/drawing/2014/main" val="61508127"/>
                    </a:ext>
                  </a:extLst>
                </a:gridCol>
                <a:gridCol w="366712">
                  <a:extLst>
                    <a:ext uri="{9D8B030D-6E8A-4147-A177-3AD203B41FA5}">
                      <a16:colId xmlns:a16="http://schemas.microsoft.com/office/drawing/2014/main" val="3697231158"/>
                    </a:ext>
                  </a:extLst>
                </a:gridCol>
                <a:gridCol w="366712">
                  <a:extLst>
                    <a:ext uri="{9D8B030D-6E8A-4147-A177-3AD203B41FA5}">
                      <a16:colId xmlns:a16="http://schemas.microsoft.com/office/drawing/2014/main" val="2517028253"/>
                    </a:ext>
                  </a:extLst>
                </a:gridCol>
                <a:gridCol w="366712">
                  <a:extLst>
                    <a:ext uri="{9D8B030D-6E8A-4147-A177-3AD203B41FA5}">
                      <a16:colId xmlns:a16="http://schemas.microsoft.com/office/drawing/2014/main" val="7044062"/>
                    </a:ext>
                  </a:extLst>
                </a:gridCol>
                <a:gridCol w="366712">
                  <a:extLst>
                    <a:ext uri="{9D8B030D-6E8A-4147-A177-3AD203B41FA5}">
                      <a16:colId xmlns:a16="http://schemas.microsoft.com/office/drawing/2014/main" val="266605747"/>
                    </a:ext>
                  </a:extLst>
                </a:gridCol>
                <a:gridCol w="366712">
                  <a:extLst>
                    <a:ext uri="{9D8B030D-6E8A-4147-A177-3AD203B41FA5}">
                      <a16:colId xmlns:a16="http://schemas.microsoft.com/office/drawing/2014/main" val="335519539"/>
                    </a:ext>
                  </a:extLst>
                </a:gridCol>
                <a:gridCol w="366712">
                  <a:extLst>
                    <a:ext uri="{9D8B030D-6E8A-4147-A177-3AD203B41FA5}">
                      <a16:colId xmlns:a16="http://schemas.microsoft.com/office/drawing/2014/main" val="2176790291"/>
                    </a:ext>
                  </a:extLst>
                </a:gridCol>
                <a:gridCol w="366712">
                  <a:extLst>
                    <a:ext uri="{9D8B030D-6E8A-4147-A177-3AD203B41FA5}">
                      <a16:colId xmlns:a16="http://schemas.microsoft.com/office/drawing/2014/main" val="3537170093"/>
                    </a:ext>
                  </a:extLst>
                </a:gridCol>
                <a:gridCol w="366712">
                  <a:extLst>
                    <a:ext uri="{9D8B030D-6E8A-4147-A177-3AD203B41FA5}">
                      <a16:colId xmlns:a16="http://schemas.microsoft.com/office/drawing/2014/main" val="75539878"/>
                    </a:ext>
                  </a:extLst>
                </a:gridCol>
                <a:gridCol w="366712">
                  <a:extLst>
                    <a:ext uri="{9D8B030D-6E8A-4147-A177-3AD203B41FA5}">
                      <a16:colId xmlns:a16="http://schemas.microsoft.com/office/drawing/2014/main" val="1918929953"/>
                    </a:ext>
                  </a:extLst>
                </a:gridCol>
                <a:gridCol w="366712">
                  <a:extLst>
                    <a:ext uri="{9D8B030D-6E8A-4147-A177-3AD203B41FA5}">
                      <a16:colId xmlns:a16="http://schemas.microsoft.com/office/drawing/2014/main" val="1029486498"/>
                    </a:ext>
                  </a:extLst>
                </a:gridCol>
                <a:gridCol w="366712">
                  <a:extLst>
                    <a:ext uri="{9D8B030D-6E8A-4147-A177-3AD203B41FA5}">
                      <a16:colId xmlns:a16="http://schemas.microsoft.com/office/drawing/2014/main" val="3018848160"/>
                    </a:ext>
                  </a:extLst>
                </a:gridCol>
                <a:gridCol w="366712">
                  <a:extLst>
                    <a:ext uri="{9D8B030D-6E8A-4147-A177-3AD203B41FA5}">
                      <a16:colId xmlns:a16="http://schemas.microsoft.com/office/drawing/2014/main" val="3448723297"/>
                    </a:ext>
                  </a:extLst>
                </a:gridCol>
                <a:gridCol w="366712">
                  <a:extLst>
                    <a:ext uri="{9D8B030D-6E8A-4147-A177-3AD203B41FA5}">
                      <a16:colId xmlns:a16="http://schemas.microsoft.com/office/drawing/2014/main" val="1666711157"/>
                    </a:ext>
                  </a:extLst>
                </a:gridCol>
                <a:gridCol w="366712">
                  <a:extLst>
                    <a:ext uri="{9D8B030D-6E8A-4147-A177-3AD203B41FA5}">
                      <a16:colId xmlns:a16="http://schemas.microsoft.com/office/drawing/2014/main" val="3277107126"/>
                    </a:ext>
                  </a:extLst>
                </a:gridCol>
                <a:gridCol w="366712">
                  <a:extLst>
                    <a:ext uri="{9D8B030D-6E8A-4147-A177-3AD203B41FA5}">
                      <a16:colId xmlns:a16="http://schemas.microsoft.com/office/drawing/2014/main" val="2818178276"/>
                    </a:ext>
                  </a:extLst>
                </a:gridCol>
                <a:gridCol w="366712">
                  <a:extLst>
                    <a:ext uri="{9D8B030D-6E8A-4147-A177-3AD203B41FA5}">
                      <a16:colId xmlns:a16="http://schemas.microsoft.com/office/drawing/2014/main" val="3780757665"/>
                    </a:ext>
                  </a:extLst>
                </a:gridCol>
              </a:tblGrid>
              <a:tr h="207238">
                <a:tc>
                  <a:txBody>
                    <a:bodyPr/>
                    <a:lstStyle/>
                    <a:p>
                      <a:pPr marL="0" marR="0" algn="ctr">
                        <a:spcBef>
                          <a:spcPts val="0"/>
                        </a:spcBef>
                        <a:spcAft>
                          <a:spcPts val="0"/>
                        </a:spcAft>
                      </a:pPr>
                      <a:r>
                        <a:rPr lang="en-US" sz="1200" b="1" dirty="0">
                          <a:effectLst/>
                          <a:latin typeface="+mn-lt"/>
                        </a:rPr>
                        <a:t> </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solidFill>
                            <a:srgbClr val="00000A"/>
                          </a:solidFill>
                          <a:effectLst/>
                          <a:latin typeface="+mn-lt"/>
                          <a:ea typeface="PMingLiU" panose="02020500000000000000" pitchFamily="18" charset="-120"/>
                        </a:rPr>
                        <a:t>renamed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2</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3</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4</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5</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6</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7</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8</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9</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10</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12</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13</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14</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15</a:t>
                      </a:r>
                      <a:endParaRPr lang="en-US" sz="1200" b="1" dirty="0">
                        <a:solidFill>
                          <a:srgbClr val="00000A"/>
                        </a:solidFill>
                        <a:effectLst/>
                        <a:latin typeface="+mn-lt"/>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16</a:t>
                      </a:r>
                      <a:endParaRPr lang="en-US" sz="1200" b="1" dirty="0">
                        <a:solidFill>
                          <a:srgbClr val="00000A"/>
                        </a:solidFill>
                        <a:effectLst/>
                        <a:latin typeface="+mn-lt"/>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15291865"/>
                  </a:ext>
                </a:extLst>
              </a:tr>
              <a:tr h="241810">
                <a:tc>
                  <a:txBody>
                    <a:bodyPr/>
                    <a:lstStyle/>
                    <a:p>
                      <a:pPr marL="0" marR="0" algn="ctr">
                        <a:spcBef>
                          <a:spcPts val="0"/>
                        </a:spcBef>
                        <a:spcAft>
                          <a:spcPts val="0"/>
                        </a:spcAft>
                      </a:pPr>
                      <a:r>
                        <a:rPr lang="en-US" sz="1200" b="1" dirty="0" err="1">
                          <a:effectLst/>
                          <a:latin typeface="+mn-lt"/>
                        </a:rPr>
                        <a:t>lw</a:t>
                      </a:r>
                      <a:r>
                        <a:rPr lang="en-US" sz="1200" b="1" dirty="0">
                          <a:effectLst/>
                          <a:latin typeface="+mn-lt"/>
                        </a:rPr>
                        <a:t> $t0, 0($t1)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lw</a:t>
                      </a:r>
                      <a:r>
                        <a:rPr lang="en-US" sz="1200" b="1" dirty="0">
                          <a:solidFill>
                            <a:srgbClr val="00000A"/>
                          </a:solidFill>
                          <a:effectLst/>
                          <a:latin typeface="+mn-lt"/>
                          <a:ea typeface="PMingLiU" panose="02020500000000000000" pitchFamily="18" charset="-120"/>
                        </a:rPr>
                        <a:t> P7, 0(P1)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4419978"/>
                  </a:ext>
                </a:extLst>
              </a:tr>
              <a:tr h="241810">
                <a:tc>
                  <a:txBody>
                    <a:bodyPr/>
                    <a:lstStyle/>
                    <a:p>
                      <a:pPr marL="0" marR="0" algn="ctr">
                        <a:spcBef>
                          <a:spcPts val="0"/>
                        </a:spcBef>
                        <a:spcAft>
                          <a:spcPts val="0"/>
                        </a:spcAft>
                      </a:pPr>
                      <a:r>
                        <a:rPr lang="en-US" sz="1200" b="1" dirty="0">
                          <a:effectLst/>
                          <a:latin typeface="+mn-lt"/>
                        </a:rPr>
                        <a:t>sub $t2, $t3, $t0</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solidFill>
                            <a:srgbClr val="00000A"/>
                          </a:solidFill>
                          <a:effectLst/>
                          <a:latin typeface="+mn-lt"/>
                          <a:ea typeface="PMingLiU" panose="02020500000000000000" pitchFamily="18" charset="-120"/>
                        </a:rPr>
                        <a:t>sub P8, P3, P7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3865937"/>
                  </a:ext>
                </a:extLst>
              </a:tr>
              <a:tr h="241810">
                <a:tc>
                  <a:txBody>
                    <a:bodyPr/>
                    <a:lstStyle/>
                    <a:p>
                      <a:pPr marL="0" marR="0" algn="ctr">
                        <a:spcBef>
                          <a:spcPts val="0"/>
                        </a:spcBef>
                        <a:spcAft>
                          <a:spcPts val="0"/>
                        </a:spcAft>
                      </a:pPr>
                      <a:r>
                        <a:rPr lang="en-US" sz="1200" b="1" dirty="0" err="1">
                          <a:effectLst/>
                          <a:latin typeface="+mn-lt"/>
                        </a:rPr>
                        <a:t>addi</a:t>
                      </a:r>
                      <a:r>
                        <a:rPr lang="en-US" sz="1200" b="1" dirty="0">
                          <a:effectLst/>
                          <a:latin typeface="+mn-lt"/>
                        </a:rPr>
                        <a:t> $t3, $t4, 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addi</a:t>
                      </a:r>
                      <a:r>
                        <a:rPr lang="en-US" sz="1200" b="1" dirty="0">
                          <a:solidFill>
                            <a:srgbClr val="00000A"/>
                          </a:solidFill>
                          <a:effectLst/>
                          <a:latin typeface="+mn-lt"/>
                          <a:ea typeface="PMingLiU" panose="02020500000000000000" pitchFamily="18" charset="-120"/>
                        </a:rPr>
                        <a:t> P9, P4, 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3686573"/>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$t4, 0($t1)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P4, 0(P1)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5095708"/>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$t5, 4($t1)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P5, 4(P1)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9233904"/>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ori</a:t>
                      </a:r>
                      <a:r>
                        <a:rPr lang="en-US" sz="1200" b="1" dirty="0">
                          <a:solidFill>
                            <a:srgbClr val="00000A"/>
                          </a:solidFill>
                          <a:effectLst/>
                          <a:latin typeface="+mn-lt"/>
                          <a:ea typeface="PMingLiU" panose="02020500000000000000" pitchFamily="18" charset="-120"/>
                        </a:rPr>
                        <a:t> $t6, $t6, 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ori</a:t>
                      </a:r>
                      <a:r>
                        <a:rPr lang="en-US" sz="1200" b="1" dirty="0">
                          <a:solidFill>
                            <a:srgbClr val="00000A"/>
                          </a:solidFill>
                          <a:effectLst/>
                          <a:latin typeface="+mn-lt"/>
                          <a:ea typeface="PMingLiU" panose="02020500000000000000" pitchFamily="18" charset="-120"/>
                        </a:rPr>
                        <a:t> P3, P6, 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123339"/>
                  </a:ext>
                </a:extLst>
              </a:tr>
            </a:tbl>
          </a:graphicData>
        </a:graphic>
      </p:graphicFrame>
      <p:sp>
        <p:nvSpPr>
          <p:cNvPr id="3" name="Rectangle 3">
            <a:extLst>
              <a:ext uri="{FF2B5EF4-FFF2-40B4-BE49-F238E27FC236}">
                <a16:creationId xmlns:a16="http://schemas.microsoft.com/office/drawing/2014/main" id="{8DCE6F35-5F3E-EC57-A89B-3F649F9DC857}"/>
              </a:ext>
            </a:extLst>
          </p:cNvPr>
          <p:cNvSpPr txBox="1">
            <a:spLocks noChangeArrowheads="1"/>
          </p:cNvSpPr>
          <p:nvPr/>
        </p:nvSpPr>
        <p:spPr bwMode="auto">
          <a:xfrm>
            <a:off x="4114800" y="3323851"/>
            <a:ext cx="914400" cy="2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frees P3</a:t>
            </a:r>
            <a:endParaRPr lang="en-US" altLang="en-US" sz="1400" b="1" dirty="0">
              <a:solidFill>
                <a:schemeClr val="accent6">
                  <a:lumMod val="75000"/>
                </a:schemeClr>
              </a:solidFill>
            </a:endParaRPr>
          </a:p>
        </p:txBody>
      </p:sp>
      <p:cxnSp>
        <p:nvCxnSpPr>
          <p:cNvPr id="5" name="Straight Connector 4">
            <a:extLst>
              <a:ext uri="{FF2B5EF4-FFF2-40B4-BE49-F238E27FC236}">
                <a16:creationId xmlns:a16="http://schemas.microsoft.com/office/drawing/2014/main" id="{001F3CD7-1E12-E8C2-954D-40228276BC19}"/>
              </a:ext>
            </a:extLst>
          </p:cNvPr>
          <p:cNvCxnSpPr>
            <a:cxnSpLocks/>
          </p:cNvCxnSpPr>
          <p:nvPr/>
        </p:nvCxnSpPr>
        <p:spPr>
          <a:xfrm flipH="1" flipV="1">
            <a:off x="4800600" y="3570753"/>
            <a:ext cx="685800" cy="101039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61AE461-6F66-3262-882D-7151FCFDDB83}"/>
              </a:ext>
            </a:extLst>
          </p:cNvPr>
          <p:cNvSpPr txBox="1">
            <a:spLocks noChangeArrowheads="1"/>
          </p:cNvSpPr>
          <p:nvPr/>
        </p:nvSpPr>
        <p:spPr bwMode="auto">
          <a:xfrm>
            <a:off x="5461247" y="5596777"/>
            <a:ext cx="1286522" cy="2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writes to P3</a:t>
            </a:r>
            <a:endParaRPr lang="en-US" altLang="en-US" sz="1400" b="1" dirty="0">
              <a:solidFill>
                <a:schemeClr val="accent6">
                  <a:lumMod val="75000"/>
                </a:schemeClr>
              </a:solidFill>
            </a:endParaRPr>
          </a:p>
        </p:txBody>
      </p:sp>
      <p:cxnSp>
        <p:nvCxnSpPr>
          <p:cNvPr id="6" name="Straight Connector 5">
            <a:extLst>
              <a:ext uri="{FF2B5EF4-FFF2-40B4-BE49-F238E27FC236}">
                <a16:creationId xmlns:a16="http://schemas.microsoft.com/office/drawing/2014/main" id="{D96E3686-C92D-CD61-8D3D-6AD720696A62}"/>
              </a:ext>
            </a:extLst>
          </p:cNvPr>
          <p:cNvCxnSpPr>
            <a:cxnSpLocks/>
          </p:cNvCxnSpPr>
          <p:nvPr/>
        </p:nvCxnSpPr>
        <p:spPr>
          <a:xfrm flipV="1">
            <a:off x="6248400" y="5356194"/>
            <a:ext cx="380998" cy="28058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69644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MIPS R10K</a:t>
            </a:r>
          </a:p>
        </p:txBody>
      </p:sp>
      <p:sp>
        <p:nvSpPr>
          <p:cNvPr id="39941" name="Rectangle 3"/>
          <p:cNvSpPr>
            <a:spLocks noGrp="1" noChangeArrowheads="1"/>
          </p:cNvSpPr>
          <p:nvPr>
            <p:ph idx="1"/>
          </p:nvPr>
        </p:nvSpPr>
        <p:spPr>
          <a:xfrm>
            <a:off x="457200" y="1295400"/>
            <a:ext cx="8686800" cy="2133600"/>
          </a:xfrm>
        </p:spPr>
        <p:txBody>
          <a:bodyPr/>
          <a:lstStyle/>
          <a:p>
            <a:pPr marL="0" indent="0">
              <a:buNone/>
            </a:pPr>
            <a:r>
              <a:rPr lang="en-US" altLang="en-US" sz="2400" dirty="0"/>
              <a:t>In our </a:t>
            </a:r>
            <a:r>
              <a:rPr lang="en-US" altLang="en-US" sz="2400" b="1" dirty="0"/>
              <a:t>MIPS R10K-like processor</a:t>
            </a:r>
            <a:r>
              <a:rPr lang="en-US" altLang="en-US" sz="2400" dirty="0"/>
              <a:t>, old physical registers are </a:t>
            </a:r>
            <a:r>
              <a:rPr lang="en-US" altLang="en-US" sz="2400" b="1" dirty="0"/>
              <a:t>freed</a:t>
            </a:r>
            <a:r>
              <a:rPr lang="en-US" altLang="en-US" sz="2400" dirty="0"/>
              <a:t> at the end of the R stage. If they were freed at C instead, then _________ [</a:t>
            </a:r>
            <a:r>
              <a:rPr lang="en-US" altLang="en-US" sz="2400" i="1" dirty="0"/>
              <a:t>older/younger</a:t>
            </a:r>
            <a:r>
              <a:rPr lang="en-US" altLang="en-US" sz="2400" dirty="0"/>
              <a:t>] instructions can erroneously _________ [</a:t>
            </a:r>
            <a:r>
              <a:rPr lang="en-US" altLang="en-US" sz="2400" i="1" dirty="0"/>
              <a:t>read from/write to</a:t>
            </a:r>
            <a:r>
              <a:rPr lang="en-US" altLang="en-US" sz="2400" dirty="0"/>
              <a:t>] registers that still have yet to be _________ [</a:t>
            </a:r>
            <a:r>
              <a:rPr lang="en-US" altLang="en-US" sz="2400" i="1" dirty="0"/>
              <a:t>read/written</a:t>
            </a:r>
            <a:r>
              <a:rPr lang="en-US" altLang="en-US" sz="2400" dirty="0"/>
              <a:t>] by _________ [</a:t>
            </a:r>
            <a:r>
              <a:rPr lang="en-US" altLang="en-US" sz="2400" i="1" dirty="0"/>
              <a:t>older/younger</a:t>
            </a:r>
            <a:r>
              <a:rPr lang="en-US" altLang="en-US" sz="2400" dirty="0"/>
              <a:t>] instructions.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28</a:t>
            </a:fld>
            <a:endParaRPr lang="en-US" altLang="en-US"/>
          </a:p>
        </p:txBody>
      </p:sp>
      <p:graphicFrame>
        <p:nvGraphicFramePr>
          <p:cNvPr id="2" name="Table 1">
            <a:extLst>
              <a:ext uri="{FF2B5EF4-FFF2-40B4-BE49-F238E27FC236}">
                <a16:creationId xmlns:a16="http://schemas.microsoft.com/office/drawing/2014/main" id="{7FAA6B4D-EEB4-D6A1-30E5-5DBEAAF53F2F}"/>
              </a:ext>
            </a:extLst>
          </p:cNvPr>
          <p:cNvGraphicFramePr>
            <a:graphicFrameLocks noGrp="1"/>
          </p:cNvGraphicFramePr>
          <p:nvPr>
            <p:extLst>
              <p:ext uri="{D42A27DB-BD31-4B8C-83A1-F6EECF244321}">
                <p14:modId xmlns:p14="http://schemas.microsoft.com/office/powerpoint/2010/main" val="2198343951"/>
              </p:ext>
            </p:extLst>
          </p:nvPr>
        </p:nvGraphicFramePr>
        <p:xfrm>
          <a:off x="457204" y="3752102"/>
          <a:ext cx="8229592" cy="1658098"/>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3115574416"/>
                    </a:ext>
                  </a:extLst>
                </a:gridCol>
                <a:gridCol w="1143000">
                  <a:extLst>
                    <a:ext uri="{9D8B030D-6E8A-4147-A177-3AD203B41FA5}">
                      <a16:colId xmlns:a16="http://schemas.microsoft.com/office/drawing/2014/main" val="61508127"/>
                    </a:ext>
                  </a:extLst>
                </a:gridCol>
                <a:gridCol w="366712">
                  <a:extLst>
                    <a:ext uri="{9D8B030D-6E8A-4147-A177-3AD203B41FA5}">
                      <a16:colId xmlns:a16="http://schemas.microsoft.com/office/drawing/2014/main" val="3697231158"/>
                    </a:ext>
                  </a:extLst>
                </a:gridCol>
                <a:gridCol w="366712">
                  <a:extLst>
                    <a:ext uri="{9D8B030D-6E8A-4147-A177-3AD203B41FA5}">
                      <a16:colId xmlns:a16="http://schemas.microsoft.com/office/drawing/2014/main" val="2517028253"/>
                    </a:ext>
                  </a:extLst>
                </a:gridCol>
                <a:gridCol w="366712">
                  <a:extLst>
                    <a:ext uri="{9D8B030D-6E8A-4147-A177-3AD203B41FA5}">
                      <a16:colId xmlns:a16="http://schemas.microsoft.com/office/drawing/2014/main" val="7044062"/>
                    </a:ext>
                  </a:extLst>
                </a:gridCol>
                <a:gridCol w="366712">
                  <a:extLst>
                    <a:ext uri="{9D8B030D-6E8A-4147-A177-3AD203B41FA5}">
                      <a16:colId xmlns:a16="http://schemas.microsoft.com/office/drawing/2014/main" val="266605747"/>
                    </a:ext>
                  </a:extLst>
                </a:gridCol>
                <a:gridCol w="366712">
                  <a:extLst>
                    <a:ext uri="{9D8B030D-6E8A-4147-A177-3AD203B41FA5}">
                      <a16:colId xmlns:a16="http://schemas.microsoft.com/office/drawing/2014/main" val="335519539"/>
                    </a:ext>
                  </a:extLst>
                </a:gridCol>
                <a:gridCol w="366712">
                  <a:extLst>
                    <a:ext uri="{9D8B030D-6E8A-4147-A177-3AD203B41FA5}">
                      <a16:colId xmlns:a16="http://schemas.microsoft.com/office/drawing/2014/main" val="2176790291"/>
                    </a:ext>
                  </a:extLst>
                </a:gridCol>
                <a:gridCol w="366712">
                  <a:extLst>
                    <a:ext uri="{9D8B030D-6E8A-4147-A177-3AD203B41FA5}">
                      <a16:colId xmlns:a16="http://schemas.microsoft.com/office/drawing/2014/main" val="3537170093"/>
                    </a:ext>
                  </a:extLst>
                </a:gridCol>
                <a:gridCol w="366712">
                  <a:extLst>
                    <a:ext uri="{9D8B030D-6E8A-4147-A177-3AD203B41FA5}">
                      <a16:colId xmlns:a16="http://schemas.microsoft.com/office/drawing/2014/main" val="75539878"/>
                    </a:ext>
                  </a:extLst>
                </a:gridCol>
                <a:gridCol w="366712">
                  <a:extLst>
                    <a:ext uri="{9D8B030D-6E8A-4147-A177-3AD203B41FA5}">
                      <a16:colId xmlns:a16="http://schemas.microsoft.com/office/drawing/2014/main" val="1918929953"/>
                    </a:ext>
                  </a:extLst>
                </a:gridCol>
                <a:gridCol w="366712">
                  <a:extLst>
                    <a:ext uri="{9D8B030D-6E8A-4147-A177-3AD203B41FA5}">
                      <a16:colId xmlns:a16="http://schemas.microsoft.com/office/drawing/2014/main" val="1029486498"/>
                    </a:ext>
                  </a:extLst>
                </a:gridCol>
                <a:gridCol w="366712">
                  <a:extLst>
                    <a:ext uri="{9D8B030D-6E8A-4147-A177-3AD203B41FA5}">
                      <a16:colId xmlns:a16="http://schemas.microsoft.com/office/drawing/2014/main" val="3018848160"/>
                    </a:ext>
                  </a:extLst>
                </a:gridCol>
                <a:gridCol w="366712">
                  <a:extLst>
                    <a:ext uri="{9D8B030D-6E8A-4147-A177-3AD203B41FA5}">
                      <a16:colId xmlns:a16="http://schemas.microsoft.com/office/drawing/2014/main" val="3448723297"/>
                    </a:ext>
                  </a:extLst>
                </a:gridCol>
                <a:gridCol w="366712">
                  <a:extLst>
                    <a:ext uri="{9D8B030D-6E8A-4147-A177-3AD203B41FA5}">
                      <a16:colId xmlns:a16="http://schemas.microsoft.com/office/drawing/2014/main" val="1666711157"/>
                    </a:ext>
                  </a:extLst>
                </a:gridCol>
                <a:gridCol w="366712">
                  <a:extLst>
                    <a:ext uri="{9D8B030D-6E8A-4147-A177-3AD203B41FA5}">
                      <a16:colId xmlns:a16="http://schemas.microsoft.com/office/drawing/2014/main" val="3277107126"/>
                    </a:ext>
                  </a:extLst>
                </a:gridCol>
                <a:gridCol w="366712">
                  <a:extLst>
                    <a:ext uri="{9D8B030D-6E8A-4147-A177-3AD203B41FA5}">
                      <a16:colId xmlns:a16="http://schemas.microsoft.com/office/drawing/2014/main" val="2818178276"/>
                    </a:ext>
                  </a:extLst>
                </a:gridCol>
                <a:gridCol w="366712">
                  <a:extLst>
                    <a:ext uri="{9D8B030D-6E8A-4147-A177-3AD203B41FA5}">
                      <a16:colId xmlns:a16="http://schemas.microsoft.com/office/drawing/2014/main" val="3780757665"/>
                    </a:ext>
                  </a:extLst>
                </a:gridCol>
              </a:tblGrid>
              <a:tr h="207238">
                <a:tc>
                  <a:txBody>
                    <a:bodyPr/>
                    <a:lstStyle/>
                    <a:p>
                      <a:pPr marL="0" marR="0" algn="ctr">
                        <a:spcBef>
                          <a:spcPts val="0"/>
                        </a:spcBef>
                        <a:spcAft>
                          <a:spcPts val="0"/>
                        </a:spcAft>
                      </a:pPr>
                      <a:r>
                        <a:rPr lang="en-US" sz="1200" b="1" dirty="0">
                          <a:effectLst/>
                          <a:latin typeface="+mn-lt"/>
                        </a:rPr>
                        <a:t> </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solidFill>
                            <a:srgbClr val="00000A"/>
                          </a:solidFill>
                          <a:effectLst/>
                          <a:latin typeface="+mn-lt"/>
                          <a:ea typeface="PMingLiU" panose="02020500000000000000" pitchFamily="18" charset="-120"/>
                        </a:rPr>
                        <a:t>renamed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2</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3</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4</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5</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6</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7</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8</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9</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10</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12</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13</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14</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15</a:t>
                      </a:r>
                      <a:endParaRPr lang="en-US" sz="1200" b="1" dirty="0">
                        <a:solidFill>
                          <a:srgbClr val="00000A"/>
                        </a:solidFill>
                        <a:effectLst/>
                        <a:latin typeface="+mn-lt"/>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16</a:t>
                      </a:r>
                      <a:endParaRPr lang="en-US" sz="1200" b="1" dirty="0">
                        <a:solidFill>
                          <a:srgbClr val="00000A"/>
                        </a:solidFill>
                        <a:effectLst/>
                        <a:latin typeface="+mn-lt"/>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15291865"/>
                  </a:ext>
                </a:extLst>
              </a:tr>
              <a:tr h="241810">
                <a:tc>
                  <a:txBody>
                    <a:bodyPr/>
                    <a:lstStyle/>
                    <a:p>
                      <a:pPr marL="0" marR="0" algn="ctr">
                        <a:spcBef>
                          <a:spcPts val="0"/>
                        </a:spcBef>
                        <a:spcAft>
                          <a:spcPts val="0"/>
                        </a:spcAft>
                      </a:pPr>
                      <a:r>
                        <a:rPr lang="en-US" sz="1200" b="1" dirty="0" err="1">
                          <a:effectLst/>
                          <a:latin typeface="+mn-lt"/>
                        </a:rPr>
                        <a:t>lw</a:t>
                      </a:r>
                      <a:r>
                        <a:rPr lang="en-US" sz="1200" b="1" dirty="0">
                          <a:effectLst/>
                          <a:latin typeface="+mn-lt"/>
                        </a:rPr>
                        <a:t> $t0, 0($t1)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lw</a:t>
                      </a:r>
                      <a:r>
                        <a:rPr lang="en-US" sz="1200" b="1" dirty="0">
                          <a:solidFill>
                            <a:srgbClr val="00000A"/>
                          </a:solidFill>
                          <a:effectLst/>
                          <a:latin typeface="+mn-lt"/>
                          <a:ea typeface="PMingLiU" panose="02020500000000000000" pitchFamily="18" charset="-120"/>
                        </a:rPr>
                        <a:t> P7, 0(P1)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4419978"/>
                  </a:ext>
                </a:extLst>
              </a:tr>
              <a:tr h="241810">
                <a:tc>
                  <a:txBody>
                    <a:bodyPr/>
                    <a:lstStyle/>
                    <a:p>
                      <a:pPr marL="0" marR="0" algn="ctr">
                        <a:spcBef>
                          <a:spcPts val="0"/>
                        </a:spcBef>
                        <a:spcAft>
                          <a:spcPts val="0"/>
                        </a:spcAft>
                      </a:pPr>
                      <a:r>
                        <a:rPr lang="en-US" sz="1200" b="1" dirty="0">
                          <a:effectLst/>
                          <a:latin typeface="+mn-lt"/>
                        </a:rPr>
                        <a:t>sub $t2, $t3, $t0</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solidFill>
                            <a:srgbClr val="00000A"/>
                          </a:solidFill>
                          <a:effectLst/>
                          <a:latin typeface="+mn-lt"/>
                          <a:ea typeface="PMingLiU" panose="02020500000000000000" pitchFamily="18" charset="-120"/>
                        </a:rPr>
                        <a:t>sub P8, P3, P7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3865937"/>
                  </a:ext>
                </a:extLst>
              </a:tr>
              <a:tr h="241810">
                <a:tc>
                  <a:txBody>
                    <a:bodyPr/>
                    <a:lstStyle/>
                    <a:p>
                      <a:pPr marL="0" marR="0" algn="ctr">
                        <a:spcBef>
                          <a:spcPts val="0"/>
                        </a:spcBef>
                        <a:spcAft>
                          <a:spcPts val="0"/>
                        </a:spcAft>
                      </a:pPr>
                      <a:r>
                        <a:rPr lang="en-US" sz="1200" b="1" dirty="0" err="1">
                          <a:effectLst/>
                          <a:latin typeface="+mn-lt"/>
                        </a:rPr>
                        <a:t>addi</a:t>
                      </a:r>
                      <a:r>
                        <a:rPr lang="en-US" sz="1200" b="1" dirty="0">
                          <a:effectLst/>
                          <a:latin typeface="+mn-lt"/>
                        </a:rPr>
                        <a:t> $t3, $t4, 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addi</a:t>
                      </a:r>
                      <a:r>
                        <a:rPr lang="en-US" sz="1200" b="1" dirty="0">
                          <a:solidFill>
                            <a:srgbClr val="00000A"/>
                          </a:solidFill>
                          <a:effectLst/>
                          <a:latin typeface="+mn-lt"/>
                          <a:ea typeface="PMingLiU" panose="02020500000000000000" pitchFamily="18" charset="-120"/>
                        </a:rPr>
                        <a:t> P9, P4, 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3686573"/>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$t4, 0($t1)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P4, 0(P1)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5095708"/>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$t5, 4($t1)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P5, 4(P1)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9233904"/>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ori</a:t>
                      </a:r>
                      <a:r>
                        <a:rPr lang="en-US" sz="1200" b="1" dirty="0">
                          <a:solidFill>
                            <a:srgbClr val="00000A"/>
                          </a:solidFill>
                          <a:effectLst/>
                          <a:latin typeface="+mn-lt"/>
                          <a:ea typeface="PMingLiU" panose="02020500000000000000" pitchFamily="18" charset="-120"/>
                        </a:rPr>
                        <a:t> $t6, $t6, 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ori</a:t>
                      </a:r>
                      <a:r>
                        <a:rPr lang="en-US" sz="1200" b="1" dirty="0">
                          <a:solidFill>
                            <a:srgbClr val="00000A"/>
                          </a:solidFill>
                          <a:effectLst/>
                          <a:latin typeface="+mn-lt"/>
                          <a:ea typeface="PMingLiU" panose="02020500000000000000" pitchFamily="18" charset="-120"/>
                        </a:rPr>
                        <a:t> P3, P6, 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123339"/>
                  </a:ext>
                </a:extLst>
              </a:tr>
            </a:tbl>
          </a:graphicData>
        </a:graphic>
      </p:graphicFrame>
      <p:sp>
        <p:nvSpPr>
          <p:cNvPr id="3" name="Rectangle 3">
            <a:extLst>
              <a:ext uri="{FF2B5EF4-FFF2-40B4-BE49-F238E27FC236}">
                <a16:creationId xmlns:a16="http://schemas.microsoft.com/office/drawing/2014/main" id="{8DCE6F35-5F3E-EC57-A89B-3F649F9DC857}"/>
              </a:ext>
            </a:extLst>
          </p:cNvPr>
          <p:cNvSpPr txBox="1">
            <a:spLocks noChangeArrowheads="1"/>
          </p:cNvSpPr>
          <p:nvPr/>
        </p:nvSpPr>
        <p:spPr bwMode="auto">
          <a:xfrm>
            <a:off x="4114800" y="3323851"/>
            <a:ext cx="914400" cy="2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frees P3</a:t>
            </a:r>
            <a:endParaRPr lang="en-US" altLang="en-US" sz="1400" b="1" dirty="0">
              <a:solidFill>
                <a:schemeClr val="accent6">
                  <a:lumMod val="75000"/>
                </a:schemeClr>
              </a:solidFill>
            </a:endParaRPr>
          </a:p>
        </p:txBody>
      </p:sp>
      <p:cxnSp>
        <p:nvCxnSpPr>
          <p:cNvPr id="5" name="Straight Connector 4">
            <a:extLst>
              <a:ext uri="{FF2B5EF4-FFF2-40B4-BE49-F238E27FC236}">
                <a16:creationId xmlns:a16="http://schemas.microsoft.com/office/drawing/2014/main" id="{001F3CD7-1E12-E8C2-954D-40228276BC19}"/>
              </a:ext>
            </a:extLst>
          </p:cNvPr>
          <p:cNvCxnSpPr>
            <a:cxnSpLocks/>
          </p:cNvCxnSpPr>
          <p:nvPr/>
        </p:nvCxnSpPr>
        <p:spPr>
          <a:xfrm flipH="1" flipV="1">
            <a:off x="4800600" y="3570753"/>
            <a:ext cx="685800" cy="101039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61AE461-6F66-3262-882D-7151FCFDDB83}"/>
              </a:ext>
            </a:extLst>
          </p:cNvPr>
          <p:cNvSpPr txBox="1">
            <a:spLocks noChangeArrowheads="1"/>
          </p:cNvSpPr>
          <p:nvPr/>
        </p:nvSpPr>
        <p:spPr bwMode="auto">
          <a:xfrm>
            <a:off x="5461247" y="5596777"/>
            <a:ext cx="1286522" cy="2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writes to P3</a:t>
            </a:r>
            <a:endParaRPr lang="en-US" altLang="en-US" sz="1400" b="1" dirty="0">
              <a:solidFill>
                <a:schemeClr val="accent6">
                  <a:lumMod val="75000"/>
                </a:schemeClr>
              </a:solidFill>
            </a:endParaRPr>
          </a:p>
        </p:txBody>
      </p:sp>
      <p:cxnSp>
        <p:nvCxnSpPr>
          <p:cNvPr id="6" name="Straight Connector 5">
            <a:extLst>
              <a:ext uri="{FF2B5EF4-FFF2-40B4-BE49-F238E27FC236}">
                <a16:creationId xmlns:a16="http://schemas.microsoft.com/office/drawing/2014/main" id="{D96E3686-C92D-CD61-8D3D-6AD720696A62}"/>
              </a:ext>
            </a:extLst>
          </p:cNvPr>
          <p:cNvCxnSpPr>
            <a:cxnSpLocks/>
          </p:cNvCxnSpPr>
          <p:nvPr/>
        </p:nvCxnSpPr>
        <p:spPr>
          <a:xfrm flipV="1">
            <a:off x="6248400" y="5356194"/>
            <a:ext cx="380998" cy="28058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1F023455-A5FB-3153-6413-26D5D11A5995}"/>
              </a:ext>
            </a:extLst>
          </p:cNvPr>
          <p:cNvSpPr txBox="1">
            <a:spLocks noChangeArrowheads="1"/>
          </p:cNvSpPr>
          <p:nvPr/>
        </p:nvSpPr>
        <p:spPr bwMode="auto">
          <a:xfrm>
            <a:off x="7391400" y="3376426"/>
            <a:ext cx="1524000" cy="2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reads wrong P3</a:t>
            </a:r>
            <a:endParaRPr lang="en-US" altLang="en-US" sz="1400" b="1" dirty="0">
              <a:solidFill>
                <a:schemeClr val="accent6">
                  <a:lumMod val="75000"/>
                </a:schemeClr>
              </a:solidFill>
            </a:endParaRPr>
          </a:p>
        </p:txBody>
      </p:sp>
      <p:cxnSp>
        <p:nvCxnSpPr>
          <p:cNvPr id="8" name="Straight Connector 7">
            <a:extLst>
              <a:ext uri="{FF2B5EF4-FFF2-40B4-BE49-F238E27FC236}">
                <a16:creationId xmlns:a16="http://schemas.microsoft.com/office/drawing/2014/main" id="{D1E8C89A-AD39-76D6-8047-38EE9ADC9963}"/>
              </a:ext>
            </a:extLst>
          </p:cNvPr>
          <p:cNvCxnSpPr>
            <a:cxnSpLocks/>
          </p:cNvCxnSpPr>
          <p:nvPr/>
        </p:nvCxnSpPr>
        <p:spPr>
          <a:xfrm flipH="1">
            <a:off x="7124700" y="3632327"/>
            <a:ext cx="647700" cy="697865"/>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804138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MIPS R10K</a:t>
            </a:r>
          </a:p>
        </p:txBody>
      </p:sp>
      <p:sp>
        <p:nvSpPr>
          <p:cNvPr id="39941" name="Rectangle 3"/>
          <p:cNvSpPr>
            <a:spLocks noGrp="1" noChangeArrowheads="1"/>
          </p:cNvSpPr>
          <p:nvPr>
            <p:ph idx="1"/>
          </p:nvPr>
        </p:nvSpPr>
        <p:spPr>
          <a:xfrm>
            <a:off x="457200" y="1295400"/>
            <a:ext cx="8686800" cy="2133600"/>
          </a:xfrm>
        </p:spPr>
        <p:txBody>
          <a:bodyPr/>
          <a:lstStyle/>
          <a:p>
            <a:pPr marL="0" indent="0">
              <a:buNone/>
            </a:pPr>
            <a:r>
              <a:rPr lang="en-US" altLang="en-US" sz="2400" dirty="0"/>
              <a:t>In our </a:t>
            </a:r>
            <a:r>
              <a:rPr lang="en-US" altLang="en-US" sz="2400" b="1" dirty="0"/>
              <a:t>MIPS R10K-like processor</a:t>
            </a:r>
            <a:r>
              <a:rPr lang="en-US" altLang="en-US" sz="2400" dirty="0"/>
              <a:t>, old physical registers are </a:t>
            </a:r>
            <a:r>
              <a:rPr lang="en-US" altLang="en-US" sz="2400" b="1" dirty="0"/>
              <a:t>freed</a:t>
            </a:r>
            <a:r>
              <a:rPr lang="en-US" altLang="en-US" sz="2400" dirty="0"/>
              <a:t> at the end of the R stage. If they were freed at C instead, then _</a:t>
            </a:r>
            <a:r>
              <a:rPr lang="en-US" altLang="en-US" sz="2400" b="1" u="sng" dirty="0">
                <a:solidFill>
                  <a:schemeClr val="accent6">
                    <a:lumMod val="75000"/>
                  </a:schemeClr>
                </a:solidFill>
              </a:rPr>
              <a:t>younger</a:t>
            </a:r>
            <a:r>
              <a:rPr lang="en-US" altLang="en-US" sz="2400" dirty="0"/>
              <a:t>_ [</a:t>
            </a:r>
            <a:r>
              <a:rPr lang="en-US" altLang="en-US" sz="2400" i="1" dirty="0"/>
              <a:t>older/younger</a:t>
            </a:r>
            <a:r>
              <a:rPr lang="en-US" altLang="en-US" sz="2400" dirty="0"/>
              <a:t>] instructions can erroneously _</a:t>
            </a:r>
            <a:r>
              <a:rPr lang="en-US" altLang="en-US" sz="2400" b="1" u="sng" dirty="0">
                <a:solidFill>
                  <a:schemeClr val="accent6">
                    <a:lumMod val="75000"/>
                  </a:schemeClr>
                </a:solidFill>
              </a:rPr>
              <a:t>write to</a:t>
            </a:r>
            <a:r>
              <a:rPr lang="en-US" altLang="en-US" sz="2400" dirty="0"/>
              <a:t>_ [</a:t>
            </a:r>
            <a:r>
              <a:rPr lang="en-US" altLang="en-US" sz="2400" i="1" dirty="0"/>
              <a:t>read from/write to</a:t>
            </a:r>
            <a:r>
              <a:rPr lang="en-US" altLang="en-US" sz="2400" dirty="0"/>
              <a:t>] registers that still have yet to be ___</a:t>
            </a:r>
            <a:r>
              <a:rPr lang="en-US" altLang="en-US" sz="2400" b="1" u="sng" dirty="0">
                <a:solidFill>
                  <a:schemeClr val="accent6">
                    <a:lumMod val="75000"/>
                  </a:schemeClr>
                </a:solidFill>
              </a:rPr>
              <a:t>read</a:t>
            </a:r>
            <a:r>
              <a:rPr lang="en-US" altLang="en-US" sz="2400" dirty="0"/>
              <a:t>___ [</a:t>
            </a:r>
            <a:r>
              <a:rPr lang="en-US" altLang="en-US" sz="2400" i="1" dirty="0"/>
              <a:t>read/written</a:t>
            </a:r>
            <a:r>
              <a:rPr lang="en-US" altLang="en-US" sz="2400" dirty="0"/>
              <a:t>] by __</a:t>
            </a:r>
            <a:r>
              <a:rPr lang="en-US" altLang="en-US" sz="2400" b="1" u="sng" dirty="0">
                <a:solidFill>
                  <a:schemeClr val="accent6">
                    <a:lumMod val="75000"/>
                  </a:schemeClr>
                </a:solidFill>
              </a:rPr>
              <a:t>older</a:t>
            </a:r>
            <a:r>
              <a:rPr lang="en-US" altLang="en-US" sz="2400" dirty="0"/>
              <a:t>__ [</a:t>
            </a:r>
            <a:r>
              <a:rPr lang="en-US" altLang="en-US" sz="2400" i="1" dirty="0"/>
              <a:t>older/younger</a:t>
            </a:r>
            <a:r>
              <a:rPr lang="en-US" altLang="en-US" sz="2400" dirty="0"/>
              <a:t>] instructions.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29</a:t>
            </a:fld>
            <a:endParaRPr lang="en-US" altLang="en-US"/>
          </a:p>
        </p:txBody>
      </p:sp>
      <p:graphicFrame>
        <p:nvGraphicFramePr>
          <p:cNvPr id="2" name="Table 1">
            <a:extLst>
              <a:ext uri="{FF2B5EF4-FFF2-40B4-BE49-F238E27FC236}">
                <a16:creationId xmlns:a16="http://schemas.microsoft.com/office/drawing/2014/main" id="{7FAA6B4D-EEB4-D6A1-30E5-5DBEAAF53F2F}"/>
              </a:ext>
            </a:extLst>
          </p:cNvPr>
          <p:cNvGraphicFramePr>
            <a:graphicFrameLocks noGrp="1"/>
          </p:cNvGraphicFramePr>
          <p:nvPr/>
        </p:nvGraphicFramePr>
        <p:xfrm>
          <a:off x="457204" y="3752102"/>
          <a:ext cx="8229592" cy="1658098"/>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3115574416"/>
                    </a:ext>
                  </a:extLst>
                </a:gridCol>
                <a:gridCol w="1143000">
                  <a:extLst>
                    <a:ext uri="{9D8B030D-6E8A-4147-A177-3AD203B41FA5}">
                      <a16:colId xmlns:a16="http://schemas.microsoft.com/office/drawing/2014/main" val="61508127"/>
                    </a:ext>
                  </a:extLst>
                </a:gridCol>
                <a:gridCol w="366712">
                  <a:extLst>
                    <a:ext uri="{9D8B030D-6E8A-4147-A177-3AD203B41FA5}">
                      <a16:colId xmlns:a16="http://schemas.microsoft.com/office/drawing/2014/main" val="3697231158"/>
                    </a:ext>
                  </a:extLst>
                </a:gridCol>
                <a:gridCol w="366712">
                  <a:extLst>
                    <a:ext uri="{9D8B030D-6E8A-4147-A177-3AD203B41FA5}">
                      <a16:colId xmlns:a16="http://schemas.microsoft.com/office/drawing/2014/main" val="2517028253"/>
                    </a:ext>
                  </a:extLst>
                </a:gridCol>
                <a:gridCol w="366712">
                  <a:extLst>
                    <a:ext uri="{9D8B030D-6E8A-4147-A177-3AD203B41FA5}">
                      <a16:colId xmlns:a16="http://schemas.microsoft.com/office/drawing/2014/main" val="7044062"/>
                    </a:ext>
                  </a:extLst>
                </a:gridCol>
                <a:gridCol w="366712">
                  <a:extLst>
                    <a:ext uri="{9D8B030D-6E8A-4147-A177-3AD203B41FA5}">
                      <a16:colId xmlns:a16="http://schemas.microsoft.com/office/drawing/2014/main" val="266605747"/>
                    </a:ext>
                  </a:extLst>
                </a:gridCol>
                <a:gridCol w="366712">
                  <a:extLst>
                    <a:ext uri="{9D8B030D-6E8A-4147-A177-3AD203B41FA5}">
                      <a16:colId xmlns:a16="http://schemas.microsoft.com/office/drawing/2014/main" val="335519539"/>
                    </a:ext>
                  </a:extLst>
                </a:gridCol>
                <a:gridCol w="366712">
                  <a:extLst>
                    <a:ext uri="{9D8B030D-6E8A-4147-A177-3AD203B41FA5}">
                      <a16:colId xmlns:a16="http://schemas.microsoft.com/office/drawing/2014/main" val="2176790291"/>
                    </a:ext>
                  </a:extLst>
                </a:gridCol>
                <a:gridCol w="366712">
                  <a:extLst>
                    <a:ext uri="{9D8B030D-6E8A-4147-A177-3AD203B41FA5}">
                      <a16:colId xmlns:a16="http://schemas.microsoft.com/office/drawing/2014/main" val="3537170093"/>
                    </a:ext>
                  </a:extLst>
                </a:gridCol>
                <a:gridCol w="366712">
                  <a:extLst>
                    <a:ext uri="{9D8B030D-6E8A-4147-A177-3AD203B41FA5}">
                      <a16:colId xmlns:a16="http://schemas.microsoft.com/office/drawing/2014/main" val="75539878"/>
                    </a:ext>
                  </a:extLst>
                </a:gridCol>
                <a:gridCol w="366712">
                  <a:extLst>
                    <a:ext uri="{9D8B030D-6E8A-4147-A177-3AD203B41FA5}">
                      <a16:colId xmlns:a16="http://schemas.microsoft.com/office/drawing/2014/main" val="1918929953"/>
                    </a:ext>
                  </a:extLst>
                </a:gridCol>
                <a:gridCol w="366712">
                  <a:extLst>
                    <a:ext uri="{9D8B030D-6E8A-4147-A177-3AD203B41FA5}">
                      <a16:colId xmlns:a16="http://schemas.microsoft.com/office/drawing/2014/main" val="1029486498"/>
                    </a:ext>
                  </a:extLst>
                </a:gridCol>
                <a:gridCol w="366712">
                  <a:extLst>
                    <a:ext uri="{9D8B030D-6E8A-4147-A177-3AD203B41FA5}">
                      <a16:colId xmlns:a16="http://schemas.microsoft.com/office/drawing/2014/main" val="3018848160"/>
                    </a:ext>
                  </a:extLst>
                </a:gridCol>
                <a:gridCol w="366712">
                  <a:extLst>
                    <a:ext uri="{9D8B030D-6E8A-4147-A177-3AD203B41FA5}">
                      <a16:colId xmlns:a16="http://schemas.microsoft.com/office/drawing/2014/main" val="3448723297"/>
                    </a:ext>
                  </a:extLst>
                </a:gridCol>
                <a:gridCol w="366712">
                  <a:extLst>
                    <a:ext uri="{9D8B030D-6E8A-4147-A177-3AD203B41FA5}">
                      <a16:colId xmlns:a16="http://schemas.microsoft.com/office/drawing/2014/main" val="1666711157"/>
                    </a:ext>
                  </a:extLst>
                </a:gridCol>
                <a:gridCol w="366712">
                  <a:extLst>
                    <a:ext uri="{9D8B030D-6E8A-4147-A177-3AD203B41FA5}">
                      <a16:colId xmlns:a16="http://schemas.microsoft.com/office/drawing/2014/main" val="3277107126"/>
                    </a:ext>
                  </a:extLst>
                </a:gridCol>
                <a:gridCol w="366712">
                  <a:extLst>
                    <a:ext uri="{9D8B030D-6E8A-4147-A177-3AD203B41FA5}">
                      <a16:colId xmlns:a16="http://schemas.microsoft.com/office/drawing/2014/main" val="2818178276"/>
                    </a:ext>
                  </a:extLst>
                </a:gridCol>
                <a:gridCol w="366712">
                  <a:extLst>
                    <a:ext uri="{9D8B030D-6E8A-4147-A177-3AD203B41FA5}">
                      <a16:colId xmlns:a16="http://schemas.microsoft.com/office/drawing/2014/main" val="3780757665"/>
                    </a:ext>
                  </a:extLst>
                </a:gridCol>
              </a:tblGrid>
              <a:tr h="207238">
                <a:tc>
                  <a:txBody>
                    <a:bodyPr/>
                    <a:lstStyle/>
                    <a:p>
                      <a:pPr marL="0" marR="0" algn="ctr">
                        <a:spcBef>
                          <a:spcPts val="0"/>
                        </a:spcBef>
                        <a:spcAft>
                          <a:spcPts val="0"/>
                        </a:spcAft>
                      </a:pPr>
                      <a:r>
                        <a:rPr lang="en-US" sz="1200" b="1" dirty="0">
                          <a:effectLst/>
                          <a:latin typeface="+mn-lt"/>
                        </a:rPr>
                        <a:t> </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solidFill>
                            <a:srgbClr val="00000A"/>
                          </a:solidFill>
                          <a:effectLst/>
                          <a:latin typeface="+mn-lt"/>
                          <a:ea typeface="PMingLiU" panose="02020500000000000000" pitchFamily="18" charset="-120"/>
                        </a:rPr>
                        <a:t>renamed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2</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3</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4</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5</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6</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7</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8</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9</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a:effectLst/>
                          <a:latin typeface="+mn-lt"/>
                        </a:rPr>
                        <a:t>10</a:t>
                      </a:r>
                      <a:endParaRPr lang="en-US" sz="1200" b="1">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12</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13</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14</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15</a:t>
                      </a:r>
                      <a:endParaRPr lang="en-US" sz="1200" b="1" dirty="0">
                        <a:solidFill>
                          <a:srgbClr val="00000A"/>
                        </a:solidFill>
                        <a:effectLst/>
                        <a:latin typeface="+mn-lt"/>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effectLst/>
                          <a:latin typeface="+mn-lt"/>
                        </a:rPr>
                        <a:t>16</a:t>
                      </a:r>
                      <a:endParaRPr lang="en-US" sz="1200" b="1" dirty="0">
                        <a:solidFill>
                          <a:srgbClr val="00000A"/>
                        </a:solidFill>
                        <a:effectLst/>
                        <a:latin typeface="+mn-lt"/>
                        <a:ea typeface="PMingLiU" panose="02020500000000000000" pitchFamily="18" charset="-12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15291865"/>
                  </a:ext>
                </a:extLst>
              </a:tr>
              <a:tr h="241810">
                <a:tc>
                  <a:txBody>
                    <a:bodyPr/>
                    <a:lstStyle/>
                    <a:p>
                      <a:pPr marL="0" marR="0" algn="ctr">
                        <a:spcBef>
                          <a:spcPts val="0"/>
                        </a:spcBef>
                        <a:spcAft>
                          <a:spcPts val="0"/>
                        </a:spcAft>
                      </a:pPr>
                      <a:r>
                        <a:rPr lang="en-US" sz="1200" b="1" dirty="0" err="1">
                          <a:effectLst/>
                          <a:latin typeface="+mn-lt"/>
                        </a:rPr>
                        <a:t>lw</a:t>
                      </a:r>
                      <a:r>
                        <a:rPr lang="en-US" sz="1200" b="1" dirty="0">
                          <a:effectLst/>
                          <a:latin typeface="+mn-lt"/>
                        </a:rPr>
                        <a:t> $t0, 0($t1)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lw</a:t>
                      </a:r>
                      <a:r>
                        <a:rPr lang="en-US" sz="1200" b="1" dirty="0">
                          <a:solidFill>
                            <a:srgbClr val="00000A"/>
                          </a:solidFill>
                          <a:effectLst/>
                          <a:latin typeface="+mn-lt"/>
                          <a:ea typeface="PMingLiU" panose="02020500000000000000" pitchFamily="18" charset="-120"/>
                        </a:rPr>
                        <a:t> P7, 0(P1)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4419978"/>
                  </a:ext>
                </a:extLst>
              </a:tr>
              <a:tr h="241810">
                <a:tc>
                  <a:txBody>
                    <a:bodyPr/>
                    <a:lstStyle/>
                    <a:p>
                      <a:pPr marL="0" marR="0" algn="ctr">
                        <a:spcBef>
                          <a:spcPts val="0"/>
                        </a:spcBef>
                        <a:spcAft>
                          <a:spcPts val="0"/>
                        </a:spcAft>
                      </a:pPr>
                      <a:r>
                        <a:rPr lang="en-US" sz="1200" b="1" dirty="0">
                          <a:effectLst/>
                          <a:latin typeface="+mn-lt"/>
                        </a:rPr>
                        <a:t>sub $t2, $t3, $t0</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a:solidFill>
                            <a:srgbClr val="00000A"/>
                          </a:solidFill>
                          <a:effectLst/>
                          <a:latin typeface="+mn-lt"/>
                          <a:ea typeface="PMingLiU" panose="02020500000000000000" pitchFamily="18" charset="-120"/>
                        </a:rPr>
                        <a:t>sub P8, P3, P7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3865937"/>
                  </a:ext>
                </a:extLst>
              </a:tr>
              <a:tr h="241810">
                <a:tc>
                  <a:txBody>
                    <a:bodyPr/>
                    <a:lstStyle/>
                    <a:p>
                      <a:pPr marL="0" marR="0" algn="ctr">
                        <a:spcBef>
                          <a:spcPts val="0"/>
                        </a:spcBef>
                        <a:spcAft>
                          <a:spcPts val="0"/>
                        </a:spcAft>
                      </a:pPr>
                      <a:r>
                        <a:rPr lang="en-US" sz="1200" b="1" dirty="0" err="1">
                          <a:effectLst/>
                          <a:latin typeface="+mn-lt"/>
                        </a:rPr>
                        <a:t>addi</a:t>
                      </a:r>
                      <a:r>
                        <a:rPr lang="en-US" sz="1200" b="1" dirty="0">
                          <a:effectLst/>
                          <a:latin typeface="+mn-lt"/>
                        </a:rPr>
                        <a:t> $t3, $t4, 1</a:t>
                      </a:r>
                      <a:endParaRPr lang="en-US" sz="1200" b="1"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addi</a:t>
                      </a:r>
                      <a:r>
                        <a:rPr lang="en-US" sz="1200" b="1" dirty="0">
                          <a:solidFill>
                            <a:srgbClr val="00000A"/>
                          </a:solidFill>
                          <a:effectLst/>
                          <a:latin typeface="+mn-lt"/>
                          <a:ea typeface="PMingLiU" panose="02020500000000000000" pitchFamily="18" charset="-120"/>
                        </a:rPr>
                        <a:t> P9, P4, 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3686573"/>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$t4, 0($t1)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P4, 0(P1)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5095708"/>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$t5, 4($t1)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sw</a:t>
                      </a:r>
                      <a:r>
                        <a:rPr lang="en-US" sz="1200" b="1" dirty="0">
                          <a:solidFill>
                            <a:srgbClr val="00000A"/>
                          </a:solidFill>
                          <a:effectLst/>
                          <a:latin typeface="+mn-lt"/>
                          <a:ea typeface="PMingLiU" panose="02020500000000000000" pitchFamily="18" charset="-120"/>
                        </a:rPr>
                        <a:t> P5, 4(P1)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9233904"/>
                  </a:ext>
                </a:extLst>
              </a:tr>
              <a:tr h="241810">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ori</a:t>
                      </a:r>
                      <a:r>
                        <a:rPr lang="en-US" sz="1200" b="1" dirty="0">
                          <a:solidFill>
                            <a:srgbClr val="00000A"/>
                          </a:solidFill>
                          <a:effectLst/>
                          <a:latin typeface="+mn-lt"/>
                          <a:ea typeface="PMingLiU" panose="02020500000000000000" pitchFamily="18" charset="-120"/>
                        </a:rPr>
                        <a:t> $t6, $t6, 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1200" b="1" dirty="0" err="1">
                          <a:solidFill>
                            <a:srgbClr val="00000A"/>
                          </a:solidFill>
                          <a:effectLst/>
                          <a:latin typeface="+mn-lt"/>
                          <a:ea typeface="PMingLiU" panose="02020500000000000000" pitchFamily="18" charset="-120"/>
                        </a:rPr>
                        <a:t>ori</a:t>
                      </a:r>
                      <a:r>
                        <a:rPr lang="en-US" sz="1200" b="1" dirty="0">
                          <a:solidFill>
                            <a:srgbClr val="00000A"/>
                          </a:solidFill>
                          <a:effectLst/>
                          <a:latin typeface="+mn-lt"/>
                          <a:ea typeface="PMingLiU" panose="02020500000000000000" pitchFamily="18" charset="-120"/>
                        </a:rPr>
                        <a:t> P3, P6, 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endParaRPr lang="en-US" sz="1200" b="0" dirty="0">
                        <a:solidFill>
                          <a:srgbClr val="00000A"/>
                        </a:solidFill>
                        <a:effectLst/>
                        <a:latin typeface="+mn-lt"/>
                        <a:ea typeface="PMingLiU" panose="02020500000000000000" pitchFamily="18"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F</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Di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200" b="0" dirty="0">
                          <a:solidFill>
                            <a:srgbClr val="00000A"/>
                          </a:solidFill>
                          <a:effectLst/>
                          <a:latin typeface="+mn-lt"/>
                          <a:ea typeface="PMingLiU" panose="02020500000000000000" pitchFamily="18" charset="-120"/>
                        </a:rPr>
                        <a:t>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123339"/>
                  </a:ext>
                </a:extLst>
              </a:tr>
            </a:tbl>
          </a:graphicData>
        </a:graphic>
      </p:graphicFrame>
      <p:sp>
        <p:nvSpPr>
          <p:cNvPr id="3" name="Rectangle 3">
            <a:extLst>
              <a:ext uri="{FF2B5EF4-FFF2-40B4-BE49-F238E27FC236}">
                <a16:creationId xmlns:a16="http://schemas.microsoft.com/office/drawing/2014/main" id="{8DCE6F35-5F3E-EC57-A89B-3F649F9DC857}"/>
              </a:ext>
            </a:extLst>
          </p:cNvPr>
          <p:cNvSpPr txBox="1">
            <a:spLocks noChangeArrowheads="1"/>
          </p:cNvSpPr>
          <p:nvPr/>
        </p:nvSpPr>
        <p:spPr bwMode="auto">
          <a:xfrm>
            <a:off x="4114800" y="3323851"/>
            <a:ext cx="914400" cy="2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frees P3</a:t>
            </a:r>
            <a:endParaRPr lang="en-US" altLang="en-US" sz="1400" b="1" dirty="0">
              <a:solidFill>
                <a:schemeClr val="accent6">
                  <a:lumMod val="75000"/>
                </a:schemeClr>
              </a:solidFill>
            </a:endParaRPr>
          </a:p>
        </p:txBody>
      </p:sp>
      <p:cxnSp>
        <p:nvCxnSpPr>
          <p:cNvPr id="5" name="Straight Connector 4">
            <a:extLst>
              <a:ext uri="{FF2B5EF4-FFF2-40B4-BE49-F238E27FC236}">
                <a16:creationId xmlns:a16="http://schemas.microsoft.com/office/drawing/2014/main" id="{001F3CD7-1E12-E8C2-954D-40228276BC19}"/>
              </a:ext>
            </a:extLst>
          </p:cNvPr>
          <p:cNvCxnSpPr>
            <a:cxnSpLocks/>
          </p:cNvCxnSpPr>
          <p:nvPr/>
        </p:nvCxnSpPr>
        <p:spPr>
          <a:xfrm flipH="1" flipV="1">
            <a:off x="4800600" y="3570753"/>
            <a:ext cx="685800" cy="101039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61AE461-6F66-3262-882D-7151FCFDDB83}"/>
              </a:ext>
            </a:extLst>
          </p:cNvPr>
          <p:cNvSpPr txBox="1">
            <a:spLocks noChangeArrowheads="1"/>
          </p:cNvSpPr>
          <p:nvPr/>
        </p:nvSpPr>
        <p:spPr bwMode="auto">
          <a:xfrm>
            <a:off x="5461247" y="5596777"/>
            <a:ext cx="1286522" cy="2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writes to P3</a:t>
            </a:r>
            <a:endParaRPr lang="en-US" altLang="en-US" sz="1400" b="1" dirty="0">
              <a:solidFill>
                <a:schemeClr val="accent6">
                  <a:lumMod val="75000"/>
                </a:schemeClr>
              </a:solidFill>
            </a:endParaRPr>
          </a:p>
        </p:txBody>
      </p:sp>
      <p:cxnSp>
        <p:nvCxnSpPr>
          <p:cNvPr id="6" name="Straight Connector 5">
            <a:extLst>
              <a:ext uri="{FF2B5EF4-FFF2-40B4-BE49-F238E27FC236}">
                <a16:creationId xmlns:a16="http://schemas.microsoft.com/office/drawing/2014/main" id="{D96E3686-C92D-CD61-8D3D-6AD720696A62}"/>
              </a:ext>
            </a:extLst>
          </p:cNvPr>
          <p:cNvCxnSpPr>
            <a:cxnSpLocks/>
          </p:cNvCxnSpPr>
          <p:nvPr/>
        </p:nvCxnSpPr>
        <p:spPr>
          <a:xfrm flipV="1">
            <a:off x="6248400" y="5356194"/>
            <a:ext cx="380998" cy="28058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1F023455-A5FB-3153-6413-26D5D11A5995}"/>
              </a:ext>
            </a:extLst>
          </p:cNvPr>
          <p:cNvSpPr txBox="1">
            <a:spLocks noChangeArrowheads="1"/>
          </p:cNvSpPr>
          <p:nvPr/>
        </p:nvSpPr>
        <p:spPr bwMode="auto">
          <a:xfrm>
            <a:off x="7391400" y="3376426"/>
            <a:ext cx="1524000" cy="2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1600" b="1" dirty="0">
                <a:solidFill>
                  <a:schemeClr val="accent6">
                    <a:lumMod val="75000"/>
                  </a:schemeClr>
                </a:solidFill>
              </a:rPr>
              <a:t>reads wrong P3</a:t>
            </a:r>
            <a:endParaRPr lang="en-US" altLang="en-US" sz="1400" b="1" dirty="0">
              <a:solidFill>
                <a:schemeClr val="accent6">
                  <a:lumMod val="75000"/>
                </a:schemeClr>
              </a:solidFill>
            </a:endParaRPr>
          </a:p>
        </p:txBody>
      </p:sp>
      <p:cxnSp>
        <p:nvCxnSpPr>
          <p:cNvPr id="8" name="Straight Connector 7">
            <a:extLst>
              <a:ext uri="{FF2B5EF4-FFF2-40B4-BE49-F238E27FC236}">
                <a16:creationId xmlns:a16="http://schemas.microsoft.com/office/drawing/2014/main" id="{D1E8C89A-AD39-76D6-8047-38EE9ADC9963}"/>
              </a:ext>
            </a:extLst>
          </p:cNvPr>
          <p:cNvCxnSpPr>
            <a:cxnSpLocks/>
          </p:cNvCxnSpPr>
          <p:nvPr/>
        </p:nvCxnSpPr>
        <p:spPr>
          <a:xfrm flipH="1">
            <a:off x="7124700" y="3632327"/>
            <a:ext cx="647700" cy="697865"/>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928193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D81CF-5977-5089-106B-0B2BDE13BA51}"/>
              </a:ext>
            </a:extLst>
          </p:cNvPr>
          <p:cNvSpPr>
            <a:spLocks noGrp="1"/>
          </p:cNvSpPr>
          <p:nvPr>
            <p:ph type="title"/>
          </p:nvPr>
        </p:nvSpPr>
        <p:spPr/>
        <p:txBody>
          <a:bodyPr/>
          <a:lstStyle/>
          <a:p>
            <a:r>
              <a:rPr lang="en-US" dirty="0"/>
              <a:t>Multiprocessors</a:t>
            </a:r>
          </a:p>
        </p:txBody>
      </p:sp>
      <p:sp>
        <p:nvSpPr>
          <p:cNvPr id="3" name="Content Placeholder 2">
            <a:extLst>
              <a:ext uri="{FF2B5EF4-FFF2-40B4-BE49-F238E27FC236}">
                <a16:creationId xmlns:a16="http://schemas.microsoft.com/office/drawing/2014/main" id="{BE232D4E-FD64-A5B8-2A42-F7D7FFCFB22B}"/>
              </a:ext>
            </a:extLst>
          </p:cNvPr>
          <p:cNvSpPr>
            <a:spLocks noGrp="1"/>
          </p:cNvSpPr>
          <p:nvPr>
            <p:ph idx="1"/>
          </p:nvPr>
        </p:nvSpPr>
        <p:spPr/>
        <p:txBody>
          <a:bodyPr/>
          <a:lstStyle/>
          <a:p>
            <a:r>
              <a:rPr lang="en-US" dirty="0"/>
              <a:t>In 552, R10K is top-performing core</a:t>
            </a:r>
          </a:p>
          <a:p>
            <a:pPr lvl="1"/>
            <a:r>
              <a:rPr lang="en-US" dirty="0"/>
              <a:t>Instruction-Level Parallelism</a:t>
            </a:r>
          </a:p>
          <a:p>
            <a:r>
              <a:rPr lang="en-US" dirty="0"/>
              <a:t>Dennard scaling has forced the multicore era</a:t>
            </a:r>
          </a:p>
          <a:p>
            <a:r>
              <a:rPr lang="en-US" dirty="0"/>
              <a:t>Compute-Level vs Data-Level Parallelism</a:t>
            </a:r>
          </a:p>
          <a:p>
            <a:r>
              <a:rPr lang="en-US" dirty="0"/>
              <a:t>Concurrency vs Parallelism</a:t>
            </a:r>
          </a:p>
          <a:p>
            <a:r>
              <a:rPr lang="en-US" dirty="0"/>
              <a:t>Speedup – Amdahl’s Law</a:t>
            </a:r>
          </a:p>
          <a:p>
            <a:r>
              <a:rPr lang="en-US" dirty="0"/>
              <a:t>Multithreading</a:t>
            </a:r>
          </a:p>
          <a:p>
            <a:r>
              <a:rPr lang="en-US" dirty="0"/>
              <a:t>Simultaneous Multithreading (partition/pool)</a:t>
            </a:r>
          </a:p>
        </p:txBody>
      </p:sp>
      <p:sp>
        <p:nvSpPr>
          <p:cNvPr id="4" name="Slide Number Placeholder 3">
            <a:extLst>
              <a:ext uri="{FF2B5EF4-FFF2-40B4-BE49-F238E27FC236}">
                <a16:creationId xmlns:a16="http://schemas.microsoft.com/office/drawing/2014/main" id="{9F8EAE37-F63D-6A43-1862-85D6F79A6297}"/>
              </a:ext>
            </a:extLst>
          </p:cNvPr>
          <p:cNvSpPr>
            <a:spLocks noGrp="1"/>
          </p:cNvSpPr>
          <p:nvPr>
            <p:ph type="sldNum" sz="quarter" idx="12"/>
          </p:nvPr>
        </p:nvSpPr>
        <p:spPr/>
        <p:txBody>
          <a:bodyPr/>
          <a:lstStyle/>
          <a:p>
            <a:pPr lvl="1"/>
            <a:fld id="{35B60D93-CC8C-4BE3-8466-59E10CB9DAB3}" type="slidenum">
              <a:rPr lang="en-US" altLang="en-US" smtClean="0"/>
              <a:pPr lvl="1"/>
              <a:t>30</a:t>
            </a:fld>
            <a:endParaRPr lang="en-US" altLang="en-US">
              <a:latin typeface="Calibri" panose="020F0502020204030204" pitchFamily="34" charset="0"/>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CD5CEA7-1986-95AF-8FBC-C397C3CF7FF6}"/>
                  </a:ext>
                </a:extLst>
              </p:cNvPr>
              <p:cNvSpPr txBox="1"/>
              <p:nvPr>
                <p:custDataLst>
                  <p:tags r:id="rId1"/>
                </p:custDataLst>
              </p:nvPr>
            </p:nvSpPr>
            <p:spPr>
              <a:xfrm>
                <a:off x="5181600" y="4343400"/>
                <a:ext cx="3657600" cy="838199"/>
              </a:xfrm>
              <a:prstGeom prst="rect">
                <a:avLst/>
              </a:prstGeom>
              <a:noFill/>
            </p:spPr>
            <p:txBody>
              <a:bodyPr wrap="square" rtlCol="0" anchor="t">
                <a:noAutofit/>
              </a:bodyPr>
              <a:lstStyle/>
              <a:p>
                <a:pPr algn="ctr"/>
                <a14:m>
                  <m:oMathPara xmlns:m="http://schemas.openxmlformats.org/officeDocument/2006/math">
                    <m:oMathParaPr>
                      <m:jc m:val="left"/>
                    </m:oMathParaPr>
                    <m:oMath xmlns:m="http://schemas.openxmlformats.org/officeDocument/2006/math">
                      <m:r>
                        <a:rPr lang="en-US" sz="1400" b="0" i="1" smtClean="0">
                          <a:latin typeface="Cambria Math" panose="02040503050406030204" pitchFamily="18" charset="0"/>
                        </a:rPr>
                        <m:t>𝑠𝑝𝑒𝑒𝑑𝑢𝑝</m:t>
                      </m:r>
                      <m:r>
                        <a:rPr lang="en-US" sz="1400" b="0" i="1" smtClean="0">
                          <a:latin typeface="Cambria Math" panose="02040503050406030204" pitchFamily="18" charset="0"/>
                        </a:rPr>
                        <m:t>, </m:t>
                      </m:r>
                      <m:r>
                        <a:rPr lang="en-US" sz="1400" b="0" i="1" smtClean="0">
                          <a:latin typeface="Cambria Math" panose="02040503050406030204" pitchFamily="18" charset="0"/>
                        </a:rPr>
                        <m:t>𝑃</m:t>
                      </m:r>
                      <m:r>
                        <a:rPr lang="en-US" sz="1400" b="0" i="1" smtClean="0">
                          <a:latin typeface="Cambria Math" panose="02040503050406030204" pitchFamily="18" charset="0"/>
                        </a:rPr>
                        <m:t> </m:t>
                      </m:r>
                      <m:r>
                        <a:rPr lang="en-US" sz="1400" b="0" i="1" smtClean="0">
                          <a:latin typeface="Cambria Math" panose="02040503050406030204" pitchFamily="18" charset="0"/>
                        </a:rPr>
                        <m:t>𝑐𝑜𝑟𝑒𝑠</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m:t>
                              </m:r>
                            </m:e>
                            <m:sub>
                              <m:r>
                                <a:rPr lang="en-US" sz="1400" b="0" i="1" smtClean="0">
                                  <a:latin typeface="Cambria Math" panose="02040503050406030204" pitchFamily="18" charset="0"/>
                                </a:rPr>
                                <m:t>𝑠𝑒𝑞𝑢𝑒𝑛𝑡𝑖𝑎𝑙</m:t>
                              </m:r>
                            </m:sub>
                          </m:sSub>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m:t>
                                  </m:r>
                                </m:e>
                                <m:sub>
                                  <m:r>
                                    <a:rPr lang="en-US" sz="1400" b="0" i="1" smtClean="0">
                                      <a:latin typeface="Cambria Math" panose="02040503050406030204" pitchFamily="18" charset="0"/>
                                    </a:rPr>
                                    <m:t>𝑝𝑎𝑟𝑎𝑙𝑙𝑒𝑙</m:t>
                                  </m:r>
                                </m:sub>
                              </m:sSub>
                            </m:num>
                            <m:den>
                              <m:r>
                                <a:rPr lang="en-US" sz="1400" b="1" i="1" smtClean="0">
                                  <a:solidFill>
                                    <a:schemeClr val="accent2">
                                      <a:lumMod val="75000"/>
                                    </a:schemeClr>
                                  </a:solidFill>
                                  <a:latin typeface="Cambria Math" panose="02040503050406030204" pitchFamily="18" charset="0"/>
                                </a:rPr>
                                <m:t>𝑷</m:t>
                              </m:r>
                            </m:den>
                          </m:f>
                        </m:den>
                      </m:f>
                    </m:oMath>
                  </m:oMathPara>
                </a14:m>
                <a:endParaRPr lang="en-US" sz="1400" dirty="0"/>
              </a:p>
              <a:p>
                <a:pPr algn="ctr"/>
                <a:endParaRPr lang="en-US" sz="1400" i="1" dirty="0">
                  <a:latin typeface="Cambria Math" panose="02040503050406030204" pitchFamily="18" charset="0"/>
                </a:endParaRPr>
              </a:p>
            </p:txBody>
          </p:sp>
        </mc:Choice>
        <mc:Fallback>
          <p:sp>
            <p:nvSpPr>
              <p:cNvPr id="5" name="TextBox 4">
                <a:extLst>
                  <a:ext uri="{FF2B5EF4-FFF2-40B4-BE49-F238E27FC236}">
                    <a16:creationId xmlns:a16="http://schemas.microsoft.com/office/drawing/2014/main" id="{CCD5CEA7-1986-95AF-8FBC-C397C3CF7FF6}"/>
                  </a:ext>
                </a:extLst>
              </p:cNvPr>
              <p:cNvSpPr txBox="1">
                <a:spLocks noRot="1" noChangeAspect="1" noMove="1" noResize="1" noEditPoints="1" noAdjustHandles="1" noChangeArrowheads="1" noChangeShapeType="1" noTextEdit="1"/>
              </p:cNvSpPr>
              <p:nvPr>
                <p:custDataLst>
                  <p:tags r:id="rId1"/>
                </p:custDataLst>
              </p:nvPr>
            </p:nvSpPr>
            <p:spPr>
              <a:xfrm>
                <a:off x="5181600" y="4343400"/>
                <a:ext cx="3657600" cy="83819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516456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a:t>Shared-Memory CMP</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31</a:t>
            </a:fld>
            <a:endParaRPr lang="en-US" altLang="en-US" sz="1400"/>
          </a:p>
        </p:txBody>
      </p:sp>
      <p:grpSp>
        <p:nvGrpSpPr>
          <p:cNvPr id="2" name="Group 1">
            <a:extLst>
              <a:ext uri="{FF2B5EF4-FFF2-40B4-BE49-F238E27FC236}">
                <a16:creationId xmlns:a16="http://schemas.microsoft.com/office/drawing/2014/main" id="{70AF1508-2897-4E70-92B6-67C6A89DDF4B}"/>
              </a:ext>
            </a:extLst>
          </p:cNvPr>
          <p:cNvGrpSpPr/>
          <p:nvPr>
            <p:custDataLst>
              <p:tags r:id="rId4"/>
            </p:custDataLst>
          </p:nvPr>
        </p:nvGrpSpPr>
        <p:grpSpPr>
          <a:xfrm>
            <a:off x="381000" y="1428317"/>
            <a:ext cx="2662237" cy="4052292"/>
            <a:chOff x="1071563" y="1428317"/>
            <a:chExt cx="7000875" cy="4345641"/>
          </a:xfrm>
        </p:grpSpPr>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456082" y="5675899"/>
              <a:ext cx="1961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009F42-8219-4094-9CC2-F2B7670971BF}"/>
                </a:ext>
              </a:extLst>
            </p:cNvPr>
            <p:cNvSpPr/>
            <p:nvPr>
              <p:custDataLst>
                <p:tags r:id="rId17"/>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18"/>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19"/>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824B9C7-BB45-44EA-98B8-0E08D03BA1C5}"/>
              </a:ext>
            </a:extLst>
          </p:cNvPr>
          <p:cNvGrpSpPr/>
          <p:nvPr>
            <p:custDataLst>
              <p:tags r:id="rId5"/>
            </p:custDataLst>
          </p:nvPr>
        </p:nvGrpSpPr>
        <p:grpSpPr>
          <a:xfrm>
            <a:off x="3200400" y="1428317"/>
            <a:ext cx="2662237" cy="4210483"/>
            <a:chOff x="1071563" y="1428317"/>
            <a:chExt cx="7000875" cy="4515283"/>
          </a:xfrm>
        </p:grpSpPr>
        <p:cxnSp>
          <p:nvCxnSpPr>
            <p:cNvPr id="53" name="Straight Connector 52">
              <a:extLst>
                <a:ext uri="{FF2B5EF4-FFF2-40B4-BE49-F238E27FC236}">
                  <a16:creationId xmlns:a16="http://schemas.microsoft.com/office/drawing/2014/main" id="{81DDBB36-68F0-4CA6-B2D1-836A5605CB88}"/>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545AD1D-DA5F-4C5C-A78F-DD0813B87F96}"/>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A7953A7-EAAF-4523-880D-D7776D8FE399}"/>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98CA5E0-638C-4C69-873B-00BFE17AA1C7}"/>
                </a:ext>
              </a:extLst>
            </p:cNvPr>
            <p:cNvCxnSpPr>
              <a:cxnSpLocks/>
            </p:cNvCxnSpPr>
            <p:nvPr/>
          </p:nvCxnSpPr>
          <p:spPr>
            <a:xfrm rot="5400000">
              <a:off x="4371260" y="57607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5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B72AC71-495C-4E3D-BE0F-8C2118A50A0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C2E7FDB8-8340-4A77-8ED3-BF3F94566A38}"/>
                </a:ext>
              </a:extLst>
            </p:cNvPr>
            <p:cNvSpPr/>
            <p:nvPr>
              <p:custDataLst>
                <p:tags r:id="rId1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59" name="Rectangle 58">
              <a:extLst>
                <a:ext uri="{FF2B5EF4-FFF2-40B4-BE49-F238E27FC236}">
                  <a16:creationId xmlns:a16="http://schemas.microsoft.com/office/drawing/2014/main" id="{46059270-04A6-4500-B528-F8A835466CD0}"/>
                </a:ext>
              </a:extLst>
            </p:cNvPr>
            <p:cNvSpPr/>
            <p:nvPr>
              <p:custDataLst>
                <p:tags r:id="rId1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60" name="Straight Connector 59">
              <a:extLst>
                <a:ext uri="{FF2B5EF4-FFF2-40B4-BE49-F238E27FC236}">
                  <a16:creationId xmlns:a16="http://schemas.microsoft.com/office/drawing/2014/main" id="{28CC5CFF-C1A4-4557-8AB1-107BBEFBC980}"/>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F68C595-F513-4652-B8C1-C1A6A903FC92}"/>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BD70B5E-948C-4C0E-96AE-2D079191828B}"/>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2221236-3860-476B-9434-643870C0DCC7}"/>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17DA5B1-D072-4B57-988E-B7E4C99A2DA4}"/>
                </a:ext>
              </a:extLst>
            </p:cNvPr>
            <p:cNvSpPr/>
            <p:nvPr>
              <p:custDataLst>
                <p:tags r:id="rId16"/>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65" name="Straight Connector 64">
              <a:extLst>
                <a:ext uri="{FF2B5EF4-FFF2-40B4-BE49-F238E27FC236}">
                  <a16:creationId xmlns:a16="http://schemas.microsoft.com/office/drawing/2014/main" id="{CE39FB94-99FE-4ACD-99EA-8DCAEDF6FE16}"/>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DEA36ADE-73F4-4034-941A-30C83533DB4C}"/>
              </a:ext>
            </a:extLst>
          </p:cNvPr>
          <p:cNvGrpSpPr/>
          <p:nvPr>
            <p:custDataLst>
              <p:tags r:id="rId6"/>
            </p:custDataLst>
          </p:nvPr>
        </p:nvGrpSpPr>
        <p:grpSpPr>
          <a:xfrm>
            <a:off x="6024563" y="1428317"/>
            <a:ext cx="2662237" cy="4052292"/>
            <a:chOff x="1071563" y="1428317"/>
            <a:chExt cx="7000875" cy="4345641"/>
          </a:xfrm>
        </p:grpSpPr>
        <p:cxnSp>
          <p:nvCxnSpPr>
            <p:cNvPr id="67" name="Straight Connector 66">
              <a:extLst>
                <a:ext uri="{FF2B5EF4-FFF2-40B4-BE49-F238E27FC236}">
                  <a16:creationId xmlns:a16="http://schemas.microsoft.com/office/drawing/2014/main" id="{C61248E0-A76E-4380-9764-6F542B27C9A5}"/>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02C4EDC-2DF9-4803-87E9-BE97687AEC25}"/>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F58ED7-7F1B-46A8-84D9-8AA44357D100}"/>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89630B8-1FF8-43B1-B6A9-D39E45DEC418}"/>
                </a:ext>
              </a:extLst>
            </p:cNvPr>
            <p:cNvCxnSpPr>
              <a:cxnSpLocks/>
            </p:cNvCxnSpPr>
            <p:nvPr/>
          </p:nvCxnSpPr>
          <p:spPr>
            <a:xfrm rot="5400000">
              <a:off x="4456082" y="5675899"/>
              <a:ext cx="1961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71"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E6505CC-84CD-40BC-A6FA-A3D77A23961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72" name="Rectangle 71">
              <a:extLst>
                <a:ext uri="{FF2B5EF4-FFF2-40B4-BE49-F238E27FC236}">
                  <a16:creationId xmlns:a16="http://schemas.microsoft.com/office/drawing/2014/main" id="{BEA8895F-B154-4523-A255-C6D08CBF7CD7}"/>
                </a:ext>
              </a:extLst>
            </p:cNvPr>
            <p:cNvSpPr/>
            <p:nvPr>
              <p:custDataLst>
                <p:tags r:id="rId11"/>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73" name="Rectangle 72">
              <a:extLst>
                <a:ext uri="{FF2B5EF4-FFF2-40B4-BE49-F238E27FC236}">
                  <a16:creationId xmlns:a16="http://schemas.microsoft.com/office/drawing/2014/main" id="{430B70B5-AB08-4CBC-BB52-94C88C39C21A}"/>
                </a:ext>
              </a:extLst>
            </p:cNvPr>
            <p:cNvSpPr/>
            <p:nvPr>
              <p:custDataLst>
                <p:tags r:id="rId12"/>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74" name="Straight Connector 73">
              <a:extLst>
                <a:ext uri="{FF2B5EF4-FFF2-40B4-BE49-F238E27FC236}">
                  <a16:creationId xmlns:a16="http://schemas.microsoft.com/office/drawing/2014/main" id="{7E0B8AB1-06BE-4516-A112-C6902418BB68}"/>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8263AF4-188A-4FDA-B1B9-F1702721182A}"/>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CD463B3-4801-4104-B5BF-F3271FC98426}"/>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28E2841-6D7F-4EDD-B6B7-93420FFFEE65}"/>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4B99CDC0-E679-4BFB-934B-082C6E6164EF}"/>
                </a:ext>
              </a:extLst>
            </p:cNvPr>
            <p:cNvSpPr/>
            <p:nvPr>
              <p:custDataLst>
                <p:tags r:id="rId13"/>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79" name="Straight Connector 78">
              <a:extLst>
                <a:ext uri="{FF2B5EF4-FFF2-40B4-BE49-F238E27FC236}">
                  <a16:creationId xmlns:a16="http://schemas.microsoft.com/office/drawing/2014/main" id="{08AE09DA-A9F0-4D73-906F-91123C1CBA61}"/>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cxnSp>
        <p:nvCxnSpPr>
          <p:cNvPr id="80" name="Straight Connector 79">
            <a:extLst>
              <a:ext uri="{FF2B5EF4-FFF2-40B4-BE49-F238E27FC236}">
                <a16:creationId xmlns:a16="http://schemas.microsoft.com/office/drawing/2014/main" id="{18386195-9157-44FD-BA5B-D401F6A36FC5}"/>
              </a:ext>
            </a:extLst>
          </p:cNvPr>
          <p:cNvCxnSpPr/>
          <p:nvPr/>
        </p:nvCxnSpPr>
        <p:spPr>
          <a:xfrm>
            <a:off x="1676400" y="5486400"/>
            <a:ext cx="5669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27A35C7-00B1-4F0B-8D33-7E6A2E460038}"/>
              </a:ext>
            </a:extLst>
          </p:cNvPr>
          <p:cNvCxnSpPr>
            <a:cxnSpLocks/>
          </p:cNvCxnSpPr>
          <p:nvPr/>
        </p:nvCxnSpPr>
        <p:spPr>
          <a:xfrm rot="5400000">
            <a:off x="4204687" y="5958840"/>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731234" y="6248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sp>
        <p:nvSpPr>
          <p:cNvPr id="49" name="Rectangle 48">
            <a:extLst>
              <a:ext uri="{FF2B5EF4-FFF2-40B4-BE49-F238E27FC236}">
                <a16:creationId xmlns:a16="http://schemas.microsoft.com/office/drawing/2014/main" id="{14E930D7-3FF6-42A4-9FB0-F9DB0D06EDCA}"/>
              </a:ext>
            </a:extLst>
          </p:cNvPr>
          <p:cNvSpPr/>
          <p:nvPr>
            <p:custDataLst>
              <p:tags r:id="rId8"/>
            </p:custDataLst>
          </p:nvPr>
        </p:nvSpPr>
        <p:spPr>
          <a:xfrm>
            <a:off x="3048000" y="5638800"/>
            <a:ext cx="2942933" cy="390713"/>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shared L3 cache</a:t>
            </a:r>
          </a:p>
        </p:txBody>
      </p:sp>
      <p:sp>
        <p:nvSpPr>
          <p:cNvPr id="50" name="TextBox 49">
            <a:extLst>
              <a:ext uri="{FF2B5EF4-FFF2-40B4-BE49-F238E27FC236}">
                <a16:creationId xmlns:a16="http://schemas.microsoft.com/office/drawing/2014/main" id="{E5FDC884-2D8C-4EB6-910C-78B09299C143}"/>
              </a:ext>
            </a:extLst>
          </p:cNvPr>
          <p:cNvSpPr txBox="1"/>
          <p:nvPr>
            <p:custDataLst>
              <p:tags r:id="rId9"/>
            </p:custDataLst>
          </p:nvPr>
        </p:nvSpPr>
        <p:spPr>
          <a:xfrm>
            <a:off x="457200" y="5486400"/>
            <a:ext cx="2437082"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private L1, L2 caches</a:t>
            </a:r>
          </a:p>
        </p:txBody>
      </p:sp>
      <p:sp>
        <p:nvSpPr>
          <p:cNvPr id="3" name="Oval 2">
            <a:extLst>
              <a:ext uri="{FF2B5EF4-FFF2-40B4-BE49-F238E27FC236}">
                <a16:creationId xmlns:a16="http://schemas.microsoft.com/office/drawing/2014/main" id="{64185645-44FE-4377-8A11-94F6DF808184}"/>
              </a:ext>
            </a:extLst>
          </p:cNvPr>
          <p:cNvSpPr/>
          <p:nvPr>
            <p:custDataLst>
              <p:tags r:id="rId10"/>
            </p:custDataLst>
          </p:nvPr>
        </p:nvSpPr>
        <p:spPr>
          <a:xfrm>
            <a:off x="253496" y="2895600"/>
            <a:ext cx="2870704" cy="2719539"/>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246140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B03DC-62EE-B1EA-94FB-BF7B40546053}"/>
              </a:ext>
            </a:extLst>
          </p:cNvPr>
          <p:cNvSpPr>
            <a:spLocks noGrp="1"/>
          </p:cNvSpPr>
          <p:nvPr>
            <p:ph type="title"/>
          </p:nvPr>
        </p:nvSpPr>
        <p:spPr/>
        <p:txBody>
          <a:bodyPr/>
          <a:lstStyle/>
          <a:p>
            <a:r>
              <a:rPr lang="en-US" dirty="0"/>
              <a:t>Shared-Memory CMP</a:t>
            </a:r>
          </a:p>
        </p:txBody>
      </p:sp>
      <p:sp>
        <p:nvSpPr>
          <p:cNvPr id="3" name="Content Placeholder 2">
            <a:extLst>
              <a:ext uri="{FF2B5EF4-FFF2-40B4-BE49-F238E27FC236}">
                <a16:creationId xmlns:a16="http://schemas.microsoft.com/office/drawing/2014/main" id="{8185B5CE-61BD-7D2B-05E4-CAEFAF3B64A7}"/>
              </a:ext>
            </a:extLst>
          </p:cNvPr>
          <p:cNvSpPr>
            <a:spLocks noGrp="1"/>
          </p:cNvSpPr>
          <p:nvPr>
            <p:ph idx="1"/>
          </p:nvPr>
        </p:nvSpPr>
        <p:spPr/>
        <p:txBody>
          <a:bodyPr/>
          <a:lstStyle/>
          <a:p>
            <a:r>
              <a:rPr lang="en-US" dirty="0"/>
              <a:t>NUMA vs UMA</a:t>
            </a:r>
          </a:p>
          <a:p>
            <a:r>
              <a:rPr lang="en-US" dirty="0"/>
              <a:t>Why coherence protocols?</a:t>
            </a:r>
          </a:p>
          <a:p>
            <a:pPr lvl="1"/>
            <a:r>
              <a:rPr lang="en-US" dirty="0"/>
              <a:t>MI vs MSI</a:t>
            </a:r>
          </a:p>
          <a:p>
            <a:pPr lvl="1"/>
            <a:r>
              <a:rPr lang="en-US" dirty="0"/>
              <a:t>Block granularity</a:t>
            </a:r>
          </a:p>
          <a:p>
            <a:pPr lvl="1"/>
            <a:r>
              <a:rPr lang="en-US" dirty="0"/>
              <a:t>Snoop</a:t>
            </a:r>
          </a:p>
          <a:p>
            <a:r>
              <a:rPr lang="en-US" dirty="0"/>
              <a:t>Private Caches need Write Serialization &amp; Write Propagation</a:t>
            </a:r>
          </a:p>
          <a:p>
            <a:endParaRPr lang="en-US" dirty="0"/>
          </a:p>
        </p:txBody>
      </p:sp>
      <p:sp>
        <p:nvSpPr>
          <p:cNvPr id="4" name="Slide Number Placeholder 3">
            <a:extLst>
              <a:ext uri="{FF2B5EF4-FFF2-40B4-BE49-F238E27FC236}">
                <a16:creationId xmlns:a16="http://schemas.microsoft.com/office/drawing/2014/main" id="{D7E0F07E-26F1-3130-217F-392BC4042E62}"/>
              </a:ext>
            </a:extLst>
          </p:cNvPr>
          <p:cNvSpPr>
            <a:spLocks noGrp="1"/>
          </p:cNvSpPr>
          <p:nvPr>
            <p:ph type="sldNum" sz="quarter" idx="12"/>
          </p:nvPr>
        </p:nvSpPr>
        <p:spPr/>
        <p:txBody>
          <a:bodyPr/>
          <a:lstStyle/>
          <a:p>
            <a:pPr lvl="1"/>
            <a:fld id="{35B60D93-CC8C-4BE3-8466-59E10CB9DAB3}" type="slidenum">
              <a:rPr lang="en-US" altLang="en-US" smtClean="0"/>
              <a:pPr lvl="1"/>
              <a:t>32</a:t>
            </a:fld>
            <a:endParaRPr lang="en-US" altLang="en-US">
              <a:latin typeface="Calibri" panose="020F0502020204030204" pitchFamily="34" charset="0"/>
            </a:endParaRPr>
          </a:p>
        </p:txBody>
      </p:sp>
    </p:spTree>
    <p:extLst>
      <p:ext uri="{BB962C8B-B14F-4D97-AF65-F5344CB8AC3E}">
        <p14:creationId xmlns:p14="http://schemas.microsoft.com/office/powerpoint/2010/main" val="357319476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7924B-801F-C332-D05A-37873D97D434}"/>
              </a:ext>
            </a:extLst>
          </p:cNvPr>
          <p:cNvSpPr>
            <a:spLocks noGrp="1"/>
          </p:cNvSpPr>
          <p:nvPr>
            <p:ph type="title"/>
          </p:nvPr>
        </p:nvSpPr>
        <p:spPr/>
        <p:txBody>
          <a:bodyPr/>
          <a:lstStyle/>
          <a:p>
            <a:r>
              <a:rPr lang="en-US" dirty="0"/>
              <a:t>Consistency</a:t>
            </a:r>
          </a:p>
        </p:txBody>
      </p:sp>
      <p:sp>
        <p:nvSpPr>
          <p:cNvPr id="3" name="Content Placeholder 2">
            <a:extLst>
              <a:ext uri="{FF2B5EF4-FFF2-40B4-BE49-F238E27FC236}">
                <a16:creationId xmlns:a16="http://schemas.microsoft.com/office/drawing/2014/main" id="{405EBCDD-F2E4-1F6A-AFC7-4A11E5CCA521}"/>
              </a:ext>
            </a:extLst>
          </p:cNvPr>
          <p:cNvSpPr>
            <a:spLocks noGrp="1"/>
          </p:cNvSpPr>
          <p:nvPr>
            <p:ph idx="1"/>
          </p:nvPr>
        </p:nvSpPr>
        <p:spPr/>
        <p:txBody>
          <a:bodyPr/>
          <a:lstStyle/>
          <a:p>
            <a:r>
              <a:rPr lang="en-US" dirty="0"/>
              <a:t>Coherence vs Consistency</a:t>
            </a:r>
          </a:p>
          <a:p>
            <a:pPr lvl="1"/>
            <a:r>
              <a:rPr lang="en-US" dirty="0"/>
              <a:t>Coherence: Ordering to 1 memory location</a:t>
            </a:r>
          </a:p>
          <a:p>
            <a:pPr lvl="1"/>
            <a:r>
              <a:rPr lang="en-US" dirty="0"/>
              <a:t>Consistency: Ordering all reads/writes to all mem.</a:t>
            </a:r>
          </a:p>
          <a:p>
            <a:pPr lvl="2"/>
            <a:r>
              <a:rPr lang="en-US" dirty="0"/>
              <a:t>Sequential Consistency (SC)</a:t>
            </a:r>
          </a:p>
          <a:p>
            <a:pPr lvl="3"/>
            <a:r>
              <a:rPr lang="en-US" dirty="0"/>
              <a:t>Each core’s reads/writes occur in program order</a:t>
            </a:r>
          </a:p>
          <a:p>
            <a:pPr lvl="3"/>
            <a:r>
              <a:rPr lang="en-US" dirty="0"/>
              <a:t>All cores’ memory accesses are globally serialized</a:t>
            </a:r>
          </a:p>
          <a:p>
            <a:pPr lvl="2"/>
            <a:r>
              <a:rPr lang="en-US" dirty="0"/>
              <a:t>Manual Sequential Consistency?</a:t>
            </a:r>
          </a:p>
          <a:p>
            <a:pPr lvl="3"/>
            <a:r>
              <a:rPr lang="en-US" dirty="0" err="1"/>
              <a:t>lfence</a:t>
            </a:r>
            <a:r>
              <a:rPr lang="en-US" dirty="0"/>
              <a:t>, </a:t>
            </a:r>
            <a:r>
              <a:rPr lang="en-US" dirty="0" err="1"/>
              <a:t>sfence</a:t>
            </a:r>
            <a:r>
              <a:rPr lang="en-US" dirty="0"/>
              <a:t>, </a:t>
            </a:r>
            <a:r>
              <a:rPr lang="en-US" dirty="0" err="1"/>
              <a:t>mfence</a:t>
            </a:r>
            <a:endParaRPr lang="en-US" dirty="0"/>
          </a:p>
          <a:p>
            <a:pPr lvl="3"/>
            <a:r>
              <a:rPr lang="en-US" dirty="0"/>
              <a:t>volatile (C/C++)</a:t>
            </a:r>
          </a:p>
          <a:p>
            <a:pPr lvl="2"/>
            <a:r>
              <a:rPr lang="en-US" dirty="0"/>
              <a:t>R10K Loads </a:t>
            </a:r>
            <a:r>
              <a:rPr lang="en-US" dirty="0" err="1"/>
              <a:t>OoO</a:t>
            </a:r>
            <a:r>
              <a:rPr lang="en-US" dirty="0"/>
              <a:t> (X), Stores in-order (R); Replay load (R)</a:t>
            </a:r>
          </a:p>
          <a:p>
            <a:pPr lvl="2"/>
            <a:r>
              <a:rPr lang="en-US" dirty="0"/>
              <a:t>Coherence Acknowledgements</a:t>
            </a:r>
          </a:p>
        </p:txBody>
      </p:sp>
      <p:sp>
        <p:nvSpPr>
          <p:cNvPr id="4" name="Slide Number Placeholder 3">
            <a:extLst>
              <a:ext uri="{FF2B5EF4-FFF2-40B4-BE49-F238E27FC236}">
                <a16:creationId xmlns:a16="http://schemas.microsoft.com/office/drawing/2014/main" id="{EDC8679F-5E50-DE2E-8660-A4B3B9012ABF}"/>
              </a:ext>
            </a:extLst>
          </p:cNvPr>
          <p:cNvSpPr>
            <a:spLocks noGrp="1"/>
          </p:cNvSpPr>
          <p:nvPr>
            <p:ph type="sldNum" sz="quarter" idx="12"/>
          </p:nvPr>
        </p:nvSpPr>
        <p:spPr/>
        <p:txBody>
          <a:bodyPr/>
          <a:lstStyle/>
          <a:p>
            <a:pPr lvl="1"/>
            <a:fld id="{35B60D93-CC8C-4BE3-8466-59E10CB9DAB3}" type="slidenum">
              <a:rPr lang="en-US" altLang="en-US" smtClean="0"/>
              <a:pPr lvl="1"/>
              <a:t>33</a:t>
            </a:fld>
            <a:endParaRPr lang="en-US" altLang="en-US">
              <a:latin typeface="Calibri" panose="020F0502020204030204" pitchFamily="34" charset="0"/>
            </a:endParaRPr>
          </a:p>
        </p:txBody>
      </p:sp>
    </p:spTree>
    <p:extLst>
      <p:ext uri="{BB962C8B-B14F-4D97-AF65-F5344CB8AC3E}">
        <p14:creationId xmlns:p14="http://schemas.microsoft.com/office/powerpoint/2010/main" val="312767394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Consistency</a:t>
            </a:r>
          </a:p>
        </p:txBody>
      </p:sp>
      <p:sp>
        <p:nvSpPr>
          <p:cNvPr id="39941" name="Rectangle 3"/>
          <p:cNvSpPr>
            <a:spLocks noGrp="1" noChangeArrowheads="1"/>
          </p:cNvSpPr>
          <p:nvPr>
            <p:ph idx="1"/>
          </p:nvPr>
        </p:nvSpPr>
        <p:spPr>
          <a:xfrm>
            <a:off x="457200" y="1295399"/>
            <a:ext cx="8534400" cy="5426075"/>
          </a:xfrm>
        </p:spPr>
        <p:txBody>
          <a:bodyPr/>
          <a:lstStyle/>
          <a:p>
            <a:pPr marL="0" indent="0">
              <a:buNone/>
            </a:pPr>
            <a:r>
              <a:rPr lang="en-US" altLang="en-US" sz="2400" dirty="0"/>
              <a:t>Two threads run on a </a:t>
            </a:r>
            <a:r>
              <a:rPr lang="en-US" altLang="en-US" sz="2400" b="1" dirty="0"/>
              <a:t>shared-memory multiprocessor</a:t>
            </a:r>
            <a:r>
              <a:rPr lang="en-US" altLang="en-US" sz="2400" dirty="0"/>
              <a:t>. There are no private caches, and all memory contents are </a:t>
            </a:r>
            <a:r>
              <a:rPr lang="en-US" altLang="en-US" sz="2400" b="1" dirty="0"/>
              <a:t>initially 0</a:t>
            </a:r>
            <a:r>
              <a:rPr lang="en-US" altLang="en-US" sz="2400" dirty="0"/>
              <a:t>. </a:t>
            </a:r>
          </a:p>
          <a:p>
            <a:pPr marL="0" indent="0">
              <a:buNone/>
            </a:pPr>
            <a:endParaRPr lang="en-US" altLang="en-US" sz="2400" dirty="0"/>
          </a:p>
          <a:p>
            <a:pPr marL="0" indent="0">
              <a:buNone/>
            </a:pPr>
            <a:endParaRPr lang="en-US" altLang="en-US" sz="2400" dirty="0"/>
          </a:p>
          <a:p>
            <a:pPr marL="0" indent="0">
              <a:buNone/>
            </a:pPr>
            <a:endParaRPr lang="en-US" altLang="en-US" sz="2400" dirty="0"/>
          </a:p>
          <a:p>
            <a:pPr marL="457200" indent="-457200">
              <a:buAutoNum type="alphaLcParenBoth"/>
            </a:pPr>
            <a:r>
              <a:rPr lang="en-US" altLang="en-US" sz="2400" dirty="0"/>
              <a:t>Which of the following outcomes are </a:t>
            </a:r>
            <a:r>
              <a:rPr lang="en-US" altLang="en-US" sz="2400" b="1" dirty="0"/>
              <a:t>possible</a:t>
            </a:r>
            <a:r>
              <a:rPr lang="en-US" altLang="en-US" sz="2400" dirty="0"/>
              <a:t> assuming the multiprocessor supports </a:t>
            </a:r>
            <a:r>
              <a:rPr lang="en-US" altLang="en-US" sz="2400" b="1" dirty="0"/>
              <a:t>sequential consistency</a:t>
            </a:r>
            <a:r>
              <a:rPr lang="en-US" altLang="en-US" sz="2400" dirty="0"/>
              <a:t>?</a:t>
            </a:r>
          </a:p>
          <a:p>
            <a:pPr marL="514350" indent="-514350">
              <a:buFont typeface="+mj-lt"/>
              <a:buAutoNum type="romanLcPeriod"/>
            </a:pPr>
            <a:r>
              <a:rPr lang="en-US" altLang="en-US" sz="2000" dirty="0"/>
              <a:t>[$s0] = 0 and [$s1] = 0</a:t>
            </a:r>
          </a:p>
          <a:p>
            <a:pPr marL="514350" indent="-514350">
              <a:buFont typeface="+mj-lt"/>
              <a:buAutoNum type="romanLcPeriod"/>
            </a:pPr>
            <a:r>
              <a:rPr lang="en-US" altLang="en-US" sz="2000" dirty="0"/>
              <a:t>[$s0] = 0 and [$s1] = 1</a:t>
            </a:r>
          </a:p>
          <a:p>
            <a:pPr marL="514350" indent="-514350">
              <a:buFont typeface="+mj-lt"/>
              <a:buAutoNum type="romanLcPeriod"/>
            </a:pPr>
            <a:r>
              <a:rPr lang="en-US" altLang="en-US" sz="2000" dirty="0"/>
              <a:t>[$s0] = 1 and [$s1] = 0</a:t>
            </a:r>
          </a:p>
          <a:p>
            <a:pPr marL="514350" indent="-514350">
              <a:buFont typeface="+mj-lt"/>
              <a:buAutoNum type="romanLcPeriod"/>
            </a:pPr>
            <a:r>
              <a:rPr lang="en-US" altLang="en-US" sz="2000" dirty="0"/>
              <a:t>[$s0] = 1 and [$s1] = 1</a:t>
            </a:r>
          </a:p>
          <a:p>
            <a:pPr marL="457200" indent="-457200">
              <a:buAutoNum type="alphaLcParenBoth" startAt="2"/>
            </a:pPr>
            <a:r>
              <a:rPr lang="en-US" altLang="en-US" sz="2400" dirty="0"/>
              <a:t>Where do you need to insert </a:t>
            </a:r>
            <a:r>
              <a:rPr lang="en-US" altLang="en-US" sz="2400" b="1" dirty="0"/>
              <a:t>fences</a:t>
            </a:r>
            <a:r>
              <a:rPr lang="en-US" altLang="en-US" sz="2400" dirty="0"/>
              <a:t> to guarantee SC?</a:t>
            </a:r>
          </a:p>
          <a:p>
            <a:pPr marL="0" indent="0">
              <a:buNone/>
            </a:pPr>
            <a:endParaRPr lang="en-US" altLang="en-US" sz="2400" dirty="0"/>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34</a:t>
            </a:fld>
            <a:endParaRPr lang="en-US" altLang="en-US"/>
          </a:p>
        </p:txBody>
      </p:sp>
      <p:graphicFrame>
        <p:nvGraphicFramePr>
          <p:cNvPr id="2" name="Table 1">
            <a:extLst>
              <a:ext uri="{FF2B5EF4-FFF2-40B4-BE49-F238E27FC236}">
                <a16:creationId xmlns:a16="http://schemas.microsoft.com/office/drawing/2014/main" id="{86A416F1-4334-41ED-84CC-B3B81E22628A}"/>
              </a:ext>
            </a:extLst>
          </p:cNvPr>
          <p:cNvGraphicFramePr>
            <a:graphicFrameLocks noGrp="1"/>
          </p:cNvGraphicFramePr>
          <p:nvPr>
            <p:extLst>
              <p:ext uri="{D42A27DB-BD31-4B8C-83A1-F6EECF244321}">
                <p14:modId xmlns:p14="http://schemas.microsoft.com/office/powerpoint/2010/main" val="74002293"/>
              </p:ext>
            </p:extLst>
          </p:nvPr>
        </p:nvGraphicFramePr>
        <p:xfrm>
          <a:off x="762000" y="2118360"/>
          <a:ext cx="7620000" cy="1310640"/>
        </p:xfrm>
        <a:graphic>
          <a:graphicData uri="http://schemas.openxmlformats.org/drawingml/2006/table">
            <a:tbl>
              <a:tblPr>
                <a:tableStyleId>{5C22544A-7EE6-4342-B048-85BDC9FD1C3A}</a:tableStyleId>
              </a:tblPr>
              <a:tblGrid>
                <a:gridCol w="3810000">
                  <a:extLst>
                    <a:ext uri="{9D8B030D-6E8A-4147-A177-3AD203B41FA5}">
                      <a16:colId xmlns:a16="http://schemas.microsoft.com/office/drawing/2014/main" val="1126459457"/>
                    </a:ext>
                  </a:extLst>
                </a:gridCol>
                <a:gridCol w="3810000">
                  <a:extLst>
                    <a:ext uri="{9D8B030D-6E8A-4147-A177-3AD203B41FA5}">
                      <a16:colId xmlns:a16="http://schemas.microsoft.com/office/drawing/2014/main" val="1586064620"/>
                    </a:ext>
                  </a:extLst>
                </a:gridCol>
              </a:tblGrid>
              <a:tr h="370840">
                <a:tc>
                  <a:txBody>
                    <a:bodyPr/>
                    <a:lstStyle/>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 thread A</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A0: </a:t>
                      </a:r>
                      <a:r>
                        <a:rPr lang="en-US" sz="1600" b="1" dirty="0" err="1">
                          <a:solidFill>
                            <a:srgbClr val="00000A"/>
                          </a:solidFill>
                          <a:effectLst/>
                          <a:latin typeface="Courier New" panose="02070309020205020404" pitchFamily="49" charset="0"/>
                          <a:ea typeface="PMingLiU" panose="02020500000000000000" pitchFamily="18" charset="-120"/>
                        </a:rPr>
                        <a:t>ori</a:t>
                      </a:r>
                      <a:r>
                        <a:rPr lang="en-US" sz="1600" b="1" dirty="0">
                          <a:solidFill>
                            <a:srgbClr val="00000A"/>
                          </a:solidFill>
                          <a:effectLst/>
                          <a:latin typeface="Courier New" panose="02070309020205020404" pitchFamily="49" charset="0"/>
                          <a:ea typeface="PMingLiU" panose="02020500000000000000" pitchFamily="18" charset="-120"/>
                        </a:rPr>
                        <a:t>  $t0, $zero, 2000</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A1: </a:t>
                      </a:r>
                      <a:r>
                        <a:rPr lang="en-US" sz="1600" b="1" dirty="0" err="1">
                          <a:solidFill>
                            <a:srgbClr val="00000A"/>
                          </a:solidFill>
                          <a:effectLst/>
                          <a:latin typeface="Courier New" panose="02070309020205020404" pitchFamily="49" charset="0"/>
                          <a:ea typeface="PMingLiU" panose="02020500000000000000" pitchFamily="18" charset="-120"/>
                        </a:rPr>
                        <a:t>lw</a:t>
                      </a:r>
                      <a:r>
                        <a:rPr lang="en-US" sz="1600" b="1" dirty="0">
                          <a:solidFill>
                            <a:srgbClr val="00000A"/>
                          </a:solidFill>
                          <a:effectLst/>
                          <a:latin typeface="Courier New" panose="02070309020205020404" pitchFamily="49" charset="0"/>
                          <a:ea typeface="PMingLiU" panose="02020500000000000000" pitchFamily="18" charset="-120"/>
                        </a:rPr>
                        <a:t>   $s0, 0($t0)</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A2: </a:t>
                      </a:r>
                      <a:r>
                        <a:rPr lang="en-US" sz="1600" b="1" dirty="0" err="1">
                          <a:solidFill>
                            <a:srgbClr val="00000A"/>
                          </a:solidFill>
                          <a:effectLst/>
                          <a:latin typeface="Courier New" panose="02070309020205020404" pitchFamily="49" charset="0"/>
                          <a:ea typeface="PMingLiU" panose="02020500000000000000" pitchFamily="18" charset="-120"/>
                        </a:rPr>
                        <a:t>lw</a:t>
                      </a:r>
                      <a:r>
                        <a:rPr lang="en-US" sz="1600" b="1" dirty="0">
                          <a:solidFill>
                            <a:srgbClr val="00000A"/>
                          </a:solidFill>
                          <a:effectLst/>
                          <a:latin typeface="Courier New" panose="02070309020205020404" pitchFamily="49" charset="0"/>
                          <a:ea typeface="PMingLiU" panose="02020500000000000000" pitchFamily="18" charset="-120"/>
                        </a:rPr>
                        <a:t>   $s1, 4($t0)</a:t>
                      </a:r>
                      <a:endParaRPr lang="en-US" sz="1600" dirty="0">
                        <a:solidFill>
                          <a:srgbClr val="00000A"/>
                        </a:solidFill>
                        <a:effectLst/>
                        <a:latin typeface="Times New Roman" panose="02020603050405020304" pitchFamily="18" charset="0"/>
                        <a:ea typeface="PMingLiU" panose="02020500000000000000" pitchFamily="18" charset="-120"/>
                      </a:endParaRPr>
                    </a:p>
                  </a:txBody>
                  <a:tcPr>
                    <a:noFill/>
                  </a:tcPr>
                </a:tc>
                <a:tc>
                  <a:txBody>
                    <a:bodyPr/>
                    <a:lstStyle/>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 thread B</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B0: </a:t>
                      </a:r>
                      <a:r>
                        <a:rPr lang="en-US" sz="1600" b="1" dirty="0" err="1">
                          <a:solidFill>
                            <a:srgbClr val="00000A"/>
                          </a:solidFill>
                          <a:effectLst/>
                          <a:latin typeface="Courier New" panose="02070309020205020404" pitchFamily="49" charset="0"/>
                          <a:ea typeface="PMingLiU" panose="02020500000000000000" pitchFamily="18" charset="-120"/>
                        </a:rPr>
                        <a:t>ori</a:t>
                      </a:r>
                      <a:r>
                        <a:rPr lang="en-US" sz="1600" b="1" dirty="0">
                          <a:solidFill>
                            <a:srgbClr val="00000A"/>
                          </a:solidFill>
                          <a:effectLst/>
                          <a:latin typeface="Courier New" panose="02070309020205020404" pitchFamily="49" charset="0"/>
                          <a:ea typeface="PMingLiU" panose="02020500000000000000" pitchFamily="18" charset="-120"/>
                        </a:rPr>
                        <a:t>  $t0, $zero, 2000</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B1: </a:t>
                      </a:r>
                      <a:r>
                        <a:rPr lang="en-US" sz="1600" b="1" dirty="0" err="1">
                          <a:solidFill>
                            <a:srgbClr val="00000A"/>
                          </a:solidFill>
                          <a:effectLst/>
                          <a:latin typeface="Courier New" panose="02070309020205020404" pitchFamily="49" charset="0"/>
                          <a:ea typeface="PMingLiU" panose="02020500000000000000" pitchFamily="18" charset="-120"/>
                        </a:rPr>
                        <a:t>addi</a:t>
                      </a:r>
                      <a:r>
                        <a:rPr lang="en-US" sz="1600" b="1" dirty="0">
                          <a:solidFill>
                            <a:srgbClr val="00000A"/>
                          </a:solidFill>
                          <a:effectLst/>
                          <a:latin typeface="Courier New" panose="02070309020205020404" pitchFamily="49" charset="0"/>
                          <a:ea typeface="PMingLiU" panose="02020500000000000000" pitchFamily="18" charset="-120"/>
                        </a:rPr>
                        <a:t> $t1, $zero, 1</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B2: </a:t>
                      </a:r>
                      <a:r>
                        <a:rPr lang="en-US" sz="1600" b="1" dirty="0" err="1">
                          <a:solidFill>
                            <a:srgbClr val="00000A"/>
                          </a:solidFill>
                          <a:effectLst/>
                          <a:latin typeface="Courier New" panose="02070309020205020404" pitchFamily="49" charset="0"/>
                          <a:ea typeface="PMingLiU" panose="02020500000000000000" pitchFamily="18" charset="-120"/>
                        </a:rPr>
                        <a:t>sw</a:t>
                      </a:r>
                      <a:r>
                        <a:rPr lang="en-US" sz="1600" b="1" dirty="0">
                          <a:solidFill>
                            <a:srgbClr val="00000A"/>
                          </a:solidFill>
                          <a:effectLst/>
                          <a:latin typeface="Courier New" panose="02070309020205020404" pitchFamily="49" charset="0"/>
                          <a:ea typeface="PMingLiU" panose="02020500000000000000" pitchFamily="18" charset="-120"/>
                        </a:rPr>
                        <a:t>   $t1, 4($t0)</a:t>
                      </a:r>
                      <a:endParaRPr lang="en-US" sz="1600" b="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B3: </a:t>
                      </a:r>
                      <a:r>
                        <a:rPr lang="en-US" sz="1600" b="1" dirty="0" err="1">
                          <a:solidFill>
                            <a:srgbClr val="00000A"/>
                          </a:solidFill>
                          <a:effectLst/>
                          <a:latin typeface="Courier New" panose="02070309020205020404" pitchFamily="49" charset="0"/>
                          <a:ea typeface="PMingLiU" panose="02020500000000000000" pitchFamily="18" charset="-120"/>
                        </a:rPr>
                        <a:t>sw</a:t>
                      </a:r>
                      <a:r>
                        <a:rPr lang="en-US" sz="1600" b="1" dirty="0">
                          <a:solidFill>
                            <a:srgbClr val="00000A"/>
                          </a:solidFill>
                          <a:effectLst/>
                          <a:latin typeface="Courier New" panose="02070309020205020404" pitchFamily="49" charset="0"/>
                          <a:ea typeface="PMingLiU" panose="02020500000000000000" pitchFamily="18" charset="-120"/>
                        </a:rPr>
                        <a:t>   $t1, 0($t0)</a:t>
                      </a:r>
                      <a:endParaRPr lang="en-US" sz="1600" dirty="0">
                        <a:solidFill>
                          <a:srgbClr val="00000A"/>
                        </a:solidFill>
                        <a:effectLst/>
                        <a:latin typeface="Times New Roman" panose="02020603050405020304" pitchFamily="18" charset="0"/>
                        <a:ea typeface="PMingLiU" panose="02020500000000000000" pitchFamily="18" charset="-120"/>
                      </a:endParaRPr>
                    </a:p>
                  </a:txBody>
                  <a:tcPr>
                    <a:noFill/>
                  </a:tcPr>
                </a:tc>
                <a:extLst>
                  <a:ext uri="{0D108BD9-81ED-4DB2-BD59-A6C34878D82A}">
                    <a16:rowId xmlns:a16="http://schemas.microsoft.com/office/drawing/2014/main" val="2882831923"/>
                  </a:ext>
                </a:extLst>
              </a:tr>
            </a:tbl>
          </a:graphicData>
        </a:graphic>
      </p:graphicFrame>
    </p:spTree>
    <p:extLst>
      <p:ext uri="{BB962C8B-B14F-4D97-AF65-F5344CB8AC3E}">
        <p14:creationId xmlns:p14="http://schemas.microsoft.com/office/powerpoint/2010/main" val="254194662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Consistency</a:t>
            </a:r>
          </a:p>
        </p:txBody>
      </p:sp>
      <p:sp>
        <p:nvSpPr>
          <p:cNvPr id="39941" name="Rectangle 3"/>
          <p:cNvSpPr>
            <a:spLocks noGrp="1" noChangeArrowheads="1"/>
          </p:cNvSpPr>
          <p:nvPr>
            <p:ph idx="1"/>
          </p:nvPr>
        </p:nvSpPr>
        <p:spPr>
          <a:xfrm>
            <a:off x="457200" y="1295399"/>
            <a:ext cx="8534400" cy="5426075"/>
          </a:xfrm>
        </p:spPr>
        <p:txBody>
          <a:bodyPr/>
          <a:lstStyle/>
          <a:p>
            <a:pPr marL="0" indent="0">
              <a:buNone/>
            </a:pPr>
            <a:r>
              <a:rPr lang="en-US" altLang="en-US" sz="2400" dirty="0"/>
              <a:t>Two threads run on a </a:t>
            </a:r>
            <a:r>
              <a:rPr lang="en-US" altLang="en-US" sz="2400" b="1" dirty="0"/>
              <a:t>shared-memory multiprocessor</a:t>
            </a:r>
            <a:r>
              <a:rPr lang="en-US" altLang="en-US" sz="2400" dirty="0"/>
              <a:t>. There are no private caches, and all memory contents are </a:t>
            </a:r>
            <a:r>
              <a:rPr lang="en-US" altLang="en-US" sz="2400" b="1" dirty="0"/>
              <a:t>initially 0</a:t>
            </a:r>
            <a:r>
              <a:rPr lang="en-US" altLang="en-US" sz="2400" dirty="0"/>
              <a:t>. </a:t>
            </a:r>
          </a:p>
          <a:p>
            <a:pPr marL="0" indent="0">
              <a:buNone/>
            </a:pPr>
            <a:endParaRPr lang="en-US" altLang="en-US" sz="2400" dirty="0"/>
          </a:p>
          <a:p>
            <a:pPr marL="0" indent="0">
              <a:buNone/>
            </a:pPr>
            <a:endParaRPr lang="en-US" altLang="en-US" sz="2400" dirty="0"/>
          </a:p>
          <a:p>
            <a:pPr marL="0" indent="0">
              <a:buNone/>
            </a:pPr>
            <a:endParaRPr lang="en-US" altLang="en-US" sz="2400" dirty="0"/>
          </a:p>
          <a:p>
            <a:pPr marL="457200" indent="-457200">
              <a:buAutoNum type="alphaLcParenBoth"/>
            </a:pPr>
            <a:r>
              <a:rPr lang="en-US" altLang="en-US" sz="2400" dirty="0"/>
              <a:t>Which of the following outcomes are </a:t>
            </a:r>
            <a:r>
              <a:rPr lang="en-US" altLang="en-US" sz="2400" b="1" dirty="0"/>
              <a:t>possible</a:t>
            </a:r>
            <a:r>
              <a:rPr lang="en-US" altLang="en-US" sz="2400" dirty="0"/>
              <a:t> assuming the multiprocessor supports </a:t>
            </a:r>
            <a:r>
              <a:rPr lang="en-US" altLang="en-US" sz="2400" b="1" dirty="0"/>
              <a:t>sequential consistency</a:t>
            </a:r>
            <a:r>
              <a:rPr lang="en-US" altLang="en-US" sz="2400" dirty="0"/>
              <a:t>?</a:t>
            </a:r>
          </a:p>
          <a:p>
            <a:pPr marL="514350" indent="-514350">
              <a:buFont typeface="+mj-lt"/>
              <a:buAutoNum type="romanLcPeriod"/>
            </a:pPr>
            <a:r>
              <a:rPr lang="en-US" altLang="en-US" sz="2000" dirty="0"/>
              <a:t>[$s0] = 0 and [$s1] = 0</a:t>
            </a:r>
          </a:p>
          <a:p>
            <a:pPr marL="514350" indent="-514350">
              <a:buFont typeface="+mj-lt"/>
              <a:buAutoNum type="romanLcPeriod"/>
            </a:pPr>
            <a:r>
              <a:rPr lang="en-US" altLang="en-US" sz="2000" dirty="0"/>
              <a:t>[$s0] = 0 and [$s1] = 1</a:t>
            </a:r>
          </a:p>
          <a:p>
            <a:pPr marL="514350" indent="-514350">
              <a:buFont typeface="+mj-lt"/>
              <a:buAutoNum type="romanLcPeriod"/>
            </a:pPr>
            <a:r>
              <a:rPr lang="en-US" altLang="en-US" sz="2000" dirty="0"/>
              <a:t>[$s0] = 1 and [$s1] = 0</a:t>
            </a:r>
          </a:p>
          <a:p>
            <a:pPr marL="514350" indent="-514350">
              <a:buFont typeface="+mj-lt"/>
              <a:buAutoNum type="romanLcPeriod"/>
            </a:pPr>
            <a:r>
              <a:rPr lang="en-US" altLang="en-US" sz="2000" dirty="0"/>
              <a:t>[$s0] = 1 and [$s1] = 1</a:t>
            </a:r>
          </a:p>
          <a:p>
            <a:pPr marL="457200" indent="-457200">
              <a:buAutoNum type="alphaLcParenBoth" startAt="2"/>
            </a:pPr>
            <a:r>
              <a:rPr lang="en-US" altLang="en-US" sz="2400" dirty="0"/>
              <a:t>Where do you need to insert </a:t>
            </a:r>
            <a:r>
              <a:rPr lang="en-US" altLang="en-US" sz="2400" b="1" dirty="0"/>
              <a:t>fences</a:t>
            </a:r>
            <a:r>
              <a:rPr lang="en-US" altLang="en-US" sz="2400" dirty="0"/>
              <a:t> to guarantee SC?</a:t>
            </a:r>
          </a:p>
          <a:p>
            <a:pPr marL="0" indent="0">
              <a:buNone/>
            </a:pPr>
            <a:r>
              <a:rPr lang="en-US" altLang="en-US" sz="2400" b="1" dirty="0">
                <a:solidFill>
                  <a:schemeClr val="accent6">
                    <a:lumMod val="75000"/>
                  </a:schemeClr>
                </a:solidFill>
              </a:rPr>
              <a:t>One between A1 and A2 and one between B2 and B3</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35</a:t>
            </a:fld>
            <a:endParaRPr lang="en-US" altLang="en-US"/>
          </a:p>
        </p:txBody>
      </p:sp>
      <p:graphicFrame>
        <p:nvGraphicFramePr>
          <p:cNvPr id="2" name="Table 1">
            <a:extLst>
              <a:ext uri="{FF2B5EF4-FFF2-40B4-BE49-F238E27FC236}">
                <a16:creationId xmlns:a16="http://schemas.microsoft.com/office/drawing/2014/main" id="{86A416F1-4334-41ED-84CC-B3B81E22628A}"/>
              </a:ext>
            </a:extLst>
          </p:cNvPr>
          <p:cNvGraphicFramePr>
            <a:graphicFrameLocks noGrp="1"/>
          </p:cNvGraphicFramePr>
          <p:nvPr/>
        </p:nvGraphicFramePr>
        <p:xfrm>
          <a:off x="762000" y="2118360"/>
          <a:ext cx="7620000" cy="1310640"/>
        </p:xfrm>
        <a:graphic>
          <a:graphicData uri="http://schemas.openxmlformats.org/drawingml/2006/table">
            <a:tbl>
              <a:tblPr>
                <a:tableStyleId>{5C22544A-7EE6-4342-B048-85BDC9FD1C3A}</a:tableStyleId>
              </a:tblPr>
              <a:tblGrid>
                <a:gridCol w="3810000">
                  <a:extLst>
                    <a:ext uri="{9D8B030D-6E8A-4147-A177-3AD203B41FA5}">
                      <a16:colId xmlns:a16="http://schemas.microsoft.com/office/drawing/2014/main" val="1126459457"/>
                    </a:ext>
                  </a:extLst>
                </a:gridCol>
                <a:gridCol w="3810000">
                  <a:extLst>
                    <a:ext uri="{9D8B030D-6E8A-4147-A177-3AD203B41FA5}">
                      <a16:colId xmlns:a16="http://schemas.microsoft.com/office/drawing/2014/main" val="1586064620"/>
                    </a:ext>
                  </a:extLst>
                </a:gridCol>
              </a:tblGrid>
              <a:tr h="370840">
                <a:tc>
                  <a:txBody>
                    <a:bodyPr/>
                    <a:lstStyle/>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 thread A</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A0: </a:t>
                      </a:r>
                      <a:r>
                        <a:rPr lang="en-US" sz="1600" b="1" dirty="0" err="1">
                          <a:solidFill>
                            <a:srgbClr val="00000A"/>
                          </a:solidFill>
                          <a:effectLst/>
                          <a:latin typeface="Courier New" panose="02070309020205020404" pitchFamily="49" charset="0"/>
                          <a:ea typeface="PMingLiU" panose="02020500000000000000" pitchFamily="18" charset="-120"/>
                        </a:rPr>
                        <a:t>ori</a:t>
                      </a:r>
                      <a:r>
                        <a:rPr lang="en-US" sz="1600" b="1" dirty="0">
                          <a:solidFill>
                            <a:srgbClr val="00000A"/>
                          </a:solidFill>
                          <a:effectLst/>
                          <a:latin typeface="Courier New" panose="02070309020205020404" pitchFamily="49" charset="0"/>
                          <a:ea typeface="PMingLiU" panose="02020500000000000000" pitchFamily="18" charset="-120"/>
                        </a:rPr>
                        <a:t>  $t0, $zero, 2000</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A1: </a:t>
                      </a:r>
                      <a:r>
                        <a:rPr lang="en-US" sz="1600" b="1" dirty="0" err="1">
                          <a:solidFill>
                            <a:srgbClr val="00000A"/>
                          </a:solidFill>
                          <a:effectLst/>
                          <a:latin typeface="Courier New" panose="02070309020205020404" pitchFamily="49" charset="0"/>
                          <a:ea typeface="PMingLiU" panose="02020500000000000000" pitchFamily="18" charset="-120"/>
                        </a:rPr>
                        <a:t>lw</a:t>
                      </a:r>
                      <a:r>
                        <a:rPr lang="en-US" sz="1600" b="1" dirty="0">
                          <a:solidFill>
                            <a:srgbClr val="00000A"/>
                          </a:solidFill>
                          <a:effectLst/>
                          <a:latin typeface="Courier New" panose="02070309020205020404" pitchFamily="49" charset="0"/>
                          <a:ea typeface="PMingLiU" panose="02020500000000000000" pitchFamily="18" charset="-120"/>
                        </a:rPr>
                        <a:t>   $s0, 0($t0)</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A2: </a:t>
                      </a:r>
                      <a:r>
                        <a:rPr lang="en-US" sz="1600" b="1" dirty="0" err="1">
                          <a:solidFill>
                            <a:srgbClr val="00000A"/>
                          </a:solidFill>
                          <a:effectLst/>
                          <a:latin typeface="Courier New" panose="02070309020205020404" pitchFamily="49" charset="0"/>
                          <a:ea typeface="PMingLiU" panose="02020500000000000000" pitchFamily="18" charset="-120"/>
                        </a:rPr>
                        <a:t>lw</a:t>
                      </a:r>
                      <a:r>
                        <a:rPr lang="en-US" sz="1600" b="1" dirty="0">
                          <a:solidFill>
                            <a:srgbClr val="00000A"/>
                          </a:solidFill>
                          <a:effectLst/>
                          <a:latin typeface="Courier New" panose="02070309020205020404" pitchFamily="49" charset="0"/>
                          <a:ea typeface="PMingLiU" panose="02020500000000000000" pitchFamily="18" charset="-120"/>
                        </a:rPr>
                        <a:t>   $s1, 4($t0)</a:t>
                      </a:r>
                      <a:endParaRPr lang="en-US" sz="1600" dirty="0">
                        <a:solidFill>
                          <a:srgbClr val="00000A"/>
                        </a:solidFill>
                        <a:effectLst/>
                        <a:latin typeface="Times New Roman" panose="02020603050405020304" pitchFamily="18" charset="0"/>
                        <a:ea typeface="PMingLiU" panose="02020500000000000000" pitchFamily="18" charset="-120"/>
                      </a:endParaRPr>
                    </a:p>
                  </a:txBody>
                  <a:tcPr>
                    <a:noFill/>
                  </a:tcPr>
                </a:tc>
                <a:tc>
                  <a:txBody>
                    <a:bodyPr/>
                    <a:lstStyle/>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 thread B</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B0: </a:t>
                      </a:r>
                      <a:r>
                        <a:rPr lang="en-US" sz="1600" b="1" dirty="0" err="1">
                          <a:solidFill>
                            <a:srgbClr val="00000A"/>
                          </a:solidFill>
                          <a:effectLst/>
                          <a:latin typeface="Courier New" panose="02070309020205020404" pitchFamily="49" charset="0"/>
                          <a:ea typeface="PMingLiU" panose="02020500000000000000" pitchFamily="18" charset="-120"/>
                        </a:rPr>
                        <a:t>ori</a:t>
                      </a:r>
                      <a:r>
                        <a:rPr lang="en-US" sz="1600" b="1" dirty="0">
                          <a:solidFill>
                            <a:srgbClr val="00000A"/>
                          </a:solidFill>
                          <a:effectLst/>
                          <a:latin typeface="Courier New" panose="02070309020205020404" pitchFamily="49" charset="0"/>
                          <a:ea typeface="PMingLiU" panose="02020500000000000000" pitchFamily="18" charset="-120"/>
                        </a:rPr>
                        <a:t>  $t0, $zero, 2000</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B1: </a:t>
                      </a:r>
                      <a:r>
                        <a:rPr lang="en-US" sz="1600" b="1" dirty="0" err="1">
                          <a:solidFill>
                            <a:srgbClr val="00000A"/>
                          </a:solidFill>
                          <a:effectLst/>
                          <a:latin typeface="Courier New" panose="02070309020205020404" pitchFamily="49" charset="0"/>
                          <a:ea typeface="PMingLiU" panose="02020500000000000000" pitchFamily="18" charset="-120"/>
                        </a:rPr>
                        <a:t>addi</a:t>
                      </a:r>
                      <a:r>
                        <a:rPr lang="en-US" sz="1600" b="1" dirty="0">
                          <a:solidFill>
                            <a:srgbClr val="00000A"/>
                          </a:solidFill>
                          <a:effectLst/>
                          <a:latin typeface="Courier New" panose="02070309020205020404" pitchFamily="49" charset="0"/>
                          <a:ea typeface="PMingLiU" panose="02020500000000000000" pitchFamily="18" charset="-120"/>
                        </a:rPr>
                        <a:t> $t1, $zero, 1</a:t>
                      </a:r>
                      <a:endParaRPr lang="en-US" sz="160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B2: </a:t>
                      </a:r>
                      <a:r>
                        <a:rPr lang="en-US" sz="1600" b="1" dirty="0" err="1">
                          <a:solidFill>
                            <a:srgbClr val="00000A"/>
                          </a:solidFill>
                          <a:effectLst/>
                          <a:latin typeface="Courier New" panose="02070309020205020404" pitchFamily="49" charset="0"/>
                          <a:ea typeface="PMingLiU" panose="02020500000000000000" pitchFamily="18" charset="-120"/>
                        </a:rPr>
                        <a:t>sw</a:t>
                      </a:r>
                      <a:r>
                        <a:rPr lang="en-US" sz="1600" b="1" dirty="0">
                          <a:solidFill>
                            <a:srgbClr val="00000A"/>
                          </a:solidFill>
                          <a:effectLst/>
                          <a:latin typeface="Courier New" panose="02070309020205020404" pitchFamily="49" charset="0"/>
                          <a:ea typeface="PMingLiU" panose="02020500000000000000" pitchFamily="18" charset="-120"/>
                        </a:rPr>
                        <a:t>   $t1, 4($t0)</a:t>
                      </a:r>
                      <a:endParaRPr lang="en-US" sz="1600" b="0" dirty="0">
                        <a:solidFill>
                          <a:srgbClr val="00000A"/>
                        </a:solidFill>
                        <a:effectLst/>
                        <a:latin typeface="Times New Roman" panose="02020603050405020304" pitchFamily="18" charset="0"/>
                        <a:ea typeface="PMingLiU" panose="02020500000000000000" pitchFamily="18" charset="-120"/>
                      </a:endParaRPr>
                    </a:p>
                    <a:p>
                      <a:pPr marL="457200" marR="0" algn="l">
                        <a:spcBef>
                          <a:spcPts val="0"/>
                        </a:spcBef>
                        <a:spcAft>
                          <a:spcPts val="0"/>
                        </a:spcAft>
                      </a:pPr>
                      <a:r>
                        <a:rPr lang="en-US" sz="1600" b="1" dirty="0">
                          <a:solidFill>
                            <a:srgbClr val="00000A"/>
                          </a:solidFill>
                          <a:effectLst/>
                          <a:latin typeface="Courier New" panose="02070309020205020404" pitchFamily="49" charset="0"/>
                          <a:ea typeface="PMingLiU" panose="02020500000000000000" pitchFamily="18" charset="-120"/>
                        </a:rPr>
                        <a:t>B3: </a:t>
                      </a:r>
                      <a:r>
                        <a:rPr lang="en-US" sz="1600" b="1" dirty="0" err="1">
                          <a:solidFill>
                            <a:srgbClr val="00000A"/>
                          </a:solidFill>
                          <a:effectLst/>
                          <a:latin typeface="Courier New" panose="02070309020205020404" pitchFamily="49" charset="0"/>
                          <a:ea typeface="PMingLiU" panose="02020500000000000000" pitchFamily="18" charset="-120"/>
                        </a:rPr>
                        <a:t>sw</a:t>
                      </a:r>
                      <a:r>
                        <a:rPr lang="en-US" sz="1600" b="1" dirty="0">
                          <a:solidFill>
                            <a:srgbClr val="00000A"/>
                          </a:solidFill>
                          <a:effectLst/>
                          <a:latin typeface="Courier New" panose="02070309020205020404" pitchFamily="49" charset="0"/>
                          <a:ea typeface="PMingLiU" panose="02020500000000000000" pitchFamily="18" charset="-120"/>
                        </a:rPr>
                        <a:t>   $t1, 0($t0)</a:t>
                      </a:r>
                      <a:endParaRPr lang="en-US" sz="1600" dirty="0">
                        <a:solidFill>
                          <a:srgbClr val="00000A"/>
                        </a:solidFill>
                        <a:effectLst/>
                        <a:latin typeface="Times New Roman" panose="02020603050405020304" pitchFamily="18" charset="0"/>
                        <a:ea typeface="PMingLiU" panose="02020500000000000000" pitchFamily="18" charset="-120"/>
                      </a:endParaRPr>
                    </a:p>
                  </a:txBody>
                  <a:tcPr>
                    <a:noFill/>
                  </a:tcPr>
                </a:tc>
                <a:extLst>
                  <a:ext uri="{0D108BD9-81ED-4DB2-BD59-A6C34878D82A}">
                    <a16:rowId xmlns:a16="http://schemas.microsoft.com/office/drawing/2014/main" val="2882831923"/>
                  </a:ext>
                </a:extLst>
              </a:tr>
            </a:tbl>
          </a:graphicData>
        </a:graphic>
      </p:graphicFrame>
      <p:sp>
        <p:nvSpPr>
          <p:cNvPr id="3" name="Rectangle 3">
            <a:extLst>
              <a:ext uri="{FF2B5EF4-FFF2-40B4-BE49-F238E27FC236}">
                <a16:creationId xmlns:a16="http://schemas.microsoft.com/office/drawing/2014/main" id="{F6B26728-5EF4-C7D8-8A9C-3F10583BAFDB}"/>
              </a:ext>
            </a:extLst>
          </p:cNvPr>
          <p:cNvSpPr txBox="1">
            <a:spLocks noChangeArrowheads="1"/>
          </p:cNvSpPr>
          <p:nvPr/>
        </p:nvSpPr>
        <p:spPr bwMode="auto">
          <a:xfrm>
            <a:off x="4807258" y="4648200"/>
            <a:ext cx="288894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400" b="1" dirty="0" err="1">
                <a:solidFill>
                  <a:schemeClr val="accent6">
                    <a:lumMod val="75000"/>
                  </a:schemeClr>
                </a:solidFill>
              </a:rPr>
              <a:t>i</a:t>
            </a:r>
            <a:r>
              <a:rPr lang="en-US" altLang="en-US" sz="2400" b="1" dirty="0">
                <a:solidFill>
                  <a:schemeClr val="accent6">
                    <a:lumMod val="75000"/>
                  </a:schemeClr>
                </a:solidFill>
              </a:rPr>
              <a:t>, ii, iv are possible</a:t>
            </a:r>
            <a:endParaRPr lang="en-US" altLang="en-US" sz="2000" b="1" dirty="0">
              <a:solidFill>
                <a:schemeClr val="accent6">
                  <a:lumMod val="75000"/>
                </a:schemeClr>
              </a:solidFill>
            </a:endParaRPr>
          </a:p>
        </p:txBody>
      </p:sp>
    </p:spTree>
    <p:extLst>
      <p:ext uri="{BB962C8B-B14F-4D97-AF65-F5344CB8AC3E}">
        <p14:creationId xmlns:p14="http://schemas.microsoft.com/office/powerpoint/2010/main" val="34612491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 Coherence</a:t>
            </a:r>
          </a:p>
        </p:txBody>
      </p:sp>
      <p:sp>
        <p:nvSpPr>
          <p:cNvPr id="39941" name="Rectangle 3"/>
          <p:cNvSpPr>
            <a:spLocks noGrp="1" noChangeArrowheads="1"/>
          </p:cNvSpPr>
          <p:nvPr>
            <p:ph idx="1"/>
          </p:nvPr>
        </p:nvSpPr>
        <p:spPr>
          <a:xfrm>
            <a:off x="457200" y="1295400"/>
            <a:ext cx="8610600" cy="5105400"/>
          </a:xfrm>
        </p:spPr>
        <p:txBody>
          <a:bodyPr/>
          <a:lstStyle/>
          <a:p>
            <a:pPr marL="0" indent="0">
              <a:buNone/>
            </a:pPr>
            <a:r>
              <a:rPr lang="en-US" altLang="en-US" sz="2400" dirty="0"/>
              <a:t>Four threads run on a </a:t>
            </a:r>
            <a:r>
              <a:rPr lang="en-US" altLang="en-US" sz="2400" b="1" dirty="0"/>
              <a:t>shared-memory multiprocessor </a:t>
            </a:r>
            <a:r>
              <a:rPr lang="en-US" altLang="en-US" sz="2400" dirty="0"/>
              <a:t>with private caches that use the </a:t>
            </a:r>
            <a:r>
              <a:rPr lang="en-US" altLang="en-US" sz="2400" b="1" dirty="0"/>
              <a:t>MSI coherence protocol</a:t>
            </a:r>
            <a:r>
              <a:rPr lang="en-US" altLang="en-US" sz="2400" dirty="0"/>
              <a:t>. Without knowing the initial states of the caches, you observe the following sequence of memory accesses to a single block X.</a:t>
            </a:r>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800" dirty="0"/>
          </a:p>
          <a:p>
            <a:pPr marL="0" indent="0">
              <a:buNone/>
            </a:pPr>
            <a:r>
              <a:rPr lang="en-US" altLang="en-US" sz="2400" dirty="0"/>
              <a:t>What is the current </a:t>
            </a:r>
            <a:r>
              <a:rPr lang="en-US" altLang="en-US" sz="2400" b="1" dirty="0"/>
              <a:t>coherence state </a:t>
            </a:r>
            <a:r>
              <a:rPr lang="en-US" altLang="en-US" sz="2400" dirty="0"/>
              <a:t>of block X in each cache (M/S/I/Unknown) </a:t>
            </a:r>
            <a:r>
              <a:rPr lang="en-US" altLang="en-US" sz="2400" b="1" dirty="0"/>
              <a:t>after</a:t>
            </a:r>
            <a:r>
              <a:rPr lang="en-US" altLang="en-US" sz="2400" dirty="0"/>
              <a:t> this sequence of accesses?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36</a:t>
            </a:fld>
            <a:endParaRPr lang="en-US" altLang="en-US"/>
          </a:p>
        </p:txBody>
      </p:sp>
      <p:graphicFrame>
        <p:nvGraphicFramePr>
          <p:cNvPr id="3" name="Table 2">
            <a:extLst>
              <a:ext uri="{FF2B5EF4-FFF2-40B4-BE49-F238E27FC236}">
                <a16:creationId xmlns:a16="http://schemas.microsoft.com/office/drawing/2014/main" id="{0515789E-8E83-5FCC-D376-9633346FF944}"/>
              </a:ext>
            </a:extLst>
          </p:cNvPr>
          <p:cNvGraphicFramePr>
            <a:graphicFrameLocks noGrp="1"/>
          </p:cNvGraphicFramePr>
          <p:nvPr>
            <p:extLst>
              <p:ext uri="{D42A27DB-BD31-4B8C-83A1-F6EECF244321}">
                <p14:modId xmlns:p14="http://schemas.microsoft.com/office/powerpoint/2010/main" val="3933789323"/>
              </p:ext>
            </p:extLst>
          </p:nvPr>
        </p:nvGraphicFramePr>
        <p:xfrm>
          <a:off x="838200" y="2895600"/>
          <a:ext cx="7467600" cy="182880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604716426"/>
                    </a:ext>
                  </a:extLst>
                </a:gridCol>
                <a:gridCol w="1493520">
                  <a:extLst>
                    <a:ext uri="{9D8B030D-6E8A-4147-A177-3AD203B41FA5}">
                      <a16:colId xmlns:a16="http://schemas.microsoft.com/office/drawing/2014/main" val="93539019"/>
                    </a:ext>
                  </a:extLst>
                </a:gridCol>
                <a:gridCol w="1493520">
                  <a:extLst>
                    <a:ext uri="{9D8B030D-6E8A-4147-A177-3AD203B41FA5}">
                      <a16:colId xmlns:a16="http://schemas.microsoft.com/office/drawing/2014/main" val="598753803"/>
                    </a:ext>
                  </a:extLst>
                </a:gridCol>
                <a:gridCol w="1493520">
                  <a:extLst>
                    <a:ext uri="{9D8B030D-6E8A-4147-A177-3AD203B41FA5}">
                      <a16:colId xmlns:a16="http://schemas.microsoft.com/office/drawing/2014/main" val="1108223607"/>
                    </a:ext>
                  </a:extLst>
                </a:gridCol>
                <a:gridCol w="1493520">
                  <a:extLst>
                    <a:ext uri="{9D8B030D-6E8A-4147-A177-3AD203B41FA5}">
                      <a16:colId xmlns:a16="http://schemas.microsoft.com/office/drawing/2014/main" val="2217702580"/>
                    </a:ext>
                  </a:extLst>
                </a:gridCol>
              </a:tblGrid>
              <a:tr h="274320">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902039"/>
                  </a:ext>
                </a:extLst>
              </a:tr>
              <a:tr h="274320">
                <a:tc>
                  <a:txBody>
                    <a:bodyPr/>
                    <a:lstStyle/>
                    <a:p>
                      <a:pPr algn="ctr"/>
                      <a:r>
                        <a:rPr lang="en-US" b="1" dirty="0">
                          <a:solidFill>
                            <a:schemeClr val="tx1"/>
                          </a:solidFill>
                        </a:rPr>
                        <a:t>Time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408548"/>
                  </a:ext>
                </a:extLst>
              </a:tr>
              <a:tr h="274320">
                <a:tc>
                  <a:txBody>
                    <a:bodyPr/>
                    <a:lstStyle/>
                    <a:p>
                      <a:pPr algn="ctr"/>
                      <a:r>
                        <a:rPr lang="en-US" b="1" dirty="0">
                          <a:solidFill>
                            <a:schemeClr val="tx1"/>
                          </a:solidFill>
                        </a:rPr>
                        <a:t>Time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2173332"/>
                  </a:ext>
                </a:extLst>
              </a:tr>
              <a:tr h="274320">
                <a:tc>
                  <a:txBody>
                    <a:bodyPr/>
                    <a:lstStyle/>
                    <a:p>
                      <a:pPr algn="ctr"/>
                      <a:r>
                        <a:rPr lang="en-US" b="1" dirty="0">
                          <a:solidFill>
                            <a:schemeClr val="tx1"/>
                          </a:solidFill>
                        </a:rPr>
                        <a:t>Time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Store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205668"/>
                  </a:ext>
                </a:extLst>
              </a:tr>
              <a:tr h="274320">
                <a:tc>
                  <a:txBody>
                    <a:bodyPr/>
                    <a:lstStyle/>
                    <a:p>
                      <a:pPr algn="ctr"/>
                      <a:r>
                        <a:rPr lang="en-US" b="1" dirty="0">
                          <a:solidFill>
                            <a:schemeClr val="tx1"/>
                          </a:solidFill>
                        </a:rPr>
                        <a:t>Time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3563524"/>
                  </a:ext>
                </a:extLst>
              </a:tr>
            </a:tbl>
          </a:graphicData>
        </a:graphic>
      </p:graphicFrame>
      <p:graphicFrame>
        <p:nvGraphicFramePr>
          <p:cNvPr id="4" name="Table 3">
            <a:extLst>
              <a:ext uri="{FF2B5EF4-FFF2-40B4-BE49-F238E27FC236}">
                <a16:creationId xmlns:a16="http://schemas.microsoft.com/office/drawing/2014/main" id="{3C9C4AA1-F9F9-1D1E-DB9D-06A499E268DD}"/>
              </a:ext>
            </a:extLst>
          </p:cNvPr>
          <p:cNvGraphicFramePr>
            <a:graphicFrameLocks noGrp="1"/>
          </p:cNvGraphicFramePr>
          <p:nvPr>
            <p:extLst>
              <p:ext uri="{D42A27DB-BD31-4B8C-83A1-F6EECF244321}">
                <p14:modId xmlns:p14="http://schemas.microsoft.com/office/powerpoint/2010/main" val="292507906"/>
              </p:ext>
            </p:extLst>
          </p:nvPr>
        </p:nvGraphicFramePr>
        <p:xfrm>
          <a:off x="838200" y="5638800"/>
          <a:ext cx="7467600" cy="73152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604716426"/>
                    </a:ext>
                  </a:extLst>
                </a:gridCol>
                <a:gridCol w="1493520">
                  <a:extLst>
                    <a:ext uri="{9D8B030D-6E8A-4147-A177-3AD203B41FA5}">
                      <a16:colId xmlns:a16="http://schemas.microsoft.com/office/drawing/2014/main" val="93539019"/>
                    </a:ext>
                  </a:extLst>
                </a:gridCol>
                <a:gridCol w="1493520">
                  <a:extLst>
                    <a:ext uri="{9D8B030D-6E8A-4147-A177-3AD203B41FA5}">
                      <a16:colId xmlns:a16="http://schemas.microsoft.com/office/drawing/2014/main" val="598753803"/>
                    </a:ext>
                  </a:extLst>
                </a:gridCol>
                <a:gridCol w="1493520">
                  <a:extLst>
                    <a:ext uri="{9D8B030D-6E8A-4147-A177-3AD203B41FA5}">
                      <a16:colId xmlns:a16="http://schemas.microsoft.com/office/drawing/2014/main" val="1108223607"/>
                    </a:ext>
                  </a:extLst>
                </a:gridCol>
                <a:gridCol w="1493520">
                  <a:extLst>
                    <a:ext uri="{9D8B030D-6E8A-4147-A177-3AD203B41FA5}">
                      <a16:colId xmlns:a16="http://schemas.microsoft.com/office/drawing/2014/main" val="2217702580"/>
                    </a:ext>
                  </a:extLst>
                </a:gridCol>
              </a:tblGrid>
              <a:tr h="274320">
                <a:tc rowSpan="2">
                  <a:txBody>
                    <a:bodyPr/>
                    <a:lstStyle/>
                    <a:p>
                      <a:pPr algn="ctr"/>
                      <a:r>
                        <a:rPr lang="en-US" b="1" dirty="0">
                          <a:solidFill>
                            <a:schemeClr val="tx1"/>
                          </a:solidFill>
                        </a:rPr>
                        <a:t>State of</a:t>
                      </a:r>
                    </a:p>
                    <a:p>
                      <a:pPr algn="ctr"/>
                      <a:r>
                        <a:rPr lang="en-US" b="1" dirty="0">
                          <a:solidFill>
                            <a:schemeClr val="tx1"/>
                          </a:solidFill>
                        </a:rPr>
                        <a:t>Block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902039"/>
                  </a:ext>
                </a:extLst>
              </a:tr>
              <a:tr h="274320">
                <a:tc vMerge="1">
                  <a:txBody>
                    <a:bodyPr/>
                    <a:lstStyle/>
                    <a:p>
                      <a:pPr algn="ctr"/>
                      <a:r>
                        <a:rPr lang="en-US" b="1" dirty="0">
                          <a:solidFill>
                            <a:schemeClr val="tx1"/>
                          </a:solidFill>
                        </a:rPr>
                        <a:t>Block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408548"/>
                  </a:ext>
                </a:extLst>
              </a:tr>
            </a:tbl>
          </a:graphicData>
        </a:graphic>
      </p:graphicFrame>
    </p:spTree>
    <p:extLst>
      <p:ext uri="{BB962C8B-B14F-4D97-AF65-F5344CB8AC3E}">
        <p14:creationId xmlns:p14="http://schemas.microsoft.com/office/powerpoint/2010/main" val="67152906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 Coherence</a:t>
            </a:r>
          </a:p>
        </p:txBody>
      </p:sp>
      <p:sp>
        <p:nvSpPr>
          <p:cNvPr id="39941" name="Rectangle 3"/>
          <p:cNvSpPr>
            <a:spLocks noGrp="1" noChangeArrowheads="1"/>
          </p:cNvSpPr>
          <p:nvPr>
            <p:ph idx="1"/>
          </p:nvPr>
        </p:nvSpPr>
        <p:spPr>
          <a:xfrm>
            <a:off x="457200" y="1295400"/>
            <a:ext cx="8610600" cy="5105400"/>
          </a:xfrm>
        </p:spPr>
        <p:txBody>
          <a:bodyPr/>
          <a:lstStyle/>
          <a:p>
            <a:pPr marL="0" indent="0">
              <a:buNone/>
            </a:pPr>
            <a:r>
              <a:rPr lang="en-US" altLang="en-US" sz="2400" dirty="0"/>
              <a:t>Four threads run on a </a:t>
            </a:r>
            <a:r>
              <a:rPr lang="en-US" altLang="en-US" sz="2400" b="1" dirty="0"/>
              <a:t>shared-memory multiprocessor </a:t>
            </a:r>
            <a:r>
              <a:rPr lang="en-US" altLang="en-US" sz="2400" dirty="0"/>
              <a:t>with private caches that use the </a:t>
            </a:r>
            <a:r>
              <a:rPr lang="en-US" altLang="en-US" sz="2400" b="1" dirty="0"/>
              <a:t>MSI coherence protocol</a:t>
            </a:r>
            <a:r>
              <a:rPr lang="en-US" altLang="en-US" sz="2400" dirty="0"/>
              <a:t>. Without knowing the initial states of the caches, you observe the following sequence of memory accesses to a single block X.</a:t>
            </a:r>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800" dirty="0"/>
          </a:p>
          <a:p>
            <a:pPr marL="0" indent="0">
              <a:buNone/>
            </a:pPr>
            <a:r>
              <a:rPr lang="en-US" altLang="en-US" sz="2400" dirty="0"/>
              <a:t>What is the current </a:t>
            </a:r>
            <a:r>
              <a:rPr lang="en-US" altLang="en-US" sz="2400" b="1" dirty="0"/>
              <a:t>coherence state </a:t>
            </a:r>
            <a:r>
              <a:rPr lang="en-US" altLang="en-US" sz="2400" dirty="0"/>
              <a:t>of block X in each cache (M/S/I/Unknown) </a:t>
            </a:r>
            <a:r>
              <a:rPr lang="en-US" altLang="en-US" sz="2400" b="1" dirty="0"/>
              <a:t>after</a:t>
            </a:r>
            <a:r>
              <a:rPr lang="en-US" altLang="en-US" sz="2400" dirty="0"/>
              <a:t> this sequence of accesses?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37</a:t>
            </a:fld>
            <a:endParaRPr lang="en-US" altLang="en-US"/>
          </a:p>
        </p:txBody>
      </p:sp>
      <p:graphicFrame>
        <p:nvGraphicFramePr>
          <p:cNvPr id="3" name="Table 2">
            <a:extLst>
              <a:ext uri="{FF2B5EF4-FFF2-40B4-BE49-F238E27FC236}">
                <a16:creationId xmlns:a16="http://schemas.microsoft.com/office/drawing/2014/main" id="{0515789E-8E83-5FCC-D376-9633346FF944}"/>
              </a:ext>
            </a:extLst>
          </p:cNvPr>
          <p:cNvGraphicFramePr>
            <a:graphicFrameLocks noGrp="1"/>
          </p:cNvGraphicFramePr>
          <p:nvPr/>
        </p:nvGraphicFramePr>
        <p:xfrm>
          <a:off x="838200" y="2895600"/>
          <a:ext cx="7467600" cy="182880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604716426"/>
                    </a:ext>
                  </a:extLst>
                </a:gridCol>
                <a:gridCol w="1493520">
                  <a:extLst>
                    <a:ext uri="{9D8B030D-6E8A-4147-A177-3AD203B41FA5}">
                      <a16:colId xmlns:a16="http://schemas.microsoft.com/office/drawing/2014/main" val="93539019"/>
                    </a:ext>
                  </a:extLst>
                </a:gridCol>
                <a:gridCol w="1493520">
                  <a:extLst>
                    <a:ext uri="{9D8B030D-6E8A-4147-A177-3AD203B41FA5}">
                      <a16:colId xmlns:a16="http://schemas.microsoft.com/office/drawing/2014/main" val="598753803"/>
                    </a:ext>
                  </a:extLst>
                </a:gridCol>
                <a:gridCol w="1493520">
                  <a:extLst>
                    <a:ext uri="{9D8B030D-6E8A-4147-A177-3AD203B41FA5}">
                      <a16:colId xmlns:a16="http://schemas.microsoft.com/office/drawing/2014/main" val="1108223607"/>
                    </a:ext>
                  </a:extLst>
                </a:gridCol>
                <a:gridCol w="1493520">
                  <a:extLst>
                    <a:ext uri="{9D8B030D-6E8A-4147-A177-3AD203B41FA5}">
                      <a16:colId xmlns:a16="http://schemas.microsoft.com/office/drawing/2014/main" val="2217702580"/>
                    </a:ext>
                  </a:extLst>
                </a:gridCol>
              </a:tblGrid>
              <a:tr h="274320">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902039"/>
                  </a:ext>
                </a:extLst>
              </a:tr>
              <a:tr h="274320">
                <a:tc>
                  <a:txBody>
                    <a:bodyPr/>
                    <a:lstStyle/>
                    <a:p>
                      <a:pPr algn="ctr"/>
                      <a:r>
                        <a:rPr lang="en-US" b="1" dirty="0">
                          <a:solidFill>
                            <a:schemeClr val="tx1"/>
                          </a:solidFill>
                        </a:rPr>
                        <a:t>Time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408548"/>
                  </a:ext>
                </a:extLst>
              </a:tr>
              <a:tr h="274320">
                <a:tc>
                  <a:txBody>
                    <a:bodyPr/>
                    <a:lstStyle/>
                    <a:p>
                      <a:pPr algn="ctr"/>
                      <a:r>
                        <a:rPr lang="en-US" b="1" dirty="0">
                          <a:solidFill>
                            <a:schemeClr val="tx1"/>
                          </a:solidFill>
                        </a:rPr>
                        <a:t>Time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2173332"/>
                  </a:ext>
                </a:extLst>
              </a:tr>
              <a:tr h="274320">
                <a:tc>
                  <a:txBody>
                    <a:bodyPr/>
                    <a:lstStyle/>
                    <a:p>
                      <a:pPr algn="ctr"/>
                      <a:r>
                        <a:rPr lang="en-US" b="1" dirty="0">
                          <a:solidFill>
                            <a:schemeClr val="tx1"/>
                          </a:solidFill>
                        </a:rPr>
                        <a:t>Time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Store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205668"/>
                  </a:ext>
                </a:extLst>
              </a:tr>
              <a:tr h="274320">
                <a:tc>
                  <a:txBody>
                    <a:bodyPr/>
                    <a:lstStyle/>
                    <a:p>
                      <a:pPr algn="ctr"/>
                      <a:r>
                        <a:rPr lang="en-US" b="1" dirty="0">
                          <a:solidFill>
                            <a:schemeClr val="tx1"/>
                          </a:solidFill>
                        </a:rPr>
                        <a:t>Time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3563524"/>
                  </a:ext>
                </a:extLst>
              </a:tr>
            </a:tbl>
          </a:graphicData>
        </a:graphic>
      </p:graphicFrame>
      <p:graphicFrame>
        <p:nvGraphicFramePr>
          <p:cNvPr id="4" name="Table 3">
            <a:extLst>
              <a:ext uri="{FF2B5EF4-FFF2-40B4-BE49-F238E27FC236}">
                <a16:creationId xmlns:a16="http://schemas.microsoft.com/office/drawing/2014/main" id="{3C9C4AA1-F9F9-1D1E-DB9D-06A499E268DD}"/>
              </a:ext>
            </a:extLst>
          </p:cNvPr>
          <p:cNvGraphicFramePr>
            <a:graphicFrameLocks noGrp="1"/>
          </p:cNvGraphicFramePr>
          <p:nvPr>
            <p:extLst>
              <p:ext uri="{D42A27DB-BD31-4B8C-83A1-F6EECF244321}">
                <p14:modId xmlns:p14="http://schemas.microsoft.com/office/powerpoint/2010/main" val="1114779465"/>
              </p:ext>
            </p:extLst>
          </p:nvPr>
        </p:nvGraphicFramePr>
        <p:xfrm>
          <a:off x="838200" y="5638800"/>
          <a:ext cx="7467600" cy="73152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604716426"/>
                    </a:ext>
                  </a:extLst>
                </a:gridCol>
                <a:gridCol w="1493520">
                  <a:extLst>
                    <a:ext uri="{9D8B030D-6E8A-4147-A177-3AD203B41FA5}">
                      <a16:colId xmlns:a16="http://schemas.microsoft.com/office/drawing/2014/main" val="93539019"/>
                    </a:ext>
                  </a:extLst>
                </a:gridCol>
                <a:gridCol w="1493520">
                  <a:extLst>
                    <a:ext uri="{9D8B030D-6E8A-4147-A177-3AD203B41FA5}">
                      <a16:colId xmlns:a16="http://schemas.microsoft.com/office/drawing/2014/main" val="598753803"/>
                    </a:ext>
                  </a:extLst>
                </a:gridCol>
                <a:gridCol w="1493520">
                  <a:extLst>
                    <a:ext uri="{9D8B030D-6E8A-4147-A177-3AD203B41FA5}">
                      <a16:colId xmlns:a16="http://schemas.microsoft.com/office/drawing/2014/main" val="1108223607"/>
                    </a:ext>
                  </a:extLst>
                </a:gridCol>
                <a:gridCol w="1493520">
                  <a:extLst>
                    <a:ext uri="{9D8B030D-6E8A-4147-A177-3AD203B41FA5}">
                      <a16:colId xmlns:a16="http://schemas.microsoft.com/office/drawing/2014/main" val="2217702580"/>
                    </a:ext>
                  </a:extLst>
                </a:gridCol>
              </a:tblGrid>
              <a:tr h="274320">
                <a:tc rowSpan="2">
                  <a:txBody>
                    <a:bodyPr/>
                    <a:lstStyle/>
                    <a:p>
                      <a:pPr algn="ctr"/>
                      <a:r>
                        <a:rPr lang="en-US" b="1" dirty="0">
                          <a:solidFill>
                            <a:schemeClr val="tx1"/>
                          </a:solidFill>
                        </a:rPr>
                        <a:t>State of</a:t>
                      </a:r>
                    </a:p>
                    <a:p>
                      <a:pPr algn="ctr"/>
                      <a:r>
                        <a:rPr lang="en-US" b="1" dirty="0">
                          <a:solidFill>
                            <a:schemeClr val="tx1"/>
                          </a:solidFill>
                        </a:rPr>
                        <a:t>Block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902039"/>
                  </a:ext>
                </a:extLst>
              </a:tr>
              <a:tr h="274320">
                <a:tc vMerge="1">
                  <a:txBody>
                    <a:bodyPr/>
                    <a:lstStyle/>
                    <a:p>
                      <a:pPr algn="ctr"/>
                      <a:r>
                        <a:rPr lang="en-US" b="1" dirty="0">
                          <a:solidFill>
                            <a:schemeClr val="tx1"/>
                          </a:solidFill>
                        </a:rPr>
                        <a:t>Block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accent6">
                              <a:lumMod val="75000"/>
                            </a:schemeClr>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408548"/>
                  </a:ext>
                </a:extLst>
              </a:tr>
            </a:tbl>
          </a:graphicData>
        </a:graphic>
      </p:graphicFrame>
    </p:spTree>
    <p:extLst>
      <p:ext uri="{BB962C8B-B14F-4D97-AF65-F5344CB8AC3E}">
        <p14:creationId xmlns:p14="http://schemas.microsoft.com/office/powerpoint/2010/main" val="65044159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 Coherence</a:t>
            </a:r>
          </a:p>
        </p:txBody>
      </p:sp>
      <p:sp>
        <p:nvSpPr>
          <p:cNvPr id="39941" name="Rectangle 3"/>
          <p:cNvSpPr>
            <a:spLocks noGrp="1" noChangeArrowheads="1"/>
          </p:cNvSpPr>
          <p:nvPr>
            <p:ph idx="1"/>
          </p:nvPr>
        </p:nvSpPr>
        <p:spPr>
          <a:xfrm>
            <a:off x="457200" y="1295400"/>
            <a:ext cx="8610600" cy="5105400"/>
          </a:xfrm>
        </p:spPr>
        <p:txBody>
          <a:bodyPr/>
          <a:lstStyle/>
          <a:p>
            <a:pPr marL="0" indent="0">
              <a:buNone/>
            </a:pPr>
            <a:r>
              <a:rPr lang="en-US" altLang="en-US" sz="2400" dirty="0"/>
              <a:t>Four threads run on a </a:t>
            </a:r>
            <a:r>
              <a:rPr lang="en-US" altLang="en-US" sz="2400" b="1" dirty="0"/>
              <a:t>shared-memory multiprocessor </a:t>
            </a:r>
            <a:r>
              <a:rPr lang="en-US" altLang="en-US" sz="2400" dirty="0"/>
              <a:t>with private caches that use the </a:t>
            </a:r>
            <a:r>
              <a:rPr lang="en-US" altLang="en-US" sz="2400" b="1" dirty="0"/>
              <a:t>MSI coherence protocol</a:t>
            </a:r>
            <a:r>
              <a:rPr lang="en-US" altLang="en-US" sz="2400" dirty="0"/>
              <a:t>. Without knowing the initial states of the caches, you observe the following sequence of memory accesses to a single block X.</a:t>
            </a:r>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800" dirty="0"/>
          </a:p>
          <a:p>
            <a:pPr marL="0" indent="0">
              <a:buNone/>
            </a:pPr>
            <a:r>
              <a:rPr lang="en-US" altLang="en-US" sz="2400" dirty="0"/>
              <a:t>What is the current </a:t>
            </a:r>
            <a:r>
              <a:rPr lang="en-US" altLang="en-US" sz="2400" b="1" dirty="0"/>
              <a:t>coherence state </a:t>
            </a:r>
            <a:r>
              <a:rPr lang="en-US" altLang="en-US" sz="2400" dirty="0"/>
              <a:t>of block X in each cache (M/S/I/Unknown) </a:t>
            </a:r>
            <a:r>
              <a:rPr lang="en-US" altLang="en-US" sz="2400" b="1" dirty="0"/>
              <a:t>after</a:t>
            </a:r>
            <a:r>
              <a:rPr lang="en-US" altLang="en-US" sz="2400" dirty="0"/>
              <a:t> this sequence of accesses?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38</a:t>
            </a:fld>
            <a:endParaRPr lang="en-US" altLang="en-US"/>
          </a:p>
        </p:txBody>
      </p:sp>
      <p:graphicFrame>
        <p:nvGraphicFramePr>
          <p:cNvPr id="3" name="Table 2">
            <a:extLst>
              <a:ext uri="{FF2B5EF4-FFF2-40B4-BE49-F238E27FC236}">
                <a16:creationId xmlns:a16="http://schemas.microsoft.com/office/drawing/2014/main" id="{0515789E-8E83-5FCC-D376-9633346FF944}"/>
              </a:ext>
            </a:extLst>
          </p:cNvPr>
          <p:cNvGraphicFramePr>
            <a:graphicFrameLocks noGrp="1"/>
          </p:cNvGraphicFramePr>
          <p:nvPr/>
        </p:nvGraphicFramePr>
        <p:xfrm>
          <a:off x="838200" y="2895600"/>
          <a:ext cx="7467600" cy="182880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604716426"/>
                    </a:ext>
                  </a:extLst>
                </a:gridCol>
                <a:gridCol w="1493520">
                  <a:extLst>
                    <a:ext uri="{9D8B030D-6E8A-4147-A177-3AD203B41FA5}">
                      <a16:colId xmlns:a16="http://schemas.microsoft.com/office/drawing/2014/main" val="93539019"/>
                    </a:ext>
                  </a:extLst>
                </a:gridCol>
                <a:gridCol w="1493520">
                  <a:extLst>
                    <a:ext uri="{9D8B030D-6E8A-4147-A177-3AD203B41FA5}">
                      <a16:colId xmlns:a16="http://schemas.microsoft.com/office/drawing/2014/main" val="598753803"/>
                    </a:ext>
                  </a:extLst>
                </a:gridCol>
                <a:gridCol w="1493520">
                  <a:extLst>
                    <a:ext uri="{9D8B030D-6E8A-4147-A177-3AD203B41FA5}">
                      <a16:colId xmlns:a16="http://schemas.microsoft.com/office/drawing/2014/main" val="1108223607"/>
                    </a:ext>
                  </a:extLst>
                </a:gridCol>
                <a:gridCol w="1493520">
                  <a:extLst>
                    <a:ext uri="{9D8B030D-6E8A-4147-A177-3AD203B41FA5}">
                      <a16:colId xmlns:a16="http://schemas.microsoft.com/office/drawing/2014/main" val="2217702580"/>
                    </a:ext>
                  </a:extLst>
                </a:gridCol>
              </a:tblGrid>
              <a:tr h="274320">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902039"/>
                  </a:ext>
                </a:extLst>
              </a:tr>
              <a:tr h="274320">
                <a:tc>
                  <a:txBody>
                    <a:bodyPr/>
                    <a:lstStyle/>
                    <a:p>
                      <a:pPr algn="ctr"/>
                      <a:r>
                        <a:rPr lang="en-US" b="1" dirty="0">
                          <a:solidFill>
                            <a:schemeClr val="tx1"/>
                          </a:solidFill>
                        </a:rPr>
                        <a:t>Time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408548"/>
                  </a:ext>
                </a:extLst>
              </a:tr>
              <a:tr h="274320">
                <a:tc>
                  <a:txBody>
                    <a:bodyPr/>
                    <a:lstStyle/>
                    <a:p>
                      <a:pPr algn="ctr"/>
                      <a:r>
                        <a:rPr lang="en-US" b="1" dirty="0">
                          <a:solidFill>
                            <a:schemeClr val="tx1"/>
                          </a:solidFill>
                        </a:rPr>
                        <a:t>Time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2173332"/>
                  </a:ext>
                </a:extLst>
              </a:tr>
              <a:tr h="274320">
                <a:tc>
                  <a:txBody>
                    <a:bodyPr/>
                    <a:lstStyle/>
                    <a:p>
                      <a:pPr algn="ctr"/>
                      <a:r>
                        <a:rPr lang="en-US" b="1" dirty="0">
                          <a:solidFill>
                            <a:schemeClr val="tx1"/>
                          </a:solidFill>
                        </a:rPr>
                        <a:t>Time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Store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205668"/>
                  </a:ext>
                </a:extLst>
              </a:tr>
              <a:tr h="274320">
                <a:tc>
                  <a:txBody>
                    <a:bodyPr/>
                    <a:lstStyle/>
                    <a:p>
                      <a:pPr algn="ctr"/>
                      <a:r>
                        <a:rPr lang="en-US" b="1" dirty="0">
                          <a:solidFill>
                            <a:schemeClr val="tx1"/>
                          </a:solidFill>
                        </a:rPr>
                        <a:t>Time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3563524"/>
                  </a:ext>
                </a:extLst>
              </a:tr>
            </a:tbl>
          </a:graphicData>
        </a:graphic>
      </p:graphicFrame>
      <p:graphicFrame>
        <p:nvGraphicFramePr>
          <p:cNvPr id="4" name="Table 3">
            <a:extLst>
              <a:ext uri="{FF2B5EF4-FFF2-40B4-BE49-F238E27FC236}">
                <a16:creationId xmlns:a16="http://schemas.microsoft.com/office/drawing/2014/main" id="{3C9C4AA1-F9F9-1D1E-DB9D-06A499E268DD}"/>
              </a:ext>
            </a:extLst>
          </p:cNvPr>
          <p:cNvGraphicFramePr>
            <a:graphicFrameLocks noGrp="1"/>
          </p:cNvGraphicFramePr>
          <p:nvPr>
            <p:extLst>
              <p:ext uri="{D42A27DB-BD31-4B8C-83A1-F6EECF244321}">
                <p14:modId xmlns:p14="http://schemas.microsoft.com/office/powerpoint/2010/main" val="245327611"/>
              </p:ext>
            </p:extLst>
          </p:nvPr>
        </p:nvGraphicFramePr>
        <p:xfrm>
          <a:off x="838200" y="5638800"/>
          <a:ext cx="7467600" cy="73152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604716426"/>
                    </a:ext>
                  </a:extLst>
                </a:gridCol>
                <a:gridCol w="1493520">
                  <a:extLst>
                    <a:ext uri="{9D8B030D-6E8A-4147-A177-3AD203B41FA5}">
                      <a16:colId xmlns:a16="http://schemas.microsoft.com/office/drawing/2014/main" val="93539019"/>
                    </a:ext>
                  </a:extLst>
                </a:gridCol>
                <a:gridCol w="1493520">
                  <a:extLst>
                    <a:ext uri="{9D8B030D-6E8A-4147-A177-3AD203B41FA5}">
                      <a16:colId xmlns:a16="http://schemas.microsoft.com/office/drawing/2014/main" val="598753803"/>
                    </a:ext>
                  </a:extLst>
                </a:gridCol>
                <a:gridCol w="1493520">
                  <a:extLst>
                    <a:ext uri="{9D8B030D-6E8A-4147-A177-3AD203B41FA5}">
                      <a16:colId xmlns:a16="http://schemas.microsoft.com/office/drawing/2014/main" val="1108223607"/>
                    </a:ext>
                  </a:extLst>
                </a:gridCol>
                <a:gridCol w="1493520">
                  <a:extLst>
                    <a:ext uri="{9D8B030D-6E8A-4147-A177-3AD203B41FA5}">
                      <a16:colId xmlns:a16="http://schemas.microsoft.com/office/drawing/2014/main" val="2217702580"/>
                    </a:ext>
                  </a:extLst>
                </a:gridCol>
              </a:tblGrid>
              <a:tr h="274320">
                <a:tc rowSpan="2">
                  <a:txBody>
                    <a:bodyPr/>
                    <a:lstStyle/>
                    <a:p>
                      <a:pPr algn="ctr"/>
                      <a:r>
                        <a:rPr lang="en-US" b="1" dirty="0">
                          <a:solidFill>
                            <a:schemeClr val="tx1"/>
                          </a:solidFill>
                        </a:rPr>
                        <a:t>State of</a:t>
                      </a:r>
                    </a:p>
                    <a:p>
                      <a:pPr algn="ctr"/>
                      <a:r>
                        <a:rPr lang="en-US" b="1" dirty="0">
                          <a:solidFill>
                            <a:schemeClr val="tx1"/>
                          </a:solidFill>
                        </a:rPr>
                        <a:t>Block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902039"/>
                  </a:ext>
                </a:extLst>
              </a:tr>
              <a:tr h="274320">
                <a:tc vMerge="1">
                  <a:txBody>
                    <a:bodyPr/>
                    <a:lstStyle/>
                    <a:p>
                      <a:pPr algn="ctr"/>
                      <a:r>
                        <a:rPr lang="en-US" b="1" dirty="0">
                          <a:solidFill>
                            <a:schemeClr val="tx1"/>
                          </a:solidFill>
                        </a:rPr>
                        <a:t>Block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accent6">
                              <a:lumMod val="75000"/>
                            </a:schemeClr>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accent6">
                              <a:lumMod val="75000"/>
                            </a:schemeClr>
                          </a:solidFill>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408548"/>
                  </a:ext>
                </a:extLst>
              </a:tr>
            </a:tbl>
          </a:graphicData>
        </a:graphic>
      </p:graphicFrame>
    </p:spTree>
    <p:extLst>
      <p:ext uri="{BB962C8B-B14F-4D97-AF65-F5344CB8AC3E}">
        <p14:creationId xmlns:p14="http://schemas.microsoft.com/office/powerpoint/2010/main" val="8768766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 Coherence</a:t>
            </a:r>
          </a:p>
        </p:txBody>
      </p:sp>
      <p:sp>
        <p:nvSpPr>
          <p:cNvPr id="39941" name="Rectangle 3"/>
          <p:cNvSpPr>
            <a:spLocks noGrp="1" noChangeArrowheads="1"/>
          </p:cNvSpPr>
          <p:nvPr>
            <p:ph idx="1"/>
          </p:nvPr>
        </p:nvSpPr>
        <p:spPr>
          <a:xfrm>
            <a:off x="457200" y="1295400"/>
            <a:ext cx="8610600" cy="5105400"/>
          </a:xfrm>
        </p:spPr>
        <p:txBody>
          <a:bodyPr/>
          <a:lstStyle/>
          <a:p>
            <a:pPr marL="0" indent="0">
              <a:buNone/>
            </a:pPr>
            <a:r>
              <a:rPr lang="en-US" altLang="en-US" sz="2400" dirty="0"/>
              <a:t>Four threads run on a </a:t>
            </a:r>
            <a:r>
              <a:rPr lang="en-US" altLang="en-US" sz="2400" b="1" dirty="0"/>
              <a:t>shared-memory multiprocessor </a:t>
            </a:r>
            <a:r>
              <a:rPr lang="en-US" altLang="en-US" sz="2400" dirty="0"/>
              <a:t>with private caches that use the </a:t>
            </a:r>
            <a:r>
              <a:rPr lang="en-US" altLang="en-US" sz="2400" b="1" dirty="0"/>
              <a:t>MSI coherence protocol</a:t>
            </a:r>
            <a:r>
              <a:rPr lang="en-US" altLang="en-US" sz="2400" dirty="0"/>
              <a:t>. Without knowing the initial states of the caches, you observe the following sequence of memory accesses to a single block X.</a:t>
            </a:r>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800" dirty="0"/>
          </a:p>
          <a:p>
            <a:pPr marL="0" indent="0">
              <a:buNone/>
            </a:pPr>
            <a:r>
              <a:rPr lang="en-US" altLang="en-US" sz="2400" dirty="0"/>
              <a:t>What is the current </a:t>
            </a:r>
            <a:r>
              <a:rPr lang="en-US" altLang="en-US" sz="2400" b="1" dirty="0"/>
              <a:t>coherence state </a:t>
            </a:r>
            <a:r>
              <a:rPr lang="en-US" altLang="en-US" sz="2400" dirty="0"/>
              <a:t>of block X in each cache (M/S/I/Unknown) </a:t>
            </a:r>
            <a:r>
              <a:rPr lang="en-US" altLang="en-US" sz="2400" b="1" dirty="0"/>
              <a:t>after</a:t>
            </a:r>
            <a:r>
              <a:rPr lang="en-US" altLang="en-US" sz="2400" dirty="0"/>
              <a:t> this sequence of accesses?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39</a:t>
            </a:fld>
            <a:endParaRPr lang="en-US" altLang="en-US"/>
          </a:p>
        </p:txBody>
      </p:sp>
      <p:graphicFrame>
        <p:nvGraphicFramePr>
          <p:cNvPr id="3" name="Table 2">
            <a:extLst>
              <a:ext uri="{FF2B5EF4-FFF2-40B4-BE49-F238E27FC236}">
                <a16:creationId xmlns:a16="http://schemas.microsoft.com/office/drawing/2014/main" id="{0515789E-8E83-5FCC-D376-9633346FF944}"/>
              </a:ext>
            </a:extLst>
          </p:cNvPr>
          <p:cNvGraphicFramePr>
            <a:graphicFrameLocks noGrp="1"/>
          </p:cNvGraphicFramePr>
          <p:nvPr/>
        </p:nvGraphicFramePr>
        <p:xfrm>
          <a:off x="838200" y="2895600"/>
          <a:ext cx="7467600" cy="182880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604716426"/>
                    </a:ext>
                  </a:extLst>
                </a:gridCol>
                <a:gridCol w="1493520">
                  <a:extLst>
                    <a:ext uri="{9D8B030D-6E8A-4147-A177-3AD203B41FA5}">
                      <a16:colId xmlns:a16="http://schemas.microsoft.com/office/drawing/2014/main" val="93539019"/>
                    </a:ext>
                  </a:extLst>
                </a:gridCol>
                <a:gridCol w="1493520">
                  <a:extLst>
                    <a:ext uri="{9D8B030D-6E8A-4147-A177-3AD203B41FA5}">
                      <a16:colId xmlns:a16="http://schemas.microsoft.com/office/drawing/2014/main" val="598753803"/>
                    </a:ext>
                  </a:extLst>
                </a:gridCol>
                <a:gridCol w="1493520">
                  <a:extLst>
                    <a:ext uri="{9D8B030D-6E8A-4147-A177-3AD203B41FA5}">
                      <a16:colId xmlns:a16="http://schemas.microsoft.com/office/drawing/2014/main" val="1108223607"/>
                    </a:ext>
                  </a:extLst>
                </a:gridCol>
                <a:gridCol w="1493520">
                  <a:extLst>
                    <a:ext uri="{9D8B030D-6E8A-4147-A177-3AD203B41FA5}">
                      <a16:colId xmlns:a16="http://schemas.microsoft.com/office/drawing/2014/main" val="2217702580"/>
                    </a:ext>
                  </a:extLst>
                </a:gridCol>
              </a:tblGrid>
              <a:tr h="274320">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902039"/>
                  </a:ext>
                </a:extLst>
              </a:tr>
              <a:tr h="274320">
                <a:tc>
                  <a:txBody>
                    <a:bodyPr/>
                    <a:lstStyle/>
                    <a:p>
                      <a:pPr algn="ctr"/>
                      <a:r>
                        <a:rPr lang="en-US" b="1" dirty="0">
                          <a:solidFill>
                            <a:schemeClr val="tx1"/>
                          </a:solidFill>
                        </a:rPr>
                        <a:t>Time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408548"/>
                  </a:ext>
                </a:extLst>
              </a:tr>
              <a:tr h="274320">
                <a:tc>
                  <a:txBody>
                    <a:bodyPr/>
                    <a:lstStyle/>
                    <a:p>
                      <a:pPr algn="ctr"/>
                      <a:r>
                        <a:rPr lang="en-US" b="1" dirty="0">
                          <a:solidFill>
                            <a:schemeClr val="tx1"/>
                          </a:solidFill>
                        </a:rPr>
                        <a:t>Time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2173332"/>
                  </a:ext>
                </a:extLst>
              </a:tr>
              <a:tr h="274320">
                <a:tc>
                  <a:txBody>
                    <a:bodyPr/>
                    <a:lstStyle/>
                    <a:p>
                      <a:pPr algn="ctr"/>
                      <a:r>
                        <a:rPr lang="en-US" b="1" dirty="0">
                          <a:solidFill>
                            <a:schemeClr val="tx1"/>
                          </a:solidFill>
                        </a:rPr>
                        <a:t>Time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Store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205668"/>
                  </a:ext>
                </a:extLst>
              </a:tr>
              <a:tr h="274320">
                <a:tc>
                  <a:txBody>
                    <a:bodyPr/>
                    <a:lstStyle/>
                    <a:p>
                      <a:pPr algn="ctr"/>
                      <a:r>
                        <a:rPr lang="en-US" b="1" dirty="0">
                          <a:solidFill>
                            <a:schemeClr val="tx1"/>
                          </a:solidFill>
                        </a:rPr>
                        <a:t>Time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3563524"/>
                  </a:ext>
                </a:extLst>
              </a:tr>
            </a:tbl>
          </a:graphicData>
        </a:graphic>
      </p:graphicFrame>
      <p:graphicFrame>
        <p:nvGraphicFramePr>
          <p:cNvPr id="4" name="Table 3">
            <a:extLst>
              <a:ext uri="{FF2B5EF4-FFF2-40B4-BE49-F238E27FC236}">
                <a16:creationId xmlns:a16="http://schemas.microsoft.com/office/drawing/2014/main" id="{3C9C4AA1-F9F9-1D1E-DB9D-06A499E268DD}"/>
              </a:ext>
            </a:extLst>
          </p:cNvPr>
          <p:cNvGraphicFramePr>
            <a:graphicFrameLocks noGrp="1"/>
          </p:cNvGraphicFramePr>
          <p:nvPr>
            <p:extLst>
              <p:ext uri="{D42A27DB-BD31-4B8C-83A1-F6EECF244321}">
                <p14:modId xmlns:p14="http://schemas.microsoft.com/office/powerpoint/2010/main" val="1188255696"/>
              </p:ext>
            </p:extLst>
          </p:nvPr>
        </p:nvGraphicFramePr>
        <p:xfrm>
          <a:off x="838200" y="5638800"/>
          <a:ext cx="7467600" cy="73152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604716426"/>
                    </a:ext>
                  </a:extLst>
                </a:gridCol>
                <a:gridCol w="1493520">
                  <a:extLst>
                    <a:ext uri="{9D8B030D-6E8A-4147-A177-3AD203B41FA5}">
                      <a16:colId xmlns:a16="http://schemas.microsoft.com/office/drawing/2014/main" val="93539019"/>
                    </a:ext>
                  </a:extLst>
                </a:gridCol>
                <a:gridCol w="1493520">
                  <a:extLst>
                    <a:ext uri="{9D8B030D-6E8A-4147-A177-3AD203B41FA5}">
                      <a16:colId xmlns:a16="http://schemas.microsoft.com/office/drawing/2014/main" val="598753803"/>
                    </a:ext>
                  </a:extLst>
                </a:gridCol>
                <a:gridCol w="1493520">
                  <a:extLst>
                    <a:ext uri="{9D8B030D-6E8A-4147-A177-3AD203B41FA5}">
                      <a16:colId xmlns:a16="http://schemas.microsoft.com/office/drawing/2014/main" val="1108223607"/>
                    </a:ext>
                  </a:extLst>
                </a:gridCol>
                <a:gridCol w="1493520">
                  <a:extLst>
                    <a:ext uri="{9D8B030D-6E8A-4147-A177-3AD203B41FA5}">
                      <a16:colId xmlns:a16="http://schemas.microsoft.com/office/drawing/2014/main" val="2217702580"/>
                    </a:ext>
                  </a:extLst>
                </a:gridCol>
              </a:tblGrid>
              <a:tr h="274320">
                <a:tc rowSpan="2">
                  <a:txBody>
                    <a:bodyPr/>
                    <a:lstStyle/>
                    <a:p>
                      <a:pPr algn="ctr"/>
                      <a:r>
                        <a:rPr lang="en-US" b="1" dirty="0">
                          <a:solidFill>
                            <a:schemeClr val="tx1"/>
                          </a:solidFill>
                        </a:rPr>
                        <a:t>State of</a:t>
                      </a:r>
                    </a:p>
                    <a:p>
                      <a:pPr algn="ctr"/>
                      <a:r>
                        <a:rPr lang="en-US" b="1" dirty="0">
                          <a:solidFill>
                            <a:schemeClr val="tx1"/>
                          </a:solidFill>
                        </a:rPr>
                        <a:t>Block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902039"/>
                  </a:ext>
                </a:extLst>
              </a:tr>
              <a:tr h="274320">
                <a:tc vMerge="1">
                  <a:txBody>
                    <a:bodyPr/>
                    <a:lstStyle/>
                    <a:p>
                      <a:pPr algn="ctr"/>
                      <a:r>
                        <a:rPr lang="en-US" b="1" dirty="0">
                          <a:solidFill>
                            <a:schemeClr val="tx1"/>
                          </a:solidFill>
                        </a:rPr>
                        <a:t>Block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accent6">
                              <a:lumMod val="75000"/>
                            </a:schemeClr>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accent6">
                              <a:lumMod val="75000"/>
                            </a:schemeClr>
                          </a:solidFill>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accent6">
                              <a:lumMod val="75000"/>
                            </a:schemeClr>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408548"/>
                  </a:ext>
                </a:extLst>
              </a:tr>
            </a:tbl>
          </a:graphicData>
        </a:graphic>
      </p:graphicFrame>
    </p:spTree>
    <p:extLst>
      <p:ext uri="{BB962C8B-B14F-4D97-AF65-F5344CB8AC3E}">
        <p14:creationId xmlns:p14="http://schemas.microsoft.com/office/powerpoint/2010/main" val="421322407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Cache Coherence</a:t>
            </a:r>
          </a:p>
        </p:txBody>
      </p:sp>
      <p:sp>
        <p:nvSpPr>
          <p:cNvPr id="39941" name="Rectangle 3"/>
          <p:cNvSpPr>
            <a:spLocks noGrp="1" noChangeArrowheads="1"/>
          </p:cNvSpPr>
          <p:nvPr>
            <p:ph idx="1"/>
          </p:nvPr>
        </p:nvSpPr>
        <p:spPr>
          <a:xfrm>
            <a:off x="457200" y="1295400"/>
            <a:ext cx="8610600" cy="5105400"/>
          </a:xfrm>
        </p:spPr>
        <p:txBody>
          <a:bodyPr/>
          <a:lstStyle/>
          <a:p>
            <a:pPr marL="0" indent="0">
              <a:buNone/>
            </a:pPr>
            <a:r>
              <a:rPr lang="en-US" altLang="en-US" sz="2400" dirty="0"/>
              <a:t>Four threads run on a </a:t>
            </a:r>
            <a:r>
              <a:rPr lang="en-US" altLang="en-US" sz="2400" b="1" dirty="0"/>
              <a:t>shared-memory multiprocessor </a:t>
            </a:r>
            <a:r>
              <a:rPr lang="en-US" altLang="en-US" sz="2400" dirty="0"/>
              <a:t>with private caches that use the </a:t>
            </a:r>
            <a:r>
              <a:rPr lang="en-US" altLang="en-US" sz="2400" b="1" dirty="0"/>
              <a:t>MSI coherence protocol</a:t>
            </a:r>
            <a:r>
              <a:rPr lang="en-US" altLang="en-US" sz="2400" dirty="0"/>
              <a:t>. Without knowing the initial states of the caches, you observe the following sequence of memory accesses to a single block X.</a:t>
            </a:r>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800" dirty="0"/>
          </a:p>
          <a:p>
            <a:pPr marL="0" indent="0">
              <a:buNone/>
            </a:pPr>
            <a:r>
              <a:rPr lang="en-US" altLang="en-US" sz="2400" dirty="0"/>
              <a:t>What is the current </a:t>
            </a:r>
            <a:r>
              <a:rPr lang="en-US" altLang="en-US" sz="2400" b="1" dirty="0"/>
              <a:t>coherence state </a:t>
            </a:r>
            <a:r>
              <a:rPr lang="en-US" altLang="en-US" sz="2400" dirty="0"/>
              <a:t>of block X in each cache (M/S/I/Unknown) </a:t>
            </a:r>
            <a:r>
              <a:rPr lang="en-US" altLang="en-US" sz="2400" b="1" dirty="0"/>
              <a:t>after</a:t>
            </a:r>
            <a:r>
              <a:rPr lang="en-US" altLang="en-US" sz="2400" dirty="0"/>
              <a:t> this sequence of accesses?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40</a:t>
            </a:fld>
            <a:endParaRPr lang="en-US" altLang="en-US"/>
          </a:p>
        </p:txBody>
      </p:sp>
      <p:graphicFrame>
        <p:nvGraphicFramePr>
          <p:cNvPr id="3" name="Table 2">
            <a:extLst>
              <a:ext uri="{FF2B5EF4-FFF2-40B4-BE49-F238E27FC236}">
                <a16:creationId xmlns:a16="http://schemas.microsoft.com/office/drawing/2014/main" id="{0515789E-8E83-5FCC-D376-9633346FF944}"/>
              </a:ext>
            </a:extLst>
          </p:cNvPr>
          <p:cNvGraphicFramePr>
            <a:graphicFrameLocks noGrp="1"/>
          </p:cNvGraphicFramePr>
          <p:nvPr>
            <p:extLst>
              <p:ext uri="{D42A27DB-BD31-4B8C-83A1-F6EECF244321}">
                <p14:modId xmlns:p14="http://schemas.microsoft.com/office/powerpoint/2010/main" val="3312706910"/>
              </p:ext>
            </p:extLst>
          </p:nvPr>
        </p:nvGraphicFramePr>
        <p:xfrm>
          <a:off x="838200" y="2895600"/>
          <a:ext cx="7467600" cy="182880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604716426"/>
                    </a:ext>
                  </a:extLst>
                </a:gridCol>
                <a:gridCol w="1493520">
                  <a:extLst>
                    <a:ext uri="{9D8B030D-6E8A-4147-A177-3AD203B41FA5}">
                      <a16:colId xmlns:a16="http://schemas.microsoft.com/office/drawing/2014/main" val="93539019"/>
                    </a:ext>
                  </a:extLst>
                </a:gridCol>
                <a:gridCol w="1493520">
                  <a:extLst>
                    <a:ext uri="{9D8B030D-6E8A-4147-A177-3AD203B41FA5}">
                      <a16:colId xmlns:a16="http://schemas.microsoft.com/office/drawing/2014/main" val="598753803"/>
                    </a:ext>
                  </a:extLst>
                </a:gridCol>
                <a:gridCol w="1493520">
                  <a:extLst>
                    <a:ext uri="{9D8B030D-6E8A-4147-A177-3AD203B41FA5}">
                      <a16:colId xmlns:a16="http://schemas.microsoft.com/office/drawing/2014/main" val="1108223607"/>
                    </a:ext>
                  </a:extLst>
                </a:gridCol>
                <a:gridCol w="1493520">
                  <a:extLst>
                    <a:ext uri="{9D8B030D-6E8A-4147-A177-3AD203B41FA5}">
                      <a16:colId xmlns:a16="http://schemas.microsoft.com/office/drawing/2014/main" val="2217702580"/>
                    </a:ext>
                  </a:extLst>
                </a:gridCol>
              </a:tblGrid>
              <a:tr h="274320">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902039"/>
                  </a:ext>
                </a:extLst>
              </a:tr>
              <a:tr h="274320">
                <a:tc>
                  <a:txBody>
                    <a:bodyPr/>
                    <a:lstStyle/>
                    <a:p>
                      <a:pPr algn="ctr"/>
                      <a:r>
                        <a:rPr lang="en-US" b="1" dirty="0">
                          <a:solidFill>
                            <a:schemeClr val="tx1"/>
                          </a:solidFill>
                        </a:rPr>
                        <a:t>Time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408548"/>
                  </a:ext>
                </a:extLst>
              </a:tr>
              <a:tr h="274320">
                <a:tc>
                  <a:txBody>
                    <a:bodyPr/>
                    <a:lstStyle/>
                    <a:p>
                      <a:pPr algn="ctr"/>
                      <a:r>
                        <a:rPr lang="en-US" b="1" dirty="0">
                          <a:solidFill>
                            <a:schemeClr val="tx1"/>
                          </a:solidFill>
                        </a:rPr>
                        <a:t>Time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2173332"/>
                  </a:ext>
                </a:extLst>
              </a:tr>
              <a:tr h="274320">
                <a:tc>
                  <a:txBody>
                    <a:bodyPr/>
                    <a:lstStyle/>
                    <a:p>
                      <a:pPr algn="ctr"/>
                      <a:r>
                        <a:rPr lang="en-US" b="1" dirty="0">
                          <a:solidFill>
                            <a:schemeClr val="tx1"/>
                          </a:solidFill>
                        </a:rPr>
                        <a:t>Time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Store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205668"/>
                  </a:ext>
                </a:extLst>
              </a:tr>
              <a:tr h="274320">
                <a:tc>
                  <a:txBody>
                    <a:bodyPr/>
                    <a:lstStyle/>
                    <a:p>
                      <a:pPr algn="ctr"/>
                      <a:r>
                        <a:rPr lang="en-US" b="1" dirty="0">
                          <a:solidFill>
                            <a:schemeClr val="tx1"/>
                          </a:solidFill>
                        </a:rPr>
                        <a:t>Time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Load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3563524"/>
                  </a:ext>
                </a:extLst>
              </a:tr>
            </a:tbl>
          </a:graphicData>
        </a:graphic>
      </p:graphicFrame>
      <p:graphicFrame>
        <p:nvGraphicFramePr>
          <p:cNvPr id="4" name="Table 3">
            <a:extLst>
              <a:ext uri="{FF2B5EF4-FFF2-40B4-BE49-F238E27FC236}">
                <a16:creationId xmlns:a16="http://schemas.microsoft.com/office/drawing/2014/main" id="{3C9C4AA1-F9F9-1D1E-DB9D-06A499E268DD}"/>
              </a:ext>
            </a:extLst>
          </p:cNvPr>
          <p:cNvGraphicFramePr>
            <a:graphicFrameLocks noGrp="1"/>
          </p:cNvGraphicFramePr>
          <p:nvPr>
            <p:extLst>
              <p:ext uri="{D42A27DB-BD31-4B8C-83A1-F6EECF244321}">
                <p14:modId xmlns:p14="http://schemas.microsoft.com/office/powerpoint/2010/main" val="2718272334"/>
              </p:ext>
            </p:extLst>
          </p:nvPr>
        </p:nvGraphicFramePr>
        <p:xfrm>
          <a:off x="838200" y="5638800"/>
          <a:ext cx="7467600" cy="73152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604716426"/>
                    </a:ext>
                  </a:extLst>
                </a:gridCol>
                <a:gridCol w="1493520">
                  <a:extLst>
                    <a:ext uri="{9D8B030D-6E8A-4147-A177-3AD203B41FA5}">
                      <a16:colId xmlns:a16="http://schemas.microsoft.com/office/drawing/2014/main" val="93539019"/>
                    </a:ext>
                  </a:extLst>
                </a:gridCol>
                <a:gridCol w="1493520">
                  <a:extLst>
                    <a:ext uri="{9D8B030D-6E8A-4147-A177-3AD203B41FA5}">
                      <a16:colId xmlns:a16="http://schemas.microsoft.com/office/drawing/2014/main" val="598753803"/>
                    </a:ext>
                  </a:extLst>
                </a:gridCol>
                <a:gridCol w="1493520">
                  <a:extLst>
                    <a:ext uri="{9D8B030D-6E8A-4147-A177-3AD203B41FA5}">
                      <a16:colId xmlns:a16="http://schemas.microsoft.com/office/drawing/2014/main" val="1108223607"/>
                    </a:ext>
                  </a:extLst>
                </a:gridCol>
                <a:gridCol w="1493520">
                  <a:extLst>
                    <a:ext uri="{9D8B030D-6E8A-4147-A177-3AD203B41FA5}">
                      <a16:colId xmlns:a16="http://schemas.microsoft.com/office/drawing/2014/main" val="2217702580"/>
                    </a:ext>
                  </a:extLst>
                </a:gridCol>
              </a:tblGrid>
              <a:tr h="274320">
                <a:tc rowSpan="2">
                  <a:txBody>
                    <a:bodyPr/>
                    <a:lstStyle/>
                    <a:p>
                      <a:pPr algn="ctr"/>
                      <a:r>
                        <a:rPr lang="en-US" b="1" dirty="0">
                          <a:solidFill>
                            <a:schemeClr val="tx1"/>
                          </a:solidFill>
                        </a:rPr>
                        <a:t>State of</a:t>
                      </a:r>
                    </a:p>
                    <a:p>
                      <a:pPr algn="ctr"/>
                      <a:r>
                        <a:rPr lang="en-US" b="1" dirty="0">
                          <a:solidFill>
                            <a:schemeClr val="tx1"/>
                          </a:solidFill>
                        </a:rPr>
                        <a:t>Block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Cache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902039"/>
                  </a:ext>
                </a:extLst>
              </a:tr>
              <a:tr h="274320">
                <a:tc vMerge="1">
                  <a:txBody>
                    <a:bodyPr/>
                    <a:lstStyle/>
                    <a:p>
                      <a:pPr algn="ctr"/>
                      <a:r>
                        <a:rPr lang="en-US" b="1" dirty="0">
                          <a:solidFill>
                            <a:schemeClr val="tx1"/>
                          </a:solidFill>
                        </a:rPr>
                        <a:t>Block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accent6">
                              <a:lumMod val="75000"/>
                            </a:schemeClr>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accent6">
                              <a:lumMod val="75000"/>
                            </a:schemeClr>
                          </a:solidFill>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accent6">
                              <a:lumMod val="75000"/>
                            </a:schemeClr>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accent6">
                              <a:lumMod val="75000"/>
                            </a:schemeClr>
                          </a:solidFill>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408548"/>
                  </a:ext>
                </a:extLst>
              </a:tr>
            </a:tbl>
          </a:graphicData>
        </a:graphic>
      </p:graphicFrame>
    </p:spTree>
    <p:extLst>
      <p:ext uri="{BB962C8B-B14F-4D97-AF65-F5344CB8AC3E}">
        <p14:creationId xmlns:p14="http://schemas.microsoft.com/office/powerpoint/2010/main" val="127073515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E0861-3627-9815-1CB8-19CB206D5899}"/>
              </a:ext>
            </a:extLst>
          </p:cNvPr>
          <p:cNvSpPr>
            <a:spLocks noGrp="1"/>
          </p:cNvSpPr>
          <p:nvPr>
            <p:ph type="title"/>
          </p:nvPr>
        </p:nvSpPr>
        <p:spPr/>
        <p:txBody>
          <a:bodyPr/>
          <a:lstStyle/>
          <a:p>
            <a:r>
              <a:rPr lang="en-US" dirty="0"/>
              <a:t>SIMD</a:t>
            </a:r>
          </a:p>
        </p:txBody>
      </p:sp>
      <p:sp>
        <p:nvSpPr>
          <p:cNvPr id="3" name="Content Placeholder 2">
            <a:extLst>
              <a:ext uri="{FF2B5EF4-FFF2-40B4-BE49-F238E27FC236}">
                <a16:creationId xmlns:a16="http://schemas.microsoft.com/office/drawing/2014/main" id="{A3B53E09-A902-484C-1777-1932584BCE2E}"/>
              </a:ext>
            </a:extLst>
          </p:cNvPr>
          <p:cNvSpPr>
            <a:spLocks noGrp="1"/>
          </p:cNvSpPr>
          <p:nvPr>
            <p:ph idx="1"/>
          </p:nvPr>
        </p:nvSpPr>
        <p:spPr/>
        <p:txBody>
          <a:bodyPr/>
          <a:lstStyle/>
          <a:p>
            <a:r>
              <a:rPr lang="en-US" dirty="0"/>
              <a:t>Add 2 32-deep arrays into a 3</a:t>
            </a:r>
            <a:r>
              <a:rPr lang="en-US" baseline="30000" dirty="0"/>
              <a:t>rd</a:t>
            </a:r>
            <a:endParaRPr lang="en-US" dirty="0"/>
          </a:p>
          <a:p>
            <a:pPr lvl="1"/>
            <a:r>
              <a:rPr lang="en-US" dirty="0"/>
              <a:t>Scalar</a:t>
            </a:r>
          </a:p>
          <a:p>
            <a:pPr marL="400050" lvl="1" indent="0">
              <a:buNone/>
            </a:pPr>
            <a:r>
              <a:rPr lang="en-US" dirty="0"/>
              <a:t>	for (int </a:t>
            </a:r>
            <a:r>
              <a:rPr lang="en-US" dirty="0" err="1"/>
              <a:t>i</a:t>
            </a:r>
            <a:r>
              <a:rPr lang="en-US" dirty="0"/>
              <a:t>=0; </a:t>
            </a:r>
            <a:r>
              <a:rPr lang="en-US" dirty="0" err="1"/>
              <a:t>i</a:t>
            </a:r>
            <a:r>
              <a:rPr lang="en-US" dirty="0"/>
              <a:t>&lt;32; </a:t>
            </a:r>
            <a:r>
              <a:rPr lang="en-US" dirty="0" err="1"/>
              <a:t>i</a:t>
            </a:r>
            <a:r>
              <a:rPr lang="en-US" dirty="0"/>
              <a:t>++) c[</a:t>
            </a:r>
            <a:r>
              <a:rPr lang="en-US" dirty="0" err="1"/>
              <a:t>i</a:t>
            </a:r>
            <a:r>
              <a:rPr lang="en-US" dirty="0"/>
              <a:t>] = a[</a:t>
            </a:r>
            <a:r>
              <a:rPr lang="en-US" dirty="0" err="1"/>
              <a:t>i</a:t>
            </a:r>
            <a:r>
              <a:rPr lang="en-US" dirty="0"/>
              <a:t>] + b[</a:t>
            </a:r>
            <a:r>
              <a:rPr lang="en-US" dirty="0" err="1"/>
              <a:t>i</a:t>
            </a:r>
            <a:r>
              <a:rPr lang="en-US" dirty="0"/>
              <a:t>];</a:t>
            </a:r>
          </a:p>
          <a:p>
            <a:pPr lvl="1"/>
            <a:r>
              <a:rPr lang="en-US" dirty="0"/>
              <a:t>Vector</a:t>
            </a:r>
          </a:p>
          <a:p>
            <a:pPr marL="400050" lvl="1" indent="0">
              <a:buNone/>
            </a:pPr>
            <a:r>
              <a:rPr lang="en-US" dirty="0"/>
              <a:t>	c = a + b;</a:t>
            </a:r>
          </a:p>
          <a:p>
            <a:endParaRPr lang="en-US" dirty="0"/>
          </a:p>
        </p:txBody>
      </p:sp>
      <p:sp>
        <p:nvSpPr>
          <p:cNvPr id="4" name="Slide Number Placeholder 3">
            <a:extLst>
              <a:ext uri="{FF2B5EF4-FFF2-40B4-BE49-F238E27FC236}">
                <a16:creationId xmlns:a16="http://schemas.microsoft.com/office/drawing/2014/main" id="{C3AE107C-22CF-AA1D-F862-FD6D8DFA4736}"/>
              </a:ext>
            </a:extLst>
          </p:cNvPr>
          <p:cNvSpPr>
            <a:spLocks noGrp="1"/>
          </p:cNvSpPr>
          <p:nvPr>
            <p:ph type="sldNum" sz="quarter" idx="12"/>
          </p:nvPr>
        </p:nvSpPr>
        <p:spPr/>
        <p:txBody>
          <a:bodyPr/>
          <a:lstStyle/>
          <a:p>
            <a:pPr lvl="1"/>
            <a:fld id="{35B60D93-CC8C-4BE3-8466-59E10CB9DAB3}" type="slidenum">
              <a:rPr lang="en-US" altLang="en-US" smtClean="0"/>
              <a:pPr lvl="1"/>
              <a:t>41</a:t>
            </a:fld>
            <a:endParaRPr lang="en-US" altLang="en-US">
              <a:latin typeface="Calibri" panose="020F0502020204030204" pitchFamily="34" charset="0"/>
            </a:endParaRPr>
          </a:p>
        </p:txBody>
      </p:sp>
    </p:spTree>
    <p:extLst>
      <p:ext uri="{BB962C8B-B14F-4D97-AF65-F5344CB8AC3E}">
        <p14:creationId xmlns:p14="http://schemas.microsoft.com/office/powerpoint/2010/main" val="26268097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8D97B-EE0B-7946-CF3E-254409BAE8BB}"/>
              </a:ext>
            </a:extLst>
          </p:cNvPr>
          <p:cNvSpPr>
            <a:spLocks noGrp="1"/>
          </p:cNvSpPr>
          <p:nvPr>
            <p:ph type="title"/>
          </p:nvPr>
        </p:nvSpPr>
        <p:spPr/>
        <p:txBody>
          <a:bodyPr/>
          <a:lstStyle/>
          <a:p>
            <a:r>
              <a:rPr lang="en-US" dirty="0"/>
              <a:t>SIMT and MISD</a:t>
            </a:r>
          </a:p>
        </p:txBody>
      </p:sp>
      <p:sp>
        <p:nvSpPr>
          <p:cNvPr id="3" name="Content Placeholder 2">
            <a:extLst>
              <a:ext uri="{FF2B5EF4-FFF2-40B4-BE49-F238E27FC236}">
                <a16:creationId xmlns:a16="http://schemas.microsoft.com/office/drawing/2014/main" id="{F382B05F-5EB0-A096-B3F3-D4A8C4754F5E}"/>
              </a:ext>
            </a:extLst>
          </p:cNvPr>
          <p:cNvSpPr>
            <a:spLocks noGrp="1"/>
          </p:cNvSpPr>
          <p:nvPr>
            <p:ph idx="1"/>
          </p:nvPr>
        </p:nvSpPr>
        <p:spPr/>
        <p:txBody>
          <a:bodyPr/>
          <a:lstStyle/>
          <a:p>
            <a:r>
              <a:rPr lang="en-US" dirty="0"/>
              <a:t>SIMT GPUs</a:t>
            </a:r>
          </a:p>
          <a:p>
            <a:pPr lvl="1"/>
            <a:r>
              <a:rPr lang="en-US" dirty="0"/>
              <a:t>Massively parallel threads</a:t>
            </a:r>
          </a:p>
          <a:p>
            <a:pPr lvl="1"/>
            <a:endParaRPr lang="en-US" dirty="0"/>
          </a:p>
          <a:p>
            <a:r>
              <a:rPr lang="en-US" dirty="0"/>
              <a:t>MISD</a:t>
            </a:r>
          </a:p>
          <a:p>
            <a:pPr lvl="1"/>
            <a:r>
              <a:rPr lang="en-US" dirty="0"/>
              <a:t>Multiple computations on the same data</a:t>
            </a:r>
          </a:p>
        </p:txBody>
      </p:sp>
      <p:sp>
        <p:nvSpPr>
          <p:cNvPr id="4" name="Slide Number Placeholder 3">
            <a:extLst>
              <a:ext uri="{FF2B5EF4-FFF2-40B4-BE49-F238E27FC236}">
                <a16:creationId xmlns:a16="http://schemas.microsoft.com/office/drawing/2014/main" id="{006A0878-337B-E3F8-6B90-532229066B2B}"/>
              </a:ext>
            </a:extLst>
          </p:cNvPr>
          <p:cNvSpPr>
            <a:spLocks noGrp="1"/>
          </p:cNvSpPr>
          <p:nvPr>
            <p:ph type="sldNum" sz="quarter" idx="12"/>
          </p:nvPr>
        </p:nvSpPr>
        <p:spPr/>
        <p:txBody>
          <a:bodyPr/>
          <a:lstStyle/>
          <a:p>
            <a:pPr lvl="1"/>
            <a:fld id="{35B60D93-CC8C-4BE3-8466-59E10CB9DAB3}" type="slidenum">
              <a:rPr lang="en-US" altLang="en-US" smtClean="0"/>
              <a:pPr lvl="1"/>
              <a:t>42</a:t>
            </a:fld>
            <a:endParaRPr lang="en-US" altLang="en-US">
              <a:latin typeface="Calibri" panose="020F0502020204030204" pitchFamily="34" charset="0"/>
            </a:endParaRPr>
          </a:p>
        </p:txBody>
      </p:sp>
    </p:spTree>
    <p:extLst>
      <p:ext uri="{BB962C8B-B14F-4D97-AF65-F5344CB8AC3E}">
        <p14:creationId xmlns:p14="http://schemas.microsoft.com/office/powerpoint/2010/main" val="242317541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9785F-1121-8FFE-7A65-82D9A8773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6A20D-FD05-2351-7943-2934A89F57C7}"/>
              </a:ext>
            </a:extLst>
          </p:cNvPr>
          <p:cNvSpPr>
            <a:spLocks noGrp="1"/>
          </p:cNvSpPr>
          <p:nvPr>
            <p:ph type="title"/>
          </p:nvPr>
        </p:nvSpPr>
        <p:spPr/>
        <p:txBody>
          <a:bodyPr/>
          <a:lstStyle/>
          <a:p>
            <a:r>
              <a:rPr lang="en-US" dirty="0"/>
              <a:t>Integer Multiplier</a:t>
            </a:r>
          </a:p>
        </p:txBody>
      </p:sp>
      <p:sp>
        <p:nvSpPr>
          <p:cNvPr id="3" name="Content Placeholder 2">
            <a:extLst>
              <a:ext uri="{FF2B5EF4-FFF2-40B4-BE49-F238E27FC236}">
                <a16:creationId xmlns:a16="http://schemas.microsoft.com/office/drawing/2014/main" id="{5C452FC4-62E5-273D-FE03-6EFAA470BA54}"/>
              </a:ext>
            </a:extLst>
          </p:cNvPr>
          <p:cNvSpPr>
            <a:spLocks noGrp="1"/>
          </p:cNvSpPr>
          <p:nvPr>
            <p:ph idx="1"/>
          </p:nvPr>
        </p:nvSpPr>
        <p:spPr/>
        <p:txBody>
          <a:bodyPr/>
          <a:lstStyle/>
          <a:p>
            <a:r>
              <a:rPr lang="en-US" dirty="0"/>
              <a:t>Multiplicand, Multiplier, Partial, Product</a:t>
            </a:r>
          </a:p>
          <a:p>
            <a:r>
              <a:rPr lang="en-US" dirty="0"/>
              <a:t>Array - huge</a:t>
            </a:r>
          </a:p>
          <a:p>
            <a:r>
              <a:rPr lang="en-US" dirty="0"/>
              <a:t>Compromise:</a:t>
            </a:r>
          </a:p>
          <a:p>
            <a:pPr lvl="1"/>
            <a:r>
              <a:rPr lang="en-US" dirty="0"/>
              <a:t>Multicycle</a:t>
            </a:r>
          </a:p>
          <a:p>
            <a:pPr lvl="1"/>
            <a:r>
              <a:rPr lang="en-US" dirty="0"/>
              <a:t>Improved multicycle</a:t>
            </a:r>
          </a:p>
          <a:p>
            <a:pPr lvl="1"/>
            <a:r>
              <a:rPr lang="en-US" dirty="0"/>
              <a:t>Improved algorithm (Booth’s encoding)</a:t>
            </a:r>
          </a:p>
          <a:p>
            <a:r>
              <a:rPr lang="en-US" dirty="0"/>
              <a:t>Signed numbers</a:t>
            </a:r>
          </a:p>
          <a:p>
            <a:pPr lvl="1"/>
            <a:r>
              <a:rPr lang="en-US" dirty="0"/>
              <a:t>Arithmetic Shift; Add or Subtract</a:t>
            </a:r>
          </a:p>
        </p:txBody>
      </p:sp>
      <p:sp>
        <p:nvSpPr>
          <p:cNvPr id="4" name="Slide Number Placeholder 3">
            <a:extLst>
              <a:ext uri="{FF2B5EF4-FFF2-40B4-BE49-F238E27FC236}">
                <a16:creationId xmlns:a16="http://schemas.microsoft.com/office/drawing/2014/main" id="{61044502-9705-F108-84E5-A5007C4FDAE4}"/>
              </a:ext>
            </a:extLst>
          </p:cNvPr>
          <p:cNvSpPr>
            <a:spLocks noGrp="1"/>
          </p:cNvSpPr>
          <p:nvPr>
            <p:ph type="sldNum" sz="quarter" idx="12"/>
          </p:nvPr>
        </p:nvSpPr>
        <p:spPr/>
        <p:txBody>
          <a:bodyPr/>
          <a:lstStyle/>
          <a:p>
            <a:pPr lvl="1"/>
            <a:fld id="{35B60D93-CC8C-4BE3-8466-59E10CB9DAB3}" type="slidenum">
              <a:rPr lang="en-US" altLang="en-US" smtClean="0"/>
              <a:pPr lvl="1"/>
              <a:t>43</a:t>
            </a:fld>
            <a:endParaRPr lang="en-US" altLang="en-US">
              <a:latin typeface="Calibri" panose="020F0502020204030204" pitchFamily="34" charset="0"/>
            </a:endParaRPr>
          </a:p>
        </p:txBody>
      </p:sp>
    </p:spTree>
    <p:extLst>
      <p:ext uri="{BB962C8B-B14F-4D97-AF65-F5344CB8AC3E}">
        <p14:creationId xmlns:p14="http://schemas.microsoft.com/office/powerpoint/2010/main" val="3226549366"/>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F66AF-A63E-340A-D8FE-E242486FDA17}"/>
              </a:ext>
            </a:extLst>
          </p:cNvPr>
          <p:cNvSpPr>
            <a:spLocks noGrp="1"/>
          </p:cNvSpPr>
          <p:nvPr>
            <p:ph type="title"/>
          </p:nvPr>
        </p:nvSpPr>
        <p:spPr/>
        <p:txBody>
          <a:bodyPr/>
          <a:lstStyle/>
          <a:p>
            <a:r>
              <a:rPr lang="en-US" dirty="0"/>
              <a:t>Divider</a:t>
            </a:r>
          </a:p>
        </p:txBody>
      </p:sp>
      <p:sp>
        <p:nvSpPr>
          <p:cNvPr id="3" name="Content Placeholder 2">
            <a:extLst>
              <a:ext uri="{FF2B5EF4-FFF2-40B4-BE49-F238E27FC236}">
                <a16:creationId xmlns:a16="http://schemas.microsoft.com/office/drawing/2014/main" id="{FBD2CF7B-8A87-0379-8930-0DB497C5C871}"/>
              </a:ext>
            </a:extLst>
          </p:cNvPr>
          <p:cNvSpPr>
            <a:spLocks noGrp="1"/>
          </p:cNvSpPr>
          <p:nvPr>
            <p:ph idx="1"/>
          </p:nvPr>
        </p:nvSpPr>
        <p:spPr/>
        <p:txBody>
          <a:bodyPr/>
          <a:lstStyle/>
          <a:p>
            <a:r>
              <a:rPr lang="en-US" dirty="0"/>
              <a:t>Dividend, Divisor, Quotient, Remainder</a:t>
            </a:r>
          </a:p>
          <a:p>
            <a:r>
              <a:rPr lang="en-US" dirty="0"/>
              <a:t>Multicycle and Improved Multicycle</a:t>
            </a:r>
          </a:p>
          <a:p>
            <a:r>
              <a:rPr lang="en-US" dirty="0"/>
              <a:t>Restoring</a:t>
            </a:r>
          </a:p>
          <a:p>
            <a:pPr lvl="1"/>
            <a:r>
              <a:rPr lang="en-US" dirty="0"/>
              <a:t>Subtract; if remainder &lt;0, Add back to restore</a:t>
            </a:r>
          </a:p>
          <a:p>
            <a:pPr lvl="1"/>
            <a:r>
              <a:rPr lang="en-US" dirty="0"/>
              <a:t>Shift, repeat</a:t>
            </a:r>
          </a:p>
          <a:p>
            <a:r>
              <a:rPr lang="en-US" dirty="0"/>
              <a:t>Non-Restoring</a:t>
            </a:r>
          </a:p>
          <a:p>
            <a:pPr lvl="1"/>
            <a:r>
              <a:rPr lang="en-US" dirty="0"/>
              <a:t>Subtract; if remainder &lt;0, then Add next time</a:t>
            </a:r>
          </a:p>
          <a:p>
            <a:pPr lvl="1"/>
            <a:r>
              <a:rPr lang="en-US" dirty="0"/>
              <a:t>Shift, repeat</a:t>
            </a:r>
          </a:p>
          <a:p>
            <a:endParaRPr lang="en-US" dirty="0"/>
          </a:p>
        </p:txBody>
      </p:sp>
      <p:sp>
        <p:nvSpPr>
          <p:cNvPr id="4" name="Slide Number Placeholder 3">
            <a:extLst>
              <a:ext uri="{FF2B5EF4-FFF2-40B4-BE49-F238E27FC236}">
                <a16:creationId xmlns:a16="http://schemas.microsoft.com/office/drawing/2014/main" id="{026137E4-11AB-5E73-0414-1464C7BFF649}"/>
              </a:ext>
            </a:extLst>
          </p:cNvPr>
          <p:cNvSpPr>
            <a:spLocks noGrp="1"/>
          </p:cNvSpPr>
          <p:nvPr>
            <p:ph type="sldNum" sz="quarter" idx="12"/>
          </p:nvPr>
        </p:nvSpPr>
        <p:spPr/>
        <p:txBody>
          <a:bodyPr/>
          <a:lstStyle/>
          <a:p>
            <a:pPr lvl="1"/>
            <a:fld id="{35B60D93-CC8C-4BE3-8466-59E10CB9DAB3}" type="slidenum">
              <a:rPr lang="en-US" altLang="en-US" smtClean="0"/>
              <a:pPr lvl="1"/>
              <a:t>44</a:t>
            </a:fld>
            <a:endParaRPr lang="en-US" altLang="en-US">
              <a:latin typeface="Calibri" panose="020F0502020204030204" pitchFamily="34" charset="0"/>
            </a:endParaRPr>
          </a:p>
        </p:txBody>
      </p:sp>
    </p:spTree>
    <p:extLst>
      <p:ext uri="{BB962C8B-B14F-4D97-AF65-F5344CB8AC3E}">
        <p14:creationId xmlns:p14="http://schemas.microsoft.com/office/powerpoint/2010/main" val="409559458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FBA165A-6076-4E1F-A150-D76D4ED21FD0}"/>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Floating Point</a:t>
            </a:r>
          </a:p>
        </p:txBody>
      </p:sp>
      <p:sp>
        <p:nvSpPr>
          <p:cNvPr id="7171" name="Rectangle 3">
            <a:extLst>
              <a:ext uri="{FF2B5EF4-FFF2-40B4-BE49-F238E27FC236}">
                <a16:creationId xmlns:a16="http://schemas.microsoft.com/office/drawing/2014/main" id="{1EBB49D9-6F05-4F71-9969-CA9CDC398240}"/>
              </a:ext>
            </a:extLst>
          </p:cNvPr>
          <p:cNvSpPr>
            <a:spLocks noGrp="1" noChangeArrowheads="1"/>
          </p:cNvSpPr>
          <p:nvPr>
            <p:ph idx="1"/>
            <p:custDataLst>
              <p:tags r:id="rId3"/>
            </p:custDataLst>
          </p:nvPr>
        </p:nvSpPr>
        <p:spPr>
          <a:xfrm>
            <a:off x="682625" y="1524000"/>
            <a:ext cx="7772400" cy="2667000"/>
          </a:xfrm>
        </p:spPr>
        <p:txBody>
          <a:bodyPr/>
          <a:lstStyle/>
          <a:p>
            <a:pPr eaLnBrk="1" hangingPunct="1"/>
            <a:r>
              <a:rPr lang="en-US" altLang="en-US" b="1" dirty="0"/>
              <a:t>Floating point </a:t>
            </a:r>
            <a:r>
              <a:rPr lang="en-US" altLang="en-US" dirty="0"/>
              <a:t>format:</a:t>
            </a:r>
          </a:p>
          <a:p>
            <a:pPr lvl="1" eaLnBrk="1" hangingPunct="1"/>
            <a:r>
              <a:rPr lang="en-US" altLang="en-US" b="1" dirty="0">
                <a:solidFill>
                  <a:schemeClr val="accent4"/>
                </a:solidFill>
              </a:rPr>
              <a:t>S</a:t>
            </a:r>
            <a:r>
              <a:rPr lang="en-US" altLang="en-US" dirty="0"/>
              <a:t>: </a:t>
            </a:r>
            <a:r>
              <a:rPr lang="en-US" altLang="en-US" i="1" dirty="0"/>
              <a:t>sign</a:t>
            </a:r>
            <a:r>
              <a:rPr lang="en-US" altLang="en-US" dirty="0"/>
              <a:t> bit, </a:t>
            </a:r>
            <a:r>
              <a:rPr lang="en-US" altLang="en-US" b="1" dirty="0">
                <a:solidFill>
                  <a:schemeClr val="accent3">
                    <a:lumMod val="75000"/>
                  </a:schemeClr>
                </a:solidFill>
              </a:rPr>
              <a:t>E</a:t>
            </a:r>
            <a:r>
              <a:rPr lang="en-US" altLang="en-US" dirty="0"/>
              <a:t>: </a:t>
            </a:r>
            <a:r>
              <a:rPr lang="en-US" altLang="en-US" i="1" dirty="0"/>
              <a:t>exponent</a:t>
            </a:r>
            <a:r>
              <a:rPr lang="en-US" altLang="en-US" dirty="0"/>
              <a:t>, </a:t>
            </a:r>
            <a:r>
              <a:rPr lang="en-US" altLang="en-US" b="1" dirty="0">
                <a:solidFill>
                  <a:schemeClr val="accent6">
                    <a:lumMod val="75000"/>
                  </a:schemeClr>
                </a:solidFill>
              </a:rPr>
              <a:t>F</a:t>
            </a:r>
            <a:r>
              <a:rPr lang="en-US" altLang="en-US" dirty="0"/>
              <a:t>: </a:t>
            </a:r>
            <a:r>
              <a:rPr lang="en-US" altLang="en-US" i="1" dirty="0"/>
              <a:t>fraction</a:t>
            </a:r>
            <a:r>
              <a:rPr lang="en-US" altLang="en-US" dirty="0"/>
              <a:t> (mantissa)</a:t>
            </a:r>
          </a:p>
          <a:p>
            <a:pPr lvl="1" eaLnBrk="1" hangingPunct="1"/>
            <a:r>
              <a:rPr lang="en-US" altLang="en-US" dirty="0"/>
              <a:t>Value: (-1)</a:t>
            </a:r>
            <a:r>
              <a:rPr lang="en-US" altLang="en-US" b="1" baseline="30000" dirty="0">
                <a:solidFill>
                  <a:schemeClr val="accent4"/>
                </a:solidFill>
              </a:rPr>
              <a:t>S</a:t>
            </a:r>
            <a:r>
              <a:rPr lang="en-US" altLang="en-US" dirty="0"/>
              <a:t> x 1.</a:t>
            </a:r>
            <a:r>
              <a:rPr lang="en-US" altLang="en-US" b="1" dirty="0">
                <a:solidFill>
                  <a:schemeClr val="accent6">
                    <a:lumMod val="75000"/>
                  </a:schemeClr>
                </a:solidFill>
              </a:rPr>
              <a:t>F</a:t>
            </a:r>
            <a:r>
              <a:rPr lang="en-US" altLang="en-US" dirty="0"/>
              <a:t> x 2</a:t>
            </a:r>
            <a:r>
              <a:rPr lang="en-US" altLang="en-US" b="1" baseline="30000" dirty="0">
                <a:solidFill>
                  <a:schemeClr val="accent3">
                    <a:lumMod val="75000"/>
                  </a:schemeClr>
                </a:solidFill>
              </a:rPr>
              <a:t>E</a:t>
            </a:r>
            <a:endParaRPr lang="en-US" altLang="en-US" i="1" dirty="0"/>
          </a:p>
          <a:p>
            <a:pPr lvl="1" eaLnBrk="1" hangingPunct="1"/>
            <a:r>
              <a:rPr lang="en-US" altLang="en-US" dirty="0"/>
              <a:t>e.g., 9.25 in decimal = 1.</a:t>
            </a:r>
            <a:r>
              <a:rPr lang="en-US" altLang="en-US" b="1" dirty="0">
                <a:solidFill>
                  <a:schemeClr val="accent6">
                    <a:lumMod val="75000"/>
                  </a:schemeClr>
                </a:solidFill>
              </a:rPr>
              <a:t>00101</a:t>
            </a:r>
            <a:r>
              <a:rPr lang="en-US" altLang="en-US" b="1" dirty="0"/>
              <a:t> </a:t>
            </a:r>
            <a:r>
              <a:rPr lang="en-US" altLang="en-US" dirty="0"/>
              <a:t>x 2</a:t>
            </a:r>
            <a:r>
              <a:rPr lang="en-US" altLang="en-US" b="1" baseline="30000" dirty="0">
                <a:solidFill>
                  <a:schemeClr val="accent3">
                    <a:lumMod val="75000"/>
                  </a:schemeClr>
                </a:solidFill>
              </a:rPr>
              <a:t>3</a:t>
            </a:r>
            <a:r>
              <a:rPr lang="en-US" altLang="en-US" b="1" dirty="0"/>
              <a:t> </a:t>
            </a:r>
            <a:r>
              <a:rPr lang="en-US" altLang="en-US" dirty="0"/>
              <a:t>in binary</a:t>
            </a:r>
          </a:p>
          <a:p>
            <a:pPr lvl="1" eaLnBrk="1" hangingPunct="1"/>
            <a:r>
              <a:rPr lang="en-US" altLang="en-US" dirty="0"/>
              <a:t>Fraction w/implicit 1 is called a </a:t>
            </a:r>
            <a:r>
              <a:rPr lang="en-US" altLang="en-US" i="1" dirty="0"/>
              <a:t>Significand</a:t>
            </a:r>
          </a:p>
          <a:p>
            <a:pPr lvl="1" eaLnBrk="1" hangingPunct="1"/>
            <a:r>
              <a:rPr lang="en-US" altLang="en-US" dirty="0"/>
              <a:t>(-1)</a:t>
            </a:r>
            <a:r>
              <a:rPr lang="en-US" altLang="en-US" baseline="30000" dirty="0"/>
              <a:t>S</a:t>
            </a:r>
            <a:r>
              <a:rPr lang="en-US" altLang="en-US" dirty="0"/>
              <a:t> x 1.F x 2</a:t>
            </a:r>
            <a:r>
              <a:rPr lang="en-US" altLang="en-US" baseline="30000" dirty="0"/>
              <a:t>3</a:t>
            </a:r>
            <a:r>
              <a:rPr lang="en-US" altLang="en-US" dirty="0"/>
              <a:t>; S=0; F=00101; E-7=3, E=10</a:t>
            </a:r>
          </a:p>
        </p:txBody>
      </p:sp>
      <p:sp>
        <p:nvSpPr>
          <p:cNvPr id="8196" name="Slide Number Placeholder 5">
            <a:extLst>
              <a:ext uri="{FF2B5EF4-FFF2-40B4-BE49-F238E27FC236}">
                <a16:creationId xmlns:a16="http://schemas.microsoft.com/office/drawing/2014/main" id="{771D412C-96B0-48D7-91C1-715F150635B8}"/>
              </a:ext>
            </a:extLst>
          </p:cNvPr>
          <p:cNvSpPr>
            <a:spLocks noGrp="1"/>
          </p:cNvSpPr>
          <p:nvPr>
            <p:ph type="sldNum" sz="quarter" idx="12"/>
            <p:custDataLst>
              <p:tags r:id="rId4"/>
            </p:custDataLst>
          </p:nvPr>
        </p:nvSpPr>
        <p:spPr bwMode="auto">
          <a:xfrm>
            <a:off x="7620000" y="6356350"/>
            <a:ext cx="10668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2ED8BE20-72E3-43D4-BA7C-0627E391E0BA}" type="slidenum">
              <a:rPr lang="en-US" altLang="en-US" sz="2400"/>
              <a:pPr lvl="1" eaLnBrk="1" hangingPunct="1">
                <a:spcBef>
                  <a:spcPct val="0"/>
                </a:spcBef>
                <a:buFontTx/>
                <a:buNone/>
              </a:pPr>
              <a:t>45</a:t>
            </a:fld>
            <a:endParaRPr lang="en-US" altLang="en-US" sz="2400">
              <a:latin typeface="Times New Roman" panose="02020603050405020304" pitchFamily="18" charset="0"/>
            </a:endParaRPr>
          </a:p>
        </p:txBody>
      </p:sp>
      <p:grpSp>
        <p:nvGrpSpPr>
          <p:cNvPr id="7199" name="Group 63">
            <a:extLst>
              <a:ext uri="{FF2B5EF4-FFF2-40B4-BE49-F238E27FC236}">
                <a16:creationId xmlns:a16="http://schemas.microsoft.com/office/drawing/2014/main" id="{6EDCBFB4-B5FF-4FA0-81F1-00487FEE2284}"/>
              </a:ext>
            </a:extLst>
          </p:cNvPr>
          <p:cNvGrpSpPr>
            <a:grpSpLocks/>
          </p:cNvGrpSpPr>
          <p:nvPr>
            <p:custDataLst>
              <p:tags r:id="rId5"/>
            </p:custDataLst>
          </p:nvPr>
        </p:nvGrpSpPr>
        <p:grpSpPr bwMode="auto">
          <a:xfrm>
            <a:off x="5181600" y="1677988"/>
            <a:ext cx="2743200" cy="304800"/>
            <a:chOff x="3120" y="720"/>
            <a:chExt cx="1728" cy="192"/>
          </a:xfrm>
          <a:solidFill>
            <a:schemeClr val="bg1">
              <a:lumMod val="95000"/>
            </a:schemeClr>
          </a:solidFill>
        </p:grpSpPr>
        <p:sp>
          <p:nvSpPr>
            <p:cNvPr id="7200" name="Rectangle 55">
              <a:extLst>
                <a:ext uri="{FF2B5EF4-FFF2-40B4-BE49-F238E27FC236}">
                  <a16:creationId xmlns:a16="http://schemas.microsoft.com/office/drawing/2014/main" id="{02000748-C0CD-4A07-928D-53EA90C0BE80}"/>
                </a:ext>
              </a:extLst>
            </p:cNvPr>
            <p:cNvSpPr>
              <a:spLocks noChangeArrowheads="1"/>
            </p:cNvSpPr>
            <p:nvPr>
              <p:custDataLst>
                <p:tags r:id="rId9"/>
              </p:custDataLst>
            </p:nvPr>
          </p:nvSpPr>
          <p:spPr bwMode="auto">
            <a:xfrm>
              <a:off x="3120" y="720"/>
              <a:ext cx="144" cy="192"/>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dirty="0">
                  <a:solidFill>
                    <a:schemeClr val="accent4"/>
                  </a:solidFill>
                  <a:latin typeface="+mn-lt"/>
                </a:rPr>
                <a:t>S</a:t>
              </a:r>
            </a:p>
          </p:txBody>
        </p:sp>
        <p:sp>
          <p:nvSpPr>
            <p:cNvPr id="7201" name="Rectangle 56">
              <a:extLst>
                <a:ext uri="{FF2B5EF4-FFF2-40B4-BE49-F238E27FC236}">
                  <a16:creationId xmlns:a16="http://schemas.microsoft.com/office/drawing/2014/main" id="{8B7BE7A6-9A15-4BDC-9855-C33617FC3884}"/>
                </a:ext>
              </a:extLst>
            </p:cNvPr>
            <p:cNvSpPr>
              <a:spLocks noChangeArrowheads="1"/>
            </p:cNvSpPr>
            <p:nvPr>
              <p:custDataLst>
                <p:tags r:id="rId10"/>
              </p:custDataLst>
            </p:nvPr>
          </p:nvSpPr>
          <p:spPr bwMode="auto">
            <a:xfrm>
              <a:off x="3264" y="720"/>
              <a:ext cx="384" cy="192"/>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dirty="0">
                  <a:solidFill>
                    <a:schemeClr val="accent3">
                      <a:lumMod val="75000"/>
                    </a:schemeClr>
                  </a:solidFill>
                  <a:latin typeface="+mn-lt"/>
                </a:rPr>
                <a:t>E</a:t>
              </a:r>
            </a:p>
          </p:txBody>
        </p:sp>
        <p:sp>
          <p:nvSpPr>
            <p:cNvPr id="7202" name="Rectangle 57">
              <a:extLst>
                <a:ext uri="{FF2B5EF4-FFF2-40B4-BE49-F238E27FC236}">
                  <a16:creationId xmlns:a16="http://schemas.microsoft.com/office/drawing/2014/main" id="{3B3A8A35-4B7A-40A6-9A42-3AE8D8E189FD}"/>
                </a:ext>
              </a:extLst>
            </p:cNvPr>
            <p:cNvSpPr>
              <a:spLocks noChangeArrowheads="1"/>
            </p:cNvSpPr>
            <p:nvPr>
              <p:custDataLst>
                <p:tags r:id="rId11"/>
              </p:custDataLst>
            </p:nvPr>
          </p:nvSpPr>
          <p:spPr bwMode="auto">
            <a:xfrm>
              <a:off x="3648" y="720"/>
              <a:ext cx="1200" cy="192"/>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dirty="0">
                  <a:solidFill>
                    <a:schemeClr val="accent6">
                      <a:lumMod val="75000"/>
                    </a:schemeClr>
                  </a:solidFill>
                  <a:latin typeface="+mn-lt"/>
                </a:rPr>
                <a:t>F</a:t>
              </a:r>
            </a:p>
          </p:txBody>
        </p:sp>
      </p:grpSp>
      <p:graphicFrame>
        <p:nvGraphicFramePr>
          <p:cNvPr id="10" name="Table 9">
            <a:extLst>
              <a:ext uri="{FF2B5EF4-FFF2-40B4-BE49-F238E27FC236}">
                <a16:creationId xmlns:a16="http://schemas.microsoft.com/office/drawing/2014/main" id="{EE67C9F5-6D44-40AA-ABC9-D8FB38F13289}"/>
              </a:ext>
            </a:extLst>
          </p:cNvPr>
          <p:cNvGraphicFramePr>
            <a:graphicFrameLocks noGrp="1"/>
          </p:cNvGraphicFramePr>
          <p:nvPr>
            <p:custDataLst>
              <p:tags r:id="rId6"/>
            </p:custDataLst>
            <p:extLst>
              <p:ext uri="{D42A27DB-BD31-4B8C-83A1-F6EECF244321}">
                <p14:modId xmlns:p14="http://schemas.microsoft.com/office/powerpoint/2010/main" val="657977673"/>
              </p:ext>
            </p:extLst>
          </p:nvPr>
        </p:nvGraphicFramePr>
        <p:xfrm>
          <a:off x="1371600" y="4744720"/>
          <a:ext cx="6096000" cy="741680"/>
        </p:xfrm>
        <a:graphic>
          <a:graphicData uri="http://schemas.openxmlformats.org/drawingml/2006/table">
            <a:tbl>
              <a:tblPr bandRow="1">
                <a:tableStyleId>{5C22544A-7EE6-4342-B048-85BDC9FD1C3A}</a:tableStyleId>
              </a:tblPr>
              <a:tblGrid>
                <a:gridCol w="1447800">
                  <a:extLst>
                    <a:ext uri="{9D8B030D-6E8A-4147-A177-3AD203B41FA5}">
                      <a16:colId xmlns:a16="http://schemas.microsoft.com/office/drawing/2014/main" val="2218422999"/>
                    </a:ext>
                  </a:extLst>
                </a:gridCol>
                <a:gridCol w="1447800">
                  <a:extLst>
                    <a:ext uri="{9D8B030D-6E8A-4147-A177-3AD203B41FA5}">
                      <a16:colId xmlns:a16="http://schemas.microsoft.com/office/drawing/2014/main" val="3024381040"/>
                    </a:ext>
                  </a:extLst>
                </a:gridCol>
                <a:gridCol w="3200400">
                  <a:extLst>
                    <a:ext uri="{9D8B030D-6E8A-4147-A177-3AD203B41FA5}">
                      <a16:colId xmlns:a16="http://schemas.microsoft.com/office/drawing/2014/main" val="2565191896"/>
                    </a:ext>
                  </a:extLst>
                </a:gridCol>
              </a:tblGrid>
              <a:tr h="370840">
                <a:tc>
                  <a:txBody>
                    <a:bodyPr/>
                    <a:lstStyle/>
                    <a:p>
                      <a:pPr algn="ctr"/>
                      <a:r>
                        <a:rPr lang="en-US" b="1" dirty="0">
                          <a:solidFill>
                            <a:schemeClr val="tx1"/>
                          </a:solidFill>
                        </a:rPr>
                        <a:t>S = sign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1" dirty="0">
                          <a:solidFill>
                            <a:schemeClr val="tx1"/>
                          </a:solidFill>
                        </a:rPr>
                        <a:t>E = exp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1" dirty="0">
                          <a:solidFill>
                            <a:schemeClr val="tx1"/>
                          </a:solidFill>
                        </a:rPr>
                        <a:t>F = 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74493675"/>
                  </a:ext>
                </a:extLst>
              </a:tr>
              <a:tr h="370840">
                <a:tc>
                  <a:txBody>
                    <a:bodyPr/>
                    <a:lstStyle/>
                    <a:p>
                      <a:pPr algn="ctr"/>
                      <a:r>
                        <a:rPr lang="en-US" b="1" dirty="0">
                          <a:solidFill>
                            <a:schemeClr val="accent4"/>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1" dirty="0">
                          <a:solidFill>
                            <a:schemeClr val="accent3">
                              <a:lumMod val="75000"/>
                            </a:schemeClr>
                          </a:solidFill>
                        </a:rPr>
                        <a:t>1010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1" dirty="0">
                          <a:solidFill>
                            <a:schemeClr val="accent6">
                              <a:lumMod val="75000"/>
                            </a:schemeClr>
                          </a:solidFill>
                        </a:rPr>
                        <a:t>00101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44066164"/>
                  </a:ext>
                </a:extLst>
              </a:tr>
            </a:tbl>
          </a:graphicData>
        </a:graphic>
      </p:graphicFrame>
      <p:sp>
        <p:nvSpPr>
          <p:cNvPr id="12" name="TextBox 11">
            <a:extLst>
              <a:ext uri="{FF2B5EF4-FFF2-40B4-BE49-F238E27FC236}">
                <a16:creationId xmlns:a16="http://schemas.microsoft.com/office/drawing/2014/main" id="{C17ED8B5-5C3B-47C0-B3A8-946B40A7D4B8}"/>
              </a:ext>
            </a:extLst>
          </p:cNvPr>
          <p:cNvSpPr txBox="1"/>
          <p:nvPr>
            <p:custDataLst>
              <p:tags r:id="rId7"/>
            </p:custDataLst>
          </p:nvPr>
        </p:nvSpPr>
        <p:spPr>
          <a:xfrm>
            <a:off x="4568825" y="5545637"/>
            <a:ext cx="2667000" cy="560717"/>
          </a:xfrm>
          <a:prstGeom prst="rect">
            <a:avLst/>
          </a:prstGeom>
          <a:noFill/>
        </p:spPr>
        <p:txBody>
          <a:bodyPr wrap="square" rtlCol="0" anchor="ctr">
            <a:noAutofit/>
          </a:bodyPr>
          <a:lstStyle/>
          <a:p>
            <a:pPr algn="ctr"/>
            <a:r>
              <a:rPr lang="en-US" sz="1600" b="1" i="1" dirty="0">
                <a:solidFill>
                  <a:schemeClr val="accent6">
                    <a:lumMod val="75000"/>
                  </a:schemeClr>
                </a:solidFill>
                <a:latin typeface="+mn-lt"/>
              </a:rPr>
              <a:t>normalized</a:t>
            </a:r>
          </a:p>
          <a:p>
            <a:pPr algn="ctr"/>
            <a:r>
              <a:rPr lang="en-US" sz="1600" b="1" dirty="0">
                <a:solidFill>
                  <a:schemeClr val="accent6">
                    <a:lumMod val="75000"/>
                  </a:schemeClr>
                </a:solidFill>
                <a:latin typeface="+mn-lt"/>
              </a:rPr>
              <a:t>(implicit/hidden leading 1)</a:t>
            </a:r>
          </a:p>
        </p:txBody>
      </p:sp>
      <p:sp>
        <p:nvSpPr>
          <p:cNvPr id="15" name="TextBox 14">
            <a:extLst>
              <a:ext uri="{FF2B5EF4-FFF2-40B4-BE49-F238E27FC236}">
                <a16:creationId xmlns:a16="http://schemas.microsoft.com/office/drawing/2014/main" id="{2A86E490-6BBD-4785-B214-E2B4C8FBDD46}"/>
              </a:ext>
            </a:extLst>
          </p:cNvPr>
          <p:cNvSpPr txBox="1"/>
          <p:nvPr>
            <p:custDataLst>
              <p:tags r:id="rId8"/>
            </p:custDataLst>
          </p:nvPr>
        </p:nvSpPr>
        <p:spPr>
          <a:xfrm>
            <a:off x="2209800" y="5545637"/>
            <a:ext cx="2667000" cy="811542"/>
          </a:xfrm>
          <a:prstGeom prst="rect">
            <a:avLst/>
          </a:prstGeom>
          <a:noFill/>
        </p:spPr>
        <p:txBody>
          <a:bodyPr wrap="square" rtlCol="0" anchor="ctr">
            <a:noAutofit/>
          </a:bodyPr>
          <a:lstStyle/>
          <a:p>
            <a:pPr algn="ctr"/>
            <a:r>
              <a:rPr lang="en-US" sz="1600" b="1" dirty="0">
                <a:solidFill>
                  <a:schemeClr val="accent3">
                    <a:lumMod val="75000"/>
                  </a:schemeClr>
                </a:solidFill>
                <a:latin typeface="+mn-lt"/>
              </a:rPr>
              <a:t>usually </a:t>
            </a:r>
            <a:r>
              <a:rPr lang="en-US" sz="1600" b="1" i="1" dirty="0">
                <a:solidFill>
                  <a:schemeClr val="accent3">
                    <a:lumMod val="75000"/>
                  </a:schemeClr>
                </a:solidFill>
                <a:latin typeface="+mn-lt"/>
              </a:rPr>
              <a:t>biased</a:t>
            </a:r>
            <a:br>
              <a:rPr lang="en-US" sz="1600" b="1" dirty="0">
                <a:solidFill>
                  <a:schemeClr val="accent3">
                    <a:lumMod val="75000"/>
                  </a:schemeClr>
                </a:solidFill>
                <a:latin typeface="+mn-lt"/>
              </a:rPr>
            </a:br>
            <a:r>
              <a:rPr lang="en-US" sz="1600" b="1" dirty="0">
                <a:solidFill>
                  <a:schemeClr val="accent3">
                    <a:lumMod val="75000"/>
                  </a:schemeClr>
                </a:solidFill>
                <a:latin typeface="+mn-lt"/>
              </a:rPr>
              <a:t>e.g. bias = 7</a:t>
            </a:r>
            <a:br>
              <a:rPr lang="en-US" sz="1600" b="1" dirty="0">
                <a:solidFill>
                  <a:schemeClr val="accent3">
                    <a:lumMod val="75000"/>
                  </a:schemeClr>
                </a:solidFill>
                <a:latin typeface="+mn-lt"/>
              </a:rPr>
            </a:br>
            <a:r>
              <a:rPr lang="en-US" sz="1600" b="1" dirty="0">
                <a:solidFill>
                  <a:schemeClr val="accent3">
                    <a:lumMod val="75000"/>
                  </a:schemeClr>
                </a:solidFill>
                <a:latin typeface="+mn-lt"/>
              </a:rPr>
              <a:t>E = 10</a:t>
            </a:r>
            <a:endParaRPr lang="en-US" sz="1600" b="1" i="1" dirty="0">
              <a:solidFill>
                <a:schemeClr val="accent3">
                  <a:lumMod val="75000"/>
                </a:schemeClr>
              </a:solidFill>
              <a:latin typeface="+mn-lt"/>
            </a:endParaRPr>
          </a:p>
        </p:txBody>
      </p:sp>
    </p:spTree>
    <p:custDataLst>
      <p:tags r:id="rId1"/>
    </p:custDataLst>
    <p:extLst>
      <p:ext uri="{BB962C8B-B14F-4D97-AF65-F5344CB8AC3E}">
        <p14:creationId xmlns:p14="http://schemas.microsoft.com/office/powerpoint/2010/main" val="22481152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1">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custDataLst>
              <p:tags r:id="rId2"/>
            </p:custDataLst>
          </p:nvPr>
        </p:nvSpPr>
        <p:spPr>
          <a:xfrm>
            <a:off x="457200" y="274638"/>
            <a:ext cx="7467600" cy="1143000"/>
          </a:xfrm>
        </p:spPr>
        <p:txBody>
          <a:bodyPr/>
          <a:lstStyle/>
          <a:p>
            <a:pPr eaLnBrk="1" hangingPunct="1"/>
            <a:r>
              <a:rPr lang="en-US">
                <a:latin typeface="Calibri" charset="0"/>
              </a:rPr>
              <a:t>IEEE754 Special Cases</a:t>
            </a:r>
          </a:p>
        </p:txBody>
      </p:sp>
      <p:sp>
        <p:nvSpPr>
          <p:cNvPr id="13315" name="Slide Number Placeholder 5"/>
          <p:cNvSpPr>
            <a:spLocks noGrp="1"/>
          </p:cNvSpPr>
          <p:nvPr>
            <p:ph type="sldNum" sz="quarter" idx="12"/>
            <p:custDataLst>
              <p:tags r:id="rId3"/>
            </p:custDataLst>
          </p:nvPr>
        </p:nvSpPr>
        <p:spPr bwMode="auto">
          <a:xfrm>
            <a:off x="7620000" y="6356350"/>
            <a:ext cx="10668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200">
                <a:solidFill>
                  <a:schemeClr val="tx1"/>
                </a:solidFill>
                <a:latin typeface="Calibri" charset="0"/>
                <a:ea typeface="ＭＳ Ｐゴシック" charset="0"/>
              </a:defRPr>
            </a:lvl1pPr>
            <a:lvl2pPr marL="457200">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Aft>
                <a:spcPct val="0"/>
              </a:spcAft>
              <a:buFont typeface="Arial" charset="0"/>
              <a:buChar char="»"/>
              <a:defRPr sz="2000">
                <a:solidFill>
                  <a:schemeClr val="tx1"/>
                </a:solidFill>
                <a:latin typeface="Calibri" charset="0"/>
                <a:ea typeface="ＭＳ Ｐゴシック" charset="0"/>
              </a:defRPr>
            </a:lvl6pPr>
            <a:lvl7pPr eaLnBrk="0" fontAlgn="base" hangingPunct="0">
              <a:spcAft>
                <a:spcPct val="0"/>
              </a:spcAft>
              <a:buFont typeface="Arial" charset="0"/>
              <a:buChar char="»"/>
              <a:defRPr sz="2000">
                <a:solidFill>
                  <a:schemeClr val="tx1"/>
                </a:solidFill>
                <a:latin typeface="Calibri" charset="0"/>
                <a:ea typeface="ＭＳ Ｐゴシック" charset="0"/>
              </a:defRPr>
            </a:lvl7pPr>
            <a:lvl8pPr eaLnBrk="0" fontAlgn="base" hangingPunct="0">
              <a:spcAft>
                <a:spcPct val="0"/>
              </a:spcAft>
              <a:buFont typeface="Arial" charset="0"/>
              <a:buChar char="»"/>
              <a:defRPr sz="2000">
                <a:solidFill>
                  <a:schemeClr val="tx1"/>
                </a:solidFill>
                <a:latin typeface="Calibri" charset="0"/>
                <a:ea typeface="ＭＳ Ｐゴシック" charset="0"/>
              </a:defRPr>
            </a:lvl8pPr>
            <a:lvl9pPr eaLnBrk="0" fontAlgn="base" hangingPunct="0">
              <a:spcAft>
                <a:spcPct val="0"/>
              </a:spcAft>
              <a:buFont typeface="Arial" charset="0"/>
              <a:buChar char="»"/>
              <a:defRPr sz="2000">
                <a:solidFill>
                  <a:schemeClr val="tx1"/>
                </a:solidFill>
                <a:latin typeface="Calibri" charset="0"/>
                <a:ea typeface="ＭＳ Ｐゴシック" charset="0"/>
              </a:defRPr>
            </a:lvl9pPr>
          </a:lstStyle>
          <a:p>
            <a:pPr lvl="1"/>
            <a:fld id="{284A133F-184E-1843-9004-C5441DB9DDE2}" type="slidenum">
              <a:rPr lang="en-US" sz="2400"/>
              <a:pPr lvl="1"/>
              <a:t>46</a:t>
            </a:fld>
            <a:endParaRPr lang="en-US" sz="2400">
              <a:latin typeface="Times New Roman" charset="0"/>
            </a:endParaRPr>
          </a:p>
        </p:txBody>
      </p:sp>
      <p:graphicFrame>
        <p:nvGraphicFramePr>
          <p:cNvPr id="212043" name="Group 75"/>
          <p:cNvGraphicFramePr>
            <a:graphicFrameLocks noGrp="1"/>
          </p:cNvGraphicFramePr>
          <p:nvPr>
            <p:custDataLst>
              <p:tags r:id="rId4"/>
            </p:custDataLst>
          </p:nvPr>
        </p:nvGraphicFramePr>
        <p:xfrm>
          <a:off x="533400" y="1752600"/>
          <a:ext cx="7924800" cy="3052815"/>
        </p:xfrm>
        <a:graphic>
          <a:graphicData uri="http://schemas.openxmlformats.org/drawingml/2006/table">
            <a:tbl>
              <a:tblPr/>
              <a:tblGrid>
                <a:gridCol w="142875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430338">
                  <a:extLst>
                    <a:ext uri="{9D8B030D-6E8A-4147-A177-3AD203B41FA5}">
                      <a16:colId xmlns:a16="http://schemas.microsoft.com/office/drawing/2014/main" val="20003"/>
                    </a:ext>
                  </a:extLst>
                </a:gridCol>
                <a:gridCol w="2208212">
                  <a:extLst>
                    <a:ext uri="{9D8B030D-6E8A-4147-A177-3AD203B41FA5}">
                      <a16:colId xmlns:a16="http://schemas.microsoft.com/office/drawing/2014/main" val="20004"/>
                    </a:ext>
                  </a:extLst>
                </a:gridCol>
              </a:tblGrid>
              <a:tr h="482549">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Tahoma" pitchFamily="34" charset="0"/>
                        </a:rPr>
                        <a:t>Single Precision</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Tahoma" pitchFamily="34" charset="0"/>
                        </a:rPr>
                        <a:t>Double Precision</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hMerge="1">
                  <a:txBody>
                    <a:bodyPr/>
                    <a:lstStyle/>
                    <a:p>
                      <a:endParaRPr lang="en-US"/>
                    </a:p>
                  </a:txBody>
                  <a:tcPr/>
                </a:tc>
                <a:tc row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Tahoma" pitchFamily="34" charset="0"/>
                        </a:rPr>
                        <a:t>Value</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48254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Tahoma" pitchFamily="34" charset="0"/>
                        </a:rPr>
                        <a:t>E</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Tahoma" pitchFamily="34" charset="0"/>
                        </a:rPr>
                        <a:t>F</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Tahoma" pitchFamily="34" charset="0"/>
                        </a:rPr>
                        <a:t>E</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Tahoma" pitchFamily="34" charset="0"/>
                        </a:rPr>
                        <a:t>F</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v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1" i="0" u="none" strike="noStrike" cap="none" normalizeH="0" baseline="0" dirty="0">
                        <a:ln>
                          <a:noFill/>
                        </a:ln>
                        <a:solidFill>
                          <a:schemeClr val="tx1"/>
                        </a:solidFill>
                        <a:effectLst/>
                        <a:latin typeface="Tahoma" pitchFamily="34" charset="0"/>
                      </a:endParaRP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48254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pitchFamily="34" charset="0"/>
                        </a:rPr>
                        <a:t>zero</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54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pitchFamily="34" charset="0"/>
                        </a:rPr>
                        <a:t>nonzero</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nonzero</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Tahoma" pitchFamily="34" charset="0"/>
                          <a:sym typeface="StarMath" pitchFamily="2" charset="2"/>
                        </a:rPr>
                        <a:t>denormalized</a:t>
                      </a:r>
                      <a:endParaRPr kumimoji="0" lang="en-US" sz="2000" b="0" i="0" u="none" strike="noStrike" cap="none" normalizeH="0" baseline="0" dirty="0">
                        <a:ln>
                          <a:noFill/>
                        </a:ln>
                        <a:solidFill>
                          <a:schemeClr val="tx1"/>
                        </a:solidFill>
                        <a:effectLst/>
                        <a:latin typeface="Tahoma" pitchFamily="34" charset="0"/>
                      </a:endParaRP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54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255</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2047</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pitchFamily="34" charset="0"/>
                          <a:sym typeface="StarMath" pitchFamily="2" charset="2"/>
                        </a:rPr>
                        <a:t>infinity</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4007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255</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nonzero</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pitchFamily="34" charset="0"/>
                        </a:rPr>
                        <a:t>2047</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nonzero</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Tahoma" pitchFamily="34" charset="0"/>
                        </a:rPr>
                        <a:t>NaN</a:t>
                      </a:r>
                      <a:r>
                        <a:rPr kumimoji="0" lang="en-US" sz="2000" b="0" i="0" u="none" strike="noStrike" cap="none" normalizeH="0" baseline="0" dirty="0">
                          <a:ln>
                            <a:noFill/>
                          </a:ln>
                          <a:solidFill>
                            <a:schemeClr val="tx1"/>
                          </a:solidFill>
                          <a:effectLst/>
                          <a:latin typeface="Tahoma" pitchFamily="34" charset="0"/>
                        </a:rPr>
                        <a:t> (Not a Number)</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TextBox 1">
            <a:extLst>
              <a:ext uri="{FF2B5EF4-FFF2-40B4-BE49-F238E27FC236}">
                <a16:creationId xmlns:a16="http://schemas.microsoft.com/office/drawing/2014/main" id="{3953EECE-DAC3-3770-D783-4B98F83C1470}"/>
              </a:ext>
            </a:extLst>
          </p:cNvPr>
          <p:cNvSpPr txBox="1"/>
          <p:nvPr/>
        </p:nvSpPr>
        <p:spPr>
          <a:xfrm>
            <a:off x="443904" y="5486400"/>
            <a:ext cx="8239179" cy="400110"/>
          </a:xfrm>
          <a:prstGeom prst="rect">
            <a:avLst/>
          </a:prstGeom>
          <a:noFill/>
        </p:spPr>
        <p:txBody>
          <a:bodyPr wrap="none" rtlCol="0">
            <a:spAutoFit/>
          </a:bodyPr>
          <a:lstStyle/>
          <a:p>
            <a:r>
              <a:rPr lang="en-US" sz="2000" dirty="0">
                <a:latin typeface="+mn-lt"/>
              </a:rPr>
              <a:t>Explore IEEE 754 @ https://</a:t>
            </a:r>
            <a:r>
              <a:rPr lang="en-US" sz="2000" dirty="0" err="1">
                <a:latin typeface="+mn-lt"/>
              </a:rPr>
              <a:t>www.h-schmidt.net</a:t>
            </a:r>
            <a:r>
              <a:rPr lang="en-US" sz="2000" dirty="0">
                <a:latin typeface="+mn-lt"/>
              </a:rPr>
              <a:t>/</a:t>
            </a:r>
            <a:r>
              <a:rPr lang="en-US" sz="2000" dirty="0" err="1">
                <a:latin typeface="+mn-lt"/>
              </a:rPr>
              <a:t>FloatConverter</a:t>
            </a:r>
            <a:r>
              <a:rPr lang="en-US" sz="2000" dirty="0">
                <a:latin typeface="+mn-lt"/>
              </a:rPr>
              <a:t>/IEEE754.html</a:t>
            </a:r>
          </a:p>
        </p:txBody>
      </p:sp>
    </p:spTree>
    <p:custDataLst>
      <p:tags r:id="rId1"/>
    </p:custDataLst>
    <p:extLst>
      <p:ext uri="{BB962C8B-B14F-4D97-AF65-F5344CB8AC3E}">
        <p14:creationId xmlns:p14="http://schemas.microsoft.com/office/powerpoint/2010/main" val="117387132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Review – Ex 12/03 Q2</a:t>
            </a:r>
          </a:p>
        </p:txBody>
      </p:sp>
      <p:sp>
        <p:nvSpPr>
          <p:cNvPr id="39941" name="Rectangle 3"/>
          <p:cNvSpPr>
            <a:spLocks noGrp="1" noChangeArrowheads="1"/>
          </p:cNvSpPr>
          <p:nvPr>
            <p:ph idx="1"/>
          </p:nvPr>
        </p:nvSpPr>
        <p:spPr>
          <a:xfrm>
            <a:off x="457200" y="1295400"/>
            <a:ext cx="8686800" cy="5181600"/>
          </a:xfrm>
        </p:spPr>
        <p:txBody>
          <a:bodyPr/>
          <a:lstStyle/>
          <a:p>
            <a:pPr marL="0" indent="0">
              <a:buNone/>
            </a:pPr>
            <a:r>
              <a:rPr lang="en-US" altLang="en-US" sz="2400" dirty="0"/>
              <a:t>This program performs </a:t>
            </a:r>
            <a:r>
              <a:rPr lang="en-US" altLang="en-US" sz="2400" b="1" dirty="0"/>
              <a:t>unsigned integer division </a:t>
            </a:r>
            <a:r>
              <a:rPr lang="en-US" altLang="en-US" sz="2400" dirty="0"/>
              <a:t>of two 16-bit numbers: 19 ÷ 3 (in decimal).</a:t>
            </a:r>
          </a:p>
          <a:p>
            <a:pPr marL="0" indent="0">
              <a:buNone/>
            </a:pPr>
            <a:r>
              <a:rPr lang="en-US" sz="1800" dirty="0">
                <a:solidFill>
                  <a:srgbClr val="00000A"/>
                </a:solidFill>
                <a:effectLst/>
                <a:latin typeface="Courier New" panose="02070309020205020404" pitchFamily="49" charset="0"/>
                <a:ea typeface="PMingLiU" panose="02020500000000000000" pitchFamily="18" charset="-120"/>
              </a:rPr>
              <a:t>L0:	</a:t>
            </a:r>
            <a:r>
              <a:rPr lang="en-US" sz="1800" dirty="0" err="1">
                <a:solidFill>
                  <a:srgbClr val="00000A"/>
                </a:solidFill>
                <a:effectLst/>
                <a:latin typeface="Courier New" panose="02070309020205020404" pitchFamily="49" charset="0"/>
                <a:ea typeface="PMingLiU" panose="02020500000000000000" pitchFamily="18" charset="-120"/>
              </a:rPr>
              <a:t>lui</a:t>
            </a:r>
            <a:r>
              <a:rPr lang="en-US" sz="1800" dirty="0">
                <a:solidFill>
                  <a:srgbClr val="00000A"/>
                </a:solidFill>
                <a:effectLst/>
                <a:latin typeface="Courier New" panose="02070309020205020404" pitchFamily="49" charset="0"/>
                <a:ea typeface="PMingLiU" panose="02020500000000000000" pitchFamily="18" charset="-120"/>
              </a:rPr>
              <a:t> 	$t0, 3</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	</a:t>
            </a:r>
            <a:r>
              <a:rPr lang="en-US" sz="1800" dirty="0" err="1">
                <a:solidFill>
                  <a:srgbClr val="00000A"/>
                </a:solidFill>
                <a:effectLst/>
                <a:latin typeface="Courier New" panose="02070309020205020404" pitchFamily="49" charset="0"/>
                <a:ea typeface="PMingLiU" panose="02020500000000000000" pitchFamily="18" charset="-120"/>
              </a:rPr>
              <a:t>ori</a:t>
            </a:r>
            <a:r>
              <a:rPr lang="en-US" sz="1800" dirty="0">
                <a:solidFill>
                  <a:srgbClr val="00000A"/>
                </a:solidFill>
                <a:effectLst/>
                <a:latin typeface="Courier New" panose="02070309020205020404" pitchFamily="49" charset="0"/>
                <a:ea typeface="PMingLiU" panose="02020500000000000000" pitchFamily="18" charset="-120"/>
              </a:rPr>
              <a:t> 	$t1, $zero, 19</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L2:	add 	$t2, $zero, $zero</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L3:	</a:t>
            </a:r>
            <a:r>
              <a:rPr lang="en-US" sz="1800" dirty="0" err="1">
                <a:solidFill>
                  <a:srgbClr val="00000A"/>
                </a:solidFill>
                <a:effectLst/>
                <a:latin typeface="Courier New" panose="02070309020205020404" pitchFamily="49" charset="0"/>
                <a:ea typeface="PMingLiU" panose="02020500000000000000" pitchFamily="18" charset="-120"/>
              </a:rPr>
              <a:t>addi</a:t>
            </a:r>
            <a:r>
              <a:rPr lang="en-US" sz="1800" dirty="0">
                <a:solidFill>
                  <a:srgbClr val="00000A"/>
                </a:solidFill>
                <a:effectLst/>
                <a:latin typeface="Courier New" panose="02070309020205020404" pitchFamily="49" charset="0"/>
                <a:ea typeface="PMingLiU" panose="02020500000000000000" pitchFamily="18" charset="-120"/>
              </a:rPr>
              <a:t> 	$t3, $zero, 16</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L4:	</a:t>
            </a:r>
            <a:r>
              <a:rPr lang="en-US" sz="1800" dirty="0" err="1">
                <a:solidFill>
                  <a:srgbClr val="00000A"/>
                </a:solidFill>
                <a:effectLst/>
                <a:latin typeface="Courier New" panose="02070309020205020404" pitchFamily="49" charset="0"/>
                <a:ea typeface="PMingLiU" panose="02020500000000000000" pitchFamily="18" charset="-120"/>
              </a:rPr>
              <a:t>srl</a:t>
            </a:r>
            <a:r>
              <a:rPr lang="en-US" sz="1800" dirty="0">
                <a:solidFill>
                  <a:srgbClr val="00000A"/>
                </a:solidFill>
                <a:effectLst/>
                <a:latin typeface="Courier New" panose="02070309020205020404" pitchFamily="49" charset="0"/>
                <a:ea typeface="PMingLiU" panose="02020500000000000000" pitchFamily="18" charset="-120"/>
              </a:rPr>
              <a:t> 	$t0, $t0,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L5:	</a:t>
            </a:r>
            <a:r>
              <a:rPr lang="en-US" sz="1800" dirty="0" err="1">
                <a:solidFill>
                  <a:srgbClr val="00000A"/>
                </a:solidFill>
                <a:effectLst/>
                <a:latin typeface="Courier New" panose="02070309020205020404" pitchFamily="49" charset="0"/>
                <a:ea typeface="PMingLiU" panose="02020500000000000000" pitchFamily="18" charset="-120"/>
              </a:rPr>
              <a:t>sll</a:t>
            </a:r>
            <a:r>
              <a:rPr lang="en-US" sz="1800" dirty="0">
                <a:solidFill>
                  <a:srgbClr val="00000A"/>
                </a:solidFill>
                <a:effectLst/>
                <a:latin typeface="Courier New" panose="02070309020205020404" pitchFamily="49" charset="0"/>
                <a:ea typeface="PMingLiU" panose="02020500000000000000" pitchFamily="18" charset="-120"/>
              </a:rPr>
              <a:t> 	$t2, $t2,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L6:	</a:t>
            </a:r>
            <a:r>
              <a:rPr lang="en-US" sz="1800" dirty="0" err="1">
                <a:solidFill>
                  <a:srgbClr val="00000A"/>
                </a:solidFill>
                <a:effectLst/>
                <a:latin typeface="Courier New" panose="02070309020205020404" pitchFamily="49" charset="0"/>
                <a:ea typeface="PMingLiU" panose="02020500000000000000" pitchFamily="18" charset="-120"/>
              </a:rPr>
              <a:t>sltu</a:t>
            </a:r>
            <a:r>
              <a:rPr lang="en-US" sz="1800" dirty="0">
                <a:solidFill>
                  <a:srgbClr val="00000A"/>
                </a:solidFill>
                <a:effectLst/>
                <a:latin typeface="Courier New" panose="02070309020205020404" pitchFamily="49" charset="0"/>
                <a:ea typeface="PMingLiU" panose="02020500000000000000" pitchFamily="18" charset="-120"/>
              </a:rPr>
              <a:t> 	$t7, $t1, $t0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L7:	</a:t>
            </a:r>
            <a:r>
              <a:rPr lang="en-US" sz="1800" dirty="0" err="1">
                <a:solidFill>
                  <a:srgbClr val="00000A"/>
                </a:solidFill>
                <a:effectLst/>
                <a:latin typeface="Courier New" panose="02070309020205020404" pitchFamily="49" charset="0"/>
                <a:ea typeface="PMingLiU" panose="02020500000000000000" pitchFamily="18" charset="-120"/>
              </a:rPr>
              <a:t>bne</a:t>
            </a:r>
            <a:r>
              <a:rPr lang="en-US" sz="1800" dirty="0">
                <a:solidFill>
                  <a:srgbClr val="00000A"/>
                </a:solidFill>
                <a:effectLst/>
                <a:latin typeface="Courier New" panose="02070309020205020404" pitchFamily="49" charset="0"/>
                <a:ea typeface="PMingLiU" panose="02020500000000000000" pitchFamily="18" charset="-120"/>
              </a:rPr>
              <a:t> 	$t7, $zero, L10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L8:	</a:t>
            </a:r>
            <a:r>
              <a:rPr lang="en-US" sz="1800" dirty="0" err="1">
                <a:solidFill>
                  <a:srgbClr val="00000A"/>
                </a:solidFill>
                <a:effectLst/>
                <a:latin typeface="Courier New" panose="02070309020205020404" pitchFamily="49" charset="0"/>
                <a:ea typeface="PMingLiU" panose="02020500000000000000" pitchFamily="18" charset="-120"/>
              </a:rPr>
              <a:t>subu</a:t>
            </a:r>
            <a:r>
              <a:rPr lang="en-US" sz="1800" dirty="0">
                <a:solidFill>
                  <a:srgbClr val="00000A"/>
                </a:solidFill>
                <a:effectLst/>
                <a:latin typeface="Courier New" panose="02070309020205020404" pitchFamily="49" charset="0"/>
                <a:ea typeface="PMingLiU" panose="02020500000000000000" pitchFamily="18" charset="-120"/>
              </a:rPr>
              <a:t> 	$t1, $t1, $t0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L9:	</a:t>
            </a:r>
            <a:r>
              <a:rPr lang="en-US" sz="1800" dirty="0" err="1">
                <a:solidFill>
                  <a:srgbClr val="00000A"/>
                </a:solidFill>
                <a:effectLst/>
                <a:latin typeface="Courier New" panose="02070309020205020404" pitchFamily="49" charset="0"/>
                <a:ea typeface="PMingLiU" panose="02020500000000000000" pitchFamily="18" charset="-120"/>
              </a:rPr>
              <a:t>ori</a:t>
            </a:r>
            <a:r>
              <a:rPr lang="en-US" sz="1800" dirty="0">
                <a:solidFill>
                  <a:srgbClr val="00000A"/>
                </a:solidFill>
                <a:effectLst/>
                <a:latin typeface="Courier New" panose="02070309020205020404" pitchFamily="49" charset="0"/>
                <a:ea typeface="PMingLiU" panose="02020500000000000000" pitchFamily="18" charset="-120"/>
              </a:rPr>
              <a:t> 	$t2, $t2,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L10:	</a:t>
            </a:r>
            <a:r>
              <a:rPr lang="en-US" sz="1800" dirty="0" err="1">
                <a:solidFill>
                  <a:srgbClr val="00000A"/>
                </a:solidFill>
                <a:effectLst/>
                <a:latin typeface="Courier New" panose="02070309020205020404" pitchFamily="49" charset="0"/>
                <a:ea typeface="PMingLiU" panose="02020500000000000000" pitchFamily="18" charset="-120"/>
              </a:rPr>
              <a:t>addi</a:t>
            </a:r>
            <a:r>
              <a:rPr lang="en-US" sz="1800" dirty="0">
                <a:solidFill>
                  <a:srgbClr val="00000A"/>
                </a:solidFill>
                <a:effectLst/>
                <a:latin typeface="Courier New" panose="02070309020205020404" pitchFamily="49" charset="0"/>
                <a:ea typeface="PMingLiU" panose="02020500000000000000" pitchFamily="18" charset="-120"/>
              </a:rPr>
              <a:t> 	$t3, $t3,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L11:	</a:t>
            </a:r>
            <a:r>
              <a:rPr lang="en-US" sz="1800" dirty="0" err="1">
                <a:solidFill>
                  <a:srgbClr val="00000A"/>
                </a:solidFill>
                <a:effectLst/>
                <a:latin typeface="Courier New" panose="02070309020205020404" pitchFamily="49" charset="0"/>
                <a:ea typeface="PMingLiU" panose="02020500000000000000" pitchFamily="18" charset="-120"/>
              </a:rPr>
              <a:t>bne</a:t>
            </a:r>
            <a:r>
              <a:rPr lang="en-US" sz="1800" dirty="0">
                <a:solidFill>
                  <a:srgbClr val="00000A"/>
                </a:solidFill>
                <a:effectLst/>
                <a:latin typeface="Courier New" panose="02070309020205020404" pitchFamily="49" charset="0"/>
                <a:ea typeface="PMingLiU" panose="02020500000000000000" pitchFamily="18" charset="-120"/>
              </a:rPr>
              <a:t> 	$t3, $zero, L4</a:t>
            </a:r>
            <a:endParaRPr lang="en-US" sz="1800" dirty="0">
              <a:solidFill>
                <a:srgbClr val="00000A"/>
              </a:solidFill>
              <a:effectLst/>
              <a:latin typeface="Times New Roman" panose="02020603050405020304" pitchFamily="18" charset="0"/>
              <a:ea typeface="PMingLiU" panose="02020500000000000000" pitchFamily="18" charset="-120"/>
            </a:endParaRPr>
          </a:p>
          <a:p>
            <a:pPr marL="0" indent="0">
              <a:buNone/>
            </a:pPr>
            <a:r>
              <a:rPr lang="en-US" altLang="en-US" sz="2400" dirty="0"/>
              <a:t>(</a:t>
            </a:r>
            <a:r>
              <a:rPr lang="en-US" altLang="en-US" sz="2400" dirty="0" err="1"/>
              <a:t>a,b</a:t>
            </a:r>
            <a:r>
              <a:rPr lang="en-US" altLang="en-US" sz="2400" dirty="0"/>
              <a:t>) Which registers contain </a:t>
            </a:r>
            <a:r>
              <a:rPr lang="en-US" altLang="en-US" sz="2400" b="1" dirty="0"/>
              <a:t>quotient</a:t>
            </a:r>
            <a:r>
              <a:rPr lang="en-US" altLang="en-US" sz="2400" dirty="0"/>
              <a:t> and </a:t>
            </a:r>
            <a:r>
              <a:rPr lang="en-US" altLang="en-US" sz="2400" b="1" dirty="0"/>
              <a:t>remainder</a:t>
            </a:r>
            <a:r>
              <a:rPr lang="en-US" altLang="en-US" sz="2400" dirty="0"/>
              <a:t> at the end?</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47</a:t>
            </a:fld>
            <a:endParaRPr lang="en-US" altLang="en-US"/>
          </a:p>
        </p:txBody>
      </p:sp>
    </p:spTree>
    <p:extLst>
      <p:ext uri="{BB962C8B-B14F-4D97-AF65-F5344CB8AC3E}">
        <p14:creationId xmlns:p14="http://schemas.microsoft.com/office/powerpoint/2010/main" val="2581072820"/>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Review – Ex 12/03 Q2</a:t>
            </a:r>
          </a:p>
        </p:txBody>
      </p:sp>
      <p:sp>
        <p:nvSpPr>
          <p:cNvPr id="39941" name="Rectangle 3"/>
          <p:cNvSpPr>
            <a:spLocks noGrp="1" noChangeArrowheads="1"/>
          </p:cNvSpPr>
          <p:nvPr>
            <p:ph idx="1"/>
          </p:nvPr>
        </p:nvSpPr>
        <p:spPr>
          <a:xfrm>
            <a:off x="457200" y="1295400"/>
            <a:ext cx="8686800" cy="5181600"/>
          </a:xfrm>
        </p:spPr>
        <p:txBody>
          <a:bodyPr/>
          <a:lstStyle/>
          <a:p>
            <a:pPr marL="0" indent="0">
              <a:buNone/>
            </a:pPr>
            <a:r>
              <a:rPr lang="en-US" altLang="en-US" sz="2400" dirty="0"/>
              <a:t>This program performs </a:t>
            </a:r>
            <a:r>
              <a:rPr lang="en-US" altLang="en-US" sz="2400" b="1" dirty="0"/>
              <a:t>unsigned integer division </a:t>
            </a:r>
            <a:r>
              <a:rPr lang="en-US" altLang="en-US" sz="2400" dirty="0"/>
              <a:t>of two 16-bit numbers: 19 ÷ 3 (in decimal).</a:t>
            </a:r>
          </a:p>
          <a:p>
            <a:pPr marL="0" indent="0">
              <a:buNone/>
            </a:pPr>
            <a:r>
              <a:rPr lang="en-US" sz="1800" dirty="0">
                <a:solidFill>
                  <a:srgbClr val="00000A"/>
                </a:solidFill>
                <a:effectLst/>
                <a:latin typeface="Courier New" panose="02070309020205020404" pitchFamily="49" charset="0"/>
                <a:ea typeface="PMingLiU" panose="02020500000000000000" pitchFamily="18" charset="-120"/>
              </a:rPr>
              <a:t>L0:	</a:t>
            </a:r>
            <a:r>
              <a:rPr lang="en-US" sz="1800" dirty="0" err="1">
                <a:solidFill>
                  <a:srgbClr val="00000A"/>
                </a:solidFill>
                <a:effectLst/>
                <a:latin typeface="Courier New" panose="02070309020205020404" pitchFamily="49" charset="0"/>
                <a:ea typeface="PMingLiU" panose="02020500000000000000" pitchFamily="18" charset="-120"/>
              </a:rPr>
              <a:t>lui</a:t>
            </a:r>
            <a:r>
              <a:rPr lang="en-US" sz="1800" dirty="0">
                <a:solidFill>
                  <a:srgbClr val="00000A"/>
                </a:solidFill>
                <a:effectLst/>
                <a:latin typeface="Courier New" panose="02070309020205020404" pitchFamily="49" charset="0"/>
                <a:ea typeface="PMingLiU" panose="02020500000000000000" pitchFamily="18" charset="-120"/>
              </a:rPr>
              <a:t> 	$t0, 3</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	</a:t>
            </a:r>
            <a:r>
              <a:rPr lang="en-US" sz="1800" dirty="0" err="1">
                <a:solidFill>
                  <a:srgbClr val="00000A"/>
                </a:solidFill>
                <a:effectLst/>
                <a:latin typeface="Courier New" panose="02070309020205020404" pitchFamily="49" charset="0"/>
                <a:ea typeface="PMingLiU" panose="02020500000000000000" pitchFamily="18" charset="-120"/>
              </a:rPr>
              <a:t>ori</a:t>
            </a:r>
            <a:r>
              <a:rPr lang="en-US" sz="1800" dirty="0">
                <a:solidFill>
                  <a:srgbClr val="00000A"/>
                </a:solidFill>
                <a:effectLst/>
                <a:latin typeface="Courier New" panose="02070309020205020404" pitchFamily="49" charset="0"/>
                <a:ea typeface="PMingLiU" panose="02020500000000000000" pitchFamily="18" charset="-120"/>
              </a:rPr>
              <a:t> 	$t1, $zero, 19</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L2:	add 	$t2, $zero, $zero</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L3:	</a:t>
            </a:r>
            <a:r>
              <a:rPr lang="en-US" sz="1800" dirty="0" err="1">
                <a:solidFill>
                  <a:srgbClr val="00000A"/>
                </a:solidFill>
                <a:effectLst/>
                <a:latin typeface="Courier New" panose="02070309020205020404" pitchFamily="49" charset="0"/>
                <a:ea typeface="PMingLiU" panose="02020500000000000000" pitchFamily="18" charset="-120"/>
              </a:rPr>
              <a:t>addi</a:t>
            </a:r>
            <a:r>
              <a:rPr lang="en-US" sz="1800" dirty="0">
                <a:solidFill>
                  <a:srgbClr val="00000A"/>
                </a:solidFill>
                <a:effectLst/>
                <a:latin typeface="Courier New" panose="02070309020205020404" pitchFamily="49" charset="0"/>
                <a:ea typeface="PMingLiU" panose="02020500000000000000" pitchFamily="18" charset="-120"/>
              </a:rPr>
              <a:t> 	$t3, $zero, 16</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L4:	</a:t>
            </a:r>
            <a:r>
              <a:rPr lang="en-US" sz="1800" dirty="0" err="1">
                <a:solidFill>
                  <a:srgbClr val="00000A"/>
                </a:solidFill>
                <a:effectLst/>
                <a:latin typeface="Courier New" panose="02070309020205020404" pitchFamily="49" charset="0"/>
                <a:ea typeface="PMingLiU" panose="02020500000000000000" pitchFamily="18" charset="-120"/>
              </a:rPr>
              <a:t>srl</a:t>
            </a:r>
            <a:r>
              <a:rPr lang="en-US" sz="1800" dirty="0">
                <a:solidFill>
                  <a:srgbClr val="00000A"/>
                </a:solidFill>
                <a:effectLst/>
                <a:latin typeface="Courier New" panose="02070309020205020404" pitchFamily="49" charset="0"/>
                <a:ea typeface="PMingLiU" panose="02020500000000000000" pitchFamily="18" charset="-120"/>
              </a:rPr>
              <a:t> 	$t0, $t0,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L5:	</a:t>
            </a:r>
            <a:r>
              <a:rPr lang="en-US" sz="1800" dirty="0" err="1">
                <a:solidFill>
                  <a:srgbClr val="00000A"/>
                </a:solidFill>
                <a:effectLst/>
                <a:latin typeface="Courier New" panose="02070309020205020404" pitchFamily="49" charset="0"/>
                <a:ea typeface="PMingLiU" panose="02020500000000000000" pitchFamily="18" charset="-120"/>
              </a:rPr>
              <a:t>sll</a:t>
            </a:r>
            <a:r>
              <a:rPr lang="en-US" sz="1800" dirty="0">
                <a:solidFill>
                  <a:srgbClr val="00000A"/>
                </a:solidFill>
                <a:effectLst/>
                <a:latin typeface="Courier New" panose="02070309020205020404" pitchFamily="49" charset="0"/>
                <a:ea typeface="PMingLiU" panose="02020500000000000000" pitchFamily="18" charset="-120"/>
              </a:rPr>
              <a:t> 	$t2, $t2,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L6:	</a:t>
            </a:r>
            <a:r>
              <a:rPr lang="en-US" sz="1800" dirty="0" err="1">
                <a:solidFill>
                  <a:srgbClr val="00000A"/>
                </a:solidFill>
                <a:effectLst/>
                <a:latin typeface="Courier New" panose="02070309020205020404" pitchFamily="49" charset="0"/>
                <a:ea typeface="PMingLiU" panose="02020500000000000000" pitchFamily="18" charset="-120"/>
              </a:rPr>
              <a:t>sltu</a:t>
            </a:r>
            <a:r>
              <a:rPr lang="en-US" sz="1800" dirty="0">
                <a:solidFill>
                  <a:srgbClr val="00000A"/>
                </a:solidFill>
                <a:effectLst/>
                <a:latin typeface="Courier New" panose="02070309020205020404" pitchFamily="49" charset="0"/>
                <a:ea typeface="PMingLiU" panose="02020500000000000000" pitchFamily="18" charset="-120"/>
              </a:rPr>
              <a:t> 	$t7, $t1, $t0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L7:	</a:t>
            </a:r>
            <a:r>
              <a:rPr lang="en-US" sz="1800" dirty="0" err="1">
                <a:solidFill>
                  <a:srgbClr val="00000A"/>
                </a:solidFill>
                <a:effectLst/>
                <a:latin typeface="Courier New" panose="02070309020205020404" pitchFamily="49" charset="0"/>
                <a:ea typeface="PMingLiU" panose="02020500000000000000" pitchFamily="18" charset="-120"/>
              </a:rPr>
              <a:t>bne</a:t>
            </a:r>
            <a:r>
              <a:rPr lang="en-US" sz="1800" dirty="0">
                <a:solidFill>
                  <a:srgbClr val="00000A"/>
                </a:solidFill>
                <a:effectLst/>
                <a:latin typeface="Courier New" panose="02070309020205020404" pitchFamily="49" charset="0"/>
                <a:ea typeface="PMingLiU" panose="02020500000000000000" pitchFamily="18" charset="-120"/>
              </a:rPr>
              <a:t> 	$t7, $zero, L10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L8:	</a:t>
            </a:r>
            <a:r>
              <a:rPr lang="en-US" sz="1800" dirty="0" err="1">
                <a:solidFill>
                  <a:srgbClr val="00000A"/>
                </a:solidFill>
                <a:effectLst/>
                <a:latin typeface="Courier New" panose="02070309020205020404" pitchFamily="49" charset="0"/>
                <a:ea typeface="PMingLiU" panose="02020500000000000000" pitchFamily="18" charset="-120"/>
              </a:rPr>
              <a:t>subu</a:t>
            </a:r>
            <a:r>
              <a:rPr lang="en-US" sz="1800" dirty="0">
                <a:solidFill>
                  <a:srgbClr val="00000A"/>
                </a:solidFill>
                <a:effectLst/>
                <a:latin typeface="Courier New" panose="02070309020205020404" pitchFamily="49" charset="0"/>
                <a:ea typeface="PMingLiU" panose="02020500000000000000" pitchFamily="18" charset="-120"/>
              </a:rPr>
              <a:t> 	$t1, $t1, $t0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L9:	</a:t>
            </a:r>
            <a:r>
              <a:rPr lang="en-US" sz="1800" dirty="0" err="1">
                <a:solidFill>
                  <a:srgbClr val="00000A"/>
                </a:solidFill>
                <a:effectLst/>
                <a:latin typeface="Courier New" panose="02070309020205020404" pitchFamily="49" charset="0"/>
                <a:ea typeface="PMingLiU" panose="02020500000000000000" pitchFamily="18" charset="-120"/>
              </a:rPr>
              <a:t>ori</a:t>
            </a:r>
            <a:r>
              <a:rPr lang="en-US" sz="1800" dirty="0">
                <a:solidFill>
                  <a:srgbClr val="00000A"/>
                </a:solidFill>
                <a:effectLst/>
                <a:latin typeface="Courier New" panose="02070309020205020404" pitchFamily="49" charset="0"/>
                <a:ea typeface="PMingLiU" panose="02020500000000000000" pitchFamily="18" charset="-120"/>
              </a:rPr>
              <a:t> 	$t2, $t2,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L10:	</a:t>
            </a:r>
            <a:r>
              <a:rPr lang="en-US" sz="1800" dirty="0" err="1">
                <a:solidFill>
                  <a:srgbClr val="00000A"/>
                </a:solidFill>
                <a:effectLst/>
                <a:latin typeface="Courier New" panose="02070309020205020404" pitchFamily="49" charset="0"/>
                <a:ea typeface="PMingLiU" panose="02020500000000000000" pitchFamily="18" charset="-120"/>
              </a:rPr>
              <a:t>addi</a:t>
            </a:r>
            <a:r>
              <a:rPr lang="en-US" sz="1800" dirty="0">
                <a:solidFill>
                  <a:srgbClr val="00000A"/>
                </a:solidFill>
                <a:effectLst/>
                <a:latin typeface="Courier New" panose="02070309020205020404" pitchFamily="49" charset="0"/>
                <a:ea typeface="PMingLiU" panose="02020500000000000000" pitchFamily="18" charset="-120"/>
              </a:rPr>
              <a:t> 	$t3, $t3,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L11:	</a:t>
            </a:r>
            <a:r>
              <a:rPr lang="en-US" sz="1800" dirty="0" err="1">
                <a:solidFill>
                  <a:srgbClr val="00000A"/>
                </a:solidFill>
                <a:effectLst/>
                <a:latin typeface="Courier New" panose="02070309020205020404" pitchFamily="49" charset="0"/>
                <a:ea typeface="PMingLiU" panose="02020500000000000000" pitchFamily="18" charset="-120"/>
              </a:rPr>
              <a:t>bne</a:t>
            </a:r>
            <a:r>
              <a:rPr lang="en-US" sz="1800" dirty="0">
                <a:solidFill>
                  <a:srgbClr val="00000A"/>
                </a:solidFill>
                <a:effectLst/>
                <a:latin typeface="Courier New" panose="02070309020205020404" pitchFamily="49" charset="0"/>
                <a:ea typeface="PMingLiU" panose="02020500000000000000" pitchFamily="18" charset="-120"/>
              </a:rPr>
              <a:t> 	$t3, $zero, L4</a:t>
            </a:r>
            <a:endParaRPr lang="en-US" sz="1800" dirty="0">
              <a:solidFill>
                <a:srgbClr val="00000A"/>
              </a:solidFill>
              <a:effectLst/>
              <a:latin typeface="Times New Roman" panose="02020603050405020304" pitchFamily="18" charset="0"/>
              <a:ea typeface="PMingLiU" panose="02020500000000000000" pitchFamily="18" charset="-120"/>
            </a:endParaRPr>
          </a:p>
          <a:p>
            <a:pPr marL="0" indent="0">
              <a:buNone/>
            </a:pPr>
            <a:r>
              <a:rPr lang="en-US" altLang="en-US" sz="2400" dirty="0"/>
              <a:t>(</a:t>
            </a:r>
            <a:r>
              <a:rPr lang="en-US" altLang="en-US" sz="2400" dirty="0" err="1"/>
              <a:t>a,b</a:t>
            </a:r>
            <a:r>
              <a:rPr lang="en-US" altLang="en-US" sz="2400" dirty="0"/>
              <a:t>) Which registers contain </a:t>
            </a:r>
            <a:r>
              <a:rPr lang="en-US" altLang="en-US" sz="2400" b="1" dirty="0"/>
              <a:t>quotient</a:t>
            </a:r>
            <a:r>
              <a:rPr lang="en-US" altLang="en-US" sz="2400" dirty="0"/>
              <a:t> and </a:t>
            </a:r>
            <a:r>
              <a:rPr lang="en-US" altLang="en-US" sz="2400" b="1" dirty="0"/>
              <a:t>remainder</a:t>
            </a:r>
            <a:r>
              <a:rPr lang="en-US" altLang="en-US" sz="2400" dirty="0"/>
              <a:t> at the end?</a:t>
            </a:r>
          </a:p>
          <a:p>
            <a:pPr marL="0" indent="0">
              <a:buNone/>
            </a:pPr>
            <a:r>
              <a:rPr lang="en-US" altLang="en-US" sz="2400" b="1" dirty="0">
                <a:solidFill>
                  <a:schemeClr val="accent6">
                    <a:lumMod val="75000"/>
                  </a:schemeClr>
                </a:solidFill>
              </a:rPr>
              <a:t>[$t2] = quotient, [$t1] = remainder</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48</a:t>
            </a:fld>
            <a:endParaRPr lang="en-US" altLang="en-US"/>
          </a:p>
        </p:txBody>
      </p:sp>
      <p:sp>
        <p:nvSpPr>
          <p:cNvPr id="3" name="TextBox 2">
            <a:extLst>
              <a:ext uri="{FF2B5EF4-FFF2-40B4-BE49-F238E27FC236}">
                <a16:creationId xmlns:a16="http://schemas.microsoft.com/office/drawing/2014/main" id="{5161408E-0C28-2584-7784-0211CABDC134}"/>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a:t>
            </a:r>
          </a:p>
        </p:txBody>
      </p:sp>
      <p:sp>
        <p:nvSpPr>
          <p:cNvPr id="4" name="TextBox 3">
            <a:extLst>
              <a:ext uri="{FF2B5EF4-FFF2-40B4-BE49-F238E27FC236}">
                <a16:creationId xmlns:a16="http://schemas.microsoft.com/office/drawing/2014/main" id="{03DC07BC-34F0-DAC4-0D35-98719D828206}"/>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a:t>
            </a:r>
          </a:p>
        </p:txBody>
      </p:sp>
      <p:sp>
        <p:nvSpPr>
          <p:cNvPr id="7" name="TextBox 6">
            <a:extLst>
              <a:ext uri="{FF2B5EF4-FFF2-40B4-BE49-F238E27FC236}">
                <a16:creationId xmlns:a16="http://schemas.microsoft.com/office/drawing/2014/main" id="{99851843-D810-60F9-7FDD-65CD372F724F}"/>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a:t>
            </a:r>
          </a:p>
        </p:txBody>
      </p:sp>
      <p:sp>
        <p:nvSpPr>
          <p:cNvPr id="8" name="TextBox 7">
            <a:extLst>
              <a:ext uri="{FF2B5EF4-FFF2-40B4-BE49-F238E27FC236}">
                <a16:creationId xmlns:a16="http://schemas.microsoft.com/office/drawing/2014/main" id="{713185AB-4820-F6D2-5B38-EB9BA228B429}"/>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a:t>
            </a:r>
          </a:p>
        </p:txBody>
      </p:sp>
      <p:sp>
        <p:nvSpPr>
          <p:cNvPr id="9" name="TextBox 8">
            <a:extLst>
              <a:ext uri="{FF2B5EF4-FFF2-40B4-BE49-F238E27FC236}">
                <a16:creationId xmlns:a16="http://schemas.microsoft.com/office/drawing/2014/main" id="{6E742441-B355-0D2B-C58D-B709A9F49FC7}"/>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a:t>
            </a:r>
          </a:p>
        </p:txBody>
      </p:sp>
      <p:sp>
        <p:nvSpPr>
          <p:cNvPr id="10" name="TextBox 9">
            <a:extLst>
              <a:ext uri="{FF2B5EF4-FFF2-40B4-BE49-F238E27FC236}">
                <a16:creationId xmlns:a16="http://schemas.microsoft.com/office/drawing/2014/main" id="{D101592E-5701-2789-C578-3CCB9F64FB8E}"/>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a:t>
            </a:r>
          </a:p>
        </p:txBody>
      </p:sp>
      <p:sp>
        <p:nvSpPr>
          <p:cNvPr id="11" name="TextBox 10">
            <a:extLst>
              <a:ext uri="{FF2B5EF4-FFF2-40B4-BE49-F238E27FC236}">
                <a16:creationId xmlns:a16="http://schemas.microsoft.com/office/drawing/2014/main" id="{B288594D-B9D5-9F2E-7A1B-A0DC6766EE82}"/>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a:t>
            </a:r>
          </a:p>
        </p:txBody>
      </p:sp>
      <p:sp>
        <p:nvSpPr>
          <p:cNvPr id="12" name="TextBox 11">
            <a:extLst>
              <a:ext uri="{FF2B5EF4-FFF2-40B4-BE49-F238E27FC236}">
                <a16:creationId xmlns:a16="http://schemas.microsoft.com/office/drawing/2014/main" id="{74973EB7-4B14-FC6D-30EE-ECF889287147}"/>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0000000</a:t>
            </a:r>
          </a:p>
        </p:txBody>
      </p:sp>
      <p:sp>
        <p:nvSpPr>
          <p:cNvPr id="13" name="TextBox 12">
            <a:extLst>
              <a:ext uri="{FF2B5EF4-FFF2-40B4-BE49-F238E27FC236}">
                <a16:creationId xmlns:a16="http://schemas.microsoft.com/office/drawing/2014/main" id="{C89A5AC0-2C5E-B91D-A6D2-7657C89FBEDF}"/>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00000000</a:t>
            </a:r>
          </a:p>
        </p:txBody>
      </p:sp>
      <p:sp>
        <p:nvSpPr>
          <p:cNvPr id="14" name="TextBox 13">
            <a:extLst>
              <a:ext uri="{FF2B5EF4-FFF2-40B4-BE49-F238E27FC236}">
                <a16:creationId xmlns:a16="http://schemas.microsoft.com/office/drawing/2014/main" id="{573B1A6D-8ADE-E126-04A5-FDA36A12316B}"/>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000000000</a:t>
            </a:r>
          </a:p>
        </p:txBody>
      </p:sp>
      <p:sp>
        <p:nvSpPr>
          <p:cNvPr id="15" name="TextBox 14">
            <a:extLst>
              <a:ext uri="{FF2B5EF4-FFF2-40B4-BE49-F238E27FC236}">
                <a16:creationId xmlns:a16="http://schemas.microsoft.com/office/drawing/2014/main" id="{1283AE27-F0A4-D4AA-9B21-D2CC1AEF0472}"/>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0000000000</a:t>
            </a:r>
          </a:p>
        </p:txBody>
      </p:sp>
      <p:sp>
        <p:nvSpPr>
          <p:cNvPr id="16" name="TextBox 15">
            <a:extLst>
              <a:ext uri="{FF2B5EF4-FFF2-40B4-BE49-F238E27FC236}">
                <a16:creationId xmlns:a16="http://schemas.microsoft.com/office/drawing/2014/main" id="{DA03326B-7F18-96E5-A794-65E8F0F45653}"/>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00000000000</a:t>
            </a:r>
          </a:p>
        </p:txBody>
      </p:sp>
      <p:sp>
        <p:nvSpPr>
          <p:cNvPr id="17" name="TextBox 16">
            <a:extLst>
              <a:ext uri="{FF2B5EF4-FFF2-40B4-BE49-F238E27FC236}">
                <a16:creationId xmlns:a16="http://schemas.microsoft.com/office/drawing/2014/main" id="{84270C53-E6D1-2966-8ED2-7224E136333D}"/>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000000000000</a:t>
            </a:r>
          </a:p>
        </p:txBody>
      </p:sp>
      <p:sp>
        <p:nvSpPr>
          <p:cNvPr id="18" name="TextBox 17">
            <a:extLst>
              <a:ext uri="{FF2B5EF4-FFF2-40B4-BE49-F238E27FC236}">
                <a16:creationId xmlns:a16="http://schemas.microsoft.com/office/drawing/2014/main" id="{E0CC9301-9187-D927-63DE-AE80EA69BB98}"/>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0000000000000</a:t>
            </a:r>
          </a:p>
        </p:txBody>
      </p:sp>
      <p:sp>
        <p:nvSpPr>
          <p:cNvPr id="19" name="TextBox 18">
            <a:extLst>
              <a:ext uri="{FF2B5EF4-FFF2-40B4-BE49-F238E27FC236}">
                <a16:creationId xmlns:a16="http://schemas.microsoft.com/office/drawing/2014/main" id="{3648B20E-646B-9490-AC71-D20FE2E78AEA}"/>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0000000000010011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[$t1] = 0000000000000111</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00000000000001</a:t>
            </a:r>
          </a:p>
        </p:txBody>
      </p:sp>
      <p:sp>
        <p:nvSpPr>
          <p:cNvPr id="20" name="TextBox 19">
            <a:extLst>
              <a:ext uri="{FF2B5EF4-FFF2-40B4-BE49-F238E27FC236}">
                <a16:creationId xmlns:a16="http://schemas.microsoft.com/office/drawing/2014/main" id="{534A7A1B-2034-CD28-9D2D-9CF39AE0295F}"/>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0000000000000111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[$t1] = 0000000000000001</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000000000000011</a:t>
            </a:r>
          </a:p>
        </p:txBody>
      </p:sp>
      <p:sp>
        <p:nvSpPr>
          <p:cNvPr id="21" name="TextBox 20">
            <a:extLst>
              <a:ext uri="{FF2B5EF4-FFF2-40B4-BE49-F238E27FC236}">
                <a16:creationId xmlns:a16="http://schemas.microsoft.com/office/drawing/2014/main" id="{B2226777-E7C6-F44E-C890-A8322C600D8A}"/>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0000000000000001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[$t2]: 0000000000000110</a:t>
            </a:r>
          </a:p>
        </p:txBody>
      </p:sp>
    </p:spTree>
    <p:extLst>
      <p:ext uri="{BB962C8B-B14F-4D97-AF65-F5344CB8AC3E}">
        <p14:creationId xmlns:p14="http://schemas.microsoft.com/office/powerpoint/2010/main" val="28026663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9941">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Review – Ex 12/03 Q2</a:t>
            </a:r>
          </a:p>
        </p:txBody>
      </p:sp>
      <p:sp>
        <p:nvSpPr>
          <p:cNvPr id="39941" name="Rectangle 3"/>
          <p:cNvSpPr>
            <a:spLocks noGrp="1" noChangeArrowheads="1"/>
          </p:cNvSpPr>
          <p:nvPr>
            <p:ph idx="1"/>
          </p:nvPr>
        </p:nvSpPr>
        <p:spPr>
          <a:xfrm>
            <a:off x="457200" y="1295400"/>
            <a:ext cx="8686800" cy="5181600"/>
          </a:xfrm>
        </p:spPr>
        <p:txBody>
          <a:bodyPr/>
          <a:lstStyle/>
          <a:p>
            <a:pPr marL="0" indent="0">
              <a:buNone/>
            </a:pPr>
            <a:r>
              <a:rPr lang="en-US" altLang="en-US" sz="2400" dirty="0"/>
              <a:t>This program performs </a:t>
            </a:r>
            <a:r>
              <a:rPr lang="en-US" altLang="en-US" sz="2400" b="1" dirty="0"/>
              <a:t>unsigned integer division </a:t>
            </a:r>
            <a:r>
              <a:rPr lang="en-US" altLang="en-US" sz="2400" dirty="0"/>
              <a:t>of two 16-bit numbers: 19 ÷ 3 (in decimal).</a:t>
            </a:r>
          </a:p>
          <a:p>
            <a:pPr marL="0" indent="0">
              <a:buNone/>
            </a:pPr>
            <a:r>
              <a:rPr lang="en-US" sz="1800" dirty="0">
                <a:solidFill>
                  <a:srgbClr val="00000A"/>
                </a:solidFill>
                <a:effectLst/>
                <a:latin typeface="Courier New" panose="02070309020205020404" pitchFamily="49" charset="0"/>
                <a:ea typeface="PMingLiU" panose="02020500000000000000" pitchFamily="18" charset="-120"/>
              </a:rPr>
              <a:t>L0:	</a:t>
            </a:r>
            <a:r>
              <a:rPr lang="en-US" sz="1800" dirty="0" err="1">
                <a:solidFill>
                  <a:srgbClr val="00000A"/>
                </a:solidFill>
                <a:effectLst/>
                <a:latin typeface="Courier New" panose="02070309020205020404" pitchFamily="49" charset="0"/>
                <a:ea typeface="PMingLiU" panose="02020500000000000000" pitchFamily="18" charset="-120"/>
              </a:rPr>
              <a:t>lui</a:t>
            </a:r>
            <a:r>
              <a:rPr lang="en-US" sz="1800" dirty="0">
                <a:solidFill>
                  <a:srgbClr val="00000A"/>
                </a:solidFill>
                <a:effectLst/>
                <a:latin typeface="Courier New" panose="02070309020205020404" pitchFamily="49" charset="0"/>
                <a:ea typeface="PMingLiU" panose="02020500000000000000" pitchFamily="18" charset="-120"/>
              </a:rPr>
              <a:t> 	$t0, 3</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	</a:t>
            </a:r>
            <a:r>
              <a:rPr lang="en-US" sz="1800" dirty="0" err="1">
                <a:solidFill>
                  <a:srgbClr val="00000A"/>
                </a:solidFill>
                <a:effectLst/>
                <a:latin typeface="Courier New" panose="02070309020205020404" pitchFamily="49" charset="0"/>
                <a:ea typeface="PMingLiU" panose="02020500000000000000" pitchFamily="18" charset="-120"/>
              </a:rPr>
              <a:t>ori</a:t>
            </a:r>
            <a:r>
              <a:rPr lang="en-US" sz="1800" dirty="0">
                <a:solidFill>
                  <a:srgbClr val="00000A"/>
                </a:solidFill>
                <a:effectLst/>
                <a:latin typeface="Courier New" panose="02070309020205020404" pitchFamily="49" charset="0"/>
                <a:ea typeface="PMingLiU" panose="02020500000000000000" pitchFamily="18" charset="-120"/>
              </a:rPr>
              <a:t> 	$t1, $zero, 19</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L2:	add 	$t2, $zero, $zero</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L3:	</a:t>
            </a:r>
            <a:r>
              <a:rPr lang="en-US" sz="1800" dirty="0" err="1">
                <a:solidFill>
                  <a:srgbClr val="00000A"/>
                </a:solidFill>
                <a:effectLst/>
                <a:latin typeface="Courier New" panose="02070309020205020404" pitchFamily="49" charset="0"/>
                <a:ea typeface="PMingLiU" panose="02020500000000000000" pitchFamily="18" charset="-120"/>
              </a:rPr>
              <a:t>addi</a:t>
            </a:r>
            <a:r>
              <a:rPr lang="en-US" sz="1800" dirty="0">
                <a:solidFill>
                  <a:srgbClr val="00000A"/>
                </a:solidFill>
                <a:effectLst/>
                <a:latin typeface="Courier New" panose="02070309020205020404" pitchFamily="49" charset="0"/>
                <a:ea typeface="PMingLiU" panose="02020500000000000000" pitchFamily="18" charset="-120"/>
              </a:rPr>
              <a:t> 	$t3, $zero, 16</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L4:	</a:t>
            </a:r>
            <a:r>
              <a:rPr lang="en-US" sz="1800" dirty="0" err="1">
                <a:solidFill>
                  <a:srgbClr val="00000A"/>
                </a:solidFill>
                <a:effectLst/>
                <a:latin typeface="Courier New" panose="02070309020205020404" pitchFamily="49" charset="0"/>
                <a:ea typeface="PMingLiU" panose="02020500000000000000" pitchFamily="18" charset="-120"/>
              </a:rPr>
              <a:t>srl</a:t>
            </a:r>
            <a:r>
              <a:rPr lang="en-US" sz="1800" dirty="0">
                <a:solidFill>
                  <a:srgbClr val="00000A"/>
                </a:solidFill>
                <a:effectLst/>
                <a:latin typeface="Courier New" panose="02070309020205020404" pitchFamily="49" charset="0"/>
                <a:ea typeface="PMingLiU" panose="02020500000000000000" pitchFamily="18" charset="-120"/>
              </a:rPr>
              <a:t> 	$t0, $t0,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L5:	</a:t>
            </a:r>
            <a:r>
              <a:rPr lang="en-US" sz="1800" dirty="0" err="1">
                <a:solidFill>
                  <a:srgbClr val="00000A"/>
                </a:solidFill>
                <a:effectLst/>
                <a:latin typeface="Courier New" panose="02070309020205020404" pitchFamily="49" charset="0"/>
                <a:ea typeface="PMingLiU" panose="02020500000000000000" pitchFamily="18" charset="-120"/>
              </a:rPr>
              <a:t>sll</a:t>
            </a:r>
            <a:r>
              <a:rPr lang="en-US" sz="1800" dirty="0">
                <a:solidFill>
                  <a:srgbClr val="00000A"/>
                </a:solidFill>
                <a:effectLst/>
                <a:latin typeface="Courier New" panose="02070309020205020404" pitchFamily="49" charset="0"/>
                <a:ea typeface="PMingLiU" panose="02020500000000000000" pitchFamily="18" charset="-120"/>
              </a:rPr>
              <a:t> 	$t2, $t2,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L6:	</a:t>
            </a:r>
            <a:r>
              <a:rPr lang="en-US" sz="1800" dirty="0" err="1">
                <a:solidFill>
                  <a:srgbClr val="00000A"/>
                </a:solidFill>
                <a:effectLst/>
                <a:latin typeface="Courier New" panose="02070309020205020404" pitchFamily="49" charset="0"/>
                <a:ea typeface="PMingLiU" panose="02020500000000000000" pitchFamily="18" charset="-120"/>
              </a:rPr>
              <a:t>sltu</a:t>
            </a:r>
            <a:r>
              <a:rPr lang="en-US" sz="1800" dirty="0">
                <a:solidFill>
                  <a:srgbClr val="00000A"/>
                </a:solidFill>
                <a:effectLst/>
                <a:latin typeface="Courier New" panose="02070309020205020404" pitchFamily="49" charset="0"/>
                <a:ea typeface="PMingLiU" panose="02020500000000000000" pitchFamily="18" charset="-120"/>
              </a:rPr>
              <a:t> 	$t7, $t1, $t0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L7:	</a:t>
            </a:r>
            <a:r>
              <a:rPr lang="en-US" sz="1800" dirty="0" err="1">
                <a:solidFill>
                  <a:srgbClr val="00000A"/>
                </a:solidFill>
                <a:effectLst/>
                <a:latin typeface="Courier New" panose="02070309020205020404" pitchFamily="49" charset="0"/>
                <a:ea typeface="PMingLiU" panose="02020500000000000000" pitchFamily="18" charset="-120"/>
              </a:rPr>
              <a:t>bne</a:t>
            </a:r>
            <a:r>
              <a:rPr lang="en-US" sz="1800" dirty="0">
                <a:solidFill>
                  <a:srgbClr val="00000A"/>
                </a:solidFill>
                <a:effectLst/>
                <a:latin typeface="Courier New" panose="02070309020205020404" pitchFamily="49" charset="0"/>
                <a:ea typeface="PMingLiU" panose="02020500000000000000" pitchFamily="18" charset="-120"/>
              </a:rPr>
              <a:t> 	$t7, $zero, L10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L8:	</a:t>
            </a:r>
            <a:r>
              <a:rPr lang="en-US" sz="1800" dirty="0" err="1">
                <a:solidFill>
                  <a:srgbClr val="00000A"/>
                </a:solidFill>
                <a:effectLst/>
                <a:latin typeface="Courier New" panose="02070309020205020404" pitchFamily="49" charset="0"/>
                <a:ea typeface="PMingLiU" panose="02020500000000000000" pitchFamily="18" charset="-120"/>
              </a:rPr>
              <a:t>subu</a:t>
            </a:r>
            <a:r>
              <a:rPr lang="en-US" sz="1800" dirty="0">
                <a:solidFill>
                  <a:srgbClr val="00000A"/>
                </a:solidFill>
                <a:effectLst/>
                <a:latin typeface="Courier New" panose="02070309020205020404" pitchFamily="49" charset="0"/>
                <a:ea typeface="PMingLiU" panose="02020500000000000000" pitchFamily="18" charset="-120"/>
              </a:rPr>
              <a:t> 	$t1, $t1, $t0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L9:	</a:t>
            </a:r>
            <a:r>
              <a:rPr lang="en-US" sz="1800" dirty="0" err="1">
                <a:solidFill>
                  <a:srgbClr val="00000A"/>
                </a:solidFill>
                <a:effectLst/>
                <a:latin typeface="Courier New" panose="02070309020205020404" pitchFamily="49" charset="0"/>
                <a:ea typeface="PMingLiU" panose="02020500000000000000" pitchFamily="18" charset="-120"/>
              </a:rPr>
              <a:t>ori</a:t>
            </a:r>
            <a:r>
              <a:rPr lang="en-US" sz="1800" dirty="0">
                <a:solidFill>
                  <a:srgbClr val="00000A"/>
                </a:solidFill>
                <a:effectLst/>
                <a:latin typeface="Courier New" panose="02070309020205020404" pitchFamily="49" charset="0"/>
                <a:ea typeface="PMingLiU" panose="02020500000000000000" pitchFamily="18" charset="-120"/>
              </a:rPr>
              <a:t> 	$t2, $t2,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L10:	</a:t>
            </a:r>
            <a:r>
              <a:rPr lang="en-US" sz="1800" dirty="0" err="1">
                <a:solidFill>
                  <a:srgbClr val="00000A"/>
                </a:solidFill>
                <a:effectLst/>
                <a:latin typeface="Courier New" panose="02070309020205020404" pitchFamily="49" charset="0"/>
                <a:ea typeface="PMingLiU" panose="02020500000000000000" pitchFamily="18" charset="-120"/>
              </a:rPr>
              <a:t>addi</a:t>
            </a:r>
            <a:r>
              <a:rPr lang="en-US" sz="1800" dirty="0">
                <a:solidFill>
                  <a:srgbClr val="00000A"/>
                </a:solidFill>
                <a:effectLst/>
                <a:latin typeface="Courier New" panose="02070309020205020404" pitchFamily="49" charset="0"/>
                <a:ea typeface="PMingLiU" panose="02020500000000000000" pitchFamily="18" charset="-120"/>
              </a:rPr>
              <a:t> 	$t3, $t3,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L11:	</a:t>
            </a:r>
            <a:r>
              <a:rPr lang="en-US" sz="1800" dirty="0" err="1">
                <a:solidFill>
                  <a:srgbClr val="00000A"/>
                </a:solidFill>
                <a:effectLst/>
                <a:latin typeface="Courier New" panose="02070309020205020404" pitchFamily="49" charset="0"/>
                <a:ea typeface="PMingLiU" panose="02020500000000000000" pitchFamily="18" charset="-120"/>
              </a:rPr>
              <a:t>bne</a:t>
            </a:r>
            <a:r>
              <a:rPr lang="en-US" sz="1800" dirty="0">
                <a:solidFill>
                  <a:srgbClr val="00000A"/>
                </a:solidFill>
                <a:effectLst/>
                <a:latin typeface="Courier New" panose="02070309020205020404" pitchFamily="49" charset="0"/>
                <a:ea typeface="PMingLiU" panose="02020500000000000000" pitchFamily="18" charset="-120"/>
              </a:rPr>
              <a:t> 	$t3, $zero, L4</a:t>
            </a:r>
            <a:endParaRPr lang="en-US" sz="1800" dirty="0">
              <a:solidFill>
                <a:srgbClr val="00000A"/>
              </a:solidFill>
              <a:effectLst/>
              <a:latin typeface="Times New Roman" panose="02020603050405020304" pitchFamily="18" charset="0"/>
              <a:ea typeface="PMingLiU" panose="02020500000000000000" pitchFamily="18" charset="-120"/>
            </a:endParaRPr>
          </a:p>
          <a:p>
            <a:pPr marL="0" indent="0">
              <a:buNone/>
            </a:pPr>
            <a:r>
              <a:rPr lang="en-US" altLang="en-US" sz="2400" dirty="0"/>
              <a:t>(c) How many times is </a:t>
            </a:r>
            <a:r>
              <a:rPr lang="en-US" altLang="en-US" sz="2400" b="1" dirty="0"/>
              <a:t>instruction L8</a:t>
            </a:r>
            <a:r>
              <a:rPr lang="en-US" altLang="en-US" sz="2400" dirty="0"/>
              <a:t> executed?</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49</a:t>
            </a:fld>
            <a:endParaRPr lang="en-US" altLang="en-US"/>
          </a:p>
        </p:txBody>
      </p:sp>
    </p:spTree>
    <p:extLst>
      <p:ext uri="{BB962C8B-B14F-4D97-AF65-F5344CB8AC3E}">
        <p14:creationId xmlns:p14="http://schemas.microsoft.com/office/powerpoint/2010/main" val="14881725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Review – Ex 12/03 Q2</a:t>
            </a:r>
          </a:p>
        </p:txBody>
      </p:sp>
      <p:sp>
        <p:nvSpPr>
          <p:cNvPr id="39941" name="Rectangle 3"/>
          <p:cNvSpPr>
            <a:spLocks noGrp="1" noChangeArrowheads="1"/>
          </p:cNvSpPr>
          <p:nvPr>
            <p:ph idx="1"/>
          </p:nvPr>
        </p:nvSpPr>
        <p:spPr>
          <a:xfrm>
            <a:off x="457200" y="1295400"/>
            <a:ext cx="8686800" cy="5181600"/>
          </a:xfrm>
        </p:spPr>
        <p:txBody>
          <a:bodyPr/>
          <a:lstStyle/>
          <a:p>
            <a:pPr marL="0" indent="0">
              <a:buNone/>
            </a:pPr>
            <a:r>
              <a:rPr lang="en-US" altLang="en-US" sz="2400" dirty="0"/>
              <a:t>This program performs </a:t>
            </a:r>
            <a:r>
              <a:rPr lang="en-US" altLang="en-US" sz="2400" b="1" dirty="0"/>
              <a:t>unsigned integer division </a:t>
            </a:r>
            <a:r>
              <a:rPr lang="en-US" altLang="en-US" sz="2400" dirty="0"/>
              <a:t>of two 16-bit numbers: 19 ÷ 3 (in decimal).</a:t>
            </a:r>
          </a:p>
          <a:p>
            <a:pPr marL="0" indent="0">
              <a:buNone/>
            </a:pPr>
            <a:r>
              <a:rPr lang="en-US" sz="1800" dirty="0">
                <a:solidFill>
                  <a:srgbClr val="00000A"/>
                </a:solidFill>
                <a:effectLst/>
                <a:latin typeface="Courier New" panose="02070309020205020404" pitchFamily="49" charset="0"/>
                <a:ea typeface="PMingLiU" panose="02020500000000000000" pitchFamily="18" charset="-120"/>
              </a:rPr>
              <a:t>L0:	</a:t>
            </a:r>
            <a:r>
              <a:rPr lang="en-US" sz="1800" dirty="0" err="1">
                <a:solidFill>
                  <a:srgbClr val="00000A"/>
                </a:solidFill>
                <a:effectLst/>
                <a:latin typeface="Courier New" panose="02070309020205020404" pitchFamily="49" charset="0"/>
                <a:ea typeface="PMingLiU" panose="02020500000000000000" pitchFamily="18" charset="-120"/>
              </a:rPr>
              <a:t>lui</a:t>
            </a:r>
            <a:r>
              <a:rPr lang="en-US" sz="1800" dirty="0">
                <a:solidFill>
                  <a:srgbClr val="00000A"/>
                </a:solidFill>
                <a:effectLst/>
                <a:latin typeface="Courier New" panose="02070309020205020404" pitchFamily="49" charset="0"/>
                <a:ea typeface="PMingLiU" panose="02020500000000000000" pitchFamily="18" charset="-120"/>
              </a:rPr>
              <a:t> 	$t0, 3</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	</a:t>
            </a:r>
            <a:r>
              <a:rPr lang="en-US" sz="1800" dirty="0" err="1">
                <a:solidFill>
                  <a:srgbClr val="00000A"/>
                </a:solidFill>
                <a:effectLst/>
                <a:latin typeface="Courier New" panose="02070309020205020404" pitchFamily="49" charset="0"/>
                <a:ea typeface="PMingLiU" panose="02020500000000000000" pitchFamily="18" charset="-120"/>
              </a:rPr>
              <a:t>ori</a:t>
            </a:r>
            <a:r>
              <a:rPr lang="en-US" sz="1800" dirty="0">
                <a:solidFill>
                  <a:srgbClr val="00000A"/>
                </a:solidFill>
                <a:effectLst/>
                <a:latin typeface="Courier New" panose="02070309020205020404" pitchFamily="49" charset="0"/>
                <a:ea typeface="PMingLiU" panose="02020500000000000000" pitchFamily="18" charset="-120"/>
              </a:rPr>
              <a:t> 	$t1, $zero, 19</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L2:	add 	$t2, $zero, $zero</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L3:	</a:t>
            </a:r>
            <a:r>
              <a:rPr lang="en-US" sz="1800" dirty="0" err="1">
                <a:solidFill>
                  <a:srgbClr val="00000A"/>
                </a:solidFill>
                <a:effectLst/>
                <a:latin typeface="Courier New" panose="02070309020205020404" pitchFamily="49" charset="0"/>
                <a:ea typeface="PMingLiU" panose="02020500000000000000" pitchFamily="18" charset="-120"/>
              </a:rPr>
              <a:t>addi</a:t>
            </a:r>
            <a:r>
              <a:rPr lang="en-US" sz="1800" dirty="0">
                <a:solidFill>
                  <a:srgbClr val="00000A"/>
                </a:solidFill>
                <a:effectLst/>
                <a:latin typeface="Courier New" panose="02070309020205020404" pitchFamily="49" charset="0"/>
                <a:ea typeface="PMingLiU" panose="02020500000000000000" pitchFamily="18" charset="-120"/>
              </a:rPr>
              <a:t> 	$t3, $zero, 16</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L4:	</a:t>
            </a:r>
            <a:r>
              <a:rPr lang="en-US" sz="1800" dirty="0" err="1">
                <a:solidFill>
                  <a:srgbClr val="00000A"/>
                </a:solidFill>
                <a:effectLst/>
                <a:latin typeface="Courier New" panose="02070309020205020404" pitchFamily="49" charset="0"/>
                <a:ea typeface="PMingLiU" panose="02020500000000000000" pitchFamily="18" charset="-120"/>
              </a:rPr>
              <a:t>srl</a:t>
            </a:r>
            <a:r>
              <a:rPr lang="en-US" sz="1800" dirty="0">
                <a:solidFill>
                  <a:srgbClr val="00000A"/>
                </a:solidFill>
                <a:effectLst/>
                <a:latin typeface="Courier New" panose="02070309020205020404" pitchFamily="49" charset="0"/>
                <a:ea typeface="PMingLiU" panose="02020500000000000000" pitchFamily="18" charset="-120"/>
              </a:rPr>
              <a:t> 	$t0, $t0,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L5:	</a:t>
            </a:r>
            <a:r>
              <a:rPr lang="en-US" sz="1800" dirty="0" err="1">
                <a:solidFill>
                  <a:srgbClr val="00000A"/>
                </a:solidFill>
                <a:effectLst/>
                <a:latin typeface="Courier New" panose="02070309020205020404" pitchFamily="49" charset="0"/>
                <a:ea typeface="PMingLiU" panose="02020500000000000000" pitchFamily="18" charset="-120"/>
              </a:rPr>
              <a:t>sll</a:t>
            </a:r>
            <a:r>
              <a:rPr lang="en-US" sz="1800" dirty="0">
                <a:solidFill>
                  <a:srgbClr val="00000A"/>
                </a:solidFill>
                <a:effectLst/>
                <a:latin typeface="Courier New" panose="02070309020205020404" pitchFamily="49" charset="0"/>
                <a:ea typeface="PMingLiU" panose="02020500000000000000" pitchFamily="18" charset="-120"/>
              </a:rPr>
              <a:t> 	$t2, $t2,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L6:	</a:t>
            </a:r>
            <a:r>
              <a:rPr lang="en-US" sz="1800" dirty="0" err="1">
                <a:solidFill>
                  <a:srgbClr val="00000A"/>
                </a:solidFill>
                <a:effectLst/>
                <a:latin typeface="Courier New" panose="02070309020205020404" pitchFamily="49" charset="0"/>
                <a:ea typeface="PMingLiU" panose="02020500000000000000" pitchFamily="18" charset="-120"/>
              </a:rPr>
              <a:t>sltu</a:t>
            </a:r>
            <a:r>
              <a:rPr lang="en-US" sz="1800" dirty="0">
                <a:solidFill>
                  <a:srgbClr val="00000A"/>
                </a:solidFill>
                <a:effectLst/>
                <a:latin typeface="Courier New" panose="02070309020205020404" pitchFamily="49" charset="0"/>
                <a:ea typeface="PMingLiU" panose="02020500000000000000" pitchFamily="18" charset="-120"/>
              </a:rPr>
              <a:t> 	$t7, $t1, $t0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L7:	</a:t>
            </a:r>
            <a:r>
              <a:rPr lang="en-US" sz="1800" dirty="0" err="1">
                <a:solidFill>
                  <a:srgbClr val="00000A"/>
                </a:solidFill>
                <a:effectLst/>
                <a:latin typeface="Courier New" panose="02070309020205020404" pitchFamily="49" charset="0"/>
                <a:ea typeface="PMingLiU" panose="02020500000000000000" pitchFamily="18" charset="-120"/>
              </a:rPr>
              <a:t>bne</a:t>
            </a:r>
            <a:r>
              <a:rPr lang="en-US" sz="1800" dirty="0">
                <a:solidFill>
                  <a:srgbClr val="00000A"/>
                </a:solidFill>
                <a:effectLst/>
                <a:latin typeface="Courier New" panose="02070309020205020404" pitchFamily="49" charset="0"/>
                <a:ea typeface="PMingLiU" panose="02020500000000000000" pitchFamily="18" charset="-120"/>
              </a:rPr>
              <a:t> 	$t7, $zero, L10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L8:	</a:t>
            </a:r>
            <a:r>
              <a:rPr lang="en-US" sz="1800" dirty="0" err="1">
                <a:solidFill>
                  <a:srgbClr val="00000A"/>
                </a:solidFill>
                <a:effectLst/>
                <a:latin typeface="Courier New" panose="02070309020205020404" pitchFamily="49" charset="0"/>
                <a:ea typeface="PMingLiU" panose="02020500000000000000" pitchFamily="18" charset="-120"/>
              </a:rPr>
              <a:t>subu</a:t>
            </a:r>
            <a:r>
              <a:rPr lang="en-US" sz="1800" dirty="0">
                <a:solidFill>
                  <a:srgbClr val="00000A"/>
                </a:solidFill>
                <a:effectLst/>
                <a:latin typeface="Courier New" panose="02070309020205020404" pitchFamily="49" charset="0"/>
                <a:ea typeface="PMingLiU" panose="02020500000000000000" pitchFamily="18" charset="-120"/>
              </a:rPr>
              <a:t> 	$t1, $t1, $t0</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L9:	</a:t>
            </a:r>
            <a:r>
              <a:rPr lang="en-US" sz="1800" dirty="0" err="1">
                <a:solidFill>
                  <a:srgbClr val="00000A"/>
                </a:solidFill>
                <a:effectLst/>
                <a:latin typeface="Courier New" panose="02070309020205020404" pitchFamily="49" charset="0"/>
                <a:ea typeface="PMingLiU" panose="02020500000000000000" pitchFamily="18" charset="-120"/>
              </a:rPr>
              <a:t>ori</a:t>
            </a:r>
            <a:r>
              <a:rPr lang="en-US" sz="1800" dirty="0">
                <a:solidFill>
                  <a:srgbClr val="00000A"/>
                </a:solidFill>
                <a:effectLst/>
                <a:latin typeface="Courier New" panose="02070309020205020404" pitchFamily="49" charset="0"/>
                <a:ea typeface="PMingLiU" panose="02020500000000000000" pitchFamily="18" charset="-120"/>
              </a:rPr>
              <a:t> 	$t2, $t2,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L10:	</a:t>
            </a:r>
            <a:r>
              <a:rPr lang="en-US" sz="1800" dirty="0" err="1">
                <a:solidFill>
                  <a:srgbClr val="00000A"/>
                </a:solidFill>
                <a:effectLst/>
                <a:latin typeface="Courier New" panose="02070309020205020404" pitchFamily="49" charset="0"/>
                <a:ea typeface="PMingLiU" panose="02020500000000000000" pitchFamily="18" charset="-120"/>
              </a:rPr>
              <a:t>addi</a:t>
            </a:r>
            <a:r>
              <a:rPr lang="en-US" sz="1800" dirty="0">
                <a:solidFill>
                  <a:srgbClr val="00000A"/>
                </a:solidFill>
                <a:effectLst/>
                <a:latin typeface="Courier New" panose="02070309020205020404" pitchFamily="49" charset="0"/>
                <a:ea typeface="PMingLiU" panose="02020500000000000000" pitchFamily="18" charset="-120"/>
              </a:rPr>
              <a:t> 	$t3, $t3, -1</a:t>
            </a:r>
            <a:endParaRPr lang="en-US" sz="1800" dirty="0">
              <a:solidFill>
                <a:srgbClr val="00000A"/>
              </a:solidFill>
              <a:effectLst/>
              <a:latin typeface="Times New Roman" panose="02020603050405020304" pitchFamily="18" charset="0"/>
              <a:ea typeface="PMingLiU" panose="02020500000000000000" pitchFamily="18" charset="-120"/>
            </a:endParaRPr>
          </a:p>
          <a:p>
            <a:pPr marL="0" marR="0" indent="0">
              <a:spcBef>
                <a:spcPts val="0"/>
              </a:spcBef>
              <a:spcAft>
                <a:spcPts val="0"/>
              </a:spcAft>
              <a:buNone/>
            </a:pPr>
            <a:r>
              <a:rPr lang="en-US" sz="1800" dirty="0">
                <a:solidFill>
                  <a:srgbClr val="00000A"/>
                </a:solidFill>
                <a:effectLst/>
                <a:latin typeface="Courier New" panose="02070309020205020404" pitchFamily="49" charset="0"/>
                <a:ea typeface="PMingLiU" panose="02020500000000000000" pitchFamily="18" charset="-120"/>
              </a:rPr>
              <a:t>L11:	</a:t>
            </a:r>
            <a:r>
              <a:rPr lang="en-US" sz="1800" dirty="0" err="1">
                <a:solidFill>
                  <a:srgbClr val="00000A"/>
                </a:solidFill>
                <a:effectLst/>
                <a:latin typeface="Courier New" panose="02070309020205020404" pitchFamily="49" charset="0"/>
                <a:ea typeface="PMingLiU" panose="02020500000000000000" pitchFamily="18" charset="-120"/>
              </a:rPr>
              <a:t>bne</a:t>
            </a:r>
            <a:r>
              <a:rPr lang="en-US" sz="1800" dirty="0">
                <a:solidFill>
                  <a:srgbClr val="00000A"/>
                </a:solidFill>
                <a:effectLst/>
                <a:latin typeface="Courier New" panose="02070309020205020404" pitchFamily="49" charset="0"/>
                <a:ea typeface="PMingLiU" panose="02020500000000000000" pitchFamily="18" charset="-120"/>
              </a:rPr>
              <a:t> 	$t3, $zero, L4</a:t>
            </a:r>
            <a:endParaRPr lang="en-US" sz="1800" dirty="0">
              <a:solidFill>
                <a:srgbClr val="00000A"/>
              </a:solidFill>
              <a:effectLst/>
              <a:latin typeface="Times New Roman" panose="02020603050405020304" pitchFamily="18" charset="0"/>
              <a:ea typeface="PMingLiU" panose="02020500000000000000" pitchFamily="18" charset="-120"/>
            </a:endParaRPr>
          </a:p>
          <a:p>
            <a:pPr marL="0" indent="0">
              <a:buNone/>
            </a:pPr>
            <a:r>
              <a:rPr lang="en-US" altLang="en-US" sz="2400" dirty="0"/>
              <a:t>(c) How many times is </a:t>
            </a:r>
            <a:r>
              <a:rPr lang="en-US" altLang="en-US" sz="2400" b="1" dirty="0"/>
              <a:t>instruction L8</a:t>
            </a:r>
            <a:r>
              <a:rPr lang="en-US" altLang="en-US" sz="2400" dirty="0"/>
              <a:t> executed?</a:t>
            </a:r>
          </a:p>
          <a:p>
            <a:pPr marL="0" indent="0">
              <a:buNone/>
            </a:pPr>
            <a:r>
              <a:rPr lang="en-US" altLang="en-US" sz="2400" b="1" dirty="0">
                <a:solidFill>
                  <a:schemeClr val="accent6">
                    <a:lumMod val="75000"/>
                  </a:schemeClr>
                </a:solidFill>
              </a:rPr>
              <a:t>2 times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50</a:t>
            </a:fld>
            <a:endParaRPr lang="en-US" altLang="en-US"/>
          </a:p>
        </p:txBody>
      </p:sp>
      <p:sp>
        <p:nvSpPr>
          <p:cNvPr id="2" name="TextBox 1">
            <a:extLst>
              <a:ext uri="{FF2B5EF4-FFF2-40B4-BE49-F238E27FC236}">
                <a16:creationId xmlns:a16="http://schemas.microsoft.com/office/drawing/2014/main" id="{436FE583-9A90-0FBF-3B56-60CA3923137F}"/>
              </a:ext>
            </a:extLst>
          </p:cNvPr>
          <p:cNvSpPr txBox="1"/>
          <p:nvPr/>
        </p:nvSpPr>
        <p:spPr>
          <a:xfrm>
            <a:off x="4800600" y="2107049"/>
            <a:ext cx="4343400" cy="1169551"/>
          </a:xfrm>
          <a:prstGeom prst="rect">
            <a:avLst/>
          </a:prstGeom>
          <a:solidFill>
            <a:schemeClr val="bg1"/>
          </a:solid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[$t1]:                 0000000000000001</a:t>
            </a:r>
          </a:p>
          <a:p>
            <a:r>
              <a:rPr lang="en-US" sz="1400" b="1" dirty="0">
                <a:solidFill>
                  <a:schemeClr val="accent6">
                    <a:lumMod val="75000"/>
                  </a:schemeClr>
                </a:solidFill>
                <a:latin typeface="Courier New" panose="02070309020205020404" pitchFamily="49" charset="0"/>
                <a:cs typeface="Courier New" panose="02070309020205020404" pitchFamily="49" charset="0"/>
              </a:rPr>
              <a:t>[$t0]:                </a:t>
            </a:r>
            <a:r>
              <a:rPr lang="en-US" sz="1400" b="1" u="sng" dirty="0">
                <a:solidFill>
                  <a:schemeClr val="accent6">
                    <a:lumMod val="75000"/>
                  </a:schemeClr>
                </a:solidFill>
                <a:latin typeface="Courier New" panose="02070309020205020404" pitchFamily="49" charset="0"/>
                <a:cs typeface="Courier New" panose="02070309020205020404" pitchFamily="49" charset="0"/>
              </a:rPr>
              <a:t>-0000000000000011</a:t>
            </a:r>
          </a:p>
          <a:p>
            <a:r>
              <a:rPr lang="en-US" sz="1400" b="1" dirty="0">
                <a:solidFill>
                  <a:schemeClr val="accent6">
                    <a:lumMod val="75000"/>
                  </a:schemeClr>
                </a:solidFill>
                <a:latin typeface="Courier New" panose="02070309020205020404" pitchFamily="49" charset="0"/>
                <a:cs typeface="Courier New" panose="02070309020205020404" pitchFamily="49" charset="0"/>
              </a:rPr>
              <a:t>                                      ?</a:t>
            </a:r>
          </a:p>
          <a:p>
            <a:endParaRPr lang="en-US" sz="1400" b="1" dirty="0">
              <a:solidFill>
                <a:schemeClr val="accent6">
                  <a:lumMod val="75000"/>
                </a:schemeClr>
              </a:solidFill>
              <a:latin typeface="Courier New" panose="02070309020205020404" pitchFamily="49" charset="0"/>
              <a:cs typeface="Courier New" panose="02070309020205020404" pitchFamily="49" charset="0"/>
            </a:endParaRPr>
          </a:p>
          <a:p>
            <a:r>
              <a:rPr lang="en-US" sz="1400" b="1" dirty="0">
                <a:solidFill>
                  <a:schemeClr val="accent6">
                    <a:lumMod val="75000"/>
                  </a:schemeClr>
                </a:solidFill>
                <a:latin typeface="Courier New" panose="02070309020205020404" pitchFamily="49" charset="0"/>
                <a:cs typeface="Courier New" panose="02070309020205020404" pitchFamily="49" charset="0"/>
              </a:rPr>
              <a:t>Quotient [$t2]: 0000000000000110</a:t>
            </a:r>
          </a:p>
        </p:txBody>
      </p:sp>
    </p:spTree>
    <p:extLst>
      <p:ext uri="{BB962C8B-B14F-4D97-AF65-F5344CB8AC3E}">
        <p14:creationId xmlns:p14="http://schemas.microsoft.com/office/powerpoint/2010/main" val="335837069"/>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002&quot;&gt;&lt;object type=&quot;3&quot; unique_id=&quot;16988&quot;&gt;&lt;property id=&quot;20148&quot; value=&quot;5&quot;/&gt;&lt;property id=&quot;20300&quot; value=&quot;Slide 1 - &amp;quot;ECE/CS 552: Final Exam Review&amp;quot;&quot;/&gt;&lt;property id=&quot;20307&quot; value=&quot;495&quot;/&gt;&lt;/object&gt;&lt;object type=&quot;3&quot; unique_id=&quot;149784&quot;&gt;&lt;property id=&quot;20148&quot; value=&quot;5&quot;/&gt;&lt;property id=&quot;20300&quot; value=&quot;Slide 6 - &amp;quot;Review – Q3&amp;quot;&quot;/&gt;&lt;property id=&quot;20307&quot; value=&quot;736&quot;/&gt;&lt;/object&gt;&lt;object type=&quot;3&quot; unique_id=&quot;149785&quot;&gt;&lt;property id=&quot;20148&quot; value=&quot;5&quot;/&gt;&lt;property id=&quot;20300&quot; value=&quot;Slide 2 - &amp;quot;Review – Q1&amp;quot;&quot;/&gt;&lt;property id=&quot;20307&quot; value=&quot;740&quot;/&gt;&lt;/object&gt;&lt;object type=&quot;3&quot; unique_id=&quot;149789&quot;&gt;&lt;property id=&quot;20148&quot; value=&quot;5&quot;/&gt;&lt;property id=&quot;20300&quot; value=&quot;Slide 9 - &amp;quot;Review – Q4&amp;quot;&quot;/&gt;&lt;property id=&quot;20307&quot; value=&quot;741&quot;/&gt;&lt;/object&gt;&lt;object type=&quot;3&quot; unique_id=&quot;150281&quot;&gt;&lt;property id=&quot;20148&quot; value=&quot;5&quot;/&gt;&lt;property id=&quot;20300&quot; value=&quot;Slide 10 - &amp;quot;Review – Q4&amp;quot;&quot;/&gt;&lt;property id=&quot;20307&quot; value=&quot;743&quot;/&gt;&lt;/object&gt;&lt;object type=&quot;3&quot; unique_id=&quot;150425&quot;&gt;&lt;property id=&quot;20148&quot; value=&quot;5&quot;/&gt;&lt;property id=&quot;20300&quot; value=&quot;Slide 4 - &amp;quot;Review – Q2&amp;quot;&quot;/&gt;&lt;property id=&quot;20307&quot; value=&quot;744&quot;/&gt;&lt;/object&gt;&lt;object type=&quot;3&quot; unique_id=&quot;150492&quot;&gt;&lt;property id=&quot;20148&quot; value=&quot;5&quot;/&gt;&lt;property id=&quot;20300&quot; value=&quot;Slide 5 - &amp;quot;Review – Q2&amp;quot;&quot;/&gt;&lt;property id=&quot;20307&quot; value=&quot;745&quot;/&gt;&lt;/object&gt;&lt;object type=&quot;3&quot; unique_id=&quot;150664&quot;&gt;&lt;property id=&quot;20148&quot; value=&quot;5&quot;/&gt;&lt;property id=&quot;20300&quot; value=&quot;Slide 3 - &amp;quot;Review – Q1&amp;quot;&quot;/&gt;&lt;property id=&quot;20307&quot; value=&quot;746&quot;/&gt;&lt;/object&gt;&lt;object type=&quot;3&quot; unique_id=&quot;150720&quot;&gt;&lt;property id=&quot;20148&quot; value=&quot;5&quot;/&gt;&lt;property id=&quot;20300&quot; value=&quot;Slide 7 - &amp;quot;Review – Q3&amp;quot;&quot;/&gt;&lt;property id=&quot;20307&quot; value=&quot;747&quot;/&gt;&lt;/object&gt;&lt;object type=&quot;3&quot; unique_id=&quot;212302&quot;&gt;&lt;property id=&quot;20148&quot; value=&quot;5&quot;/&gt;&lt;property id=&quot;20300&quot; value=&quot;Slide 12 - &amp;quot;Review – Q5&amp;quot;&quot;/&gt;&lt;property id=&quot;20307&quot; value=&quot;748&quot;/&gt;&lt;/object&gt;&lt;object type=&quot;3&quot; unique_id=&quot;212407&quot;&gt;&lt;property id=&quot;20148&quot; value=&quot;5&quot;/&gt;&lt;property id=&quot;20300&quot; value=&quot;Slide 13 - &amp;quot;Review – Q5&amp;quot;&quot;/&gt;&lt;property id=&quot;20307&quot; value=&quot;749&quot;/&gt;&lt;/object&gt;&lt;object type=&quot;3&quot; unique_id=&quot;212476&quot;&gt;&lt;property id=&quot;20148&quot; value=&quot;5&quot;/&gt;&lt;property id=&quot;20300&quot; value=&quot;Slide 11 - &amp;quot;Review – Q4&amp;quot;&quot;/&gt;&lt;property id=&quot;20307&quot; value=&quot;750&quot;/&gt;&lt;/object&gt;&lt;object type=&quot;3&quot; unique_id=&quot;212520&quot;&gt;&lt;property id=&quot;20148&quot; value=&quot;5&quot;/&gt;&lt;property id=&quot;20300&quot; value=&quot;Slide 8 - &amp;quot;Course Evaluations&amp;quot;&quot;/&gt;&lt;property id=&quot;20307&quot; value=&quot;751&quot;/&gt;&lt;/object&gt;&lt;/object&gt;&lt;object type=&quot;8&quot; unique_id=&quot;10130&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Lst>
</file>

<file path=ppt/tags/tag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Mikko\Documents\My Adobe Presentations\ece552_11_single_cycle_data_path\data\asimages\{E3AFC32C-7C80-409D-9683-585A6B54126A}_1.png&quot;/&gt;&lt;left val=&quot;28&quot;/&gt;&lt;top val=&quot;185&quot;/&gt;&lt;width val=&quot;663&quot;/&gt;&lt;height val=&quot;102&quot;/&gt;&lt;hasText val=&quot;1&quot;/&gt;&lt;/Image&gt;&lt;/ThreeDShapeInfo&gt;"/>
  <p:tag name="PRESENTER_SHAPETEXTINFO" val="&lt;ShapeTextInfo&gt;&lt;TableIndex row=&quot;-1&quot; col=&quot;-1&quot;&gt;&lt;linesCount val=&quot;1&quot;/&gt;&lt;lineCharCount val=&quot;33&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Mikko\Documents\My Adobe Presentations\ece552_11_single_cycle_data_path\data\asimages\{0B5429DC-A899-4958-8E8C-558FA501DC34}_1.png&quot;/&gt;&lt;left val=&quot;107&quot;/&gt;&lt;top val=&quot;297&quot;/&gt;&lt;width val=&quot;509&quot;/&gt;&lt;height val=&quot;146&quot;/&gt;&lt;hasText val=&quot;1&quot;/&gt;&lt;/Image&gt;&lt;/ThreeDShapeInfo&gt;"/>
  <p:tag name="PRESENTER_SHAPETEXTINFO" val="&lt;ShapeTextInfo&gt;&lt;TableIndex row=&quot;-1&quot; col=&quot;-1&quot;&gt;&lt;linesCount val=&quot;5&quot;/&gt;&lt;lineCharCount val=&quot;22&quot;/&gt;&lt;lineCharCount val=&quot;1&quot;/&gt;&lt;lineCharCount val=&quot;54&quot;/&gt;&lt;lineCharCount val=&quot;53&quot;/&gt;&lt;lineCharCount val=&quot;3&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Lst>
</file>

<file path=ppt/tags/tag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9CC00A6A-1D7F-4A00-BF16-EDAABC63585D}_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4&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DC979A23-6885-4328-B16A-A49BC0394A92}_3.png&quot;/&gt;&lt;left val=&quot;24&quot;/&gt;&lt;top val=&quot;112&quot;/&gt;&lt;width val=&quot;683&quot;/&gt;&lt;height val=&quot;416&quot;/&gt;&lt;hasText val=&quot;1&quot;/&gt;&lt;/Image&gt;&lt;/ThreeDShapeInfo&gt;"/>
  <p:tag name="PRESENTER_SHAPETEXTINFO" val="&lt;ShapeTextInfo&gt;&lt;TableIndex row=&quot;-1&quot; col=&quot;-1&quot;&gt;&lt;linesCount val=&quot;11&quot;/&gt;&lt;lineCharCount val=&quot;35&quot;/&gt;&lt;lineCharCount val=&quot;49&quot;/&gt;&lt;lineCharCount val=&quot;43&quot;/&gt;&lt;lineCharCount val=&quot;10&quot;/&gt;&lt;lineCharCount val=&quot;48&quot;/&gt;&lt;lineCharCount val=&quot;14&quot;/&gt;&lt;lineCharCount val=&quot;48&quot;/&gt;&lt;lineCharCount val=&quot;44&quot;/&gt;&lt;lineCharCount val=&quot;23&quot;/&gt;&lt;lineCharCount val=&quot;26&quot;/&gt;&lt;lineCharCount val=&quot;1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1A457FB7-F267-4A3F-AAC0-C093C23F76F2}_3.png&quot;/&gt;&lt;left val=&quot;599&quot;/&gt;&lt;top val=&quot;492&quot;/&gt;&lt;width val=&quot;92&quot;/&gt;&lt;height val=&quot;51&quot;/&gt;&lt;hasText val=&quot;1&quot;/&gt;&lt;/Image&gt;&lt;/ThreeDShapeInfo&gt;"/>
  <p:tag name="PRESENTER_SHAPETEXTINFO" val="&lt;ShapeTextInfo&gt;&lt;TableIndex row=&quot;-1&quot; col=&quot;-1&quot;&gt;&lt;linesCount val=&quot;1&quot;/&gt;&lt;lineCharCount val=&quot;1&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Lst>
</file>

<file path=ppt/tags/tag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2123268-ED7C-4A1C-86E0-2001BE369ADD}_3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7FB875F-6A57-426D-A01A-ACC6F03EB55A}_37.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61&quot;/&gt;&lt;lineCharCount val=&quot;28&quot;/&gt;&lt;lineCharCount val=&quot;15&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80A36CA-7DB9-4472-8957-C9A2362DBB86}_22.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F0C92D3-3B25-43D4-BE09-B3B1861FB1F7}_22.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03A33AF-3EB8-421F-9A10-4927B0F80D6A}_22.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Lst>
</file>

<file path=ppt/tags/tag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2123268-ED7C-4A1C-86E0-2001BE369ADD}_3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7FB875F-6A57-426D-A01A-ACC6F03EB55A}_37.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61&quot;/&gt;&lt;lineCharCount val=&quot;28&quot;/&gt;&lt;lineCharCount val=&quot;15&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80A36CA-7DB9-4472-8957-C9A2362DBB86}_22.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F0C92D3-3B25-43D4-BE09-B3B1861FB1F7}_22.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03A33AF-3EB8-421F-9A10-4927B0F80D6A}_22.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Lst>
</file>

<file path=ppt/tags/tag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2123268-ED7C-4A1C-86E0-2001BE369ADD}_3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7FB875F-6A57-426D-A01A-ACC6F03EB55A}_37.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61&quot;/&gt;&lt;lineCharCount val=&quot;28&quot;/&gt;&lt;lineCharCount val=&quot;15&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80A36CA-7DB9-4472-8957-C9A2362DBB86}_22.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F0C92D3-3B25-43D4-BE09-B3B1861FB1F7}_22.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03A33AF-3EB8-421F-9A10-4927B0F80D6A}_22.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Lst>
</file>

<file path=ppt/tags/tag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2123268-ED7C-4A1C-86E0-2001BE369ADD}_3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7FB875F-6A57-426D-A01A-ACC6F03EB55A}_37.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61&quot;/&gt;&lt;lineCharCount val=&quot;28&quot;/&gt;&lt;lineCharCount val=&quot;15&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80A36CA-7DB9-4472-8957-C9A2362DBB86}_22.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F0C92D3-3B25-43D4-BE09-B3B1861FB1F7}_22.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03A33AF-3EB8-421F-9A10-4927B0F80D6A}_22.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Lst>
</file>

<file path=ppt/tags/tag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2123268-ED7C-4A1C-86E0-2001BE369ADD}_3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7FB875F-6A57-426D-A01A-ACC6F03EB55A}_37.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61&quot;/&gt;&lt;lineCharCount val=&quot;28&quot;/&gt;&lt;lineCharCount val=&quot;15&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80A36CA-7DB9-4472-8957-C9A2362DBB86}_22.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F0C92D3-3B25-43D4-BE09-B3B1861FB1F7}_22.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03A33AF-3EB8-421F-9A10-4927B0F80D6A}_22.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Lst>
</file>

<file path=ppt/tags/tag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2123268-ED7C-4A1C-86E0-2001BE369ADD}_3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7FB875F-6A57-426D-A01A-ACC6F03EB55A}_37.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61&quot;/&gt;&lt;lineCharCount val=&quot;28&quot;/&gt;&lt;lineCharCount val=&quot;15&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80A36CA-7DB9-4472-8957-C9A2362DBB86}_22.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F0C92D3-3B25-43D4-BE09-B3B1861FB1F7}_22.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03A33AF-3EB8-421F-9A10-4927B0F80D6A}_22.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Lst>
</file>

<file path=ppt/tags/tag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2123268-ED7C-4A1C-86E0-2001BE369ADD}_3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7FB875F-6A57-426D-A01A-ACC6F03EB55A}_37.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61&quot;/&gt;&lt;lineCharCount val=&quot;28&quot;/&gt;&lt;lineCharCount val=&quot;15&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80A36CA-7DB9-4472-8957-C9A2362DBB86}_22.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F0C92D3-3B25-43D4-BE09-B3B1861FB1F7}_22.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03A33AF-3EB8-421F-9A10-4927B0F80D6A}_22.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HTML_SHAPEINFO" val="&lt;SlideThumbPath val=&quot;Slide32.PNG&quot;/&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MIPSR10K\data\asimages\{A94CE1C9-10CB-47FA-AE5D-2355C712B47A}_32.png&quot;/&gt;&lt;left val=&quot;35&quot;/&gt;&lt;top val=&quot;21&quot;/&gt;&lt;width val=&quot;588&quot;/&gt;&lt;height val=&quot;98&quot;/&gt;&lt;hasText val=&quot;1&quot;/&gt;&lt;/Image&gt;&lt;/ThreeDShape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CF58504F-D32F-49AB-8C74-95B69B6C8FD9}_32.png&quot;/&gt;&lt;left val=&quot;599&quot;/&gt;&lt;top val=&quot;500&quot;/&gt;&lt;width val=&quot;84&quot;/&gt;&lt;height val=&quot;29&quot;/&gt;&lt;hasText val=&quot;1&quot;/&gt;&lt;/Image&gt;&lt;/ThreeDShapeInfo&gt;"/>
</p:tagLst>
</file>

<file path=ppt/tags/tag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9B7C93D-9C91-432A-9FC0-B9175588D897}_21.png&quot;/&gt;&lt;left val=&quot;340&quot;/&gt;&lt;top val=&quot;383&quot;/&gt;&lt;width val=&quot;367&quot;/&gt;&lt;height val=&quot;90&quot;/&gt;&lt;hasText val=&quot;1&quot;/&gt;&lt;/Image&gt;&lt;/ThreeDShapeInfo&gt;"/>
  <p:tag name="PRESENTER_SHAPEINFO" val="&lt;ThreeDShapeInfo&gt;&lt;uuid val=&quot;{7FAC7F52-65B3-4F4A-B175-53CCB204E72C}&quot;/&gt;&lt;isInvalidForFieldText val=&quot;0&quot;/&gt;&lt;Image&gt;&lt;filename val=&quot;C:\Users\sanmi\Documents\My Adobe Presentations\ece552-ParallelProcessors\data\asimages\{7FAC7F52-65B3-4F4A-B175-53CCB204E72C}.png&quot;/&gt;&lt;left val=&quot;340&quot;/&gt;&lt;top val=&quot;383&quot;/&gt;&lt;width val=&quot;367&quot;/&gt;&lt;height val=&quot;90&quot;/&gt;&lt;hasText val=&quot;1&quot;/&gt;&lt;/Image&gt;&lt;/ThreeDShapeInfo&gt;"/>
  <p:tag name="PRESENTER_SHAPETEXTINFO" val="&lt;ShapeTextInfo&gt;&lt;TableIndex row=&quot;-1&quot; col=&quot;-1&quot;&gt;&lt;linesCount val=&quot;1&quot;/&gt;&lt;lineCharCount val=&quot;85&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883145026,C:\Users\sanmi\GoogleDrive\UWMdrive\Courses\ECE552\ece552-lec18_SharedMemoryCoherence_pptx\Media.ppcx"/>
</p:tagLst>
</file>

<file path=ppt/tags/tag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0BED37B-7A5E-41AC-8F9D-72E09F4A3C41}_5.png&quot;/&gt;&lt;left val=&quot;35&quot;/&gt;&lt;top val=&quot;21&quot;/&gt;&lt;width val=&quot;612&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542ECA7-637F-4505-AB88-9AB5E18552CA}_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7E60B44-CF50-41CE-92F7-80F06555BFC2}_5.png&quot;/&gt;&lt;left val=&quot;29&quot;/&gt;&lt;top val=&quot;111&quot;/&gt;&lt;width val=&quot;210&quot;/&gt;&lt;height val=&quot;310&quot;/&gt;&lt;hasText val=&quot;1&quot;/&gt;&lt;/Image&gt;&lt;/ThreeDShapeInfo&gt;"/>
</p:tagLst>
</file>

<file path=ppt/tags/tag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CE49D11-BDCB-41AF-ACBB-FE9BED90171A}_5.png&quot;/&gt;&lt;left val=&quot;251&quot;/&gt;&lt;top val=&quot;111&quot;/&gt;&lt;width val=&quot;210&quot;/&gt;&lt;height val=&quot;310&quot;/&gt;&lt;hasText val=&quot;1&quot;/&gt;&lt;/Image&gt;&lt;/ThreeDShapeInfo&gt;"/>
</p:tagLst>
</file>

<file path=ppt/tags/tag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84A193A-3A4A-4F5E-9553-4EE3714F5AF1}_5.png&quot;/&gt;&lt;left val=&quot;473&quot;/&gt;&lt;top val=&quot;111&quot;/&gt;&lt;width val=&quot;210&quot;/&gt;&lt;height val=&quot;310&quot;/&gt;&lt;hasText val=&quot;1&quot;/&gt;&lt;/Image&gt;&lt;/ThreeDShapeInfo&gt;"/>
</p:tagLst>
</file>

<file path=ppt/tags/tag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BE6B8D1-1579-4C79-A4CD-034A5DAD958C}_5.png&quot;/&gt;&lt;left val=&quot;135&quot;/&gt;&lt;top val=&quot;491&quot;/&gt;&lt;width val=&quot;448&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C1F0EC6-CAC6-4A19-A59F-60BA10C9D706}_5.png&quot;/&gt;&lt;left val=&quot;239&quot;/&gt;&lt;top val=&quot;443&quot;/&gt;&lt;width val=&quot;232&quot;/&gt;&lt;height val=&quot;33&quot;/&gt;&lt;hasText val=&quot;1&quot;/&gt;&lt;/Image&gt;&lt;/ThreeDShapeInfo&gt;"/>
  <p:tag name="PRESENTER_SHAPETEXTINFO" val="&lt;ShapeTextInfo&gt;&lt;TableIndex row=&quot;-1&quot; col=&quot;-1&quot;&gt;&lt;linesCount val=&quot;1&quot;/&gt;&lt;lineCharCount val=&quot;15&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A2D57CA-5767-4DE6-8925-CE5982DCAC29}_5.png&quot;/&gt;&lt;left val=&quot;35&quot;/&gt;&lt;top val=&quot;431&quot;/&gt;&lt;width val=&quot;192&quot;/&gt;&lt;height val=&quot;45&quot;/&gt;&lt;hasText val=&quot;1&quot;/&gt;&lt;/Image&gt;&lt;/ThreeDShapeInfo&gt;"/>
  <p:tag name="PRESENTER_SHAPETEXTINFO" val="&lt;ShapeTextInfo&gt;&lt;TableIndex row=&quot;-1&quot; col=&quot;-1&quot;&gt;&lt;linesCount val=&quot;1&quot;/&gt;&lt;lineCharCount val=&quot;21&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442097947,C:\Users\sanmi\GoogleDrive\UWMdrive\Courses\ECE552\ece552-lec21_FloatingPoint_pptx\Media.ppcx"/>
  <p:tag name="TIMING" val="|50.2|14.6"/>
</p:tagLst>
</file>

<file path=ppt/tags/tag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E21B8A99-FE4C-4B26-B5B5-215795939A5E}_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4&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DADDC536-5824-449A-9B6A-C17800B4E843}_4.png&quot;/&gt;&lt;left val=&quot;42&quot;/&gt;&lt;top val=&quot;113&quot;/&gt;&lt;width val=&quot;623&quot;/&gt;&lt;height val=&quot;366&quot;/&gt;&lt;hasText val=&quot;1&quot;/&gt;&lt;/Image&gt;&lt;/ThreeDShapeInfo&gt;"/>
  <p:tag name="PRESENTER_SHAPETEXTINFO" val="&lt;ShapeTextInfo&gt;&lt;TableIndex row=&quot;-1&quot; col=&quot;-1&quot;&gt;&lt;linesCount val=&quot;5&quot;/&gt;&lt;lineCharCount val=&quot;23&quot;/&gt;&lt;lineCharCount val=&quot;45&quot;/&gt;&lt;lineCharCount val=&quot;19&quot;/&gt;&lt;lineCharCount val=&quot;22&quot;/&gt;&lt;lineCharCount val=&quot;46&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EA9C9208-006B-49BB-AFF9-284BFBCB68EC}_4.png&quot;/&gt;&lt;left val=&quot;599&quot;/&gt;&lt;top val=&quot;492&quot;/&gt;&lt;width val=&quot;92&quot;/&gt;&lt;height val=&quot;51&quot;/&gt;&lt;hasText val=&quot;1&quot;/&gt;&lt;/Image&gt;&lt;/ThreeDShapeInfo&gt;"/>
  <p:tag name="PRESENTER_SHAPETEXTINFO" val="&lt;ShapeTextInfo&gt;&lt;TableIndex row=&quot;-1&quot; col=&quot;-1&quot;&gt;&lt;linesCount val=&quot;1&quot;/&gt;&lt;lineCharCount val=&quot;1&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C4D1AD33-4046-40E1-A0D7-2BBAF2C1CE30}_4.png&quot;/&gt;&lt;left val=&quot;395&quot;/&gt;&lt;top val=&quot;122&quot;/&gt;&lt;width val=&quot;229&quot;/&gt;&lt;height val=&quot;51&quot;/&gt;&lt;hasText val=&quot;1&quot;/&gt;&lt;/Image&gt;&lt;/ThreeDShapeInfo&gt;"/>
</p:tagLst>
</file>

<file path=ppt/tags/tag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B46EAE8E-E320-41BE-AE7A-8CF13591C5A4}_4.png&quot;/&gt;&lt;left val=&quot;119&quot;/&gt;&lt;top val=&quot;345&quot;/&gt;&lt;width val=&quot;482&quot;/&gt;&lt;height val=&quot;68&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7&quot;/&gt;&lt;/TableIndex&gt;&lt;TableIndex row=&quot;1&quot; col=&quot;3&quot;&gt;&lt;linesCount val=&quot;1&quot;/&gt;&lt;lineCharCount val=&quot;15&quot;/&gt;&lt;/TableIndex&gt;&lt;TableIndex row=&quot;2&quot; col=&quot;1&quot;&gt;&lt;linesCount val=&quot;1&quot;/&gt;&lt;lineCharCount val=&quot;1&quot;/&gt;&lt;/TableIndex&gt;&lt;TableIndex row=&quot;2&quot; col=&quot;2&quot;&gt;&lt;linesCount val=&quot;1&quot;/&gt;&lt;lineCharCount val=&quot;4&quot;/&gt;&lt;/TableIndex&gt;&lt;TableIndex row=&quot;2&quot; col=&quot;3&quot;&gt;&lt;linesCount val=&quot;1&quot;/&gt;&lt;lineCharCount val=&quot;5&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8736B4AD-7714-426C-8023-7AB8968FD97E}_4.png&quot;/&gt;&lt;left val=&quot;431&quot;/&gt;&lt;top val=&quot;440&quot;/&gt;&lt;width val=&quot;210&quot;/&gt;&lt;height val=&quot;53&quot;/&gt;&lt;hasText val=&quot;1&quot;/&gt;&lt;/Image&gt;&lt;/ThreeDShapeInfo&gt;"/>
  <p:tag name="PRESENTER_SHAPETEXTINFO" val="&lt;ShapeTextInfo&gt;&lt;TableIndex row=&quot;-1&quot; col=&quot;-1&quot;&gt;&lt;linesCount val=&quot;2&quot;/&gt;&lt;lineCharCount val=&quot;11&quot;/&gt;&lt;lineCharCount val=&quot;27&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84C17EA9-8014-4AE6-A29F-70ACAEE99390}_4.png&quot;/&gt;&lt;left val=&quot;119&quot;/&gt;&lt;top val=&quot;443&quot;/&gt;&lt;width val=&quot;210&quot;/&gt;&lt;height val=&quot;53&quot;/&gt;&lt;hasText val=&quot;1&quot;/&gt;&lt;/Image&gt;&lt;/ThreeDShapeInfo&gt;"/>
  <p:tag name="PRESENTER_SHAPETEXTINFO" val="&lt;ShapeTextInfo&gt;&lt;TableIndex row=&quot;-1&quot; col=&quot;-1&quot;&gt;&lt;linesCount val=&quot;2&quot;/&gt;&lt;lineCharCount val=&quot;15&quot;/&gt;&lt;lineCharCount val=&quot;15&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442097947,C:\Users\sanmi\GoogleDrive\UWMdrive\Courses\ECE552\ece552-lec21_FloatingPoint_pptx\Media.ppcx"/>
</p:tagLst>
</file>

<file path=ppt/tags/tag8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ED14796F-7881-47D3-8974-50E75BF5E466}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C20106F9-6951-4CF8-8813-64BD999C09B0}_9.png&quot;/&gt;&lt;left val=&quot;599&quot;/&gt;&lt;top val=&quot;492&quot;/&gt;&lt;width val=&quot;92&quot;/&gt;&lt;height val=&quot;51&quot;/&gt;&lt;hasText val=&quot;1&quot;/&gt;&lt;/Image&gt;&lt;/ThreeDShapeInfo&gt;"/>
  <p:tag name="PRESENTER_SHAPETEXTINFO" val="&lt;ShapeTextInfo&gt;&lt;TableIndex row=&quot;-1&quot; col=&quot;-1&quot;&gt;&lt;linesCount val=&quot;1&quot;/&gt;&lt;lineCharCount val=&quot;1&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loatingPoint\data\asimages\{4CBB3559-2DBF-4C4D-B006-77271267F832}_9.png&quot;/&gt;&lt;left val=&quot;41&quot;/&gt;&lt;top val=&quot;137&quot;/&gt;&lt;width val=&quot;626&quot;/&gt;&lt;height val=&quot;250&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1&quot; col=&quot;3&quot;&gt;&lt;linesCount val=&quot;1&quot;/&gt;&lt;lineCharCount val=&quot;16&quot;/&gt;&lt;/TableIndex&gt;&lt;TableIndex row=&quot;1&quot; col=&quot;4&quot;&gt;&lt;linesCount val=&quot;1&quot;/&gt;&lt;lineCharCount val=&quot;16&quot;/&gt;&lt;/TableIndex&gt;&lt;TableIndex row=&quot;1&quot; col=&quot;5&quot;&gt;&lt;linesCount val=&quot;1&quot;/&gt;&lt;lineCharCount val=&quot;5&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5&quot;/&gt;&lt;/TableIndex&gt;&lt;TableIndex row=&quot;3&quot; col=&quot;1&quot;&gt;&lt;linesCount val=&quot;1&quot;/&gt;&lt;lineCharCount val=&quot;1&quot;/&gt;&lt;/TableIndex&gt;&lt;TableIndex row=&quot;3&quot; col=&quot;2&quot;&gt;&lt;linesCount val=&quot;1&quot;/&gt;&lt;lineCharCount val=&quot;1&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4&quot;/&gt;&lt;/TableIndex&gt;&lt;TableIndex row=&quot;4&quot; col=&quot;1&quot;&gt;&lt;linesCount val=&quot;1&quot;/&gt;&lt;lineCharCount val=&quot;1&quot;/&gt;&lt;/TableIndex&gt;&lt;TableIndex row=&quot;4&quot; col=&quot;2&quot;&gt;&lt;linesCount val=&quot;1&quot;/&gt;&lt;lineCharCount val=&quot;7&quot;/&gt;&lt;/TableIndex&gt;&lt;TableIndex row=&quot;4&quot; col=&quot;3&quot;&gt;&lt;linesCount val=&quot;1&quot;/&gt;&lt;lineCharCount val=&quot;1&quot;/&gt;&lt;/TableIndex&gt;&lt;TableIndex row=&quot;4&quot; col=&quot;4&quot;&gt;&lt;linesCount val=&quot;1&quot;/&gt;&lt;lineCharCount val=&quot;7&quot;/&gt;&lt;/TableIndex&gt;&lt;TableIndex row=&quot;4&quot; col=&quot;5&quot;&gt;&lt;linesCount val=&quot;1&quot;/&gt;&lt;lineCharCount val=&quot;12&quot;/&gt;&lt;/TableIndex&gt;&lt;TableIndex row=&quot;5&quot; col=&quot;1&quot;&gt;&lt;linesCount val=&quot;1&quot;/&gt;&lt;lineCharCount val=&quot;3&quot;/&gt;&lt;/TableIndex&gt;&lt;TableIndex row=&quot;5&quot; col=&quot;2&quot;&gt;&lt;linesCount val=&quot;1&quot;/&gt;&lt;lineCharCount val=&quot;1&quot;/&gt;&lt;/TableIndex&gt;&lt;TableIndex row=&quot;5&quot; col=&quot;3&quot;&gt;&lt;linesCount val=&quot;1&quot;/&gt;&lt;lineCharCount val=&quot;4&quot;/&gt;&lt;/TableIndex&gt;&lt;TableIndex row=&quot;5&quot; col=&quot;4&quot;&gt;&lt;linesCount val=&quot;1&quot;/&gt;&lt;lineCharCount val=&quot;1&quot;/&gt;&lt;/TableIndex&gt;&lt;TableIndex row=&quot;5&quot; col=&quot;5&quot;&gt;&lt;linesCount val=&quot;1&quot;/&gt;&lt;lineCharCount val=&quot;8&quot;/&gt;&lt;/TableIndex&gt;&lt;TableIndex row=&quot;6&quot; col=&quot;1&quot;&gt;&lt;linesCount val=&quot;1&quot;/&gt;&lt;lineCharCount val=&quot;3&quot;/&gt;&lt;/TableIndex&gt;&lt;TableIndex row=&quot;6&quot; col=&quot;2&quot;&gt;&lt;linesCount val=&quot;1&quot;/&gt;&lt;lineCharCount val=&quot;7&quot;/&gt;&lt;/TableIndex&gt;&lt;TableIndex row=&quot;6&quot; col=&quot;3&quot;&gt;&lt;linesCount val=&quot;1&quot;/&gt;&lt;lineCharCount val=&quot;4&quot;/&gt;&lt;/TableIndex&gt;&lt;TableIndex row=&quot;6&quot; col=&quot;4&quot;&gt;&lt;linesCount val=&quot;1&quot;/&gt;&lt;lineCharCount val=&quot;7&quot;/&gt;&lt;/TableIndex&gt;&lt;TableIndex row=&quot;6&quot; col=&quot;5&quot;&gt;&lt;linesCount val=&quot;2&quot;/&gt;&lt;lineCharCount val=&quot;11&quot;/&gt;&lt;lineCharCount val=&quot;7&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1846</TotalTime>
  <Words>6564</Words>
  <Application>Microsoft Macintosh PowerPoint</Application>
  <PresentationFormat>On-screen Show (4:3)</PresentationFormat>
  <Paragraphs>2148</Paragraphs>
  <Slides>50</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Cambria Math</vt:lpstr>
      <vt:lpstr>Courier New</vt:lpstr>
      <vt:lpstr>Tahoma</vt:lpstr>
      <vt:lpstr>Times New Roman</vt:lpstr>
      <vt:lpstr>Wingdings</vt:lpstr>
      <vt:lpstr>Lecture Notes 552</vt:lpstr>
      <vt:lpstr>ECE/CS 552: Final Exam Review</vt:lpstr>
      <vt:lpstr>Announcements</vt:lpstr>
      <vt:lpstr>Announcements</vt:lpstr>
      <vt:lpstr>Final Exam</vt:lpstr>
      <vt:lpstr>Caches</vt:lpstr>
      <vt:lpstr>Physical/Virtual Addresses</vt:lpstr>
      <vt:lpstr>Caches and Virtual Memory</vt:lpstr>
      <vt:lpstr>Caches and Virtual Memory</vt:lpstr>
      <vt:lpstr>Caches and Virtual Memory</vt:lpstr>
      <vt:lpstr>Caches and Virtual Memory</vt:lpstr>
      <vt:lpstr>Caches and Virtual Memory</vt:lpstr>
      <vt:lpstr>Caches and Virtual Memory</vt:lpstr>
      <vt:lpstr>ECC</vt:lpstr>
      <vt:lpstr>ECC</vt:lpstr>
      <vt:lpstr>ECC</vt:lpstr>
      <vt:lpstr>ECC</vt:lpstr>
      <vt:lpstr>ECC</vt:lpstr>
      <vt:lpstr>ECC</vt:lpstr>
      <vt:lpstr>ECC</vt:lpstr>
      <vt:lpstr>Superscalar, OoO, MIPS R10K</vt:lpstr>
      <vt:lpstr>MIPS R10K</vt:lpstr>
      <vt:lpstr>MIPS R10K</vt:lpstr>
      <vt:lpstr>MIPS R10K</vt:lpstr>
      <vt:lpstr>MIPS R10K</vt:lpstr>
      <vt:lpstr>MIPS R10K</vt:lpstr>
      <vt:lpstr>MIPS R10K</vt:lpstr>
      <vt:lpstr>MIPS R10K</vt:lpstr>
      <vt:lpstr>MIPS R10K</vt:lpstr>
      <vt:lpstr>MIPS R10K</vt:lpstr>
      <vt:lpstr>Multiprocessors</vt:lpstr>
      <vt:lpstr>Shared-Memory CMP</vt:lpstr>
      <vt:lpstr>Shared-Memory CMP</vt:lpstr>
      <vt:lpstr>Consistency</vt:lpstr>
      <vt:lpstr>Consistency</vt:lpstr>
      <vt:lpstr>Consistency</vt:lpstr>
      <vt:lpstr>Cache Coherence</vt:lpstr>
      <vt:lpstr>Cache Coherence</vt:lpstr>
      <vt:lpstr>Cache Coherence</vt:lpstr>
      <vt:lpstr>Cache Coherence</vt:lpstr>
      <vt:lpstr>Cache Coherence</vt:lpstr>
      <vt:lpstr>SIMD</vt:lpstr>
      <vt:lpstr>SIMT and MISD</vt:lpstr>
      <vt:lpstr>Integer Multiplier</vt:lpstr>
      <vt:lpstr>Divider</vt:lpstr>
      <vt:lpstr>Floating Point</vt:lpstr>
      <vt:lpstr>IEEE754 Special Cases</vt:lpstr>
      <vt:lpstr>Review – Ex 12/03 Q2</vt:lpstr>
      <vt:lpstr>Review – Ex 12/03 Q2</vt:lpstr>
      <vt:lpstr>Review – Ex 12/03 Q2</vt:lpstr>
      <vt:lpstr>Review – Ex 12/03 Q2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Final Exam Review</dc:title>
  <dc:creator/>
  <cp:lastModifiedBy>Boone Severson</cp:lastModifiedBy>
  <cp:revision>789</cp:revision>
  <cp:lastPrinted>1601-01-01T00:00:00Z</cp:lastPrinted>
  <dcterms:created xsi:type="dcterms:W3CDTF">1601-01-01T00:00:00Z</dcterms:created>
  <dcterms:modified xsi:type="dcterms:W3CDTF">2024-12-09T05:01:47Z</dcterms:modified>
</cp:coreProperties>
</file>