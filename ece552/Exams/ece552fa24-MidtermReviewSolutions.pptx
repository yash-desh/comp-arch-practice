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0" r:id="rId1"/>
  </p:sldMasterIdLst>
  <p:notesMasterIdLst>
    <p:notesMasterId r:id="rId35"/>
  </p:notesMasterIdLst>
  <p:handoutMasterIdLst>
    <p:handoutMasterId r:id="rId36"/>
  </p:handoutMasterIdLst>
  <p:sldIdLst>
    <p:sldId id="758" r:id="rId2"/>
    <p:sldId id="759" r:id="rId3"/>
    <p:sldId id="760" r:id="rId4"/>
    <p:sldId id="770" r:id="rId5"/>
    <p:sldId id="755" r:id="rId6"/>
    <p:sldId id="757" r:id="rId7"/>
    <p:sldId id="756" r:id="rId8"/>
    <p:sldId id="741" r:id="rId9"/>
    <p:sldId id="753" r:id="rId10"/>
    <p:sldId id="751" r:id="rId11"/>
    <p:sldId id="656" r:id="rId12"/>
    <p:sldId id="739" r:id="rId13"/>
    <p:sldId id="743" r:id="rId14"/>
    <p:sldId id="744" r:id="rId15"/>
    <p:sldId id="745" r:id="rId16"/>
    <p:sldId id="748" r:id="rId17"/>
    <p:sldId id="746" r:id="rId18"/>
    <p:sldId id="749" r:id="rId19"/>
    <p:sldId id="747" r:id="rId20"/>
    <p:sldId id="750" r:id="rId21"/>
    <p:sldId id="762" r:id="rId22"/>
    <p:sldId id="763" r:id="rId23"/>
    <p:sldId id="761" r:id="rId24"/>
    <p:sldId id="764" r:id="rId25"/>
    <p:sldId id="765" r:id="rId26"/>
    <p:sldId id="766" r:id="rId27"/>
    <p:sldId id="767" r:id="rId28"/>
    <p:sldId id="768" r:id="rId29"/>
    <p:sldId id="740" r:id="rId30"/>
    <p:sldId id="754" r:id="rId31"/>
    <p:sldId id="679" r:id="rId32"/>
    <p:sldId id="737" r:id="rId33"/>
    <p:sldId id="769" r:id="rId34"/>
  </p:sldIdLst>
  <p:sldSz cx="9144000" cy="6858000" type="screen4x3"/>
  <p:notesSz cx="6845300" cy="9396413"/>
  <p:custDataLst>
    <p:tags r:id="rId37"/>
  </p:custDataLst>
  <p:defaultTextStyle>
    <a:defPPr>
      <a:defRPr lang="en-US"/>
    </a:defPPr>
    <a:lvl1pPr algn="l" rtl="0" fontAlgn="base">
      <a:spcBef>
        <a:spcPct val="0"/>
      </a:spcBef>
      <a:spcAft>
        <a:spcPct val="0"/>
      </a:spcAft>
      <a:defRPr sz="10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10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10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10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1000" kern="1200">
        <a:solidFill>
          <a:schemeClr val="tx1"/>
        </a:solidFill>
        <a:latin typeface="Times New Roman" panose="02020603050405020304" pitchFamily="18" charset="0"/>
        <a:ea typeface="+mn-ea"/>
        <a:cs typeface="+mn-cs"/>
      </a:defRPr>
    </a:lvl5pPr>
    <a:lvl6pPr marL="2286000" algn="l" defTabSz="914400" rtl="0" eaLnBrk="1" latinLnBrk="0" hangingPunct="1">
      <a:defRPr sz="1000" kern="1200">
        <a:solidFill>
          <a:schemeClr val="tx1"/>
        </a:solidFill>
        <a:latin typeface="Times New Roman" panose="02020603050405020304" pitchFamily="18" charset="0"/>
        <a:ea typeface="+mn-ea"/>
        <a:cs typeface="+mn-cs"/>
      </a:defRPr>
    </a:lvl6pPr>
    <a:lvl7pPr marL="2743200" algn="l" defTabSz="914400" rtl="0" eaLnBrk="1" latinLnBrk="0" hangingPunct="1">
      <a:defRPr sz="1000" kern="1200">
        <a:solidFill>
          <a:schemeClr val="tx1"/>
        </a:solidFill>
        <a:latin typeface="Times New Roman" panose="02020603050405020304" pitchFamily="18" charset="0"/>
        <a:ea typeface="+mn-ea"/>
        <a:cs typeface="+mn-cs"/>
      </a:defRPr>
    </a:lvl7pPr>
    <a:lvl8pPr marL="3200400" algn="l" defTabSz="914400" rtl="0" eaLnBrk="1" latinLnBrk="0" hangingPunct="1">
      <a:defRPr sz="1000" kern="1200">
        <a:solidFill>
          <a:schemeClr val="tx1"/>
        </a:solidFill>
        <a:latin typeface="Times New Roman" panose="02020603050405020304" pitchFamily="18" charset="0"/>
        <a:ea typeface="+mn-ea"/>
        <a:cs typeface="+mn-cs"/>
      </a:defRPr>
    </a:lvl8pPr>
    <a:lvl9pPr marL="3657600" algn="l" defTabSz="914400" rtl="0" eaLnBrk="1" latinLnBrk="0" hangingPunct="1">
      <a:defRPr sz="10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58">
          <p15:clr>
            <a:srgbClr val="A4A3A4"/>
          </p15:clr>
        </p15:guide>
        <p15:guide id="2" pos="215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9646"/>
    <a:srgbClr val="FB0BD9"/>
    <a:srgbClr val="DBEEF4"/>
    <a:srgbClr val="660066"/>
    <a:srgbClr val="FF3300"/>
    <a:srgbClr val="000000"/>
    <a:srgbClr val="006600"/>
    <a:srgbClr val="FFFF66"/>
    <a:srgbClr val="FFCC00"/>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961F55-6F53-FE4B-8496-85B95F391181}" v="2193" dt="2024-10-22T17:49:38.3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autoAdjust="0"/>
    <p:restoredTop sz="84558"/>
  </p:normalViewPr>
  <p:slideViewPr>
    <p:cSldViewPr>
      <p:cViewPr varScale="1">
        <p:scale>
          <a:sx n="107" d="100"/>
          <a:sy n="107" d="100"/>
        </p:scale>
        <p:origin x="2304"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8" d="100"/>
          <a:sy n="58" d="100"/>
        </p:scale>
        <p:origin x="-1764" y="-66"/>
      </p:cViewPr>
      <p:guideLst>
        <p:guide orient="horz" pos="2958"/>
        <p:guide pos="215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gs" Target="tags/tag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one Severson" userId="1d942a2b-e0b5-491a-b49e-d500fa0ad426" providerId="ADAL" clId="{6D961F55-6F53-FE4B-8496-85B95F391181}"/>
    <pc:docChg chg="undo custSel addSld delSld modSld sldOrd">
      <pc:chgData name="Boone Severson" userId="1d942a2b-e0b5-491a-b49e-d500fa0ad426" providerId="ADAL" clId="{6D961F55-6F53-FE4B-8496-85B95F391181}" dt="2024-10-22T17:49:38.298" v="3973"/>
      <pc:docMkLst>
        <pc:docMk/>
      </pc:docMkLst>
      <pc:sldChg chg="del">
        <pc:chgData name="Boone Severson" userId="1d942a2b-e0b5-491a-b49e-d500fa0ad426" providerId="ADAL" clId="{6D961F55-6F53-FE4B-8496-85B95F391181}" dt="2024-10-21T22:47:45.546" v="1" actId="2696"/>
        <pc:sldMkLst>
          <pc:docMk/>
          <pc:sldMk cId="2392838502" sldId="495"/>
        </pc:sldMkLst>
      </pc:sldChg>
      <pc:sldChg chg="del">
        <pc:chgData name="Boone Severson" userId="1d942a2b-e0b5-491a-b49e-d500fa0ad426" providerId="ADAL" clId="{6D961F55-6F53-FE4B-8496-85B95F391181}" dt="2024-10-21T22:47:48.002" v="2" actId="2696"/>
        <pc:sldMkLst>
          <pc:docMk/>
          <pc:sldMk cId="3752741187" sldId="734"/>
        </pc:sldMkLst>
      </pc:sldChg>
      <pc:sldChg chg="del">
        <pc:chgData name="Boone Severson" userId="1d942a2b-e0b5-491a-b49e-d500fa0ad426" providerId="ADAL" clId="{6D961F55-6F53-FE4B-8496-85B95F391181}" dt="2024-10-22T03:56:41.979" v="3382" actId="2696"/>
        <pc:sldMkLst>
          <pc:docMk/>
          <pc:sldMk cId="805843190" sldId="736"/>
        </pc:sldMkLst>
      </pc:sldChg>
      <pc:sldChg chg="del">
        <pc:chgData name="Boone Severson" userId="1d942a2b-e0b5-491a-b49e-d500fa0ad426" providerId="ADAL" clId="{6D961F55-6F53-FE4B-8496-85B95F391181}" dt="2024-10-22T04:00:44.845" v="3386" actId="2696"/>
        <pc:sldMkLst>
          <pc:docMk/>
          <pc:sldMk cId="79669437" sldId="742"/>
        </pc:sldMkLst>
      </pc:sldChg>
      <pc:sldChg chg="modAnim">
        <pc:chgData name="Boone Severson" userId="1d942a2b-e0b5-491a-b49e-d500fa0ad426" providerId="ADAL" clId="{6D961F55-6F53-FE4B-8496-85B95F391181}" dt="2024-10-22T04:00:33.185" v="3385"/>
        <pc:sldMkLst>
          <pc:docMk/>
          <pc:sldMk cId="3456603025" sldId="743"/>
        </pc:sldMkLst>
      </pc:sldChg>
      <pc:sldChg chg="addSp delSp modSp mod modAnim">
        <pc:chgData name="Boone Severson" userId="1d942a2b-e0b5-491a-b49e-d500fa0ad426" providerId="ADAL" clId="{6D961F55-6F53-FE4B-8496-85B95F391181}" dt="2024-10-22T03:48:52.354" v="3381" actId="122"/>
        <pc:sldMkLst>
          <pc:docMk/>
          <pc:sldMk cId="2015045541" sldId="751"/>
        </pc:sldMkLst>
        <pc:spChg chg="mod">
          <ac:chgData name="Boone Severson" userId="1d942a2b-e0b5-491a-b49e-d500fa0ad426" providerId="ADAL" clId="{6D961F55-6F53-FE4B-8496-85B95F391181}" dt="2024-10-22T03:48:46.095" v="3379" actId="122"/>
          <ac:spMkLst>
            <pc:docMk/>
            <pc:sldMk cId="2015045541" sldId="751"/>
            <ac:spMk id="2" creationId="{F328B0AF-DD12-1299-6EDB-B6C79EBF7BC2}"/>
          </ac:spMkLst>
        </pc:spChg>
        <pc:spChg chg="mod">
          <ac:chgData name="Boone Severson" userId="1d942a2b-e0b5-491a-b49e-d500fa0ad426" providerId="ADAL" clId="{6D961F55-6F53-FE4B-8496-85B95F391181}" dt="2024-10-22T03:39:11.384" v="2897" actId="20577"/>
          <ac:spMkLst>
            <pc:docMk/>
            <pc:sldMk cId="2015045541" sldId="751"/>
            <ac:spMk id="3" creationId="{A0C73A28-F784-966A-7A58-EDD081C5B2E4}"/>
          </ac:spMkLst>
        </pc:spChg>
        <pc:spChg chg="add del mod">
          <ac:chgData name="Boone Severson" userId="1d942a2b-e0b5-491a-b49e-d500fa0ad426" providerId="ADAL" clId="{6D961F55-6F53-FE4B-8496-85B95F391181}" dt="2024-10-22T03:47:23.810" v="3378" actId="478"/>
          <ac:spMkLst>
            <pc:docMk/>
            <pc:sldMk cId="2015045541" sldId="751"/>
            <ac:spMk id="5" creationId="{2D970EC8-91D0-B5B1-6D6B-D31D3F94F7D5}"/>
          </ac:spMkLst>
        </pc:spChg>
        <pc:spChg chg="add mod">
          <ac:chgData name="Boone Severson" userId="1d942a2b-e0b5-491a-b49e-d500fa0ad426" providerId="ADAL" clId="{6D961F55-6F53-FE4B-8496-85B95F391181}" dt="2024-10-22T03:48:49.474" v="3380" actId="122"/>
          <ac:spMkLst>
            <pc:docMk/>
            <pc:sldMk cId="2015045541" sldId="751"/>
            <ac:spMk id="6" creationId="{27056300-1972-83A8-DFDB-4FC667733972}"/>
          </ac:spMkLst>
        </pc:spChg>
        <pc:spChg chg="add mod">
          <ac:chgData name="Boone Severson" userId="1d942a2b-e0b5-491a-b49e-d500fa0ad426" providerId="ADAL" clId="{6D961F55-6F53-FE4B-8496-85B95F391181}" dt="2024-10-22T03:48:52.354" v="3381" actId="122"/>
          <ac:spMkLst>
            <pc:docMk/>
            <pc:sldMk cId="2015045541" sldId="751"/>
            <ac:spMk id="7" creationId="{4B9DCEE5-11A6-AC59-E5E6-68FA78540278}"/>
          </ac:spMkLst>
        </pc:spChg>
      </pc:sldChg>
      <pc:sldChg chg="modSp add mod">
        <pc:chgData name="Boone Severson" userId="1d942a2b-e0b5-491a-b49e-d500fa0ad426" providerId="ADAL" clId="{6D961F55-6F53-FE4B-8496-85B95F391181}" dt="2024-10-21T23:28:52.603" v="14" actId="20577"/>
        <pc:sldMkLst>
          <pc:docMk/>
          <pc:sldMk cId="4177198719" sldId="758"/>
        </pc:sldMkLst>
        <pc:spChg chg="mod">
          <ac:chgData name="Boone Severson" userId="1d942a2b-e0b5-491a-b49e-d500fa0ad426" providerId="ADAL" clId="{6D961F55-6F53-FE4B-8496-85B95F391181}" dt="2024-10-21T23:28:52.603" v="14" actId="20577"/>
          <ac:spMkLst>
            <pc:docMk/>
            <pc:sldMk cId="4177198719" sldId="758"/>
            <ac:spMk id="3" creationId="{00000000-0000-0000-0000-000000000000}"/>
          </ac:spMkLst>
        </pc:spChg>
      </pc:sldChg>
      <pc:sldChg chg="add">
        <pc:chgData name="Boone Severson" userId="1d942a2b-e0b5-491a-b49e-d500fa0ad426" providerId="ADAL" clId="{6D961F55-6F53-FE4B-8496-85B95F391181}" dt="2024-10-21T22:47:43.254" v="0"/>
        <pc:sldMkLst>
          <pc:docMk/>
          <pc:sldMk cId="2993066374" sldId="759"/>
        </pc:sldMkLst>
      </pc:sldChg>
      <pc:sldChg chg="add">
        <pc:chgData name="Boone Severson" userId="1d942a2b-e0b5-491a-b49e-d500fa0ad426" providerId="ADAL" clId="{6D961F55-6F53-FE4B-8496-85B95F391181}" dt="2024-10-21T22:47:43.254" v="0"/>
        <pc:sldMkLst>
          <pc:docMk/>
          <pc:sldMk cId="1735256817" sldId="760"/>
        </pc:sldMkLst>
      </pc:sldChg>
      <pc:sldChg chg="addSp delSp modSp new mod ord modAnim modNotesTx">
        <pc:chgData name="Boone Severson" userId="1d942a2b-e0b5-491a-b49e-d500fa0ad426" providerId="ADAL" clId="{6D961F55-6F53-FE4B-8496-85B95F391181}" dt="2024-10-22T02:38:47.013" v="1473"/>
        <pc:sldMkLst>
          <pc:docMk/>
          <pc:sldMk cId="1806313867" sldId="761"/>
        </pc:sldMkLst>
        <pc:spChg chg="add del mod">
          <ac:chgData name="Boone Severson" userId="1d942a2b-e0b5-491a-b49e-d500fa0ad426" providerId="ADAL" clId="{6D961F55-6F53-FE4B-8496-85B95F391181}" dt="2024-10-22T02:21:01.105" v="399" actId="120"/>
          <ac:spMkLst>
            <pc:docMk/>
            <pc:sldMk cId="1806313867" sldId="761"/>
            <ac:spMk id="2" creationId="{E0B436E4-AD0A-1440-F7BE-C9A7AECAA989}"/>
          </ac:spMkLst>
        </pc:spChg>
        <pc:spChg chg="add del">
          <ac:chgData name="Boone Severson" userId="1d942a2b-e0b5-491a-b49e-d500fa0ad426" providerId="ADAL" clId="{6D961F55-6F53-FE4B-8496-85B95F391181}" dt="2024-10-22T02:12:34.455" v="23"/>
          <ac:spMkLst>
            <pc:docMk/>
            <pc:sldMk cId="1806313867" sldId="761"/>
            <ac:spMk id="3" creationId="{1372C785-9A3E-61CE-CC54-82C1A75E2F67}"/>
          </ac:spMkLst>
        </pc:spChg>
        <pc:spChg chg="add mod">
          <ac:chgData name="Boone Severson" userId="1d942a2b-e0b5-491a-b49e-d500fa0ad426" providerId="ADAL" clId="{6D961F55-6F53-FE4B-8496-85B95F391181}" dt="2024-10-22T02:15:16.821" v="245" actId="1076"/>
          <ac:spMkLst>
            <pc:docMk/>
            <pc:sldMk cId="1806313867" sldId="761"/>
            <ac:spMk id="9" creationId="{6431D32C-88DB-D1D9-8388-38BBCCB19CBB}"/>
          </ac:spMkLst>
        </pc:spChg>
        <pc:spChg chg="add del mod">
          <ac:chgData name="Boone Severson" userId="1d942a2b-e0b5-491a-b49e-d500fa0ad426" providerId="ADAL" clId="{6D961F55-6F53-FE4B-8496-85B95F391181}" dt="2024-10-22T02:16:13.484" v="309"/>
          <ac:spMkLst>
            <pc:docMk/>
            <pc:sldMk cId="1806313867" sldId="761"/>
            <ac:spMk id="10" creationId="{C4BB6D3E-E32B-9DCC-0EA8-9EC559F84FB8}"/>
          </ac:spMkLst>
        </pc:spChg>
        <pc:spChg chg="add mod">
          <ac:chgData name="Boone Severson" userId="1d942a2b-e0b5-491a-b49e-d500fa0ad426" providerId="ADAL" clId="{6D961F55-6F53-FE4B-8496-85B95F391181}" dt="2024-10-22T02:15:45.430" v="304" actId="207"/>
          <ac:spMkLst>
            <pc:docMk/>
            <pc:sldMk cId="1806313867" sldId="761"/>
            <ac:spMk id="11" creationId="{C7814EB0-24B2-B42C-C939-66C0CE217F83}"/>
          </ac:spMkLst>
        </pc:spChg>
        <pc:spChg chg="add del mod">
          <ac:chgData name="Boone Severson" userId="1d942a2b-e0b5-491a-b49e-d500fa0ad426" providerId="ADAL" clId="{6D961F55-6F53-FE4B-8496-85B95F391181}" dt="2024-10-22T02:16:12.315" v="307" actId="478"/>
          <ac:spMkLst>
            <pc:docMk/>
            <pc:sldMk cId="1806313867" sldId="761"/>
            <ac:spMk id="12" creationId="{C0E33A83-FC7E-66A4-A630-D961D7249B03}"/>
          </ac:spMkLst>
        </pc:spChg>
        <pc:spChg chg="add mod">
          <ac:chgData name="Boone Severson" userId="1d942a2b-e0b5-491a-b49e-d500fa0ad426" providerId="ADAL" clId="{6D961F55-6F53-FE4B-8496-85B95F391181}" dt="2024-10-22T02:16:51.811" v="316" actId="207"/>
          <ac:spMkLst>
            <pc:docMk/>
            <pc:sldMk cId="1806313867" sldId="761"/>
            <ac:spMk id="13" creationId="{8EB487A3-45C6-2209-FC22-50CF143EFF08}"/>
          </ac:spMkLst>
        </pc:spChg>
        <pc:spChg chg="add mod">
          <ac:chgData name="Boone Severson" userId="1d942a2b-e0b5-491a-b49e-d500fa0ad426" providerId="ADAL" clId="{6D961F55-6F53-FE4B-8496-85B95F391181}" dt="2024-10-22T02:18:00.612" v="321" actId="207"/>
          <ac:spMkLst>
            <pc:docMk/>
            <pc:sldMk cId="1806313867" sldId="761"/>
            <ac:spMk id="14" creationId="{9F8FF3B0-9708-3020-4D74-86CAEA076632}"/>
          </ac:spMkLst>
        </pc:spChg>
        <pc:spChg chg="add mod">
          <ac:chgData name="Boone Severson" userId="1d942a2b-e0b5-491a-b49e-d500fa0ad426" providerId="ADAL" clId="{6D961F55-6F53-FE4B-8496-85B95F391181}" dt="2024-10-22T02:18:27.601" v="329" actId="20577"/>
          <ac:spMkLst>
            <pc:docMk/>
            <pc:sldMk cId="1806313867" sldId="761"/>
            <ac:spMk id="15" creationId="{AE379A4D-6C8D-9A1C-2F85-0CFEF0BB425C}"/>
          </ac:spMkLst>
        </pc:spChg>
        <pc:spChg chg="add del mod">
          <ac:chgData name="Boone Severson" userId="1d942a2b-e0b5-491a-b49e-d500fa0ad426" providerId="ADAL" clId="{6D961F55-6F53-FE4B-8496-85B95F391181}" dt="2024-10-22T02:38:46.422" v="1472" actId="478"/>
          <ac:spMkLst>
            <pc:docMk/>
            <pc:sldMk cId="1806313867" sldId="761"/>
            <ac:spMk id="16" creationId="{303E63C7-DB43-5214-CD2A-1722C87AAA4D}"/>
          </ac:spMkLst>
        </pc:spChg>
        <pc:spChg chg="add mod">
          <ac:chgData name="Boone Severson" userId="1d942a2b-e0b5-491a-b49e-d500fa0ad426" providerId="ADAL" clId="{6D961F55-6F53-FE4B-8496-85B95F391181}" dt="2024-10-22T02:21:32.471" v="405" actId="1076"/>
          <ac:spMkLst>
            <pc:docMk/>
            <pc:sldMk cId="1806313867" sldId="761"/>
            <ac:spMk id="17" creationId="{00253AA6-C3DE-AC0B-9037-533B0E1BA59C}"/>
          </ac:spMkLst>
        </pc:spChg>
        <pc:spChg chg="add del mod">
          <ac:chgData name="Boone Severson" userId="1d942a2b-e0b5-491a-b49e-d500fa0ad426" providerId="ADAL" clId="{6D961F55-6F53-FE4B-8496-85B95F391181}" dt="2024-10-22T02:21:48.163" v="407" actId="478"/>
          <ac:spMkLst>
            <pc:docMk/>
            <pc:sldMk cId="1806313867" sldId="761"/>
            <ac:spMk id="18" creationId="{93DF36B2-A07B-C165-8F03-DFCBDBB052BA}"/>
          </ac:spMkLst>
        </pc:spChg>
        <pc:spChg chg="add mod">
          <ac:chgData name="Boone Severson" userId="1d942a2b-e0b5-491a-b49e-d500fa0ad426" providerId="ADAL" clId="{6D961F55-6F53-FE4B-8496-85B95F391181}" dt="2024-10-22T02:38:40.391" v="1471"/>
          <ac:spMkLst>
            <pc:docMk/>
            <pc:sldMk cId="1806313867" sldId="761"/>
            <ac:spMk id="20" creationId="{D44E257B-48A6-31CB-B1AC-C7E16E3BE142}"/>
          </ac:spMkLst>
        </pc:spChg>
        <pc:spChg chg="add mod">
          <ac:chgData name="Boone Severson" userId="1d942a2b-e0b5-491a-b49e-d500fa0ad426" providerId="ADAL" clId="{6D961F55-6F53-FE4B-8496-85B95F391181}" dt="2024-10-22T02:38:47.013" v="1473"/>
          <ac:spMkLst>
            <pc:docMk/>
            <pc:sldMk cId="1806313867" sldId="761"/>
            <ac:spMk id="21" creationId="{D7A36236-A099-B9F6-2F5E-44FD4AB47578}"/>
          </ac:spMkLst>
        </pc:spChg>
        <pc:picChg chg="add mod">
          <ac:chgData name="Boone Severson" userId="1d942a2b-e0b5-491a-b49e-d500fa0ad426" providerId="ADAL" clId="{6D961F55-6F53-FE4B-8496-85B95F391181}" dt="2024-10-22T02:12:11.918" v="21"/>
          <ac:picMkLst>
            <pc:docMk/>
            <pc:sldMk cId="1806313867" sldId="761"/>
            <ac:picMk id="6" creationId="{AFE057B2-C07A-EB18-2736-F55021368755}"/>
          </ac:picMkLst>
        </pc:picChg>
        <pc:picChg chg="add del mod">
          <ac:chgData name="Boone Severson" userId="1d942a2b-e0b5-491a-b49e-d500fa0ad426" providerId="ADAL" clId="{6D961F55-6F53-FE4B-8496-85B95F391181}" dt="2024-10-22T02:21:42.937" v="406" actId="21"/>
          <ac:picMkLst>
            <pc:docMk/>
            <pc:sldMk cId="1806313867" sldId="761"/>
            <ac:picMk id="8" creationId="{DAEF19A2-2DA0-B150-BEAF-2D0F66A032B0}"/>
          </ac:picMkLst>
        </pc:picChg>
        <pc:picChg chg="add mod">
          <ac:chgData name="Boone Severson" userId="1d942a2b-e0b5-491a-b49e-d500fa0ad426" providerId="ADAL" clId="{6D961F55-6F53-FE4B-8496-85B95F391181}" dt="2024-10-22T02:22:40.422" v="411" actId="167"/>
          <ac:picMkLst>
            <pc:docMk/>
            <pc:sldMk cId="1806313867" sldId="761"/>
            <ac:picMk id="19" creationId="{C940EB99-A123-6BD9-FFD6-482CD3A6FF04}"/>
          </ac:picMkLst>
        </pc:picChg>
      </pc:sldChg>
      <pc:sldChg chg="addSp delSp modSp add mod ord delAnim modAnim">
        <pc:chgData name="Boone Severson" userId="1d942a2b-e0b5-491a-b49e-d500fa0ad426" providerId="ADAL" clId="{6D961F55-6F53-FE4B-8496-85B95F391181}" dt="2024-10-22T02:38:30.689" v="1470" actId="1076"/>
        <pc:sldMkLst>
          <pc:docMk/>
          <pc:sldMk cId="3584647247" sldId="762"/>
        </pc:sldMkLst>
        <pc:spChg chg="add mod">
          <ac:chgData name="Boone Severson" userId="1d942a2b-e0b5-491a-b49e-d500fa0ad426" providerId="ADAL" clId="{6D961F55-6F53-FE4B-8496-85B95F391181}" dt="2024-10-22T02:24:05.235" v="442" actId="207"/>
          <ac:spMkLst>
            <pc:docMk/>
            <pc:sldMk cId="3584647247" sldId="762"/>
            <ac:spMk id="3" creationId="{45E4B817-3E9E-FA97-6ADE-25A519A7B898}"/>
          </ac:spMkLst>
        </pc:spChg>
        <pc:spChg chg="mod">
          <ac:chgData name="Boone Severson" userId="1d942a2b-e0b5-491a-b49e-d500fa0ad426" providerId="ADAL" clId="{6D961F55-6F53-FE4B-8496-85B95F391181}" dt="2024-10-22T02:23:35.731" v="433" actId="20577"/>
          <ac:spMkLst>
            <pc:docMk/>
            <pc:sldMk cId="3584647247" sldId="762"/>
            <ac:spMk id="9" creationId="{CC1AC3C1-1928-4B13-1BBB-344C342DD20B}"/>
          </ac:spMkLst>
        </pc:spChg>
        <pc:spChg chg="del">
          <ac:chgData name="Boone Severson" userId="1d942a2b-e0b5-491a-b49e-d500fa0ad426" providerId="ADAL" clId="{6D961F55-6F53-FE4B-8496-85B95F391181}" dt="2024-10-22T02:23:41.073" v="436" actId="478"/>
          <ac:spMkLst>
            <pc:docMk/>
            <pc:sldMk cId="3584647247" sldId="762"/>
            <ac:spMk id="13" creationId="{3EAAEA79-FFD2-7CBC-0D20-352C9397961F}"/>
          </ac:spMkLst>
        </pc:spChg>
        <pc:spChg chg="del mod">
          <ac:chgData name="Boone Severson" userId="1d942a2b-e0b5-491a-b49e-d500fa0ad426" providerId="ADAL" clId="{6D961F55-6F53-FE4B-8496-85B95F391181}" dt="2024-10-22T02:23:39.858" v="435" actId="478"/>
          <ac:spMkLst>
            <pc:docMk/>
            <pc:sldMk cId="3584647247" sldId="762"/>
            <ac:spMk id="14" creationId="{6A3CF783-A223-0EEE-E944-6D881948E950}"/>
          </ac:spMkLst>
        </pc:spChg>
        <pc:spChg chg="del">
          <ac:chgData name="Boone Severson" userId="1d942a2b-e0b5-491a-b49e-d500fa0ad426" providerId="ADAL" clId="{6D961F55-6F53-FE4B-8496-85B95F391181}" dt="2024-10-22T02:23:43.351" v="438" actId="478"/>
          <ac:spMkLst>
            <pc:docMk/>
            <pc:sldMk cId="3584647247" sldId="762"/>
            <ac:spMk id="15" creationId="{32B019F6-8CD2-7C80-10A3-695D189016E7}"/>
          </ac:spMkLst>
        </pc:spChg>
        <pc:spChg chg="mod">
          <ac:chgData name="Boone Severson" userId="1d942a2b-e0b5-491a-b49e-d500fa0ad426" providerId="ADAL" clId="{6D961F55-6F53-FE4B-8496-85B95F391181}" dt="2024-10-22T02:38:30.689" v="1470" actId="1076"/>
          <ac:spMkLst>
            <pc:docMk/>
            <pc:sldMk cId="3584647247" sldId="762"/>
            <ac:spMk id="16" creationId="{D9C3D401-A907-27EC-9813-77DCCF732C31}"/>
          </ac:spMkLst>
        </pc:spChg>
        <pc:spChg chg="del">
          <ac:chgData name="Boone Severson" userId="1d942a2b-e0b5-491a-b49e-d500fa0ad426" providerId="ADAL" clId="{6D961F55-6F53-FE4B-8496-85B95F391181}" dt="2024-10-22T02:23:42.663" v="437" actId="478"/>
          <ac:spMkLst>
            <pc:docMk/>
            <pc:sldMk cId="3584647247" sldId="762"/>
            <ac:spMk id="17" creationId="{9F256B75-238B-7434-AC8E-4FABE0801C53}"/>
          </ac:spMkLst>
        </pc:spChg>
      </pc:sldChg>
      <pc:sldChg chg="modSp new mod ord addAnim delAnim modAnim">
        <pc:chgData name="Boone Severson" userId="1d942a2b-e0b5-491a-b49e-d500fa0ad426" providerId="ADAL" clId="{6D961F55-6F53-FE4B-8496-85B95F391181}" dt="2024-10-22T04:25:58.712" v="3681"/>
        <pc:sldMkLst>
          <pc:docMk/>
          <pc:sldMk cId="2198097523" sldId="763"/>
        </pc:sldMkLst>
        <pc:spChg chg="mod">
          <ac:chgData name="Boone Severson" userId="1d942a2b-e0b5-491a-b49e-d500fa0ad426" providerId="ADAL" clId="{6D961F55-6F53-FE4B-8496-85B95F391181}" dt="2024-10-22T02:39:14.903" v="1484" actId="20577"/>
          <ac:spMkLst>
            <pc:docMk/>
            <pc:sldMk cId="2198097523" sldId="763"/>
            <ac:spMk id="2" creationId="{028C91AD-30AA-C24E-28B1-0CD7BE59E7E5}"/>
          </ac:spMkLst>
        </pc:spChg>
        <pc:spChg chg="mod">
          <ac:chgData name="Boone Severson" userId="1d942a2b-e0b5-491a-b49e-d500fa0ad426" providerId="ADAL" clId="{6D961F55-6F53-FE4B-8496-85B95F391181}" dt="2024-10-22T04:22:03.559" v="3680" actId="20577"/>
          <ac:spMkLst>
            <pc:docMk/>
            <pc:sldMk cId="2198097523" sldId="763"/>
            <ac:spMk id="3" creationId="{D323AE1D-4F3D-F256-8345-30A019323C64}"/>
          </ac:spMkLst>
        </pc:spChg>
      </pc:sldChg>
      <pc:sldChg chg="modSp add mod addAnim delAnim modAnim">
        <pc:chgData name="Boone Severson" userId="1d942a2b-e0b5-491a-b49e-d500fa0ad426" providerId="ADAL" clId="{6D961F55-6F53-FE4B-8496-85B95F391181}" dt="2024-10-22T04:31:47.650" v="3751" actId="20577"/>
        <pc:sldMkLst>
          <pc:docMk/>
          <pc:sldMk cId="986166018" sldId="764"/>
        </pc:sldMkLst>
        <pc:spChg chg="mod">
          <ac:chgData name="Boone Severson" userId="1d942a2b-e0b5-491a-b49e-d500fa0ad426" providerId="ADAL" clId="{6D961F55-6F53-FE4B-8496-85B95F391181}" dt="2024-10-22T02:39:23.397" v="1493" actId="20577"/>
          <ac:spMkLst>
            <pc:docMk/>
            <pc:sldMk cId="986166018" sldId="764"/>
            <ac:spMk id="2" creationId="{A4263A72-4586-FF7F-F1EF-537FD9B259D5}"/>
          </ac:spMkLst>
        </pc:spChg>
        <pc:spChg chg="mod">
          <ac:chgData name="Boone Severson" userId="1d942a2b-e0b5-491a-b49e-d500fa0ad426" providerId="ADAL" clId="{6D961F55-6F53-FE4B-8496-85B95F391181}" dt="2024-10-22T04:31:47.650" v="3751" actId="20577"/>
          <ac:spMkLst>
            <pc:docMk/>
            <pc:sldMk cId="986166018" sldId="764"/>
            <ac:spMk id="3" creationId="{A867D497-D83B-2B4E-4555-29D8E3883DE0}"/>
          </ac:spMkLst>
        </pc:spChg>
      </pc:sldChg>
      <pc:sldChg chg="new del">
        <pc:chgData name="Boone Severson" userId="1d942a2b-e0b5-491a-b49e-d500fa0ad426" providerId="ADAL" clId="{6D961F55-6F53-FE4B-8496-85B95F391181}" dt="2024-10-22T02:30:34.911" v="872" actId="680"/>
        <pc:sldMkLst>
          <pc:docMk/>
          <pc:sldMk cId="3652245842" sldId="764"/>
        </pc:sldMkLst>
      </pc:sldChg>
      <pc:sldChg chg="addSp delSp modSp add mod ord delAnim modAnim">
        <pc:chgData name="Boone Severson" userId="1d942a2b-e0b5-491a-b49e-d500fa0ad426" providerId="ADAL" clId="{6D961F55-6F53-FE4B-8496-85B95F391181}" dt="2024-10-22T04:36:09.047" v="3769" actId="20577"/>
        <pc:sldMkLst>
          <pc:docMk/>
          <pc:sldMk cId="3174422982" sldId="765"/>
        </pc:sldMkLst>
        <pc:spChg chg="del">
          <ac:chgData name="Boone Severson" userId="1d942a2b-e0b5-491a-b49e-d500fa0ad426" providerId="ADAL" clId="{6D961F55-6F53-FE4B-8496-85B95F391181}" dt="2024-10-22T02:41:47.903" v="1521" actId="478"/>
          <ac:spMkLst>
            <pc:docMk/>
            <pc:sldMk cId="3174422982" sldId="765"/>
            <ac:spMk id="3" creationId="{91CA504B-7F6F-ACBF-E674-9CFAD6B10F67}"/>
          </ac:spMkLst>
        </pc:spChg>
        <pc:spChg chg="add mod">
          <ac:chgData name="Boone Severson" userId="1d942a2b-e0b5-491a-b49e-d500fa0ad426" providerId="ADAL" clId="{6D961F55-6F53-FE4B-8496-85B95F391181}" dt="2024-10-22T02:57:37.295" v="1960" actId="1076"/>
          <ac:spMkLst>
            <pc:docMk/>
            <pc:sldMk cId="3174422982" sldId="765"/>
            <ac:spMk id="5" creationId="{666E7F6F-4F94-50F3-3FB4-D6642E2D21FA}"/>
          </ac:spMkLst>
        </pc:spChg>
        <pc:spChg chg="add mod">
          <ac:chgData name="Boone Severson" userId="1d942a2b-e0b5-491a-b49e-d500fa0ad426" providerId="ADAL" clId="{6D961F55-6F53-FE4B-8496-85B95F391181}" dt="2024-10-22T04:36:09.047" v="3769" actId="20577"/>
          <ac:spMkLst>
            <pc:docMk/>
            <pc:sldMk cId="3174422982" sldId="765"/>
            <ac:spMk id="6" creationId="{5611B8C8-EB2D-D5BF-D9AD-F0323D96B2D8}"/>
          </ac:spMkLst>
        </pc:spChg>
        <pc:spChg chg="mod">
          <ac:chgData name="Boone Severson" userId="1d942a2b-e0b5-491a-b49e-d500fa0ad426" providerId="ADAL" clId="{6D961F55-6F53-FE4B-8496-85B95F391181}" dt="2024-10-22T02:45:00.796" v="1668" actId="1076"/>
          <ac:spMkLst>
            <pc:docMk/>
            <pc:sldMk cId="3174422982" sldId="765"/>
            <ac:spMk id="9" creationId="{B0F578AD-2637-E516-F57A-DC2C5DD20980}"/>
          </ac:spMkLst>
        </pc:spChg>
        <pc:spChg chg="del">
          <ac:chgData name="Boone Severson" userId="1d942a2b-e0b5-491a-b49e-d500fa0ad426" providerId="ADAL" clId="{6D961F55-6F53-FE4B-8496-85B95F391181}" dt="2024-10-22T02:41:50.206" v="1522" actId="478"/>
          <ac:spMkLst>
            <pc:docMk/>
            <pc:sldMk cId="3174422982" sldId="765"/>
            <ac:spMk id="11" creationId="{88EC3A82-405D-8B80-B43B-98F8F21F5E18}"/>
          </ac:spMkLst>
        </pc:spChg>
        <pc:grpChg chg="add">
          <ac:chgData name="Boone Severson" userId="1d942a2b-e0b5-491a-b49e-d500fa0ad426" providerId="ADAL" clId="{6D961F55-6F53-FE4B-8496-85B95F391181}" dt="2024-10-22T04:35:40.555" v="3764" actId="164"/>
          <ac:grpSpMkLst>
            <pc:docMk/>
            <pc:sldMk cId="3174422982" sldId="765"/>
            <ac:grpSpMk id="22" creationId="{507DDE37-308D-2B81-A6F9-A810CA89F858}"/>
          </ac:grpSpMkLst>
        </pc:grpChg>
        <pc:picChg chg="mod">
          <ac:chgData name="Boone Severson" userId="1d942a2b-e0b5-491a-b49e-d500fa0ad426" providerId="ADAL" clId="{6D961F55-6F53-FE4B-8496-85B95F391181}" dt="2024-10-22T02:44:45.163" v="1660" actId="1038"/>
          <ac:picMkLst>
            <pc:docMk/>
            <pc:sldMk cId="3174422982" sldId="765"/>
            <ac:picMk id="19" creationId="{10818740-F31B-1C56-8569-C76644D52140}"/>
          </ac:picMkLst>
        </pc:picChg>
        <pc:cxnChg chg="add del">
          <ac:chgData name="Boone Severson" userId="1d942a2b-e0b5-491a-b49e-d500fa0ad426" providerId="ADAL" clId="{6D961F55-6F53-FE4B-8496-85B95F391181}" dt="2024-10-22T04:34:02.034" v="3753" actId="478"/>
          <ac:cxnSpMkLst>
            <pc:docMk/>
            <pc:sldMk cId="3174422982" sldId="765"/>
            <ac:cxnSpMk id="8" creationId="{B3BFEB89-36A3-1107-CE15-806B83BF4ED4}"/>
          </ac:cxnSpMkLst>
        </pc:cxnChg>
        <pc:cxnChg chg="add mod">
          <ac:chgData name="Boone Severson" userId="1d942a2b-e0b5-491a-b49e-d500fa0ad426" providerId="ADAL" clId="{6D961F55-6F53-FE4B-8496-85B95F391181}" dt="2024-10-22T04:34:31.913" v="3756" actId="693"/>
          <ac:cxnSpMkLst>
            <pc:docMk/>
            <pc:sldMk cId="3174422982" sldId="765"/>
            <ac:cxnSpMk id="12" creationId="{2CE5F65C-F74A-FA7B-C492-F1C6818DD015}"/>
          </ac:cxnSpMkLst>
        </pc:cxnChg>
        <pc:cxnChg chg="add mod">
          <ac:chgData name="Boone Severson" userId="1d942a2b-e0b5-491a-b49e-d500fa0ad426" providerId="ADAL" clId="{6D961F55-6F53-FE4B-8496-85B95F391181}" dt="2024-10-22T04:35:01.634" v="3763" actId="14100"/>
          <ac:cxnSpMkLst>
            <pc:docMk/>
            <pc:sldMk cId="3174422982" sldId="765"/>
            <ac:cxnSpMk id="13" creationId="{8B7E0CD5-9701-B765-2CE1-401E17688935}"/>
          </ac:cxnSpMkLst>
        </pc:cxnChg>
        <pc:cxnChg chg="add mod">
          <ac:chgData name="Boone Severson" userId="1d942a2b-e0b5-491a-b49e-d500fa0ad426" providerId="ADAL" clId="{6D961F55-6F53-FE4B-8496-85B95F391181}" dt="2024-10-22T04:34:57.901" v="3762" actId="14100"/>
          <ac:cxnSpMkLst>
            <pc:docMk/>
            <pc:sldMk cId="3174422982" sldId="765"/>
            <ac:cxnSpMk id="17" creationId="{B0F25361-7A58-6891-582A-3C06CA2644E1}"/>
          </ac:cxnSpMkLst>
        </pc:cxnChg>
      </pc:sldChg>
      <pc:sldChg chg="addSp delSp modSp add mod modAnim">
        <pc:chgData name="Boone Severson" userId="1d942a2b-e0b5-491a-b49e-d500fa0ad426" providerId="ADAL" clId="{6D961F55-6F53-FE4B-8496-85B95F391181}" dt="2024-10-22T02:58:46.575" v="2052" actId="20577"/>
        <pc:sldMkLst>
          <pc:docMk/>
          <pc:sldMk cId="51787117" sldId="766"/>
        </pc:sldMkLst>
        <pc:spChg chg="add mod">
          <ac:chgData name="Boone Severson" userId="1d942a2b-e0b5-491a-b49e-d500fa0ad426" providerId="ADAL" clId="{6D961F55-6F53-FE4B-8496-85B95F391181}" dt="2024-10-22T02:45:23.902" v="1672"/>
          <ac:spMkLst>
            <pc:docMk/>
            <pc:sldMk cId="51787117" sldId="766"/>
            <ac:spMk id="3" creationId="{8594C63D-65EE-B443-BAD9-A3A613E75E00}"/>
          </ac:spMkLst>
        </pc:spChg>
        <pc:spChg chg="del mod">
          <ac:chgData name="Boone Severson" userId="1d942a2b-e0b5-491a-b49e-d500fa0ad426" providerId="ADAL" clId="{6D961F55-6F53-FE4B-8496-85B95F391181}" dt="2024-10-22T02:45:12.396" v="1670" actId="478"/>
          <ac:spMkLst>
            <pc:docMk/>
            <pc:sldMk cId="51787117" sldId="766"/>
            <ac:spMk id="5" creationId="{57AF59D9-6C92-4A42-0936-EA7F63021E9C}"/>
          </ac:spMkLst>
        </pc:spChg>
        <pc:spChg chg="mod">
          <ac:chgData name="Boone Severson" userId="1d942a2b-e0b5-491a-b49e-d500fa0ad426" providerId="ADAL" clId="{6D961F55-6F53-FE4B-8496-85B95F391181}" dt="2024-10-22T02:58:46.575" v="2052" actId="20577"/>
          <ac:spMkLst>
            <pc:docMk/>
            <pc:sldMk cId="51787117" sldId="766"/>
            <ac:spMk id="6" creationId="{45F60941-4818-5FE2-5E6E-988C7DF72FF8}"/>
          </ac:spMkLst>
        </pc:spChg>
        <pc:spChg chg="add mod">
          <ac:chgData name="Boone Severson" userId="1d942a2b-e0b5-491a-b49e-d500fa0ad426" providerId="ADAL" clId="{6D961F55-6F53-FE4B-8496-85B95F391181}" dt="2024-10-22T02:57:31.399" v="1959" actId="1076"/>
          <ac:spMkLst>
            <pc:docMk/>
            <pc:sldMk cId="51787117" sldId="766"/>
            <ac:spMk id="7" creationId="{DDC5342C-C579-295E-CF69-8F25EEC0E806}"/>
          </ac:spMkLst>
        </pc:spChg>
        <pc:spChg chg="del">
          <ac:chgData name="Boone Severson" userId="1d942a2b-e0b5-491a-b49e-d500fa0ad426" providerId="ADAL" clId="{6D961F55-6F53-FE4B-8496-85B95F391181}" dt="2024-10-22T02:45:17.799" v="1671" actId="478"/>
          <ac:spMkLst>
            <pc:docMk/>
            <pc:sldMk cId="51787117" sldId="766"/>
            <ac:spMk id="9" creationId="{D1687532-B435-7614-8D0A-3B0AB8F558B8}"/>
          </ac:spMkLst>
        </pc:spChg>
        <pc:picChg chg="mod">
          <ac:chgData name="Boone Severson" userId="1d942a2b-e0b5-491a-b49e-d500fa0ad426" providerId="ADAL" clId="{6D961F55-6F53-FE4B-8496-85B95F391181}" dt="2024-10-22T02:44:49.077" v="1666" actId="1038"/>
          <ac:picMkLst>
            <pc:docMk/>
            <pc:sldMk cId="51787117" sldId="766"/>
            <ac:picMk id="19" creationId="{CF78D8A8-DC1C-CEC4-1F8A-457EDC8742F0}"/>
          </ac:picMkLst>
        </pc:picChg>
      </pc:sldChg>
      <pc:sldChg chg="addSp delSp modSp add mod delAnim modAnim">
        <pc:chgData name="Boone Severson" userId="1d942a2b-e0b5-491a-b49e-d500fa0ad426" providerId="ADAL" clId="{6D961F55-6F53-FE4B-8496-85B95F391181}" dt="2024-10-22T04:42:14.981" v="3807"/>
        <pc:sldMkLst>
          <pc:docMk/>
          <pc:sldMk cId="3533756603" sldId="767"/>
        </pc:sldMkLst>
        <pc:spChg chg="mod">
          <ac:chgData name="Boone Severson" userId="1d942a2b-e0b5-491a-b49e-d500fa0ad426" providerId="ADAL" clId="{6D961F55-6F53-FE4B-8496-85B95F391181}" dt="2024-10-22T03:01:31.032" v="2151" actId="20577"/>
          <ac:spMkLst>
            <pc:docMk/>
            <pc:sldMk cId="3533756603" sldId="767"/>
            <ac:spMk id="6" creationId="{E81CB334-696B-1A1A-2F02-FE0F058408BA}"/>
          </ac:spMkLst>
        </pc:spChg>
        <pc:spChg chg="mod">
          <ac:chgData name="Boone Severson" userId="1d942a2b-e0b5-491a-b49e-d500fa0ad426" providerId="ADAL" clId="{6D961F55-6F53-FE4B-8496-85B95F391181}" dt="2024-10-22T04:40:38.549" v="3792" actId="20577"/>
          <ac:spMkLst>
            <pc:docMk/>
            <pc:sldMk cId="3533756603" sldId="767"/>
            <ac:spMk id="7" creationId="{42D09874-B6A9-6973-1802-02881DA4EA82}"/>
          </ac:spMkLst>
        </pc:spChg>
        <pc:grpChg chg="add del mod">
          <ac:chgData name="Boone Severson" userId="1d942a2b-e0b5-491a-b49e-d500fa0ad426" providerId="ADAL" clId="{6D961F55-6F53-FE4B-8496-85B95F391181}" dt="2024-10-22T04:40:03.565" v="3772" actId="165"/>
          <ac:grpSpMkLst>
            <pc:docMk/>
            <pc:sldMk cId="3533756603" sldId="767"/>
            <ac:grpSpMk id="5" creationId="{4B6AB979-C8C6-D7E3-F27C-A19828FAA0DF}"/>
          </ac:grpSpMkLst>
        </pc:grpChg>
        <pc:cxnChg chg="mod topLvl">
          <ac:chgData name="Boone Severson" userId="1d942a2b-e0b5-491a-b49e-d500fa0ad426" providerId="ADAL" clId="{6D961F55-6F53-FE4B-8496-85B95F391181}" dt="2024-10-22T04:40:20.619" v="3776" actId="14100"/>
          <ac:cxnSpMkLst>
            <pc:docMk/>
            <pc:sldMk cId="3533756603" sldId="767"/>
            <ac:cxnSpMk id="8" creationId="{756D387D-292D-E7E9-3BD3-A565F8427CF5}"/>
          </ac:cxnSpMkLst>
        </pc:cxnChg>
        <pc:cxnChg chg="mod topLvl">
          <ac:chgData name="Boone Severson" userId="1d942a2b-e0b5-491a-b49e-d500fa0ad426" providerId="ADAL" clId="{6D961F55-6F53-FE4B-8496-85B95F391181}" dt="2024-10-22T04:40:10.081" v="3774" actId="1076"/>
          <ac:cxnSpMkLst>
            <pc:docMk/>
            <pc:sldMk cId="3533756603" sldId="767"/>
            <ac:cxnSpMk id="9" creationId="{ACA56755-D265-2652-F13B-7A40947F1747}"/>
          </ac:cxnSpMkLst>
        </pc:cxnChg>
        <pc:cxnChg chg="mod topLvl">
          <ac:chgData name="Boone Severson" userId="1d942a2b-e0b5-491a-b49e-d500fa0ad426" providerId="ADAL" clId="{6D961F55-6F53-FE4B-8496-85B95F391181}" dt="2024-10-22T04:40:15.586" v="3775" actId="14100"/>
          <ac:cxnSpMkLst>
            <pc:docMk/>
            <pc:sldMk cId="3533756603" sldId="767"/>
            <ac:cxnSpMk id="10" creationId="{E3495D10-7339-8758-2E46-309738226E3B}"/>
          </ac:cxnSpMkLst>
        </pc:cxnChg>
        <pc:cxnChg chg="add mod">
          <ac:chgData name="Boone Severson" userId="1d942a2b-e0b5-491a-b49e-d500fa0ad426" providerId="ADAL" clId="{6D961F55-6F53-FE4B-8496-85B95F391181}" dt="2024-10-22T04:41:21.758" v="3795" actId="14100"/>
          <ac:cxnSpMkLst>
            <pc:docMk/>
            <pc:sldMk cId="3533756603" sldId="767"/>
            <ac:cxnSpMk id="17" creationId="{8696F474-2783-3BEB-8EC1-85B279A3D5AB}"/>
          </ac:cxnSpMkLst>
        </pc:cxnChg>
        <pc:cxnChg chg="add mod">
          <ac:chgData name="Boone Severson" userId="1d942a2b-e0b5-491a-b49e-d500fa0ad426" providerId="ADAL" clId="{6D961F55-6F53-FE4B-8496-85B95F391181}" dt="2024-10-22T04:41:30.564" v="3798" actId="14100"/>
          <ac:cxnSpMkLst>
            <pc:docMk/>
            <pc:sldMk cId="3533756603" sldId="767"/>
            <ac:cxnSpMk id="20" creationId="{6E0F042D-4326-9BE7-25CB-C814660F7996}"/>
          </ac:cxnSpMkLst>
        </pc:cxnChg>
        <pc:cxnChg chg="add mod">
          <ac:chgData name="Boone Severson" userId="1d942a2b-e0b5-491a-b49e-d500fa0ad426" providerId="ADAL" clId="{6D961F55-6F53-FE4B-8496-85B95F391181}" dt="2024-10-22T04:41:39.004" v="3801" actId="14100"/>
          <ac:cxnSpMkLst>
            <pc:docMk/>
            <pc:sldMk cId="3533756603" sldId="767"/>
            <ac:cxnSpMk id="23" creationId="{154E596E-A0EE-564C-03B3-E1B288064F61}"/>
          </ac:cxnSpMkLst>
        </pc:cxnChg>
        <pc:cxnChg chg="add mod">
          <ac:chgData name="Boone Severson" userId="1d942a2b-e0b5-491a-b49e-d500fa0ad426" providerId="ADAL" clId="{6D961F55-6F53-FE4B-8496-85B95F391181}" dt="2024-10-22T04:41:48.656" v="3804" actId="14100"/>
          <ac:cxnSpMkLst>
            <pc:docMk/>
            <pc:sldMk cId="3533756603" sldId="767"/>
            <ac:cxnSpMk id="25" creationId="{0A5B5467-FD37-7854-53E5-AD5BB394BB1F}"/>
          </ac:cxnSpMkLst>
        </pc:cxnChg>
      </pc:sldChg>
      <pc:sldChg chg="addSp delSp modSp new mod">
        <pc:chgData name="Boone Severson" userId="1d942a2b-e0b5-491a-b49e-d500fa0ad426" providerId="ADAL" clId="{6D961F55-6F53-FE4B-8496-85B95F391181}" dt="2024-10-22T03:11:57.916" v="2771" actId="20577"/>
        <pc:sldMkLst>
          <pc:docMk/>
          <pc:sldMk cId="741061466" sldId="768"/>
        </pc:sldMkLst>
        <pc:spChg chg="mod">
          <ac:chgData name="Boone Severson" userId="1d942a2b-e0b5-491a-b49e-d500fa0ad426" providerId="ADAL" clId="{6D961F55-6F53-FE4B-8496-85B95F391181}" dt="2024-10-22T03:03:07.779" v="2169" actId="20577"/>
          <ac:spMkLst>
            <pc:docMk/>
            <pc:sldMk cId="741061466" sldId="768"/>
            <ac:spMk id="2" creationId="{7074E60B-94F3-DBBC-EF56-155B664B1E33}"/>
          </ac:spMkLst>
        </pc:spChg>
        <pc:spChg chg="mod">
          <ac:chgData name="Boone Severson" userId="1d942a2b-e0b5-491a-b49e-d500fa0ad426" providerId="ADAL" clId="{6D961F55-6F53-FE4B-8496-85B95F391181}" dt="2024-10-22T03:11:57.916" v="2771" actId="20577"/>
          <ac:spMkLst>
            <pc:docMk/>
            <pc:sldMk cId="741061466" sldId="768"/>
            <ac:spMk id="3" creationId="{71822CA4-BA41-0A4E-D3CD-8F36BD919E7C}"/>
          </ac:spMkLst>
        </pc:spChg>
        <pc:spChg chg="add del mod">
          <ac:chgData name="Boone Severson" userId="1d942a2b-e0b5-491a-b49e-d500fa0ad426" providerId="ADAL" clId="{6D961F55-6F53-FE4B-8496-85B95F391181}" dt="2024-10-22T03:05:40.572" v="2274" actId="478"/>
          <ac:spMkLst>
            <pc:docMk/>
            <pc:sldMk cId="741061466" sldId="768"/>
            <ac:spMk id="6" creationId="{BB27730A-A946-A2E3-A5FC-DF5B6279BBC5}"/>
          </ac:spMkLst>
        </pc:spChg>
        <pc:spChg chg="add del mod">
          <ac:chgData name="Boone Severson" userId="1d942a2b-e0b5-491a-b49e-d500fa0ad426" providerId="ADAL" clId="{6D961F55-6F53-FE4B-8496-85B95F391181}" dt="2024-10-22T03:06:22.149" v="2281" actId="478"/>
          <ac:spMkLst>
            <pc:docMk/>
            <pc:sldMk cId="741061466" sldId="768"/>
            <ac:spMk id="7" creationId="{07242BD1-A386-33D9-1AD6-983DE0833BFA}"/>
          </ac:spMkLst>
        </pc:spChg>
        <pc:graphicFrameChg chg="add del mod modGraphic">
          <ac:chgData name="Boone Severson" userId="1d942a2b-e0b5-491a-b49e-d500fa0ad426" providerId="ADAL" clId="{6D961F55-6F53-FE4B-8496-85B95F391181}" dt="2024-10-22T03:06:20.694" v="2280" actId="478"/>
          <ac:graphicFrameMkLst>
            <pc:docMk/>
            <pc:sldMk cId="741061466" sldId="768"/>
            <ac:graphicFrameMk id="5" creationId="{6F74E78F-881F-3829-C5F6-3E219C79FE2A}"/>
          </ac:graphicFrameMkLst>
        </pc:graphicFrameChg>
      </pc:sldChg>
      <pc:sldChg chg="modSp new mod">
        <pc:chgData name="Boone Severson" userId="1d942a2b-e0b5-491a-b49e-d500fa0ad426" providerId="ADAL" clId="{6D961F55-6F53-FE4B-8496-85B95F391181}" dt="2024-10-22T04:58:36.241" v="3972" actId="20577"/>
        <pc:sldMkLst>
          <pc:docMk/>
          <pc:sldMk cId="1421740646" sldId="769"/>
        </pc:sldMkLst>
        <pc:spChg chg="mod">
          <ac:chgData name="Boone Severson" userId="1d942a2b-e0b5-491a-b49e-d500fa0ad426" providerId="ADAL" clId="{6D961F55-6F53-FE4B-8496-85B95F391181}" dt="2024-10-22T04:48:48.808" v="3833" actId="20577"/>
          <ac:spMkLst>
            <pc:docMk/>
            <pc:sldMk cId="1421740646" sldId="769"/>
            <ac:spMk id="2" creationId="{37392211-5096-0805-9DF0-A26F40D28B39}"/>
          </ac:spMkLst>
        </pc:spChg>
        <pc:spChg chg="mod">
          <ac:chgData name="Boone Severson" userId="1d942a2b-e0b5-491a-b49e-d500fa0ad426" providerId="ADAL" clId="{6D961F55-6F53-FE4B-8496-85B95F391181}" dt="2024-10-22T04:58:36.241" v="3972" actId="20577"/>
          <ac:spMkLst>
            <pc:docMk/>
            <pc:sldMk cId="1421740646" sldId="769"/>
            <ac:spMk id="3" creationId="{11CBDD6A-C5F4-3EB1-E672-0DD4982660C6}"/>
          </ac:spMkLst>
        </pc:spChg>
      </pc:sldChg>
      <pc:sldChg chg="add">
        <pc:chgData name="Boone Severson" userId="1d942a2b-e0b5-491a-b49e-d500fa0ad426" providerId="ADAL" clId="{6D961F55-6F53-FE4B-8496-85B95F391181}" dt="2024-10-22T17:49:38.298" v="3973"/>
        <pc:sldMkLst>
          <pc:docMk/>
          <pc:sldMk cId="426151834" sldId="77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67038" cy="468313"/>
          </a:xfrm>
          <a:prstGeom prst="rect">
            <a:avLst/>
          </a:prstGeom>
          <a:noFill/>
          <a:ln w="12700">
            <a:noFill/>
            <a:miter lim="800000"/>
            <a:headEnd type="none" w="sm" len="sm"/>
            <a:tailEnd type="none" w="sm" len="sm"/>
          </a:ln>
          <a:effectLst/>
        </p:spPr>
        <p:txBody>
          <a:bodyPr vert="horz" wrap="square" lIns="93502" tIns="46751" rIns="93502" bIns="46751" numCol="1" anchor="t" anchorCtr="0" compatLnSpc="1">
            <a:prstTxWarp prst="textNoShape">
              <a:avLst/>
            </a:prstTxWarp>
          </a:bodyPr>
          <a:lstStyle>
            <a:lvl1pPr defTabSz="935038" eaLnBrk="0" hangingPunct="0">
              <a:defRPr sz="1200" smtClean="0"/>
            </a:lvl1pPr>
          </a:lstStyle>
          <a:p>
            <a:pPr>
              <a:defRPr/>
            </a:pPr>
            <a:endParaRPr lang="en-US"/>
          </a:p>
        </p:txBody>
      </p:sp>
      <p:sp>
        <p:nvSpPr>
          <p:cNvPr id="15363" name="Rectangle 3"/>
          <p:cNvSpPr>
            <a:spLocks noGrp="1" noChangeArrowheads="1"/>
          </p:cNvSpPr>
          <p:nvPr>
            <p:ph type="dt" sz="quarter" idx="1"/>
          </p:nvPr>
        </p:nvSpPr>
        <p:spPr bwMode="auto">
          <a:xfrm>
            <a:off x="3878263" y="0"/>
            <a:ext cx="2967037" cy="468313"/>
          </a:xfrm>
          <a:prstGeom prst="rect">
            <a:avLst/>
          </a:prstGeom>
          <a:noFill/>
          <a:ln w="12700">
            <a:noFill/>
            <a:miter lim="800000"/>
            <a:headEnd type="none" w="sm" len="sm"/>
            <a:tailEnd type="none" w="sm" len="sm"/>
          </a:ln>
          <a:effectLst/>
        </p:spPr>
        <p:txBody>
          <a:bodyPr vert="horz" wrap="square" lIns="93502" tIns="46751" rIns="93502" bIns="46751" numCol="1" anchor="t" anchorCtr="0" compatLnSpc="1">
            <a:prstTxWarp prst="textNoShape">
              <a:avLst/>
            </a:prstTxWarp>
          </a:bodyPr>
          <a:lstStyle>
            <a:lvl1pPr algn="r" defTabSz="935038" eaLnBrk="0" hangingPunct="0">
              <a:defRPr sz="1200" smtClean="0"/>
            </a:lvl1pPr>
          </a:lstStyle>
          <a:p>
            <a:pPr>
              <a:defRPr/>
            </a:pPr>
            <a:endParaRPr lang="en-US"/>
          </a:p>
        </p:txBody>
      </p:sp>
      <p:sp>
        <p:nvSpPr>
          <p:cNvPr id="15364" name="Rectangle 4"/>
          <p:cNvSpPr>
            <a:spLocks noGrp="1" noChangeArrowheads="1"/>
          </p:cNvSpPr>
          <p:nvPr>
            <p:ph type="ftr" sz="quarter" idx="2"/>
          </p:nvPr>
        </p:nvSpPr>
        <p:spPr bwMode="auto">
          <a:xfrm>
            <a:off x="0" y="8928100"/>
            <a:ext cx="2967038" cy="468313"/>
          </a:xfrm>
          <a:prstGeom prst="rect">
            <a:avLst/>
          </a:prstGeom>
          <a:noFill/>
          <a:ln w="12700">
            <a:noFill/>
            <a:miter lim="800000"/>
            <a:headEnd type="none" w="sm" len="sm"/>
            <a:tailEnd type="none" w="sm" len="sm"/>
          </a:ln>
          <a:effectLst/>
        </p:spPr>
        <p:txBody>
          <a:bodyPr vert="horz" wrap="square" lIns="93502" tIns="46751" rIns="93502" bIns="46751" numCol="1" anchor="b" anchorCtr="0" compatLnSpc="1">
            <a:prstTxWarp prst="textNoShape">
              <a:avLst/>
            </a:prstTxWarp>
          </a:bodyPr>
          <a:lstStyle>
            <a:lvl1pPr defTabSz="935038" eaLnBrk="0" hangingPunct="0">
              <a:defRPr sz="1200" smtClean="0"/>
            </a:lvl1pPr>
          </a:lstStyle>
          <a:p>
            <a:pPr>
              <a:defRPr/>
            </a:pPr>
            <a:r>
              <a:rPr lang="en-US"/>
              <a:t>CS/ECE 552: Introduction To Computer Architecture</a:t>
            </a:r>
          </a:p>
        </p:txBody>
      </p:sp>
      <p:sp>
        <p:nvSpPr>
          <p:cNvPr id="15365" name="Rectangle 5"/>
          <p:cNvSpPr>
            <a:spLocks noGrp="1" noChangeArrowheads="1"/>
          </p:cNvSpPr>
          <p:nvPr>
            <p:ph type="sldNum" sz="quarter" idx="3"/>
          </p:nvPr>
        </p:nvSpPr>
        <p:spPr bwMode="auto">
          <a:xfrm>
            <a:off x="3878263" y="8928100"/>
            <a:ext cx="2967037" cy="468313"/>
          </a:xfrm>
          <a:prstGeom prst="rect">
            <a:avLst/>
          </a:prstGeom>
          <a:noFill/>
          <a:ln w="12700">
            <a:noFill/>
            <a:miter lim="800000"/>
            <a:headEnd type="none" w="sm" len="sm"/>
            <a:tailEnd type="none" w="sm" len="sm"/>
          </a:ln>
          <a:effectLst/>
        </p:spPr>
        <p:txBody>
          <a:bodyPr vert="horz" wrap="square" lIns="93502" tIns="46751" rIns="93502" bIns="46751" numCol="1" anchor="b" anchorCtr="0" compatLnSpc="1">
            <a:prstTxWarp prst="textNoShape">
              <a:avLst/>
            </a:prstTxWarp>
          </a:bodyPr>
          <a:lstStyle>
            <a:lvl1pPr algn="r" defTabSz="935038" eaLnBrk="0" hangingPunct="0">
              <a:defRPr sz="1200"/>
            </a:lvl1pPr>
          </a:lstStyle>
          <a:p>
            <a:fld id="{A83ACFC1-9505-4A40-9977-AABD7496088F}" type="slidenum">
              <a:rPr lang="en-US" altLang="en-US"/>
              <a:pPr/>
              <a:t>‹#›</a:t>
            </a:fld>
            <a:endParaRPr lang="en-US" altLang="en-US"/>
          </a:p>
        </p:txBody>
      </p:sp>
    </p:spTree>
    <p:extLst>
      <p:ext uri="{BB962C8B-B14F-4D97-AF65-F5344CB8AC3E}">
        <p14:creationId xmlns:p14="http://schemas.microsoft.com/office/powerpoint/2010/main" val="22080750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967038" cy="468313"/>
          </a:xfrm>
          <a:prstGeom prst="rect">
            <a:avLst/>
          </a:prstGeom>
          <a:noFill/>
          <a:ln w="12700">
            <a:noFill/>
            <a:miter lim="800000"/>
            <a:headEnd type="none" w="sm" len="sm"/>
            <a:tailEnd type="none" w="sm" len="sm"/>
          </a:ln>
          <a:effectLst/>
        </p:spPr>
        <p:txBody>
          <a:bodyPr vert="horz" wrap="square" lIns="93502" tIns="46751" rIns="93502" bIns="46751" numCol="1" anchor="t" anchorCtr="0" compatLnSpc="1">
            <a:prstTxWarp prst="textNoShape">
              <a:avLst/>
            </a:prstTxWarp>
          </a:bodyPr>
          <a:lstStyle>
            <a:lvl1pPr defTabSz="935038" eaLnBrk="0" hangingPunct="0">
              <a:defRPr sz="1200" smtClean="0"/>
            </a:lvl1pPr>
          </a:lstStyle>
          <a:p>
            <a:pPr>
              <a:defRPr/>
            </a:pPr>
            <a:endParaRPr lang="en-US"/>
          </a:p>
        </p:txBody>
      </p:sp>
      <p:sp>
        <p:nvSpPr>
          <p:cNvPr id="17411" name="Rectangle 3"/>
          <p:cNvSpPr>
            <a:spLocks noGrp="1" noChangeArrowheads="1"/>
          </p:cNvSpPr>
          <p:nvPr>
            <p:ph type="dt" idx="1"/>
          </p:nvPr>
        </p:nvSpPr>
        <p:spPr bwMode="auto">
          <a:xfrm>
            <a:off x="3878263" y="0"/>
            <a:ext cx="2967037" cy="468313"/>
          </a:xfrm>
          <a:prstGeom prst="rect">
            <a:avLst/>
          </a:prstGeom>
          <a:noFill/>
          <a:ln w="12700">
            <a:noFill/>
            <a:miter lim="800000"/>
            <a:headEnd type="none" w="sm" len="sm"/>
            <a:tailEnd type="none" w="sm" len="sm"/>
          </a:ln>
          <a:effectLst/>
        </p:spPr>
        <p:txBody>
          <a:bodyPr vert="horz" wrap="square" lIns="93502" tIns="46751" rIns="93502" bIns="46751" numCol="1" anchor="t" anchorCtr="0" compatLnSpc="1">
            <a:prstTxWarp prst="textNoShape">
              <a:avLst/>
            </a:prstTxWarp>
          </a:bodyPr>
          <a:lstStyle>
            <a:lvl1pPr algn="r" defTabSz="935038" eaLnBrk="0" hangingPunct="0">
              <a:defRPr sz="1200" smtClean="0"/>
            </a:lvl1pPr>
          </a:lstStyle>
          <a:p>
            <a:pPr>
              <a:defRPr/>
            </a:pPr>
            <a:endParaRPr lang="en-US"/>
          </a:p>
        </p:txBody>
      </p:sp>
      <p:sp>
        <p:nvSpPr>
          <p:cNvPr id="77828" name="Rectangle 4"/>
          <p:cNvSpPr>
            <a:spLocks noGrp="1" noRot="1" noChangeAspect="1" noChangeArrowheads="1" noTextEdit="1"/>
          </p:cNvSpPr>
          <p:nvPr>
            <p:ph type="sldImg" idx="2"/>
          </p:nvPr>
        </p:nvSpPr>
        <p:spPr bwMode="auto">
          <a:xfrm>
            <a:off x="1074738" y="706438"/>
            <a:ext cx="4694237" cy="3521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3" name="Rectangle 5"/>
          <p:cNvSpPr>
            <a:spLocks noGrp="1" noChangeArrowheads="1"/>
          </p:cNvSpPr>
          <p:nvPr>
            <p:ph type="body" sz="quarter" idx="3"/>
          </p:nvPr>
        </p:nvSpPr>
        <p:spPr bwMode="auto">
          <a:xfrm>
            <a:off x="912813" y="4464050"/>
            <a:ext cx="5019675" cy="4225925"/>
          </a:xfrm>
          <a:prstGeom prst="rect">
            <a:avLst/>
          </a:prstGeom>
          <a:noFill/>
          <a:ln w="12700">
            <a:noFill/>
            <a:miter lim="800000"/>
            <a:headEnd type="none" w="sm" len="sm"/>
            <a:tailEnd type="none" w="sm" len="sm"/>
          </a:ln>
          <a:effectLst/>
        </p:spPr>
        <p:txBody>
          <a:bodyPr vert="horz" wrap="square" lIns="93502" tIns="46751" rIns="93502" bIns="4675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414" name="Rectangle 6"/>
          <p:cNvSpPr>
            <a:spLocks noGrp="1" noChangeArrowheads="1"/>
          </p:cNvSpPr>
          <p:nvPr>
            <p:ph type="ftr" sz="quarter" idx="4"/>
          </p:nvPr>
        </p:nvSpPr>
        <p:spPr bwMode="auto">
          <a:xfrm>
            <a:off x="0" y="8928100"/>
            <a:ext cx="2967038" cy="468313"/>
          </a:xfrm>
          <a:prstGeom prst="rect">
            <a:avLst/>
          </a:prstGeom>
          <a:noFill/>
          <a:ln w="12700">
            <a:noFill/>
            <a:miter lim="800000"/>
            <a:headEnd type="none" w="sm" len="sm"/>
            <a:tailEnd type="none" w="sm" len="sm"/>
          </a:ln>
          <a:effectLst/>
        </p:spPr>
        <p:txBody>
          <a:bodyPr vert="horz" wrap="square" lIns="93502" tIns="46751" rIns="93502" bIns="46751" numCol="1" anchor="b" anchorCtr="0" compatLnSpc="1">
            <a:prstTxWarp prst="textNoShape">
              <a:avLst/>
            </a:prstTxWarp>
          </a:bodyPr>
          <a:lstStyle>
            <a:lvl1pPr defTabSz="935038" eaLnBrk="0" hangingPunct="0">
              <a:defRPr sz="1200" smtClean="0"/>
            </a:lvl1pPr>
          </a:lstStyle>
          <a:p>
            <a:pPr>
              <a:defRPr/>
            </a:pPr>
            <a:endParaRPr lang="en-US"/>
          </a:p>
        </p:txBody>
      </p:sp>
      <p:sp>
        <p:nvSpPr>
          <p:cNvPr id="17415" name="Rectangle 7"/>
          <p:cNvSpPr>
            <a:spLocks noGrp="1" noChangeArrowheads="1"/>
          </p:cNvSpPr>
          <p:nvPr>
            <p:ph type="sldNum" sz="quarter" idx="5"/>
          </p:nvPr>
        </p:nvSpPr>
        <p:spPr bwMode="auto">
          <a:xfrm>
            <a:off x="3878263" y="8928100"/>
            <a:ext cx="2967037" cy="468313"/>
          </a:xfrm>
          <a:prstGeom prst="rect">
            <a:avLst/>
          </a:prstGeom>
          <a:noFill/>
          <a:ln w="12700">
            <a:noFill/>
            <a:miter lim="800000"/>
            <a:headEnd type="none" w="sm" len="sm"/>
            <a:tailEnd type="none" w="sm" len="sm"/>
          </a:ln>
          <a:effectLst/>
        </p:spPr>
        <p:txBody>
          <a:bodyPr vert="horz" wrap="square" lIns="93502" tIns="46751" rIns="93502" bIns="46751" numCol="1" anchor="b" anchorCtr="0" compatLnSpc="1">
            <a:prstTxWarp prst="textNoShape">
              <a:avLst/>
            </a:prstTxWarp>
          </a:bodyPr>
          <a:lstStyle>
            <a:lvl1pPr algn="r" defTabSz="935038" eaLnBrk="0" hangingPunct="0">
              <a:defRPr sz="1200"/>
            </a:lvl1pPr>
          </a:lstStyle>
          <a:p>
            <a:fld id="{BD4F155C-6C9D-4ED5-8550-5376FDF284CA}" type="slidenum">
              <a:rPr lang="en-US" altLang="en-US"/>
              <a:pPr/>
              <a:t>‹#›</a:t>
            </a:fld>
            <a:endParaRPr lang="en-US" altLang="en-US"/>
          </a:p>
        </p:txBody>
      </p:sp>
    </p:spTree>
    <p:extLst>
      <p:ext uri="{BB962C8B-B14F-4D97-AF65-F5344CB8AC3E}">
        <p14:creationId xmlns:p14="http://schemas.microsoft.com/office/powerpoint/2010/main" val="239073895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2</a:t>
            </a:fld>
            <a:endParaRPr lang="en-US" altLang="en-US"/>
          </a:p>
        </p:txBody>
      </p:sp>
    </p:spTree>
    <p:extLst>
      <p:ext uri="{BB962C8B-B14F-4D97-AF65-F5344CB8AC3E}">
        <p14:creationId xmlns:p14="http://schemas.microsoft.com/office/powerpoint/2010/main" val="35884256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4F155C-6C9D-4ED5-8550-5376FDF284CA}" type="slidenum">
              <a:rPr lang="en-US" altLang="en-US" smtClean="0"/>
              <a:pPr/>
              <a:t>11</a:t>
            </a:fld>
            <a:endParaRPr lang="en-US" altLang="en-US"/>
          </a:p>
        </p:txBody>
      </p:sp>
    </p:spTree>
    <p:extLst>
      <p:ext uri="{BB962C8B-B14F-4D97-AF65-F5344CB8AC3E}">
        <p14:creationId xmlns:p14="http://schemas.microsoft.com/office/powerpoint/2010/main" val="3036444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4F155C-6C9D-4ED5-8550-5376FDF284CA}" type="slidenum">
              <a:rPr lang="en-US" altLang="en-US" smtClean="0"/>
              <a:pPr/>
              <a:t>12</a:t>
            </a:fld>
            <a:endParaRPr lang="en-US" altLang="en-US"/>
          </a:p>
        </p:txBody>
      </p:sp>
    </p:spTree>
    <p:extLst>
      <p:ext uri="{BB962C8B-B14F-4D97-AF65-F5344CB8AC3E}">
        <p14:creationId xmlns:p14="http://schemas.microsoft.com/office/powerpoint/2010/main" val="1693740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78CBF-DD67-D0ED-A5D8-37154DE191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EF3BD3-70EB-0A40-4DEE-76CC30A632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583B15-13BF-AF91-A7EE-9BC03E6DFB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01ED70-A974-8020-A0F8-BC79B497924C}"/>
              </a:ext>
            </a:extLst>
          </p:cNvPr>
          <p:cNvSpPr>
            <a:spLocks noGrp="1"/>
          </p:cNvSpPr>
          <p:nvPr>
            <p:ph type="sldNum" sz="quarter" idx="5"/>
          </p:nvPr>
        </p:nvSpPr>
        <p:spPr/>
        <p:txBody>
          <a:bodyPr/>
          <a:lstStyle/>
          <a:p>
            <a:fld id="{BD4F155C-6C9D-4ED5-8550-5376FDF284CA}" type="slidenum">
              <a:rPr lang="en-US" altLang="en-US" smtClean="0"/>
              <a:pPr/>
              <a:t>21</a:t>
            </a:fld>
            <a:endParaRPr lang="en-US" altLang="en-US"/>
          </a:p>
        </p:txBody>
      </p:sp>
    </p:spTree>
    <p:extLst>
      <p:ext uri="{BB962C8B-B14F-4D97-AF65-F5344CB8AC3E}">
        <p14:creationId xmlns:p14="http://schemas.microsoft.com/office/powerpoint/2010/main" val="27347800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4F155C-6C9D-4ED5-8550-5376FDF284CA}" type="slidenum">
              <a:rPr lang="en-US" altLang="en-US" smtClean="0"/>
              <a:pPr/>
              <a:t>23</a:t>
            </a:fld>
            <a:endParaRPr lang="en-US" altLang="en-US"/>
          </a:p>
        </p:txBody>
      </p:sp>
    </p:spTree>
    <p:extLst>
      <p:ext uri="{BB962C8B-B14F-4D97-AF65-F5344CB8AC3E}">
        <p14:creationId xmlns:p14="http://schemas.microsoft.com/office/powerpoint/2010/main" val="35957974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D38CB-B461-7607-8045-82B481BD69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749830-39FD-5D47-8DDC-76EE085AB3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DF071D-4F85-BB89-A783-93AF268621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D680F0-64FD-CA39-22D6-E90EB610385E}"/>
              </a:ext>
            </a:extLst>
          </p:cNvPr>
          <p:cNvSpPr>
            <a:spLocks noGrp="1"/>
          </p:cNvSpPr>
          <p:nvPr>
            <p:ph type="sldNum" sz="quarter" idx="5"/>
          </p:nvPr>
        </p:nvSpPr>
        <p:spPr/>
        <p:txBody>
          <a:bodyPr/>
          <a:lstStyle/>
          <a:p>
            <a:fld id="{BD4F155C-6C9D-4ED5-8550-5376FDF284CA}" type="slidenum">
              <a:rPr lang="en-US" altLang="en-US" smtClean="0"/>
              <a:pPr/>
              <a:t>25</a:t>
            </a:fld>
            <a:endParaRPr lang="en-US" altLang="en-US"/>
          </a:p>
        </p:txBody>
      </p:sp>
    </p:spTree>
    <p:extLst>
      <p:ext uri="{BB962C8B-B14F-4D97-AF65-F5344CB8AC3E}">
        <p14:creationId xmlns:p14="http://schemas.microsoft.com/office/powerpoint/2010/main" val="42353107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1DFE7-97CA-A2D0-2478-998CFFA216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F61C7A-CD33-48D6-D2A8-73997EC594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4D81FE-E416-0732-701A-E92DC5B35B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2C3376-AFC2-C11B-5BD6-92D90C9E061A}"/>
              </a:ext>
            </a:extLst>
          </p:cNvPr>
          <p:cNvSpPr>
            <a:spLocks noGrp="1"/>
          </p:cNvSpPr>
          <p:nvPr>
            <p:ph type="sldNum" sz="quarter" idx="5"/>
          </p:nvPr>
        </p:nvSpPr>
        <p:spPr/>
        <p:txBody>
          <a:bodyPr/>
          <a:lstStyle/>
          <a:p>
            <a:fld id="{BD4F155C-6C9D-4ED5-8550-5376FDF284CA}" type="slidenum">
              <a:rPr lang="en-US" altLang="en-US" smtClean="0"/>
              <a:pPr/>
              <a:t>26</a:t>
            </a:fld>
            <a:endParaRPr lang="en-US" altLang="en-US"/>
          </a:p>
        </p:txBody>
      </p:sp>
    </p:spTree>
    <p:extLst>
      <p:ext uri="{BB962C8B-B14F-4D97-AF65-F5344CB8AC3E}">
        <p14:creationId xmlns:p14="http://schemas.microsoft.com/office/powerpoint/2010/main" val="33971057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8833D-8804-09DE-D9E0-345311B7A8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11008D-4C28-58C0-16D0-A961C84F56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FAE93B-5D42-D1FC-6296-B7E6DA625C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D634F4-A30C-8D48-1B89-A8CA188C4A7C}"/>
              </a:ext>
            </a:extLst>
          </p:cNvPr>
          <p:cNvSpPr>
            <a:spLocks noGrp="1"/>
          </p:cNvSpPr>
          <p:nvPr>
            <p:ph type="sldNum" sz="quarter" idx="5"/>
          </p:nvPr>
        </p:nvSpPr>
        <p:spPr/>
        <p:txBody>
          <a:bodyPr/>
          <a:lstStyle/>
          <a:p>
            <a:fld id="{BD4F155C-6C9D-4ED5-8550-5376FDF284CA}" type="slidenum">
              <a:rPr lang="en-US" altLang="en-US" smtClean="0"/>
              <a:pPr/>
              <a:t>27</a:t>
            </a:fld>
            <a:endParaRPr lang="en-US" altLang="en-US"/>
          </a:p>
        </p:txBody>
      </p:sp>
    </p:spTree>
    <p:extLst>
      <p:ext uri="{BB962C8B-B14F-4D97-AF65-F5344CB8AC3E}">
        <p14:creationId xmlns:p14="http://schemas.microsoft.com/office/powerpoint/2010/main" val="23491920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362200"/>
            <a:ext cx="7772400" cy="1238250"/>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2pPr lvl="1">
              <a:defRPr/>
            </a:lvl2pPr>
          </a:lstStyle>
          <a:p>
            <a:pPr lvl="1"/>
            <a:fld id="{75A2B101-C660-424C-9ADC-11231547BD22}" type="slidenum">
              <a:rPr lang="en-US" altLang="en-US" smtClean="0"/>
              <a:pPr lvl="1"/>
              <a:t>‹#›</a:t>
            </a:fld>
            <a:endParaRPr lang="en-US" altLang="en-US"/>
          </a:p>
        </p:txBody>
      </p:sp>
      <p:pic>
        <p:nvPicPr>
          <p:cNvPr id="7" name="Picture 6" descr="LOGO_200"/>
          <p:cNvPicPr>
            <a:picLocks noChangeAspect="1" noChangeArrowheads="1"/>
          </p:cNvPicPr>
          <p:nvPr/>
        </p:nvPicPr>
        <p:blipFill>
          <a:blip r:embed="rId2" cstate="print"/>
          <a:srcRect/>
          <a:stretch>
            <a:fillRect/>
          </a:stretch>
        </p:blipFill>
        <p:spPr bwMode="auto">
          <a:xfrm>
            <a:off x="3276600" y="228600"/>
            <a:ext cx="2286000" cy="2286000"/>
          </a:xfrm>
          <a:prstGeom prst="rect">
            <a:avLst/>
          </a:prstGeom>
          <a:noFill/>
          <a:ln w="9525">
            <a:noFill/>
            <a:miter lim="800000"/>
            <a:headEnd/>
            <a:tailEnd/>
          </a:ln>
        </p:spPr>
      </p:pic>
      <p:pic>
        <p:nvPicPr>
          <p:cNvPr id="8" name="Picture 7" descr="LOGO_200"/>
          <p:cNvPicPr>
            <a:picLocks noChangeAspect="1" noChangeArrowheads="1"/>
          </p:cNvPicPr>
          <p:nvPr/>
        </p:nvPicPr>
        <p:blipFill>
          <a:blip r:embed="rId2" cstate="print"/>
          <a:srcRect/>
          <a:stretch>
            <a:fillRect/>
          </a:stretch>
        </p:blipFill>
        <p:spPr bwMode="auto">
          <a:xfrm>
            <a:off x="3276600" y="228600"/>
            <a:ext cx="2286000" cy="2286000"/>
          </a:xfrm>
          <a:prstGeom prst="rect">
            <a:avLst/>
          </a:prstGeom>
          <a:noFill/>
          <a:ln w="9525">
            <a:noFill/>
            <a:miter lim="800000"/>
            <a:headEnd/>
            <a:tailEnd/>
          </a:ln>
        </p:spPr>
      </p:pic>
    </p:spTree>
    <p:extLst>
      <p:ext uri="{BB962C8B-B14F-4D97-AF65-F5344CB8AC3E}">
        <p14:creationId xmlns:p14="http://schemas.microsoft.com/office/powerpoint/2010/main" val="2955101467"/>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2pPr lvl="1">
              <a:defRPr/>
            </a:lvl2pPr>
          </a:lstStyle>
          <a:p>
            <a:pPr lvl="1"/>
            <a:fld id="{35B60D93-CC8C-4BE3-8466-59E10CB9DAB3}" type="slidenum">
              <a:rPr lang="en-US" altLang="en-US" smtClean="0"/>
              <a:pPr lvl="1"/>
              <a:t>‹#›</a:t>
            </a:fld>
            <a:endParaRPr lang="en-US" altLang="en-US">
              <a:latin typeface="Calibri" panose="020F0502020204030204" pitchFamily="34" charset="0"/>
            </a:endParaRPr>
          </a:p>
        </p:txBody>
      </p:sp>
    </p:spTree>
    <p:extLst>
      <p:ext uri="{BB962C8B-B14F-4D97-AF65-F5344CB8AC3E}">
        <p14:creationId xmlns:p14="http://schemas.microsoft.com/office/powerpoint/2010/main" val="2235375274"/>
      </p:ext>
    </p:extLst>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itchFamily="18" charset="0"/>
              </a:defRPr>
            </a:lvl1pPr>
          </a:lstStyle>
          <a:p>
            <a:pPr>
              <a:defRPr/>
            </a:pPr>
            <a:endParaRPr lang="en-US"/>
          </a:p>
        </p:txBody>
      </p:sp>
      <p:sp>
        <p:nvSpPr>
          <p:cNvPr id="6" name="Slide Number Placeholder 5"/>
          <p:cNvSpPr>
            <a:spLocks noGrp="1"/>
          </p:cNvSpPr>
          <p:nvPr>
            <p:ph type="sldNum" sz="quarter" idx="4"/>
          </p:nvPr>
        </p:nvSpPr>
        <p:spPr>
          <a:xfrm>
            <a:off x="7620000" y="6356350"/>
            <a:ext cx="1066800" cy="365125"/>
          </a:xfrm>
          <a:prstGeom prst="rect">
            <a:avLst/>
          </a:prstGeom>
        </p:spPr>
        <p:txBody>
          <a:bodyPr vert="horz" lIns="91440" tIns="45720" rIns="91440" bIns="45720" rtlCol="0" anchor="ctr"/>
          <a:lstStyle>
            <a:lvl1pPr algn="r">
              <a:defRPr sz="1200">
                <a:solidFill>
                  <a:schemeClr val="tx1">
                    <a:tint val="75000"/>
                  </a:schemeClr>
                </a:solidFill>
              </a:defRPr>
            </a:lvl1pPr>
            <a:lvl2pPr lvl="1" algn="r">
              <a:defRPr baseline="0">
                <a:latin typeface="Calibri" panose="020F0502020204030204" pitchFamily="34" charset="0"/>
              </a:defRPr>
            </a:lvl2pPr>
          </a:lstStyle>
          <a:p>
            <a:pPr lvl="1"/>
            <a:fld id="{364C03C9-A82B-4593-8D4F-5FC476352E11}" type="slidenum">
              <a:rPr lang="en-US" altLang="en-US" smtClean="0"/>
              <a:pPr lvl="1"/>
              <a:t>‹#›</a:t>
            </a:fld>
            <a:endParaRPr lang="en-US" altLang="en-US"/>
          </a:p>
        </p:txBody>
      </p:sp>
    </p:spTree>
    <p:extLst>
      <p:ext uri="{BB962C8B-B14F-4D97-AF65-F5344CB8AC3E}">
        <p14:creationId xmlns:p14="http://schemas.microsoft.com/office/powerpoint/2010/main" val="2379839104"/>
      </p:ext>
    </p:extLst>
  </p:cSld>
  <p:clrMap bg1="lt1" tx1="dk1" bg2="lt2" tx2="dk2" accent1="accent1" accent2="accent2" accent3="accent3" accent4="accent4" accent5="accent5" accent6="accent6" hlink="hlink" folHlink="folHlink"/>
  <p:sldLayoutIdLst>
    <p:sldLayoutId id="2147483701" r:id="rId1"/>
    <p:sldLayoutId id="2147483702" r:id="rId2"/>
  </p:sldLayoutIdLst>
  <p:transition/>
  <p:hf hdr="0" dt="0"/>
  <p:txStyles>
    <p:titleStyle>
      <a:lvl1pPr algn="ctr" rtl="0" eaLnBrk="1" fontAlgn="base" hangingPunct="1">
        <a:spcBef>
          <a:spcPct val="0"/>
        </a:spcBef>
        <a:spcAft>
          <a:spcPct val="0"/>
        </a:spcAft>
        <a:defRPr sz="4400" b="0" i="0" u="none"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2.png"/><Relationship Id="rId5" Type="http://schemas.openxmlformats.org/officeDocument/2006/relationships/notesSlide" Target="../notesSlides/notesSlide1.xml"/><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tags" Target="../tags/tag9.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custDataLst>
              <p:tags r:id="rId2"/>
            </p:custDataLst>
          </p:nvPr>
        </p:nvSpPr>
        <p:spPr>
          <a:xfrm>
            <a:off x="457200" y="2362200"/>
            <a:ext cx="8229600" cy="1524000"/>
          </a:xfrm>
        </p:spPr>
        <p:txBody>
          <a:bodyPr/>
          <a:lstStyle/>
          <a:p>
            <a:pPr eaLnBrk="1" hangingPunct="1"/>
            <a:r>
              <a:rPr lang="en-US" altLang="en-US" dirty="0"/>
              <a:t>ECE/CS 552: Midterm Review</a:t>
            </a:r>
          </a:p>
        </p:txBody>
      </p:sp>
      <p:sp>
        <p:nvSpPr>
          <p:cNvPr id="3" name="Subtitle 2"/>
          <p:cNvSpPr>
            <a:spLocks noGrp="1"/>
          </p:cNvSpPr>
          <p:nvPr>
            <p:ph type="subTitle" idx="1"/>
            <p:custDataLst>
              <p:tags r:id="rId3"/>
            </p:custDataLst>
          </p:nvPr>
        </p:nvSpPr>
        <p:spPr/>
        <p:txBody>
          <a:bodyPr>
            <a:normAutofit fontScale="55000" lnSpcReduction="20000"/>
          </a:bodyPr>
          <a:lstStyle/>
          <a:p>
            <a:pPr eaLnBrk="1" hangingPunct="1">
              <a:buFont typeface="Arial" charset="0"/>
              <a:buNone/>
              <a:defRPr/>
            </a:pPr>
            <a:r>
              <a:rPr lang="en-US" dirty="0"/>
              <a:t>Boone Severson</a:t>
            </a:r>
          </a:p>
          <a:p>
            <a:pPr eaLnBrk="1" hangingPunct="1">
              <a:buFont typeface="Arial" charset="0"/>
              <a:buNone/>
              <a:defRPr/>
            </a:pPr>
            <a:endParaRPr lang="en-US" dirty="0"/>
          </a:p>
          <a:p>
            <a:pPr eaLnBrk="1" hangingPunct="1">
              <a:buFont typeface="Arial" charset="0"/>
              <a:buNone/>
              <a:defRPr/>
            </a:pPr>
            <a:r>
              <a:rPr lang="en-US" dirty="0"/>
              <a:t>Based on Notes from Joshua San Miguel</a:t>
            </a:r>
          </a:p>
          <a:p>
            <a:pPr eaLnBrk="1" hangingPunct="1">
              <a:buFont typeface="Arial" charset="0"/>
              <a:buNone/>
              <a:defRPr/>
            </a:pPr>
            <a:endParaRPr lang="en-US" dirty="0"/>
          </a:p>
          <a:p>
            <a:pPr eaLnBrk="1" hangingPunct="1">
              <a:buFont typeface="Arial" charset="0"/>
              <a:buNone/>
              <a:defRPr/>
            </a:pPr>
            <a:endParaRPr lang="en-US" dirty="0"/>
          </a:p>
          <a:p>
            <a:pPr eaLnBrk="1" hangingPunct="1">
              <a:buFont typeface="Arial" charset="0"/>
              <a:buNone/>
              <a:defRPr/>
            </a:pPr>
            <a:r>
              <a:rPr lang="en-US" dirty="0"/>
              <a:t>  </a:t>
            </a:r>
          </a:p>
          <a:p>
            <a:pPr eaLnBrk="1" hangingPunct="1">
              <a:buFont typeface="Arial" charset="0"/>
              <a:buNone/>
              <a:defRPr/>
            </a:pPr>
            <a:endParaRPr lang="en-US" dirty="0"/>
          </a:p>
        </p:txBody>
      </p:sp>
    </p:spTree>
    <p:custDataLst>
      <p:tags r:id="rId1"/>
    </p:custDataLst>
    <p:extLst>
      <p:ext uri="{BB962C8B-B14F-4D97-AF65-F5344CB8AC3E}">
        <p14:creationId xmlns:p14="http://schemas.microsoft.com/office/powerpoint/2010/main" val="4177198719"/>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026">
            <a:extLst>
              <a:ext uri="{FF2B5EF4-FFF2-40B4-BE49-F238E27FC236}">
                <a16:creationId xmlns:a16="http://schemas.microsoft.com/office/drawing/2014/main" id="{7DC822CC-1F8D-498F-9D48-E2CA0FB2A796}"/>
              </a:ext>
            </a:extLst>
          </p:cNvPr>
          <p:cNvSpPr>
            <a:spLocks noGrp="1" noChangeArrowheads="1"/>
          </p:cNvSpPr>
          <p:nvPr>
            <p:ph type="title"/>
            <p:custDataLst>
              <p:tags r:id="rId2"/>
            </p:custDataLst>
          </p:nvPr>
        </p:nvSpPr>
        <p:spPr>
          <a:xfrm>
            <a:off x="457200" y="274638"/>
            <a:ext cx="7467600" cy="1143000"/>
          </a:xfrm>
        </p:spPr>
        <p:txBody>
          <a:bodyPr/>
          <a:lstStyle/>
          <a:p>
            <a:r>
              <a:rPr lang="en-US" altLang="en-US" dirty="0"/>
              <a:t>Midterm</a:t>
            </a:r>
          </a:p>
        </p:txBody>
      </p:sp>
      <p:sp>
        <p:nvSpPr>
          <p:cNvPr id="9219" name="Rectangle 1027">
            <a:extLst>
              <a:ext uri="{FF2B5EF4-FFF2-40B4-BE49-F238E27FC236}">
                <a16:creationId xmlns:a16="http://schemas.microsoft.com/office/drawing/2014/main" id="{86B2681B-653A-4C3E-9623-0EF5A9ADD078}"/>
              </a:ext>
            </a:extLst>
          </p:cNvPr>
          <p:cNvSpPr>
            <a:spLocks noGrp="1" noChangeArrowheads="1"/>
          </p:cNvSpPr>
          <p:nvPr>
            <p:ph idx="1"/>
            <p:custDataLst>
              <p:tags r:id="rId3"/>
            </p:custDataLst>
          </p:nvPr>
        </p:nvSpPr>
        <p:spPr>
          <a:xfrm>
            <a:off x="457200" y="1447800"/>
            <a:ext cx="8686800" cy="4876800"/>
          </a:xfrm>
        </p:spPr>
        <p:txBody>
          <a:bodyPr/>
          <a:lstStyle/>
          <a:p>
            <a:pPr eaLnBrk="1" hangingPunct="1"/>
            <a:r>
              <a:rPr lang="en-US" altLang="en-US" sz="2800" dirty="0"/>
              <a:t>Midterm this Thursday 10/24 during class, in this room</a:t>
            </a:r>
          </a:p>
          <a:p>
            <a:pPr lvl="1"/>
            <a:r>
              <a:rPr lang="en-US" altLang="en-US" sz="2400" dirty="0"/>
              <a:t>Closed book, pen-and-paper exam</a:t>
            </a:r>
          </a:p>
          <a:p>
            <a:pPr lvl="1"/>
            <a:r>
              <a:rPr lang="en-US" altLang="en-US" sz="2400" dirty="0"/>
              <a:t>One hand-written cheat sheet allowed</a:t>
            </a:r>
          </a:p>
          <a:p>
            <a:pPr lvl="1"/>
            <a:r>
              <a:rPr lang="en-US" altLang="en-US" sz="2400" dirty="0"/>
              <a:t>MIPS green card will be provided for you</a:t>
            </a:r>
          </a:p>
        </p:txBody>
      </p:sp>
      <p:pic>
        <p:nvPicPr>
          <p:cNvPr id="3" name="Picture 2" descr="A screenshot of a test&#10;&#10;Description automatically generated">
            <a:extLst>
              <a:ext uri="{FF2B5EF4-FFF2-40B4-BE49-F238E27FC236}">
                <a16:creationId xmlns:a16="http://schemas.microsoft.com/office/drawing/2014/main" id="{078C91A6-B173-0357-F747-0CBEA5FAF03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86000" y="3657600"/>
            <a:ext cx="5029200" cy="2989053"/>
          </a:xfrm>
          <a:prstGeom prst="rect">
            <a:avLst/>
          </a:prstGeom>
        </p:spPr>
      </p:pic>
      <p:cxnSp>
        <p:nvCxnSpPr>
          <p:cNvPr id="5" name="Straight Arrow Connector 4">
            <a:extLst>
              <a:ext uri="{FF2B5EF4-FFF2-40B4-BE49-F238E27FC236}">
                <a16:creationId xmlns:a16="http://schemas.microsoft.com/office/drawing/2014/main" id="{CDC26C46-CF2A-41A0-BC78-2CD1B3E35A30}"/>
              </a:ext>
            </a:extLst>
          </p:cNvPr>
          <p:cNvCxnSpPr>
            <a:cxnSpLocks/>
          </p:cNvCxnSpPr>
          <p:nvPr/>
        </p:nvCxnSpPr>
        <p:spPr>
          <a:xfrm>
            <a:off x="990600" y="4876800"/>
            <a:ext cx="1219200"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custDataLst>
      <p:tags r:id="rId1"/>
    </p:custDataLst>
    <p:extLst>
      <p:ext uri="{BB962C8B-B14F-4D97-AF65-F5344CB8AC3E}">
        <p14:creationId xmlns:p14="http://schemas.microsoft.com/office/powerpoint/2010/main" val="299306637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75CC8-01FF-E699-93EC-544F7B4E0846}"/>
              </a:ext>
            </a:extLst>
          </p:cNvPr>
          <p:cNvSpPr>
            <a:spLocks noGrp="1"/>
          </p:cNvSpPr>
          <p:nvPr>
            <p:ph type="title"/>
          </p:nvPr>
        </p:nvSpPr>
        <p:spPr/>
        <p:txBody>
          <a:bodyPr/>
          <a:lstStyle/>
          <a:p>
            <a:r>
              <a:rPr lang="en-US" dirty="0"/>
              <a:t>First Page of Midterm</a:t>
            </a:r>
          </a:p>
        </p:txBody>
      </p:sp>
      <p:pic>
        <p:nvPicPr>
          <p:cNvPr id="6" name="Content Placeholder 5" descr="A white text on a white background&#10;&#10;Description automatically generated">
            <a:extLst>
              <a:ext uri="{FF2B5EF4-FFF2-40B4-BE49-F238E27FC236}">
                <a16:creationId xmlns:a16="http://schemas.microsoft.com/office/drawing/2014/main" id="{21F5F936-4C08-D0A6-C7CC-A1ACE71738E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872937"/>
            <a:ext cx="8229600" cy="3980489"/>
          </a:xfrm>
        </p:spPr>
      </p:pic>
      <p:sp>
        <p:nvSpPr>
          <p:cNvPr id="4" name="Slide Number Placeholder 3">
            <a:extLst>
              <a:ext uri="{FF2B5EF4-FFF2-40B4-BE49-F238E27FC236}">
                <a16:creationId xmlns:a16="http://schemas.microsoft.com/office/drawing/2014/main" id="{1CD7064A-4A7A-E4E8-106C-4192C0F5DB76}"/>
              </a:ext>
            </a:extLst>
          </p:cNvPr>
          <p:cNvSpPr>
            <a:spLocks noGrp="1"/>
          </p:cNvSpPr>
          <p:nvPr>
            <p:ph type="sldNum" sz="quarter" idx="12"/>
          </p:nvPr>
        </p:nvSpPr>
        <p:spPr/>
        <p:txBody>
          <a:bodyPr/>
          <a:lstStyle/>
          <a:p>
            <a:pPr lvl="1"/>
            <a:fld id="{35B60D93-CC8C-4BE3-8466-59E10CB9DAB3}" type="slidenum">
              <a:rPr lang="en-US" altLang="en-US" smtClean="0"/>
              <a:pPr lvl="1"/>
              <a:t>3</a:t>
            </a:fld>
            <a:endParaRPr lang="en-US" altLang="en-US">
              <a:latin typeface="Calibri" panose="020F0502020204030204" pitchFamily="34" charset="0"/>
            </a:endParaRPr>
          </a:p>
        </p:txBody>
      </p:sp>
    </p:spTree>
    <p:extLst>
      <p:ext uri="{BB962C8B-B14F-4D97-AF65-F5344CB8AC3E}">
        <p14:creationId xmlns:p14="http://schemas.microsoft.com/office/powerpoint/2010/main" val="1735256817"/>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close-up of a document&#10;&#10;Description automatically generated">
            <a:extLst>
              <a:ext uri="{FF2B5EF4-FFF2-40B4-BE49-F238E27FC236}">
                <a16:creationId xmlns:a16="http://schemas.microsoft.com/office/drawing/2014/main" id="{99E5C41A-ACE4-A3B8-06A7-01F82D2606A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8600" y="76200"/>
            <a:ext cx="5562600" cy="6538132"/>
          </a:xfrm>
        </p:spPr>
      </p:pic>
      <p:sp>
        <p:nvSpPr>
          <p:cNvPr id="4" name="Slide Number Placeholder 3">
            <a:extLst>
              <a:ext uri="{FF2B5EF4-FFF2-40B4-BE49-F238E27FC236}">
                <a16:creationId xmlns:a16="http://schemas.microsoft.com/office/drawing/2014/main" id="{171D2A06-EEC7-908E-B31C-BDC4EFFB91A8}"/>
              </a:ext>
            </a:extLst>
          </p:cNvPr>
          <p:cNvSpPr>
            <a:spLocks noGrp="1"/>
          </p:cNvSpPr>
          <p:nvPr>
            <p:ph type="sldNum" sz="quarter" idx="12"/>
          </p:nvPr>
        </p:nvSpPr>
        <p:spPr/>
        <p:txBody>
          <a:bodyPr/>
          <a:lstStyle/>
          <a:p>
            <a:pPr lvl="1"/>
            <a:fld id="{35B60D93-CC8C-4BE3-8466-59E10CB9DAB3}" type="slidenum">
              <a:rPr lang="en-US" altLang="en-US" smtClean="0"/>
              <a:pPr lvl="1"/>
              <a:t>4</a:t>
            </a:fld>
            <a:endParaRPr lang="en-US" altLang="en-US">
              <a:latin typeface="Calibri" panose="020F0502020204030204" pitchFamily="34" charset="0"/>
            </a:endParaRPr>
          </a:p>
        </p:txBody>
      </p:sp>
      <p:sp>
        <p:nvSpPr>
          <p:cNvPr id="7" name="Rectangle 6">
            <a:extLst>
              <a:ext uri="{FF2B5EF4-FFF2-40B4-BE49-F238E27FC236}">
                <a16:creationId xmlns:a16="http://schemas.microsoft.com/office/drawing/2014/main" id="{FE6E63BD-605E-42CA-E780-58CF55F01845}"/>
              </a:ext>
            </a:extLst>
          </p:cNvPr>
          <p:cNvSpPr/>
          <p:nvPr/>
        </p:nvSpPr>
        <p:spPr>
          <a:xfrm>
            <a:off x="228600" y="685800"/>
            <a:ext cx="2743200" cy="5928532"/>
          </a:xfrm>
          <a:prstGeom prst="rect">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870D9FD-B117-A802-F202-94051516F998}"/>
              </a:ext>
            </a:extLst>
          </p:cNvPr>
          <p:cNvSpPr/>
          <p:nvPr/>
        </p:nvSpPr>
        <p:spPr>
          <a:xfrm>
            <a:off x="2971800" y="228600"/>
            <a:ext cx="2819400" cy="4572000"/>
          </a:xfrm>
          <a:prstGeom prst="rect">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EE1DE33-D449-29FC-E28D-8E198E600B72}"/>
              </a:ext>
            </a:extLst>
          </p:cNvPr>
          <p:cNvSpPr/>
          <p:nvPr/>
        </p:nvSpPr>
        <p:spPr>
          <a:xfrm>
            <a:off x="2971800" y="4800600"/>
            <a:ext cx="2819400" cy="1813732"/>
          </a:xfrm>
          <a:prstGeom prst="rect">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F1B5106F-0974-EFDE-49A3-6A4A085B31BA}"/>
              </a:ext>
            </a:extLst>
          </p:cNvPr>
          <p:cNvCxnSpPr/>
          <p:nvPr/>
        </p:nvCxnSpPr>
        <p:spPr>
          <a:xfrm>
            <a:off x="2971800" y="243668"/>
            <a:ext cx="2819400" cy="4556932"/>
          </a:xfrm>
          <a:prstGeom prst="line">
            <a:avLst/>
          </a:prstGeom>
          <a:ln/>
        </p:spPr>
        <p:style>
          <a:lnRef idx="2">
            <a:schemeClr val="accent6"/>
          </a:lnRef>
          <a:fillRef idx="0">
            <a:schemeClr val="accent6"/>
          </a:fillRef>
          <a:effectRef idx="1">
            <a:schemeClr val="accent6"/>
          </a:effectRef>
          <a:fontRef idx="minor">
            <a:schemeClr val="tx1"/>
          </a:fontRef>
        </p:style>
      </p:cxnSp>
      <p:cxnSp>
        <p:nvCxnSpPr>
          <p:cNvPr id="12" name="Straight Connector 11">
            <a:extLst>
              <a:ext uri="{FF2B5EF4-FFF2-40B4-BE49-F238E27FC236}">
                <a16:creationId xmlns:a16="http://schemas.microsoft.com/office/drawing/2014/main" id="{3E7C837A-355A-9017-C0C7-B9B653E7BDCC}"/>
              </a:ext>
            </a:extLst>
          </p:cNvPr>
          <p:cNvCxnSpPr>
            <a:cxnSpLocks/>
          </p:cNvCxnSpPr>
          <p:nvPr/>
        </p:nvCxnSpPr>
        <p:spPr>
          <a:xfrm flipV="1">
            <a:off x="2971800" y="243668"/>
            <a:ext cx="2819400" cy="4556932"/>
          </a:xfrm>
          <a:prstGeom prst="line">
            <a:avLst/>
          </a:prstGeom>
          <a:ln/>
        </p:spPr>
        <p:style>
          <a:lnRef idx="2">
            <a:schemeClr val="accent6"/>
          </a:lnRef>
          <a:fillRef idx="0">
            <a:schemeClr val="accent6"/>
          </a:fillRef>
          <a:effectRef idx="1">
            <a:schemeClr val="accent6"/>
          </a:effectRef>
          <a:fontRef idx="minor">
            <a:schemeClr val="tx1"/>
          </a:fontRef>
        </p:style>
      </p:cxnSp>
      <p:sp>
        <p:nvSpPr>
          <p:cNvPr id="15" name="TextBox 14">
            <a:extLst>
              <a:ext uri="{FF2B5EF4-FFF2-40B4-BE49-F238E27FC236}">
                <a16:creationId xmlns:a16="http://schemas.microsoft.com/office/drawing/2014/main" id="{9736E108-9F2D-4DD6-0C7E-030259DB85BE}"/>
              </a:ext>
            </a:extLst>
          </p:cNvPr>
          <p:cNvSpPr txBox="1"/>
          <p:nvPr/>
        </p:nvSpPr>
        <p:spPr>
          <a:xfrm flipH="1">
            <a:off x="5891915" y="914400"/>
            <a:ext cx="3023484" cy="923330"/>
          </a:xfrm>
          <a:prstGeom prst="rect">
            <a:avLst/>
          </a:prstGeom>
          <a:noFill/>
        </p:spPr>
        <p:txBody>
          <a:bodyPr wrap="square" rtlCol="0">
            <a:spAutoFit/>
          </a:bodyPr>
          <a:lstStyle/>
          <a:p>
            <a:r>
              <a:rPr lang="en-US" sz="1800" dirty="0"/>
              <a:t>Core Instruction Set only</a:t>
            </a:r>
          </a:p>
          <a:p>
            <a:pPr marL="171450" indent="-171450">
              <a:buFont typeface="Arial" panose="020B0604020202020204" pitchFamily="34" charset="0"/>
              <a:buChar char="•"/>
            </a:pPr>
            <a:r>
              <a:rPr lang="en-US" sz="1800" dirty="0"/>
              <a:t>No Arithmetic Instructions</a:t>
            </a:r>
          </a:p>
          <a:p>
            <a:pPr marL="171450" indent="-171450">
              <a:buFont typeface="Arial" panose="020B0604020202020204" pitchFamily="34" charset="0"/>
              <a:buChar char="•"/>
            </a:pPr>
            <a:r>
              <a:rPr lang="en-US" sz="1800" dirty="0"/>
              <a:t>No </a:t>
            </a:r>
            <a:r>
              <a:rPr lang="en-US" sz="1800" dirty="0" err="1"/>
              <a:t>Pseudoinstructions</a:t>
            </a:r>
            <a:endParaRPr lang="en-US" sz="1800" dirty="0"/>
          </a:p>
        </p:txBody>
      </p:sp>
    </p:spTree>
    <p:extLst>
      <p:ext uri="{BB962C8B-B14F-4D97-AF65-F5344CB8AC3E}">
        <p14:creationId xmlns:p14="http://schemas.microsoft.com/office/powerpoint/2010/main" val="42615183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Endianness</a:t>
            </a:r>
          </a:p>
        </p:txBody>
      </p:sp>
      <p:sp>
        <p:nvSpPr>
          <p:cNvPr id="39941" name="Rectangle 3"/>
          <p:cNvSpPr>
            <a:spLocks noGrp="1" noChangeArrowheads="1"/>
          </p:cNvSpPr>
          <p:nvPr>
            <p:ph idx="1"/>
          </p:nvPr>
        </p:nvSpPr>
        <p:spPr>
          <a:xfrm>
            <a:off x="457200" y="1295400"/>
            <a:ext cx="8229600" cy="4724400"/>
          </a:xfrm>
        </p:spPr>
        <p:txBody>
          <a:bodyPr/>
          <a:lstStyle/>
          <a:p>
            <a:pPr marL="0" indent="0">
              <a:buNone/>
            </a:pPr>
            <a:r>
              <a:rPr lang="en-US" altLang="en-US" sz="2400" dirty="0"/>
              <a:t>State the contents of register $t1 depending on the </a:t>
            </a:r>
            <a:r>
              <a:rPr lang="en-US" altLang="en-US" sz="2400" b="1" dirty="0"/>
              <a:t>endianness</a:t>
            </a:r>
            <a:r>
              <a:rPr lang="en-US" altLang="en-US" sz="2400" dirty="0"/>
              <a:t> of the machine, </a:t>
            </a:r>
            <a:r>
              <a:rPr lang="en-US" altLang="en-US" sz="2400" b="1" dirty="0"/>
              <a:t>after</a:t>
            </a:r>
            <a:r>
              <a:rPr lang="en-US" altLang="en-US" sz="2400" dirty="0"/>
              <a:t> executing the following instructions:</a:t>
            </a:r>
          </a:p>
          <a:p>
            <a:pPr marL="0" indent="0">
              <a:buNone/>
            </a:pPr>
            <a:endParaRPr lang="en-US" altLang="en-US" sz="2400" dirty="0"/>
          </a:p>
          <a:p>
            <a:pPr marL="0" indent="0">
              <a:buNone/>
            </a:pPr>
            <a:endParaRPr lang="en-US" altLang="en-US" sz="2400" dirty="0"/>
          </a:p>
          <a:p>
            <a:pPr marL="0" indent="0">
              <a:buNone/>
            </a:pPr>
            <a:endParaRPr lang="en-US" altLang="en-US" sz="2400" dirty="0"/>
          </a:p>
          <a:p>
            <a:pPr marL="0" indent="0">
              <a:buNone/>
            </a:pPr>
            <a:endParaRPr lang="en-US" altLang="en-US" sz="2400" dirty="0"/>
          </a:p>
          <a:p>
            <a:r>
              <a:rPr lang="en-US" altLang="en-US" sz="2400" dirty="0"/>
              <a:t>Little-endian:</a:t>
            </a:r>
          </a:p>
          <a:p>
            <a:pPr lvl="1">
              <a:buFont typeface="Wingdings" panose="05000000000000000000" pitchFamily="2" charset="2"/>
              <a:buChar char="Ø"/>
            </a:pPr>
            <a:endParaRPr lang="en-US" altLang="en-US" sz="2000" b="1" dirty="0">
              <a:solidFill>
                <a:schemeClr val="accent6">
                  <a:lumMod val="75000"/>
                </a:schemeClr>
              </a:solidFill>
            </a:endParaRPr>
          </a:p>
          <a:p>
            <a:r>
              <a:rPr lang="en-US" altLang="en-US" sz="2400" dirty="0"/>
              <a:t>Big-endian:</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5</a:t>
            </a:fld>
            <a:endParaRPr lang="en-US" altLang="en-US"/>
          </a:p>
        </p:txBody>
      </p:sp>
      <p:sp>
        <p:nvSpPr>
          <p:cNvPr id="2" name="Rectangle 3">
            <a:extLst>
              <a:ext uri="{FF2B5EF4-FFF2-40B4-BE49-F238E27FC236}">
                <a16:creationId xmlns:a16="http://schemas.microsoft.com/office/drawing/2014/main" id="{6FFF72BD-6B06-F508-9AAD-447B3F1BC416}"/>
              </a:ext>
            </a:extLst>
          </p:cNvPr>
          <p:cNvSpPr txBox="1">
            <a:spLocks noChangeArrowheads="1"/>
          </p:cNvSpPr>
          <p:nvPr/>
        </p:nvSpPr>
        <p:spPr bwMode="auto">
          <a:xfrm>
            <a:off x="1225858" y="2286000"/>
            <a:ext cx="6698942"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r>
              <a:rPr lang="en-US" altLang="en-US" sz="1800" b="1" dirty="0" err="1">
                <a:latin typeface="Courier New" panose="02070309020205020404" pitchFamily="49" charset="0"/>
                <a:cs typeface="Courier New" panose="02070309020205020404" pitchFamily="49" charset="0"/>
              </a:rPr>
              <a:t>lui</a:t>
            </a:r>
            <a:r>
              <a:rPr lang="en-US" altLang="en-US" sz="1800" b="1" dirty="0">
                <a:latin typeface="Courier New" panose="02070309020205020404" pitchFamily="49" charset="0"/>
                <a:cs typeface="Courier New" panose="02070309020205020404" pitchFamily="49" charset="0"/>
              </a:rPr>
              <a:t>	$t0, 258</a:t>
            </a:r>
          </a:p>
          <a:p>
            <a:pPr marL="0" indent="0">
              <a:buFont typeface="Arial" charset="0"/>
              <a:buNone/>
            </a:pPr>
            <a:r>
              <a:rPr lang="en-US" altLang="en-US" sz="1800" b="1" dirty="0" err="1">
                <a:latin typeface="Courier New" panose="02070309020205020404" pitchFamily="49" charset="0"/>
                <a:cs typeface="Courier New" panose="02070309020205020404" pitchFamily="49" charset="0"/>
              </a:rPr>
              <a:t>ori</a:t>
            </a:r>
            <a:r>
              <a:rPr lang="en-US" altLang="en-US" sz="1800" b="1" dirty="0">
                <a:latin typeface="Courier New" panose="02070309020205020404" pitchFamily="49" charset="0"/>
                <a:cs typeface="Courier New" panose="02070309020205020404" pitchFamily="49" charset="0"/>
              </a:rPr>
              <a:t>	$t0, $t0, 772    # [$t0] = 0x01020304</a:t>
            </a:r>
          </a:p>
          <a:p>
            <a:pPr marL="0" indent="0">
              <a:buFont typeface="Arial" charset="0"/>
              <a:buNone/>
            </a:pPr>
            <a:r>
              <a:rPr lang="en-US" altLang="en-US" sz="1800" b="1" dirty="0" err="1">
                <a:latin typeface="Courier New" panose="02070309020205020404" pitchFamily="49" charset="0"/>
                <a:cs typeface="Courier New" panose="02070309020205020404" pitchFamily="49" charset="0"/>
              </a:rPr>
              <a:t>sw</a:t>
            </a:r>
            <a:r>
              <a:rPr lang="en-US" altLang="en-US" sz="1800" b="1" dirty="0">
                <a:latin typeface="Courier New" panose="02070309020205020404" pitchFamily="49" charset="0"/>
                <a:cs typeface="Courier New" panose="02070309020205020404" pitchFamily="49" charset="0"/>
              </a:rPr>
              <a:t>	$t0, 0($s0)</a:t>
            </a:r>
          </a:p>
          <a:p>
            <a:pPr marL="0" indent="0">
              <a:buFont typeface="Arial" charset="0"/>
              <a:buNone/>
            </a:pPr>
            <a:r>
              <a:rPr lang="en-US" altLang="en-US" sz="1800" b="1" dirty="0" err="1">
                <a:latin typeface="Courier New" panose="02070309020205020404" pitchFamily="49" charset="0"/>
                <a:cs typeface="Courier New" panose="02070309020205020404" pitchFamily="49" charset="0"/>
              </a:rPr>
              <a:t>lbu</a:t>
            </a:r>
            <a:r>
              <a:rPr lang="en-US" altLang="en-US" sz="1800" b="1" dirty="0">
                <a:latin typeface="Courier New" panose="02070309020205020404" pitchFamily="49" charset="0"/>
                <a:cs typeface="Courier New" panose="02070309020205020404" pitchFamily="49" charset="0"/>
              </a:rPr>
              <a:t>	$t1, 1($s0)</a:t>
            </a:r>
          </a:p>
        </p:txBody>
      </p:sp>
    </p:spTree>
    <p:extLst>
      <p:ext uri="{BB962C8B-B14F-4D97-AF65-F5344CB8AC3E}">
        <p14:creationId xmlns:p14="http://schemas.microsoft.com/office/powerpoint/2010/main" val="1387358688"/>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Endianness</a:t>
            </a:r>
          </a:p>
        </p:txBody>
      </p:sp>
      <p:sp>
        <p:nvSpPr>
          <p:cNvPr id="39941" name="Rectangle 3"/>
          <p:cNvSpPr>
            <a:spLocks noGrp="1" noChangeArrowheads="1"/>
          </p:cNvSpPr>
          <p:nvPr>
            <p:ph idx="1"/>
          </p:nvPr>
        </p:nvSpPr>
        <p:spPr>
          <a:xfrm>
            <a:off x="457200" y="1295400"/>
            <a:ext cx="8229600" cy="4724400"/>
          </a:xfrm>
        </p:spPr>
        <p:txBody>
          <a:bodyPr/>
          <a:lstStyle/>
          <a:p>
            <a:pPr marL="0" indent="0">
              <a:buNone/>
            </a:pPr>
            <a:r>
              <a:rPr lang="en-US" altLang="en-US" sz="2400" dirty="0"/>
              <a:t>State the contents of register $t1 depending on the </a:t>
            </a:r>
            <a:r>
              <a:rPr lang="en-US" altLang="en-US" sz="2400" b="1" dirty="0"/>
              <a:t>endianness</a:t>
            </a:r>
            <a:r>
              <a:rPr lang="en-US" altLang="en-US" sz="2400" dirty="0"/>
              <a:t> of the machine, </a:t>
            </a:r>
            <a:r>
              <a:rPr lang="en-US" altLang="en-US" sz="2400" b="1" dirty="0"/>
              <a:t>after</a:t>
            </a:r>
            <a:r>
              <a:rPr lang="en-US" altLang="en-US" sz="2400" dirty="0"/>
              <a:t> executing the following instructions:</a:t>
            </a:r>
          </a:p>
          <a:p>
            <a:pPr marL="0" indent="0">
              <a:buNone/>
            </a:pPr>
            <a:endParaRPr lang="en-US" altLang="en-US" sz="2400" dirty="0"/>
          </a:p>
          <a:p>
            <a:pPr marL="0" indent="0">
              <a:buNone/>
            </a:pPr>
            <a:endParaRPr lang="en-US" altLang="en-US" sz="2400" dirty="0"/>
          </a:p>
          <a:p>
            <a:pPr marL="0" indent="0">
              <a:buNone/>
            </a:pPr>
            <a:endParaRPr lang="en-US" altLang="en-US" sz="2400" dirty="0"/>
          </a:p>
          <a:p>
            <a:pPr marL="0" indent="0">
              <a:buNone/>
            </a:pPr>
            <a:endParaRPr lang="en-US" altLang="en-US" sz="2400" dirty="0"/>
          </a:p>
          <a:p>
            <a:r>
              <a:rPr lang="en-US" altLang="en-US" sz="2400" dirty="0"/>
              <a:t>Little-endian:</a:t>
            </a:r>
          </a:p>
          <a:p>
            <a:pPr lvl="1">
              <a:buFont typeface="Wingdings" panose="05000000000000000000" pitchFamily="2" charset="2"/>
              <a:buChar char="Ø"/>
            </a:pPr>
            <a:r>
              <a:rPr lang="en-US" altLang="en-US" sz="2000" b="1" dirty="0">
                <a:solidFill>
                  <a:schemeClr val="accent6">
                    <a:lumMod val="75000"/>
                  </a:schemeClr>
                </a:solidFill>
              </a:rPr>
              <a:t>[$t1] = 0x3</a:t>
            </a:r>
          </a:p>
          <a:p>
            <a:r>
              <a:rPr lang="en-US" altLang="en-US" sz="2400" dirty="0"/>
              <a:t>Big-endian:</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6</a:t>
            </a:fld>
            <a:endParaRPr lang="en-US" altLang="en-US"/>
          </a:p>
        </p:txBody>
      </p:sp>
      <p:sp>
        <p:nvSpPr>
          <p:cNvPr id="2" name="Rectangle 3">
            <a:extLst>
              <a:ext uri="{FF2B5EF4-FFF2-40B4-BE49-F238E27FC236}">
                <a16:creationId xmlns:a16="http://schemas.microsoft.com/office/drawing/2014/main" id="{6FFF72BD-6B06-F508-9AAD-447B3F1BC416}"/>
              </a:ext>
            </a:extLst>
          </p:cNvPr>
          <p:cNvSpPr txBox="1">
            <a:spLocks noChangeArrowheads="1"/>
          </p:cNvSpPr>
          <p:nvPr/>
        </p:nvSpPr>
        <p:spPr bwMode="auto">
          <a:xfrm>
            <a:off x="1225858" y="2286000"/>
            <a:ext cx="6698942"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r>
              <a:rPr lang="en-US" altLang="en-US" sz="1800" b="1" dirty="0" err="1">
                <a:latin typeface="Courier New" panose="02070309020205020404" pitchFamily="49" charset="0"/>
                <a:cs typeface="Courier New" panose="02070309020205020404" pitchFamily="49" charset="0"/>
              </a:rPr>
              <a:t>lui</a:t>
            </a:r>
            <a:r>
              <a:rPr lang="en-US" altLang="en-US" sz="1800" b="1" dirty="0">
                <a:latin typeface="Courier New" panose="02070309020205020404" pitchFamily="49" charset="0"/>
                <a:cs typeface="Courier New" panose="02070309020205020404" pitchFamily="49" charset="0"/>
              </a:rPr>
              <a:t>	$t0, 258</a:t>
            </a:r>
          </a:p>
          <a:p>
            <a:pPr marL="0" indent="0">
              <a:buFont typeface="Arial" charset="0"/>
              <a:buNone/>
            </a:pPr>
            <a:r>
              <a:rPr lang="en-US" altLang="en-US" sz="1800" b="1" dirty="0" err="1">
                <a:latin typeface="Courier New" panose="02070309020205020404" pitchFamily="49" charset="0"/>
                <a:cs typeface="Courier New" panose="02070309020205020404" pitchFamily="49" charset="0"/>
              </a:rPr>
              <a:t>ori</a:t>
            </a:r>
            <a:r>
              <a:rPr lang="en-US" altLang="en-US" sz="1800" b="1" dirty="0">
                <a:latin typeface="Courier New" panose="02070309020205020404" pitchFamily="49" charset="0"/>
                <a:cs typeface="Courier New" panose="02070309020205020404" pitchFamily="49" charset="0"/>
              </a:rPr>
              <a:t>	$t0, $t0, 772    # [$t0] = 0x01020304</a:t>
            </a:r>
          </a:p>
          <a:p>
            <a:pPr marL="0" indent="0">
              <a:buFont typeface="Arial" charset="0"/>
              <a:buNone/>
            </a:pPr>
            <a:r>
              <a:rPr lang="en-US" altLang="en-US" sz="1800" b="1" dirty="0" err="1">
                <a:latin typeface="Courier New" panose="02070309020205020404" pitchFamily="49" charset="0"/>
                <a:cs typeface="Courier New" panose="02070309020205020404" pitchFamily="49" charset="0"/>
              </a:rPr>
              <a:t>sw</a:t>
            </a:r>
            <a:r>
              <a:rPr lang="en-US" altLang="en-US" sz="1800" b="1" dirty="0">
                <a:latin typeface="Courier New" panose="02070309020205020404" pitchFamily="49" charset="0"/>
                <a:cs typeface="Courier New" panose="02070309020205020404" pitchFamily="49" charset="0"/>
              </a:rPr>
              <a:t>	$t0, 0($s0)</a:t>
            </a:r>
          </a:p>
          <a:p>
            <a:pPr marL="0" indent="0">
              <a:buFont typeface="Arial" charset="0"/>
              <a:buNone/>
            </a:pPr>
            <a:r>
              <a:rPr lang="en-US" altLang="en-US" sz="1800" b="1" dirty="0" err="1">
                <a:latin typeface="Courier New" panose="02070309020205020404" pitchFamily="49" charset="0"/>
                <a:cs typeface="Courier New" panose="02070309020205020404" pitchFamily="49" charset="0"/>
              </a:rPr>
              <a:t>lbu</a:t>
            </a:r>
            <a:r>
              <a:rPr lang="en-US" altLang="en-US" sz="1800" b="1" dirty="0">
                <a:latin typeface="Courier New" panose="02070309020205020404" pitchFamily="49" charset="0"/>
                <a:cs typeface="Courier New" panose="02070309020205020404" pitchFamily="49" charset="0"/>
              </a:rPr>
              <a:t>	$t1, 1($s0)</a:t>
            </a:r>
          </a:p>
        </p:txBody>
      </p:sp>
      <p:graphicFrame>
        <p:nvGraphicFramePr>
          <p:cNvPr id="4" name="Table 3">
            <a:extLst>
              <a:ext uri="{FF2B5EF4-FFF2-40B4-BE49-F238E27FC236}">
                <a16:creationId xmlns:a16="http://schemas.microsoft.com/office/drawing/2014/main" id="{8F198B38-047E-21E2-5ACC-88D4143BC25D}"/>
              </a:ext>
            </a:extLst>
          </p:cNvPr>
          <p:cNvGraphicFramePr>
            <a:graphicFrameLocks noGrp="1"/>
          </p:cNvGraphicFramePr>
          <p:nvPr>
            <p:custDataLst>
              <p:tags r:id="rId1"/>
            </p:custDataLst>
            <p:extLst>
              <p:ext uri="{D42A27DB-BD31-4B8C-83A1-F6EECF244321}">
                <p14:modId xmlns:p14="http://schemas.microsoft.com/office/powerpoint/2010/main" val="1528979714"/>
              </p:ext>
            </p:extLst>
          </p:nvPr>
        </p:nvGraphicFramePr>
        <p:xfrm>
          <a:off x="3733800" y="3917950"/>
          <a:ext cx="2209800" cy="1676400"/>
        </p:xfrm>
        <a:graphic>
          <a:graphicData uri="http://schemas.openxmlformats.org/drawingml/2006/table">
            <a:tbl>
              <a:tblPr firstRow="1" bandRow="1">
                <a:tableStyleId>{5C22544A-7EE6-4342-B048-85BDC9FD1C3A}</a:tableStyleId>
              </a:tblPr>
              <a:tblGrid>
                <a:gridCol w="1104900">
                  <a:extLst>
                    <a:ext uri="{9D8B030D-6E8A-4147-A177-3AD203B41FA5}">
                      <a16:colId xmlns:a16="http://schemas.microsoft.com/office/drawing/2014/main" val="2693180282"/>
                    </a:ext>
                  </a:extLst>
                </a:gridCol>
                <a:gridCol w="1104900">
                  <a:extLst>
                    <a:ext uri="{9D8B030D-6E8A-4147-A177-3AD203B41FA5}">
                      <a16:colId xmlns:a16="http://schemas.microsoft.com/office/drawing/2014/main" val="1385254707"/>
                    </a:ext>
                  </a:extLst>
                </a:gridCol>
              </a:tblGrid>
              <a:tr h="317632">
                <a:tc gridSpan="2">
                  <a:txBody>
                    <a:bodyPr/>
                    <a:lstStyle/>
                    <a:p>
                      <a:pPr algn="ctr"/>
                      <a:r>
                        <a:rPr lang="en-US" sz="1600" dirty="0">
                          <a:solidFill>
                            <a:schemeClr val="tx1"/>
                          </a:solidFill>
                        </a:rPr>
                        <a:t>Memory (little-endian)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04908457"/>
                  </a:ext>
                </a:extLst>
              </a:tr>
              <a:tr h="317632">
                <a:tc>
                  <a:txBody>
                    <a:bodyPr/>
                    <a:lstStyle/>
                    <a:p>
                      <a:pPr algn="ctr"/>
                      <a:r>
                        <a:rPr lang="en-US" sz="1600" dirty="0">
                          <a:solidFill>
                            <a:schemeClr val="tx1"/>
                          </a:solidFill>
                        </a:rPr>
                        <a:t>([$s0] + 3)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0x01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75996175"/>
                  </a:ext>
                </a:extLst>
              </a:tr>
              <a:tr h="317632">
                <a:tc>
                  <a:txBody>
                    <a:bodyPr/>
                    <a:lstStyle/>
                    <a:p>
                      <a:pPr algn="ctr"/>
                      <a:r>
                        <a:rPr lang="en-US" sz="1600" dirty="0">
                          <a:solidFill>
                            <a:schemeClr val="tx1"/>
                          </a:solidFill>
                        </a:rPr>
                        <a:t>([$s0] + 2)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0x02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0240962"/>
                  </a:ext>
                </a:extLst>
              </a:tr>
              <a:tr h="317632">
                <a:tc>
                  <a:txBody>
                    <a:bodyPr/>
                    <a:lstStyle/>
                    <a:p>
                      <a:pPr algn="ctr"/>
                      <a:r>
                        <a:rPr lang="en-US" sz="1600" dirty="0">
                          <a:solidFill>
                            <a:schemeClr val="tx1"/>
                          </a:solidFill>
                        </a:rPr>
                        <a:t>([$s0] + 1)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0x03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31688140"/>
                  </a:ext>
                </a:extLst>
              </a:tr>
              <a:tr h="317632">
                <a:tc>
                  <a:txBody>
                    <a:bodyPr/>
                    <a:lstStyle/>
                    <a:p>
                      <a:pPr algn="ctr"/>
                      <a:r>
                        <a:rPr lang="en-US" sz="1600" dirty="0">
                          <a:solidFill>
                            <a:schemeClr val="tx1"/>
                          </a:solidFill>
                        </a:rPr>
                        <a:t>([$s0] + 0)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0x04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88419620"/>
                  </a:ext>
                </a:extLst>
              </a:tr>
            </a:tbl>
          </a:graphicData>
        </a:graphic>
      </p:graphicFrame>
    </p:spTree>
    <p:extLst>
      <p:ext uri="{BB962C8B-B14F-4D97-AF65-F5344CB8AC3E}">
        <p14:creationId xmlns:p14="http://schemas.microsoft.com/office/powerpoint/2010/main" val="532389769"/>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Endianness</a:t>
            </a:r>
          </a:p>
        </p:txBody>
      </p:sp>
      <p:sp>
        <p:nvSpPr>
          <p:cNvPr id="39941" name="Rectangle 3"/>
          <p:cNvSpPr>
            <a:spLocks noGrp="1" noChangeArrowheads="1"/>
          </p:cNvSpPr>
          <p:nvPr>
            <p:ph idx="1"/>
          </p:nvPr>
        </p:nvSpPr>
        <p:spPr>
          <a:xfrm>
            <a:off x="457200" y="1295400"/>
            <a:ext cx="8229600" cy="4724400"/>
          </a:xfrm>
        </p:spPr>
        <p:txBody>
          <a:bodyPr/>
          <a:lstStyle/>
          <a:p>
            <a:pPr marL="0" indent="0">
              <a:buNone/>
            </a:pPr>
            <a:r>
              <a:rPr lang="en-US" altLang="en-US" sz="2400" dirty="0"/>
              <a:t>State the contents of register $t1 depending on the </a:t>
            </a:r>
            <a:r>
              <a:rPr lang="en-US" altLang="en-US" sz="2400" b="1" dirty="0"/>
              <a:t>endianness</a:t>
            </a:r>
            <a:r>
              <a:rPr lang="en-US" altLang="en-US" sz="2400" dirty="0"/>
              <a:t> of the machine, </a:t>
            </a:r>
            <a:r>
              <a:rPr lang="en-US" altLang="en-US" sz="2400" b="1" dirty="0"/>
              <a:t>after</a:t>
            </a:r>
            <a:r>
              <a:rPr lang="en-US" altLang="en-US" sz="2400" dirty="0"/>
              <a:t> executing the following instructions:</a:t>
            </a:r>
          </a:p>
          <a:p>
            <a:pPr marL="0" indent="0">
              <a:buNone/>
            </a:pPr>
            <a:endParaRPr lang="en-US" altLang="en-US" sz="2400" dirty="0"/>
          </a:p>
          <a:p>
            <a:pPr marL="0" indent="0">
              <a:buNone/>
            </a:pPr>
            <a:endParaRPr lang="en-US" altLang="en-US" sz="2400" dirty="0"/>
          </a:p>
          <a:p>
            <a:pPr marL="0" indent="0">
              <a:buNone/>
            </a:pPr>
            <a:endParaRPr lang="en-US" altLang="en-US" sz="2400" dirty="0"/>
          </a:p>
          <a:p>
            <a:pPr marL="0" indent="0">
              <a:buNone/>
            </a:pPr>
            <a:endParaRPr lang="en-US" altLang="en-US" sz="2400" dirty="0"/>
          </a:p>
          <a:p>
            <a:r>
              <a:rPr lang="en-US" altLang="en-US" sz="2400" dirty="0"/>
              <a:t>Little-endian:</a:t>
            </a:r>
          </a:p>
          <a:p>
            <a:pPr lvl="1">
              <a:buFont typeface="Wingdings" panose="05000000000000000000" pitchFamily="2" charset="2"/>
              <a:buChar char="Ø"/>
            </a:pPr>
            <a:r>
              <a:rPr lang="en-US" altLang="en-US" sz="2000" b="1" dirty="0">
                <a:solidFill>
                  <a:schemeClr val="accent6">
                    <a:lumMod val="75000"/>
                  </a:schemeClr>
                </a:solidFill>
              </a:rPr>
              <a:t>[$t1] = 0x3</a:t>
            </a:r>
          </a:p>
          <a:p>
            <a:r>
              <a:rPr lang="en-US" altLang="en-US" sz="2400" dirty="0"/>
              <a:t>Big-endian:</a:t>
            </a:r>
          </a:p>
          <a:p>
            <a:pPr lvl="1">
              <a:buFont typeface="Wingdings" panose="05000000000000000000" pitchFamily="2" charset="2"/>
              <a:buChar char="Ø"/>
            </a:pPr>
            <a:r>
              <a:rPr lang="en-US" altLang="en-US" sz="2000" b="1" dirty="0">
                <a:solidFill>
                  <a:schemeClr val="accent6">
                    <a:lumMod val="75000"/>
                  </a:schemeClr>
                </a:solidFill>
              </a:rPr>
              <a:t>[$t1] = 0x2</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7</a:t>
            </a:fld>
            <a:endParaRPr lang="en-US" altLang="en-US"/>
          </a:p>
        </p:txBody>
      </p:sp>
      <p:sp>
        <p:nvSpPr>
          <p:cNvPr id="2" name="Rectangle 3">
            <a:extLst>
              <a:ext uri="{FF2B5EF4-FFF2-40B4-BE49-F238E27FC236}">
                <a16:creationId xmlns:a16="http://schemas.microsoft.com/office/drawing/2014/main" id="{6FFF72BD-6B06-F508-9AAD-447B3F1BC416}"/>
              </a:ext>
            </a:extLst>
          </p:cNvPr>
          <p:cNvSpPr txBox="1">
            <a:spLocks noChangeArrowheads="1"/>
          </p:cNvSpPr>
          <p:nvPr/>
        </p:nvSpPr>
        <p:spPr bwMode="auto">
          <a:xfrm>
            <a:off x="1225858" y="2286000"/>
            <a:ext cx="6698942"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r>
              <a:rPr lang="en-US" altLang="en-US" sz="1800" b="1" dirty="0" err="1">
                <a:latin typeface="Courier New" panose="02070309020205020404" pitchFamily="49" charset="0"/>
                <a:cs typeface="Courier New" panose="02070309020205020404" pitchFamily="49" charset="0"/>
              </a:rPr>
              <a:t>lui</a:t>
            </a:r>
            <a:r>
              <a:rPr lang="en-US" altLang="en-US" sz="1800" b="1" dirty="0">
                <a:latin typeface="Courier New" panose="02070309020205020404" pitchFamily="49" charset="0"/>
                <a:cs typeface="Courier New" panose="02070309020205020404" pitchFamily="49" charset="0"/>
              </a:rPr>
              <a:t>	$t0, 258</a:t>
            </a:r>
          </a:p>
          <a:p>
            <a:pPr marL="0" indent="0">
              <a:buFont typeface="Arial" charset="0"/>
              <a:buNone/>
            </a:pPr>
            <a:r>
              <a:rPr lang="en-US" altLang="en-US" sz="1800" b="1" dirty="0" err="1">
                <a:latin typeface="Courier New" panose="02070309020205020404" pitchFamily="49" charset="0"/>
                <a:cs typeface="Courier New" panose="02070309020205020404" pitchFamily="49" charset="0"/>
              </a:rPr>
              <a:t>ori</a:t>
            </a:r>
            <a:r>
              <a:rPr lang="en-US" altLang="en-US" sz="1800" b="1" dirty="0">
                <a:latin typeface="Courier New" panose="02070309020205020404" pitchFamily="49" charset="0"/>
                <a:cs typeface="Courier New" panose="02070309020205020404" pitchFamily="49" charset="0"/>
              </a:rPr>
              <a:t>	$t0, $t0, 772    # [$t0] = 0x01020304</a:t>
            </a:r>
          </a:p>
          <a:p>
            <a:pPr marL="0" indent="0">
              <a:buFont typeface="Arial" charset="0"/>
              <a:buNone/>
            </a:pPr>
            <a:r>
              <a:rPr lang="en-US" altLang="en-US" sz="1800" b="1" dirty="0" err="1">
                <a:latin typeface="Courier New" panose="02070309020205020404" pitchFamily="49" charset="0"/>
                <a:cs typeface="Courier New" panose="02070309020205020404" pitchFamily="49" charset="0"/>
              </a:rPr>
              <a:t>sw</a:t>
            </a:r>
            <a:r>
              <a:rPr lang="en-US" altLang="en-US" sz="1800" b="1" dirty="0">
                <a:latin typeface="Courier New" panose="02070309020205020404" pitchFamily="49" charset="0"/>
                <a:cs typeface="Courier New" panose="02070309020205020404" pitchFamily="49" charset="0"/>
              </a:rPr>
              <a:t>	$t0, 0($s0)</a:t>
            </a:r>
          </a:p>
          <a:p>
            <a:pPr marL="0" indent="0">
              <a:buFont typeface="Arial" charset="0"/>
              <a:buNone/>
            </a:pPr>
            <a:r>
              <a:rPr lang="en-US" altLang="en-US" sz="1800" b="1" dirty="0" err="1">
                <a:latin typeface="Courier New" panose="02070309020205020404" pitchFamily="49" charset="0"/>
                <a:cs typeface="Courier New" panose="02070309020205020404" pitchFamily="49" charset="0"/>
              </a:rPr>
              <a:t>lbu</a:t>
            </a:r>
            <a:r>
              <a:rPr lang="en-US" altLang="en-US" sz="1800" b="1" dirty="0">
                <a:latin typeface="Courier New" panose="02070309020205020404" pitchFamily="49" charset="0"/>
                <a:cs typeface="Courier New" panose="02070309020205020404" pitchFamily="49" charset="0"/>
              </a:rPr>
              <a:t>	$t1, 1($s0)</a:t>
            </a:r>
          </a:p>
        </p:txBody>
      </p:sp>
      <p:graphicFrame>
        <p:nvGraphicFramePr>
          <p:cNvPr id="4" name="Table 3">
            <a:extLst>
              <a:ext uri="{FF2B5EF4-FFF2-40B4-BE49-F238E27FC236}">
                <a16:creationId xmlns:a16="http://schemas.microsoft.com/office/drawing/2014/main" id="{8F198B38-047E-21E2-5ACC-88D4143BC25D}"/>
              </a:ext>
            </a:extLst>
          </p:cNvPr>
          <p:cNvGraphicFramePr>
            <a:graphicFrameLocks noGrp="1"/>
          </p:cNvGraphicFramePr>
          <p:nvPr>
            <p:custDataLst>
              <p:tags r:id="rId1"/>
            </p:custDataLst>
            <p:extLst>
              <p:ext uri="{D42A27DB-BD31-4B8C-83A1-F6EECF244321}">
                <p14:modId xmlns:p14="http://schemas.microsoft.com/office/powerpoint/2010/main" val="1627015812"/>
              </p:ext>
            </p:extLst>
          </p:nvPr>
        </p:nvGraphicFramePr>
        <p:xfrm>
          <a:off x="3733800" y="3917950"/>
          <a:ext cx="2209800" cy="1676400"/>
        </p:xfrm>
        <a:graphic>
          <a:graphicData uri="http://schemas.openxmlformats.org/drawingml/2006/table">
            <a:tbl>
              <a:tblPr firstRow="1" bandRow="1">
                <a:tableStyleId>{5C22544A-7EE6-4342-B048-85BDC9FD1C3A}</a:tableStyleId>
              </a:tblPr>
              <a:tblGrid>
                <a:gridCol w="1104900">
                  <a:extLst>
                    <a:ext uri="{9D8B030D-6E8A-4147-A177-3AD203B41FA5}">
                      <a16:colId xmlns:a16="http://schemas.microsoft.com/office/drawing/2014/main" val="2693180282"/>
                    </a:ext>
                  </a:extLst>
                </a:gridCol>
                <a:gridCol w="1104900">
                  <a:extLst>
                    <a:ext uri="{9D8B030D-6E8A-4147-A177-3AD203B41FA5}">
                      <a16:colId xmlns:a16="http://schemas.microsoft.com/office/drawing/2014/main" val="1385254707"/>
                    </a:ext>
                  </a:extLst>
                </a:gridCol>
              </a:tblGrid>
              <a:tr h="317632">
                <a:tc gridSpan="2">
                  <a:txBody>
                    <a:bodyPr/>
                    <a:lstStyle/>
                    <a:p>
                      <a:pPr algn="ctr"/>
                      <a:r>
                        <a:rPr lang="en-US" sz="1600" dirty="0">
                          <a:solidFill>
                            <a:schemeClr val="tx1"/>
                          </a:solidFill>
                        </a:rPr>
                        <a:t>Memory (little-endian)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04908457"/>
                  </a:ext>
                </a:extLst>
              </a:tr>
              <a:tr h="317632">
                <a:tc>
                  <a:txBody>
                    <a:bodyPr/>
                    <a:lstStyle/>
                    <a:p>
                      <a:pPr algn="ctr"/>
                      <a:r>
                        <a:rPr lang="en-US" sz="1600" dirty="0">
                          <a:solidFill>
                            <a:schemeClr val="tx1"/>
                          </a:solidFill>
                        </a:rPr>
                        <a:t>([$s0] + 3)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0x01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75996175"/>
                  </a:ext>
                </a:extLst>
              </a:tr>
              <a:tr h="317632">
                <a:tc>
                  <a:txBody>
                    <a:bodyPr/>
                    <a:lstStyle/>
                    <a:p>
                      <a:pPr algn="ctr"/>
                      <a:r>
                        <a:rPr lang="en-US" sz="1600" dirty="0">
                          <a:solidFill>
                            <a:schemeClr val="tx1"/>
                          </a:solidFill>
                        </a:rPr>
                        <a:t>([$s0] + 2)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0x02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0240962"/>
                  </a:ext>
                </a:extLst>
              </a:tr>
              <a:tr h="317632">
                <a:tc>
                  <a:txBody>
                    <a:bodyPr/>
                    <a:lstStyle/>
                    <a:p>
                      <a:pPr algn="ctr"/>
                      <a:r>
                        <a:rPr lang="en-US" sz="1600" dirty="0">
                          <a:solidFill>
                            <a:schemeClr val="tx1"/>
                          </a:solidFill>
                        </a:rPr>
                        <a:t>([$s0] + 1)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0x03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31688140"/>
                  </a:ext>
                </a:extLst>
              </a:tr>
              <a:tr h="317632">
                <a:tc>
                  <a:txBody>
                    <a:bodyPr/>
                    <a:lstStyle/>
                    <a:p>
                      <a:pPr algn="ctr"/>
                      <a:r>
                        <a:rPr lang="en-US" sz="1600" dirty="0">
                          <a:solidFill>
                            <a:schemeClr val="tx1"/>
                          </a:solidFill>
                        </a:rPr>
                        <a:t>([$s0] + 0)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0x04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88419620"/>
                  </a:ext>
                </a:extLst>
              </a:tr>
            </a:tbl>
          </a:graphicData>
        </a:graphic>
      </p:graphicFrame>
      <p:graphicFrame>
        <p:nvGraphicFramePr>
          <p:cNvPr id="5" name="Table 4">
            <a:extLst>
              <a:ext uri="{FF2B5EF4-FFF2-40B4-BE49-F238E27FC236}">
                <a16:creationId xmlns:a16="http://schemas.microsoft.com/office/drawing/2014/main" id="{68CEBB2F-E982-FCD5-C254-684E175D9669}"/>
              </a:ext>
            </a:extLst>
          </p:cNvPr>
          <p:cNvGraphicFramePr>
            <a:graphicFrameLocks noGrp="1"/>
          </p:cNvGraphicFramePr>
          <p:nvPr>
            <p:custDataLst>
              <p:tags r:id="rId2"/>
            </p:custDataLst>
            <p:extLst>
              <p:ext uri="{D42A27DB-BD31-4B8C-83A1-F6EECF244321}">
                <p14:modId xmlns:p14="http://schemas.microsoft.com/office/powerpoint/2010/main" val="4148100856"/>
              </p:ext>
            </p:extLst>
          </p:nvPr>
        </p:nvGraphicFramePr>
        <p:xfrm>
          <a:off x="6248400" y="3917950"/>
          <a:ext cx="2209800" cy="1676400"/>
        </p:xfrm>
        <a:graphic>
          <a:graphicData uri="http://schemas.openxmlformats.org/drawingml/2006/table">
            <a:tbl>
              <a:tblPr firstRow="1" bandRow="1">
                <a:tableStyleId>{5C22544A-7EE6-4342-B048-85BDC9FD1C3A}</a:tableStyleId>
              </a:tblPr>
              <a:tblGrid>
                <a:gridCol w="1104900">
                  <a:extLst>
                    <a:ext uri="{9D8B030D-6E8A-4147-A177-3AD203B41FA5}">
                      <a16:colId xmlns:a16="http://schemas.microsoft.com/office/drawing/2014/main" val="2693180282"/>
                    </a:ext>
                  </a:extLst>
                </a:gridCol>
                <a:gridCol w="1104900">
                  <a:extLst>
                    <a:ext uri="{9D8B030D-6E8A-4147-A177-3AD203B41FA5}">
                      <a16:colId xmlns:a16="http://schemas.microsoft.com/office/drawing/2014/main" val="1385254707"/>
                    </a:ext>
                  </a:extLst>
                </a:gridCol>
              </a:tblGrid>
              <a:tr h="317632">
                <a:tc gridSpan="2">
                  <a:txBody>
                    <a:bodyPr/>
                    <a:lstStyle/>
                    <a:p>
                      <a:pPr algn="ctr"/>
                      <a:r>
                        <a:rPr lang="en-US" sz="1600" dirty="0">
                          <a:solidFill>
                            <a:schemeClr val="tx1"/>
                          </a:solidFill>
                        </a:rPr>
                        <a:t>Memory (big-endian)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04908457"/>
                  </a:ext>
                </a:extLst>
              </a:tr>
              <a:tr h="317632">
                <a:tc>
                  <a:txBody>
                    <a:bodyPr/>
                    <a:lstStyle/>
                    <a:p>
                      <a:pPr algn="ctr"/>
                      <a:r>
                        <a:rPr lang="en-US" sz="1600" dirty="0">
                          <a:solidFill>
                            <a:schemeClr val="tx1"/>
                          </a:solidFill>
                        </a:rPr>
                        <a:t>([$s0] + 3)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0x04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75996175"/>
                  </a:ext>
                </a:extLst>
              </a:tr>
              <a:tr h="317632">
                <a:tc>
                  <a:txBody>
                    <a:bodyPr/>
                    <a:lstStyle/>
                    <a:p>
                      <a:pPr algn="ctr"/>
                      <a:r>
                        <a:rPr lang="en-US" sz="1600" dirty="0">
                          <a:solidFill>
                            <a:schemeClr val="tx1"/>
                          </a:solidFill>
                        </a:rPr>
                        <a:t>([$s0] + 2)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0x03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0240962"/>
                  </a:ext>
                </a:extLst>
              </a:tr>
              <a:tr h="317632">
                <a:tc>
                  <a:txBody>
                    <a:bodyPr/>
                    <a:lstStyle/>
                    <a:p>
                      <a:pPr algn="ctr"/>
                      <a:r>
                        <a:rPr lang="en-US" sz="1600" dirty="0">
                          <a:solidFill>
                            <a:schemeClr val="tx1"/>
                          </a:solidFill>
                        </a:rPr>
                        <a:t>([$s0] + 1)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0x02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31688140"/>
                  </a:ext>
                </a:extLst>
              </a:tr>
              <a:tr h="317632">
                <a:tc>
                  <a:txBody>
                    <a:bodyPr/>
                    <a:lstStyle/>
                    <a:p>
                      <a:pPr algn="ctr"/>
                      <a:r>
                        <a:rPr lang="en-US" sz="1600" dirty="0">
                          <a:solidFill>
                            <a:schemeClr val="tx1"/>
                          </a:solidFill>
                        </a:rPr>
                        <a:t>([$s0] + 0)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0x01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88419620"/>
                  </a:ext>
                </a:extLst>
              </a:tr>
            </a:tbl>
          </a:graphicData>
        </a:graphic>
      </p:graphicFrame>
    </p:spTree>
    <p:extLst>
      <p:ext uri="{BB962C8B-B14F-4D97-AF65-F5344CB8AC3E}">
        <p14:creationId xmlns:p14="http://schemas.microsoft.com/office/powerpoint/2010/main" val="3649312079"/>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Processor Data Path</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8</a:t>
            </a:fld>
            <a:endParaRPr lang="en-US" altLang="en-US"/>
          </a:p>
        </p:txBody>
      </p:sp>
      <p:sp>
        <p:nvSpPr>
          <p:cNvPr id="9" name="Rectangle 3">
            <a:extLst>
              <a:ext uri="{FF2B5EF4-FFF2-40B4-BE49-F238E27FC236}">
                <a16:creationId xmlns:a16="http://schemas.microsoft.com/office/drawing/2014/main" id="{19994F55-828F-4DBF-AA0D-72ED801B65AA}"/>
              </a:ext>
            </a:extLst>
          </p:cNvPr>
          <p:cNvSpPr>
            <a:spLocks noGrp="1" noChangeArrowheads="1"/>
          </p:cNvSpPr>
          <p:nvPr>
            <p:ph idx="1"/>
          </p:nvPr>
        </p:nvSpPr>
        <p:spPr>
          <a:xfrm>
            <a:off x="457200" y="1295400"/>
            <a:ext cx="8077200" cy="1066800"/>
          </a:xfrm>
        </p:spPr>
        <p:txBody>
          <a:bodyPr/>
          <a:lstStyle/>
          <a:p>
            <a:pPr marL="0" indent="0">
              <a:buNone/>
            </a:pPr>
            <a:r>
              <a:rPr lang="en-US" altLang="en-US" sz="2400" dirty="0"/>
              <a:t>Modify the data path below such that all </a:t>
            </a:r>
            <a:r>
              <a:rPr lang="en-US" altLang="en-US" sz="2400" b="1" dirty="0"/>
              <a:t>branch</a:t>
            </a:r>
            <a:r>
              <a:rPr lang="en-US" altLang="en-US" sz="2400" dirty="0"/>
              <a:t> </a:t>
            </a:r>
            <a:r>
              <a:rPr lang="en-US" altLang="en-US" sz="2400" b="1" dirty="0"/>
              <a:t>targets</a:t>
            </a:r>
            <a:r>
              <a:rPr lang="en-US" altLang="en-US" sz="2400" dirty="0"/>
              <a:t> are computed as </a:t>
            </a:r>
            <a:r>
              <a:rPr lang="en-US" altLang="en-US" sz="2400" b="1" dirty="0"/>
              <a:t>PC = PC + </a:t>
            </a:r>
            <a:r>
              <a:rPr lang="en-US" altLang="en-US" sz="2400" b="1" dirty="0" err="1"/>
              <a:t>BranchAddr</a:t>
            </a:r>
            <a:r>
              <a:rPr lang="en-US" altLang="en-US" sz="2400" dirty="0"/>
              <a:t> instead.</a:t>
            </a:r>
            <a:endParaRPr lang="en-US" altLang="en-US" sz="2000" dirty="0"/>
          </a:p>
        </p:txBody>
      </p:sp>
      <p:pic>
        <p:nvPicPr>
          <p:cNvPr id="4" name="Picture 3">
            <a:extLst>
              <a:ext uri="{FF2B5EF4-FFF2-40B4-BE49-F238E27FC236}">
                <a16:creationId xmlns:a16="http://schemas.microsoft.com/office/drawing/2014/main" id="{8D6D812A-6F6E-7BA7-CAC8-7E886B31BC3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286000"/>
            <a:ext cx="5943600" cy="3685804"/>
          </a:xfrm>
          <a:prstGeom prst="rect">
            <a:avLst/>
          </a:prstGeom>
          <a:noFill/>
        </p:spPr>
      </p:pic>
    </p:spTree>
    <p:extLst>
      <p:ext uri="{BB962C8B-B14F-4D97-AF65-F5344CB8AC3E}">
        <p14:creationId xmlns:p14="http://schemas.microsoft.com/office/powerpoint/2010/main" val="3600969460"/>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Processor Data Path</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9</a:t>
            </a:fld>
            <a:endParaRPr lang="en-US" altLang="en-US"/>
          </a:p>
        </p:txBody>
      </p:sp>
      <p:sp>
        <p:nvSpPr>
          <p:cNvPr id="9" name="Rectangle 3">
            <a:extLst>
              <a:ext uri="{FF2B5EF4-FFF2-40B4-BE49-F238E27FC236}">
                <a16:creationId xmlns:a16="http://schemas.microsoft.com/office/drawing/2014/main" id="{19994F55-828F-4DBF-AA0D-72ED801B65AA}"/>
              </a:ext>
            </a:extLst>
          </p:cNvPr>
          <p:cNvSpPr>
            <a:spLocks noGrp="1" noChangeArrowheads="1"/>
          </p:cNvSpPr>
          <p:nvPr>
            <p:ph idx="1"/>
          </p:nvPr>
        </p:nvSpPr>
        <p:spPr>
          <a:xfrm>
            <a:off x="457200" y="1295400"/>
            <a:ext cx="8077200" cy="1066800"/>
          </a:xfrm>
        </p:spPr>
        <p:txBody>
          <a:bodyPr/>
          <a:lstStyle/>
          <a:p>
            <a:pPr marL="0" indent="0">
              <a:buNone/>
            </a:pPr>
            <a:r>
              <a:rPr lang="en-US" altLang="en-US" sz="2400" dirty="0"/>
              <a:t>Modify the data path below such that all </a:t>
            </a:r>
            <a:r>
              <a:rPr lang="en-US" altLang="en-US" sz="2400" b="1" dirty="0"/>
              <a:t>branch</a:t>
            </a:r>
            <a:r>
              <a:rPr lang="en-US" altLang="en-US" sz="2400" dirty="0"/>
              <a:t> </a:t>
            </a:r>
            <a:r>
              <a:rPr lang="en-US" altLang="en-US" sz="2400" b="1" dirty="0"/>
              <a:t>targets</a:t>
            </a:r>
            <a:r>
              <a:rPr lang="en-US" altLang="en-US" sz="2400" dirty="0"/>
              <a:t> are computed as </a:t>
            </a:r>
            <a:r>
              <a:rPr lang="en-US" altLang="en-US" sz="2400" b="1" dirty="0"/>
              <a:t>PC = PC + </a:t>
            </a:r>
            <a:r>
              <a:rPr lang="en-US" altLang="en-US" sz="2400" b="1" dirty="0" err="1"/>
              <a:t>BranchAddr</a:t>
            </a:r>
            <a:r>
              <a:rPr lang="en-US" altLang="en-US" sz="2400" dirty="0"/>
              <a:t> instead.</a:t>
            </a:r>
            <a:endParaRPr lang="en-US" altLang="en-US" sz="2000" dirty="0"/>
          </a:p>
        </p:txBody>
      </p:sp>
      <p:pic>
        <p:nvPicPr>
          <p:cNvPr id="4" name="Picture 3">
            <a:extLst>
              <a:ext uri="{FF2B5EF4-FFF2-40B4-BE49-F238E27FC236}">
                <a16:creationId xmlns:a16="http://schemas.microsoft.com/office/drawing/2014/main" id="{8D6D812A-6F6E-7BA7-CAC8-7E886B31BC3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286000"/>
            <a:ext cx="5943600" cy="3685804"/>
          </a:xfrm>
          <a:prstGeom prst="rect">
            <a:avLst/>
          </a:prstGeom>
          <a:noFill/>
        </p:spPr>
      </p:pic>
      <p:sp>
        <p:nvSpPr>
          <p:cNvPr id="2" name="Rectangle 1">
            <a:extLst>
              <a:ext uri="{FF2B5EF4-FFF2-40B4-BE49-F238E27FC236}">
                <a16:creationId xmlns:a16="http://schemas.microsoft.com/office/drawing/2014/main" id="{ED3CCF83-6582-675E-9AF6-E8966CE32697}"/>
              </a:ext>
            </a:extLst>
          </p:cNvPr>
          <p:cNvSpPr/>
          <p:nvPr/>
        </p:nvSpPr>
        <p:spPr>
          <a:xfrm>
            <a:off x="4962144" y="2819400"/>
            <a:ext cx="676656" cy="228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2B66C37E-4C62-9F3D-80D1-8AB01D12A941}"/>
              </a:ext>
            </a:extLst>
          </p:cNvPr>
          <p:cNvCxnSpPr/>
          <p:nvPr/>
        </p:nvCxnSpPr>
        <p:spPr>
          <a:xfrm>
            <a:off x="5105400" y="2895600"/>
            <a:ext cx="548640" cy="0"/>
          </a:xfrm>
          <a:prstGeom prst="straightConnector1">
            <a:avLst/>
          </a:prstGeom>
          <a:ln w="38100">
            <a:solidFill>
              <a:schemeClr val="accent6">
                <a:lumMod val="75000"/>
              </a:schemeClr>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9E98A535-5C43-0937-C1C4-71C6E0F8DED0}"/>
              </a:ext>
            </a:extLst>
          </p:cNvPr>
          <p:cNvCxnSpPr/>
          <p:nvPr/>
        </p:nvCxnSpPr>
        <p:spPr>
          <a:xfrm>
            <a:off x="2087880" y="3276600"/>
            <a:ext cx="3017520" cy="0"/>
          </a:xfrm>
          <a:prstGeom prst="straightConnector1">
            <a:avLst/>
          </a:prstGeom>
          <a:ln w="38100">
            <a:solidFill>
              <a:schemeClr val="accent6">
                <a:lumMod val="75000"/>
              </a:schemeClr>
            </a:solidFill>
            <a:headEnd type="oval"/>
            <a:tailEnd type="none" w="sm" len="med"/>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B75FEF84-B702-F98E-9034-0FB3AE9F3E6F}"/>
              </a:ext>
            </a:extLst>
          </p:cNvPr>
          <p:cNvCxnSpPr>
            <a:cxnSpLocks/>
          </p:cNvCxnSpPr>
          <p:nvPr/>
        </p:nvCxnSpPr>
        <p:spPr>
          <a:xfrm rot="5400000">
            <a:off x="4899660" y="3086100"/>
            <a:ext cx="411480" cy="0"/>
          </a:xfrm>
          <a:prstGeom prst="straightConnector1">
            <a:avLst/>
          </a:prstGeom>
          <a:ln w="38100">
            <a:solidFill>
              <a:schemeClr val="accent6">
                <a:lumMod val="75000"/>
              </a:schemeClr>
            </a:solidFill>
            <a:headEnd type="none"/>
            <a:tailEnd type="none" w="sm"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095258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Data Dependences</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10</a:t>
            </a:fld>
            <a:endParaRPr lang="en-US" altLang="en-US"/>
          </a:p>
        </p:txBody>
      </p:sp>
      <p:sp>
        <p:nvSpPr>
          <p:cNvPr id="9" name="Rectangle 3">
            <a:extLst>
              <a:ext uri="{FF2B5EF4-FFF2-40B4-BE49-F238E27FC236}">
                <a16:creationId xmlns:a16="http://schemas.microsoft.com/office/drawing/2014/main" id="{19994F55-828F-4DBF-AA0D-72ED801B65AA}"/>
              </a:ext>
            </a:extLst>
          </p:cNvPr>
          <p:cNvSpPr>
            <a:spLocks noGrp="1" noChangeArrowheads="1"/>
          </p:cNvSpPr>
          <p:nvPr>
            <p:ph idx="1"/>
          </p:nvPr>
        </p:nvSpPr>
        <p:spPr>
          <a:xfrm>
            <a:off x="457200" y="1295400"/>
            <a:ext cx="8077200" cy="533400"/>
          </a:xfrm>
        </p:spPr>
        <p:txBody>
          <a:bodyPr/>
          <a:lstStyle/>
          <a:p>
            <a:pPr marL="0" indent="0">
              <a:buNone/>
            </a:pPr>
            <a:r>
              <a:rPr lang="en-US" altLang="en-US" sz="2400" dirty="0"/>
              <a:t>List all </a:t>
            </a:r>
            <a:r>
              <a:rPr lang="en-US" altLang="en-US" sz="2400" b="1" dirty="0"/>
              <a:t>register dependences </a:t>
            </a:r>
            <a:r>
              <a:rPr lang="en-US" altLang="en-US" sz="2400" dirty="0"/>
              <a:t>in the following program:</a:t>
            </a:r>
            <a:endParaRPr lang="en-US" altLang="en-US" sz="2000" dirty="0"/>
          </a:p>
        </p:txBody>
      </p:sp>
      <p:sp>
        <p:nvSpPr>
          <p:cNvPr id="2" name="Rectangle 3">
            <a:extLst>
              <a:ext uri="{FF2B5EF4-FFF2-40B4-BE49-F238E27FC236}">
                <a16:creationId xmlns:a16="http://schemas.microsoft.com/office/drawing/2014/main" id="{F328B0AF-DD12-1299-6EDB-B6C79EBF7BC2}"/>
              </a:ext>
            </a:extLst>
          </p:cNvPr>
          <p:cNvSpPr txBox="1">
            <a:spLocks noChangeArrowheads="1"/>
          </p:cNvSpPr>
          <p:nvPr/>
        </p:nvSpPr>
        <p:spPr bwMode="auto">
          <a:xfrm>
            <a:off x="988142" y="3671478"/>
            <a:ext cx="1828800" cy="224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charset="0"/>
              <a:buNone/>
            </a:pPr>
            <a:r>
              <a:rPr lang="en-US" altLang="en-US" sz="2400" b="1" dirty="0">
                <a:solidFill>
                  <a:schemeClr val="accent6">
                    <a:lumMod val="75000"/>
                  </a:schemeClr>
                </a:solidFill>
              </a:rPr>
              <a:t>RAW</a:t>
            </a:r>
          </a:p>
          <a:p>
            <a:pPr marL="0" indent="0">
              <a:buFont typeface="Arial" charset="0"/>
              <a:buNone/>
            </a:pPr>
            <a:r>
              <a:rPr lang="en-US" altLang="en-US" sz="2400" b="1" dirty="0">
                <a:solidFill>
                  <a:schemeClr val="accent6">
                    <a:lumMod val="75000"/>
                  </a:schemeClr>
                </a:solidFill>
              </a:rPr>
              <a:t>$t2: L1 → L2</a:t>
            </a:r>
          </a:p>
          <a:p>
            <a:pPr marL="0" indent="0">
              <a:buFont typeface="Arial" charset="0"/>
              <a:buNone/>
            </a:pPr>
            <a:r>
              <a:rPr lang="en-US" altLang="en-US" sz="2400" b="1" dirty="0">
                <a:solidFill>
                  <a:schemeClr val="accent6">
                    <a:lumMod val="75000"/>
                  </a:schemeClr>
                </a:solidFill>
              </a:rPr>
              <a:t>$t0: L2 </a:t>
            </a:r>
            <a:r>
              <a:rPr lang="en-US" altLang="en-US" sz="2400" b="1" dirty="0">
                <a:solidFill>
                  <a:schemeClr val="accent6">
                    <a:lumMod val="75000"/>
                  </a:schemeClr>
                </a:solidFill>
                <a:sym typeface="Wingdings" pitchFamily="2" charset="2"/>
              </a:rPr>
              <a:t> L3</a:t>
            </a:r>
            <a:endParaRPr lang="en-US" altLang="en-US" sz="2400" b="1" dirty="0">
              <a:solidFill>
                <a:schemeClr val="accent6">
                  <a:lumMod val="75000"/>
                </a:schemeClr>
              </a:solidFill>
            </a:endParaRPr>
          </a:p>
        </p:txBody>
      </p:sp>
      <p:sp>
        <p:nvSpPr>
          <p:cNvPr id="3" name="Rectangle 3">
            <a:extLst>
              <a:ext uri="{FF2B5EF4-FFF2-40B4-BE49-F238E27FC236}">
                <a16:creationId xmlns:a16="http://schemas.microsoft.com/office/drawing/2014/main" id="{A0C73A28-F784-966A-7A58-EDD081C5B2E4}"/>
              </a:ext>
            </a:extLst>
          </p:cNvPr>
          <p:cNvSpPr txBox="1">
            <a:spLocks noChangeArrowheads="1"/>
          </p:cNvSpPr>
          <p:nvPr/>
        </p:nvSpPr>
        <p:spPr bwMode="auto">
          <a:xfrm>
            <a:off x="2590800" y="1828801"/>
            <a:ext cx="40386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en-US" sz="1800" b="1" dirty="0">
                <a:latin typeface="Courier New" panose="02070309020205020404" pitchFamily="49" charset="0"/>
                <a:cs typeface="Courier New" panose="02070309020205020404" pitchFamily="49" charset="0"/>
              </a:rPr>
              <a:t>L1:	</a:t>
            </a:r>
            <a:r>
              <a:rPr lang="en-US" altLang="en-US" sz="1800" b="1" dirty="0" err="1">
                <a:latin typeface="Courier New" panose="02070309020205020404" pitchFamily="49" charset="0"/>
                <a:cs typeface="Courier New" panose="02070309020205020404" pitchFamily="49" charset="0"/>
              </a:rPr>
              <a:t>lw</a:t>
            </a:r>
            <a:r>
              <a:rPr lang="en-US" altLang="en-US" sz="1800" b="1" dirty="0">
                <a:latin typeface="Courier New" panose="02070309020205020404" pitchFamily="49" charset="0"/>
                <a:cs typeface="Courier New" panose="02070309020205020404" pitchFamily="49" charset="0"/>
              </a:rPr>
              <a:t>	$t2, 4($t0)</a:t>
            </a:r>
          </a:p>
          <a:p>
            <a:pPr marL="0" indent="0">
              <a:buFont typeface="Arial" charset="0"/>
              <a:buNone/>
            </a:pPr>
            <a:r>
              <a:rPr lang="en-US" altLang="en-US" sz="1800" b="1" dirty="0">
                <a:latin typeface="Courier New" panose="02070309020205020404" pitchFamily="49" charset="0"/>
                <a:cs typeface="Courier New" panose="02070309020205020404" pitchFamily="49" charset="0"/>
              </a:rPr>
              <a:t>L2:	</a:t>
            </a:r>
            <a:r>
              <a:rPr lang="en-US" altLang="en-US" sz="1800" b="1" dirty="0" err="1">
                <a:latin typeface="Courier New" panose="02070309020205020404" pitchFamily="49" charset="0"/>
                <a:cs typeface="Courier New" panose="02070309020205020404" pitchFamily="49" charset="0"/>
              </a:rPr>
              <a:t>subi</a:t>
            </a:r>
            <a:r>
              <a:rPr lang="en-US" altLang="en-US" sz="1800" b="1" dirty="0">
                <a:latin typeface="Courier New" panose="02070309020205020404" pitchFamily="49" charset="0"/>
                <a:cs typeface="Courier New" panose="02070309020205020404" pitchFamily="49" charset="0"/>
              </a:rPr>
              <a:t>	$t0, $t2, 72</a:t>
            </a:r>
          </a:p>
          <a:p>
            <a:pPr marL="0" indent="0">
              <a:buFont typeface="Arial" charset="0"/>
              <a:buNone/>
            </a:pPr>
            <a:r>
              <a:rPr lang="en-US" altLang="en-US" sz="1800" b="1" dirty="0">
                <a:latin typeface="Courier New" panose="02070309020205020404" pitchFamily="49" charset="0"/>
                <a:cs typeface="Courier New" panose="02070309020205020404" pitchFamily="49" charset="0"/>
              </a:rPr>
              <a:t>L3:	</a:t>
            </a:r>
            <a:r>
              <a:rPr lang="en-US" altLang="en-US" sz="1800" b="1" dirty="0" err="1">
                <a:latin typeface="Courier New" panose="02070309020205020404" pitchFamily="49" charset="0"/>
                <a:cs typeface="Courier New" panose="02070309020205020404" pitchFamily="49" charset="0"/>
              </a:rPr>
              <a:t>beq</a:t>
            </a:r>
            <a:r>
              <a:rPr lang="en-US" altLang="en-US" sz="1800" b="1" dirty="0">
                <a:latin typeface="Courier New" panose="02070309020205020404" pitchFamily="49" charset="0"/>
                <a:cs typeface="Courier New" panose="02070309020205020404" pitchFamily="49" charset="0"/>
              </a:rPr>
              <a:t>	$t0, $t3, L1</a:t>
            </a:r>
          </a:p>
          <a:p>
            <a:pPr marL="0" indent="0">
              <a:buFont typeface="Arial" charset="0"/>
              <a:buNone/>
            </a:pPr>
            <a:r>
              <a:rPr lang="en-US" altLang="en-US" sz="1800" b="1" dirty="0">
                <a:latin typeface="Courier New" panose="02070309020205020404" pitchFamily="49" charset="0"/>
                <a:cs typeface="Courier New" panose="02070309020205020404" pitchFamily="49" charset="0"/>
              </a:rPr>
              <a:t>L4:	add	$t0, $t2, $t3</a:t>
            </a:r>
          </a:p>
        </p:txBody>
      </p:sp>
      <p:sp>
        <p:nvSpPr>
          <p:cNvPr id="6" name="Rectangle 3">
            <a:extLst>
              <a:ext uri="{FF2B5EF4-FFF2-40B4-BE49-F238E27FC236}">
                <a16:creationId xmlns:a16="http://schemas.microsoft.com/office/drawing/2014/main" id="{27056300-1972-83A8-DFDB-4FC667733972}"/>
              </a:ext>
            </a:extLst>
          </p:cNvPr>
          <p:cNvSpPr txBox="1">
            <a:spLocks noChangeArrowheads="1"/>
          </p:cNvSpPr>
          <p:nvPr/>
        </p:nvSpPr>
        <p:spPr bwMode="auto">
          <a:xfrm>
            <a:off x="3657600" y="3646216"/>
            <a:ext cx="1828800" cy="224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charset="0"/>
              <a:buNone/>
            </a:pPr>
            <a:r>
              <a:rPr lang="en-US" altLang="en-US" sz="2400" b="1" dirty="0">
                <a:solidFill>
                  <a:schemeClr val="accent6">
                    <a:lumMod val="75000"/>
                  </a:schemeClr>
                </a:solidFill>
              </a:rPr>
              <a:t>WAR</a:t>
            </a:r>
          </a:p>
          <a:p>
            <a:pPr marL="0" indent="0">
              <a:buFont typeface="Arial" charset="0"/>
              <a:buNone/>
            </a:pPr>
            <a:r>
              <a:rPr lang="en-US" altLang="en-US" sz="2400" b="1" dirty="0">
                <a:solidFill>
                  <a:schemeClr val="accent6">
                    <a:lumMod val="75000"/>
                  </a:schemeClr>
                </a:solidFill>
              </a:rPr>
              <a:t>$t0: L1 → L2</a:t>
            </a:r>
          </a:p>
          <a:p>
            <a:pPr marL="0" indent="0">
              <a:buFont typeface="Arial" charset="0"/>
              <a:buNone/>
            </a:pPr>
            <a:r>
              <a:rPr lang="en-US" altLang="en-US" sz="2400" b="1" dirty="0">
                <a:solidFill>
                  <a:schemeClr val="accent6">
                    <a:lumMod val="75000"/>
                  </a:schemeClr>
                </a:solidFill>
              </a:rPr>
              <a:t>$t0: L3 </a:t>
            </a:r>
            <a:r>
              <a:rPr lang="en-US" altLang="en-US" sz="2400" b="1" dirty="0">
                <a:solidFill>
                  <a:schemeClr val="accent6">
                    <a:lumMod val="75000"/>
                  </a:schemeClr>
                </a:solidFill>
                <a:sym typeface="Wingdings" pitchFamily="2" charset="2"/>
              </a:rPr>
              <a:t> L4</a:t>
            </a:r>
            <a:endParaRPr lang="en-US" altLang="en-US" sz="2400" b="1" dirty="0">
              <a:solidFill>
                <a:schemeClr val="accent6">
                  <a:lumMod val="75000"/>
                </a:schemeClr>
              </a:solidFill>
            </a:endParaRPr>
          </a:p>
        </p:txBody>
      </p:sp>
      <p:sp>
        <p:nvSpPr>
          <p:cNvPr id="7" name="Rectangle 3">
            <a:extLst>
              <a:ext uri="{FF2B5EF4-FFF2-40B4-BE49-F238E27FC236}">
                <a16:creationId xmlns:a16="http://schemas.microsoft.com/office/drawing/2014/main" id="{4B9DCEE5-11A6-AC59-E5E6-68FA78540278}"/>
              </a:ext>
            </a:extLst>
          </p:cNvPr>
          <p:cNvSpPr txBox="1">
            <a:spLocks noChangeArrowheads="1"/>
          </p:cNvSpPr>
          <p:nvPr/>
        </p:nvSpPr>
        <p:spPr bwMode="auto">
          <a:xfrm>
            <a:off x="6324600" y="3703638"/>
            <a:ext cx="1828800" cy="224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charset="0"/>
              <a:buNone/>
            </a:pPr>
            <a:r>
              <a:rPr lang="en-US" altLang="en-US" sz="2400" b="1" dirty="0">
                <a:solidFill>
                  <a:schemeClr val="accent6">
                    <a:lumMod val="75000"/>
                  </a:schemeClr>
                </a:solidFill>
              </a:rPr>
              <a:t>WAW</a:t>
            </a:r>
          </a:p>
          <a:p>
            <a:pPr marL="0" indent="0">
              <a:buFont typeface="Arial" charset="0"/>
              <a:buNone/>
            </a:pPr>
            <a:r>
              <a:rPr lang="en-US" altLang="en-US" sz="2400" b="1" dirty="0">
                <a:solidFill>
                  <a:schemeClr val="accent6">
                    <a:lumMod val="75000"/>
                  </a:schemeClr>
                </a:solidFill>
              </a:rPr>
              <a:t>$t0: L2 → L4</a:t>
            </a:r>
          </a:p>
        </p:txBody>
      </p:sp>
    </p:spTree>
    <p:extLst>
      <p:ext uri="{BB962C8B-B14F-4D97-AF65-F5344CB8AC3E}">
        <p14:creationId xmlns:p14="http://schemas.microsoft.com/office/powerpoint/2010/main" val="20150455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2" name="Rectangle 2"/>
          <p:cNvSpPr>
            <a:spLocks noGrp="1" noChangeArrowheads="1"/>
          </p:cNvSpPr>
          <p:nvPr>
            <p:ph type="title"/>
          </p:nvPr>
        </p:nvSpPr>
        <p:spPr/>
        <p:txBody>
          <a:bodyPr/>
          <a:lstStyle/>
          <a:p>
            <a:r>
              <a:rPr lang="en-US" altLang="en-US" dirty="0"/>
              <a:t>Data Forwarding</a:t>
            </a:r>
          </a:p>
        </p:txBody>
      </p:sp>
      <p:sp>
        <p:nvSpPr>
          <p:cNvPr id="45058" name="Rectangle 3"/>
          <p:cNvSpPr>
            <a:spLocks noGrp="1" noChangeArrowheads="1"/>
          </p:cNvSpPr>
          <p:nvPr>
            <p:ph idx="1"/>
          </p:nvPr>
        </p:nvSpPr>
        <p:spPr>
          <a:xfrm>
            <a:off x="682625" y="1798638"/>
            <a:ext cx="7772400" cy="2468562"/>
          </a:xfrm>
        </p:spPr>
        <p:txBody>
          <a:bodyPr/>
          <a:lstStyle/>
          <a:p>
            <a:pPr marL="684213" lvl="1" indent="-684213">
              <a:lnSpc>
                <a:spcPct val="90000"/>
              </a:lnSpc>
              <a:buNone/>
            </a:pPr>
            <a:r>
              <a:rPr lang="en-US" altLang="en-US" sz="1800" b="1" dirty="0" err="1">
                <a:latin typeface="Courier New" panose="02070309020205020404" pitchFamily="49" charset="0"/>
                <a:cs typeface="Courier New" panose="02070309020205020404" pitchFamily="49" charset="0"/>
              </a:rPr>
              <a:t>lw</a:t>
            </a:r>
            <a:r>
              <a:rPr lang="en-US" altLang="en-US" sz="1800" b="1" dirty="0">
                <a:latin typeface="Courier New" panose="02070309020205020404" pitchFamily="49" charset="0"/>
                <a:cs typeface="Courier New" panose="02070309020205020404" pitchFamily="49" charset="0"/>
              </a:rPr>
              <a:t> $t0, 0($t1)</a:t>
            </a:r>
          </a:p>
          <a:p>
            <a:pPr marL="684213" lvl="1" indent="-684213">
              <a:lnSpc>
                <a:spcPct val="90000"/>
              </a:lnSpc>
              <a:buNone/>
            </a:pPr>
            <a:r>
              <a:rPr lang="en-US" altLang="en-US" sz="1800" b="1" dirty="0" err="1">
                <a:latin typeface="Courier New" panose="02070309020205020404" pitchFamily="49" charset="0"/>
                <a:cs typeface="Courier New" panose="02070309020205020404" pitchFamily="49" charset="0"/>
              </a:rPr>
              <a:t>lw</a:t>
            </a:r>
            <a:r>
              <a:rPr lang="en-US" altLang="en-US" sz="1800" b="1" dirty="0">
                <a:latin typeface="Courier New" panose="02070309020205020404" pitchFamily="49" charset="0"/>
                <a:cs typeface="Courier New" panose="02070309020205020404" pitchFamily="49" charset="0"/>
              </a:rPr>
              <a:t> $s1, 4($t0)</a:t>
            </a:r>
          </a:p>
          <a:p>
            <a:pPr marL="684213" lvl="1" indent="-684213">
              <a:lnSpc>
                <a:spcPct val="90000"/>
              </a:lnSpc>
              <a:buNone/>
            </a:pPr>
            <a:r>
              <a:rPr lang="en-US" altLang="en-US" sz="1800" b="1" dirty="0">
                <a:latin typeface="Courier New" panose="02070309020205020404" pitchFamily="49" charset="0"/>
                <a:cs typeface="Courier New" panose="02070309020205020404" pitchFamily="49" charset="0"/>
              </a:rPr>
              <a:t>add $t2, $t3, $s1</a:t>
            </a:r>
          </a:p>
          <a:p>
            <a:pPr marL="457200" lvl="1" indent="0">
              <a:lnSpc>
                <a:spcPct val="90000"/>
              </a:lnSpc>
              <a:buNone/>
            </a:pPr>
            <a:endParaRPr lang="en-US" altLang="en-US" sz="2000" dirty="0"/>
          </a:p>
          <a:p>
            <a:pPr marL="457200" lvl="1" indent="0">
              <a:lnSpc>
                <a:spcPct val="90000"/>
              </a:lnSpc>
              <a:buNone/>
            </a:pPr>
            <a:endParaRPr lang="en-US" altLang="en-US" sz="2000" dirty="0"/>
          </a:p>
          <a:p>
            <a:pPr marL="0" indent="0">
              <a:lnSpc>
                <a:spcPct val="80000"/>
              </a:lnSpc>
              <a:buNone/>
            </a:pPr>
            <a:r>
              <a:rPr lang="en-US" altLang="en-US" sz="2400" dirty="0"/>
              <a:t>At </a:t>
            </a:r>
            <a:r>
              <a:rPr lang="en-US" altLang="en-US" sz="2400" b="1" dirty="0"/>
              <a:t>which cycle(s)</a:t>
            </a:r>
            <a:r>
              <a:rPr lang="en-US" altLang="en-US" sz="2400" dirty="0"/>
              <a:t> is this forwarding path enabled?</a:t>
            </a:r>
          </a:p>
          <a:p>
            <a:pPr marL="0" indent="0">
              <a:lnSpc>
                <a:spcPct val="80000"/>
              </a:lnSpc>
              <a:buNone/>
            </a:pPr>
            <a:r>
              <a:rPr lang="en-US" altLang="en-US" sz="2400" dirty="0"/>
              <a:t>Assume forwarding to EX and RF bypassing.</a:t>
            </a:r>
          </a:p>
        </p:txBody>
      </p:sp>
      <p:sp>
        <p:nvSpPr>
          <p:cNvPr id="4506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78782E18-9ABC-41E9-BAD3-86F8EB4EABA0}" type="slidenum">
              <a:rPr lang="en-US" altLang="en-US"/>
              <a:pPr lvl="1" eaLnBrk="1" hangingPunct="1"/>
              <a:t>11</a:t>
            </a:fld>
            <a:endParaRPr lang="en-US" altLang="en-US"/>
          </a:p>
        </p:txBody>
      </p:sp>
      <p:graphicFrame>
        <p:nvGraphicFramePr>
          <p:cNvPr id="183300" name="Group 4"/>
          <p:cNvGraphicFramePr>
            <a:graphicFrameLocks noGrp="1"/>
          </p:cNvGraphicFramePr>
          <p:nvPr/>
        </p:nvGraphicFramePr>
        <p:xfrm>
          <a:off x="838200" y="4267200"/>
          <a:ext cx="7034213" cy="1768932"/>
        </p:xfrm>
        <a:graphic>
          <a:graphicData uri="http://schemas.openxmlformats.org/drawingml/2006/table">
            <a:tbl>
              <a:tblPr/>
              <a:tblGrid>
                <a:gridCol w="114300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gridCol w="450850">
                  <a:extLst>
                    <a:ext uri="{9D8B030D-6E8A-4147-A177-3AD203B41FA5}">
                      <a16:colId xmlns:a16="http://schemas.microsoft.com/office/drawing/2014/main" val="20002"/>
                    </a:ext>
                  </a:extLst>
                </a:gridCol>
                <a:gridCol w="450850">
                  <a:extLst>
                    <a:ext uri="{9D8B030D-6E8A-4147-A177-3AD203B41FA5}">
                      <a16:colId xmlns:a16="http://schemas.microsoft.com/office/drawing/2014/main" val="20003"/>
                    </a:ext>
                  </a:extLst>
                </a:gridCol>
                <a:gridCol w="450850">
                  <a:extLst>
                    <a:ext uri="{9D8B030D-6E8A-4147-A177-3AD203B41FA5}">
                      <a16:colId xmlns:a16="http://schemas.microsoft.com/office/drawing/2014/main" val="20004"/>
                    </a:ext>
                  </a:extLst>
                </a:gridCol>
                <a:gridCol w="452438">
                  <a:extLst>
                    <a:ext uri="{9D8B030D-6E8A-4147-A177-3AD203B41FA5}">
                      <a16:colId xmlns:a16="http://schemas.microsoft.com/office/drawing/2014/main" val="20005"/>
                    </a:ext>
                  </a:extLst>
                </a:gridCol>
                <a:gridCol w="450850">
                  <a:extLst>
                    <a:ext uri="{9D8B030D-6E8A-4147-A177-3AD203B41FA5}">
                      <a16:colId xmlns:a16="http://schemas.microsoft.com/office/drawing/2014/main" val="20006"/>
                    </a:ext>
                  </a:extLst>
                </a:gridCol>
                <a:gridCol w="450850">
                  <a:extLst>
                    <a:ext uri="{9D8B030D-6E8A-4147-A177-3AD203B41FA5}">
                      <a16:colId xmlns:a16="http://schemas.microsoft.com/office/drawing/2014/main" val="20007"/>
                    </a:ext>
                  </a:extLst>
                </a:gridCol>
                <a:gridCol w="452437">
                  <a:extLst>
                    <a:ext uri="{9D8B030D-6E8A-4147-A177-3AD203B41FA5}">
                      <a16:colId xmlns:a16="http://schemas.microsoft.com/office/drawing/2014/main" val="20008"/>
                    </a:ext>
                  </a:extLst>
                </a:gridCol>
                <a:gridCol w="450850">
                  <a:extLst>
                    <a:ext uri="{9D8B030D-6E8A-4147-A177-3AD203B41FA5}">
                      <a16:colId xmlns:a16="http://schemas.microsoft.com/office/drawing/2014/main" val="20009"/>
                    </a:ext>
                  </a:extLst>
                </a:gridCol>
                <a:gridCol w="450850">
                  <a:extLst>
                    <a:ext uri="{9D8B030D-6E8A-4147-A177-3AD203B41FA5}">
                      <a16:colId xmlns:a16="http://schemas.microsoft.com/office/drawing/2014/main" val="20010"/>
                    </a:ext>
                  </a:extLst>
                </a:gridCol>
                <a:gridCol w="450850">
                  <a:extLst>
                    <a:ext uri="{9D8B030D-6E8A-4147-A177-3AD203B41FA5}">
                      <a16:colId xmlns:a16="http://schemas.microsoft.com/office/drawing/2014/main" val="20011"/>
                    </a:ext>
                  </a:extLst>
                </a:gridCol>
                <a:gridCol w="452438">
                  <a:extLst>
                    <a:ext uri="{9D8B030D-6E8A-4147-A177-3AD203B41FA5}">
                      <a16:colId xmlns:a16="http://schemas.microsoft.com/office/drawing/2014/main" val="20012"/>
                    </a:ext>
                  </a:extLst>
                </a:gridCol>
                <a:gridCol w="450850">
                  <a:extLst>
                    <a:ext uri="{9D8B030D-6E8A-4147-A177-3AD203B41FA5}">
                      <a16:colId xmlns:a16="http://schemas.microsoft.com/office/drawing/2014/main" val="20013"/>
                    </a:ext>
                  </a:extLst>
                </a:gridCol>
              </a:tblGrid>
              <a:tr h="45720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err="1">
                          <a:ln>
                            <a:noFill/>
                          </a:ln>
                          <a:solidFill>
                            <a:schemeClr val="tx1"/>
                          </a:solidFill>
                          <a:effectLst/>
                          <a:latin typeface="Times New Roman" pitchFamily="18" charset="0"/>
                        </a:rPr>
                        <a:t>insn</a:t>
                      </a:r>
                      <a:r>
                        <a:rPr kumimoji="0" lang="en-US" sz="1800" b="1" i="0" u="none" strike="noStrike" cap="none" normalizeH="0" baseline="0" dirty="0">
                          <a:ln>
                            <a:noFill/>
                          </a:ln>
                          <a:solidFill>
                            <a:schemeClr val="tx1"/>
                          </a:solidFill>
                          <a:effectLst/>
                          <a:latin typeface="Times New Roman" pitchFamily="18" charset="0"/>
                        </a:rPr>
                        <a:t>\cycle</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13</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err="1">
                          <a:ln>
                            <a:noFill/>
                          </a:ln>
                          <a:solidFill>
                            <a:schemeClr val="tx1"/>
                          </a:solidFill>
                          <a:effectLst/>
                          <a:latin typeface="Times New Roman" pitchFamily="18" charset="0"/>
                        </a:rPr>
                        <a:t>lw</a:t>
                      </a:r>
                      <a:r>
                        <a:rPr kumimoji="0" lang="en-US" sz="2000" b="0" i="0" u="none" strike="noStrike" cap="none" normalizeH="0" baseline="0" dirty="0">
                          <a:ln>
                            <a:noFill/>
                          </a:ln>
                          <a:solidFill>
                            <a:schemeClr val="tx1"/>
                          </a:solidFill>
                          <a:effectLst/>
                          <a:latin typeface="Times New Roman" pitchFamily="18" charset="0"/>
                        </a:rPr>
                        <a:t> $t0</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err="1">
                          <a:ln>
                            <a:noFill/>
                          </a:ln>
                          <a:solidFill>
                            <a:schemeClr val="tx1"/>
                          </a:solidFill>
                          <a:effectLst/>
                          <a:latin typeface="Times New Roman" pitchFamily="18" charset="0"/>
                        </a:rPr>
                        <a:t>lw</a:t>
                      </a:r>
                      <a:r>
                        <a:rPr kumimoji="0" lang="en-US" sz="2000" b="0" i="0" u="none" strike="noStrike" cap="none" normalizeH="0" baseline="0" dirty="0">
                          <a:ln>
                            <a:noFill/>
                          </a:ln>
                          <a:solidFill>
                            <a:schemeClr val="tx1"/>
                          </a:solidFill>
                          <a:effectLst/>
                          <a:latin typeface="Times New Roman" pitchFamily="18" charset="0"/>
                        </a:rPr>
                        <a:t> $s1</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lang="en-US" sz="1600" dirty="0">
                          <a:latin typeface="Times New Roman" panose="02020603050405020304" pitchFamily="18" charset="0"/>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endParaRPr lang="en-US" sz="1600" dirty="0">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endParaRPr lang="en-US" sz="1600" dirty="0">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add</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algn="ctr"/>
                      <a:endParaRPr lang="en-US" sz="1600" dirty="0">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lang="en-US" sz="1600" dirty="0">
                          <a:latin typeface="Times New Roman" panose="02020603050405020304" pitchFamily="18" charset="0"/>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lang="en-US" sz="1600" dirty="0">
                          <a:latin typeface="Times New Roman" panose="02020603050405020304" pitchFamily="18" charset="0"/>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596446267"/>
                  </a:ext>
                </a:extLst>
              </a:tr>
            </a:tbl>
          </a:graphicData>
        </a:graphic>
      </p:graphicFrame>
      <p:grpSp>
        <p:nvGrpSpPr>
          <p:cNvPr id="2" name="Group 1">
            <a:extLst>
              <a:ext uri="{FF2B5EF4-FFF2-40B4-BE49-F238E27FC236}">
                <a16:creationId xmlns:a16="http://schemas.microsoft.com/office/drawing/2014/main" id="{C6D34DEF-DBB8-42DE-B801-F83BD654A962}"/>
              </a:ext>
            </a:extLst>
          </p:cNvPr>
          <p:cNvGrpSpPr/>
          <p:nvPr/>
        </p:nvGrpSpPr>
        <p:grpSpPr>
          <a:xfrm>
            <a:off x="3286125" y="1252953"/>
            <a:ext cx="4791075" cy="2099847"/>
            <a:chOff x="2057400" y="1329153"/>
            <a:chExt cx="7000875" cy="1722120"/>
          </a:xfrm>
        </p:grpSpPr>
        <p:pic>
          <p:nvPicPr>
            <p:cNvPr id="8"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701AFD56-AF59-445D-AF17-4D0DACD782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329153"/>
              <a:ext cx="7000875" cy="1703766"/>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A5FEC9BD-9952-49B0-A134-41E75C683DC9}"/>
                </a:ext>
              </a:extLst>
            </p:cNvPr>
            <p:cNvCxnSpPr>
              <a:cxnSpLocks/>
            </p:cNvCxnSpPr>
            <p:nvPr/>
          </p:nvCxnSpPr>
          <p:spPr>
            <a:xfrm>
              <a:off x="6091237" y="2319753"/>
              <a:ext cx="0" cy="731520"/>
            </a:xfrm>
            <a:prstGeom prst="line">
              <a:avLst/>
            </a:prstGeom>
            <a:ln w="57150" cmpd="sng">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69945C7-4DA4-4638-AE24-AB8124FCE195}"/>
                </a:ext>
              </a:extLst>
            </p:cNvPr>
            <p:cNvCxnSpPr>
              <a:cxnSpLocks/>
            </p:cNvCxnSpPr>
            <p:nvPr/>
          </p:nvCxnSpPr>
          <p:spPr>
            <a:xfrm>
              <a:off x="9028234" y="2274033"/>
              <a:ext cx="0" cy="731520"/>
            </a:xfrm>
            <a:prstGeom prst="line">
              <a:avLst/>
            </a:prstGeom>
            <a:ln w="57150" cmpd="sng">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2F155CB-2D44-4449-A2CB-653220AD03DF}"/>
                </a:ext>
              </a:extLst>
            </p:cNvPr>
            <p:cNvCxnSpPr>
              <a:cxnSpLocks/>
            </p:cNvCxnSpPr>
            <p:nvPr/>
          </p:nvCxnSpPr>
          <p:spPr>
            <a:xfrm rot="5400000">
              <a:off x="7570781" y="1538950"/>
              <a:ext cx="0" cy="2959088"/>
            </a:xfrm>
            <a:prstGeom prst="line">
              <a:avLst/>
            </a:prstGeom>
            <a:ln w="57150" cmpd="sng">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63AC689-D673-4D3A-ABA5-68EBCC317373}"/>
                </a:ext>
              </a:extLst>
            </p:cNvPr>
            <p:cNvCxnSpPr>
              <a:cxnSpLocks/>
            </p:cNvCxnSpPr>
            <p:nvPr/>
          </p:nvCxnSpPr>
          <p:spPr>
            <a:xfrm rot="5400000">
              <a:off x="6136363" y="2259862"/>
              <a:ext cx="0" cy="174064"/>
            </a:xfrm>
            <a:prstGeom prst="line">
              <a:avLst/>
            </a:prstGeom>
            <a:ln w="57150" cmpd="sng">
              <a:solidFill>
                <a:srgbClr val="FF0000"/>
              </a:solidFill>
              <a:prstDash val="sysDot"/>
              <a:headEnd type="triangle" w="sm" len="sm"/>
            </a:ln>
          </p:spPr>
          <p:style>
            <a:lnRef idx="1">
              <a:schemeClr val="accent1"/>
            </a:lnRef>
            <a:fillRef idx="0">
              <a:schemeClr val="accent1"/>
            </a:fillRef>
            <a:effectRef idx="0">
              <a:schemeClr val="accent1"/>
            </a:effectRef>
            <a:fontRef idx="minor">
              <a:schemeClr val="tx1"/>
            </a:fontRef>
          </p:style>
        </p:cxnSp>
        <p:sp>
          <p:nvSpPr>
            <p:cNvPr id="14" name="Rectangle: Rounded Corners 13">
              <a:extLst>
                <a:ext uri="{FF2B5EF4-FFF2-40B4-BE49-F238E27FC236}">
                  <a16:creationId xmlns:a16="http://schemas.microsoft.com/office/drawing/2014/main" id="{7744B4B0-CBA7-4C10-94E4-C81765371476}"/>
                </a:ext>
              </a:extLst>
            </p:cNvPr>
            <p:cNvSpPr/>
            <p:nvPr/>
          </p:nvSpPr>
          <p:spPr>
            <a:xfrm rot="5400000">
              <a:off x="6169390" y="2275857"/>
              <a:ext cx="228593" cy="163998"/>
            </a:xfrm>
            <a:prstGeom prst="roundRect">
              <a:avLst>
                <a:gd name="adj" fmla="val 50000"/>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7456505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AB574D7-1CEB-3242-DC64-71E2BD0215D1}"/>
              </a:ext>
            </a:extLst>
          </p:cNvPr>
          <p:cNvSpPr txBox="1">
            <a:spLocks noChangeArrowheads="1"/>
          </p:cNvSpPr>
          <p:nvPr/>
        </p:nvSpPr>
        <p:spPr bwMode="auto">
          <a:xfrm>
            <a:off x="682625" y="1798638"/>
            <a:ext cx="7772400" cy="2468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84213" lvl="1" indent="-684213">
              <a:lnSpc>
                <a:spcPct val="90000"/>
              </a:lnSpc>
              <a:buFont typeface="Arial" charset="0"/>
              <a:buNone/>
            </a:pPr>
            <a:r>
              <a:rPr lang="en-US" altLang="en-US" sz="1800" b="1" dirty="0" err="1">
                <a:latin typeface="Courier New" panose="02070309020205020404" pitchFamily="49" charset="0"/>
                <a:cs typeface="Courier New" panose="02070309020205020404" pitchFamily="49" charset="0"/>
              </a:rPr>
              <a:t>lw</a:t>
            </a:r>
            <a:r>
              <a:rPr lang="en-US" altLang="en-US" sz="1800" b="1" dirty="0">
                <a:latin typeface="Courier New" panose="02070309020205020404" pitchFamily="49" charset="0"/>
                <a:cs typeface="Courier New" panose="02070309020205020404" pitchFamily="49" charset="0"/>
              </a:rPr>
              <a:t> $t0, 0($t1)</a:t>
            </a:r>
          </a:p>
          <a:p>
            <a:pPr marL="684213" lvl="1" indent="-684213">
              <a:lnSpc>
                <a:spcPct val="90000"/>
              </a:lnSpc>
              <a:buFont typeface="Arial" charset="0"/>
              <a:buNone/>
            </a:pPr>
            <a:r>
              <a:rPr lang="en-US" altLang="en-US" sz="1800" b="1" dirty="0" err="1">
                <a:latin typeface="Courier New" panose="02070309020205020404" pitchFamily="49" charset="0"/>
                <a:cs typeface="Courier New" panose="02070309020205020404" pitchFamily="49" charset="0"/>
              </a:rPr>
              <a:t>lw</a:t>
            </a:r>
            <a:r>
              <a:rPr lang="en-US" altLang="en-US" sz="1800" b="1" dirty="0">
                <a:latin typeface="Courier New" panose="02070309020205020404" pitchFamily="49" charset="0"/>
                <a:cs typeface="Courier New" panose="02070309020205020404" pitchFamily="49" charset="0"/>
              </a:rPr>
              <a:t> $s1, 4($t0)</a:t>
            </a:r>
          </a:p>
          <a:p>
            <a:pPr marL="684213" lvl="1" indent="-684213">
              <a:lnSpc>
                <a:spcPct val="90000"/>
              </a:lnSpc>
              <a:buFont typeface="Arial" charset="0"/>
              <a:buNone/>
            </a:pPr>
            <a:r>
              <a:rPr lang="en-US" altLang="en-US" sz="1800" b="1" dirty="0">
                <a:latin typeface="Courier New" panose="02070309020205020404" pitchFamily="49" charset="0"/>
                <a:cs typeface="Courier New" panose="02070309020205020404" pitchFamily="49" charset="0"/>
              </a:rPr>
              <a:t>add $t2, $t3, $s1</a:t>
            </a:r>
          </a:p>
          <a:p>
            <a:pPr marL="457200" lvl="1" indent="0">
              <a:lnSpc>
                <a:spcPct val="90000"/>
              </a:lnSpc>
              <a:buFont typeface="Arial" charset="0"/>
              <a:buNone/>
            </a:pPr>
            <a:endParaRPr lang="en-US" altLang="en-US" sz="2000" dirty="0"/>
          </a:p>
          <a:p>
            <a:pPr marL="457200" lvl="1" indent="0">
              <a:lnSpc>
                <a:spcPct val="90000"/>
              </a:lnSpc>
              <a:buFont typeface="Arial" charset="0"/>
              <a:buNone/>
            </a:pPr>
            <a:endParaRPr lang="en-US" altLang="en-US" sz="2000" dirty="0"/>
          </a:p>
          <a:p>
            <a:pPr marL="0" indent="0">
              <a:lnSpc>
                <a:spcPct val="80000"/>
              </a:lnSpc>
              <a:buFont typeface="Arial" charset="0"/>
              <a:buNone/>
            </a:pPr>
            <a:r>
              <a:rPr lang="en-US" altLang="en-US" sz="2400" dirty="0"/>
              <a:t>At </a:t>
            </a:r>
            <a:r>
              <a:rPr lang="en-US" altLang="en-US" sz="2400" b="1" dirty="0"/>
              <a:t>which cycle(s)</a:t>
            </a:r>
            <a:r>
              <a:rPr lang="en-US" altLang="en-US" sz="2400" dirty="0"/>
              <a:t> is this forwarding path enabled?</a:t>
            </a:r>
          </a:p>
          <a:p>
            <a:pPr marL="0" indent="0">
              <a:lnSpc>
                <a:spcPct val="80000"/>
              </a:lnSpc>
              <a:buFont typeface="Arial" charset="0"/>
              <a:buNone/>
            </a:pPr>
            <a:r>
              <a:rPr lang="en-US" altLang="en-US" sz="2400" dirty="0"/>
              <a:t>Assume forwarding to EX and RF bypassing.</a:t>
            </a:r>
          </a:p>
        </p:txBody>
      </p:sp>
      <p:sp>
        <p:nvSpPr>
          <p:cNvPr id="45062" name="Rectangle 2"/>
          <p:cNvSpPr>
            <a:spLocks noGrp="1" noChangeArrowheads="1"/>
          </p:cNvSpPr>
          <p:nvPr>
            <p:ph type="title"/>
          </p:nvPr>
        </p:nvSpPr>
        <p:spPr/>
        <p:txBody>
          <a:bodyPr/>
          <a:lstStyle/>
          <a:p>
            <a:r>
              <a:rPr lang="en-US" altLang="en-US" dirty="0"/>
              <a:t>Data Forwarding</a:t>
            </a:r>
          </a:p>
        </p:txBody>
      </p:sp>
      <p:sp>
        <p:nvSpPr>
          <p:cNvPr id="4506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78782E18-9ABC-41E9-BAD3-86F8EB4EABA0}" type="slidenum">
              <a:rPr lang="en-US" altLang="en-US"/>
              <a:pPr lvl="1" eaLnBrk="1" hangingPunct="1"/>
              <a:t>12</a:t>
            </a:fld>
            <a:endParaRPr lang="en-US" altLang="en-US"/>
          </a:p>
        </p:txBody>
      </p:sp>
      <p:graphicFrame>
        <p:nvGraphicFramePr>
          <p:cNvPr id="183300" name="Group 4"/>
          <p:cNvGraphicFramePr>
            <a:graphicFrameLocks noGrp="1"/>
          </p:cNvGraphicFramePr>
          <p:nvPr/>
        </p:nvGraphicFramePr>
        <p:xfrm>
          <a:off x="838200" y="4267200"/>
          <a:ext cx="7034213" cy="1768932"/>
        </p:xfrm>
        <a:graphic>
          <a:graphicData uri="http://schemas.openxmlformats.org/drawingml/2006/table">
            <a:tbl>
              <a:tblPr/>
              <a:tblGrid>
                <a:gridCol w="114300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gridCol w="450850">
                  <a:extLst>
                    <a:ext uri="{9D8B030D-6E8A-4147-A177-3AD203B41FA5}">
                      <a16:colId xmlns:a16="http://schemas.microsoft.com/office/drawing/2014/main" val="20002"/>
                    </a:ext>
                  </a:extLst>
                </a:gridCol>
                <a:gridCol w="450850">
                  <a:extLst>
                    <a:ext uri="{9D8B030D-6E8A-4147-A177-3AD203B41FA5}">
                      <a16:colId xmlns:a16="http://schemas.microsoft.com/office/drawing/2014/main" val="20003"/>
                    </a:ext>
                  </a:extLst>
                </a:gridCol>
                <a:gridCol w="450850">
                  <a:extLst>
                    <a:ext uri="{9D8B030D-6E8A-4147-A177-3AD203B41FA5}">
                      <a16:colId xmlns:a16="http://schemas.microsoft.com/office/drawing/2014/main" val="20004"/>
                    </a:ext>
                  </a:extLst>
                </a:gridCol>
                <a:gridCol w="452438">
                  <a:extLst>
                    <a:ext uri="{9D8B030D-6E8A-4147-A177-3AD203B41FA5}">
                      <a16:colId xmlns:a16="http://schemas.microsoft.com/office/drawing/2014/main" val="20005"/>
                    </a:ext>
                  </a:extLst>
                </a:gridCol>
                <a:gridCol w="450850">
                  <a:extLst>
                    <a:ext uri="{9D8B030D-6E8A-4147-A177-3AD203B41FA5}">
                      <a16:colId xmlns:a16="http://schemas.microsoft.com/office/drawing/2014/main" val="20006"/>
                    </a:ext>
                  </a:extLst>
                </a:gridCol>
                <a:gridCol w="450850">
                  <a:extLst>
                    <a:ext uri="{9D8B030D-6E8A-4147-A177-3AD203B41FA5}">
                      <a16:colId xmlns:a16="http://schemas.microsoft.com/office/drawing/2014/main" val="20007"/>
                    </a:ext>
                  </a:extLst>
                </a:gridCol>
                <a:gridCol w="452437">
                  <a:extLst>
                    <a:ext uri="{9D8B030D-6E8A-4147-A177-3AD203B41FA5}">
                      <a16:colId xmlns:a16="http://schemas.microsoft.com/office/drawing/2014/main" val="20008"/>
                    </a:ext>
                  </a:extLst>
                </a:gridCol>
                <a:gridCol w="450850">
                  <a:extLst>
                    <a:ext uri="{9D8B030D-6E8A-4147-A177-3AD203B41FA5}">
                      <a16:colId xmlns:a16="http://schemas.microsoft.com/office/drawing/2014/main" val="20009"/>
                    </a:ext>
                  </a:extLst>
                </a:gridCol>
                <a:gridCol w="450850">
                  <a:extLst>
                    <a:ext uri="{9D8B030D-6E8A-4147-A177-3AD203B41FA5}">
                      <a16:colId xmlns:a16="http://schemas.microsoft.com/office/drawing/2014/main" val="20010"/>
                    </a:ext>
                  </a:extLst>
                </a:gridCol>
                <a:gridCol w="450850">
                  <a:extLst>
                    <a:ext uri="{9D8B030D-6E8A-4147-A177-3AD203B41FA5}">
                      <a16:colId xmlns:a16="http://schemas.microsoft.com/office/drawing/2014/main" val="20011"/>
                    </a:ext>
                  </a:extLst>
                </a:gridCol>
                <a:gridCol w="452438">
                  <a:extLst>
                    <a:ext uri="{9D8B030D-6E8A-4147-A177-3AD203B41FA5}">
                      <a16:colId xmlns:a16="http://schemas.microsoft.com/office/drawing/2014/main" val="20012"/>
                    </a:ext>
                  </a:extLst>
                </a:gridCol>
                <a:gridCol w="450850">
                  <a:extLst>
                    <a:ext uri="{9D8B030D-6E8A-4147-A177-3AD203B41FA5}">
                      <a16:colId xmlns:a16="http://schemas.microsoft.com/office/drawing/2014/main" val="20013"/>
                    </a:ext>
                  </a:extLst>
                </a:gridCol>
              </a:tblGrid>
              <a:tr h="45720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err="1">
                          <a:ln>
                            <a:noFill/>
                          </a:ln>
                          <a:solidFill>
                            <a:schemeClr val="tx1"/>
                          </a:solidFill>
                          <a:effectLst/>
                          <a:latin typeface="Times New Roman" pitchFamily="18" charset="0"/>
                        </a:rPr>
                        <a:t>insn</a:t>
                      </a:r>
                      <a:r>
                        <a:rPr kumimoji="0" lang="en-US" sz="1800" b="1" i="0" u="none" strike="noStrike" cap="none" normalizeH="0" baseline="0" dirty="0">
                          <a:ln>
                            <a:noFill/>
                          </a:ln>
                          <a:solidFill>
                            <a:schemeClr val="tx1"/>
                          </a:solidFill>
                          <a:effectLst/>
                          <a:latin typeface="Times New Roman" pitchFamily="18" charset="0"/>
                        </a:rPr>
                        <a:t>\cycle</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13</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err="1">
                          <a:ln>
                            <a:noFill/>
                          </a:ln>
                          <a:solidFill>
                            <a:schemeClr val="tx1"/>
                          </a:solidFill>
                          <a:effectLst/>
                          <a:latin typeface="Times New Roman" pitchFamily="18" charset="0"/>
                        </a:rPr>
                        <a:t>lw</a:t>
                      </a:r>
                      <a:r>
                        <a:rPr kumimoji="0" lang="en-US" sz="2000" b="0" i="0" u="none" strike="noStrike" cap="none" normalizeH="0" baseline="0" dirty="0">
                          <a:ln>
                            <a:noFill/>
                          </a:ln>
                          <a:solidFill>
                            <a:schemeClr val="tx1"/>
                          </a:solidFill>
                          <a:effectLst/>
                          <a:latin typeface="Times New Roman" pitchFamily="18" charset="0"/>
                        </a:rPr>
                        <a:t> $t0</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err="1">
                          <a:ln>
                            <a:noFill/>
                          </a:ln>
                          <a:solidFill>
                            <a:schemeClr val="tx1"/>
                          </a:solidFill>
                          <a:effectLst/>
                          <a:latin typeface="Times New Roman" pitchFamily="18" charset="0"/>
                        </a:rPr>
                        <a:t>lw</a:t>
                      </a:r>
                      <a:r>
                        <a:rPr kumimoji="0" lang="en-US" sz="2000" b="0" i="0" u="none" strike="noStrike" cap="none" normalizeH="0" baseline="0" dirty="0">
                          <a:ln>
                            <a:noFill/>
                          </a:ln>
                          <a:solidFill>
                            <a:schemeClr val="tx1"/>
                          </a:solidFill>
                          <a:effectLst/>
                          <a:latin typeface="Times New Roman" pitchFamily="18" charset="0"/>
                        </a:rPr>
                        <a:t> $s1</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lang="en-US" sz="1600" dirty="0">
                          <a:latin typeface="Times New Roman" panose="02020603050405020304" pitchFamily="18" charset="0"/>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endParaRPr lang="en-US" sz="1600" dirty="0">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endParaRPr lang="en-US" sz="1600" dirty="0">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add</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algn="ctr"/>
                      <a:endParaRPr lang="en-US" sz="1600" dirty="0">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lang="en-US" sz="1600" dirty="0">
                          <a:latin typeface="Times New Roman" panose="02020603050405020304" pitchFamily="18" charset="0"/>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lang="en-US" sz="1600" dirty="0">
                          <a:latin typeface="Times New Roman" panose="02020603050405020304" pitchFamily="18" charset="0"/>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596446267"/>
                  </a:ext>
                </a:extLst>
              </a:tr>
            </a:tbl>
          </a:graphicData>
        </a:graphic>
      </p:graphicFrame>
      <p:cxnSp>
        <p:nvCxnSpPr>
          <p:cNvPr id="13" name="Straight Arrow Connector 12">
            <a:extLst>
              <a:ext uri="{FF2B5EF4-FFF2-40B4-BE49-F238E27FC236}">
                <a16:creationId xmlns:a16="http://schemas.microsoft.com/office/drawing/2014/main" id="{CFCE4773-D4D9-4F5E-84D0-CEAEBE1559DA}"/>
              </a:ext>
            </a:extLst>
          </p:cNvPr>
          <p:cNvCxnSpPr/>
          <p:nvPr/>
        </p:nvCxnSpPr>
        <p:spPr>
          <a:xfrm>
            <a:off x="4800600" y="5410200"/>
            <a:ext cx="0" cy="457200"/>
          </a:xfrm>
          <a:prstGeom prst="straightConnector1">
            <a:avLst/>
          </a:prstGeom>
          <a:ln w="38100">
            <a:solidFill>
              <a:srgbClr val="FF0000"/>
            </a:solidFill>
            <a:headEnd type="oval"/>
            <a:tailEnd type="triangle" w="med" len="lg"/>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C6D34DEF-DBB8-42DE-B801-F83BD654A962}"/>
              </a:ext>
            </a:extLst>
          </p:cNvPr>
          <p:cNvGrpSpPr/>
          <p:nvPr/>
        </p:nvGrpSpPr>
        <p:grpSpPr>
          <a:xfrm>
            <a:off x="3286125" y="1252953"/>
            <a:ext cx="4791075" cy="2099847"/>
            <a:chOff x="2057400" y="1329153"/>
            <a:chExt cx="7000875" cy="1722120"/>
          </a:xfrm>
        </p:grpSpPr>
        <p:pic>
          <p:nvPicPr>
            <p:cNvPr id="8"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701AFD56-AF59-445D-AF17-4D0DACD782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329153"/>
              <a:ext cx="7000875" cy="1703766"/>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A5FEC9BD-9952-49B0-A134-41E75C683DC9}"/>
                </a:ext>
              </a:extLst>
            </p:cNvPr>
            <p:cNvCxnSpPr>
              <a:cxnSpLocks/>
            </p:cNvCxnSpPr>
            <p:nvPr/>
          </p:nvCxnSpPr>
          <p:spPr>
            <a:xfrm>
              <a:off x="6091237" y="2319753"/>
              <a:ext cx="0" cy="731520"/>
            </a:xfrm>
            <a:prstGeom prst="line">
              <a:avLst/>
            </a:prstGeom>
            <a:ln w="57150" cmpd="sng">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69945C7-4DA4-4638-AE24-AB8124FCE195}"/>
                </a:ext>
              </a:extLst>
            </p:cNvPr>
            <p:cNvCxnSpPr>
              <a:cxnSpLocks/>
            </p:cNvCxnSpPr>
            <p:nvPr/>
          </p:nvCxnSpPr>
          <p:spPr>
            <a:xfrm>
              <a:off x="9028234" y="2274033"/>
              <a:ext cx="0" cy="731520"/>
            </a:xfrm>
            <a:prstGeom prst="line">
              <a:avLst/>
            </a:prstGeom>
            <a:ln w="57150" cmpd="sng">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2F155CB-2D44-4449-A2CB-653220AD03DF}"/>
                </a:ext>
              </a:extLst>
            </p:cNvPr>
            <p:cNvCxnSpPr>
              <a:cxnSpLocks/>
            </p:cNvCxnSpPr>
            <p:nvPr/>
          </p:nvCxnSpPr>
          <p:spPr>
            <a:xfrm rot="5400000">
              <a:off x="7570781" y="1538950"/>
              <a:ext cx="0" cy="2959088"/>
            </a:xfrm>
            <a:prstGeom prst="line">
              <a:avLst/>
            </a:prstGeom>
            <a:ln w="57150" cmpd="sng">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63AC689-D673-4D3A-ABA5-68EBCC317373}"/>
                </a:ext>
              </a:extLst>
            </p:cNvPr>
            <p:cNvCxnSpPr>
              <a:cxnSpLocks/>
            </p:cNvCxnSpPr>
            <p:nvPr/>
          </p:nvCxnSpPr>
          <p:spPr>
            <a:xfrm rot="5400000">
              <a:off x="6136363" y="2259862"/>
              <a:ext cx="0" cy="174064"/>
            </a:xfrm>
            <a:prstGeom prst="line">
              <a:avLst/>
            </a:prstGeom>
            <a:ln w="57150" cmpd="sng">
              <a:solidFill>
                <a:srgbClr val="FF0000"/>
              </a:solidFill>
              <a:prstDash val="sysDot"/>
              <a:headEnd type="triangle" w="sm" len="sm"/>
            </a:ln>
          </p:spPr>
          <p:style>
            <a:lnRef idx="1">
              <a:schemeClr val="accent1"/>
            </a:lnRef>
            <a:fillRef idx="0">
              <a:schemeClr val="accent1"/>
            </a:fillRef>
            <a:effectRef idx="0">
              <a:schemeClr val="accent1"/>
            </a:effectRef>
            <a:fontRef idx="minor">
              <a:schemeClr val="tx1"/>
            </a:fontRef>
          </p:style>
        </p:cxnSp>
        <p:sp>
          <p:nvSpPr>
            <p:cNvPr id="14" name="Rectangle: Rounded Corners 13">
              <a:extLst>
                <a:ext uri="{FF2B5EF4-FFF2-40B4-BE49-F238E27FC236}">
                  <a16:creationId xmlns:a16="http://schemas.microsoft.com/office/drawing/2014/main" id="{7744B4B0-CBA7-4C10-94E4-C81765371476}"/>
                </a:ext>
              </a:extLst>
            </p:cNvPr>
            <p:cNvSpPr/>
            <p:nvPr/>
          </p:nvSpPr>
          <p:spPr>
            <a:xfrm rot="5400000">
              <a:off x="6169390" y="2275857"/>
              <a:ext cx="228593" cy="163998"/>
            </a:xfrm>
            <a:prstGeom prst="roundRect">
              <a:avLst>
                <a:gd name="adj" fmla="val 50000"/>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3">
            <a:extLst>
              <a:ext uri="{FF2B5EF4-FFF2-40B4-BE49-F238E27FC236}">
                <a16:creationId xmlns:a16="http://schemas.microsoft.com/office/drawing/2014/main" id="{DEE9DB09-CF6D-4647-969F-13B79CFC9E33}"/>
              </a:ext>
            </a:extLst>
          </p:cNvPr>
          <p:cNvSpPr txBox="1">
            <a:spLocks noChangeArrowheads="1"/>
          </p:cNvSpPr>
          <p:nvPr/>
        </p:nvSpPr>
        <p:spPr bwMode="auto">
          <a:xfrm>
            <a:off x="762000" y="6096000"/>
            <a:ext cx="8229600" cy="441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en-US" sz="2400" b="1" dirty="0">
                <a:solidFill>
                  <a:schemeClr val="accent6">
                    <a:lumMod val="75000"/>
                  </a:schemeClr>
                </a:solidFill>
              </a:rPr>
              <a:t>Cycle 7</a:t>
            </a:r>
            <a:endParaRPr lang="en-US" altLang="en-US" sz="2000" b="1" dirty="0">
              <a:solidFill>
                <a:schemeClr val="accent6">
                  <a:lumMod val="75000"/>
                </a:schemeClr>
              </a:solidFill>
            </a:endParaRPr>
          </a:p>
        </p:txBody>
      </p:sp>
    </p:spTree>
    <p:extLst>
      <p:ext uri="{BB962C8B-B14F-4D97-AF65-F5344CB8AC3E}">
        <p14:creationId xmlns:p14="http://schemas.microsoft.com/office/powerpoint/2010/main" val="218217081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Branch Prediction</a:t>
            </a:r>
          </a:p>
        </p:txBody>
      </p:sp>
      <p:sp>
        <p:nvSpPr>
          <p:cNvPr id="39941" name="Rectangle 3"/>
          <p:cNvSpPr>
            <a:spLocks noGrp="1" noChangeArrowheads="1"/>
          </p:cNvSpPr>
          <p:nvPr>
            <p:ph idx="1"/>
          </p:nvPr>
        </p:nvSpPr>
        <p:spPr>
          <a:xfrm>
            <a:off x="457200" y="1295400"/>
            <a:ext cx="8229600" cy="4724400"/>
          </a:xfrm>
        </p:spPr>
        <p:txBody>
          <a:bodyPr/>
          <a:lstStyle/>
          <a:p>
            <a:pPr marL="0" indent="0">
              <a:buNone/>
            </a:pPr>
            <a:r>
              <a:rPr lang="en-US" altLang="en-US" sz="2400" dirty="0"/>
              <a:t>Consider a </a:t>
            </a:r>
            <a:r>
              <a:rPr lang="en-US" altLang="en-US" sz="2400" b="1" dirty="0"/>
              <a:t>branch predictor </a:t>
            </a:r>
            <a:r>
              <a:rPr lang="en-US" altLang="en-US" sz="2400" dirty="0"/>
              <a:t>that uses a BHT with 8 entries, each containing a 1-bit prediction (1=taken). Assume the current state of the BHT as shown below. You encounter a branch instruction at address PC=0x10001014, and it is found to be </a:t>
            </a:r>
            <a:r>
              <a:rPr lang="en-US" altLang="en-US" sz="2400" b="1" dirty="0"/>
              <a:t>not taken</a:t>
            </a:r>
            <a:r>
              <a:rPr lang="en-US" altLang="en-US" sz="2400" dirty="0"/>
              <a:t>; specify the following:</a:t>
            </a:r>
          </a:p>
          <a:p>
            <a:r>
              <a:rPr lang="en-US" altLang="en-US" sz="2400" dirty="0"/>
              <a:t>BHT index of this branch:</a:t>
            </a:r>
          </a:p>
          <a:p>
            <a:pPr lvl="1">
              <a:buFont typeface="Wingdings" panose="05000000000000000000" pitchFamily="2" charset="2"/>
              <a:buChar char="Ø"/>
            </a:pPr>
            <a:r>
              <a:rPr lang="en-US" altLang="en-US" sz="2000" b="1" dirty="0">
                <a:solidFill>
                  <a:schemeClr val="accent6">
                    <a:lumMod val="75000"/>
                  </a:schemeClr>
                </a:solidFill>
              </a:rPr>
              <a:t>5</a:t>
            </a:r>
          </a:p>
          <a:p>
            <a:r>
              <a:rPr lang="en-US" altLang="en-US" sz="2400" dirty="0"/>
              <a:t>Prediction for this branch:</a:t>
            </a:r>
          </a:p>
          <a:p>
            <a:pPr lvl="1">
              <a:buFont typeface="Wingdings" panose="05000000000000000000" pitchFamily="2" charset="2"/>
              <a:buChar char="Ø"/>
            </a:pPr>
            <a:r>
              <a:rPr lang="en-US" altLang="en-US" sz="2000" b="1" dirty="0">
                <a:solidFill>
                  <a:schemeClr val="accent6">
                    <a:lumMod val="75000"/>
                  </a:schemeClr>
                </a:solidFill>
              </a:rPr>
              <a:t>taken</a:t>
            </a:r>
          </a:p>
          <a:p>
            <a:r>
              <a:rPr lang="en-US" altLang="en-US" sz="2400" dirty="0"/>
              <a:t>Updated BHT entry value:</a:t>
            </a:r>
          </a:p>
          <a:p>
            <a:pPr lvl="1">
              <a:buFont typeface="Wingdings" panose="05000000000000000000" pitchFamily="2" charset="2"/>
              <a:buChar char="Ø"/>
            </a:pPr>
            <a:r>
              <a:rPr lang="en-US" altLang="en-US" sz="2000" b="1" dirty="0">
                <a:solidFill>
                  <a:schemeClr val="accent6">
                    <a:lumMod val="75000"/>
                  </a:schemeClr>
                </a:solidFill>
              </a:rPr>
              <a:t>0</a:t>
            </a:r>
            <a:endParaRPr lang="en-US" altLang="en-US" sz="1600" b="1" dirty="0">
              <a:solidFill>
                <a:schemeClr val="accent6">
                  <a:lumMod val="75000"/>
                </a:schemeClr>
              </a:solidFill>
            </a:endParaRP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13</a:t>
            </a:fld>
            <a:endParaRPr lang="en-US" altLang="en-US"/>
          </a:p>
        </p:txBody>
      </p:sp>
      <p:graphicFrame>
        <p:nvGraphicFramePr>
          <p:cNvPr id="3" name="Table 2">
            <a:extLst>
              <a:ext uri="{FF2B5EF4-FFF2-40B4-BE49-F238E27FC236}">
                <a16:creationId xmlns:a16="http://schemas.microsoft.com/office/drawing/2014/main" id="{558FB7BC-B5D6-4105-5921-F15587839971}"/>
              </a:ext>
            </a:extLst>
          </p:cNvPr>
          <p:cNvGraphicFramePr>
            <a:graphicFrameLocks noGrp="1"/>
          </p:cNvGraphicFramePr>
          <p:nvPr>
            <p:extLst>
              <p:ext uri="{D42A27DB-BD31-4B8C-83A1-F6EECF244321}">
                <p14:modId xmlns:p14="http://schemas.microsoft.com/office/powerpoint/2010/main" val="3212227958"/>
              </p:ext>
            </p:extLst>
          </p:nvPr>
        </p:nvGraphicFramePr>
        <p:xfrm>
          <a:off x="5486400" y="2971800"/>
          <a:ext cx="2895600" cy="3261360"/>
        </p:xfrm>
        <a:graphic>
          <a:graphicData uri="http://schemas.openxmlformats.org/drawingml/2006/table">
            <a:tbl>
              <a:tblPr firstRow="1" bandRow="1">
                <a:tableStyleId>{073A0DAA-6AF3-43AB-8588-CEC1D06C72B9}</a:tableStyleId>
              </a:tblPr>
              <a:tblGrid>
                <a:gridCol w="1034143">
                  <a:extLst>
                    <a:ext uri="{9D8B030D-6E8A-4147-A177-3AD203B41FA5}">
                      <a16:colId xmlns:a16="http://schemas.microsoft.com/office/drawing/2014/main" val="4189634835"/>
                    </a:ext>
                  </a:extLst>
                </a:gridCol>
                <a:gridCol w="1861457">
                  <a:extLst>
                    <a:ext uri="{9D8B030D-6E8A-4147-A177-3AD203B41FA5}">
                      <a16:colId xmlns:a16="http://schemas.microsoft.com/office/drawing/2014/main" val="2434497180"/>
                    </a:ext>
                  </a:extLst>
                </a:gridCol>
              </a:tblGrid>
              <a:tr h="559619">
                <a:tc>
                  <a:txBody>
                    <a:bodyPr/>
                    <a:lstStyle/>
                    <a:p>
                      <a:pPr algn="ctr"/>
                      <a:r>
                        <a:rPr lang="en-US" sz="1600" dirty="0"/>
                        <a:t>index</a:t>
                      </a:r>
                    </a:p>
                    <a:p>
                      <a:pPr algn="ctr"/>
                      <a:r>
                        <a:rPr lang="en-US" sz="1600" dirty="0"/>
                        <a:t>PC[4:2]</a:t>
                      </a:r>
                    </a:p>
                  </a:txBody>
                  <a:tcPr anchor="ctr"/>
                </a:tc>
                <a:tc>
                  <a:txBody>
                    <a:bodyPr/>
                    <a:lstStyle/>
                    <a:p>
                      <a:pPr algn="ctr"/>
                      <a:r>
                        <a:rPr lang="en-US" sz="1600" dirty="0"/>
                        <a:t>1-bit prediction</a:t>
                      </a:r>
                    </a:p>
                    <a:p>
                      <a:pPr algn="ctr"/>
                      <a:r>
                        <a:rPr lang="en-US" sz="1600" dirty="0"/>
                        <a:t>(1=taken)</a:t>
                      </a:r>
                    </a:p>
                  </a:txBody>
                  <a:tcPr anchor="ctr"/>
                </a:tc>
                <a:extLst>
                  <a:ext uri="{0D108BD9-81ED-4DB2-BD59-A6C34878D82A}">
                    <a16:rowId xmlns:a16="http://schemas.microsoft.com/office/drawing/2014/main" val="2798195405"/>
                  </a:ext>
                </a:extLst>
              </a:tr>
              <a:tr h="324224">
                <a:tc>
                  <a:txBody>
                    <a:bodyPr/>
                    <a:lstStyle/>
                    <a:p>
                      <a:pPr algn="ctr"/>
                      <a:r>
                        <a:rPr lang="en-US" sz="1600" dirty="0"/>
                        <a:t>0</a:t>
                      </a:r>
                    </a:p>
                  </a:txBody>
                  <a:tcPr anchor="ctr"/>
                </a:tc>
                <a:tc>
                  <a:txBody>
                    <a:bodyPr/>
                    <a:lstStyle/>
                    <a:p>
                      <a:pPr algn="ctr"/>
                      <a:r>
                        <a:rPr lang="en-US" sz="1600" dirty="0"/>
                        <a:t>0</a:t>
                      </a:r>
                    </a:p>
                  </a:txBody>
                  <a:tcPr anchor="ctr"/>
                </a:tc>
                <a:extLst>
                  <a:ext uri="{0D108BD9-81ED-4DB2-BD59-A6C34878D82A}">
                    <a16:rowId xmlns:a16="http://schemas.microsoft.com/office/drawing/2014/main" val="591660765"/>
                  </a:ext>
                </a:extLst>
              </a:tr>
              <a:tr h="324224">
                <a:tc>
                  <a:txBody>
                    <a:bodyPr/>
                    <a:lstStyle/>
                    <a:p>
                      <a:pPr algn="ctr"/>
                      <a:r>
                        <a:rPr lang="en-US" sz="1600" dirty="0"/>
                        <a:t>1</a:t>
                      </a:r>
                    </a:p>
                  </a:txBody>
                  <a:tcPr anchor="ctr"/>
                </a:tc>
                <a:tc>
                  <a:txBody>
                    <a:bodyPr/>
                    <a:lstStyle/>
                    <a:p>
                      <a:pPr algn="ctr"/>
                      <a:r>
                        <a:rPr lang="en-US" sz="1600" dirty="0"/>
                        <a:t>1</a:t>
                      </a:r>
                    </a:p>
                  </a:txBody>
                  <a:tcPr anchor="ctr"/>
                </a:tc>
                <a:extLst>
                  <a:ext uri="{0D108BD9-81ED-4DB2-BD59-A6C34878D82A}">
                    <a16:rowId xmlns:a16="http://schemas.microsoft.com/office/drawing/2014/main" val="2117845138"/>
                  </a:ext>
                </a:extLst>
              </a:tr>
              <a:tr h="324224">
                <a:tc>
                  <a:txBody>
                    <a:bodyPr/>
                    <a:lstStyle/>
                    <a:p>
                      <a:pPr algn="ctr"/>
                      <a:r>
                        <a:rPr lang="en-US" sz="1600" dirty="0"/>
                        <a:t>2</a:t>
                      </a:r>
                    </a:p>
                  </a:txBody>
                  <a:tcPr anchor="ctr"/>
                </a:tc>
                <a:tc>
                  <a:txBody>
                    <a:bodyPr/>
                    <a:lstStyle/>
                    <a:p>
                      <a:pPr algn="ctr"/>
                      <a:r>
                        <a:rPr lang="en-US" sz="1600" dirty="0"/>
                        <a:t>1</a:t>
                      </a:r>
                    </a:p>
                  </a:txBody>
                  <a:tcPr anchor="ctr"/>
                </a:tc>
                <a:extLst>
                  <a:ext uri="{0D108BD9-81ED-4DB2-BD59-A6C34878D82A}">
                    <a16:rowId xmlns:a16="http://schemas.microsoft.com/office/drawing/2014/main" val="220516696"/>
                  </a:ext>
                </a:extLst>
              </a:tr>
              <a:tr h="324224">
                <a:tc>
                  <a:txBody>
                    <a:bodyPr/>
                    <a:lstStyle/>
                    <a:p>
                      <a:pPr algn="ctr"/>
                      <a:r>
                        <a:rPr lang="en-US" sz="1600" dirty="0"/>
                        <a:t>3</a:t>
                      </a:r>
                    </a:p>
                  </a:txBody>
                  <a:tcPr anchor="ctr"/>
                </a:tc>
                <a:tc>
                  <a:txBody>
                    <a:bodyPr/>
                    <a:lstStyle/>
                    <a:p>
                      <a:pPr algn="ctr"/>
                      <a:r>
                        <a:rPr lang="en-US" sz="1600" dirty="0"/>
                        <a:t>0</a:t>
                      </a:r>
                    </a:p>
                  </a:txBody>
                  <a:tcPr anchor="ctr"/>
                </a:tc>
                <a:extLst>
                  <a:ext uri="{0D108BD9-81ED-4DB2-BD59-A6C34878D82A}">
                    <a16:rowId xmlns:a16="http://schemas.microsoft.com/office/drawing/2014/main" val="2664973891"/>
                  </a:ext>
                </a:extLst>
              </a:tr>
              <a:tr h="324224">
                <a:tc>
                  <a:txBody>
                    <a:bodyPr/>
                    <a:lstStyle/>
                    <a:p>
                      <a:pPr algn="ctr"/>
                      <a:r>
                        <a:rPr lang="en-US" sz="1600" dirty="0"/>
                        <a:t>4</a:t>
                      </a:r>
                    </a:p>
                  </a:txBody>
                  <a:tcPr anchor="ctr"/>
                </a:tc>
                <a:tc>
                  <a:txBody>
                    <a:bodyPr/>
                    <a:lstStyle/>
                    <a:p>
                      <a:pPr algn="ctr"/>
                      <a:r>
                        <a:rPr lang="en-US" sz="1600" dirty="0"/>
                        <a:t>1</a:t>
                      </a:r>
                    </a:p>
                  </a:txBody>
                  <a:tcPr anchor="ctr"/>
                </a:tc>
                <a:extLst>
                  <a:ext uri="{0D108BD9-81ED-4DB2-BD59-A6C34878D82A}">
                    <a16:rowId xmlns:a16="http://schemas.microsoft.com/office/drawing/2014/main" val="2040950421"/>
                  </a:ext>
                </a:extLst>
              </a:tr>
              <a:tr h="324224">
                <a:tc>
                  <a:txBody>
                    <a:bodyPr/>
                    <a:lstStyle/>
                    <a:p>
                      <a:pPr algn="ctr"/>
                      <a:r>
                        <a:rPr lang="en-US" sz="1600" dirty="0"/>
                        <a:t>5</a:t>
                      </a:r>
                    </a:p>
                  </a:txBody>
                  <a:tcPr anchor="ctr"/>
                </a:tc>
                <a:tc>
                  <a:txBody>
                    <a:bodyPr/>
                    <a:lstStyle/>
                    <a:p>
                      <a:pPr algn="ctr"/>
                      <a:r>
                        <a:rPr lang="en-US" sz="1600" dirty="0"/>
                        <a:t>1</a:t>
                      </a:r>
                    </a:p>
                  </a:txBody>
                  <a:tcPr anchor="ctr"/>
                </a:tc>
                <a:extLst>
                  <a:ext uri="{0D108BD9-81ED-4DB2-BD59-A6C34878D82A}">
                    <a16:rowId xmlns:a16="http://schemas.microsoft.com/office/drawing/2014/main" val="3784931"/>
                  </a:ext>
                </a:extLst>
              </a:tr>
              <a:tr h="324224">
                <a:tc>
                  <a:txBody>
                    <a:bodyPr/>
                    <a:lstStyle/>
                    <a:p>
                      <a:pPr algn="ctr"/>
                      <a:r>
                        <a:rPr lang="en-US" sz="1600" dirty="0"/>
                        <a:t>6</a:t>
                      </a:r>
                    </a:p>
                  </a:txBody>
                  <a:tcPr anchor="ctr"/>
                </a:tc>
                <a:tc>
                  <a:txBody>
                    <a:bodyPr/>
                    <a:lstStyle/>
                    <a:p>
                      <a:pPr algn="ctr"/>
                      <a:r>
                        <a:rPr lang="en-US" sz="1600" dirty="0"/>
                        <a:t>0</a:t>
                      </a:r>
                    </a:p>
                  </a:txBody>
                  <a:tcPr anchor="ctr"/>
                </a:tc>
                <a:extLst>
                  <a:ext uri="{0D108BD9-81ED-4DB2-BD59-A6C34878D82A}">
                    <a16:rowId xmlns:a16="http://schemas.microsoft.com/office/drawing/2014/main" val="375711294"/>
                  </a:ext>
                </a:extLst>
              </a:tr>
              <a:tr h="324224">
                <a:tc>
                  <a:txBody>
                    <a:bodyPr/>
                    <a:lstStyle/>
                    <a:p>
                      <a:pPr algn="ctr"/>
                      <a:r>
                        <a:rPr lang="en-US" sz="1600" dirty="0"/>
                        <a:t>7</a:t>
                      </a:r>
                    </a:p>
                  </a:txBody>
                  <a:tcPr anchor="ctr"/>
                </a:tc>
                <a:tc>
                  <a:txBody>
                    <a:bodyPr/>
                    <a:lstStyle/>
                    <a:p>
                      <a:pPr algn="ctr"/>
                      <a:r>
                        <a:rPr lang="en-US" sz="1600" dirty="0"/>
                        <a:t>0</a:t>
                      </a:r>
                    </a:p>
                  </a:txBody>
                  <a:tcPr anchor="ctr"/>
                </a:tc>
                <a:extLst>
                  <a:ext uri="{0D108BD9-81ED-4DB2-BD59-A6C34878D82A}">
                    <a16:rowId xmlns:a16="http://schemas.microsoft.com/office/drawing/2014/main" val="3277669573"/>
                  </a:ext>
                </a:extLst>
              </a:tr>
            </a:tbl>
          </a:graphicData>
        </a:graphic>
      </p:graphicFrame>
    </p:spTree>
    <p:extLst>
      <p:ext uri="{BB962C8B-B14F-4D97-AF65-F5344CB8AC3E}">
        <p14:creationId xmlns:p14="http://schemas.microsoft.com/office/powerpoint/2010/main" val="345660302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4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941">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94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Branch Delay Slots</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14</a:t>
            </a:fld>
            <a:endParaRPr lang="en-US" altLang="en-US"/>
          </a:p>
        </p:txBody>
      </p:sp>
      <p:sp>
        <p:nvSpPr>
          <p:cNvPr id="9" name="Rectangle 3">
            <a:extLst>
              <a:ext uri="{FF2B5EF4-FFF2-40B4-BE49-F238E27FC236}">
                <a16:creationId xmlns:a16="http://schemas.microsoft.com/office/drawing/2014/main" id="{19994F55-828F-4DBF-AA0D-72ED801B65AA}"/>
              </a:ext>
            </a:extLst>
          </p:cNvPr>
          <p:cNvSpPr>
            <a:spLocks noGrp="1" noChangeArrowheads="1"/>
          </p:cNvSpPr>
          <p:nvPr>
            <p:ph idx="1"/>
          </p:nvPr>
        </p:nvSpPr>
        <p:spPr>
          <a:xfrm>
            <a:off x="457200" y="1295400"/>
            <a:ext cx="8077200" cy="1524000"/>
          </a:xfrm>
        </p:spPr>
        <p:txBody>
          <a:bodyPr/>
          <a:lstStyle/>
          <a:p>
            <a:pPr marL="0" indent="0">
              <a:buNone/>
            </a:pPr>
            <a:r>
              <a:rPr lang="en-US" altLang="en-US" sz="2400" dirty="0"/>
              <a:t>Which of the instructions below can individually be legally removed from its current position in the program and placed into the </a:t>
            </a:r>
            <a:r>
              <a:rPr lang="en-US" altLang="en-US" sz="2400" b="1" dirty="0"/>
              <a:t>branch delay slot </a:t>
            </a:r>
            <a:r>
              <a:rPr lang="en-US" altLang="en-US" sz="2400" dirty="0"/>
              <a:t>instead? Ignore potential exceptions.</a:t>
            </a:r>
            <a:endParaRPr lang="en-US" altLang="en-US" sz="2000" dirty="0"/>
          </a:p>
        </p:txBody>
      </p:sp>
      <p:sp>
        <p:nvSpPr>
          <p:cNvPr id="2" name="Rectangle 3">
            <a:extLst>
              <a:ext uri="{FF2B5EF4-FFF2-40B4-BE49-F238E27FC236}">
                <a16:creationId xmlns:a16="http://schemas.microsoft.com/office/drawing/2014/main" id="{F328B0AF-DD12-1299-6EDB-B6C79EBF7BC2}"/>
              </a:ext>
            </a:extLst>
          </p:cNvPr>
          <p:cNvSpPr txBox="1">
            <a:spLocks noChangeArrowheads="1"/>
          </p:cNvSpPr>
          <p:nvPr/>
        </p:nvSpPr>
        <p:spPr bwMode="auto">
          <a:xfrm>
            <a:off x="457200" y="4572000"/>
            <a:ext cx="8077200"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sz="2400" dirty="0"/>
              <a:t>L2?</a:t>
            </a:r>
          </a:p>
          <a:p>
            <a:r>
              <a:rPr lang="en-US" altLang="en-US" sz="2400" dirty="0"/>
              <a:t>L3?</a:t>
            </a:r>
          </a:p>
          <a:p>
            <a:r>
              <a:rPr lang="en-US" altLang="en-US" sz="2400" dirty="0"/>
              <a:t>L5?</a:t>
            </a:r>
          </a:p>
        </p:txBody>
      </p:sp>
      <p:graphicFrame>
        <p:nvGraphicFramePr>
          <p:cNvPr id="5" name="Table 4">
            <a:extLst>
              <a:ext uri="{FF2B5EF4-FFF2-40B4-BE49-F238E27FC236}">
                <a16:creationId xmlns:a16="http://schemas.microsoft.com/office/drawing/2014/main" id="{3B3723C1-D448-ABAB-7EBE-357BB52C7475}"/>
              </a:ext>
            </a:extLst>
          </p:cNvPr>
          <p:cNvGraphicFramePr>
            <a:graphicFrameLocks noGrp="1"/>
          </p:cNvGraphicFramePr>
          <p:nvPr>
            <p:extLst>
              <p:ext uri="{D42A27DB-BD31-4B8C-83A1-F6EECF244321}">
                <p14:modId xmlns:p14="http://schemas.microsoft.com/office/powerpoint/2010/main" val="628236009"/>
              </p:ext>
            </p:extLst>
          </p:nvPr>
        </p:nvGraphicFramePr>
        <p:xfrm>
          <a:off x="2673843" y="2639035"/>
          <a:ext cx="3643914" cy="1950720"/>
        </p:xfrm>
        <a:graphic>
          <a:graphicData uri="http://schemas.openxmlformats.org/drawingml/2006/table">
            <a:tbl>
              <a:tblPr firstRow="1" firstCol="1" bandRow="1">
                <a:tableStyleId>{5C22544A-7EE6-4342-B048-85BDC9FD1C3A}</a:tableStyleId>
              </a:tblPr>
              <a:tblGrid>
                <a:gridCol w="597185">
                  <a:extLst>
                    <a:ext uri="{9D8B030D-6E8A-4147-A177-3AD203B41FA5}">
                      <a16:colId xmlns:a16="http://schemas.microsoft.com/office/drawing/2014/main" val="1088953606"/>
                    </a:ext>
                  </a:extLst>
                </a:gridCol>
                <a:gridCol w="812461">
                  <a:extLst>
                    <a:ext uri="{9D8B030D-6E8A-4147-A177-3AD203B41FA5}">
                      <a16:colId xmlns:a16="http://schemas.microsoft.com/office/drawing/2014/main" val="163321813"/>
                    </a:ext>
                  </a:extLst>
                </a:gridCol>
                <a:gridCol w="2234268">
                  <a:extLst>
                    <a:ext uri="{9D8B030D-6E8A-4147-A177-3AD203B41FA5}">
                      <a16:colId xmlns:a16="http://schemas.microsoft.com/office/drawing/2014/main" val="2318643283"/>
                    </a:ext>
                  </a:extLst>
                </a:gridCol>
              </a:tblGrid>
              <a:tr h="0">
                <a:tc>
                  <a:txBody>
                    <a:bodyPr/>
                    <a:lstStyle/>
                    <a:p>
                      <a:pPr marL="0" marR="0" algn="r">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L1:</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err="1">
                          <a:solidFill>
                            <a:schemeClr val="tx1"/>
                          </a:solidFill>
                          <a:effectLst/>
                          <a:latin typeface="Courier New" panose="02070309020205020404" pitchFamily="49" charset="0"/>
                          <a:cs typeface="Courier New" panose="02070309020205020404" pitchFamily="49" charset="0"/>
                        </a:rPr>
                        <a:t>addi</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$s2, $zero, 16</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7704140"/>
                  </a:ext>
                </a:extLst>
              </a:tr>
              <a:tr h="0">
                <a:tc>
                  <a:txBody>
                    <a:bodyPr/>
                    <a:lstStyle/>
                    <a:p>
                      <a:pPr marL="0" marR="0" algn="r">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L2:</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and</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$s4, $s4, $s1</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09605881"/>
                  </a:ext>
                </a:extLst>
              </a:tr>
              <a:tr h="0">
                <a:tc>
                  <a:txBody>
                    <a:bodyPr/>
                    <a:lstStyle/>
                    <a:p>
                      <a:pPr marL="0" marR="0" algn="r">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L3:</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slt</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$s6, $s1, $s2</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94018505"/>
                  </a:ext>
                </a:extLst>
              </a:tr>
              <a:tr h="0">
                <a:tc>
                  <a:txBody>
                    <a:bodyPr/>
                    <a:lstStyle/>
                    <a:p>
                      <a:pPr marL="0" marR="0" algn="r">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L4:</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beq</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$s6, $s0, L7</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30516158"/>
                  </a:ext>
                </a:extLst>
              </a:tr>
              <a:tr h="0">
                <a:tc>
                  <a:txBody>
                    <a:bodyPr/>
                    <a:lstStyle/>
                    <a:p>
                      <a:pPr marL="0" marR="0" algn="r">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 </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gridSpan="2">
                  <a:txBody>
                    <a:bodyPr/>
                    <a:lstStyle/>
                    <a:p>
                      <a:pPr marL="0" marR="0">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&lt;branch delay slot&gt;</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2640136259"/>
                  </a:ext>
                </a:extLst>
              </a:tr>
              <a:tr h="0">
                <a:tc>
                  <a:txBody>
                    <a:bodyPr/>
                    <a:lstStyle/>
                    <a:p>
                      <a:pPr marL="0" marR="0" algn="r">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L5:</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or</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$s3, $s4, $s6</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33593416"/>
                  </a:ext>
                </a:extLst>
              </a:tr>
              <a:tr h="0">
                <a:tc>
                  <a:txBody>
                    <a:bodyPr/>
                    <a:lstStyle/>
                    <a:p>
                      <a:pPr marL="0" marR="0" algn="r">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L6:</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add</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$s1, $s1, $s3</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81515933"/>
                  </a:ext>
                </a:extLst>
              </a:tr>
              <a:tr h="0">
                <a:tc>
                  <a:txBody>
                    <a:bodyPr/>
                    <a:lstStyle/>
                    <a:p>
                      <a:pPr marL="0" marR="0" algn="r">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L7:</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err="1">
                          <a:solidFill>
                            <a:schemeClr val="tx1"/>
                          </a:solidFill>
                          <a:effectLst/>
                          <a:latin typeface="Courier New" panose="02070309020205020404" pitchFamily="49" charset="0"/>
                          <a:cs typeface="Courier New" panose="02070309020205020404" pitchFamily="49" charset="0"/>
                        </a:rPr>
                        <a:t>slt</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$s3, $s2, $s5</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5602986"/>
                  </a:ext>
                </a:extLst>
              </a:tr>
            </a:tbl>
          </a:graphicData>
        </a:graphic>
      </p:graphicFrame>
    </p:spTree>
    <p:extLst>
      <p:ext uri="{BB962C8B-B14F-4D97-AF65-F5344CB8AC3E}">
        <p14:creationId xmlns:p14="http://schemas.microsoft.com/office/powerpoint/2010/main" val="1308614572"/>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Branch Delay Slots</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15</a:t>
            </a:fld>
            <a:endParaRPr lang="en-US" altLang="en-US"/>
          </a:p>
        </p:txBody>
      </p:sp>
      <p:sp>
        <p:nvSpPr>
          <p:cNvPr id="9" name="Rectangle 3">
            <a:extLst>
              <a:ext uri="{FF2B5EF4-FFF2-40B4-BE49-F238E27FC236}">
                <a16:creationId xmlns:a16="http://schemas.microsoft.com/office/drawing/2014/main" id="{19994F55-828F-4DBF-AA0D-72ED801B65AA}"/>
              </a:ext>
            </a:extLst>
          </p:cNvPr>
          <p:cNvSpPr>
            <a:spLocks noGrp="1" noChangeArrowheads="1"/>
          </p:cNvSpPr>
          <p:nvPr>
            <p:ph idx="1"/>
          </p:nvPr>
        </p:nvSpPr>
        <p:spPr>
          <a:xfrm>
            <a:off x="457200" y="1295400"/>
            <a:ext cx="8077200" cy="1524000"/>
          </a:xfrm>
        </p:spPr>
        <p:txBody>
          <a:bodyPr/>
          <a:lstStyle/>
          <a:p>
            <a:pPr marL="0" indent="0">
              <a:buNone/>
            </a:pPr>
            <a:r>
              <a:rPr lang="en-US" altLang="en-US" sz="2400" dirty="0"/>
              <a:t>Which of the instructions below can individually be legally removed from its current position in the program and placed into the </a:t>
            </a:r>
            <a:r>
              <a:rPr lang="en-US" altLang="en-US" sz="2400" b="1" dirty="0"/>
              <a:t>branch delay slot </a:t>
            </a:r>
            <a:r>
              <a:rPr lang="en-US" altLang="en-US" sz="2400" dirty="0"/>
              <a:t>instead? Ignore potential exceptions.</a:t>
            </a:r>
            <a:endParaRPr lang="en-US" altLang="en-US" sz="2000" dirty="0"/>
          </a:p>
        </p:txBody>
      </p:sp>
      <p:sp>
        <p:nvSpPr>
          <p:cNvPr id="2" name="Rectangle 3">
            <a:extLst>
              <a:ext uri="{FF2B5EF4-FFF2-40B4-BE49-F238E27FC236}">
                <a16:creationId xmlns:a16="http://schemas.microsoft.com/office/drawing/2014/main" id="{F328B0AF-DD12-1299-6EDB-B6C79EBF7BC2}"/>
              </a:ext>
            </a:extLst>
          </p:cNvPr>
          <p:cNvSpPr txBox="1">
            <a:spLocks noChangeArrowheads="1"/>
          </p:cNvSpPr>
          <p:nvPr/>
        </p:nvSpPr>
        <p:spPr bwMode="auto">
          <a:xfrm>
            <a:off x="457200" y="4572000"/>
            <a:ext cx="8077200"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sz="2400" dirty="0"/>
              <a:t>L2? </a:t>
            </a:r>
            <a:endParaRPr lang="en-US" altLang="en-US" sz="2400" b="1" dirty="0">
              <a:solidFill>
                <a:schemeClr val="accent6">
                  <a:lumMod val="75000"/>
                </a:schemeClr>
              </a:solidFill>
            </a:endParaRPr>
          </a:p>
          <a:p>
            <a:r>
              <a:rPr lang="en-US" altLang="en-US" sz="2400" dirty="0"/>
              <a:t>L3?</a:t>
            </a:r>
          </a:p>
          <a:p>
            <a:r>
              <a:rPr lang="en-US" altLang="en-US" sz="2400" dirty="0"/>
              <a:t>L5?</a:t>
            </a:r>
          </a:p>
        </p:txBody>
      </p:sp>
      <p:graphicFrame>
        <p:nvGraphicFramePr>
          <p:cNvPr id="4" name="Table 3">
            <a:extLst>
              <a:ext uri="{FF2B5EF4-FFF2-40B4-BE49-F238E27FC236}">
                <a16:creationId xmlns:a16="http://schemas.microsoft.com/office/drawing/2014/main" id="{47181CA3-5EF7-0E98-0B4C-0B86A7C7CF29}"/>
              </a:ext>
            </a:extLst>
          </p:cNvPr>
          <p:cNvGraphicFramePr>
            <a:graphicFrameLocks noGrp="1"/>
          </p:cNvGraphicFramePr>
          <p:nvPr>
            <p:extLst>
              <p:ext uri="{D42A27DB-BD31-4B8C-83A1-F6EECF244321}">
                <p14:modId xmlns:p14="http://schemas.microsoft.com/office/powerpoint/2010/main" val="1925368827"/>
              </p:ext>
            </p:extLst>
          </p:nvPr>
        </p:nvGraphicFramePr>
        <p:xfrm>
          <a:off x="2673843" y="2639035"/>
          <a:ext cx="3643914" cy="1950720"/>
        </p:xfrm>
        <a:graphic>
          <a:graphicData uri="http://schemas.openxmlformats.org/drawingml/2006/table">
            <a:tbl>
              <a:tblPr firstRow="1" firstCol="1" bandRow="1">
                <a:tableStyleId>{5C22544A-7EE6-4342-B048-85BDC9FD1C3A}</a:tableStyleId>
              </a:tblPr>
              <a:tblGrid>
                <a:gridCol w="597185">
                  <a:extLst>
                    <a:ext uri="{9D8B030D-6E8A-4147-A177-3AD203B41FA5}">
                      <a16:colId xmlns:a16="http://schemas.microsoft.com/office/drawing/2014/main" val="1088953606"/>
                    </a:ext>
                  </a:extLst>
                </a:gridCol>
                <a:gridCol w="812461">
                  <a:extLst>
                    <a:ext uri="{9D8B030D-6E8A-4147-A177-3AD203B41FA5}">
                      <a16:colId xmlns:a16="http://schemas.microsoft.com/office/drawing/2014/main" val="163321813"/>
                    </a:ext>
                  </a:extLst>
                </a:gridCol>
                <a:gridCol w="2234268">
                  <a:extLst>
                    <a:ext uri="{9D8B030D-6E8A-4147-A177-3AD203B41FA5}">
                      <a16:colId xmlns:a16="http://schemas.microsoft.com/office/drawing/2014/main" val="2318643283"/>
                    </a:ext>
                  </a:extLst>
                </a:gridCol>
              </a:tblGrid>
              <a:tr h="0">
                <a:tc>
                  <a:txBody>
                    <a:bodyPr/>
                    <a:lstStyle/>
                    <a:p>
                      <a:pPr marL="0" marR="0" algn="r">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L1:</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err="1">
                          <a:solidFill>
                            <a:schemeClr val="tx1"/>
                          </a:solidFill>
                          <a:effectLst/>
                          <a:latin typeface="Courier New" panose="02070309020205020404" pitchFamily="49" charset="0"/>
                          <a:cs typeface="Courier New" panose="02070309020205020404" pitchFamily="49" charset="0"/>
                        </a:rPr>
                        <a:t>addi</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$s2, $zero, 16</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7704140"/>
                  </a:ext>
                </a:extLst>
              </a:tr>
              <a:tr h="0">
                <a:tc>
                  <a:txBody>
                    <a:bodyPr/>
                    <a:lstStyle/>
                    <a:p>
                      <a:pPr marL="0" marR="0" algn="r">
                        <a:spcBef>
                          <a:spcPts val="0"/>
                        </a:spcBef>
                        <a:spcAft>
                          <a:spcPts val="0"/>
                        </a:spcAft>
                      </a:pPr>
                      <a:endParaRPr lang="en-US" sz="16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endParaRPr lang="en-US" sz="16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endParaRPr lang="en-US" sz="16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09605881"/>
                  </a:ext>
                </a:extLst>
              </a:tr>
              <a:tr h="0">
                <a:tc>
                  <a:txBody>
                    <a:bodyPr/>
                    <a:lstStyle/>
                    <a:p>
                      <a:pPr marL="0" marR="0" algn="r">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L3:</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slt</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$s6, $s1, $s2</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94018505"/>
                  </a:ext>
                </a:extLst>
              </a:tr>
              <a:tr h="0">
                <a:tc>
                  <a:txBody>
                    <a:bodyPr/>
                    <a:lstStyle/>
                    <a:p>
                      <a:pPr marL="0" marR="0" algn="r">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L4:</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err="1">
                          <a:solidFill>
                            <a:schemeClr val="tx1"/>
                          </a:solidFill>
                          <a:effectLst/>
                          <a:latin typeface="Courier New" panose="02070309020205020404" pitchFamily="49" charset="0"/>
                          <a:cs typeface="Courier New" panose="02070309020205020404" pitchFamily="49" charset="0"/>
                        </a:rPr>
                        <a:t>beq</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$s6, $s0, L7</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30516158"/>
                  </a:ext>
                </a:extLst>
              </a:tr>
              <a:tr h="0">
                <a:tc>
                  <a:txBody>
                    <a:bodyPr/>
                    <a:lstStyle/>
                    <a:p>
                      <a:pPr marL="0" marR="0" algn="r">
                        <a:spcBef>
                          <a:spcPts val="0"/>
                        </a:spcBef>
                        <a:spcAft>
                          <a:spcPts val="0"/>
                        </a:spcAft>
                      </a:pPr>
                      <a:r>
                        <a:rPr lang="en-US" sz="1600" b="1" dirty="0">
                          <a:solidFill>
                            <a:schemeClr val="accent6">
                              <a:lumMod val="75000"/>
                            </a:schemeClr>
                          </a:solidFill>
                          <a:effectLst/>
                          <a:latin typeface="Courier New" panose="02070309020205020404" pitchFamily="49" charset="0"/>
                          <a:cs typeface="Courier New" panose="02070309020205020404" pitchFamily="49" charset="0"/>
                        </a:rPr>
                        <a:t>L2:</a:t>
                      </a:r>
                      <a:endParaRPr lang="en-US" sz="1800" b="1" dirty="0">
                        <a:solidFill>
                          <a:schemeClr val="accent6">
                            <a:lumMod val="75000"/>
                          </a:schemeClr>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a:solidFill>
                            <a:schemeClr val="accent6">
                              <a:lumMod val="75000"/>
                            </a:schemeClr>
                          </a:solidFill>
                          <a:effectLst/>
                          <a:latin typeface="Courier New" panose="02070309020205020404" pitchFamily="49" charset="0"/>
                          <a:cs typeface="Courier New" panose="02070309020205020404" pitchFamily="49" charset="0"/>
                        </a:rPr>
                        <a:t>and</a:t>
                      </a:r>
                      <a:endParaRPr lang="en-US" sz="1800" b="1" dirty="0">
                        <a:solidFill>
                          <a:schemeClr val="accent6">
                            <a:lumMod val="75000"/>
                          </a:schemeClr>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a:solidFill>
                            <a:schemeClr val="accent6">
                              <a:lumMod val="75000"/>
                            </a:schemeClr>
                          </a:solidFill>
                          <a:effectLst/>
                          <a:latin typeface="Courier New" panose="02070309020205020404" pitchFamily="49" charset="0"/>
                          <a:cs typeface="Courier New" panose="02070309020205020404" pitchFamily="49" charset="0"/>
                        </a:rPr>
                        <a:t>$s4, $s4, $s1</a:t>
                      </a:r>
                      <a:endParaRPr lang="en-US" sz="1800" b="1" dirty="0">
                        <a:solidFill>
                          <a:schemeClr val="accent6">
                            <a:lumMod val="75000"/>
                          </a:schemeClr>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05318377"/>
                  </a:ext>
                </a:extLst>
              </a:tr>
              <a:tr h="0">
                <a:tc>
                  <a:txBody>
                    <a:bodyPr/>
                    <a:lstStyle/>
                    <a:p>
                      <a:pPr marL="0" marR="0" algn="r">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L5:</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or</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$s3, $s4, $s6</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33593416"/>
                  </a:ext>
                </a:extLst>
              </a:tr>
              <a:tr h="0">
                <a:tc>
                  <a:txBody>
                    <a:bodyPr/>
                    <a:lstStyle/>
                    <a:p>
                      <a:pPr marL="0" marR="0" algn="r">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L6:</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add</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$s1, $s1, $s3</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81515933"/>
                  </a:ext>
                </a:extLst>
              </a:tr>
              <a:tr h="0">
                <a:tc>
                  <a:txBody>
                    <a:bodyPr/>
                    <a:lstStyle/>
                    <a:p>
                      <a:pPr marL="0" marR="0" algn="r">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L7:</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err="1">
                          <a:solidFill>
                            <a:schemeClr val="tx1"/>
                          </a:solidFill>
                          <a:effectLst/>
                          <a:latin typeface="Courier New" panose="02070309020205020404" pitchFamily="49" charset="0"/>
                          <a:cs typeface="Courier New" panose="02070309020205020404" pitchFamily="49" charset="0"/>
                        </a:rPr>
                        <a:t>slt</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$s3, $s2, $s5</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5602986"/>
                  </a:ext>
                </a:extLst>
              </a:tr>
            </a:tbl>
          </a:graphicData>
        </a:graphic>
      </p:graphicFrame>
    </p:spTree>
    <p:extLst>
      <p:ext uri="{BB962C8B-B14F-4D97-AF65-F5344CB8AC3E}">
        <p14:creationId xmlns:p14="http://schemas.microsoft.com/office/powerpoint/2010/main" val="32766373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Branch Delay Slots</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16</a:t>
            </a:fld>
            <a:endParaRPr lang="en-US" altLang="en-US"/>
          </a:p>
        </p:txBody>
      </p:sp>
      <p:sp>
        <p:nvSpPr>
          <p:cNvPr id="9" name="Rectangle 3">
            <a:extLst>
              <a:ext uri="{FF2B5EF4-FFF2-40B4-BE49-F238E27FC236}">
                <a16:creationId xmlns:a16="http://schemas.microsoft.com/office/drawing/2014/main" id="{19994F55-828F-4DBF-AA0D-72ED801B65AA}"/>
              </a:ext>
            </a:extLst>
          </p:cNvPr>
          <p:cNvSpPr>
            <a:spLocks noGrp="1" noChangeArrowheads="1"/>
          </p:cNvSpPr>
          <p:nvPr>
            <p:ph idx="1"/>
          </p:nvPr>
        </p:nvSpPr>
        <p:spPr>
          <a:xfrm>
            <a:off x="457200" y="1295400"/>
            <a:ext cx="8077200" cy="1524000"/>
          </a:xfrm>
        </p:spPr>
        <p:txBody>
          <a:bodyPr/>
          <a:lstStyle/>
          <a:p>
            <a:pPr marL="0" indent="0">
              <a:buNone/>
            </a:pPr>
            <a:r>
              <a:rPr lang="en-US" altLang="en-US" sz="2400" dirty="0"/>
              <a:t>Which of the instructions below can individually be legally removed from its current position in the program and placed into the </a:t>
            </a:r>
            <a:r>
              <a:rPr lang="en-US" altLang="en-US" sz="2400" b="1" dirty="0"/>
              <a:t>branch delay slot </a:t>
            </a:r>
            <a:r>
              <a:rPr lang="en-US" altLang="en-US" sz="2400" dirty="0"/>
              <a:t>instead? Ignore potential exceptions.</a:t>
            </a:r>
            <a:endParaRPr lang="en-US" altLang="en-US" sz="2000" dirty="0"/>
          </a:p>
        </p:txBody>
      </p:sp>
      <p:sp>
        <p:nvSpPr>
          <p:cNvPr id="2" name="Rectangle 3">
            <a:extLst>
              <a:ext uri="{FF2B5EF4-FFF2-40B4-BE49-F238E27FC236}">
                <a16:creationId xmlns:a16="http://schemas.microsoft.com/office/drawing/2014/main" id="{F328B0AF-DD12-1299-6EDB-B6C79EBF7BC2}"/>
              </a:ext>
            </a:extLst>
          </p:cNvPr>
          <p:cNvSpPr txBox="1">
            <a:spLocks noChangeArrowheads="1"/>
          </p:cNvSpPr>
          <p:nvPr/>
        </p:nvSpPr>
        <p:spPr bwMode="auto">
          <a:xfrm>
            <a:off x="457200" y="4572000"/>
            <a:ext cx="8077200"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sz="2400" dirty="0"/>
              <a:t>L2? </a:t>
            </a:r>
            <a:r>
              <a:rPr lang="en-US" altLang="en-US" sz="2400" b="1" dirty="0">
                <a:solidFill>
                  <a:schemeClr val="accent6">
                    <a:lumMod val="75000"/>
                  </a:schemeClr>
                </a:solidFill>
              </a:rPr>
              <a:t>Yes</a:t>
            </a:r>
          </a:p>
          <a:p>
            <a:r>
              <a:rPr lang="en-US" altLang="en-US" sz="2400" dirty="0"/>
              <a:t>L3?</a:t>
            </a:r>
          </a:p>
          <a:p>
            <a:r>
              <a:rPr lang="en-US" altLang="en-US" sz="2400" dirty="0"/>
              <a:t>L5?</a:t>
            </a:r>
          </a:p>
        </p:txBody>
      </p:sp>
      <p:graphicFrame>
        <p:nvGraphicFramePr>
          <p:cNvPr id="4" name="Table 3">
            <a:extLst>
              <a:ext uri="{FF2B5EF4-FFF2-40B4-BE49-F238E27FC236}">
                <a16:creationId xmlns:a16="http://schemas.microsoft.com/office/drawing/2014/main" id="{47181CA3-5EF7-0E98-0B4C-0B86A7C7CF29}"/>
              </a:ext>
            </a:extLst>
          </p:cNvPr>
          <p:cNvGraphicFramePr>
            <a:graphicFrameLocks noGrp="1"/>
          </p:cNvGraphicFramePr>
          <p:nvPr/>
        </p:nvGraphicFramePr>
        <p:xfrm>
          <a:off x="2673843" y="2639035"/>
          <a:ext cx="3643914" cy="1950720"/>
        </p:xfrm>
        <a:graphic>
          <a:graphicData uri="http://schemas.openxmlformats.org/drawingml/2006/table">
            <a:tbl>
              <a:tblPr firstRow="1" firstCol="1" bandRow="1">
                <a:tableStyleId>{5C22544A-7EE6-4342-B048-85BDC9FD1C3A}</a:tableStyleId>
              </a:tblPr>
              <a:tblGrid>
                <a:gridCol w="597185">
                  <a:extLst>
                    <a:ext uri="{9D8B030D-6E8A-4147-A177-3AD203B41FA5}">
                      <a16:colId xmlns:a16="http://schemas.microsoft.com/office/drawing/2014/main" val="1088953606"/>
                    </a:ext>
                  </a:extLst>
                </a:gridCol>
                <a:gridCol w="812461">
                  <a:extLst>
                    <a:ext uri="{9D8B030D-6E8A-4147-A177-3AD203B41FA5}">
                      <a16:colId xmlns:a16="http://schemas.microsoft.com/office/drawing/2014/main" val="163321813"/>
                    </a:ext>
                  </a:extLst>
                </a:gridCol>
                <a:gridCol w="2234268">
                  <a:extLst>
                    <a:ext uri="{9D8B030D-6E8A-4147-A177-3AD203B41FA5}">
                      <a16:colId xmlns:a16="http://schemas.microsoft.com/office/drawing/2014/main" val="2318643283"/>
                    </a:ext>
                  </a:extLst>
                </a:gridCol>
              </a:tblGrid>
              <a:tr h="0">
                <a:tc>
                  <a:txBody>
                    <a:bodyPr/>
                    <a:lstStyle/>
                    <a:p>
                      <a:pPr marL="0" marR="0" algn="r">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L1:</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err="1">
                          <a:solidFill>
                            <a:schemeClr val="tx1"/>
                          </a:solidFill>
                          <a:effectLst/>
                          <a:latin typeface="Courier New" panose="02070309020205020404" pitchFamily="49" charset="0"/>
                          <a:cs typeface="Courier New" panose="02070309020205020404" pitchFamily="49" charset="0"/>
                        </a:rPr>
                        <a:t>addi</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$s2, $zero, 16</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7704140"/>
                  </a:ext>
                </a:extLst>
              </a:tr>
              <a:tr h="0">
                <a:tc>
                  <a:txBody>
                    <a:bodyPr/>
                    <a:lstStyle/>
                    <a:p>
                      <a:pPr marL="0" marR="0" algn="r">
                        <a:spcBef>
                          <a:spcPts val="0"/>
                        </a:spcBef>
                        <a:spcAft>
                          <a:spcPts val="0"/>
                        </a:spcAft>
                      </a:pPr>
                      <a:endParaRPr lang="en-US" sz="16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endParaRPr lang="en-US" sz="16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endParaRPr lang="en-US" sz="16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09605881"/>
                  </a:ext>
                </a:extLst>
              </a:tr>
              <a:tr h="0">
                <a:tc>
                  <a:txBody>
                    <a:bodyPr/>
                    <a:lstStyle/>
                    <a:p>
                      <a:pPr marL="0" marR="0" algn="r">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L3:</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slt</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$s6, $s1, $s2</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94018505"/>
                  </a:ext>
                </a:extLst>
              </a:tr>
              <a:tr h="0">
                <a:tc>
                  <a:txBody>
                    <a:bodyPr/>
                    <a:lstStyle/>
                    <a:p>
                      <a:pPr marL="0" marR="0" algn="r">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L4:</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err="1">
                          <a:solidFill>
                            <a:schemeClr val="tx1"/>
                          </a:solidFill>
                          <a:effectLst/>
                          <a:latin typeface="Courier New" panose="02070309020205020404" pitchFamily="49" charset="0"/>
                          <a:cs typeface="Courier New" panose="02070309020205020404" pitchFamily="49" charset="0"/>
                        </a:rPr>
                        <a:t>beq</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$s6, $s0, L7</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30516158"/>
                  </a:ext>
                </a:extLst>
              </a:tr>
              <a:tr h="0">
                <a:tc>
                  <a:txBody>
                    <a:bodyPr/>
                    <a:lstStyle/>
                    <a:p>
                      <a:pPr marL="0" marR="0" algn="r">
                        <a:spcBef>
                          <a:spcPts val="0"/>
                        </a:spcBef>
                        <a:spcAft>
                          <a:spcPts val="0"/>
                        </a:spcAft>
                      </a:pPr>
                      <a:r>
                        <a:rPr lang="en-US" sz="1600" b="1" dirty="0">
                          <a:solidFill>
                            <a:schemeClr val="accent6">
                              <a:lumMod val="75000"/>
                            </a:schemeClr>
                          </a:solidFill>
                          <a:effectLst/>
                          <a:latin typeface="Courier New" panose="02070309020205020404" pitchFamily="49" charset="0"/>
                          <a:cs typeface="Courier New" panose="02070309020205020404" pitchFamily="49" charset="0"/>
                        </a:rPr>
                        <a:t>L2:</a:t>
                      </a:r>
                      <a:endParaRPr lang="en-US" sz="1800" b="1" dirty="0">
                        <a:solidFill>
                          <a:schemeClr val="accent6">
                            <a:lumMod val="75000"/>
                          </a:schemeClr>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a:solidFill>
                            <a:schemeClr val="accent6">
                              <a:lumMod val="75000"/>
                            </a:schemeClr>
                          </a:solidFill>
                          <a:effectLst/>
                          <a:latin typeface="Courier New" panose="02070309020205020404" pitchFamily="49" charset="0"/>
                          <a:cs typeface="Courier New" panose="02070309020205020404" pitchFamily="49" charset="0"/>
                        </a:rPr>
                        <a:t>and</a:t>
                      </a:r>
                      <a:endParaRPr lang="en-US" sz="1800" b="1" dirty="0">
                        <a:solidFill>
                          <a:schemeClr val="accent6">
                            <a:lumMod val="75000"/>
                          </a:schemeClr>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a:solidFill>
                            <a:schemeClr val="accent6">
                              <a:lumMod val="75000"/>
                            </a:schemeClr>
                          </a:solidFill>
                          <a:effectLst/>
                          <a:latin typeface="Courier New" panose="02070309020205020404" pitchFamily="49" charset="0"/>
                          <a:cs typeface="Courier New" panose="02070309020205020404" pitchFamily="49" charset="0"/>
                        </a:rPr>
                        <a:t>$s4, $s4, $s1</a:t>
                      </a:r>
                      <a:endParaRPr lang="en-US" sz="1800" b="1" dirty="0">
                        <a:solidFill>
                          <a:schemeClr val="accent6">
                            <a:lumMod val="75000"/>
                          </a:schemeClr>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05318377"/>
                  </a:ext>
                </a:extLst>
              </a:tr>
              <a:tr h="0">
                <a:tc>
                  <a:txBody>
                    <a:bodyPr/>
                    <a:lstStyle/>
                    <a:p>
                      <a:pPr marL="0" marR="0" algn="r">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L5:</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or</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$s3, $s4, $s6</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33593416"/>
                  </a:ext>
                </a:extLst>
              </a:tr>
              <a:tr h="0">
                <a:tc>
                  <a:txBody>
                    <a:bodyPr/>
                    <a:lstStyle/>
                    <a:p>
                      <a:pPr marL="0" marR="0" algn="r">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L6:</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add</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$s1, $s1, $s3</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81515933"/>
                  </a:ext>
                </a:extLst>
              </a:tr>
              <a:tr h="0">
                <a:tc>
                  <a:txBody>
                    <a:bodyPr/>
                    <a:lstStyle/>
                    <a:p>
                      <a:pPr marL="0" marR="0" algn="r">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L7:</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err="1">
                          <a:solidFill>
                            <a:schemeClr val="tx1"/>
                          </a:solidFill>
                          <a:effectLst/>
                          <a:latin typeface="Courier New" panose="02070309020205020404" pitchFamily="49" charset="0"/>
                          <a:cs typeface="Courier New" panose="02070309020205020404" pitchFamily="49" charset="0"/>
                        </a:rPr>
                        <a:t>slt</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$s3, $s2, $s5</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5602986"/>
                  </a:ext>
                </a:extLst>
              </a:tr>
            </a:tbl>
          </a:graphicData>
        </a:graphic>
      </p:graphicFrame>
    </p:spTree>
    <p:extLst>
      <p:ext uri="{BB962C8B-B14F-4D97-AF65-F5344CB8AC3E}">
        <p14:creationId xmlns:p14="http://schemas.microsoft.com/office/powerpoint/2010/main" val="4073161017"/>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Branch Delay Slots</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17</a:t>
            </a:fld>
            <a:endParaRPr lang="en-US" altLang="en-US"/>
          </a:p>
        </p:txBody>
      </p:sp>
      <p:sp>
        <p:nvSpPr>
          <p:cNvPr id="9" name="Rectangle 3">
            <a:extLst>
              <a:ext uri="{FF2B5EF4-FFF2-40B4-BE49-F238E27FC236}">
                <a16:creationId xmlns:a16="http://schemas.microsoft.com/office/drawing/2014/main" id="{19994F55-828F-4DBF-AA0D-72ED801B65AA}"/>
              </a:ext>
            </a:extLst>
          </p:cNvPr>
          <p:cNvSpPr>
            <a:spLocks noGrp="1" noChangeArrowheads="1"/>
          </p:cNvSpPr>
          <p:nvPr>
            <p:ph idx="1"/>
          </p:nvPr>
        </p:nvSpPr>
        <p:spPr>
          <a:xfrm>
            <a:off x="457200" y="1295400"/>
            <a:ext cx="8077200" cy="1524000"/>
          </a:xfrm>
        </p:spPr>
        <p:txBody>
          <a:bodyPr/>
          <a:lstStyle/>
          <a:p>
            <a:pPr marL="0" indent="0">
              <a:buNone/>
            </a:pPr>
            <a:r>
              <a:rPr lang="en-US" altLang="en-US" sz="2400" dirty="0"/>
              <a:t>Which of the instructions below can individually be legally removed from its current position in the program and placed into the </a:t>
            </a:r>
            <a:r>
              <a:rPr lang="en-US" altLang="en-US" sz="2400" b="1" dirty="0"/>
              <a:t>branch delay slot </a:t>
            </a:r>
            <a:r>
              <a:rPr lang="en-US" altLang="en-US" sz="2400" dirty="0"/>
              <a:t>instead? Ignore potential exceptions.</a:t>
            </a:r>
            <a:endParaRPr lang="en-US" altLang="en-US" sz="2000" dirty="0"/>
          </a:p>
        </p:txBody>
      </p:sp>
      <p:sp>
        <p:nvSpPr>
          <p:cNvPr id="2" name="Rectangle 3">
            <a:extLst>
              <a:ext uri="{FF2B5EF4-FFF2-40B4-BE49-F238E27FC236}">
                <a16:creationId xmlns:a16="http://schemas.microsoft.com/office/drawing/2014/main" id="{F328B0AF-DD12-1299-6EDB-B6C79EBF7BC2}"/>
              </a:ext>
            </a:extLst>
          </p:cNvPr>
          <p:cNvSpPr txBox="1">
            <a:spLocks noChangeArrowheads="1"/>
          </p:cNvSpPr>
          <p:nvPr/>
        </p:nvSpPr>
        <p:spPr bwMode="auto">
          <a:xfrm>
            <a:off x="457200" y="4572000"/>
            <a:ext cx="8077200"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sz="2400" dirty="0"/>
              <a:t>L2? </a:t>
            </a:r>
            <a:r>
              <a:rPr lang="en-US" altLang="en-US" sz="2400" b="1" dirty="0">
                <a:solidFill>
                  <a:schemeClr val="accent6">
                    <a:lumMod val="75000"/>
                  </a:schemeClr>
                </a:solidFill>
              </a:rPr>
              <a:t>Yes</a:t>
            </a:r>
          </a:p>
          <a:p>
            <a:r>
              <a:rPr lang="en-US" altLang="en-US" sz="2400" dirty="0"/>
              <a:t>L3? </a:t>
            </a:r>
            <a:endParaRPr lang="en-US" altLang="en-US" sz="2400" b="1" dirty="0">
              <a:solidFill>
                <a:schemeClr val="accent6">
                  <a:lumMod val="75000"/>
                </a:schemeClr>
              </a:solidFill>
            </a:endParaRPr>
          </a:p>
          <a:p>
            <a:r>
              <a:rPr lang="en-US" altLang="en-US" sz="2400" dirty="0"/>
              <a:t>L5?</a:t>
            </a:r>
          </a:p>
        </p:txBody>
      </p:sp>
      <p:graphicFrame>
        <p:nvGraphicFramePr>
          <p:cNvPr id="3" name="Table 2">
            <a:extLst>
              <a:ext uri="{FF2B5EF4-FFF2-40B4-BE49-F238E27FC236}">
                <a16:creationId xmlns:a16="http://schemas.microsoft.com/office/drawing/2014/main" id="{4371EFE1-9CD3-FE68-ED98-76C6A8D6DF66}"/>
              </a:ext>
            </a:extLst>
          </p:cNvPr>
          <p:cNvGraphicFramePr>
            <a:graphicFrameLocks noGrp="1"/>
          </p:cNvGraphicFramePr>
          <p:nvPr>
            <p:extLst>
              <p:ext uri="{D42A27DB-BD31-4B8C-83A1-F6EECF244321}">
                <p14:modId xmlns:p14="http://schemas.microsoft.com/office/powerpoint/2010/main" val="1334284759"/>
              </p:ext>
            </p:extLst>
          </p:nvPr>
        </p:nvGraphicFramePr>
        <p:xfrm>
          <a:off x="2673843" y="2639035"/>
          <a:ext cx="3643914" cy="1950720"/>
        </p:xfrm>
        <a:graphic>
          <a:graphicData uri="http://schemas.openxmlformats.org/drawingml/2006/table">
            <a:tbl>
              <a:tblPr firstRow="1" firstCol="1" bandRow="1">
                <a:tableStyleId>{5C22544A-7EE6-4342-B048-85BDC9FD1C3A}</a:tableStyleId>
              </a:tblPr>
              <a:tblGrid>
                <a:gridCol w="597185">
                  <a:extLst>
                    <a:ext uri="{9D8B030D-6E8A-4147-A177-3AD203B41FA5}">
                      <a16:colId xmlns:a16="http://schemas.microsoft.com/office/drawing/2014/main" val="1088953606"/>
                    </a:ext>
                  </a:extLst>
                </a:gridCol>
                <a:gridCol w="812461">
                  <a:extLst>
                    <a:ext uri="{9D8B030D-6E8A-4147-A177-3AD203B41FA5}">
                      <a16:colId xmlns:a16="http://schemas.microsoft.com/office/drawing/2014/main" val="163321813"/>
                    </a:ext>
                  </a:extLst>
                </a:gridCol>
                <a:gridCol w="2234268">
                  <a:extLst>
                    <a:ext uri="{9D8B030D-6E8A-4147-A177-3AD203B41FA5}">
                      <a16:colId xmlns:a16="http://schemas.microsoft.com/office/drawing/2014/main" val="2318643283"/>
                    </a:ext>
                  </a:extLst>
                </a:gridCol>
              </a:tblGrid>
              <a:tr h="0">
                <a:tc>
                  <a:txBody>
                    <a:bodyPr/>
                    <a:lstStyle/>
                    <a:p>
                      <a:pPr marL="0" marR="0" algn="r">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L1:</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err="1">
                          <a:solidFill>
                            <a:schemeClr val="tx1"/>
                          </a:solidFill>
                          <a:effectLst/>
                          <a:latin typeface="Courier New" panose="02070309020205020404" pitchFamily="49" charset="0"/>
                          <a:cs typeface="Courier New" panose="02070309020205020404" pitchFamily="49" charset="0"/>
                        </a:rPr>
                        <a:t>addi</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$s2, $zero, 16</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7704140"/>
                  </a:ext>
                </a:extLst>
              </a:tr>
              <a:tr h="0">
                <a:tc>
                  <a:txBody>
                    <a:bodyPr/>
                    <a:lstStyle/>
                    <a:p>
                      <a:pPr marL="0" marR="0" algn="r">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L2:</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and</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$s4, $s4, $s1</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09605881"/>
                  </a:ext>
                </a:extLst>
              </a:tr>
              <a:tr h="0">
                <a:tc>
                  <a:txBody>
                    <a:bodyPr/>
                    <a:lstStyle/>
                    <a:p>
                      <a:pPr marL="0" marR="0" algn="r">
                        <a:spcBef>
                          <a:spcPts val="0"/>
                        </a:spcBef>
                        <a:spcAft>
                          <a:spcPts val="0"/>
                        </a:spcAft>
                      </a:pPr>
                      <a:endParaRPr lang="en-US" sz="16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endParaRPr lang="en-US" sz="16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endParaRPr lang="en-US" sz="16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94018505"/>
                  </a:ext>
                </a:extLst>
              </a:tr>
              <a:tr h="0">
                <a:tc>
                  <a:txBody>
                    <a:bodyPr/>
                    <a:lstStyle/>
                    <a:p>
                      <a:pPr marL="0" marR="0" algn="r">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L4:</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beq</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$s6, $s0, L7</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30516158"/>
                  </a:ext>
                </a:extLst>
              </a:tr>
              <a:tr h="0">
                <a:tc>
                  <a:txBody>
                    <a:bodyPr/>
                    <a:lstStyle/>
                    <a:p>
                      <a:pPr marL="0" marR="0" algn="r">
                        <a:spcBef>
                          <a:spcPts val="0"/>
                        </a:spcBef>
                        <a:spcAft>
                          <a:spcPts val="0"/>
                        </a:spcAft>
                      </a:pPr>
                      <a:r>
                        <a:rPr lang="en-US" sz="1600" b="1" dirty="0">
                          <a:solidFill>
                            <a:schemeClr val="accent6">
                              <a:lumMod val="75000"/>
                            </a:schemeClr>
                          </a:solidFill>
                          <a:effectLst/>
                          <a:latin typeface="Courier New" panose="02070309020205020404" pitchFamily="49" charset="0"/>
                          <a:cs typeface="Courier New" panose="02070309020205020404" pitchFamily="49" charset="0"/>
                        </a:rPr>
                        <a:t>L3:</a:t>
                      </a:r>
                      <a:endParaRPr lang="en-US" sz="1800" b="1" dirty="0">
                        <a:solidFill>
                          <a:schemeClr val="accent6">
                            <a:lumMod val="75000"/>
                          </a:schemeClr>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err="1">
                          <a:solidFill>
                            <a:schemeClr val="accent6">
                              <a:lumMod val="75000"/>
                            </a:schemeClr>
                          </a:solidFill>
                          <a:effectLst/>
                          <a:latin typeface="Courier New" panose="02070309020205020404" pitchFamily="49" charset="0"/>
                          <a:cs typeface="Courier New" panose="02070309020205020404" pitchFamily="49" charset="0"/>
                        </a:rPr>
                        <a:t>slt</a:t>
                      </a:r>
                      <a:endParaRPr lang="en-US" sz="1800" b="1" dirty="0">
                        <a:solidFill>
                          <a:schemeClr val="accent6">
                            <a:lumMod val="75000"/>
                          </a:schemeClr>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a:solidFill>
                            <a:schemeClr val="accent6">
                              <a:lumMod val="75000"/>
                            </a:schemeClr>
                          </a:solidFill>
                          <a:effectLst/>
                          <a:latin typeface="Courier New" panose="02070309020205020404" pitchFamily="49" charset="0"/>
                          <a:cs typeface="Courier New" panose="02070309020205020404" pitchFamily="49" charset="0"/>
                        </a:rPr>
                        <a:t>$s6, $s1, $s2</a:t>
                      </a:r>
                      <a:endParaRPr lang="en-US" sz="1800" b="1" dirty="0">
                        <a:solidFill>
                          <a:schemeClr val="accent6">
                            <a:lumMod val="75000"/>
                          </a:schemeClr>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38774203"/>
                  </a:ext>
                </a:extLst>
              </a:tr>
              <a:tr h="0">
                <a:tc>
                  <a:txBody>
                    <a:bodyPr/>
                    <a:lstStyle/>
                    <a:p>
                      <a:pPr marL="0" marR="0" algn="r">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L5:</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or</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$s3, $s4, $s6</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33593416"/>
                  </a:ext>
                </a:extLst>
              </a:tr>
              <a:tr h="0">
                <a:tc>
                  <a:txBody>
                    <a:bodyPr/>
                    <a:lstStyle/>
                    <a:p>
                      <a:pPr marL="0" marR="0" algn="r">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L6:</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add</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$s1, $s1, $s3</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81515933"/>
                  </a:ext>
                </a:extLst>
              </a:tr>
              <a:tr h="0">
                <a:tc>
                  <a:txBody>
                    <a:bodyPr/>
                    <a:lstStyle/>
                    <a:p>
                      <a:pPr marL="0" marR="0" algn="r">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L7:</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err="1">
                          <a:solidFill>
                            <a:schemeClr val="tx1"/>
                          </a:solidFill>
                          <a:effectLst/>
                          <a:latin typeface="Courier New" panose="02070309020205020404" pitchFamily="49" charset="0"/>
                          <a:cs typeface="Courier New" panose="02070309020205020404" pitchFamily="49" charset="0"/>
                        </a:rPr>
                        <a:t>slt</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$s3, $s2, $s5</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5602986"/>
                  </a:ext>
                </a:extLst>
              </a:tr>
            </a:tbl>
          </a:graphicData>
        </a:graphic>
      </p:graphicFrame>
    </p:spTree>
    <p:extLst>
      <p:ext uri="{BB962C8B-B14F-4D97-AF65-F5344CB8AC3E}">
        <p14:creationId xmlns:p14="http://schemas.microsoft.com/office/powerpoint/2010/main" val="381422296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Branch Delay Slots</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18</a:t>
            </a:fld>
            <a:endParaRPr lang="en-US" altLang="en-US"/>
          </a:p>
        </p:txBody>
      </p:sp>
      <p:sp>
        <p:nvSpPr>
          <p:cNvPr id="9" name="Rectangle 3">
            <a:extLst>
              <a:ext uri="{FF2B5EF4-FFF2-40B4-BE49-F238E27FC236}">
                <a16:creationId xmlns:a16="http://schemas.microsoft.com/office/drawing/2014/main" id="{19994F55-828F-4DBF-AA0D-72ED801B65AA}"/>
              </a:ext>
            </a:extLst>
          </p:cNvPr>
          <p:cNvSpPr>
            <a:spLocks noGrp="1" noChangeArrowheads="1"/>
          </p:cNvSpPr>
          <p:nvPr>
            <p:ph idx="1"/>
          </p:nvPr>
        </p:nvSpPr>
        <p:spPr>
          <a:xfrm>
            <a:off x="457200" y="1295400"/>
            <a:ext cx="8077200" cy="1524000"/>
          </a:xfrm>
        </p:spPr>
        <p:txBody>
          <a:bodyPr/>
          <a:lstStyle/>
          <a:p>
            <a:pPr marL="0" indent="0">
              <a:buNone/>
            </a:pPr>
            <a:r>
              <a:rPr lang="en-US" altLang="en-US" sz="2400" dirty="0"/>
              <a:t>Which of the instructions below can individually be legally removed from its current position in the program and placed into the </a:t>
            </a:r>
            <a:r>
              <a:rPr lang="en-US" altLang="en-US" sz="2400" b="1" dirty="0"/>
              <a:t>branch delay slot </a:t>
            </a:r>
            <a:r>
              <a:rPr lang="en-US" altLang="en-US" sz="2400" dirty="0"/>
              <a:t>instead? Ignore potential exceptions.</a:t>
            </a:r>
            <a:endParaRPr lang="en-US" altLang="en-US" sz="2000" dirty="0"/>
          </a:p>
        </p:txBody>
      </p:sp>
      <p:sp>
        <p:nvSpPr>
          <p:cNvPr id="2" name="Rectangle 3">
            <a:extLst>
              <a:ext uri="{FF2B5EF4-FFF2-40B4-BE49-F238E27FC236}">
                <a16:creationId xmlns:a16="http://schemas.microsoft.com/office/drawing/2014/main" id="{F328B0AF-DD12-1299-6EDB-B6C79EBF7BC2}"/>
              </a:ext>
            </a:extLst>
          </p:cNvPr>
          <p:cNvSpPr txBox="1">
            <a:spLocks noChangeArrowheads="1"/>
          </p:cNvSpPr>
          <p:nvPr/>
        </p:nvSpPr>
        <p:spPr bwMode="auto">
          <a:xfrm>
            <a:off x="457200" y="4572000"/>
            <a:ext cx="8077200"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sz="2400" dirty="0"/>
              <a:t>L2? </a:t>
            </a:r>
            <a:r>
              <a:rPr lang="en-US" altLang="en-US" sz="2400" b="1" dirty="0">
                <a:solidFill>
                  <a:schemeClr val="accent6">
                    <a:lumMod val="75000"/>
                  </a:schemeClr>
                </a:solidFill>
              </a:rPr>
              <a:t>Yes</a:t>
            </a:r>
          </a:p>
          <a:p>
            <a:r>
              <a:rPr lang="en-US" altLang="en-US" sz="2400" dirty="0"/>
              <a:t>L3? </a:t>
            </a:r>
            <a:r>
              <a:rPr lang="en-US" altLang="en-US" sz="2400" b="1" dirty="0">
                <a:solidFill>
                  <a:schemeClr val="accent6">
                    <a:lumMod val="75000"/>
                  </a:schemeClr>
                </a:solidFill>
              </a:rPr>
              <a:t>No</a:t>
            </a:r>
          </a:p>
          <a:p>
            <a:r>
              <a:rPr lang="en-US" altLang="en-US" sz="2400" dirty="0"/>
              <a:t>L5?</a:t>
            </a:r>
          </a:p>
        </p:txBody>
      </p:sp>
      <p:graphicFrame>
        <p:nvGraphicFramePr>
          <p:cNvPr id="3" name="Table 2">
            <a:extLst>
              <a:ext uri="{FF2B5EF4-FFF2-40B4-BE49-F238E27FC236}">
                <a16:creationId xmlns:a16="http://schemas.microsoft.com/office/drawing/2014/main" id="{4371EFE1-9CD3-FE68-ED98-76C6A8D6DF66}"/>
              </a:ext>
            </a:extLst>
          </p:cNvPr>
          <p:cNvGraphicFramePr>
            <a:graphicFrameLocks noGrp="1"/>
          </p:cNvGraphicFramePr>
          <p:nvPr/>
        </p:nvGraphicFramePr>
        <p:xfrm>
          <a:off x="2673843" y="2639035"/>
          <a:ext cx="3643914" cy="1950720"/>
        </p:xfrm>
        <a:graphic>
          <a:graphicData uri="http://schemas.openxmlformats.org/drawingml/2006/table">
            <a:tbl>
              <a:tblPr firstRow="1" firstCol="1" bandRow="1">
                <a:tableStyleId>{5C22544A-7EE6-4342-B048-85BDC9FD1C3A}</a:tableStyleId>
              </a:tblPr>
              <a:tblGrid>
                <a:gridCol w="597185">
                  <a:extLst>
                    <a:ext uri="{9D8B030D-6E8A-4147-A177-3AD203B41FA5}">
                      <a16:colId xmlns:a16="http://schemas.microsoft.com/office/drawing/2014/main" val="1088953606"/>
                    </a:ext>
                  </a:extLst>
                </a:gridCol>
                <a:gridCol w="812461">
                  <a:extLst>
                    <a:ext uri="{9D8B030D-6E8A-4147-A177-3AD203B41FA5}">
                      <a16:colId xmlns:a16="http://schemas.microsoft.com/office/drawing/2014/main" val="163321813"/>
                    </a:ext>
                  </a:extLst>
                </a:gridCol>
                <a:gridCol w="2234268">
                  <a:extLst>
                    <a:ext uri="{9D8B030D-6E8A-4147-A177-3AD203B41FA5}">
                      <a16:colId xmlns:a16="http://schemas.microsoft.com/office/drawing/2014/main" val="2318643283"/>
                    </a:ext>
                  </a:extLst>
                </a:gridCol>
              </a:tblGrid>
              <a:tr h="0">
                <a:tc>
                  <a:txBody>
                    <a:bodyPr/>
                    <a:lstStyle/>
                    <a:p>
                      <a:pPr marL="0" marR="0" algn="r">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L1:</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err="1">
                          <a:solidFill>
                            <a:schemeClr val="tx1"/>
                          </a:solidFill>
                          <a:effectLst/>
                          <a:latin typeface="Courier New" panose="02070309020205020404" pitchFamily="49" charset="0"/>
                          <a:cs typeface="Courier New" panose="02070309020205020404" pitchFamily="49" charset="0"/>
                        </a:rPr>
                        <a:t>addi</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$s2, $zero, 16</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7704140"/>
                  </a:ext>
                </a:extLst>
              </a:tr>
              <a:tr h="0">
                <a:tc>
                  <a:txBody>
                    <a:bodyPr/>
                    <a:lstStyle/>
                    <a:p>
                      <a:pPr marL="0" marR="0" algn="r">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L2:</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and</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$s4, $s4, $s1</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09605881"/>
                  </a:ext>
                </a:extLst>
              </a:tr>
              <a:tr h="0">
                <a:tc>
                  <a:txBody>
                    <a:bodyPr/>
                    <a:lstStyle/>
                    <a:p>
                      <a:pPr marL="0" marR="0" algn="r">
                        <a:spcBef>
                          <a:spcPts val="0"/>
                        </a:spcBef>
                        <a:spcAft>
                          <a:spcPts val="0"/>
                        </a:spcAft>
                      </a:pPr>
                      <a:endParaRPr lang="en-US" sz="16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endParaRPr lang="en-US" sz="16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endParaRPr lang="en-US" sz="16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94018505"/>
                  </a:ext>
                </a:extLst>
              </a:tr>
              <a:tr h="0">
                <a:tc>
                  <a:txBody>
                    <a:bodyPr/>
                    <a:lstStyle/>
                    <a:p>
                      <a:pPr marL="0" marR="0" algn="r">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L4:</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beq</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$s6, $s0, L7</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30516158"/>
                  </a:ext>
                </a:extLst>
              </a:tr>
              <a:tr h="0">
                <a:tc>
                  <a:txBody>
                    <a:bodyPr/>
                    <a:lstStyle/>
                    <a:p>
                      <a:pPr marL="0" marR="0" algn="r">
                        <a:spcBef>
                          <a:spcPts val="0"/>
                        </a:spcBef>
                        <a:spcAft>
                          <a:spcPts val="0"/>
                        </a:spcAft>
                      </a:pPr>
                      <a:r>
                        <a:rPr lang="en-US" sz="1600" b="1" dirty="0">
                          <a:solidFill>
                            <a:schemeClr val="accent6">
                              <a:lumMod val="75000"/>
                            </a:schemeClr>
                          </a:solidFill>
                          <a:effectLst/>
                          <a:latin typeface="Courier New" panose="02070309020205020404" pitchFamily="49" charset="0"/>
                          <a:cs typeface="Courier New" panose="02070309020205020404" pitchFamily="49" charset="0"/>
                        </a:rPr>
                        <a:t>L3:</a:t>
                      </a:r>
                      <a:endParaRPr lang="en-US" sz="1800" b="1" dirty="0">
                        <a:solidFill>
                          <a:schemeClr val="accent6">
                            <a:lumMod val="75000"/>
                          </a:schemeClr>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err="1">
                          <a:solidFill>
                            <a:schemeClr val="accent6">
                              <a:lumMod val="75000"/>
                            </a:schemeClr>
                          </a:solidFill>
                          <a:effectLst/>
                          <a:latin typeface="Courier New" panose="02070309020205020404" pitchFamily="49" charset="0"/>
                          <a:cs typeface="Courier New" panose="02070309020205020404" pitchFamily="49" charset="0"/>
                        </a:rPr>
                        <a:t>slt</a:t>
                      </a:r>
                      <a:endParaRPr lang="en-US" sz="1800" b="1" dirty="0">
                        <a:solidFill>
                          <a:schemeClr val="accent6">
                            <a:lumMod val="75000"/>
                          </a:schemeClr>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a:solidFill>
                            <a:schemeClr val="accent6">
                              <a:lumMod val="75000"/>
                            </a:schemeClr>
                          </a:solidFill>
                          <a:effectLst/>
                          <a:latin typeface="Courier New" panose="02070309020205020404" pitchFamily="49" charset="0"/>
                          <a:cs typeface="Courier New" panose="02070309020205020404" pitchFamily="49" charset="0"/>
                        </a:rPr>
                        <a:t>$s6, $s1, $s2</a:t>
                      </a:r>
                      <a:endParaRPr lang="en-US" sz="1800" b="1" dirty="0">
                        <a:solidFill>
                          <a:schemeClr val="accent6">
                            <a:lumMod val="75000"/>
                          </a:schemeClr>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38774203"/>
                  </a:ext>
                </a:extLst>
              </a:tr>
              <a:tr h="0">
                <a:tc>
                  <a:txBody>
                    <a:bodyPr/>
                    <a:lstStyle/>
                    <a:p>
                      <a:pPr marL="0" marR="0" algn="r">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L5:</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or</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$s3, $s4, $s6</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33593416"/>
                  </a:ext>
                </a:extLst>
              </a:tr>
              <a:tr h="0">
                <a:tc>
                  <a:txBody>
                    <a:bodyPr/>
                    <a:lstStyle/>
                    <a:p>
                      <a:pPr marL="0" marR="0" algn="r">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L6:</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add</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$s1, $s1, $s3</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81515933"/>
                  </a:ext>
                </a:extLst>
              </a:tr>
              <a:tr h="0">
                <a:tc>
                  <a:txBody>
                    <a:bodyPr/>
                    <a:lstStyle/>
                    <a:p>
                      <a:pPr marL="0" marR="0" algn="r">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L7:</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err="1">
                          <a:solidFill>
                            <a:schemeClr val="tx1"/>
                          </a:solidFill>
                          <a:effectLst/>
                          <a:latin typeface="Courier New" panose="02070309020205020404" pitchFamily="49" charset="0"/>
                          <a:cs typeface="Courier New" panose="02070309020205020404" pitchFamily="49" charset="0"/>
                        </a:rPr>
                        <a:t>slt</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$s3, $s2, $s5</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5602986"/>
                  </a:ext>
                </a:extLst>
              </a:tr>
            </a:tbl>
          </a:graphicData>
        </a:graphic>
      </p:graphicFrame>
    </p:spTree>
    <p:extLst>
      <p:ext uri="{BB962C8B-B14F-4D97-AF65-F5344CB8AC3E}">
        <p14:creationId xmlns:p14="http://schemas.microsoft.com/office/powerpoint/2010/main" val="371322589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Branch Delay Slots</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19</a:t>
            </a:fld>
            <a:endParaRPr lang="en-US" altLang="en-US"/>
          </a:p>
        </p:txBody>
      </p:sp>
      <p:sp>
        <p:nvSpPr>
          <p:cNvPr id="9" name="Rectangle 3">
            <a:extLst>
              <a:ext uri="{FF2B5EF4-FFF2-40B4-BE49-F238E27FC236}">
                <a16:creationId xmlns:a16="http://schemas.microsoft.com/office/drawing/2014/main" id="{19994F55-828F-4DBF-AA0D-72ED801B65AA}"/>
              </a:ext>
            </a:extLst>
          </p:cNvPr>
          <p:cNvSpPr>
            <a:spLocks noGrp="1" noChangeArrowheads="1"/>
          </p:cNvSpPr>
          <p:nvPr>
            <p:ph idx="1"/>
          </p:nvPr>
        </p:nvSpPr>
        <p:spPr>
          <a:xfrm>
            <a:off x="457200" y="1295400"/>
            <a:ext cx="8077200" cy="1524000"/>
          </a:xfrm>
        </p:spPr>
        <p:txBody>
          <a:bodyPr/>
          <a:lstStyle/>
          <a:p>
            <a:pPr marL="0" indent="0">
              <a:buNone/>
            </a:pPr>
            <a:r>
              <a:rPr lang="en-US" altLang="en-US" sz="2400" dirty="0"/>
              <a:t>Which of the instructions below can individually be legally removed from its current position in the program and placed into the </a:t>
            </a:r>
            <a:r>
              <a:rPr lang="en-US" altLang="en-US" sz="2400" b="1" dirty="0"/>
              <a:t>branch delay slot </a:t>
            </a:r>
            <a:r>
              <a:rPr lang="en-US" altLang="en-US" sz="2400" dirty="0"/>
              <a:t>instead? Ignore potential exceptions.</a:t>
            </a:r>
            <a:endParaRPr lang="en-US" altLang="en-US" sz="2000" dirty="0"/>
          </a:p>
        </p:txBody>
      </p:sp>
      <p:sp>
        <p:nvSpPr>
          <p:cNvPr id="2" name="Rectangle 3">
            <a:extLst>
              <a:ext uri="{FF2B5EF4-FFF2-40B4-BE49-F238E27FC236}">
                <a16:creationId xmlns:a16="http://schemas.microsoft.com/office/drawing/2014/main" id="{F328B0AF-DD12-1299-6EDB-B6C79EBF7BC2}"/>
              </a:ext>
            </a:extLst>
          </p:cNvPr>
          <p:cNvSpPr txBox="1">
            <a:spLocks noChangeArrowheads="1"/>
          </p:cNvSpPr>
          <p:nvPr/>
        </p:nvSpPr>
        <p:spPr bwMode="auto">
          <a:xfrm>
            <a:off x="457200" y="4572000"/>
            <a:ext cx="8077200"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sz="2400" dirty="0"/>
              <a:t>L2? </a:t>
            </a:r>
            <a:r>
              <a:rPr lang="en-US" altLang="en-US" sz="2400" b="1" dirty="0">
                <a:solidFill>
                  <a:schemeClr val="accent6">
                    <a:lumMod val="75000"/>
                  </a:schemeClr>
                </a:solidFill>
              </a:rPr>
              <a:t>Yes</a:t>
            </a:r>
          </a:p>
          <a:p>
            <a:r>
              <a:rPr lang="en-US" altLang="en-US" sz="2400" dirty="0"/>
              <a:t>L3? </a:t>
            </a:r>
            <a:r>
              <a:rPr lang="en-US" altLang="en-US" sz="2400" b="1" dirty="0">
                <a:solidFill>
                  <a:schemeClr val="accent6">
                    <a:lumMod val="75000"/>
                  </a:schemeClr>
                </a:solidFill>
              </a:rPr>
              <a:t>No</a:t>
            </a:r>
          </a:p>
          <a:p>
            <a:r>
              <a:rPr lang="en-US" altLang="en-US" sz="2400" dirty="0"/>
              <a:t>L5? </a:t>
            </a:r>
            <a:endParaRPr lang="en-US" altLang="en-US" sz="2400" b="1" dirty="0">
              <a:solidFill>
                <a:schemeClr val="accent6">
                  <a:lumMod val="75000"/>
                </a:schemeClr>
              </a:solidFill>
            </a:endParaRPr>
          </a:p>
        </p:txBody>
      </p:sp>
      <p:graphicFrame>
        <p:nvGraphicFramePr>
          <p:cNvPr id="3" name="Table 2">
            <a:extLst>
              <a:ext uri="{FF2B5EF4-FFF2-40B4-BE49-F238E27FC236}">
                <a16:creationId xmlns:a16="http://schemas.microsoft.com/office/drawing/2014/main" id="{997DA960-D7B9-ED08-E9F8-C380DBE0B35F}"/>
              </a:ext>
            </a:extLst>
          </p:cNvPr>
          <p:cNvGraphicFramePr>
            <a:graphicFrameLocks noGrp="1"/>
          </p:cNvGraphicFramePr>
          <p:nvPr>
            <p:extLst>
              <p:ext uri="{D42A27DB-BD31-4B8C-83A1-F6EECF244321}">
                <p14:modId xmlns:p14="http://schemas.microsoft.com/office/powerpoint/2010/main" val="4218739388"/>
              </p:ext>
            </p:extLst>
          </p:nvPr>
        </p:nvGraphicFramePr>
        <p:xfrm>
          <a:off x="2673843" y="2639035"/>
          <a:ext cx="3643914" cy="1950720"/>
        </p:xfrm>
        <a:graphic>
          <a:graphicData uri="http://schemas.openxmlformats.org/drawingml/2006/table">
            <a:tbl>
              <a:tblPr firstRow="1" firstCol="1" bandRow="1">
                <a:tableStyleId>{5C22544A-7EE6-4342-B048-85BDC9FD1C3A}</a:tableStyleId>
              </a:tblPr>
              <a:tblGrid>
                <a:gridCol w="597185">
                  <a:extLst>
                    <a:ext uri="{9D8B030D-6E8A-4147-A177-3AD203B41FA5}">
                      <a16:colId xmlns:a16="http://schemas.microsoft.com/office/drawing/2014/main" val="1088953606"/>
                    </a:ext>
                  </a:extLst>
                </a:gridCol>
                <a:gridCol w="812461">
                  <a:extLst>
                    <a:ext uri="{9D8B030D-6E8A-4147-A177-3AD203B41FA5}">
                      <a16:colId xmlns:a16="http://schemas.microsoft.com/office/drawing/2014/main" val="163321813"/>
                    </a:ext>
                  </a:extLst>
                </a:gridCol>
                <a:gridCol w="2234268">
                  <a:extLst>
                    <a:ext uri="{9D8B030D-6E8A-4147-A177-3AD203B41FA5}">
                      <a16:colId xmlns:a16="http://schemas.microsoft.com/office/drawing/2014/main" val="2318643283"/>
                    </a:ext>
                  </a:extLst>
                </a:gridCol>
              </a:tblGrid>
              <a:tr h="0">
                <a:tc>
                  <a:txBody>
                    <a:bodyPr/>
                    <a:lstStyle/>
                    <a:p>
                      <a:pPr marL="0" marR="0" algn="r">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L1:</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err="1">
                          <a:solidFill>
                            <a:schemeClr val="tx1"/>
                          </a:solidFill>
                          <a:effectLst/>
                          <a:latin typeface="Courier New" panose="02070309020205020404" pitchFamily="49" charset="0"/>
                          <a:cs typeface="Courier New" panose="02070309020205020404" pitchFamily="49" charset="0"/>
                        </a:rPr>
                        <a:t>addi</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$s2, $zero, 16</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7704140"/>
                  </a:ext>
                </a:extLst>
              </a:tr>
              <a:tr h="0">
                <a:tc>
                  <a:txBody>
                    <a:bodyPr/>
                    <a:lstStyle/>
                    <a:p>
                      <a:pPr marL="0" marR="0" algn="r">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L2:</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and</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$s4, $s4, $s1</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09605881"/>
                  </a:ext>
                </a:extLst>
              </a:tr>
              <a:tr h="0">
                <a:tc>
                  <a:txBody>
                    <a:bodyPr/>
                    <a:lstStyle/>
                    <a:p>
                      <a:pPr marL="0" marR="0" algn="r">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L3:</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slt</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$s6, $s1, $s2</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94018505"/>
                  </a:ext>
                </a:extLst>
              </a:tr>
              <a:tr h="0">
                <a:tc>
                  <a:txBody>
                    <a:bodyPr/>
                    <a:lstStyle/>
                    <a:p>
                      <a:pPr marL="0" marR="0" algn="r">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L4:</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beq</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$s6, $s0, L7</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30516158"/>
                  </a:ext>
                </a:extLst>
              </a:tr>
              <a:tr h="0">
                <a:tc>
                  <a:txBody>
                    <a:bodyPr/>
                    <a:lstStyle/>
                    <a:p>
                      <a:pPr marL="0" marR="0" algn="r">
                        <a:spcBef>
                          <a:spcPts val="0"/>
                        </a:spcBef>
                        <a:spcAft>
                          <a:spcPts val="0"/>
                        </a:spcAft>
                      </a:pPr>
                      <a:r>
                        <a:rPr lang="en-US" sz="1600" b="1" dirty="0">
                          <a:solidFill>
                            <a:schemeClr val="accent6">
                              <a:lumMod val="75000"/>
                            </a:schemeClr>
                          </a:solidFill>
                          <a:effectLst/>
                          <a:latin typeface="Courier New" panose="02070309020205020404" pitchFamily="49" charset="0"/>
                          <a:cs typeface="Courier New" panose="02070309020205020404" pitchFamily="49" charset="0"/>
                        </a:rPr>
                        <a:t>L5:</a:t>
                      </a:r>
                      <a:endParaRPr lang="en-US" sz="1800" b="1" dirty="0">
                        <a:solidFill>
                          <a:schemeClr val="accent6">
                            <a:lumMod val="75000"/>
                          </a:schemeClr>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a:solidFill>
                            <a:schemeClr val="accent6">
                              <a:lumMod val="75000"/>
                            </a:schemeClr>
                          </a:solidFill>
                          <a:effectLst/>
                          <a:latin typeface="Courier New" panose="02070309020205020404" pitchFamily="49" charset="0"/>
                          <a:cs typeface="Courier New" panose="02070309020205020404" pitchFamily="49" charset="0"/>
                        </a:rPr>
                        <a:t>or</a:t>
                      </a:r>
                      <a:endParaRPr lang="en-US" sz="1800" b="1" dirty="0">
                        <a:solidFill>
                          <a:schemeClr val="accent6">
                            <a:lumMod val="75000"/>
                          </a:schemeClr>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a:solidFill>
                            <a:schemeClr val="accent6">
                              <a:lumMod val="75000"/>
                            </a:schemeClr>
                          </a:solidFill>
                          <a:effectLst/>
                          <a:latin typeface="Courier New" panose="02070309020205020404" pitchFamily="49" charset="0"/>
                          <a:cs typeface="Courier New" panose="02070309020205020404" pitchFamily="49" charset="0"/>
                        </a:rPr>
                        <a:t>$s3, $s4, $s6</a:t>
                      </a:r>
                      <a:endParaRPr lang="en-US" sz="1800" b="1" dirty="0">
                        <a:solidFill>
                          <a:schemeClr val="accent6">
                            <a:lumMod val="75000"/>
                          </a:schemeClr>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88370406"/>
                  </a:ext>
                </a:extLst>
              </a:tr>
              <a:tr h="0">
                <a:tc>
                  <a:txBody>
                    <a:bodyPr/>
                    <a:lstStyle/>
                    <a:p>
                      <a:pPr marL="0" marR="0" algn="r">
                        <a:spcBef>
                          <a:spcPts val="0"/>
                        </a:spcBef>
                        <a:spcAft>
                          <a:spcPts val="0"/>
                        </a:spcAft>
                      </a:pPr>
                      <a:endParaRPr lang="en-US" sz="16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endParaRPr lang="en-US" sz="16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endParaRPr lang="en-US" sz="16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33593416"/>
                  </a:ext>
                </a:extLst>
              </a:tr>
              <a:tr h="0">
                <a:tc>
                  <a:txBody>
                    <a:bodyPr/>
                    <a:lstStyle/>
                    <a:p>
                      <a:pPr marL="0" marR="0" algn="r">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L6:</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add</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$s1, $s1, $s3</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81515933"/>
                  </a:ext>
                </a:extLst>
              </a:tr>
              <a:tr h="0">
                <a:tc>
                  <a:txBody>
                    <a:bodyPr/>
                    <a:lstStyle/>
                    <a:p>
                      <a:pPr marL="0" marR="0" algn="r">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L7:</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err="1">
                          <a:solidFill>
                            <a:schemeClr val="tx1"/>
                          </a:solidFill>
                          <a:effectLst/>
                          <a:latin typeface="Courier New" panose="02070309020205020404" pitchFamily="49" charset="0"/>
                          <a:cs typeface="Courier New" panose="02070309020205020404" pitchFamily="49" charset="0"/>
                        </a:rPr>
                        <a:t>slt</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$s3, $s2, $s5</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5602986"/>
                  </a:ext>
                </a:extLst>
              </a:tr>
            </a:tbl>
          </a:graphicData>
        </a:graphic>
      </p:graphicFrame>
    </p:spTree>
    <p:extLst>
      <p:ext uri="{BB962C8B-B14F-4D97-AF65-F5344CB8AC3E}">
        <p14:creationId xmlns:p14="http://schemas.microsoft.com/office/powerpoint/2010/main" val="589607550"/>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Branch Delay Slots</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20</a:t>
            </a:fld>
            <a:endParaRPr lang="en-US" altLang="en-US"/>
          </a:p>
        </p:txBody>
      </p:sp>
      <p:sp>
        <p:nvSpPr>
          <p:cNvPr id="9" name="Rectangle 3">
            <a:extLst>
              <a:ext uri="{FF2B5EF4-FFF2-40B4-BE49-F238E27FC236}">
                <a16:creationId xmlns:a16="http://schemas.microsoft.com/office/drawing/2014/main" id="{19994F55-828F-4DBF-AA0D-72ED801B65AA}"/>
              </a:ext>
            </a:extLst>
          </p:cNvPr>
          <p:cNvSpPr>
            <a:spLocks noGrp="1" noChangeArrowheads="1"/>
          </p:cNvSpPr>
          <p:nvPr>
            <p:ph idx="1"/>
          </p:nvPr>
        </p:nvSpPr>
        <p:spPr>
          <a:xfrm>
            <a:off x="457200" y="1295400"/>
            <a:ext cx="8077200" cy="1524000"/>
          </a:xfrm>
        </p:spPr>
        <p:txBody>
          <a:bodyPr/>
          <a:lstStyle/>
          <a:p>
            <a:pPr marL="0" indent="0">
              <a:buNone/>
            </a:pPr>
            <a:r>
              <a:rPr lang="en-US" altLang="en-US" sz="2400" dirty="0"/>
              <a:t>Which of the instructions below can individually be legally removed from its current position in the program and placed into the </a:t>
            </a:r>
            <a:r>
              <a:rPr lang="en-US" altLang="en-US" sz="2400" b="1" dirty="0"/>
              <a:t>branch delay slot </a:t>
            </a:r>
            <a:r>
              <a:rPr lang="en-US" altLang="en-US" sz="2400" dirty="0"/>
              <a:t>instead? Ignore potential exceptions.</a:t>
            </a:r>
            <a:endParaRPr lang="en-US" altLang="en-US" sz="2000" dirty="0"/>
          </a:p>
        </p:txBody>
      </p:sp>
      <p:sp>
        <p:nvSpPr>
          <p:cNvPr id="2" name="Rectangle 3">
            <a:extLst>
              <a:ext uri="{FF2B5EF4-FFF2-40B4-BE49-F238E27FC236}">
                <a16:creationId xmlns:a16="http://schemas.microsoft.com/office/drawing/2014/main" id="{F328B0AF-DD12-1299-6EDB-B6C79EBF7BC2}"/>
              </a:ext>
            </a:extLst>
          </p:cNvPr>
          <p:cNvSpPr txBox="1">
            <a:spLocks noChangeArrowheads="1"/>
          </p:cNvSpPr>
          <p:nvPr/>
        </p:nvSpPr>
        <p:spPr bwMode="auto">
          <a:xfrm>
            <a:off x="457200" y="4572000"/>
            <a:ext cx="8077200"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sz="2400" dirty="0"/>
              <a:t>L2? </a:t>
            </a:r>
            <a:r>
              <a:rPr lang="en-US" altLang="en-US" sz="2400" b="1" dirty="0">
                <a:solidFill>
                  <a:schemeClr val="accent6">
                    <a:lumMod val="75000"/>
                  </a:schemeClr>
                </a:solidFill>
              </a:rPr>
              <a:t>Yes</a:t>
            </a:r>
          </a:p>
          <a:p>
            <a:r>
              <a:rPr lang="en-US" altLang="en-US" sz="2400" dirty="0"/>
              <a:t>L3? </a:t>
            </a:r>
            <a:r>
              <a:rPr lang="en-US" altLang="en-US" sz="2400" b="1" dirty="0">
                <a:solidFill>
                  <a:schemeClr val="accent6">
                    <a:lumMod val="75000"/>
                  </a:schemeClr>
                </a:solidFill>
              </a:rPr>
              <a:t>No</a:t>
            </a:r>
          </a:p>
          <a:p>
            <a:r>
              <a:rPr lang="en-US" altLang="en-US" sz="2400" dirty="0"/>
              <a:t>L5? </a:t>
            </a:r>
            <a:r>
              <a:rPr lang="en-US" altLang="en-US" sz="2400" b="1" dirty="0">
                <a:solidFill>
                  <a:schemeClr val="accent6">
                    <a:lumMod val="75000"/>
                  </a:schemeClr>
                </a:solidFill>
              </a:rPr>
              <a:t>Yes</a:t>
            </a:r>
          </a:p>
        </p:txBody>
      </p:sp>
      <p:graphicFrame>
        <p:nvGraphicFramePr>
          <p:cNvPr id="3" name="Table 2">
            <a:extLst>
              <a:ext uri="{FF2B5EF4-FFF2-40B4-BE49-F238E27FC236}">
                <a16:creationId xmlns:a16="http://schemas.microsoft.com/office/drawing/2014/main" id="{997DA960-D7B9-ED08-E9F8-C380DBE0B35F}"/>
              </a:ext>
            </a:extLst>
          </p:cNvPr>
          <p:cNvGraphicFramePr>
            <a:graphicFrameLocks noGrp="1"/>
          </p:cNvGraphicFramePr>
          <p:nvPr/>
        </p:nvGraphicFramePr>
        <p:xfrm>
          <a:off x="2673843" y="2639035"/>
          <a:ext cx="3643914" cy="1950720"/>
        </p:xfrm>
        <a:graphic>
          <a:graphicData uri="http://schemas.openxmlformats.org/drawingml/2006/table">
            <a:tbl>
              <a:tblPr firstRow="1" firstCol="1" bandRow="1">
                <a:tableStyleId>{5C22544A-7EE6-4342-B048-85BDC9FD1C3A}</a:tableStyleId>
              </a:tblPr>
              <a:tblGrid>
                <a:gridCol w="597185">
                  <a:extLst>
                    <a:ext uri="{9D8B030D-6E8A-4147-A177-3AD203B41FA5}">
                      <a16:colId xmlns:a16="http://schemas.microsoft.com/office/drawing/2014/main" val="1088953606"/>
                    </a:ext>
                  </a:extLst>
                </a:gridCol>
                <a:gridCol w="812461">
                  <a:extLst>
                    <a:ext uri="{9D8B030D-6E8A-4147-A177-3AD203B41FA5}">
                      <a16:colId xmlns:a16="http://schemas.microsoft.com/office/drawing/2014/main" val="163321813"/>
                    </a:ext>
                  </a:extLst>
                </a:gridCol>
                <a:gridCol w="2234268">
                  <a:extLst>
                    <a:ext uri="{9D8B030D-6E8A-4147-A177-3AD203B41FA5}">
                      <a16:colId xmlns:a16="http://schemas.microsoft.com/office/drawing/2014/main" val="2318643283"/>
                    </a:ext>
                  </a:extLst>
                </a:gridCol>
              </a:tblGrid>
              <a:tr h="0">
                <a:tc>
                  <a:txBody>
                    <a:bodyPr/>
                    <a:lstStyle/>
                    <a:p>
                      <a:pPr marL="0" marR="0" algn="r">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L1:</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err="1">
                          <a:solidFill>
                            <a:schemeClr val="tx1"/>
                          </a:solidFill>
                          <a:effectLst/>
                          <a:latin typeface="Courier New" panose="02070309020205020404" pitchFamily="49" charset="0"/>
                          <a:cs typeface="Courier New" panose="02070309020205020404" pitchFamily="49" charset="0"/>
                        </a:rPr>
                        <a:t>addi</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$s2, $zero, 16</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7704140"/>
                  </a:ext>
                </a:extLst>
              </a:tr>
              <a:tr h="0">
                <a:tc>
                  <a:txBody>
                    <a:bodyPr/>
                    <a:lstStyle/>
                    <a:p>
                      <a:pPr marL="0" marR="0" algn="r">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L2:</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and</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$s4, $s4, $s1</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09605881"/>
                  </a:ext>
                </a:extLst>
              </a:tr>
              <a:tr h="0">
                <a:tc>
                  <a:txBody>
                    <a:bodyPr/>
                    <a:lstStyle/>
                    <a:p>
                      <a:pPr marL="0" marR="0" algn="r">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L3:</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slt</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$s6, $s1, $s2</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94018505"/>
                  </a:ext>
                </a:extLst>
              </a:tr>
              <a:tr h="0">
                <a:tc>
                  <a:txBody>
                    <a:bodyPr/>
                    <a:lstStyle/>
                    <a:p>
                      <a:pPr marL="0" marR="0" algn="r">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L4:</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beq</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$s6, $s0, L7</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30516158"/>
                  </a:ext>
                </a:extLst>
              </a:tr>
              <a:tr h="0">
                <a:tc>
                  <a:txBody>
                    <a:bodyPr/>
                    <a:lstStyle/>
                    <a:p>
                      <a:pPr marL="0" marR="0" algn="r">
                        <a:spcBef>
                          <a:spcPts val="0"/>
                        </a:spcBef>
                        <a:spcAft>
                          <a:spcPts val="0"/>
                        </a:spcAft>
                      </a:pPr>
                      <a:r>
                        <a:rPr lang="en-US" sz="1600" b="1" dirty="0">
                          <a:solidFill>
                            <a:schemeClr val="accent6">
                              <a:lumMod val="75000"/>
                            </a:schemeClr>
                          </a:solidFill>
                          <a:effectLst/>
                          <a:latin typeface="Courier New" panose="02070309020205020404" pitchFamily="49" charset="0"/>
                          <a:cs typeface="Courier New" panose="02070309020205020404" pitchFamily="49" charset="0"/>
                        </a:rPr>
                        <a:t>L5:</a:t>
                      </a:r>
                      <a:endParaRPr lang="en-US" sz="1800" b="1" dirty="0">
                        <a:solidFill>
                          <a:schemeClr val="accent6">
                            <a:lumMod val="75000"/>
                          </a:schemeClr>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a:solidFill>
                            <a:schemeClr val="accent6">
                              <a:lumMod val="75000"/>
                            </a:schemeClr>
                          </a:solidFill>
                          <a:effectLst/>
                          <a:latin typeface="Courier New" panose="02070309020205020404" pitchFamily="49" charset="0"/>
                          <a:cs typeface="Courier New" panose="02070309020205020404" pitchFamily="49" charset="0"/>
                        </a:rPr>
                        <a:t>or</a:t>
                      </a:r>
                      <a:endParaRPr lang="en-US" sz="1800" b="1" dirty="0">
                        <a:solidFill>
                          <a:schemeClr val="accent6">
                            <a:lumMod val="75000"/>
                          </a:schemeClr>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a:solidFill>
                            <a:schemeClr val="accent6">
                              <a:lumMod val="75000"/>
                            </a:schemeClr>
                          </a:solidFill>
                          <a:effectLst/>
                          <a:latin typeface="Courier New" panose="02070309020205020404" pitchFamily="49" charset="0"/>
                          <a:cs typeface="Courier New" panose="02070309020205020404" pitchFamily="49" charset="0"/>
                        </a:rPr>
                        <a:t>$s3, $s4, $s6</a:t>
                      </a:r>
                      <a:endParaRPr lang="en-US" sz="1800" b="1" dirty="0">
                        <a:solidFill>
                          <a:schemeClr val="accent6">
                            <a:lumMod val="75000"/>
                          </a:schemeClr>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88370406"/>
                  </a:ext>
                </a:extLst>
              </a:tr>
              <a:tr h="0">
                <a:tc>
                  <a:txBody>
                    <a:bodyPr/>
                    <a:lstStyle/>
                    <a:p>
                      <a:pPr marL="0" marR="0" algn="r">
                        <a:spcBef>
                          <a:spcPts val="0"/>
                        </a:spcBef>
                        <a:spcAft>
                          <a:spcPts val="0"/>
                        </a:spcAft>
                      </a:pPr>
                      <a:endParaRPr lang="en-US" sz="16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endParaRPr lang="en-US" sz="16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endParaRPr lang="en-US" sz="16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33593416"/>
                  </a:ext>
                </a:extLst>
              </a:tr>
              <a:tr h="0">
                <a:tc>
                  <a:txBody>
                    <a:bodyPr/>
                    <a:lstStyle/>
                    <a:p>
                      <a:pPr marL="0" marR="0" algn="r">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L6:</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add</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a:solidFill>
                            <a:schemeClr val="tx1"/>
                          </a:solidFill>
                          <a:effectLst/>
                          <a:latin typeface="Courier New" panose="02070309020205020404" pitchFamily="49" charset="0"/>
                          <a:cs typeface="Courier New" panose="02070309020205020404" pitchFamily="49" charset="0"/>
                        </a:rPr>
                        <a:t>$s1, $s1, $s3</a:t>
                      </a:r>
                      <a:endParaRPr lang="en-US" sz="1800" b="1">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81515933"/>
                  </a:ext>
                </a:extLst>
              </a:tr>
              <a:tr h="0">
                <a:tc>
                  <a:txBody>
                    <a:bodyPr/>
                    <a:lstStyle/>
                    <a:p>
                      <a:pPr marL="0" marR="0" algn="r">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L7:</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err="1">
                          <a:solidFill>
                            <a:schemeClr val="tx1"/>
                          </a:solidFill>
                          <a:effectLst/>
                          <a:latin typeface="Courier New" panose="02070309020205020404" pitchFamily="49" charset="0"/>
                          <a:cs typeface="Courier New" panose="02070309020205020404" pitchFamily="49" charset="0"/>
                        </a:rPr>
                        <a:t>slt</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spcBef>
                          <a:spcPts val="0"/>
                        </a:spcBef>
                        <a:spcAft>
                          <a:spcPts val="0"/>
                        </a:spcAft>
                      </a:pPr>
                      <a:r>
                        <a:rPr lang="en-US" sz="1600" b="1" dirty="0">
                          <a:solidFill>
                            <a:schemeClr val="tx1"/>
                          </a:solidFill>
                          <a:effectLst/>
                          <a:latin typeface="Courier New" panose="02070309020205020404" pitchFamily="49" charset="0"/>
                          <a:cs typeface="Courier New" panose="02070309020205020404" pitchFamily="49" charset="0"/>
                        </a:rPr>
                        <a:t>$s3, $s2, $s5</a:t>
                      </a:r>
                      <a:endParaRPr lang="en-US" sz="1800" b="1" dirty="0">
                        <a:solidFill>
                          <a:schemeClr val="tx1"/>
                        </a:solidFill>
                        <a:effectLst/>
                        <a:latin typeface="Courier New" panose="02070309020205020404" pitchFamily="49" charset="0"/>
                        <a:ea typeface="PMingLiU" panose="020B0604030504040204" pitchFamily="18" charset="-120"/>
                        <a:cs typeface="Courier New" panose="02070309020205020404" pitchFamily="49"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5602986"/>
                  </a:ext>
                </a:extLst>
              </a:tr>
            </a:tbl>
          </a:graphicData>
        </a:graphic>
      </p:graphicFrame>
    </p:spTree>
    <p:extLst>
      <p:ext uri="{BB962C8B-B14F-4D97-AF65-F5344CB8AC3E}">
        <p14:creationId xmlns:p14="http://schemas.microsoft.com/office/powerpoint/2010/main" val="4240984249"/>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A74A7-46D7-FF95-7799-1FD9D30C1F4D}"/>
            </a:ext>
          </a:extLst>
        </p:cNvPr>
        <p:cNvGrpSpPr/>
        <p:nvPr/>
      </p:nvGrpSpPr>
      <p:grpSpPr>
        <a:xfrm>
          <a:off x="0" y="0"/>
          <a:ext cx="0" cy="0"/>
          <a:chOff x="0" y="0"/>
          <a:chExt cx="0" cy="0"/>
        </a:xfrm>
      </p:grpSpPr>
      <p:pic>
        <p:nvPicPr>
          <p:cNvPr id="19" name="Content Placeholder 7" descr="A diagram of a computer system&#10;&#10;Description automatically generated">
            <a:extLst>
              <a:ext uri="{FF2B5EF4-FFF2-40B4-BE49-F238E27FC236}">
                <a16:creationId xmlns:a16="http://schemas.microsoft.com/office/drawing/2014/main" id="{4B18F5A5-2A6B-8204-35BB-26430475E84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81000" y="1143000"/>
            <a:ext cx="7910007" cy="4876800"/>
          </a:xfrm>
        </p:spPr>
      </p:pic>
      <p:sp>
        <p:nvSpPr>
          <p:cNvPr id="2" name="Title 1">
            <a:extLst>
              <a:ext uri="{FF2B5EF4-FFF2-40B4-BE49-F238E27FC236}">
                <a16:creationId xmlns:a16="http://schemas.microsoft.com/office/drawing/2014/main" id="{3E123FE6-DCF5-077C-8F81-F0246023DF0C}"/>
              </a:ext>
            </a:extLst>
          </p:cNvPr>
          <p:cNvSpPr>
            <a:spLocks noGrp="1"/>
          </p:cNvSpPr>
          <p:nvPr>
            <p:ph type="title"/>
          </p:nvPr>
        </p:nvSpPr>
        <p:spPr/>
        <p:txBody>
          <a:bodyPr/>
          <a:lstStyle/>
          <a:p>
            <a:pPr algn="l"/>
            <a:r>
              <a:rPr lang="en-US" dirty="0"/>
              <a:t>COD 4.65</a:t>
            </a:r>
          </a:p>
        </p:txBody>
      </p:sp>
      <p:sp>
        <p:nvSpPr>
          <p:cNvPr id="4" name="Slide Number Placeholder 3">
            <a:extLst>
              <a:ext uri="{FF2B5EF4-FFF2-40B4-BE49-F238E27FC236}">
                <a16:creationId xmlns:a16="http://schemas.microsoft.com/office/drawing/2014/main" id="{7F11D1F7-84CE-61BF-9FC8-7931A7585ACA}"/>
              </a:ext>
            </a:extLst>
          </p:cNvPr>
          <p:cNvSpPr>
            <a:spLocks noGrp="1"/>
          </p:cNvSpPr>
          <p:nvPr>
            <p:ph type="sldNum" sz="quarter" idx="12"/>
          </p:nvPr>
        </p:nvSpPr>
        <p:spPr/>
        <p:txBody>
          <a:bodyPr/>
          <a:lstStyle/>
          <a:p>
            <a:pPr lvl="1"/>
            <a:fld id="{35B60D93-CC8C-4BE3-8466-59E10CB9DAB3}" type="slidenum">
              <a:rPr lang="en-US" altLang="en-US" smtClean="0"/>
              <a:pPr lvl="1"/>
              <a:t>21</a:t>
            </a:fld>
            <a:endParaRPr lang="en-US" altLang="en-US">
              <a:latin typeface="Calibri" panose="020F0502020204030204" pitchFamily="34" charset="0"/>
            </a:endParaRPr>
          </a:p>
        </p:txBody>
      </p:sp>
      <p:sp>
        <p:nvSpPr>
          <p:cNvPr id="9" name="TextBox 8">
            <a:extLst>
              <a:ext uri="{FF2B5EF4-FFF2-40B4-BE49-F238E27FC236}">
                <a16:creationId xmlns:a16="http://schemas.microsoft.com/office/drawing/2014/main" id="{CC1AC3C1-1928-4B13-1BBB-344C342DD20B}"/>
              </a:ext>
            </a:extLst>
          </p:cNvPr>
          <p:cNvSpPr txBox="1"/>
          <p:nvPr/>
        </p:nvSpPr>
        <p:spPr>
          <a:xfrm>
            <a:off x="427703" y="6019800"/>
            <a:ext cx="2640466" cy="369332"/>
          </a:xfrm>
          <a:prstGeom prst="rect">
            <a:avLst/>
          </a:prstGeom>
          <a:noFill/>
        </p:spPr>
        <p:txBody>
          <a:bodyPr wrap="none" rtlCol="0">
            <a:spAutoFit/>
          </a:bodyPr>
          <a:lstStyle/>
          <a:p>
            <a:r>
              <a:rPr lang="en-US" sz="1800" dirty="0"/>
              <a:t>Where do Stalls originate?</a:t>
            </a:r>
          </a:p>
        </p:txBody>
      </p:sp>
      <p:sp>
        <p:nvSpPr>
          <p:cNvPr id="11" name="TextBox 10">
            <a:extLst>
              <a:ext uri="{FF2B5EF4-FFF2-40B4-BE49-F238E27FC236}">
                <a16:creationId xmlns:a16="http://schemas.microsoft.com/office/drawing/2014/main" id="{1B7D6130-B06D-7D3E-119A-57EBAF921431}"/>
              </a:ext>
            </a:extLst>
          </p:cNvPr>
          <p:cNvSpPr txBox="1"/>
          <p:nvPr/>
        </p:nvSpPr>
        <p:spPr>
          <a:xfrm>
            <a:off x="4151181" y="6019800"/>
            <a:ext cx="889987" cy="369332"/>
          </a:xfrm>
          <a:prstGeom prst="rect">
            <a:avLst/>
          </a:prstGeom>
          <a:noFill/>
        </p:spPr>
        <p:txBody>
          <a:bodyPr wrap="none" rtlCol="0">
            <a:spAutoFit/>
          </a:bodyPr>
          <a:lstStyle/>
          <a:p>
            <a:r>
              <a:rPr lang="en-US" sz="1800" dirty="0">
                <a:solidFill>
                  <a:schemeClr val="accent6">
                    <a:lumMod val="75000"/>
                  </a:schemeClr>
                </a:solidFill>
              </a:rPr>
              <a:t>Decode</a:t>
            </a:r>
          </a:p>
        </p:txBody>
      </p:sp>
      <p:sp>
        <p:nvSpPr>
          <p:cNvPr id="16" name="TextBox 15">
            <a:extLst>
              <a:ext uri="{FF2B5EF4-FFF2-40B4-BE49-F238E27FC236}">
                <a16:creationId xmlns:a16="http://schemas.microsoft.com/office/drawing/2014/main" id="{D9C3D401-A907-27EC-9813-77DCCF732C31}"/>
              </a:ext>
            </a:extLst>
          </p:cNvPr>
          <p:cNvSpPr txBox="1"/>
          <p:nvPr/>
        </p:nvSpPr>
        <p:spPr>
          <a:xfrm>
            <a:off x="4041058" y="250057"/>
            <a:ext cx="3581400" cy="1200329"/>
          </a:xfrm>
          <a:prstGeom prst="rect">
            <a:avLst/>
          </a:prstGeom>
          <a:noFill/>
        </p:spPr>
        <p:txBody>
          <a:bodyPr wrap="square" rtlCol="0">
            <a:spAutoFit/>
          </a:bodyPr>
          <a:lstStyle/>
          <a:p>
            <a:pPr marL="342900" indent="-342900">
              <a:buFont typeface="Arial" panose="020B0604020202020204" pitchFamily="34" charset="0"/>
              <a:buChar char="•"/>
            </a:pPr>
            <a:r>
              <a:rPr lang="en-US" sz="2400" dirty="0"/>
              <a:t>Full Forwarding to EX</a:t>
            </a:r>
          </a:p>
          <a:p>
            <a:pPr marL="342900" indent="-342900">
              <a:buFont typeface="Arial" panose="020B0604020202020204" pitchFamily="34" charset="0"/>
              <a:buChar char="•"/>
            </a:pPr>
            <a:r>
              <a:rPr lang="en-US" sz="2400" dirty="0"/>
              <a:t>RF Bypass</a:t>
            </a:r>
          </a:p>
          <a:p>
            <a:pPr marL="342900" indent="-342900">
              <a:buFont typeface="Arial" panose="020B0604020202020204" pitchFamily="34" charset="0"/>
              <a:buChar char="•"/>
            </a:pPr>
            <a:r>
              <a:rPr lang="en-US" sz="2400" dirty="0"/>
              <a:t>Predict not taken</a:t>
            </a:r>
          </a:p>
        </p:txBody>
      </p:sp>
      <p:sp>
        <p:nvSpPr>
          <p:cNvPr id="3" name="Rounded Rectangle 2">
            <a:extLst>
              <a:ext uri="{FF2B5EF4-FFF2-40B4-BE49-F238E27FC236}">
                <a16:creationId xmlns:a16="http://schemas.microsoft.com/office/drawing/2014/main" id="{45E4B817-3E9E-FA97-6ADE-25A519A7B898}"/>
              </a:ext>
            </a:extLst>
          </p:cNvPr>
          <p:cNvSpPr/>
          <p:nvPr/>
        </p:nvSpPr>
        <p:spPr>
          <a:xfrm>
            <a:off x="2590800" y="1417638"/>
            <a:ext cx="685800" cy="411162"/>
          </a:xfrm>
          <a:prstGeom prst="roundRect">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464724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C91AD-30AA-C24E-28B1-0CD7BE59E7E5}"/>
              </a:ext>
            </a:extLst>
          </p:cNvPr>
          <p:cNvSpPr>
            <a:spLocks noGrp="1"/>
          </p:cNvSpPr>
          <p:nvPr>
            <p:ph type="title"/>
          </p:nvPr>
        </p:nvSpPr>
        <p:spPr/>
        <p:txBody>
          <a:bodyPr/>
          <a:lstStyle/>
          <a:p>
            <a:r>
              <a:rPr lang="en-US" dirty="0"/>
              <a:t>COD 4.65 Pipeline Terminology</a:t>
            </a:r>
          </a:p>
        </p:txBody>
      </p:sp>
      <p:sp>
        <p:nvSpPr>
          <p:cNvPr id="3" name="Content Placeholder 2">
            <a:extLst>
              <a:ext uri="{FF2B5EF4-FFF2-40B4-BE49-F238E27FC236}">
                <a16:creationId xmlns:a16="http://schemas.microsoft.com/office/drawing/2014/main" id="{D323AE1D-4F3D-F256-8345-30A019323C64}"/>
              </a:ext>
            </a:extLst>
          </p:cNvPr>
          <p:cNvSpPr>
            <a:spLocks noGrp="1"/>
          </p:cNvSpPr>
          <p:nvPr>
            <p:ph idx="1"/>
          </p:nvPr>
        </p:nvSpPr>
        <p:spPr/>
        <p:txBody>
          <a:bodyPr/>
          <a:lstStyle/>
          <a:p>
            <a:r>
              <a:rPr lang="en-US" dirty="0"/>
              <a:t>What is a Stall?</a:t>
            </a:r>
          </a:p>
          <a:p>
            <a:pPr lvl="1"/>
            <a:r>
              <a:rPr lang="en-US" dirty="0">
                <a:solidFill>
                  <a:schemeClr val="accent6">
                    <a:lumMod val="75000"/>
                  </a:schemeClr>
                </a:solidFill>
              </a:rPr>
              <a:t>A D* stall is when the results of D transformed to a NOP for the ID/EX pipeline registers</a:t>
            </a:r>
          </a:p>
          <a:p>
            <a:pPr lvl="1"/>
            <a:r>
              <a:rPr lang="en-US" dirty="0">
                <a:solidFill>
                  <a:schemeClr val="accent6">
                    <a:lumMod val="75000"/>
                  </a:schemeClr>
                </a:solidFill>
              </a:rPr>
              <a:t>F* is different; ID/</a:t>
            </a:r>
            <a:r>
              <a:rPr lang="en-US" dirty="0" err="1">
                <a:solidFill>
                  <a:schemeClr val="accent6">
                    <a:lumMod val="75000"/>
                  </a:schemeClr>
                </a:solidFill>
              </a:rPr>
              <a:t>EX.wen</a:t>
            </a:r>
            <a:r>
              <a:rPr lang="en-US" dirty="0">
                <a:solidFill>
                  <a:schemeClr val="accent6">
                    <a:lumMod val="75000"/>
                  </a:schemeClr>
                </a:solidFill>
              </a:rPr>
              <a:t> = 0 prevents ID/EX from updating, so D will re-execute on the next clock</a:t>
            </a:r>
          </a:p>
          <a:p>
            <a:r>
              <a:rPr lang="en-US" dirty="0"/>
              <a:t>When will F Stall (F*)?</a:t>
            </a:r>
          </a:p>
          <a:p>
            <a:pPr lvl="1"/>
            <a:r>
              <a:rPr lang="en-US" dirty="0">
                <a:solidFill>
                  <a:schemeClr val="accent6">
                    <a:lumMod val="75000"/>
                  </a:schemeClr>
                </a:solidFill>
              </a:rPr>
              <a:t>F* will stall only when D* originates a stall</a:t>
            </a:r>
          </a:p>
        </p:txBody>
      </p:sp>
      <p:sp>
        <p:nvSpPr>
          <p:cNvPr id="4" name="Slide Number Placeholder 3">
            <a:extLst>
              <a:ext uri="{FF2B5EF4-FFF2-40B4-BE49-F238E27FC236}">
                <a16:creationId xmlns:a16="http://schemas.microsoft.com/office/drawing/2014/main" id="{12AA8713-8833-5B28-1983-57D4100D9257}"/>
              </a:ext>
            </a:extLst>
          </p:cNvPr>
          <p:cNvSpPr>
            <a:spLocks noGrp="1"/>
          </p:cNvSpPr>
          <p:nvPr>
            <p:ph type="sldNum" sz="quarter" idx="12"/>
          </p:nvPr>
        </p:nvSpPr>
        <p:spPr/>
        <p:txBody>
          <a:bodyPr/>
          <a:lstStyle/>
          <a:p>
            <a:pPr lvl="1"/>
            <a:fld id="{35B60D93-CC8C-4BE3-8466-59E10CB9DAB3}" type="slidenum">
              <a:rPr lang="en-US" altLang="en-US" smtClean="0"/>
              <a:pPr lvl="1"/>
              <a:t>22</a:t>
            </a:fld>
            <a:endParaRPr lang="en-US" altLang="en-US">
              <a:latin typeface="Calibri" panose="020F0502020204030204" pitchFamily="34" charset="0"/>
            </a:endParaRPr>
          </a:p>
        </p:txBody>
      </p:sp>
    </p:spTree>
    <p:extLst>
      <p:ext uri="{BB962C8B-B14F-4D97-AF65-F5344CB8AC3E}">
        <p14:creationId xmlns:p14="http://schemas.microsoft.com/office/powerpoint/2010/main" val="219809752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Content Placeholder 7" descr="A diagram of a computer system&#10;&#10;Description automatically generated">
            <a:extLst>
              <a:ext uri="{FF2B5EF4-FFF2-40B4-BE49-F238E27FC236}">
                <a16:creationId xmlns:a16="http://schemas.microsoft.com/office/drawing/2014/main" id="{C940EB99-A123-6BD9-FFD6-482CD3A6FF0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81000" y="1143000"/>
            <a:ext cx="7910007" cy="4876800"/>
          </a:xfrm>
        </p:spPr>
      </p:pic>
      <p:sp>
        <p:nvSpPr>
          <p:cNvPr id="2" name="Title 1">
            <a:extLst>
              <a:ext uri="{FF2B5EF4-FFF2-40B4-BE49-F238E27FC236}">
                <a16:creationId xmlns:a16="http://schemas.microsoft.com/office/drawing/2014/main" id="{E0B436E4-AD0A-1440-F7BE-C9A7AECAA989}"/>
              </a:ext>
            </a:extLst>
          </p:cNvPr>
          <p:cNvSpPr>
            <a:spLocks noGrp="1"/>
          </p:cNvSpPr>
          <p:nvPr>
            <p:ph type="title"/>
          </p:nvPr>
        </p:nvSpPr>
        <p:spPr/>
        <p:txBody>
          <a:bodyPr/>
          <a:lstStyle/>
          <a:p>
            <a:pPr algn="l"/>
            <a:r>
              <a:rPr lang="en-US" dirty="0"/>
              <a:t>COD 4.65</a:t>
            </a:r>
          </a:p>
        </p:txBody>
      </p:sp>
      <p:sp>
        <p:nvSpPr>
          <p:cNvPr id="4" name="Slide Number Placeholder 3">
            <a:extLst>
              <a:ext uri="{FF2B5EF4-FFF2-40B4-BE49-F238E27FC236}">
                <a16:creationId xmlns:a16="http://schemas.microsoft.com/office/drawing/2014/main" id="{AE269163-899D-EB65-2AD1-2BEE90930D4E}"/>
              </a:ext>
            </a:extLst>
          </p:cNvPr>
          <p:cNvSpPr>
            <a:spLocks noGrp="1"/>
          </p:cNvSpPr>
          <p:nvPr>
            <p:ph type="sldNum" sz="quarter" idx="12"/>
          </p:nvPr>
        </p:nvSpPr>
        <p:spPr/>
        <p:txBody>
          <a:bodyPr/>
          <a:lstStyle/>
          <a:p>
            <a:pPr lvl="1"/>
            <a:fld id="{35B60D93-CC8C-4BE3-8466-59E10CB9DAB3}" type="slidenum">
              <a:rPr lang="en-US" altLang="en-US" smtClean="0"/>
              <a:pPr lvl="1"/>
              <a:t>23</a:t>
            </a:fld>
            <a:endParaRPr lang="en-US" altLang="en-US">
              <a:latin typeface="Calibri" panose="020F0502020204030204" pitchFamily="34" charset="0"/>
            </a:endParaRPr>
          </a:p>
        </p:txBody>
      </p:sp>
      <p:sp>
        <p:nvSpPr>
          <p:cNvPr id="9" name="TextBox 8">
            <a:extLst>
              <a:ext uri="{FF2B5EF4-FFF2-40B4-BE49-F238E27FC236}">
                <a16:creationId xmlns:a16="http://schemas.microsoft.com/office/drawing/2014/main" id="{6431D32C-88DB-D1D9-8388-38BBCCB19CBB}"/>
              </a:ext>
            </a:extLst>
          </p:cNvPr>
          <p:cNvSpPr txBox="1"/>
          <p:nvPr/>
        </p:nvSpPr>
        <p:spPr>
          <a:xfrm>
            <a:off x="427703" y="6019800"/>
            <a:ext cx="2935419" cy="369332"/>
          </a:xfrm>
          <a:prstGeom prst="rect">
            <a:avLst/>
          </a:prstGeom>
          <a:noFill/>
        </p:spPr>
        <p:txBody>
          <a:bodyPr wrap="none" rtlCol="0">
            <a:spAutoFit/>
          </a:bodyPr>
          <a:lstStyle/>
          <a:p>
            <a:r>
              <a:rPr lang="en-US" sz="1800" dirty="0"/>
              <a:t>Where are Branches decided?</a:t>
            </a:r>
          </a:p>
        </p:txBody>
      </p:sp>
      <p:sp>
        <p:nvSpPr>
          <p:cNvPr id="11" name="TextBox 10">
            <a:extLst>
              <a:ext uri="{FF2B5EF4-FFF2-40B4-BE49-F238E27FC236}">
                <a16:creationId xmlns:a16="http://schemas.microsoft.com/office/drawing/2014/main" id="{C7814EB0-24B2-B42C-C939-66C0CE217F83}"/>
              </a:ext>
            </a:extLst>
          </p:cNvPr>
          <p:cNvSpPr txBox="1"/>
          <p:nvPr/>
        </p:nvSpPr>
        <p:spPr>
          <a:xfrm>
            <a:off x="4151181" y="6019800"/>
            <a:ext cx="889987" cy="369332"/>
          </a:xfrm>
          <a:prstGeom prst="rect">
            <a:avLst/>
          </a:prstGeom>
          <a:noFill/>
        </p:spPr>
        <p:txBody>
          <a:bodyPr wrap="none" rtlCol="0">
            <a:spAutoFit/>
          </a:bodyPr>
          <a:lstStyle/>
          <a:p>
            <a:r>
              <a:rPr lang="en-US" sz="1800" dirty="0">
                <a:solidFill>
                  <a:schemeClr val="accent6">
                    <a:lumMod val="75000"/>
                  </a:schemeClr>
                </a:solidFill>
              </a:rPr>
              <a:t>Decode</a:t>
            </a:r>
          </a:p>
        </p:txBody>
      </p:sp>
      <p:sp>
        <p:nvSpPr>
          <p:cNvPr id="13" name="Oval 12">
            <a:extLst>
              <a:ext uri="{FF2B5EF4-FFF2-40B4-BE49-F238E27FC236}">
                <a16:creationId xmlns:a16="http://schemas.microsoft.com/office/drawing/2014/main" id="{8EB487A3-45C6-2209-FC22-50CF143EFF08}"/>
              </a:ext>
            </a:extLst>
          </p:cNvPr>
          <p:cNvSpPr/>
          <p:nvPr/>
        </p:nvSpPr>
        <p:spPr>
          <a:xfrm>
            <a:off x="3962400" y="3352800"/>
            <a:ext cx="228600" cy="457200"/>
          </a:xfrm>
          <a:prstGeom prst="ellips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a:t>
            </a:r>
          </a:p>
        </p:txBody>
      </p:sp>
      <p:sp>
        <p:nvSpPr>
          <p:cNvPr id="14" name="Freeform 13">
            <a:extLst>
              <a:ext uri="{FF2B5EF4-FFF2-40B4-BE49-F238E27FC236}">
                <a16:creationId xmlns:a16="http://schemas.microsoft.com/office/drawing/2014/main" id="{9F8FF3B0-9708-3020-4D74-86CAEA076632}"/>
              </a:ext>
            </a:extLst>
          </p:cNvPr>
          <p:cNvSpPr/>
          <p:nvPr/>
        </p:nvSpPr>
        <p:spPr>
          <a:xfrm>
            <a:off x="3384958" y="2441196"/>
            <a:ext cx="192947" cy="620786"/>
          </a:xfrm>
          <a:custGeom>
            <a:avLst/>
            <a:gdLst>
              <a:gd name="connsiteX0" fmla="*/ 0 w 192947"/>
              <a:gd name="connsiteY0" fmla="*/ 620786 h 620786"/>
              <a:gd name="connsiteX1" fmla="*/ 192947 w 192947"/>
              <a:gd name="connsiteY1" fmla="*/ 427839 h 620786"/>
              <a:gd name="connsiteX2" fmla="*/ 192947 w 192947"/>
              <a:gd name="connsiteY2" fmla="*/ 197142 h 620786"/>
              <a:gd name="connsiteX3" fmla="*/ 4194 w 192947"/>
              <a:gd name="connsiteY3" fmla="*/ 0 h 620786"/>
              <a:gd name="connsiteX4" fmla="*/ 0 w 192947"/>
              <a:gd name="connsiteY4" fmla="*/ 264254 h 620786"/>
              <a:gd name="connsiteX5" fmla="*/ 46139 w 192947"/>
              <a:gd name="connsiteY5" fmla="*/ 310393 h 620786"/>
              <a:gd name="connsiteX6" fmla="*/ 4194 w 192947"/>
              <a:gd name="connsiteY6" fmla="*/ 373310 h 620786"/>
              <a:gd name="connsiteX7" fmla="*/ 0 w 192947"/>
              <a:gd name="connsiteY7" fmla="*/ 620786 h 62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2947" h="620786">
                <a:moveTo>
                  <a:pt x="0" y="620786"/>
                </a:moveTo>
                <a:lnTo>
                  <a:pt x="192947" y="427839"/>
                </a:lnTo>
                <a:lnTo>
                  <a:pt x="192947" y="197142"/>
                </a:lnTo>
                <a:lnTo>
                  <a:pt x="4194" y="0"/>
                </a:lnTo>
                <a:lnTo>
                  <a:pt x="0" y="264254"/>
                </a:lnTo>
                <a:lnTo>
                  <a:pt x="46139" y="310393"/>
                </a:lnTo>
                <a:lnTo>
                  <a:pt x="4194" y="373310"/>
                </a:lnTo>
                <a:lnTo>
                  <a:pt x="0" y="620786"/>
                </a:lnTo>
                <a:close/>
              </a:path>
            </a:pathLst>
          </a:cu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a:t>
            </a:r>
          </a:p>
        </p:txBody>
      </p:sp>
      <p:sp>
        <p:nvSpPr>
          <p:cNvPr id="15" name="Oval 14">
            <a:extLst>
              <a:ext uri="{FF2B5EF4-FFF2-40B4-BE49-F238E27FC236}">
                <a16:creationId xmlns:a16="http://schemas.microsoft.com/office/drawing/2014/main" id="{AE379A4D-6C8D-9A1C-2F85-0CFEF0BB425C}"/>
              </a:ext>
            </a:extLst>
          </p:cNvPr>
          <p:cNvSpPr/>
          <p:nvPr/>
        </p:nvSpPr>
        <p:spPr>
          <a:xfrm>
            <a:off x="2971800" y="2895600"/>
            <a:ext cx="304800" cy="457200"/>
          </a:xfrm>
          <a:prstGeom prst="ellips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17" name="TextBox 16">
            <a:extLst>
              <a:ext uri="{FF2B5EF4-FFF2-40B4-BE49-F238E27FC236}">
                <a16:creationId xmlns:a16="http://schemas.microsoft.com/office/drawing/2014/main" id="{00253AA6-C3DE-AC0B-9037-533B0E1BA59C}"/>
              </a:ext>
            </a:extLst>
          </p:cNvPr>
          <p:cNvSpPr txBox="1"/>
          <p:nvPr/>
        </p:nvSpPr>
        <p:spPr>
          <a:xfrm>
            <a:off x="2903209" y="3001089"/>
            <a:ext cx="393056" cy="246221"/>
          </a:xfrm>
          <a:prstGeom prst="rect">
            <a:avLst/>
          </a:prstGeom>
          <a:noFill/>
        </p:spPr>
        <p:txBody>
          <a:bodyPr wrap="none" rtlCol="0">
            <a:spAutoFit/>
          </a:bodyPr>
          <a:lstStyle/>
          <a:p>
            <a:r>
              <a:rPr lang="en-US" dirty="0"/>
              <a:t>&lt;&lt;2</a:t>
            </a:r>
          </a:p>
        </p:txBody>
      </p:sp>
      <p:sp>
        <p:nvSpPr>
          <p:cNvPr id="21" name="TextBox 20">
            <a:extLst>
              <a:ext uri="{FF2B5EF4-FFF2-40B4-BE49-F238E27FC236}">
                <a16:creationId xmlns:a16="http://schemas.microsoft.com/office/drawing/2014/main" id="{D7A36236-A099-B9F6-2F5E-44FD4AB47578}"/>
              </a:ext>
            </a:extLst>
          </p:cNvPr>
          <p:cNvSpPr txBox="1"/>
          <p:nvPr/>
        </p:nvSpPr>
        <p:spPr>
          <a:xfrm>
            <a:off x="4041058" y="250057"/>
            <a:ext cx="3581400" cy="1200329"/>
          </a:xfrm>
          <a:prstGeom prst="rect">
            <a:avLst/>
          </a:prstGeom>
          <a:noFill/>
        </p:spPr>
        <p:txBody>
          <a:bodyPr wrap="square" rtlCol="0">
            <a:spAutoFit/>
          </a:bodyPr>
          <a:lstStyle/>
          <a:p>
            <a:pPr marL="342900" indent="-342900">
              <a:buFont typeface="Arial" panose="020B0604020202020204" pitchFamily="34" charset="0"/>
              <a:buChar char="•"/>
            </a:pPr>
            <a:r>
              <a:rPr lang="en-US" sz="2400" dirty="0"/>
              <a:t>Full Forwarding to EX</a:t>
            </a:r>
          </a:p>
          <a:p>
            <a:pPr marL="342900" indent="-342900">
              <a:buFont typeface="Arial" panose="020B0604020202020204" pitchFamily="34" charset="0"/>
              <a:buChar char="•"/>
            </a:pPr>
            <a:r>
              <a:rPr lang="en-US" sz="2400" dirty="0"/>
              <a:t>RF Bypass</a:t>
            </a:r>
          </a:p>
          <a:p>
            <a:pPr marL="342900" indent="-342900">
              <a:buFont typeface="Arial" panose="020B0604020202020204" pitchFamily="34" charset="0"/>
              <a:buChar char="•"/>
            </a:pPr>
            <a:r>
              <a:rPr lang="en-US" sz="2400" dirty="0"/>
              <a:t>Predict not taken</a:t>
            </a:r>
          </a:p>
        </p:txBody>
      </p:sp>
    </p:spTree>
    <p:extLst>
      <p:ext uri="{BB962C8B-B14F-4D97-AF65-F5344CB8AC3E}">
        <p14:creationId xmlns:p14="http://schemas.microsoft.com/office/powerpoint/2010/main" val="180631386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animBg="1"/>
      <p:bldP spid="14" grpId="0" animBg="1"/>
      <p:bldP spid="15" grpId="0" animBg="1"/>
      <p:bldP spid="1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7578A-1328-C48C-73F7-CBB5409F07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263A72-4586-FF7F-F1EF-537FD9B259D5}"/>
              </a:ext>
            </a:extLst>
          </p:cNvPr>
          <p:cNvSpPr>
            <a:spLocks noGrp="1"/>
          </p:cNvSpPr>
          <p:nvPr>
            <p:ph type="title"/>
          </p:nvPr>
        </p:nvSpPr>
        <p:spPr/>
        <p:txBody>
          <a:bodyPr/>
          <a:lstStyle/>
          <a:p>
            <a:r>
              <a:rPr lang="en-US" dirty="0"/>
              <a:t>COD 4.65 Pipeline Terminology</a:t>
            </a:r>
          </a:p>
        </p:txBody>
      </p:sp>
      <p:sp>
        <p:nvSpPr>
          <p:cNvPr id="3" name="Content Placeholder 2">
            <a:extLst>
              <a:ext uri="{FF2B5EF4-FFF2-40B4-BE49-F238E27FC236}">
                <a16:creationId xmlns:a16="http://schemas.microsoft.com/office/drawing/2014/main" id="{A867D497-D83B-2B4E-4555-29D8E3883DE0}"/>
              </a:ext>
            </a:extLst>
          </p:cNvPr>
          <p:cNvSpPr>
            <a:spLocks noGrp="1"/>
          </p:cNvSpPr>
          <p:nvPr>
            <p:ph idx="1"/>
          </p:nvPr>
        </p:nvSpPr>
        <p:spPr/>
        <p:txBody>
          <a:bodyPr/>
          <a:lstStyle/>
          <a:p>
            <a:r>
              <a:rPr lang="en-US" dirty="0"/>
              <a:t>What is a Flush? </a:t>
            </a:r>
          </a:p>
          <a:p>
            <a:pPr lvl="1"/>
            <a:r>
              <a:rPr lang="en-US" dirty="0">
                <a:solidFill>
                  <a:schemeClr val="accent6">
                    <a:lumMod val="75000"/>
                  </a:schemeClr>
                </a:solidFill>
              </a:rPr>
              <a:t>A flush is when an instruction in F is transformed into a NOP by </a:t>
            </a:r>
            <a:r>
              <a:rPr lang="en-US" dirty="0" err="1">
                <a:solidFill>
                  <a:schemeClr val="accent6">
                    <a:lumMod val="75000"/>
                  </a:schemeClr>
                </a:solidFill>
              </a:rPr>
              <a:t>muxing</a:t>
            </a:r>
            <a:r>
              <a:rPr lang="en-US" dirty="0">
                <a:solidFill>
                  <a:schemeClr val="accent6">
                    <a:lumMod val="75000"/>
                  </a:schemeClr>
                </a:solidFill>
              </a:rPr>
              <a:t> in 0’s and registering them in IF/ID pipeline registers (=)</a:t>
            </a:r>
            <a:endParaRPr lang="en-US" dirty="0"/>
          </a:p>
          <a:p>
            <a:r>
              <a:rPr lang="en-US" dirty="0"/>
              <a:t>When does full-forwarding, RF bypass, predict not-taken CPU Flush?</a:t>
            </a:r>
          </a:p>
          <a:p>
            <a:pPr lvl="1"/>
            <a:r>
              <a:rPr lang="en-US" dirty="0">
                <a:solidFill>
                  <a:schemeClr val="accent6">
                    <a:lumMod val="75000"/>
                  </a:schemeClr>
                </a:solidFill>
              </a:rPr>
              <a:t>Branches are determined in Decode, and the younger instruction in Fetch will be flushed if the branch is taken</a:t>
            </a:r>
          </a:p>
        </p:txBody>
      </p:sp>
      <p:sp>
        <p:nvSpPr>
          <p:cNvPr id="4" name="Slide Number Placeholder 3">
            <a:extLst>
              <a:ext uri="{FF2B5EF4-FFF2-40B4-BE49-F238E27FC236}">
                <a16:creationId xmlns:a16="http://schemas.microsoft.com/office/drawing/2014/main" id="{B581B5D6-65A4-9D72-BFD9-DCB05012CDAD}"/>
              </a:ext>
            </a:extLst>
          </p:cNvPr>
          <p:cNvSpPr>
            <a:spLocks noGrp="1"/>
          </p:cNvSpPr>
          <p:nvPr>
            <p:ph type="sldNum" sz="quarter" idx="12"/>
          </p:nvPr>
        </p:nvSpPr>
        <p:spPr/>
        <p:txBody>
          <a:bodyPr/>
          <a:lstStyle/>
          <a:p>
            <a:pPr lvl="1"/>
            <a:fld id="{35B60D93-CC8C-4BE3-8466-59E10CB9DAB3}" type="slidenum">
              <a:rPr lang="en-US" altLang="en-US" smtClean="0"/>
              <a:pPr lvl="1"/>
              <a:t>24</a:t>
            </a:fld>
            <a:endParaRPr lang="en-US" altLang="en-US">
              <a:latin typeface="Calibri" panose="020F0502020204030204" pitchFamily="34" charset="0"/>
            </a:endParaRPr>
          </a:p>
        </p:txBody>
      </p:sp>
    </p:spTree>
    <p:extLst>
      <p:ext uri="{BB962C8B-B14F-4D97-AF65-F5344CB8AC3E}">
        <p14:creationId xmlns:p14="http://schemas.microsoft.com/office/powerpoint/2010/main" val="9861660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7B8F4-BEEB-7F45-3274-EEA4C4FEF930}"/>
            </a:ext>
          </a:extLst>
        </p:cNvPr>
        <p:cNvGrpSpPr/>
        <p:nvPr/>
      </p:nvGrpSpPr>
      <p:grpSpPr>
        <a:xfrm>
          <a:off x="0" y="0"/>
          <a:ext cx="0" cy="0"/>
          <a:chOff x="0" y="0"/>
          <a:chExt cx="0" cy="0"/>
        </a:xfrm>
      </p:grpSpPr>
      <p:pic>
        <p:nvPicPr>
          <p:cNvPr id="19" name="Content Placeholder 7" descr="A diagram of a computer system&#10;&#10;Description automatically generated">
            <a:extLst>
              <a:ext uri="{FF2B5EF4-FFF2-40B4-BE49-F238E27FC236}">
                <a16:creationId xmlns:a16="http://schemas.microsoft.com/office/drawing/2014/main" id="{10818740-F31B-1C56-8569-C76644D5214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76793" y="1143000"/>
            <a:ext cx="7910007" cy="4876800"/>
          </a:xfrm>
        </p:spPr>
      </p:pic>
      <p:sp>
        <p:nvSpPr>
          <p:cNvPr id="2" name="Title 1">
            <a:extLst>
              <a:ext uri="{FF2B5EF4-FFF2-40B4-BE49-F238E27FC236}">
                <a16:creationId xmlns:a16="http://schemas.microsoft.com/office/drawing/2014/main" id="{BC8F05EA-D90B-2FAA-1E0C-A5325196AC4F}"/>
              </a:ext>
            </a:extLst>
          </p:cNvPr>
          <p:cNvSpPr>
            <a:spLocks noGrp="1"/>
          </p:cNvSpPr>
          <p:nvPr>
            <p:ph type="title"/>
          </p:nvPr>
        </p:nvSpPr>
        <p:spPr/>
        <p:txBody>
          <a:bodyPr/>
          <a:lstStyle/>
          <a:p>
            <a:pPr algn="l"/>
            <a:r>
              <a:rPr lang="en-US" dirty="0"/>
              <a:t>COD 4.65</a:t>
            </a:r>
          </a:p>
        </p:txBody>
      </p:sp>
      <p:sp>
        <p:nvSpPr>
          <p:cNvPr id="4" name="Slide Number Placeholder 3">
            <a:extLst>
              <a:ext uri="{FF2B5EF4-FFF2-40B4-BE49-F238E27FC236}">
                <a16:creationId xmlns:a16="http://schemas.microsoft.com/office/drawing/2014/main" id="{ABAA0F40-9B84-20B9-5537-943A438BA0FF}"/>
              </a:ext>
            </a:extLst>
          </p:cNvPr>
          <p:cNvSpPr>
            <a:spLocks noGrp="1"/>
          </p:cNvSpPr>
          <p:nvPr>
            <p:ph type="sldNum" sz="quarter" idx="12"/>
          </p:nvPr>
        </p:nvSpPr>
        <p:spPr/>
        <p:txBody>
          <a:bodyPr/>
          <a:lstStyle/>
          <a:p>
            <a:pPr lvl="1"/>
            <a:fld id="{35B60D93-CC8C-4BE3-8466-59E10CB9DAB3}" type="slidenum">
              <a:rPr lang="en-US" altLang="en-US" smtClean="0"/>
              <a:pPr lvl="1"/>
              <a:t>25</a:t>
            </a:fld>
            <a:endParaRPr lang="en-US" altLang="en-US">
              <a:latin typeface="Calibri" panose="020F0502020204030204" pitchFamily="34" charset="0"/>
            </a:endParaRPr>
          </a:p>
        </p:txBody>
      </p:sp>
      <p:sp>
        <p:nvSpPr>
          <p:cNvPr id="9" name="TextBox 8">
            <a:extLst>
              <a:ext uri="{FF2B5EF4-FFF2-40B4-BE49-F238E27FC236}">
                <a16:creationId xmlns:a16="http://schemas.microsoft.com/office/drawing/2014/main" id="{B0F578AD-2637-E516-F57A-DC2C5DD20980}"/>
              </a:ext>
            </a:extLst>
          </p:cNvPr>
          <p:cNvSpPr txBox="1"/>
          <p:nvPr/>
        </p:nvSpPr>
        <p:spPr>
          <a:xfrm>
            <a:off x="4188721" y="5999115"/>
            <a:ext cx="766557" cy="400110"/>
          </a:xfrm>
          <a:prstGeom prst="rect">
            <a:avLst/>
          </a:prstGeom>
          <a:noFill/>
        </p:spPr>
        <p:txBody>
          <a:bodyPr wrap="none" rtlCol="0">
            <a:spAutoFit/>
          </a:bodyPr>
          <a:lstStyle/>
          <a:p>
            <a:r>
              <a:rPr lang="en-US" sz="2000" dirty="0"/>
              <a:t>Stall?</a:t>
            </a:r>
          </a:p>
        </p:txBody>
      </p:sp>
      <p:sp>
        <p:nvSpPr>
          <p:cNvPr id="16" name="TextBox 15">
            <a:extLst>
              <a:ext uri="{FF2B5EF4-FFF2-40B4-BE49-F238E27FC236}">
                <a16:creationId xmlns:a16="http://schemas.microsoft.com/office/drawing/2014/main" id="{4DFFCCD3-D0BD-77B1-5450-989D38A3FB73}"/>
              </a:ext>
            </a:extLst>
          </p:cNvPr>
          <p:cNvSpPr txBox="1"/>
          <p:nvPr/>
        </p:nvSpPr>
        <p:spPr>
          <a:xfrm>
            <a:off x="4041058" y="250057"/>
            <a:ext cx="3581400" cy="1200329"/>
          </a:xfrm>
          <a:prstGeom prst="rect">
            <a:avLst/>
          </a:prstGeom>
          <a:noFill/>
        </p:spPr>
        <p:txBody>
          <a:bodyPr wrap="square" rtlCol="0">
            <a:spAutoFit/>
          </a:bodyPr>
          <a:lstStyle/>
          <a:p>
            <a:pPr marL="342900" indent="-342900">
              <a:buFont typeface="Arial" panose="020B0604020202020204" pitchFamily="34" charset="0"/>
              <a:buChar char="•"/>
            </a:pPr>
            <a:r>
              <a:rPr lang="en-US" sz="2400" dirty="0"/>
              <a:t>Full Forwarding to EX</a:t>
            </a:r>
          </a:p>
          <a:p>
            <a:pPr marL="342900" indent="-342900">
              <a:buFont typeface="Arial" panose="020B0604020202020204" pitchFamily="34" charset="0"/>
              <a:buChar char="•"/>
            </a:pPr>
            <a:r>
              <a:rPr lang="en-US" sz="2400" dirty="0"/>
              <a:t>RF Bypass</a:t>
            </a:r>
          </a:p>
          <a:p>
            <a:pPr marL="342900" indent="-342900">
              <a:buFont typeface="Arial" panose="020B0604020202020204" pitchFamily="34" charset="0"/>
              <a:buChar char="•"/>
            </a:pPr>
            <a:r>
              <a:rPr lang="en-US" sz="2400" dirty="0"/>
              <a:t>Predict not taken</a:t>
            </a:r>
          </a:p>
        </p:txBody>
      </p:sp>
      <p:sp>
        <p:nvSpPr>
          <p:cNvPr id="5" name="TextBox 4">
            <a:extLst>
              <a:ext uri="{FF2B5EF4-FFF2-40B4-BE49-F238E27FC236}">
                <a16:creationId xmlns:a16="http://schemas.microsoft.com/office/drawing/2014/main" id="{666E7F6F-4F94-50F3-3FB4-D6642E2D21FA}"/>
              </a:ext>
            </a:extLst>
          </p:cNvPr>
          <p:cNvSpPr txBox="1"/>
          <p:nvPr/>
        </p:nvSpPr>
        <p:spPr>
          <a:xfrm>
            <a:off x="0" y="5361057"/>
            <a:ext cx="2864887" cy="707886"/>
          </a:xfrm>
          <a:prstGeom prst="rect">
            <a:avLst/>
          </a:prstGeom>
          <a:noFill/>
        </p:spPr>
        <p:txBody>
          <a:bodyPr wrap="none" rtlCol="0">
            <a:spAutoFit/>
          </a:bodyPr>
          <a:lstStyle/>
          <a:p>
            <a:r>
              <a:rPr lang="en-US" sz="2000" dirty="0">
                <a:latin typeface="Consolas" panose="020B0609020204030204" pitchFamily="49" charset="0"/>
                <a:cs typeface="Consolas" panose="020B0609020204030204" pitchFamily="49" charset="0"/>
              </a:rPr>
              <a:t>add $t0, $t1, $t2</a:t>
            </a:r>
          </a:p>
          <a:p>
            <a:r>
              <a:rPr lang="en-US" sz="2000" dirty="0" err="1">
                <a:latin typeface="Consolas" panose="020B0609020204030204" pitchFamily="49" charset="0"/>
                <a:cs typeface="Consolas" panose="020B0609020204030204" pitchFamily="49" charset="0"/>
              </a:rPr>
              <a:t>addi</a:t>
            </a:r>
            <a:r>
              <a:rPr lang="en-US" sz="2000" dirty="0">
                <a:latin typeface="Consolas" panose="020B0609020204030204" pitchFamily="49" charset="0"/>
                <a:cs typeface="Consolas" panose="020B0609020204030204" pitchFamily="49" charset="0"/>
              </a:rPr>
              <a:t> $s0, $t0, $s0 </a:t>
            </a:r>
          </a:p>
        </p:txBody>
      </p:sp>
      <p:sp>
        <p:nvSpPr>
          <p:cNvPr id="6" name="TextBox 5">
            <a:extLst>
              <a:ext uri="{FF2B5EF4-FFF2-40B4-BE49-F238E27FC236}">
                <a16:creationId xmlns:a16="http://schemas.microsoft.com/office/drawing/2014/main" id="{5611B8C8-EB2D-D5BF-D9AD-F0323D96B2D8}"/>
              </a:ext>
            </a:extLst>
          </p:cNvPr>
          <p:cNvSpPr txBox="1"/>
          <p:nvPr/>
        </p:nvSpPr>
        <p:spPr>
          <a:xfrm>
            <a:off x="5203127" y="6029893"/>
            <a:ext cx="2723823" cy="369332"/>
          </a:xfrm>
          <a:prstGeom prst="rect">
            <a:avLst/>
          </a:prstGeom>
          <a:noFill/>
        </p:spPr>
        <p:txBody>
          <a:bodyPr wrap="none" rtlCol="0">
            <a:spAutoFit/>
          </a:bodyPr>
          <a:lstStyle/>
          <a:p>
            <a:r>
              <a:rPr lang="en-US" sz="1800" dirty="0">
                <a:solidFill>
                  <a:schemeClr val="accent6">
                    <a:lumMod val="75000"/>
                  </a:schemeClr>
                </a:solidFill>
              </a:rPr>
              <a:t>No. EX-to-EX Forwarding.</a:t>
            </a:r>
          </a:p>
        </p:txBody>
      </p:sp>
      <p:grpSp>
        <p:nvGrpSpPr>
          <p:cNvPr id="22" name="Group 21">
            <a:extLst>
              <a:ext uri="{FF2B5EF4-FFF2-40B4-BE49-F238E27FC236}">
                <a16:creationId xmlns:a16="http://schemas.microsoft.com/office/drawing/2014/main" id="{507DDE37-308D-2B81-A6F9-A810CA89F858}"/>
              </a:ext>
            </a:extLst>
          </p:cNvPr>
          <p:cNvGrpSpPr/>
          <p:nvPr/>
        </p:nvGrpSpPr>
        <p:grpSpPr>
          <a:xfrm>
            <a:off x="5334000" y="3429000"/>
            <a:ext cx="1524000" cy="2286000"/>
            <a:chOff x="5334000" y="3429000"/>
            <a:chExt cx="1524000" cy="2286000"/>
          </a:xfrm>
        </p:grpSpPr>
        <p:cxnSp>
          <p:nvCxnSpPr>
            <p:cNvPr id="12" name="Straight Connector 11">
              <a:extLst>
                <a:ext uri="{FF2B5EF4-FFF2-40B4-BE49-F238E27FC236}">
                  <a16:creationId xmlns:a16="http://schemas.microsoft.com/office/drawing/2014/main" id="{2CE5F65C-F74A-FA7B-C492-F1C6818DD015}"/>
                </a:ext>
              </a:extLst>
            </p:cNvPr>
            <p:cNvCxnSpPr/>
            <p:nvPr/>
          </p:nvCxnSpPr>
          <p:spPr>
            <a:xfrm>
              <a:off x="6858000" y="3733800"/>
              <a:ext cx="0" cy="1981200"/>
            </a:xfrm>
            <a:prstGeom prst="line">
              <a:avLst/>
            </a:prstGeom>
            <a:ln>
              <a:prstDash val="sysDot"/>
            </a:ln>
          </p:spPr>
          <p:style>
            <a:lnRef idx="3">
              <a:schemeClr val="accent6"/>
            </a:lnRef>
            <a:fillRef idx="0">
              <a:schemeClr val="accent6"/>
            </a:fillRef>
            <a:effectRef idx="2">
              <a:schemeClr val="accent6"/>
            </a:effectRef>
            <a:fontRef idx="minor">
              <a:schemeClr val="tx1"/>
            </a:fontRef>
          </p:style>
        </p:cxnSp>
        <p:cxnSp>
          <p:nvCxnSpPr>
            <p:cNvPr id="13" name="Straight Connector 12">
              <a:extLst>
                <a:ext uri="{FF2B5EF4-FFF2-40B4-BE49-F238E27FC236}">
                  <a16:creationId xmlns:a16="http://schemas.microsoft.com/office/drawing/2014/main" id="{8B7E0CD5-9701-B765-2CE1-401E17688935}"/>
                </a:ext>
              </a:extLst>
            </p:cNvPr>
            <p:cNvCxnSpPr>
              <a:cxnSpLocks/>
            </p:cNvCxnSpPr>
            <p:nvPr/>
          </p:nvCxnSpPr>
          <p:spPr>
            <a:xfrm>
              <a:off x="5334000" y="5715000"/>
              <a:ext cx="1524000" cy="0"/>
            </a:xfrm>
            <a:prstGeom prst="line">
              <a:avLst/>
            </a:prstGeom>
            <a:ln>
              <a:prstDash val="sysDot"/>
            </a:ln>
          </p:spPr>
          <p:style>
            <a:lnRef idx="3">
              <a:schemeClr val="accent6"/>
            </a:lnRef>
            <a:fillRef idx="0">
              <a:schemeClr val="accent6"/>
            </a:fillRef>
            <a:effectRef idx="2">
              <a:schemeClr val="accent6"/>
            </a:effectRef>
            <a:fontRef idx="minor">
              <a:schemeClr val="tx1"/>
            </a:fontRef>
          </p:style>
        </p:cxnSp>
        <p:cxnSp>
          <p:nvCxnSpPr>
            <p:cNvPr id="17" name="Straight Connector 16">
              <a:extLst>
                <a:ext uri="{FF2B5EF4-FFF2-40B4-BE49-F238E27FC236}">
                  <a16:creationId xmlns:a16="http://schemas.microsoft.com/office/drawing/2014/main" id="{B0F25361-7A58-6891-582A-3C06CA2644E1}"/>
                </a:ext>
              </a:extLst>
            </p:cNvPr>
            <p:cNvCxnSpPr>
              <a:cxnSpLocks/>
            </p:cNvCxnSpPr>
            <p:nvPr/>
          </p:nvCxnSpPr>
          <p:spPr>
            <a:xfrm>
              <a:off x="5334000" y="3429000"/>
              <a:ext cx="0" cy="2286000"/>
            </a:xfrm>
            <a:prstGeom prst="line">
              <a:avLst/>
            </a:prstGeom>
            <a:ln>
              <a:prstDash val="sysDot"/>
            </a:ln>
          </p:spPr>
          <p:style>
            <a:lnRef idx="3">
              <a:schemeClr val="accent6"/>
            </a:lnRef>
            <a:fillRef idx="0">
              <a:schemeClr val="accent6"/>
            </a:fillRef>
            <a:effectRef idx="2">
              <a:schemeClr val="accent6"/>
            </a:effectRef>
            <a:fontRef idx="minor">
              <a:schemeClr val="tx1"/>
            </a:fontRef>
          </p:style>
        </p:cxnSp>
      </p:grpSp>
    </p:spTree>
    <p:extLst>
      <p:ext uri="{BB962C8B-B14F-4D97-AF65-F5344CB8AC3E}">
        <p14:creationId xmlns:p14="http://schemas.microsoft.com/office/powerpoint/2010/main" val="317442298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A33D3-6A57-9E86-DC2E-09D676D1A7CE}"/>
            </a:ext>
          </a:extLst>
        </p:cNvPr>
        <p:cNvGrpSpPr/>
        <p:nvPr/>
      </p:nvGrpSpPr>
      <p:grpSpPr>
        <a:xfrm>
          <a:off x="0" y="0"/>
          <a:ext cx="0" cy="0"/>
          <a:chOff x="0" y="0"/>
          <a:chExt cx="0" cy="0"/>
        </a:xfrm>
      </p:grpSpPr>
      <p:pic>
        <p:nvPicPr>
          <p:cNvPr id="19" name="Content Placeholder 7" descr="A diagram of a computer system&#10;&#10;Description automatically generated">
            <a:extLst>
              <a:ext uri="{FF2B5EF4-FFF2-40B4-BE49-F238E27FC236}">
                <a16:creationId xmlns:a16="http://schemas.microsoft.com/office/drawing/2014/main" id="{CF78D8A8-DC1C-CEC4-1F8A-457EDC8742F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76793" y="1143000"/>
            <a:ext cx="7910007" cy="4876800"/>
          </a:xfrm>
        </p:spPr>
      </p:pic>
      <p:sp>
        <p:nvSpPr>
          <p:cNvPr id="2" name="Title 1">
            <a:extLst>
              <a:ext uri="{FF2B5EF4-FFF2-40B4-BE49-F238E27FC236}">
                <a16:creationId xmlns:a16="http://schemas.microsoft.com/office/drawing/2014/main" id="{9E48FE60-E4E9-A425-7699-AE277EF37BC2}"/>
              </a:ext>
            </a:extLst>
          </p:cNvPr>
          <p:cNvSpPr>
            <a:spLocks noGrp="1"/>
          </p:cNvSpPr>
          <p:nvPr>
            <p:ph type="title"/>
          </p:nvPr>
        </p:nvSpPr>
        <p:spPr/>
        <p:txBody>
          <a:bodyPr/>
          <a:lstStyle/>
          <a:p>
            <a:pPr algn="l"/>
            <a:r>
              <a:rPr lang="en-US" dirty="0"/>
              <a:t>COD 4.65</a:t>
            </a:r>
          </a:p>
        </p:txBody>
      </p:sp>
      <p:sp>
        <p:nvSpPr>
          <p:cNvPr id="4" name="Slide Number Placeholder 3">
            <a:extLst>
              <a:ext uri="{FF2B5EF4-FFF2-40B4-BE49-F238E27FC236}">
                <a16:creationId xmlns:a16="http://schemas.microsoft.com/office/drawing/2014/main" id="{8C05A1EC-9AEA-AE7C-3BB9-E26E616D2F1D}"/>
              </a:ext>
            </a:extLst>
          </p:cNvPr>
          <p:cNvSpPr>
            <a:spLocks noGrp="1"/>
          </p:cNvSpPr>
          <p:nvPr>
            <p:ph type="sldNum" sz="quarter" idx="12"/>
          </p:nvPr>
        </p:nvSpPr>
        <p:spPr/>
        <p:txBody>
          <a:bodyPr/>
          <a:lstStyle/>
          <a:p>
            <a:pPr lvl="1"/>
            <a:fld id="{35B60D93-CC8C-4BE3-8466-59E10CB9DAB3}" type="slidenum">
              <a:rPr lang="en-US" altLang="en-US" smtClean="0"/>
              <a:pPr lvl="1"/>
              <a:t>26</a:t>
            </a:fld>
            <a:endParaRPr lang="en-US" altLang="en-US">
              <a:latin typeface="Calibri" panose="020F0502020204030204" pitchFamily="34" charset="0"/>
            </a:endParaRPr>
          </a:p>
        </p:txBody>
      </p:sp>
      <p:sp>
        <p:nvSpPr>
          <p:cNvPr id="16" name="TextBox 15">
            <a:extLst>
              <a:ext uri="{FF2B5EF4-FFF2-40B4-BE49-F238E27FC236}">
                <a16:creationId xmlns:a16="http://schemas.microsoft.com/office/drawing/2014/main" id="{BD6B00DE-53D7-DF13-00C2-E95DB97E3A21}"/>
              </a:ext>
            </a:extLst>
          </p:cNvPr>
          <p:cNvSpPr txBox="1"/>
          <p:nvPr/>
        </p:nvSpPr>
        <p:spPr>
          <a:xfrm>
            <a:off x="4041058" y="250057"/>
            <a:ext cx="3581400" cy="1200329"/>
          </a:xfrm>
          <a:prstGeom prst="rect">
            <a:avLst/>
          </a:prstGeom>
          <a:noFill/>
        </p:spPr>
        <p:txBody>
          <a:bodyPr wrap="square" rtlCol="0">
            <a:spAutoFit/>
          </a:bodyPr>
          <a:lstStyle/>
          <a:p>
            <a:pPr marL="342900" indent="-342900">
              <a:buFont typeface="Arial" panose="020B0604020202020204" pitchFamily="34" charset="0"/>
              <a:buChar char="•"/>
            </a:pPr>
            <a:r>
              <a:rPr lang="en-US" sz="2400" dirty="0"/>
              <a:t>Full Forwarding to EX</a:t>
            </a:r>
          </a:p>
          <a:p>
            <a:pPr marL="342900" indent="-342900">
              <a:buFont typeface="Arial" panose="020B0604020202020204" pitchFamily="34" charset="0"/>
              <a:buChar char="•"/>
            </a:pPr>
            <a:r>
              <a:rPr lang="en-US" sz="2400" dirty="0"/>
              <a:t>RF Bypass</a:t>
            </a:r>
          </a:p>
          <a:p>
            <a:pPr marL="342900" indent="-342900">
              <a:buFont typeface="Arial" panose="020B0604020202020204" pitchFamily="34" charset="0"/>
              <a:buChar char="•"/>
            </a:pPr>
            <a:r>
              <a:rPr lang="en-US" sz="2400" dirty="0"/>
              <a:t>Predict not taken</a:t>
            </a:r>
          </a:p>
        </p:txBody>
      </p:sp>
      <p:sp>
        <p:nvSpPr>
          <p:cNvPr id="6" name="TextBox 5">
            <a:extLst>
              <a:ext uri="{FF2B5EF4-FFF2-40B4-BE49-F238E27FC236}">
                <a16:creationId xmlns:a16="http://schemas.microsoft.com/office/drawing/2014/main" id="{45F60941-4818-5FE2-5E6E-988C7DF72FF8}"/>
              </a:ext>
            </a:extLst>
          </p:cNvPr>
          <p:cNvSpPr txBox="1"/>
          <p:nvPr/>
        </p:nvSpPr>
        <p:spPr>
          <a:xfrm>
            <a:off x="5203127" y="6029893"/>
            <a:ext cx="3378169" cy="646331"/>
          </a:xfrm>
          <a:prstGeom prst="rect">
            <a:avLst/>
          </a:prstGeom>
          <a:noFill/>
        </p:spPr>
        <p:txBody>
          <a:bodyPr wrap="none" rtlCol="0">
            <a:spAutoFit/>
          </a:bodyPr>
          <a:lstStyle/>
          <a:p>
            <a:r>
              <a:rPr lang="en-US" sz="1800" dirty="0">
                <a:solidFill>
                  <a:schemeClr val="accent6">
                    <a:lumMod val="75000"/>
                  </a:schemeClr>
                </a:solidFill>
              </a:rPr>
              <a:t>No. $t0 result is in W, and will use</a:t>
            </a:r>
            <a:br>
              <a:rPr lang="en-US" sz="1800" dirty="0">
                <a:solidFill>
                  <a:schemeClr val="accent6">
                    <a:lumMod val="75000"/>
                  </a:schemeClr>
                </a:solidFill>
              </a:rPr>
            </a:br>
            <a:r>
              <a:rPr lang="en-US" sz="1800" dirty="0">
                <a:solidFill>
                  <a:schemeClr val="accent6">
                    <a:lumMod val="75000"/>
                  </a:schemeClr>
                </a:solidFill>
              </a:rPr>
              <a:t>W</a:t>
            </a:r>
            <a:r>
              <a:rPr lang="en-US" sz="1800" dirty="0">
                <a:solidFill>
                  <a:schemeClr val="accent6">
                    <a:lumMod val="75000"/>
                  </a:schemeClr>
                </a:solidFill>
                <a:sym typeface="Wingdings" pitchFamily="2" charset="2"/>
              </a:rPr>
              <a:t>D RF bypass</a:t>
            </a:r>
            <a:r>
              <a:rPr lang="en-US" sz="1800" dirty="0">
                <a:solidFill>
                  <a:schemeClr val="accent6">
                    <a:lumMod val="75000"/>
                  </a:schemeClr>
                </a:solidFill>
              </a:rPr>
              <a:t> </a:t>
            </a:r>
          </a:p>
        </p:txBody>
      </p:sp>
      <p:sp>
        <p:nvSpPr>
          <p:cNvPr id="3" name="TextBox 2">
            <a:extLst>
              <a:ext uri="{FF2B5EF4-FFF2-40B4-BE49-F238E27FC236}">
                <a16:creationId xmlns:a16="http://schemas.microsoft.com/office/drawing/2014/main" id="{8594C63D-65EE-B443-BAD9-A3A613E75E00}"/>
              </a:ext>
            </a:extLst>
          </p:cNvPr>
          <p:cNvSpPr txBox="1"/>
          <p:nvPr/>
        </p:nvSpPr>
        <p:spPr>
          <a:xfrm>
            <a:off x="4188721" y="5999115"/>
            <a:ext cx="766557" cy="400110"/>
          </a:xfrm>
          <a:prstGeom prst="rect">
            <a:avLst/>
          </a:prstGeom>
          <a:noFill/>
        </p:spPr>
        <p:txBody>
          <a:bodyPr wrap="none" rtlCol="0">
            <a:spAutoFit/>
          </a:bodyPr>
          <a:lstStyle/>
          <a:p>
            <a:r>
              <a:rPr lang="en-US" sz="2000" dirty="0"/>
              <a:t>Stall?</a:t>
            </a:r>
          </a:p>
        </p:txBody>
      </p:sp>
      <p:sp>
        <p:nvSpPr>
          <p:cNvPr id="7" name="TextBox 6">
            <a:extLst>
              <a:ext uri="{FF2B5EF4-FFF2-40B4-BE49-F238E27FC236}">
                <a16:creationId xmlns:a16="http://schemas.microsoft.com/office/drawing/2014/main" id="{DDC5342C-C579-295E-CF69-8F25EEC0E806}"/>
              </a:ext>
            </a:extLst>
          </p:cNvPr>
          <p:cNvSpPr txBox="1"/>
          <p:nvPr/>
        </p:nvSpPr>
        <p:spPr>
          <a:xfrm>
            <a:off x="9065" y="5337395"/>
            <a:ext cx="3288080" cy="1323439"/>
          </a:xfrm>
          <a:prstGeom prst="rect">
            <a:avLst/>
          </a:prstGeom>
          <a:noFill/>
        </p:spPr>
        <p:txBody>
          <a:bodyPr wrap="none" rtlCol="0">
            <a:spAutoFit/>
          </a:bodyPr>
          <a:lstStyle/>
          <a:p>
            <a:r>
              <a:rPr lang="en-US" sz="2000" dirty="0">
                <a:latin typeface="Consolas" panose="020B0609020204030204" pitchFamily="49" charset="0"/>
                <a:cs typeface="Consolas" panose="020B0609020204030204" pitchFamily="49" charset="0"/>
              </a:rPr>
              <a:t>L1: add $t0, $s0, $s1</a:t>
            </a:r>
          </a:p>
          <a:p>
            <a:r>
              <a:rPr lang="en-US" sz="2000" dirty="0">
                <a:latin typeface="Consolas" panose="020B0609020204030204" pitchFamily="49" charset="0"/>
                <a:cs typeface="Consolas" panose="020B0609020204030204" pitchFamily="49" charset="0"/>
              </a:rPr>
              <a:t>L2: </a:t>
            </a:r>
            <a:r>
              <a:rPr lang="en-US" sz="2000" dirty="0" err="1">
                <a:latin typeface="Consolas" panose="020B0609020204030204" pitchFamily="49" charset="0"/>
                <a:cs typeface="Consolas" panose="020B0609020204030204" pitchFamily="49" charset="0"/>
              </a:rPr>
              <a:t>addi</a:t>
            </a:r>
            <a:r>
              <a:rPr lang="en-US" sz="2000" dirty="0">
                <a:latin typeface="Consolas" panose="020B0609020204030204" pitchFamily="49" charset="0"/>
                <a:cs typeface="Consolas" panose="020B0609020204030204" pitchFamily="49" charset="0"/>
              </a:rPr>
              <a:t> $s0, $s0, 4</a:t>
            </a:r>
          </a:p>
          <a:p>
            <a:r>
              <a:rPr lang="en-US" sz="2000" dirty="0">
                <a:latin typeface="Consolas" panose="020B0609020204030204" pitchFamily="49" charset="0"/>
                <a:cs typeface="Consolas" panose="020B0609020204030204" pitchFamily="49" charset="0"/>
              </a:rPr>
              <a:t>L3: </a:t>
            </a:r>
            <a:r>
              <a:rPr lang="en-US" sz="2000" dirty="0" err="1">
                <a:latin typeface="Consolas" panose="020B0609020204030204" pitchFamily="49" charset="0"/>
                <a:cs typeface="Consolas" panose="020B0609020204030204" pitchFamily="49" charset="0"/>
              </a:rPr>
              <a:t>addi</a:t>
            </a:r>
            <a:r>
              <a:rPr lang="en-US" sz="2000" dirty="0">
                <a:latin typeface="Consolas" panose="020B0609020204030204" pitchFamily="49" charset="0"/>
                <a:cs typeface="Consolas" panose="020B0609020204030204" pitchFamily="49" charset="0"/>
              </a:rPr>
              <a:t> $s1, $s1, -4 </a:t>
            </a:r>
          </a:p>
          <a:p>
            <a:r>
              <a:rPr lang="en-US" sz="2000" dirty="0">
                <a:latin typeface="Consolas" panose="020B0609020204030204" pitchFamily="49" charset="0"/>
                <a:cs typeface="Consolas" panose="020B0609020204030204" pitchFamily="49" charset="0"/>
              </a:rPr>
              <a:t>L4: </a:t>
            </a:r>
            <a:r>
              <a:rPr lang="en-US" sz="2000" dirty="0" err="1">
                <a:latin typeface="Consolas" panose="020B0609020204030204" pitchFamily="49" charset="0"/>
                <a:cs typeface="Consolas" panose="020B0609020204030204" pitchFamily="49" charset="0"/>
              </a:rPr>
              <a:t>beq</a:t>
            </a:r>
            <a:r>
              <a:rPr lang="en-US" sz="2000" dirty="0">
                <a:latin typeface="Consolas" panose="020B0609020204030204" pitchFamily="49" charset="0"/>
                <a:cs typeface="Consolas" panose="020B0609020204030204" pitchFamily="49" charset="0"/>
              </a:rPr>
              <a:t> $t0, $s2, L5 </a:t>
            </a:r>
          </a:p>
        </p:txBody>
      </p:sp>
    </p:spTree>
    <p:extLst>
      <p:ext uri="{BB962C8B-B14F-4D97-AF65-F5344CB8AC3E}">
        <p14:creationId xmlns:p14="http://schemas.microsoft.com/office/powerpoint/2010/main" val="5178711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32898-98D5-B9E1-1E9B-9C8A4370DB64}"/>
            </a:ext>
          </a:extLst>
        </p:cNvPr>
        <p:cNvGrpSpPr/>
        <p:nvPr/>
      </p:nvGrpSpPr>
      <p:grpSpPr>
        <a:xfrm>
          <a:off x="0" y="0"/>
          <a:ext cx="0" cy="0"/>
          <a:chOff x="0" y="0"/>
          <a:chExt cx="0" cy="0"/>
        </a:xfrm>
      </p:grpSpPr>
      <p:pic>
        <p:nvPicPr>
          <p:cNvPr id="19" name="Content Placeholder 7" descr="A diagram of a computer system&#10;&#10;Description automatically generated">
            <a:extLst>
              <a:ext uri="{FF2B5EF4-FFF2-40B4-BE49-F238E27FC236}">
                <a16:creationId xmlns:a16="http://schemas.microsoft.com/office/drawing/2014/main" id="{B3689B81-F53E-7F2F-7DCE-C66DB1BEC72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76793" y="1143000"/>
            <a:ext cx="7910007" cy="4876800"/>
          </a:xfrm>
        </p:spPr>
      </p:pic>
      <p:sp>
        <p:nvSpPr>
          <p:cNvPr id="2" name="Title 1">
            <a:extLst>
              <a:ext uri="{FF2B5EF4-FFF2-40B4-BE49-F238E27FC236}">
                <a16:creationId xmlns:a16="http://schemas.microsoft.com/office/drawing/2014/main" id="{9D4E6898-15AA-8D05-2D9E-412F750A3726}"/>
              </a:ext>
            </a:extLst>
          </p:cNvPr>
          <p:cNvSpPr>
            <a:spLocks noGrp="1"/>
          </p:cNvSpPr>
          <p:nvPr>
            <p:ph type="title"/>
          </p:nvPr>
        </p:nvSpPr>
        <p:spPr/>
        <p:txBody>
          <a:bodyPr/>
          <a:lstStyle/>
          <a:p>
            <a:pPr algn="l"/>
            <a:r>
              <a:rPr lang="en-US" dirty="0"/>
              <a:t>COD 4.65</a:t>
            </a:r>
          </a:p>
        </p:txBody>
      </p:sp>
      <p:sp>
        <p:nvSpPr>
          <p:cNvPr id="4" name="Slide Number Placeholder 3">
            <a:extLst>
              <a:ext uri="{FF2B5EF4-FFF2-40B4-BE49-F238E27FC236}">
                <a16:creationId xmlns:a16="http://schemas.microsoft.com/office/drawing/2014/main" id="{97DEFB84-01BB-6AE9-5A3A-6C9AFCC1775A}"/>
              </a:ext>
            </a:extLst>
          </p:cNvPr>
          <p:cNvSpPr>
            <a:spLocks noGrp="1"/>
          </p:cNvSpPr>
          <p:nvPr>
            <p:ph type="sldNum" sz="quarter" idx="12"/>
          </p:nvPr>
        </p:nvSpPr>
        <p:spPr/>
        <p:txBody>
          <a:bodyPr/>
          <a:lstStyle/>
          <a:p>
            <a:pPr lvl="1"/>
            <a:fld id="{35B60D93-CC8C-4BE3-8466-59E10CB9DAB3}" type="slidenum">
              <a:rPr lang="en-US" altLang="en-US" smtClean="0"/>
              <a:pPr lvl="1"/>
              <a:t>27</a:t>
            </a:fld>
            <a:endParaRPr lang="en-US" altLang="en-US">
              <a:latin typeface="Calibri" panose="020F0502020204030204" pitchFamily="34" charset="0"/>
            </a:endParaRPr>
          </a:p>
        </p:txBody>
      </p:sp>
      <p:sp>
        <p:nvSpPr>
          <p:cNvPr id="16" name="TextBox 15">
            <a:extLst>
              <a:ext uri="{FF2B5EF4-FFF2-40B4-BE49-F238E27FC236}">
                <a16:creationId xmlns:a16="http://schemas.microsoft.com/office/drawing/2014/main" id="{943503B5-6564-638F-FCE1-DACC017709A5}"/>
              </a:ext>
            </a:extLst>
          </p:cNvPr>
          <p:cNvSpPr txBox="1"/>
          <p:nvPr/>
        </p:nvSpPr>
        <p:spPr>
          <a:xfrm>
            <a:off x="4041058" y="250057"/>
            <a:ext cx="3581400" cy="1200329"/>
          </a:xfrm>
          <a:prstGeom prst="rect">
            <a:avLst/>
          </a:prstGeom>
          <a:noFill/>
        </p:spPr>
        <p:txBody>
          <a:bodyPr wrap="square" rtlCol="0">
            <a:spAutoFit/>
          </a:bodyPr>
          <a:lstStyle/>
          <a:p>
            <a:pPr marL="342900" indent="-342900">
              <a:buFont typeface="Arial" panose="020B0604020202020204" pitchFamily="34" charset="0"/>
              <a:buChar char="•"/>
            </a:pPr>
            <a:r>
              <a:rPr lang="en-US" sz="2400" dirty="0"/>
              <a:t>Full Forwarding to EX</a:t>
            </a:r>
          </a:p>
          <a:p>
            <a:pPr marL="342900" indent="-342900">
              <a:buFont typeface="Arial" panose="020B0604020202020204" pitchFamily="34" charset="0"/>
              <a:buChar char="•"/>
            </a:pPr>
            <a:r>
              <a:rPr lang="en-US" sz="2400" dirty="0"/>
              <a:t>RF Bypass</a:t>
            </a:r>
          </a:p>
          <a:p>
            <a:pPr marL="342900" indent="-342900">
              <a:buFont typeface="Arial" panose="020B0604020202020204" pitchFamily="34" charset="0"/>
              <a:buChar char="•"/>
            </a:pPr>
            <a:r>
              <a:rPr lang="en-US" sz="2400" dirty="0"/>
              <a:t>Predict not taken</a:t>
            </a:r>
          </a:p>
        </p:txBody>
      </p:sp>
      <p:sp>
        <p:nvSpPr>
          <p:cNvPr id="6" name="TextBox 5">
            <a:extLst>
              <a:ext uri="{FF2B5EF4-FFF2-40B4-BE49-F238E27FC236}">
                <a16:creationId xmlns:a16="http://schemas.microsoft.com/office/drawing/2014/main" id="{E81CB334-696B-1A1A-2F02-FE0F058408BA}"/>
              </a:ext>
            </a:extLst>
          </p:cNvPr>
          <p:cNvSpPr txBox="1"/>
          <p:nvPr/>
        </p:nvSpPr>
        <p:spPr>
          <a:xfrm>
            <a:off x="5203127" y="6029893"/>
            <a:ext cx="3726661" cy="646331"/>
          </a:xfrm>
          <a:prstGeom prst="rect">
            <a:avLst/>
          </a:prstGeom>
          <a:noFill/>
        </p:spPr>
        <p:txBody>
          <a:bodyPr wrap="none" rtlCol="0">
            <a:spAutoFit/>
          </a:bodyPr>
          <a:lstStyle/>
          <a:p>
            <a:r>
              <a:rPr lang="en-US" sz="1800" dirty="0">
                <a:solidFill>
                  <a:schemeClr val="accent6">
                    <a:lumMod val="75000"/>
                  </a:schemeClr>
                </a:solidFill>
              </a:rPr>
              <a:t>Yes. Once for load-to-use on $s0, then</a:t>
            </a:r>
            <a:br>
              <a:rPr lang="en-US" sz="1800" dirty="0">
                <a:solidFill>
                  <a:schemeClr val="accent6">
                    <a:lumMod val="75000"/>
                  </a:schemeClr>
                </a:solidFill>
              </a:rPr>
            </a:br>
            <a:r>
              <a:rPr lang="en-US" sz="1800" dirty="0">
                <a:solidFill>
                  <a:schemeClr val="accent6">
                    <a:lumMod val="75000"/>
                  </a:schemeClr>
                </a:solidFill>
              </a:rPr>
              <a:t>twice for </a:t>
            </a:r>
            <a:r>
              <a:rPr lang="en-US" sz="1800" dirty="0" err="1">
                <a:solidFill>
                  <a:schemeClr val="accent6">
                    <a:lumMod val="75000"/>
                  </a:schemeClr>
                </a:solidFill>
              </a:rPr>
              <a:t>beq</a:t>
            </a:r>
            <a:r>
              <a:rPr lang="en-US" sz="1800" dirty="0">
                <a:solidFill>
                  <a:schemeClr val="accent6">
                    <a:lumMod val="75000"/>
                  </a:schemeClr>
                </a:solidFill>
              </a:rPr>
              <a:t> on $s1 (RF bypass). </a:t>
            </a:r>
          </a:p>
        </p:txBody>
      </p:sp>
      <p:sp>
        <p:nvSpPr>
          <p:cNvPr id="3" name="TextBox 2">
            <a:extLst>
              <a:ext uri="{FF2B5EF4-FFF2-40B4-BE49-F238E27FC236}">
                <a16:creationId xmlns:a16="http://schemas.microsoft.com/office/drawing/2014/main" id="{C0372EA0-BCAD-3522-49C7-DBA62DD20EC8}"/>
              </a:ext>
            </a:extLst>
          </p:cNvPr>
          <p:cNvSpPr txBox="1"/>
          <p:nvPr/>
        </p:nvSpPr>
        <p:spPr>
          <a:xfrm>
            <a:off x="4188721" y="5999115"/>
            <a:ext cx="766557" cy="400110"/>
          </a:xfrm>
          <a:prstGeom prst="rect">
            <a:avLst/>
          </a:prstGeom>
          <a:noFill/>
        </p:spPr>
        <p:txBody>
          <a:bodyPr wrap="none" rtlCol="0">
            <a:spAutoFit/>
          </a:bodyPr>
          <a:lstStyle/>
          <a:p>
            <a:r>
              <a:rPr lang="en-US" sz="2000" dirty="0"/>
              <a:t>Stall?</a:t>
            </a:r>
          </a:p>
        </p:txBody>
      </p:sp>
      <p:sp>
        <p:nvSpPr>
          <p:cNvPr id="7" name="TextBox 6">
            <a:extLst>
              <a:ext uri="{FF2B5EF4-FFF2-40B4-BE49-F238E27FC236}">
                <a16:creationId xmlns:a16="http://schemas.microsoft.com/office/drawing/2014/main" id="{42D09874-B6A9-6973-1802-02881DA4EA82}"/>
              </a:ext>
            </a:extLst>
          </p:cNvPr>
          <p:cNvSpPr txBox="1"/>
          <p:nvPr/>
        </p:nvSpPr>
        <p:spPr>
          <a:xfrm>
            <a:off x="76200" y="5361057"/>
            <a:ext cx="3429144" cy="1015663"/>
          </a:xfrm>
          <a:prstGeom prst="rect">
            <a:avLst/>
          </a:prstGeom>
          <a:noFill/>
        </p:spPr>
        <p:txBody>
          <a:bodyPr wrap="none" rtlCol="0">
            <a:spAutoFit/>
          </a:bodyPr>
          <a:lstStyle/>
          <a:p>
            <a:r>
              <a:rPr lang="en-US" sz="2000" dirty="0">
                <a:latin typeface="Consolas" panose="020B0609020204030204" pitchFamily="49" charset="0"/>
                <a:cs typeface="Consolas" panose="020B0609020204030204" pitchFamily="49" charset="0"/>
              </a:rPr>
              <a:t>L1: </a:t>
            </a:r>
            <a:r>
              <a:rPr lang="en-US" sz="2000" dirty="0" err="1">
                <a:latin typeface="Consolas" panose="020B0609020204030204" pitchFamily="49" charset="0"/>
                <a:cs typeface="Consolas" panose="020B0609020204030204" pitchFamily="49" charset="0"/>
              </a:rPr>
              <a:t>lw</a:t>
            </a:r>
            <a:r>
              <a:rPr lang="en-US" sz="2000" dirty="0">
                <a:latin typeface="Consolas" panose="020B0609020204030204" pitchFamily="49" charset="0"/>
                <a:cs typeface="Consolas" panose="020B0609020204030204" pitchFamily="49" charset="0"/>
              </a:rPr>
              <a:t> $s0, 0($t0) </a:t>
            </a:r>
          </a:p>
          <a:p>
            <a:r>
              <a:rPr lang="en-US" sz="2000" dirty="0">
                <a:latin typeface="Consolas" panose="020B0609020204030204" pitchFamily="49" charset="0"/>
                <a:cs typeface="Consolas" panose="020B0609020204030204" pitchFamily="49" charset="0"/>
              </a:rPr>
              <a:t>L2: add $s1, $t1, $s0</a:t>
            </a:r>
          </a:p>
          <a:p>
            <a:r>
              <a:rPr lang="en-US" sz="2000" dirty="0">
                <a:latin typeface="Consolas" panose="020B0609020204030204" pitchFamily="49" charset="0"/>
                <a:cs typeface="Consolas" panose="020B0609020204030204" pitchFamily="49" charset="0"/>
              </a:rPr>
              <a:t>L3: </a:t>
            </a:r>
            <a:r>
              <a:rPr lang="en-US" sz="2000" dirty="0" err="1">
                <a:latin typeface="Consolas" panose="020B0609020204030204" pitchFamily="49" charset="0"/>
                <a:cs typeface="Consolas" panose="020B0609020204030204" pitchFamily="49" charset="0"/>
              </a:rPr>
              <a:t>beq</a:t>
            </a:r>
            <a:r>
              <a:rPr lang="en-US" sz="2000" dirty="0">
                <a:latin typeface="Consolas" panose="020B0609020204030204" pitchFamily="49" charset="0"/>
                <a:cs typeface="Consolas" panose="020B0609020204030204" pitchFamily="49" charset="0"/>
              </a:rPr>
              <a:t> $s1, $zero, L5 </a:t>
            </a:r>
          </a:p>
        </p:txBody>
      </p:sp>
      <p:cxnSp>
        <p:nvCxnSpPr>
          <p:cNvPr id="8" name="Straight Connector 7">
            <a:extLst>
              <a:ext uri="{FF2B5EF4-FFF2-40B4-BE49-F238E27FC236}">
                <a16:creationId xmlns:a16="http://schemas.microsoft.com/office/drawing/2014/main" id="{756D387D-292D-E7E9-3BD3-A565F8427CF5}"/>
              </a:ext>
            </a:extLst>
          </p:cNvPr>
          <p:cNvCxnSpPr>
            <a:cxnSpLocks/>
          </p:cNvCxnSpPr>
          <p:nvPr/>
        </p:nvCxnSpPr>
        <p:spPr>
          <a:xfrm>
            <a:off x="8534400" y="3886200"/>
            <a:ext cx="0" cy="1905000"/>
          </a:xfrm>
          <a:prstGeom prst="line">
            <a:avLst/>
          </a:prstGeom>
          <a:ln>
            <a:prstDash val="sysDot"/>
          </a:ln>
        </p:spPr>
        <p:style>
          <a:lnRef idx="3">
            <a:schemeClr val="accent6"/>
          </a:lnRef>
          <a:fillRef idx="0">
            <a:schemeClr val="accent6"/>
          </a:fillRef>
          <a:effectRef idx="2">
            <a:schemeClr val="accent6"/>
          </a:effectRef>
          <a:fontRef idx="minor">
            <a:schemeClr val="tx1"/>
          </a:fontRef>
        </p:style>
      </p:cxnSp>
      <p:cxnSp>
        <p:nvCxnSpPr>
          <p:cNvPr id="9" name="Straight Connector 8">
            <a:extLst>
              <a:ext uri="{FF2B5EF4-FFF2-40B4-BE49-F238E27FC236}">
                <a16:creationId xmlns:a16="http://schemas.microsoft.com/office/drawing/2014/main" id="{ACA56755-D265-2652-F13B-7A40947F1747}"/>
              </a:ext>
            </a:extLst>
          </p:cNvPr>
          <p:cNvCxnSpPr>
            <a:cxnSpLocks/>
          </p:cNvCxnSpPr>
          <p:nvPr/>
        </p:nvCxnSpPr>
        <p:spPr>
          <a:xfrm>
            <a:off x="5334000" y="5791200"/>
            <a:ext cx="3200400" cy="0"/>
          </a:xfrm>
          <a:prstGeom prst="line">
            <a:avLst/>
          </a:prstGeom>
          <a:ln>
            <a:prstDash val="sysDot"/>
          </a:ln>
        </p:spPr>
        <p:style>
          <a:lnRef idx="3">
            <a:schemeClr val="accent6"/>
          </a:lnRef>
          <a:fillRef idx="0">
            <a:schemeClr val="accent6"/>
          </a:fillRef>
          <a:effectRef idx="2">
            <a:schemeClr val="accent6"/>
          </a:effectRef>
          <a:fontRef idx="minor">
            <a:schemeClr val="tx1"/>
          </a:fontRef>
        </p:style>
      </p:cxnSp>
      <p:cxnSp>
        <p:nvCxnSpPr>
          <p:cNvPr id="10" name="Straight Connector 9">
            <a:extLst>
              <a:ext uri="{FF2B5EF4-FFF2-40B4-BE49-F238E27FC236}">
                <a16:creationId xmlns:a16="http://schemas.microsoft.com/office/drawing/2014/main" id="{E3495D10-7339-8758-2E46-309738226E3B}"/>
              </a:ext>
            </a:extLst>
          </p:cNvPr>
          <p:cNvCxnSpPr>
            <a:cxnSpLocks/>
          </p:cNvCxnSpPr>
          <p:nvPr/>
        </p:nvCxnSpPr>
        <p:spPr>
          <a:xfrm>
            <a:off x="5334000" y="3429000"/>
            <a:ext cx="0" cy="2362200"/>
          </a:xfrm>
          <a:prstGeom prst="line">
            <a:avLst/>
          </a:prstGeom>
          <a:ln>
            <a:prstDash val="sysDot"/>
          </a:ln>
        </p:spPr>
        <p:style>
          <a:lnRef idx="3">
            <a:schemeClr val="accent6"/>
          </a:lnRef>
          <a:fillRef idx="0">
            <a:schemeClr val="accent6"/>
          </a:fillRef>
          <a:effectRef idx="2">
            <a:schemeClr val="accent6"/>
          </a:effectRef>
          <a:fontRef idx="minor">
            <a:schemeClr val="tx1"/>
          </a:fontRef>
        </p:style>
      </p:cxnSp>
      <p:cxnSp>
        <p:nvCxnSpPr>
          <p:cNvPr id="17" name="Straight Connector 16">
            <a:extLst>
              <a:ext uri="{FF2B5EF4-FFF2-40B4-BE49-F238E27FC236}">
                <a16:creationId xmlns:a16="http://schemas.microsoft.com/office/drawing/2014/main" id="{8696F474-2783-3BEB-8EC1-85B279A3D5AB}"/>
              </a:ext>
            </a:extLst>
          </p:cNvPr>
          <p:cNvCxnSpPr>
            <a:cxnSpLocks/>
          </p:cNvCxnSpPr>
          <p:nvPr/>
        </p:nvCxnSpPr>
        <p:spPr>
          <a:xfrm>
            <a:off x="3200400" y="5791200"/>
            <a:ext cx="2133600" cy="0"/>
          </a:xfrm>
          <a:prstGeom prst="line">
            <a:avLst/>
          </a:prstGeom>
          <a:ln>
            <a:prstDash val="sysDot"/>
          </a:ln>
        </p:spPr>
        <p:style>
          <a:lnRef idx="3">
            <a:schemeClr val="accent6"/>
          </a:lnRef>
          <a:fillRef idx="0">
            <a:schemeClr val="accent6"/>
          </a:fillRef>
          <a:effectRef idx="2">
            <a:schemeClr val="accent6"/>
          </a:effectRef>
          <a:fontRef idx="minor">
            <a:schemeClr val="tx1"/>
          </a:fontRef>
        </p:style>
      </p:cxnSp>
      <p:cxnSp>
        <p:nvCxnSpPr>
          <p:cNvPr id="20" name="Straight Connector 19">
            <a:extLst>
              <a:ext uri="{FF2B5EF4-FFF2-40B4-BE49-F238E27FC236}">
                <a16:creationId xmlns:a16="http://schemas.microsoft.com/office/drawing/2014/main" id="{6E0F042D-4326-9BE7-25CB-C814660F7996}"/>
              </a:ext>
            </a:extLst>
          </p:cNvPr>
          <p:cNvCxnSpPr>
            <a:cxnSpLocks/>
          </p:cNvCxnSpPr>
          <p:nvPr/>
        </p:nvCxnSpPr>
        <p:spPr>
          <a:xfrm flipV="1">
            <a:off x="3200400" y="3962400"/>
            <a:ext cx="0" cy="1828800"/>
          </a:xfrm>
          <a:prstGeom prst="line">
            <a:avLst/>
          </a:prstGeom>
          <a:ln>
            <a:prstDash val="sysDot"/>
          </a:ln>
        </p:spPr>
        <p:style>
          <a:lnRef idx="3">
            <a:schemeClr val="accent6"/>
          </a:lnRef>
          <a:fillRef idx="0">
            <a:schemeClr val="accent6"/>
          </a:fillRef>
          <a:effectRef idx="2">
            <a:schemeClr val="accent6"/>
          </a:effectRef>
          <a:fontRef idx="minor">
            <a:schemeClr val="tx1"/>
          </a:fontRef>
        </p:style>
      </p:cxnSp>
      <p:cxnSp>
        <p:nvCxnSpPr>
          <p:cNvPr id="23" name="Straight Connector 22">
            <a:extLst>
              <a:ext uri="{FF2B5EF4-FFF2-40B4-BE49-F238E27FC236}">
                <a16:creationId xmlns:a16="http://schemas.microsoft.com/office/drawing/2014/main" id="{154E596E-A0EE-564C-03B3-E1B288064F61}"/>
              </a:ext>
            </a:extLst>
          </p:cNvPr>
          <p:cNvCxnSpPr>
            <a:cxnSpLocks/>
          </p:cNvCxnSpPr>
          <p:nvPr/>
        </p:nvCxnSpPr>
        <p:spPr>
          <a:xfrm>
            <a:off x="3200400" y="3962400"/>
            <a:ext cx="533400" cy="0"/>
          </a:xfrm>
          <a:prstGeom prst="line">
            <a:avLst/>
          </a:prstGeom>
          <a:ln>
            <a:prstDash val="sysDot"/>
          </a:ln>
        </p:spPr>
        <p:style>
          <a:lnRef idx="3">
            <a:schemeClr val="accent6"/>
          </a:lnRef>
          <a:fillRef idx="0">
            <a:schemeClr val="accent6"/>
          </a:fillRef>
          <a:effectRef idx="2">
            <a:schemeClr val="accent6"/>
          </a:effectRef>
          <a:fontRef idx="minor">
            <a:schemeClr val="tx1"/>
          </a:fontRef>
        </p:style>
      </p:cxnSp>
      <p:cxnSp>
        <p:nvCxnSpPr>
          <p:cNvPr id="25" name="Straight Connector 24">
            <a:extLst>
              <a:ext uri="{FF2B5EF4-FFF2-40B4-BE49-F238E27FC236}">
                <a16:creationId xmlns:a16="http://schemas.microsoft.com/office/drawing/2014/main" id="{0A5B5467-FD37-7854-53E5-AD5BB394BB1F}"/>
              </a:ext>
            </a:extLst>
          </p:cNvPr>
          <p:cNvCxnSpPr>
            <a:cxnSpLocks/>
          </p:cNvCxnSpPr>
          <p:nvPr/>
        </p:nvCxnSpPr>
        <p:spPr>
          <a:xfrm flipV="1">
            <a:off x="3657600" y="3200400"/>
            <a:ext cx="685800" cy="762000"/>
          </a:xfrm>
          <a:prstGeom prst="line">
            <a:avLst/>
          </a:prstGeom>
          <a:ln>
            <a:prstDash val="sysDot"/>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5337566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4E60B-94F3-DBBC-EF56-155B664B1E33}"/>
              </a:ext>
            </a:extLst>
          </p:cNvPr>
          <p:cNvSpPr>
            <a:spLocks noGrp="1"/>
          </p:cNvSpPr>
          <p:nvPr>
            <p:ph type="title"/>
          </p:nvPr>
        </p:nvSpPr>
        <p:spPr/>
        <p:txBody>
          <a:bodyPr/>
          <a:lstStyle/>
          <a:p>
            <a:r>
              <a:rPr lang="en-US" dirty="0"/>
              <a:t>Pipeline Diagrams</a:t>
            </a:r>
          </a:p>
        </p:txBody>
      </p:sp>
      <p:sp>
        <p:nvSpPr>
          <p:cNvPr id="3" name="Content Placeholder 2">
            <a:extLst>
              <a:ext uri="{FF2B5EF4-FFF2-40B4-BE49-F238E27FC236}">
                <a16:creationId xmlns:a16="http://schemas.microsoft.com/office/drawing/2014/main" id="{71822CA4-BA41-0A4E-D3CD-8F36BD919E7C}"/>
              </a:ext>
            </a:extLst>
          </p:cNvPr>
          <p:cNvSpPr>
            <a:spLocks noGrp="1"/>
          </p:cNvSpPr>
          <p:nvPr>
            <p:ph idx="1"/>
          </p:nvPr>
        </p:nvSpPr>
        <p:spPr/>
        <p:txBody>
          <a:bodyPr/>
          <a:lstStyle/>
          <a:p>
            <a:r>
              <a:rPr lang="en-US" dirty="0"/>
              <a:t>2 instructions cannot be in the same stage in the same clock</a:t>
            </a:r>
          </a:p>
          <a:p>
            <a:r>
              <a:rPr lang="en-US" dirty="0"/>
              <a:t>An instruction cannot stall after being executed</a:t>
            </a:r>
          </a:p>
          <a:p>
            <a:pPr lvl="1"/>
            <a:r>
              <a:rPr lang="en-US" dirty="0"/>
              <a:t>e.g. D </a:t>
            </a:r>
            <a:r>
              <a:rPr lang="en-US" dirty="0">
                <a:sym typeface="Wingdings" pitchFamily="2" charset="2"/>
              </a:rPr>
              <a:t> D*</a:t>
            </a:r>
          </a:p>
          <a:p>
            <a:r>
              <a:rPr lang="en-US" dirty="0">
                <a:sym typeface="Wingdings" pitchFamily="2" charset="2"/>
              </a:rPr>
              <a:t>X, M, and W do not stall in COD 4.65 Full Forward, RF Bypass, Predict-not-taken CPU</a:t>
            </a:r>
          </a:p>
          <a:p>
            <a:endParaRPr lang="en-US" dirty="0">
              <a:sym typeface="Wingdings" pitchFamily="2" charset="2"/>
            </a:endParaRPr>
          </a:p>
        </p:txBody>
      </p:sp>
      <p:sp>
        <p:nvSpPr>
          <p:cNvPr id="4" name="Slide Number Placeholder 3">
            <a:extLst>
              <a:ext uri="{FF2B5EF4-FFF2-40B4-BE49-F238E27FC236}">
                <a16:creationId xmlns:a16="http://schemas.microsoft.com/office/drawing/2014/main" id="{36F5DFAB-5F3E-8376-698D-247B12A4427E}"/>
              </a:ext>
            </a:extLst>
          </p:cNvPr>
          <p:cNvSpPr>
            <a:spLocks noGrp="1"/>
          </p:cNvSpPr>
          <p:nvPr>
            <p:ph type="sldNum" sz="quarter" idx="12"/>
          </p:nvPr>
        </p:nvSpPr>
        <p:spPr/>
        <p:txBody>
          <a:bodyPr/>
          <a:lstStyle/>
          <a:p>
            <a:pPr lvl="1"/>
            <a:fld id="{35B60D93-CC8C-4BE3-8466-59E10CB9DAB3}" type="slidenum">
              <a:rPr lang="en-US" altLang="en-US" smtClean="0"/>
              <a:pPr lvl="1"/>
              <a:t>28</a:t>
            </a:fld>
            <a:endParaRPr lang="en-US" altLang="en-US">
              <a:latin typeface="Calibri" panose="020F0502020204030204" pitchFamily="34" charset="0"/>
            </a:endParaRPr>
          </a:p>
        </p:txBody>
      </p:sp>
    </p:spTree>
    <p:extLst>
      <p:ext uri="{BB962C8B-B14F-4D97-AF65-F5344CB8AC3E}">
        <p14:creationId xmlns:p14="http://schemas.microsoft.com/office/powerpoint/2010/main" val="741061466"/>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Pipeline</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29</a:t>
            </a:fld>
            <a:endParaRPr lang="en-US" altLang="en-US"/>
          </a:p>
        </p:txBody>
      </p:sp>
      <p:sp>
        <p:nvSpPr>
          <p:cNvPr id="6" name="Rectangle 3">
            <a:extLst>
              <a:ext uri="{FF2B5EF4-FFF2-40B4-BE49-F238E27FC236}">
                <a16:creationId xmlns:a16="http://schemas.microsoft.com/office/drawing/2014/main" id="{11E3DC0C-D0BD-4FC3-B4D7-5CFD4A467781}"/>
              </a:ext>
            </a:extLst>
          </p:cNvPr>
          <p:cNvSpPr txBox="1">
            <a:spLocks noChangeArrowheads="1"/>
          </p:cNvSpPr>
          <p:nvPr/>
        </p:nvSpPr>
        <p:spPr bwMode="auto">
          <a:xfrm>
            <a:off x="2590800" y="2895601"/>
            <a:ext cx="4038600" cy="3505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r>
              <a:rPr lang="en-US" altLang="en-US" sz="1600" b="1" dirty="0">
                <a:latin typeface="Courier New" panose="02070309020205020404" pitchFamily="49" charset="0"/>
                <a:cs typeface="Courier New" panose="02070309020205020404" pitchFamily="49" charset="0"/>
              </a:rPr>
              <a:t>L1:	sub	$s4, $s2, $s3</a:t>
            </a:r>
          </a:p>
          <a:p>
            <a:pPr marL="0" indent="0">
              <a:buFont typeface="Arial" charset="0"/>
              <a:buNone/>
            </a:pPr>
            <a:r>
              <a:rPr lang="en-US" altLang="en-US" sz="1600" b="1" dirty="0">
                <a:latin typeface="Courier New" panose="02070309020205020404" pitchFamily="49" charset="0"/>
                <a:cs typeface="Courier New" panose="02070309020205020404" pitchFamily="49" charset="0"/>
              </a:rPr>
              <a:t>L2:	</a:t>
            </a:r>
            <a:r>
              <a:rPr lang="en-US" altLang="en-US" sz="1600" b="1" dirty="0" err="1">
                <a:latin typeface="Courier New" panose="02070309020205020404" pitchFamily="49" charset="0"/>
                <a:cs typeface="Courier New" panose="02070309020205020404" pitchFamily="49" charset="0"/>
              </a:rPr>
              <a:t>sw</a:t>
            </a:r>
            <a:r>
              <a:rPr lang="en-US" altLang="en-US" sz="1600" b="1" dirty="0">
                <a:latin typeface="Courier New" panose="02070309020205020404" pitchFamily="49" charset="0"/>
                <a:cs typeface="Courier New" panose="02070309020205020404" pitchFamily="49" charset="0"/>
              </a:rPr>
              <a:t>	$s2, 8($s1)</a:t>
            </a:r>
          </a:p>
          <a:p>
            <a:pPr marL="0" indent="0">
              <a:buFont typeface="Arial" charset="0"/>
              <a:buNone/>
            </a:pPr>
            <a:r>
              <a:rPr lang="en-US" altLang="en-US" sz="1600" b="1" dirty="0">
                <a:latin typeface="Courier New" panose="02070309020205020404" pitchFamily="49" charset="0"/>
                <a:cs typeface="Courier New" panose="02070309020205020404" pitchFamily="49" charset="0"/>
              </a:rPr>
              <a:t>L3:	__w	$s2, 0($s4)</a:t>
            </a:r>
          </a:p>
          <a:p>
            <a:pPr marL="0" indent="0">
              <a:buFont typeface="Arial" charset="0"/>
              <a:buNone/>
            </a:pPr>
            <a:r>
              <a:rPr lang="en-US" altLang="en-US" sz="1600" b="1" dirty="0">
                <a:latin typeface="Courier New" panose="02070309020205020404" pitchFamily="49" charset="0"/>
                <a:cs typeface="Courier New" panose="02070309020205020404" pitchFamily="49" charset="0"/>
              </a:rPr>
              <a:t>L4:	</a:t>
            </a:r>
            <a:r>
              <a:rPr lang="en-US" altLang="en-US" sz="1600" b="1" dirty="0" err="1">
                <a:latin typeface="Courier New" panose="02070309020205020404" pitchFamily="49" charset="0"/>
                <a:cs typeface="Courier New" panose="02070309020205020404" pitchFamily="49" charset="0"/>
              </a:rPr>
              <a:t>lw</a:t>
            </a:r>
            <a:r>
              <a:rPr lang="en-US" altLang="en-US" sz="1600" b="1" dirty="0">
                <a:latin typeface="Courier New" panose="02070309020205020404" pitchFamily="49" charset="0"/>
                <a:cs typeface="Courier New" panose="02070309020205020404" pitchFamily="49" charset="0"/>
              </a:rPr>
              <a:t>	___, 4(___)</a:t>
            </a:r>
          </a:p>
          <a:p>
            <a:pPr marL="0" indent="0">
              <a:buFont typeface="Arial" charset="0"/>
              <a:buNone/>
            </a:pPr>
            <a:r>
              <a:rPr lang="en-US" altLang="en-US" sz="1600" b="1" dirty="0">
                <a:latin typeface="Courier New" panose="02070309020205020404" pitchFamily="49" charset="0"/>
                <a:cs typeface="Courier New" panose="02070309020205020404" pitchFamily="49" charset="0"/>
              </a:rPr>
              <a:t>L5:	add	$s1, $zero, $s5</a:t>
            </a:r>
          </a:p>
          <a:p>
            <a:pPr marL="0" indent="0">
              <a:buFont typeface="Arial" charset="0"/>
              <a:buNone/>
            </a:pPr>
            <a:r>
              <a:rPr lang="en-US" altLang="en-US" sz="1600" b="1" dirty="0">
                <a:latin typeface="Courier New" panose="02070309020205020404" pitchFamily="49" charset="0"/>
                <a:cs typeface="Courier New" panose="02070309020205020404" pitchFamily="49" charset="0"/>
              </a:rPr>
              <a:t>L6:	</a:t>
            </a:r>
            <a:r>
              <a:rPr lang="en-US" altLang="en-US" sz="1600" b="1" dirty="0" err="1">
                <a:latin typeface="Courier New" panose="02070309020205020404" pitchFamily="49" charset="0"/>
                <a:cs typeface="Courier New" panose="02070309020205020404" pitchFamily="49" charset="0"/>
              </a:rPr>
              <a:t>lw</a:t>
            </a:r>
            <a:r>
              <a:rPr lang="en-US" altLang="en-US" sz="1600" b="1" dirty="0">
                <a:latin typeface="Courier New" panose="02070309020205020404" pitchFamily="49" charset="0"/>
                <a:cs typeface="Courier New" panose="02070309020205020404" pitchFamily="49" charset="0"/>
              </a:rPr>
              <a:t>	$s3, 0($s3)</a:t>
            </a:r>
          </a:p>
          <a:p>
            <a:pPr marL="0" indent="0">
              <a:buFont typeface="Arial" charset="0"/>
              <a:buNone/>
            </a:pPr>
            <a:r>
              <a:rPr lang="en-US" altLang="en-US" sz="1600" b="1" dirty="0">
                <a:latin typeface="Courier New" panose="02070309020205020404" pitchFamily="49" charset="0"/>
                <a:cs typeface="Courier New" panose="02070309020205020404" pitchFamily="49" charset="0"/>
              </a:rPr>
              <a:t>L7:	__w	$s1, 0($s3)</a:t>
            </a:r>
          </a:p>
          <a:p>
            <a:pPr marL="0" indent="0">
              <a:buFont typeface="Arial" charset="0"/>
              <a:buNone/>
            </a:pPr>
            <a:r>
              <a:rPr lang="en-US" altLang="en-US" sz="1600" b="1" dirty="0">
                <a:latin typeface="Courier New" panose="02070309020205020404" pitchFamily="49" charset="0"/>
                <a:cs typeface="Courier New" panose="02070309020205020404" pitchFamily="49" charset="0"/>
              </a:rPr>
              <a:t>L8:	add	$s2, $s1, $s2</a:t>
            </a:r>
            <a:endParaRPr lang="en-US" altLang="en-US" sz="1400" b="1" dirty="0">
              <a:latin typeface="Courier New" panose="02070309020205020404" pitchFamily="49" charset="0"/>
              <a:cs typeface="Courier New" panose="02070309020205020404" pitchFamily="49" charset="0"/>
            </a:endParaRPr>
          </a:p>
        </p:txBody>
      </p:sp>
      <p:sp>
        <p:nvSpPr>
          <p:cNvPr id="9" name="Rectangle 3">
            <a:extLst>
              <a:ext uri="{FF2B5EF4-FFF2-40B4-BE49-F238E27FC236}">
                <a16:creationId xmlns:a16="http://schemas.microsoft.com/office/drawing/2014/main" id="{19994F55-828F-4DBF-AA0D-72ED801B65AA}"/>
              </a:ext>
            </a:extLst>
          </p:cNvPr>
          <p:cNvSpPr>
            <a:spLocks noGrp="1" noChangeArrowheads="1"/>
          </p:cNvSpPr>
          <p:nvPr>
            <p:ph idx="1"/>
          </p:nvPr>
        </p:nvSpPr>
        <p:spPr>
          <a:xfrm>
            <a:off x="457200" y="1295400"/>
            <a:ext cx="8763000" cy="1981200"/>
          </a:xfrm>
        </p:spPr>
        <p:txBody>
          <a:bodyPr/>
          <a:lstStyle/>
          <a:p>
            <a:pPr marL="0" indent="0">
              <a:buNone/>
            </a:pPr>
            <a:r>
              <a:rPr lang="en-US" altLang="en-US" sz="2400" dirty="0"/>
              <a:t>Assume five-stage pipeline with forwarding to EX and RF bypassing support. Fill in the blanks such that the following sequence of instructions takes </a:t>
            </a:r>
            <a:r>
              <a:rPr lang="en-US" altLang="en-US" sz="2400" b="1" dirty="0"/>
              <a:t>exactly 16 cycles </a:t>
            </a:r>
            <a:r>
              <a:rPr lang="en-US" altLang="en-US" sz="2400" dirty="0"/>
              <a:t>to complete.</a:t>
            </a:r>
            <a:endParaRPr lang="en-US" altLang="en-US" sz="2000" dirty="0"/>
          </a:p>
        </p:txBody>
      </p:sp>
    </p:spTree>
    <p:extLst>
      <p:ext uri="{BB962C8B-B14F-4D97-AF65-F5344CB8AC3E}">
        <p14:creationId xmlns:p14="http://schemas.microsoft.com/office/powerpoint/2010/main" val="1747552638"/>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Pipeline</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30</a:t>
            </a:fld>
            <a:endParaRPr lang="en-US" altLang="en-US"/>
          </a:p>
        </p:txBody>
      </p:sp>
      <p:sp>
        <p:nvSpPr>
          <p:cNvPr id="6" name="Rectangle 3">
            <a:extLst>
              <a:ext uri="{FF2B5EF4-FFF2-40B4-BE49-F238E27FC236}">
                <a16:creationId xmlns:a16="http://schemas.microsoft.com/office/drawing/2014/main" id="{11E3DC0C-D0BD-4FC3-B4D7-5CFD4A467781}"/>
              </a:ext>
            </a:extLst>
          </p:cNvPr>
          <p:cNvSpPr txBox="1">
            <a:spLocks noChangeArrowheads="1"/>
          </p:cNvSpPr>
          <p:nvPr/>
        </p:nvSpPr>
        <p:spPr bwMode="auto">
          <a:xfrm>
            <a:off x="2743200" y="1371600"/>
            <a:ext cx="3657600" cy="219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r>
              <a:rPr lang="en-US" altLang="en-US" sz="1400" b="1" dirty="0">
                <a:latin typeface="Courier New" panose="02070309020205020404" pitchFamily="49" charset="0"/>
                <a:cs typeface="Courier New" panose="02070309020205020404" pitchFamily="49" charset="0"/>
              </a:rPr>
              <a:t>L1:	sub	$s4, $s2, $s3</a:t>
            </a:r>
          </a:p>
          <a:p>
            <a:pPr marL="0" indent="0">
              <a:buFont typeface="Arial" charset="0"/>
              <a:buNone/>
            </a:pPr>
            <a:r>
              <a:rPr lang="en-US" altLang="en-US" sz="1400" b="1" dirty="0">
                <a:latin typeface="Courier New" panose="02070309020205020404" pitchFamily="49" charset="0"/>
                <a:cs typeface="Courier New" panose="02070309020205020404" pitchFamily="49" charset="0"/>
              </a:rPr>
              <a:t>L2:	</a:t>
            </a:r>
            <a:r>
              <a:rPr lang="en-US" altLang="en-US" sz="1400" b="1" dirty="0" err="1">
                <a:latin typeface="Courier New" panose="02070309020205020404" pitchFamily="49" charset="0"/>
                <a:cs typeface="Courier New" panose="02070309020205020404" pitchFamily="49" charset="0"/>
              </a:rPr>
              <a:t>sw</a:t>
            </a:r>
            <a:r>
              <a:rPr lang="en-US" altLang="en-US" sz="1400" b="1" dirty="0">
                <a:latin typeface="Courier New" panose="02070309020205020404" pitchFamily="49" charset="0"/>
                <a:cs typeface="Courier New" panose="02070309020205020404" pitchFamily="49" charset="0"/>
              </a:rPr>
              <a:t>	$s2, 8($s1)</a:t>
            </a:r>
          </a:p>
          <a:p>
            <a:pPr marL="0" indent="0">
              <a:buFont typeface="Arial" charset="0"/>
              <a:buNone/>
            </a:pPr>
            <a:r>
              <a:rPr lang="en-US" altLang="en-US" sz="1400" b="1" dirty="0">
                <a:latin typeface="Courier New" panose="02070309020205020404" pitchFamily="49" charset="0"/>
                <a:cs typeface="Courier New" panose="02070309020205020404" pitchFamily="49" charset="0"/>
              </a:rPr>
              <a:t>L3:	</a:t>
            </a:r>
            <a:r>
              <a:rPr lang="en-US" altLang="en-US" sz="1400" b="1" u="sng" dirty="0">
                <a:latin typeface="Courier New" panose="02070309020205020404" pitchFamily="49" charset="0"/>
                <a:cs typeface="Courier New" panose="02070309020205020404" pitchFamily="49" charset="0"/>
              </a:rPr>
              <a:t>__</a:t>
            </a:r>
            <a:r>
              <a:rPr lang="en-US" altLang="en-US" sz="1400" b="1" dirty="0">
                <a:latin typeface="Courier New" panose="02070309020205020404" pitchFamily="49" charset="0"/>
                <a:cs typeface="Courier New" panose="02070309020205020404" pitchFamily="49" charset="0"/>
              </a:rPr>
              <a:t>w	$s2, 0($s4)</a:t>
            </a:r>
          </a:p>
          <a:p>
            <a:pPr marL="0" indent="0">
              <a:buFont typeface="Arial" charset="0"/>
              <a:buNone/>
            </a:pPr>
            <a:r>
              <a:rPr lang="en-US" altLang="en-US" sz="1400" b="1" dirty="0">
                <a:latin typeface="Courier New" panose="02070309020205020404" pitchFamily="49" charset="0"/>
                <a:cs typeface="Courier New" panose="02070309020205020404" pitchFamily="49" charset="0"/>
              </a:rPr>
              <a:t>L4:	</a:t>
            </a:r>
            <a:r>
              <a:rPr lang="en-US" altLang="en-US" sz="1400" b="1" dirty="0" err="1">
                <a:latin typeface="Courier New" panose="02070309020205020404" pitchFamily="49" charset="0"/>
                <a:cs typeface="Courier New" panose="02070309020205020404" pitchFamily="49" charset="0"/>
              </a:rPr>
              <a:t>lw</a:t>
            </a:r>
            <a:r>
              <a:rPr lang="en-US" altLang="en-US" sz="1400" b="1" dirty="0">
                <a:latin typeface="Courier New" panose="02070309020205020404" pitchFamily="49" charset="0"/>
                <a:cs typeface="Courier New" panose="02070309020205020404" pitchFamily="49" charset="0"/>
              </a:rPr>
              <a:t>	</a:t>
            </a:r>
            <a:r>
              <a:rPr lang="en-US" altLang="en-US" sz="1400" b="1" u="sng" dirty="0">
                <a:latin typeface="Courier New" panose="02070309020205020404" pitchFamily="49" charset="0"/>
                <a:cs typeface="Courier New" panose="02070309020205020404" pitchFamily="49" charset="0"/>
              </a:rPr>
              <a:t>___</a:t>
            </a:r>
            <a:r>
              <a:rPr lang="en-US" altLang="en-US" sz="1400" b="1" dirty="0">
                <a:latin typeface="Courier New" panose="02070309020205020404" pitchFamily="49" charset="0"/>
                <a:cs typeface="Courier New" panose="02070309020205020404" pitchFamily="49" charset="0"/>
              </a:rPr>
              <a:t>, 4(</a:t>
            </a:r>
            <a:r>
              <a:rPr lang="en-US" altLang="en-US" sz="1400" b="1" u="sng" dirty="0">
                <a:latin typeface="Courier New" panose="02070309020205020404" pitchFamily="49" charset="0"/>
                <a:cs typeface="Courier New" panose="02070309020205020404" pitchFamily="49" charset="0"/>
              </a:rPr>
              <a:t>___</a:t>
            </a:r>
            <a:r>
              <a:rPr lang="en-US" altLang="en-US" sz="1400" b="1" dirty="0">
                <a:latin typeface="Courier New" panose="02070309020205020404" pitchFamily="49" charset="0"/>
                <a:cs typeface="Courier New" panose="02070309020205020404" pitchFamily="49" charset="0"/>
              </a:rPr>
              <a:t>)</a:t>
            </a:r>
          </a:p>
          <a:p>
            <a:pPr marL="0" indent="0">
              <a:buFont typeface="Arial" charset="0"/>
              <a:buNone/>
            </a:pPr>
            <a:r>
              <a:rPr lang="en-US" altLang="en-US" sz="1400" b="1" dirty="0">
                <a:latin typeface="Courier New" panose="02070309020205020404" pitchFamily="49" charset="0"/>
                <a:cs typeface="Courier New" panose="02070309020205020404" pitchFamily="49" charset="0"/>
              </a:rPr>
              <a:t>L5:	add	$s1, $zero, $s5</a:t>
            </a:r>
          </a:p>
          <a:p>
            <a:pPr marL="0" indent="0">
              <a:buFont typeface="Arial" charset="0"/>
              <a:buNone/>
            </a:pPr>
            <a:r>
              <a:rPr lang="en-US" altLang="en-US" sz="1400" b="1" dirty="0">
                <a:latin typeface="Courier New" panose="02070309020205020404" pitchFamily="49" charset="0"/>
                <a:cs typeface="Courier New" panose="02070309020205020404" pitchFamily="49" charset="0"/>
              </a:rPr>
              <a:t>L6:	</a:t>
            </a:r>
            <a:r>
              <a:rPr lang="en-US" altLang="en-US" sz="1400" b="1" dirty="0" err="1">
                <a:latin typeface="Courier New" panose="02070309020205020404" pitchFamily="49" charset="0"/>
                <a:cs typeface="Courier New" panose="02070309020205020404" pitchFamily="49" charset="0"/>
              </a:rPr>
              <a:t>lw</a:t>
            </a:r>
            <a:r>
              <a:rPr lang="en-US" altLang="en-US" sz="1400" b="1" dirty="0">
                <a:latin typeface="Courier New" panose="02070309020205020404" pitchFamily="49" charset="0"/>
                <a:cs typeface="Courier New" panose="02070309020205020404" pitchFamily="49" charset="0"/>
              </a:rPr>
              <a:t>	$s3, 0($s3)</a:t>
            </a:r>
          </a:p>
          <a:p>
            <a:pPr marL="0" indent="0">
              <a:buFont typeface="Arial" charset="0"/>
              <a:buNone/>
            </a:pPr>
            <a:r>
              <a:rPr lang="en-US" altLang="en-US" sz="1400" b="1" dirty="0">
                <a:latin typeface="Courier New" panose="02070309020205020404" pitchFamily="49" charset="0"/>
                <a:cs typeface="Courier New" panose="02070309020205020404" pitchFamily="49" charset="0"/>
              </a:rPr>
              <a:t>L7:	</a:t>
            </a:r>
            <a:r>
              <a:rPr lang="en-US" altLang="en-US" sz="1400" b="1" u="sng" dirty="0">
                <a:latin typeface="Courier New" panose="02070309020205020404" pitchFamily="49" charset="0"/>
                <a:cs typeface="Courier New" panose="02070309020205020404" pitchFamily="49" charset="0"/>
              </a:rPr>
              <a:t>__</a:t>
            </a:r>
            <a:r>
              <a:rPr lang="en-US" altLang="en-US" sz="1400" b="1" dirty="0">
                <a:latin typeface="Courier New" panose="02070309020205020404" pitchFamily="49" charset="0"/>
                <a:cs typeface="Courier New" panose="02070309020205020404" pitchFamily="49" charset="0"/>
              </a:rPr>
              <a:t>w	$s1, 0($s3)</a:t>
            </a:r>
          </a:p>
          <a:p>
            <a:pPr marL="0" indent="0">
              <a:buFont typeface="Arial" charset="0"/>
              <a:buNone/>
            </a:pPr>
            <a:r>
              <a:rPr lang="en-US" altLang="en-US" sz="1400" b="1" dirty="0">
                <a:latin typeface="Courier New" panose="02070309020205020404" pitchFamily="49" charset="0"/>
                <a:cs typeface="Courier New" panose="02070309020205020404" pitchFamily="49" charset="0"/>
              </a:rPr>
              <a:t>L8:	add	$s2, $s1, $s2</a:t>
            </a:r>
            <a:endParaRPr lang="en-US" altLang="en-US" sz="1200" b="1" dirty="0">
              <a:latin typeface="Courier New" panose="02070309020205020404" pitchFamily="49" charset="0"/>
              <a:cs typeface="Courier New" panose="02070309020205020404" pitchFamily="49" charset="0"/>
            </a:endParaRPr>
          </a:p>
        </p:txBody>
      </p:sp>
      <p:graphicFrame>
        <p:nvGraphicFramePr>
          <p:cNvPr id="3" name="Group 4">
            <a:extLst>
              <a:ext uri="{FF2B5EF4-FFF2-40B4-BE49-F238E27FC236}">
                <a16:creationId xmlns:a16="http://schemas.microsoft.com/office/drawing/2014/main" id="{404E3C18-55C0-D247-66E3-A609C32DA7B8}"/>
              </a:ext>
            </a:extLst>
          </p:cNvPr>
          <p:cNvGraphicFramePr>
            <a:graphicFrameLocks noGrp="1"/>
          </p:cNvGraphicFramePr>
          <p:nvPr>
            <p:extLst>
              <p:ext uri="{D42A27DB-BD31-4B8C-83A1-F6EECF244321}">
                <p14:modId xmlns:p14="http://schemas.microsoft.com/office/powerpoint/2010/main" val="1398674855"/>
              </p:ext>
            </p:extLst>
          </p:nvPr>
        </p:nvGraphicFramePr>
        <p:xfrm>
          <a:off x="364342" y="3657600"/>
          <a:ext cx="8415318" cy="2727798"/>
        </p:xfrm>
        <a:graphic>
          <a:graphicData uri="http://schemas.openxmlformats.org/drawingml/2006/table">
            <a:tbl>
              <a:tblPr/>
              <a:tblGrid>
                <a:gridCol w="1958742">
                  <a:extLst>
                    <a:ext uri="{9D8B030D-6E8A-4147-A177-3AD203B41FA5}">
                      <a16:colId xmlns:a16="http://schemas.microsoft.com/office/drawing/2014/main" val="20000"/>
                    </a:ext>
                  </a:extLst>
                </a:gridCol>
                <a:gridCol w="403536">
                  <a:extLst>
                    <a:ext uri="{9D8B030D-6E8A-4147-A177-3AD203B41FA5}">
                      <a16:colId xmlns:a16="http://schemas.microsoft.com/office/drawing/2014/main" val="20001"/>
                    </a:ext>
                  </a:extLst>
                </a:gridCol>
                <a:gridCol w="403536">
                  <a:extLst>
                    <a:ext uri="{9D8B030D-6E8A-4147-A177-3AD203B41FA5}">
                      <a16:colId xmlns:a16="http://schemas.microsoft.com/office/drawing/2014/main" val="20002"/>
                    </a:ext>
                  </a:extLst>
                </a:gridCol>
                <a:gridCol w="403536">
                  <a:extLst>
                    <a:ext uri="{9D8B030D-6E8A-4147-A177-3AD203B41FA5}">
                      <a16:colId xmlns:a16="http://schemas.microsoft.com/office/drawing/2014/main" val="20003"/>
                    </a:ext>
                  </a:extLst>
                </a:gridCol>
                <a:gridCol w="403536">
                  <a:extLst>
                    <a:ext uri="{9D8B030D-6E8A-4147-A177-3AD203B41FA5}">
                      <a16:colId xmlns:a16="http://schemas.microsoft.com/office/drawing/2014/main" val="20004"/>
                    </a:ext>
                  </a:extLst>
                </a:gridCol>
                <a:gridCol w="403536">
                  <a:extLst>
                    <a:ext uri="{9D8B030D-6E8A-4147-A177-3AD203B41FA5}">
                      <a16:colId xmlns:a16="http://schemas.microsoft.com/office/drawing/2014/main" val="20005"/>
                    </a:ext>
                  </a:extLst>
                </a:gridCol>
                <a:gridCol w="403536">
                  <a:extLst>
                    <a:ext uri="{9D8B030D-6E8A-4147-A177-3AD203B41FA5}">
                      <a16:colId xmlns:a16="http://schemas.microsoft.com/office/drawing/2014/main" val="20006"/>
                    </a:ext>
                  </a:extLst>
                </a:gridCol>
                <a:gridCol w="403536">
                  <a:extLst>
                    <a:ext uri="{9D8B030D-6E8A-4147-A177-3AD203B41FA5}">
                      <a16:colId xmlns:a16="http://schemas.microsoft.com/office/drawing/2014/main" val="20007"/>
                    </a:ext>
                  </a:extLst>
                </a:gridCol>
                <a:gridCol w="403536">
                  <a:extLst>
                    <a:ext uri="{9D8B030D-6E8A-4147-A177-3AD203B41FA5}">
                      <a16:colId xmlns:a16="http://schemas.microsoft.com/office/drawing/2014/main" val="369226169"/>
                    </a:ext>
                  </a:extLst>
                </a:gridCol>
                <a:gridCol w="403536">
                  <a:extLst>
                    <a:ext uri="{9D8B030D-6E8A-4147-A177-3AD203B41FA5}">
                      <a16:colId xmlns:a16="http://schemas.microsoft.com/office/drawing/2014/main" val="4042748305"/>
                    </a:ext>
                  </a:extLst>
                </a:gridCol>
                <a:gridCol w="403536">
                  <a:extLst>
                    <a:ext uri="{9D8B030D-6E8A-4147-A177-3AD203B41FA5}">
                      <a16:colId xmlns:a16="http://schemas.microsoft.com/office/drawing/2014/main" val="2993349647"/>
                    </a:ext>
                  </a:extLst>
                </a:gridCol>
                <a:gridCol w="403536">
                  <a:extLst>
                    <a:ext uri="{9D8B030D-6E8A-4147-A177-3AD203B41FA5}">
                      <a16:colId xmlns:a16="http://schemas.microsoft.com/office/drawing/2014/main" val="671298943"/>
                    </a:ext>
                  </a:extLst>
                </a:gridCol>
                <a:gridCol w="403536">
                  <a:extLst>
                    <a:ext uri="{9D8B030D-6E8A-4147-A177-3AD203B41FA5}">
                      <a16:colId xmlns:a16="http://schemas.microsoft.com/office/drawing/2014/main" val="1975366508"/>
                    </a:ext>
                  </a:extLst>
                </a:gridCol>
                <a:gridCol w="403536">
                  <a:extLst>
                    <a:ext uri="{9D8B030D-6E8A-4147-A177-3AD203B41FA5}">
                      <a16:colId xmlns:a16="http://schemas.microsoft.com/office/drawing/2014/main" val="4242332300"/>
                    </a:ext>
                  </a:extLst>
                </a:gridCol>
                <a:gridCol w="403536">
                  <a:extLst>
                    <a:ext uri="{9D8B030D-6E8A-4147-A177-3AD203B41FA5}">
                      <a16:colId xmlns:a16="http://schemas.microsoft.com/office/drawing/2014/main" val="2346271294"/>
                    </a:ext>
                  </a:extLst>
                </a:gridCol>
                <a:gridCol w="403536">
                  <a:extLst>
                    <a:ext uri="{9D8B030D-6E8A-4147-A177-3AD203B41FA5}">
                      <a16:colId xmlns:a16="http://schemas.microsoft.com/office/drawing/2014/main" val="4152000342"/>
                    </a:ext>
                  </a:extLst>
                </a:gridCol>
                <a:gridCol w="403536">
                  <a:extLst>
                    <a:ext uri="{9D8B030D-6E8A-4147-A177-3AD203B41FA5}">
                      <a16:colId xmlns:a16="http://schemas.microsoft.com/office/drawing/2014/main" val="20013"/>
                    </a:ext>
                  </a:extLst>
                </a:gridCol>
              </a:tblGrid>
              <a:tr h="253184">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1" i="0" u="none" strike="noStrike" cap="none" normalizeH="0" baseline="0" dirty="0" err="1">
                          <a:ln>
                            <a:noFill/>
                          </a:ln>
                          <a:solidFill>
                            <a:schemeClr val="tx1"/>
                          </a:solidFill>
                          <a:effectLst/>
                          <a:latin typeface="Times New Roman" pitchFamily="18" charset="0"/>
                        </a:rPr>
                        <a:t>insn</a:t>
                      </a:r>
                      <a:r>
                        <a:rPr kumimoji="0" lang="en-US" sz="1600" b="1" i="0" u="none" strike="noStrike" cap="none" normalizeH="0" baseline="0" dirty="0">
                          <a:ln>
                            <a:noFill/>
                          </a:ln>
                          <a:solidFill>
                            <a:schemeClr val="tx1"/>
                          </a:solidFill>
                          <a:effectLst/>
                          <a:latin typeface="Times New Roman" pitchFamily="18" charset="0"/>
                        </a:rPr>
                        <a:t>\cycle</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1" i="0" u="none" strike="noStrike" cap="none" normalizeH="0" baseline="0" dirty="0">
                          <a:ln>
                            <a:noFill/>
                          </a:ln>
                          <a:solidFill>
                            <a:schemeClr val="tx1"/>
                          </a:solidFill>
                          <a:effectLst/>
                          <a:latin typeface="Times New Roman" pitchFamily="18" charset="0"/>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1" i="0" u="none" strike="noStrike" cap="none" normalizeH="0" baseline="0" dirty="0">
                          <a:ln>
                            <a:noFill/>
                          </a:ln>
                          <a:solidFill>
                            <a:schemeClr val="tx1"/>
                          </a:solidFill>
                          <a:effectLst/>
                          <a:latin typeface="Times New Roman" pitchFamily="18" charset="0"/>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1" i="0" u="none" strike="noStrike" cap="none" normalizeH="0" baseline="0" dirty="0">
                          <a:ln>
                            <a:noFill/>
                          </a:ln>
                          <a:solidFill>
                            <a:schemeClr val="tx1"/>
                          </a:solidFill>
                          <a:effectLst/>
                          <a:latin typeface="Times New Roman" pitchFamily="18" charset="0"/>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1" i="0" u="none" strike="noStrike" cap="none" normalizeH="0" baseline="0" dirty="0">
                          <a:ln>
                            <a:noFill/>
                          </a:ln>
                          <a:solidFill>
                            <a:schemeClr val="tx1"/>
                          </a:solidFill>
                          <a:effectLst/>
                          <a:latin typeface="Times New Roman" pitchFamily="18" charset="0"/>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1" i="0" u="none" strike="noStrike" cap="none" normalizeH="0" baseline="0" dirty="0">
                          <a:ln>
                            <a:noFill/>
                          </a:ln>
                          <a:solidFill>
                            <a:schemeClr val="tx1"/>
                          </a:solidFill>
                          <a:effectLst/>
                          <a:latin typeface="Times New Roman" pitchFamily="18" charset="0"/>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1" i="0" u="none" strike="noStrike" cap="none" normalizeH="0" baseline="0" dirty="0">
                          <a:ln>
                            <a:noFill/>
                          </a:ln>
                          <a:solidFill>
                            <a:schemeClr val="tx1"/>
                          </a:solidFill>
                          <a:effectLst/>
                          <a:latin typeface="Times New Roman" pitchFamily="18" charset="0"/>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1" i="0" u="none" strike="noStrike" cap="none" normalizeH="0" baseline="0" dirty="0">
                          <a:ln>
                            <a:noFill/>
                          </a:ln>
                          <a:solidFill>
                            <a:schemeClr val="tx1"/>
                          </a:solidFill>
                          <a:effectLst/>
                          <a:latin typeface="Times New Roman" pitchFamily="18" charset="0"/>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1" i="0" u="none" strike="noStrike" cap="none" normalizeH="0" baseline="0" dirty="0">
                          <a:ln>
                            <a:noFill/>
                          </a:ln>
                          <a:solidFill>
                            <a:schemeClr val="tx1"/>
                          </a:solidFill>
                          <a:effectLst/>
                          <a:latin typeface="Times New Roman" pitchFamily="18" charset="0"/>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1" i="0" u="none" strike="noStrike" cap="none" normalizeH="0" baseline="0" dirty="0">
                          <a:ln>
                            <a:noFill/>
                          </a:ln>
                          <a:solidFill>
                            <a:schemeClr val="tx1"/>
                          </a:solidFill>
                          <a:effectLst/>
                          <a:latin typeface="Times New Roman" pitchFamily="18" charset="0"/>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1" i="0" u="none" strike="noStrike" cap="none" normalizeH="0" baseline="0" dirty="0">
                          <a:ln>
                            <a:noFill/>
                          </a:ln>
                          <a:solidFill>
                            <a:schemeClr val="tx1"/>
                          </a:solidFill>
                          <a:effectLst/>
                          <a:latin typeface="Times New Roman" pitchFamily="18" charset="0"/>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1" i="0" u="none" strike="noStrike" cap="none" normalizeH="0" baseline="0" dirty="0">
                          <a:ln>
                            <a:noFill/>
                          </a:ln>
                          <a:solidFill>
                            <a:schemeClr val="tx1"/>
                          </a:solidFill>
                          <a:effectLst/>
                          <a:latin typeface="Times New Roman" pitchFamily="18" charset="0"/>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1" i="0" u="none" strike="noStrike" cap="none" normalizeH="0" baseline="0" dirty="0">
                          <a:ln>
                            <a:noFill/>
                          </a:ln>
                          <a:solidFill>
                            <a:schemeClr val="tx1"/>
                          </a:solidFill>
                          <a:effectLst/>
                          <a:latin typeface="Times New Roman" pitchFamily="18" charset="0"/>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1" i="0" u="none" strike="noStrike" cap="none" normalizeH="0" baseline="0" dirty="0">
                          <a:ln>
                            <a:noFill/>
                          </a:ln>
                          <a:solidFill>
                            <a:schemeClr val="tx1"/>
                          </a:solidFill>
                          <a:effectLst/>
                          <a:latin typeface="Times New Roman" pitchFamily="18" charset="0"/>
                        </a:rPr>
                        <a:t>13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1" i="0" u="none" strike="noStrike" cap="none" normalizeH="0" baseline="0" dirty="0">
                          <a:ln>
                            <a:noFill/>
                          </a:ln>
                          <a:solidFill>
                            <a:schemeClr val="tx1"/>
                          </a:solidFill>
                          <a:effectLst/>
                          <a:latin typeface="Times New Roman" pitchFamily="18" charset="0"/>
                        </a:rPr>
                        <a:t>14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1" i="0" u="none" strike="noStrike" cap="none" normalizeH="0" baseline="0" dirty="0">
                          <a:ln>
                            <a:noFill/>
                          </a:ln>
                          <a:solidFill>
                            <a:schemeClr val="tx1"/>
                          </a:solidFill>
                          <a:effectLst/>
                          <a:latin typeface="Times New Roman" pitchFamily="18" charset="0"/>
                        </a:rPr>
                        <a:t>15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1" i="0" u="none" strike="noStrike" cap="none" normalizeH="0" baseline="0" dirty="0">
                          <a:ln>
                            <a:noFill/>
                          </a:ln>
                          <a:solidFill>
                            <a:schemeClr val="tx1"/>
                          </a:solidFill>
                          <a:effectLst/>
                          <a:latin typeface="Times New Roman" pitchFamily="18" charset="0"/>
                        </a:rPr>
                        <a:t>16</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itchFamily="18" charset="0"/>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r h="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itchFamily="18" charset="0"/>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2"/>
                  </a:ext>
                </a:extLst>
              </a:tr>
              <a:tr h="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itchFamily="18" charset="0"/>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3928612299"/>
                  </a:ext>
                </a:extLst>
              </a:tr>
              <a:tr h="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itchFamily="18" charset="0"/>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958570223"/>
                  </a:ext>
                </a:extLst>
              </a:tr>
              <a:tr h="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itchFamily="18" charset="0"/>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2157673970"/>
                  </a:ext>
                </a:extLst>
              </a:tr>
              <a:tr h="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itchFamily="18" charset="0"/>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2741805181"/>
                  </a:ext>
                </a:extLst>
              </a:tr>
              <a:tr h="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itchFamily="18" charset="0"/>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405197162"/>
                  </a:ext>
                </a:extLst>
              </a:tr>
              <a:tr h="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itchFamily="18" charset="0"/>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596446267"/>
                  </a:ext>
                </a:extLst>
              </a:tr>
            </a:tbl>
          </a:graphicData>
        </a:graphic>
      </p:graphicFrame>
    </p:spTree>
    <p:extLst>
      <p:ext uri="{BB962C8B-B14F-4D97-AF65-F5344CB8AC3E}">
        <p14:creationId xmlns:p14="http://schemas.microsoft.com/office/powerpoint/2010/main" val="1164293054"/>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Pipeline</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31</a:t>
            </a:fld>
            <a:endParaRPr lang="en-US" altLang="en-US"/>
          </a:p>
        </p:txBody>
      </p:sp>
      <p:sp>
        <p:nvSpPr>
          <p:cNvPr id="6" name="Rectangle 3">
            <a:extLst>
              <a:ext uri="{FF2B5EF4-FFF2-40B4-BE49-F238E27FC236}">
                <a16:creationId xmlns:a16="http://schemas.microsoft.com/office/drawing/2014/main" id="{11E3DC0C-D0BD-4FC3-B4D7-5CFD4A467781}"/>
              </a:ext>
            </a:extLst>
          </p:cNvPr>
          <p:cNvSpPr txBox="1">
            <a:spLocks noChangeArrowheads="1"/>
          </p:cNvSpPr>
          <p:nvPr/>
        </p:nvSpPr>
        <p:spPr bwMode="auto">
          <a:xfrm>
            <a:off x="2590800" y="2895601"/>
            <a:ext cx="4038600" cy="3505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r>
              <a:rPr lang="en-US" altLang="en-US" sz="1600" b="1" dirty="0">
                <a:latin typeface="Courier New" panose="02070309020205020404" pitchFamily="49" charset="0"/>
                <a:cs typeface="Courier New" panose="02070309020205020404" pitchFamily="49" charset="0"/>
              </a:rPr>
              <a:t>L1:	sub	$s4, $s2, $s3</a:t>
            </a:r>
          </a:p>
          <a:p>
            <a:pPr marL="0" indent="0">
              <a:buFont typeface="Arial" charset="0"/>
              <a:buNone/>
            </a:pPr>
            <a:r>
              <a:rPr lang="en-US" altLang="en-US" sz="1600" b="1" dirty="0">
                <a:latin typeface="Courier New" panose="02070309020205020404" pitchFamily="49" charset="0"/>
                <a:cs typeface="Courier New" panose="02070309020205020404" pitchFamily="49" charset="0"/>
              </a:rPr>
              <a:t>L2:	</a:t>
            </a:r>
            <a:r>
              <a:rPr lang="en-US" altLang="en-US" sz="1600" b="1" dirty="0" err="1">
                <a:latin typeface="Courier New" panose="02070309020205020404" pitchFamily="49" charset="0"/>
                <a:cs typeface="Courier New" panose="02070309020205020404" pitchFamily="49" charset="0"/>
              </a:rPr>
              <a:t>sw</a:t>
            </a:r>
            <a:r>
              <a:rPr lang="en-US" altLang="en-US" sz="1600" b="1" dirty="0">
                <a:latin typeface="Courier New" panose="02070309020205020404" pitchFamily="49" charset="0"/>
                <a:cs typeface="Courier New" panose="02070309020205020404" pitchFamily="49" charset="0"/>
              </a:rPr>
              <a:t>	$s2, 8($s1)</a:t>
            </a:r>
          </a:p>
          <a:p>
            <a:pPr marL="0" indent="0">
              <a:buFont typeface="Arial" charset="0"/>
              <a:buNone/>
            </a:pPr>
            <a:r>
              <a:rPr lang="en-US" altLang="en-US" sz="1600" b="1" dirty="0">
                <a:latin typeface="Courier New" panose="02070309020205020404" pitchFamily="49" charset="0"/>
                <a:cs typeface="Courier New" panose="02070309020205020404" pitchFamily="49" charset="0"/>
              </a:rPr>
              <a:t>L3:	</a:t>
            </a:r>
            <a:r>
              <a:rPr lang="en-US" altLang="en-US" sz="1600" b="1" u="sng" dirty="0" err="1">
                <a:solidFill>
                  <a:schemeClr val="accent6">
                    <a:lumMod val="75000"/>
                  </a:schemeClr>
                </a:solidFill>
                <a:latin typeface="Courier New" panose="02070309020205020404" pitchFamily="49" charset="0"/>
                <a:cs typeface="Courier New" panose="02070309020205020404" pitchFamily="49" charset="0"/>
              </a:rPr>
              <a:t>lw</a:t>
            </a:r>
            <a:r>
              <a:rPr lang="en-US" altLang="en-US" sz="1600" b="1" dirty="0">
                <a:latin typeface="Courier New" panose="02070309020205020404" pitchFamily="49" charset="0"/>
                <a:cs typeface="Courier New" panose="02070309020205020404" pitchFamily="49" charset="0"/>
              </a:rPr>
              <a:t>	$s2, 0($s4)</a:t>
            </a:r>
          </a:p>
          <a:p>
            <a:pPr marL="0" indent="0">
              <a:buFont typeface="Arial" charset="0"/>
              <a:buNone/>
            </a:pPr>
            <a:r>
              <a:rPr lang="en-US" altLang="en-US" sz="1600" b="1" dirty="0">
                <a:latin typeface="Courier New" panose="02070309020205020404" pitchFamily="49" charset="0"/>
                <a:cs typeface="Courier New" panose="02070309020205020404" pitchFamily="49" charset="0"/>
              </a:rPr>
              <a:t>L4:	</a:t>
            </a:r>
            <a:r>
              <a:rPr lang="en-US" altLang="en-US" sz="1600" b="1" dirty="0" err="1">
                <a:latin typeface="Courier New" panose="02070309020205020404" pitchFamily="49" charset="0"/>
                <a:cs typeface="Courier New" panose="02070309020205020404" pitchFamily="49" charset="0"/>
              </a:rPr>
              <a:t>lw</a:t>
            </a:r>
            <a:r>
              <a:rPr lang="en-US" altLang="en-US" sz="1600" b="1" dirty="0">
                <a:latin typeface="Courier New" panose="02070309020205020404" pitchFamily="49" charset="0"/>
                <a:cs typeface="Courier New" panose="02070309020205020404" pitchFamily="49" charset="0"/>
              </a:rPr>
              <a:t>	</a:t>
            </a:r>
            <a:r>
              <a:rPr lang="en-US" altLang="en-US" sz="1600" b="1" u="sng" dirty="0">
                <a:solidFill>
                  <a:schemeClr val="accent6">
                    <a:lumMod val="75000"/>
                  </a:schemeClr>
                </a:solidFill>
                <a:latin typeface="Courier New" panose="02070309020205020404" pitchFamily="49" charset="0"/>
                <a:cs typeface="Courier New" panose="02070309020205020404" pitchFamily="49" charset="0"/>
              </a:rPr>
              <a:t>$s5</a:t>
            </a:r>
            <a:r>
              <a:rPr lang="en-US" altLang="en-US" sz="1600" b="1" dirty="0">
                <a:latin typeface="Courier New" panose="02070309020205020404" pitchFamily="49" charset="0"/>
                <a:cs typeface="Courier New" panose="02070309020205020404" pitchFamily="49" charset="0"/>
              </a:rPr>
              <a:t>, 4(</a:t>
            </a:r>
            <a:r>
              <a:rPr lang="en-US" altLang="en-US" sz="1600" b="1" u="sng" dirty="0">
                <a:solidFill>
                  <a:schemeClr val="accent6">
                    <a:lumMod val="75000"/>
                  </a:schemeClr>
                </a:solidFill>
                <a:latin typeface="Courier New" panose="02070309020205020404" pitchFamily="49" charset="0"/>
                <a:cs typeface="Courier New" panose="02070309020205020404" pitchFamily="49" charset="0"/>
              </a:rPr>
              <a:t>$s2</a:t>
            </a:r>
            <a:r>
              <a:rPr lang="en-US" altLang="en-US" sz="1600" b="1" dirty="0">
                <a:latin typeface="Courier New" panose="02070309020205020404" pitchFamily="49" charset="0"/>
                <a:cs typeface="Courier New" panose="02070309020205020404" pitchFamily="49" charset="0"/>
              </a:rPr>
              <a:t>)</a:t>
            </a:r>
          </a:p>
          <a:p>
            <a:pPr marL="0" indent="0">
              <a:buFont typeface="Arial" charset="0"/>
              <a:buNone/>
            </a:pPr>
            <a:r>
              <a:rPr lang="en-US" altLang="en-US" sz="1600" b="1" dirty="0">
                <a:latin typeface="Courier New" panose="02070309020205020404" pitchFamily="49" charset="0"/>
                <a:cs typeface="Courier New" panose="02070309020205020404" pitchFamily="49" charset="0"/>
              </a:rPr>
              <a:t>L5:	add	$s1, $zero, $s5</a:t>
            </a:r>
          </a:p>
          <a:p>
            <a:pPr marL="0" indent="0">
              <a:buFont typeface="Arial" charset="0"/>
              <a:buNone/>
            </a:pPr>
            <a:r>
              <a:rPr lang="en-US" altLang="en-US" sz="1600" b="1" dirty="0">
                <a:latin typeface="Courier New" panose="02070309020205020404" pitchFamily="49" charset="0"/>
                <a:cs typeface="Courier New" panose="02070309020205020404" pitchFamily="49" charset="0"/>
              </a:rPr>
              <a:t>L6:	</a:t>
            </a:r>
            <a:r>
              <a:rPr lang="en-US" altLang="en-US" sz="1600" b="1" dirty="0" err="1">
                <a:latin typeface="Courier New" panose="02070309020205020404" pitchFamily="49" charset="0"/>
                <a:cs typeface="Courier New" panose="02070309020205020404" pitchFamily="49" charset="0"/>
              </a:rPr>
              <a:t>lw</a:t>
            </a:r>
            <a:r>
              <a:rPr lang="en-US" altLang="en-US" sz="1600" b="1" dirty="0">
                <a:latin typeface="Courier New" panose="02070309020205020404" pitchFamily="49" charset="0"/>
                <a:cs typeface="Courier New" panose="02070309020205020404" pitchFamily="49" charset="0"/>
              </a:rPr>
              <a:t>	$s3, 0($s3)</a:t>
            </a:r>
          </a:p>
          <a:p>
            <a:pPr marL="0" indent="0">
              <a:buFont typeface="Arial" charset="0"/>
              <a:buNone/>
            </a:pPr>
            <a:r>
              <a:rPr lang="en-US" altLang="en-US" sz="1600" b="1" dirty="0">
                <a:latin typeface="Courier New" panose="02070309020205020404" pitchFamily="49" charset="0"/>
                <a:cs typeface="Courier New" panose="02070309020205020404" pitchFamily="49" charset="0"/>
              </a:rPr>
              <a:t>L7:	</a:t>
            </a:r>
            <a:r>
              <a:rPr lang="en-US" altLang="en-US" sz="1600" b="1" u="sng" dirty="0" err="1">
                <a:solidFill>
                  <a:schemeClr val="accent6">
                    <a:lumMod val="75000"/>
                  </a:schemeClr>
                </a:solidFill>
                <a:latin typeface="Courier New" panose="02070309020205020404" pitchFamily="49" charset="0"/>
                <a:cs typeface="Courier New" panose="02070309020205020404" pitchFamily="49" charset="0"/>
              </a:rPr>
              <a:t>lw</a:t>
            </a:r>
            <a:r>
              <a:rPr lang="en-US" altLang="en-US" sz="1600" b="1" dirty="0">
                <a:latin typeface="Courier New" panose="02070309020205020404" pitchFamily="49" charset="0"/>
                <a:cs typeface="Courier New" panose="02070309020205020404" pitchFamily="49" charset="0"/>
              </a:rPr>
              <a:t>	$s1, 0($s3)</a:t>
            </a:r>
          </a:p>
          <a:p>
            <a:pPr marL="0" indent="0">
              <a:buFont typeface="Arial" charset="0"/>
              <a:buNone/>
            </a:pPr>
            <a:r>
              <a:rPr lang="en-US" altLang="en-US" sz="1600" b="1" dirty="0">
                <a:latin typeface="Courier New" panose="02070309020205020404" pitchFamily="49" charset="0"/>
                <a:cs typeface="Courier New" panose="02070309020205020404" pitchFamily="49" charset="0"/>
              </a:rPr>
              <a:t>L8:	add	$s2, $s1, $s2</a:t>
            </a:r>
            <a:endParaRPr lang="en-US" altLang="en-US" sz="1400" b="1" dirty="0">
              <a:latin typeface="Courier New" panose="02070309020205020404" pitchFamily="49" charset="0"/>
              <a:cs typeface="Courier New" panose="02070309020205020404" pitchFamily="49" charset="0"/>
            </a:endParaRPr>
          </a:p>
        </p:txBody>
      </p:sp>
      <p:sp>
        <p:nvSpPr>
          <p:cNvPr id="9" name="Rectangle 3">
            <a:extLst>
              <a:ext uri="{FF2B5EF4-FFF2-40B4-BE49-F238E27FC236}">
                <a16:creationId xmlns:a16="http://schemas.microsoft.com/office/drawing/2014/main" id="{19994F55-828F-4DBF-AA0D-72ED801B65AA}"/>
              </a:ext>
            </a:extLst>
          </p:cNvPr>
          <p:cNvSpPr>
            <a:spLocks noGrp="1" noChangeArrowheads="1"/>
          </p:cNvSpPr>
          <p:nvPr>
            <p:ph idx="1"/>
          </p:nvPr>
        </p:nvSpPr>
        <p:spPr>
          <a:xfrm>
            <a:off x="457200" y="1295400"/>
            <a:ext cx="8686800" cy="1981200"/>
          </a:xfrm>
        </p:spPr>
        <p:txBody>
          <a:bodyPr/>
          <a:lstStyle/>
          <a:p>
            <a:pPr marL="0" indent="0">
              <a:buNone/>
            </a:pPr>
            <a:r>
              <a:rPr lang="en-US" altLang="en-US" sz="2400" dirty="0"/>
              <a:t>Assume five-stage pipeline with forwarding to EX and RF bypassing support. Fill in the blanks such that the following sequence of instructions takes </a:t>
            </a:r>
            <a:r>
              <a:rPr lang="en-US" altLang="en-US" sz="2400" b="1" dirty="0"/>
              <a:t>exactly 16 cycles </a:t>
            </a:r>
            <a:r>
              <a:rPr lang="en-US" altLang="en-US" sz="2400" dirty="0"/>
              <a:t>to complete.</a:t>
            </a:r>
            <a:endParaRPr lang="en-US" altLang="en-US" sz="2000" dirty="0"/>
          </a:p>
        </p:txBody>
      </p:sp>
    </p:spTree>
    <p:extLst>
      <p:ext uri="{BB962C8B-B14F-4D97-AF65-F5344CB8AC3E}">
        <p14:creationId xmlns:p14="http://schemas.microsoft.com/office/powerpoint/2010/main" val="2824271235"/>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Pipeline</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32</a:t>
            </a:fld>
            <a:endParaRPr lang="en-US" altLang="en-US"/>
          </a:p>
        </p:txBody>
      </p:sp>
      <p:sp>
        <p:nvSpPr>
          <p:cNvPr id="6" name="Rectangle 3">
            <a:extLst>
              <a:ext uri="{FF2B5EF4-FFF2-40B4-BE49-F238E27FC236}">
                <a16:creationId xmlns:a16="http://schemas.microsoft.com/office/drawing/2014/main" id="{11E3DC0C-D0BD-4FC3-B4D7-5CFD4A467781}"/>
              </a:ext>
            </a:extLst>
          </p:cNvPr>
          <p:cNvSpPr txBox="1">
            <a:spLocks noChangeArrowheads="1"/>
          </p:cNvSpPr>
          <p:nvPr/>
        </p:nvSpPr>
        <p:spPr bwMode="auto">
          <a:xfrm>
            <a:off x="2743200" y="1371600"/>
            <a:ext cx="3657600" cy="219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r>
              <a:rPr lang="en-US" altLang="en-US" sz="1400" b="1" dirty="0">
                <a:latin typeface="Courier New" panose="02070309020205020404" pitchFamily="49" charset="0"/>
                <a:cs typeface="Courier New" panose="02070309020205020404" pitchFamily="49" charset="0"/>
              </a:rPr>
              <a:t>L1:	sub	$s4, $s2, $s3</a:t>
            </a:r>
          </a:p>
          <a:p>
            <a:pPr marL="0" indent="0">
              <a:buFont typeface="Arial" charset="0"/>
              <a:buNone/>
            </a:pPr>
            <a:r>
              <a:rPr lang="en-US" altLang="en-US" sz="1400" b="1" dirty="0">
                <a:latin typeface="Courier New" panose="02070309020205020404" pitchFamily="49" charset="0"/>
                <a:cs typeface="Courier New" panose="02070309020205020404" pitchFamily="49" charset="0"/>
              </a:rPr>
              <a:t>L2:	</a:t>
            </a:r>
            <a:r>
              <a:rPr lang="en-US" altLang="en-US" sz="1400" b="1" dirty="0" err="1">
                <a:latin typeface="Courier New" panose="02070309020205020404" pitchFamily="49" charset="0"/>
                <a:cs typeface="Courier New" panose="02070309020205020404" pitchFamily="49" charset="0"/>
              </a:rPr>
              <a:t>sw</a:t>
            </a:r>
            <a:r>
              <a:rPr lang="en-US" altLang="en-US" sz="1400" b="1" dirty="0">
                <a:latin typeface="Courier New" panose="02070309020205020404" pitchFamily="49" charset="0"/>
                <a:cs typeface="Courier New" panose="02070309020205020404" pitchFamily="49" charset="0"/>
              </a:rPr>
              <a:t>	$s2, 8($s1)</a:t>
            </a:r>
          </a:p>
          <a:p>
            <a:pPr marL="0" indent="0">
              <a:buFont typeface="Arial" charset="0"/>
              <a:buNone/>
            </a:pPr>
            <a:r>
              <a:rPr lang="en-US" altLang="en-US" sz="1400" b="1" dirty="0">
                <a:latin typeface="Courier New" panose="02070309020205020404" pitchFamily="49" charset="0"/>
                <a:cs typeface="Courier New" panose="02070309020205020404" pitchFamily="49" charset="0"/>
              </a:rPr>
              <a:t>L3:	</a:t>
            </a:r>
            <a:r>
              <a:rPr lang="en-US" altLang="en-US" sz="1400" b="1" u="sng" dirty="0" err="1">
                <a:solidFill>
                  <a:schemeClr val="accent6">
                    <a:lumMod val="75000"/>
                  </a:schemeClr>
                </a:solidFill>
                <a:latin typeface="Courier New" panose="02070309020205020404" pitchFamily="49" charset="0"/>
                <a:cs typeface="Courier New" panose="02070309020205020404" pitchFamily="49" charset="0"/>
              </a:rPr>
              <a:t>lw</a:t>
            </a:r>
            <a:r>
              <a:rPr lang="en-US" altLang="en-US" sz="1400" b="1" dirty="0">
                <a:latin typeface="Courier New" panose="02070309020205020404" pitchFamily="49" charset="0"/>
                <a:cs typeface="Courier New" panose="02070309020205020404" pitchFamily="49" charset="0"/>
              </a:rPr>
              <a:t>	$s2, 0($s4)</a:t>
            </a:r>
          </a:p>
          <a:p>
            <a:pPr marL="0" indent="0">
              <a:buFont typeface="Arial" charset="0"/>
              <a:buNone/>
            </a:pPr>
            <a:r>
              <a:rPr lang="en-US" altLang="en-US" sz="1400" b="1" dirty="0">
                <a:latin typeface="Courier New" panose="02070309020205020404" pitchFamily="49" charset="0"/>
                <a:cs typeface="Courier New" panose="02070309020205020404" pitchFamily="49" charset="0"/>
              </a:rPr>
              <a:t>L4:	</a:t>
            </a:r>
            <a:r>
              <a:rPr lang="en-US" altLang="en-US" sz="1400" b="1" dirty="0" err="1">
                <a:latin typeface="Courier New" panose="02070309020205020404" pitchFamily="49" charset="0"/>
                <a:cs typeface="Courier New" panose="02070309020205020404" pitchFamily="49" charset="0"/>
              </a:rPr>
              <a:t>lw</a:t>
            </a:r>
            <a:r>
              <a:rPr lang="en-US" altLang="en-US" sz="1400" b="1" dirty="0">
                <a:latin typeface="Courier New" panose="02070309020205020404" pitchFamily="49" charset="0"/>
                <a:cs typeface="Courier New" panose="02070309020205020404" pitchFamily="49" charset="0"/>
              </a:rPr>
              <a:t>	</a:t>
            </a:r>
            <a:r>
              <a:rPr lang="en-US" altLang="en-US" sz="1400" b="1" u="sng" dirty="0">
                <a:solidFill>
                  <a:schemeClr val="accent6">
                    <a:lumMod val="75000"/>
                  </a:schemeClr>
                </a:solidFill>
                <a:latin typeface="Courier New" panose="02070309020205020404" pitchFamily="49" charset="0"/>
                <a:cs typeface="Courier New" panose="02070309020205020404" pitchFamily="49" charset="0"/>
              </a:rPr>
              <a:t>$s5</a:t>
            </a:r>
            <a:r>
              <a:rPr lang="en-US" altLang="en-US" sz="1400" b="1" dirty="0">
                <a:latin typeface="Courier New" panose="02070309020205020404" pitchFamily="49" charset="0"/>
                <a:cs typeface="Courier New" panose="02070309020205020404" pitchFamily="49" charset="0"/>
              </a:rPr>
              <a:t>, 4(</a:t>
            </a:r>
            <a:r>
              <a:rPr lang="en-US" altLang="en-US" sz="1400" b="1" u="sng" dirty="0">
                <a:solidFill>
                  <a:schemeClr val="accent6">
                    <a:lumMod val="75000"/>
                  </a:schemeClr>
                </a:solidFill>
                <a:latin typeface="Courier New" panose="02070309020205020404" pitchFamily="49" charset="0"/>
                <a:cs typeface="Courier New" panose="02070309020205020404" pitchFamily="49" charset="0"/>
              </a:rPr>
              <a:t>$s2</a:t>
            </a:r>
            <a:r>
              <a:rPr lang="en-US" altLang="en-US" sz="1400" b="1" dirty="0">
                <a:latin typeface="Courier New" panose="02070309020205020404" pitchFamily="49" charset="0"/>
                <a:cs typeface="Courier New" panose="02070309020205020404" pitchFamily="49" charset="0"/>
              </a:rPr>
              <a:t>)</a:t>
            </a:r>
          </a:p>
          <a:p>
            <a:pPr marL="0" indent="0">
              <a:buFont typeface="Arial" charset="0"/>
              <a:buNone/>
            </a:pPr>
            <a:r>
              <a:rPr lang="en-US" altLang="en-US" sz="1400" b="1" dirty="0">
                <a:latin typeface="Courier New" panose="02070309020205020404" pitchFamily="49" charset="0"/>
                <a:cs typeface="Courier New" panose="02070309020205020404" pitchFamily="49" charset="0"/>
              </a:rPr>
              <a:t>L5:	add	$s1, $zero, $s5</a:t>
            </a:r>
          </a:p>
          <a:p>
            <a:pPr marL="0" indent="0">
              <a:buFont typeface="Arial" charset="0"/>
              <a:buNone/>
            </a:pPr>
            <a:r>
              <a:rPr lang="en-US" altLang="en-US" sz="1400" b="1" dirty="0">
                <a:latin typeface="Courier New" panose="02070309020205020404" pitchFamily="49" charset="0"/>
                <a:cs typeface="Courier New" panose="02070309020205020404" pitchFamily="49" charset="0"/>
              </a:rPr>
              <a:t>L6:	</a:t>
            </a:r>
            <a:r>
              <a:rPr lang="en-US" altLang="en-US" sz="1400" b="1" dirty="0" err="1">
                <a:latin typeface="Courier New" panose="02070309020205020404" pitchFamily="49" charset="0"/>
                <a:cs typeface="Courier New" panose="02070309020205020404" pitchFamily="49" charset="0"/>
              </a:rPr>
              <a:t>lw</a:t>
            </a:r>
            <a:r>
              <a:rPr lang="en-US" altLang="en-US" sz="1400" b="1" dirty="0">
                <a:latin typeface="Courier New" panose="02070309020205020404" pitchFamily="49" charset="0"/>
                <a:cs typeface="Courier New" panose="02070309020205020404" pitchFamily="49" charset="0"/>
              </a:rPr>
              <a:t>	$s3, 0($s3)</a:t>
            </a:r>
          </a:p>
          <a:p>
            <a:pPr marL="0" indent="0">
              <a:buFont typeface="Arial" charset="0"/>
              <a:buNone/>
            </a:pPr>
            <a:r>
              <a:rPr lang="en-US" altLang="en-US" sz="1400" b="1" dirty="0">
                <a:latin typeface="Courier New" panose="02070309020205020404" pitchFamily="49" charset="0"/>
                <a:cs typeface="Courier New" panose="02070309020205020404" pitchFamily="49" charset="0"/>
              </a:rPr>
              <a:t>L7:	</a:t>
            </a:r>
            <a:r>
              <a:rPr lang="en-US" altLang="en-US" sz="1400" b="1" u="sng" dirty="0" err="1">
                <a:solidFill>
                  <a:schemeClr val="accent6">
                    <a:lumMod val="75000"/>
                  </a:schemeClr>
                </a:solidFill>
                <a:latin typeface="Courier New" panose="02070309020205020404" pitchFamily="49" charset="0"/>
                <a:cs typeface="Courier New" panose="02070309020205020404" pitchFamily="49" charset="0"/>
              </a:rPr>
              <a:t>lw</a:t>
            </a:r>
            <a:r>
              <a:rPr lang="en-US" altLang="en-US" sz="1400" b="1" dirty="0">
                <a:latin typeface="Courier New" panose="02070309020205020404" pitchFamily="49" charset="0"/>
                <a:cs typeface="Courier New" panose="02070309020205020404" pitchFamily="49" charset="0"/>
              </a:rPr>
              <a:t>	$s1, 0($s3)</a:t>
            </a:r>
          </a:p>
          <a:p>
            <a:pPr marL="0" indent="0">
              <a:buFont typeface="Arial" charset="0"/>
              <a:buNone/>
            </a:pPr>
            <a:r>
              <a:rPr lang="en-US" altLang="en-US" sz="1400" b="1" dirty="0">
                <a:latin typeface="Courier New" panose="02070309020205020404" pitchFamily="49" charset="0"/>
                <a:cs typeface="Courier New" panose="02070309020205020404" pitchFamily="49" charset="0"/>
              </a:rPr>
              <a:t>L8:	add	$s2, $s1, $s2</a:t>
            </a:r>
            <a:endParaRPr lang="en-US" altLang="en-US" sz="1200" b="1" dirty="0">
              <a:latin typeface="Courier New" panose="02070309020205020404" pitchFamily="49" charset="0"/>
              <a:cs typeface="Courier New" panose="02070309020205020404" pitchFamily="49" charset="0"/>
            </a:endParaRPr>
          </a:p>
        </p:txBody>
      </p:sp>
      <p:graphicFrame>
        <p:nvGraphicFramePr>
          <p:cNvPr id="3" name="Group 4">
            <a:extLst>
              <a:ext uri="{FF2B5EF4-FFF2-40B4-BE49-F238E27FC236}">
                <a16:creationId xmlns:a16="http://schemas.microsoft.com/office/drawing/2014/main" id="{404E3C18-55C0-D247-66E3-A609C32DA7B8}"/>
              </a:ext>
            </a:extLst>
          </p:cNvPr>
          <p:cNvGraphicFramePr>
            <a:graphicFrameLocks noGrp="1"/>
          </p:cNvGraphicFramePr>
          <p:nvPr>
            <p:extLst>
              <p:ext uri="{D42A27DB-BD31-4B8C-83A1-F6EECF244321}">
                <p14:modId xmlns:p14="http://schemas.microsoft.com/office/powerpoint/2010/main" val="4196980498"/>
              </p:ext>
            </p:extLst>
          </p:nvPr>
        </p:nvGraphicFramePr>
        <p:xfrm>
          <a:off x="364342" y="3657600"/>
          <a:ext cx="8415318" cy="2727798"/>
        </p:xfrm>
        <a:graphic>
          <a:graphicData uri="http://schemas.openxmlformats.org/drawingml/2006/table">
            <a:tbl>
              <a:tblPr/>
              <a:tblGrid>
                <a:gridCol w="1958742">
                  <a:extLst>
                    <a:ext uri="{9D8B030D-6E8A-4147-A177-3AD203B41FA5}">
                      <a16:colId xmlns:a16="http://schemas.microsoft.com/office/drawing/2014/main" val="20000"/>
                    </a:ext>
                  </a:extLst>
                </a:gridCol>
                <a:gridCol w="403536">
                  <a:extLst>
                    <a:ext uri="{9D8B030D-6E8A-4147-A177-3AD203B41FA5}">
                      <a16:colId xmlns:a16="http://schemas.microsoft.com/office/drawing/2014/main" val="20001"/>
                    </a:ext>
                  </a:extLst>
                </a:gridCol>
                <a:gridCol w="403536">
                  <a:extLst>
                    <a:ext uri="{9D8B030D-6E8A-4147-A177-3AD203B41FA5}">
                      <a16:colId xmlns:a16="http://schemas.microsoft.com/office/drawing/2014/main" val="20002"/>
                    </a:ext>
                  </a:extLst>
                </a:gridCol>
                <a:gridCol w="403536">
                  <a:extLst>
                    <a:ext uri="{9D8B030D-6E8A-4147-A177-3AD203B41FA5}">
                      <a16:colId xmlns:a16="http://schemas.microsoft.com/office/drawing/2014/main" val="20003"/>
                    </a:ext>
                  </a:extLst>
                </a:gridCol>
                <a:gridCol w="403536">
                  <a:extLst>
                    <a:ext uri="{9D8B030D-6E8A-4147-A177-3AD203B41FA5}">
                      <a16:colId xmlns:a16="http://schemas.microsoft.com/office/drawing/2014/main" val="20004"/>
                    </a:ext>
                  </a:extLst>
                </a:gridCol>
                <a:gridCol w="403536">
                  <a:extLst>
                    <a:ext uri="{9D8B030D-6E8A-4147-A177-3AD203B41FA5}">
                      <a16:colId xmlns:a16="http://schemas.microsoft.com/office/drawing/2014/main" val="20005"/>
                    </a:ext>
                  </a:extLst>
                </a:gridCol>
                <a:gridCol w="403536">
                  <a:extLst>
                    <a:ext uri="{9D8B030D-6E8A-4147-A177-3AD203B41FA5}">
                      <a16:colId xmlns:a16="http://schemas.microsoft.com/office/drawing/2014/main" val="20006"/>
                    </a:ext>
                  </a:extLst>
                </a:gridCol>
                <a:gridCol w="403536">
                  <a:extLst>
                    <a:ext uri="{9D8B030D-6E8A-4147-A177-3AD203B41FA5}">
                      <a16:colId xmlns:a16="http://schemas.microsoft.com/office/drawing/2014/main" val="20007"/>
                    </a:ext>
                  </a:extLst>
                </a:gridCol>
                <a:gridCol w="403536">
                  <a:extLst>
                    <a:ext uri="{9D8B030D-6E8A-4147-A177-3AD203B41FA5}">
                      <a16:colId xmlns:a16="http://schemas.microsoft.com/office/drawing/2014/main" val="369226169"/>
                    </a:ext>
                  </a:extLst>
                </a:gridCol>
                <a:gridCol w="403536">
                  <a:extLst>
                    <a:ext uri="{9D8B030D-6E8A-4147-A177-3AD203B41FA5}">
                      <a16:colId xmlns:a16="http://schemas.microsoft.com/office/drawing/2014/main" val="4042748305"/>
                    </a:ext>
                  </a:extLst>
                </a:gridCol>
                <a:gridCol w="403536">
                  <a:extLst>
                    <a:ext uri="{9D8B030D-6E8A-4147-A177-3AD203B41FA5}">
                      <a16:colId xmlns:a16="http://schemas.microsoft.com/office/drawing/2014/main" val="2993349647"/>
                    </a:ext>
                  </a:extLst>
                </a:gridCol>
                <a:gridCol w="403536">
                  <a:extLst>
                    <a:ext uri="{9D8B030D-6E8A-4147-A177-3AD203B41FA5}">
                      <a16:colId xmlns:a16="http://schemas.microsoft.com/office/drawing/2014/main" val="671298943"/>
                    </a:ext>
                  </a:extLst>
                </a:gridCol>
                <a:gridCol w="403536">
                  <a:extLst>
                    <a:ext uri="{9D8B030D-6E8A-4147-A177-3AD203B41FA5}">
                      <a16:colId xmlns:a16="http://schemas.microsoft.com/office/drawing/2014/main" val="1975366508"/>
                    </a:ext>
                  </a:extLst>
                </a:gridCol>
                <a:gridCol w="403536">
                  <a:extLst>
                    <a:ext uri="{9D8B030D-6E8A-4147-A177-3AD203B41FA5}">
                      <a16:colId xmlns:a16="http://schemas.microsoft.com/office/drawing/2014/main" val="4242332300"/>
                    </a:ext>
                  </a:extLst>
                </a:gridCol>
                <a:gridCol w="403536">
                  <a:extLst>
                    <a:ext uri="{9D8B030D-6E8A-4147-A177-3AD203B41FA5}">
                      <a16:colId xmlns:a16="http://schemas.microsoft.com/office/drawing/2014/main" val="2346271294"/>
                    </a:ext>
                  </a:extLst>
                </a:gridCol>
                <a:gridCol w="403536">
                  <a:extLst>
                    <a:ext uri="{9D8B030D-6E8A-4147-A177-3AD203B41FA5}">
                      <a16:colId xmlns:a16="http://schemas.microsoft.com/office/drawing/2014/main" val="4152000342"/>
                    </a:ext>
                  </a:extLst>
                </a:gridCol>
                <a:gridCol w="403536">
                  <a:extLst>
                    <a:ext uri="{9D8B030D-6E8A-4147-A177-3AD203B41FA5}">
                      <a16:colId xmlns:a16="http://schemas.microsoft.com/office/drawing/2014/main" val="20013"/>
                    </a:ext>
                  </a:extLst>
                </a:gridCol>
              </a:tblGrid>
              <a:tr h="253184">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1" i="0" u="none" strike="noStrike" cap="none" normalizeH="0" baseline="0" dirty="0" err="1">
                          <a:ln>
                            <a:noFill/>
                          </a:ln>
                          <a:solidFill>
                            <a:schemeClr val="tx1"/>
                          </a:solidFill>
                          <a:effectLst/>
                          <a:latin typeface="Times New Roman" pitchFamily="18" charset="0"/>
                        </a:rPr>
                        <a:t>insn</a:t>
                      </a:r>
                      <a:r>
                        <a:rPr kumimoji="0" lang="en-US" sz="1600" b="1" i="0" u="none" strike="noStrike" cap="none" normalizeH="0" baseline="0" dirty="0">
                          <a:ln>
                            <a:noFill/>
                          </a:ln>
                          <a:solidFill>
                            <a:schemeClr val="tx1"/>
                          </a:solidFill>
                          <a:effectLst/>
                          <a:latin typeface="Times New Roman" pitchFamily="18" charset="0"/>
                        </a:rPr>
                        <a:t>\cycle</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1" i="0" u="none" strike="noStrike" cap="none" normalizeH="0" baseline="0" dirty="0">
                          <a:ln>
                            <a:noFill/>
                          </a:ln>
                          <a:solidFill>
                            <a:schemeClr val="tx1"/>
                          </a:solidFill>
                          <a:effectLst/>
                          <a:latin typeface="Times New Roman" pitchFamily="18" charset="0"/>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1" i="0" u="none" strike="noStrike" cap="none" normalizeH="0" baseline="0" dirty="0">
                          <a:ln>
                            <a:noFill/>
                          </a:ln>
                          <a:solidFill>
                            <a:schemeClr val="tx1"/>
                          </a:solidFill>
                          <a:effectLst/>
                          <a:latin typeface="Times New Roman" pitchFamily="18" charset="0"/>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1" i="0" u="none" strike="noStrike" cap="none" normalizeH="0" baseline="0" dirty="0">
                          <a:ln>
                            <a:noFill/>
                          </a:ln>
                          <a:solidFill>
                            <a:schemeClr val="tx1"/>
                          </a:solidFill>
                          <a:effectLst/>
                          <a:latin typeface="Times New Roman" pitchFamily="18" charset="0"/>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1" i="0" u="none" strike="noStrike" cap="none" normalizeH="0" baseline="0" dirty="0">
                          <a:ln>
                            <a:noFill/>
                          </a:ln>
                          <a:solidFill>
                            <a:schemeClr val="tx1"/>
                          </a:solidFill>
                          <a:effectLst/>
                          <a:latin typeface="Times New Roman" pitchFamily="18" charset="0"/>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1" i="0" u="none" strike="noStrike" cap="none" normalizeH="0" baseline="0" dirty="0">
                          <a:ln>
                            <a:noFill/>
                          </a:ln>
                          <a:solidFill>
                            <a:schemeClr val="tx1"/>
                          </a:solidFill>
                          <a:effectLst/>
                          <a:latin typeface="Times New Roman" pitchFamily="18" charset="0"/>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1" i="0" u="none" strike="noStrike" cap="none" normalizeH="0" baseline="0" dirty="0">
                          <a:ln>
                            <a:noFill/>
                          </a:ln>
                          <a:solidFill>
                            <a:schemeClr val="tx1"/>
                          </a:solidFill>
                          <a:effectLst/>
                          <a:latin typeface="Times New Roman" pitchFamily="18" charset="0"/>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1" i="0" u="none" strike="noStrike" cap="none" normalizeH="0" baseline="0" dirty="0">
                          <a:ln>
                            <a:noFill/>
                          </a:ln>
                          <a:solidFill>
                            <a:schemeClr val="tx1"/>
                          </a:solidFill>
                          <a:effectLst/>
                          <a:latin typeface="Times New Roman" pitchFamily="18" charset="0"/>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1" i="0" u="none" strike="noStrike" cap="none" normalizeH="0" baseline="0" dirty="0">
                          <a:ln>
                            <a:noFill/>
                          </a:ln>
                          <a:solidFill>
                            <a:schemeClr val="tx1"/>
                          </a:solidFill>
                          <a:effectLst/>
                          <a:latin typeface="Times New Roman" pitchFamily="18" charset="0"/>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1" i="0" u="none" strike="noStrike" cap="none" normalizeH="0" baseline="0" dirty="0">
                          <a:ln>
                            <a:noFill/>
                          </a:ln>
                          <a:solidFill>
                            <a:schemeClr val="tx1"/>
                          </a:solidFill>
                          <a:effectLst/>
                          <a:latin typeface="Times New Roman" pitchFamily="18" charset="0"/>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1" i="0" u="none" strike="noStrike" cap="none" normalizeH="0" baseline="0" dirty="0">
                          <a:ln>
                            <a:noFill/>
                          </a:ln>
                          <a:solidFill>
                            <a:schemeClr val="tx1"/>
                          </a:solidFill>
                          <a:effectLst/>
                          <a:latin typeface="Times New Roman" pitchFamily="18" charset="0"/>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1" i="0" u="none" strike="noStrike" cap="none" normalizeH="0" baseline="0" dirty="0">
                          <a:ln>
                            <a:noFill/>
                          </a:ln>
                          <a:solidFill>
                            <a:schemeClr val="tx1"/>
                          </a:solidFill>
                          <a:effectLst/>
                          <a:latin typeface="Times New Roman" pitchFamily="18" charset="0"/>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1" i="0" u="none" strike="noStrike" cap="none" normalizeH="0" baseline="0" dirty="0">
                          <a:ln>
                            <a:noFill/>
                          </a:ln>
                          <a:solidFill>
                            <a:schemeClr val="tx1"/>
                          </a:solidFill>
                          <a:effectLst/>
                          <a:latin typeface="Times New Roman" pitchFamily="18" charset="0"/>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1" i="0" u="none" strike="noStrike" cap="none" normalizeH="0" baseline="0" dirty="0">
                          <a:ln>
                            <a:noFill/>
                          </a:ln>
                          <a:solidFill>
                            <a:schemeClr val="tx1"/>
                          </a:solidFill>
                          <a:effectLst/>
                          <a:latin typeface="Times New Roman" pitchFamily="18" charset="0"/>
                        </a:rPr>
                        <a:t>13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1" i="0" u="none" strike="noStrike" cap="none" normalizeH="0" baseline="0" dirty="0">
                          <a:ln>
                            <a:noFill/>
                          </a:ln>
                          <a:solidFill>
                            <a:schemeClr val="tx1"/>
                          </a:solidFill>
                          <a:effectLst/>
                          <a:latin typeface="Times New Roman" pitchFamily="18" charset="0"/>
                        </a:rPr>
                        <a:t>14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1" i="0" u="none" strike="noStrike" cap="none" normalizeH="0" baseline="0" dirty="0">
                          <a:ln>
                            <a:noFill/>
                          </a:ln>
                          <a:solidFill>
                            <a:schemeClr val="tx1"/>
                          </a:solidFill>
                          <a:effectLst/>
                          <a:latin typeface="Times New Roman" pitchFamily="18" charset="0"/>
                        </a:rPr>
                        <a:t>15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1" i="0" u="none" strike="noStrike" cap="none" normalizeH="0" baseline="0" dirty="0">
                          <a:ln>
                            <a:noFill/>
                          </a:ln>
                          <a:solidFill>
                            <a:schemeClr val="tx1"/>
                          </a:solidFill>
                          <a:effectLst/>
                          <a:latin typeface="Times New Roman" pitchFamily="18" charset="0"/>
                        </a:rPr>
                        <a:t>16</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rPr>
                        <a:t>L1</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r h="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rPr>
                        <a:t>L2</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2"/>
                  </a:ext>
                </a:extLst>
              </a:tr>
              <a:tr h="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rPr>
                        <a:t>L3</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3928612299"/>
                  </a:ext>
                </a:extLst>
              </a:tr>
              <a:tr h="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rPr>
                        <a:t>L4</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958570223"/>
                  </a:ext>
                </a:extLst>
              </a:tr>
              <a:tr h="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rPr>
                        <a:t>L5</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2157673970"/>
                  </a:ext>
                </a:extLst>
              </a:tr>
              <a:tr h="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rPr>
                        <a:t>L6</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2741805181"/>
                  </a:ext>
                </a:extLst>
              </a:tr>
              <a:tr h="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rPr>
                        <a:t>L7</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r>
                        <a:rPr lang="en-US" sz="1400" b="0" dirty="0">
                          <a:solidFill>
                            <a:schemeClr val="tx1"/>
                          </a:solidFill>
                          <a:latin typeface="Times New Roman" panose="02020603050405020304" pitchFamily="18" charset="0"/>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405197162"/>
                  </a:ext>
                </a:extLst>
              </a:tr>
              <a:tr h="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rPr>
                        <a:t>L8</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400" b="0" dirty="0">
                        <a:solidFill>
                          <a:schemeClr val="tx1"/>
                        </a:solidFill>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596446267"/>
                  </a:ext>
                </a:extLst>
              </a:tr>
            </a:tbl>
          </a:graphicData>
        </a:graphic>
      </p:graphicFrame>
      <p:cxnSp>
        <p:nvCxnSpPr>
          <p:cNvPr id="4" name="Straight Arrow Connector 3">
            <a:extLst>
              <a:ext uri="{FF2B5EF4-FFF2-40B4-BE49-F238E27FC236}">
                <a16:creationId xmlns:a16="http://schemas.microsoft.com/office/drawing/2014/main" id="{46C2CB8D-6DD2-8975-27A6-0DCCB9A32621}"/>
              </a:ext>
            </a:extLst>
          </p:cNvPr>
          <p:cNvCxnSpPr/>
          <p:nvPr/>
        </p:nvCxnSpPr>
        <p:spPr>
          <a:xfrm>
            <a:off x="4800600" y="4775241"/>
            <a:ext cx="0" cy="274320"/>
          </a:xfrm>
          <a:prstGeom prst="straightConnector1">
            <a:avLst/>
          </a:prstGeom>
          <a:ln w="38100">
            <a:solidFill>
              <a:srgbClr val="FF0000"/>
            </a:solidFill>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65119B43-4F20-6094-B40C-901060183A14}"/>
              </a:ext>
            </a:extLst>
          </p:cNvPr>
          <p:cNvCxnSpPr/>
          <p:nvPr/>
        </p:nvCxnSpPr>
        <p:spPr>
          <a:xfrm>
            <a:off x="5605272" y="5049561"/>
            <a:ext cx="0" cy="274320"/>
          </a:xfrm>
          <a:prstGeom prst="straightConnector1">
            <a:avLst/>
          </a:prstGeom>
          <a:ln w="38100">
            <a:solidFill>
              <a:srgbClr val="FF0000"/>
            </a:solidFill>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A84E8FD5-CA93-4E19-1F28-1C9D7515A134}"/>
              </a:ext>
            </a:extLst>
          </p:cNvPr>
          <p:cNvCxnSpPr/>
          <p:nvPr/>
        </p:nvCxnSpPr>
        <p:spPr>
          <a:xfrm>
            <a:off x="6812280" y="5689641"/>
            <a:ext cx="0" cy="274320"/>
          </a:xfrm>
          <a:prstGeom prst="straightConnector1">
            <a:avLst/>
          </a:prstGeom>
          <a:ln w="38100">
            <a:solidFill>
              <a:srgbClr val="FF0000"/>
            </a:solidFill>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18E9667C-E98B-BCC0-3CEA-996B40B2618C}"/>
              </a:ext>
            </a:extLst>
          </p:cNvPr>
          <p:cNvCxnSpPr/>
          <p:nvPr/>
        </p:nvCxnSpPr>
        <p:spPr>
          <a:xfrm>
            <a:off x="7620000" y="5963961"/>
            <a:ext cx="0" cy="274320"/>
          </a:xfrm>
          <a:prstGeom prst="straightConnector1">
            <a:avLst/>
          </a:prstGeom>
          <a:ln w="38100">
            <a:solidFill>
              <a:srgbClr val="FF0000"/>
            </a:solidFill>
            <a:headEnd type="oval" w="sm" len="sm"/>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7928898"/>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92211-5096-0805-9DF0-A26F40D28B39}"/>
              </a:ext>
            </a:extLst>
          </p:cNvPr>
          <p:cNvSpPr>
            <a:spLocks noGrp="1"/>
          </p:cNvSpPr>
          <p:nvPr>
            <p:ph type="title"/>
          </p:nvPr>
        </p:nvSpPr>
        <p:spPr/>
        <p:txBody>
          <a:bodyPr/>
          <a:lstStyle/>
          <a:p>
            <a:r>
              <a:rPr lang="en-US" dirty="0"/>
              <a:t>Happy Studying!</a:t>
            </a:r>
          </a:p>
        </p:txBody>
      </p:sp>
      <p:sp>
        <p:nvSpPr>
          <p:cNvPr id="3" name="Content Placeholder 2">
            <a:extLst>
              <a:ext uri="{FF2B5EF4-FFF2-40B4-BE49-F238E27FC236}">
                <a16:creationId xmlns:a16="http://schemas.microsoft.com/office/drawing/2014/main" id="{11CBDD6A-C5F4-3EB1-E672-0DD4982660C6}"/>
              </a:ext>
            </a:extLst>
          </p:cNvPr>
          <p:cNvSpPr>
            <a:spLocks noGrp="1"/>
          </p:cNvSpPr>
          <p:nvPr>
            <p:ph idx="1"/>
          </p:nvPr>
        </p:nvSpPr>
        <p:spPr/>
        <p:txBody>
          <a:bodyPr/>
          <a:lstStyle/>
          <a:p>
            <a:r>
              <a:rPr lang="en-US" dirty="0"/>
              <a:t>Piazza</a:t>
            </a:r>
          </a:p>
          <a:p>
            <a:r>
              <a:rPr lang="en-US" dirty="0"/>
              <a:t>E-mail</a:t>
            </a:r>
          </a:p>
          <a:p>
            <a:r>
              <a:rPr lang="en-US" dirty="0"/>
              <a:t>Wednesday Discussion</a:t>
            </a:r>
          </a:p>
          <a:p>
            <a:pPr lvl="1"/>
            <a:r>
              <a:rPr lang="en-US" dirty="0"/>
              <a:t>3:30-4:30 PM in 209 Animal Science</a:t>
            </a:r>
          </a:p>
          <a:p>
            <a:r>
              <a:rPr lang="en-US" dirty="0"/>
              <a:t>Zoom (make an appointment!)</a:t>
            </a:r>
          </a:p>
        </p:txBody>
      </p:sp>
      <p:sp>
        <p:nvSpPr>
          <p:cNvPr id="4" name="Slide Number Placeholder 3">
            <a:extLst>
              <a:ext uri="{FF2B5EF4-FFF2-40B4-BE49-F238E27FC236}">
                <a16:creationId xmlns:a16="http://schemas.microsoft.com/office/drawing/2014/main" id="{EAFFF9E3-8B8F-0664-9299-A15FC01FFBE4}"/>
              </a:ext>
            </a:extLst>
          </p:cNvPr>
          <p:cNvSpPr>
            <a:spLocks noGrp="1"/>
          </p:cNvSpPr>
          <p:nvPr>
            <p:ph type="sldNum" sz="quarter" idx="12"/>
          </p:nvPr>
        </p:nvSpPr>
        <p:spPr/>
        <p:txBody>
          <a:bodyPr/>
          <a:lstStyle/>
          <a:p>
            <a:pPr lvl="1"/>
            <a:fld id="{35B60D93-CC8C-4BE3-8466-59E10CB9DAB3}" type="slidenum">
              <a:rPr lang="en-US" altLang="en-US" smtClean="0"/>
              <a:pPr lvl="1"/>
              <a:t>33</a:t>
            </a:fld>
            <a:endParaRPr lang="en-US" altLang="en-US">
              <a:latin typeface="Calibri" panose="020F0502020204030204" pitchFamily="34" charset="0"/>
            </a:endParaRPr>
          </a:p>
        </p:txBody>
      </p:sp>
    </p:spTree>
    <p:extLst>
      <p:ext uri="{BB962C8B-B14F-4D97-AF65-F5344CB8AC3E}">
        <p14:creationId xmlns:p14="http://schemas.microsoft.com/office/powerpoint/2010/main" val="1421740646"/>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11.0&quot;&gt;&lt;object type=&quot;1&quot; unique_id=&quot;10001&quot;&gt;&lt;object type=&quot;2&quot; unique_id=&quot;10002&quot;&gt;&lt;object type=&quot;3&quot; unique_id=&quot;16988&quot;&gt;&lt;property id=&quot;20148&quot; value=&quot;5&quot;/&gt;&lt;property id=&quot;20300&quot; value=&quot;Slide 1 - &amp;quot;ECE/CS 552: Midterm Review&amp;quot;&quot;/&gt;&lt;property id=&quot;20307&quot; value=&quot;495&quot;/&gt;&lt;/object&gt;&lt;object type=&quot;3&quot; unique_id=&quot;149784&quot;&gt;&lt;property id=&quot;20148&quot; value=&quot;5&quot;/&gt;&lt;property id=&quot;20300&quot; value=&quot;Slide 6 - &amp;quot;Register File Bypassing&amp;quot;&quot;/&gt;&lt;property id=&quot;20307&quot; value=&quot;594&quot;/&gt;&lt;/object&gt;&lt;object type=&quot;3&quot; unique_id=&quot;149785&quot;&gt;&lt;property id=&quot;20148&quot; value=&quot;5&quot;/&gt;&lt;property id=&quot;20300&quot; value=&quot;Slide 7 - &amp;quot;EX-to-EX Forwarding&amp;quot;&quot;/&gt;&lt;property id=&quot;20307&quot; value=&quot;688&quot;/&gt;&lt;/object&gt;&lt;object type=&quot;3&quot; unique_id=&quot;149786&quot;&gt;&lt;property id=&quot;20148&quot; value=&quot;5&quot;/&gt;&lt;property id=&quot;20300&quot; value=&quot;Slide 8 - &amp;quot;MEM-to-EX Forwarding&amp;quot;&quot;/&gt;&lt;property id=&quot;20307&quot; value=&quot;689&quot;/&gt;&lt;/object&gt;&lt;object type=&quot;3&quot; unique_id=&quot;149787&quot;&gt;&lt;property id=&quot;20148&quot; value=&quot;5&quot;/&gt;&lt;property id=&quot;20300&quot; value=&quot;Slide 9 - &amp;quot;MEM-to-EX Forwarding&amp;quot;&quot;/&gt;&lt;property id=&quot;20307&quot; value=&quot;690&quot;/&gt;&lt;/object&gt;&lt;object type=&quot;3&quot; unique_id=&quot;149788&quot;&gt;&lt;property id=&quot;20148&quot; value=&quot;5&quot;/&gt;&lt;property id=&quot;20300&quot; value=&quot;Slide 10 - &amp;quot;MEM-to-MEM Forwarding&amp;quot;&quot;/&gt;&lt;property id=&quot;20307&quot; value=&quot;691&quot;/&gt;&lt;/object&gt;&lt;object type=&quot;3&quot; unique_id=&quot;149789&quot;&gt;&lt;property id=&quot;20148&quot; value=&quot;5&quot;/&gt;&lt;property id=&quot;20300&quot; value=&quot;Slide 11 - &amp;quot;EX Forwarding to Branch in ID&amp;quot;&quot;/&gt;&lt;property id=&quot;20307&quot; value=&quot;692&quot;/&gt;&lt;/object&gt;&lt;object type=&quot;3&quot; unique_id=&quot;149790&quot;&gt;&lt;property id=&quot;20148&quot; value=&quot;5&quot;/&gt;&lt;property id=&quot;20300&quot; value=&quot;Slide 12 - &amp;quot;Register File Bypassing to Branch in ID&amp;quot;&quot;/&gt;&lt;property id=&quot;20307&quot; value=&quot;693&quot;/&gt;&lt;/object&gt;&lt;object type=&quot;3&quot; unique_id=&quot;149792&quot;&gt;&lt;property id=&quot;20148&quot; value=&quot;5&quot;/&gt;&lt;property id=&quot;20300&quot; value=&quot;Slide 13 - &amp;quot;Data Forwarding&amp;quot;&quot;/&gt;&lt;property id=&quot;20307&quot; value=&quot;663&quot;/&gt;&lt;/object&gt;&lt;object type=&quot;3&quot; unique_id=&quot;149793&quot;&gt;&lt;property id=&quot;20148&quot; value=&quot;5&quot;/&gt;&lt;property id=&quot;20300&quot; value=&quot;Slide 14 - &amp;quot;Data Forwarding&amp;quot;&quot;/&gt;&lt;property id=&quot;20307&quot; value=&quot;662&quot;/&gt;&lt;/object&gt;&lt;object type=&quot;3&quot; unique_id=&quot;149794&quot;&gt;&lt;property id=&quot;20148&quot; value=&quot;5&quot;/&gt;&lt;property id=&quot;20300&quot; value=&quot;Slide 15 - &amp;quot;Data Forwarding&amp;quot;&quot;/&gt;&lt;property id=&quot;20307&quot; value=&quot;661&quot;/&gt;&lt;/object&gt;&lt;object type=&quot;3&quot; unique_id=&quot;149795&quot;&gt;&lt;property id=&quot;20148&quot; value=&quot;5&quot;/&gt;&lt;property id=&quot;20300&quot; value=&quot;Slide 16 - &amp;quot;Data Forwarding&amp;quot;&quot;/&gt;&lt;property id=&quot;20307&quot; value=&quot;660&quot;/&gt;&lt;/object&gt;&lt;object type=&quot;3&quot; unique_id=&quot;149796&quot;&gt;&lt;property id=&quot;20148&quot; value=&quot;5&quot;/&gt;&lt;property id=&quot;20300&quot; value=&quot;Slide 17 - &amp;quot;Data Forwarding&amp;quot;&quot;/&gt;&lt;property id=&quot;20307&quot; value=&quot;659&quot;/&gt;&lt;/object&gt;&lt;object type=&quot;3&quot; unique_id=&quot;149797&quot;&gt;&lt;property id=&quot;20148&quot; value=&quot;5&quot;/&gt;&lt;property id=&quot;20300&quot; value=&quot;Slide 18 - &amp;quot;Data Forwarding&amp;quot;&quot;/&gt;&lt;property id=&quot;20307&quot; value=&quot;658&quot;/&gt;&lt;/object&gt;&lt;object type=&quot;3&quot; unique_id=&quot;149798&quot;&gt;&lt;property id=&quot;20148&quot; value=&quot;5&quot;/&gt;&lt;property id=&quot;20300&quot; value=&quot;Slide 19 - &amp;quot;Data Forwarding&amp;quot;&quot;/&gt;&lt;property id=&quot;20307&quot; value=&quot;656&quot;/&gt;&lt;/object&gt;&lt;object type=&quot;3&quot; unique_id=&quot;149799&quot;&gt;&lt;property id=&quot;20148&quot; value=&quot;5&quot;/&gt;&lt;property id=&quot;20300&quot; value=&quot;Slide 20 - &amp;quot;Five-Stage Pipeline&amp;quot;&quot;/&gt;&lt;property id=&quot;20307&quot; value=&quot;640&quot;/&gt;&lt;/object&gt;&lt;object type=&quot;3&quot; unique_id=&quot;149800&quot;&gt;&lt;property id=&quot;20148&quot; value=&quot;5&quot;/&gt;&lt;property id=&quot;20300&quot; value=&quot;Slide 21 - &amp;quot;Five-Stage Pipeline&amp;quot;&quot;/&gt;&lt;property id=&quot;20307&quot; value=&quot;641&quot;/&gt;&lt;/object&gt;&lt;object type=&quot;3&quot; unique_id=&quot;149801&quot;&gt;&lt;property id=&quot;20148&quot; value=&quot;5&quot;/&gt;&lt;property id=&quot;20300&quot; value=&quot;Slide 22 - &amp;quot;Five-Stage Pipeline&amp;quot;&quot;/&gt;&lt;property id=&quot;20307&quot; value=&quot;642&quot;/&gt;&lt;/object&gt;&lt;object type=&quot;3&quot; unique_id=&quot;149802&quot;&gt;&lt;property id=&quot;20148&quot; value=&quot;5&quot;/&gt;&lt;property id=&quot;20300&quot; value=&quot;Slide 23 - &amp;quot;Five-Stage Pipeline&amp;quot;&quot;/&gt;&lt;property id=&quot;20307&quot; value=&quot;643&quot;/&gt;&lt;/object&gt;&lt;object type=&quot;3&quot; unique_id=&quot;149803&quot;&gt;&lt;property id=&quot;20148&quot; value=&quot;5&quot;/&gt;&lt;property id=&quot;20300&quot; value=&quot;Slide 24 - &amp;quot;Five-Stage Pipeline&amp;quot;&quot;/&gt;&lt;property id=&quot;20307&quot; value=&quot;645&quot;/&gt;&lt;/object&gt;&lt;object type=&quot;3&quot; unique_id=&quot;149804&quot;&gt;&lt;property id=&quot;20148&quot; value=&quot;5&quot;/&gt;&lt;property id=&quot;20300&quot; value=&quot;Slide 25 - &amp;quot;Five-Stage Pipeline&amp;quot;&quot;/&gt;&lt;property id=&quot;20307&quot; value=&quot;644&quot;/&gt;&lt;/object&gt;&lt;object type=&quot;3&quot; unique_id=&quot;149805&quot;&gt;&lt;property id=&quot;20148&quot; value=&quot;5&quot;/&gt;&lt;property id=&quot;20300&quot; value=&quot;Slide 26 - &amp;quot;Five-Stage Pipeline&amp;quot;&quot;/&gt;&lt;property id=&quot;20307&quot; value=&quot;646&quot;/&gt;&lt;/object&gt;&lt;object type=&quot;3&quot; unique_id=&quot;149806&quot;&gt;&lt;property id=&quot;20148&quot; value=&quot;5&quot;/&gt;&lt;property id=&quot;20300&quot; value=&quot;Slide 27 - &amp;quot;Five-Stage Pipeline&amp;quot;&quot;/&gt;&lt;property id=&quot;20307&quot; value=&quot;647&quot;/&gt;&lt;/object&gt;&lt;object type=&quot;3&quot; unique_id=&quot;149807&quot;&gt;&lt;property id=&quot;20148&quot; value=&quot;5&quot;/&gt;&lt;property id=&quot;20300&quot; value=&quot;Slide 28 - &amp;quot;Five-Stage Pipeline&amp;quot;&quot;/&gt;&lt;property id=&quot;20307&quot; value=&quot;648&quot;/&gt;&lt;/object&gt;&lt;object type=&quot;3&quot; unique_id=&quot;149808&quot;&gt;&lt;property id=&quot;20148&quot; value=&quot;5&quot;/&gt;&lt;property id=&quot;20300&quot; value=&quot;Slide 29 - &amp;quot;Five-Stage Pipeline&amp;quot;&quot;/&gt;&lt;property id=&quot;20307&quot; value=&quot;649&quot;/&gt;&lt;/object&gt;&lt;object type=&quot;3&quot; unique_id=&quot;149809&quot;&gt;&lt;property id=&quot;20148&quot; value=&quot;5&quot;/&gt;&lt;property id=&quot;20300&quot; value=&quot;Slide 30 - &amp;quot;Five-Stage Pipeline&amp;quot;&quot;/&gt;&lt;property id=&quot;20307&quot; value=&quot;650&quot;/&gt;&lt;/object&gt;&lt;object type=&quot;3&quot; unique_id=&quot;149810&quot;&gt;&lt;property id=&quot;20148&quot; value=&quot;5&quot;/&gt;&lt;property id=&quot;20300&quot; value=&quot;Slide 31 - &amp;quot;Five-Stage Pipeline&amp;quot;&quot;/&gt;&lt;property id=&quot;20307&quot; value=&quot;651&quot;/&gt;&lt;/object&gt;&lt;object type=&quot;3&quot; unique_id=&quot;149811&quot;&gt;&lt;property id=&quot;20148&quot; value=&quot;5&quot;/&gt;&lt;property id=&quot;20300&quot; value=&quot;Slide 32 - &amp;quot;Five-Stage Pipeline&amp;quot;&quot;/&gt;&lt;property id=&quot;20307&quot; value=&quot;652&quot;/&gt;&lt;/object&gt;&lt;object type=&quot;3&quot; unique_id=&quot;149812&quot;&gt;&lt;property id=&quot;20148&quot; value=&quot;5&quot;/&gt;&lt;property id=&quot;20300&quot; value=&quot;Slide 33 - &amp;quot;Five-Stage Pipeline&amp;quot;&quot;/&gt;&lt;property id=&quot;20307&quot; value=&quot;653&quot;/&gt;&lt;/object&gt;&lt;object type=&quot;3&quot; unique_id=&quot;149813&quot;&gt;&lt;property id=&quot;20148&quot; value=&quot;5&quot;/&gt;&lt;property id=&quot;20300&quot; value=&quot;Slide 34 - &amp;quot;Five-Stage Pipeline&amp;quot;&quot;/&gt;&lt;property id=&quot;20307&quot; value=&quot;654&quot;/&gt;&lt;/object&gt;&lt;object type=&quot;3&quot; unique_id=&quot;149823&quot;&gt;&lt;property id=&quot;20148&quot; value=&quot;5&quot;/&gt;&lt;property id=&quot;20300&quot; value=&quot;Slide 42 - &amp;quot;Pipeline Data Hazards&amp;quot;&quot;/&gt;&lt;property id=&quot;20307&quot; value=&quot;679&quot;/&gt;&lt;/object&gt;&lt;object type=&quot;3&quot; unique_id=&quot;149824&quot;&gt;&lt;property id=&quot;20148&quot; value=&quot;5&quot;/&gt;&lt;property id=&quot;20300&quot; value=&quot;Slide 43 - &amp;quot;Pipeline Data Hazards&amp;quot;&quot;/&gt;&lt;property id=&quot;20307&quot; value=&quot;680&quot;/&gt;&lt;/object&gt;&lt;object type=&quot;3&quot; unique_id=&quot;149826&quot;&gt;&lt;property id=&quot;20148&quot; value=&quot;5&quot;/&gt;&lt;property id=&quot;20300&quot; value=&quot;Slide 44 - &amp;quot;Pipeline Data Hazards&amp;quot;&quot;/&gt;&lt;property id=&quot;20307&quot; value=&quot;682&quot;/&gt;&lt;/object&gt;&lt;object type=&quot;3&quot; unique_id=&quot;149827&quot;&gt;&lt;property id=&quot;20148&quot; value=&quot;5&quot;/&gt;&lt;property id=&quot;20300&quot; value=&quot;Slide 45 - &amp;quot;Pipeline Data Hazards&amp;quot;&quot;/&gt;&lt;property id=&quot;20307&quot; value=&quot;683&quot;/&gt;&lt;/object&gt;&lt;object type=&quot;3&quot; unique_id=&quot;149828&quot;&gt;&lt;property id=&quot;20148&quot; value=&quot;5&quot;/&gt;&lt;property id=&quot;20300&quot; value=&quot;Slide 46 - &amp;quot;Pipeline Data Hazards&amp;quot;&quot;/&gt;&lt;property id=&quot;20307&quot; value=&quot;684&quot;/&gt;&lt;/object&gt;&lt;object type=&quot;3&quot; unique_id=&quot;149829&quot;&gt;&lt;property id=&quot;20148&quot; value=&quot;5&quot;/&gt;&lt;property id=&quot;20300&quot; value=&quot;Slide 47 - &amp;quot;Pipeline Data Hazards&amp;quot;&quot;/&gt;&lt;property id=&quot;20307&quot; value=&quot;685&quot;/&gt;&lt;/object&gt;&lt;object type=&quot;3&quot; unique_id=&quot;149830&quot;&gt;&lt;property id=&quot;20148&quot; value=&quot;5&quot;/&gt;&lt;property id=&quot;20300&quot; value=&quot;Slide 48 - &amp;quot;Pipeline Data Hazards&amp;quot;&quot;/&gt;&lt;property id=&quot;20307&quot; value=&quot;686&quot;/&gt;&lt;/object&gt;&lt;object type=&quot;3&quot; unique_id=&quot;182949&quot;&gt;&lt;property id=&quot;20148&quot; value=&quot;5&quot;/&gt;&lt;property id=&quot;20300&quot; value=&quot;Slide 3 - &amp;quot;MIPS Instruction Formats&amp;quot;&quot;/&gt;&lt;property id=&quot;20307&quot; value=&quot;707&quot;/&gt;&lt;/object&gt;&lt;object type=&quot;3&quot; unique_id=&quot;182950&quot;&gt;&lt;property id=&quot;20148&quot; value=&quot;5&quot;/&gt;&lt;property id=&quot;20300&quot; value=&quot;Slide 4 - &amp;quot;MIPS Instruction Formats&amp;quot;&quot;/&gt;&lt;property id=&quot;20307&quot; value=&quot;708&quot;/&gt;&lt;/object&gt;&lt;object type=&quot;3&quot; unique_id=&quot;182951&quot;&gt;&lt;property id=&quot;20148&quot; value=&quot;5&quot;/&gt;&lt;property id=&quot;20300&quot; value=&quot;Slide 5 - &amp;quot;MIPS Instruction Formats&amp;quot;&quot;/&gt;&lt;property id=&quot;20307&quot; value=&quot;709&quot;/&gt;&lt;/object&gt;&lt;object type=&quot;3&quot; unique_id=&quot;183825&quot;&gt;&lt;property id=&quot;20148&quot; value=&quot;5&quot;/&gt;&lt;property id=&quot;20300&quot; value=&quot;Slide 2 - &amp;quot;Midterm&amp;quot;&quot;/&gt;&lt;property id=&quot;20307&quot; value=&quot;711&quot;/&gt;&lt;/object&gt;&lt;object type=&quot;3&quot; unique_id=&quot;185820&quot;&gt;&lt;property id=&quot;20148&quot; value=&quot;5&quot;/&gt;&lt;property id=&quot;20300&quot; value=&quot;Slide 35 - &amp;quot;Pipeline Diagrams&amp;quot;&quot;/&gt;&lt;property id=&quot;20307&quot; value=&quot;727&quot;/&gt;&lt;/object&gt;&lt;object type=&quot;3&quot; unique_id=&quot;185821&quot;&gt;&lt;property id=&quot;20148&quot; value=&quot;5&quot;/&gt;&lt;property id=&quot;20300&quot; value=&quot;Slide 36 - &amp;quot;Pipeline Diagrams&amp;quot;&quot;/&gt;&lt;property id=&quot;20307&quot; value=&quot;728&quot;/&gt;&lt;/object&gt;&lt;object type=&quot;3&quot; unique_id=&quot;185822&quot;&gt;&lt;property id=&quot;20148&quot; value=&quot;5&quot;/&gt;&lt;property id=&quot;20300&quot; value=&quot;Slide 37 - &amp;quot;Pipeline Diagrams&amp;quot;&quot;/&gt;&lt;property id=&quot;20307&quot; value=&quot;729&quot;/&gt;&lt;/object&gt;&lt;object type=&quot;3&quot; unique_id=&quot;185823&quot;&gt;&lt;property id=&quot;20148&quot; value=&quot;5&quot;/&gt;&lt;property id=&quot;20300&quot; value=&quot;Slide 38 - &amp;quot;Pipeline Diagrams&amp;quot;&quot;/&gt;&lt;property id=&quot;20307&quot; value=&quot;730&quot;/&gt;&lt;/object&gt;&lt;object type=&quot;3&quot; unique_id=&quot;185824&quot;&gt;&lt;property id=&quot;20148&quot; value=&quot;5&quot;/&gt;&lt;property id=&quot;20300&quot; value=&quot;Slide 39 - &amp;quot;Pipeline Diagrams&amp;quot;&quot;/&gt;&lt;property id=&quot;20307&quot; value=&quot;731&quot;/&gt;&lt;/object&gt;&lt;object type=&quot;3&quot; unique_id=&quot;185825&quot;&gt;&lt;property id=&quot;20148&quot; value=&quot;5&quot;/&gt;&lt;property id=&quot;20300&quot; value=&quot;Slide 40 - &amp;quot;Pipeline Diagrams&amp;quot;&quot;/&gt;&lt;property id=&quot;20307&quot; value=&quot;732&quot;/&gt;&lt;/object&gt;&lt;object type=&quot;3&quot; unique_id=&quot;185826&quot;&gt;&lt;property id=&quot;20148&quot; value=&quot;5&quot;/&gt;&lt;property id=&quot;20300&quot; value=&quot;Slide 41 - &amp;quot;Pipeline Diagrams&amp;quot;&quot;/&gt;&lt;property id=&quot;20307&quot; value=&quot;733&quot;/&gt;&lt;/object&gt;&lt;object type=&quot;3&quot; unique_id=&quot;185827&quot;&gt;&lt;property id=&quot;20148&quot; value=&quot;5&quot;/&gt;&lt;property id=&quot;20300&quot; value=&quot;Slide 49 - &amp;quot;Single-Cycle Datapath&amp;quot;&quot;/&gt;&lt;property id=&quot;20307&quot; value=&quot;712&quot;/&gt;&lt;/object&gt;&lt;object type=&quot;3&quot; unique_id=&quot;185828&quot;&gt;&lt;property id=&quot;20148&quot; value=&quot;5&quot;/&gt;&lt;property id=&quot;20300&quot; value=&quot;Slide 50 - &amp;quot;Single-Cycle Datapath&amp;quot;&quot;/&gt;&lt;property id=&quot;20307&quot; value=&quot;713&quot;/&gt;&lt;/object&gt;&lt;object type=&quot;3&quot; unique_id=&quot;185829&quot;&gt;&lt;property id=&quot;20148&quot; value=&quot;5&quot;/&gt;&lt;property id=&quot;20300&quot; value=&quot;Slide 51 - &amp;quot;Single-Cycle Datapath&amp;quot;&quot;/&gt;&lt;property id=&quot;20307&quot; value=&quot;714&quot;/&gt;&lt;/object&gt;&lt;object type=&quot;3&quot; unique_id=&quot;185830&quot;&gt;&lt;property id=&quot;20148&quot; value=&quot;5&quot;/&gt;&lt;property id=&quot;20300&quot; value=&quot;Slide 52 - &amp;quot;Single-Cycle Datapath&amp;quot;&quot;/&gt;&lt;property id=&quot;20307&quot; value=&quot;715&quot;/&gt;&lt;/object&gt;&lt;object type=&quot;3&quot; unique_id=&quot;185831&quot;&gt;&lt;property id=&quot;20148&quot; value=&quot;5&quot;/&gt;&lt;property id=&quot;20300&quot; value=&quot;Slide 53 - &amp;quot;Single-Cycle Datapath&amp;quot;&quot;/&gt;&lt;property id=&quot;20307&quot; value=&quot;716&quot;/&gt;&lt;/object&gt;&lt;object type=&quot;3&quot; unique_id=&quot;185832&quot;&gt;&lt;property id=&quot;20148&quot; value=&quot;5&quot;/&gt;&lt;property id=&quot;20300&quot; value=&quot;Slide 54 - &amp;quot;Single-Cycle Datapath&amp;quot;&quot;/&gt;&lt;property id=&quot;20307&quot; value=&quot;717&quot;/&gt;&lt;/object&gt;&lt;object type=&quot;3&quot; unique_id=&quot;185833&quot;&gt;&lt;property id=&quot;20148&quot; value=&quot;5&quot;/&gt;&lt;property id=&quot;20300&quot; value=&quot;Slide 55 - &amp;quot;Single-Cycle Datapath&amp;quot;&quot;/&gt;&lt;property id=&quot;20307&quot; value=&quot;718&quot;/&gt;&lt;/object&gt;&lt;object type=&quot;3&quot; unique_id=&quot;185834&quot;&gt;&lt;property id=&quot;20148&quot; value=&quot;5&quot;/&gt;&lt;property id=&quot;20300&quot; value=&quot;Slide 56 - &amp;quot;Single-Cycle Datapath&amp;quot;&quot;/&gt;&lt;property id=&quot;20307&quot; value=&quot;719&quot;/&gt;&lt;/object&gt;&lt;object type=&quot;3&quot; unique_id=&quot;185835&quot;&gt;&lt;property id=&quot;20148&quot; value=&quot;5&quot;/&gt;&lt;property id=&quot;20300&quot; value=&quot;Slide 57 - &amp;quot;Single-Cycle Datapath&amp;quot;&quot;/&gt;&lt;property id=&quot;20307&quot; value=&quot;720&quot;/&gt;&lt;/object&gt;&lt;/object&gt;&lt;object type=&quot;8&quot; unique_id=&quot;10130&quot;&gt;&lt;/object&gt;&lt;/object&gt;&lt;/database&gt;"/>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HTML_SHAPEINFO" val="&lt;SlideThumbPath val=&quot;Slide1.PNG&quot;/&gt;"/>
</p:tagLst>
</file>

<file path=ppt/tags/tag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Mikko\Documents\My Adobe Presentations\ece552_11_single_cycle_data_path\data\asimages\{E3AFC32C-7C80-409D-9683-585A6B54126A}_1.png&quot;/&gt;&lt;left val=&quot;28&quot;/&gt;&lt;top val=&quot;185&quot;/&gt;&lt;width val=&quot;663&quot;/&gt;&lt;height val=&quot;102&quot;/&gt;&lt;hasText val=&quot;1&quot;/&gt;&lt;/Image&gt;&lt;/ThreeDShapeInfo&gt;"/>
  <p:tag name="PRESENTER_SHAPETEXTINFO" val="&lt;ShapeTextInfo&gt;&lt;TableIndex row=&quot;-1&quot; col=&quot;-1&quot;&gt;&lt;linesCount val=&quot;1&quot;/&gt;&lt;lineCharCount val=&quot;33&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Mikko\Documents\My Adobe Presentations\ece552_11_single_cycle_data_path\data\asimages\{0B5429DC-A899-4958-8E8C-558FA501DC34}_1.png&quot;/&gt;&lt;left val=&quot;107&quot;/&gt;&lt;top val=&quot;297&quot;/&gt;&lt;width val=&quot;509&quot;/&gt;&lt;height val=&quot;146&quot;/&gt;&lt;hasText val=&quot;1&quot;/&gt;&lt;/Image&gt;&lt;/ThreeDShapeInfo&gt;"/>
  <p:tag name="PRESENTER_SHAPETEXTINFO" val="&lt;ShapeTextInfo&gt;&lt;TableIndex row=&quot;-1&quot; col=&quot;-1&quot;&gt;&lt;linesCount val=&quot;5&quot;/&gt;&lt;lineCharCount val=&quot;22&quot;/&gt;&lt;lineCharCount val=&quot;1&quot;/&gt;&lt;lineCharCount val=&quot;54&quot;/&gt;&lt;lineCharCount val=&quot;53&quot;/&gt;&lt;lineCharCount val=&quot;3&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HTML_SHAPEINFO" val="&lt;SlideThumbPath val=&quot;Slide9.PNG&quot;/&gt;"/>
</p:tagLst>
</file>

<file path=ppt/tags/tag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E8634392-5302-4986-BF70-548812BF03B3}_9.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5&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HTML_SHAPEINFO" val="&lt;TextEffect&gt;&lt;Image&gt;&lt;filename val=&quot;C:\Users\sanmi\Documents\My Adobe Presentations\ece552f2019-ControlHazards\data\asimages\{66382427-6577-4915-A22B-0FA080B8F6CC}_1.png_crop.png&quot;/&gt;&lt;left val=&quot;44&quot;/&gt;&lt;top val=&quot;124&quot;/&gt;&lt;width val=&quot;396&quot;/&gt;&lt;height val=&quot;19&quot;/&gt;&lt;hasText val=&quot;1&quot;/&gt;&lt;paraId val=&quot;1&quot;/&gt;&lt;/Image&gt;&lt;Image&gt;&lt;filename val=&quot;C:\Users\sanmi\Documents\My Adobe Presentations\ece552f2019-ControlHazards\data\asimages\{CB4AAE27-3544-4C50-B6A1-076E59C5E508}_1.png_crop.png&quot;/&gt;&lt;left val=&quot;78&quot;/&gt;&lt;top val=&quot;162&quot;/&gt;&lt;width val=&quot;590&quot;/&gt;&lt;height val=&quot;21&quot;/&gt;&lt;hasText val=&quot;1&quot;/&gt;&lt;paraId val=&quot;2&quot;/&gt;&lt;/Image&gt;&lt;Image&gt;&lt;filename val=&quot;C:\Users\sanmi\Documents\My Adobe Presentations\ece552f2019-ControlHazards\data\asimages\{B7EDC820-905B-4D5C-AC09-DF3EF177A80D}_1.png_crop.png&quot;/&gt;&lt;left val=&quot;78&quot;/&gt;&lt;top val=&quot;196&quot;/&gt;&lt;width val=&quot;523&quot;/&gt;&lt;height val=&quot;21&quot;/&gt;&lt;hasText val=&quot;1&quot;/&gt;&lt;paraId val=&quot;3&quot;/&gt;&lt;/Image&gt;&lt;/TextEffect&gt;"/>
  <p:tag name="PRESENTER_SHAPETEXTINFO" val="&lt;ShapeTextInfo&gt;&lt;TableIndex row=&quot;-1&quot; col=&quot;-1&quot;&gt;&lt;linesCount val=&quot;3&quot;/&gt;&lt;lineCharCount val=&quot;35&quot;/&gt;&lt;lineCharCount val=&quot;57&quot;/&gt;&lt;lineCharCount val=&quot;55&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ISAAdvanced\data\asimages\{172D6076-6265-49F8-BF76-C993FD66771B}_29.png&quot;/&gt;&lt;left val=&quot;152&quot;/&gt;&lt;top val=&quot;376&quot;/&gt;&lt;width val=&quot;176&quot;/&gt;&lt;height val=&quot;140&quot;/&gt;&lt;hasText val=&quot;1&quot;/&gt;&lt;/Image&gt;&lt;/ThreeDShapeInfo&gt;"/>
  <p:tag name="PRESENTER_SHAPETEXTINFO" val="&lt;ShapeTextInfo&gt;&lt;TableIndex row=&quot;1&quot; col=&quot;1&quot;&gt;&lt;linesCount val=&quot;1&quot;/&gt;&lt;lineCharCount val=&quot;13&quot;/&gt;&lt;/TableIndex&gt;&lt;TableIndex row=&quot;1&quot; col=&quot;2&quot;&gt;&lt;linesCount val=&quot;1&quot;/&gt;&lt;lineCharCount val=&quot;13&quot;/&gt;&lt;/TableIndex&gt;&lt;TableIndex row=&quot;2&quot; col=&quot;1&quot;&gt;&lt;linesCount val=&quot;1&quot;/&gt;&lt;lineCharCount val=&quot;7&quot;/&gt;&lt;/TableIndex&gt;&lt;TableIndex row=&quot;2&quot; col=&quot;2&quot;&gt;&lt;linesCount val=&quot;1&quot;/&gt;&lt;lineCharCount val=&quot;4&quot;/&gt;&lt;/TableIndex&gt;&lt;TableIndex row=&quot;3&quot; col=&quot;1&quot;&gt;&lt;linesCount val=&quot;1&quot;/&gt;&lt;lineCharCount val=&quot;7&quot;/&gt;&lt;/TableIndex&gt;&lt;TableIndex row=&quot;3&quot; col=&quot;2&quot;&gt;&lt;linesCount val=&quot;1&quot;/&gt;&lt;lineCharCount val=&quot;4&quot;/&gt;&lt;/TableIndex&gt;&lt;TableIndex row=&quot;4&quot; col=&quot;1&quot;&gt;&lt;linesCount val=&quot;1&quot;/&gt;&lt;lineCharCount val=&quot;7&quot;/&gt;&lt;/TableIndex&gt;&lt;TableIndex row=&quot;4&quot; col=&quot;2&quot;&gt;&lt;linesCount val=&quot;1&quot;/&gt;&lt;lineCharCount val=&quot;4&quot;/&gt;&lt;/TableIndex&gt;&lt;TableIndex row=&quot;5&quot; col=&quot;1&quot;&gt;&lt;linesCount val=&quot;1&quot;/&gt;&lt;lineCharCount val=&quot;7&quot;/&gt;&lt;/TableIndex&gt;&lt;TableIndex row=&quot;5&quot; col=&quot;2&quot;&gt;&lt;linesCount val=&quot;1&quot;/&gt;&lt;lineCharCount val=&quot;4&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ISAAdvanced\data\asimages\{172D6076-6265-49F8-BF76-C993FD66771B}_29.png&quot;/&gt;&lt;left val=&quot;152&quot;/&gt;&lt;top val=&quot;376&quot;/&gt;&lt;width val=&quot;176&quot;/&gt;&lt;height val=&quot;140&quot;/&gt;&lt;hasText val=&quot;1&quot;/&gt;&lt;/Image&gt;&lt;/ThreeDShapeInfo&gt;"/>
  <p:tag name="PRESENTER_SHAPETEXTINFO" val="&lt;ShapeTextInfo&gt;&lt;TableIndex row=&quot;1&quot; col=&quot;1&quot;&gt;&lt;linesCount val=&quot;1&quot;/&gt;&lt;lineCharCount val=&quot;13&quot;/&gt;&lt;/TableIndex&gt;&lt;TableIndex row=&quot;1&quot; col=&quot;2&quot;&gt;&lt;linesCount val=&quot;1&quot;/&gt;&lt;lineCharCount val=&quot;13&quot;/&gt;&lt;/TableIndex&gt;&lt;TableIndex row=&quot;2&quot; col=&quot;1&quot;&gt;&lt;linesCount val=&quot;1&quot;/&gt;&lt;lineCharCount val=&quot;7&quot;/&gt;&lt;/TableIndex&gt;&lt;TableIndex row=&quot;2&quot; col=&quot;2&quot;&gt;&lt;linesCount val=&quot;1&quot;/&gt;&lt;lineCharCount val=&quot;4&quot;/&gt;&lt;/TableIndex&gt;&lt;TableIndex row=&quot;3&quot; col=&quot;1&quot;&gt;&lt;linesCount val=&quot;1&quot;/&gt;&lt;lineCharCount val=&quot;7&quot;/&gt;&lt;/TableIndex&gt;&lt;TableIndex row=&quot;3&quot; col=&quot;2&quot;&gt;&lt;linesCount val=&quot;1&quot;/&gt;&lt;lineCharCount val=&quot;4&quot;/&gt;&lt;/TableIndex&gt;&lt;TableIndex row=&quot;4&quot; col=&quot;1&quot;&gt;&lt;linesCount val=&quot;1&quot;/&gt;&lt;lineCharCount val=&quot;7&quot;/&gt;&lt;/TableIndex&gt;&lt;TableIndex row=&quot;4&quot; col=&quot;2&quot;&gt;&lt;linesCount val=&quot;1&quot;/&gt;&lt;lineCharCount val=&quot;4&quot;/&gt;&lt;/TableIndex&gt;&lt;TableIndex row=&quot;5&quot; col=&quot;1&quot;&gt;&lt;linesCount val=&quot;1&quot;/&gt;&lt;lineCharCount val=&quot;7&quot;/&gt;&lt;/TableIndex&gt;&lt;TableIndex row=&quot;5&quot; col=&quot;2&quot;&gt;&lt;linesCount val=&quot;1&quot;/&gt;&lt;lineCharCount val=&quot;4&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ISAAdvanced\data\asimages\{4237D217-2F59-48A6-B12B-E4B1D5D485AC}_29.png&quot;/&gt;&lt;left val=&quot;375&quot;/&gt;&lt;top val=&quot;376&quot;/&gt;&lt;width val=&quot;176&quot;/&gt;&lt;height val=&quot;140&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0&quot;/&gt;&lt;/TableIndex&gt;&lt;TableIndex row=&quot;2&quot; col=&quot;1&quot;&gt;&lt;linesCount val=&quot;1&quot;/&gt;&lt;lineCharCount val=&quot;7&quot;/&gt;&lt;/TableIndex&gt;&lt;TableIndex row=&quot;2&quot; col=&quot;2&quot;&gt;&lt;linesCount val=&quot;1&quot;/&gt;&lt;lineCharCount val=&quot;4&quot;/&gt;&lt;/TableIndex&gt;&lt;TableIndex row=&quot;3&quot; col=&quot;1&quot;&gt;&lt;linesCount val=&quot;1&quot;/&gt;&lt;lineCharCount val=&quot;7&quot;/&gt;&lt;/TableIndex&gt;&lt;TableIndex row=&quot;3&quot; col=&quot;2&quot;&gt;&lt;linesCount val=&quot;1&quot;/&gt;&lt;lineCharCount val=&quot;4&quot;/&gt;&lt;/TableIndex&gt;&lt;TableIndex row=&quot;4&quot; col=&quot;1&quot;&gt;&lt;linesCount val=&quot;1&quot;/&gt;&lt;lineCharCount val=&quot;7&quot;/&gt;&lt;/TableIndex&gt;&lt;TableIndex row=&quot;4&quot; col=&quot;2&quot;&gt;&lt;linesCount val=&quot;1&quot;/&gt;&lt;lineCharCount val=&quot;4&quot;/&gt;&lt;/TableIndex&gt;&lt;TableIndex row=&quot;5&quot; col=&quot;1&quot;&gt;&lt;linesCount val=&quot;1&quot;/&gt;&lt;lineCharCount val=&quot;7&quot;/&gt;&lt;/TableIndex&gt;&lt;TableIndex row=&quot;5&quot; col=&quot;2&quot;&gt;&lt;linesCount val=&quot;1&quot;/&gt;&lt;lineCharCount val=&quot;4&quot;/&gt;&lt;/TableIndex&gt;&lt;/ShapeTextInfo&gt;"/>
</p:tagLst>
</file>

<file path=ppt/theme/theme1.xml><?xml version="1.0" encoding="utf-8"?>
<a:theme xmlns:a="http://schemas.openxmlformats.org/drawingml/2006/main" name="Lecture Notes 55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Lecture Notes 552</Template>
  <TotalTime>1192</TotalTime>
  <Words>2625</Words>
  <Application>Microsoft Macintosh PowerPoint</Application>
  <PresentationFormat>On-screen Show (4:3)</PresentationFormat>
  <Paragraphs>630</Paragraphs>
  <Slides>33</Slides>
  <Notes>8</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Calibri</vt:lpstr>
      <vt:lpstr>Consolas</vt:lpstr>
      <vt:lpstr>Courier New</vt:lpstr>
      <vt:lpstr>Times New Roman</vt:lpstr>
      <vt:lpstr>Wingdings</vt:lpstr>
      <vt:lpstr>Lecture Notes 552</vt:lpstr>
      <vt:lpstr>ECE/CS 552: Midterm Review</vt:lpstr>
      <vt:lpstr>Midterm</vt:lpstr>
      <vt:lpstr>First Page of Midterm</vt:lpstr>
      <vt:lpstr>PowerPoint Presentation</vt:lpstr>
      <vt:lpstr>Endianness</vt:lpstr>
      <vt:lpstr>Endianness</vt:lpstr>
      <vt:lpstr>Endianness</vt:lpstr>
      <vt:lpstr>Processor Data Path</vt:lpstr>
      <vt:lpstr>Processor Data Path</vt:lpstr>
      <vt:lpstr>Data Dependences</vt:lpstr>
      <vt:lpstr>Data Forwarding</vt:lpstr>
      <vt:lpstr>Data Forwarding</vt:lpstr>
      <vt:lpstr>Branch Prediction</vt:lpstr>
      <vt:lpstr>Branch Delay Slots</vt:lpstr>
      <vt:lpstr>Branch Delay Slots</vt:lpstr>
      <vt:lpstr>Branch Delay Slots</vt:lpstr>
      <vt:lpstr>Branch Delay Slots</vt:lpstr>
      <vt:lpstr>Branch Delay Slots</vt:lpstr>
      <vt:lpstr>Branch Delay Slots</vt:lpstr>
      <vt:lpstr>Branch Delay Slots</vt:lpstr>
      <vt:lpstr>COD 4.65</vt:lpstr>
      <vt:lpstr>COD 4.65 Pipeline Terminology</vt:lpstr>
      <vt:lpstr>COD 4.65</vt:lpstr>
      <vt:lpstr>COD 4.65 Pipeline Terminology</vt:lpstr>
      <vt:lpstr>COD 4.65</vt:lpstr>
      <vt:lpstr>COD 4.65</vt:lpstr>
      <vt:lpstr>COD 4.65</vt:lpstr>
      <vt:lpstr>Pipeline Diagrams</vt:lpstr>
      <vt:lpstr>Pipeline</vt:lpstr>
      <vt:lpstr>Pipeline</vt:lpstr>
      <vt:lpstr>Pipeline</vt:lpstr>
      <vt:lpstr>Pipeline</vt:lpstr>
      <vt:lpstr>Happy Studying!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ECE/CS 552: Midterm Review</dc:title>
  <dc:creator/>
  <cp:lastModifiedBy>Boone Severson</cp:lastModifiedBy>
  <cp:revision>534</cp:revision>
  <cp:lastPrinted>1601-01-01T00:00:00Z</cp:lastPrinted>
  <dcterms:created xsi:type="dcterms:W3CDTF">1601-01-01T00:00:00Z</dcterms:created>
  <dcterms:modified xsi:type="dcterms:W3CDTF">2024-10-22T17:49:48Z</dcterms:modified>
</cp:coreProperties>
</file>