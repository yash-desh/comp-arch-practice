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3.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4.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5.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6.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7.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8.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9.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0.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1.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2.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1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1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notesSlides/notesSlide15.xml" ContentType="application/vnd.openxmlformats-officedocument.presentationml.notesSlid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16.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17.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18.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19.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notesSlides/notesSlide20.xml" ContentType="application/vnd.openxmlformats-officedocument.presentationml.notesSlide+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21.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22.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notesSlides/notesSlide23.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4.xml" ContentType="application/vnd.openxmlformats-officedocument.presentationml.tags+xml"/>
  <Override PartName="/ppt/notesSlides/notesSlide24.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25.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26.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notesSlides/notesSlide27.xml" ContentType="application/vnd.openxmlformats-officedocument.presentationml.notesSlide+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30"/>
  </p:notesMasterIdLst>
  <p:handoutMasterIdLst>
    <p:handoutMasterId r:id="rId31"/>
  </p:handoutMasterIdLst>
  <p:sldIdLst>
    <p:sldId id="540" r:id="rId2"/>
    <p:sldId id="505" r:id="rId3"/>
    <p:sldId id="693" r:id="rId4"/>
    <p:sldId id="694" r:id="rId5"/>
    <p:sldId id="696" r:id="rId6"/>
    <p:sldId id="697" r:id="rId7"/>
    <p:sldId id="695" r:id="rId8"/>
    <p:sldId id="698" r:id="rId9"/>
    <p:sldId id="667" r:id="rId10"/>
    <p:sldId id="670" r:id="rId11"/>
    <p:sldId id="682" r:id="rId12"/>
    <p:sldId id="685" r:id="rId13"/>
    <p:sldId id="686" r:id="rId14"/>
    <p:sldId id="688" r:id="rId15"/>
    <p:sldId id="699" r:id="rId16"/>
    <p:sldId id="729" r:id="rId17"/>
    <p:sldId id="732" r:id="rId18"/>
    <p:sldId id="728" r:id="rId19"/>
    <p:sldId id="715" r:id="rId20"/>
    <p:sldId id="730" r:id="rId21"/>
    <p:sldId id="719" r:id="rId22"/>
    <p:sldId id="722" r:id="rId23"/>
    <p:sldId id="724" r:id="rId24"/>
    <p:sldId id="725" r:id="rId25"/>
    <p:sldId id="726" r:id="rId26"/>
    <p:sldId id="727" r:id="rId27"/>
    <p:sldId id="731" r:id="rId28"/>
    <p:sldId id="733" r:id="rId29"/>
  </p:sldIdLst>
  <p:sldSz cx="9144000" cy="6858000" type="screen4x3"/>
  <p:notesSz cx="7010400" cy="9296400"/>
  <p:custDataLst>
    <p:tags r:id="rId32"/>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7">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60" autoAdjust="0"/>
    <p:restoredTop sz="82843" autoAdjust="0"/>
  </p:normalViewPr>
  <p:slideViewPr>
    <p:cSldViewPr>
      <p:cViewPr varScale="1">
        <p:scale>
          <a:sx n="232" d="100"/>
          <a:sy n="232" d="100"/>
        </p:scale>
        <p:origin x="1552" y="168"/>
      </p:cViewPr>
      <p:guideLst>
        <p:guide orient="horz" pos="2160"/>
        <p:guide pos="2880"/>
      </p:guideLst>
    </p:cSldViewPr>
  </p:slideViewPr>
  <p:outlineViewPr>
    <p:cViewPr>
      <p:scale>
        <a:sx n="33" d="100"/>
        <a:sy n="33" d="100"/>
      </p:scale>
      <p:origin x="0" y="0"/>
    </p:cViewPr>
  </p:outlineViewPr>
  <p:notesTextViewPr>
    <p:cViewPr>
      <p:scale>
        <a:sx n="170" d="100"/>
        <a:sy n="170" d="100"/>
      </p:scale>
      <p:origin x="0" y="0"/>
    </p:cViewPr>
  </p:notesTextViewPr>
  <p:sorterViewPr>
    <p:cViewPr>
      <p:scale>
        <a:sx n="66" d="100"/>
        <a:sy n="66" d="100"/>
      </p:scale>
      <p:origin x="0" y="324"/>
    </p:cViewPr>
  </p:sorterViewPr>
  <p:notesViewPr>
    <p:cSldViewPr>
      <p:cViewPr varScale="1">
        <p:scale>
          <a:sx n="81" d="100"/>
          <a:sy n="81" d="100"/>
        </p:scale>
        <p:origin x="-2328" y="-90"/>
      </p:cViewPr>
      <p:guideLst>
        <p:guide orient="horz" pos="2927"/>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anmi\GoogleDrive\UWMdrive\Courses\1718\ECE757S\graph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anmi\GoogleDrive\UWMdrive\Courses\1718\ECE757S\graph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tx>
            <c:strRef>
              <c:f>'amdahl 0.75'!$C$1</c:f>
              <c:strCache>
                <c:ptCount val="1"/>
                <c:pt idx="0">
                  <c:v>speedup</c:v>
                </c:pt>
              </c:strCache>
            </c:strRef>
          </c:tx>
          <c:spPr>
            <a:ln w="19050" cap="rnd">
              <a:solidFill>
                <a:schemeClr val="tx1"/>
              </a:solidFill>
              <a:round/>
            </a:ln>
            <a:effectLst/>
          </c:spPr>
          <c:marker>
            <c:symbol val="square"/>
            <c:size val="9"/>
            <c:spPr>
              <a:solidFill>
                <a:schemeClr val="accent2">
                  <a:lumMod val="75000"/>
                  <a:alpha val="93000"/>
                </a:schemeClr>
              </a:solidFill>
              <a:ln w="9525">
                <a:solidFill>
                  <a:schemeClr val="tx1"/>
                </a:solidFill>
              </a:ln>
              <a:effectLst/>
            </c:spPr>
          </c:marker>
          <c:xVal>
            <c:numRef>
              <c:f>'amdahl 0.75'!$A$2:$A$101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xVal>
          <c:yVal>
            <c:numRef>
              <c:f>'amdahl 0.75'!$C$2:$C$101</c:f>
              <c:numCache>
                <c:formatCode>General</c:formatCode>
                <c:ptCount val="100"/>
                <c:pt idx="0">
                  <c:v>1</c:v>
                </c:pt>
                <c:pt idx="1">
                  <c:v>1.6</c:v>
                </c:pt>
                <c:pt idx="2">
                  <c:v>2</c:v>
                </c:pt>
                <c:pt idx="3">
                  <c:v>2.2857142857142856</c:v>
                </c:pt>
                <c:pt idx="4">
                  <c:v>2.5</c:v>
                </c:pt>
                <c:pt idx="5">
                  <c:v>2.6666666666666665</c:v>
                </c:pt>
                <c:pt idx="6">
                  <c:v>2.8</c:v>
                </c:pt>
                <c:pt idx="7">
                  <c:v>2.9090909090909092</c:v>
                </c:pt>
                <c:pt idx="8">
                  <c:v>3</c:v>
                </c:pt>
                <c:pt idx="9">
                  <c:v>3.0769230769230766</c:v>
                </c:pt>
                <c:pt idx="10">
                  <c:v>3.1428571428571428</c:v>
                </c:pt>
                <c:pt idx="11">
                  <c:v>3.2</c:v>
                </c:pt>
                <c:pt idx="12">
                  <c:v>3.25</c:v>
                </c:pt>
                <c:pt idx="13">
                  <c:v>3.2941176470588238</c:v>
                </c:pt>
                <c:pt idx="14">
                  <c:v>3.3333333333333335</c:v>
                </c:pt>
                <c:pt idx="15">
                  <c:v>3.3684210526315788</c:v>
                </c:pt>
                <c:pt idx="16">
                  <c:v>3.4</c:v>
                </c:pt>
                <c:pt idx="17">
                  <c:v>3.4285714285714284</c:v>
                </c:pt>
                <c:pt idx="18">
                  <c:v>3.4545454545454546</c:v>
                </c:pt>
                <c:pt idx="19">
                  <c:v>3.4782608695652177</c:v>
                </c:pt>
                <c:pt idx="20">
                  <c:v>3.5</c:v>
                </c:pt>
                <c:pt idx="21">
                  <c:v>3.5200000000000005</c:v>
                </c:pt>
                <c:pt idx="22">
                  <c:v>3.5384615384615388</c:v>
                </c:pt>
                <c:pt idx="23">
                  <c:v>3.5555555555555554</c:v>
                </c:pt>
                <c:pt idx="24">
                  <c:v>3.5714285714285712</c:v>
                </c:pt>
                <c:pt idx="25">
                  <c:v>3.5862068965517242</c:v>
                </c:pt>
                <c:pt idx="26">
                  <c:v>3.5999999999999996</c:v>
                </c:pt>
                <c:pt idx="27">
                  <c:v>3.6129032258064515</c:v>
                </c:pt>
                <c:pt idx="28">
                  <c:v>3.625</c:v>
                </c:pt>
                <c:pt idx="29">
                  <c:v>3.6363636363636362</c:v>
                </c:pt>
                <c:pt idx="30">
                  <c:v>3.6470588235294121</c:v>
                </c:pt>
                <c:pt idx="31">
                  <c:v>3.657142857142857</c:v>
                </c:pt>
                <c:pt idx="32">
                  <c:v>3.666666666666667</c:v>
                </c:pt>
                <c:pt idx="33">
                  <c:v>3.6756756756756759</c:v>
                </c:pt>
                <c:pt idx="34">
                  <c:v>3.6842105263157898</c:v>
                </c:pt>
                <c:pt idx="35">
                  <c:v>3.6923076923076925</c:v>
                </c:pt>
                <c:pt idx="36">
                  <c:v>3.6999999999999997</c:v>
                </c:pt>
                <c:pt idx="37">
                  <c:v>3.7073170731707314</c:v>
                </c:pt>
                <c:pt idx="38">
                  <c:v>3.7142857142857144</c:v>
                </c:pt>
                <c:pt idx="39">
                  <c:v>3.7209302325581395</c:v>
                </c:pt>
                <c:pt idx="40">
                  <c:v>3.7272727272727271</c:v>
                </c:pt>
                <c:pt idx="41">
                  <c:v>3.7333333333333334</c:v>
                </c:pt>
                <c:pt idx="42">
                  <c:v>3.7391304347826089</c:v>
                </c:pt>
                <c:pt idx="43">
                  <c:v>3.7446808510638299</c:v>
                </c:pt>
                <c:pt idx="44">
                  <c:v>3.75</c:v>
                </c:pt>
                <c:pt idx="45">
                  <c:v>3.7551020408163263</c:v>
                </c:pt>
                <c:pt idx="46">
                  <c:v>3.7600000000000002</c:v>
                </c:pt>
                <c:pt idx="47">
                  <c:v>3.7647058823529411</c:v>
                </c:pt>
                <c:pt idx="48">
                  <c:v>3.7692307692307692</c:v>
                </c:pt>
                <c:pt idx="49">
                  <c:v>3.773584905660377</c:v>
                </c:pt>
                <c:pt idx="50">
                  <c:v>3.7777777777777777</c:v>
                </c:pt>
                <c:pt idx="51">
                  <c:v>3.7818181818181817</c:v>
                </c:pt>
                <c:pt idx="52">
                  <c:v>3.7857142857142856</c:v>
                </c:pt>
                <c:pt idx="53">
                  <c:v>3.7894736842105261</c:v>
                </c:pt>
                <c:pt idx="54">
                  <c:v>3.7931034482758625</c:v>
                </c:pt>
                <c:pt idx="55">
                  <c:v>3.7966101694915255</c:v>
                </c:pt>
                <c:pt idx="56">
                  <c:v>3.8000000000000003</c:v>
                </c:pt>
                <c:pt idx="57">
                  <c:v>3.8032786885245904</c:v>
                </c:pt>
                <c:pt idx="58">
                  <c:v>3.8064516129032255</c:v>
                </c:pt>
                <c:pt idx="59">
                  <c:v>3.8095238095238093</c:v>
                </c:pt>
                <c:pt idx="60">
                  <c:v>3.8125</c:v>
                </c:pt>
                <c:pt idx="61">
                  <c:v>3.8153846153846156</c:v>
                </c:pt>
                <c:pt idx="62">
                  <c:v>3.8181818181818179</c:v>
                </c:pt>
                <c:pt idx="63">
                  <c:v>3.8208955223880596</c:v>
                </c:pt>
                <c:pt idx="64">
                  <c:v>3.8235294117647056</c:v>
                </c:pt>
                <c:pt idx="65">
                  <c:v>3.8260869565217392</c:v>
                </c:pt>
                <c:pt idx="66">
                  <c:v>3.8285714285714287</c:v>
                </c:pt>
                <c:pt idx="67">
                  <c:v>3.8309859154929575</c:v>
                </c:pt>
                <c:pt idx="68">
                  <c:v>3.8333333333333335</c:v>
                </c:pt>
                <c:pt idx="69">
                  <c:v>3.8356164383561642</c:v>
                </c:pt>
                <c:pt idx="70">
                  <c:v>3.8378378378378382</c:v>
                </c:pt>
                <c:pt idx="71">
                  <c:v>3.84</c:v>
                </c:pt>
                <c:pt idx="72">
                  <c:v>3.8421052631578951</c:v>
                </c:pt>
                <c:pt idx="73">
                  <c:v>3.8441558441558441</c:v>
                </c:pt>
                <c:pt idx="74">
                  <c:v>3.8461538461538458</c:v>
                </c:pt>
                <c:pt idx="75">
                  <c:v>3.8481012658227849</c:v>
                </c:pt>
                <c:pt idx="76">
                  <c:v>3.8500000000000005</c:v>
                </c:pt>
                <c:pt idx="77">
                  <c:v>3.8518518518518516</c:v>
                </c:pt>
                <c:pt idx="78">
                  <c:v>3.8536585365853657</c:v>
                </c:pt>
                <c:pt idx="79">
                  <c:v>3.8554216867469875</c:v>
                </c:pt>
                <c:pt idx="80">
                  <c:v>3.8571428571428572</c:v>
                </c:pt>
                <c:pt idx="81">
                  <c:v>3.8588235294117648</c:v>
                </c:pt>
                <c:pt idx="82">
                  <c:v>3.86046511627907</c:v>
                </c:pt>
                <c:pt idx="83">
                  <c:v>3.8620689655172411</c:v>
                </c:pt>
                <c:pt idx="84">
                  <c:v>3.8636363636363633</c:v>
                </c:pt>
                <c:pt idx="85">
                  <c:v>3.8651685393258424</c:v>
                </c:pt>
                <c:pt idx="86">
                  <c:v>3.8666666666666663</c:v>
                </c:pt>
                <c:pt idx="87">
                  <c:v>3.8681318681318677</c:v>
                </c:pt>
                <c:pt idx="88">
                  <c:v>3.8695652173913042</c:v>
                </c:pt>
                <c:pt idx="89">
                  <c:v>3.8709677419354835</c:v>
                </c:pt>
                <c:pt idx="90">
                  <c:v>3.8723404255319145</c:v>
                </c:pt>
                <c:pt idx="91">
                  <c:v>3.8736842105263163</c:v>
                </c:pt>
                <c:pt idx="92">
                  <c:v>3.875</c:v>
                </c:pt>
                <c:pt idx="93">
                  <c:v>3.8762886597938144</c:v>
                </c:pt>
                <c:pt idx="94">
                  <c:v>3.8775510204081627</c:v>
                </c:pt>
                <c:pt idx="95">
                  <c:v>3.8787878787878789</c:v>
                </c:pt>
                <c:pt idx="96">
                  <c:v>3.8800000000000003</c:v>
                </c:pt>
                <c:pt idx="97">
                  <c:v>3.8811881188118815</c:v>
                </c:pt>
                <c:pt idx="98">
                  <c:v>3.8823529411764706</c:v>
                </c:pt>
                <c:pt idx="99">
                  <c:v>3.883495145631068</c:v>
                </c:pt>
              </c:numCache>
            </c:numRef>
          </c:yVal>
          <c:smooth val="1"/>
          <c:extLst>
            <c:ext xmlns:c16="http://schemas.microsoft.com/office/drawing/2014/chart" uri="{C3380CC4-5D6E-409C-BE32-E72D297353CC}">
              <c16:uniqueId val="{00000000-420C-4225-B46A-E67C61927BF4}"/>
            </c:ext>
          </c:extLst>
        </c:ser>
        <c:ser>
          <c:idx val="1"/>
          <c:order val="1"/>
          <c:tx>
            <c:strRef>
              <c:f>'amdahl 0.75'!$D$1</c:f>
              <c:strCache>
                <c:ptCount val="1"/>
                <c:pt idx="0">
                  <c:v>ideal</c:v>
                </c:pt>
              </c:strCache>
            </c:strRef>
          </c:tx>
          <c:spPr>
            <a:ln w="19050" cap="rnd">
              <a:solidFill>
                <a:schemeClr val="tx1"/>
              </a:solidFill>
              <a:round/>
            </a:ln>
            <a:effectLst/>
          </c:spPr>
          <c:marker>
            <c:symbol val="circle"/>
            <c:size val="9"/>
            <c:spPr>
              <a:solidFill>
                <a:schemeClr val="bg1">
                  <a:lumMod val="50000"/>
                </a:schemeClr>
              </a:solidFill>
              <a:ln w="9525">
                <a:solidFill>
                  <a:schemeClr val="tx1"/>
                </a:solidFill>
              </a:ln>
              <a:effectLst/>
            </c:spPr>
          </c:marker>
          <c:xVal>
            <c:numRef>
              <c:f>'amdahl 0.75'!$A$2:$A$101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xVal>
          <c:yVal>
            <c:numRef>
              <c:f>'amdahl 0.75'!$D$2:$D$101</c:f>
              <c:numCache>
                <c:formatCode>General</c:formatCode>
                <c:ptCount val="100"/>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numCache>
            </c:numRef>
          </c:yVal>
          <c:smooth val="1"/>
          <c:extLst>
            <c:ext xmlns:c16="http://schemas.microsoft.com/office/drawing/2014/chart" uri="{C3380CC4-5D6E-409C-BE32-E72D297353CC}">
              <c16:uniqueId val="{00000001-420C-4225-B46A-E67C61927BF4}"/>
            </c:ext>
          </c:extLst>
        </c:ser>
        <c:dLbls>
          <c:showLegendKey val="0"/>
          <c:showVal val="0"/>
          <c:showCatName val="0"/>
          <c:showSerName val="0"/>
          <c:showPercent val="0"/>
          <c:showBubbleSize val="0"/>
        </c:dLbls>
        <c:axId val="1759638655"/>
        <c:axId val="1570145519"/>
      </c:scatterChart>
      <c:valAx>
        <c:axId val="1759638655"/>
        <c:scaling>
          <c:orientation val="minMax"/>
          <c:max val="4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number of cores</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570145519"/>
        <c:crosses val="autoZero"/>
        <c:crossBetween val="midCat"/>
      </c:valAx>
      <c:valAx>
        <c:axId val="1570145519"/>
        <c:scaling>
          <c:orientation val="minMax"/>
          <c:max val="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dirty="0"/>
                  <a:t>application speedup</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0;\-#,##0\x"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759638655"/>
        <c:crosses val="autoZero"/>
        <c:crossBetween val="midCat"/>
        <c:majorUnit val="1"/>
      </c:valAx>
      <c:spPr>
        <a:solidFill>
          <a:schemeClr val="bg2"/>
        </a:solid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6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smoothMarker"/>
        <c:varyColors val="0"/>
        <c:ser>
          <c:idx val="0"/>
          <c:order val="0"/>
          <c:tx>
            <c:strRef>
              <c:f>'amdahl 0.98'!$C$1</c:f>
              <c:strCache>
                <c:ptCount val="1"/>
                <c:pt idx="0">
                  <c:v>speedup</c:v>
                </c:pt>
              </c:strCache>
            </c:strRef>
          </c:tx>
          <c:spPr>
            <a:ln w="19050" cap="rnd">
              <a:solidFill>
                <a:schemeClr val="tx1"/>
              </a:solidFill>
              <a:round/>
            </a:ln>
            <a:effectLst/>
          </c:spPr>
          <c:marker>
            <c:symbol val="square"/>
            <c:size val="9"/>
            <c:spPr>
              <a:solidFill>
                <a:schemeClr val="accent2">
                  <a:lumMod val="75000"/>
                  <a:alpha val="93000"/>
                </a:schemeClr>
              </a:solidFill>
              <a:ln w="9525">
                <a:solidFill>
                  <a:schemeClr val="tx1"/>
                </a:solidFill>
              </a:ln>
              <a:effectLst/>
            </c:spPr>
          </c:marker>
          <c:xVal>
            <c:numRef>
              <c:f>'amdahl 0.98'!$A$2:$A$101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xVal>
          <c:yVal>
            <c:numRef>
              <c:f>'amdahl 0.98'!$C$2:$C$101</c:f>
              <c:numCache>
                <c:formatCode>General</c:formatCode>
                <c:ptCount val="100"/>
                <c:pt idx="0">
                  <c:v>1</c:v>
                </c:pt>
                <c:pt idx="1">
                  <c:v>1.9607843137254901</c:v>
                </c:pt>
                <c:pt idx="2">
                  <c:v>2.8846153846153846</c:v>
                </c:pt>
                <c:pt idx="3">
                  <c:v>3.773584905660377</c:v>
                </c:pt>
                <c:pt idx="4">
                  <c:v>4.6296296296296289</c:v>
                </c:pt>
                <c:pt idx="5">
                  <c:v>5.4545454545454541</c:v>
                </c:pt>
                <c:pt idx="6">
                  <c:v>6.25</c:v>
                </c:pt>
                <c:pt idx="7">
                  <c:v>7.0175438596491224</c:v>
                </c:pt>
                <c:pt idx="8">
                  <c:v>7.7586206896551726</c:v>
                </c:pt>
                <c:pt idx="9">
                  <c:v>8.4745762711864394</c:v>
                </c:pt>
                <c:pt idx="10">
                  <c:v>9.1666666666666643</c:v>
                </c:pt>
                <c:pt idx="11">
                  <c:v>9.8360655737704903</c:v>
                </c:pt>
                <c:pt idx="12">
                  <c:v>10.483870967741934</c:v>
                </c:pt>
                <c:pt idx="13">
                  <c:v>11.111111111111109</c:v>
                </c:pt>
                <c:pt idx="14">
                  <c:v>11.718749999999998</c:v>
                </c:pt>
                <c:pt idx="15">
                  <c:v>12.307692307692305</c:v>
                </c:pt>
                <c:pt idx="16">
                  <c:v>12.878787878787875</c:v>
                </c:pt>
                <c:pt idx="17">
                  <c:v>13.432835820895521</c:v>
                </c:pt>
                <c:pt idx="18">
                  <c:v>13.970588235294112</c:v>
                </c:pt>
                <c:pt idx="19">
                  <c:v>14.492753623188401</c:v>
                </c:pt>
                <c:pt idx="20">
                  <c:v>14.999999999999996</c:v>
                </c:pt>
                <c:pt idx="21">
                  <c:v>15.492957746478867</c:v>
                </c:pt>
                <c:pt idx="22">
                  <c:v>15.972222222222218</c:v>
                </c:pt>
                <c:pt idx="23">
                  <c:v>16.438356164383556</c:v>
                </c:pt>
                <c:pt idx="24">
                  <c:v>16.891891891891888</c:v>
                </c:pt>
                <c:pt idx="25">
                  <c:v>17.333333333333329</c:v>
                </c:pt>
                <c:pt idx="26">
                  <c:v>17.763157894736835</c:v>
                </c:pt>
                <c:pt idx="27">
                  <c:v>18.181818181818176</c:v>
                </c:pt>
                <c:pt idx="28">
                  <c:v>18.589743589743584</c:v>
                </c:pt>
                <c:pt idx="29">
                  <c:v>18.987341772151893</c:v>
                </c:pt>
                <c:pt idx="30">
                  <c:v>19.374999999999996</c:v>
                </c:pt>
                <c:pt idx="31">
                  <c:v>19.753086419753078</c:v>
                </c:pt>
                <c:pt idx="32">
                  <c:v>20.121951219512191</c:v>
                </c:pt>
                <c:pt idx="33">
                  <c:v>20.481927710843365</c:v>
                </c:pt>
                <c:pt idx="34">
                  <c:v>20.833333333333329</c:v>
                </c:pt>
                <c:pt idx="35">
                  <c:v>21.17647058823529</c:v>
                </c:pt>
                <c:pt idx="36">
                  <c:v>21.511627906976734</c:v>
                </c:pt>
                <c:pt idx="37">
                  <c:v>21.839080459770106</c:v>
                </c:pt>
                <c:pt idx="38">
                  <c:v>22.159090909090899</c:v>
                </c:pt>
                <c:pt idx="39">
                  <c:v>22.471910112359542</c:v>
                </c:pt>
                <c:pt idx="40">
                  <c:v>22.777777777777768</c:v>
                </c:pt>
                <c:pt idx="41">
                  <c:v>23.07692307692307</c:v>
                </c:pt>
                <c:pt idx="42">
                  <c:v>23.369565217391294</c:v>
                </c:pt>
                <c:pt idx="43">
                  <c:v>23.65591397849461</c:v>
                </c:pt>
                <c:pt idx="44">
                  <c:v>23.936170212765948</c:v>
                </c:pt>
                <c:pt idx="45">
                  <c:v>24.210526315789462</c:v>
                </c:pt>
                <c:pt idx="46">
                  <c:v>24.479166666666657</c:v>
                </c:pt>
                <c:pt idx="47">
                  <c:v>24.742268041237104</c:v>
                </c:pt>
                <c:pt idx="48">
                  <c:v>24.999999999999986</c:v>
                </c:pt>
                <c:pt idx="49">
                  <c:v>25.252525252525242</c:v>
                </c:pt>
                <c:pt idx="50">
                  <c:v>25.499999999999993</c:v>
                </c:pt>
                <c:pt idx="51">
                  <c:v>25.74257425742573</c:v>
                </c:pt>
                <c:pt idx="52">
                  <c:v>25.980392156862735</c:v>
                </c:pt>
                <c:pt idx="53">
                  <c:v>26.213592233009695</c:v>
                </c:pt>
                <c:pt idx="54">
                  <c:v>26.442307692307683</c:v>
                </c:pt>
                <c:pt idx="55">
                  <c:v>26.666666666666654</c:v>
                </c:pt>
                <c:pt idx="56">
                  <c:v>26.886792452830175</c:v>
                </c:pt>
                <c:pt idx="57">
                  <c:v>27.102803738317746</c:v>
                </c:pt>
                <c:pt idx="58">
                  <c:v>27.314814814814799</c:v>
                </c:pt>
                <c:pt idx="59">
                  <c:v>27.522935779816503</c:v>
                </c:pt>
                <c:pt idx="60">
                  <c:v>27.727272727272716</c:v>
                </c:pt>
                <c:pt idx="61">
                  <c:v>27.927927927927914</c:v>
                </c:pt>
                <c:pt idx="62">
                  <c:v>28.124999999999982</c:v>
                </c:pt>
                <c:pt idx="63">
                  <c:v>28.318584070796447</c:v>
                </c:pt>
                <c:pt idx="64">
                  <c:v>28.508771929824547</c:v>
                </c:pt>
                <c:pt idx="65">
                  <c:v>28.695652173913029</c:v>
                </c:pt>
                <c:pt idx="66">
                  <c:v>28.879310344827577</c:v>
                </c:pt>
                <c:pt idx="67">
                  <c:v>29.059829059829045</c:v>
                </c:pt>
                <c:pt idx="68">
                  <c:v>29.237288135593204</c:v>
                </c:pt>
                <c:pt idx="69">
                  <c:v>29.411764705882337</c:v>
                </c:pt>
                <c:pt idx="70">
                  <c:v>29.583333333333318</c:v>
                </c:pt>
                <c:pt idx="71">
                  <c:v>29.752066115702466</c:v>
                </c:pt>
                <c:pt idx="72">
                  <c:v>29.918032786885227</c:v>
                </c:pt>
                <c:pt idx="73">
                  <c:v>30.081300813008109</c:v>
                </c:pt>
                <c:pt idx="74">
                  <c:v>30.241935483870954</c:v>
                </c:pt>
                <c:pt idx="75">
                  <c:v>30.399999999999981</c:v>
                </c:pt>
                <c:pt idx="76">
                  <c:v>30.555555555555539</c:v>
                </c:pt>
                <c:pt idx="77">
                  <c:v>30.708661417322819</c:v>
                </c:pt>
                <c:pt idx="78">
                  <c:v>30.859374999999986</c:v>
                </c:pt>
                <c:pt idx="79">
                  <c:v>31.00775193798448</c:v>
                </c:pt>
                <c:pt idx="80">
                  <c:v>31.153846153846139</c:v>
                </c:pt>
                <c:pt idx="81">
                  <c:v>31.297709923664108</c:v>
                </c:pt>
                <c:pt idx="82">
                  <c:v>31.43939393939392</c:v>
                </c:pt>
                <c:pt idx="83">
                  <c:v>31.578947368421037</c:v>
                </c:pt>
                <c:pt idx="84">
                  <c:v>31.716417910447742</c:v>
                </c:pt>
                <c:pt idx="85">
                  <c:v>31.851851851851833</c:v>
                </c:pt>
                <c:pt idx="86">
                  <c:v>31.98529411764704</c:v>
                </c:pt>
                <c:pt idx="87">
                  <c:v>32.11678832116786</c:v>
                </c:pt>
                <c:pt idx="88">
                  <c:v>32.246376811594182</c:v>
                </c:pt>
                <c:pt idx="89">
                  <c:v>32.37410071942444</c:v>
                </c:pt>
                <c:pt idx="90">
                  <c:v>32.499999999999986</c:v>
                </c:pt>
                <c:pt idx="91">
                  <c:v>32.624113475177289</c:v>
                </c:pt>
                <c:pt idx="92">
                  <c:v>32.746478873239418</c:v>
                </c:pt>
                <c:pt idx="93">
                  <c:v>32.867132867132845</c:v>
                </c:pt>
                <c:pt idx="94">
                  <c:v>32.986111111111093</c:v>
                </c:pt>
                <c:pt idx="95">
                  <c:v>33.10344827586205</c:v>
                </c:pt>
                <c:pt idx="96">
                  <c:v>33.21917808219176</c:v>
                </c:pt>
                <c:pt idx="97">
                  <c:v>33.333333333333314</c:v>
                </c:pt>
                <c:pt idx="98">
                  <c:v>33.445945945945923</c:v>
                </c:pt>
                <c:pt idx="99">
                  <c:v>33.557046979865753</c:v>
                </c:pt>
              </c:numCache>
            </c:numRef>
          </c:yVal>
          <c:smooth val="1"/>
          <c:extLst>
            <c:ext xmlns:c16="http://schemas.microsoft.com/office/drawing/2014/chart" uri="{C3380CC4-5D6E-409C-BE32-E72D297353CC}">
              <c16:uniqueId val="{00000000-0011-43E7-9D1F-D8F264214DCA}"/>
            </c:ext>
          </c:extLst>
        </c:ser>
        <c:ser>
          <c:idx val="1"/>
          <c:order val="1"/>
          <c:tx>
            <c:strRef>
              <c:f>'amdahl 0.98'!$D$1</c:f>
              <c:strCache>
                <c:ptCount val="1"/>
                <c:pt idx="0">
                  <c:v>ideal</c:v>
                </c:pt>
              </c:strCache>
            </c:strRef>
          </c:tx>
          <c:spPr>
            <a:ln w="19050" cap="rnd">
              <a:solidFill>
                <a:schemeClr val="tx1"/>
              </a:solidFill>
              <a:round/>
            </a:ln>
            <a:effectLst/>
          </c:spPr>
          <c:marker>
            <c:symbol val="circle"/>
            <c:size val="9"/>
            <c:spPr>
              <a:solidFill>
                <a:schemeClr val="bg1">
                  <a:lumMod val="50000"/>
                </a:schemeClr>
              </a:solidFill>
              <a:ln w="9525">
                <a:solidFill>
                  <a:schemeClr val="tx1"/>
                </a:solidFill>
              </a:ln>
              <a:effectLst/>
            </c:spPr>
          </c:marker>
          <c:xVal>
            <c:numRef>
              <c:f>'amdahl 0.98'!$A$2:$A$101</c:f>
              <c:numCache>
                <c:formatCode>General</c:formatCode>
                <c:ptCount val="10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numCache>
            </c:numRef>
          </c:xVal>
          <c:yVal>
            <c:numRef>
              <c:f>'amdahl 0.98'!$D$2:$D$101</c:f>
              <c:numCache>
                <c:formatCode>General</c:formatCode>
                <c:ptCount val="100"/>
                <c:pt idx="0">
                  <c:v>49.999999999999957</c:v>
                </c:pt>
                <c:pt idx="1">
                  <c:v>49.999999999999957</c:v>
                </c:pt>
                <c:pt idx="2">
                  <c:v>49.999999999999957</c:v>
                </c:pt>
                <c:pt idx="3">
                  <c:v>49.999999999999957</c:v>
                </c:pt>
                <c:pt idx="4">
                  <c:v>49.999999999999957</c:v>
                </c:pt>
                <c:pt idx="5">
                  <c:v>49.999999999999957</c:v>
                </c:pt>
                <c:pt idx="6">
                  <c:v>49.999999999999957</c:v>
                </c:pt>
                <c:pt idx="7">
                  <c:v>49.999999999999957</c:v>
                </c:pt>
                <c:pt idx="8">
                  <c:v>49.999999999999957</c:v>
                </c:pt>
                <c:pt idx="9">
                  <c:v>49.999999999999957</c:v>
                </c:pt>
                <c:pt idx="10">
                  <c:v>49.999999999999957</c:v>
                </c:pt>
                <c:pt idx="11">
                  <c:v>49.999999999999957</c:v>
                </c:pt>
                <c:pt idx="12">
                  <c:v>49.999999999999957</c:v>
                </c:pt>
                <c:pt idx="13">
                  <c:v>49.999999999999957</c:v>
                </c:pt>
                <c:pt idx="14">
                  <c:v>49.999999999999957</c:v>
                </c:pt>
                <c:pt idx="15">
                  <c:v>49.999999999999957</c:v>
                </c:pt>
                <c:pt idx="16">
                  <c:v>49.999999999999957</c:v>
                </c:pt>
                <c:pt idx="17">
                  <c:v>49.999999999999957</c:v>
                </c:pt>
                <c:pt idx="18">
                  <c:v>49.999999999999957</c:v>
                </c:pt>
                <c:pt idx="19">
                  <c:v>49.999999999999957</c:v>
                </c:pt>
                <c:pt idx="20">
                  <c:v>49.999999999999957</c:v>
                </c:pt>
                <c:pt idx="21">
                  <c:v>49.999999999999957</c:v>
                </c:pt>
                <c:pt idx="22">
                  <c:v>49.999999999999957</c:v>
                </c:pt>
                <c:pt idx="23">
                  <c:v>49.999999999999957</c:v>
                </c:pt>
                <c:pt idx="24">
                  <c:v>49.999999999999957</c:v>
                </c:pt>
                <c:pt idx="25">
                  <c:v>49.999999999999957</c:v>
                </c:pt>
                <c:pt idx="26">
                  <c:v>49.999999999999957</c:v>
                </c:pt>
                <c:pt idx="27">
                  <c:v>49.999999999999957</c:v>
                </c:pt>
                <c:pt idx="28">
                  <c:v>49.999999999999957</c:v>
                </c:pt>
                <c:pt idx="29">
                  <c:v>49.999999999999957</c:v>
                </c:pt>
                <c:pt idx="30">
                  <c:v>49.999999999999957</c:v>
                </c:pt>
                <c:pt idx="31">
                  <c:v>49.999999999999957</c:v>
                </c:pt>
                <c:pt idx="32">
                  <c:v>49.999999999999957</c:v>
                </c:pt>
                <c:pt idx="33">
                  <c:v>49.999999999999957</c:v>
                </c:pt>
                <c:pt idx="34">
                  <c:v>49.999999999999957</c:v>
                </c:pt>
                <c:pt idx="35">
                  <c:v>49.999999999999957</c:v>
                </c:pt>
                <c:pt idx="36">
                  <c:v>49.999999999999957</c:v>
                </c:pt>
                <c:pt idx="37">
                  <c:v>49.999999999999957</c:v>
                </c:pt>
                <c:pt idx="38">
                  <c:v>49.999999999999957</c:v>
                </c:pt>
                <c:pt idx="39">
                  <c:v>49.999999999999957</c:v>
                </c:pt>
                <c:pt idx="40">
                  <c:v>49.999999999999957</c:v>
                </c:pt>
                <c:pt idx="41">
                  <c:v>49.999999999999957</c:v>
                </c:pt>
                <c:pt idx="42">
                  <c:v>49.999999999999957</c:v>
                </c:pt>
                <c:pt idx="43">
                  <c:v>49.999999999999957</c:v>
                </c:pt>
                <c:pt idx="44">
                  <c:v>49.999999999999957</c:v>
                </c:pt>
                <c:pt idx="45">
                  <c:v>49.999999999999957</c:v>
                </c:pt>
                <c:pt idx="46">
                  <c:v>49.999999999999957</c:v>
                </c:pt>
                <c:pt idx="47">
                  <c:v>49.999999999999957</c:v>
                </c:pt>
                <c:pt idx="48">
                  <c:v>49.999999999999957</c:v>
                </c:pt>
                <c:pt idx="49">
                  <c:v>49.999999999999957</c:v>
                </c:pt>
                <c:pt idx="50">
                  <c:v>49.999999999999957</c:v>
                </c:pt>
                <c:pt idx="51">
                  <c:v>49.999999999999957</c:v>
                </c:pt>
                <c:pt idx="52">
                  <c:v>49.999999999999957</c:v>
                </c:pt>
                <c:pt idx="53">
                  <c:v>49.999999999999957</c:v>
                </c:pt>
                <c:pt idx="54">
                  <c:v>49.999999999999957</c:v>
                </c:pt>
                <c:pt idx="55">
                  <c:v>49.999999999999957</c:v>
                </c:pt>
                <c:pt idx="56">
                  <c:v>49.999999999999957</c:v>
                </c:pt>
                <c:pt idx="57">
                  <c:v>49.999999999999957</c:v>
                </c:pt>
                <c:pt idx="58">
                  <c:v>49.999999999999957</c:v>
                </c:pt>
                <c:pt idx="59">
                  <c:v>49.999999999999957</c:v>
                </c:pt>
                <c:pt idx="60">
                  <c:v>49.999999999999957</c:v>
                </c:pt>
                <c:pt idx="61">
                  <c:v>49.999999999999957</c:v>
                </c:pt>
                <c:pt idx="62">
                  <c:v>49.999999999999957</c:v>
                </c:pt>
                <c:pt idx="63">
                  <c:v>49.999999999999957</c:v>
                </c:pt>
                <c:pt idx="64">
                  <c:v>49.999999999999957</c:v>
                </c:pt>
                <c:pt idx="65">
                  <c:v>49.999999999999957</c:v>
                </c:pt>
                <c:pt idx="66">
                  <c:v>49.999999999999957</c:v>
                </c:pt>
                <c:pt idx="67">
                  <c:v>49.999999999999957</c:v>
                </c:pt>
                <c:pt idx="68">
                  <c:v>49.999999999999957</c:v>
                </c:pt>
                <c:pt idx="69">
                  <c:v>49.999999999999957</c:v>
                </c:pt>
                <c:pt idx="70">
                  <c:v>49.999999999999957</c:v>
                </c:pt>
                <c:pt idx="71">
                  <c:v>49.999999999999957</c:v>
                </c:pt>
                <c:pt idx="72">
                  <c:v>49.999999999999957</c:v>
                </c:pt>
                <c:pt idx="73">
                  <c:v>49.999999999999957</c:v>
                </c:pt>
                <c:pt idx="74">
                  <c:v>49.999999999999957</c:v>
                </c:pt>
                <c:pt idx="75">
                  <c:v>49.999999999999957</c:v>
                </c:pt>
                <c:pt idx="76">
                  <c:v>49.999999999999957</c:v>
                </c:pt>
                <c:pt idx="77">
                  <c:v>49.999999999999957</c:v>
                </c:pt>
                <c:pt idx="78">
                  <c:v>49.999999999999957</c:v>
                </c:pt>
                <c:pt idx="79">
                  <c:v>49.999999999999957</c:v>
                </c:pt>
                <c:pt idx="80">
                  <c:v>49.999999999999957</c:v>
                </c:pt>
                <c:pt idx="81">
                  <c:v>49.999999999999957</c:v>
                </c:pt>
                <c:pt idx="82">
                  <c:v>49.999999999999957</c:v>
                </c:pt>
                <c:pt idx="83">
                  <c:v>49.999999999999957</c:v>
                </c:pt>
                <c:pt idx="84">
                  <c:v>49.999999999999957</c:v>
                </c:pt>
                <c:pt idx="85">
                  <c:v>49.999999999999957</c:v>
                </c:pt>
                <c:pt idx="86">
                  <c:v>49.999999999999957</c:v>
                </c:pt>
                <c:pt idx="87">
                  <c:v>49.999999999999957</c:v>
                </c:pt>
                <c:pt idx="88">
                  <c:v>49.999999999999957</c:v>
                </c:pt>
                <c:pt idx="89">
                  <c:v>49.999999999999957</c:v>
                </c:pt>
                <c:pt idx="90">
                  <c:v>49.999999999999957</c:v>
                </c:pt>
                <c:pt idx="91">
                  <c:v>49.999999999999957</c:v>
                </c:pt>
                <c:pt idx="92">
                  <c:v>49.999999999999957</c:v>
                </c:pt>
                <c:pt idx="93">
                  <c:v>49.999999999999957</c:v>
                </c:pt>
                <c:pt idx="94">
                  <c:v>49.999999999999957</c:v>
                </c:pt>
                <c:pt idx="95">
                  <c:v>49.999999999999957</c:v>
                </c:pt>
                <c:pt idx="96">
                  <c:v>49.999999999999957</c:v>
                </c:pt>
                <c:pt idx="97">
                  <c:v>49.999999999999957</c:v>
                </c:pt>
                <c:pt idx="98">
                  <c:v>49.999999999999957</c:v>
                </c:pt>
                <c:pt idx="99">
                  <c:v>49.999999999999957</c:v>
                </c:pt>
              </c:numCache>
            </c:numRef>
          </c:yVal>
          <c:smooth val="1"/>
          <c:extLst>
            <c:ext xmlns:c16="http://schemas.microsoft.com/office/drawing/2014/chart" uri="{C3380CC4-5D6E-409C-BE32-E72D297353CC}">
              <c16:uniqueId val="{00000001-0011-43E7-9D1F-D8F264214DCA}"/>
            </c:ext>
          </c:extLst>
        </c:ser>
        <c:dLbls>
          <c:showLegendKey val="0"/>
          <c:showVal val="0"/>
          <c:showCatName val="0"/>
          <c:showSerName val="0"/>
          <c:showPercent val="0"/>
          <c:showBubbleSize val="0"/>
        </c:dLbls>
        <c:axId val="1759638655"/>
        <c:axId val="1570145519"/>
      </c:scatterChart>
      <c:valAx>
        <c:axId val="1759638655"/>
        <c:scaling>
          <c:orientation val="minMax"/>
          <c:max val="1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number of cores</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570145519"/>
        <c:crosses val="autoZero"/>
        <c:crossBetween val="midCat"/>
      </c:valAx>
      <c:valAx>
        <c:axId val="1570145519"/>
        <c:scaling>
          <c:orientation val="minMax"/>
          <c:max val="5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application speedup</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0;\-#,##0\x"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759638655"/>
        <c:crosses val="autoZero"/>
        <c:crossBetween val="midCat"/>
        <c:majorUnit val="10"/>
      </c:valAx>
      <c:spPr>
        <a:solidFill>
          <a:schemeClr val="bg2"/>
        </a:solid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6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665FA8B-063C-4D70-BF01-AD0778FA2072}"/>
              </a:ext>
            </a:extLst>
          </p:cNvPr>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defTabSz="935038" eaLnBrk="0" hangingPunct="0">
              <a:defRPr sz="1200"/>
            </a:lvl1pPr>
          </a:lstStyle>
          <a:p>
            <a:pPr>
              <a:defRPr/>
            </a:pPr>
            <a:endParaRPr lang="en-US" altLang="en-US"/>
          </a:p>
        </p:txBody>
      </p:sp>
      <p:sp>
        <p:nvSpPr>
          <p:cNvPr id="15363" name="Rectangle 3">
            <a:extLst>
              <a:ext uri="{FF2B5EF4-FFF2-40B4-BE49-F238E27FC236}">
                <a16:creationId xmlns:a16="http://schemas.microsoft.com/office/drawing/2014/main" id="{381FE4E2-881C-4313-87BA-6EB7DC60D8F3}"/>
              </a:ext>
            </a:extLst>
          </p:cNvPr>
          <p:cNvSpPr>
            <a:spLocks noGrp="1" noChangeArrowheads="1"/>
          </p:cNvSpPr>
          <p:nvPr>
            <p:ph type="dt" sz="quarter" idx="1"/>
          </p:nvPr>
        </p:nvSpPr>
        <p:spPr bwMode="auto">
          <a:xfrm>
            <a:off x="3971925"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algn="r" defTabSz="935038" eaLnBrk="0" hangingPunct="0">
              <a:defRPr sz="1200"/>
            </a:lvl1pPr>
          </a:lstStyle>
          <a:p>
            <a:pPr>
              <a:defRPr/>
            </a:pPr>
            <a:endParaRPr lang="en-US" altLang="en-US"/>
          </a:p>
        </p:txBody>
      </p:sp>
      <p:sp>
        <p:nvSpPr>
          <p:cNvPr id="15364" name="Rectangle 4">
            <a:extLst>
              <a:ext uri="{FF2B5EF4-FFF2-40B4-BE49-F238E27FC236}">
                <a16:creationId xmlns:a16="http://schemas.microsoft.com/office/drawing/2014/main" id="{FA8BEDA1-EB4C-4538-9E12-EDCEC5087BCE}"/>
              </a:ext>
            </a:extLst>
          </p:cNvPr>
          <p:cNvSpPr>
            <a:spLocks noGrp="1" noChangeArrowheads="1"/>
          </p:cNvSpPr>
          <p:nvPr>
            <p:ph type="ftr" sz="quarter" idx="2"/>
          </p:nvPr>
        </p:nvSpPr>
        <p:spPr bwMode="auto">
          <a:xfrm>
            <a:off x="0" y="8832850"/>
            <a:ext cx="365125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defTabSz="935038" eaLnBrk="0" hangingPunct="0">
              <a:defRPr sz="1200"/>
            </a:lvl1pPr>
          </a:lstStyle>
          <a:p>
            <a:pPr>
              <a:defRPr/>
            </a:pPr>
            <a:r>
              <a:rPr lang="en-US" altLang="en-US"/>
              <a:t>ECE/CS 552: Introduction To Computer Architecture</a:t>
            </a:r>
          </a:p>
        </p:txBody>
      </p:sp>
      <p:sp>
        <p:nvSpPr>
          <p:cNvPr id="15365" name="Rectangle 5">
            <a:extLst>
              <a:ext uri="{FF2B5EF4-FFF2-40B4-BE49-F238E27FC236}">
                <a16:creationId xmlns:a16="http://schemas.microsoft.com/office/drawing/2014/main" id="{7D2229AB-7F22-4EAE-9E68-F8036B5AA73B}"/>
              </a:ext>
            </a:extLst>
          </p:cNvPr>
          <p:cNvSpPr>
            <a:spLocks noGrp="1" noChangeArrowheads="1"/>
          </p:cNvSpPr>
          <p:nvPr>
            <p:ph type="sldNum" sz="quarter" idx="3"/>
          </p:nvPr>
        </p:nvSpPr>
        <p:spPr bwMode="auto">
          <a:xfrm>
            <a:off x="3971925" y="883285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algn="r" defTabSz="935038" eaLnBrk="0" hangingPunct="0">
              <a:defRPr sz="1200"/>
            </a:lvl1pPr>
          </a:lstStyle>
          <a:p>
            <a:fld id="{6E3B70C2-F2C1-4DBA-B664-C5E183E92889}"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C869F52-A67D-4BE8-90AA-DC69B48EC09F}"/>
              </a:ext>
            </a:extLst>
          </p:cNvPr>
          <p:cNvSpPr>
            <a:spLocks noGrp="1" noChangeArrowheads="1"/>
          </p:cNvSpPr>
          <p:nvPr>
            <p:ph type="hdr" sz="quarter"/>
          </p:nvPr>
        </p:nvSpPr>
        <p:spPr bwMode="auto">
          <a:xfrm>
            <a:off x="0"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defTabSz="935038" eaLnBrk="0" hangingPunct="0">
              <a:defRPr sz="1200"/>
            </a:lvl1pPr>
          </a:lstStyle>
          <a:p>
            <a:pPr>
              <a:defRPr/>
            </a:pPr>
            <a:endParaRPr lang="en-US" altLang="en-US"/>
          </a:p>
        </p:txBody>
      </p:sp>
      <p:sp>
        <p:nvSpPr>
          <p:cNvPr id="17411" name="Rectangle 3">
            <a:extLst>
              <a:ext uri="{FF2B5EF4-FFF2-40B4-BE49-F238E27FC236}">
                <a16:creationId xmlns:a16="http://schemas.microsoft.com/office/drawing/2014/main" id="{75618605-9DAD-4183-B061-A2735A4755C1}"/>
              </a:ext>
            </a:extLst>
          </p:cNvPr>
          <p:cNvSpPr>
            <a:spLocks noGrp="1" noChangeArrowheads="1"/>
          </p:cNvSpPr>
          <p:nvPr>
            <p:ph type="dt" idx="1"/>
          </p:nvPr>
        </p:nvSpPr>
        <p:spPr bwMode="auto">
          <a:xfrm>
            <a:off x="3971925" y="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lvl1pPr algn="r" defTabSz="935038" eaLnBrk="0" hangingPunct="0">
              <a:defRPr sz="1200"/>
            </a:lvl1pPr>
          </a:lstStyle>
          <a:p>
            <a:pPr>
              <a:defRPr/>
            </a:pPr>
            <a:endParaRPr lang="en-US" altLang="en-US"/>
          </a:p>
        </p:txBody>
      </p:sp>
      <p:sp>
        <p:nvSpPr>
          <p:cNvPr id="35844" name="Rectangle 4">
            <a:extLst>
              <a:ext uri="{FF2B5EF4-FFF2-40B4-BE49-F238E27FC236}">
                <a16:creationId xmlns:a16="http://schemas.microsoft.com/office/drawing/2014/main" id="{7AC9D20D-EEF7-406F-AA29-994FF2FA17AB}"/>
              </a:ext>
            </a:extLst>
          </p:cNvPr>
          <p:cNvSpPr>
            <a:spLocks noGrp="1" noRot="1" noChangeAspect="1" noChangeArrowheads="1" noTextEdit="1"/>
          </p:cNvSpPr>
          <p:nvPr>
            <p:ph type="sldImg" idx="2"/>
          </p:nvPr>
        </p:nvSpPr>
        <p:spPr bwMode="auto">
          <a:xfrm>
            <a:off x="1182688" y="698500"/>
            <a:ext cx="4646612" cy="34845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7413" name="Rectangle 5">
            <a:extLst>
              <a:ext uri="{FF2B5EF4-FFF2-40B4-BE49-F238E27FC236}">
                <a16:creationId xmlns:a16="http://schemas.microsoft.com/office/drawing/2014/main" id="{6117B0A0-5D60-4A6E-806A-319027793467}"/>
              </a:ext>
            </a:extLst>
          </p:cNvPr>
          <p:cNvSpPr>
            <a:spLocks noGrp="1" noChangeArrowheads="1"/>
          </p:cNvSpPr>
          <p:nvPr>
            <p:ph type="body" sz="quarter" idx="3"/>
          </p:nvPr>
        </p:nvSpPr>
        <p:spPr bwMode="auto">
          <a:xfrm>
            <a:off x="933450" y="4416425"/>
            <a:ext cx="5143500" cy="418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7414" name="Rectangle 6">
            <a:extLst>
              <a:ext uri="{FF2B5EF4-FFF2-40B4-BE49-F238E27FC236}">
                <a16:creationId xmlns:a16="http://schemas.microsoft.com/office/drawing/2014/main" id="{33191D9D-81AA-4235-A278-F824689DF9F1}"/>
              </a:ext>
            </a:extLst>
          </p:cNvPr>
          <p:cNvSpPr>
            <a:spLocks noGrp="1" noChangeArrowheads="1"/>
          </p:cNvSpPr>
          <p:nvPr>
            <p:ph type="ftr" sz="quarter" idx="4"/>
          </p:nvPr>
        </p:nvSpPr>
        <p:spPr bwMode="auto">
          <a:xfrm>
            <a:off x="0" y="883285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defTabSz="935038" eaLnBrk="0" hangingPunct="0">
              <a:defRPr sz="1200"/>
            </a:lvl1pPr>
          </a:lstStyle>
          <a:p>
            <a:pPr>
              <a:defRPr/>
            </a:pPr>
            <a:endParaRPr lang="en-US" altLang="en-US"/>
          </a:p>
        </p:txBody>
      </p:sp>
      <p:sp>
        <p:nvSpPr>
          <p:cNvPr id="17415" name="Rectangle 7">
            <a:extLst>
              <a:ext uri="{FF2B5EF4-FFF2-40B4-BE49-F238E27FC236}">
                <a16:creationId xmlns:a16="http://schemas.microsoft.com/office/drawing/2014/main" id="{2071B1B9-83C4-4654-958F-69B2CDDDCE5C}"/>
              </a:ext>
            </a:extLst>
          </p:cNvPr>
          <p:cNvSpPr>
            <a:spLocks noGrp="1" noChangeArrowheads="1"/>
          </p:cNvSpPr>
          <p:nvPr>
            <p:ph type="sldNum" sz="quarter" idx="5"/>
          </p:nvPr>
        </p:nvSpPr>
        <p:spPr bwMode="auto">
          <a:xfrm>
            <a:off x="3971925" y="8832850"/>
            <a:ext cx="30384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541" tIns="46770" rIns="93541" bIns="46770" numCol="1" anchor="b" anchorCtr="0" compatLnSpc="1">
            <a:prstTxWarp prst="textNoShape">
              <a:avLst/>
            </a:prstTxWarp>
          </a:bodyPr>
          <a:lstStyle>
            <a:lvl1pPr algn="r" defTabSz="935038" eaLnBrk="0" hangingPunct="0">
              <a:defRPr sz="1200"/>
            </a:lvl1pPr>
          </a:lstStyle>
          <a:p>
            <a:fld id="{3412D5C1-D0DC-40F7-BDD3-DD827C056E83}"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a:t>
            </a:fld>
            <a:endParaRPr lang="en-US" altLang="en-US"/>
          </a:p>
        </p:txBody>
      </p:sp>
    </p:spTree>
    <p:extLst>
      <p:ext uri="{BB962C8B-B14F-4D97-AF65-F5344CB8AC3E}">
        <p14:creationId xmlns:p14="http://schemas.microsoft.com/office/powerpoint/2010/main" val="2693792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a:t>
            </a:fld>
            <a:endParaRPr lang="en-US" altLang="en-US"/>
          </a:p>
        </p:txBody>
      </p:sp>
    </p:spTree>
    <p:extLst>
      <p:ext uri="{BB962C8B-B14F-4D97-AF65-F5344CB8AC3E}">
        <p14:creationId xmlns:p14="http://schemas.microsoft.com/office/powerpoint/2010/main" val="767382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3</a:t>
            </a:fld>
            <a:endParaRPr lang="en-US" altLang="en-US"/>
          </a:p>
        </p:txBody>
      </p:sp>
    </p:spTree>
    <p:extLst>
      <p:ext uri="{BB962C8B-B14F-4D97-AF65-F5344CB8AC3E}">
        <p14:creationId xmlns:p14="http://schemas.microsoft.com/office/powerpoint/2010/main" val="3280359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4</a:t>
            </a:fld>
            <a:endParaRPr lang="en-US" altLang="en-US"/>
          </a:p>
        </p:txBody>
      </p:sp>
    </p:spTree>
    <p:extLst>
      <p:ext uri="{BB962C8B-B14F-4D97-AF65-F5344CB8AC3E}">
        <p14:creationId xmlns:p14="http://schemas.microsoft.com/office/powerpoint/2010/main" val="1375202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5</a:t>
            </a:fld>
            <a:endParaRPr lang="en-US" altLang="en-US"/>
          </a:p>
        </p:txBody>
      </p:sp>
    </p:spTree>
    <p:extLst>
      <p:ext uri="{BB962C8B-B14F-4D97-AF65-F5344CB8AC3E}">
        <p14:creationId xmlns:p14="http://schemas.microsoft.com/office/powerpoint/2010/main" val="3774179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6</a:t>
            </a:fld>
            <a:endParaRPr lang="en-US" altLang="en-US"/>
          </a:p>
        </p:txBody>
      </p:sp>
    </p:spTree>
    <p:extLst>
      <p:ext uri="{BB962C8B-B14F-4D97-AF65-F5344CB8AC3E}">
        <p14:creationId xmlns:p14="http://schemas.microsoft.com/office/powerpoint/2010/main" val="1153153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7</a:t>
            </a:fld>
            <a:endParaRPr lang="en-US" altLang="en-US"/>
          </a:p>
        </p:txBody>
      </p:sp>
    </p:spTree>
    <p:extLst>
      <p:ext uri="{BB962C8B-B14F-4D97-AF65-F5344CB8AC3E}">
        <p14:creationId xmlns:p14="http://schemas.microsoft.com/office/powerpoint/2010/main" val="2203561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8</a:t>
            </a:fld>
            <a:endParaRPr lang="en-US" altLang="en-US"/>
          </a:p>
        </p:txBody>
      </p:sp>
    </p:spTree>
    <p:extLst>
      <p:ext uri="{BB962C8B-B14F-4D97-AF65-F5344CB8AC3E}">
        <p14:creationId xmlns:p14="http://schemas.microsoft.com/office/powerpoint/2010/main" val="2513312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9</a:t>
            </a:fld>
            <a:endParaRPr lang="en-US" altLang="en-US"/>
          </a:p>
        </p:txBody>
      </p:sp>
    </p:spTree>
    <p:extLst>
      <p:ext uri="{BB962C8B-B14F-4D97-AF65-F5344CB8AC3E}">
        <p14:creationId xmlns:p14="http://schemas.microsoft.com/office/powerpoint/2010/main" val="2387769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10</a:t>
            </a:fld>
            <a:endParaRPr lang="en-US" altLang="en-US"/>
          </a:p>
        </p:txBody>
      </p:sp>
    </p:spTree>
    <p:extLst>
      <p:ext uri="{BB962C8B-B14F-4D97-AF65-F5344CB8AC3E}">
        <p14:creationId xmlns:p14="http://schemas.microsoft.com/office/powerpoint/2010/main" val="3877120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11</a:t>
            </a:fld>
            <a:endParaRPr lang="en-US" altLang="en-US"/>
          </a:p>
        </p:txBody>
      </p:sp>
    </p:spTree>
    <p:extLst>
      <p:ext uri="{BB962C8B-B14F-4D97-AF65-F5344CB8AC3E}">
        <p14:creationId xmlns:p14="http://schemas.microsoft.com/office/powerpoint/2010/main" val="42829868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12</a:t>
            </a:fld>
            <a:endParaRPr lang="en-US" altLang="en-US"/>
          </a:p>
        </p:txBody>
      </p:sp>
    </p:spTree>
    <p:extLst>
      <p:ext uri="{BB962C8B-B14F-4D97-AF65-F5344CB8AC3E}">
        <p14:creationId xmlns:p14="http://schemas.microsoft.com/office/powerpoint/2010/main" val="294483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13</a:t>
            </a:fld>
            <a:endParaRPr lang="en-US" altLang="en-US"/>
          </a:p>
        </p:txBody>
      </p:sp>
    </p:spTree>
    <p:extLst>
      <p:ext uri="{BB962C8B-B14F-4D97-AF65-F5344CB8AC3E}">
        <p14:creationId xmlns:p14="http://schemas.microsoft.com/office/powerpoint/2010/main" val="3484687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14</a:t>
            </a:fld>
            <a:endParaRPr lang="en-US" altLang="en-US"/>
          </a:p>
        </p:txBody>
      </p:sp>
    </p:spTree>
    <p:extLst>
      <p:ext uri="{BB962C8B-B14F-4D97-AF65-F5344CB8AC3E}">
        <p14:creationId xmlns:p14="http://schemas.microsoft.com/office/powerpoint/2010/main" val="10383207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15</a:t>
            </a:fld>
            <a:endParaRPr lang="en-US" altLang="en-US"/>
          </a:p>
        </p:txBody>
      </p:sp>
    </p:spTree>
    <p:extLst>
      <p:ext uri="{BB962C8B-B14F-4D97-AF65-F5344CB8AC3E}">
        <p14:creationId xmlns:p14="http://schemas.microsoft.com/office/powerpoint/2010/main" val="1942169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16</a:t>
            </a:fld>
            <a:endParaRPr lang="en-US" altLang="en-US"/>
          </a:p>
        </p:txBody>
      </p:sp>
    </p:spTree>
    <p:extLst>
      <p:ext uri="{BB962C8B-B14F-4D97-AF65-F5344CB8AC3E}">
        <p14:creationId xmlns:p14="http://schemas.microsoft.com/office/powerpoint/2010/main" val="2717635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17</a:t>
            </a:fld>
            <a:endParaRPr lang="en-US" altLang="en-US"/>
          </a:p>
        </p:txBody>
      </p:sp>
    </p:spTree>
    <p:extLst>
      <p:ext uri="{BB962C8B-B14F-4D97-AF65-F5344CB8AC3E}">
        <p14:creationId xmlns:p14="http://schemas.microsoft.com/office/powerpoint/2010/main" val="2732637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18</a:t>
            </a:fld>
            <a:endParaRPr lang="en-US" altLang="en-US"/>
          </a:p>
        </p:txBody>
      </p:sp>
    </p:spTree>
    <p:extLst>
      <p:ext uri="{BB962C8B-B14F-4D97-AF65-F5344CB8AC3E}">
        <p14:creationId xmlns:p14="http://schemas.microsoft.com/office/powerpoint/2010/main" val="17240714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19</a:t>
            </a:fld>
            <a:endParaRPr lang="en-US" altLang="en-US"/>
          </a:p>
        </p:txBody>
      </p:sp>
    </p:spTree>
    <p:extLst>
      <p:ext uri="{BB962C8B-B14F-4D97-AF65-F5344CB8AC3E}">
        <p14:creationId xmlns:p14="http://schemas.microsoft.com/office/powerpoint/2010/main" val="17523472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20</a:t>
            </a:fld>
            <a:endParaRPr lang="en-US" altLang="en-US"/>
          </a:p>
        </p:txBody>
      </p:sp>
    </p:spTree>
    <p:extLst>
      <p:ext uri="{BB962C8B-B14F-4D97-AF65-F5344CB8AC3E}">
        <p14:creationId xmlns:p14="http://schemas.microsoft.com/office/powerpoint/2010/main" val="5934472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21</a:t>
            </a:fld>
            <a:endParaRPr lang="en-US" altLang="en-US"/>
          </a:p>
        </p:txBody>
      </p:sp>
    </p:spTree>
    <p:extLst>
      <p:ext uri="{BB962C8B-B14F-4D97-AF65-F5344CB8AC3E}">
        <p14:creationId xmlns:p14="http://schemas.microsoft.com/office/powerpoint/2010/main" val="35503727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22</a:t>
            </a:fld>
            <a:endParaRPr lang="en-US" altLang="en-US"/>
          </a:p>
        </p:txBody>
      </p:sp>
    </p:spTree>
    <p:extLst>
      <p:ext uri="{BB962C8B-B14F-4D97-AF65-F5344CB8AC3E}">
        <p14:creationId xmlns:p14="http://schemas.microsoft.com/office/powerpoint/2010/main" val="31754326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23</a:t>
            </a:fld>
            <a:endParaRPr lang="en-US" altLang="en-US"/>
          </a:p>
        </p:txBody>
      </p:sp>
    </p:spTree>
    <p:extLst>
      <p:ext uri="{BB962C8B-B14F-4D97-AF65-F5344CB8AC3E}">
        <p14:creationId xmlns:p14="http://schemas.microsoft.com/office/powerpoint/2010/main" val="39503434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24</a:t>
            </a:fld>
            <a:endParaRPr lang="en-US" altLang="en-US"/>
          </a:p>
        </p:txBody>
      </p:sp>
    </p:spTree>
    <p:extLst>
      <p:ext uri="{BB962C8B-B14F-4D97-AF65-F5344CB8AC3E}">
        <p14:creationId xmlns:p14="http://schemas.microsoft.com/office/powerpoint/2010/main" val="5956403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25</a:t>
            </a:fld>
            <a:endParaRPr lang="en-US" altLang="en-US"/>
          </a:p>
        </p:txBody>
      </p:sp>
    </p:spTree>
    <p:extLst>
      <p:ext uri="{BB962C8B-B14F-4D97-AF65-F5344CB8AC3E}">
        <p14:creationId xmlns:p14="http://schemas.microsoft.com/office/powerpoint/2010/main" val="28678973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26</a:t>
            </a:fld>
            <a:endParaRPr lang="en-US" altLang="en-US"/>
          </a:p>
        </p:txBody>
      </p:sp>
    </p:spTree>
    <p:extLst>
      <p:ext uri="{BB962C8B-B14F-4D97-AF65-F5344CB8AC3E}">
        <p14:creationId xmlns:p14="http://schemas.microsoft.com/office/powerpoint/2010/main" val="10367741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27</a:t>
            </a:fld>
            <a:endParaRPr lang="en-US" altLang="en-US"/>
          </a:p>
        </p:txBody>
      </p:sp>
    </p:spTree>
    <p:extLst>
      <p:ext uri="{BB962C8B-B14F-4D97-AF65-F5344CB8AC3E}">
        <p14:creationId xmlns:p14="http://schemas.microsoft.com/office/powerpoint/2010/main" val="19808763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412D5C1-D0DC-40F7-BDD3-DD827C056E83}" type="slidenum">
              <a:rPr lang="en-US" altLang="en-US" smtClean="0"/>
              <a:pPr/>
              <a:t>28</a:t>
            </a:fld>
            <a:endParaRPr lang="en-US" altLang="en-US"/>
          </a:p>
        </p:txBody>
      </p:sp>
    </p:spTree>
    <p:extLst>
      <p:ext uri="{BB962C8B-B14F-4D97-AF65-F5344CB8AC3E}">
        <p14:creationId xmlns:p14="http://schemas.microsoft.com/office/powerpoint/2010/main" val="15396787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F8789D68-DF1E-45B3-A6C0-77A5EB0055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71ED43BD-67BE-440C-9864-F25EBC75E0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77DFC483-F5BF-4539-96D2-E99714B02B7D}"/>
              </a:ext>
            </a:extLst>
          </p:cNvPr>
          <p:cNvSpPr>
            <a:spLocks noGrp="1"/>
          </p:cNvSpPr>
          <p:nvPr>
            <p:ph type="dt" sz="half" idx="10"/>
            <p:custDataLst>
              <p:tags r:id="rId3"/>
            </p:custDataLst>
          </p:nvPr>
        </p:nvSpPr>
        <p:spPr/>
        <p:txBody>
          <a:bodyPr/>
          <a:lstStyle>
            <a:lvl1pPr>
              <a:defRPr/>
            </a:lvl1pPr>
          </a:lstStyle>
          <a:p>
            <a:pPr>
              <a:defRPr/>
            </a:pPr>
            <a:endParaRPr lang="en-US" altLang="en-US"/>
          </a:p>
        </p:txBody>
      </p:sp>
      <p:sp>
        <p:nvSpPr>
          <p:cNvPr id="7" name="Footer Placeholder 4">
            <a:extLst>
              <a:ext uri="{FF2B5EF4-FFF2-40B4-BE49-F238E27FC236}">
                <a16:creationId xmlns:a16="http://schemas.microsoft.com/office/drawing/2014/main" id="{E3CF486E-B4FC-4C96-8CB1-945F4BA1A0D7}"/>
              </a:ext>
            </a:extLst>
          </p:cNvPr>
          <p:cNvSpPr>
            <a:spLocks noGrp="1"/>
          </p:cNvSpPr>
          <p:nvPr>
            <p:ph type="ftr" sz="quarter" idx="11"/>
            <p:custDataLst>
              <p:tags r:id="rId4"/>
            </p:custDataLst>
          </p:nvPr>
        </p:nvSpPr>
        <p:spPr/>
        <p:txBody>
          <a:bodyPr/>
          <a:lstStyle>
            <a:lvl1pPr>
              <a:defRPr/>
            </a:lvl1pPr>
          </a:lstStyle>
          <a:p>
            <a:pPr>
              <a:defRPr/>
            </a:pPr>
            <a:r>
              <a:rPr lang="en-US" altLang="en-US"/>
              <a:t>© Hill, Lipasti</a:t>
            </a:r>
          </a:p>
        </p:txBody>
      </p:sp>
      <p:sp>
        <p:nvSpPr>
          <p:cNvPr id="8" name="Slide Number Placeholder 5">
            <a:extLst>
              <a:ext uri="{FF2B5EF4-FFF2-40B4-BE49-F238E27FC236}">
                <a16:creationId xmlns:a16="http://schemas.microsoft.com/office/drawing/2014/main" id="{55FABDED-DC68-4356-9B69-6A27D6D86E8A}"/>
              </a:ext>
            </a:extLst>
          </p:cNvPr>
          <p:cNvSpPr>
            <a:spLocks noGrp="1"/>
          </p:cNvSpPr>
          <p:nvPr>
            <p:ph type="sldNum" sz="quarter" idx="12"/>
            <p:custDataLst>
              <p:tags r:id="rId5"/>
            </p:custDataLst>
          </p:nvPr>
        </p:nvSpPr>
        <p:spPr/>
        <p:txBody>
          <a:bodyPr/>
          <a:lstStyle>
            <a:lvl2pPr lvl="1">
              <a:defRPr/>
            </a:lvl2pPr>
          </a:lstStyle>
          <a:p>
            <a:pPr lvl="1"/>
            <a:fld id="{F26D53C3-94B4-4E25-868F-FDCC830F1813}" type="slidenum">
              <a:rPr lang="en-US" altLang="en-US"/>
              <a:pPr lvl="1"/>
              <a:t>‹#›</a:t>
            </a:fld>
            <a:endParaRPr lang="en-US" altLang="en-US"/>
          </a:p>
        </p:txBody>
      </p:sp>
    </p:spTree>
    <p:extLst>
      <p:ext uri="{BB962C8B-B14F-4D97-AF65-F5344CB8AC3E}">
        <p14:creationId xmlns:p14="http://schemas.microsoft.com/office/powerpoint/2010/main" val="418501315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F58DF54A-2963-4066-855D-BE4BF006F8C4}"/>
              </a:ext>
            </a:extLst>
          </p:cNvPr>
          <p:cNvSpPr>
            <a:spLocks noGrp="1"/>
          </p:cNvSpPr>
          <p:nvPr>
            <p:ph type="dt" sz="half" idx="10"/>
            <p:custDataLst>
              <p:tags r:id="rId3"/>
            </p:custDataLst>
          </p:nvPr>
        </p:nvSpPr>
        <p:spPr/>
        <p:txBody>
          <a:bodyPr/>
          <a:lstStyle>
            <a:lvl1pPr>
              <a:defRPr/>
            </a:lvl1pPr>
          </a:lstStyle>
          <a:p>
            <a:pPr>
              <a:defRPr/>
            </a:pPr>
            <a:endParaRPr lang="en-US" altLang="en-US"/>
          </a:p>
        </p:txBody>
      </p:sp>
      <p:sp>
        <p:nvSpPr>
          <p:cNvPr id="7" name="Footer Placeholder 4">
            <a:extLst>
              <a:ext uri="{FF2B5EF4-FFF2-40B4-BE49-F238E27FC236}">
                <a16:creationId xmlns:a16="http://schemas.microsoft.com/office/drawing/2014/main" id="{9E82FE2C-A1EE-4380-817A-5988FD0EE0FA}"/>
              </a:ext>
            </a:extLst>
          </p:cNvPr>
          <p:cNvSpPr>
            <a:spLocks noGrp="1"/>
          </p:cNvSpPr>
          <p:nvPr>
            <p:ph type="ftr" sz="quarter" idx="11"/>
            <p:custDataLst>
              <p:tags r:id="rId4"/>
            </p:custDataLst>
          </p:nvPr>
        </p:nvSpPr>
        <p:spPr/>
        <p:txBody>
          <a:bodyPr/>
          <a:lstStyle>
            <a:lvl1pPr>
              <a:defRPr/>
            </a:lvl1pPr>
          </a:lstStyle>
          <a:p>
            <a:pPr>
              <a:defRPr/>
            </a:pPr>
            <a:r>
              <a:rPr lang="en-US" altLang="en-US"/>
              <a:t>© Hill, Lipasti</a:t>
            </a:r>
          </a:p>
        </p:txBody>
      </p:sp>
      <p:sp>
        <p:nvSpPr>
          <p:cNvPr id="8" name="Slide Number Placeholder 5">
            <a:extLst>
              <a:ext uri="{FF2B5EF4-FFF2-40B4-BE49-F238E27FC236}">
                <a16:creationId xmlns:a16="http://schemas.microsoft.com/office/drawing/2014/main" id="{71B472F8-3BEF-4271-B8F6-C8512E515EDC}"/>
              </a:ext>
            </a:extLst>
          </p:cNvPr>
          <p:cNvSpPr>
            <a:spLocks noGrp="1"/>
          </p:cNvSpPr>
          <p:nvPr>
            <p:ph type="sldNum" sz="quarter" idx="12"/>
            <p:custDataLst>
              <p:tags r:id="rId5"/>
            </p:custDataLst>
          </p:nvPr>
        </p:nvSpPr>
        <p:spPr/>
        <p:txBody>
          <a:bodyPr/>
          <a:lstStyle>
            <a:lvl2pPr lvl="1">
              <a:defRPr sz="1400"/>
            </a:lvl2pPr>
          </a:lstStyle>
          <a:p>
            <a:pPr lvl="1"/>
            <a:fld id="{B7E7A024-158A-42C6-8EE4-794CA031091A}" type="slidenum">
              <a:rPr lang="en-US" altLang="en-US"/>
              <a:pPr lvl="1"/>
              <a:t>‹#›</a:t>
            </a:fld>
            <a:endParaRPr lang="en-US" altLang="en-US"/>
          </a:p>
        </p:txBody>
      </p:sp>
    </p:spTree>
    <p:extLst>
      <p:ext uri="{BB962C8B-B14F-4D97-AF65-F5344CB8AC3E}">
        <p14:creationId xmlns:p14="http://schemas.microsoft.com/office/powerpoint/2010/main" val="36112170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B8F5570D-AF20-4116-9732-9EB433FF6EE7}"/>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D5A42796-B95F-4E56-8309-BCB5EAFE3DDB}"/>
              </a:ext>
            </a:extLst>
          </p:cNvPr>
          <p:cNvSpPr>
            <a:spLocks noGrp="1"/>
          </p:cNvSpPr>
          <p:nvPr>
            <p:ph type="ftr" sz="quarter" idx="11"/>
          </p:nvPr>
        </p:nvSpPr>
        <p:spPr/>
        <p:txBody>
          <a:bodyPr/>
          <a:lstStyle>
            <a:lvl1pPr>
              <a:defRPr/>
            </a:lvl1pPr>
          </a:lstStyle>
          <a:p>
            <a:pPr>
              <a:defRPr/>
            </a:pPr>
            <a:r>
              <a:rPr lang="en-US" altLang="en-US"/>
              <a:t>© Hill, Lipasti</a:t>
            </a:r>
          </a:p>
        </p:txBody>
      </p:sp>
      <p:sp>
        <p:nvSpPr>
          <p:cNvPr id="5" name="Slide Number Placeholder 5">
            <a:extLst>
              <a:ext uri="{FF2B5EF4-FFF2-40B4-BE49-F238E27FC236}">
                <a16:creationId xmlns:a16="http://schemas.microsoft.com/office/drawing/2014/main" id="{CAF911B6-C369-49A9-A1C1-DE305D680AA0}"/>
              </a:ext>
            </a:extLst>
          </p:cNvPr>
          <p:cNvSpPr>
            <a:spLocks noGrp="1"/>
          </p:cNvSpPr>
          <p:nvPr>
            <p:ph type="sldNum" sz="quarter" idx="12"/>
          </p:nvPr>
        </p:nvSpPr>
        <p:spPr/>
        <p:txBody>
          <a:bodyPr/>
          <a:lstStyle>
            <a:lvl2pPr lvl="1">
              <a:defRPr/>
            </a:lvl2pPr>
          </a:lstStyle>
          <a:p>
            <a:pPr lvl="1"/>
            <a:fld id="{BA02BA93-FC22-4768-97AD-81B6FD26661F}" type="slidenum">
              <a:rPr lang="en-US" altLang="en-US"/>
              <a:pPr lvl="1"/>
              <a:t>‹#›</a:t>
            </a:fld>
            <a:endParaRPr lang="en-US" altLang="en-US"/>
          </a:p>
        </p:txBody>
      </p:sp>
    </p:spTree>
    <p:extLst>
      <p:ext uri="{BB962C8B-B14F-4D97-AF65-F5344CB8AC3E}">
        <p14:creationId xmlns:p14="http://schemas.microsoft.com/office/powerpoint/2010/main" val="1015968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14203BB7-8619-4698-8C86-AB3895D96A3C}"/>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9F6D0A7-8F5A-4739-98BC-F6AB11F636D3}"/>
              </a:ext>
            </a:extLst>
          </p:cNvPr>
          <p:cNvSpPr>
            <a:spLocks noGrp="1"/>
          </p:cNvSpPr>
          <p:nvPr>
            <p:ph type="ftr" sz="quarter" idx="11"/>
          </p:nvPr>
        </p:nvSpPr>
        <p:spPr/>
        <p:txBody>
          <a:bodyPr/>
          <a:lstStyle>
            <a:lvl1pPr>
              <a:defRPr/>
            </a:lvl1pPr>
          </a:lstStyle>
          <a:p>
            <a:pPr>
              <a:defRPr/>
            </a:pPr>
            <a:r>
              <a:rPr lang="en-US" altLang="en-US"/>
              <a:t>© Hill, Lipasti</a:t>
            </a:r>
          </a:p>
        </p:txBody>
      </p:sp>
      <p:sp>
        <p:nvSpPr>
          <p:cNvPr id="7" name="Slide Number Placeholder 5">
            <a:extLst>
              <a:ext uri="{FF2B5EF4-FFF2-40B4-BE49-F238E27FC236}">
                <a16:creationId xmlns:a16="http://schemas.microsoft.com/office/drawing/2014/main" id="{C92EA5A7-7B44-4C5D-8930-15F48A1978B8}"/>
              </a:ext>
            </a:extLst>
          </p:cNvPr>
          <p:cNvSpPr>
            <a:spLocks noGrp="1"/>
          </p:cNvSpPr>
          <p:nvPr>
            <p:ph type="sldNum" sz="quarter" idx="12"/>
          </p:nvPr>
        </p:nvSpPr>
        <p:spPr/>
        <p:txBody>
          <a:bodyPr/>
          <a:lstStyle>
            <a:lvl2pPr lvl="1">
              <a:defRPr/>
            </a:lvl2pPr>
          </a:lstStyle>
          <a:p>
            <a:pPr lvl="1"/>
            <a:fld id="{D58B94F4-A469-442A-A38B-D59DA896557B}" type="slidenum">
              <a:rPr lang="en-US" altLang="en-US"/>
              <a:pPr lvl="1"/>
              <a:t>‹#›</a:t>
            </a:fld>
            <a:endParaRPr lang="en-US" altLang="en-US"/>
          </a:p>
        </p:txBody>
      </p:sp>
    </p:spTree>
    <p:extLst>
      <p:ext uri="{BB962C8B-B14F-4D97-AF65-F5344CB8AC3E}">
        <p14:creationId xmlns:p14="http://schemas.microsoft.com/office/powerpoint/2010/main" val="772805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6162EC40-6D83-46D2-84B7-479A8F0D6330}"/>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3BDD8D4-E695-492F-9065-EDA1992142BE}"/>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FB0FE4E-B9B0-436E-9272-1202EAFD4606}"/>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ltLang="en-US"/>
          </a:p>
        </p:txBody>
      </p:sp>
      <p:sp>
        <p:nvSpPr>
          <p:cNvPr id="5" name="Footer Placeholder 4">
            <a:extLst>
              <a:ext uri="{FF2B5EF4-FFF2-40B4-BE49-F238E27FC236}">
                <a16:creationId xmlns:a16="http://schemas.microsoft.com/office/drawing/2014/main" id="{3307D937-A571-46B2-8B29-D8E6557E4123}"/>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ltLang="en-US"/>
              <a:t>© Hill, Lipasti</a:t>
            </a:r>
          </a:p>
        </p:txBody>
      </p:sp>
      <p:sp>
        <p:nvSpPr>
          <p:cNvPr id="6" name="Slide Number Placeholder 5">
            <a:extLst>
              <a:ext uri="{FF2B5EF4-FFF2-40B4-BE49-F238E27FC236}">
                <a16:creationId xmlns:a16="http://schemas.microsoft.com/office/drawing/2014/main" id="{65680E1F-60C3-42F4-9240-6EB48215B9C0}"/>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a:defRPr>
                <a:latin typeface="Calibri" panose="020F0502020204030204" pitchFamily="34" charset="0"/>
              </a:defRPr>
            </a:lvl2pPr>
          </a:lstStyle>
          <a:p>
            <a:pPr lvl="1"/>
            <a:fld id="{7E04EAAA-BCAE-4A81-8F71-B5EE1EE34BC4}" type="slidenum">
              <a:rPr lang="en-US" altLang="en-US"/>
              <a:pPr lvl="1"/>
              <a:t>‹#›</a:t>
            </a:fld>
            <a:endParaRPr lang="en-US" altLang="en-US"/>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1" r:id="rId3"/>
    <p:sldLayoutId id="2147483682"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3.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17" Type="http://schemas.openxmlformats.org/officeDocument/2006/relationships/image" Target="../media/image3.png"/><Relationship Id="rId2" Type="http://schemas.openxmlformats.org/officeDocument/2006/relationships/tags" Target="../tags/tag25.xml"/><Relationship Id="rId16" Type="http://schemas.openxmlformats.org/officeDocument/2006/relationships/tags" Target="../tags/tag29.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notesSlide" Target="../notesSlides/notesSlide3.xml"/><Relationship Id="rId5" Type="http://schemas.openxmlformats.org/officeDocument/2006/relationships/tags" Target="../tags/tag28.xml"/><Relationship Id="rId15" Type="http://schemas.openxmlformats.org/officeDocument/2006/relationships/image" Target="../media/image24.png"/><Relationship Id="rId10" Type="http://schemas.openxmlformats.org/officeDocument/2006/relationships/slideLayout" Target="../slideLayouts/slideLayout2.xml"/><Relationship Id="rId4" Type="http://schemas.openxmlformats.org/officeDocument/2006/relationships/tags" Target="../tags/tag27.xml"/><Relationship Id="rId9" Type="http://schemas.openxmlformats.org/officeDocument/2006/relationships/tags" Target="../tags/tag32.xml"/><Relationship Id="rId14" Type="http://schemas.openxmlformats.org/officeDocument/2006/relationships/tags" Target="../tags/tag28.xml"/></Relationships>
</file>

<file path=ppt/slides/_rels/slide4.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tags" Target="../tags/tag45.xml"/><Relationship Id="rId18" Type="http://schemas.openxmlformats.org/officeDocument/2006/relationships/tags" Target="../tags/tag37.xml"/><Relationship Id="rId26" Type="http://schemas.openxmlformats.org/officeDocument/2006/relationships/tags" Target="../tags/tag44.xml"/><Relationship Id="rId3" Type="http://schemas.openxmlformats.org/officeDocument/2006/relationships/tags" Target="../tags/tag35.xml"/><Relationship Id="rId21" Type="http://schemas.openxmlformats.org/officeDocument/2006/relationships/image" Target="../media/image3.png"/><Relationship Id="rId7" Type="http://schemas.openxmlformats.org/officeDocument/2006/relationships/tags" Target="../tags/tag39.xml"/><Relationship Id="rId12" Type="http://schemas.openxmlformats.org/officeDocument/2006/relationships/tags" Target="../tags/tag44.xml"/><Relationship Id="rId25" Type="http://schemas.openxmlformats.org/officeDocument/2006/relationships/image" Target="../media/image5.png"/><Relationship Id="rId2" Type="http://schemas.openxmlformats.org/officeDocument/2006/relationships/tags" Target="../tags/tag34.xml"/><Relationship Id="rId20" Type="http://schemas.openxmlformats.org/officeDocument/2006/relationships/tags" Target="../tags/tag38.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24" Type="http://schemas.openxmlformats.org/officeDocument/2006/relationships/tags" Target="../tags/tag42.xml"/><Relationship Id="rId5" Type="http://schemas.openxmlformats.org/officeDocument/2006/relationships/tags" Target="../tags/tag37.xml"/><Relationship Id="rId15" Type="http://schemas.openxmlformats.org/officeDocument/2006/relationships/notesSlide" Target="../notesSlides/notesSlide4.xml"/><Relationship Id="rId23" Type="http://schemas.openxmlformats.org/officeDocument/2006/relationships/image" Target="../media/image4.png"/><Relationship Id="rId10" Type="http://schemas.openxmlformats.org/officeDocument/2006/relationships/tags" Target="../tags/tag42.xml"/><Relationship Id="rId19" Type="http://schemas.openxmlformats.org/officeDocument/2006/relationships/image" Target="../media/image24.png"/><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slideLayout" Target="../slideLayouts/slideLayout2.xml"/><Relationship Id="rId22" Type="http://schemas.openxmlformats.org/officeDocument/2006/relationships/tags" Target="../tags/tag40.xml"/><Relationship Id="rId27"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48.xml"/><Relationship Id="rId7" Type="http://schemas.openxmlformats.org/officeDocument/2006/relationships/notesSlide" Target="../notesSlides/notesSlide5.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slideLayout" Target="../slideLayouts/slideLayout2.xml"/><Relationship Id="rId5" Type="http://schemas.openxmlformats.org/officeDocument/2006/relationships/tags" Target="../tags/tag50.xml"/><Relationship Id="rId4" Type="http://schemas.openxmlformats.org/officeDocument/2006/relationships/tags" Target="../tags/tag49.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3.xml"/><Relationship Id="rId7" Type="http://schemas.openxmlformats.org/officeDocument/2006/relationships/tags" Target="../tags/tag57.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10" Type="http://schemas.openxmlformats.org/officeDocument/2006/relationships/image" Target="../media/image7.png"/><Relationship Id="rId4" Type="http://schemas.openxmlformats.org/officeDocument/2006/relationships/tags" Target="../tags/tag54.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tags" Target="../tags/tag62.xml"/><Relationship Id="rId18" Type="http://schemas.openxmlformats.org/officeDocument/2006/relationships/image" Target="../media/image9.png"/><Relationship Id="rId3" Type="http://schemas.openxmlformats.org/officeDocument/2006/relationships/tags" Target="../tags/tag60.xml"/><Relationship Id="rId7" Type="http://schemas.openxmlformats.org/officeDocument/2006/relationships/tags" Target="../tags/tag64.xml"/><Relationship Id="rId17" Type="http://schemas.openxmlformats.org/officeDocument/2006/relationships/tags" Target="../tags/tag64.xml"/><Relationship Id="rId2" Type="http://schemas.openxmlformats.org/officeDocument/2006/relationships/tags" Target="../tags/tag59.xml"/><Relationship Id="rId16" Type="http://schemas.openxmlformats.org/officeDocument/2006/relationships/image" Target="../media/image3.png"/><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15" Type="http://schemas.openxmlformats.org/officeDocument/2006/relationships/tags" Target="../tags/tag63.xml"/><Relationship Id="rId10" Type="http://schemas.openxmlformats.org/officeDocument/2006/relationships/notesSlide" Target="../notesSlides/notesSlide7.xml"/><Relationship Id="rId4" Type="http://schemas.openxmlformats.org/officeDocument/2006/relationships/tags" Target="../tags/tag61.xml"/><Relationship Id="rId9" Type="http://schemas.openxmlformats.org/officeDocument/2006/relationships/slideLayout" Target="../slideLayouts/slideLayout2.xml"/><Relationship Id="rId1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tags" Target="../tags/tag73.xml"/><Relationship Id="rId13" Type="http://schemas.openxmlformats.org/officeDocument/2006/relationships/image" Target="../media/image8.png"/><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notesSlide" Target="../notesSlides/notesSlide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slideLayout" Target="../slideLayouts/slideLayout2.xml"/><Relationship Id="rId5" Type="http://schemas.openxmlformats.org/officeDocument/2006/relationships/tags" Target="../tags/tag70.xml"/><Relationship Id="rId15" Type="http://schemas.openxmlformats.org/officeDocument/2006/relationships/image" Target="../media/image11.png"/><Relationship Id="rId10" Type="http://schemas.openxmlformats.org/officeDocument/2006/relationships/tags" Target="../tags/tag75.xml"/><Relationship Id="rId4" Type="http://schemas.openxmlformats.org/officeDocument/2006/relationships/tags" Target="../tags/tag69.xml"/><Relationship Id="rId9" Type="http://schemas.openxmlformats.org/officeDocument/2006/relationships/tags" Target="../tags/tag74.xml"/><Relationship Id="rId1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79.xml"/></Relationships>
</file>

<file path=ppt/slides/_rels/slide10.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83.xml"/></Relationships>
</file>

<file path=ppt/slides/_rels/slide11.xml.rels><?xml version="1.0" encoding="UTF-8" standalone="yes"?>
<Relationships xmlns="http://schemas.openxmlformats.org/package/2006/relationships"><Relationship Id="rId8" Type="http://schemas.openxmlformats.org/officeDocument/2006/relationships/tags" Target="../tags/tag91.xml"/><Relationship Id="rId3" Type="http://schemas.openxmlformats.org/officeDocument/2006/relationships/tags" Target="../tags/tag86.xml"/><Relationship Id="rId7" Type="http://schemas.openxmlformats.org/officeDocument/2006/relationships/tags" Target="../tags/tag90.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notesSlide" Target="../notesSlides/notesSlide11.xml"/><Relationship Id="rId5" Type="http://schemas.openxmlformats.org/officeDocument/2006/relationships/tags" Target="../tags/tag88.xml"/><Relationship Id="rId10" Type="http://schemas.openxmlformats.org/officeDocument/2006/relationships/slideLayout" Target="../slideLayouts/slideLayout2.xml"/><Relationship Id="rId4" Type="http://schemas.openxmlformats.org/officeDocument/2006/relationships/tags" Target="../tags/tag87.xml"/><Relationship Id="rId9" Type="http://schemas.openxmlformats.org/officeDocument/2006/relationships/tags" Target="../tags/tag92.xml"/></Relationships>
</file>

<file path=ppt/slides/_rels/slide12.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12" Type="http://schemas.openxmlformats.org/officeDocument/2006/relationships/notesSlide" Target="../notesSlides/notesSlide12.xml"/><Relationship Id="rId2" Type="http://schemas.openxmlformats.org/officeDocument/2006/relationships/tags" Target="../tags/tag94.xml"/><Relationship Id="rId16" Type="http://schemas.openxmlformats.org/officeDocument/2006/relationships/image" Target="../media/image13.png"/><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slideLayout" Target="../slideLayouts/slideLayout2.xml"/><Relationship Id="rId5" Type="http://schemas.openxmlformats.org/officeDocument/2006/relationships/tags" Target="../tags/tag97.xml"/><Relationship Id="rId15" Type="http://schemas.openxmlformats.org/officeDocument/2006/relationships/tags" Target="../tags/tag102.xml"/><Relationship Id="rId10" Type="http://schemas.openxmlformats.org/officeDocument/2006/relationships/tags" Target="../tags/tag102.xml"/><Relationship Id="rId4" Type="http://schemas.openxmlformats.org/officeDocument/2006/relationships/tags" Target="../tags/tag96.xml"/><Relationship Id="rId9" Type="http://schemas.openxmlformats.org/officeDocument/2006/relationships/tags" Target="../tags/tag101.xml"/></Relationships>
</file>

<file path=ppt/slides/_rels/slide13.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chart" Target="../charts/chart1.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106.xml"/></Relationships>
</file>

<file path=ppt/slides/_rels/slide14.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tags" Target="../tags/tag109.xml"/><Relationship Id="rId7" Type="http://schemas.openxmlformats.org/officeDocument/2006/relationships/notesSlide" Target="../notesSlides/notesSlide14.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slideLayout" Target="../slideLayouts/slideLayout2.xml"/><Relationship Id="rId5" Type="http://schemas.openxmlformats.org/officeDocument/2006/relationships/tags" Target="../tags/tag111.xml"/><Relationship Id="rId4" Type="http://schemas.openxmlformats.org/officeDocument/2006/relationships/tags" Target="../tags/tag110.xml"/></Relationships>
</file>

<file path=ppt/slides/_rels/slide15.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notesSlide" Target="../notesSlides/notesSlide15.xml"/><Relationship Id="rId5" Type="http://schemas.openxmlformats.org/officeDocument/2006/relationships/slideLayout" Target="../slideLayouts/slideLayout2.xml"/><Relationship Id="rId4" Type="http://schemas.openxmlformats.org/officeDocument/2006/relationships/tags" Target="../tags/tag115.xml"/></Relationships>
</file>

<file path=ppt/slides/_rels/slide16.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119.xml"/></Relationships>
</file>

<file path=ppt/slides/_rels/slide17.xml.rels><?xml version="1.0" encoding="UTF-8" standalone="yes"?>
<Relationships xmlns="http://schemas.openxmlformats.org/package/2006/relationships"><Relationship Id="rId3" Type="http://schemas.openxmlformats.org/officeDocument/2006/relationships/tags" Target="../tags/tag122.xml"/><Relationship Id="rId7" Type="http://schemas.openxmlformats.org/officeDocument/2006/relationships/notesSlide" Target="../notesSlides/notesSlide17.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slideLayout" Target="../slideLayouts/slideLayout2.xml"/><Relationship Id="rId5" Type="http://schemas.openxmlformats.org/officeDocument/2006/relationships/tags" Target="../tags/tag124.xml"/><Relationship Id="rId4" Type="http://schemas.openxmlformats.org/officeDocument/2006/relationships/tags" Target="../tags/tag123.xml"/></Relationships>
</file>

<file path=ppt/slides/_rels/slide18.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tags" Target="../tags/tag128.xml"/></Relationships>
</file>

<file path=ppt/slides/_rels/slide19.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tags" Target="../tags/tag132.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35.xml"/><Relationship Id="rId7" Type="http://schemas.openxmlformats.org/officeDocument/2006/relationships/tags" Target="../tags/tag139.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5" Type="http://schemas.openxmlformats.org/officeDocument/2006/relationships/tags" Target="../tags/tag137.xml"/><Relationship Id="rId10" Type="http://schemas.openxmlformats.org/officeDocument/2006/relationships/image" Target="../media/image12.emf"/><Relationship Id="rId4" Type="http://schemas.openxmlformats.org/officeDocument/2006/relationships/tags" Target="../tags/tag136.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tags" Target="../tags/tag152.xml"/><Relationship Id="rId18" Type="http://schemas.openxmlformats.org/officeDocument/2006/relationships/image" Target="../media/image15.emf"/><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17" Type="http://schemas.openxmlformats.org/officeDocument/2006/relationships/image" Target="../media/image14.emf"/><Relationship Id="rId2" Type="http://schemas.openxmlformats.org/officeDocument/2006/relationships/tags" Target="../tags/tag141.xml"/><Relationship Id="rId16" Type="http://schemas.openxmlformats.org/officeDocument/2006/relationships/image" Target="../media/image13.emf"/><Relationship Id="rId20" Type="http://schemas.openxmlformats.org/officeDocument/2006/relationships/image" Target="../media/image17.emf"/><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notesSlide" Target="../notesSlides/notesSlide21.xml"/><Relationship Id="rId10" Type="http://schemas.openxmlformats.org/officeDocument/2006/relationships/tags" Target="../tags/tag149.xml"/><Relationship Id="rId19" Type="http://schemas.openxmlformats.org/officeDocument/2006/relationships/image" Target="../media/image16.emf"/><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3" Type="http://schemas.openxmlformats.org/officeDocument/2006/relationships/tags" Target="../tags/tag155.xml"/><Relationship Id="rId7" Type="http://schemas.openxmlformats.org/officeDocument/2006/relationships/slideLayout" Target="../slideLayouts/slideLayout2.xml"/><Relationship Id="rId12" Type="http://schemas.openxmlformats.org/officeDocument/2006/relationships/image" Target="../media/image21.png"/><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tags" Target="../tags/tag158.xml"/><Relationship Id="rId11" Type="http://schemas.openxmlformats.org/officeDocument/2006/relationships/image" Target="../media/image20.png"/><Relationship Id="rId5" Type="http://schemas.openxmlformats.org/officeDocument/2006/relationships/tags" Target="../tags/tag157.xml"/><Relationship Id="rId10" Type="http://schemas.openxmlformats.org/officeDocument/2006/relationships/image" Target="../media/image19.png"/><Relationship Id="rId4" Type="http://schemas.openxmlformats.org/officeDocument/2006/relationships/tags" Target="../tags/tag156.xml"/><Relationship Id="rId9" Type="http://schemas.openxmlformats.org/officeDocument/2006/relationships/image" Target="../media/image18.png"/></Relationships>
</file>

<file path=ppt/slides/_rels/slide2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tags" Target="../tags/tag161.xml"/><Relationship Id="rId7" Type="http://schemas.openxmlformats.org/officeDocument/2006/relationships/notesSlide" Target="../notesSlides/notesSlide23.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slideLayout" Target="../slideLayouts/slideLayout2.xml"/><Relationship Id="rId5" Type="http://schemas.openxmlformats.org/officeDocument/2006/relationships/tags" Target="../tags/tag163.xml"/><Relationship Id="rId4" Type="http://schemas.openxmlformats.org/officeDocument/2006/relationships/tags" Target="../tags/tag162.xml"/></Relationships>
</file>

<file path=ppt/slides/_rels/slide24.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image" Target="../media/image22.png"/><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notesSlide" Target="../notesSlides/notesSlide24.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slideLayout" Target="../slideLayouts/slideLayout2.xml"/><Relationship Id="rId5" Type="http://schemas.openxmlformats.org/officeDocument/2006/relationships/tags" Target="../tags/tag168.xml"/><Relationship Id="rId10" Type="http://schemas.openxmlformats.org/officeDocument/2006/relationships/tags" Target="../tags/tag174.xml"/><Relationship Id="rId4" Type="http://schemas.openxmlformats.org/officeDocument/2006/relationships/tags" Target="../tags/tag167.xml"/><Relationship Id="rId9" Type="http://schemas.openxmlformats.org/officeDocument/2006/relationships/tags" Target="../tags/tag172.xml"/></Relationships>
</file>

<file path=ppt/slides/_rels/slide25.xml.rels><?xml version="1.0" encoding="UTF-8" standalone="yes"?>
<Relationships xmlns="http://schemas.openxmlformats.org/package/2006/relationships"><Relationship Id="rId8" Type="http://schemas.openxmlformats.org/officeDocument/2006/relationships/tags" Target="../tags/tag182.xml"/><Relationship Id="rId3" Type="http://schemas.openxmlformats.org/officeDocument/2006/relationships/tags" Target="../tags/tag177.xml"/><Relationship Id="rId7" Type="http://schemas.openxmlformats.org/officeDocument/2006/relationships/tags" Target="../tags/tag181.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notesSlide" Target="../notesSlides/notesSlide25.xml"/><Relationship Id="rId5" Type="http://schemas.openxmlformats.org/officeDocument/2006/relationships/tags" Target="../tags/tag179.xml"/><Relationship Id="rId10" Type="http://schemas.openxmlformats.org/officeDocument/2006/relationships/slideLayout" Target="../slideLayouts/slideLayout2.xml"/><Relationship Id="rId4" Type="http://schemas.openxmlformats.org/officeDocument/2006/relationships/tags" Target="../tags/tag178.xml"/><Relationship Id="rId9" Type="http://schemas.openxmlformats.org/officeDocument/2006/relationships/tags" Target="../tags/tag183.xml"/></Relationships>
</file>

<file path=ppt/slides/_rels/slide26.xml.rels><?xml version="1.0" encoding="UTF-8" standalone="yes"?>
<Relationships xmlns="http://schemas.openxmlformats.org/package/2006/relationships"><Relationship Id="rId8" Type="http://schemas.openxmlformats.org/officeDocument/2006/relationships/tags" Target="../tags/tag191.xml"/><Relationship Id="rId13" Type="http://schemas.openxmlformats.org/officeDocument/2006/relationships/notesSlide" Target="../notesSlides/notesSlide26.xml"/><Relationship Id="rId3" Type="http://schemas.openxmlformats.org/officeDocument/2006/relationships/tags" Target="../tags/tag186.xml"/><Relationship Id="rId7" Type="http://schemas.openxmlformats.org/officeDocument/2006/relationships/tags" Target="../tags/tag190.xml"/><Relationship Id="rId12" Type="http://schemas.openxmlformats.org/officeDocument/2006/relationships/slideLayout" Target="../slideLayouts/slideLayout2.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tags" Target="../tags/tag189.xml"/><Relationship Id="rId11" Type="http://schemas.openxmlformats.org/officeDocument/2006/relationships/tags" Target="../tags/tag194.xml"/><Relationship Id="rId5" Type="http://schemas.openxmlformats.org/officeDocument/2006/relationships/tags" Target="../tags/tag188.xml"/><Relationship Id="rId10" Type="http://schemas.openxmlformats.org/officeDocument/2006/relationships/tags" Target="../tags/tag193.xml"/><Relationship Id="rId4" Type="http://schemas.openxmlformats.org/officeDocument/2006/relationships/tags" Target="../tags/tag187.xml"/><Relationship Id="rId9" Type="http://schemas.openxmlformats.org/officeDocument/2006/relationships/tags" Target="../tags/tag192.xml"/><Relationship Id="rId14" Type="http://schemas.openxmlformats.org/officeDocument/2006/relationships/image" Target="../media/image23.emf"/></Relationships>
</file>

<file path=ppt/slides/_rels/slide27.xml.rels><?xml version="1.0" encoding="UTF-8" standalone="yes"?>
<Relationships xmlns="http://schemas.openxmlformats.org/package/2006/relationships"><Relationship Id="rId8" Type="http://schemas.openxmlformats.org/officeDocument/2006/relationships/tags" Target="../tags/tag202.xml"/><Relationship Id="rId13" Type="http://schemas.openxmlformats.org/officeDocument/2006/relationships/tags" Target="../tags/tag207.xml"/><Relationship Id="rId18" Type="http://schemas.openxmlformats.org/officeDocument/2006/relationships/slideLayout" Target="../slideLayouts/slideLayout2.xml"/><Relationship Id="rId3" Type="http://schemas.openxmlformats.org/officeDocument/2006/relationships/tags" Target="../tags/tag197.xml"/><Relationship Id="rId7" Type="http://schemas.openxmlformats.org/officeDocument/2006/relationships/tags" Target="../tags/tag201.xml"/><Relationship Id="rId12" Type="http://schemas.openxmlformats.org/officeDocument/2006/relationships/tags" Target="../tags/tag206.xml"/><Relationship Id="rId17" Type="http://schemas.openxmlformats.org/officeDocument/2006/relationships/tags" Target="../tags/tag211.xml"/><Relationship Id="rId2" Type="http://schemas.openxmlformats.org/officeDocument/2006/relationships/tags" Target="../tags/tag196.xml"/><Relationship Id="rId16" Type="http://schemas.openxmlformats.org/officeDocument/2006/relationships/tags" Target="../tags/tag210.xml"/><Relationship Id="rId20" Type="http://schemas.openxmlformats.org/officeDocument/2006/relationships/image" Target="../media/image24.jpeg"/><Relationship Id="rId1" Type="http://schemas.openxmlformats.org/officeDocument/2006/relationships/tags" Target="../tags/tag195.xml"/><Relationship Id="rId6" Type="http://schemas.openxmlformats.org/officeDocument/2006/relationships/tags" Target="../tags/tag200.xml"/><Relationship Id="rId11" Type="http://schemas.openxmlformats.org/officeDocument/2006/relationships/tags" Target="../tags/tag205.xml"/><Relationship Id="rId5" Type="http://schemas.openxmlformats.org/officeDocument/2006/relationships/tags" Target="../tags/tag199.xml"/><Relationship Id="rId15" Type="http://schemas.openxmlformats.org/officeDocument/2006/relationships/tags" Target="../tags/tag209.xml"/><Relationship Id="rId10" Type="http://schemas.openxmlformats.org/officeDocument/2006/relationships/tags" Target="../tags/tag204.xml"/><Relationship Id="rId19" Type="http://schemas.openxmlformats.org/officeDocument/2006/relationships/notesSlide" Target="../notesSlides/notesSlide27.xml"/><Relationship Id="rId4" Type="http://schemas.openxmlformats.org/officeDocument/2006/relationships/tags" Target="../tags/tag198.xml"/><Relationship Id="rId9" Type="http://schemas.openxmlformats.org/officeDocument/2006/relationships/tags" Target="../tags/tag203.xml"/><Relationship Id="rId14" Type="http://schemas.openxmlformats.org/officeDocument/2006/relationships/tags" Target="../tags/tag208.xml"/></Relationships>
</file>

<file path=ppt/slides/_rels/slide28.xml.rels><?xml version="1.0" encoding="UTF-8" standalone="yes"?>
<Relationships xmlns="http://schemas.openxmlformats.org/package/2006/relationships"><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notesSlide" Target="../notesSlides/notesSlide28.xml"/><Relationship Id="rId5" Type="http://schemas.openxmlformats.org/officeDocument/2006/relationships/slideLayout" Target="../slideLayouts/slideLayout2.xml"/><Relationship Id="rId4" Type="http://schemas.openxmlformats.org/officeDocument/2006/relationships/tags" Target="../tags/tag2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F831BF55-F706-4EA0-ADB2-762E59B97EC4}"/>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dirty="0"/>
              <a:t>ECE/CS 552: Parallel Processors</a:t>
            </a:r>
          </a:p>
        </p:txBody>
      </p:sp>
      <p:sp>
        <p:nvSpPr>
          <p:cNvPr id="3" name="Subtitle 2">
            <a:extLst>
              <a:ext uri="{FF2B5EF4-FFF2-40B4-BE49-F238E27FC236}">
                <a16:creationId xmlns:a16="http://schemas.microsoft.com/office/drawing/2014/main" id="{60F7F15D-B052-485D-B6FA-83AEEE3C0BC0}"/>
              </a:ext>
            </a:extLst>
          </p:cNvPr>
          <p:cNvSpPr>
            <a:spLocks noGrp="1"/>
          </p:cNvSpPr>
          <p:nvPr>
            <p:ph type="subTitle" idx="1"/>
            <p:custDataLst>
              <p:tags r:id="rId3"/>
            </p:custDataLst>
          </p:nvPr>
        </p:nvSpPr>
        <p:spPr>
          <a:xfrm>
            <a:off x="1371600" y="3886200"/>
            <a:ext cx="6400800" cy="1752600"/>
          </a:xfrm>
        </p:spPr>
        <p:txBody>
          <a:bodyPr>
            <a:noAutofit/>
          </a:bodyPr>
          <a:lstStyle/>
          <a:p>
            <a:pPr eaLnBrk="1" hangingPunct="1">
              <a:buFont typeface="Arial" charset="0"/>
              <a:buNone/>
              <a:defRPr/>
            </a:pPr>
            <a:r>
              <a:rPr lang="en-US" sz="2200" dirty="0"/>
              <a:t>Boone Severson</a:t>
            </a:r>
          </a:p>
          <a:p>
            <a:pPr eaLnBrk="1" hangingPunct="1">
              <a:buFont typeface="Arial" charset="0"/>
              <a:buNone/>
              <a:defRPr/>
            </a:pPr>
            <a:endParaRPr lang="en-US" sz="2200" dirty="0"/>
          </a:p>
          <a:p>
            <a:pPr eaLnBrk="1" hangingPunct="1">
              <a:buFont typeface="Arial" charset="0"/>
              <a:buNone/>
              <a:defRPr/>
            </a:pPr>
            <a:r>
              <a:rPr lang="en-US" sz="2200" dirty="0"/>
              <a:t>Lecture notes based in part on slides created by Joshua San Miguel, </a:t>
            </a:r>
            <a:r>
              <a:rPr lang="en-US" sz="2200" dirty="0" err="1"/>
              <a:t>Mikko</a:t>
            </a:r>
            <a:r>
              <a:rPr lang="en-US" sz="2200" dirty="0"/>
              <a:t> </a:t>
            </a:r>
            <a:r>
              <a:rPr lang="en-US" sz="2200" dirty="0" err="1"/>
              <a:t>Lipasti</a:t>
            </a:r>
            <a:r>
              <a:rPr lang="en-US" sz="2200" dirty="0"/>
              <a:t>, Mark Hill, David Wood, </a:t>
            </a:r>
            <a:r>
              <a:rPr lang="en-US" sz="2200" dirty="0" err="1"/>
              <a:t>Guri</a:t>
            </a:r>
            <a:r>
              <a:rPr lang="en-US" sz="2200" dirty="0"/>
              <a:t> Sohi, John Shen and Jim Smith</a:t>
            </a:r>
          </a:p>
          <a:p>
            <a:pPr eaLnBrk="1" hangingPunct="1">
              <a:buFont typeface="Arial" charset="0"/>
              <a:buNone/>
              <a:defRPr/>
            </a:pPr>
            <a:r>
              <a:rPr lang="en-US" sz="2200" dirty="0"/>
              <a:t>  </a:t>
            </a:r>
          </a:p>
          <a:p>
            <a:pPr eaLnBrk="1" hangingPunct="1">
              <a:buFont typeface="Arial" charset="0"/>
              <a:buNone/>
              <a:defRPr/>
            </a:pPr>
            <a:endParaRPr lang="en-US" sz="2200" dirty="0"/>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Forecast</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0"/>
            <a:ext cx="8229600" cy="3428999"/>
          </a:xfrm>
        </p:spPr>
        <p:txBody>
          <a:bodyPr/>
          <a:lstStyle/>
          <a:p>
            <a:pPr eaLnBrk="1" hangingPunct="1"/>
            <a:r>
              <a:rPr lang="en-US" altLang="en-US" dirty="0"/>
              <a:t>Why multicore?</a:t>
            </a:r>
          </a:p>
          <a:p>
            <a:pPr eaLnBrk="1" hangingPunct="1"/>
            <a:r>
              <a:rPr lang="en-US" altLang="en-US" dirty="0"/>
              <a:t>Parallelism</a:t>
            </a:r>
          </a:p>
          <a:p>
            <a:pPr eaLnBrk="1" hangingPunct="1"/>
            <a:r>
              <a:rPr lang="en-US" altLang="en-US" dirty="0"/>
              <a:t>Multithreading</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a:t>
            </a:fld>
            <a:endParaRPr lang="en-US" altLang="en-US" sz="1400">
              <a:latin typeface="Times New Roman" panose="02020603050405020304" pitchFamily="18" charset="0"/>
            </a:endParaRPr>
          </a:p>
        </p:txBody>
      </p:sp>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Why Multicore?</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761999"/>
          </a:xfrm>
        </p:spPr>
        <p:txBody>
          <a:bodyPr/>
          <a:lstStyle/>
          <a:p>
            <a:pPr eaLnBrk="1" hangingPunct="1"/>
            <a:r>
              <a:rPr lang="en-US" altLang="en-US" dirty="0"/>
              <a:t>For years, transistor scaling:</a:t>
            </a:r>
          </a:p>
          <a:p>
            <a:pPr lvl="1" eaLnBrk="1" hangingPunct="1"/>
            <a:endParaRPr lang="en-US" altLang="en-US" dirty="0"/>
          </a:p>
          <a:p>
            <a:pPr lvl="1" eaLnBrk="1" hangingPunct="1"/>
            <a:endParaRPr lang="en-US" altLang="en-US" dirty="0"/>
          </a:p>
          <a:p>
            <a:pPr lvl="1" eaLnBrk="1" hangingPunct="1"/>
            <a:endParaRPr lang="en-US" altLang="en-US" dirty="0"/>
          </a:p>
          <a:p>
            <a:pPr lvl="1" eaLnBrk="1" hangingPunct="1"/>
            <a:r>
              <a:rPr lang="en-US" altLang="en-US" dirty="0"/>
              <a:t>Processor dynamic power:</a:t>
            </a:r>
          </a:p>
          <a:p>
            <a:pPr marL="457200" lvl="1" indent="0" eaLnBrk="1" hangingPunct="1">
              <a:buNone/>
            </a:pPr>
            <a:endParaRPr lang="en-US" altLang="en-US" dirty="0"/>
          </a:p>
          <a:p>
            <a:pPr marL="457200" lvl="1" indent="0" eaLnBrk="1" hangingPunct="1">
              <a:buNone/>
            </a:pPr>
            <a:endParaRPr lang="en-US" altLang="en-US" dirty="0"/>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3</a:t>
            </a:fld>
            <a:endParaRPr lang="en-US" altLang="en-US" sz="140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36A89CD-AB9C-49EF-82F2-5023ED206E1B}"/>
                  </a:ext>
                </a:extLst>
              </p:cNvPr>
              <p:cNvSpPr txBox="1"/>
              <p:nvPr>
                <p:custDataLst>
                  <p:tags r:id="rId5"/>
                </p:custDataLst>
              </p:nvPr>
            </p:nvSpPr>
            <p:spPr>
              <a:xfrm>
                <a:off x="240821" y="2133600"/>
                <a:ext cx="8662358" cy="2319068"/>
              </a:xfrm>
              <a:prstGeom prst="rect">
                <a:avLst/>
              </a:prstGeom>
              <a:noFill/>
            </p:spPr>
            <p:txBody>
              <a:bodyPr wrap="square" rtlCol="0" anchor="t">
                <a:noAutofit/>
              </a:bodyPr>
              <a:lstStyle/>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𝑎𝑟𝑒𝑎</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 ∝ 1/</m:t>
                      </m:r>
                      <m:sSup>
                        <m:sSupPr>
                          <m:ctrlPr>
                            <a:rPr lang="en-US" sz="2400" b="0" i="1" kern="1200" smtClean="0">
                              <a:solidFill>
                                <a:schemeClr val="tx1"/>
                              </a:solidFill>
                              <a:latin typeface="Cambria Math" panose="02040503050406030204" pitchFamily="18" charset="0"/>
                              <a:ea typeface="Cambria Math" panose="02040503050406030204" pitchFamily="18" charset="0"/>
                            </a:rPr>
                          </m:ctrlPr>
                        </m:sSupPr>
                        <m:e>
                          <m:r>
                            <a:rPr lang="en-US" sz="2400" b="0" i="1" kern="1200" smtClean="0">
                              <a:solidFill>
                                <a:schemeClr val="tx1"/>
                              </a:solidFill>
                              <a:latin typeface="Cambria Math" panose="02040503050406030204" pitchFamily="18" charset="0"/>
                              <a:ea typeface="Cambria Math" panose="02040503050406030204" pitchFamily="18" charset="0"/>
                            </a:rPr>
                            <m:t>𝑋</m:t>
                          </m:r>
                        </m:e>
                        <m:sup>
                          <m:r>
                            <a:rPr lang="en-US" sz="2400" b="0" i="1" kern="1200" smtClean="0">
                              <a:solidFill>
                                <a:schemeClr val="tx1"/>
                              </a:solidFill>
                              <a:latin typeface="Cambria Math" panose="02040503050406030204" pitchFamily="18" charset="0"/>
                              <a:ea typeface="Cambria Math" panose="02040503050406030204" pitchFamily="18" charset="0"/>
                            </a:rPr>
                            <m:t>2</m:t>
                          </m:r>
                        </m:sup>
                      </m:sSup>
                    </m:oMath>
                  </m:oMathPara>
                </a14:m>
                <a:endParaRPr lang="en-US" sz="2400" kern="1200" dirty="0">
                  <a:solidFill>
                    <a:schemeClr val="tx1"/>
                  </a:solidFill>
                </a:endParaRPr>
              </a:p>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𝑣𝑜𝑙𝑡𝑎𝑔𝑒</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𝑉</m:t>
                      </m:r>
                      <m:r>
                        <a:rPr lang="en-US" sz="2400" b="0" i="1" kern="1200" smtClean="0">
                          <a:solidFill>
                            <a:schemeClr val="tx1"/>
                          </a:solidFill>
                          <a:latin typeface="Cambria Math" panose="02040503050406030204" pitchFamily="18" charset="0"/>
                        </a:rPr>
                        <m:t> ∝1/</m:t>
                      </m:r>
                      <m:r>
                        <a:rPr lang="en-US" sz="2400" b="0" i="1" kern="1200" smtClean="0">
                          <a:solidFill>
                            <a:schemeClr val="tx1"/>
                          </a:solidFill>
                          <a:latin typeface="Cambria Math" panose="02040503050406030204" pitchFamily="18" charset="0"/>
                          <a:ea typeface="Cambria Math" panose="02040503050406030204" pitchFamily="18" charset="0"/>
                        </a:rPr>
                        <m:t>𝑋</m:t>
                      </m:r>
                    </m:oMath>
                  </m:oMathPara>
                </a14:m>
                <a:endParaRPr lang="en-US" sz="2400" kern="1200" dirty="0">
                  <a:solidFill>
                    <a:schemeClr val="tx1"/>
                  </a:solidFill>
                </a:endParaRPr>
              </a:p>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𝑐𝑎𝑝𝑎𝑐𝑖𝑡𝑎𝑛𝑐𝑒</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𝐶</m:t>
                      </m:r>
                      <m:r>
                        <a:rPr lang="en-US" sz="2400" b="0" i="1" kern="1200" smtClean="0">
                          <a:solidFill>
                            <a:schemeClr val="tx1"/>
                          </a:solidFill>
                          <a:latin typeface="Cambria Math" panose="02040503050406030204" pitchFamily="18" charset="0"/>
                        </a:rPr>
                        <m:t> ∝1/</m:t>
                      </m:r>
                      <m:r>
                        <a:rPr lang="en-US" sz="2400" b="0" i="1" kern="1200" smtClean="0">
                          <a:solidFill>
                            <a:schemeClr val="tx1"/>
                          </a:solidFill>
                          <a:latin typeface="Cambria Math" panose="02040503050406030204" pitchFamily="18" charset="0"/>
                          <a:ea typeface="Cambria Math" panose="02040503050406030204" pitchFamily="18" charset="0"/>
                        </a:rPr>
                        <m:t>𝑋</m:t>
                      </m:r>
                    </m:oMath>
                  </m:oMathPara>
                </a14:m>
                <a:endParaRPr lang="en-US" sz="2400" kern="1200" dirty="0">
                  <a:solidFill>
                    <a:schemeClr val="tx1"/>
                  </a:solidFill>
                </a:endParaRPr>
              </a:p>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𝑠𝑤𝑖𝑡𝑐h𝑖𝑛𝑔</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𝑑𝑒𝑙𝑎𝑦</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𝑇</m:t>
                      </m:r>
                      <m:r>
                        <a:rPr lang="en-US" sz="2400" b="0" i="1" kern="1200" smtClean="0">
                          <a:solidFill>
                            <a:schemeClr val="tx1"/>
                          </a:solidFill>
                          <a:latin typeface="Cambria Math" panose="02040503050406030204" pitchFamily="18" charset="0"/>
                        </a:rPr>
                        <m:t> ∝1/</m:t>
                      </m:r>
                      <m:r>
                        <a:rPr lang="en-US" sz="2400" b="0" i="1" kern="1200" smtClean="0">
                          <a:solidFill>
                            <a:schemeClr val="tx1"/>
                          </a:solidFill>
                          <a:latin typeface="Cambria Math" panose="02040503050406030204" pitchFamily="18" charset="0"/>
                          <a:ea typeface="Cambria Math" panose="02040503050406030204" pitchFamily="18" charset="0"/>
                        </a:rPr>
                        <m:t>𝑋</m:t>
                      </m:r>
                    </m:oMath>
                  </m:oMathPara>
                </a14:m>
                <a:endParaRPr lang="en-US" sz="2400" kern="1200" dirty="0">
                  <a:solidFill>
                    <a:schemeClr val="tx1"/>
                  </a:solidFill>
                </a:endParaRPr>
              </a:p>
            </p:txBody>
          </p:sp>
        </mc:Choice>
        <mc:Fallback xmlns="">
          <p:sp>
            <p:nvSpPr>
              <p:cNvPr id="13" name="TextBox 12">
                <a:extLst>
                  <a:ext uri="{FF2B5EF4-FFF2-40B4-BE49-F238E27FC236}">
                    <a16:creationId xmlns:a16="http://schemas.microsoft.com/office/drawing/2014/main" id="{836A89CD-AB9C-49EF-82F2-5023ED206E1B}"/>
                  </a:ext>
                </a:extLst>
              </p:cNvPr>
              <p:cNvSpPr txBox="1">
                <a:spLocks noRot="1" noChangeAspect="1" noMove="1" noResize="1" noEditPoints="1" noAdjustHandles="1" noChangeArrowheads="1" noChangeShapeType="1" noTextEdit="1"/>
              </p:cNvSpPr>
              <p:nvPr>
                <p:custDataLst>
                  <p:tags r:id="rId14"/>
                </p:custDataLst>
              </p:nvPr>
            </p:nvSpPr>
            <p:spPr>
              <a:xfrm>
                <a:off x="240821" y="2133600"/>
                <a:ext cx="8662358" cy="2319068"/>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615FD3E-8B0C-44C4-B775-58DEBA23A835}"/>
                  </a:ext>
                </a:extLst>
              </p:cNvPr>
              <p:cNvSpPr txBox="1"/>
              <p:nvPr>
                <p:custDataLst>
                  <p:tags r:id="rId6"/>
                </p:custDataLst>
              </p:nvPr>
            </p:nvSpPr>
            <p:spPr>
              <a:xfrm>
                <a:off x="246932" y="4267200"/>
                <a:ext cx="8650137" cy="685800"/>
              </a:xfrm>
              <a:prstGeom prst="rect">
                <a:avLst/>
              </a:prstGeom>
              <a:noFill/>
            </p:spPr>
            <p:txBody>
              <a:bodyPr wrap="square" rtlCol="0" anchor="t">
                <a:noAutofit/>
              </a:bodyPr>
              <a:lstStyle/>
              <a:p>
                <a:pPr algn="ct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𝐷</m:t>
                          </m:r>
                        </m:sub>
                      </m:sSub>
                      <m:r>
                        <a:rPr lang="en-US" sz="2400" b="0" i="1" smtClean="0">
                          <a:latin typeface="Cambria Math" panose="02040503050406030204" pitchFamily="18" charset="0"/>
                        </a:rPr>
                        <m:t> </m:t>
                      </m:r>
                      <m:r>
                        <a:rPr lang="en-US" sz="2400" b="0" i="1" kern="1200" smtClean="0">
                          <a:solidFill>
                            <a:schemeClr val="tx1"/>
                          </a:solidFill>
                          <a:latin typeface="Cambria Math" panose="02040503050406030204" pitchFamily="18" charset="0"/>
                        </a:rPr>
                        <m:t>≈</m:t>
                      </m:r>
                      <m:r>
                        <a:rPr lang="en-US" sz="2400" b="0" i="1" kern="1200" smtClean="0">
                          <a:solidFill>
                            <a:schemeClr val="tx1"/>
                          </a:solidFill>
                          <a:latin typeface="Cambria Math" panose="02040503050406030204" pitchFamily="18" charset="0"/>
                          <a:ea typeface="Cambria Math" panose="02040503050406030204" pitchFamily="18" charset="0"/>
                        </a:rPr>
                        <m:t>𝑛</m:t>
                      </m:r>
                      <m:r>
                        <a:rPr lang="en-US" sz="2400" b="0" i="1" kern="1200" smtClean="0">
                          <a:solidFill>
                            <a:schemeClr val="tx1"/>
                          </a:solidFill>
                          <a:latin typeface="Cambria Math" panose="02040503050406030204" pitchFamily="18" charset="0"/>
                          <a:ea typeface="Cambria Math" panose="02040503050406030204" pitchFamily="18" charset="0"/>
                        </a:rPr>
                        <m:t> ∙ </m:t>
                      </m:r>
                      <m:d>
                        <m:dPr>
                          <m:ctrlPr>
                            <a:rPr lang="en-US" sz="2400" b="0" i="1" kern="1200" smtClean="0">
                              <a:solidFill>
                                <a:schemeClr val="tx1"/>
                              </a:solidFill>
                              <a:latin typeface="Cambria Math" panose="02040503050406030204" pitchFamily="18" charset="0"/>
                              <a:ea typeface="Cambria Math" panose="02040503050406030204" pitchFamily="18" charset="0"/>
                            </a:rPr>
                          </m:ctrlPr>
                        </m:dPr>
                        <m:e>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𝐶</m:t>
                          </m:r>
                          <m:r>
                            <a:rPr lang="en-US" sz="2400" b="0" i="1" kern="1200" smtClean="0">
                              <a:solidFill>
                                <a:schemeClr val="tx1"/>
                              </a:solidFill>
                              <a:latin typeface="Cambria Math" panose="02040503050406030204" pitchFamily="18" charset="0"/>
                              <a:ea typeface="Cambria Math" panose="02040503050406030204" pitchFamily="18" charset="0"/>
                            </a:rPr>
                            <m:t> ∙</m:t>
                          </m:r>
                          <m:sSup>
                            <m:sSupPr>
                              <m:ctrlPr>
                                <a:rPr lang="en-US" sz="2400" b="0" i="1" kern="1200" smtClean="0">
                                  <a:solidFill>
                                    <a:schemeClr val="tx1"/>
                                  </a:solidFill>
                                  <a:latin typeface="Cambria Math" panose="02040503050406030204" pitchFamily="18" charset="0"/>
                                  <a:ea typeface="Cambria Math" panose="02040503050406030204" pitchFamily="18" charset="0"/>
                                </a:rPr>
                              </m:ctrlPr>
                            </m:sSupPr>
                            <m:e>
                              <m:r>
                                <a:rPr lang="en-US" sz="2400" b="0" i="1" kern="1200" smtClean="0">
                                  <a:solidFill>
                                    <a:schemeClr val="tx1"/>
                                  </a:solidFill>
                                  <a:latin typeface="Cambria Math" panose="02040503050406030204" pitchFamily="18" charset="0"/>
                                  <a:ea typeface="Cambria Math" panose="02040503050406030204" pitchFamily="18" charset="0"/>
                                </a:rPr>
                                <m:t>𝑉</m:t>
                              </m:r>
                            </m:e>
                            <m:sup>
                              <m:r>
                                <a:rPr lang="en-US" sz="2400" b="0" i="1" kern="1200" smtClean="0">
                                  <a:solidFill>
                                    <a:schemeClr val="tx1"/>
                                  </a:solidFill>
                                  <a:latin typeface="Cambria Math" panose="02040503050406030204" pitchFamily="18" charset="0"/>
                                  <a:ea typeface="Cambria Math" panose="02040503050406030204" pitchFamily="18" charset="0"/>
                                </a:rPr>
                                <m:t>2</m:t>
                              </m:r>
                            </m:sup>
                          </m:sSup>
                          <m:r>
                            <a:rPr lang="en-US" sz="2400" b="0" i="1" kern="1200" smtClean="0">
                              <a:solidFill>
                                <a:schemeClr val="tx1"/>
                              </a:solidFill>
                              <a:latin typeface="Cambria Math" panose="02040503050406030204" pitchFamily="18" charset="0"/>
                              <a:ea typeface="Cambria Math" panose="02040503050406030204" pitchFamily="18" charset="0"/>
                            </a:rPr>
                            <m:t> </m:t>
                          </m:r>
                        </m:e>
                      </m:d>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𝛼</m:t>
                      </m:r>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𝑓</m:t>
                      </m:r>
                      <m:r>
                        <a:rPr lang="en-US" sz="2400" b="0" i="1" kern="1200" smtClean="0">
                          <a:solidFill>
                            <a:schemeClr val="tx1"/>
                          </a:solidFill>
                          <a:latin typeface="Cambria Math" panose="02040503050406030204" pitchFamily="18" charset="0"/>
                          <a:ea typeface="Cambria Math" panose="02040503050406030204" pitchFamily="18" charset="0"/>
                        </a:rPr>
                        <m:t> )</m:t>
                      </m:r>
                    </m:oMath>
                  </m:oMathPara>
                </a14:m>
                <a:endParaRPr lang="en-US" sz="2400" kern="1200" dirty="0">
                  <a:solidFill>
                    <a:schemeClr val="tx1"/>
                  </a:solidFill>
                </a:endParaRPr>
              </a:p>
            </p:txBody>
          </p:sp>
        </mc:Choice>
        <mc:Fallback xmlns="">
          <p:sp>
            <p:nvSpPr>
              <p:cNvPr id="14" name="TextBox 13">
                <a:extLst>
                  <a:ext uri="{FF2B5EF4-FFF2-40B4-BE49-F238E27FC236}">
                    <a16:creationId xmlns:a16="http://schemas.microsoft.com/office/drawing/2014/main" id="{D615FD3E-8B0C-44C4-B775-58DEBA23A835}"/>
                  </a:ext>
                </a:extLst>
              </p:cNvPr>
              <p:cNvSpPr txBox="1">
                <a:spLocks noRot="1" noChangeAspect="1" noMove="1" noResize="1" noEditPoints="1" noAdjustHandles="1" noChangeArrowheads="1" noChangeShapeType="1" noTextEdit="1"/>
              </p:cNvSpPr>
              <p:nvPr>
                <p:custDataLst>
                  <p:tags r:id="rId16"/>
                </p:custDataLst>
              </p:nvPr>
            </p:nvSpPr>
            <p:spPr>
              <a:xfrm>
                <a:off x="246932" y="4267200"/>
                <a:ext cx="8650137" cy="685800"/>
              </a:xfrm>
              <a:prstGeom prst="rect">
                <a:avLst/>
              </a:prstGeom>
              <a:blipFill>
                <a:blip r:embed="rId17"/>
                <a:stretch>
                  <a:fillRect/>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0D5591DE-18EB-47B3-8A9F-C0449CE799AB}"/>
              </a:ext>
            </a:extLst>
          </p:cNvPr>
          <p:cNvSpPr txBox="1"/>
          <p:nvPr>
            <p:custDataLst>
              <p:tags r:id="rId7"/>
            </p:custDataLst>
          </p:nvPr>
        </p:nvSpPr>
        <p:spPr>
          <a:xfrm>
            <a:off x="6400800" y="3804149"/>
            <a:ext cx="1050125" cy="338554"/>
          </a:xfrm>
          <a:prstGeom prst="rect">
            <a:avLst/>
          </a:prstGeom>
          <a:noFill/>
        </p:spPr>
        <p:txBody>
          <a:bodyPr wrap="square" rtlCol="0" anchor="ctr">
            <a:spAutoFit/>
          </a:bodyPr>
          <a:lstStyle/>
          <a:p>
            <a:pPr algn="ctr"/>
            <a:r>
              <a:rPr lang="en-US" sz="1600" kern="1200" dirty="0">
                <a:solidFill>
                  <a:schemeClr val="tx1"/>
                </a:solidFill>
                <a:latin typeface="+mn-lt"/>
                <a:ea typeface="+mn-ea"/>
                <a:cs typeface="+mn-cs"/>
              </a:rPr>
              <a:t>frequency</a:t>
            </a:r>
          </a:p>
        </p:txBody>
      </p:sp>
      <p:sp>
        <p:nvSpPr>
          <p:cNvPr id="19" name="TextBox 18">
            <a:extLst>
              <a:ext uri="{FF2B5EF4-FFF2-40B4-BE49-F238E27FC236}">
                <a16:creationId xmlns:a16="http://schemas.microsoft.com/office/drawing/2014/main" id="{A4134F8F-3B40-451A-B0EB-A8A637D45CCF}"/>
              </a:ext>
            </a:extLst>
          </p:cNvPr>
          <p:cNvSpPr txBox="1"/>
          <p:nvPr>
            <p:custDataLst>
              <p:tags r:id="rId8"/>
            </p:custDataLst>
          </p:nvPr>
        </p:nvSpPr>
        <p:spPr>
          <a:xfrm>
            <a:off x="4724400" y="4876800"/>
            <a:ext cx="1391728" cy="338554"/>
          </a:xfrm>
          <a:prstGeom prst="rect">
            <a:avLst/>
          </a:prstGeom>
          <a:noFill/>
        </p:spPr>
        <p:txBody>
          <a:bodyPr wrap="square" rtlCol="0" anchor="ctr">
            <a:spAutoFit/>
          </a:bodyPr>
          <a:lstStyle/>
          <a:p>
            <a:pPr algn="ctr"/>
            <a:r>
              <a:rPr lang="en-US" sz="1600" kern="1200" dirty="0">
                <a:solidFill>
                  <a:schemeClr val="tx1"/>
                </a:solidFill>
                <a:latin typeface="+mn-lt"/>
                <a:ea typeface="+mn-ea"/>
                <a:cs typeface="+mn-cs"/>
              </a:rPr>
              <a:t>activity factor</a:t>
            </a:r>
          </a:p>
        </p:txBody>
      </p:sp>
      <p:sp>
        <p:nvSpPr>
          <p:cNvPr id="20" name="TextBox 19">
            <a:extLst>
              <a:ext uri="{FF2B5EF4-FFF2-40B4-BE49-F238E27FC236}">
                <a16:creationId xmlns:a16="http://schemas.microsoft.com/office/drawing/2014/main" id="{CCCC46C7-FCD6-430C-A39C-C32AB87C63D2}"/>
              </a:ext>
            </a:extLst>
          </p:cNvPr>
          <p:cNvSpPr txBox="1"/>
          <p:nvPr>
            <p:custDataLst>
              <p:tags r:id="rId9"/>
            </p:custDataLst>
          </p:nvPr>
        </p:nvSpPr>
        <p:spPr>
          <a:xfrm>
            <a:off x="1724789" y="4857286"/>
            <a:ext cx="2027203" cy="338554"/>
          </a:xfrm>
          <a:prstGeom prst="rect">
            <a:avLst/>
          </a:prstGeom>
          <a:noFill/>
        </p:spPr>
        <p:txBody>
          <a:bodyPr wrap="square" rtlCol="0" anchor="ctr">
            <a:spAutoFit/>
          </a:bodyPr>
          <a:lstStyle/>
          <a:p>
            <a:pPr algn="ctr"/>
            <a:r>
              <a:rPr lang="en-US" sz="1600" kern="1200" dirty="0">
                <a:solidFill>
                  <a:schemeClr val="tx1"/>
                </a:solidFill>
                <a:latin typeface="+mn-lt"/>
                <a:ea typeface="+mn-ea"/>
                <a:cs typeface="+mn-cs"/>
              </a:rPr>
              <a:t>number of transistors</a:t>
            </a:r>
          </a:p>
        </p:txBody>
      </p:sp>
      <p:cxnSp>
        <p:nvCxnSpPr>
          <p:cNvPr id="21" name="Straight Arrow Connector 20">
            <a:extLst>
              <a:ext uri="{FF2B5EF4-FFF2-40B4-BE49-F238E27FC236}">
                <a16:creationId xmlns:a16="http://schemas.microsoft.com/office/drawing/2014/main" id="{DAA5E2B9-53FE-4D60-86D9-0ED53AFEE76D}"/>
              </a:ext>
            </a:extLst>
          </p:cNvPr>
          <p:cNvCxnSpPr>
            <a:cxnSpLocks/>
          </p:cNvCxnSpPr>
          <p:nvPr/>
        </p:nvCxnSpPr>
        <p:spPr>
          <a:xfrm flipV="1">
            <a:off x="6260481" y="4092039"/>
            <a:ext cx="472297" cy="291249"/>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31DB603-9297-4343-8213-DE0B903B7175}"/>
              </a:ext>
            </a:extLst>
          </p:cNvPr>
          <p:cNvCxnSpPr>
            <a:cxnSpLocks/>
          </p:cNvCxnSpPr>
          <p:nvPr/>
        </p:nvCxnSpPr>
        <p:spPr>
          <a:xfrm flipV="1">
            <a:off x="5562600" y="4705962"/>
            <a:ext cx="86803" cy="241344"/>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DF445C-F603-4DFE-9997-7E89E48EF64F}"/>
              </a:ext>
            </a:extLst>
          </p:cNvPr>
          <p:cNvCxnSpPr>
            <a:cxnSpLocks/>
          </p:cNvCxnSpPr>
          <p:nvPr/>
        </p:nvCxnSpPr>
        <p:spPr>
          <a:xfrm flipV="1">
            <a:off x="2916307" y="4656056"/>
            <a:ext cx="472297" cy="291249"/>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8654602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19" grpId="0"/>
      <p:bldP spid="2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Why Multicore?</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761999"/>
          </a:xfrm>
        </p:spPr>
        <p:txBody>
          <a:bodyPr/>
          <a:lstStyle/>
          <a:p>
            <a:pPr eaLnBrk="1" hangingPunct="1"/>
            <a:r>
              <a:rPr lang="en-US" altLang="en-US" dirty="0"/>
              <a:t>For years, transistor scaling:</a:t>
            </a:r>
          </a:p>
          <a:p>
            <a:pPr lvl="1" eaLnBrk="1" hangingPunct="1"/>
            <a:endParaRPr lang="en-US" altLang="en-US" dirty="0"/>
          </a:p>
          <a:p>
            <a:pPr lvl="1" eaLnBrk="1" hangingPunct="1"/>
            <a:endParaRPr lang="en-US" altLang="en-US" dirty="0"/>
          </a:p>
          <a:p>
            <a:pPr lvl="1" eaLnBrk="1" hangingPunct="1"/>
            <a:endParaRPr lang="en-US" altLang="en-US" dirty="0"/>
          </a:p>
          <a:p>
            <a:pPr lvl="1" eaLnBrk="1" hangingPunct="1"/>
            <a:r>
              <a:rPr lang="en-US" altLang="en-US" dirty="0"/>
              <a:t>Processor dynamic power:</a:t>
            </a:r>
          </a:p>
          <a:p>
            <a:pPr marL="457200" lvl="1" indent="0" eaLnBrk="1" hangingPunct="1">
              <a:buNone/>
            </a:pPr>
            <a:endParaRPr lang="en-US" altLang="en-US" dirty="0"/>
          </a:p>
          <a:p>
            <a:pPr marL="457200" lvl="1" indent="0" eaLnBrk="1" hangingPunct="1">
              <a:buNone/>
            </a:pPr>
            <a:endParaRPr lang="en-US" altLang="en-US" dirty="0"/>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4</a:t>
            </a:fld>
            <a:endParaRPr lang="en-US" altLang="en-US" sz="140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36A89CD-AB9C-49EF-82F2-5023ED206E1B}"/>
                  </a:ext>
                </a:extLst>
              </p:cNvPr>
              <p:cNvSpPr txBox="1"/>
              <p:nvPr>
                <p:custDataLst>
                  <p:tags r:id="rId5"/>
                </p:custDataLst>
              </p:nvPr>
            </p:nvSpPr>
            <p:spPr>
              <a:xfrm>
                <a:off x="240821" y="2133600"/>
                <a:ext cx="8662358" cy="2319068"/>
              </a:xfrm>
              <a:prstGeom prst="rect">
                <a:avLst/>
              </a:prstGeom>
              <a:noFill/>
            </p:spPr>
            <p:txBody>
              <a:bodyPr wrap="square" rtlCol="0" anchor="t">
                <a:noAutofit/>
              </a:bodyPr>
              <a:lstStyle/>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𝑎𝑟𝑒𝑎</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 ∝ 1/</m:t>
                      </m:r>
                      <m:sSup>
                        <m:sSupPr>
                          <m:ctrlPr>
                            <a:rPr lang="en-US" sz="2400" b="0" i="1" kern="1200" smtClean="0">
                              <a:solidFill>
                                <a:schemeClr val="tx1"/>
                              </a:solidFill>
                              <a:latin typeface="Cambria Math" panose="02040503050406030204" pitchFamily="18" charset="0"/>
                              <a:ea typeface="Cambria Math" panose="02040503050406030204" pitchFamily="18" charset="0"/>
                            </a:rPr>
                          </m:ctrlPr>
                        </m:sSupPr>
                        <m:e>
                          <m:r>
                            <a:rPr lang="en-US" sz="2400" b="0" i="1" kern="1200" smtClean="0">
                              <a:solidFill>
                                <a:schemeClr val="tx1"/>
                              </a:solidFill>
                              <a:latin typeface="Cambria Math" panose="02040503050406030204" pitchFamily="18" charset="0"/>
                              <a:ea typeface="Cambria Math" panose="02040503050406030204" pitchFamily="18" charset="0"/>
                            </a:rPr>
                            <m:t>𝑋</m:t>
                          </m:r>
                        </m:e>
                        <m:sup>
                          <m:r>
                            <a:rPr lang="en-US" sz="2400" b="0" i="1" kern="1200" smtClean="0">
                              <a:solidFill>
                                <a:schemeClr val="tx1"/>
                              </a:solidFill>
                              <a:latin typeface="Cambria Math" panose="02040503050406030204" pitchFamily="18" charset="0"/>
                              <a:ea typeface="Cambria Math" panose="02040503050406030204" pitchFamily="18" charset="0"/>
                            </a:rPr>
                            <m:t>2</m:t>
                          </m:r>
                        </m:sup>
                      </m:sSup>
                    </m:oMath>
                  </m:oMathPara>
                </a14:m>
                <a:endParaRPr lang="en-US" sz="2400" kern="1200" dirty="0">
                  <a:solidFill>
                    <a:schemeClr val="tx1"/>
                  </a:solidFill>
                </a:endParaRPr>
              </a:p>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𝑣𝑜𝑙𝑡𝑎𝑔𝑒</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𝑉</m:t>
                      </m:r>
                      <m:r>
                        <a:rPr lang="en-US" sz="2400" b="0" i="1" kern="1200" smtClean="0">
                          <a:solidFill>
                            <a:schemeClr val="tx1"/>
                          </a:solidFill>
                          <a:latin typeface="Cambria Math" panose="02040503050406030204" pitchFamily="18" charset="0"/>
                        </a:rPr>
                        <m:t> ∝1/</m:t>
                      </m:r>
                      <m:r>
                        <a:rPr lang="en-US" sz="2400" b="0" i="1" kern="1200" smtClean="0">
                          <a:solidFill>
                            <a:schemeClr val="tx1"/>
                          </a:solidFill>
                          <a:latin typeface="Cambria Math" panose="02040503050406030204" pitchFamily="18" charset="0"/>
                          <a:ea typeface="Cambria Math" panose="02040503050406030204" pitchFamily="18" charset="0"/>
                        </a:rPr>
                        <m:t>𝑋</m:t>
                      </m:r>
                    </m:oMath>
                  </m:oMathPara>
                </a14:m>
                <a:endParaRPr lang="en-US" sz="2400" kern="1200" dirty="0">
                  <a:solidFill>
                    <a:schemeClr val="tx1"/>
                  </a:solidFill>
                </a:endParaRPr>
              </a:p>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𝑐𝑎𝑝𝑎𝑐𝑖𝑡𝑎𝑛𝑐𝑒</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𝐶</m:t>
                      </m:r>
                      <m:r>
                        <a:rPr lang="en-US" sz="2400" b="0" i="1" kern="1200" smtClean="0">
                          <a:solidFill>
                            <a:schemeClr val="tx1"/>
                          </a:solidFill>
                          <a:latin typeface="Cambria Math" panose="02040503050406030204" pitchFamily="18" charset="0"/>
                        </a:rPr>
                        <m:t> ∝1/</m:t>
                      </m:r>
                      <m:r>
                        <a:rPr lang="en-US" sz="2400" b="0" i="1" kern="1200" smtClean="0">
                          <a:solidFill>
                            <a:schemeClr val="tx1"/>
                          </a:solidFill>
                          <a:latin typeface="Cambria Math" panose="02040503050406030204" pitchFamily="18" charset="0"/>
                          <a:ea typeface="Cambria Math" panose="02040503050406030204" pitchFamily="18" charset="0"/>
                        </a:rPr>
                        <m:t>𝑋</m:t>
                      </m:r>
                    </m:oMath>
                  </m:oMathPara>
                </a14:m>
                <a:endParaRPr lang="en-US" sz="2400" kern="1200" dirty="0">
                  <a:solidFill>
                    <a:schemeClr val="tx1"/>
                  </a:solidFill>
                </a:endParaRPr>
              </a:p>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𝑠𝑤𝑖𝑡𝑐h𝑖𝑛𝑔</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𝑑𝑒𝑙𝑎𝑦</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𝑇</m:t>
                      </m:r>
                      <m:r>
                        <a:rPr lang="en-US" sz="2400" b="0" i="1" kern="1200" smtClean="0">
                          <a:solidFill>
                            <a:schemeClr val="tx1"/>
                          </a:solidFill>
                          <a:latin typeface="Cambria Math" panose="02040503050406030204" pitchFamily="18" charset="0"/>
                        </a:rPr>
                        <m:t> ∝1/</m:t>
                      </m:r>
                      <m:r>
                        <a:rPr lang="en-US" sz="2400" b="0" i="1" kern="1200" smtClean="0">
                          <a:solidFill>
                            <a:schemeClr val="tx1"/>
                          </a:solidFill>
                          <a:latin typeface="Cambria Math" panose="02040503050406030204" pitchFamily="18" charset="0"/>
                          <a:ea typeface="Cambria Math" panose="02040503050406030204" pitchFamily="18" charset="0"/>
                        </a:rPr>
                        <m:t>𝑋</m:t>
                      </m:r>
                    </m:oMath>
                  </m:oMathPara>
                </a14:m>
                <a:endParaRPr lang="en-US" sz="2400" kern="1200" dirty="0">
                  <a:solidFill>
                    <a:schemeClr val="tx1"/>
                  </a:solidFill>
                </a:endParaRPr>
              </a:p>
            </p:txBody>
          </p:sp>
        </mc:Choice>
        <mc:Fallback xmlns="">
          <p:sp>
            <p:nvSpPr>
              <p:cNvPr id="13" name="TextBox 12">
                <a:extLst>
                  <a:ext uri="{FF2B5EF4-FFF2-40B4-BE49-F238E27FC236}">
                    <a16:creationId xmlns:a16="http://schemas.microsoft.com/office/drawing/2014/main" id="{836A89CD-AB9C-49EF-82F2-5023ED206E1B}"/>
                  </a:ext>
                </a:extLst>
              </p:cNvPr>
              <p:cNvSpPr txBox="1">
                <a:spLocks noRot="1" noChangeAspect="1" noMove="1" noResize="1" noEditPoints="1" noAdjustHandles="1" noChangeArrowheads="1" noChangeShapeType="1" noTextEdit="1"/>
              </p:cNvSpPr>
              <p:nvPr>
                <p:custDataLst>
                  <p:tags r:id="rId18"/>
                </p:custDataLst>
              </p:nvPr>
            </p:nvSpPr>
            <p:spPr>
              <a:xfrm>
                <a:off x="240821" y="2133600"/>
                <a:ext cx="8662358" cy="231906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615FD3E-8B0C-44C4-B775-58DEBA23A835}"/>
                  </a:ext>
                </a:extLst>
              </p:cNvPr>
              <p:cNvSpPr txBox="1"/>
              <p:nvPr>
                <p:custDataLst>
                  <p:tags r:id="rId6"/>
                </p:custDataLst>
              </p:nvPr>
            </p:nvSpPr>
            <p:spPr>
              <a:xfrm>
                <a:off x="246932" y="4267200"/>
                <a:ext cx="8650137" cy="685800"/>
              </a:xfrm>
              <a:prstGeom prst="rect">
                <a:avLst/>
              </a:prstGeom>
              <a:noFill/>
            </p:spPr>
            <p:txBody>
              <a:bodyPr wrap="square" rtlCol="0" anchor="t">
                <a:noAutofit/>
              </a:bodyPr>
              <a:lstStyle/>
              <a:p>
                <a:pPr algn="ct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𝐷</m:t>
                          </m:r>
                        </m:sub>
                      </m:sSub>
                      <m:r>
                        <a:rPr lang="en-US" sz="2400" b="0" i="1" smtClean="0">
                          <a:latin typeface="Cambria Math" panose="02040503050406030204" pitchFamily="18" charset="0"/>
                        </a:rPr>
                        <m:t> </m:t>
                      </m:r>
                      <m:r>
                        <a:rPr lang="en-US" sz="2400" b="0" i="1" kern="1200" smtClean="0">
                          <a:solidFill>
                            <a:schemeClr val="tx1"/>
                          </a:solidFill>
                          <a:latin typeface="Cambria Math" panose="02040503050406030204" pitchFamily="18" charset="0"/>
                        </a:rPr>
                        <m:t>≈</m:t>
                      </m:r>
                      <m:r>
                        <a:rPr lang="en-US" sz="2400" b="0" i="1" kern="1200" smtClean="0">
                          <a:solidFill>
                            <a:schemeClr val="tx1"/>
                          </a:solidFill>
                          <a:latin typeface="Cambria Math" panose="02040503050406030204" pitchFamily="18" charset="0"/>
                          <a:ea typeface="Cambria Math" panose="02040503050406030204" pitchFamily="18" charset="0"/>
                        </a:rPr>
                        <m:t>𝑛</m:t>
                      </m:r>
                      <m:r>
                        <a:rPr lang="en-US" sz="2400" b="0" i="1" kern="1200" smtClean="0">
                          <a:solidFill>
                            <a:schemeClr val="tx1"/>
                          </a:solidFill>
                          <a:latin typeface="Cambria Math" panose="02040503050406030204" pitchFamily="18" charset="0"/>
                          <a:ea typeface="Cambria Math" panose="02040503050406030204" pitchFamily="18" charset="0"/>
                        </a:rPr>
                        <m:t> ∙ </m:t>
                      </m:r>
                      <m:d>
                        <m:dPr>
                          <m:ctrlPr>
                            <a:rPr lang="en-US" sz="2400" b="0" i="1" kern="1200" smtClean="0">
                              <a:solidFill>
                                <a:schemeClr val="tx1"/>
                              </a:solidFill>
                              <a:latin typeface="Cambria Math" panose="02040503050406030204" pitchFamily="18" charset="0"/>
                              <a:ea typeface="Cambria Math" panose="02040503050406030204" pitchFamily="18" charset="0"/>
                            </a:rPr>
                          </m:ctrlPr>
                        </m:dPr>
                        <m:e>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𝐶</m:t>
                          </m:r>
                          <m:r>
                            <a:rPr lang="en-US" sz="2400" b="0" i="1" kern="1200" smtClean="0">
                              <a:solidFill>
                                <a:schemeClr val="tx1"/>
                              </a:solidFill>
                              <a:latin typeface="Cambria Math" panose="02040503050406030204" pitchFamily="18" charset="0"/>
                              <a:ea typeface="Cambria Math" panose="02040503050406030204" pitchFamily="18" charset="0"/>
                            </a:rPr>
                            <m:t> ∙</m:t>
                          </m:r>
                          <m:sSup>
                            <m:sSupPr>
                              <m:ctrlPr>
                                <a:rPr lang="en-US" sz="2400" b="0" i="1" kern="1200" smtClean="0">
                                  <a:solidFill>
                                    <a:schemeClr val="tx1"/>
                                  </a:solidFill>
                                  <a:latin typeface="Cambria Math" panose="02040503050406030204" pitchFamily="18" charset="0"/>
                                  <a:ea typeface="Cambria Math" panose="02040503050406030204" pitchFamily="18" charset="0"/>
                                </a:rPr>
                              </m:ctrlPr>
                            </m:sSupPr>
                            <m:e>
                              <m:r>
                                <a:rPr lang="en-US" sz="2400" b="0" i="1" kern="1200" smtClean="0">
                                  <a:solidFill>
                                    <a:schemeClr val="tx1"/>
                                  </a:solidFill>
                                  <a:latin typeface="Cambria Math" panose="02040503050406030204" pitchFamily="18" charset="0"/>
                                  <a:ea typeface="Cambria Math" panose="02040503050406030204" pitchFamily="18" charset="0"/>
                                </a:rPr>
                                <m:t>𝑉</m:t>
                              </m:r>
                            </m:e>
                            <m:sup>
                              <m:r>
                                <a:rPr lang="en-US" sz="2400" b="0" i="1" kern="1200" smtClean="0">
                                  <a:solidFill>
                                    <a:schemeClr val="tx1"/>
                                  </a:solidFill>
                                  <a:latin typeface="Cambria Math" panose="02040503050406030204" pitchFamily="18" charset="0"/>
                                  <a:ea typeface="Cambria Math" panose="02040503050406030204" pitchFamily="18" charset="0"/>
                                </a:rPr>
                                <m:t>2</m:t>
                              </m:r>
                            </m:sup>
                          </m:sSup>
                          <m:r>
                            <a:rPr lang="en-US" sz="2400" b="0" i="1" kern="1200" smtClean="0">
                              <a:solidFill>
                                <a:schemeClr val="tx1"/>
                              </a:solidFill>
                              <a:latin typeface="Cambria Math" panose="02040503050406030204" pitchFamily="18" charset="0"/>
                              <a:ea typeface="Cambria Math" panose="02040503050406030204" pitchFamily="18" charset="0"/>
                            </a:rPr>
                            <m:t> </m:t>
                          </m:r>
                        </m:e>
                      </m:d>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𝛼</m:t>
                      </m:r>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𝑓</m:t>
                      </m:r>
                      <m:r>
                        <a:rPr lang="en-US" sz="2400" b="0" i="1" kern="1200" smtClean="0">
                          <a:solidFill>
                            <a:schemeClr val="tx1"/>
                          </a:solidFill>
                          <a:latin typeface="Cambria Math" panose="02040503050406030204" pitchFamily="18" charset="0"/>
                          <a:ea typeface="Cambria Math" panose="02040503050406030204" pitchFamily="18" charset="0"/>
                        </a:rPr>
                        <m:t> )</m:t>
                      </m:r>
                    </m:oMath>
                  </m:oMathPara>
                </a14:m>
                <a:endParaRPr lang="en-US" sz="2400" kern="1200" dirty="0">
                  <a:solidFill>
                    <a:schemeClr val="tx1"/>
                  </a:solidFill>
                </a:endParaRPr>
              </a:p>
            </p:txBody>
          </p:sp>
        </mc:Choice>
        <mc:Fallback xmlns="">
          <p:sp>
            <p:nvSpPr>
              <p:cNvPr id="14" name="TextBox 13">
                <a:extLst>
                  <a:ext uri="{FF2B5EF4-FFF2-40B4-BE49-F238E27FC236}">
                    <a16:creationId xmlns:a16="http://schemas.microsoft.com/office/drawing/2014/main" id="{D615FD3E-8B0C-44C4-B775-58DEBA23A835}"/>
                  </a:ext>
                </a:extLst>
              </p:cNvPr>
              <p:cNvSpPr txBox="1">
                <a:spLocks noRot="1" noChangeAspect="1" noMove="1" noResize="1" noEditPoints="1" noAdjustHandles="1" noChangeArrowheads="1" noChangeShapeType="1" noTextEdit="1"/>
              </p:cNvSpPr>
              <p:nvPr>
                <p:custDataLst>
                  <p:tags r:id="rId20"/>
                </p:custDataLst>
              </p:nvPr>
            </p:nvSpPr>
            <p:spPr>
              <a:xfrm>
                <a:off x="246932" y="4267200"/>
                <a:ext cx="8650137" cy="685800"/>
              </a:xfrm>
              <a:prstGeom prst="rect">
                <a:avLst/>
              </a:prstGeom>
              <a:blipFill>
                <a:blip r:embed="rId21"/>
                <a:stretch>
                  <a:fillRect/>
                </a:stretch>
              </a:blipFill>
            </p:spPr>
            <p:txBody>
              <a:bodyPr/>
              <a:lstStyle/>
              <a:p>
                <a:r>
                  <a:rPr lang="en-US">
                    <a:noFill/>
                  </a:rPr>
                  <a:t> </a:t>
                </a:r>
              </a:p>
            </p:txBody>
          </p:sp>
        </mc:Fallback>
      </mc:AlternateContent>
      <p:sp>
        <p:nvSpPr>
          <p:cNvPr id="28" name="Right Brace 27">
            <a:extLst>
              <a:ext uri="{FF2B5EF4-FFF2-40B4-BE49-F238E27FC236}">
                <a16:creationId xmlns:a16="http://schemas.microsoft.com/office/drawing/2014/main" id="{B2A137A7-87AF-42A8-B140-55257EF874A7}"/>
              </a:ext>
            </a:extLst>
          </p:cNvPr>
          <p:cNvSpPr/>
          <p:nvPr>
            <p:custDataLst>
              <p:tags r:id="rId7"/>
            </p:custDataLst>
          </p:nvPr>
        </p:nvSpPr>
        <p:spPr>
          <a:xfrm rot="5400000">
            <a:off x="4395699" y="4374846"/>
            <a:ext cx="299052" cy="851139"/>
          </a:xfrm>
          <a:prstGeom prst="rightBrace">
            <a:avLst>
              <a:gd name="adj1" fmla="val 25000"/>
              <a:gd name="adj2" fmla="val 50000"/>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solidFill>
                <a:schemeClr val="accent6">
                  <a:lumMod val="75000"/>
                </a:schemeClr>
              </a:solidFill>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6382F21-C3E4-4C20-ABDA-A63A74082729}"/>
                  </a:ext>
                </a:extLst>
              </p:cNvPr>
              <p:cNvSpPr txBox="1"/>
              <p:nvPr>
                <p:custDataLst>
                  <p:tags r:id="rId8"/>
                </p:custDataLst>
              </p:nvPr>
            </p:nvSpPr>
            <p:spPr>
              <a:xfrm>
                <a:off x="4223731" y="4972946"/>
                <a:ext cx="696537" cy="3441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1" i="1" smtClean="0">
                          <a:solidFill>
                            <a:schemeClr val="accent6">
                              <a:lumMod val="75000"/>
                            </a:schemeClr>
                          </a:solidFill>
                          <a:latin typeface="Cambria Math" panose="02040503050406030204" pitchFamily="18" charset="0"/>
                        </a:rPr>
                        <m:t>𝟏</m:t>
                      </m:r>
                      <m:r>
                        <a:rPr lang="en-US" sz="1600" b="1" i="1" smtClean="0">
                          <a:solidFill>
                            <a:schemeClr val="accent6">
                              <a:lumMod val="75000"/>
                            </a:schemeClr>
                          </a:solidFill>
                          <a:latin typeface="Cambria Math" panose="02040503050406030204" pitchFamily="18" charset="0"/>
                        </a:rPr>
                        <m:t>/</m:t>
                      </m:r>
                      <m:sSup>
                        <m:sSupPr>
                          <m:ctrlPr>
                            <a:rPr lang="en-US" sz="1600" b="1" i="1" smtClean="0">
                              <a:solidFill>
                                <a:schemeClr val="accent6">
                                  <a:lumMod val="75000"/>
                                </a:schemeClr>
                              </a:solidFill>
                              <a:latin typeface="Cambria Math" panose="02040503050406030204" pitchFamily="18" charset="0"/>
                            </a:rPr>
                          </m:ctrlPr>
                        </m:sSupPr>
                        <m:e>
                          <m:r>
                            <a:rPr lang="en-US" sz="1600" b="1" i="1" smtClean="0">
                              <a:solidFill>
                                <a:schemeClr val="accent6">
                                  <a:lumMod val="75000"/>
                                </a:schemeClr>
                              </a:solidFill>
                              <a:latin typeface="Cambria Math" panose="02040503050406030204" pitchFamily="18" charset="0"/>
                            </a:rPr>
                            <m:t>𝑿</m:t>
                          </m:r>
                        </m:e>
                        <m:sup>
                          <m:r>
                            <a:rPr lang="en-US" sz="1600" b="1" i="1" smtClean="0">
                              <a:solidFill>
                                <a:schemeClr val="accent6">
                                  <a:lumMod val="75000"/>
                                </a:schemeClr>
                              </a:solidFill>
                              <a:latin typeface="Cambria Math" panose="02040503050406030204" pitchFamily="18" charset="0"/>
                            </a:rPr>
                            <m:t>𝟑</m:t>
                          </m:r>
                        </m:sup>
                      </m:sSup>
                    </m:oMath>
                  </m:oMathPara>
                </a14:m>
                <a:endParaRPr lang="en-US" sz="1600" b="1" dirty="0">
                  <a:solidFill>
                    <a:schemeClr val="accent6">
                      <a:lumMod val="75000"/>
                    </a:schemeClr>
                  </a:solidFill>
                  <a:latin typeface="+mn-lt"/>
                </a:endParaRPr>
              </a:p>
            </p:txBody>
          </p:sp>
        </mc:Choice>
        <mc:Fallback xmlns="">
          <p:sp>
            <p:nvSpPr>
              <p:cNvPr id="29" name="TextBox 28">
                <a:extLst>
                  <a:ext uri="{FF2B5EF4-FFF2-40B4-BE49-F238E27FC236}">
                    <a16:creationId xmlns:a16="http://schemas.microsoft.com/office/drawing/2014/main" id="{A6382F21-C3E4-4C20-ABDA-A63A74082729}"/>
                  </a:ext>
                </a:extLst>
              </p:cNvPr>
              <p:cNvSpPr txBox="1">
                <a:spLocks noRot="1" noChangeAspect="1" noMove="1" noResize="1" noEditPoints="1" noAdjustHandles="1" noChangeArrowheads="1" noChangeShapeType="1" noTextEdit="1"/>
              </p:cNvSpPr>
              <p:nvPr>
                <p:custDataLst>
                  <p:tags r:id="rId22"/>
                </p:custDataLst>
              </p:nvPr>
            </p:nvSpPr>
            <p:spPr>
              <a:xfrm>
                <a:off x="4223731" y="4972946"/>
                <a:ext cx="696537" cy="344133"/>
              </a:xfrm>
              <a:prstGeom prst="rect">
                <a:avLst/>
              </a:prstGeom>
              <a:blipFill>
                <a:blip r:embed="rId23"/>
                <a:stretch>
                  <a:fillRect b="-10714"/>
                </a:stretch>
              </a:blipFill>
            </p:spPr>
            <p:txBody>
              <a:bodyPr/>
              <a:lstStyle/>
              <a:p>
                <a:r>
                  <a:rPr lang="en-US">
                    <a:noFill/>
                  </a:rPr>
                  <a:t> </a:t>
                </a:r>
              </a:p>
            </p:txBody>
          </p:sp>
        </mc:Fallback>
      </mc:AlternateContent>
      <p:sp>
        <p:nvSpPr>
          <p:cNvPr id="30" name="Right Brace 29">
            <a:extLst>
              <a:ext uri="{FF2B5EF4-FFF2-40B4-BE49-F238E27FC236}">
                <a16:creationId xmlns:a16="http://schemas.microsoft.com/office/drawing/2014/main" id="{02075AF5-840F-455C-94D8-3D8638635A83}"/>
              </a:ext>
            </a:extLst>
          </p:cNvPr>
          <p:cNvSpPr/>
          <p:nvPr>
            <p:custDataLst>
              <p:tags r:id="rId9"/>
            </p:custDataLst>
          </p:nvPr>
        </p:nvSpPr>
        <p:spPr>
          <a:xfrm rot="5400000">
            <a:off x="5995896" y="4652328"/>
            <a:ext cx="299052" cy="301923"/>
          </a:xfrm>
          <a:prstGeom prst="rightBrace">
            <a:avLst>
              <a:gd name="adj1" fmla="val 25000"/>
              <a:gd name="adj2" fmla="val 50000"/>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solidFill>
                <a:schemeClr val="accent6">
                  <a:lumMod val="75000"/>
                </a:schemeClr>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AFA7400-556D-4BDE-B932-DD388364429F}"/>
                  </a:ext>
                </a:extLst>
              </p:cNvPr>
              <p:cNvSpPr txBox="1"/>
              <p:nvPr>
                <p:custDataLst>
                  <p:tags r:id="rId10"/>
                </p:custDataLst>
              </p:nvPr>
            </p:nvSpPr>
            <p:spPr>
              <a:xfrm>
                <a:off x="5934637" y="4975820"/>
                <a:ext cx="373820"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1" i="1" smtClean="0">
                          <a:solidFill>
                            <a:schemeClr val="accent6">
                              <a:lumMod val="75000"/>
                            </a:schemeClr>
                          </a:solidFill>
                          <a:latin typeface="Cambria Math" panose="02040503050406030204" pitchFamily="18" charset="0"/>
                        </a:rPr>
                        <m:t>𝑿</m:t>
                      </m:r>
                    </m:oMath>
                  </m:oMathPara>
                </a14:m>
                <a:endParaRPr lang="en-US" sz="1600" b="1" dirty="0">
                  <a:solidFill>
                    <a:schemeClr val="accent6">
                      <a:lumMod val="75000"/>
                    </a:schemeClr>
                  </a:solidFill>
                  <a:latin typeface="+mn-lt"/>
                </a:endParaRPr>
              </a:p>
            </p:txBody>
          </p:sp>
        </mc:Choice>
        <mc:Fallback xmlns="">
          <p:sp>
            <p:nvSpPr>
              <p:cNvPr id="31" name="TextBox 30">
                <a:extLst>
                  <a:ext uri="{FF2B5EF4-FFF2-40B4-BE49-F238E27FC236}">
                    <a16:creationId xmlns:a16="http://schemas.microsoft.com/office/drawing/2014/main" id="{6AFA7400-556D-4BDE-B932-DD388364429F}"/>
                  </a:ext>
                </a:extLst>
              </p:cNvPr>
              <p:cNvSpPr txBox="1">
                <a:spLocks noRot="1" noChangeAspect="1" noMove="1" noResize="1" noEditPoints="1" noAdjustHandles="1" noChangeArrowheads="1" noChangeShapeType="1" noTextEdit="1"/>
              </p:cNvSpPr>
              <p:nvPr>
                <p:custDataLst>
                  <p:tags r:id="rId24"/>
                </p:custDataLst>
              </p:nvPr>
            </p:nvSpPr>
            <p:spPr>
              <a:xfrm>
                <a:off x="5934637" y="4975820"/>
                <a:ext cx="373820" cy="338554"/>
              </a:xfrm>
              <a:prstGeom prst="rect">
                <a:avLst/>
              </a:prstGeom>
              <a:blipFill>
                <a:blip r:embed="rId25"/>
                <a:stretch>
                  <a:fillRect/>
                </a:stretch>
              </a:blipFill>
            </p:spPr>
            <p:txBody>
              <a:bodyPr/>
              <a:lstStyle/>
              <a:p>
                <a:r>
                  <a:rPr lang="en-US">
                    <a:noFill/>
                  </a:rPr>
                  <a:t> </a:t>
                </a:r>
              </a:p>
            </p:txBody>
          </p:sp>
        </mc:Fallback>
      </mc:AlternateContent>
      <p:sp>
        <p:nvSpPr>
          <p:cNvPr id="32" name="Right Brace 31">
            <a:extLst>
              <a:ext uri="{FF2B5EF4-FFF2-40B4-BE49-F238E27FC236}">
                <a16:creationId xmlns:a16="http://schemas.microsoft.com/office/drawing/2014/main" id="{170D03BD-5CD2-4CF5-95B4-C1994291649C}"/>
              </a:ext>
            </a:extLst>
          </p:cNvPr>
          <p:cNvSpPr/>
          <p:nvPr>
            <p:custDataLst>
              <p:tags r:id="rId11"/>
            </p:custDataLst>
          </p:nvPr>
        </p:nvSpPr>
        <p:spPr>
          <a:xfrm rot="5400000">
            <a:off x="3359098" y="4649451"/>
            <a:ext cx="299052" cy="301923"/>
          </a:xfrm>
          <a:prstGeom prst="rightBrace">
            <a:avLst>
              <a:gd name="adj1" fmla="val 25000"/>
              <a:gd name="adj2" fmla="val 50000"/>
            </a:avLst>
          </a:prstGeom>
          <a:ln w="190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00">
              <a:solidFill>
                <a:schemeClr val="accent6">
                  <a:lumMod val="75000"/>
                </a:schemeClr>
              </a:solidFill>
            </a:endParaRP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C586D13-2995-4483-9FF4-39231D96C9E1}"/>
                  </a:ext>
                </a:extLst>
              </p:cNvPr>
              <p:cNvSpPr txBox="1"/>
              <p:nvPr>
                <p:custDataLst>
                  <p:tags r:id="rId12"/>
                </p:custDataLst>
              </p:nvPr>
            </p:nvSpPr>
            <p:spPr>
              <a:xfrm>
                <a:off x="3263333" y="4972943"/>
                <a:ext cx="472117" cy="3441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1600" b="1" i="1" smtClean="0">
                              <a:solidFill>
                                <a:schemeClr val="accent6">
                                  <a:lumMod val="75000"/>
                                </a:schemeClr>
                              </a:solidFill>
                              <a:latin typeface="Cambria Math" panose="02040503050406030204" pitchFamily="18" charset="0"/>
                            </a:rPr>
                          </m:ctrlPr>
                        </m:sSupPr>
                        <m:e>
                          <m:r>
                            <a:rPr lang="en-US" sz="1600" b="1" i="1" smtClean="0">
                              <a:solidFill>
                                <a:schemeClr val="accent6">
                                  <a:lumMod val="75000"/>
                                </a:schemeClr>
                              </a:solidFill>
                              <a:latin typeface="Cambria Math" panose="02040503050406030204" pitchFamily="18" charset="0"/>
                            </a:rPr>
                            <m:t>𝑿</m:t>
                          </m:r>
                        </m:e>
                        <m:sup>
                          <m:r>
                            <a:rPr lang="en-US" sz="1600" b="1" i="1" smtClean="0">
                              <a:solidFill>
                                <a:schemeClr val="accent6">
                                  <a:lumMod val="75000"/>
                                </a:schemeClr>
                              </a:solidFill>
                              <a:latin typeface="Cambria Math" panose="02040503050406030204" pitchFamily="18" charset="0"/>
                            </a:rPr>
                            <m:t>𝟐</m:t>
                          </m:r>
                        </m:sup>
                      </m:sSup>
                    </m:oMath>
                  </m:oMathPara>
                </a14:m>
                <a:endParaRPr lang="en-US" sz="1600" b="1" dirty="0">
                  <a:solidFill>
                    <a:schemeClr val="accent6">
                      <a:lumMod val="75000"/>
                    </a:schemeClr>
                  </a:solidFill>
                  <a:latin typeface="+mn-lt"/>
                </a:endParaRPr>
              </a:p>
            </p:txBody>
          </p:sp>
        </mc:Choice>
        <mc:Fallback xmlns="">
          <p:sp>
            <p:nvSpPr>
              <p:cNvPr id="33" name="TextBox 32">
                <a:extLst>
                  <a:ext uri="{FF2B5EF4-FFF2-40B4-BE49-F238E27FC236}">
                    <a16:creationId xmlns:a16="http://schemas.microsoft.com/office/drawing/2014/main" id="{EC586D13-2995-4483-9FF4-39231D96C9E1}"/>
                  </a:ext>
                </a:extLst>
              </p:cNvPr>
              <p:cNvSpPr txBox="1">
                <a:spLocks noRot="1" noChangeAspect="1" noMove="1" noResize="1" noEditPoints="1" noAdjustHandles="1" noChangeArrowheads="1" noChangeShapeType="1" noTextEdit="1"/>
              </p:cNvSpPr>
              <p:nvPr>
                <p:custDataLst>
                  <p:tags r:id="rId26"/>
                </p:custDataLst>
              </p:nvPr>
            </p:nvSpPr>
            <p:spPr>
              <a:xfrm>
                <a:off x="3263333" y="4972943"/>
                <a:ext cx="472117" cy="344133"/>
              </a:xfrm>
              <a:prstGeom prst="rect">
                <a:avLst/>
              </a:prstGeom>
              <a:blipFill>
                <a:blip r:embed="rId27"/>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BAE50385-7913-4763-A665-94C7C3FE8B3D}"/>
              </a:ext>
            </a:extLst>
          </p:cNvPr>
          <p:cNvSpPr txBox="1"/>
          <p:nvPr>
            <p:custDataLst>
              <p:tags r:id="rId13"/>
            </p:custDataLst>
          </p:nvPr>
        </p:nvSpPr>
        <p:spPr>
          <a:xfrm>
            <a:off x="286651" y="4843046"/>
            <a:ext cx="2644362" cy="338554"/>
          </a:xfrm>
          <a:prstGeom prst="rect">
            <a:avLst/>
          </a:prstGeom>
          <a:noFill/>
        </p:spPr>
        <p:txBody>
          <a:bodyPr wrap="square" rtlCol="0">
            <a:spAutoFit/>
          </a:bodyPr>
          <a:lstStyle/>
          <a:p>
            <a:r>
              <a:rPr lang="en-US" sz="1600" b="1" dirty="0">
                <a:solidFill>
                  <a:schemeClr val="accent6">
                    <a:lumMod val="75000"/>
                  </a:schemeClr>
                </a:solidFill>
                <a:latin typeface="+mn-lt"/>
              </a:rPr>
              <a:t>similar dynamic power!</a:t>
            </a:r>
          </a:p>
        </p:txBody>
      </p:sp>
      <p:cxnSp>
        <p:nvCxnSpPr>
          <p:cNvPr id="35" name="Straight Arrow Connector 34">
            <a:extLst>
              <a:ext uri="{FF2B5EF4-FFF2-40B4-BE49-F238E27FC236}">
                <a16:creationId xmlns:a16="http://schemas.microsoft.com/office/drawing/2014/main" id="{6BA2AACE-47CE-4DAD-821F-DE908EC9F800}"/>
              </a:ext>
            </a:extLst>
          </p:cNvPr>
          <p:cNvCxnSpPr>
            <a:cxnSpLocks/>
          </p:cNvCxnSpPr>
          <p:nvPr/>
        </p:nvCxnSpPr>
        <p:spPr>
          <a:xfrm flipH="1">
            <a:off x="2286000" y="4692134"/>
            <a:ext cx="275904" cy="184666"/>
          </a:xfrm>
          <a:prstGeom prst="straightConnector1">
            <a:avLst/>
          </a:prstGeom>
          <a:ln w="222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1712980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https://ourworldindata.org/wp-content/uploads/2013/05/Transistor-Count-over-time.png">
            <a:extLst>
              <a:ext uri="{FF2B5EF4-FFF2-40B4-BE49-F238E27FC236}">
                <a16:creationId xmlns:a16="http://schemas.microsoft.com/office/drawing/2014/main" id="{18C34ED6-66F3-4A9B-BE96-50B887F5A0E0}"/>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3335" b="3995"/>
          <a:stretch/>
        </p:blipFill>
        <p:spPr bwMode="auto">
          <a:xfrm>
            <a:off x="1143000" y="2725122"/>
            <a:ext cx="6781800" cy="4094533"/>
          </a:xfrm>
          <a:prstGeom prst="rect">
            <a:avLst/>
          </a:prstGeom>
          <a:noFill/>
          <a:extLst>
            <a:ext uri="{909E8E84-426E-40DD-AFC4-6F175D3DCCD1}">
              <a14:hiddenFill xmlns:a14="http://schemas.microsoft.com/office/drawing/2010/main">
                <a:solidFill>
                  <a:srgbClr val="FFFFFF"/>
                </a:solidFill>
              </a14:hiddenFill>
            </a:ext>
          </a:extLst>
        </p:spPr>
      </p:pic>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Why Multicore?</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761999"/>
          </a:xfrm>
        </p:spPr>
        <p:txBody>
          <a:bodyPr/>
          <a:lstStyle/>
          <a:p>
            <a:pPr eaLnBrk="1" hangingPunct="1"/>
            <a:r>
              <a:rPr lang="en-US" altLang="en-US" b="1" dirty="0"/>
              <a:t>Moore’s Law</a:t>
            </a:r>
            <a:r>
              <a:rPr lang="en-US" altLang="en-US" dirty="0"/>
              <a:t>: Transistor count per chip area doubles roughly every 18 months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5</a:t>
            </a:fld>
            <a:endParaRPr lang="en-US" altLang="en-US" sz="1400">
              <a:latin typeface="Times New Roman" panose="02020603050405020304" pitchFamily="18" charset="0"/>
            </a:endParaRPr>
          </a:p>
        </p:txBody>
      </p:sp>
      <p:sp>
        <p:nvSpPr>
          <p:cNvPr id="11" name="TextBox 10">
            <a:extLst>
              <a:ext uri="{FF2B5EF4-FFF2-40B4-BE49-F238E27FC236}">
                <a16:creationId xmlns:a16="http://schemas.microsoft.com/office/drawing/2014/main" id="{C2F8F277-7942-4787-85FC-DA17C0E6F82A}"/>
              </a:ext>
            </a:extLst>
          </p:cNvPr>
          <p:cNvSpPr txBox="1"/>
          <p:nvPr>
            <p:custDataLst>
              <p:tags r:id="rId5"/>
            </p:custDataLst>
          </p:nvPr>
        </p:nvSpPr>
        <p:spPr>
          <a:xfrm>
            <a:off x="5495255" y="6200001"/>
            <a:ext cx="1819945" cy="276999"/>
          </a:xfrm>
          <a:prstGeom prst="rect">
            <a:avLst/>
          </a:prstGeom>
          <a:noFill/>
        </p:spPr>
        <p:txBody>
          <a:bodyPr wrap="square" rtlCol="0" anchor="ctr">
            <a:spAutoFit/>
          </a:bodyPr>
          <a:lstStyle/>
          <a:p>
            <a:pPr algn="ctr"/>
            <a:r>
              <a:rPr lang="en-US" sz="1200" kern="1200" dirty="0" err="1">
                <a:solidFill>
                  <a:schemeClr val="tx1"/>
                </a:solidFill>
                <a:latin typeface="+mn-lt"/>
                <a:ea typeface="+mn-ea"/>
                <a:cs typeface="+mn-cs"/>
              </a:rPr>
              <a:t>source:wikipedia</a:t>
            </a:r>
            <a:endParaRPr lang="en-US" sz="1200" kern="1200" dirty="0">
              <a:solidFill>
                <a:schemeClr val="tx1"/>
              </a:solidFill>
              <a:latin typeface="+mn-lt"/>
              <a:ea typeface="+mn-ea"/>
              <a:cs typeface="+mn-cs"/>
            </a:endParaRPr>
          </a:p>
        </p:txBody>
      </p:sp>
    </p:spTree>
    <p:custDataLst>
      <p:tags r:id="rId1"/>
    </p:custDataLst>
    <p:extLst>
      <p:ext uri="{BB962C8B-B14F-4D97-AF65-F5344CB8AC3E}">
        <p14:creationId xmlns:p14="http://schemas.microsoft.com/office/powerpoint/2010/main" val="333432920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Why Multicore?</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6</a:t>
            </a:fld>
            <a:endParaRPr lang="en-US" altLang="en-US" sz="1400">
              <a:latin typeface="Times New Roman" panose="02020603050405020304" pitchFamily="18" charset="0"/>
            </a:endParaRPr>
          </a:p>
        </p:txBody>
      </p:sp>
      <p:pic>
        <p:nvPicPr>
          <p:cNvPr id="16" name="Picture 15">
            <a:extLst>
              <a:ext uri="{FF2B5EF4-FFF2-40B4-BE49-F238E27FC236}">
                <a16:creationId xmlns:a16="http://schemas.microsoft.com/office/drawing/2014/main" id="{C28B47EF-F35D-4BD2-B08A-7784E378727D}"/>
              </a:ext>
            </a:extLst>
          </p:cNvPr>
          <p:cNvPicPr>
            <a:picLocks noChangeAspect="1"/>
          </p:cNvPicPr>
          <p:nvPr/>
        </p:nvPicPr>
        <p:blipFill>
          <a:blip r:embed="rId10"/>
          <a:stretch>
            <a:fillRect/>
          </a:stretch>
        </p:blipFill>
        <p:spPr>
          <a:xfrm>
            <a:off x="762000" y="1312653"/>
            <a:ext cx="7620000" cy="4876800"/>
          </a:xfrm>
          <a:prstGeom prst="rect">
            <a:avLst/>
          </a:prstGeom>
        </p:spPr>
      </p:pic>
      <p:sp>
        <p:nvSpPr>
          <p:cNvPr id="17" name="TextBox 16">
            <a:extLst>
              <a:ext uri="{FF2B5EF4-FFF2-40B4-BE49-F238E27FC236}">
                <a16:creationId xmlns:a16="http://schemas.microsoft.com/office/drawing/2014/main" id="{25D0B59A-AE1A-4EDB-8654-E30DA7A066BE}"/>
              </a:ext>
            </a:extLst>
          </p:cNvPr>
          <p:cNvSpPr txBox="1"/>
          <p:nvPr>
            <p:custDataLst>
              <p:tags r:id="rId4"/>
            </p:custDataLst>
          </p:nvPr>
        </p:nvSpPr>
        <p:spPr>
          <a:xfrm>
            <a:off x="6283462" y="2257241"/>
            <a:ext cx="1658592" cy="1471172"/>
          </a:xfrm>
          <a:prstGeom prst="rect">
            <a:avLst/>
          </a:prstGeom>
          <a:noFill/>
        </p:spPr>
        <p:txBody>
          <a:bodyPr wrap="square" rtlCol="0">
            <a:spAutoFit/>
          </a:bodyPr>
          <a:lstStyle/>
          <a:p>
            <a:pPr algn="ctr">
              <a:lnSpc>
                <a:spcPct val="80000"/>
              </a:lnSpc>
            </a:pPr>
            <a:r>
              <a:rPr lang="en-US" sz="1800" b="1" dirty="0">
                <a:solidFill>
                  <a:schemeClr val="accent6">
                    <a:lumMod val="75000"/>
                  </a:schemeClr>
                </a:solidFill>
                <a:latin typeface="+mn-lt"/>
              </a:rPr>
              <a:t>more transistors</a:t>
            </a:r>
          </a:p>
          <a:p>
            <a:pPr algn="ctr">
              <a:lnSpc>
                <a:spcPct val="80000"/>
              </a:lnSpc>
            </a:pPr>
            <a:r>
              <a:rPr lang="en-US" sz="3600" b="1" dirty="0">
                <a:solidFill>
                  <a:schemeClr val="accent6">
                    <a:lumMod val="75000"/>
                  </a:schemeClr>
                </a:solidFill>
                <a:latin typeface="+mn-lt"/>
              </a:rPr>
              <a:t>+</a:t>
            </a:r>
          </a:p>
          <a:p>
            <a:pPr algn="ctr">
              <a:lnSpc>
                <a:spcPct val="80000"/>
              </a:lnSpc>
            </a:pPr>
            <a:r>
              <a:rPr lang="en-US" sz="1800" b="1" dirty="0">
                <a:solidFill>
                  <a:schemeClr val="accent6">
                    <a:lumMod val="75000"/>
                  </a:schemeClr>
                </a:solidFill>
                <a:latin typeface="+mn-lt"/>
              </a:rPr>
              <a:t>higher frequency</a:t>
            </a:r>
          </a:p>
        </p:txBody>
      </p:sp>
      <p:sp>
        <p:nvSpPr>
          <p:cNvPr id="18" name="Rectangle 17">
            <a:extLst>
              <a:ext uri="{FF2B5EF4-FFF2-40B4-BE49-F238E27FC236}">
                <a16:creationId xmlns:a16="http://schemas.microsoft.com/office/drawing/2014/main" id="{0B92E6AC-19BB-4FAA-B813-3CF75E15289B}"/>
              </a:ext>
            </a:extLst>
          </p:cNvPr>
          <p:cNvSpPr/>
          <p:nvPr>
            <p:custDataLst>
              <p:tags r:id="rId5"/>
            </p:custDataLst>
          </p:nvPr>
        </p:nvSpPr>
        <p:spPr>
          <a:xfrm rot="20460000">
            <a:off x="1865919" y="3768237"/>
            <a:ext cx="4678088" cy="157583"/>
          </a:xfrm>
          <a:prstGeom prst="rect">
            <a:avLst/>
          </a:prstGeom>
          <a:solidFill>
            <a:schemeClr val="accent6">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8F1E139-8642-45A7-ABF3-798E31BD6A43}"/>
              </a:ext>
            </a:extLst>
          </p:cNvPr>
          <p:cNvSpPr txBox="1"/>
          <p:nvPr>
            <p:custDataLst>
              <p:tags r:id="rId6"/>
            </p:custDataLst>
          </p:nvPr>
        </p:nvSpPr>
        <p:spPr>
          <a:xfrm>
            <a:off x="4491486" y="5252308"/>
            <a:ext cx="3650675" cy="276999"/>
          </a:xfrm>
          <a:prstGeom prst="rect">
            <a:avLst/>
          </a:prstGeom>
          <a:noFill/>
        </p:spPr>
        <p:txBody>
          <a:bodyPr wrap="square" rtlCol="0" anchor="ctr">
            <a:spAutoFit/>
          </a:bodyPr>
          <a:lstStyle/>
          <a:p>
            <a:pPr algn="ctr"/>
            <a:r>
              <a:rPr lang="en-US" sz="1200" kern="1200" dirty="0" err="1">
                <a:solidFill>
                  <a:schemeClr val="tx1"/>
                </a:solidFill>
                <a:latin typeface="+mn-lt"/>
                <a:ea typeface="+mn-ea"/>
                <a:cs typeface="+mn-cs"/>
              </a:rPr>
              <a:t>source:The</a:t>
            </a:r>
            <a:r>
              <a:rPr lang="en-US" sz="1200" kern="1200" dirty="0">
                <a:solidFill>
                  <a:schemeClr val="tx1"/>
                </a:solidFill>
                <a:latin typeface="+mn-lt"/>
                <a:ea typeface="+mn-ea"/>
                <a:cs typeface="+mn-cs"/>
              </a:rPr>
              <a:t> Future of Computing Performance, 2011</a:t>
            </a:r>
          </a:p>
        </p:txBody>
      </p:sp>
      <p:sp>
        <p:nvSpPr>
          <p:cNvPr id="20" name="Rectangle 19">
            <a:extLst>
              <a:ext uri="{FF2B5EF4-FFF2-40B4-BE49-F238E27FC236}">
                <a16:creationId xmlns:a16="http://schemas.microsoft.com/office/drawing/2014/main" id="{A788364B-9574-4706-B046-60E50D7572A0}"/>
              </a:ext>
            </a:extLst>
          </p:cNvPr>
          <p:cNvSpPr/>
          <p:nvPr>
            <p:custDataLst>
              <p:tags r:id="rId7"/>
            </p:custDataLst>
          </p:nvPr>
        </p:nvSpPr>
        <p:spPr>
          <a:xfrm>
            <a:off x="2152442" y="1908205"/>
            <a:ext cx="1441898" cy="202391"/>
          </a:xfrm>
          <a:prstGeom prst="rect">
            <a:avLst/>
          </a:prstGeom>
          <a:solidFill>
            <a:schemeClr val="accent6">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4256175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Why Multicore?</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761999"/>
          </a:xfrm>
        </p:spPr>
        <p:txBody>
          <a:bodyPr/>
          <a:lstStyle/>
          <a:p>
            <a:pPr eaLnBrk="1" hangingPunct="1"/>
            <a:r>
              <a:rPr lang="en-US" altLang="en-US" dirty="0"/>
              <a:t>For years, transistor scaling:</a:t>
            </a:r>
          </a:p>
          <a:p>
            <a:pPr lvl="1" eaLnBrk="1" hangingPunct="1"/>
            <a:endParaRPr lang="en-US" altLang="en-US" dirty="0"/>
          </a:p>
          <a:p>
            <a:pPr lvl="1" eaLnBrk="1" hangingPunct="1"/>
            <a:endParaRPr lang="en-US" altLang="en-US" dirty="0"/>
          </a:p>
          <a:p>
            <a:pPr lvl="1" eaLnBrk="1" hangingPunct="1"/>
            <a:endParaRPr lang="en-US" altLang="en-US" dirty="0"/>
          </a:p>
          <a:p>
            <a:pPr lvl="1" eaLnBrk="1" hangingPunct="1"/>
            <a:r>
              <a:rPr lang="en-US" altLang="en-US" dirty="0"/>
              <a:t>Processor dynamic power:</a:t>
            </a:r>
          </a:p>
          <a:p>
            <a:pPr marL="457200" lvl="1" indent="0" eaLnBrk="1" hangingPunct="1">
              <a:buNone/>
            </a:pPr>
            <a:endParaRPr lang="en-US" altLang="en-US" dirty="0"/>
          </a:p>
          <a:p>
            <a:pPr marL="457200" lvl="1" indent="0" eaLnBrk="1" hangingPunct="1">
              <a:buNone/>
            </a:pPr>
            <a:endParaRPr lang="en-US" altLang="en-US" dirty="0"/>
          </a:p>
          <a:p>
            <a:pPr lvl="1" eaLnBrk="1" hangingPunct="1"/>
            <a:r>
              <a:rPr lang="en-US" altLang="en-US" dirty="0"/>
              <a:t>Processor static (leakage) power:</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7</a:t>
            </a:fld>
            <a:endParaRPr lang="en-US" altLang="en-US" sz="140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36A89CD-AB9C-49EF-82F2-5023ED206E1B}"/>
                  </a:ext>
                </a:extLst>
              </p:cNvPr>
              <p:cNvSpPr txBox="1"/>
              <p:nvPr>
                <p:custDataLst>
                  <p:tags r:id="rId5"/>
                </p:custDataLst>
              </p:nvPr>
            </p:nvSpPr>
            <p:spPr>
              <a:xfrm>
                <a:off x="240821" y="2133600"/>
                <a:ext cx="8662358" cy="2319068"/>
              </a:xfrm>
              <a:prstGeom prst="rect">
                <a:avLst/>
              </a:prstGeom>
              <a:noFill/>
            </p:spPr>
            <p:txBody>
              <a:bodyPr wrap="square" rtlCol="0" anchor="t">
                <a:noAutofit/>
              </a:bodyPr>
              <a:lstStyle/>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𝑎𝑟𝑒𝑎</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 ∝ 1/</m:t>
                      </m:r>
                      <m:sSup>
                        <m:sSupPr>
                          <m:ctrlPr>
                            <a:rPr lang="en-US" sz="2400" b="0" i="1" kern="1200" smtClean="0">
                              <a:solidFill>
                                <a:schemeClr val="tx1"/>
                              </a:solidFill>
                              <a:latin typeface="Cambria Math" panose="02040503050406030204" pitchFamily="18" charset="0"/>
                              <a:ea typeface="Cambria Math" panose="02040503050406030204" pitchFamily="18" charset="0"/>
                            </a:rPr>
                          </m:ctrlPr>
                        </m:sSupPr>
                        <m:e>
                          <m:r>
                            <a:rPr lang="en-US" sz="2400" b="0" i="1" kern="1200" smtClean="0">
                              <a:solidFill>
                                <a:schemeClr val="tx1"/>
                              </a:solidFill>
                              <a:latin typeface="Cambria Math" panose="02040503050406030204" pitchFamily="18" charset="0"/>
                              <a:ea typeface="Cambria Math" panose="02040503050406030204" pitchFamily="18" charset="0"/>
                            </a:rPr>
                            <m:t>𝑋</m:t>
                          </m:r>
                        </m:e>
                        <m:sup>
                          <m:r>
                            <a:rPr lang="en-US" sz="2400" b="0" i="1" kern="1200" smtClean="0">
                              <a:solidFill>
                                <a:schemeClr val="tx1"/>
                              </a:solidFill>
                              <a:latin typeface="Cambria Math" panose="02040503050406030204" pitchFamily="18" charset="0"/>
                              <a:ea typeface="Cambria Math" panose="02040503050406030204" pitchFamily="18" charset="0"/>
                            </a:rPr>
                            <m:t>2</m:t>
                          </m:r>
                        </m:sup>
                      </m:sSup>
                    </m:oMath>
                  </m:oMathPara>
                </a14:m>
                <a:endParaRPr lang="en-US" sz="2400" kern="1200" dirty="0">
                  <a:solidFill>
                    <a:schemeClr val="tx1"/>
                  </a:solidFill>
                </a:endParaRPr>
              </a:p>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𝑣𝑜𝑙𝑡𝑎𝑔𝑒</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𝑉</m:t>
                      </m:r>
                      <m:r>
                        <a:rPr lang="en-US" sz="2400" b="0" i="1" kern="1200" smtClean="0">
                          <a:solidFill>
                            <a:schemeClr val="tx1"/>
                          </a:solidFill>
                          <a:latin typeface="Cambria Math" panose="02040503050406030204" pitchFamily="18" charset="0"/>
                        </a:rPr>
                        <m:t> ∝1/</m:t>
                      </m:r>
                      <m:r>
                        <a:rPr lang="en-US" sz="2400" b="0" i="1" kern="1200" smtClean="0">
                          <a:solidFill>
                            <a:schemeClr val="tx1"/>
                          </a:solidFill>
                          <a:latin typeface="Cambria Math" panose="02040503050406030204" pitchFamily="18" charset="0"/>
                          <a:ea typeface="Cambria Math" panose="02040503050406030204" pitchFamily="18" charset="0"/>
                        </a:rPr>
                        <m:t>𝑋</m:t>
                      </m:r>
                    </m:oMath>
                  </m:oMathPara>
                </a14:m>
                <a:endParaRPr lang="en-US" sz="2400" kern="1200" dirty="0">
                  <a:solidFill>
                    <a:schemeClr val="tx1"/>
                  </a:solidFill>
                </a:endParaRPr>
              </a:p>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𝑐𝑎𝑝𝑎𝑐𝑖𝑡𝑎𝑛𝑐𝑒</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𝐶</m:t>
                      </m:r>
                      <m:r>
                        <a:rPr lang="en-US" sz="2400" b="0" i="1" kern="1200" smtClean="0">
                          <a:solidFill>
                            <a:schemeClr val="tx1"/>
                          </a:solidFill>
                          <a:latin typeface="Cambria Math" panose="02040503050406030204" pitchFamily="18" charset="0"/>
                        </a:rPr>
                        <m:t> ∝1/</m:t>
                      </m:r>
                      <m:r>
                        <a:rPr lang="en-US" sz="2400" b="0" i="1" kern="1200" smtClean="0">
                          <a:solidFill>
                            <a:schemeClr val="tx1"/>
                          </a:solidFill>
                          <a:latin typeface="Cambria Math" panose="02040503050406030204" pitchFamily="18" charset="0"/>
                          <a:ea typeface="Cambria Math" panose="02040503050406030204" pitchFamily="18" charset="0"/>
                        </a:rPr>
                        <m:t>𝑋</m:t>
                      </m:r>
                    </m:oMath>
                  </m:oMathPara>
                </a14:m>
                <a:endParaRPr lang="en-US" sz="2400" kern="1200" dirty="0">
                  <a:solidFill>
                    <a:schemeClr val="tx1"/>
                  </a:solidFill>
                </a:endParaRPr>
              </a:p>
              <a:p>
                <a:pPr algn="ctr"/>
                <a14:m>
                  <m:oMathPara xmlns:m="http://schemas.openxmlformats.org/officeDocument/2006/math">
                    <m:oMathParaPr>
                      <m:jc m:val="center"/>
                    </m:oMathParaPr>
                    <m:oMath xmlns:m="http://schemas.openxmlformats.org/officeDocument/2006/math">
                      <m:r>
                        <a:rPr lang="en-US" sz="2400" b="0" i="1" kern="1200" smtClean="0">
                          <a:solidFill>
                            <a:schemeClr val="tx1"/>
                          </a:solidFill>
                          <a:latin typeface="Cambria Math" panose="02040503050406030204" pitchFamily="18" charset="0"/>
                        </a:rPr>
                        <m:t>𝑠𝑤𝑖𝑡𝑐h𝑖𝑛𝑔</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𝑑𝑒𝑙𝑎𝑦</m:t>
                      </m:r>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rPr>
                        <m:t>𝑇</m:t>
                      </m:r>
                      <m:r>
                        <a:rPr lang="en-US" sz="2400" b="0" i="1" kern="1200" smtClean="0">
                          <a:solidFill>
                            <a:schemeClr val="tx1"/>
                          </a:solidFill>
                          <a:latin typeface="Cambria Math" panose="02040503050406030204" pitchFamily="18" charset="0"/>
                        </a:rPr>
                        <m:t> ∝1/</m:t>
                      </m:r>
                      <m:r>
                        <a:rPr lang="en-US" sz="2400" b="0" i="1" kern="1200" smtClean="0">
                          <a:solidFill>
                            <a:schemeClr val="tx1"/>
                          </a:solidFill>
                          <a:latin typeface="Cambria Math" panose="02040503050406030204" pitchFamily="18" charset="0"/>
                          <a:ea typeface="Cambria Math" panose="02040503050406030204" pitchFamily="18" charset="0"/>
                        </a:rPr>
                        <m:t>𝑋</m:t>
                      </m:r>
                    </m:oMath>
                  </m:oMathPara>
                </a14:m>
                <a:endParaRPr lang="en-US" sz="2400" kern="1200" dirty="0">
                  <a:solidFill>
                    <a:schemeClr val="tx1"/>
                  </a:solidFill>
                </a:endParaRPr>
              </a:p>
            </p:txBody>
          </p:sp>
        </mc:Choice>
        <mc:Fallback xmlns="">
          <p:sp>
            <p:nvSpPr>
              <p:cNvPr id="13" name="TextBox 12">
                <a:extLst>
                  <a:ext uri="{FF2B5EF4-FFF2-40B4-BE49-F238E27FC236}">
                    <a16:creationId xmlns:a16="http://schemas.microsoft.com/office/drawing/2014/main" id="{836A89CD-AB9C-49EF-82F2-5023ED206E1B}"/>
                  </a:ext>
                </a:extLst>
              </p:cNvPr>
              <p:cNvSpPr txBox="1">
                <a:spLocks noRot="1" noChangeAspect="1" noMove="1" noResize="1" noEditPoints="1" noAdjustHandles="1" noChangeArrowheads="1" noChangeShapeType="1" noTextEdit="1"/>
              </p:cNvSpPr>
              <p:nvPr>
                <p:custDataLst>
                  <p:tags r:id="rId13"/>
                </p:custDataLst>
              </p:nvPr>
            </p:nvSpPr>
            <p:spPr>
              <a:xfrm>
                <a:off x="240821" y="2133600"/>
                <a:ext cx="8662358" cy="2319068"/>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615FD3E-8B0C-44C4-B775-58DEBA23A835}"/>
                  </a:ext>
                </a:extLst>
              </p:cNvPr>
              <p:cNvSpPr txBox="1"/>
              <p:nvPr>
                <p:custDataLst>
                  <p:tags r:id="rId6"/>
                </p:custDataLst>
              </p:nvPr>
            </p:nvSpPr>
            <p:spPr>
              <a:xfrm>
                <a:off x="246932" y="4267200"/>
                <a:ext cx="8650137" cy="685800"/>
              </a:xfrm>
              <a:prstGeom prst="rect">
                <a:avLst/>
              </a:prstGeom>
              <a:noFill/>
            </p:spPr>
            <p:txBody>
              <a:bodyPr wrap="square" rtlCol="0" anchor="t">
                <a:noAutofit/>
              </a:bodyPr>
              <a:lstStyle/>
              <a:p>
                <a:pPr algn="ctr"/>
                <a14:m>
                  <m:oMathPara xmlns:m="http://schemas.openxmlformats.org/officeDocument/2006/math">
                    <m:oMathParaPr>
                      <m:jc m:val="center"/>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𝑃</m:t>
                          </m:r>
                        </m:e>
                        <m:sub>
                          <m:r>
                            <a:rPr lang="en-US" sz="2400" i="1">
                              <a:latin typeface="Cambria Math" panose="02040503050406030204" pitchFamily="18" charset="0"/>
                            </a:rPr>
                            <m:t>𝐷</m:t>
                          </m:r>
                        </m:sub>
                      </m:sSub>
                      <m:r>
                        <a:rPr lang="en-US" sz="2400" b="0" i="1" smtClean="0">
                          <a:latin typeface="Cambria Math" panose="02040503050406030204" pitchFamily="18" charset="0"/>
                        </a:rPr>
                        <m:t> </m:t>
                      </m:r>
                      <m:r>
                        <a:rPr lang="en-US" sz="2400" b="0" i="1" kern="1200" smtClean="0">
                          <a:solidFill>
                            <a:schemeClr val="tx1"/>
                          </a:solidFill>
                          <a:latin typeface="Cambria Math" panose="02040503050406030204" pitchFamily="18" charset="0"/>
                        </a:rPr>
                        <m:t>≈</m:t>
                      </m:r>
                      <m:r>
                        <a:rPr lang="en-US" sz="2400" b="0" i="1" kern="1200" smtClean="0">
                          <a:solidFill>
                            <a:schemeClr val="tx1"/>
                          </a:solidFill>
                          <a:latin typeface="Cambria Math" panose="02040503050406030204" pitchFamily="18" charset="0"/>
                          <a:ea typeface="Cambria Math" panose="02040503050406030204" pitchFamily="18" charset="0"/>
                        </a:rPr>
                        <m:t>𝑛</m:t>
                      </m:r>
                      <m:r>
                        <a:rPr lang="en-US" sz="2400" b="0" i="1" kern="1200" smtClean="0">
                          <a:solidFill>
                            <a:schemeClr val="tx1"/>
                          </a:solidFill>
                          <a:latin typeface="Cambria Math" panose="02040503050406030204" pitchFamily="18" charset="0"/>
                          <a:ea typeface="Cambria Math" panose="02040503050406030204" pitchFamily="18" charset="0"/>
                        </a:rPr>
                        <m:t> ∙ </m:t>
                      </m:r>
                      <m:d>
                        <m:dPr>
                          <m:ctrlPr>
                            <a:rPr lang="en-US" sz="2400" b="0" i="1" kern="1200" smtClean="0">
                              <a:solidFill>
                                <a:schemeClr val="tx1"/>
                              </a:solidFill>
                              <a:latin typeface="Cambria Math" panose="02040503050406030204" pitchFamily="18" charset="0"/>
                              <a:ea typeface="Cambria Math" panose="02040503050406030204" pitchFamily="18" charset="0"/>
                            </a:rPr>
                          </m:ctrlPr>
                        </m:dPr>
                        <m:e>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𝐶</m:t>
                          </m:r>
                          <m:r>
                            <a:rPr lang="en-US" sz="2400" b="0" i="1" kern="1200" smtClean="0">
                              <a:solidFill>
                                <a:schemeClr val="tx1"/>
                              </a:solidFill>
                              <a:latin typeface="Cambria Math" panose="02040503050406030204" pitchFamily="18" charset="0"/>
                              <a:ea typeface="Cambria Math" panose="02040503050406030204" pitchFamily="18" charset="0"/>
                            </a:rPr>
                            <m:t> ∙</m:t>
                          </m:r>
                          <m:sSup>
                            <m:sSupPr>
                              <m:ctrlPr>
                                <a:rPr lang="en-US" sz="2400" b="0" i="1" kern="1200" smtClean="0">
                                  <a:solidFill>
                                    <a:schemeClr val="tx1"/>
                                  </a:solidFill>
                                  <a:latin typeface="Cambria Math" panose="02040503050406030204" pitchFamily="18" charset="0"/>
                                  <a:ea typeface="Cambria Math" panose="02040503050406030204" pitchFamily="18" charset="0"/>
                                </a:rPr>
                              </m:ctrlPr>
                            </m:sSupPr>
                            <m:e>
                              <m:r>
                                <a:rPr lang="en-US" sz="2400" b="0" i="1" kern="1200" smtClean="0">
                                  <a:solidFill>
                                    <a:schemeClr val="tx1"/>
                                  </a:solidFill>
                                  <a:latin typeface="Cambria Math" panose="02040503050406030204" pitchFamily="18" charset="0"/>
                                  <a:ea typeface="Cambria Math" panose="02040503050406030204" pitchFamily="18" charset="0"/>
                                </a:rPr>
                                <m:t>𝑉</m:t>
                              </m:r>
                            </m:e>
                            <m:sup>
                              <m:r>
                                <a:rPr lang="en-US" sz="2400" b="0" i="1" kern="1200" smtClean="0">
                                  <a:solidFill>
                                    <a:schemeClr val="tx1"/>
                                  </a:solidFill>
                                  <a:latin typeface="Cambria Math" panose="02040503050406030204" pitchFamily="18" charset="0"/>
                                  <a:ea typeface="Cambria Math" panose="02040503050406030204" pitchFamily="18" charset="0"/>
                                </a:rPr>
                                <m:t>2</m:t>
                              </m:r>
                            </m:sup>
                          </m:sSup>
                          <m:r>
                            <a:rPr lang="en-US" sz="2400" b="0" i="1" kern="1200" smtClean="0">
                              <a:solidFill>
                                <a:schemeClr val="tx1"/>
                              </a:solidFill>
                              <a:latin typeface="Cambria Math" panose="02040503050406030204" pitchFamily="18" charset="0"/>
                              <a:ea typeface="Cambria Math" panose="02040503050406030204" pitchFamily="18" charset="0"/>
                            </a:rPr>
                            <m:t> </m:t>
                          </m:r>
                        </m:e>
                      </m:d>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𝛼</m:t>
                      </m:r>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𝑓</m:t>
                      </m:r>
                      <m:r>
                        <a:rPr lang="en-US" sz="2400" b="0" i="1" kern="1200" smtClean="0">
                          <a:solidFill>
                            <a:schemeClr val="tx1"/>
                          </a:solidFill>
                          <a:latin typeface="Cambria Math" panose="02040503050406030204" pitchFamily="18" charset="0"/>
                          <a:ea typeface="Cambria Math" panose="02040503050406030204" pitchFamily="18" charset="0"/>
                        </a:rPr>
                        <m:t> )</m:t>
                      </m:r>
                    </m:oMath>
                  </m:oMathPara>
                </a14:m>
                <a:endParaRPr lang="en-US" sz="2400" kern="1200" dirty="0">
                  <a:solidFill>
                    <a:schemeClr val="tx1"/>
                  </a:solidFill>
                </a:endParaRPr>
              </a:p>
            </p:txBody>
          </p:sp>
        </mc:Choice>
        <mc:Fallback xmlns="">
          <p:sp>
            <p:nvSpPr>
              <p:cNvPr id="14" name="TextBox 13">
                <a:extLst>
                  <a:ext uri="{FF2B5EF4-FFF2-40B4-BE49-F238E27FC236}">
                    <a16:creationId xmlns:a16="http://schemas.microsoft.com/office/drawing/2014/main" id="{D615FD3E-8B0C-44C4-B775-58DEBA23A835}"/>
                  </a:ext>
                </a:extLst>
              </p:cNvPr>
              <p:cNvSpPr txBox="1">
                <a:spLocks noRot="1" noChangeAspect="1" noMove="1" noResize="1" noEditPoints="1" noAdjustHandles="1" noChangeArrowheads="1" noChangeShapeType="1" noTextEdit="1"/>
              </p:cNvSpPr>
              <p:nvPr>
                <p:custDataLst>
                  <p:tags r:id="rId15"/>
                </p:custDataLst>
              </p:nvPr>
            </p:nvSpPr>
            <p:spPr>
              <a:xfrm>
                <a:off x="246932" y="4267200"/>
                <a:ext cx="8650137" cy="68580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12BDBA8-2553-435B-8174-83C79F5BE16F}"/>
                  </a:ext>
                </a:extLst>
              </p:cNvPr>
              <p:cNvSpPr txBox="1"/>
              <p:nvPr>
                <p:custDataLst>
                  <p:tags r:id="rId7"/>
                </p:custDataLst>
              </p:nvPr>
            </p:nvSpPr>
            <p:spPr>
              <a:xfrm>
                <a:off x="249987" y="5791200"/>
                <a:ext cx="8644027" cy="761999"/>
              </a:xfrm>
              <a:prstGeom prst="rect">
                <a:avLst/>
              </a:prstGeom>
              <a:noFill/>
            </p:spPr>
            <p:txBody>
              <a:bodyPr wrap="square" rtlCol="0" anchor="t">
                <a:noAutofit/>
              </a:bodyPr>
              <a:lstStyle/>
              <a:p>
                <a:pPr algn="ctr"/>
                <a14:m>
                  <m:oMathPara xmlns:m="http://schemas.openxmlformats.org/officeDocument/2006/math">
                    <m:oMathParaPr>
                      <m:jc m:val="center"/>
                    </m:oMathParaPr>
                    <m:oMath xmlns:m="http://schemas.openxmlformats.org/officeDocument/2006/math">
                      <m:sSub>
                        <m:sSubPr>
                          <m:ctrlPr>
                            <a:rPr lang="en-US" sz="2400" b="0" i="1" kern="1200" smtClean="0">
                              <a:solidFill>
                                <a:schemeClr val="tx1"/>
                              </a:solidFill>
                              <a:latin typeface="Cambria Math" panose="02040503050406030204" pitchFamily="18" charset="0"/>
                            </a:rPr>
                          </m:ctrlPr>
                        </m:sSubPr>
                        <m:e>
                          <m:r>
                            <a:rPr lang="en-US" sz="2400" b="0" i="1" kern="1200" smtClean="0">
                              <a:solidFill>
                                <a:schemeClr val="tx1"/>
                              </a:solidFill>
                              <a:latin typeface="Cambria Math" panose="02040503050406030204" pitchFamily="18" charset="0"/>
                            </a:rPr>
                            <m:t>𝑃</m:t>
                          </m:r>
                        </m:e>
                        <m:sub>
                          <m:r>
                            <a:rPr lang="en-US" sz="2400" b="0" i="1" kern="1200" smtClean="0">
                              <a:solidFill>
                                <a:schemeClr val="tx1"/>
                              </a:solidFill>
                              <a:latin typeface="Cambria Math" panose="02040503050406030204" pitchFamily="18" charset="0"/>
                            </a:rPr>
                            <m:t>𝑆</m:t>
                          </m:r>
                        </m:sub>
                      </m:sSub>
                      <m:r>
                        <a:rPr lang="en-US" sz="2400" b="0" i="1" kern="1200" smtClean="0">
                          <a:solidFill>
                            <a:schemeClr val="tx1"/>
                          </a:solidFill>
                          <a:latin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m:t>
                      </m:r>
                      <m:r>
                        <a:rPr lang="en-US" sz="2400" b="0" i="1" kern="1200" smtClean="0">
                          <a:solidFill>
                            <a:schemeClr val="tx1"/>
                          </a:solidFill>
                          <a:latin typeface="Cambria Math" panose="02040503050406030204" pitchFamily="18" charset="0"/>
                          <a:ea typeface="Cambria Math" panose="02040503050406030204" pitchFamily="18" charset="0"/>
                        </a:rPr>
                        <m:t>𝑛</m:t>
                      </m:r>
                      <m:r>
                        <a:rPr lang="en-US" sz="2400" b="0" i="1" kern="1200" smtClean="0">
                          <a:solidFill>
                            <a:schemeClr val="tx1"/>
                          </a:solidFill>
                          <a:latin typeface="Cambria Math" panose="02040503050406030204" pitchFamily="18" charset="0"/>
                          <a:ea typeface="Cambria Math" panose="02040503050406030204" pitchFamily="18" charset="0"/>
                        </a:rPr>
                        <m:t> ∙</m:t>
                      </m:r>
                      <m:r>
                        <a:rPr lang="en-US" sz="2400" b="0" i="1" kern="1200" smtClean="0">
                          <a:solidFill>
                            <a:schemeClr val="tx1"/>
                          </a:solidFill>
                          <a:latin typeface="Cambria Math" panose="02040503050406030204" pitchFamily="18" charset="0"/>
                          <a:ea typeface="Cambria Math" panose="02040503050406030204" pitchFamily="18" charset="0"/>
                        </a:rPr>
                        <m:t>𝑉</m:t>
                      </m:r>
                      <m:r>
                        <a:rPr lang="en-US" sz="2400" b="0" i="1" kern="1200" smtClean="0">
                          <a:solidFill>
                            <a:schemeClr val="tx1"/>
                          </a:solidFill>
                          <a:latin typeface="Cambria Math" panose="02040503050406030204" pitchFamily="18" charset="0"/>
                          <a:ea typeface="Cambria Math" panose="02040503050406030204" pitchFamily="18" charset="0"/>
                        </a:rPr>
                        <m:t>∙</m:t>
                      </m:r>
                      <m:sSup>
                        <m:sSupPr>
                          <m:ctrlPr>
                            <a:rPr lang="en-US" sz="2400" b="0" i="1" kern="1200" smtClean="0">
                              <a:solidFill>
                                <a:schemeClr val="tx1"/>
                              </a:solidFill>
                              <a:latin typeface="Cambria Math" panose="02040503050406030204" pitchFamily="18" charset="0"/>
                              <a:ea typeface="Cambria Math" panose="02040503050406030204" pitchFamily="18" charset="0"/>
                            </a:rPr>
                          </m:ctrlPr>
                        </m:sSupPr>
                        <m:e>
                          <m:r>
                            <a:rPr lang="en-US" sz="2400" b="0" i="1" kern="1200" smtClean="0">
                              <a:solidFill>
                                <a:schemeClr val="tx1"/>
                              </a:solidFill>
                              <a:latin typeface="Cambria Math" panose="02040503050406030204" pitchFamily="18" charset="0"/>
                              <a:ea typeface="Cambria Math" panose="02040503050406030204" pitchFamily="18" charset="0"/>
                            </a:rPr>
                            <m:t>𝑒</m:t>
                          </m:r>
                        </m:e>
                        <m:sup>
                          <m:r>
                            <a:rPr lang="en-US" sz="2400" b="0" i="1" kern="1200" smtClean="0">
                              <a:solidFill>
                                <a:schemeClr val="tx1"/>
                              </a:solidFill>
                              <a:latin typeface="Cambria Math" panose="02040503050406030204" pitchFamily="18" charset="0"/>
                              <a:ea typeface="Cambria Math" panose="02040503050406030204" pitchFamily="18" charset="0"/>
                            </a:rPr>
                            <m:t>−</m:t>
                          </m:r>
                          <m:sSub>
                            <m:sSubPr>
                              <m:ctrlPr>
                                <a:rPr lang="en-US" sz="2400" b="0" i="1" kern="1200" smtClean="0">
                                  <a:solidFill>
                                    <a:schemeClr val="tx1"/>
                                  </a:solidFill>
                                  <a:latin typeface="Cambria Math" panose="02040503050406030204" pitchFamily="18" charset="0"/>
                                  <a:ea typeface="Cambria Math" panose="02040503050406030204" pitchFamily="18" charset="0"/>
                                </a:rPr>
                              </m:ctrlPr>
                            </m:sSubPr>
                            <m:e>
                              <m:r>
                                <a:rPr lang="en-US" sz="2400" b="0" i="1" kern="1200" smtClean="0">
                                  <a:solidFill>
                                    <a:schemeClr val="tx1"/>
                                  </a:solidFill>
                                  <a:latin typeface="Cambria Math" panose="02040503050406030204" pitchFamily="18" charset="0"/>
                                  <a:ea typeface="Cambria Math" panose="02040503050406030204" pitchFamily="18" charset="0"/>
                                </a:rPr>
                                <m:t>𝑉</m:t>
                              </m:r>
                            </m:e>
                            <m:sub>
                              <m:r>
                                <a:rPr lang="en-US" sz="2400" b="0" i="1" kern="1200" smtClean="0">
                                  <a:solidFill>
                                    <a:schemeClr val="tx1"/>
                                  </a:solidFill>
                                  <a:latin typeface="Cambria Math" panose="02040503050406030204" pitchFamily="18" charset="0"/>
                                  <a:ea typeface="Cambria Math" panose="02040503050406030204" pitchFamily="18" charset="0"/>
                                </a:rPr>
                                <m:t>𝑡h</m:t>
                              </m:r>
                            </m:sub>
                          </m:sSub>
                        </m:sup>
                      </m:sSup>
                    </m:oMath>
                  </m:oMathPara>
                </a14:m>
                <a:endParaRPr lang="en-US" sz="2400" kern="1200" dirty="0">
                  <a:solidFill>
                    <a:schemeClr val="tx1"/>
                  </a:solidFill>
                </a:endParaRPr>
              </a:p>
            </p:txBody>
          </p:sp>
        </mc:Choice>
        <mc:Fallback xmlns="">
          <p:sp>
            <p:nvSpPr>
              <p:cNvPr id="15" name="TextBox 14">
                <a:extLst>
                  <a:ext uri="{FF2B5EF4-FFF2-40B4-BE49-F238E27FC236}">
                    <a16:creationId xmlns:a16="http://schemas.microsoft.com/office/drawing/2014/main" id="{212BDBA8-2553-435B-8174-83C79F5BE16F}"/>
                  </a:ext>
                </a:extLst>
              </p:cNvPr>
              <p:cNvSpPr txBox="1">
                <a:spLocks noRot="1" noChangeAspect="1" noMove="1" noResize="1" noEditPoints="1" noAdjustHandles="1" noChangeArrowheads="1" noChangeShapeType="1" noTextEdit="1"/>
              </p:cNvSpPr>
              <p:nvPr>
                <p:custDataLst>
                  <p:tags r:id="rId17"/>
                </p:custDataLst>
              </p:nvPr>
            </p:nvSpPr>
            <p:spPr>
              <a:xfrm>
                <a:off x="249987" y="5791200"/>
                <a:ext cx="8644027" cy="761999"/>
              </a:xfrm>
              <a:prstGeom prst="rect">
                <a:avLst/>
              </a:prstGeom>
              <a:blipFill>
                <a:blip r:embed="rId18"/>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8EF8873D-53DD-4478-89E0-654C42B01687}"/>
              </a:ext>
            </a:extLst>
          </p:cNvPr>
          <p:cNvSpPr txBox="1"/>
          <p:nvPr>
            <p:custDataLst>
              <p:tags r:id="rId8"/>
            </p:custDataLst>
          </p:nvPr>
        </p:nvSpPr>
        <p:spPr>
          <a:xfrm>
            <a:off x="5867400" y="5537906"/>
            <a:ext cx="1805795" cy="338554"/>
          </a:xfrm>
          <a:prstGeom prst="rect">
            <a:avLst/>
          </a:prstGeom>
          <a:noFill/>
        </p:spPr>
        <p:txBody>
          <a:bodyPr wrap="square" rtlCol="0" anchor="ctr">
            <a:spAutoFit/>
          </a:bodyPr>
          <a:lstStyle/>
          <a:p>
            <a:pPr algn="ctr"/>
            <a:r>
              <a:rPr lang="en-US" sz="1600" kern="1200" dirty="0">
                <a:solidFill>
                  <a:schemeClr val="tx1"/>
                </a:solidFill>
                <a:latin typeface="+mn-lt"/>
                <a:ea typeface="+mn-ea"/>
                <a:cs typeface="+mn-cs"/>
              </a:rPr>
              <a:t>threshold voltage</a:t>
            </a:r>
          </a:p>
        </p:txBody>
      </p:sp>
      <p:cxnSp>
        <p:nvCxnSpPr>
          <p:cNvPr id="17" name="Straight Arrow Connector 16">
            <a:extLst>
              <a:ext uri="{FF2B5EF4-FFF2-40B4-BE49-F238E27FC236}">
                <a16:creationId xmlns:a16="http://schemas.microsoft.com/office/drawing/2014/main" id="{60541035-40EE-438C-AD9B-F01D43BAAA7C}"/>
              </a:ext>
            </a:extLst>
          </p:cNvPr>
          <p:cNvCxnSpPr>
            <a:cxnSpLocks/>
          </p:cNvCxnSpPr>
          <p:nvPr/>
        </p:nvCxnSpPr>
        <p:spPr>
          <a:xfrm flipH="1">
            <a:off x="5725603" y="5819761"/>
            <a:ext cx="391064" cy="178279"/>
          </a:xfrm>
          <a:prstGeom prst="straightConnector1">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11443412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Why Multicore?</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8</a:t>
            </a:fld>
            <a:endParaRPr lang="en-US" altLang="en-US" sz="1400">
              <a:latin typeface="Times New Roman" panose="02020603050405020304" pitchFamily="18" charset="0"/>
            </a:endParaRPr>
          </a:p>
        </p:txBody>
      </p:sp>
      <p:grpSp>
        <p:nvGrpSpPr>
          <p:cNvPr id="2" name="Group 1">
            <a:extLst>
              <a:ext uri="{FF2B5EF4-FFF2-40B4-BE49-F238E27FC236}">
                <a16:creationId xmlns:a16="http://schemas.microsoft.com/office/drawing/2014/main" id="{629A8BF1-A0BE-4C69-AE30-2170C5B958D8}"/>
              </a:ext>
            </a:extLst>
          </p:cNvPr>
          <p:cNvGrpSpPr/>
          <p:nvPr/>
        </p:nvGrpSpPr>
        <p:grpSpPr>
          <a:xfrm>
            <a:off x="762000" y="1312653"/>
            <a:ext cx="7619999" cy="4876800"/>
            <a:chOff x="762000" y="1312653"/>
            <a:chExt cx="7619999" cy="4876800"/>
          </a:xfrm>
        </p:grpSpPr>
        <p:pic>
          <p:nvPicPr>
            <p:cNvPr id="9" name="Picture 8">
              <a:extLst>
                <a:ext uri="{FF2B5EF4-FFF2-40B4-BE49-F238E27FC236}">
                  <a16:creationId xmlns:a16="http://schemas.microsoft.com/office/drawing/2014/main" id="{8C6A66CC-DEAA-44EB-9AC6-C150B6961C5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62000" y="1312653"/>
              <a:ext cx="7619999" cy="4876800"/>
            </a:xfrm>
            <a:prstGeom prst="rect">
              <a:avLst/>
            </a:prstGeom>
          </p:spPr>
        </p:pic>
        <p:sp>
          <p:nvSpPr>
            <p:cNvPr id="10" name="Rectangle 9">
              <a:extLst>
                <a:ext uri="{FF2B5EF4-FFF2-40B4-BE49-F238E27FC236}">
                  <a16:creationId xmlns:a16="http://schemas.microsoft.com/office/drawing/2014/main" id="{ED77990C-251D-4996-8D41-8869DFA2B0C6}"/>
                </a:ext>
              </a:extLst>
            </p:cNvPr>
            <p:cNvSpPr/>
            <p:nvPr>
              <p:custDataLst>
                <p:tags r:id="rId10"/>
              </p:custDataLst>
            </p:nvPr>
          </p:nvSpPr>
          <p:spPr>
            <a:xfrm>
              <a:off x="6435306" y="3099758"/>
              <a:ext cx="1515374" cy="1362974"/>
            </a:xfrm>
            <a:prstGeom prst="rect">
              <a:avLst/>
            </a:prstGeom>
            <a:solidFill>
              <a:schemeClr val="accent6">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9459F72D-BEB7-4C1C-A4C7-53108747BC03}"/>
              </a:ext>
            </a:extLst>
          </p:cNvPr>
          <p:cNvGrpSpPr/>
          <p:nvPr/>
        </p:nvGrpSpPr>
        <p:grpSpPr>
          <a:xfrm>
            <a:off x="762001" y="1312653"/>
            <a:ext cx="7619999" cy="4876800"/>
            <a:chOff x="762000" y="1312653"/>
            <a:chExt cx="7619999" cy="4876800"/>
          </a:xfrm>
        </p:grpSpPr>
        <p:pic>
          <p:nvPicPr>
            <p:cNvPr id="13" name="Picture 12">
              <a:extLst>
                <a:ext uri="{FF2B5EF4-FFF2-40B4-BE49-F238E27FC236}">
                  <a16:creationId xmlns:a16="http://schemas.microsoft.com/office/drawing/2014/main" id="{94901F30-739B-4837-A6C5-E27DF0FB5E8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62000" y="1312653"/>
              <a:ext cx="7619999" cy="4876800"/>
            </a:xfrm>
            <a:prstGeom prst="rect">
              <a:avLst/>
            </a:prstGeom>
          </p:spPr>
        </p:pic>
        <p:sp>
          <p:nvSpPr>
            <p:cNvPr id="14" name="Rectangle 13">
              <a:extLst>
                <a:ext uri="{FF2B5EF4-FFF2-40B4-BE49-F238E27FC236}">
                  <a16:creationId xmlns:a16="http://schemas.microsoft.com/office/drawing/2014/main" id="{49495F85-D72E-404B-86BD-9F5A1407C681}"/>
                </a:ext>
              </a:extLst>
            </p:cNvPr>
            <p:cNvSpPr/>
            <p:nvPr>
              <p:custDataLst>
                <p:tags r:id="rId9"/>
              </p:custDataLst>
            </p:nvPr>
          </p:nvSpPr>
          <p:spPr>
            <a:xfrm>
              <a:off x="6423804" y="1824617"/>
              <a:ext cx="1515374" cy="971909"/>
            </a:xfrm>
            <a:prstGeom prst="rect">
              <a:avLst/>
            </a:prstGeom>
            <a:solidFill>
              <a:schemeClr val="accent6">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C4CCBFDC-FE3E-4D2F-8CFE-3117B0977033}"/>
              </a:ext>
            </a:extLst>
          </p:cNvPr>
          <p:cNvGrpSpPr/>
          <p:nvPr>
            <p:custDataLst>
              <p:tags r:id="rId4"/>
            </p:custDataLst>
          </p:nvPr>
        </p:nvGrpSpPr>
        <p:grpSpPr>
          <a:xfrm>
            <a:off x="762000" y="1312653"/>
            <a:ext cx="8908522" cy="4876799"/>
            <a:chOff x="2286000" y="1312653"/>
            <a:chExt cx="8908522" cy="4876799"/>
          </a:xfrm>
        </p:grpSpPr>
        <p:pic>
          <p:nvPicPr>
            <p:cNvPr id="24" name="Picture 23">
              <a:extLst>
                <a:ext uri="{FF2B5EF4-FFF2-40B4-BE49-F238E27FC236}">
                  <a16:creationId xmlns:a16="http://schemas.microsoft.com/office/drawing/2014/main" id="{23F64427-A026-4C0F-A727-1A5B5C2C681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286000" y="1312653"/>
              <a:ext cx="7619999" cy="4876799"/>
            </a:xfrm>
            <a:prstGeom prst="rect">
              <a:avLst/>
            </a:prstGeom>
            <a:noFill/>
          </p:spPr>
        </p:pic>
        <p:sp>
          <p:nvSpPr>
            <p:cNvPr id="25" name="Rectangle 24">
              <a:extLst>
                <a:ext uri="{FF2B5EF4-FFF2-40B4-BE49-F238E27FC236}">
                  <a16:creationId xmlns:a16="http://schemas.microsoft.com/office/drawing/2014/main" id="{7EAB6CCB-8240-4350-8D4A-BE5F4E54E7D9}"/>
                </a:ext>
              </a:extLst>
            </p:cNvPr>
            <p:cNvSpPr/>
            <p:nvPr>
              <p:custDataLst>
                <p:tags r:id="rId6"/>
              </p:custDataLst>
            </p:nvPr>
          </p:nvSpPr>
          <p:spPr>
            <a:xfrm>
              <a:off x="7947804" y="4428226"/>
              <a:ext cx="1515374" cy="719127"/>
            </a:xfrm>
            <a:prstGeom prst="rect">
              <a:avLst/>
            </a:prstGeom>
            <a:solidFill>
              <a:schemeClr val="accent6">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9235775-E645-4912-9B81-891356242E4E}"/>
                </a:ext>
              </a:extLst>
            </p:cNvPr>
            <p:cNvSpPr/>
            <p:nvPr>
              <p:custDataLst>
                <p:tags r:id="rId7"/>
              </p:custDataLst>
            </p:nvPr>
          </p:nvSpPr>
          <p:spPr>
            <a:xfrm>
              <a:off x="7968194" y="2743200"/>
              <a:ext cx="1515374" cy="515558"/>
            </a:xfrm>
            <a:prstGeom prst="rect">
              <a:avLst/>
            </a:prstGeom>
            <a:solidFill>
              <a:schemeClr val="accent6">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4F1C9D7-2BDD-4962-8803-885E3E40BA62}"/>
                </a:ext>
              </a:extLst>
            </p:cNvPr>
            <p:cNvSpPr txBox="1"/>
            <p:nvPr>
              <p:custDataLst>
                <p:tags r:id="rId8"/>
              </p:custDataLst>
            </p:nvPr>
          </p:nvSpPr>
          <p:spPr>
            <a:xfrm>
              <a:off x="8991600" y="4501022"/>
              <a:ext cx="2202922" cy="584775"/>
            </a:xfrm>
            <a:prstGeom prst="rect">
              <a:avLst/>
            </a:prstGeom>
            <a:noFill/>
          </p:spPr>
          <p:txBody>
            <a:bodyPr wrap="square" rtlCol="0">
              <a:spAutoFit/>
            </a:bodyPr>
            <a:lstStyle/>
            <a:p>
              <a:pPr algn="ctr"/>
              <a:r>
                <a:rPr lang="en-US" sz="1600" b="1" dirty="0">
                  <a:solidFill>
                    <a:schemeClr val="accent6">
                      <a:lumMod val="75000"/>
                    </a:schemeClr>
                  </a:solidFill>
                  <a:latin typeface="+mn-lt"/>
                </a:rPr>
                <a:t>parallelize for performance</a:t>
              </a:r>
            </a:p>
          </p:txBody>
        </p:sp>
      </p:grpSp>
      <p:sp>
        <p:nvSpPr>
          <p:cNvPr id="11" name="TextBox 10">
            <a:extLst>
              <a:ext uri="{FF2B5EF4-FFF2-40B4-BE49-F238E27FC236}">
                <a16:creationId xmlns:a16="http://schemas.microsoft.com/office/drawing/2014/main" id="{404D8CAD-C892-42C8-8ADB-E03B9C13B383}"/>
              </a:ext>
            </a:extLst>
          </p:cNvPr>
          <p:cNvSpPr txBox="1"/>
          <p:nvPr>
            <p:custDataLst>
              <p:tags r:id="rId5"/>
            </p:custDataLst>
          </p:nvPr>
        </p:nvSpPr>
        <p:spPr>
          <a:xfrm>
            <a:off x="4491486" y="5252308"/>
            <a:ext cx="3650675" cy="276999"/>
          </a:xfrm>
          <a:prstGeom prst="rect">
            <a:avLst/>
          </a:prstGeom>
          <a:noFill/>
        </p:spPr>
        <p:txBody>
          <a:bodyPr wrap="square" rtlCol="0" anchor="ctr">
            <a:spAutoFit/>
          </a:bodyPr>
          <a:lstStyle/>
          <a:p>
            <a:pPr algn="ctr"/>
            <a:r>
              <a:rPr lang="en-US" sz="1200" kern="1200" dirty="0" err="1">
                <a:solidFill>
                  <a:schemeClr val="tx1"/>
                </a:solidFill>
                <a:latin typeface="+mn-lt"/>
                <a:ea typeface="+mn-ea"/>
                <a:cs typeface="+mn-cs"/>
              </a:rPr>
              <a:t>source:The</a:t>
            </a:r>
            <a:r>
              <a:rPr lang="en-US" sz="1200" kern="1200" dirty="0">
                <a:solidFill>
                  <a:schemeClr val="tx1"/>
                </a:solidFill>
                <a:latin typeface="+mn-lt"/>
                <a:ea typeface="+mn-ea"/>
                <a:cs typeface="+mn-cs"/>
              </a:rPr>
              <a:t> Future of Computing Performance, 2011</a:t>
            </a:r>
          </a:p>
        </p:txBody>
      </p:sp>
    </p:spTree>
    <p:custDataLst>
      <p:tags r:id="rId1"/>
    </p:custDataLst>
    <p:extLst>
      <p:ext uri="{BB962C8B-B14F-4D97-AF65-F5344CB8AC3E}">
        <p14:creationId xmlns:p14="http://schemas.microsoft.com/office/powerpoint/2010/main" val="9418804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Types of Parallelism</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9</a:t>
            </a:fld>
            <a:endParaRPr lang="en-US" altLang="en-US" sz="1400">
              <a:latin typeface="Times New Roman" panose="02020603050405020304" pitchFamily="18" charset="0"/>
            </a:endParaRPr>
          </a:p>
        </p:txBody>
      </p:sp>
      <p:sp>
        <p:nvSpPr>
          <p:cNvPr id="37" name="TextBox 36">
            <a:extLst>
              <a:ext uri="{FF2B5EF4-FFF2-40B4-BE49-F238E27FC236}">
                <a16:creationId xmlns:a16="http://schemas.microsoft.com/office/drawing/2014/main" id="{247F5A3A-5449-4D31-B91A-42599348E448}"/>
              </a:ext>
            </a:extLst>
          </p:cNvPr>
          <p:cNvSpPr txBox="1"/>
          <p:nvPr>
            <p:custDataLst>
              <p:tags r:id="rId4"/>
            </p:custDataLst>
          </p:nvPr>
        </p:nvSpPr>
        <p:spPr>
          <a:xfrm>
            <a:off x="685800" y="1600200"/>
            <a:ext cx="8001000" cy="4852358"/>
          </a:xfrm>
          <a:prstGeom prst="rect">
            <a:avLst/>
          </a:prstGeom>
          <a:noFill/>
        </p:spPr>
        <p:txBody>
          <a:bodyPr wrap="square" rtlCol="0" anchor="t">
            <a:noAutofit/>
          </a:bodyPr>
          <a:lstStyle/>
          <a:p>
            <a:r>
              <a:rPr lang="en-US" sz="3200" b="1" dirty="0">
                <a:latin typeface="+mn-lt"/>
              </a:rPr>
              <a:t>Compute-Level Parallelism:</a:t>
            </a:r>
          </a:p>
          <a:p>
            <a:pPr marL="457200" indent="-457200">
              <a:buFont typeface="Wingdings" panose="05000000000000000000" pitchFamily="2" charset="2"/>
              <a:buChar char="Ø"/>
            </a:pPr>
            <a:r>
              <a:rPr lang="en-US" sz="2800" dirty="0">
                <a:latin typeface="+mn-lt"/>
              </a:rPr>
              <a:t>Executing multiple computation streams simultaneously</a:t>
            </a:r>
          </a:p>
          <a:p>
            <a:endParaRPr lang="en-US" sz="3200" dirty="0">
              <a:latin typeface="+mn-lt"/>
            </a:endParaRPr>
          </a:p>
          <a:p>
            <a:r>
              <a:rPr lang="en-US" sz="3200" b="1" dirty="0">
                <a:latin typeface="+mn-lt"/>
              </a:rPr>
              <a:t>Data-Level Parallelism:</a:t>
            </a:r>
          </a:p>
          <a:p>
            <a:pPr marL="457200" indent="-457200">
              <a:buFont typeface="Wingdings" panose="05000000000000000000" pitchFamily="2" charset="2"/>
              <a:buChar char="Ø"/>
            </a:pPr>
            <a:r>
              <a:rPr lang="en-US" sz="2800" dirty="0">
                <a:latin typeface="+mn-lt"/>
              </a:rPr>
              <a:t>Processing multiple data streams simultaneously</a:t>
            </a:r>
          </a:p>
        </p:txBody>
      </p:sp>
    </p:spTree>
    <p:custDataLst>
      <p:tags r:id="rId1"/>
    </p:custDataLst>
    <p:extLst>
      <p:ext uri="{BB962C8B-B14F-4D97-AF65-F5344CB8AC3E}">
        <p14:creationId xmlns:p14="http://schemas.microsoft.com/office/powerpoint/2010/main" val="411720199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Concurrency and Parallelism</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10</a:t>
            </a:fld>
            <a:endParaRPr lang="en-US" altLang="en-US" sz="1400">
              <a:latin typeface="Times New Roman" panose="02020603050405020304" pitchFamily="18" charset="0"/>
            </a:endParaRPr>
          </a:p>
        </p:txBody>
      </p:sp>
      <p:sp>
        <p:nvSpPr>
          <p:cNvPr id="37" name="TextBox 36">
            <a:extLst>
              <a:ext uri="{FF2B5EF4-FFF2-40B4-BE49-F238E27FC236}">
                <a16:creationId xmlns:a16="http://schemas.microsoft.com/office/drawing/2014/main" id="{247F5A3A-5449-4D31-B91A-42599348E448}"/>
              </a:ext>
            </a:extLst>
          </p:cNvPr>
          <p:cNvSpPr txBox="1"/>
          <p:nvPr>
            <p:custDataLst>
              <p:tags r:id="rId4"/>
            </p:custDataLst>
          </p:nvPr>
        </p:nvSpPr>
        <p:spPr>
          <a:xfrm>
            <a:off x="685800" y="1600200"/>
            <a:ext cx="8001000" cy="4852358"/>
          </a:xfrm>
          <a:prstGeom prst="rect">
            <a:avLst/>
          </a:prstGeom>
          <a:noFill/>
        </p:spPr>
        <p:txBody>
          <a:bodyPr wrap="square" rtlCol="0" anchor="t">
            <a:noAutofit/>
          </a:bodyPr>
          <a:lstStyle/>
          <a:p>
            <a:r>
              <a:rPr lang="en-US" sz="2800" b="1" dirty="0">
                <a:latin typeface="+mn-lt"/>
              </a:rPr>
              <a:t>Concurrency:</a:t>
            </a:r>
          </a:p>
          <a:p>
            <a:r>
              <a:rPr lang="en-US" sz="2800" dirty="0">
                <a:latin typeface="+mn-lt"/>
              </a:rPr>
              <a:t>Coexistence of multiple tasks/computations in progress</a:t>
            </a:r>
          </a:p>
          <a:p>
            <a:pPr marL="457200" indent="-457200">
              <a:buFont typeface="Wingdings" panose="05000000000000000000" pitchFamily="2" charset="2"/>
              <a:buChar char="Ø"/>
            </a:pPr>
            <a:r>
              <a:rPr lang="en-US" sz="2400" dirty="0">
                <a:latin typeface="+mn-lt"/>
              </a:rPr>
              <a:t>Logically doing multiple things at once</a:t>
            </a:r>
          </a:p>
          <a:p>
            <a:pPr marL="457200" indent="-457200">
              <a:buFont typeface="Wingdings" panose="05000000000000000000" pitchFamily="2" charset="2"/>
              <a:buChar char="Ø"/>
            </a:pPr>
            <a:r>
              <a:rPr lang="en-US" sz="2400" dirty="0">
                <a:latin typeface="+mn-lt"/>
              </a:rPr>
              <a:t>Typically algorithm/system-defined</a:t>
            </a:r>
          </a:p>
          <a:p>
            <a:endParaRPr lang="en-US" sz="2800" dirty="0">
              <a:latin typeface="+mn-lt"/>
            </a:endParaRPr>
          </a:p>
          <a:p>
            <a:r>
              <a:rPr lang="en-US" sz="2800" b="1" dirty="0">
                <a:latin typeface="+mn-lt"/>
              </a:rPr>
              <a:t>Parallelism:</a:t>
            </a:r>
          </a:p>
          <a:p>
            <a:r>
              <a:rPr lang="en-US" sz="2800" dirty="0">
                <a:latin typeface="+mn-lt"/>
              </a:rPr>
              <a:t>Execution of multiple tasks/computations simultaneously</a:t>
            </a:r>
          </a:p>
          <a:p>
            <a:pPr marL="457200" indent="-457200">
              <a:buFont typeface="Wingdings" panose="05000000000000000000" pitchFamily="2" charset="2"/>
              <a:buChar char="Ø"/>
            </a:pPr>
            <a:r>
              <a:rPr lang="en-US" sz="2400" dirty="0">
                <a:latin typeface="+mn-lt"/>
              </a:rPr>
              <a:t>Physically doing multiple things at once</a:t>
            </a:r>
          </a:p>
          <a:p>
            <a:pPr marL="457200" indent="-457200">
              <a:buFont typeface="Wingdings" panose="05000000000000000000" pitchFamily="2" charset="2"/>
              <a:buChar char="Ø"/>
            </a:pPr>
            <a:r>
              <a:rPr lang="en-US" sz="2400" dirty="0">
                <a:latin typeface="+mn-lt"/>
              </a:rPr>
              <a:t>Typically architecture-defined</a:t>
            </a:r>
          </a:p>
        </p:txBody>
      </p:sp>
    </p:spTree>
    <p:custDataLst>
      <p:tags r:id="rId1"/>
    </p:custDataLst>
    <p:extLst>
      <p:ext uri="{BB962C8B-B14F-4D97-AF65-F5344CB8AC3E}">
        <p14:creationId xmlns:p14="http://schemas.microsoft.com/office/powerpoint/2010/main" val="39569271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Parallel Speedup</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1724074"/>
          </a:xfrm>
        </p:spPr>
        <p:txBody>
          <a:bodyPr/>
          <a:lstStyle/>
          <a:p>
            <a:pPr eaLnBrk="1" hangingPunct="1"/>
            <a:r>
              <a:rPr lang="en-US" altLang="en-US" dirty="0"/>
              <a:t>How to compute speedup due to parallelism?</a:t>
            </a:r>
          </a:p>
          <a:p>
            <a:pPr lvl="1" eaLnBrk="1" hangingPunct="1"/>
            <a:r>
              <a:rPr lang="en-US" altLang="en-US" dirty="0"/>
              <a:t>e.g., 3 processor cores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11</a:t>
            </a:fld>
            <a:endParaRPr lang="en-US" altLang="en-US" sz="1400">
              <a:latin typeface="Times New Roman" panose="02020603050405020304" pitchFamily="18" charset="0"/>
            </a:endParaRPr>
          </a:p>
        </p:txBody>
      </p:sp>
      <p:sp>
        <p:nvSpPr>
          <p:cNvPr id="37" name="Rectangle 36">
            <a:extLst>
              <a:ext uri="{FF2B5EF4-FFF2-40B4-BE49-F238E27FC236}">
                <a16:creationId xmlns:a16="http://schemas.microsoft.com/office/drawing/2014/main" id="{0FB738A2-6FAA-4D0E-A8F2-7BDA25328D9B}"/>
              </a:ext>
            </a:extLst>
          </p:cNvPr>
          <p:cNvSpPr/>
          <p:nvPr>
            <p:custDataLst>
              <p:tags r:id="rId5"/>
            </p:custDataLst>
          </p:nvPr>
        </p:nvSpPr>
        <p:spPr>
          <a:xfrm>
            <a:off x="152400" y="4182387"/>
            <a:ext cx="8915400" cy="580445"/>
          </a:xfrm>
          <a:prstGeom prst="rect">
            <a:avLst/>
          </a:prstGeom>
          <a:solidFill>
            <a:schemeClr val="bg1">
              <a:lumMod val="95000"/>
            </a:schemeClr>
          </a:solidFill>
          <a:ln w="254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eaLnBrk="1" fontAlgn="auto" hangingPunct="1">
              <a:spcBef>
                <a:spcPts val="0"/>
              </a:spcBef>
              <a:spcAft>
                <a:spcPts val="0"/>
              </a:spcAft>
            </a:pPr>
            <a:r>
              <a:rPr lang="en-GB" sz="1800" dirty="0">
                <a:solidFill>
                  <a:prstClr val="black"/>
                </a:solidFill>
              </a:rPr>
              <a:t>program</a:t>
            </a:r>
          </a:p>
        </p:txBody>
      </p:sp>
      <p:grpSp>
        <p:nvGrpSpPr>
          <p:cNvPr id="2" name="Group 1">
            <a:extLst>
              <a:ext uri="{FF2B5EF4-FFF2-40B4-BE49-F238E27FC236}">
                <a16:creationId xmlns:a16="http://schemas.microsoft.com/office/drawing/2014/main" id="{604BDFB7-4B53-4C75-9E30-1E8090583AE0}"/>
              </a:ext>
            </a:extLst>
          </p:cNvPr>
          <p:cNvGrpSpPr/>
          <p:nvPr>
            <p:custDataLst>
              <p:tags r:id="rId6"/>
            </p:custDataLst>
          </p:nvPr>
        </p:nvGrpSpPr>
        <p:grpSpPr>
          <a:xfrm>
            <a:off x="152400" y="4182387"/>
            <a:ext cx="8915400" cy="584759"/>
            <a:chOff x="152400" y="4182387"/>
            <a:chExt cx="8915400" cy="584759"/>
          </a:xfrm>
        </p:grpSpPr>
        <p:sp>
          <p:nvSpPr>
            <p:cNvPr id="6" name="Rectangle 5">
              <a:extLst>
                <a:ext uri="{FF2B5EF4-FFF2-40B4-BE49-F238E27FC236}">
                  <a16:creationId xmlns:a16="http://schemas.microsoft.com/office/drawing/2014/main" id="{B3B850DA-3DF1-4711-B7BA-3BC2BB27AB5B}"/>
                </a:ext>
              </a:extLst>
            </p:cNvPr>
            <p:cNvSpPr/>
            <p:nvPr>
              <p:custDataLst>
                <p:tags r:id="rId7"/>
              </p:custDataLst>
            </p:nvPr>
          </p:nvSpPr>
          <p:spPr>
            <a:xfrm>
              <a:off x="152400" y="4182387"/>
              <a:ext cx="1295401" cy="580445"/>
            </a:xfrm>
            <a:prstGeom prst="rect">
              <a:avLst/>
            </a:prstGeom>
            <a:solidFill>
              <a:schemeClr val="bg1">
                <a:lumMod val="95000"/>
              </a:schemeClr>
            </a:solidFill>
            <a:ln w="254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eaLnBrk="1" fontAlgn="auto" hangingPunct="1">
                <a:spcBef>
                  <a:spcPts val="0"/>
                </a:spcBef>
                <a:spcAft>
                  <a:spcPts val="0"/>
                </a:spcAft>
              </a:pPr>
              <a:r>
                <a:rPr lang="en-GB" sz="1800" dirty="0">
                  <a:solidFill>
                    <a:prstClr val="black"/>
                  </a:solidFill>
                </a:rPr>
                <a:t>sequential</a:t>
              </a:r>
            </a:p>
          </p:txBody>
        </p:sp>
        <p:sp>
          <p:nvSpPr>
            <p:cNvPr id="7" name="Rectangle 6">
              <a:extLst>
                <a:ext uri="{FF2B5EF4-FFF2-40B4-BE49-F238E27FC236}">
                  <a16:creationId xmlns:a16="http://schemas.microsoft.com/office/drawing/2014/main" id="{4A824D83-962D-4A5C-9D41-717C7693292A}"/>
                </a:ext>
              </a:extLst>
            </p:cNvPr>
            <p:cNvSpPr/>
            <p:nvPr>
              <p:custDataLst>
                <p:tags r:id="rId8"/>
              </p:custDataLst>
            </p:nvPr>
          </p:nvSpPr>
          <p:spPr>
            <a:xfrm>
              <a:off x="7848600" y="4182387"/>
              <a:ext cx="1219200" cy="580445"/>
            </a:xfrm>
            <a:prstGeom prst="rect">
              <a:avLst/>
            </a:prstGeom>
            <a:solidFill>
              <a:schemeClr val="bg1">
                <a:lumMod val="95000"/>
              </a:schemeClr>
            </a:solidFill>
            <a:ln w="254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eaLnBrk="1" fontAlgn="auto" hangingPunct="1">
                <a:spcBef>
                  <a:spcPts val="0"/>
                </a:spcBef>
                <a:spcAft>
                  <a:spcPts val="0"/>
                </a:spcAft>
              </a:pPr>
              <a:r>
                <a:rPr lang="en-GB" sz="1800" dirty="0">
                  <a:solidFill>
                    <a:prstClr val="black"/>
                  </a:solidFill>
                </a:rPr>
                <a:t>sequential</a:t>
              </a:r>
            </a:p>
          </p:txBody>
        </p:sp>
        <p:sp>
          <p:nvSpPr>
            <p:cNvPr id="8" name="Rectangle 7">
              <a:extLst>
                <a:ext uri="{FF2B5EF4-FFF2-40B4-BE49-F238E27FC236}">
                  <a16:creationId xmlns:a16="http://schemas.microsoft.com/office/drawing/2014/main" id="{B17C2E08-795A-4F4B-B4FF-F18F95560C5B}"/>
                </a:ext>
              </a:extLst>
            </p:cNvPr>
            <p:cNvSpPr/>
            <p:nvPr>
              <p:custDataLst>
                <p:tags r:id="rId9"/>
              </p:custDataLst>
            </p:nvPr>
          </p:nvSpPr>
          <p:spPr>
            <a:xfrm>
              <a:off x="1447138" y="4182388"/>
              <a:ext cx="6401461" cy="584758"/>
            </a:xfrm>
            <a:prstGeom prst="rect">
              <a:avLst/>
            </a:prstGeom>
            <a:solidFill>
              <a:schemeClr val="accent6">
                <a:lumMod val="60000"/>
                <a:lumOff val="40000"/>
              </a:schemeClr>
            </a:solidFill>
            <a:ln w="254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eaLnBrk="1" fontAlgn="auto" hangingPunct="1">
                <a:spcBef>
                  <a:spcPts val="0"/>
                </a:spcBef>
                <a:spcAft>
                  <a:spcPts val="0"/>
                </a:spcAft>
              </a:pPr>
              <a:r>
                <a:rPr lang="en-GB" sz="1800" dirty="0">
                  <a:solidFill>
                    <a:prstClr val="black"/>
                  </a:solidFill>
                </a:rPr>
                <a:t>parallel</a:t>
              </a:r>
            </a:p>
          </p:txBody>
        </p:sp>
      </p:grpSp>
    </p:spTree>
    <p:custDataLst>
      <p:tags r:id="rId1"/>
    </p:custDataLst>
    <p:extLst>
      <p:ext uri="{BB962C8B-B14F-4D97-AF65-F5344CB8AC3E}">
        <p14:creationId xmlns:p14="http://schemas.microsoft.com/office/powerpoint/2010/main" val="32643866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Amdahl’s Law</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1724074"/>
          </a:xfrm>
        </p:spPr>
        <p:txBody>
          <a:bodyPr/>
          <a:lstStyle/>
          <a:p>
            <a:pPr eaLnBrk="1" hangingPunct="1"/>
            <a:r>
              <a:rPr lang="en-US" altLang="en-US" dirty="0"/>
              <a:t>How to compute speedup due to parallelism?</a:t>
            </a:r>
          </a:p>
          <a:p>
            <a:pPr lvl="1" eaLnBrk="1" hangingPunct="1"/>
            <a:r>
              <a:rPr lang="en-US" altLang="en-US" dirty="0"/>
              <a:t>e.g., 3 processor cores</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12</a:t>
            </a:fld>
            <a:endParaRPr lang="en-US" altLang="en-US" sz="1400">
              <a:latin typeface="Times New Roman" panose="02020603050405020304" pitchFamily="18" charset="0"/>
            </a:endParaRPr>
          </a:p>
        </p:txBody>
      </p:sp>
      <p:sp>
        <p:nvSpPr>
          <p:cNvPr id="37" name="Rectangle 36">
            <a:extLst>
              <a:ext uri="{FF2B5EF4-FFF2-40B4-BE49-F238E27FC236}">
                <a16:creationId xmlns:a16="http://schemas.microsoft.com/office/drawing/2014/main" id="{0FB738A2-6FAA-4D0E-A8F2-7BDA25328D9B}"/>
              </a:ext>
            </a:extLst>
          </p:cNvPr>
          <p:cNvSpPr/>
          <p:nvPr>
            <p:custDataLst>
              <p:tags r:id="rId5"/>
            </p:custDataLst>
          </p:nvPr>
        </p:nvSpPr>
        <p:spPr>
          <a:xfrm>
            <a:off x="152400" y="4182387"/>
            <a:ext cx="1295401" cy="580445"/>
          </a:xfrm>
          <a:prstGeom prst="rect">
            <a:avLst/>
          </a:prstGeom>
          <a:solidFill>
            <a:schemeClr val="bg1">
              <a:lumMod val="95000"/>
            </a:schemeClr>
          </a:solidFill>
          <a:ln w="254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eaLnBrk="1" fontAlgn="auto" hangingPunct="1">
              <a:spcBef>
                <a:spcPts val="0"/>
              </a:spcBef>
              <a:spcAft>
                <a:spcPts val="0"/>
              </a:spcAft>
            </a:pPr>
            <a:r>
              <a:rPr lang="en-GB" sz="1800" dirty="0">
                <a:solidFill>
                  <a:prstClr val="black"/>
                </a:solidFill>
              </a:rPr>
              <a:t>sequential</a:t>
            </a:r>
          </a:p>
        </p:txBody>
      </p:sp>
      <p:sp>
        <p:nvSpPr>
          <p:cNvPr id="40" name="Rectangle 39">
            <a:extLst>
              <a:ext uri="{FF2B5EF4-FFF2-40B4-BE49-F238E27FC236}">
                <a16:creationId xmlns:a16="http://schemas.microsoft.com/office/drawing/2014/main" id="{D946DA98-5BB4-49C3-A872-F09DA3E7D1F3}"/>
              </a:ext>
            </a:extLst>
          </p:cNvPr>
          <p:cNvSpPr/>
          <p:nvPr>
            <p:custDataLst>
              <p:tags r:id="rId6"/>
            </p:custDataLst>
          </p:nvPr>
        </p:nvSpPr>
        <p:spPr>
          <a:xfrm>
            <a:off x="1447138" y="3381955"/>
            <a:ext cx="2134263" cy="580445"/>
          </a:xfrm>
          <a:prstGeom prst="rect">
            <a:avLst/>
          </a:prstGeom>
          <a:solidFill>
            <a:schemeClr val="accent6">
              <a:lumMod val="60000"/>
              <a:lumOff val="40000"/>
            </a:schemeClr>
          </a:solidFill>
          <a:ln w="254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eaLnBrk="1" fontAlgn="auto" hangingPunct="1">
              <a:spcBef>
                <a:spcPts val="0"/>
              </a:spcBef>
              <a:spcAft>
                <a:spcPts val="0"/>
              </a:spcAft>
            </a:pPr>
            <a:r>
              <a:rPr lang="en-GB" sz="1800" dirty="0">
                <a:solidFill>
                  <a:prstClr val="black"/>
                </a:solidFill>
              </a:rPr>
              <a:t>parallel</a:t>
            </a:r>
          </a:p>
        </p:txBody>
      </p:sp>
      <p:sp>
        <p:nvSpPr>
          <p:cNvPr id="41" name="Rectangle 40">
            <a:extLst>
              <a:ext uri="{FF2B5EF4-FFF2-40B4-BE49-F238E27FC236}">
                <a16:creationId xmlns:a16="http://schemas.microsoft.com/office/drawing/2014/main" id="{B0AF55EC-8444-47FD-9E58-2984F3972965}"/>
              </a:ext>
            </a:extLst>
          </p:cNvPr>
          <p:cNvSpPr/>
          <p:nvPr>
            <p:custDataLst>
              <p:tags r:id="rId7"/>
            </p:custDataLst>
          </p:nvPr>
        </p:nvSpPr>
        <p:spPr>
          <a:xfrm>
            <a:off x="3581401" y="4182387"/>
            <a:ext cx="1219200" cy="580445"/>
          </a:xfrm>
          <a:prstGeom prst="rect">
            <a:avLst/>
          </a:prstGeom>
          <a:solidFill>
            <a:schemeClr val="bg1">
              <a:lumMod val="95000"/>
            </a:schemeClr>
          </a:solidFill>
          <a:ln w="254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eaLnBrk="1" fontAlgn="auto" hangingPunct="1">
              <a:spcBef>
                <a:spcPts val="0"/>
              </a:spcBef>
              <a:spcAft>
                <a:spcPts val="0"/>
              </a:spcAft>
            </a:pPr>
            <a:r>
              <a:rPr lang="en-GB" sz="1800" dirty="0">
                <a:solidFill>
                  <a:prstClr val="black"/>
                </a:solidFill>
              </a:rPr>
              <a:t>sequential</a:t>
            </a:r>
          </a:p>
        </p:txBody>
      </p:sp>
      <p:sp>
        <p:nvSpPr>
          <p:cNvPr id="42" name="Rectangle 41">
            <a:extLst>
              <a:ext uri="{FF2B5EF4-FFF2-40B4-BE49-F238E27FC236}">
                <a16:creationId xmlns:a16="http://schemas.microsoft.com/office/drawing/2014/main" id="{B51A70C7-5250-4C77-B27C-DA9876359C71}"/>
              </a:ext>
            </a:extLst>
          </p:cNvPr>
          <p:cNvSpPr/>
          <p:nvPr>
            <p:custDataLst>
              <p:tags r:id="rId8"/>
            </p:custDataLst>
          </p:nvPr>
        </p:nvSpPr>
        <p:spPr>
          <a:xfrm>
            <a:off x="1447138" y="5029200"/>
            <a:ext cx="2134263" cy="580445"/>
          </a:xfrm>
          <a:prstGeom prst="rect">
            <a:avLst/>
          </a:prstGeom>
          <a:solidFill>
            <a:schemeClr val="accent6">
              <a:lumMod val="60000"/>
              <a:lumOff val="40000"/>
            </a:schemeClr>
          </a:solidFill>
          <a:ln w="254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eaLnBrk="1" fontAlgn="auto" hangingPunct="1">
              <a:spcBef>
                <a:spcPts val="0"/>
              </a:spcBef>
              <a:spcAft>
                <a:spcPts val="0"/>
              </a:spcAft>
            </a:pPr>
            <a:r>
              <a:rPr lang="en-GB" sz="1800" dirty="0">
                <a:solidFill>
                  <a:prstClr val="black"/>
                </a:solidFill>
              </a:rPr>
              <a:t>parallel</a:t>
            </a:r>
          </a:p>
        </p:txBody>
      </p:sp>
      <p:sp>
        <p:nvSpPr>
          <p:cNvPr id="50" name="Rectangle 49">
            <a:extLst>
              <a:ext uri="{FF2B5EF4-FFF2-40B4-BE49-F238E27FC236}">
                <a16:creationId xmlns:a16="http://schemas.microsoft.com/office/drawing/2014/main" id="{D2A5C337-C120-4B53-B24D-CF309CF2FEFE}"/>
              </a:ext>
            </a:extLst>
          </p:cNvPr>
          <p:cNvSpPr/>
          <p:nvPr>
            <p:custDataLst>
              <p:tags r:id="rId9"/>
            </p:custDataLst>
          </p:nvPr>
        </p:nvSpPr>
        <p:spPr>
          <a:xfrm>
            <a:off x="1447138" y="4182388"/>
            <a:ext cx="2134263" cy="584758"/>
          </a:xfrm>
          <a:prstGeom prst="rect">
            <a:avLst/>
          </a:prstGeom>
          <a:solidFill>
            <a:schemeClr val="accent6">
              <a:lumMod val="60000"/>
              <a:lumOff val="40000"/>
            </a:schemeClr>
          </a:solidFill>
          <a:ln w="254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eaLnBrk="1" fontAlgn="auto" hangingPunct="1">
              <a:spcBef>
                <a:spcPts val="0"/>
              </a:spcBef>
              <a:spcAft>
                <a:spcPts val="0"/>
              </a:spcAft>
            </a:pPr>
            <a:r>
              <a:rPr lang="en-GB" sz="1800" dirty="0">
                <a:solidFill>
                  <a:prstClr val="black"/>
                </a:solidFill>
              </a:rPr>
              <a:t>parallel</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A53265B-645B-4D73-B1A5-AFF89CAE6498}"/>
                  </a:ext>
                </a:extLst>
              </p:cNvPr>
              <p:cNvSpPr txBox="1"/>
              <p:nvPr>
                <p:custDataLst>
                  <p:tags r:id="rId10"/>
                </p:custDataLst>
              </p:nvPr>
            </p:nvSpPr>
            <p:spPr>
              <a:xfrm>
                <a:off x="4343400" y="4876800"/>
                <a:ext cx="4648200" cy="1133157"/>
              </a:xfrm>
              <a:prstGeom prst="rect">
                <a:avLst/>
              </a:prstGeom>
              <a:noFill/>
            </p:spPr>
            <p:txBody>
              <a:bodyPr wrap="square" rtlCol="0" anchor="t">
                <a:noAutofit/>
              </a:bodyPr>
              <a:lstStyle/>
              <a:p>
                <a:pPr algn="ct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𝑠𝑝𝑒𝑒𝑑𝑢𝑝</m:t>
                      </m:r>
                      <m:r>
                        <a:rPr lang="en-US" sz="1800" b="0" i="1" smtClean="0">
                          <a:latin typeface="Cambria Math" panose="02040503050406030204" pitchFamily="18" charset="0"/>
                        </a:rPr>
                        <m:t>, </m:t>
                      </m:r>
                      <m:r>
                        <a:rPr lang="en-US" sz="1800" b="0" i="1" smtClean="0">
                          <a:latin typeface="Cambria Math" panose="02040503050406030204" pitchFamily="18" charset="0"/>
                        </a:rPr>
                        <m:t>𝑃</m:t>
                      </m:r>
                      <m:r>
                        <a:rPr lang="en-US" sz="1800" b="0" i="1" smtClean="0">
                          <a:latin typeface="Cambria Math" panose="02040503050406030204" pitchFamily="18" charset="0"/>
                        </a:rPr>
                        <m:t> </m:t>
                      </m:r>
                      <m:r>
                        <a:rPr lang="en-US" sz="1800" b="0" i="1" smtClean="0">
                          <a:latin typeface="Cambria Math" panose="02040503050406030204" pitchFamily="18" charset="0"/>
                        </a:rPr>
                        <m:t>𝑐𝑜𝑟𝑒𝑠</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m:t>
                              </m:r>
                            </m:e>
                            <m:sub>
                              <m:r>
                                <a:rPr lang="en-US" sz="1800" b="0" i="1" smtClean="0">
                                  <a:latin typeface="Cambria Math" panose="02040503050406030204" pitchFamily="18" charset="0"/>
                                </a:rPr>
                                <m:t>𝑠𝑒𝑞𝑢𝑒𝑛𝑡𝑖𝑎𝑙</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m:t>
                                  </m:r>
                                </m:e>
                                <m:sub>
                                  <m:r>
                                    <a:rPr lang="en-US" sz="1800" b="0" i="1" smtClean="0">
                                      <a:latin typeface="Cambria Math" panose="02040503050406030204" pitchFamily="18" charset="0"/>
                                    </a:rPr>
                                    <m:t>𝑝𝑎𝑟𝑎𝑙𝑙𝑒𝑙</m:t>
                                  </m:r>
                                </m:sub>
                              </m:sSub>
                            </m:num>
                            <m:den>
                              <m:r>
                                <a:rPr lang="en-US" sz="1800" b="1" i="1" smtClean="0">
                                  <a:solidFill>
                                    <a:schemeClr val="accent2">
                                      <a:lumMod val="75000"/>
                                    </a:schemeClr>
                                  </a:solidFill>
                                  <a:latin typeface="Cambria Math" panose="02040503050406030204" pitchFamily="18" charset="0"/>
                                </a:rPr>
                                <m:t>𝑷</m:t>
                              </m:r>
                            </m:den>
                          </m:f>
                        </m:den>
                      </m:f>
                    </m:oMath>
                  </m:oMathPara>
                </a14:m>
                <a:endParaRPr lang="en-US" sz="1800" dirty="0"/>
              </a:p>
              <a:p>
                <a:pPr algn="ctr"/>
                <a:endParaRPr lang="en-US" sz="1800" i="1" dirty="0">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EA53265B-645B-4D73-B1A5-AFF89CAE6498}"/>
                  </a:ext>
                </a:extLst>
              </p:cNvPr>
              <p:cNvSpPr txBox="1">
                <a:spLocks noRot="1" noChangeAspect="1" noMove="1" noResize="1" noEditPoints="1" noAdjustHandles="1" noChangeArrowheads="1" noChangeShapeType="1" noTextEdit="1"/>
              </p:cNvSpPr>
              <p:nvPr>
                <p:custDataLst>
                  <p:tags r:id="rId15"/>
                </p:custDataLst>
              </p:nvPr>
            </p:nvSpPr>
            <p:spPr>
              <a:xfrm>
                <a:off x="4343400" y="4876800"/>
                <a:ext cx="4648200" cy="1133157"/>
              </a:xfrm>
              <a:prstGeom prst="rect">
                <a:avLst/>
              </a:prstGeom>
              <a:blipFill>
                <a:blip r:embed="rId16"/>
                <a:stretch>
                  <a:fillRect/>
                </a:stretch>
              </a:blipFill>
            </p:spPr>
            <p:txBody>
              <a:bodyPr/>
              <a:lstStyle/>
              <a:p>
                <a:r>
                  <a:rPr lang="en-US">
                    <a:noFill/>
                  </a:rPr>
                  <a:t> </a:t>
                </a:r>
              </a:p>
            </p:txBody>
          </p:sp>
        </mc:Fallback>
      </mc:AlternateContent>
    </p:spTree>
    <p:custDataLst>
      <p:tags r:id="rId1"/>
    </p:custDataLst>
    <p:extLst>
      <p:ext uri="{BB962C8B-B14F-4D97-AF65-F5344CB8AC3E}">
        <p14:creationId xmlns:p14="http://schemas.microsoft.com/office/powerpoint/2010/main" val="283673028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Amdahl’s Law – 75% Parallel</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13</a:t>
            </a:fld>
            <a:endParaRPr lang="en-US" altLang="en-US" sz="1400">
              <a:latin typeface="Times New Roman" panose="02020603050405020304" pitchFamily="18" charset="0"/>
            </a:endParaRPr>
          </a:p>
        </p:txBody>
      </p:sp>
      <p:graphicFrame>
        <p:nvGraphicFramePr>
          <p:cNvPr id="13" name="Chart 12">
            <a:extLst>
              <a:ext uri="{FF2B5EF4-FFF2-40B4-BE49-F238E27FC236}">
                <a16:creationId xmlns:a16="http://schemas.microsoft.com/office/drawing/2014/main" id="{99605D09-0B92-4F6A-8BD4-DBC1CDD5C925}"/>
              </a:ext>
            </a:extLst>
          </p:cNvPr>
          <p:cNvGraphicFramePr>
            <a:graphicFrameLocks noChangeAspect="1"/>
          </p:cNvGraphicFramePr>
          <p:nvPr>
            <p:custDataLst>
              <p:tags r:id="rId4"/>
            </p:custDataLst>
            <p:extLst>
              <p:ext uri="{D42A27DB-BD31-4B8C-83A1-F6EECF244321}">
                <p14:modId xmlns:p14="http://schemas.microsoft.com/office/powerpoint/2010/main" val="1409696093"/>
              </p:ext>
            </p:extLst>
          </p:nvPr>
        </p:nvGraphicFramePr>
        <p:xfrm>
          <a:off x="1143000" y="1752600"/>
          <a:ext cx="6858000" cy="4114800"/>
        </p:xfrm>
        <a:graphic>
          <a:graphicData uri="http://schemas.openxmlformats.org/drawingml/2006/chart">
            <c:chart xmlns:c="http://schemas.openxmlformats.org/drawingml/2006/chart" xmlns:r="http://schemas.openxmlformats.org/officeDocument/2006/relationships" r:id="rId7"/>
          </a:graphicData>
        </a:graphic>
      </p:graphicFrame>
    </p:spTree>
    <p:custDataLst>
      <p:tags r:id="rId1"/>
    </p:custDataLst>
    <p:extLst>
      <p:ext uri="{BB962C8B-B14F-4D97-AF65-F5344CB8AC3E}">
        <p14:creationId xmlns:p14="http://schemas.microsoft.com/office/powerpoint/2010/main" val="328199976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Amdahl’s Law – 98% Parallel</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14</a:t>
            </a:fld>
            <a:endParaRPr lang="en-US" altLang="en-US" sz="1400">
              <a:latin typeface="Times New Roman" panose="02020603050405020304" pitchFamily="18" charset="0"/>
            </a:endParaRPr>
          </a:p>
        </p:txBody>
      </p:sp>
      <p:graphicFrame>
        <p:nvGraphicFramePr>
          <p:cNvPr id="5" name="Chart 4">
            <a:extLst>
              <a:ext uri="{FF2B5EF4-FFF2-40B4-BE49-F238E27FC236}">
                <a16:creationId xmlns:a16="http://schemas.microsoft.com/office/drawing/2014/main" id="{3ABEC41F-4DD4-481E-8231-2A65BD5F469B}"/>
              </a:ext>
            </a:extLst>
          </p:cNvPr>
          <p:cNvGraphicFramePr>
            <a:graphicFrameLocks noChangeAspect="1"/>
          </p:cNvGraphicFramePr>
          <p:nvPr>
            <p:custDataLst>
              <p:tags r:id="rId4"/>
            </p:custDataLst>
          </p:nvPr>
        </p:nvGraphicFramePr>
        <p:xfrm>
          <a:off x="1143000" y="1752600"/>
          <a:ext cx="6858000" cy="4114800"/>
        </p:xfrm>
        <a:graphic>
          <a:graphicData uri="http://schemas.openxmlformats.org/drawingml/2006/chart">
            <c:chart xmlns:c="http://schemas.openxmlformats.org/drawingml/2006/chart" xmlns:r="http://schemas.openxmlformats.org/officeDocument/2006/relationships" r:id="rId8"/>
          </a:graphicData>
        </a:graphic>
      </p:graphicFrame>
      <p:sp>
        <p:nvSpPr>
          <p:cNvPr id="6" name="TextBox 5">
            <a:extLst>
              <a:ext uri="{FF2B5EF4-FFF2-40B4-BE49-F238E27FC236}">
                <a16:creationId xmlns:a16="http://schemas.microsoft.com/office/drawing/2014/main" id="{2BDA97A9-A1EE-4F26-B8D5-ECCFDE1204A6}"/>
              </a:ext>
            </a:extLst>
          </p:cNvPr>
          <p:cNvSpPr txBox="1"/>
          <p:nvPr>
            <p:custDataLst>
              <p:tags r:id="rId5"/>
            </p:custDataLst>
          </p:nvPr>
        </p:nvSpPr>
        <p:spPr>
          <a:xfrm>
            <a:off x="6248400" y="3456517"/>
            <a:ext cx="3044609" cy="1015663"/>
          </a:xfrm>
          <a:prstGeom prst="rect">
            <a:avLst/>
          </a:prstGeom>
          <a:noFill/>
        </p:spPr>
        <p:txBody>
          <a:bodyPr wrap="square" rtlCol="0" anchor="ctr">
            <a:spAutoFit/>
          </a:bodyPr>
          <a:lstStyle/>
          <a:p>
            <a:pPr algn="ctr" eaLnBrk="1" fontAlgn="auto" hangingPunct="1">
              <a:spcBef>
                <a:spcPts val="0"/>
              </a:spcBef>
              <a:spcAft>
                <a:spcPts val="0"/>
              </a:spcAft>
            </a:pPr>
            <a:r>
              <a:rPr lang="en-US" sz="2000" b="1" dirty="0">
                <a:solidFill>
                  <a:schemeClr val="accent6">
                    <a:lumMod val="75000"/>
                  </a:schemeClr>
                </a:solidFill>
                <a:latin typeface="Calibri"/>
              </a:rPr>
              <a:t>Even small percentage of sequential work can greatly limit speedup</a:t>
            </a:r>
          </a:p>
        </p:txBody>
      </p:sp>
      <p:cxnSp>
        <p:nvCxnSpPr>
          <p:cNvPr id="7" name="Straight Arrow Connector 6">
            <a:extLst>
              <a:ext uri="{FF2B5EF4-FFF2-40B4-BE49-F238E27FC236}">
                <a16:creationId xmlns:a16="http://schemas.microsoft.com/office/drawing/2014/main" id="{99E827AB-DAF1-49F9-A090-1377A2400431}"/>
              </a:ext>
            </a:extLst>
          </p:cNvPr>
          <p:cNvCxnSpPr/>
          <p:nvPr/>
        </p:nvCxnSpPr>
        <p:spPr>
          <a:xfrm>
            <a:off x="7458973" y="2437192"/>
            <a:ext cx="0" cy="684363"/>
          </a:xfrm>
          <a:prstGeom prst="straightConnector1">
            <a:avLst/>
          </a:prstGeom>
          <a:ln w="50800">
            <a:solidFill>
              <a:schemeClr val="accent6">
                <a:lumMod val="75000"/>
              </a:schemeClr>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86651526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Flynn’s Taxonomy</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15</a:t>
            </a:fld>
            <a:endParaRPr lang="en-US" altLang="en-US" sz="1400">
              <a:latin typeface="Times New Roman" panose="02020603050405020304" pitchFamily="18" charset="0"/>
            </a:endParaRPr>
          </a:p>
        </p:txBody>
      </p:sp>
      <p:sp>
        <p:nvSpPr>
          <p:cNvPr id="14" name="TextBox 13">
            <a:extLst>
              <a:ext uri="{FF2B5EF4-FFF2-40B4-BE49-F238E27FC236}">
                <a16:creationId xmlns:a16="http://schemas.microsoft.com/office/drawing/2014/main" id="{4BBB2F64-390E-4D6B-B36F-860B6A3DF98D}"/>
              </a:ext>
            </a:extLst>
          </p:cNvPr>
          <p:cNvSpPr txBox="1"/>
          <p:nvPr>
            <p:custDataLst>
              <p:tags r:id="rId4"/>
            </p:custDataLst>
          </p:nvPr>
        </p:nvSpPr>
        <p:spPr>
          <a:xfrm>
            <a:off x="472440" y="1414732"/>
            <a:ext cx="8519160" cy="5037826"/>
          </a:xfrm>
          <a:prstGeom prst="rect">
            <a:avLst/>
          </a:prstGeom>
          <a:noFill/>
        </p:spPr>
        <p:txBody>
          <a:bodyPr wrap="square" rtlCol="0" anchor="t">
            <a:noAutofit/>
          </a:bodyPr>
          <a:lstStyle/>
          <a:p>
            <a:r>
              <a:rPr lang="en-US" sz="2400" dirty="0">
                <a:latin typeface="+mn-lt"/>
              </a:rPr>
              <a:t>Michael J. Flynn, </a:t>
            </a:r>
            <a:r>
              <a:rPr lang="en-US" sz="2400" i="1" dirty="0">
                <a:latin typeface="+mn-lt"/>
              </a:rPr>
              <a:t>Very High-Speed Computing Systems</a:t>
            </a:r>
            <a:r>
              <a:rPr lang="en-US" sz="2400" dirty="0">
                <a:latin typeface="+mn-lt"/>
              </a:rPr>
              <a:t>, Proc. IEEE, 1966.</a:t>
            </a:r>
          </a:p>
          <a:p>
            <a:endParaRPr lang="en-US" sz="2400" dirty="0">
              <a:latin typeface="+mn-lt"/>
            </a:endParaRPr>
          </a:p>
          <a:p>
            <a:r>
              <a:rPr lang="en-US" sz="2800" b="1" dirty="0">
                <a:latin typeface="+mn-lt"/>
              </a:rPr>
              <a:t>SISD</a:t>
            </a:r>
            <a:r>
              <a:rPr lang="en-US" sz="2800" dirty="0">
                <a:latin typeface="+mn-lt"/>
              </a:rPr>
              <a:t> (Single Instruction – Single Data)</a:t>
            </a:r>
          </a:p>
          <a:p>
            <a:pPr marL="457200" indent="-457200">
              <a:buFont typeface="Wingdings" panose="05000000000000000000" pitchFamily="2" charset="2"/>
              <a:buChar char="Ø"/>
            </a:pPr>
            <a:r>
              <a:rPr lang="en-US" sz="2400" dirty="0">
                <a:latin typeface="+mn-lt"/>
              </a:rPr>
              <a:t>One instruction operating on one data location</a:t>
            </a:r>
          </a:p>
          <a:p>
            <a:r>
              <a:rPr lang="en-US" sz="2800" b="1" dirty="0">
                <a:latin typeface="+mn-lt"/>
              </a:rPr>
              <a:t>SIMD</a:t>
            </a:r>
            <a:r>
              <a:rPr lang="en-US" sz="2800" dirty="0">
                <a:latin typeface="+mn-lt"/>
              </a:rPr>
              <a:t> (Single Instruction – Multiple Data)</a:t>
            </a:r>
          </a:p>
          <a:p>
            <a:pPr marL="457200" indent="-457200">
              <a:buFont typeface="Wingdings" panose="05000000000000000000" pitchFamily="2" charset="2"/>
              <a:buChar char="Ø"/>
            </a:pPr>
            <a:r>
              <a:rPr lang="en-US" sz="2400" dirty="0">
                <a:latin typeface="+mn-lt"/>
              </a:rPr>
              <a:t>One instruction operating on multiple data locations </a:t>
            </a:r>
          </a:p>
          <a:p>
            <a:r>
              <a:rPr lang="en-US" sz="2800" b="1" dirty="0">
                <a:latin typeface="+mn-lt"/>
              </a:rPr>
              <a:t>MISD</a:t>
            </a:r>
            <a:r>
              <a:rPr lang="en-US" sz="2800" dirty="0">
                <a:latin typeface="+mn-lt"/>
              </a:rPr>
              <a:t> (Multiple Instruction – Single Data)</a:t>
            </a:r>
          </a:p>
          <a:p>
            <a:pPr marL="457200" indent="-457200">
              <a:buFont typeface="Wingdings" panose="05000000000000000000" pitchFamily="2" charset="2"/>
              <a:buChar char="Ø"/>
            </a:pPr>
            <a:r>
              <a:rPr lang="en-US" sz="2400" dirty="0">
                <a:latin typeface="+mn-lt"/>
              </a:rPr>
              <a:t>Multiple instructions operating on one data location</a:t>
            </a:r>
          </a:p>
          <a:p>
            <a:r>
              <a:rPr lang="en-US" sz="2800" b="1" dirty="0">
                <a:latin typeface="+mn-lt"/>
              </a:rPr>
              <a:t>MIMD</a:t>
            </a:r>
            <a:r>
              <a:rPr lang="en-US" sz="2800" dirty="0">
                <a:latin typeface="+mn-lt"/>
              </a:rPr>
              <a:t> (Multiple Instruction – Multiple Data)</a:t>
            </a:r>
          </a:p>
          <a:p>
            <a:pPr marL="457200" indent="-457200">
              <a:buFont typeface="Wingdings" panose="05000000000000000000" pitchFamily="2" charset="2"/>
              <a:buChar char="Ø"/>
            </a:pPr>
            <a:r>
              <a:rPr lang="en-US" sz="2400" dirty="0">
                <a:latin typeface="+mn-lt"/>
              </a:rPr>
              <a:t>Multiple instructions operating on multiple data locations</a:t>
            </a:r>
          </a:p>
          <a:p>
            <a:endParaRPr lang="en-US" sz="2400" dirty="0">
              <a:latin typeface="+mn-lt"/>
            </a:endParaRPr>
          </a:p>
        </p:txBody>
      </p:sp>
    </p:spTree>
    <p:custDataLst>
      <p:tags r:id="rId1"/>
    </p:custDataLst>
    <p:extLst>
      <p:ext uri="{BB962C8B-B14F-4D97-AF65-F5344CB8AC3E}">
        <p14:creationId xmlns:p14="http://schemas.microsoft.com/office/powerpoint/2010/main" val="187172235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ILP vs. TLP</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4571999"/>
          </a:xfrm>
        </p:spPr>
        <p:txBody>
          <a:bodyPr/>
          <a:lstStyle/>
          <a:p>
            <a:pPr eaLnBrk="1" hangingPunct="1"/>
            <a:r>
              <a:rPr lang="en-US" altLang="en-US" b="1" dirty="0"/>
              <a:t>Instruction-Level Parallelism (ILP)</a:t>
            </a:r>
            <a:r>
              <a:rPr lang="en-US" altLang="en-US" dirty="0"/>
              <a:t>:</a:t>
            </a:r>
          </a:p>
          <a:p>
            <a:pPr lvl="1" eaLnBrk="1" hangingPunct="1"/>
            <a:r>
              <a:rPr lang="en-US" altLang="en-US" dirty="0"/>
              <a:t>Independent work within a single thread of program</a:t>
            </a:r>
          </a:p>
          <a:p>
            <a:pPr lvl="1" eaLnBrk="1" hangingPunct="1"/>
            <a:r>
              <a:rPr lang="en-US" altLang="en-US" dirty="0"/>
              <a:t>e.g., Superscalar</a:t>
            </a:r>
          </a:p>
          <a:p>
            <a:pPr eaLnBrk="1" hangingPunct="1"/>
            <a:r>
              <a:rPr lang="en-US" altLang="en-US" b="1" dirty="0"/>
              <a:t>Thread-Level Parallelism (TLP)</a:t>
            </a:r>
            <a:r>
              <a:rPr lang="en-US" altLang="en-US" dirty="0"/>
              <a:t>:</a:t>
            </a:r>
          </a:p>
          <a:p>
            <a:pPr lvl="1" eaLnBrk="1" hangingPunct="1"/>
            <a:r>
              <a:rPr lang="en-US" altLang="en-US" dirty="0"/>
              <a:t>Independent work across multiple threads of program</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16</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348206301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Thread-Level Parallelism</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1"/>
            <a:ext cx="8229600" cy="1295399"/>
          </a:xfrm>
        </p:spPr>
        <p:txBody>
          <a:bodyPr/>
          <a:lstStyle/>
          <a:p>
            <a:pPr eaLnBrk="1" hangingPunct="1"/>
            <a:r>
              <a:rPr lang="en-US" altLang="en-US" b="1" dirty="0" err="1"/>
              <a:t>pthreads</a:t>
            </a:r>
            <a:r>
              <a:rPr lang="en-US" altLang="en-US" dirty="0"/>
              <a:t>: Popular library for explicitly creating and managing threads in a program</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17</a:t>
            </a:fld>
            <a:endParaRPr lang="en-US" altLang="en-US" sz="1400">
              <a:latin typeface="Times New Roman" panose="02020603050405020304" pitchFamily="18" charset="0"/>
            </a:endParaRPr>
          </a:p>
        </p:txBody>
      </p:sp>
      <p:sp>
        <p:nvSpPr>
          <p:cNvPr id="5" name="TextBox 4">
            <a:extLst>
              <a:ext uri="{FF2B5EF4-FFF2-40B4-BE49-F238E27FC236}">
                <a16:creationId xmlns:a16="http://schemas.microsoft.com/office/drawing/2014/main" id="{0788D900-829F-463C-BBD0-E775E78FC006}"/>
              </a:ext>
            </a:extLst>
          </p:cNvPr>
          <p:cNvSpPr txBox="1"/>
          <p:nvPr>
            <p:custDataLst>
              <p:tags r:id="rId5"/>
            </p:custDataLst>
          </p:nvPr>
        </p:nvSpPr>
        <p:spPr>
          <a:xfrm>
            <a:off x="762000" y="2895600"/>
            <a:ext cx="8047319" cy="3477875"/>
          </a:xfrm>
          <a:prstGeom prst="rect">
            <a:avLst/>
          </a:prstGeom>
          <a:noFill/>
        </p:spPr>
        <p:txBody>
          <a:bodyPr wrap="square" rtlCol="0">
            <a:spAutoFit/>
          </a:bodyPr>
          <a:lstStyle/>
          <a:p>
            <a:r>
              <a:rPr lang="en-US" sz="2000" dirty="0">
                <a:latin typeface="Courier New" panose="02070309020205020404" pitchFamily="49" charset="0"/>
                <a:cs typeface="Courier New" panose="02070309020205020404" pitchFamily="49" charset="0"/>
              </a:rPr>
              <a:t>void *thread(void *</a:t>
            </a:r>
            <a:r>
              <a:rPr lang="en-US" sz="2000" dirty="0" err="1">
                <a:latin typeface="Courier New" panose="02070309020205020404" pitchFamily="49" charset="0"/>
                <a:cs typeface="Courier New" panose="02070309020205020404" pitchFamily="49" charset="0"/>
              </a:rPr>
              <a:t>vargp</a:t>
            </a:r>
            <a:r>
              <a:rPr lang="en-US" sz="2000" dirty="0">
                <a:latin typeface="Courier New" panose="02070309020205020404" pitchFamily="49" charset="0"/>
                <a:cs typeface="Courier New" panose="02070309020205020404" pitchFamily="49" charset="0"/>
              </a:rPr>
              <a:t>) { </a:t>
            </a:r>
          </a:p>
          <a:p>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printf</a:t>
            </a:r>
            <a:r>
              <a:rPr lang="en-US" sz="2000" dirty="0">
                <a:latin typeface="Courier New" panose="02070309020205020404" pitchFamily="49" charset="0"/>
                <a:cs typeface="Courier New" panose="02070309020205020404" pitchFamily="49" charset="0"/>
              </a:rPr>
              <a:t>("Hello, world!\n"); </a:t>
            </a:r>
          </a:p>
          <a:p>
            <a:r>
              <a:rPr lang="en-US" sz="2000" dirty="0">
                <a:latin typeface="Courier New" panose="02070309020205020404" pitchFamily="49" charset="0"/>
                <a:cs typeface="Courier New" panose="02070309020205020404" pitchFamily="49" charset="0"/>
              </a:rPr>
              <a:t>    return NULL; </a:t>
            </a:r>
          </a:p>
          <a:p>
            <a:r>
              <a:rPr lang="en-US" sz="2000" dirty="0">
                <a:latin typeface="Courier New" panose="02070309020205020404" pitchFamily="49" charset="0"/>
                <a:cs typeface="Courier New" panose="02070309020205020404" pitchFamily="49" charset="0"/>
              </a:rPr>
              <a:t>} </a:t>
            </a:r>
          </a:p>
          <a:p>
            <a:endParaRPr lang="en-US" sz="2000" dirty="0">
              <a:latin typeface="Courier New" panose="02070309020205020404" pitchFamily="49" charset="0"/>
              <a:cs typeface="Courier New" panose="02070309020205020404" pitchFamily="49" charset="0"/>
            </a:endParaRPr>
          </a:p>
          <a:p>
            <a:r>
              <a:rPr lang="en-US" sz="2000" dirty="0" err="1">
                <a:latin typeface="Courier New" panose="02070309020205020404" pitchFamily="49" charset="0"/>
                <a:cs typeface="Courier New" panose="02070309020205020404" pitchFamily="49" charset="0"/>
              </a:rPr>
              <a:t>int</a:t>
            </a:r>
            <a:r>
              <a:rPr lang="en-US" sz="2000" dirty="0">
                <a:latin typeface="Courier New" panose="02070309020205020404" pitchFamily="49" charset="0"/>
                <a:cs typeface="Courier New" panose="02070309020205020404" pitchFamily="49" charset="0"/>
              </a:rPr>
              <a:t> main() { </a:t>
            </a:r>
          </a:p>
          <a:p>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pthread_t</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tid</a:t>
            </a:r>
            <a:r>
              <a:rPr lang="en-US" sz="2000" dirty="0">
                <a:latin typeface="Courier New" panose="02070309020205020404" pitchFamily="49" charset="0"/>
                <a:cs typeface="Courier New" panose="02070309020205020404" pitchFamily="49" charset="0"/>
              </a:rPr>
              <a:t>; </a:t>
            </a:r>
          </a:p>
          <a:p>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pthread_create</a:t>
            </a:r>
            <a:r>
              <a:rPr lang="en-US" sz="2000" dirty="0">
                <a:latin typeface="Courier New" panose="02070309020205020404" pitchFamily="49" charset="0"/>
                <a:cs typeface="Courier New" panose="02070309020205020404" pitchFamily="49" charset="0"/>
              </a:rPr>
              <a:t>(&amp;</a:t>
            </a:r>
            <a:r>
              <a:rPr lang="en-US" sz="2000" dirty="0" err="1">
                <a:latin typeface="Courier New" panose="02070309020205020404" pitchFamily="49" charset="0"/>
                <a:cs typeface="Courier New" panose="02070309020205020404" pitchFamily="49" charset="0"/>
              </a:rPr>
              <a:t>tid</a:t>
            </a:r>
            <a:r>
              <a:rPr lang="en-US" sz="2000" dirty="0">
                <a:latin typeface="Courier New" panose="02070309020205020404" pitchFamily="49" charset="0"/>
                <a:cs typeface="Courier New" panose="02070309020205020404" pitchFamily="49" charset="0"/>
              </a:rPr>
              <a:t>, NULL, thread, NULL); </a:t>
            </a:r>
          </a:p>
          <a:p>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pthread_join</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tid</a:t>
            </a:r>
            <a:r>
              <a:rPr lang="en-US" sz="2000" dirty="0">
                <a:latin typeface="Courier New" panose="02070309020205020404" pitchFamily="49" charset="0"/>
                <a:cs typeface="Courier New" panose="02070309020205020404" pitchFamily="49" charset="0"/>
              </a:rPr>
              <a:t>, NULL); </a:t>
            </a:r>
          </a:p>
          <a:p>
            <a:r>
              <a:rPr lang="en-US" sz="2000" dirty="0">
                <a:latin typeface="Courier New" panose="02070309020205020404" pitchFamily="49" charset="0"/>
                <a:cs typeface="Courier New" panose="02070309020205020404" pitchFamily="49" charset="0"/>
              </a:rPr>
              <a:t>    return 0; </a:t>
            </a:r>
          </a:p>
          <a:p>
            <a:r>
              <a:rPr lang="en-US" sz="2000" dirty="0">
                <a:latin typeface="Courier New" panose="020703090202050204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210133500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a:extLst>
              <a:ext uri="{FF2B5EF4-FFF2-40B4-BE49-F238E27FC236}">
                <a16:creationId xmlns:a16="http://schemas.microsoft.com/office/drawing/2014/main" id="{05D6F5F3-8D45-483D-983A-B63CD7936D2D}"/>
              </a:ext>
            </a:extLst>
          </p:cNvPr>
          <p:cNvSpPr>
            <a:spLocks noGrp="1" noChangeArrowheads="1"/>
          </p:cNvSpPr>
          <p:nvPr>
            <p:ph idx="1"/>
            <p:custDataLst>
              <p:tags r:id="rId2"/>
            </p:custDataLst>
          </p:nvPr>
        </p:nvSpPr>
        <p:spPr>
          <a:xfrm>
            <a:off x="682625" y="1600200"/>
            <a:ext cx="7772400" cy="4800600"/>
          </a:xfrm>
        </p:spPr>
        <p:txBody>
          <a:bodyPr/>
          <a:lstStyle/>
          <a:p>
            <a:pPr>
              <a:lnSpc>
                <a:spcPct val="80000"/>
              </a:lnSpc>
            </a:pPr>
            <a:r>
              <a:rPr lang="en-US" altLang="en-US" sz="2800" dirty="0"/>
              <a:t>MIMD processors exploit </a:t>
            </a:r>
            <a:r>
              <a:rPr lang="en-US" altLang="en-US" sz="2800" b="1" dirty="0"/>
              <a:t>thread-level parallelism</a:t>
            </a:r>
          </a:p>
          <a:p>
            <a:pPr>
              <a:lnSpc>
                <a:spcPct val="80000"/>
              </a:lnSpc>
            </a:pPr>
            <a:r>
              <a:rPr lang="en-US" altLang="en-US" sz="2800" dirty="0"/>
              <a:t>Motivated by time-sharing of single CPU</a:t>
            </a:r>
          </a:p>
          <a:p>
            <a:pPr lvl="1">
              <a:lnSpc>
                <a:spcPct val="80000"/>
              </a:lnSpc>
            </a:pPr>
            <a:r>
              <a:rPr lang="en-US" altLang="en-US" sz="2400" dirty="0"/>
              <a:t>Programs written to be multithreaded</a:t>
            </a:r>
          </a:p>
          <a:p>
            <a:pPr>
              <a:lnSpc>
                <a:spcPct val="80000"/>
              </a:lnSpc>
            </a:pPr>
            <a:r>
              <a:rPr lang="en-US" altLang="en-US" sz="2800" dirty="0"/>
              <a:t>Quickly led to adoption of multiple processor cores in a single system</a:t>
            </a:r>
          </a:p>
          <a:p>
            <a:pPr lvl="1">
              <a:lnSpc>
                <a:spcPct val="80000"/>
              </a:lnSpc>
            </a:pPr>
            <a:r>
              <a:rPr lang="en-US" altLang="en-US" sz="2400" dirty="0"/>
              <a:t>Enabled scalable product line from entry-level single-core systems to high-end multicore systems</a:t>
            </a:r>
          </a:p>
          <a:p>
            <a:pPr lvl="1">
              <a:lnSpc>
                <a:spcPct val="80000"/>
              </a:lnSpc>
            </a:pPr>
            <a:r>
              <a:rPr lang="en-US" altLang="en-US" sz="2400" dirty="0"/>
              <a:t>Same programs/OS run seamlessly</a:t>
            </a:r>
          </a:p>
          <a:p>
            <a:pPr lvl="1">
              <a:lnSpc>
                <a:spcPct val="80000"/>
              </a:lnSpc>
            </a:pPr>
            <a:r>
              <a:rPr lang="en-US" altLang="en-US" sz="2400" dirty="0"/>
              <a:t>Adding CPUs increases throughput (performance)</a:t>
            </a:r>
          </a:p>
        </p:txBody>
      </p:sp>
      <p:sp>
        <p:nvSpPr>
          <p:cNvPr id="2" name="Slide Number Placeholder 1">
            <a:extLst>
              <a:ext uri="{FF2B5EF4-FFF2-40B4-BE49-F238E27FC236}">
                <a16:creationId xmlns:a16="http://schemas.microsoft.com/office/drawing/2014/main" id="{17829674-6AE7-49AC-BF69-A7D10713F4EB}"/>
              </a:ext>
            </a:extLst>
          </p:cNvPr>
          <p:cNvSpPr>
            <a:spLocks noGrp="1"/>
          </p:cNvSpPr>
          <p:nvPr>
            <p:ph type="sldNum" sz="quarter" idx="12"/>
            <p:custDataLst>
              <p:tags r:id="rId3"/>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07F325C9-DDF4-4829-BA7D-3E94CC96DCDC}" type="slidenum">
              <a:rPr lang="en-US" altLang="en-US">
                <a:latin typeface="Calibri" panose="020F0502020204030204" pitchFamily="34" charset="0"/>
              </a:rPr>
              <a:pPr lvl="1" eaLnBrk="1" hangingPunct="1"/>
              <a:t>18</a:t>
            </a:fld>
            <a:endParaRPr lang="en-US" altLang="en-US">
              <a:latin typeface="Calibri" panose="020F0502020204030204" pitchFamily="34" charset="0"/>
            </a:endParaRPr>
          </a:p>
        </p:txBody>
      </p:sp>
      <p:sp>
        <p:nvSpPr>
          <p:cNvPr id="4" name="Title 3">
            <a:extLst>
              <a:ext uri="{FF2B5EF4-FFF2-40B4-BE49-F238E27FC236}">
                <a16:creationId xmlns:a16="http://schemas.microsoft.com/office/drawing/2014/main" id="{EA9BF57E-20F3-4DEF-AE16-78DD82DE2134}"/>
              </a:ext>
            </a:extLst>
          </p:cNvPr>
          <p:cNvSpPr>
            <a:spLocks noGrp="1"/>
          </p:cNvSpPr>
          <p:nvPr>
            <p:ph type="title"/>
            <p:custDataLst>
              <p:tags r:id="rId4"/>
            </p:custDataLst>
          </p:nvPr>
        </p:nvSpPr>
        <p:spPr>
          <a:xfrm>
            <a:off x="457200" y="274638"/>
            <a:ext cx="7467600" cy="1143000"/>
          </a:xfrm>
        </p:spPr>
        <p:txBody>
          <a:bodyPr/>
          <a:lstStyle/>
          <a:p>
            <a:r>
              <a:rPr lang="en-US" dirty="0"/>
              <a:t>MIMD</a:t>
            </a:r>
          </a:p>
        </p:txBody>
      </p:sp>
    </p:spTree>
    <p:custDataLst>
      <p:tags r:id="rId1"/>
    </p:custDataLst>
    <p:extLst>
      <p:ext uri="{BB962C8B-B14F-4D97-AF65-F5344CB8AC3E}">
        <p14:creationId xmlns:p14="http://schemas.microsoft.com/office/powerpoint/2010/main" val="29122575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MIMD</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19</a:t>
            </a:fld>
            <a:endParaRPr lang="en-US" altLang="en-US" sz="1400">
              <a:latin typeface="Times New Roman" panose="02020603050405020304" pitchFamily="18" charset="0"/>
            </a:endParaRPr>
          </a:p>
        </p:txBody>
      </p:sp>
      <p:sp>
        <p:nvSpPr>
          <p:cNvPr id="6" name="TextBox 5">
            <a:extLst>
              <a:ext uri="{FF2B5EF4-FFF2-40B4-BE49-F238E27FC236}">
                <a16:creationId xmlns:a16="http://schemas.microsoft.com/office/drawing/2014/main" id="{43B8BAED-D80A-4C00-B56E-4A7742B78A08}"/>
              </a:ext>
            </a:extLst>
          </p:cNvPr>
          <p:cNvSpPr txBox="1"/>
          <p:nvPr>
            <p:custDataLst>
              <p:tags r:id="rId4"/>
            </p:custDataLst>
          </p:nvPr>
        </p:nvSpPr>
        <p:spPr>
          <a:xfrm>
            <a:off x="472440" y="1414731"/>
            <a:ext cx="8519160" cy="5147989"/>
          </a:xfrm>
          <a:prstGeom prst="rect">
            <a:avLst/>
          </a:prstGeom>
          <a:noFill/>
        </p:spPr>
        <p:txBody>
          <a:bodyPr wrap="square" rtlCol="0" anchor="t">
            <a:noAutofit/>
          </a:bodyPr>
          <a:lstStyle/>
          <a:p>
            <a:r>
              <a:rPr lang="en-US" sz="2400" b="1" dirty="0">
                <a:latin typeface="+mn-lt"/>
              </a:rPr>
              <a:t>Multiple hardware threads in a core:</a:t>
            </a:r>
          </a:p>
          <a:p>
            <a:pPr marL="457200" indent="-457200">
              <a:buFont typeface="Wingdings" panose="05000000000000000000" pitchFamily="2" charset="2"/>
              <a:buChar char="Ø"/>
            </a:pPr>
            <a:r>
              <a:rPr lang="en-US" sz="2400" dirty="0">
                <a:latin typeface="+mn-lt"/>
              </a:rPr>
              <a:t>Connected via microarchitecture</a:t>
            </a:r>
          </a:p>
          <a:p>
            <a:pPr marL="457200" indent="-457200">
              <a:buFont typeface="Wingdings" panose="05000000000000000000" pitchFamily="2" charset="2"/>
              <a:buChar char="Ø"/>
            </a:pPr>
            <a:r>
              <a:rPr lang="en-US" sz="2400" dirty="0">
                <a:latin typeface="+mn-lt"/>
              </a:rPr>
              <a:t>Simultaneous multithreading (SMT), hyperthreading</a:t>
            </a:r>
          </a:p>
          <a:p>
            <a:endParaRPr lang="en-US" dirty="0">
              <a:latin typeface="+mn-lt"/>
            </a:endParaRPr>
          </a:p>
          <a:p>
            <a:r>
              <a:rPr lang="en-US" sz="2400" b="1" dirty="0">
                <a:latin typeface="+mn-lt"/>
              </a:rPr>
              <a:t>Multiple processor cores in a chip:</a:t>
            </a:r>
          </a:p>
          <a:p>
            <a:pPr marL="457200" indent="-457200">
              <a:buFont typeface="Wingdings" panose="05000000000000000000" pitchFamily="2" charset="2"/>
              <a:buChar char="Ø"/>
            </a:pPr>
            <a:r>
              <a:rPr lang="en-US" sz="2400" dirty="0">
                <a:latin typeface="+mn-lt"/>
              </a:rPr>
              <a:t>Connected via on-chip interconnect/memory hierarchy</a:t>
            </a:r>
          </a:p>
          <a:p>
            <a:pPr marL="457200" indent="-457200">
              <a:buFont typeface="Wingdings" panose="05000000000000000000" pitchFamily="2" charset="2"/>
              <a:buChar char="Ø"/>
            </a:pPr>
            <a:r>
              <a:rPr lang="en-US" sz="2400" dirty="0">
                <a:latin typeface="+mn-lt"/>
              </a:rPr>
              <a:t>Chip multiprocessors (CMPs)</a:t>
            </a:r>
          </a:p>
          <a:p>
            <a:endParaRPr lang="en-US" dirty="0">
              <a:latin typeface="+mn-lt"/>
            </a:endParaRPr>
          </a:p>
          <a:p>
            <a:r>
              <a:rPr lang="en-US" sz="2400" b="1" dirty="0">
                <a:latin typeface="+mn-lt"/>
              </a:rPr>
              <a:t>Multiple CMPs in a cluster:</a:t>
            </a:r>
          </a:p>
          <a:p>
            <a:pPr marL="457200" indent="-457200">
              <a:buFont typeface="Wingdings" panose="05000000000000000000" pitchFamily="2" charset="2"/>
              <a:buChar char="Ø"/>
            </a:pPr>
            <a:r>
              <a:rPr lang="en-US" sz="2400" dirty="0">
                <a:latin typeface="+mn-lt"/>
              </a:rPr>
              <a:t>Connected via IO/internetworking</a:t>
            </a:r>
          </a:p>
          <a:p>
            <a:pPr marL="457200" indent="-457200">
              <a:buFont typeface="Wingdings" panose="05000000000000000000" pitchFamily="2" charset="2"/>
              <a:buChar char="Ø"/>
            </a:pPr>
            <a:r>
              <a:rPr lang="en-US" sz="2400" dirty="0">
                <a:latin typeface="+mn-lt"/>
              </a:rPr>
              <a:t>Datacenters, warehouse-scale computers</a:t>
            </a:r>
          </a:p>
          <a:p>
            <a:endParaRPr lang="en-US" sz="2400" dirty="0">
              <a:latin typeface="+mn-lt"/>
            </a:endParaRPr>
          </a:p>
          <a:p>
            <a:endParaRPr lang="en-US" sz="2400" dirty="0">
              <a:latin typeface="+mn-lt"/>
            </a:endParaRPr>
          </a:p>
        </p:txBody>
      </p:sp>
    </p:spTree>
    <p:custDataLst>
      <p:tags r:id="rId1"/>
    </p:custDataLst>
    <p:extLst>
      <p:ext uri="{BB962C8B-B14F-4D97-AF65-F5344CB8AC3E}">
        <p14:creationId xmlns:p14="http://schemas.microsoft.com/office/powerpoint/2010/main" val="423958195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Instruction-Level Parallelism</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20</a:t>
            </a:fld>
            <a:endParaRPr lang="en-US" altLang="en-US" sz="1400">
              <a:latin typeface="Times New Roman" panose="02020603050405020304" pitchFamily="18" charset="0"/>
            </a:endParaRPr>
          </a:p>
        </p:txBody>
      </p:sp>
      <p:pic>
        <p:nvPicPr>
          <p:cNvPr id="5" name="Picture 4">
            <a:extLst>
              <a:ext uri="{FF2B5EF4-FFF2-40B4-BE49-F238E27FC236}">
                <a16:creationId xmlns:a16="http://schemas.microsoft.com/office/drawing/2014/main" id="{8CE94B35-73EA-4865-A594-0E7AA56BF199}"/>
              </a:ext>
            </a:extLst>
          </p:cNvPr>
          <p:cNvPicPr>
            <a:picLocks noChangeAspect="1"/>
          </p:cNvPicPr>
          <p:nvPr>
            <p:custDataLst>
              <p:tags r:id="rId4"/>
            </p:custDataLst>
          </p:nvPr>
        </p:nvPicPr>
        <p:blipFill>
          <a:blip r:embed="rId10"/>
          <a:stretch>
            <a:fillRect/>
          </a:stretch>
        </p:blipFill>
        <p:spPr>
          <a:xfrm>
            <a:off x="-2611" y="2107095"/>
            <a:ext cx="9114074" cy="4213841"/>
          </a:xfrm>
          <a:prstGeom prst="rect">
            <a:avLst/>
          </a:prstGeom>
        </p:spPr>
      </p:pic>
      <p:sp>
        <p:nvSpPr>
          <p:cNvPr id="7" name="TextBox 6">
            <a:extLst>
              <a:ext uri="{FF2B5EF4-FFF2-40B4-BE49-F238E27FC236}">
                <a16:creationId xmlns:a16="http://schemas.microsoft.com/office/drawing/2014/main" id="{54837F4F-A8F8-4D10-A67F-6DAD53E53471}"/>
              </a:ext>
            </a:extLst>
          </p:cNvPr>
          <p:cNvSpPr txBox="1"/>
          <p:nvPr>
            <p:custDataLst>
              <p:tags r:id="rId5"/>
            </p:custDataLst>
          </p:nvPr>
        </p:nvSpPr>
        <p:spPr>
          <a:xfrm>
            <a:off x="2930021" y="1460574"/>
            <a:ext cx="2162105" cy="707886"/>
          </a:xfrm>
          <a:prstGeom prst="rect">
            <a:avLst/>
          </a:prstGeom>
          <a:noFill/>
        </p:spPr>
        <p:txBody>
          <a:bodyPr wrap="square" rtlCol="0" anchor="ctr">
            <a:spAutoFit/>
          </a:bodyPr>
          <a:lstStyle/>
          <a:p>
            <a:pPr algn="ctr"/>
            <a:r>
              <a:rPr lang="en-US" sz="2000" b="1" dirty="0">
                <a:latin typeface="+mn-lt"/>
              </a:rPr>
              <a:t>in-order</a:t>
            </a:r>
          </a:p>
          <a:p>
            <a:pPr algn="ctr"/>
            <a:r>
              <a:rPr lang="en-US" sz="2000" b="1" dirty="0">
                <a:latin typeface="+mn-lt"/>
              </a:rPr>
              <a:t>scalar</a:t>
            </a:r>
          </a:p>
        </p:txBody>
      </p:sp>
      <p:sp>
        <p:nvSpPr>
          <p:cNvPr id="8" name="TextBox 7">
            <a:extLst>
              <a:ext uri="{FF2B5EF4-FFF2-40B4-BE49-F238E27FC236}">
                <a16:creationId xmlns:a16="http://schemas.microsoft.com/office/drawing/2014/main" id="{FDBE2AAA-2471-49AF-9ED4-C991D23F4D44}"/>
              </a:ext>
            </a:extLst>
          </p:cNvPr>
          <p:cNvSpPr txBox="1"/>
          <p:nvPr>
            <p:custDataLst>
              <p:tags r:id="rId6"/>
            </p:custDataLst>
          </p:nvPr>
        </p:nvSpPr>
        <p:spPr>
          <a:xfrm>
            <a:off x="4882836" y="1465302"/>
            <a:ext cx="2162105" cy="707886"/>
          </a:xfrm>
          <a:prstGeom prst="rect">
            <a:avLst/>
          </a:prstGeom>
          <a:noFill/>
        </p:spPr>
        <p:txBody>
          <a:bodyPr wrap="square" rtlCol="0" anchor="ctr">
            <a:spAutoFit/>
          </a:bodyPr>
          <a:lstStyle/>
          <a:p>
            <a:pPr algn="ctr"/>
            <a:r>
              <a:rPr lang="en-US" sz="2000" b="1" dirty="0">
                <a:latin typeface="+mn-lt"/>
              </a:rPr>
              <a:t>in-order</a:t>
            </a:r>
          </a:p>
          <a:p>
            <a:pPr algn="ctr"/>
            <a:r>
              <a:rPr lang="en-US" sz="2000" b="1" dirty="0">
                <a:latin typeface="+mn-lt"/>
              </a:rPr>
              <a:t>superscalar</a:t>
            </a:r>
          </a:p>
        </p:txBody>
      </p:sp>
      <p:sp>
        <p:nvSpPr>
          <p:cNvPr id="9" name="TextBox 8">
            <a:extLst>
              <a:ext uri="{FF2B5EF4-FFF2-40B4-BE49-F238E27FC236}">
                <a16:creationId xmlns:a16="http://schemas.microsoft.com/office/drawing/2014/main" id="{D6710CA1-CCF4-4C93-BEE2-3EF24BC4E133}"/>
              </a:ext>
            </a:extLst>
          </p:cNvPr>
          <p:cNvSpPr txBox="1"/>
          <p:nvPr>
            <p:custDataLst>
              <p:tags r:id="rId7"/>
            </p:custDataLst>
          </p:nvPr>
        </p:nvSpPr>
        <p:spPr>
          <a:xfrm>
            <a:off x="7210495" y="1470030"/>
            <a:ext cx="2162105" cy="707886"/>
          </a:xfrm>
          <a:prstGeom prst="rect">
            <a:avLst/>
          </a:prstGeom>
          <a:noFill/>
        </p:spPr>
        <p:txBody>
          <a:bodyPr wrap="square" rtlCol="0" anchor="ctr">
            <a:spAutoFit/>
          </a:bodyPr>
          <a:lstStyle/>
          <a:p>
            <a:pPr algn="ctr"/>
            <a:r>
              <a:rPr lang="en-US" sz="2000" b="1" dirty="0">
                <a:latin typeface="+mn-lt"/>
              </a:rPr>
              <a:t>out-of-order</a:t>
            </a:r>
          </a:p>
          <a:p>
            <a:pPr algn="ctr"/>
            <a:r>
              <a:rPr lang="en-US" sz="2000" b="1" dirty="0">
                <a:latin typeface="+mn-lt"/>
              </a:rPr>
              <a:t>superscalar</a:t>
            </a:r>
          </a:p>
        </p:txBody>
      </p:sp>
    </p:spTree>
    <p:custDataLst>
      <p:tags r:id="rId1"/>
    </p:custDataLst>
    <p:extLst>
      <p:ext uri="{BB962C8B-B14F-4D97-AF65-F5344CB8AC3E}">
        <p14:creationId xmlns:p14="http://schemas.microsoft.com/office/powerpoint/2010/main" val="289986043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Multithreading</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21</a:t>
            </a:fld>
            <a:endParaRPr lang="en-US" altLang="en-US" sz="1400">
              <a:latin typeface="Times New Roman" panose="02020603050405020304" pitchFamily="18" charset="0"/>
            </a:endParaRPr>
          </a:p>
        </p:txBody>
      </p:sp>
      <p:pic>
        <p:nvPicPr>
          <p:cNvPr id="5" name="Picture 4">
            <a:extLst>
              <a:ext uri="{FF2B5EF4-FFF2-40B4-BE49-F238E27FC236}">
                <a16:creationId xmlns:a16="http://schemas.microsoft.com/office/drawing/2014/main" id="{4ED62E5D-8AA7-4075-8068-CFE05588A8B1}"/>
              </a:ext>
            </a:extLst>
          </p:cNvPr>
          <p:cNvPicPr>
            <a:picLocks noChangeAspect="1"/>
          </p:cNvPicPr>
          <p:nvPr>
            <p:custDataLst>
              <p:tags r:id="rId4"/>
            </p:custDataLst>
          </p:nvPr>
        </p:nvPicPr>
        <p:blipFill>
          <a:blip r:embed="rId16"/>
          <a:stretch>
            <a:fillRect/>
          </a:stretch>
        </p:blipFill>
        <p:spPr>
          <a:xfrm>
            <a:off x="76200" y="2069174"/>
            <a:ext cx="827895" cy="3334132"/>
          </a:xfrm>
          <a:prstGeom prst="rect">
            <a:avLst/>
          </a:prstGeom>
        </p:spPr>
      </p:pic>
      <p:pic>
        <p:nvPicPr>
          <p:cNvPr id="7" name="Picture 6">
            <a:extLst>
              <a:ext uri="{FF2B5EF4-FFF2-40B4-BE49-F238E27FC236}">
                <a16:creationId xmlns:a16="http://schemas.microsoft.com/office/drawing/2014/main" id="{AB5737C1-8612-449D-A45F-FFE205590DAF}"/>
              </a:ext>
            </a:extLst>
          </p:cNvPr>
          <p:cNvPicPr>
            <a:picLocks noChangeAspect="1"/>
          </p:cNvPicPr>
          <p:nvPr>
            <p:custDataLst>
              <p:tags r:id="rId5"/>
            </p:custDataLst>
          </p:nvPr>
        </p:nvPicPr>
        <p:blipFill>
          <a:blip r:embed="rId17"/>
          <a:stretch>
            <a:fillRect/>
          </a:stretch>
        </p:blipFill>
        <p:spPr>
          <a:xfrm>
            <a:off x="914400" y="2075155"/>
            <a:ext cx="827895" cy="3305211"/>
          </a:xfrm>
          <a:prstGeom prst="rect">
            <a:avLst/>
          </a:prstGeom>
        </p:spPr>
      </p:pic>
      <p:pic>
        <p:nvPicPr>
          <p:cNvPr id="8" name="Picture 7">
            <a:extLst>
              <a:ext uri="{FF2B5EF4-FFF2-40B4-BE49-F238E27FC236}">
                <a16:creationId xmlns:a16="http://schemas.microsoft.com/office/drawing/2014/main" id="{DD2002FF-B797-481C-BD80-FDDCAB07C85F}"/>
              </a:ext>
            </a:extLst>
          </p:cNvPr>
          <p:cNvPicPr>
            <a:picLocks noChangeAspect="1"/>
          </p:cNvPicPr>
          <p:nvPr>
            <p:custDataLst>
              <p:tags r:id="rId6"/>
            </p:custDataLst>
          </p:nvPr>
        </p:nvPicPr>
        <p:blipFill>
          <a:blip r:embed="rId18"/>
          <a:stretch>
            <a:fillRect/>
          </a:stretch>
        </p:blipFill>
        <p:spPr>
          <a:xfrm>
            <a:off x="1905000" y="2069179"/>
            <a:ext cx="2665821" cy="3301080"/>
          </a:xfrm>
          <a:prstGeom prst="rect">
            <a:avLst/>
          </a:prstGeom>
        </p:spPr>
      </p:pic>
      <p:pic>
        <p:nvPicPr>
          <p:cNvPr id="9" name="Picture 8">
            <a:extLst>
              <a:ext uri="{FF2B5EF4-FFF2-40B4-BE49-F238E27FC236}">
                <a16:creationId xmlns:a16="http://schemas.microsoft.com/office/drawing/2014/main" id="{9A8881A4-AA89-4D21-B3E6-84D339A97CBD}"/>
              </a:ext>
            </a:extLst>
          </p:cNvPr>
          <p:cNvPicPr>
            <a:picLocks noChangeAspect="1"/>
          </p:cNvPicPr>
          <p:nvPr>
            <p:custDataLst>
              <p:tags r:id="rId7"/>
            </p:custDataLst>
          </p:nvPr>
        </p:nvPicPr>
        <p:blipFill>
          <a:blip r:embed="rId19"/>
          <a:stretch>
            <a:fillRect/>
          </a:stretch>
        </p:blipFill>
        <p:spPr>
          <a:xfrm>
            <a:off x="4724400" y="2111856"/>
            <a:ext cx="1241842" cy="3234975"/>
          </a:xfrm>
          <a:prstGeom prst="rect">
            <a:avLst/>
          </a:prstGeom>
        </p:spPr>
      </p:pic>
      <p:pic>
        <p:nvPicPr>
          <p:cNvPr id="10" name="Picture 9">
            <a:extLst>
              <a:ext uri="{FF2B5EF4-FFF2-40B4-BE49-F238E27FC236}">
                <a16:creationId xmlns:a16="http://schemas.microsoft.com/office/drawing/2014/main" id="{6124E406-4679-42C2-9F66-C2D1F8265D32}"/>
              </a:ext>
            </a:extLst>
          </p:cNvPr>
          <p:cNvPicPr>
            <a:picLocks noChangeAspect="1"/>
          </p:cNvPicPr>
          <p:nvPr>
            <p:custDataLst>
              <p:tags r:id="rId8"/>
            </p:custDataLst>
          </p:nvPr>
        </p:nvPicPr>
        <p:blipFill>
          <a:blip r:embed="rId20"/>
          <a:stretch>
            <a:fillRect/>
          </a:stretch>
        </p:blipFill>
        <p:spPr>
          <a:xfrm>
            <a:off x="6087379" y="2015391"/>
            <a:ext cx="2980421" cy="3445682"/>
          </a:xfrm>
          <a:prstGeom prst="rect">
            <a:avLst/>
          </a:prstGeom>
        </p:spPr>
      </p:pic>
      <p:sp>
        <p:nvSpPr>
          <p:cNvPr id="11" name="TextBox 10">
            <a:extLst>
              <a:ext uri="{FF2B5EF4-FFF2-40B4-BE49-F238E27FC236}">
                <a16:creationId xmlns:a16="http://schemas.microsoft.com/office/drawing/2014/main" id="{CAF815C1-E514-40F7-9A4B-4B3B593C5D61}"/>
              </a:ext>
            </a:extLst>
          </p:cNvPr>
          <p:cNvSpPr txBox="1"/>
          <p:nvPr>
            <p:custDataLst>
              <p:tags r:id="rId9"/>
            </p:custDataLst>
          </p:nvPr>
        </p:nvSpPr>
        <p:spPr>
          <a:xfrm>
            <a:off x="2974939" y="1447800"/>
            <a:ext cx="1901861" cy="560717"/>
          </a:xfrm>
          <a:prstGeom prst="rect">
            <a:avLst/>
          </a:prstGeom>
          <a:noFill/>
        </p:spPr>
        <p:txBody>
          <a:bodyPr wrap="square" rtlCol="0" anchor="ctr">
            <a:noAutofit/>
          </a:bodyPr>
          <a:lstStyle/>
          <a:p>
            <a:pPr algn="ctr"/>
            <a:r>
              <a:rPr lang="en-US" sz="2000" b="1" dirty="0">
                <a:latin typeface="+mn-lt"/>
              </a:rPr>
              <a:t>context-switching</a:t>
            </a:r>
          </a:p>
        </p:txBody>
      </p:sp>
      <p:sp>
        <p:nvSpPr>
          <p:cNvPr id="12" name="TextBox 11">
            <a:extLst>
              <a:ext uri="{FF2B5EF4-FFF2-40B4-BE49-F238E27FC236}">
                <a16:creationId xmlns:a16="http://schemas.microsoft.com/office/drawing/2014/main" id="{58FDE07B-FE00-49B1-8A30-AB79DC41C291}"/>
              </a:ext>
            </a:extLst>
          </p:cNvPr>
          <p:cNvSpPr txBox="1"/>
          <p:nvPr>
            <p:custDataLst>
              <p:tags r:id="rId10"/>
            </p:custDataLst>
          </p:nvPr>
        </p:nvSpPr>
        <p:spPr>
          <a:xfrm>
            <a:off x="4422739" y="1386535"/>
            <a:ext cx="1901861" cy="703983"/>
          </a:xfrm>
          <a:prstGeom prst="rect">
            <a:avLst/>
          </a:prstGeom>
          <a:noFill/>
        </p:spPr>
        <p:txBody>
          <a:bodyPr wrap="square" rtlCol="0" anchor="ctr">
            <a:noAutofit/>
          </a:bodyPr>
          <a:lstStyle/>
          <a:p>
            <a:pPr algn="ctr"/>
            <a:r>
              <a:rPr lang="en-US" sz="2000" b="1" dirty="0">
                <a:latin typeface="+mn-lt"/>
              </a:rPr>
              <a:t>simultaneous multithreading</a:t>
            </a:r>
          </a:p>
        </p:txBody>
      </p:sp>
      <p:sp>
        <p:nvSpPr>
          <p:cNvPr id="13" name="TextBox 12">
            <a:extLst>
              <a:ext uri="{FF2B5EF4-FFF2-40B4-BE49-F238E27FC236}">
                <a16:creationId xmlns:a16="http://schemas.microsoft.com/office/drawing/2014/main" id="{ECBF350C-27CD-40BF-A054-FF2EF546CBF3}"/>
              </a:ext>
            </a:extLst>
          </p:cNvPr>
          <p:cNvSpPr txBox="1"/>
          <p:nvPr>
            <p:custDataLst>
              <p:tags r:id="rId11"/>
            </p:custDataLst>
          </p:nvPr>
        </p:nvSpPr>
        <p:spPr>
          <a:xfrm>
            <a:off x="6629400" y="1371600"/>
            <a:ext cx="1901861" cy="703983"/>
          </a:xfrm>
          <a:prstGeom prst="rect">
            <a:avLst/>
          </a:prstGeom>
          <a:noFill/>
        </p:spPr>
        <p:txBody>
          <a:bodyPr wrap="square" rtlCol="0" anchor="ctr">
            <a:noAutofit/>
          </a:bodyPr>
          <a:lstStyle/>
          <a:p>
            <a:pPr algn="ctr"/>
            <a:r>
              <a:rPr lang="en-US" sz="2000" b="1" dirty="0">
                <a:latin typeface="+mn-lt"/>
              </a:rPr>
              <a:t>chip multiprocessor</a:t>
            </a:r>
          </a:p>
        </p:txBody>
      </p:sp>
      <p:sp>
        <p:nvSpPr>
          <p:cNvPr id="14" name="TextBox 13">
            <a:extLst>
              <a:ext uri="{FF2B5EF4-FFF2-40B4-BE49-F238E27FC236}">
                <a16:creationId xmlns:a16="http://schemas.microsoft.com/office/drawing/2014/main" id="{CEC64D3C-BBE8-4F10-AF31-B00097A8624A}"/>
              </a:ext>
            </a:extLst>
          </p:cNvPr>
          <p:cNvSpPr txBox="1"/>
          <p:nvPr>
            <p:custDataLst>
              <p:tags r:id="rId12"/>
            </p:custDataLst>
          </p:nvPr>
        </p:nvSpPr>
        <p:spPr>
          <a:xfrm>
            <a:off x="-513824" y="5490113"/>
            <a:ext cx="3654461" cy="560717"/>
          </a:xfrm>
          <a:prstGeom prst="rect">
            <a:avLst/>
          </a:prstGeom>
          <a:noFill/>
        </p:spPr>
        <p:txBody>
          <a:bodyPr wrap="square" rtlCol="0" anchor="ctr">
            <a:noAutofit/>
          </a:bodyPr>
          <a:lstStyle/>
          <a:p>
            <a:pPr algn="ctr"/>
            <a:r>
              <a:rPr lang="en-US" sz="2000" b="1" dirty="0">
                <a:solidFill>
                  <a:schemeClr val="accent6">
                    <a:lumMod val="75000"/>
                  </a:schemeClr>
                </a:solidFill>
                <a:latin typeface="+mn-lt"/>
              </a:rPr>
              <a:t>parallelism/throughput</a:t>
            </a:r>
            <a:endParaRPr lang="en-US" sz="2400" b="1" dirty="0">
              <a:solidFill>
                <a:schemeClr val="accent6">
                  <a:lumMod val="75000"/>
                </a:schemeClr>
              </a:solidFill>
              <a:latin typeface="+mn-lt"/>
            </a:endParaRPr>
          </a:p>
        </p:txBody>
      </p:sp>
      <p:sp>
        <p:nvSpPr>
          <p:cNvPr id="15" name="TextBox 14">
            <a:extLst>
              <a:ext uri="{FF2B5EF4-FFF2-40B4-BE49-F238E27FC236}">
                <a16:creationId xmlns:a16="http://schemas.microsoft.com/office/drawing/2014/main" id="{55B630DE-2EB6-4743-9309-C5C52A2ADCED}"/>
              </a:ext>
            </a:extLst>
          </p:cNvPr>
          <p:cNvSpPr txBox="1"/>
          <p:nvPr>
            <p:custDataLst>
              <p:tags r:id="rId13"/>
            </p:custDataLst>
          </p:nvPr>
        </p:nvSpPr>
        <p:spPr>
          <a:xfrm>
            <a:off x="-149261" y="5831089"/>
            <a:ext cx="3654461" cy="560717"/>
          </a:xfrm>
          <a:prstGeom prst="rect">
            <a:avLst/>
          </a:prstGeom>
          <a:noFill/>
        </p:spPr>
        <p:txBody>
          <a:bodyPr wrap="square" rtlCol="0" anchor="ctr">
            <a:noAutofit/>
          </a:bodyPr>
          <a:lstStyle/>
          <a:p>
            <a:pPr algn="ctr"/>
            <a:r>
              <a:rPr lang="en-US" sz="2000" b="1" dirty="0">
                <a:solidFill>
                  <a:schemeClr val="accent6">
                    <a:lumMod val="75000"/>
                  </a:schemeClr>
                </a:solidFill>
                <a:latin typeface="+mn-lt"/>
              </a:rPr>
              <a:t>area/complexity</a:t>
            </a:r>
            <a:endParaRPr lang="en-US" sz="2400" b="1" dirty="0">
              <a:solidFill>
                <a:schemeClr val="accent6">
                  <a:lumMod val="75000"/>
                </a:schemeClr>
              </a:solidFill>
              <a:latin typeface="+mn-lt"/>
            </a:endParaRPr>
          </a:p>
        </p:txBody>
      </p:sp>
      <p:cxnSp>
        <p:nvCxnSpPr>
          <p:cNvPr id="16" name="Straight Arrow Connector 15">
            <a:extLst>
              <a:ext uri="{FF2B5EF4-FFF2-40B4-BE49-F238E27FC236}">
                <a16:creationId xmlns:a16="http://schemas.microsoft.com/office/drawing/2014/main" id="{B1013EE7-4306-49FC-B68B-F32CF166D7B1}"/>
              </a:ext>
            </a:extLst>
          </p:cNvPr>
          <p:cNvCxnSpPr>
            <a:cxnSpLocks/>
          </p:cNvCxnSpPr>
          <p:nvPr/>
        </p:nvCxnSpPr>
        <p:spPr>
          <a:xfrm>
            <a:off x="2667000" y="5770471"/>
            <a:ext cx="6400800" cy="0"/>
          </a:xfrm>
          <a:prstGeom prst="straightConnector1">
            <a:avLst/>
          </a:prstGeom>
          <a:ln w="508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EADA55C-8D4B-4565-BD11-67CD975A039F}"/>
              </a:ext>
            </a:extLst>
          </p:cNvPr>
          <p:cNvCxnSpPr>
            <a:cxnSpLocks/>
          </p:cNvCxnSpPr>
          <p:nvPr/>
        </p:nvCxnSpPr>
        <p:spPr>
          <a:xfrm>
            <a:off x="2667000" y="6132048"/>
            <a:ext cx="6400800" cy="0"/>
          </a:xfrm>
          <a:prstGeom prst="straightConnector1">
            <a:avLst/>
          </a:prstGeom>
          <a:ln w="50800">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785456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Multithreading</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22</a:t>
            </a:fld>
            <a:endParaRPr lang="en-US" altLang="en-US" sz="1400">
              <a:latin typeface="Times New Roman" panose="02020603050405020304" pitchFamily="18" charset="0"/>
            </a:endParaRPr>
          </a:p>
        </p:txBody>
      </p:sp>
      <p:pic>
        <p:nvPicPr>
          <p:cNvPr id="18" name="Picture 17">
            <a:extLst>
              <a:ext uri="{FF2B5EF4-FFF2-40B4-BE49-F238E27FC236}">
                <a16:creationId xmlns:a16="http://schemas.microsoft.com/office/drawing/2014/main" id="{C2C73BD1-B7D6-4F37-95B7-A447599B3A29}"/>
              </a:ext>
            </a:extLst>
          </p:cNvPr>
          <p:cNvPicPr>
            <a:picLocks noChangeAspect="1"/>
          </p:cNvPicPr>
          <p:nvPr/>
        </p:nvPicPr>
        <p:blipFill>
          <a:blip r:embed="rId9"/>
          <a:stretch>
            <a:fillRect/>
          </a:stretch>
        </p:blipFill>
        <p:spPr>
          <a:xfrm>
            <a:off x="5480089" y="1761190"/>
            <a:ext cx="1620110" cy="4418481"/>
          </a:xfrm>
          <a:prstGeom prst="rect">
            <a:avLst/>
          </a:prstGeom>
        </p:spPr>
      </p:pic>
      <p:pic>
        <p:nvPicPr>
          <p:cNvPr id="19" name="Picture 18">
            <a:extLst>
              <a:ext uri="{FF2B5EF4-FFF2-40B4-BE49-F238E27FC236}">
                <a16:creationId xmlns:a16="http://schemas.microsoft.com/office/drawing/2014/main" id="{A6DF2905-813F-4000-BA93-755155676FF2}"/>
              </a:ext>
            </a:extLst>
          </p:cNvPr>
          <p:cNvPicPr>
            <a:picLocks noChangeAspect="1"/>
          </p:cNvPicPr>
          <p:nvPr/>
        </p:nvPicPr>
        <p:blipFill>
          <a:blip r:embed="rId9"/>
          <a:stretch>
            <a:fillRect/>
          </a:stretch>
        </p:blipFill>
        <p:spPr>
          <a:xfrm>
            <a:off x="7267541" y="1761189"/>
            <a:ext cx="1620110" cy="4418481"/>
          </a:xfrm>
          <a:prstGeom prst="rect">
            <a:avLst/>
          </a:prstGeom>
        </p:spPr>
      </p:pic>
      <p:pic>
        <p:nvPicPr>
          <p:cNvPr id="20" name="Picture 19">
            <a:extLst>
              <a:ext uri="{FF2B5EF4-FFF2-40B4-BE49-F238E27FC236}">
                <a16:creationId xmlns:a16="http://schemas.microsoft.com/office/drawing/2014/main" id="{78486649-23F0-4681-B91E-C84965F5163E}"/>
              </a:ext>
            </a:extLst>
          </p:cNvPr>
          <p:cNvPicPr>
            <a:picLocks noChangeAspect="1"/>
          </p:cNvPicPr>
          <p:nvPr/>
        </p:nvPicPr>
        <p:blipFill>
          <a:blip r:embed="rId9"/>
          <a:stretch>
            <a:fillRect/>
          </a:stretch>
        </p:blipFill>
        <p:spPr>
          <a:xfrm>
            <a:off x="2925315" y="1759695"/>
            <a:ext cx="1620110" cy="4418481"/>
          </a:xfrm>
          <a:prstGeom prst="rect">
            <a:avLst/>
          </a:prstGeom>
        </p:spPr>
      </p:pic>
      <p:pic>
        <p:nvPicPr>
          <p:cNvPr id="21" name="Picture 20">
            <a:extLst>
              <a:ext uri="{FF2B5EF4-FFF2-40B4-BE49-F238E27FC236}">
                <a16:creationId xmlns:a16="http://schemas.microsoft.com/office/drawing/2014/main" id="{0F6A69B7-A0B8-4C6D-8E24-1C067E6B6F88}"/>
              </a:ext>
            </a:extLst>
          </p:cNvPr>
          <p:cNvPicPr>
            <a:picLocks noChangeAspect="1"/>
          </p:cNvPicPr>
          <p:nvPr/>
        </p:nvPicPr>
        <p:blipFill>
          <a:blip r:embed="rId9"/>
          <a:stretch>
            <a:fillRect/>
          </a:stretch>
        </p:blipFill>
        <p:spPr>
          <a:xfrm>
            <a:off x="300150" y="1759695"/>
            <a:ext cx="1620110" cy="4418481"/>
          </a:xfrm>
          <a:prstGeom prst="rect">
            <a:avLst/>
          </a:prstGeom>
        </p:spPr>
      </p:pic>
      <p:pic>
        <p:nvPicPr>
          <p:cNvPr id="22" name="Picture 2" descr="Car clipart overhead #1094">
            <a:extLst>
              <a:ext uri="{FF2B5EF4-FFF2-40B4-BE49-F238E27FC236}">
                <a16:creationId xmlns:a16="http://schemas.microsoft.com/office/drawing/2014/main" id="{BF40F404-8350-4008-A4D6-6F74F5CEF82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5970" y="2139693"/>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Car clipart overhead #1093">
            <a:extLst>
              <a:ext uri="{FF2B5EF4-FFF2-40B4-BE49-F238E27FC236}">
                <a16:creationId xmlns:a16="http://schemas.microsoft.com/office/drawing/2014/main" id="{E319B47D-520C-4E35-977F-8CE59889AFB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44596" y="4317392"/>
            <a:ext cx="457200" cy="95646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Car clipart overhead #1090">
            <a:extLst>
              <a:ext uri="{FF2B5EF4-FFF2-40B4-BE49-F238E27FC236}">
                <a16:creationId xmlns:a16="http://schemas.microsoft.com/office/drawing/2014/main" id="{47F71E1E-9B94-4BBE-9D95-46AB2106BD8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6230" y="5103906"/>
            <a:ext cx="457200" cy="100565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Car clipart overhead #1090">
            <a:extLst>
              <a:ext uri="{FF2B5EF4-FFF2-40B4-BE49-F238E27FC236}">
                <a16:creationId xmlns:a16="http://schemas.microsoft.com/office/drawing/2014/main" id="{1ECC573B-A8CB-4C07-8BE9-CA53065CA69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5651" y="5181918"/>
            <a:ext cx="457200" cy="1005654"/>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Car clipart overhead #1094">
            <a:extLst>
              <a:ext uri="{FF2B5EF4-FFF2-40B4-BE49-F238E27FC236}">
                <a16:creationId xmlns:a16="http://schemas.microsoft.com/office/drawing/2014/main" id="{C6D30461-AA99-457A-83FC-055D841C88A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6052" y="4050366"/>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Car clipart overhead #1094">
            <a:extLst>
              <a:ext uri="{FF2B5EF4-FFF2-40B4-BE49-F238E27FC236}">
                <a16:creationId xmlns:a16="http://schemas.microsoft.com/office/drawing/2014/main" id="{D27655C8-D41E-40A3-9AA2-55806C7FDD0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910" y="2197475"/>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Car clipart overhead #1094">
            <a:extLst>
              <a:ext uri="{FF2B5EF4-FFF2-40B4-BE49-F238E27FC236}">
                <a16:creationId xmlns:a16="http://schemas.microsoft.com/office/drawing/2014/main" id="{B9DCBE50-8882-43D4-A838-5FEF11D59DC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40910" y="3194609"/>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Car clipart overhead #1094">
            <a:extLst>
              <a:ext uri="{FF2B5EF4-FFF2-40B4-BE49-F238E27FC236}">
                <a16:creationId xmlns:a16="http://schemas.microsoft.com/office/drawing/2014/main" id="{A4FCCECA-1D66-4826-A04D-F1A909C843E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25277" y="4177781"/>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Car clipart overhead #1094">
            <a:extLst>
              <a:ext uri="{FF2B5EF4-FFF2-40B4-BE49-F238E27FC236}">
                <a16:creationId xmlns:a16="http://schemas.microsoft.com/office/drawing/2014/main" id="{7061AB80-0A08-4D4E-BB65-A7B071EEF9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7190" y="3111874"/>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Car clipart overhead #1094">
            <a:extLst>
              <a:ext uri="{FF2B5EF4-FFF2-40B4-BE49-F238E27FC236}">
                <a16:creationId xmlns:a16="http://schemas.microsoft.com/office/drawing/2014/main" id="{B50AE1F1-B08F-4C19-9F0D-451F7CD246B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49110" y="2139692"/>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Car clipart overhead #1094">
            <a:extLst>
              <a:ext uri="{FF2B5EF4-FFF2-40B4-BE49-F238E27FC236}">
                <a16:creationId xmlns:a16="http://schemas.microsoft.com/office/drawing/2014/main" id="{BFA8B095-6F6D-4540-8C47-90CC8921811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64099" y="2197474"/>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Car clipart overhead #1090">
            <a:extLst>
              <a:ext uri="{FF2B5EF4-FFF2-40B4-BE49-F238E27FC236}">
                <a16:creationId xmlns:a16="http://schemas.microsoft.com/office/drawing/2014/main" id="{B5441C09-E7A5-4D7A-B1C7-61285F2FD32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15206" y="2201712"/>
            <a:ext cx="457200" cy="100565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Car clipart overhead #1090">
            <a:extLst>
              <a:ext uri="{FF2B5EF4-FFF2-40B4-BE49-F238E27FC236}">
                <a16:creationId xmlns:a16="http://schemas.microsoft.com/office/drawing/2014/main" id="{66409280-4033-4B7F-85F2-340CF78C4B4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15206" y="3251878"/>
            <a:ext cx="457200" cy="1005654"/>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Car clipart overhead #1094">
            <a:extLst>
              <a:ext uri="{FF2B5EF4-FFF2-40B4-BE49-F238E27FC236}">
                <a16:creationId xmlns:a16="http://schemas.microsoft.com/office/drawing/2014/main" id="{5E1C27CF-8E1A-431A-A472-F4359D0925B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54132" y="3236399"/>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Car clipart overhead #1094">
            <a:extLst>
              <a:ext uri="{FF2B5EF4-FFF2-40B4-BE49-F238E27FC236}">
                <a16:creationId xmlns:a16="http://schemas.microsoft.com/office/drawing/2014/main" id="{65480EFD-12A0-4530-9818-5E16E6D2563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60797" y="4177781"/>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Car clipart overhead #1093">
            <a:extLst>
              <a:ext uri="{FF2B5EF4-FFF2-40B4-BE49-F238E27FC236}">
                <a16:creationId xmlns:a16="http://schemas.microsoft.com/office/drawing/2014/main" id="{3436F8A8-5D65-4037-89BB-9DE0714CA8A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68023" y="3236399"/>
            <a:ext cx="457200" cy="95646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8" descr="Car clipart overhead #1090">
            <a:extLst>
              <a:ext uri="{FF2B5EF4-FFF2-40B4-BE49-F238E27FC236}">
                <a16:creationId xmlns:a16="http://schemas.microsoft.com/office/drawing/2014/main" id="{A1963FC0-3444-4A5A-B181-9C32C39771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26470" y="5190735"/>
            <a:ext cx="457200" cy="10056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Car clipart overhead #1093">
            <a:extLst>
              <a:ext uri="{FF2B5EF4-FFF2-40B4-BE49-F238E27FC236}">
                <a16:creationId xmlns:a16="http://schemas.microsoft.com/office/drawing/2014/main" id="{52DF5B73-963E-4229-BB38-DC365690A78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44596" y="5288675"/>
            <a:ext cx="457200" cy="956467"/>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Car clipart overhead #1094">
            <a:extLst>
              <a:ext uri="{FF2B5EF4-FFF2-40B4-BE49-F238E27FC236}">
                <a16:creationId xmlns:a16="http://schemas.microsoft.com/office/drawing/2014/main" id="{F5EBDA27-77C7-45DC-8362-DAA1982B2FB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21663" y="2279697"/>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Car clipart overhead #1094">
            <a:extLst>
              <a:ext uri="{FF2B5EF4-FFF2-40B4-BE49-F238E27FC236}">
                <a16:creationId xmlns:a16="http://schemas.microsoft.com/office/drawing/2014/main" id="{A1B5544A-C536-4E82-812E-AD88B68EE44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71745" y="4190370"/>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Car clipart overhead #1094">
            <a:extLst>
              <a:ext uri="{FF2B5EF4-FFF2-40B4-BE49-F238E27FC236}">
                <a16:creationId xmlns:a16="http://schemas.microsoft.com/office/drawing/2014/main" id="{E5C47CF2-6B37-4A3F-A86A-477BDA0144E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46603" y="2337479"/>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Car clipart overhead #1094">
            <a:extLst>
              <a:ext uri="{FF2B5EF4-FFF2-40B4-BE49-F238E27FC236}">
                <a16:creationId xmlns:a16="http://schemas.microsoft.com/office/drawing/2014/main" id="{335721F7-6864-4937-B1E2-9F2A73B747A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46603" y="3334613"/>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Car clipart overhead #1094">
            <a:extLst>
              <a:ext uri="{FF2B5EF4-FFF2-40B4-BE49-F238E27FC236}">
                <a16:creationId xmlns:a16="http://schemas.microsoft.com/office/drawing/2014/main" id="{B9A7548A-BF03-4535-B39A-F11F46DF3D2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30970" y="4317785"/>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Car clipart overhead #1094">
            <a:extLst>
              <a:ext uri="{FF2B5EF4-FFF2-40B4-BE49-F238E27FC236}">
                <a16:creationId xmlns:a16="http://schemas.microsoft.com/office/drawing/2014/main" id="{5D6D37F2-32E3-4363-A15C-1F778A34960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92883" y="3251878"/>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Car clipart overhead #1094">
            <a:extLst>
              <a:ext uri="{FF2B5EF4-FFF2-40B4-BE49-F238E27FC236}">
                <a16:creationId xmlns:a16="http://schemas.microsoft.com/office/drawing/2014/main" id="{DCA0EC75-8833-4298-8129-65AC45C918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11775" y="5166076"/>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Car clipart overhead #1094">
            <a:extLst>
              <a:ext uri="{FF2B5EF4-FFF2-40B4-BE49-F238E27FC236}">
                <a16:creationId xmlns:a16="http://schemas.microsoft.com/office/drawing/2014/main" id="{69CAA404-696C-4969-A030-A9B8EA2BA43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01942" y="5227545"/>
            <a:ext cx="457200" cy="91439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8" descr="Car clipart overhead #1090">
            <a:extLst>
              <a:ext uri="{FF2B5EF4-FFF2-40B4-BE49-F238E27FC236}">
                <a16:creationId xmlns:a16="http://schemas.microsoft.com/office/drawing/2014/main" id="{F241803E-89DC-4393-8337-7062F0B4ACE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75154" y="2119853"/>
            <a:ext cx="457200" cy="1005654"/>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8" descr="Car clipart overhead #1090">
            <a:extLst>
              <a:ext uri="{FF2B5EF4-FFF2-40B4-BE49-F238E27FC236}">
                <a16:creationId xmlns:a16="http://schemas.microsoft.com/office/drawing/2014/main" id="{3D77106C-02F7-4E32-B7C3-5D3F8381841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84532" y="3172127"/>
            <a:ext cx="457200" cy="1005654"/>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8" descr="Car clipart overhead #1090">
            <a:extLst>
              <a:ext uri="{FF2B5EF4-FFF2-40B4-BE49-F238E27FC236}">
                <a16:creationId xmlns:a16="http://schemas.microsoft.com/office/drawing/2014/main" id="{96CB4AA4-88A7-4F95-86E3-F75427DA54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30123" y="4126511"/>
            <a:ext cx="457200" cy="1005654"/>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8" descr="Car clipart overhead #1090">
            <a:extLst>
              <a:ext uri="{FF2B5EF4-FFF2-40B4-BE49-F238E27FC236}">
                <a16:creationId xmlns:a16="http://schemas.microsoft.com/office/drawing/2014/main" id="{6C7F017F-5CD9-4D85-B2B4-1DB4DC02A3E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09413" y="5211099"/>
            <a:ext cx="457200" cy="100565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8" descr="Car clipart overhead #1090">
            <a:extLst>
              <a:ext uri="{FF2B5EF4-FFF2-40B4-BE49-F238E27FC236}">
                <a16:creationId xmlns:a16="http://schemas.microsoft.com/office/drawing/2014/main" id="{66CB7482-F14A-4B31-BC49-D60374E04A4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51061" y="5074821"/>
            <a:ext cx="457200" cy="1005654"/>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242D7465-5C98-4F8C-ACDB-743773244F8E}"/>
              </a:ext>
            </a:extLst>
          </p:cNvPr>
          <p:cNvSpPr txBox="1"/>
          <p:nvPr>
            <p:custDataLst>
              <p:tags r:id="rId4"/>
            </p:custDataLst>
          </p:nvPr>
        </p:nvSpPr>
        <p:spPr>
          <a:xfrm>
            <a:off x="-682661" y="1259437"/>
            <a:ext cx="3654461" cy="560717"/>
          </a:xfrm>
          <a:prstGeom prst="rect">
            <a:avLst/>
          </a:prstGeom>
          <a:noFill/>
        </p:spPr>
        <p:txBody>
          <a:bodyPr wrap="square" rtlCol="0" anchor="ctr">
            <a:noAutofit/>
          </a:bodyPr>
          <a:lstStyle/>
          <a:p>
            <a:pPr algn="ctr"/>
            <a:r>
              <a:rPr lang="en-US" sz="2400" b="1" dirty="0">
                <a:latin typeface="+mn-lt"/>
              </a:rPr>
              <a:t>convoying</a:t>
            </a:r>
          </a:p>
        </p:txBody>
      </p:sp>
      <p:sp>
        <p:nvSpPr>
          <p:cNvPr id="54" name="TextBox 53">
            <a:extLst>
              <a:ext uri="{FF2B5EF4-FFF2-40B4-BE49-F238E27FC236}">
                <a16:creationId xmlns:a16="http://schemas.microsoft.com/office/drawing/2014/main" id="{3BA84F2D-EBD8-43AE-A216-E15078EFAEEE}"/>
              </a:ext>
            </a:extLst>
          </p:cNvPr>
          <p:cNvSpPr txBox="1"/>
          <p:nvPr>
            <p:custDataLst>
              <p:tags r:id="rId5"/>
            </p:custDataLst>
          </p:nvPr>
        </p:nvSpPr>
        <p:spPr>
          <a:xfrm>
            <a:off x="1908139" y="1262970"/>
            <a:ext cx="3654461" cy="560717"/>
          </a:xfrm>
          <a:prstGeom prst="rect">
            <a:avLst/>
          </a:prstGeom>
          <a:noFill/>
        </p:spPr>
        <p:txBody>
          <a:bodyPr wrap="square" rtlCol="0" anchor="ctr">
            <a:noAutofit/>
          </a:bodyPr>
          <a:lstStyle/>
          <a:p>
            <a:pPr algn="ctr"/>
            <a:r>
              <a:rPr lang="en-US" sz="2400" b="1" dirty="0">
                <a:latin typeface="+mn-lt"/>
              </a:rPr>
              <a:t>self-navigating</a:t>
            </a:r>
          </a:p>
        </p:txBody>
      </p:sp>
      <p:sp>
        <p:nvSpPr>
          <p:cNvPr id="55" name="TextBox 54">
            <a:extLst>
              <a:ext uri="{FF2B5EF4-FFF2-40B4-BE49-F238E27FC236}">
                <a16:creationId xmlns:a16="http://schemas.microsoft.com/office/drawing/2014/main" id="{F3BC3976-B5F7-41E8-AA40-0CEFA98C78CC}"/>
              </a:ext>
            </a:extLst>
          </p:cNvPr>
          <p:cNvSpPr txBox="1"/>
          <p:nvPr>
            <p:custDataLst>
              <p:tags r:id="rId6"/>
            </p:custDataLst>
          </p:nvPr>
        </p:nvSpPr>
        <p:spPr>
          <a:xfrm>
            <a:off x="5260939" y="1269290"/>
            <a:ext cx="3654461" cy="560717"/>
          </a:xfrm>
          <a:prstGeom prst="rect">
            <a:avLst/>
          </a:prstGeom>
          <a:noFill/>
        </p:spPr>
        <p:txBody>
          <a:bodyPr wrap="square" rtlCol="0" anchor="ctr">
            <a:noAutofit/>
          </a:bodyPr>
          <a:lstStyle/>
          <a:p>
            <a:pPr algn="ctr"/>
            <a:r>
              <a:rPr lang="en-US" sz="2400" b="1" dirty="0">
                <a:latin typeface="+mn-lt"/>
              </a:rPr>
              <a:t>separate roads</a:t>
            </a:r>
          </a:p>
        </p:txBody>
      </p:sp>
    </p:spTree>
    <p:custDataLst>
      <p:tags r:id="rId1"/>
    </p:custDataLst>
    <p:extLst>
      <p:ext uri="{BB962C8B-B14F-4D97-AF65-F5344CB8AC3E}">
        <p14:creationId xmlns:p14="http://schemas.microsoft.com/office/powerpoint/2010/main" val="46825581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Simultaneous Multithreading</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23</a:t>
            </a:fld>
            <a:endParaRPr lang="en-US" altLang="en-US" sz="1400">
              <a:latin typeface="Times New Roman" panose="02020603050405020304" pitchFamily="18" charset="0"/>
            </a:endParaRPr>
          </a:p>
        </p:txBody>
      </p:sp>
      <p:sp>
        <p:nvSpPr>
          <p:cNvPr id="23" name="Rectangle 3">
            <a:extLst>
              <a:ext uri="{FF2B5EF4-FFF2-40B4-BE49-F238E27FC236}">
                <a16:creationId xmlns:a16="http://schemas.microsoft.com/office/drawing/2014/main" id="{64E6F2D9-6040-47E8-A80A-7D24E9A861AB}"/>
              </a:ext>
            </a:extLst>
          </p:cNvPr>
          <p:cNvSpPr>
            <a:spLocks noGrp="1" noChangeArrowheads="1"/>
          </p:cNvSpPr>
          <p:nvPr>
            <p:ph idx="1"/>
            <p:custDataLst>
              <p:tags r:id="rId4"/>
            </p:custDataLst>
          </p:nvPr>
        </p:nvSpPr>
        <p:spPr>
          <a:xfrm>
            <a:off x="457200" y="1600201"/>
            <a:ext cx="8534400" cy="1371600"/>
          </a:xfrm>
        </p:spPr>
        <p:txBody>
          <a:bodyPr/>
          <a:lstStyle/>
          <a:p>
            <a:pPr eaLnBrk="1" hangingPunct="1">
              <a:lnSpc>
                <a:spcPct val="80000"/>
              </a:lnSpc>
            </a:pPr>
            <a:r>
              <a:rPr lang="en-US" altLang="en-US" sz="2800" dirty="0"/>
              <a:t>Fetch and execute instructions from different threads in parallel on the same superscalar processor</a:t>
            </a:r>
          </a:p>
        </p:txBody>
      </p:sp>
      <p:pic>
        <p:nvPicPr>
          <p:cNvPr id="24" name="Picture 23">
            <a:extLst>
              <a:ext uri="{FF2B5EF4-FFF2-40B4-BE49-F238E27FC236}">
                <a16:creationId xmlns:a16="http://schemas.microsoft.com/office/drawing/2014/main" id="{DB0F2856-670D-4F1A-9148-0F9213142220}"/>
              </a:ext>
            </a:extLst>
          </p:cNvPr>
          <p:cNvPicPr>
            <a:picLocks noChangeAspect="1"/>
          </p:cNvPicPr>
          <p:nvPr/>
        </p:nvPicPr>
        <p:blipFill>
          <a:blip r:embed="rId8"/>
          <a:stretch>
            <a:fillRect/>
          </a:stretch>
        </p:blipFill>
        <p:spPr>
          <a:xfrm>
            <a:off x="2320758" y="2486025"/>
            <a:ext cx="4502484" cy="4010025"/>
          </a:xfrm>
          <a:prstGeom prst="rect">
            <a:avLst/>
          </a:prstGeom>
        </p:spPr>
      </p:pic>
      <p:sp>
        <p:nvSpPr>
          <p:cNvPr id="25" name="TextBox 24">
            <a:extLst>
              <a:ext uri="{FF2B5EF4-FFF2-40B4-BE49-F238E27FC236}">
                <a16:creationId xmlns:a16="http://schemas.microsoft.com/office/drawing/2014/main" id="{60B37D98-3852-4A5C-AC26-23955F48D0EA}"/>
              </a:ext>
            </a:extLst>
          </p:cNvPr>
          <p:cNvSpPr txBox="1"/>
          <p:nvPr>
            <p:custDataLst>
              <p:tags r:id="rId5"/>
            </p:custDataLst>
          </p:nvPr>
        </p:nvSpPr>
        <p:spPr>
          <a:xfrm>
            <a:off x="381000" y="4572000"/>
            <a:ext cx="2319546" cy="560717"/>
          </a:xfrm>
          <a:prstGeom prst="rect">
            <a:avLst/>
          </a:prstGeom>
          <a:noFill/>
        </p:spPr>
        <p:txBody>
          <a:bodyPr wrap="square" rtlCol="0" anchor="ctr">
            <a:noAutofit/>
          </a:bodyPr>
          <a:lstStyle/>
          <a:p>
            <a:pPr algn="ctr"/>
            <a:r>
              <a:rPr lang="en-US" sz="1600" b="1" dirty="0" err="1">
                <a:solidFill>
                  <a:schemeClr val="accent6">
                    <a:lumMod val="75000"/>
                  </a:schemeClr>
                </a:solidFill>
                <a:latin typeface="+mn-lt"/>
              </a:rPr>
              <a:t>OoO</a:t>
            </a:r>
            <a:r>
              <a:rPr lang="en-US" sz="1600" b="1" dirty="0">
                <a:solidFill>
                  <a:schemeClr val="accent6">
                    <a:lumMod val="75000"/>
                  </a:schemeClr>
                </a:solidFill>
                <a:latin typeface="+mn-lt"/>
              </a:rPr>
              <a:t> engine is naturally well-suited to SMT</a:t>
            </a:r>
          </a:p>
        </p:txBody>
      </p:sp>
    </p:spTree>
    <p:custDataLst>
      <p:tags r:id="rId1"/>
    </p:custDataLst>
    <p:extLst>
      <p:ext uri="{BB962C8B-B14F-4D97-AF65-F5344CB8AC3E}">
        <p14:creationId xmlns:p14="http://schemas.microsoft.com/office/powerpoint/2010/main" val="40267997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Simultaneous Multithreading</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24</a:t>
            </a:fld>
            <a:endParaRPr lang="en-US" altLang="en-US" sz="1400">
              <a:latin typeface="Times New Roman" panose="02020603050405020304" pitchFamily="18" charset="0"/>
            </a:endParaRPr>
          </a:p>
        </p:txBody>
      </p:sp>
      <p:sp>
        <p:nvSpPr>
          <p:cNvPr id="24" name="Rectangle 3">
            <a:extLst>
              <a:ext uri="{FF2B5EF4-FFF2-40B4-BE49-F238E27FC236}">
                <a16:creationId xmlns:a16="http://schemas.microsoft.com/office/drawing/2014/main" id="{3A85B595-6190-4D06-81C5-7C5685950512}"/>
              </a:ext>
            </a:extLst>
          </p:cNvPr>
          <p:cNvSpPr>
            <a:spLocks noGrp="1" noChangeArrowheads="1"/>
          </p:cNvSpPr>
          <p:nvPr>
            <p:ph idx="1"/>
            <p:custDataLst>
              <p:tags r:id="rId4"/>
            </p:custDataLst>
          </p:nvPr>
        </p:nvSpPr>
        <p:spPr>
          <a:xfrm>
            <a:off x="457200" y="1524000"/>
            <a:ext cx="8534400" cy="1371600"/>
          </a:xfrm>
        </p:spPr>
        <p:txBody>
          <a:bodyPr/>
          <a:lstStyle/>
          <a:p>
            <a:pPr eaLnBrk="1" hangingPunct="1">
              <a:lnSpc>
                <a:spcPct val="80000"/>
              </a:lnSpc>
            </a:pPr>
            <a:r>
              <a:rPr lang="en-US" altLang="en-US" sz="2800" b="1" dirty="0"/>
              <a:t>Partition</a:t>
            </a:r>
            <a:r>
              <a:rPr lang="en-US" altLang="en-US" sz="2800" dirty="0"/>
              <a:t> the instruction/decode buffer, dispatch buffer, reorder buffer and map table</a:t>
            </a:r>
          </a:p>
          <a:p>
            <a:pPr eaLnBrk="1" hangingPunct="1">
              <a:lnSpc>
                <a:spcPct val="80000"/>
              </a:lnSpc>
            </a:pPr>
            <a:r>
              <a:rPr lang="en-US" altLang="en-US" sz="2800" b="1" dirty="0"/>
              <a:t>Pool</a:t>
            </a:r>
            <a:r>
              <a:rPr lang="en-US" altLang="en-US" sz="2800" dirty="0"/>
              <a:t> the reservation stations, functional units and physical registers</a:t>
            </a:r>
          </a:p>
        </p:txBody>
      </p:sp>
      <p:pic>
        <p:nvPicPr>
          <p:cNvPr id="23" name="Picture 22">
            <a:extLst>
              <a:ext uri="{FF2B5EF4-FFF2-40B4-BE49-F238E27FC236}">
                <a16:creationId xmlns:a16="http://schemas.microsoft.com/office/drawing/2014/main" id="{34F913E0-A2D7-4625-8927-2BCB4EAF707F}"/>
              </a:ext>
            </a:extLst>
          </p:cNvPr>
          <p:cNvPicPr>
            <a:picLocks noChangeAspect="1"/>
          </p:cNvPicPr>
          <p:nvPr/>
        </p:nvPicPr>
        <p:blipFill>
          <a:blip r:embed="rId13"/>
          <a:stretch>
            <a:fillRect/>
          </a:stretch>
        </p:blipFill>
        <p:spPr>
          <a:xfrm>
            <a:off x="2608179" y="3124200"/>
            <a:ext cx="3927642" cy="3371850"/>
          </a:xfrm>
          <a:prstGeom prst="rect">
            <a:avLst/>
          </a:prstGeom>
        </p:spPr>
      </p:pic>
      <p:sp>
        <p:nvSpPr>
          <p:cNvPr id="25" name="TextBox 24">
            <a:extLst>
              <a:ext uri="{FF2B5EF4-FFF2-40B4-BE49-F238E27FC236}">
                <a16:creationId xmlns:a16="http://schemas.microsoft.com/office/drawing/2014/main" id="{78F408FE-5B16-4CFA-B7A9-238519C18FE8}"/>
              </a:ext>
            </a:extLst>
          </p:cNvPr>
          <p:cNvSpPr txBox="1"/>
          <p:nvPr>
            <p:custDataLst>
              <p:tags r:id="rId5"/>
            </p:custDataLst>
          </p:nvPr>
        </p:nvSpPr>
        <p:spPr>
          <a:xfrm>
            <a:off x="685800" y="4724400"/>
            <a:ext cx="2319546"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Both threads 1 and 2</a:t>
            </a:r>
          </a:p>
        </p:txBody>
      </p:sp>
      <p:sp>
        <p:nvSpPr>
          <p:cNvPr id="26" name="TextBox 25">
            <a:extLst>
              <a:ext uri="{FF2B5EF4-FFF2-40B4-BE49-F238E27FC236}">
                <a16:creationId xmlns:a16="http://schemas.microsoft.com/office/drawing/2014/main" id="{02DE6312-F234-4627-AAF8-8B41C541C9A1}"/>
              </a:ext>
            </a:extLst>
          </p:cNvPr>
          <p:cNvSpPr txBox="1"/>
          <p:nvPr>
            <p:custDataLst>
              <p:tags r:id="rId6"/>
            </p:custDataLst>
          </p:nvPr>
        </p:nvSpPr>
        <p:spPr>
          <a:xfrm>
            <a:off x="1828800" y="3439783"/>
            <a:ext cx="1328946"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Thread 1</a:t>
            </a:r>
          </a:p>
        </p:txBody>
      </p:sp>
      <p:sp>
        <p:nvSpPr>
          <p:cNvPr id="27" name="TextBox 26">
            <a:extLst>
              <a:ext uri="{FF2B5EF4-FFF2-40B4-BE49-F238E27FC236}">
                <a16:creationId xmlns:a16="http://schemas.microsoft.com/office/drawing/2014/main" id="{6BAD0E39-B997-4DE3-B6B9-1270F6F94B83}"/>
              </a:ext>
            </a:extLst>
          </p:cNvPr>
          <p:cNvSpPr txBox="1"/>
          <p:nvPr>
            <p:custDataLst>
              <p:tags r:id="rId7"/>
            </p:custDataLst>
          </p:nvPr>
        </p:nvSpPr>
        <p:spPr>
          <a:xfrm>
            <a:off x="6188975" y="3439782"/>
            <a:ext cx="1328946"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Thread 2</a:t>
            </a:r>
          </a:p>
        </p:txBody>
      </p:sp>
      <p:sp>
        <p:nvSpPr>
          <p:cNvPr id="28" name="TextBox 27">
            <a:extLst>
              <a:ext uri="{FF2B5EF4-FFF2-40B4-BE49-F238E27FC236}">
                <a16:creationId xmlns:a16="http://schemas.microsoft.com/office/drawing/2014/main" id="{3D4A6E6B-F8A6-458A-AC80-E297B65B4A57}"/>
              </a:ext>
            </a:extLst>
          </p:cNvPr>
          <p:cNvSpPr txBox="1"/>
          <p:nvPr>
            <p:custDataLst>
              <p:tags r:id="rId8"/>
            </p:custDataLst>
          </p:nvPr>
        </p:nvSpPr>
        <p:spPr>
          <a:xfrm>
            <a:off x="1828800" y="5943601"/>
            <a:ext cx="1328946"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Thread 1</a:t>
            </a:r>
          </a:p>
        </p:txBody>
      </p:sp>
      <p:sp>
        <p:nvSpPr>
          <p:cNvPr id="29" name="TextBox 28">
            <a:extLst>
              <a:ext uri="{FF2B5EF4-FFF2-40B4-BE49-F238E27FC236}">
                <a16:creationId xmlns:a16="http://schemas.microsoft.com/office/drawing/2014/main" id="{89B54A64-2191-4008-A198-6845BA2A0B90}"/>
              </a:ext>
            </a:extLst>
          </p:cNvPr>
          <p:cNvSpPr txBox="1"/>
          <p:nvPr>
            <p:custDataLst>
              <p:tags r:id="rId9"/>
            </p:custDataLst>
          </p:nvPr>
        </p:nvSpPr>
        <p:spPr>
          <a:xfrm>
            <a:off x="6188975" y="5943600"/>
            <a:ext cx="1328946"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Thread 2</a:t>
            </a:r>
          </a:p>
        </p:txBody>
      </p:sp>
      <p:sp>
        <p:nvSpPr>
          <p:cNvPr id="2" name="Rectangle 1">
            <a:extLst>
              <a:ext uri="{FF2B5EF4-FFF2-40B4-BE49-F238E27FC236}">
                <a16:creationId xmlns:a16="http://schemas.microsoft.com/office/drawing/2014/main" id="{5BB62EFF-6088-4ABE-9AF3-F0785DEC9816}"/>
              </a:ext>
            </a:extLst>
          </p:cNvPr>
          <p:cNvSpPr/>
          <p:nvPr>
            <p:custDataLst>
              <p:tags r:id="rId10"/>
            </p:custDataLst>
          </p:nvPr>
        </p:nvSpPr>
        <p:spPr>
          <a:xfrm>
            <a:off x="762000" y="4419600"/>
            <a:ext cx="7696200" cy="1066800"/>
          </a:xfrm>
          <a:prstGeom prst="rect">
            <a:avLst/>
          </a:prstGeom>
          <a:noFill/>
          <a:ln>
            <a:solidFill>
              <a:schemeClr val="accent6">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7D6EEE80-0D29-42C9-AB25-4CAEAB410F39}"/>
              </a:ext>
            </a:extLst>
          </p:cNvPr>
          <p:cNvCxnSpPr/>
          <p:nvPr/>
        </p:nvCxnSpPr>
        <p:spPr>
          <a:xfrm>
            <a:off x="4495800" y="2819400"/>
            <a:ext cx="0" cy="15240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3231D79-0D9F-4F4C-B5AC-03D2C7C10139}"/>
              </a:ext>
            </a:extLst>
          </p:cNvPr>
          <p:cNvCxnSpPr/>
          <p:nvPr/>
        </p:nvCxnSpPr>
        <p:spPr>
          <a:xfrm>
            <a:off x="4495800" y="5486400"/>
            <a:ext cx="0" cy="118872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609619320"/>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Simultaneous Multithreading</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25</a:t>
            </a:fld>
            <a:endParaRPr lang="en-US" altLang="en-US" sz="1400">
              <a:latin typeface="Times New Roman" panose="02020603050405020304" pitchFamily="18" charset="0"/>
            </a:endParaRPr>
          </a:p>
        </p:txBody>
      </p:sp>
      <p:sp>
        <p:nvSpPr>
          <p:cNvPr id="24" name="Rectangle 3">
            <a:extLst>
              <a:ext uri="{FF2B5EF4-FFF2-40B4-BE49-F238E27FC236}">
                <a16:creationId xmlns:a16="http://schemas.microsoft.com/office/drawing/2014/main" id="{3A85B595-6190-4D06-81C5-7C5685950512}"/>
              </a:ext>
            </a:extLst>
          </p:cNvPr>
          <p:cNvSpPr>
            <a:spLocks noGrp="1" noChangeArrowheads="1"/>
          </p:cNvSpPr>
          <p:nvPr>
            <p:ph idx="1"/>
            <p:custDataLst>
              <p:tags r:id="rId4"/>
            </p:custDataLst>
          </p:nvPr>
        </p:nvSpPr>
        <p:spPr>
          <a:xfrm>
            <a:off x="457200" y="1524000"/>
            <a:ext cx="8534400" cy="1371600"/>
          </a:xfrm>
        </p:spPr>
        <p:txBody>
          <a:bodyPr/>
          <a:lstStyle/>
          <a:p>
            <a:pPr eaLnBrk="1" hangingPunct="1">
              <a:lnSpc>
                <a:spcPct val="80000"/>
              </a:lnSpc>
            </a:pPr>
            <a:r>
              <a:rPr lang="en-US" altLang="en-US" sz="2800" b="1" dirty="0"/>
              <a:t>Partition</a:t>
            </a:r>
            <a:r>
              <a:rPr lang="en-US" altLang="en-US" sz="2800" dirty="0"/>
              <a:t> the instruction/decode buffer, dispatch buffer, reorder buffer and map table</a:t>
            </a:r>
          </a:p>
          <a:p>
            <a:pPr eaLnBrk="1" hangingPunct="1">
              <a:lnSpc>
                <a:spcPct val="80000"/>
              </a:lnSpc>
            </a:pPr>
            <a:r>
              <a:rPr lang="en-US" altLang="en-US" sz="2800" b="1" dirty="0"/>
              <a:t>Pool</a:t>
            </a:r>
            <a:r>
              <a:rPr lang="en-US" altLang="en-US" sz="2800" dirty="0"/>
              <a:t> the reservation stations, functional units and physical registers</a:t>
            </a:r>
          </a:p>
        </p:txBody>
      </p:sp>
      <p:graphicFrame>
        <p:nvGraphicFramePr>
          <p:cNvPr id="23" name="Table 22">
            <a:extLst>
              <a:ext uri="{FF2B5EF4-FFF2-40B4-BE49-F238E27FC236}">
                <a16:creationId xmlns:a16="http://schemas.microsoft.com/office/drawing/2014/main" id="{412D67B3-DA15-40A1-95A2-D134137C0EEB}"/>
              </a:ext>
            </a:extLst>
          </p:cNvPr>
          <p:cNvGraphicFramePr>
            <a:graphicFrameLocks noGrp="1"/>
          </p:cNvGraphicFramePr>
          <p:nvPr>
            <p:custDataLst>
              <p:tags r:id="rId5"/>
            </p:custDataLst>
          </p:nvPr>
        </p:nvGraphicFramePr>
        <p:xfrm>
          <a:off x="914400" y="3956069"/>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thread 1 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P6</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a:t>
                      </a: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graphicFrame>
        <p:nvGraphicFramePr>
          <p:cNvPr id="25" name="Table 24">
            <a:extLst>
              <a:ext uri="{FF2B5EF4-FFF2-40B4-BE49-F238E27FC236}">
                <a16:creationId xmlns:a16="http://schemas.microsoft.com/office/drawing/2014/main" id="{3BB589B3-6140-40E1-A614-1A5D950402E4}"/>
              </a:ext>
            </a:extLst>
          </p:cNvPr>
          <p:cNvGraphicFramePr>
            <a:graphicFrameLocks noGrp="1"/>
          </p:cNvGraphicFramePr>
          <p:nvPr>
            <p:custDataLst>
              <p:tags r:id="rId6"/>
            </p:custDataLst>
          </p:nvPr>
        </p:nvGraphicFramePr>
        <p:xfrm>
          <a:off x="2895600" y="3957507"/>
          <a:ext cx="1904999" cy="2011680"/>
        </p:xfrm>
        <a:graphic>
          <a:graphicData uri="http://schemas.openxmlformats.org/drawingml/2006/table">
            <a:tbl>
              <a:tblPr>
                <a:tableStyleId>{5C22544A-7EE6-4342-B048-85BDC9FD1C3A}</a:tableStyleId>
              </a:tblPr>
              <a:tblGrid>
                <a:gridCol w="647700">
                  <a:extLst>
                    <a:ext uri="{9D8B030D-6E8A-4147-A177-3AD203B41FA5}">
                      <a16:colId xmlns:a16="http://schemas.microsoft.com/office/drawing/2014/main" val="3660332834"/>
                    </a:ext>
                  </a:extLst>
                </a:gridCol>
                <a:gridCol w="647700">
                  <a:extLst>
                    <a:ext uri="{9D8B030D-6E8A-4147-A177-3AD203B41FA5}">
                      <a16:colId xmlns:a16="http://schemas.microsoft.com/office/drawing/2014/main" val="3367818760"/>
                    </a:ext>
                  </a:extLst>
                </a:gridCol>
                <a:gridCol w="609599">
                  <a:extLst>
                    <a:ext uri="{9D8B030D-6E8A-4147-A177-3AD203B41FA5}">
                      <a16:colId xmlns:a16="http://schemas.microsoft.com/office/drawing/2014/main" val="3008529962"/>
                    </a:ext>
                  </a:extLst>
                </a:gridCol>
              </a:tblGrid>
              <a:tr h="198120">
                <a:tc gridSpan="3">
                  <a:txBody>
                    <a:bodyPr/>
                    <a:lstStyle/>
                    <a:p>
                      <a:pPr algn="ctr"/>
                      <a:r>
                        <a:rPr lang="en-US" sz="1600" b="1" dirty="0"/>
                        <a:t>thread 2 map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endParaRPr lang="en-US"/>
                    </a:p>
                  </a:txBody>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r h="274320">
                <a:tc>
                  <a:txBody>
                    <a:bodyPr/>
                    <a:lstStyle/>
                    <a:p>
                      <a:pPr algn="ctr"/>
                      <a:r>
                        <a:rPr lang="en-US" sz="1600" dirty="0"/>
                        <a:t>$t1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err="1"/>
                        <a:t>rdy</a:t>
                      </a:r>
                      <a:endParaRPr lang="en-US" sz="1600" strike="noStrike"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55860589"/>
                  </a:ext>
                </a:extLst>
              </a:tr>
              <a:tr h="274320">
                <a:tc>
                  <a:txBody>
                    <a:bodyPr/>
                    <a:lstStyle/>
                    <a:p>
                      <a:pPr algn="ctr"/>
                      <a:r>
                        <a:rPr lang="en-US" sz="1600" dirty="0"/>
                        <a:t>$s0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P3</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strike="noStrike" dirty="0"/>
                        <a:t>!</a:t>
                      </a:r>
                      <a:r>
                        <a:rPr lang="en-US" sz="1600" strike="noStrike"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334823"/>
                  </a:ext>
                </a:extLst>
              </a:tr>
              <a:tr h="274320">
                <a:tc>
                  <a:txBody>
                    <a:bodyPr/>
                    <a:lstStyle/>
                    <a:p>
                      <a:pPr algn="ctr"/>
                      <a:r>
                        <a:rPr lang="en-US" sz="1600" dirty="0"/>
                        <a:t>$s1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a:t>
                      </a: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4727575"/>
                  </a:ext>
                </a:extLst>
              </a:tr>
              <a:tr h="274320">
                <a:tc>
                  <a:txBody>
                    <a:bodyPr/>
                    <a:lstStyle/>
                    <a:p>
                      <a:pPr algn="ctr"/>
                      <a:r>
                        <a:rPr lang="en-US" sz="1600" dirty="0"/>
                        <a:t>$s2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t>P7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err="1"/>
                        <a:t>rdy</a:t>
                      </a:r>
                      <a:endParaRPr lang="en-US" sz="1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08769697"/>
                  </a:ext>
                </a:extLst>
              </a:tr>
            </a:tbl>
          </a:graphicData>
        </a:graphic>
      </p:graphicFrame>
      <p:sp>
        <p:nvSpPr>
          <p:cNvPr id="26" name="TextBox 25">
            <a:extLst>
              <a:ext uri="{FF2B5EF4-FFF2-40B4-BE49-F238E27FC236}">
                <a16:creationId xmlns:a16="http://schemas.microsoft.com/office/drawing/2014/main" id="{A9557109-0085-408B-B27D-C34B369AE3B3}"/>
              </a:ext>
            </a:extLst>
          </p:cNvPr>
          <p:cNvSpPr txBox="1"/>
          <p:nvPr>
            <p:custDataLst>
              <p:tags r:id="rId7"/>
            </p:custDataLst>
          </p:nvPr>
        </p:nvSpPr>
        <p:spPr>
          <a:xfrm>
            <a:off x="-533400" y="3289152"/>
            <a:ext cx="3654461"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partitioned</a:t>
            </a:r>
          </a:p>
        </p:txBody>
      </p:sp>
      <p:cxnSp>
        <p:nvCxnSpPr>
          <p:cNvPr id="27" name="Straight Connector 26">
            <a:extLst>
              <a:ext uri="{FF2B5EF4-FFF2-40B4-BE49-F238E27FC236}">
                <a16:creationId xmlns:a16="http://schemas.microsoft.com/office/drawing/2014/main" id="{F8308CE9-1D96-4724-B77E-5E20F800C9B9}"/>
              </a:ext>
            </a:extLst>
          </p:cNvPr>
          <p:cNvCxnSpPr>
            <a:cxnSpLocks/>
          </p:cNvCxnSpPr>
          <p:nvPr/>
        </p:nvCxnSpPr>
        <p:spPr>
          <a:xfrm flipH="1" flipV="1">
            <a:off x="1558960" y="3677811"/>
            <a:ext cx="582263" cy="370619"/>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8" name="Table 27">
            <a:extLst>
              <a:ext uri="{FF2B5EF4-FFF2-40B4-BE49-F238E27FC236}">
                <a16:creationId xmlns:a16="http://schemas.microsoft.com/office/drawing/2014/main" id="{6A63B3FB-6D6A-46A4-AC9E-A41721E25B4C}"/>
              </a:ext>
            </a:extLst>
          </p:cNvPr>
          <p:cNvGraphicFramePr>
            <a:graphicFrameLocks noGrp="1"/>
          </p:cNvGraphicFramePr>
          <p:nvPr>
            <p:custDataLst>
              <p:tags r:id="rId8"/>
            </p:custDataLst>
          </p:nvPr>
        </p:nvGraphicFramePr>
        <p:xfrm>
          <a:off x="5029200" y="4583829"/>
          <a:ext cx="3290196" cy="670560"/>
        </p:xfrm>
        <a:graphic>
          <a:graphicData uri="http://schemas.openxmlformats.org/drawingml/2006/table">
            <a:tbl>
              <a:tblPr>
                <a:tableStyleId>{5C22544A-7EE6-4342-B048-85BDC9FD1C3A}</a:tableStyleId>
              </a:tblPr>
              <a:tblGrid>
                <a:gridCol w="3290196">
                  <a:extLst>
                    <a:ext uri="{9D8B030D-6E8A-4147-A177-3AD203B41FA5}">
                      <a16:colId xmlns:a16="http://schemas.microsoft.com/office/drawing/2014/main" val="3660332834"/>
                    </a:ext>
                  </a:extLst>
                </a:gridCol>
              </a:tblGrid>
              <a:tr h="274320">
                <a:tc>
                  <a:txBody>
                    <a:bodyPr/>
                    <a:lstStyle/>
                    <a:p>
                      <a:pPr algn="ctr"/>
                      <a:r>
                        <a:rPr lang="en-US" sz="1600" b="1" dirty="0"/>
                        <a:t>free list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89230760"/>
                  </a:ext>
                </a:extLst>
              </a:tr>
              <a:tr h="274320">
                <a:tc>
                  <a:txBody>
                    <a:bodyPr/>
                    <a:lstStyle/>
                    <a:p>
                      <a:pPr algn="ctr"/>
                      <a:r>
                        <a:rPr lang="en-US" sz="1600" dirty="0"/>
                        <a:t>P8, P1, P14, P12, P5, P13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485804"/>
                  </a:ext>
                </a:extLst>
              </a:tr>
            </a:tbl>
          </a:graphicData>
        </a:graphic>
      </p:graphicFrame>
      <p:sp>
        <p:nvSpPr>
          <p:cNvPr id="29" name="TextBox 28">
            <a:extLst>
              <a:ext uri="{FF2B5EF4-FFF2-40B4-BE49-F238E27FC236}">
                <a16:creationId xmlns:a16="http://schemas.microsoft.com/office/drawing/2014/main" id="{949517B7-C2D9-4A8A-9AD5-1793F75491C3}"/>
              </a:ext>
            </a:extLst>
          </p:cNvPr>
          <p:cNvSpPr txBox="1"/>
          <p:nvPr>
            <p:custDataLst>
              <p:tags r:id="rId9"/>
            </p:custDataLst>
          </p:nvPr>
        </p:nvSpPr>
        <p:spPr>
          <a:xfrm>
            <a:off x="5644927" y="5459083"/>
            <a:ext cx="3654461"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pooled</a:t>
            </a:r>
          </a:p>
        </p:txBody>
      </p:sp>
      <p:cxnSp>
        <p:nvCxnSpPr>
          <p:cNvPr id="30" name="Straight Connector 29">
            <a:extLst>
              <a:ext uri="{FF2B5EF4-FFF2-40B4-BE49-F238E27FC236}">
                <a16:creationId xmlns:a16="http://schemas.microsoft.com/office/drawing/2014/main" id="{759CFB33-4E22-453D-B62B-A8BB0CCC2DB3}"/>
              </a:ext>
            </a:extLst>
          </p:cNvPr>
          <p:cNvCxnSpPr>
            <a:cxnSpLocks/>
          </p:cNvCxnSpPr>
          <p:nvPr/>
        </p:nvCxnSpPr>
        <p:spPr>
          <a:xfrm flipH="1" flipV="1">
            <a:off x="6858001" y="5195590"/>
            <a:ext cx="457199" cy="4572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57883940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Simultaneous Multithreading</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26</a:t>
            </a:fld>
            <a:endParaRPr lang="en-US" altLang="en-US" sz="1400">
              <a:latin typeface="Times New Roman" panose="02020603050405020304" pitchFamily="18" charset="0"/>
            </a:endParaRPr>
          </a:p>
        </p:txBody>
      </p:sp>
      <p:sp>
        <p:nvSpPr>
          <p:cNvPr id="14" name="TextBox 13">
            <a:extLst>
              <a:ext uri="{FF2B5EF4-FFF2-40B4-BE49-F238E27FC236}">
                <a16:creationId xmlns:a16="http://schemas.microsoft.com/office/drawing/2014/main" id="{B72AC407-240A-4670-82D2-7CDC151BD776}"/>
              </a:ext>
            </a:extLst>
          </p:cNvPr>
          <p:cNvSpPr txBox="1"/>
          <p:nvPr>
            <p:custDataLst>
              <p:tags r:id="rId4"/>
            </p:custDataLst>
          </p:nvPr>
        </p:nvSpPr>
        <p:spPr>
          <a:xfrm>
            <a:off x="2744770" y="6449683"/>
            <a:ext cx="3654461" cy="560717"/>
          </a:xfrm>
          <a:prstGeom prst="rect">
            <a:avLst/>
          </a:prstGeom>
          <a:noFill/>
        </p:spPr>
        <p:txBody>
          <a:bodyPr wrap="square" rtlCol="0" anchor="ctr">
            <a:noAutofit/>
          </a:bodyPr>
          <a:lstStyle/>
          <a:p>
            <a:pPr algn="ctr"/>
            <a:r>
              <a:rPr lang="en-US" sz="1400" dirty="0">
                <a:latin typeface="+mn-lt"/>
              </a:rPr>
              <a:t>[J. E. Smith]</a:t>
            </a:r>
          </a:p>
        </p:txBody>
      </p:sp>
      <p:grpSp>
        <p:nvGrpSpPr>
          <p:cNvPr id="9" name="Group 8">
            <a:extLst>
              <a:ext uri="{FF2B5EF4-FFF2-40B4-BE49-F238E27FC236}">
                <a16:creationId xmlns:a16="http://schemas.microsoft.com/office/drawing/2014/main" id="{38FCE879-1E1E-4C3C-B91D-18A018AD3BDE}"/>
              </a:ext>
            </a:extLst>
          </p:cNvPr>
          <p:cNvGrpSpPr/>
          <p:nvPr>
            <p:custDataLst>
              <p:tags r:id="rId5"/>
            </p:custDataLst>
          </p:nvPr>
        </p:nvGrpSpPr>
        <p:grpSpPr>
          <a:xfrm>
            <a:off x="228600" y="3039820"/>
            <a:ext cx="8737416" cy="3197499"/>
            <a:chOff x="406584" y="2619760"/>
            <a:chExt cx="11378832" cy="3569327"/>
          </a:xfrm>
        </p:grpSpPr>
        <p:pic>
          <p:nvPicPr>
            <p:cNvPr id="15" name="Picture 14">
              <a:extLst>
                <a:ext uri="{FF2B5EF4-FFF2-40B4-BE49-F238E27FC236}">
                  <a16:creationId xmlns:a16="http://schemas.microsoft.com/office/drawing/2014/main" id="{A1F26F53-F89F-4E30-B441-B3FB59D1A331}"/>
                </a:ext>
              </a:extLst>
            </p:cNvPr>
            <p:cNvPicPr>
              <a:picLocks noChangeAspect="1"/>
            </p:cNvPicPr>
            <p:nvPr/>
          </p:nvPicPr>
          <p:blipFill>
            <a:blip r:embed="rId14"/>
            <a:stretch>
              <a:fillRect/>
            </a:stretch>
          </p:blipFill>
          <p:spPr>
            <a:xfrm>
              <a:off x="406584" y="2619760"/>
              <a:ext cx="11378832" cy="3569327"/>
            </a:xfrm>
            <a:prstGeom prst="rect">
              <a:avLst/>
            </a:prstGeom>
          </p:spPr>
        </p:pic>
        <p:sp>
          <p:nvSpPr>
            <p:cNvPr id="17" name="Rectangle: Rounded Corners 16">
              <a:extLst>
                <a:ext uri="{FF2B5EF4-FFF2-40B4-BE49-F238E27FC236}">
                  <a16:creationId xmlns:a16="http://schemas.microsoft.com/office/drawing/2014/main" id="{950070E8-7A7A-4C1D-AF16-7475A330CA1A}"/>
                </a:ext>
              </a:extLst>
            </p:cNvPr>
            <p:cNvSpPr/>
            <p:nvPr>
              <p:custDataLst>
                <p:tags r:id="rId10"/>
              </p:custDataLst>
            </p:nvPr>
          </p:nvSpPr>
          <p:spPr>
            <a:xfrm>
              <a:off x="2199341" y="3352800"/>
              <a:ext cx="2707341" cy="1846729"/>
            </a:xfrm>
            <a:prstGeom prst="roundRect">
              <a:avLst/>
            </a:prstGeom>
            <a:noFill/>
            <a:ln w="63500">
              <a:solidFill>
                <a:schemeClr val="accent6">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FB680D12-E540-4AD5-BEC4-F9BA0F9133DC}"/>
                </a:ext>
              </a:extLst>
            </p:cNvPr>
            <p:cNvSpPr/>
            <p:nvPr>
              <p:custDataLst>
                <p:tags r:id="rId11"/>
              </p:custDataLst>
            </p:nvPr>
          </p:nvSpPr>
          <p:spPr>
            <a:xfrm>
              <a:off x="5199529" y="3352799"/>
              <a:ext cx="5408706" cy="1846729"/>
            </a:xfrm>
            <a:prstGeom prst="roundRect">
              <a:avLst/>
            </a:prstGeom>
            <a:noFill/>
            <a:ln w="63500">
              <a:solidFill>
                <a:schemeClr val="accent6">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a:extLst>
              <a:ext uri="{FF2B5EF4-FFF2-40B4-BE49-F238E27FC236}">
                <a16:creationId xmlns:a16="http://schemas.microsoft.com/office/drawing/2014/main" id="{13FEDB29-6F5B-428E-A16C-B10ABA7F76A5}"/>
              </a:ext>
            </a:extLst>
          </p:cNvPr>
          <p:cNvSpPr txBox="1"/>
          <p:nvPr>
            <p:custDataLst>
              <p:tags r:id="rId6"/>
            </p:custDataLst>
          </p:nvPr>
        </p:nvSpPr>
        <p:spPr>
          <a:xfrm>
            <a:off x="118854" y="5991419"/>
            <a:ext cx="3654461"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partitioned</a:t>
            </a:r>
          </a:p>
        </p:txBody>
      </p:sp>
      <p:sp>
        <p:nvSpPr>
          <p:cNvPr id="20" name="TextBox 19">
            <a:extLst>
              <a:ext uri="{FF2B5EF4-FFF2-40B4-BE49-F238E27FC236}">
                <a16:creationId xmlns:a16="http://schemas.microsoft.com/office/drawing/2014/main" id="{F66F258D-854F-4AFC-8534-5BDCAB8B6292}"/>
              </a:ext>
            </a:extLst>
          </p:cNvPr>
          <p:cNvSpPr txBox="1"/>
          <p:nvPr>
            <p:custDataLst>
              <p:tags r:id="rId7"/>
            </p:custDataLst>
          </p:nvPr>
        </p:nvSpPr>
        <p:spPr>
          <a:xfrm>
            <a:off x="5337139" y="6221083"/>
            <a:ext cx="3654461" cy="560717"/>
          </a:xfrm>
          <a:prstGeom prst="rect">
            <a:avLst/>
          </a:prstGeom>
          <a:noFill/>
        </p:spPr>
        <p:txBody>
          <a:bodyPr wrap="square" rtlCol="0" anchor="ctr">
            <a:noAutofit/>
          </a:bodyPr>
          <a:lstStyle/>
          <a:p>
            <a:pPr algn="ctr"/>
            <a:r>
              <a:rPr lang="en-US" sz="1600" b="1" dirty="0">
                <a:solidFill>
                  <a:schemeClr val="accent6">
                    <a:lumMod val="75000"/>
                  </a:schemeClr>
                </a:solidFill>
                <a:latin typeface="+mn-lt"/>
              </a:rPr>
              <a:t>pooled</a:t>
            </a:r>
          </a:p>
        </p:txBody>
      </p:sp>
      <p:cxnSp>
        <p:nvCxnSpPr>
          <p:cNvPr id="21" name="Straight Connector 20">
            <a:extLst>
              <a:ext uri="{FF2B5EF4-FFF2-40B4-BE49-F238E27FC236}">
                <a16:creationId xmlns:a16="http://schemas.microsoft.com/office/drawing/2014/main" id="{72FD07A7-75A5-4987-83BB-2234920CCA48}"/>
              </a:ext>
            </a:extLst>
          </p:cNvPr>
          <p:cNvCxnSpPr/>
          <p:nvPr/>
        </p:nvCxnSpPr>
        <p:spPr>
          <a:xfrm flipV="1">
            <a:off x="2219661" y="5343649"/>
            <a:ext cx="388470" cy="824753"/>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E0FBAE6-10AA-45A8-BBB7-E0CB4EE756E3}"/>
              </a:ext>
            </a:extLst>
          </p:cNvPr>
          <p:cNvCxnSpPr>
            <a:cxnSpLocks/>
          </p:cNvCxnSpPr>
          <p:nvPr/>
        </p:nvCxnSpPr>
        <p:spPr>
          <a:xfrm flipH="1" flipV="1">
            <a:off x="6658992" y="5343649"/>
            <a:ext cx="351408" cy="1050117"/>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F88011E-42C1-4D42-93EF-A9B83C0093AA}"/>
              </a:ext>
            </a:extLst>
          </p:cNvPr>
          <p:cNvSpPr txBox="1"/>
          <p:nvPr>
            <p:custDataLst>
              <p:tags r:id="rId8"/>
            </p:custDataLst>
          </p:nvPr>
        </p:nvSpPr>
        <p:spPr>
          <a:xfrm>
            <a:off x="568062" y="3200400"/>
            <a:ext cx="4080138" cy="550971"/>
          </a:xfrm>
          <a:prstGeom prst="rect">
            <a:avLst/>
          </a:prstGeom>
          <a:noFill/>
        </p:spPr>
        <p:txBody>
          <a:bodyPr wrap="square" rtlCol="0" anchor="t">
            <a:noAutofit/>
          </a:bodyPr>
          <a:lstStyle/>
          <a:p>
            <a:r>
              <a:rPr lang="en-US" sz="2400" b="1" dirty="0">
                <a:latin typeface="+mn-lt"/>
              </a:rPr>
              <a:t>e.g., Intel Hyperthreading:</a:t>
            </a:r>
          </a:p>
          <a:p>
            <a:endParaRPr lang="en-US" sz="4400" dirty="0">
              <a:latin typeface="+mn-lt"/>
            </a:endParaRPr>
          </a:p>
          <a:p>
            <a:endParaRPr lang="en-US" sz="5400" dirty="0">
              <a:latin typeface="+mn-lt"/>
            </a:endParaRPr>
          </a:p>
          <a:p>
            <a:endParaRPr lang="en-US" sz="5400" dirty="0">
              <a:latin typeface="+mn-lt"/>
            </a:endParaRPr>
          </a:p>
        </p:txBody>
      </p:sp>
      <p:sp>
        <p:nvSpPr>
          <p:cNvPr id="24" name="Rectangle 3">
            <a:extLst>
              <a:ext uri="{FF2B5EF4-FFF2-40B4-BE49-F238E27FC236}">
                <a16:creationId xmlns:a16="http://schemas.microsoft.com/office/drawing/2014/main" id="{3A85B595-6190-4D06-81C5-7C5685950512}"/>
              </a:ext>
            </a:extLst>
          </p:cNvPr>
          <p:cNvSpPr>
            <a:spLocks noGrp="1" noChangeArrowheads="1"/>
          </p:cNvSpPr>
          <p:nvPr>
            <p:ph idx="1"/>
            <p:custDataLst>
              <p:tags r:id="rId9"/>
            </p:custDataLst>
          </p:nvPr>
        </p:nvSpPr>
        <p:spPr>
          <a:xfrm>
            <a:off x="457200" y="1524000"/>
            <a:ext cx="8534400" cy="1371600"/>
          </a:xfrm>
        </p:spPr>
        <p:txBody>
          <a:bodyPr/>
          <a:lstStyle/>
          <a:p>
            <a:pPr eaLnBrk="1" hangingPunct="1">
              <a:lnSpc>
                <a:spcPct val="80000"/>
              </a:lnSpc>
            </a:pPr>
            <a:r>
              <a:rPr lang="en-US" altLang="en-US" sz="2800" b="1" dirty="0"/>
              <a:t>Partition</a:t>
            </a:r>
            <a:r>
              <a:rPr lang="en-US" altLang="en-US" sz="2800" dirty="0"/>
              <a:t> the instruction/decode buffer, dispatch buffer, reorder buffer and map table</a:t>
            </a:r>
          </a:p>
          <a:p>
            <a:pPr eaLnBrk="1" hangingPunct="1">
              <a:lnSpc>
                <a:spcPct val="80000"/>
              </a:lnSpc>
            </a:pPr>
            <a:r>
              <a:rPr lang="en-US" altLang="en-US" sz="2800" b="1" dirty="0"/>
              <a:t>Pool</a:t>
            </a:r>
            <a:r>
              <a:rPr lang="en-US" altLang="en-US" sz="2800" dirty="0"/>
              <a:t> the reservation stations, functional units and physical registers</a:t>
            </a:r>
          </a:p>
        </p:txBody>
      </p:sp>
    </p:spTree>
    <p:custDataLst>
      <p:tags r:id="rId1"/>
    </p:custDataLst>
    <p:extLst>
      <p:ext uri="{BB962C8B-B14F-4D97-AF65-F5344CB8AC3E}">
        <p14:creationId xmlns:p14="http://schemas.microsoft.com/office/powerpoint/2010/main" val="116838337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772400" cy="1143000"/>
          </a:xfrm>
        </p:spPr>
        <p:txBody>
          <a:bodyPr/>
          <a:lstStyle/>
          <a:p>
            <a:pPr eaLnBrk="1" hangingPunct="1"/>
            <a:r>
              <a:rPr lang="en-US" altLang="en-US" dirty="0"/>
              <a:t>Chip Multiprocessor</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27</a:t>
            </a:fld>
            <a:endParaRPr lang="en-US" altLang="en-US" sz="1400"/>
          </a:p>
        </p:txBody>
      </p:sp>
      <p:grpSp>
        <p:nvGrpSpPr>
          <p:cNvPr id="2" name="Group 1">
            <a:extLst>
              <a:ext uri="{FF2B5EF4-FFF2-40B4-BE49-F238E27FC236}">
                <a16:creationId xmlns:a16="http://schemas.microsoft.com/office/drawing/2014/main" id="{70AF1508-2897-4E70-92B6-67C6A89DDF4B}"/>
              </a:ext>
            </a:extLst>
          </p:cNvPr>
          <p:cNvGrpSpPr/>
          <p:nvPr>
            <p:custDataLst>
              <p:tags r:id="rId4"/>
            </p:custDataLst>
          </p:nvPr>
        </p:nvGrpSpPr>
        <p:grpSpPr>
          <a:xfrm>
            <a:off x="381000" y="1428317"/>
            <a:ext cx="2662237" cy="4052292"/>
            <a:chOff x="1071563" y="1428317"/>
            <a:chExt cx="7000875" cy="4345641"/>
          </a:xfrm>
        </p:grpSpPr>
        <p:cxnSp>
          <p:nvCxnSpPr>
            <p:cNvPr id="22" name="Straight Connector 21">
              <a:extLst>
                <a:ext uri="{FF2B5EF4-FFF2-40B4-BE49-F238E27FC236}">
                  <a16:creationId xmlns:a16="http://schemas.microsoft.com/office/drawing/2014/main" id="{71404ADB-3E98-481D-9597-40CD0E2A313C}"/>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7F5B5DC-551E-41AE-BF66-4AB1E6ABB81A}"/>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4CFD9-260D-46B8-AF4F-870403878260}"/>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036757B-F06D-4E20-9282-A8FF9D6175DB}"/>
                </a:ext>
              </a:extLst>
            </p:cNvPr>
            <p:cNvCxnSpPr>
              <a:cxnSpLocks/>
            </p:cNvCxnSpPr>
            <p:nvPr/>
          </p:nvCxnSpPr>
          <p:spPr>
            <a:xfrm rot="5400000">
              <a:off x="4456082" y="5675899"/>
              <a:ext cx="1961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D009F42-8219-4094-9CC2-F2B7670971BF}"/>
                </a:ext>
              </a:extLst>
            </p:cNvPr>
            <p:cNvSpPr/>
            <p:nvPr>
              <p:custDataLst>
                <p:tags r:id="rId15"/>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11" name="Rectangle 10">
              <a:extLst>
                <a:ext uri="{FF2B5EF4-FFF2-40B4-BE49-F238E27FC236}">
                  <a16:creationId xmlns:a16="http://schemas.microsoft.com/office/drawing/2014/main" id="{245FF189-AAF0-4FFB-88FB-01D4DF347755}"/>
                </a:ext>
              </a:extLst>
            </p:cNvPr>
            <p:cNvSpPr/>
            <p:nvPr>
              <p:custDataLst>
                <p:tags r:id="rId16"/>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13" name="Straight Connector 12">
              <a:extLst>
                <a:ext uri="{FF2B5EF4-FFF2-40B4-BE49-F238E27FC236}">
                  <a16:creationId xmlns:a16="http://schemas.microsoft.com/office/drawing/2014/main" id="{1481658E-174A-4B8C-A0F6-8F38D5C146AC}"/>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4CC4D3-AE60-4E01-A3B8-ECE0FDFD30A5}"/>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8172EE4-4B58-442A-AD32-447CB0566418}"/>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40439B3-031E-41E8-ACAF-E3944D2657EC}"/>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2D7A2886-7379-423F-85D4-322ACFAFD94C}"/>
                </a:ext>
              </a:extLst>
            </p:cNvPr>
            <p:cNvSpPr/>
            <p:nvPr>
              <p:custDataLst>
                <p:tags r:id="rId17"/>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15" name="Straight Connector 14">
              <a:extLst>
                <a:ext uri="{FF2B5EF4-FFF2-40B4-BE49-F238E27FC236}">
                  <a16:creationId xmlns:a16="http://schemas.microsoft.com/office/drawing/2014/main" id="{EDD64322-E63E-49AB-8A7A-1A61875339C8}"/>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A824B9C7-BB45-44EA-98B8-0E08D03BA1C5}"/>
              </a:ext>
            </a:extLst>
          </p:cNvPr>
          <p:cNvGrpSpPr/>
          <p:nvPr>
            <p:custDataLst>
              <p:tags r:id="rId5"/>
            </p:custDataLst>
          </p:nvPr>
        </p:nvGrpSpPr>
        <p:grpSpPr>
          <a:xfrm>
            <a:off x="3200400" y="1428317"/>
            <a:ext cx="2662237" cy="4210483"/>
            <a:chOff x="1071563" y="1428317"/>
            <a:chExt cx="7000875" cy="4515283"/>
          </a:xfrm>
        </p:grpSpPr>
        <p:cxnSp>
          <p:nvCxnSpPr>
            <p:cNvPr id="53" name="Straight Connector 52">
              <a:extLst>
                <a:ext uri="{FF2B5EF4-FFF2-40B4-BE49-F238E27FC236}">
                  <a16:creationId xmlns:a16="http://schemas.microsoft.com/office/drawing/2014/main" id="{81DDBB36-68F0-4CA6-B2D1-836A5605CB88}"/>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545AD1D-DA5F-4C5C-A78F-DD0813B87F96}"/>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A7953A7-EAAF-4523-880D-D7776D8FE399}"/>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98CA5E0-638C-4C69-873B-00BFE17AA1C7}"/>
                </a:ext>
              </a:extLst>
            </p:cNvPr>
            <p:cNvCxnSpPr>
              <a:cxnSpLocks/>
            </p:cNvCxnSpPr>
            <p:nvPr/>
          </p:nvCxnSpPr>
          <p:spPr>
            <a:xfrm rot="5400000">
              <a:off x="4371260" y="57607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5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EB72AC71-495C-4E3D-BE0F-8C2118A50A0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C2E7FDB8-8340-4A77-8ED3-BF3F94566A38}"/>
                </a:ext>
              </a:extLst>
            </p:cNvPr>
            <p:cNvSpPr/>
            <p:nvPr>
              <p:custDataLst>
                <p:tags r:id="rId12"/>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59" name="Rectangle 58">
              <a:extLst>
                <a:ext uri="{FF2B5EF4-FFF2-40B4-BE49-F238E27FC236}">
                  <a16:creationId xmlns:a16="http://schemas.microsoft.com/office/drawing/2014/main" id="{46059270-04A6-4500-B528-F8A835466CD0}"/>
                </a:ext>
              </a:extLst>
            </p:cNvPr>
            <p:cNvSpPr/>
            <p:nvPr>
              <p:custDataLst>
                <p:tags r:id="rId13"/>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60" name="Straight Connector 59">
              <a:extLst>
                <a:ext uri="{FF2B5EF4-FFF2-40B4-BE49-F238E27FC236}">
                  <a16:creationId xmlns:a16="http://schemas.microsoft.com/office/drawing/2014/main" id="{28CC5CFF-C1A4-4557-8AB1-107BBEFBC980}"/>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F68C595-F513-4652-B8C1-C1A6A903FC92}"/>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BD70B5E-948C-4C0E-96AE-2D079191828B}"/>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2221236-3860-476B-9434-643870C0DCC7}"/>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17DA5B1-D072-4B57-988E-B7E4C99A2DA4}"/>
                </a:ext>
              </a:extLst>
            </p:cNvPr>
            <p:cNvSpPr/>
            <p:nvPr>
              <p:custDataLst>
                <p:tags r:id="rId14"/>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65" name="Straight Connector 64">
              <a:extLst>
                <a:ext uri="{FF2B5EF4-FFF2-40B4-BE49-F238E27FC236}">
                  <a16:creationId xmlns:a16="http://schemas.microsoft.com/office/drawing/2014/main" id="{CE39FB94-99FE-4ACD-99EA-8DCAEDF6FE16}"/>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grpSp>
        <p:nvGrpSpPr>
          <p:cNvPr id="66" name="Group 65">
            <a:extLst>
              <a:ext uri="{FF2B5EF4-FFF2-40B4-BE49-F238E27FC236}">
                <a16:creationId xmlns:a16="http://schemas.microsoft.com/office/drawing/2014/main" id="{DEA36ADE-73F4-4034-941A-30C83533DB4C}"/>
              </a:ext>
            </a:extLst>
          </p:cNvPr>
          <p:cNvGrpSpPr/>
          <p:nvPr>
            <p:custDataLst>
              <p:tags r:id="rId6"/>
            </p:custDataLst>
          </p:nvPr>
        </p:nvGrpSpPr>
        <p:grpSpPr>
          <a:xfrm>
            <a:off x="6024563" y="1428317"/>
            <a:ext cx="2662237" cy="4052292"/>
            <a:chOff x="1071563" y="1428317"/>
            <a:chExt cx="7000875" cy="4345641"/>
          </a:xfrm>
        </p:grpSpPr>
        <p:cxnSp>
          <p:nvCxnSpPr>
            <p:cNvPr id="67" name="Straight Connector 66">
              <a:extLst>
                <a:ext uri="{FF2B5EF4-FFF2-40B4-BE49-F238E27FC236}">
                  <a16:creationId xmlns:a16="http://schemas.microsoft.com/office/drawing/2014/main" id="{C61248E0-A76E-4380-9764-6F542B27C9A5}"/>
                </a:ext>
              </a:extLst>
            </p:cNvPr>
            <p:cNvCxnSpPr>
              <a:cxnSpLocks/>
            </p:cNvCxnSpPr>
            <p:nvPr/>
          </p:nvCxnSpPr>
          <p:spPr>
            <a:xfrm rot="5400000">
              <a:off x="2006449"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602C4EDC-2DF9-4803-87E9-BE97687AEC25}"/>
                </a:ext>
              </a:extLst>
            </p:cNvPr>
            <p:cNvCxnSpPr>
              <a:cxnSpLocks/>
            </p:cNvCxnSpPr>
            <p:nvPr/>
          </p:nvCxnSpPr>
          <p:spPr>
            <a:xfrm rot="5400000">
              <a:off x="6903720" y="454152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F58ED7-7F1B-46A8-84D9-8AA44357D100}"/>
                </a:ext>
              </a:extLst>
            </p:cNvPr>
            <p:cNvCxnSpPr>
              <a:cxnSpLocks/>
            </p:cNvCxnSpPr>
            <p:nvPr/>
          </p:nvCxnSpPr>
          <p:spPr>
            <a:xfrm rot="5400000">
              <a:off x="4371260" y="4907280"/>
              <a:ext cx="365760"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89630B8-1FF8-43B1-B6A9-D39E45DEC418}"/>
                </a:ext>
              </a:extLst>
            </p:cNvPr>
            <p:cNvCxnSpPr>
              <a:cxnSpLocks/>
            </p:cNvCxnSpPr>
            <p:nvPr/>
          </p:nvCxnSpPr>
          <p:spPr>
            <a:xfrm rot="5400000">
              <a:off x="4456082" y="5675899"/>
              <a:ext cx="1961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pic>
          <p:nvPicPr>
            <p:cNvPr id="71"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6E6505CC-84CD-40BC-A6FA-A3D77A23961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1563" y="1428317"/>
              <a:ext cx="7000875" cy="2465766"/>
            </a:xfrm>
            <a:prstGeom prst="rect">
              <a:avLst/>
            </a:prstGeom>
            <a:noFill/>
            <a:ln/>
            <a:extLst>
              <a:ext uri="{909E8E84-426E-40DD-AFC4-6F175D3DCCD1}">
                <a14:hiddenFill xmlns:a14="http://schemas.microsoft.com/office/drawing/2010/main">
                  <a:solidFill>
                    <a:srgbClr val="FFFFFF"/>
                  </a:solidFill>
                </a14:hiddenFill>
              </a:ext>
            </a:extLst>
          </p:spPr>
        </p:pic>
        <p:sp>
          <p:nvSpPr>
            <p:cNvPr id="72" name="Rectangle 71">
              <a:extLst>
                <a:ext uri="{FF2B5EF4-FFF2-40B4-BE49-F238E27FC236}">
                  <a16:creationId xmlns:a16="http://schemas.microsoft.com/office/drawing/2014/main" id="{BEA8895F-B154-4523-A255-C6D08CBF7CD7}"/>
                </a:ext>
              </a:extLst>
            </p:cNvPr>
            <p:cNvSpPr/>
            <p:nvPr>
              <p:custDataLst>
                <p:tags r:id="rId9"/>
              </p:custDataLst>
            </p:nvPr>
          </p:nvSpPr>
          <p:spPr>
            <a:xfrm>
              <a:off x="1376362" y="3886200"/>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L1-I cache</a:t>
              </a:r>
            </a:p>
          </p:txBody>
        </p:sp>
        <p:sp>
          <p:nvSpPr>
            <p:cNvPr id="73" name="Rectangle 72">
              <a:extLst>
                <a:ext uri="{FF2B5EF4-FFF2-40B4-BE49-F238E27FC236}">
                  <a16:creationId xmlns:a16="http://schemas.microsoft.com/office/drawing/2014/main" id="{430B70B5-AB08-4CBC-BB52-94C88C39C21A}"/>
                </a:ext>
              </a:extLst>
            </p:cNvPr>
            <p:cNvSpPr/>
            <p:nvPr>
              <p:custDataLst>
                <p:tags r:id="rId10"/>
              </p:custDataLst>
            </p:nvPr>
          </p:nvSpPr>
          <p:spPr>
            <a:xfrm>
              <a:off x="6176962" y="3866717"/>
              <a:ext cx="1595438"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L1-D cache</a:t>
              </a:r>
            </a:p>
          </p:txBody>
        </p:sp>
        <p:cxnSp>
          <p:nvCxnSpPr>
            <p:cNvPr id="74" name="Straight Connector 73">
              <a:extLst>
                <a:ext uri="{FF2B5EF4-FFF2-40B4-BE49-F238E27FC236}">
                  <a16:creationId xmlns:a16="http://schemas.microsoft.com/office/drawing/2014/main" id="{7E0B8AB1-06BE-4516-A112-C6902418BB68}"/>
                </a:ext>
              </a:extLst>
            </p:cNvPr>
            <p:cNvCxnSpPr>
              <a:cxnSpLocks/>
            </p:cNvCxnSpPr>
            <p:nvPr/>
          </p:nvCxnSpPr>
          <p:spPr>
            <a:xfrm flipV="1">
              <a:off x="1376362" y="3027187"/>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8263AF4-188A-4FDA-B1B9-F1702721182A}"/>
                </a:ext>
              </a:extLst>
            </p:cNvPr>
            <p:cNvCxnSpPr>
              <a:cxnSpLocks/>
            </p:cNvCxnSpPr>
            <p:nvPr/>
          </p:nvCxnSpPr>
          <p:spPr>
            <a:xfrm flipH="1" flipV="1">
              <a:off x="2390908" y="3028624"/>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8CD463B3-4801-4104-B5BF-F3271FC98426}"/>
                </a:ext>
              </a:extLst>
            </p:cNvPr>
            <p:cNvCxnSpPr>
              <a:cxnSpLocks/>
            </p:cNvCxnSpPr>
            <p:nvPr/>
          </p:nvCxnSpPr>
          <p:spPr>
            <a:xfrm flipV="1">
              <a:off x="6172200" y="3015139"/>
              <a:ext cx="501607" cy="86689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28E2841-6D7F-4EDD-B6B7-93420FFFEE65}"/>
                </a:ext>
              </a:extLst>
            </p:cNvPr>
            <p:cNvCxnSpPr>
              <a:cxnSpLocks/>
            </p:cNvCxnSpPr>
            <p:nvPr/>
          </p:nvCxnSpPr>
          <p:spPr>
            <a:xfrm flipH="1" flipV="1">
              <a:off x="7186746" y="3016576"/>
              <a:ext cx="580892" cy="857576"/>
            </a:xfrm>
            <a:prstGeom prst="line">
              <a:avLst/>
            </a:prstGeom>
            <a:noFill/>
            <a:ln w="25400" cap="flat" cmpd="sng" algn="ctr">
              <a:solidFill>
                <a:schemeClr val="accent6">
                  <a:lumMod val="75000"/>
                </a:schemeClr>
              </a:solidFill>
              <a:prstDash val="sysDash"/>
            </a:ln>
            <a:effectLst/>
          </p:spPr>
          <p:style>
            <a:lnRef idx="1">
              <a:schemeClr val="accent1"/>
            </a:lnRef>
            <a:fillRef idx="0">
              <a:schemeClr val="accent1"/>
            </a:fillRef>
            <a:effectRef idx="0">
              <a:schemeClr val="accent1"/>
            </a:effectRef>
            <a:fontRef idx="minor">
              <a:schemeClr val="tx1"/>
            </a:fontRef>
          </p:style>
        </p:cxnSp>
        <p:sp>
          <p:nvSpPr>
            <p:cNvPr id="78" name="Rectangle 77">
              <a:extLst>
                <a:ext uri="{FF2B5EF4-FFF2-40B4-BE49-F238E27FC236}">
                  <a16:creationId xmlns:a16="http://schemas.microsoft.com/office/drawing/2014/main" id="{4B99CDC0-E679-4BFB-934B-082C6E6164EF}"/>
                </a:ext>
              </a:extLst>
            </p:cNvPr>
            <p:cNvSpPr/>
            <p:nvPr>
              <p:custDataLst>
                <p:tags r:id="rId11"/>
              </p:custDataLst>
            </p:nvPr>
          </p:nvSpPr>
          <p:spPr>
            <a:xfrm>
              <a:off x="2906701" y="5029200"/>
              <a:ext cx="3330597"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unified I/D</a:t>
              </a:r>
            </a:p>
            <a:p>
              <a:pPr algn="ctr"/>
              <a:r>
                <a:rPr lang="en-US" sz="1400" b="1" dirty="0">
                  <a:solidFill>
                    <a:schemeClr val="tx1"/>
                  </a:solidFill>
                </a:rPr>
                <a:t>L2 cache</a:t>
              </a:r>
            </a:p>
          </p:txBody>
        </p:sp>
        <p:cxnSp>
          <p:nvCxnSpPr>
            <p:cNvPr id="79" name="Straight Connector 78">
              <a:extLst>
                <a:ext uri="{FF2B5EF4-FFF2-40B4-BE49-F238E27FC236}">
                  <a16:creationId xmlns:a16="http://schemas.microsoft.com/office/drawing/2014/main" id="{08AE09DA-A9F0-4D73-906F-91123C1CBA61}"/>
                </a:ext>
              </a:extLst>
            </p:cNvPr>
            <p:cNvCxnSpPr/>
            <p:nvPr/>
          </p:nvCxnSpPr>
          <p:spPr>
            <a:xfrm>
              <a:off x="2174081" y="4724400"/>
              <a:ext cx="4912519" cy="0"/>
            </a:xfrm>
            <a:prstGeom prst="line">
              <a:avLst/>
            </a:prstGeom>
            <a:noFill/>
            <a:ln w="25400" cap="flat" cmpd="sng" algn="ctr">
              <a:solidFill>
                <a:schemeClr val="tx1"/>
              </a:solidFill>
              <a:prstDash val="solid"/>
            </a:ln>
            <a:effectLst/>
          </p:spPr>
          <p:style>
            <a:lnRef idx="1">
              <a:schemeClr val="accent1"/>
            </a:lnRef>
            <a:fillRef idx="0">
              <a:schemeClr val="accent1"/>
            </a:fillRef>
            <a:effectRef idx="0">
              <a:schemeClr val="accent1"/>
            </a:effectRef>
            <a:fontRef idx="minor">
              <a:schemeClr val="tx1"/>
            </a:fontRef>
          </p:style>
        </p:cxnSp>
      </p:grpSp>
      <p:cxnSp>
        <p:nvCxnSpPr>
          <p:cNvPr id="80" name="Straight Connector 79">
            <a:extLst>
              <a:ext uri="{FF2B5EF4-FFF2-40B4-BE49-F238E27FC236}">
                <a16:creationId xmlns:a16="http://schemas.microsoft.com/office/drawing/2014/main" id="{18386195-9157-44FD-BA5B-D401F6A36FC5}"/>
              </a:ext>
            </a:extLst>
          </p:cNvPr>
          <p:cNvCxnSpPr/>
          <p:nvPr/>
        </p:nvCxnSpPr>
        <p:spPr>
          <a:xfrm>
            <a:off x="1676400" y="5486400"/>
            <a:ext cx="56692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27A35C7-00B1-4F0B-8D33-7E6A2E460038}"/>
              </a:ext>
            </a:extLst>
          </p:cNvPr>
          <p:cNvCxnSpPr>
            <a:cxnSpLocks/>
          </p:cNvCxnSpPr>
          <p:nvPr/>
        </p:nvCxnSpPr>
        <p:spPr>
          <a:xfrm rot="5400000">
            <a:off x="4204687" y="5958840"/>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5C4F596C-7CDC-40AA-AC7D-C5FB7C554EFF}"/>
              </a:ext>
            </a:extLst>
          </p:cNvPr>
          <p:cNvSpPr/>
          <p:nvPr>
            <p:custDataLst>
              <p:tags r:id="rId7"/>
            </p:custDataLst>
          </p:nvPr>
        </p:nvSpPr>
        <p:spPr>
          <a:xfrm>
            <a:off x="1731234" y="6248400"/>
            <a:ext cx="5681530" cy="533400"/>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 memory</a:t>
            </a:r>
          </a:p>
        </p:txBody>
      </p:sp>
      <p:sp>
        <p:nvSpPr>
          <p:cNvPr id="49" name="Rectangle 48">
            <a:extLst>
              <a:ext uri="{FF2B5EF4-FFF2-40B4-BE49-F238E27FC236}">
                <a16:creationId xmlns:a16="http://schemas.microsoft.com/office/drawing/2014/main" id="{14E930D7-3FF6-42A4-9FB0-F9DB0D06EDCA}"/>
              </a:ext>
            </a:extLst>
          </p:cNvPr>
          <p:cNvSpPr/>
          <p:nvPr>
            <p:custDataLst>
              <p:tags r:id="rId8"/>
            </p:custDataLst>
          </p:nvPr>
        </p:nvSpPr>
        <p:spPr>
          <a:xfrm>
            <a:off x="3048000" y="5638800"/>
            <a:ext cx="2942933" cy="390713"/>
          </a:xfrm>
          <a:prstGeom prst="rect">
            <a:avLst/>
          </a:prstGeom>
          <a:solidFill>
            <a:schemeClr val="bg1">
              <a:lumMod val="85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shared L3 cache</a:t>
            </a:r>
          </a:p>
        </p:txBody>
      </p:sp>
    </p:spTree>
    <p:custDataLst>
      <p:tags r:id="rId1"/>
    </p:custDataLst>
    <p:extLst>
      <p:ext uri="{BB962C8B-B14F-4D97-AF65-F5344CB8AC3E}">
        <p14:creationId xmlns:p14="http://schemas.microsoft.com/office/powerpoint/2010/main" val="124614094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39307AE-3ED1-42FC-B3CA-2E7E0171E784}"/>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Exercise</a:t>
            </a:r>
          </a:p>
        </p:txBody>
      </p:sp>
      <p:sp>
        <p:nvSpPr>
          <p:cNvPr id="5123" name="Rectangle 3">
            <a:extLst>
              <a:ext uri="{FF2B5EF4-FFF2-40B4-BE49-F238E27FC236}">
                <a16:creationId xmlns:a16="http://schemas.microsoft.com/office/drawing/2014/main" id="{EF56DE11-1CD6-4AB1-ADE4-E75FAD219132}"/>
              </a:ext>
            </a:extLst>
          </p:cNvPr>
          <p:cNvSpPr>
            <a:spLocks noGrp="1" noChangeArrowheads="1"/>
          </p:cNvSpPr>
          <p:nvPr>
            <p:ph idx="1"/>
            <p:custDataLst>
              <p:tags r:id="rId3"/>
            </p:custDataLst>
          </p:nvPr>
        </p:nvSpPr>
        <p:spPr>
          <a:xfrm>
            <a:off x="457200" y="1600200"/>
            <a:ext cx="8229600" cy="3428999"/>
          </a:xfrm>
        </p:spPr>
        <p:txBody>
          <a:bodyPr/>
          <a:lstStyle/>
          <a:p>
            <a:pPr marL="0" indent="0" eaLnBrk="1" hangingPunct="1">
              <a:buNone/>
            </a:pPr>
            <a:r>
              <a:rPr lang="en-US" altLang="en-US" sz="2800" dirty="0"/>
              <a:t>Consider your program running on a parallel processor. If your program is 75% parallelizable, what would be the speedup of your entire program when executed on a five-core parallel processor?</a:t>
            </a:r>
          </a:p>
          <a:p>
            <a:pPr marL="0" indent="0" eaLnBrk="1" hangingPunct="1">
              <a:buNone/>
            </a:pPr>
            <a:endParaRPr lang="en-US" altLang="en-US" sz="2800" dirty="0"/>
          </a:p>
          <a:p>
            <a:pPr marL="0" indent="0" eaLnBrk="1" hangingPunct="1">
              <a:buNone/>
            </a:pPr>
            <a:r>
              <a:rPr lang="en-US" altLang="en-US" sz="2800" b="1" dirty="0">
                <a:solidFill>
                  <a:schemeClr val="accent6">
                    <a:lumMod val="75000"/>
                  </a:schemeClr>
                </a:solidFill>
              </a:rPr>
              <a:t>speedup = 1 / (25% + 75%/5) = 2.5x</a:t>
            </a:r>
          </a:p>
        </p:txBody>
      </p:sp>
      <p:sp>
        <p:nvSpPr>
          <p:cNvPr id="5124" name="Slide Number Placeholder 5">
            <a:extLst>
              <a:ext uri="{FF2B5EF4-FFF2-40B4-BE49-F238E27FC236}">
                <a16:creationId xmlns:a16="http://schemas.microsoft.com/office/drawing/2014/main" id="{A1055087-C230-4EE2-AFF5-40A64843586C}"/>
              </a:ext>
            </a:extLst>
          </p:cNvPr>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1" hangingPunct="1">
              <a:spcBef>
                <a:spcPct val="0"/>
              </a:spcBef>
              <a:buFontTx/>
              <a:buNone/>
            </a:pPr>
            <a:fld id="{53E60991-BA97-453A-8B8F-ABCF2169B25C}" type="slidenum">
              <a:rPr lang="en-US" altLang="en-US" sz="1400"/>
              <a:pPr lvl="1" eaLnBrk="1" hangingPunct="1">
                <a:spcBef>
                  <a:spcPct val="0"/>
                </a:spcBef>
                <a:buFontTx/>
                <a:buNone/>
              </a:pPr>
              <a:t>28</a:t>
            </a:fld>
            <a:endParaRPr lang="en-US" altLang="en-US" sz="14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223510580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PERSISTENCEDATA" val="MMPROD_UIPERSISTENCEDATA"/>
  <p:tag name="MMPROD_THEME_BG_IMAGE" val=""/>
  <p:tag name="MMPROD_UIDATA" val="&lt;database version=&quot;11.0&quot;&gt;&lt;object type=&quot;1&quot; unique_id=&quot;10001&quot;&gt;&lt;property id=&quot;20141&quot; value=&quot;ECE/CS 552 - Parallel Processors&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ParallelProcessors&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20554&quot;&gt;&lt;object type=&quot;3&quot; unique_id=&quot;20556&quot;&gt;&lt;property id=&quot;20148&quot; value=&quot;5&quot;/&gt;&lt;property id=&quot;20300&quot; value=&quot;Slide 2 - &amp;quot;Forecast&amp;quot;&quot;/&gt;&lt;property id=&quot;20307&quot; value=&quot;505&quot;/&gt;&lt;property id=&quot;20309&quot; value=&quot;-1&quot;/&gt;&lt;/object&gt;&lt;object type=&quot;3&quot; unique_id=&quot;20705&quot;&gt;&lt;property id=&quot;20148&quot; value=&quot;5&quot;/&gt;&lt;property id=&quot;20300&quot; value=&quot;Slide 1 - &amp;quot;ECE/CS 552: Parallel Processors&amp;quot;&quot;/&gt;&lt;property id=&quot;20307&quot; value=&quot;540&quot;/&gt;&lt;property id=&quot;20309&quot; value=&quot;-1&quot;/&gt;&lt;/object&gt;&lt;object type=&quot;3&quot; unique_id=&quot;21838&quot;&gt;&lt;property id=&quot;20148&quot; value=&quot;5&quot;/&gt;&lt;property id=&quot;20300&quot; value=&quot;Slide 9 - &amp;quot;Types of Parallelism&amp;quot;&quot;/&gt;&lt;property id=&quot;20307&quot; value=&quot;667&quot;/&gt;&lt;property id=&quot;20309&quot; value=&quot;-1&quot;/&gt;&lt;/object&gt;&lt;object type=&quot;3&quot; unique_id=&quot;21841&quot;&gt;&lt;property id=&quot;20148&quot; value=&quot;5&quot;/&gt;&lt;property id=&quot;20300&quot; value=&quot;Slide 10 - &amp;quot;Concurrency and Parallelism&amp;quot;&quot;/&gt;&lt;property id=&quot;20307&quot; value=&quot;670&quot;/&gt;&lt;property id=&quot;20309&quot; value=&quot;-1&quot;/&gt;&lt;/object&gt;&lt;object type=&quot;3&quot; unique_id=&quot;21842&quot;&gt;&lt;property id=&quot;20148&quot; value=&quot;5&quot;/&gt;&lt;property id=&quot;20300&quot; value=&quot;Slide 11 - &amp;quot;Parallelism and Concurrency&amp;quot;&quot;/&gt;&lt;property id=&quot;20307&quot; value=&quot;671&quot;/&gt;&lt;property id=&quot;20309&quot; value=&quot;-1&quot;/&gt;&lt;/object&gt;&lt;object type=&quot;3&quot; unique_id=&quot;21843&quot;&gt;&lt;property id=&quot;20148&quot; value=&quot;5&quot;/&gt;&lt;property id=&quot;20300&quot; value=&quot;Slide 12 - &amp;quot;Parallelism and Concurrency&amp;quot;&quot;/&gt;&lt;property id=&quot;20307&quot; value=&quot;691&quot;/&gt;&lt;property id=&quot;20309&quot; value=&quot;-1&quot;/&gt;&lt;/object&gt;&lt;object type=&quot;3&quot; unique_id=&quot;21844&quot;&gt;&lt;property id=&quot;20148&quot; value=&quot;5&quot;/&gt;&lt;property id=&quot;20300&quot; value=&quot;Slide 13 - &amp;quot;Parallelism and Concurrency&amp;quot;&quot;/&gt;&lt;property id=&quot;20307&quot; value=&quot;672&quot;/&gt;&lt;property id=&quot;20309&quot; value=&quot;-1&quot;/&gt;&lt;/object&gt;&lt;object type=&quot;3&quot; unique_id=&quot;21846&quot;&gt;&lt;property id=&quot;20148&quot; value=&quot;5&quot;/&gt;&lt;property id=&quot;20300&quot; value=&quot;Slide 14 - &amp;quot;Parallelism and Concurrency&amp;quot;&quot;/&gt;&lt;property id=&quot;20307&quot; value=&quot;673&quot;/&gt;&lt;property id=&quot;20309&quot; value=&quot;-1&quot;/&gt;&lt;/object&gt;&lt;object type=&quot;3&quot; unique_id=&quot;21847&quot;&gt;&lt;property id=&quot;20148&quot; value=&quot;5&quot;/&gt;&lt;property id=&quot;20300&quot; value=&quot;Slide 15 - &amp;quot;Parallelism and Concurrency&amp;quot;&quot;/&gt;&lt;property id=&quot;20307&quot; value=&quot;675&quot;/&gt;&lt;property id=&quot;20309&quot; value=&quot;-1&quot;/&gt;&lt;/object&gt;&lt;object type=&quot;3&quot; unique_id=&quot;21848&quot;&gt;&lt;property id=&quot;20148&quot; value=&quot;5&quot;/&gt;&lt;property id=&quot;20300&quot; value=&quot;Slide 16 - &amp;quot;Parallelism and Concurrency&amp;quot;&quot;/&gt;&lt;property id=&quot;20307&quot; value=&quot;674&quot;/&gt;&lt;property id=&quot;20309&quot; value=&quot;-1&quot;/&gt;&lt;/object&gt;&lt;object type=&quot;3&quot; unique_id=&quot;21849&quot;&gt;&lt;property id=&quot;20148&quot; value=&quot;5&quot;/&gt;&lt;property id=&quot;20300&quot; value=&quot;Slide 17 - &amp;quot;Parallelism and Concurrency&amp;quot;&quot;/&gt;&lt;property id=&quot;20307&quot; value=&quot;676&quot;/&gt;&lt;property id=&quot;20309&quot; value=&quot;-1&quot;/&gt;&lt;/object&gt;&lt;object type=&quot;3&quot; unique_id=&quot;21850&quot;&gt;&lt;property id=&quot;20148&quot; value=&quot;5&quot;/&gt;&lt;property id=&quot;20300&quot; value=&quot;Slide 18 - &amp;quot;Parallelism and Concurrency&amp;quot;&quot;/&gt;&lt;property id=&quot;20307&quot; value=&quot;677&quot;/&gt;&lt;property id=&quot;20309&quot; value=&quot;-1&quot;/&gt;&lt;/object&gt;&lt;object type=&quot;3&quot; unique_id=&quot;21851&quot;&gt;&lt;property id=&quot;20148&quot; value=&quot;5&quot;/&gt;&lt;property id=&quot;20300&quot; value=&quot;Slide 19 - &amp;quot;Parallelism and Concurrency&amp;quot;&quot;/&gt;&lt;property id=&quot;20307&quot; value=&quot;678&quot;/&gt;&lt;property id=&quot;20309&quot; value=&quot;-1&quot;/&gt;&lt;/object&gt;&lt;object type=&quot;3&quot; unique_id=&quot;21854&quot;&gt;&lt;property id=&quot;20148&quot; value=&quot;5&quot;/&gt;&lt;property id=&quot;20300&quot; value=&quot;Slide 20 - &amp;quot;Parallel Speedup&amp;quot;&quot;/&gt;&lt;property id=&quot;20307&quot; value=&quot;682&quot;/&gt;&lt;property id=&quot;20309&quot; value=&quot;-1&quot;/&gt;&lt;/object&gt;&lt;object type=&quot;3&quot; unique_id=&quot;21857&quot;&gt;&lt;property id=&quot;20148&quot; value=&quot;5&quot;/&gt;&lt;property id=&quot;20300&quot; value=&quot;Slide 21 - &amp;quot;Amdahl’s Law&amp;quot;&quot;/&gt;&lt;property id=&quot;20307&quot; value=&quot;685&quot;/&gt;&lt;property id=&quot;20309&quot; value=&quot;-1&quot;/&gt;&lt;/object&gt;&lt;object type=&quot;3&quot; unique_id=&quot;21858&quot;&gt;&lt;property id=&quot;20148&quot; value=&quot;5&quot;/&gt;&lt;property id=&quot;20300&quot; value=&quot;Slide 22 - &amp;quot;Amdahl’s Law – 75% Parallel&amp;quot;&quot;/&gt;&lt;property id=&quot;20307&quot; value=&quot;686&quot;/&gt;&lt;property id=&quot;20309&quot; value=&quot;-1&quot;/&gt;&lt;/object&gt;&lt;object type=&quot;3&quot; unique_id=&quot;21861&quot;&gt;&lt;property id=&quot;20148&quot; value=&quot;5&quot;/&gt;&lt;property id=&quot;20300&quot; value=&quot;Slide 23 - &amp;quot;Amdahl’s Law – 98% Parallel&amp;quot;&quot;/&gt;&lt;property id=&quot;20307&quot; value=&quot;688&quot;/&gt;&lt;property id=&quot;20309&quot; value=&quot;-1&quot;/&gt;&lt;/object&gt;&lt;object type=&quot;3&quot; unique_id=&quot;22073&quot;&gt;&lt;property id=&quot;20148&quot; value=&quot;5&quot;/&gt;&lt;property id=&quot;20300&quot; value=&quot;Slide 3 - &amp;quot;Why Multicore?&amp;quot;&quot;/&gt;&lt;property id=&quot;20307&quot; value=&quot;693&quot;/&gt;&lt;property id=&quot;20309&quot; value=&quot;-1&quot;/&gt;&lt;/object&gt;&lt;object type=&quot;3&quot; unique_id=&quot;22318&quot;&gt;&lt;property id=&quot;20148&quot; value=&quot;5&quot;/&gt;&lt;property id=&quot;20300&quot; value=&quot;Slide 4 - &amp;quot;Why Multicore?&amp;quot;&quot;/&gt;&lt;property id=&quot;20307&quot; value=&quot;694&quot;/&gt;&lt;property id=&quot;20309&quot; value=&quot;-1&quot;/&gt;&lt;/object&gt;&lt;object type=&quot;3&quot; unique_id=&quot;22319&quot;&gt;&lt;property id=&quot;20148&quot; value=&quot;5&quot;/&gt;&lt;property id=&quot;20300&quot; value=&quot;Slide 7 - &amp;quot;Why Multicore?&amp;quot;&quot;/&gt;&lt;property id=&quot;20307&quot; value=&quot;695&quot;/&gt;&lt;property id=&quot;20309&quot; value=&quot;-1&quot;/&gt;&lt;/object&gt;&lt;object type=&quot;3&quot; unique_id=&quot;22428&quot;&gt;&lt;property id=&quot;20148&quot; value=&quot;5&quot;/&gt;&lt;property id=&quot;20300&quot; value=&quot;Slide 5 - &amp;quot;Why Multicore?&amp;quot;&quot;/&gt;&lt;property id=&quot;20307&quot; value=&quot;696&quot;/&gt;&lt;property id=&quot;20309&quot; value=&quot;-1&quot;/&gt;&lt;/object&gt;&lt;object type=&quot;3&quot; unique_id=&quot;22540&quot;&gt;&lt;property id=&quot;20148&quot; value=&quot;5&quot;/&gt;&lt;property id=&quot;20300&quot; value=&quot;Slide 6 - &amp;quot;Why Multicore?&amp;quot;&quot;/&gt;&lt;property id=&quot;20307&quot; value=&quot;697&quot;/&gt;&lt;property id=&quot;20309&quot; value=&quot;-1&quot;/&gt;&lt;/object&gt;&lt;object type=&quot;3&quot; unique_id=&quot;22731&quot;&gt;&lt;property id=&quot;20148&quot; value=&quot;5&quot;/&gt;&lt;property id=&quot;20300&quot; value=&quot;Slide 8 - &amp;quot;Why Multicore?&amp;quot;&quot;/&gt;&lt;property id=&quot;20307&quot; value=&quot;698&quot;/&gt;&lt;property id=&quot;20309&quot; value=&quot;-1&quot;/&gt;&lt;/object&gt;&lt;object type=&quot;3&quot; unique_id=&quot;24361&quot;&gt;&lt;property id=&quot;20148&quot; value=&quot;5&quot;/&gt;&lt;property id=&quot;20300&quot; value=&quot;Slide 24 - &amp;quot;Flynn’s Taxonomy&amp;quot;&quot;/&gt;&lt;property id=&quot;20307&quot; value=&quot;699&quot;/&gt;&lt;property id=&quot;20309&quot; value=&quot;-1&quot;/&gt;&lt;/object&gt;&lt;object type=&quot;3&quot; unique_id=&quot;24377&quot;&gt;&lt;property id=&quot;20148&quot; value=&quot;5&quot;/&gt;&lt;property id=&quot;20300&quot; value=&quot;Slide 28 - &amp;quot;MIMD&amp;quot;&quot;/&gt;&lt;property id=&quot;20307&quot; value=&quot;715&quot;/&gt;&lt;property id=&quot;20309&quot; value=&quot;-1&quot;/&gt;&lt;/object&gt;&lt;object type=&quot;3&quot; unique_id=&quot;24381&quot;&gt;&lt;property id=&quot;20148&quot; value=&quot;5&quot;/&gt;&lt;property id=&quot;20300&quot; value=&quot;Slide 30 - &amp;quot;Multithreading&amp;quot;&quot;/&gt;&lt;property id=&quot;20307&quot; value=&quot;719&quot;/&gt;&lt;property id=&quot;20309&quot; value=&quot;-1&quot;/&gt;&lt;/object&gt;&lt;object type=&quot;3&quot; unique_id=&quot;24384&quot;&gt;&lt;property id=&quot;20148&quot; value=&quot;5&quot;/&gt;&lt;property id=&quot;20300&quot; value=&quot;Slide 31 - &amp;quot;Multithreading&amp;quot;&quot;/&gt;&lt;property id=&quot;20307&quot; value=&quot;722&quot;/&gt;&lt;property id=&quot;20309&quot; value=&quot;-1&quot;/&gt;&lt;/object&gt;&lt;object type=&quot;3&quot; unique_id=&quot;24386&quot;&gt;&lt;property id=&quot;20148&quot; value=&quot;5&quot;/&gt;&lt;property id=&quot;20300&quot; value=&quot;Slide 32 - &amp;quot;Simultaneous Multithreading&amp;quot;&quot;/&gt;&lt;property id=&quot;20307&quot; value=&quot;724&quot;/&gt;&lt;property id=&quot;20309&quot; value=&quot;-1&quot;/&gt;&lt;/object&gt;&lt;object type=&quot;3&quot; unique_id=&quot;24387&quot;&gt;&lt;property id=&quot;20148&quot; value=&quot;5&quot;/&gt;&lt;property id=&quot;20300&quot; value=&quot;Slide 33 - &amp;quot;Simultaneous Multithreading&amp;quot;&quot;/&gt;&lt;property id=&quot;20307&quot; value=&quot;725&quot;/&gt;&lt;property id=&quot;20309&quot; value=&quot;-1&quot;/&gt;&lt;/object&gt;&lt;object type=&quot;3&quot; unique_id=&quot;24388&quot;&gt;&lt;property id=&quot;20148&quot; value=&quot;5&quot;/&gt;&lt;property id=&quot;20300&quot; value=&quot;Slide 34 - &amp;quot;Simultaneous Multithreading&amp;quot;&quot;/&gt;&lt;property id=&quot;20307&quot; value=&quot;726&quot;/&gt;&lt;property id=&quot;20309&quot; value=&quot;-1&quot;/&gt;&lt;/object&gt;&lt;object type=&quot;3&quot; unique_id=&quot;24389&quot;&gt;&lt;property id=&quot;20148&quot; value=&quot;5&quot;/&gt;&lt;property id=&quot;20300&quot; value=&quot;Slide 35 - &amp;quot;Simultaneous Multithreading&amp;quot;&quot;/&gt;&lt;property id=&quot;20307&quot; value=&quot;727&quot;/&gt;&lt;property id=&quot;20309&quot; value=&quot;-1&quot;/&gt;&lt;/object&gt;&lt;object type=&quot;3&quot; unique_id=&quot;24766&quot;&gt;&lt;property id=&quot;20148&quot; value=&quot;5&quot;/&gt;&lt;property id=&quot;20300&quot; value=&quot;Slide 27 - &amp;quot;MIMD&amp;quot;&quot;/&gt;&lt;property id=&quot;20307&quot; value=&quot;728&quot;/&gt;&lt;property id=&quot;20309&quot; value=&quot;-1&quot;/&gt;&lt;/object&gt;&lt;object type=&quot;3&quot; unique_id=&quot;25508&quot;&gt;&lt;property id=&quot;20148&quot; value=&quot;5&quot;/&gt;&lt;property id=&quot;20300&quot; value=&quot;Slide 25 - &amp;quot;ILP vs. TLP&amp;quot;&quot;/&gt;&lt;property id=&quot;20307&quot; value=&quot;729&quot;/&gt;&lt;property id=&quot;20309&quot; value=&quot;-1&quot;/&gt;&lt;/object&gt;&lt;object type=&quot;3&quot; unique_id=&quot;25509&quot;&gt;&lt;property id=&quot;20148&quot; value=&quot;5&quot;/&gt;&lt;property id=&quot;20300&quot; value=&quot;Slide 29 - &amp;quot;Instruction-Level Parallelism&amp;quot;&quot;/&gt;&lt;property id=&quot;20307&quot; value=&quot;730&quot;/&gt;&lt;property id=&quot;20309&quot; value=&quot;-1&quot;/&gt;&lt;/object&gt;&lt;object type=&quot;3&quot; unique_id=&quot;26042&quot;&gt;&lt;property id=&quot;20148&quot; value=&quot;5&quot;/&gt;&lt;property id=&quot;20300&quot; value=&quot;Slide 36 - &amp;quot;Chip Multiprocessor&amp;quot;&quot;/&gt;&lt;property id=&quot;20307&quot; value=&quot;731&quot;/&gt;&lt;property id=&quot;20309&quot; value=&quot;-1&quot;/&gt;&lt;/object&gt;&lt;object type=&quot;3&quot; unique_id=&quot;26244&quot;&gt;&lt;property id=&quot;20148&quot; value=&quot;5&quot;/&gt;&lt;property id=&quot;20300&quot; value=&quot;Slide 26 - &amp;quot;Thread-Level Parallelism&amp;quot;&quot;/&gt;&lt;property id=&quot;20307&quot; value=&quot;732&quot;/&gt;&lt;property id=&quot;20309&quot; value=&quot;-1&quot;/&gt;&lt;/object&gt;&lt;object type=&quot;3&quot; unique_id=&quot;26955&quot;&gt;&lt;property id=&quot;20148&quot; value=&quot;5&quot;/&gt;&lt;property id=&quot;20300&quot; value=&quot;Slide 37 - &amp;quot;Exercise&amp;quot;&quot;/&gt;&lt;property id=&quot;20307&quot; value=&quot;733&quot;/&gt;&lt;property id=&quot;20309&quot; value=&quot;-1&quot;/&gt;&lt;/object&gt;&lt;/object&gt;&lt;object type=&quot;8&quot; unique_id=&quot;20628&quot;&gt;&lt;/object&gt;&lt;object type=&quot;10&quot; unique_id=&quot;21256&quot;&gt;&lt;object type=&quot;11&quot; unique_id=&quot;21257&quot;&gt;&lt;property id=&quot;20180&quot; value=&quot;0&quot;/&gt;&lt;property id=&quot;20181&quot; value=&quot;1&quot;/&gt;&lt;property id=&quot;20183&quot; value=&quot;1&quot;/&gt;&lt;/object&gt;&lt;object type=&quot;12&quot; unique_id=&quot;27044&quot;&gt;&lt;/object&gt;&lt;/object&gt;&lt;object type=&quot;4&quot; unique_id=&quot;21258&quot;&gt;&lt;/object&gt;&lt;/object&gt;&lt;/database&gt;"/>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1521406158,C:\Users\sanmi\GoogleDrive\UWMdrive\Courses\ECE552\ece552-lec17_ParallelProcessors_pptx\Media.ppcx"/>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DA727FE4-C3EB-4482-A830-A62B408CE1E1}_1.png&quot;/&gt;&lt;left val=&quot;35&quot;/&gt;&lt;top val=&quot;195&quot;/&gt;&lt;width val=&quot;648&quot;/&gt;&lt;height val=&quot;102&quot;/&gt;&lt;hasText val=&quot;1&quot;/&gt;&lt;/Image&gt;&lt;/ThreeDShapeInfo&gt;"/>
  <p:tag name="PRESENTER_SHAPETEXTINFO" val="&lt;ShapeTextInfo&gt;&lt;TableIndex row=&quot;-1&quot; col=&quot;-1&quot;&gt;&lt;linesCount val=&quot;1&quot;/&gt;&lt;lineCharCount val=&quot;31&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879321E5-2A43-4646-98B8-F53F4F532CC3}_1.png&quot;/&gt;&lt;left val=&quot;103&quot;/&gt;&lt;top val=&quot;302&quot;/&gt;&lt;width val=&quot;512&quot;/&gt;&lt;height val=&quot;163&quot;/&gt;&lt;hasText val=&quot;1&quot;/&gt;&lt;/Image&gt;&lt;/ThreeDShapeInfo&gt;"/>
  <p:tag name="PRESENTER_SHAPETEXTINFO" val="&lt;ShapeTextInfo&gt;&lt;TableIndex row=&quot;-1&quot; col=&quot;-1&quot;&gt;&lt;linesCount val=&quot;6&quot;/&gt;&lt;lineCharCount val=&quot;24&quot;/&gt;&lt;lineCharCount val=&quot;1&quot;/&gt;&lt;lineCharCount val=&quot;55&quot;/&gt;&lt;lineCharCount val=&quot;53&quot;/&gt;&lt;lineCharCount val=&quot;14&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1521406158,C:\Users\sanmi\GoogleDrive\UWMdrive\Courses\ECE552\ece552-lec17_ParallelProcessors_pptx\Media.ppcx"/>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7DD9C904-47C6-4DCB-8780-A23ED7C46F84}_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6B6021D-F1D4-4E66-B05E-865F881A3EED}_2.png&quot;/&gt;&lt;left val=&quot;24&quot;/&gt;&lt;top val=&quot;119&quot;/&gt;&lt;width val=&quot;659&quot;/&gt;&lt;height val=&quot;276&quot;/&gt;&lt;hasText val=&quot;1&quot;/&gt;&lt;/Image&gt;&lt;/ThreeDShapeInfo&gt;"/>
  <p:tag name="PRESENTER_SHAPETEXTINFO" val="&lt;ShapeTextInfo&gt;&lt;TableIndex row=&quot;-1&quot; col=&quot;-1&quot;&gt;&lt;linesCount val=&quot;3&quot;/&gt;&lt;lineCharCount val=&quot;15&quot;/&gt;&lt;lineCharCount val=&quot;12&quot;/&gt;&lt;lineCharCount val=&quot;14&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94F4B92E-CB80-4563-884E-C055BEA88C6C}_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1521406158,C:\Users\sanmi\GoogleDrive\UWMdrive\Courses\ECE552\ece552-lec17_ParallelProcessors_pptx\Media.ppcx"/>
  <p:tag name="TIMING" val="|27.9"/>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07C4831D-AD88-4C82-A3BB-CE4F0C7ECF2F}_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ParallelProcessors\data\asimages\{978EB6C7-C147-4CE9-92C2-1593C1877B26}_1.png_crop.png&quot;/&gt;&lt;left val=&quot;44&quot;/&gt;&lt;top val=&quot;137&quot;/&gt;&lt;width val=&quot;383&quot;/&gt;&lt;height val=&quot;27&quot;/&gt;&lt;hasText val=&quot;1&quot;/&gt;&lt;paraId val=&quot;1&quot;/&gt;&lt;/Image&gt;&lt;Image&gt;&lt;filename val=&quot;C:\Users\sanmi\Documents\My Adobe Presentations\ece552-ParallelProcessors\data\asimages\{9D837C52-88C3-46C2-B746-928324A12056}_1.png_crop.png&quot;/&gt;&lt;left val=&quot;683&quot;/&gt;&lt;top val=&quot;185&quot;/&gt;&lt;width val=&quot;0&quot;/&gt;&lt;height val=&quot;0&quot;/&gt;&lt;hasText val=&quot;1&quot;/&gt;&lt;paraId val=&quot;2&quot;/&gt;&lt;/Image&gt;&lt;Image&gt;&lt;filename val=&quot;C:\Users\sanmi\Documents\My Adobe Presentations\ece552-ParallelProcessors\data\asimages\{BF34E16F-4C06-45AE-9A58-EC7C60994276}_1.png_crop.png&quot;/&gt;&lt;left val=&quot;683&quot;/&gt;&lt;top val=&quot;185&quot;/&gt;&lt;width val=&quot;0&quot;/&gt;&lt;height val=&quot;0&quot;/&gt;&lt;hasText val=&quot;1&quot;/&gt;&lt;paraId val=&quot;3&quot;/&gt;&lt;/Image&gt;&lt;Image&gt;&lt;filename val=&quot;C:\Users\sanmi\Documents\My Adobe Presentations\ece552-ParallelProcessors\data\asimages\{A6639A4C-D929-4EE0-A901-B33936C40F08}_1.png_crop.png&quot;/&gt;&lt;left val=&quot;683&quot;/&gt;&lt;top val=&quot;185&quot;/&gt;&lt;width val=&quot;0&quot;/&gt;&lt;height val=&quot;0&quot;/&gt;&lt;hasText val=&quot;1&quot;/&gt;&lt;paraId val=&quot;4&quot;/&gt;&lt;/Image&gt;&lt;Image&gt;&lt;filename val=&quot;C:\Users\sanmi\Documents\My Adobe Presentations\ece552-ParallelProcessors\data\asimages\{47D0DC2D-5CA6-4ACA-890E-B8D20BBE2833}_1.png_crop.png&quot;/&gt;&lt;left val=&quot;78&quot;/&gt;&lt;top val=&quot;303&quot;/&gt;&lt;width val=&quot;320&quot;/&gt;&lt;height val=&quot;24&quot;/&gt;&lt;hasText val=&quot;1&quot;/&gt;&lt;paraId val=&quot;5&quot;/&gt;&lt;/Image&gt;&lt;Image&gt;&lt;filename val=&quot;C:\Users\sanmi\Documents\My Adobe Presentations\ece552-ParallelProcessors\data\asimages\{376CFDD0-11D2-44D3-A3C3-C6AC49AA7B29}_1.png_crop.png&quot;/&gt;&lt;left val=&quot;683&quot;/&gt;&lt;top val=&quot;185&quot;/&gt;&lt;width val=&quot;0&quot;/&gt;&lt;height val=&quot;0&quot;/&gt;&lt;hasText val=&quot;1&quot;/&gt;&lt;paraId val=&quot;6&quot;/&gt;&lt;/Image&gt;&lt;/TextEffect&gt;"/>
  <p:tag name="PRESENTER_SHAPETEXTINFO" val="&lt;ShapeTextInfo&gt;&lt;TableIndex row=&quot;-1&quot; col=&quot;-1&quot;&gt;&lt;linesCount val=&quot;6&quot;/&gt;&lt;lineCharCount val=&quot;31&quot;/&gt;&lt;lineCharCount val=&quot;1&quot;/&gt;&lt;lineCharCount val=&quot;1&quot;/&gt;&lt;lineCharCount val=&quot;1&quot;/&gt;&lt;lineCharCount val=&quot;25&quot;/&gt;&lt;lineCharCount val=&quot;1&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84A01D2F-FEA4-4373-B331-180DF7C9074C}_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E8D530E-A9BB-4A62-B30F-2E29E3F417FA}_3.png&quot;/&gt;&lt;left val=&quot;18&quot;/&gt;&lt;top val=&quot;167&quot;/&gt;&lt;width val=&quot;683&quot;/&gt;&lt;height val=&quot;183&quot;/&gt;&lt;hasText val=&quot;1&quot;/&gt;&lt;/Image&gt;&lt;/ThreeDShapeInfo&gt;"/>
  <p:tag name="PRESENTER_SHAPEINFO" val="&lt;ThreeDShapeInfo&gt;&lt;uuid val=&quot;{BD00136A-6F54-409A-BF03-FD3820A41CEA}&quot;/&gt;&lt;isInvalidForFieldText val=&quot;0&quot;/&gt;&lt;Image&gt;&lt;filename val=&quot;C:\Users\sanmi\Documents\My Adobe Presentations\ece552-ParallelProcessors\data\asimages\{BD00136A-6F54-409A-BF03-FD3820A41CEA}.png&quot;/&gt;&lt;left val=&quot;18&quot;/&gt;&lt;top val=&quot;167&quot;/&gt;&lt;width val=&quot;683&quot;/&gt;&lt;height val=&quot;183&quot;/&gt;&lt;hasText val=&quot;1&quot;/&gt;&lt;/Image&gt;&lt;/ThreeDShapeInfo&gt;"/>
  <p:tag name="PRESENTER_SHAPETEXTINFO" val="&lt;ShapeTextInfo&gt;&lt;TableIndex row=&quot;-1&quot; col=&quot;-1&quot;&gt;&lt;linesCount val=&quot;4&quot;/&gt;&lt;lineCharCount val=&quot;23&quot;/&gt;&lt;lineCharCount val=&quot;24&quot;/&gt;&lt;lineCharCount val=&quot;32&quot;/&gt;&lt;lineCharCount val=&quot;37&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88C62FCD-7596-41A4-940D-245F0533EFBF}_3.png&quot;/&gt;&lt;left val=&quot;18&quot;/&gt;&lt;top val=&quot;335&quot;/&gt;&lt;width val=&quot;682&quot;/&gt;&lt;height val=&quot;54&quot;/&gt;&lt;hasText val=&quot;1&quot;/&gt;&lt;/Image&gt;&lt;/ThreeDShapeInfo&gt;"/>
  <p:tag name="PRESENTER_SHAPEINFO" val="&lt;ThreeDShapeInfo&gt;&lt;uuid val=&quot;{DE0BD10A-A7C7-465A-80FF-7DE56DB74096}&quot;/&gt;&lt;isInvalidForFieldText val=&quot;0&quot;/&gt;&lt;Image&gt;&lt;filename val=&quot;C:\Users\sanmi\Documents\My Adobe Presentations\ece552-ParallelProcessors\data\asimages\{DE0BD10A-A7C7-465A-80FF-7DE56DB74096}.png&quot;/&gt;&lt;left val=&quot;18&quot;/&gt;&lt;top val=&quot;335&quot;/&gt;&lt;width val=&quot;682&quot;/&gt;&lt;height val=&quot;54&quot;/&gt;&lt;hasText val=&quot;1&quot;/&gt;&lt;/Image&gt;&lt;/ThreeDShapeInfo&gt;"/>
  <p:tag name="PRESENTER_SHAPETEXTINFO" val="&lt;ShapeTextInfo&gt;&lt;TableIndex row=&quot;-1&quot; col=&quot;-1&quot;&gt;&lt;linesCount val=&quot;1&quot;/&gt;&lt;lineCharCount val=&quot;39&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F465F3A6-078D-4B0B-9B3F-56CCEE728502}_3.png&quot;/&gt;&lt;left val=&quot;502&quot;/&gt;&lt;top val=&quot;297&quot;/&gt;&lt;width val=&quot;85&quot;/&gt;&lt;height val=&quot;34&quot;/&gt;&lt;hasText val=&quot;1&quot;/&gt;&lt;/Image&gt;&lt;/ThreeDShapeInfo&gt;"/>
  <p:tag name="PRESENTER_SHAPETEXTINFO" val="&lt;ShapeTextInfo&gt;&lt;TableIndex row=&quot;-1&quot; col=&quot;-1&quot;&gt;&lt;linesCount val=&quot;1&quot;/&gt;&lt;lineCharCount val=&quot;9&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132BDA0-9749-4416-AFE0-9EDC1EB79A2B}_3.png&quot;/&gt;&lt;left val=&quot;371&quot;/&gt;&lt;top val=&quot;382&quot;/&gt;&lt;width val=&quot;110&quot;/&gt;&lt;height val=&quot;34&quot;/&gt;&lt;hasText val=&quot;1&quot;/&gt;&lt;/Image&gt;&lt;/ThreeDShapeInfo&gt;"/>
  <p:tag name="PRESENTER_SHAPETEXTINFO" val="&lt;ShapeTextInfo&gt;&lt;TableIndex row=&quot;-1&quot; col=&quot;-1&quot;&gt;&lt;linesCount val=&quot;1&quot;/&gt;&lt;lineCharCount val=&quot;15&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65411D8-E812-4A3A-881D-9D7237B8AFFB}_3.png&quot;/&gt;&lt;left val=&quot;135&quot;/&gt;&lt;top val=&quot;380&quot;/&gt;&lt;width val=&quot;160&quot;/&gt;&lt;height val=&quot;34&quot;/&gt;&lt;hasText val=&quot;1&quot;/&gt;&lt;/Image&gt;&lt;/ThreeDShapeInfo&gt;"/>
  <p:tag name="PRESENTER_SHAPETEXTINFO" val="&lt;ShapeTextInfo&gt;&lt;TableIndex row=&quot;-1&quot; col=&quot;-1&quot;&gt;&lt;linesCount val=&quot;1&quot;/&gt;&lt;lineCharCount val=&quot;21&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1521406158,C:\Users\sanmi\GoogleDrive\UWMdrive\Courses\ECE552\ece552-lec17_ParallelProcessors_pptx\Media.ppcx"/>
  <p:tag name="TIMING" val="|23.8"/>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9FFDF725-7A48-40D7-A2C3-182FD1C86CEE}_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412BA133-1CD7-4D7A-A5D8-CF162F97409E}_4.png&quot;/&gt;&lt;left val=&quot;24&quot;/&gt;&lt;top val=&quot;119&quot;/&gt;&lt;width val=&quot;659&quot;/&gt;&lt;height val=&quot;227&quot;/&gt;&lt;hasText val=&quot;1&quot;/&gt;&lt;/Image&gt;&lt;/ThreeDShapeInfo&gt;"/>
  <p:tag name="PRESENTER_SHAPETEXTINFO" val="&lt;ShapeTextInfo&gt;&lt;TableIndex row=&quot;-1&quot; col=&quot;-1&quot;&gt;&lt;linesCount val=&quot;6&quot;/&gt;&lt;lineCharCount val=&quot;31&quot;/&gt;&lt;lineCharCount val=&quot;1&quot;/&gt;&lt;lineCharCount val=&quot;1&quot;/&gt;&lt;lineCharCount val=&quot;1&quot;/&gt;&lt;lineCharCount val=&quot;25&quot;/&gt;&lt;lineCharCount val=&quot;1&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2513248A-7464-486D-83AF-D000ED26E945}_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FB03E0D1-4D1C-4F75-8125-AF656F5EE845}_4.png&quot;/&gt;&lt;left val=&quot;18&quot;/&gt;&lt;top val=&quot;167&quot;/&gt;&lt;width val=&quot;683&quot;/&gt;&lt;height val=&quot;183&quot;/&gt;&lt;hasText val=&quot;1&quot;/&gt;&lt;/Image&gt;&lt;/ThreeDShapeInfo&gt;"/>
  <p:tag name="PRESENTER_SHAPEINFO" val="&lt;ThreeDShapeInfo&gt;&lt;uuid val=&quot;{BF94E1D4-5FD9-4F32-B34C-C7F28CCD7DC4}&quot;/&gt;&lt;isInvalidForFieldText val=&quot;0&quot;/&gt;&lt;Image&gt;&lt;filename val=&quot;C:\Users\sanmi\Documents\My Adobe Presentations\ece552-ParallelProcessors\data\asimages\{BF94E1D4-5FD9-4F32-B34C-C7F28CCD7DC4}.png&quot;/&gt;&lt;left val=&quot;18&quot;/&gt;&lt;top val=&quot;167&quot;/&gt;&lt;width val=&quot;683&quot;/&gt;&lt;height val=&quot;183&quot;/&gt;&lt;hasText val=&quot;1&quot;/&gt;&lt;/Image&gt;&lt;/ThreeDShapeInfo&gt;"/>
  <p:tag name="PRESENTER_SHAPETEXTINFO" val="&lt;ShapeTextInfo&gt;&lt;TableIndex row=&quot;-1&quot; col=&quot;-1&quot;&gt;&lt;linesCount val=&quot;4&quot;/&gt;&lt;lineCharCount val=&quot;23&quot;/&gt;&lt;lineCharCount val=&quot;24&quot;/&gt;&lt;lineCharCount val=&quot;32&quot;/&gt;&lt;lineCharCount val=&quot;37&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6DF4E580-89D4-415D-9A29-31FFAA9F11F4}_4.png&quot;/&gt;&lt;left val=&quot;18&quot;/&gt;&lt;top val=&quot;335&quot;/&gt;&lt;width val=&quot;682&quot;/&gt;&lt;height val=&quot;54&quot;/&gt;&lt;hasText val=&quot;1&quot;/&gt;&lt;/Image&gt;&lt;/ThreeDShapeInfo&gt;"/>
  <p:tag name="PRESENTER_SHAPEINFO" val="&lt;ThreeDShapeInfo&gt;&lt;uuid val=&quot;{37873830-0FC4-4426-B9A7-B27E46392534}&quot;/&gt;&lt;isInvalidForFieldText val=&quot;0&quot;/&gt;&lt;Image&gt;&lt;filename val=&quot;C:\Users\sanmi\Documents\My Adobe Presentations\ece552-ParallelProcessors\data\asimages\{37873830-0FC4-4426-B9A7-B27E46392534}.png&quot;/&gt;&lt;left val=&quot;18&quot;/&gt;&lt;top val=&quot;335&quot;/&gt;&lt;width val=&quot;682&quot;/&gt;&lt;height val=&quot;54&quot;/&gt;&lt;hasText val=&quot;1&quot;/&gt;&lt;/Image&gt;&lt;/ThreeDShapeInfo&gt;"/>
  <p:tag name="PRESENTER_SHAPETEXTINFO" val="&lt;ShapeTextInfo&gt;&lt;TableIndex row=&quot;-1&quot; col=&quot;-1&quot;&gt;&lt;linesCount val=&quot;1&quot;/&gt;&lt;lineCharCount val=&quot;39&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DC5B495C-027B-460F-A3EB-6B62A24A249F}_4.png&quot;/&gt;&lt;left val=&quot;332&quot;/&gt;&lt;top val=&quot;391&quot;/&gt;&lt;width val=&quot;55&quot;/&gt;&lt;height val=&quot;30&quot;/&gt;&lt;hasText val=&quot;1&quot;/&gt;&lt;/Image&gt;&lt;/ThreeDShapeInfo&gt;"/>
  <p:tag name="PRESENTER_SHAPEINFO" val="&lt;ThreeDShapeInfo&gt;&lt;uuid val=&quot;{ECAE47DC-5942-4D9D-8261-9B836CC271C0}&quot;/&gt;&lt;isInvalidForFieldText val=&quot;0&quot;/&gt;&lt;Image&gt;&lt;filename val=&quot;C:\Users\sanmi\Documents\My Adobe Presentations\ece552-ParallelProcessors\data\asimages\{ECAE47DC-5942-4D9D-8261-9B836CC271C0}.png&quot;/&gt;&lt;left val=&quot;332&quot;/&gt;&lt;top val=&quot;391&quot;/&gt;&lt;width val=&quot;55&quot;/&gt;&lt;height val=&quot;30&quot;/&gt;&lt;hasText val=&quot;1&quot;/&gt;&lt;/Image&gt;&lt;/ThreeDShapeInfo&gt;"/>
  <p:tag name="PRESENTER_SHAPETEXTINFO" val="&lt;ShapeTextInfo&gt;&lt;TableIndex row=&quot;-1&quot; col=&quot;-1&quot;&gt;&lt;linesCount val=&quot;1&quot;/&gt;&lt;lineCharCount val=&quot;1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254BAA4-385A-4D47-92B7-301BB655CDEC}_4.png&quot;/&gt;&lt;left val=&quot;466&quot;/&gt;&lt;top val=&quot;391&quot;/&gt;&lt;width val=&quot;30&quot;/&gt;&lt;height val=&quot;27&quot;/&gt;&lt;hasText val=&quot;1&quot;/&gt;&lt;/Image&gt;&lt;/ThreeDShapeInfo&gt;"/>
  <p:tag name="PRESENTER_SHAPEINFO" val="&lt;ThreeDShapeInfo&gt;&lt;uuid val=&quot;{C542CBE9-CDDC-4C18-A43E-5F8892D6C271}&quot;/&gt;&lt;isInvalidForFieldText val=&quot;0&quot;/&gt;&lt;Image&gt;&lt;filename val=&quot;C:\Users\sanmi\Documents\My Adobe Presentations\ece552-ParallelProcessors\data\asimages\{C542CBE9-CDDC-4C18-A43E-5F8892D6C271}.png&quot;/&gt;&lt;left val=&quot;466&quot;/&gt;&lt;top val=&quot;391&quot;/&gt;&lt;width val=&quot;30&quot;/&gt;&lt;height val=&quot;27&quot;/&gt;&lt;hasText val=&quot;1&quot;/&gt;&lt;/Image&gt;&lt;/ThreeDShapeInfo&gt;"/>
  <p:tag name="PRESENTER_SHAPETEXTINFO" val="&lt;ShapeTextInfo&gt;&lt;TableIndex row=&quot;-1&quot; col=&quot;-1&quot;&gt;&lt;linesCount val=&quot;1&quot;/&gt;&lt;lineCharCount val=&quot;2&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0F84FA50-83A1-4E2B-A81F-EDF6E0B96456}_4.png&quot;/&gt;&lt;left val=&quot;256&quot;/&gt;&lt;top val=&quot;391&quot;/&gt;&lt;width val=&quot;38&quot;/&gt;&lt;height val=&quot;28&quot;/&gt;&lt;hasText val=&quot;1&quot;/&gt;&lt;/Image&gt;&lt;/ThreeDShapeInfo&gt;"/>
  <p:tag name="PRESENTER_SHAPEINFO" val="&lt;ThreeDShapeInfo&gt;&lt;uuid val=&quot;{0A609A14-022D-4C83-B3F3-6DA747E73585}&quot;/&gt;&lt;isInvalidForFieldText val=&quot;0&quot;/&gt;&lt;Image&gt;&lt;filename val=&quot;C:\Users\sanmi\Documents\My Adobe Presentations\ece552-ParallelProcessors\data\asimages\{0A609A14-022D-4C83-B3F3-6DA747E73585}.png&quot;/&gt;&lt;left val=&quot;256&quot;/&gt;&lt;top val=&quot;391&quot;/&gt;&lt;width val=&quot;38&quot;/&gt;&lt;height val=&quot;28&quot;/&gt;&lt;hasText val=&quot;1&quot;/&gt;&lt;/Image&gt;&lt;/ThreeDShapeInfo&gt;"/>
  <p:tag name="PRESENTER_SHAPETEXTINFO" val="&lt;ShapeTextInfo&gt;&lt;TableIndex row=&quot;-1&quot; col=&quot;-1&quot;&gt;&lt;linesCount val=&quot;1&quot;/&gt;&lt;lineCharCount val=&quot;7&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27792DD-F9E0-4643-85CE-0F2DA388DEE5}_4.png&quot;/&gt;&lt;left val=&quot;19&quot;/&gt;&lt;top val=&quot;379&quot;/&gt;&lt;width val=&quot;211&quot;/&gt;&lt;height val=&quot;34&quot;/&gt;&lt;hasText val=&quot;1&quot;/&gt;&lt;/Image&gt;&lt;/ThreeDShapeInfo&gt;"/>
  <p:tag name="PRESENTER_SHAPETEXTINFO" val="&lt;ShapeTextInfo&gt;&lt;TableIndex row=&quot;-1&quot; col=&quot;-1&quot;&gt;&lt;linesCount val=&quot;1&quot;/&gt;&lt;lineCharCount val=&quot;22&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1521406158,C:\Users\sanmi\GoogleDrive\UWMdrive\Courses\ECE552\ece552-lec17_ParallelProcessors_pptx\Media.ppcx"/>
</p:tagLst>
</file>

<file path=ppt/tags/tag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DE9B2CA-D897-467D-9261-28987DF5CE46}_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9DFBA5C0-CA1E-4527-B785-25A263940026}_5.png&quot;/&gt;&lt;left val=&quot;24&quot;/&gt;&lt;top val=&quot;119&quot;/&gt;&lt;width val=&quot;659&quot;/&gt;&lt;height val=&quot;106&quot;/&gt;&lt;hasText val=&quot;1&quot;/&gt;&lt;/Image&gt;&lt;/ThreeDShapeInfo&gt;"/>
  <p:tag name="PRESENTER_SHAPETEXTINFO" val="&lt;ShapeTextInfo&gt;&lt;TableIndex row=&quot;-1&quot; col=&quot;-1&quot;&gt;&lt;linesCount val=&quot;2&quot;/&gt;&lt;lineCharCount val=&quot;44&quot;/&gt;&lt;lineCharCount val=&quot;31&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2E4E721-EA43-4CEC-9772-F540FCE7F9BD}_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E34B7066-5154-4B1B-8E63-9968CFFCD8AE}_5.png&quot;/&gt;&lt;left val=&quot;432&quot;/&gt;&lt;top val=&quot;487&quot;/&gt;&lt;width val=&quot;144&quot;/&gt;&lt;height val=&quot;26&quot;/&gt;&lt;hasText val=&quot;1&quot;/&gt;&lt;/Image&gt;&lt;/ThreeDShapeInfo&gt;"/>
  <p:tag name="PRESENTER_SHAPETEXTINFO" val="&lt;ShapeTextInfo&gt;&lt;TableIndex row=&quot;-1&quot; col=&quot;-1&quot;&gt;&lt;linesCount val=&quot;1&quot;/&gt;&lt;lineCharCount val=&quot;16&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1521406158,C:\Users\sanmi\GoogleDrive\UWMdrive\Courses\ECE552\ece552-lec17_ParallelProcessors_pptx\Media.ppcx"/>
</p:tagLst>
</file>

<file path=ppt/tags/tag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A5CC9FD-BFC5-4EA2-804D-BC89941EE79B}_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D27E0CC-CBED-4AE5-8EF1-893C0DA8F273}_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C280F42-673C-452C-ADC8-BB68513AB298}_6.png&quot;/&gt;&lt;left val=&quot;494&quot;/&gt;&lt;top val=&quot;171&quot;/&gt;&lt;width val=&quot;131&quot;/&gt;&lt;height val=&quot;125&quot;/&gt;&lt;hasText val=&quot;1&quot;/&gt;&lt;/Image&gt;&lt;/ThreeDShapeInfo&gt;"/>
  <p:tag name="PRESENTER_SHAPETEXTINFO" val="&lt;ShapeTextInfo&gt;&lt;TableIndex row=&quot;-1&quot; col=&quot;-1&quot;&gt;&lt;linesCount val=&quot;5&quot;/&gt;&lt;lineCharCount val=&quot;5&quot;/&gt;&lt;lineCharCount val=&quot;12&quot;/&gt;&lt;lineCharCount val=&quot;2&quot;/&gt;&lt;lineCharCount val=&quot;7&quot;/&gt;&lt;lineCharCount val=&quot;9&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65C895D0-1AAB-4130-8833-C2819B9AC201}_6.png&quot;/&gt;&lt;left val=&quot;353&quot;/&gt;&lt;top val=&quot;413&quot;/&gt;&lt;width val=&quot;288&quot;/&gt;&lt;height val=&quot;26&quot;/&gt;&lt;hasText val=&quot;1&quot;/&gt;&lt;/Image&gt;&lt;/ThreeDShapeInfo&gt;"/>
  <p:tag name="PRESENTER_SHAPETEXTINFO" val="&lt;ShapeTextInfo&gt;&lt;TableIndex row=&quot;-1&quot; col=&quot;-1&quot;&gt;&lt;linesCount val=&quot;1&quot;/&gt;&lt;lineCharCount val=&quot;48&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1521406158,C:\Users\sanmi\GoogleDrive\UWMdrive\Courses\ECE552\ece552-lec17_ParallelProcessors_pptx\Media.ppcx"/>
</p:tagLst>
</file>

<file path=ppt/tags/tag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93ADD88-BA86-4BA4-A720-E3AC0746D6AC}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02682838-B6BB-4BB9-B267-DE4BF43703ED}_7.png&quot;/&gt;&lt;left val=&quot;24&quot;/&gt;&lt;top val=&quot;119&quot;/&gt;&lt;width val=&quot;659&quot;/&gt;&lt;height val=&quot;348&quot;/&gt;&lt;hasText val=&quot;1&quot;/&gt;&lt;/Image&gt;&lt;/ThreeDShapeInfo&gt;"/>
  <p:tag name="PRESENTER_SHAPETEXTINFO" val="&lt;ShapeTextInfo&gt;&lt;TableIndex row=&quot;-1&quot; col=&quot;-1&quot;&gt;&lt;linesCount val=&quot;8&quot;/&gt;&lt;lineCharCount val=&quot;31&quot;/&gt;&lt;lineCharCount val=&quot;1&quot;/&gt;&lt;lineCharCount val=&quot;1&quot;/&gt;&lt;lineCharCount val=&quot;1&quot;/&gt;&lt;lineCharCount val=&quot;25&quot;/&gt;&lt;lineCharCount val=&quot;1&quot;/&gt;&lt;lineCharCount val=&quot;1&quot;/&gt;&lt;lineCharCount val=&quot;33&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4289E25-11F7-4DD1-BB8D-C5001C2AAAE6}_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EAB9819C-CBD6-4B54-A5C7-7F5091C358AB}_7.png&quot;/&gt;&lt;left val=&quot;18&quot;/&gt;&lt;top val=&quot;167&quot;/&gt;&lt;width val=&quot;683&quot;/&gt;&lt;height val=&quot;183&quot;/&gt;&lt;hasText val=&quot;1&quot;/&gt;&lt;/Image&gt;&lt;/ThreeDShapeInfo&gt;"/>
  <p:tag name="PRESENTER_SHAPEINFO" val="&lt;ThreeDShapeInfo&gt;&lt;uuid val=&quot;{D146C804-EEAA-4699-B1B3-B511BEEF5A92}&quot;/&gt;&lt;isInvalidForFieldText val=&quot;0&quot;/&gt;&lt;Image&gt;&lt;filename val=&quot;C:\Users\sanmi\Documents\My Adobe Presentations\ece552-ParallelProcessors\data\asimages\{D146C804-EEAA-4699-B1B3-B511BEEF5A92}.png&quot;/&gt;&lt;left val=&quot;18&quot;/&gt;&lt;top val=&quot;167&quot;/&gt;&lt;width val=&quot;683&quot;/&gt;&lt;height val=&quot;183&quot;/&gt;&lt;hasText val=&quot;1&quot;/&gt;&lt;/Image&gt;&lt;/ThreeDShapeInfo&gt;"/>
  <p:tag name="PRESENTER_SHAPETEXTINFO" val="&lt;ShapeTextInfo&gt;&lt;TableIndex row=&quot;-1&quot; col=&quot;-1&quot;&gt;&lt;linesCount val=&quot;4&quot;/&gt;&lt;lineCharCount val=&quot;23&quot;/&gt;&lt;lineCharCount val=&quot;24&quot;/&gt;&lt;lineCharCount val=&quot;32&quot;/&gt;&lt;lineCharCount val=&quot;37&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0C282004-4227-444E-899E-959D120740D1}_7.png&quot;/&gt;&lt;left val=&quot;18&quot;/&gt;&lt;top val=&quot;335&quot;/&gt;&lt;width val=&quot;682&quot;/&gt;&lt;height val=&quot;54&quot;/&gt;&lt;hasText val=&quot;1&quot;/&gt;&lt;/Image&gt;&lt;/ThreeDShapeInfo&gt;"/>
  <p:tag name="PRESENTER_SHAPEINFO" val="&lt;ThreeDShapeInfo&gt;&lt;uuid val=&quot;{DE241228-DACB-44FC-BDBD-3D468F227BE7}&quot;/&gt;&lt;isInvalidForFieldText val=&quot;0&quot;/&gt;&lt;Image&gt;&lt;filename val=&quot;C:\Users\sanmi\Documents\My Adobe Presentations\ece552-ParallelProcessors\data\asimages\{DE241228-DACB-44FC-BDBD-3D468F227BE7}.png&quot;/&gt;&lt;left val=&quot;18&quot;/&gt;&lt;top val=&quot;335&quot;/&gt;&lt;width val=&quot;682&quot;/&gt;&lt;height val=&quot;54&quot;/&gt;&lt;hasText val=&quot;1&quot;/&gt;&lt;/Image&gt;&lt;/ThreeDShapeInfo&gt;"/>
  <p:tag name="PRESENTER_SHAPETEXTINFO" val="&lt;ShapeTextInfo&gt;&lt;TableIndex row=&quot;-1&quot; col=&quot;-1&quot;&gt;&lt;linesCount val=&quot;1&quot;/&gt;&lt;lineCharCount val=&quot;39&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0DFBA44-E9CF-4AE4-8DC9-30F57E5E4764}_7.png&quot;/&gt;&lt;left val=&quot;19&quot;/&gt;&lt;top val=&quot;455&quot;/&gt;&lt;width val=&quot;681&quot;/&gt;&lt;height val=&quot;60&quot;/&gt;&lt;hasText val=&quot;1&quot;/&gt;&lt;/Image&gt;&lt;/ThreeDShapeInfo&gt;"/>
  <p:tag name="PRESENTER_SHAPEINFO" val="&lt;ThreeDShapeInfo&gt;&lt;uuid val=&quot;{E1048714-41E5-436C-AE00-EDC31B2EF147}&quot;/&gt;&lt;isInvalidForFieldText val=&quot;0&quot;/&gt;&lt;Image&gt;&lt;filename val=&quot;C:\Users\sanmi\Documents\My Adobe Presentations\ece552-ParallelProcessors\data\asimages\{E1048714-41E5-436C-AE00-EDC31B2EF147}.png&quot;/&gt;&lt;left val=&quot;19&quot;/&gt;&lt;top val=&quot;455&quot;/&gt;&lt;width val=&quot;681&quot;/&gt;&lt;height val=&quot;60&quot;/&gt;&lt;hasText val=&quot;1&quot;/&gt;&lt;/Image&gt;&lt;/ThreeDShapeInfo&gt;"/>
  <p:tag name="PRESENTER_SHAPETEXTINFO" val="&lt;ShapeTextInfo&gt;&lt;TableIndex row=&quot;-1&quot; col=&quot;-1&quot;&gt;&lt;linesCount val=&quot;1&quot;/&gt;&lt;lineCharCount val=&quot;3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7EBBC302-F6FE-4DFF-9DE5-A87016B97E6A}_7.png&quot;/&gt;&lt;left val=&quot;461&quot;/&gt;&lt;top val=&quot;434&quot;/&gt;&lt;width val=&quot;143&quot;/&gt;&lt;height val=&quot;34&quot;/&gt;&lt;hasText val=&quot;1&quot;/&gt;&lt;/Image&gt;&lt;/ThreeDShapeInfo&gt;"/>
  <p:tag name="PRESENTER_SHAPETEXTINFO" val="&lt;ShapeTextInfo&gt;&lt;TableIndex row=&quot;-1&quot; col=&quot;-1&quot;&gt;&lt;linesCount val=&quot;1&quot;/&gt;&lt;lineCharCount val=&quot;17&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1521406158,C:\Users\sanmi\GoogleDrive\UWMdrive\Courses\ECE552\ece552-lec17_ParallelProcessors_pptx\Media.ppcx"/>
  <p:tag name="TIMING" val="|12.9|16.9"/>
</p:tagLst>
</file>

<file path=ppt/tags/tag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AF0ED6F-2CF9-4460-BD2D-4C388DB7F0CD}_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85276DD-8366-4ABA-8A3E-70CE68EAB4E8}_8.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2C3051ED-4BFC-49E2-B416-8B4AE010902C}_8.png&quot;/&gt;&lt;left val=&quot;59&quot;/&gt;&lt;top val=&quot;102&quot;/&gt;&lt;width val=&quot;702&quot;/&gt;&lt;height val=&quot;385&quot;/&gt;&lt;hasText val=&quot;1&quot;/&gt;&lt;/Image&gt;&lt;/ThreeDShapeInfo&gt;"/>
</p:tagLst>
</file>

<file path=ppt/tags/tag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D00ED650-6826-42FF-984F-0847B0AA795B}_8.png&quot;/&gt;&lt;left val=&quot;353&quot;/&gt;&lt;top val=&quot;413&quot;/&gt;&lt;width val=&quot;288&quot;/&gt;&lt;height val=&quot;26&quot;/&gt;&lt;hasText val=&quot;1&quot;/&gt;&lt;/Image&gt;&lt;/ThreeDShapeInfo&gt;"/>
  <p:tag name="PRESENTER_SHAPETEXTINFO" val="&lt;ShapeTextInfo&gt;&lt;TableIndex row=&quot;-1&quot; col=&quot;-1&quot;&gt;&lt;linesCount val=&quot;1&quot;/&gt;&lt;lineCharCount val=&quot;48&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6&quot;/&gt;&lt;lineCharCount val=&quot;11&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1521406158,C:\Users\sanmi\GoogleDrive\UWMdrive\Courses\ECE552\ece552-lec17_ParallelProcessors_pptx\Media.ppcx"/>
</p:tagLst>
</file>

<file path=ppt/tags/tag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673BA48-5704-425E-A808-BB124B69C9CC}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25F0E3ED-CBE7-406F-9836-9574D65E06EC}_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22FFB94-D41C-4A49-B147-13B5824C174B}_9.png&quot;/&gt;&lt;left val=&quot;41&quot;/&gt;&lt;top val=&quot;119&quot;/&gt;&lt;width val=&quot;642&quot;/&gt;&lt;height val=&quot;389&quot;/&gt;&lt;hasText val=&quot;1&quot;/&gt;&lt;/Image&gt;&lt;/ThreeDShapeInfo&gt;"/>
  <p:tag name="PRESENTER_SHAPETEXTINFO" val="&lt;ShapeTextInfo&gt;&lt;TableIndex row=&quot;-1&quot; col=&quot;-1&quot;&gt;&lt;linesCount val=&quot;6&quot;/&gt;&lt;lineCharCount val=&quot;27&quot;/&gt;&lt;lineCharCount val=&quot;39&quot;/&gt;&lt;lineCharCount val=&quot;15&quot;/&gt;&lt;lineCharCount val=&quot;1&quot;/&gt;&lt;lineCharCount val=&quot;24&quot;/&gt;&lt;lineCharCount val=&quot;47&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1521406158,C:\Users\sanmi\GoogleDrive\UWMdrive\Courses\ECE552\ece552-lec17_ParallelProcessors_pptx\Media.ppcx"/>
</p:tagLst>
</file>

<file path=ppt/tags/tag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5731CA6-A571-4A86-933C-190DC00B0AA3}_1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D49410FD-EF09-4510-9F08-B03531B46B3A}_10.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71176F0D-DD7B-4141-B261-34BB77139360}_10.png&quot;/&gt;&lt;left val=&quot;43&quot;/&gt;&lt;top val=&quot;120&quot;/&gt;&lt;width val=&quot;640&quot;/&gt;&lt;height val=&quot;388&quot;/&gt;&lt;hasText val=&quot;1&quot;/&gt;&lt;/Image&gt;&lt;/ThreeDShapeInfo&gt;"/>
  <p:tag name="PRESENTER_SHAPETEXTINFO" val="&lt;ShapeTextInfo&gt;&lt;TableIndex row=&quot;-1&quot; col=&quot;-1&quot;&gt;&lt;linesCount val=&quot;11&quot;/&gt;&lt;lineCharCount val=&quot;13&quot;/&gt;&lt;lineCharCount val=&quot;46&quot;/&gt;&lt;lineCharCount val=&quot;9&quot;/&gt;&lt;lineCharCount val=&quot;40&quot;/&gt;&lt;lineCharCount val=&quot;35&quot;/&gt;&lt;lineCharCount val=&quot;1&quot;/&gt;&lt;lineCharCount val=&quot;13&quot;/&gt;&lt;lineCharCount val=&quot;41&quot;/&gt;&lt;lineCharCount val=&quot;15&quot;/&gt;&lt;lineCharCount val=&quot;41&quot;/&gt;&lt;lineCharCount val=&quot;3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11,1521406158,C:\Users\sanmi\GoogleDrive\UWMdrive\Courses\ECE552\ece552-lec17_ParallelProcessors_pptx\Media.ppcx"/>
  <p:tag name="TIMING" val="|16.6"/>
</p:tagLst>
</file>

<file path=ppt/tags/tag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DE44E4BE-1BE5-45B5-8296-FF2C2722E734}_2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14E5533-2036-48B1-932E-4664BC2D06FD}_20.png&quot;/&gt;&lt;left val=&quot;24&quot;/&gt;&lt;top val=&quot;119&quot;/&gt;&lt;width val=&quot;659&quot;/&gt;&lt;height val=&quot;142&quot;/&gt;&lt;hasText val=&quot;1&quot;/&gt;&lt;/Image&gt;&lt;/ThreeDShapeInfo&gt;"/>
  <p:tag name="PRESENTER_SHAPETEXTINFO" val="&lt;ShapeTextInfo&gt;&lt;TableIndex row=&quot;-1&quot; col=&quot;-1&quot;&gt;&lt;linesCount val=&quot;2&quot;/&gt;&lt;lineCharCount val=&quot;43&quot;/&gt;&lt;lineCharCount val=&quot;23&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D0BCBFA-C7F6-49D2-BF04-270AA6343240}_20.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INFO" val="&lt;ThreeDShapeInfo&gt;&lt;uuid val=&quot;{78B19676-94E6-4E49-A61F-EE322FA54E34}&quot;/&gt;&lt;isInvalidForFieldText val=&quot;0&quot;/&gt;&lt;Image&gt;&lt;filename val=&quot;C:\Users\sanmi\Documents\My Adobe Presentations\ece552-ParallelProcessors\data\asimages\{78B19676-94E6-4E49-A61F-EE322FA54E34}_20.png&quot;/&gt;&lt;left val=&quot;7&quot;/&gt;&lt;top val=&quot;326&quot;/&gt;&lt;width val=&quot;711&quot;/&gt;&lt;height val=&quot;54&quot;/&gt;&lt;hasText val=&quot;1&quot;/&gt;&lt;/Image&gt;&lt;/ThreeDShapeInfo&gt;"/>
  <p:tag name="PRESENTER_SHAPETEXTINFO" val="&lt;ShapeTextInfo&gt;&lt;TableIndex row=&quot;-1&quot; col=&quot;-1&quot;&gt;&lt;linesCount val=&quot;1&quot;/&gt;&lt;lineCharCount val=&quot;7&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INFO" val="&lt;ThreeDShapeInfo&gt;&lt;uuid val=&quot;{87F18F12-6AA5-4CE9-BB75-21001BEEB0D6}&quot;/&gt;&lt;isInvalidForFieldText val=&quot;0&quot;/&gt;&lt;Image&gt;&lt;filename val=&quot;C:\Users\sanmi\Documents\My Adobe Presentations\ece552-ParallelProcessors\data\asimages\{87F18F12-6AA5-4CE9-BB75-21001BEEB0D6}_20.png&quot;/&gt;&lt;left val=&quot;7&quot;/&gt;&lt;top val=&quot;326&quot;/&gt;&lt;width val=&quot;711&quot;/&gt;&lt;height val=&quot;55&quot;/&gt;&lt;hasText val=&quot;1&quot;/&gt;&lt;/Image&gt;&lt;/ThreeDShape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12,1521406158,C:\Users\sanmi\GoogleDrive\UWMdrive\Courses\ECE552\ece552-lec17_ParallelProcessors_pptx\Media.ppcx"/>
</p:tagLst>
</file>

<file path=ppt/tags/tag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404ED553-594C-40C5-8DD3-C8D06D7A1C52}_2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E95A3D9A-77A8-43B7-90E8-6E14D2BA173F}_21.png&quot;/&gt;&lt;left val=&quot;24&quot;/&gt;&lt;top val=&quot;119&quot;/&gt;&lt;width val=&quot;659&quot;/&gt;&lt;height val=&quot;142&quot;/&gt;&lt;hasText val=&quot;1&quot;/&gt;&lt;/Image&gt;&lt;/ThreeDShapeInfo&gt;"/>
  <p:tag name="PRESENTER_SHAPETEXTINFO" val="&lt;ShapeTextInfo&gt;&lt;TableIndex row=&quot;-1&quot; col=&quot;-1&quot;&gt;&lt;linesCount val=&quot;2&quot;/&gt;&lt;lineCharCount val=&quot;43&quot;/&gt;&lt;lineCharCount val=&quot;23&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C28EAC0-6F28-435F-AB08-5B83BC41F1C9}_21.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INFO" val="&lt;ThreeDShapeInfo&gt;&lt;uuid val=&quot;{AE61DC20-2689-4DAF-A3A7-CF3E46C47FCC}&quot;/&gt;&lt;isInvalidForFieldText val=&quot;0&quot;/&gt;&lt;Image&gt;&lt;filename val=&quot;C:\Users\sanmi\Documents\My Adobe Presentations\ece552-ParallelProcessors\data\asimages\{AE61DC20-2689-4DAF-A3A7-CF3E46C47FCC}_21.png&quot;/&gt;&lt;left val=&quot;7&quot;/&gt;&lt;top val=&quot;326&quot;/&gt;&lt;width val=&quot;111&quot;/&gt;&lt;height val=&quot;54&quot;/&gt;&lt;hasText val=&quot;1&quot;/&gt;&lt;/Image&gt;&lt;/ThreeDShapeInfo&gt;"/>
  <p:tag name="PRESENTER_SHAPETEXTINFO" val="&lt;ShapeTextInfo&gt;&lt;TableIndex row=&quot;-1&quot; col=&quot;-1&quot;&gt;&lt;linesCount val=&quot;1&quot;/&gt;&lt;lineCharCount val=&quot;10&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INFO" val="&lt;ThreeDShapeInfo&gt;&lt;uuid val=&quot;{9059EB18-63C2-4903-93F3-A038F0D40FE2}&quot;/&gt;&lt;isInvalidForFieldText val=&quot;0&quot;/&gt;&lt;Image&gt;&lt;filename val=&quot;C:\Users\sanmi\Documents\My Adobe Presentations\ece552-ParallelProcessors\data\asimages\{9059EB18-63C2-4903-93F3-A038F0D40FE2}_21.png&quot;/&gt;&lt;left val=&quot;109&quot;/&gt;&lt;top val=&quot;263&quot;/&gt;&lt;width val=&quot;177&quot;/&gt;&lt;height val=&quot;55&quot;/&gt;&lt;hasText val=&quot;1&quot;/&gt;&lt;/Image&gt;&lt;/ThreeDShapeInfo&gt;"/>
  <p:tag name="PRESENTER_SHAPETEXTINFO" val="&lt;ShapeTextInfo&gt;&lt;TableIndex row=&quot;-1&quot; col=&quot;-1&quot;&gt;&lt;linesCount val=&quot;1&quot;/&gt;&lt;lineCharCount val=&quot;8&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INFO" val="&lt;ThreeDShapeInfo&gt;&lt;uuid val=&quot;{813A0AFE-C228-47A7-B4D1-1A6F7D44F4B2}&quot;/&gt;&lt;isInvalidForFieldText val=&quot;0&quot;/&gt;&lt;Image&gt;&lt;filename val=&quot;C:\Users\sanmi\Documents\My Adobe Presentations\ece552-ParallelProcessors\data\asimages\{813A0AFE-C228-47A7-B4D1-1A6F7D44F4B2}_21.png&quot;/&gt;&lt;left val=&quot;277&quot;/&gt;&lt;top val=&quot;326&quot;/&gt;&lt;width val=&quot;105&quot;/&gt;&lt;height val=&quot;54&quot;/&gt;&lt;hasText val=&quot;1&quot;/&gt;&lt;/Image&gt;&lt;/ThreeDShapeInfo&gt;"/>
  <p:tag name="PRESENTER_SHAPETEXTINFO" val="&lt;ShapeTextInfo&gt;&lt;TableIndex row=&quot;-1&quot; col=&quot;-1&quot;&gt;&lt;linesCount val=&quot;1&quot;/&gt;&lt;lineCharCount val=&quot;1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INFO" val="&lt;ThreeDShapeInfo&gt;&lt;uuid val=&quot;{4F7D74A3-6E19-48A4-A754-D5BB81179F14}&quot;/&gt;&lt;isInvalidForFieldText val=&quot;0&quot;/&gt;&lt;Image&gt;&lt;filename val=&quot;C:\Users\sanmi\Documents\My Adobe Presentations\ece552-ParallelProcessors\data\asimages\{4F7D74A3-6E19-48A4-A754-D5BB81179F14}_21.png&quot;/&gt;&lt;left val=&quot;109&quot;/&gt;&lt;top val=&quot;392&quot;/&gt;&lt;width val=&quot;177&quot;/&gt;&lt;height val=&quot;55&quot;/&gt;&lt;hasText val=&quot;1&quot;/&gt;&lt;/Image&gt;&lt;/ThreeDShapeInfo&gt;"/>
  <p:tag name="PRESENTER_SHAPETEXTINFO" val="&lt;ShapeTextInfo&gt;&lt;TableIndex row=&quot;-1&quot; col=&quot;-1&quot;&gt;&lt;linesCount val=&quot;1&quot;/&gt;&lt;lineCharCount val=&quot;8&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INFO" val="&lt;ThreeDShapeInfo&gt;&lt;uuid val=&quot;{7DDB4D39-337B-4019-8087-FFD00FBE81D3}&quot;/&gt;&lt;isInvalidForFieldText val=&quot;0&quot;/&gt;&lt;Image&gt;&lt;filename val=&quot;C:\Users\sanmi\Documents\My Adobe Presentations\ece552-ParallelProcessors\data\asimages\{7DDB4D39-337B-4019-8087-FFD00FBE81D3}_21.png&quot;/&gt;&lt;left val=&quot;109&quot;/&gt;&lt;top val=&quot;326&quot;/&gt;&lt;width val=&quot;177&quot;/&gt;&lt;height val=&quot;55&quot;/&gt;&lt;hasText val=&quot;1&quot;/&gt;&lt;/Image&gt;&lt;/ThreeDShapeInfo&gt;"/>
  <p:tag name="PRESENTER_SHAPETEXTINFO" val="&lt;ShapeTextInfo&gt;&lt;TableIndex row=&quot;-1&quot; col=&quot;-1&quot;&gt;&lt;linesCount val=&quot;1&quot;/&gt;&lt;lineCharCount val=&quot;8&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9B7C93D-9C91-432A-9FC0-B9175588D897}_21.png&quot;/&gt;&lt;left val=&quot;340&quot;/&gt;&lt;top val=&quot;383&quot;/&gt;&lt;width val=&quot;367&quot;/&gt;&lt;height val=&quot;90&quot;/&gt;&lt;hasText val=&quot;1&quot;/&gt;&lt;/Image&gt;&lt;/ThreeDShapeInfo&gt;"/>
  <p:tag name="PRESENTER_SHAPEINFO" val="&lt;ThreeDShapeInfo&gt;&lt;uuid val=&quot;{7FAC7F52-65B3-4F4A-B175-53CCB204E72C}&quot;/&gt;&lt;isInvalidForFieldText val=&quot;0&quot;/&gt;&lt;Image&gt;&lt;filename val=&quot;C:\Users\sanmi\Documents\My Adobe Presentations\ece552-ParallelProcessors\data\asimages\{7FAC7F52-65B3-4F4A-B175-53CCB204E72C}.png&quot;/&gt;&lt;left val=&quot;340&quot;/&gt;&lt;top val=&quot;383&quot;/&gt;&lt;width val=&quot;367&quot;/&gt;&lt;height val=&quot;90&quot;/&gt;&lt;hasText val=&quot;1&quot;/&gt;&lt;/Image&gt;&lt;/ThreeDShapeInfo&gt;"/>
  <p:tag name="PRESENTER_SHAPETEXTINFO" val="&lt;ShapeTextInfo&gt;&lt;TableIndex row=&quot;-1&quot; col=&quot;-1&quot;&gt;&lt;linesCount val=&quot;1&quot;/&gt;&lt;lineCharCount val=&quot;85&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13,1521406158,C:\Users\sanmi\GoogleDrive\UWMdrive\Courses\ECE552\ece552-lec17_ParallelProcessors_pptx\Media.ppcx"/>
</p:tagLst>
</file>

<file path=ppt/tags/tag10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B36E15E-43B9-4150-A35A-5D5E0EA96FB1}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2927212-66F7-44F7-B704-258EAF1CF214}_2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INFO" val="&lt;ThreeDShapeInfo&gt;&lt;uuid val=&quot;{8E934996-BE0F-49C8-9B92-A4E93E27E36D}&quot;/&gt;&lt;isInvalidForFieldText val=&quot;0&quot;/&gt;&lt;Image&gt;&lt;filename val=&quot;C:\Users\sanmi\Documents\My Adobe Presentations\ece552-ParallelProcessors\data\asimages\{8E934996-BE0F-49C8-9B92-A4E93E27E36D}_22.png&quot;/&gt;&lt;left val=&quot;89&quot;/&gt;&lt;top val=&quot;137&quot;/&gt;&lt;width val=&quot;540&quot;/&gt;&lt;height val=&quot;324&quot;/&gt;&lt;hasText val=&quot;1&quot;/&gt;&lt;/Image&gt;&lt;/ThreeDShapeInfo&gt;"/>
</p:tagLst>
</file>

<file path=ppt/tags/tag107.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14,1521406158,C:\Users\sanmi\GoogleDrive\UWMdrive\Courses\ECE552\ece552-lec17_ParallelProcessors_pptx\Media.ppcx"/>
</p:tagLst>
</file>

<file path=ppt/tags/tag1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2C9B5BE5-C1CB-442B-B446-04A73B7249F6}_2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0B765109-82A3-40BD-B8B7-28637CD6D486}_2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INFO" val="&lt;ThreeDShapeInfo&gt;&lt;uuid val=&quot;{AD6DD1BC-688C-4660-8E07-B04D01D47F44}&quot;/&gt;&lt;isInvalidForFieldText val=&quot;0&quot;/&gt;&lt;Image&gt;&lt;filename val=&quot;C:\Users\sanmi\Documents\My Adobe Presentations\ece552-ParallelProcessors\data\asimages\{AD6DD1BC-688C-4660-8E07-B04D01D47F44}_23.png&quot;/&gt;&lt;left val=&quot;89&quot;/&gt;&lt;top val=&quot;137&quot;/&gt;&lt;width val=&quot;540&quot;/&gt;&lt;height val=&quot;324&quot;/&gt;&lt;hasText val=&quot;1&quot;/&gt;&lt;/Image&gt;&lt;/ThreeDShapeInfo&gt;"/>
</p:tagLst>
</file>

<file path=ppt/tags/tag1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8AB421F8-95F8-421D-B3A8-8D3EEC3DA87C}_23.png&quot;/&gt;&lt;left val=&quot;491&quot;/&gt;&lt;top val=&quot;269&quot;/&gt;&lt;width val=&quot;240&quot;/&gt;&lt;height val=&quot;91&quot;/&gt;&lt;hasText val=&quot;1&quot;/&gt;&lt;/Image&gt;&lt;/ThreeDShapeInfo&gt;"/>
  <p:tag name="PRESENTER_SHAPETEXTINFO" val="&lt;ShapeTextInfo&gt;&lt;TableIndex row=&quot;-1&quot; col=&quot;-1&quot;&gt;&lt;linesCount val=&quot;3&quot;/&gt;&lt;lineCharCount val=&quot;25&quot;/&gt;&lt;lineCharCount val=&quot;20&quot;/&gt;&lt;lineCharCount val=&quot;21&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15,1521406158,C:\Users\sanmi\GoogleDrive\UWMdrive\Courses\ECE552\ece552-lec17_ParallelProcessors_pptx\Media.ppcx"/>
</p:tagLst>
</file>

<file path=ppt/tags/tag1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E8BF1E18-1A18-4C58-8C31-7BAFFA203898}_2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791E013E-19EB-4447-92CB-3180EAA2F92D}_2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9F18673-3443-4509-B256-B376D2908C05}_24.png&quot;/&gt;&lt;left val=&quot;27&quot;/&gt;&lt;top val=&quot;107&quot;/&gt;&lt;width val=&quot;681&quot;/&gt;&lt;height val=&quot;401&quot;/&gt;&lt;hasText val=&quot;1&quot;/&gt;&lt;/Image&gt;&lt;/ThreeDShapeInfo&gt;"/>
  <p:tag name="PRESENTER_SHAPETEXTINFO" val="&lt;ShapeTextInfo&gt;&lt;TableIndex row=&quot;-1&quot; col=&quot;-1&quot;&gt;&lt;linesCount val=&quot;11&quot;/&gt;&lt;lineCharCount val=&quot;65&quot;/&gt;&lt;lineCharCount val=&quot;6&quot;/&gt;&lt;lineCharCount val=&quot;1&quot;/&gt;&lt;lineCharCount val=&quot;40&quot;/&gt;&lt;lineCharCount val=&quot;47&quot;/&gt;&lt;lineCharCount val=&quot;42&quot;/&gt;&lt;lineCharCount val=&quot;54&quot;/&gt;&lt;lineCharCount val=&quot;42&quot;/&gt;&lt;lineCharCount val=&quot;53&quot;/&gt;&lt;lineCharCount val=&quot;44&quot;/&gt;&lt;lineCharCount val=&quot;59&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 name="PPSNARRATION" val="16,1521406158,C:\Users\sanmi\GoogleDrive\UWMdrive\Courses\ECE552\ece552-lec17_ParallelProcessors_pptx\Media.ppcx"/>
</p:tagLst>
</file>

<file path=ppt/tags/tag1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639268CB-B160-4FA8-8D71-BE3F6B59BEFE}_2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1&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4DAC23CA-6377-4E03-A41E-2CE3B557A231}_25.png&quot;/&gt;&lt;left val=&quot;24&quot;/&gt;&lt;top val=&quot;119&quot;/&gt;&lt;width val=&quot;659&quot;/&gt;&lt;height val=&quot;366&quot;/&gt;&lt;hasText val=&quot;1&quot;/&gt;&lt;/Image&gt;&lt;/ThreeDShapeInfo&gt;"/>
  <p:tag name="PRESENTER_SHAPETEXTINFO" val="&lt;ShapeTextInfo&gt;&lt;TableIndex row=&quot;-1&quot; col=&quot;-1&quot;&gt;&lt;linesCount val=&quot;7&quot;/&gt;&lt;lineCharCount val=&quot;37&quot;/&gt;&lt;lineCharCount val=&quot;43&quot;/&gt;&lt;lineCharCount val=&quot;8&quot;/&gt;&lt;lineCharCount val=&quot;18&quot;/&gt;&lt;lineCharCount val=&quot;32&quot;/&gt;&lt;lineCharCount val=&quot;44&quot;/&gt;&lt;lineCharCount val=&quot;7&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E49C1423-A064-440B-9553-AF09ABD884B6}_2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 name="PPSNARRATION" val="17,1521406158,C:\Users\sanmi\GoogleDrive\UWMdrive\Courses\ECE552\ece552-lec17_ParallelProcessors_pptx\Media.ppcx"/>
</p:tagLst>
</file>

<file path=ppt/tags/tag1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0511C97-9206-403E-9745-EF509601DFC6}_2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4&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4294F96-E633-48BE-BF02-21F7687F922A}_26.png&quot;/&gt;&lt;left val=&quot;24&quot;/&gt;&lt;top val=&quot;119&quot;/&gt;&lt;width val=&quot;675&quot;/&gt;&lt;height val=&quot;108&quot;/&gt;&lt;hasText val=&quot;1&quot;/&gt;&lt;/Image&gt;&lt;/ThreeDShapeInfo&gt;"/>
  <p:tag name="PRESENTER_SHAPETEXTINFO" val="&lt;ShapeTextInfo&gt;&lt;TableIndex row=&quot;-1&quot; col=&quot;-1&quot;&gt;&lt;linesCount val=&quot;2&quot;/&gt;&lt;lineCharCount val=&quot;50&quot;/&gt;&lt;lineCharCount val=&quot;33&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6EBFF1D-BBB2-4D16-9ECB-DD431AACB80E}_2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DF396F7-F1D6-49F7-80BA-531EF7657845}_26.png&quot;/&gt;&lt;left val=&quot;54&quot;/&gt;&lt;top val=&quot;225&quot;/&gt;&lt;width val=&quot;639&quot;/&gt;&lt;height val=&quot;283&quot;/&gt;&lt;hasText val=&quot;1&quot;/&gt;&lt;/Image&gt;&lt;/ThreeDShapeInfo&gt;"/>
  <p:tag name="PRESENTER_SHAPETEXTINFO" val="&lt;ShapeTextInfo&gt;&lt;TableIndex row=&quot;-1&quot; col=&quot;-1&quot;&gt;&lt;linesCount val=&quot;11&quot;/&gt;&lt;lineCharCount val=&quot;29&quot;/&gt;&lt;lineCharCount val=&quot;32&quot;/&gt;&lt;lineCharCount val=&quot;18&quot;/&gt;&lt;lineCharCount val=&quot;3&quot;/&gt;&lt;lineCharCount val=&quot;1&quot;/&gt;&lt;lineCharCount val=&quot;14&quot;/&gt;&lt;lineCharCount val=&quot;20&quot;/&gt;&lt;lineCharCount val=&quot;47&quot;/&gt;&lt;lineCharCount val=&quot;30&quot;/&gt;&lt;lineCharCount val=&quot;15&quot;/&gt;&lt;lineCharCount val=&quot;1&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HTML_SHAPEINFO" val="&lt;SlideThumbPath val=&quot;Slide27.PNG&quot;/&gt;"/>
  <p:tag name="PPSNARRATION" val="18,1521406158,C:\Users\sanmi\GoogleDrive\UWMdrive\Courses\ECE552\ece552-lec17_ParallelProcessors_pptx\Media.ppcx"/>
</p:tagLst>
</file>

<file path=ppt/tags/tag1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8EC52636-20FC-478C-8CF2-500B1AFB45BC}_27.png&quot;/&gt;&lt;left val=&quot;44&quot;/&gt;&lt;top val=&quot;114&quot;/&gt;&lt;width val=&quot;625&quot;/&gt;&lt;height val=&quot;390&quot;/&gt;&lt;hasText val=&quot;1&quot;/&gt;&lt;/Image&gt;&lt;/ThreeDShapeInfo&gt;"/>
  <p:tag name="PRESENTER_SHAPETEXTINFO" val="&lt;ShapeTextInfo&gt;&lt;TableIndex row=&quot;-1&quot; col=&quot;-1&quot;&gt;&lt;linesCount val=&quot;9&quot;/&gt;&lt;lineCharCount val=&quot;49&quot;/&gt;&lt;lineCharCount val=&quot;40&quot;/&gt;&lt;lineCharCount val=&quot;37&quot;/&gt;&lt;lineCharCount val=&quot;46&quot;/&gt;&lt;lineCharCount val=&quot;25&quot;/&gt;&lt;lineCharCount val=&quot;54&quot;/&gt;&lt;lineCharCount val=&quot;43&quot;/&gt;&lt;lineCharCount val=&quot;32&quot;/&gt;&lt;lineCharCount val=&quot;46&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7962B63-423B-4210-8D39-629E2C15F979}_2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15140F8-6E06-4C7F-ACD2-919354D24C99}_2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4&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HTML_SHAPEINFO" val="&lt;SlideThumbPath val=&quot;Slide28.PNG&quot;/&gt;"/>
  <p:tag name="PPSNARRATION" val="19,1521406158,C:\Users\sanmi\GoogleDrive\UWMdrive\Courses\ECE552\ece552-lec17_ParallelProcessors_pptx\Media.ppcx"/>
</p:tagLst>
</file>

<file path=ppt/tags/tag1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A2A2AB8-903B-4AE1-B353-0BD47BEDB861}_2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4&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1F84A2A-CD1C-4767-A1CA-1D34F2F127A1}_28.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FCA239B-1A89-492D-B610-6FF79647E0BB}_28.png&quot;/&gt;&lt;left val=&quot;29&quot;/&gt;&lt;top val=&quot;107&quot;/&gt;&lt;width val=&quot;678&quot;/&gt;&lt;height val=&quot;409&quot;/&gt;&lt;hasText val=&quot;1&quot;/&gt;&lt;/Image&gt;&lt;/ThreeDShapeInfo&gt;"/>
  <p:tag name="PRESENTER_SHAPETEXTINFO" val="&lt;ShapeTextInfo&gt;&lt;TableIndex row=&quot;-1&quot; col=&quot;-1&quot;&gt;&lt;linesCount val=&quot;12&quot;/&gt;&lt;lineCharCount val=&quot;37&quot;/&gt;&lt;lineCharCount val=&quot;32&quot;/&gt;&lt;lineCharCount val=&quot;50&quot;/&gt;&lt;lineCharCount val=&quot;1&quot;/&gt;&lt;lineCharCount val=&quot;36&quot;/&gt;&lt;lineCharCount val=&quot;52&quot;/&gt;&lt;lineCharCount val=&quot;28&quot;/&gt;&lt;lineCharCount val=&quot;1&quot;/&gt;&lt;lineCharCount val=&quot;28&quot;/&gt;&lt;lineCharCount val=&quot;33&quot;/&gt;&lt;lineCharCount val=&quot;39&quot;/&gt;&lt;lineCharCount val=&quot;1&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HTML_SHAPEINFO" val="&lt;SlideThumbPath val=&quot;Slide29.PNG&quot;/&gt;"/>
  <p:tag name="PPSNARRATION" val="20,1521406158,C:\Users\sanmi\GoogleDrive\UWMdrive\Courses\ECE552\ece552-lec17_ParallelProcessors_pptx\Media.ppcx"/>
</p:tagLst>
</file>

<file path=ppt/tags/tag1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9520180-F274-411E-B45A-1045EB57DFB2}_2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9&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F9557B9-E26E-47C8-803C-D79637040221}_2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INFO" val="&lt;ThreeDShapeInfo&gt;&lt;uuid val=&quot;{A4A9712E-803A-42C2-826F-4A818949029F}&quot;/&gt;&lt;isInvalidForFieldText val=&quot;0&quot;/&gt;&lt;Image&gt;&lt;filename val=&quot;C:\Users\sanmi\Documents\My Adobe Presentations\ece552-ParallelProcessors\data\asimages\{A4A9712E-803A-42C2-826F-4A818949029F}.png&quot;/&gt;&lt;left val=&quot;0&quot;/&gt;&lt;top val=&quot;165&quot;/&gt;&lt;width val=&quot;718&quot;/&gt;&lt;height val=&quot;332&quot;/&gt;&lt;hasText val=&quot;1&quot;/&gt;&lt;/Image&gt;&lt;/ThreeDShapeInfo&gt;"/>
</p:tagLst>
</file>

<file path=ppt/tags/tag1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263FF3AE-FC4B-47DE-A411-D2351404AA80}_29.png&quot;/&gt;&lt;left val=&quot;230&quot;/&gt;&lt;top val=&quot;112&quot;/&gt;&lt;width val=&quot;171&quot;/&gt;&lt;height val=&quot;67&quot;/&gt;&lt;hasText val=&quot;1&quot;/&gt;&lt;/Image&gt;&lt;/ThreeDShapeInfo&gt;"/>
  <p:tag name="PRESENTER_SHAPETEXTINFO" val="&lt;ShapeTextInfo&gt;&lt;TableIndex row=&quot;-1&quot; col=&quot;-1&quot;&gt;&lt;linesCount val=&quot;2&quot;/&gt;&lt;lineCharCount val=&quot;9&quot;/&gt;&lt;lineCharCount val=&quot;6&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0D25F1B9-1331-4F80-BDE2-CB4BD81948C0}_29.png&quot;/&gt;&lt;left val=&quot;384&quot;/&gt;&lt;top val=&quot;112&quot;/&gt;&lt;width val=&quot;171&quot;/&gt;&lt;height val=&quot;67&quot;/&gt;&lt;hasText val=&quot;1&quot;/&gt;&lt;/Image&gt;&lt;/ThreeDShapeInfo&gt;"/>
  <p:tag name="PRESENTER_SHAPETEXTINFO" val="&lt;ShapeTextInfo&gt;&lt;TableIndex row=&quot;-1&quot; col=&quot;-1&quot;&gt;&lt;linesCount val=&quot;2&quot;/&gt;&lt;lineCharCount val=&quot;9&quot;/&gt;&lt;lineCharCount val=&quot;11&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B461EB1-3FB0-4730-A4D5-843FC596BAC2}_29.png&quot;/&gt;&lt;left val=&quot;567&quot;/&gt;&lt;top val=&quot;113&quot;/&gt;&lt;width val=&quot;171&quot;/&gt;&lt;height val=&quot;67&quot;/&gt;&lt;hasText val=&quot;1&quot;/&gt;&lt;/Image&gt;&lt;/ThreeDShapeInfo&gt;"/>
  <p:tag name="PRESENTER_SHAPETEXTINFO" val="&lt;ShapeTextInfo&gt;&lt;TableIndex row=&quot;-1&quot; col=&quot;-1&quot;&gt;&lt;linesCount val=&quot;2&quot;/&gt;&lt;lineCharCount val=&quot;13&quot;/&gt;&lt;lineCharCount val=&quot;11&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HTML_SHAPEINFO" val="&lt;SlideThumbPath val=&quot;Slide30.PNG&quot;/&gt;"/>
  <p:tag name="PPSNARRATION" val="21,1521406158,C:\Users\sanmi\GoogleDrive\UWMdrive\Courses\ECE552\ece552-lec17_ParallelProcessors_pptx\Media.ppcx"/>
  <p:tag name="TIMING" val="|34.2"/>
</p:tagLst>
</file>

<file path=ppt/tags/tag1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7796768-6AAE-49C8-B940-D50E7581554D}_3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9B3040B4-8F5C-496B-929A-EBD3C8DB638E}_30.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PRESENTER_SHAPEINFO" val="&lt;ThreeDShapeInfo&gt;&lt;uuid val=&quot;{8B7AF488-64FF-4355-A210-2D1EBE5A2EC3}&quot;/&gt;&lt;isInvalidForFieldText val=&quot;0&quot;/&gt;&lt;Image&gt;&lt;filename val=&quot;C:\Users\sanmi\Documents\My Adobe Presentations\ece552-ParallelProcessors\data\asimages\{8B7AF488-64FF-4355-A210-2D1EBE5A2EC3}.png&quot;/&gt;&lt;left val=&quot;5&quot;/&gt;&lt;top val=&quot;162&quot;/&gt;&lt;width val=&quot;66&quot;/&gt;&lt;height val=&quot;263&quot;/&gt;&lt;hasText val=&quot;1&quot;/&gt;&lt;/Image&gt;&lt;/ThreeDShapeInfo&gt;"/>
</p:tagLst>
</file>

<file path=ppt/tags/tag144.xml><?xml version="1.0" encoding="utf-8"?>
<p:tagLst xmlns:a="http://schemas.openxmlformats.org/drawingml/2006/main" xmlns:r="http://schemas.openxmlformats.org/officeDocument/2006/relationships" xmlns:p="http://schemas.openxmlformats.org/presentationml/2006/main">
  <p:tag name="PRESENTER_SHAPEINFO" val="&lt;ThreeDShapeInfo&gt;&lt;uuid val=&quot;{1F945E01-56F2-4FC5-AE65-09E78D3C2AB3}&quot;/&gt;&lt;isInvalidForFieldText val=&quot;0&quot;/&gt;&lt;Image&gt;&lt;filename val=&quot;C:\Users\sanmi\Documents\My Adobe Presentations\ece552-ParallelProcessors\data\asimages\{1F945E01-56F2-4FC5-AE65-09E78D3C2AB3}.png&quot;/&gt;&lt;left val=&quot;71&quot;/&gt;&lt;top val=&quot;162&quot;/&gt;&lt;width val=&quot;66&quot;/&gt;&lt;height val=&quot;261&quot;/&gt;&lt;hasText val=&quot;1&quot;/&gt;&lt;/Image&gt;&lt;/ThreeDShapeInfo&gt;"/>
</p:tagLst>
</file>

<file path=ppt/tags/tag145.xml><?xml version="1.0" encoding="utf-8"?>
<p:tagLst xmlns:a="http://schemas.openxmlformats.org/drawingml/2006/main" xmlns:r="http://schemas.openxmlformats.org/officeDocument/2006/relationships" xmlns:p="http://schemas.openxmlformats.org/presentationml/2006/main">
  <p:tag name="PRESENTER_SHAPEINFO" val="&lt;ThreeDShapeInfo&gt;&lt;uuid val=&quot;{39AFF0CC-6E09-4168-9E44-3D1FFA17195D}&quot;/&gt;&lt;isInvalidForFieldText val=&quot;0&quot;/&gt;&lt;Image&gt;&lt;filename val=&quot;C:\Users\sanmi\Documents\My Adobe Presentations\ece552-ParallelProcessors\data\asimages\{39AFF0CC-6E09-4168-9E44-3D1FFA17195D}.png&quot;/&gt;&lt;left val=&quot;149&quot;/&gt;&lt;top val=&quot;162&quot;/&gt;&lt;width val=&quot;210&quot;/&gt;&lt;height val=&quot;261&quot;/&gt;&lt;hasText val=&quot;1&quot;/&gt;&lt;/Image&gt;&lt;/ThreeDShapeInfo&gt;"/>
</p:tagLst>
</file>

<file path=ppt/tags/tag146.xml><?xml version="1.0" encoding="utf-8"?>
<p:tagLst xmlns:a="http://schemas.openxmlformats.org/drawingml/2006/main" xmlns:r="http://schemas.openxmlformats.org/officeDocument/2006/relationships" xmlns:p="http://schemas.openxmlformats.org/presentationml/2006/main">
  <p:tag name="PRESENTER_SHAPEINFO" val="&lt;ThreeDShapeInfo&gt;&lt;uuid val=&quot;{6C16CD39-8A12-4F54-89F6-D0916008D497}&quot;/&gt;&lt;isInvalidForFieldText val=&quot;0&quot;/&gt;&lt;Image&gt;&lt;filename val=&quot;C:\Users\sanmi\Documents\My Adobe Presentations\ece552-ParallelProcessors\data\asimages\{6C16CD39-8A12-4F54-89F6-D0916008D497}.png&quot;/&gt;&lt;left val=&quot;371&quot;/&gt;&lt;top val=&quot;165&quot;/&gt;&lt;width val=&quot;98&quot;/&gt;&lt;height val=&quot;255&quot;/&gt;&lt;hasText val=&quot;1&quot;/&gt;&lt;/Image&gt;&lt;/ThreeDShapeInfo&gt;"/>
</p:tagLst>
</file>

<file path=ppt/tags/tag147.xml><?xml version="1.0" encoding="utf-8"?>
<p:tagLst xmlns:a="http://schemas.openxmlformats.org/drawingml/2006/main" xmlns:r="http://schemas.openxmlformats.org/officeDocument/2006/relationships" xmlns:p="http://schemas.openxmlformats.org/presentationml/2006/main">
  <p:tag name="PRESENTER_SHAPEINFO" val="&lt;ThreeDShapeInfo&gt;&lt;uuid val=&quot;{7AC0C034-F39E-428E-BD8E-126F9A6725FF}&quot;/&gt;&lt;isInvalidForFieldText val=&quot;0&quot;/&gt;&lt;Image&gt;&lt;filename val=&quot;C:\Users\sanmi\Documents\My Adobe Presentations\ece552-ParallelProcessors\data\asimages\{7AC0C034-F39E-428E-BD8E-126F9A6725FF}.png&quot;/&gt;&lt;left val=&quot;478&quot;/&gt;&lt;top val=&quot;158&quot;/&gt;&lt;width val=&quot;235&quot;/&gt;&lt;height val=&quot;272&quot;/&gt;&lt;hasText val=&quot;1&quot;/&gt;&lt;/Image&gt;&lt;/ThreeDShapeInfo&gt;"/>
</p:tagLst>
</file>

<file path=ppt/tags/tag1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EE9A19EB-A4EF-48D2-B0AA-D5261ADD49C2}_30.png&quot;/&gt;&lt;left val=&quot;233&quot;/&gt;&lt;top val=&quot;105&quot;/&gt;&lt;width val=&quot;150&quot;/&gt;&lt;height val=&quot;67&quot;/&gt;&lt;hasText val=&quot;1&quot;/&gt;&lt;/Image&gt;&lt;/ThreeDShapeInfo&gt;"/>
  <p:tag name="PRESENTER_SHAPETEXTINFO" val="&lt;ShapeTextInfo&gt;&lt;TableIndex row=&quot;-1&quot; col=&quot;-1&quot;&gt;&lt;linesCount val=&quot;2&quot;/&gt;&lt;lineCharCount val=&quot;8&quot;/&gt;&lt;lineCharCount val=&quot;9&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584D386-E6CE-481C-879D-11D9FBC4AAD9}_30.png&quot;/&gt;&lt;left val=&quot;347&quot;/&gt;&lt;top val=&quot;106&quot;/&gt;&lt;width val=&quot;150&quot;/&gt;&lt;height val=&quot;67&quot;/&gt;&lt;hasText val=&quot;1&quot;/&gt;&lt;/Image&gt;&lt;/ThreeDShapeInfo&gt;"/>
  <p:tag name="PRESENTER_SHAPETEXTINFO" val="&lt;ShapeTextInfo&gt;&lt;TableIndex row=&quot;-1&quot; col=&quot;-1&quot;&gt;&lt;linesCount val=&quot;2&quot;/&gt;&lt;lineCharCount val=&quot;13&quot;/&gt;&lt;lineCharCount val=&quot;14&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F522EB98-ACBD-4E58-9F19-23B2E5DFF6AD}_30.png&quot;/&gt;&lt;left val=&quot;521&quot;/&gt;&lt;top val=&quot;105&quot;/&gt;&lt;width val=&quot;150&quot;/&gt;&lt;height val=&quot;67&quot;/&gt;&lt;hasText val=&quot;1&quot;/&gt;&lt;/Image&gt;&lt;/ThreeDShapeInfo&gt;"/>
  <p:tag name="PRESENTER_SHAPETEXTINFO" val="&lt;ShapeTextInfo&gt;&lt;TableIndex row=&quot;-1&quot; col=&quot;-1&quot;&gt;&lt;linesCount val=&quot;2&quot;/&gt;&lt;lineCharCount val=&quot;5&quot;/&gt;&lt;lineCharCount val=&quot;14&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6EDDAFE-7728-4B70-A573-1D3D32716005}_30.png&quot;/&gt;&lt;left val=&quot;-41&quot;/&gt;&lt;top val=&quot;431&quot;/&gt;&lt;width val=&quot;288&quot;/&gt;&lt;height val=&quot;47&quot;/&gt;&lt;hasText val=&quot;1&quot;/&gt;&lt;/Image&gt;&lt;/ThreeDShapeInfo&gt;"/>
  <p:tag name="PRESENTER_SHAPETEXTINFO" val="&lt;ShapeTextInfo&gt;&lt;TableIndex row=&quot;-1&quot; col=&quot;-1&quot;&gt;&lt;linesCount val=&quot;1&quot;/&gt;&lt;lineCharCount val=&quot;22&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46DA023-7914-4557-8541-265CCA4517AE}_30.png&quot;/&gt;&lt;left val=&quot;-12&quot;/&gt;&lt;top val=&quot;458&quot;/&gt;&lt;width val=&quot;288&quot;/&gt;&lt;height val=&quot;47&quot;/&gt;&lt;hasText val=&quot;1&quot;/&gt;&lt;/Image&gt;&lt;/ThreeDShapeInfo&gt;"/>
  <p:tag name="PRESENTER_SHAPETEXTINFO" val="&lt;ShapeTextInfo&gt;&lt;TableIndex row=&quot;-1&quot; col=&quot;-1&quot;&gt;&lt;linesCount val=&quot;1&quot;/&gt;&lt;lineCharCount val=&quot;15&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HTML_SHAPEINFO" val="&lt;SlideThumbPath val=&quot;Slide31.PNG&quot;/&gt;"/>
  <p:tag name="PPSNARRATION" val="22,1521406158,C:\Users\sanmi\GoogleDrive\UWMdrive\Courses\ECE552\ece552-lec17_ParallelProcessors_pptx\Media.ppcx"/>
</p:tagLst>
</file>

<file path=ppt/tags/tag1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2DBC7CEA-A854-41A9-9AD7-A5D89E7C9C41}_3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4&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D136A106-DF02-4881-A100-FDD5357E7E8B}_31.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91A42DC5-D613-49BD-8D60-549DBF10C813}_31.png&quot;/&gt;&lt;left val=&quot;-54&quot;/&gt;&lt;top val=&quot;98&quot;/&gt;&lt;width val=&quot;288&quot;/&gt;&lt;height val=&quot;51&quot;/&gt;&lt;hasText val=&quot;1&quot;/&gt;&lt;/Image&gt;&lt;/ThreeDShapeInfo&gt;"/>
  <p:tag name="PRESENTER_SHAPETEXTINFO" val="&lt;ShapeTextInfo&gt;&lt;TableIndex row=&quot;-1&quot; col=&quot;-1&quot;&gt;&lt;linesCount val=&quot;1&quot;/&gt;&lt;lineCharCount val=&quot;9&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6D50AFD9-6FCC-4640-A291-478F0F0F4249}_31.png&quot;/&gt;&lt;left val=&quot;149&quot;/&gt;&lt;top val=&quot;99&quot;/&gt;&lt;width val=&quot;288&quot;/&gt;&lt;height val=&quot;51&quot;/&gt;&lt;hasText val=&quot;1&quot;/&gt;&lt;/Image&gt;&lt;/ThreeDShapeInfo&gt;"/>
  <p:tag name="PRESENTER_SHAPETEXTINFO" val="&lt;ShapeTextInfo&gt;&lt;TableIndex row=&quot;-1&quot; col=&quot;-1&quot;&gt;&lt;linesCount val=&quot;1&quot;/&gt;&lt;lineCharCount val=&quot;15&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6977A9F9-78FF-42CD-9295-CC700E94A574}_31.png&quot;/&gt;&lt;left val=&quot;413&quot;/&gt;&lt;top val=&quot;99&quot;/&gt;&lt;width val=&quot;288&quot;/&gt;&lt;height val=&quot;51&quot;/&gt;&lt;hasText val=&quot;1&quot;/&gt;&lt;/Image&gt;&lt;/ThreeDShapeInfo&gt;"/>
  <p:tag name="PRESENTER_SHAPETEXTINFO" val="&lt;ShapeTextInfo&gt;&lt;TableIndex row=&quot;-1&quot; col=&quot;-1&quot;&gt;&lt;linesCount val=&quot;1&quot;/&gt;&lt;lineCharCount val=&quot;14&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HTML_SHAPEINFO" val="&lt;SlideThumbPath val=&quot;Slide32.PNG&quot;/&gt;"/>
  <p:tag name="PPSNARRATION" val="23,1521406158,C:\Users\sanmi\GoogleDrive\UWMdrive\Courses\ECE552\ece552-lec17_ParallelProcessors_pptx\Media.ppcx"/>
</p:tagLst>
</file>

<file path=ppt/tags/tag1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7CD808B7-AE10-4B3D-8085-D4E04463A55B}_3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1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FC88B998-8900-47CB-B00B-2A28C77D8DEF}_3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FBEB36AA-7672-48D5-9290-BC1B3E83156F}_32.png&quot;/&gt;&lt;left val=&quot;27&quot;/&gt;&lt;top val=&quot;114&quot;/&gt;&lt;width val=&quot;681&quot;/&gt;&lt;height val=&quot;120&quot;/&gt;&lt;hasText val=&quot;1&quot;/&gt;&lt;/Image&gt;&lt;/ThreeDShapeInfo&gt;"/>
  <p:tag name="PRESENTER_SHAPETEXTINFO" val="&lt;ShapeTextInfo&gt;&lt;TableIndex row=&quot;-1&quot; col=&quot;-1&quot;&gt;&lt;linesCount val=&quot;2&quot;/&gt;&lt;lineCharCount val=&quot;54&quot;/&gt;&lt;lineCharCount val=&quot;45&quot;/&gt;&lt;/TableIndex&gt;&lt;/ShapeTextInfo&gt;"/>
</p:tagLst>
</file>

<file path=ppt/tags/tag1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51443C7A-E698-45D4-BEC2-576D220B417B}_32.png&quot;/&gt;&lt;left val=&quot;29&quot;/&gt;&lt;top val=&quot;357&quot;/&gt;&lt;width val=&quot;183&quot;/&gt;&lt;height val=&quot;54&quot;/&gt;&lt;hasText val=&quot;1&quot;/&gt;&lt;/Image&gt;&lt;/ThreeDShapeInfo&gt;"/>
  <p:tag name="PRESENTER_SHAPETEXTINFO" val="&lt;ShapeTextInfo&gt;&lt;TableIndex row=&quot;-1&quot; col=&quot;-1&quot;&gt;&lt;linesCount val=&quot;2&quot;/&gt;&lt;lineCharCount val=&quot;24&quot;/&gt;&lt;lineCharCount val=&quot;18&quot;/&gt;&lt;/TableIndex&gt;&lt;/ShapeTextInfo&gt;"/>
</p:tagLst>
</file>

<file path=ppt/tags/tag164.xml><?xml version="1.0" encoding="utf-8"?>
<p:tagLst xmlns:a="http://schemas.openxmlformats.org/drawingml/2006/main" xmlns:r="http://schemas.openxmlformats.org/officeDocument/2006/relationships" xmlns:p="http://schemas.openxmlformats.org/presentationml/2006/main">
  <p:tag name="HTML_SHAPEINFO" val="&lt;SlideThumbPath val=&quot;Slide33.PNG&quot;/&gt;"/>
  <p:tag name="PPSNARRATION" val="24,1521406158,C:\Users\sanmi\GoogleDrive\UWMdrive\Courses\ECE552\ece552-lec17_ParallelProcessors_pptx\Media.ppcx"/>
</p:tagLst>
</file>

<file path=ppt/tags/tag1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5813DBF1-9707-44A4-BCFA-3090882B8A32}_3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76D15F29-1AED-4900-A90D-004FA9C06FA3}_3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6848731D-51E7-49F0-A792-FE4D57DBEA50}_33.png&quot;/&gt;&lt;left val=&quot;27&quot;/&gt;&lt;top val=&quot;108&quot;/&gt;&lt;width val=&quot;681&quot;/&gt;&lt;height val=&quot;147&quot;/&gt;&lt;hasText val=&quot;1&quot;/&gt;&lt;/Image&gt;&lt;/ThreeDShapeInfo&gt;"/>
  <p:tag name="PRESENTER_SHAPETEXTINFO" val="&lt;ShapeTextInfo&gt;&lt;TableIndex row=&quot;-1&quot; col=&quot;-1&quot;&gt;&lt;linesCount val=&quot;4&quot;/&gt;&lt;lineCharCount val=&quot;50&quot;/&gt;&lt;lineCharCount val=&quot;37&quot;/&gt;&lt;lineCharCount val=&quot;52&quot;/&gt;&lt;lineCharCount val=&quot;18&quot;/&gt;&lt;/TableIndex&gt;&lt;/ShapeTextInfo&gt;"/>
</p:tagLst>
</file>

<file path=ppt/tags/tag1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2CD9754-555C-4D65-9588-2C6DCB29A3DD}_33.png&quot;/&gt;&lt;left val=&quot;53&quot;/&gt;&lt;top val=&quot;371&quot;/&gt;&lt;width val=&quot;183&quot;/&gt;&lt;height val=&quot;45&quot;/&gt;&lt;hasText val=&quot;1&quot;/&gt;&lt;/Image&gt;&lt;/ThreeDShapeInfo&gt;"/>
  <p:tag name="PRESENTER_SHAPETEXTINFO" val="&lt;ShapeTextInfo&gt;&lt;TableIndex row=&quot;-1&quot; col=&quot;-1&quot;&gt;&lt;linesCount val=&quot;1&quot;/&gt;&lt;lineCharCount val=&quot;20&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28BA7A34-5330-4BE5-AF04-ECCF07FF49C5}_33.png&quot;/&gt;&lt;left val=&quot;143&quot;/&gt;&lt;top val=&quot;270&quot;/&gt;&lt;width val=&quot;105&quot;/&gt;&lt;height val=&quot;45&quot;/&gt;&lt;hasText val=&quot;1&quot;/&gt;&lt;/Image&gt;&lt;/ThreeDShapeInfo&gt;"/>
  <p:tag name="PRESENTER_SHAPETEXTINFO" val="&lt;ShapeTextInfo&gt;&lt;TableIndex row=&quot;-1&quot; col=&quot;-1&quot;&gt;&lt;linesCount val=&quot;1&quot;/&gt;&lt;lineCharCount val=&quot;8&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5ED0EC1C-1DEC-40FC-8A79-8D89CA2FEEEC}_33.png&quot;/&gt;&lt;left val=&quot;486&quot;/&gt;&lt;top val=&quot;270&quot;/&gt;&lt;width val=&quot;105&quot;/&gt;&lt;height val=&quot;45&quot;/&gt;&lt;hasText val=&quot;1&quot;/&gt;&lt;/Image&gt;&lt;/ThreeDShapeInfo&gt;"/>
  <p:tag name="PRESENTER_SHAPETEXTINFO" val="&lt;ShapeTextInfo&gt;&lt;TableIndex row=&quot;-1&quot; col=&quot;-1&quot;&gt;&lt;linesCount val=&quot;1&quot;/&gt;&lt;lineCharCount val=&quot;8&quot;/&gt;&lt;/TableIndex&gt;&lt;/ShapeTextInfo&gt;"/>
</p:tagLst>
</file>

<file path=ppt/tags/tag1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4943CDB7-81D8-4EB2-97FA-7D00DE23AE2B}_33.png&quot;/&gt;&lt;left val=&quot;143&quot;/&gt;&lt;top val=&quot;467&quot;/&gt;&lt;width val=&quot;105&quot;/&gt;&lt;height val=&quot;45&quot;/&gt;&lt;hasText val=&quot;1&quot;/&gt;&lt;/Image&gt;&lt;/ThreeDShapeInfo&gt;"/>
  <p:tag name="PRESENTER_SHAPETEXTINFO" val="&lt;ShapeTextInfo&gt;&lt;TableIndex row=&quot;-1&quot; col=&quot;-1&quot;&gt;&lt;linesCount val=&quot;1&quot;/&gt;&lt;lineCharCount val=&quot;8&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BF59C63-8F4C-4F92-B3E1-9A8A9A1D30B0}_33.png&quot;/&gt;&lt;left val=&quot;486&quot;/&gt;&lt;top val=&quot;467&quot;/&gt;&lt;width val=&quot;105&quot;/&gt;&lt;height val=&quot;45&quot;/&gt;&lt;hasText val=&quot;1&quot;/&gt;&lt;/Image&gt;&lt;/ThreeDShapeInfo&gt;"/>
  <p:tag name="PRESENTER_SHAPETEXTINFO" val="&lt;ShapeTextInfo&gt;&lt;TableIndex row=&quot;-1&quot; col=&quot;-1&quot;&gt;&lt;linesCount val=&quot;1&quot;/&gt;&lt;lineCharCount val=&quot;8&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HTML_SHAPEINFO" val="&lt;SlideThumbPath val=&quot;Slide34.PNG&quot;/&gt;"/>
  <p:tag name="PPSNARRATION" val="25,1521406158,C:\Users\sanmi\GoogleDrive\UWMdrive\Courses\ECE552\ece552-lec17_ParallelProcessors_pptx\Media.ppcx"/>
</p:tagLst>
</file>

<file path=ppt/tags/tag1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33A2E1A9-C4F9-4F5F-9261-B2DD836819DF}_3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8D2F8845-0D75-4406-8B71-0A484CD65A53}_3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4582EDFD-59DD-47EE-B534-673BA776327D}_34.png&quot;/&gt;&lt;left val=&quot;27&quot;/&gt;&lt;top val=&quot;108&quot;/&gt;&lt;width val=&quot;681&quot;/&gt;&lt;height val=&quot;147&quot;/&gt;&lt;hasText val=&quot;1&quot;/&gt;&lt;/Image&gt;&lt;/ThreeDShapeInfo&gt;"/>
  <p:tag name="PRESENTER_SHAPETEXTINFO" val="&lt;ShapeTextInfo&gt;&lt;TableIndex row=&quot;-1&quot; col=&quot;-1&quot;&gt;&lt;linesCount val=&quot;4&quot;/&gt;&lt;lineCharCount val=&quot;50&quot;/&gt;&lt;lineCharCount val=&quot;37&quot;/&gt;&lt;lineCharCount val=&quot;52&quot;/&gt;&lt;lineCharCount val=&quot;18&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09AACFB5-35A1-4E1C-A5AC-5722E8C8D58D}_34.png&quot;/&gt;&lt;left val=&quot;71&quot;/&gt;&lt;top val=&quot;309&quot;/&gt;&lt;width val=&quot;152&quot;/&gt;&lt;height val=&quot;166&quot;/&gt;&lt;hasText val=&quot;1&quot;/&gt;&lt;/Image&gt;&lt;/ThreeDShapeInfo&gt;"/>
  <p:tag name="PRESENTER_SHAPETEXTINFO" val="&lt;ShapeTextInfo&gt;&lt;TableIndex row=&quot;1&quot; col=&quot;1&quot;&gt;&lt;linesCount val=&quot;1&quot;/&gt;&lt;lineCharCount val=&quot;18&quot;/&gt;&lt;/TableIndex&gt;&lt;TableIndex row=&quot;1&quot; col=&quot;2&quot;&gt;&lt;linesCount val=&quot;1&quot;/&gt;&lt;lineCharCount val=&quot;18&quot;/&gt;&lt;/TableIndex&gt;&lt;TableIndex row=&quot;1&quot; col=&quot;3&quot;&gt;&lt;linesCount val=&quot;1&quot;/&gt;&lt;lineCharCount val=&quot;18&quot;/&gt;&lt;/TableIndex&gt;&lt;TableIndex row=&quot;2&quot; col=&quot;1&quot;&gt;&lt;linesCount val=&quot;1&quot;/&gt;&lt;lineCharCount val=&quot;3&quot;/&gt;&lt;/TableIndex&gt;&lt;TableIndex row=&quot;2&quot; col=&quot;2&quot;&gt;&lt;linesCount val=&quot;1&quot;/&gt;&lt;lineCharCount val=&quot;3&quot;/&gt;&lt;/TableIndex&gt;&lt;TableIndex row=&quot;2&quot; col=&quot;3&quot;&gt;&lt;linesCount val=&quot;1&quot;/&gt;&lt;lineCharCount val=&quot;3&quot;/&gt;&lt;/TableIndex&gt;&lt;TableIndex row=&quot;3&quot; col=&quot;1&quot;&gt;&lt;linesCount val=&quot;1&quot;/&gt;&lt;lineCharCount val=&quot;3&quot;/&gt;&lt;/TableIndex&gt;&lt;TableIndex row=&quot;3&quot; col=&quot;2&quot;&gt;&lt;linesCount val=&quot;1&quot;/&gt;&lt;lineCharCount val=&quot;2&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4&quot;/&gt;&lt;/TableIndex&gt;&lt;TableIndex row=&quot;5&quot; col=&quot;1&quot;&gt;&lt;linesCount val=&quot;1&quot;/&gt;&lt;lineCharCount val=&quot;3&quot;/&gt;&lt;/TableIndex&gt;&lt;TableIndex row=&quot;5&quot; col=&quot;2&quot;&gt;&lt;linesCount val=&quot;1&quot;/&gt;&lt;lineCharCount val=&quot;2&quot;/&gt;&lt;/TableIndex&gt;&lt;TableIndex row=&quot;5&quot; col=&quot;3&quot;&gt;&lt;linesCount val=&quot;1&quot;/&gt;&lt;lineCharCount val=&quot;3&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744954F-4070-4B98-BBB9-0AD609501483}_34.png&quot;/&gt;&lt;left val=&quot;227&quot;/&gt;&lt;top val=&quot;309&quot;/&gt;&lt;width val=&quot;152&quot;/&gt;&lt;height val=&quot;166&quot;/&gt;&lt;hasText val=&quot;1&quot;/&gt;&lt;/Image&gt;&lt;/ThreeDShapeInfo&gt;"/>
  <p:tag name="PRESENTER_SHAPETEXTINFO" val="&lt;ShapeTextInfo&gt;&lt;TableIndex row=&quot;1&quot; col=&quot;1&quot;&gt;&lt;linesCount val=&quot;1&quot;/&gt;&lt;lineCharCount val=&quot;18&quot;/&gt;&lt;/TableIndex&gt;&lt;TableIndex row=&quot;1&quot; col=&quot;2&quot;&gt;&lt;linesCount val=&quot;1&quot;/&gt;&lt;lineCharCount val=&quot;18&quot;/&gt;&lt;/TableIndex&gt;&lt;TableIndex row=&quot;1&quot; col=&quot;3&quot;&gt;&lt;linesCount val=&quot;1&quot;/&gt;&lt;lineCharCount val=&quot;18&quot;/&gt;&lt;/TableIndex&gt;&lt;TableIndex row=&quot;2&quot; col=&quot;1&quot;&gt;&lt;linesCount val=&quot;1&quot;/&gt;&lt;lineCharCount val=&quot;3&quot;/&gt;&lt;/TableIndex&gt;&lt;TableIndex row=&quot;2&quot; col=&quot;2&quot;&gt;&lt;linesCount val=&quot;1&quot;/&gt;&lt;lineCharCount val=&quot;2&quot;/&gt;&lt;/TableIndex&gt;&lt;TableIndex row=&quot;2&quot; col=&quot;3&quot;&gt;&lt;linesCount val=&quot;1&quot;/&gt;&lt;lineCharCount val=&quot;4&quot;/&gt;&lt;/TableIndex&gt;&lt;TableIndex row=&quot;3&quot; col=&quot;1&quot;&gt;&lt;linesCount val=&quot;1&quot;/&gt;&lt;lineCharCount val=&quot;3&quot;/&gt;&lt;/TableIndex&gt;&lt;TableIndex row=&quot;3&quot; col=&quot;2&quot;&gt;&lt;linesCount val=&quot;1&quot;/&gt;&lt;lineCharCount val=&quot;3&quot;/&gt;&lt;/TableIndex&gt;&lt;TableIndex row=&quot;3&quot; col=&quot;3&quot;&gt;&lt;linesCount val=&quot;1&quot;/&gt;&lt;lineCharCount val=&quot;3&quot;/&gt;&lt;/TableIndex&gt;&lt;TableIndex row=&quot;4&quot; col=&quot;1&quot;&gt;&lt;linesCount val=&quot;1&quot;/&gt;&lt;lineCharCount val=&quot;3&quot;/&gt;&lt;/TableIndex&gt;&lt;TableIndex row=&quot;4&quot; col=&quot;2&quot;&gt;&lt;linesCount val=&quot;1&quot;/&gt;&lt;lineCharCount val=&quot;2&quot;/&gt;&lt;/TableIndex&gt;&lt;TableIndex row=&quot;4&quot; col=&quot;3&quot;&gt;&lt;linesCount val=&quot;1&quot;/&gt;&lt;lineCharCount val=&quot;4&quot;/&gt;&lt;/TableIndex&gt;&lt;TableIndex row=&quot;5&quot; col=&quot;1&quot;&gt;&lt;linesCount val=&quot;1&quot;/&gt;&lt;lineCharCount val=&quot;3&quot;/&gt;&lt;/TableIndex&gt;&lt;TableIndex row=&quot;5&quot; col=&quot;2&quot;&gt;&lt;linesCount val=&quot;1&quot;/&gt;&lt;lineCharCount val=&quot;3&quot;/&gt;&lt;/TableIndex&gt;&lt;TableIndex row=&quot;5&quot; col=&quot;3&quot;&gt;&lt;linesCount val=&quot;1&quot;/&gt;&lt;lineCharCount val=&quot;4&quot;/&gt;&lt;/TableIndex&gt;&lt;TableIndex row=&quot;6&quot; col=&quot;1&quot;&gt;&lt;linesCount val=&quot;1&quot;/&gt;&lt;lineCharCount val=&quot;3&quot;/&gt;&lt;/TableIndex&gt;&lt;TableIndex row=&quot;6&quot; col=&quot;2&quot;&gt;&lt;linesCount val=&quot;1&quot;/&gt;&lt;lineCharCount val=&quot;2&quot;/&gt;&lt;/TableIndex&gt;&lt;TableIndex row=&quot;6&quot; col=&quot;3&quot;&gt;&lt;linesCount val=&quot;1&quot;/&gt;&lt;lineCharCount val=&quot;3&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87E125D-AEA5-417B-9932-AA97DBA1F2BA}_34.png&quot;/&gt;&lt;left val=&quot;-42&quot;/&gt;&lt;top val=&quot;258&quot;/&gt;&lt;width val=&quot;288&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4D341D3-DDB9-4C5E-8F1C-894B003894C5}_34.png&quot;/&gt;&lt;left val=&quot;395&quot;/&gt;&lt;top val=&quot;359&quot;/&gt;&lt;width val=&quot;261&quot;/&gt;&lt;height val=&quot;61&quot;/&gt;&lt;hasText val=&quot;1&quot;/&gt;&lt;/Image&gt;&lt;/ThreeDShapeInfo&gt;"/>
  <p:tag name="PRESENTER_SHAPETEXTINFO" val="&lt;ShapeTextInfo&gt;&lt;TableIndex row=&quot;1&quot; col=&quot;1&quot;&gt;&lt;linesCount val=&quot;1&quot;/&gt;&lt;lineCharCount val=&quot;9&quot;/&gt;&lt;/TableIndex&gt;&lt;TableIndex row=&quot;2&quot; col=&quot;1&quot;&gt;&lt;linesCount val=&quot;1&quot;/&gt;&lt;lineCharCount val=&quot;25&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537779B0-7F2F-44FF-886F-1F5B06F2EABE}_34.png&quot;/&gt;&lt;left val=&quot;444&quot;/&gt;&lt;top val=&quot;429&quot;/&gt;&lt;width val=&quot;288&quot;/&gt;&lt;height val=&quot;45&quot;/&gt;&lt;hasText val=&quot;1&quot;/&gt;&lt;/Image&gt;&lt;/ThreeDShapeInfo&gt;"/>
  <p:tag name="PRESENTER_SHAPETEXTINFO" val="&lt;ShapeTextInfo&gt;&lt;TableIndex row=&quot;-1&quot; col=&quot;-1&quot;&gt;&lt;linesCount val=&quot;1&quot;/&gt;&lt;lineCharCount val=&quot;6&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HTML_SHAPEINFO" val="&lt;SlideThumbPath val=&quot;Slide35.PNG&quot;/&gt;"/>
  <p:tag name="PPSNARRATION" val="26,1521406158,C:\Users\sanmi\GoogleDrive\UWMdrive\Courses\ECE552\ece552-lec17_ParallelProcessors_pptx\Media.ppcx"/>
</p:tagLst>
</file>

<file path=ppt/tags/tag1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8D285F1-9A96-4410-B200-76597A6590A4}_3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7&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E0621D5-6D4B-4253-9B9D-891EB6F34587}_3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FD3B84D-86E5-451B-9C7B-1BC18C23D73D}_35.png&quot;/&gt;&lt;left val=&quot;215&quot;/&gt;&lt;top val=&quot;507&quot;/&gt;&lt;width val=&quot;288&quot;/&gt;&lt;height val=&quot;45&quot;/&gt;&lt;hasText val=&quot;1&quot;/&gt;&lt;/Image&gt;&lt;/ThreeDShapeInfo&gt;"/>
  <p:tag name="PRESENTER_SHAPETEXTINFO" val="&lt;ShapeTextInfo&gt;&lt;TableIndex row=&quot;-1&quot; col=&quot;-1&quot;&gt;&lt;linesCount val=&quot;1&quot;/&gt;&lt;lineCharCount val=&quot;13&quot;/&gt;&lt;/TableIndex&gt;&lt;/ShapeTextInfo&gt;"/>
</p:tagLst>
</file>

<file path=ppt/tags/tag188.xml><?xml version="1.0" encoding="utf-8"?>
<p:tagLst xmlns:a="http://schemas.openxmlformats.org/drawingml/2006/main" xmlns:r="http://schemas.openxmlformats.org/officeDocument/2006/relationships" xmlns:p="http://schemas.openxmlformats.org/presentationml/2006/main">
  <p:tag name="PRESENTER_SHAPEINFO" val="&lt;ThreeDShapeInfo&gt;&lt;uuid val=&quot;{0E7C39C1-6470-4442-87CB-71CFBF22F52A}&quot;/&gt;&lt;isInvalidForFieldText val=&quot;0&quot;/&gt;&lt;Image&gt;&lt;filename val=&quot;C:\Users\sanmi\Documents\My Adobe Presentations\ece552-ParallelProcessors\data\asimages\{0E7C39C1-6470-4442-87CB-71CFBF22F52A}.png&quot;/&gt;&lt;left val=&quot;17&quot;/&gt;&lt;top val=&quot;238&quot;/&gt;&lt;width val=&quot;689&quot;/&gt;&lt;height val=&quot;252&quot;/&gt;&lt;hasText val=&quot;1&quot;/&gt;&lt;/Image&gt;&lt;/ThreeDShapeInfo&gt;"/>
</p:tagLst>
</file>

<file path=ppt/tags/tag1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A4D10D1B-7FE0-455D-8103-9576C8D8C0E3}_35.png&quot;/&gt;&lt;left val=&quot;8&quot;/&gt;&lt;top val=&quot;471&quot;/&gt;&lt;width val=&quot;288&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FC28E1F-1D5F-458A-8F68-6504B4F50942}_35.png&quot;/&gt;&lt;left val=&quot;419&quot;/&gt;&lt;top val=&quot;489&quot;/&gt;&lt;width val=&quot;288&quot;/&gt;&lt;height val=&quot;45&quot;/&gt;&lt;hasText val=&quot;1&quot;/&gt;&lt;/Image&gt;&lt;/ThreeDShapeInfo&gt;"/>
  <p:tag name="PRESENTER_SHAPETEXTINFO" val="&lt;ShapeTextInfo&gt;&lt;TableIndex row=&quot;-1&quot; col=&quot;-1&quot;&gt;&lt;linesCount val=&quot;1&quot;/&gt;&lt;lineCharCount val=&quot;6&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6EB16160-25F7-4F68-97EB-BB2AD069875C}_35.png&quot;/&gt;&lt;left val=&quot;36&quot;/&gt;&lt;top val=&quot;248&quot;/&gt;&lt;width val=&quot;329&quot;/&gt;&lt;height val=&quot;51&quot;/&gt;&lt;hasText val=&quot;1&quot;/&gt;&lt;/Image&gt;&lt;/ThreeDShapeInfo&gt;"/>
  <p:tag name="PRESENTER_SHAPETEXTINFO" val="&lt;ShapeTextInfo&gt;&lt;TableIndex row=&quot;-1&quot; col=&quot;-1&quot;&gt;&lt;linesCount val=&quot;3&quot;/&gt;&lt;lineCharCount val=&quot;28&quot;/&gt;&lt;lineCharCount val=&quot;1&quot;/&gt;&lt;lineCharCount val=&quot;1&quot;/&gt;&lt;/TableIndex&gt;&lt;/ShapeTextInfo&gt;"/>
</p:tagLst>
</file>

<file path=ppt/tags/tag1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708CEE09-E880-4B3A-8970-C73B7034E09D}_35.png&quot;/&gt;&lt;left val=&quot;27&quot;/&gt;&lt;top val=&quot;108&quot;/&gt;&lt;width val=&quot;681&quot;/&gt;&lt;height val=&quot;147&quot;/&gt;&lt;hasText val=&quot;1&quot;/&gt;&lt;/Image&gt;&lt;/ThreeDShapeInfo&gt;"/>
  <p:tag name="PRESENTER_SHAPETEXTINFO" val="&lt;ShapeTextInfo&gt;&lt;TableIndex row=&quot;-1&quot; col=&quot;-1&quot;&gt;&lt;linesCount val=&quot;4&quot;/&gt;&lt;lineCharCount val=&quot;50&quot;/&gt;&lt;lineCharCount val=&quot;37&quot;/&gt;&lt;lineCharCount val=&quot;52&quot;/&gt;&lt;lineCharCount val=&quot;18&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HTML_SHAPEINFO" val="&lt;SlideThumbPath val=&quot;Slide36.PNG&quot;/&gt;"/>
  <p:tag name="PPSNARRATION" val="27,1521406158,C:\Users\sanmi\GoogleDrive\UWMdrive\Courses\ECE552\ece552-lec17_ParallelProcessors_pptx\Media.ppcx"/>
</p:tagLst>
</file>

<file path=ppt/tags/tag1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BC923791-408E-4DCA-9707-489331CE6ECD}_36.png&quot;/&gt;&lt;left val=&quot;35&quot;/&gt;&lt;top val=&quot;21&quot;/&gt;&lt;width val=&quot;612&quot;/&gt;&lt;height val=&quot;98&quot;/&gt;&lt;hasText val=&quot;1&quot;/&gt;&lt;/Image&gt;&lt;/ThreeDShapeInfo&gt;"/>
  <p:tag name="PRESENTER_SHAPETEXTINFO" val="&lt;ShapeTextInfo&gt;&lt;TableIndex row=&quot;-1&quot; col=&quot;-1&quot;&gt;&lt;linesCount val=&quot;1&quot;/&gt;&lt;lineCharCount val=&quot;19&quot;/&gt;&lt;/TableIndex&gt;&lt;/ShapeTextInfo&gt;"/>
</p:tagLst>
</file>

<file path=ppt/tags/tag1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DF98EA1E-4183-4AD5-A4EB-1254488B61A9}_3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229B1077-88C1-495C-83A8-3044E34E9BAA}_36.png&quot;/&gt;&lt;left val=&quot;29&quot;/&gt;&lt;top val=&quot;111&quot;/&gt;&lt;width val=&quot;210&quot;/&gt;&lt;height val=&quot;310&quot;/&gt;&lt;hasText val=&quot;1&quot;/&gt;&lt;/Image&gt;&lt;/ThreeDShapeInfo&gt;"/>
</p:tagLst>
</file>

<file path=ppt/tags/tag1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2E5212B6-E21B-48E9-9C91-0B97A42238B5}_36.png&quot;/&gt;&lt;left val=&quot;251&quot;/&gt;&lt;top val=&quot;111&quot;/&gt;&lt;width val=&quot;210&quot;/&gt;&lt;height val=&quot;310&quot;/&gt;&lt;hasText val=&quot;1&quot;/&gt;&lt;/Image&gt;&lt;/ThreeDShapeInfo&gt;"/>
</p:tagLst>
</file>

<file path=ppt/tags/tag2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669A58DD-4805-4E28-B079-104446AF720A}_36.png&quot;/&gt;&lt;left val=&quot;473&quot;/&gt;&lt;top val=&quot;111&quot;/&gt;&lt;width val=&quot;210&quot;/&gt;&lt;height val=&quot;310&quot;/&gt;&lt;hasText val=&quot;1&quot;/&gt;&lt;/Image&gt;&lt;/ThreeDShapeInfo&gt;"/>
</p:tagLst>
</file>

<file path=ppt/tags/tag2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49B911C2-D11B-4ABF-9C59-811DF0D29F1C}_36.png&quot;/&gt;&lt;left val=&quot;135&quot;/&gt;&lt;top val=&quot;491&quot;/&gt;&lt;width val=&quot;448&quot;/&gt;&lt;height val=&quot;45&quot;/&gt;&lt;hasText val=&quot;1&quot;/&gt;&lt;/Image&gt;&lt;/ThreeDShapeInfo&gt;"/>
  <p:tag name="PRESENTER_SHAPETEXTINFO" val="&lt;ShapeTextInfo&gt;&lt;TableIndex row=&quot;-1&quot; col=&quot;-1&quot;&gt;&lt;linesCount val=&quot;1&quot;/&gt;&lt;lineCharCount val=&quot;11&quot;/&gt;&lt;/TableIndex&gt;&lt;/ShapeTextInfo&gt;"/>
</p:tagLst>
</file>

<file path=ppt/tags/tag2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16060966-19F4-4D12-9DAC-2B68071B80A7}_36.png&quot;/&gt;&lt;left val=&quot;239&quot;/&gt;&lt;top val=&quot;443&quot;/&gt;&lt;width val=&quot;232&quot;/&gt;&lt;height val=&quot;33&quot;/&gt;&lt;hasText val=&quot;1&quot;/&gt;&lt;/Image&gt;&lt;/ThreeDShapeInfo&gt;"/>
  <p:tag name="PRESENTER_SHAPETEXTINFO" val="&lt;ShapeTextInfo&gt;&lt;TableIndex row=&quot;-1&quot; col=&quot;-1&quot;&gt;&lt;linesCount val=&quot;1&quot;/&gt;&lt;lineCharCount val=&quot;15&quot;/&gt;&lt;/TableIndex&gt;&lt;/ShapeTextInfo&gt;"/>
</p:tagLst>
</file>

<file path=ppt/tags/tag2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quot;/&gt;&lt;lineCharCount val=&quot;5&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2&quot;/&gt;&lt;lineCharCount val=&quot;8&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HTML_SHAPEINFO" val="&lt;SlideThumbPath val=&quot;Slide37.PNG&quot;/&gt;"/>
  <p:tag name="PPSNARRATION" val="28,1521406158,C:\Users\sanmi\GoogleDrive\UWMdrive\Courses\ECE552\ece552-lec17_ParallelProcessors_pptx\Media.ppcx"/>
  <p:tag name="TIMING" val="|28"/>
</p:tagLst>
</file>

<file path=ppt/tags/tag2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F08526A4-B482-416C-8260-EA7283F34913}_3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214.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ParallelProcessors\data\asimages\{C16AF806-4728-439B-97EE-CADB5E8AFEA8}_1.png_crop.png&quot;/&gt;&lt;left val=&quot;42&quot;/&gt;&lt;top val=&quot;136&quot;/&gt;&lt;width val=&quot;621&quot;/&gt;&lt;height val=&quot;125&quot;/&gt;&lt;hasText val=&quot;1&quot;/&gt;&lt;paraId val=&quot;1&quot;/&gt;&lt;/Image&gt;&lt;Image&gt;&lt;filename val=&quot;C:\Users\sanmi\Documents\My Adobe Presentations\ece552-ParallelProcessors\data\asimages\{DD72E95B-D29A-4FF5-8F4E-0801E0B84A2A}_1.png_crop.png&quot;/&gt;&lt;left val=&quot;683&quot;/&gt;&lt;top val=&quot;395&quot;/&gt;&lt;width val=&quot;0&quot;/&gt;&lt;height val=&quot;0&quot;/&gt;&lt;hasText val=&quot;1&quot;/&gt;&lt;paraId val=&quot;2&quot;/&gt;&lt;/Image&gt;&lt;Image&gt;&lt;filename val=&quot;C:\Users\sanmi\Documents\My Adobe Presentations\ece552-ParallelProcessors\data\asimages\{1AB7FF22-EC6B-4A7F-B713-7DECC67DEFDF}_1.png_crop.png&quot;/&gt;&lt;left val=&quot;43&quot;/&gt;&lt;top val=&quot;316&quot;/&gt;&lt;width val=&quot;407&quot;/&gt;&lt;height val=&quot;25&quot;/&gt;&lt;hasText val=&quot;1&quot;/&gt;&lt;paraId val=&quot;3&quot;/&gt;&lt;/Image&gt;&lt;/TextEffect&gt;"/>
  <p:tag name="PRESENTER_SHAPETEXTINFO" val="&lt;ShapeTextInfo&gt;&lt;TableIndex row=&quot;-1&quot; col=&quot;-1&quot;&gt;&lt;linesCount val=&quot;6&quot;/&gt;&lt;lineCharCount val=&quot;55&quot;/&gt;&lt;lineCharCount val=&quot;53&quot;/&gt;&lt;lineCharCount val=&quot;52&quot;/&gt;&lt;lineCharCount val=&quot;32&quot;/&gt;&lt;lineCharCount val=&quot;1&quot;/&gt;&lt;lineCharCount val=&quot;34&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ParallelProcessors\data\asimages\{CF8EBE71-4E35-4513-B0F4-811A3BC8457E}_3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7375</TotalTime>
  <Words>1079</Words>
  <Application>Microsoft Macintosh PowerPoint</Application>
  <PresentationFormat>On-screen Show (4:3)</PresentationFormat>
  <Paragraphs>303</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Cambria Math</vt:lpstr>
      <vt:lpstr>Courier New</vt:lpstr>
      <vt:lpstr>Times New Roman</vt:lpstr>
      <vt:lpstr>Wingdings</vt:lpstr>
      <vt:lpstr>Lecture Notes 552</vt:lpstr>
      <vt:lpstr>ECE/CS 552: Parallel Processors</vt:lpstr>
      <vt:lpstr>Forecast</vt:lpstr>
      <vt:lpstr>Why Multicore?</vt:lpstr>
      <vt:lpstr>Why Multicore?</vt:lpstr>
      <vt:lpstr>Why Multicore?</vt:lpstr>
      <vt:lpstr>Why Multicore?</vt:lpstr>
      <vt:lpstr>Why Multicore?</vt:lpstr>
      <vt:lpstr>Why Multicore?</vt:lpstr>
      <vt:lpstr>Types of Parallelism</vt:lpstr>
      <vt:lpstr>Concurrency and Parallelism</vt:lpstr>
      <vt:lpstr>Parallel Speedup</vt:lpstr>
      <vt:lpstr>Amdahl’s Law</vt:lpstr>
      <vt:lpstr>Amdahl’s Law – 75% Parallel</vt:lpstr>
      <vt:lpstr>Amdahl’s Law – 98% Parallel</vt:lpstr>
      <vt:lpstr>Flynn’s Taxonomy</vt:lpstr>
      <vt:lpstr>ILP vs. TLP</vt:lpstr>
      <vt:lpstr>Thread-Level Parallelism</vt:lpstr>
      <vt:lpstr>MIMD</vt:lpstr>
      <vt:lpstr>MIMD</vt:lpstr>
      <vt:lpstr>Instruction-Level Parallelism</vt:lpstr>
      <vt:lpstr>Multithreading</vt:lpstr>
      <vt:lpstr>Multithreading</vt:lpstr>
      <vt:lpstr>Simultaneous Multithreading</vt:lpstr>
      <vt:lpstr>Simultaneous Multithreading</vt:lpstr>
      <vt:lpstr>Simultaneous Multithreading</vt:lpstr>
      <vt:lpstr>Simultaneous Multithreading</vt:lpstr>
      <vt:lpstr>Chip Multiprocessor</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Parallel Processors</dc:title>
  <dc:creator/>
  <cp:lastModifiedBy>Boone Severson</cp:lastModifiedBy>
  <cp:revision>414</cp:revision>
  <cp:lastPrinted>1601-01-01T00:00:00Z</cp:lastPrinted>
  <dcterms:created xsi:type="dcterms:W3CDTF">1601-01-01T00:00:00Z</dcterms:created>
  <dcterms:modified xsi:type="dcterms:W3CDTF">2024-08-29T04:28:21Z</dcterms:modified>
</cp:coreProperties>
</file>