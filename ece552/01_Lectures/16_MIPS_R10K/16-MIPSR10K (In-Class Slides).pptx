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2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3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4.xml" ContentType="application/vnd.openxmlformats-officedocument.presentationml.notesSlide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5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6.xml" ContentType="application/vnd.openxmlformats-officedocument.presentationml.notesSlide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7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8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notesSlides/notesSlide9.xml" ContentType="application/vnd.openxmlformats-officedocument.presentationml.notesSlide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12"/>
  </p:notesMasterIdLst>
  <p:handoutMasterIdLst>
    <p:handoutMasterId r:id="rId13"/>
  </p:handoutMasterIdLst>
  <p:sldIdLst>
    <p:sldId id="567" r:id="rId2"/>
    <p:sldId id="789" r:id="rId3"/>
    <p:sldId id="790" r:id="rId4"/>
    <p:sldId id="796" r:id="rId5"/>
    <p:sldId id="791" r:id="rId6"/>
    <p:sldId id="793" r:id="rId7"/>
    <p:sldId id="794" r:id="rId8"/>
    <p:sldId id="795" r:id="rId9"/>
    <p:sldId id="733" r:id="rId10"/>
    <p:sldId id="792" r:id="rId11"/>
  </p:sldIdLst>
  <p:sldSz cx="9144000" cy="6858000" type="screen4x3"/>
  <p:notesSz cx="7010400" cy="9296400"/>
  <p:custDataLst>
    <p:tags r:id="rId1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660066"/>
    <a:srgbClr val="FF33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0" autoAdjust="0"/>
    <p:restoredTop sz="88456" autoAdjust="0"/>
  </p:normalViewPr>
  <p:slideViewPr>
    <p:cSldViewPr>
      <p:cViewPr varScale="1">
        <p:scale>
          <a:sx n="236" d="100"/>
          <a:sy n="236" d="100"/>
        </p:scale>
        <p:origin x="154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58"/>
    </p:cViewPr>
  </p:sorterViewPr>
  <p:notesViewPr>
    <p:cSldViewPr>
      <p:cViewPr varScale="1">
        <p:scale>
          <a:sx n="83" d="100"/>
          <a:sy n="83" d="100"/>
        </p:scale>
        <p:origin x="-1782" y="-8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one Severson" userId="1d942a2b-e0b5-491a-b49e-d500fa0ad426" providerId="ADAL" clId="{CC0607AF-8C15-7E4C-B781-1A58BAB2524E}"/>
    <pc:docChg chg="modSld">
      <pc:chgData name="Boone Severson" userId="1d942a2b-e0b5-491a-b49e-d500fa0ad426" providerId="ADAL" clId="{CC0607AF-8C15-7E4C-B781-1A58BAB2524E}" dt="2024-11-12T01:06:30.539" v="23" actId="20577"/>
      <pc:docMkLst>
        <pc:docMk/>
      </pc:docMkLst>
      <pc:sldChg chg="modSp mod">
        <pc:chgData name="Boone Severson" userId="1d942a2b-e0b5-491a-b49e-d500fa0ad426" providerId="ADAL" clId="{CC0607AF-8C15-7E4C-B781-1A58BAB2524E}" dt="2024-11-12T01:06:30.539" v="23" actId="20577"/>
        <pc:sldMkLst>
          <pc:docMk/>
          <pc:sldMk cId="0" sldId="567"/>
        </pc:sldMkLst>
        <pc:spChg chg="mod">
          <ac:chgData name="Boone Severson" userId="1d942a2b-e0b5-491a-b49e-d500fa0ad426" providerId="ADAL" clId="{CC0607AF-8C15-7E4C-B781-1A58BAB2524E}" dt="2024-11-12T01:06:30.539" v="23" actId="20577"/>
          <ac:spMkLst>
            <pc:docMk/>
            <pc:sldMk cId="0" sldId="567"/>
            <ac:spMk id="3" creationId="{556CBEA4-939F-408C-BDAD-25AA1487F7A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907C59B-6E44-4E86-8B99-06EA69B000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93216D0-1FA3-41B6-8E51-EB2B1D1F432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735FC086-70E6-40CE-9B79-E4DBCBCE1C1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582988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ECE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6E9BB02D-94A9-4C01-9E5F-ACA40993E8B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C0B5B0EB-9FB1-4BB2-89AE-32F267685F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59176C5-8EB4-428E-82B5-211A3C20E6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1DD4CAF-5E7F-4F68-8CD1-BA71CBAB816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85514B30-F15B-4589-9BF5-AA3FEA96108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7223A19C-9FAC-4BC1-AE52-C19B26D7E6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A724DD23-D3C0-44E1-848C-8CDD2DD2881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2F39911D-F208-4ABF-929F-124ED3C369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35F97F0A-87AD-41F2-9CBC-ECB222DB392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455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2492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064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1668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16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1537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4794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8213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93602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7047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0CCFF971-5CE7-433C-A767-815048E45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309F7C70-CD13-413B-B777-0AAA38235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4A6316C-A01C-4DF5-B416-ED135DF6251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F87E23D-A988-4084-80FB-0D7BAC6C9E9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Shen, Lipasti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A8FFAC6-B12B-489B-B3AC-81BACD09ED2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BD82E19B-ADE0-4453-8263-638E8514EE2E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11373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0092052-EB5F-409C-B1A1-A3DDE11B2C8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11D7B9-E684-474B-AAAC-4E598A5E3B4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Shen, Lipasti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33981BD-F3E8-45DC-8B84-6851200D4C6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 sz="1400"/>
            </a:lvl2pPr>
          </a:lstStyle>
          <a:p>
            <a:pPr lvl="1"/>
            <a:fld id="{47344E2E-2B0C-4A36-8E3E-2C4110D5A088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672374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FC57D83-690C-493E-A4A5-890B6E1F54A7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0372225-ACA2-4690-B1AD-22EF8F67B6E2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7C10B-3CE1-4FCF-864A-1BBB9EC6F77E}"/>
              </a:ext>
            </a:extLst>
          </p:cNvPr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309FF-8192-4F38-A16D-941E14006224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Shen, Lipasti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C7F85-070F-46E5-9D8D-D8BAF37B0BA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0CB051A6-74FC-4B70-A115-57357B872DE0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26" Type="http://schemas.openxmlformats.org/officeDocument/2006/relationships/tags" Target="../tags/tag45.xml"/><Relationship Id="rId39" Type="http://schemas.openxmlformats.org/officeDocument/2006/relationships/tags" Target="../tags/tag58.xml"/><Relationship Id="rId21" Type="http://schemas.openxmlformats.org/officeDocument/2006/relationships/tags" Target="../tags/tag40.xml"/><Relationship Id="rId34" Type="http://schemas.openxmlformats.org/officeDocument/2006/relationships/tags" Target="../tags/tag53.xml"/><Relationship Id="rId42" Type="http://schemas.openxmlformats.org/officeDocument/2006/relationships/tags" Target="../tags/tag61.xml"/><Relationship Id="rId47" Type="http://schemas.openxmlformats.org/officeDocument/2006/relationships/tags" Target="../tags/tag66.xml"/><Relationship Id="rId50" Type="http://schemas.openxmlformats.org/officeDocument/2006/relationships/tags" Target="../tags/tag69.xml"/><Relationship Id="rId55" Type="http://schemas.openxmlformats.org/officeDocument/2006/relationships/tags" Target="../tags/tag74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9" Type="http://schemas.openxmlformats.org/officeDocument/2006/relationships/tags" Target="../tags/tag48.xml"/><Relationship Id="rId11" Type="http://schemas.openxmlformats.org/officeDocument/2006/relationships/tags" Target="../tags/tag30.xml"/><Relationship Id="rId24" Type="http://schemas.openxmlformats.org/officeDocument/2006/relationships/tags" Target="../tags/tag43.xml"/><Relationship Id="rId32" Type="http://schemas.openxmlformats.org/officeDocument/2006/relationships/tags" Target="../tags/tag51.xml"/><Relationship Id="rId37" Type="http://schemas.openxmlformats.org/officeDocument/2006/relationships/tags" Target="../tags/tag56.xml"/><Relationship Id="rId40" Type="http://schemas.openxmlformats.org/officeDocument/2006/relationships/tags" Target="../tags/tag59.xml"/><Relationship Id="rId45" Type="http://schemas.openxmlformats.org/officeDocument/2006/relationships/tags" Target="../tags/tag64.xml"/><Relationship Id="rId53" Type="http://schemas.openxmlformats.org/officeDocument/2006/relationships/tags" Target="../tags/tag72.xml"/><Relationship Id="rId58" Type="http://schemas.openxmlformats.org/officeDocument/2006/relationships/notesSlide" Target="../notesSlides/notesSlide2.xml"/><Relationship Id="rId5" Type="http://schemas.openxmlformats.org/officeDocument/2006/relationships/tags" Target="../tags/tag24.xml"/><Relationship Id="rId19" Type="http://schemas.openxmlformats.org/officeDocument/2006/relationships/tags" Target="../tags/tag38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tags" Target="../tags/tag41.xml"/><Relationship Id="rId27" Type="http://schemas.openxmlformats.org/officeDocument/2006/relationships/tags" Target="../tags/tag46.xml"/><Relationship Id="rId30" Type="http://schemas.openxmlformats.org/officeDocument/2006/relationships/tags" Target="../tags/tag49.xml"/><Relationship Id="rId35" Type="http://schemas.openxmlformats.org/officeDocument/2006/relationships/tags" Target="../tags/tag54.xml"/><Relationship Id="rId43" Type="http://schemas.openxmlformats.org/officeDocument/2006/relationships/tags" Target="../tags/tag62.xml"/><Relationship Id="rId48" Type="http://schemas.openxmlformats.org/officeDocument/2006/relationships/tags" Target="../tags/tag67.xml"/><Relationship Id="rId56" Type="http://schemas.openxmlformats.org/officeDocument/2006/relationships/tags" Target="../tags/tag75.xml"/><Relationship Id="rId8" Type="http://schemas.openxmlformats.org/officeDocument/2006/relationships/tags" Target="../tags/tag27.xml"/><Relationship Id="rId51" Type="http://schemas.openxmlformats.org/officeDocument/2006/relationships/tags" Target="../tags/tag70.xml"/><Relationship Id="rId3" Type="http://schemas.openxmlformats.org/officeDocument/2006/relationships/tags" Target="../tags/tag22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5" Type="http://schemas.openxmlformats.org/officeDocument/2006/relationships/tags" Target="../tags/tag44.xml"/><Relationship Id="rId33" Type="http://schemas.openxmlformats.org/officeDocument/2006/relationships/tags" Target="../tags/tag52.xml"/><Relationship Id="rId38" Type="http://schemas.openxmlformats.org/officeDocument/2006/relationships/tags" Target="../tags/tag57.xml"/><Relationship Id="rId46" Type="http://schemas.openxmlformats.org/officeDocument/2006/relationships/tags" Target="../tags/tag65.xml"/><Relationship Id="rId20" Type="http://schemas.openxmlformats.org/officeDocument/2006/relationships/tags" Target="../tags/tag39.xml"/><Relationship Id="rId41" Type="http://schemas.openxmlformats.org/officeDocument/2006/relationships/tags" Target="../tags/tag60.xml"/><Relationship Id="rId54" Type="http://schemas.openxmlformats.org/officeDocument/2006/relationships/tags" Target="../tags/tag73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5" Type="http://schemas.openxmlformats.org/officeDocument/2006/relationships/tags" Target="../tags/tag34.xml"/><Relationship Id="rId23" Type="http://schemas.openxmlformats.org/officeDocument/2006/relationships/tags" Target="../tags/tag42.xml"/><Relationship Id="rId28" Type="http://schemas.openxmlformats.org/officeDocument/2006/relationships/tags" Target="../tags/tag47.xml"/><Relationship Id="rId36" Type="http://schemas.openxmlformats.org/officeDocument/2006/relationships/tags" Target="../tags/tag55.xml"/><Relationship Id="rId49" Type="http://schemas.openxmlformats.org/officeDocument/2006/relationships/tags" Target="../tags/tag68.xml"/><Relationship Id="rId57" Type="http://schemas.openxmlformats.org/officeDocument/2006/relationships/slideLayout" Target="../slideLayouts/slideLayout2.xml"/><Relationship Id="rId10" Type="http://schemas.openxmlformats.org/officeDocument/2006/relationships/tags" Target="../tags/tag29.xml"/><Relationship Id="rId31" Type="http://schemas.openxmlformats.org/officeDocument/2006/relationships/tags" Target="../tags/tag50.xml"/><Relationship Id="rId44" Type="http://schemas.openxmlformats.org/officeDocument/2006/relationships/tags" Target="../tags/tag63.xml"/><Relationship Id="rId52" Type="http://schemas.openxmlformats.org/officeDocument/2006/relationships/tags" Target="../tags/tag7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88.xml"/><Relationship Id="rId18" Type="http://schemas.openxmlformats.org/officeDocument/2006/relationships/tags" Target="../tags/tag93.xml"/><Relationship Id="rId26" Type="http://schemas.openxmlformats.org/officeDocument/2006/relationships/tags" Target="../tags/tag101.xml"/><Relationship Id="rId39" Type="http://schemas.openxmlformats.org/officeDocument/2006/relationships/tags" Target="../tags/tag114.xml"/><Relationship Id="rId21" Type="http://schemas.openxmlformats.org/officeDocument/2006/relationships/tags" Target="../tags/tag96.xml"/><Relationship Id="rId34" Type="http://schemas.openxmlformats.org/officeDocument/2006/relationships/tags" Target="../tags/tag109.xml"/><Relationship Id="rId42" Type="http://schemas.openxmlformats.org/officeDocument/2006/relationships/tags" Target="../tags/tag117.xml"/><Relationship Id="rId47" Type="http://schemas.openxmlformats.org/officeDocument/2006/relationships/tags" Target="../tags/tag122.xml"/><Relationship Id="rId50" Type="http://schemas.openxmlformats.org/officeDocument/2006/relationships/tags" Target="../tags/tag125.xml"/><Relationship Id="rId55" Type="http://schemas.openxmlformats.org/officeDocument/2006/relationships/tags" Target="../tags/tag130.xml"/><Relationship Id="rId7" Type="http://schemas.openxmlformats.org/officeDocument/2006/relationships/tags" Target="../tags/tag82.xml"/><Relationship Id="rId2" Type="http://schemas.openxmlformats.org/officeDocument/2006/relationships/tags" Target="../tags/tag77.xml"/><Relationship Id="rId16" Type="http://schemas.openxmlformats.org/officeDocument/2006/relationships/tags" Target="../tags/tag91.xml"/><Relationship Id="rId29" Type="http://schemas.openxmlformats.org/officeDocument/2006/relationships/tags" Target="../tags/tag104.xml"/><Relationship Id="rId11" Type="http://schemas.openxmlformats.org/officeDocument/2006/relationships/tags" Target="../tags/tag86.xml"/><Relationship Id="rId24" Type="http://schemas.openxmlformats.org/officeDocument/2006/relationships/tags" Target="../tags/tag99.xml"/><Relationship Id="rId32" Type="http://schemas.openxmlformats.org/officeDocument/2006/relationships/tags" Target="../tags/tag107.xml"/><Relationship Id="rId37" Type="http://schemas.openxmlformats.org/officeDocument/2006/relationships/tags" Target="../tags/tag112.xml"/><Relationship Id="rId40" Type="http://schemas.openxmlformats.org/officeDocument/2006/relationships/tags" Target="../tags/tag115.xml"/><Relationship Id="rId45" Type="http://schemas.openxmlformats.org/officeDocument/2006/relationships/tags" Target="../tags/tag120.xml"/><Relationship Id="rId53" Type="http://schemas.openxmlformats.org/officeDocument/2006/relationships/tags" Target="../tags/tag128.xml"/><Relationship Id="rId58" Type="http://schemas.openxmlformats.org/officeDocument/2006/relationships/tags" Target="../tags/tag133.xml"/><Relationship Id="rId5" Type="http://schemas.openxmlformats.org/officeDocument/2006/relationships/tags" Target="../tags/tag80.xml"/><Relationship Id="rId61" Type="http://schemas.openxmlformats.org/officeDocument/2006/relationships/slideLayout" Target="../slideLayouts/slideLayout2.xml"/><Relationship Id="rId19" Type="http://schemas.openxmlformats.org/officeDocument/2006/relationships/tags" Target="../tags/tag94.xml"/><Relationship Id="rId14" Type="http://schemas.openxmlformats.org/officeDocument/2006/relationships/tags" Target="../tags/tag89.xml"/><Relationship Id="rId22" Type="http://schemas.openxmlformats.org/officeDocument/2006/relationships/tags" Target="../tags/tag97.xml"/><Relationship Id="rId27" Type="http://schemas.openxmlformats.org/officeDocument/2006/relationships/tags" Target="../tags/tag102.xml"/><Relationship Id="rId30" Type="http://schemas.openxmlformats.org/officeDocument/2006/relationships/tags" Target="../tags/tag105.xml"/><Relationship Id="rId35" Type="http://schemas.openxmlformats.org/officeDocument/2006/relationships/tags" Target="../tags/tag110.xml"/><Relationship Id="rId43" Type="http://schemas.openxmlformats.org/officeDocument/2006/relationships/tags" Target="../tags/tag118.xml"/><Relationship Id="rId48" Type="http://schemas.openxmlformats.org/officeDocument/2006/relationships/tags" Target="../tags/tag123.xml"/><Relationship Id="rId56" Type="http://schemas.openxmlformats.org/officeDocument/2006/relationships/tags" Target="../tags/tag131.xml"/><Relationship Id="rId8" Type="http://schemas.openxmlformats.org/officeDocument/2006/relationships/tags" Target="../tags/tag83.xml"/><Relationship Id="rId51" Type="http://schemas.openxmlformats.org/officeDocument/2006/relationships/tags" Target="../tags/tag126.xml"/><Relationship Id="rId3" Type="http://schemas.openxmlformats.org/officeDocument/2006/relationships/tags" Target="../tags/tag78.xml"/><Relationship Id="rId12" Type="http://schemas.openxmlformats.org/officeDocument/2006/relationships/tags" Target="../tags/tag87.xml"/><Relationship Id="rId17" Type="http://schemas.openxmlformats.org/officeDocument/2006/relationships/tags" Target="../tags/tag92.xml"/><Relationship Id="rId25" Type="http://schemas.openxmlformats.org/officeDocument/2006/relationships/tags" Target="../tags/tag100.xml"/><Relationship Id="rId33" Type="http://schemas.openxmlformats.org/officeDocument/2006/relationships/tags" Target="../tags/tag108.xml"/><Relationship Id="rId38" Type="http://schemas.openxmlformats.org/officeDocument/2006/relationships/tags" Target="../tags/tag113.xml"/><Relationship Id="rId46" Type="http://schemas.openxmlformats.org/officeDocument/2006/relationships/tags" Target="../tags/tag121.xml"/><Relationship Id="rId59" Type="http://schemas.openxmlformats.org/officeDocument/2006/relationships/tags" Target="../tags/tag134.xml"/><Relationship Id="rId20" Type="http://schemas.openxmlformats.org/officeDocument/2006/relationships/tags" Target="../tags/tag95.xml"/><Relationship Id="rId41" Type="http://schemas.openxmlformats.org/officeDocument/2006/relationships/tags" Target="../tags/tag116.xml"/><Relationship Id="rId54" Type="http://schemas.openxmlformats.org/officeDocument/2006/relationships/tags" Target="../tags/tag129.xml"/><Relationship Id="rId62" Type="http://schemas.openxmlformats.org/officeDocument/2006/relationships/notesSlide" Target="../notesSlides/notesSlide3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5" Type="http://schemas.openxmlformats.org/officeDocument/2006/relationships/tags" Target="../tags/tag90.xml"/><Relationship Id="rId23" Type="http://schemas.openxmlformats.org/officeDocument/2006/relationships/tags" Target="../tags/tag98.xml"/><Relationship Id="rId28" Type="http://schemas.openxmlformats.org/officeDocument/2006/relationships/tags" Target="../tags/tag103.xml"/><Relationship Id="rId36" Type="http://schemas.openxmlformats.org/officeDocument/2006/relationships/tags" Target="../tags/tag111.xml"/><Relationship Id="rId49" Type="http://schemas.openxmlformats.org/officeDocument/2006/relationships/tags" Target="../tags/tag124.xml"/><Relationship Id="rId57" Type="http://schemas.openxmlformats.org/officeDocument/2006/relationships/tags" Target="../tags/tag132.xml"/><Relationship Id="rId10" Type="http://schemas.openxmlformats.org/officeDocument/2006/relationships/tags" Target="../tags/tag85.xml"/><Relationship Id="rId31" Type="http://schemas.openxmlformats.org/officeDocument/2006/relationships/tags" Target="../tags/tag106.xml"/><Relationship Id="rId44" Type="http://schemas.openxmlformats.org/officeDocument/2006/relationships/tags" Target="../tags/tag119.xml"/><Relationship Id="rId52" Type="http://schemas.openxmlformats.org/officeDocument/2006/relationships/tags" Target="../tags/tag127.xml"/><Relationship Id="rId60" Type="http://schemas.openxmlformats.org/officeDocument/2006/relationships/tags" Target="../tags/tag135.xml"/><Relationship Id="rId4" Type="http://schemas.openxmlformats.org/officeDocument/2006/relationships/tags" Target="../tags/tag79.xml"/><Relationship Id="rId9" Type="http://schemas.openxmlformats.org/officeDocument/2006/relationships/tags" Target="../tags/tag8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871D64E9-D993-4FB8-84F6-B48417167DF9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95275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MIPS R10K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CBEA4-939F-408C-BDAD-25AA1487F7A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4800600"/>
            <a:ext cx="6400800" cy="1752600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dirty="0"/>
              <a:t>Boone Severson </a:t>
            </a:r>
          </a:p>
          <a:p>
            <a:pPr eaLnBrk="1" hangingPunct="1">
              <a:buFont typeface="Arial" charset="0"/>
              <a:buNone/>
              <a:defRPr/>
            </a:pPr>
            <a:endParaRPr lang="en-US" dirty="0"/>
          </a:p>
          <a:p>
            <a:pPr eaLnBrk="1" hangingPunct="1">
              <a:buFont typeface="Arial" charset="0"/>
              <a:buNone/>
              <a:defRPr/>
            </a:pPr>
            <a:r>
              <a:rPr lang="en-US" dirty="0"/>
              <a:t>Lecture notes based in part on slides created by Joshua San Miguel, Mikko </a:t>
            </a:r>
            <a:r>
              <a:rPr lang="en-US" dirty="0" err="1"/>
              <a:t>Lipasti</a:t>
            </a:r>
            <a:r>
              <a:rPr lang="en-US" dirty="0"/>
              <a:t>, Mark Hill, David Wood, Guri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Scoreboard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1909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b="1" dirty="0"/>
              <a:t>Problem</a:t>
            </a:r>
            <a:r>
              <a:rPr lang="en-US" altLang="en-US" dirty="0"/>
              <a:t>: writeback stage combines two distinct operations: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US" altLang="en-US" sz="2800" dirty="0"/>
              <a:t>Propagates result to younger instructions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Ok to be out-of-order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US" altLang="en-US" sz="2800" dirty="0"/>
              <a:t>Writes result to register file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Would like this to be in-order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EFF6E9-B726-49D2-9F3E-6BFB500FBA9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657600" y="5486400"/>
            <a:ext cx="34290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b="1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3A9CDE-1740-472D-BEDE-DD01DEE67284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00200" y="5486400"/>
            <a:ext cx="182880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F0BF18-4C31-47D3-9C71-2AF4BEBCB031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876800" y="5105400"/>
            <a:ext cx="914400" cy="3048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regfile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1E3A873-5C24-451C-B0E0-5C69678B1F7F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4953000" y="5791200"/>
            <a:ext cx="304800" cy="609600"/>
          </a:xfrm>
          <a:custGeom>
            <a:avLst/>
            <a:gdLst>
              <a:gd name="T0" fmla="*/ 0 w 384"/>
              <a:gd name="T1" fmla="*/ 0 h 768"/>
              <a:gd name="T2" fmla="*/ 0 w 384"/>
              <a:gd name="T3" fmla="*/ 2147483646 h 768"/>
              <a:gd name="T4" fmla="*/ 2147483646 w 384"/>
              <a:gd name="T5" fmla="*/ 2147483646 h 768"/>
              <a:gd name="T6" fmla="*/ 0 w 384"/>
              <a:gd name="T7" fmla="*/ 2147483646 h 768"/>
              <a:gd name="T8" fmla="*/ 0 w 384"/>
              <a:gd name="T9" fmla="*/ 2147483646 h 768"/>
              <a:gd name="T10" fmla="*/ 2147483646 w 384"/>
              <a:gd name="T11" fmla="*/ 2147483646 h 768"/>
              <a:gd name="T12" fmla="*/ 2147483646 w 384"/>
              <a:gd name="T13" fmla="*/ 2147483646 h 768"/>
              <a:gd name="T14" fmla="*/ 0 w 384"/>
              <a:gd name="T15" fmla="*/ 0 h 7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84"/>
              <a:gd name="T25" fmla="*/ 0 h 768"/>
              <a:gd name="T26" fmla="*/ 384 w 384"/>
              <a:gd name="T27" fmla="*/ 768 h 76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84" h="768">
                <a:moveTo>
                  <a:pt x="0" y="0"/>
                </a:moveTo>
                <a:lnTo>
                  <a:pt x="0" y="288"/>
                </a:lnTo>
                <a:lnTo>
                  <a:pt x="85" y="386"/>
                </a:lnTo>
                <a:lnTo>
                  <a:pt x="0" y="480"/>
                </a:lnTo>
                <a:lnTo>
                  <a:pt x="0" y="768"/>
                </a:lnTo>
                <a:lnTo>
                  <a:pt x="384" y="576"/>
                </a:lnTo>
                <a:lnTo>
                  <a:pt x="384" y="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649FCE-D670-41A5-BA9B-3CD6C59B6425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486400" y="5486400"/>
            <a:ext cx="304800" cy="762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D$</a:t>
            </a: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BEE80458-8F07-4805-999E-3AFED0CB392E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6172200" y="6096000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3C29743F-F411-41D1-8C93-40937B4E30BD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6172200" y="6324600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68D5AA-810C-4BB2-A9B1-699EEF2E1395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495800" y="5486400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5D78C6-5D73-43E9-A1C5-6AFC16BA4AE1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019800" y="5486400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E2FF9E33-035B-40BB-8167-0C823BC0F2A1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5791200" y="6096000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FD9A682D-CB1F-478E-97F0-2773DF47745E}"/>
              </a:ext>
            </a:extLst>
          </p:cNvPr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4648200" y="5943600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9F3152B6-EFBE-451F-9474-7CE431446EED}"/>
              </a:ext>
            </a:extLst>
          </p:cNvPr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4648200" y="6248400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0E5ED7F-34AD-470B-8E10-DA504A9F2BBD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4724400" y="5638800"/>
            <a:ext cx="762000" cy="304800"/>
          </a:xfrm>
          <a:custGeom>
            <a:avLst/>
            <a:gdLst>
              <a:gd name="T0" fmla="*/ 0 w 192"/>
              <a:gd name="T1" fmla="*/ 2147483646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1DE92C47-537F-445C-92CC-0798BFA63A60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 rot="5400000">
            <a:off x="6362700" y="6134100"/>
            <a:ext cx="381000" cy="1524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8FD1660-7A10-4EE5-9C15-577D5619C14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 flipV="1">
            <a:off x="5334000" y="6096000"/>
            <a:ext cx="685800" cy="228600"/>
          </a:xfrm>
          <a:custGeom>
            <a:avLst/>
            <a:gdLst>
              <a:gd name="T0" fmla="*/ 0 w 192"/>
              <a:gd name="T1" fmla="*/ 2147483646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56CB5328-143B-4D6E-939F-E88B98D85106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4267200" y="5334000"/>
            <a:ext cx="609600" cy="609600"/>
          </a:xfrm>
          <a:custGeom>
            <a:avLst/>
            <a:gdLst>
              <a:gd name="T0" fmla="*/ 2147483646 w 384"/>
              <a:gd name="T1" fmla="*/ 0 h 432"/>
              <a:gd name="T2" fmla="*/ 0 w 384"/>
              <a:gd name="T3" fmla="*/ 0 h 432"/>
              <a:gd name="T4" fmla="*/ 0 w 384"/>
              <a:gd name="T5" fmla="*/ 2147483646 h 432"/>
              <a:gd name="T6" fmla="*/ 2147483646 w 384"/>
              <a:gd name="T7" fmla="*/ 2147483646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432"/>
              <a:gd name="T14" fmla="*/ 384 w 384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432">
                <a:moveTo>
                  <a:pt x="384" y="0"/>
                </a:moveTo>
                <a:lnTo>
                  <a:pt x="0" y="0"/>
                </a:lnTo>
                <a:lnTo>
                  <a:pt x="0" y="432"/>
                </a:lnTo>
                <a:lnTo>
                  <a:pt x="144" y="432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5782EF0D-5CB7-4BDB-A88C-B3826351C0EE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4114800" y="5181600"/>
            <a:ext cx="762000" cy="1066800"/>
          </a:xfrm>
          <a:custGeom>
            <a:avLst/>
            <a:gdLst>
              <a:gd name="T0" fmla="*/ 2147483646 w 480"/>
              <a:gd name="T1" fmla="*/ 0 h 768"/>
              <a:gd name="T2" fmla="*/ 0 w 480"/>
              <a:gd name="T3" fmla="*/ 0 h 768"/>
              <a:gd name="T4" fmla="*/ 0 w 480"/>
              <a:gd name="T5" fmla="*/ 2147483646 h 768"/>
              <a:gd name="T6" fmla="*/ 2147483646 w 480"/>
              <a:gd name="T7" fmla="*/ 2147483646 h 768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768"/>
              <a:gd name="T14" fmla="*/ 480 w 480"/>
              <a:gd name="T15" fmla="*/ 768 h 7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768">
                <a:moveTo>
                  <a:pt x="480" y="0"/>
                </a:moveTo>
                <a:lnTo>
                  <a:pt x="0" y="0"/>
                </a:lnTo>
                <a:lnTo>
                  <a:pt x="0" y="768"/>
                </a:lnTo>
                <a:lnTo>
                  <a:pt x="240" y="76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EB0057-FF2F-46F2-A6E0-2A4FCB8CD465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447800" y="5486400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248E60-8059-4360-82BC-0CD7058DDC93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1981200" y="5486400"/>
            <a:ext cx="303213" cy="4572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I$</a:t>
            </a:r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0FEE7CF9-59DA-436C-9D1F-B723198CDDFC}"/>
              </a:ext>
            </a:extLst>
          </p:cNvPr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1600200" y="5943600"/>
            <a:ext cx="152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8BB8FEFF-D46B-4865-A032-A933BA6ED630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1752600" y="5715000"/>
            <a:ext cx="228600" cy="304800"/>
          </a:xfrm>
          <a:custGeom>
            <a:avLst/>
            <a:gdLst>
              <a:gd name="T0" fmla="*/ 0 w 192"/>
              <a:gd name="T1" fmla="*/ 2147483646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AutoShape 25">
            <a:extLst>
              <a:ext uri="{FF2B5EF4-FFF2-40B4-BE49-F238E27FC236}">
                <a16:creationId xmlns:a16="http://schemas.microsoft.com/office/drawing/2014/main" id="{B629D919-CE77-4180-9FD6-D9377FC697E1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 rot="5400000">
            <a:off x="2057400" y="6477000"/>
            <a:ext cx="304800" cy="1524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0B4E57D7-12D2-4EEC-9E49-F542635AD1DA}"/>
              </a:ext>
            </a:extLst>
          </p:cNvPr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2286000" y="5638800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59407C-BAAE-4AB7-AE5F-01667F1A176D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2971800" y="5486400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1217B7B1-5234-481B-AFB2-9E3237203329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 flipV="1">
            <a:off x="1752600" y="6019800"/>
            <a:ext cx="228600" cy="152400"/>
          </a:xfrm>
          <a:custGeom>
            <a:avLst/>
            <a:gdLst>
              <a:gd name="T0" fmla="*/ 0 w 192"/>
              <a:gd name="T1" fmla="*/ 2147483646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DACC1106-E47C-4E61-BB0B-823C2B4E2006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2286000" y="6172200"/>
            <a:ext cx="304800" cy="304800"/>
          </a:xfrm>
          <a:custGeom>
            <a:avLst/>
            <a:gdLst>
              <a:gd name="T0" fmla="*/ 0 w 192"/>
              <a:gd name="T1" fmla="*/ 0 h 240"/>
              <a:gd name="T2" fmla="*/ 2147483646 w 192"/>
              <a:gd name="T3" fmla="*/ 0 h 240"/>
              <a:gd name="T4" fmla="*/ 2147483646 w 192"/>
              <a:gd name="T5" fmla="*/ 2147483646 h 240"/>
              <a:gd name="T6" fmla="*/ 0 w 192"/>
              <a:gd name="T7" fmla="*/ 2147483646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240"/>
              <a:gd name="T14" fmla="*/ 192 w 19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240">
                <a:moveTo>
                  <a:pt x="0" y="0"/>
                </a:moveTo>
                <a:lnTo>
                  <a:pt x="192" y="0"/>
                </a:lnTo>
                <a:lnTo>
                  <a:pt x="192" y="240"/>
                </a:lnTo>
                <a:lnTo>
                  <a:pt x="0" y="24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290FE8B0-7B19-4624-89AC-009E501DE6EF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2286000" y="6096000"/>
            <a:ext cx="3048000" cy="533400"/>
          </a:xfrm>
          <a:custGeom>
            <a:avLst/>
            <a:gdLst>
              <a:gd name="T0" fmla="*/ 2147483646 w 2160"/>
              <a:gd name="T1" fmla="*/ 0 h 576"/>
              <a:gd name="T2" fmla="*/ 2147483646 w 2160"/>
              <a:gd name="T3" fmla="*/ 2147483646 h 576"/>
              <a:gd name="T4" fmla="*/ 0 w 2160"/>
              <a:gd name="T5" fmla="*/ 2147483646 h 576"/>
              <a:gd name="T6" fmla="*/ 0 60000 65536"/>
              <a:gd name="T7" fmla="*/ 0 60000 65536"/>
              <a:gd name="T8" fmla="*/ 0 60000 65536"/>
              <a:gd name="T9" fmla="*/ 0 w 2160"/>
              <a:gd name="T10" fmla="*/ 0 h 576"/>
              <a:gd name="T11" fmla="*/ 2160 w 2160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" h="576">
                <a:moveTo>
                  <a:pt x="2160" y="0"/>
                </a:moveTo>
                <a:lnTo>
                  <a:pt x="2160" y="576"/>
                </a:lnTo>
                <a:lnTo>
                  <a:pt x="0" y="576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6731C10-EE9D-4E1F-B503-9FD9A6637F33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1143000" y="5943600"/>
            <a:ext cx="990600" cy="533400"/>
          </a:xfrm>
          <a:custGeom>
            <a:avLst/>
            <a:gdLst>
              <a:gd name="T0" fmla="*/ 2147483646 w 624"/>
              <a:gd name="T1" fmla="*/ 2147483646 h 528"/>
              <a:gd name="T2" fmla="*/ 0 w 624"/>
              <a:gd name="T3" fmla="*/ 2147483646 h 528"/>
              <a:gd name="T4" fmla="*/ 0 w 624"/>
              <a:gd name="T5" fmla="*/ 0 h 528"/>
              <a:gd name="T6" fmla="*/ 2147483646 w 624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528"/>
              <a:gd name="T14" fmla="*/ 624 w 624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528">
                <a:moveTo>
                  <a:pt x="624" y="528"/>
                </a:moveTo>
                <a:lnTo>
                  <a:pt x="0" y="528"/>
                </a:ln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E98356-18D1-45F8-B6A7-8DF0C27DF6AB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1981200" y="5943600"/>
            <a:ext cx="303213" cy="4572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0991C891-D025-4F44-A602-47E564C869B3}"/>
              </a:ext>
            </a:extLst>
          </p:cNvPr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5257800" y="6096000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61EA89C5-2286-42CE-98D0-65D0A2B083B4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5791200" y="5181600"/>
            <a:ext cx="1066800" cy="914400"/>
          </a:xfrm>
          <a:custGeom>
            <a:avLst/>
            <a:gdLst>
              <a:gd name="T0" fmla="*/ 2147483646 w 672"/>
              <a:gd name="T1" fmla="*/ 2147483646 h 576"/>
              <a:gd name="T2" fmla="*/ 2147483646 w 672"/>
              <a:gd name="T3" fmla="*/ 2147483646 h 576"/>
              <a:gd name="T4" fmla="*/ 2147483646 w 672"/>
              <a:gd name="T5" fmla="*/ 0 h 576"/>
              <a:gd name="T6" fmla="*/ 0 w 672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576"/>
              <a:gd name="T14" fmla="*/ 672 w 672"/>
              <a:gd name="T15" fmla="*/ 576 h 5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576">
                <a:moveTo>
                  <a:pt x="528" y="576"/>
                </a:moveTo>
                <a:lnTo>
                  <a:pt x="672" y="576"/>
                </a:lnTo>
                <a:lnTo>
                  <a:pt x="672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090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B0F2DB0-3D97-4B07-BB40-CE7EB9B1B10E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39624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F4661CF-3A55-4EF3-9437-D539F64D2C63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41148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DFAA71-7104-4C58-8B9E-D8A8B5C04355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42672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DFB5D0-3380-41AE-8C06-9E49C09B228B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44196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67A4F37-00F5-4B2E-B607-46280DF24FB6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5720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94CC065-8340-421B-9ED5-03DA259F93FD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7244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DC70AD-F725-4A8D-A8FB-8896AA95A913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8768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80337C8-955D-4ED7-A364-86CAF3548768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50292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B82332-2813-424E-8EB8-2721E14C4E51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1816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2773FA7-91D0-4D60-9AA1-4245FAB330CA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53340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5D6242B-1E60-48A6-9D9D-8F335E185EE7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54864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F4E7F8A-4689-4834-8A67-9CF72CA8937C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6388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874B969-14F0-4F36-9E0B-C6AB7B10D445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57912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D1E1DAE-3889-4094-9CC0-7E8B6EFE3015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9436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EF1B231-6AFD-4FE0-A88A-CE2BB5AEE098}"/>
              </a:ext>
            </a:extLst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60960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D53D139-A777-401F-85B8-82C079125B62}"/>
              </a:ext>
            </a:extLst>
          </p:cNvPr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62484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62C9112-8E83-4CF7-9EAD-1EB7BA57F05C}"/>
              </a:ext>
            </a:extLst>
          </p:cNvPr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64008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3121519-ED29-4E3C-A451-EEA7E860789A}"/>
              </a:ext>
            </a:extLst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65532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B6C6A86-B5FC-471D-98B3-DBBF0A3C55BA}"/>
              </a:ext>
            </a:extLst>
          </p:cNvPr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3962400" y="42672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scoreboard</a:t>
            </a: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B7050B31-F024-46C3-A6BC-E660525AB26C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3124200" y="4495800"/>
            <a:ext cx="838200" cy="1143000"/>
          </a:xfrm>
          <a:custGeom>
            <a:avLst/>
            <a:gdLst>
              <a:gd name="T0" fmla="*/ 0 w 528"/>
              <a:gd name="T1" fmla="*/ 2147483646 h 720"/>
              <a:gd name="T2" fmla="*/ 2147483646 w 528"/>
              <a:gd name="T3" fmla="*/ 2147483646 h 720"/>
              <a:gd name="T4" fmla="*/ 2147483646 w 528"/>
              <a:gd name="T5" fmla="*/ 0 h 720"/>
              <a:gd name="T6" fmla="*/ 2147483646 w 528"/>
              <a:gd name="T7" fmla="*/ 0 h 720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720"/>
              <a:gd name="T14" fmla="*/ 528 w 528"/>
              <a:gd name="T15" fmla="*/ 720 h 7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720">
                <a:moveTo>
                  <a:pt x="0" y="720"/>
                </a:moveTo>
                <a:lnTo>
                  <a:pt x="144" y="720"/>
                </a:lnTo>
                <a:lnTo>
                  <a:pt x="144" y="0"/>
                </a:lnTo>
                <a:lnTo>
                  <a:pt x="528" y="0"/>
                </a:lnTo>
              </a:path>
            </a:pathLst>
          </a:custGeom>
          <a:noFill/>
          <a:ln w="28575">
            <a:solidFill>
              <a:srgbClr val="FF090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DC8F6C66-C1C6-4855-9584-03DAA6963893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3733800" y="4724400"/>
            <a:ext cx="1828800" cy="914400"/>
          </a:xfrm>
          <a:custGeom>
            <a:avLst/>
            <a:gdLst>
              <a:gd name="T0" fmla="*/ 2147483646 w 1152"/>
              <a:gd name="T1" fmla="*/ 0 h 576"/>
              <a:gd name="T2" fmla="*/ 2147483646 w 1152"/>
              <a:gd name="T3" fmla="*/ 2147483646 h 576"/>
              <a:gd name="T4" fmla="*/ 0 w 1152"/>
              <a:gd name="T5" fmla="*/ 2147483646 h 576"/>
              <a:gd name="T6" fmla="*/ 0 w 1152"/>
              <a:gd name="T7" fmla="*/ 2147483646 h 576"/>
              <a:gd name="T8" fmla="*/ 2147483646 w 1152"/>
              <a:gd name="T9" fmla="*/ 2147483646 h 5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576"/>
              <a:gd name="T17" fmla="*/ 1152 w 1152"/>
              <a:gd name="T18" fmla="*/ 576 h 5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576">
                <a:moveTo>
                  <a:pt x="1152" y="0"/>
                </a:moveTo>
                <a:lnTo>
                  <a:pt x="1152" y="144"/>
                </a:lnTo>
                <a:lnTo>
                  <a:pt x="0" y="144"/>
                </a:lnTo>
                <a:lnTo>
                  <a:pt x="0" y="576"/>
                </a:lnTo>
                <a:lnTo>
                  <a:pt x="480" y="576"/>
                </a:lnTo>
              </a:path>
            </a:pathLst>
          </a:custGeom>
          <a:noFill/>
          <a:ln w="28575">
            <a:solidFill>
              <a:srgbClr val="6B02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090132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MIPS R10K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534400" cy="41909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b="1" dirty="0"/>
              <a:t>Reorder buffer (ROB): </a:t>
            </a:r>
            <a:r>
              <a:rPr lang="en-US" altLang="en-US" dirty="0"/>
              <a:t>buffers completed results </a:t>
            </a:r>
            <a:r>
              <a:rPr lang="en-US" altLang="en-US" dirty="0" err="1"/>
              <a:t>en</a:t>
            </a:r>
            <a:r>
              <a:rPr lang="en-US" altLang="en-US" dirty="0"/>
              <a:t> route to registers. Split writeback into 2 stages: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Complete (C): </a:t>
            </a:r>
            <a:r>
              <a:rPr lang="en-US" altLang="en-US" sz="2800" dirty="0"/>
              <a:t>out-of-order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After execution, instructions write into renamed registers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Retire (R): </a:t>
            </a:r>
            <a:r>
              <a:rPr lang="en-US" altLang="en-US" sz="2800" dirty="0"/>
              <a:t>in-order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ROB frees old registers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7" name="Rectangle 2">
            <a:extLst>
              <a:ext uri="{FF2B5EF4-FFF2-40B4-BE49-F238E27FC236}">
                <a16:creationId xmlns:a16="http://schemas.microsoft.com/office/drawing/2014/main" id="{46A9F9CC-EAD2-40FC-AE78-3E4208E679B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657600" y="5486400"/>
            <a:ext cx="34290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b="1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C7E24F59-0FF1-427F-91C7-0A0DEA926CF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00200" y="5486400"/>
            <a:ext cx="182880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59" name="Rectangle 6">
            <a:extLst>
              <a:ext uri="{FF2B5EF4-FFF2-40B4-BE49-F238E27FC236}">
                <a16:creationId xmlns:a16="http://schemas.microsoft.com/office/drawing/2014/main" id="{77F0EF50-1023-42BF-849A-C4612758D49E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876800" y="5105400"/>
            <a:ext cx="914400" cy="3048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regfile</a:t>
            </a:r>
          </a:p>
        </p:txBody>
      </p:sp>
      <p:sp>
        <p:nvSpPr>
          <p:cNvPr id="60" name="Freeform 7">
            <a:extLst>
              <a:ext uri="{FF2B5EF4-FFF2-40B4-BE49-F238E27FC236}">
                <a16:creationId xmlns:a16="http://schemas.microsoft.com/office/drawing/2014/main" id="{A665B93C-BC59-4F95-8E37-967EF8831146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4953000" y="5791200"/>
            <a:ext cx="304800" cy="609600"/>
          </a:xfrm>
          <a:custGeom>
            <a:avLst/>
            <a:gdLst>
              <a:gd name="T0" fmla="*/ 0 w 384"/>
              <a:gd name="T1" fmla="*/ 0 h 768"/>
              <a:gd name="T2" fmla="*/ 0 w 384"/>
              <a:gd name="T3" fmla="*/ 2147483646 h 768"/>
              <a:gd name="T4" fmla="*/ 2147483646 w 384"/>
              <a:gd name="T5" fmla="*/ 2147483646 h 768"/>
              <a:gd name="T6" fmla="*/ 0 w 384"/>
              <a:gd name="T7" fmla="*/ 2147483646 h 768"/>
              <a:gd name="T8" fmla="*/ 0 w 384"/>
              <a:gd name="T9" fmla="*/ 2147483646 h 768"/>
              <a:gd name="T10" fmla="*/ 2147483646 w 384"/>
              <a:gd name="T11" fmla="*/ 2147483646 h 768"/>
              <a:gd name="T12" fmla="*/ 2147483646 w 384"/>
              <a:gd name="T13" fmla="*/ 2147483646 h 768"/>
              <a:gd name="T14" fmla="*/ 0 w 384"/>
              <a:gd name="T15" fmla="*/ 0 h 7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84"/>
              <a:gd name="T25" fmla="*/ 0 h 768"/>
              <a:gd name="T26" fmla="*/ 384 w 384"/>
              <a:gd name="T27" fmla="*/ 768 h 76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84" h="768">
                <a:moveTo>
                  <a:pt x="0" y="0"/>
                </a:moveTo>
                <a:lnTo>
                  <a:pt x="0" y="288"/>
                </a:lnTo>
                <a:lnTo>
                  <a:pt x="85" y="386"/>
                </a:lnTo>
                <a:lnTo>
                  <a:pt x="0" y="480"/>
                </a:lnTo>
                <a:lnTo>
                  <a:pt x="0" y="768"/>
                </a:lnTo>
                <a:lnTo>
                  <a:pt x="384" y="576"/>
                </a:lnTo>
                <a:lnTo>
                  <a:pt x="384" y="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246FDF4B-A4B1-4B6C-A06C-691625E01EFE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486400" y="5486400"/>
            <a:ext cx="304800" cy="762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D$</a:t>
            </a:r>
          </a:p>
        </p:txBody>
      </p:sp>
      <p:sp>
        <p:nvSpPr>
          <p:cNvPr id="62" name="Line 9">
            <a:extLst>
              <a:ext uri="{FF2B5EF4-FFF2-40B4-BE49-F238E27FC236}">
                <a16:creationId xmlns:a16="http://schemas.microsoft.com/office/drawing/2014/main" id="{D8092EDB-E543-4435-B273-5039924536F4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6172200" y="6096000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Line 10">
            <a:extLst>
              <a:ext uri="{FF2B5EF4-FFF2-40B4-BE49-F238E27FC236}">
                <a16:creationId xmlns:a16="http://schemas.microsoft.com/office/drawing/2014/main" id="{2ADA11D8-0D29-46C2-9293-D79C481D1914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6172200" y="6324600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Rectangle 11">
            <a:extLst>
              <a:ext uri="{FF2B5EF4-FFF2-40B4-BE49-F238E27FC236}">
                <a16:creationId xmlns:a16="http://schemas.microsoft.com/office/drawing/2014/main" id="{BD061BC0-6334-4A25-BBA0-615E7007F08C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495800" y="5486400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5" name="Rectangle 12">
            <a:extLst>
              <a:ext uri="{FF2B5EF4-FFF2-40B4-BE49-F238E27FC236}">
                <a16:creationId xmlns:a16="http://schemas.microsoft.com/office/drawing/2014/main" id="{FB9E81AF-9CEB-4F08-8249-DE1738072E70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019800" y="5486400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6" name="Line 13">
            <a:extLst>
              <a:ext uri="{FF2B5EF4-FFF2-40B4-BE49-F238E27FC236}">
                <a16:creationId xmlns:a16="http://schemas.microsoft.com/office/drawing/2014/main" id="{1F0E2FE5-541F-4DAD-9A26-E8B4CB10661E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5791200" y="6096000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Line 14">
            <a:extLst>
              <a:ext uri="{FF2B5EF4-FFF2-40B4-BE49-F238E27FC236}">
                <a16:creationId xmlns:a16="http://schemas.microsoft.com/office/drawing/2014/main" id="{9E02D078-56C7-40C4-9003-E633832BC8E5}"/>
              </a:ext>
            </a:extLst>
          </p:cNvPr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4648200" y="5943600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Line 15">
            <a:extLst>
              <a:ext uri="{FF2B5EF4-FFF2-40B4-BE49-F238E27FC236}">
                <a16:creationId xmlns:a16="http://schemas.microsoft.com/office/drawing/2014/main" id="{C3E579CA-2999-47A3-B5AD-D21F088D3664}"/>
              </a:ext>
            </a:extLst>
          </p:cNvPr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4648200" y="6248400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" name="Freeform 16">
            <a:extLst>
              <a:ext uri="{FF2B5EF4-FFF2-40B4-BE49-F238E27FC236}">
                <a16:creationId xmlns:a16="http://schemas.microsoft.com/office/drawing/2014/main" id="{8F7184A2-90CE-46CE-BD7E-17457E564049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4724400" y="5638800"/>
            <a:ext cx="762000" cy="304800"/>
          </a:xfrm>
          <a:custGeom>
            <a:avLst/>
            <a:gdLst>
              <a:gd name="T0" fmla="*/ 0 w 192"/>
              <a:gd name="T1" fmla="*/ 2147483646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" name="AutoShape 17">
            <a:extLst>
              <a:ext uri="{FF2B5EF4-FFF2-40B4-BE49-F238E27FC236}">
                <a16:creationId xmlns:a16="http://schemas.microsoft.com/office/drawing/2014/main" id="{2505DFB4-BDB1-4668-9B7B-19EA4509CA9B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 rot="5400000">
            <a:off x="6362700" y="6134100"/>
            <a:ext cx="381000" cy="1524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71" name="Freeform 18">
            <a:extLst>
              <a:ext uri="{FF2B5EF4-FFF2-40B4-BE49-F238E27FC236}">
                <a16:creationId xmlns:a16="http://schemas.microsoft.com/office/drawing/2014/main" id="{B8BB62DD-D994-4AC1-95F8-E58CE4361D9A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 flipV="1">
            <a:off x="5334000" y="6096000"/>
            <a:ext cx="685800" cy="228600"/>
          </a:xfrm>
          <a:custGeom>
            <a:avLst/>
            <a:gdLst>
              <a:gd name="T0" fmla="*/ 0 w 192"/>
              <a:gd name="T1" fmla="*/ 2147483646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" name="Freeform 19">
            <a:extLst>
              <a:ext uri="{FF2B5EF4-FFF2-40B4-BE49-F238E27FC236}">
                <a16:creationId xmlns:a16="http://schemas.microsoft.com/office/drawing/2014/main" id="{8676EF31-76E4-4DAB-A8B5-AD043F9304C4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4267200" y="5334000"/>
            <a:ext cx="609600" cy="609600"/>
          </a:xfrm>
          <a:custGeom>
            <a:avLst/>
            <a:gdLst>
              <a:gd name="T0" fmla="*/ 2147483646 w 384"/>
              <a:gd name="T1" fmla="*/ 0 h 432"/>
              <a:gd name="T2" fmla="*/ 0 w 384"/>
              <a:gd name="T3" fmla="*/ 0 h 432"/>
              <a:gd name="T4" fmla="*/ 0 w 384"/>
              <a:gd name="T5" fmla="*/ 2147483646 h 432"/>
              <a:gd name="T6" fmla="*/ 2147483646 w 384"/>
              <a:gd name="T7" fmla="*/ 2147483646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432"/>
              <a:gd name="T14" fmla="*/ 384 w 384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432">
                <a:moveTo>
                  <a:pt x="384" y="0"/>
                </a:moveTo>
                <a:lnTo>
                  <a:pt x="0" y="0"/>
                </a:lnTo>
                <a:lnTo>
                  <a:pt x="0" y="432"/>
                </a:lnTo>
                <a:lnTo>
                  <a:pt x="144" y="432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" name="Freeform 20">
            <a:extLst>
              <a:ext uri="{FF2B5EF4-FFF2-40B4-BE49-F238E27FC236}">
                <a16:creationId xmlns:a16="http://schemas.microsoft.com/office/drawing/2014/main" id="{3684DFBC-2571-4B0B-AA71-27C987F26E5C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4114800" y="5181600"/>
            <a:ext cx="762000" cy="1066800"/>
          </a:xfrm>
          <a:custGeom>
            <a:avLst/>
            <a:gdLst>
              <a:gd name="T0" fmla="*/ 2147483646 w 480"/>
              <a:gd name="T1" fmla="*/ 0 h 768"/>
              <a:gd name="T2" fmla="*/ 0 w 480"/>
              <a:gd name="T3" fmla="*/ 0 h 768"/>
              <a:gd name="T4" fmla="*/ 0 w 480"/>
              <a:gd name="T5" fmla="*/ 2147483646 h 768"/>
              <a:gd name="T6" fmla="*/ 2147483646 w 480"/>
              <a:gd name="T7" fmla="*/ 2147483646 h 768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768"/>
              <a:gd name="T14" fmla="*/ 480 w 480"/>
              <a:gd name="T15" fmla="*/ 768 h 7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768">
                <a:moveTo>
                  <a:pt x="480" y="0"/>
                </a:moveTo>
                <a:lnTo>
                  <a:pt x="0" y="0"/>
                </a:lnTo>
                <a:lnTo>
                  <a:pt x="0" y="768"/>
                </a:lnTo>
                <a:lnTo>
                  <a:pt x="240" y="76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Rectangle 21">
            <a:extLst>
              <a:ext uri="{FF2B5EF4-FFF2-40B4-BE49-F238E27FC236}">
                <a16:creationId xmlns:a16="http://schemas.microsoft.com/office/drawing/2014/main" id="{8FCA4E63-EC8D-4E5C-9B71-D3F4230997E8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447800" y="5486400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5" name="Rectangle 22">
            <a:extLst>
              <a:ext uri="{FF2B5EF4-FFF2-40B4-BE49-F238E27FC236}">
                <a16:creationId xmlns:a16="http://schemas.microsoft.com/office/drawing/2014/main" id="{2B447FF6-B5BA-435C-870A-87E684549E57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1981200" y="5486400"/>
            <a:ext cx="303213" cy="4572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I$</a:t>
            </a:r>
          </a:p>
        </p:txBody>
      </p:sp>
      <p:sp>
        <p:nvSpPr>
          <p:cNvPr id="76" name="Line 23">
            <a:extLst>
              <a:ext uri="{FF2B5EF4-FFF2-40B4-BE49-F238E27FC236}">
                <a16:creationId xmlns:a16="http://schemas.microsoft.com/office/drawing/2014/main" id="{291C8F15-2786-4FC5-BD07-C75527709F94}"/>
              </a:ext>
            </a:extLst>
          </p:cNvPr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1600200" y="5943600"/>
            <a:ext cx="152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Freeform 24">
            <a:extLst>
              <a:ext uri="{FF2B5EF4-FFF2-40B4-BE49-F238E27FC236}">
                <a16:creationId xmlns:a16="http://schemas.microsoft.com/office/drawing/2014/main" id="{3B412017-0B8E-4B29-BCA7-A15E8BFCABBF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1752600" y="5715000"/>
            <a:ext cx="228600" cy="304800"/>
          </a:xfrm>
          <a:custGeom>
            <a:avLst/>
            <a:gdLst>
              <a:gd name="T0" fmla="*/ 0 w 192"/>
              <a:gd name="T1" fmla="*/ 2147483646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" name="AutoShape 25">
            <a:extLst>
              <a:ext uri="{FF2B5EF4-FFF2-40B4-BE49-F238E27FC236}">
                <a16:creationId xmlns:a16="http://schemas.microsoft.com/office/drawing/2014/main" id="{954568E0-7956-4884-ADE0-34CA84B791FC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 rot="5400000">
            <a:off x="2057400" y="6477000"/>
            <a:ext cx="304800" cy="1524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79" name="Line 26">
            <a:extLst>
              <a:ext uri="{FF2B5EF4-FFF2-40B4-BE49-F238E27FC236}">
                <a16:creationId xmlns:a16="http://schemas.microsoft.com/office/drawing/2014/main" id="{AF7054F2-55C9-4566-B1B1-0246874F5EE7}"/>
              </a:ext>
            </a:extLst>
          </p:cNvPr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2286000" y="5638800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" name="Rectangle 27">
            <a:extLst>
              <a:ext uri="{FF2B5EF4-FFF2-40B4-BE49-F238E27FC236}">
                <a16:creationId xmlns:a16="http://schemas.microsoft.com/office/drawing/2014/main" id="{1D5D1AE9-7AFC-4A96-A7F3-231C97FF6D4F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2971800" y="5486400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1" name="Freeform 28">
            <a:extLst>
              <a:ext uri="{FF2B5EF4-FFF2-40B4-BE49-F238E27FC236}">
                <a16:creationId xmlns:a16="http://schemas.microsoft.com/office/drawing/2014/main" id="{76109992-6BC0-4EC1-B23A-66CBF90B0817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 flipV="1">
            <a:off x="1752600" y="6019800"/>
            <a:ext cx="228600" cy="152400"/>
          </a:xfrm>
          <a:custGeom>
            <a:avLst/>
            <a:gdLst>
              <a:gd name="T0" fmla="*/ 0 w 192"/>
              <a:gd name="T1" fmla="*/ 2147483646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" name="Freeform 29">
            <a:extLst>
              <a:ext uri="{FF2B5EF4-FFF2-40B4-BE49-F238E27FC236}">
                <a16:creationId xmlns:a16="http://schemas.microsoft.com/office/drawing/2014/main" id="{80677B2F-6F19-4A1B-872D-66404AC5C709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2286000" y="6172200"/>
            <a:ext cx="304800" cy="304800"/>
          </a:xfrm>
          <a:custGeom>
            <a:avLst/>
            <a:gdLst>
              <a:gd name="T0" fmla="*/ 0 w 192"/>
              <a:gd name="T1" fmla="*/ 0 h 240"/>
              <a:gd name="T2" fmla="*/ 2147483646 w 192"/>
              <a:gd name="T3" fmla="*/ 0 h 240"/>
              <a:gd name="T4" fmla="*/ 2147483646 w 192"/>
              <a:gd name="T5" fmla="*/ 2147483646 h 240"/>
              <a:gd name="T6" fmla="*/ 0 w 192"/>
              <a:gd name="T7" fmla="*/ 2147483646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240"/>
              <a:gd name="T14" fmla="*/ 192 w 19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240">
                <a:moveTo>
                  <a:pt x="0" y="0"/>
                </a:moveTo>
                <a:lnTo>
                  <a:pt x="192" y="0"/>
                </a:lnTo>
                <a:lnTo>
                  <a:pt x="192" y="240"/>
                </a:lnTo>
                <a:lnTo>
                  <a:pt x="0" y="24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Freeform 30">
            <a:extLst>
              <a:ext uri="{FF2B5EF4-FFF2-40B4-BE49-F238E27FC236}">
                <a16:creationId xmlns:a16="http://schemas.microsoft.com/office/drawing/2014/main" id="{F24DC809-799D-4D36-AC58-DD8446B179A6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2286000" y="6096000"/>
            <a:ext cx="3048000" cy="533400"/>
          </a:xfrm>
          <a:custGeom>
            <a:avLst/>
            <a:gdLst>
              <a:gd name="T0" fmla="*/ 2147483646 w 2160"/>
              <a:gd name="T1" fmla="*/ 0 h 576"/>
              <a:gd name="T2" fmla="*/ 2147483646 w 2160"/>
              <a:gd name="T3" fmla="*/ 2147483646 h 576"/>
              <a:gd name="T4" fmla="*/ 0 w 2160"/>
              <a:gd name="T5" fmla="*/ 2147483646 h 576"/>
              <a:gd name="T6" fmla="*/ 0 60000 65536"/>
              <a:gd name="T7" fmla="*/ 0 60000 65536"/>
              <a:gd name="T8" fmla="*/ 0 60000 65536"/>
              <a:gd name="T9" fmla="*/ 0 w 2160"/>
              <a:gd name="T10" fmla="*/ 0 h 576"/>
              <a:gd name="T11" fmla="*/ 2160 w 2160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" h="576">
                <a:moveTo>
                  <a:pt x="2160" y="0"/>
                </a:moveTo>
                <a:lnTo>
                  <a:pt x="2160" y="576"/>
                </a:lnTo>
                <a:lnTo>
                  <a:pt x="0" y="576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" name="Freeform 31">
            <a:extLst>
              <a:ext uri="{FF2B5EF4-FFF2-40B4-BE49-F238E27FC236}">
                <a16:creationId xmlns:a16="http://schemas.microsoft.com/office/drawing/2014/main" id="{5E445854-F328-45E6-9195-CD5EABA7F266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1143000" y="5943600"/>
            <a:ext cx="990600" cy="533400"/>
          </a:xfrm>
          <a:custGeom>
            <a:avLst/>
            <a:gdLst>
              <a:gd name="T0" fmla="*/ 2147483646 w 624"/>
              <a:gd name="T1" fmla="*/ 2147483646 h 528"/>
              <a:gd name="T2" fmla="*/ 0 w 624"/>
              <a:gd name="T3" fmla="*/ 2147483646 h 528"/>
              <a:gd name="T4" fmla="*/ 0 w 624"/>
              <a:gd name="T5" fmla="*/ 0 h 528"/>
              <a:gd name="T6" fmla="*/ 2147483646 w 624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528"/>
              <a:gd name="T14" fmla="*/ 624 w 624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528">
                <a:moveTo>
                  <a:pt x="624" y="528"/>
                </a:moveTo>
                <a:lnTo>
                  <a:pt x="0" y="528"/>
                </a:ln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" name="Rectangle 32">
            <a:extLst>
              <a:ext uri="{FF2B5EF4-FFF2-40B4-BE49-F238E27FC236}">
                <a16:creationId xmlns:a16="http://schemas.microsoft.com/office/drawing/2014/main" id="{1A3B1F7F-C37D-4F00-ADEC-ADB0945D5428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1981200" y="5943600"/>
            <a:ext cx="303213" cy="4572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86" name="Line 33">
            <a:extLst>
              <a:ext uri="{FF2B5EF4-FFF2-40B4-BE49-F238E27FC236}">
                <a16:creationId xmlns:a16="http://schemas.microsoft.com/office/drawing/2014/main" id="{3F5974EA-5F5E-48A6-9AAB-08F180E95160}"/>
              </a:ext>
            </a:extLst>
          </p:cNvPr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5257800" y="6096000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Rectangle 34">
            <a:extLst>
              <a:ext uri="{FF2B5EF4-FFF2-40B4-BE49-F238E27FC236}">
                <a16:creationId xmlns:a16="http://schemas.microsoft.com/office/drawing/2014/main" id="{287AF610-17B5-47AE-A217-2C24D37B7395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39624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8" name="Rectangle 35">
            <a:extLst>
              <a:ext uri="{FF2B5EF4-FFF2-40B4-BE49-F238E27FC236}">
                <a16:creationId xmlns:a16="http://schemas.microsoft.com/office/drawing/2014/main" id="{303F0FD9-AB2D-40F5-BD65-E939A56AD8F6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41148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9" name="Rectangle 36">
            <a:extLst>
              <a:ext uri="{FF2B5EF4-FFF2-40B4-BE49-F238E27FC236}">
                <a16:creationId xmlns:a16="http://schemas.microsoft.com/office/drawing/2014/main" id="{EEDD48BB-EC54-41BF-91E8-D158645AE1B0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42672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0" name="Rectangle 37">
            <a:extLst>
              <a:ext uri="{FF2B5EF4-FFF2-40B4-BE49-F238E27FC236}">
                <a16:creationId xmlns:a16="http://schemas.microsoft.com/office/drawing/2014/main" id="{77F0136F-BF95-4824-9FCF-0DB2926D776B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44196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" name="Rectangle 38">
            <a:extLst>
              <a:ext uri="{FF2B5EF4-FFF2-40B4-BE49-F238E27FC236}">
                <a16:creationId xmlns:a16="http://schemas.microsoft.com/office/drawing/2014/main" id="{DDB09FE2-ECA7-4D22-A119-BCEC6924F5E0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45720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" name="Rectangle 39">
            <a:extLst>
              <a:ext uri="{FF2B5EF4-FFF2-40B4-BE49-F238E27FC236}">
                <a16:creationId xmlns:a16="http://schemas.microsoft.com/office/drawing/2014/main" id="{8163D163-2D43-4047-9934-D1AD87F20BB2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7244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" name="Rectangle 40">
            <a:extLst>
              <a:ext uri="{FF2B5EF4-FFF2-40B4-BE49-F238E27FC236}">
                <a16:creationId xmlns:a16="http://schemas.microsoft.com/office/drawing/2014/main" id="{A34E0452-4CD2-41A3-A116-2D1577939349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8768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4" name="Rectangle 41">
            <a:extLst>
              <a:ext uri="{FF2B5EF4-FFF2-40B4-BE49-F238E27FC236}">
                <a16:creationId xmlns:a16="http://schemas.microsoft.com/office/drawing/2014/main" id="{A104E7BE-1333-4712-B96F-136DA6888017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50292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5" name="Rectangle 42">
            <a:extLst>
              <a:ext uri="{FF2B5EF4-FFF2-40B4-BE49-F238E27FC236}">
                <a16:creationId xmlns:a16="http://schemas.microsoft.com/office/drawing/2014/main" id="{EBA077B0-B2BD-41AA-87C1-A8BDE628FA92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51816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6" name="Rectangle 43">
            <a:extLst>
              <a:ext uri="{FF2B5EF4-FFF2-40B4-BE49-F238E27FC236}">
                <a16:creationId xmlns:a16="http://schemas.microsoft.com/office/drawing/2014/main" id="{5A61DEE0-879E-4A04-8332-8CBAEB03BEAD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3340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7" name="Rectangle 44">
            <a:extLst>
              <a:ext uri="{FF2B5EF4-FFF2-40B4-BE49-F238E27FC236}">
                <a16:creationId xmlns:a16="http://schemas.microsoft.com/office/drawing/2014/main" id="{D29652AB-8857-4186-BA0F-9DC11280F798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54864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8" name="Rectangle 45">
            <a:extLst>
              <a:ext uri="{FF2B5EF4-FFF2-40B4-BE49-F238E27FC236}">
                <a16:creationId xmlns:a16="http://schemas.microsoft.com/office/drawing/2014/main" id="{218ECD3A-3E2F-4E62-9861-E08B29ECDB3E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56388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9" name="Rectangle 46">
            <a:extLst>
              <a:ext uri="{FF2B5EF4-FFF2-40B4-BE49-F238E27FC236}">
                <a16:creationId xmlns:a16="http://schemas.microsoft.com/office/drawing/2014/main" id="{DB41188B-7E81-4C49-92CA-CFABCAC6563B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7912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0" name="Rectangle 47">
            <a:extLst>
              <a:ext uri="{FF2B5EF4-FFF2-40B4-BE49-F238E27FC236}">
                <a16:creationId xmlns:a16="http://schemas.microsoft.com/office/drawing/2014/main" id="{7AA4C1B7-D1DD-4604-A90D-7605C762E6EB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59436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1" name="Rectangle 48">
            <a:extLst>
              <a:ext uri="{FF2B5EF4-FFF2-40B4-BE49-F238E27FC236}">
                <a16:creationId xmlns:a16="http://schemas.microsoft.com/office/drawing/2014/main" id="{7640C694-A2FD-4DAC-9F70-07FF4EFC99FB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60960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" name="Rectangle 49">
            <a:extLst>
              <a:ext uri="{FF2B5EF4-FFF2-40B4-BE49-F238E27FC236}">
                <a16:creationId xmlns:a16="http://schemas.microsoft.com/office/drawing/2014/main" id="{4913DC4D-004B-4D33-9D88-835924241480}"/>
              </a:ext>
            </a:extLst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62484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" name="Rectangle 50">
            <a:extLst>
              <a:ext uri="{FF2B5EF4-FFF2-40B4-BE49-F238E27FC236}">
                <a16:creationId xmlns:a16="http://schemas.microsoft.com/office/drawing/2014/main" id="{957459ED-A007-4DA8-A1FA-102B0EA0155C}"/>
              </a:ext>
            </a:extLst>
          </p:cNvPr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64008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4" name="Rectangle 51">
            <a:extLst>
              <a:ext uri="{FF2B5EF4-FFF2-40B4-BE49-F238E27FC236}">
                <a16:creationId xmlns:a16="http://schemas.microsoft.com/office/drawing/2014/main" id="{7F83FFD0-91AE-4C80-9D98-D0B52FF7F50D}"/>
              </a:ext>
            </a:extLst>
          </p:cNvPr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6553200" y="42672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Rectangle 52">
            <a:extLst>
              <a:ext uri="{FF2B5EF4-FFF2-40B4-BE49-F238E27FC236}">
                <a16:creationId xmlns:a16="http://schemas.microsoft.com/office/drawing/2014/main" id="{C3977B18-29AD-449F-B84B-8AC5C40F0A9A}"/>
              </a:ext>
            </a:extLst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3962400" y="42672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reorder  buffer (ROB)</a:t>
            </a:r>
          </a:p>
        </p:txBody>
      </p:sp>
      <p:sp>
        <p:nvSpPr>
          <p:cNvPr id="106" name="Freeform 53">
            <a:extLst>
              <a:ext uri="{FF2B5EF4-FFF2-40B4-BE49-F238E27FC236}">
                <a16:creationId xmlns:a16="http://schemas.microsoft.com/office/drawing/2014/main" id="{64157046-D310-4AEE-80D9-966C2624AC39}"/>
              </a:ext>
            </a:extLst>
          </p:cNvPr>
          <p:cNvSpPr>
            <a:spLocks/>
          </p:cNvSpPr>
          <p:nvPr>
            <p:custDataLst>
              <p:tags r:id="rId54"/>
            </p:custDataLst>
          </p:nvPr>
        </p:nvSpPr>
        <p:spPr bwMode="auto">
          <a:xfrm>
            <a:off x="3124200" y="4495800"/>
            <a:ext cx="838200" cy="1143000"/>
          </a:xfrm>
          <a:custGeom>
            <a:avLst/>
            <a:gdLst>
              <a:gd name="T0" fmla="*/ 0 w 528"/>
              <a:gd name="T1" fmla="*/ 2147483646 h 720"/>
              <a:gd name="T2" fmla="*/ 2147483646 w 528"/>
              <a:gd name="T3" fmla="*/ 2147483646 h 720"/>
              <a:gd name="T4" fmla="*/ 2147483646 w 528"/>
              <a:gd name="T5" fmla="*/ 0 h 720"/>
              <a:gd name="T6" fmla="*/ 2147483646 w 528"/>
              <a:gd name="T7" fmla="*/ 0 h 720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720"/>
              <a:gd name="T14" fmla="*/ 528 w 528"/>
              <a:gd name="T15" fmla="*/ 720 h 7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720">
                <a:moveTo>
                  <a:pt x="0" y="720"/>
                </a:moveTo>
                <a:lnTo>
                  <a:pt x="144" y="720"/>
                </a:lnTo>
                <a:lnTo>
                  <a:pt x="144" y="0"/>
                </a:lnTo>
                <a:lnTo>
                  <a:pt x="528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" name="Freeform 54">
            <a:extLst>
              <a:ext uri="{FF2B5EF4-FFF2-40B4-BE49-F238E27FC236}">
                <a16:creationId xmlns:a16="http://schemas.microsoft.com/office/drawing/2014/main" id="{3C5BF70F-4F32-4F3F-9649-AC42C7449CE7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3733800" y="4724400"/>
            <a:ext cx="1828800" cy="914400"/>
          </a:xfrm>
          <a:custGeom>
            <a:avLst/>
            <a:gdLst>
              <a:gd name="T0" fmla="*/ 2147483646 w 1152"/>
              <a:gd name="T1" fmla="*/ 0 h 576"/>
              <a:gd name="T2" fmla="*/ 2147483646 w 1152"/>
              <a:gd name="T3" fmla="*/ 2147483646 h 576"/>
              <a:gd name="T4" fmla="*/ 0 w 1152"/>
              <a:gd name="T5" fmla="*/ 2147483646 h 576"/>
              <a:gd name="T6" fmla="*/ 0 w 1152"/>
              <a:gd name="T7" fmla="*/ 2147483646 h 576"/>
              <a:gd name="T8" fmla="*/ 2147483646 w 1152"/>
              <a:gd name="T9" fmla="*/ 2147483646 h 5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576"/>
              <a:gd name="T17" fmla="*/ 1152 w 1152"/>
              <a:gd name="T18" fmla="*/ 576 h 5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576">
                <a:moveTo>
                  <a:pt x="1152" y="0"/>
                </a:moveTo>
                <a:lnTo>
                  <a:pt x="1152" y="144"/>
                </a:lnTo>
                <a:lnTo>
                  <a:pt x="0" y="144"/>
                </a:lnTo>
                <a:lnTo>
                  <a:pt x="0" y="576"/>
                </a:lnTo>
                <a:lnTo>
                  <a:pt x="480" y="576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" name="Text Box 55">
            <a:extLst>
              <a:ext uri="{FF2B5EF4-FFF2-40B4-BE49-F238E27FC236}">
                <a16:creationId xmlns:a16="http://schemas.microsoft.com/office/drawing/2014/main" id="{789014D9-D2DF-493B-93B1-C5359CEA121E}"/>
              </a:ext>
            </a:extLst>
          </p:cNvPr>
          <p:cNvSpPr txBox="1"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6759342" y="611028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09" name="Freeform 56">
            <a:extLst>
              <a:ext uri="{FF2B5EF4-FFF2-40B4-BE49-F238E27FC236}">
                <a16:creationId xmlns:a16="http://schemas.microsoft.com/office/drawing/2014/main" id="{5FF59A60-367A-490E-819B-E7321D0AB8D4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auto">
          <a:xfrm>
            <a:off x="5867400" y="4724400"/>
            <a:ext cx="990600" cy="1371600"/>
          </a:xfrm>
          <a:custGeom>
            <a:avLst/>
            <a:gdLst>
              <a:gd name="T0" fmla="*/ 0 w 624"/>
              <a:gd name="T1" fmla="*/ 0 h 864"/>
              <a:gd name="T2" fmla="*/ 0 w 624"/>
              <a:gd name="T3" fmla="*/ 2147483646 h 864"/>
              <a:gd name="T4" fmla="*/ 2147483646 w 624"/>
              <a:gd name="T5" fmla="*/ 2147483646 h 864"/>
              <a:gd name="T6" fmla="*/ 2147483646 w 624"/>
              <a:gd name="T7" fmla="*/ 2147483646 h 864"/>
              <a:gd name="T8" fmla="*/ 2147483646 w 624"/>
              <a:gd name="T9" fmla="*/ 2147483646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4"/>
              <a:gd name="T16" fmla="*/ 0 h 864"/>
              <a:gd name="T17" fmla="*/ 624 w 624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4" h="864">
                <a:moveTo>
                  <a:pt x="0" y="0"/>
                </a:moveTo>
                <a:lnTo>
                  <a:pt x="0" y="144"/>
                </a:lnTo>
                <a:lnTo>
                  <a:pt x="624" y="144"/>
                </a:lnTo>
                <a:lnTo>
                  <a:pt x="624" y="864"/>
                </a:lnTo>
                <a:lnTo>
                  <a:pt x="480" y="864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" name="Rectangle 57">
            <a:extLst>
              <a:ext uri="{FF2B5EF4-FFF2-40B4-BE49-F238E27FC236}">
                <a16:creationId xmlns:a16="http://schemas.microsoft.com/office/drawing/2014/main" id="{E33D93B9-9F9E-4789-83CE-219A189ED6AB}"/>
              </a:ext>
            </a:extLst>
          </p:cNvPr>
          <p:cNvSpPr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7391400" y="5486400"/>
            <a:ext cx="685800" cy="914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11" name="Freeform 58">
            <a:extLst>
              <a:ext uri="{FF2B5EF4-FFF2-40B4-BE49-F238E27FC236}">
                <a16:creationId xmlns:a16="http://schemas.microsoft.com/office/drawing/2014/main" id="{41487E7D-41DD-4F43-9171-6C7397559602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5791200" y="4495800"/>
            <a:ext cx="1905000" cy="762000"/>
          </a:xfrm>
          <a:custGeom>
            <a:avLst/>
            <a:gdLst>
              <a:gd name="T0" fmla="*/ 2147483646 w 1200"/>
              <a:gd name="T1" fmla="*/ 0 h 480"/>
              <a:gd name="T2" fmla="*/ 2147483646 w 1200"/>
              <a:gd name="T3" fmla="*/ 0 h 480"/>
              <a:gd name="T4" fmla="*/ 2147483646 w 1200"/>
              <a:gd name="T5" fmla="*/ 2147483646 h 480"/>
              <a:gd name="T6" fmla="*/ 0 w 1200"/>
              <a:gd name="T7" fmla="*/ 2147483646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1200"/>
              <a:gd name="T13" fmla="*/ 0 h 480"/>
              <a:gd name="T14" fmla="*/ 1200 w 1200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0" h="480">
                <a:moveTo>
                  <a:pt x="576" y="0"/>
                </a:moveTo>
                <a:lnTo>
                  <a:pt x="1200" y="0"/>
                </a:lnTo>
                <a:lnTo>
                  <a:pt x="1200" y="480"/>
                </a:lnTo>
                <a:lnTo>
                  <a:pt x="0" y="48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" name="Text Box 59">
            <a:extLst>
              <a:ext uri="{FF2B5EF4-FFF2-40B4-BE49-F238E27FC236}">
                <a16:creationId xmlns:a16="http://schemas.microsoft.com/office/drawing/2014/main" id="{C88EBFB1-032F-47C3-9E40-0FA9BFC13E34}"/>
              </a:ext>
            </a:extLst>
          </p:cNvPr>
          <p:cNvSpPr txBox="1"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7397750" y="611028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724543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MIPS R10K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4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C249D5-90DF-560F-7EF7-9587FADDC91B}"/>
              </a:ext>
            </a:extLst>
          </p:cNvPr>
          <p:cNvSpPr/>
          <p:nvPr/>
        </p:nvSpPr>
        <p:spPr>
          <a:xfrm>
            <a:off x="1240641" y="2444314"/>
            <a:ext cx="762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2EB6A-26ED-BE67-2821-9853C6F5AACA}"/>
              </a:ext>
            </a:extLst>
          </p:cNvPr>
          <p:cNvSpPr/>
          <p:nvPr/>
        </p:nvSpPr>
        <p:spPr>
          <a:xfrm>
            <a:off x="2155041" y="2444314"/>
            <a:ext cx="762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32CFD0-D547-C23A-9D43-2ABB97A483AB}"/>
              </a:ext>
            </a:extLst>
          </p:cNvPr>
          <p:cNvSpPr/>
          <p:nvPr/>
        </p:nvSpPr>
        <p:spPr>
          <a:xfrm>
            <a:off x="4822041" y="1963578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EC30B-91DE-0496-1E5F-258F64FCF94D}"/>
              </a:ext>
            </a:extLst>
          </p:cNvPr>
          <p:cNvSpPr txBox="1"/>
          <p:nvPr/>
        </p:nvSpPr>
        <p:spPr>
          <a:xfrm>
            <a:off x="597772" y="2743200"/>
            <a:ext cx="697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Fetch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6758E-9A9B-056A-3388-1A1E7D4132C9}"/>
              </a:ext>
            </a:extLst>
          </p:cNvPr>
          <p:cNvSpPr txBox="1"/>
          <p:nvPr/>
        </p:nvSpPr>
        <p:spPr>
          <a:xfrm>
            <a:off x="1295400" y="2743200"/>
            <a:ext cx="903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Decode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C83F0E-2690-3419-5511-651FC99EAB4B}"/>
              </a:ext>
            </a:extLst>
          </p:cNvPr>
          <p:cNvSpPr txBox="1"/>
          <p:nvPr/>
        </p:nvSpPr>
        <p:spPr>
          <a:xfrm>
            <a:off x="2266707" y="2743200"/>
            <a:ext cx="100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Dispatch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89EA01-97DB-04E8-509F-061C912133C5}"/>
              </a:ext>
            </a:extLst>
          </p:cNvPr>
          <p:cNvSpPr/>
          <p:nvPr/>
        </p:nvSpPr>
        <p:spPr>
          <a:xfrm>
            <a:off x="4822041" y="3008749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99C0F-B9FB-C9FE-A568-A2DC841E1D14}"/>
              </a:ext>
            </a:extLst>
          </p:cNvPr>
          <p:cNvSpPr/>
          <p:nvPr/>
        </p:nvSpPr>
        <p:spPr>
          <a:xfrm>
            <a:off x="4822041" y="4098766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FC2827-1177-30D6-8069-0015272CB44C}"/>
              </a:ext>
            </a:extLst>
          </p:cNvPr>
          <p:cNvSpPr/>
          <p:nvPr/>
        </p:nvSpPr>
        <p:spPr>
          <a:xfrm>
            <a:off x="5279241" y="4099560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38188C-883B-1675-7FD6-68A4C86CCDEB}"/>
              </a:ext>
            </a:extLst>
          </p:cNvPr>
          <p:cNvSpPr/>
          <p:nvPr/>
        </p:nvSpPr>
        <p:spPr>
          <a:xfrm>
            <a:off x="6022193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2BE1E7-6C77-75FA-FFB6-B3096C98D724}"/>
              </a:ext>
            </a:extLst>
          </p:cNvPr>
          <p:cNvSpPr/>
          <p:nvPr/>
        </p:nvSpPr>
        <p:spPr>
          <a:xfrm>
            <a:off x="6022193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A5CDE8-7F8C-D95B-879E-20985AB4716E}"/>
              </a:ext>
            </a:extLst>
          </p:cNvPr>
          <p:cNvSpPr/>
          <p:nvPr/>
        </p:nvSpPr>
        <p:spPr>
          <a:xfrm>
            <a:off x="6022193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6205A3-A6B7-4BF2-EACC-4E31B382C3DF}"/>
              </a:ext>
            </a:extLst>
          </p:cNvPr>
          <p:cNvSpPr/>
          <p:nvPr/>
        </p:nvSpPr>
        <p:spPr>
          <a:xfrm>
            <a:off x="4364841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4A841D-867A-5035-F465-602DF8410EA7}"/>
              </a:ext>
            </a:extLst>
          </p:cNvPr>
          <p:cNvSpPr/>
          <p:nvPr/>
        </p:nvSpPr>
        <p:spPr>
          <a:xfrm>
            <a:off x="4364841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07AED4-2020-E1C9-9972-1DEF202D7314}"/>
              </a:ext>
            </a:extLst>
          </p:cNvPr>
          <p:cNvSpPr/>
          <p:nvPr/>
        </p:nvSpPr>
        <p:spPr>
          <a:xfrm>
            <a:off x="4364841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1171FD-0400-183C-8176-9EBFED9E0D20}"/>
              </a:ext>
            </a:extLst>
          </p:cNvPr>
          <p:cNvSpPr/>
          <p:nvPr/>
        </p:nvSpPr>
        <p:spPr>
          <a:xfrm>
            <a:off x="457200" y="2760018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7DA18-09E6-1A1F-30E2-DDC07D4526FA}"/>
              </a:ext>
            </a:extLst>
          </p:cNvPr>
          <p:cNvSpPr/>
          <p:nvPr/>
        </p:nvSpPr>
        <p:spPr>
          <a:xfrm>
            <a:off x="3359437" y="1877972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4CFC82-113B-9446-5B06-EBB112F24FE8}"/>
              </a:ext>
            </a:extLst>
          </p:cNvPr>
          <p:cNvSpPr/>
          <p:nvPr/>
        </p:nvSpPr>
        <p:spPr>
          <a:xfrm>
            <a:off x="3359437" y="2900720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9318D0-9674-B2BC-715E-7B826D23880D}"/>
              </a:ext>
            </a:extLst>
          </p:cNvPr>
          <p:cNvSpPr/>
          <p:nvPr/>
        </p:nvSpPr>
        <p:spPr>
          <a:xfrm>
            <a:off x="3359437" y="3990737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1A24CEE-AFE2-452C-4BBC-1D0C23AC3627}"/>
              </a:ext>
            </a:extLst>
          </p:cNvPr>
          <p:cNvGraphicFramePr>
            <a:graphicFrameLocks noGrp="1"/>
          </p:cNvGraphicFramePr>
          <p:nvPr/>
        </p:nvGraphicFramePr>
        <p:xfrm>
          <a:off x="3359437" y="1278205"/>
          <a:ext cx="3886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102775881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307776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8385471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513284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3886207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544403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1973953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4137905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92166055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83073502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9853454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6249113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99121519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492437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32789254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7846388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149300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733528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F409C73A-1547-086E-5900-C065E6BDCA53}"/>
              </a:ext>
            </a:extLst>
          </p:cNvPr>
          <p:cNvSpPr/>
          <p:nvPr/>
        </p:nvSpPr>
        <p:spPr>
          <a:xfrm>
            <a:off x="3359437" y="6037858"/>
            <a:ext cx="1096408" cy="59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Map Table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&amp; Free List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5580D9-D540-0F75-84C6-11933E4A8D95}"/>
              </a:ext>
            </a:extLst>
          </p:cNvPr>
          <p:cNvSpPr/>
          <p:nvPr/>
        </p:nvSpPr>
        <p:spPr>
          <a:xfrm>
            <a:off x="4625229" y="4953000"/>
            <a:ext cx="1325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Register File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0FD931-60AC-7743-91FA-95051C28525E}"/>
              </a:ext>
            </a:extLst>
          </p:cNvPr>
          <p:cNvSpPr txBox="1"/>
          <p:nvPr/>
        </p:nvSpPr>
        <p:spPr>
          <a:xfrm>
            <a:off x="6096000" y="2743200"/>
            <a:ext cx="1103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Complete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91DAC9-75B3-B3FD-96C2-C3E0B9C0EF91}"/>
              </a:ext>
            </a:extLst>
          </p:cNvPr>
          <p:cNvSpPr txBox="1"/>
          <p:nvPr/>
        </p:nvSpPr>
        <p:spPr>
          <a:xfrm>
            <a:off x="7290194" y="2743200"/>
            <a:ext cx="755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Retire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6976A9-7C3B-3714-F218-E0853D30CA0A}"/>
              </a:ext>
            </a:extLst>
          </p:cNvPr>
          <p:cNvSpPr txBox="1"/>
          <p:nvPr/>
        </p:nvSpPr>
        <p:spPr>
          <a:xfrm>
            <a:off x="3574056" y="274320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Issue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082356-E0C3-538A-5600-DEBC0EF2BD5A}"/>
              </a:ext>
            </a:extLst>
          </p:cNvPr>
          <p:cNvCxnSpPr/>
          <p:nvPr/>
        </p:nvCxnSpPr>
        <p:spPr>
          <a:xfrm>
            <a:off x="2667000" y="1463624"/>
            <a:ext cx="0" cy="4892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2A1F932-5C65-1490-2CA6-936D5ECC2320}"/>
              </a:ext>
            </a:extLst>
          </p:cNvPr>
          <p:cNvCxnSpPr>
            <a:cxnSpLocks/>
          </p:cNvCxnSpPr>
          <p:nvPr/>
        </p:nvCxnSpPr>
        <p:spPr>
          <a:xfrm flipV="1">
            <a:off x="6611623" y="1645920"/>
            <a:ext cx="0" cy="420624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F205CF-F304-6828-0E37-3A5FA8E154D4}"/>
              </a:ext>
            </a:extLst>
          </p:cNvPr>
          <p:cNvCxnSpPr>
            <a:cxnSpLocks/>
          </p:cNvCxnSpPr>
          <p:nvPr/>
        </p:nvCxnSpPr>
        <p:spPr>
          <a:xfrm rot="5400000">
            <a:off x="5028217" y="4290060"/>
            <a:ext cx="0" cy="31546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0E3553-AE4F-AA11-AE5D-76B72B190224}"/>
              </a:ext>
            </a:extLst>
          </p:cNvPr>
          <p:cNvCxnSpPr/>
          <p:nvPr/>
        </p:nvCxnSpPr>
        <p:spPr>
          <a:xfrm>
            <a:off x="7626637" y="1463624"/>
            <a:ext cx="0" cy="48463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CAC9C6-A433-EC05-9782-AEE5A47FB48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1120724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C28203-2B74-B54D-9CCA-8F3762782985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19431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1140542-7D24-B823-DEBA-DDE7203CDD2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2950518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A74AFD4-6822-145F-2917-532AE1707E71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4076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9963797-FABB-1719-DC00-2398E1BA8CAD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5981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AC7E27A-B63D-B949-124D-8D3D5BF2021B}"/>
              </a:ext>
            </a:extLst>
          </p:cNvPr>
          <p:cNvCxnSpPr>
            <a:cxnSpLocks/>
          </p:cNvCxnSpPr>
          <p:nvPr/>
        </p:nvCxnSpPr>
        <p:spPr>
          <a:xfrm flipV="1">
            <a:off x="3450441" y="475488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BFF03E6-B441-5799-F6E3-FA3C96425CEC}"/>
              </a:ext>
            </a:extLst>
          </p:cNvPr>
          <p:cNvCxnSpPr>
            <a:cxnSpLocks/>
          </p:cNvCxnSpPr>
          <p:nvPr/>
        </p:nvCxnSpPr>
        <p:spPr>
          <a:xfrm>
            <a:off x="3892837" y="586740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1DC4AE0-8668-7BDD-123A-65D563477808}"/>
              </a:ext>
            </a:extLst>
          </p:cNvPr>
          <p:cNvCxnSpPr>
            <a:cxnSpLocks/>
          </p:cNvCxnSpPr>
          <p:nvPr/>
        </p:nvCxnSpPr>
        <p:spPr>
          <a:xfrm rot="5400000" flipV="1">
            <a:off x="7588537" y="11049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6178294-ADC2-31DA-14F6-46896AABDE11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17221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8585D5A-5692-9B5F-F493-80299C68F0F3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2729538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DB9DAAE-4D64-DC42-F221-577E22EE6E1E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38557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FF5737D-6E2B-B3ED-5B6C-FF52C2B7F2BB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4404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91262A8-7EA3-8871-0B18-21BDF35755EF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3261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2B978C-6F53-F17B-3BA1-A58EE5FA21C1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22707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BB183C0-6C55-C666-BD52-25F182672A77}"/>
              </a:ext>
            </a:extLst>
          </p:cNvPr>
          <p:cNvCxnSpPr/>
          <p:nvPr/>
        </p:nvCxnSpPr>
        <p:spPr>
          <a:xfrm>
            <a:off x="4181961" y="2362200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289BD5-71CD-5B6D-146C-E70445796889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285080" y="5035207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6F2079F-708F-B73C-DEB3-D29FC6AA3BFD}"/>
              </a:ext>
            </a:extLst>
          </p:cNvPr>
          <p:cNvCxnSpPr>
            <a:cxnSpLocks/>
          </p:cNvCxnSpPr>
          <p:nvPr/>
        </p:nvCxnSpPr>
        <p:spPr>
          <a:xfrm rot="5400000" flipV="1">
            <a:off x="936824" y="2815263"/>
            <a:ext cx="0" cy="5943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3302C27-6A62-39DC-7C3A-359B7F7C9464}"/>
              </a:ext>
            </a:extLst>
          </p:cNvPr>
          <p:cNvCxnSpPr>
            <a:cxnSpLocks/>
          </p:cNvCxnSpPr>
          <p:nvPr/>
        </p:nvCxnSpPr>
        <p:spPr>
          <a:xfrm rot="5400000" flipV="1">
            <a:off x="1743561" y="2700963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B2DC05F-75E2-3DFD-5341-FD88E38C7870}"/>
              </a:ext>
            </a:extLst>
          </p:cNvPr>
          <p:cNvCxnSpPr>
            <a:cxnSpLocks/>
          </p:cNvCxnSpPr>
          <p:nvPr/>
        </p:nvCxnSpPr>
        <p:spPr>
          <a:xfrm rot="5400000" flipV="1">
            <a:off x="2467897" y="2906703"/>
            <a:ext cx="0" cy="4114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BBA6843-3640-8DA0-C440-5ED3AFB9B3C8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19796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86E32C1-4565-DF69-EEB1-4689D00C1DEE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3025140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76F4FB5-F1BA-E2EB-1A88-05E82D20C68D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41132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32578BA-8D8B-7AAE-F861-6271CC583CB8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046477" y="4715768"/>
            <a:ext cx="0" cy="31546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5E8A2AB-5699-45DF-DA2D-7FEC8A3EA051}"/>
              </a:ext>
            </a:extLst>
          </p:cNvPr>
          <p:cNvSpPr txBox="1"/>
          <p:nvPr/>
        </p:nvSpPr>
        <p:spPr>
          <a:xfrm>
            <a:off x="4621187" y="1297673"/>
            <a:ext cx="144514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Reorder Buffer</a:t>
            </a:r>
          </a:p>
        </p:txBody>
      </p:sp>
      <p:cxnSp>
        <p:nvCxnSpPr>
          <p:cNvPr id="2048" name="Straight Connector 2047">
            <a:extLst>
              <a:ext uri="{FF2B5EF4-FFF2-40B4-BE49-F238E27FC236}">
                <a16:creationId xmlns:a16="http://schemas.microsoft.com/office/drawing/2014/main" id="{F96F88E0-FBA7-5C40-7306-43E9921E6104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1682442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" name="Straight Connector 2048">
            <a:extLst>
              <a:ext uri="{FF2B5EF4-FFF2-40B4-BE49-F238E27FC236}">
                <a16:creationId xmlns:a16="http://schemas.microsoft.com/office/drawing/2014/main" id="{29CFD74C-D889-D8EF-D6CD-28A2E846EE23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272796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Straight Connector 2049">
            <a:extLst>
              <a:ext uri="{FF2B5EF4-FFF2-40B4-BE49-F238E27FC236}">
                <a16:creationId xmlns:a16="http://schemas.microsoft.com/office/drawing/2014/main" id="{78AAAB3C-6BCF-7BC1-F928-CB7F6C087C14}"/>
              </a:ext>
            </a:extLst>
          </p:cNvPr>
          <p:cNvCxnSpPr>
            <a:cxnSpLocks/>
          </p:cNvCxnSpPr>
          <p:nvPr/>
        </p:nvCxnSpPr>
        <p:spPr>
          <a:xfrm rot="5400000" flipV="1">
            <a:off x="5702153" y="4044642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1" name="TextBox 2050">
            <a:extLst>
              <a:ext uri="{FF2B5EF4-FFF2-40B4-BE49-F238E27FC236}">
                <a16:creationId xmlns:a16="http://schemas.microsoft.com/office/drawing/2014/main" id="{CD7B373F-4F31-A510-07A8-EDF50E9E315D}"/>
              </a:ext>
            </a:extLst>
          </p:cNvPr>
          <p:cNvSpPr txBox="1"/>
          <p:nvPr/>
        </p:nvSpPr>
        <p:spPr>
          <a:xfrm>
            <a:off x="4790067" y="2743198"/>
            <a:ext cx="924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Execute</a:t>
            </a:r>
          </a:p>
        </p:txBody>
      </p:sp>
      <p:pic>
        <p:nvPicPr>
          <p:cNvPr id="2053" name="Picture 2052">
            <a:extLst>
              <a:ext uri="{FF2B5EF4-FFF2-40B4-BE49-F238E27FC236}">
                <a16:creationId xmlns:a16="http://schemas.microsoft.com/office/drawing/2014/main" id="{4ABE77B9-FA9E-EF66-9FCC-7284B45046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8" y="3221502"/>
            <a:ext cx="615225" cy="171212"/>
          </a:xfrm>
          <a:prstGeom prst="rect">
            <a:avLst/>
          </a:prstGeom>
        </p:spPr>
      </p:pic>
      <p:pic>
        <p:nvPicPr>
          <p:cNvPr id="2056" name="Picture 2055">
            <a:extLst>
              <a:ext uri="{FF2B5EF4-FFF2-40B4-BE49-F238E27FC236}">
                <a16:creationId xmlns:a16="http://schemas.microsoft.com/office/drawing/2014/main" id="{CF7D8CC0-B9F8-CCE5-B762-019AE170D8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9" y="2173365"/>
            <a:ext cx="615225" cy="171212"/>
          </a:xfrm>
          <a:prstGeom prst="rect">
            <a:avLst/>
          </a:prstGeom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119FEDA3-35E2-50C6-90B0-BD4AA6BD1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28539" y="4260607"/>
            <a:ext cx="615225" cy="171212"/>
          </a:xfrm>
          <a:prstGeom prst="rect">
            <a:avLst/>
          </a:prstGeom>
        </p:spPr>
      </p:pic>
      <p:pic>
        <p:nvPicPr>
          <p:cNvPr id="2059" name="Picture 2058">
            <a:extLst>
              <a:ext uri="{FF2B5EF4-FFF2-40B4-BE49-F238E27FC236}">
                <a16:creationId xmlns:a16="http://schemas.microsoft.com/office/drawing/2014/main" id="{A65A156B-4CA7-B181-5CC0-89DA90AC3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794815" y="4260606"/>
            <a:ext cx="615225" cy="171212"/>
          </a:xfrm>
          <a:prstGeom prst="rect">
            <a:avLst/>
          </a:prstGeom>
        </p:spPr>
      </p:pic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BEBA3889-8B2F-288A-4B2E-53F215A8AA34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3247672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712CC574-4D2F-ABBC-B2C4-B46D023BF918}"/>
              </a:ext>
            </a:extLst>
          </p:cNvPr>
          <p:cNvCxnSpPr>
            <a:cxnSpLocks/>
          </p:cNvCxnSpPr>
          <p:nvPr/>
        </p:nvCxnSpPr>
        <p:spPr>
          <a:xfrm rot="5400000" flipV="1">
            <a:off x="4790473" y="2199535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Straight Connector 2061">
            <a:extLst>
              <a:ext uri="{FF2B5EF4-FFF2-40B4-BE49-F238E27FC236}">
                <a16:creationId xmlns:a16="http://schemas.microsoft.com/office/drawing/2014/main" id="{37C74AE5-A2C4-2BD8-7888-AA563C5BE8F1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428677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F764FD9A-8FA7-FCDE-BAA7-799C5410156B}"/>
              </a:ext>
            </a:extLst>
          </p:cNvPr>
          <p:cNvCxnSpPr>
            <a:cxnSpLocks/>
          </p:cNvCxnSpPr>
          <p:nvPr/>
        </p:nvCxnSpPr>
        <p:spPr>
          <a:xfrm rot="5400000" flipV="1">
            <a:off x="5228297" y="430524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Straight Connector 2063">
            <a:extLst>
              <a:ext uri="{FF2B5EF4-FFF2-40B4-BE49-F238E27FC236}">
                <a16:creationId xmlns:a16="http://schemas.microsoft.com/office/drawing/2014/main" id="{B3E5D573-734F-0175-CF74-28ED0FC0265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410060" y="5109793"/>
            <a:ext cx="0" cy="4572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1462140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MIPS R10K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5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C249D5-90DF-560F-7EF7-9587FADDC91B}"/>
              </a:ext>
            </a:extLst>
          </p:cNvPr>
          <p:cNvSpPr/>
          <p:nvPr/>
        </p:nvSpPr>
        <p:spPr>
          <a:xfrm>
            <a:off x="1240641" y="2444314"/>
            <a:ext cx="762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2EB6A-26ED-BE67-2821-9853C6F5AACA}"/>
              </a:ext>
            </a:extLst>
          </p:cNvPr>
          <p:cNvSpPr/>
          <p:nvPr/>
        </p:nvSpPr>
        <p:spPr>
          <a:xfrm>
            <a:off x="2155041" y="2444314"/>
            <a:ext cx="762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32CFD0-D547-C23A-9D43-2ABB97A483AB}"/>
              </a:ext>
            </a:extLst>
          </p:cNvPr>
          <p:cNvSpPr/>
          <p:nvPr/>
        </p:nvSpPr>
        <p:spPr>
          <a:xfrm>
            <a:off x="4822041" y="1963578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EC30B-91DE-0496-1E5F-258F64FCF94D}"/>
              </a:ext>
            </a:extLst>
          </p:cNvPr>
          <p:cNvSpPr txBox="1"/>
          <p:nvPr/>
        </p:nvSpPr>
        <p:spPr>
          <a:xfrm>
            <a:off x="597772" y="2743200"/>
            <a:ext cx="697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Fetch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6758E-9A9B-056A-3388-1A1E7D4132C9}"/>
              </a:ext>
            </a:extLst>
          </p:cNvPr>
          <p:cNvSpPr txBox="1"/>
          <p:nvPr/>
        </p:nvSpPr>
        <p:spPr>
          <a:xfrm>
            <a:off x="1295400" y="2743200"/>
            <a:ext cx="903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Decode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C83F0E-2690-3419-5511-651FC99EAB4B}"/>
              </a:ext>
            </a:extLst>
          </p:cNvPr>
          <p:cNvSpPr txBox="1"/>
          <p:nvPr/>
        </p:nvSpPr>
        <p:spPr>
          <a:xfrm>
            <a:off x="2266707" y="2743200"/>
            <a:ext cx="100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Dispatch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89EA01-97DB-04E8-509F-061C912133C5}"/>
              </a:ext>
            </a:extLst>
          </p:cNvPr>
          <p:cNvSpPr/>
          <p:nvPr/>
        </p:nvSpPr>
        <p:spPr>
          <a:xfrm>
            <a:off x="4822041" y="3008749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99C0F-B9FB-C9FE-A568-A2DC841E1D14}"/>
              </a:ext>
            </a:extLst>
          </p:cNvPr>
          <p:cNvSpPr/>
          <p:nvPr/>
        </p:nvSpPr>
        <p:spPr>
          <a:xfrm>
            <a:off x="4822041" y="4098766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FC2827-1177-30D6-8069-0015272CB44C}"/>
              </a:ext>
            </a:extLst>
          </p:cNvPr>
          <p:cNvSpPr/>
          <p:nvPr/>
        </p:nvSpPr>
        <p:spPr>
          <a:xfrm>
            <a:off x="5279241" y="4099560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38188C-883B-1675-7FD6-68A4C86CCDEB}"/>
              </a:ext>
            </a:extLst>
          </p:cNvPr>
          <p:cNvSpPr/>
          <p:nvPr/>
        </p:nvSpPr>
        <p:spPr>
          <a:xfrm>
            <a:off x="6022193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2BE1E7-6C77-75FA-FFB6-B3096C98D724}"/>
              </a:ext>
            </a:extLst>
          </p:cNvPr>
          <p:cNvSpPr/>
          <p:nvPr/>
        </p:nvSpPr>
        <p:spPr>
          <a:xfrm>
            <a:off x="6022193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A5CDE8-7F8C-D95B-879E-20985AB4716E}"/>
              </a:ext>
            </a:extLst>
          </p:cNvPr>
          <p:cNvSpPr/>
          <p:nvPr/>
        </p:nvSpPr>
        <p:spPr>
          <a:xfrm>
            <a:off x="6022193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6205A3-A6B7-4BF2-EACC-4E31B382C3DF}"/>
              </a:ext>
            </a:extLst>
          </p:cNvPr>
          <p:cNvSpPr/>
          <p:nvPr/>
        </p:nvSpPr>
        <p:spPr>
          <a:xfrm>
            <a:off x="4364841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4A841D-867A-5035-F465-602DF8410EA7}"/>
              </a:ext>
            </a:extLst>
          </p:cNvPr>
          <p:cNvSpPr/>
          <p:nvPr/>
        </p:nvSpPr>
        <p:spPr>
          <a:xfrm>
            <a:off x="4364841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07AED4-2020-E1C9-9972-1DEF202D7314}"/>
              </a:ext>
            </a:extLst>
          </p:cNvPr>
          <p:cNvSpPr/>
          <p:nvPr/>
        </p:nvSpPr>
        <p:spPr>
          <a:xfrm>
            <a:off x="4364841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1171FD-0400-183C-8176-9EBFED9E0D20}"/>
              </a:ext>
            </a:extLst>
          </p:cNvPr>
          <p:cNvSpPr/>
          <p:nvPr/>
        </p:nvSpPr>
        <p:spPr>
          <a:xfrm>
            <a:off x="457200" y="2760018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7DA18-09E6-1A1F-30E2-DDC07D4526FA}"/>
              </a:ext>
            </a:extLst>
          </p:cNvPr>
          <p:cNvSpPr/>
          <p:nvPr/>
        </p:nvSpPr>
        <p:spPr>
          <a:xfrm>
            <a:off x="3359437" y="1877972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4CFC82-113B-9446-5B06-EBB112F24FE8}"/>
              </a:ext>
            </a:extLst>
          </p:cNvPr>
          <p:cNvSpPr/>
          <p:nvPr/>
        </p:nvSpPr>
        <p:spPr>
          <a:xfrm>
            <a:off x="3359437" y="2900720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9318D0-9674-B2BC-715E-7B826D23880D}"/>
              </a:ext>
            </a:extLst>
          </p:cNvPr>
          <p:cNvSpPr/>
          <p:nvPr/>
        </p:nvSpPr>
        <p:spPr>
          <a:xfrm>
            <a:off x="3359437" y="3990737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1A24CEE-AFE2-452C-4BBC-1D0C23AC36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496482"/>
              </p:ext>
            </p:extLst>
          </p:nvPr>
        </p:nvGraphicFramePr>
        <p:xfrm>
          <a:off x="3359437" y="1278205"/>
          <a:ext cx="3886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102775881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307776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8385471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513284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3886207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544403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1973953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4137905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92166055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83073502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9853454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6249113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99121519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492437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32789254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7846388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149300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733528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F409C73A-1547-086E-5900-C065E6BDCA53}"/>
              </a:ext>
            </a:extLst>
          </p:cNvPr>
          <p:cNvSpPr/>
          <p:nvPr/>
        </p:nvSpPr>
        <p:spPr>
          <a:xfrm>
            <a:off x="3359437" y="6037858"/>
            <a:ext cx="1096408" cy="59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Map Table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&amp; Free List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5580D9-D540-0F75-84C6-11933E4A8D95}"/>
              </a:ext>
            </a:extLst>
          </p:cNvPr>
          <p:cNvSpPr/>
          <p:nvPr/>
        </p:nvSpPr>
        <p:spPr>
          <a:xfrm>
            <a:off x="4625229" y="4953000"/>
            <a:ext cx="1325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Register File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0FD931-60AC-7743-91FA-95051C28525E}"/>
              </a:ext>
            </a:extLst>
          </p:cNvPr>
          <p:cNvSpPr txBox="1"/>
          <p:nvPr/>
        </p:nvSpPr>
        <p:spPr>
          <a:xfrm>
            <a:off x="6096000" y="2743200"/>
            <a:ext cx="1103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Complete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91DAC9-75B3-B3FD-96C2-C3E0B9C0EF91}"/>
              </a:ext>
            </a:extLst>
          </p:cNvPr>
          <p:cNvSpPr txBox="1"/>
          <p:nvPr/>
        </p:nvSpPr>
        <p:spPr>
          <a:xfrm>
            <a:off x="7290194" y="2743200"/>
            <a:ext cx="755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Retire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6976A9-7C3B-3714-F218-E0853D30CA0A}"/>
              </a:ext>
            </a:extLst>
          </p:cNvPr>
          <p:cNvSpPr txBox="1"/>
          <p:nvPr/>
        </p:nvSpPr>
        <p:spPr>
          <a:xfrm>
            <a:off x="3574056" y="274320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Issue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082356-E0C3-538A-5600-DEBC0EF2BD5A}"/>
              </a:ext>
            </a:extLst>
          </p:cNvPr>
          <p:cNvCxnSpPr/>
          <p:nvPr/>
        </p:nvCxnSpPr>
        <p:spPr>
          <a:xfrm>
            <a:off x="2667000" y="1463624"/>
            <a:ext cx="0" cy="4892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2A1F932-5C65-1490-2CA6-936D5ECC2320}"/>
              </a:ext>
            </a:extLst>
          </p:cNvPr>
          <p:cNvCxnSpPr>
            <a:cxnSpLocks/>
          </p:cNvCxnSpPr>
          <p:nvPr/>
        </p:nvCxnSpPr>
        <p:spPr>
          <a:xfrm flipV="1">
            <a:off x="6611623" y="1645920"/>
            <a:ext cx="0" cy="420624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F205CF-F304-6828-0E37-3A5FA8E154D4}"/>
              </a:ext>
            </a:extLst>
          </p:cNvPr>
          <p:cNvCxnSpPr>
            <a:cxnSpLocks/>
          </p:cNvCxnSpPr>
          <p:nvPr/>
        </p:nvCxnSpPr>
        <p:spPr>
          <a:xfrm rot="5400000">
            <a:off x="5028217" y="4290060"/>
            <a:ext cx="0" cy="31546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0E3553-AE4F-AA11-AE5D-76B72B190224}"/>
              </a:ext>
            </a:extLst>
          </p:cNvPr>
          <p:cNvCxnSpPr/>
          <p:nvPr/>
        </p:nvCxnSpPr>
        <p:spPr>
          <a:xfrm>
            <a:off x="7626637" y="1463624"/>
            <a:ext cx="0" cy="48463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CAC9C6-A433-EC05-9782-AEE5A47FB48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1120724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C28203-2B74-B54D-9CCA-8F3762782985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19431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1140542-7D24-B823-DEBA-DDE7203CDD2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2950518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A74AFD4-6822-145F-2917-532AE1707E71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4076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9963797-FABB-1719-DC00-2398E1BA8CAD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5981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AC7E27A-B63D-B949-124D-8D3D5BF2021B}"/>
              </a:ext>
            </a:extLst>
          </p:cNvPr>
          <p:cNvCxnSpPr>
            <a:cxnSpLocks/>
          </p:cNvCxnSpPr>
          <p:nvPr/>
        </p:nvCxnSpPr>
        <p:spPr>
          <a:xfrm flipV="1">
            <a:off x="3450441" y="475488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BFF03E6-B441-5799-F6E3-FA3C96425CEC}"/>
              </a:ext>
            </a:extLst>
          </p:cNvPr>
          <p:cNvCxnSpPr>
            <a:cxnSpLocks/>
          </p:cNvCxnSpPr>
          <p:nvPr/>
        </p:nvCxnSpPr>
        <p:spPr>
          <a:xfrm>
            <a:off x="3892837" y="586740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1DC4AE0-8668-7BDD-123A-65D563477808}"/>
              </a:ext>
            </a:extLst>
          </p:cNvPr>
          <p:cNvCxnSpPr>
            <a:cxnSpLocks/>
          </p:cNvCxnSpPr>
          <p:nvPr/>
        </p:nvCxnSpPr>
        <p:spPr>
          <a:xfrm rot="5400000" flipV="1">
            <a:off x="7588537" y="11049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6178294-ADC2-31DA-14F6-46896AABDE11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17221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8585D5A-5692-9B5F-F493-80299C68F0F3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2729538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DB9DAAE-4D64-DC42-F221-577E22EE6E1E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38557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FF5737D-6E2B-B3ED-5B6C-FF52C2B7F2BB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4404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91262A8-7EA3-8871-0B18-21BDF35755EF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3261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2B978C-6F53-F17B-3BA1-A58EE5FA21C1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22707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BB183C0-6C55-C666-BD52-25F182672A77}"/>
              </a:ext>
            </a:extLst>
          </p:cNvPr>
          <p:cNvCxnSpPr/>
          <p:nvPr/>
        </p:nvCxnSpPr>
        <p:spPr>
          <a:xfrm>
            <a:off x="4181961" y="2362200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289BD5-71CD-5B6D-146C-E70445796889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285080" y="5035207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6F2079F-708F-B73C-DEB3-D29FC6AA3BFD}"/>
              </a:ext>
            </a:extLst>
          </p:cNvPr>
          <p:cNvCxnSpPr>
            <a:cxnSpLocks/>
          </p:cNvCxnSpPr>
          <p:nvPr/>
        </p:nvCxnSpPr>
        <p:spPr>
          <a:xfrm rot="5400000" flipV="1">
            <a:off x="936824" y="2815263"/>
            <a:ext cx="0" cy="5943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3302C27-6A62-39DC-7C3A-359B7F7C9464}"/>
              </a:ext>
            </a:extLst>
          </p:cNvPr>
          <p:cNvCxnSpPr>
            <a:cxnSpLocks/>
          </p:cNvCxnSpPr>
          <p:nvPr/>
        </p:nvCxnSpPr>
        <p:spPr>
          <a:xfrm rot="5400000" flipV="1">
            <a:off x="1743561" y="2700963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B2DC05F-75E2-3DFD-5341-FD88E38C7870}"/>
              </a:ext>
            </a:extLst>
          </p:cNvPr>
          <p:cNvCxnSpPr>
            <a:cxnSpLocks/>
          </p:cNvCxnSpPr>
          <p:nvPr/>
        </p:nvCxnSpPr>
        <p:spPr>
          <a:xfrm rot="5400000" flipV="1">
            <a:off x="2467897" y="2906703"/>
            <a:ext cx="0" cy="4114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BBA6843-3640-8DA0-C440-5ED3AFB9B3C8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19796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86E32C1-4565-DF69-EEB1-4689D00C1DEE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3025140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76F4FB5-F1BA-E2EB-1A88-05E82D20C68D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41132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32578BA-8D8B-7AAE-F861-6271CC583CB8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046477" y="4715768"/>
            <a:ext cx="0" cy="31546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5E8A2AB-5699-45DF-DA2D-7FEC8A3EA051}"/>
              </a:ext>
            </a:extLst>
          </p:cNvPr>
          <p:cNvSpPr txBox="1"/>
          <p:nvPr/>
        </p:nvSpPr>
        <p:spPr>
          <a:xfrm>
            <a:off x="4621187" y="1297673"/>
            <a:ext cx="144514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Reorder Buffer</a:t>
            </a:r>
          </a:p>
        </p:txBody>
      </p:sp>
      <p:cxnSp>
        <p:nvCxnSpPr>
          <p:cNvPr id="2048" name="Straight Connector 2047">
            <a:extLst>
              <a:ext uri="{FF2B5EF4-FFF2-40B4-BE49-F238E27FC236}">
                <a16:creationId xmlns:a16="http://schemas.microsoft.com/office/drawing/2014/main" id="{F96F88E0-FBA7-5C40-7306-43E9921E6104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1682442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" name="Straight Connector 2048">
            <a:extLst>
              <a:ext uri="{FF2B5EF4-FFF2-40B4-BE49-F238E27FC236}">
                <a16:creationId xmlns:a16="http://schemas.microsoft.com/office/drawing/2014/main" id="{29CFD74C-D889-D8EF-D6CD-28A2E846EE23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272796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Straight Connector 2049">
            <a:extLst>
              <a:ext uri="{FF2B5EF4-FFF2-40B4-BE49-F238E27FC236}">
                <a16:creationId xmlns:a16="http://schemas.microsoft.com/office/drawing/2014/main" id="{78AAAB3C-6BCF-7BC1-F928-CB7F6C087C14}"/>
              </a:ext>
            </a:extLst>
          </p:cNvPr>
          <p:cNvCxnSpPr>
            <a:cxnSpLocks/>
          </p:cNvCxnSpPr>
          <p:nvPr/>
        </p:nvCxnSpPr>
        <p:spPr>
          <a:xfrm rot="5400000" flipV="1">
            <a:off x="5702153" y="4044642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1" name="TextBox 2050">
            <a:extLst>
              <a:ext uri="{FF2B5EF4-FFF2-40B4-BE49-F238E27FC236}">
                <a16:creationId xmlns:a16="http://schemas.microsoft.com/office/drawing/2014/main" id="{CD7B373F-4F31-A510-07A8-EDF50E9E315D}"/>
              </a:ext>
            </a:extLst>
          </p:cNvPr>
          <p:cNvSpPr txBox="1"/>
          <p:nvPr/>
        </p:nvSpPr>
        <p:spPr>
          <a:xfrm>
            <a:off x="4790067" y="2743198"/>
            <a:ext cx="924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Execute</a:t>
            </a:r>
          </a:p>
        </p:txBody>
      </p:sp>
      <p:pic>
        <p:nvPicPr>
          <p:cNvPr id="2053" name="Picture 2052">
            <a:extLst>
              <a:ext uri="{FF2B5EF4-FFF2-40B4-BE49-F238E27FC236}">
                <a16:creationId xmlns:a16="http://schemas.microsoft.com/office/drawing/2014/main" id="{4ABE77B9-FA9E-EF66-9FCC-7284B45046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8" y="3221502"/>
            <a:ext cx="615225" cy="171212"/>
          </a:xfrm>
          <a:prstGeom prst="rect">
            <a:avLst/>
          </a:prstGeom>
        </p:spPr>
      </p:pic>
      <p:pic>
        <p:nvPicPr>
          <p:cNvPr id="2056" name="Picture 2055">
            <a:extLst>
              <a:ext uri="{FF2B5EF4-FFF2-40B4-BE49-F238E27FC236}">
                <a16:creationId xmlns:a16="http://schemas.microsoft.com/office/drawing/2014/main" id="{CF7D8CC0-B9F8-CCE5-B762-019AE170D8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9" y="2173365"/>
            <a:ext cx="615225" cy="171212"/>
          </a:xfrm>
          <a:prstGeom prst="rect">
            <a:avLst/>
          </a:prstGeom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119FEDA3-35E2-50C6-90B0-BD4AA6BD1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28539" y="4260607"/>
            <a:ext cx="615225" cy="171212"/>
          </a:xfrm>
          <a:prstGeom prst="rect">
            <a:avLst/>
          </a:prstGeom>
        </p:spPr>
      </p:pic>
      <p:pic>
        <p:nvPicPr>
          <p:cNvPr id="2059" name="Picture 2058">
            <a:extLst>
              <a:ext uri="{FF2B5EF4-FFF2-40B4-BE49-F238E27FC236}">
                <a16:creationId xmlns:a16="http://schemas.microsoft.com/office/drawing/2014/main" id="{A65A156B-4CA7-B181-5CC0-89DA90AC3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794815" y="4260606"/>
            <a:ext cx="615225" cy="171212"/>
          </a:xfrm>
          <a:prstGeom prst="rect">
            <a:avLst/>
          </a:prstGeom>
        </p:spPr>
      </p:pic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BEBA3889-8B2F-288A-4B2E-53F215A8AA34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3247672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712CC574-4D2F-ABBC-B2C4-B46D023BF918}"/>
              </a:ext>
            </a:extLst>
          </p:cNvPr>
          <p:cNvCxnSpPr>
            <a:cxnSpLocks/>
          </p:cNvCxnSpPr>
          <p:nvPr/>
        </p:nvCxnSpPr>
        <p:spPr>
          <a:xfrm rot="5400000" flipV="1">
            <a:off x="4790473" y="2199535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Straight Connector 2061">
            <a:extLst>
              <a:ext uri="{FF2B5EF4-FFF2-40B4-BE49-F238E27FC236}">
                <a16:creationId xmlns:a16="http://schemas.microsoft.com/office/drawing/2014/main" id="{37C74AE5-A2C4-2BD8-7888-AA563C5BE8F1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428677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F764FD9A-8FA7-FCDE-BAA7-799C5410156B}"/>
              </a:ext>
            </a:extLst>
          </p:cNvPr>
          <p:cNvCxnSpPr>
            <a:cxnSpLocks/>
          </p:cNvCxnSpPr>
          <p:nvPr/>
        </p:nvCxnSpPr>
        <p:spPr>
          <a:xfrm rot="5400000" flipV="1">
            <a:off x="5228297" y="430524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Straight Connector 2063">
            <a:extLst>
              <a:ext uri="{FF2B5EF4-FFF2-40B4-BE49-F238E27FC236}">
                <a16:creationId xmlns:a16="http://schemas.microsoft.com/office/drawing/2014/main" id="{B3E5D573-734F-0175-CF74-28ED0FC0265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410060" y="5109793"/>
            <a:ext cx="0" cy="4572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5" name="TextBox 2064">
            <a:extLst>
              <a:ext uri="{FF2B5EF4-FFF2-40B4-BE49-F238E27FC236}">
                <a16:creationId xmlns:a16="http://schemas.microsoft.com/office/drawing/2014/main" id="{BEF866E5-238B-FD11-4D45-59EC9F6C97FA}"/>
              </a:ext>
            </a:extLst>
          </p:cNvPr>
          <p:cNvSpPr txBox="1"/>
          <p:nvPr/>
        </p:nvSpPr>
        <p:spPr>
          <a:xfrm>
            <a:off x="282558" y="886361"/>
            <a:ext cx="214315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Dispatch (Di):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Get + set MT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Push entry into ROB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Allocate 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Otherwise, stall</a:t>
            </a:r>
          </a:p>
        </p:txBody>
      </p:sp>
      <p:cxnSp>
        <p:nvCxnSpPr>
          <p:cNvPr id="2067" name="Straight Connector 2066">
            <a:extLst>
              <a:ext uri="{FF2B5EF4-FFF2-40B4-BE49-F238E27FC236}">
                <a16:creationId xmlns:a16="http://schemas.microsoft.com/office/drawing/2014/main" id="{2479DD2C-7BAE-9C58-0059-92C4A9F36323}"/>
              </a:ext>
            </a:extLst>
          </p:cNvPr>
          <p:cNvCxnSpPr>
            <a:cxnSpLocks/>
          </p:cNvCxnSpPr>
          <p:nvPr/>
        </p:nvCxnSpPr>
        <p:spPr>
          <a:xfrm flipH="1" flipV="1">
            <a:off x="2025165" y="2029361"/>
            <a:ext cx="571682" cy="787142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71229397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MIPS R10K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6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C249D5-90DF-560F-7EF7-9587FADDC91B}"/>
              </a:ext>
            </a:extLst>
          </p:cNvPr>
          <p:cNvSpPr/>
          <p:nvPr/>
        </p:nvSpPr>
        <p:spPr>
          <a:xfrm>
            <a:off x="1240641" y="2444314"/>
            <a:ext cx="762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2EB6A-26ED-BE67-2821-9853C6F5AACA}"/>
              </a:ext>
            </a:extLst>
          </p:cNvPr>
          <p:cNvSpPr/>
          <p:nvPr/>
        </p:nvSpPr>
        <p:spPr>
          <a:xfrm>
            <a:off x="2155041" y="2444314"/>
            <a:ext cx="762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32CFD0-D547-C23A-9D43-2ABB97A483AB}"/>
              </a:ext>
            </a:extLst>
          </p:cNvPr>
          <p:cNvSpPr/>
          <p:nvPr/>
        </p:nvSpPr>
        <p:spPr>
          <a:xfrm>
            <a:off x="4822041" y="1963578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EC30B-91DE-0496-1E5F-258F64FCF94D}"/>
              </a:ext>
            </a:extLst>
          </p:cNvPr>
          <p:cNvSpPr txBox="1"/>
          <p:nvPr/>
        </p:nvSpPr>
        <p:spPr>
          <a:xfrm>
            <a:off x="597772" y="2743200"/>
            <a:ext cx="697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Fetch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6758E-9A9B-056A-3388-1A1E7D4132C9}"/>
              </a:ext>
            </a:extLst>
          </p:cNvPr>
          <p:cNvSpPr txBox="1"/>
          <p:nvPr/>
        </p:nvSpPr>
        <p:spPr>
          <a:xfrm>
            <a:off x="1295400" y="2743200"/>
            <a:ext cx="903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Decode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C83F0E-2690-3419-5511-651FC99EAB4B}"/>
              </a:ext>
            </a:extLst>
          </p:cNvPr>
          <p:cNvSpPr txBox="1"/>
          <p:nvPr/>
        </p:nvSpPr>
        <p:spPr>
          <a:xfrm>
            <a:off x="2266707" y="2743200"/>
            <a:ext cx="100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Dispatch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89EA01-97DB-04E8-509F-061C912133C5}"/>
              </a:ext>
            </a:extLst>
          </p:cNvPr>
          <p:cNvSpPr/>
          <p:nvPr/>
        </p:nvSpPr>
        <p:spPr>
          <a:xfrm>
            <a:off x="4822041" y="3008749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99C0F-B9FB-C9FE-A568-A2DC841E1D14}"/>
              </a:ext>
            </a:extLst>
          </p:cNvPr>
          <p:cNvSpPr/>
          <p:nvPr/>
        </p:nvSpPr>
        <p:spPr>
          <a:xfrm>
            <a:off x="4822041" y="4098766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FC2827-1177-30D6-8069-0015272CB44C}"/>
              </a:ext>
            </a:extLst>
          </p:cNvPr>
          <p:cNvSpPr/>
          <p:nvPr/>
        </p:nvSpPr>
        <p:spPr>
          <a:xfrm>
            <a:off x="5279241" y="4099560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38188C-883B-1675-7FD6-68A4C86CCDEB}"/>
              </a:ext>
            </a:extLst>
          </p:cNvPr>
          <p:cNvSpPr/>
          <p:nvPr/>
        </p:nvSpPr>
        <p:spPr>
          <a:xfrm>
            <a:off x="6022193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2BE1E7-6C77-75FA-FFB6-B3096C98D724}"/>
              </a:ext>
            </a:extLst>
          </p:cNvPr>
          <p:cNvSpPr/>
          <p:nvPr/>
        </p:nvSpPr>
        <p:spPr>
          <a:xfrm>
            <a:off x="6022193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A5CDE8-7F8C-D95B-879E-20985AB4716E}"/>
              </a:ext>
            </a:extLst>
          </p:cNvPr>
          <p:cNvSpPr/>
          <p:nvPr/>
        </p:nvSpPr>
        <p:spPr>
          <a:xfrm>
            <a:off x="6022193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6205A3-A6B7-4BF2-EACC-4E31B382C3DF}"/>
              </a:ext>
            </a:extLst>
          </p:cNvPr>
          <p:cNvSpPr/>
          <p:nvPr/>
        </p:nvSpPr>
        <p:spPr>
          <a:xfrm>
            <a:off x="4364841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4A841D-867A-5035-F465-602DF8410EA7}"/>
              </a:ext>
            </a:extLst>
          </p:cNvPr>
          <p:cNvSpPr/>
          <p:nvPr/>
        </p:nvSpPr>
        <p:spPr>
          <a:xfrm>
            <a:off x="4364841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07AED4-2020-E1C9-9972-1DEF202D7314}"/>
              </a:ext>
            </a:extLst>
          </p:cNvPr>
          <p:cNvSpPr/>
          <p:nvPr/>
        </p:nvSpPr>
        <p:spPr>
          <a:xfrm>
            <a:off x="4364841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1171FD-0400-183C-8176-9EBFED9E0D20}"/>
              </a:ext>
            </a:extLst>
          </p:cNvPr>
          <p:cNvSpPr/>
          <p:nvPr/>
        </p:nvSpPr>
        <p:spPr>
          <a:xfrm>
            <a:off x="457200" y="2760018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7DA18-09E6-1A1F-30E2-DDC07D4526FA}"/>
              </a:ext>
            </a:extLst>
          </p:cNvPr>
          <p:cNvSpPr/>
          <p:nvPr/>
        </p:nvSpPr>
        <p:spPr>
          <a:xfrm>
            <a:off x="3359437" y="1877972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4CFC82-113B-9446-5B06-EBB112F24FE8}"/>
              </a:ext>
            </a:extLst>
          </p:cNvPr>
          <p:cNvSpPr/>
          <p:nvPr/>
        </p:nvSpPr>
        <p:spPr>
          <a:xfrm>
            <a:off x="3359437" y="2900720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9318D0-9674-B2BC-715E-7B826D23880D}"/>
              </a:ext>
            </a:extLst>
          </p:cNvPr>
          <p:cNvSpPr/>
          <p:nvPr/>
        </p:nvSpPr>
        <p:spPr>
          <a:xfrm>
            <a:off x="3359437" y="3990737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1A24CEE-AFE2-452C-4BBC-1D0C23AC3627}"/>
              </a:ext>
            </a:extLst>
          </p:cNvPr>
          <p:cNvGraphicFramePr>
            <a:graphicFrameLocks noGrp="1"/>
          </p:cNvGraphicFramePr>
          <p:nvPr/>
        </p:nvGraphicFramePr>
        <p:xfrm>
          <a:off x="3359437" y="1278205"/>
          <a:ext cx="3886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102775881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307776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8385471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513284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3886207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544403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1973953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4137905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92166055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83073502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9853454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6249113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99121519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492437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32789254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7846388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149300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733528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F409C73A-1547-086E-5900-C065E6BDCA53}"/>
              </a:ext>
            </a:extLst>
          </p:cNvPr>
          <p:cNvSpPr/>
          <p:nvPr/>
        </p:nvSpPr>
        <p:spPr>
          <a:xfrm>
            <a:off x="3359437" y="6037858"/>
            <a:ext cx="1096408" cy="59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Map Table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&amp; Free List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5580D9-D540-0F75-84C6-11933E4A8D95}"/>
              </a:ext>
            </a:extLst>
          </p:cNvPr>
          <p:cNvSpPr/>
          <p:nvPr/>
        </p:nvSpPr>
        <p:spPr>
          <a:xfrm>
            <a:off x="4625229" y="4953000"/>
            <a:ext cx="1325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Register File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0FD931-60AC-7743-91FA-95051C28525E}"/>
              </a:ext>
            </a:extLst>
          </p:cNvPr>
          <p:cNvSpPr txBox="1"/>
          <p:nvPr/>
        </p:nvSpPr>
        <p:spPr>
          <a:xfrm>
            <a:off x="6096000" y="2743200"/>
            <a:ext cx="1103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Complete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91DAC9-75B3-B3FD-96C2-C3E0B9C0EF91}"/>
              </a:ext>
            </a:extLst>
          </p:cNvPr>
          <p:cNvSpPr txBox="1"/>
          <p:nvPr/>
        </p:nvSpPr>
        <p:spPr>
          <a:xfrm>
            <a:off x="7290194" y="2743200"/>
            <a:ext cx="755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Retire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6976A9-7C3B-3714-F218-E0853D30CA0A}"/>
              </a:ext>
            </a:extLst>
          </p:cNvPr>
          <p:cNvSpPr txBox="1"/>
          <p:nvPr/>
        </p:nvSpPr>
        <p:spPr>
          <a:xfrm>
            <a:off x="3574056" y="274320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Issue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082356-E0C3-538A-5600-DEBC0EF2BD5A}"/>
              </a:ext>
            </a:extLst>
          </p:cNvPr>
          <p:cNvCxnSpPr/>
          <p:nvPr/>
        </p:nvCxnSpPr>
        <p:spPr>
          <a:xfrm>
            <a:off x="2667000" y="1463624"/>
            <a:ext cx="0" cy="4892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2A1F932-5C65-1490-2CA6-936D5ECC2320}"/>
              </a:ext>
            </a:extLst>
          </p:cNvPr>
          <p:cNvCxnSpPr>
            <a:cxnSpLocks/>
          </p:cNvCxnSpPr>
          <p:nvPr/>
        </p:nvCxnSpPr>
        <p:spPr>
          <a:xfrm flipV="1">
            <a:off x="6611623" y="1645920"/>
            <a:ext cx="0" cy="420624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F205CF-F304-6828-0E37-3A5FA8E154D4}"/>
              </a:ext>
            </a:extLst>
          </p:cNvPr>
          <p:cNvCxnSpPr>
            <a:cxnSpLocks/>
          </p:cNvCxnSpPr>
          <p:nvPr/>
        </p:nvCxnSpPr>
        <p:spPr>
          <a:xfrm rot="5400000">
            <a:off x="5028217" y="4290060"/>
            <a:ext cx="0" cy="31546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0E3553-AE4F-AA11-AE5D-76B72B190224}"/>
              </a:ext>
            </a:extLst>
          </p:cNvPr>
          <p:cNvCxnSpPr/>
          <p:nvPr/>
        </p:nvCxnSpPr>
        <p:spPr>
          <a:xfrm>
            <a:off x="7626637" y="1463624"/>
            <a:ext cx="0" cy="48463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CAC9C6-A433-EC05-9782-AEE5A47FB48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1120724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C28203-2B74-B54D-9CCA-8F3762782985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19431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1140542-7D24-B823-DEBA-DDE7203CDD2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2950518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A74AFD4-6822-145F-2917-532AE1707E71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4076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9963797-FABB-1719-DC00-2398E1BA8CAD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5981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AC7E27A-B63D-B949-124D-8D3D5BF2021B}"/>
              </a:ext>
            </a:extLst>
          </p:cNvPr>
          <p:cNvCxnSpPr>
            <a:cxnSpLocks/>
          </p:cNvCxnSpPr>
          <p:nvPr/>
        </p:nvCxnSpPr>
        <p:spPr>
          <a:xfrm flipV="1">
            <a:off x="3450441" y="475488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BFF03E6-B441-5799-F6E3-FA3C96425CEC}"/>
              </a:ext>
            </a:extLst>
          </p:cNvPr>
          <p:cNvCxnSpPr>
            <a:cxnSpLocks/>
          </p:cNvCxnSpPr>
          <p:nvPr/>
        </p:nvCxnSpPr>
        <p:spPr>
          <a:xfrm>
            <a:off x="3892837" y="586740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1DC4AE0-8668-7BDD-123A-65D563477808}"/>
              </a:ext>
            </a:extLst>
          </p:cNvPr>
          <p:cNvCxnSpPr>
            <a:cxnSpLocks/>
          </p:cNvCxnSpPr>
          <p:nvPr/>
        </p:nvCxnSpPr>
        <p:spPr>
          <a:xfrm rot="5400000" flipV="1">
            <a:off x="7588537" y="11049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6178294-ADC2-31DA-14F6-46896AABDE11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17221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8585D5A-5692-9B5F-F493-80299C68F0F3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2729538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DB9DAAE-4D64-DC42-F221-577E22EE6E1E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38557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FF5737D-6E2B-B3ED-5B6C-FF52C2B7F2BB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4404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91262A8-7EA3-8871-0B18-21BDF35755EF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3261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2B978C-6F53-F17B-3BA1-A58EE5FA21C1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22707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BB183C0-6C55-C666-BD52-25F182672A77}"/>
              </a:ext>
            </a:extLst>
          </p:cNvPr>
          <p:cNvCxnSpPr/>
          <p:nvPr/>
        </p:nvCxnSpPr>
        <p:spPr>
          <a:xfrm>
            <a:off x="4181961" y="2362200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289BD5-71CD-5B6D-146C-E70445796889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285080" y="5035207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6F2079F-708F-B73C-DEB3-D29FC6AA3BFD}"/>
              </a:ext>
            </a:extLst>
          </p:cNvPr>
          <p:cNvCxnSpPr>
            <a:cxnSpLocks/>
          </p:cNvCxnSpPr>
          <p:nvPr/>
        </p:nvCxnSpPr>
        <p:spPr>
          <a:xfrm rot="5400000" flipV="1">
            <a:off x="936824" y="2815263"/>
            <a:ext cx="0" cy="5943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3302C27-6A62-39DC-7C3A-359B7F7C9464}"/>
              </a:ext>
            </a:extLst>
          </p:cNvPr>
          <p:cNvCxnSpPr>
            <a:cxnSpLocks/>
          </p:cNvCxnSpPr>
          <p:nvPr/>
        </p:nvCxnSpPr>
        <p:spPr>
          <a:xfrm rot="5400000" flipV="1">
            <a:off x="1743561" y="2700963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B2DC05F-75E2-3DFD-5341-FD88E38C7870}"/>
              </a:ext>
            </a:extLst>
          </p:cNvPr>
          <p:cNvCxnSpPr>
            <a:cxnSpLocks/>
          </p:cNvCxnSpPr>
          <p:nvPr/>
        </p:nvCxnSpPr>
        <p:spPr>
          <a:xfrm rot="5400000" flipV="1">
            <a:off x="2467897" y="2906703"/>
            <a:ext cx="0" cy="4114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BBA6843-3640-8DA0-C440-5ED3AFB9B3C8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19796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86E32C1-4565-DF69-EEB1-4689D00C1DEE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3025140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76F4FB5-F1BA-E2EB-1A88-05E82D20C68D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41132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32578BA-8D8B-7AAE-F861-6271CC583CB8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046477" y="4715768"/>
            <a:ext cx="0" cy="31546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5E8A2AB-5699-45DF-DA2D-7FEC8A3EA051}"/>
              </a:ext>
            </a:extLst>
          </p:cNvPr>
          <p:cNvSpPr txBox="1"/>
          <p:nvPr/>
        </p:nvSpPr>
        <p:spPr>
          <a:xfrm>
            <a:off x="4621187" y="1297673"/>
            <a:ext cx="144514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Reorder Buffer</a:t>
            </a:r>
          </a:p>
        </p:txBody>
      </p:sp>
      <p:cxnSp>
        <p:nvCxnSpPr>
          <p:cNvPr id="2048" name="Straight Connector 2047">
            <a:extLst>
              <a:ext uri="{FF2B5EF4-FFF2-40B4-BE49-F238E27FC236}">
                <a16:creationId xmlns:a16="http://schemas.microsoft.com/office/drawing/2014/main" id="{F96F88E0-FBA7-5C40-7306-43E9921E6104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1682442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" name="Straight Connector 2048">
            <a:extLst>
              <a:ext uri="{FF2B5EF4-FFF2-40B4-BE49-F238E27FC236}">
                <a16:creationId xmlns:a16="http://schemas.microsoft.com/office/drawing/2014/main" id="{29CFD74C-D889-D8EF-D6CD-28A2E846EE23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272796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Straight Connector 2049">
            <a:extLst>
              <a:ext uri="{FF2B5EF4-FFF2-40B4-BE49-F238E27FC236}">
                <a16:creationId xmlns:a16="http://schemas.microsoft.com/office/drawing/2014/main" id="{78AAAB3C-6BCF-7BC1-F928-CB7F6C087C14}"/>
              </a:ext>
            </a:extLst>
          </p:cNvPr>
          <p:cNvCxnSpPr>
            <a:cxnSpLocks/>
          </p:cNvCxnSpPr>
          <p:nvPr/>
        </p:nvCxnSpPr>
        <p:spPr>
          <a:xfrm rot="5400000" flipV="1">
            <a:off x="5702153" y="4044642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1" name="TextBox 2050">
            <a:extLst>
              <a:ext uri="{FF2B5EF4-FFF2-40B4-BE49-F238E27FC236}">
                <a16:creationId xmlns:a16="http://schemas.microsoft.com/office/drawing/2014/main" id="{CD7B373F-4F31-A510-07A8-EDF50E9E315D}"/>
              </a:ext>
            </a:extLst>
          </p:cNvPr>
          <p:cNvSpPr txBox="1"/>
          <p:nvPr/>
        </p:nvSpPr>
        <p:spPr>
          <a:xfrm>
            <a:off x="4790067" y="2743198"/>
            <a:ext cx="924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Execute</a:t>
            </a:r>
          </a:p>
        </p:txBody>
      </p:sp>
      <p:pic>
        <p:nvPicPr>
          <p:cNvPr id="2053" name="Picture 2052">
            <a:extLst>
              <a:ext uri="{FF2B5EF4-FFF2-40B4-BE49-F238E27FC236}">
                <a16:creationId xmlns:a16="http://schemas.microsoft.com/office/drawing/2014/main" id="{4ABE77B9-FA9E-EF66-9FCC-7284B45046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8" y="3221502"/>
            <a:ext cx="615225" cy="171212"/>
          </a:xfrm>
          <a:prstGeom prst="rect">
            <a:avLst/>
          </a:prstGeom>
        </p:spPr>
      </p:pic>
      <p:pic>
        <p:nvPicPr>
          <p:cNvPr id="2056" name="Picture 2055">
            <a:extLst>
              <a:ext uri="{FF2B5EF4-FFF2-40B4-BE49-F238E27FC236}">
                <a16:creationId xmlns:a16="http://schemas.microsoft.com/office/drawing/2014/main" id="{CF7D8CC0-B9F8-CCE5-B762-019AE170D8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9" y="2173365"/>
            <a:ext cx="615225" cy="171212"/>
          </a:xfrm>
          <a:prstGeom prst="rect">
            <a:avLst/>
          </a:prstGeom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119FEDA3-35E2-50C6-90B0-BD4AA6BD1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28539" y="4260607"/>
            <a:ext cx="615225" cy="171212"/>
          </a:xfrm>
          <a:prstGeom prst="rect">
            <a:avLst/>
          </a:prstGeom>
        </p:spPr>
      </p:pic>
      <p:pic>
        <p:nvPicPr>
          <p:cNvPr id="2059" name="Picture 2058">
            <a:extLst>
              <a:ext uri="{FF2B5EF4-FFF2-40B4-BE49-F238E27FC236}">
                <a16:creationId xmlns:a16="http://schemas.microsoft.com/office/drawing/2014/main" id="{A65A156B-4CA7-B181-5CC0-89DA90AC3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794815" y="4260606"/>
            <a:ext cx="615225" cy="171212"/>
          </a:xfrm>
          <a:prstGeom prst="rect">
            <a:avLst/>
          </a:prstGeom>
        </p:spPr>
      </p:pic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BEBA3889-8B2F-288A-4B2E-53F215A8AA34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3247672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712CC574-4D2F-ABBC-B2C4-B46D023BF918}"/>
              </a:ext>
            </a:extLst>
          </p:cNvPr>
          <p:cNvCxnSpPr>
            <a:cxnSpLocks/>
          </p:cNvCxnSpPr>
          <p:nvPr/>
        </p:nvCxnSpPr>
        <p:spPr>
          <a:xfrm rot="5400000" flipV="1">
            <a:off x="4790473" y="2199535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Straight Connector 2061">
            <a:extLst>
              <a:ext uri="{FF2B5EF4-FFF2-40B4-BE49-F238E27FC236}">
                <a16:creationId xmlns:a16="http://schemas.microsoft.com/office/drawing/2014/main" id="{37C74AE5-A2C4-2BD8-7888-AA563C5BE8F1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428677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F764FD9A-8FA7-FCDE-BAA7-799C5410156B}"/>
              </a:ext>
            </a:extLst>
          </p:cNvPr>
          <p:cNvCxnSpPr>
            <a:cxnSpLocks/>
          </p:cNvCxnSpPr>
          <p:nvPr/>
        </p:nvCxnSpPr>
        <p:spPr>
          <a:xfrm rot="5400000" flipV="1">
            <a:off x="5228297" y="430524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Straight Connector 2063">
            <a:extLst>
              <a:ext uri="{FF2B5EF4-FFF2-40B4-BE49-F238E27FC236}">
                <a16:creationId xmlns:a16="http://schemas.microsoft.com/office/drawing/2014/main" id="{B3E5D573-734F-0175-CF74-28ED0FC0265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410060" y="5109793"/>
            <a:ext cx="0" cy="4572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5" name="TextBox 2064">
            <a:extLst>
              <a:ext uri="{FF2B5EF4-FFF2-40B4-BE49-F238E27FC236}">
                <a16:creationId xmlns:a16="http://schemas.microsoft.com/office/drawing/2014/main" id="{BEF866E5-238B-FD11-4D45-59EC9F6C97FA}"/>
              </a:ext>
            </a:extLst>
          </p:cNvPr>
          <p:cNvSpPr txBox="1"/>
          <p:nvPr/>
        </p:nvSpPr>
        <p:spPr>
          <a:xfrm>
            <a:off x="0" y="4648200"/>
            <a:ext cx="35087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Issue (S):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Read from reg file, if operands ready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Allocate functional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Free 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Otherwise, wait</a:t>
            </a:r>
          </a:p>
        </p:txBody>
      </p:sp>
      <p:cxnSp>
        <p:nvCxnSpPr>
          <p:cNvPr id="2067" name="Straight Connector 2066">
            <a:extLst>
              <a:ext uri="{FF2B5EF4-FFF2-40B4-BE49-F238E27FC236}">
                <a16:creationId xmlns:a16="http://schemas.microsoft.com/office/drawing/2014/main" id="{2479DD2C-7BAE-9C58-0059-92C4A9F36323}"/>
              </a:ext>
            </a:extLst>
          </p:cNvPr>
          <p:cNvCxnSpPr>
            <a:cxnSpLocks/>
          </p:cNvCxnSpPr>
          <p:nvPr/>
        </p:nvCxnSpPr>
        <p:spPr>
          <a:xfrm flipV="1">
            <a:off x="2047783" y="3220007"/>
            <a:ext cx="1739390" cy="1692679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7555709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MIPS R10K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7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C249D5-90DF-560F-7EF7-9587FADDC91B}"/>
              </a:ext>
            </a:extLst>
          </p:cNvPr>
          <p:cNvSpPr/>
          <p:nvPr/>
        </p:nvSpPr>
        <p:spPr>
          <a:xfrm>
            <a:off x="1240641" y="2444314"/>
            <a:ext cx="762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2EB6A-26ED-BE67-2821-9853C6F5AACA}"/>
              </a:ext>
            </a:extLst>
          </p:cNvPr>
          <p:cNvSpPr/>
          <p:nvPr/>
        </p:nvSpPr>
        <p:spPr>
          <a:xfrm>
            <a:off x="2155041" y="2444314"/>
            <a:ext cx="762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32CFD0-D547-C23A-9D43-2ABB97A483AB}"/>
              </a:ext>
            </a:extLst>
          </p:cNvPr>
          <p:cNvSpPr/>
          <p:nvPr/>
        </p:nvSpPr>
        <p:spPr>
          <a:xfrm>
            <a:off x="4822041" y="1963578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EC30B-91DE-0496-1E5F-258F64FCF94D}"/>
              </a:ext>
            </a:extLst>
          </p:cNvPr>
          <p:cNvSpPr txBox="1"/>
          <p:nvPr/>
        </p:nvSpPr>
        <p:spPr>
          <a:xfrm>
            <a:off x="597772" y="2743200"/>
            <a:ext cx="697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Fetch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6758E-9A9B-056A-3388-1A1E7D4132C9}"/>
              </a:ext>
            </a:extLst>
          </p:cNvPr>
          <p:cNvSpPr txBox="1"/>
          <p:nvPr/>
        </p:nvSpPr>
        <p:spPr>
          <a:xfrm>
            <a:off x="1295400" y="2743200"/>
            <a:ext cx="903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Decode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C83F0E-2690-3419-5511-651FC99EAB4B}"/>
              </a:ext>
            </a:extLst>
          </p:cNvPr>
          <p:cNvSpPr txBox="1"/>
          <p:nvPr/>
        </p:nvSpPr>
        <p:spPr>
          <a:xfrm>
            <a:off x="2266707" y="2743200"/>
            <a:ext cx="100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Dispatch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89EA01-97DB-04E8-509F-061C912133C5}"/>
              </a:ext>
            </a:extLst>
          </p:cNvPr>
          <p:cNvSpPr/>
          <p:nvPr/>
        </p:nvSpPr>
        <p:spPr>
          <a:xfrm>
            <a:off x="4822041" y="3008749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99C0F-B9FB-C9FE-A568-A2DC841E1D14}"/>
              </a:ext>
            </a:extLst>
          </p:cNvPr>
          <p:cNvSpPr/>
          <p:nvPr/>
        </p:nvSpPr>
        <p:spPr>
          <a:xfrm>
            <a:off x="4822041" y="4098766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FC2827-1177-30D6-8069-0015272CB44C}"/>
              </a:ext>
            </a:extLst>
          </p:cNvPr>
          <p:cNvSpPr/>
          <p:nvPr/>
        </p:nvSpPr>
        <p:spPr>
          <a:xfrm>
            <a:off x="5279241" y="4099560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38188C-883B-1675-7FD6-68A4C86CCDEB}"/>
              </a:ext>
            </a:extLst>
          </p:cNvPr>
          <p:cNvSpPr/>
          <p:nvPr/>
        </p:nvSpPr>
        <p:spPr>
          <a:xfrm>
            <a:off x="6022193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2BE1E7-6C77-75FA-FFB6-B3096C98D724}"/>
              </a:ext>
            </a:extLst>
          </p:cNvPr>
          <p:cNvSpPr/>
          <p:nvPr/>
        </p:nvSpPr>
        <p:spPr>
          <a:xfrm>
            <a:off x="6022193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A5CDE8-7F8C-D95B-879E-20985AB4716E}"/>
              </a:ext>
            </a:extLst>
          </p:cNvPr>
          <p:cNvSpPr/>
          <p:nvPr/>
        </p:nvSpPr>
        <p:spPr>
          <a:xfrm>
            <a:off x="6022193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6205A3-A6B7-4BF2-EACC-4E31B382C3DF}"/>
              </a:ext>
            </a:extLst>
          </p:cNvPr>
          <p:cNvSpPr/>
          <p:nvPr/>
        </p:nvSpPr>
        <p:spPr>
          <a:xfrm>
            <a:off x="4364841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4A841D-867A-5035-F465-602DF8410EA7}"/>
              </a:ext>
            </a:extLst>
          </p:cNvPr>
          <p:cNvSpPr/>
          <p:nvPr/>
        </p:nvSpPr>
        <p:spPr>
          <a:xfrm>
            <a:off x="4364841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07AED4-2020-E1C9-9972-1DEF202D7314}"/>
              </a:ext>
            </a:extLst>
          </p:cNvPr>
          <p:cNvSpPr/>
          <p:nvPr/>
        </p:nvSpPr>
        <p:spPr>
          <a:xfrm>
            <a:off x="4364841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1171FD-0400-183C-8176-9EBFED9E0D20}"/>
              </a:ext>
            </a:extLst>
          </p:cNvPr>
          <p:cNvSpPr/>
          <p:nvPr/>
        </p:nvSpPr>
        <p:spPr>
          <a:xfrm>
            <a:off x="457200" y="2760018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7DA18-09E6-1A1F-30E2-DDC07D4526FA}"/>
              </a:ext>
            </a:extLst>
          </p:cNvPr>
          <p:cNvSpPr/>
          <p:nvPr/>
        </p:nvSpPr>
        <p:spPr>
          <a:xfrm>
            <a:off x="3359437" y="1877972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4CFC82-113B-9446-5B06-EBB112F24FE8}"/>
              </a:ext>
            </a:extLst>
          </p:cNvPr>
          <p:cNvSpPr/>
          <p:nvPr/>
        </p:nvSpPr>
        <p:spPr>
          <a:xfrm>
            <a:off x="3359437" y="2900720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9318D0-9674-B2BC-715E-7B826D23880D}"/>
              </a:ext>
            </a:extLst>
          </p:cNvPr>
          <p:cNvSpPr/>
          <p:nvPr/>
        </p:nvSpPr>
        <p:spPr>
          <a:xfrm>
            <a:off x="3359437" y="3990737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1A24CEE-AFE2-452C-4BBC-1D0C23AC3627}"/>
              </a:ext>
            </a:extLst>
          </p:cNvPr>
          <p:cNvGraphicFramePr>
            <a:graphicFrameLocks noGrp="1"/>
          </p:cNvGraphicFramePr>
          <p:nvPr/>
        </p:nvGraphicFramePr>
        <p:xfrm>
          <a:off x="3359437" y="1278205"/>
          <a:ext cx="3886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102775881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307776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8385471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513284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3886207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544403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1973953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4137905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92166055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83073502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9853454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6249113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99121519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492437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32789254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7846388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149300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733528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F409C73A-1547-086E-5900-C065E6BDCA53}"/>
              </a:ext>
            </a:extLst>
          </p:cNvPr>
          <p:cNvSpPr/>
          <p:nvPr/>
        </p:nvSpPr>
        <p:spPr>
          <a:xfrm>
            <a:off x="3359437" y="6037858"/>
            <a:ext cx="1096408" cy="59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Map Table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&amp; Free List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5580D9-D540-0F75-84C6-11933E4A8D95}"/>
              </a:ext>
            </a:extLst>
          </p:cNvPr>
          <p:cNvSpPr/>
          <p:nvPr/>
        </p:nvSpPr>
        <p:spPr>
          <a:xfrm>
            <a:off x="4625229" y="4953000"/>
            <a:ext cx="1325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Register File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0FD931-60AC-7743-91FA-95051C28525E}"/>
              </a:ext>
            </a:extLst>
          </p:cNvPr>
          <p:cNvSpPr txBox="1"/>
          <p:nvPr/>
        </p:nvSpPr>
        <p:spPr>
          <a:xfrm>
            <a:off x="6096000" y="2743200"/>
            <a:ext cx="1103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Complete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91DAC9-75B3-B3FD-96C2-C3E0B9C0EF91}"/>
              </a:ext>
            </a:extLst>
          </p:cNvPr>
          <p:cNvSpPr txBox="1"/>
          <p:nvPr/>
        </p:nvSpPr>
        <p:spPr>
          <a:xfrm>
            <a:off x="7290194" y="2743200"/>
            <a:ext cx="755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Retire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6976A9-7C3B-3714-F218-E0853D30CA0A}"/>
              </a:ext>
            </a:extLst>
          </p:cNvPr>
          <p:cNvSpPr txBox="1"/>
          <p:nvPr/>
        </p:nvSpPr>
        <p:spPr>
          <a:xfrm>
            <a:off x="3574056" y="274320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Issue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082356-E0C3-538A-5600-DEBC0EF2BD5A}"/>
              </a:ext>
            </a:extLst>
          </p:cNvPr>
          <p:cNvCxnSpPr/>
          <p:nvPr/>
        </p:nvCxnSpPr>
        <p:spPr>
          <a:xfrm>
            <a:off x="2667000" y="1463624"/>
            <a:ext cx="0" cy="4892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2A1F932-5C65-1490-2CA6-936D5ECC2320}"/>
              </a:ext>
            </a:extLst>
          </p:cNvPr>
          <p:cNvCxnSpPr>
            <a:cxnSpLocks/>
          </p:cNvCxnSpPr>
          <p:nvPr/>
        </p:nvCxnSpPr>
        <p:spPr>
          <a:xfrm flipV="1">
            <a:off x="6611623" y="1645920"/>
            <a:ext cx="0" cy="420624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F205CF-F304-6828-0E37-3A5FA8E154D4}"/>
              </a:ext>
            </a:extLst>
          </p:cNvPr>
          <p:cNvCxnSpPr>
            <a:cxnSpLocks/>
          </p:cNvCxnSpPr>
          <p:nvPr/>
        </p:nvCxnSpPr>
        <p:spPr>
          <a:xfrm rot="5400000">
            <a:off x="5028217" y="4290060"/>
            <a:ext cx="0" cy="31546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0E3553-AE4F-AA11-AE5D-76B72B190224}"/>
              </a:ext>
            </a:extLst>
          </p:cNvPr>
          <p:cNvCxnSpPr/>
          <p:nvPr/>
        </p:nvCxnSpPr>
        <p:spPr>
          <a:xfrm>
            <a:off x="7626637" y="1463624"/>
            <a:ext cx="0" cy="48463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CAC9C6-A433-EC05-9782-AEE5A47FB48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1120724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C28203-2B74-B54D-9CCA-8F3762782985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19431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1140542-7D24-B823-DEBA-DDE7203CDD2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2950518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A74AFD4-6822-145F-2917-532AE1707E71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4076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9963797-FABB-1719-DC00-2398E1BA8CAD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5981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AC7E27A-B63D-B949-124D-8D3D5BF2021B}"/>
              </a:ext>
            </a:extLst>
          </p:cNvPr>
          <p:cNvCxnSpPr>
            <a:cxnSpLocks/>
          </p:cNvCxnSpPr>
          <p:nvPr/>
        </p:nvCxnSpPr>
        <p:spPr>
          <a:xfrm flipV="1">
            <a:off x="3450441" y="475488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BFF03E6-B441-5799-F6E3-FA3C96425CEC}"/>
              </a:ext>
            </a:extLst>
          </p:cNvPr>
          <p:cNvCxnSpPr>
            <a:cxnSpLocks/>
          </p:cNvCxnSpPr>
          <p:nvPr/>
        </p:nvCxnSpPr>
        <p:spPr>
          <a:xfrm>
            <a:off x="3892837" y="586740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1DC4AE0-8668-7BDD-123A-65D563477808}"/>
              </a:ext>
            </a:extLst>
          </p:cNvPr>
          <p:cNvCxnSpPr>
            <a:cxnSpLocks/>
          </p:cNvCxnSpPr>
          <p:nvPr/>
        </p:nvCxnSpPr>
        <p:spPr>
          <a:xfrm rot="5400000" flipV="1">
            <a:off x="7588537" y="11049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6178294-ADC2-31DA-14F6-46896AABDE11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17221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8585D5A-5692-9B5F-F493-80299C68F0F3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2729538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DB9DAAE-4D64-DC42-F221-577E22EE6E1E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38557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FF5737D-6E2B-B3ED-5B6C-FF52C2B7F2BB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4404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91262A8-7EA3-8871-0B18-21BDF35755EF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3261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2B978C-6F53-F17B-3BA1-A58EE5FA21C1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22707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BB183C0-6C55-C666-BD52-25F182672A77}"/>
              </a:ext>
            </a:extLst>
          </p:cNvPr>
          <p:cNvCxnSpPr/>
          <p:nvPr/>
        </p:nvCxnSpPr>
        <p:spPr>
          <a:xfrm>
            <a:off x="4181961" y="2362200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289BD5-71CD-5B6D-146C-E70445796889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285080" y="5035207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6F2079F-708F-B73C-DEB3-D29FC6AA3BFD}"/>
              </a:ext>
            </a:extLst>
          </p:cNvPr>
          <p:cNvCxnSpPr>
            <a:cxnSpLocks/>
          </p:cNvCxnSpPr>
          <p:nvPr/>
        </p:nvCxnSpPr>
        <p:spPr>
          <a:xfrm rot="5400000" flipV="1">
            <a:off x="936824" y="2815263"/>
            <a:ext cx="0" cy="5943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3302C27-6A62-39DC-7C3A-359B7F7C9464}"/>
              </a:ext>
            </a:extLst>
          </p:cNvPr>
          <p:cNvCxnSpPr>
            <a:cxnSpLocks/>
          </p:cNvCxnSpPr>
          <p:nvPr/>
        </p:nvCxnSpPr>
        <p:spPr>
          <a:xfrm rot="5400000" flipV="1">
            <a:off x="1743561" y="2700963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B2DC05F-75E2-3DFD-5341-FD88E38C7870}"/>
              </a:ext>
            </a:extLst>
          </p:cNvPr>
          <p:cNvCxnSpPr>
            <a:cxnSpLocks/>
          </p:cNvCxnSpPr>
          <p:nvPr/>
        </p:nvCxnSpPr>
        <p:spPr>
          <a:xfrm rot="5400000" flipV="1">
            <a:off x="2467897" y="2906703"/>
            <a:ext cx="0" cy="4114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BBA6843-3640-8DA0-C440-5ED3AFB9B3C8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19796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86E32C1-4565-DF69-EEB1-4689D00C1DEE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3025140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76F4FB5-F1BA-E2EB-1A88-05E82D20C68D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41132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32578BA-8D8B-7AAE-F861-6271CC583CB8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046477" y="4715768"/>
            <a:ext cx="0" cy="31546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5E8A2AB-5699-45DF-DA2D-7FEC8A3EA051}"/>
              </a:ext>
            </a:extLst>
          </p:cNvPr>
          <p:cNvSpPr txBox="1"/>
          <p:nvPr/>
        </p:nvSpPr>
        <p:spPr>
          <a:xfrm>
            <a:off x="4621187" y="1297673"/>
            <a:ext cx="144514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Reorder Buffer</a:t>
            </a:r>
          </a:p>
        </p:txBody>
      </p:sp>
      <p:cxnSp>
        <p:nvCxnSpPr>
          <p:cNvPr id="2048" name="Straight Connector 2047">
            <a:extLst>
              <a:ext uri="{FF2B5EF4-FFF2-40B4-BE49-F238E27FC236}">
                <a16:creationId xmlns:a16="http://schemas.microsoft.com/office/drawing/2014/main" id="{F96F88E0-FBA7-5C40-7306-43E9921E6104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1682442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" name="Straight Connector 2048">
            <a:extLst>
              <a:ext uri="{FF2B5EF4-FFF2-40B4-BE49-F238E27FC236}">
                <a16:creationId xmlns:a16="http://schemas.microsoft.com/office/drawing/2014/main" id="{29CFD74C-D889-D8EF-D6CD-28A2E846EE23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272796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Straight Connector 2049">
            <a:extLst>
              <a:ext uri="{FF2B5EF4-FFF2-40B4-BE49-F238E27FC236}">
                <a16:creationId xmlns:a16="http://schemas.microsoft.com/office/drawing/2014/main" id="{78AAAB3C-6BCF-7BC1-F928-CB7F6C087C14}"/>
              </a:ext>
            </a:extLst>
          </p:cNvPr>
          <p:cNvCxnSpPr>
            <a:cxnSpLocks/>
          </p:cNvCxnSpPr>
          <p:nvPr/>
        </p:nvCxnSpPr>
        <p:spPr>
          <a:xfrm rot="5400000" flipV="1">
            <a:off x="5702153" y="4044642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1" name="TextBox 2050">
            <a:extLst>
              <a:ext uri="{FF2B5EF4-FFF2-40B4-BE49-F238E27FC236}">
                <a16:creationId xmlns:a16="http://schemas.microsoft.com/office/drawing/2014/main" id="{CD7B373F-4F31-A510-07A8-EDF50E9E315D}"/>
              </a:ext>
            </a:extLst>
          </p:cNvPr>
          <p:cNvSpPr txBox="1"/>
          <p:nvPr/>
        </p:nvSpPr>
        <p:spPr>
          <a:xfrm>
            <a:off x="4790067" y="2743198"/>
            <a:ext cx="924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Execute</a:t>
            </a:r>
          </a:p>
        </p:txBody>
      </p:sp>
      <p:pic>
        <p:nvPicPr>
          <p:cNvPr id="2053" name="Picture 2052">
            <a:extLst>
              <a:ext uri="{FF2B5EF4-FFF2-40B4-BE49-F238E27FC236}">
                <a16:creationId xmlns:a16="http://schemas.microsoft.com/office/drawing/2014/main" id="{4ABE77B9-FA9E-EF66-9FCC-7284B45046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8" y="3221502"/>
            <a:ext cx="615225" cy="171212"/>
          </a:xfrm>
          <a:prstGeom prst="rect">
            <a:avLst/>
          </a:prstGeom>
        </p:spPr>
      </p:pic>
      <p:pic>
        <p:nvPicPr>
          <p:cNvPr id="2056" name="Picture 2055">
            <a:extLst>
              <a:ext uri="{FF2B5EF4-FFF2-40B4-BE49-F238E27FC236}">
                <a16:creationId xmlns:a16="http://schemas.microsoft.com/office/drawing/2014/main" id="{CF7D8CC0-B9F8-CCE5-B762-019AE170D8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9" y="2173365"/>
            <a:ext cx="615225" cy="171212"/>
          </a:xfrm>
          <a:prstGeom prst="rect">
            <a:avLst/>
          </a:prstGeom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119FEDA3-35E2-50C6-90B0-BD4AA6BD1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28539" y="4260607"/>
            <a:ext cx="615225" cy="171212"/>
          </a:xfrm>
          <a:prstGeom prst="rect">
            <a:avLst/>
          </a:prstGeom>
        </p:spPr>
      </p:pic>
      <p:pic>
        <p:nvPicPr>
          <p:cNvPr id="2059" name="Picture 2058">
            <a:extLst>
              <a:ext uri="{FF2B5EF4-FFF2-40B4-BE49-F238E27FC236}">
                <a16:creationId xmlns:a16="http://schemas.microsoft.com/office/drawing/2014/main" id="{A65A156B-4CA7-B181-5CC0-89DA90AC3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794815" y="4260606"/>
            <a:ext cx="615225" cy="171212"/>
          </a:xfrm>
          <a:prstGeom prst="rect">
            <a:avLst/>
          </a:prstGeom>
        </p:spPr>
      </p:pic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BEBA3889-8B2F-288A-4B2E-53F215A8AA34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3247672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712CC574-4D2F-ABBC-B2C4-B46D023BF918}"/>
              </a:ext>
            </a:extLst>
          </p:cNvPr>
          <p:cNvCxnSpPr>
            <a:cxnSpLocks/>
          </p:cNvCxnSpPr>
          <p:nvPr/>
        </p:nvCxnSpPr>
        <p:spPr>
          <a:xfrm rot="5400000" flipV="1">
            <a:off x="4790473" y="2199535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Straight Connector 2061">
            <a:extLst>
              <a:ext uri="{FF2B5EF4-FFF2-40B4-BE49-F238E27FC236}">
                <a16:creationId xmlns:a16="http://schemas.microsoft.com/office/drawing/2014/main" id="{37C74AE5-A2C4-2BD8-7888-AA563C5BE8F1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428677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F764FD9A-8FA7-FCDE-BAA7-799C5410156B}"/>
              </a:ext>
            </a:extLst>
          </p:cNvPr>
          <p:cNvCxnSpPr>
            <a:cxnSpLocks/>
          </p:cNvCxnSpPr>
          <p:nvPr/>
        </p:nvCxnSpPr>
        <p:spPr>
          <a:xfrm rot="5400000" flipV="1">
            <a:off x="5228297" y="430524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Straight Connector 2063">
            <a:extLst>
              <a:ext uri="{FF2B5EF4-FFF2-40B4-BE49-F238E27FC236}">
                <a16:creationId xmlns:a16="http://schemas.microsoft.com/office/drawing/2014/main" id="{B3E5D573-734F-0175-CF74-28ED0FC0265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410060" y="5109793"/>
            <a:ext cx="0" cy="4572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5" name="TextBox 2064">
            <a:extLst>
              <a:ext uri="{FF2B5EF4-FFF2-40B4-BE49-F238E27FC236}">
                <a16:creationId xmlns:a16="http://schemas.microsoft.com/office/drawing/2014/main" id="{BEF866E5-238B-FD11-4D45-59EC9F6C97FA}"/>
              </a:ext>
            </a:extLst>
          </p:cNvPr>
          <p:cNvSpPr txBox="1"/>
          <p:nvPr/>
        </p:nvSpPr>
        <p:spPr>
          <a:xfrm>
            <a:off x="6690521" y="4504706"/>
            <a:ext cx="230107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Complete (C):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Write result to reg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Set ready flag in MT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Set ready flag in RSs</a:t>
            </a:r>
          </a:p>
        </p:txBody>
      </p:sp>
      <p:cxnSp>
        <p:nvCxnSpPr>
          <p:cNvPr id="2067" name="Straight Connector 2066">
            <a:extLst>
              <a:ext uri="{FF2B5EF4-FFF2-40B4-BE49-F238E27FC236}">
                <a16:creationId xmlns:a16="http://schemas.microsoft.com/office/drawing/2014/main" id="{2479DD2C-7BAE-9C58-0059-92C4A9F36323}"/>
              </a:ext>
            </a:extLst>
          </p:cNvPr>
          <p:cNvCxnSpPr>
            <a:cxnSpLocks/>
          </p:cNvCxnSpPr>
          <p:nvPr/>
        </p:nvCxnSpPr>
        <p:spPr>
          <a:xfrm flipH="1" flipV="1">
            <a:off x="6700846" y="3067338"/>
            <a:ext cx="651908" cy="1484419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1152366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MIPS R10K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8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C249D5-90DF-560F-7EF7-9587FADDC91B}"/>
              </a:ext>
            </a:extLst>
          </p:cNvPr>
          <p:cNvSpPr/>
          <p:nvPr/>
        </p:nvSpPr>
        <p:spPr>
          <a:xfrm>
            <a:off x="1240641" y="2444314"/>
            <a:ext cx="762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2EB6A-26ED-BE67-2821-9853C6F5AACA}"/>
              </a:ext>
            </a:extLst>
          </p:cNvPr>
          <p:cNvSpPr/>
          <p:nvPr/>
        </p:nvSpPr>
        <p:spPr>
          <a:xfrm>
            <a:off x="2155041" y="2444314"/>
            <a:ext cx="762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32CFD0-D547-C23A-9D43-2ABB97A483AB}"/>
              </a:ext>
            </a:extLst>
          </p:cNvPr>
          <p:cNvSpPr/>
          <p:nvPr/>
        </p:nvSpPr>
        <p:spPr>
          <a:xfrm>
            <a:off x="4822041" y="1963578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EC30B-91DE-0496-1E5F-258F64FCF94D}"/>
              </a:ext>
            </a:extLst>
          </p:cNvPr>
          <p:cNvSpPr txBox="1"/>
          <p:nvPr/>
        </p:nvSpPr>
        <p:spPr>
          <a:xfrm>
            <a:off x="597772" y="2743200"/>
            <a:ext cx="697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Fetch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6758E-9A9B-056A-3388-1A1E7D4132C9}"/>
              </a:ext>
            </a:extLst>
          </p:cNvPr>
          <p:cNvSpPr txBox="1"/>
          <p:nvPr/>
        </p:nvSpPr>
        <p:spPr>
          <a:xfrm>
            <a:off x="1295400" y="2743200"/>
            <a:ext cx="903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Decode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C83F0E-2690-3419-5511-651FC99EAB4B}"/>
              </a:ext>
            </a:extLst>
          </p:cNvPr>
          <p:cNvSpPr txBox="1"/>
          <p:nvPr/>
        </p:nvSpPr>
        <p:spPr>
          <a:xfrm>
            <a:off x="2266707" y="2743200"/>
            <a:ext cx="100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Dispatch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89EA01-97DB-04E8-509F-061C912133C5}"/>
              </a:ext>
            </a:extLst>
          </p:cNvPr>
          <p:cNvSpPr/>
          <p:nvPr/>
        </p:nvSpPr>
        <p:spPr>
          <a:xfrm>
            <a:off x="4822041" y="3008749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99C0F-B9FB-C9FE-A568-A2DC841E1D14}"/>
              </a:ext>
            </a:extLst>
          </p:cNvPr>
          <p:cNvSpPr/>
          <p:nvPr/>
        </p:nvSpPr>
        <p:spPr>
          <a:xfrm>
            <a:off x="4822041" y="4098766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FC2827-1177-30D6-8069-0015272CB44C}"/>
              </a:ext>
            </a:extLst>
          </p:cNvPr>
          <p:cNvSpPr/>
          <p:nvPr/>
        </p:nvSpPr>
        <p:spPr>
          <a:xfrm>
            <a:off x="5279241" y="4099560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38188C-883B-1675-7FD6-68A4C86CCDEB}"/>
              </a:ext>
            </a:extLst>
          </p:cNvPr>
          <p:cNvSpPr/>
          <p:nvPr/>
        </p:nvSpPr>
        <p:spPr>
          <a:xfrm>
            <a:off x="6022193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2BE1E7-6C77-75FA-FFB6-B3096C98D724}"/>
              </a:ext>
            </a:extLst>
          </p:cNvPr>
          <p:cNvSpPr/>
          <p:nvPr/>
        </p:nvSpPr>
        <p:spPr>
          <a:xfrm>
            <a:off x="6022193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A5CDE8-7F8C-D95B-879E-20985AB4716E}"/>
              </a:ext>
            </a:extLst>
          </p:cNvPr>
          <p:cNvSpPr/>
          <p:nvPr/>
        </p:nvSpPr>
        <p:spPr>
          <a:xfrm>
            <a:off x="6022193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6205A3-A6B7-4BF2-EACC-4E31B382C3DF}"/>
              </a:ext>
            </a:extLst>
          </p:cNvPr>
          <p:cNvSpPr/>
          <p:nvPr/>
        </p:nvSpPr>
        <p:spPr>
          <a:xfrm>
            <a:off x="4364841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4A841D-867A-5035-F465-602DF8410EA7}"/>
              </a:ext>
            </a:extLst>
          </p:cNvPr>
          <p:cNvSpPr/>
          <p:nvPr/>
        </p:nvSpPr>
        <p:spPr>
          <a:xfrm>
            <a:off x="4364841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07AED4-2020-E1C9-9972-1DEF202D7314}"/>
              </a:ext>
            </a:extLst>
          </p:cNvPr>
          <p:cNvSpPr/>
          <p:nvPr/>
        </p:nvSpPr>
        <p:spPr>
          <a:xfrm>
            <a:off x="4364841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1171FD-0400-183C-8176-9EBFED9E0D20}"/>
              </a:ext>
            </a:extLst>
          </p:cNvPr>
          <p:cNvSpPr/>
          <p:nvPr/>
        </p:nvSpPr>
        <p:spPr>
          <a:xfrm>
            <a:off x="457200" y="2760018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7DA18-09E6-1A1F-30E2-DDC07D4526FA}"/>
              </a:ext>
            </a:extLst>
          </p:cNvPr>
          <p:cNvSpPr/>
          <p:nvPr/>
        </p:nvSpPr>
        <p:spPr>
          <a:xfrm>
            <a:off x="3359437" y="1877972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4CFC82-113B-9446-5B06-EBB112F24FE8}"/>
              </a:ext>
            </a:extLst>
          </p:cNvPr>
          <p:cNvSpPr/>
          <p:nvPr/>
        </p:nvSpPr>
        <p:spPr>
          <a:xfrm>
            <a:off x="3359437" y="2900720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9318D0-9674-B2BC-715E-7B826D23880D}"/>
              </a:ext>
            </a:extLst>
          </p:cNvPr>
          <p:cNvSpPr/>
          <p:nvPr/>
        </p:nvSpPr>
        <p:spPr>
          <a:xfrm>
            <a:off x="3359437" y="3990737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1A24CEE-AFE2-452C-4BBC-1D0C23AC3627}"/>
              </a:ext>
            </a:extLst>
          </p:cNvPr>
          <p:cNvGraphicFramePr>
            <a:graphicFrameLocks noGrp="1"/>
          </p:cNvGraphicFramePr>
          <p:nvPr/>
        </p:nvGraphicFramePr>
        <p:xfrm>
          <a:off x="3359437" y="1278205"/>
          <a:ext cx="3886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102775881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307776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8385471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513284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3886207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544403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1973953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4137905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92166055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83073502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9853454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6249113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99121519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492437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32789254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7846388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149300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733528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F409C73A-1547-086E-5900-C065E6BDCA53}"/>
              </a:ext>
            </a:extLst>
          </p:cNvPr>
          <p:cNvSpPr/>
          <p:nvPr/>
        </p:nvSpPr>
        <p:spPr>
          <a:xfrm>
            <a:off x="3359437" y="6037858"/>
            <a:ext cx="1096408" cy="59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Map Table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&amp; Free List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5580D9-D540-0F75-84C6-11933E4A8D95}"/>
              </a:ext>
            </a:extLst>
          </p:cNvPr>
          <p:cNvSpPr/>
          <p:nvPr/>
        </p:nvSpPr>
        <p:spPr>
          <a:xfrm>
            <a:off x="4625229" y="4953000"/>
            <a:ext cx="1325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Register File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0FD931-60AC-7743-91FA-95051C28525E}"/>
              </a:ext>
            </a:extLst>
          </p:cNvPr>
          <p:cNvSpPr txBox="1"/>
          <p:nvPr/>
        </p:nvSpPr>
        <p:spPr>
          <a:xfrm>
            <a:off x="6096000" y="2743200"/>
            <a:ext cx="1103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Complete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91DAC9-75B3-B3FD-96C2-C3E0B9C0EF91}"/>
              </a:ext>
            </a:extLst>
          </p:cNvPr>
          <p:cNvSpPr txBox="1"/>
          <p:nvPr/>
        </p:nvSpPr>
        <p:spPr>
          <a:xfrm>
            <a:off x="7290194" y="2743200"/>
            <a:ext cx="755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Retire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6976A9-7C3B-3714-F218-E0853D30CA0A}"/>
              </a:ext>
            </a:extLst>
          </p:cNvPr>
          <p:cNvSpPr txBox="1"/>
          <p:nvPr/>
        </p:nvSpPr>
        <p:spPr>
          <a:xfrm>
            <a:off x="3574056" y="274320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Issue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082356-E0C3-538A-5600-DEBC0EF2BD5A}"/>
              </a:ext>
            </a:extLst>
          </p:cNvPr>
          <p:cNvCxnSpPr/>
          <p:nvPr/>
        </p:nvCxnSpPr>
        <p:spPr>
          <a:xfrm>
            <a:off x="2667000" y="1463624"/>
            <a:ext cx="0" cy="4892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2A1F932-5C65-1490-2CA6-936D5ECC2320}"/>
              </a:ext>
            </a:extLst>
          </p:cNvPr>
          <p:cNvCxnSpPr>
            <a:cxnSpLocks/>
          </p:cNvCxnSpPr>
          <p:nvPr/>
        </p:nvCxnSpPr>
        <p:spPr>
          <a:xfrm flipV="1">
            <a:off x="6611623" y="1645920"/>
            <a:ext cx="0" cy="420624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F205CF-F304-6828-0E37-3A5FA8E154D4}"/>
              </a:ext>
            </a:extLst>
          </p:cNvPr>
          <p:cNvCxnSpPr>
            <a:cxnSpLocks/>
          </p:cNvCxnSpPr>
          <p:nvPr/>
        </p:nvCxnSpPr>
        <p:spPr>
          <a:xfrm rot="5400000">
            <a:off x="5028217" y="4290060"/>
            <a:ext cx="0" cy="31546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0E3553-AE4F-AA11-AE5D-76B72B190224}"/>
              </a:ext>
            </a:extLst>
          </p:cNvPr>
          <p:cNvCxnSpPr/>
          <p:nvPr/>
        </p:nvCxnSpPr>
        <p:spPr>
          <a:xfrm>
            <a:off x="7626637" y="1463624"/>
            <a:ext cx="0" cy="48463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CAC9C6-A433-EC05-9782-AEE5A47FB48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1120724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C28203-2B74-B54D-9CCA-8F3762782985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19431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1140542-7D24-B823-DEBA-DDE7203CDD2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2950518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A74AFD4-6822-145F-2917-532AE1707E71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4076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9963797-FABB-1719-DC00-2398E1BA8CAD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5981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AC7E27A-B63D-B949-124D-8D3D5BF2021B}"/>
              </a:ext>
            </a:extLst>
          </p:cNvPr>
          <p:cNvCxnSpPr>
            <a:cxnSpLocks/>
          </p:cNvCxnSpPr>
          <p:nvPr/>
        </p:nvCxnSpPr>
        <p:spPr>
          <a:xfrm flipV="1">
            <a:off x="3450441" y="475488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BFF03E6-B441-5799-F6E3-FA3C96425CEC}"/>
              </a:ext>
            </a:extLst>
          </p:cNvPr>
          <p:cNvCxnSpPr>
            <a:cxnSpLocks/>
          </p:cNvCxnSpPr>
          <p:nvPr/>
        </p:nvCxnSpPr>
        <p:spPr>
          <a:xfrm>
            <a:off x="3892837" y="586740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1DC4AE0-8668-7BDD-123A-65D563477808}"/>
              </a:ext>
            </a:extLst>
          </p:cNvPr>
          <p:cNvCxnSpPr>
            <a:cxnSpLocks/>
          </p:cNvCxnSpPr>
          <p:nvPr/>
        </p:nvCxnSpPr>
        <p:spPr>
          <a:xfrm rot="5400000" flipV="1">
            <a:off x="7588537" y="11049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6178294-ADC2-31DA-14F6-46896AABDE11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17221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8585D5A-5692-9B5F-F493-80299C68F0F3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2729538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DB9DAAE-4D64-DC42-F221-577E22EE6E1E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38557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FF5737D-6E2B-B3ED-5B6C-FF52C2B7F2BB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4404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91262A8-7EA3-8871-0B18-21BDF35755EF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3261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2B978C-6F53-F17B-3BA1-A58EE5FA21C1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22707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BB183C0-6C55-C666-BD52-25F182672A77}"/>
              </a:ext>
            </a:extLst>
          </p:cNvPr>
          <p:cNvCxnSpPr/>
          <p:nvPr/>
        </p:nvCxnSpPr>
        <p:spPr>
          <a:xfrm>
            <a:off x="4181961" y="2362200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289BD5-71CD-5B6D-146C-E70445796889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285080" y="5035207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6F2079F-708F-B73C-DEB3-D29FC6AA3BFD}"/>
              </a:ext>
            </a:extLst>
          </p:cNvPr>
          <p:cNvCxnSpPr>
            <a:cxnSpLocks/>
          </p:cNvCxnSpPr>
          <p:nvPr/>
        </p:nvCxnSpPr>
        <p:spPr>
          <a:xfrm rot="5400000" flipV="1">
            <a:off x="936824" y="2815263"/>
            <a:ext cx="0" cy="5943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3302C27-6A62-39DC-7C3A-359B7F7C9464}"/>
              </a:ext>
            </a:extLst>
          </p:cNvPr>
          <p:cNvCxnSpPr>
            <a:cxnSpLocks/>
          </p:cNvCxnSpPr>
          <p:nvPr/>
        </p:nvCxnSpPr>
        <p:spPr>
          <a:xfrm rot="5400000" flipV="1">
            <a:off x="1743561" y="2700963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B2DC05F-75E2-3DFD-5341-FD88E38C7870}"/>
              </a:ext>
            </a:extLst>
          </p:cNvPr>
          <p:cNvCxnSpPr>
            <a:cxnSpLocks/>
          </p:cNvCxnSpPr>
          <p:nvPr/>
        </p:nvCxnSpPr>
        <p:spPr>
          <a:xfrm rot="5400000" flipV="1">
            <a:off x="2467897" y="2906703"/>
            <a:ext cx="0" cy="4114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BBA6843-3640-8DA0-C440-5ED3AFB9B3C8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19796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86E32C1-4565-DF69-EEB1-4689D00C1DEE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3025140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76F4FB5-F1BA-E2EB-1A88-05E82D20C68D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41132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32578BA-8D8B-7AAE-F861-6271CC583CB8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046477" y="4715768"/>
            <a:ext cx="0" cy="31546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5E8A2AB-5699-45DF-DA2D-7FEC8A3EA051}"/>
              </a:ext>
            </a:extLst>
          </p:cNvPr>
          <p:cNvSpPr txBox="1"/>
          <p:nvPr/>
        </p:nvSpPr>
        <p:spPr>
          <a:xfrm>
            <a:off x="4621187" y="1297673"/>
            <a:ext cx="144514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Reorder Buffer</a:t>
            </a:r>
          </a:p>
        </p:txBody>
      </p:sp>
      <p:cxnSp>
        <p:nvCxnSpPr>
          <p:cNvPr id="2048" name="Straight Connector 2047">
            <a:extLst>
              <a:ext uri="{FF2B5EF4-FFF2-40B4-BE49-F238E27FC236}">
                <a16:creationId xmlns:a16="http://schemas.microsoft.com/office/drawing/2014/main" id="{F96F88E0-FBA7-5C40-7306-43E9921E6104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1682442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" name="Straight Connector 2048">
            <a:extLst>
              <a:ext uri="{FF2B5EF4-FFF2-40B4-BE49-F238E27FC236}">
                <a16:creationId xmlns:a16="http://schemas.microsoft.com/office/drawing/2014/main" id="{29CFD74C-D889-D8EF-D6CD-28A2E846EE23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272796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Straight Connector 2049">
            <a:extLst>
              <a:ext uri="{FF2B5EF4-FFF2-40B4-BE49-F238E27FC236}">
                <a16:creationId xmlns:a16="http://schemas.microsoft.com/office/drawing/2014/main" id="{78AAAB3C-6BCF-7BC1-F928-CB7F6C087C14}"/>
              </a:ext>
            </a:extLst>
          </p:cNvPr>
          <p:cNvCxnSpPr>
            <a:cxnSpLocks/>
          </p:cNvCxnSpPr>
          <p:nvPr/>
        </p:nvCxnSpPr>
        <p:spPr>
          <a:xfrm rot="5400000" flipV="1">
            <a:off x="5702153" y="4044642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1" name="TextBox 2050">
            <a:extLst>
              <a:ext uri="{FF2B5EF4-FFF2-40B4-BE49-F238E27FC236}">
                <a16:creationId xmlns:a16="http://schemas.microsoft.com/office/drawing/2014/main" id="{CD7B373F-4F31-A510-07A8-EDF50E9E315D}"/>
              </a:ext>
            </a:extLst>
          </p:cNvPr>
          <p:cNvSpPr txBox="1"/>
          <p:nvPr/>
        </p:nvSpPr>
        <p:spPr>
          <a:xfrm>
            <a:off x="4790067" y="2743198"/>
            <a:ext cx="924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Execute</a:t>
            </a:r>
          </a:p>
        </p:txBody>
      </p:sp>
      <p:pic>
        <p:nvPicPr>
          <p:cNvPr id="2053" name="Picture 2052">
            <a:extLst>
              <a:ext uri="{FF2B5EF4-FFF2-40B4-BE49-F238E27FC236}">
                <a16:creationId xmlns:a16="http://schemas.microsoft.com/office/drawing/2014/main" id="{4ABE77B9-FA9E-EF66-9FCC-7284B45046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8" y="3221502"/>
            <a:ext cx="615225" cy="171212"/>
          </a:xfrm>
          <a:prstGeom prst="rect">
            <a:avLst/>
          </a:prstGeom>
        </p:spPr>
      </p:pic>
      <p:pic>
        <p:nvPicPr>
          <p:cNvPr id="2056" name="Picture 2055">
            <a:extLst>
              <a:ext uri="{FF2B5EF4-FFF2-40B4-BE49-F238E27FC236}">
                <a16:creationId xmlns:a16="http://schemas.microsoft.com/office/drawing/2014/main" id="{CF7D8CC0-B9F8-CCE5-B762-019AE170D8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9" y="2173365"/>
            <a:ext cx="615225" cy="171212"/>
          </a:xfrm>
          <a:prstGeom prst="rect">
            <a:avLst/>
          </a:prstGeom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119FEDA3-35E2-50C6-90B0-BD4AA6BD1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28539" y="4260607"/>
            <a:ext cx="615225" cy="171212"/>
          </a:xfrm>
          <a:prstGeom prst="rect">
            <a:avLst/>
          </a:prstGeom>
        </p:spPr>
      </p:pic>
      <p:pic>
        <p:nvPicPr>
          <p:cNvPr id="2059" name="Picture 2058">
            <a:extLst>
              <a:ext uri="{FF2B5EF4-FFF2-40B4-BE49-F238E27FC236}">
                <a16:creationId xmlns:a16="http://schemas.microsoft.com/office/drawing/2014/main" id="{A65A156B-4CA7-B181-5CC0-89DA90AC3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794815" y="4260606"/>
            <a:ext cx="615225" cy="171212"/>
          </a:xfrm>
          <a:prstGeom prst="rect">
            <a:avLst/>
          </a:prstGeom>
        </p:spPr>
      </p:pic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BEBA3889-8B2F-288A-4B2E-53F215A8AA34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3247672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712CC574-4D2F-ABBC-B2C4-B46D023BF918}"/>
              </a:ext>
            </a:extLst>
          </p:cNvPr>
          <p:cNvCxnSpPr>
            <a:cxnSpLocks/>
          </p:cNvCxnSpPr>
          <p:nvPr/>
        </p:nvCxnSpPr>
        <p:spPr>
          <a:xfrm rot="5400000" flipV="1">
            <a:off x="4790473" y="2199535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Straight Connector 2061">
            <a:extLst>
              <a:ext uri="{FF2B5EF4-FFF2-40B4-BE49-F238E27FC236}">
                <a16:creationId xmlns:a16="http://schemas.microsoft.com/office/drawing/2014/main" id="{37C74AE5-A2C4-2BD8-7888-AA563C5BE8F1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428677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F764FD9A-8FA7-FCDE-BAA7-799C5410156B}"/>
              </a:ext>
            </a:extLst>
          </p:cNvPr>
          <p:cNvCxnSpPr>
            <a:cxnSpLocks/>
          </p:cNvCxnSpPr>
          <p:nvPr/>
        </p:nvCxnSpPr>
        <p:spPr>
          <a:xfrm rot="5400000" flipV="1">
            <a:off x="5228297" y="430524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Straight Connector 2063">
            <a:extLst>
              <a:ext uri="{FF2B5EF4-FFF2-40B4-BE49-F238E27FC236}">
                <a16:creationId xmlns:a16="http://schemas.microsoft.com/office/drawing/2014/main" id="{B3E5D573-734F-0175-CF74-28ED0FC0265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410060" y="5109793"/>
            <a:ext cx="0" cy="4572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5" name="TextBox 2064">
            <a:extLst>
              <a:ext uri="{FF2B5EF4-FFF2-40B4-BE49-F238E27FC236}">
                <a16:creationId xmlns:a16="http://schemas.microsoft.com/office/drawing/2014/main" id="{BEF866E5-238B-FD11-4D45-59EC9F6C97FA}"/>
              </a:ext>
            </a:extLst>
          </p:cNvPr>
          <p:cNvSpPr txBox="1"/>
          <p:nvPr/>
        </p:nvSpPr>
        <p:spPr>
          <a:xfrm>
            <a:off x="6408098" y="141982"/>
            <a:ext cx="265970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Retire (R):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Stall, if not at head of ROB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Push old reg to Free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Pop entry from ROB</a:t>
            </a:r>
          </a:p>
        </p:txBody>
      </p:sp>
      <p:cxnSp>
        <p:nvCxnSpPr>
          <p:cNvPr id="2067" name="Straight Connector 2066">
            <a:extLst>
              <a:ext uri="{FF2B5EF4-FFF2-40B4-BE49-F238E27FC236}">
                <a16:creationId xmlns:a16="http://schemas.microsoft.com/office/drawing/2014/main" id="{2479DD2C-7BAE-9C58-0059-92C4A9F36323}"/>
              </a:ext>
            </a:extLst>
          </p:cNvPr>
          <p:cNvCxnSpPr>
            <a:cxnSpLocks/>
          </p:cNvCxnSpPr>
          <p:nvPr/>
        </p:nvCxnSpPr>
        <p:spPr>
          <a:xfrm flipH="1" flipV="1">
            <a:off x="7415096" y="1209768"/>
            <a:ext cx="143001" cy="1599719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0268686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MIPS R10K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9</a:t>
            </a:fld>
            <a:endParaRPr lang="en-US" altLang="en-US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C1D6177-03D2-44BD-B37E-2BB32F7C2021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682625" y="1600200"/>
            <a:ext cx="8308975" cy="21336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800" b="1" dirty="0"/>
              <a:t>Takeaways:</a:t>
            </a:r>
            <a:endParaRPr lang="en-US" altLang="en-US" sz="2800" dirty="0"/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In-order stages: F, De, Di, R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Out-of-order stages: S, X, C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Changes to register mappings are in-order (Di and R)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In-order stages </a:t>
            </a:r>
            <a:r>
              <a:rPr lang="en-US" altLang="en-US" sz="2400" i="1" dirty="0"/>
              <a:t>stall</a:t>
            </a:r>
            <a:r>
              <a:rPr lang="en-US" altLang="en-US" sz="2400" dirty="0"/>
              <a:t> while out-of-order stages </a:t>
            </a:r>
            <a:r>
              <a:rPr lang="en-US" altLang="en-US" sz="2400" i="1" dirty="0"/>
              <a:t>wait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647030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MIPS R10K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10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C249D5-90DF-560F-7EF7-9587FADDC91B}"/>
              </a:ext>
            </a:extLst>
          </p:cNvPr>
          <p:cNvSpPr/>
          <p:nvPr/>
        </p:nvSpPr>
        <p:spPr>
          <a:xfrm>
            <a:off x="1240641" y="2444314"/>
            <a:ext cx="762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2EB6A-26ED-BE67-2821-9853C6F5AACA}"/>
              </a:ext>
            </a:extLst>
          </p:cNvPr>
          <p:cNvSpPr/>
          <p:nvPr/>
        </p:nvSpPr>
        <p:spPr>
          <a:xfrm>
            <a:off x="2155041" y="2444314"/>
            <a:ext cx="762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32CFD0-D547-C23A-9D43-2ABB97A483AB}"/>
              </a:ext>
            </a:extLst>
          </p:cNvPr>
          <p:cNvSpPr/>
          <p:nvPr/>
        </p:nvSpPr>
        <p:spPr>
          <a:xfrm>
            <a:off x="4822041" y="1963578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EC30B-91DE-0496-1E5F-258F64FCF94D}"/>
              </a:ext>
            </a:extLst>
          </p:cNvPr>
          <p:cNvSpPr txBox="1"/>
          <p:nvPr/>
        </p:nvSpPr>
        <p:spPr>
          <a:xfrm>
            <a:off x="597772" y="2743200"/>
            <a:ext cx="697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Fetch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6758E-9A9B-056A-3388-1A1E7D4132C9}"/>
              </a:ext>
            </a:extLst>
          </p:cNvPr>
          <p:cNvSpPr txBox="1"/>
          <p:nvPr/>
        </p:nvSpPr>
        <p:spPr>
          <a:xfrm>
            <a:off x="1295400" y="2743200"/>
            <a:ext cx="903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Decode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C83F0E-2690-3419-5511-651FC99EAB4B}"/>
              </a:ext>
            </a:extLst>
          </p:cNvPr>
          <p:cNvSpPr txBox="1"/>
          <p:nvPr/>
        </p:nvSpPr>
        <p:spPr>
          <a:xfrm>
            <a:off x="2266707" y="2743200"/>
            <a:ext cx="100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Dispatch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89EA01-97DB-04E8-509F-061C912133C5}"/>
              </a:ext>
            </a:extLst>
          </p:cNvPr>
          <p:cNvSpPr/>
          <p:nvPr/>
        </p:nvSpPr>
        <p:spPr>
          <a:xfrm>
            <a:off x="4822041" y="3008749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99C0F-B9FB-C9FE-A568-A2DC841E1D14}"/>
              </a:ext>
            </a:extLst>
          </p:cNvPr>
          <p:cNvSpPr/>
          <p:nvPr/>
        </p:nvSpPr>
        <p:spPr>
          <a:xfrm>
            <a:off x="4822041" y="4098766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FC2827-1177-30D6-8069-0015272CB44C}"/>
              </a:ext>
            </a:extLst>
          </p:cNvPr>
          <p:cNvSpPr/>
          <p:nvPr/>
        </p:nvSpPr>
        <p:spPr>
          <a:xfrm>
            <a:off x="5279241" y="4099560"/>
            <a:ext cx="762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38188C-883B-1675-7FD6-68A4C86CCDEB}"/>
              </a:ext>
            </a:extLst>
          </p:cNvPr>
          <p:cNvSpPr/>
          <p:nvPr/>
        </p:nvSpPr>
        <p:spPr>
          <a:xfrm>
            <a:off x="6022193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2BE1E7-6C77-75FA-FFB6-B3096C98D724}"/>
              </a:ext>
            </a:extLst>
          </p:cNvPr>
          <p:cNvSpPr/>
          <p:nvPr/>
        </p:nvSpPr>
        <p:spPr>
          <a:xfrm>
            <a:off x="6022193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A5CDE8-7F8C-D95B-879E-20985AB4716E}"/>
              </a:ext>
            </a:extLst>
          </p:cNvPr>
          <p:cNvSpPr/>
          <p:nvPr/>
        </p:nvSpPr>
        <p:spPr>
          <a:xfrm>
            <a:off x="6022193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6205A3-A6B7-4BF2-EACC-4E31B382C3DF}"/>
              </a:ext>
            </a:extLst>
          </p:cNvPr>
          <p:cNvSpPr/>
          <p:nvPr/>
        </p:nvSpPr>
        <p:spPr>
          <a:xfrm>
            <a:off x="4364841" y="1817052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4A841D-867A-5035-F465-602DF8410EA7}"/>
              </a:ext>
            </a:extLst>
          </p:cNvPr>
          <p:cNvSpPr/>
          <p:nvPr/>
        </p:nvSpPr>
        <p:spPr>
          <a:xfrm>
            <a:off x="4364841" y="2862223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07AED4-2020-E1C9-9972-1DEF202D7314}"/>
              </a:ext>
            </a:extLst>
          </p:cNvPr>
          <p:cNvSpPr/>
          <p:nvPr/>
        </p:nvSpPr>
        <p:spPr>
          <a:xfrm>
            <a:off x="4364841" y="3952240"/>
            <a:ext cx="76200" cy="838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1171FD-0400-183C-8176-9EBFED9E0D20}"/>
              </a:ext>
            </a:extLst>
          </p:cNvPr>
          <p:cNvSpPr/>
          <p:nvPr/>
        </p:nvSpPr>
        <p:spPr>
          <a:xfrm>
            <a:off x="457200" y="2760018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7DA18-09E6-1A1F-30E2-DDC07D4526FA}"/>
              </a:ext>
            </a:extLst>
          </p:cNvPr>
          <p:cNvSpPr/>
          <p:nvPr/>
        </p:nvSpPr>
        <p:spPr>
          <a:xfrm>
            <a:off x="3359437" y="1877972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4CFC82-113B-9446-5B06-EBB112F24FE8}"/>
              </a:ext>
            </a:extLst>
          </p:cNvPr>
          <p:cNvSpPr/>
          <p:nvPr/>
        </p:nvSpPr>
        <p:spPr>
          <a:xfrm>
            <a:off x="3359437" y="2900720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9318D0-9674-B2BC-715E-7B826D23880D}"/>
              </a:ext>
            </a:extLst>
          </p:cNvPr>
          <p:cNvSpPr/>
          <p:nvPr/>
        </p:nvSpPr>
        <p:spPr>
          <a:xfrm>
            <a:off x="3359437" y="3990737"/>
            <a:ext cx="182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1A24CEE-AFE2-452C-4BBC-1D0C23AC3627}"/>
              </a:ext>
            </a:extLst>
          </p:cNvPr>
          <p:cNvGraphicFramePr>
            <a:graphicFrameLocks noGrp="1"/>
          </p:cNvGraphicFramePr>
          <p:nvPr/>
        </p:nvGraphicFramePr>
        <p:xfrm>
          <a:off x="3359437" y="1278205"/>
          <a:ext cx="3886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102775881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307776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8385471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513284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38862077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544403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1973953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4137905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92166055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83073502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99853454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66249113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99121519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492437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32789254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7846388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149300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733528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F409C73A-1547-086E-5900-C065E6BDCA53}"/>
              </a:ext>
            </a:extLst>
          </p:cNvPr>
          <p:cNvSpPr/>
          <p:nvPr/>
        </p:nvSpPr>
        <p:spPr>
          <a:xfrm>
            <a:off x="3359437" y="6037858"/>
            <a:ext cx="1096408" cy="59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Map Table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&amp; Free List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5580D9-D540-0F75-84C6-11933E4A8D95}"/>
              </a:ext>
            </a:extLst>
          </p:cNvPr>
          <p:cNvSpPr/>
          <p:nvPr/>
        </p:nvSpPr>
        <p:spPr>
          <a:xfrm>
            <a:off x="4625229" y="4953000"/>
            <a:ext cx="1325008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Register File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0FD931-60AC-7743-91FA-95051C28525E}"/>
              </a:ext>
            </a:extLst>
          </p:cNvPr>
          <p:cNvSpPr txBox="1"/>
          <p:nvPr/>
        </p:nvSpPr>
        <p:spPr>
          <a:xfrm>
            <a:off x="6096000" y="2743200"/>
            <a:ext cx="1103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Complete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91DAC9-75B3-B3FD-96C2-C3E0B9C0EF91}"/>
              </a:ext>
            </a:extLst>
          </p:cNvPr>
          <p:cNvSpPr txBox="1"/>
          <p:nvPr/>
        </p:nvSpPr>
        <p:spPr>
          <a:xfrm>
            <a:off x="7290194" y="2743200"/>
            <a:ext cx="755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Retire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6976A9-7C3B-3714-F218-E0853D30CA0A}"/>
              </a:ext>
            </a:extLst>
          </p:cNvPr>
          <p:cNvSpPr txBox="1"/>
          <p:nvPr/>
        </p:nvSpPr>
        <p:spPr>
          <a:xfrm>
            <a:off x="3574056" y="274320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Issue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082356-E0C3-538A-5600-DEBC0EF2BD5A}"/>
              </a:ext>
            </a:extLst>
          </p:cNvPr>
          <p:cNvCxnSpPr/>
          <p:nvPr/>
        </p:nvCxnSpPr>
        <p:spPr>
          <a:xfrm>
            <a:off x="2667000" y="1463624"/>
            <a:ext cx="0" cy="4892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2A1F932-5C65-1490-2CA6-936D5ECC2320}"/>
              </a:ext>
            </a:extLst>
          </p:cNvPr>
          <p:cNvCxnSpPr>
            <a:cxnSpLocks/>
          </p:cNvCxnSpPr>
          <p:nvPr/>
        </p:nvCxnSpPr>
        <p:spPr>
          <a:xfrm flipV="1">
            <a:off x="6611623" y="1645920"/>
            <a:ext cx="0" cy="420624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F205CF-F304-6828-0E37-3A5FA8E154D4}"/>
              </a:ext>
            </a:extLst>
          </p:cNvPr>
          <p:cNvCxnSpPr>
            <a:cxnSpLocks/>
          </p:cNvCxnSpPr>
          <p:nvPr/>
        </p:nvCxnSpPr>
        <p:spPr>
          <a:xfrm rot="5400000">
            <a:off x="5028217" y="4290060"/>
            <a:ext cx="0" cy="31546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0E3553-AE4F-AA11-AE5D-76B72B190224}"/>
              </a:ext>
            </a:extLst>
          </p:cNvPr>
          <p:cNvCxnSpPr/>
          <p:nvPr/>
        </p:nvCxnSpPr>
        <p:spPr>
          <a:xfrm>
            <a:off x="7626637" y="1463624"/>
            <a:ext cx="0" cy="48463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CAC9C6-A433-EC05-9782-AEE5A47FB48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1120724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C28203-2B74-B54D-9CCA-8F3762782985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19431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1140542-7D24-B823-DEBA-DDE7203CDD29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2950518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A74AFD4-6822-145F-2917-532AE1707E71}"/>
              </a:ext>
            </a:extLst>
          </p:cNvPr>
          <p:cNvCxnSpPr>
            <a:cxnSpLocks/>
          </p:cNvCxnSpPr>
          <p:nvPr/>
        </p:nvCxnSpPr>
        <p:spPr>
          <a:xfrm rot="5400000" flipV="1">
            <a:off x="3003244" y="4076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9963797-FABB-1719-DC00-2398E1BA8CAD}"/>
              </a:ext>
            </a:extLst>
          </p:cNvPr>
          <p:cNvCxnSpPr>
            <a:cxnSpLocks/>
          </p:cNvCxnSpPr>
          <p:nvPr/>
        </p:nvCxnSpPr>
        <p:spPr>
          <a:xfrm rot="5400000" flipV="1">
            <a:off x="3016537" y="59817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AC7E27A-B63D-B949-124D-8D3D5BF2021B}"/>
              </a:ext>
            </a:extLst>
          </p:cNvPr>
          <p:cNvCxnSpPr>
            <a:cxnSpLocks/>
          </p:cNvCxnSpPr>
          <p:nvPr/>
        </p:nvCxnSpPr>
        <p:spPr>
          <a:xfrm flipV="1">
            <a:off x="3450441" y="475488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BFF03E6-B441-5799-F6E3-FA3C96425CEC}"/>
              </a:ext>
            </a:extLst>
          </p:cNvPr>
          <p:cNvCxnSpPr>
            <a:cxnSpLocks/>
          </p:cNvCxnSpPr>
          <p:nvPr/>
        </p:nvCxnSpPr>
        <p:spPr>
          <a:xfrm>
            <a:off x="3892837" y="586740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1DC4AE0-8668-7BDD-123A-65D563477808}"/>
              </a:ext>
            </a:extLst>
          </p:cNvPr>
          <p:cNvCxnSpPr>
            <a:cxnSpLocks/>
          </p:cNvCxnSpPr>
          <p:nvPr/>
        </p:nvCxnSpPr>
        <p:spPr>
          <a:xfrm rot="5400000" flipV="1">
            <a:off x="7588537" y="1104900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6178294-ADC2-31DA-14F6-46896AABDE11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17221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8585D5A-5692-9B5F-F493-80299C68F0F3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2729538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DB9DAAE-4D64-DC42-F221-577E22EE6E1E}"/>
              </a:ext>
            </a:extLst>
          </p:cNvPr>
          <p:cNvCxnSpPr>
            <a:cxnSpLocks/>
          </p:cNvCxnSpPr>
          <p:nvPr/>
        </p:nvCxnSpPr>
        <p:spPr>
          <a:xfrm rot="5400000" flipV="1">
            <a:off x="3953361" y="3855720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FF5737D-6E2B-B3ED-5B6C-FF52C2B7F2BB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4404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91262A8-7EA3-8871-0B18-21BDF35755EF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32613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2B978C-6F53-F17B-3BA1-A58EE5FA21C1}"/>
              </a:ext>
            </a:extLst>
          </p:cNvPr>
          <p:cNvCxnSpPr>
            <a:cxnSpLocks/>
          </p:cNvCxnSpPr>
          <p:nvPr/>
        </p:nvCxnSpPr>
        <p:spPr>
          <a:xfrm rot="5400000" flipV="1">
            <a:off x="4273401" y="2270760"/>
            <a:ext cx="0" cy="1828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BB183C0-6C55-C666-BD52-25F182672A77}"/>
              </a:ext>
            </a:extLst>
          </p:cNvPr>
          <p:cNvCxnSpPr/>
          <p:nvPr/>
        </p:nvCxnSpPr>
        <p:spPr>
          <a:xfrm>
            <a:off x="4181961" y="2362200"/>
            <a:ext cx="0" cy="2971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289BD5-71CD-5B6D-146C-E70445796889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285080" y="5035207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6F2079F-708F-B73C-DEB3-D29FC6AA3BFD}"/>
              </a:ext>
            </a:extLst>
          </p:cNvPr>
          <p:cNvCxnSpPr>
            <a:cxnSpLocks/>
          </p:cNvCxnSpPr>
          <p:nvPr/>
        </p:nvCxnSpPr>
        <p:spPr>
          <a:xfrm rot="5400000" flipV="1">
            <a:off x="936824" y="2815263"/>
            <a:ext cx="0" cy="5943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3302C27-6A62-39DC-7C3A-359B7F7C9464}"/>
              </a:ext>
            </a:extLst>
          </p:cNvPr>
          <p:cNvCxnSpPr>
            <a:cxnSpLocks/>
          </p:cNvCxnSpPr>
          <p:nvPr/>
        </p:nvCxnSpPr>
        <p:spPr>
          <a:xfrm rot="5400000" flipV="1">
            <a:off x="1743561" y="2700963"/>
            <a:ext cx="0" cy="82296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B2DC05F-75E2-3DFD-5341-FD88E38C7870}"/>
              </a:ext>
            </a:extLst>
          </p:cNvPr>
          <p:cNvCxnSpPr>
            <a:cxnSpLocks/>
          </p:cNvCxnSpPr>
          <p:nvPr/>
        </p:nvCxnSpPr>
        <p:spPr>
          <a:xfrm rot="5400000" flipV="1">
            <a:off x="2467897" y="2906703"/>
            <a:ext cx="0" cy="4114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BBA6843-3640-8DA0-C440-5ED3AFB9B3C8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19796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86E32C1-4565-DF69-EEB1-4689D00C1DEE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3025140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76F4FB5-F1BA-E2EB-1A88-05E82D20C68D}"/>
              </a:ext>
            </a:extLst>
          </p:cNvPr>
          <p:cNvCxnSpPr>
            <a:cxnSpLocks/>
          </p:cNvCxnSpPr>
          <p:nvPr/>
        </p:nvCxnSpPr>
        <p:spPr>
          <a:xfrm rot="5400000" flipV="1">
            <a:off x="6353660" y="4113222"/>
            <a:ext cx="0" cy="50292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32578BA-8D8B-7AAE-F861-6271CC583CB8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046477" y="4715768"/>
            <a:ext cx="0" cy="31546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5E8A2AB-5699-45DF-DA2D-7FEC8A3EA051}"/>
              </a:ext>
            </a:extLst>
          </p:cNvPr>
          <p:cNvSpPr txBox="1"/>
          <p:nvPr/>
        </p:nvSpPr>
        <p:spPr>
          <a:xfrm>
            <a:off x="4621187" y="1297673"/>
            <a:ext cx="144514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Reorder Buffer</a:t>
            </a:r>
          </a:p>
        </p:txBody>
      </p:sp>
      <p:cxnSp>
        <p:nvCxnSpPr>
          <p:cNvPr id="2048" name="Straight Connector 2047">
            <a:extLst>
              <a:ext uri="{FF2B5EF4-FFF2-40B4-BE49-F238E27FC236}">
                <a16:creationId xmlns:a16="http://schemas.microsoft.com/office/drawing/2014/main" id="{F96F88E0-FBA7-5C40-7306-43E9921E6104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1682442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" name="Straight Connector 2048">
            <a:extLst>
              <a:ext uri="{FF2B5EF4-FFF2-40B4-BE49-F238E27FC236}">
                <a16:creationId xmlns:a16="http://schemas.microsoft.com/office/drawing/2014/main" id="{29CFD74C-D889-D8EF-D6CD-28A2E846EE23}"/>
              </a:ext>
            </a:extLst>
          </p:cNvPr>
          <p:cNvCxnSpPr>
            <a:cxnSpLocks/>
          </p:cNvCxnSpPr>
          <p:nvPr/>
        </p:nvCxnSpPr>
        <p:spPr>
          <a:xfrm rot="5400000" flipV="1">
            <a:off x="5473553" y="2727960"/>
            <a:ext cx="0" cy="10972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Straight Connector 2049">
            <a:extLst>
              <a:ext uri="{FF2B5EF4-FFF2-40B4-BE49-F238E27FC236}">
                <a16:creationId xmlns:a16="http://schemas.microsoft.com/office/drawing/2014/main" id="{78AAAB3C-6BCF-7BC1-F928-CB7F6C087C14}"/>
              </a:ext>
            </a:extLst>
          </p:cNvPr>
          <p:cNvCxnSpPr>
            <a:cxnSpLocks/>
          </p:cNvCxnSpPr>
          <p:nvPr/>
        </p:nvCxnSpPr>
        <p:spPr>
          <a:xfrm rot="5400000" flipV="1">
            <a:off x="5702153" y="4044642"/>
            <a:ext cx="0" cy="64008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1" name="TextBox 2050">
            <a:extLst>
              <a:ext uri="{FF2B5EF4-FFF2-40B4-BE49-F238E27FC236}">
                <a16:creationId xmlns:a16="http://schemas.microsoft.com/office/drawing/2014/main" id="{CD7B373F-4F31-A510-07A8-EDF50E9E315D}"/>
              </a:ext>
            </a:extLst>
          </p:cNvPr>
          <p:cNvSpPr txBox="1"/>
          <p:nvPr/>
        </p:nvSpPr>
        <p:spPr>
          <a:xfrm>
            <a:off x="4790067" y="2743198"/>
            <a:ext cx="924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Execute</a:t>
            </a:r>
          </a:p>
        </p:txBody>
      </p:sp>
      <p:pic>
        <p:nvPicPr>
          <p:cNvPr id="2053" name="Picture 2052">
            <a:extLst>
              <a:ext uri="{FF2B5EF4-FFF2-40B4-BE49-F238E27FC236}">
                <a16:creationId xmlns:a16="http://schemas.microsoft.com/office/drawing/2014/main" id="{4ABE77B9-FA9E-EF66-9FCC-7284B45046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8" y="3221502"/>
            <a:ext cx="615225" cy="171212"/>
          </a:xfrm>
          <a:prstGeom prst="rect">
            <a:avLst/>
          </a:prstGeom>
        </p:spPr>
      </p:pic>
      <p:pic>
        <p:nvPicPr>
          <p:cNvPr id="2056" name="Picture 2055">
            <a:extLst>
              <a:ext uri="{FF2B5EF4-FFF2-40B4-BE49-F238E27FC236}">
                <a16:creationId xmlns:a16="http://schemas.microsoft.com/office/drawing/2014/main" id="{CF7D8CC0-B9F8-CCE5-B762-019AE170D8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37819" y="2173365"/>
            <a:ext cx="615225" cy="171212"/>
          </a:xfrm>
          <a:prstGeom prst="rect">
            <a:avLst/>
          </a:prstGeom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119FEDA3-35E2-50C6-90B0-BD4AA6BD1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328539" y="4260607"/>
            <a:ext cx="615225" cy="171212"/>
          </a:xfrm>
          <a:prstGeom prst="rect">
            <a:avLst/>
          </a:prstGeom>
        </p:spPr>
      </p:pic>
      <p:pic>
        <p:nvPicPr>
          <p:cNvPr id="2059" name="Picture 2058">
            <a:extLst>
              <a:ext uri="{FF2B5EF4-FFF2-40B4-BE49-F238E27FC236}">
                <a16:creationId xmlns:a16="http://schemas.microsoft.com/office/drawing/2014/main" id="{A65A156B-4CA7-B181-5CC0-89DA90AC3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794815" y="4260606"/>
            <a:ext cx="615225" cy="171212"/>
          </a:xfrm>
          <a:prstGeom prst="rect">
            <a:avLst/>
          </a:prstGeom>
        </p:spPr>
      </p:pic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BEBA3889-8B2F-288A-4B2E-53F215A8AA34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3247672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712CC574-4D2F-ABBC-B2C4-B46D023BF918}"/>
              </a:ext>
            </a:extLst>
          </p:cNvPr>
          <p:cNvCxnSpPr>
            <a:cxnSpLocks/>
          </p:cNvCxnSpPr>
          <p:nvPr/>
        </p:nvCxnSpPr>
        <p:spPr>
          <a:xfrm rot="5400000" flipV="1">
            <a:off x="4790473" y="2199535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Straight Connector 2061">
            <a:extLst>
              <a:ext uri="{FF2B5EF4-FFF2-40B4-BE49-F238E27FC236}">
                <a16:creationId xmlns:a16="http://schemas.microsoft.com/office/drawing/2014/main" id="{37C74AE5-A2C4-2BD8-7888-AA563C5BE8F1}"/>
              </a:ext>
            </a:extLst>
          </p:cNvPr>
          <p:cNvCxnSpPr>
            <a:cxnSpLocks/>
          </p:cNvCxnSpPr>
          <p:nvPr/>
        </p:nvCxnSpPr>
        <p:spPr>
          <a:xfrm rot="5400000" flipV="1">
            <a:off x="4768874" y="428677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F764FD9A-8FA7-FCDE-BAA7-799C5410156B}"/>
              </a:ext>
            </a:extLst>
          </p:cNvPr>
          <p:cNvCxnSpPr>
            <a:cxnSpLocks/>
          </p:cNvCxnSpPr>
          <p:nvPr/>
        </p:nvCxnSpPr>
        <p:spPr>
          <a:xfrm rot="5400000" flipV="1">
            <a:off x="5228297" y="4305246"/>
            <a:ext cx="0" cy="11887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Straight Connector 2063">
            <a:extLst>
              <a:ext uri="{FF2B5EF4-FFF2-40B4-BE49-F238E27FC236}">
                <a16:creationId xmlns:a16="http://schemas.microsoft.com/office/drawing/2014/main" id="{B3E5D573-734F-0175-CF74-28ED0FC0265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410060" y="5109793"/>
            <a:ext cx="0" cy="4572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1580B4-AF7C-7CD4-BA74-07268BBCE0CC}"/>
              </a:ext>
            </a:extLst>
          </p:cNvPr>
          <p:cNvSpPr txBox="1"/>
          <p:nvPr/>
        </p:nvSpPr>
        <p:spPr>
          <a:xfrm>
            <a:off x="282558" y="886361"/>
            <a:ext cx="214315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Dispatch (Di):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Get + set MT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Push entry into ROB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Allocate 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Otherwise, stall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A34967-9687-66B0-DB8F-E56A1A5080F2}"/>
              </a:ext>
            </a:extLst>
          </p:cNvPr>
          <p:cNvCxnSpPr>
            <a:cxnSpLocks/>
          </p:cNvCxnSpPr>
          <p:nvPr/>
        </p:nvCxnSpPr>
        <p:spPr>
          <a:xfrm flipH="1" flipV="1">
            <a:off x="2025165" y="2029361"/>
            <a:ext cx="571682" cy="787142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A79FEF7-62E1-A2A6-A232-866C78579009}"/>
              </a:ext>
            </a:extLst>
          </p:cNvPr>
          <p:cNvSpPr txBox="1"/>
          <p:nvPr/>
        </p:nvSpPr>
        <p:spPr>
          <a:xfrm>
            <a:off x="0" y="4648200"/>
            <a:ext cx="35087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Issue (S):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Read from reg file, if operands ready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Allocate functional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Free 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Otherwise, wait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B9CBFD-57C6-E2CD-52FE-175E40D67455}"/>
              </a:ext>
            </a:extLst>
          </p:cNvPr>
          <p:cNvCxnSpPr>
            <a:cxnSpLocks/>
          </p:cNvCxnSpPr>
          <p:nvPr/>
        </p:nvCxnSpPr>
        <p:spPr>
          <a:xfrm flipV="1">
            <a:off x="2047783" y="3220007"/>
            <a:ext cx="1739390" cy="1692679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1946F3-2865-5A09-E437-07E5903EFDAA}"/>
              </a:ext>
            </a:extLst>
          </p:cNvPr>
          <p:cNvSpPr txBox="1"/>
          <p:nvPr/>
        </p:nvSpPr>
        <p:spPr>
          <a:xfrm>
            <a:off x="6690521" y="4504706"/>
            <a:ext cx="230107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Complete (C):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Write result to reg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Set ready flag in MT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Set ready flag in RSs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E04687-1460-B08E-A44B-17ACC1C290C1}"/>
              </a:ext>
            </a:extLst>
          </p:cNvPr>
          <p:cNvCxnSpPr>
            <a:cxnSpLocks/>
          </p:cNvCxnSpPr>
          <p:nvPr/>
        </p:nvCxnSpPr>
        <p:spPr>
          <a:xfrm flipH="1" flipV="1">
            <a:off x="6700846" y="3067338"/>
            <a:ext cx="651908" cy="1484419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9CB4F70-BC0C-040B-07C1-9D48E2C148D0}"/>
              </a:ext>
            </a:extLst>
          </p:cNvPr>
          <p:cNvSpPr txBox="1"/>
          <p:nvPr/>
        </p:nvSpPr>
        <p:spPr>
          <a:xfrm>
            <a:off x="6408098" y="141982"/>
            <a:ext cx="265970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Retire (R):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Stall, if not at head of ROB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Push old reg to Free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Pop entry from ROB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B830EE0-B816-524F-7269-06DBE5331954}"/>
              </a:ext>
            </a:extLst>
          </p:cNvPr>
          <p:cNvCxnSpPr>
            <a:cxnSpLocks/>
          </p:cNvCxnSpPr>
          <p:nvPr/>
        </p:nvCxnSpPr>
        <p:spPr>
          <a:xfrm flipH="1" flipV="1">
            <a:off x="7415096" y="1209768"/>
            <a:ext cx="143001" cy="1599719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0432732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MMPROD_UIDATA" val="&lt;database version=&quot;11.0&quot;&gt;&lt;object type=&quot;1&quot; unique_id=&quot;10001&quot;&gt;&lt;property id=&quot;20141&quot; value=&quot;ECE/CS 552 - MIPS R10K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-MIPSR10K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7616&quot;&gt;&lt;property id=&quot;20148&quot; value=&quot;5&quot;/&gt;&lt;property id=&quot;20300&quot; value=&quot;Slide 1 - &amp;quot;ECE/CS 552: MIPS R10K&amp;quot;&quot;/&gt;&lt;property id=&quot;20307&quot; value=&quot;567&quot;/&gt;&lt;property id=&quot;20309&quot; value=&quot;-1&quot;/&gt;&lt;/object&gt;&lt;object type=&quot;3&quot; unique_id=&quot;21946&quot;&gt;&lt;property id=&quot;20148&quot; value=&quot;5&quot;/&gt;&lt;property id=&quot;20300&quot; value=&quot;Slide 3 - &amp;quot;MIPS R10K – Pipeline&amp;quot;&quot;/&gt;&lt;property id=&quot;20307&quot; value=&quot;663&quot;/&gt;&lt;property id=&quot;20309&quot; value=&quot;-1&quot;/&gt;&lt;/object&gt;&lt;object type=&quot;3&quot; unique_id=&quot;22006&quot;&gt;&lt;property id=&quot;20148&quot; value=&quot;5&quot;/&gt;&lt;property id=&quot;20300&quot; value=&quot;Slide 4 - &amp;quot;MIPS R10K – Takeaways&amp;quot;&quot;/&gt;&lt;property id=&quot;20307&quot; value=&quot;733&quot;/&gt;&lt;property id=&quot;20309&quot; value=&quot;-1&quot;/&gt;&lt;/object&gt;&lt;object type=&quot;3&quot; unique_id=&quot;34018&quot;&gt;&lt;property id=&quot;20148&quot; value=&quot;5&quot;/&gt;&lt;property id=&quot;20300&quot; value=&quot;Slide 2 - &amp;quot;MIPS R10K&amp;quot;&quot;/&gt;&lt;property id=&quot;20307&quot; value=&quot;790&quot;/&gt;&lt;property id=&quot;20309&quot; value=&quot;-1&quot;/&gt;&lt;/object&gt;&lt;object type=&quot;3&quot; unique_id=&quot;34022&quot;&gt;&lt;property id=&quot;20148&quot; value=&quot;5&quot;/&gt;&lt;property id=&quot;20300&quot; value=&quot;Slide 5 - &amp;quot;Superscalar Processors&amp;quot;&quot;/&gt;&lt;property id=&quot;20307&quot; value=&quot;784&quot;/&gt;&lt;property id=&quot;20309&quot; value=&quot;-1&quot;/&gt;&lt;/object&gt;&lt;/object&gt;&lt;object type=&quot;10&quot; unique_id=&quot;18704&quot;&gt;&lt;object type=&quot;11&quot; unique_id=&quot;18705&quot;&gt;&lt;property id=&quot;20180&quot; value=&quot;0&quot;/&gt;&lt;property id=&quot;20181&quot; value=&quot;1&quot;/&gt;&lt;property id=&quot;20183&quot; value=&quot;1&quot;/&gt;&lt;/object&gt;&lt;object type=&quot;12&quot; unique_id=&quot;36877&quot;&gt;&lt;/object&gt;&lt;/object&gt;&lt;object type=&quot;4&quot; unique_id=&quot;18706&quot;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4060A648-8CB0-4279-B306-42916E817E62}_1.png&quot;/&gt;&lt;left val=&quot;35&quot;/&gt;&lt;top val=&quot;231&quot;/&gt;&lt;width val=&quot;648&quot;/&gt;&lt;height val=&quot;102&quot;/&gt;&lt;hasText val=&quot;1&quot;/&gt;&lt;/Image&gt;&lt;/ThreeDShape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61&quot;/&gt;&lt;lineCharCount val=&quot;6&quot;/&gt;&lt;lineCharCount val=&quot;3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DCC5DB33-7416-4237-A1A0-CFB71F2CDFE9}_1.png&quot;/&gt;&lt;left val=&quot;104&quot;/&gt;&lt;top val=&quot;370&quot;/&gt;&lt;width val=&quot;515&quot;/&gt;&lt;height val=&quot;145&quot;/&gt;&lt;hasText val=&quot;1&quot;/&gt;&lt;/Image&gt;&lt;/ThreeDShape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.PNG&quot;/&gt;"/>
  <p:tag name="PPSNARRATION" val="3,690117316,C:\Users\sanmi\GoogleDrive\UWMdrive\Courses\ECE552\ece552-lec16_MIPSR10K_pptx\Media.ppcx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DBA3477A-D3E6-41C9-BC2D-B90AD6DFADEB}_3.png&quot;/&gt;&lt;left val=&quot;35&quot;/&gt;&lt;top val=&quot;21&quot;/&gt;&lt;width val=&quot;588&quot;/&gt;&lt;height val=&quot;98&quot;/&gt;&lt;hasText val=&quot;1&quot;/&gt;&lt;/Image&gt;&lt;/ThreeDShape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6&quot;/&gt;&lt;lineCharCount val=&quot;47&quot;/&gt;&lt;lineCharCount val=&quot;12&quot;/&gt;&lt;lineCharCount val=&quot;42&quot;/&gt;&lt;lineCharCount val=&quot;22&quot;/&gt;&lt;lineCharCount val=&quot;31&quot;/&gt;&lt;lineCharCount val=&quot;30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A4053286-854C-49E1-869A-52C8BEA901F8}_3.png&quot;/&gt;&lt;left val=&quot;23&quot;/&gt;&lt;top val=&quot;112&quot;/&gt;&lt;width val=&quot;669&quot;/&gt;&lt;height val=&quot;343&quot;/&gt;&lt;hasText val=&quot;1&quot;/&gt;&lt;/Image&gt;&lt;/ThreeDShape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9E328714-0A0F-4D4F-B4F1-546BE3DBA1E3}_3.png&quot;/&gt;&lt;left val=&quot;599&quot;/&gt;&lt;top val=&quot;500&quot;/&gt;&lt;width val=&quot;86&quot;/&gt;&lt;height val=&quot;32&quot;/&gt;&lt;hasText val=&quot;1&quot;/&gt;&lt;/Image&gt;&lt;/ThreeDShape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AA35E971-D7FD-4D70-8708-B82FD6280217}_3.png&quot;/&gt;&lt;left val=&quot;383&quot;/&gt;&lt;top val=&quot;401&quot;/&gt;&lt;width val=&quot;72&quot;/&gt;&lt;height val=&quot;30&quot;/&gt;&lt;hasText val=&quot;1&quot;/&gt;&lt;/Image&gt;&lt;/ThreeDShape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144121D8-91FB-40D3-96B7-41F01BF1F0B0}&quot;/&gt;&lt;isInvalidForFieldText val=&quot;1&quot;/&gt;&lt;Image&gt;&lt;filename val=&quot;C:\Users\sanmi\Documents\My Adobe Presentations\ece552-MIPSR10K\data\asimages\{144121D8-91FB-40D3-96B7-41F01BF1F0B0}_3_S.png&quot;/&gt;&lt;left val=&quot;388&quot;/&gt;&lt;top val=&quot;454&quot;/&gt;&lt;width val=&quot;27&quot;/&gt;&lt;height val=&quot;51&quot;/&gt;&lt;hasText val=&quot;0&quot;/&gt;&lt;/Image&gt;&lt;Image&gt;&lt;filename val=&quot;C:\Users\sanmi\Documents\My Adobe Presentations\ece552-MIPSR10K\data\asimages\{144121D8-91FB-40D3-96B7-41F01BF1F0B0}_3_T.png&quot;/&gt;&lt;left val=&quot;389&quot;/&gt;&lt;top val=&quot;455&quot;/&gt;&lt;width val=&quot;24&quot;/&gt;&lt;height val=&quot;48&quot;/&gt;&lt;hasText val=&quot;1&quot;/&gt;&lt;/Image&gt;&lt;/ThreeDShape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481D8A39-4672-41CE-AF52-C3CD20389812}_3.png&quot;/&gt;&lt;left val=&quot;426&quot;/&gt;&lt;top val=&quot;431&quot;/&gt;&lt;width val=&quot;35&quot;/&gt;&lt;height val=&quot;60&quot;/&gt;&lt;hasText val=&quot;1&quot;/&gt;&lt;/Image&gt;&lt;/ThreeDShape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9AAF2AD7-F87B-4BD9-99A2-EF28E2341C69}&quot;/&gt;&lt;isInvalidForFieldText val=&quot;1&quot;/&gt;&lt;Image&gt;&lt;filename val=&quot;C:\Users\sanmi\Documents\My Adobe Presentations\ece552-MIPSR10K\data\asimages\{9AAF2AD7-F87B-4BD9-99A2-EF28E2341C69}_3_S.png&quot;/&gt;&lt;left val=&quot;370&quot;/&gt;&lt;top val=&quot;436&quot;/&gt;&lt;width val=&quot;69&quot;/&gt;&lt;height val=&quot;31&quot;/&gt;&lt;hasText val=&quot;0&quot;/&gt;&lt;/Image&gt;&lt;Image&gt;&lt;filename val=&quot;C:\Users\sanmi\Documents\My Adobe Presentations\ece552-MIPSR10K\data\asimages\{9AAF2AD7-F87B-4BD9-99A2-EF28E2341C69}_3_T.png&quot;/&gt;&lt;left val=&quot;371&quot;/&gt;&lt;top val=&quot;443&quot;/&gt;&lt;width val=&quot;60&quot;/&gt;&lt;height val=&quot;24&quot;/&gt;&lt;hasText val=&quot;1&quot;/&gt;&lt;/Image&gt;&lt;/ThreeDShape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BB91BBCB-27A3-4EB3-8B40-8E3D535550BC}&quot;/&gt;&lt;isInvalidForFieldText val=&quot;1&quot;/&gt;&lt;Image&gt;&lt;filename val=&quot;C:\Users\sanmi\Documents\My Adobe Presentations\ece552-MIPSR10K\data\asimages\{BB91BBCB-27A3-4EB3-8B40-8E3D535550BC}_3_S.png&quot;/&gt;&lt;left val=&quot;418&quot;/&gt;&lt;top val=&quot;479&quot;/&gt;&lt;width val=&quot;63&quot;/&gt;&lt;height val=&quot;25&quot;/&gt;&lt;hasText val=&quot;0&quot;/&gt;&lt;/Image&gt;&lt;Image&gt;&lt;filename val=&quot;C:\Users\sanmi\Documents\My Adobe Presentations\ece552-MIPSR10K\data\asimages\{BB91BBCB-27A3-4EB3-8B40-8E3D535550BC}_3_T.png&quot;/&gt;&lt;left val=&quot;419&quot;/&gt;&lt;top val=&quot;479&quot;/&gt;&lt;width val=&quot;54&quot;/&gt;&lt;height val=&quot;18&quot;/&gt;&lt;hasText val=&quot;1&quot;/&gt;&lt;/Image&gt;&lt;/ThreeDShape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1151C2D6-C4B6-4564-8D52-7720BD1B2978}&quot;/&gt;&lt;isInvalidForFieldText val=&quot;1&quot;/&gt;&lt;Image&gt;&lt;filename val=&quot;C:\Users\sanmi\Documents\My Adobe Presentations\ece552-MIPSR10K\data\asimages\{1151C2D6-C4B6-4564-8D52-7720BD1B2978}_3_S.png&quot;/&gt;&lt;left val=&quot;334&quot;/&gt;&lt;top val=&quot;418&quot;/&gt;&lt;width val=&quot;50&quot;/&gt;&lt;height val=&quot;57&quot;/&gt;&lt;hasText val=&quot;0&quot;/&gt;&lt;/Image&gt;&lt;Image&gt;&lt;filename val=&quot;C:\Users\sanmi\Documents\My Adobe Presentations\ece552-MIPSR10K\data\asimages\{1151C2D6-C4B6-4564-8D52-7720BD1B2978}_3_T.png&quot;/&gt;&lt;left val=&quot;335&quot;/&gt;&lt;top val=&quot;419&quot;/&gt;&lt;width val=&quot;48&quot;/&gt;&lt;height val=&quot;48&quot;/&gt;&lt;hasText val=&quot;1&quot;/&gt;&lt;/Image&gt;&lt;/ThreeDShape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F9879432-9980-4376-8826-E2463C4F95D9}&quot;/&gt;&lt;isInvalidForFieldText val=&quot;1&quot;/&gt;&lt;Image&gt;&lt;filename val=&quot;C:\Users\sanmi\Documents\My Adobe Presentations\ece552-MIPSR10K\data\asimages\{F9879432-9980-4376-8826-E2463C4F95D9}_3_S.png&quot;/&gt;&lt;left val=&quot;322&quot;/&gt;&lt;top val=&quot;406&quot;/&gt;&lt;width val=&quot;62&quot;/&gt;&lt;height val=&quot;93&quot;/&gt;&lt;hasText val=&quot;0&quot;/&gt;&lt;/Image&gt;&lt;Image&gt;&lt;filename val=&quot;C:\Users\sanmi\Documents\My Adobe Presentations\ece552-MIPSR10K\data\asimages\{F9879432-9980-4376-8826-E2463C4F95D9}_3_T.png&quot;/&gt;&lt;left val=&quot;323&quot;/&gt;&lt;top val=&quot;407&quot;/&gt;&lt;width val=&quot;60&quot;/&gt;&lt;height val=&quot;84&quot;/&gt;&lt;hasText val=&quot;1&quot;/&gt;&lt;/Image&gt;&lt;/ThreeDShape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7E899C57-F8DD-4851-A190-CD6D5E7F7BB0}_3.png&quot;/&gt;&lt;left val=&quot;151&quot;/&gt;&lt;top val=&quot;431&quot;/&gt;&lt;width val=&quot;33&quot;/&gt;&lt;height val=&quot;38&quot;/&gt;&lt;hasText val=&quot;1&quot;/&gt;&lt;/Image&gt;&lt;/ThreeDShape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80A28F1D-89A1-4AB3-BE70-7D9927E82EF0}&quot;/&gt;&lt;isInvalidForFieldText val=&quot;1&quot;/&gt;&lt;Image&gt;&lt;filename val=&quot;C:\Users\sanmi\Documents\My Adobe Presentations\ece552-MIPSR10K\data\asimages\{80A28F1D-89A1-4AB3-BE70-7D9927E82EF0}_3_S.png&quot;/&gt;&lt;left val=&quot;136&quot;/&gt;&lt;top val=&quot;442&quot;/&gt;&lt;width val=&quot;27&quot;/&gt;&lt;height val=&quot;31&quot;/&gt;&lt;hasText val=&quot;0&quot;/&gt;&lt;/Image&gt;&lt;Image&gt;&lt;filename val=&quot;C:\Users\sanmi\Documents\My Adobe Presentations\ece552-MIPSR10K\data\asimages\{80A28F1D-89A1-4AB3-BE70-7D9927E82EF0}_3_T.png&quot;/&gt;&lt;left val=&quot;137&quot;/&gt;&lt;top val=&quot;449&quot;/&gt;&lt;width val=&quot;18&quot;/&gt;&lt;height val=&quot;24&quot;/&gt;&lt;hasText val=&quot;1&quot;/&gt;&lt;/Image&gt;&lt;/ThreeDShape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4F971D0D-5B0B-4F17-A8C7-C85005BBAA03}&quot;/&gt;&lt;isInvalidForFieldText val=&quot;1&quot;/&gt;&lt;Image&gt;&lt;filename val=&quot;C:\Users\sanmi\Documents\My Adobe Presentations\ece552-MIPSR10K\data\asimages\{4F971D0D-5B0B-4F17-A8C7-C85005BBAA03}_3_S.png&quot;/&gt;&lt;left val=&quot;136&quot;/&gt;&lt;top val=&quot;473&quot;/&gt;&lt;width val=&quot;27&quot;/&gt;&lt;height val=&quot;19&quot;/&gt;&lt;hasText val=&quot;0&quot;/&gt;&lt;/Image&gt;&lt;Image&gt;&lt;filename val=&quot;C:\Users\sanmi\Documents\My Adobe Presentations\ece552-MIPSR10K\data\asimages\{4F971D0D-5B0B-4F17-A8C7-C85005BBAA03}_3_T.png&quot;/&gt;&lt;left val=&quot;137&quot;/&gt;&lt;top val=&quot;473&quot;/&gt;&lt;width val=&quot;18&quot;/&gt;&lt;height val=&quot;12&quot;/&gt;&lt;hasText val=&quot;1&quot;/&gt;&lt;/Image&gt;&lt;/ThreeDShape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07BE1F52-024E-4783-AAFF-A94EA3EECDED}&quot;/&gt;&lt;isInvalidForFieldText val=&quot;1&quot;/&gt;&lt;Image&gt;&lt;filename val=&quot;C:\Users\sanmi\Documents\My Adobe Presentations\ece552-MIPSR10K\data\asimages\{07BE1F52-024E-4783-AAFF-A94EA3EECDED}_3_S.png&quot;/&gt;&lt;left val=&quot;172&quot;/&gt;&lt;top val=&quot;484&quot;/&gt;&lt;width val=&quot;33&quot;/&gt;&lt;height val=&quot;33&quot;/&gt;&lt;hasText val=&quot;0&quot;/&gt;&lt;/Image&gt;&lt;Image&gt;&lt;filename val=&quot;C:\Users\sanmi\Documents\My Adobe Presentations\ece552-MIPSR10K\data\asimages\{07BE1F52-024E-4783-AAFF-A94EA3EECDED}_3_T.png&quot;/&gt;&lt;left val=&quot;179&quot;/&gt;&lt;top val=&quot;485&quot;/&gt;&lt;width val=&quot;24&quot;/&gt;&lt;height val=&quot;24&quot;/&gt;&lt;hasText val=&quot;1&quot;/&gt;&lt;/Image&gt;&lt;/ThreeDShape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3598DC78-2F7D-455C-B9B9-4F292C70669F}&quot;/&gt;&lt;isInvalidForFieldText val=&quot;1&quot;/&gt;&lt;Image&gt;&lt;filename val=&quot;C:\Users\sanmi\Documents\My Adobe Presentations\ece552-MIPSR10K\data\asimages\{3598DC78-2F7D-455C-B9B9-4F292C70669F}_3_S.png&quot;/&gt;&lt;left val=&quot;172&quot;/&gt;&lt;top val=&quot;479&quot;/&gt;&lt;width val=&quot;249&quot;/&gt;&lt;height val=&quot;49&quot;/&gt;&lt;hasText val=&quot;0&quot;/&gt;&lt;/Image&gt;&lt;Image&gt;&lt;filename val=&quot;C:\Users\sanmi\Documents\My Adobe Presentations\ece552-MIPSR10K\data\asimages\{3598DC78-2F7D-455C-B9B9-4F292C70669F}_3_T.png&quot;/&gt;&lt;left val=&quot;179&quot;/&gt;&lt;top val=&quot;479&quot;/&gt;&lt;width val=&quot;240&quot;/&gt;&lt;height val=&quot;42&quot;/&gt;&lt;hasText val=&quot;1&quot;/&gt;&lt;/Image&gt;&lt;/ThreeDShape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99379947-79E9-456E-859A-E39732D9878B}&quot;/&gt;&lt;isInvalidForFieldText val=&quot;1&quot;/&gt;&lt;Image&gt;&lt;filename val=&quot;C:\Users\sanmi\Documents\My Adobe Presentations\ece552-MIPSR10K\data\asimages\{99379947-79E9-456E-859A-E39732D9878B}_3_S.png&quot;/&gt;&lt;left val=&quot;88&quot;/&gt;&lt;top val=&quot;460&quot;/&gt;&lt;width val=&quot;80&quot;/&gt;&lt;height val=&quot;51&quot;/&gt;&lt;hasText val=&quot;0&quot;/&gt;&lt;/Image&gt;&lt;Image&gt;&lt;filename val=&quot;C:\Users\sanmi\Documents\My Adobe Presentations\ece552-MIPSR10K\data\asimages\{99379947-79E9-456E-859A-E39732D9878B}_3_T.png&quot;/&gt;&lt;left val=&quot;89&quot;/&gt;&lt;top val=&quot;467&quot;/&gt;&lt;width val=&quot;78&quot;/&gt;&lt;height val=&quot;42&quot;/&gt;&lt;hasText val=&quot;1&quot;/&gt;&lt;/Image&gt;&lt;/ThreeDShape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4B177E96-2056-4AFB-9E8D-21BF47E445CC}_3.png&quot;/&gt;&lt;left val=&quot;152&quot;/&gt;&lt;top val=&quot;461&quot;/&gt;&lt;width val=&quot;30&quot;/&gt;&lt;height val=&quot;54&quot;/&gt;&lt;hasText val=&quot;1&quot;/&gt;&lt;/Image&gt;&lt;/ThreeDShape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75CD49F1-E6F3-4999-A387-7CDE844C1462}&quot;/&gt;&lt;isInvalidForFieldText val=&quot;1&quot;/&gt;&lt;Image&gt;&lt;filename val=&quot;C:\Users\sanmi\Documents\My Adobe Presentations\ece552-MIPSR10K\data\asimages\{75CD49F1-E6F3-4999-A387-7CDE844C1462}_3_S.png&quot;/&gt;&lt;left val=&quot;448&quot;/&gt;&lt;top val=&quot;400&quot;/&gt;&lt;width val=&quot;93&quot;/&gt;&lt;height val=&quot;81&quot;/&gt;&lt;hasText val=&quot;0&quot;/&gt;&lt;/Image&gt;&lt;Image&gt;&lt;filename val=&quot;C:\Users\sanmi\Documents\My Adobe Presentations\ece552-MIPSR10K\data\asimages\{75CD49F1-E6F3-4999-A387-7CDE844C1462}_3_T.png&quot;/&gt;&lt;left val=&quot;455&quot;/&gt;&lt;top val=&quot;407&quot;/&gt;&lt;width val=&quot;84&quot;/&gt;&lt;height val=&quot;72&quot;/&gt;&lt;hasText val=&quot;1&quot;/&gt;&lt;/Image&gt;&lt;/ThreeDShape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2CA88BB2-1E11-48EB-8599-89733E708AE1}_3.png&quot;/&gt;&lt;left val=&quot;311&quot;/&gt;&lt;top val=&quot;335&quot;/&gt;&lt;width val=&quot;216&quot;/&gt;&lt;height val=&quot;40&quot;/&gt;&lt;hasText val=&quot;1&quot;/&gt;&lt;/Image&gt;&lt;/ThreeDShape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72124C7A-6F34-497D-AAAE-DC9396F97691}&quot;/&gt;&lt;isInvalidForFieldText val=&quot;1&quot;/&gt;&lt;Image&gt;&lt;filename val=&quot;C:\Users\sanmi\Documents\My Adobe Presentations\ece552-MIPSR10K\data\asimages\{72124C7A-6F34-497D-AAAE-DC9396F97691}_3_S.png&quot;/&gt;&lt;left val=&quot;245&quot;/&gt;&lt;top val=&quot;346&quot;/&gt;&lt;width val=&quot;73&quot;/&gt;&lt;height val=&quot;99&quot;/&gt;&lt;hasText val=&quot;0&quot;/&gt;&lt;/Image&gt;&lt;Image&gt;&lt;filename val=&quot;C:\Users\sanmi\Documents\My Adobe Presentations\ece552-MIPSR10K\data\asimages\{72124C7A-6F34-497D-AAAE-DC9396F97691}_3_T.png&quot;/&gt;&lt;left val=&quot;245&quot;/&gt;&lt;top val=&quot;353&quot;/&gt;&lt;width val=&quot;66&quot;/&gt;&lt;height val=&quot;90&quot;/&gt;&lt;hasText val=&quot;1&quot;/&gt;&lt;/Image&gt;&lt;/ThreeDShape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8A2C307B-FFEA-4D5A-BD21-8B920A293591}&quot;/&gt;&lt;isInvalidForFieldText val=&quot;1&quot;/&gt;&lt;Image&gt;&lt;filename val=&quot;C:\Users\sanmi\Documents\My Adobe Presentations\ece552-MIPSR10K\data\asimages\{8A2C307B-FFEA-4D5A-BD21-8B920A293591}_3_S.png&quot;/&gt;&lt;left val=&quot;292&quot;/&gt;&lt;top val=&quot;371&quot;/&gt;&lt;width val=&quot;147&quot;/&gt;&lt;height val=&quot;79&quot;/&gt;&lt;hasText val=&quot;0&quot;/&gt;&lt;/Image&gt;&lt;Image&gt;&lt;filename val=&quot;C:\Users\sanmi\Documents\My Adobe Presentations\ece552-MIPSR10K\data\asimages\{8A2C307B-FFEA-4D5A-BD21-8B920A293591}_3_T.png&quot;/&gt;&lt;left val=&quot;293&quot;/&gt;&lt;top val=&quot;371&quot;/&gt;&lt;width val=&quot;144&quot;/&gt;&lt;height val=&quot;72&quot;/&gt;&lt;hasText val=&quot;1&quot;/&gt;&lt;/Image&gt;&lt;/ThreeDShape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.PNG&quot;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6B50B047-DF15-46C5-AEBA-63C98C1CE70B}_4.png&quot;/&gt;&lt;left val=&quot;35&quot;/&gt;&lt;top val=&quot;21&quot;/&gt;&lt;width val=&quot;588&quot;/&gt;&lt;height val=&quot;98&quot;/&gt;&lt;hasText val=&quot;1&quot;/&gt;&lt;/Image&gt;&lt;/ThreeDShape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6&quot;/&gt;&lt;lineCharCount val=&quot;48&quot;/&gt;&lt;lineCharCount val=&quot;54&quot;/&gt;&lt;lineCharCount val=&quot;27&quot;/&gt;&lt;lineCharCount val=&quot;53&quot;/&gt;&lt;lineCharCount val=&quot;21&quot;/&gt;&lt;lineCharCount val=&quot;37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3470F9A0-1E82-44B2-81FB-1AAFD3EFE131}_4.png&quot;/&gt;&lt;left val=&quot;23&quot;/&gt;&lt;top val=&quot;112&quot;/&gt;&lt;width val=&quot;689&quot;/&gt;&lt;height val=&quot;343&quot;/&gt;&lt;hasText val=&quot;1&quot;/&gt;&lt;/Image&gt;&lt;/ThreeDShape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DA0F49EA-0671-4EC6-AC3B-F08058A3083A}_4.png&quot;/&gt;&lt;left val=&quot;599&quot;/&gt;&lt;top val=&quot;500&quot;/&gt;&lt;width val=&quot;86&quot;/&gt;&lt;height val=&quot;32&quot;/&gt;&lt;hasText val=&quot;1&quot;/&gt;&lt;/Image&gt;&lt;/ThreeDShape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C99F1BFE-2288-4697-8C91-DDFEF76D3221}_4.png&quot;/&gt;&lt;left val=&quot;383&quot;/&gt;&lt;top val=&quot;401&quot;/&gt;&lt;width val=&quot;72&quot;/&gt;&lt;height val=&quot;30&quot;/&gt;&lt;hasText val=&quot;1&quot;/&gt;&lt;/Image&gt;&lt;/ThreeDShape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855B77C2-0697-46B3-A910-11355F84548C}&quot;/&gt;&lt;isInvalidForFieldText val=&quot;1&quot;/&gt;&lt;Image&gt;&lt;filename val=&quot;C:\Users\sanmi\Documents\My Adobe Presentations\ece552-MIPSR10K\data\asimages\{855B77C2-0697-46B3-A910-11355F84548C}_4_S.png&quot;/&gt;&lt;left val=&quot;388&quot;/&gt;&lt;top val=&quot;454&quot;/&gt;&lt;width val=&quot;27&quot;/&gt;&lt;height val=&quot;51&quot;/&gt;&lt;hasText val=&quot;0&quot;/&gt;&lt;/Image&gt;&lt;Image&gt;&lt;filename val=&quot;C:\Users\sanmi\Documents\My Adobe Presentations\ece552-MIPSR10K\data\asimages\{855B77C2-0697-46B3-A910-11355F84548C}_4_T.png&quot;/&gt;&lt;left val=&quot;389&quot;/&gt;&lt;top val=&quot;455&quot;/&gt;&lt;width val=&quot;24&quot;/&gt;&lt;height val=&quot;48&quot;/&gt;&lt;hasText val=&quot;1&quot;/&gt;&lt;/Image&gt;&lt;/ThreeDShape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EFA2CA24-215F-4734-9C71-E5373497FBAF}_4.png&quot;/&gt;&lt;left val=&quot;426&quot;/&gt;&lt;top val=&quot;431&quot;/&gt;&lt;width val=&quot;35&quot;/&gt;&lt;height val=&quot;60&quot;/&gt;&lt;hasText val=&quot;1&quot;/&gt;&lt;/Image&gt;&lt;/ThreeDShape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A1243558-C84D-4AF3-8CB2-1F264F29247B}&quot;/&gt;&lt;isInvalidForFieldText val=&quot;1&quot;/&gt;&lt;Image&gt;&lt;filename val=&quot;C:\Users\sanmi\Documents\My Adobe Presentations\ece552-MIPSR10K\data\asimages\{A1243558-C84D-4AF3-8CB2-1F264F29247B}_4_S.png&quot;/&gt;&lt;left val=&quot;370&quot;/&gt;&lt;top val=&quot;436&quot;/&gt;&lt;width val=&quot;69&quot;/&gt;&lt;height val=&quot;31&quot;/&gt;&lt;hasText val=&quot;0&quot;/&gt;&lt;/Image&gt;&lt;Image&gt;&lt;filename val=&quot;C:\Users\sanmi\Documents\My Adobe Presentations\ece552-MIPSR10K\data\asimages\{A1243558-C84D-4AF3-8CB2-1F264F29247B}_4_T.png&quot;/&gt;&lt;left val=&quot;371&quot;/&gt;&lt;top val=&quot;443&quot;/&gt;&lt;width val=&quot;60&quot;/&gt;&lt;height val=&quot;24&quot;/&gt;&lt;hasText val=&quot;1&quot;/&gt;&lt;/Image&gt;&lt;/ThreeDShape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D6EE92AA-7F55-4C27-B7BA-F6DD386FCF34}&quot;/&gt;&lt;isInvalidForFieldText val=&quot;1&quot;/&gt;&lt;Image&gt;&lt;filename val=&quot;C:\Users\sanmi\Documents\My Adobe Presentations\ece552-MIPSR10K\data\asimages\{D6EE92AA-7F55-4C27-B7BA-F6DD386FCF34}_4_S.png&quot;/&gt;&lt;left val=&quot;418&quot;/&gt;&lt;top val=&quot;479&quot;/&gt;&lt;width val=&quot;63&quot;/&gt;&lt;height val=&quot;25&quot;/&gt;&lt;hasText val=&quot;0&quot;/&gt;&lt;/Image&gt;&lt;Image&gt;&lt;filename val=&quot;C:\Users\sanmi\Documents\My Adobe Presentations\ece552-MIPSR10K\data\asimages\{D6EE92AA-7F55-4C27-B7BA-F6DD386FCF34}_4_T.png&quot;/&gt;&lt;left val=&quot;419&quot;/&gt;&lt;top val=&quot;479&quot;/&gt;&lt;width val=&quot;54&quot;/&gt;&lt;height val=&quot;18&quot;/&gt;&lt;hasText val=&quot;1&quot;/&gt;&lt;/Image&gt;&lt;/ThreeDShape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B41C4038-008F-4770-B229-FA472B8F7453}&quot;/&gt;&lt;isInvalidForFieldText val=&quot;1&quot;/&gt;&lt;Image&gt;&lt;filename val=&quot;C:\Users\sanmi\Documents\My Adobe Presentations\ece552-MIPSR10K\data\asimages\{B41C4038-008F-4770-B229-FA472B8F7453}_4_S.png&quot;/&gt;&lt;left val=&quot;334&quot;/&gt;&lt;top val=&quot;418&quot;/&gt;&lt;width val=&quot;50&quot;/&gt;&lt;height val=&quot;57&quot;/&gt;&lt;hasText val=&quot;0&quot;/&gt;&lt;/Image&gt;&lt;Image&gt;&lt;filename val=&quot;C:\Users\sanmi\Documents\My Adobe Presentations\ece552-MIPSR10K\data\asimages\{B41C4038-008F-4770-B229-FA472B8F7453}_4_T.png&quot;/&gt;&lt;left val=&quot;335&quot;/&gt;&lt;top val=&quot;419&quot;/&gt;&lt;width val=&quot;48&quot;/&gt;&lt;height val=&quot;48&quot;/&gt;&lt;hasText val=&quot;1&quot;/&gt;&lt;/Image&gt;&lt;/ThreeDShape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3775185B-691A-48E6-933D-4C70BF9B28A8}&quot;/&gt;&lt;isInvalidForFieldText val=&quot;1&quot;/&gt;&lt;Image&gt;&lt;filename val=&quot;C:\Users\sanmi\Documents\My Adobe Presentations\ece552-MIPSR10K\data\asimages\{3775185B-691A-48E6-933D-4C70BF9B28A8}_4_S.png&quot;/&gt;&lt;left val=&quot;322&quot;/&gt;&lt;top val=&quot;406&quot;/&gt;&lt;width val=&quot;62&quot;/&gt;&lt;height val=&quot;93&quot;/&gt;&lt;hasText val=&quot;0&quot;/&gt;&lt;/Image&gt;&lt;Image&gt;&lt;filename val=&quot;C:\Users\sanmi\Documents\My Adobe Presentations\ece552-MIPSR10K\data\asimages\{3775185B-691A-48E6-933D-4C70BF9B28A8}_4_T.png&quot;/&gt;&lt;left val=&quot;323&quot;/&gt;&lt;top val=&quot;407&quot;/&gt;&lt;width val=&quot;60&quot;/&gt;&lt;height val=&quot;84&quot;/&gt;&lt;hasText val=&quot;1&quot;/&gt;&lt;/Image&gt;&lt;/ThreeDShapeInfo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EF88C966-7548-4467-A865-6B973D609376}_4.png&quot;/&gt;&lt;left val=&quot;151&quot;/&gt;&lt;top val=&quot;431&quot;/&gt;&lt;width val=&quot;33&quot;/&gt;&lt;height val=&quot;38&quot;/&gt;&lt;hasText val=&quot;1&quot;/&gt;&lt;/Image&gt;&lt;/ThreeDShape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665587C0-648F-45A3-BA97-DE192B55A22A}&quot;/&gt;&lt;isInvalidForFieldText val=&quot;1&quot;/&gt;&lt;Image&gt;&lt;filename val=&quot;C:\Users\sanmi\Documents\My Adobe Presentations\ece552-MIPSR10K\data\asimages\{665587C0-648F-45A3-BA97-DE192B55A22A}_4_S.png&quot;/&gt;&lt;left val=&quot;136&quot;/&gt;&lt;top val=&quot;442&quot;/&gt;&lt;width val=&quot;27&quot;/&gt;&lt;height val=&quot;31&quot;/&gt;&lt;hasText val=&quot;0&quot;/&gt;&lt;/Image&gt;&lt;Image&gt;&lt;filename val=&quot;C:\Users\sanmi\Documents\My Adobe Presentations\ece552-MIPSR10K\data\asimages\{665587C0-648F-45A3-BA97-DE192B55A22A}_4_T.png&quot;/&gt;&lt;left val=&quot;137&quot;/&gt;&lt;top val=&quot;449&quot;/&gt;&lt;width val=&quot;18&quot;/&gt;&lt;height val=&quot;24&quot;/&gt;&lt;hasText val=&quot;1&quot;/&gt;&lt;/Image&gt;&lt;/ThreeDShape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EE1EB10A-7DC3-49E0-9A98-D4EB5F93B7F5}&quot;/&gt;&lt;isInvalidForFieldText val=&quot;1&quot;/&gt;&lt;Image&gt;&lt;filename val=&quot;C:\Users\sanmi\Documents\My Adobe Presentations\ece552-MIPSR10K\data\asimages\{EE1EB10A-7DC3-49E0-9A98-D4EB5F93B7F5}_4_S.png&quot;/&gt;&lt;left val=&quot;136&quot;/&gt;&lt;top val=&quot;473&quot;/&gt;&lt;width val=&quot;27&quot;/&gt;&lt;height val=&quot;19&quot;/&gt;&lt;hasText val=&quot;0&quot;/&gt;&lt;/Image&gt;&lt;Image&gt;&lt;filename val=&quot;C:\Users\sanmi\Documents\My Adobe Presentations\ece552-MIPSR10K\data\asimages\{EE1EB10A-7DC3-49E0-9A98-D4EB5F93B7F5}_4_T.png&quot;/&gt;&lt;left val=&quot;137&quot;/&gt;&lt;top val=&quot;473&quot;/&gt;&lt;width val=&quot;18&quot;/&gt;&lt;height val=&quot;12&quot;/&gt;&lt;hasText val=&quot;1&quot;/&gt;&lt;/Image&gt;&lt;/ThreeDShape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92AD0CC5-AEA3-446B-9114-57E841B7A5AD}&quot;/&gt;&lt;isInvalidForFieldText val=&quot;1&quot;/&gt;&lt;Image&gt;&lt;filename val=&quot;C:\Users\sanmi\Documents\My Adobe Presentations\ece552-MIPSR10K\data\asimages\{92AD0CC5-AEA3-446B-9114-57E841B7A5AD}_4_S.png&quot;/&gt;&lt;left val=&quot;172&quot;/&gt;&lt;top val=&quot;484&quot;/&gt;&lt;width val=&quot;33&quot;/&gt;&lt;height val=&quot;33&quot;/&gt;&lt;hasText val=&quot;0&quot;/&gt;&lt;/Image&gt;&lt;Image&gt;&lt;filename val=&quot;C:\Users\sanmi\Documents\My Adobe Presentations\ece552-MIPSR10K\data\asimages\{92AD0CC5-AEA3-446B-9114-57E841B7A5AD}_4_T.png&quot;/&gt;&lt;left val=&quot;179&quot;/&gt;&lt;top val=&quot;485&quot;/&gt;&lt;width val=&quot;24&quot;/&gt;&lt;height val=&quot;24&quot;/&gt;&lt;hasText val=&quot;1&quot;/&gt;&lt;/Image&gt;&lt;/ThreeDShapeInfo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56164E6B-658E-47D5-82BD-8D0D7488DCB8}&quot;/&gt;&lt;isInvalidForFieldText val=&quot;1&quot;/&gt;&lt;Image&gt;&lt;filename val=&quot;C:\Users\sanmi\Documents\My Adobe Presentations\ece552-MIPSR10K\data\asimages\{56164E6B-658E-47D5-82BD-8D0D7488DCB8}_4_S.png&quot;/&gt;&lt;left val=&quot;172&quot;/&gt;&lt;top val=&quot;479&quot;/&gt;&lt;width val=&quot;249&quot;/&gt;&lt;height val=&quot;49&quot;/&gt;&lt;hasText val=&quot;0&quot;/&gt;&lt;/Image&gt;&lt;Image&gt;&lt;filename val=&quot;C:\Users\sanmi\Documents\My Adobe Presentations\ece552-MIPSR10K\data\asimages\{56164E6B-658E-47D5-82BD-8D0D7488DCB8}_4_T.png&quot;/&gt;&lt;left val=&quot;179&quot;/&gt;&lt;top val=&quot;479&quot;/&gt;&lt;width val=&quot;240&quot;/&gt;&lt;height val=&quot;42&quot;/&gt;&lt;hasText val=&quot;1&quot;/&gt;&lt;/Image&gt;&lt;/ThreeDShapeInfo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523F22DF-D0A5-4F11-ACA9-4409CF6A3BEF}&quot;/&gt;&lt;isInvalidForFieldText val=&quot;1&quot;/&gt;&lt;Image&gt;&lt;filename val=&quot;C:\Users\sanmi\Documents\My Adobe Presentations\ece552-MIPSR10K\data\asimages\{523F22DF-D0A5-4F11-ACA9-4409CF6A3BEF}_4_S.png&quot;/&gt;&lt;left val=&quot;88&quot;/&gt;&lt;top val=&quot;460&quot;/&gt;&lt;width val=&quot;80&quot;/&gt;&lt;height val=&quot;51&quot;/&gt;&lt;hasText val=&quot;0&quot;/&gt;&lt;/Image&gt;&lt;Image&gt;&lt;filename val=&quot;C:\Users\sanmi\Documents\My Adobe Presentations\ece552-MIPSR10K\data\asimages\{523F22DF-D0A5-4F11-ACA9-4409CF6A3BEF}_4_T.png&quot;/&gt;&lt;left val=&quot;89&quot;/&gt;&lt;top val=&quot;467&quot;/&gt;&lt;width val=&quot;78&quot;/&gt;&lt;height val=&quot;42&quot;/&gt;&lt;hasText val=&quot;1&quot;/&gt;&lt;/Image&gt;&lt;/ThreeDShape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BF9D21CD-24C6-4BB6-9604-36186E1FCE88}_4.png&quot;/&gt;&lt;left val=&quot;152&quot;/&gt;&lt;top val=&quot;461&quot;/&gt;&lt;width val=&quot;30&quot;/&gt;&lt;height val=&quot;54&quot;/&gt;&lt;hasText val=&quot;1&quot;/&gt;&lt;/Image&gt;&lt;/ThreeDShape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72599075-32A9-4E26-82C3-FFC5391DED92}_4.png&quot;/&gt;&lt;left val=&quot;311&quot;/&gt;&lt;top val=&quot;335&quot;/&gt;&lt;width val=&quot;216&quot;/&gt;&lt;height val=&quot;40&quot;/&gt;&lt;hasText val=&quot;1&quot;/&gt;&lt;/Image&gt;&lt;/ThreeDShapeInfo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5BE80D97-71A5-4C5B-850F-325ABBCECE0E}&quot;/&gt;&lt;isInvalidForFieldText val=&quot;1&quot;/&gt;&lt;Image&gt;&lt;filename val=&quot;C:\Users\sanmi\Documents\My Adobe Presentations\ece552-MIPSR10K\data\asimages\{5BE80D97-71A5-4C5B-850F-325ABBCECE0E}_4_S.png&quot;/&gt;&lt;left val=&quot;245&quot;/&gt;&lt;top val=&quot;346&quot;/&gt;&lt;width val=&quot;73&quot;/&gt;&lt;height val=&quot;99&quot;/&gt;&lt;hasText val=&quot;0&quot;/&gt;&lt;/Image&gt;&lt;Image&gt;&lt;filename val=&quot;C:\Users\sanmi\Documents\My Adobe Presentations\ece552-MIPSR10K\data\asimages\{5BE80D97-71A5-4C5B-850F-325ABBCECE0E}_4_T.png&quot;/&gt;&lt;left val=&quot;245&quot;/&gt;&lt;top val=&quot;353&quot;/&gt;&lt;width val=&quot;66&quot;/&gt;&lt;height val=&quot;90&quot;/&gt;&lt;hasText val=&quot;1&quot;/&gt;&lt;/Image&gt;&lt;/ThreeDShapeInfo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92310A48-C0C2-4EE5-AD2F-B8A076FC0943}&quot;/&gt;&lt;isInvalidForFieldText val=&quot;1&quot;/&gt;&lt;Image&gt;&lt;filename val=&quot;C:\Users\sanmi\Documents\My Adobe Presentations\ece552-MIPSR10K\data\asimages\{92310A48-C0C2-4EE5-AD2F-B8A076FC0943}_4_S.png&quot;/&gt;&lt;left val=&quot;292&quot;/&gt;&lt;top val=&quot;371&quot;/&gt;&lt;width val=&quot;147&quot;/&gt;&lt;height val=&quot;79&quot;/&gt;&lt;hasText val=&quot;0&quot;/&gt;&lt;/Image&gt;&lt;Image&gt;&lt;filename val=&quot;C:\Users\sanmi\Documents\My Adobe Presentations\ece552-MIPSR10K\data\asimages\{92310A48-C0C2-4EE5-AD2F-B8A076FC0943}_4_T.png&quot;/&gt;&lt;left val=&quot;293&quot;/&gt;&lt;top val=&quot;371&quot;/&gt;&lt;width val=&quot;144&quot;/&gt;&lt;height val=&quot;72&quot;/&gt;&lt;hasText val=&quot;1&quot;/&gt;&lt;/Image&gt;&lt;/ThreeDShapeInfo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4F387079-F1DE-4A96-9CFC-B511198ABA2F}_4.png&quot;/&gt;&lt;left val=&quot;528&quot;/&gt;&lt;top val=&quot;478&quot;/&gt;&lt;width val=&quot;35&quot;/&gt;&lt;height val=&quot;39&quot;/&gt;&lt;hasText val=&quot;1&quot;/&gt;&lt;/Image&gt;&lt;/ThreeDShapeInfo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B9A37FB3-3CA1-4429-9E7F-A3448BC900B7}&quot;/&gt;&lt;isInvalidForFieldText val=&quot;1&quot;/&gt;&lt;Image&gt;&lt;filename val=&quot;C:\Users\sanmi\Documents\My Adobe Presentations\ece552-MIPSR10K\data\asimages\{B9A37FB3-3CA1-4429-9E7F-A3448BC900B7}_4_S.png&quot;/&gt;&lt;left val=&quot;454&quot;/&gt;&lt;top val=&quot;364&quot;/&gt;&lt;width val=&quot;87&quot;/&gt;&lt;height val=&quot;117&quot;/&gt;&lt;hasText val=&quot;0&quot;/&gt;&lt;/Image&gt;&lt;Image&gt;&lt;filename val=&quot;C:\Users\sanmi\Documents\My Adobe Presentations\ece552-MIPSR10K\data\asimages\{B9A37FB3-3CA1-4429-9E7F-A3448BC900B7}_4_T.png&quot;/&gt;&lt;left val=&quot;461&quot;/&gt;&lt;top val=&quot;371&quot;/&gt;&lt;width val=&quot;78&quot;/&gt;&lt;height val=&quot;108&quot;/&gt;&lt;hasText val=&quot;1&quot;/&gt;&lt;/Image&gt;&lt;/ThreeDShapeInfo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HTML_AUTOSHAPE_INFO" val="&lt;ThreeDShapeInfo&gt;&lt;uuid val=&quot;{67F24326-A52A-4331-877C-4513B210E410}&quot;/&gt;&lt;isInvalidForFieldText val=&quot;1&quot;/&gt;&lt;Image&gt;&lt;filename val=&quot;C:\Users\sanmi\Documents\My Adobe Presentations\ece552-MIPSR10K\data\asimages\{67F24326-A52A-4331-877C-4513B210E410}_4_S.png&quot;/&gt;&lt;left val=&quot;448&quot;/&gt;&lt;top val=&quot;352&quot;/&gt;&lt;width val=&quot;159&quot;/&gt;&lt;height val=&quot;69&quot;/&gt;&lt;hasText val=&quot;0&quot;/&gt;&lt;/Image&gt;&lt;Image&gt;&lt;filename val=&quot;C:\Users\sanmi\Documents\My Adobe Presentations\ece552-MIPSR10K\data\asimages\{67F24326-A52A-4331-877C-4513B210E410}_4_T.png&quot;/&gt;&lt;left val=&quot;455&quot;/&gt;&lt;top val=&quot;353&quot;/&gt;&lt;width val=&quot;150&quot;/&gt;&lt;height val=&quot;60&quot;/&gt;&lt;hasText val=&quot;1&quot;/&gt;&lt;/Image&gt;&lt;/ThreeDShapeInfo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57970E3F-B160-4770-91EC-10D4ECE2D0C8}_4.png&quot;/&gt;&lt;left val=&quot;578&quot;/&gt;&lt;top val=&quot;478&quot;/&gt;&lt;width val=&quot;35&quot;/&gt;&lt;height val=&quot;39&quot;/&gt;&lt;hasText val=&quot;1&quot;/&gt;&lt;/Image&gt;&lt;/ThreeDShapeInfo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A94CE1C9-10CB-47FA-AE5D-2355C712B47A}_32.png&quot;/&gt;&lt;left val=&quot;35&quot;/&gt;&lt;top val=&quot;21&quot;/&gt;&lt;width val=&quot;588&quot;/&gt;&lt;height val=&quot;98&quot;/&gt;&lt;hasText val=&quot;1&quot;/&gt;&lt;/Image&gt;&lt;/ThreeDShapeInfo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CF58504F-D32F-49AB-8C74-95B69B6C8FD9}_32.png&quot;/&gt;&lt;left val=&quot;599&quot;/&gt;&lt;top val=&quot;500&quot;/&gt;&lt;width val=&quot;84&quot;/&gt;&lt;height val=&quot;29&quot;/&gt;&lt;hasText val=&quot;1&quot;/&gt;&lt;/Image&gt;&lt;/ThreeDShapeInfo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A94CE1C9-10CB-47FA-AE5D-2355C712B47A}_32.png&quot;/&gt;&lt;left val=&quot;35&quot;/&gt;&lt;top val=&quot;21&quot;/&gt;&lt;width val=&quot;588&quot;/&gt;&lt;height val=&quot;98&quot;/&gt;&lt;hasText val=&quot;1&quot;/&gt;&lt;/Image&gt;&lt;/ThreeDShapeInfo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CF58504F-D32F-49AB-8C74-95B69B6C8FD9}_32.png&quot;/&gt;&lt;left val=&quot;599&quot;/&gt;&lt;top val=&quot;500&quot;/&gt;&lt;width val=&quot;84&quot;/&gt;&lt;height val=&quot;29&quot;/&gt;&lt;hasText val=&quot;1&quot;/&gt;&lt;/Image&gt;&lt;/ThreeDShapeInfo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A94CE1C9-10CB-47FA-AE5D-2355C712B47A}_32.png&quot;/&gt;&lt;left val=&quot;35&quot;/&gt;&lt;top val=&quot;21&quot;/&gt;&lt;width val=&quot;588&quot;/&gt;&lt;height val=&quot;98&quot;/&gt;&lt;hasText val=&quot;1&quot;/&gt;&lt;/Image&gt;&lt;/ThreeDShapeInfo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CF58504F-D32F-49AB-8C74-95B69B6C8FD9}_32.png&quot;/&gt;&lt;left val=&quot;599&quot;/&gt;&lt;top val=&quot;500&quot;/&gt;&lt;width val=&quot;84&quot;/&gt;&lt;height val=&quot;29&quot;/&gt;&lt;hasText val=&quot;1&quot;/&gt;&lt;/Image&gt;&lt;/ThreeDShapeInfo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A94CE1C9-10CB-47FA-AE5D-2355C712B47A}_32.png&quot;/&gt;&lt;left val=&quot;35&quot;/&gt;&lt;top val=&quot;21&quot;/&gt;&lt;width val=&quot;588&quot;/&gt;&lt;height val=&quot;98&quot;/&gt;&lt;hasText val=&quot;1&quot;/&gt;&lt;/Image&gt;&lt;/ThreeDShapeInfo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CF58504F-D32F-49AB-8C74-95B69B6C8FD9}_32.png&quot;/&gt;&lt;left val=&quot;599&quot;/&gt;&lt;top val=&quot;500&quot;/&gt;&lt;width val=&quot;84&quot;/&gt;&lt;height val=&quot;29&quot;/&gt;&lt;hasText val=&quot;1&quot;/&gt;&lt;/Image&gt;&lt;/ThreeDShapeInfo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A94CE1C9-10CB-47FA-AE5D-2355C712B47A}_32.png&quot;/&gt;&lt;left val=&quot;35&quot;/&gt;&lt;top val=&quot;21&quot;/&gt;&lt;width val=&quot;588&quot;/&gt;&lt;height val=&quot;98&quot;/&gt;&lt;hasText val=&quot;1&quot;/&gt;&lt;/Image&gt;&lt;/ThreeDShapeInfo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CF58504F-D32F-49AB-8C74-95B69B6C8FD9}_32.png&quot;/&gt;&lt;left val=&quot;599&quot;/&gt;&lt;top val=&quot;500&quot;/&gt;&lt;width val=&quot;84&quot;/&gt;&lt;height val=&quot;29&quot;/&gt;&lt;hasText val=&quot;1&quot;/&gt;&lt;/Image&gt;&lt;/ThreeDShapeInfo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A94CE1C9-10CB-47FA-AE5D-2355C712B47A}_32.png&quot;/&gt;&lt;left val=&quot;35&quot;/&gt;&lt;top val=&quot;21&quot;/&gt;&lt;width val=&quot;588&quot;/&gt;&lt;height val=&quot;98&quot;/&gt;&lt;hasText val=&quot;1&quot;/&gt;&lt;/Image&gt;&lt;/ThreeDShapeInfo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CF58504F-D32F-49AB-8C74-95B69B6C8FD9}_32.png&quot;/&gt;&lt;left val=&quot;599&quot;/&gt;&lt;top val=&quot;500&quot;/&gt;&lt;width val=&quot;84&quot;/&gt;&lt;height val=&quot;29&quot;/&gt;&lt;hasText val=&quot;1&quot;/&gt;&lt;/Image&gt;&lt;/ThreeDShapeInfo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11&quot;/&gt;&lt;lineCharCount val=&quot;30&quot;/&gt;&lt;lineCharCount val=&quot;29&quot;/&gt;&lt;lineCharCount val=&quot;53&quot;/&gt;&lt;lineCharCount val=&quot;5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DA2E3D3D-143F-4DAD-902D-EE102269D8F1}_32.png&quot;/&gt;&lt;left val=&quot;44&quot;/&gt;&lt;top val=&quot;300&quot;/&gt;&lt;width val=&quot;663&quot;/&gt;&lt;height val=&quot;180&quot;/&gt;&lt;hasText val=&quot;1&quot;/&gt;&lt;/Image&gt;&lt;/ThreeDShapeInfo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A94CE1C9-10CB-47FA-AE5D-2355C712B47A}_32.png&quot;/&gt;&lt;left val=&quot;35&quot;/&gt;&lt;top val=&quot;21&quot;/&gt;&lt;width val=&quot;588&quot;/&gt;&lt;height val=&quot;98&quot;/&gt;&lt;hasText val=&quot;1&quot;/&gt;&lt;/Image&gt;&lt;/ThreeDShapeInfo&gt;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-MIPSR10K\data\asimages\{CF58504F-D32F-49AB-8C74-95B69B6C8FD9}_32.png&quot;/&gt;&lt;left val=&quot;599&quot;/&gt;&lt;top val=&quot;500&quot;/&gt;&lt;width val=&quot;84&quot;/&gt;&lt;height val=&quot;29&quot;/&gt;&lt;hasText val=&quot;1&quot;/&gt;&lt;/Image&gt;&lt;/ThreeDShape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</TotalTime>
  <Words>488</Words>
  <Application>Microsoft Macintosh PowerPoint</Application>
  <PresentationFormat>On-screen Show (4:3)</PresentationFormat>
  <Paragraphs>194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Lecture Notes 552</vt:lpstr>
      <vt:lpstr>ECE/CS 552: MIPS R10K</vt:lpstr>
      <vt:lpstr>Scoreboard</vt:lpstr>
      <vt:lpstr>MIPS R10K</vt:lpstr>
      <vt:lpstr>MIPS R10K</vt:lpstr>
      <vt:lpstr>MIPS R10K</vt:lpstr>
      <vt:lpstr>MIPS R10K</vt:lpstr>
      <vt:lpstr>MIPS R10K</vt:lpstr>
      <vt:lpstr>MIPS R10K</vt:lpstr>
      <vt:lpstr>MIPS R10K</vt:lpstr>
      <vt:lpstr>MIPS R10K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MIPS R10K</dc:title>
  <dc:creator/>
  <cp:lastModifiedBy>Boone Severson</cp:lastModifiedBy>
  <cp:revision>701</cp:revision>
  <cp:lastPrinted>1601-01-01T00:00:00Z</cp:lastPrinted>
  <dcterms:created xsi:type="dcterms:W3CDTF">1601-01-01T00:00:00Z</dcterms:created>
  <dcterms:modified xsi:type="dcterms:W3CDTF">2024-11-12T01:06:40Z</dcterms:modified>
</cp:coreProperties>
</file>