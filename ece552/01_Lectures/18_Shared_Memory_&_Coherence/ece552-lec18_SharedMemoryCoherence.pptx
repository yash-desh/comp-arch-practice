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2.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3.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4.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5.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notesSlides/notesSlide6.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notesSlides/notesSlide7.xml" ContentType="application/vnd.openxmlformats-officedocument.presentationml.notesSlide+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notesSlides/notesSlide8.xml" ContentType="application/vnd.openxmlformats-officedocument.presentationml.notesSlide+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notesSlides/notesSlide9.xml" ContentType="application/vnd.openxmlformats-officedocument.presentationml.notesSlide+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notesSlides/notesSlide10.xml" ContentType="application/vnd.openxmlformats-officedocument.presentationml.notesSlide+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notesSlides/notesSlide11.xml" ContentType="application/vnd.openxmlformats-officedocument.presentationml.notesSlide+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notesSlides/notesSlide12.xml" ContentType="application/vnd.openxmlformats-officedocument.presentationml.notesSlide+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notesSlides/notesSlide13.xml" ContentType="application/vnd.openxmlformats-officedocument.presentationml.notesSlide+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notesSlides/notesSlide14.xml" ContentType="application/vnd.openxmlformats-officedocument.presentationml.notesSlide+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notesSlides/notesSlide15.xml" ContentType="application/vnd.openxmlformats-officedocument.presentationml.notesSlide+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notesSlides/notesSlide16.xml" ContentType="application/vnd.openxmlformats-officedocument.presentationml.notesSlide+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notesSlides/notesSlide17.xml" ContentType="application/vnd.openxmlformats-officedocument.presentationml.notesSlide+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notesSlides/notesSlide18.xml" ContentType="application/vnd.openxmlformats-officedocument.presentationml.notesSlide+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notesSlides/notesSlide19.xml" ContentType="application/vnd.openxmlformats-officedocument.presentationml.notesSlide+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notesSlides/notesSlide20.xml" ContentType="application/vnd.openxmlformats-officedocument.presentationml.notesSlide+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notesSlides/notesSlide21.xml" ContentType="application/vnd.openxmlformats-officedocument.presentationml.notesSlide+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notesSlides/notesSlide22.xml" ContentType="application/vnd.openxmlformats-officedocument.presentationml.notesSlide+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notesSlides/notesSlide23.xml" ContentType="application/vnd.openxmlformats-officedocument.presentationml.notesSlide+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notesSlides/notesSlide24.xml" ContentType="application/vnd.openxmlformats-officedocument.presentationml.notesSlide+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notesSlides/notesSlide25.xml" ContentType="application/vnd.openxmlformats-officedocument.presentationml.notesSlide+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notesSlides/notesSlide26.xml" ContentType="application/vnd.openxmlformats-officedocument.presentationml.notesSlide+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notesSlides/notesSlide27.xml" ContentType="application/vnd.openxmlformats-officedocument.presentationml.notesSlide+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notesSlides/notesSlide28.xml" ContentType="application/vnd.openxmlformats-officedocument.presentationml.notesSlide+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notesSlides/notesSlide29.xml" ContentType="application/vnd.openxmlformats-officedocument.presentationml.notesSlide+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notesSlides/notesSlide30.xml" ContentType="application/vnd.openxmlformats-officedocument.presentationml.notesSlide+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notesSlides/notesSlide31.xml" ContentType="application/vnd.openxmlformats-officedocument.presentationml.notesSlide+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notesSlides/notesSlide32.xml" ContentType="application/vnd.openxmlformats-officedocument.presentationml.notesSlide+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notesSlides/notesSlide33.xml" ContentType="application/vnd.openxmlformats-officedocument.presentationml.notesSlide+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notesSlides/notesSlide34.xml" ContentType="application/vnd.openxmlformats-officedocument.presentationml.notesSlide+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notesSlides/notesSlide35.xml" ContentType="application/vnd.openxmlformats-officedocument.presentationml.notesSlide+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notesSlides/notesSlide36.xml" ContentType="application/vnd.openxmlformats-officedocument.presentationml.notesSlide+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2" r:id="rId1"/>
  </p:sldMasterIdLst>
  <p:notesMasterIdLst>
    <p:notesMasterId r:id="rId39"/>
  </p:notesMasterIdLst>
  <p:handoutMasterIdLst>
    <p:handoutMasterId r:id="rId40"/>
  </p:handoutMasterIdLst>
  <p:sldIdLst>
    <p:sldId id="540" r:id="rId2"/>
    <p:sldId id="732" r:id="rId3"/>
    <p:sldId id="733" r:id="rId4"/>
    <p:sldId id="734" r:id="rId5"/>
    <p:sldId id="731" r:id="rId6"/>
    <p:sldId id="735" r:id="rId7"/>
    <p:sldId id="744" r:id="rId8"/>
    <p:sldId id="747" r:id="rId9"/>
    <p:sldId id="749" r:id="rId10"/>
    <p:sldId id="750" r:id="rId11"/>
    <p:sldId id="851" r:id="rId12"/>
    <p:sldId id="751" r:id="rId13"/>
    <p:sldId id="852" r:id="rId14"/>
    <p:sldId id="752" r:id="rId15"/>
    <p:sldId id="753" r:id="rId16"/>
    <p:sldId id="754" r:id="rId17"/>
    <p:sldId id="757" r:id="rId18"/>
    <p:sldId id="759" r:id="rId19"/>
    <p:sldId id="763" r:id="rId20"/>
    <p:sldId id="765" r:id="rId21"/>
    <p:sldId id="770" r:id="rId22"/>
    <p:sldId id="775" r:id="rId23"/>
    <p:sldId id="777" r:id="rId24"/>
    <p:sldId id="781" r:id="rId25"/>
    <p:sldId id="786" r:id="rId26"/>
    <p:sldId id="791" r:id="rId27"/>
    <p:sldId id="795" r:id="rId28"/>
    <p:sldId id="798" r:id="rId29"/>
    <p:sldId id="802" r:id="rId30"/>
    <p:sldId id="853" r:id="rId31"/>
    <p:sldId id="830" r:id="rId32"/>
    <p:sldId id="854" r:id="rId33"/>
    <p:sldId id="855" r:id="rId34"/>
    <p:sldId id="856" r:id="rId35"/>
    <p:sldId id="857" r:id="rId36"/>
    <p:sldId id="858" r:id="rId37"/>
    <p:sldId id="859" r:id="rId38"/>
  </p:sldIdLst>
  <p:sldSz cx="9144000" cy="6858000" type="screen4x3"/>
  <p:notesSz cx="7010400" cy="9296400"/>
  <p:custDataLst>
    <p:tags r:id="rId41"/>
  </p:custDataLst>
  <p:defaultTextStyle>
    <a:defPPr>
      <a:defRPr lang="en-US"/>
    </a:defPPr>
    <a:lvl1pPr algn="l" rtl="0" fontAlgn="base">
      <a:spcBef>
        <a:spcPct val="0"/>
      </a:spcBef>
      <a:spcAft>
        <a:spcPct val="0"/>
      </a:spcAft>
      <a:defRPr sz="10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10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10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10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1000" kern="1200">
        <a:solidFill>
          <a:schemeClr val="tx1"/>
        </a:solidFill>
        <a:latin typeface="Times New Roman" panose="02020603050405020304" pitchFamily="18" charset="0"/>
        <a:ea typeface="+mn-ea"/>
        <a:cs typeface="+mn-cs"/>
      </a:defRPr>
    </a:lvl5pPr>
    <a:lvl6pPr marL="2286000" algn="l" defTabSz="914400" rtl="0" eaLnBrk="1" latinLnBrk="0" hangingPunct="1">
      <a:defRPr sz="1000" kern="1200">
        <a:solidFill>
          <a:schemeClr val="tx1"/>
        </a:solidFill>
        <a:latin typeface="Times New Roman" panose="02020603050405020304" pitchFamily="18" charset="0"/>
        <a:ea typeface="+mn-ea"/>
        <a:cs typeface="+mn-cs"/>
      </a:defRPr>
    </a:lvl6pPr>
    <a:lvl7pPr marL="2743200" algn="l" defTabSz="914400" rtl="0" eaLnBrk="1" latinLnBrk="0" hangingPunct="1">
      <a:defRPr sz="1000" kern="1200">
        <a:solidFill>
          <a:schemeClr val="tx1"/>
        </a:solidFill>
        <a:latin typeface="Times New Roman" panose="02020603050405020304" pitchFamily="18" charset="0"/>
        <a:ea typeface="+mn-ea"/>
        <a:cs typeface="+mn-cs"/>
      </a:defRPr>
    </a:lvl7pPr>
    <a:lvl8pPr marL="3200400" algn="l" defTabSz="914400" rtl="0" eaLnBrk="1" latinLnBrk="0" hangingPunct="1">
      <a:defRPr sz="1000" kern="1200">
        <a:solidFill>
          <a:schemeClr val="tx1"/>
        </a:solidFill>
        <a:latin typeface="Times New Roman" panose="02020603050405020304" pitchFamily="18" charset="0"/>
        <a:ea typeface="+mn-ea"/>
        <a:cs typeface="+mn-cs"/>
      </a:defRPr>
    </a:lvl8pPr>
    <a:lvl9pPr marL="3657600" algn="l" defTabSz="914400" rtl="0" eaLnBrk="1" latinLnBrk="0" hangingPunct="1">
      <a:defRPr sz="10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7">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FF3300"/>
    <a:srgbClr val="000000"/>
    <a:srgbClr val="006600"/>
    <a:srgbClr val="FFFF66"/>
    <a:srgbClr val="FFCC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157" autoAdjust="0"/>
    <p:restoredTop sz="77145" autoAdjust="0"/>
  </p:normalViewPr>
  <p:slideViewPr>
    <p:cSldViewPr>
      <p:cViewPr varScale="1">
        <p:scale>
          <a:sx n="215" d="100"/>
          <a:sy n="215" d="100"/>
        </p:scale>
        <p:origin x="3000" y="200"/>
      </p:cViewPr>
      <p:guideLst>
        <p:guide orient="horz" pos="2160"/>
        <p:guide pos="2880"/>
      </p:guideLst>
    </p:cSldViewPr>
  </p:slideViewPr>
  <p:outlineViewPr>
    <p:cViewPr>
      <p:scale>
        <a:sx n="33" d="100"/>
        <a:sy n="33" d="100"/>
      </p:scale>
      <p:origin x="0" y="0"/>
    </p:cViewPr>
  </p:outlineViewPr>
  <p:notesTextViewPr>
    <p:cViewPr>
      <p:scale>
        <a:sx n="170" d="100"/>
        <a:sy n="170" d="100"/>
      </p:scale>
      <p:origin x="0" y="0"/>
    </p:cViewPr>
  </p:notesTextViewPr>
  <p:sorterViewPr>
    <p:cViewPr>
      <p:scale>
        <a:sx n="66" d="100"/>
        <a:sy n="66" d="100"/>
      </p:scale>
      <p:origin x="0" y="324"/>
    </p:cViewPr>
  </p:sorterViewPr>
  <p:notesViewPr>
    <p:cSldViewPr>
      <p:cViewPr varScale="1">
        <p:scale>
          <a:sx n="81" d="100"/>
          <a:sy n="81" d="100"/>
        </p:scale>
        <p:origin x="-2328" y="-90"/>
      </p:cViewPr>
      <p:guideLst>
        <p:guide orient="horz" pos="2927"/>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8665FA8B-063C-4D70-BF01-AD0778FA2072}"/>
              </a:ext>
            </a:extLst>
          </p:cNvPr>
          <p:cNvSpPr>
            <a:spLocks noGrp="1" noChangeArrowheads="1"/>
          </p:cNvSpPr>
          <p:nvPr>
            <p:ph type="hdr" sz="quarter"/>
          </p:nvPr>
        </p:nvSpPr>
        <p:spPr bwMode="auto">
          <a:xfrm>
            <a:off x="0" y="0"/>
            <a:ext cx="303847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541" tIns="46770" rIns="93541" bIns="46770" numCol="1" anchor="t" anchorCtr="0" compatLnSpc="1">
            <a:prstTxWarp prst="textNoShape">
              <a:avLst/>
            </a:prstTxWarp>
          </a:bodyPr>
          <a:lstStyle>
            <a:lvl1pPr defTabSz="935038" eaLnBrk="0" hangingPunct="0">
              <a:defRPr sz="1200"/>
            </a:lvl1pPr>
          </a:lstStyle>
          <a:p>
            <a:pPr>
              <a:defRPr/>
            </a:pPr>
            <a:endParaRPr lang="en-US" altLang="en-US"/>
          </a:p>
        </p:txBody>
      </p:sp>
      <p:sp>
        <p:nvSpPr>
          <p:cNvPr id="15363" name="Rectangle 3">
            <a:extLst>
              <a:ext uri="{FF2B5EF4-FFF2-40B4-BE49-F238E27FC236}">
                <a16:creationId xmlns:a16="http://schemas.microsoft.com/office/drawing/2014/main" id="{381FE4E2-881C-4313-87BA-6EB7DC60D8F3}"/>
              </a:ext>
            </a:extLst>
          </p:cNvPr>
          <p:cNvSpPr>
            <a:spLocks noGrp="1" noChangeArrowheads="1"/>
          </p:cNvSpPr>
          <p:nvPr>
            <p:ph type="dt" sz="quarter" idx="1"/>
          </p:nvPr>
        </p:nvSpPr>
        <p:spPr bwMode="auto">
          <a:xfrm>
            <a:off x="3971925" y="0"/>
            <a:ext cx="303847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541" tIns="46770" rIns="93541" bIns="46770" numCol="1" anchor="t" anchorCtr="0" compatLnSpc="1">
            <a:prstTxWarp prst="textNoShape">
              <a:avLst/>
            </a:prstTxWarp>
          </a:bodyPr>
          <a:lstStyle>
            <a:lvl1pPr algn="r" defTabSz="935038" eaLnBrk="0" hangingPunct="0">
              <a:defRPr sz="1200"/>
            </a:lvl1pPr>
          </a:lstStyle>
          <a:p>
            <a:pPr>
              <a:defRPr/>
            </a:pPr>
            <a:endParaRPr lang="en-US" altLang="en-US"/>
          </a:p>
        </p:txBody>
      </p:sp>
      <p:sp>
        <p:nvSpPr>
          <p:cNvPr id="15364" name="Rectangle 4">
            <a:extLst>
              <a:ext uri="{FF2B5EF4-FFF2-40B4-BE49-F238E27FC236}">
                <a16:creationId xmlns:a16="http://schemas.microsoft.com/office/drawing/2014/main" id="{FA8BEDA1-EB4C-4538-9E12-EDCEC5087BCE}"/>
              </a:ext>
            </a:extLst>
          </p:cNvPr>
          <p:cNvSpPr>
            <a:spLocks noGrp="1" noChangeArrowheads="1"/>
          </p:cNvSpPr>
          <p:nvPr>
            <p:ph type="ftr" sz="quarter" idx="2"/>
          </p:nvPr>
        </p:nvSpPr>
        <p:spPr bwMode="auto">
          <a:xfrm>
            <a:off x="0" y="8832850"/>
            <a:ext cx="3651250"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541" tIns="46770" rIns="93541" bIns="46770" numCol="1" anchor="b" anchorCtr="0" compatLnSpc="1">
            <a:prstTxWarp prst="textNoShape">
              <a:avLst/>
            </a:prstTxWarp>
          </a:bodyPr>
          <a:lstStyle>
            <a:lvl1pPr defTabSz="935038" eaLnBrk="0" hangingPunct="0">
              <a:defRPr sz="1200"/>
            </a:lvl1pPr>
          </a:lstStyle>
          <a:p>
            <a:pPr>
              <a:defRPr/>
            </a:pPr>
            <a:r>
              <a:rPr lang="en-US" altLang="en-US"/>
              <a:t>ECE/CS 552: Introduction To Computer Architecture</a:t>
            </a:r>
          </a:p>
        </p:txBody>
      </p:sp>
      <p:sp>
        <p:nvSpPr>
          <p:cNvPr id="15365" name="Rectangle 5">
            <a:extLst>
              <a:ext uri="{FF2B5EF4-FFF2-40B4-BE49-F238E27FC236}">
                <a16:creationId xmlns:a16="http://schemas.microsoft.com/office/drawing/2014/main" id="{7D2229AB-7F22-4EAE-9E68-F8036B5AA73B}"/>
              </a:ext>
            </a:extLst>
          </p:cNvPr>
          <p:cNvSpPr>
            <a:spLocks noGrp="1" noChangeArrowheads="1"/>
          </p:cNvSpPr>
          <p:nvPr>
            <p:ph type="sldNum" sz="quarter" idx="3"/>
          </p:nvPr>
        </p:nvSpPr>
        <p:spPr bwMode="auto">
          <a:xfrm>
            <a:off x="3971925" y="8832850"/>
            <a:ext cx="303847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541" tIns="46770" rIns="93541" bIns="46770" numCol="1" anchor="b" anchorCtr="0" compatLnSpc="1">
            <a:prstTxWarp prst="textNoShape">
              <a:avLst/>
            </a:prstTxWarp>
          </a:bodyPr>
          <a:lstStyle>
            <a:lvl1pPr algn="r" defTabSz="935038" eaLnBrk="0" hangingPunct="0">
              <a:defRPr sz="1200"/>
            </a:lvl1pPr>
          </a:lstStyle>
          <a:p>
            <a:fld id="{6E3B70C2-F2C1-4DBA-B664-C5E183E92889}"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2C869F52-A67D-4BE8-90AA-DC69B48EC09F}"/>
              </a:ext>
            </a:extLst>
          </p:cNvPr>
          <p:cNvSpPr>
            <a:spLocks noGrp="1" noChangeArrowheads="1"/>
          </p:cNvSpPr>
          <p:nvPr>
            <p:ph type="hdr" sz="quarter"/>
          </p:nvPr>
        </p:nvSpPr>
        <p:spPr bwMode="auto">
          <a:xfrm>
            <a:off x="0" y="0"/>
            <a:ext cx="303847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541" tIns="46770" rIns="93541" bIns="46770" numCol="1" anchor="t" anchorCtr="0" compatLnSpc="1">
            <a:prstTxWarp prst="textNoShape">
              <a:avLst/>
            </a:prstTxWarp>
          </a:bodyPr>
          <a:lstStyle>
            <a:lvl1pPr defTabSz="935038" eaLnBrk="0" hangingPunct="0">
              <a:defRPr sz="1200"/>
            </a:lvl1pPr>
          </a:lstStyle>
          <a:p>
            <a:pPr>
              <a:defRPr/>
            </a:pPr>
            <a:endParaRPr lang="en-US" altLang="en-US"/>
          </a:p>
        </p:txBody>
      </p:sp>
      <p:sp>
        <p:nvSpPr>
          <p:cNvPr id="17411" name="Rectangle 3">
            <a:extLst>
              <a:ext uri="{FF2B5EF4-FFF2-40B4-BE49-F238E27FC236}">
                <a16:creationId xmlns:a16="http://schemas.microsoft.com/office/drawing/2014/main" id="{75618605-9DAD-4183-B061-A2735A4755C1}"/>
              </a:ext>
            </a:extLst>
          </p:cNvPr>
          <p:cNvSpPr>
            <a:spLocks noGrp="1" noChangeArrowheads="1"/>
          </p:cNvSpPr>
          <p:nvPr>
            <p:ph type="dt" idx="1"/>
          </p:nvPr>
        </p:nvSpPr>
        <p:spPr bwMode="auto">
          <a:xfrm>
            <a:off x="3971925" y="0"/>
            <a:ext cx="303847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541" tIns="46770" rIns="93541" bIns="46770" numCol="1" anchor="t" anchorCtr="0" compatLnSpc="1">
            <a:prstTxWarp prst="textNoShape">
              <a:avLst/>
            </a:prstTxWarp>
          </a:bodyPr>
          <a:lstStyle>
            <a:lvl1pPr algn="r" defTabSz="935038" eaLnBrk="0" hangingPunct="0">
              <a:defRPr sz="1200"/>
            </a:lvl1pPr>
          </a:lstStyle>
          <a:p>
            <a:pPr>
              <a:defRPr/>
            </a:pPr>
            <a:endParaRPr lang="en-US" altLang="en-US"/>
          </a:p>
        </p:txBody>
      </p:sp>
      <p:sp>
        <p:nvSpPr>
          <p:cNvPr id="35844" name="Rectangle 4">
            <a:extLst>
              <a:ext uri="{FF2B5EF4-FFF2-40B4-BE49-F238E27FC236}">
                <a16:creationId xmlns:a16="http://schemas.microsoft.com/office/drawing/2014/main" id="{7AC9D20D-EEF7-406F-AA29-994FF2FA17AB}"/>
              </a:ext>
            </a:extLst>
          </p:cNvPr>
          <p:cNvSpPr>
            <a:spLocks noGrp="1" noRot="1" noChangeAspect="1" noChangeArrowheads="1" noTextEdit="1"/>
          </p:cNvSpPr>
          <p:nvPr>
            <p:ph type="sldImg" idx="2"/>
          </p:nvPr>
        </p:nvSpPr>
        <p:spPr bwMode="auto">
          <a:xfrm>
            <a:off x="1182688" y="698500"/>
            <a:ext cx="4646612" cy="348456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7413" name="Rectangle 5">
            <a:extLst>
              <a:ext uri="{FF2B5EF4-FFF2-40B4-BE49-F238E27FC236}">
                <a16:creationId xmlns:a16="http://schemas.microsoft.com/office/drawing/2014/main" id="{6117B0A0-5D60-4A6E-806A-319027793467}"/>
              </a:ext>
            </a:extLst>
          </p:cNvPr>
          <p:cNvSpPr>
            <a:spLocks noGrp="1" noChangeArrowheads="1"/>
          </p:cNvSpPr>
          <p:nvPr>
            <p:ph type="body" sz="quarter" idx="3"/>
          </p:nvPr>
        </p:nvSpPr>
        <p:spPr bwMode="auto">
          <a:xfrm>
            <a:off x="933450" y="4416425"/>
            <a:ext cx="5143500" cy="418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541" tIns="46770" rIns="93541" bIns="4677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17414" name="Rectangle 6">
            <a:extLst>
              <a:ext uri="{FF2B5EF4-FFF2-40B4-BE49-F238E27FC236}">
                <a16:creationId xmlns:a16="http://schemas.microsoft.com/office/drawing/2014/main" id="{33191D9D-81AA-4235-A278-F824689DF9F1}"/>
              </a:ext>
            </a:extLst>
          </p:cNvPr>
          <p:cNvSpPr>
            <a:spLocks noGrp="1" noChangeArrowheads="1"/>
          </p:cNvSpPr>
          <p:nvPr>
            <p:ph type="ftr" sz="quarter" idx="4"/>
          </p:nvPr>
        </p:nvSpPr>
        <p:spPr bwMode="auto">
          <a:xfrm>
            <a:off x="0" y="8832850"/>
            <a:ext cx="303847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541" tIns="46770" rIns="93541" bIns="46770" numCol="1" anchor="b" anchorCtr="0" compatLnSpc="1">
            <a:prstTxWarp prst="textNoShape">
              <a:avLst/>
            </a:prstTxWarp>
          </a:bodyPr>
          <a:lstStyle>
            <a:lvl1pPr defTabSz="935038" eaLnBrk="0" hangingPunct="0">
              <a:defRPr sz="1200"/>
            </a:lvl1pPr>
          </a:lstStyle>
          <a:p>
            <a:pPr>
              <a:defRPr/>
            </a:pPr>
            <a:endParaRPr lang="en-US" altLang="en-US"/>
          </a:p>
        </p:txBody>
      </p:sp>
      <p:sp>
        <p:nvSpPr>
          <p:cNvPr id="17415" name="Rectangle 7">
            <a:extLst>
              <a:ext uri="{FF2B5EF4-FFF2-40B4-BE49-F238E27FC236}">
                <a16:creationId xmlns:a16="http://schemas.microsoft.com/office/drawing/2014/main" id="{2071B1B9-83C4-4654-958F-69B2CDDDCE5C}"/>
              </a:ext>
            </a:extLst>
          </p:cNvPr>
          <p:cNvSpPr>
            <a:spLocks noGrp="1" noChangeArrowheads="1"/>
          </p:cNvSpPr>
          <p:nvPr>
            <p:ph type="sldNum" sz="quarter" idx="5"/>
          </p:nvPr>
        </p:nvSpPr>
        <p:spPr bwMode="auto">
          <a:xfrm>
            <a:off x="3971925" y="8832850"/>
            <a:ext cx="303847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541" tIns="46770" rIns="93541" bIns="46770" numCol="1" anchor="b" anchorCtr="0" compatLnSpc="1">
            <a:prstTxWarp prst="textNoShape">
              <a:avLst/>
            </a:prstTxWarp>
          </a:bodyPr>
          <a:lstStyle>
            <a:lvl1pPr algn="r" defTabSz="935038" eaLnBrk="0" hangingPunct="0">
              <a:defRPr sz="1200"/>
            </a:lvl1pPr>
          </a:lstStyle>
          <a:p>
            <a:fld id="{3412D5C1-D0DC-40F7-BDD3-DD827C056E83}"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1</a:t>
            </a:fld>
            <a:endParaRPr lang="en-US" altLang="en-US"/>
          </a:p>
        </p:txBody>
      </p:sp>
    </p:spTree>
    <p:extLst>
      <p:ext uri="{BB962C8B-B14F-4D97-AF65-F5344CB8AC3E}">
        <p14:creationId xmlns:p14="http://schemas.microsoft.com/office/powerpoint/2010/main" val="2021964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2</a:t>
            </a:fld>
            <a:endParaRPr lang="en-US" altLang="en-US"/>
          </a:p>
        </p:txBody>
      </p:sp>
    </p:spTree>
    <p:extLst>
      <p:ext uri="{BB962C8B-B14F-4D97-AF65-F5344CB8AC3E}">
        <p14:creationId xmlns:p14="http://schemas.microsoft.com/office/powerpoint/2010/main" val="22703537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3</a:t>
            </a:fld>
            <a:endParaRPr lang="en-US" altLang="en-US"/>
          </a:p>
        </p:txBody>
      </p:sp>
    </p:spTree>
    <p:extLst>
      <p:ext uri="{BB962C8B-B14F-4D97-AF65-F5344CB8AC3E}">
        <p14:creationId xmlns:p14="http://schemas.microsoft.com/office/powerpoint/2010/main" val="797612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5BB11703-7404-4D1A-9B6B-2563CF3869A0}"/>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0275" eaLnBrk="0" hangingPunct="0">
              <a:spcBef>
                <a:spcPct val="30000"/>
              </a:spcBef>
              <a:defRPr kumimoji="1" sz="1200">
                <a:solidFill>
                  <a:schemeClr val="tx1"/>
                </a:solidFill>
                <a:latin typeface="Times New Roman" panose="02020603050405020304" pitchFamily="18" charset="0"/>
              </a:defRPr>
            </a:lvl1pPr>
            <a:lvl2pPr marL="742950" indent="-285750" defTabSz="930275" eaLnBrk="0" hangingPunct="0">
              <a:spcBef>
                <a:spcPct val="30000"/>
              </a:spcBef>
              <a:defRPr kumimoji="1" sz="1200">
                <a:solidFill>
                  <a:schemeClr val="tx1"/>
                </a:solidFill>
                <a:latin typeface="Times New Roman" panose="02020603050405020304" pitchFamily="18" charset="0"/>
              </a:defRPr>
            </a:lvl2pPr>
            <a:lvl3pPr marL="1143000" indent="-228600" defTabSz="930275" eaLnBrk="0" hangingPunct="0">
              <a:spcBef>
                <a:spcPct val="30000"/>
              </a:spcBef>
              <a:defRPr kumimoji="1" sz="1200">
                <a:solidFill>
                  <a:schemeClr val="tx1"/>
                </a:solidFill>
                <a:latin typeface="Times New Roman" panose="02020603050405020304" pitchFamily="18" charset="0"/>
              </a:defRPr>
            </a:lvl3pPr>
            <a:lvl4pPr marL="1600200" indent="-228600" defTabSz="930275" eaLnBrk="0" hangingPunct="0">
              <a:spcBef>
                <a:spcPct val="30000"/>
              </a:spcBef>
              <a:defRPr kumimoji="1" sz="1200">
                <a:solidFill>
                  <a:schemeClr val="tx1"/>
                </a:solidFill>
                <a:latin typeface="Times New Roman" panose="02020603050405020304" pitchFamily="18" charset="0"/>
              </a:defRPr>
            </a:lvl4pPr>
            <a:lvl5pPr marL="2057400" indent="-228600" defTabSz="930275" eaLnBrk="0" hangingPunct="0">
              <a:spcBef>
                <a:spcPct val="30000"/>
              </a:spcBef>
              <a:defRPr kumimoji="1"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8706BE08-E8E1-4520-A7DA-3A7C5CA2744B}" type="slidenum">
              <a:rPr kumimoji="0" lang="en-US" altLang="en-US">
                <a:ea typeface="굴림" panose="020B0600000101010101" pitchFamily="34" charset="-127"/>
              </a:rPr>
              <a:pPr>
                <a:spcBef>
                  <a:spcPct val="0"/>
                </a:spcBef>
              </a:pPr>
              <a:t>4</a:t>
            </a:fld>
            <a:endParaRPr kumimoji="0" lang="en-US" altLang="en-US">
              <a:ea typeface="굴림" panose="020B0600000101010101" pitchFamily="34" charset="-127"/>
            </a:endParaRPr>
          </a:p>
        </p:txBody>
      </p:sp>
      <p:sp>
        <p:nvSpPr>
          <p:cNvPr id="22531" name="Rectangle 2">
            <a:extLst>
              <a:ext uri="{FF2B5EF4-FFF2-40B4-BE49-F238E27FC236}">
                <a16:creationId xmlns:a16="http://schemas.microsoft.com/office/drawing/2014/main" id="{C5896FFA-BEC3-4366-BE44-A595704FBD22}"/>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FB3DF21D-CE85-4D31-A4D0-3A4BF24413B8}"/>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r>
              <a:rPr lang="en-US" altLang="en-US" dirty="0"/>
              <a:t>Different flavors of chip multiprocessors exist, but we’ll be focusing on ones that assume a shared memory model, so all physical memory is accessible to all CPU cores and threads. We’ll generally also assume symmetric multiprocessors, where all the cores are alike, or homogeneous. So there are a few key idealisms that we strive for when building a shared-memory CMP. The first is that all physical memory is accessible to all cores, which is usually supported but comes at a cost of nonuniform latency, which I’ll elaborate on in a coming slide. The next idealisms are to achieve single-cycle memory access latency and no contention or interference from other threads currently executing on the system. We can approximately approach these goals by constructing a cache hierarchy with private caches, as I’ll show in the next slide. And the last idealism, which will be the main focus of this lecture, is that when one thread modifies a shared memory location, this modification should be instantaneously visible to all other threads. This is the job of the cache coherence protocol.</a:t>
            </a:r>
          </a:p>
        </p:txBody>
      </p:sp>
    </p:spTree>
    <p:extLst>
      <p:ext uri="{BB962C8B-B14F-4D97-AF65-F5344CB8AC3E}">
        <p14:creationId xmlns:p14="http://schemas.microsoft.com/office/powerpoint/2010/main" val="42380528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5</a:t>
            </a:fld>
            <a:endParaRPr lang="en-US" altLang="en-US"/>
          </a:p>
        </p:txBody>
      </p:sp>
    </p:spTree>
    <p:extLst>
      <p:ext uri="{BB962C8B-B14F-4D97-AF65-F5344CB8AC3E}">
        <p14:creationId xmlns:p14="http://schemas.microsoft.com/office/powerpoint/2010/main" val="13433356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6</a:t>
            </a:fld>
            <a:endParaRPr lang="en-US" altLang="en-US"/>
          </a:p>
        </p:txBody>
      </p:sp>
    </p:spTree>
    <p:extLst>
      <p:ext uri="{BB962C8B-B14F-4D97-AF65-F5344CB8AC3E}">
        <p14:creationId xmlns:p14="http://schemas.microsoft.com/office/powerpoint/2010/main" val="4868985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7</a:t>
            </a:fld>
            <a:endParaRPr lang="en-US" altLang="en-US"/>
          </a:p>
        </p:txBody>
      </p:sp>
    </p:spTree>
    <p:extLst>
      <p:ext uri="{BB962C8B-B14F-4D97-AF65-F5344CB8AC3E}">
        <p14:creationId xmlns:p14="http://schemas.microsoft.com/office/powerpoint/2010/main" val="32827147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8</a:t>
            </a:fld>
            <a:endParaRPr lang="en-US" altLang="en-US"/>
          </a:p>
        </p:txBody>
      </p:sp>
    </p:spTree>
    <p:extLst>
      <p:ext uri="{BB962C8B-B14F-4D97-AF65-F5344CB8AC3E}">
        <p14:creationId xmlns:p14="http://schemas.microsoft.com/office/powerpoint/2010/main" val="12745298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9</a:t>
            </a:fld>
            <a:endParaRPr lang="en-US" altLang="en-US"/>
          </a:p>
        </p:txBody>
      </p:sp>
    </p:spTree>
    <p:extLst>
      <p:ext uri="{BB962C8B-B14F-4D97-AF65-F5344CB8AC3E}">
        <p14:creationId xmlns:p14="http://schemas.microsoft.com/office/powerpoint/2010/main" val="11673289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10</a:t>
            </a:fld>
            <a:endParaRPr lang="en-US" altLang="en-US"/>
          </a:p>
        </p:txBody>
      </p:sp>
    </p:spTree>
    <p:extLst>
      <p:ext uri="{BB962C8B-B14F-4D97-AF65-F5344CB8AC3E}">
        <p14:creationId xmlns:p14="http://schemas.microsoft.com/office/powerpoint/2010/main" val="32488067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11</a:t>
            </a:fld>
            <a:endParaRPr lang="en-US" altLang="en-US"/>
          </a:p>
        </p:txBody>
      </p:sp>
    </p:spTree>
    <p:extLst>
      <p:ext uri="{BB962C8B-B14F-4D97-AF65-F5344CB8AC3E}">
        <p14:creationId xmlns:p14="http://schemas.microsoft.com/office/powerpoint/2010/main" val="21268467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12</a:t>
            </a:fld>
            <a:endParaRPr lang="en-US" altLang="en-US"/>
          </a:p>
        </p:txBody>
      </p:sp>
    </p:spTree>
    <p:extLst>
      <p:ext uri="{BB962C8B-B14F-4D97-AF65-F5344CB8AC3E}">
        <p14:creationId xmlns:p14="http://schemas.microsoft.com/office/powerpoint/2010/main" val="21734653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13</a:t>
            </a:fld>
            <a:endParaRPr lang="en-US" altLang="en-US"/>
          </a:p>
        </p:txBody>
      </p:sp>
    </p:spTree>
    <p:extLst>
      <p:ext uri="{BB962C8B-B14F-4D97-AF65-F5344CB8AC3E}">
        <p14:creationId xmlns:p14="http://schemas.microsoft.com/office/powerpoint/2010/main" val="23542215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14</a:t>
            </a:fld>
            <a:endParaRPr lang="en-US" altLang="en-US"/>
          </a:p>
        </p:txBody>
      </p:sp>
    </p:spTree>
    <p:extLst>
      <p:ext uri="{BB962C8B-B14F-4D97-AF65-F5344CB8AC3E}">
        <p14:creationId xmlns:p14="http://schemas.microsoft.com/office/powerpoint/2010/main" val="20042367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15</a:t>
            </a:fld>
            <a:endParaRPr lang="en-US" altLang="en-US"/>
          </a:p>
        </p:txBody>
      </p:sp>
    </p:spTree>
    <p:extLst>
      <p:ext uri="{BB962C8B-B14F-4D97-AF65-F5344CB8AC3E}">
        <p14:creationId xmlns:p14="http://schemas.microsoft.com/office/powerpoint/2010/main" val="30350280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16</a:t>
            </a:fld>
            <a:endParaRPr lang="en-US" altLang="en-US"/>
          </a:p>
        </p:txBody>
      </p:sp>
    </p:spTree>
    <p:extLst>
      <p:ext uri="{BB962C8B-B14F-4D97-AF65-F5344CB8AC3E}">
        <p14:creationId xmlns:p14="http://schemas.microsoft.com/office/powerpoint/2010/main" val="20593967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17</a:t>
            </a:fld>
            <a:endParaRPr lang="en-US" altLang="en-US"/>
          </a:p>
        </p:txBody>
      </p:sp>
    </p:spTree>
    <p:extLst>
      <p:ext uri="{BB962C8B-B14F-4D97-AF65-F5344CB8AC3E}">
        <p14:creationId xmlns:p14="http://schemas.microsoft.com/office/powerpoint/2010/main" val="34077611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18</a:t>
            </a:fld>
            <a:endParaRPr lang="en-US" altLang="en-US"/>
          </a:p>
        </p:txBody>
      </p:sp>
    </p:spTree>
    <p:extLst>
      <p:ext uri="{BB962C8B-B14F-4D97-AF65-F5344CB8AC3E}">
        <p14:creationId xmlns:p14="http://schemas.microsoft.com/office/powerpoint/2010/main" val="18414813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19</a:t>
            </a:fld>
            <a:endParaRPr lang="en-US" altLang="en-US"/>
          </a:p>
        </p:txBody>
      </p:sp>
    </p:spTree>
    <p:extLst>
      <p:ext uri="{BB962C8B-B14F-4D97-AF65-F5344CB8AC3E}">
        <p14:creationId xmlns:p14="http://schemas.microsoft.com/office/powerpoint/2010/main" val="12444095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20</a:t>
            </a:fld>
            <a:endParaRPr lang="en-US" altLang="en-US"/>
          </a:p>
        </p:txBody>
      </p:sp>
    </p:spTree>
    <p:extLst>
      <p:ext uri="{BB962C8B-B14F-4D97-AF65-F5344CB8AC3E}">
        <p14:creationId xmlns:p14="http://schemas.microsoft.com/office/powerpoint/2010/main" val="32460464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21</a:t>
            </a:fld>
            <a:endParaRPr lang="en-US" altLang="en-US"/>
          </a:p>
        </p:txBody>
      </p:sp>
    </p:spTree>
    <p:extLst>
      <p:ext uri="{BB962C8B-B14F-4D97-AF65-F5344CB8AC3E}">
        <p14:creationId xmlns:p14="http://schemas.microsoft.com/office/powerpoint/2010/main" val="40759113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22</a:t>
            </a:fld>
            <a:endParaRPr lang="en-US" altLang="en-US"/>
          </a:p>
        </p:txBody>
      </p:sp>
    </p:spTree>
    <p:extLst>
      <p:ext uri="{BB962C8B-B14F-4D97-AF65-F5344CB8AC3E}">
        <p14:creationId xmlns:p14="http://schemas.microsoft.com/office/powerpoint/2010/main" val="26243071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23</a:t>
            </a:fld>
            <a:endParaRPr lang="en-US" altLang="en-US"/>
          </a:p>
        </p:txBody>
      </p:sp>
    </p:spTree>
    <p:extLst>
      <p:ext uri="{BB962C8B-B14F-4D97-AF65-F5344CB8AC3E}">
        <p14:creationId xmlns:p14="http://schemas.microsoft.com/office/powerpoint/2010/main" val="40712549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24</a:t>
            </a:fld>
            <a:endParaRPr lang="en-US" altLang="en-US"/>
          </a:p>
        </p:txBody>
      </p:sp>
    </p:spTree>
    <p:extLst>
      <p:ext uri="{BB962C8B-B14F-4D97-AF65-F5344CB8AC3E}">
        <p14:creationId xmlns:p14="http://schemas.microsoft.com/office/powerpoint/2010/main" val="2103734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25</a:t>
            </a:fld>
            <a:endParaRPr lang="en-US" altLang="en-US"/>
          </a:p>
        </p:txBody>
      </p:sp>
    </p:spTree>
    <p:extLst>
      <p:ext uri="{BB962C8B-B14F-4D97-AF65-F5344CB8AC3E}">
        <p14:creationId xmlns:p14="http://schemas.microsoft.com/office/powerpoint/2010/main" val="16433112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26</a:t>
            </a:fld>
            <a:endParaRPr lang="en-US" altLang="en-US"/>
          </a:p>
        </p:txBody>
      </p:sp>
    </p:spTree>
    <p:extLst>
      <p:ext uri="{BB962C8B-B14F-4D97-AF65-F5344CB8AC3E}">
        <p14:creationId xmlns:p14="http://schemas.microsoft.com/office/powerpoint/2010/main" val="36375319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27</a:t>
            </a:fld>
            <a:endParaRPr lang="en-US" altLang="en-US"/>
          </a:p>
        </p:txBody>
      </p:sp>
    </p:spTree>
    <p:extLst>
      <p:ext uri="{BB962C8B-B14F-4D97-AF65-F5344CB8AC3E}">
        <p14:creationId xmlns:p14="http://schemas.microsoft.com/office/powerpoint/2010/main" val="19370947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28</a:t>
            </a:fld>
            <a:endParaRPr lang="en-US" altLang="en-US"/>
          </a:p>
        </p:txBody>
      </p:sp>
    </p:spTree>
    <p:extLst>
      <p:ext uri="{BB962C8B-B14F-4D97-AF65-F5344CB8AC3E}">
        <p14:creationId xmlns:p14="http://schemas.microsoft.com/office/powerpoint/2010/main" val="41037860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29</a:t>
            </a:fld>
            <a:endParaRPr lang="en-US" altLang="en-US"/>
          </a:p>
        </p:txBody>
      </p:sp>
    </p:spTree>
    <p:extLst>
      <p:ext uri="{BB962C8B-B14F-4D97-AF65-F5344CB8AC3E}">
        <p14:creationId xmlns:p14="http://schemas.microsoft.com/office/powerpoint/2010/main" val="36432377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30</a:t>
            </a:fld>
            <a:endParaRPr lang="en-US" altLang="en-US"/>
          </a:p>
        </p:txBody>
      </p:sp>
    </p:spTree>
    <p:extLst>
      <p:ext uri="{BB962C8B-B14F-4D97-AF65-F5344CB8AC3E}">
        <p14:creationId xmlns:p14="http://schemas.microsoft.com/office/powerpoint/2010/main" val="8276625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31</a:t>
            </a:fld>
            <a:endParaRPr lang="en-US" altLang="en-US"/>
          </a:p>
        </p:txBody>
      </p:sp>
    </p:spTree>
    <p:extLst>
      <p:ext uri="{BB962C8B-B14F-4D97-AF65-F5344CB8AC3E}">
        <p14:creationId xmlns:p14="http://schemas.microsoft.com/office/powerpoint/2010/main" val="8252989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32</a:t>
            </a:fld>
            <a:endParaRPr lang="en-US" altLang="en-US"/>
          </a:p>
        </p:txBody>
      </p:sp>
    </p:spTree>
    <p:extLst>
      <p:ext uri="{BB962C8B-B14F-4D97-AF65-F5344CB8AC3E}">
        <p14:creationId xmlns:p14="http://schemas.microsoft.com/office/powerpoint/2010/main" val="31973078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33</a:t>
            </a:fld>
            <a:endParaRPr lang="en-US" altLang="en-US"/>
          </a:p>
        </p:txBody>
      </p:sp>
    </p:spTree>
    <p:extLst>
      <p:ext uri="{BB962C8B-B14F-4D97-AF65-F5344CB8AC3E}">
        <p14:creationId xmlns:p14="http://schemas.microsoft.com/office/powerpoint/2010/main" val="7393139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34</a:t>
            </a:fld>
            <a:endParaRPr lang="en-US" altLang="en-US"/>
          </a:p>
        </p:txBody>
      </p:sp>
    </p:spTree>
    <p:extLst>
      <p:ext uri="{BB962C8B-B14F-4D97-AF65-F5344CB8AC3E}">
        <p14:creationId xmlns:p14="http://schemas.microsoft.com/office/powerpoint/2010/main" val="28935527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35</a:t>
            </a:fld>
            <a:endParaRPr lang="en-US" altLang="en-US"/>
          </a:p>
        </p:txBody>
      </p:sp>
    </p:spTree>
    <p:extLst>
      <p:ext uri="{BB962C8B-B14F-4D97-AF65-F5344CB8AC3E}">
        <p14:creationId xmlns:p14="http://schemas.microsoft.com/office/powerpoint/2010/main" val="41759233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36</a:t>
            </a:fld>
            <a:endParaRPr lang="en-US" altLang="en-US"/>
          </a:p>
        </p:txBody>
      </p:sp>
    </p:spTree>
    <p:extLst>
      <p:ext uri="{BB962C8B-B14F-4D97-AF65-F5344CB8AC3E}">
        <p14:creationId xmlns:p14="http://schemas.microsoft.com/office/powerpoint/2010/main" val="28202249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37</a:t>
            </a:fld>
            <a:endParaRPr lang="en-US" altLang="en-US"/>
          </a:p>
        </p:txBody>
      </p:sp>
    </p:spTree>
    <p:extLst>
      <p:ext uri="{BB962C8B-B14F-4D97-AF65-F5344CB8AC3E}">
        <p14:creationId xmlns:p14="http://schemas.microsoft.com/office/powerpoint/2010/main" val="27658526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descr="LOGO_200">
            <a:extLst>
              <a:ext uri="{FF2B5EF4-FFF2-40B4-BE49-F238E27FC236}">
                <a16:creationId xmlns:a16="http://schemas.microsoft.com/office/drawing/2014/main" id="{F8789D68-DF1E-45B3-A6C0-77A5EB00550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286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LOGO_200">
            <a:extLst>
              <a:ext uri="{FF2B5EF4-FFF2-40B4-BE49-F238E27FC236}">
                <a16:creationId xmlns:a16="http://schemas.microsoft.com/office/drawing/2014/main" id="{71ED43BD-67BE-440C-9864-F25EBC75E0E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286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custDataLst>
              <p:tags r:id="rId1"/>
            </p:custDataLst>
          </p:nvPr>
        </p:nvSpPr>
        <p:spPr>
          <a:xfrm>
            <a:off x="685800" y="2362200"/>
            <a:ext cx="7772400" cy="1238250"/>
          </a:xfrm>
        </p:spPr>
        <p:txBody>
          <a:bodyPr/>
          <a:lstStyle/>
          <a:p>
            <a:r>
              <a:rPr lang="en-US"/>
              <a:t>Click to edit Master title style</a:t>
            </a:r>
          </a:p>
        </p:txBody>
      </p:sp>
      <p:sp>
        <p:nvSpPr>
          <p:cNvPr id="3" name="Subtitle 2"/>
          <p:cNvSpPr>
            <a:spLocks noGrp="1"/>
          </p:cNvSpPr>
          <p:nvPr>
            <p:ph type="subTitle" idx="1"/>
            <p:custDataLst>
              <p:tags r:id="rId2"/>
            </p:custDataLst>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Date Placeholder 3">
            <a:extLst>
              <a:ext uri="{FF2B5EF4-FFF2-40B4-BE49-F238E27FC236}">
                <a16:creationId xmlns:a16="http://schemas.microsoft.com/office/drawing/2014/main" id="{77DFC483-F5BF-4539-96D2-E99714B02B7D}"/>
              </a:ext>
            </a:extLst>
          </p:cNvPr>
          <p:cNvSpPr>
            <a:spLocks noGrp="1"/>
          </p:cNvSpPr>
          <p:nvPr>
            <p:ph type="dt" sz="half" idx="10"/>
            <p:custDataLst>
              <p:tags r:id="rId3"/>
            </p:custDataLst>
          </p:nvPr>
        </p:nvSpPr>
        <p:spPr/>
        <p:txBody>
          <a:bodyPr/>
          <a:lstStyle>
            <a:lvl1pPr>
              <a:defRPr/>
            </a:lvl1pPr>
          </a:lstStyle>
          <a:p>
            <a:pPr>
              <a:defRPr/>
            </a:pPr>
            <a:endParaRPr lang="en-US" altLang="en-US"/>
          </a:p>
        </p:txBody>
      </p:sp>
      <p:sp>
        <p:nvSpPr>
          <p:cNvPr id="7" name="Footer Placeholder 4">
            <a:extLst>
              <a:ext uri="{FF2B5EF4-FFF2-40B4-BE49-F238E27FC236}">
                <a16:creationId xmlns:a16="http://schemas.microsoft.com/office/drawing/2014/main" id="{E3CF486E-B4FC-4C96-8CB1-945F4BA1A0D7}"/>
              </a:ext>
            </a:extLst>
          </p:cNvPr>
          <p:cNvSpPr>
            <a:spLocks noGrp="1"/>
          </p:cNvSpPr>
          <p:nvPr>
            <p:ph type="ftr" sz="quarter" idx="11"/>
            <p:custDataLst>
              <p:tags r:id="rId4"/>
            </p:custDataLst>
          </p:nvPr>
        </p:nvSpPr>
        <p:spPr/>
        <p:txBody>
          <a:bodyPr/>
          <a:lstStyle>
            <a:lvl1pPr>
              <a:defRPr/>
            </a:lvl1pPr>
          </a:lstStyle>
          <a:p>
            <a:pPr>
              <a:defRPr/>
            </a:pPr>
            <a:r>
              <a:rPr lang="en-US" altLang="en-US"/>
              <a:t>© Hill, Lipasti</a:t>
            </a:r>
          </a:p>
        </p:txBody>
      </p:sp>
      <p:sp>
        <p:nvSpPr>
          <p:cNvPr id="8" name="Slide Number Placeholder 5">
            <a:extLst>
              <a:ext uri="{FF2B5EF4-FFF2-40B4-BE49-F238E27FC236}">
                <a16:creationId xmlns:a16="http://schemas.microsoft.com/office/drawing/2014/main" id="{55FABDED-DC68-4356-9B69-6A27D6D86E8A}"/>
              </a:ext>
            </a:extLst>
          </p:cNvPr>
          <p:cNvSpPr>
            <a:spLocks noGrp="1"/>
          </p:cNvSpPr>
          <p:nvPr>
            <p:ph type="sldNum" sz="quarter" idx="12"/>
            <p:custDataLst>
              <p:tags r:id="rId5"/>
            </p:custDataLst>
          </p:nvPr>
        </p:nvSpPr>
        <p:spPr/>
        <p:txBody>
          <a:bodyPr/>
          <a:lstStyle>
            <a:lvl2pPr lvl="1">
              <a:defRPr/>
            </a:lvl2pPr>
          </a:lstStyle>
          <a:p>
            <a:pPr lvl="1"/>
            <a:fld id="{F26D53C3-94B4-4E25-868F-FDCC830F1813}" type="slidenum">
              <a:rPr lang="en-US" altLang="en-US"/>
              <a:pPr lvl="1"/>
              <a:t>‹#›</a:t>
            </a:fld>
            <a:endParaRPr lang="en-US" altLang="en-US"/>
          </a:p>
        </p:txBody>
      </p:sp>
    </p:spTree>
    <p:extLst>
      <p:ext uri="{BB962C8B-B14F-4D97-AF65-F5344CB8AC3E}">
        <p14:creationId xmlns:p14="http://schemas.microsoft.com/office/powerpoint/2010/main" val="418501315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US"/>
              <a:t>Click to edit Master title style</a:t>
            </a:r>
          </a:p>
        </p:txBody>
      </p:sp>
      <p:sp>
        <p:nvSpPr>
          <p:cNvPr id="3" name="Content Placeholder 2"/>
          <p:cNvSpPr>
            <a:spLocks noGrp="1"/>
          </p:cNvSpPr>
          <p:nvPr>
            <p:ph idx="1"/>
            <p:custDataLst>
              <p:tags r:id="rId2"/>
            </p:custDataLst>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a:extLst>
              <a:ext uri="{FF2B5EF4-FFF2-40B4-BE49-F238E27FC236}">
                <a16:creationId xmlns:a16="http://schemas.microsoft.com/office/drawing/2014/main" id="{F58DF54A-2963-4066-855D-BE4BF006F8C4}"/>
              </a:ext>
            </a:extLst>
          </p:cNvPr>
          <p:cNvSpPr>
            <a:spLocks noGrp="1"/>
          </p:cNvSpPr>
          <p:nvPr>
            <p:ph type="dt" sz="half" idx="10"/>
            <p:custDataLst>
              <p:tags r:id="rId3"/>
            </p:custDataLst>
          </p:nvPr>
        </p:nvSpPr>
        <p:spPr/>
        <p:txBody>
          <a:bodyPr/>
          <a:lstStyle>
            <a:lvl1pPr>
              <a:defRPr/>
            </a:lvl1pPr>
          </a:lstStyle>
          <a:p>
            <a:pPr>
              <a:defRPr/>
            </a:pPr>
            <a:endParaRPr lang="en-US" altLang="en-US"/>
          </a:p>
        </p:txBody>
      </p:sp>
      <p:sp>
        <p:nvSpPr>
          <p:cNvPr id="7" name="Footer Placeholder 4">
            <a:extLst>
              <a:ext uri="{FF2B5EF4-FFF2-40B4-BE49-F238E27FC236}">
                <a16:creationId xmlns:a16="http://schemas.microsoft.com/office/drawing/2014/main" id="{9E82FE2C-A1EE-4380-817A-5988FD0EE0FA}"/>
              </a:ext>
            </a:extLst>
          </p:cNvPr>
          <p:cNvSpPr>
            <a:spLocks noGrp="1"/>
          </p:cNvSpPr>
          <p:nvPr>
            <p:ph type="ftr" sz="quarter" idx="11"/>
            <p:custDataLst>
              <p:tags r:id="rId4"/>
            </p:custDataLst>
          </p:nvPr>
        </p:nvSpPr>
        <p:spPr/>
        <p:txBody>
          <a:bodyPr/>
          <a:lstStyle>
            <a:lvl1pPr>
              <a:defRPr/>
            </a:lvl1pPr>
          </a:lstStyle>
          <a:p>
            <a:pPr>
              <a:defRPr/>
            </a:pPr>
            <a:r>
              <a:rPr lang="en-US" altLang="en-US"/>
              <a:t>© Hill, Lipasti</a:t>
            </a:r>
          </a:p>
        </p:txBody>
      </p:sp>
      <p:sp>
        <p:nvSpPr>
          <p:cNvPr id="8" name="Slide Number Placeholder 5">
            <a:extLst>
              <a:ext uri="{FF2B5EF4-FFF2-40B4-BE49-F238E27FC236}">
                <a16:creationId xmlns:a16="http://schemas.microsoft.com/office/drawing/2014/main" id="{71B472F8-3BEF-4271-B8F6-C8512E515EDC}"/>
              </a:ext>
            </a:extLst>
          </p:cNvPr>
          <p:cNvSpPr>
            <a:spLocks noGrp="1"/>
          </p:cNvSpPr>
          <p:nvPr>
            <p:ph type="sldNum" sz="quarter" idx="12"/>
            <p:custDataLst>
              <p:tags r:id="rId5"/>
            </p:custDataLst>
          </p:nvPr>
        </p:nvSpPr>
        <p:spPr/>
        <p:txBody>
          <a:bodyPr/>
          <a:lstStyle>
            <a:lvl2pPr lvl="1">
              <a:defRPr sz="1400"/>
            </a:lvl2pPr>
          </a:lstStyle>
          <a:p>
            <a:pPr lvl="1"/>
            <a:fld id="{B7E7A024-158A-42C6-8EE4-794CA031091A}" type="slidenum">
              <a:rPr lang="en-US" altLang="en-US"/>
              <a:pPr lvl="1"/>
              <a:t>‹#›</a:t>
            </a:fld>
            <a:endParaRPr lang="en-US" altLang="en-US"/>
          </a:p>
        </p:txBody>
      </p:sp>
    </p:spTree>
    <p:extLst>
      <p:ext uri="{BB962C8B-B14F-4D97-AF65-F5344CB8AC3E}">
        <p14:creationId xmlns:p14="http://schemas.microsoft.com/office/powerpoint/2010/main" val="36112170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B8F5570D-AF20-4116-9732-9EB433FF6EE7}"/>
              </a:ext>
            </a:extLst>
          </p:cNvPr>
          <p:cNvSpPr>
            <a:spLocks noGrp="1"/>
          </p:cNvSpPr>
          <p:nvPr>
            <p:ph type="dt" sz="half" idx="10"/>
          </p:nvPr>
        </p:nvSpPr>
        <p:spPr/>
        <p:txBody>
          <a:bodyPr/>
          <a:lstStyle>
            <a:lvl1pPr>
              <a:defRPr/>
            </a:lvl1pPr>
          </a:lstStyle>
          <a:p>
            <a:pPr>
              <a:defRPr/>
            </a:pPr>
            <a:endParaRPr lang="en-US" altLang="en-US"/>
          </a:p>
        </p:txBody>
      </p:sp>
      <p:sp>
        <p:nvSpPr>
          <p:cNvPr id="4" name="Footer Placeholder 4">
            <a:extLst>
              <a:ext uri="{FF2B5EF4-FFF2-40B4-BE49-F238E27FC236}">
                <a16:creationId xmlns:a16="http://schemas.microsoft.com/office/drawing/2014/main" id="{D5A42796-B95F-4E56-8309-BCB5EAFE3DDB}"/>
              </a:ext>
            </a:extLst>
          </p:cNvPr>
          <p:cNvSpPr>
            <a:spLocks noGrp="1"/>
          </p:cNvSpPr>
          <p:nvPr>
            <p:ph type="ftr" sz="quarter" idx="11"/>
          </p:nvPr>
        </p:nvSpPr>
        <p:spPr/>
        <p:txBody>
          <a:bodyPr/>
          <a:lstStyle>
            <a:lvl1pPr>
              <a:defRPr/>
            </a:lvl1pPr>
          </a:lstStyle>
          <a:p>
            <a:pPr>
              <a:defRPr/>
            </a:pPr>
            <a:r>
              <a:rPr lang="en-US" altLang="en-US"/>
              <a:t>© Hill, Lipasti</a:t>
            </a:r>
          </a:p>
        </p:txBody>
      </p:sp>
      <p:sp>
        <p:nvSpPr>
          <p:cNvPr id="5" name="Slide Number Placeholder 5">
            <a:extLst>
              <a:ext uri="{FF2B5EF4-FFF2-40B4-BE49-F238E27FC236}">
                <a16:creationId xmlns:a16="http://schemas.microsoft.com/office/drawing/2014/main" id="{CAF911B6-C369-49A9-A1C1-DE305D680AA0}"/>
              </a:ext>
            </a:extLst>
          </p:cNvPr>
          <p:cNvSpPr>
            <a:spLocks noGrp="1"/>
          </p:cNvSpPr>
          <p:nvPr>
            <p:ph type="sldNum" sz="quarter" idx="12"/>
          </p:nvPr>
        </p:nvSpPr>
        <p:spPr/>
        <p:txBody>
          <a:bodyPr/>
          <a:lstStyle>
            <a:lvl2pPr lvl="1">
              <a:defRPr/>
            </a:lvl2pPr>
          </a:lstStyle>
          <a:p>
            <a:pPr lvl="1"/>
            <a:fld id="{BA02BA93-FC22-4768-97AD-81B6FD26661F}" type="slidenum">
              <a:rPr lang="en-US" altLang="en-US"/>
              <a:pPr lvl="1"/>
              <a:t>‹#›</a:t>
            </a:fld>
            <a:endParaRPr lang="en-US" altLang="en-US"/>
          </a:p>
        </p:txBody>
      </p:sp>
    </p:spTree>
    <p:extLst>
      <p:ext uri="{BB962C8B-B14F-4D97-AF65-F5344CB8AC3E}">
        <p14:creationId xmlns:p14="http://schemas.microsoft.com/office/powerpoint/2010/main" val="1015968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2625" y="609600"/>
            <a:ext cx="8080375" cy="1143000"/>
          </a:xfrm>
        </p:spPr>
        <p:txBody>
          <a:bodyPr/>
          <a:lstStyle/>
          <a:p>
            <a:r>
              <a:rPr lang="en-US"/>
              <a:t>Click to edit Master title style</a:t>
            </a:r>
          </a:p>
        </p:txBody>
      </p:sp>
      <p:sp>
        <p:nvSpPr>
          <p:cNvPr id="3" name="Text Placeholder 2"/>
          <p:cNvSpPr>
            <a:spLocks noGrp="1"/>
          </p:cNvSpPr>
          <p:nvPr>
            <p:ph type="body" sz="half" idx="1"/>
          </p:nvPr>
        </p:nvSpPr>
        <p:spPr>
          <a:xfrm>
            <a:off x="682625"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5025" y="1981200"/>
            <a:ext cx="3810000" cy="4114800"/>
          </a:xfrm>
        </p:spPr>
        <p:txBody>
          <a:bodyPr/>
          <a:lstStyle/>
          <a:p>
            <a:pPr lvl="0"/>
            <a:r>
              <a:rPr lang="en-US" noProof="0"/>
              <a:t>Click icon to add clip art</a:t>
            </a:r>
          </a:p>
        </p:txBody>
      </p:sp>
      <p:sp>
        <p:nvSpPr>
          <p:cNvPr id="5" name="Date Placeholder 3">
            <a:extLst>
              <a:ext uri="{FF2B5EF4-FFF2-40B4-BE49-F238E27FC236}">
                <a16:creationId xmlns:a16="http://schemas.microsoft.com/office/drawing/2014/main" id="{14203BB7-8619-4698-8C86-AB3895D96A3C}"/>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39F6D0A7-8F5A-4739-98BC-F6AB11F636D3}"/>
              </a:ext>
            </a:extLst>
          </p:cNvPr>
          <p:cNvSpPr>
            <a:spLocks noGrp="1"/>
          </p:cNvSpPr>
          <p:nvPr>
            <p:ph type="ftr" sz="quarter" idx="11"/>
          </p:nvPr>
        </p:nvSpPr>
        <p:spPr/>
        <p:txBody>
          <a:bodyPr/>
          <a:lstStyle>
            <a:lvl1pPr>
              <a:defRPr/>
            </a:lvl1pPr>
          </a:lstStyle>
          <a:p>
            <a:pPr>
              <a:defRPr/>
            </a:pPr>
            <a:r>
              <a:rPr lang="en-US" altLang="en-US"/>
              <a:t>© Hill, Lipasti</a:t>
            </a:r>
          </a:p>
        </p:txBody>
      </p:sp>
      <p:sp>
        <p:nvSpPr>
          <p:cNvPr id="7" name="Slide Number Placeholder 5">
            <a:extLst>
              <a:ext uri="{FF2B5EF4-FFF2-40B4-BE49-F238E27FC236}">
                <a16:creationId xmlns:a16="http://schemas.microsoft.com/office/drawing/2014/main" id="{C92EA5A7-7B44-4C5D-8930-15F48A1978B8}"/>
              </a:ext>
            </a:extLst>
          </p:cNvPr>
          <p:cNvSpPr>
            <a:spLocks noGrp="1"/>
          </p:cNvSpPr>
          <p:nvPr>
            <p:ph type="sldNum" sz="quarter" idx="12"/>
          </p:nvPr>
        </p:nvSpPr>
        <p:spPr/>
        <p:txBody>
          <a:bodyPr/>
          <a:lstStyle>
            <a:lvl2pPr lvl="1">
              <a:defRPr/>
            </a:lvl2pPr>
          </a:lstStyle>
          <a:p>
            <a:pPr lvl="1"/>
            <a:fld id="{D58B94F4-A469-442A-A38B-D59DA896557B}" type="slidenum">
              <a:rPr lang="en-US" altLang="en-US"/>
              <a:pPr lvl="1"/>
              <a:t>‹#›</a:t>
            </a:fld>
            <a:endParaRPr lang="en-US" altLang="en-US"/>
          </a:p>
        </p:txBody>
      </p:sp>
    </p:spTree>
    <p:extLst>
      <p:ext uri="{BB962C8B-B14F-4D97-AF65-F5344CB8AC3E}">
        <p14:creationId xmlns:p14="http://schemas.microsoft.com/office/powerpoint/2010/main" val="7728051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4.xml"/><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10" Type="http://schemas.openxmlformats.org/officeDocument/2006/relationships/tags" Target="../tags/tag6.xml"/><Relationship Id="rId4" Type="http://schemas.openxmlformats.org/officeDocument/2006/relationships/slideLayout" Target="../slideLayouts/slideLayout4.xml"/><Relationship Id="rId9" Type="http://schemas.openxmlformats.org/officeDocument/2006/relationships/tags" Target="../tags/tag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6162EC40-6D83-46D2-84B7-479A8F0D6330}"/>
              </a:ext>
            </a:extLst>
          </p:cNvPr>
          <p:cNvSpPr>
            <a:spLocks noGrp="1"/>
          </p:cNvSpPr>
          <p:nvPr>
            <p:ph type="title"/>
            <p:custDataLst>
              <p:tags r:id="rId6"/>
            </p:custDataLst>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23BDD8D4-E695-492F-9065-EDA1992142BE}"/>
              </a:ext>
            </a:extLst>
          </p:cNvPr>
          <p:cNvSpPr>
            <a:spLocks noGrp="1"/>
          </p:cNvSpPr>
          <p:nvPr>
            <p:ph type="body" idx="1"/>
            <p:custDataLst>
              <p:tags r:id="rId7"/>
            </p:custDataLst>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DFB0FE4E-B9B0-436E-9272-1202EAFD4606}"/>
              </a:ext>
            </a:extLst>
          </p:cNvPr>
          <p:cNvSpPr>
            <a:spLocks noGrp="1"/>
          </p:cNvSpPr>
          <p:nvPr>
            <p:ph type="dt" sz="half" idx="2"/>
            <p:custDataLst>
              <p:tags r:id="rId8"/>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itchFamily="18" charset="0"/>
              </a:defRPr>
            </a:lvl1pPr>
          </a:lstStyle>
          <a:p>
            <a:pPr>
              <a:defRPr/>
            </a:pPr>
            <a:endParaRPr lang="en-US" altLang="en-US"/>
          </a:p>
        </p:txBody>
      </p:sp>
      <p:sp>
        <p:nvSpPr>
          <p:cNvPr id="5" name="Footer Placeholder 4">
            <a:extLst>
              <a:ext uri="{FF2B5EF4-FFF2-40B4-BE49-F238E27FC236}">
                <a16:creationId xmlns:a16="http://schemas.microsoft.com/office/drawing/2014/main" id="{3307D937-A571-46B2-8B29-D8E6557E4123}"/>
              </a:ext>
            </a:extLst>
          </p:cNvPr>
          <p:cNvSpPr>
            <a:spLocks noGrp="1"/>
          </p:cNvSpPr>
          <p:nvPr>
            <p:ph type="ftr" sz="quarter" idx="3"/>
            <p:custDataLst>
              <p:tags r:id="rId9"/>
            </p:custDataLst>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defRPr>
            </a:lvl1pPr>
          </a:lstStyle>
          <a:p>
            <a:pPr>
              <a:defRPr/>
            </a:pPr>
            <a:r>
              <a:rPr lang="en-US" altLang="en-US"/>
              <a:t>© Hill, Lipasti</a:t>
            </a:r>
          </a:p>
        </p:txBody>
      </p:sp>
      <p:sp>
        <p:nvSpPr>
          <p:cNvPr id="6" name="Slide Number Placeholder 5">
            <a:extLst>
              <a:ext uri="{FF2B5EF4-FFF2-40B4-BE49-F238E27FC236}">
                <a16:creationId xmlns:a16="http://schemas.microsoft.com/office/drawing/2014/main" id="{65680E1F-60C3-42F4-9240-6EB48215B9C0}"/>
              </a:ext>
            </a:extLst>
          </p:cNvPr>
          <p:cNvSpPr>
            <a:spLocks noGrp="1"/>
          </p:cNvSpPr>
          <p:nvPr>
            <p:ph type="sldNum" sz="quarter" idx="4"/>
            <p:custDataLst>
              <p:tags r:id="rId10"/>
            </p:custDataLst>
          </p:nvPr>
        </p:nvSpPr>
        <p:spPr>
          <a:xfrm>
            <a:off x="7620000" y="6356350"/>
            <a:ext cx="1066800" cy="365125"/>
          </a:xfrm>
          <a:prstGeom prst="rect">
            <a:avLst/>
          </a:prstGeom>
        </p:spPr>
        <p:txBody>
          <a:bodyPr vert="horz" wrap="square" lIns="91440" tIns="45720" rIns="91440" bIns="45720" numCol="1" anchor="ctr" anchorCtr="0" compatLnSpc="1">
            <a:prstTxWarp prst="textNoShape">
              <a:avLst/>
            </a:prstTxWarp>
          </a:bodyPr>
          <a:lstStyle>
            <a:lvl2pPr lvl="1" algn="r">
              <a:defRPr>
                <a:latin typeface="Calibri" panose="020F0502020204030204" pitchFamily="34" charset="0"/>
              </a:defRPr>
            </a:lvl2pPr>
          </a:lstStyle>
          <a:p>
            <a:pPr lvl="1"/>
            <a:fld id="{7E04EAAA-BCAE-4A81-8F71-B5EE1EE34BC4}" type="slidenum">
              <a:rPr lang="en-US" altLang="en-US"/>
              <a:pPr lvl="1"/>
              <a:t>‹#›</a:t>
            </a:fld>
            <a:endParaRPr lang="en-US" altLang="en-US"/>
          </a:p>
        </p:txBody>
      </p:sp>
    </p:spTree>
  </p:cSld>
  <p:clrMap bg1="lt1" tx1="dk1" bg2="lt2" tx2="dk2" accent1="accent1" accent2="accent2" accent3="accent3" accent4="accent4" accent5="accent5" accent6="accent6" hlink="hlink" folHlink="folHlink"/>
  <p:sldLayoutIdLst>
    <p:sldLayoutId id="2147483683" r:id="rId1"/>
    <p:sldLayoutId id="2147483684" r:id="rId2"/>
    <p:sldLayoutId id="2147483681" r:id="rId3"/>
    <p:sldLayoutId id="2147483682" r:id="rId4"/>
  </p:sldLayoutIdLst>
  <p:transition/>
  <p:hf hdr="0" ftr="0" dt="0"/>
  <p:txStyles>
    <p:titleStyle>
      <a:lvl1pPr algn="ctr" rtl="0" eaLnBrk="0" fontAlgn="base" hangingPunct="0">
        <a:spcBef>
          <a:spcPct val="0"/>
        </a:spcBef>
        <a:spcAft>
          <a:spcPct val="0"/>
        </a:spcAft>
        <a:defRPr sz="4400" b="0" i="0" u="none"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b="0" i="0" u="none"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tags" Target="../tags/tag32.xml"/><Relationship Id="rId18" Type="http://schemas.openxmlformats.org/officeDocument/2006/relationships/tags" Target="../tags/tag37.xml"/><Relationship Id="rId3" Type="http://schemas.openxmlformats.org/officeDocument/2006/relationships/tags" Target="../tags/tag22.xml"/><Relationship Id="rId21" Type="http://schemas.openxmlformats.org/officeDocument/2006/relationships/notesSlide" Target="../notesSlides/notesSlide2.xml"/><Relationship Id="rId7" Type="http://schemas.openxmlformats.org/officeDocument/2006/relationships/tags" Target="../tags/tag26.xml"/><Relationship Id="rId12" Type="http://schemas.openxmlformats.org/officeDocument/2006/relationships/tags" Target="../tags/tag31.xml"/><Relationship Id="rId17" Type="http://schemas.openxmlformats.org/officeDocument/2006/relationships/tags" Target="../tags/tag36.xml"/><Relationship Id="rId2" Type="http://schemas.openxmlformats.org/officeDocument/2006/relationships/tags" Target="../tags/tag21.xml"/><Relationship Id="rId16" Type="http://schemas.openxmlformats.org/officeDocument/2006/relationships/tags" Target="../tags/tag35.xml"/><Relationship Id="rId20" Type="http://schemas.openxmlformats.org/officeDocument/2006/relationships/slideLayout" Target="../slideLayouts/slideLayout2.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tags" Target="../tags/tag30.xml"/><Relationship Id="rId5" Type="http://schemas.openxmlformats.org/officeDocument/2006/relationships/tags" Target="../tags/tag24.xml"/><Relationship Id="rId15" Type="http://schemas.openxmlformats.org/officeDocument/2006/relationships/tags" Target="../tags/tag34.xml"/><Relationship Id="rId10" Type="http://schemas.openxmlformats.org/officeDocument/2006/relationships/tags" Target="../tags/tag29.xml"/><Relationship Id="rId19" Type="http://schemas.openxmlformats.org/officeDocument/2006/relationships/tags" Target="../tags/tag38.xml"/><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tags" Target="../tags/tag33.xml"/></Relationships>
</file>

<file path=ppt/slides/_rels/slide3.xml.rels><?xml version="1.0" encoding="UTF-8" standalone="yes"?>
<Relationships xmlns="http://schemas.openxmlformats.org/package/2006/relationships"><Relationship Id="rId13" Type="http://schemas.openxmlformats.org/officeDocument/2006/relationships/tags" Target="../tags/tag51.xml"/><Relationship Id="rId18" Type="http://schemas.openxmlformats.org/officeDocument/2006/relationships/tags" Target="../tags/tag56.xml"/><Relationship Id="rId26" Type="http://schemas.openxmlformats.org/officeDocument/2006/relationships/tags" Target="../tags/tag64.xml"/><Relationship Id="rId3" Type="http://schemas.openxmlformats.org/officeDocument/2006/relationships/tags" Target="../tags/tag41.xml"/><Relationship Id="rId21" Type="http://schemas.openxmlformats.org/officeDocument/2006/relationships/tags" Target="../tags/tag59.xml"/><Relationship Id="rId7" Type="http://schemas.openxmlformats.org/officeDocument/2006/relationships/tags" Target="../tags/tag45.xml"/><Relationship Id="rId12" Type="http://schemas.openxmlformats.org/officeDocument/2006/relationships/tags" Target="../tags/tag50.xml"/><Relationship Id="rId17" Type="http://schemas.openxmlformats.org/officeDocument/2006/relationships/tags" Target="../tags/tag55.xml"/><Relationship Id="rId25" Type="http://schemas.openxmlformats.org/officeDocument/2006/relationships/tags" Target="../tags/tag63.xml"/><Relationship Id="rId33" Type="http://schemas.openxmlformats.org/officeDocument/2006/relationships/notesSlide" Target="../notesSlides/notesSlide3.xml"/><Relationship Id="rId2" Type="http://schemas.openxmlformats.org/officeDocument/2006/relationships/tags" Target="../tags/tag40.xml"/><Relationship Id="rId16" Type="http://schemas.openxmlformats.org/officeDocument/2006/relationships/tags" Target="../tags/tag54.xml"/><Relationship Id="rId20" Type="http://schemas.openxmlformats.org/officeDocument/2006/relationships/tags" Target="../tags/tag58.xml"/><Relationship Id="rId29" Type="http://schemas.openxmlformats.org/officeDocument/2006/relationships/tags" Target="../tags/tag67.xml"/><Relationship Id="rId1" Type="http://schemas.openxmlformats.org/officeDocument/2006/relationships/tags" Target="../tags/tag39.xml"/><Relationship Id="rId6" Type="http://schemas.openxmlformats.org/officeDocument/2006/relationships/tags" Target="../tags/tag44.xml"/><Relationship Id="rId11" Type="http://schemas.openxmlformats.org/officeDocument/2006/relationships/tags" Target="../tags/tag49.xml"/><Relationship Id="rId24" Type="http://schemas.openxmlformats.org/officeDocument/2006/relationships/tags" Target="../tags/tag62.xml"/><Relationship Id="rId32" Type="http://schemas.openxmlformats.org/officeDocument/2006/relationships/slideLayout" Target="../slideLayouts/slideLayout2.xml"/><Relationship Id="rId5" Type="http://schemas.openxmlformats.org/officeDocument/2006/relationships/tags" Target="../tags/tag43.xml"/><Relationship Id="rId15" Type="http://schemas.openxmlformats.org/officeDocument/2006/relationships/tags" Target="../tags/tag53.xml"/><Relationship Id="rId23" Type="http://schemas.openxmlformats.org/officeDocument/2006/relationships/tags" Target="../tags/tag61.xml"/><Relationship Id="rId28" Type="http://schemas.openxmlformats.org/officeDocument/2006/relationships/tags" Target="../tags/tag66.xml"/><Relationship Id="rId10" Type="http://schemas.openxmlformats.org/officeDocument/2006/relationships/tags" Target="../tags/tag48.xml"/><Relationship Id="rId19" Type="http://schemas.openxmlformats.org/officeDocument/2006/relationships/tags" Target="../tags/tag57.xml"/><Relationship Id="rId31" Type="http://schemas.openxmlformats.org/officeDocument/2006/relationships/tags" Target="../tags/tag69.xml"/><Relationship Id="rId4" Type="http://schemas.openxmlformats.org/officeDocument/2006/relationships/tags" Target="../tags/tag42.xml"/><Relationship Id="rId9" Type="http://schemas.openxmlformats.org/officeDocument/2006/relationships/tags" Target="../tags/tag47.xml"/><Relationship Id="rId14" Type="http://schemas.openxmlformats.org/officeDocument/2006/relationships/tags" Target="../tags/tag52.xml"/><Relationship Id="rId22" Type="http://schemas.openxmlformats.org/officeDocument/2006/relationships/tags" Target="../tags/tag60.xml"/><Relationship Id="rId27" Type="http://schemas.openxmlformats.org/officeDocument/2006/relationships/tags" Target="../tags/tag65.xml"/><Relationship Id="rId30" Type="http://schemas.openxmlformats.org/officeDocument/2006/relationships/tags" Target="../tags/tag68.xml"/><Relationship Id="rId8" Type="http://schemas.openxmlformats.org/officeDocument/2006/relationships/tags" Target="../tags/tag46.xml"/></Relationships>
</file>

<file path=ppt/slides/_rels/slide4.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tags" Target="../tags/tag73.xml"/></Relationships>
</file>

<file path=ppt/slides/_rels/slide5.xml.rels><?xml version="1.0" encoding="UTF-8" standalone="yes"?>
<Relationships xmlns="http://schemas.openxmlformats.org/package/2006/relationships"><Relationship Id="rId8" Type="http://schemas.openxmlformats.org/officeDocument/2006/relationships/tags" Target="../tags/tag81.xml"/><Relationship Id="rId13" Type="http://schemas.openxmlformats.org/officeDocument/2006/relationships/tags" Target="../tags/tag86.xml"/><Relationship Id="rId18" Type="http://schemas.openxmlformats.org/officeDocument/2006/relationships/tags" Target="../tags/tag91.xml"/><Relationship Id="rId3" Type="http://schemas.openxmlformats.org/officeDocument/2006/relationships/tags" Target="../tags/tag76.xml"/><Relationship Id="rId21" Type="http://schemas.openxmlformats.org/officeDocument/2006/relationships/notesSlide" Target="../notesSlides/notesSlide5.xml"/><Relationship Id="rId7" Type="http://schemas.openxmlformats.org/officeDocument/2006/relationships/tags" Target="../tags/tag80.xml"/><Relationship Id="rId12" Type="http://schemas.openxmlformats.org/officeDocument/2006/relationships/tags" Target="../tags/tag85.xml"/><Relationship Id="rId17" Type="http://schemas.openxmlformats.org/officeDocument/2006/relationships/tags" Target="../tags/tag90.xml"/><Relationship Id="rId2" Type="http://schemas.openxmlformats.org/officeDocument/2006/relationships/tags" Target="../tags/tag75.xml"/><Relationship Id="rId16" Type="http://schemas.openxmlformats.org/officeDocument/2006/relationships/tags" Target="../tags/tag89.xml"/><Relationship Id="rId20" Type="http://schemas.openxmlformats.org/officeDocument/2006/relationships/slideLayout" Target="../slideLayouts/slideLayout2.xml"/><Relationship Id="rId1" Type="http://schemas.openxmlformats.org/officeDocument/2006/relationships/tags" Target="../tags/tag74.xml"/><Relationship Id="rId6" Type="http://schemas.openxmlformats.org/officeDocument/2006/relationships/tags" Target="../tags/tag79.xml"/><Relationship Id="rId11" Type="http://schemas.openxmlformats.org/officeDocument/2006/relationships/tags" Target="../tags/tag84.xml"/><Relationship Id="rId5" Type="http://schemas.openxmlformats.org/officeDocument/2006/relationships/tags" Target="../tags/tag78.xml"/><Relationship Id="rId15" Type="http://schemas.openxmlformats.org/officeDocument/2006/relationships/tags" Target="../tags/tag88.xml"/><Relationship Id="rId10" Type="http://schemas.openxmlformats.org/officeDocument/2006/relationships/tags" Target="../tags/tag83.xml"/><Relationship Id="rId19" Type="http://schemas.openxmlformats.org/officeDocument/2006/relationships/tags" Target="../tags/tag92.xml"/><Relationship Id="rId4" Type="http://schemas.openxmlformats.org/officeDocument/2006/relationships/tags" Target="../tags/tag77.xml"/><Relationship Id="rId9" Type="http://schemas.openxmlformats.org/officeDocument/2006/relationships/tags" Target="../tags/tag82.xml"/><Relationship Id="rId14" Type="http://schemas.openxmlformats.org/officeDocument/2006/relationships/tags" Target="../tags/tag87.xml"/><Relationship Id="rId22"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tags" Target="../tags/tag95.xml"/><Relationship Id="rId7" Type="http://schemas.openxmlformats.org/officeDocument/2006/relationships/image" Target="../media/image3.wmf"/><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tags" Target="../tags/tag96.xml"/></Relationships>
</file>

<file path=ppt/slides/_rels/slide7.xml.rels><?xml version="1.0" encoding="UTF-8" standalone="yes"?>
<Relationships xmlns="http://schemas.openxmlformats.org/package/2006/relationships"><Relationship Id="rId8" Type="http://schemas.openxmlformats.org/officeDocument/2006/relationships/tags" Target="../tags/tag104.xml"/><Relationship Id="rId13" Type="http://schemas.openxmlformats.org/officeDocument/2006/relationships/tags" Target="../tags/tag109.xml"/><Relationship Id="rId18" Type="http://schemas.openxmlformats.org/officeDocument/2006/relationships/tags" Target="../tags/tag114.xml"/><Relationship Id="rId3" Type="http://schemas.openxmlformats.org/officeDocument/2006/relationships/tags" Target="../tags/tag99.xml"/><Relationship Id="rId21" Type="http://schemas.openxmlformats.org/officeDocument/2006/relationships/tags" Target="../tags/tag117.xml"/><Relationship Id="rId7" Type="http://schemas.openxmlformats.org/officeDocument/2006/relationships/tags" Target="../tags/tag103.xml"/><Relationship Id="rId12" Type="http://schemas.openxmlformats.org/officeDocument/2006/relationships/tags" Target="../tags/tag108.xml"/><Relationship Id="rId17" Type="http://schemas.openxmlformats.org/officeDocument/2006/relationships/tags" Target="../tags/tag113.xml"/><Relationship Id="rId25" Type="http://schemas.openxmlformats.org/officeDocument/2006/relationships/notesSlide" Target="../notesSlides/notesSlide7.xml"/><Relationship Id="rId2" Type="http://schemas.openxmlformats.org/officeDocument/2006/relationships/tags" Target="../tags/tag98.xml"/><Relationship Id="rId16" Type="http://schemas.openxmlformats.org/officeDocument/2006/relationships/tags" Target="../tags/tag112.xml"/><Relationship Id="rId20" Type="http://schemas.openxmlformats.org/officeDocument/2006/relationships/tags" Target="../tags/tag116.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tags" Target="../tags/tag107.xml"/><Relationship Id="rId24" Type="http://schemas.openxmlformats.org/officeDocument/2006/relationships/slideLayout" Target="../slideLayouts/slideLayout2.xml"/><Relationship Id="rId5" Type="http://schemas.openxmlformats.org/officeDocument/2006/relationships/tags" Target="../tags/tag101.xml"/><Relationship Id="rId15" Type="http://schemas.openxmlformats.org/officeDocument/2006/relationships/tags" Target="../tags/tag111.xml"/><Relationship Id="rId23" Type="http://schemas.openxmlformats.org/officeDocument/2006/relationships/tags" Target="../tags/tag119.xml"/><Relationship Id="rId10" Type="http://schemas.openxmlformats.org/officeDocument/2006/relationships/tags" Target="../tags/tag106.xml"/><Relationship Id="rId19" Type="http://schemas.openxmlformats.org/officeDocument/2006/relationships/tags" Target="../tags/tag115.xml"/><Relationship Id="rId4" Type="http://schemas.openxmlformats.org/officeDocument/2006/relationships/tags" Target="../tags/tag100.xml"/><Relationship Id="rId9" Type="http://schemas.openxmlformats.org/officeDocument/2006/relationships/tags" Target="../tags/tag105.xml"/><Relationship Id="rId14" Type="http://schemas.openxmlformats.org/officeDocument/2006/relationships/tags" Target="../tags/tag110.xml"/><Relationship Id="rId22" Type="http://schemas.openxmlformats.org/officeDocument/2006/relationships/tags" Target="../tags/tag118.xml"/></Relationships>
</file>

<file path=ppt/slides/_rels/slide8.xml.rels><?xml version="1.0" encoding="UTF-8" standalone="yes"?>
<Relationships xmlns="http://schemas.openxmlformats.org/package/2006/relationships"><Relationship Id="rId8" Type="http://schemas.openxmlformats.org/officeDocument/2006/relationships/tags" Target="../tags/tag127.xml"/><Relationship Id="rId13" Type="http://schemas.openxmlformats.org/officeDocument/2006/relationships/tags" Target="../tags/tag132.xml"/><Relationship Id="rId18" Type="http://schemas.openxmlformats.org/officeDocument/2006/relationships/tags" Target="../tags/tag137.xml"/><Relationship Id="rId26" Type="http://schemas.openxmlformats.org/officeDocument/2006/relationships/tags" Target="../tags/tag145.xml"/><Relationship Id="rId3" Type="http://schemas.openxmlformats.org/officeDocument/2006/relationships/tags" Target="../tags/tag122.xml"/><Relationship Id="rId21" Type="http://schemas.openxmlformats.org/officeDocument/2006/relationships/tags" Target="../tags/tag140.xml"/><Relationship Id="rId7" Type="http://schemas.openxmlformats.org/officeDocument/2006/relationships/tags" Target="../tags/tag126.xml"/><Relationship Id="rId12" Type="http://schemas.openxmlformats.org/officeDocument/2006/relationships/tags" Target="../tags/tag131.xml"/><Relationship Id="rId17" Type="http://schemas.openxmlformats.org/officeDocument/2006/relationships/tags" Target="../tags/tag136.xml"/><Relationship Id="rId25" Type="http://schemas.openxmlformats.org/officeDocument/2006/relationships/tags" Target="../tags/tag144.xml"/><Relationship Id="rId2" Type="http://schemas.openxmlformats.org/officeDocument/2006/relationships/tags" Target="../tags/tag121.xml"/><Relationship Id="rId16" Type="http://schemas.openxmlformats.org/officeDocument/2006/relationships/tags" Target="../tags/tag135.xml"/><Relationship Id="rId20" Type="http://schemas.openxmlformats.org/officeDocument/2006/relationships/tags" Target="../tags/tag139.xml"/><Relationship Id="rId29" Type="http://schemas.openxmlformats.org/officeDocument/2006/relationships/notesSlide" Target="../notesSlides/notesSlide8.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tags" Target="../tags/tag130.xml"/><Relationship Id="rId24" Type="http://schemas.openxmlformats.org/officeDocument/2006/relationships/tags" Target="../tags/tag143.xml"/><Relationship Id="rId5" Type="http://schemas.openxmlformats.org/officeDocument/2006/relationships/tags" Target="../tags/tag124.xml"/><Relationship Id="rId15" Type="http://schemas.openxmlformats.org/officeDocument/2006/relationships/tags" Target="../tags/tag134.xml"/><Relationship Id="rId23" Type="http://schemas.openxmlformats.org/officeDocument/2006/relationships/tags" Target="../tags/tag142.xml"/><Relationship Id="rId28" Type="http://schemas.openxmlformats.org/officeDocument/2006/relationships/slideLayout" Target="../slideLayouts/slideLayout2.xml"/><Relationship Id="rId10" Type="http://schemas.openxmlformats.org/officeDocument/2006/relationships/tags" Target="../tags/tag129.xml"/><Relationship Id="rId19" Type="http://schemas.openxmlformats.org/officeDocument/2006/relationships/tags" Target="../tags/tag138.xml"/><Relationship Id="rId4" Type="http://schemas.openxmlformats.org/officeDocument/2006/relationships/tags" Target="../tags/tag123.xml"/><Relationship Id="rId9" Type="http://schemas.openxmlformats.org/officeDocument/2006/relationships/tags" Target="../tags/tag128.xml"/><Relationship Id="rId14" Type="http://schemas.openxmlformats.org/officeDocument/2006/relationships/tags" Target="../tags/tag133.xml"/><Relationship Id="rId22" Type="http://schemas.openxmlformats.org/officeDocument/2006/relationships/tags" Target="../tags/tag141.xml"/><Relationship Id="rId27" Type="http://schemas.openxmlformats.org/officeDocument/2006/relationships/tags" Target="../tags/tag146.xml"/></Relationships>
</file>

<file path=ppt/slides/_rels/slide9.xml.rels><?xml version="1.0" encoding="UTF-8" standalone="yes"?>
<Relationships xmlns="http://schemas.openxmlformats.org/package/2006/relationships"><Relationship Id="rId3" Type="http://schemas.openxmlformats.org/officeDocument/2006/relationships/tags" Target="../tags/tag149.xml"/><Relationship Id="rId2" Type="http://schemas.openxmlformats.org/officeDocument/2006/relationships/tags" Target="../tags/tag148.xml"/><Relationship Id="rId1" Type="http://schemas.openxmlformats.org/officeDocument/2006/relationships/tags" Target="../tags/tag147.xml"/><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tags" Target="../tags/tag150.xml"/></Relationships>
</file>

<file path=ppt/slides/_rels/slide10.xml.rels><?xml version="1.0" encoding="UTF-8" standalone="yes"?>
<Relationships xmlns="http://schemas.openxmlformats.org/package/2006/relationships"><Relationship Id="rId3" Type="http://schemas.openxmlformats.org/officeDocument/2006/relationships/tags" Target="../tags/tag153.xml"/><Relationship Id="rId2" Type="http://schemas.openxmlformats.org/officeDocument/2006/relationships/tags" Target="../tags/tag152.xml"/><Relationship Id="rId1" Type="http://schemas.openxmlformats.org/officeDocument/2006/relationships/tags" Target="../tags/tag151.xml"/><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tags" Target="../tags/tag154.xml"/></Relationships>
</file>

<file path=ppt/slides/_rels/slide11.xml.rels><?xml version="1.0" encoding="UTF-8" standalone="yes"?>
<Relationships xmlns="http://schemas.openxmlformats.org/package/2006/relationships"><Relationship Id="rId3" Type="http://schemas.openxmlformats.org/officeDocument/2006/relationships/tags" Target="../tags/tag157.xml"/><Relationship Id="rId2" Type="http://schemas.openxmlformats.org/officeDocument/2006/relationships/tags" Target="../tags/tag156.xml"/><Relationship Id="rId1" Type="http://schemas.openxmlformats.org/officeDocument/2006/relationships/tags" Target="../tags/tag155.xml"/><Relationship Id="rId6" Type="http://schemas.openxmlformats.org/officeDocument/2006/relationships/notesSlide" Target="../notesSlides/notesSlide11.xml"/><Relationship Id="rId5" Type="http://schemas.openxmlformats.org/officeDocument/2006/relationships/slideLayout" Target="../slideLayouts/slideLayout2.xml"/><Relationship Id="rId4" Type="http://schemas.openxmlformats.org/officeDocument/2006/relationships/tags" Target="../tags/tag158.xml"/></Relationships>
</file>

<file path=ppt/slides/_rels/slide12.xml.rels><?xml version="1.0" encoding="UTF-8" standalone="yes"?>
<Relationships xmlns="http://schemas.openxmlformats.org/package/2006/relationships"><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tags" Target="../tags/tag162.xml"/></Relationships>
</file>

<file path=ppt/slides/_rels/slide13.xml.rels><?xml version="1.0" encoding="UTF-8" standalone="yes"?>
<Relationships xmlns="http://schemas.openxmlformats.org/package/2006/relationships"><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tags" Target="../tags/tag166.xml"/></Relationships>
</file>

<file path=ppt/slides/_rels/slide14.xml.rels><?xml version="1.0" encoding="UTF-8" standalone="yes"?>
<Relationships xmlns="http://schemas.openxmlformats.org/package/2006/relationships"><Relationship Id="rId3" Type="http://schemas.openxmlformats.org/officeDocument/2006/relationships/tags" Target="../tags/tag169.xml"/><Relationship Id="rId2" Type="http://schemas.openxmlformats.org/officeDocument/2006/relationships/tags" Target="../tags/tag168.xml"/><Relationship Id="rId1" Type="http://schemas.openxmlformats.org/officeDocument/2006/relationships/tags" Target="../tags/tag167.xml"/><Relationship Id="rId6" Type="http://schemas.openxmlformats.org/officeDocument/2006/relationships/notesSlide" Target="../notesSlides/notesSlide14.xml"/><Relationship Id="rId5" Type="http://schemas.openxmlformats.org/officeDocument/2006/relationships/slideLayout" Target="../slideLayouts/slideLayout2.xml"/><Relationship Id="rId4" Type="http://schemas.openxmlformats.org/officeDocument/2006/relationships/tags" Target="../tags/tag170.xml"/></Relationships>
</file>

<file path=ppt/slides/_rels/slide15.xml.rels><?xml version="1.0" encoding="UTF-8" standalone="yes"?>
<Relationships xmlns="http://schemas.openxmlformats.org/package/2006/relationships"><Relationship Id="rId8" Type="http://schemas.openxmlformats.org/officeDocument/2006/relationships/tags" Target="../tags/tag178.xml"/><Relationship Id="rId13" Type="http://schemas.openxmlformats.org/officeDocument/2006/relationships/tags" Target="../tags/tag183.xml"/><Relationship Id="rId18" Type="http://schemas.openxmlformats.org/officeDocument/2006/relationships/notesSlide" Target="../notesSlides/notesSlide15.xml"/><Relationship Id="rId3" Type="http://schemas.openxmlformats.org/officeDocument/2006/relationships/tags" Target="../tags/tag173.xml"/><Relationship Id="rId7" Type="http://schemas.openxmlformats.org/officeDocument/2006/relationships/tags" Target="../tags/tag177.xml"/><Relationship Id="rId12" Type="http://schemas.openxmlformats.org/officeDocument/2006/relationships/tags" Target="../tags/tag182.xml"/><Relationship Id="rId17" Type="http://schemas.openxmlformats.org/officeDocument/2006/relationships/slideLayout" Target="../slideLayouts/slideLayout2.xml"/><Relationship Id="rId2" Type="http://schemas.openxmlformats.org/officeDocument/2006/relationships/tags" Target="../tags/tag172.xml"/><Relationship Id="rId16" Type="http://schemas.openxmlformats.org/officeDocument/2006/relationships/tags" Target="../tags/tag186.xml"/><Relationship Id="rId1" Type="http://schemas.openxmlformats.org/officeDocument/2006/relationships/tags" Target="../tags/tag171.xml"/><Relationship Id="rId6" Type="http://schemas.openxmlformats.org/officeDocument/2006/relationships/tags" Target="../tags/tag176.xml"/><Relationship Id="rId11" Type="http://schemas.openxmlformats.org/officeDocument/2006/relationships/tags" Target="../tags/tag181.xml"/><Relationship Id="rId5" Type="http://schemas.openxmlformats.org/officeDocument/2006/relationships/tags" Target="../tags/tag175.xml"/><Relationship Id="rId15" Type="http://schemas.openxmlformats.org/officeDocument/2006/relationships/tags" Target="../tags/tag185.xml"/><Relationship Id="rId10" Type="http://schemas.openxmlformats.org/officeDocument/2006/relationships/tags" Target="../tags/tag180.xml"/><Relationship Id="rId4" Type="http://schemas.openxmlformats.org/officeDocument/2006/relationships/tags" Target="../tags/tag174.xml"/><Relationship Id="rId9" Type="http://schemas.openxmlformats.org/officeDocument/2006/relationships/tags" Target="../tags/tag179.xml"/><Relationship Id="rId14" Type="http://schemas.openxmlformats.org/officeDocument/2006/relationships/tags" Target="../tags/tag184.xml"/></Relationships>
</file>

<file path=ppt/slides/_rels/slide16.xml.rels><?xml version="1.0" encoding="UTF-8" standalone="yes"?>
<Relationships xmlns="http://schemas.openxmlformats.org/package/2006/relationships"><Relationship Id="rId8" Type="http://schemas.openxmlformats.org/officeDocument/2006/relationships/tags" Target="../tags/tag194.xml"/><Relationship Id="rId13" Type="http://schemas.openxmlformats.org/officeDocument/2006/relationships/tags" Target="../tags/tag199.xml"/><Relationship Id="rId18" Type="http://schemas.openxmlformats.org/officeDocument/2006/relationships/tags" Target="../tags/tag204.xml"/><Relationship Id="rId26" Type="http://schemas.openxmlformats.org/officeDocument/2006/relationships/tags" Target="../tags/tag212.xml"/><Relationship Id="rId3" Type="http://schemas.openxmlformats.org/officeDocument/2006/relationships/tags" Target="../tags/tag189.xml"/><Relationship Id="rId21" Type="http://schemas.openxmlformats.org/officeDocument/2006/relationships/tags" Target="../tags/tag207.xml"/><Relationship Id="rId7" Type="http://schemas.openxmlformats.org/officeDocument/2006/relationships/tags" Target="../tags/tag193.xml"/><Relationship Id="rId12" Type="http://schemas.openxmlformats.org/officeDocument/2006/relationships/tags" Target="../tags/tag198.xml"/><Relationship Id="rId17" Type="http://schemas.openxmlformats.org/officeDocument/2006/relationships/tags" Target="../tags/tag203.xml"/><Relationship Id="rId25" Type="http://schemas.openxmlformats.org/officeDocument/2006/relationships/tags" Target="../tags/tag211.xml"/><Relationship Id="rId2" Type="http://schemas.openxmlformats.org/officeDocument/2006/relationships/tags" Target="../tags/tag188.xml"/><Relationship Id="rId16" Type="http://schemas.openxmlformats.org/officeDocument/2006/relationships/tags" Target="../tags/tag202.xml"/><Relationship Id="rId20" Type="http://schemas.openxmlformats.org/officeDocument/2006/relationships/tags" Target="../tags/tag206.xml"/><Relationship Id="rId29" Type="http://schemas.openxmlformats.org/officeDocument/2006/relationships/slideLayout" Target="../slideLayouts/slideLayout2.xml"/><Relationship Id="rId1" Type="http://schemas.openxmlformats.org/officeDocument/2006/relationships/tags" Target="../tags/tag187.xml"/><Relationship Id="rId6" Type="http://schemas.openxmlformats.org/officeDocument/2006/relationships/tags" Target="../tags/tag192.xml"/><Relationship Id="rId11" Type="http://schemas.openxmlformats.org/officeDocument/2006/relationships/tags" Target="../tags/tag197.xml"/><Relationship Id="rId24" Type="http://schemas.openxmlformats.org/officeDocument/2006/relationships/tags" Target="../tags/tag210.xml"/><Relationship Id="rId5" Type="http://schemas.openxmlformats.org/officeDocument/2006/relationships/tags" Target="../tags/tag191.xml"/><Relationship Id="rId15" Type="http://schemas.openxmlformats.org/officeDocument/2006/relationships/tags" Target="../tags/tag201.xml"/><Relationship Id="rId23" Type="http://schemas.openxmlformats.org/officeDocument/2006/relationships/tags" Target="../tags/tag209.xml"/><Relationship Id="rId28" Type="http://schemas.openxmlformats.org/officeDocument/2006/relationships/tags" Target="../tags/tag214.xml"/><Relationship Id="rId10" Type="http://schemas.openxmlformats.org/officeDocument/2006/relationships/tags" Target="../tags/tag196.xml"/><Relationship Id="rId19" Type="http://schemas.openxmlformats.org/officeDocument/2006/relationships/tags" Target="../tags/tag205.xml"/><Relationship Id="rId4" Type="http://schemas.openxmlformats.org/officeDocument/2006/relationships/tags" Target="../tags/tag190.xml"/><Relationship Id="rId9" Type="http://schemas.openxmlformats.org/officeDocument/2006/relationships/tags" Target="../tags/tag195.xml"/><Relationship Id="rId14" Type="http://schemas.openxmlformats.org/officeDocument/2006/relationships/tags" Target="../tags/tag200.xml"/><Relationship Id="rId22" Type="http://schemas.openxmlformats.org/officeDocument/2006/relationships/tags" Target="../tags/tag208.xml"/><Relationship Id="rId27" Type="http://schemas.openxmlformats.org/officeDocument/2006/relationships/tags" Target="../tags/tag213.xml"/><Relationship Id="rId3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3" Type="http://schemas.openxmlformats.org/officeDocument/2006/relationships/tags" Target="../tags/tag227.xml"/><Relationship Id="rId18" Type="http://schemas.openxmlformats.org/officeDocument/2006/relationships/tags" Target="../tags/tag232.xml"/><Relationship Id="rId26" Type="http://schemas.openxmlformats.org/officeDocument/2006/relationships/tags" Target="../tags/tag240.xml"/><Relationship Id="rId3" Type="http://schemas.openxmlformats.org/officeDocument/2006/relationships/tags" Target="../tags/tag217.xml"/><Relationship Id="rId21" Type="http://schemas.openxmlformats.org/officeDocument/2006/relationships/tags" Target="../tags/tag235.xml"/><Relationship Id="rId7" Type="http://schemas.openxmlformats.org/officeDocument/2006/relationships/tags" Target="../tags/tag221.xml"/><Relationship Id="rId12" Type="http://schemas.openxmlformats.org/officeDocument/2006/relationships/tags" Target="../tags/tag226.xml"/><Relationship Id="rId17" Type="http://schemas.openxmlformats.org/officeDocument/2006/relationships/tags" Target="../tags/tag231.xml"/><Relationship Id="rId25" Type="http://schemas.openxmlformats.org/officeDocument/2006/relationships/tags" Target="../tags/tag239.xml"/><Relationship Id="rId33" Type="http://schemas.openxmlformats.org/officeDocument/2006/relationships/notesSlide" Target="../notesSlides/notesSlide17.xml"/><Relationship Id="rId2" Type="http://schemas.openxmlformats.org/officeDocument/2006/relationships/tags" Target="../tags/tag216.xml"/><Relationship Id="rId16" Type="http://schemas.openxmlformats.org/officeDocument/2006/relationships/tags" Target="../tags/tag230.xml"/><Relationship Id="rId20" Type="http://schemas.openxmlformats.org/officeDocument/2006/relationships/tags" Target="../tags/tag234.xml"/><Relationship Id="rId29" Type="http://schemas.openxmlformats.org/officeDocument/2006/relationships/tags" Target="../tags/tag243.xml"/><Relationship Id="rId1" Type="http://schemas.openxmlformats.org/officeDocument/2006/relationships/tags" Target="../tags/tag215.xml"/><Relationship Id="rId6" Type="http://schemas.openxmlformats.org/officeDocument/2006/relationships/tags" Target="../tags/tag220.xml"/><Relationship Id="rId11" Type="http://schemas.openxmlformats.org/officeDocument/2006/relationships/tags" Target="../tags/tag225.xml"/><Relationship Id="rId24" Type="http://schemas.openxmlformats.org/officeDocument/2006/relationships/tags" Target="../tags/tag238.xml"/><Relationship Id="rId32" Type="http://schemas.openxmlformats.org/officeDocument/2006/relationships/slideLayout" Target="../slideLayouts/slideLayout2.xml"/><Relationship Id="rId5" Type="http://schemas.openxmlformats.org/officeDocument/2006/relationships/tags" Target="../tags/tag219.xml"/><Relationship Id="rId15" Type="http://schemas.openxmlformats.org/officeDocument/2006/relationships/tags" Target="../tags/tag229.xml"/><Relationship Id="rId23" Type="http://schemas.openxmlformats.org/officeDocument/2006/relationships/tags" Target="../tags/tag237.xml"/><Relationship Id="rId28" Type="http://schemas.openxmlformats.org/officeDocument/2006/relationships/tags" Target="../tags/tag242.xml"/><Relationship Id="rId10" Type="http://schemas.openxmlformats.org/officeDocument/2006/relationships/tags" Target="../tags/tag224.xml"/><Relationship Id="rId19" Type="http://schemas.openxmlformats.org/officeDocument/2006/relationships/tags" Target="../tags/tag233.xml"/><Relationship Id="rId31" Type="http://schemas.openxmlformats.org/officeDocument/2006/relationships/tags" Target="../tags/tag245.xml"/><Relationship Id="rId4" Type="http://schemas.openxmlformats.org/officeDocument/2006/relationships/tags" Target="../tags/tag218.xml"/><Relationship Id="rId9" Type="http://schemas.openxmlformats.org/officeDocument/2006/relationships/tags" Target="../tags/tag223.xml"/><Relationship Id="rId14" Type="http://schemas.openxmlformats.org/officeDocument/2006/relationships/tags" Target="../tags/tag228.xml"/><Relationship Id="rId22" Type="http://schemas.openxmlformats.org/officeDocument/2006/relationships/tags" Target="../tags/tag236.xml"/><Relationship Id="rId27" Type="http://schemas.openxmlformats.org/officeDocument/2006/relationships/tags" Target="../tags/tag241.xml"/><Relationship Id="rId30" Type="http://schemas.openxmlformats.org/officeDocument/2006/relationships/tags" Target="../tags/tag244.xml"/><Relationship Id="rId8" Type="http://schemas.openxmlformats.org/officeDocument/2006/relationships/tags" Target="../tags/tag222.xml"/></Relationships>
</file>

<file path=ppt/slides/_rels/slide18.xml.rels><?xml version="1.0" encoding="UTF-8" standalone="yes"?>
<Relationships xmlns="http://schemas.openxmlformats.org/package/2006/relationships"><Relationship Id="rId13" Type="http://schemas.openxmlformats.org/officeDocument/2006/relationships/tags" Target="../tags/tag258.xml"/><Relationship Id="rId18" Type="http://schemas.openxmlformats.org/officeDocument/2006/relationships/tags" Target="../tags/tag263.xml"/><Relationship Id="rId26" Type="http://schemas.openxmlformats.org/officeDocument/2006/relationships/tags" Target="../tags/tag271.xml"/><Relationship Id="rId3" Type="http://schemas.openxmlformats.org/officeDocument/2006/relationships/tags" Target="../tags/tag248.xml"/><Relationship Id="rId21" Type="http://schemas.openxmlformats.org/officeDocument/2006/relationships/tags" Target="../tags/tag266.xml"/><Relationship Id="rId34" Type="http://schemas.openxmlformats.org/officeDocument/2006/relationships/slideLayout" Target="../slideLayouts/slideLayout2.xml"/><Relationship Id="rId7" Type="http://schemas.openxmlformats.org/officeDocument/2006/relationships/tags" Target="../tags/tag252.xml"/><Relationship Id="rId12" Type="http://schemas.openxmlformats.org/officeDocument/2006/relationships/tags" Target="../tags/tag257.xml"/><Relationship Id="rId17" Type="http://schemas.openxmlformats.org/officeDocument/2006/relationships/tags" Target="../tags/tag262.xml"/><Relationship Id="rId25" Type="http://schemas.openxmlformats.org/officeDocument/2006/relationships/tags" Target="../tags/tag270.xml"/><Relationship Id="rId33" Type="http://schemas.openxmlformats.org/officeDocument/2006/relationships/tags" Target="../tags/tag278.xml"/><Relationship Id="rId2" Type="http://schemas.openxmlformats.org/officeDocument/2006/relationships/tags" Target="../tags/tag247.xml"/><Relationship Id="rId16" Type="http://schemas.openxmlformats.org/officeDocument/2006/relationships/tags" Target="../tags/tag261.xml"/><Relationship Id="rId20" Type="http://schemas.openxmlformats.org/officeDocument/2006/relationships/tags" Target="../tags/tag265.xml"/><Relationship Id="rId29" Type="http://schemas.openxmlformats.org/officeDocument/2006/relationships/tags" Target="../tags/tag274.xml"/><Relationship Id="rId1" Type="http://schemas.openxmlformats.org/officeDocument/2006/relationships/tags" Target="../tags/tag246.xml"/><Relationship Id="rId6" Type="http://schemas.openxmlformats.org/officeDocument/2006/relationships/tags" Target="../tags/tag251.xml"/><Relationship Id="rId11" Type="http://schemas.openxmlformats.org/officeDocument/2006/relationships/tags" Target="../tags/tag256.xml"/><Relationship Id="rId24" Type="http://schemas.openxmlformats.org/officeDocument/2006/relationships/tags" Target="../tags/tag269.xml"/><Relationship Id="rId32" Type="http://schemas.openxmlformats.org/officeDocument/2006/relationships/tags" Target="../tags/tag277.xml"/><Relationship Id="rId5" Type="http://schemas.openxmlformats.org/officeDocument/2006/relationships/tags" Target="../tags/tag250.xml"/><Relationship Id="rId15" Type="http://schemas.openxmlformats.org/officeDocument/2006/relationships/tags" Target="../tags/tag260.xml"/><Relationship Id="rId23" Type="http://schemas.openxmlformats.org/officeDocument/2006/relationships/tags" Target="../tags/tag268.xml"/><Relationship Id="rId28" Type="http://schemas.openxmlformats.org/officeDocument/2006/relationships/tags" Target="../tags/tag273.xml"/><Relationship Id="rId10" Type="http://schemas.openxmlformats.org/officeDocument/2006/relationships/tags" Target="../tags/tag255.xml"/><Relationship Id="rId19" Type="http://schemas.openxmlformats.org/officeDocument/2006/relationships/tags" Target="../tags/tag264.xml"/><Relationship Id="rId31" Type="http://schemas.openxmlformats.org/officeDocument/2006/relationships/tags" Target="../tags/tag276.xml"/><Relationship Id="rId4" Type="http://schemas.openxmlformats.org/officeDocument/2006/relationships/tags" Target="../tags/tag249.xml"/><Relationship Id="rId9" Type="http://schemas.openxmlformats.org/officeDocument/2006/relationships/tags" Target="../tags/tag254.xml"/><Relationship Id="rId14" Type="http://schemas.openxmlformats.org/officeDocument/2006/relationships/tags" Target="../tags/tag259.xml"/><Relationship Id="rId22" Type="http://schemas.openxmlformats.org/officeDocument/2006/relationships/tags" Target="../tags/tag267.xml"/><Relationship Id="rId27" Type="http://schemas.openxmlformats.org/officeDocument/2006/relationships/tags" Target="../tags/tag272.xml"/><Relationship Id="rId30" Type="http://schemas.openxmlformats.org/officeDocument/2006/relationships/tags" Target="../tags/tag275.xml"/><Relationship Id="rId35" Type="http://schemas.openxmlformats.org/officeDocument/2006/relationships/notesSlide" Target="../notesSlides/notesSlide18.xml"/><Relationship Id="rId8" Type="http://schemas.openxmlformats.org/officeDocument/2006/relationships/tags" Target="../tags/tag253.xml"/></Relationships>
</file>

<file path=ppt/slides/_rels/slide19.xml.rels><?xml version="1.0" encoding="UTF-8" standalone="yes"?>
<Relationships xmlns="http://schemas.openxmlformats.org/package/2006/relationships"><Relationship Id="rId13" Type="http://schemas.openxmlformats.org/officeDocument/2006/relationships/tags" Target="../tags/tag291.xml"/><Relationship Id="rId18" Type="http://schemas.openxmlformats.org/officeDocument/2006/relationships/tags" Target="../tags/tag296.xml"/><Relationship Id="rId26" Type="http://schemas.openxmlformats.org/officeDocument/2006/relationships/tags" Target="../tags/tag304.xml"/><Relationship Id="rId39" Type="http://schemas.openxmlformats.org/officeDocument/2006/relationships/slideLayout" Target="../slideLayouts/slideLayout2.xml"/><Relationship Id="rId21" Type="http://schemas.openxmlformats.org/officeDocument/2006/relationships/tags" Target="../tags/tag299.xml"/><Relationship Id="rId34" Type="http://schemas.openxmlformats.org/officeDocument/2006/relationships/tags" Target="../tags/tag312.xml"/><Relationship Id="rId7" Type="http://schemas.openxmlformats.org/officeDocument/2006/relationships/tags" Target="../tags/tag285.xml"/><Relationship Id="rId12" Type="http://schemas.openxmlformats.org/officeDocument/2006/relationships/tags" Target="../tags/tag290.xml"/><Relationship Id="rId17" Type="http://schemas.openxmlformats.org/officeDocument/2006/relationships/tags" Target="../tags/tag295.xml"/><Relationship Id="rId25" Type="http://schemas.openxmlformats.org/officeDocument/2006/relationships/tags" Target="../tags/tag303.xml"/><Relationship Id="rId33" Type="http://schemas.openxmlformats.org/officeDocument/2006/relationships/tags" Target="../tags/tag311.xml"/><Relationship Id="rId38" Type="http://schemas.openxmlformats.org/officeDocument/2006/relationships/tags" Target="../tags/tag316.xml"/><Relationship Id="rId2" Type="http://schemas.openxmlformats.org/officeDocument/2006/relationships/tags" Target="../tags/tag280.xml"/><Relationship Id="rId16" Type="http://schemas.openxmlformats.org/officeDocument/2006/relationships/tags" Target="../tags/tag294.xml"/><Relationship Id="rId20" Type="http://schemas.openxmlformats.org/officeDocument/2006/relationships/tags" Target="../tags/tag298.xml"/><Relationship Id="rId29" Type="http://schemas.openxmlformats.org/officeDocument/2006/relationships/tags" Target="../tags/tag307.xml"/><Relationship Id="rId1" Type="http://schemas.openxmlformats.org/officeDocument/2006/relationships/tags" Target="../tags/tag279.xml"/><Relationship Id="rId6" Type="http://schemas.openxmlformats.org/officeDocument/2006/relationships/tags" Target="../tags/tag284.xml"/><Relationship Id="rId11" Type="http://schemas.openxmlformats.org/officeDocument/2006/relationships/tags" Target="../tags/tag289.xml"/><Relationship Id="rId24" Type="http://schemas.openxmlformats.org/officeDocument/2006/relationships/tags" Target="../tags/tag302.xml"/><Relationship Id="rId32" Type="http://schemas.openxmlformats.org/officeDocument/2006/relationships/tags" Target="../tags/tag310.xml"/><Relationship Id="rId37" Type="http://schemas.openxmlformats.org/officeDocument/2006/relationships/tags" Target="../tags/tag315.xml"/><Relationship Id="rId40" Type="http://schemas.openxmlformats.org/officeDocument/2006/relationships/notesSlide" Target="../notesSlides/notesSlide19.xml"/><Relationship Id="rId5" Type="http://schemas.openxmlformats.org/officeDocument/2006/relationships/tags" Target="../tags/tag283.xml"/><Relationship Id="rId15" Type="http://schemas.openxmlformats.org/officeDocument/2006/relationships/tags" Target="../tags/tag293.xml"/><Relationship Id="rId23" Type="http://schemas.openxmlformats.org/officeDocument/2006/relationships/tags" Target="../tags/tag301.xml"/><Relationship Id="rId28" Type="http://schemas.openxmlformats.org/officeDocument/2006/relationships/tags" Target="../tags/tag306.xml"/><Relationship Id="rId36" Type="http://schemas.openxmlformats.org/officeDocument/2006/relationships/tags" Target="../tags/tag314.xml"/><Relationship Id="rId10" Type="http://schemas.openxmlformats.org/officeDocument/2006/relationships/tags" Target="../tags/tag288.xml"/><Relationship Id="rId19" Type="http://schemas.openxmlformats.org/officeDocument/2006/relationships/tags" Target="../tags/tag297.xml"/><Relationship Id="rId31" Type="http://schemas.openxmlformats.org/officeDocument/2006/relationships/tags" Target="../tags/tag309.xml"/><Relationship Id="rId4" Type="http://schemas.openxmlformats.org/officeDocument/2006/relationships/tags" Target="../tags/tag282.xml"/><Relationship Id="rId9" Type="http://schemas.openxmlformats.org/officeDocument/2006/relationships/tags" Target="../tags/tag287.xml"/><Relationship Id="rId14" Type="http://schemas.openxmlformats.org/officeDocument/2006/relationships/tags" Target="../tags/tag292.xml"/><Relationship Id="rId22" Type="http://schemas.openxmlformats.org/officeDocument/2006/relationships/tags" Target="../tags/tag300.xml"/><Relationship Id="rId27" Type="http://schemas.openxmlformats.org/officeDocument/2006/relationships/tags" Target="../tags/tag305.xml"/><Relationship Id="rId30" Type="http://schemas.openxmlformats.org/officeDocument/2006/relationships/tags" Target="../tags/tag308.xml"/><Relationship Id="rId35" Type="http://schemas.openxmlformats.org/officeDocument/2006/relationships/tags" Target="../tags/tag313.xml"/><Relationship Id="rId8" Type="http://schemas.openxmlformats.org/officeDocument/2006/relationships/tags" Target="../tags/tag286.xml"/><Relationship Id="rId3" Type="http://schemas.openxmlformats.org/officeDocument/2006/relationships/tags" Target="../tags/tag281.xml"/></Relationships>
</file>

<file path=ppt/slides/_rels/slide20.xml.rels><?xml version="1.0" encoding="UTF-8" standalone="yes"?>
<Relationships xmlns="http://schemas.openxmlformats.org/package/2006/relationships"><Relationship Id="rId3" Type="http://schemas.openxmlformats.org/officeDocument/2006/relationships/tags" Target="../tags/tag319.xml"/><Relationship Id="rId2" Type="http://schemas.openxmlformats.org/officeDocument/2006/relationships/tags" Target="../tags/tag318.xml"/><Relationship Id="rId1" Type="http://schemas.openxmlformats.org/officeDocument/2006/relationships/tags" Target="../tags/tag317.xml"/><Relationship Id="rId5" Type="http://schemas.openxmlformats.org/officeDocument/2006/relationships/notesSlide" Target="../notesSlides/notesSlide20.xml"/><Relationship Id="rId4"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tags" Target="../tags/tag327.xml"/><Relationship Id="rId13" Type="http://schemas.openxmlformats.org/officeDocument/2006/relationships/tags" Target="../tags/tag332.xml"/><Relationship Id="rId18" Type="http://schemas.openxmlformats.org/officeDocument/2006/relationships/tags" Target="../tags/tag337.xml"/><Relationship Id="rId3" Type="http://schemas.openxmlformats.org/officeDocument/2006/relationships/tags" Target="../tags/tag322.xml"/><Relationship Id="rId21" Type="http://schemas.openxmlformats.org/officeDocument/2006/relationships/slideLayout" Target="../slideLayouts/slideLayout2.xml"/><Relationship Id="rId7" Type="http://schemas.openxmlformats.org/officeDocument/2006/relationships/tags" Target="../tags/tag326.xml"/><Relationship Id="rId12" Type="http://schemas.openxmlformats.org/officeDocument/2006/relationships/tags" Target="../tags/tag331.xml"/><Relationship Id="rId17" Type="http://schemas.openxmlformats.org/officeDocument/2006/relationships/tags" Target="../tags/tag336.xml"/><Relationship Id="rId2" Type="http://schemas.openxmlformats.org/officeDocument/2006/relationships/tags" Target="../tags/tag321.xml"/><Relationship Id="rId16" Type="http://schemas.openxmlformats.org/officeDocument/2006/relationships/tags" Target="../tags/tag335.xml"/><Relationship Id="rId20" Type="http://schemas.openxmlformats.org/officeDocument/2006/relationships/tags" Target="../tags/tag339.xml"/><Relationship Id="rId1" Type="http://schemas.openxmlformats.org/officeDocument/2006/relationships/tags" Target="../tags/tag320.xml"/><Relationship Id="rId6" Type="http://schemas.openxmlformats.org/officeDocument/2006/relationships/tags" Target="../tags/tag325.xml"/><Relationship Id="rId11" Type="http://schemas.openxmlformats.org/officeDocument/2006/relationships/tags" Target="../tags/tag330.xml"/><Relationship Id="rId5" Type="http://schemas.openxmlformats.org/officeDocument/2006/relationships/tags" Target="../tags/tag324.xml"/><Relationship Id="rId15" Type="http://schemas.openxmlformats.org/officeDocument/2006/relationships/tags" Target="../tags/tag334.xml"/><Relationship Id="rId10" Type="http://schemas.openxmlformats.org/officeDocument/2006/relationships/tags" Target="../tags/tag329.xml"/><Relationship Id="rId19" Type="http://schemas.openxmlformats.org/officeDocument/2006/relationships/tags" Target="../tags/tag338.xml"/><Relationship Id="rId4" Type="http://schemas.openxmlformats.org/officeDocument/2006/relationships/tags" Target="../tags/tag323.xml"/><Relationship Id="rId9" Type="http://schemas.openxmlformats.org/officeDocument/2006/relationships/tags" Target="../tags/tag328.xml"/><Relationship Id="rId14" Type="http://schemas.openxmlformats.org/officeDocument/2006/relationships/tags" Target="../tags/tag333.xml"/><Relationship Id="rId2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8" Type="http://schemas.openxmlformats.org/officeDocument/2006/relationships/tags" Target="../tags/tag347.xml"/><Relationship Id="rId13" Type="http://schemas.openxmlformats.org/officeDocument/2006/relationships/tags" Target="../tags/tag352.xml"/><Relationship Id="rId18" Type="http://schemas.openxmlformats.org/officeDocument/2006/relationships/tags" Target="../tags/tag357.xml"/><Relationship Id="rId26" Type="http://schemas.openxmlformats.org/officeDocument/2006/relationships/notesSlide" Target="../notesSlides/notesSlide22.xml"/><Relationship Id="rId3" Type="http://schemas.openxmlformats.org/officeDocument/2006/relationships/tags" Target="../tags/tag342.xml"/><Relationship Id="rId21" Type="http://schemas.openxmlformats.org/officeDocument/2006/relationships/tags" Target="../tags/tag360.xml"/><Relationship Id="rId7" Type="http://schemas.openxmlformats.org/officeDocument/2006/relationships/tags" Target="../tags/tag346.xml"/><Relationship Id="rId12" Type="http://schemas.openxmlformats.org/officeDocument/2006/relationships/tags" Target="../tags/tag351.xml"/><Relationship Id="rId17" Type="http://schemas.openxmlformats.org/officeDocument/2006/relationships/tags" Target="../tags/tag356.xml"/><Relationship Id="rId25" Type="http://schemas.openxmlformats.org/officeDocument/2006/relationships/slideLayout" Target="../slideLayouts/slideLayout2.xml"/><Relationship Id="rId2" Type="http://schemas.openxmlformats.org/officeDocument/2006/relationships/tags" Target="../tags/tag341.xml"/><Relationship Id="rId16" Type="http://schemas.openxmlformats.org/officeDocument/2006/relationships/tags" Target="../tags/tag355.xml"/><Relationship Id="rId20" Type="http://schemas.openxmlformats.org/officeDocument/2006/relationships/tags" Target="../tags/tag359.xml"/><Relationship Id="rId1" Type="http://schemas.openxmlformats.org/officeDocument/2006/relationships/tags" Target="../tags/tag340.xml"/><Relationship Id="rId6" Type="http://schemas.openxmlformats.org/officeDocument/2006/relationships/tags" Target="../tags/tag345.xml"/><Relationship Id="rId11" Type="http://schemas.openxmlformats.org/officeDocument/2006/relationships/tags" Target="../tags/tag350.xml"/><Relationship Id="rId24" Type="http://schemas.openxmlformats.org/officeDocument/2006/relationships/tags" Target="../tags/tag363.xml"/><Relationship Id="rId5" Type="http://schemas.openxmlformats.org/officeDocument/2006/relationships/tags" Target="../tags/tag344.xml"/><Relationship Id="rId15" Type="http://schemas.openxmlformats.org/officeDocument/2006/relationships/tags" Target="../tags/tag354.xml"/><Relationship Id="rId23" Type="http://schemas.openxmlformats.org/officeDocument/2006/relationships/tags" Target="../tags/tag362.xml"/><Relationship Id="rId10" Type="http://schemas.openxmlformats.org/officeDocument/2006/relationships/tags" Target="../tags/tag349.xml"/><Relationship Id="rId19" Type="http://schemas.openxmlformats.org/officeDocument/2006/relationships/tags" Target="../tags/tag358.xml"/><Relationship Id="rId4" Type="http://schemas.openxmlformats.org/officeDocument/2006/relationships/tags" Target="../tags/tag343.xml"/><Relationship Id="rId9" Type="http://schemas.openxmlformats.org/officeDocument/2006/relationships/tags" Target="../tags/tag348.xml"/><Relationship Id="rId14" Type="http://schemas.openxmlformats.org/officeDocument/2006/relationships/tags" Target="../tags/tag353.xml"/><Relationship Id="rId22" Type="http://schemas.openxmlformats.org/officeDocument/2006/relationships/tags" Target="../tags/tag361.xml"/></Relationships>
</file>

<file path=ppt/slides/_rels/slide23.xml.rels><?xml version="1.0" encoding="UTF-8" standalone="yes"?>
<Relationships xmlns="http://schemas.openxmlformats.org/package/2006/relationships"><Relationship Id="rId8" Type="http://schemas.openxmlformats.org/officeDocument/2006/relationships/tags" Target="../tags/tag371.xml"/><Relationship Id="rId13" Type="http://schemas.openxmlformats.org/officeDocument/2006/relationships/tags" Target="../tags/tag376.xml"/><Relationship Id="rId18" Type="http://schemas.openxmlformats.org/officeDocument/2006/relationships/tags" Target="../tags/tag381.xml"/><Relationship Id="rId26" Type="http://schemas.openxmlformats.org/officeDocument/2006/relationships/notesSlide" Target="../notesSlides/notesSlide23.xml"/><Relationship Id="rId3" Type="http://schemas.openxmlformats.org/officeDocument/2006/relationships/tags" Target="../tags/tag366.xml"/><Relationship Id="rId21" Type="http://schemas.openxmlformats.org/officeDocument/2006/relationships/tags" Target="../tags/tag384.xml"/><Relationship Id="rId7" Type="http://schemas.openxmlformats.org/officeDocument/2006/relationships/tags" Target="../tags/tag370.xml"/><Relationship Id="rId12" Type="http://schemas.openxmlformats.org/officeDocument/2006/relationships/tags" Target="../tags/tag375.xml"/><Relationship Id="rId17" Type="http://schemas.openxmlformats.org/officeDocument/2006/relationships/tags" Target="../tags/tag380.xml"/><Relationship Id="rId25" Type="http://schemas.openxmlformats.org/officeDocument/2006/relationships/slideLayout" Target="../slideLayouts/slideLayout2.xml"/><Relationship Id="rId2" Type="http://schemas.openxmlformats.org/officeDocument/2006/relationships/tags" Target="../tags/tag365.xml"/><Relationship Id="rId16" Type="http://schemas.openxmlformats.org/officeDocument/2006/relationships/tags" Target="../tags/tag379.xml"/><Relationship Id="rId20" Type="http://schemas.openxmlformats.org/officeDocument/2006/relationships/tags" Target="../tags/tag383.xml"/><Relationship Id="rId1" Type="http://schemas.openxmlformats.org/officeDocument/2006/relationships/tags" Target="../tags/tag364.xml"/><Relationship Id="rId6" Type="http://schemas.openxmlformats.org/officeDocument/2006/relationships/tags" Target="../tags/tag369.xml"/><Relationship Id="rId11" Type="http://schemas.openxmlformats.org/officeDocument/2006/relationships/tags" Target="../tags/tag374.xml"/><Relationship Id="rId24" Type="http://schemas.openxmlformats.org/officeDocument/2006/relationships/tags" Target="../tags/tag387.xml"/><Relationship Id="rId5" Type="http://schemas.openxmlformats.org/officeDocument/2006/relationships/tags" Target="../tags/tag368.xml"/><Relationship Id="rId15" Type="http://schemas.openxmlformats.org/officeDocument/2006/relationships/tags" Target="../tags/tag378.xml"/><Relationship Id="rId23" Type="http://schemas.openxmlformats.org/officeDocument/2006/relationships/tags" Target="../tags/tag386.xml"/><Relationship Id="rId10" Type="http://schemas.openxmlformats.org/officeDocument/2006/relationships/tags" Target="../tags/tag373.xml"/><Relationship Id="rId19" Type="http://schemas.openxmlformats.org/officeDocument/2006/relationships/tags" Target="../tags/tag382.xml"/><Relationship Id="rId4" Type="http://schemas.openxmlformats.org/officeDocument/2006/relationships/tags" Target="../tags/tag367.xml"/><Relationship Id="rId9" Type="http://schemas.openxmlformats.org/officeDocument/2006/relationships/tags" Target="../tags/tag372.xml"/><Relationship Id="rId14" Type="http://schemas.openxmlformats.org/officeDocument/2006/relationships/tags" Target="../tags/tag377.xml"/><Relationship Id="rId22" Type="http://schemas.openxmlformats.org/officeDocument/2006/relationships/tags" Target="../tags/tag385.xml"/></Relationships>
</file>

<file path=ppt/slides/_rels/slide24.xml.rels><?xml version="1.0" encoding="UTF-8" standalone="yes"?>
<Relationships xmlns="http://schemas.openxmlformats.org/package/2006/relationships"><Relationship Id="rId13" Type="http://schemas.openxmlformats.org/officeDocument/2006/relationships/tags" Target="../tags/tag400.xml"/><Relationship Id="rId18" Type="http://schemas.openxmlformats.org/officeDocument/2006/relationships/tags" Target="../tags/tag405.xml"/><Relationship Id="rId26" Type="http://schemas.openxmlformats.org/officeDocument/2006/relationships/tags" Target="../tags/tag413.xml"/><Relationship Id="rId3" Type="http://schemas.openxmlformats.org/officeDocument/2006/relationships/tags" Target="../tags/tag390.xml"/><Relationship Id="rId21" Type="http://schemas.openxmlformats.org/officeDocument/2006/relationships/tags" Target="../tags/tag408.xml"/><Relationship Id="rId34" Type="http://schemas.openxmlformats.org/officeDocument/2006/relationships/notesSlide" Target="../notesSlides/notesSlide24.xml"/><Relationship Id="rId7" Type="http://schemas.openxmlformats.org/officeDocument/2006/relationships/tags" Target="../tags/tag394.xml"/><Relationship Id="rId12" Type="http://schemas.openxmlformats.org/officeDocument/2006/relationships/tags" Target="../tags/tag399.xml"/><Relationship Id="rId17" Type="http://schemas.openxmlformats.org/officeDocument/2006/relationships/tags" Target="../tags/tag404.xml"/><Relationship Id="rId25" Type="http://schemas.openxmlformats.org/officeDocument/2006/relationships/tags" Target="../tags/tag412.xml"/><Relationship Id="rId33" Type="http://schemas.openxmlformats.org/officeDocument/2006/relationships/slideLayout" Target="../slideLayouts/slideLayout2.xml"/><Relationship Id="rId2" Type="http://schemas.openxmlformats.org/officeDocument/2006/relationships/tags" Target="../tags/tag389.xml"/><Relationship Id="rId16" Type="http://schemas.openxmlformats.org/officeDocument/2006/relationships/tags" Target="../tags/tag403.xml"/><Relationship Id="rId20" Type="http://schemas.openxmlformats.org/officeDocument/2006/relationships/tags" Target="../tags/tag407.xml"/><Relationship Id="rId29" Type="http://schemas.openxmlformats.org/officeDocument/2006/relationships/tags" Target="../tags/tag416.xml"/><Relationship Id="rId1" Type="http://schemas.openxmlformats.org/officeDocument/2006/relationships/tags" Target="../tags/tag388.xml"/><Relationship Id="rId6" Type="http://schemas.openxmlformats.org/officeDocument/2006/relationships/tags" Target="../tags/tag393.xml"/><Relationship Id="rId11" Type="http://schemas.openxmlformats.org/officeDocument/2006/relationships/tags" Target="../tags/tag398.xml"/><Relationship Id="rId24" Type="http://schemas.openxmlformats.org/officeDocument/2006/relationships/tags" Target="../tags/tag411.xml"/><Relationship Id="rId32" Type="http://schemas.openxmlformats.org/officeDocument/2006/relationships/tags" Target="../tags/tag419.xml"/><Relationship Id="rId5" Type="http://schemas.openxmlformats.org/officeDocument/2006/relationships/tags" Target="../tags/tag392.xml"/><Relationship Id="rId15" Type="http://schemas.openxmlformats.org/officeDocument/2006/relationships/tags" Target="../tags/tag402.xml"/><Relationship Id="rId23" Type="http://schemas.openxmlformats.org/officeDocument/2006/relationships/tags" Target="../tags/tag410.xml"/><Relationship Id="rId28" Type="http://schemas.openxmlformats.org/officeDocument/2006/relationships/tags" Target="../tags/tag415.xml"/><Relationship Id="rId10" Type="http://schemas.openxmlformats.org/officeDocument/2006/relationships/tags" Target="../tags/tag397.xml"/><Relationship Id="rId19" Type="http://schemas.openxmlformats.org/officeDocument/2006/relationships/tags" Target="../tags/tag406.xml"/><Relationship Id="rId31" Type="http://schemas.openxmlformats.org/officeDocument/2006/relationships/tags" Target="../tags/tag418.xml"/><Relationship Id="rId4" Type="http://schemas.openxmlformats.org/officeDocument/2006/relationships/tags" Target="../tags/tag391.xml"/><Relationship Id="rId9" Type="http://schemas.openxmlformats.org/officeDocument/2006/relationships/tags" Target="../tags/tag396.xml"/><Relationship Id="rId14" Type="http://schemas.openxmlformats.org/officeDocument/2006/relationships/tags" Target="../tags/tag401.xml"/><Relationship Id="rId22" Type="http://schemas.openxmlformats.org/officeDocument/2006/relationships/tags" Target="../tags/tag409.xml"/><Relationship Id="rId27" Type="http://schemas.openxmlformats.org/officeDocument/2006/relationships/tags" Target="../tags/tag414.xml"/><Relationship Id="rId30" Type="http://schemas.openxmlformats.org/officeDocument/2006/relationships/tags" Target="../tags/tag417.xml"/><Relationship Id="rId8" Type="http://schemas.openxmlformats.org/officeDocument/2006/relationships/tags" Target="../tags/tag395.xml"/></Relationships>
</file>

<file path=ppt/slides/_rels/slide25.xml.rels><?xml version="1.0" encoding="UTF-8" standalone="yes"?>
<Relationships xmlns="http://schemas.openxmlformats.org/package/2006/relationships"><Relationship Id="rId13" Type="http://schemas.openxmlformats.org/officeDocument/2006/relationships/tags" Target="../tags/tag432.xml"/><Relationship Id="rId18" Type="http://schemas.openxmlformats.org/officeDocument/2006/relationships/tags" Target="../tags/tag437.xml"/><Relationship Id="rId26" Type="http://schemas.openxmlformats.org/officeDocument/2006/relationships/tags" Target="../tags/tag445.xml"/><Relationship Id="rId39" Type="http://schemas.openxmlformats.org/officeDocument/2006/relationships/notesSlide" Target="../notesSlides/notesSlide25.xml"/><Relationship Id="rId21" Type="http://schemas.openxmlformats.org/officeDocument/2006/relationships/tags" Target="../tags/tag440.xml"/><Relationship Id="rId34" Type="http://schemas.openxmlformats.org/officeDocument/2006/relationships/tags" Target="../tags/tag453.xml"/><Relationship Id="rId7" Type="http://schemas.openxmlformats.org/officeDocument/2006/relationships/tags" Target="../tags/tag426.xml"/><Relationship Id="rId12" Type="http://schemas.openxmlformats.org/officeDocument/2006/relationships/tags" Target="../tags/tag431.xml"/><Relationship Id="rId17" Type="http://schemas.openxmlformats.org/officeDocument/2006/relationships/tags" Target="../tags/tag436.xml"/><Relationship Id="rId25" Type="http://schemas.openxmlformats.org/officeDocument/2006/relationships/tags" Target="../tags/tag444.xml"/><Relationship Id="rId33" Type="http://schemas.openxmlformats.org/officeDocument/2006/relationships/tags" Target="../tags/tag452.xml"/><Relationship Id="rId38" Type="http://schemas.openxmlformats.org/officeDocument/2006/relationships/slideLayout" Target="../slideLayouts/slideLayout2.xml"/><Relationship Id="rId2" Type="http://schemas.openxmlformats.org/officeDocument/2006/relationships/tags" Target="../tags/tag421.xml"/><Relationship Id="rId16" Type="http://schemas.openxmlformats.org/officeDocument/2006/relationships/tags" Target="../tags/tag435.xml"/><Relationship Id="rId20" Type="http://schemas.openxmlformats.org/officeDocument/2006/relationships/tags" Target="../tags/tag439.xml"/><Relationship Id="rId29" Type="http://schemas.openxmlformats.org/officeDocument/2006/relationships/tags" Target="../tags/tag448.xml"/><Relationship Id="rId1" Type="http://schemas.openxmlformats.org/officeDocument/2006/relationships/tags" Target="../tags/tag420.xml"/><Relationship Id="rId6" Type="http://schemas.openxmlformats.org/officeDocument/2006/relationships/tags" Target="../tags/tag425.xml"/><Relationship Id="rId11" Type="http://schemas.openxmlformats.org/officeDocument/2006/relationships/tags" Target="../tags/tag430.xml"/><Relationship Id="rId24" Type="http://schemas.openxmlformats.org/officeDocument/2006/relationships/tags" Target="../tags/tag443.xml"/><Relationship Id="rId32" Type="http://schemas.openxmlformats.org/officeDocument/2006/relationships/tags" Target="../tags/tag451.xml"/><Relationship Id="rId37" Type="http://schemas.openxmlformats.org/officeDocument/2006/relationships/tags" Target="../tags/tag456.xml"/><Relationship Id="rId5" Type="http://schemas.openxmlformats.org/officeDocument/2006/relationships/tags" Target="../tags/tag424.xml"/><Relationship Id="rId15" Type="http://schemas.openxmlformats.org/officeDocument/2006/relationships/tags" Target="../tags/tag434.xml"/><Relationship Id="rId23" Type="http://schemas.openxmlformats.org/officeDocument/2006/relationships/tags" Target="../tags/tag442.xml"/><Relationship Id="rId28" Type="http://schemas.openxmlformats.org/officeDocument/2006/relationships/tags" Target="../tags/tag447.xml"/><Relationship Id="rId36" Type="http://schemas.openxmlformats.org/officeDocument/2006/relationships/tags" Target="../tags/tag455.xml"/><Relationship Id="rId10" Type="http://schemas.openxmlformats.org/officeDocument/2006/relationships/tags" Target="../tags/tag429.xml"/><Relationship Id="rId19" Type="http://schemas.openxmlformats.org/officeDocument/2006/relationships/tags" Target="../tags/tag438.xml"/><Relationship Id="rId31" Type="http://schemas.openxmlformats.org/officeDocument/2006/relationships/tags" Target="../tags/tag450.xml"/><Relationship Id="rId4" Type="http://schemas.openxmlformats.org/officeDocument/2006/relationships/tags" Target="../tags/tag423.xml"/><Relationship Id="rId9" Type="http://schemas.openxmlformats.org/officeDocument/2006/relationships/tags" Target="../tags/tag428.xml"/><Relationship Id="rId14" Type="http://schemas.openxmlformats.org/officeDocument/2006/relationships/tags" Target="../tags/tag433.xml"/><Relationship Id="rId22" Type="http://schemas.openxmlformats.org/officeDocument/2006/relationships/tags" Target="../tags/tag441.xml"/><Relationship Id="rId27" Type="http://schemas.openxmlformats.org/officeDocument/2006/relationships/tags" Target="../tags/tag446.xml"/><Relationship Id="rId30" Type="http://schemas.openxmlformats.org/officeDocument/2006/relationships/tags" Target="../tags/tag449.xml"/><Relationship Id="rId35" Type="http://schemas.openxmlformats.org/officeDocument/2006/relationships/tags" Target="../tags/tag454.xml"/><Relationship Id="rId8" Type="http://schemas.openxmlformats.org/officeDocument/2006/relationships/tags" Target="../tags/tag427.xml"/><Relationship Id="rId3" Type="http://schemas.openxmlformats.org/officeDocument/2006/relationships/tags" Target="../tags/tag422.xml"/></Relationships>
</file>

<file path=ppt/slides/_rels/slide26.xml.rels><?xml version="1.0" encoding="UTF-8" standalone="yes"?>
<Relationships xmlns="http://schemas.openxmlformats.org/package/2006/relationships"><Relationship Id="rId13" Type="http://schemas.openxmlformats.org/officeDocument/2006/relationships/tags" Target="../tags/tag469.xml"/><Relationship Id="rId18" Type="http://schemas.openxmlformats.org/officeDocument/2006/relationships/tags" Target="../tags/tag474.xml"/><Relationship Id="rId26" Type="http://schemas.openxmlformats.org/officeDocument/2006/relationships/tags" Target="../tags/tag482.xml"/><Relationship Id="rId21" Type="http://schemas.openxmlformats.org/officeDocument/2006/relationships/tags" Target="../tags/tag477.xml"/><Relationship Id="rId34" Type="http://schemas.openxmlformats.org/officeDocument/2006/relationships/tags" Target="../tags/tag490.xml"/><Relationship Id="rId7" Type="http://schemas.openxmlformats.org/officeDocument/2006/relationships/tags" Target="../tags/tag463.xml"/><Relationship Id="rId12" Type="http://schemas.openxmlformats.org/officeDocument/2006/relationships/tags" Target="../tags/tag468.xml"/><Relationship Id="rId17" Type="http://schemas.openxmlformats.org/officeDocument/2006/relationships/tags" Target="../tags/tag473.xml"/><Relationship Id="rId25" Type="http://schemas.openxmlformats.org/officeDocument/2006/relationships/tags" Target="../tags/tag481.xml"/><Relationship Id="rId33" Type="http://schemas.openxmlformats.org/officeDocument/2006/relationships/tags" Target="../tags/tag489.xml"/><Relationship Id="rId38" Type="http://schemas.openxmlformats.org/officeDocument/2006/relationships/notesSlide" Target="../notesSlides/notesSlide26.xml"/><Relationship Id="rId2" Type="http://schemas.openxmlformats.org/officeDocument/2006/relationships/tags" Target="../tags/tag458.xml"/><Relationship Id="rId16" Type="http://schemas.openxmlformats.org/officeDocument/2006/relationships/tags" Target="../tags/tag472.xml"/><Relationship Id="rId20" Type="http://schemas.openxmlformats.org/officeDocument/2006/relationships/tags" Target="../tags/tag476.xml"/><Relationship Id="rId29" Type="http://schemas.openxmlformats.org/officeDocument/2006/relationships/tags" Target="../tags/tag485.xml"/><Relationship Id="rId1" Type="http://schemas.openxmlformats.org/officeDocument/2006/relationships/tags" Target="../tags/tag457.xml"/><Relationship Id="rId6" Type="http://schemas.openxmlformats.org/officeDocument/2006/relationships/tags" Target="../tags/tag462.xml"/><Relationship Id="rId11" Type="http://schemas.openxmlformats.org/officeDocument/2006/relationships/tags" Target="../tags/tag467.xml"/><Relationship Id="rId24" Type="http://schemas.openxmlformats.org/officeDocument/2006/relationships/tags" Target="../tags/tag480.xml"/><Relationship Id="rId32" Type="http://schemas.openxmlformats.org/officeDocument/2006/relationships/tags" Target="../tags/tag488.xml"/><Relationship Id="rId37" Type="http://schemas.openxmlformats.org/officeDocument/2006/relationships/slideLayout" Target="../slideLayouts/slideLayout2.xml"/><Relationship Id="rId5" Type="http://schemas.openxmlformats.org/officeDocument/2006/relationships/tags" Target="../tags/tag461.xml"/><Relationship Id="rId15" Type="http://schemas.openxmlformats.org/officeDocument/2006/relationships/tags" Target="../tags/tag471.xml"/><Relationship Id="rId23" Type="http://schemas.openxmlformats.org/officeDocument/2006/relationships/tags" Target="../tags/tag479.xml"/><Relationship Id="rId28" Type="http://schemas.openxmlformats.org/officeDocument/2006/relationships/tags" Target="../tags/tag484.xml"/><Relationship Id="rId36" Type="http://schemas.openxmlformats.org/officeDocument/2006/relationships/tags" Target="../tags/tag492.xml"/><Relationship Id="rId10" Type="http://schemas.openxmlformats.org/officeDocument/2006/relationships/tags" Target="../tags/tag466.xml"/><Relationship Id="rId19" Type="http://schemas.openxmlformats.org/officeDocument/2006/relationships/tags" Target="../tags/tag475.xml"/><Relationship Id="rId31" Type="http://schemas.openxmlformats.org/officeDocument/2006/relationships/tags" Target="../tags/tag487.xml"/><Relationship Id="rId4" Type="http://schemas.openxmlformats.org/officeDocument/2006/relationships/tags" Target="../tags/tag460.xml"/><Relationship Id="rId9" Type="http://schemas.openxmlformats.org/officeDocument/2006/relationships/tags" Target="../tags/tag465.xml"/><Relationship Id="rId14" Type="http://schemas.openxmlformats.org/officeDocument/2006/relationships/tags" Target="../tags/tag470.xml"/><Relationship Id="rId22" Type="http://schemas.openxmlformats.org/officeDocument/2006/relationships/tags" Target="../tags/tag478.xml"/><Relationship Id="rId27" Type="http://schemas.openxmlformats.org/officeDocument/2006/relationships/tags" Target="../tags/tag483.xml"/><Relationship Id="rId30" Type="http://schemas.openxmlformats.org/officeDocument/2006/relationships/tags" Target="../tags/tag486.xml"/><Relationship Id="rId35" Type="http://schemas.openxmlformats.org/officeDocument/2006/relationships/tags" Target="../tags/tag491.xml"/><Relationship Id="rId8" Type="http://schemas.openxmlformats.org/officeDocument/2006/relationships/tags" Target="../tags/tag464.xml"/><Relationship Id="rId3" Type="http://schemas.openxmlformats.org/officeDocument/2006/relationships/tags" Target="../tags/tag459.xml"/></Relationships>
</file>

<file path=ppt/slides/_rels/slide27.xml.rels><?xml version="1.0" encoding="UTF-8" standalone="yes"?>
<Relationships xmlns="http://schemas.openxmlformats.org/package/2006/relationships"><Relationship Id="rId13" Type="http://schemas.openxmlformats.org/officeDocument/2006/relationships/tags" Target="../tags/tag505.xml"/><Relationship Id="rId18" Type="http://schemas.openxmlformats.org/officeDocument/2006/relationships/tags" Target="../tags/tag510.xml"/><Relationship Id="rId26" Type="http://schemas.openxmlformats.org/officeDocument/2006/relationships/tags" Target="../tags/tag518.xml"/><Relationship Id="rId39" Type="http://schemas.openxmlformats.org/officeDocument/2006/relationships/slideLayout" Target="../slideLayouts/slideLayout2.xml"/><Relationship Id="rId21" Type="http://schemas.openxmlformats.org/officeDocument/2006/relationships/tags" Target="../tags/tag513.xml"/><Relationship Id="rId34" Type="http://schemas.openxmlformats.org/officeDocument/2006/relationships/tags" Target="../tags/tag526.xml"/><Relationship Id="rId7" Type="http://schemas.openxmlformats.org/officeDocument/2006/relationships/tags" Target="../tags/tag499.xml"/><Relationship Id="rId12" Type="http://schemas.openxmlformats.org/officeDocument/2006/relationships/tags" Target="../tags/tag504.xml"/><Relationship Id="rId17" Type="http://schemas.openxmlformats.org/officeDocument/2006/relationships/tags" Target="../tags/tag509.xml"/><Relationship Id="rId25" Type="http://schemas.openxmlformats.org/officeDocument/2006/relationships/tags" Target="../tags/tag517.xml"/><Relationship Id="rId33" Type="http://schemas.openxmlformats.org/officeDocument/2006/relationships/tags" Target="../tags/tag525.xml"/><Relationship Id="rId38" Type="http://schemas.openxmlformats.org/officeDocument/2006/relationships/tags" Target="../tags/tag530.xml"/><Relationship Id="rId2" Type="http://schemas.openxmlformats.org/officeDocument/2006/relationships/tags" Target="../tags/tag494.xml"/><Relationship Id="rId16" Type="http://schemas.openxmlformats.org/officeDocument/2006/relationships/tags" Target="../tags/tag508.xml"/><Relationship Id="rId20" Type="http://schemas.openxmlformats.org/officeDocument/2006/relationships/tags" Target="../tags/tag512.xml"/><Relationship Id="rId29" Type="http://schemas.openxmlformats.org/officeDocument/2006/relationships/tags" Target="../tags/tag521.xml"/><Relationship Id="rId1" Type="http://schemas.openxmlformats.org/officeDocument/2006/relationships/tags" Target="../tags/tag493.xml"/><Relationship Id="rId6" Type="http://schemas.openxmlformats.org/officeDocument/2006/relationships/tags" Target="../tags/tag498.xml"/><Relationship Id="rId11" Type="http://schemas.openxmlformats.org/officeDocument/2006/relationships/tags" Target="../tags/tag503.xml"/><Relationship Id="rId24" Type="http://schemas.openxmlformats.org/officeDocument/2006/relationships/tags" Target="../tags/tag516.xml"/><Relationship Id="rId32" Type="http://schemas.openxmlformats.org/officeDocument/2006/relationships/tags" Target="../tags/tag524.xml"/><Relationship Id="rId37" Type="http://schemas.openxmlformats.org/officeDocument/2006/relationships/tags" Target="../tags/tag529.xml"/><Relationship Id="rId40" Type="http://schemas.openxmlformats.org/officeDocument/2006/relationships/notesSlide" Target="../notesSlides/notesSlide27.xml"/><Relationship Id="rId5" Type="http://schemas.openxmlformats.org/officeDocument/2006/relationships/tags" Target="../tags/tag497.xml"/><Relationship Id="rId15" Type="http://schemas.openxmlformats.org/officeDocument/2006/relationships/tags" Target="../tags/tag507.xml"/><Relationship Id="rId23" Type="http://schemas.openxmlformats.org/officeDocument/2006/relationships/tags" Target="../tags/tag515.xml"/><Relationship Id="rId28" Type="http://schemas.openxmlformats.org/officeDocument/2006/relationships/tags" Target="../tags/tag520.xml"/><Relationship Id="rId36" Type="http://schemas.openxmlformats.org/officeDocument/2006/relationships/tags" Target="../tags/tag528.xml"/><Relationship Id="rId10" Type="http://schemas.openxmlformats.org/officeDocument/2006/relationships/tags" Target="../tags/tag502.xml"/><Relationship Id="rId19" Type="http://schemas.openxmlformats.org/officeDocument/2006/relationships/tags" Target="../tags/tag511.xml"/><Relationship Id="rId31" Type="http://schemas.openxmlformats.org/officeDocument/2006/relationships/tags" Target="../tags/tag523.xml"/><Relationship Id="rId4" Type="http://schemas.openxmlformats.org/officeDocument/2006/relationships/tags" Target="../tags/tag496.xml"/><Relationship Id="rId9" Type="http://schemas.openxmlformats.org/officeDocument/2006/relationships/tags" Target="../tags/tag501.xml"/><Relationship Id="rId14" Type="http://schemas.openxmlformats.org/officeDocument/2006/relationships/tags" Target="../tags/tag506.xml"/><Relationship Id="rId22" Type="http://schemas.openxmlformats.org/officeDocument/2006/relationships/tags" Target="../tags/tag514.xml"/><Relationship Id="rId27" Type="http://schemas.openxmlformats.org/officeDocument/2006/relationships/tags" Target="../tags/tag519.xml"/><Relationship Id="rId30" Type="http://schemas.openxmlformats.org/officeDocument/2006/relationships/tags" Target="../tags/tag522.xml"/><Relationship Id="rId35" Type="http://schemas.openxmlformats.org/officeDocument/2006/relationships/tags" Target="../tags/tag527.xml"/><Relationship Id="rId8" Type="http://schemas.openxmlformats.org/officeDocument/2006/relationships/tags" Target="../tags/tag500.xml"/><Relationship Id="rId3" Type="http://schemas.openxmlformats.org/officeDocument/2006/relationships/tags" Target="../tags/tag495.xml"/></Relationships>
</file>

<file path=ppt/slides/_rels/slide28.xml.rels><?xml version="1.0" encoding="UTF-8" standalone="yes"?>
<Relationships xmlns="http://schemas.openxmlformats.org/package/2006/relationships"><Relationship Id="rId13" Type="http://schemas.openxmlformats.org/officeDocument/2006/relationships/tags" Target="../tags/tag543.xml"/><Relationship Id="rId18" Type="http://schemas.openxmlformats.org/officeDocument/2006/relationships/tags" Target="../tags/tag548.xml"/><Relationship Id="rId26" Type="http://schemas.openxmlformats.org/officeDocument/2006/relationships/tags" Target="../tags/tag556.xml"/><Relationship Id="rId39" Type="http://schemas.openxmlformats.org/officeDocument/2006/relationships/slideLayout" Target="../slideLayouts/slideLayout2.xml"/><Relationship Id="rId21" Type="http://schemas.openxmlformats.org/officeDocument/2006/relationships/tags" Target="../tags/tag551.xml"/><Relationship Id="rId34" Type="http://schemas.openxmlformats.org/officeDocument/2006/relationships/tags" Target="../tags/tag564.xml"/><Relationship Id="rId7" Type="http://schemas.openxmlformats.org/officeDocument/2006/relationships/tags" Target="../tags/tag537.xml"/><Relationship Id="rId12" Type="http://schemas.openxmlformats.org/officeDocument/2006/relationships/tags" Target="../tags/tag542.xml"/><Relationship Id="rId17" Type="http://schemas.openxmlformats.org/officeDocument/2006/relationships/tags" Target="../tags/tag547.xml"/><Relationship Id="rId25" Type="http://schemas.openxmlformats.org/officeDocument/2006/relationships/tags" Target="../tags/tag555.xml"/><Relationship Id="rId33" Type="http://schemas.openxmlformats.org/officeDocument/2006/relationships/tags" Target="../tags/tag563.xml"/><Relationship Id="rId38" Type="http://schemas.openxmlformats.org/officeDocument/2006/relationships/tags" Target="../tags/tag568.xml"/><Relationship Id="rId2" Type="http://schemas.openxmlformats.org/officeDocument/2006/relationships/tags" Target="../tags/tag532.xml"/><Relationship Id="rId16" Type="http://schemas.openxmlformats.org/officeDocument/2006/relationships/tags" Target="../tags/tag546.xml"/><Relationship Id="rId20" Type="http://schemas.openxmlformats.org/officeDocument/2006/relationships/tags" Target="../tags/tag550.xml"/><Relationship Id="rId29" Type="http://schemas.openxmlformats.org/officeDocument/2006/relationships/tags" Target="../tags/tag559.xml"/><Relationship Id="rId1" Type="http://schemas.openxmlformats.org/officeDocument/2006/relationships/tags" Target="../tags/tag531.xml"/><Relationship Id="rId6" Type="http://schemas.openxmlformats.org/officeDocument/2006/relationships/tags" Target="../tags/tag536.xml"/><Relationship Id="rId11" Type="http://schemas.openxmlformats.org/officeDocument/2006/relationships/tags" Target="../tags/tag541.xml"/><Relationship Id="rId24" Type="http://schemas.openxmlformats.org/officeDocument/2006/relationships/tags" Target="../tags/tag554.xml"/><Relationship Id="rId32" Type="http://schemas.openxmlformats.org/officeDocument/2006/relationships/tags" Target="../tags/tag562.xml"/><Relationship Id="rId37" Type="http://schemas.openxmlformats.org/officeDocument/2006/relationships/tags" Target="../tags/tag567.xml"/><Relationship Id="rId40" Type="http://schemas.openxmlformats.org/officeDocument/2006/relationships/notesSlide" Target="../notesSlides/notesSlide28.xml"/><Relationship Id="rId5" Type="http://schemas.openxmlformats.org/officeDocument/2006/relationships/tags" Target="../tags/tag535.xml"/><Relationship Id="rId15" Type="http://schemas.openxmlformats.org/officeDocument/2006/relationships/tags" Target="../tags/tag545.xml"/><Relationship Id="rId23" Type="http://schemas.openxmlformats.org/officeDocument/2006/relationships/tags" Target="../tags/tag553.xml"/><Relationship Id="rId28" Type="http://schemas.openxmlformats.org/officeDocument/2006/relationships/tags" Target="../tags/tag558.xml"/><Relationship Id="rId36" Type="http://schemas.openxmlformats.org/officeDocument/2006/relationships/tags" Target="../tags/tag566.xml"/><Relationship Id="rId10" Type="http://schemas.openxmlformats.org/officeDocument/2006/relationships/tags" Target="../tags/tag540.xml"/><Relationship Id="rId19" Type="http://schemas.openxmlformats.org/officeDocument/2006/relationships/tags" Target="../tags/tag549.xml"/><Relationship Id="rId31" Type="http://schemas.openxmlformats.org/officeDocument/2006/relationships/tags" Target="../tags/tag561.xml"/><Relationship Id="rId4" Type="http://schemas.openxmlformats.org/officeDocument/2006/relationships/tags" Target="../tags/tag534.xml"/><Relationship Id="rId9" Type="http://schemas.openxmlformats.org/officeDocument/2006/relationships/tags" Target="../tags/tag539.xml"/><Relationship Id="rId14" Type="http://schemas.openxmlformats.org/officeDocument/2006/relationships/tags" Target="../tags/tag544.xml"/><Relationship Id="rId22" Type="http://schemas.openxmlformats.org/officeDocument/2006/relationships/tags" Target="../tags/tag552.xml"/><Relationship Id="rId27" Type="http://schemas.openxmlformats.org/officeDocument/2006/relationships/tags" Target="../tags/tag557.xml"/><Relationship Id="rId30" Type="http://schemas.openxmlformats.org/officeDocument/2006/relationships/tags" Target="../tags/tag560.xml"/><Relationship Id="rId35" Type="http://schemas.openxmlformats.org/officeDocument/2006/relationships/tags" Target="../tags/tag565.xml"/><Relationship Id="rId8" Type="http://schemas.openxmlformats.org/officeDocument/2006/relationships/tags" Target="../tags/tag538.xml"/><Relationship Id="rId3" Type="http://schemas.openxmlformats.org/officeDocument/2006/relationships/tags" Target="../tags/tag533.xml"/></Relationships>
</file>

<file path=ppt/slides/_rels/slide29.xml.rels><?xml version="1.0" encoding="UTF-8" standalone="yes"?>
<Relationships xmlns="http://schemas.openxmlformats.org/package/2006/relationships"><Relationship Id="rId3" Type="http://schemas.openxmlformats.org/officeDocument/2006/relationships/tags" Target="../tags/tag571.xml"/><Relationship Id="rId2" Type="http://schemas.openxmlformats.org/officeDocument/2006/relationships/tags" Target="../tags/tag570.xml"/><Relationship Id="rId1" Type="http://schemas.openxmlformats.org/officeDocument/2006/relationships/tags" Target="../tags/tag569.xml"/><Relationship Id="rId6" Type="http://schemas.openxmlformats.org/officeDocument/2006/relationships/notesSlide" Target="../notesSlides/notesSlide29.xml"/><Relationship Id="rId5" Type="http://schemas.openxmlformats.org/officeDocument/2006/relationships/slideLayout" Target="../slideLayouts/slideLayout2.xml"/><Relationship Id="rId4" Type="http://schemas.openxmlformats.org/officeDocument/2006/relationships/tags" Target="../tags/tag572.xml"/></Relationships>
</file>

<file path=ppt/slides/_rels/slide30.xml.rels><?xml version="1.0" encoding="UTF-8" standalone="yes"?>
<Relationships xmlns="http://schemas.openxmlformats.org/package/2006/relationships"><Relationship Id="rId8" Type="http://schemas.openxmlformats.org/officeDocument/2006/relationships/tags" Target="../tags/tag580.xml"/><Relationship Id="rId13" Type="http://schemas.openxmlformats.org/officeDocument/2006/relationships/tags" Target="../tags/tag585.xml"/><Relationship Id="rId18" Type="http://schemas.openxmlformats.org/officeDocument/2006/relationships/tags" Target="../tags/tag590.xml"/><Relationship Id="rId26" Type="http://schemas.openxmlformats.org/officeDocument/2006/relationships/tags" Target="../tags/tag598.xml"/><Relationship Id="rId3" Type="http://schemas.openxmlformats.org/officeDocument/2006/relationships/tags" Target="../tags/tag575.xml"/><Relationship Id="rId21" Type="http://schemas.openxmlformats.org/officeDocument/2006/relationships/tags" Target="../tags/tag593.xml"/><Relationship Id="rId7" Type="http://schemas.openxmlformats.org/officeDocument/2006/relationships/tags" Target="../tags/tag579.xml"/><Relationship Id="rId12" Type="http://schemas.openxmlformats.org/officeDocument/2006/relationships/tags" Target="../tags/tag584.xml"/><Relationship Id="rId17" Type="http://schemas.openxmlformats.org/officeDocument/2006/relationships/tags" Target="../tags/tag589.xml"/><Relationship Id="rId25" Type="http://schemas.openxmlformats.org/officeDocument/2006/relationships/tags" Target="../tags/tag597.xml"/><Relationship Id="rId2" Type="http://schemas.openxmlformats.org/officeDocument/2006/relationships/tags" Target="../tags/tag574.xml"/><Relationship Id="rId16" Type="http://schemas.openxmlformats.org/officeDocument/2006/relationships/tags" Target="../tags/tag588.xml"/><Relationship Id="rId20" Type="http://schemas.openxmlformats.org/officeDocument/2006/relationships/tags" Target="../tags/tag592.xml"/><Relationship Id="rId1" Type="http://schemas.openxmlformats.org/officeDocument/2006/relationships/tags" Target="../tags/tag573.xml"/><Relationship Id="rId6" Type="http://schemas.openxmlformats.org/officeDocument/2006/relationships/tags" Target="../tags/tag578.xml"/><Relationship Id="rId11" Type="http://schemas.openxmlformats.org/officeDocument/2006/relationships/tags" Target="../tags/tag583.xml"/><Relationship Id="rId24" Type="http://schemas.openxmlformats.org/officeDocument/2006/relationships/tags" Target="../tags/tag596.xml"/><Relationship Id="rId5" Type="http://schemas.openxmlformats.org/officeDocument/2006/relationships/tags" Target="../tags/tag577.xml"/><Relationship Id="rId15" Type="http://schemas.openxmlformats.org/officeDocument/2006/relationships/tags" Target="../tags/tag587.xml"/><Relationship Id="rId23" Type="http://schemas.openxmlformats.org/officeDocument/2006/relationships/tags" Target="../tags/tag595.xml"/><Relationship Id="rId28" Type="http://schemas.openxmlformats.org/officeDocument/2006/relationships/notesSlide" Target="../notesSlides/notesSlide30.xml"/><Relationship Id="rId10" Type="http://schemas.openxmlformats.org/officeDocument/2006/relationships/tags" Target="../tags/tag582.xml"/><Relationship Id="rId19" Type="http://schemas.openxmlformats.org/officeDocument/2006/relationships/tags" Target="../tags/tag591.xml"/><Relationship Id="rId4" Type="http://schemas.openxmlformats.org/officeDocument/2006/relationships/tags" Target="../tags/tag576.xml"/><Relationship Id="rId9" Type="http://schemas.openxmlformats.org/officeDocument/2006/relationships/tags" Target="../tags/tag581.xml"/><Relationship Id="rId14" Type="http://schemas.openxmlformats.org/officeDocument/2006/relationships/tags" Target="../tags/tag586.xml"/><Relationship Id="rId22" Type="http://schemas.openxmlformats.org/officeDocument/2006/relationships/tags" Target="../tags/tag594.xml"/><Relationship Id="rId27"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tags" Target="../tags/tag606.xml"/><Relationship Id="rId13" Type="http://schemas.openxmlformats.org/officeDocument/2006/relationships/tags" Target="../tags/tag611.xml"/><Relationship Id="rId18" Type="http://schemas.openxmlformats.org/officeDocument/2006/relationships/tags" Target="../tags/tag616.xml"/><Relationship Id="rId3" Type="http://schemas.openxmlformats.org/officeDocument/2006/relationships/tags" Target="../tags/tag601.xml"/><Relationship Id="rId21" Type="http://schemas.openxmlformats.org/officeDocument/2006/relationships/slideLayout" Target="../slideLayouts/slideLayout2.xml"/><Relationship Id="rId7" Type="http://schemas.openxmlformats.org/officeDocument/2006/relationships/tags" Target="../tags/tag605.xml"/><Relationship Id="rId12" Type="http://schemas.openxmlformats.org/officeDocument/2006/relationships/tags" Target="../tags/tag610.xml"/><Relationship Id="rId17" Type="http://schemas.openxmlformats.org/officeDocument/2006/relationships/tags" Target="../tags/tag615.xml"/><Relationship Id="rId2" Type="http://schemas.openxmlformats.org/officeDocument/2006/relationships/tags" Target="../tags/tag600.xml"/><Relationship Id="rId16" Type="http://schemas.openxmlformats.org/officeDocument/2006/relationships/tags" Target="../tags/tag614.xml"/><Relationship Id="rId20" Type="http://schemas.openxmlformats.org/officeDocument/2006/relationships/tags" Target="../tags/tag618.xml"/><Relationship Id="rId1" Type="http://schemas.openxmlformats.org/officeDocument/2006/relationships/tags" Target="../tags/tag599.xml"/><Relationship Id="rId6" Type="http://schemas.openxmlformats.org/officeDocument/2006/relationships/tags" Target="../tags/tag604.xml"/><Relationship Id="rId11" Type="http://schemas.openxmlformats.org/officeDocument/2006/relationships/tags" Target="../tags/tag609.xml"/><Relationship Id="rId5" Type="http://schemas.openxmlformats.org/officeDocument/2006/relationships/tags" Target="../tags/tag603.xml"/><Relationship Id="rId15" Type="http://schemas.openxmlformats.org/officeDocument/2006/relationships/tags" Target="../tags/tag613.xml"/><Relationship Id="rId10" Type="http://schemas.openxmlformats.org/officeDocument/2006/relationships/tags" Target="../tags/tag608.xml"/><Relationship Id="rId19" Type="http://schemas.openxmlformats.org/officeDocument/2006/relationships/tags" Target="../tags/tag617.xml"/><Relationship Id="rId4" Type="http://schemas.openxmlformats.org/officeDocument/2006/relationships/tags" Target="../tags/tag602.xml"/><Relationship Id="rId9" Type="http://schemas.openxmlformats.org/officeDocument/2006/relationships/tags" Target="../tags/tag607.xml"/><Relationship Id="rId14" Type="http://schemas.openxmlformats.org/officeDocument/2006/relationships/tags" Target="../tags/tag612.xml"/><Relationship Id="rId2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8" Type="http://schemas.openxmlformats.org/officeDocument/2006/relationships/tags" Target="../tags/tag626.xml"/><Relationship Id="rId13" Type="http://schemas.openxmlformats.org/officeDocument/2006/relationships/tags" Target="../tags/tag631.xml"/><Relationship Id="rId18" Type="http://schemas.openxmlformats.org/officeDocument/2006/relationships/tags" Target="../tags/tag636.xml"/><Relationship Id="rId3" Type="http://schemas.openxmlformats.org/officeDocument/2006/relationships/tags" Target="../tags/tag621.xml"/><Relationship Id="rId21" Type="http://schemas.openxmlformats.org/officeDocument/2006/relationships/tags" Target="../tags/tag639.xml"/><Relationship Id="rId7" Type="http://schemas.openxmlformats.org/officeDocument/2006/relationships/tags" Target="../tags/tag625.xml"/><Relationship Id="rId12" Type="http://schemas.openxmlformats.org/officeDocument/2006/relationships/tags" Target="../tags/tag630.xml"/><Relationship Id="rId17" Type="http://schemas.openxmlformats.org/officeDocument/2006/relationships/tags" Target="../tags/tag635.xml"/><Relationship Id="rId2" Type="http://schemas.openxmlformats.org/officeDocument/2006/relationships/tags" Target="../tags/tag620.xml"/><Relationship Id="rId16" Type="http://schemas.openxmlformats.org/officeDocument/2006/relationships/tags" Target="../tags/tag634.xml"/><Relationship Id="rId20" Type="http://schemas.openxmlformats.org/officeDocument/2006/relationships/tags" Target="../tags/tag638.xml"/><Relationship Id="rId1" Type="http://schemas.openxmlformats.org/officeDocument/2006/relationships/tags" Target="../tags/tag619.xml"/><Relationship Id="rId6" Type="http://schemas.openxmlformats.org/officeDocument/2006/relationships/tags" Target="../tags/tag624.xml"/><Relationship Id="rId11" Type="http://schemas.openxmlformats.org/officeDocument/2006/relationships/tags" Target="../tags/tag629.xml"/><Relationship Id="rId5" Type="http://schemas.openxmlformats.org/officeDocument/2006/relationships/tags" Target="../tags/tag623.xml"/><Relationship Id="rId15" Type="http://schemas.openxmlformats.org/officeDocument/2006/relationships/tags" Target="../tags/tag633.xml"/><Relationship Id="rId23" Type="http://schemas.openxmlformats.org/officeDocument/2006/relationships/notesSlide" Target="../notesSlides/notesSlide32.xml"/><Relationship Id="rId10" Type="http://schemas.openxmlformats.org/officeDocument/2006/relationships/tags" Target="../tags/tag628.xml"/><Relationship Id="rId19" Type="http://schemas.openxmlformats.org/officeDocument/2006/relationships/tags" Target="../tags/tag637.xml"/><Relationship Id="rId4" Type="http://schemas.openxmlformats.org/officeDocument/2006/relationships/tags" Target="../tags/tag622.xml"/><Relationship Id="rId9" Type="http://schemas.openxmlformats.org/officeDocument/2006/relationships/tags" Target="../tags/tag627.xml"/><Relationship Id="rId14" Type="http://schemas.openxmlformats.org/officeDocument/2006/relationships/tags" Target="../tags/tag632.xml"/><Relationship Id="rId22"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tags" Target="../tags/tag647.xml"/><Relationship Id="rId13" Type="http://schemas.openxmlformats.org/officeDocument/2006/relationships/tags" Target="../tags/tag652.xml"/><Relationship Id="rId18" Type="http://schemas.openxmlformats.org/officeDocument/2006/relationships/tags" Target="../tags/tag657.xml"/><Relationship Id="rId3" Type="http://schemas.openxmlformats.org/officeDocument/2006/relationships/tags" Target="../tags/tag642.xml"/><Relationship Id="rId21" Type="http://schemas.openxmlformats.org/officeDocument/2006/relationships/notesSlide" Target="../notesSlides/notesSlide33.xml"/><Relationship Id="rId7" Type="http://schemas.openxmlformats.org/officeDocument/2006/relationships/tags" Target="../tags/tag646.xml"/><Relationship Id="rId12" Type="http://schemas.openxmlformats.org/officeDocument/2006/relationships/tags" Target="../tags/tag651.xml"/><Relationship Id="rId17" Type="http://schemas.openxmlformats.org/officeDocument/2006/relationships/tags" Target="../tags/tag656.xml"/><Relationship Id="rId2" Type="http://schemas.openxmlformats.org/officeDocument/2006/relationships/tags" Target="../tags/tag641.xml"/><Relationship Id="rId16" Type="http://schemas.openxmlformats.org/officeDocument/2006/relationships/tags" Target="../tags/tag655.xml"/><Relationship Id="rId20" Type="http://schemas.openxmlformats.org/officeDocument/2006/relationships/slideLayout" Target="../slideLayouts/slideLayout2.xml"/><Relationship Id="rId1" Type="http://schemas.openxmlformats.org/officeDocument/2006/relationships/tags" Target="../tags/tag640.xml"/><Relationship Id="rId6" Type="http://schemas.openxmlformats.org/officeDocument/2006/relationships/tags" Target="../tags/tag645.xml"/><Relationship Id="rId11" Type="http://schemas.openxmlformats.org/officeDocument/2006/relationships/tags" Target="../tags/tag650.xml"/><Relationship Id="rId5" Type="http://schemas.openxmlformats.org/officeDocument/2006/relationships/tags" Target="../tags/tag644.xml"/><Relationship Id="rId15" Type="http://schemas.openxmlformats.org/officeDocument/2006/relationships/tags" Target="../tags/tag654.xml"/><Relationship Id="rId10" Type="http://schemas.openxmlformats.org/officeDocument/2006/relationships/tags" Target="../tags/tag649.xml"/><Relationship Id="rId19" Type="http://schemas.openxmlformats.org/officeDocument/2006/relationships/tags" Target="../tags/tag658.xml"/><Relationship Id="rId4" Type="http://schemas.openxmlformats.org/officeDocument/2006/relationships/tags" Target="../tags/tag643.xml"/><Relationship Id="rId9" Type="http://schemas.openxmlformats.org/officeDocument/2006/relationships/tags" Target="../tags/tag648.xml"/><Relationship Id="rId14" Type="http://schemas.openxmlformats.org/officeDocument/2006/relationships/tags" Target="../tags/tag653.xml"/></Relationships>
</file>

<file path=ppt/slides/_rels/slide34.xml.rels><?xml version="1.0" encoding="UTF-8" standalone="yes"?>
<Relationships xmlns="http://schemas.openxmlformats.org/package/2006/relationships"><Relationship Id="rId8" Type="http://schemas.openxmlformats.org/officeDocument/2006/relationships/tags" Target="../tags/tag666.xml"/><Relationship Id="rId13" Type="http://schemas.openxmlformats.org/officeDocument/2006/relationships/tags" Target="../tags/tag671.xml"/><Relationship Id="rId18" Type="http://schemas.openxmlformats.org/officeDocument/2006/relationships/tags" Target="../tags/tag676.xml"/><Relationship Id="rId3" Type="http://schemas.openxmlformats.org/officeDocument/2006/relationships/tags" Target="../tags/tag661.xml"/><Relationship Id="rId21" Type="http://schemas.openxmlformats.org/officeDocument/2006/relationships/tags" Target="../tags/tag679.xml"/><Relationship Id="rId7" Type="http://schemas.openxmlformats.org/officeDocument/2006/relationships/tags" Target="../tags/tag665.xml"/><Relationship Id="rId12" Type="http://schemas.openxmlformats.org/officeDocument/2006/relationships/tags" Target="../tags/tag670.xml"/><Relationship Id="rId17" Type="http://schemas.openxmlformats.org/officeDocument/2006/relationships/tags" Target="../tags/tag675.xml"/><Relationship Id="rId2" Type="http://schemas.openxmlformats.org/officeDocument/2006/relationships/tags" Target="../tags/tag660.xml"/><Relationship Id="rId16" Type="http://schemas.openxmlformats.org/officeDocument/2006/relationships/tags" Target="../tags/tag674.xml"/><Relationship Id="rId20" Type="http://schemas.openxmlformats.org/officeDocument/2006/relationships/tags" Target="../tags/tag678.xml"/><Relationship Id="rId1" Type="http://schemas.openxmlformats.org/officeDocument/2006/relationships/tags" Target="../tags/tag659.xml"/><Relationship Id="rId6" Type="http://schemas.openxmlformats.org/officeDocument/2006/relationships/tags" Target="../tags/tag664.xml"/><Relationship Id="rId11" Type="http://schemas.openxmlformats.org/officeDocument/2006/relationships/tags" Target="../tags/tag669.xml"/><Relationship Id="rId24" Type="http://schemas.openxmlformats.org/officeDocument/2006/relationships/notesSlide" Target="../notesSlides/notesSlide34.xml"/><Relationship Id="rId5" Type="http://schemas.openxmlformats.org/officeDocument/2006/relationships/tags" Target="../tags/tag663.xml"/><Relationship Id="rId15" Type="http://schemas.openxmlformats.org/officeDocument/2006/relationships/tags" Target="../tags/tag673.xml"/><Relationship Id="rId23" Type="http://schemas.openxmlformats.org/officeDocument/2006/relationships/slideLayout" Target="../slideLayouts/slideLayout2.xml"/><Relationship Id="rId10" Type="http://schemas.openxmlformats.org/officeDocument/2006/relationships/tags" Target="../tags/tag668.xml"/><Relationship Id="rId19" Type="http://schemas.openxmlformats.org/officeDocument/2006/relationships/tags" Target="../tags/tag677.xml"/><Relationship Id="rId4" Type="http://schemas.openxmlformats.org/officeDocument/2006/relationships/tags" Target="../tags/tag662.xml"/><Relationship Id="rId9" Type="http://schemas.openxmlformats.org/officeDocument/2006/relationships/tags" Target="../tags/tag667.xml"/><Relationship Id="rId14" Type="http://schemas.openxmlformats.org/officeDocument/2006/relationships/tags" Target="../tags/tag672.xml"/><Relationship Id="rId22" Type="http://schemas.openxmlformats.org/officeDocument/2006/relationships/tags" Target="../tags/tag680.xml"/></Relationships>
</file>

<file path=ppt/slides/_rels/slide35.xml.rels><?xml version="1.0" encoding="UTF-8" standalone="yes"?>
<Relationships xmlns="http://schemas.openxmlformats.org/package/2006/relationships"><Relationship Id="rId8" Type="http://schemas.openxmlformats.org/officeDocument/2006/relationships/tags" Target="../tags/tag688.xml"/><Relationship Id="rId13" Type="http://schemas.openxmlformats.org/officeDocument/2006/relationships/tags" Target="../tags/tag693.xml"/><Relationship Id="rId18" Type="http://schemas.openxmlformats.org/officeDocument/2006/relationships/tags" Target="../tags/tag698.xml"/><Relationship Id="rId3" Type="http://schemas.openxmlformats.org/officeDocument/2006/relationships/tags" Target="../tags/tag683.xml"/><Relationship Id="rId21" Type="http://schemas.openxmlformats.org/officeDocument/2006/relationships/slideLayout" Target="../slideLayouts/slideLayout2.xml"/><Relationship Id="rId7" Type="http://schemas.openxmlformats.org/officeDocument/2006/relationships/tags" Target="../tags/tag687.xml"/><Relationship Id="rId12" Type="http://schemas.openxmlformats.org/officeDocument/2006/relationships/tags" Target="../tags/tag692.xml"/><Relationship Id="rId17" Type="http://schemas.openxmlformats.org/officeDocument/2006/relationships/tags" Target="../tags/tag697.xml"/><Relationship Id="rId2" Type="http://schemas.openxmlformats.org/officeDocument/2006/relationships/tags" Target="../tags/tag682.xml"/><Relationship Id="rId16" Type="http://schemas.openxmlformats.org/officeDocument/2006/relationships/tags" Target="../tags/tag696.xml"/><Relationship Id="rId20" Type="http://schemas.openxmlformats.org/officeDocument/2006/relationships/tags" Target="../tags/tag700.xml"/><Relationship Id="rId1" Type="http://schemas.openxmlformats.org/officeDocument/2006/relationships/tags" Target="../tags/tag681.xml"/><Relationship Id="rId6" Type="http://schemas.openxmlformats.org/officeDocument/2006/relationships/tags" Target="../tags/tag686.xml"/><Relationship Id="rId11" Type="http://schemas.openxmlformats.org/officeDocument/2006/relationships/tags" Target="../tags/tag691.xml"/><Relationship Id="rId5" Type="http://schemas.openxmlformats.org/officeDocument/2006/relationships/tags" Target="../tags/tag685.xml"/><Relationship Id="rId15" Type="http://schemas.openxmlformats.org/officeDocument/2006/relationships/tags" Target="../tags/tag695.xml"/><Relationship Id="rId10" Type="http://schemas.openxmlformats.org/officeDocument/2006/relationships/tags" Target="../tags/tag690.xml"/><Relationship Id="rId19" Type="http://schemas.openxmlformats.org/officeDocument/2006/relationships/tags" Target="../tags/tag699.xml"/><Relationship Id="rId4" Type="http://schemas.openxmlformats.org/officeDocument/2006/relationships/tags" Target="../tags/tag684.xml"/><Relationship Id="rId9" Type="http://schemas.openxmlformats.org/officeDocument/2006/relationships/tags" Target="../tags/tag689.xml"/><Relationship Id="rId14" Type="http://schemas.openxmlformats.org/officeDocument/2006/relationships/tags" Target="../tags/tag694.xml"/><Relationship Id="rId2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8" Type="http://schemas.openxmlformats.org/officeDocument/2006/relationships/tags" Target="../tags/tag708.xml"/><Relationship Id="rId13" Type="http://schemas.openxmlformats.org/officeDocument/2006/relationships/tags" Target="../tags/tag713.xml"/><Relationship Id="rId18" Type="http://schemas.openxmlformats.org/officeDocument/2006/relationships/tags" Target="../tags/tag718.xml"/><Relationship Id="rId3" Type="http://schemas.openxmlformats.org/officeDocument/2006/relationships/tags" Target="../tags/tag703.xml"/><Relationship Id="rId21" Type="http://schemas.openxmlformats.org/officeDocument/2006/relationships/tags" Target="../tags/tag721.xml"/><Relationship Id="rId7" Type="http://schemas.openxmlformats.org/officeDocument/2006/relationships/tags" Target="../tags/tag707.xml"/><Relationship Id="rId12" Type="http://schemas.openxmlformats.org/officeDocument/2006/relationships/tags" Target="../tags/tag712.xml"/><Relationship Id="rId17" Type="http://schemas.openxmlformats.org/officeDocument/2006/relationships/tags" Target="../tags/tag717.xml"/><Relationship Id="rId2" Type="http://schemas.openxmlformats.org/officeDocument/2006/relationships/tags" Target="../tags/tag702.xml"/><Relationship Id="rId16" Type="http://schemas.openxmlformats.org/officeDocument/2006/relationships/tags" Target="../tags/tag716.xml"/><Relationship Id="rId20" Type="http://schemas.openxmlformats.org/officeDocument/2006/relationships/tags" Target="../tags/tag720.xml"/><Relationship Id="rId1" Type="http://schemas.openxmlformats.org/officeDocument/2006/relationships/tags" Target="../tags/tag701.xml"/><Relationship Id="rId6" Type="http://schemas.openxmlformats.org/officeDocument/2006/relationships/tags" Target="../tags/tag706.xml"/><Relationship Id="rId11" Type="http://schemas.openxmlformats.org/officeDocument/2006/relationships/tags" Target="../tags/tag711.xml"/><Relationship Id="rId24" Type="http://schemas.openxmlformats.org/officeDocument/2006/relationships/notesSlide" Target="../notesSlides/notesSlide36.xml"/><Relationship Id="rId5" Type="http://schemas.openxmlformats.org/officeDocument/2006/relationships/tags" Target="../tags/tag705.xml"/><Relationship Id="rId15" Type="http://schemas.openxmlformats.org/officeDocument/2006/relationships/tags" Target="../tags/tag715.xml"/><Relationship Id="rId23" Type="http://schemas.openxmlformats.org/officeDocument/2006/relationships/slideLayout" Target="../slideLayouts/slideLayout2.xml"/><Relationship Id="rId10" Type="http://schemas.openxmlformats.org/officeDocument/2006/relationships/tags" Target="../tags/tag710.xml"/><Relationship Id="rId19" Type="http://schemas.openxmlformats.org/officeDocument/2006/relationships/tags" Target="../tags/tag719.xml"/><Relationship Id="rId4" Type="http://schemas.openxmlformats.org/officeDocument/2006/relationships/tags" Target="../tags/tag704.xml"/><Relationship Id="rId9" Type="http://schemas.openxmlformats.org/officeDocument/2006/relationships/tags" Target="../tags/tag709.xml"/><Relationship Id="rId14" Type="http://schemas.openxmlformats.org/officeDocument/2006/relationships/tags" Target="../tags/tag714.xml"/><Relationship Id="rId22" Type="http://schemas.openxmlformats.org/officeDocument/2006/relationships/tags" Target="../tags/tag722.xml"/></Relationships>
</file>

<file path=ppt/slides/_rels/slide37.xml.rels><?xml version="1.0" encoding="UTF-8" standalone="yes"?>
<Relationships xmlns="http://schemas.openxmlformats.org/package/2006/relationships"><Relationship Id="rId8" Type="http://schemas.openxmlformats.org/officeDocument/2006/relationships/tags" Target="../tags/tag730.xml"/><Relationship Id="rId13" Type="http://schemas.openxmlformats.org/officeDocument/2006/relationships/tags" Target="../tags/tag735.xml"/><Relationship Id="rId18" Type="http://schemas.openxmlformats.org/officeDocument/2006/relationships/tags" Target="../tags/tag740.xml"/><Relationship Id="rId3" Type="http://schemas.openxmlformats.org/officeDocument/2006/relationships/tags" Target="../tags/tag725.xml"/><Relationship Id="rId21" Type="http://schemas.openxmlformats.org/officeDocument/2006/relationships/notesSlide" Target="../notesSlides/notesSlide37.xml"/><Relationship Id="rId7" Type="http://schemas.openxmlformats.org/officeDocument/2006/relationships/tags" Target="../tags/tag729.xml"/><Relationship Id="rId12" Type="http://schemas.openxmlformats.org/officeDocument/2006/relationships/tags" Target="../tags/tag734.xml"/><Relationship Id="rId17" Type="http://schemas.openxmlformats.org/officeDocument/2006/relationships/tags" Target="../tags/tag739.xml"/><Relationship Id="rId2" Type="http://schemas.openxmlformats.org/officeDocument/2006/relationships/tags" Target="../tags/tag724.xml"/><Relationship Id="rId16" Type="http://schemas.openxmlformats.org/officeDocument/2006/relationships/tags" Target="../tags/tag738.xml"/><Relationship Id="rId20" Type="http://schemas.openxmlformats.org/officeDocument/2006/relationships/slideLayout" Target="../slideLayouts/slideLayout2.xml"/><Relationship Id="rId1" Type="http://schemas.openxmlformats.org/officeDocument/2006/relationships/tags" Target="../tags/tag723.xml"/><Relationship Id="rId6" Type="http://schemas.openxmlformats.org/officeDocument/2006/relationships/tags" Target="../tags/tag728.xml"/><Relationship Id="rId11" Type="http://schemas.openxmlformats.org/officeDocument/2006/relationships/tags" Target="../tags/tag733.xml"/><Relationship Id="rId5" Type="http://schemas.openxmlformats.org/officeDocument/2006/relationships/tags" Target="../tags/tag727.xml"/><Relationship Id="rId15" Type="http://schemas.openxmlformats.org/officeDocument/2006/relationships/tags" Target="../tags/tag737.xml"/><Relationship Id="rId10" Type="http://schemas.openxmlformats.org/officeDocument/2006/relationships/tags" Target="../tags/tag732.xml"/><Relationship Id="rId19" Type="http://schemas.openxmlformats.org/officeDocument/2006/relationships/tags" Target="../tags/tag741.xml"/><Relationship Id="rId4" Type="http://schemas.openxmlformats.org/officeDocument/2006/relationships/tags" Target="../tags/tag726.xml"/><Relationship Id="rId9" Type="http://schemas.openxmlformats.org/officeDocument/2006/relationships/tags" Target="../tags/tag731.xml"/><Relationship Id="rId14" Type="http://schemas.openxmlformats.org/officeDocument/2006/relationships/tags" Target="../tags/tag7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F831BF55-F706-4EA0-ADB2-762E59B97EC4}"/>
              </a:ext>
            </a:extLst>
          </p:cNvPr>
          <p:cNvSpPr>
            <a:spLocks noGrp="1"/>
          </p:cNvSpPr>
          <p:nvPr>
            <p:ph type="ctrTitle"/>
            <p:custDataLst>
              <p:tags r:id="rId2"/>
            </p:custDataLst>
          </p:nvPr>
        </p:nvSpPr>
        <p:spPr>
          <a:xfrm>
            <a:off x="457200" y="2495550"/>
            <a:ext cx="8229600" cy="1238250"/>
          </a:xfrm>
        </p:spPr>
        <p:txBody>
          <a:bodyPr/>
          <a:lstStyle/>
          <a:p>
            <a:pPr eaLnBrk="1" hangingPunct="1"/>
            <a:r>
              <a:rPr lang="en-US" altLang="en-US" dirty="0"/>
              <a:t>ECE/CS 552: Shared Memory and Coherence</a:t>
            </a:r>
          </a:p>
        </p:txBody>
      </p:sp>
      <p:sp>
        <p:nvSpPr>
          <p:cNvPr id="3" name="Subtitle 2">
            <a:extLst>
              <a:ext uri="{FF2B5EF4-FFF2-40B4-BE49-F238E27FC236}">
                <a16:creationId xmlns:a16="http://schemas.microsoft.com/office/drawing/2014/main" id="{60F7F15D-B052-485D-B6FA-83AEEE3C0BC0}"/>
              </a:ext>
            </a:extLst>
          </p:cNvPr>
          <p:cNvSpPr>
            <a:spLocks noGrp="1"/>
          </p:cNvSpPr>
          <p:nvPr>
            <p:ph type="subTitle" idx="1"/>
            <p:custDataLst>
              <p:tags r:id="rId3"/>
            </p:custDataLst>
          </p:nvPr>
        </p:nvSpPr>
        <p:spPr>
          <a:xfrm>
            <a:off x="1371600" y="3886200"/>
            <a:ext cx="6400800" cy="1752600"/>
          </a:xfrm>
        </p:spPr>
        <p:txBody>
          <a:bodyPr>
            <a:noAutofit/>
          </a:bodyPr>
          <a:lstStyle/>
          <a:p>
            <a:pPr eaLnBrk="1" hangingPunct="1">
              <a:buFont typeface="Arial" charset="0"/>
              <a:buNone/>
              <a:defRPr/>
            </a:pPr>
            <a:r>
              <a:rPr lang="en-US" sz="2200" dirty="0"/>
              <a:t>Boone Severson </a:t>
            </a:r>
          </a:p>
          <a:p>
            <a:pPr eaLnBrk="1" hangingPunct="1">
              <a:buFont typeface="Arial" charset="0"/>
              <a:buNone/>
              <a:defRPr/>
            </a:pPr>
            <a:endParaRPr lang="en-US" sz="2200" dirty="0"/>
          </a:p>
          <a:p>
            <a:pPr eaLnBrk="1" hangingPunct="1">
              <a:buFont typeface="Arial" charset="0"/>
              <a:buNone/>
              <a:defRPr/>
            </a:pPr>
            <a:r>
              <a:rPr lang="en-US" sz="2200" dirty="0"/>
              <a:t>Lecture notes based in part on slides created by Joshua San Miguel, </a:t>
            </a:r>
            <a:r>
              <a:rPr lang="en-US" sz="2200" dirty="0" err="1"/>
              <a:t>Mikko</a:t>
            </a:r>
            <a:r>
              <a:rPr lang="en-US" sz="2200" dirty="0"/>
              <a:t> </a:t>
            </a:r>
            <a:r>
              <a:rPr lang="en-US" sz="2200" dirty="0" err="1"/>
              <a:t>Lipasti</a:t>
            </a:r>
            <a:r>
              <a:rPr lang="en-US" sz="2200" dirty="0"/>
              <a:t>, Mark Hill, David Wood, </a:t>
            </a:r>
            <a:r>
              <a:rPr lang="en-US" sz="2200" dirty="0" err="1"/>
              <a:t>Guri</a:t>
            </a:r>
            <a:r>
              <a:rPr lang="en-US" sz="2200" dirty="0"/>
              <a:t> Sohi, John Shen and Jim Smith</a:t>
            </a:r>
          </a:p>
          <a:p>
            <a:pPr eaLnBrk="1" hangingPunct="1">
              <a:buFont typeface="Arial" charset="0"/>
              <a:buNone/>
              <a:defRPr/>
            </a:pPr>
            <a:r>
              <a:rPr lang="en-US" sz="2200" dirty="0"/>
              <a:t>  </a:t>
            </a:r>
          </a:p>
          <a:p>
            <a:pPr eaLnBrk="1" hangingPunct="1">
              <a:buFont typeface="Arial" charset="0"/>
              <a:buNone/>
              <a:defRPr/>
            </a:pPr>
            <a:endParaRPr lang="en-US" sz="2200"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Shared Memory</a:t>
            </a:r>
          </a:p>
        </p:txBody>
      </p:sp>
      <p:sp>
        <p:nvSpPr>
          <p:cNvPr id="5123" name="Rectangle 3">
            <a:extLst>
              <a:ext uri="{FF2B5EF4-FFF2-40B4-BE49-F238E27FC236}">
                <a16:creationId xmlns:a16="http://schemas.microsoft.com/office/drawing/2014/main" id="{EF56DE11-1CD6-4AB1-ADE4-E75FAD219132}"/>
              </a:ext>
            </a:extLst>
          </p:cNvPr>
          <p:cNvSpPr>
            <a:spLocks noGrp="1" noChangeArrowheads="1"/>
          </p:cNvSpPr>
          <p:nvPr>
            <p:ph idx="1"/>
            <p:custDataLst>
              <p:tags r:id="rId3"/>
            </p:custDataLst>
          </p:nvPr>
        </p:nvSpPr>
        <p:spPr>
          <a:xfrm>
            <a:off x="457200" y="1600200"/>
            <a:ext cx="8458200" cy="3428999"/>
          </a:xfrm>
        </p:spPr>
        <p:txBody>
          <a:bodyPr/>
          <a:lstStyle/>
          <a:p>
            <a:pPr eaLnBrk="1" hangingPunct="1"/>
            <a:r>
              <a:rPr lang="en-US" altLang="en-US" dirty="0"/>
              <a:t>Programming model for implicit communication</a:t>
            </a:r>
          </a:p>
          <a:p>
            <a:pPr lvl="1" eaLnBrk="1" hangingPunct="1"/>
            <a:r>
              <a:rPr lang="en-US" altLang="en-US" dirty="0"/>
              <a:t>Between different threads in the same process</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2</a:t>
            </a:fld>
            <a:endParaRPr lang="en-US" altLang="en-US" sz="1400">
              <a:latin typeface="Times New Roman" panose="02020603050405020304" pitchFamily="18" charset="0"/>
            </a:endParaRPr>
          </a:p>
        </p:txBody>
      </p:sp>
      <p:sp>
        <p:nvSpPr>
          <p:cNvPr id="11" name="Rectangle 10">
            <a:extLst>
              <a:ext uri="{FF2B5EF4-FFF2-40B4-BE49-F238E27FC236}">
                <a16:creationId xmlns:a16="http://schemas.microsoft.com/office/drawing/2014/main" id="{38761EBC-B530-44E9-980F-152E36D3E45F}"/>
              </a:ext>
            </a:extLst>
          </p:cNvPr>
          <p:cNvSpPr/>
          <p:nvPr>
            <p:custDataLst>
              <p:tags r:id="rId5"/>
            </p:custDataLst>
          </p:nvPr>
        </p:nvSpPr>
        <p:spPr bwMode="auto">
          <a:xfrm>
            <a:off x="2476021" y="2971800"/>
            <a:ext cx="1676400" cy="2819400"/>
          </a:xfrm>
          <a:prstGeom prst="rect">
            <a:avLst/>
          </a:prstGeom>
          <a:solidFill>
            <a:schemeClr val="accent2">
              <a:lumMod val="20000"/>
              <a:lumOff val="80000"/>
            </a:schemeClr>
          </a:solidFill>
          <a:ln w="25400" cap="flat" cmpd="sng" algn="ctr">
            <a:solidFill>
              <a:schemeClr val="tx1"/>
            </a:solidFill>
            <a:prstDash val="solid"/>
            <a:headEnd type="none" w="med" len="med"/>
            <a:tailEnd type="none" w="med" len="med"/>
          </a:ln>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en-US" sz="1600" dirty="0">
                <a:solidFill>
                  <a:schemeClr val="tx1"/>
                </a:solidFill>
              </a:rPr>
              <a:t>shared</a:t>
            </a:r>
          </a:p>
        </p:txBody>
      </p:sp>
      <p:sp>
        <p:nvSpPr>
          <p:cNvPr id="12" name="Rectangle 11">
            <a:extLst>
              <a:ext uri="{FF2B5EF4-FFF2-40B4-BE49-F238E27FC236}">
                <a16:creationId xmlns:a16="http://schemas.microsoft.com/office/drawing/2014/main" id="{91E59BF3-41D4-4448-A8DB-6BF7BEC1F917}"/>
              </a:ext>
            </a:extLst>
          </p:cNvPr>
          <p:cNvSpPr/>
          <p:nvPr>
            <p:custDataLst>
              <p:tags r:id="rId6"/>
            </p:custDataLst>
          </p:nvPr>
        </p:nvSpPr>
        <p:spPr bwMode="auto">
          <a:xfrm>
            <a:off x="2476021" y="6359726"/>
            <a:ext cx="1676400" cy="422073"/>
          </a:xfrm>
          <a:prstGeom prst="rect">
            <a:avLst/>
          </a:prstGeom>
          <a:solidFill>
            <a:schemeClr val="accent2">
              <a:lumMod val="60000"/>
              <a:lumOff val="40000"/>
            </a:schemeClr>
          </a:solidFill>
          <a:ln w="25400" cap="flat" cmpd="sng" algn="ctr">
            <a:solidFill>
              <a:schemeClr val="tx1"/>
            </a:solidFill>
            <a:prstDash val="solid"/>
            <a:headEnd type="none" w="med" len="med"/>
            <a:tailEnd type="none" w="med" len="med"/>
          </a:ln>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rPr>
              <a:t>T</a:t>
            </a:r>
            <a:r>
              <a:rPr kumimoji="0" lang="en-US" sz="1600" b="0" i="0" u="none" strike="noStrike" cap="none" normalizeH="0" baseline="-25000" dirty="0">
                <a:ln>
                  <a:noFill/>
                </a:ln>
                <a:solidFill>
                  <a:schemeClr val="tx1"/>
                </a:solidFill>
                <a:effectLst/>
              </a:rPr>
              <a:t>0</a:t>
            </a:r>
            <a:r>
              <a:rPr kumimoji="0" lang="en-US" sz="1600" b="0" i="0" u="none" strike="noStrike" cap="none" normalizeH="0" baseline="0" dirty="0">
                <a:ln>
                  <a:noFill/>
                </a:ln>
                <a:solidFill>
                  <a:schemeClr val="tx1"/>
                </a:solidFill>
                <a:effectLst/>
              </a:rPr>
              <a:t> private</a:t>
            </a:r>
          </a:p>
        </p:txBody>
      </p:sp>
      <p:sp>
        <p:nvSpPr>
          <p:cNvPr id="13" name="Rectangle 12">
            <a:extLst>
              <a:ext uri="{FF2B5EF4-FFF2-40B4-BE49-F238E27FC236}">
                <a16:creationId xmlns:a16="http://schemas.microsoft.com/office/drawing/2014/main" id="{04167BAF-FAD5-478D-A3A3-9D84014CE59A}"/>
              </a:ext>
            </a:extLst>
          </p:cNvPr>
          <p:cNvSpPr/>
          <p:nvPr>
            <p:custDataLst>
              <p:tags r:id="rId7"/>
            </p:custDataLst>
          </p:nvPr>
        </p:nvSpPr>
        <p:spPr bwMode="auto">
          <a:xfrm>
            <a:off x="5763037" y="3322007"/>
            <a:ext cx="1676400" cy="3124200"/>
          </a:xfrm>
          <a:prstGeom prst="rect">
            <a:avLst/>
          </a:prstGeom>
          <a:solidFill>
            <a:schemeClr val="bg2"/>
          </a:solidFill>
          <a:ln w="2540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endParaRPr lang="en-US" sz="1600" dirty="0">
              <a:solidFill>
                <a:schemeClr val="tx1"/>
              </a:solidFill>
            </a:endParaRPr>
          </a:p>
        </p:txBody>
      </p:sp>
      <p:sp>
        <p:nvSpPr>
          <p:cNvPr id="16" name="Flowchart: Process 15">
            <a:extLst>
              <a:ext uri="{FF2B5EF4-FFF2-40B4-BE49-F238E27FC236}">
                <a16:creationId xmlns:a16="http://schemas.microsoft.com/office/drawing/2014/main" id="{6958FD8B-43A9-4F05-ADC4-DB8CB4A33892}"/>
              </a:ext>
            </a:extLst>
          </p:cNvPr>
          <p:cNvSpPr/>
          <p:nvPr>
            <p:custDataLst>
              <p:tags r:id="rId8"/>
            </p:custDataLst>
          </p:nvPr>
        </p:nvSpPr>
        <p:spPr bwMode="auto">
          <a:xfrm>
            <a:off x="2675129" y="4561026"/>
            <a:ext cx="533400" cy="304800"/>
          </a:xfrm>
          <a:prstGeom prst="flowChartProcess">
            <a:avLst/>
          </a:prstGeom>
          <a:solidFill>
            <a:schemeClr val="tx1"/>
          </a:solid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mn-lt"/>
            </a:endParaRPr>
          </a:p>
        </p:txBody>
      </p:sp>
      <p:sp>
        <p:nvSpPr>
          <p:cNvPr id="17" name="TextBox 16">
            <a:extLst>
              <a:ext uri="{FF2B5EF4-FFF2-40B4-BE49-F238E27FC236}">
                <a16:creationId xmlns:a16="http://schemas.microsoft.com/office/drawing/2014/main" id="{E27B5F69-BA29-4DD6-B633-BA622C7A016B}"/>
              </a:ext>
            </a:extLst>
          </p:cNvPr>
          <p:cNvSpPr txBox="1"/>
          <p:nvPr>
            <p:custDataLst>
              <p:tags r:id="rId9"/>
            </p:custDataLst>
          </p:nvPr>
        </p:nvSpPr>
        <p:spPr>
          <a:xfrm>
            <a:off x="1351050" y="4343400"/>
            <a:ext cx="904607" cy="369332"/>
          </a:xfrm>
          <a:prstGeom prst="rect">
            <a:avLst/>
          </a:prstGeom>
          <a:noFill/>
        </p:spPr>
        <p:txBody>
          <a:bodyPr wrap="none" rtlCol="0">
            <a:spAutoFit/>
          </a:bodyPr>
          <a:lstStyle/>
          <a:p>
            <a:pPr algn="l"/>
            <a:r>
              <a:rPr lang="en-US" sz="1800" dirty="0">
                <a:latin typeface="+mn-lt"/>
              </a:rPr>
              <a:t>T</a:t>
            </a:r>
            <a:r>
              <a:rPr lang="en-US" sz="1800" baseline="-25000" dirty="0">
                <a:latin typeface="+mn-lt"/>
              </a:rPr>
              <a:t>0</a:t>
            </a:r>
            <a:r>
              <a:rPr lang="en-US" sz="1800" dirty="0">
                <a:latin typeface="+mn-lt"/>
              </a:rPr>
              <a:t> store</a:t>
            </a:r>
            <a:endParaRPr lang="en-US" sz="1800" i="1" baseline="-25000" dirty="0">
              <a:latin typeface="+mn-lt"/>
            </a:endParaRPr>
          </a:p>
        </p:txBody>
      </p:sp>
      <p:sp>
        <p:nvSpPr>
          <p:cNvPr id="19" name="TextBox 18">
            <a:extLst>
              <a:ext uri="{FF2B5EF4-FFF2-40B4-BE49-F238E27FC236}">
                <a16:creationId xmlns:a16="http://schemas.microsoft.com/office/drawing/2014/main" id="{5725E9EA-9C55-462F-8CBB-1EA81E2A0451}"/>
              </a:ext>
            </a:extLst>
          </p:cNvPr>
          <p:cNvSpPr txBox="1"/>
          <p:nvPr>
            <p:custDataLst>
              <p:tags r:id="rId10"/>
            </p:custDataLst>
          </p:nvPr>
        </p:nvSpPr>
        <p:spPr>
          <a:xfrm>
            <a:off x="1455929" y="4643715"/>
            <a:ext cx="822789" cy="369332"/>
          </a:xfrm>
          <a:prstGeom prst="rect">
            <a:avLst/>
          </a:prstGeom>
          <a:noFill/>
        </p:spPr>
        <p:txBody>
          <a:bodyPr wrap="none" rtlCol="0">
            <a:spAutoFit/>
          </a:bodyPr>
          <a:lstStyle/>
          <a:p>
            <a:pPr algn="l"/>
            <a:r>
              <a:rPr lang="en-US" sz="1800" dirty="0">
                <a:latin typeface="+mn-lt"/>
              </a:rPr>
              <a:t>T</a:t>
            </a:r>
            <a:r>
              <a:rPr lang="en-US" sz="1800" baseline="-25000" dirty="0">
                <a:latin typeface="+mn-lt"/>
              </a:rPr>
              <a:t>n</a:t>
            </a:r>
            <a:r>
              <a:rPr lang="en-US" sz="1800" dirty="0">
                <a:latin typeface="+mn-lt"/>
              </a:rPr>
              <a:t> load</a:t>
            </a:r>
            <a:endParaRPr lang="en-US" sz="1800" i="1" baseline="-25000" dirty="0">
              <a:latin typeface="+mn-lt"/>
            </a:endParaRPr>
          </a:p>
        </p:txBody>
      </p:sp>
      <p:cxnSp>
        <p:nvCxnSpPr>
          <p:cNvPr id="23" name="Straight Arrow Connector 22">
            <a:extLst>
              <a:ext uri="{FF2B5EF4-FFF2-40B4-BE49-F238E27FC236}">
                <a16:creationId xmlns:a16="http://schemas.microsoft.com/office/drawing/2014/main" id="{31BB25EF-638A-446C-8C9C-E616F63E84CB}"/>
              </a:ext>
            </a:extLst>
          </p:cNvPr>
          <p:cNvCxnSpPr>
            <a:cxnSpLocks/>
            <a:stCxn id="16" idx="3"/>
            <a:endCxn id="25" idx="1"/>
          </p:cNvCxnSpPr>
          <p:nvPr>
            <p:custDataLst>
              <p:tags r:id="rId11"/>
            </p:custDataLst>
          </p:nvPr>
        </p:nvCxnSpPr>
        <p:spPr bwMode="auto">
          <a:xfrm flipV="1">
            <a:off x="3208529" y="3855407"/>
            <a:ext cx="2923555" cy="858019"/>
          </a:xfrm>
          <a:prstGeom prst="straightConnector1">
            <a:avLst/>
          </a:prstGeom>
          <a:ln w="25400">
            <a:solidFill>
              <a:schemeClr val="tx1"/>
            </a:solidFill>
            <a:prstDash val="dash"/>
            <a:headEnd type="none" w="med" len="med"/>
            <a:tailEnd type="arrow"/>
          </a:ln>
        </p:spPr>
        <p:style>
          <a:lnRef idx="2">
            <a:schemeClr val="accent3"/>
          </a:lnRef>
          <a:fillRef idx="0">
            <a:schemeClr val="accent3"/>
          </a:fillRef>
          <a:effectRef idx="1">
            <a:schemeClr val="accent3"/>
          </a:effectRef>
          <a:fontRef idx="minor">
            <a:schemeClr val="tx1"/>
          </a:fontRef>
        </p:style>
      </p:cxnSp>
      <p:sp>
        <p:nvSpPr>
          <p:cNvPr id="25" name="Flowchart: Process 24">
            <a:extLst>
              <a:ext uri="{FF2B5EF4-FFF2-40B4-BE49-F238E27FC236}">
                <a16:creationId xmlns:a16="http://schemas.microsoft.com/office/drawing/2014/main" id="{1718064E-9C01-4F8C-892C-57A6F9CCC062}"/>
              </a:ext>
            </a:extLst>
          </p:cNvPr>
          <p:cNvSpPr/>
          <p:nvPr>
            <p:custDataLst>
              <p:tags r:id="rId12"/>
            </p:custDataLst>
          </p:nvPr>
        </p:nvSpPr>
        <p:spPr bwMode="auto">
          <a:xfrm>
            <a:off x="6132084" y="3703007"/>
            <a:ext cx="533400" cy="304800"/>
          </a:xfrm>
          <a:prstGeom prst="flowChartProcess">
            <a:avLst/>
          </a:prstGeom>
          <a:solidFill>
            <a:schemeClr val="tx1"/>
          </a:solid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mn-lt"/>
            </a:endParaRPr>
          </a:p>
        </p:txBody>
      </p:sp>
      <p:cxnSp>
        <p:nvCxnSpPr>
          <p:cNvPr id="26" name="Curved Connector 100">
            <a:extLst>
              <a:ext uri="{FF2B5EF4-FFF2-40B4-BE49-F238E27FC236}">
                <a16:creationId xmlns:a16="http://schemas.microsoft.com/office/drawing/2014/main" id="{06088CFE-79BA-417D-BB31-FCEB15C1A7A5}"/>
              </a:ext>
            </a:extLst>
          </p:cNvPr>
          <p:cNvCxnSpPr/>
          <p:nvPr>
            <p:custDataLst>
              <p:tags r:id="rId13"/>
            </p:custDataLst>
          </p:nvPr>
        </p:nvCxnSpPr>
        <p:spPr bwMode="auto">
          <a:xfrm flipH="1">
            <a:off x="2217929" y="4754283"/>
            <a:ext cx="457200" cy="76200"/>
          </a:xfrm>
          <a:prstGeom prst="curvedConnector3">
            <a:avLst>
              <a:gd name="adj1" fmla="val 50000"/>
            </a:avLst>
          </a:prstGeom>
          <a:ln w="25400">
            <a:solidFill>
              <a:schemeClr val="tx1"/>
            </a:solidFill>
            <a:headEnd type="none" w="med" len="med"/>
            <a:tailEnd type="arrow"/>
          </a:ln>
        </p:spPr>
        <p:style>
          <a:lnRef idx="2">
            <a:schemeClr val="accent2"/>
          </a:lnRef>
          <a:fillRef idx="0">
            <a:schemeClr val="accent2"/>
          </a:fillRef>
          <a:effectRef idx="1">
            <a:schemeClr val="accent2"/>
          </a:effectRef>
          <a:fontRef idx="minor">
            <a:schemeClr val="tx1"/>
          </a:fontRef>
        </p:style>
      </p:cxnSp>
      <p:cxnSp>
        <p:nvCxnSpPr>
          <p:cNvPr id="27" name="Curved Connector 101">
            <a:extLst>
              <a:ext uri="{FF2B5EF4-FFF2-40B4-BE49-F238E27FC236}">
                <a16:creationId xmlns:a16="http://schemas.microsoft.com/office/drawing/2014/main" id="{E31BE152-283B-41A0-B970-4FC29F175A9E}"/>
              </a:ext>
            </a:extLst>
          </p:cNvPr>
          <p:cNvCxnSpPr/>
          <p:nvPr>
            <p:custDataLst>
              <p:tags r:id="rId14"/>
            </p:custDataLst>
          </p:nvPr>
        </p:nvCxnSpPr>
        <p:spPr bwMode="auto">
          <a:xfrm>
            <a:off x="2217929" y="4582464"/>
            <a:ext cx="457200" cy="76200"/>
          </a:xfrm>
          <a:prstGeom prst="curvedConnector3">
            <a:avLst>
              <a:gd name="adj1" fmla="val 50000"/>
            </a:avLst>
          </a:prstGeom>
          <a:ln w="25400">
            <a:solidFill>
              <a:schemeClr val="tx1"/>
            </a:solidFill>
            <a:headEnd type="none" w="med" len="med"/>
            <a:tailEnd type="arrow"/>
          </a:ln>
        </p:spPr>
        <p:style>
          <a:lnRef idx="2">
            <a:schemeClr val="accent2"/>
          </a:lnRef>
          <a:fillRef idx="0">
            <a:schemeClr val="accent2"/>
          </a:fillRef>
          <a:effectRef idx="1">
            <a:schemeClr val="accent2"/>
          </a:effectRef>
          <a:fontRef idx="minor">
            <a:schemeClr val="tx1"/>
          </a:fontRef>
        </p:style>
      </p:cxnSp>
      <p:sp>
        <p:nvSpPr>
          <p:cNvPr id="30" name="TextBox 29">
            <a:extLst>
              <a:ext uri="{FF2B5EF4-FFF2-40B4-BE49-F238E27FC236}">
                <a16:creationId xmlns:a16="http://schemas.microsoft.com/office/drawing/2014/main" id="{A1F293FB-196B-4BD0-A8FA-3B9F1CB6C381}"/>
              </a:ext>
            </a:extLst>
          </p:cNvPr>
          <p:cNvSpPr txBox="1"/>
          <p:nvPr>
            <p:custDataLst>
              <p:tags r:id="rId15"/>
            </p:custDataLst>
          </p:nvPr>
        </p:nvSpPr>
        <p:spPr>
          <a:xfrm>
            <a:off x="5715000" y="2971800"/>
            <a:ext cx="1772473" cy="369332"/>
          </a:xfrm>
          <a:prstGeom prst="rect">
            <a:avLst/>
          </a:prstGeom>
          <a:noFill/>
        </p:spPr>
        <p:txBody>
          <a:bodyPr wrap="none" rtlCol="0">
            <a:spAutoFit/>
          </a:bodyPr>
          <a:lstStyle/>
          <a:p>
            <a:pPr algn="ctr"/>
            <a:r>
              <a:rPr lang="en-US" sz="1800" dirty="0">
                <a:latin typeface="+mn-lt"/>
              </a:rPr>
              <a:t>physical memory</a:t>
            </a:r>
            <a:endParaRPr lang="en-US" sz="1800" i="1" baseline="-25000" dirty="0">
              <a:latin typeface="+mn-lt"/>
            </a:endParaRPr>
          </a:p>
        </p:txBody>
      </p:sp>
      <p:sp>
        <p:nvSpPr>
          <p:cNvPr id="31" name="TextBox 30">
            <a:extLst>
              <a:ext uri="{FF2B5EF4-FFF2-40B4-BE49-F238E27FC236}">
                <a16:creationId xmlns:a16="http://schemas.microsoft.com/office/drawing/2014/main" id="{816A3B19-8F51-4F18-93BD-726B89711F2E}"/>
              </a:ext>
            </a:extLst>
          </p:cNvPr>
          <p:cNvSpPr txBox="1"/>
          <p:nvPr>
            <p:custDataLst>
              <p:tags r:id="rId16"/>
            </p:custDataLst>
          </p:nvPr>
        </p:nvSpPr>
        <p:spPr>
          <a:xfrm>
            <a:off x="2350137" y="2621593"/>
            <a:ext cx="1917063" cy="369332"/>
          </a:xfrm>
          <a:prstGeom prst="rect">
            <a:avLst/>
          </a:prstGeom>
          <a:noFill/>
        </p:spPr>
        <p:txBody>
          <a:bodyPr wrap="none" rtlCol="0">
            <a:spAutoFit/>
          </a:bodyPr>
          <a:lstStyle/>
          <a:p>
            <a:pPr algn="ctr"/>
            <a:r>
              <a:rPr lang="en-US" sz="1800" dirty="0">
                <a:latin typeface="+mn-lt"/>
              </a:rPr>
              <a:t>virtual memory P</a:t>
            </a:r>
            <a:r>
              <a:rPr lang="en-US" sz="1800" baseline="-25000" dirty="0">
                <a:latin typeface="+mn-lt"/>
              </a:rPr>
              <a:t>0</a:t>
            </a:r>
            <a:endParaRPr lang="en-US" sz="1800" i="1" baseline="-25000" dirty="0">
              <a:latin typeface="+mn-lt"/>
            </a:endParaRPr>
          </a:p>
        </p:txBody>
      </p:sp>
      <p:sp>
        <p:nvSpPr>
          <p:cNvPr id="35" name="Rectangle 34">
            <a:extLst>
              <a:ext uri="{FF2B5EF4-FFF2-40B4-BE49-F238E27FC236}">
                <a16:creationId xmlns:a16="http://schemas.microsoft.com/office/drawing/2014/main" id="{92D736C2-5B61-499F-91B4-893594E5811B}"/>
              </a:ext>
            </a:extLst>
          </p:cNvPr>
          <p:cNvSpPr/>
          <p:nvPr>
            <p:custDataLst>
              <p:tags r:id="rId17"/>
            </p:custDataLst>
          </p:nvPr>
        </p:nvSpPr>
        <p:spPr bwMode="auto">
          <a:xfrm>
            <a:off x="2476021" y="5791200"/>
            <a:ext cx="1676400" cy="990600"/>
          </a:xfrm>
          <a:prstGeom prst="rect">
            <a:avLst/>
          </a:prstGeom>
          <a:solidFill>
            <a:schemeClr val="accent2">
              <a:lumMod val="60000"/>
              <a:lumOff val="40000"/>
            </a:schemeClr>
          </a:solidFill>
          <a:ln w="2540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endParaRPr>
          </a:p>
        </p:txBody>
      </p:sp>
      <p:sp>
        <p:nvSpPr>
          <p:cNvPr id="36" name="Rectangle 35">
            <a:extLst>
              <a:ext uri="{FF2B5EF4-FFF2-40B4-BE49-F238E27FC236}">
                <a16:creationId xmlns:a16="http://schemas.microsoft.com/office/drawing/2014/main" id="{B2B9B272-5A4C-42CD-9DEE-46DDF08270E1}"/>
              </a:ext>
            </a:extLst>
          </p:cNvPr>
          <p:cNvSpPr/>
          <p:nvPr>
            <p:custDataLst>
              <p:tags r:id="rId18"/>
            </p:custDataLst>
          </p:nvPr>
        </p:nvSpPr>
        <p:spPr bwMode="auto">
          <a:xfrm>
            <a:off x="2476021" y="6359726"/>
            <a:ext cx="1676400" cy="422074"/>
          </a:xfrm>
          <a:prstGeom prst="rect">
            <a:avLst/>
          </a:prstGeom>
          <a:solidFill>
            <a:schemeClr val="accent2">
              <a:lumMod val="60000"/>
              <a:lumOff val="40000"/>
            </a:schemeClr>
          </a:solidFill>
          <a:ln w="25400" cap="flat" cmpd="sng" algn="ctr">
            <a:solidFill>
              <a:schemeClr val="tx1"/>
            </a:solidFill>
            <a:prstDash val="solid"/>
            <a:headEnd type="none" w="med" len="med"/>
            <a:tailEnd type="none" w="med" len="med"/>
          </a:ln>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rPr>
              <a:t>T</a:t>
            </a:r>
            <a:r>
              <a:rPr kumimoji="0" lang="en-US" sz="1600" b="0" i="0" u="none" strike="noStrike" cap="none" normalizeH="0" baseline="-25000" dirty="0">
                <a:ln>
                  <a:noFill/>
                </a:ln>
                <a:solidFill>
                  <a:schemeClr val="tx1"/>
                </a:solidFill>
                <a:effectLst/>
              </a:rPr>
              <a:t>0</a:t>
            </a:r>
            <a:r>
              <a:rPr kumimoji="0" lang="en-US" sz="1600" b="0" i="0" u="none" strike="noStrike" cap="none" normalizeH="0" baseline="0" dirty="0">
                <a:ln>
                  <a:noFill/>
                </a:ln>
                <a:solidFill>
                  <a:schemeClr val="tx1"/>
                </a:solidFill>
                <a:effectLst/>
              </a:rPr>
              <a:t> private</a:t>
            </a:r>
          </a:p>
        </p:txBody>
      </p:sp>
      <p:sp>
        <p:nvSpPr>
          <p:cNvPr id="37" name="Rectangle 36">
            <a:extLst>
              <a:ext uri="{FF2B5EF4-FFF2-40B4-BE49-F238E27FC236}">
                <a16:creationId xmlns:a16="http://schemas.microsoft.com/office/drawing/2014/main" id="{C3B30282-94AD-473A-A57E-3FA67D452C45}"/>
              </a:ext>
            </a:extLst>
          </p:cNvPr>
          <p:cNvSpPr/>
          <p:nvPr>
            <p:custDataLst>
              <p:tags r:id="rId19"/>
            </p:custDataLst>
          </p:nvPr>
        </p:nvSpPr>
        <p:spPr bwMode="auto">
          <a:xfrm>
            <a:off x="2470468" y="5780226"/>
            <a:ext cx="1676400" cy="422074"/>
          </a:xfrm>
          <a:prstGeom prst="rect">
            <a:avLst/>
          </a:prstGeom>
          <a:solidFill>
            <a:schemeClr val="accent2">
              <a:lumMod val="60000"/>
              <a:lumOff val="40000"/>
            </a:schemeClr>
          </a:solidFill>
          <a:ln w="25400" cap="flat" cmpd="sng" algn="ctr">
            <a:solidFill>
              <a:schemeClr val="tx1"/>
            </a:solidFill>
            <a:prstDash val="solid"/>
            <a:headEnd type="none" w="med" len="med"/>
            <a:tailEnd type="none" w="med" len="med"/>
          </a:ln>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rPr>
              <a:t>T</a:t>
            </a:r>
            <a:r>
              <a:rPr kumimoji="0" lang="en-US" sz="1600" b="0" i="0" u="none" strike="noStrike" cap="none" normalizeH="0" baseline="-25000" dirty="0">
                <a:ln>
                  <a:noFill/>
                </a:ln>
                <a:solidFill>
                  <a:schemeClr val="tx1"/>
                </a:solidFill>
                <a:effectLst/>
              </a:rPr>
              <a:t>n</a:t>
            </a:r>
            <a:r>
              <a:rPr kumimoji="0" lang="en-US" sz="1600" b="0" i="0" u="none" strike="noStrike" cap="none" normalizeH="0" baseline="0" dirty="0">
                <a:ln>
                  <a:noFill/>
                </a:ln>
                <a:solidFill>
                  <a:schemeClr val="tx1"/>
                </a:solidFill>
                <a:effectLst/>
              </a:rPr>
              <a:t> private</a:t>
            </a:r>
          </a:p>
        </p:txBody>
      </p:sp>
    </p:spTree>
    <p:custDataLst>
      <p:tags r:id="rId1"/>
    </p:custDataLst>
    <p:extLst>
      <p:ext uri="{BB962C8B-B14F-4D97-AF65-F5344CB8AC3E}">
        <p14:creationId xmlns:p14="http://schemas.microsoft.com/office/powerpoint/2010/main" val="210547114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Shared Memory</a:t>
            </a:r>
          </a:p>
        </p:txBody>
      </p:sp>
      <p:sp>
        <p:nvSpPr>
          <p:cNvPr id="5123" name="Rectangle 3">
            <a:extLst>
              <a:ext uri="{FF2B5EF4-FFF2-40B4-BE49-F238E27FC236}">
                <a16:creationId xmlns:a16="http://schemas.microsoft.com/office/drawing/2014/main" id="{EF56DE11-1CD6-4AB1-ADE4-E75FAD219132}"/>
              </a:ext>
            </a:extLst>
          </p:cNvPr>
          <p:cNvSpPr>
            <a:spLocks noGrp="1" noChangeArrowheads="1"/>
          </p:cNvSpPr>
          <p:nvPr>
            <p:ph idx="1"/>
            <p:custDataLst>
              <p:tags r:id="rId3"/>
            </p:custDataLst>
          </p:nvPr>
        </p:nvSpPr>
        <p:spPr>
          <a:xfrm>
            <a:off x="457200" y="1600200"/>
            <a:ext cx="8458200" cy="3428999"/>
          </a:xfrm>
        </p:spPr>
        <p:txBody>
          <a:bodyPr/>
          <a:lstStyle/>
          <a:p>
            <a:pPr eaLnBrk="1" hangingPunct="1"/>
            <a:r>
              <a:rPr lang="en-US" altLang="en-US" dirty="0"/>
              <a:t>Programming model for implicit communication</a:t>
            </a:r>
          </a:p>
          <a:p>
            <a:pPr lvl="1" eaLnBrk="1" hangingPunct="1"/>
            <a:r>
              <a:rPr lang="en-US" altLang="en-US" dirty="0"/>
              <a:t>Between different processes</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3</a:t>
            </a:fld>
            <a:endParaRPr lang="en-US" altLang="en-US" sz="1400">
              <a:latin typeface="Times New Roman" panose="02020603050405020304" pitchFamily="18" charset="0"/>
            </a:endParaRPr>
          </a:p>
        </p:txBody>
      </p:sp>
      <p:sp>
        <p:nvSpPr>
          <p:cNvPr id="5" name="Rectangle 4">
            <a:extLst>
              <a:ext uri="{FF2B5EF4-FFF2-40B4-BE49-F238E27FC236}">
                <a16:creationId xmlns:a16="http://schemas.microsoft.com/office/drawing/2014/main" id="{B26E4C69-D894-49E8-AF04-5A0712B09682}"/>
              </a:ext>
            </a:extLst>
          </p:cNvPr>
          <p:cNvSpPr/>
          <p:nvPr>
            <p:custDataLst>
              <p:tags r:id="rId5"/>
            </p:custDataLst>
          </p:nvPr>
        </p:nvSpPr>
        <p:spPr bwMode="auto">
          <a:xfrm>
            <a:off x="2620292" y="3048000"/>
            <a:ext cx="1676400" cy="1676400"/>
          </a:xfrm>
          <a:prstGeom prst="rect">
            <a:avLst/>
          </a:prstGeom>
          <a:solidFill>
            <a:schemeClr val="accent1">
              <a:lumMod val="20000"/>
              <a:lumOff val="80000"/>
            </a:schemeClr>
          </a:solidFill>
          <a:ln w="2540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b" anchorCtr="0" compatLnSpc="1">
            <a:prstTxWarp prst="textNoShape">
              <a:avLst/>
            </a:prstTxWarp>
          </a:bodyPr>
          <a:lstStyle/>
          <a:p>
            <a:endParaRPr lang="en-US" sz="2000" dirty="0">
              <a:solidFill>
                <a:schemeClr val="tx1"/>
              </a:solidFill>
            </a:endParaRPr>
          </a:p>
        </p:txBody>
      </p:sp>
      <p:sp>
        <p:nvSpPr>
          <p:cNvPr id="6" name="Rectangle 5">
            <a:extLst>
              <a:ext uri="{FF2B5EF4-FFF2-40B4-BE49-F238E27FC236}">
                <a16:creationId xmlns:a16="http://schemas.microsoft.com/office/drawing/2014/main" id="{BA52831C-211A-47E8-AE94-60C0B130AB7F}"/>
              </a:ext>
            </a:extLst>
          </p:cNvPr>
          <p:cNvSpPr/>
          <p:nvPr>
            <p:custDataLst>
              <p:tags r:id="rId6"/>
            </p:custDataLst>
          </p:nvPr>
        </p:nvSpPr>
        <p:spPr bwMode="auto">
          <a:xfrm>
            <a:off x="2620292" y="4724400"/>
            <a:ext cx="1676400" cy="990600"/>
          </a:xfrm>
          <a:prstGeom prst="rect">
            <a:avLst/>
          </a:prstGeom>
          <a:solidFill>
            <a:schemeClr val="accent1">
              <a:lumMod val="60000"/>
              <a:lumOff val="40000"/>
            </a:schemeClr>
          </a:solidFill>
          <a:ln w="2540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b"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a:ln>
                <a:noFill/>
              </a:ln>
              <a:solidFill>
                <a:schemeClr val="tx1"/>
              </a:solidFill>
              <a:effectLst/>
            </a:endParaRPr>
          </a:p>
        </p:txBody>
      </p:sp>
      <p:sp>
        <p:nvSpPr>
          <p:cNvPr id="7" name="Rectangle 6">
            <a:extLst>
              <a:ext uri="{FF2B5EF4-FFF2-40B4-BE49-F238E27FC236}">
                <a16:creationId xmlns:a16="http://schemas.microsoft.com/office/drawing/2014/main" id="{1C941BBA-BF2B-4F9B-AE44-DE643FEBD0A8}"/>
              </a:ext>
            </a:extLst>
          </p:cNvPr>
          <p:cNvSpPr/>
          <p:nvPr>
            <p:custDataLst>
              <p:tags r:id="rId7"/>
            </p:custDataLst>
          </p:nvPr>
        </p:nvSpPr>
        <p:spPr bwMode="auto">
          <a:xfrm>
            <a:off x="2467892" y="3733800"/>
            <a:ext cx="1676400" cy="1676400"/>
          </a:xfrm>
          <a:prstGeom prst="rect">
            <a:avLst/>
          </a:prstGeom>
          <a:solidFill>
            <a:schemeClr val="accent4">
              <a:lumMod val="20000"/>
              <a:lumOff val="80000"/>
            </a:schemeClr>
          </a:solidFill>
          <a:ln w="2540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b" anchorCtr="0" compatLnSpc="1">
            <a:prstTxWarp prst="textNoShape">
              <a:avLst/>
            </a:prstTxWarp>
          </a:bodyPr>
          <a:lstStyle/>
          <a:p>
            <a:endParaRPr lang="en-US" sz="2000" dirty="0">
              <a:solidFill>
                <a:schemeClr val="tx1"/>
              </a:solidFill>
            </a:endParaRPr>
          </a:p>
        </p:txBody>
      </p:sp>
      <p:sp>
        <p:nvSpPr>
          <p:cNvPr id="8" name="Rectangle 7">
            <a:extLst>
              <a:ext uri="{FF2B5EF4-FFF2-40B4-BE49-F238E27FC236}">
                <a16:creationId xmlns:a16="http://schemas.microsoft.com/office/drawing/2014/main" id="{8E8E1BF5-7D84-4FCF-B42A-CF498B38E4F4}"/>
              </a:ext>
            </a:extLst>
          </p:cNvPr>
          <p:cNvSpPr/>
          <p:nvPr>
            <p:custDataLst>
              <p:tags r:id="rId8"/>
            </p:custDataLst>
          </p:nvPr>
        </p:nvSpPr>
        <p:spPr bwMode="auto">
          <a:xfrm>
            <a:off x="2467892" y="5410200"/>
            <a:ext cx="1676400" cy="990600"/>
          </a:xfrm>
          <a:prstGeom prst="rect">
            <a:avLst/>
          </a:prstGeom>
          <a:solidFill>
            <a:schemeClr val="accent4">
              <a:lumMod val="60000"/>
              <a:lumOff val="40000"/>
            </a:schemeClr>
          </a:solidFill>
          <a:ln w="2540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b"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a:ln>
                <a:noFill/>
              </a:ln>
              <a:solidFill>
                <a:schemeClr val="tx1"/>
              </a:solidFill>
              <a:effectLst/>
            </a:endParaRPr>
          </a:p>
        </p:txBody>
      </p:sp>
      <p:sp>
        <p:nvSpPr>
          <p:cNvPr id="9" name="Rectangle 8">
            <a:extLst>
              <a:ext uri="{FF2B5EF4-FFF2-40B4-BE49-F238E27FC236}">
                <a16:creationId xmlns:a16="http://schemas.microsoft.com/office/drawing/2014/main" id="{EF051031-FB65-483F-BDFD-FAB594A1ECE3}"/>
              </a:ext>
            </a:extLst>
          </p:cNvPr>
          <p:cNvSpPr/>
          <p:nvPr>
            <p:custDataLst>
              <p:tags r:id="rId9"/>
            </p:custDataLst>
          </p:nvPr>
        </p:nvSpPr>
        <p:spPr bwMode="auto">
          <a:xfrm>
            <a:off x="2315492" y="3886200"/>
            <a:ext cx="1676400" cy="1676400"/>
          </a:xfrm>
          <a:prstGeom prst="rect">
            <a:avLst/>
          </a:prstGeom>
          <a:solidFill>
            <a:schemeClr val="accent6">
              <a:lumMod val="20000"/>
              <a:lumOff val="80000"/>
            </a:schemeClr>
          </a:solidFill>
          <a:ln w="2540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b" anchorCtr="0" compatLnSpc="1">
            <a:prstTxWarp prst="textNoShape">
              <a:avLst/>
            </a:prstTxWarp>
          </a:bodyPr>
          <a:lstStyle/>
          <a:p>
            <a:endParaRPr lang="en-US" sz="2000" dirty="0">
              <a:solidFill>
                <a:schemeClr val="tx1"/>
              </a:solidFill>
            </a:endParaRPr>
          </a:p>
        </p:txBody>
      </p:sp>
      <p:sp>
        <p:nvSpPr>
          <p:cNvPr id="10" name="Rectangle 9">
            <a:extLst>
              <a:ext uri="{FF2B5EF4-FFF2-40B4-BE49-F238E27FC236}">
                <a16:creationId xmlns:a16="http://schemas.microsoft.com/office/drawing/2014/main" id="{4B386DED-8545-4F11-BFCD-CB40D12F84AD}"/>
              </a:ext>
            </a:extLst>
          </p:cNvPr>
          <p:cNvSpPr/>
          <p:nvPr>
            <p:custDataLst>
              <p:tags r:id="rId10"/>
            </p:custDataLst>
          </p:nvPr>
        </p:nvSpPr>
        <p:spPr bwMode="auto">
          <a:xfrm>
            <a:off x="2315492" y="5562600"/>
            <a:ext cx="1676400" cy="990600"/>
          </a:xfrm>
          <a:prstGeom prst="rect">
            <a:avLst/>
          </a:prstGeom>
          <a:solidFill>
            <a:schemeClr val="accent6">
              <a:lumMod val="60000"/>
              <a:lumOff val="40000"/>
            </a:schemeClr>
          </a:solidFill>
          <a:ln w="2540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b"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a:ln>
                <a:noFill/>
              </a:ln>
              <a:solidFill>
                <a:schemeClr val="tx1"/>
              </a:solidFill>
              <a:effectLst/>
            </a:endParaRPr>
          </a:p>
        </p:txBody>
      </p:sp>
      <p:sp>
        <p:nvSpPr>
          <p:cNvPr id="11" name="Rectangle 10">
            <a:extLst>
              <a:ext uri="{FF2B5EF4-FFF2-40B4-BE49-F238E27FC236}">
                <a16:creationId xmlns:a16="http://schemas.microsoft.com/office/drawing/2014/main" id="{01389EDD-FCBA-4DA4-ABBA-942D60DD807F}"/>
              </a:ext>
            </a:extLst>
          </p:cNvPr>
          <p:cNvSpPr/>
          <p:nvPr>
            <p:custDataLst>
              <p:tags r:id="rId11"/>
            </p:custDataLst>
          </p:nvPr>
        </p:nvSpPr>
        <p:spPr bwMode="auto">
          <a:xfrm>
            <a:off x="2163092" y="4038600"/>
            <a:ext cx="1676400" cy="1676400"/>
          </a:xfrm>
          <a:prstGeom prst="rect">
            <a:avLst/>
          </a:prstGeom>
          <a:solidFill>
            <a:schemeClr val="accent2">
              <a:lumMod val="20000"/>
              <a:lumOff val="80000"/>
            </a:schemeClr>
          </a:solidFill>
          <a:ln w="25400" cap="flat" cmpd="sng" algn="ctr">
            <a:solidFill>
              <a:schemeClr val="tx1"/>
            </a:solidFill>
            <a:prstDash val="solid"/>
            <a:headEnd type="none" w="med" len="med"/>
            <a:tailEnd type="none" w="med" len="med"/>
          </a:ln>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en-US" sz="1600" dirty="0">
                <a:solidFill>
                  <a:schemeClr val="tx1"/>
                </a:solidFill>
              </a:rPr>
              <a:t>shared</a:t>
            </a:r>
          </a:p>
        </p:txBody>
      </p:sp>
      <p:sp>
        <p:nvSpPr>
          <p:cNvPr id="12" name="Rectangle 11">
            <a:extLst>
              <a:ext uri="{FF2B5EF4-FFF2-40B4-BE49-F238E27FC236}">
                <a16:creationId xmlns:a16="http://schemas.microsoft.com/office/drawing/2014/main" id="{F08182E5-F596-4020-B542-EABD1DC549EA}"/>
              </a:ext>
            </a:extLst>
          </p:cNvPr>
          <p:cNvSpPr/>
          <p:nvPr>
            <p:custDataLst>
              <p:tags r:id="rId12"/>
            </p:custDataLst>
          </p:nvPr>
        </p:nvSpPr>
        <p:spPr bwMode="auto">
          <a:xfrm>
            <a:off x="2163092" y="5715000"/>
            <a:ext cx="1676400" cy="990600"/>
          </a:xfrm>
          <a:prstGeom prst="rect">
            <a:avLst/>
          </a:prstGeom>
          <a:solidFill>
            <a:schemeClr val="accent2">
              <a:lumMod val="60000"/>
              <a:lumOff val="40000"/>
            </a:schemeClr>
          </a:solidFill>
          <a:ln w="25400" cap="flat" cmpd="sng" algn="ctr">
            <a:solidFill>
              <a:schemeClr val="tx1"/>
            </a:solidFill>
            <a:prstDash val="solid"/>
            <a:headEnd type="none" w="med" len="med"/>
            <a:tailEnd type="none" w="med" len="med"/>
          </a:ln>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rPr>
              <a:t>private</a:t>
            </a:r>
          </a:p>
        </p:txBody>
      </p:sp>
      <p:sp>
        <p:nvSpPr>
          <p:cNvPr id="13" name="Rectangle 12">
            <a:extLst>
              <a:ext uri="{FF2B5EF4-FFF2-40B4-BE49-F238E27FC236}">
                <a16:creationId xmlns:a16="http://schemas.microsoft.com/office/drawing/2014/main" id="{3FA358B2-4231-493C-87E7-F50889C43C8C}"/>
              </a:ext>
            </a:extLst>
          </p:cNvPr>
          <p:cNvSpPr/>
          <p:nvPr>
            <p:custDataLst>
              <p:tags r:id="rId13"/>
            </p:custDataLst>
          </p:nvPr>
        </p:nvSpPr>
        <p:spPr bwMode="auto">
          <a:xfrm>
            <a:off x="5763037" y="2895600"/>
            <a:ext cx="1676400" cy="2209800"/>
          </a:xfrm>
          <a:prstGeom prst="rect">
            <a:avLst/>
          </a:prstGeom>
          <a:solidFill>
            <a:schemeClr val="bg2"/>
          </a:solidFill>
          <a:ln w="25400" cap="flat" cmpd="sng" algn="ctr">
            <a:solidFill>
              <a:schemeClr val="tx1"/>
            </a:solidFill>
            <a:prstDash val="solid"/>
            <a:headEnd type="none" w="med" len="med"/>
            <a:tailEnd type="none" w="med" len="med"/>
          </a:ln>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en-US" sz="1600" dirty="0">
                <a:solidFill>
                  <a:schemeClr val="tx1"/>
                </a:solidFill>
              </a:rPr>
              <a:t>shared</a:t>
            </a:r>
          </a:p>
        </p:txBody>
      </p:sp>
      <p:sp>
        <p:nvSpPr>
          <p:cNvPr id="14" name="Rectangle 13">
            <a:extLst>
              <a:ext uri="{FF2B5EF4-FFF2-40B4-BE49-F238E27FC236}">
                <a16:creationId xmlns:a16="http://schemas.microsoft.com/office/drawing/2014/main" id="{72D4BD12-3E82-49CC-BF40-420D777F28A3}"/>
              </a:ext>
            </a:extLst>
          </p:cNvPr>
          <p:cNvSpPr/>
          <p:nvPr>
            <p:custDataLst>
              <p:tags r:id="rId14"/>
            </p:custDataLst>
          </p:nvPr>
        </p:nvSpPr>
        <p:spPr bwMode="auto">
          <a:xfrm>
            <a:off x="5763037" y="5105400"/>
            <a:ext cx="1676400" cy="685800"/>
          </a:xfrm>
          <a:prstGeom prst="rect">
            <a:avLst/>
          </a:prstGeom>
          <a:solidFill>
            <a:schemeClr val="bg2">
              <a:lumMod val="75000"/>
            </a:schemeClr>
          </a:solidFill>
          <a:ln w="25400" cap="flat" cmpd="sng" algn="ctr">
            <a:solidFill>
              <a:schemeClr val="tx1"/>
            </a:solidFill>
            <a:prstDash val="solid"/>
            <a:headEnd type="none" w="med" len="med"/>
            <a:tailEnd type="none" w="med" len="med"/>
          </a:ln>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err="1">
                <a:ln>
                  <a:noFill/>
                </a:ln>
                <a:solidFill>
                  <a:schemeClr val="tx1"/>
                </a:solidFill>
                <a:effectLst/>
              </a:rPr>
              <a:t>P</a:t>
            </a:r>
            <a:r>
              <a:rPr kumimoji="0" lang="en-US" sz="1600" b="0" i="0" u="none" strike="noStrike" cap="none" normalizeH="0" baseline="-25000" dirty="0" err="1">
                <a:ln>
                  <a:noFill/>
                </a:ln>
                <a:solidFill>
                  <a:schemeClr val="tx1"/>
                </a:solidFill>
                <a:effectLst/>
              </a:rPr>
              <a:t>n</a:t>
            </a:r>
            <a:r>
              <a:rPr kumimoji="0" lang="en-US" sz="1600" b="0" i="0" u="none" strike="noStrike" cap="none" normalizeH="0" baseline="0" dirty="0">
                <a:ln>
                  <a:noFill/>
                </a:ln>
                <a:solidFill>
                  <a:schemeClr val="tx1"/>
                </a:solidFill>
                <a:effectLst/>
              </a:rPr>
              <a:t> private</a:t>
            </a:r>
          </a:p>
        </p:txBody>
      </p:sp>
      <p:sp>
        <p:nvSpPr>
          <p:cNvPr id="15" name="Rectangle 14">
            <a:extLst>
              <a:ext uri="{FF2B5EF4-FFF2-40B4-BE49-F238E27FC236}">
                <a16:creationId xmlns:a16="http://schemas.microsoft.com/office/drawing/2014/main" id="{B9F4539D-F224-4A4E-AE59-93B3ABEC012A}"/>
              </a:ext>
            </a:extLst>
          </p:cNvPr>
          <p:cNvSpPr/>
          <p:nvPr>
            <p:custDataLst>
              <p:tags r:id="rId15"/>
            </p:custDataLst>
          </p:nvPr>
        </p:nvSpPr>
        <p:spPr bwMode="auto">
          <a:xfrm>
            <a:off x="5763037" y="6019800"/>
            <a:ext cx="1676400" cy="685800"/>
          </a:xfrm>
          <a:prstGeom prst="rect">
            <a:avLst/>
          </a:prstGeom>
          <a:solidFill>
            <a:schemeClr val="bg2">
              <a:lumMod val="75000"/>
            </a:schemeClr>
          </a:solidFill>
          <a:ln w="25400" cap="flat" cmpd="sng" algn="ctr">
            <a:solidFill>
              <a:schemeClr val="tx1"/>
            </a:solidFill>
            <a:prstDash val="solid"/>
            <a:headEnd type="none" w="med" len="med"/>
            <a:tailEnd type="none" w="med" len="med"/>
          </a:ln>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rPr>
              <a:t>P</a:t>
            </a:r>
            <a:r>
              <a:rPr kumimoji="0" lang="en-US" sz="1600" b="0" i="0" u="none" strike="noStrike" cap="none" normalizeH="0" baseline="-25000" dirty="0">
                <a:ln>
                  <a:noFill/>
                </a:ln>
                <a:solidFill>
                  <a:schemeClr val="tx1"/>
                </a:solidFill>
                <a:effectLst/>
              </a:rPr>
              <a:t>0</a:t>
            </a:r>
            <a:r>
              <a:rPr kumimoji="0" lang="en-US" sz="1600" b="0" i="0" u="none" strike="noStrike" cap="none" normalizeH="0" baseline="0" dirty="0">
                <a:ln>
                  <a:noFill/>
                </a:ln>
                <a:solidFill>
                  <a:schemeClr val="tx1"/>
                </a:solidFill>
                <a:effectLst/>
              </a:rPr>
              <a:t> private</a:t>
            </a:r>
          </a:p>
        </p:txBody>
      </p:sp>
      <p:sp>
        <p:nvSpPr>
          <p:cNvPr id="16" name="Flowchart: Process 15">
            <a:extLst>
              <a:ext uri="{FF2B5EF4-FFF2-40B4-BE49-F238E27FC236}">
                <a16:creationId xmlns:a16="http://schemas.microsoft.com/office/drawing/2014/main" id="{B2A613EE-AAA4-47DA-B0C0-66C111D3F0A7}"/>
              </a:ext>
            </a:extLst>
          </p:cNvPr>
          <p:cNvSpPr/>
          <p:nvPr>
            <p:custDataLst>
              <p:tags r:id="rId16"/>
            </p:custDataLst>
          </p:nvPr>
        </p:nvSpPr>
        <p:spPr bwMode="auto">
          <a:xfrm>
            <a:off x="2466400" y="4276168"/>
            <a:ext cx="533400" cy="304800"/>
          </a:xfrm>
          <a:prstGeom prst="flowChartProcess">
            <a:avLst/>
          </a:prstGeom>
          <a:solidFill>
            <a:schemeClr val="tx1"/>
          </a:solid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mn-lt"/>
            </a:endParaRPr>
          </a:p>
        </p:txBody>
      </p:sp>
      <p:sp>
        <p:nvSpPr>
          <p:cNvPr id="17" name="TextBox 16">
            <a:extLst>
              <a:ext uri="{FF2B5EF4-FFF2-40B4-BE49-F238E27FC236}">
                <a16:creationId xmlns:a16="http://schemas.microsoft.com/office/drawing/2014/main" id="{C0A110C7-2BE7-4FDC-A4FF-F9DF6929ABE7}"/>
              </a:ext>
            </a:extLst>
          </p:cNvPr>
          <p:cNvSpPr txBox="1"/>
          <p:nvPr>
            <p:custDataLst>
              <p:tags r:id="rId17"/>
            </p:custDataLst>
          </p:nvPr>
        </p:nvSpPr>
        <p:spPr>
          <a:xfrm>
            <a:off x="1371600" y="4113304"/>
            <a:ext cx="660950" cy="369332"/>
          </a:xfrm>
          <a:prstGeom prst="rect">
            <a:avLst/>
          </a:prstGeom>
          <a:noFill/>
        </p:spPr>
        <p:txBody>
          <a:bodyPr wrap="none" rtlCol="0">
            <a:spAutoFit/>
          </a:bodyPr>
          <a:lstStyle/>
          <a:p>
            <a:pPr algn="l"/>
            <a:r>
              <a:rPr lang="en-US" sz="1800" dirty="0">
                <a:latin typeface="+mn-lt"/>
              </a:rPr>
              <a:t>store</a:t>
            </a:r>
            <a:endParaRPr lang="en-US" sz="1800" i="1" baseline="-25000" dirty="0">
              <a:latin typeface="+mn-lt"/>
            </a:endParaRPr>
          </a:p>
        </p:txBody>
      </p:sp>
      <p:sp>
        <p:nvSpPr>
          <p:cNvPr id="18" name="Flowchart: Process 17">
            <a:extLst>
              <a:ext uri="{FF2B5EF4-FFF2-40B4-BE49-F238E27FC236}">
                <a16:creationId xmlns:a16="http://schemas.microsoft.com/office/drawing/2014/main" id="{E161E03B-5372-4532-A829-C8AB2FB830B6}"/>
              </a:ext>
            </a:extLst>
          </p:cNvPr>
          <p:cNvSpPr/>
          <p:nvPr>
            <p:custDataLst>
              <p:tags r:id="rId18"/>
            </p:custDataLst>
          </p:nvPr>
        </p:nvSpPr>
        <p:spPr bwMode="auto">
          <a:xfrm>
            <a:off x="3001292" y="3200400"/>
            <a:ext cx="533400" cy="304800"/>
          </a:xfrm>
          <a:prstGeom prst="flowChartProcess">
            <a:avLst/>
          </a:prstGeom>
          <a:solidFill>
            <a:schemeClr val="tx1"/>
          </a:solid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mn-lt"/>
            </a:endParaRPr>
          </a:p>
        </p:txBody>
      </p:sp>
      <p:sp>
        <p:nvSpPr>
          <p:cNvPr id="19" name="TextBox 18">
            <a:extLst>
              <a:ext uri="{FF2B5EF4-FFF2-40B4-BE49-F238E27FC236}">
                <a16:creationId xmlns:a16="http://schemas.microsoft.com/office/drawing/2014/main" id="{347F631E-C90D-44B8-AA60-95529B57E293}"/>
              </a:ext>
            </a:extLst>
          </p:cNvPr>
          <p:cNvSpPr txBox="1"/>
          <p:nvPr>
            <p:custDataLst>
              <p:tags r:id="rId19"/>
            </p:custDataLst>
          </p:nvPr>
        </p:nvSpPr>
        <p:spPr>
          <a:xfrm>
            <a:off x="1924811" y="3166032"/>
            <a:ext cx="591829" cy="369332"/>
          </a:xfrm>
          <a:prstGeom prst="rect">
            <a:avLst/>
          </a:prstGeom>
          <a:noFill/>
        </p:spPr>
        <p:txBody>
          <a:bodyPr wrap="none" rtlCol="0">
            <a:spAutoFit/>
          </a:bodyPr>
          <a:lstStyle/>
          <a:p>
            <a:pPr algn="l"/>
            <a:r>
              <a:rPr lang="en-US" sz="1800" dirty="0">
                <a:latin typeface="+mn-lt"/>
              </a:rPr>
              <a:t>load</a:t>
            </a:r>
            <a:endParaRPr lang="en-US" sz="1800" i="1" baseline="-25000" dirty="0">
              <a:latin typeface="+mn-lt"/>
            </a:endParaRPr>
          </a:p>
        </p:txBody>
      </p:sp>
      <p:cxnSp>
        <p:nvCxnSpPr>
          <p:cNvPr id="20" name="Straight Arrow Connector 19">
            <a:extLst>
              <a:ext uri="{FF2B5EF4-FFF2-40B4-BE49-F238E27FC236}">
                <a16:creationId xmlns:a16="http://schemas.microsoft.com/office/drawing/2014/main" id="{9F934C14-FE21-40E3-9B92-D99A42403699}"/>
              </a:ext>
            </a:extLst>
          </p:cNvPr>
          <p:cNvCxnSpPr>
            <a:stCxn id="12" idx="3"/>
            <a:endCxn id="15" idx="1"/>
          </p:cNvCxnSpPr>
          <p:nvPr>
            <p:custDataLst>
              <p:tags r:id="rId20"/>
            </p:custDataLst>
          </p:nvPr>
        </p:nvCxnSpPr>
        <p:spPr bwMode="auto">
          <a:xfrm>
            <a:off x="3839492" y="6210300"/>
            <a:ext cx="1923545" cy="152400"/>
          </a:xfrm>
          <a:prstGeom prst="straightConnector1">
            <a:avLst/>
          </a:prstGeom>
          <a:ln w="25400">
            <a:solidFill>
              <a:schemeClr val="tx1"/>
            </a:solidFill>
            <a:prstDash val="dash"/>
            <a:headEnd type="none" w="med" len="med"/>
            <a:tailEnd type="arrow"/>
          </a:ln>
        </p:spPr>
        <p:style>
          <a:lnRef idx="2">
            <a:schemeClr val="accent3"/>
          </a:lnRef>
          <a:fillRef idx="0">
            <a:schemeClr val="accent3"/>
          </a:fillRef>
          <a:effectRef idx="1">
            <a:schemeClr val="accent3"/>
          </a:effectRef>
          <a:fontRef idx="minor">
            <a:schemeClr val="tx1"/>
          </a:fontRef>
        </p:style>
      </p:cxnSp>
      <p:sp>
        <p:nvSpPr>
          <p:cNvPr id="21" name="Rectangle 20">
            <a:extLst>
              <a:ext uri="{FF2B5EF4-FFF2-40B4-BE49-F238E27FC236}">
                <a16:creationId xmlns:a16="http://schemas.microsoft.com/office/drawing/2014/main" id="{6541E37F-C850-401B-9891-C360CD5D5496}"/>
              </a:ext>
            </a:extLst>
          </p:cNvPr>
          <p:cNvSpPr/>
          <p:nvPr>
            <p:custDataLst>
              <p:tags r:id="rId21"/>
            </p:custDataLst>
          </p:nvPr>
        </p:nvSpPr>
        <p:spPr bwMode="auto">
          <a:xfrm>
            <a:off x="5763037" y="5791200"/>
            <a:ext cx="1676400" cy="228600"/>
          </a:xfrm>
          <a:prstGeom prst="rect">
            <a:avLst/>
          </a:prstGeom>
          <a:solidFill>
            <a:schemeClr val="bg2">
              <a:lumMod val="75000"/>
            </a:schemeClr>
          </a:solidFill>
          <a:ln w="2540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a:ln>
                <a:noFill/>
              </a:ln>
              <a:solidFill>
                <a:schemeClr val="tx1"/>
              </a:solidFill>
              <a:effectLst/>
            </a:endParaRPr>
          </a:p>
        </p:txBody>
      </p:sp>
      <p:cxnSp>
        <p:nvCxnSpPr>
          <p:cNvPr id="22" name="Straight Arrow Connector 21">
            <a:extLst>
              <a:ext uri="{FF2B5EF4-FFF2-40B4-BE49-F238E27FC236}">
                <a16:creationId xmlns:a16="http://schemas.microsoft.com/office/drawing/2014/main" id="{42D47838-7899-43BD-ACFD-83C584E47DF0}"/>
              </a:ext>
            </a:extLst>
          </p:cNvPr>
          <p:cNvCxnSpPr>
            <a:stCxn id="6" idx="3"/>
            <a:endCxn id="14" idx="1"/>
          </p:cNvCxnSpPr>
          <p:nvPr>
            <p:custDataLst>
              <p:tags r:id="rId22"/>
            </p:custDataLst>
          </p:nvPr>
        </p:nvCxnSpPr>
        <p:spPr bwMode="auto">
          <a:xfrm>
            <a:off x="4296692" y="5219700"/>
            <a:ext cx="1466345" cy="228600"/>
          </a:xfrm>
          <a:prstGeom prst="straightConnector1">
            <a:avLst/>
          </a:prstGeom>
          <a:ln w="25400">
            <a:solidFill>
              <a:schemeClr val="tx1"/>
            </a:solidFill>
            <a:prstDash val="dash"/>
            <a:headEnd type="none" w="med" len="med"/>
            <a:tailEnd type="arrow"/>
          </a:ln>
        </p:spPr>
        <p:style>
          <a:lnRef idx="2">
            <a:schemeClr val="accent3"/>
          </a:lnRef>
          <a:fillRef idx="0">
            <a:schemeClr val="accent3"/>
          </a:fillRef>
          <a:effectRef idx="1">
            <a:schemeClr val="accent3"/>
          </a:effectRef>
          <a:fontRef idx="minor">
            <a:schemeClr val="tx1"/>
          </a:fontRef>
        </p:style>
      </p:cxnSp>
      <p:cxnSp>
        <p:nvCxnSpPr>
          <p:cNvPr id="23" name="Straight Arrow Connector 22">
            <a:extLst>
              <a:ext uri="{FF2B5EF4-FFF2-40B4-BE49-F238E27FC236}">
                <a16:creationId xmlns:a16="http://schemas.microsoft.com/office/drawing/2014/main" id="{10DE4DDD-F583-4853-A52E-B53899C3E616}"/>
              </a:ext>
            </a:extLst>
          </p:cNvPr>
          <p:cNvCxnSpPr>
            <a:stCxn id="11" idx="3"/>
            <a:endCxn id="13" idx="1"/>
          </p:cNvCxnSpPr>
          <p:nvPr>
            <p:custDataLst>
              <p:tags r:id="rId23"/>
            </p:custDataLst>
          </p:nvPr>
        </p:nvCxnSpPr>
        <p:spPr bwMode="auto">
          <a:xfrm flipV="1">
            <a:off x="3839492" y="4000500"/>
            <a:ext cx="1923545" cy="876300"/>
          </a:xfrm>
          <a:prstGeom prst="straightConnector1">
            <a:avLst/>
          </a:prstGeom>
          <a:ln w="25400">
            <a:solidFill>
              <a:schemeClr val="tx1"/>
            </a:solidFill>
            <a:prstDash val="dash"/>
            <a:headEnd type="none" w="med" len="med"/>
            <a:tailEnd type="arrow"/>
          </a:ln>
        </p:spPr>
        <p:style>
          <a:lnRef idx="2">
            <a:schemeClr val="accent3"/>
          </a:lnRef>
          <a:fillRef idx="0">
            <a:schemeClr val="accent3"/>
          </a:fillRef>
          <a:effectRef idx="1">
            <a:schemeClr val="accent3"/>
          </a:effectRef>
          <a:fontRef idx="minor">
            <a:schemeClr val="tx1"/>
          </a:fontRef>
        </p:style>
      </p:cxnSp>
      <p:cxnSp>
        <p:nvCxnSpPr>
          <p:cNvPr id="24" name="Straight Arrow Connector 23">
            <a:extLst>
              <a:ext uri="{FF2B5EF4-FFF2-40B4-BE49-F238E27FC236}">
                <a16:creationId xmlns:a16="http://schemas.microsoft.com/office/drawing/2014/main" id="{452907C6-F0F9-46B3-87F4-CEF7F64980B1}"/>
              </a:ext>
            </a:extLst>
          </p:cNvPr>
          <p:cNvCxnSpPr>
            <a:cxnSpLocks/>
            <a:stCxn id="5" idx="3"/>
            <a:endCxn id="13" idx="1"/>
          </p:cNvCxnSpPr>
          <p:nvPr>
            <p:custDataLst>
              <p:tags r:id="rId24"/>
            </p:custDataLst>
          </p:nvPr>
        </p:nvCxnSpPr>
        <p:spPr bwMode="auto">
          <a:xfrm>
            <a:off x="4296692" y="3886200"/>
            <a:ext cx="1466345" cy="114300"/>
          </a:xfrm>
          <a:prstGeom prst="straightConnector1">
            <a:avLst/>
          </a:prstGeom>
          <a:ln w="25400">
            <a:solidFill>
              <a:schemeClr val="tx1"/>
            </a:solidFill>
            <a:prstDash val="dash"/>
            <a:headEnd type="none" w="med" len="med"/>
            <a:tailEnd type="arrow"/>
          </a:ln>
        </p:spPr>
        <p:style>
          <a:lnRef idx="2">
            <a:schemeClr val="accent3"/>
          </a:lnRef>
          <a:fillRef idx="0">
            <a:schemeClr val="accent3"/>
          </a:fillRef>
          <a:effectRef idx="1">
            <a:schemeClr val="accent3"/>
          </a:effectRef>
          <a:fontRef idx="minor">
            <a:schemeClr val="tx1"/>
          </a:fontRef>
        </p:style>
      </p:cxnSp>
      <p:sp>
        <p:nvSpPr>
          <p:cNvPr id="25" name="Flowchart: Process 24">
            <a:extLst>
              <a:ext uri="{FF2B5EF4-FFF2-40B4-BE49-F238E27FC236}">
                <a16:creationId xmlns:a16="http://schemas.microsoft.com/office/drawing/2014/main" id="{CD8705F4-F7C6-4D22-8682-87C5B59DD8BE}"/>
              </a:ext>
            </a:extLst>
          </p:cNvPr>
          <p:cNvSpPr/>
          <p:nvPr>
            <p:custDataLst>
              <p:tags r:id="rId25"/>
            </p:custDataLst>
          </p:nvPr>
        </p:nvSpPr>
        <p:spPr bwMode="auto">
          <a:xfrm>
            <a:off x="6132084" y="3276600"/>
            <a:ext cx="533400" cy="304800"/>
          </a:xfrm>
          <a:prstGeom prst="flowChartProcess">
            <a:avLst/>
          </a:prstGeom>
          <a:solidFill>
            <a:schemeClr val="tx1"/>
          </a:solid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mn-lt"/>
            </a:endParaRPr>
          </a:p>
        </p:txBody>
      </p:sp>
      <p:cxnSp>
        <p:nvCxnSpPr>
          <p:cNvPr id="26" name="Curved Connector 100">
            <a:extLst>
              <a:ext uri="{FF2B5EF4-FFF2-40B4-BE49-F238E27FC236}">
                <a16:creationId xmlns:a16="http://schemas.microsoft.com/office/drawing/2014/main" id="{D7E16204-B161-4D55-A0B2-5C3590D1FF56}"/>
              </a:ext>
            </a:extLst>
          </p:cNvPr>
          <p:cNvCxnSpPr/>
          <p:nvPr>
            <p:custDataLst>
              <p:tags r:id="rId26"/>
            </p:custDataLst>
          </p:nvPr>
        </p:nvCxnSpPr>
        <p:spPr bwMode="auto">
          <a:xfrm flipH="1">
            <a:off x="2467892" y="3276600"/>
            <a:ext cx="457200" cy="76200"/>
          </a:xfrm>
          <a:prstGeom prst="curvedConnector3">
            <a:avLst>
              <a:gd name="adj1" fmla="val 50000"/>
            </a:avLst>
          </a:prstGeom>
          <a:ln w="25400">
            <a:solidFill>
              <a:schemeClr val="tx1"/>
            </a:solidFill>
            <a:headEnd type="none" w="med" len="med"/>
            <a:tailEnd type="arrow"/>
          </a:ln>
        </p:spPr>
        <p:style>
          <a:lnRef idx="2">
            <a:schemeClr val="accent2"/>
          </a:lnRef>
          <a:fillRef idx="0">
            <a:schemeClr val="accent2"/>
          </a:fillRef>
          <a:effectRef idx="1">
            <a:schemeClr val="accent2"/>
          </a:effectRef>
          <a:fontRef idx="minor">
            <a:schemeClr val="tx1"/>
          </a:fontRef>
        </p:style>
      </p:cxnSp>
      <p:cxnSp>
        <p:nvCxnSpPr>
          <p:cNvPr id="27" name="Curved Connector 101">
            <a:extLst>
              <a:ext uri="{FF2B5EF4-FFF2-40B4-BE49-F238E27FC236}">
                <a16:creationId xmlns:a16="http://schemas.microsoft.com/office/drawing/2014/main" id="{C8D830DB-D4A2-4456-8448-C1F58A9DDA05}"/>
              </a:ext>
            </a:extLst>
          </p:cNvPr>
          <p:cNvCxnSpPr/>
          <p:nvPr>
            <p:custDataLst>
              <p:tags r:id="rId27"/>
            </p:custDataLst>
          </p:nvPr>
        </p:nvCxnSpPr>
        <p:spPr bwMode="auto">
          <a:xfrm>
            <a:off x="2009200" y="4352368"/>
            <a:ext cx="457200" cy="76200"/>
          </a:xfrm>
          <a:prstGeom prst="curvedConnector3">
            <a:avLst>
              <a:gd name="adj1" fmla="val 50000"/>
            </a:avLst>
          </a:prstGeom>
          <a:ln w="25400">
            <a:solidFill>
              <a:schemeClr val="tx1"/>
            </a:solidFill>
            <a:headEnd type="none" w="med" len="med"/>
            <a:tailEnd type="arrow"/>
          </a:ln>
        </p:spPr>
        <p:style>
          <a:lnRef idx="2">
            <a:schemeClr val="accent2"/>
          </a:lnRef>
          <a:fillRef idx="0">
            <a:schemeClr val="accent2"/>
          </a:fillRef>
          <a:effectRef idx="1">
            <a:schemeClr val="accent2"/>
          </a:effectRef>
          <a:fontRef idx="minor">
            <a:schemeClr val="tx1"/>
          </a:fontRef>
        </p:style>
      </p:cxnSp>
      <p:sp>
        <p:nvSpPr>
          <p:cNvPr id="28" name="TextBox 27">
            <a:extLst>
              <a:ext uri="{FF2B5EF4-FFF2-40B4-BE49-F238E27FC236}">
                <a16:creationId xmlns:a16="http://schemas.microsoft.com/office/drawing/2014/main" id="{9FA70F75-4D2C-440C-BE95-042660693C86}"/>
              </a:ext>
            </a:extLst>
          </p:cNvPr>
          <p:cNvSpPr txBox="1"/>
          <p:nvPr>
            <p:custDataLst>
              <p:tags r:id="rId28"/>
            </p:custDataLst>
          </p:nvPr>
        </p:nvSpPr>
        <p:spPr>
          <a:xfrm>
            <a:off x="3495338" y="3994666"/>
            <a:ext cx="381836" cy="369332"/>
          </a:xfrm>
          <a:prstGeom prst="rect">
            <a:avLst/>
          </a:prstGeom>
          <a:noFill/>
        </p:spPr>
        <p:txBody>
          <a:bodyPr wrap="none" rtlCol="0">
            <a:spAutoFit/>
          </a:bodyPr>
          <a:lstStyle/>
          <a:p>
            <a:pPr algn="l"/>
            <a:r>
              <a:rPr lang="en-US" sz="1800" dirty="0">
                <a:latin typeface="+mn-lt"/>
              </a:rPr>
              <a:t>P</a:t>
            </a:r>
            <a:r>
              <a:rPr lang="en-US" sz="1800" baseline="-25000" dirty="0">
                <a:latin typeface="+mn-lt"/>
              </a:rPr>
              <a:t>0</a:t>
            </a:r>
            <a:endParaRPr lang="en-US" sz="1800" i="1" baseline="-25000" dirty="0">
              <a:latin typeface="+mn-lt"/>
            </a:endParaRPr>
          </a:p>
        </p:txBody>
      </p:sp>
      <p:sp>
        <p:nvSpPr>
          <p:cNvPr id="29" name="TextBox 28">
            <a:extLst>
              <a:ext uri="{FF2B5EF4-FFF2-40B4-BE49-F238E27FC236}">
                <a16:creationId xmlns:a16="http://schemas.microsoft.com/office/drawing/2014/main" id="{E174B09C-5D71-457D-9A2A-403E4CB99C5F}"/>
              </a:ext>
            </a:extLst>
          </p:cNvPr>
          <p:cNvSpPr txBox="1"/>
          <p:nvPr>
            <p:custDataLst>
              <p:tags r:id="rId29"/>
            </p:custDataLst>
          </p:nvPr>
        </p:nvSpPr>
        <p:spPr>
          <a:xfrm>
            <a:off x="3961652" y="2999601"/>
            <a:ext cx="383438" cy="369332"/>
          </a:xfrm>
          <a:prstGeom prst="rect">
            <a:avLst/>
          </a:prstGeom>
          <a:noFill/>
        </p:spPr>
        <p:txBody>
          <a:bodyPr wrap="none" rtlCol="0">
            <a:spAutoFit/>
          </a:bodyPr>
          <a:lstStyle/>
          <a:p>
            <a:pPr algn="l"/>
            <a:r>
              <a:rPr lang="en-US" sz="1800" dirty="0" err="1">
                <a:latin typeface="+mn-lt"/>
              </a:rPr>
              <a:t>P</a:t>
            </a:r>
            <a:r>
              <a:rPr lang="en-US" sz="1800" baseline="-25000" dirty="0" err="1">
                <a:latin typeface="+mn-lt"/>
              </a:rPr>
              <a:t>n</a:t>
            </a:r>
            <a:endParaRPr lang="en-US" sz="1800" i="1" baseline="-25000" dirty="0">
              <a:latin typeface="+mn-lt"/>
            </a:endParaRPr>
          </a:p>
        </p:txBody>
      </p:sp>
      <p:sp>
        <p:nvSpPr>
          <p:cNvPr id="30" name="TextBox 29">
            <a:extLst>
              <a:ext uri="{FF2B5EF4-FFF2-40B4-BE49-F238E27FC236}">
                <a16:creationId xmlns:a16="http://schemas.microsoft.com/office/drawing/2014/main" id="{FB350115-8887-43C1-BF3C-367AD6857402}"/>
              </a:ext>
            </a:extLst>
          </p:cNvPr>
          <p:cNvSpPr txBox="1"/>
          <p:nvPr>
            <p:custDataLst>
              <p:tags r:id="rId30"/>
            </p:custDataLst>
          </p:nvPr>
        </p:nvSpPr>
        <p:spPr>
          <a:xfrm>
            <a:off x="5715000" y="2545393"/>
            <a:ext cx="1772473" cy="369332"/>
          </a:xfrm>
          <a:prstGeom prst="rect">
            <a:avLst/>
          </a:prstGeom>
          <a:noFill/>
        </p:spPr>
        <p:txBody>
          <a:bodyPr wrap="none" rtlCol="0">
            <a:spAutoFit/>
          </a:bodyPr>
          <a:lstStyle/>
          <a:p>
            <a:pPr algn="ctr"/>
            <a:r>
              <a:rPr lang="en-US" sz="1800" dirty="0">
                <a:latin typeface="+mn-lt"/>
              </a:rPr>
              <a:t>physical memory</a:t>
            </a:r>
            <a:endParaRPr lang="en-US" sz="1800" i="1" baseline="-25000" dirty="0">
              <a:latin typeface="+mn-lt"/>
            </a:endParaRPr>
          </a:p>
        </p:txBody>
      </p:sp>
      <p:sp>
        <p:nvSpPr>
          <p:cNvPr id="31" name="TextBox 30">
            <a:extLst>
              <a:ext uri="{FF2B5EF4-FFF2-40B4-BE49-F238E27FC236}">
                <a16:creationId xmlns:a16="http://schemas.microsoft.com/office/drawing/2014/main" id="{8171BA6D-6F94-42F4-AFD4-2CA62B75E5E1}"/>
              </a:ext>
            </a:extLst>
          </p:cNvPr>
          <p:cNvSpPr txBox="1"/>
          <p:nvPr>
            <p:custDataLst>
              <p:tags r:id="rId31"/>
            </p:custDataLst>
          </p:nvPr>
        </p:nvSpPr>
        <p:spPr>
          <a:xfrm>
            <a:off x="2649980" y="2687636"/>
            <a:ext cx="1628523" cy="369332"/>
          </a:xfrm>
          <a:prstGeom prst="rect">
            <a:avLst/>
          </a:prstGeom>
          <a:noFill/>
        </p:spPr>
        <p:txBody>
          <a:bodyPr wrap="none" rtlCol="0">
            <a:spAutoFit/>
          </a:bodyPr>
          <a:lstStyle/>
          <a:p>
            <a:pPr algn="ctr"/>
            <a:r>
              <a:rPr lang="en-US" sz="1800" dirty="0">
                <a:latin typeface="+mn-lt"/>
              </a:rPr>
              <a:t>virtual memory</a:t>
            </a:r>
            <a:endParaRPr lang="en-US" sz="1800" i="1" baseline="-25000" dirty="0">
              <a:latin typeface="+mn-lt"/>
            </a:endParaRPr>
          </a:p>
        </p:txBody>
      </p:sp>
    </p:spTree>
    <p:custDataLst>
      <p:tags r:id="rId1"/>
    </p:custDataLst>
    <p:extLst>
      <p:ext uri="{BB962C8B-B14F-4D97-AF65-F5344CB8AC3E}">
        <p14:creationId xmlns:p14="http://schemas.microsoft.com/office/powerpoint/2010/main" val="27276424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a:extLst>
              <a:ext uri="{FF2B5EF4-FFF2-40B4-BE49-F238E27FC236}">
                <a16:creationId xmlns:a16="http://schemas.microsoft.com/office/drawing/2014/main" id="{7C3BFD38-1030-4730-B185-51D80822C068}"/>
              </a:ext>
            </a:extLst>
          </p:cNvPr>
          <p:cNvSpPr>
            <a:spLocks noGrp="1" noChangeArrowheads="1"/>
          </p:cNvSpPr>
          <p:nvPr>
            <p:ph idx="1"/>
            <p:custDataLst>
              <p:tags r:id="rId2"/>
            </p:custDataLst>
          </p:nvPr>
        </p:nvSpPr>
        <p:spPr>
          <a:xfrm>
            <a:off x="682624" y="1524000"/>
            <a:ext cx="8080375" cy="4572000"/>
          </a:xfrm>
        </p:spPr>
        <p:txBody>
          <a:bodyPr/>
          <a:lstStyle/>
          <a:p>
            <a:pPr marL="344488" indent="-344488" eaLnBrk="1" hangingPunct="1">
              <a:lnSpc>
                <a:spcPct val="80000"/>
              </a:lnSpc>
            </a:pPr>
            <a:r>
              <a:rPr lang="en-US" altLang="en-US" sz="2800" dirty="0"/>
              <a:t>Focus on shared-memory CMPs</a:t>
            </a:r>
          </a:p>
          <a:p>
            <a:pPr marL="800100" lvl="1" eaLnBrk="1" hangingPunct="1">
              <a:lnSpc>
                <a:spcPct val="90000"/>
              </a:lnSpc>
            </a:pPr>
            <a:r>
              <a:rPr lang="en-US" altLang="en-US" sz="2400" dirty="0"/>
              <a:t>Shared memory: all physical memory is accessible to all CPU cores</a:t>
            </a:r>
          </a:p>
          <a:p>
            <a:pPr marL="800100" lvl="1" eaLnBrk="1" hangingPunct="1">
              <a:lnSpc>
                <a:spcPct val="90000"/>
              </a:lnSpc>
            </a:pPr>
            <a:r>
              <a:rPr lang="en-US" altLang="en-US" sz="2400" dirty="0"/>
              <a:t>Usually assume symmetric multiprocessors</a:t>
            </a:r>
          </a:p>
          <a:p>
            <a:pPr marL="1201738" lvl="2" indent="-287338" eaLnBrk="1" hangingPunct="1">
              <a:lnSpc>
                <a:spcPct val="90000"/>
              </a:lnSpc>
            </a:pPr>
            <a:r>
              <a:rPr lang="en-US" altLang="en-US" sz="2000" dirty="0"/>
              <a:t>All CPU cores are alike</a:t>
            </a:r>
          </a:p>
          <a:p>
            <a:pPr marL="344488" indent="-344488" eaLnBrk="1" hangingPunct="1">
              <a:lnSpc>
                <a:spcPct val="80000"/>
              </a:lnSpc>
            </a:pPr>
            <a:r>
              <a:rPr lang="en-US" altLang="en-US" sz="2800" dirty="0"/>
              <a:t>Shared memory idealisms</a:t>
            </a:r>
          </a:p>
          <a:p>
            <a:pPr marL="800100" lvl="1" indent="-342900" eaLnBrk="1" hangingPunct="1">
              <a:lnSpc>
                <a:spcPct val="90000"/>
              </a:lnSpc>
            </a:pPr>
            <a:r>
              <a:rPr lang="en-US" altLang="en-US" sz="2400" dirty="0"/>
              <a:t>Fully shared memory: </a:t>
            </a:r>
            <a:r>
              <a:rPr lang="en-US" altLang="en-US" sz="2400" i="1" dirty="0"/>
              <a:t>usually nonuniform latency</a:t>
            </a:r>
            <a:endParaRPr lang="en-US" altLang="en-US" sz="2400" dirty="0"/>
          </a:p>
          <a:p>
            <a:pPr marL="800100" lvl="1" indent="-342900" eaLnBrk="1" hangingPunct="1">
              <a:lnSpc>
                <a:spcPct val="90000"/>
              </a:lnSpc>
            </a:pPr>
            <a:r>
              <a:rPr lang="en-US" altLang="en-US" sz="2400" dirty="0"/>
              <a:t>Single-cycle latency: </a:t>
            </a:r>
            <a:r>
              <a:rPr lang="en-US" altLang="en-US" sz="2400" i="1" dirty="0"/>
              <a:t>approximate with cache hierarchy</a:t>
            </a:r>
            <a:endParaRPr lang="en-US" altLang="en-US" sz="2400" dirty="0"/>
          </a:p>
          <a:p>
            <a:pPr marL="800100" lvl="1" indent="-342900" eaLnBrk="1" hangingPunct="1">
              <a:lnSpc>
                <a:spcPct val="90000"/>
              </a:lnSpc>
            </a:pPr>
            <a:r>
              <a:rPr lang="en-US" altLang="en-US" sz="2400" dirty="0"/>
              <a:t>No contention: </a:t>
            </a:r>
            <a:r>
              <a:rPr lang="en-US" altLang="en-US" sz="2400" i="1" dirty="0"/>
              <a:t>approximate with private caches</a:t>
            </a:r>
            <a:endParaRPr lang="en-US" altLang="en-US" sz="2400" dirty="0"/>
          </a:p>
          <a:p>
            <a:pPr marL="800100" lvl="1" indent="-342900" eaLnBrk="1" hangingPunct="1">
              <a:lnSpc>
                <a:spcPct val="90000"/>
              </a:lnSpc>
            </a:pPr>
            <a:r>
              <a:rPr lang="en-US" altLang="en-US" sz="2400" dirty="0"/>
              <a:t>Instantaneous propagation of writes:</a:t>
            </a:r>
            <a:r>
              <a:rPr lang="en-US" altLang="en-US" sz="2400" i="1" dirty="0"/>
              <a:t> cache coherence required</a:t>
            </a:r>
            <a:endParaRPr lang="en-US" altLang="en-US" sz="2400" dirty="0"/>
          </a:p>
        </p:txBody>
      </p:sp>
      <p:sp>
        <p:nvSpPr>
          <p:cNvPr id="2" name="Slide Number Placeholder 1">
            <a:extLst>
              <a:ext uri="{FF2B5EF4-FFF2-40B4-BE49-F238E27FC236}">
                <a16:creationId xmlns:a16="http://schemas.microsoft.com/office/drawing/2014/main" id="{C8329329-0FBB-420E-99EF-196F547EB576}"/>
              </a:ext>
            </a:extLst>
          </p:cNvPr>
          <p:cNvSpPr>
            <a:spLocks noGrp="1"/>
          </p:cNvSpPr>
          <p:nvPr>
            <p:ph type="sldNum" sz="quarter" idx="12"/>
            <p:custDataLst>
              <p:tags r:id="rId3"/>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E674F9C9-9931-456E-82B0-6947356EEB5B}" type="slidenum">
              <a:rPr lang="en-US" altLang="en-US" sz="1400">
                <a:latin typeface="Calibri" panose="020F0502020204030204" pitchFamily="34" charset="0"/>
              </a:rPr>
              <a:pPr lvl="1" eaLnBrk="1" hangingPunct="1"/>
              <a:t>4</a:t>
            </a:fld>
            <a:endParaRPr lang="en-US" altLang="en-US" sz="1400">
              <a:latin typeface="Calibri" panose="020F0502020204030204" pitchFamily="34" charset="0"/>
            </a:endParaRPr>
          </a:p>
        </p:txBody>
      </p:sp>
      <p:sp>
        <p:nvSpPr>
          <p:cNvPr id="4" name="Title 3">
            <a:extLst>
              <a:ext uri="{FF2B5EF4-FFF2-40B4-BE49-F238E27FC236}">
                <a16:creationId xmlns:a16="http://schemas.microsoft.com/office/drawing/2014/main" id="{DC588F9D-65ED-4A98-B485-8B46B65FB2FD}"/>
              </a:ext>
            </a:extLst>
          </p:cNvPr>
          <p:cNvSpPr>
            <a:spLocks noGrp="1"/>
          </p:cNvSpPr>
          <p:nvPr>
            <p:ph type="title"/>
            <p:custDataLst>
              <p:tags r:id="rId4"/>
            </p:custDataLst>
          </p:nvPr>
        </p:nvSpPr>
        <p:spPr>
          <a:xfrm>
            <a:off x="457200" y="274638"/>
            <a:ext cx="7467600" cy="1143000"/>
          </a:xfrm>
        </p:spPr>
        <p:txBody>
          <a:bodyPr/>
          <a:lstStyle/>
          <a:p>
            <a:r>
              <a:rPr lang="en-US" dirty="0"/>
              <a:t>Shared-Memory CMP</a:t>
            </a:r>
          </a:p>
        </p:txBody>
      </p:sp>
    </p:spTree>
    <p:custDataLst>
      <p:tags r:id="rId1"/>
    </p:custDataLst>
    <p:extLst>
      <p:ext uri="{BB962C8B-B14F-4D97-AF65-F5344CB8AC3E}">
        <p14:creationId xmlns:p14="http://schemas.microsoft.com/office/powerpoint/2010/main" val="83593120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772400" cy="1143000"/>
          </a:xfrm>
        </p:spPr>
        <p:txBody>
          <a:bodyPr/>
          <a:lstStyle/>
          <a:p>
            <a:pPr eaLnBrk="1" hangingPunct="1"/>
            <a:r>
              <a:rPr lang="en-US" altLang="en-US" dirty="0"/>
              <a:t>Shared-Memory CMP</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5</a:t>
            </a:fld>
            <a:endParaRPr lang="en-US" altLang="en-US" sz="1400"/>
          </a:p>
        </p:txBody>
      </p:sp>
      <p:grpSp>
        <p:nvGrpSpPr>
          <p:cNvPr id="2" name="Group 1">
            <a:extLst>
              <a:ext uri="{FF2B5EF4-FFF2-40B4-BE49-F238E27FC236}">
                <a16:creationId xmlns:a16="http://schemas.microsoft.com/office/drawing/2014/main" id="{70AF1508-2897-4E70-92B6-67C6A89DDF4B}"/>
              </a:ext>
            </a:extLst>
          </p:cNvPr>
          <p:cNvGrpSpPr/>
          <p:nvPr>
            <p:custDataLst>
              <p:tags r:id="rId4"/>
            </p:custDataLst>
          </p:nvPr>
        </p:nvGrpSpPr>
        <p:grpSpPr>
          <a:xfrm>
            <a:off x="381000" y="1428317"/>
            <a:ext cx="2662237" cy="4052292"/>
            <a:chOff x="1071563" y="1428317"/>
            <a:chExt cx="7000875" cy="4345641"/>
          </a:xfrm>
        </p:grpSpPr>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2006449" y="45415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6903720" y="45415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4371260" y="490728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036757B-F06D-4E20-9282-A8FF9D6175DB}"/>
                </a:ext>
              </a:extLst>
            </p:cNvPr>
            <p:cNvCxnSpPr>
              <a:cxnSpLocks/>
            </p:cNvCxnSpPr>
            <p:nvPr/>
          </p:nvCxnSpPr>
          <p:spPr>
            <a:xfrm rot="5400000">
              <a:off x="4456082" y="5675899"/>
              <a:ext cx="196119"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pic>
          <p:nvPicPr>
            <p:cNvPr id="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F711CB0D-C0D7-4562-B7DA-D2D7B5AFD0B7}"/>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71563" y="1428317"/>
              <a:ext cx="7000875" cy="2465766"/>
            </a:xfrm>
            <a:prstGeom prst="rect">
              <a:avLst/>
            </a:prstGeom>
            <a:noFill/>
            <a:ln/>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ED009F42-8219-4094-9CC2-F2B7670971BF}"/>
                </a:ext>
              </a:extLst>
            </p:cNvPr>
            <p:cNvSpPr/>
            <p:nvPr>
              <p:custDataLst>
                <p:tags r:id="rId17"/>
              </p:custDataLst>
            </p:nvPr>
          </p:nvSpPr>
          <p:spPr>
            <a:xfrm>
              <a:off x="1376362" y="3886200"/>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L1-I cache</a:t>
              </a:r>
            </a:p>
          </p:txBody>
        </p:sp>
        <p:sp>
          <p:nvSpPr>
            <p:cNvPr id="11" name="Rectangle 10">
              <a:extLst>
                <a:ext uri="{FF2B5EF4-FFF2-40B4-BE49-F238E27FC236}">
                  <a16:creationId xmlns:a16="http://schemas.microsoft.com/office/drawing/2014/main" id="{245FF189-AAF0-4FFB-88FB-01D4DF347755}"/>
                </a:ext>
              </a:extLst>
            </p:cNvPr>
            <p:cNvSpPr/>
            <p:nvPr>
              <p:custDataLst>
                <p:tags r:id="rId18"/>
              </p:custDataLst>
            </p:nvPr>
          </p:nvSpPr>
          <p:spPr>
            <a:xfrm>
              <a:off x="6176962" y="3866717"/>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L1-D cache</a:t>
              </a:r>
            </a:p>
          </p:txBody>
        </p:sp>
        <p:cxnSp>
          <p:nvCxnSpPr>
            <p:cNvPr id="13" name="Straight Connector 12">
              <a:extLst>
                <a:ext uri="{FF2B5EF4-FFF2-40B4-BE49-F238E27FC236}">
                  <a16:creationId xmlns:a16="http://schemas.microsoft.com/office/drawing/2014/main" id="{1481658E-174A-4B8C-A0F6-8F38D5C146AC}"/>
                </a:ext>
              </a:extLst>
            </p:cNvPr>
            <p:cNvCxnSpPr>
              <a:cxnSpLocks/>
            </p:cNvCxnSpPr>
            <p:nvPr/>
          </p:nvCxnSpPr>
          <p:spPr>
            <a:xfrm flipV="1">
              <a:off x="1376362" y="3027187"/>
              <a:ext cx="501607" cy="86689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A4CC4D3-AE60-4E01-A3B8-ECE0FDFD30A5}"/>
                </a:ext>
              </a:extLst>
            </p:cNvPr>
            <p:cNvCxnSpPr>
              <a:cxnSpLocks/>
            </p:cNvCxnSpPr>
            <p:nvPr/>
          </p:nvCxnSpPr>
          <p:spPr>
            <a:xfrm flipH="1" flipV="1">
              <a:off x="2390908" y="3028624"/>
              <a:ext cx="580892" cy="85757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8172EE4-4B58-442A-AD32-447CB0566418}"/>
                </a:ext>
              </a:extLst>
            </p:cNvPr>
            <p:cNvCxnSpPr>
              <a:cxnSpLocks/>
            </p:cNvCxnSpPr>
            <p:nvPr/>
          </p:nvCxnSpPr>
          <p:spPr>
            <a:xfrm flipV="1">
              <a:off x="6172200" y="3015139"/>
              <a:ext cx="501607" cy="86689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40439B3-031E-41E8-ACAF-E3944D2657EC}"/>
                </a:ext>
              </a:extLst>
            </p:cNvPr>
            <p:cNvCxnSpPr>
              <a:cxnSpLocks/>
            </p:cNvCxnSpPr>
            <p:nvPr/>
          </p:nvCxnSpPr>
          <p:spPr>
            <a:xfrm flipH="1" flipV="1">
              <a:off x="7186746" y="3016576"/>
              <a:ext cx="580892" cy="85757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2D7A2886-7379-423F-85D4-322ACFAFD94C}"/>
                </a:ext>
              </a:extLst>
            </p:cNvPr>
            <p:cNvSpPr/>
            <p:nvPr>
              <p:custDataLst>
                <p:tags r:id="rId19"/>
              </p:custDataLst>
            </p:nvPr>
          </p:nvSpPr>
          <p:spPr>
            <a:xfrm>
              <a:off x="2906701" y="5029200"/>
              <a:ext cx="3330597"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unified I/D</a:t>
              </a:r>
            </a:p>
            <a:p>
              <a:pPr algn="ctr"/>
              <a:r>
                <a:rPr lang="en-US" sz="1400" b="1" dirty="0">
                  <a:solidFill>
                    <a:schemeClr val="tx1"/>
                  </a:solidFill>
                </a:rPr>
                <a:t>L2 cache</a:t>
              </a:r>
            </a:p>
          </p:txBody>
        </p:sp>
        <p:cxnSp>
          <p:nvCxnSpPr>
            <p:cNvPr id="15" name="Straight Connector 14">
              <a:extLst>
                <a:ext uri="{FF2B5EF4-FFF2-40B4-BE49-F238E27FC236}">
                  <a16:creationId xmlns:a16="http://schemas.microsoft.com/office/drawing/2014/main" id="{EDD64322-E63E-49AB-8A7A-1A61875339C8}"/>
                </a:ext>
              </a:extLst>
            </p:cNvPr>
            <p:cNvCxnSpPr/>
            <p:nvPr/>
          </p:nvCxnSpPr>
          <p:spPr>
            <a:xfrm>
              <a:off x="2174081" y="4724400"/>
              <a:ext cx="4912519"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A824B9C7-BB45-44EA-98B8-0E08D03BA1C5}"/>
              </a:ext>
            </a:extLst>
          </p:cNvPr>
          <p:cNvGrpSpPr/>
          <p:nvPr>
            <p:custDataLst>
              <p:tags r:id="rId5"/>
            </p:custDataLst>
          </p:nvPr>
        </p:nvGrpSpPr>
        <p:grpSpPr>
          <a:xfrm>
            <a:off x="3200400" y="1428317"/>
            <a:ext cx="2662237" cy="4210483"/>
            <a:chOff x="1071563" y="1428317"/>
            <a:chExt cx="7000875" cy="4515283"/>
          </a:xfrm>
        </p:grpSpPr>
        <p:cxnSp>
          <p:nvCxnSpPr>
            <p:cNvPr id="53" name="Straight Connector 52">
              <a:extLst>
                <a:ext uri="{FF2B5EF4-FFF2-40B4-BE49-F238E27FC236}">
                  <a16:creationId xmlns:a16="http://schemas.microsoft.com/office/drawing/2014/main" id="{81DDBB36-68F0-4CA6-B2D1-836A5605CB88}"/>
                </a:ext>
              </a:extLst>
            </p:cNvPr>
            <p:cNvCxnSpPr>
              <a:cxnSpLocks/>
            </p:cNvCxnSpPr>
            <p:nvPr/>
          </p:nvCxnSpPr>
          <p:spPr>
            <a:xfrm rot="5400000">
              <a:off x="2006449" y="45415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545AD1D-DA5F-4C5C-A78F-DD0813B87F96}"/>
                </a:ext>
              </a:extLst>
            </p:cNvPr>
            <p:cNvCxnSpPr>
              <a:cxnSpLocks/>
            </p:cNvCxnSpPr>
            <p:nvPr/>
          </p:nvCxnSpPr>
          <p:spPr>
            <a:xfrm rot="5400000">
              <a:off x="6903720" y="45415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4A7953A7-EAAF-4523-880D-D7776D8FE399}"/>
                </a:ext>
              </a:extLst>
            </p:cNvPr>
            <p:cNvCxnSpPr>
              <a:cxnSpLocks/>
            </p:cNvCxnSpPr>
            <p:nvPr/>
          </p:nvCxnSpPr>
          <p:spPr>
            <a:xfrm rot="5400000">
              <a:off x="4371260" y="490728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698CA5E0-638C-4C69-873B-00BFE17AA1C7}"/>
                </a:ext>
              </a:extLst>
            </p:cNvPr>
            <p:cNvCxnSpPr>
              <a:cxnSpLocks/>
            </p:cNvCxnSpPr>
            <p:nvPr/>
          </p:nvCxnSpPr>
          <p:spPr>
            <a:xfrm rot="5400000">
              <a:off x="4371260" y="57607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pic>
          <p:nvPicPr>
            <p:cNvPr id="5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EB72AC71-495C-4E3D-BE0F-8C2118A50A09}"/>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71563" y="1428317"/>
              <a:ext cx="7000875" cy="2465766"/>
            </a:xfrm>
            <a:prstGeom prst="rect">
              <a:avLst/>
            </a:prstGeom>
            <a:noFill/>
            <a:ln/>
            <a:extLst>
              <a:ext uri="{909E8E84-426E-40DD-AFC4-6F175D3DCCD1}">
                <a14:hiddenFill xmlns:a14="http://schemas.microsoft.com/office/drawing/2010/main">
                  <a:solidFill>
                    <a:srgbClr val="FFFFFF"/>
                  </a:solidFill>
                </a14:hiddenFill>
              </a:ext>
            </a:extLst>
          </p:spPr>
        </p:pic>
        <p:sp>
          <p:nvSpPr>
            <p:cNvPr id="58" name="Rectangle 57">
              <a:extLst>
                <a:ext uri="{FF2B5EF4-FFF2-40B4-BE49-F238E27FC236}">
                  <a16:creationId xmlns:a16="http://schemas.microsoft.com/office/drawing/2014/main" id="{C2E7FDB8-8340-4A77-8ED3-BF3F94566A38}"/>
                </a:ext>
              </a:extLst>
            </p:cNvPr>
            <p:cNvSpPr/>
            <p:nvPr>
              <p:custDataLst>
                <p:tags r:id="rId14"/>
              </p:custDataLst>
            </p:nvPr>
          </p:nvSpPr>
          <p:spPr>
            <a:xfrm>
              <a:off x="1376362" y="3886200"/>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L1-I cache</a:t>
              </a:r>
            </a:p>
          </p:txBody>
        </p:sp>
        <p:sp>
          <p:nvSpPr>
            <p:cNvPr id="59" name="Rectangle 58">
              <a:extLst>
                <a:ext uri="{FF2B5EF4-FFF2-40B4-BE49-F238E27FC236}">
                  <a16:creationId xmlns:a16="http://schemas.microsoft.com/office/drawing/2014/main" id="{46059270-04A6-4500-B528-F8A835466CD0}"/>
                </a:ext>
              </a:extLst>
            </p:cNvPr>
            <p:cNvSpPr/>
            <p:nvPr>
              <p:custDataLst>
                <p:tags r:id="rId15"/>
              </p:custDataLst>
            </p:nvPr>
          </p:nvSpPr>
          <p:spPr>
            <a:xfrm>
              <a:off x="6176962" y="3866717"/>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L1-D cache</a:t>
              </a:r>
            </a:p>
          </p:txBody>
        </p:sp>
        <p:cxnSp>
          <p:nvCxnSpPr>
            <p:cNvPr id="60" name="Straight Connector 59">
              <a:extLst>
                <a:ext uri="{FF2B5EF4-FFF2-40B4-BE49-F238E27FC236}">
                  <a16:creationId xmlns:a16="http://schemas.microsoft.com/office/drawing/2014/main" id="{28CC5CFF-C1A4-4557-8AB1-107BBEFBC980}"/>
                </a:ext>
              </a:extLst>
            </p:cNvPr>
            <p:cNvCxnSpPr>
              <a:cxnSpLocks/>
            </p:cNvCxnSpPr>
            <p:nvPr/>
          </p:nvCxnSpPr>
          <p:spPr>
            <a:xfrm flipV="1">
              <a:off x="1376362" y="3027187"/>
              <a:ext cx="501607" cy="86689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FF68C595-F513-4652-B8C1-C1A6A903FC92}"/>
                </a:ext>
              </a:extLst>
            </p:cNvPr>
            <p:cNvCxnSpPr>
              <a:cxnSpLocks/>
            </p:cNvCxnSpPr>
            <p:nvPr/>
          </p:nvCxnSpPr>
          <p:spPr>
            <a:xfrm flipH="1" flipV="1">
              <a:off x="2390908" y="3028624"/>
              <a:ext cx="580892" cy="85757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BD70B5E-948C-4C0E-96AE-2D079191828B}"/>
                </a:ext>
              </a:extLst>
            </p:cNvPr>
            <p:cNvCxnSpPr>
              <a:cxnSpLocks/>
            </p:cNvCxnSpPr>
            <p:nvPr/>
          </p:nvCxnSpPr>
          <p:spPr>
            <a:xfrm flipV="1">
              <a:off x="6172200" y="3015139"/>
              <a:ext cx="501607" cy="86689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2221236-3860-476B-9434-643870C0DCC7}"/>
                </a:ext>
              </a:extLst>
            </p:cNvPr>
            <p:cNvCxnSpPr>
              <a:cxnSpLocks/>
            </p:cNvCxnSpPr>
            <p:nvPr/>
          </p:nvCxnSpPr>
          <p:spPr>
            <a:xfrm flipH="1" flipV="1">
              <a:off x="7186746" y="3016576"/>
              <a:ext cx="580892" cy="85757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117DA5B1-D072-4B57-988E-B7E4C99A2DA4}"/>
                </a:ext>
              </a:extLst>
            </p:cNvPr>
            <p:cNvSpPr/>
            <p:nvPr>
              <p:custDataLst>
                <p:tags r:id="rId16"/>
              </p:custDataLst>
            </p:nvPr>
          </p:nvSpPr>
          <p:spPr>
            <a:xfrm>
              <a:off x="2906701" y="5029200"/>
              <a:ext cx="3330597"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unified I/D</a:t>
              </a:r>
            </a:p>
            <a:p>
              <a:pPr algn="ctr"/>
              <a:r>
                <a:rPr lang="en-US" sz="1400" b="1" dirty="0">
                  <a:solidFill>
                    <a:schemeClr val="tx1"/>
                  </a:solidFill>
                </a:rPr>
                <a:t>L2 cache</a:t>
              </a:r>
            </a:p>
          </p:txBody>
        </p:sp>
        <p:cxnSp>
          <p:nvCxnSpPr>
            <p:cNvPr id="65" name="Straight Connector 64">
              <a:extLst>
                <a:ext uri="{FF2B5EF4-FFF2-40B4-BE49-F238E27FC236}">
                  <a16:creationId xmlns:a16="http://schemas.microsoft.com/office/drawing/2014/main" id="{CE39FB94-99FE-4ACD-99EA-8DCAEDF6FE16}"/>
                </a:ext>
              </a:extLst>
            </p:cNvPr>
            <p:cNvCxnSpPr/>
            <p:nvPr/>
          </p:nvCxnSpPr>
          <p:spPr>
            <a:xfrm>
              <a:off x="2174081" y="4724400"/>
              <a:ext cx="4912519"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grpSp>
      <p:grpSp>
        <p:nvGrpSpPr>
          <p:cNvPr id="66" name="Group 65">
            <a:extLst>
              <a:ext uri="{FF2B5EF4-FFF2-40B4-BE49-F238E27FC236}">
                <a16:creationId xmlns:a16="http://schemas.microsoft.com/office/drawing/2014/main" id="{DEA36ADE-73F4-4034-941A-30C83533DB4C}"/>
              </a:ext>
            </a:extLst>
          </p:cNvPr>
          <p:cNvGrpSpPr/>
          <p:nvPr>
            <p:custDataLst>
              <p:tags r:id="rId6"/>
            </p:custDataLst>
          </p:nvPr>
        </p:nvGrpSpPr>
        <p:grpSpPr>
          <a:xfrm>
            <a:off x="6024563" y="1428317"/>
            <a:ext cx="2662237" cy="4052292"/>
            <a:chOff x="1071563" y="1428317"/>
            <a:chExt cx="7000875" cy="4345641"/>
          </a:xfrm>
        </p:grpSpPr>
        <p:cxnSp>
          <p:nvCxnSpPr>
            <p:cNvPr id="67" name="Straight Connector 66">
              <a:extLst>
                <a:ext uri="{FF2B5EF4-FFF2-40B4-BE49-F238E27FC236}">
                  <a16:creationId xmlns:a16="http://schemas.microsoft.com/office/drawing/2014/main" id="{C61248E0-A76E-4380-9764-6F542B27C9A5}"/>
                </a:ext>
              </a:extLst>
            </p:cNvPr>
            <p:cNvCxnSpPr>
              <a:cxnSpLocks/>
            </p:cNvCxnSpPr>
            <p:nvPr/>
          </p:nvCxnSpPr>
          <p:spPr>
            <a:xfrm rot="5400000">
              <a:off x="2006449" y="45415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02C4EDC-2DF9-4803-87E9-BE97687AEC25}"/>
                </a:ext>
              </a:extLst>
            </p:cNvPr>
            <p:cNvCxnSpPr>
              <a:cxnSpLocks/>
            </p:cNvCxnSpPr>
            <p:nvPr/>
          </p:nvCxnSpPr>
          <p:spPr>
            <a:xfrm rot="5400000">
              <a:off x="6903720" y="45415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9AF58ED7-7F1B-46A8-84D9-8AA44357D100}"/>
                </a:ext>
              </a:extLst>
            </p:cNvPr>
            <p:cNvCxnSpPr>
              <a:cxnSpLocks/>
            </p:cNvCxnSpPr>
            <p:nvPr/>
          </p:nvCxnSpPr>
          <p:spPr>
            <a:xfrm rot="5400000">
              <a:off x="4371260" y="490728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C89630B8-1FF8-43B1-B6A9-D39E45DEC418}"/>
                </a:ext>
              </a:extLst>
            </p:cNvPr>
            <p:cNvCxnSpPr>
              <a:cxnSpLocks/>
            </p:cNvCxnSpPr>
            <p:nvPr/>
          </p:nvCxnSpPr>
          <p:spPr>
            <a:xfrm rot="5400000">
              <a:off x="4456082" y="5675899"/>
              <a:ext cx="196119"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pic>
          <p:nvPicPr>
            <p:cNvPr id="71"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6E6505CC-84CD-40BC-A6FA-A3D77A23961D}"/>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71563" y="1428317"/>
              <a:ext cx="7000875" cy="2465766"/>
            </a:xfrm>
            <a:prstGeom prst="rect">
              <a:avLst/>
            </a:prstGeom>
            <a:noFill/>
            <a:ln/>
            <a:extLst>
              <a:ext uri="{909E8E84-426E-40DD-AFC4-6F175D3DCCD1}">
                <a14:hiddenFill xmlns:a14="http://schemas.microsoft.com/office/drawing/2010/main">
                  <a:solidFill>
                    <a:srgbClr val="FFFFFF"/>
                  </a:solidFill>
                </a14:hiddenFill>
              </a:ext>
            </a:extLst>
          </p:spPr>
        </p:pic>
        <p:sp>
          <p:nvSpPr>
            <p:cNvPr id="72" name="Rectangle 71">
              <a:extLst>
                <a:ext uri="{FF2B5EF4-FFF2-40B4-BE49-F238E27FC236}">
                  <a16:creationId xmlns:a16="http://schemas.microsoft.com/office/drawing/2014/main" id="{BEA8895F-B154-4523-A255-C6D08CBF7CD7}"/>
                </a:ext>
              </a:extLst>
            </p:cNvPr>
            <p:cNvSpPr/>
            <p:nvPr>
              <p:custDataLst>
                <p:tags r:id="rId11"/>
              </p:custDataLst>
            </p:nvPr>
          </p:nvSpPr>
          <p:spPr>
            <a:xfrm>
              <a:off x="1376362" y="3886200"/>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L1-I cache</a:t>
              </a:r>
            </a:p>
          </p:txBody>
        </p:sp>
        <p:sp>
          <p:nvSpPr>
            <p:cNvPr id="73" name="Rectangle 72">
              <a:extLst>
                <a:ext uri="{FF2B5EF4-FFF2-40B4-BE49-F238E27FC236}">
                  <a16:creationId xmlns:a16="http://schemas.microsoft.com/office/drawing/2014/main" id="{430B70B5-AB08-4CBC-BB52-94C88C39C21A}"/>
                </a:ext>
              </a:extLst>
            </p:cNvPr>
            <p:cNvSpPr/>
            <p:nvPr>
              <p:custDataLst>
                <p:tags r:id="rId12"/>
              </p:custDataLst>
            </p:nvPr>
          </p:nvSpPr>
          <p:spPr>
            <a:xfrm>
              <a:off x="6176962" y="3866717"/>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L1-D cache</a:t>
              </a:r>
            </a:p>
          </p:txBody>
        </p:sp>
        <p:cxnSp>
          <p:nvCxnSpPr>
            <p:cNvPr id="74" name="Straight Connector 73">
              <a:extLst>
                <a:ext uri="{FF2B5EF4-FFF2-40B4-BE49-F238E27FC236}">
                  <a16:creationId xmlns:a16="http://schemas.microsoft.com/office/drawing/2014/main" id="{7E0B8AB1-06BE-4516-A112-C6902418BB68}"/>
                </a:ext>
              </a:extLst>
            </p:cNvPr>
            <p:cNvCxnSpPr>
              <a:cxnSpLocks/>
            </p:cNvCxnSpPr>
            <p:nvPr/>
          </p:nvCxnSpPr>
          <p:spPr>
            <a:xfrm flipV="1">
              <a:off x="1376362" y="3027187"/>
              <a:ext cx="501607" cy="86689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8263AF4-188A-4FDA-B1B9-F1702721182A}"/>
                </a:ext>
              </a:extLst>
            </p:cNvPr>
            <p:cNvCxnSpPr>
              <a:cxnSpLocks/>
            </p:cNvCxnSpPr>
            <p:nvPr/>
          </p:nvCxnSpPr>
          <p:spPr>
            <a:xfrm flipH="1" flipV="1">
              <a:off x="2390908" y="3028624"/>
              <a:ext cx="580892" cy="85757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8CD463B3-4801-4104-B5BF-F3271FC98426}"/>
                </a:ext>
              </a:extLst>
            </p:cNvPr>
            <p:cNvCxnSpPr>
              <a:cxnSpLocks/>
            </p:cNvCxnSpPr>
            <p:nvPr/>
          </p:nvCxnSpPr>
          <p:spPr>
            <a:xfrm flipV="1">
              <a:off x="6172200" y="3015139"/>
              <a:ext cx="501607" cy="86689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28E2841-6D7F-4EDD-B6B7-93420FFFEE65}"/>
                </a:ext>
              </a:extLst>
            </p:cNvPr>
            <p:cNvCxnSpPr>
              <a:cxnSpLocks/>
            </p:cNvCxnSpPr>
            <p:nvPr/>
          </p:nvCxnSpPr>
          <p:spPr>
            <a:xfrm flipH="1" flipV="1">
              <a:off x="7186746" y="3016576"/>
              <a:ext cx="580892" cy="85757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sp>
          <p:nvSpPr>
            <p:cNvPr id="78" name="Rectangle 77">
              <a:extLst>
                <a:ext uri="{FF2B5EF4-FFF2-40B4-BE49-F238E27FC236}">
                  <a16:creationId xmlns:a16="http://schemas.microsoft.com/office/drawing/2014/main" id="{4B99CDC0-E679-4BFB-934B-082C6E6164EF}"/>
                </a:ext>
              </a:extLst>
            </p:cNvPr>
            <p:cNvSpPr/>
            <p:nvPr>
              <p:custDataLst>
                <p:tags r:id="rId13"/>
              </p:custDataLst>
            </p:nvPr>
          </p:nvSpPr>
          <p:spPr>
            <a:xfrm>
              <a:off x="2906701" y="5029200"/>
              <a:ext cx="3330597"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unified I/D</a:t>
              </a:r>
            </a:p>
            <a:p>
              <a:pPr algn="ctr"/>
              <a:r>
                <a:rPr lang="en-US" sz="1400" b="1" dirty="0">
                  <a:solidFill>
                    <a:schemeClr val="tx1"/>
                  </a:solidFill>
                </a:rPr>
                <a:t>L2 cache</a:t>
              </a:r>
            </a:p>
          </p:txBody>
        </p:sp>
        <p:cxnSp>
          <p:nvCxnSpPr>
            <p:cNvPr id="79" name="Straight Connector 78">
              <a:extLst>
                <a:ext uri="{FF2B5EF4-FFF2-40B4-BE49-F238E27FC236}">
                  <a16:creationId xmlns:a16="http://schemas.microsoft.com/office/drawing/2014/main" id="{08AE09DA-A9F0-4D73-906F-91123C1CBA61}"/>
                </a:ext>
              </a:extLst>
            </p:cNvPr>
            <p:cNvCxnSpPr/>
            <p:nvPr/>
          </p:nvCxnSpPr>
          <p:spPr>
            <a:xfrm>
              <a:off x="2174081" y="4724400"/>
              <a:ext cx="4912519"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grpSp>
      <p:cxnSp>
        <p:nvCxnSpPr>
          <p:cNvPr id="80" name="Straight Connector 79">
            <a:extLst>
              <a:ext uri="{FF2B5EF4-FFF2-40B4-BE49-F238E27FC236}">
                <a16:creationId xmlns:a16="http://schemas.microsoft.com/office/drawing/2014/main" id="{18386195-9157-44FD-BA5B-D401F6A36FC5}"/>
              </a:ext>
            </a:extLst>
          </p:cNvPr>
          <p:cNvCxnSpPr/>
          <p:nvPr/>
        </p:nvCxnSpPr>
        <p:spPr>
          <a:xfrm>
            <a:off x="1676400" y="5486400"/>
            <a:ext cx="56692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327A35C7-00B1-4F0B-8D33-7E6A2E460038}"/>
              </a:ext>
            </a:extLst>
          </p:cNvPr>
          <p:cNvCxnSpPr>
            <a:cxnSpLocks/>
          </p:cNvCxnSpPr>
          <p:nvPr/>
        </p:nvCxnSpPr>
        <p:spPr>
          <a:xfrm rot="5400000">
            <a:off x="4204687" y="5958840"/>
            <a:ext cx="6400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5C4F596C-7CDC-40AA-AC7D-C5FB7C554EFF}"/>
              </a:ext>
            </a:extLst>
          </p:cNvPr>
          <p:cNvSpPr/>
          <p:nvPr>
            <p:custDataLst>
              <p:tags r:id="rId7"/>
            </p:custDataLst>
          </p:nvPr>
        </p:nvSpPr>
        <p:spPr>
          <a:xfrm>
            <a:off x="1731234" y="6248400"/>
            <a:ext cx="5681530"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main memory</a:t>
            </a:r>
          </a:p>
        </p:txBody>
      </p:sp>
      <p:sp>
        <p:nvSpPr>
          <p:cNvPr id="49" name="Rectangle 48">
            <a:extLst>
              <a:ext uri="{FF2B5EF4-FFF2-40B4-BE49-F238E27FC236}">
                <a16:creationId xmlns:a16="http://schemas.microsoft.com/office/drawing/2014/main" id="{14E930D7-3FF6-42A4-9FB0-F9DB0D06EDCA}"/>
              </a:ext>
            </a:extLst>
          </p:cNvPr>
          <p:cNvSpPr/>
          <p:nvPr>
            <p:custDataLst>
              <p:tags r:id="rId8"/>
            </p:custDataLst>
          </p:nvPr>
        </p:nvSpPr>
        <p:spPr>
          <a:xfrm>
            <a:off x="3048000" y="5638800"/>
            <a:ext cx="2942933" cy="390713"/>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shared L3 cache</a:t>
            </a:r>
          </a:p>
        </p:txBody>
      </p:sp>
      <p:sp>
        <p:nvSpPr>
          <p:cNvPr id="50" name="TextBox 49">
            <a:extLst>
              <a:ext uri="{FF2B5EF4-FFF2-40B4-BE49-F238E27FC236}">
                <a16:creationId xmlns:a16="http://schemas.microsoft.com/office/drawing/2014/main" id="{E5FDC884-2D8C-4EB6-910C-78B09299C143}"/>
              </a:ext>
            </a:extLst>
          </p:cNvPr>
          <p:cNvSpPr txBox="1"/>
          <p:nvPr>
            <p:custDataLst>
              <p:tags r:id="rId9"/>
            </p:custDataLst>
          </p:nvPr>
        </p:nvSpPr>
        <p:spPr>
          <a:xfrm>
            <a:off x="457200" y="5486400"/>
            <a:ext cx="2437082" cy="560717"/>
          </a:xfrm>
          <a:prstGeom prst="rect">
            <a:avLst/>
          </a:prstGeom>
          <a:noFill/>
        </p:spPr>
        <p:txBody>
          <a:bodyPr wrap="square" rtlCol="0" anchor="ctr">
            <a:noAutofit/>
          </a:bodyPr>
          <a:lstStyle/>
          <a:p>
            <a:pPr algn="ctr"/>
            <a:r>
              <a:rPr lang="en-US" sz="1600" b="1" dirty="0">
                <a:solidFill>
                  <a:schemeClr val="accent6">
                    <a:lumMod val="75000"/>
                  </a:schemeClr>
                </a:solidFill>
                <a:latin typeface="+mn-lt"/>
              </a:rPr>
              <a:t>private L1, L2 caches</a:t>
            </a:r>
          </a:p>
        </p:txBody>
      </p:sp>
      <p:sp>
        <p:nvSpPr>
          <p:cNvPr id="3" name="Oval 2">
            <a:extLst>
              <a:ext uri="{FF2B5EF4-FFF2-40B4-BE49-F238E27FC236}">
                <a16:creationId xmlns:a16="http://schemas.microsoft.com/office/drawing/2014/main" id="{64185645-44FE-4377-8A11-94F6DF808184}"/>
              </a:ext>
            </a:extLst>
          </p:cNvPr>
          <p:cNvSpPr/>
          <p:nvPr>
            <p:custDataLst>
              <p:tags r:id="rId10"/>
            </p:custDataLst>
          </p:nvPr>
        </p:nvSpPr>
        <p:spPr>
          <a:xfrm>
            <a:off x="253496" y="2895600"/>
            <a:ext cx="2870704" cy="2719539"/>
          </a:xfrm>
          <a:prstGeom prst="ellipse">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24614094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UMA vs. NUMA</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6</a:t>
            </a:fld>
            <a:endParaRPr lang="en-US" altLang="en-US" sz="1400">
              <a:latin typeface="Times New Roman" panose="02020603050405020304" pitchFamily="18" charset="0"/>
            </a:endParaRPr>
          </a:p>
        </p:txBody>
      </p:sp>
      <p:pic>
        <p:nvPicPr>
          <p:cNvPr id="32" name="Picture 6" descr="she70647_0904">
            <a:extLst>
              <a:ext uri="{FF2B5EF4-FFF2-40B4-BE49-F238E27FC236}">
                <a16:creationId xmlns:a16="http://schemas.microsoft.com/office/drawing/2014/main" id="{F8F45F61-9D9C-4708-BF84-AD0624EA69E4}"/>
              </a:ext>
            </a:extLst>
          </p:cNvPr>
          <p:cNvPicPr>
            <a:picLocks noChangeAspect="1" noChangeArrowheads="1"/>
          </p:cNvPicPr>
          <p:nvPr>
            <p:custDataLst>
              <p:tags r:id="rId4"/>
            </p:custDataLst>
          </p:nvPr>
        </p:nvPicPr>
        <p:blipFill>
          <a:blip r:embed="rId7">
            <a:extLst>
              <a:ext uri="{28A0092B-C50C-407E-A947-70E740481C1C}">
                <a14:useLocalDpi xmlns:a14="http://schemas.microsoft.com/office/drawing/2010/main" val="0"/>
              </a:ext>
            </a:extLst>
          </a:blip>
          <a:srcRect/>
          <a:stretch>
            <a:fillRect/>
          </a:stretch>
        </p:blipFill>
        <p:spPr bwMode="auto">
          <a:xfrm>
            <a:off x="457200" y="1814512"/>
            <a:ext cx="8382000" cy="3824288"/>
          </a:xfrm>
          <a:prstGeom prst="rect">
            <a:avLst/>
          </a:prstGeom>
          <a:solidFill>
            <a:schemeClr val="bg1"/>
          </a:solidFill>
          <a:ln>
            <a:noFill/>
          </a:ln>
        </p:spPr>
      </p:pic>
    </p:spTree>
    <p:custDataLst>
      <p:tags r:id="rId1"/>
    </p:custDataLst>
    <p:extLst>
      <p:ext uri="{BB962C8B-B14F-4D97-AF65-F5344CB8AC3E}">
        <p14:creationId xmlns:p14="http://schemas.microsoft.com/office/powerpoint/2010/main" val="271509300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1" descr=" 15">
            <a:extLst>
              <a:ext uri="{FF2B5EF4-FFF2-40B4-BE49-F238E27FC236}">
                <a16:creationId xmlns:a16="http://schemas.microsoft.com/office/drawing/2014/main" id="{CE3BB417-CEC1-4317-A0F5-A75A0B0D8AC7}"/>
              </a:ext>
            </a:extLst>
          </p:cNvPr>
          <p:cNvSpPr>
            <a:spLocks noChangeArrowheads="1"/>
          </p:cNvSpPr>
          <p:nvPr>
            <p:custDataLst>
              <p:tags r:id="rId2"/>
            </p:custDataLst>
          </p:nvPr>
        </p:nvSpPr>
        <p:spPr bwMode="auto">
          <a:xfrm>
            <a:off x="2133600" y="4081947"/>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2000" dirty="0">
                <a:latin typeface="Calibri" pitchFamily="34" charset="0"/>
              </a:rPr>
              <a:t>X: 37</a:t>
            </a:r>
            <a:endParaRPr lang="en-US" sz="2400" dirty="0">
              <a:latin typeface="Calibri" pitchFamily="34" charset="0"/>
            </a:endParaRPr>
          </a:p>
        </p:txBody>
      </p:sp>
      <p:sp>
        <p:nvSpPr>
          <p:cNvPr id="2055" name="Rectangle 2"/>
          <p:cNvSpPr>
            <a:spLocks noGrp="1" noChangeArrowheads="1"/>
          </p:cNvSpPr>
          <p:nvPr>
            <p:ph type="title"/>
            <p:custDataLst>
              <p:tags r:id="rId3"/>
            </p:custDataLst>
          </p:nvPr>
        </p:nvSpPr>
        <p:spPr>
          <a:xfrm>
            <a:off x="457200" y="274638"/>
            <a:ext cx="7467600" cy="1143000"/>
          </a:xfrm>
        </p:spPr>
        <p:txBody>
          <a:bodyPr/>
          <a:lstStyle/>
          <a:p>
            <a:r>
              <a:rPr lang="en-US" altLang="en-US" dirty="0"/>
              <a:t>Cache Coherence Problem</a:t>
            </a:r>
          </a:p>
        </p:txBody>
      </p:sp>
      <p:sp>
        <p:nvSpPr>
          <p:cNvPr id="2056" name="Rectangle 3"/>
          <p:cNvSpPr>
            <a:spLocks noGrp="1" noChangeArrowheads="1"/>
          </p:cNvSpPr>
          <p:nvPr>
            <p:ph idx="1"/>
            <p:custDataLst>
              <p:tags r:id="rId4"/>
            </p:custDataLst>
          </p:nvPr>
        </p:nvSpPr>
        <p:spPr>
          <a:xfrm>
            <a:off x="682625" y="1600200"/>
            <a:ext cx="8308975" cy="1295400"/>
          </a:xfrm>
        </p:spPr>
        <p:txBody>
          <a:bodyPr/>
          <a:lstStyle/>
          <a:p>
            <a:pPr marL="0" indent="0">
              <a:lnSpc>
                <a:spcPct val="80000"/>
              </a:lnSpc>
              <a:buNone/>
            </a:pPr>
            <a:r>
              <a:rPr lang="en-US" altLang="en-US" sz="2800" dirty="0"/>
              <a:t>A block X can exist in multiple </a:t>
            </a:r>
            <a:r>
              <a:rPr lang="en-US" altLang="en-US" sz="2800" b="1" dirty="0"/>
              <a:t>private</a:t>
            </a:r>
            <a:r>
              <a:rPr lang="en-US" altLang="en-US" sz="2800" dirty="0"/>
              <a:t> caches at any given moment. If one core modifies X, unless other cores are immediately made aware of this change, the other cores may read the </a:t>
            </a:r>
            <a:r>
              <a:rPr lang="en-US" altLang="en-US" sz="2800" b="1" dirty="0"/>
              <a:t>stale (wrong) </a:t>
            </a:r>
            <a:r>
              <a:rPr lang="en-US" altLang="en-US" sz="2800" dirty="0"/>
              <a:t>contents of X.</a:t>
            </a:r>
          </a:p>
        </p:txBody>
      </p:sp>
      <p:sp>
        <p:nvSpPr>
          <p:cNvPr id="2054" name="Slide Number Placeholder 5"/>
          <p:cNvSpPr>
            <a:spLocks noGrp="1"/>
          </p:cNvSpPr>
          <p:nvPr>
            <p:ph type="sldNum" sz="quarter" idx="12"/>
            <p:custDataLst>
              <p:tags r:id="rId5"/>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7</a:t>
            </a:fld>
            <a:endParaRPr lang="en-US" altLang="en-US"/>
          </a:p>
        </p:txBody>
      </p:sp>
      <p:sp>
        <p:nvSpPr>
          <p:cNvPr id="5" name="Rectangle 4" descr=" 5">
            <a:extLst>
              <a:ext uri="{FF2B5EF4-FFF2-40B4-BE49-F238E27FC236}">
                <a16:creationId xmlns:a16="http://schemas.microsoft.com/office/drawing/2014/main" id="{EDE355B8-E286-4696-8B42-B19B51166A6E}"/>
              </a:ext>
            </a:extLst>
          </p:cNvPr>
          <p:cNvSpPr>
            <a:spLocks noChangeArrowheads="1"/>
          </p:cNvSpPr>
          <p:nvPr>
            <p:custDataLst>
              <p:tags r:id="rId6"/>
            </p:custDataLst>
          </p:nvPr>
        </p:nvSpPr>
        <p:spPr bwMode="auto">
          <a:xfrm>
            <a:off x="2462806" y="5071802"/>
            <a:ext cx="4041084" cy="376238"/>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2400" dirty="0">
                <a:latin typeface="Calibri" pitchFamily="34" charset="0"/>
              </a:rPr>
              <a:t>Bus</a:t>
            </a:r>
          </a:p>
        </p:txBody>
      </p:sp>
      <p:sp>
        <p:nvSpPr>
          <p:cNvPr id="6" name="Rectangle 6" descr=" 6">
            <a:extLst>
              <a:ext uri="{FF2B5EF4-FFF2-40B4-BE49-F238E27FC236}">
                <a16:creationId xmlns:a16="http://schemas.microsoft.com/office/drawing/2014/main" id="{D69625F6-D9BC-4773-B8F3-4888CE62BED5}"/>
              </a:ext>
            </a:extLst>
          </p:cNvPr>
          <p:cNvSpPr>
            <a:spLocks noChangeArrowheads="1"/>
          </p:cNvSpPr>
          <p:nvPr>
            <p:custDataLst>
              <p:tags r:id="rId7"/>
            </p:custDataLst>
          </p:nvPr>
        </p:nvSpPr>
        <p:spPr bwMode="auto">
          <a:xfrm>
            <a:off x="2326341" y="3273165"/>
            <a:ext cx="833719" cy="574675"/>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2400" dirty="0">
                <a:latin typeface="Calibri" pitchFamily="34" charset="0"/>
              </a:rPr>
              <a:t>P1</a:t>
            </a:r>
          </a:p>
        </p:txBody>
      </p:sp>
      <p:cxnSp>
        <p:nvCxnSpPr>
          <p:cNvPr id="7" name="AutoShape 9" descr=" 7">
            <a:extLst>
              <a:ext uri="{FF2B5EF4-FFF2-40B4-BE49-F238E27FC236}">
                <a16:creationId xmlns:a16="http://schemas.microsoft.com/office/drawing/2014/main" id="{FB829A3E-4309-4B4E-91AE-79E4B807B46F}"/>
              </a:ext>
            </a:extLst>
          </p:cNvPr>
          <p:cNvCxnSpPr>
            <a:cxnSpLocks noChangeShapeType="1"/>
          </p:cNvCxnSpPr>
          <p:nvPr>
            <p:custDataLst>
              <p:tags r:id="rId8"/>
            </p:custDataLst>
          </p:nvPr>
        </p:nvCxnSpPr>
        <p:spPr bwMode="auto">
          <a:xfrm rot="5400000">
            <a:off x="2634457" y="3973203"/>
            <a:ext cx="217488" cy="1"/>
          </a:xfrm>
          <a:prstGeom prst="bentConnector3">
            <a:avLst>
              <a:gd name="adj1" fmla="val 50000"/>
            </a:avLst>
          </a:prstGeom>
          <a:noFill/>
          <a:ln w="12700">
            <a:solidFill>
              <a:schemeClr val="tx1"/>
            </a:solidFill>
            <a:miter lim="800000"/>
            <a:headEnd type="none" w="sm" len="sm"/>
            <a:tailEnd type="triangle" w="med" len="med"/>
          </a:ln>
        </p:spPr>
      </p:cxnSp>
      <p:sp>
        <p:nvSpPr>
          <p:cNvPr id="8" name="Line 10" descr=" 8">
            <a:extLst>
              <a:ext uri="{FF2B5EF4-FFF2-40B4-BE49-F238E27FC236}">
                <a16:creationId xmlns:a16="http://schemas.microsoft.com/office/drawing/2014/main" id="{3AE748C1-0FFF-4A5E-AD2C-71E099112ABD}"/>
              </a:ext>
            </a:extLst>
          </p:cNvPr>
          <p:cNvSpPr>
            <a:spLocks noChangeShapeType="1"/>
          </p:cNvSpPr>
          <p:nvPr>
            <p:custDataLst>
              <p:tags r:id="rId9"/>
            </p:custDataLst>
          </p:nvPr>
        </p:nvSpPr>
        <p:spPr bwMode="auto">
          <a:xfrm>
            <a:off x="2752165" y="4695005"/>
            <a:ext cx="0" cy="377825"/>
          </a:xfrm>
          <a:prstGeom prst="line">
            <a:avLst/>
          </a:prstGeom>
          <a:noFill/>
          <a:ln w="12700">
            <a:solidFill>
              <a:schemeClr val="tx1"/>
            </a:solidFill>
            <a:round/>
            <a:headEnd type="none" w="sm" len="sm"/>
            <a:tailEnd type="triangle" w="med" len="med"/>
          </a:ln>
        </p:spPr>
        <p:txBody>
          <a:bodyPr wrap="none" anchor="ctr"/>
          <a:lstStyle/>
          <a:p>
            <a:endParaRPr lang="en-US" dirty="0">
              <a:latin typeface="Calibri" pitchFamily="34" charset="0"/>
            </a:endParaRPr>
          </a:p>
        </p:txBody>
      </p:sp>
      <p:sp>
        <p:nvSpPr>
          <p:cNvPr id="9" name="Rectangle 14" descr=" 10">
            <a:extLst>
              <a:ext uri="{FF2B5EF4-FFF2-40B4-BE49-F238E27FC236}">
                <a16:creationId xmlns:a16="http://schemas.microsoft.com/office/drawing/2014/main" id="{19C9A5C2-82A6-4618-AEF4-D796B42B9D28}"/>
              </a:ext>
            </a:extLst>
          </p:cNvPr>
          <p:cNvSpPr>
            <a:spLocks noChangeArrowheads="1"/>
          </p:cNvSpPr>
          <p:nvPr>
            <p:custDataLst>
              <p:tags r:id="rId10"/>
            </p:custDataLst>
          </p:nvPr>
        </p:nvSpPr>
        <p:spPr bwMode="auto">
          <a:xfrm>
            <a:off x="5907741" y="3273165"/>
            <a:ext cx="833719" cy="574675"/>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2400" dirty="0">
                <a:latin typeface="Calibri" pitchFamily="34" charset="0"/>
              </a:rPr>
              <a:t>P2</a:t>
            </a:r>
          </a:p>
        </p:txBody>
      </p:sp>
      <p:cxnSp>
        <p:nvCxnSpPr>
          <p:cNvPr id="10" name="AutoShape 17" descr=" 11">
            <a:extLst>
              <a:ext uri="{FF2B5EF4-FFF2-40B4-BE49-F238E27FC236}">
                <a16:creationId xmlns:a16="http://schemas.microsoft.com/office/drawing/2014/main" id="{E0521808-8B71-4CD4-9BE9-B6CFFD252860}"/>
              </a:ext>
            </a:extLst>
          </p:cNvPr>
          <p:cNvCxnSpPr>
            <a:cxnSpLocks noChangeShapeType="1"/>
            <a:stCxn id="9" idx="2"/>
            <a:endCxn id="15" idx="0"/>
          </p:cNvCxnSpPr>
          <p:nvPr>
            <p:custDataLst>
              <p:tags r:id="rId11"/>
            </p:custDataLst>
          </p:nvPr>
        </p:nvCxnSpPr>
        <p:spPr bwMode="auto">
          <a:xfrm rot="5400000">
            <a:off x="6210301" y="3962140"/>
            <a:ext cx="228600" cy="1"/>
          </a:xfrm>
          <a:prstGeom prst="bentConnector3">
            <a:avLst>
              <a:gd name="adj1" fmla="val 50000"/>
            </a:avLst>
          </a:prstGeom>
          <a:noFill/>
          <a:ln w="12700">
            <a:solidFill>
              <a:schemeClr val="tx1"/>
            </a:solidFill>
            <a:miter lim="800000"/>
            <a:headEnd type="none" w="sm" len="sm"/>
            <a:tailEnd type="triangle" w="med" len="med"/>
          </a:ln>
        </p:spPr>
      </p:cxnSp>
      <p:sp>
        <p:nvSpPr>
          <p:cNvPr id="11" name="Rectangle 21" descr=" 12">
            <a:extLst>
              <a:ext uri="{FF2B5EF4-FFF2-40B4-BE49-F238E27FC236}">
                <a16:creationId xmlns:a16="http://schemas.microsoft.com/office/drawing/2014/main" id="{33B0E5F3-06D7-4950-A1EE-7474D266FA9B}"/>
              </a:ext>
            </a:extLst>
          </p:cNvPr>
          <p:cNvSpPr>
            <a:spLocks noChangeArrowheads="1"/>
          </p:cNvSpPr>
          <p:nvPr>
            <p:custDataLst>
              <p:tags r:id="rId12"/>
            </p:custDataLst>
          </p:nvPr>
        </p:nvSpPr>
        <p:spPr bwMode="auto">
          <a:xfrm>
            <a:off x="3338278" y="5760778"/>
            <a:ext cx="2290141"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2000" dirty="0">
                <a:latin typeface="Calibri" pitchFamily="34" charset="0"/>
              </a:rPr>
              <a:t>X: 51</a:t>
            </a:r>
            <a:endParaRPr lang="en-US" sz="2400" dirty="0">
              <a:latin typeface="Calibri" pitchFamily="34" charset="0"/>
            </a:endParaRPr>
          </a:p>
        </p:txBody>
      </p:sp>
      <p:sp>
        <p:nvSpPr>
          <p:cNvPr id="12" name="Line 10" descr=" 13">
            <a:extLst>
              <a:ext uri="{FF2B5EF4-FFF2-40B4-BE49-F238E27FC236}">
                <a16:creationId xmlns:a16="http://schemas.microsoft.com/office/drawing/2014/main" id="{2766B6C8-0F2B-4CBE-B18A-2AA179550756}"/>
              </a:ext>
            </a:extLst>
          </p:cNvPr>
          <p:cNvSpPr>
            <a:spLocks noChangeShapeType="1"/>
          </p:cNvSpPr>
          <p:nvPr>
            <p:custDataLst>
              <p:tags r:id="rId13"/>
            </p:custDataLst>
          </p:nvPr>
        </p:nvSpPr>
        <p:spPr bwMode="auto">
          <a:xfrm>
            <a:off x="6324600" y="4686040"/>
            <a:ext cx="0" cy="377825"/>
          </a:xfrm>
          <a:prstGeom prst="line">
            <a:avLst/>
          </a:prstGeom>
          <a:noFill/>
          <a:ln w="12700">
            <a:solidFill>
              <a:schemeClr val="tx1"/>
            </a:solidFill>
            <a:round/>
            <a:headEnd type="none" w="sm" len="sm"/>
            <a:tailEnd type="triangle" w="med" len="med"/>
          </a:ln>
        </p:spPr>
        <p:txBody>
          <a:bodyPr wrap="none" anchor="ctr"/>
          <a:lstStyle/>
          <a:p>
            <a:endParaRPr lang="en-US" dirty="0">
              <a:latin typeface="Calibri" pitchFamily="34" charset="0"/>
            </a:endParaRPr>
          </a:p>
        </p:txBody>
      </p:sp>
      <p:cxnSp>
        <p:nvCxnSpPr>
          <p:cNvPr id="13" name="Straight Arrow Connector 12" descr=" 14">
            <a:extLst>
              <a:ext uri="{FF2B5EF4-FFF2-40B4-BE49-F238E27FC236}">
                <a16:creationId xmlns:a16="http://schemas.microsoft.com/office/drawing/2014/main" id="{942E8D10-FE0C-444F-BA46-F64AB115E845}"/>
              </a:ext>
            </a:extLst>
          </p:cNvPr>
          <p:cNvCxnSpPr>
            <a:stCxn id="5" idx="2"/>
            <a:endCxn id="11" idx="0"/>
          </p:cNvCxnSpPr>
          <p:nvPr/>
        </p:nvCxnSpPr>
        <p:spPr bwMode="auto">
          <a:xfrm rot="16200000" flipH="1">
            <a:off x="4326979" y="5604408"/>
            <a:ext cx="312738" cy="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5" name="Rectangle 21" descr=" 16">
            <a:extLst>
              <a:ext uri="{FF2B5EF4-FFF2-40B4-BE49-F238E27FC236}">
                <a16:creationId xmlns:a16="http://schemas.microsoft.com/office/drawing/2014/main" id="{31A0AD37-7542-4F47-9814-213E540FEF69}"/>
              </a:ext>
            </a:extLst>
          </p:cNvPr>
          <p:cNvSpPr>
            <a:spLocks noChangeArrowheads="1"/>
          </p:cNvSpPr>
          <p:nvPr>
            <p:custDataLst>
              <p:tags r:id="rId14"/>
            </p:custDataLst>
          </p:nvPr>
        </p:nvSpPr>
        <p:spPr bwMode="auto">
          <a:xfrm>
            <a:off x="5715000" y="4076440"/>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2000" dirty="0">
                <a:latin typeface="Calibri" pitchFamily="34" charset="0"/>
              </a:rPr>
              <a:t>X: 51</a:t>
            </a:r>
            <a:endParaRPr lang="en-US" sz="2400" dirty="0">
              <a:latin typeface="Calibri" pitchFamily="34" charset="0"/>
            </a:endParaRPr>
          </a:p>
        </p:txBody>
      </p:sp>
      <p:sp>
        <p:nvSpPr>
          <p:cNvPr id="16" name="TextBox 15" descr=" 17">
            <a:extLst>
              <a:ext uri="{FF2B5EF4-FFF2-40B4-BE49-F238E27FC236}">
                <a16:creationId xmlns:a16="http://schemas.microsoft.com/office/drawing/2014/main" id="{EA522BB3-BBBD-4687-BCEB-E94B1A0F0D3E}"/>
              </a:ext>
            </a:extLst>
          </p:cNvPr>
          <p:cNvSpPr txBox="1"/>
          <p:nvPr>
            <p:custDataLst>
              <p:tags r:id="rId15"/>
            </p:custDataLst>
          </p:nvPr>
        </p:nvSpPr>
        <p:spPr>
          <a:xfrm>
            <a:off x="5638800" y="6057640"/>
            <a:ext cx="1373518" cy="338554"/>
          </a:xfrm>
          <a:prstGeom prst="rect">
            <a:avLst/>
          </a:prstGeom>
          <a:noFill/>
        </p:spPr>
        <p:txBody>
          <a:bodyPr wrap="none" rtlCol="0">
            <a:spAutoFit/>
          </a:bodyPr>
          <a:lstStyle/>
          <a:p>
            <a:r>
              <a:rPr lang="en-US" sz="1600" dirty="0">
                <a:latin typeface="+mn-lt"/>
              </a:rPr>
              <a:t>Main Memory</a:t>
            </a:r>
          </a:p>
        </p:txBody>
      </p:sp>
      <p:sp>
        <p:nvSpPr>
          <p:cNvPr id="17" name="Rectangle 22" descr=" 24">
            <a:extLst>
              <a:ext uri="{FF2B5EF4-FFF2-40B4-BE49-F238E27FC236}">
                <a16:creationId xmlns:a16="http://schemas.microsoft.com/office/drawing/2014/main" id="{A90CB2CB-1A09-4341-A1E3-CBF2F3A75203}"/>
              </a:ext>
            </a:extLst>
          </p:cNvPr>
          <p:cNvSpPr>
            <a:spLocks noChangeArrowheads="1"/>
          </p:cNvSpPr>
          <p:nvPr>
            <p:custDataLst>
              <p:tags r:id="rId16"/>
            </p:custDataLst>
          </p:nvPr>
        </p:nvSpPr>
        <p:spPr bwMode="auto">
          <a:xfrm>
            <a:off x="2133600" y="4381240"/>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18" name="Rectangle 22" descr=" 25">
            <a:extLst>
              <a:ext uri="{FF2B5EF4-FFF2-40B4-BE49-F238E27FC236}">
                <a16:creationId xmlns:a16="http://schemas.microsoft.com/office/drawing/2014/main" id="{DF4A33AA-A93B-40BE-AEC9-149E924A2C29}"/>
              </a:ext>
            </a:extLst>
          </p:cNvPr>
          <p:cNvSpPr>
            <a:spLocks noChangeArrowheads="1"/>
          </p:cNvSpPr>
          <p:nvPr>
            <p:custDataLst>
              <p:tags r:id="rId17"/>
            </p:custDataLst>
          </p:nvPr>
        </p:nvSpPr>
        <p:spPr bwMode="auto">
          <a:xfrm>
            <a:off x="5715000" y="4392352"/>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19" name="Rectangle 22" descr=" 26">
            <a:extLst>
              <a:ext uri="{FF2B5EF4-FFF2-40B4-BE49-F238E27FC236}">
                <a16:creationId xmlns:a16="http://schemas.microsoft.com/office/drawing/2014/main" id="{7925C335-3B0E-40B4-837E-DE3758F69EB2}"/>
              </a:ext>
            </a:extLst>
          </p:cNvPr>
          <p:cNvSpPr>
            <a:spLocks noChangeArrowheads="1"/>
          </p:cNvSpPr>
          <p:nvPr>
            <p:custDataLst>
              <p:tags r:id="rId18"/>
            </p:custDataLst>
          </p:nvPr>
        </p:nvSpPr>
        <p:spPr bwMode="auto">
          <a:xfrm>
            <a:off x="3338278" y="6076690"/>
            <a:ext cx="2290141"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20" name="Text Box 11" descr=" 9">
            <a:extLst>
              <a:ext uri="{FF2B5EF4-FFF2-40B4-BE49-F238E27FC236}">
                <a16:creationId xmlns:a16="http://schemas.microsoft.com/office/drawing/2014/main" id="{79F72ADC-1F7B-4F47-8FFC-1DA0B1E8AD0C}"/>
              </a:ext>
            </a:extLst>
          </p:cNvPr>
          <p:cNvSpPr txBox="1">
            <a:spLocks noChangeArrowheads="1"/>
          </p:cNvSpPr>
          <p:nvPr>
            <p:custDataLst>
              <p:tags r:id="rId19"/>
            </p:custDataLst>
          </p:nvPr>
        </p:nvSpPr>
        <p:spPr bwMode="auto">
          <a:xfrm>
            <a:off x="7086600" y="3986706"/>
            <a:ext cx="1606530" cy="400110"/>
          </a:xfrm>
          <a:prstGeom prst="rect">
            <a:avLst/>
          </a:prstGeom>
          <a:noFill/>
          <a:ln w="12700">
            <a:noFill/>
            <a:miter lim="800000"/>
            <a:headEnd type="none" w="sm" len="sm"/>
            <a:tailEnd type="none" w="sm" len="sm"/>
          </a:ln>
        </p:spPr>
        <p:txBody>
          <a:bodyPr wrap="none">
            <a:spAutoFit/>
          </a:bodyPr>
          <a:lstStyle/>
          <a:p>
            <a:r>
              <a:rPr lang="en-US" sz="2000" dirty="0">
                <a:solidFill>
                  <a:srgbClr val="CC0000"/>
                </a:solidFill>
                <a:latin typeface="Calibri" pitchFamily="34" charset="0"/>
              </a:rPr>
              <a:t>t1: </a:t>
            </a:r>
            <a:r>
              <a:rPr lang="en-US" sz="2000" dirty="0">
                <a:latin typeface="Calibri" pitchFamily="34" charset="0"/>
              </a:rPr>
              <a:t>Load X=51</a:t>
            </a:r>
          </a:p>
        </p:txBody>
      </p:sp>
      <p:sp>
        <p:nvSpPr>
          <p:cNvPr id="21" name="Text Box 11" descr=" 9">
            <a:extLst>
              <a:ext uri="{FF2B5EF4-FFF2-40B4-BE49-F238E27FC236}">
                <a16:creationId xmlns:a16="http://schemas.microsoft.com/office/drawing/2014/main" id="{79294125-0F02-4103-8308-22D5EA6B7D0B}"/>
              </a:ext>
            </a:extLst>
          </p:cNvPr>
          <p:cNvSpPr txBox="1">
            <a:spLocks noChangeArrowheads="1"/>
          </p:cNvSpPr>
          <p:nvPr>
            <p:custDataLst>
              <p:tags r:id="rId20"/>
            </p:custDataLst>
          </p:nvPr>
        </p:nvSpPr>
        <p:spPr bwMode="auto">
          <a:xfrm>
            <a:off x="457200" y="3398808"/>
            <a:ext cx="1658339" cy="400110"/>
          </a:xfrm>
          <a:prstGeom prst="rect">
            <a:avLst/>
          </a:prstGeom>
          <a:noFill/>
          <a:ln w="12700">
            <a:noFill/>
            <a:miter lim="800000"/>
            <a:headEnd type="none" w="sm" len="sm"/>
            <a:tailEnd type="none" w="sm" len="sm"/>
          </a:ln>
        </p:spPr>
        <p:txBody>
          <a:bodyPr wrap="none">
            <a:spAutoFit/>
          </a:bodyPr>
          <a:lstStyle/>
          <a:p>
            <a:r>
              <a:rPr lang="en-US" sz="2000" dirty="0">
                <a:solidFill>
                  <a:srgbClr val="CC0000"/>
                </a:solidFill>
                <a:latin typeface="Calibri" pitchFamily="34" charset="0"/>
              </a:rPr>
              <a:t>t2: </a:t>
            </a:r>
            <a:r>
              <a:rPr lang="en-US" sz="2000" dirty="0">
                <a:latin typeface="Calibri" pitchFamily="34" charset="0"/>
              </a:rPr>
              <a:t>Store X=37</a:t>
            </a:r>
          </a:p>
        </p:txBody>
      </p:sp>
      <p:sp>
        <p:nvSpPr>
          <p:cNvPr id="22" name="TextBox 21">
            <a:extLst>
              <a:ext uri="{FF2B5EF4-FFF2-40B4-BE49-F238E27FC236}">
                <a16:creationId xmlns:a16="http://schemas.microsoft.com/office/drawing/2014/main" id="{8B5B228C-9941-4C73-BF63-2470C1F9A157}"/>
              </a:ext>
            </a:extLst>
          </p:cNvPr>
          <p:cNvSpPr txBox="1"/>
          <p:nvPr>
            <p:custDataLst>
              <p:tags r:id="rId21"/>
            </p:custDataLst>
          </p:nvPr>
        </p:nvSpPr>
        <p:spPr>
          <a:xfrm>
            <a:off x="-151082" y="4648200"/>
            <a:ext cx="2437082" cy="560717"/>
          </a:xfrm>
          <a:prstGeom prst="rect">
            <a:avLst/>
          </a:prstGeom>
          <a:noFill/>
        </p:spPr>
        <p:txBody>
          <a:bodyPr wrap="square" rtlCol="0" anchor="ctr">
            <a:noAutofit/>
          </a:bodyPr>
          <a:lstStyle/>
          <a:p>
            <a:pPr algn="ctr"/>
            <a:r>
              <a:rPr lang="en-US" sz="1600" dirty="0">
                <a:latin typeface="+mn-lt"/>
              </a:rPr>
              <a:t>assume write-back,</a:t>
            </a:r>
          </a:p>
          <a:p>
            <a:pPr algn="ctr"/>
            <a:r>
              <a:rPr lang="en-US" sz="1600" dirty="0">
                <a:latin typeface="+mn-lt"/>
              </a:rPr>
              <a:t>write-allocate cache</a:t>
            </a:r>
          </a:p>
        </p:txBody>
      </p:sp>
      <p:cxnSp>
        <p:nvCxnSpPr>
          <p:cNvPr id="23" name="Straight Connector 22">
            <a:extLst>
              <a:ext uri="{FF2B5EF4-FFF2-40B4-BE49-F238E27FC236}">
                <a16:creationId xmlns:a16="http://schemas.microsoft.com/office/drawing/2014/main" id="{7E1D3498-359D-42B5-B693-E6409DB6E023}"/>
              </a:ext>
            </a:extLst>
          </p:cNvPr>
          <p:cNvCxnSpPr>
            <a:cxnSpLocks/>
          </p:cNvCxnSpPr>
          <p:nvPr/>
        </p:nvCxnSpPr>
        <p:spPr>
          <a:xfrm flipV="1">
            <a:off x="1905000" y="4534586"/>
            <a:ext cx="398493" cy="2884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1C80FA51-E971-43AA-823E-6F8D03B08493}"/>
              </a:ext>
            </a:extLst>
          </p:cNvPr>
          <p:cNvSpPr txBox="1"/>
          <p:nvPr>
            <p:custDataLst>
              <p:tags r:id="rId22"/>
            </p:custDataLst>
          </p:nvPr>
        </p:nvSpPr>
        <p:spPr>
          <a:xfrm>
            <a:off x="6503890" y="5011837"/>
            <a:ext cx="2437082" cy="560717"/>
          </a:xfrm>
          <a:prstGeom prst="rect">
            <a:avLst/>
          </a:prstGeom>
          <a:noFill/>
        </p:spPr>
        <p:txBody>
          <a:bodyPr wrap="square" rtlCol="0" anchor="ctr">
            <a:noAutofit/>
          </a:bodyPr>
          <a:lstStyle/>
          <a:p>
            <a:pPr algn="ctr"/>
            <a:r>
              <a:rPr lang="en-US" sz="1600" b="1" dirty="0">
                <a:solidFill>
                  <a:schemeClr val="accent6">
                    <a:lumMod val="75000"/>
                  </a:schemeClr>
                </a:solidFill>
                <a:latin typeface="+mn-lt"/>
              </a:rPr>
              <a:t>wrong value!</a:t>
            </a:r>
          </a:p>
        </p:txBody>
      </p:sp>
      <p:cxnSp>
        <p:nvCxnSpPr>
          <p:cNvPr id="25" name="Straight Connector 24">
            <a:extLst>
              <a:ext uri="{FF2B5EF4-FFF2-40B4-BE49-F238E27FC236}">
                <a16:creationId xmlns:a16="http://schemas.microsoft.com/office/drawing/2014/main" id="{398F03FC-566C-4ECA-857A-7213A290A3F1}"/>
              </a:ext>
            </a:extLst>
          </p:cNvPr>
          <p:cNvCxnSpPr>
            <a:cxnSpLocks/>
          </p:cNvCxnSpPr>
          <p:nvPr/>
        </p:nvCxnSpPr>
        <p:spPr>
          <a:xfrm flipV="1">
            <a:off x="7924800" y="4705091"/>
            <a:ext cx="164310" cy="471196"/>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 Box 11" descr=" 9">
            <a:extLst>
              <a:ext uri="{FF2B5EF4-FFF2-40B4-BE49-F238E27FC236}">
                <a16:creationId xmlns:a16="http://schemas.microsoft.com/office/drawing/2014/main" id="{1815B68E-21A2-4B6C-8348-3EC31B268C3E}"/>
              </a:ext>
            </a:extLst>
          </p:cNvPr>
          <p:cNvSpPr txBox="1">
            <a:spLocks noChangeArrowheads="1"/>
          </p:cNvSpPr>
          <p:nvPr>
            <p:custDataLst>
              <p:tags r:id="rId23"/>
            </p:custDataLst>
          </p:nvPr>
        </p:nvSpPr>
        <p:spPr bwMode="auto">
          <a:xfrm>
            <a:off x="7086599" y="4325815"/>
            <a:ext cx="1606530" cy="400110"/>
          </a:xfrm>
          <a:prstGeom prst="rect">
            <a:avLst/>
          </a:prstGeom>
          <a:noFill/>
          <a:ln w="12700">
            <a:noFill/>
            <a:miter lim="800000"/>
            <a:headEnd type="none" w="sm" len="sm"/>
            <a:tailEnd type="none" w="sm" len="sm"/>
          </a:ln>
        </p:spPr>
        <p:txBody>
          <a:bodyPr wrap="none">
            <a:spAutoFit/>
          </a:bodyPr>
          <a:lstStyle/>
          <a:p>
            <a:r>
              <a:rPr lang="en-US" sz="2000" dirty="0">
                <a:solidFill>
                  <a:srgbClr val="CC0000"/>
                </a:solidFill>
                <a:latin typeface="Calibri" pitchFamily="34" charset="0"/>
              </a:rPr>
              <a:t>t3: </a:t>
            </a:r>
            <a:r>
              <a:rPr lang="en-US" sz="2000" dirty="0">
                <a:latin typeface="Calibri" pitchFamily="34" charset="0"/>
              </a:rPr>
              <a:t>Load X=51</a:t>
            </a:r>
          </a:p>
        </p:txBody>
      </p:sp>
    </p:spTree>
    <p:custDataLst>
      <p:tags r:id="rId1"/>
    </p:custDataLst>
    <p:extLst>
      <p:ext uri="{BB962C8B-B14F-4D97-AF65-F5344CB8AC3E}">
        <p14:creationId xmlns:p14="http://schemas.microsoft.com/office/powerpoint/2010/main" val="233619682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1" descr=" 15">
            <a:extLst>
              <a:ext uri="{FF2B5EF4-FFF2-40B4-BE49-F238E27FC236}">
                <a16:creationId xmlns:a16="http://schemas.microsoft.com/office/drawing/2014/main" id="{CE3BB417-CEC1-4317-A0F5-A75A0B0D8AC7}"/>
              </a:ext>
            </a:extLst>
          </p:cNvPr>
          <p:cNvSpPr>
            <a:spLocks noChangeArrowheads="1"/>
          </p:cNvSpPr>
          <p:nvPr>
            <p:custDataLst>
              <p:tags r:id="rId2"/>
            </p:custDataLst>
          </p:nvPr>
        </p:nvSpPr>
        <p:spPr bwMode="auto">
          <a:xfrm>
            <a:off x="2133600" y="4081947"/>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2055" name="Rectangle 2"/>
          <p:cNvSpPr>
            <a:spLocks noGrp="1" noChangeArrowheads="1"/>
          </p:cNvSpPr>
          <p:nvPr>
            <p:ph type="title"/>
            <p:custDataLst>
              <p:tags r:id="rId3"/>
            </p:custDataLst>
          </p:nvPr>
        </p:nvSpPr>
        <p:spPr>
          <a:xfrm>
            <a:off x="457200" y="274638"/>
            <a:ext cx="7467600" cy="1143000"/>
          </a:xfrm>
        </p:spPr>
        <p:txBody>
          <a:bodyPr/>
          <a:lstStyle/>
          <a:p>
            <a:r>
              <a:rPr lang="en-US" altLang="en-US" dirty="0"/>
              <a:t>Cache Coherence Problem</a:t>
            </a:r>
          </a:p>
        </p:txBody>
      </p:sp>
      <p:sp>
        <p:nvSpPr>
          <p:cNvPr id="2056" name="Rectangle 3"/>
          <p:cNvSpPr>
            <a:spLocks noGrp="1" noChangeArrowheads="1"/>
          </p:cNvSpPr>
          <p:nvPr>
            <p:ph idx="1"/>
            <p:custDataLst>
              <p:tags r:id="rId4"/>
            </p:custDataLst>
          </p:nvPr>
        </p:nvSpPr>
        <p:spPr>
          <a:xfrm>
            <a:off x="682625" y="1600200"/>
            <a:ext cx="8308975" cy="1295400"/>
          </a:xfrm>
        </p:spPr>
        <p:txBody>
          <a:bodyPr/>
          <a:lstStyle/>
          <a:p>
            <a:pPr marL="0" indent="0">
              <a:lnSpc>
                <a:spcPct val="80000"/>
              </a:lnSpc>
              <a:buNone/>
            </a:pPr>
            <a:r>
              <a:rPr lang="en-US" altLang="en-US" sz="2800" dirty="0"/>
              <a:t>A block X can exist in multiple </a:t>
            </a:r>
            <a:r>
              <a:rPr lang="en-US" altLang="en-US" sz="2800" b="1" dirty="0"/>
              <a:t>private</a:t>
            </a:r>
            <a:r>
              <a:rPr lang="en-US" altLang="en-US" sz="2800" dirty="0"/>
              <a:t> caches at any given moment. If one core modifies X, unless other cores are immediately made aware of this change, the other cores may read the </a:t>
            </a:r>
            <a:r>
              <a:rPr lang="en-US" altLang="en-US" sz="2800" b="1" dirty="0"/>
              <a:t>stale (wrong) </a:t>
            </a:r>
            <a:r>
              <a:rPr lang="en-US" altLang="en-US" sz="2800" dirty="0"/>
              <a:t>contents of X.</a:t>
            </a:r>
          </a:p>
        </p:txBody>
      </p:sp>
      <p:sp>
        <p:nvSpPr>
          <p:cNvPr id="2054" name="Slide Number Placeholder 5"/>
          <p:cNvSpPr>
            <a:spLocks noGrp="1"/>
          </p:cNvSpPr>
          <p:nvPr>
            <p:ph type="sldNum" sz="quarter" idx="12"/>
            <p:custDataLst>
              <p:tags r:id="rId5"/>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8</a:t>
            </a:fld>
            <a:endParaRPr lang="en-US" altLang="en-US"/>
          </a:p>
        </p:txBody>
      </p:sp>
      <p:sp>
        <p:nvSpPr>
          <p:cNvPr id="5" name="Rectangle 4" descr=" 5">
            <a:extLst>
              <a:ext uri="{FF2B5EF4-FFF2-40B4-BE49-F238E27FC236}">
                <a16:creationId xmlns:a16="http://schemas.microsoft.com/office/drawing/2014/main" id="{EDE355B8-E286-4696-8B42-B19B51166A6E}"/>
              </a:ext>
            </a:extLst>
          </p:cNvPr>
          <p:cNvSpPr>
            <a:spLocks noChangeArrowheads="1"/>
          </p:cNvSpPr>
          <p:nvPr>
            <p:custDataLst>
              <p:tags r:id="rId6"/>
            </p:custDataLst>
          </p:nvPr>
        </p:nvSpPr>
        <p:spPr bwMode="auto">
          <a:xfrm>
            <a:off x="2462806" y="5071802"/>
            <a:ext cx="4041084" cy="376238"/>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2400" dirty="0">
                <a:latin typeface="Calibri" pitchFamily="34" charset="0"/>
              </a:rPr>
              <a:t>Bus</a:t>
            </a:r>
          </a:p>
        </p:txBody>
      </p:sp>
      <p:sp>
        <p:nvSpPr>
          <p:cNvPr id="6" name="Rectangle 6" descr=" 6">
            <a:extLst>
              <a:ext uri="{FF2B5EF4-FFF2-40B4-BE49-F238E27FC236}">
                <a16:creationId xmlns:a16="http://schemas.microsoft.com/office/drawing/2014/main" id="{D69625F6-D9BC-4773-B8F3-4888CE62BED5}"/>
              </a:ext>
            </a:extLst>
          </p:cNvPr>
          <p:cNvSpPr>
            <a:spLocks noChangeArrowheads="1"/>
          </p:cNvSpPr>
          <p:nvPr>
            <p:custDataLst>
              <p:tags r:id="rId7"/>
            </p:custDataLst>
          </p:nvPr>
        </p:nvSpPr>
        <p:spPr bwMode="auto">
          <a:xfrm>
            <a:off x="2326341" y="3273165"/>
            <a:ext cx="833719" cy="574675"/>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2400" dirty="0">
                <a:latin typeface="Calibri" pitchFamily="34" charset="0"/>
              </a:rPr>
              <a:t>P1</a:t>
            </a:r>
          </a:p>
        </p:txBody>
      </p:sp>
      <p:cxnSp>
        <p:nvCxnSpPr>
          <p:cNvPr id="7" name="AutoShape 9" descr=" 7">
            <a:extLst>
              <a:ext uri="{FF2B5EF4-FFF2-40B4-BE49-F238E27FC236}">
                <a16:creationId xmlns:a16="http://schemas.microsoft.com/office/drawing/2014/main" id="{FB829A3E-4309-4B4E-91AE-79E4B807B46F}"/>
              </a:ext>
            </a:extLst>
          </p:cNvPr>
          <p:cNvCxnSpPr>
            <a:cxnSpLocks noChangeShapeType="1"/>
          </p:cNvCxnSpPr>
          <p:nvPr>
            <p:custDataLst>
              <p:tags r:id="rId8"/>
            </p:custDataLst>
          </p:nvPr>
        </p:nvCxnSpPr>
        <p:spPr bwMode="auto">
          <a:xfrm rot="5400000">
            <a:off x="2634457" y="3973203"/>
            <a:ext cx="217488" cy="1"/>
          </a:xfrm>
          <a:prstGeom prst="bentConnector3">
            <a:avLst>
              <a:gd name="adj1" fmla="val 50000"/>
            </a:avLst>
          </a:prstGeom>
          <a:noFill/>
          <a:ln w="12700">
            <a:solidFill>
              <a:schemeClr val="tx1"/>
            </a:solidFill>
            <a:miter lim="800000"/>
            <a:headEnd type="none" w="sm" len="sm"/>
            <a:tailEnd type="triangle" w="med" len="med"/>
          </a:ln>
        </p:spPr>
      </p:cxnSp>
      <p:sp>
        <p:nvSpPr>
          <p:cNvPr id="8" name="Line 10" descr=" 8">
            <a:extLst>
              <a:ext uri="{FF2B5EF4-FFF2-40B4-BE49-F238E27FC236}">
                <a16:creationId xmlns:a16="http://schemas.microsoft.com/office/drawing/2014/main" id="{3AE748C1-0FFF-4A5E-AD2C-71E099112ABD}"/>
              </a:ext>
            </a:extLst>
          </p:cNvPr>
          <p:cNvSpPr>
            <a:spLocks noChangeShapeType="1"/>
          </p:cNvSpPr>
          <p:nvPr>
            <p:custDataLst>
              <p:tags r:id="rId9"/>
            </p:custDataLst>
          </p:nvPr>
        </p:nvSpPr>
        <p:spPr bwMode="auto">
          <a:xfrm>
            <a:off x="2752165" y="4695005"/>
            <a:ext cx="0" cy="377825"/>
          </a:xfrm>
          <a:prstGeom prst="line">
            <a:avLst/>
          </a:prstGeom>
          <a:noFill/>
          <a:ln w="12700">
            <a:solidFill>
              <a:schemeClr val="tx1"/>
            </a:solidFill>
            <a:round/>
            <a:headEnd type="none" w="sm" len="sm"/>
            <a:tailEnd type="triangle" w="med" len="med"/>
          </a:ln>
        </p:spPr>
        <p:txBody>
          <a:bodyPr wrap="none" anchor="ctr"/>
          <a:lstStyle/>
          <a:p>
            <a:endParaRPr lang="en-US" dirty="0">
              <a:latin typeface="Calibri" pitchFamily="34" charset="0"/>
            </a:endParaRPr>
          </a:p>
        </p:txBody>
      </p:sp>
      <p:sp>
        <p:nvSpPr>
          <p:cNvPr id="9" name="Rectangle 14" descr=" 10">
            <a:extLst>
              <a:ext uri="{FF2B5EF4-FFF2-40B4-BE49-F238E27FC236}">
                <a16:creationId xmlns:a16="http://schemas.microsoft.com/office/drawing/2014/main" id="{19C9A5C2-82A6-4618-AEF4-D796B42B9D28}"/>
              </a:ext>
            </a:extLst>
          </p:cNvPr>
          <p:cNvSpPr>
            <a:spLocks noChangeArrowheads="1"/>
          </p:cNvSpPr>
          <p:nvPr>
            <p:custDataLst>
              <p:tags r:id="rId10"/>
            </p:custDataLst>
          </p:nvPr>
        </p:nvSpPr>
        <p:spPr bwMode="auto">
          <a:xfrm>
            <a:off x="5907741" y="3273165"/>
            <a:ext cx="833719" cy="574675"/>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2400" dirty="0">
                <a:latin typeface="Calibri" pitchFamily="34" charset="0"/>
              </a:rPr>
              <a:t>P2</a:t>
            </a:r>
          </a:p>
        </p:txBody>
      </p:sp>
      <p:cxnSp>
        <p:nvCxnSpPr>
          <p:cNvPr id="10" name="AutoShape 17" descr=" 11">
            <a:extLst>
              <a:ext uri="{FF2B5EF4-FFF2-40B4-BE49-F238E27FC236}">
                <a16:creationId xmlns:a16="http://schemas.microsoft.com/office/drawing/2014/main" id="{E0521808-8B71-4CD4-9BE9-B6CFFD252860}"/>
              </a:ext>
            </a:extLst>
          </p:cNvPr>
          <p:cNvCxnSpPr>
            <a:cxnSpLocks noChangeShapeType="1"/>
            <a:stCxn id="9" idx="2"/>
            <a:endCxn id="15" idx="0"/>
          </p:cNvCxnSpPr>
          <p:nvPr>
            <p:custDataLst>
              <p:tags r:id="rId11"/>
            </p:custDataLst>
          </p:nvPr>
        </p:nvCxnSpPr>
        <p:spPr bwMode="auto">
          <a:xfrm rot="5400000">
            <a:off x="6210301" y="3962140"/>
            <a:ext cx="228600" cy="1"/>
          </a:xfrm>
          <a:prstGeom prst="bentConnector3">
            <a:avLst>
              <a:gd name="adj1" fmla="val 50000"/>
            </a:avLst>
          </a:prstGeom>
          <a:noFill/>
          <a:ln w="12700">
            <a:solidFill>
              <a:schemeClr val="tx1"/>
            </a:solidFill>
            <a:miter lim="800000"/>
            <a:headEnd type="none" w="sm" len="sm"/>
            <a:tailEnd type="triangle" w="med" len="med"/>
          </a:ln>
        </p:spPr>
      </p:cxnSp>
      <p:sp>
        <p:nvSpPr>
          <p:cNvPr id="11" name="Rectangle 21" descr=" 12">
            <a:extLst>
              <a:ext uri="{FF2B5EF4-FFF2-40B4-BE49-F238E27FC236}">
                <a16:creationId xmlns:a16="http://schemas.microsoft.com/office/drawing/2014/main" id="{33B0E5F3-06D7-4950-A1EE-7474D266FA9B}"/>
              </a:ext>
            </a:extLst>
          </p:cNvPr>
          <p:cNvSpPr>
            <a:spLocks noChangeArrowheads="1"/>
          </p:cNvSpPr>
          <p:nvPr>
            <p:custDataLst>
              <p:tags r:id="rId12"/>
            </p:custDataLst>
          </p:nvPr>
        </p:nvSpPr>
        <p:spPr bwMode="auto">
          <a:xfrm>
            <a:off x="3338278" y="5760778"/>
            <a:ext cx="2290141"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2000" dirty="0">
                <a:latin typeface="Calibri" pitchFamily="34" charset="0"/>
              </a:rPr>
              <a:t>X: </a:t>
            </a:r>
            <a:r>
              <a:rPr lang="en-US" sz="2000" strike="sngStrike" dirty="0">
                <a:latin typeface="Calibri" pitchFamily="34" charset="0"/>
              </a:rPr>
              <a:t>51</a:t>
            </a:r>
            <a:r>
              <a:rPr lang="en-US" sz="2000" dirty="0">
                <a:latin typeface="Calibri" pitchFamily="34" charset="0"/>
              </a:rPr>
              <a:t> 37</a:t>
            </a:r>
            <a:endParaRPr lang="en-US" sz="2400" dirty="0">
              <a:latin typeface="Calibri" pitchFamily="34" charset="0"/>
            </a:endParaRPr>
          </a:p>
        </p:txBody>
      </p:sp>
      <p:sp>
        <p:nvSpPr>
          <p:cNvPr id="12" name="Line 10" descr=" 13">
            <a:extLst>
              <a:ext uri="{FF2B5EF4-FFF2-40B4-BE49-F238E27FC236}">
                <a16:creationId xmlns:a16="http://schemas.microsoft.com/office/drawing/2014/main" id="{2766B6C8-0F2B-4CBE-B18A-2AA179550756}"/>
              </a:ext>
            </a:extLst>
          </p:cNvPr>
          <p:cNvSpPr>
            <a:spLocks noChangeShapeType="1"/>
          </p:cNvSpPr>
          <p:nvPr>
            <p:custDataLst>
              <p:tags r:id="rId13"/>
            </p:custDataLst>
          </p:nvPr>
        </p:nvSpPr>
        <p:spPr bwMode="auto">
          <a:xfrm>
            <a:off x="6324600" y="4686040"/>
            <a:ext cx="0" cy="377825"/>
          </a:xfrm>
          <a:prstGeom prst="line">
            <a:avLst/>
          </a:prstGeom>
          <a:noFill/>
          <a:ln w="12700">
            <a:solidFill>
              <a:schemeClr val="tx1"/>
            </a:solidFill>
            <a:round/>
            <a:headEnd type="none" w="sm" len="sm"/>
            <a:tailEnd type="triangle" w="med" len="med"/>
          </a:ln>
        </p:spPr>
        <p:txBody>
          <a:bodyPr wrap="none" anchor="ctr"/>
          <a:lstStyle/>
          <a:p>
            <a:endParaRPr lang="en-US" dirty="0">
              <a:latin typeface="Calibri" pitchFamily="34" charset="0"/>
            </a:endParaRPr>
          </a:p>
        </p:txBody>
      </p:sp>
      <p:cxnSp>
        <p:nvCxnSpPr>
          <p:cNvPr id="13" name="Straight Arrow Connector 12" descr=" 14">
            <a:extLst>
              <a:ext uri="{FF2B5EF4-FFF2-40B4-BE49-F238E27FC236}">
                <a16:creationId xmlns:a16="http://schemas.microsoft.com/office/drawing/2014/main" id="{942E8D10-FE0C-444F-BA46-F64AB115E845}"/>
              </a:ext>
            </a:extLst>
          </p:cNvPr>
          <p:cNvCxnSpPr>
            <a:stCxn id="5" idx="2"/>
            <a:endCxn id="11" idx="0"/>
          </p:cNvCxnSpPr>
          <p:nvPr/>
        </p:nvCxnSpPr>
        <p:spPr bwMode="auto">
          <a:xfrm rot="16200000" flipH="1">
            <a:off x="4326979" y="5604408"/>
            <a:ext cx="312738" cy="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5" name="Rectangle 21" descr=" 16">
            <a:extLst>
              <a:ext uri="{FF2B5EF4-FFF2-40B4-BE49-F238E27FC236}">
                <a16:creationId xmlns:a16="http://schemas.microsoft.com/office/drawing/2014/main" id="{31A0AD37-7542-4F47-9814-213E540FEF69}"/>
              </a:ext>
            </a:extLst>
          </p:cNvPr>
          <p:cNvSpPr>
            <a:spLocks noChangeArrowheads="1"/>
          </p:cNvSpPr>
          <p:nvPr>
            <p:custDataLst>
              <p:tags r:id="rId14"/>
            </p:custDataLst>
          </p:nvPr>
        </p:nvSpPr>
        <p:spPr bwMode="auto">
          <a:xfrm>
            <a:off x="5715000" y="4076440"/>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2000" dirty="0">
                <a:latin typeface="Calibri" pitchFamily="34" charset="0"/>
              </a:rPr>
              <a:t>X: 51</a:t>
            </a:r>
            <a:endParaRPr lang="en-US" sz="2400" dirty="0">
              <a:latin typeface="Calibri" pitchFamily="34" charset="0"/>
            </a:endParaRPr>
          </a:p>
        </p:txBody>
      </p:sp>
      <p:sp>
        <p:nvSpPr>
          <p:cNvPr id="16" name="TextBox 15" descr=" 17">
            <a:extLst>
              <a:ext uri="{FF2B5EF4-FFF2-40B4-BE49-F238E27FC236}">
                <a16:creationId xmlns:a16="http://schemas.microsoft.com/office/drawing/2014/main" id="{EA522BB3-BBBD-4687-BCEB-E94B1A0F0D3E}"/>
              </a:ext>
            </a:extLst>
          </p:cNvPr>
          <p:cNvSpPr txBox="1"/>
          <p:nvPr>
            <p:custDataLst>
              <p:tags r:id="rId15"/>
            </p:custDataLst>
          </p:nvPr>
        </p:nvSpPr>
        <p:spPr>
          <a:xfrm>
            <a:off x="5638800" y="6057640"/>
            <a:ext cx="1373518" cy="338554"/>
          </a:xfrm>
          <a:prstGeom prst="rect">
            <a:avLst/>
          </a:prstGeom>
          <a:noFill/>
        </p:spPr>
        <p:txBody>
          <a:bodyPr wrap="none" rtlCol="0">
            <a:spAutoFit/>
          </a:bodyPr>
          <a:lstStyle/>
          <a:p>
            <a:r>
              <a:rPr lang="en-US" sz="1600" dirty="0">
                <a:latin typeface="+mn-lt"/>
              </a:rPr>
              <a:t>Main Memory</a:t>
            </a:r>
          </a:p>
        </p:txBody>
      </p:sp>
      <p:sp>
        <p:nvSpPr>
          <p:cNvPr id="17" name="Rectangle 22" descr=" 24">
            <a:extLst>
              <a:ext uri="{FF2B5EF4-FFF2-40B4-BE49-F238E27FC236}">
                <a16:creationId xmlns:a16="http://schemas.microsoft.com/office/drawing/2014/main" id="{A90CB2CB-1A09-4341-A1E3-CBF2F3A75203}"/>
              </a:ext>
            </a:extLst>
          </p:cNvPr>
          <p:cNvSpPr>
            <a:spLocks noChangeArrowheads="1"/>
          </p:cNvSpPr>
          <p:nvPr>
            <p:custDataLst>
              <p:tags r:id="rId16"/>
            </p:custDataLst>
          </p:nvPr>
        </p:nvSpPr>
        <p:spPr bwMode="auto">
          <a:xfrm>
            <a:off x="2133600" y="4381240"/>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18" name="Rectangle 22" descr=" 25">
            <a:extLst>
              <a:ext uri="{FF2B5EF4-FFF2-40B4-BE49-F238E27FC236}">
                <a16:creationId xmlns:a16="http://schemas.microsoft.com/office/drawing/2014/main" id="{DF4A33AA-A93B-40BE-AEC9-149E924A2C29}"/>
              </a:ext>
            </a:extLst>
          </p:cNvPr>
          <p:cNvSpPr>
            <a:spLocks noChangeArrowheads="1"/>
          </p:cNvSpPr>
          <p:nvPr>
            <p:custDataLst>
              <p:tags r:id="rId17"/>
            </p:custDataLst>
          </p:nvPr>
        </p:nvSpPr>
        <p:spPr bwMode="auto">
          <a:xfrm>
            <a:off x="5715000" y="4392352"/>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19" name="Rectangle 22" descr=" 26">
            <a:extLst>
              <a:ext uri="{FF2B5EF4-FFF2-40B4-BE49-F238E27FC236}">
                <a16:creationId xmlns:a16="http://schemas.microsoft.com/office/drawing/2014/main" id="{7925C335-3B0E-40B4-837E-DE3758F69EB2}"/>
              </a:ext>
            </a:extLst>
          </p:cNvPr>
          <p:cNvSpPr>
            <a:spLocks noChangeArrowheads="1"/>
          </p:cNvSpPr>
          <p:nvPr>
            <p:custDataLst>
              <p:tags r:id="rId18"/>
            </p:custDataLst>
          </p:nvPr>
        </p:nvSpPr>
        <p:spPr bwMode="auto">
          <a:xfrm>
            <a:off x="3338278" y="6076690"/>
            <a:ext cx="2290141"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20" name="Text Box 11" descr=" 9">
            <a:extLst>
              <a:ext uri="{FF2B5EF4-FFF2-40B4-BE49-F238E27FC236}">
                <a16:creationId xmlns:a16="http://schemas.microsoft.com/office/drawing/2014/main" id="{79F72ADC-1F7B-4F47-8FFC-1DA0B1E8AD0C}"/>
              </a:ext>
            </a:extLst>
          </p:cNvPr>
          <p:cNvSpPr txBox="1">
            <a:spLocks noChangeArrowheads="1"/>
          </p:cNvSpPr>
          <p:nvPr>
            <p:custDataLst>
              <p:tags r:id="rId19"/>
            </p:custDataLst>
          </p:nvPr>
        </p:nvSpPr>
        <p:spPr bwMode="auto">
          <a:xfrm>
            <a:off x="7086600" y="3986706"/>
            <a:ext cx="1606530" cy="400110"/>
          </a:xfrm>
          <a:prstGeom prst="rect">
            <a:avLst/>
          </a:prstGeom>
          <a:noFill/>
          <a:ln w="12700">
            <a:noFill/>
            <a:miter lim="800000"/>
            <a:headEnd type="none" w="sm" len="sm"/>
            <a:tailEnd type="none" w="sm" len="sm"/>
          </a:ln>
        </p:spPr>
        <p:txBody>
          <a:bodyPr wrap="none">
            <a:spAutoFit/>
          </a:bodyPr>
          <a:lstStyle/>
          <a:p>
            <a:r>
              <a:rPr lang="en-US" sz="2000" dirty="0">
                <a:solidFill>
                  <a:srgbClr val="CC0000"/>
                </a:solidFill>
                <a:latin typeface="Calibri" pitchFamily="34" charset="0"/>
              </a:rPr>
              <a:t>t1: </a:t>
            </a:r>
            <a:r>
              <a:rPr lang="en-US" sz="2000" dirty="0">
                <a:latin typeface="Calibri" pitchFamily="34" charset="0"/>
              </a:rPr>
              <a:t>Load X=51</a:t>
            </a:r>
          </a:p>
        </p:txBody>
      </p:sp>
      <p:sp>
        <p:nvSpPr>
          <p:cNvPr id="21" name="Text Box 11" descr=" 9">
            <a:extLst>
              <a:ext uri="{FF2B5EF4-FFF2-40B4-BE49-F238E27FC236}">
                <a16:creationId xmlns:a16="http://schemas.microsoft.com/office/drawing/2014/main" id="{79294125-0F02-4103-8308-22D5EA6B7D0B}"/>
              </a:ext>
            </a:extLst>
          </p:cNvPr>
          <p:cNvSpPr txBox="1">
            <a:spLocks noChangeArrowheads="1"/>
          </p:cNvSpPr>
          <p:nvPr>
            <p:custDataLst>
              <p:tags r:id="rId20"/>
            </p:custDataLst>
          </p:nvPr>
        </p:nvSpPr>
        <p:spPr bwMode="auto">
          <a:xfrm>
            <a:off x="457200" y="3398808"/>
            <a:ext cx="1658339" cy="400110"/>
          </a:xfrm>
          <a:prstGeom prst="rect">
            <a:avLst/>
          </a:prstGeom>
          <a:noFill/>
          <a:ln w="12700">
            <a:noFill/>
            <a:miter lim="800000"/>
            <a:headEnd type="none" w="sm" len="sm"/>
            <a:tailEnd type="none" w="sm" len="sm"/>
          </a:ln>
        </p:spPr>
        <p:txBody>
          <a:bodyPr wrap="none">
            <a:spAutoFit/>
          </a:bodyPr>
          <a:lstStyle/>
          <a:p>
            <a:r>
              <a:rPr lang="en-US" sz="2000" dirty="0">
                <a:solidFill>
                  <a:srgbClr val="CC0000"/>
                </a:solidFill>
                <a:latin typeface="Calibri" pitchFamily="34" charset="0"/>
              </a:rPr>
              <a:t>t2: </a:t>
            </a:r>
            <a:r>
              <a:rPr lang="en-US" sz="2000" dirty="0">
                <a:latin typeface="Calibri" pitchFamily="34" charset="0"/>
              </a:rPr>
              <a:t>Store X=37</a:t>
            </a:r>
          </a:p>
        </p:txBody>
      </p:sp>
      <p:sp>
        <p:nvSpPr>
          <p:cNvPr id="24" name="TextBox 23">
            <a:extLst>
              <a:ext uri="{FF2B5EF4-FFF2-40B4-BE49-F238E27FC236}">
                <a16:creationId xmlns:a16="http://schemas.microsoft.com/office/drawing/2014/main" id="{1C80FA51-E971-43AA-823E-6F8D03B08493}"/>
              </a:ext>
            </a:extLst>
          </p:cNvPr>
          <p:cNvSpPr txBox="1"/>
          <p:nvPr>
            <p:custDataLst>
              <p:tags r:id="rId21"/>
            </p:custDataLst>
          </p:nvPr>
        </p:nvSpPr>
        <p:spPr>
          <a:xfrm>
            <a:off x="6503890" y="5306683"/>
            <a:ext cx="2437082" cy="560717"/>
          </a:xfrm>
          <a:prstGeom prst="rect">
            <a:avLst/>
          </a:prstGeom>
          <a:noFill/>
        </p:spPr>
        <p:txBody>
          <a:bodyPr wrap="square" rtlCol="0" anchor="ctr">
            <a:noAutofit/>
          </a:bodyPr>
          <a:lstStyle/>
          <a:p>
            <a:pPr algn="ctr"/>
            <a:r>
              <a:rPr lang="en-US" sz="1600" b="1" dirty="0">
                <a:solidFill>
                  <a:schemeClr val="accent6">
                    <a:lumMod val="75000"/>
                  </a:schemeClr>
                </a:solidFill>
                <a:latin typeface="+mn-lt"/>
              </a:rPr>
              <a:t>wrong value!</a:t>
            </a:r>
          </a:p>
        </p:txBody>
      </p:sp>
      <p:cxnSp>
        <p:nvCxnSpPr>
          <p:cNvPr id="25" name="Straight Connector 24">
            <a:extLst>
              <a:ext uri="{FF2B5EF4-FFF2-40B4-BE49-F238E27FC236}">
                <a16:creationId xmlns:a16="http://schemas.microsoft.com/office/drawing/2014/main" id="{398F03FC-566C-4ECA-857A-7213A290A3F1}"/>
              </a:ext>
            </a:extLst>
          </p:cNvPr>
          <p:cNvCxnSpPr>
            <a:cxnSpLocks/>
          </p:cNvCxnSpPr>
          <p:nvPr/>
        </p:nvCxnSpPr>
        <p:spPr>
          <a:xfrm flipV="1">
            <a:off x="7924800" y="4999937"/>
            <a:ext cx="164310" cy="471196"/>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 Box 11" descr=" 9">
            <a:extLst>
              <a:ext uri="{FF2B5EF4-FFF2-40B4-BE49-F238E27FC236}">
                <a16:creationId xmlns:a16="http://schemas.microsoft.com/office/drawing/2014/main" id="{1815B68E-21A2-4B6C-8348-3EC31B268C3E}"/>
              </a:ext>
            </a:extLst>
          </p:cNvPr>
          <p:cNvSpPr txBox="1">
            <a:spLocks noChangeArrowheads="1"/>
          </p:cNvSpPr>
          <p:nvPr>
            <p:custDataLst>
              <p:tags r:id="rId22"/>
            </p:custDataLst>
          </p:nvPr>
        </p:nvSpPr>
        <p:spPr bwMode="auto">
          <a:xfrm>
            <a:off x="7086599" y="4325815"/>
            <a:ext cx="1606530" cy="400110"/>
          </a:xfrm>
          <a:prstGeom prst="rect">
            <a:avLst/>
          </a:prstGeom>
          <a:noFill/>
          <a:ln w="12700">
            <a:noFill/>
            <a:miter lim="800000"/>
            <a:headEnd type="none" w="sm" len="sm"/>
            <a:tailEnd type="none" w="sm" len="sm"/>
          </a:ln>
        </p:spPr>
        <p:txBody>
          <a:bodyPr wrap="none">
            <a:spAutoFit/>
          </a:bodyPr>
          <a:lstStyle/>
          <a:p>
            <a:r>
              <a:rPr lang="en-US" sz="2000" dirty="0">
                <a:solidFill>
                  <a:srgbClr val="CC0000"/>
                </a:solidFill>
                <a:latin typeface="Calibri" pitchFamily="34" charset="0"/>
              </a:rPr>
              <a:t>t3: </a:t>
            </a:r>
            <a:r>
              <a:rPr lang="en-US" sz="2000" dirty="0">
                <a:latin typeface="Calibri" pitchFamily="34" charset="0"/>
              </a:rPr>
              <a:t>Load X=51</a:t>
            </a:r>
          </a:p>
        </p:txBody>
      </p:sp>
      <p:sp>
        <p:nvSpPr>
          <p:cNvPr id="28" name="Text Box 11" descr=" 9">
            <a:extLst>
              <a:ext uri="{FF2B5EF4-FFF2-40B4-BE49-F238E27FC236}">
                <a16:creationId xmlns:a16="http://schemas.microsoft.com/office/drawing/2014/main" id="{CA5D376D-4744-4E4A-BDB6-9A65FED37B7F}"/>
              </a:ext>
            </a:extLst>
          </p:cNvPr>
          <p:cNvSpPr txBox="1">
            <a:spLocks noChangeArrowheads="1"/>
          </p:cNvSpPr>
          <p:nvPr>
            <p:custDataLst>
              <p:tags r:id="rId23"/>
            </p:custDataLst>
          </p:nvPr>
        </p:nvSpPr>
        <p:spPr bwMode="auto">
          <a:xfrm>
            <a:off x="7071644" y="4644454"/>
            <a:ext cx="1606530" cy="400110"/>
          </a:xfrm>
          <a:prstGeom prst="rect">
            <a:avLst/>
          </a:prstGeom>
          <a:noFill/>
          <a:ln w="12700">
            <a:noFill/>
            <a:miter lim="800000"/>
            <a:headEnd type="none" w="sm" len="sm"/>
            <a:tailEnd type="none" w="sm" len="sm"/>
          </a:ln>
        </p:spPr>
        <p:txBody>
          <a:bodyPr wrap="none">
            <a:spAutoFit/>
          </a:bodyPr>
          <a:lstStyle/>
          <a:p>
            <a:r>
              <a:rPr lang="en-US" sz="2000" dirty="0">
                <a:solidFill>
                  <a:srgbClr val="CC0000"/>
                </a:solidFill>
                <a:latin typeface="Calibri" pitchFamily="34" charset="0"/>
              </a:rPr>
              <a:t>t5: </a:t>
            </a:r>
            <a:r>
              <a:rPr lang="en-US" sz="2000" dirty="0">
                <a:latin typeface="Calibri" pitchFamily="34" charset="0"/>
              </a:rPr>
              <a:t>Load X=51</a:t>
            </a:r>
          </a:p>
        </p:txBody>
      </p:sp>
      <p:sp>
        <p:nvSpPr>
          <p:cNvPr id="29" name="Text Box 11" descr=" 9">
            <a:extLst>
              <a:ext uri="{FF2B5EF4-FFF2-40B4-BE49-F238E27FC236}">
                <a16:creationId xmlns:a16="http://schemas.microsoft.com/office/drawing/2014/main" id="{A5EEFF72-1D52-4B3C-B806-BADF603C7D65}"/>
              </a:ext>
            </a:extLst>
          </p:cNvPr>
          <p:cNvSpPr txBox="1">
            <a:spLocks noChangeArrowheads="1"/>
          </p:cNvSpPr>
          <p:nvPr>
            <p:custDataLst>
              <p:tags r:id="rId24"/>
            </p:custDataLst>
          </p:nvPr>
        </p:nvSpPr>
        <p:spPr bwMode="auto">
          <a:xfrm>
            <a:off x="460284" y="3708317"/>
            <a:ext cx="1207767" cy="400110"/>
          </a:xfrm>
          <a:prstGeom prst="rect">
            <a:avLst/>
          </a:prstGeom>
          <a:noFill/>
          <a:ln w="12700">
            <a:noFill/>
            <a:miter lim="800000"/>
            <a:headEnd type="none" w="sm" len="sm"/>
            <a:tailEnd type="none" w="sm" len="sm"/>
          </a:ln>
        </p:spPr>
        <p:txBody>
          <a:bodyPr wrap="none">
            <a:spAutoFit/>
          </a:bodyPr>
          <a:lstStyle/>
          <a:p>
            <a:r>
              <a:rPr lang="en-US" sz="2000" dirty="0">
                <a:solidFill>
                  <a:srgbClr val="CC0000"/>
                </a:solidFill>
                <a:latin typeface="Calibri" pitchFamily="34" charset="0"/>
              </a:rPr>
              <a:t>t4: </a:t>
            </a:r>
            <a:r>
              <a:rPr lang="en-US" sz="2000" dirty="0">
                <a:latin typeface="Calibri" pitchFamily="34" charset="0"/>
              </a:rPr>
              <a:t>Evict X</a:t>
            </a:r>
          </a:p>
        </p:txBody>
      </p:sp>
      <p:sp>
        <p:nvSpPr>
          <p:cNvPr id="30" name="TextBox 29">
            <a:extLst>
              <a:ext uri="{FF2B5EF4-FFF2-40B4-BE49-F238E27FC236}">
                <a16:creationId xmlns:a16="http://schemas.microsoft.com/office/drawing/2014/main" id="{61822400-C793-44C7-9FC8-66D46BA59C16}"/>
              </a:ext>
            </a:extLst>
          </p:cNvPr>
          <p:cNvSpPr txBox="1"/>
          <p:nvPr>
            <p:custDataLst>
              <p:tags r:id="rId25"/>
            </p:custDataLst>
          </p:nvPr>
        </p:nvSpPr>
        <p:spPr>
          <a:xfrm>
            <a:off x="-151082" y="4648200"/>
            <a:ext cx="2437082" cy="560717"/>
          </a:xfrm>
          <a:prstGeom prst="rect">
            <a:avLst/>
          </a:prstGeom>
          <a:noFill/>
        </p:spPr>
        <p:txBody>
          <a:bodyPr wrap="square" rtlCol="0" anchor="ctr">
            <a:noAutofit/>
          </a:bodyPr>
          <a:lstStyle/>
          <a:p>
            <a:pPr algn="ctr"/>
            <a:r>
              <a:rPr lang="en-US" sz="1600" dirty="0">
                <a:latin typeface="+mn-lt"/>
              </a:rPr>
              <a:t>assume write-back,</a:t>
            </a:r>
          </a:p>
          <a:p>
            <a:pPr algn="ctr"/>
            <a:r>
              <a:rPr lang="en-US" sz="1600" dirty="0">
                <a:latin typeface="+mn-lt"/>
              </a:rPr>
              <a:t>write-allocate cache</a:t>
            </a:r>
          </a:p>
        </p:txBody>
      </p:sp>
      <p:cxnSp>
        <p:nvCxnSpPr>
          <p:cNvPr id="31" name="Straight Connector 30">
            <a:extLst>
              <a:ext uri="{FF2B5EF4-FFF2-40B4-BE49-F238E27FC236}">
                <a16:creationId xmlns:a16="http://schemas.microsoft.com/office/drawing/2014/main" id="{A485513D-F242-436D-A007-241040F3119A}"/>
              </a:ext>
            </a:extLst>
          </p:cNvPr>
          <p:cNvCxnSpPr>
            <a:cxnSpLocks/>
          </p:cNvCxnSpPr>
          <p:nvPr/>
        </p:nvCxnSpPr>
        <p:spPr>
          <a:xfrm flipV="1">
            <a:off x="1905000" y="4534586"/>
            <a:ext cx="398493" cy="2884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91339C1D-E744-4D78-8705-282505CD195E}"/>
              </a:ext>
            </a:extLst>
          </p:cNvPr>
          <p:cNvSpPr/>
          <p:nvPr>
            <p:custDataLst>
              <p:tags r:id="rId26"/>
            </p:custDataLst>
          </p:nvPr>
        </p:nvSpPr>
        <p:spPr>
          <a:xfrm>
            <a:off x="2133600" y="2286000"/>
            <a:ext cx="5791200" cy="358515"/>
          </a:xfrm>
          <a:prstGeom prst="rect">
            <a:avLst/>
          </a:prstGeom>
          <a:solidFill>
            <a:schemeClr val="accent6">
              <a:lumMod val="7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F550ABFF-007C-40E4-8E64-2DD12F62BD68}"/>
              </a:ext>
            </a:extLst>
          </p:cNvPr>
          <p:cNvSpPr txBox="1"/>
          <p:nvPr>
            <p:custDataLst>
              <p:tags r:id="rId27"/>
            </p:custDataLst>
          </p:nvPr>
        </p:nvSpPr>
        <p:spPr>
          <a:xfrm>
            <a:off x="3370862" y="2947924"/>
            <a:ext cx="2437082" cy="560717"/>
          </a:xfrm>
          <a:prstGeom prst="rect">
            <a:avLst/>
          </a:prstGeom>
          <a:noFill/>
        </p:spPr>
        <p:txBody>
          <a:bodyPr wrap="square" rtlCol="0" anchor="ctr">
            <a:noAutofit/>
          </a:bodyPr>
          <a:lstStyle/>
          <a:p>
            <a:pPr algn="ctr"/>
            <a:r>
              <a:rPr lang="en-US" sz="1600" b="1" dirty="0">
                <a:solidFill>
                  <a:schemeClr val="accent6">
                    <a:lumMod val="75000"/>
                  </a:schemeClr>
                </a:solidFill>
                <a:latin typeface="+mn-lt"/>
              </a:rPr>
              <a:t>the role of the</a:t>
            </a:r>
          </a:p>
          <a:p>
            <a:pPr algn="ctr"/>
            <a:r>
              <a:rPr lang="en-US" sz="1600" b="1" i="1" dirty="0">
                <a:solidFill>
                  <a:schemeClr val="accent6">
                    <a:lumMod val="75000"/>
                  </a:schemeClr>
                </a:solidFill>
                <a:latin typeface="+mn-lt"/>
              </a:rPr>
              <a:t>cache coherence protocol</a:t>
            </a:r>
          </a:p>
        </p:txBody>
      </p:sp>
    </p:spTree>
    <p:custDataLst>
      <p:tags r:id="rId1"/>
    </p:custDataLst>
    <p:extLst>
      <p:ext uri="{BB962C8B-B14F-4D97-AF65-F5344CB8AC3E}">
        <p14:creationId xmlns:p14="http://schemas.microsoft.com/office/powerpoint/2010/main" val="314359128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Cache Coherence Protocol</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9</a:t>
            </a:fld>
            <a:endParaRPr lang="en-US" altLang="en-US" sz="1400">
              <a:latin typeface="Times New Roman" panose="02020603050405020304" pitchFamily="18" charset="0"/>
            </a:endParaRPr>
          </a:p>
        </p:txBody>
      </p:sp>
      <p:sp>
        <p:nvSpPr>
          <p:cNvPr id="5" name="TextBox 4">
            <a:extLst>
              <a:ext uri="{FF2B5EF4-FFF2-40B4-BE49-F238E27FC236}">
                <a16:creationId xmlns:a16="http://schemas.microsoft.com/office/drawing/2014/main" id="{CAC3357B-E167-407E-A018-2D2860FA112F}"/>
              </a:ext>
            </a:extLst>
          </p:cNvPr>
          <p:cNvSpPr txBox="1"/>
          <p:nvPr>
            <p:custDataLst>
              <p:tags r:id="rId4"/>
            </p:custDataLst>
          </p:nvPr>
        </p:nvSpPr>
        <p:spPr>
          <a:xfrm>
            <a:off x="526929" y="1414732"/>
            <a:ext cx="8159871" cy="5037826"/>
          </a:xfrm>
          <a:prstGeom prst="rect">
            <a:avLst/>
          </a:prstGeom>
          <a:noFill/>
        </p:spPr>
        <p:txBody>
          <a:bodyPr wrap="square" rtlCol="0" anchor="t">
            <a:noAutofit/>
          </a:bodyPr>
          <a:lstStyle/>
          <a:p>
            <a:r>
              <a:rPr lang="en-US" sz="3200" dirty="0">
                <a:latin typeface="+mn-lt"/>
              </a:rPr>
              <a:t>Enforces the following for private caches:</a:t>
            </a:r>
          </a:p>
          <a:p>
            <a:pPr marL="457200" indent="-457200">
              <a:buFont typeface="Arial" panose="020B0604020202020204" pitchFamily="34" charset="0"/>
              <a:buChar char="•"/>
            </a:pPr>
            <a:r>
              <a:rPr lang="en-US" sz="2800" b="1" dirty="0">
                <a:latin typeface="+mn-lt"/>
              </a:rPr>
              <a:t>Write Serialization: </a:t>
            </a:r>
            <a:r>
              <a:rPr lang="en-US" sz="2800" dirty="0">
                <a:latin typeface="+mn-lt"/>
              </a:rPr>
              <a:t>At any moment in time, only one processor can modify a memory block, and all processors agree on who it is </a:t>
            </a:r>
            <a:r>
              <a:rPr lang="en-US" sz="2800" i="1" dirty="0">
                <a:latin typeface="+mn-lt"/>
              </a:rPr>
              <a:t>(single-writer, multiple-reader invariant)</a:t>
            </a:r>
            <a:r>
              <a:rPr lang="en-US" sz="2800" dirty="0">
                <a:latin typeface="+mn-lt"/>
              </a:rPr>
              <a:t>.</a:t>
            </a:r>
          </a:p>
          <a:p>
            <a:pPr marL="457200" indent="-457200">
              <a:buFont typeface="Arial" panose="020B0604020202020204" pitchFamily="34" charset="0"/>
              <a:buChar char="•"/>
            </a:pPr>
            <a:r>
              <a:rPr lang="en-US" sz="2800" b="1" dirty="0">
                <a:latin typeface="+mn-lt"/>
              </a:rPr>
              <a:t>Write Propagation: </a:t>
            </a:r>
            <a:r>
              <a:rPr lang="en-US" sz="2800" dirty="0">
                <a:latin typeface="+mn-lt"/>
              </a:rPr>
              <a:t>Any processors that read the memory block immediately after a modification must observe the new value </a:t>
            </a:r>
            <a:r>
              <a:rPr lang="en-US" sz="2800" i="1" dirty="0">
                <a:latin typeface="+mn-lt"/>
              </a:rPr>
              <a:t>(data-value invariant)</a:t>
            </a:r>
            <a:r>
              <a:rPr lang="en-US" sz="2800" dirty="0">
                <a:latin typeface="+mn-lt"/>
              </a:rPr>
              <a:t>.</a:t>
            </a:r>
          </a:p>
        </p:txBody>
      </p:sp>
    </p:spTree>
    <p:custDataLst>
      <p:tags r:id="rId1"/>
    </p:custDataLst>
    <p:extLst>
      <p:ext uri="{BB962C8B-B14F-4D97-AF65-F5344CB8AC3E}">
        <p14:creationId xmlns:p14="http://schemas.microsoft.com/office/powerpoint/2010/main" val="261201854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Cache Coherence Protocol</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10</a:t>
            </a:fld>
            <a:endParaRPr lang="en-US" altLang="en-US" sz="1400">
              <a:latin typeface="Times New Roman" panose="02020603050405020304" pitchFamily="18" charset="0"/>
            </a:endParaRPr>
          </a:p>
        </p:txBody>
      </p:sp>
      <p:sp>
        <p:nvSpPr>
          <p:cNvPr id="6" name="TextBox 5">
            <a:extLst>
              <a:ext uri="{FF2B5EF4-FFF2-40B4-BE49-F238E27FC236}">
                <a16:creationId xmlns:a16="http://schemas.microsoft.com/office/drawing/2014/main" id="{2CD0C933-B9E6-4B96-92D0-B2CBE711DA60}"/>
              </a:ext>
            </a:extLst>
          </p:cNvPr>
          <p:cNvSpPr txBox="1"/>
          <p:nvPr>
            <p:custDataLst>
              <p:tags r:id="rId4"/>
            </p:custDataLst>
          </p:nvPr>
        </p:nvSpPr>
        <p:spPr>
          <a:xfrm>
            <a:off x="526929" y="1414732"/>
            <a:ext cx="8159871" cy="5037826"/>
          </a:xfrm>
          <a:prstGeom prst="rect">
            <a:avLst/>
          </a:prstGeom>
          <a:noFill/>
        </p:spPr>
        <p:txBody>
          <a:bodyPr wrap="square" rtlCol="0" anchor="t">
            <a:noAutofit/>
          </a:bodyPr>
          <a:lstStyle/>
          <a:p>
            <a:r>
              <a:rPr lang="en-US" sz="3200" dirty="0">
                <a:latin typeface="+mn-lt"/>
              </a:rPr>
              <a:t>Another way to think about it:</a:t>
            </a:r>
          </a:p>
          <a:p>
            <a:pPr marL="457200" indent="-457200">
              <a:buFont typeface="Arial" panose="020B0604020202020204" pitchFamily="34" charset="0"/>
              <a:buChar char="•"/>
            </a:pPr>
            <a:r>
              <a:rPr lang="en-US" sz="2800" dirty="0">
                <a:latin typeface="+mn-lt"/>
              </a:rPr>
              <a:t>A global </a:t>
            </a:r>
            <a:r>
              <a:rPr lang="en-US" sz="2800" i="1" dirty="0">
                <a:latin typeface="+mn-lt"/>
              </a:rPr>
              <a:t>logical</a:t>
            </a:r>
            <a:r>
              <a:rPr lang="en-US" sz="2800" dirty="0">
                <a:latin typeface="+mn-lt"/>
              </a:rPr>
              <a:t> time must be imposed upon all reads and writes to a memory block.</a:t>
            </a:r>
          </a:p>
          <a:p>
            <a:pPr marL="914400" lvl="1" indent="-457200">
              <a:buFont typeface="Wingdings" panose="05000000000000000000" pitchFamily="2" charset="2"/>
              <a:buChar char="Ø"/>
            </a:pPr>
            <a:r>
              <a:rPr lang="en-US" sz="2400" dirty="0">
                <a:latin typeface="+mn-lt"/>
              </a:rPr>
              <a:t>Can trivially achieve by serializing all accesses, whether read or write (e.g., Modified-Invalid protocol).</a:t>
            </a:r>
          </a:p>
          <a:p>
            <a:pPr marL="914400" lvl="1" indent="-457200">
              <a:buFont typeface="Wingdings" panose="05000000000000000000" pitchFamily="2" charset="2"/>
              <a:buChar char="Ø"/>
            </a:pPr>
            <a:r>
              <a:rPr lang="en-US" sz="2400" dirty="0">
                <a:latin typeface="+mn-lt"/>
              </a:rPr>
              <a:t>Can do better by allowing reads to occur in parallel (e.g., Modified-Shared-Invalid protocol).</a:t>
            </a:r>
          </a:p>
        </p:txBody>
      </p:sp>
    </p:spTree>
    <p:custDataLst>
      <p:tags r:id="rId1"/>
    </p:custDataLst>
    <p:extLst>
      <p:ext uri="{BB962C8B-B14F-4D97-AF65-F5344CB8AC3E}">
        <p14:creationId xmlns:p14="http://schemas.microsoft.com/office/powerpoint/2010/main" val="129006970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Cache Coherence Protocol</a:t>
            </a:r>
          </a:p>
        </p:txBody>
      </p:sp>
      <p:sp>
        <p:nvSpPr>
          <p:cNvPr id="2056" name="Rectangle 3"/>
          <p:cNvSpPr>
            <a:spLocks noGrp="1" noChangeArrowheads="1"/>
          </p:cNvSpPr>
          <p:nvPr>
            <p:ph idx="1"/>
            <p:custDataLst>
              <p:tags r:id="rId3"/>
            </p:custDataLst>
          </p:nvPr>
        </p:nvSpPr>
        <p:spPr>
          <a:xfrm>
            <a:off x="682625" y="1600199"/>
            <a:ext cx="8308975" cy="3505201"/>
          </a:xfrm>
        </p:spPr>
        <p:txBody>
          <a:bodyPr/>
          <a:lstStyle/>
          <a:p>
            <a:pPr marL="0" indent="0">
              <a:lnSpc>
                <a:spcPct val="80000"/>
              </a:lnSpc>
              <a:buNone/>
            </a:pPr>
            <a:r>
              <a:rPr lang="en-US" altLang="en-US" dirty="0"/>
              <a:t>Caches coherence operates at </a:t>
            </a:r>
            <a:r>
              <a:rPr lang="en-US" altLang="en-US" b="1" dirty="0"/>
              <a:t>block</a:t>
            </a:r>
            <a:r>
              <a:rPr lang="en-US" altLang="en-US" dirty="0"/>
              <a:t> granularity</a:t>
            </a:r>
          </a:p>
          <a:p>
            <a:pPr>
              <a:lnSpc>
                <a:spcPct val="80000"/>
              </a:lnSpc>
            </a:pPr>
            <a:r>
              <a:rPr lang="en-US" altLang="en-US" sz="2800" dirty="0"/>
              <a:t>Assume write-back, write-allocate caches for rest of discussion</a:t>
            </a:r>
          </a:p>
          <a:p>
            <a:pPr lvl="1">
              <a:lnSpc>
                <a:spcPct val="80000"/>
              </a:lnSpc>
            </a:pPr>
            <a:r>
              <a:rPr lang="en-US" altLang="en-US" sz="2400" dirty="0"/>
              <a:t>Store misses must fetch the </a:t>
            </a:r>
            <a:r>
              <a:rPr lang="en-US" altLang="en-US" sz="2400" b="1" dirty="0"/>
              <a:t>entire</a:t>
            </a:r>
            <a:r>
              <a:rPr lang="en-US" altLang="en-US" sz="2400" dirty="0"/>
              <a:t> block first</a:t>
            </a:r>
          </a:p>
          <a:p>
            <a:pPr lvl="1">
              <a:lnSpc>
                <a:spcPct val="80000"/>
              </a:lnSpc>
            </a:pPr>
            <a:r>
              <a:rPr lang="en-US" altLang="en-US" sz="2400" dirty="0"/>
              <a:t>Evicting a dirty block writes its </a:t>
            </a:r>
            <a:r>
              <a:rPr lang="en-US" altLang="en-US" sz="2400" b="1" dirty="0"/>
              <a:t>entire</a:t>
            </a:r>
            <a:r>
              <a:rPr lang="en-US" altLang="en-US" sz="2400" dirty="0"/>
              <a:t> contents to memory (even untouched words)</a:t>
            </a:r>
          </a:p>
          <a:p>
            <a:pPr lvl="1">
              <a:lnSpc>
                <a:spcPct val="80000"/>
              </a:lnSpc>
            </a:pPr>
            <a:r>
              <a:rPr lang="en-US" altLang="en-US" sz="2400" dirty="0"/>
              <a:t>Without cache coherence, modified values are only visible after </a:t>
            </a:r>
            <a:r>
              <a:rPr lang="en-US" altLang="en-US" sz="2400" b="1" dirty="0"/>
              <a:t>eviction</a:t>
            </a:r>
          </a:p>
          <a:p>
            <a:pPr lvl="1">
              <a:lnSpc>
                <a:spcPct val="80000"/>
              </a:lnSpc>
            </a:pPr>
            <a:r>
              <a:rPr lang="en-US" altLang="en-US" sz="2400" dirty="0"/>
              <a:t>With cache coherence, modified values are visible </a:t>
            </a:r>
            <a:r>
              <a:rPr lang="en-US" altLang="en-US" sz="2400" b="1" dirty="0"/>
              <a:t>immediately</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11</a:t>
            </a:fld>
            <a:endParaRPr lang="en-US" altLang="en-US"/>
          </a:p>
        </p:txBody>
      </p:sp>
    </p:spTree>
    <p:custDataLst>
      <p:tags r:id="rId1"/>
    </p:custDataLst>
    <p:extLst>
      <p:ext uri="{BB962C8B-B14F-4D97-AF65-F5344CB8AC3E}">
        <p14:creationId xmlns:p14="http://schemas.microsoft.com/office/powerpoint/2010/main" val="184990235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Cache Coherence Protocols</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12</a:t>
            </a:fld>
            <a:endParaRPr lang="en-US" altLang="en-US" sz="1400">
              <a:latin typeface="Times New Roman" panose="02020603050405020304" pitchFamily="18" charset="0"/>
            </a:endParaRPr>
          </a:p>
        </p:txBody>
      </p:sp>
      <p:sp>
        <p:nvSpPr>
          <p:cNvPr id="5" name="TextBox 4">
            <a:extLst>
              <a:ext uri="{FF2B5EF4-FFF2-40B4-BE49-F238E27FC236}">
                <a16:creationId xmlns:a16="http://schemas.microsoft.com/office/drawing/2014/main" id="{FBF0C2FC-C636-4689-B9AF-52A6A1845ACA}"/>
              </a:ext>
            </a:extLst>
          </p:cNvPr>
          <p:cNvSpPr txBox="1"/>
          <p:nvPr>
            <p:custDataLst>
              <p:tags r:id="rId4"/>
            </p:custDataLst>
          </p:nvPr>
        </p:nvSpPr>
        <p:spPr>
          <a:xfrm>
            <a:off x="526929" y="1414732"/>
            <a:ext cx="8540871" cy="5037826"/>
          </a:xfrm>
          <a:prstGeom prst="rect">
            <a:avLst/>
          </a:prstGeom>
          <a:noFill/>
        </p:spPr>
        <p:txBody>
          <a:bodyPr wrap="square" rtlCol="0" anchor="t">
            <a:noAutofit/>
          </a:bodyPr>
          <a:lstStyle/>
          <a:p>
            <a:r>
              <a:rPr lang="en-US" sz="3200" b="1" dirty="0">
                <a:latin typeface="+mn-lt"/>
              </a:rPr>
              <a:t>Snooping-based coherence</a:t>
            </a:r>
          </a:p>
          <a:p>
            <a:r>
              <a:rPr lang="en-US" sz="2800" dirty="0">
                <a:latin typeface="+mn-lt"/>
              </a:rPr>
              <a:t>Caches </a:t>
            </a:r>
            <a:r>
              <a:rPr lang="en-US" sz="2800" i="1" dirty="0">
                <a:latin typeface="+mn-lt"/>
              </a:rPr>
              <a:t>snoop</a:t>
            </a:r>
            <a:r>
              <a:rPr lang="en-US" sz="2800" dirty="0">
                <a:latin typeface="+mn-lt"/>
              </a:rPr>
              <a:t> (i.e., observe) all read/write requests (and their responses) to memory and other caches via broadcasting.</a:t>
            </a:r>
          </a:p>
          <a:p>
            <a:endParaRPr lang="en-US" sz="2800" dirty="0">
              <a:latin typeface="+mn-lt"/>
            </a:endParaRPr>
          </a:p>
          <a:p>
            <a:r>
              <a:rPr lang="en-US" sz="3200" b="1" dirty="0">
                <a:latin typeface="+mn-lt"/>
              </a:rPr>
              <a:t>Directory-based coherence</a:t>
            </a:r>
          </a:p>
          <a:p>
            <a:r>
              <a:rPr lang="en-US" sz="2800" dirty="0">
                <a:latin typeface="+mn-lt"/>
              </a:rPr>
              <a:t>Read/write requests (and their responses) are point-to-point; a separate </a:t>
            </a:r>
            <a:r>
              <a:rPr lang="en-US" sz="2800" i="1" dirty="0">
                <a:latin typeface="+mn-lt"/>
              </a:rPr>
              <a:t>directory</a:t>
            </a:r>
            <a:r>
              <a:rPr lang="en-US" sz="2800" dirty="0">
                <a:latin typeface="+mn-lt"/>
              </a:rPr>
              <a:t> structure must be referenced first to see who has copies of the data.</a:t>
            </a:r>
          </a:p>
          <a:p>
            <a:pPr marL="457200" indent="-457200">
              <a:buFont typeface="Arial" panose="020B0604020202020204" pitchFamily="34" charset="0"/>
              <a:buChar char="•"/>
            </a:pPr>
            <a:r>
              <a:rPr lang="en-US" sz="2400" dirty="0">
                <a:latin typeface="+mn-lt"/>
              </a:rPr>
              <a:t>Advanced: ECE/CS 757</a:t>
            </a:r>
          </a:p>
        </p:txBody>
      </p:sp>
    </p:spTree>
    <p:custDataLst>
      <p:tags r:id="rId1"/>
    </p:custDataLst>
    <p:extLst>
      <p:ext uri="{BB962C8B-B14F-4D97-AF65-F5344CB8AC3E}">
        <p14:creationId xmlns:p14="http://schemas.microsoft.com/office/powerpoint/2010/main" val="330679065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Cache Coherence Protocols</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13</a:t>
            </a:fld>
            <a:endParaRPr lang="en-US" altLang="en-US" sz="1400">
              <a:latin typeface="Times New Roman" panose="02020603050405020304" pitchFamily="18" charset="0"/>
            </a:endParaRPr>
          </a:p>
        </p:txBody>
      </p:sp>
      <p:sp>
        <p:nvSpPr>
          <p:cNvPr id="5" name="TextBox 4">
            <a:extLst>
              <a:ext uri="{FF2B5EF4-FFF2-40B4-BE49-F238E27FC236}">
                <a16:creationId xmlns:a16="http://schemas.microsoft.com/office/drawing/2014/main" id="{FBF0C2FC-C636-4689-B9AF-52A6A1845ACA}"/>
              </a:ext>
            </a:extLst>
          </p:cNvPr>
          <p:cNvSpPr txBox="1"/>
          <p:nvPr>
            <p:custDataLst>
              <p:tags r:id="rId4"/>
            </p:custDataLst>
          </p:nvPr>
        </p:nvSpPr>
        <p:spPr>
          <a:xfrm>
            <a:off x="526929" y="1414732"/>
            <a:ext cx="8540871" cy="5037826"/>
          </a:xfrm>
          <a:prstGeom prst="rect">
            <a:avLst/>
          </a:prstGeom>
          <a:noFill/>
        </p:spPr>
        <p:txBody>
          <a:bodyPr wrap="square" rtlCol="0" anchor="t">
            <a:noAutofit/>
          </a:bodyPr>
          <a:lstStyle/>
          <a:p>
            <a:r>
              <a:rPr lang="en-US" sz="3200" b="1" dirty="0">
                <a:latin typeface="+mn-lt"/>
              </a:rPr>
              <a:t>Update-based protocols</a:t>
            </a:r>
          </a:p>
          <a:p>
            <a:r>
              <a:rPr lang="en-US" sz="2800" dirty="0">
                <a:latin typeface="+mn-lt"/>
              </a:rPr>
              <a:t>Each cache is responsible for keeping its own blocks updated to the latest value.</a:t>
            </a:r>
          </a:p>
          <a:p>
            <a:endParaRPr lang="en-US" sz="2800" dirty="0">
              <a:latin typeface="+mn-lt"/>
            </a:endParaRPr>
          </a:p>
          <a:p>
            <a:r>
              <a:rPr lang="en-US" sz="3200" b="1" dirty="0">
                <a:latin typeface="+mn-lt"/>
              </a:rPr>
              <a:t>Invalidation-based protocols</a:t>
            </a:r>
          </a:p>
          <a:p>
            <a:r>
              <a:rPr lang="en-US" sz="2800" dirty="0">
                <a:latin typeface="+mn-lt"/>
              </a:rPr>
              <a:t>Each cache that modifies a block is responsible for notifying every other cache about the change (i.e., by </a:t>
            </a:r>
            <a:r>
              <a:rPr lang="en-US" sz="2800" i="1" dirty="0">
                <a:latin typeface="+mn-lt"/>
              </a:rPr>
              <a:t>invalidating</a:t>
            </a:r>
            <a:r>
              <a:rPr lang="en-US" sz="2800" dirty="0">
                <a:latin typeface="+mn-lt"/>
              </a:rPr>
              <a:t> the other caches’ stale copies).</a:t>
            </a:r>
          </a:p>
          <a:p>
            <a:pPr marL="457200" indent="-457200">
              <a:buFont typeface="Arial" panose="020B0604020202020204" pitchFamily="34" charset="0"/>
              <a:buChar char="•"/>
            </a:pPr>
            <a:r>
              <a:rPr lang="en-US" sz="2400" dirty="0">
                <a:latin typeface="+mn-lt"/>
              </a:rPr>
              <a:t>Focus on snooping coherence with invalidation-based protocols (e.g., MI, MSI)</a:t>
            </a:r>
          </a:p>
        </p:txBody>
      </p:sp>
    </p:spTree>
    <p:custDataLst>
      <p:tags r:id="rId1"/>
    </p:custDataLst>
    <p:extLst>
      <p:ext uri="{BB962C8B-B14F-4D97-AF65-F5344CB8AC3E}">
        <p14:creationId xmlns:p14="http://schemas.microsoft.com/office/powerpoint/2010/main" val="241704669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Cache Coherence Protocols</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14</a:t>
            </a:fld>
            <a:endParaRPr lang="en-US" altLang="en-US" sz="1400">
              <a:latin typeface="Times New Roman" panose="02020603050405020304" pitchFamily="18" charset="0"/>
            </a:endParaRPr>
          </a:p>
        </p:txBody>
      </p:sp>
      <p:sp>
        <p:nvSpPr>
          <p:cNvPr id="6" name="TextBox 5">
            <a:extLst>
              <a:ext uri="{FF2B5EF4-FFF2-40B4-BE49-F238E27FC236}">
                <a16:creationId xmlns:a16="http://schemas.microsoft.com/office/drawing/2014/main" id="{1D8A9513-2D4D-4B43-ACC1-C0B15A912835}"/>
              </a:ext>
            </a:extLst>
          </p:cNvPr>
          <p:cNvSpPr txBox="1"/>
          <p:nvPr>
            <p:custDataLst>
              <p:tags r:id="rId4"/>
            </p:custDataLst>
          </p:nvPr>
        </p:nvSpPr>
        <p:spPr>
          <a:xfrm>
            <a:off x="526929" y="1414732"/>
            <a:ext cx="8312271" cy="5037826"/>
          </a:xfrm>
          <a:prstGeom prst="rect">
            <a:avLst/>
          </a:prstGeom>
          <a:noFill/>
        </p:spPr>
        <p:txBody>
          <a:bodyPr wrap="square" rtlCol="0" anchor="t">
            <a:noAutofit/>
          </a:bodyPr>
          <a:lstStyle/>
          <a:p>
            <a:r>
              <a:rPr lang="en-US" sz="3200" dirty="0">
                <a:latin typeface="+mn-lt"/>
              </a:rPr>
              <a:t>A cache coherence protocol is implemented as a system of FSMs:</a:t>
            </a:r>
          </a:p>
          <a:p>
            <a:pPr marL="457200" indent="-457200">
              <a:buFont typeface="Wingdings" panose="05000000000000000000" pitchFamily="2" charset="2"/>
              <a:buChar char="Ø"/>
            </a:pPr>
            <a:r>
              <a:rPr lang="en-US" sz="2800" dirty="0">
                <a:latin typeface="+mn-lt"/>
              </a:rPr>
              <a:t>Each cache and memory employs a controller, which maintains a </a:t>
            </a:r>
            <a:r>
              <a:rPr lang="en-US" sz="2800" b="1" dirty="0">
                <a:latin typeface="+mn-lt"/>
              </a:rPr>
              <a:t>state</a:t>
            </a:r>
            <a:r>
              <a:rPr lang="en-US" sz="2800" dirty="0">
                <a:latin typeface="+mn-lt"/>
              </a:rPr>
              <a:t> for each block it contains and based on external </a:t>
            </a:r>
            <a:r>
              <a:rPr lang="en-US" sz="2800" b="1" dirty="0">
                <a:latin typeface="+mn-lt"/>
              </a:rPr>
              <a:t>events</a:t>
            </a:r>
            <a:r>
              <a:rPr lang="en-US" sz="2800" dirty="0">
                <a:latin typeface="+mn-lt"/>
              </a:rPr>
              <a:t> (e.g., requests, responses) from the upper and lower levels of the memory hierarchy, the controller </a:t>
            </a:r>
            <a:r>
              <a:rPr lang="en-US" sz="2800" b="1" dirty="0">
                <a:latin typeface="+mn-lt"/>
              </a:rPr>
              <a:t>transitions</a:t>
            </a:r>
            <a:r>
              <a:rPr lang="en-US" sz="2800" dirty="0">
                <a:latin typeface="+mn-lt"/>
              </a:rPr>
              <a:t> to a new state for the block and performs any </a:t>
            </a:r>
            <a:r>
              <a:rPr lang="en-US" sz="2800" b="1" dirty="0">
                <a:latin typeface="+mn-lt"/>
              </a:rPr>
              <a:t>actions</a:t>
            </a:r>
            <a:r>
              <a:rPr lang="en-US" sz="2800" dirty="0">
                <a:latin typeface="+mn-lt"/>
              </a:rPr>
              <a:t> associated with the transition (which may trigger new events)</a:t>
            </a:r>
          </a:p>
          <a:p>
            <a:pPr marL="457200" indent="-457200">
              <a:buFont typeface="Wingdings" panose="05000000000000000000" pitchFamily="2" charset="2"/>
              <a:buChar char="Ø"/>
            </a:pPr>
            <a:r>
              <a:rPr lang="en-US" sz="2800" dirty="0">
                <a:latin typeface="+mn-lt"/>
              </a:rPr>
              <a:t>Focus on cache controller FSMs</a:t>
            </a:r>
          </a:p>
        </p:txBody>
      </p:sp>
    </p:spTree>
    <p:custDataLst>
      <p:tags r:id="rId1"/>
    </p:custDataLst>
    <p:extLst>
      <p:ext uri="{BB962C8B-B14F-4D97-AF65-F5344CB8AC3E}">
        <p14:creationId xmlns:p14="http://schemas.microsoft.com/office/powerpoint/2010/main" val="217490623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descr=" 3">
            <a:extLst>
              <a:ext uri="{FF2B5EF4-FFF2-40B4-BE49-F238E27FC236}">
                <a16:creationId xmlns:a16="http://schemas.microsoft.com/office/drawing/2014/main" id="{90B67259-3CA5-48AF-AE68-4D1BAA259AC6}"/>
              </a:ext>
            </a:extLst>
          </p:cNvPr>
          <p:cNvSpPr txBox="1"/>
          <p:nvPr>
            <p:custDataLst>
              <p:tags r:id="rId2"/>
            </p:custDataLst>
          </p:nvPr>
        </p:nvSpPr>
        <p:spPr>
          <a:xfrm>
            <a:off x="395197" y="1600200"/>
            <a:ext cx="8538133" cy="4665064"/>
          </a:xfrm>
          <a:prstGeom prst="rect">
            <a:avLst/>
          </a:prstGeom>
          <a:noFill/>
        </p:spPr>
        <p:txBody>
          <a:bodyPr wrap="square" rtlCol="0" anchor="t">
            <a:noAutofit/>
          </a:bodyPr>
          <a:lstStyle/>
          <a:p>
            <a:r>
              <a:rPr lang="en-US" sz="2000" b="1" dirty="0">
                <a:latin typeface="+mn-lt"/>
              </a:rPr>
              <a:t>States</a:t>
            </a:r>
            <a:r>
              <a:rPr lang="en-US" sz="2000" dirty="0">
                <a:latin typeface="+mn-lt"/>
              </a:rPr>
              <a:t>:</a:t>
            </a:r>
          </a:p>
          <a:p>
            <a:pPr marL="342900" indent="-342900">
              <a:buFont typeface="Wingdings" panose="05000000000000000000" pitchFamily="2" charset="2"/>
              <a:buChar char="Ø"/>
            </a:pPr>
            <a:r>
              <a:rPr lang="en-US" sz="2000" i="1" dirty="0">
                <a:latin typeface="+mn-lt"/>
              </a:rPr>
              <a:t>Modified (M)</a:t>
            </a:r>
            <a:r>
              <a:rPr lang="en-US" sz="2000" dirty="0">
                <a:latin typeface="+mn-lt"/>
              </a:rPr>
              <a:t> state: Reads and writes allowed; cache has only copy of block</a:t>
            </a:r>
          </a:p>
          <a:p>
            <a:pPr marL="342900" indent="-342900">
              <a:buFont typeface="Wingdings" panose="05000000000000000000" pitchFamily="2" charset="2"/>
              <a:buChar char="Ø"/>
            </a:pPr>
            <a:r>
              <a:rPr lang="en-US" sz="2000" i="1" dirty="0">
                <a:latin typeface="+mn-lt"/>
              </a:rPr>
              <a:t>Invalid (I)</a:t>
            </a:r>
            <a:r>
              <a:rPr lang="en-US" sz="2000" dirty="0">
                <a:latin typeface="+mn-lt"/>
              </a:rPr>
              <a:t> state: Block is not cached</a:t>
            </a:r>
          </a:p>
          <a:p>
            <a:endParaRPr lang="en-US" sz="1800" dirty="0">
              <a:latin typeface="+mn-lt"/>
            </a:endParaRPr>
          </a:p>
          <a:p>
            <a:r>
              <a:rPr lang="en-US" sz="2000" b="1" dirty="0">
                <a:latin typeface="+mn-lt"/>
              </a:rPr>
              <a:t>Events/Actions:</a:t>
            </a:r>
          </a:p>
          <a:p>
            <a:pPr marL="342900" indent="-342900">
              <a:buFont typeface="Wingdings" panose="05000000000000000000" pitchFamily="2" charset="2"/>
              <a:buChar char="Ø"/>
            </a:pPr>
            <a:r>
              <a:rPr lang="en-US" sz="2000" i="1" dirty="0">
                <a:latin typeface="+mn-lt"/>
              </a:rPr>
              <a:t>Load</a:t>
            </a:r>
            <a:r>
              <a:rPr lang="en-US" sz="2000" dirty="0">
                <a:latin typeface="+mn-lt"/>
              </a:rPr>
              <a:t>: read request from core to cache</a:t>
            </a:r>
          </a:p>
          <a:p>
            <a:pPr marL="342900" indent="-342900">
              <a:buFont typeface="Wingdings" panose="05000000000000000000" pitchFamily="2" charset="2"/>
              <a:buChar char="Ø"/>
            </a:pPr>
            <a:r>
              <a:rPr lang="en-US" sz="2000" i="1" dirty="0">
                <a:latin typeface="+mn-lt"/>
              </a:rPr>
              <a:t>Store</a:t>
            </a:r>
            <a:r>
              <a:rPr lang="en-US" sz="2000" dirty="0">
                <a:latin typeface="+mn-lt"/>
              </a:rPr>
              <a:t>: write request from core to cache</a:t>
            </a:r>
          </a:p>
          <a:p>
            <a:pPr marL="342900" indent="-342900">
              <a:buFont typeface="Wingdings" panose="05000000000000000000" pitchFamily="2" charset="2"/>
              <a:buChar char="Ø"/>
            </a:pPr>
            <a:r>
              <a:rPr lang="en-US" sz="2000" i="1" dirty="0">
                <a:latin typeface="+mn-lt"/>
              </a:rPr>
              <a:t>Evict: </a:t>
            </a:r>
            <a:r>
              <a:rPr lang="en-US" sz="2000" dirty="0">
                <a:latin typeface="+mn-lt"/>
              </a:rPr>
              <a:t>removal of block from cache</a:t>
            </a:r>
          </a:p>
          <a:p>
            <a:pPr marL="342900" indent="-342900">
              <a:buFont typeface="Wingdings" panose="05000000000000000000" pitchFamily="2" charset="2"/>
              <a:buChar char="Ø"/>
            </a:pPr>
            <a:r>
              <a:rPr lang="en-US" sz="2000" i="1" dirty="0" err="1">
                <a:latin typeface="+mn-lt"/>
              </a:rPr>
              <a:t>BusRdX</a:t>
            </a:r>
            <a:r>
              <a:rPr lang="en-US" sz="2000" dirty="0">
                <a:latin typeface="+mn-lt"/>
              </a:rPr>
              <a:t>: exclusive (write) request from cache to memory</a:t>
            </a:r>
          </a:p>
          <a:p>
            <a:pPr marL="342900" indent="-342900">
              <a:buFont typeface="Wingdings" panose="05000000000000000000" pitchFamily="2" charset="2"/>
              <a:buChar char="Ø"/>
            </a:pPr>
            <a:r>
              <a:rPr lang="en-US" sz="2000" i="1" dirty="0" err="1">
                <a:latin typeface="+mn-lt"/>
              </a:rPr>
              <a:t>BusReply</a:t>
            </a:r>
            <a:r>
              <a:rPr lang="en-US" sz="2000" dirty="0">
                <a:latin typeface="+mn-lt"/>
              </a:rPr>
              <a:t>: send block to requesting cache</a:t>
            </a:r>
          </a:p>
          <a:p>
            <a:pPr marL="342900" indent="-342900">
              <a:buFont typeface="Wingdings" panose="05000000000000000000" pitchFamily="2" charset="2"/>
              <a:buChar char="Ø"/>
            </a:pPr>
            <a:r>
              <a:rPr lang="en-US" sz="2000" i="1" dirty="0" err="1">
                <a:latin typeface="+mn-lt"/>
              </a:rPr>
              <a:t>BusWB</a:t>
            </a:r>
            <a:r>
              <a:rPr lang="en-US" sz="2000" dirty="0">
                <a:latin typeface="+mn-lt"/>
              </a:rPr>
              <a:t>: send block to memory</a:t>
            </a:r>
          </a:p>
        </p:txBody>
      </p:sp>
      <p:sp>
        <p:nvSpPr>
          <p:cNvPr id="5" name="Rectangle 2">
            <a:extLst>
              <a:ext uri="{FF2B5EF4-FFF2-40B4-BE49-F238E27FC236}">
                <a16:creationId xmlns:a16="http://schemas.microsoft.com/office/drawing/2014/main" id="{0C689753-4096-48A9-85DE-2C1582F9CE87}"/>
              </a:ext>
            </a:extLst>
          </p:cNvPr>
          <p:cNvSpPr>
            <a:spLocks noGrp="1" noChangeArrowheads="1"/>
          </p:cNvSpPr>
          <p:nvPr>
            <p:ph type="title"/>
            <p:custDataLst>
              <p:tags r:id="rId3"/>
            </p:custDataLst>
          </p:nvPr>
        </p:nvSpPr>
        <p:spPr>
          <a:xfrm>
            <a:off x="457200" y="274638"/>
            <a:ext cx="7467600" cy="1143000"/>
          </a:xfrm>
        </p:spPr>
        <p:txBody>
          <a:bodyPr/>
          <a:lstStyle/>
          <a:p>
            <a:pPr eaLnBrk="1" hangingPunct="1"/>
            <a:r>
              <a:rPr lang="en-US" altLang="en-US" dirty="0">
                <a:latin typeface="+mn-lt"/>
              </a:rPr>
              <a:t>MI Protocol</a:t>
            </a:r>
          </a:p>
        </p:txBody>
      </p:sp>
      <p:grpSp>
        <p:nvGrpSpPr>
          <p:cNvPr id="17" name="Group 16">
            <a:extLst>
              <a:ext uri="{FF2B5EF4-FFF2-40B4-BE49-F238E27FC236}">
                <a16:creationId xmlns:a16="http://schemas.microsoft.com/office/drawing/2014/main" id="{28D483B6-8466-4C50-876D-92EA7FDEFA09}"/>
              </a:ext>
            </a:extLst>
          </p:cNvPr>
          <p:cNvGrpSpPr/>
          <p:nvPr>
            <p:custDataLst>
              <p:tags r:id="rId4"/>
            </p:custDataLst>
          </p:nvPr>
        </p:nvGrpSpPr>
        <p:grpSpPr>
          <a:xfrm>
            <a:off x="5475495" y="4284464"/>
            <a:ext cx="3287504" cy="2496145"/>
            <a:chOff x="5475495" y="4284464"/>
            <a:chExt cx="3287504" cy="2496145"/>
          </a:xfrm>
        </p:grpSpPr>
        <p:sp>
          <p:nvSpPr>
            <p:cNvPr id="18" name="Oval 7">
              <a:extLst>
                <a:ext uri="{FF2B5EF4-FFF2-40B4-BE49-F238E27FC236}">
                  <a16:creationId xmlns:a16="http://schemas.microsoft.com/office/drawing/2014/main" id="{939A5561-60FB-4325-94E1-6AA8B327406B}"/>
                </a:ext>
              </a:extLst>
            </p:cNvPr>
            <p:cNvSpPr>
              <a:spLocks noChangeArrowheads="1"/>
            </p:cNvSpPr>
            <p:nvPr>
              <p:custDataLst>
                <p:tags r:id="rId6"/>
              </p:custDataLst>
            </p:nvPr>
          </p:nvSpPr>
          <p:spPr bwMode="auto">
            <a:xfrm>
              <a:off x="6902246" y="4904184"/>
              <a:ext cx="461338" cy="619125"/>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1650" dirty="0"/>
                <a:t>M</a:t>
              </a:r>
            </a:p>
          </p:txBody>
        </p:sp>
        <p:sp>
          <p:nvSpPr>
            <p:cNvPr id="19" name="Oval 8">
              <a:extLst>
                <a:ext uri="{FF2B5EF4-FFF2-40B4-BE49-F238E27FC236}">
                  <a16:creationId xmlns:a16="http://schemas.microsoft.com/office/drawing/2014/main" id="{23615FEA-34FE-47A1-BFD9-7AE31E7BEC5E}"/>
                </a:ext>
              </a:extLst>
            </p:cNvPr>
            <p:cNvSpPr>
              <a:spLocks noChangeArrowheads="1"/>
            </p:cNvSpPr>
            <p:nvPr>
              <p:custDataLst>
                <p:tags r:id="rId7"/>
              </p:custDataLst>
            </p:nvPr>
          </p:nvSpPr>
          <p:spPr bwMode="auto">
            <a:xfrm>
              <a:off x="6949266" y="6161484"/>
              <a:ext cx="461338" cy="619125"/>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1650" dirty="0"/>
                <a:t>I</a:t>
              </a:r>
            </a:p>
          </p:txBody>
        </p:sp>
        <p:sp>
          <p:nvSpPr>
            <p:cNvPr id="20" name="Arc 9">
              <a:extLst>
                <a:ext uri="{FF2B5EF4-FFF2-40B4-BE49-F238E27FC236}">
                  <a16:creationId xmlns:a16="http://schemas.microsoft.com/office/drawing/2014/main" id="{A2D62C28-ED63-455D-932F-0430DC87327B}"/>
                </a:ext>
              </a:extLst>
            </p:cNvPr>
            <p:cNvSpPr>
              <a:spLocks/>
            </p:cNvSpPr>
            <p:nvPr>
              <p:custDataLst>
                <p:tags r:id="rId8"/>
              </p:custDataLst>
            </p:nvPr>
          </p:nvSpPr>
          <p:spPr bwMode="auto">
            <a:xfrm rot="4920000">
              <a:off x="6966450" y="4404352"/>
              <a:ext cx="721519" cy="481744"/>
            </a:xfrm>
            <a:custGeom>
              <a:avLst/>
              <a:gdLst>
                <a:gd name="T0" fmla="*/ 505 w 43200"/>
                <a:gd name="T1" fmla="*/ 474 h 43200"/>
                <a:gd name="T2" fmla="*/ 599 w 43200"/>
                <a:gd name="T3" fmla="*/ 328 h 43200"/>
                <a:gd name="T4" fmla="*/ 303 w 43200"/>
                <a:gd name="T5" fmla="*/ 272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path>
                <a:path w="43200" h="43200" stroke="0"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lnTo>
                    <a:pt x="21600" y="21600"/>
                  </a:lnTo>
                  <a:close/>
                </a:path>
              </a:pathLst>
            </a:custGeom>
            <a:noFill/>
            <a:ln w="12700" cap="rnd">
              <a:solidFill>
                <a:schemeClr val="tx1"/>
              </a:solidFill>
              <a:round/>
              <a:headEnd/>
              <a:tailEnd type="triangle" w="med" len="med"/>
            </a:ln>
          </p:spPr>
          <p:txBody>
            <a:bodyPr wrap="none" anchor="ctr"/>
            <a:lstStyle/>
            <a:p>
              <a:endParaRPr lang="en-US" sz="750" dirty="0">
                <a:latin typeface="+mn-lt"/>
              </a:endParaRPr>
            </a:p>
          </p:txBody>
        </p:sp>
        <p:sp>
          <p:nvSpPr>
            <p:cNvPr id="21" name="Arc 10">
              <a:extLst>
                <a:ext uri="{FF2B5EF4-FFF2-40B4-BE49-F238E27FC236}">
                  <a16:creationId xmlns:a16="http://schemas.microsoft.com/office/drawing/2014/main" id="{01A7D24D-22CC-470F-B9E4-AAB679331BBA}"/>
                </a:ext>
              </a:extLst>
            </p:cNvPr>
            <p:cNvSpPr>
              <a:spLocks/>
            </p:cNvSpPr>
            <p:nvPr>
              <p:custDataLst>
                <p:tags r:id="rId9"/>
              </p:custDataLst>
            </p:nvPr>
          </p:nvSpPr>
          <p:spPr bwMode="auto">
            <a:xfrm rot="4920000">
              <a:off x="7111248" y="5540558"/>
              <a:ext cx="1075134" cy="497713"/>
            </a:xfrm>
            <a:custGeom>
              <a:avLst/>
              <a:gdLst>
                <a:gd name="T0" fmla="*/ 3 w 43200"/>
                <a:gd name="T1" fmla="*/ 512 h 26189"/>
                <a:gd name="T2" fmla="*/ 893 w 43200"/>
                <a:gd name="T3" fmla="*/ 561 h 26189"/>
                <a:gd name="T4" fmla="*/ 452 w 43200"/>
                <a:gd name="T5" fmla="*/ 463 h 26189"/>
                <a:gd name="T6" fmla="*/ 0 60000 65536"/>
                <a:gd name="T7" fmla="*/ 0 60000 65536"/>
                <a:gd name="T8" fmla="*/ 0 60000 65536"/>
                <a:gd name="T9" fmla="*/ 0 w 43200"/>
                <a:gd name="T10" fmla="*/ 0 h 26189"/>
                <a:gd name="T11" fmla="*/ 43200 w 43200"/>
                <a:gd name="T12" fmla="*/ 26189 h 26189"/>
              </a:gdLst>
              <a:ahLst/>
              <a:cxnLst>
                <a:cxn ang="T6">
                  <a:pos x="T0" y="T1"/>
                </a:cxn>
                <a:cxn ang="T7">
                  <a:pos x="T2" y="T3"/>
                </a:cxn>
                <a:cxn ang="T8">
                  <a:pos x="T4" y="T5"/>
                </a:cxn>
              </a:cxnLst>
              <a:rect l="T9" t="T10" r="T11" b="T12"/>
              <a:pathLst>
                <a:path w="43200" h="26189" fill="none" extrusionOk="0">
                  <a:moveTo>
                    <a:pt x="120" y="23883"/>
                  </a:moveTo>
                  <a:cubicBezTo>
                    <a:pt x="40" y="23124"/>
                    <a:pt x="0" y="22362"/>
                    <a:pt x="0" y="21600"/>
                  </a:cubicBezTo>
                  <a:cubicBezTo>
                    <a:pt x="0" y="9670"/>
                    <a:pt x="9670" y="0"/>
                    <a:pt x="21600" y="0"/>
                  </a:cubicBezTo>
                  <a:cubicBezTo>
                    <a:pt x="33529" y="0"/>
                    <a:pt x="43200" y="9670"/>
                    <a:pt x="43200" y="21600"/>
                  </a:cubicBezTo>
                  <a:cubicBezTo>
                    <a:pt x="43200" y="23142"/>
                    <a:pt x="43034" y="24681"/>
                    <a:pt x="42706" y="26188"/>
                  </a:cubicBezTo>
                </a:path>
                <a:path w="43200" h="26189" stroke="0" extrusionOk="0">
                  <a:moveTo>
                    <a:pt x="120" y="23883"/>
                  </a:moveTo>
                  <a:cubicBezTo>
                    <a:pt x="40" y="23124"/>
                    <a:pt x="0" y="22362"/>
                    <a:pt x="0" y="21600"/>
                  </a:cubicBezTo>
                  <a:cubicBezTo>
                    <a:pt x="0" y="9670"/>
                    <a:pt x="9670" y="0"/>
                    <a:pt x="21600" y="0"/>
                  </a:cubicBezTo>
                  <a:cubicBezTo>
                    <a:pt x="33529" y="0"/>
                    <a:pt x="43200" y="9670"/>
                    <a:pt x="43200" y="21600"/>
                  </a:cubicBezTo>
                  <a:cubicBezTo>
                    <a:pt x="43200" y="23142"/>
                    <a:pt x="43034" y="24681"/>
                    <a:pt x="42706" y="26188"/>
                  </a:cubicBezTo>
                  <a:lnTo>
                    <a:pt x="21600" y="21600"/>
                  </a:lnTo>
                  <a:close/>
                </a:path>
              </a:pathLst>
            </a:custGeom>
            <a:noFill/>
            <a:ln w="12700" cap="rnd">
              <a:solidFill>
                <a:schemeClr val="tx1"/>
              </a:solidFill>
              <a:round/>
              <a:headEnd/>
              <a:tailEnd type="triangle" w="med" len="med"/>
            </a:ln>
          </p:spPr>
          <p:txBody>
            <a:bodyPr wrap="none" anchor="ctr"/>
            <a:lstStyle/>
            <a:p>
              <a:endParaRPr lang="en-US" sz="750" dirty="0">
                <a:latin typeface="+mn-lt"/>
              </a:endParaRPr>
            </a:p>
          </p:txBody>
        </p:sp>
        <p:sp>
          <p:nvSpPr>
            <p:cNvPr id="22" name="Rectangle 12">
              <a:extLst>
                <a:ext uri="{FF2B5EF4-FFF2-40B4-BE49-F238E27FC236}">
                  <a16:creationId xmlns:a16="http://schemas.microsoft.com/office/drawing/2014/main" id="{1D06ED08-78B3-4AAE-AFAC-9016E78096D3}"/>
                </a:ext>
              </a:extLst>
            </p:cNvPr>
            <p:cNvSpPr>
              <a:spLocks noChangeArrowheads="1"/>
            </p:cNvSpPr>
            <p:nvPr>
              <p:custDataLst>
                <p:tags r:id="rId10"/>
              </p:custDataLst>
            </p:nvPr>
          </p:nvSpPr>
          <p:spPr bwMode="auto">
            <a:xfrm>
              <a:off x="7543800" y="4594029"/>
              <a:ext cx="581636" cy="282771"/>
            </a:xfrm>
            <a:prstGeom prst="rect">
              <a:avLst/>
            </a:prstGeom>
            <a:noFill/>
            <a:ln w="12700">
              <a:noFill/>
              <a:prstDash val="sysDot"/>
              <a:miter lim="800000"/>
              <a:headEnd/>
              <a:tailEnd/>
            </a:ln>
          </p:spPr>
          <p:txBody>
            <a:bodyPr wrap="none" lIns="67866" tIns="33338" rIns="67866" bIns="33338">
              <a:spAutoFit/>
            </a:bodyPr>
            <a:lstStyle/>
            <a:p>
              <a:r>
                <a:rPr lang="en-US" sz="1400" dirty="0">
                  <a:latin typeface="+mn-lt"/>
                </a:rPr>
                <a:t>Store / --</a:t>
              </a:r>
            </a:p>
          </p:txBody>
        </p:sp>
        <p:sp>
          <p:nvSpPr>
            <p:cNvPr id="23" name="Rectangle 17">
              <a:extLst>
                <a:ext uri="{FF2B5EF4-FFF2-40B4-BE49-F238E27FC236}">
                  <a16:creationId xmlns:a16="http://schemas.microsoft.com/office/drawing/2014/main" id="{FAE248D7-97C0-4DCB-A9A5-D0F736260246}"/>
                </a:ext>
              </a:extLst>
            </p:cNvPr>
            <p:cNvSpPr>
              <a:spLocks noChangeArrowheads="1"/>
            </p:cNvSpPr>
            <p:nvPr>
              <p:custDataLst>
                <p:tags r:id="rId11"/>
              </p:custDataLst>
            </p:nvPr>
          </p:nvSpPr>
          <p:spPr bwMode="auto">
            <a:xfrm>
              <a:off x="5475495" y="6019800"/>
              <a:ext cx="883311" cy="282771"/>
            </a:xfrm>
            <a:prstGeom prst="rect">
              <a:avLst/>
            </a:prstGeom>
            <a:noFill/>
            <a:ln w="12700">
              <a:noFill/>
              <a:prstDash val="sysDot"/>
              <a:miter lim="800000"/>
              <a:headEnd/>
              <a:tailEnd/>
            </a:ln>
          </p:spPr>
          <p:txBody>
            <a:bodyPr wrap="none" lIns="67866" tIns="33338" rIns="67866" bIns="33338">
              <a:spAutoFit/>
            </a:bodyPr>
            <a:lstStyle/>
            <a:p>
              <a:r>
                <a:rPr lang="en-US" sz="1400" dirty="0">
                  <a:latin typeface="+mn-lt"/>
                </a:rPr>
                <a:t>Load / </a:t>
              </a:r>
              <a:r>
                <a:rPr lang="en-US" sz="1400" dirty="0" err="1">
                  <a:latin typeface="+mn-lt"/>
                </a:rPr>
                <a:t>BusRdX</a:t>
              </a:r>
              <a:endParaRPr lang="en-US" sz="1400" dirty="0">
                <a:latin typeface="+mn-lt"/>
              </a:endParaRPr>
            </a:p>
          </p:txBody>
        </p:sp>
        <p:sp>
          <p:nvSpPr>
            <p:cNvPr id="24" name="Arc 18">
              <a:extLst>
                <a:ext uri="{FF2B5EF4-FFF2-40B4-BE49-F238E27FC236}">
                  <a16:creationId xmlns:a16="http://schemas.microsoft.com/office/drawing/2014/main" id="{5E0FC62B-7DCD-485E-A563-C2A5FE8EFD22}"/>
                </a:ext>
              </a:extLst>
            </p:cNvPr>
            <p:cNvSpPr>
              <a:spLocks/>
            </p:cNvSpPr>
            <p:nvPr>
              <p:custDataLst>
                <p:tags r:id="rId12"/>
              </p:custDataLst>
            </p:nvPr>
          </p:nvSpPr>
          <p:spPr bwMode="auto">
            <a:xfrm rot="15720000">
              <a:off x="6174377" y="5538177"/>
              <a:ext cx="1075134" cy="497713"/>
            </a:xfrm>
            <a:custGeom>
              <a:avLst/>
              <a:gdLst>
                <a:gd name="T0" fmla="*/ 3 w 43200"/>
                <a:gd name="T1" fmla="*/ 512 h 26189"/>
                <a:gd name="T2" fmla="*/ 893 w 43200"/>
                <a:gd name="T3" fmla="*/ 561 h 26189"/>
                <a:gd name="T4" fmla="*/ 452 w 43200"/>
                <a:gd name="T5" fmla="*/ 463 h 26189"/>
                <a:gd name="T6" fmla="*/ 0 60000 65536"/>
                <a:gd name="T7" fmla="*/ 0 60000 65536"/>
                <a:gd name="T8" fmla="*/ 0 60000 65536"/>
                <a:gd name="T9" fmla="*/ 0 w 43200"/>
                <a:gd name="T10" fmla="*/ 0 h 26189"/>
                <a:gd name="T11" fmla="*/ 43200 w 43200"/>
                <a:gd name="T12" fmla="*/ 26189 h 26189"/>
              </a:gdLst>
              <a:ahLst/>
              <a:cxnLst>
                <a:cxn ang="T6">
                  <a:pos x="T0" y="T1"/>
                </a:cxn>
                <a:cxn ang="T7">
                  <a:pos x="T2" y="T3"/>
                </a:cxn>
                <a:cxn ang="T8">
                  <a:pos x="T4" y="T5"/>
                </a:cxn>
              </a:cxnLst>
              <a:rect l="T9" t="T10" r="T11" b="T12"/>
              <a:pathLst>
                <a:path w="43200" h="26189" fill="none" extrusionOk="0">
                  <a:moveTo>
                    <a:pt x="120" y="23883"/>
                  </a:moveTo>
                  <a:cubicBezTo>
                    <a:pt x="40" y="23124"/>
                    <a:pt x="0" y="22362"/>
                    <a:pt x="0" y="21600"/>
                  </a:cubicBezTo>
                  <a:cubicBezTo>
                    <a:pt x="0" y="9670"/>
                    <a:pt x="9670" y="0"/>
                    <a:pt x="21600" y="0"/>
                  </a:cubicBezTo>
                  <a:cubicBezTo>
                    <a:pt x="33529" y="0"/>
                    <a:pt x="43200" y="9670"/>
                    <a:pt x="43200" y="21600"/>
                  </a:cubicBezTo>
                  <a:cubicBezTo>
                    <a:pt x="43200" y="23142"/>
                    <a:pt x="43034" y="24681"/>
                    <a:pt x="42706" y="26188"/>
                  </a:cubicBezTo>
                </a:path>
                <a:path w="43200" h="26189" stroke="0" extrusionOk="0">
                  <a:moveTo>
                    <a:pt x="120" y="23883"/>
                  </a:moveTo>
                  <a:cubicBezTo>
                    <a:pt x="40" y="23124"/>
                    <a:pt x="0" y="22362"/>
                    <a:pt x="0" y="21600"/>
                  </a:cubicBezTo>
                  <a:cubicBezTo>
                    <a:pt x="0" y="9670"/>
                    <a:pt x="9670" y="0"/>
                    <a:pt x="21600" y="0"/>
                  </a:cubicBezTo>
                  <a:cubicBezTo>
                    <a:pt x="33529" y="0"/>
                    <a:pt x="43200" y="9670"/>
                    <a:pt x="43200" y="21600"/>
                  </a:cubicBezTo>
                  <a:cubicBezTo>
                    <a:pt x="43200" y="23142"/>
                    <a:pt x="43034" y="24681"/>
                    <a:pt x="42706" y="26188"/>
                  </a:cubicBezTo>
                  <a:lnTo>
                    <a:pt x="21600" y="21600"/>
                  </a:lnTo>
                  <a:close/>
                </a:path>
              </a:pathLst>
            </a:custGeom>
            <a:noFill/>
            <a:ln w="12700" cap="rnd">
              <a:solidFill>
                <a:schemeClr val="tx1"/>
              </a:solidFill>
              <a:round/>
              <a:headEnd/>
              <a:tailEnd type="triangle" w="med" len="med"/>
            </a:ln>
          </p:spPr>
          <p:txBody>
            <a:bodyPr wrap="none" anchor="ctr"/>
            <a:lstStyle/>
            <a:p>
              <a:endParaRPr lang="en-US" sz="750" dirty="0">
                <a:latin typeface="+mn-lt"/>
              </a:endParaRPr>
            </a:p>
          </p:txBody>
        </p:sp>
        <p:sp>
          <p:nvSpPr>
            <p:cNvPr id="25" name="Rectangle 19">
              <a:extLst>
                <a:ext uri="{FF2B5EF4-FFF2-40B4-BE49-F238E27FC236}">
                  <a16:creationId xmlns:a16="http://schemas.microsoft.com/office/drawing/2014/main" id="{52754320-BB42-4548-B715-59D7AFB574D0}"/>
                </a:ext>
              </a:extLst>
            </p:cNvPr>
            <p:cNvSpPr>
              <a:spLocks noChangeArrowheads="1"/>
            </p:cNvSpPr>
            <p:nvPr>
              <p:custDataLst>
                <p:tags r:id="rId13"/>
              </p:custDataLst>
            </p:nvPr>
          </p:nvSpPr>
          <p:spPr bwMode="auto">
            <a:xfrm>
              <a:off x="7614107" y="4390527"/>
              <a:ext cx="556027" cy="282771"/>
            </a:xfrm>
            <a:prstGeom prst="rect">
              <a:avLst/>
            </a:prstGeom>
            <a:noFill/>
            <a:ln w="12700">
              <a:noFill/>
              <a:prstDash val="sysDot"/>
              <a:miter lim="800000"/>
              <a:headEnd/>
              <a:tailEnd/>
            </a:ln>
          </p:spPr>
          <p:txBody>
            <a:bodyPr wrap="none" lIns="67866" tIns="33338" rIns="67866" bIns="33338">
              <a:spAutoFit/>
            </a:bodyPr>
            <a:lstStyle/>
            <a:p>
              <a:r>
                <a:rPr lang="en-US" sz="1400" dirty="0">
                  <a:latin typeface="+mn-lt"/>
                </a:rPr>
                <a:t>Load / --</a:t>
              </a:r>
            </a:p>
          </p:txBody>
        </p:sp>
        <p:sp>
          <p:nvSpPr>
            <p:cNvPr id="26" name="Rectangle 14">
              <a:extLst>
                <a:ext uri="{FF2B5EF4-FFF2-40B4-BE49-F238E27FC236}">
                  <a16:creationId xmlns:a16="http://schemas.microsoft.com/office/drawing/2014/main" id="{ACCD569D-751B-458C-BCC8-12C48502C83C}"/>
                </a:ext>
              </a:extLst>
            </p:cNvPr>
            <p:cNvSpPr>
              <a:spLocks noChangeArrowheads="1"/>
            </p:cNvSpPr>
            <p:nvPr>
              <p:custDataLst>
                <p:tags r:id="rId14"/>
              </p:custDataLst>
            </p:nvPr>
          </p:nvSpPr>
          <p:spPr bwMode="auto">
            <a:xfrm>
              <a:off x="7645523" y="6341497"/>
              <a:ext cx="1117476" cy="282771"/>
            </a:xfrm>
            <a:prstGeom prst="rect">
              <a:avLst/>
            </a:prstGeom>
            <a:noFill/>
            <a:ln w="12700">
              <a:noFill/>
              <a:prstDash val="sysDot"/>
              <a:miter lim="800000"/>
              <a:headEnd/>
              <a:tailEnd/>
            </a:ln>
          </p:spPr>
          <p:txBody>
            <a:bodyPr wrap="none" lIns="67866" tIns="33338" rIns="67866" bIns="33338">
              <a:spAutoFit/>
            </a:bodyPr>
            <a:lstStyle/>
            <a:p>
              <a:r>
                <a:rPr lang="en-US" sz="1400" dirty="0" err="1">
                  <a:latin typeface="+mn-lt"/>
                </a:rPr>
                <a:t>BusRdX</a:t>
              </a:r>
              <a:r>
                <a:rPr lang="en-US" sz="1400" dirty="0">
                  <a:latin typeface="+mn-lt"/>
                </a:rPr>
                <a:t> / </a:t>
              </a:r>
              <a:r>
                <a:rPr lang="en-US" sz="1400" dirty="0" err="1">
                  <a:latin typeface="+mn-lt"/>
                </a:rPr>
                <a:t>BusReply</a:t>
              </a:r>
              <a:endParaRPr lang="en-US" sz="1400" dirty="0">
                <a:latin typeface="+mn-lt"/>
              </a:endParaRPr>
            </a:p>
          </p:txBody>
        </p:sp>
        <p:sp>
          <p:nvSpPr>
            <p:cNvPr id="27" name="Rectangle 17">
              <a:extLst>
                <a:ext uri="{FF2B5EF4-FFF2-40B4-BE49-F238E27FC236}">
                  <a16:creationId xmlns:a16="http://schemas.microsoft.com/office/drawing/2014/main" id="{1F03BC17-70BB-4A8A-98B1-F9160D4EB6D4}"/>
                </a:ext>
              </a:extLst>
            </p:cNvPr>
            <p:cNvSpPr>
              <a:spLocks noChangeArrowheads="1"/>
            </p:cNvSpPr>
            <p:nvPr>
              <p:custDataLst>
                <p:tags r:id="rId15"/>
              </p:custDataLst>
            </p:nvPr>
          </p:nvSpPr>
          <p:spPr bwMode="auto">
            <a:xfrm>
              <a:off x="5491879" y="6250273"/>
              <a:ext cx="908921" cy="282771"/>
            </a:xfrm>
            <a:prstGeom prst="rect">
              <a:avLst/>
            </a:prstGeom>
            <a:noFill/>
            <a:ln w="12700">
              <a:noFill/>
              <a:prstDash val="sysDot"/>
              <a:miter lim="800000"/>
              <a:headEnd/>
              <a:tailEnd/>
            </a:ln>
          </p:spPr>
          <p:txBody>
            <a:bodyPr wrap="none" lIns="67866" tIns="33338" rIns="67866" bIns="33338">
              <a:spAutoFit/>
            </a:bodyPr>
            <a:lstStyle/>
            <a:p>
              <a:r>
                <a:rPr lang="en-US" sz="1400" dirty="0">
                  <a:latin typeface="+mn-lt"/>
                </a:rPr>
                <a:t>Store / </a:t>
              </a:r>
              <a:r>
                <a:rPr lang="en-US" sz="1400" dirty="0" err="1">
                  <a:latin typeface="+mn-lt"/>
                </a:rPr>
                <a:t>BusRdX</a:t>
              </a:r>
              <a:endParaRPr lang="en-US" sz="1400" dirty="0">
                <a:latin typeface="+mn-lt"/>
              </a:endParaRPr>
            </a:p>
          </p:txBody>
        </p:sp>
        <p:sp>
          <p:nvSpPr>
            <p:cNvPr id="28" name="Rectangle 14">
              <a:extLst>
                <a:ext uri="{FF2B5EF4-FFF2-40B4-BE49-F238E27FC236}">
                  <a16:creationId xmlns:a16="http://schemas.microsoft.com/office/drawing/2014/main" id="{2E313C0E-3745-441C-8196-481366D4D995}"/>
                </a:ext>
              </a:extLst>
            </p:cNvPr>
            <p:cNvSpPr>
              <a:spLocks noChangeArrowheads="1"/>
            </p:cNvSpPr>
            <p:nvPr>
              <p:custDataLst>
                <p:tags r:id="rId16"/>
              </p:custDataLst>
            </p:nvPr>
          </p:nvSpPr>
          <p:spPr bwMode="auto">
            <a:xfrm>
              <a:off x="7783340" y="6132249"/>
              <a:ext cx="857464" cy="282771"/>
            </a:xfrm>
            <a:prstGeom prst="rect">
              <a:avLst/>
            </a:prstGeom>
            <a:noFill/>
            <a:ln w="12700">
              <a:noFill/>
              <a:prstDash val="sysDot"/>
              <a:miter lim="800000"/>
              <a:headEnd/>
              <a:tailEnd/>
            </a:ln>
          </p:spPr>
          <p:txBody>
            <a:bodyPr wrap="none" lIns="67866" tIns="33338" rIns="67866" bIns="33338">
              <a:spAutoFit/>
            </a:bodyPr>
            <a:lstStyle/>
            <a:p>
              <a:r>
                <a:rPr lang="en-US" sz="1400" dirty="0">
                  <a:latin typeface="+mn-lt"/>
                </a:rPr>
                <a:t>Evict / </a:t>
              </a:r>
              <a:r>
                <a:rPr lang="en-US" sz="1400" dirty="0" err="1">
                  <a:latin typeface="+mn-lt"/>
                </a:rPr>
                <a:t>BusWB</a:t>
              </a:r>
              <a:endParaRPr lang="en-US" sz="1400" dirty="0">
                <a:latin typeface="+mn-lt"/>
              </a:endParaRPr>
            </a:p>
          </p:txBody>
        </p:sp>
      </p:grpSp>
      <p:sp>
        <p:nvSpPr>
          <p:cNvPr id="29" name="TextBox 28">
            <a:extLst>
              <a:ext uri="{FF2B5EF4-FFF2-40B4-BE49-F238E27FC236}">
                <a16:creationId xmlns:a16="http://schemas.microsoft.com/office/drawing/2014/main" id="{2CE0442F-B16D-4967-9AC2-D174D6A501CF}"/>
              </a:ext>
            </a:extLst>
          </p:cNvPr>
          <p:cNvSpPr txBox="1"/>
          <p:nvPr>
            <p:custDataLst>
              <p:tags r:id="rId5"/>
            </p:custDataLst>
          </p:nvPr>
        </p:nvSpPr>
        <p:spPr>
          <a:xfrm>
            <a:off x="1939338" y="6360071"/>
            <a:ext cx="3209060" cy="420538"/>
          </a:xfrm>
          <a:prstGeom prst="rect">
            <a:avLst/>
          </a:prstGeom>
          <a:noFill/>
        </p:spPr>
        <p:txBody>
          <a:bodyPr wrap="square" rtlCol="0" anchor="ctr">
            <a:noAutofit/>
          </a:bodyPr>
          <a:lstStyle/>
          <a:p>
            <a:pPr algn="ctr"/>
            <a:r>
              <a:rPr lang="en-US" sz="1600" b="1" dirty="0">
                <a:solidFill>
                  <a:schemeClr val="accent6">
                    <a:lumMod val="75000"/>
                  </a:schemeClr>
                </a:solidFill>
                <a:latin typeface="+mn-lt"/>
              </a:rPr>
              <a:t>external event / cache action</a:t>
            </a:r>
          </a:p>
        </p:txBody>
      </p:sp>
      <p:cxnSp>
        <p:nvCxnSpPr>
          <p:cNvPr id="30" name="Straight Connector 29">
            <a:extLst>
              <a:ext uri="{FF2B5EF4-FFF2-40B4-BE49-F238E27FC236}">
                <a16:creationId xmlns:a16="http://schemas.microsoft.com/office/drawing/2014/main" id="{B28DA973-13DF-422F-A626-5104BB98501C}"/>
              </a:ext>
            </a:extLst>
          </p:cNvPr>
          <p:cNvCxnSpPr>
            <a:cxnSpLocks/>
          </p:cNvCxnSpPr>
          <p:nvPr/>
        </p:nvCxnSpPr>
        <p:spPr>
          <a:xfrm flipH="1">
            <a:off x="4798923" y="6391658"/>
            <a:ext cx="713855" cy="146653"/>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21369109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descr=" 5">
            <a:extLst>
              <a:ext uri="{FF2B5EF4-FFF2-40B4-BE49-F238E27FC236}">
                <a16:creationId xmlns:a16="http://schemas.microsoft.com/office/drawing/2014/main" id="{7B0DBF13-EEC3-4A4E-8B1B-75F5C46CF9A7}"/>
              </a:ext>
            </a:extLst>
          </p:cNvPr>
          <p:cNvSpPr>
            <a:spLocks noChangeArrowheads="1"/>
          </p:cNvSpPr>
          <p:nvPr>
            <p:custDataLst>
              <p:tags r:id="rId2"/>
            </p:custDataLst>
          </p:nvPr>
        </p:nvSpPr>
        <p:spPr bwMode="auto">
          <a:xfrm>
            <a:off x="3077510" y="4208386"/>
            <a:ext cx="3030813"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Bus</a:t>
            </a:r>
          </a:p>
        </p:txBody>
      </p:sp>
      <p:sp>
        <p:nvSpPr>
          <p:cNvPr id="6" name="Rectangle 6" descr=" 6">
            <a:extLst>
              <a:ext uri="{FF2B5EF4-FFF2-40B4-BE49-F238E27FC236}">
                <a16:creationId xmlns:a16="http://schemas.microsoft.com/office/drawing/2014/main" id="{CFB6722F-138D-4F55-9C50-93D5AFF8E77A}"/>
              </a:ext>
            </a:extLst>
          </p:cNvPr>
          <p:cNvSpPr>
            <a:spLocks noChangeArrowheads="1"/>
          </p:cNvSpPr>
          <p:nvPr>
            <p:custDataLst>
              <p:tags r:id="rId3"/>
            </p:custDataLst>
          </p:nvPr>
        </p:nvSpPr>
        <p:spPr bwMode="auto">
          <a:xfrm>
            <a:off x="2975162" y="2859409"/>
            <a:ext cx="625289" cy="431006"/>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P1</a:t>
            </a:r>
          </a:p>
        </p:txBody>
      </p:sp>
      <p:cxnSp>
        <p:nvCxnSpPr>
          <p:cNvPr id="7" name="AutoShape 9" descr=" 7">
            <a:extLst>
              <a:ext uri="{FF2B5EF4-FFF2-40B4-BE49-F238E27FC236}">
                <a16:creationId xmlns:a16="http://schemas.microsoft.com/office/drawing/2014/main" id="{34E890EC-2638-4E5E-8148-DAA305381118}"/>
              </a:ext>
            </a:extLst>
          </p:cNvPr>
          <p:cNvCxnSpPr>
            <a:cxnSpLocks noChangeShapeType="1"/>
            <a:endCxn id="15" idx="0"/>
          </p:cNvCxnSpPr>
          <p:nvPr>
            <p:custDataLst>
              <p:tags r:id="rId4"/>
            </p:custDataLst>
          </p:nvPr>
        </p:nvCxnSpPr>
        <p:spPr bwMode="auto">
          <a:xfrm rot="5400000">
            <a:off x="3206249" y="3384438"/>
            <a:ext cx="163116" cy="1"/>
          </a:xfrm>
          <a:prstGeom prst="bentConnector3">
            <a:avLst>
              <a:gd name="adj1" fmla="val 50000"/>
            </a:avLst>
          </a:prstGeom>
          <a:noFill/>
          <a:ln w="12700">
            <a:solidFill>
              <a:schemeClr val="tx1"/>
            </a:solidFill>
            <a:miter lim="800000"/>
            <a:headEnd type="none" w="sm" len="sm"/>
            <a:tailEnd type="triangle" w="med" len="med"/>
          </a:ln>
        </p:spPr>
      </p:cxnSp>
      <p:sp>
        <p:nvSpPr>
          <p:cNvPr id="8" name="Line 10" descr=" 8">
            <a:extLst>
              <a:ext uri="{FF2B5EF4-FFF2-40B4-BE49-F238E27FC236}">
                <a16:creationId xmlns:a16="http://schemas.microsoft.com/office/drawing/2014/main" id="{A52CB5F6-6B2B-4331-9C96-186B335E0D02}"/>
              </a:ext>
            </a:extLst>
          </p:cNvPr>
          <p:cNvSpPr>
            <a:spLocks noChangeShapeType="1"/>
          </p:cNvSpPr>
          <p:nvPr>
            <p:custDataLst>
              <p:tags r:id="rId5"/>
            </p:custDataLst>
          </p:nvPr>
        </p:nvSpPr>
        <p:spPr bwMode="auto">
          <a:xfrm>
            <a:off x="3294530" y="3925789"/>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sp>
        <p:nvSpPr>
          <p:cNvPr id="10" name="Rectangle 14" descr=" 10">
            <a:extLst>
              <a:ext uri="{FF2B5EF4-FFF2-40B4-BE49-F238E27FC236}">
                <a16:creationId xmlns:a16="http://schemas.microsoft.com/office/drawing/2014/main" id="{8D064CF1-63DC-4784-88DF-BCE7A49F4E62}"/>
              </a:ext>
            </a:extLst>
          </p:cNvPr>
          <p:cNvSpPr>
            <a:spLocks noChangeArrowheads="1"/>
          </p:cNvSpPr>
          <p:nvPr>
            <p:custDataLst>
              <p:tags r:id="rId6"/>
            </p:custDataLst>
          </p:nvPr>
        </p:nvSpPr>
        <p:spPr bwMode="auto">
          <a:xfrm>
            <a:off x="5661212" y="2859409"/>
            <a:ext cx="625289" cy="431006"/>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P2</a:t>
            </a:r>
          </a:p>
        </p:txBody>
      </p:sp>
      <p:cxnSp>
        <p:nvCxnSpPr>
          <p:cNvPr id="11" name="AutoShape 17" descr=" 11">
            <a:extLst>
              <a:ext uri="{FF2B5EF4-FFF2-40B4-BE49-F238E27FC236}">
                <a16:creationId xmlns:a16="http://schemas.microsoft.com/office/drawing/2014/main" id="{9A1D69F6-400F-4FE1-ADDD-EC425C70BDA5}"/>
              </a:ext>
            </a:extLst>
          </p:cNvPr>
          <p:cNvCxnSpPr>
            <a:cxnSpLocks noChangeShapeType="1"/>
            <a:stCxn id="10" idx="2"/>
            <a:endCxn id="16" idx="0"/>
          </p:cNvCxnSpPr>
          <p:nvPr>
            <p:custDataLst>
              <p:tags r:id="rId7"/>
            </p:custDataLst>
          </p:nvPr>
        </p:nvCxnSpPr>
        <p:spPr bwMode="auto">
          <a:xfrm rot="5400000">
            <a:off x="5888132" y="3376140"/>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12" name="Rectangle 21" descr=" 12">
            <a:extLst>
              <a:ext uri="{FF2B5EF4-FFF2-40B4-BE49-F238E27FC236}">
                <a16:creationId xmlns:a16="http://schemas.microsoft.com/office/drawing/2014/main" id="{830F51E4-4BB8-4E38-9D2E-01D5D0F4DF8E}"/>
              </a:ext>
            </a:extLst>
          </p:cNvPr>
          <p:cNvSpPr>
            <a:spLocks noChangeArrowheads="1"/>
          </p:cNvSpPr>
          <p:nvPr>
            <p:custDataLst>
              <p:tags r:id="rId8"/>
            </p:custDataLst>
          </p:nvPr>
        </p:nvSpPr>
        <p:spPr bwMode="auto">
          <a:xfrm>
            <a:off x="3734115" y="4725118"/>
            <a:ext cx="1717606"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0</a:t>
            </a:r>
            <a:endParaRPr lang="en-US" sz="1800" dirty="0"/>
          </a:p>
        </p:txBody>
      </p:sp>
      <p:sp>
        <p:nvSpPr>
          <p:cNvPr id="13" name="Line 10" descr=" 13">
            <a:extLst>
              <a:ext uri="{FF2B5EF4-FFF2-40B4-BE49-F238E27FC236}">
                <a16:creationId xmlns:a16="http://schemas.microsoft.com/office/drawing/2014/main" id="{F3E43F7B-3884-4F75-8733-D53A46767F28}"/>
              </a:ext>
            </a:extLst>
          </p:cNvPr>
          <p:cNvSpPr>
            <a:spLocks noChangeShapeType="1"/>
          </p:cNvSpPr>
          <p:nvPr>
            <p:custDataLst>
              <p:tags r:id="rId9"/>
            </p:custDataLst>
          </p:nvPr>
        </p:nvSpPr>
        <p:spPr bwMode="auto">
          <a:xfrm>
            <a:off x="5973856" y="3919065"/>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cxnSp>
        <p:nvCxnSpPr>
          <p:cNvPr id="14" name="Straight Arrow Connector 13" descr=" 14">
            <a:extLst>
              <a:ext uri="{FF2B5EF4-FFF2-40B4-BE49-F238E27FC236}">
                <a16:creationId xmlns:a16="http://schemas.microsoft.com/office/drawing/2014/main" id="{AC5683A1-2BD0-415B-A57D-44B0E4D5D470}"/>
              </a:ext>
            </a:extLst>
          </p:cNvPr>
          <p:cNvCxnSpPr>
            <a:stCxn id="5" idx="2"/>
            <a:endCxn id="12" idx="0"/>
          </p:cNvCxnSpPr>
          <p:nvPr/>
        </p:nvCxnSpPr>
        <p:spPr bwMode="auto">
          <a:xfrm rot="16200000" flipH="1">
            <a:off x="4475640" y="4607841"/>
            <a:ext cx="234554" cy="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5" name="Rectangle 21" descr=" 15">
            <a:extLst>
              <a:ext uri="{FF2B5EF4-FFF2-40B4-BE49-F238E27FC236}">
                <a16:creationId xmlns:a16="http://schemas.microsoft.com/office/drawing/2014/main" id="{D26DB25A-2C6E-4BEB-A326-32CC0B8B4046}"/>
              </a:ext>
            </a:extLst>
          </p:cNvPr>
          <p:cNvSpPr>
            <a:spLocks noChangeArrowheads="1"/>
          </p:cNvSpPr>
          <p:nvPr>
            <p:custDataLst>
              <p:tags r:id="rId10"/>
            </p:custDataLst>
          </p:nvPr>
        </p:nvSpPr>
        <p:spPr bwMode="auto">
          <a:xfrm>
            <a:off x="2830606" y="3465995"/>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[I]: --</a:t>
            </a:r>
            <a:endParaRPr lang="en-US" sz="1800" dirty="0"/>
          </a:p>
        </p:txBody>
      </p:sp>
      <p:sp>
        <p:nvSpPr>
          <p:cNvPr id="16" name="Rectangle 21" descr=" 16">
            <a:extLst>
              <a:ext uri="{FF2B5EF4-FFF2-40B4-BE49-F238E27FC236}">
                <a16:creationId xmlns:a16="http://schemas.microsoft.com/office/drawing/2014/main" id="{7574CD24-B6B9-4E07-A96E-7EBCFD1E59BA}"/>
              </a:ext>
            </a:extLst>
          </p:cNvPr>
          <p:cNvSpPr>
            <a:spLocks noChangeArrowheads="1"/>
          </p:cNvSpPr>
          <p:nvPr>
            <p:custDataLst>
              <p:tags r:id="rId11"/>
            </p:custDataLst>
          </p:nvPr>
        </p:nvSpPr>
        <p:spPr bwMode="auto">
          <a:xfrm>
            <a:off x="5516656" y="3461865"/>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[I]: --</a:t>
            </a:r>
            <a:endParaRPr lang="en-US" sz="1800" dirty="0"/>
          </a:p>
        </p:txBody>
      </p:sp>
      <p:sp>
        <p:nvSpPr>
          <p:cNvPr id="17" name="TextBox 16" descr=" 17">
            <a:extLst>
              <a:ext uri="{FF2B5EF4-FFF2-40B4-BE49-F238E27FC236}">
                <a16:creationId xmlns:a16="http://schemas.microsoft.com/office/drawing/2014/main" id="{00C3BC86-295D-4D7D-A4D2-9EEF02D2A4B3}"/>
              </a:ext>
            </a:extLst>
          </p:cNvPr>
          <p:cNvSpPr txBox="1"/>
          <p:nvPr>
            <p:custDataLst>
              <p:tags r:id="rId12"/>
            </p:custDataLst>
          </p:nvPr>
        </p:nvSpPr>
        <p:spPr>
          <a:xfrm>
            <a:off x="5459506" y="4947766"/>
            <a:ext cx="1076705" cy="276999"/>
          </a:xfrm>
          <a:prstGeom prst="rect">
            <a:avLst/>
          </a:prstGeom>
          <a:noFill/>
        </p:spPr>
        <p:txBody>
          <a:bodyPr wrap="none" rtlCol="0">
            <a:spAutoFit/>
          </a:bodyPr>
          <a:lstStyle/>
          <a:p>
            <a:r>
              <a:rPr lang="en-US" sz="1200" dirty="0">
                <a:latin typeface="+mn-lt"/>
              </a:rPr>
              <a:t>Main Memory</a:t>
            </a:r>
          </a:p>
        </p:txBody>
      </p:sp>
      <p:sp>
        <p:nvSpPr>
          <p:cNvPr id="24" name="Rectangle 22" descr=" 24">
            <a:extLst>
              <a:ext uri="{FF2B5EF4-FFF2-40B4-BE49-F238E27FC236}">
                <a16:creationId xmlns:a16="http://schemas.microsoft.com/office/drawing/2014/main" id="{C537AA7C-BA4F-445D-880D-5544524F35E8}"/>
              </a:ext>
            </a:extLst>
          </p:cNvPr>
          <p:cNvSpPr>
            <a:spLocks noChangeArrowheads="1"/>
          </p:cNvSpPr>
          <p:nvPr>
            <p:custDataLst>
              <p:tags r:id="rId13"/>
            </p:custDataLst>
          </p:nvPr>
        </p:nvSpPr>
        <p:spPr bwMode="auto">
          <a:xfrm>
            <a:off x="2830606" y="3690465"/>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1800" dirty="0"/>
          </a:p>
        </p:txBody>
      </p:sp>
      <p:sp>
        <p:nvSpPr>
          <p:cNvPr id="25" name="Rectangle 22" descr=" 25">
            <a:extLst>
              <a:ext uri="{FF2B5EF4-FFF2-40B4-BE49-F238E27FC236}">
                <a16:creationId xmlns:a16="http://schemas.microsoft.com/office/drawing/2014/main" id="{E69D5C80-D5CA-4CA2-8BD3-7F382A70FD13}"/>
              </a:ext>
            </a:extLst>
          </p:cNvPr>
          <p:cNvSpPr>
            <a:spLocks noChangeArrowheads="1"/>
          </p:cNvSpPr>
          <p:nvPr>
            <p:custDataLst>
              <p:tags r:id="rId14"/>
            </p:custDataLst>
          </p:nvPr>
        </p:nvSpPr>
        <p:spPr bwMode="auto">
          <a:xfrm>
            <a:off x="5516656" y="3698799"/>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1800" dirty="0"/>
          </a:p>
        </p:txBody>
      </p:sp>
      <p:sp>
        <p:nvSpPr>
          <p:cNvPr id="26" name="Rectangle 22" descr=" 26">
            <a:extLst>
              <a:ext uri="{FF2B5EF4-FFF2-40B4-BE49-F238E27FC236}">
                <a16:creationId xmlns:a16="http://schemas.microsoft.com/office/drawing/2014/main" id="{F38E3CA4-8260-4664-82A3-0F9B55A35D6C}"/>
              </a:ext>
            </a:extLst>
          </p:cNvPr>
          <p:cNvSpPr>
            <a:spLocks noChangeArrowheads="1"/>
          </p:cNvSpPr>
          <p:nvPr>
            <p:custDataLst>
              <p:tags r:id="rId15"/>
            </p:custDataLst>
          </p:nvPr>
        </p:nvSpPr>
        <p:spPr bwMode="auto">
          <a:xfrm>
            <a:off x="3734115" y="4962052"/>
            <a:ext cx="1717606"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1800" dirty="0"/>
          </a:p>
        </p:txBody>
      </p:sp>
      <p:sp>
        <p:nvSpPr>
          <p:cNvPr id="19" name="Rectangle 2">
            <a:extLst>
              <a:ext uri="{FF2B5EF4-FFF2-40B4-BE49-F238E27FC236}">
                <a16:creationId xmlns:a16="http://schemas.microsoft.com/office/drawing/2014/main" id="{4D028993-1648-4371-8C08-90667EE2D66A}"/>
              </a:ext>
            </a:extLst>
          </p:cNvPr>
          <p:cNvSpPr>
            <a:spLocks noGrp="1" noChangeArrowheads="1"/>
          </p:cNvSpPr>
          <p:nvPr>
            <p:ph type="title"/>
            <p:custDataLst>
              <p:tags r:id="rId16"/>
            </p:custDataLst>
          </p:nvPr>
        </p:nvSpPr>
        <p:spPr>
          <a:xfrm>
            <a:off x="457200" y="274638"/>
            <a:ext cx="7467600" cy="1143000"/>
          </a:xfrm>
        </p:spPr>
        <p:txBody>
          <a:bodyPr/>
          <a:lstStyle/>
          <a:p>
            <a:pPr eaLnBrk="1" hangingPunct="1"/>
            <a:r>
              <a:rPr lang="en-US" altLang="en-US" dirty="0">
                <a:latin typeface="+mn-lt"/>
              </a:rPr>
              <a:t>MI Protocol</a:t>
            </a:r>
          </a:p>
        </p:txBody>
      </p:sp>
      <p:grpSp>
        <p:nvGrpSpPr>
          <p:cNvPr id="4" name="Group 3">
            <a:extLst>
              <a:ext uri="{FF2B5EF4-FFF2-40B4-BE49-F238E27FC236}">
                <a16:creationId xmlns:a16="http://schemas.microsoft.com/office/drawing/2014/main" id="{971A4BE4-E06F-48BE-B028-BEDCB2ECA7F8}"/>
              </a:ext>
            </a:extLst>
          </p:cNvPr>
          <p:cNvGrpSpPr/>
          <p:nvPr>
            <p:custDataLst>
              <p:tags r:id="rId17"/>
            </p:custDataLst>
          </p:nvPr>
        </p:nvGrpSpPr>
        <p:grpSpPr>
          <a:xfrm>
            <a:off x="5475495" y="4284464"/>
            <a:ext cx="3287504" cy="2496145"/>
            <a:chOff x="5475495" y="4284464"/>
            <a:chExt cx="3287504" cy="2496145"/>
          </a:xfrm>
        </p:grpSpPr>
        <p:sp>
          <p:nvSpPr>
            <p:cNvPr id="21" name="Oval 7">
              <a:extLst>
                <a:ext uri="{FF2B5EF4-FFF2-40B4-BE49-F238E27FC236}">
                  <a16:creationId xmlns:a16="http://schemas.microsoft.com/office/drawing/2014/main" id="{33585D61-14E7-4EF1-A7FC-4D86A781FA94}"/>
                </a:ext>
              </a:extLst>
            </p:cNvPr>
            <p:cNvSpPr>
              <a:spLocks noChangeArrowheads="1"/>
            </p:cNvSpPr>
            <p:nvPr>
              <p:custDataLst>
                <p:tags r:id="rId18"/>
              </p:custDataLst>
            </p:nvPr>
          </p:nvSpPr>
          <p:spPr bwMode="auto">
            <a:xfrm>
              <a:off x="6902246" y="4904184"/>
              <a:ext cx="461338" cy="619125"/>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1650" dirty="0"/>
                <a:t>M</a:t>
              </a:r>
            </a:p>
          </p:txBody>
        </p:sp>
        <p:sp>
          <p:nvSpPr>
            <p:cNvPr id="22" name="Oval 8">
              <a:extLst>
                <a:ext uri="{FF2B5EF4-FFF2-40B4-BE49-F238E27FC236}">
                  <a16:creationId xmlns:a16="http://schemas.microsoft.com/office/drawing/2014/main" id="{EBBEDF08-8BED-480C-B351-E112486D9B54}"/>
                </a:ext>
              </a:extLst>
            </p:cNvPr>
            <p:cNvSpPr>
              <a:spLocks noChangeArrowheads="1"/>
            </p:cNvSpPr>
            <p:nvPr>
              <p:custDataLst>
                <p:tags r:id="rId19"/>
              </p:custDataLst>
            </p:nvPr>
          </p:nvSpPr>
          <p:spPr bwMode="auto">
            <a:xfrm>
              <a:off x="6949266" y="6161484"/>
              <a:ext cx="461338" cy="619125"/>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1650" dirty="0"/>
                <a:t>I</a:t>
              </a:r>
            </a:p>
          </p:txBody>
        </p:sp>
        <p:sp>
          <p:nvSpPr>
            <p:cNvPr id="23" name="Arc 9">
              <a:extLst>
                <a:ext uri="{FF2B5EF4-FFF2-40B4-BE49-F238E27FC236}">
                  <a16:creationId xmlns:a16="http://schemas.microsoft.com/office/drawing/2014/main" id="{2535C1C4-354C-482A-90EA-66B695FA1E20}"/>
                </a:ext>
              </a:extLst>
            </p:cNvPr>
            <p:cNvSpPr>
              <a:spLocks/>
            </p:cNvSpPr>
            <p:nvPr>
              <p:custDataLst>
                <p:tags r:id="rId20"/>
              </p:custDataLst>
            </p:nvPr>
          </p:nvSpPr>
          <p:spPr bwMode="auto">
            <a:xfrm rot="4920000">
              <a:off x="6966450" y="4404352"/>
              <a:ext cx="721519" cy="481744"/>
            </a:xfrm>
            <a:custGeom>
              <a:avLst/>
              <a:gdLst>
                <a:gd name="T0" fmla="*/ 505 w 43200"/>
                <a:gd name="T1" fmla="*/ 474 h 43200"/>
                <a:gd name="T2" fmla="*/ 599 w 43200"/>
                <a:gd name="T3" fmla="*/ 328 h 43200"/>
                <a:gd name="T4" fmla="*/ 303 w 43200"/>
                <a:gd name="T5" fmla="*/ 272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path>
                <a:path w="43200" h="43200" stroke="0"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lnTo>
                    <a:pt x="21600" y="21600"/>
                  </a:lnTo>
                  <a:close/>
                </a:path>
              </a:pathLst>
            </a:custGeom>
            <a:noFill/>
            <a:ln w="12700" cap="rnd">
              <a:solidFill>
                <a:schemeClr val="tx1"/>
              </a:solidFill>
              <a:round/>
              <a:headEnd/>
              <a:tailEnd type="triangle" w="med" len="med"/>
            </a:ln>
          </p:spPr>
          <p:txBody>
            <a:bodyPr wrap="none" anchor="ctr"/>
            <a:lstStyle/>
            <a:p>
              <a:endParaRPr lang="en-US" sz="750" dirty="0">
                <a:latin typeface="+mn-lt"/>
              </a:endParaRPr>
            </a:p>
          </p:txBody>
        </p:sp>
        <p:sp>
          <p:nvSpPr>
            <p:cNvPr id="27" name="Arc 10">
              <a:extLst>
                <a:ext uri="{FF2B5EF4-FFF2-40B4-BE49-F238E27FC236}">
                  <a16:creationId xmlns:a16="http://schemas.microsoft.com/office/drawing/2014/main" id="{034F2FF3-3011-4900-BF8F-D0ACF7E857BC}"/>
                </a:ext>
              </a:extLst>
            </p:cNvPr>
            <p:cNvSpPr>
              <a:spLocks/>
            </p:cNvSpPr>
            <p:nvPr>
              <p:custDataLst>
                <p:tags r:id="rId21"/>
              </p:custDataLst>
            </p:nvPr>
          </p:nvSpPr>
          <p:spPr bwMode="auto">
            <a:xfrm rot="4920000">
              <a:off x="7111248" y="5540558"/>
              <a:ext cx="1075134" cy="497713"/>
            </a:xfrm>
            <a:custGeom>
              <a:avLst/>
              <a:gdLst>
                <a:gd name="T0" fmla="*/ 3 w 43200"/>
                <a:gd name="T1" fmla="*/ 512 h 26189"/>
                <a:gd name="T2" fmla="*/ 893 w 43200"/>
                <a:gd name="T3" fmla="*/ 561 h 26189"/>
                <a:gd name="T4" fmla="*/ 452 w 43200"/>
                <a:gd name="T5" fmla="*/ 463 h 26189"/>
                <a:gd name="T6" fmla="*/ 0 60000 65536"/>
                <a:gd name="T7" fmla="*/ 0 60000 65536"/>
                <a:gd name="T8" fmla="*/ 0 60000 65536"/>
                <a:gd name="T9" fmla="*/ 0 w 43200"/>
                <a:gd name="T10" fmla="*/ 0 h 26189"/>
                <a:gd name="T11" fmla="*/ 43200 w 43200"/>
                <a:gd name="T12" fmla="*/ 26189 h 26189"/>
              </a:gdLst>
              <a:ahLst/>
              <a:cxnLst>
                <a:cxn ang="T6">
                  <a:pos x="T0" y="T1"/>
                </a:cxn>
                <a:cxn ang="T7">
                  <a:pos x="T2" y="T3"/>
                </a:cxn>
                <a:cxn ang="T8">
                  <a:pos x="T4" y="T5"/>
                </a:cxn>
              </a:cxnLst>
              <a:rect l="T9" t="T10" r="T11" b="T12"/>
              <a:pathLst>
                <a:path w="43200" h="26189" fill="none" extrusionOk="0">
                  <a:moveTo>
                    <a:pt x="120" y="23883"/>
                  </a:moveTo>
                  <a:cubicBezTo>
                    <a:pt x="40" y="23124"/>
                    <a:pt x="0" y="22362"/>
                    <a:pt x="0" y="21600"/>
                  </a:cubicBezTo>
                  <a:cubicBezTo>
                    <a:pt x="0" y="9670"/>
                    <a:pt x="9670" y="0"/>
                    <a:pt x="21600" y="0"/>
                  </a:cubicBezTo>
                  <a:cubicBezTo>
                    <a:pt x="33529" y="0"/>
                    <a:pt x="43200" y="9670"/>
                    <a:pt x="43200" y="21600"/>
                  </a:cubicBezTo>
                  <a:cubicBezTo>
                    <a:pt x="43200" y="23142"/>
                    <a:pt x="43034" y="24681"/>
                    <a:pt x="42706" y="26188"/>
                  </a:cubicBezTo>
                </a:path>
                <a:path w="43200" h="26189" stroke="0" extrusionOk="0">
                  <a:moveTo>
                    <a:pt x="120" y="23883"/>
                  </a:moveTo>
                  <a:cubicBezTo>
                    <a:pt x="40" y="23124"/>
                    <a:pt x="0" y="22362"/>
                    <a:pt x="0" y="21600"/>
                  </a:cubicBezTo>
                  <a:cubicBezTo>
                    <a:pt x="0" y="9670"/>
                    <a:pt x="9670" y="0"/>
                    <a:pt x="21600" y="0"/>
                  </a:cubicBezTo>
                  <a:cubicBezTo>
                    <a:pt x="33529" y="0"/>
                    <a:pt x="43200" y="9670"/>
                    <a:pt x="43200" y="21600"/>
                  </a:cubicBezTo>
                  <a:cubicBezTo>
                    <a:pt x="43200" y="23142"/>
                    <a:pt x="43034" y="24681"/>
                    <a:pt x="42706" y="26188"/>
                  </a:cubicBezTo>
                  <a:lnTo>
                    <a:pt x="21600" y="21600"/>
                  </a:lnTo>
                  <a:close/>
                </a:path>
              </a:pathLst>
            </a:custGeom>
            <a:noFill/>
            <a:ln w="12700" cap="rnd">
              <a:solidFill>
                <a:schemeClr val="tx1"/>
              </a:solidFill>
              <a:round/>
              <a:headEnd/>
              <a:tailEnd type="triangle" w="med" len="med"/>
            </a:ln>
          </p:spPr>
          <p:txBody>
            <a:bodyPr wrap="none" anchor="ctr"/>
            <a:lstStyle/>
            <a:p>
              <a:endParaRPr lang="en-US" sz="750" dirty="0">
                <a:latin typeface="+mn-lt"/>
              </a:endParaRPr>
            </a:p>
          </p:txBody>
        </p:sp>
        <p:sp>
          <p:nvSpPr>
            <p:cNvPr id="28" name="Rectangle 12">
              <a:extLst>
                <a:ext uri="{FF2B5EF4-FFF2-40B4-BE49-F238E27FC236}">
                  <a16:creationId xmlns:a16="http://schemas.microsoft.com/office/drawing/2014/main" id="{AF23CA14-F74A-4F5F-9F5C-D2CD69E6775B}"/>
                </a:ext>
              </a:extLst>
            </p:cNvPr>
            <p:cNvSpPr>
              <a:spLocks noChangeArrowheads="1"/>
            </p:cNvSpPr>
            <p:nvPr>
              <p:custDataLst>
                <p:tags r:id="rId22"/>
              </p:custDataLst>
            </p:nvPr>
          </p:nvSpPr>
          <p:spPr bwMode="auto">
            <a:xfrm>
              <a:off x="7543800" y="4594029"/>
              <a:ext cx="581636" cy="282771"/>
            </a:xfrm>
            <a:prstGeom prst="rect">
              <a:avLst/>
            </a:prstGeom>
            <a:noFill/>
            <a:ln w="12700">
              <a:noFill/>
              <a:prstDash val="sysDot"/>
              <a:miter lim="800000"/>
              <a:headEnd/>
              <a:tailEnd/>
            </a:ln>
          </p:spPr>
          <p:txBody>
            <a:bodyPr wrap="none" lIns="67866" tIns="33338" rIns="67866" bIns="33338">
              <a:spAutoFit/>
            </a:bodyPr>
            <a:lstStyle/>
            <a:p>
              <a:r>
                <a:rPr lang="en-US" sz="1400" dirty="0">
                  <a:latin typeface="+mn-lt"/>
                </a:rPr>
                <a:t>Store / --</a:t>
              </a:r>
            </a:p>
          </p:txBody>
        </p:sp>
        <p:sp>
          <p:nvSpPr>
            <p:cNvPr id="29" name="Rectangle 17">
              <a:extLst>
                <a:ext uri="{FF2B5EF4-FFF2-40B4-BE49-F238E27FC236}">
                  <a16:creationId xmlns:a16="http://schemas.microsoft.com/office/drawing/2014/main" id="{E3AF0619-B253-40FB-ABC5-AE35C5269201}"/>
                </a:ext>
              </a:extLst>
            </p:cNvPr>
            <p:cNvSpPr>
              <a:spLocks noChangeArrowheads="1"/>
            </p:cNvSpPr>
            <p:nvPr>
              <p:custDataLst>
                <p:tags r:id="rId23"/>
              </p:custDataLst>
            </p:nvPr>
          </p:nvSpPr>
          <p:spPr bwMode="auto">
            <a:xfrm>
              <a:off x="5475495" y="6019800"/>
              <a:ext cx="883311" cy="282771"/>
            </a:xfrm>
            <a:prstGeom prst="rect">
              <a:avLst/>
            </a:prstGeom>
            <a:noFill/>
            <a:ln w="12700">
              <a:noFill/>
              <a:prstDash val="sysDot"/>
              <a:miter lim="800000"/>
              <a:headEnd/>
              <a:tailEnd/>
            </a:ln>
          </p:spPr>
          <p:txBody>
            <a:bodyPr wrap="none" lIns="67866" tIns="33338" rIns="67866" bIns="33338">
              <a:spAutoFit/>
            </a:bodyPr>
            <a:lstStyle/>
            <a:p>
              <a:r>
                <a:rPr lang="en-US" sz="1400" dirty="0">
                  <a:latin typeface="+mn-lt"/>
                </a:rPr>
                <a:t>Load / </a:t>
              </a:r>
              <a:r>
                <a:rPr lang="en-US" sz="1400" dirty="0" err="1">
                  <a:latin typeface="+mn-lt"/>
                </a:rPr>
                <a:t>BusRdX</a:t>
              </a:r>
              <a:endParaRPr lang="en-US" sz="1400" dirty="0">
                <a:latin typeface="+mn-lt"/>
              </a:endParaRPr>
            </a:p>
          </p:txBody>
        </p:sp>
        <p:sp>
          <p:nvSpPr>
            <p:cNvPr id="30" name="Arc 18">
              <a:extLst>
                <a:ext uri="{FF2B5EF4-FFF2-40B4-BE49-F238E27FC236}">
                  <a16:creationId xmlns:a16="http://schemas.microsoft.com/office/drawing/2014/main" id="{E9AFDD9E-CF50-4688-A313-D3F1A1389D10}"/>
                </a:ext>
              </a:extLst>
            </p:cNvPr>
            <p:cNvSpPr>
              <a:spLocks/>
            </p:cNvSpPr>
            <p:nvPr>
              <p:custDataLst>
                <p:tags r:id="rId24"/>
              </p:custDataLst>
            </p:nvPr>
          </p:nvSpPr>
          <p:spPr bwMode="auto">
            <a:xfrm rot="15720000">
              <a:off x="6174377" y="5538177"/>
              <a:ext cx="1075134" cy="497713"/>
            </a:xfrm>
            <a:custGeom>
              <a:avLst/>
              <a:gdLst>
                <a:gd name="T0" fmla="*/ 3 w 43200"/>
                <a:gd name="T1" fmla="*/ 512 h 26189"/>
                <a:gd name="T2" fmla="*/ 893 w 43200"/>
                <a:gd name="T3" fmla="*/ 561 h 26189"/>
                <a:gd name="T4" fmla="*/ 452 w 43200"/>
                <a:gd name="T5" fmla="*/ 463 h 26189"/>
                <a:gd name="T6" fmla="*/ 0 60000 65536"/>
                <a:gd name="T7" fmla="*/ 0 60000 65536"/>
                <a:gd name="T8" fmla="*/ 0 60000 65536"/>
                <a:gd name="T9" fmla="*/ 0 w 43200"/>
                <a:gd name="T10" fmla="*/ 0 h 26189"/>
                <a:gd name="T11" fmla="*/ 43200 w 43200"/>
                <a:gd name="T12" fmla="*/ 26189 h 26189"/>
              </a:gdLst>
              <a:ahLst/>
              <a:cxnLst>
                <a:cxn ang="T6">
                  <a:pos x="T0" y="T1"/>
                </a:cxn>
                <a:cxn ang="T7">
                  <a:pos x="T2" y="T3"/>
                </a:cxn>
                <a:cxn ang="T8">
                  <a:pos x="T4" y="T5"/>
                </a:cxn>
              </a:cxnLst>
              <a:rect l="T9" t="T10" r="T11" b="T12"/>
              <a:pathLst>
                <a:path w="43200" h="26189" fill="none" extrusionOk="0">
                  <a:moveTo>
                    <a:pt x="120" y="23883"/>
                  </a:moveTo>
                  <a:cubicBezTo>
                    <a:pt x="40" y="23124"/>
                    <a:pt x="0" y="22362"/>
                    <a:pt x="0" y="21600"/>
                  </a:cubicBezTo>
                  <a:cubicBezTo>
                    <a:pt x="0" y="9670"/>
                    <a:pt x="9670" y="0"/>
                    <a:pt x="21600" y="0"/>
                  </a:cubicBezTo>
                  <a:cubicBezTo>
                    <a:pt x="33529" y="0"/>
                    <a:pt x="43200" y="9670"/>
                    <a:pt x="43200" y="21600"/>
                  </a:cubicBezTo>
                  <a:cubicBezTo>
                    <a:pt x="43200" y="23142"/>
                    <a:pt x="43034" y="24681"/>
                    <a:pt x="42706" y="26188"/>
                  </a:cubicBezTo>
                </a:path>
                <a:path w="43200" h="26189" stroke="0" extrusionOk="0">
                  <a:moveTo>
                    <a:pt x="120" y="23883"/>
                  </a:moveTo>
                  <a:cubicBezTo>
                    <a:pt x="40" y="23124"/>
                    <a:pt x="0" y="22362"/>
                    <a:pt x="0" y="21600"/>
                  </a:cubicBezTo>
                  <a:cubicBezTo>
                    <a:pt x="0" y="9670"/>
                    <a:pt x="9670" y="0"/>
                    <a:pt x="21600" y="0"/>
                  </a:cubicBezTo>
                  <a:cubicBezTo>
                    <a:pt x="33529" y="0"/>
                    <a:pt x="43200" y="9670"/>
                    <a:pt x="43200" y="21600"/>
                  </a:cubicBezTo>
                  <a:cubicBezTo>
                    <a:pt x="43200" y="23142"/>
                    <a:pt x="43034" y="24681"/>
                    <a:pt x="42706" y="26188"/>
                  </a:cubicBezTo>
                  <a:lnTo>
                    <a:pt x="21600" y="21600"/>
                  </a:lnTo>
                  <a:close/>
                </a:path>
              </a:pathLst>
            </a:custGeom>
            <a:noFill/>
            <a:ln w="12700" cap="rnd">
              <a:solidFill>
                <a:schemeClr val="tx1"/>
              </a:solidFill>
              <a:round/>
              <a:headEnd/>
              <a:tailEnd type="triangle" w="med" len="med"/>
            </a:ln>
          </p:spPr>
          <p:txBody>
            <a:bodyPr wrap="none" anchor="ctr"/>
            <a:lstStyle/>
            <a:p>
              <a:endParaRPr lang="en-US" sz="750" dirty="0">
                <a:latin typeface="+mn-lt"/>
              </a:endParaRPr>
            </a:p>
          </p:txBody>
        </p:sp>
        <p:sp>
          <p:nvSpPr>
            <p:cNvPr id="31" name="Rectangle 19">
              <a:extLst>
                <a:ext uri="{FF2B5EF4-FFF2-40B4-BE49-F238E27FC236}">
                  <a16:creationId xmlns:a16="http://schemas.microsoft.com/office/drawing/2014/main" id="{8D51178A-7777-4072-AF73-9F5963E2B076}"/>
                </a:ext>
              </a:extLst>
            </p:cNvPr>
            <p:cNvSpPr>
              <a:spLocks noChangeArrowheads="1"/>
            </p:cNvSpPr>
            <p:nvPr>
              <p:custDataLst>
                <p:tags r:id="rId25"/>
              </p:custDataLst>
            </p:nvPr>
          </p:nvSpPr>
          <p:spPr bwMode="auto">
            <a:xfrm>
              <a:off x="7614107" y="4390527"/>
              <a:ext cx="556027" cy="282771"/>
            </a:xfrm>
            <a:prstGeom prst="rect">
              <a:avLst/>
            </a:prstGeom>
            <a:noFill/>
            <a:ln w="12700">
              <a:noFill/>
              <a:prstDash val="sysDot"/>
              <a:miter lim="800000"/>
              <a:headEnd/>
              <a:tailEnd/>
            </a:ln>
          </p:spPr>
          <p:txBody>
            <a:bodyPr wrap="none" lIns="67866" tIns="33338" rIns="67866" bIns="33338">
              <a:spAutoFit/>
            </a:bodyPr>
            <a:lstStyle/>
            <a:p>
              <a:r>
                <a:rPr lang="en-US" sz="1400" dirty="0">
                  <a:latin typeface="+mn-lt"/>
                </a:rPr>
                <a:t>Load / --</a:t>
              </a:r>
            </a:p>
          </p:txBody>
        </p:sp>
        <p:sp>
          <p:nvSpPr>
            <p:cNvPr id="32" name="Rectangle 14">
              <a:extLst>
                <a:ext uri="{FF2B5EF4-FFF2-40B4-BE49-F238E27FC236}">
                  <a16:creationId xmlns:a16="http://schemas.microsoft.com/office/drawing/2014/main" id="{3670D372-F09C-4713-8B65-8B2F782942B4}"/>
                </a:ext>
              </a:extLst>
            </p:cNvPr>
            <p:cNvSpPr>
              <a:spLocks noChangeArrowheads="1"/>
            </p:cNvSpPr>
            <p:nvPr>
              <p:custDataLst>
                <p:tags r:id="rId26"/>
              </p:custDataLst>
            </p:nvPr>
          </p:nvSpPr>
          <p:spPr bwMode="auto">
            <a:xfrm>
              <a:off x="7645523" y="6341497"/>
              <a:ext cx="1117476" cy="282771"/>
            </a:xfrm>
            <a:prstGeom prst="rect">
              <a:avLst/>
            </a:prstGeom>
            <a:noFill/>
            <a:ln w="12700">
              <a:noFill/>
              <a:prstDash val="sysDot"/>
              <a:miter lim="800000"/>
              <a:headEnd/>
              <a:tailEnd/>
            </a:ln>
          </p:spPr>
          <p:txBody>
            <a:bodyPr wrap="none" lIns="67866" tIns="33338" rIns="67866" bIns="33338">
              <a:spAutoFit/>
            </a:bodyPr>
            <a:lstStyle/>
            <a:p>
              <a:r>
                <a:rPr lang="en-US" sz="1400" dirty="0" err="1">
                  <a:latin typeface="+mn-lt"/>
                </a:rPr>
                <a:t>BusRdX</a:t>
              </a:r>
              <a:r>
                <a:rPr lang="en-US" sz="1400" dirty="0">
                  <a:latin typeface="+mn-lt"/>
                </a:rPr>
                <a:t> / </a:t>
              </a:r>
              <a:r>
                <a:rPr lang="en-US" sz="1400" dirty="0" err="1">
                  <a:latin typeface="+mn-lt"/>
                </a:rPr>
                <a:t>BusReply</a:t>
              </a:r>
              <a:endParaRPr lang="en-US" sz="1400" dirty="0">
                <a:latin typeface="+mn-lt"/>
              </a:endParaRPr>
            </a:p>
          </p:txBody>
        </p:sp>
        <p:sp>
          <p:nvSpPr>
            <p:cNvPr id="33" name="Rectangle 17">
              <a:extLst>
                <a:ext uri="{FF2B5EF4-FFF2-40B4-BE49-F238E27FC236}">
                  <a16:creationId xmlns:a16="http://schemas.microsoft.com/office/drawing/2014/main" id="{835FCC33-B574-472F-A38B-6BDC3C5AE3C4}"/>
                </a:ext>
              </a:extLst>
            </p:cNvPr>
            <p:cNvSpPr>
              <a:spLocks noChangeArrowheads="1"/>
            </p:cNvSpPr>
            <p:nvPr>
              <p:custDataLst>
                <p:tags r:id="rId27"/>
              </p:custDataLst>
            </p:nvPr>
          </p:nvSpPr>
          <p:spPr bwMode="auto">
            <a:xfrm>
              <a:off x="5491879" y="6250273"/>
              <a:ext cx="908921" cy="282771"/>
            </a:xfrm>
            <a:prstGeom prst="rect">
              <a:avLst/>
            </a:prstGeom>
            <a:noFill/>
            <a:ln w="12700">
              <a:noFill/>
              <a:prstDash val="sysDot"/>
              <a:miter lim="800000"/>
              <a:headEnd/>
              <a:tailEnd/>
            </a:ln>
          </p:spPr>
          <p:txBody>
            <a:bodyPr wrap="none" lIns="67866" tIns="33338" rIns="67866" bIns="33338">
              <a:spAutoFit/>
            </a:bodyPr>
            <a:lstStyle/>
            <a:p>
              <a:r>
                <a:rPr lang="en-US" sz="1400" dirty="0">
                  <a:latin typeface="+mn-lt"/>
                </a:rPr>
                <a:t>Store / </a:t>
              </a:r>
              <a:r>
                <a:rPr lang="en-US" sz="1400" dirty="0" err="1">
                  <a:latin typeface="+mn-lt"/>
                </a:rPr>
                <a:t>BusRdX</a:t>
              </a:r>
              <a:endParaRPr lang="en-US" sz="1400" dirty="0">
                <a:latin typeface="+mn-lt"/>
              </a:endParaRPr>
            </a:p>
          </p:txBody>
        </p:sp>
        <p:sp>
          <p:nvSpPr>
            <p:cNvPr id="34" name="Rectangle 14">
              <a:extLst>
                <a:ext uri="{FF2B5EF4-FFF2-40B4-BE49-F238E27FC236}">
                  <a16:creationId xmlns:a16="http://schemas.microsoft.com/office/drawing/2014/main" id="{0D4C1BA2-8351-49B8-B0AA-2ADCB971986F}"/>
                </a:ext>
              </a:extLst>
            </p:cNvPr>
            <p:cNvSpPr>
              <a:spLocks noChangeArrowheads="1"/>
            </p:cNvSpPr>
            <p:nvPr>
              <p:custDataLst>
                <p:tags r:id="rId28"/>
              </p:custDataLst>
            </p:nvPr>
          </p:nvSpPr>
          <p:spPr bwMode="auto">
            <a:xfrm>
              <a:off x="7783340" y="6132249"/>
              <a:ext cx="857464" cy="282771"/>
            </a:xfrm>
            <a:prstGeom prst="rect">
              <a:avLst/>
            </a:prstGeom>
            <a:noFill/>
            <a:ln w="12700">
              <a:noFill/>
              <a:prstDash val="sysDot"/>
              <a:miter lim="800000"/>
              <a:headEnd/>
              <a:tailEnd/>
            </a:ln>
          </p:spPr>
          <p:txBody>
            <a:bodyPr wrap="none" lIns="67866" tIns="33338" rIns="67866" bIns="33338">
              <a:spAutoFit/>
            </a:bodyPr>
            <a:lstStyle/>
            <a:p>
              <a:r>
                <a:rPr lang="en-US" sz="1400" dirty="0">
                  <a:latin typeface="+mn-lt"/>
                </a:rPr>
                <a:t>Evict / </a:t>
              </a:r>
              <a:r>
                <a:rPr lang="en-US" sz="1400" dirty="0" err="1">
                  <a:latin typeface="+mn-lt"/>
                </a:rPr>
                <a:t>BusWB</a:t>
              </a:r>
              <a:endParaRPr lang="en-US" sz="1400" dirty="0">
                <a:latin typeface="+mn-lt"/>
              </a:endParaRPr>
            </a:p>
          </p:txBody>
        </p:sp>
      </p:grpSp>
    </p:spTree>
    <p:custDataLst>
      <p:tags r:id="rId1"/>
    </p:custDataLst>
    <p:extLst>
      <p:ext uri="{BB962C8B-B14F-4D97-AF65-F5344CB8AC3E}">
        <p14:creationId xmlns:p14="http://schemas.microsoft.com/office/powerpoint/2010/main" val="160699628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descr=" 5">
            <a:extLst>
              <a:ext uri="{FF2B5EF4-FFF2-40B4-BE49-F238E27FC236}">
                <a16:creationId xmlns:a16="http://schemas.microsoft.com/office/drawing/2014/main" id="{7B0DBF13-EEC3-4A4E-8B1B-75F5C46CF9A7}"/>
              </a:ext>
            </a:extLst>
          </p:cNvPr>
          <p:cNvSpPr>
            <a:spLocks noChangeArrowheads="1"/>
          </p:cNvSpPr>
          <p:nvPr>
            <p:custDataLst>
              <p:tags r:id="rId2"/>
            </p:custDataLst>
          </p:nvPr>
        </p:nvSpPr>
        <p:spPr bwMode="auto">
          <a:xfrm>
            <a:off x="3077510" y="4208386"/>
            <a:ext cx="3030813"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Bus</a:t>
            </a:r>
          </a:p>
        </p:txBody>
      </p:sp>
      <p:sp>
        <p:nvSpPr>
          <p:cNvPr id="6" name="Rectangle 6" descr=" 6">
            <a:extLst>
              <a:ext uri="{FF2B5EF4-FFF2-40B4-BE49-F238E27FC236}">
                <a16:creationId xmlns:a16="http://schemas.microsoft.com/office/drawing/2014/main" id="{CFB6722F-138D-4F55-9C50-93D5AFF8E77A}"/>
              </a:ext>
            </a:extLst>
          </p:cNvPr>
          <p:cNvSpPr>
            <a:spLocks noChangeArrowheads="1"/>
          </p:cNvSpPr>
          <p:nvPr>
            <p:custDataLst>
              <p:tags r:id="rId3"/>
            </p:custDataLst>
          </p:nvPr>
        </p:nvSpPr>
        <p:spPr bwMode="auto">
          <a:xfrm>
            <a:off x="2975162" y="2859409"/>
            <a:ext cx="625289" cy="431006"/>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P1</a:t>
            </a:r>
          </a:p>
        </p:txBody>
      </p:sp>
      <p:cxnSp>
        <p:nvCxnSpPr>
          <p:cNvPr id="7" name="AutoShape 9" descr=" 7">
            <a:extLst>
              <a:ext uri="{FF2B5EF4-FFF2-40B4-BE49-F238E27FC236}">
                <a16:creationId xmlns:a16="http://schemas.microsoft.com/office/drawing/2014/main" id="{34E890EC-2638-4E5E-8148-DAA305381118}"/>
              </a:ext>
            </a:extLst>
          </p:cNvPr>
          <p:cNvCxnSpPr>
            <a:cxnSpLocks noChangeShapeType="1"/>
            <a:endCxn id="15" idx="0"/>
          </p:cNvCxnSpPr>
          <p:nvPr>
            <p:custDataLst>
              <p:tags r:id="rId4"/>
            </p:custDataLst>
          </p:nvPr>
        </p:nvCxnSpPr>
        <p:spPr bwMode="auto">
          <a:xfrm rot="5400000">
            <a:off x="3206249" y="3384438"/>
            <a:ext cx="163116" cy="1"/>
          </a:xfrm>
          <a:prstGeom prst="bentConnector3">
            <a:avLst>
              <a:gd name="adj1" fmla="val 50000"/>
            </a:avLst>
          </a:prstGeom>
          <a:noFill/>
          <a:ln w="12700">
            <a:solidFill>
              <a:schemeClr val="tx1"/>
            </a:solidFill>
            <a:miter lim="800000"/>
            <a:headEnd type="none" w="sm" len="sm"/>
            <a:tailEnd type="triangle" w="med" len="med"/>
          </a:ln>
        </p:spPr>
      </p:cxnSp>
      <p:sp>
        <p:nvSpPr>
          <p:cNvPr id="8" name="Line 10" descr=" 8">
            <a:extLst>
              <a:ext uri="{FF2B5EF4-FFF2-40B4-BE49-F238E27FC236}">
                <a16:creationId xmlns:a16="http://schemas.microsoft.com/office/drawing/2014/main" id="{A52CB5F6-6B2B-4331-9C96-186B335E0D02}"/>
              </a:ext>
            </a:extLst>
          </p:cNvPr>
          <p:cNvSpPr>
            <a:spLocks noChangeShapeType="1"/>
          </p:cNvSpPr>
          <p:nvPr>
            <p:custDataLst>
              <p:tags r:id="rId5"/>
            </p:custDataLst>
          </p:nvPr>
        </p:nvSpPr>
        <p:spPr bwMode="auto">
          <a:xfrm>
            <a:off x="3294530" y="3925789"/>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sp>
        <p:nvSpPr>
          <p:cNvPr id="10" name="Rectangle 14" descr=" 10">
            <a:extLst>
              <a:ext uri="{FF2B5EF4-FFF2-40B4-BE49-F238E27FC236}">
                <a16:creationId xmlns:a16="http://schemas.microsoft.com/office/drawing/2014/main" id="{8D064CF1-63DC-4784-88DF-BCE7A49F4E62}"/>
              </a:ext>
            </a:extLst>
          </p:cNvPr>
          <p:cNvSpPr>
            <a:spLocks noChangeArrowheads="1"/>
          </p:cNvSpPr>
          <p:nvPr>
            <p:custDataLst>
              <p:tags r:id="rId6"/>
            </p:custDataLst>
          </p:nvPr>
        </p:nvSpPr>
        <p:spPr bwMode="auto">
          <a:xfrm>
            <a:off x="5661212" y="2859409"/>
            <a:ext cx="625289" cy="431006"/>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P2</a:t>
            </a:r>
          </a:p>
        </p:txBody>
      </p:sp>
      <p:cxnSp>
        <p:nvCxnSpPr>
          <p:cNvPr id="11" name="AutoShape 17" descr=" 11">
            <a:extLst>
              <a:ext uri="{FF2B5EF4-FFF2-40B4-BE49-F238E27FC236}">
                <a16:creationId xmlns:a16="http://schemas.microsoft.com/office/drawing/2014/main" id="{9A1D69F6-400F-4FE1-ADDD-EC425C70BDA5}"/>
              </a:ext>
            </a:extLst>
          </p:cNvPr>
          <p:cNvCxnSpPr>
            <a:cxnSpLocks noChangeShapeType="1"/>
            <a:stCxn id="10" idx="2"/>
            <a:endCxn id="16" idx="0"/>
          </p:cNvCxnSpPr>
          <p:nvPr>
            <p:custDataLst>
              <p:tags r:id="rId7"/>
            </p:custDataLst>
          </p:nvPr>
        </p:nvCxnSpPr>
        <p:spPr bwMode="auto">
          <a:xfrm rot="5400000">
            <a:off x="5888132" y="3376140"/>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12" name="Rectangle 21" descr=" 12">
            <a:extLst>
              <a:ext uri="{FF2B5EF4-FFF2-40B4-BE49-F238E27FC236}">
                <a16:creationId xmlns:a16="http://schemas.microsoft.com/office/drawing/2014/main" id="{830F51E4-4BB8-4E38-9D2E-01D5D0F4DF8E}"/>
              </a:ext>
            </a:extLst>
          </p:cNvPr>
          <p:cNvSpPr>
            <a:spLocks noChangeArrowheads="1"/>
          </p:cNvSpPr>
          <p:nvPr>
            <p:custDataLst>
              <p:tags r:id="rId8"/>
            </p:custDataLst>
          </p:nvPr>
        </p:nvSpPr>
        <p:spPr bwMode="auto">
          <a:xfrm>
            <a:off x="3734115" y="4725118"/>
            <a:ext cx="1717606"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0</a:t>
            </a:r>
            <a:endParaRPr lang="en-US" sz="1800" dirty="0"/>
          </a:p>
        </p:txBody>
      </p:sp>
      <p:sp>
        <p:nvSpPr>
          <p:cNvPr id="13" name="Line 10" descr=" 13">
            <a:extLst>
              <a:ext uri="{FF2B5EF4-FFF2-40B4-BE49-F238E27FC236}">
                <a16:creationId xmlns:a16="http://schemas.microsoft.com/office/drawing/2014/main" id="{F3E43F7B-3884-4F75-8733-D53A46767F28}"/>
              </a:ext>
            </a:extLst>
          </p:cNvPr>
          <p:cNvSpPr>
            <a:spLocks noChangeShapeType="1"/>
          </p:cNvSpPr>
          <p:nvPr>
            <p:custDataLst>
              <p:tags r:id="rId9"/>
            </p:custDataLst>
          </p:nvPr>
        </p:nvSpPr>
        <p:spPr bwMode="auto">
          <a:xfrm>
            <a:off x="5973856" y="3919065"/>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cxnSp>
        <p:nvCxnSpPr>
          <p:cNvPr id="14" name="Straight Arrow Connector 13" descr=" 14">
            <a:extLst>
              <a:ext uri="{FF2B5EF4-FFF2-40B4-BE49-F238E27FC236}">
                <a16:creationId xmlns:a16="http://schemas.microsoft.com/office/drawing/2014/main" id="{AC5683A1-2BD0-415B-A57D-44B0E4D5D470}"/>
              </a:ext>
            </a:extLst>
          </p:cNvPr>
          <p:cNvCxnSpPr>
            <a:stCxn id="5" idx="2"/>
            <a:endCxn id="12" idx="0"/>
          </p:cNvCxnSpPr>
          <p:nvPr/>
        </p:nvCxnSpPr>
        <p:spPr bwMode="auto">
          <a:xfrm rot="16200000" flipH="1">
            <a:off x="4475640" y="4607841"/>
            <a:ext cx="234554" cy="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5" name="Rectangle 21" descr=" 15">
            <a:extLst>
              <a:ext uri="{FF2B5EF4-FFF2-40B4-BE49-F238E27FC236}">
                <a16:creationId xmlns:a16="http://schemas.microsoft.com/office/drawing/2014/main" id="{D26DB25A-2C6E-4BEB-A326-32CC0B8B4046}"/>
              </a:ext>
            </a:extLst>
          </p:cNvPr>
          <p:cNvSpPr>
            <a:spLocks noChangeArrowheads="1"/>
          </p:cNvSpPr>
          <p:nvPr>
            <p:custDataLst>
              <p:tags r:id="rId10"/>
            </p:custDataLst>
          </p:nvPr>
        </p:nvSpPr>
        <p:spPr bwMode="auto">
          <a:xfrm>
            <a:off x="2830606" y="3465995"/>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a:t>
            </a:r>
            <a:r>
              <a:rPr lang="en-US" sz="1500" strike="sngStrike" dirty="0"/>
              <a:t>I</a:t>
            </a:r>
            <a:r>
              <a:rPr lang="en-US" sz="1500" dirty="0"/>
              <a:t> </a:t>
            </a:r>
            <a:r>
              <a:rPr lang="en-US" sz="1500" dirty="0">
                <a:solidFill>
                  <a:srgbClr val="C00000"/>
                </a:solidFill>
              </a:rPr>
              <a:t>M</a:t>
            </a:r>
            <a:r>
              <a:rPr lang="en-US" sz="1500" dirty="0"/>
              <a:t>]: </a:t>
            </a:r>
            <a:r>
              <a:rPr lang="en-US" sz="1500" strike="sngStrike" dirty="0"/>
              <a:t>0</a:t>
            </a:r>
            <a:r>
              <a:rPr lang="en-US" sz="1500" dirty="0"/>
              <a:t> </a:t>
            </a:r>
            <a:r>
              <a:rPr lang="en-US" sz="1500" dirty="0">
                <a:solidFill>
                  <a:srgbClr val="C00000"/>
                </a:solidFill>
              </a:rPr>
              <a:t>1</a:t>
            </a:r>
            <a:endParaRPr lang="en-US" sz="1800" dirty="0">
              <a:solidFill>
                <a:srgbClr val="C00000"/>
              </a:solidFill>
            </a:endParaRPr>
          </a:p>
        </p:txBody>
      </p:sp>
      <p:sp>
        <p:nvSpPr>
          <p:cNvPr id="16" name="Rectangle 21" descr=" 16">
            <a:extLst>
              <a:ext uri="{FF2B5EF4-FFF2-40B4-BE49-F238E27FC236}">
                <a16:creationId xmlns:a16="http://schemas.microsoft.com/office/drawing/2014/main" id="{7574CD24-B6B9-4E07-A96E-7EBCFD1E59BA}"/>
              </a:ext>
            </a:extLst>
          </p:cNvPr>
          <p:cNvSpPr>
            <a:spLocks noChangeArrowheads="1"/>
          </p:cNvSpPr>
          <p:nvPr>
            <p:custDataLst>
              <p:tags r:id="rId11"/>
            </p:custDataLst>
          </p:nvPr>
        </p:nvSpPr>
        <p:spPr bwMode="auto">
          <a:xfrm>
            <a:off x="5516656" y="3461865"/>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[I]: --</a:t>
            </a:r>
            <a:endParaRPr lang="en-US" sz="1800" dirty="0"/>
          </a:p>
        </p:txBody>
      </p:sp>
      <p:sp>
        <p:nvSpPr>
          <p:cNvPr id="17" name="TextBox 16" descr=" 17">
            <a:extLst>
              <a:ext uri="{FF2B5EF4-FFF2-40B4-BE49-F238E27FC236}">
                <a16:creationId xmlns:a16="http://schemas.microsoft.com/office/drawing/2014/main" id="{00C3BC86-295D-4D7D-A4D2-9EEF02D2A4B3}"/>
              </a:ext>
            </a:extLst>
          </p:cNvPr>
          <p:cNvSpPr txBox="1"/>
          <p:nvPr>
            <p:custDataLst>
              <p:tags r:id="rId12"/>
            </p:custDataLst>
          </p:nvPr>
        </p:nvSpPr>
        <p:spPr>
          <a:xfrm>
            <a:off x="5459506" y="4947766"/>
            <a:ext cx="1076705" cy="276999"/>
          </a:xfrm>
          <a:prstGeom prst="rect">
            <a:avLst/>
          </a:prstGeom>
          <a:noFill/>
        </p:spPr>
        <p:txBody>
          <a:bodyPr wrap="none" rtlCol="0">
            <a:spAutoFit/>
          </a:bodyPr>
          <a:lstStyle/>
          <a:p>
            <a:r>
              <a:rPr lang="en-US" sz="1200" dirty="0">
                <a:latin typeface="+mn-lt"/>
              </a:rPr>
              <a:t>Main Memory</a:t>
            </a:r>
          </a:p>
        </p:txBody>
      </p:sp>
      <p:sp>
        <p:nvSpPr>
          <p:cNvPr id="24" name="Rectangle 22" descr=" 24">
            <a:extLst>
              <a:ext uri="{FF2B5EF4-FFF2-40B4-BE49-F238E27FC236}">
                <a16:creationId xmlns:a16="http://schemas.microsoft.com/office/drawing/2014/main" id="{C537AA7C-BA4F-445D-880D-5544524F35E8}"/>
              </a:ext>
            </a:extLst>
          </p:cNvPr>
          <p:cNvSpPr>
            <a:spLocks noChangeArrowheads="1"/>
          </p:cNvSpPr>
          <p:nvPr>
            <p:custDataLst>
              <p:tags r:id="rId13"/>
            </p:custDataLst>
          </p:nvPr>
        </p:nvSpPr>
        <p:spPr bwMode="auto">
          <a:xfrm>
            <a:off x="2830606" y="3690465"/>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1800" dirty="0"/>
          </a:p>
        </p:txBody>
      </p:sp>
      <p:sp>
        <p:nvSpPr>
          <p:cNvPr id="25" name="Rectangle 22" descr=" 25">
            <a:extLst>
              <a:ext uri="{FF2B5EF4-FFF2-40B4-BE49-F238E27FC236}">
                <a16:creationId xmlns:a16="http://schemas.microsoft.com/office/drawing/2014/main" id="{E69D5C80-D5CA-4CA2-8BD3-7F382A70FD13}"/>
              </a:ext>
            </a:extLst>
          </p:cNvPr>
          <p:cNvSpPr>
            <a:spLocks noChangeArrowheads="1"/>
          </p:cNvSpPr>
          <p:nvPr>
            <p:custDataLst>
              <p:tags r:id="rId14"/>
            </p:custDataLst>
          </p:nvPr>
        </p:nvSpPr>
        <p:spPr bwMode="auto">
          <a:xfrm>
            <a:off x="5516656" y="3698799"/>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1800" dirty="0"/>
          </a:p>
        </p:txBody>
      </p:sp>
      <p:sp>
        <p:nvSpPr>
          <p:cNvPr id="26" name="Rectangle 22" descr=" 26">
            <a:extLst>
              <a:ext uri="{FF2B5EF4-FFF2-40B4-BE49-F238E27FC236}">
                <a16:creationId xmlns:a16="http://schemas.microsoft.com/office/drawing/2014/main" id="{F38E3CA4-8260-4664-82A3-0F9B55A35D6C}"/>
              </a:ext>
            </a:extLst>
          </p:cNvPr>
          <p:cNvSpPr>
            <a:spLocks noChangeArrowheads="1"/>
          </p:cNvSpPr>
          <p:nvPr>
            <p:custDataLst>
              <p:tags r:id="rId15"/>
            </p:custDataLst>
          </p:nvPr>
        </p:nvSpPr>
        <p:spPr bwMode="auto">
          <a:xfrm>
            <a:off x="3734115" y="4962052"/>
            <a:ext cx="1717606"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1800" dirty="0"/>
          </a:p>
        </p:txBody>
      </p:sp>
      <p:sp>
        <p:nvSpPr>
          <p:cNvPr id="19" name="Text Box 11" descr=" 9">
            <a:extLst>
              <a:ext uri="{FF2B5EF4-FFF2-40B4-BE49-F238E27FC236}">
                <a16:creationId xmlns:a16="http://schemas.microsoft.com/office/drawing/2014/main" id="{B44DFCCC-CB9B-4F60-848C-DAE7581ECB5B}"/>
              </a:ext>
            </a:extLst>
          </p:cNvPr>
          <p:cNvSpPr txBox="1">
            <a:spLocks noChangeArrowheads="1"/>
          </p:cNvSpPr>
          <p:nvPr>
            <p:custDataLst>
              <p:tags r:id="rId16"/>
            </p:custDataLst>
          </p:nvPr>
        </p:nvSpPr>
        <p:spPr bwMode="auto">
          <a:xfrm>
            <a:off x="1763804" y="2928082"/>
            <a:ext cx="1201355" cy="323165"/>
          </a:xfrm>
          <a:prstGeom prst="rect">
            <a:avLst/>
          </a:prstGeom>
          <a:noFill/>
          <a:ln w="12700">
            <a:noFill/>
            <a:miter lim="800000"/>
            <a:headEnd type="none" w="sm" len="sm"/>
            <a:tailEnd type="none" w="sm" len="sm"/>
          </a:ln>
        </p:spPr>
        <p:txBody>
          <a:bodyPr wrap="none">
            <a:spAutoFit/>
          </a:bodyPr>
          <a:lstStyle/>
          <a:p>
            <a:r>
              <a:rPr lang="en-US" sz="1500" dirty="0">
                <a:solidFill>
                  <a:srgbClr val="CC0000"/>
                </a:solidFill>
                <a:latin typeface="+mn-lt"/>
              </a:rPr>
              <a:t>t1: </a:t>
            </a:r>
            <a:r>
              <a:rPr lang="en-US" sz="1500" dirty="0">
                <a:latin typeface="+mn-lt"/>
              </a:rPr>
              <a:t>Store A=1</a:t>
            </a:r>
          </a:p>
        </p:txBody>
      </p:sp>
      <p:sp>
        <p:nvSpPr>
          <p:cNvPr id="20" name="Text Box 11" descr=" 19">
            <a:extLst>
              <a:ext uri="{FF2B5EF4-FFF2-40B4-BE49-F238E27FC236}">
                <a16:creationId xmlns:a16="http://schemas.microsoft.com/office/drawing/2014/main" id="{CDEF9C23-91FC-42CD-8D6A-D65A21DC4039}"/>
              </a:ext>
            </a:extLst>
          </p:cNvPr>
          <p:cNvSpPr txBox="1">
            <a:spLocks noChangeArrowheads="1"/>
          </p:cNvSpPr>
          <p:nvPr>
            <p:custDataLst>
              <p:tags r:id="rId17"/>
            </p:custDataLst>
          </p:nvPr>
        </p:nvSpPr>
        <p:spPr bwMode="auto">
          <a:xfrm>
            <a:off x="1837591" y="4249654"/>
            <a:ext cx="1180131" cy="323165"/>
          </a:xfrm>
          <a:prstGeom prst="rect">
            <a:avLst/>
          </a:prstGeom>
          <a:noFill/>
          <a:ln w="12700">
            <a:noFill/>
            <a:miter lim="800000"/>
            <a:headEnd type="none" w="sm" len="sm"/>
            <a:tailEnd type="none" w="sm" len="sm"/>
          </a:ln>
        </p:spPr>
        <p:txBody>
          <a:bodyPr wrap="none">
            <a:spAutoFit/>
          </a:bodyPr>
          <a:lstStyle/>
          <a:p>
            <a:r>
              <a:rPr lang="en-US" sz="1500" dirty="0">
                <a:solidFill>
                  <a:srgbClr val="CC0000"/>
                </a:solidFill>
                <a:latin typeface="+mn-lt"/>
              </a:rPr>
              <a:t>t2: </a:t>
            </a:r>
            <a:r>
              <a:rPr lang="en-US" sz="1500" dirty="0" err="1">
                <a:latin typeface="+mn-lt"/>
              </a:rPr>
              <a:t>BusRdX</a:t>
            </a:r>
            <a:r>
              <a:rPr lang="en-US" sz="1500" dirty="0">
                <a:latin typeface="+mn-lt"/>
              </a:rPr>
              <a:t> A</a:t>
            </a:r>
          </a:p>
        </p:txBody>
      </p:sp>
      <p:sp>
        <p:nvSpPr>
          <p:cNvPr id="21" name="Text Box 11" descr=" 19">
            <a:extLst>
              <a:ext uri="{FF2B5EF4-FFF2-40B4-BE49-F238E27FC236}">
                <a16:creationId xmlns:a16="http://schemas.microsoft.com/office/drawing/2014/main" id="{B125560F-7AFF-41F1-86C7-5AE824540EE2}"/>
              </a:ext>
            </a:extLst>
          </p:cNvPr>
          <p:cNvSpPr txBox="1">
            <a:spLocks noChangeArrowheads="1"/>
          </p:cNvSpPr>
          <p:nvPr>
            <p:custDataLst>
              <p:tags r:id="rId18"/>
            </p:custDataLst>
          </p:nvPr>
        </p:nvSpPr>
        <p:spPr bwMode="auto">
          <a:xfrm>
            <a:off x="2472156" y="4812305"/>
            <a:ext cx="1304973" cy="323165"/>
          </a:xfrm>
          <a:prstGeom prst="rect">
            <a:avLst/>
          </a:prstGeom>
          <a:noFill/>
          <a:ln w="12700">
            <a:noFill/>
            <a:miter lim="800000"/>
            <a:headEnd type="none" w="sm" len="sm"/>
            <a:tailEnd type="none" w="sm" len="sm"/>
          </a:ln>
        </p:spPr>
        <p:txBody>
          <a:bodyPr wrap="none">
            <a:spAutoFit/>
          </a:bodyPr>
          <a:lstStyle/>
          <a:p>
            <a:r>
              <a:rPr lang="en-US" sz="1500" dirty="0">
                <a:solidFill>
                  <a:srgbClr val="CC0000"/>
                </a:solidFill>
                <a:latin typeface="+mn-lt"/>
              </a:rPr>
              <a:t>t3: </a:t>
            </a:r>
            <a:r>
              <a:rPr lang="en-US" sz="1500" dirty="0" err="1">
                <a:latin typeface="+mn-lt"/>
              </a:rPr>
              <a:t>BusReply</a:t>
            </a:r>
            <a:r>
              <a:rPr lang="en-US" sz="1500" dirty="0">
                <a:latin typeface="+mn-lt"/>
              </a:rPr>
              <a:t> A</a:t>
            </a:r>
          </a:p>
        </p:txBody>
      </p:sp>
      <p:sp>
        <p:nvSpPr>
          <p:cNvPr id="22" name="Rectangle 2">
            <a:extLst>
              <a:ext uri="{FF2B5EF4-FFF2-40B4-BE49-F238E27FC236}">
                <a16:creationId xmlns:a16="http://schemas.microsoft.com/office/drawing/2014/main" id="{47584DB9-FAA3-4472-A2C7-D98288A32F0F}"/>
              </a:ext>
            </a:extLst>
          </p:cNvPr>
          <p:cNvSpPr>
            <a:spLocks noGrp="1" noChangeArrowheads="1"/>
          </p:cNvSpPr>
          <p:nvPr>
            <p:ph type="title"/>
            <p:custDataLst>
              <p:tags r:id="rId19"/>
            </p:custDataLst>
          </p:nvPr>
        </p:nvSpPr>
        <p:spPr>
          <a:xfrm>
            <a:off x="457200" y="274638"/>
            <a:ext cx="7467600" cy="1143000"/>
          </a:xfrm>
        </p:spPr>
        <p:txBody>
          <a:bodyPr/>
          <a:lstStyle/>
          <a:p>
            <a:pPr eaLnBrk="1" hangingPunct="1"/>
            <a:r>
              <a:rPr lang="en-US" altLang="en-US" dirty="0">
                <a:latin typeface="+mn-lt"/>
              </a:rPr>
              <a:t>MI Protocol</a:t>
            </a:r>
          </a:p>
        </p:txBody>
      </p:sp>
      <p:grpSp>
        <p:nvGrpSpPr>
          <p:cNvPr id="23" name="Group 22">
            <a:extLst>
              <a:ext uri="{FF2B5EF4-FFF2-40B4-BE49-F238E27FC236}">
                <a16:creationId xmlns:a16="http://schemas.microsoft.com/office/drawing/2014/main" id="{BCCF5F38-E5B8-4298-BDFC-C42D4158E984}"/>
              </a:ext>
            </a:extLst>
          </p:cNvPr>
          <p:cNvGrpSpPr/>
          <p:nvPr>
            <p:custDataLst>
              <p:tags r:id="rId20"/>
            </p:custDataLst>
          </p:nvPr>
        </p:nvGrpSpPr>
        <p:grpSpPr>
          <a:xfrm>
            <a:off x="5475495" y="4284464"/>
            <a:ext cx="3287504" cy="2496145"/>
            <a:chOff x="5475495" y="4284464"/>
            <a:chExt cx="3287504" cy="2496145"/>
          </a:xfrm>
        </p:grpSpPr>
        <p:sp>
          <p:nvSpPr>
            <p:cNvPr id="27" name="Oval 7">
              <a:extLst>
                <a:ext uri="{FF2B5EF4-FFF2-40B4-BE49-F238E27FC236}">
                  <a16:creationId xmlns:a16="http://schemas.microsoft.com/office/drawing/2014/main" id="{E292251F-8085-4387-B9A5-AC658F6ED0C8}"/>
                </a:ext>
              </a:extLst>
            </p:cNvPr>
            <p:cNvSpPr>
              <a:spLocks noChangeArrowheads="1"/>
            </p:cNvSpPr>
            <p:nvPr>
              <p:custDataLst>
                <p:tags r:id="rId21"/>
              </p:custDataLst>
            </p:nvPr>
          </p:nvSpPr>
          <p:spPr bwMode="auto">
            <a:xfrm>
              <a:off x="6902246" y="4904184"/>
              <a:ext cx="461338" cy="619125"/>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1650" dirty="0"/>
                <a:t>M</a:t>
              </a:r>
            </a:p>
          </p:txBody>
        </p:sp>
        <p:sp>
          <p:nvSpPr>
            <p:cNvPr id="28" name="Oval 8">
              <a:extLst>
                <a:ext uri="{FF2B5EF4-FFF2-40B4-BE49-F238E27FC236}">
                  <a16:creationId xmlns:a16="http://schemas.microsoft.com/office/drawing/2014/main" id="{B16A62C6-1650-407F-A83F-D078DDB24EB8}"/>
                </a:ext>
              </a:extLst>
            </p:cNvPr>
            <p:cNvSpPr>
              <a:spLocks noChangeArrowheads="1"/>
            </p:cNvSpPr>
            <p:nvPr>
              <p:custDataLst>
                <p:tags r:id="rId22"/>
              </p:custDataLst>
            </p:nvPr>
          </p:nvSpPr>
          <p:spPr bwMode="auto">
            <a:xfrm>
              <a:off x="6949266" y="6161484"/>
              <a:ext cx="461338" cy="619125"/>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1650" dirty="0"/>
                <a:t>I</a:t>
              </a:r>
            </a:p>
          </p:txBody>
        </p:sp>
        <p:sp>
          <p:nvSpPr>
            <p:cNvPr id="29" name="Arc 9">
              <a:extLst>
                <a:ext uri="{FF2B5EF4-FFF2-40B4-BE49-F238E27FC236}">
                  <a16:creationId xmlns:a16="http://schemas.microsoft.com/office/drawing/2014/main" id="{A0B2F9CB-BD76-4A83-9671-82BD5976F565}"/>
                </a:ext>
              </a:extLst>
            </p:cNvPr>
            <p:cNvSpPr>
              <a:spLocks/>
            </p:cNvSpPr>
            <p:nvPr>
              <p:custDataLst>
                <p:tags r:id="rId23"/>
              </p:custDataLst>
            </p:nvPr>
          </p:nvSpPr>
          <p:spPr bwMode="auto">
            <a:xfrm rot="4920000">
              <a:off x="6966450" y="4404352"/>
              <a:ext cx="721519" cy="481744"/>
            </a:xfrm>
            <a:custGeom>
              <a:avLst/>
              <a:gdLst>
                <a:gd name="T0" fmla="*/ 505 w 43200"/>
                <a:gd name="T1" fmla="*/ 474 h 43200"/>
                <a:gd name="T2" fmla="*/ 599 w 43200"/>
                <a:gd name="T3" fmla="*/ 328 h 43200"/>
                <a:gd name="T4" fmla="*/ 303 w 43200"/>
                <a:gd name="T5" fmla="*/ 272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path>
                <a:path w="43200" h="43200" stroke="0"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lnTo>
                    <a:pt x="21600" y="21600"/>
                  </a:lnTo>
                  <a:close/>
                </a:path>
              </a:pathLst>
            </a:custGeom>
            <a:noFill/>
            <a:ln w="12700" cap="rnd">
              <a:solidFill>
                <a:schemeClr val="tx1"/>
              </a:solidFill>
              <a:round/>
              <a:headEnd/>
              <a:tailEnd type="triangle" w="med" len="med"/>
            </a:ln>
          </p:spPr>
          <p:txBody>
            <a:bodyPr wrap="none" anchor="ctr"/>
            <a:lstStyle/>
            <a:p>
              <a:endParaRPr lang="en-US" sz="750" dirty="0">
                <a:latin typeface="+mn-lt"/>
              </a:endParaRPr>
            </a:p>
          </p:txBody>
        </p:sp>
        <p:sp>
          <p:nvSpPr>
            <p:cNvPr id="30" name="Arc 10">
              <a:extLst>
                <a:ext uri="{FF2B5EF4-FFF2-40B4-BE49-F238E27FC236}">
                  <a16:creationId xmlns:a16="http://schemas.microsoft.com/office/drawing/2014/main" id="{CC55978A-1DE1-4A7A-B747-E51A94E2E933}"/>
                </a:ext>
              </a:extLst>
            </p:cNvPr>
            <p:cNvSpPr>
              <a:spLocks/>
            </p:cNvSpPr>
            <p:nvPr>
              <p:custDataLst>
                <p:tags r:id="rId24"/>
              </p:custDataLst>
            </p:nvPr>
          </p:nvSpPr>
          <p:spPr bwMode="auto">
            <a:xfrm rot="4920000">
              <a:off x="7111248" y="5540558"/>
              <a:ext cx="1075134" cy="497713"/>
            </a:xfrm>
            <a:custGeom>
              <a:avLst/>
              <a:gdLst>
                <a:gd name="T0" fmla="*/ 3 w 43200"/>
                <a:gd name="T1" fmla="*/ 512 h 26189"/>
                <a:gd name="T2" fmla="*/ 893 w 43200"/>
                <a:gd name="T3" fmla="*/ 561 h 26189"/>
                <a:gd name="T4" fmla="*/ 452 w 43200"/>
                <a:gd name="T5" fmla="*/ 463 h 26189"/>
                <a:gd name="T6" fmla="*/ 0 60000 65536"/>
                <a:gd name="T7" fmla="*/ 0 60000 65536"/>
                <a:gd name="T8" fmla="*/ 0 60000 65536"/>
                <a:gd name="T9" fmla="*/ 0 w 43200"/>
                <a:gd name="T10" fmla="*/ 0 h 26189"/>
                <a:gd name="T11" fmla="*/ 43200 w 43200"/>
                <a:gd name="T12" fmla="*/ 26189 h 26189"/>
              </a:gdLst>
              <a:ahLst/>
              <a:cxnLst>
                <a:cxn ang="T6">
                  <a:pos x="T0" y="T1"/>
                </a:cxn>
                <a:cxn ang="T7">
                  <a:pos x="T2" y="T3"/>
                </a:cxn>
                <a:cxn ang="T8">
                  <a:pos x="T4" y="T5"/>
                </a:cxn>
              </a:cxnLst>
              <a:rect l="T9" t="T10" r="T11" b="T12"/>
              <a:pathLst>
                <a:path w="43200" h="26189" fill="none" extrusionOk="0">
                  <a:moveTo>
                    <a:pt x="120" y="23883"/>
                  </a:moveTo>
                  <a:cubicBezTo>
                    <a:pt x="40" y="23124"/>
                    <a:pt x="0" y="22362"/>
                    <a:pt x="0" y="21600"/>
                  </a:cubicBezTo>
                  <a:cubicBezTo>
                    <a:pt x="0" y="9670"/>
                    <a:pt x="9670" y="0"/>
                    <a:pt x="21600" y="0"/>
                  </a:cubicBezTo>
                  <a:cubicBezTo>
                    <a:pt x="33529" y="0"/>
                    <a:pt x="43200" y="9670"/>
                    <a:pt x="43200" y="21600"/>
                  </a:cubicBezTo>
                  <a:cubicBezTo>
                    <a:pt x="43200" y="23142"/>
                    <a:pt x="43034" y="24681"/>
                    <a:pt x="42706" y="26188"/>
                  </a:cubicBezTo>
                </a:path>
                <a:path w="43200" h="26189" stroke="0" extrusionOk="0">
                  <a:moveTo>
                    <a:pt x="120" y="23883"/>
                  </a:moveTo>
                  <a:cubicBezTo>
                    <a:pt x="40" y="23124"/>
                    <a:pt x="0" y="22362"/>
                    <a:pt x="0" y="21600"/>
                  </a:cubicBezTo>
                  <a:cubicBezTo>
                    <a:pt x="0" y="9670"/>
                    <a:pt x="9670" y="0"/>
                    <a:pt x="21600" y="0"/>
                  </a:cubicBezTo>
                  <a:cubicBezTo>
                    <a:pt x="33529" y="0"/>
                    <a:pt x="43200" y="9670"/>
                    <a:pt x="43200" y="21600"/>
                  </a:cubicBezTo>
                  <a:cubicBezTo>
                    <a:pt x="43200" y="23142"/>
                    <a:pt x="43034" y="24681"/>
                    <a:pt x="42706" y="26188"/>
                  </a:cubicBezTo>
                  <a:lnTo>
                    <a:pt x="21600" y="21600"/>
                  </a:lnTo>
                  <a:close/>
                </a:path>
              </a:pathLst>
            </a:custGeom>
            <a:noFill/>
            <a:ln w="12700" cap="rnd">
              <a:solidFill>
                <a:schemeClr val="tx1"/>
              </a:solidFill>
              <a:round/>
              <a:headEnd/>
              <a:tailEnd type="triangle" w="med" len="med"/>
            </a:ln>
          </p:spPr>
          <p:txBody>
            <a:bodyPr wrap="none" anchor="ctr"/>
            <a:lstStyle/>
            <a:p>
              <a:endParaRPr lang="en-US" sz="750" dirty="0">
                <a:latin typeface="+mn-lt"/>
              </a:endParaRPr>
            </a:p>
          </p:txBody>
        </p:sp>
        <p:sp>
          <p:nvSpPr>
            <p:cNvPr id="31" name="Rectangle 12">
              <a:extLst>
                <a:ext uri="{FF2B5EF4-FFF2-40B4-BE49-F238E27FC236}">
                  <a16:creationId xmlns:a16="http://schemas.microsoft.com/office/drawing/2014/main" id="{76CF2E93-6E54-482F-B15C-4D8B1B4788CC}"/>
                </a:ext>
              </a:extLst>
            </p:cNvPr>
            <p:cNvSpPr>
              <a:spLocks noChangeArrowheads="1"/>
            </p:cNvSpPr>
            <p:nvPr>
              <p:custDataLst>
                <p:tags r:id="rId25"/>
              </p:custDataLst>
            </p:nvPr>
          </p:nvSpPr>
          <p:spPr bwMode="auto">
            <a:xfrm>
              <a:off x="7543800" y="4594029"/>
              <a:ext cx="581636" cy="282771"/>
            </a:xfrm>
            <a:prstGeom prst="rect">
              <a:avLst/>
            </a:prstGeom>
            <a:noFill/>
            <a:ln w="12700">
              <a:noFill/>
              <a:prstDash val="sysDot"/>
              <a:miter lim="800000"/>
              <a:headEnd/>
              <a:tailEnd/>
            </a:ln>
          </p:spPr>
          <p:txBody>
            <a:bodyPr wrap="none" lIns="67866" tIns="33338" rIns="67866" bIns="33338">
              <a:spAutoFit/>
            </a:bodyPr>
            <a:lstStyle/>
            <a:p>
              <a:r>
                <a:rPr lang="en-US" sz="1400" dirty="0">
                  <a:latin typeface="+mn-lt"/>
                </a:rPr>
                <a:t>Store / --</a:t>
              </a:r>
            </a:p>
          </p:txBody>
        </p:sp>
        <p:sp>
          <p:nvSpPr>
            <p:cNvPr id="32" name="Rectangle 17">
              <a:extLst>
                <a:ext uri="{FF2B5EF4-FFF2-40B4-BE49-F238E27FC236}">
                  <a16:creationId xmlns:a16="http://schemas.microsoft.com/office/drawing/2014/main" id="{2B503DD3-B33E-417D-9CBE-874A994C8C1E}"/>
                </a:ext>
              </a:extLst>
            </p:cNvPr>
            <p:cNvSpPr>
              <a:spLocks noChangeArrowheads="1"/>
            </p:cNvSpPr>
            <p:nvPr>
              <p:custDataLst>
                <p:tags r:id="rId26"/>
              </p:custDataLst>
            </p:nvPr>
          </p:nvSpPr>
          <p:spPr bwMode="auto">
            <a:xfrm>
              <a:off x="5475495" y="6019800"/>
              <a:ext cx="883311" cy="282771"/>
            </a:xfrm>
            <a:prstGeom prst="rect">
              <a:avLst/>
            </a:prstGeom>
            <a:noFill/>
            <a:ln w="12700">
              <a:noFill/>
              <a:prstDash val="sysDot"/>
              <a:miter lim="800000"/>
              <a:headEnd/>
              <a:tailEnd/>
            </a:ln>
          </p:spPr>
          <p:txBody>
            <a:bodyPr wrap="none" lIns="67866" tIns="33338" rIns="67866" bIns="33338">
              <a:spAutoFit/>
            </a:bodyPr>
            <a:lstStyle/>
            <a:p>
              <a:r>
                <a:rPr lang="en-US" sz="1400" dirty="0">
                  <a:latin typeface="+mn-lt"/>
                </a:rPr>
                <a:t>Load / </a:t>
              </a:r>
              <a:r>
                <a:rPr lang="en-US" sz="1400" dirty="0" err="1">
                  <a:latin typeface="+mn-lt"/>
                </a:rPr>
                <a:t>BusRdX</a:t>
              </a:r>
              <a:endParaRPr lang="en-US" sz="1400" dirty="0">
                <a:latin typeface="+mn-lt"/>
              </a:endParaRPr>
            </a:p>
          </p:txBody>
        </p:sp>
        <p:sp>
          <p:nvSpPr>
            <p:cNvPr id="33" name="Arc 18">
              <a:extLst>
                <a:ext uri="{FF2B5EF4-FFF2-40B4-BE49-F238E27FC236}">
                  <a16:creationId xmlns:a16="http://schemas.microsoft.com/office/drawing/2014/main" id="{AB53CFD1-B7B4-49F3-BA6D-831D6C7F5E5D}"/>
                </a:ext>
              </a:extLst>
            </p:cNvPr>
            <p:cNvSpPr>
              <a:spLocks/>
            </p:cNvSpPr>
            <p:nvPr>
              <p:custDataLst>
                <p:tags r:id="rId27"/>
              </p:custDataLst>
            </p:nvPr>
          </p:nvSpPr>
          <p:spPr bwMode="auto">
            <a:xfrm rot="15720000">
              <a:off x="6174377" y="5538177"/>
              <a:ext cx="1075134" cy="497713"/>
            </a:xfrm>
            <a:custGeom>
              <a:avLst/>
              <a:gdLst>
                <a:gd name="T0" fmla="*/ 3 w 43200"/>
                <a:gd name="T1" fmla="*/ 512 h 26189"/>
                <a:gd name="T2" fmla="*/ 893 w 43200"/>
                <a:gd name="T3" fmla="*/ 561 h 26189"/>
                <a:gd name="T4" fmla="*/ 452 w 43200"/>
                <a:gd name="T5" fmla="*/ 463 h 26189"/>
                <a:gd name="T6" fmla="*/ 0 60000 65536"/>
                <a:gd name="T7" fmla="*/ 0 60000 65536"/>
                <a:gd name="T8" fmla="*/ 0 60000 65536"/>
                <a:gd name="T9" fmla="*/ 0 w 43200"/>
                <a:gd name="T10" fmla="*/ 0 h 26189"/>
                <a:gd name="T11" fmla="*/ 43200 w 43200"/>
                <a:gd name="T12" fmla="*/ 26189 h 26189"/>
              </a:gdLst>
              <a:ahLst/>
              <a:cxnLst>
                <a:cxn ang="T6">
                  <a:pos x="T0" y="T1"/>
                </a:cxn>
                <a:cxn ang="T7">
                  <a:pos x="T2" y="T3"/>
                </a:cxn>
                <a:cxn ang="T8">
                  <a:pos x="T4" y="T5"/>
                </a:cxn>
              </a:cxnLst>
              <a:rect l="T9" t="T10" r="T11" b="T12"/>
              <a:pathLst>
                <a:path w="43200" h="26189" fill="none" extrusionOk="0">
                  <a:moveTo>
                    <a:pt x="120" y="23883"/>
                  </a:moveTo>
                  <a:cubicBezTo>
                    <a:pt x="40" y="23124"/>
                    <a:pt x="0" y="22362"/>
                    <a:pt x="0" y="21600"/>
                  </a:cubicBezTo>
                  <a:cubicBezTo>
                    <a:pt x="0" y="9670"/>
                    <a:pt x="9670" y="0"/>
                    <a:pt x="21600" y="0"/>
                  </a:cubicBezTo>
                  <a:cubicBezTo>
                    <a:pt x="33529" y="0"/>
                    <a:pt x="43200" y="9670"/>
                    <a:pt x="43200" y="21600"/>
                  </a:cubicBezTo>
                  <a:cubicBezTo>
                    <a:pt x="43200" y="23142"/>
                    <a:pt x="43034" y="24681"/>
                    <a:pt x="42706" y="26188"/>
                  </a:cubicBezTo>
                </a:path>
                <a:path w="43200" h="26189" stroke="0" extrusionOk="0">
                  <a:moveTo>
                    <a:pt x="120" y="23883"/>
                  </a:moveTo>
                  <a:cubicBezTo>
                    <a:pt x="40" y="23124"/>
                    <a:pt x="0" y="22362"/>
                    <a:pt x="0" y="21600"/>
                  </a:cubicBezTo>
                  <a:cubicBezTo>
                    <a:pt x="0" y="9670"/>
                    <a:pt x="9670" y="0"/>
                    <a:pt x="21600" y="0"/>
                  </a:cubicBezTo>
                  <a:cubicBezTo>
                    <a:pt x="33529" y="0"/>
                    <a:pt x="43200" y="9670"/>
                    <a:pt x="43200" y="21600"/>
                  </a:cubicBezTo>
                  <a:cubicBezTo>
                    <a:pt x="43200" y="23142"/>
                    <a:pt x="43034" y="24681"/>
                    <a:pt x="42706" y="26188"/>
                  </a:cubicBezTo>
                  <a:lnTo>
                    <a:pt x="21600" y="21600"/>
                  </a:lnTo>
                  <a:close/>
                </a:path>
              </a:pathLst>
            </a:custGeom>
            <a:noFill/>
            <a:ln w="12700" cap="rnd">
              <a:solidFill>
                <a:schemeClr val="tx1"/>
              </a:solidFill>
              <a:round/>
              <a:headEnd/>
              <a:tailEnd type="triangle" w="med" len="med"/>
            </a:ln>
          </p:spPr>
          <p:txBody>
            <a:bodyPr wrap="none" anchor="ctr"/>
            <a:lstStyle/>
            <a:p>
              <a:endParaRPr lang="en-US" sz="750" dirty="0">
                <a:latin typeface="+mn-lt"/>
              </a:endParaRPr>
            </a:p>
          </p:txBody>
        </p:sp>
        <p:sp>
          <p:nvSpPr>
            <p:cNvPr id="34" name="Rectangle 19">
              <a:extLst>
                <a:ext uri="{FF2B5EF4-FFF2-40B4-BE49-F238E27FC236}">
                  <a16:creationId xmlns:a16="http://schemas.microsoft.com/office/drawing/2014/main" id="{E3371191-27A6-4202-91F2-88ED91B47311}"/>
                </a:ext>
              </a:extLst>
            </p:cNvPr>
            <p:cNvSpPr>
              <a:spLocks noChangeArrowheads="1"/>
            </p:cNvSpPr>
            <p:nvPr>
              <p:custDataLst>
                <p:tags r:id="rId28"/>
              </p:custDataLst>
            </p:nvPr>
          </p:nvSpPr>
          <p:spPr bwMode="auto">
            <a:xfrm>
              <a:off x="7614107" y="4390527"/>
              <a:ext cx="556027" cy="282771"/>
            </a:xfrm>
            <a:prstGeom prst="rect">
              <a:avLst/>
            </a:prstGeom>
            <a:noFill/>
            <a:ln w="12700">
              <a:noFill/>
              <a:prstDash val="sysDot"/>
              <a:miter lim="800000"/>
              <a:headEnd/>
              <a:tailEnd/>
            </a:ln>
          </p:spPr>
          <p:txBody>
            <a:bodyPr wrap="none" lIns="67866" tIns="33338" rIns="67866" bIns="33338">
              <a:spAutoFit/>
            </a:bodyPr>
            <a:lstStyle/>
            <a:p>
              <a:r>
                <a:rPr lang="en-US" sz="1400" dirty="0">
                  <a:latin typeface="+mn-lt"/>
                </a:rPr>
                <a:t>Load / --</a:t>
              </a:r>
            </a:p>
          </p:txBody>
        </p:sp>
        <p:sp>
          <p:nvSpPr>
            <p:cNvPr id="35" name="Rectangle 14">
              <a:extLst>
                <a:ext uri="{FF2B5EF4-FFF2-40B4-BE49-F238E27FC236}">
                  <a16:creationId xmlns:a16="http://schemas.microsoft.com/office/drawing/2014/main" id="{B8D610AB-8EB5-45CD-B709-504D890F7948}"/>
                </a:ext>
              </a:extLst>
            </p:cNvPr>
            <p:cNvSpPr>
              <a:spLocks noChangeArrowheads="1"/>
            </p:cNvSpPr>
            <p:nvPr>
              <p:custDataLst>
                <p:tags r:id="rId29"/>
              </p:custDataLst>
            </p:nvPr>
          </p:nvSpPr>
          <p:spPr bwMode="auto">
            <a:xfrm>
              <a:off x="7645523" y="6341497"/>
              <a:ext cx="1117476" cy="282771"/>
            </a:xfrm>
            <a:prstGeom prst="rect">
              <a:avLst/>
            </a:prstGeom>
            <a:noFill/>
            <a:ln w="12700">
              <a:noFill/>
              <a:prstDash val="sysDot"/>
              <a:miter lim="800000"/>
              <a:headEnd/>
              <a:tailEnd/>
            </a:ln>
          </p:spPr>
          <p:txBody>
            <a:bodyPr wrap="none" lIns="67866" tIns="33338" rIns="67866" bIns="33338">
              <a:spAutoFit/>
            </a:bodyPr>
            <a:lstStyle/>
            <a:p>
              <a:r>
                <a:rPr lang="en-US" sz="1400" dirty="0" err="1">
                  <a:latin typeface="+mn-lt"/>
                </a:rPr>
                <a:t>BusRdX</a:t>
              </a:r>
              <a:r>
                <a:rPr lang="en-US" sz="1400" dirty="0">
                  <a:latin typeface="+mn-lt"/>
                </a:rPr>
                <a:t> / </a:t>
              </a:r>
              <a:r>
                <a:rPr lang="en-US" sz="1400" dirty="0" err="1">
                  <a:latin typeface="+mn-lt"/>
                </a:rPr>
                <a:t>BusReply</a:t>
              </a:r>
              <a:endParaRPr lang="en-US" sz="1400" dirty="0">
                <a:latin typeface="+mn-lt"/>
              </a:endParaRPr>
            </a:p>
          </p:txBody>
        </p:sp>
        <p:sp>
          <p:nvSpPr>
            <p:cNvPr id="36" name="Rectangle 17">
              <a:extLst>
                <a:ext uri="{FF2B5EF4-FFF2-40B4-BE49-F238E27FC236}">
                  <a16:creationId xmlns:a16="http://schemas.microsoft.com/office/drawing/2014/main" id="{B702A8C1-C221-4B4E-9138-04DC4B369FD0}"/>
                </a:ext>
              </a:extLst>
            </p:cNvPr>
            <p:cNvSpPr>
              <a:spLocks noChangeArrowheads="1"/>
            </p:cNvSpPr>
            <p:nvPr>
              <p:custDataLst>
                <p:tags r:id="rId30"/>
              </p:custDataLst>
            </p:nvPr>
          </p:nvSpPr>
          <p:spPr bwMode="auto">
            <a:xfrm>
              <a:off x="5491879" y="6250273"/>
              <a:ext cx="908921" cy="282771"/>
            </a:xfrm>
            <a:prstGeom prst="rect">
              <a:avLst/>
            </a:prstGeom>
            <a:noFill/>
            <a:ln w="12700">
              <a:noFill/>
              <a:prstDash val="sysDot"/>
              <a:miter lim="800000"/>
              <a:headEnd/>
              <a:tailEnd/>
            </a:ln>
          </p:spPr>
          <p:txBody>
            <a:bodyPr wrap="none" lIns="67866" tIns="33338" rIns="67866" bIns="33338">
              <a:spAutoFit/>
            </a:bodyPr>
            <a:lstStyle/>
            <a:p>
              <a:r>
                <a:rPr lang="en-US" sz="1400" dirty="0">
                  <a:latin typeface="+mn-lt"/>
                </a:rPr>
                <a:t>Store / </a:t>
              </a:r>
              <a:r>
                <a:rPr lang="en-US" sz="1400" dirty="0" err="1">
                  <a:latin typeface="+mn-lt"/>
                </a:rPr>
                <a:t>BusRdX</a:t>
              </a:r>
              <a:endParaRPr lang="en-US" sz="1400" dirty="0">
                <a:latin typeface="+mn-lt"/>
              </a:endParaRPr>
            </a:p>
          </p:txBody>
        </p:sp>
        <p:sp>
          <p:nvSpPr>
            <p:cNvPr id="37" name="Rectangle 14">
              <a:extLst>
                <a:ext uri="{FF2B5EF4-FFF2-40B4-BE49-F238E27FC236}">
                  <a16:creationId xmlns:a16="http://schemas.microsoft.com/office/drawing/2014/main" id="{485340B5-EE4C-4FFA-BAD0-3D6A434F5153}"/>
                </a:ext>
              </a:extLst>
            </p:cNvPr>
            <p:cNvSpPr>
              <a:spLocks noChangeArrowheads="1"/>
            </p:cNvSpPr>
            <p:nvPr>
              <p:custDataLst>
                <p:tags r:id="rId31"/>
              </p:custDataLst>
            </p:nvPr>
          </p:nvSpPr>
          <p:spPr bwMode="auto">
            <a:xfrm>
              <a:off x="7783340" y="6132249"/>
              <a:ext cx="857464" cy="282771"/>
            </a:xfrm>
            <a:prstGeom prst="rect">
              <a:avLst/>
            </a:prstGeom>
            <a:noFill/>
            <a:ln w="12700">
              <a:noFill/>
              <a:prstDash val="sysDot"/>
              <a:miter lim="800000"/>
              <a:headEnd/>
              <a:tailEnd/>
            </a:ln>
          </p:spPr>
          <p:txBody>
            <a:bodyPr wrap="none" lIns="67866" tIns="33338" rIns="67866" bIns="33338">
              <a:spAutoFit/>
            </a:bodyPr>
            <a:lstStyle/>
            <a:p>
              <a:r>
                <a:rPr lang="en-US" sz="1400" dirty="0">
                  <a:latin typeface="+mn-lt"/>
                </a:rPr>
                <a:t>Evict / </a:t>
              </a:r>
              <a:r>
                <a:rPr lang="en-US" sz="1400" dirty="0" err="1">
                  <a:latin typeface="+mn-lt"/>
                </a:rPr>
                <a:t>BusWB</a:t>
              </a:r>
              <a:endParaRPr lang="en-US" sz="1400" dirty="0">
                <a:latin typeface="+mn-lt"/>
              </a:endParaRPr>
            </a:p>
          </p:txBody>
        </p:sp>
      </p:grpSp>
    </p:spTree>
    <p:custDataLst>
      <p:tags r:id="rId1"/>
    </p:custDataLst>
    <p:extLst>
      <p:ext uri="{BB962C8B-B14F-4D97-AF65-F5344CB8AC3E}">
        <p14:creationId xmlns:p14="http://schemas.microsoft.com/office/powerpoint/2010/main" val="170511092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descr=" 5">
            <a:extLst>
              <a:ext uri="{FF2B5EF4-FFF2-40B4-BE49-F238E27FC236}">
                <a16:creationId xmlns:a16="http://schemas.microsoft.com/office/drawing/2014/main" id="{7B0DBF13-EEC3-4A4E-8B1B-75F5C46CF9A7}"/>
              </a:ext>
            </a:extLst>
          </p:cNvPr>
          <p:cNvSpPr>
            <a:spLocks noChangeArrowheads="1"/>
          </p:cNvSpPr>
          <p:nvPr>
            <p:custDataLst>
              <p:tags r:id="rId2"/>
            </p:custDataLst>
          </p:nvPr>
        </p:nvSpPr>
        <p:spPr bwMode="auto">
          <a:xfrm>
            <a:off x="3077510" y="4208386"/>
            <a:ext cx="3030813"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Bus</a:t>
            </a:r>
          </a:p>
        </p:txBody>
      </p:sp>
      <p:sp>
        <p:nvSpPr>
          <p:cNvPr id="6" name="Rectangle 6" descr=" 6">
            <a:extLst>
              <a:ext uri="{FF2B5EF4-FFF2-40B4-BE49-F238E27FC236}">
                <a16:creationId xmlns:a16="http://schemas.microsoft.com/office/drawing/2014/main" id="{CFB6722F-138D-4F55-9C50-93D5AFF8E77A}"/>
              </a:ext>
            </a:extLst>
          </p:cNvPr>
          <p:cNvSpPr>
            <a:spLocks noChangeArrowheads="1"/>
          </p:cNvSpPr>
          <p:nvPr>
            <p:custDataLst>
              <p:tags r:id="rId3"/>
            </p:custDataLst>
          </p:nvPr>
        </p:nvSpPr>
        <p:spPr bwMode="auto">
          <a:xfrm>
            <a:off x="2975162" y="2859409"/>
            <a:ext cx="625289" cy="431006"/>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P1</a:t>
            </a:r>
          </a:p>
        </p:txBody>
      </p:sp>
      <p:cxnSp>
        <p:nvCxnSpPr>
          <p:cNvPr id="7" name="AutoShape 9" descr=" 7">
            <a:extLst>
              <a:ext uri="{FF2B5EF4-FFF2-40B4-BE49-F238E27FC236}">
                <a16:creationId xmlns:a16="http://schemas.microsoft.com/office/drawing/2014/main" id="{34E890EC-2638-4E5E-8148-DAA305381118}"/>
              </a:ext>
            </a:extLst>
          </p:cNvPr>
          <p:cNvCxnSpPr>
            <a:cxnSpLocks noChangeShapeType="1"/>
            <a:endCxn id="15" idx="0"/>
          </p:cNvCxnSpPr>
          <p:nvPr>
            <p:custDataLst>
              <p:tags r:id="rId4"/>
            </p:custDataLst>
          </p:nvPr>
        </p:nvCxnSpPr>
        <p:spPr bwMode="auto">
          <a:xfrm rot="5400000">
            <a:off x="3206249" y="3384438"/>
            <a:ext cx="163116" cy="1"/>
          </a:xfrm>
          <a:prstGeom prst="bentConnector3">
            <a:avLst>
              <a:gd name="adj1" fmla="val 50000"/>
            </a:avLst>
          </a:prstGeom>
          <a:noFill/>
          <a:ln w="12700">
            <a:solidFill>
              <a:schemeClr val="tx1"/>
            </a:solidFill>
            <a:miter lim="800000"/>
            <a:headEnd type="none" w="sm" len="sm"/>
            <a:tailEnd type="triangle" w="med" len="med"/>
          </a:ln>
        </p:spPr>
      </p:cxnSp>
      <p:sp>
        <p:nvSpPr>
          <p:cNvPr id="8" name="Line 10" descr=" 8">
            <a:extLst>
              <a:ext uri="{FF2B5EF4-FFF2-40B4-BE49-F238E27FC236}">
                <a16:creationId xmlns:a16="http://schemas.microsoft.com/office/drawing/2014/main" id="{A52CB5F6-6B2B-4331-9C96-186B335E0D02}"/>
              </a:ext>
            </a:extLst>
          </p:cNvPr>
          <p:cNvSpPr>
            <a:spLocks noChangeShapeType="1"/>
          </p:cNvSpPr>
          <p:nvPr>
            <p:custDataLst>
              <p:tags r:id="rId5"/>
            </p:custDataLst>
          </p:nvPr>
        </p:nvSpPr>
        <p:spPr bwMode="auto">
          <a:xfrm>
            <a:off x="3294530" y="3925789"/>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sp>
        <p:nvSpPr>
          <p:cNvPr id="10" name="Rectangle 14" descr=" 10">
            <a:extLst>
              <a:ext uri="{FF2B5EF4-FFF2-40B4-BE49-F238E27FC236}">
                <a16:creationId xmlns:a16="http://schemas.microsoft.com/office/drawing/2014/main" id="{8D064CF1-63DC-4784-88DF-BCE7A49F4E62}"/>
              </a:ext>
            </a:extLst>
          </p:cNvPr>
          <p:cNvSpPr>
            <a:spLocks noChangeArrowheads="1"/>
          </p:cNvSpPr>
          <p:nvPr>
            <p:custDataLst>
              <p:tags r:id="rId6"/>
            </p:custDataLst>
          </p:nvPr>
        </p:nvSpPr>
        <p:spPr bwMode="auto">
          <a:xfrm>
            <a:off x="5661212" y="2859409"/>
            <a:ext cx="625289" cy="431006"/>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P2</a:t>
            </a:r>
          </a:p>
        </p:txBody>
      </p:sp>
      <p:cxnSp>
        <p:nvCxnSpPr>
          <p:cNvPr id="11" name="AutoShape 17" descr=" 11">
            <a:extLst>
              <a:ext uri="{FF2B5EF4-FFF2-40B4-BE49-F238E27FC236}">
                <a16:creationId xmlns:a16="http://schemas.microsoft.com/office/drawing/2014/main" id="{9A1D69F6-400F-4FE1-ADDD-EC425C70BDA5}"/>
              </a:ext>
            </a:extLst>
          </p:cNvPr>
          <p:cNvCxnSpPr>
            <a:cxnSpLocks noChangeShapeType="1"/>
            <a:stCxn id="10" idx="2"/>
            <a:endCxn id="16" idx="0"/>
          </p:cNvCxnSpPr>
          <p:nvPr>
            <p:custDataLst>
              <p:tags r:id="rId7"/>
            </p:custDataLst>
          </p:nvPr>
        </p:nvCxnSpPr>
        <p:spPr bwMode="auto">
          <a:xfrm rot="5400000">
            <a:off x="5888132" y="3376140"/>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12" name="Rectangle 21" descr=" 12">
            <a:extLst>
              <a:ext uri="{FF2B5EF4-FFF2-40B4-BE49-F238E27FC236}">
                <a16:creationId xmlns:a16="http://schemas.microsoft.com/office/drawing/2014/main" id="{830F51E4-4BB8-4E38-9D2E-01D5D0F4DF8E}"/>
              </a:ext>
            </a:extLst>
          </p:cNvPr>
          <p:cNvSpPr>
            <a:spLocks noChangeArrowheads="1"/>
          </p:cNvSpPr>
          <p:nvPr>
            <p:custDataLst>
              <p:tags r:id="rId8"/>
            </p:custDataLst>
          </p:nvPr>
        </p:nvSpPr>
        <p:spPr bwMode="auto">
          <a:xfrm>
            <a:off x="3734115" y="4725118"/>
            <a:ext cx="1717606"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0</a:t>
            </a:r>
            <a:endParaRPr lang="en-US" sz="1800" dirty="0"/>
          </a:p>
        </p:txBody>
      </p:sp>
      <p:sp>
        <p:nvSpPr>
          <p:cNvPr id="13" name="Line 10" descr=" 13">
            <a:extLst>
              <a:ext uri="{FF2B5EF4-FFF2-40B4-BE49-F238E27FC236}">
                <a16:creationId xmlns:a16="http://schemas.microsoft.com/office/drawing/2014/main" id="{F3E43F7B-3884-4F75-8733-D53A46767F28}"/>
              </a:ext>
            </a:extLst>
          </p:cNvPr>
          <p:cNvSpPr>
            <a:spLocks noChangeShapeType="1"/>
          </p:cNvSpPr>
          <p:nvPr>
            <p:custDataLst>
              <p:tags r:id="rId9"/>
            </p:custDataLst>
          </p:nvPr>
        </p:nvSpPr>
        <p:spPr bwMode="auto">
          <a:xfrm>
            <a:off x="5973856" y="3919065"/>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cxnSp>
        <p:nvCxnSpPr>
          <p:cNvPr id="14" name="Straight Arrow Connector 13" descr=" 14">
            <a:extLst>
              <a:ext uri="{FF2B5EF4-FFF2-40B4-BE49-F238E27FC236}">
                <a16:creationId xmlns:a16="http://schemas.microsoft.com/office/drawing/2014/main" id="{AC5683A1-2BD0-415B-A57D-44B0E4D5D470}"/>
              </a:ext>
            </a:extLst>
          </p:cNvPr>
          <p:cNvCxnSpPr>
            <a:stCxn id="5" idx="2"/>
            <a:endCxn id="12" idx="0"/>
          </p:cNvCxnSpPr>
          <p:nvPr/>
        </p:nvCxnSpPr>
        <p:spPr bwMode="auto">
          <a:xfrm rot="16200000" flipH="1">
            <a:off x="4475640" y="4607841"/>
            <a:ext cx="234554" cy="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5" name="Rectangle 21" descr=" 15">
            <a:extLst>
              <a:ext uri="{FF2B5EF4-FFF2-40B4-BE49-F238E27FC236}">
                <a16:creationId xmlns:a16="http://schemas.microsoft.com/office/drawing/2014/main" id="{D26DB25A-2C6E-4BEB-A326-32CC0B8B4046}"/>
              </a:ext>
            </a:extLst>
          </p:cNvPr>
          <p:cNvSpPr>
            <a:spLocks noChangeArrowheads="1"/>
          </p:cNvSpPr>
          <p:nvPr>
            <p:custDataLst>
              <p:tags r:id="rId10"/>
            </p:custDataLst>
          </p:nvPr>
        </p:nvSpPr>
        <p:spPr bwMode="auto">
          <a:xfrm>
            <a:off x="2830606" y="3465995"/>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a:t>
            </a:r>
            <a:r>
              <a:rPr lang="en-US" sz="1500" strike="sngStrike" dirty="0"/>
              <a:t>I</a:t>
            </a:r>
            <a:r>
              <a:rPr lang="en-US" sz="1500" dirty="0"/>
              <a:t> </a:t>
            </a:r>
            <a:r>
              <a:rPr lang="en-US" sz="1500" dirty="0">
                <a:solidFill>
                  <a:srgbClr val="C00000"/>
                </a:solidFill>
              </a:rPr>
              <a:t>M</a:t>
            </a:r>
            <a:r>
              <a:rPr lang="en-US" sz="1500" dirty="0"/>
              <a:t>]: </a:t>
            </a:r>
            <a:r>
              <a:rPr lang="en-US" sz="1500" strike="sngStrike" dirty="0"/>
              <a:t>0</a:t>
            </a:r>
            <a:r>
              <a:rPr lang="en-US" sz="1500" dirty="0"/>
              <a:t> </a:t>
            </a:r>
            <a:r>
              <a:rPr lang="en-US" sz="1500" dirty="0">
                <a:solidFill>
                  <a:srgbClr val="C00000"/>
                </a:solidFill>
              </a:rPr>
              <a:t>3</a:t>
            </a:r>
            <a:endParaRPr lang="en-US" sz="1800" dirty="0">
              <a:solidFill>
                <a:srgbClr val="C00000"/>
              </a:solidFill>
            </a:endParaRPr>
          </a:p>
        </p:txBody>
      </p:sp>
      <p:sp>
        <p:nvSpPr>
          <p:cNvPr id="16" name="Rectangle 21" descr=" 16">
            <a:extLst>
              <a:ext uri="{FF2B5EF4-FFF2-40B4-BE49-F238E27FC236}">
                <a16:creationId xmlns:a16="http://schemas.microsoft.com/office/drawing/2014/main" id="{7574CD24-B6B9-4E07-A96E-7EBCFD1E59BA}"/>
              </a:ext>
            </a:extLst>
          </p:cNvPr>
          <p:cNvSpPr>
            <a:spLocks noChangeArrowheads="1"/>
          </p:cNvSpPr>
          <p:nvPr>
            <p:custDataLst>
              <p:tags r:id="rId11"/>
            </p:custDataLst>
          </p:nvPr>
        </p:nvSpPr>
        <p:spPr bwMode="auto">
          <a:xfrm>
            <a:off x="5516656" y="3461865"/>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[I]: --</a:t>
            </a:r>
            <a:endParaRPr lang="en-US" sz="1800" dirty="0"/>
          </a:p>
        </p:txBody>
      </p:sp>
      <p:sp>
        <p:nvSpPr>
          <p:cNvPr id="17" name="TextBox 16" descr=" 17">
            <a:extLst>
              <a:ext uri="{FF2B5EF4-FFF2-40B4-BE49-F238E27FC236}">
                <a16:creationId xmlns:a16="http://schemas.microsoft.com/office/drawing/2014/main" id="{00C3BC86-295D-4D7D-A4D2-9EEF02D2A4B3}"/>
              </a:ext>
            </a:extLst>
          </p:cNvPr>
          <p:cNvSpPr txBox="1"/>
          <p:nvPr>
            <p:custDataLst>
              <p:tags r:id="rId12"/>
            </p:custDataLst>
          </p:nvPr>
        </p:nvSpPr>
        <p:spPr>
          <a:xfrm>
            <a:off x="5459506" y="4947766"/>
            <a:ext cx="1076705" cy="276999"/>
          </a:xfrm>
          <a:prstGeom prst="rect">
            <a:avLst/>
          </a:prstGeom>
          <a:noFill/>
        </p:spPr>
        <p:txBody>
          <a:bodyPr wrap="none" rtlCol="0">
            <a:spAutoFit/>
          </a:bodyPr>
          <a:lstStyle/>
          <a:p>
            <a:r>
              <a:rPr lang="en-US" sz="1200" dirty="0">
                <a:latin typeface="+mn-lt"/>
              </a:rPr>
              <a:t>Main Memory</a:t>
            </a:r>
          </a:p>
        </p:txBody>
      </p:sp>
      <p:sp>
        <p:nvSpPr>
          <p:cNvPr id="24" name="Rectangle 22" descr=" 24">
            <a:extLst>
              <a:ext uri="{FF2B5EF4-FFF2-40B4-BE49-F238E27FC236}">
                <a16:creationId xmlns:a16="http://schemas.microsoft.com/office/drawing/2014/main" id="{C537AA7C-BA4F-445D-880D-5544524F35E8}"/>
              </a:ext>
            </a:extLst>
          </p:cNvPr>
          <p:cNvSpPr>
            <a:spLocks noChangeArrowheads="1"/>
          </p:cNvSpPr>
          <p:nvPr>
            <p:custDataLst>
              <p:tags r:id="rId13"/>
            </p:custDataLst>
          </p:nvPr>
        </p:nvSpPr>
        <p:spPr bwMode="auto">
          <a:xfrm>
            <a:off x="2830606" y="3690465"/>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1800" dirty="0"/>
          </a:p>
        </p:txBody>
      </p:sp>
      <p:sp>
        <p:nvSpPr>
          <p:cNvPr id="25" name="Rectangle 22" descr=" 25">
            <a:extLst>
              <a:ext uri="{FF2B5EF4-FFF2-40B4-BE49-F238E27FC236}">
                <a16:creationId xmlns:a16="http://schemas.microsoft.com/office/drawing/2014/main" id="{E69D5C80-D5CA-4CA2-8BD3-7F382A70FD13}"/>
              </a:ext>
            </a:extLst>
          </p:cNvPr>
          <p:cNvSpPr>
            <a:spLocks noChangeArrowheads="1"/>
          </p:cNvSpPr>
          <p:nvPr>
            <p:custDataLst>
              <p:tags r:id="rId14"/>
            </p:custDataLst>
          </p:nvPr>
        </p:nvSpPr>
        <p:spPr bwMode="auto">
          <a:xfrm>
            <a:off x="5516656" y="3698799"/>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1800" dirty="0"/>
          </a:p>
        </p:txBody>
      </p:sp>
      <p:sp>
        <p:nvSpPr>
          <p:cNvPr id="26" name="Rectangle 22" descr=" 26">
            <a:extLst>
              <a:ext uri="{FF2B5EF4-FFF2-40B4-BE49-F238E27FC236}">
                <a16:creationId xmlns:a16="http://schemas.microsoft.com/office/drawing/2014/main" id="{F38E3CA4-8260-4664-82A3-0F9B55A35D6C}"/>
              </a:ext>
            </a:extLst>
          </p:cNvPr>
          <p:cNvSpPr>
            <a:spLocks noChangeArrowheads="1"/>
          </p:cNvSpPr>
          <p:nvPr>
            <p:custDataLst>
              <p:tags r:id="rId15"/>
            </p:custDataLst>
          </p:nvPr>
        </p:nvSpPr>
        <p:spPr bwMode="auto">
          <a:xfrm>
            <a:off x="3734115" y="4962052"/>
            <a:ext cx="1717606"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1800" dirty="0"/>
          </a:p>
        </p:txBody>
      </p:sp>
      <p:sp>
        <p:nvSpPr>
          <p:cNvPr id="19" name="Text Box 11" descr=" 9">
            <a:extLst>
              <a:ext uri="{FF2B5EF4-FFF2-40B4-BE49-F238E27FC236}">
                <a16:creationId xmlns:a16="http://schemas.microsoft.com/office/drawing/2014/main" id="{B44DFCCC-CB9B-4F60-848C-DAE7581ECB5B}"/>
              </a:ext>
            </a:extLst>
          </p:cNvPr>
          <p:cNvSpPr txBox="1">
            <a:spLocks noChangeArrowheads="1"/>
          </p:cNvSpPr>
          <p:nvPr>
            <p:custDataLst>
              <p:tags r:id="rId16"/>
            </p:custDataLst>
          </p:nvPr>
        </p:nvSpPr>
        <p:spPr bwMode="auto">
          <a:xfrm>
            <a:off x="1763804" y="2928082"/>
            <a:ext cx="1201355" cy="323165"/>
          </a:xfrm>
          <a:prstGeom prst="rect">
            <a:avLst/>
          </a:prstGeom>
          <a:noFill/>
          <a:ln w="12700">
            <a:noFill/>
            <a:miter lim="800000"/>
            <a:headEnd type="none" w="sm" len="sm"/>
            <a:tailEnd type="none" w="sm" len="sm"/>
          </a:ln>
        </p:spPr>
        <p:txBody>
          <a:bodyPr wrap="none">
            <a:spAutoFit/>
          </a:bodyPr>
          <a:lstStyle/>
          <a:p>
            <a:r>
              <a:rPr lang="en-US" sz="1500" dirty="0">
                <a:solidFill>
                  <a:srgbClr val="CC0000"/>
                </a:solidFill>
                <a:latin typeface="+mn-lt"/>
              </a:rPr>
              <a:t>t1: </a:t>
            </a:r>
            <a:r>
              <a:rPr lang="en-US" sz="1500" dirty="0">
                <a:latin typeface="+mn-lt"/>
              </a:rPr>
              <a:t>Store A=1</a:t>
            </a:r>
          </a:p>
        </p:txBody>
      </p:sp>
      <p:sp>
        <p:nvSpPr>
          <p:cNvPr id="20" name="Text Box 11" descr=" 19">
            <a:extLst>
              <a:ext uri="{FF2B5EF4-FFF2-40B4-BE49-F238E27FC236}">
                <a16:creationId xmlns:a16="http://schemas.microsoft.com/office/drawing/2014/main" id="{CDEF9C23-91FC-42CD-8D6A-D65A21DC4039}"/>
              </a:ext>
            </a:extLst>
          </p:cNvPr>
          <p:cNvSpPr txBox="1">
            <a:spLocks noChangeArrowheads="1"/>
          </p:cNvSpPr>
          <p:nvPr>
            <p:custDataLst>
              <p:tags r:id="rId17"/>
            </p:custDataLst>
          </p:nvPr>
        </p:nvSpPr>
        <p:spPr bwMode="auto">
          <a:xfrm>
            <a:off x="1837591" y="4249654"/>
            <a:ext cx="1180131" cy="323165"/>
          </a:xfrm>
          <a:prstGeom prst="rect">
            <a:avLst/>
          </a:prstGeom>
          <a:noFill/>
          <a:ln w="12700">
            <a:noFill/>
            <a:miter lim="800000"/>
            <a:headEnd type="none" w="sm" len="sm"/>
            <a:tailEnd type="none" w="sm" len="sm"/>
          </a:ln>
        </p:spPr>
        <p:txBody>
          <a:bodyPr wrap="none">
            <a:spAutoFit/>
          </a:bodyPr>
          <a:lstStyle/>
          <a:p>
            <a:r>
              <a:rPr lang="en-US" sz="1500" dirty="0">
                <a:solidFill>
                  <a:srgbClr val="CC0000"/>
                </a:solidFill>
                <a:latin typeface="+mn-lt"/>
              </a:rPr>
              <a:t>t2: </a:t>
            </a:r>
            <a:r>
              <a:rPr lang="en-US" sz="1500" dirty="0" err="1">
                <a:latin typeface="+mn-lt"/>
              </a:rPr>
              <a:t>BusRdX</a:t>
            </a:r>
            <a:r>
              <a:rPr lang="en-US" sz="1500" dirty="0">
                <a:latin typeface="+mn-lt"/>
              </a:rPr>
              <a:t> A</a:t>
            </a:r>
          </a:p>
        </p:txBody>
      </p:sp>
      <p:sp>
        <p:nvSpPr>
          <p:cNvPr id="21" name="Text Box 11" descr=" 19">
            <a:extLst>
              <a:ext uri="{FF2B5EF4-FFF2-40B4-BE49-F238E27FC236}">
                <a16:creationId xmlns:a16="http://schemas.microsoft.com/office/drawing/2014/main" id="{B125560F-7AFF-41F1-86C7-5AE824540EE2}"/>
              </a:ext>
            </a:extLst>
          </p:cNvPr>
          <p:cNvSpPr txBox="1">
            <a:spLocks noChangeArrowheads="1"/>
          </p:cNvSpPr>
          <p:nvPr>
            <p:custDataLst>
              <p:tags r:id="rId18"/>
            </p:custDataLst>
          </p:nvPr>
        </p:nvSpPr>
        <p:spPr bwMode="auto">
          <a:xfrm>
            <a:off x="2472156" y="4812305"/>
            <a:ext cx="1304973" cy="323165"/>
          </a:xfrm>
          <a:prstGeom prst="rect">
            <a:avLst/>
          </a:prstGeom>
          <a:noFill/>
          <a:ln w="12700">
            <a:noFill/>
            <a:miter lim="800000"/>
            <a:headEnd type="none" w="sm" len="sm"/>
            <a:tailEnd type="none" w="sm" len="sm"/>
          </a:ln>
        </p:spPr>
        <p:txBody>
          <a:bodyPr wrap="none">
            <a:spAutoFit/>
          </a:bodyPr>
          <a:lstStyle/>
          <a:p>
            <a:r>
              <a:rPr lang="en-US" sz="1500" dirty="0">
                <a:solidFill>
                  <a:srgbClr val="CC0000"/>
                </a:solidFill>
                <a:latin typeface="+mn-lt"/>
              </a:rPr>
              <a:t>t3: </a:t>
            </a:r>
            <a:r>
              <a:rPr lang="en-US" sz="1500" dirty="0" err="1">
                <a:latin typeface="+mn-lt"/>
              </a:rPr>
              <a:t>BusReply</a:t>
            </a:r>
            <a:r>
              <a:rPr lang="en-US" sz="1500" dirty="0">
                <a:latin typeface="+mn-lt"/>
              </a:rPr>
              <a:t> A</a:t>
            </a:r>
          </a:p>
        </p:txBody>
      </p:sp>
      <p:sp>
        <p:nvSpPr>
          <p:cNvPr id="22" name="Text Box 11" descr=" 9">
            <a:extLst>
              <a:ext uri="{FF2B5EF4-FFF2-40B4-BE49-F238E27FC236}">
                <a16:creationId xmlns:a16="http://schemas.microsoft.com/office/drawing/2014/main" id="{5510BE05-521F-42EF-B92E-1CAC1EB9DEE1}"/>
              </a:ext>
            </a:extLst>
          </p:cNvPr>
          <p:cNvSpPr txBox="1">
            <a:spLocks noChangeArrowheads="1"/>
          </p:cNvSpPr>
          <p:nvPr>
            <p:custDataLst>
              <p:tags r:id="rId19"/>
            </p:custDataLst>
          </p:nvPr>
        </p:nvSpPr>
        <p:spPr bwMode="auto">
          <a:xfrm>
            <a:off x="1766047" y="3109613"/>
            <a:ext cx="1201355" cy="323165"/>
          </a:xfrm>
          <a:prstGeom prst="rect">
            <a:avLst/>
          </a:prstGeom>
          <a:noFill/>
          <a:ln w="12700">
            <a:noFill/>
            <a:miter lim="800000"/>
            <a:headEnd type="none" w="sm" len="sm"/>
            <a:tailEnd type="none" w="sm" len="sm"/>
          </a:ln>
        </p:spPr>
        <p:txBody>
          <a:bodyPr wrap="none">
            <a:spAutoFit/>
          </a:bodyPr>
          <a:lstStyle/>
          <a:p>
            <a:r>
              <a:rPr lang="en-US" sz="1500" dirty="0">
                <a:solidFill>
                  <a:srgbClr val="CC0000"/>
                </a:solidFill>
                <a:latin typeface="+mn-lt"/>
              </a:rPr>
              <a:t>t4: </a:t>
            </a:r>
            <a:r>
              <a:rPr lang="en-US" sz="1500" dirty="0">
                <a:latin typeface="+mn-lt"/>
              </a:rPr>
              <a:t>Store A=2</a:t>
            </a:r>
          </a:p>
        </p:txBody>
      </p:sp>
      <p:sp>
        <p:nvSpPr>
          <p:cNvPr id="23" name="Text Box 11" descr=" 9">
            <a:extLst>
              <a:ext uri="{FF2B5EF4-FFF2-40B4-BE49-F238E27FC236}">
                <a16:creationId xmlns:a16="http://schemas.microsoft.com/office/drawing/2014/main" id="{1DE323E2-4C4F-48FF-A736-DC80F50A675E}"/>
              </a:ext>
            </a:extLst>
          </p:cNvPr>
          <p:cNvSpPr txBox="1">
            <a:spLocks noChangeArrowheads="1"/>
          </p:cNvSpPr>
          <p:nvPr>
            <p:custDataLst>
              <p:tags r:id="rId20"/>
            </p:custDataLst>
          </p:nvPr>
        </p:nvSpPr>
        <p:spPr bwMode="auto">
          <a:xfrm>
            <a:off x="1219200" y="3291144"/>
            <a:ext cx="1648593" cy="323165"/>
          </a:xfrm>
          <a:prstGeom prst="rect">
            <a:avLst/>
          </a:prstGeom>
          <a:noFill/>
          <a:ln w="12700">
            <a:noFill/>
            <a:miter lim="800000"/>
            <a:headEnd type="none" w="sm" len="sm"/>
            <a:tailEnd type="none" w="sm" len="sm"/>
          </a:ln>
        </p:spPr>
        <p:txBody>
          <a:bodyPr wrap="none">
            <a:spAutoFit/>
          </a:bodyPr>
          <a:lstStyle/>
          <a:p>
            <a:r>
              <a:rPr lang="en-US" sz="1500" dirty="0">
                <a:solidFill>
                  <a:srgbClr val="CC0000"/>
                </a:solidFill>
                <a:latin typeface="+mn-lt"/>
              </a:rPr>
              <a:t>t5: </a:t>
            </a:r>
            <a:r>
              <a:rPr lang="en-US" sz="1500" dirty="0">
                <a:latin typeface="+mn-lt"/>
              </a:rPr>
              <a:t>Load/Store A=3</a:t>
            </a:r>
          </a:p>
        </p:txBody>
      </p:sp>
      <p:sp>
        <p:nvSpPr>
          <p:cNvPr id="27" name="Rectangle 2">
            <a:extLst>
              <a:ext uri="{FF2B5EF4-FFF2-40B4-BE49-F238E27FC236}">
                <a16:creationId xmlns:a16="http://schemas.microsoft.com/office/drawing/2014/main" id="{61B27725-FFF0-4DB2-A9A0-1DF2BE8CECB0}"/>
              </a:ext>
            </a:extLst>
          </p:cNvPr>
          <p:cNvSpPr>
            <a:spLocks noGrp="1" noChangeArrowheads="1"/>
          </p:cNvSpPr>
          <p:nvPr>
            <p:ph type="title"/>
            <p:custDataLst>
              <p:tags r:id="rId21"/>
            </p:custDataLst>
          </p:nvPr>
        </p:nvSpPr>
        <p:spPr>
          <a:xfrm>
            <a:off x="457200" y="274638"/>
            <a:ext cx="7467600" cy="1143000"/>
          </a:xfrm>
        </p:spPr>
        <p:txBody>
          <a:bodyPr/>
          <a:lstStyle/>
          <a:p>
            <a:pPr eaLnBrk="1" hangingPunct="1"/>
            <a:r>
              <a:rPr lang="en-US" altLang="en-US" dirty="0">
                <a:latin typeface="+mn-lt"/>
              </a:rPr>
              <a:t>MI Protocol</a:t>
            </a:r>
          </a:p>
        </p:txBody>
      </p:sp>
      <p:grpSp>
        <p:nvGrpSpPr>
          <p:cNvPr id="28" name="Group 27">
            <a:extLst>
              <a:ext uri="{FF2B5EF4-FFF2-40B4-BE49-F238E27FC236}">
                <a16:creationId xmlns:a16="http://schemas.microsoft.com/office/drawing/2014/main" id="{6C8F3B2B-BC8B-450A-9302-2A3BC43DE7CA}"/>
              </a:ext>
            </a:extLst>
          </p:cNvPr>
          <p:cNvGrpSpPr/>
          <p:nvPr>
            <p:custDataLst>
              <p:tags r:id="rId22"/>
            </p:custDataLst>
          </p:nvPr>
        </p:nvGrpSpPr>
        <p:grpSpPr>
          <a:xfrm>
            <a:off x="5475495" y="4284464"/>
            <a:ext cx="3287504" cy="2496145"/>
            <a:chOff x="5475495" y="4284464"/>
            <a:chExt cx="3287504" cy="2496145"/>
          </a:xfrm>
        </p:grpSpPr>
        <p:sp>
          <p:nvSpPr>
            <p:cNvPr id="29" name="Oval 7">
              <a:extLst>
                <a:ext uri="{FF2B5EF4-FFF2-40B4-BE49-F238E27FC236}">
                  <a16:creationId xmlns:a16="http://schemas.microsoft.com/office/drawing/2014/main" id="{56C2104D-3A01-4275-A627-051099E50C1D}"/>
                </a:ext>
              </a:extLst>
            </p:cNvPr>
            <p:cNvSpPr>
              <a:spLocks noChangeArrowheads="1"/>
            </p:cNvSpPr>
            <p:nvPr>
              <p:custDataLst>
                <p:tags r:id="rId23"/>
              </p:custDataLst>
            </p:nvPr>
          </p:nvSpPr>
          <p:spPr bwMode="auto">
            <a:xfrm>
              <a:off x="6902246" y="4904184"/>
              <a:ext cx="461338" cy="619125"/>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1650" dirty="0"/>
                <a:t>M</a:t>
              </a:r>
            </a:p>
          </p:txBody>
        </p:sp>
        <p:sp>
          <p:nvSpPr>
            <p:cNvPr id="30" name="Oval 8">
              <a:extLst>
                <a:ext uri="{FF2B5EF4-FFF2-40B4-BE49-F238E27FC236}">
                  <a16:creationId xmlns:a16="http://schemas.microsoft.com/office/drawing/2014/main" id="{82A7B5D1-1C36-4B07-B441-50CCB35ABC3E}"/>
                </a:ext>
              </a:extLst>
            </p:cNvPr>
            <p:cNvSpPr>
              <a:spLocks noChangeArrowheads="1"/>
            </p:cNvSpPr>
            <p:nvPr>
              <p:custDataLst>
                <p:tags r:id="rId24"/>
              </p:custDataLst>
            </p:nvPr>
          </p:nvSpPr>
          <p:spPr bwMode="auto">
            <a:xfrm>
              <a:off x="6949266" y="6161484"/>
              <a:ext cx="461338" cy="619125"/>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1650" dirty="0"/>
                <a:t>I</a:t>
              </a:r>
            </a:p>
          </p:txBody>
        </p:sp>
        <p:sp>
          <p:nvSpPr>
            <p:cNvPr id="31" name="Arc 9">
              <a:extLst>
                <a:ext uri="{FF2B5EF4-FFF2-40B4-BE49-F238E27FC236}">
                  <a16:creationId xmlns:a16="http://schemas.microsoft.com/office/drawing/2014/main" id="{43A5AE14-2E92-4C0B-8F41-1186CA47ED6B}"/>
                </a:ext>
              </a:extLst>
            </p:cNvPr>
            <p:cNvSpPr>
              <a:spLocks/>
            </p:cNvSpPr>
            <p:nvPr>
              <p:custDataLst>
                <p:tags r:id="rId25"/>
              </p:custDataLst>
            </p:nvPr>
          </p:nvSpPr>
          <p:spPr bwMode="auto">
            <a:xfrm rot="4920000">
              <a:off x="6966450" y="4404352"/>
              <a:ext cx="721519" cy="481744"/>
            </a:xfrm>
            <a:custGeom>
              <a:avLst/>
              <a:gdLst>
                <a:gd name="T0" fmla="*/ 505 w 43200"/>
                <a:gd name="T1" fmla="*/ 474 h 43200"/>
                <a:gd name="T2" fmla="*/ 599 w 43200"/>
                <a:gd name="T3" fmla="*/ 328 h 43200"/>
                <a:gd name="T4" fmla="*/ 303 w 43200"/>
                <a:gd name="T5" fmla="*/ 272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path>
                <a:path w="43200" h="43200" stroke="0"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lnTo>
                    <a:pt x="21600" y="21600"/>
                  </a:lnTo>
                  <a:close/>
                </a:path>
              </a:pathLst>
            </a:custGeom>
            <a:noFill/>
            <a:ln w="12700" cap="rnd">
              <a:solidFill>
                <a:schemeClr val="tx1"/>
              </a:solidFill>
              <a:round/>
              <a:headEnd/>
              <a:tailEnd type="triangle" w="med" len="med"/>
            </a:ln>
          </p:spPr>
          <p:txBody>
            <a:bodyPr wrap="none" anchor="ctr"/>
            <a:lstStyle/>
            <a:p>
              <a:endParaRPr lang="en-US" sz="750" dirty="0">
                <a:latin typeface="+mn-lt"/>
              </a:endParaRPr>
            </a:p>
          </p:txBody>
        </p:sp>
        <p:sp>
          <p:nvSpPr>
            <p:cNvPr id="32" name="Arc 10">
              <a:extLst>
                <a:ext uri="{FF2B5EF4-FFF2-40B4-BE49-F238E27FC236}">
                  <a16:creationId xmlns:a16="http://schemas.microsoft.com/office/drawing/2014/main" id="{59539BB9-36A9-46D2-B0BD-A6CAEDC34959}"/>
                </a:ext>
              </a:extLst>
            </p:cNvPr>
            <p:cNvSpPr>
              <a:spLocks/>
            </p:cNvSpPr>
            <p:nvPr>
              <p:custDataLst>
                <p:tags r:id="rId26"/>
              </p:custDataLst>
            </p:nvPr>
          </p:nvSpPr>
          <p:spPr bwMode="auto">
            <a:xfrm rot="4920000">
              <a:off x="7111248" y="5540558"/>
              <a:ext cx="1075134" cy="497713"/>
            </a:xfrm>
            <a:custGeom>
              <a:avLst/>
              <a:gdLst>
                <a:gd name="T0" fmla="*/ 3 w 43200"/>
                <a:gd name="T1" fmla="*/ 512 h 26189"/>
                <a:gd name="T2" fmla="*/ 893 w 43200"/>
                <a:gd name="T3" fmla="*/ 561 h 26189"/>
                <a:gd name="T4" fmla="*/ 452 w 43200"/>
                <a:gd name="T5" fmla="*/ 463 h 26189"/>
                <a:gd name="T6" fmla="*/ 0 60000 65536"/>
                <a:gd name="T7" fmla="*/ 0 60000 65536"/>
                <a:gd name="T8" fmla="*/ 0 60000 65536"/>
                <a:gd name="T9" fmla="*/ 0 w 43200"/>
                <a:gd name="T10" fmla="*/ 0 h 26189"/>
                <a:gd name="T11" fmla="*/ 43200 w 43200"/>
                <a:gd name="T12" fmla="*/ 26189 h 26189"/>
              </a:gdLst>
              <a:ahLst/>
              <a:cxnLst>
                <a:cxn ang="T6">
                  <a:pos x="T0" y="T1"/>
                </a:cxn>
                <a:cxn ang="T7">
                  <a:pos x="T2" y="T3"/>
                </a:cxn>
                <a:cxn ang="T8">
                  <a:pos x="T4" y="T5"/>
                </a:cxn>
              </a:cxnLst>
              <a:rect l="T9" t="T10" r="T11" b="T12"/>
              <a:pathLst>
                <a:path w="43200" h="26189" fill="none" extrusionOk="0">
                  <a:moveTo>
                    <a:pt x="120" y="23883"/>
                  </a:moveTo>
                  <a:cubicBezTo>
                    <a:pt x="40" y="23124"/>
                    <a:pt x="0" y="22362"/>
                    <a:pt x="0" y="21600"/>
                  </a:cubicBezTo>
                  <a:cubicBezTo>
                    <a:pt x="0" y="9670"/>
                    <a:pt x="9670" y="0"/>
                    <a:pt x="21600" y="0"/>
                  </a:cubicBezTo>
                  <a:cubicBezTo>
                    <a:pt x="33529" y="0"/>
                    <a:pt x="43200" y="9670"/>
                    <a:pt x="43200" y="21600"/>
                  </a:cubicBezTo>
                  <a:cubicBezTo>
                    <a:pt x="43200" y="23142"/>
                    <a:pt x="43034" y="24681"/>
                    <a:pt x="42706" y="26188"/>
                  </a:cubicBezTo>
                </a:path>
                <a:path w="43200" h="26189" stroke="0" extrusionOk="0">
                  <a:moveTo>
                    <a:pt x="120" y="23883"/>
                  </a:moveTo>
                  <a:cubicBezTo>
                    <a:pt x="40" y="23124"/>
                    <a:pt x="0" y="22362"/>
                    <a:pt x="0" y="21600"/>
                  </a:cubicBezTo>
                  <a:cubicBezTo>
                    <a:pt x="0" y="9670"/>
                    <a:pt x="9670" y="0"/>
                    <a:pt x="21600" y="0"/>
                  </a:cubicBezTo>
                  <a:cubicBezTo>
                    <a:pt x="33529" y="0"/>
                    <a:pt x="43200" y="9670"/>
                    <a:pt x="43200" y="21600"/>
                  </a:cubicBezTo>
                  <a:cubicBezTo>
                    <a:pt x="43200" y="23142"/>
                    <a:pt x="43034" y="24681"/>
                    <a:pt x="42706" y="26188"/>
                  </a:cubicBezTo>
                  <a:lnTo>
                    <a:pt x="21600" y="21600"/>
                  </a:lnTo>
                  <a:close/>
                </a:path>
              </a:pathLst>
            </a:custGeom>
            <a:noFill/>
            <a:ln w="12700" cap="rnd">
              <a:solidFill>
                <a:schemeClr val="tx1"/>
              </a:solidFill>
              <a:round/>
              <a:headEnd/>
              <a:tailEnd type="triangle" w="med" len="med"/>
            </a:ln>
          </p:spPr>
          <p:txBody>
            <a:bodyPr wrap="none" anchor="ctr"/>
            <a:lstStyle/>
            <a:p>
              <a:endParaRPr lang="en-US" sz="750" dirty="0">
                <a:latin typeface="+mn-lt"/>
              </a:endParaRPr>
            </a:p>
          </p:txBody>
        </p:sp>
        <p:sp>
          <p:nvSpPr>
            <p:cNvPr id="33" name="Rectangle 12">
              <a:extLst>
                <a:ext uri="{FF2B5EF4-FFF2-40B4-BE49-F238E27FC236}">
                  <a16:creationId xmlns:a16="http://schemas.microsoft.com/office/drawing/2014/main" id="{1AC58A58-DA4C-4DEA-9DB7-30B8782864BD}"/>
                </a:ext>
              </a:extLst>
            </p:cNvPr>
            <p:cNvSpPr>
              <a:spLocks noChangeArrowheads="1"/>
            </p:cNvSpPr>
            <p:nvPr>
              <p:custDataLst>
                <p:tags r:id="rId27"/>
              </p:custDataLst>
            </p:nvPr>
          </p:nvSpPr>
          <p:spPr bwMode="auto">
            <a:xfrm>
              <a:off x="7543800" y="4594029"/>
              <a:ext cx="581636" cy="282771"/>
            </a:xfrm>
            <a:prstGeom prst="rect">
              <a:avLst/>
            </a:prstGeom>
            <a:noFill/>
            <a:ln w="12700">
              <a:noFill/>
              <a:prstDash val="sysDot"/>
              <a:miter lim="800000"/>
              <a:headEnd/>
              <a:tailEnd/>
            </a:ln>
          </p:spPr>
          <p:txBody>
            <a:bodyPr wrap="none" lIns="67866" tIns="33338" rIns="67866" bIns="33338">
              <a:spAutoFit/>
            </a:bodyPr>
            <a:lstStyle/>
            <a:p>
              <a:r>
                <a:rPr lang="en-US" sz="1400" dirty="0">
                  <a:latin typeface="+mn-lt"/>
                </a:rPr>
                <a:t>Store / --</a:t>
              </a:r>
            </a:p>
          </p:txBody>
        </p:sp>
        <p:sp>
          <p:nvSpPr>
            <p:cNvPr id="34" name="Rectangle 17">
              <a:extLst>
                <a:ext uri="{FF2B5EF4-FFF2-40B4-BE49-F238E27FC236}">
                  <a16:creationId xmlns:a16="http://schemas.microsoft.com/office/drawing/2014/main" id="{C7E9D771-0C86-405F-BEAC-A9F3111C8D24}"/>
                </a:ext>
              </a:extLst>
            </p:cNvPr>
            <p:cNvSpPr>
              <a:spLocks noChangeArrowheads="1"/>
            </p:cNvSpPr>
            <p:nvPr>
              <p:custDataLst>
                <p:tags r:id="rId28"/>
              </p:custDataLst>
            </p:nvPr>
          </p:nvSpPr>
          <p:spPr bwMode="auto">
            <a:xfrm>
              <a:off x="5475495" y="6019800"/>
              <a:ext cx="883311" cy="282771"/>
            </a:xfrm>
            <a:prstGeom prst="rect">
              <a:avLst/>
            </a:prstGeom>
            <a:noFill/>
            <a:ln w="12700">
              <a:noFill/>
              <a:prstDash val="sysDot"/>
              <a:miter lim="800000"/>
              <a:headEnd/>
              <a:tailEnd/>
            </a:ln>
          </p:spPr>
          <p:txBody>
            <a:bodyPr wrap="none" lIns="67866" tIns="33338" rIns="67866" bIns="33338">
              <a:spAutoFit/>
            </a:bodyPr>
            <a:lstStyle/>
            <a:p>
              <a:r>
                <a:rPr lang="en-US" sz="1400" dirty="0">
                  <a:latin typeface="+mn-lt"/>
                </a:rPr>
                <a:t>Load / </a:t>
              </a:r>
              <a:r>
                <a:rPr lang="en-US" sz="1400" dirty="0" err="1">
                  <a:latin typeface="+mn-lt"/>
                </a:rPr>
                <a:t>BusRdX</a:t>
              </a:r>
              <a:endParaRPr lang="en-US" sz="1400" dirty="0">
                <a:latin typeface="+mn-lt"/>
              </a:endParaRPr>
            </a:p>
          </p:txBody>
        </p:sp>
        <p:sp>
          <p:nvSpPr>
            <p:cNvPr id="35" name="Arc 18">
              <a:extLst>
                <a:ext uri="{FF2B5EF4-FFF2-40B4-BE49-F238E27FC236}">
                  <a16:creationId xmlns:a16="http://schemas.microsoft.com/office/drawing/2014/main" id="{94782C36-5013-4B8A-B8A6-1BEA24052E64}"/>
                </a:ext>
              </a:extLst>
            </p:cNvPr>
            <p:cNvSpPr>
              <a:spLocks/>
            </p:cNvSpPr>
            <p:nvPr>
              <p:custDataLst>
                <p:tags r:id="rId29"/>
              </p:custDataLst>
            </p:nvPr>
          </p:nvSpPr>
          <p:spPr bwMode="auto">
            <a:xfrm rot="15720000">
              <a:off x="6174377" y="5538177"/>
              <a:ext cx="1075134" cy="497713"/>
            </a:xfrm>
            <a:custGeom>
              <a:avLst/>
              <a:gdLst>
                <a:gd name="T0" fmla="*/ 3 w 43200"/>
                <a:gd name="T1" fmla="*/ 512 h 26189"/>
                <a:gd name="T2" fmla="*/ 893 w 43200"/>
                <a:gd name="T3" fmla="*/ 561 h 26189"/>
                <a:gd name="T4" fmla="*/ 452 w 43200"/>
                <a:gd name="T5" fmla="*/ 463 h 26189"/>
                <a:gd name="T6" fmla="*/ 0 60000 65536"/>
                <a:gd name="T7" fmla="*/ 0 60000 65536"/>
                <a:gd name="T8" fmla="*/ 0 60000 65536"/>
                <a:gd name="T9" fmla="*/ 0 w 43200"/>
                <a:gd name="T10" fmla="*/ 0 h 26189"/>
                <a:gd name="T11" fmla="*/ 43200 w 43200"/>
                <a:gd name="T12" fmla="*/ 26189 h 26189"/>
              </a:gdLst>
              <a:ahLst/>
              <a:cxnLst>
                <a:cxn ang="T6">
                  <a:pos x="T0" y="T1"/>
                </a:cxn>
                <a:cxn ang="T7">
                  <a:pos x="T2" y="T3"/>
                </a:cxn>
                <a:cxn ang="T8">
                  <a:pos x="T4" y="T5"/>
                </a:cxn>
              </a:cxnLst>
              <a:rect l="T9" t="T10" r="T11" b="T12"/>
              <a:pathLst>
                <a:path w="43200" h="26189" fill="none" extrusionOk="0">
                  <a:moveTo>
                    <a:pt x="120" y="23883"/>
                  </a:moveTo>
                  <a:cubicBezTo>
                    <a:pt x="40" y="23124"/>
                    <a:pt x="0" y="22362"/>
                    <a:pt x="0" y="21600"/>
                  </a:cubicBezTo>
                  <a:cubicBezTo>
                    <a:pt x="0" y="9670"/>
                    <a:pt x="9670" y="0"/>
                    <a:pt x="21600" y="0"/>
                  </a:cubicBezTo>
                  <a:cubicBezTo>
                    <a:pt x="33529" y="0"/>
                    <a:pt x="43200" y="9670"/>
                    <a:pt x="43200" y="21600"/>
                  </a:cubicBezTo>
                  <a:cubicBezTo>
                    <a:pt x="43200" y="23142"/>
                    <a:pt x="43034" y="24681"/>
                    <a:pt x="42706" y="26188"/>
                  </a:cubicBezTo>
                </a:path>
                <a:path w="43200" h="26189" stroke="0" extrusionOk="0">
                  <a:moveTo>
                    <a:pt x="120" y="23883"/>
                  </a:moveTo>
                  <a:cubicBezTo>
                    <a:pt x="40" y="23124"/>
                    <a:pt x="0" y="22362"/>
                    <a:pt x="0" y="21600"/>
                  </a:cubicBezTo>
                  <a:cubicBezTo>
                    <a:pt x="0" y="9670"/>
                    <a:pt x="9670" y="0"/>
                    <a:pt x="21600" y="0"/>
                  </a:cubicBezTo>
                  <a:cubicBezTo>
                    <a:pt x="33529" y="0"/>
                    <a:pt x="43200" y="9670"/>
                    <a:pt x="43200" y="21600"/>
                  </a:cubicBezTo>
                  <a:cubicBezTo>
                    <a:pt x="43200" y="23142"/>
                    <a:pt x="43034" y="24681"/>
                    <a:pt x="42706" y="26188"/>
                  </a:cubicBezTo>
                  <a:lnTo>
                    <a:pt x="21600" y="21600"/>
                  </a:lnTo>
                  <a:close/>
                </a:path>
              </a:pathLst>
            </a:custGeom>
            <a:noFill/>
            <a:ln w="12700" cap="rnd">
              <a:solidFill>
                <a:schemeClr val="tx1"/>
              </a:solidFill>
              <a:round/>
              <a:headEnd/>
              <a:tailEnd type="triangle" w="med" len="med"/>
            </a:ln>
          </p:spPr>
          <p:txBody>
            <a:bodyPr wrap="none" anchor="ctr"/>
            <a:lstStyle/>
            <a:p>
              <a:endParaRPr lang="en-US" sz="750" dirty="0">
                <a:latin typeface="+mn-lt"/>
              </a:endParaRPr>
            </a:p>
          </p:txBody>
        </p:sp>
        <p:sp>
          <p:nvSpPr>
            <p:cNvPr id="36" name="Rectangle 19">
              <a:extLst>
                <a:ext uri="{FF2B5EF4-FFF2-40B4-BE49-F238E27FC236}">
                  <a16:creationId xmlns:a16="http://schemas.microsoft.com/office/drawing/2014/main" id="{E2D879B7-C2F3-475D-9530-DF658608D136}"/>
                </a:ext>
              </a:extLst>
            </p:cNvPr>
            <p:cNvSpPr>
              <a:spLocks noChangeArrowheads="1"/>
            </p:cNvSpPr>
            <p:nvPr>
              <p:custDataLst>
                <p:tags r:id="rId30"/>
              </p:custDataLst>
            </p:nvPr>
          </p:nvSpPr>
          <p:spPr bwMode="auto">
            <a:xfrm>
              <a:off x="7614107" y="4390527"/>
              <a:ext cx="556027" cy="282771"/>
            </a:xfrm>
            <a:prstGeom prst="rect">
              <a:avLst/>
            </a:prstGeom>
            <a:noFill/>
            <a:ln w="12700">
              <a:noFill/>
              <a:prstDash val="sysDot"/>
              <a:miter lim="800000"/>
              <a:headEnd/>
              <a:tailEnd/>
            </a:ln>
          </p:spPr>
          <p:txBody>
            <a:bodyPr wrap="none" lIns="67866" tIns="33338" rIns="67866" bIns="33338">
              <a:spAutoFit/>
            </a:bodyPr>
            <a:lstStyle/>
            <a:p>
              <a:r>
                <a:rPr lang="en-US" sz="1400" dirty="0">
                  <a:latin typeface="+mn-lt"/>
                </a:rPr>
                <a:t>Load / --</a:t>
              </a:r>
            </a:p>
          </p:txBody>
        </p:sp>
        <p:sp>
          <p:nvSpPr>
            <p:cNvPr id="37" name="Rectangle 14">
              <a:extLst>
                <a:ext uri="{FF2B5EF4-FFF2-40B4-BE49-F238E27FC236}">
                  <a16:creationId xmlns:a16="http://schemas.microsoft.com/office/drawing/2014/main" id="{3EE46CC9-C741-43E0-9108-AF0B16A66CC9}"/>
                </a:ext>
              </a:extLst>
            </p:cNvPr>
            <p:cNvSpPr>
              <a:spLocks noChangeArrowheads="1"/>
            </p:cNvSpPr>
            <p:nvPr>
              <p:custDataLst>
                <p:tags r:id="rId31"/>
              </p:custDataLst>
            </p:nvPr>
          </p:nvSpPr>
          <p:spPr bwMode="auto">
            <a:xfrm>
              <a:off x="7645523" y="6341497"/>
              <a:ext cx="1117476" cy="282771"/>
            </a:xfrm>
            <a:prstGeom prst="rect">
              <a:avLst/>
            </a:prstGeom>
            <a:noFill/>
            <a:ln w="12700">
              <a:noFill/>
              <a:prstDash val="sysDot"/>
              <a:miter lim="800000"/>
              <a:headEnd/>
              <a:tailEnd/>
            </a:ln>
          </p:spPr>
          <p:txBody>
            <a:bodyPr wrap="none" lIns="67866" tIns="33338" rIns="67866" bIns="33338">
              <a:spAutoFit/>
            </a:bodyPr>
            <a:lstStyle/>
            <a:p>
              <a:r>
                <a:rPr lang="en-US" sz="1400" dirty="0" err="1">
                  <a:latin typeface="+mn-lt"/>
                </a:rPr>
                <a:t>BusRdX</a:t>
              </a:r>
              <a:r>
                <a:rPr lang="en-US" sz="1400" dirty="0">
                  <a:latin typeface="+mn-lt"/>
                </a:rPr>
                <a:t> / </a:t>
              </a:r>
              <a:r>
                <a:rPr lang="en-US" sz="1400" dirty="0" err="1">
                  <a:latin typeface="+mn-lt"/>
                </a:rPr>
                <a:t>BusReply</a:t>
              </a:r>
              <a:endParaRPr lang="en-US" sz="1400" dirty="0">
                <a:latin typeface="+mn-lt"/>
              </a:endParaRPr>
            </a:p>
          </p:txBody>
        </p:sp>
        <p:sp>
          <p:nvSpPr>
            <p:cNvPr id="38" name="Rectangle 17">
              <a:extLst>
                <a:ext uri="{FF2B5EF4-FFF2-40B4-BE49-F238E27FC236}">
                  <a16:creationId xmlns:a16="http://schemas.microsoft.com/office/drawing/2014/main" id="{D1CC9AAC-42A1-4580-887B-AE2B1BE82859}"/>
                </a:ext>
              </a:extLst>
            </p:cNvPr>
            <p:cNvSpPr>
              <a:spLocks noChangeArrowheads="1"/>
            </p:cNvSpPr>
            <p:nvPr>
              <p:custDataLst>
                <p:tags r:id="rId32"/>
              </p:custDataLst>
            </p:nvPr>
          </p:nvSpPr>
          <p:spPr bwMode="auto">
            <a:xfrm>
              <a:off x="5491879" y="6250273"/>
              <a:ext cx="908921" cy="282771"/>
            </a:xfrm>
            <a:prstGeom prst="rect">
              <a:avLst/>
            </a:prstGeom>
            <a:noFill/>
            <a:ln w="12700">
              <a:noFill/>
              <a:prstDash val="sysDot"/>
              <a:miter lim="800000"/>
              <a:headEnd/>
              <a:tailEnd/>
            </a:ln>
          </p:spPr>
          <p:txBody>
            <a:bodyPr wrap="none" lIns="67866" tIns="33338" rIns="67866" bIns="33338">
              <a:spAutoFit/>
            </a:bodyPr>
            <a:lstStyle/>
            <a:p>
              <a:r>
                <a:rPr lang="en-US" sz="1400" dirty="0">
                  <a:latin typeface="+mn-lt"/>
                </a:rPr>
                <a:t>Store / </a:t>
              </a:r>
              <a:r>
                <a:rPr lang="en-US" sz="1400" dirty="0" err="1">
                  <a:latin typeface="+mn-lt"/>
                </a:rPr>
                <a:t>BusRdX</a:t>
              </a:r>
              <a:endParaRPr lang="en-US" sz="1400" dirty="0">
                <a:latin typeface="+mn-lt"/>
              </a:endParaRPr>
            </a:p>
          </p:txBody>
        </p:sp>
        <p:sp>
          <p:nvSpPr>
            <p:cNvPr id="39" name="Rectangle 14">
              <a:extLst>
                <a:ext uri="{FF2B5EF4-FFF2-40B4-BE49-F238E27FC236}">
                  <a16:creationId xmlns:a16="http://schemas.microsoft.com/office/drawing/2014/main" id="{47E64783-4CCB-432B-81E2-11015B7520BC}"/>
                </a:ext>
              </a:extLst>
            </p:cNvPr>
            <p:cNvSpPr>
              <a:spLocks noChangeArrowheads="1"/>
            </p:cNvSpPr>
            <p:nvPr>
              <p:custDataLst>
                <p:tags r:id="rId33"/>
              </p:custDataLst>
            </p:nvPr>
          </p:nvSpPr>
          <p:spPr bwMode="auto">
            <a:xfrm>
              <a:off x="7783340" y="6132249"/>
              <a:ext cx="857464" cy="282771"/>
            </a:xfrm>
            <a:prstGeom prst="rect">
              <a:avLst/>
            </a:prstGeom>
            <a:noFill/>
            <a:ln w="12700">
              <a:noFill/>
              <a:prstDash val="sysDot"/>
              <a:miter lim="800000"/>
              <a:headEnd/>
              <a:tailEnd/>
            </a:ln>
          </p:spPr>
          <p:txBody>
            <a:bodyPr wrap="none" lIns="67866" tIns="33338" rIns="67866" bIns="33338">
              <a:spAutoFit/>
            </a:bodyPr>
            <a:lstStyle/>
            <a:p>
              <a:r>
                <a:rPr lang="en-US" sz="1400" dirty="0">
                  <a:latin typeface="+mn-lt"/>
                </a:rPr>
                <a:t>Evict / </a:t>
              </a:r>
              <a:r>
                <a:rPr lang="en-US" sz="1400" dirty="0" err="1">
                  <a:latin typeface="+mn-lt"/>
                </a:rPr>
                <a:t>BusWB</a:t>
              </a:r>
              <a:endParaRPr lang="en-US" sz="1400" dirty="0">
                <a:latin typeface="+mn-lt"/>
              </a:endParaRPr>
            </a:p>
          </p:txBody>
        </p:sp>
      </p:grpSp>
    </p:spTree>
    <p:custDataLst>
      <p:tags r:id="rId1"/>
    </p:custDataLst>
    <p:extLst>
      <p:ext uri="{BB962C8B-B14F-4D97-AF65-F5344CB8AC3E}">
        <p14:creationId xmlns:p14="http://schemas.microsoft.com/office/powerpoint/2010/main" val="109469326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descr=" 5">
            <a:extLst>
              <a:ext uri="{FF2B5EF4-FFF2-40B4-BE49-F238E27FC236}">
                <a16:creationId xmlns:a16="http://schemas.microsoft.com/office/drawing/2014/main" id="{7B0DBF13-EEC3-4A4E-8B1B-75F5C46CF9A7}"/>
              </a:ext>
            </a:extLst>
          </p:cNvPr>
          <p:cNvSpPr>
            <a:spLocks noChangeArrowheads="1"/>
          </p:cNvSpPr>
          <p:nvPr>
            <p:custDataLst>
              <p:tags r:id="rId2"/>
            </p:custDataLst>
          </p:nvPr>
        </p:nvSpPr>
        <p:spPr bwMode="auto">
          <a:xfrm>
            <a:off x="3077510" y="4208386"/>
            <a:ext cx="3030813"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Bus</a:t>
            </a:r>
          </a:p>
        </p:txBody>
      </p:sp>
      <p:sp>
        <p:nvSpPr>
          <p:cNvPr id="6" name="Rectangle 6" descr=" 6">
            <a:extLst>
              <a:ext uri="{FF2B5EF4-FFF2-40B4-BE49-F238E27FC236}">
                <a16:creationId xmlns:a16="http://schemas.microsoft.com/office/drawing/2014/main" id="{CFB6722F-138D-4F55-9C50-93D5AFF8E77A}"/>
              </a:ext>
            </a:extLst>
          </p:cNvPr>
          <p:cNvSpPr>
            <a:spLocks noChangeArrowheads="1"/>
          </p:cNvSpPr>
          <p:nvPr>
            <p:custDataLst>
              <p:tags r:id="rId3"/>
            </p:custDataLst>
          </p:nvPr>
        </p:nvSpPr>
        <p:spPr bwMode="auto">
          <a:xfrm>
            <a:off x="2975162" y="2859409"/>
            <a:ext cx="625289" cy="431006"/>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P1</a:t>
            </a:r>
          </a:p>
        </p:txBody>
      </p:sp>
      <p:cxnSp>
        <p:nvCxnSpPr>
          <p:cNvPr id="7" name="AutoShape 9" descr=" 7">
            <a:extLst>
              <a:ext uri="{FF2B5EF4-FFF2-40B4-BE49-F238E27FC236}">
                <a16:creationId xmlns:a16="http://schemas.microsoft.com/office/drawing/2014/main" id="{34E890EC-2638-4E5E-8148-DAA305381118}"/>
              </a:ext>
            </a:extLst>
          </p:cNvPr>
          <p:cNvCxnSpPr>
            <a:cxnSpLocks noChangeShapeType="1"/>
            <a:endCxn id="15" idx="0"/>
          </p:cNvCxnSpPr>
          <p:nvPr>
            <p:custDataLst>
              <p:tags r:id="rId4"/>
            </p:custDataLst>
          </p:nvPr>
        </p:nvCxnSpPr>
        <p:spPr bwMode="auto">
          <a:xfrm rot="5400000">
            <a:off x="3206249" y="3384438"/>
            <a:ext cx="163116" cy="1"/>
          </a:xfrm>
          <a:prstGeom prst="bentConnector3">
            <a:avLst>
              <a:gd name="adj1" fmla="val 50000"/>
            </a:avLst>
          </a:prstGeom>
          <a:noFill/>
          <a:ln w="12700">
            <a:solidFill>
              <a:schemeClr val="tx1"/>
            </a:solidFill>
            <a:miter lim="800000"/>
            <a:headEnd type="none" w="sm" len="sm"/>
            <a:tailEnd type="triangle" w="med" len="med"/>
          </a:ln>
        </p:spPr>
      </p:cxnSp>
      <p:sp>
        <p:nvSpPr>
          <p:cNvPr id="8" name="Line 10" descr=" 8">
            <a:extLst>
              <a:ext uri="{FF2B5EF4-FFF2-40B4-BE49-F238E27FC236}">
                <a16:creationId xmlns:a16="http://schemas.microsoft.com/office/drawing/2014/main" id="{A52CB5F6-6B2B-4331-9C96-186B335E0D02}"/>
              </a:ext>
            </a:extLst>
          </p:cNvPr>
          <p:cNvSpPr>
            <a:spLocks noChangeShapeType="1"/>
          </p:cNvSpPr>
          <p:nvPr>
            <p:custDataLst>
              <p:tags r:id="rId5"/>
            </p:custDataLst>
          </p:nvPr>
        </p:nvSpPr>
        <p:spPr bwMode="auto">
          <a:xfrm>
            <a:off x="3294530" y="3925789"/>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sp>
        <p:nvSpPr>
          <p:cNvPr id="10" name="Rectangle 14" descr=" 10">
            <a:extLst>
              <a:ext uri="{FF2B5EF4-FFF2-40B4-BE49-F238E27FC236}">
                <a16:creationId xmlns:a16="http://schemas.microsoft.com/office/drawing/2014/main" id="{8D064CF1-63DC-4784-88DF-BCE7A49F4E62}"/>
              </a:ext>
            </a:extLst>
          </p:cNvPr>
          <p:cNvSpPr>
            <a:spLocks noChangeArrowheads="1"/>
          </p:cNvSpPr>
          <p:nvPr>
            <p:custDataLst>
              <p:tags r:id="rId6"/>
            </p:custDataLst>
          </p:nvPr>
        </p:nvSpPr>
        <p:spPr bwMode="auto">
          <a:xfrm>
            <a:off x="5661212" y="2859409"/>
            <a:ext cx="625289" cy="431006"/>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P2</a:t>
            </a:r>
          </a:p>
        </p:txBody>
      </p:sp>
      <p:cxnSp>
        <p:nvCxnSpPr>
          <p:cNvPr id="11" name="AutoShape 17" descr=" 11">
            <a:extLst>
              <a:ext uri="{FF2B5EF4-FFF2-40B4-BE49-F238E27FC236}">
                <a16:creationId xmlns:a16="http://schemas.microsoft.com/office/drawing/2014/main" id="{9A1D69F6-400F-4FE1-ADDD-EC425C70BDA5}"/>
              </a:ext>
            </a:extLst>
          </p:cNvPr>
          <p:cNvCxnSpPr>
            <a:cxnSpLocks noChangeShapeType="1"/>
            <a:stCxn id="10" idx="2"/>
            <a:endCxn id="16" idx="0"/>
          </p:cNvCxnSpPr>
          <p:nvPr>
            <p:custDataLst>
              <p:tags r:id="rId7"/>
            </p:custDataLst>
          </p:nvPr>
        </p:nvCxnSpPr>
        <p:spPr bwMode="auto">
          <a:xfrm rot="5400000">
            <a:off x="5888132" y="3376140"/>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12" name="Rectangle 21" descr=" 12">
            <a:extLst>
              <a:ext uri="{FF2B5EF4-FFF2-40B4-BE49-F238E27FC236}">
                <a16:creationId xmlns:a16="http://schemas.microsoft.com/office/drawing/2014/main" id="{830F51E4-4BB8-4E38-9D2E-01D5D0F4DF8E}"/>
              </a:ext>
            </a:extLst>
          </p:cNvPr>
          <p:cNvSpPr>
            <a:spLocks noChangeArrowheads="1"/>
          </p:cNvSpPr>
          <p:nvPr>
            <p:custDataLst>
              <p:tags r:id="rId8"/>
            </p:custDataLst>
          </p:nvPr>
        </p:nvSpPr>
        <p:spPr bwMode="auto">
          <a:xfrm>
            <a:off x="3734115" y="4725118"/>
            <a:ext cx="1717606"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0</a:t>
            </a:r>
            <a:endParaRPr lang="en-US" sz="1800" dirty="0"/>
          </a:p>
        </p:txBody>
      </p:sp>
      <p:sp>
        <p:nvSpPr>
          <p:cNvPr id="13" name="Line 10" descr=" 13">
            <a:extLst>
              <a:ext uri="{FF2B5EF4-FFF2-40B4-BE49-F238E27FC236}">
                <a16:creationId xmlns:a16="http://schemas.microsoft.com/office/drawing/2014/main" id="{F3E43F7B-3884-4F75-8733-D53A46767F28}"/>
              </a:ext>
            </a:extLst>
          </p:cNvPr>
          <p:cNvSpPr>
            <a:spLocks noChangeShapeType="1"/>
          </p:cNvSpPr>
          <p:nvPr>
            <p:custDataLst>
              <p:tags r:id="rId9"/>
            </p:custDataLst>
          </p:nvPr>
        </p:nvSpPr>
        <p:spPr bwMode="auto">
          <a:xfrm>
            <a:off x="5973856" y="3919065"/>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cxnSp>
        <p:nvCxnSpPr>
          <p:cNvPr id="14" name="Straight Arrow Connector 13" descr=" 14">
            <a:extLst>
              <a:ext uri="{FF2B5EF4-FFF2-40B4-BE49-F238E27FC236}">
                <a16:creationId xmlns:a16="http://schemas.microsoft.com/office/drawing/2014/main" id="{AC5683A1-2BD0-415B-A57D-44B0E4D5D470}"/>
              </a:ext>
            </a:extLst>
          </p:cNvPr>
          <p:cNvCxnSpPr>
            <a:stCxn id="5" idx="2"/>
            <a:endCxn id="12" idx="0"/>
          </p:cNvCxnSpPr>
          <p:nvPr/>
        </p:nvCxnSpPr>
        <p:spPr bwMode="auto">
          <a:xfrm rot="16200000" flipH="1">
            <a:off x="4475640" y="4607841"/>
            <a:ext cx="234554" cy="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5" name="Rectangle 21" descr=" 15">
            <a:extLst>
              <a:ext uri="{FF2B5EF4-FFF2-40B4-BE49-F238E27FC236}">
                <a16:creationId xmlns:a16="http://schemas.microsoft.com/office/drawing/2014/main" id="{D26DB25A-2C6E-4BEB-A326-32CC0B8B4046}"/>
              </a:ext>
            </a:extLst>
          </p:cNvPr>
          <p:cNvSpPr>
            <a:spLocks noChangeArrowheads="1"/>
          </p:cNvSpPr>
          <p:nvPr>
            <p:custDataLst>
              <p:tags r:id="rId10"/>
            </p:custDataLst>
          </p:nvPr>
        </p:nvSpPr>
        <p:spPr bwMode="auto">
          <a:xfrm>
            <a:off x="2830606" y="3465995"/>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a:t>
            </a:r>
            <a:r>
              <a:rPr lang="en-US" sz="1500" strike="sngStrike" dirty="0"/>
              <a:t>M</a:t>
            </a:r>
            <a:r>
              <a:rPr lang="en-US" sz="1500" dirty="0"/>
              <a:t> </a:t>
            </a:r>
            <a:r>
              <a:rPr lang="en-US" sz="1500" dirty="0">
                <a:solidFill>
                  <a:srgbClr val="C00000"/>
                </a:solidFill>
              </a:rPr>
              <a:t>I</a:t>
            </a:r>
            <a:r>
              <a:rPr lang="en-US" sz="1500" dirty="0"/>
              <a:t>]</a:t>
            </a:r>
            <a:endParaRPr lang="en-US" sz="1800" dirty="0">
              <a:solidFill>
                <a:srgbClr val="C00000"/>
              </a:solidFill>
            </a:endParaRPr>
          </a:p>
        </p:txBody>
      </p:sp>
      <p:sp>
        <p:nvSpPr>
          <p:cNvPr id="16" name="Rectangle 21" descr=" 16">
            <a:extLst>
              <a:ext uri="{FF2B5EF4-FFF2-40B4-BE49-F238E27FC236}">
                <a16:creationId xmlns:a16="http://schemas.microsoft.com/office/drawing/2014/main" id="{7574CD24-B6B9-4E07-A96E-7EBCFD1E59BA}"/>
              </a:ext>
            </a:extLst>
          </p:cNvPr>
          <p:cNvSpPr>
            <a:spLocks noChangeArrowheads="1"/>
          </p:cNvSpPr>
          <p:nvPr>
            <p:custDataLst>
              <p:tags r:id="rId11"/>
            </p:custDataLst>
          </p:nvPr>
        </p:nvSpPr>
        <p:spPr bwMode="auto">
          <a:xfrm>
            <a:off x="5516656" y="3461865"/>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a:t>
            </a:r>
            <a:r>
              <a:rPr lang="en-US" sz="1500" strike="sngStrike" dirty="0"/>
              <a:t>I</a:t>
            </a:r>
            <a:r>
              <a:rPr lang="en-US" sz="1500" dirty="0"/>
              <a:t> </a:t>
            </a:r>
            <a:r>
              <a:rPr lang="en-US" sz="1500" dirty="0">
                <a:solidFill>
                  <a:srgbClr val="C00000"/>
                </a:solidFill>
              </a:rPr>
              <a:t>M</a:t>
            </a:r>
            <a:r>
              <a:rPr lang="en-US" sz="1500" dirty="0"/>
              <a:t>]: </a:t>
            </a:r>
            <a:r>
              <a:rPr lang="en-US" sz="1500" dirty="0">
                <a:solidFill>
                  <a:srgbClr val="C00000"/>
                </a:solidFill>
              </a:rPr>
              <a:t>3</a:t>
            </a:r>
            <a:endParaRPr lang="en-US" sz="1800" dirty="0">
              <a:solidFill>
                <a:srgbClr val="C00000"/>
              </a:solidFill>
            </a:endParaRPr>
          </a:p>
        </p:txBody>
      </p:sp>
      <p:sp>
        <p:nvSpPr>
          <p:cNvPr id="17" name="TextBox 16" descr=" 17">
            <a:extLst>
              <a:ext uri="{FF2B5EF4-FFF2-40B4-BE49-F238E27FC236}">
                <a16:creationId xmlns:a16="http://schemas.microsoft.com/office/drawing/2014/main" id="{00C3BC86-295D-4D7D-A4D2-9EEF02D2A4B3}"/>
              </a:ext>
            </a:extLst>
          </p:cNvPr>
          <p:cNvSpPr txBox="1"/>
          <p:nvPr>
            <p:custDataLst>
              <p:tags r:id="rId12"/>
            </p:custDataLst>
          </p:nvPr>
        </p:nvSpPr>
        <p:spPr>
          <a:xfrm>
            <a:off x="5459506" y="4947766"/>
            <a:ext cx="1076705" cy="276999"/>
          </a:xfrm>
          <a:prstGeom prst="rect">
            <a:avLst/>
          </a:prstGeom>
          <a:noFill/>
        </p:spPr>
        <p:txBody>
          <a:bodyPr wrap="none" rtlCol="0">
            <a:spAutoFit/>
          </a:bodyPr>
          <a:lstStyle/>
          <a:p>
            <a:r>
              <a:rPr lang="en-US" sz="1200" dirty="0">
                <a:latin typeface="+mn-lt"/>
              </a:rPr>
              <a:t>Main Memory</a:t>
            </a:r>
          </a:p>
        </p:txBody>
      </p:sp>
      <p:sp>
        <p:nvSpPr>
          <p:cNvPr id="24" name="Rectangle 22" descr=" 24">
            <a:extLst>
              <a:ext uri="{FF2B5EF4-FFF2-40B4-BE49-F238E27FC236}">
                <a16:creationId xmlns:a16="http://schemas.microsoft.com/office/drawing/2014/main" id="{C537AA7C-BA4F-445D-880D-5544524F35E8}"/>
              </a:ext>
            </a:extLst>
          </p:cNvPr>
          <p:cNvSpPr>
            <a:spLocks noChangeArrowheads="1"/>
          </p:cNvSpPr>
          <p:nvPr>
            <p:custDataLst>
              <p:tags r:id="rId13"/>
            </p:custDataLst>
          </p:nvPr>
        </p:nvSpPr>
        <p:spPr bwMode="auto">
          <a:xfrm>
            <a:off x="2830606" y="3690465"/>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1800" dirty="0"/>
          </a:p>
        </p:txBody>
      </p:sp>
      <p:sp>
        <p:nvSpPr>
          <p:cNvPr id="25" name="Rectangle 22" descr=" 25">
            <a:extLst>
              <a:ext uri="{FF2B5EF4-FFF2-40B4-BE49-F238E27FC236}">
                <a16:creationId xmlns:a16="http://schemas.microsoft.com/office/drawing/2014/main" id="{E69D5C80-D5CA-4CA2-8BD3-7F382A70FD13}"/>
              </a:ext>
            </a:extLst>
          </p:cNvPr>
          <p:cNvSpPr>
            <a:spLocks noChangeArrowheads="1"/>
          </p:cNvSpPr>
          <p:nvPr>
            <p:custDataLst>
              <p:tags r:id="rId14"/>
            </p:custDataLst>
          </p:nvPr>
        </p:nvSpPr>
        <p:spPr bwMode="auto">
          <a:xfrm>
            <a:off x="5516656" y="3698799"/>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1800" dirty="0"/>
          </a:p>
        </p:txBody>
      </p:sp>
      <p:sp>
        <p:nvSpPr>
          <p:cNvPr id="26" name="Rectangle 22" descr=" 26">
            <a:extLst>
              <a:ext uri="{FF2B5EF4-FFF2-40B4-BE49-F238E27FC236}">
                <a16:creationId xmlns:a16="http://schemas.microsoft.com/office/drawing/2014/main" id="{F38E3CA4-8260-4664-82A3-0F9B55A35D6C}"/>
              </a:ext>
            </a:extLst>
          </p:cNvPr>
          <p:cNvSpPr>
            <a:spLocks noChangeArrowheads="1"/>
          </p:cNvSpPr>
          <p:nvPr>
            <p:custDataLst>
              <p:tags r:id="rId15"/>
            </p:custDataLst>
          </p:nvPr>
        </p:nvSpPr>
        <p:spPr bwMode="auto">
          <a:xfrm>
            <a:off x="3734115" y="4962052"/>
            <a:ext cx="1717606"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1800" dirty="0"/>
          </a:p>
        </p:txBody>
      </p:sp>
      <p:sp>
        <p:nvSpPr>
          <p:cNvPr id="19" name="Text Box 11" descr=" 9">
            <a:extLst>
              <a:ext uri="{FF2B5EF4-FFF2-40B4-BE49-F238E27FC236}">
                <a16:creationId xmlns:a16="http://schemas.microsoft.com/office/drawing/2014/main" id="{B44DFCCC-CB9B-4F60-848C-DAE7581ECB5B}"/>
              </a:ext>
            </a:extLst>
          </p:cNvPr>
          <p:cNvSpPr txBox="1">
            <a:spLocks noChangeArrowheads="1"/>
          </p:cNvSpPr>
          <p:nvPr>
            <p:custDataLst>
              <p:tags r:id="rId16"/>
            </p:custDataLst>
          </p:nvPr>
        </p:nvSpPr>
        <p:spPr bwMode="auto">
          <a:xfrm>
            <a:off x="1763804" y="2928082"/>
            <a:ext cx="1201355" cy="323165"/>
          </a:xfrm>
          <a:prstGeom prst="rect">
            <a:avLst/>
          </a:prstGeom>
          <a:noFill/>
          <a:ln w="12700">
            <a:noFill/>
            <a:miter lim="800000"/>
            <a:headEnd type="none" w="sm" len="sm"/>
            <a:tailEnd type="none" w="sm" len="sm"/>
          </a:ln>
        </p:spPr>
        <p:txBody>
          <a:bodyPr wrap="none">
            <a:spAutoFit/>
          </a:bodyPr>
          <a:lstStyle/>
          <a:p>
            <a:r>
              <a:rPr lang="en-US" sz="1500" dirty="0">
                <a:solidFill>
                  <a:srgbClr val="CC0000"/>
                </a:solidFill>
                <a:latin typeface="+mn-lt"/>
              </a:rPr>
              <a:t>t1: </a:t>
            </a:r>
            <a:r>
              <a:rPr lang="en-US" sz="1500" dirty="0">
                <a:latin typeface="+mn-lt"/>
              </a:rPr>
              <a:t>Store A=1</a:t>
            </a:r>
          </a:p>
        </p:txBody>
      </p:sp>
      <p:sp>
        <p:nvSpPr>
          <p:cNvPr id="20" name="Text Box 11" descr=" 19">
            <a:extLst>
              <a:ext uri="{FF2B5EF4-FFF2-40B4-BE49-F238E27FC236}">
                <a16:creationId xmlns:a16="http://schemas.microsoft.com/office/drawing/2014/main" id="{CDEF9C23-91FC-42CD-8D6A-D65A21DC4039}"/>
              </a:ext>
            </a:extLst>
          </p:cNvPr>
          <p:cNvSpPr txBox="1">
            <a:spLocks noChangeArrowheads="1"/>
          </p:cNvSpPr>
          <p:nvPr>
            <p:custDataLst>
              <p:tags r:id="rId17"/>
            </p:custDataLst>
          </p:nvPr>
        </p:nvSpPr>
        <p:spPr bwMode="auto">
          <a:xfrm>
            <a:off x="1837591" y="4249654"/>
            <a:ext cx="1180131" cy="323165"/>
          </a:xfrm>
          <a:prstGeom prst="rect">
            <a:avLst/>
          </a:prstGeom>
          <a:noFill/>
          <a:ln w="12700">
            <a:noFill/>
            <a:miter lim="800000"/>
            <a:headEnd type="none" w="sm" len="sm"/>
            <a:tailEnd type="none" w="sm" len="sm"/>
          </a:ln>
        </p:spPr>
        <p:txBody>
          <a:bodyPr wrap="none">
            <a:spAutoFit/>
          </a:bodyPr>
          <a:lstStyle/>
          <a:p>
            <a:r>
              <a:rPr lang="en-US" sz="1500" dirty="0">
                <a:solidFill>
                  <a:srgbClr val="CC0000"/>
                </a:solidFill>
                <a:latin typeface="+mn-lt"/>
              </a:rPr>
              <a:t>t2: </a:t>
            </a:r>
            <a:r>
              <a:rPr lang="en-US" sz="1500" dirty="0" err="1">
                <a:latin typeface="+mn-lt"/>
              </a:rPr>
              <a:t>BusRdX</a:t>
            </a:r>
            <a:r>
              <a:rPr lang="en-US" sz="1500" dirty="0">
                <a:latin typeface="+mn-lt"/>
              </a:rPr>
              <a:t> A</a:t>
            </a:r>
          </a:p>
        </p:txBody>
      </p:sp>
      <p:sp>
        <p:nvSpPr>
          <p:cNvPr id="21" name="Text Box 11" descr=" 19">
            <a:extLst>
              <a:ext uri="{FF2B5EF4-FFF2-40B4-BE49-F238E27FC236}">
                <a16:creationId xmlns:a16="http://schemas.microsoft.com/office/drawing/2014/main" id="{B125560F-7AFF-41F1-86C7-5AE824540EE2}"/>
              </a:ext>
            </a:extLst>
          </p:cNvPr>
          <p:cNvSpPr txBox="1">
            <a:spLocks noChangeArrowheads="1"/>
          </p:cNvSpPr>
          <p:nvPr>
            <p:custDataLst>
              <p:tags r:id="rId18"/>
            </p:custDataLst>
          </p:nvPr>
        </p:nvSpPr>
        <p:spPr bwMode="auto">
          <a:xfrm>
            <a:off x="2472156" y="4812305"/>
            <a:ext cx="1304973" cy="323165"/>
          </a:xfrm>
          <a:prstGeom prst="rect">
            <a:avLst/>
          </a:prstGeom>
          <a:noFill/>
          <a:ln w="12700">
            <a:noFill/>
            <a:miter lim="800000"/>
            <a:headEnd type="none" w="sm" len="sm"/>
            <a:tailEnd type="none" w="sm" len="sm"/>
          </a:ln>
        </p:spPr>
        <p:txBody>
          <a:bodyPr wrap="none">
            <a:spAutoFit/>
          </a:bodyPr>
          <a:lstStyle/>
          <a:p>
            <a:r>
              <a:rPr lang="en-US" sz="1500" dirty="0">
                <a:solidFill>
                  <a:srgbClr val="CC0000"/>
                </a:solidFill>
                <a:latin typeface="+mn-lt"/>
              </a:rPr>
              <a:t>t3: </a:t>
            </a:r>
            <a:r>
              <a:rPr lang="en-US" sz="1500" dirty="0" err="1">
                <a:latin typeface="+mn-lt"/>
              </a:rPr>
              <a:t>BusReply</a:t>
            </a:r>
            <a:r>
              <a:rPr lang="en-US" sz="1500" dirty="0">
                <a:latin typeface="+mn-lt"/>
              </a:rPr>
              <a:t> A</a:t>
            </a:r>
          </a:p>
        </p:txBody>
      </p:sp>
      <p:sp>
        <p:nvSpPr>
          <p:cNvPr id="22" name="Text Box 11" descr=" 9">
            <a:extLst>
              <a:ext uri="{FF2B5EF4-FFF2-40B4-BE49-F238E27FC236}">
                <a16:creationId xmlns:a16="http://schemas.microsoft.com/office/drawing/2014/main" id="{5510BE05-521F-42EF-B92E-1CAC1EB9DEE1}"/>
              </a:ext>
            </a:extLst>
          </p:cNvPr>
          <p:cNvSpPr txBox="1">
            <a:spLocks noChangeArrowheads="1"/>
          </p:cNvSpPr>
          <p:nvPr>
            <p:custDataLst>
              <p:tags r:id="rId19"/>
            </p:custDataLst>
          </p:nvPr>
        </p:nvSpPr>
        <p:spPr bwMode="auto">
          <a:xfrm>
            <a:off x="1766047" y="3109613"/>
            <a:ext cx="1201355" cy="323165"/>
          </a:xfrm>
          <a:prstGeom prst="rect">
            <a:avLst/>
          </a:prstGeom>
          <a:noFill/>
          <a:ln w="12700">
            <a:noFill/>
            <a:miter lim="800000"/>
            <a:headEnd type="none" w="sm" len="sm"/>
            <a:tailEnd type="none" w="sm" len="sm"/>
          </a:ln>
        </p:spPr>
        <p:txBody>
          <a:bodyPr wrap="none">
            <a:spAutoFit/>
          </a:bodyPr>
          <a:lstStyle/>
          <a:p>
            <a:r>
              <a:rPr lang="en-US" sz="1500" dirty="0">
                <a:solidFill>
                  <a:srgbClr val="CC0000"/>
                </a:solidFill>
                <a:latin typeface="+mn-lt"/>
              </a:rPr>
              <a:t>t4: </a:t>
            </a:r>
            <a:r>
              <a:rPr lang="en-US" sz="1500" dirty="0">
                <a:latin typeface="+mn-lt"/>
              </a:rPr>
              <a:t>Store A=2</a:t>
            </a:r>
          </a:p>
        </p:txBody>
      </p:sp>
      <p:sp>
        <p:nvSpPr>
          <p:cNvPr id="27" name="Text Box 11" descr=" 9">
            <a:extLst>
              <a:ext uri="{FF2B5EF4-FFF2-40B4-BE49-F238E27FC236}">
                <a16:creationId xmlns:a16="http://schemas.microsoft.com/office/drawing/2014/main" id="{00A289D2-830B-4652-98B3-847F39CBC1E6}"/>
              </a:ext>
            </a:extLst>
          </p:cNvPr>
          <p:cNvSpPr txBox="1">
            <a:spLocks noChangeArrowheads="1"/>
          </p:cNvSpPr>
          <p:nvPr>
            <p:custDataLst>
              <p:tags r:id="rId20"/>
            </p:custDataLst>
          </p:nvPr>
        </p:nvSpPr>
        <p:spPr bwMode="auto">
          <a:xfrm>
            <a:off x="6347020" y="2923085"/>
            <a:ext cx="968535" cy="323165"/>
          </a:xfrm>
          <a:prstGeom prst="rect">
            <a:avLst/>
          </a:prstGeom>
          <a:noFill/>
          <a:ln w="12700">
            <a:noFill/>
            <a:miter lim="800000"/>
            <a:headEnd type="none" w="sm" len="sm"/>
            <a:tailEnd type="none" w="sm" len="sm"/>
          </a:ln>
        </p:spPr>
        <p:txBody>
          <a:bodyPr wrap="none">
            <a:spAutoFit/>
          </a:bodyPr>
          <a:lstStyle/>
          <a:p>
            <a:r>
              <a:rPr lang="en-US" sz="1500" dirty="0">
                <a:solidFill>
                  <a:srgbClr val="CC0000"/>
                </a:solidFill>
                <a:latin typeface="+mn-lt"/>
              </a:rPr>
              <a:t>t6: </a:t>
            </a:r>
            <a:r>
              <a:rPr lang="en-US" sz="1500" dirty="0">
                <a:latin typeface="+mn-lt"/>
              </a:rPr>
              <a:t>Load A</a:t>
            </a:r>
          </a:p>
        </p:txBody>
      </p:sp>
      <p:sp>
        <p:nvSpPr>
          <p:cNvPr id="28" name="Text Box 11" descr=" 9">
            <a:extLst>
              <a:ext uri="{FF2B5EF4-FFF2-40B4-BE49-F238E27FC236}">
                <a16:creationId xmlns:a16="http://schemas.microsoft.com/office/drawing/2014/main" id="{9F8E17FA-4412-43B3-99B5-90C3CA5970C9}"/>
              </a:ext>
            </a:extLst>
          </p:cNvPr>
          <p:cNvSpPr txBox="1">
            <a:spLocks noChangeArrowheads="1"/>
          </p:cNvSpPr>
          <p:nvPr>
            <p:custDataLst>
              <p:tags r:id="rId21"/>
            </p:custDataLst>
          </p:nvPr>
        </p:nvSpPr>
        <p:spPr bwMode="auto">
          <a:xfrm>
            <a:off x="6019800" y="3962400"/>
            <a:ext cx="1180131" cy="323165"/>
          </a:xfrm>
          <a:prstGeom prst="rect">
            <a:avLst/>
          </a:prstGeom>
          <a:noFill/>
          <a:ln w="12700">
            <a:noFill/>
            <a:miter lim="800000"/>
            <a:headEnd type="none" w="sm" len="sm"/>
            <a:tailEnd type="none" w="sm" len="sm"/>
          </a:ln>
        </p:spPr>
        <p:txBody>
          <a:bodyPr wrap="none">
            <a:spAutoFit/>
          </a:bodyPr>
          <a:lstStyle/>
          <a:p>
            <a:r>
              <a:rPr lang="en-US" sz="1500" dirty="0">
                <a:solidFill>
                  <a:srgbClr val="CC0000"/>
                </a:solidFill>
                <a:latin typeface="+mn-lt"/>
              </a:rPr>
              <a:t>t7: </a:t>
            </a:r>
            <a:r>
              <a:rPr lang="en-US" sz="1500" dirty="0" err="1">
                <a:latin typeface="+mn-lt"/>
              </a:rPr>
              <a:t>BusRdX</a:t>
            </a:r>
            <a:r>
              <a:rPr lang="en-US" sz="1500" dirty="0">
                <a:latin typeface="+mn-lt"/>
              </a:rPr>
              <a:t> A</a:t>
            </a:r>
          </a:p>
        </p:txBody>
      </p:sp>
      <p:sp>
        <p:nvSpPr>
          <p:cNvPr id="30" name="TextBox 29">
            <a:extLst>
              <a:ext uri="{FF2B5EF4-FFF2-40B4-BE49-F238E27FC236}">
                <a16:creationId xmlns:a16="http://schemas.microsoft.com/office/drawing/2014/main" id="{4F45A5E0-8010-427A-960A-084B26561F7E}"/>
              </a:ext>
            </a:extLst>
          </p:cNvPr>
          <p:cNvSpPr txBox="1"/>
          <p:nvPr>
            <p:custDataLst>
              <p:tags r:id="rId22"/>
            </p:custDataLst>
          </p:nvPr>
        </p:nvSpPr>
        <p:spPr>
          <a:xfrm>
            <a:off x="35562" y="4398696"/>
            <a:ext cx="2088652" cy="420538"/>
          </a:xfrm>
          <a:prstGeom prst="rect">
            <a:avLst/>
          </a:prstGeom>
          <a:noFill/>
        </p:spPr>
        <p:txBody>
          <a:bodyPr wrap="square" rtlCol="0" anchor="ctr">
            <a:noAutofit/>
          </a:bodyPr>
          <a:lstStyle/>
          <a:p>
            <a:pPr algn="ctr"/>
            <a:r>
              <a:rPr lang="en-US" sz="1600" b="1" dirty="0">
                <a:solidFill>
                  <a:schemeClr val="accent6">
                    <a:lumMod val="75000"/>
                  </a:schemeClr>
                </a:solidFill>
                <a:latin typeface="+mn-lt"/>
              </a:rPr>
              <a:t>cache sends data instead of memory, since it has the most up-to-date value</a:t>
            </a:r>
          </a:p>
        </p:txBody>
      </p:sp>
      <p:cxnSp>
        <p:nvCxnSpPr>
          <p:cNvPr id="31" name="Straight Connector 30">
            <a:extLst>
              <a:ext uri="{FF2B5EF4-FFF2-40B4-BE49-F238E27FC236}">
                <a16:creationId xmlns:a16="http://schemas.microsoft.com/office/drawing/2014/main" id="{E151E056-D8C1-4EC8-A96F-B6F3FAB0F9CA}"/>
              </a:ext>
            </a:extLst>
          </p:cNvPr>
          <p:cNvCxnSpPr>
            <a:cxnSpLocks/>
          </p:cNvCxnSpPr>
          <p:nvPr/>
        </p:nvCxnSpPr>
        <p:spPr>
          <a:xfrm flipV="1">
            <a:off x="1697479" y="3807742"/>
            <a:ext cx="351351" cy="309179"/>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2" name="Rectangle 2">
            <a:extLst>
              <a:ext uri="{FF2B5EF4-FFF2-40B4-BE49-F238E27FC236}">
                <a16:creationId xmlns:a16="http://schemas.microsoft.com/office/drawing/2014/main" id="{3FC0D9AB-EB5B-489E-85FB-10A5DC0FDD30}"/>
              </a:ext>
            </a:extLst>
          </p:cNvPr>
          <p:cNvSpPr>
            <a:spLocks noGrp="1" noChangeArrowheads="1"/>
          </p:cNvSpPr>
          <p:nvPr>
            <p:ph type="title"/>
            <p:custDataLst>
              <p:tags r:id="rId23"/>
            </p:custDataLst>
          </p:nvPr>
        </p:nvSpPr>
        <p:spPr>
          <a:xfrm>
            <a:off x="457200" y="274638"/>
            <a:ext cx="7467600" cy="1143000"/>
          </a:xfrm>
        </p:spPr>
        <p:txBody>
          <a:bodyPr/>
          <a:lstStyle/>
          <a:p>
            <a:pPr eaLnBrk="1" hangingPunct="1"/>
            <a:r>
              <a:rPr lang="en-US" altLang="en-US" dirty="0">
                <a:latin typeface="+mn-lt"/>
              </a:rPr>
              <a:t>MI Protocol</a:t>
            </a:r>
          </a:p>
        </p:txBody>
      </p:sp>
      <p:sp>
        <p:nvSpPr>
          <p:cNvPr id="33" name="Text Box 11" descr=" 9">
            <a:extLst>
              <a:ext uri="{FF2B5EF4-FFF2-40B4-BE49-F238E27FC236}">
                <a16:creationId xmlns:a16="http://schemas.microsoft.com/office/drawing/2014/main" id="{4A8351D1-9741-4654-B797-DDAEC917FFCF}"/>
              </a:ext>
            </a:extLst>
          </p:cNvPr>
          <p:cNvSpPr txBox="1">
            <a:spLocks noChangeArrowheads="1"/>
          </p:cNvSpPr>
          <p:nvPr>
            <p:custDataLst>
              <p:tags r:id="rId24"/>
            </p:custDataLst>
          </p:nvPr>
        </p:nvSpPr>
        <p:spPr bwMode="auto">
          <a:xfrm>
            <a:off x="1568962" y="3522222"/>
            <a:ext cx="1304973" cy="323165"/>
          </a:xfrm>
          <a:prstGeom prst="rect">
            <a:avLst/>
          </a:prstGeom>
          <a:noFill/>
          <a:ln w="12700">
            <a:noFill/>
            <a:miter lim="800000"/>
            <a:headEnd type="none" w="sm" len="sm"/>
            <a:tailEnd type="none" w="sm" len="sm"/>
          </a:ln>
        </p:spPr>
        <p:txBody>
          <a:bodyPr wrap="none">
            <a:spAutoFit/>
          </a:bodyPr>
          <a:lstStyle/>
          <a:p>
            <a:r>
              <a:rPr lang="en-US" sz="1500" dirty="0">
                <a:solidFill>
                  <a:srgbClr val="CC0000"/>
                </a:solidFill>
                <a:latin typeface="+mn-lt"/>
              </a:rPr>
              <a:t>t8: </a:t>
            </a:r>
            <a:r>
              <a:rPr lang="en-US" sz="1500" dirty="0" err="1">
                <a:latin typeface="+mn-lt"/>
              </a:rPr>
              <a:t>BusReply</a:t>
            </a:r>
            <a:r>
              <a:rPr lang="en-US" sz="1500" dirty="0">
                <a:latin typeface="+mn-lt"/>
              </a:rPr>
              <a:t> A</a:t>
            </a:r>
          </a:p>
        </p:txBody>
      </p:sp>
      <p:grpSp>
        <p:nvGrpSpPr>
          <p:cNvPr id="29" name="Group 28">
            <a:extLst>
              <a:ext uri="{FF2B5EF4-FFF2-40B4-BE49-F238E27FC236}">
                <a16:creationId xmlns:a16="http://schemas.microsoft.com/office/drawing/2014/main" id="{2E8784B1-3338-4605-A537-5A3424332E9B}"/>
              </a:ext>
            </a:extLst>
          </p:cNvPr>
          <p:cNvGrpSpPr/>
          <p:nvPr>
            <p:custDataLst>
              <p:tags r:id="rId25"/>
            </p:custDataLst>
          </p:nvPr>
        </p:nvGrpSpPr>
        <p:grpSpPr>
          <a:xfrm>
            <a:off x="5475495" y="4284464"/>
            <a:ext cx="3287504" cy="2496145"/>
            <a:chOff x="5475495" y="4284464"/>
            <a:chExt cx="3287504" cy="2496145"/>
          </a:xfrm>
        </p:grpSpPr>
        <p:sp>
          <p:nvSpPr>
            <p:cNvPr id="34" name="Oval 7">
              <a:extLst>
                <a:ext uri="{FF2B5EF4-FFF2-40B4-BE49-F238E27FC236}">
                  <a16:creationId xmlns:a16="http://schemas.microsoft.com/office/drawing/2014/main" id="{F659CA1B-134F-45D2-9276-179BA76961A5}"/>
                </a:ext>
              </a:extLst>
            </p:cNvPr>
            <p:cNvSpPr>
              <a:spLocks noChangeArrowheads="1"/>
            </p:cNvSpPr>
            <p:nvPr>
              <p:custDataLst>
                <p:tags r:id="rId28"/>
              </p:custDataLst>
            </p:nvPr>
          </p:nvSpPr>
          <p:spPr bwMode="auto">
            <a:xfrm>
              <a:off x="6902246" y="4904184"/>
              <a:ext cx="461338" cy="619125"/>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1650" dirty="0"/>
                <a:t>M</a:t>
              </a:r>
            </a:p>
          </p:txBody>
        </p:sp>
        <p:sp>
          <p:nvSpPr>
            <p:cNvPr id="35" name="Oval 8">
              <a:extLst>
                <a:ext uri="{FF2B5EF4-FFF2-40B4-BE49-F238E27FC236}">
                  <a16:creationId xmlns:a16="http://schemas.microsoft.com/office/drawing/2014/main" id="{F52142D2-B91D-4F02-A83F-37086DD8A828}"/>
                </a:ext>
              </a:extLst>
            </p:cNvPr>
            <p:cNvSpPr>
              <a:spLocks noChangeArrowheads="1"/>
            </p:cNvSpPr>
            <p:nvPr>
              <p:custDataLst>
                <p:tags r:id="rId29"/>
              </p:custDataLst>
            </p:nvPr>
          </p:nvSpPr>
          <p:spPr bwMode="auto">
            <a:xfrm>
              <a:off x="6949266" y="6161484"/>
              <a:ext cx="461338" cy="619125"/>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1650" dirty="0"/>
                <a:t>I</a:t>
              </a:r>
            </a:p>
          </p:txBody>
        </p:sp>
        <p:sp>
          <p:nvSpPr>
            <p:cNvPr id="36" name="Arc 9">
              <a:extLst>
                <a:ext uri="{FF2B5EF4-FFF2-40B4-BE49-F238E27FC236}">
                  <a16:creationId xmlns:a16="http://schemas.microsoft.com/office/drawing/2014/main" id="{03D6AC9E-A929-4F96-962C-0FA2343DBDB7}"/>
                </a:ext>
              </a:extLst>
            </p:cNvPr>
            <p:cNvSpPr>
              <a:spLocks/>
            </p:cNvSpPr>
            <p:nvPr>
              <p:custDataLst>
                <p:tags r:id="rId30"/>
              </p:custDataLst>
            </p:nvPr>
          </p:nvSpPr>
          <p:spPr bwMode="auto">
            <a:xfrm rot="4920000">
              <a:off x="6966450" y="4404352"/>
              <a:ext cx="721519" cy="481744"/>
            </a:xfrm>
            <a:custGeom>
              <a:avLst/>
              <a:gdLst>
                <a:gd name="T0" fmla="*/ 505 w 43200"/>
                <a:gd name="T1" fmla="*/ 474 h 43200"/>
                <a:gd name="T2" fmla="*/ 599 w 43200"/>
                <a:gd name="T3" fmla="*/ 328 h 43200"/>
                <a:gd name="T4" fmla="*/ 303 w 43200"/>
                <a:gd name="T5" fmla="*/ 272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path>
                <a:path w="43200" h="43200" stroke="0"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lnTo>
                    <a:pt x="21600" y="21600"/>
                  </a:lnTo>
                  <a:close/>
                </a:path>
              </a:pathLst>
            </a:custGeom>
            <a:noFill/>
            <a:ln w="12700" cap="rnd">
              <a:solidFill>
                <a:schemeClr val="tx1"/>
              </a:solidFill>
              <a:round/>
              <a:headEnd/>
              <a:tailEnd type="triangle" w="med" len="med"/>
            </a:ln>
          </p:spPr>
          <p:txBody>
            <a:bodyPr wrap="none" anchor="ctr"/>
            <a:lstStyle/>
            <a:p>
              <a:endParaRPr lang="en-US" sz="750" dirty="0">
                <a:latin typeface="+mn-lt"/>
              </a:endParaRPr>
            </a:p>
          </p:txBody>
        </p:sp>
        <p:sp>
          <p:nvSpPr>
            <p:cNvPr id="37" name="Arc 10">
              <a:extLst>
                <a:ext uri="{FF2B5EF4-FFF2-40B4-BE49-F238E27FC236}">
                  <a16:creationId xmlns:a16="http://schemas.microsoft.com/office/drawing/2014/main" id="{20344503-3BC8-4D77-AE46-DF2D0345414B}"/>
                </a:ext>
              </a:extLst>
            </p:cNvPr>
            <p:cNvSpPr>
              <a:spLocks/>
            </p:cNvSpPr>
            <p:nvPr>
              <p:custDataLst>
                <p:tags r:id="rId31"/>
              </p:custDataLst>
            </p:nvPr>
          </p:nvSpPr>
          <p:spPr bwMode="auto">
            <a:xfrm rot="4920000">
              <a:off x="7111248" y="5540558"/>
              <a:ext cx="1075134" cy="497713"/>
            </a:xfrm>
            <a:custGeom>
              <a:avLst/>
              <a:gdLst>
                <a:gd name="T0" fmla="*/ 3 w 43200"/>
                <a:gd name="T1" fmla="*/ 512 h 26189"/>
                <a:gd name="T2" fmla="*/ 893 w 43200"/>
                <a:gd name="T3" fmla="*/ 561 h 26189"/>
                <a:gd name="T4" fmla="*/ 452 w 43200"/>
                <a:gd name="T5" fmla="*/ 463 h 26189"/>
                <a:gd name="T6" fmla="*/ 0 60000 65536"/>
                <a:gd name="T7" fmla="*/ 0 60000 65536"/>
                <a:gd name="T8" fmla="*/ 0 60000 65536"/>
                <a:gd name="T9" fmla="*/ 0 w 43200"/>
                <a:gd name="T10" fmla="*/ 0 h 26189"/>
                <a:gd name="T11" fmla="*/ 43200 w 43200"/>
                <a:gd name="T12" fmla="*/ 26189 h 26189"/>
              </a:gdLst>
              <a:ahLst/>
              <a:cxnLst>
                <a:cxn ang="T6">
                  <a:pos x="T0" y="T1"/>
                </a:cxn>
                <a:cxn ang="T7">
                  <a:pos x="T2" y="T3"/>
                </a:cxn>
                <a:cxn ang="T8">
                  <a:pos x="T4" y="T5"/>
                </a:cxn>
              </a:cxnLst>
              <a:rect l="T9" t="T10" r="T11" b="T12"/>
              <a:pathLst>
                <a:path w="43200" h="26189" fill="none" extrusionOk="0">
                  <a:moveTo>
                    <a:pt x="120" y="23883"/>
                  </a:moveTo>
                  <a:cubicBezTo>
                    <a:pt x="40" y="23124"/>
                    <a:pt x="0" y="22362"/>
                    <a:pt x="0" y="21600"/>
                  </a:cubicBezTo>
                  <a:cubicBezTo>
                    <a:pt x="0" y="9670"/>
                    <a:pt x="9670" y="0"/>
                    <a:pt x="21600" y="0"/>
                  </a:cubicBezTo>
                  <a:cubicBezTo>
                    <a:pt x="33529" y="0"/>
                    <a:pt x="43200" y="9670"/>
                    <a:pt x="43200" y="21600"/>
                  </a:cubicBezTo>
                  <a:cubicBezTo>
                    <a:pt x="43200" y="23142"/>
                    <a:pt x="43034" y="24681"/>
                    <a:pt x="42706" y="26188"/>
                  </a:cubicBezTo>
                </a:path>
                <a:path w="43200" h="26189" stroke="0" extrusionOk="0">
                  <a:moveTo>
                    <a:pt x="120" y="23883"/>
                  </a:moveTo>
                  <a:cubicBezTo>
                    <a:pt x="40" y="23124"/>
                    <a:pt x="0" y="22362"/>
                    <a:pt x="0" y="21600"/>
                  </a:cubicBezTo>
                  <a:cubicBezTo>
                    <a:pt x="0" y="9670"/>
                    <a:pt x="9670" y="0"/>
                    <a:pt x="21600" y="0"/>
                  </a:cubicBezTo>
                  <a:cubicBezTo>
                    <a:pt x="33529" y="0"/>
                    <a:pt x="43200" y="9670"/>
                    <a:pt x="43200" y="21600"/>
                  </a:cubicBezTo>
                  <a:cubicBezTo>
                    <a:pt x="43200" y="23142"/>
                    <a:pt x="43034" y="24681"/>
                    <a:pt x="42706" y="26188"/>
                  </a:cubicBezTo>
                  <a:lnTo>
                    <a:pt x="21600" y="21600"/>
                  </a:lnTo>
                  <a:close/>
                </a:path>
              </a:pathLst>
            </a:custGeom>
            <a:noFill/>
            <a:ln w="12700" cap="rnd">
              <a:solidFill>
                <a:schemeClr val="tx1"/>
              </a:solidFill>
              <a:round/>
              <a:headEnd/>
              <a:tailEnd type="triangle" w="med" len="med"/>
            </a:ln>
          </p:spPr>
          <p:txBody>
            <a:bodyPr wrap="none" anchor="ctr"/>
            <a:lstStyle/>
            <a:p>
              <a:endParaRPr lang="en-US" sz="750" dirty="0">
                <a:latin typeface="+mn-lt"/>
              </a:endParaRPr>
            </a:p>
          </p:txBody>
        </p:sp>
        <p:sp>
          <p:nvSpPr>
            <p:cNvPr id="38" name="Rectangle 12">
              <a:extLst>
                <a:ext uri="{FF2B5EF4-FFF2-40B4-BE49-F238E27FC236}">
                  <a16:creationId xmlns:a16="http://schemas.microsoft.com/office/drawing/2014/main" id="{2CEE4010-9F89-4516-ADAE-49C56B0BB218}"/>
                </a:ext>
              </a:extLst>
            </p:cNvPr>
            <p:cNvSpPr>
              <a:spLocks noChangeArrowheads="1"/>
            </p:cNvSpPr>
            <p:nvPr>
              <p:custDataLst>
                <p:tags r:id="rId32"/>
              </p:custDataLst>
            </p:nvPr>
          </p:nvSpPr>
          <p:spPr bwMode="auto">
            <a:xfrm>
              <a:off x="7543800" y="4594029"/>
              <a:ext cx="581636" cy="282771"/>
            </a:xfrm>
            <a:prstGeom prst="rect">
              <a:avLst/>
            </a:prstGeom>
            <a:noFill/>
            <a:ln w="12700">
              <a:noFill/>
              <a:prstDash val="sysDot"/>
              <a:miter lim="800000"/>
              <a:headEnd/>
              <a:tailEnd/>
            </a:ln>
          </p:spPr>
          <p:txBody>
            <a:bodyPr wrap="none" lIns="67866" tIns="33338" rIns="67866" bIns="33338">
              <a:spAutoFit/>
            </a:bodyPr>
            <a:lstStyle/>
            <a:p>
              <a:r>
                <a:rPr lang="en-US" sz="1400" dirty="0">
                  <a:latin typeface="+mn-lt"/>
                </a:rPr>
                <a:t>Store / --</a:t>
              </a:r>
            </a:p>
          </p:txBody>
        </p:sp>
        <p:sp>
          <p:nvSpPr>
            <p:cNvPr id="39" name="Rectangle 17">
              <a:extLst>
                <a:ext uri="{FF2B5EF4-FFF2-40B4-BE49-F238E27FC236}">
                  <a16:creationId xmlns:a16="http://schemas.microsoft.com/office/drawing/2014/main" id="{BA632718-5AE0-4988-8EDA-7F4FB066BB8B}"/>
                </a:ext>
              </a:extLst>
            </p:cNvPr>
            <p:cNvSpPr>
              <a:spLocks noChangeArrowheads="1"/>
            </p:cNvSpPr>
            <p:nvPr>
              <p:custDataLst>
                <p:tags r:id="rId33"/>
              </p:custDataLst>
            </p:nvPr>
          </p:nvSpPr>
          <p:spPr bwMode="auto">
            <a:xfrm>
              <a:off x="5475495" y="6019800"/>
              <a:ext cx="883311" cy="282771"/>
            </a:xfrm>
            <a:prstGeom prst="rect">
              <a:avLst/>
            </a:prstGeom>
            <a:noFill/>
            <a:ln w="12700">
              <a:noFill/>
              <a:prstDash val="sysDot"/>
              <a:miter lim="800000"/>
              <a:headEnd/>
              <a:tailEnd/>
            </a:ln>
          </p:spPr>
          <p:txBody>
            <a:bodyPr wrap="none" lIns="67866" tIns="33338" rIns="67866" bIns="33338">
              <a:spAutoFit/>
            </a:bodyPr>
            <a:lstStyle/>
            <a:p>
              <a:r>
                <a:rPr lang="en-US" sz="1400" dirty="0">
                  <a:latin typeface="+mn-lt"/>
                </a:rPr>
                <a:t>Load / </a:t>
              </a:r>
              <a:r>
                <a:rPr lang="en-US" sz="1400" dirty="0" err="1">
                  <a:latin typeface="+mn-lt"/>
                </a:rPr>
                <a:t>BusRdX</a:t>
              </a:r>
              <a:endParaRPr lang="en-US" sz="1400" dirty="0">
                <a:latin typeface="+mn-lt"/>
              </a:endParaRPr>
            </a:p>
          </p:txBody>
        </p:sp>
        <p:sp>
          <p:nvSpPr>
            <p:cNvPr id="40" name="Arc 18">
              <a:extLst>
                <a:ext uri="{FF2B5EF4-FFF2-40B4-BE49-F238E27FC236}">
                  <a16:creationId xmlns:a16="http://schemas.microsoft.com/office/drawing/2014/main" id="{A3F33381-891B-4EC0-9601-46A7F52D17EE}"/>
                </a:ext>
              </a:extLst>
            </p:cNvPr>
            <p:cNvSpPr>
              <a:spLocks/>
            </p:cNvSpPr>
            <p:nvPr>
              <p:custDataLst>
                <p:tags r:id="rId34"/>
              </p:custDataLst>
            </p:nvPr>
          </p:nvSpPr>
          <p:spPr bwMode="auto">
            <a:xfrm rot="15720000">
              <a:off x="6174377" y="5538177"/>
              <a:ext cx="1075134" cy="497713"/>
            </a:xfrm>
            <a:custGeom>
              <a:avLst/>
              <a:gdLst>
                <a:gd name="T0" fmla="*/ 3 w 43200"/>
                <a:gd name="T1" fmla="*/ 512 h 26189"/>
                <a:gd name="T2" fmla="*/ 893 w 43200"/>
                <a:gd name="T3" fmla="*/ 561 h 26189"/>
                <a:gd name="T4" fmla="*/ 452 w 43200"/>
                <a:gd name="T5" fmla="*/ 463 h 26189"/>
                <a:gd name="T6" fmla="*/ 0 60000 65536"/>
                <a:gd name="T7" fmla="*/ 0 60000 65536"/>
                <a:gd name="T8" fmla="*/ 0 60000 65536"/>
                <a:gd name="T9" fmla="*/ 0 w 43200"/>
                <a:gd name="T10" fmla="*/ 0 h 26189"/>
                <a:gd name="T11" fmla="*/ 43200 w 43200"/>
                <a:gd name="T12" fmla="*/ 26189 h 26189"/>
              </a:gdLst>
              <a:ahLst/>
              <a:cxnLst>
                <a:cxn ang="T6">
                  <a:pos x="T0" y="T1"/>
                </a:cxn>
                <a:cxn ang="T7">
                  <a:pos x="T2" y="T3"/>
                </a:cxn>
                <a:cxn ang="T8">
                  <a:pos x="T4" y="T5"/>
                </a:cxn>
              </a:cxnLst>
              <a:rect l="T9" t="T10" r="T11" b="T12"/>
              <a:pathLst>
                <a:path w="43200" h="26189" fill="none" extrusionOk="0">
                  <a:moveTo>
                    <a:pt x="120" y="23883"/>
                  </a:moveTo>
                  <a:cubicBezTo>
                    <a:pt x="40" y="23124"/>
                    <a:pt x="0" y="22362"/>
                    <a:pt x="0" y="21600"/>
                  </a:cubicBezTo>
                  <a:cubicBezTo>
                    <a:pt x="0" y="9670"/>
                    <a:pt x="9670" y="0"/>
                    <a:pt x="21600" y="0"/>
                  </a:cubicBezTo>
                  <a:cubicBezTo>
                    <a:pt x="33529" y="0"/>
                    <a:pt x="43200" y="9670"/>
                    <a:pt x="43200" y="21600"/>
                  </a:cubicBezTo>
                  <a:cubicBezTo>
                    <a:pt x="43200" y="23142"/>
                    <a:pt x="43034" y="24681"/>
                    <a:pt x="42706" y="26188"/>
                  </a:cubicBezTo>
                </a:path>
                <a:path w="43200" h="26189" stroke="0" extrusionOk="0">
                  <a:moveTo>
                    <a:pt x="120" y="23883"/>
                  </a:moveTo>
                  <a:cubicBezTo>
                    <a:pt x="40" y="23124"/>
                    <a:pt x="0" y="22362"/>
                    <a:pt x="0" y="21600"/>
                  </a:cubicBezTo>
                  <a:cubicBezTo>
                    <a:pt x="0" y="9670"/>
                    <a:pt x="9670" y="0"/>
                    <a:pt x="21600" y="0"/>
                  </a:cubicBezTo>
                  <a:cubicBezTo>
                    <a:pt x="33529" y="0"/>
                    <a:pt x="43200" y="9670"/>
                    <a:pt x="43200" y="21600"/>
                  </a:cubicBezTo>
                  <a:cubicBezTo>
                    <a:pt x="43200" y="23142"/>
                    <a:pt x="43034" y="24681"/>
                    <a:pt x="42706" y="26188"/>
                  </a:cubicBezTo>
                  <a:lnTo>
                    <a:pt x="21600" y="21600"/>
                  </a:lnTo>
                  <a:close/>
                </a:path>
              </a:pathLst>
            </a:custGeom>
            <a:noFill/>
            <a:ln w="12700" cap="rnd">
              <a:solidFill>
                <a:schemeClr val="tx1"/>
              </a:solidFill>
              <a:round/>
              <a:headEnd/>
              <a:tailEnd type="triangle" w="med" len="med"/>
            </a:ln>
          </p:spPr>
          <p:txBody>
            <a:bodyPr wrap="none" anchor="ctr"/>
            <a:lstStyle/>
            <a:p>
              <a:endParaRPr lang="en-US" sz="750" dirty="0">
                <a:latin typeface="+mn-lt"/>
              </a:endParaRPr>
            </a:p>
          </p:txBody>
        </p:sp>
        <p:sp>
          <p:nvSpPr>
            <p:cNvPr id="41" name="Rectangle 19">
              <a:extLst>
                <a:ext uri="{FF2B5EF4-FFF2-40B4-BE49-F238E27FC236}">
                  <a16:creationId xmlns:a16="http://schemas.microsoft.com/office/drawing/2014/main" id="{FD4FAB9C-A828-42BD-B0F6-6312EEDE43FA}"/>
                </a:ext>
              </a:extLst>
            </p:cNvPr>
            <p:cNvSpPr>
              <a:spLocks noChangeArrowheads="1"/>
            </p:cNvSpPr>
            <p:nvPr>
              <p:custDataLst>
                <p:tags r:id="rId35"/>
              </p:custDataLst>
            </p:nvPr>
          </p:nvSpPr>
          <p:spPr bwMode="auto">
            <a:xfrm>
              <a:off x="7614107" y="4390527"/>
              <a:ext cx="556027" cy="282771"/>
            </a:xfrm>
            <a:prstGeom prst="rect">
              <a:avLst/>
            </a:prstGeom>
            <a:noFill/>
            <a:ln w="12700">
              <a:noFill/>
              <a:prstDash val="sysDot"/>
              <a:miter lim="800000"/>
              <a:headEnd/>
              <a:tailEnd/>
            </a:ln>
          </p:spPr>
          <p:txBody>
            <a:bodyPr wrap="none" lIns="67866" tIns="33338" rIns="67866" bIns="33338">
              <a:spAutoFit/>
            </a:bodyPr>
            <a:lstStyle/>
            <a:p>
              <a:r>
                <a:rPr lang="en-US" sz="1400" dirty="0">
                  <a:latin typeface="+mn-lt"/>
                </a:rPr>
                <a:t>Load / --</a:t>
              </a:r>
            </a:p>
          </p:txBody>
        </p:sp>
        <p:sp>
          <p:nvSpPr>
            <p:cNvPr id="42" name="Rectangle 14">
              <a:extLst>
                <a:ext uri="{FF2B5EF4-FFF2-40B4-BE49-F238E27FC236}">
                  <a16:creationId xmlns:a16="http://schemas.microsoft.com/office/drawing/2014/main" id="{D6429ACE-5EC9-45BA-BA8D-7BA7E04A17BE}"/>
                </a:ext>
              </a:extLst>
            </p:cNvPr>
            <p:cNvSpPr>
              <a:spLocks noChangeArrowheads="1"/>
            </p:cNvSpPr>
            <p:nvPr>
              <p:custDataLst>
                <p:tags r:id="rId36"/>
              </p:custDataLst>
            </p:nvPr>
          </p:nvSpPr>
          <p:spPr bwMode="auto">
            <a:xfrm>
              <a:off x="7645523" y="6341497"/>
              <a:ext cx="1117476" cy="282771"/>
            </a:xfrm>
            <a:prstGeom prst="rect">
              <a:avLst/>
            </a:prstGeom>
            <a:noFill/>
            <a:ln w="12700">
              <a:noFill/>
              <a:prstDash val="sysDot"/>
              <a:miter lim="800000"/>
              <a:headEnd/>
              <a:tailEnd/>
            </a:ln>
          </p:spPr>
          <p:txBody>
            <a:bodyPr wrap="none" lIns="67866" tIns="33338" rIns="67866" bIns="33338">
              <a:spAutoFit/>
            </a:bodyPr>
            <a:lstStyle/>
            <a:p>
              <a:r>
                <a:rPr lang="en-US" sz="1400" dirty="0" err="1">
                  <a:latin typeface="+mn-lt"/>
                </a:rPr>
                <a:t>BusRdX</a:t>
              </a:r>
              <a:r>
                <a:rPr lang="en-US" sz="1400" dirty="0">
                  <a:latin typeface="+mn-lt"/>
                </a:rPr>
                <a:t> / </a:t>
              </a:r>
              <a:r>
                <a:rPr lang="en-US" sz="1400" dirty="0" err="1">
                  <a:latin typeface="+mn-lt"/>
                </a:rPr>
                <a:t>BusReply</a:t>
              </a:r>
              <a:endParaRPr lang="en-US" sz="1400" dirty="0">
                <a:latin typeface="+mn-lt"/>
              </a:endParaRPr>
            </a:p>
          </p:txBody>
        </p:sp>
        <p:sp>
          <p:nvSpPr>
            <p:cNvPr id="43" name="Rectangle 17">
              <a:extLst>
                <a:ext uri="{FF2B5EF4-FFF2-40B4-BE49-F238E27FC236}">
                  <a16:creationId xmlns:a16="http://schemas.microsoft.com/office/drawing/2014/main" id="{FBB8DBB4-02B2-4BF3-9EA0-7067C8B50777}"/>
                </a:ext>
              </a:extLst>
            </p:cNvPr>
            <p:cNvSpPr>
              <a:spLocks noChangeArrowheads="1"/>
            </p:cNvSpPr>
            <p:nvPr>
              <p:custDataLst>
                <p:tags r:id="rId37"/>
              </p:custDataLst>
            </p:nvPr>
          </p:nvSpPr>
          <p:spPr bwMode="auto">
            <a:xfrm>
              <a:off x="5491879" y="6250273"/>
              <a:ext cx="908921" cy="282771"/>
            </a:xfrm>
            <a:prstGeom prst="rect">
              <a:avLst/>
            </a:prstGeom>
            <a:noFill/>
            <a:ln w="12700">
              <a:noFill/>
              <a:prstDash val="sysDot"/>
              <a:miter lim="800000"/>
              <a:headEnd/>
              <a:tailEnd/>
            </a:ln>
          </p:spPr>
          <p:txBody>
            <a:bodyPr wrap="none" lIns="67866" tIns="33338" rIns="67866" bIns="33338">
              <a:spAutoFit/>
            </a:bodyPr>
            <a:lstStyle/>
            <a:p>
              <a:r>
                <a:rPr lang="en-US" sz="1400" dirty="0">
                  <a:latin typeface="+mn-lt"/>
                </a:rPr>
                <a:t>Store / </a:t>
              </a:r>
              <a:r>
                <a:rPr lang="en-US" sz="1400" dirty="0" err="1">
                  <a:latin typeface="+mn-lt"/>
                </a:rPr>
                <a:t>BusRdX</a:t>
              </a:r>
              <a:endParaRPr lang="en-US" sz="1400" dirty="0">
                <a:latin typeface="+mn-lt"/>
              </a:endParaRPr>
            </a:p>
          </p:txBody>
        </p:sp>
        <p:sp>
          <p:nvSpPr>
            <p:cNvPr id="44" name="Rectangle 14">
              <a:extLst>
                <a:ext uri="{FF2B5EF4-FFF2-40B4-BE49-F238E27FC236}">
                  <a16:creationId xmlns:a16="http://schemas.microsoft.com/office/drawing/2014/main" id="{4A8916B9-F28D-436B-9589-2D23F565161C}"/>
                </a:ext>
              </a:extLst>
            </p:cNvPr>
            <p:cNvSpPr>
              <a:spLocks noChangeArrowheads="1"/>
            </p:cNvSpPr>
            <p:nvPr>
              <p:custDataLst>
                <p:tags r:id="rId38"/>
              </p:custDataLst>
            </p:nvPr>
          </p:nvSpPr>
          <p:spPr bwMode="auto">
            <a:xfrm>
              <a:off x="7783340" y="6132249"/>
              <a:ext cx="857464" cy="282771"/>
            </a:xfrm>
            <a:prstGeom prst="rect">
              <a:avLst/>
            </a:prstGeom>
            <a:noFill/>
            <a:ln w="12700">
              <a:noFill/>
              <a:prstDash val="sysDot"/>
              <a:miter lim="800000"/>
              <a:headEnd/>
              <a:tailEnd/>
            </a:ln>
          </p:spPr>
          <p:txBody>
            <a:bodyPr wrap="none" lIns="67866" tIns="33338" rIns="67866" bIns="33338">
              <a:spAutoFit/>
            </a:bodyPr>
            <a:lstStyle/>
            <a:p>
              <a:r>
                <a:rPr lang="en-US" sz="1400" dirty="0">
                  <a:latin typeface="+mn-lt"/>
                </a:rPr>
                <a:t>Evict / </a:t>
              </a:r>
              <a:r>
                <a:rPr lang="en-US" sz="1400" dirty="0" err="1">
                  <a:latin typeface="+mn-lt"/>
                </a:rPr>
                <a:t>BusWB</a:t>
              </a:r>
              <a:endParaRPr lang="en-US" sz="1400" dirty="0">
                <a:latin typeface="+mn-lt"/>
              </a:endParaRPr>
            </a:p>
          </p:txBody>
        </p:sp>
      </p:grpSp>
      <p:sp>
        <p:nvSpPr>
          <p:cNvPr id="45" name="TextBox 44">
            <a:extLst>
              <a:ext uri="{FF2B5EF4-FFF2-40B4-BE49-F238E27FC236}">
                <a16:creationId xmlns:a16="http://schemas.microsoft.com/office/drawing/2014/main" id="{F6357141-1B2C-452A-A149-6E13B68FFBCE}"/>
              </a:ext>
            </a:extLst>
          </p:cNvPr>
          <p:cNvSpPr txBox="1"/>
          <p:nvPr>
            <p:custDataLst>
              <p:tags r:id="rId26"/>
            </p:custDataLst>
          </p:nvPr>
        </p:nvSpPr>
        <p:spPr>
          <a:xfrm>
            <a:off x="6666021" y="3342265"/>
            <a:ext cx="2267309" cy="420538"/>
          </a:xfrm>
          <a:prstGeom prst="rect">
            <a:avLst/>
          </a:prstGeom>
          <a:noFill/>
        </p:spPr>
        <p:txBody>
          <a:bodyPr wrap="square" rtlCol="0" anchor="ctr">
            <a:noAutofit/>
          </a:bodyPr>
          <a:lstStyle/>
          <a:p>
            <a:pPr algn="ctr"/>
            <a:r>
              <a:rPr lang="en-US" sz="1600" b="1" dirty="0">
                <a:solidFill>
                  <a:schemeClr val="accent6">
                    <a:lumMod val="75000"/>
                  </a:schemeClr>
                </a:solidFill>
                <a:latin typeface="+mn-lt"/>
              </a:rPr>
              <a:t>invalidates other cache that is in M state</a:t>
            </a:r>
          </a:p>
        </p:txBody>
      </p:sp>
      <p:cxnSp>
        <p:nvCxnSpPr>
          <p:cNvPr id="46" name="Straight Connector 45">
            <a:extLst>
              <a:ext uri="{FF2B5EF4-FFF2-40B4-BE49-F238E27FC236}">
                <a16:creationId xmlns:a16="http://schemas.microsoft.com/office/drawing/2014/main" id="{CE254C9B-1135-49A0-A201-3F73F722CE32}"/>
              </a:ext>
            </a:extLst>
          </p:cNvPr>
          <p:cNvCxnSpPr>
            <a:cxnSpLocks/>
          </p:cNvCxnSpPr>
          <p:nvPr/>
        </p:nvCxnSpPr>
        <p:spPr>
          <a:xfrm flipV="1">
            <a:off x="6993825" y="3791640"/>
            <a:ext cx="321730" cy="241711"/>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47" name="Text Box 11" descr=" 9">
            <a:extLst>
              <a:ext uri="{FF2B5EF4-FFF2-40B4-BE49-F238E27FC236}">
                <a16:creationId xmlns:a16="http://schemas.microsoft.com/office/drawing/2014/main" id="{45FCA37C-9C56-4A83-B1DE-C64A6924F3C4}"/>
              </a:ext>
            </a:extLst>
          </p:cNvPr>
          <p:cNvSpPr txBox="1">
            <a:spLocks noChangeArrowheads="1"/>
          </p:cNvSpPr>
          <p:nvPr>
            <p:custDataLst>
              <p:tags r:id="rId27"/>
            </p:custDataLst>
          </p:nvPr>
        </p:nvSpPr>
        <p:spPr bwMode="auto">
          <a:xfrm>
            <a:off x="1219200" y="3291144"/>
            <a:ext cx="1648593" cy="323165"/>
          </a:xfrm>
          <a:prstGeom prst="rect">
            <a:avLst/>
          </a:prstGeom>
          <a:noFill/>
          <a:ln w="12700">
            <a:noFill/>
            <a:miter lim="800000"/>
            <a:headEnd type="none" w="sm" len="sm"/>
            <a:tailEnd type="none" w="sm" len="sm"/>
          </a:ln>
        </p:spPr>
        <p:txBody>
          <a:bodyPr wrap="none">
            <a:spAutoFit/>
          </a:bodyPr>
          <a:lstStyle/>
          <a:p>
            <a:r>
              <a:rPr lang="en-US" sz="1500" dirty="0">
                <a:solidFill>
                  <a:srgbClr val="CC0000"/>
                </a:solidFill>
                <a:latin typeface="+mn-lt"/>
              </a:rPr>
              <a:t>t5: </a:t>
            </a:r>
            <a:r>
              <a:rPr lang="en-US" sz="1500" dirty="0">
                <a:latin typeface="+mn-lt"/>
              </a:rPr>
              <a:t>Load/Store A=3</a:t>
            </a:r>
          </a:p>
        </p:txBody>
      </p:sp>
    </p:spTree>
    <p:custDataLst>
      <p:tags r:id="rId1"/>
    </p:custDataLst>
    <p:extLst>
      <p:ext uri="{BB962C8B-B14F-4D97-AF65-F5344CB8AC3E}">
        <p14:creationId xmlns:p14="http://schemas.microsoft.com/office/powerpoint/2010/main" val="355382677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descr=" 3">
            <a:extLst>
              <a:ext uri="{FF2B5EF4-FFF2-40B4-BE49-F238E27FC236}">
                <a16:creationId xmlns:a16="http://schemas.microsoft.com/office/drawing/2014/main" id="{90B67259-3CA5-48AF-AE68-4D1BAA259AC6}"/>
              </a:ext>
            </a:extLst>
          </p:cNvPr>
          <p:cNvSpPr txBox="1"/>
          <p:nvPr>
            <p:custDataLst>
              <p:tags r:id="rId2"/>
            </p:custDataLst>
          </p:nvPr>
        </p:nvSpPr>
        <p:spPr>
          <a:xfrm>
            <a:off x="395197" y="1918298"/>
            <a:ext cx="8596403" cy="4101502"/>
          </a:xfrm>
          <a:prstGeom prst="rect">
            <a:avLst/>
          </a:prstGeom>
          <a:noFill/>
        </p:spPr>
        <p:txBody>
          <a:bodyPr wrap="square" rtlCol="0" anchor="t">
            <a:noAutofit/>
          </a:bodyPr>
          <a:lstStyle/>
          <a:p>
            <a:r>
              <a:rPr lang="en-US" sz="2400" b="1" dirty="0">
                <a:latin typeface="+mn-lt"/>
              </a:rPr>
              <a:t>Problem with MI protocol: </a:t>
            </a:r>
            <a:r>
              <a:rPr lang="en-US" sz="2400" dirty="0">
                <a:latin typeface="+mn-lt"/>
              </a:rPr>
              <a:t>Only one reader at a time</a:t>
            </a:r>
            <a:endParaRPr lang="en-US" sz="2400" b="1" dirty="0">
              <a:latin typeface="+mn-lt"/>
            </a:endParaRPr>
          </a:p>
          <a:p>
            <a:endParaRPr lang="en-US" sz="1800" dirty="0">
              <a:latin typeface="+mn-lt"/>
            </a:endParaRPr>
          </a:p>
          <a:p>
            <a:r>
              <a:rPr lang="en-US" sz="2000" b="1" dirty="0">
                <a:latin typeface="+mn-lt"/>
              </a:rPr>
              <a:t>States:</a:t>
            </a:r>
          </a:p>
          <a:p>
            <a:pPr marL="342900" indent="-342900">
              <a:buFont typeface="Wingdings" panose="05000000000000000000" pitchFamily="2" charset="2"/>
              <a:buChar char="Ø"/>
            </a:pPr>
            <a:r>
              <a:rPr lang="en-US" sz="2000" i="1" dirty="0">
                <a:latin typeface="+mn-lt"/>
              </a:rPr>
              <a:t>Modified (M)</a:t>
            </a:r>
            <a:r>
              <a:rPr lang="en-US" sz="2000" dirty="0">
                <a:latin typeface="+mn-lt"/>
              </a:rPr>
              <a:t> state: Reads and writes allowed; cache has only copy of block</a:t>
            </a:r>
          </a:p>
          <a:p>
            <a:pPr marL="342900" indent="-342900">
              <a:buFont typeface="Wingdings" panose="05000000000000000000" pitchFamily="2" charset="2"/>
              <a:buChar char="Ø"/>
            </a:pPr>
            <a:r>
              <a:rPr lang="en-US" sz="2000" i="1" dirty="0">
                <a:latin typeface="+mn-lt"/>
              </a:rPr>
              <a:t>Shared (S)</a:t>
            </a:r>
            <a:r>
              <a:rPr lang="en-US" sz="2000" dirty="0">
                <a:latin typeface="+mn-lt"/>
              </a:rPr>
              <a:t> state: Only reads allowed; cache has one of multiple copies of block</a:t>
            </a:r>
          </a:p>
          <a:p>
            <a:pPr marL="342900" indent="-342900">
              <a:buFont typeface="Wingdings" panose="05000000000000000000" pitchFamily="2" charset="2"/>
              <a:buChar char="Ø"/>
            </a:pPr>
            <a:r>
              <a:rPr lang="en-US" sz="2000" i="1" dirty="0">
                <a:latin typeface="+mn-lt"/>
              </a:rPr>
              <a:t>Invalid (I)</a:t>
            </a:r>
            <a:r>
              <a:rPr lang="en-US" sz="2000" dirty="0">
                <a:latin typeface="+mn-lt"/>
              </a:rPr>
              <a:t> state: Block is not cached</a:t>
            </a:r>
          </a:p>
          <a:p>
            <a:endParaRPr lang="en-US" sz="2000" dirty="0">
              <a:latin typeface="+mn-lt"/>
            </a:endParaRPr>
          </a:p>
          <a:p>
            <a:r>
              <a:rPr lang="en-US" sz="2000" b="1" dirty="0">
                <a:latin typeface="+mn-lt"/>
              </a:rPr>
              <a:t>New Events/Actions:</a:t>
            </a:r>
          </a:p>
          <a:p>
            <a:pPr marL="342900" indent="-342900">
              <a:buFont typeface="Wingdings" panose="05000000000000000000" pitchFamily="2" charset="2"/>
              <a:buChar char="Ø"/>
            </a:pPr>
            <a:r>
              <a:rPr lang="en-US" sz="2000" i="1" dirty="0" err="1">
                <a:latin typeface="+mn-lt"/>
              </a:rPr>
              <a:t>BusRd</a:t>
            </a:r>
            <a:r>
              <a:rPr lang="en-US" sz="2000" i="1" dirty="0">
                <a:latin typeface="+mn-lt"/>
              </a:rPr>
              <a:t>: </a:t>
            </a:r>
            <a:r>
              <a:rPr lang="en-US" sz="2000" dirty="0">
                <a:latin typeface="+mn-lt"/>
              </a:rPr>
              <a:t>read (shared) request from cache to memory</a:t>
            </a:r>
          </a:p>
          <a:p>
            <a:pPr marL="342900" indent="-342900">
              <a:buFont typeface="Wingdings" panose="05000000000000000000" pitchFamily="2" charset="2"/>
              <a:buChar char="Ø"/>
            </a:pPr>
            <a:r>
              <a:rPr lang="en-US" sz="2000" i="1" dirty="0">
                <a:latin typeface="+mn-lt"/>
              </a:rPr>
              <a:t>BusInv</a:t>
            </a:r>
            <a:r>
              <a:rPr lang="en-US" sz="2000" dirty="0">
                <a:latin typeface="+mn-lt"/>
              </a:rPr>
              <a:t>: exclusive (write) request from cache to memory, but cache already has read-only copy of block</a:t>
            </a:r>
          </a:p>
        </p:txBody>
      </p:sp>
      <p:sp>
        <p:nvSpPr>
          <p:cNvPr id="5" name="Rectangle 2">
            <a:extLst>
              <a:ext uri="{FF2B5EF4-FFF2-40B4-BE49-F238E27FC236}">
                <a16:creationId xmlns:a16="http://schemas.microsoft.com/office/drawing/2014/main" id="{0546BFFF-9478-4D8D-A3FF-2652D1E6356A}"/>
              </a:ext>
            </a:extLst>
          </p:cNvPr>
          <p:cNvSpPr>
            <a:spLocks noGrp="1" noChangeArrowheads="1"/>
          </p:cNvSpPr>
          <p:nvPr>
            <p:ph type="title"/>
            <p:custDataLst>
              <p:tags r:id="rId3"/>
            </p:custDataLst>
          </p:nvPr>
        </p:nvSpPr>
        <p:spPr>
          <a:xfrm>
            <a:off x="457200" y="274638"/>
            <a:ext cx="7467600" cy="1143000"/>
          </a:xfrm>
        </p:spPr>
        <p:txBody>
          <a:bodyPr/>
          <a:lstStyle/>
          <a:p>
            <a:pPr eaLnBrk="1" hangingPunct="1"/>
            <a:r>
              <a:rPr lang="en-US" altLang="en-US" dirty="0">
                <a:latin typeface="+mn-lt"/>
              </a:rPr>
              <a:t>MSI Protocol</a:t>
            </a:r>
          </a:p>
        </p:txBody>
      </p:sp>
    </p:spTree>
    <p:custDataLst>
      <p:tags r:id="rId1"/>
    </p:custDataLst>
    <p:extLst>
      <p:ext uri="{BB962C8B-B14F-4D97-AF65-F5344CB8AC3E}">
        <p14:creationId xmlns:p14="http://schemas.microsoft.com/office/powerpoint/2010/main" val="15608789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Oval 8" descr=" 27">
            <a:extLst>
              <a:ext uri="{FF2B5EF4-FFF2-40B4-BE49-F238E27FC236}">
                <a16:creationId xmlns:a16="http://schemas.microsoft.com/office/drawing/2014/main" id="{DBBF02CF-CADF-4288-AB07-511F3237F6BC}"/>
              </a:ext>
            </a:extLst>
          </p:cNvPr>
          <p:cNvSpPr>
            <a:spLocks noChangeArrowheads="1"/>
          </p:cNvSpPr>
          <p:nvPr>
            <p:custDataLst>
              <p:tags r:id="rId2"/>
            </p:custDataLst>
          </p:nvPr>
        </p:nvSpPr>
        <p:spPr bwMode="auto">
          <a:xfrm>
            <a:off x="1047747" y="2626659"/>
            <a:ext cx="685800" cy="685800"/>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2100" dirty="0"/>
              <a:t>I</a:t>
            </a:r>
          </a:p>
        </p:txBody>
      </p:sp>
      <p:sp>
        <p:nvSpPr>
          <p:cNvPr id="28" name="Rectangle 19" descr=" 28">
            <a:extLst>
              <a:ext uri="{FF2B5EF4-FFF2-40B4-BE49-F238E27FC236}">
                <a16:creationId xmlns:a16="http://schemas.microsoft.com/office/drawing/2014/main" id="{87F0BF2B-32FF-4F50-BB1F-129F3AB8DB1D}"/>
              </a:ext>
            </a:extLst>
          </p:cNvPr>
          <p:cNvSpPr>
            <a:spLocks noChangeArrowheads="1"/>
          </p:cNvSpPr>
          <p:nvPr>
            <p:custDataLst>
              <p:tags r:id="rId3"/>
            </p:custDataLst>
          </p:nvPr>
        </p:nvSpPr>
        <p:spPr bwMode="auto">
          <a:xfrm>
            <a:off x="2516983" y="2368853"/>
            <a:ext cx="981841" cy="251993"/>
          </a:xfrm>
          <a:prstGeom prst="rect">
            <a:avLst/>
          </a:prstGeom>
          <a:noFill/>
          <a:ln w="12700">
            <a:noFill/>
            <a:prstDash val="sysDot"/>
            <a:miter lim="800000"/>
            <a:headEnd/>
            <a:tailEnd/>
          </a:ln>
        </p:spPr>
        <p:txBody>
          <a:bodyPr wrap="none" lIns="67866" tIns="33338" rIns="67866" bIns="33338">
            <a:spAutoFit/>
          </a:bodyPr>
          <a:lstStyle/>
          <a:p>
            <a:r>
              <a:rPr lang="en-US" sz="1200" b="1" dirty="0">
                <a:solidFill>
                  <a:schemeClr val="accent2">
                    <a:lumMod val="75000"/>
                  </a:schemeClr>
                </a:solidFill>
                <a:latin typeface="+mn-lt"/>
              </a:rPr>
              <a:t>Load / </a:t>
            </a:r>
            <a:r>
              <a:rPr lang="en-US" sz="1200" b="1" dirty="0" err="1">
                <a:solidFill>
                  <a:schemeClr val="accent2">
                    <a:lumMod val="75000"/>
                  </a:schemeClr>
                </a:solidFill>
                <a:latin typeface="+mn-lt"/>
              </a:rPr>
              <a:t>BusRd</a:t>
            </a:r>
            <a:endParaRPr lang="en-US" sz="1200" b="1" dirty="0">
              <a:solidFill>
                <a:schemeClr val="accent2">
                  <a:lumMod val="75000"/>
                </a:schemeClr>
              </a:solidFill>
              <a:latin typeface="+mn-lt"/>
            </a:endParaRPr>
          </a:p>
        </p:txBody>
      </p:sp>
      <p:sp>
        <p:nvSpPr>
          <p:cNvPr id="29" name="Oval 8" descr=" 29">
            <a:extLst>
              <a:ext uri="{FF2B5EF4-FFF2-40B4-BE49-F238E27FC236}">
                <a16:creationId xmlns:a16="http://schemas.microsoft.com/office/drawing/2014/main" id="{33CDB991-EB3C-4069-8BA9-57A753E2DDD1}"/>
              </a:ext>
            </a:extLst>
          </p:cNvPr>
          <p:cNvSpPr>
            <a:spLocks noChangeArrowheads="1"/>
          </p:cNvSpPr>
          <p:nvPr>
            <p:custDataLst>
              <p:tags r:id="rId4"/>
            </p:custDataLst>
          </p:nvPr>
        </p:nvSpPr>
        <p:spPr bwMode="auto">
          <a:xfrm>
            <a:off x="4362447" y="2626659"/>
            <a:ext cx="685800" cy="685800"/>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2100" dirty="0"/>
              <a:t>S</a:t>
            </a:r>
          </a:p>
        </p:txBody>
      </p:sp>
      <p:sp>
        <p:nvSpPr>
          <p:cNvPr id="30" name="Freeform 32" descr=" 30">
            <a:extLst>
              <a:ext uri="{FF2B5EF4-FFF2-40B4-BE49-F238E27FC236}">
                <a16:creationId xmlns:a16="http://schemas.microsoft.com/office/drawing/2014/main" id="{3A5C55D6-7CC2-4364-8387-68455F042D9A}"/>
              </a:ext>
            </a:extLst>
          </p:cNvPr>
          <p:cNvSpPr/>
          <p:nvPr>
            <p:custDataLst>
              <p:tags r:id="rId5"/>
            </p:custDataLst>
          </p:nvPr>
        </p:nvSpPr>
        <p:spPr bwMode="auto">
          <a:xfrm>
            <a:off x="1733547" y="2619936"/>
            <a:ext cx="2625539" cy="231962"/>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Lst>
            <a:ahLst/>
            <a:cxnLst>
              <a:cxn ang="0">
                <a:pos x="connsiteX0" y="connsiteY0"/>
              </a:cxn>
              <a:cxn ang="0">
                <a:pos x="connsiteX1" y="connsiteY1"/>
              </a:cxn>
              <a:cxn ang="0">
                <a:pos x="connsiteX2" y="connsiteY2"/>
              </a:cxn>
            </a:cxnLst>
            <a:rect l="l" t="t" r="r" b="b"/>
            <a:pathLst>
              <a:path w="3567953" h="309283">
                <a:moveTo>
                  <a:pt x="0" y="309283"/>
                </a:moveTo>
                <a:cubicBezTo>
                  <a:pt x="626035" y="188259"/>
                  <a:pt x="1072776" y="17930"/>
                  <a:pt x="1667435" y="8965"/>
                </a:cubicBezTo>
                <a:cubicBezTo>
                  <a:pt x="2262094" y="0"/>
                  <a:pt x="3004670" y="152400"/>
                  <a:pt x="3567953" y="255494"/>
                </a:cubicBezTo>
              </a:path>
            </a:pathLst>
          </a:custGeom>
          <a:noFill/>
          <a:ln w="9525" cap="flat" cmpd="sng" algn="ctr">
            <a:solidFill>
              <a:schemeClr val="accent2">
                <a:lumMod val="75000"/>
              </a:schemeClr>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b="1">
              <a:solidFill>
                <a:schemeClr val="accent2">
                  <a:lumMod val="75000"/>
                </a:schemeClr>
              </a:solidFill>
              <a:latin typeface="+mn-lt"/>
            </a:endParaRPr>
          </a:p>
        </p:txBody>
      </p:sp>
      <p:sp>
        <p:nvSpPr>
          <p:cNvPr id="159" name="Rectangle 4" descr=" 159">
            <a:extLst>
              <a:ext uri="{FF2B5EF4-FFF2-40B4-BE49-F238E27FC236}">
                <a16:creationId xmlns:a16="http://schemas.microsoft.com/office/drawing/2014/main" id="{8A818EEC-5484-4D7E-93C7-08473BA487FE}"/>
              </a:ext>
            </a:extLst>
          </p:cNvPr>
          <p:cNvSpPr>
            <a:spLocks noChangeArrowheads="1"/>
          </p:cNvSpPr>
          <p:nvPr>
            <p:custDataLst>
              <p:tags r:id="rId6"/>
            </p:custDataLst>
          </p:nvPr>
        </p:nvSpPr>
        <p:spPr bwMode="auto">
          <a:xfrm>
            <a:off x="6953250" y="4509247"/>
            <a:ext cx="1373463"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Bus</a:t>
            </a:r>
          </a:p>
        </p:txBody>
      </p:sp>
      <p:cxnSp>
        <p:nvCxnSpPr>
          <p:cNvPr id="160" name="AutoShape 17" descr=" 160">
            <a:extLst>
              <a:ext uri="{FF2B5EF4-FFF2-40B4-BE49-F238E27FC236}">
                <a16:creationId xmlns:a16="http://schemas.microsoft.com/office/drawing/2014/main" id="{B85DADF5-1893-4832-8D5A-7A9E3C14EFA2}"/>
              </a:ext>
            </a:extLst>
          </p:cNvPr>
          <p:cNvCxnSpPr>
            <a:cxnSpLocks noChangeShapeType="1"/>
          </p:cNvCxnSpPr>
          <p:nvPr>
            <p:custDataLst>
              <p:tags r:id="rId7"/>
            </p:custDataLst>
          </p:nvPr>
        </p:nvCxnSpPr>
        <p:spPr bwMode="auto">
          <a:xfrm rot="5400000">
            <a:off x="8124825" y="3852022"/>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161" name="Line 10" descr=" 161">
            <a:extLst>
              <a:ext uri="{FF2B5EF4-FFF2-40B4-BE49-F238E27FC236}">
                <a16:creationId xmlns:a16="http://schemas.microsoft.com/office/drawing/2014/main" id="{3931FC18-2952-4DF4-B05E-A60C68DFD886}"/>
              </a:ext>
            </a:extLst>
          </p:cNvPr>
          <p:cNvSpPr>
            <a:spLocks noChangeShapeType="1"/>
          </p:cNvSpPr>
          <p:nvPr>
            <p:custDataLst>
              <p:tags r:id="rId8"/>
            </p:custDataLst>
          </p:nvPr>
        </p:nvSpPr>
        <p:spPr bwMode="auto">
          <a:xfrm>
            <a:off x="8210550" y="4219926"/>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cxnSp>
        <p:nvCxnSpPr>
          <p:cNvPr id="162" name="Straight Arrow Connector 161" descr=" 162">
            <a:extLst>
              <a:ext uri="{FF2B5EF4-FFF2-40B4-BE49-F238E27FC236}">
                <a16:creationId xmlns:a16="http://schemas.microsoft.com/office/drawing/2014/main" id="{AFC2FC2F-C1F6-442A-8A6F-759E20D04FA0}"/>
              </a:ext>
            </a:extLst>
          </p:cNvPr>
          <p:cNvCxnSpPr>
            <a:stCxn id="159" idx="2"/>
            <a:endCxn id="164" idx="0"/>
          </p:cNvCxnSpPr>
          <p:nvPr/>
        </p:nvCxnSpPr>
        <p:spPr bwMode="auto">
          <a:xfrm rot="16200000" flipH="1">
            <a:off x="7525682" y="4905725"/>
            <a:ext cx="228600" cy="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63" name="Rectangle 21" descr=" 163">
            <a:extLst>
              <a:ext uri="{FF2B5EF4-FFF2-40B4-BE49-F238E27FC236}">
                <a16:creationId xmlns:a16="http://schemas.microsoft.com/office/drawing/2014/main" id="{6E461D97-9AAF-4094-9BEB-A0E6908E006A}"/>
              </a:ext>
            </a:extLst>
          </p:cNvPr>
          <p:cNvSpPr>
            <a:spLocks noChangeArrowheads="1"/>
          </p:cNvSpPr>
          <p:nvPr>
            <p:custDataLst>
              <p:tags r:id="rId9"/>
            </p:custDataLst>
          </p:nvPr>
        </p:nvSpPr>
        <p:spPr bwMode="auto">
          <a:xfrm>
            <a:off x="7753350" y="3937747"/>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[I]</a:t>
            </a:r>
            <a:endParaRPr lang="en-US" sz="1800" dirty="0"/>
          </a:p>
        </p:txBody>
      </p:sp>
      <p:sp>
        <p:nvSpPr>
          <p:cNvPr id="164" name="Rectangle 21" descr=" 164">
            <a:extLst>
              <a:ext uri="{FF2B5EF4-FFF2-40B4-BE49-F238E27FC236}">
                <a16:creationId xmlns:a16="http://schemas.microsoft.com/office/drawing/2014/main" id="{A5D4A130-A01C-4766-A9CD-EC5DCD66F07A}"/>
              </a:ext>
            </a:extLst>
          </p:cNvPr>
          <p:cNvSpPr>
            <a:spLocks noChangeArrowheads="1"/>
          </p:cNvSpPr>
          <p:nvPr>
            <p:custDataLst>
              <p:tags r:id="rId10"/>
            </p:custDataLst>
          </p:nvPr>
        </p:nvSpPr>
        <p:spPr bwMode="auto">
          <a:xfrm>
            <a:off x="7197105" y="5020025"/>
            <a:ext cx="885754"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0</a:t>
            </a:r>
            <a:endParaRPr lang="en-US" sz="1800" dirty="0">
              <a:solidFill>
                <a:srgbClr val="C00000"/>
              </a:solidFill>
            </a:endParaRPr>
          </a:p>
        </p:txBody>
      </p:sp>
      <p:sp>
        <p:nvSpPr>
          <p:cNvPr id="165" name="Rectangle 6" descr=" 165">
            <a:extLst>
              <a:ext uri="{FF2B5EF4-FFF2-40B4-BE49-F238E27FC236}">
                <a16:creationId xmlns:a16="http://schemas.microsoft.com/office/drawing/2014/main" id="{3DC6008F-3FE8-4349-B02E-A789B1C5EC9D}"/>
              </a:ext>
            </a:extLst>
          </p:cNvPr>
          <p:cNvSpPr>
            <a:spLocks noChangeArrowheads="1"/>
          </p:cNvSpPr>
          <p:nvPr>
            <p:custDataLst>
              <p:tags r:id="rId11"/>
            </p:custDataLst>
          </p:nvPr>
        </p:nvSpPr>
        <p:spPr bwMode="auto">
          <a:xfrm>
            <a:off x="8016501" y="3480547"/>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P2</a:t>
            </a:r>
          </a:p>
        </p:txBody>
      </p:sp>
      <p:cxnSp>
        <p:nvCxnSpPr>
          <p:cNvPr id="166" name="AutoShape 17" descr=" 166">
            <a:extLst>
              <a:ext uri="{FF2B5EF4-FFF2-40B4-BE49-F238E27FC236}">
                <a16:creationId xmlns:a16="http://schemas.microsoft.com/office/drawing/2014/main" id="{9B62CA7B-1E02-4504-AFF7-32466A6294AF}"/>
              </a:ext>
            </a:extLst>
          </p:cNvPr>
          <p:cNvCxnSpPr>
            <a:cxnSpLocks noChangeShapeType="1"/>
          </p:cNvCxnSpPr>
          <p:nvPr>
            <p:custDataLst>
              <p:tags r:id="rId12"/>
            </p:custDataLst>
          </p:nvPr>
        </p:nvCxnSpPr>
        <p:spPr bwMode="auto">
          <a:xfrm rot="5400000">
            <a:off x="7038975" y="3852022"/>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167" name="Line 10" descr=" 167">
            <a:extLst>
              <a:ext uri="{FF2B5EF4-FFF2-40B4-BE49-F238E27FC236}">
                <a16:creationId xmlns:a16="http://schemas.microsoft.com/office/drawing/2014/main" id="{A0C36C09-27BB-4DD1-9058-2864CB184C65}"/>
              </a:ext>
            </a:extLst>
          </p:cNvPr>
          <p:cNvSpPr>
            <a:spLocks noChangeShapeType="1"/>
          </p:cNvSpPr>
          <p:nvPr>
            <p:custDataLst>
              <p:tags r:id="rId13"/>
            </p:custDataLst>
          </p:nvPr>
        </p:nvSpPr>
        <p:spPr bwMode="auto">
          <a:xfrm>
            <a:off x="7124700" y="4219926"/>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sp>
        <p:nvSpPr>
          <p:cNvPr id="168" name="Rectangle 21" descr=" 168">
            <a:extLst>
              <a:ext uri="{FF2B5EF4-FFF2-40B4-BE49-F238E27FC236}">
                <a16:creationId xmlns:a16="http://schemas.microsoft.com/office/drawing/2014/main" id="{5FACAB16-0CAC-4A20-9B03-D30258B33F62}"/>
              </a:ext>
            </a:extLst>
          </p:cNvPr>
          <p:cNvSpPr>
            <a:spLocks noChangeArrowheads="1"/>
          </p:cNvSpPr>
          <p:nvPr>
            <p:custDataLst>
              <p:tags r:id="rId14"/>
            </p:custDataLst>
          </p:nvPr>
        </p:nvSpPr>
        <p:spPr bwMode="auto">
          <a:xfrm>
            <a:off x="6667500" y="3937747"/>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[I]</a:t>
            </a:r>
            <a:endParaRPr lang="en-US" sz="1800" dirty="0"/>
          </a:p>
        </p:txBody>
      </p:sp>
      <p:sp>
        <p:nvSpPr>
          <p:cNvPr id="169" name="Rectangle 6" descr=" 169">
            <a:extLst>
              <a:ext uri="{FF2B5EF4-FFF2-40B4-BE49-F238E27FC236}">
                <a16:creationId xmlns:a16="http://schemas.microsoft.com/office/drawing/2014/main" id="{59CFA5EA-2ABB-48FE-AA17-0C9F31AE319F}"/>
              </a:ext>
            </a:extLst>
          </p:cNvPr>
          <p:cNvSpPr>
            <a:spLocks noChangeArrowheads="1"/>
          </p:cNvSpPr>
          <p:nvPr>
            <p:custDataLst>
              <p:tags r:id="rId15"/>
            </p:custDataLst>
          </p:nvPr>
        </p:nvSpPr>
        <p:spPr bwMode="auto">
          <a:xfrm>
            <a:off x="6930651" y="3480547"/>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P1</a:t>
            </a:r>
          </a:p>
        </p:txBody>
      </p:sp>
      <p:sp>
        <p:nvSpPr>
          <p:cNvPr id="170" name="Oval Callout 87" descr=" 170">
            <a:extLst>
              <a:ext uri="{FF2B5EF4-FFF2-40B4-BE49-F238E27FC236}">
                <a16:creationId xmlns:a16="http://schemas.microsoft.com/office/drawing/2014/main" id="{A6AB037B-4516-4D7E-8852-4CCB519EF241}"/>
              </a:ext>
            </a:extLst>
          </p:cNvPr>
          <p:cNvSpPr/>
          <p:nvPr>
            <p:custDataLst>
              <p:tags r:id="rId16"/>
            </p:custDataLst>
          </p:nvPr>
        </p:nvSpPr>
        <p:spPr bwMode="auto">
          <a:xfrm>
            <a:off x="7124700" y="3137647"/>
            <a:ext cx="914400" cy="342900"/>
          </a:xfrm>
          <a:prstGeom prst="wedgeEllipseCallout">
            <a:avLst>
              <a:gd name="adj1" fmla="val -44362"/>
              <a:gd name="adj2" fmla="val 50735"/>
            </a:avLst>
          </a:prstGeom>
          <a:solidFill>
            <a:schemeClr val="bg1"/>
          </a:solidFill>
          <a:ln>
            <a:solidFill>
              <a:schemeClr val="tx1"/>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0" tIns="34290" rIns="0" bIns="34290" numCol="1" rtlCol="0" anchor="t" anchorCtr="0" compatLnSpc="1">
            <a:prstTxWarp prst="textNoShape">
              <a:avLst/>
            </a:prstTxWarp>
          </a:bodyPr>
          <a:lstStyle/>
          <a:p>
            <a:pPr algn="ctr" defTabSz="685800" eaLnBrk="0" hangingPunct="0"/>
            <a:r>
              <a:rPr lang="en-US" sz="1200" dirty="0">
                <a:solidFill>
                  <a:schemeClr val="accent2">
                    <a:lumMod val="75000"/>
                  </a:schemeClr>
                </a:solidFill>
              </a:rPr>
              <a:t>1: Load A</a:t>
            </a:r>
          </a:p>
        </p:txBody>
      </p:sp>
      <p:sp>
        <p:nvSpPr>
          <p:cNvPr id="20" name="Oval Callout 88" descr=" 171">
            <a:extLst>
              <a:ext uri="{FF2B5EF4-FFF2-40B4-BE49-F238E27FC236}">
                <a16:creationId xmlns:a16="http://schemas.microsoft.com/office/drawing/2014/main" id="{DEB50F88-E4A9-4A37-B03A-13CFEE352059}"/>
              </a:ext>
            </a:extLst>
          </p:cNvPr>
          <p:cNvSpPr/>
          <p:nvPr>
            <p:custDataLst>
              <p:tags r:id="rId17"/>
            </p:custDataLst>
          </p:nvPr>
        </p:nvSpPr>
        <p:spPr bwMode="auto">
          <a:xfrm>
            <a:off x="5810250" y="4337797"/>
            <a:ext cx="971550" cy="342900"/>
          </a:xfrm>
          <a:prstGeom prst="wedgeEllipseCallout">
            <a:avLst>
              <a:gd name="adj1" fmla="val 84069"/>
              <a:gd name="adj2" fmla="val -13971"/>
            </a:avLst>
          </a:prstGeom>
          <a:solidFill>
            <a:schemeClr val="bg1"/>
          </a:solidFill>
          <a:ln>
            <a:solidFill>
              <a:schemeClr val="tx1"/>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0" tIns="34290" rIns="0" bIns="34290" numCol="1" rtlCol="0" anchor="t" anchorCtr="0" compatLnSpc="1">
            <a:prstTxWarp prst="textNoShape">
              <a:avLst/>
            </a:prstTxWarp>
          </a:bodyPr>
          <a:lstStyle/>
          <a:p>
            <a:pPr algn="ctr" defTabSz="685800" eaLnBrk="0" hangingPunct="0"/>
            <a:r>
              <a:rPr lang="en-US" sz="1200" dirty="0">
                <a:solidFill>
                  <a:schemeClr val="accent2">
                    <a:lumMod val="75000"/>
                  </a:schemeClr>
                </a:solidFill>
              </a:rPr>
              <a:t>2: </a:t>
            </a:r>
            <a:r>
              <a:rPr lang="en-US" sz="1200" dirty="0" err="1">
                <a:solidFill>
                  <a:schemeClr val="accent2">
                    <a:lumMod val="75000"/>
                  </a:schemeClr>
                </a:solidFill>
              </a:rPr>
              <a:t>BusRd</a:t>
            </a:r>
            <a:r>
              <a:rPr lang="en-US" sz="1200" dirty="0">
                <a:solidFill>
                  <a:schemeClr val="accent2">
                    <a:lumMod val="75000"/>
                  </a:schemeClr>
                </a:solidFill>
              </a:rPr>
              <a:t> A</a:t>
            </a:r>
          </a:p>
        </p:txBody>
      </p:sp>
      <p:sp>
        <p:nvSpPr>
          <p:cNvPr id="21" name="Oval Callout 89" descr=" 172">
            <a:extLst>
              <a:ext uri="{FF2B5EF4-FFF2-40B4-BE49-F238E27FC236}">
                <a16:creationId xmlns:a16="http://schemas.microsoft.com/office/drawing/2014/main" id="{1ECD613F-AA44-4CF1-864B-4905EB0E5DAC}"/>
              </a:ext>
            </a:extLst>
          </p:cNvPr>
          <p:cNvSpPr/>
          <p:nvPr>
            <p:custDataLst>
              <p:tags r:id="rId18"/>
            </p:custDataLst>
          </p:nvPr>
        </p:nvSpPr>
        <p:spPr bwMode="auto">
          <a:xfrm>
            <a:off x="5753100" y="4966447"/>
            <a:ext cx="1257300" cy="342900"/>
          </a:xfrm>
          <a:prstGeom prst="wedgeEllipseCallout">
            <a:avLst>
              <a:gd name="adj1" fmla="val 84069"/>
              <a:gd name="adj2" fmla="val -13971"/>
            </a:avLst>
          </a:prstGeom>
          <a:solidFill>
            <a:schemeClr val="bg1"/>
          </a:solidFill>
          <a:ln>
            <a:solidFill>
              <a:schemeClr val="tx1"/>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0" tIns="34290" rIns="0" bIns="34290" numCol="1" rtlCol="0" anchor="t" anchorCtr="0" compatLnSpc="1">
            <a:prstTxWarp prst="textNoShape">
              <a:avLst/>
            </a:prstTxWarp>
          </a:bodyPr>
          <a:lstStyle/>
          <a:p>
            <a:pPr algn="ctr" defTabSz="685800" eaLnBrk="0" hangingPunct="0"/>
            <a:r>
              <a:rPr lang="en-US" sz="1200" dirty="0">
                <a:solidFill>
                  <a:schemeClr val="accent2">
                    <a:lumMod val="75000"/>
                  </a:schemeClr>
                </a:solidFill>
              </a:rPr>
              <a:t>3: </a:t>
            </a:r>
            <a:r>
              <a:rPr lang="en-US" sz="1200" dirty="0" err="1">
                <a:solidFill>
                  <a:schemeClr val="accent2">
                    <a:lumMod val="75000"/>
                  </a:schemeClr>
                </a:solidFill>
              </a:rPr>
              <a:t>BusReply</a:t>
            </a:r>
            <a:r>
              <a:rPr lang="en-US" sz="1200" dirty="0">
                <a:solidFill>
                  <a:schemeClr val="accent2">
                    <a:lumMod val="75000"/>
                  </a:schemeClr>
                </a:solidFill>
              </a:rPr>
              <a:t> A</a:t>
            </a:r>
          </a:p>
        </p:txBody>
      </p:sp>
      <p:sp>
        <p:nvSpPr>
          <p:cNvPr id="22" name="Rectangle 21" descr=" 173">
            <a:extLst>
              <a:ext uri="{FF2B5EF4-FFF2-40B4-BE49-F238E27FC236}">
                <a16:creationId xmlns:a16="http://schemas.microsoft.com/office/drawing/2014/main" id="{1A908469-B438-4666-A2A0-BC1981079199}"/>
              </a:ext>
            </a:extLst>
          </p:cNvPr>
          <p:cNvSpPr>
            <a:spLocks noChangeArrowheads="1"/>
          </p:cNvSpPr>
          <p:nvPr>
            <p:custDataLst>
              <p:tags r:id="rId19"/>
            </p:custDataLst>
          </p:nvPr>
        </p:nvSpPr>
        <p:spPr bwMode="auto">
          <a:xfrm>
            <a:off x="6667500" y="3937747"/>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a:t>
            </a:r>
            <a:r>
              <a:rPr lang="en-US" sz="1500" strike="sngStrike" dirty="0"/>
              <a:t>I</a:t>
            </a:r>
            <a:r>
              <a:rPr lang="en-US" sz="1500" dirty="0"/>
              <a:t> </a:t>
            </a:r>
            <a:r>
              <a:rPr lang="en-US" sz="1500" dirty="0">
                <a:solidFill>
                  <a:schemeClr val="accent2"/>
                </a:solidFill>
              </a:rPr>
              <a:t>S</a:t>
            </a:r>
            <a:r>
              <a:rPr lang="en-US" sz="1500" dirty="0"/>
              <a:t>]: </a:t>
            </a:r>
            <a:r>
              <a:rPr lang="en-US" sz="1500" dirty="0">
                <a:solidFill>
                  <a:schemeClr val="accent2"/>
                </a:solidFill>
              </a:rPr>
              <a:t>0</a:t>
            </a:r>
            <a:endParaRPr lang="en-US" sz="1800" dirty="0">
              <a:solidFill>
                <a:schemeClr val="accent2"/>
              </a:solidFill>
            </a:endParaRPr>
          </a:p>
        </p:txBody>
      </p:sp>
      <p:sp>
        <p:nvSpPr>
          <p:cNvPr id="23" name="Rectangle 2">
            <a:extLst>
              <a:ext uri="{FF2B5EF4-FFF2-40B4-BE49-F238E27FC236}">
                <a16:creationId xmlns:a16="http://schemas.microsoft.com/office/drawing/2014/main" id="{BED76046-7A62-4526-BD05-7807910D10B5}"/>
              </a:ext>
            </a:extLst>
          </p:cNvPr>
          <p:cNvSpPr>
            <a:spLocks noGrp="1" noChangeArrowheads="1"/>
          </p:cNvSpPr>
          <p:nvPr>
            <p:ph type="title"/>
            <p:custDataLst>
              <p:tags r:id="rId20"/>
            </p:custDataLst>
          </p:nvPr>
        </p:nvSpPr>
        <p:spPr>
          <a:xfrm>
            <a:off x="457200" y="274638"/>
            <a:ext cx="7467600" cy="1143000"/>
          </a:xfrm>
        </p:spPr>
        <p:txBody>
          <a:bodyPr/>
          <a:lstStyle/>
          <a:p>
            <a:pPr eaLnBrk="1" hangingPunct="1"/>
            <a:r>
              <a:rPr lang="en-US" altLang="en-US" dirty="0">
                <a:latin typeface="+mn-lt"/>
              </a:rPr>
              <a:t>MSI Protocol</a:t>
            </a:r>
          </a:p>
        </p:txBody>
      </p:sp>
    </p:spTree>
    <p:custDataLst>
      <p:tags r:id="rId1"/>
    </p:custDataLst>
    <p:extLst>
      <p:ext uri="{BB962C8B-B14F-4D97-AF65-F5344CB8AC3E}">
        <p14:creationId xmlns:p14="http://schemas.microsoft.com/office/powerpoint/2010/main" val="404047579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Oval 8" descr=" 27">
            <a:extLst>
              <a:ext uri="{FF2B5EF4-FFF2-40B4-BE49-F238E27FC236}">
                <a16:creationId xmlns:a16="http://schemas.microsoft.com/office/drawing/2014/main" id="{DBBF02CF-CADF-4288-AB07-511F3237F6BC}"/>
              </a:ext>
            </a:extLst>
          </p:cNvPr>
          <p:cNvSpPr>
            <a:spLocks noChangeArrowheads="1"/>
          </p:cNvSpPr>
          <p:nvPr>
            <p:custDataLst>
              <p:tags r:id="rId2"/>
            </p:custDataLst>
          </p:nvPr>
        </p:nvSpPr>
        <p:spPr bwMode="auto">
          <a:xfrm>
            <a:off x="1047747" y="2626659"/>
            <a:ext cx="685800" cy="685800"/>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2100" dirty="0"/>
              <a:t>I</a:t>
            </a:r>
          </a:p>
        </p:txBody>
      </p:sp>
      <p:sp>
        <p:nvSpPr>
          <p:cNvPr id="28" name="Rectangle 19" descr=" 28">
            <a:extLst>
              <a:ext uri="{FF2B5EF4-FFF2-40B4-BE49-F238E27FC236}">
                <a16:creationId xmlns:a16="http://schemas.microsoft.com/office/drawing/2014/main" id="{87F0BF2B-32FF-4F50-BB1F-129F3AB8DB1D}"/>
              </a:ext>
            </a:extLst>
          </p:cNvPr>
          <p:cNvSpPr>
            <a:spLocks noChangeArrowheads="1"/>
          </p:cNvSpPr>
          <p:nvPr>
            <p:custDataLst>
              <p:tags r:id="rId3"/>
            </p:custDataLst>
          </p:nvPr>
        </p:nvSpPr>
        <p:spPr bwMode="auto">
          <a:xfrm>
            <a:off x="2516984" y="2368853"/>
            <a:ext cx="954589"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Load / </a:t>
            </a:r>
            <a:r>
              <a:rPr lang="en-US" sz="1200" dirty="0" err="1">
                <a:latin typeface="+mn-lt"/>
              </a:rPr>
              <a:t>BusRd</a:t>
            </a:r>
            <a:endParaRPr lang="en-US" sz="1200" dirty="0">
              <a:latin typeface="+mn-lt"/>
            </a:endParaRPr>
          </a:p>
        </p:txBody>
      </p:sp>
      <p:sp>
        <p:nvSpPr>
          <p:cNvPr id="29" name="Oval 8" descr=" 29">
            <a:extLst>
              <a:ext uri="{FF2B5EF4-FFF2-40B4-BE49-F238E27FC236}">
                <a16:creationId xmlns:a16="http://schemas.microsoft.com/office/drawing/2014/main" id="{33CDB991-EB3C-4069-8BA9-57A753E2DDD1}"/>
              </a:ext>
            </a:extLst>
          </p:cNvPr>
          <p:cNvSpPr>
            <a:spLocks noChangeArrowheads="1"/>
          </p:cNvSpPr>
          <p:nvPr>
            <p:custDataLst>
              <p:tags r:id="rId4"/>
            </p:custDataLst>
          </p:nvPr>
        </p:nvSpPr>
        <p:spPr bwMode="auto">
          <a:xfrm>
            <a:off x="4362447" y="2626659"/>
            <a:ext cx="685800" cy="685800"/>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2100" dirty="0"/>
              <a:t>S</a:t>
            </a:r>
          </a:p>
        </p:txBody>
      </p:sp>
      <p:sp>
        <p:nvSpPr>
          <p:cNvPr id="30" name="Freeform 32" descr=" 30">
            <a:extLst>
              <a:ext uri="{FF2B5EF4-FFF2-40B4-BE49-F238E27FC236}">
                <a16:creationId xmlns:a16="http://schemas.microsoft.com/office/drawing/2014/main" id="{3A5C55D6-7CC2-4364-8387-68455F042D9A}"/>
              </a:ext>
            </a:extLst>
          </p:cNvPr>
          <p:cNvSpPr/>
          <p:nvPr>
            <p:custDataLst>
              <p:tags r:id="rId5"/>
            </p:custDataLst>
          </p:nvPr>
        </p:nvSpPr>
        <p:spPr bwMode="auto">
          <a:xfrm>
            <a:off x="1733547" y="2619936"/>
            <a:ext cx="2625539" cy="231962"/>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Lst>
            <a:ahLst/>
            <a:cxnLst>
              <a:cxn ang="0">
                <a:pos x="connsiteX0" y="connsiteY0"/>
              </a:cxn>
              <a:cxn ang="0">
                <a:pos x="connsiteX1" y="connsiteY1"/>
              </a:cxn>
              <a:cxn ang="0">
                <a:pos x="connsiteX2" y="connsiteY2"/>
              </a:cxn>
            </a:cxnLst>
            <a:rect l="l" t="t" r="r" b="b"/>
            <a:pathLst>
              <a:path w="3567953" h="309283">
                <a:moveTo>
                  <a:pt x="0" y="309283"/>
                </a:moveTo>
                <a:cubicBezTo>
                  <a:pt x="626035" y="188259"/>
                  <a:pt x="1072776" y="17930"/>
                  <a:pt x="1667435" y="8965"/>
                </a:cubicBezTo>
                <a:cubicBezTo>
                  <a:pt x="2262094" y="0"/>
                  <a:pt x="3004670" y="152400"/>
                  <a:pt x="3567953" y="255494"/>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31" name="Rectangle 19" descr=" 31">
            <a:extLst>
              <a:ext uri="{FF2B5EF4-FFF2-40B4-BE49-F238E27FC236}">
                <a16:creationId xmlns:a16="http://schemas.microsoft.com/office/drawing/2014/main" id="{E02A03AC-54D9-4AF4-9EFC-11A61E811F0E}"/>
              </a:ext>
            </a:extLst>
          </p:cNvPr>
          <p:cNvSpPr>
            <a:spLocks noChangeArrowheads="1"/>
          </p:cNvSpPr>
          <p:nvPr>
            <p:custDataLst>
              <p:tags r:id="rId6"/>
            </p:custDataLst>
          </p:nvPr>
        </p:nvSpPr>
        <p:spPr bwMode="auto">
          <a:xfrm>
            <a:off x="4999636" y="3058716"/>
            <a:ext cx="674064" cy="251993"/>
          </a:xfrm>
          <a:prstGeom prst="rect">
            <a:avLst/>
          </a:prstGeom>
          <a:noFill/>
          <a:ln w="12700">
            <a:noFill/>
            <a:prstDash val="sysDot"/>
            <a:miter lim="800000"/>
            <a:headEnd/>
            <a:tailEnd/>
          </a:ln>
        </p:spPr>
        <p:txBody>
          <a:bodyPr wrap="none" lIns="67866" tIns="33338" rIns="67866" bIns="33338">
            <a:spAutoFit/>
          </a:bodyPr>
          <a:lstStyle/>
          <a:p>
            <a:r>
              <a:rPr lang="en-US" sz="1200" b="1" dirty="0">
                <a:solidFill>
                  <a:schemeClr val="accent2">
                    <a:lumMod val="75000"/>
                  </a:schemeClr>
                </a:solidFill>
                <a:latin typeface="+mn-lt"/>
              </a:rPr>
              <a:t>Load / --</a:t>
            </a:r>
          </a:p>
        </p:txBody>
      </p:sp>
      <p:sp>
        <p:nvSpPr>
          <p:cNvPr id="32" name="Rectangle 19" descr=" 32">
            <a:extLst>
              <a:ext uri="{FF2B5EF4-FFF2-40B4-BE49-F238E27FC236}">
                <a16:creationId xmlns:a16="http://schemas.microsoft.com/office/drawing/2014/main" id="{00765427-09EC-45D0-9C29-2C799424A5C6}"/>
              </a:ext>
            </a:extLst>
          </p:cNvPr>
          <p:cNvSpPr>
            <a:spLocks noChangeArrowheads="1"/>
          </p:cNvSpPr>
          <p:nvPr>
            <p:custDataLst>
              <p:tags r:id="rId7"/>
            </p:custDataLst>
          </p:nvPr>
        </p:nvSpPr>
        <p:spPr bwMode="auto">
          <a:xfrm>
            <a:off x="4693021" y="2389080"/>
            <a:ext cx="776656" cy="251993"/>
          </a:xfrm>
          <a:prstGeom prst="rect">
            <a:avLst/>
          </a:prstGeom>
          <a:noFill/>
          <a:ln w="12700">
            <a:noFill/>
            <a:prstDash val="sysDot"/>
            <a:miter lim="800000"/>
            <a:headEnd/>
            <a:tailEnd/>
          </a:ln>
        </p:spPr>
        <p:txBody>
          <a:bodyPr wrap="none" lIns="67866" tIns="33338" rIns="67866" bIns="33338">
            <a:spAutoFit/>
          </a:bodyPr>
          <a:lstStyle/>
          <a:p>
            <a:r>
              <a:rPr lang="en-US" sz="1200" b="1" dirty="0" err="1">
                <a:solidFill>
                  <a:schemeClr val="accent2">
                    <a:lumMod val="75000"/>
                  </a:schemeClr>
                </a:solidFill>
                <a:latin typeface="+mn-lt"/>
              </a:rPr>
              <a:t>BusRd</a:t>
            </a:r>
            <a:r>
              <a:rPr lang="en-US" sz="1200" b="1" dirty="0">
                <a:solidFill>
                  <a:schemeClr val="accent2">
                    <a:lumMod val="75000"/>
                  </a:schemeClr>
                </a:solidFill>
                <a:latin typeface="+mn-lt"/>
              </a:rPr>
              <a:t> / --</a:t>
            </a:r>
          </a:p>
        </p:txBody>
      </p:sp>
      <p:sp>
        <p:nvSpPr>
          <p:cNvPr id="33" name="Arc 9" descr=" 33">
            <a:extLst>
              <a:ext uri="{FF2B5EF4-FFF2-40B4-BE49-F238E27FC236}">
                <a16:creationId xmlns:a16="http://schemas.microsoft.com/office/drawing/2014/main" id="{B8331003-EF3D-49AA-A122-A5EBAA12E235}"/>
              </a:ext>
            </a:extLst>
          </p:cNvPr>
          <p:cNvSpPr>
            <a:spLocks/>
          </p:cNvSpPr>
          <p:nvPr>
            <p:custDataLst>
              <p:tags r:id="rId8"/>
            </p:custDataLst>
          </p:nvPr>
        </p:nvSpPr>
        <p:spPr bwMode="auto">
          <a:xfrm rot="8454697">
            <a:off x="5048821" y="2639011"/>
            <a:ext cx="472328" cy="415302"/>
          </a:xfrm>
          <a:custGeom>
            <a:avLst/>
            <a:gdLst>
              <a:gd name="T0" fmla="*/ 505 w 43200"/>
              <a:gd name="T1" fmla="*/ 474 h 43200"/>
              <a:gd name="T2" fmla="*/ 599 w 43200"/>
              <a:gd name="T3" fmla="*/ 328 h 43200"/>
              <a:gd name="T4" fmla="*/ 303 w 43200"/>
              <a:gd name="T5" fmla="*/ 272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path>
              <a:path w="43200" h="43200" stroke="0"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lnTo>
                  <a:pt x="21600" y="21600"/>
                </a:lnTo>
                <a:close/>
              </a:path>
            </a:pathLst>
          </a:custGeom>
          <a:noFill/>
          <a:ln w="12700" cap="rnd">
            <a:solidFill>
              <a:schemeClr val="accent2">
                <a:lumMod val="75000"/>
              </a:schemeClr>
            </a:solidFill>
            <a:round/>
            <a:headEnd/>
            <a:tailEnd type="triangle" w="med" len="med"/>
          </a:ln>
        </p:spPr>
        <p:txBody>
          <a:bodyPr wrap="none" anchor="ctr"/>
          <a:lstStyle/>
          <a:p>
            <a:endParaRPr lang="en-US" sz="1200" dirty="0">
              <a:latin typeface="+mn-lt"/>
            </a:endParaRPr>
          </a:p>
        </p:txBody>
      </p:sp>
      <p:sp>
        <p:nvSpPr>
          <p:cNvPr id="143" name="Rectangle 4" descr=" 143">
            <a:extLst>
              <a:ext uri="{FF2B5EF4-FFF2-40B4-BE49-F238E27FC236}">
                <a16:creationId xmlns:a16="http://schemas.microsoft.com/office/drawing/2014/main" id="{3506CA8F-567F-4846-B073-C331C2156C08}"/>
              </a:ext>
            </a:extLst>
          </p:cNvPr>
          <p:cNvSpPr>
            <a:spLocks noChangeArrowheads="1"/>
          </p:cNvSpPr>
          <p:nvPr>
            <p:custDataLst>
              <p:tags r:id="rId9"/>
            </p:custDataLst>
          </p:nvPr>
        </p:nvSpPr>
        <p:spPr bwMode="auto">
          <a:xfrm>
            <a:off x="6953253" y="4510413"/>
            <a:ext cx="1373463"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Bus</a:t>
            </a:r>
          </a:p>
        </p:txBody>
      </p:sp>
      <p:cxnSp>
        <p:nvCxnSpPr>
          <p:cNvPr id="144" name="AutoShape 17" descr=" 144">
            <a:extLst>
              <a:ext uri="{FF2B5EF4-FFF2-40B4-BE49-F238E27FC236}">
                <a16:creationId xmlns:a16="http://schemas.microsoft.com/office/drawing/2014/main" id="{CCA2E101-1901-444E-B5EC-E1401CCE997C}"/>
              </a:ext>
            </a:extLst>
          </p:cNvPr>
          <p:cNvCxnSpPr>
            <a:cxnSpLocks noChangeShapeType="1"/>
          </p:cNvCxnSpPr>
          <p:nvPr>
            <p:custDataLst>
              <p:tags r:id="rId10"/>
            </p:custDataLst>
          </p:nvPr>
        </p:nvCxnSpPr>
        <p:spPr bwMode="auto">
          <a:xfrm rot="5400000">
            <a:off x="8124828" y="3853188"/>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145" name="Line 10" descr=" 145">
            <a:extLst>
              <a:ext uri="{FF2B5EF4-FFF2-40B4-BE49-F238E27FC236}">
                <a16:creationId xmlns:a16="http://schemas.microsoft.com/office/drawing/2014/main" id="{F85D88C5-75E7-49AD-834B-8272A0AE1CFC}"/>
              </a:ext>
            </a:extLst>
          </p:cNvPr>
          <p:cNvSpPr>
            <a:spLocks noChangeShapeType="1"/>
          </p:cNvSpPr>
          <p:nvPr>
            <p:custDataLst>
              <p:tags r:id="rId11"/>
            </p:custDataLst>
          </p:nvPr>
        </p:nvSpPr>
        <p:spPr bwMode="auto">
          <a:xfrm>
            <a:off x="8210553" y="4221092"/>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cxnSp>
        <p:nvCxnSpPr>
          <p:cNvPr id="146" name="Straight Arrow Connector 145" descr=" 146">
            <a:extLst>
              <a:ext uri="{FF2B5EF4-FFF2-40B4-BE49-F238E27FC236}">
                <a16:creationId xmlns:a16="http://schemas.microsoft.com/office/drawing/2014/main" id="{CE4BEBEB-3544-4E06-939C-4E42471CDE4D}"/>
              </a:ext>
            </a:extLst>
          </p:cNvPr>
          <p:cNvCxnSpPr>
            <a:stCxn id="143" idx="2"/>
            <a:endCxn id="148" idx="0"/>
          </p:cNvCxnSpPr>
          <p:nvPr/>
        </p:nvCxnSpPr>
        <p:spPr bwMode="auto">
          <a:xfrm rot="16200000" flipH="1">
            <a:off x="7525685" y="4906891"/>
            <a:ext cx="228600" cy="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47" name="Rectangle 21" descr=" 147">
            <a:extLst>
              <a:ext uri="{FF2B5EF4-FFF2-40B4-BE49-F238E27FC236}">
                <a16:creationId xmlns:a16="http://schemas.microsoft.com/office/drawing/2014/main" id="{6FDEA21C-2B38-4396-9646-DECEA0235DE0}"/>
              </a:ext>
            </a:extLst>
          </p:cNvPr>
          <p:cNvSpPr>
            <a:spLocks noChangeArrowheads="1"/>
          </p:cNvSpPr>
          <p:nvPr>
            <p:custDataLst>
              <p:tags r:id="rId12"/>
            </p:custDataLst>
          </p:nvPr>
        </p:nvSpPr>
        <p:spPr bwMode="auto">
          <a:xfrm>
            <a:off x="7753353" y="3938913"/>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[I]</a:t>
            </a:r>
            <a:endParaRPr lang="en-US" sz="1800" dirty="0"/>
          </a:p>
        </p:txBody>
      </p:sp>
      <p:sp>
        <p:nvSpPr>
          <p:cNvPr id="148" name="Rectangle 21" descr=" 148">
            <a:extLst>
              <a:ext uri="{FF2B5EF4-FFF2-40B4-BE49-F238E27FC236}">
                <a16:creationId xmlns:a16="http://schemas.microsoft.com/office/drawing/2014/main" id="{56D82B35-7ACB-4F2B-98E5-2E559C3F81C0}"/>
              </a:ext>
            </a:extLst>
          </p:cNvPr>
          <p:cNvSpPr>
            <a:spLocks noChangeArrowheads="1"/>
          </p:cNvSpPr>
          <p:nvPr>
            <p:custDataLst>
              <p:tags r:id="rId13"/>
            </p:custDataLst>
          </p:nvPr>
        </p:nvSpPr>
        <p:spPr bwMode="auto">
          <a:xfrm>
            <a:off x="7197108" y="5021191"/>
            <a:ext cx="885754"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0</a:t>
            </a:r>
            <a:endParaRPr lang="en-US" sz="1800" dirty="0">
              <a:solidFill>
                <a:srgbClr val="C00000"/>
              </a:solidFill>
            </a:endParaRPr>
          </a:p>
        </p:txBody>
      </p:sp>
      <p:sp>
        <p:nvSpPr>
          <p:cNvPr id="149" name="Rectangle 6" descr=" 149">
            <a:extLst>
              <a:ext uri="{FF2B5EF4-FFF2-40B4-BE49-F238E27FC236}">
                <a16:creationId xmlns:a16="http://schemas.microsoft.com/office/drawing/2014/main" id="{5E6C1012-2EEC-46FF-B9BC-E89460EB2065}"/>
              </a:ext>
            </a:extLst>
          </p:cNvPr>
          <p:cNvSpPr>
            <a:spLocks noChangeArrowheads="1"/>
          </p:cNvSpPr>
          <p:nvPr>
            <p:custDataLst>
              <p:tags r:id="rId14"/>
            </p:custDataLst>
          </p:nvPr>
        </p:nvSpPr>
        <p:spPr bwMode="auto">
          <a:xfrm>
            <a:off x="8016504" y="3481713"/>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P2</a:t>
            </a:r>
          </a:p>
        </p:txBody>
      </p:sp>
      <p:cxnSp>
        <p:nvCxnSpPr>
          <p:cNvPr id="150" name="AutoShape 17" descr=" 150">
            <a:extLst>
              <a:ext uri="{FF2B5EF4-FFF2-40B4-BE49-F238E27FC236}">
                <a16:creationId xmlns:a16="http://schemas.microsoft.com/office/drawing/2014/main" id="{0A822D7F-47FC-4282-BA05-3A13E3ACF77E}"/>
              </a:ext>
            </a:extLst>
          </p:cNvPr>
          <p:cNvCxnSpPr>
            <a:cxnSpLocks noChangeShapeType="1"/>
          </p:cNvCxnSpPr>
          <p:nvPr>
            <p:custDataLst>
              <p:tags r:id="rId15"/>
            </p:custDataLst>
          </p:nvPr>
        </p:nvCxnSpPr>
        <p:spPr bwMode="auto">
          <a:xfrm rot="5400000">
            <a:off x="7038978" y="3853188"/>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151" name="Line 10" descr=" 151">
            <a:extLst>
              <a:ext uri="{FF2B5EF4-FFF2-40B4-BE49-F238E27FC236}">
                <a16:creationId xmlns:a16="http://schemas.microsoft.com/office/drawing/2014/main" id="{89648103-07C6-4B55-A0D5-DA08A0FD797C}"/>
              </a:ext>
            </a:extLst>
          </p:cNvPr>
          <p:cNvSpPr>
            <a:spLocks noChangeShapeType="1"/>
          </p:cNvSpPr>
          <p:nvPr>
            <p:custDataLst>
              <p:tags r:id="rId16"/>
            </p:custDataLst>
          </p:nvPr>
        </p:nvSpPr>
        <p:spPr bwMode="auto">
          <a:xfrm>
            <a:off x="7124703" y="4221092"/>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sp>
        <p:nvSpPr>
          <p:cNvPr id="152" name="Rectangle 21" descr=" 152">
            <a:extLst>
              <a:ext uri="{FF2B5EF4-FFF2-40B4-BE49-F238E27FC236}">
                <a16:creationId xmlns:a16="http://schemas.microsoft.com/office/drawing/2014/main" id="{3E5584DC-7C24-4333-8EAE-8CD4BF59E172}"/>
              </a:ext>
            </a:extLst>
          </p:cNvPr>
          <p:cNvSpPr>
            <a:spLocks noChangeArrowheads="1"/>
          </p:cNvSpPr>
          <p:nvPr>
            <p:custDataLst>
              <p:tags r:id="rId17"/>
            </p:custDataLst>
          </p:nvPr>
        </p:nvSpPr>
        <p:spPr bwMode="auto">
          <a:xfrm>
            <a:off x="6667503" y="3938913"/>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[S]: 0</a:t>
            </a:r>
            <a:endParaRPr lang="en-US" sz="1800" dirty="0"/>
          </a:p>
        </p:txBody>
      </p:sp>
      <p:sp>
        <p:nvSpPr>
          <p:cNvPr id="153" name="Rectangle 6" descr=" 153">
            <a:extLst>
              <a:ext uri="{FF2B5EF4-FFF2-40B4-BE49-F238E27FC236}">
                <a16:creationId xmlns:a16="http://schemas.microsoft.com/office/drawing/2014/main" id="{DE0B553A-8E15-46F9-AD7C-1C9483D2D49F}"/>
              </a:ext>
            </a:extLst>
          </p:cNvPr>
          <p:cNvSpPr>
            <a:spLocks noChangeArrowheads="1"/>
          </p:cNvSpPr>
          <p:nvPr>
            <p:custDataLst>
              <p:tags r:id="rId18"/>
            </p:custDataLst>
          </p:nvPr>
        </p:nvSpPr>
        <p:spPr bwMode="auto">
          <a:xfrm>
            <a:off x="6930654" y="3481713"/>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P1</a:t>
            </a:r>
          </a:p>
        </p:txBody>
      </p:sp>
      <p:sp>
        <p:nvSpPr>
          <p:cNvPr id="23" name="Oval Callout 87" descr=" 154">
            <a:extLst>
              <a:ext uri="{FF2B5EF4-FFF2-40B4-BE49-F238E27FC236}">
                <a16:creationId xmlns:a16="http://schemas.microsoft.com/office/drawing/2014/main" id="{E276C122-FE4F-44A6-8F85-2E57AD7EA9BE}"/>
              </a:ext>
            </a:extLst>
          </p:cNvPr>
          <p:cNvSpPr/>
          <p:nvPr>
            <p:custDataLst>
              <p:tags r:id="rId19"/>
            </p:custDataLst>
          </p:nvPr>
        </p:nvSpPr>
        <p:spPr bwMode="auto">
          <a:xfrm>
            <a:off x="8153403" y="3138813"/>
            <a:ext cx="914400" cy="342900"/>
          </a:xfrm>
          <a:prstGeom prst="wedgeEllipseCallout">
            <a:avLst>
              <a:gd name="adj1" fmla="val -44362"/>
              <a:gd name="adj2" fmla="val 50735"/>
            </a:avLst>
          </a:prstGeom>
          <a:solidFill>
            <a:schemeClr val="bg1"/>
          </a:solidFill>
          <a:ln>
            <a:solidFill>
              <a:schemeClr val="tx1"/>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0" tIns="34290" rIns="0" bIns="34290" numCol="1" rtlCol="0" anchor="t" anchorCtr="0" compatLnSpc="1">
            <a:prstTxWarp prst="textNoShape">
              <a:avLst/>
            </a:prstTxWarp>
          </a:bodyPr>
          <a:lstStyle/>
          <a:p>
            <a:pPr algn="ctr" defTabSz="685800" eaLnBrk="0" hangingPunct="0"/>
            <a:r>
              <a:rPr lang="en-US" sz="1200" dirty="0">
                <a:solidFill>
                  <a:schemeClr val="accent2">
                    <a:lumMod val="75000"/>
                  </a:schemeClr>
                </a:solidFill>
              </a:rPr>
              <a:t>1: Load A</a:t>
            </a:r>
          </a:p>
        </p:txBody>
      </p:sp>
      <p:sp>
        <p:nvSpPr>
          <p:cNvPr id="24" name="Oval Callout 52" descr=" 155">
            <a:extLst>
              <a:ext uri="{FF2B5EF4-FFF2-40B4-BE49-F238E27FC236}">
                <a16:creationId xmlns:a16="http://schemas.microsoft.com/office/drawing/2014/main" id="{99F9223B-D05C-42F0-8DBF-7B66EBEF95BE}"/>
              </a:ext>
            </a:extLst>
          </p:cNvPr>
          <p:cNvSpPr/>
          <p:nvPr>
            <p:custDataLst>
              <p:tags r:id="rId20"/>
            </p:custDataLst>
          </p:nvPr>
        </p:nvSpPr>
        <p:spPr bwMode="auto">
          <a:xfrm>
            <a:off x="8096253" y="4224663"/>
            <a:ext cx="971550" cy="342900"/>
          </a:xfrm>
          <a:prstGeom prst="wedgeEllipseCallout">
            <a:avLst>
              <a:gd name="adj1" fmla="val -61952"/>
              <a:gd name="adj2" fmla="val 37010"/>
            </a:avLst>
          </a:prstGeom>
          <a:solidFill>
            <a:schemeClr val="bg1"/>
          </a:solidFill>
          <a:ln>
            <a:solidFill>
              <a:schemeClr val="tx1"/>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0" tIns="34290" rIns="0" bIns="34290" numCol="1" rtlCol="0" anchor="t" anchorCtr="0" compatLnSpc="1">
            <a:prstTxWarp prst="textNoShape">
              <a:avLst/>
            </a:prstTxWarp>
          </a:bodyPr>
          <a:lstStyle/>
          <a:p>
            <a:pPr algn="ctr" defTabSz="685800" eaLnBrk="0" hangingPunct="0"/>
            <a:r>
              <a:rPr lang="en-US" sz="1200" dirty="0">
                <a:solidFill>
                  <a:schemeClr val="accent2">
                    <a:lumMod val="75000"/>
                  </a:schemeClr>
                </a:solidFill>
              </a:rPr>
              <a:t>2: </a:t>
            </a:r>
            <a:r>
              <a:rPr lang="en-US" sz="1200" dirty="0" err="1">
                <a:solidFill>
                  <a:schemeClr val="accent2">
                    <a:lumMod val="75000"/>
                  </a:schemeClr>
                </a:solidFill>
              </a:rPr>
              <a:t>BusRd</a:t>
            </a:r>
            <a:r>
              <a:rPr lang="en-US" sz="1200" dirty="0">
                <a:solidFill>
                  <a:schemeClr val="accent2">
                    <a:lumMod val="75000"/>
                  </a:schemeClr>
                </a:solidFill>
              </a:rPr>
              <a:t> A</a:t>
            </a:r>
          </a:p>
        </p:txBody>
      </p:sp>
      <p:sp>
        <p:nvSpPr>
          <p:cNvPr id="25" name="Oval Callout 54" descr=" 156">
            <a:extLst>
              <a:ext uri="{FF2B5EF4-FFF2-40B4-BE49-F238E27FC236}">
                <a16:creationId xmlns:a16="http://schemas.microsoft.com/office/drawing/2014/main" id="{4D46BC2D-C65B-40EB-91B8-2B9C5DB6534B}"/>
              </a:ext>
            </a:extLst>
          </p:cNvPr>
          <p:cNvSpPr/>
          <p:nvPr>
            <p:custDataLst>
              <p:tags r:id="rId21"/>
            </p:custDataLst>
          </p:nvPr>
        </p:nvSpPr>
        <p:spPr bwMode="auto">
          <a:xfrm>
            <a:off x="5939808" y="5215284"/>
            <a:ext cx="1257300" cy="342900"/>
          </a:xfrm>
          <a:prstGeom prst="wedgeEllipseCallout">
            <a:avLst>
              <a:gd name="adj1" fmla="val 56796"/>
              <a:gd name="adj2" fmla="val -74755"/>
            </a:avLst>
          </a:prstGeom>
          <a:solidFill>
            <a:schemeClr val="bg1"/>
          </a:solidFill>
          <a:ln>
            <a:solidFill>
              <a:schemeClr val="tx1"/>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0" tIns="34290" rIns="0" bIns="34290" numCol="1" rtlCol="0" anchor="t" anchorCtr="0" compatLnSpc="1">
            <a:prstTxWarp prst="textNoShape">
              <a:avLst/>
            </a:prstTxWarp>
          </a:bodyPr>
          <a:lstStyle/>
          <a:p>
            <a:pPr algn="ctr" defTabSz="685800" eaLnBrk="0" hangingPunct="0"/>
            <a:r>
              <a:rPr lang="en-US" sz="1200" dirty="0">
                <a:solidFill>
                  <a:schemeClr val="accent2">
                    <a:lumMod val="75000"/>
                  </a:schemeClr>
                </a:solidFill>
              </a:rPr>
              <a:t>3: </a:t>
            </a:r>
            <a:r>
              <a:rPr lang="en-US" sz="1200" dirty="0" err="1">
                <a:solidFill>
                  <a:schemeClr val="accent2">
                    <a:lumMod val="75000"/>
                  </a:schemeClr>
                </a:solidFill>
              </a:rPr>
              <a:t>BusReply</a:t>
            </a:r>
            <a:r>
              <a:rPr lang="en-US" sz="1200" dirty="0">
                <a:solidFill>
                  <a:schemeClr val="accent2">
                    <a:lumMod val="75000"/>
                  </a:schemeClr>
                </a:solidFill>
              </a:rPr>
              <a:t> A</a:t>
            </a:r>
          </a:p>
        </p:txBody>
      </p:sp>
      <p:sp>
        <p:nvSpPr>
          <p:cNvPr id="26" name="Rectangle 21" descr=" 158">
            <a:extLst>
              <a:ext uri="{FF2B5EF4-FFF2-40B4-BE49-F238E27FC236}">
                <a16:creationId xmlns:a16="http://schemas.microsoft.com/office/drawing/2014/main" id="{FD37ED08-F135-4230-B6F5-C41CFC50F761}"/>
              </a:ext>
            </a:extLst>
          </p:cNvPr>
          <p:cNvSpPr>
            <a:spLocks noChangeArrowheads="1"/>
          </p:cNvSpPr>
          <p:nvPr>
            <p:custDataLst>
              <p:tags r:id="rId22"/>
            </p:custDataLst>
          </p:nvPr>
        </p:nvSpPr>
        <p:spPr bwMode="auto">
          <a:xfrm>
            <a:off x="7753353" y="3938913"/>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a:t>
            </a:r>
            <a:r>
              <a:rPr lang="en-US" sz="1500" strike="sngStrike" dirty="0"/>
              <a:t>I</a:t>
            </a:r>
            <a:r>
              <a:rPr lang="en-US" sz="1500" dirty="0"/>
              <a:t> </a:t>
            </a:r>
            <a:r>
              <a:rPr lang="en-US" sz="1500" dirty="0">
                <a:solidFill>
                  <a:schemeClr val="accent2"/>
                </a:solidFill>
              </a:rPr>
              <a:t>S</a:t>
            </a:r>
            <a:r>
              <a:rPr lang="en-US" sz="1500" dirty="0"/>
              <a:t>]: </a:t>
            </a:r>
            <a:r>
              <a:rPr lang="en-US" sz="1500" dirty="0">
                <a:solidFill>
                  <a:schemeClr val="accent2"/>
                </a:solidFill>
              </a:rPr>
              <a:t>0</a:t>
            </a:r>
            <a:endParaRPr lang="en-US" sz="1800" dirty="0">
              <a:solidFill>
                <a:schemeClr val="accent2"/>
              </a:solidFill>
            </a:endParaRPr>
          </a:p>
        </p:txBody>
      </p:sp>
      <p:sp>
        <p:nvSpPr>
          <p:cNvPr id="34" name="Rectangle 2">
            <a:extLst>
              <a:ext uri="{FF2B5EF4-FFF2-40B4-BE49-F238E27FC236}">
                <a16:creationId xmlns:a16="http://schemas.microsoft.com/office/drawing/2014/main" id="{E2061E69-34E1-4281-BB68-29F1F2E9BDB4}"/>
              </a:ext>
            </a:extLst>
          </p:cNvPr>
          <p:cNvSpPr>
            <a:spLocks noGrp="1" noChangeArrowheads="1"/>
          </p:cNvSpPr>
          <p:nvPr>
            <p:ph type="title"/>
            <p:custDataLst>
              <p:tags r:id="rId23"/>
            </p:custDataLst>
          </p:nvPr>
        </p:nvSpPr>
        <p:spPr>
          <a:xfrm>
            <a:off x="457200" y="274638"/>
            <a:ext cx="7467600" cy="1143000"/>
          </a:xfrm>
        </p:spPr>
        <p:txBody>
          <a:bodyPr/>
          <a:lstStyle/>
          <a:p>
            <a:pPr eaLnBrk="1" hangingPunct="1"/>
            <a:r>
              <a:rPr lang="en-US" altLang="en-US" dirty="0">
                <a:latin typeface="+mn-lt"/>
              </a:rPr>
              <a:t>MSI Protocol</a:t>
            </a:r>
          </a:p>
        </p:txBody>
      </p:sp>
      <p:sp>
        <p:nvSpPr>
          <p:cNvPr id="35" name="Oval Callout 55" descr=" 157">
            <a:extLst>
              <a:ext uri="{FF2B5EF4-FFF2-40B4-BE49-F238E27FC236}">
                <a16:creationId xmlns:a16="http://schemas.microsoft.com/office/drawing/2014/main" id="{AF48ED53-6B59-4E42-9B8C-F58CB57CBB72}"/>
              </a:ext>
            </a:extLst>
          </p:cNvPr>
          <p:cNvSpPr/>
          <p:nvPr>
            <p:custDataLst>
              <p:tags r:id="rId24"/>
            </p:custDataLst>
          </p:nvPr>
        </p:nvSpPr>
        <p:spPr bwMode="auto">
          <a:xfrm>
            <a:off x="7124703" y="3138813"/>
            <a:ext cx="914400" cy="342900"/>
          </a:xfrm>
          <a:prstGeom prst="wedgeEllipseCallout">
            <a:avLst>
              <a:gd name="adj1" fmla="val -44362"/>
              <a:gd name="adj2" fmla="val 50735"/>
            </a:avLst>
          </a:prstGeom>
          <a:solidFill>
            <a:schemeClr val="bg1"/>
          </a:solidFill>
          <a:ln>
            <a:solidFill>
              <a:schemeClr val="tx1"/>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0" tIns="34290" rIns="0" bIns="34290" numCol="1" rtlCol="0" anchor="t" anchorCtr="0" compatLnSpc="1">
            <a:prstTxWarp prst="textNoShape">
              <a:avLst/>
            </a:prstTxWarp>
          </a:bodyPr>
          <a:lstStyle/>
          <a:p>
            <a:pPr algn="ctr" defTabSz="685800" eaLnBrk="0" hangingPunct="0"/>
            <a:r>
              <a:rPr lang="en-US" sz="1200" dirty="0">
                <a:solidFill>
                  <a:schemeClr val="accent2">
                    <a:lumMod val="75000"/>
                  </a:schemeClr>
                </a:solidFill>
              </a:rPr>
              <a:t>4: Load A</a:t>
            </a:r>
          </a:p>
        </p:txBody>
      </p:sp>
    </p:spTree>
    <p:custDataLst>
      <p:tags r:id="rId1"/>
    </p:custDataLst>
    <p:extLst>
      <p:ext uri="{BB962C8B-B14F-4D97-AF65-F5344CB8AC3E}">
        <p14:creationId xmlns:p14="http://schemas.microsoft.com/office/powerpoint/2010/main" val="253927437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Oval 8" descr=" 27">
            <a:extLst>
              <a:ext uri="{FF2B5EF4-FFF2-40B4-BE49-F238E27FC236}">
                <a16:creationId xmlns:a16="http://schemas.microsoft.com/office/drawing/2014/main" id="{DBBF02CF-CADF-4288-AB07-511F3237F6BC}"/>
              </a:ext>
            </a:extLst>
          </p:cNvPr>
          <p:cNvSpPr>
            <a:spLocks noChangeArrowheads="1"/>
          </p:cNvSpPr>
          <p:nvPr>
            <p:custDataLst>
              <p:tags r:id="rId2"/>
            </p:custDataLst>
          </p:nvPr>
        </p:nvSpPr>
        <p:spPr bwMode="auto">
          <a:xfrm>
            <a:off x="1047747" y="2626659"/>
            <a:ext cx="685800" cy="685800"/>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2100" dirty="0"/>
              <a:t>I</a:t>
            </a:r>
          </a:p>
        </p:txBody>
      </p:sp>
      <p:sp>
        <p:nvSpPr>
          <p:cNvPr id="28" name="Rectangle 19" descr=" 28">
            <a:extLst>
              <a:ext uri="{FF2B5EF4-FFF2-40B4-BE49-F238E27FC236}">
                <a16:creationId xmlns:a16="http://schemas.microsoft.com/office/drawing/2014/main" id="{87F0BF2B-32FF-4F50-BB1F-129F3AB8DB1D}"/>
              </a:ext>
            </a:extLst>
          </p:cNvPr>
          <p:cNvSpPr>
            <a:spLocks noChangeArrowheads="1"/>
          </p:cNvSpPr>
          <p:nvPr>
            <p:custDataLst>
              <p:tags r:id="rId3"/>
            </p:custDataLst>
          </p:nvPr>
        </p:nvSpPr>
        <p:spPr bwMode="auto">
          <a:xfrm>
            <a:off x="2516984" y="2368853"/>
            <a:ext cx="954589"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Load / </a:t>
            </a:r>
            <a:r>
              <a:rPr lang="en-US" sz="1200" dirty="0" err="1">
                <a:latin typeface="+mn-lt"/>
              </a:rPr>
              <a:t>BusRd</a:t>
            </a:r>
            <a:endParaRPr lang="en-US" sz="1200" dirty="0">
              <a:latin typeface="+mn-lt"/>
            </a:endParaRPr>
          </a:p>
        </p:txBody>
      </p:sp>
      <p:sp>
        <p:nvSpPr>
          <p:cNvPr id="29" name="Oval 8" descr=" 29">
            <a:extLst>
              <a:ext uri="{FF2B5EF4-FFF2-40B4-BE49-F238E27FC236}">
                <a16:creationId xmlns:a16="http://schemas.microsoft.com/office/drawing/2014/main" id="{33CDB991-EB3C-4069-8BA9-57A753E2DDD1}"/>
              </a:ext>
            </a:extLst>
          </p:cNvPr>
          <p:cNvSpPr>
            <a:spLocks noChangeArrowheads="1"/>
          </p:cNvSpPr>
          <p:nvPr>
            <p:custDataLst>
              <p:tags r:id="rId4"/>
            </p:custDataLst>
          </p:nvPr>
        </p:nvSpPr>
        <p:spPr bwMode="auto">
          <a:xfrm>
            <a:off x="4362447" y="2626659"/>
            <a:ext cx="685800" cy="685800"/>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2100" dirty="0"/>
              <a:t>S</a:t>
            </a:r>
          </a:p>
        </p:txBody>
      </p:sp>
      <p:sp>
        <p:nvSpPr>
          <p:cNvPr id="30" name="Freeform 32" descr=" 30">
            <a:extLst>
              <a:ext uri="{FF2B5EF4-FFF2-40B4-BE49-F238E27FC236}">
                <a16:creationId xmlns:a16="http://schemas.microsoft.com/office/drawing/2014/main" id="{3A5C55D6-7CC2-4364-8387-68455F042D9A}"/>
              </a:ext>
            </a:extLst>
          </p:cNvPr>
          <p:cNvSpPr/>
          <p:nvPr>
            <p:custDataLst>
              <p:tags r:id="rId5"/>
            </p:custDataLst>
          </p:nvPr>
        </p:nvSpPr>
        <p:spPr bwMode="auto">
          <a:xfrm>
            <a:off x="1733547" y="2619936"/>
            <a:ext cx="2625539" cy="231962"/>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Lst>
            <a:ahLst/>
            <a:cxnLst>
              <a:cxn ang="0">
                <a:pos x="connsiteX0" y="connsiteY0"/>
              </a:cxn>
              <a:cxn ang="0">
                <a:pos x="connsiteX1" y="connsiteY1"/>
              </a:cxn>
              <a:cxn ang="0">
                <a:pos x="connsiteX2" y="connsiteY2"/>
              </a:cxn>
            </a:cxnLst>
            <a:rect l="l" t="t" r="r" b="b"/>
            <a:pathLst>
              <a:path w="3567953" h="309283">
                <a:moveTo>
                  <a:pt x="0" y="309283"/>
                </a:moveTo>
                <a:cubicBezTo>
                  <a:pt x="626035" y="188259"/>
                  <a:pt x="1072776" y="17930"/>
                  <a:pt x="1667435" y="8965"/>
                </a:cubicBezTo>
                <a:cubicBezTo>
                  <a:pt x="2262094" y="0"/>
                  <a:pt x="3004670" y="152400"/>
                  <a:pt x="3567953" y="255494"/>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31" name="Rectangle 19" descr=" 31">
            <a:extLst>
              <a:ext uri="{FF2B5EF4-FFF2-40B4-BE49-F238E27FC236}">
                <a16:creationId xmlns:a16="http://schemas.microsoft.com/office/drawing/2014/main" id="{E02A03AC-54D9-4AF4-9EFC-11A61E811F0E}"/>
              </a:ext>
            </a:extLst>
          </p:cNvPr>
          <p:cNvSpPr>
            <a:spLocks noChangeArrowheads="1"/>
          </p:cNvSpPr>
          <p:nvPr>
            <p:custDataLst>
              <p:tags r:id="rId6"/>
            </p:custDataLst>
          </p:nvPr>
        </p:nvSpPr>
        <p:spPr bwMode="auto">
          <a:xfrm>
            <a:off x="4999636" y="3058716"/>
            <a:ext cx="659636"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Load / --</a:t>
            </a:r>
          </a:p>
        </p:txBody>
      </p:sp>
      <p:sp>
        <p:nvSpPr>
          <p:cNvPr id="32" name="Rectangle 19" descr=" 32">
            <a:extLst>
              <a:ext uri="{FF2B5EF4-FFF2-40B4-BE49-F238E27FC236}">
                <a16:creationId xmlns:a16="http://schemas.microsoft.com/office/drawing/2014/main" id="{00765427-09EC-45D0-9C29-2C799424A5C6}"/>
              </a:ext>
            </a:extLst>
          </p:cNvPr>
          <p:cNvSpPr>
            <a:spLocks noChangeArrowheads="1"/>
          </p:cNvSpPr>
          <p:nvPr>
            <p:custDataLst>
              <p:tags r:id="rId7"/>
            </p:custDataLst>
          </p:nvPr>
        </p:nvSpPr>
        <p:spPr bwMode="auto">
          <a:xfrm>
            <a:off x="4693021" y="2389080"/>
            <a:ext cx="757420" cy="251993"/>
          </a:xfrm>
          <a:prstGeom prst="rect">
            <a:avLst/>
          </a:prstGeom>
          <a:noFill/>
          <a:ln w="12700">
            <a:noFill/>
            <a:prstDash val="sysDot"/>
            <a:miter lim="800000"/>
            <a:headEnd/>
            <a:tailEnd/>
          </a:ln>
        </p:spPr>
        <p:txBody>
          <a:bodyPr wrap="none" lIns="67866" tIns="33338" rIns="67866" bIns="33338">
            <a:spAutoFit/>
          </a:bodyPr>
          <a:lstStyle/>
          <a:p>
            <a:r>
              <a:rPr lang="en-US" sz="1200" dirty="0" err="1">
                <a:latin typeface="+mn-lt"/>
              </a:rPr>
              <a:t>BusRd</a:t>
            </a:r>
            <a:r>
              <a:rPr lang="en-US" sz="1200" dirty="0">
                <a:latin typeface="+mn-lt"/>
              </a:rPr>
              <a:t> / --</a:t>
            </a:r>
          </a:p>
        </p:txBody>
      </p:sp>
      <p:sp>
        <p:nvSpPr>
          <p:cNvPr id="33" name="Arc 9" descr=" 33">
            <a:extLst>
              <a:ext uri="{FF2B5EF4-FFF2-40B4-BE49-F238E27FC236}">
                <a16:creationId xmlns:a16="http://schemas.microsoft.com/office/drawing/2014/main" id="{B8331003-EF3D-49AA-A122-A5EBAA12E235}"/>
              </a:ext>
            </a:extLst>
          </p:cNvPr>
          <p:cNvSpPr>
            <a:spLocks/>
          </p:cNvSpPr>
          <p:nvPr>
            <p:custDataLst>
              <p:tags r:id="rId8"/>
            </p:custDataLst>
          </p:nvPr>
        </p:nvSpPr>
        <p:spPr bwMode="auto">
          <a:xfrm rot="8454697">
            <a:off x="5048821" y="2639011"/>
            <a:ext cx="472328" cy="415302"/>
          </a:xfrm>
          <a:custGeom>
            <a:avLst/>
            <a:gdLst>
              <a:gd name="T0" fmla="*/ 505 w 43200"/>
              <a:gd name="T1" fmla="*/ 474 h 43200"/>
              <a:gd name="T2" fmla="*/ 599 w 43200"/>
              <a:gd name="T3" fmla="*/ 328 h 43200"/>
              <a:gd name="T4" fmla="*/ 303 w 43200"/>
              <a:gd name="T5" fmla="*/ 272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path>
              <a:path w="43200" h="43200" stroke="0"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lnTo>
                  <a:pt x="21600" y="21600"/>
                </a:lnTo>
                <a:close/>
              </a:path>
            </a:pathLst>
          </a:custGeom>
          <a:noFill/>
          <a:ln w="12700" cap="rnd">
            <a:solidFill>
              <a:schemeClr val="tx1"/>
            </a:solidFill>
            <a:round/>
            <a:headEnd/>
            <a:tailEnd type="triangle" w="med" len="med"/>
          </a:ln>
        </p:spPr>
        <p:txBody>
          <a:bodyPr wrap="none" anchor="ctr"/>
          <a:lstStyle/>
          <a:p>
            <a:endParaRPr lang="en-US" sz="1200" dirty="0">
              <a:latin typeface="+mn-lt"/>
            </a:endParaRPr>
          </a:p>
        </p:txBody>
      </p:sp>
      <p:sp>
        <p:nvSpPr>
          <p:cNvPr id="38" name="Freeform 41" descr=" 38">
            <a:extLst>
              <a:ext uri="{FF2B5EF4-FFF2-40B4-BE49-F238E27FC236}">
                <a16:creationId xmlns:a16="http://schemas.microsoft.com/office/drawing/2014/main" id="{D098FEF2-4FC8-4CE2-9E3A-88561280BDA4}"/>
              </a:ext>
            </a:extLst>
          </p:cNvPr>
          <p:cNvSpPr/>
          <p:nvPr>
            <p:custDataLst>
              <p:tags r:id="rId9"/>
            </p:custDataLst>
          </p:nvPr>
        </p:nvSpPr>
        <p:spPr bwMode="auto">
          <a:xfrm rot="10800000">
            <a:off x="1733547" y="3023347"/>
            <a:ext cx="2625539" cy="231962"/>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Lst>
            <a:ahLst/>
            <a:cxnLst>
              <a:cxn ang="0">
                <a:pos x="connsiteX0" y="connsiteY0"/>
              </a:cxn>
              <a:cxn ang="0">
                <a:pos x="connsiteX1" y="connsiteY1"/>
              </a:cxn>
              <a:cxn ang="0">
                <a:pos x="connsiteX2" y="connsiteY2"/>
              </a:cxn>
            </a:cxnLst>
            <a:rect l="l" t="t" r="r" b="b"/>
            <a:pathLst>
              <a:path w="3567953" h="309283">
                <a:moveTo>
                  <a:pt x="0" y="309283"/>
                </a:moveTo>
                <a:cubicBezTo>
                  <a:pt x="626035" y="188259"/>
                  <a:pt x="1072776" y="17930"/>
                  <a:pt x="1667435" y="8965"/>
                </a:cubicBezTo>
                <a:cubicBezTo>
                  <a:pt x="2262094" y="0"/>
                  <a:pt x="3004670" y="152400"/>
                  <a:pt x="3567953" y="255494"/>
                </a:cubicBezTo>
              </a:path>
            </a:pathLst>
          </a:custGeom>
          <a:noFill/>
          <a:ln w="9525" cap="flat" cmpd="sng" algn="ctr">
            <a:solidFill>
              <a:schemeClr val="accent2">
                <a:lumMod val="75000"/>
              </a:schemeClr>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39" name="Rectangle 19" descr=" 39">
            <a:extLst>
              <a:ext uri="{FF2B5EF4-FFF2-40B4-BE49-F238E27FC236}">
                <a16:creationId xmlns:a16="http://schemas.microsoft.com/office/drawing/2014/main" id="{B00B0C59-2DF1-4525-AB77-50EAEF06353E}"/>
              </a:ext>
            </a:extLst>
          </p:cNvPr>
          <p:cNvSpPr>
            <a:spLocks noChangeArrowheads="1"/>
          </p:cNvSpPr>
          <p:nvPr>
            <p:custDataLst>
              <p:tags r:id="rId10"/>
            </p:custDataLst>
          </p:nvPr>
        </p:nvSpPr>
        <p:spPr bwMode="auto">
          <a:xfrm>
            <a:off x="2668468" y="3242900"/>
            <a:ext cx="665279" cy="251993"/>
          </a:xfrm>
          <a:prstGeom prst="rect">
            <a:avLst/>
          </a:prstGeom>
          <a:noFill/>
          <a:ln w="12700">
            <a:noFill/>
            <a:prstDash val="sysDot"/>
            <a:miter lim="800000"/>
            <a:headEnd/>
            <a:tailEnd/>
          </a:ln>
        </p:spPr>
        <p:txBody>
          <a:bodyPr wrap="none" lIns="67866" tIns="33338" rIns="67866" bIns="33338">
            <a:spAutoFit/>
          </a:bodyPr>
          <a:lstStyle/>
          <a:p>
            <a:r>
              <a:rPr lang="en-US" sz="1200" b="1" dirty="0">
                <a:solidFill>
                  <a:schemeClr val="accent2">
                    <a:lumMod val="75000"/>
                  </a:schemeClr>
                </a:solidFill>
                <a:latin typeface="+mn-lt"/>
              </a:rPr>
              <a:t>Evict / --</a:t>
            </a:r>
          </a:p>
        </p:txBody>
      </p:sp>
      <p:sp>
        <p:nvSpPr>
          <p:cNvPr id="129" name="Rectangle 4" descr=" 129">
            <a:extLst>
              <a:ext uri="{FF2B5EF4-FFF2-40B4-BE49-F238E27FC236}">
                <a16:creationId xmlns:a16="http://schemas.microsoft.com/office/drawing/2014/main" id="{F54565FB-E1C5-4DFE-A682-0D9D27C0E599}"/>
              </a:ext>
            </a:extLst>
          </p:cNvPr>
          <p:cNvSpPr>
            <a:spLocks noChangeArrowheads="1"/>
          </p:cNvSpPr>
          <p:nvPr>
            <p:custDataLst>
              <p:tags r:id="rId11"/>
            </p:custDataLst>
          </p:nvPr>
        </p:nvSpPr>
        <p:spPr bwMode="auto">
          <a:xfrm>
            <a:off x="6953063" y="4514790"/>
            <a:ext cx="1373463"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Bus</a:t>
            </a:r>
          </a:p>
        </p:txBody>
      </p:sp>
      <p:cxnSp>
        <p:nvCxnSpPr>
          <p:cNvPr id="130" name="AutoShape 17" descr=" 130">
            <a:extLst>
              <a:ext uri="{FF2B5EF4-FFF2-40B4-BE49-F238E27FC236}">
                <a16:creationId xmlns:a16="http://schemas.microsoft.com/office/drawing/2014/main" id="{0F7B260E-868F-4020-8F67-3B6141D3D061}"/>
              </a:ext>
            </a:extLst>
          </p:cNvPr>
          <p:cNvCxnSpPr>
            <a:cxnSpLocks noChangeShapeType="1"/>
          </p:cNvCxnSpPr>
          <p:nvPr>
            <p:custDataLst>
              <p:tags r:id="rId12"/>
            </p:custDataLst>
          </p:nvPr>
        </p:nvCxnSpPr>
        <p:spPr bwMode="auto">
          <a:xfrm rot="5400000">
            <a:off x="8124638" y="3857565"/>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131" name="Line 10" descr=" 131">
            <a:extLst>
              <a:ext uri="{FF2B5EF4-FFF2-40B4-BE49-F238E27FC236}">
                <a16:creationId xmlns:a16="http://schemas.microsoft.com/office/drawing/2014/main" id="{CC8A428C-25DD-4300-9A75-B0EC250A1CFA}"/>
              </a:ext>
            </a:extLst>
          </p:cNvPr>
          <p:cNvSpPr>
            <a:spLocks noChangeShapeType="1"/>
          </p:cNvSpPr>
          <p:nvPr>
            <p:custDataLst>
              <p:tags r:id="rId13"/>
            </p:custDataLst>
          </p:nvPr>
        </p:nvSpPr>
        <p:spPr bwMode="auto">
          <a:xfrm>
            <a:off x="8210363" y="4225469"/>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cxnSp>
        <p:nvCxnSpPr>
          <p:cNvPr id="132" name="Straight Arrow Connector 131" descr=" 132">
            <a:extLst>
              <a:ext uri="{FF2B5EF4-FFF2-40B4-BE49-F238E27FC236}">
                <a16:creationId xmlns:a16="http://schemas.microsoft.com/office/drawing/2014/main" id="{18CD46CF-6061-40F4-B7D9-5A69FCF392D6}"/>
              </a:ext>
            </a:extLst>
          </p:cNvPr>
          <p:cNvCxnSpPr>
            <a:stCxn id="129" idx="2"/>
            <a:endCxn id="134" idx="0"/>
          </p:cNvCxnSpPr>
          <p:nvPr/>
        </p:nvCxnSpPr>
        <p:spPr bwMode="auto">
          <a:xfrm rot="16200000" flipH="1">
            <a:off x="7525494" y="4911268"/>
            <a:ext cx="228600" cy="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33" name="Rectangle 21" descr=" 133">
            <a:extLst>
              <a:ext uri="{FF2B5EF4-FFF2-40B4-BE49-F238E27FC236}">
                <a16:creationId xmlns:a16="http://schemas.microsoft.com/office/drawing/2014/main" id="{7C6179D7-EA6E-401D-A375-72846EED0B9A}"/>
              </a:ext>
            </a:extLst>
          </p:cNvPr>
          <p:cNvSpPr>
            <a:spLocks noChangeArrowheads="1"/>
          </p:cNvSpPr>
          <p:nvPr>
            <p:custDataLst>
              <p:tags r:id="rId14"/>
            </p:custDataLst>
          </p:nvPr>
        </p:nvSpPr>
        <p:spPr bwMode="auto">
          <a:xfrm>
            <a:off x="7753163" y="3943290"/>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[I]</a:t>
            </a:r>
            <a:endParaRPr lang="en-US" sz="1800" dirty="0"/>
          </a:p>
        </p:txBody>
      </p:sp>
      <p:sp>
        <p:nvSpPr>
          <p:cNvPr id="134" name="Rectangle 21" descr=" 134">
            <a:extLst>
              <a:ext uri="{FF2B5EF4-FFF2-40B4-BE49-F238E27FC236}">
                <a16:creationId xmlns:a16="http://schemas.microsoft.com/office/drawing/2014/main" id="{8ACB52BA-31E3-4B9C-BA72-4759832E5BE7}"/>
              </a:ext>
            </a:extLst>
          </p:cNvPr>
          <p:cNvSpPr>
            <a:spLocks noChangeArrowheads="1"/>
          </p:cNvSpPr>
          <p:nvPr>
            <p:custDataLst>
              <p:tags r:id="rId15"/>
            </p:custDataLst>
          </p:nvPr>
        </p:nvSpPr>
        <p:spPr bwMode="auto">
          <a:xfrm>
            <a:off x="7196918" y="5025568"/>
            <a:ext cx="885754"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0</a:t>
            </a:r>
            <a:endParaRPr lang="en-US" sz="1800" dirty="0">
              <a:solidFill>
                <a:srgbClr val="C00000"/>
              </a:solidFill>
            </a:endParaRPr>
          </a:p>
        </p:txBody>
      </p:sp>
      <p:sp>
        <p:nvSpPr>
          <p:cNvPr id="135" name="Rectangle 6" descr=" 135">
            <a:extLst>
              <a:ext uri="{FF2B5EF4-FFF2-40B4-BE49-F238E27FC236}">
                <a16:creationId xmlns:a16="http://schemas.microsoft.com/office/drawing/2014/main" id="{9A52D2D9-0074-4640-8244-B23F9F88348B}"/>
              </a:ext>
            </a:extLst>
          </p:cNvPr>
          <p:cNvSpPr>
            <a:spLocks noChangeArrowheads="1"/>
          </p:cNvSpPr>
          <p:nvPr>
            <p:custDataLst>
              <p:tags r:id="rId16"/>
            </p:custDataLst>
          </p:nvPr>
        </p:nvSpPr>
        <p:spPr bwMode="auto">
          <a:xfrm>
            <a:off x="8016314" y="3486090"/>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P2</a:t>
            </a:r>
          </a:p>
        </p:txBody>
      </p:sp>
      <p:cxnSp>
        <p:nvCxnSpPr>
          <p:cNvPr id="136" name="AutoShape 17" descr=" 136">
            <a:extLst>
              <a:ext uri="{FF2B5EF4-FFF2-40B4-BE49-F238E27FC236}">
                <a16:creationId xmlns:a16="http://schemas.microsoft.com/office/drawing/2014/main" id="{1CCFF86A-40FE-4BDA-A4E4-F7977B9150A9}"/>
              </a:ext>
            </a:extLst>
          </p:cNvPr>
          <p:cNvCxnSpPr>
            <a:cxnSpLocks noChangeShapeType="1"/>
          </p:cNvCxnSpPr>
          <p:nvPr>
            <p:custDataLst>
              <p:tags r:id="rId17"/>
            </p:custDataLst>
          </p:nvPr>
        </p:nvCxnSpPr>
        <p:spPr bwMode="auto">
          <a:xfrm rot="5400000">
            <a:off x="7038788" y="3857565"/>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137" name="Line 10" descr=" 137">
            <a:extLst>
              <a:ext uri="{FF2B5EF4-FFF2-40B4-BE49-F238E27FC236}">
                <a16:creationId xmlns:a16="http://schemas.microsoft.com/office/drawing/2014/main" id="{6DF82243-0857-4657-A804-3BD1A3EE5AF6}"/>
              </a:ext>
            </a:extLst>
          </p:cNvPr>
          <p:cNvSpPr>
            <a:spLocks noChangeShapeType="1"/>
          </p:cNvSpPr>
          <p:nvPr>
            <p:custDataLst>
              <p:tags r:id="rId18"/>
            </p:custDataLst>
          </p:nvPr>
        </p:nvSpPr>
        <p:spPr bwMode="auto">
          <a:xfrm>
            <a:off x="7124513" y="4225469"/>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sp>
        <p:nvSpPr>
          <p:cNvPr id="138" name="Rectangle 21" descr=" 138">
            <a:extLst>
              <a:ext uri="{FF2B5EF4-FFF2-40B4-BE49-F238E27FC236}">
                <a16:creationId xmlns:a16="http://schemas.microsoft.com/office/drawing/2014/main" id="{1B20F8E6-F346-4CCE-820C-5CDDD79E92B0}"/>
              </a:ext>
            </a:extLst>
          </p:cNvPr>
          <p:cNvSpPr>
            <a:spLocks noChangeArrowheads="1"/>
          </p:cNvSpPr>
          <p:nvPr>
            <p:custDataLst>
              <p:tags r:id="rId19"/>
            </p:custDataLst>
          </p:nvPr>
        </p:nvSpPr>
        <p:spPr bwMode="auto">
          <a:xfrm>
            <a:off x="6667313" y="3943290"/>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[S]: 0</a:t>
            </a:r>
            <a:endParaRPr lang="en-US" sz="1800" dirty="0"/>
          </a:p>
        </p:txBody>
      </p:sp>
      <p:sp>
        <p:nvSpPr>
          <p:cNvPr id="139" name="Rectangle 6" descr=" 139">
            <a:extLst>
              <a:ext uri="{FF2B5EF4-FFF2-40B4-BE49-F238E27FC236}">
                <a16:creationId xmlns:a16="http://schemas.microsoft.com/office/drawing/2014/main" id="{9518DDF9-F35E-4B8A-A46D-7083680BB03F}"/>
              </a:ext>
            </a:extLst>
          </p:cNvPr>
          <p:cNvSpPr>
            <a:spLocks noChangeArrowheads="1"/>
          </p:cNvSpPr>
          <p:nvPr>
            <p:custDataLst>
              <p:tags r:id="rId20"/>
            </p:custDataLst>
          </p:nvPr>
        </p:nvSpPr>
        <p:spPr bwMode="auto">
          <a:xfrm>
            <a:off x="6930464" y="3486090"/>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P1</a:t>
            </a:r>
          </a:p>
        </p:txBody>
      </p:sp>
      <p:sp>
        <p:nvSpPr>
          <p:cNvPr id="140" name="Rectangle 21" descr=" 140">
            <a:extLst>
              <a:ext uri="{FF2B5EF4-FFF2-40B4-BE49-F238E27FC236}">
                <a16:creationId xmlns:a16="http://schemas.microsoft.com/office/drawing/2014/main" id="{7FB05E63-7165-45F6-B48A-515987BC98BC}"/>
              </a:ext>
            </a:extLst>
          </p:cNvPr>
          <p:cNvSpPr>
            <a:spLocks noChangeArrowheads="1"/>
          </p:cNvSpPr>
          <p:nvPr>
            <p:custDataLst>
              <p:tags r:id="rId21"/>
            </p:custDataLst>
          </p:nvPr>
        </p:nvSpPr>
        <p:spPr bwMode="auto">
          <a:xfrm>
            <a:off x="7753163" y="3943290"/>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a:t>
            </a:r>
            <a:r>
              <a:rPr lang="en-US" sz="1500" dirty="0">
                <a:solidFill>
                  <a:schemeClr val="tx1"/>
                </a:solidFill>
              </a:rPr>
              <a:t>S</a:t>
            </a:r>
            <a:r>
              <a:rPr lang="en-US" sz="1500" dirty="0"/>
              <a:t>]: </a:t>
            </a:r>
            <a:r>
              <a:rPr lang="en-US" sz="1500" dirty="0">
                <a:solidFill>
                  <a:schemeClr val="tx1"/>
                </a:solidFill>
              </a:rPr>
              <a:t>0</a:t>
            </a:r>
            <a:endParaRPr lang="en-US" sz="1800" dirty="0">
              <a:solidFill>
                <a:schemeClr val="tx1"/>
              </a:solidFill>
            </a:endParaRPr>
          </a:p>
        </p:txBody>
      </p:sp>
      <p:sp>
        <p:nvSpPr>
          <p:cNvPr id="141" name="Rectangle 21" descr=" 141">
            <a:extLst>
              <a:ext uri="{FF2B5EF4-FFF2-40B4-BE49-F238E27FC236}">
                <a16:creationId xmlns:a16="http://schemas.microsoft.com/office/drawing/2014/main" id="{4CE13BBB-1958-4846-83D5-CA02237DD6D1}"/>
              </a:ext>
            </a:extLst>
          </p:cNvPr>
          <p:cNvSpPr>
            <a:spLocks noChangeArrowheads="1"/>
          </p:cNvSpPr>
          <p:nvPr>
            <p:custDataLst>
              <p:tags r:id="rId22"/>
            </p:custDataLst>
          </p:nvPr>
        </p:nvSpPr>
        <p:spPr bwMode="auto">
          <a:xfrm>
            <a:off x="7753163" y="3936566"/>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a:t>
            </a:r>
            <a:r>
              <a:rPr lang="en-US" sz="1500" strike="sngStrike" dirty="0"/>
              <a:t>S</a:t>
            </a:r>
            <a:r>
              <a:rPr lang="en-US" sz="1500" dirty="0"/>
              <a:t> </a:t>
            </a:r>
            <a:r>
              <a:rPr lang="en-US" sz="1500" dirty="0">
                <a:solidFill>
                  <a:schemeClr val="accent2"/>
                </a:solidFill>
              </a:rPr>
              <a:t>I</a:t>
            </a:r>
            <a:r>
              <a:rPr lang="en-US" sz="1500" dirty="0"/>
              <a:t>]</a:t>
            </a:r>
            <a:endParaRPr lang="en-US" sz="1800" dirty="0">
              <a:solidFill>
                <a:schemeClr val="accent2"/>
              </a:solidFill>
            </a:endParaRPr>
          </a:p>
        </p:txBody>
      </p:sp>
      <p:sp>
        <p:nvSpPr>
          <p:cNvPr id="142" name="Oval Callout 58" descr=" 142">
            <a:extLst>
              <a:ext uri="{FF2B5EF4-FFF2-40B4-BE49-F238E27FC236}">
                <a16:creationId xmlns:a16="http://schemas.microsoft.com/office/drawing/2014/main" id="{EBF50C65-39BD-4F1E-A45A-FA04F032D928}"/>
              </a:ext>
            </a:extLst>
          </p:cNvPr>
          <p:cNvSpPr/>
          <p:nvPr>
            <p:custDataLst>
              <p:tags r:id="rId23"/>
            </p:custDataLst>
          </p:nvPr>
        </p:nvSpPr>
        <p:spPr bwMode="auto">
          <a:xfrm>
            <a:off x="8153213" y="3143190"/>
            <a:ext cx="914400" cy="342900"/>
          </a:xfrm>
          <a:prstGeom prst="wedgeEllipseCallout">
            <a:avLst>
              <a:gd name="adj1" fmla="val -44362"/>
              <a:gd name="adj2" fmla="val 50735"/>
            </a:avLst>
          </a:prstGeom>
          <a:solidFill>
            <a:schemeClr val="bg1"/>
          </a:solidFill>
          <a:ln>
            <a:solidFill>
              <a:schemeClr val="tx1"/>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0" tIns="34290" rIns="0" bIns="34290" numCol="1" rtlCol="0" anchor="t" anchorCtr="0" compatLnSpc="1">
            <a:prstTxWarp prst="textNoShape">
              <a:avLst/>
            </a:prstTxWarp>
          </a:bodyPr>
          <a:lstStyle/>
          <a:p>
            <a:pPr algn="ctr" defTabSz="685800" eaLnBrk="0" hangingPunct="0"/>
            <a:r>
              <a:rPr lang="en-US" sz="1200" dirty="0">
                <a:solidFill>
                  <a:schemeClr val="accent2">
                    <a:lumMod val="75000"/>
                  </a:schemeClr>
                </a:solidFill>
              </a:rPr>
              <a:t>Evict A</a:t>
            </a:r>
          </a:p>
        </p:txBody>
      </p:sp>
      <p:sp>
        <p:nvSpPr>
          <p:cNvPr id="34" name="Rectangle 2">
            <a:extLst>
              <a:ext uri="{FF2B5EF4-FFF2-40B4-BE49-F238E27FC236}">
                <a16:creationId xmlns:a16="http://schemas.microsoft.com/office/drawing/2014/main" id="{B390C3D6-0E8E-4578-977E-AD8574E348A8}"/>
              </a:ext>
            </a:extLst>
          </p:cNvPr>
          <p:cNvSpPr>
            <a:spLocks noGrp="1" noChangeArrowheads="1"/>
          </p:cNvSpPr>
          <p:nvPr>
            <p:ph type="title"/>
            <p:custDataLst>
              <p:tags r:id="rId24"/>
            </p:custDataLst>
          </p:nvPr>
        </p:nvSpPr>
        <p:spPr>
          <a:xfrm>
            <a:off x="457200" y="274638"/>
            <a:ext cx="7467600" cy="1143000"/>
          </a:xfrm>
        </p:spPr>
        <p:txBody>
          <a:bodyPr/>
          <a:lstStyle/>
          <a:p>
            <a:pPr eaLnBrk="1" hangingPunct="1"/>
            <a:r>
              <a:rPr lang="en-US" altLang="en-US" dirty="0">
                <a:latin typeface="+mn-lt"/>
              </a:rPr>
              <a:t>MSI Protocol</a:t>
            </a:r>
          </a:p>
        </p:txBody>
      </p:sp>
    </p:spTree>
    <p:custDataLst>
      <p:tags r:id="rId1"/>
    </p:custDataLst>
    <p:extLst>
      <p:ext uri="{BB962C8B-B14F-4D97-AF65-F5344CB8AC3E}">
        <p14:creationId xmlns:p14="http://schemas.microsoft.com/office/powerpoint/2010/main" val="9920208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12" descr=" 26">
            <a:extLst>
              <a:ext uri="{FF2B5EF4-FFF2-40B4-BE49-F238E27FC236}">
                <a16:creationId xmlns:a16="http://schemas.microsoft.com/office/drawing/2014/main" id="{E46CCE21-4679-4321-B866-87424AA794FA}"/>
              </a:ext>
            </a:extLst>
          </p:cNvPr>
          <p:cNvSpPr>
            <a:spLocks noChangeArrowheads="1"/>
          </p:cNvSpPr>
          <p:nvPr>
            <p:custDataLst>
              <p:tags r:id="rId2"/>
            </p:custDataLst>
          </p:nvPr>
        </p:nvSpPr>
        <p:spPr bwMode="auto">
          <a:xfrm rot="18047435">
            <a:off x="260962" y="3674864"/>
            <a:ext cx="1095653" cy="251993"/>
          </a:xfrm>
          <a:prstGeom prst="rect">
            <a:avLst/>
          </a:prstGeom>
          <a:noFill/>
          <a:ln w="12700">
            <a:noFill/>
            <a:prstDash val="sysDot"/>
            <a:miter lim="800000"/>
            <a:headEnd/>
            <a:tailEnd/>
          </a:ln>
        </p:spPr>
        <p:txBody>
          <a:bodyPr wrap="none" lIns="67866" tIns="33338" rIns="67866" bIns="33338">
            <a:spAutoFit/>
          </a:bodyPr>
          <a:lstStyle/>
          <a:p>
            <a:r>
              <a:rPr lang="en-US" sz="1200" b="1" dirty="0">
                <a:solidFill>
                  <a:schemeClr val="accent2">
                    <a:lumMod val="75000"/>
                  </a:schemeClr>
                </a:solidFill>
                <a:latin typeface="+mn-lt"/>
              </a:rPr>
              <a:t>Store / </a:t>
            </a:r>
            <a:r>
              <a:rPr lang="en-US" sz="1200" b="1" dirty="0" err="1">
                <a:solidFill>
                  <a:schemeClr val="accent2">
                    <a:lumMod val="75000"/>
                  </a:schemeClr>
                </a:solidFill>
                <a:latin typeface="+mn-lt"/>
              </a:rPr>
              <a:t>BusRdX</a:t>
            </a:r>
            <a:endParaRPr lang="en-US" sz="1200" b="1" dirty="0">
              <a:solidFill>
                <a:schemeClr val="accent2">
                  <a:lumMod val="75000"/>
                </a:schemeClr>
              </a:solidFill>
              <a:latin typeface="+mn-lt"/>
            </a:endParaRPr>
          </a:p>
        </p:txBody>
      </p:sp>
      <p:sp>
        <p:nvSpPr>
          <p:cNvPr id="27" name="Oval 8" descr=" 27">
            <a:extLst>
              <a:ext uri="{FF2B5EF4-FFF2-40B4-BE49-F238E27FC236}">
                <a16:creationId xmlns:a16="http://schemas.microsoft.com/office/drawing/2014/main" id="{DBBF02CF-CADF-4288-AB07-511F3237F6BC}"/>
              </a:ext>
            </a:extLst>
          </p:cNvPr>
          <p:cNvSpPr>
            <a:spLocks noChangeArrowheads="1"/>
          </p:cNvSpPr>
          <p:nvPr>
            <p:custDataLst>
              <p:tags r:id="rId3"/>
            </p:custDataLst>
          </p:nvPr>
        </p:nvSpPr>
        <p:spPr bwMode="auto">
          <a:xfrm>
            <a:off x="1047747" y="2626659"/>
            <a:ext cx="685800" cy="685800"/>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2100" dirty="0"/>
              <a:t>I</a:t>
            </a:r>
          </a:p>
        </p:txBody>
      </p:sp>
      <p:sp>
        <p:nvSpPr>
          <p:cNvPr id="28" name="Rectangle 19" descr=" 28">
            <a:extLst>
              <a:ext uri="{FF2B5EF4-FFF2-40B4-BE49-F238E27FC236}">
                <a16:creationId xmlns:a16="http://schemas.microsoft.com/office/drawing/2014/main" id="{87F0BF2B-32FF-4F50-BB1F-129F3AB8DB1D}"/>
              </a:ext>
            </a:extLst>
          </p:cNvPr>
          <p:cNvSpPr>
            <a:spLocks noChangeArrowheads="1"/>
          </p:cNvSpPr>
          <p:nvPr>
            <p:custDataLst>
              <p:tags r:id="rId4"/>
            </p:custDataLst>
          </p:nvPr>
        </p:nvSpPr>
        <p:spPr bwMode="auto">
          <a:xfrm>
            <a:off x="2516984" y="2368853"/>
            <a:ext cx="954589"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Load / </a:t>
            </a:r>
            <a:r>
              <a:rPr lang="en-US" sz="1200" dirty="0" err="1">
                <a:latin typeface="+mn-lt"/>
              </a:rPr>
              <a:t>BusRd</a:t>
            </a:r>
            <a:endParaRPr lang="en-US" sz="1200" dirty="0">
              <a:latin typeface="+mn-lt"/>
            </a:endParaRPr>
          </a:p>
        </p:txBody>
      </p:sp>
      <p:sp>
        <p:nvSpPr>
          <p:cNvPr id="29" name="Oval 8" descr=" 29">
            <a:extLst>
              <a:ext uri="{FF2B5EF4-FFF2-40B4-BE49-F238E27FC236}">
                <a16:creationId xmlns:a16="http://schemas.microsoft.com/office/drawing/2014/main" id="{33CDB991-EB3C-4069-8BA9-57A753E2DDD1}"/>
              </a:ext>
            </a:extLst>
          </p:cNvPr>
          <p:cNvSpPr>
            <a:spLocks noChangeArrowheads="1"/>
          </p:cNvSpPr>
          <p:nvPr>
            <p:custDataLst>
              <p:tags r:id="rId5"/>
            </p:custDataLst>
          </p:nvPr>
        </p:nvSpPr>
        <p:spPr bwMode="auto">
          <a:xfrm>
            <a:off x="4362447" y="2626659"/>
            <a:ext cx="685800" cy="685800"/>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2100" dirty="0"/>
              <a:t>S</a:t>
            </a:r>
          </a:p>
        </p:txBody>
      </p:sp>
      <p:sp>
        <p:nvSpPr>
          <p:cNvPr id="30" name="Freeform 32" descr=" 30">
            <a:extLst>
              <a:ext uri="{FF2B5EF4-FFF2-40B4-BE49-F238E27FC236}">
                <a16:creationId xmlns:a16="http://schemas.microsoft.com/office/drawing/2014/main" id="{3A5C55D6-7CC2-4364-8387-68455F042D9A}"/>
              </a:ext>
            </a:extLst>
          </p:cNvPr>
          <p:cNvSpPr/>
          <p:nvPr>
            <p:custDataLst>
              <p:tags r:id="rId6"/>
            </p:custDataLst>
          </p:nvPr>
        </p:nvSpPr>
        <p:spPr bwMode="auto">
          <a:xfrm>
            <a:off x="1733547" y="2619936"/>
            <a:ext cx="2625539" cy="231962"/>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Lst>
            <a:ahLst/>
            <a:cxnLst>
              <a:cxn ang="0">
                <a:pos x="connsiteX0" y="connsiteY0"/>
              </a:cxn>
              <a:cxn ang="0">
                <a:pos x="connsiteX1" y="connsiteY1"/>
              </a:cxn>
              <a:cxn ang="0">
                <a:pos x="connsiteX2" y="connsiteY2"/>
              </a:cxn>
            </a:cxnLst>
            <a:rect l="l" t="t" r="r" b="b"/>
            <a:pathLst>
              <a:path w="3567953" h="309283">
                <a:moveTo>
                  <a:pt x="0" y="309283"/>
                </a:moveTo>
                <a:cubicBezTo>
                  <a:pt x="626035" y="188259"/>
                  <a:pt x="1072776" y="17930"/>
                  <a:pt x="1667435" y="8965"/>
                </a:cubicBezTo>
                <a:cubicBezTo>
                  <a:pt x="2262094" y="0"/>
                  <a:pt x="3004670" y="152400"/>
                  <a:pt x="3567953" y="255494"/>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31" name="Rectangle 19" descr=" 31">
            <a:extLst>
              <a:ext uri="{FF2B5EF4-FFF2-40B4-BE49-F238E27FC236}">
                <a16:creationId xmlns:a16="http://schemas.microsoft.com/office/drawing/2014/main" id="{E02A03AC-54D9-4AF4-9EFC-11A61E811F0E}"/>
              </a:ext>
            </a:extLst>
          </p:cNvPr>
          <p:cNvSpPr>
            <a:spLocks noChangeArrowheads="1"/>
          </p:cNvSpPr>
          <p:nvPr>
            <p:custDataLst>
              <p:tags r:id="rId7"/>
            </p:custDataLst>
          </p:nvPr>
        </p:nvSpPr>
        <p:spPr bwMode="auto">
          <a:xfrm>
            <a:off x="4999636" y="3058716"/>
            <a:ext cx="659636"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Load / --</a:t>
            </a:r>
          </a:p>
        </p:txBody>
      </p:sp>
      <p:sp>
        <p:nvSpPr>
          <p:cNvPr id="32" name="Rectangle 19" descr=" 32">
            <a:extLst>
              <a:ext uri="{FF2B5EF4-FFF2-40B4-BE49-F238E27FC236}">
                <a16:creationId xmlns:a16="http://schemas.microsoft.com/office/drawing/2014/main" id="{00765427-09EC-45D0-9C29-2C799424A5C6}"/>
              </a:ext>
            </a:extLst>
          </p:cNvPr>
          <p:cNvSpPr>
            <a:spLocks noChangeArrowheads="1"/>
          </p:cNvSpPr>
          <p:nvPr>
            <p:custDataLst>
              <p:tags r:id="rId8"/>
            </p:custDataLst>
          </p:nvPr>
        </p:nvSpPr>
        <p:spPr bwMode="auto">
          <a:xfrm>
            <a:off x="4693021" y="2389080"/>
            <a:ext cx="757420" cy="251993"/>
          </a:xfrm>
          <a:prstGeom prst="rect">
            <a:avLst/>
          </a:prstGeom>
          <a:noFill/>
          <a:ln w="12700">
            <a:noFill/>
            <a:prstDash val="sysDot"/>
            <a:miter lim="800000"/>
            <a:headEnd/>
            <a:tailEnd/>
          </a:ln>
        </p:spPr>
        <p:txBody>
          <a:bodyPr wrap="none" lIns="67866" tIns="33338" rIns="67866" bIns="33338">
            <a:spAutoFit/>
          </a:bodyPr>
          <a:lstStyle/>
          <a:p>
            <a:r>
              <a:rPr lang="en-US" sz="1200" dirty="0" err="1">
                <a:latin typeface="+mn-lt"/>
              </a:rPr>
              <a:t>BusRd</a:t>
            </a:r>
            <a:r>
              <a:rPr lang="en-US" sz="1200" dirty="0">
                <a:latin typeface="+mn-lt"/>
              </a:rPr>
              <a:t> / --</a:t>
            </a:r>
          </a:p>
        </p:txBody>
      </p:sp>
      <p:sp>
        <p:nvSpPr>
          <p:cNvPr id="33" name="Arc 9" descr=" 33">
            <a:extLst>
              <a:ext uri="{FF2B5EF4-FFF2-40B4-BE49-F238E27FC236}">
                <a16:creationId xmlns:a16="http://schemas.microsoft.com/office/drawing/2014/main" id="{B8331003-EF3D-49AA-A122-A5EBAA12E235}"/>
              </a:ext>
            </a:extLst>
          </p:cNvPr>
          <p:cNvSpPr>
            <a:spLocks/>
          </p:cNvSpPr>
          <p:nvPr>
            <p:custDataLst>
              <p:tags r:id="rId9"/>
            </p:custDataLst>
          </p:nvPr>
        </p:nvSpPr>
        <p:spPr bwMode="auto">
          <a:xfrm rot="8454697">
            <a:off x="5048821" y="2639011"/>
            <a:ext cx="472328" cy="415302"/>
          </a:xfrm>
          <a:custGeom>
            <a:avLst/>
            <a:gdLst>
              <a:gd name="T0" fmla="*/ 505 w 43200"/>
              <a:gd name="T1" fmla="*/ 474 h 43200"/>
              <a:gd name="T2" fmla="*/ 599 w 43200"/>
              <a:gd name="T3" fmla="*/ 328 h 43200"/>
              <a:gd name="T4" fmla="*/ 303 w 43200"/>
              <a:gd name="T5" fmla="*/ 272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path>
              <a:path w="43200" h="43200" stroke="0"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lnTo>
                  <a:pt x="21600" y="21600"/>
                </a:lnTo>
                <a:close/>
              </a:path>
            </a:pathLst>
          </a:custGeom>
          <a:noFill/>
          <a:ln w="12700" cap="rnd">
            <a:solidFill>
              <a:schemeClr val="tx1"/>
            </a:solidFill>
            <a:round/>
            <a:headEnd/>
            <a:tailEnd type="triangle" w="med" len="med"/>
          </a:ln>
        </p:spPr>
        <p:txBody>
          <a:bodyPr wrap="none" anchor="ctr"/>
          <a:lstStyle/>
          <a:p>
            <a:endParaRPr lang="en-US" sz="1200" dirty="0">
              <a:latin typeface="+mn-lt"/>
            </a:endParaRPr>
          </a:p>
        </p:txBody>
      </p:sp>
      <p:sp>
        <p:nvSpPr>
          <p:cNvPr id="34" name="Oval 8" descr=" 34">
            <a:extLst>
              <a:ext uri="{FF2B5EF4-FFF2-40B4-BE49-F238E27FC236}">
                <a16:creationId xmlns:a16="http://schemas.microsoft.com/office/drawing/2014/main" id="{6D6F9712-1D17-4F59-A56D-69B6F5C8D760}"/>
              </a:ext>
            </a:extLst>
          </p:cNvPr>
          <p:cNvSpPr>
            <a:spLocks noChangeArrowheads="1"/>
          </p:cNvSpPr>
          <p:nvPr>
            <p:custDataLst>
              <p:tags r:id="rId10"/>
            </p:custDataLst>
          </p:nvPr>
        </p:nvSpPr>
        <p:spPr bwMode="auto">
          <a:xfrm>
            <a:off x="1104897" y="5026959"/>
            <a:ext cx="685800" cy="685800"/>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2100" dirty="0"/>
              <a:t>M</a:t>
            </a:r>
          </a:p>
        </p:txBody>
      </p:sp>
      <p:sp>
        <p:nvSpPr>
          <p:cNvPr id="35" name="Freeform 38" descr=" 35">
            <a:extLst>
              <a:ext uri="{FF2B5EF4-FFF2-40B4-BE49-F238E27FC236}">
                <a16:creationId xmlns:a16="http://schemas.microsoft.com/office/drawing/2014/main" id="{6498D179-63E5-478F-863E-7F646837C369}"/>
              </a:ext>
            </a:extLst>
          </p:cNvPr>
          <p:cNvSpPr/>
          <p:nvPr>
            <p:custDataLst>
              <p:tags r:id="rId11"/>
            </p:custDataLst>
          </p:nvPr>
        </p:nvSpPr>
        <p:spPr bwMode="auto">
          <a:xfrm rot="16035852" flipH="1">
            <a:off x="291114" y="4057237"/>
            <a:ext cx="1712399" cy="231962"/>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Lst>
            <a:ahLst/>
            <a:cxnLst>
              <a:cxn ang="0">
                <a:pos x="connsiteX0" y="connsiteY0"/>
              </a:cxn>
              <a:cxn ang="0">
                <a:pos x="connsiteX1" y="connsiteY1"/>
              </a:cxn>
              <a:cxn ang="0">
                <a:pos x="connsiteX2" y="connsiteY2"/>
              </a:cxn>
            </a:cxnLst>
            <a:rect l="l" t="t" r="r" b="b"/>
            <a:pathLst>
              <a:path w="3567953" h="309283">
                <a:moveTo>
                  <a:pt x="0" y="309283"/>
                </a:moveTo>
                <a:cubicBezTo>
                  <a:pt x="626035" y="188259"/>
                  <a:pt x="1072776" y="17930"/>
                  <a:pt x="1667435" y="8965"/>
                </a:cubicBezTo>
                <a:cubicBezTo>
                  <a:pt x="2262094" y="0"/>
                  <a:pt x="3004670" y="152400"/>
                  <a:pt x="3567953" y="255494"/>
                </a:cubicBezTo>
              </a:path>
            </a:pathLst>
          </a:custGeom>
          <a:noFill/>
          <a:ln w="9525" cap="flat" cmpd="sng" algn="ctr">
            <a:solidFill>
              <a:schemeClr val="accent2">
                <a:lumMod val="75000"/>
              </a:schemeClr>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38" name="Freeform 41" descr=" 38">
            <a:extLst>
              <a:ext uri="{FF2B5EF4-FFF2-40B4-BE49-F238E27FC236}">
                <a16:creationId xmlns:a16="http://schemas.microsoft.com/office/drawing/2014/main" id="{D098FEF2-4FC8-4CE2-9E3A-88561280BDA4}"/>
              </a:ext>
            </a:extLst>
          </p:cNvPr>
          <p:cNvSpPr/>
          <p:nvPr>
            <p:custDataLst>
              <p:tags r:id="rId12"/>
            </p:custDataLst>
          </p:nvPr>
        </p:nvSpPr>
        <p:spPr bwMode="auto">
          <a:xfrm rot="10800000">
            <a:off x="1733547" y="3023347"/>
            <a:ext cx="2625539" cy="231962"/>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Lst>
            <a:ahLst/>
            <a:cxnLst>
              <a:cxn ang="0">
                <a:pos x="connsiteX0" y="connsiteY0"/>
              </a:cxn>
              <a:cxn ang="0">
                <a:pos x="connsiteX1" y="connsiteY1"/>
              </a:cxn>
              <a:cxn ang="0">
                <a:pos x="connsiteX2" y="connsiteY2"/>
              </a:cxn>
            </a:cxnLst>
            <a:rect l="l" t="t" r="r" b="b"/>
            <a:pathLst>
              <a:path w="3567953" h="309283">
                <a:moveTo>
                  <a:pt x="0" y="309283"/>
                </a:moveTo>
                <a:cubicBezTo>
                  <a:pt x="626035" y="188259"/>
                  <a:pt x="1072776" y="17930"/>
                  <a:pt x="1667435" y="8965"/>
                </a:cubicBezTo>
                <a:cubicBezTo>
                  <a:pt x="2262094" y="0"/>
                  <a:pt x="3004670" y="152400"/>
                  <a:pt x="3567953" y="255494"/>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39" name="Rectangle 19" descr=" 39">
            <a:extLst>
              <a:ext uri="{FF2B5EF4-FFF2-40B4-BE49-F238E27FC236}">
                <a16:creationId xmlns:a16="http://schemas.microsoft.com/office/drawing/2014/main" id="{B00B0C59-2DF1-4525-AB77-50EAEF06353E}"/>
              </a:ext>
            </a:extLst>
          </p:cNvPr>
          <p:cNvSpPr>
            <a:spLocks noChangeArrowheads="1"/>
          </p:cNvSpPr>
          <p:nvPr>
            <p:custDataLst>
              <p:tags r:id="rId13"/>
            </p:custDataLst>
          </p:nvPr>
        </p:nvSpPr>
        <p:spPr bwMode="auto">
          <a:xfrm>
            <a:off x="2668468" y="3242900"/>
            <a:ext cx="652840"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Evict / --</a:t>
            </a:r>
          </a:p>
        </p:txBody>
      </p:sp>
      <p:sp>
        <p:nvSpPr>
          <p:cNvPr id="44" name="Arc 9" descr=" 44">
            <a:extLst>
              <a:ext uri="{FF2B5EF4-FFF2-40B4-BE49-F238E27FC236}">
                <a16:creationId xmlns:a16="http://schemas.microsoft.com/office/drawing/2014/main" id="{2A8038E9-C8FF-42F8-8033-41AA97E52CF5}"/>
              </a:ext>
            </a:extLst>
          </p:cNvPr>
          <p:cNvSpPr>
            <a:spLocks/>
          </p:cNvSpPr>
          <p:nvPr>
            <p:custDataLst>
              <p:tags r:id="rId14"/>
            </p:custDataLst>
          </p:nvPr>
        </p:nvSpPr>
        <p:spPr bwMode="auto">
          <a:xfrm rot="18257111">
            <a:off x="680281" y="5417159"/>
            <a:ext cx="472328" cy="415302"/>
          </a:xfrm>
          <a:custGeom>
            <a:avLst/>
            <a:gdLst>
              <a:gd name="T0" fmla="*/ 505 w 43200"/>
              <a:gd name="T1" fmla="*/ 474 h 43200"/>
              <a:gd name="T2" fmla="*/ 599 w 43200"/>
              <a:gd name="T3" fmla="*/ 328 h 43200"/>
              <a:gd name="T4" fmla="*/ 303 w 43200"/>
              <a:gd name="T5" fmla="*/ 272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path>
              <a:path w="43200" h="43200" stroke="0"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lnTo>
                  <a:pt x="21600" y="21600"/>
                </a:lnTo>
                <a:close/>
              </a:path>
            </a:pathLst>
          </a:custGeom>
          <a:noFill/>
          <a:ln w="12700" cap="rnd">
            <a:solidFill>
              <a:schemeClr val="accent2">
                <a:lumMod val="75000"/>
              </a:schemeClr>
            </a:solidFill>
            <a:round/>
            <a:headEnd/>
            <a:tailEnd type="triangle" w="med" len="med"/>
          </a:ln>
        </p:spPr>
        <p:txBody>
          <a:bodyPr wrap="none" anchor="ctr"/>
          <a:lstStyle/>
          <a:p>
            <a:endParaRPr lang="en-US" sz="1200" dirty="0">
              <a:latin typeface="+mn-lt"/>
            </a:endParaRPr>
          </a:p>
        </p:txBody>
      </p:sp>
      <p:sp>
        <p:nvSpPr>
          <p:cNvPr id="45" name="Rectangle 19" descr=" 45">
            <a:extLst>
              <a:ext uri="{FF2B5EF4-FFF2-40B4-BE49-F238E27FC236}">
                <a16:creationId xmlns:a16="http://schemas.microsoft.com/office/drawing/2014/main" id="{F508D25A-8129-4ED3-8FE8-9499070B58F1}"/>
              </a:ext>
            </a:extLst>
          </p:cNvPr>
          <p:cNvSpPr>
            <a:spLocks noChangeArrowheads="1"/>
          </p:cNvSpPr>
          <p:nvPr>
            <p:custDataLst>
              <p:tags r:id="rId15"/>
            </p:custDataLst>
          </p:nvPr>
        </p:nvSpPr>
        <p:spPr bwMode="auto">
          <a:xfrm>
            <a:off x="36242" y="5173266"/>
            <a:ext cx="1086035" cy="251993"/>
          </a:xfrm>
          <a:prstGeom prst="rect">
            <a:avLst/>
          </a:prstGeom>
          <a:noFill/>
          <a:ln w="12700">
            <a:noFill/>
            <a:prstDash val="sysDot"/>
            <a:miter lim="800000"/>
            <a:headEnd/>
            <a:tailEnd/>
          </a:ln>
        </p:spPr>
        <p:txBody>
          <a:bodyPr wrap="none" lIns="67866" tIns="33338" rIns="67866" bIns="33338">
            <a:spAutoFit/>
          </a:bodyPr>
          <a:lstStyle/>
          <a:p>
            <a:r>
              <a:rPr lang="en-US" sz="1200" b="1" dirty="0">
                <a:solidFill>
                  <a:schemeClr val="accent2">
                    <a:lumMod val="75000"/>
                  </a:schemeClr>
                </a:solidFill>
                <a:latin typeface="+mn-lt"/>
              </a:rPr>
              <a:t>Load, Store / --</a:t>
            </a:r>
          </a:p>
        </p:txBody>
      </p:sp>
      <p:sp>
        <p:nvSpPr>
          <p:cNvPr id="47" name="Rectangle 19" descr=" 47">
            <a:extLst>
              <a:ext uri="{FF2B5EF4-FFF2-40B4-BE49-F238E27FC236}">
                <a16:creationId xmlns:a16="http://schemas.microsoft.com/office/drawing/2014/main" id="{D95610DD-8D45-4A27-8FF0-2CCF5F65929B}"/>
              </a:ext>
            </a:extLst>
          </p:cNvPr>
          <p:cNvSpPr>
            <a:spLocks noChangeArrowheads="1"/>
          </p:cNvSpPr>
          <p:nvPr>
            <p:custDataLst>
              <p:tags r:id="rId16"/>
            </p:custDataLst>
          </p:nvPr>
        </p:nvSpPr>
        <p:spPr bwMode="auto">
          <a:xfrm>
            <a:off x="2419347" y="2917592"/>
            <a:ext cx="861615" cy="251993"/>
          </a:xfrm>
          <a:prstGeom prst="rect">
            <a:avLst/>
          </a:prstGeom>
          <a:noFill/>
          <a:ln w="12700">
            <a:noFill/>
            <a:prstDash val="sysDot"/>
            <a:miter lim="800000"/>
            <a:headEnd/>
            <a:tailEnd/>
          </a:ln>
        </p:spPr>
        <p:txBody>
          <a:bodyPr wrap="none" lIns="67866" tIns="33338" rIns="67866" bIns="33338">
            <a:spAutoFit/>
          </a:bodyPr>
          <a:lstStyle/>
          <a:p>
            <a:r>
              <a:rPr lang="en-US" sz="1200" b="1" dirty="0" err="1">
                <a:solidFill>
                  <a:schemeClr val="accent2">
                    <a:lumMod val="75000"/>
                  </a:schemeClr>
                </a:solidFill>
                <a:latin typeface="+mn-lt"/>
              </a:rPr>
              <a:t>BusRdX</a:t>
            </a:r>
            <a:r>
              <a:rPr lang="en-US" sz="1200" b="1" dirty="0">
                <a:solidFill>
                  <a:schemeClr val="accent2">
                    <a:lumMod val="75000"/>
                  </a:schemeClr>
                </a:solidFill>
                <a:latin typeface="+mn-lt"/>
              </a:rPr>
              <a:t> / --</a:t>
            </a:r>
          </a:p>
        </p:txBody>
      </p:sp>
      <p:sp>
        <p:nvSpPr>
          <p:cNvPr id="113" name="Rectangle 21" descr=" 113">
            <a:extLst>
              <a:ext uri="{FF2B5EF4-FFF2-40B4-BE49-F238E27FC236}">
                <a16:creationId xmlns:a16="http://schemas.microsoft.com/office/drawing/2014/main" id="{4BDE5F17-E9EE-4EC7-B9B6-51A525457EB0}"/>
              </a:ext>
            </a:extLst>
          </p:cNvPr>
          <p:cNvSpPr>
            <a:spLocks noChangeArrowheads="1"/>
          </p:cNvSpPr>
          <p:nvPr>
            <p:custDataLst>
              <p:tags r:id="rId17"/>
            </p:custDataLst>
          </p:nvPr>
        </p:nvSpPr>
        <p:spPr bwMode="auto">
          <a:xfrm>
            <a:off x="6667501" y="3942792"/>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[S]: 0</a:t>
            </a:r>
            <a:endParaRPr lang="en-US" sz="1800" dirty="0"/>
          </a:p>
        </p:txBody>
      </p:sp>
      <p:sp>
        <p:nvSpPr>
          <p:cNvPr id="114" name="Rectangle 4" descr=" 114">
            <a:extLst>
              <a:ext uri="{FF2B5EF4-FFF2-40B4-BE49-F238E27FC236}">
                <a16:creationId xmlns:a16="http://schemas.microsoft.com/office/drawing/2014/main" id="{FF66CC71-3EA5-471E-B0B1-1B8FA8774F9E}"/>
              </a:ext>
            </a:extLst>
          </p:cNvPr>
          <p:cNvSpPr>
            <a:spLocks noChangeArrowheads="1"/>
          </p:cNvSpPr>
          <p:nvPr>
            <p:custDataLst>
              <p:tags r:id="rId18"/>
            </p:custDataLst>
          </p:nvPr>
        </p:nvSpPr>
        <p:spPr bwMode="auto">
          <a:xfrm>
            <a:off x="6953251" y="4514292"/>
            <a:ext cx="1373463"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Bus</a:t>
            </a:r>
          </a:p>
        </p:txBody>
      </p:sp>
      <p:cxnSp>
        <p:nvCxnSpPr>
          <p:cNvPr id="115" name="AutoShape 17" descr=" 115">
            <a:extLst>
              <a:ext uri="{FF2B5EF4-FFF2-40B4-BE49-F238E27FC236}">
                <a16:creationId xmlns:a16="http://schemas.microsoft.com/office/drawing/2014/main" id="{77F55F0B-2B16-4020-B3DD-EAC66333AA6B}"/>
              </a:ext>
            </a:extLst>
          </p:cNvPr>
          <p:cNvCxnSpPr>
            <a:cxnSpLocks noChangeShapeType="1"/>
          </p:cNvCxnSpPr>
          <p:nvPr>
            <p:custDataLst>
              <p:tags r:id="rId19"/>
            </p:custDataLst>
          </p:nvPr>
        </p:nvCxnSpPr>
        <p:spPr bwMode="auto">
          <a:xfrm rot="5400000">
            <a:off x="8124826" y="3857067"/>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116" name="Line 10" descr=" 116">
            <a:extLst>
              <a:ext uri="{FF2B5EF4-FFF2-40B4-BE49-F238E27FC236}">
                <a16:creationId xmlns:a16="http://schemas.microsoft.com/office/drawing/2014/main" id="{84986B65-8615-4460-B040-BFABAE4B1123}"/>
              </a:ext>
            </a:extLst>
          </p:cNvPr>
          <p:cNvSpPr>
            <a:spLocks noChangeShapeType="1"/>
          </p:cNvSpPr>
          <p:nvPr>
            <p:custDataLst>
              <p:tags r:id="rId20"/>
            </p:custDataLst>
          </p:nvPr>
        </p:nvSpPr>
        <p:spPr bwMode="auto">
          <a:xfrm>
            <a:off x="8210551" y="4224971"/>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cxnSp>
        <p:nvCxnSpPr>
          <p:cNvPr id="117" name="Straight Arrow Connector 116" descr=" 117">
            <a:extLst>
              <a:ext uri="{FF2B5EF4-FFF2-40B4-BE49-F238E27FC236}">
                <a16:creationId xmlns:a16="http://schemas.microsoft.com/office/drawing/2014/main" id="{7338C636-448F-4FA7-AE7B-5985FA86DEF6}"/>
              </a:ext>
            </a:extLst>
          </p:cNvPr>
          <p:cNvCxnSpPr>
            <a:stCxn id="114" idx="2"/>
            <a:endCxn id="119" idx="0"/>
          </p:cNvCxnSpPr>
          <p:nvPr/>
        </p:nvCxnSpPr>
        <p:spPr bwMode="auto">
          <a:xfrm rot="16200000" flipH="1">
            <a:off x="7525682" y="4910770"/>
            <a:ext cx="228600" cy="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18" name="Rectangle 21" descr=" 118">
            <a:extLst>
              <a:ext uri="{FF2B5EF4-FFF2-40B4-BE49-F238E27FC236}">
                <a16:creationId xmlns:a16="http://schemas.microsoft.com/office/drawing/2014/main" id="{970C0433-2D83-4AA9-B408-3B901478F955}"/>
              </a:ext>
            </a:extLst>
          </p:cNvPr>
          <p:cNvSpPr>
            <a:spLocks noChangeArrowheads="1"/>
          </p:cNvSpPr>
          <p:nvPr>
            <p:custDataLst>
              <p:tags r:id="rId21"/>
            </p:custDataLst>
          </p:nvPr>
        </p:nvSpPr>
        <p:spPr bwMode="auto">
          <a:xfrm>
            <a:off x="7753351" y="3942792"/>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[I]</a:t>
            </a:r>
            <a:endParaRPr lang="en-US" sz="1800" dirty="0"/>
          </a:p>
        </p:txBody>
      </p:sp>
      <p:sp>
        <p:nvSpPr>
          <p:cNvPr id="119" name="Rectangle 21" descr=" 119">
            <a:extLst>
              <a:ext uri="{FF2B5EF4-FFF2-40B4-BE49-F238E27FC236}">
                <a16:creationId xmlns:a16="http://schemas.microsoft.com/office/drawing/2014/main" id="{2B906EFF-B39F-4E57-AC3A-6740AEFE8628}"/>
              </a:ext>
            </a:extLst>
          </p:cNvPr>
          <p:cNvSpPr>
            <a:spLocks noChangeArrowheads="1"/>
          </p:cNvSpPr>
          <p:nvPr>
            <p:custDataLst>
              <p:tags r:id="rId22"/>
            </p:custDataLst>
          </p:nvPr>
        </p:nvSpPr>
        <p:spPr bwMode="auto">
          <a:xfrm>
            <a:off x="7197106" y="5025070"/>
            <a:ext cx="885754"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0</a:t>
            </a:r>
            <a:endParaRPr lang="en-US" sz="1800" dirty="0">
              <a:solidFill>
                <a:srgbClr val="C00000"/>
              </a:solidFill>
            </a:endParaRPr>
          </a:p>
        </p:txBody>
      </p:sp>
      <p:sp>
        <p:nvSpPr>
          <p:cNvPr id="120" name="Rectangle 6" descr=" 120">
            <a:extLst>
              <a:ext uri="{FF2B5EF4-FFF2-40B4-BE49-F238E27FC236}">
                <a16:creationId xmlns:a16="http://schemas.microsoft.com/office/drawing/2014/main" id="{D1FB12C2-B40B-4BC1-B273-BFAD20553DAA}"/>
              </a:ext>
            </a:extLst>
          </p:cNvPr>
          <p:cNvSpPr>
            <a:spLocks noChangeArrowheads="1"/>
          </p:cNvSpPr>
          <p:nvPr>
            <p:custDataLst>
              <p:tags r:id="rId23"/>
            </p:custDataLst>
          </p:nvPr>
        </p:nvSpPr>
        <p:spPr bwMode="auto">
          <a:xfrm>
            <a:off x="8016502" y="3485592"/>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P2</a:t>
            </a:r>
          </a:p>
        </p:txBody>
      </p:sp>
      <p:cxnSp>
        <p:nvCxnSpPr>
          <p:cNvPr id="121" name="AutoShape 17" descr=" 121">
            <a:extLst>
              <a:ext uri="{FF2B5EF4-FFF2-40B4-BE49-F238E27FC236}">
                <a16:creationId xmlns:a16="http://schemas.microsoft.com/office/drawing/2014/main" id="{C8E5267D-AE98-4D50-A435-6C1E61BA55E1}"/>
              </a:ext>
            </a:extLst>
          </p:cNvPr>
          <p:cNvCxnSpPr>
            <a:cxnSpLocks noChangeShapeType="1"/>
          </p:cNvCxnSpPr>
          <p:nvPr>
            <p:custDataLst>
              <p:tags r:id="rId24"/>
            </p:custDataLst>
          </p:nvPr>
        </p:nvCxnSpPr>
        <p:spPr bwMode="auto">
          <a:xfrm rot="5400000">
            <a:off x="7038976" y="3857067"/>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122" name="Line 10" descr=" 122">
            <a:extLst>
              <a:ext uri="{FF2B5EF4-FFF2-40B4-BE49-F238E27FC236}">
                <a16:creationId xmlns:a16="http://schemas.microsoft.com/office/drawing/2014/main" id="{A4CC6419-A127-40D0-8906-B38A9102F659}"/>
              </a:ext>
            </a:extLst>
          </p:cNvPr>
          <p:cNvSpPr>
            <a:spLocks noChangeShapeType="1"/>
          </p:cNvSpPr>
          <p:nvPr>
            <p:custDataLst>
              <p:tags r:id="rId25"/>
            </p:custDataLst>
          </p:nvPr>
        </p:nvSpPr>
        <p:spPr bwMode="auto">
          <a:xfrm>
            <a:off x="7124701" y="4224971"/>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sp>
        <p:nvSpPr>
          <p:cNvPr id="41" name="Rectangle 21" descr=" 123">
            <a:extLst>
              <a:ext uri="{FF2B5EF4-FFF2-40B4-BE49-F238E27FC236}">
                <a16:creationId xmlns:a16="http://schemas.microsoft.com/office/drawing/2014/main" id="{28FA124E-6C81-4933-9507-B7F846853C47}"/>
              </a:ext>
            </a:extLst>
          </p:cNvPr>
          <p:cNvSpPr>
            <a:spLocks noChangeArrowheads="1"/>
          </p:cNvSpPr>
          <p:nvPr>
            <p:custDataLst>
              <p:tags r:id="rId26"/>
            </p:custDataLst>
          </p:nvPr>
        </p:nvSpPr>
        <p:spPr bwMode="auto">
          <a:xfrm>
            <a:off x="6667501" y="3942792"/>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a:t>
            </a:r>
            <a:r>
              <a:rPr lang="en-US" sz="1500" strike="sngStrike" dirty="0"/>
              <a:t>S</a:t>
            </a:r>
            <a:r>
              <a:rPr lang="en-US" sz="1500" dirty="0"/>
              <a:t> </a:t>
            </a:r>
            <a:r>
              <a:rPr lang="en-US" sz="1500" dirty="0">
                <a:solidFill>
                  <a:schemeClr val="accent2"/>
                </a:solidFill>
              </a:rPr>
              <a:t>I</a:t>
            </a:r>
            <a:r>
              <a:rPr lang="en-US" sz="1500" dirty="0"/>
              <a:t>]: </a:t>
            </a:r>
            <a:r>
              <a:rPr lang="en-US" sz="1500" strike="sngStrike" dirty="0"/>
              <a:t>0</a:t>
            </a:r>
            <a:endParaRPr lang="en-US" sz="1800" strike="sngStrike" dirty="0"/>
          </a:p>
        </p:txBody>
      </p:sp>
      <p:sp>
        <p:nvSpPr>
          <p:cNvPr id="124" name="Rectangle 6" descr=" 124">
            <a:extLst>
              <a:ext uri="{FF2B5EF4-FFF2-40B4-BE49-F238E27FC236}">
                <a16:creationId xmlns:a16="http://schemas.microsoft.com/office/drawing/2014/main" id="{A2C74BA3-84CD-47A7-9FF1-832DED323369}"/>
              </a:ext>
            </a:extLst>
          </p:cNvPr>
          <p:cNvSpPr>
            <a:spLocks noChangeArrowheads="1"/>
          </p:cNvSpPr>
          <p:nvPr>
            <p:custDataLst>
              <p:tags r:id="rId27"/>
            </p:custDataLst>
          </p:nvPr>
        </p:nvSpPr>
        <p:spPr bwMode="auto">
          <a:xfrm>
            <a:off x="6930652" y="3485592"/>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P1</a:t>
            </a:r>
          </a:p>
        </p:txBody>
      </p:sp>
      <p:sp>
        <p:nvSpPr>
          <p:cNvPr id="36" name="Oval Callout 54" descr=" 125">
            <a:extLst>
              <a:ext uri="{FF2B5EF4-FFF2-40B4-BE49-F238E27FC236}">
                <a16:creationId xmlns:a16="http://schemas.microsoft.com/office/drawing/2014/main" id="{C679DF50-C4E3-4EF4-B4F7-55844BBFF225}"/>
              </a:ext>
            </a:extLst>
          </p:cNvPr>
          <p:cNvSpPr/>
          <p:nvPr>
            <p:custDataLst>
              <p:tags r:id="rId28"/>
            </p:custDataLst>
          </p:nvPr>
        </p:nvSpPr>
        <p:spPr bwMode="auto">
          <a:xfrm>
            <a:off x="8153401" y="3142692"/>
            <a:ext cx="914400" cy="342900"/>
          </a:xfrm>
          <a:prstGeom prst="wedgeEllipseCallout">
            <a:avLst>
              <a:gd name="adj1" fmla="val -44362"/>
              <a:gd name="adj2" fmla="val 50735"/>
            </a:avLst>
          </a:prstGeom>
          <a:solidFill>
            <a:schemeClr val="bg1"/>
          </a:solidFill>
          <a:ln>
            <a:solidFill>
              <a:schemeClr val="tx1"/>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0" tIns="34290" rIns="0" bIns="34290" numCol="1" rtlCol="0" anchor="t" anchorCtr="0" compatLnSpc="1">
            <a:prstTxWarp prst="textNoShape">
              <a:avLst/>
            </a:prstTxWarp>
          </a:bodyPr>
          <a:lstStyle/>
          <a:p>
            <a:pPr algn="ctr" defTabSz="685800" eaLnBrk="0" hangingPunct="0"/>
            <a:r>
              <a:rPr lang="en-US" sz="1200" dirty="0">
                <a:solidFill>
                  <a:schemeClr val="accent2">
                    <a:lumMod val="75000"/>
                  </a:schemeClr>
                </a:solidFill>
              </a:rPr>
              <a:t>1: Store A</a:t>
            </a:r>
          </a:p>
        </p:txBody>
      </p:sp>
      <p:sp>
        <p:nvSpPr>
          <p:cNvPr id="42" name="Rectangle 21" descr=" 128">
            <a:extLst>
              <a:ext uri="{FF2B5EF4-FFF2-40B4-BE49-F238E27FC236}">
                <a16:creationId xmlns:a16="http://schemas.microsoft.com/office/drawing/2014/main" id="{942E49A8-943A-4531-82DC-AE5607EE9396}"/>
              </a:ext>
            </a:extLst>
          </p:cNvPr>
          <p:cNvSpPr>
            <a:spLocks noChangeArrowheads="1"/>
          </p:cNvSpPr>
          <p:nvPr>
            <p:custDataLst>
              <p:tags r:id="rId29"/>
            </p:custDataLst>
          </p:nvPr>
        </p:nvSpPr>
        <p:spPr bwMode="auto">
          <a:xfrm>
            <a:off x="7753351" y="3942792"/>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a:t>
            </a:r>
            <a:r>
              <a:rPr lang="en-US" sz="1500" strike="sngStrike" dirty="0"/>
              <a:t>I</a:t>
            </a:r>
            <a:r>
              <a:rPr lang="en-US" sz="1500" dirty="0"/>
              <a:t> </a:t>
            </a:r>
            <a:r>
              <a:rPr lang="en-US" sz="1500" dirty="0">
                <a:solidFill>
                  <a:schemeClr val="accent2"/>
                </a:solidFill>
              </a:rPr>
              <a:t>M</a:t>
            </a:r>
            <a:r>
              <a:rPr lang="en-US" sz="1500" dirty="0"/>
              <a:t>]: </a:t>
            </a:r>
            <a:r>
              <a:rPr lang="en-US" sz="1500" strike="sngStrike" dirty="0"/>
              <a:t>0</a:t>
            </a:r>
            <a:r>
              <a:rPr lang="en-US" sz="1500" dirty="0"/>
              <a:t> </a:t>
            </a:r>
            <a:r>
              <a:rPr lang="en-US" sz="1500" dirty="0">
                <a:solidFill>
                  <a:schemeClr val="accent2"/>
                </a:solidFill>
              </a:rPr>
              <a:t>1</a:t>
            </a:r>
            <a:endParaRPr lang="en-US" sz="1800" dirty="0">
              <a:solidFill>
                <a:schemeClr val="accent2"/>
              </a:solidFill>
            </a:endParaRPr>
          </a:p>
        </p:txBody>
      </p:sp>
      <p:sp>
        <p:nvSpPr>
          <p:cNvPr id="43" name="Oval Callout 55" descr=" 126">
            <a:extLst>
              <a:ext uri="{FF2B5EF4-FFF2-40B4-BE49-F238E27FC236}">
                <a16:creationId xmlns:a16="http://schemas.microsoft.com/office/drawing/2014/main" id="{1F7075C1-348E-48D8-84D7-B0B36933963A}"/>
              </a:ext>
            </a:extLst>
          </p:cNvPr>
          <p:cNvSpPr/>
          <p:nvPr>
            <p:custDataLst>
              <p:tags r:id="rId30"/>
            </p:custDataLst>
          </p:nvPr>
        </p:nvSpPr>
        <p:spPr bwMode="auto">
          <a:xfrm>
            <a:off x="7981951" y="4228542"/>
            <a:ext cx="1085850" cy="342900"/>
          </a:xfrm>
          <a:prstGeom prst="wedgeEllipseCallout">
            <a:avLst>
              <a:gd name="adj1" fmla="val -61952"/>
              <a:gd name="adj2" fmla="val 37010"/>
            </a:avLst>
          </a:prstGeom>
          <a:solidFill>
            <a:schemeClr val="bg1"/>
          </a:solidFill>
          <a:ln>
            <a:solidFill>
              <a:schemeClr val="tx1"/>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0" tIns="34290" rIns="0" bIns="34290" numCol="1" rtlCol="0" anchor="t" anchorCtr="0" compatLnSpc="1">
            <a:prstTxWarp prst="textNoShape">
              <a:avLst/>
            </a:prstTxWarp>
          </a:bodyPr>
          <a:lstStyle/>
          <a:p>
            <a:pPr algn="ctr" defTabSz="685800" eaLnBrk="0" hangingPunct="0"/>
            <a:r>
              <a:rPr lang="en-US" sz="1200" dirty="0">
                <a:solidFill>
                  <a:schemeClr val="accent2">
                    <a:lumMod val="75000"/>
                  </a:schemeClr>
                </a:solidFill>
              </a:rPr>
              <a:t>2: </a:t>
            </a:r>
            <a:r>
              <a:rPr lang="en-US" sz="1200" dirty="0" err="1">
                <a:solidFill>
                  <a:schemeClr val="accent2">
                    <a:lumMod val="75000"/>
                  </a:schemeClr>
                </a:solidFill>
              </a:rPr>
              <a:t>BusRdX</a:t>
            </a:r>
            <a:r>
              <a:rPr lang="en-US" sz="1200" dirty="0">
                <a:solidFill>
                  <a:schemeClr val="accent2">
                    <a:lumMod val="75000"/>
                  </a:schemeClr>
                </a:solidFill>
              </a:rPr>
              <a:t> A</a:t>
            </a:r>
          </a:p>
        </p:txBody>
      </p:sp>
      <p:sp>
        <p:nvSpPr>
          <p:cNvPr id="46" name="Oval Callout 56" descr=" 127">
            <a:extLst>
              <a:ext uri="{FF2B5EF4-FFF2-40B4-BE49-F238E27FC236}">
                <a16:creationId xmlns:a16="http://schemas.microsoft.com/office/drawing/2014/main" id="{17E49E2A-60AA-454F-BD89-09E043F8E49B}"/>
              </a:ext>
            </a:extLst>
          </p:cNvPr>
          <p:cNvSpPr/>
          <p:nvPr>
            <p:custDataLst>
              <p:tags r:id="rId31"/>
            </p:custDataLst>
          </p:nvPr>
        </p:nvSpPr>
        <p:spPr bwMode="auto">
          <a:xfrm>
            <a:off x="5939806" y="5198409"/>
            <a:ext cx="1257300" cy="342900"/>
          </a:xfrm>
          <a:prstGeom prst="wedgeEllipseCallout">
            <a:avLst>
              <a:gd name="adj1" fmla="val 56796"/>
              <a:gd name="adj2" fmla="val -74755"/>
            </a:avLst>
          </a:prstGeom>
          <a:solidFill>
            <a:schemeClr val="bg1"/>
          </a:solidFill>
          <a:ln>
            <a:solidFill>
              <a:schemeClr val="tx1"/>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0" tIns="34290" rIns="0" bIns="34290" numCol="1" rtlCol="0" anchor="t" anchorCtr="0" compatLnSpc="1">
            <a:prstTxWarp prst="textNoShape">
              <a:avLst/>
            </a:prstTxWarp>
          </a:bodyPr>
          <a:lstStyle/>
          <a:p>
            <a:pPr algn="ctr" defTabSz="685800" eaLnBrk="0" hangingPunct="0"/>
            <a:r>
              <a:rPr lang="en-US" sz="1200" dirty="0">
                <a:solidFill>
                  <a:schemeClr val="accent2">
                    <a:lumMod val="75000"/>
                  </a:schemeClr>
                </a:solidFill>
              </a:rPr>
              <a:t>3: </a:t>
            </a:r>
            <a:r>
              <a:rPr lang="en-US" sz="1200" dirty="0" err="1">
                <a:solidFill>
                  <a:schemeClr val="accent2">
                    <a:lumMod val="75000"/>
                  </a:schemeClr>
                </a:solidFill>
              </a:rPr>
              <a:t>BusReply</a:t>
            </a:r>
            <a:r>
              <a:rPr lang="en-US" sz="1200" dirty="0">
                <a:solidFill>
                  <a:schemeClr val="accent2">
                    <a:lumMod val="75000"/>
                  </a:schemeClr>
                </a:solidFill>
              </a:rPr>
              <a:t> A</a:t>
            </a:r>
          </a:p>
        </p:txBody>
      </p:sp>
      <p:sp>
        <p:nvSpPr>
          <p:cNvPr id="37" name="Rectangle 2">
            <a:extLst>
              <a:ext uri="{FF2B5EF4-FFF2-40B4-BE49-F238E27FC236}">
                <a16:creationId xmlns:a16="http://schemas.microsoft.com/office/drawing/2014/main" id="{13072CA2-E047-4A37-89C7-FFA3BAF88D28}"/>
              </a:ext>
            </a:extLst>
          </p:cNvPr>
          <p:cNvSpPr>
            <a:spLocks noGrp="1" noChangeArrowheads="1"/>
          </p:cNvSpPr>
          <p:nvPr>
            <p:ph type="title"/>
            <p:custDataLst>
              <p:tags r:id="rId32"/>
            </p:custDataLst>
          </p:nvPr>
        </p:nvSpPr>
        <p:spPr>
          <a:xfrm>
            <a:off x="457200" y="274638"/>
            <a:ext cx="7467600" cy="1143000"/>
          </a:xfrm>
        </p:spPr>
        <p:txBody>
          <a:bodyPr/>
          <a:lstStyle/>
          <a:p>
            <a:pPr eaLnBrk="1" hangingPunct="1"/>
            <a:r>
              <a:rPr lang="en-US" altLang="en-US" dirty="0">
                <a:latin typeface="+mn-lt"/>
              </a:rPr>
              <a:t>MSI Protocol</a:t>
            </a:r>
          </a:p>
        </p:txBody>
      </p:sp>
    </p:spTree>
    <p:custDataLst>
      <p:tags r:id="rId1"/>
    </p:custDataLst>
    <p:extLst>
      <p:ext uri="{BB962C8B-B14F-4D97-AF65-F5344CB8AC3E}">
        <p14:creationId xmlns:p14="http://schemas.microsoft.com/office/powerpoint/2010/main" val="213459425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12" descr=" 26">
            <a:extLst>
              <a:ext uri="{FF2B5EF4-FFF2-40B4-BE49-F238E27FC236}">
                <a16:creationId xmlns:a16="http://schemas.microsoft.com/office/drawing/2014/main" id="{E46CCE21-4679-4321-B866-87424AA794FA}"/>
              </a:ext>
            </a:extLst>
          </p:cNvPr>
          <p:cNvSpPr>
            <a:spLocks noChangeArrowheads="1"/>
          </p:cNvSpPr>
          <p:nvPr>
            <p:custDataLst>
              <p:tags r:id="rId2"/>
            </p:custDataLst>
          </p:nvPr>
        </p:nvSpPr>
        <p:spPr bwMode="auto">
          <a:xfrm rot="18047435">
            <a:off x="276351" y="3674864"/>
            <a:ext cx="1064876"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Store / </a:t>
            </a:r>
            <a:r>
              <a:rPr lang="en-US" sz="1200" dirty="0" err="1">
                <a:latin typeface="+mn-lt"/>
              </a:rPr>
              <a:t>BusRdX</a:t>
            </a:r>
            <a:endParaRPr lang="en-US" sz="1200" dirty="0">
              <a:latin typeface="+mn-lt"/>
            </a:endParaRPr>
          </a:p>
        </p:txBody>
      </p:sp>
      <p:sp>
        <p:nvSpPr>
          <p:cNvPr id="27" name="Oval 8" descr=" 27">
            <a:extLst>
              <a:ext uri="{FF2B5EF4-FFF2-40B4-BE49-F238E27FC236}">
                <a16:creationId xmlns:a16="http://schemas.microsoft.com/office/drawing/2014/main" id="{DBBF02CF-CADF-4288-AB07-511F3237F6BC}"/>
              </a:ext>
            </a:extLst>
          </p:cNvPr>
          <p:cNvSpPr>
            <a:spLocks noChangeArrowheads="1"/>
          </p:cNvSpPr>
          <p:nvPr>
            <p:custDataLst>
              <p:tags r:id="rId3"/>
            </p:custDataLst>
          </p:nvPr>
        </p:nvSpPr>
        <p:spPr bwMode="auto">
          <a:xfrm>
            <a:off x="1047747" y="2626659"/>
            <a:ext cx="685800" cy="685800"/>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2100" dirty="0"/>
              <a:t>I</a:t>
            </a:r>
          </a:p>
        </p:txBody>
      </p:sp>
      <p:sp>
        <p:nvSpPr>
          <p:cNvPr id="28" name="Rectangle 19" descr=" 28">
            <a:extLst>
              <a:ext uri="{FF2B5EF4-FFF2-40B4-BE49-F238E27FC236}">
                <a16:creationId xmlns:a16="http://schemas.microsoft.com/office/drawing/2014/main" id="{87F0BF2B-32FF-4F50-BB1F-129F3AB8DB1D}"/>
              </a:ext>
            </a:extLst>
          </p:cNvPr>
          <p:cNvSpPr>
            <a:spLocks noChangeArrowheads="1"/>
          </p:cNvSpPr>
          <p:nvPr>
            <p:custDataLst>
              <p:tags r:id="rId4"/>
            </p:custDataLst>
          </p:nvPr>
        </p:nvSpPr>
        <p:spPr bwMode="auto">
          <a:xfrm>
            <a:off x="2516984" y="2368853"/>
            <a:ext cx="954589"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Load / </a:t>
            </a:r>
            <a:r>
              <a:rPr lang="en-US" sz="1200" dirty="0" err="1">
                <a:latin typeface="+mn-lt"/>
              </a:rPr>
              <a:t>BusRd</a:t>
            </a:r>
            <a:endParaRPr lang="en-US" sz="1200" dirty="0">
              <a:latin typeface="+mn-lt"/>
            </a:endParaRPr>
          </a:p>
        </p:txBody>
      </p:sp>
      <p:sp>
        <p:nvSpPr>
          <p:cNvPr id="29" name="Oval 8" descr=" 29">
            <a:extLst>
              <a:ext uri="{FF2B5EF4-FFF2-40B4-BE49-F238E27FC236}">
                <a16:creationId xmlns:a16="http://schemas.microsoft.com/office/drawing/2014/main" id="{33CDB991-EB3C-4069-8BA9-57A753E2DDD1}"/>
              </a:ext>
            </a:extLst>
          </p:cNvPr>
          <p:cNvSpPr>
            <a:spLocks noChangeArrowheads="1"/>
          </p:cNvSpPr>
          <p:nvPr>
            <p:custDataLst>
              <p:tags r:id="rId5"/>
            </p:custDataLst>
          </p:nvPr>
        </p:nvSpPr>
        <p:spPr bwMode="auto">
          <a:xfrm>
            <a:off x="4362447" y="2626659"/>
            <a:ext cx="685800" cy="685800"/>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2100" dirty="0"/>
              <a:t>S</a:t>
            </a:r>
          </a:p>
        </p:txBody>
      </p:sp>
      <p:sp>
        <p:nvSpPr>
          <p:cNvPr id="30" name="Freeform 32" descr=" 30">
            <a:extLst>
              <a:ext uri="{FF2B5EF4-FFF2-40B4-BE49-F238E27FC236}">
                <a16:creationId xmlns:a16="http://schemas.microsoft.com/office/drawing/2014/main" id="{3A5C55D6-7CC2-4364-8387-68455F042D9A}"/>
              </a:ext>
            </a:extLst>
          </p:cNvPr>
          <p:cNvSpPr/>
          <p:nvPr>
            <p:custDataLst>
              <p:tags r:id="rId6"/>
            </p:custDataLst>
          </p:nvPr>
        </p:nvSpPr>
        <p:spPr bwMode="auto">
          <a:xfrm>
            <a:off x="1733547" y="2619936"/>
            <a:ext cx="2625539" cy="231962"/>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Lst>
            <a:ahLst/>
            <a:cxnLst>
              <a:cxn ang="0">
                <a:pos x="connsiteX0" y="connsiteY0"/>
              </a:cxn>
              <a:cxn ang="0">
                <a:pos x="connsiteX1" y="connsiteY1"/>
              </a:cxn>
              <a:cxn ang="0">
                <a:pos x="connsiteX2" y="connsiteY2"/>
              </a:cxn>
            </a:cxnLst>
            <a:rect l="l" t="t" r="r" b="b"/>
            <a:pathLst>
              <a:path w="3567953" h="309283">
                <a:moveTo>
                  <a:pt x="0" y="309283"/>
                </a:moveTo>
                <a:cubicBezTo>
                  <a:pt x="626035" y="188259"/>
                  <a:pt x="1072776" y="17930"/>
                  <a:pt x="1667435" y="8965"/>
                </a:cubicBezTo>
                <a:cubicBezTo>
                  <a:pt x="2262094" y="0"/>
                  <a:pt x="3004670" y="152400"/>
                  <a:pt x="3567953" y="255494"/>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31" name="Rectangle 19" descr=" 31">
            <a:extLst>
              <a:ext uri="{FF2B5EF4-FFF2-40B4-BE49-F238E27FC236}">
                <a16:creationId xmlns:a16="http://schemas.microsoft.com/office/drawing/2014/main" id="{E02A03AC-54D9-4AF4-9EFC-11A61E811F0E}"/>
              </a:ext>
            </a:extLst>
          </p:cNvPr>
          <p:cNvSpPr>
            <a:spLocks noChangeArrowheads="1"/>
          </p:cNvSpPr>
          <p:nvPr>
            <p:custDataLst>
              <p:tags r:id="rId7"/>
            </p:custDataLst>
          </p:nvPr>
        </p:nvSpPr>
        <p:spPr bwMode="auto">
          <a:xfrm>
            <a:off x="4999636" y="3058716"/>
            <a:ext cx="659636"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Load / --</a:t>
            </a:r>
          </a:p>
        </p:txBody>
      </p:sp>
      <p:sp>
        <p:nvSpPr>
          <p:cNvPr id="32" name="Rectangle 19" descr=" 32">
            <a:extLst>
              <a:ext uri="{FF2B5EF4-FFF2-40B4-BE49-F238E27FC236}">
                <a16:creationId xmlns:a16="http://schemas.microsoft.com/office/drawing/2014/main" id="{00765427-09EC-45D0-9C29-2C799424A5C6}"/>
              </a:ext>
            </a:extLst>
          </p:cNvPr>
          <p:cNvSpPr>
            <a:spLocks noChangeArrowheads="1"/>
          </p:cNvSpPr>
          <p:nvPr>
            <p:custDataLst>
              <p:tags r:id="rId8"/>
            </p:custDataLst>
          </p:nvPr>
        </p:nvSpPr>
        <p:spPr bwMode="auto">
          <a:xfrm>
            <a:off x="4693021" y="2389080"/>
            <a:ext cx="757420" cy="251993"/>
          </a:xfrm>
          <a:prstGeom prst="rect">
            <a:avLst/>
          </a:prstGeom>
          <a:noFill/>
          <a:ln w="12700">
            <a:noFill/>
            <a:prstDash val="sysDot"/>
            <a:miter lim="800000"/>
            <a:headEnd/>
            <a:tailEnd/>
          </a:ln>
        </p:spPr>
        <p:txBody>
          <a:bodyPr wrap="none" lIns="67866" tIns="33338" rIns="67866" bIns="33338">
            <a:spAutoFit/>
          </a:bodyPr>
          <a:lstStyle/>
          <a:p>
            <a:r>
              <a:rPr lang="en-US" sz="1200" dirty="0" err="1">
                <a:latin typeface="+mn-lt"/>
              </a:rPr>
              <a:t>BusRd</a:t>
            </a:r>
            <a:r>
              <a:rPr lang="en-US" sz="1200" dirty="0">
                <a:latin typeface="+mn-lt"/>
              </a:rPr>
              <a:t> / --</a:t>
            </a:r>
          </a:p>
        </p:txBody>
      </p:sp>
      <p:sp>
        <p:nvSpPr>
          <p:cNvPr id="33" name="Arc 9" descr=" 33">
            <a:extLst>
              <a:ext uri="{FF2B5EF4-FFF2-40B4-BE49-F238E27FC236}">
                <a16:creationId xmlns:a16="http://schemas.microsoft.com/office/drawing/2014/main" id="{B8331003-EF3D-49AA-A122-A5EBAA12E235}"/>
              </a:ext>
            </a:extLst>
          </p:cNvPr>
          <p:cNvSpPr>
            <a:spLocks/>
          </p:cNvSpPr>
          <p:nvPr>
            <p:custDataLst>
              <p:tags r:id="rId9"/>
            </p:custDataLst>
          </p:nvPr>
        </p:nvSpPr>
        <p:spPr bwMode="auto">
          <a:xfrm rot="8454697">
            <a:off x="5048821" y="2639011"/>
            <a:ext cx="472328" cy="415302"/>
          </a:xfrm>
          <a:custGeom>
            <a:avLst/>
            <a:gdLst>
              <a:gd name="T0" fmla="*/ 505 w 43200"/>
              <a:gd name="T1" fmla="*/ 474 h 43200"/>
              <a:gd name="T2" fmla="*/ 599 w 43200"/>
              <a:gd name="T3" fmla="*/ 328 h 43200"/>
              <a:gd name="T4" fmla="*/ 303 w 43200"/>
              <a:gd name="T5" fmla="*/ 272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path>
              <a:path w="43200" h="43200" stroke="0"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lnTo>
                  <a:pt x="21600" y="21600"/>
                </a:lnTo>
                <a:close/>
              </a:path>
            </a:pathLst>
          </a:custGeom>
          <a:noFill/>
          <a:ln w="12700" cap="rnd">
            <a:solidFill>
              <a:schemeClr val="tx1"/>
            </a:solidFill>
            <a:round/>
            <a:headEnd/>
            <a:tailEnd type="triangle" w="med" len="med"/>
          </a:ln>
        </p:spPr>
        <p:txBody>
          <a:bodyPr wrap="none" anchor="ctr"/>
          <a:lstStyle/>
          <a:p>
            <a:endParaRPr lang="en-US" sz="1200" dirty="0">
              <a:latin typeface="+mn-lt"/>
            </a:endParaRPr>
          </a:p>
        </p:txBody>
      </p:sp>
      <p:sp>
        <p:nvSpPr>
          <p:cNvPr id="34" name="Oval 8" descr=" 34">
            <a:extLst>
              <a:ext uri="{FF2B5EF4-FFF2-40B4-BE49-F238E27FC236}">
                <a16:creationId xmlns:a16="http://schemas.microsoft.com/office/drawing/2014/main" id="{6D6F9712-1D17-4F59-A56D-69B6F5C8D760}"/>
              </a:ext>
            </a:extLst>
          </p:cNvPr>
          <p:cNvSpPr>
            <a:spLocks noChangeArrowheads="1"/>
          </p:cNvSpPr>
          <p:nvPr>
            <p:custDataLst>
              <p:tags r:id="rId10"/>
            </p:custDataLst>
          </p:nvPr>
        </p:nvSpPr>
        <p:spPr bwMode="auto">
          <a:xfrm>
            <a:off x="1104897" y="5026959"/>
            <a:ext cx="685800" cy="685800"/>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2100" dirty="0"/>
              <a:t>M</a:t>
            </a:r>
          </a:p>
        </p:txBody>
      </p:sp>
      <p:sp>
        <p:nvSpPr>
          <p:cNvPr id="35" name="Freeform 38" descr=" 35">
            <a:extLst>
              <a:ext uri="{FF2B5EF4-FFF2-40B4-BE49-F238E27FC236}">
                <a16:creationId xmlns:a16="http://schemas.microsoft.com/office/drawing/2014/main" id="{6498D179-63E5-478F-863E-7F646837C369}"/>
              </a:ext>
            </a:extLst>
          </p:cNvPr>
          <p:cNvSpPr/>
          <p:nvPr>
            <p:custDataLst>
              <p:tags r:id="rId11"/>
            </p:custDataLst>
          </p:nvPr>
        </p:nvSpPr>
        <p:spPr bwMode="auto">
          <a:xfrm rot="16035852" flipH="1">
            <a:off x="291114" y="4057237"/>
            <a:ext cx="1712399" cy="231962"/>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Lst>
            <a:ahLst/>
            <a:cxnLst>
              <a:cxn ang="0">
                <a:pos x="connsiteX0" y="connsiteY0"/>
              </a:cxn>
              <a:cxn ang="0">
                <a:pos x="connsiteX1" y="connsiteY1"/>
              </a:cxn>
              <a:cxn ang="0">
                <a:pos x="connsiteX2" y="connsiteY2"/>
              </a:cxn>
            </a:cxnLst>
            <a:rect l="l" t="t" r="r" b="b"/>
            <a:pathLst>
              <a:path w="3567953" h="309283">
                <a:moveTo>
                  <a:pt x="0" y="309283"/>
                </a:moveTo>
                <a:cubicBezTo>
                  <a:pt x="626035" y="188259"/>
                  <a:pt x="1072776" y="17930"/>
                  <a:pt x="1667435" y="8965"/>
                </a:cubicBezTo>
                <a:cubicBezTo>
                  <a:pt x="2262094" y="0"/>
                  <a:pt x="3004670" y="152400"/>
                  <a:pt x="3567953" y="255494"/>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38" name="Freeform 41" descr=" 38">
            <a:extLst>
              <a:ext uri="{FF2B5EF4-FFF2-40B4-BE49-F238E27FC236}">
                <a16:creationId xmlns:a16="http://schemas.microsoft.com/office/drawing/2014/main" id="{D098FEF2-4FC8-4CE2-9E3A-88561280BDA4}"/>
              </a:ext>
            </a:extLst>
          </p:cNvPr>
          <p:cNvSpPr/>
          <p:nvPr>
            <p:custDataLst>
              <p:tags r:id="rId12"/>
            </p:custDataLst>
          </p:nvPr>
        </p:nvSpPr>
        <p:spPr bwMode="auto">
          <a:xfrm rot="10800000">
            <a:off x="1733547" y="3023347"/>
            <a:ext cx="2625539" cy="231962"/>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Lst>
            <a:ahLst/>
            <a:cxnLst>
              <a:cxn ang="0">
                <a:pos x="connsiteX0" y="connsiteY0"/>
              </a:cxn>
              <a:cxn ang="0">
                <a:pos x="connsiteX1" y="connsiteY1"/>
              </a:cxn>
              <a:cxn ang="0">
                <a:pos x="connsiteX2" y="connsiteY2"/>
              </a:cxn>
            </a:cxnLst>
            <a:rect l="l" t="t" r="r" b="b"/>
            <a:pathLst>
              <a:path w="3567953" h="309283">
                <a:moveTo>
                  <a:pt x="0" y="309283"/>
                </a:moveTo>
                <a:cubicBezTo>
                  <a:pt x="626035" y="188259"/>
                  <a:pt x="1072776" y="17930"/>
                  <a:pt x="1667435" y="8965"/>
                </a:cubicBezTo>
                <a:cubicBezTo>
                  <a:pt x="2262094" y="0"/>
                  <a:pt x="3004670" y="152400"/>
                  <a:pt x="3567953" y="255494"/>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39" name="Rectangle 19" descr=" 39">
            <a:extLst>
              <a:ext uri="{FF2B5EF4-FFF2-40B4-BE49-F238E27FC236}">
                <a16:creationId xmlns:a16="http://schemas.microsoft.com/office/drawing/2014/main" id="{B00B0C59-2DF1-4525-AB77-50EAEF06353E}"/>
              </a:ext>
            </a:extLst>
          </p:cNvPr>
          <p:cNvSpPr>
            <a:spLocks noChangeArrowheads="1"/>
          </p:cNvSpPr>
          <p:nvPr>
            <p:custDataLst>
              <p:tags r:id="rId13"/>
            </p:custDataLst>
          </p:nvPr>
        </p:nvSpPr>
        <p:spPr bwMode="auto">
          <a:xfrm>
            <a:off x="2668468" y="3242900"/>
            <a:ext cx="652840"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Evict / --</a:t>
            </a:r>
          </a:p>
        </p:txBody>
      </p:sp>
      <p:sp>
        <p:nvSpPr>
          <p:cNvPr id="40" name="Freeform 43" descr=" 40">
            <a:extLst>
              <a:ext uri="{FF2B5EF4-FFF2-40B4-BE49-F238E27FC236}">
                <a16:creationId xmlns:a16="http://schemas.microsoft.com/office/drawing/2014/main" id="{49444570-B459-4FD9-8379-196C90D20393}"/>
              </a:ext>
            </a:extLst>
          </p:cNvPr>
          <p:cNvSpPr/>
          <p:nvPr>
            <p:custDataLst>
              <p:tags r:id="rId14"/>
            </p:custDataLst>
          </p:nvPr>
        </p:nvSpPr>
        <p:spPr bwMode="auto">
          <a:xfrm rot="20487262">
            <a:off x="1493844" y="3681742"/>
            <a:ext cx="3218770" cy="1089877"/>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 name="connsiteX0" fmla="*/ 0 w 3910048"/>
              <a:gd name="connsiteY0" fmla="*/ 1556263 h 1556263"/>
              <a:gd name="connsiteX1" fmla="*/ 1667435 w 3910048"/>
              <a:gd name="connsiteY1" fmla="*/ 1255945 h 1556263"/>
              <a:gd name="connsiteX2" fmla="*/ 3910048 w 3910048"/>
              <a:gd name="connsiteY2" fmla="*/ 103094 h 1556263"/>
              <a:gd name="connsiteX0" fmla="*/ 0 w 3910048"/>
              <a:gd name="connsiteY0" fmla="*/ 1556263 h 1556263"/>
              <a:gd name="connsiteX1" fmla="*/ 1494292 w 3910048"/>
              <a:gd name="connsiteY1" fmla="*/ 579905 h 1556263"/>
              <a:gd name="connsiteX2" fmla="*/ 3910048 w 3910048"/>
              <a:gd name="connsiteY2" fmla="*/ 103094 h 1556263"/>
              <a:gd name="connsiteX0" fmla="*/ 0 w 3910048"/>
              <a:gd name="connsiteY0" fmla="*/ 1556263 h 1556263"/>
              <a:gd name="connsiteX1" fmla="*/ 395335 w 3910048"/>
              <a:gd name="connsiteY1" fmla="*/ 1300472 h 1556263"/>
              <a:gd name="connsiteX2" fmla="*/ 1494292 w 3910048"/>
              <a:gd name="connsiteY2" fmla="*/ 579905 h 1556263"/>
              <a:gd name="connsiteX3" fmla="*/ 3910048 w 3910048"/>
              <a:gd name="connsiteY3" fmla="*/ 103094 h 1556263"/>
              <a:gd name="connsiteX0" fmla="*/ 0 w 3910048"/>
              <a:gd name="connsiteY0" fmla="*/ 1453169 h 1453169"/>
              <a:gd name="connsiteX1" fmla="*/ 395335 w 3910048"/>
              <a:gd name="connsiteY1" fmla="*/ 1197378 h 1453169"/>
              <a:gd name="connsiteX2" fmla="*/ 1494292 w 3910048"/>
              <a:gd name="connsiteY2" fmla="*/ 476811 h 1453169"/>
              <a:gd name="connsiteX3" fmla="*/ 2702381 w 3910048"/>
              <a:gd name="connsiteY3" fmla="*/ 117923 h 1453169"/>
              <a:gd name="connsiteX4" fmla="*/ 3910048 w 3910048"/>
              <a:gd name="connsiteY4" fmla="*/ 0 h 1453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0048" h="1453169">
                <a:moveTo>
                  <a:pt x="0" y="1453169"/>
                </a:moveTo>
                <a:cubicBezTo>
                  <a:pt x="73616" y="1422838"/>
                  <a:pt x="146286" y="1360104"/>
                  <a:pt x="395335" y="1197378"/>
                </a:cubicBezTo>
                <a:cubicBezTo>
                  <a:pt x="644384" y="1034652"/>
                  <a:pt x="1109784" y="656720"/>
                  <a:pt x="1494292" y="476811"/>
                </a:cubicBezTo>
                <a:cubicBezTo>
                  <a:pt x="1878800" y="296902"/>
                  <a:pt x="2299755" y="197392"/>
                  <a:pt x="2702381" y="117923"/>
                </a:cubicBezTo>
                <a:cubicBezTo>
                  <a:pt x="3105007" y="38455"/>
                  <a:pt x="3709840" y="23200"/>
                  <a:pt x="3910048" y="0"/>
                </a:cubicBezTo>
              </a:path>
            </a:pathLst>
          </a:custGeom>
          <a:noFill/>
          <a:ln w="9525" cap="flat" cmpd="sng" algn="ctr">
            <a:solidFill>
              <a:schemeClr val="accent2">
                <a:lumMod val="75000"/>
              </a:schemeClr>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42" name="Rectangle 19" descr=" 42">
            <a:extLst>
              <a:ext uri="{FF2B5EF4-FFF2-40B4-BE49-F238E27FC236}">
                <a16:creationId xmlns:a16="http://schemas.microsoft.com/office/drawing/2014/main" id="{F349E51F-FBFB-452B-ADA0-4EF8D10BCADB}"/>
              </a:ext>
            </a:extLst>
          </p:cNvPr>
          <p:cNvSpPr>
            <a:spLocks noChangeArrowheads="1"/>
          </p:cNvSpPr>
          <p:nvPr>
            <p:custDataLst>
              <p:tags r:id="rId15"/>
            </p:custDataLst>
          </p:nvPr>
        </p:nvSpPr>
        <p:spPr bwMode="auto">
          <a:xfrm rot="19370607">
            <a:off x="2153348" y="4008561"/>
            <a:ext cx="1783021" cy="251993"/>
          </a:xfrm>
          <a:prstGeom prst="rect">
            <a:avLst/>
          </a:prstGeom>
          <a:noFill/>
          <a:ln w="12700">
            <a:noFill/>
            <a:prstDash val="sysDot"/>
            <a:miter lim="800000"/>
            <a:headEnd/>
            <a:tailEnd/>
          </a:ln>
        </p:spPr>
        <p:txBody>
          <a:bodyPr wrap="none" lIns="67866" tIns="33338" rIns="67866" bIns="33338">
            <a:spAutoFit/>
          </a:bodyPr>
          <a:lstStyle/>
          <a:p>
            <a:r>
              <a:rPr lang="en-US" sz="1200" b="1" dirty="0" err="1">
                <a:solidFill>
                  <a:schemeClr val="accent2">
                    <a:lumMod val="75000"/>
                  </a:schemeClr>
                </a:solidFill>
                <a:latin typeface="+mn-lt"/>
              </a:rPr>
              <a:t>BusRd</a:t>
            </a:r>
            <a:r>
              <a:rPr lang="en-US" sz="1200" b="1" dirty="0">
                <a:solidFill>
                  <a:schemeClr val="accent2">
                    <a:lumMod val="75000"/>
                  </a:schemeClr>
                </a:solidFill>
                <a:latin typeface="+mn-lt"/>
              </a:rPr>
              <a:t> / </a:t>
            </a:r>
            <a:r>
              <a:rPr lang="en-US" sz="1200" b="1" dirty="0" err="1">
                <a:solidFill>
                  <a:schemeClr val="accent2">
                    <a:lumMod val="75000"/>
                  </a:schemeClr>
                </a:solidFill>
                <a:latin typeface="+mn-lt"/>
              </a:rPr>
              <a:t>BusReply</a:t>
            </a:r>
            <a:r>
              <a:rPr lang="en-US" sz="1200" b="1" dirty="0">
                <a:solidFill>
                  <a:schemeClr val="accent2">
                    <a:lumMod val="75000"/>
                  </a:schemeClr>
                </a:solidFill>
                <a:latin typeface="+mn-lt"/>
              </a:rPr>
              <a:t>, </a:t>
            </a:r>
            <a:r>
              <a:rPr lang="en-US" sz="1200" b="1" dirty="0" err="1">
                <a:solidFill>
                  <a:schemeClr val="accent2">
                    <a:lumMod val="75000"/>
                  </a:schemeClr>
                </a:solidFill>
                <a:latin typeface="+mn-lt"/>
              </a:rPr>
              <a:t>BusWB</a:t>
            </a:r>
            <a:endParaRPr lang="en-US" sz="1200" b="1" dirty="0">
              <a:solidFill>
                <a:schemeClr val="accent2">
                  <a:lumMod val="75000"/>
                </a:schemeClr>
              </a:solidFill>
              <a:latin typeface="+mn-lt"/>
            </a:endParaRPr>
          </a:p>
        </p:txBody>
      </p:sp>
      <p:sp>
        <p:nvSpPr>
          <p:cNvPr id="44" name="Arc 9" descr=" 44">
            <a:extLst>
              <a:ext uri="{FF2B5EF4-FFF2-40B4-BE49-F238E27FC236}">
                <a16:creationId xmlns:a16="http://schemas.microsoft.com/office/drawing/2014/main" id="{2A8038E9-C8FF-42F8-8033-41AA97E52CF5}"/>
              </a:ext>
            </a:extLst>
          </p:cNvPr>
          <p:cNvSpPr>
            <a:spLocks/>
          </p:cNvSpPr>
          <p:nvPr>
            <p:custDataLst>
              <p:tags r:id="rId16"/>
            </p:custDataLst>
          </p:nvPr>
        </p:nvSpPr>
        <p:spPr bwMode="auto">
          <a:xfrm rot="18257111">
            <a:off x="680281" y="5417159"/>
            <a:ext cx="472328" cy="415302"/>
          </a:xfrm>
          <a:custGeom>
            <a:avLst/>
            <a:gdLst>
              <a:gd name="T0" fmla="*/ 505 w 43200"/>
              <a:gd name="T1" fmla="*/ 474 h 43200"/>
              <a:gd name="T2" fmla="*/ 599 w 43200"/>
              <a:gd name="T3" fmla="*/ 328 h 43200"/>
              <a:gd name="T4" fmla="*/ 303 w 43200"/>
              <a:gd name="T5" fmla="*/ 272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path>
              <a:path w="43200" h="43200" stroke="0"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lnTo>
                  <a:pt x="21600" y="21600"/>
                </a:lnTo>
                <a:close/>
              </a:path>
            </a:pathLst>
          </a:custGeom>
          <a:noFill/>
          <a:ln w="12700" cap="rnd">
            <a:solidFill>
              <a:schemeClr val="tx1"/>
            </a:solidFill>
            <a:round/>
            <a:headEnd/>
            <a:tailEnd type="triangle" w="med" len="med"/>
          </a:ln>
        </p:spPr>
        <p:txBody>
          <a:bodyPr wrap="none" anchor="ctr"/>
          <a:lstStyle/>
          <a:p>
            <a:endParaRPr lang="en-US" sz="1200" dirty="0">
              <a:latin typeface="+mn-lt"/>
            </a:endParaRPr>
          </a:p>
        </p:txBody>
      </p:sp>
      <p:sp>
        <p:nvSpPr>
          <p:cNvPr id="45" name="Rectangle 19" descr=" 45">
            <a:extLst>
              <a:ext uri="{FF2B5EF4-FFF2-40B4-BE49-F238E27FC236}">
                <a16:creationId xmlns:a16="http://schemas.microsoft.com/office/drawing/2014/main" id="{F508D25A-8129-4ED3-8FE8-9499070B58F1}"/>
              </a:ext>
            </a:extLst>
          </p:cNvPr>
          <p:cNvSpPr>
            <a:spLocks noChangeArrowheads="1"/>
          </p:cNvSpPr>
          <p:nvPr>
            <p:custDataLst>
              <p:tags r:id="rId17"/>
            </p:custDataLst>
          </p:nvPr>
        </p:nvSpPr>
        <p:spPr bwMode="auto">
          <a:xfrm>
            <a:off x="36242" y="5173266"/>
            <a:ext cx="1063273"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Load, Store / --</a:t>
            </a:r>
          </a:p>
        </p:txBody>
      </p:sp>
      <p:sp>
        <p:nvSpPr>
          <p:cNvPr id="47" name="Rectangle 19" descr=" 47">
            <a:extLst>
              <a:ext uri="{FF2B5EF4-FFF2-40B4-BE49-F238E27FC236}">
                <a16:creationId xmlns:a16="http://schemas.microsoft.com/office/drawing/2014/main" id="{D95610DD-8D45-4A27-8FF0-2CCF5F65929B}"/>
              </a:ext>
            </a:extLst>
          </p:cNvPr>
          <p:cNvSpPr>
            <a:spLocks noChangeArrowheads="1"/>
          </p:cNvSpPr>
          <p:nvPr>
            <p:custDataLst>
              <p:tags r:id="rId18"/>
            </p:custDataLst>
          </p:nvPr>
        </p:nvSpPr>
        <p:spPr bwMode="auto">
          <a:xfrm>
            <a:off x="2419347" y="2917592"/>
            <a:ext cx="837570" cy="251993"/>
          </a:xfrm>
          <a:prstGeom prst="rect">
            <a:avLst/>
          </a:prstGeom>
          <a:noFill/>
          <a:ln w="12700">
            <a:noFill/>
            <a:prstDash val="sysDot"/>
            <a:miter lim="800000"/>
            <a:headEnd/>
            <a:tailEnd/>
          </a:ln>
        </p:spPr>
        <p:txBody>
          <a:bodyPr wrap="none" lIns="67866" tIns="33338" rIns="67866" bIns="33338">
            <a:spAutoFit/>
          </a:bodyPr>
          <a:lstStyle/>
          <a:p>
            <a:r>
              <a:rPr lang="en-US" sz="1200" dirty="0" err="1">
                <a:latin typeface="+mn-lt"/>
              </a:rPr>
              <a:t>BusRdX</a:t>
            </a:r>
            <a:r>
              <a:rPr lang="en-US" sz="1200" dirty="0">
                <a:latin typeface="+mn-lt"/>
              </a:rPr>
              <a:t> / --</a:t>
            </a:r>
          </a:p>
        </p:txBody>
      </p:sp>
      <p:sp>
        <p:nvSpPr>
          <p:cNvPr id="95" name="Rectangle 4" descr=" 95">
            <a:extLst>
              <a:ext uri="{FF2B5EF4-FFF2-40B4-BE49-F238E27FC236}">
                <a16:creationId xmlns:a16="http://schemas.microsoft.com/office/drawing/2014/main" id="{05BDA512-1BA1-4492-87CF-435DAEC786F9}"/>
              </a:ext>
            </a:extLst>
          </p:cNvPr>
          <p:cNvSpPr>
            <a:spLocks noChangeArrowheads="1"/>
          </p:cNvSpPr>
          <p:nvPr>
            <p:custDataLst>
              <p:tags r:id="rId19"/>
            </p:custDataLst>
          </p:nvPr>
        </p:nvSpPr>
        <p:spPr bwMode="auto">
          <a:xfrm>
            <a:off x="6952937" y="4514848"/>
            <a:ext cx="1373463"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Bus</a:t>
            </a:r>
          </a:p>
        </p:txBody>
      </p:sp>
      <p:cxnSp>
        <p:nvCxnSpPr>
          <p:cNvPr id="96" name="AutoShape 17" descr=" 96">
            <a:extLst>
              <a:ext uri="{FF2B5EF4-FFF2-40B4-BE49-F238E27FC236}">
                <a16:creationId xmlns:a16="http://schemas.microsoft.com/office/drawing/2014/main" id="{EFE7AB88-1BAB-4DFA-8AF3-BB387B4D4BC4}"/>
              </a:ext>
            </a:extLst>
          </p:cNvPr>
          <p:cNvCxnSpPr>
            <a:cxnSpLocks noChangeShapeType="1"/>
          </p:cNvCxnSpPr>
          <p:nvPr>
            <p:custDataLst>
              <p:tags r:id="rId20"/>
            </p:custDataLst>
          </p:nvPr>
        </p:nvCxnSpPr>
        <p:spPr bwMode="auto">
          <a:xfrm rot="5400000">
            <a:off x="8124512" y="3857624"/>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97" name="Line 10" descr=" 97">
            <a:extLst>
              <a:ext uri="{FF2B5EF4-FFF2-40B4-BE49-F238E27FC236}">
                <a16:creationId xmlns:a16="http://schemas.microsoft.com/office/drawing/2014/main" id="{D854816D-6D17-4394-A556-B87AD3DA671F}"/>
              </a:ext>
            </a:extLst>
          </p:cNvPr>
          <p:cNvSpPr>
            <a:spLocks noChangeShapeType="1"/>
          </p:cNvSpPr>
          <p:nvPr>
            <p:custDataLst>
              <p:tags r:id="rId21"/>
            </p:custDataLst>
          </p:nvPr>
        </p:nvSpPr>
        <p:spPr bwMode="auto">
          <a:xfrm>
            <a:off x="8210237" y="4225527"/>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cxnSp>
        <p:nvCxnSpPr>
          <p:cNvPr id="98" name="Straight Arrow Connector 97" descr=" 98">
            <a:extLst>
              <a:ext uri="{FF2B5EF4-FFF2-40B4-BE49-F238E27FC236}">
                <a16:creationId xmlns:a16="http://schemas.microsoft.com/office/drawing/2014/main" id="{68FB89A2-6D0F-4DA8-B491-D02026184C41}"/>
              </a:ext>
            </a:extLst>
          </p:cNvPr>
          <p:cNvCxnSpPr>
            <a:stCxn id="95" idx="2"/>
            <a:endCxn id="100" idx="0"/>
          </p:cNvCxnSpPr>
          <p:nvPr/>
        </p:nvCxnSpPr>
        <p:spPr bwMode="auto">
          <a:xfrm rot="16200000" flipH="1">
            <a:off x="7525369" y="4911327"/>
            <a:ext cx="228600" cy="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99" name="Rectangle 21" descr=" 99">
            <a:extLst>
              <a:ext uri="{FF2B5EF4-FFF2-40B4-BE49-F238E27FC236}">
                <a16:creationId xmlns:a16="http://schemas.microsoft.com/office/drawing/2014/main" id="{E4EDB315-88D8-47DD-A51A-5D0D81696214}"/>
              </a:ext>
            </a:extLst>
          </p:cNvPr>
          <p:cNvSpPr>
            <a:spLocks noChangeArrowheads="1"/>
          </p:cNvSpPr>
          <p:nvPr>
            <p:custDataLst>
              <p:tags r:id="rId22"/>
            </p:custDataLst>
          </p:nvPr>
        </p:nvSpPr>
        <p:spPr bwMode="auto">
          <a:xfrm>
            <a:off x="7753037" y="3943348"/>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[M]: 1</a:t>
            </a:r>
            <a:endParaRPr lang="en-US" sz="1800" dirty="0"/>
          </a:p>
        </p:txBody>
      </p:sp>
      <p:sp>
        <p:nvSpPr>
          <p:cNvPr id="100" name="Rectangle 21" descr=" 100">
            <a:extLst>
              <a:ext uri="{FF2B5EF4-FFF2-40B4-BE49-F238E27FC236}">
                <a16:creationId xmlns:a16="http://schemas.microsoft.com/office/drawing/2014/main" id="{2E158A9B-69E8-44DD-8D68-D764B61785A6}"/>
              </a:ext>
            </a:extLst>
          </p:cNvPr>
          <p:cNvSpPr>
            <a:spLocks noChangeArrowheads="1"/>
          </p:cNvSpPr>
          <p:nvPr>
            <p:custDataLst>
              <p:tags r:id="rId23"/>
            </p:custDataLst>
          </p:nvPr>
        </p:nvSpPr>
        <p:spPr bwMode="auto">
          <a:xfrm>
            <a:off x="7196793" y="5025627"/>
            <a:ext cx="885754"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0</a:t>
            </a:r>
            <a:endParaRPr lang="en-US" sz="1800" dirty="0">
              <a:solidFill>
                <a:srgbClr val="C00000"/>
              </a:solidFill>
            </a:endParaRPr>
          </a:p>
        </p:txBody>
      </p:sp>
      <p:sp>
        <p:nvSpPr>
          <p:cNvPr id="101" name="Rectangle 6" descr=" 101">
            <a:extLst>
              <a:ext uri="{FF2B5EF4-FFF2-40B4-BE49-F238E27FC236}">
                <a16:creationId xmlns:a16="http://schemas.microsoft.com/office/drawing/2014/main" id="{E3BDC3E5-29C6-4591-BB8D-7B5C62B42C0A}"/>
              </a:ext>
            </a:extLst>
          </p:cNvPr>
          <p:cNvSpPr>
            <a:spLocks noChangeArrowheads="1"/>
          </p:cNvSpPr>
          <p:nvPr>
            <p:custDataLst>
              <p:tags r:id="rId24"/>
            </p:custDataLst>
          </p:nvPr>
        </p:nvSpPr>
        <p:spPr bwMode="auto">
          <a:xfrm>
            <a:off x="8016189" y="3486148"/>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P2</a:t>
            </a:r>
          </a:p>
        </p:txBody>
      </p:sp>
      <p:cxnSp>
        <p:nvCxnSpPr>
          <p:cNvPr id="102" name="AutoShape 17" descr=" 102">
            <a:extLst>
              <a:ext uri="{FF2B5EF4-FFF2-40B4-BE49-F238E27FC236}">
                <a16:creationId xmlns:a16="http://schemas.microsoft.com/office/drawing/2014/main" id="{FFA12C0D-548B-487F-ADA9-A477A7BDF8A1}"/>
              </a:ext>
            </a:extLst>
          </p:cNvPr>
          <p:cNvCxnSpPr>
            <a:cxnSpLocks noChangeShapeType="1"/>
          </p:cNvCxnSpPr>
          <p:nvPr>
            <p:custDataLst>
              <p:tags r:id="rId25"/>
            </p:custDataLst>
          </p:nvPr>
        </p:nvCxnSpPr>
        <p:spPr bwMode="auto">
          <a:xfrm rot="5400000">
            <a:off x="7038662" y="3857624"/>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103" name="Line 10" descr=" 103">
            <a:extLst>
              <a:ext uri="{FF2B5EF4-FFF2-40B4-BE49-F238E27FC236}">
                <a16:creationId xmlns:a16="http://schemas.microsoft.com/office/drawing/2014/main" id="{6E193A5E-04FC-469C-A2DC-EFE96DBD8DCB}"/>
              </a:ext>
            </a:extLst>
          </p:cNvPr>
          <p:cNvSpPr>
            <a:spLocks noChangeShapeType="1"/>
          </p:cNvSpPr>
          <p:nvPr>
            <p:custDataLst>
              <p:tags r:id="rId26"/>
            </p:custDataLst>
          </p:nvPr>
        </p:nvSpPr>
        <p:spPr bwMode="auto">
          <a:xfrm>
            <a:off x="7124387" y="4225527"/>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sp>
        <p:nvSpPr>
          <p:cNvPr id="104" name="Rectangle 21" descr=" 104">
            <a:extLst>
              <a:ext uri="{FF2B5EF4-FFF2-40B4-BE49-F238E27FC236}">
                <a16:creationId xmlns:a16="http://schemas.microsoft.com/office/drawing/2014/main" id="{004E966F-0B0C-4450-B612-C8E190BD27A0}"/>
              </a:ext>
            </a:extLst>
          </p:cNvPr>
          <p:cNvSpPr>
            <a:spLocks noChangeArrowheads="1"/>
          </p:cNvSpPr>
          <p:nvPr>
            <p:custDataLst>
              <p:tags r:id="rId27"/>
            </p:custDataLst>
          </p:nvPr>
        </p:nvSpPr>
        <p:spPr bwMode="auto">
          <a:xfrm>
            <a:off x="6667187" y="3943348"/>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[I]</a:t>
            </a:r>
            <a:endParaRPr lang="en-US" sz="1800" dirty="0"/>
          </a:p>
        </p:txBody>
      </p:sp>
      <p:sp>
        <p:nvSpPr>
          <p:cNvPr id="105" name="Rectangle 6" descr=" 105">
            <a:extLst>
              <a:ext uri="{FF2B5EF4-FFF2-40B4-BE49-F238E27FC236}">
                <a16:creationId xmlns:a16="http://schemas.microsoft.com/office/drawing/2014/main" id="{77FC3B56-65E1-4664-8E00-3F6710792C1C}"/>
              </a:ext>
            </a:extLst>
          </p:cNvPr>
          <p:cNvSpPr>
            <a:spLocks noChangeArrowheads="1"/>
          </p:cNvSpPr>
          <p:nvPr>
            <p:custDataLst>
              <p:tags r:id="rId28"/>
            </p:custDataLst>
          </p:nvPr>
        </p:nvSpPr>
        <p:spPr bwMode="auto">
          <a:xfrm>
            <a:off x="6930339" y="3486148"/>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P1</a:t>
            </a:r>
          </a:p>
        </p:txBody>
      </p:sp>
      <p:sp>
        <p:nvSpPr>
          <p:cNvPr id="36" name="Oval Callout 51" descr=" 106">
            <a:extLst>
              <a:ext uri="{FF2B5EF4-FFF2-40B4-BE49-F238E27FC236}">
                <a16:creationId xmlns:a16="http://schemas.microsoft.com/office/drawing/2014/main" id="{DC3AA97A-0E21-4CBF-AEAB-B36A0733866E}"/>
              </a:ext>
            </a:extLst>
          </p:cNvPr>
          <p:cNvSpPr/>
          <p:nvPr>
            <p:custDataLst>
              <p:tags r:id="rId29"/>
            </p:custDataLst>
          </p:nvPr>
        </p:nvSpPr>
        <p:spPr bwMode="auto">
          <a:xfrm>
            <a:off x="7124387" y="3143249"/>
            <a:ext cx="914400" cy="342900"/>
          </a:xfrm>
          <a:prstGeom prst="wedgeEllipseCallout">
            <a:avLst>
              <a:gd name="adj1" fmla="val -44362"/>
              <a:gd name="adj2" fmla="val 50735"/>
            </a:avLst>
          </a:prstGeom>
          <a:solidFill>
            <a:schemeClr val="bg1"/>
          </a:solidFill>
          <a:ln>
            <a:solidFill>
              <a:schemeClr val="tx1"/>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0" tIns="34290" rIns="0" bIns="34290" numCol="1" rtlCol="0" anchor="t" anchorCtr="0" compatLnSpc="1">
            <a:prstTxWarp prst="textNoShape">
              <a:avLst/>
            </a:prstTxWarp>
          </a:bodyPr>
          <a:lstStyle/>
          <a:p>
            <a:pPr algn="ctr" defTabSz="685800" eaLnBrk="0" hangingPunct="0"/>
            <a:r>
              <a:rPr lang="en-US" sz="1200" dirty="0">
                <a:solidFill>
                  <a:schemeClr val="accent2">
                    <a:lumMod val="75000"/>
                  </a:schemeClr>
                </a:solidFill>
              </a:rPr>
              <a:t>1: Load A</a:t>
            </a:r>
          </a:p>
        </p:txBody>
      </p:sp>
      <p:sp>
        <p:nvSpPr>
          <p:cNvPr id="37" name="Oval Callout 52" descr=" 107">
            <a:extLst>
              <a:ext uri="{FF2B5EF4-FFF2-40B4-BE49-F238E27FC236}">
                <a16:creationId xmlns:a16="http://schemas.microsoft.com/office/drawing/2014/main" id="{F8B5F6B5-DCA1-42D8-9E27-CAB7DE766FD3}"/>
              </a:ext>
            </a:extLst>
          </p:cNvPr>
          <p:cNvSpPr/>
          <p:nvPr>
            <p:custDataLst>
              <p:tags r:id="rId30"/>
            </p:custDataLst>
          </p:nvPr>
        </p:nvSpPr>
        <p:spPr bwMode="auto">
          <a:xfrm>
            <a:off x="5809937" y="4343399"/>
            <a:ext cx="971550" cy="342900"/>
          </a:xfrm>
          <a:prstGeom prst="wedgeEllipseCallout">
            <a:avLst>
              <a:gd name="adj1" fmla="val 84069"/>
              <a:gd name="adj2" fmla="val -13971"/>
            </a:avLst>
          </a:prstGeom>
          <a:solidFill>
            <a:schemeClr val="bg1"/>
          </a:solidFill>
          <a:ln>
            <a:solidFill>
              <a:schemeClr val="tx1"/>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0" tIns="34290" rIns="0" bIns="34290" numCol="1" rtlCol="0" anchor="t" anchorCtr="0" compatLnSpc="1">
            <a:prstTxWarp prst="textNoShape">
              <a:avLst/>
            </a:prstTxWarp>
          </a:bodyPr>
          <a:lstStyle/>
          <a:p>
            <a:pPr algn="ctr" defTabSz="685800" eaLnBrk="0" hangingPunct="0"/>
            <a:r>
              <a:rPr lang="en-US" sz="1200" dirty="0">
                <a:solidFill>
                  <a:schemeClr val="accent2">
                    <a:lumMod val="75000"/>
                  </a:schemeClr>
                </a:solidFill>
              </a:rPr>
              <a:t>2: </a:t>
            </a:r>
            <a:r>
              <a:rPr lang="en-US" sz="1200" dirty="0" err="1">
                <a:solidFill>
                  <a:schemeClr val="accent2">
                    <a:lumMod val="75000"/>
                  </a:schemeClr>
                </a:solidFill>
              </a:rPr>
              <a:t>BusRd</a:t>
            </a:r>
            <a:r>
              <a:rPr lang="en-US" sz="1200" dirty="0">
                <a:solidFill>
                  <a:schemeClr val="accent2">
                    <a:lumMod val="75000"/>
                  </a:schemeClr>
                </a:solidFill>
              </a:rPr>
              <a:t> A</a:t>
            </a:r>
          </a:p>
        </p:txBody>
      </p:sp>
      <p:sp>
        <p:nvSpPr>
          <p:cNvPr id="41" name="Oval Callout 54" descr=" 108">
            <a:extLst>
              <a:ext uri="{FF2B5EF4-FFF2-40B4-BE49-F238E27FC236}">
                <a16:creationId xmlns:a16="http://schemas.microsoft.com/office/drawing/2014/main" id="{C35C4985-DEB9-43B6-B74B-378EA1EB33CF}"/>
              </a:ext>
            </a:extLst>
          </p:cNvPr>
          <p:cNvSpPr/>
          <p:nvPr>
            <p:custDataLst>
              <p:tags r:id="rId31"/>
            </p:custDataLst>
          </p:nvPr>
        </p:nvSpPr>
        <p:spPr bwMode="auto">
          <a:xfrm>
            <a:off x="7867337" y="4229099"/>
            <a:ext cx="1200150" cy="342900"/>
          </a:xfrm>
          <a:prstGeom prst="wedgeEllipseCallout">
            <a:avLst>
              <a:gd name="adj1" fmla="val -41784"/>
              <a:gd name="adj2" fmla="val 48775"/>
            </a:avLst>
          </a:prstGeom>
          <a:solidFill>
            <a:schemeClr val="bg1"/>
          </a:solidFill>
          <a:ln>
            <a:solidFill>
              <a:schemeClr val="tx1"/>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0" tIns="34290" rIns="0" bIns="34290" numCol="1" rtlCol="0" anchor="t" anchorCtr="0" compatLnSpc="1">
            <a:prstTxWarp prst="textNoShape">
              <a:avLst/>
            </a:prstTxWarp>
          </a:bodyPr>
          <a:lstStyle/>
          <a:p>
            <a:pPr algn="ctr" defTabSz="685800" eaLnBrk="0" hangingPunct="0"/>
            <a:r>
              <a:rPr lang="en-US" sz="1200" dirty="0">
                <a:solidFill>
                  <a:schemeClr val="accent2">
                    <a:lumMod val="75000"/>
                  </a:schemeClr>
                </a:solidFill>
              </a:rPr>
              <a:t>3: </a:t>
            </a:r>
            <a:r>
              <a:rPr lang="en-US" sz="1200" dirty="0" err="1">
                <a:solidFill>
                  <a:schemeClr val="accent2">
                    <a:lumMod val="75000"/>
                  </a:schemeClr>
                </a:solidFill>
              </a:rPr>
              <a:t>BusReply</a:t>
            </a:r>
            <a:r>
              <a:rPr lang="en-US" sz="1200" dirty="0">
                <a:solidFill>
                  <a:schemeClr val="accent2">
                    <a:lumMod val="75000"/>
                  </a:schemeClr>
                </a:solidFill>
              </a:rPr>
              <a:t> A</a:t>
            </a:r>
          </a:p>
        </p:txBody>
      </p:sp>
      <p:sp>
        <p:nvSpPr>
          <p:cNvPr id="43" name="Rectangle 21" descr=" 109">
            <a:extLst>
              <a:ext uri="{FF2B5EF4-FFF2-40B4-BE49-F238E27FC236}">
                <a16:creationId xmlns:a16="http://schemas.microsoft.com/office/drawing/2014/main" id="{36F67666-B3E9-4FC6-8734-6CBF4CC28EA7}"/>
              </a:ext>
            </a:extLst>
          </p:cNvPr>
          <p:cNvSpPr>
            <a:spLocks noChangeArrowheads="1"/>
          </p:cNvSpPr>
          <p:nvPr>
            <p:custDataLst>
              <p:tags r:id="rId32"/>
            </p:custDataLst>
          </p:nvPr>
        </p:nvSpPr>
        <p:spPr bwMode="auto">
          <a:xfrm>
            <a:off x="6667187" y="3943348"/>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a:t>
            </a:r>
            <a:r>
              <a:rPr lang="en-US" sz="1500" strike="sngStrike" dirty="0"/>
              <a:t>I</a:t>
            </a:r>
            <a:r>
              <a:rPr lang="en-US" sz="1500" dirty="0"/>
              <a:t> </a:t>
            </a:r>
            <a:r>
              <a:rPr lang="en-US" sz="1500" dirty="0">
                <a:solidFill>
                  <a:schemeClr val="accent2"/>
                </a:solidFill>
              </a:rPr>
              <a:t>S</a:t>
            </a:r>
            <a:r>
              <a:rPr lang="en-US" sz="1500" dirty="0"/>
              <a:t>]: </a:t>
            </a:r>
            <a:r>
              <a:rPr lang="en-US" sz="1500" dirty="0">
                <a:solidFill>
                  <a:schemeClr val="accent2"/>
                </a:solidFill>
              </a:rPr>
              <a:t>1</a:t>
            </a:r>
            <a:endParaRPr lang="en-US" sz="1800" dirty="0">
              <a:solidFill>
                <a:schemeClr val="accent2"/>
              </a:solidFill>
            </a:endParaRPr>
          </a:p>
        </p:txBody>
      </p:sp>
      <p:sp>
        <p:nvSpPr>
          <p:cNvPr id="46" name="Rectangle 21" descr=" 110">
            <a:extLst>
              <a:ext uri="{FF2B5EF4-FFF2-40B4-BE49-F238E27FC236}">
                <a16:creationId xmlns:a16="http://schemas.microsoft.com/office/drawing/2014/main" id="{D25D3EC6-27FC-4324-9651-BB43FECD86F0}"/>
              </a:ext>
            </a:extLst>
          </p:cNvPr>
          <p:cNvSpPr>
            <a:spLocks noChangeArrowheads="1"/>
          </p:cNvSpPr>
          <p:nvPr>
            <p:custDataLst>
              <p:tags r:id="rId33"/>
            </p:custDataLst>
          </p:nvPr>
        </p:nvSpPr>
        <p:spPr bwMode="auto">
          <a:xfrm>
            <a:off x="7753037" y="3943348"/>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a:t>
            </a:r>
            <a:r>
              <a:rPr lang="en-US" sz="1500" strike="sngStrike" dirty="0"/>
              <a:t>M</a:t>
            </a:r>
            <a:r>
              <a:rPr lang="en-US" sz="1500" dirty="0"/>
              <a:t> </a:t>
            </a:r>
            <a:r>
              <a:rPr lang="en-US" sz="1500" dirty="0">
                <a:solidFill>
                  <a:schemeClr val="accent2"/>
                </a:solidFill>
              </a:rPr>
              <a:t>S</a:t>
            </a:r>
            <a:r>
              <a:rPr lang="en-US" sz="1500" dirty="0"/>
              <a:t>]: </a:t>
            </a:r>
            <a:r>
              <a:rPr lang="en-US" sz="1500" dirty="0">
                <a:solidFill>
                  <a:schemeClr val="tx1"/>
                </a:solidFill>
              </a:rPr>
              <a:t>1</a:t>
            </a:r>
            <a:endParaRPr lang="en-US" sz="1800" dirty="0">
              <a:solidFill>
                <a:schemeClr val="tx1"/>
              </a:solidFill>
            </a:endParaRPr>
          </a:p>
        </p:txBody>
      </p:sp>
      <p:sp>
        <p:nvSpPr>
          <p:cNvPr id="48" name="Rectangle 21" descr=" 111">
            <a:extLst>
              <a:ext uri="{FF2B5EF4-FFF2-40B4-BE49-F238E27FC236}">
                <a16:creationId xmlns:a16="http://schemas.microsoft.com/office/drawing/2014/main" id="{6D595BE7-BF5C-4084-8298-C679FE4A8836}"/>
              </a:ext>
            </a:extLst>
          </p:cNvPr>
          <p:cNvSpPr>
            <a:spLocks noChangeArrowheads="1"/>
          </p:cNvSpPr>
          <p:nvPr>
            <p:custDataLst>
              <p:tags r:id="rId34"/>
            </p:custDataLst>
          </p:nvPr>
        </p:nvSpPr>
        <p:spPr bwMode="auto">
          <a:xfrm>
            <a:off x="7181538" y="5029198"/>
            <a:ext cx="885754"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a:t>
            </a:r>
            <a:r>
              <a:rPr lang="en-US" sz="1500" strike="sngStrike" dirty="0"/>
              <a:t>0</a:t>
            </a:r>
            <a:r>
              <a:rPr lang="en-US" sz="1500" dirty="0"/>
              <a:t> </a:t>
            </a:r>
            <a:r>
              <a:rPr lang="en-US" sz="1500" dirty="0">
                <a:solidFill>
                  <a:schemeClr val="accent2"/>
                </a:solidFill>
              </a:rPr>
              <a:t>1</a:t>
            </a:r>
            <a:endParaRPr lang="en-US" sz="1800" dirty="0">
              <a:solidFill>
                <a:schemeClr val="accent2"/>
              </a:solidFill>
            </a:endParaRPr>
          </a:p>
        </p:txBody>
      </p:sp>
      <p:sp>
        <p:nvSpPr>
          <p:cNvPr id="49" name="Oval Callout 58" descr=" 112">
            <a:extLst>
              <a:ext uri="{FF2B5EF4-FFF2-40B4-BE49-F238E27FC236}">
                <a16:creationId xmlns:a16="http://schemas.microsoft.com/office/drawing/2014/main" id="{6757DC39-AF8B-44D9-A12D-CDB9A0A1E941}"/>
              </a:ext>
            </a:extLst>
          </p:cNvPr>
          <p:cNvSpPr/>
          <p:nvPr>
            <p:custDataLst>
              <p:tags r:id="rId35"/>
            </p:custDataLst>
          </p:nvPr>
        </p:nvSpPr>
        <p:spPr bwMode="auto">
          <a:xfrm flipH="1">
            <a:off x="8055795" y="4655937"/>
            <a:ext cx="1046200" cy="342900"/>
          </a:xfrm>
          <a:prstGeom prst="wedgeEllipseCallout">
            <a:avLst>
              <a:gd name="adj1" fmla="val 84069"/>
              <a:gd name="adj2" fmla="val -13971"/>
            </a:avLst>
          </a:prstGeom>
          <a:solidFill>
            <a:schemeClr val="bg1"/>
          </a:solidFill>
          <a:ln>
            <a:solidFill>
              <a:schemeClr val="tx1"/>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0" tIns="34290" rIns="0" bIns="34290" numCol="1" rtlCol="0" anchor="t" anchorCtr="0" compatLnSpc="1">
            <a:prstTxWarp prst="textNoShape">
              <a:avLst/>
            </a:prstTxWarp>
          </a:bodyPr>
          <a:lstStyle/>
          <a:p>
            <a:pPr algn="ctr" defTabSz="685800" eaLnBrk="0" hangingPunct="0"/>
            <a:r>
              <a:rPr lang="en-US" sz="1200" dirty="0">
                <a:solidFill>
                  <a:schemeClr val="accent2">
                    <a:lumMod val="75000"/>
                  </a:schemeClr>
                </a:solidFill>
              </a:rPr>
              <a:t>4: </a:t>
            </a:r>
            <a:r>
              <a:rPr lang="en-US" sz="1200" dirty="0" err="1">
                <a:solidFill>
                  <a:schemeClr val="accent2">
                    <a:lumMod val="75000"/>
                  </a:schemeClr>
                </a:solidFill>
              </a:rPr>
              <a:t>BusWB</a:t>
            </a:r>
            <a:r>
              <a:rPr lang="en-US" sz="1200" dirty="0">
                <a:solidFill>
                  <a:schemeClr val="accent2">
                    <a:lumMod val="75000"/>
                  </a:schemeClr>
                </a:solidFill>
              </a:rPr>
              <a:t> A</a:t>
            </a:r>
          </a:p>
        </p:txBody>
      </p:sp>
      <p:sp>
        <p:nvSpPr>
          <p:cNvPr id="50" name="TextBox 49">
            <a:extLst>
              <a:ext uri="{FF2B5EF4-FFF2-40B4-BE49-F238E27FC236}">
                <a16:creationId xmlns:a16="http://schemas.microsoft.com/office/drawing/2014/main" id="{9C05769B-D219-4662-9345-B40F3F7F3508}"/>
              </a:ext>
            </a:extLst>
          </p:cNvPr>
          <p:cNvSpPr txBox="1"/>
          <p:nvPr>
            <p:custDataLst>
              <p:tags r:id="rId36"/>
            </p:custDataLst>
          </p:nvPr>
        </p:nvSpPr>
        <p:spPr>
          <a:xfrm>
            <a:off x="6554378" y="5523231"/>
            <a:ext cx="1874792" cy="420538"/>
          </a:xfrm>
          <a:prstGeom prst="rect">
            <a:avLst/>
          </a:prstGeom>
          <a:noFill/>
        </p:spPr>
        <p:txBody>
          <a:bodyPr wrap="square" rtlCol="0" anchor="ctr">
            <a:noAutofit/>
          </a:bodyPr>
          <a:lstStyle/>
          <a:p>
            <a:pPr algn="ctr"/>
            <a:r>
              <a:rPr lang="en-US" sz="1600" b="1" dirty="0">
                <a:solidFill>
                  <a:schemeClr val="accent6">
                    <a:lumMod val="75000"/>
                  </a:schemeClr>
                </a:solidFill>
                <a:latin typeface="+mn-lt"/>
              </a:rPr>
              <a:t>memory gets the latest value of A too</a:t>
            </a:r>
          </a:p>
        </p:txBody>
      </p:sp>
      <p:cxnSp>
        <p:nvCxnSpPr>
          <p:cNvPr id="51" name="Straight Connector 50">
            <a:extLst>
              <a:ext uri="{FF2B5EF4-FFF2-40B4-BE49-F238E27FC236}">
                <a16:creationId xmlns:a16="http://schemas.microsoft.com/office/drawing/2014/main" id="{A4D42BB7-9092-4ECD-84FB-11FDEF99C708}"/>
              </a:ext>
            </a:extLst>
          </p:cNvPr>
          <p:cNvCxnSpPr>
            <a:cxnSpLocks/>
          </p:cNvCxnSpPr>
          <p:nvPr/>
        </p:nvCxnSpPr>
        <p:spPr>
          <a:xfrm flipH="1">
            <a:off x="7924800" y="4952743"/>
            <a:ext cx="654096" cy="569303"/>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2" name="Rectangle 2">
            <a:extLst>
              <a:ext uri="{FF2B5EF4-FFF2-40B4-BE49-F238E27FC236}">
                <a16:creationId xmlns:a16="http://schemas.microsoft.com/office/drawing/2014/main" id="{6CA08439-394E-4B76-AABC-6646B0E9BB2E}"/>
              </a:ext>
            </a:extLst>
          </p:cNvPr>
          <p:cNvSpPr>
            <a:spLocks noGrp="1" noChangeArrowheads="1"/>
          </p:cNvSpPr>
          <p:nvPr>
            <p:ph type="title"/>
            <p:custDataLst>
              <p:tags r:id="rId37"/>
            </p:custDataLst>
          </p:nvPr>
        </p:nvSpPr>
        <p:spPr>
          <a:xfrm>
            <a:off x="457200" y="274638"/>
            <a:ext cx="7467600" cy="1143000"/>
          </a:xfrm>
        </p:spPr>
        <p:txBody>
          <a:bodyPr/>
          <a:lstStyle/>
          <a:p>
            <a:pPr eaLnBrk="1" hangingPunct="1"/>
            <a:r>
              <a:rPr lang="en-US" altLang="en-US" dirty="0">
                <a:latin typeface="+mn-lt"/>
              </a:rPr>
              <a:t>MSI Protocol</a:t>
            </a:r>
          </a:p>
        </p:txBody>
      </p:sp>
    </p:spTree>
    <p:custDataLst>
      <p:tags r:id="rId1"/>
    </p:custDataLst>
    <p:extLst>
      <p:ext uri="{BB962C8B-B14F-4D97-AF65-F5344CB8AC3E}">
        <p14:creationId xmlns:p14="http://schemas.microsoft.com/office/powerpoint/2010/main" val="76153462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12" descr=" 26">
            <a:extLst>
              <a:ext uri="{FF2B5EF4-FFF2-40B4-BE49-F238E27FC236}">
                <a16:creationId xmlns:a16="http://schemas.microsoft.com/office/drawing/2014/main" id="{E46CCE21-4679-4321-B866-87424AA794FA}"/>
              </a:ext>
            </a:extLst>
          </p:cNvPr>
          <p:cNvSpPr>
            <a:spLocks noChangeArrowheads="1"/>
          </p:cNvSpPr>
          <p:nvPr>
            <p:custDataLst>
              <p:tags r:id="rId2"/>
            </p:custDataLst>
          </p:nvPr>
        </p:nvSpPr>
        <p:spPr bwMode="auto">
          <a:xfrm rot="18047435">
            <a:off x="276351" y="3674864"/>
            <a:ext cx="1064876"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Store / </a:t>
            </a:r>
            <a:r>
              <a:rPr lang="en-US" sz="1200" dirty="0" err="1">
                <a:latin typeface="+mn-lt"/>
              </a:rPr>
              <a:t>BusRdX</a:t>
            </a:r>
            <a:endParaRPr lang="en-US" sz="1200" dirty="0">
              <a:latin typeface="+mn-lt"/>
            </a:endParaRPr>
          </a:p>
        </p:txBody>
      </p:sp>
      <p:sp>
        <p:nvSpPr>
          <p:cNvPr id="27" name="Oval 8" descr=" 27">
            <a:extLst>
              <a:ext uri="{FF2B5EF4-FFF2-40B4-BE49-F238E27FC236}">
                <a16:creationId xmlns:a16="http://schemas.microsoft.com/office/drawing/2014/main" id="{DBBF02CF-CADF-4288-AB07-511F3237F6BC}"/>
              </a:ext>
            </a:extLst>
          </p:cNvPr>
          <p:cNvSpPr>
            <a:spLocks noChangeArrowheads="1"/>
          </p:cNvSpPr>
          <p:nvPr>
            <p:custDataLst>
              <p:tags r:id="rId3"/>
            </p:custDataLst>
          </p:nvPr>
        </p:nvSpPr>
        <p:spPr bwMode="auto">
          <a:xfrm>
            <a:off x="1047747" y="2626659"/>
            <a:ext cx="685800" cy="685800"/>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2100" dirty="0"/>
              <a:t>I</a:t>
            </a:r>
          </a:p>
        </p:txBody>
      </p:sp>
      <p:sp>
        <p:nvSpPr>
          <p:cNvPr id="28" name="Rectangle 19" descr=" 28">
            <a:extLst>
              <a:ext uri="{FF2B5EF4-FFF2-40B4-BE49-F238E27FC236}">
                <a16:creationId xmlns:a16="http://schemas.microsoft.com/office/drawing/2014/main" id="{87F0BF2B-32FF-4F50-BB1F-129F3AB8DB1D}"/>
              </a:ext>
            </a:extLst>
          </p:cNvPr>
          <p:cNvSpPr>
            <a:spLocks noChangeArrowheads="1"/>
          </p:cNvSpPr>
          <p:nvPr>
            <p:custDataLst>
              <p:tags r:id="rId4"/>
            </p:custDataLst>
          </p:nvPr>
        </p:nvSpPr>
        <p:spPr bwMode="auto">
          <a:xfrm>
            <a:off x="2516984" y="2368853"/>
            <a:ext cx="954589"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Load / </a:t>
            </a:r>
            <a:r>
              <a:rPr lang="en-US" sz="1200" dirty="0" err="1">
                <a:latin typeface="+mn-lt"/>
              </a:rPr>
              <a:t>BusRd</a:t>
            </a:r>
            <a:endParaRPr lang="en-US" sz="1200" dirty="0">
              <a:latin typeface="+mn-lt"/>
            </a:endParaRPr>
          </a:p>
        </p:txBody>
      </p:sp>
      <p:sp>
        <p:nvSpPr>
          <p:cNvPr id="29" name="Oval 8" descr=" 29">
            <a:extLst>
              <a:ext uri="{FF2B5EF4-FFF2-40B4-BE49-F238E27FC236}">
                <a16:creationId xmlns:a16="http://schemas.microsoft.com/office/drawing/2014/main" id="{33CDB991-EB3C-4069-8BA9-57A753E2DDD1}"/>
              </a:ext>
            </a:extLst>
          </p:cNvPr>
          <p:cNvSpPr>
            <a:spLocks noChangeArrowheads="1"/>
          </p:cNvSpPr>
          <p:nvPr>
            <p:custDataLst>
              <p:tags r:id="rId5"/>
            </p:custDataLst>
          </p:nvPr>
        </p:nvSpPr>
        <p:spPr bwMode="auto">
          <a:xfrm>
            <a:off x="4362447" y="2626659"/>
            <a:ext cx="685800" cy="685800"/>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2100" dirty="0"/>
              <a:t>S</a:t>
            </a:r>
          </a:p>
        </p:txBody>
      </p:sp>
      <p:sp>
        <p:nvSpPr>
          <p:cNvPr id="30" name="Freeform 32" descr=" 30">
            <a:extLst>
              <a:ext uri="{FF2B5EF4-FFF2-40B4-BE49-F238E27FC236}">
                <a16:creationId xmlns:a16="http://schemas.microsoft.com/office/drawing/2014/main" id="{3A5C55D6-7CC2-4364-8387-68455F042D9A}"/>
              </a:ext>
            </a:extLst>
          </p:cNvPr>
          <p:cNvSpPr/>
          <p:nvPr>
            <p:custDataLst>
              <p:tags r:id="rId6"/>
            </p:custDataLst>
          </p:nvPr>
        </p:nvSpPr>
        <p:spPr bwMode="auto">
          <a:xfrm>
            <a:off x="1733547" y="2619936"/>
            <a:ext cx="2625539" cy="231962"/>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Lst>
            <a:ahLst/>
            <a:cxnLst>
              <a:cxn ang="0">
                <a:pos x="connsiteX0" y="connsiteY0"/>
              </a:cxn>
              <a:cxn ang="0">
                <a:pos x="connsiteX1" y="connsiteY1"/>
              </a:cxn>
              <a:cxn ang="0">
                <a:pos x="connsiteX2" y="connsiteY2"/>
              </a:cxn>
            </a:cxnLst>
            <a:rect l="l" t="t" r="r" b="b"/>
            <a:pathLst>
              <a:path w="3567953" h="309283">
                <a:moveTo>
                  <a:pt x="0" y="309283"/>
                </a:moveTo>
                <a:cubicBezTo>
                  <a:pt x="626035" y="188259"/>
                  <a:pt x="1072776" y="17930"/>
                  <a:pt x="1667435" y="8965"/>
                </a:cubicBezTo>
                <a:cubicBezTo>
                  <a:pt x="2262094" y="0"/>
                  <a:pt x="3004670" y="152400"/>
                  <a:pt x="3567953" y="255494"/>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31" name="Rectangle 19" descr=" 31">
            <a:extLst>
              <a:ext uri="{FF2B5EF4-FFF2-40B4-BE49-F238E27FC236}">
                <a16:creationId xmlns:a16="http://schemas.microsoft.com/office/drawing/2014/main" id="{E02A03AC-54D9-4AF4-9EFC-11A61E811F0E}"/>
              </a:ext>
            </a:extLst>
          </p:cNvPr>
          <p:cNvSpPr>
            <a:spLocks noChangeArrowheads="1"/>
          </p:cNvSpPr>
          <p:nvPr>
            <p:custDataLst>
              <p:tags r:id="rId7"/>
            </p:custDataLst>
          </p:nvPr>
        </p:nvSpPr>
        <p:spPr bwMode="auto">
          <a:xfrm>
            <a:off x="4999636" y="3058716"/>
            <a:ext cx="659636"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Load / --</a:t>
            </a:r>
          </a:p>
        </p:txBody>
      </p:sp>
      <p:sp>
        <p:nvSpPr>
          <p:cNvPr id="32" name="Rectangle 19" descr=" 32">
            <a:extLst>
              <a:ext uri="{FF2B5EF4-FFF2-40B4-BE49-F238E27FC236}">
                <a16:creationId xmlns:a16="http://schemas.microsoft.com/office/drawing/2014/main" id="{00765427-09EC-45D0-9C29-2C799424A5C6}"/>
              </a:ext>
            </a:extLst>
          </p:cNvPr>
          <p:cNvSpPr>
            <a:spLocks noChangeArrowheads="1"/>
          </p:cNvSpPr>
          <p:nvPr>
            <p:custDataLst>
              <p:tags r:id="rId8"/>
            </p:custDataLst>
          </p:nvPr>
        </p:nvSpPr>
        <p:spPr bwMode="auto">
          <a:xfrm>
            <a:off x="4693021" y="2389080"/>
            <a:ext cx="757420" cy="251993"/>
          </a:xfrm>
          <a:prstGeom prst="rect">
            <a:avLst/>
          </a:prstGeom>
          <a:noFill/>
          <a:ln w="12700">
            <a:noFill/>
            <a:prstDash val="sysDot"/>
            <a:miter lim="800000"/>
            <a:headEnd/>
            <a:tailEnd/>
          </a:ln>
        </p:spPr>
        <p:txBody>
          <a:bodyPr wrap="none" lIns="67866" tIns="33338" rIns="67866" bIns="33338">
            <a:spAutoFit/>
          </a:bodyPr>
          <a:lstStyle/>
          <a:p>
            <a:r>
              <a:rPr lang="en-US" sz="1200" dirty="0" err="1">
                <a:latin typeface="+mn-lt"/>
              </a:rPr>
              <a:t>BusRd</a:t>
            </a:r>
            <a:r>
              <a:rPr lang="en-US" sz="1200" dirty="0">
                <a:latin typeface="+mn-lt"/>
              </a:rPr>
              <a:t> / --</a:t>
            </a:r>
          </a:p>
        </p:txBody>
      </p:sp>
      <p:sp>
        <p:nvSpPr>
          <p:cNvPr id="33" name="Arc 9" descr=" 33">
            <a:extLst>
              <a:ext uri="{FF2B5EF4-FFF2-40B4-BE49-F238E27FC236}">
                <a16:creationId xmlns:a16="http://schemas.microsoft.com/office/drawing/2014/main" id="{B8331003-EF3D-49AA-A122-A5EBAA12E235}"/>
              </a:ext>
            </a:extLst>
          </p:cNvPr>
          <p:cNvSpPr>
            <a:spLocks/>
          </p:cNvSpPr>
          <p:nvPr>
            <p:custDataLst>
              <p:tags r:id="rId9"/>
            </p:custDataLst>
          </p:nvPr>
        </p:nvSpPr>
        <p:spPr bwMode="auto">
          <a:xfrm rot="8454697">
            <a:off x="5048821" y="2639011"/>
            <a:ext cx="472328" cy="415302"/>
          </a:xfrm>
          <a:custGeom>
            <a:avLst/>
            <a:gdLst>
              <a:gd name="T0" fmla="*/ 505 w 43200"/>
              <a:gd name="T1" fmla="*/ 474 h 43200"/>
              <a:gd name="T2" fmla="*/ 599 w 43200"/>
              <a:gd name="T3" fmla="*/ 328 h 43200"/>
              <a:gd name="T4" fmla="*/ 303 w 43200"/>
              <a:gd name="T5" fmla="*/ 272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path>
              <a:path w="43200" h="43200" stroke="0"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lnTo>
                  <a:pt x="21600" y="21600"/>
                </a:lnTo>
                <a:close/>
              </a:path>
            </a:pathLst>
          </a:custGeom>
          <a:noFill/>
          <a:ln w="12700" cap="rnd">
            <a:solidFill>
              <a:schemeClr val="tx1"/>
            </a:solidFill>
            <a:round/>
            <a:headEnd/>
            <a:tailEnd type="triangle" w="med" len="med"/>
          </a:ln>
        </p:spPr>
        <p:txBody>
          <a:bodyPr wrap="none" anchor="ctr"/>
          <a:lstStyle/>
          <a:p>
            <a:endParaRPr lang="en-US" sz="1200" dirty="0">
              <a:latin typeface="+mn-lt"/>
            </a:endParaRPr>
          </a:p>
        </p:txBody>
      </p:sp>
      <p:sp>
        <p:nvSpPr>
          <p:cNvPr id="34" name="Oval 8" descr=" 34">
            <a:extLst>
              <a:ext uri="{FF2B5EF4-FFF2-40B4-BE49-F238E27FC236}">
                <a16:creationId xmlns:a16="http://schemas.microsoft.com/office/drawing/2014/main" id="{6D6F9712-1D17-4F59-A56D-69B6F5C8D760}"/>
              </a:ext>
            </a:extLst>
          </p:cNvPr>
          <p:cNvSpPr>
            <a:spLocks noChangeArrowheads="1"/>
          </p:cNvSpPr>
          <p:nvPr>
            <p:custDataLst>
              <p:tags r:id="rId10"/>
            </p:custDataLst>
          </p:nvPr>
        </p:nvSpPr>
        <p:spPr bwMode="auto">
          <a:xfrm>
            <a:off x="1104897" y="5026959"/>
            <a:ext cx="685800" cy="685800"/>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2100" dirty="0"/>
              <a:t>M</a:t>
            </a:r>
          </a:p>
        </p:txBody>
      </p:sp>
      <p:sp>
        <p:nvSpPr>
          <p:cNvPr id="35" name="Freeform 38" descr=" 35">
            <a:extLst>
              <a:ext uri="{FF2B5EF4-FFF2-40B4-BE49-F238E27FC236}">
                <a16:creationId xmlns:a16="http://schemas.microsoft.com/office/drawing/2014/main" id="{6498D179-63E5-478F-863E-7F646837C369}"/>
              </a:ext>
            </a:extLst>
          </p:cNvPr>
          <p:cNvSpPr/>
          <p:nvPr>
            <p:custDataLst>
              <p:tags r:id="rId11"/>
            </p:custDataLst>
          </p:nvPr>
        </p:nvSpPr>
        <p:spPr bwMode="auto">
          <a:xfrm rot="16035852" flipH="1">
            <a:off x="291114" y="4057237"/>
            <a:ext cx="1712399" cy="231962"/>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Lst>
            <a:ahLst/>
            <a:cxnLst>
              <a:cxn ang="0">
                <a:pos x="connsiteX0" y="connsiteY0"/>
              </a:cxn>
              <a:cxn ang="0">
                <a:pos x="connsiteX1" y="connsiteY1"/>
              </a:cxn>
              <a:cxn ang="0">
                <a:pos x="connsiteX2" y="connsiteY2"/>
              </a:cxn>
            </a:cxnLst>
            <a:rect l="l" t="t" r="r" b="b"/>
            <a:pathLst>
              <a:path w="3567953" h="309283">
                <a:moveTo>
                  <a:pt x="0" y="309283"/>
                </a:moveTo>
                <a:cubicBezTo>
                  <a:pt x="626035" y="188259"/>
                  <a:pt x="1072776" y="17930"/>
                  <a:pt x="1667435" y="8965"/>
                </a:cubicBezTo>
                <a:cubicBezTo>
                  <a:pt x="2262094" y="0"/>
                  <a:pt x="3004670" y="152400"/>
                  <a:pt x="3567953" y="255494"/>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38" name="Freeform 41" descr=" 38">
            <a:extLst>
              <a:ext uri="{FF2B5EF4-FFF2-40B4-BE49-F238E27FC236}">
                <a16:creationId xmlns:a16="http://schemas.microsoft.com/office/drawing/2014/main" id="{D098FEF2-4FC8-4CE2-9E3A-88561280BDA4}"/>
              </a:ext>
            </a:extLst>
          </p:cNvPr>
          <p:cNvSpPr/>
          <p:nvPr>
            <p:custDataLst>
              <p:tags r:id="rId12"/>
            </p:custDataLst>
          </p:nvPr>
        </p:nvSpPr>
        <p:spPr bwMode="auto">
          <a:xfrm rot="10800000">
            <a:off x="1733547" y="3023347"/>
            <a:ext cx="2625539" cy="231962"/>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Lst>
            <a:ahLst/>
            <a:cxnLst>
              <a:cxn ang="0">
                <a:pos x="connsiteX0" y="connsiteY0"/>
              </a:cxn>
              <a:cxn ang="0">
                <a:pos x="connsiteX1" y="connsiteY1"/>
              </a:cxn>
              <a:cxn ang="0">
                <a:pos x="connsiteX2" y="connsiteY2"/>
              </a:cxn>
            </a:cxnLst>
            <a:rect l="l" t="t" r="r" b="b"/>
            <a:pathLst>
              <a:path w="3567953" h="309283">
                <a:moveTo>
                  <a:pt x="0" y="309283"/>
                </a:moveTo>
                <a:cubicBezTo>
                  <a:pt x="626035" y="188259"/>
                  <a:pt x="1072776" y="17930"/>
                  <a:pt x="1667435" y="8965"/>
                </a:cubicBezTo>
                <a:cubicBezTo>
                  <a:pt x="2262094" y="0"/>
                  <a:pt x="3004670" y="152400"/>
                  <a:pt x="3567953" y="255494"/>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39" name="Rectangle 19" descr=" 39">
            <a:extLst>
              <a:ext uri="{FF2B5EF4-FFF2-40B4-BE49-F238E27FC236}">
                <a16:creationId xmlns:a16="http://schemas.microsoft.com/office/drawing/2014/main" id="{B00B0C59-2DF1-4525-AB77-50EAEF06353E}"/>
              </a:ext>
            </a:extLst>
          </p:cNvPr>
          <p:cNvSpPr>
            <a:spLocks noChangeArrowheads="1"/>
          </p:cNvSpPr>
          <p:nvPr>
            <p:custDataLst>
              <p:tags r:id="rId13"/>
            </p:custDataLst>
          </p:nvPr>
        </p:nvSpPr>
        <p:spPr bwMode="auto">
          <a:xfrm>
            <a:off x="2668468" y="3242900"/>
            <a:ext cx="652840"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Evict / --</a:t>
            </a:r>
          </a:p>
        </p:txBody>
      </p:sp>
      <p:sp>
        <p:nvSpPr>
          <p:cNvPr id="40" name="Freeform 43" descr=" 40">
            <a:extLst>
              <a:ext uri="{FF2B5EF4-FFF2-40B4-BE49-F238E27FC236}">
                <a16:creationId xmlns:a16="http://schemas.microsoft.com/office/drawing/2014/main" id="{49444570-B459-4FD9-8379-196C90D20393}"/>
              </a:ext>
            </a:extLst>
          </p:cNvPr>
          <p:cNvSpPr/>
          <p:nvPr>
            <p:custDataLst>
              <p:tags r:id="rId14"/>
            </p:custDataLst>
          </p:nvPr>
        </p:nvSpPr>
        <p:spPr bwMode="auto">
          <a:xfrm rot="20487262">
            <a:off x="1493844" y="3681742"/>
            <a:ext cx="3218770" cy="1089877"/>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 name="connsiteX0" fmla="*/ 0 w 3910048"/>
              <a:gd name="connsiteY0" fmla="*/ 1556263 h 1556263"/>
              <a:gd name="connsiteX1" fmla="*/ 1667435 w 3910048"/>
              <a:gd name="connsiteY1" fmla="*/ 1255945 h 1556263"/>
              <a:gd name="connsiteX2" fmla="*/ 3910048 w 3910048"/>
              <a:gd name="connsiteY2" fmla="*/ 103094 h 1556263"/>
              <a:gd name="connsiteX0" fmla="*/ 0 w 3910048"/>
              <a:gd name="connsiteY0" fmla="*/ 1556263 h 1556263"/>
              <a:gd name="connsiteX1" fmla="*/ 1494292 w 3910048"/>
              <a:gd name="connsiteY1" fmla="*/ 579905 h 1556263"/>
              <a:gd name="connsiteX2" fmla="*/ 3910048 w 3910048"/>
              <a:gd name="connsiteY2" fmla="*/ 103094 h 1556263"/>
              <a:gd name="connsiteX0" fmla="*/ 0 w 3910048"/>
              <a:gd name="connsiteY0" fmla="*/ 1556263 h 1556263"/>
              <a:gd name="connsiteX1" fmla="*/ 395335 w 3910048"/>
              <a:gd name="connsiteY1" fmla="*/ 1300472 h 1556263"/>
              <a:gd name="connsiteX2" fmla="*/ 1494292 w 3910048"/>
              <a:gd name="connsiteY2" fmla="*/ 579905 h 1556263"/>
              <a:gd name="connsiteX3" fmla="*/ 3910048 w 3910048"/>
              <a:gd name="connsiteY3" fmla="*/ 103094 h 1556263"/>
              <a:gd name="connsiteX0" fmla="*/ 0 w 3910048"/>
              <a:gd name="connsiteY0" fmla="*/ 1453169 h 1453169"/>
              <a:gd name="connsiteX1" fmla="*/ 395335 w 3910048"/>
              <a:gd name="connsiteY1" fmla="*/ 1197378 h 1453169"/>
              <a:gd name="connsiteX2" fmla="*/ 1494292 w 3910048"/>
              <a:gd name="connsiteY2" fmla="*/ 476811 h 1453169"/>
              <a:gd name="connsiteX3" fmla="*/ 2702381 w 3910048"/>
              <a:gd name="connsiteY3" fmla="*/ 117923 h 1453169"/>
              <a:gd name="connsiteX4" fmla="*/ 3910048 w 3910048"/>
              <a:gd name="connsiteY4" fmla="*/ 0 h 1453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0048" h="1453169">
                <a:moveTo>
                  <a:pt x="0" y="1453169"/>
                </a:moveTo>
                <a:cubicBezTo>
                  <a:pt x="73616" y="1422838"/>
                  <a:pt x="146286" y="1360104"/>
                  <a:pt x="395335" y="1197378"/>
                </a:cubicBezTo>
                <a:cubicBezTo>
                  <a:pt x="644384" y="1034652"/>
                  <a:pt x="1109784" y="656720"/>
                  <a:pt x="1494292" y="476811"/>
                </a:cubicBezTo>
                <a:cubicBezTo>
                  <a:pt x="1878800" y="296902"/>
                  <a:pt x="2299755" y="197392"/>
                  <a:pt x="2702381" y="117923"/>
                </a:cubicBezTo>
                <a:cubicBezTo>
                  <a:pt x="3105007" y="38455"/>
                  <a:pt x="3709840" y="23200"/>
                  <a:pt x="3910048" y="0"/>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41" name="Freeform 44" descr=" 41">
            <a:extLst>
              <a:ext uri="{FF2B5EF4-FFF2-40B4-BE49-F238E27FC236}">
                <a16:creationId xmlns:a16="http://schemas.microsoft.com/office/drawing/2014/main" id="{3E7A807E-C199-4F70-93E9-FCBBA0C8ED05}"/>
              </a:ext>
            </a:extLst>
          </p:cNvPr>
          <p:cNvSpPr/>
          <p:nvPr>
            <p:custDataLst>
              <p:tags r:id="rId15"/>
            </p:custDataLst>
          </p:nvPr>
        </p:nvSpPr>
        <p:spPr bwMode="auto">
          <a:xfrm rot="9708963">
            <a:off x="1515700" y="3880050"/>
            <a:ext cx="3464645" cy="1207969"/>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 name="connsiteX0" fmla="*/ 0 w 3910048"/>
              <a:gd name="connsiteY0" fmla="*/ 1556263 h 1556263"/>
              <a:gd name="connsiteX1" fmla="*/ 1667435 w 3910048"/>
              <a:gd name="connsiteY1" fmla="*/ 1255945 h 1556263"/>
              <a:gd name="connsiteX2" fmla="*/ 3910048 w 3910048"/>
              <a:gd name="connsiteY2" fmla="*/ 103094 h 1556263"/>
              <a:gd name="connsiteX0" fmla="*/ 0 w 3910048"/>
              <a:gd name="connsiteY0" fmla="*/ 1556263 h 1556263"/>
              <a:gd name="connsiteX1" fmla="*/ 1494292 w 3910048"/>
              <a:gd name="connsiteY1" fmla="*/ 579905 h 1556263"/>
              <a:gd name="connsiteX2" fmla="*/ 3910048 w 3910048"/>
              <a:gd name="connsiteY2" fmla="*/ 103094 h 1556263"/>
              <a:gd name="connsiteX0" fmla="*/ 0 w 3910048"/>
              <a:gd name="connsiteY0" fmla="*/ 1556263 h 1556263"/>
              <a:gd name="connsiteX1" fmla="*/ 395335 w 3910048"/>
              <a:gd name="connsiteY1" fmla="*/ 1300472 h 1556263"/>
              <a:gd name="connsiteX2" fmla="*/ 1494292 w 3910048"/>
              <a:gd name="connsiteY2" fmla="*/ 579905 h 1556263"/>
              <a:gd name="connsiteX3" fmla="*/ 3910048 w 3910048"/>
              <a:gd name="connsiteY3" fmla="*/ 103094 h 1556263"/>
              <a:gd name="connsiteX0" fmla="*/ 0 w 3910048"/>
              <a:gd name="connsiteY0" fmla="*/ 1453169 h 1453169"/>
              <a:gd name="connsiteX1" fmla="*/ 395335 w 3910048"/>
              <a:gd name="connsiteY1" fmla="*/ 1197378 h 1453169"/>
              <a:gd name="connsiteX2" fmla="*/ 1494292 w 3910048"/>
              <a:gd name="connsiteY2" fmla="*/ 476811 h 1453169"/>
              <a:gd name="connsiteX3" fmla="*/ 2702381 w 3910048"/>
              <a:gd name="connsiteY3" fmla="*/ 117923 h 1453169"/>
              <a:gd name="connsiteX4" fmla="*/ 3910048 w 3910048"/>
              <a:gd name="connsiteY4" fmla="*/ 0 h 1453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0048" h="1453169">
                <a:moveTo>
                  <a:pt x="0" y="1453169"/>
                </a:moveTo>
                <a:cubicBezTo>
                  <a:pt x="73616" y="1422838"/>
                  <a:pt x="146286" y="1360104"/>
                  <a:pt x="395335" y="1197378"/>
                </a:cubicBezTo>
                <a:cubicBezTo>
                  <a:pt x="644384" y="1034652"/>
                  <a:pt x="1109784" y="656720"/>
                  <a:pt x="1494292" y="476811"/>
                </a:cubicBezTo>
                <a:cubicBezTo>
                  <a:pt x="1878800" y="296902"/>
                  <a:pt x="2299755" y="197392"/>
                  <a:pt x="2702381" y="117923"/>
                </a:cubicBezTo>
                <a:cubicBezTo>
                  <a:pt x="3105007" y="38455"/>
                  <a:pt x="3709840" y="23200"/>
                  <a:pt x="3910048" y="0"/>
                </a:cubicBezTo>
              </a:path>
            </a:pathLst>
          </a:custGeom>
          <a:noFill/>
          <a:ln w="9525" cap="flat" cmpd="sng" algn="ctr">
            <a:solidFill>
              <a:schemeClr val="accent2">
                <a:lumMod val="75000"/>
              </a:schemeClr>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42" name="Rectangle 19" descr=" 42">
            <a:extLst>
              <a:ext uri="{FF2B5EF4-FFF2-40B4-BE49-F238E27FC236}">
                <a16:creationId xmlns:a16="http://schemas.microsoft.com/office/drawing/2014/main" id="{F349E51F-FBFB-452B-ADA0-4EF8D10BCADB}"/>
              </a:ext>
            </a:extLst>
          </p:cNvPr>
          <p:cNvSpPr>
            <a:spLocks noChangeArrowheads="1"/>
          </p:cNvSpPr>
          <p:nvPr>
            <p:custDataLst>
              <p:tags r:id="rId16"/>
            </p:custDataLst>
          </p:nvPr>
        </p:nvSpPr>
        <p:spPr bwMode="auto">
          <a:xfrm rot="19370607">
            <a:off x="2180855" y="4008561"/>
            <a:ext cx="1728006" cy="251993"/>
          </a:xfrm>
          <a:prstGeom prst="rect">
            <a:avLst/>
          </a:prstGeom>
          <a:noFill/>
          <a:ln w="12700">
            <a:noFill/>
            <a:prstDash val="sysDot"/>
            <a:miter lim="800000"/>
            <a:headEnd/>
            <a:tailEnd/>
          </a:ln>
        </p:spPr>
        <p:txBody>
          <a:bodyPr wrap="none" lIns="67866" tIns="33338" rIns="67866" bIns="33338">
            <a:spAutoFit/>
          </a:bodyPr>
          <a:lstStyle/>
          <a:p>
            <a:r>
              <a:rPr lang="en-US" sz="1200" dirty="0" err="1">
                <a:latin typeface="+mn-lt"/>
              </a:rPr>
              <a:t>BusRd</a:t>
            </a:r>
            <a:r>
              <a:rPr lang="en-US" sz="1200" dirty="0">
                <a:latin typeface="+mn-lt"/>
              </a:rPr>
              <a:t> / </a:t>
            </a:r>
            <a:r>
              <a:rPr lang="en-US" sz="1200" dirty="0" err="1">
                <a:latin typeface="+mn-lt"/>
              </a:rPr>
              <a:t>BusReply</a:t>
            </a:r>
            <a:r>
              <a:rPr lang="en-US" sz="1200" dirty="0">
                <a:latin typeface="+mn-lt"/>
              </a:rPr>
              <a:t>, </a:t>
            </a:r>
            <a:r>
              <a:rPr lang="en-US" sz="1200" dirty="0" err="1">
                <a:latin typeface="+mn-lt"/>
              </a:rPr>
              <a:t>BusWB</a:t>
            </a:r>
            <a:endParaRPr lang="en-US" sz="1200" dirty="0">
              <a:latin typeface="+mn-lt"/>
            </a:endParaRPr>
          </a:p>
        </p:txBody>
      </p:sp>
      <p:sp>
        <p:nvSpPr>
          <p:cNvPr id="44" name="Arc 9" descr=" 44">
            <a:extLst>
              <a:ext uri="{FF2B5EF4-FFF2-40B4-BE49-F238E27FC236}">
                <a16:creationId xmlns:a16="http://schemas.microsoft.com/office/drawing/2014/main" id="{2A8038E9-C8FF-42F8-8033-41AA97E52CF5}"/>
              </a:ext>
            </a:extLst>
          </p:cNvPr>
          <p:cNvSpPr>
            <a:spLocks/>
          </p:cNvSpPr>
          <p:nvPr>
            <p:custDataLst>
              <p:tags r:id="rId17"/>
            </p:custDataLst>
          </p:nvPr>
        </p:nvSpPr>
        <p:spPr bwMode="auto">
          <a:xfrm rot="18257111">
            <a:off x="680281" y="5417159"/>
            <a:ext cx="472328" cy="415302"/>
          </a:xfrm>
          <a:custGeom>
            <a:avLst/>
            <a:gdLst>
              <a:gd name="T0" fmla="*/ 505 w 43200"/>
              <a:gd name="T1" fmla="*/ 474 h 43200"/>
              <a:gd name="T2" fmla="*/ 599 w 43200"/>
              <a:gd name="T3" fmla="*/ 328 h 43200"/>
              <a:gd name="T4" fmla="*/ 303 w 43200"/>
              <a:gd name="T5" fmla="*/ 272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path>
              <a:path w="43200" h="43200" stroke="0"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lnTo>
                  <a:pt x="21600" y="21600"/>
                </a:lnTo>
                <a:close/>
              </a:path>
            </a:pathLst>
          </a:custGeom>
          <a:noFill/>
          <a:ln w="12700" cap="rnd">
            <a:solidFill>
              <a:schemeClr val="tx1"/>
            </a:solidFill>
            <a:round/>
            <a:headEnd/>
            <a:tailEnd type="triangle" w="med" len="med"/>
          </a:ln>
        </p:spPr>
        <p:txBody>
          <a:bodyPr wrap="none" anchor="ctr"/>
          <a:lstStyle/>
          <a:p>
            <a:endParaRPr lang="en-US" sz="1200" dirty="0">
              <a:latin typeface="+mn-lt"/>
            </a:endParaRPr>
          </a:p>
        </p:txBody>
      </p:sp>
      <p:sp>
        <p:nvSpPr>
          <p:cNvPr id="45" name="Rectangle 19" descr=" 45">
            <a:extLst>
              <a:ext uri="{FF2B5EF4-FFF2-40B4-BE49-F238E27FC236}">
                <a16:creationId xmlns:a16="http://schemas.microsoft.com/office/drawing/2014/main" id="{F508D25A-8129-4ED3-8FE8-9499070B58F1}"/>
              </a:ext>
            </a:extLst>
          </p:cNvPr>
          <p:cNvSpPr>
            <a:spLocks noChangeArrowheads="1"/>
          </p:cNvSpPr>
          <p:nvPr>
            <p:custDataLst>
              <p:tags r:id="rId18"/>
            </p:custDataLst>
          </p:nvPr>
        </p:nvSpPr>
        <p:spPr bwMode="auto">
          <a:xfrm>
            <a:off x="36242" y="5173266"/>
            <a:ext cx="1063273"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Load, Store / --</a:t>
            </a:r>
          </a:p>
        </p:txBody>
      </p:sp>
      <p:sp>
        <p:nvSpPr>
          <p:cNvPr id="46" name="Rectangle 19" descr=" 46">
            <a:extLst>
              <a:ext uri="{FF2B5EF4-FFF2-40B4-BE49-F238E27FC236}">
                <a16:creationId xmlns:a16="http://schemas.microsoft.com/office/drawing/2014/main" id="{464B75E9-EDD5-498D-93E0-C07F5055D663}"/>
              </a:ext>
            </a:extLst>
          </p:cNvPr>
          <p:cNvSpPr>
            <a:spLocks noChangeArrowheads="1"/>
          </p:cNvSpPr>
          <p:nvPr>
            <p:custDataLst>
              <p:tags r:id="rId19"/>
            </p:custDataLst>
          </p:nvPr>
        </p:nvSpPr>
        <p:spPr bwMode="auto">
          <a:xfrm rot="19370607">
            <a:off x="2808802" y="4469075"/>
            <a:ext cx="1035765" cy="251993"/>
          </a:xfrm>
          <a:prstGeom prst="rect">
            <a:avLst/>
          </a:prstGeom>
          <a:noFill/>
          <a:ln w="12700">
            <a:noFill/>
            <a:prstDash val="sysDot"/>
            <a:miter lim="800000"/>
            <a:headEnd/>
            <a:tailEnd/>
          </a:ln>
        </p:spPr>
        <p:txBody>
          <a:bodyPr wrap="none" lIns="67866" tIns="33338" rIns="67866" bIns="33338">
            <a:spAutoFit/>
          </a:bodyPr>
          <a:lstStyle/>
          <a:p>
            <a:r>
              <a:rPr lang="en-US" sz="1200" b="1" dirty="0">
                <a:solidFill>
                  <a:schemeClr val="accent2">
                    <a:lumMod val="75000"/>
                  </a:schemeClr>
                </a:solidFill>
                <a:latin typeface="+mn-lt"/>
              </a:rPr>
              <a:t>Store / BusInv</a:t>
            </a:r>
          </a:p>
        </p:txBody>
      </p:sp>
      <p:sp>
        <p:nvSpPr>
          <p:cNvPr id="47" name="Rectangle 19" descr=" 47">
            <a:extLst>
              <a:ext uri="{FF2B5EF4-FFF2-40B4-BE49-F238E27FC236}">
                <a16:creationId xmlns:a16="http://schemas.microsoft.com/office/drawing/2014/main" id="{D95610DD-8D45-4A27-8FF0-2CCF5F65929B}"/>
              </a:ext>
            </a:extLst>
          </p:cNvPr>
          <p:cNvSpPr>
            <a:spLocks noChangeArrowheads="1"/>
          </p:cNvSpPr>
          <p:nvPr>
            <p:custDataLst>
              <p:tags r:id="rId20"/>
            </p:custDataLst>
          </p:nvPr>
        </p:nvSpPr>
        <p:spPr bwMode="auto">
          <a:xfrm>
            <a:off x="2419348" y="2917592"/>
            <a:ext cx="1337130" cy="251993"/>
          </a:xfrm>
          <a:prstGeom prst="rect">
            <a:avLst/>
          </a:prstGeom>
          <a:noFill/>
          <a:ln w="12700">
            <a:noFill/>
            <a:prstDash val="sysDot"/>
            <a:miter lim="800000"/>
            <a:headEnd/>
            <a:tailEnd/>
          </a:ln>
        </p:spPr>
        <p:txBody>
          <a:bodyPr wrap="none" lIns="67866" tIns="33338" rIns="67866" bIns="33338">
            <a:spAutoFit/>
          </a:bodyPr>
          <a:lstStyle/>
          <a:p>
            <a:r>
              <a:rPr lang="en-US" sz="1200" dirty="0" err="1">
                <a:latin typeface="+mn-lt"/>
              </a:rPr>
              <a:t>BusRdX</a:t>
            </a:r>
            <a:r>
              <a:rPr lang="en-US" sz="1200" dirty="0">
                <a:latin typeface="+mn-lt"/>
              </a:rPr>
              <a:t>, </a:t>
            </a:r>
            <a:r>
              <a:rPr lang="en-US" sz="1200" b="1" dirty="0">
                <a:solidFill>
                  <a:schemeClr val="accent2">
                    <a:lumMod val="75000"/>
                  </a:schemeClr>
                </a:solidFill>
                <a:latin typeface="+mn-lt"/>
              </a:rPr>
              <a:t>BusInv</a:t>
            </a:r>
            <a:r>
              <a:rPr lang="en-US" sz="1200" dirty="0">
                <a:latin typeface="+mn-lt"/>
              </a:rPr>
              <a:t> / --</a:t>
            </a:r>
          </a:p>
        </p:txBody>
      </p:sp>
      <p:sp>
        <p:nvSpPr>
          <p:cNvPr id="80" name="Rectangle 4" descr=" 80">
            <a:extLst>
              <a:ext uri="{FF2B5EF4-FFF2-40B4-BE49-F238E27FC236}">
                <a16:creationId xmlns:a16="http://schemas.microsoft.com/office/drawing/2014/main" id="{0CC25204-F41D-46AA-942D-D303F4853DF9}"/>
              </a:ext>
            </a:extLst>
          </p:cNvPr>
          <p:cNvSpPr>
            <a:spLocks noChangeArrowheads="1"/>
          </p:cNvSpPr>
          <p:nvPr>
            <p:custDataLst>
              <p:tags r:id="rId21"/>
            </p:custDataLst>
          </p:nvPr>
        </p:nvSpPr>
        <p:spPr bwMode="auto">
          <a:xfrm>
            <a:off x="6958748" y="4508826"/>
            <a:ext cx="1373463"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Bus</a:t>
            </a:r>
          </a:p>
        </p:txBody>
      </p:sp>
      <p:cxnSp>
        <p:nvCxnSpPr>
          <p:cNvPr id="81" name="AutoShape 17" descr=" 81">
            <a:extLst>
              <a:ext uri="{FF2B5EF4-FFF2-40B4-BE49-F238E27FC236}">
                <a16:creationId xmlns:a16="http://schemas.microsoft.com/office/drawing/2014/main" id="{CD68C1EF-5C9E-452F-863D-3C5C01D8445C}"/>
              </a:ext>
            </a:extLst>
          </p:cNvPr>
          <p:cNvCxnSpPr>
            <a:cxnSpLocks noChangeShapeType="1"/>
          </p:cNvCxnSpPr>
          <p:nvPr>
            <p:custDataLst>
              <p:tags r:id="rId22"/>
            </p:custDataLst>
          </p:nvPr>
        </p:nvCxnSpPr>
        <p:spPr bwMode="auto">
          <a:xfrm rot="5400000">
            <a:off x="8130323" y="3851601"/>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82" name="Line 10" descr=" 82">
            <a:extLst>
              <a:ext uri="{FF2B5EF4-FFF2-40B4-BE49-F238E27FC236}">
                <a16:creationId xmlns:a16="http://schemas.microsoft.com/office/drawing/2014/main" id="{2F2C2909-D4D9-4715-970B-EDBA0035607F}"/>
              </a:ext>
            </a:extLst>
          </p:cNvPr>
          <p:cNvSpPr>
            <a:spLocks noChangeShapeType="1"/>
          </p:cNvSpPr>
          <p:nvPr>
            <p:custDataLst>
              <p:tags r:id="rId23"/>
            </p:custDataLst>
          </p:nvPr>
        </p:nvSpPr>
        <p:spPr bwMode="auto">
          <a:xfrm>
            <a:off x="8216048" y="4219505"/>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cxnSp>
        <p:nvCxnSpPr>
          <p:cNvPr id="83" name="Straight Arrow Connector 82" descr=" 83">
            <a:extLst>
              <a:ext uri="{FF2B5EF4-FFF2-40B4-BE49-F238E27FC236}">
                <a16:creationId xmlns:a16="http://schemas.microsoft.com/office/drawing/2014/main" id="{EB16F9CE-BCC8-43F4-9E46-08F22B85F119}"/>
              </a:ext>
            </a:extLst>
          </p:cNvPr>
          <p:cNvCxnSpPr>
            <a:stCxn id="80" idx="2"/>
            <a:endCxn id="85" idx="0"/>
          </p:cNvCxnSpPr>
          <p:nvPr/>
        </p:nvCxnSpPr>
        <p:spPr bwMode="auto">
          <a:xfrm rot="16200000" flipH="1">
            <a:off x="7531179" y="4905304"/>
            <a:ext cx="228600" cy="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84" name="Rectangle 21" descr=" 84">
            <a:extLst>
              <a:ext uri="{FF2B5EF4-FFF2-40B4-BE49-F238E27FC236}">
                <a16:creationId xmlns:a16="http://schemas.microsoft.com/office/drawing/2014/main" id="{13883411-B65A-4FDC-BD11-5A6AFA6A8AB2}"/>
              </a:ext>
            </a:extLst>
          </p:cNvPr>
          <p:cNvSpPr>
            <a:spLocks noChangeArrowheads="1"/>
          </p:cNvSpPr>
          <p:nvPr>
            <p:custDataLst>
              <p:tags r:id="rId24"/>
            </p:custDataLst>
          </p:nvPr>
        </p:nvSpPr>
        <p:spPr bwMode="auto">
          <a:xfrm>
            <a:off x="7758848" y="3937326"/>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[S]: 1</a:t>
            </a:r>
            <a:endParaRPr lang="en-US" sz="1800" dirty="0"/>
          </a:p>
        </p:txBody>
      </p:sp>
      <p:sp>
        <p:nvSpPr>
          <p:cNvPr id="85" name="Rectangle 21" descr=" 85">
            <a:extLst>
              <a:ext uri="{FF2B5EF4-FFF2-40B4-BE49-F238E27FC236}">
                <a16:creationId xmlns:a16="http://schemas.microsoft.com/office/drawing/2014/main" id="{5B94C20C-546E-4994-B727-B4A0EB425F1E}"/>
              </a:ext>
            </a:extLst>
          </p:cNvPr>
          <p:cNvSpPr>
            <a:spLocks noChangeArrowheads="1"/>
          </p:cNvSpPr>
          <p:nvPr>
            <p:custDataLst>
              <p:tags r:id="rId25"/>
            </p:custDataLst>
          </p:nvPr>
        </p:nvSpPr>
        <p:spPr bwMode="auto">
          <a:xfrm>
            <a:off x="7202603" y="5019604"/>
            <a:ext cx="885754"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1</a:t>
            </a:r>
            <a:endParaRPr lang="en-US" sz="1800" dirty="0">
              <a:solidFill>
                <a:srgbClr val="C00000"/>
              </a:solidFill>
            </a:endParaRPr>
          </a:p>
        </p:txBody>
      </p:sp>
      <p:sp>
        <p:nvSpPr>
          <p:cNvPr id="86" name="Rectangle 6" descr=" 86">
            <a:extLst>
              <a:ext uri="{FF2B5EF4-FFF2-40B4-BE49-F238E27FC236}">
                <a16:creationId xmlns:a16="http://schemas.microsoft.com/office/drawing/2014/main" id="{D0918E8F-7271-4F6E-8931-14134B9E15FA}"/>
              </a:ext>
            </a:extLst>
          </p:cNvPr>
          <p:cNvSpPr>
            <a:spLocks noChangeArrowheads="1"/>
          </p:cNvSpPr>
          <p:nvPr>
            <p:custDataLst>
              <p:tags r:id="rId26"/>
            </p:custDataLst>
          </p:nvPr>
        </p:nvSpPr>
        <p:spPr bwMode="auto">
          <a:xfrm>
            <a:off x="8021999" y="3480126"/>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P2</a:t>
            </a:r>
          </a:p>
        </p:txBody>
      </p:sp>
      <p:cxnSp>
        <p:nvCxnSpPr>
          <p:cNvPr id="87" name="AutoShape 17" descr=" 87">
            <a:extLst>
              <a:ext uri="{FF2B5EF4-FFF2-40B4-BE49-F238E27FC236}">
                <a16:creationId xmlns:a16="http://schemas.microsoft.com/office/drawing/2014/main" id="{E643B18D-48AB-4F7B-A68C-B93C953974CE}"/>
              </a:ext>
            </a:extLst>
          </p:cNvPr>
          <p:cNvCxnSpPr>
            <a:cxnSpLocks noChangeShapeType="1"/>
          </p:cNvCxnSpPr>
          <p:nvPr>
            <p:custDataLst>
              <p:tags r:id="rId27"/>
            </p:custDataLst>
          </p:nvPr>
        </p:nvCxnSpPr>
        <p:spPr bwMode="auto">
          <a:xfrm rot="5400000">
            <a:off x="7044473" y="3851601"/>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88" name="Line 10" descr=" 88">
            <a:extLst>
              <a:ext uri="{FF2B5EF4-FFF2-40B4-BE49-F238E27FC236}">
                <a16:creationId xmlns:a16="http://schemas.microsoft.com/office/drawing/2014/main" id="{F4C1E16E-3F5A-417A-BF14-F129352D28EE}"/>
              </a:ext>
            </a:extLst>
          </p:cNvPr>
          <p:cNvSpPr>
            <a:spLocks noChangeShapeType="1"/>
          </p:cNvSpPr>
          <p:nvPr>
            <p:custDataLst>
              <p:tags r:id="rId28"/>
            </p:custDataLst>
          </p:nvPr>
        </p:nvSpPr>
        <p:spPr bwMode="auto">
          <a:xfrm>
            <a:off x="7130198" y="4219505"/>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sp>
        <p:nvSpPr>
          <p:cNvPr id="89" name="Rectangle 21" descr=" 89">
            <a:extLst>
              <a:ext uri="{FF2B5EF4-FFF2-40B4-BE49-F238E27FC236}">
                <a16:creationId xmlns:a16="http://schemas.microsoft.com/office/drawing/2014/main" id="{723D6D86-A38E-4E17-88E6-1848D50683DE}"/>
              </a:ext>
            </a:extLst>
          </p:cNvPr>
          <p:cNvSpPr>
            <a:spLocks noChangeArrowheads="1"/>
          </p:cNvSpPr>
          <p:nvPr>
            <p:custDataLst>
              <p:tags r:id="rId29"/>
            </p:custDataLst>
          </p:nvPr>
        </p:nvSpPr>
        <p:spPr bwMode="auto">
          <a:xfrm>
            <a:off x="6672998" y="3937326"/>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[S]: 1</a:t>
            </a:r>
            <a:endParaRPr lang="en-US" sz="1800" dirty="0"/>
          </a:p>
        </p:txBody>
      </p:sp>
      <p:sp>
        <p:nvSpPr>
          <p:cNvPr id="90" name="Rectangle 6" descr=" 90">
            <a:extLst>
              <a:ext uri="{FF2B5EF4-FFF2-40B4-BE49-F238E27FC236}">
                <a16:creationId xmlns:a16="http://schemas.microsoft.com/office/drawing/2014/main" id="{4374C2F5-0F37-4247-8685-87B55BB230B0}"/>
              </a:ext>
            </a:extLst>
          </p:cNvPr>
          <p:cNvSpPr>
            <a:spLocks noChangeArrowheads="1"/>
          </p:cNvSpPr>
          <p:nvPr>
            <p:custDataLst>
              <p:tags r:id="rId30"/>
            </p:custDataLst>
          </p:nvPr>
        </p:nvSpPr>
        <p:spPr bwMode="auto">
          <a:xfrm>
            <a:off x="6936149" y="3480126"/>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P1</a:t>
            </a:r>
          </a:p>
        </p:txBody>
      </p:sp>
      <p:sp>
        <p:nvSpPr>
          <p:cNvPr id="36" name="Oval Callout 52" descr=" 91">
            <a:extLst>
              <a:ext uri="{FF2B5EF4-FFF2-40B4-BE49-F238E27FC236}">
                <a16:creationId xmlns:a16="http://schemas.microsoft.com/office/drawing/2014/main" id="{F97ADD08-9552-4D53-9967-1FE7E902089D}"/>
              </a:ext>
            </a:extLst>
          </p:cNvPr>
          <p:cNvSpPr/>
          <p:nvPr>
            <p:custDataLst>
              <p:tags r:id="rId31"/>
            </p:custDataLst>
          </p:nvPr>
        </p:nvSpPr>
        <p:spPr bwMode="auto">
          <a:xfrm>
            <a:off x="7073048" y="2965776"/>
            <a:ext cx="1314450" cy="514350"/>
          </a:xfrm>
          <a:prstGeom prst="wedgeEllipseCallout">
            <a:avLst>
              <a:gd name="adj1" fmla="val -44362"/>
              <a:gd name="adj2" fmla="val 50735"/>
            </a:avLst>
          </a:prstGeom>
          <a:solidFill>
            <a:schemeClr val="bg1"/>
          </a:solidFill>
          <a:ln>
            <a:solidFill>
              <a:schemeClr val="tx1"/>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0" tIns="34290" rIns="0" bIns="34290" numCol="1" rtlCol="0" anchor="t" anchorCtr="0" compatLnSpc="1">
            <a:prstTxWarp prst="textNoShape">
              <a:avLst/>
            </a:prstTxWarp>
          </a:bodyPr>
          <a:lstStyle/>
          <a:p>
            <a:pPr algn="ctr" defTabSz="685800" eaLnBrk="0" hangingPunct="0"/>
            <a:r>
              <a:rPr lang="en-US" sz="1200" dirty="0">
                <a:solidFill>
                  <a:schemeClr val="accent2">
                    <a:lumMod val="75000"/>
                  </a:schemeClr>
                </a:solidFill>
              </a:rPr>
              <a:t>1: Store A</a:t>
            </a:r>
          </a:p>
          <a:p>
            <a:pPr algn="ctr" defTabSz="685800" eaLnBrk="0" hangingPunct="0"/>
            <a:r>
              <a:rPr lang="en-US" sz="1200" dirty="0">
                <a:solidFill>
                  <a:schemeClr val="accent2">
                    <a:lumMod val="75000"/>
                  </a:schemeClr>
                </a:solidFill>
              </a:rPr>
              <a:t>aka “Upgrade”</a:t>
            </a:r>
          </a:p>
        </p:txBody>
      </p:sp>
      <p:sp>
        <p:nvSpPr>
          <p:cNvPr id="37" name="Oval Callout 54" descr=" 92">
            <a:extLst>
              <a:ext uri="{FF2B5EF4-FFF2-40B4-BE49-F238E27FC236}">
                <a16:creationId xmlns:a16="http://schemas.microsoft.com/office/drawing/2014/main" id="{D2ABE8DA-B26A-4AA1-A6D5-49E35E572C07}"/>
              </a:ext>
            </a:extLst>
          </p:cNvPr>
          <p:cNvSpPr/>
          <p:nvPr>
            <p:custDataLst>
              <p:tags r:id="rId32"/>
            </p:custDataLst>
          </p:nvPr>
        </p:nvSpPr>
        <p:spPr bwMode="auto">
          <a:xfrm>
            <a:off x="5758598" y="4337376"/>
            <a:ext cx="1257300" cy="342900"/>
          </a:xfrm>
          <a:prstGeom prst="wedgeEllipseCallout">
            <a:avLst>
              <a:gd name="adj1" fmla="val 56796"/>
              <a:gd name="adj2" fmla="val -74755"/>
            </a:avLst>
          </a:prstGeom>
          <a:solidFill>
            <a:schemeClr val="bg1"/>
          </a:solidFill>
          <a:ln>
            <a:solidFill>
              <a:schemeClr val="tx1"/>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0" tIns="34290" rIns="0" bIns="34290" numCol="1" rtlCol="0" anchor="t" anchorCtr="0" compatLnSpc="1">
            <a:prstTxWarp prst="textNoShape">
              <a:avLst/>
            </a:prstTxWarp>
          </a:bodyPr>
          <a:lstStyle/>
          <a:p>
            <a:pPr algn="ctr" defTabSz="685800" eaLnBrk="0" hangingPunct="0"/>
            <a:r>
              <a:rPr lang="en-US" sz="1200" dirty="0">
                <a:solidFill>
                  <a:schemeClr val="accent2">
                    <a:lumMod val="75000"/>
                  </a:schemeClr>
                </a:solidFill>
              </a:rPr>
              <a:t>2: BusInv A</a:t>
            </a:r>
          </a:p>
        </p:txBody>
      </p:sp>
      <p:sp>
        <p:nvSpPr>
          <p:cNvPr id="43" name="Rectangle 21" descr=" 93">
            <a:extLst>
              <a:ext uri="{FF2B5EF4-FFF2-40B4-BE49-F238E27FC236}">
                <a16:creationId xmlns:a16="http://schemas.microsoft.com/office/drawing/2014/main" id="{083FCF86-7A34-4548-9C0D-9571A128E931}"/>
              </a:ext>
            </a:extLst>
          </p:cNvPr>
          <p:cNvSpPr>
            <a:spLocks noChangeArrowheads="1"/>
          </p:cNvSpPr>
          <p:nvPr>
            <p:custDataLst>
              <p:tags r:id="rId33"/>
            </p:custDataLst>
          </p:nvPr>
        </p:nvSpPr>
        <p:spPr bwMode="auto">
          <a:xfrm>
            <a:off x="6672998" y="3937326"/>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a:t>
            </a:r>
            <a:r>
              <a:rPr lang="en-US" sz="1500" strike="sngStrike" dirty="0"/>
              <a:t>S</a:t>
            </a:r>
            <a:r>
              <a:rPr lang="en-US" sz="1500" dirty="0"/>
              <a:t> </a:t>
            </a:r>
            <a:r>
              <a:rPr lang="en-US" sz="1500" dirty="0">
                <a:solidFill>
                  <a:schemeClr val="accent2"/>
                </a:solidFill>
              </a:rPr>
              <a:t>M</a:t>
            </a:r>
            <a:r>
              <a:rPr lang="en-US" sz="1500" dirty="0"/>
              <a:t>]: </a:t>
            </a:r>
            <a:r>
              <a:rPr lang="en-US" sz="1500" dirty="0">
                <a:solidFill>
                  <a:schemeClr val="accent2"/>
                </a:solidFill>
              </a:rPr>
              <a:t>2</a:t>
            </a:r>
            <a:endParaRPr lang="en-US" sz="1800" dirty="0">
              <a:solidFill>
                <a:schemeClr val="accent2"/>
              </a:solidFill>
            </a:endParaRPr>
          </a:p>
        </p:txBody>
      </p:sp>
      <p:sp>
        <p:nvSpPr>
          <p:cNvPr id="48" name="Rectangle 21" descr=" 94">
            <a:extLst>
              <a:ext uri="{FF2B5EF4-FFF2-40B4-BE49-F238E27FC236}">
                <a16:creationId xmlns:a16="http://schemas.microsoft.com/office/drawing/2014/main" id="{AA976CBF-0295-4722-A048-C815DC9DD3E8}"/>
              </a:ext>
            </a:extLst>
          </p:cNvPr>
          <p:cNvSpPr>
            <a:spLocks noChangeArrowheads="1"/>
          </p:cNvSpPr>
          <p:nvPr>
            <p:custDataLst>
              <p:tags r:id="rId34"/>
            </p:custDataLst>
          </p:nvPr>
        </p:nvSpPr>
        <p:spPr bwMode="auto">
          <a:xfrm>
            <a:off x="7758848" y="3937326"/>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a:t>
            </a:r>
            <a:r>
              <a:rPr lang="en-US" sz="1500" strike="sngStrike" dirty="0"/>
              <a:t>S</a:t>
            </a:r>
            <a:r>
              <a:rPr lang="en-US" sz="1500" dirty="0"/>
              <a:t> </a:t>
            </a:r>
            <a:r>
              <a:rPr lang="en-US" sz="1500" dirty="0">
                <a:solidFill>
                  <a:schemeClr val="accent2"/>
                </a:solidFill>
              </a:rPr>
              <a:t>I</a:t>
            </a:r>
            <a:r>
              <a:rPr lang="en-US" sz="1500" dirty="0"/>
              <a:t>]</a:t>
            </a:r>
            <a:endParaRPr lang="en-US" sz="1800" dirty="0">
              <a:solidFill>
                <a:schemeClr val="tx1"/>
              </a:solidFill>
            </a:endParaRPr>
          </a:p>
        </p:txBody>
      </p:sp>
      <p:sp>
        <p:nvSpPr>
          <p:cNvPr id="49" name="TextBox 48">
            <a:extLst>
              <a:ext uri="{FF2B5EF4-FFF2-40B4-BE49-F238E27FC236}">
                <a16:creationId xmlns:a16="http://schemas.microsoft.com/office/drawing/2014/main" id="{96726102-4F02-4395-9687-CB1A974773FC}"/>
              </a:ext>
            </a:extLst>
          </p:cNvPr>
          <p:cNvSpPr txBox="1"/>
          <p:nvPr>
            <p:custDataLst>
              <p:tags r:id="rId35"/>
            </p:custDataLst>
          </p:nvPr>
        </p:nvSpPr>
        <p:spPr>
          <a:xfrm>
            <a:off x="3276600" y="4959749"/>
            <a:ext cx="3408868" cy="602851"/>
          </a:xfrm>
          <a:prstGeom prst="rect">
            <a:avLst/>
          </a:prstGeom>
          <a:noFill/>
        </p:spPr>
        <p:txBody>
          <a:bodyPr wrap="square" rtlCol="0" anchor="t">
            <a:noAutofit/>
          </a:bodyPr>
          <a:lstStyle/>
          <a:p>
            <a:pPr algn="ctr"/>
            <a:r>
              <a:rPr lang="en-US" sz="1600" b="1" dirty="0">
                <a:solidFill>
                  <a:schemeClr val="accent6">
                    <a:lumMod val="75000"/>
                  </a:schemeClr>
                </a:solidFill>
                <a:latin typeface="+mn-lt"/>
              </a:rPr>
              <a:t>how is BusInv different from </a:t>
            </a:r>
            <a:r>
              <a:rPr lang="en-US" sz="1600" b="1" dirty="0" err="1">
                <a:solidFill>
                  <a:schemeClr val="accent6">
                    <a:lumMod val="75000"/>
                  </a:schemeClr>
                </a:solidFill>
                <a:latin typeface="+mn-lt"/>
              </a:rPr>
              <a:t>BusRdX</a:t>
            </a:r>
            <a:r>
              <a:rPr lang="en-US" sz="1600" b="1" dirty="0">
                <a:solidFill>
                  <a:schemeClr val="accent6">
                    <a:lumMod val="75000"/>
                  </a:schemeClr>
                </a:solidFill>
                <a:latin typeface="+mn-lt"/>
              </a:rPr>
              <a:t>?</a:t>
            </a:r>
          </a:p>
          <a:p>
            <a:pPr algn="ctr"/>
            <a:r>
              <a:rPr lang="en-US" sz="1600" dirty="0">
                <a:solidFill>
                  <a:schemeClr val="accent6">
                    <a:lumMod val="75000"/>
                  </a:schemeClr>
                </a:solidFill>
                <a:latin typeface="+mn-lt"/>
              </a:rPr>
              <a:t>don’t need to get data from memory</a:t>
            </a:r>
          </a:p>
        </p:txBody>
      </p:sp>
      <p:cxnSp>
        <p:nvCxnSpPr>
          <p:cNvPr id="50" name="Straight Connector 49">
            <a:extLst>
              <a:ext uri="{FF2B5EF4-FFF2-40B4-BE49-F238E27FC236}">
                <a16:creationId xmlns:a16="http://schemas.microsoft.com/office/drawing/2014/main" id="{F6CDE8E8-1AEF-4345-A159-77C9190ABA90}"/>
              </a:ext>
            </a:extLst>
          </p:cNvPr>
          <p:cNvCxnSpPr>
            <a:cxnSpLocks/>
          </p:cNvCxnSpPr>
          <p:nvPr/>
        </p:nvCxnSpPr>
        <p:spPr>
          <a:xfrm flipH="1" flipV="1">
            <a:off x="3544837" y="4541198"/>
            <a:ext cx="607714" cy="492779"/>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1" name="Rectangle 2">
            <a:extLst>
              <a:ext uri="{FF2B5EF4-FFF2-40B4-BE49-F238E27FC236}">
                <a16:creationId xmlns:a16="http://schemas.microsoft.com/office/drawing/2014/main" id="{BDEE5024-E280-4592-9B88-9A6843185E7A}"/>
              </a:ext>
            </a:extLst>
          </p:cNvPr>
          <p:cNvSpPr>
            <a:spLocks noGrp="1" noChangeArrowheads="1"/>
          </p:cNvSpPr>
          <p:nvPr>
            <p:ph type="title"/>
            <p:custDataLst>
              <p:tags r:id="rId36"/>
            </p:custDataLst>
          </p:nvPr>
        </p:nvSpPr>
        <p:spPr>
          <a:xfrm>
            <a:off x="457200" y="274638"/>
            <a:ext cx="7467600" cy="1143000"/>
          </a:xfrm>
        </p:spPr>
        <p:txBody>
          <a:bodyPr/>
          <a:lstStyle/>
          <a:p>
            <a:pPr eaLnBrk="1" hangingPunct="1"/>
            <a:r>
              <a:rPr lang="en-US" altLang="en-US" dirty="0">
                <a:latin typeface="+mn-lt"/>
              </a:rPr>
              <a:t>MSI Protocol</a:t>
            </a:r>
          </a:p>
        </p:txBody>
      </p:sp>
    </p:spTree>
    <p:custDataLst>
      <p:tags r:id="rId1"/>
    </p:custDataLst>
    <p:extLst>
      <p:ext uri="{BB962C8B-B14F-4D97-AF65-F5344CB8AC3E}">
        <p14:creationId xmlns:p14="http://schemas.microsoft.com/office/powerpoint/2010/main" val="237718695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12" descr=" 26">
            <a:extLst>
              <a:ext uri="{FF2B5EF4-FFF2-40B4-BE49-F238E27FC236}">
                <a16:creationId xmlns:a16="http://schemas.microsoft.com/office/drawing/2014/main" id="{E46CCE21-4679-4321-B866-87424AA794FA}"/>
              </a:ext>
            </a:extLst>
          </p:cNvPr>
          <p:cNvSpPr>
            <a:spLocks noChangeArrowheads="1"/>
          </p:cNvSpPr>
          <p:nvPr>
            <p:custDataLst>
              <p:tags r:id="rId2"/>
            </p:custDataLst>
          </p:nvPr>
        </p:nvSpPr>
        <p:spPr bwMode="auto">
          <a:xfrm rot="18047435">
            <a:off x="276351" y="3674864"/>
            <a:ext cx="1064876"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Store / </a:t>
            </a:r>
            <a:r>
              <a:rPr lang="en-US" sz="1200" dirty="0" err="1">
                <a:latin typeface="+mn-lt"/>
              </a:rPr>
              <a:t>BusRdX</a:t>
            </a:r>
            <a:endParaRPr lang="en-US" sz="1200" dirty="0">
              <a:latin typeface="+mn-lt"/>
            </a:endParaRPr>
          </a:p>
        </p:txBody>
      </p:sp>
      <p:sp>
        <p:nvSpPr>
          <p:cNvPr id="27" name="Oval 8" descr=" 27">
            <a:extLst>
              <a:ext uri="{FF2B5EF4-FFF2-40B4-BE49-F238E27FC236}">
                <a16:creationId xmlns:a16="http://schemas.microsoft.com/office/drawing/2014/main" id="{DBBF02CF-CADF-4288-AB07-511F3237F6BC}"/>
              </a:ext>
            </a:extLst>
          </p:cNvPr>
          <p:cNvSpPr>
            <a:spLocks noChangeArrowheads="1"/>
          </p:cNvSpPr>
          <p:nvPr>
            <p:custDataLst>
              <p:tags r:id="rId3"/>
            </p:custDataLst>
          </p:nvPr>
        </p:nvSpPr>
        <p:spPr bwMode="auto">
          <a:xfrm>
            <a:off x="1047747" y="2626659"/>
            <a:ext cx="685800" cy="685800"/>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2100" dirty="0"/>
              <a:t>I</a:t>
            </a:r>
          </a:p>
        </p:txBody>
      </p:sp>
      <p:sp>
        <p:nvSpPr>
          <p:cNvPr id="28" name="Rectangle 19" descr=" 28">
            <a:extLst>
              <a:ext uri="{FF2B5EF4-FFF2-40B4-BE49-F238E27FC236}">
                <a16:creationId xmlns:a16="http://schemas.microsoft.com/office/drawing/2014/main" id="{87F0BF2B-32FF-4F50-BB1F-129F3AB8DB1D}"/>
              </a:ext>
            </a:extLst>
          </p:cNvPr>
          <p:cNvSpPr>
            <a:spLocks noChangeArrowheads="1"/>
          </p:cNvSpPr>
          <p:nvPr>
            <p:custDataLst>
              <p:tags r:id="rId4"/>
            </p:custDataLst>
          </p:nvPr>
        </p:nvSpPr>
        <p:spPr bwMode="auto">
          <a:xfrm>
            <a:off x="2516984" y="2368853"/>
            <a:ext cx="954589"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Load / </a:t>
            </a:r>
            <a:r>
              <a:rPr lang="en-US" sz="1200" dirty="0" err="1">
                <a:latin typeface="+mn-lt"/>
              </a:rPr>
              <a:t>BusRd</a:t>
            </a:r>
            <a:endParaRPr lang="en-US" sz="1200" dirty="0">
              <a:latin typeface="+mn-lt"/>
            </a:endParaRPr>
          </a:p>
        </p:txBody>
      </p:sp>
      <p:sp>
        <p:nvSpPr>
          <p:cNvPr id="29" name="Oval 8" descr=" 29">
            <a:extLst>
              <a:ext uri="{FF2B5EF4-FFF2-40B4-BE49-F238E27FC236}">
                <a16:creationId xmlns:a16="http://schemas.microsoft.com/office/drawing/2014/main" id="{33CDB991-EB3C-4069-8BA9-57A753E2DDD1}"/>
              </a:ext>
            </a:extLst>
          </p:cNvPr>
          <p:cNvSpPr>
            <a:spLocks noChangeArrowheads="1"/>
          </p:cNvSpPr>
          <p:nvPr>
            <p:custDataLst>
              <p:tags r:id="rId5"/>
            </p:custDataLst>
          </p:nvPr>
        </p:nvSpPr>
        <p:spPr bwMode="auto">
          <a:xfrm>
            <a:off x="4362447" y="2626659"/>
            <a:ext cx="685800" cy="685800"/>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2100" dirty="0"/>
              <a:t>S</a:t>
            </a:r>
          </a:p>
        </p:txBody>
      </p:sp>
      <p:sp>
        <p:nvSpPr>
          <p:cNvPr id="30" name="Freeform 32" descr=" 30">
            <a:extLst>
              <a:ext uri="{FF2B5EF4-FFF2-40B4-BE49-F238E27FC236}">
                <a16:creationId xmlns:a16="http://schemas.microsoft.com/office/drawing/2014/main" id="{3A5C55D6-7CC2-4364-8387-68455F042D9A}"/>
              </a:ext>
            </a:extLst>
          </p:cNvPr>
          <p:cNvSpPr/>
          <p:nvPr>
            <p:custDataLst>
              <p:tags r:id="rId6"/>
            </p:custDataLst>
          </p:nvPr>
        </p:nvSpPr>
        <p:spPr bwMode="auto">
          <a:xfrm>
            <a:off x="1733547" y="2619936"/>
            <a:ext cx="2625539" cy="231962"/>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Lst>
            <a:ahLst/>
            <a:cxnLst>
              <a:cxn ang="0">
                <a:pos x="connsiteX0" y="connsiteY0"/>
              </a:cxn>
              <a:cxn ang="0">
                <a:pos x="connsiteX1" y="connsiteY1"/>
              </a:cxn>
              <a:cxn ang="0">
                <a:pos x="connsiteX2" y="connsiteY2"/>
              </a:cxn>
            </a:cxnLst>
            <a:rect l="l" t="t" r="r" b="b"/>
            <a:pathLst>
              <a:path w="3567953" h="309283">
                <a:moveTo>
                  <a:pt x="0" y="309283"/>
                </a:moveTo>
                <a:cubicBezTo>
                  <a:pt x="626035" y="188259"/>
                  <a:pt x="1072776" y="17930"/>
                  <a:pt x="1667435" y="8965"/>
                </a:cubicBezTo>
                <a:cubicBezTo>
                  <a:pt x="2262094" y="0"/>
                  <a:pt x="3004670" y="152400"/>
                  <a:pt x="3567953" y="255494"/>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31" name="Rectangle 19" descr=" 31">
            <a:extLst>
              <a:ext uri="{FF2B5EF4-FFF2-40B4-BE49-F238E27FC236}">
                <a16:creationId xmlns:a16="http://schemas.microsoft.com/office/drawing/2014/main" id="{E02A03AC-54D9-4AF4-9EFC-11A61E811F0E}"/>
              </a:ext>
            </a:extLst>
          </p:cNvPr>
          <p:cNvSpPr>
            <a:spLocks noChangeArrowheads="1"/>
          </p:cNvSpPr>
          <p:nvPr>
            <p:custDataLst>
              <p:tags r:id="rId7"/>
            </p:custDataLst>
          </p:nvPr>
        </p:nvSpPr>
        <p:spPr bwMode="auto">
          <a:xfrm>
            <a:off x="4999636" y="3058716"/>
            <a:ext cx="659636"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Load / --</a:t>
            </a:r>
          </a:p>
        </p:txBody>
      </p:sp>
      <p:sp>
        <p:nvSpPr>
          <p:cNvPr id="32" name="Rectangle 19" descr=" 32">
            <a:extLst>
              <a:ext uri="{FF2B5EF4-FFF2-40B4-BE49-F238E27FC236}">
                <a16:creationId xmlns:a16="http://schemas.microsoft.com/office/drawing/2014/main" id="{00765427-09EC-45D0-9C29-2C799424A5C6}"/>
              </a:ext>
            </a:extLst>
          </p:cNvPr>
          <p:cNvSpPr>
            <a:spLocks noChangeArrowheads="1"/>
          </p:cNvSpPr>
          <p:nvPr>
            <p:custDataLst>
              <p:tags r:id="rId8"/>
            </p:custDataLst>
          </p:nvPr>
        </p:nvSpPr>
        <p:spPr bwMode="auto">
          <a:xfrm>
            <a:off x="4693021" y="2389080"/>
            <a:ext cx="757420" cy="251993"/>
          </a:xfrm>
          <a:prstGeom prst="rect">
            <a:avLst/>
          </a:prstGeom>
          <a:noFill/>
          <a:ln w="12700">
            <a:noFill/>
            <a:prstDash val="sysDot"/>
            <a:miter lim="800000"/>
            <a:headEnd/>
            <a:tailEnd/>
          </a:ln>
        </p:spPr>
        <p:txBody>
          <a:bodyPr wrap="none" lIns="67866" tIns="33338" rIns="67866" bIns="33338">
            <a:spAutoFit/>
          </a:bodyPr>
          <a:lstStyle/>
          <a:p>
            <a:r>
              <a:rPr lang="en-US" sz="1200" dirty="0" err="1">
                <a:latin typeface="+mn-lt"/>
              </a:rPr>
              <a:t>BusRd</a:t>
            </a:r>
            <a:r>
              <a:rPr lang="en-US" sz="1200" dirty="0">
                <a:latin typeface="+mn-lt"/>
              </a:rPr>
              <a:t> / --</a:t>
            </a:r>
          </a:p>
        </p:txBody>
      </p:sp>
      <p:sp>
        <p:nvSpPr>
          <p:cNvPr id="33" name="Arc 9" descr=" 33">
            <a:extLst>
              <a:ext uri="{FF2B5EF4-FFF2-40B4-BE49-F238E27FC236}">
                <a16:creationId xmlns:a16="http://schemas.microsoft.com/office/drawing/2014/main" id="{B8331003-EF3D-49AA-A122-A5EBAA12E235}"/>
              </a:ext>
            </a:extLst>
          </p:cNvPr>
          <p:cNvSpPr>
            <a:spLocks/>
          </p:cNvSpPr>
          <p:nvPr>
            <p:custDataLst>
              <p:tags r:id="rId9"/>
            </p:custDataLst>
          </p:nvPr>
        </p:nvSpPr>
        <p:spPr bwMode="auto">
          <a:xfrm rot="8454697">
            <a:off x="5048821" y="2639011"/>
            <a:ext cx="472328" cy="415302"/>
          </a:xfrm>
          <a:custGeom>
            <a:avLst/>
            <a:gdLst>
              <a:gd name="T0" fmla="*/ 505 w 43200"/>
              <a:gd name="T1" fmla="*/ 474 h 43200"/>
              <a:gd name="T2" fmla="*/ 599 w 43200"/>
              <a:gd name="T3" fmla="*/ 328 h 43200"/>
              <a:gd name="T4" fmla="*/ 303 w 43200"/>
              <a:gd name="T5" fmla="*/ 272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path>
              <a:path w="43200" h="43200" stroke="0"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lnTo>
                  <a:pt x="21600" y="21600"/>
                </a:lnTo>
                <a:close/>
              </a:path>
            </a:pathLst>
          </a:custGeom>
          <a:noFill/>
          <a:ln w="12700" cap="rnd">
            <a:solidFill>
              <a:schemeClr val="tx1"/>
            </a:solidFill>
            <a:round/>
            <a:headEnd/>
            <a:tailEnd type="triangle" w="med" len="med"/>
          </a:ln>
        </p:spPr>
        <p:txBody>
          <a:bodyPr wrap="none" anchor="ctr"/>
          <a:lstStyle/>
          <a:p>
            <a:endParaRPr lang="en-US" sz="1200" dirty="0">
              <a:latin typeface="+mn-lt"/>
            </a:endParaRPr>
          </a:p>
        </p:txBody>
      </p:sp>
      <p:sp>
        <p:nvSpPr>
          <p:cNvPr id="34" name="Oval 8" descr=" 34">
            <a:extLst>
              <a:ext uri="{FF2B5EF4-FFF2-40B4-BE49-F238E27FC236}">
                <a16:creationId xmlns:a16="http://schemas.microsoft.com/office/drawing/2014/main" id="{6D6F9712-1D17-4F59-A56D-69B6F5C8D760}"/>
              </a:ext>
            </a:extLst>
          </p:cNvPr>
          <p:cNvSpPr>
            <a:spLocks noChangeArrowheads="1"/>
          </p:cNvSpPr>
          <p:nvPr>
            <p:custDataLst>
              <p:tags r:id="rId10"/>
            </p:custDataLst>
          </p:nvPr>
        </p:nvSpPr>
        <p:spPr bwMode="auto">
          <a:xfrm>
            <a:off x="1104897" y="5026959"/>
            <a:ext cx="685800" cy="685800"/>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2100" dirty="0"/>
              <a:t>M</a:t>
            </a:r>
          </a:p>
        </p:txBody>
      </p:sp>
      <p:sp>
        <p:nvSpPr>
          <p:cNvPr id="35" name="Freeform 38" descr=" 35">
            <a:extLst>
              <a:ext uri="{FF2B5EF4-FFF2-40B4-BE49-F238E27FC236}">
                <a16:creationId xmlns:a16="http://schemas.microsoft.com/office/drawing/2014/main" id="{6498D179-63E5-478F-863E-7F646837C369}"/>
              </a:ext>
            </a:extLst>
          </p:cNvPr>
          <p:cNvSpPr/>
          <p:nvPr>
            <p:custDataLst>
              <p:tags r:id="rId11"/>
            </p:custDataLst>
          </p:nvPr>
        </p:nvSpPr>
        <p:spPr bwMode="auto">
          <a:xfrm rot="16035852" flipH="1">
            <a:off x="291114" y="4057237"/>
            <a:ext cx="1712399" cy="231962"/>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Lst>
            <a:ahLst/>
            <a:cxnLst>
              <a:cxn ang="0">
                <a:pos x="connsiteX0" y="connsiteY0"/>
              </a:cxn>
              <a:cxn ang="0">
                <a:pos x="connsiteX1" y="connsiteY1"/>
              </a:cxn>
              <a:cxn ang="0">
                <a:pos x="connsiteX2" y="connsiteY2"/>
              </a:cxn>
            </a:cxnLst>
            <a:rect l="l" t="t" r="r" b="b"/>
            <a:pathLst>
              <a:path w="3567953" h="309283">
                <a:moveTo>
                  <a:pt x="0" y="309283"/>
                </a:moveTo>
                <a:cubicBezTo>
                  <a:pt x="626035" y="188259"/>
                  <a:pt x="1072776" y="17930"/>
                  <a:pt x="1667435" y="8965"/>
                </a:cubicBezTo>
                <a:cubicBezTo>
                  <a:pt x="2262094" y="0"/>
                  <a:pt x="3004670" y="152400"/>
                  <a:pt x="3567953" y="255494"/>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36" name="Freeform 39" descr=" 36">
            <a:extLst>
              <a:ext uri="{FF2B5EF4-FFF2-40B4-BE49-F238E27FC236}">
                <a16:creationId xmlns:a16="http://schemas.microsoft.com/office/drawing/2014/main" id="{7F7D25AD-3CE7-4D70-9A2B-9F64D9212CCD}"/>
              </a:ext>
            </a:extLst>
          </p:cNvPr>
          <p:cNvSpPr/>
          <p:nvPr>
            <p:custDataLst>
              <p:tags r:id="rId12"/>
            </p:custDataLst>
          </p:nvPr>
        </p:nvSpPr>
        <p:spPr bwMode="auto">
          <a:xfrm rot="5400000" flipH="1">
            <a:off x="821879" y="4052678"/>
            <a:ext cx="1712399" cy="231962"/>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Lst>
            <a:ahLst/>
            <a:cxnLst>
              <a:cxn ang="0">
                <a:pos x="connsiteX0" y="connsiteY0"/>
              </a:cxn>
              <a:cxn ang="0">
                <a:pos x="connsiteX1" y="connsiteY1"/>
              </a:cxn>
              <a:cxn ang="0">
                <a:pos x="connsiteX2" y="connsiteY2"/>
              </a:cxn>
            </a:cxnLst>
            <a:rect l="l" t="t" r="r" b="b"/>
            <a:pathLst>
              <a:path w="3567953" h="309283">
                <a:moveTo>
                  <a:pt x="0" y="309283"/>
                </a:moveTo>
                <a:cubicBezTo>
                  <a:pt x="626035" y="188259"/>
                  <a:pt x="1072776" y="17930"/>
                  <a:pt x="1667435" y="8965"/>
                </a:cubicBezTo>
                <a:cubicBezTo>
                  <a:pt x="2262094" y="0"/>
                  <a:pt x="3004670" y="152400"/>
                  <a:pt x="3567953" y="255494"/>
                </a:cubicBezTo>
              </a:path>
            </a:pathLst>
          </a:custGeom>
          <a:noFill/>
          <a:ln w="9525" cap="flat" cmpd="sng" algn="ctr">
            <a:solidFill>
              <a:schemeClr val="accent2">
                <a:lumMod val="75000"/>
              </a:schemeClr>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37" name="Rectangle 12" descr=" 37">
            <a:extLst>
              <a:ext uri="{FF2B5EF4-FFF2-40B4-BE49-F238E27FC236}">
                <a16:creationId xmlns:a16="http://schemas.microsoft.com/office/drawing/2014/main" id="{8B28C19D-24E1-437A-8E50-027128FE3E3A}"/>
              </a:ext>
            </a:extLst>
          </p:cNvPr>
          <p:cNvSpPr>
            <a:spLocks noChangeArrowheads="1"/>
          </p:cNvSpPr>
          <p:nvPr>
            <p:custDataLst>
              <p:tags r:id="rId13"/>
            </p:custDataLst>
          </p:nvPr>
        </p:nvSpPr>
        <p:spPr bwMode="auto">
          <a:xfrm rot="3897826">
            <a:off x="1330004" y="3725769"/>
            <a:ext cx="1348287" cy="251993"/>
          </a:xfrm>
          <a:prstGeom prst="rect">
            <a:avLst/>
          </a:prstGeom>
          <a:noFill/>
          <a:ln w="12700">
            <a:noFill/>
            <a:prstDash val="sysDot"/>
            <a:miter lim="800000"/>
            <a:headEnd/>
            <a:tailEnd/>
          </a:ln>
        </p:spPr>
        <p:txBody>
          <a:bodyPr wrap="none" lIns="67866" tIns="33338" rIns="67866" bIns="33338">
            <a:spAutoFit/>
          </a:bodyPr>
          <a:lstStyle/>
          <a:p>
            <a:r>
              <a:rPr lang="en-US" sz="1200" b="1" dirty="0" err="1">
                <a:solidFill>
                  <a:schemeClr val="accent2">
                    <a:lumMod val="75000"/>
                  </a:schemeClr>
                </a:solidFill>
                <a:latin typeface="+mn-lt"/>
              </a:rPr>
              <a:t>BusRdX</a:t>
            </a:r>
            <a:r>
              <a:rPr lang="en-US" sz="1200" b="1" dirty="0">
                <a:solidFill>
                  <a:schemeClr val="accent2">
                    <a:lumMod val="75000"/>
                  </a:schemeClr>
                </a:solidFill>
                <a:latin typeface="+mn-lt"/>
              </a:rPr>
              <a:t> / </a:t>
            </a:r>
            <a:r>
              <a:rPr lang="en-US" sz="1200" b="1" dirty="0" err="1">
                <a:solidFill>
                  <a:schemeClr val="accent2">
                    <a:lumMod val="75000"/>
                  </a:schemeClr>
                </a:solidFill>
                <a:latin typeface="+mn-lt"/>
              </a:rPr>
              <a:t>BusReply</a:t>
            </a:r>
            <a:endParaRPr lang="en-US" sz="1200" b="1" dirty="0">
              <a:solidFill>
                <a:schemeClr val="accent2">
                  <a:lumMod val="75000"/>
                </a:schemeClr>
              </a:solidFill>
              <a:latin typeface="+mn-lt"/>
            </a:endParaRPr>
          </a:p>
        </p:txBody>
      </p:sp>
      <p:sp>
        <p:nvSpPr>
          <p:cNvPr id="38" name="Freeform 41" descr=" 38">
            <a:extLst>
              <a:ext uri="{FF2B5EF4-FFF2-40B4-BE49-F238E27FC236}">
                <a16:creationId xmlns:a16="http://schemas.microsoft.com/office/drawing/2014/main" id="{D098FEF2-4FC8-4CE2-9E3A-88561280BDA4}"/>
              </a:ext>
            </a:extLst>
          </p:cNvPr>
          <p:cNvSpPr/>
          <p:nvPr>
            <p:custDataLst>
              <p:tags r:id="rId14"/>
            </p:custDataLst>
          </p:nvPr>
        </p:nvSpPr>
        <p:spPr bwMode="auto">
          <a:xfrm rot="10800000">
            <a:off x="1733547" y="3023347"/>
            <a:ext cx="2625539" cy="231962"/>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Lst>
            <a:ahLst/>
            <a:cxnLst>
              <a:cxn ang="0">
                <a:pos x="connsiteX0" y="connsiteY0"/>
              </a:cxn>
              <a:cxn ang="0">
                <a:pos x="connsiteX1" y="connsiteY1"/>
              </a:cxn>
              <a:cxn ang="0">
                <a:pos x="connsiteX2" y="connsiteY2"/>
              </a:cxn>
            </a:cxnLst>
            <a:rect l="l" t="t" r="r" b="b"/>
            <a:pathLst>
              <a:path w="3567953" h="309283">
                <a:moveTo>
                  <a:pt x="0" y="309283"/>
                </a:moveTo>
                <a:cubicBezTo>
                  <a:pt x="626035" y="188259"/>
                  <a:pt x="1072776" y="17930"/>
                  <a:pt x="1667435" y="8965"/>
                </a:cubicBezTo>
                <a:cubicBezTo>
                  <a:pt x="2262094" y="0"/>
                  <a:pt x="3004670" y="152400"/>
                  <a:pt x="3567953" y="255494"/>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39" name="Rectangle 19" descr=" 39">
            <a:extLst>
              <a:ext uri="{FF2B5EF4-FFF2-40B4-BE49-F238E27FC236}">
                <a16:creationId xmlns:a16="http://schemas.microsoft.com/office/drawing/2014/main" id="{B00B0C59-2DF1-4525-AB77-50EAEF06353E}"/>
              </a:ext>
            </a:extLst>
          </p:cNvPr>
          <p:cNvSpPr>
            <a:spLocks noChangeArrowheads="1"/>
          </p:cNvSpPr>
          <p:nvPr>
            <p:custDataLst>
              <p:tags r:id="rId15"/>
            </p:custDataLst>
          </p:nvPr>
        </p:nvSpPr>
        <p:spPr bwMode="auto">
          <a:xfrm>
            <a:off x="2668468" y="3242900"/>
            <a:ext cx="652840"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Evict / --</a:t>
            </a:r>
          </a:p>
        </p:txBody>
      </p:sp>
      <p:sp>
        <p:nvSpPr>
          <p:cNvPr id="40" name="Freeform 43" descr=" 40">
            <a:extLst>
              <a:ext uri="{FF2B5EF4-FFF2-40B4-BE49-F238E27FC236}">
                <a16:creationId xmlns:a16="http://schemas.microsoft.com/office/drawing/2014/main" id="{49444570-B459-4FD9-8379-196C90D20393}"/>
              </a:ext>
            </a:extLst>
          </p:cNvPr>
          <p:cNvSpPr/>
          <p:nvPr>
            <p:custDataLst>
              <p:tags r:id="rId16"/>
            </p:custDataLst>
          </p:nvPr>
        </p:nvSpPr>
        <p:spPr bwMode="auto">
          <a:xfrm rot="20487262">
            <a:off x="1493844" y="3681742"/>
            <a:ext cx="3218770" cy="1089877"/>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 name="connsiteX0" fmla="*/ 0 w 3910048"/>
              <a:gd name="connsiteY0" fmla="*/ 1556263 h 1556263"/>
              <a:gd name="connsiteX1" fmla="*/ 1667435 w 3910048"/>
              <a:gd name="connsiteY1" fmla="*/ 1255945 h 1556263"/>
              <a:gd name="connsiteX2" fmla="*/ 3910048 w 3910048"/>
              <a:gd name="connsiteY2" fmla="*/ 103094 h 1556263"/>
              <a:gd name="connsiteX0" fmla="*/ 0 w 3910048"/>
              <a:gd name="connsiteY0" fmla="*/ 1556263 h 1556263"/>
              <a:gd name="connsiteX1" fmla="*/ 1494292 w 3910048"/>
              <a:gd name="connsiteY1" fmla="*/ 579905 h 1556263"/>
              <a:gd name="connsiteX2" fmla="*/ 3910048 w 3910048"/>
              <a:gd name="connsiteY2" fmla="*/ 103094 h 1556263"/>
              <a:gd name="connsiteX0" fmla="*/ 0 w 3910048"/>
              <a:gd name="connsiteY0" fmla="*/ 1556263 h 1556263"/>
              <a:gd name="connsiteX1" fmla="*/ 395335 w 3910048"/>
              <a:gd name="connsiteY1" fmla="*/ 1300472 h 1556263"/>
              <a:gd name="connsiteX2" fmla="*/ 1494292 w 3910048"/>
              <a:gd name="connsiteY2" fmla="*/ 579905 h 1556263"/>
              <a:gd name="connsiteX3" fmla="*/ 3910048 w 3910048"/>
              <a:gd name="connsiteY3" fmla="*/ 103094 h 1556263"/>
              <a:gd name="connsiteX0" fmla="*/ 0 w 3910048"/>
              <a:gd name="connsiteY0" fmla="*/ 1453169 h 1453169"/>
              <a:gd name="connsiteX1" fmla="*/ 395335 w 3910048"/>
              <a:gd name="connsiteY1" fmla="*/ 1197378 h 1453169"/>
              <a:gd name="connsiteX2" fmla="*/ 1494292 w 3910048"/>
              <a:gd name="connsiteY2" fmla="*/ 476811 h 1453169"/>
              <a:gd name="connsiteX3" fmla="*/ 2702381 w 3910048"/>
              <a:gd name="connsiteY3" fmla="*/ 117923 h 1453169"/>
              <a:gd name="connsiteX4" fmla="*/ 3910048 w 3910048"/>
              <a:gd name="connsiteY4" fmla="*/ 0 h 1453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0048" h="1453169">
                <a:moveTo>
                  <a:pt x="0" y="1453169"/>
                </a:moveTo>
                <a:cubicBezTo>
                  <a:pt x="73616" y="1422838"/>
                  <a:pt x="146286" y="1360104"/>
                  <a:pt x="395335" y="1197378"/>
                </a:cubicBezTo>
                <a:cubicBezTo>
                  <a:pt x="644384" y="1034652"/>
                  <a:pt x="1109784" y="656720"/>
                  <a:pt x="1494292" y="476811"/>
                </a:cubicBezTo>
                <a:cubicBezTo>
                  <a:pt x="1878800" y="296902"/>
                  <a:pt x="2299755" y="197392"/>
                  <a:pt x="2702381" y="117923"/>
                </a:cubicBezTo>
                <a:cubicBezTo>
                  <a:pt x="3105007" y="38455"/>
                  <a:pt x="3709840" y="23200"/>
                  <a:pt x="3910048" y="0"/>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41" name="Freeform 44" descr=" 41">
            <a:extLst>
              <a:ext uri="{FF2B5EF4-FFF2-40B4-BE49-F238E27FC236}">
                <a16:creationId xmlns:a16="http://schemas.microsoft.com/office/drawing/2014/main" id="{3E7A807E-C199-4F70-93E9-FCBBA0C8ED05}"/>
              </a:ext>
            </a:extLst>
          </p:cNvPr>
          <p:cNvSpPr/>
          <p:nvPr>
            <p:custDataLst>
              <p:tags r:id="rId17"/>
            </p:custDataLst>
          </p:nvPr>
        </p:nvSpPr>
        <p:spPr bwMode="auto">
          <a:xfrm rot="9708963">
            <a:off x="1515700" y="3880050"/>
            <a:ext cx="3464645" cy="1207969"/>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 name="connsiteX0" fmla="*/ 0 w 3910048"/>
              <a:gd name="connsiteY0" fmla="*/ 1556263 h 1556263"/>
              <a:gd name="connsiteX1" fmla="*/ 1667435 w 3910048"/>
              <a:gd name="connsiteY1" fmla="*/ 1255945 h 1556263"/>
              <a:gd name="connsiteX2" fmla="*/ 3910048 w 3910048"/>
              <a:gd name="connsiteY2" fmla="*/ 103094 h 1556263"/>
              <a:gd name="connsiteX0" fmla="*/ 0 w 3910048"/>
              <a:gd name="connsiteY0" fmla="*/ 1556263 h 1556263"/>
              <a:gd name="connsiteX1" fmla="*/ 1494292 w 3910048"/>
              <a:gd name="connsiteY1" fmla="*/ 579905 h 1556263"/>
              <a:gd name="connsiteX2" fmla="*/ 3910048 w 3910048"/>
              <a:gd name="connsiteY2" fmla="*/ 103094 h 1556263"/>
              <a:gd name="connsiteX0" fmla="*/ 0 w 3910048"/>
              <a:gd name="connsiteY0" fmla="*/ 1556263 h 1556263"/>
              <a:gd name="connsiteX1" fmla="*/ 395335 w 3910048"/>
              <a:gd name="connsiteY1" fmla="*/ 1300472 h 1556263"/>
              <a:gd name="connsiteX2" fmla="*/ 1494292 w 3910048"/>
              <a:gd name="connsiteY2" fmla="*/ 579905 h 1556263"/>
              <a:gd name="connsiteX3" fmla="*/ 3910048 w 3910048"/>
              <a:gd name="connsiteY3" fmla="*/ 103094 h 1556263"/>
              <a:gd name="connsiteX0" fmla="*/ 0 w 3910048"/>
              <a:gd name="connsiteY0" fmla="*/ 1453169 h 1453169"/>
              <a:gd name="connsiteX1" fmla="*/ 395335 w 3910048"/>
              <a:gd name="connsiteY1" fmla="*/ 1197378 h 1453169"/>
              <a:gd name="connsiteX2" fmla="*/ 1494292 w 3910048"/>
              <a:gd name="connsiteY2" fmla="*/ 476811 h 1453169"/>
              <a:gd name="connsiteX3" fmla="*/ 2702381 w 3910048"/>
              <a:gd name="connsiteY3" fmla="*/ 117923 h 1453169"/>
              <a:gd name="connsiteX4" fmla="*/ 3910048 w 3910048"/>
              <a:gd name="connsiteY4" fmla="*/ 0 h 1453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0048" h="1453169">
                <a:moveTo>
                  <a:pt x="0" y="1453169"/>
                </a:moveTo>
                <a:cubicBezTo>
                  <a:pt x="73616" y="1422838"/>
                  <a:pt x="146286" y="1360104"/>
                  <a:pt x="395335" y="1197378"/>
                </a:cubicBezTo>
                <a:cubicBezTo>
                  <a:pt x="644384" y="1034652"/>
                  <a:pt x="1109784" y="656720"/>
                  <a:pt x="1494292" y="476811"/>
                </a:cubicBezTo>
                <a:cubicBezTo>
                  <a:pt x="1878800" y="296902"/>
                  <a:pt x="2299755" y="197392"/>
                  <a:pt x="2702381" y="117923"/>
                </a:cubicBezTo>
                <a:cubicBezTo>
                  <a:pt x="3105007" y="38455"/>
                  <a:pt x="3709840" y="23200"/>
                  <a:pt x="3910048" y="0"/>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42" name="Rectangle 19" descr=" 42">
            <a:extLst>
              <a:ext uri="{FF2B5EF4-FFF2-40B4-BE49-F238E27FC236}">
                <a16:creationId xmlns:a16="http://schemas.microsoft.com/office/drawing/2014/main" id="{F349E51F-FBFB-452B-ADA0-4EF8D10BCADB}"/>
              </a:ext>
            </a:extLst>
          </p:cNvPr>
          <p:cNvSpPr>
            <a:spLocks noChangeArrowheads="1"/>
          </p:cNvSpPr>
          <p:nvPr>
            <p:custDataLst>
              <p:tags r:id="rId18"/>
            </p:custDataLst>
          </p:nvPr>
        </p:nvSpPr>
        <p:spPr bwMode="auto">
          <a:xfrm rot="19370607">
            <a:off x="2180855" y="4008561"/>
            <a:ext cx="1728006" cy="251993"/>
          </a:xfrm>
          <a:prstGeom prst="rect">
            <a:avLst/>
          </a:prstGeom>
          <a:noFill/>
          <a:ln w="12700">
            <a:noFill/>
            <a:prstDash val="sysDot"/>
            <a:miter lim="800000"/>
            <a:headEnd/>
            <a:tailEnd/>
          </a:ln>
        </p:spPr>
        <p:txBody>
          <a:bodyPr wrap="none" lIns="67866" tIns="33338" rIns="67866" bIns="33338">
            <a:spAutoFit/>
          </a:bodyPr>
          <a:lstStyle/>
          <a:p>
            <a:r>
              <a:rPr lang="en-US" sz="1200" dirty="0" err="1">
                <a:latin typeface="+mn-lt"/>
              </a:rPr>
              <a:t>BusRd</a:t>
            </a:r>
            <a:r>
              <a:rPr lang="en-US" sz="1200" dirty="0">
                <a:latin typeface="+mn-lt"/>
              </a:rPr>
              <a:t> / </a:t>
            </a:r>
            <a:r>
              <a:rPr lang="en-US" sz="1200" dirty="0" err="1">
                <a:latin typeface="+mn-lt"/>
              </a:rPr>
              <a:t>BusReply</a:t>
            </a:r>
            <a:r>
              <a:rPr lang="en-US" sz="1200" dirty="0">
                <a:latin typeface="+mn-lt"/>
              </a:rPr>
              <a:t>, </a:t>
            </a:r>
            <a:r>
              <a:rPr lang="en-US" sz="1200" dirty="0" err="1">
                <a:latin typeface="+mn-lt"/>
              </a:rPr>
              <a:t>BusWB</a:t>
            </a:r>
            <a:endParaRPr lang="en-US" sz="1200" dirty="0">
              <a:latin typeface="+mn-lt"/>
            </a:endParaRPr>
          </a:p>
        </p:txBody>
      </p:sp>
      <p:sp>
        <p:nvSpPr>
          <p:cNvPr id="44" name="Arc 9" descr=" 44">
            <a:extLst>
              <a:ext uri="{FF2B5EF4-FFF2-40B4-BE49-F238E27FC236}">
                <a16:creationId xmlns:a16="http://schemas.microsoft.com/office/drawing/2014/main" id="{2A8038E9-C8FF-42F8-8033-41AA97E52CF5}"/>
              </a:ext>
            </a:extLst>
          </p:cNvPr>
          <p:cNvSpPr>
            <a:spLocks/>
          </p:cNvSpPr>
          <p:nvPr>
            <p:custDataLst>
              <p:tags r:id="rId19"/>
            </p:custDataLst>
          </p:nvPr>
        </p:nvSpPr>
        <p:spPr bwMode="auto">
          <a:xfrm rot="18257111">
            <a:off x="680281" y="5417159"/>
            <a:ext cx="472328" cy="415302"/>
          </a:xfrm>
          <a:custGeom>
            <a:avLst/>
            <a:gdLst>
              <a:gd name="T0" fmla="*/ 505 w 43200"/>
              <a:gd name="T1" fmla="*/ 474 h 43200"/>
              <a:gd name="T2" fmla="*/ 599 w 43200"/>
              <a:gd name="T3" fmla="*/ 328 h 43200"/>
              <a:gd name="T4" fmla="*/ 303 w 43200"/>
              <a:gd name="T5" fmla="*/ 272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path>
              <a:path w="43200" h="43200" stroke="0"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lnTo>
                  <a:pt x="21600" y="21600"/>
                </a:lnTo>
                <a:close/>
              </a:path>
            </a:pathLst>
          </a:custGeom>
          <a:noFill/>
          <a:ln w="12700" cap="rnd">
            <a:solidFill>
              <a:schemeClr val="tx1"/>
            </a:solidFill>
            <a:round/>
            <a:headEnd/>
            <a:tailEnd type="triangle" w="med" len="med"/>
          </a:ln>
        </p:spPr>
        <p:txBody>
          <a:bodyPr wrap="none" anchor="ctr"/>
          <a:lstStyle/>
          <a:p>
            <a:endParaRPr lang="en-US" sz="1200" dirty="0">
              <a:latin typeface="+mn-lt"/>
            </a:endParaRPr>
          </a:p>
        </p:txBody>
      </p:sp>
      <p:sp>
        <p:nvSpPr>
          <p:cNvPr id="45" name="Rectangle 19" descr=" 45">
            <a:extLst>
              <a:ext uri="{FF2B5EF4-FFF2-40B4-BE49-F238E27FC236}">
                <a16:creationId xmlns:a16="http://schemas.microsoft.com/office/drawing/2014/main" id="{F508D25A-8129-4ED3-8FE8-9499070B58F1}"/>
              </a:ext>
            </a:extLst>
          </p:cNvPr>
          <p:cNvSpPr>
            <a:spLocks noChangeArrowheads="1"/>
          </p:cNvSpPr>
          <p:nvPr>
            <p:custDataLst>
              <p:tags r:id="rId20"/>
            </p:custDataLst>
          </p:nvPr>
        </p:nvSpPr>
        <p:spPr bwMode="auto">
          <a:xfrm>
            <a:off x="36242" y="5173266"/>
            <a:ext cx="1063273"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Load, Store / --</a:t>
            </a:r>
          </a:p>
        </p:txBody>
      </p:sp>
      <p:sp>
        <p:nvSpPr>
          <p:cNvPr id="46" name="Rectangle 19" descr=" 46">
            <a:extLst>
              <a:ext uri="{FF2B5EF4-FFF2-40B4-BE49-F238E27FC236}">
                <a16:creationId xmlns:a16="http://schemas.microsoft.com/office/drawing/2014/main" id="{464B75E9-EDD5-498D-93E0-C07F5055D663}"/>
              </a:ext>
            </a:extLst>
          </p:cNvPr>
          <p:cNvSpPr>
            <a:spLocks noChangeArrowheads="1"/>
          </p:cNvSpPr>
          <p:nvPr>
            <p:custDataLst>
              <p:tags r:id="rId21"/>
            </p:custDataLst>
          </p:nvPr>
        </p:nvSpPr>
        <p:spPr bwMode="auto">
          <a:xfrm rot="19370607">
            <a:off x="2823582" y="4469075"/>
            <a:ext cx="1006206"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Store</a:t>
            </a:r>
            <a:r>
              <a:rPr lang="en-US" sz="1200" dirty="0">
                <a:solidFill>
                  <a:schemeClr val="accent2"/>
                </a:solidFill>
                <a:latin typeface="+mn-lt"/>
              </a:rPr>
              <a:t> </a:t>
            </a:r>
            <a:r>
              <a:rPr lang="en-US" sz="1200" dirty="0">
                <a:latin typeface="+mn-lt"/>
              </a:rPr>
              <a:t>/ BusInv</a:t>
            </a:r>
          </a:p>
        </p:txBody>
      </p:sp>
      <p:sp>
        <p:nvSpPr>
          <p:cNvPr id="47" name="Rectangle 19" descr=" 47">
            <a:extLst>
              <a:ext uri="{FF2B5EF4-FFF2-40B4-BE49-F238E27FC236}">
                <a16:creationId xmlns:a16="http://schemas.microsoft.com/office/drawing/2014/main" id="{D95610DD-8D45-4A27-8FF0-2CCF5F65929B}"/>
              </a:ext>
            </a:extLst>
          </p:cNvPr>
          <p:cNvSpPr>
            <a:spLocks noChangeArrowheads="1"/>
          </p:cNvSpPr>
          <p:nvPr>
            <p:custDataLst>
              <p:tags r:id="rId22"/>
            </p:custDataLst>
          </p:nvPr>
        </p:nvSpPr>
        <p:spPr bwMode="auto">
          <a:xfrm>
            <a:off x="2419347" y="2917592"/>
            <a:ext cx="1320715" cy="251993"/>
          </a:xfrm>
          <a:prstGeom prst="rect">
            <a:avLst/>
          </a:prstGeom>
          <a:noFill/>
          <a:ln w="12700">
            <a:noFill/>
            <a:prstDash val="sysDot"/>
            <a:miter lim="800000"/>
            <a:headEnd/>
            <a:tailEnd/>
          </a:ln>
        </p:spPr>
        <p:txBody>
          <a:bodyPr wrap="none" lIns="67866" tIns="33338" rIns="67866" bIns="33338">
            <a:spAutoFit/>
          </a:bodyPr>
          <a:lstStyle/>
          <a:p>
            <a:r>
              <a:rPr lang="en-US" sz="1200" dirty="0" err="1">
                <a:latin typeface="+mn-lt"/>
              </a:rPr>
              <a:t>BusRdX</a:t>
            </a:r>
            <a:r>
              <a:rPr lang="en-US" sz="1200" dirty="0">
                <a:latin typeface="+mn-lt"/>
              </a:rPr>
              <a:t>, BusInv / --</a:t>
            </a:r>
          </a:p>
        </p:txBody>
      </p:sp>
      <p:sp>
        <p:nvSpPr>
          <p:cNvPr id="64" name="Rectangle 4" descr=" 64">
            <a:extLst>
              <a:ext uri="{FF2B5EF4-FFF2-40B4-BE49-F238E27FC236}">
                <a16:creationId xmlns:a16="http://schemas.microsoft.com/office/drawing/2014/main" id="{DFDD19EF-5E96-4429-8C78-9AEFB35288A1}"/>
              </a:ext>
            </a:extLst>
          </p:cNvPr>
          <p:cNvSpPr>
            <a:spLocks noChangeArrowheads="1"/>
          </p:cNvSpPr>
          <p:nvPr>
            <p:custDataLst>
              <p:tags r:id="rId23"/>
            </p:custDataLst>
          </p:nvPr>
        </p:nvSpPr>
        <p:spPr bwMode="auto">
          <a:xfrm>
            <a:off x="6950522" y="4509869"/>
            <a:ext cx="1373463"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Bus</a:t>
            </a:r>
          </a:p>
        </p:txBody>
      </p:sp>
      <p:cxnSp>
        <p:nvCxnSpPr>
          <p:cNvPr id="65" name="AutoShape 17" descr=" 65">
            <a:extLst>
              <a:ext uri="{FF2B5EF4-FFF2-40B4-BE49-F238E27FC236}">
                <a16:creationId xmlns:a16="http://schemas.microsoft.com/office/drawing/2014/main" id="{C7C3C84F-4C4F-49C7-BB47-D2E7301CC09A}"/>
              </a:ext>
            </a:extLst>
          </p:cNvPr>
          <p:cNvCxnSpPr>
            <a:cxnSpLocks noChangeShapeType="1"/>
          </p:cNvCxnSpPr>
          <p:nvPr>
            <p:custDataLst>
              <p:tags r:id="rId24"/>
            </p:custDataLst>
          </p:nvPr>
        </p:nvCxnSpPr>
        <p:spPr bwMode="auto">
          <a:xfrm rot="5400000">
            <a:off x="8122097" y="3852645"/>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66" name="Line 10" descr=" 66">
            <a:extLst>
              <a:ext uri="{FF2B5EF4-FFF2-40B4-BE49-F238E27FC236}">
                <a16:creationId xmlns:a16="http://schemas.microsoft.com/office/drawing/2014/main" id="{8CC02546-2D36-45DD-9B27-9B89723EF677}"/>
              </a:ext>
            </a:extLst>
          </p:cNvPr>
          <p:cNvSpPr>
            <a:spLocks noChangeShapeType="1"/>
          </p:cNvSpPr>
          <p:nvPr>
            <p:custDataLst>
              <p:tags r:id="rId25"/>
            </p:custDataLst>
          </p:nvPr>
        </p:nvSpPr>
        <p:spPr bwMode="auto">
          <a:xfrm>
            <a:off x="8207822" y="4220548"/>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cxnSp>
        <p:nvCxnSpPr>
          <p:cNvPr id="67" name="Straight Arrow Connector 66" descr=" 67">
            <a:extLst>
              <a:ext uri="{FF2B5EF4-FFF2-40B4-BE49-F238E27FC236}">
                <a16:creationId xmlns:a16="http://schemas.microsoft.com/office/drawing/2014/main" id="{E39DDEB2-9F9E-4386-AA1C-544F27C4B028}"/>
              </a:ext>
            </a:extLst>
          </p:cNvPr>
          <p:cNvCxnSpPr>
            <a:stCxn id="64" idx="2"/>
            <a:endCxn id="69" idx="0"/>
          </p:cNvCxnSpPr>
          <p:nvPr/>
        </p:nvCxnSpPr>
        <p:spPr bwMode="auto">
          <a:xfrm rot="16200000" flipH="1">
            <a:off x="7522954" y="4906347"/>
            <a:ext cx="228600" cy="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68" name="Rectangle 21" descr=" 68">
            <a:extLst>
              <a:ext uri="{FF2B5EF4-FFF2-40B4-BE49-F238E27FC236}">
                <a16:creationId xmlns:a16="http://schemas.microsoft.com/office/drawing/2014/main" id="{0DFCA64C-4BB7-477A-B41A-AD139BD25E36}"/>
              </a:ext>
            </a:extLst>
          </p:cNvPr>
          <p:cNvSpPr>
            <a:spLocks noChangeArrowheads="1"/>
          </p:cNvSpPr>
          <p:nvPr>
            <p:custDataLst>
              <p:tags r:id="rId26"/>
            </p:custDataLst>
          </p:nvPr>
        </p:nvSpPr>
        <p:spPr bwMode="auto">
          <a:xfrm>
            <a:off x="7750622" y="3938369"/>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[I]</a:t>
            </a:r>
            <a:endParaRPr lang="en-US" sz="1800" dirty="0"/>
          </a:p>
        </p:txBody>
      </p:sp>
      <p:sp>
        <p:nvSpPr>
          <p:cNvPr id="69" name="Rectangle 21" descr=" 69">
            <a:extLst>
              <a:ext uri="{FF2B5EF4-FFF2-40B4-BE49-F238E27FC236}">
                <a16:creationId xmlns:a16="http://schemas.microsoft.com/office/drawing/2014/main" id="{29117363-B5E6-48F4-96D5-2F012E18DAF0}"/>
              </a:ext>
            </a:extLst>
          </p:cNvPr>
          <p:cNvSpPr>
            <a:spLocks noChangeArrowheads="1"/>
          </p:cNvSpPr>
          <p:nvPr>
            <p:custDataLst>
              <p:tags r:id="rId27"/>
            </p:custDataLst>
          </p:nvPr>
        </p:nvSpPr>
        <p:spPr bwMode="auto">
          <a:xfrm>
            <a:off x="7194378" y="5020648"/>
            <a:ext cx="885754"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1</a:t>
            </a:r>
            <a:endParaRPr lang="en-US" sz="1800" dirty="0">
              <a:solidFill>
                <a:srgbClr val="C00000"/>
              </a:solidFill>
            </a:endParaRPr>
          </a:p>
        </p:txBody>
      </p:sp>
      <p:sp>
        <p:nvSpPr>
          <p:cNvPr id="70" name="Rectangle 6" descr=" 70">
            <a:extLst>
              <a:ext uri="{FF2B5EF4-FFF2-40B4-BE49-F238E27FC236}">
                <a16:creationId xmlns:a16="http://schemas.microsoft.com/office/drawing/2014/main" id="{E09FCD2D-D62F-487A-B093-AC93D999FBB4}"/>
              </a:ext>
            </a:extLst>
          </p:cNvPr>
          <p:cNvSpPr>
            <a:spLocks noChangeArrowheads="1"/>
          </p:cNvSpPr>
          <p:nvPr>
            <p:custDataLst>
              <p:tags r:id="rId28"/>
            </p:custDataLst>
          </p:nvPr>
        </p:nvSpPr>
        <p:spPr bwMode="auto">
          <a:xfrm>
            <a:off x="8013774" y="3481169"/>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P2</a:t>
            </a:r>
          </a:p>
        </p:txBody>
      </p:sp>
      <p:cxnSp>
        <p:nvCxnSpPr>
          <p:cNvPr id="71" name="AutoShape 17" descr=" 71">
            <a:extLst>
              <a:ext uri="{FF2B5EF4-FFF2-40B4-BE49-F238E27FC236}">
                <a16:creationId xmlns:a16="http://schemas.microsoft.com/office/drawing/2014/main" id="{942719AD-0AF3-4C00-AB22-C685725F12D2}"/>
              </a:ext>
            </a:extLst>
          </p:cNvPr>
          <p:cNvCxnSpPr>
            <a:cxnSpLocks noChangeShapeType="1"/>
          </p:cNvCxnSpPr>
          <p:nvPr>
            <p:custDataLst>
              <p:tags r:id="rId29"/>
            </p:custDataLst>
          </p:nvPr>
        </p:nvCxnSpPr>
        <p:spPr bwMode="auto">
          <a:xfrm rot="5400000">
            <a:off x="7036247" y="3852645"/>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72" name="Line 10" descr=" 72">
            <a:extLst>
              <a:ext uri="{FF2B5EF4-FFF2-40B4-BE49-F238E27FC236}">
                <a16:creationId xmlns:a16="http://schemas.microsoft.com/office/drawing/2014/main" id="{1A50CCCB-0D81-453E-B245-5D0F3C22F722}"/>
              </a:ext>
            </a:extLst>
          </p:cNvPr>
          <p:cNvSpPr>
            <a:spLocks noChangeShapeType="1"/>
          </p:cNvSpPr>
          <p:nvPr>
            <p:custDataLst>
              <p:tags r:id="rId30"/>
            </p:custDataLst>
          </p:nvPr>
        </p:nvSpPr>
        <p:spPr bwMode="auto">
          <a:xfrm>
            <a:off x="7121972" y="4220548"/>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sp>
        <p:nvSpPr>
          <p:cNvPr id="73" name="Rectangle 21" descr=" 73">
            <a:extLst>
              <a:ext uri="{FF2B5EF4-FFF2-40B4-BE49-F238E27FC236}">
                <a16:creationId xmlns:a16="http://schemas.microsoft.com/office/drawing/2014/main" id="{CBD40DC2-9852-4336-89FC-035ACC21C06F}"/>
              </a:ext>
            </a:extLst>
          </p:cNvPr>
          <p:cNvSpPr>
            <a:spLocks noChangeArrowheads="1"/>
          </p:cNvSpPr>
          <p:nvPr>
            <p:custDataLst>
              <p:tags r:id="rId31"/>
            </p:custDataLst>
          </p:nvPr>
        </p:nvSpPr>
        <p:spPr bwMode="auto">
          <a:xfrm>
            <a:off x="6664772" y="3938369"/>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[M]: 2</a:t>
            </a:r>
            <a:endParaRPr lang="en-US" sz="1800" dirty="0"/>
          </a:p>
        </p:txBody>
      </p:sp>
      <p:sp>
        <p:nvSpPr>
          <p:cNvPr id="74" name="Rectangle 6" descr=" 74">
            <a:extLst>
              <a:ext uri="{FF2B5EF4-FFF2-40B4-BE49-F238E27FC236}">
                <a16:creationId xmlns:a16="http://schemas.microsoft.com/office/drawing/2014/main" id="{74A2B6B6-F2AA-4622-9E7E-C88C22EE1955}"/>
              </a:ext>
            </a:extLst>
          </p:cNvPr>
          <p:cNvSpPr>
            <a:spLocks noChangeArrowheads="1"/>
          </p:cNvSpPr>
          <p:nvPr>
            <p:custDataLst>
              <p:tags r:id="rId32"/>
            </p:custDataLst>
          </p:nvPr>
        </p:nvSpPr>
        <p:spPr bwMode="auto">
          <a:xfrm>
            <a:off x="6927924" y="3481169"/>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P1</a:t>
            </a:r>
          </a:p>
        </p:txBody>
      </p:sp>
      <p:sp>
        <p:nvSpPr>
          <p:cNvPr id="43" name="Oval Callout 51" descr=" 75">
            <a:extLst>
              <a:ext uri="{FF2B5EF4-FFF2-40B4-BE49-F238E27FC236}">
                <a16:creationId xmlns:a16="http://schemas.microsoft.com/office/drawing/2014/main" id="{88F01451-EA9F-4F73-8611-31180CB761B6}"/>
              </a:ext>
            </a:extLst>
          </p:cNvPr>
          <p:cNvSpPr/>
          <p:nvPr>
            <p:custDataLst>
              <p:tags r:id="rId33"/>
            </p:custDataLst>
          </p:nvPr>
        </p:nvSpPr>
        <p:spPr bwMode="auto">
          <a:xfrm>
            <a:off x="8150672" y="3138269"/>
            <a:ext cx="914400" cy="342900"/>
          </a:xfrm>
          <a:prstGeom prst="wedgeEllipseCallout">
            <a:avLst>
              <a:gd name="adj1" fmla="val -44362"/>
              <a:gd name="adj2" fmla="val 50735"/>
            </a:avLst>
          </a:prstGeom>
          <a:solidFill>
            <a:schemeClr val="bg1"/>
          </a:solidFill>
          <a:ln>
            <a:solidFill>
              <a:schemeClr val="tx1"/>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0" tIns="34290" rIns="0" bIns="34290" numCol="1" rtlCol="0" anchor="t" anchorCtr="0" compatLnSpc="1">
            <a:prstTxWarp prst="textNoShape">
              <a:avLst/>
            </a:prstTxWarp>
          </a:bodyPr>
          <a:lstStyle/>
          <a:p>
            <a:pPr algn="ctr" defTabSz="685800" eaLnBrk="0" hangingPunct="0"/>
            <a:r>
              <a:rPr lang="en-US" sz="1200" dirty="0">
                <a:solidFill>
                  <a:schemeClr val="accent2">
                    <a:lumMod val="75000"/>
                  </a:schemeClr>
                </a:solidFill>
              </a:rPr>
              <a:t>1: Store A</a:t>
            </a:r>
          </a:p>
        </p:txBody>
      </p:sp>
      <p:sp>
        <p:nvSpPr>
          <p:cNvPr id="48" name="Oval Callout 52" descr=" 76">
            <a:extLst>
              <a:ext uri="{FF2B5EF4-FFF2-40B4-BE49-F238E27FC236}">
                <a16:creationId xmlns:a16="http://schemas.microsoft.com/office/drawing/2014/main" id="{4D303113-04EF-413E-9B6C-E8F44C6EEA47}"/>
              </a:ext>
            </a:extLst>
          </p:cNvPr>
          <p:cNvSpPr/>
          <p:nvPr>
            <p:custDataLst>
              <p:tags r:id="rId34"/>
            </p:custDataLst>
          </p:nvPr>
        </p:nvSpPr>
        <p:spPr bwMode="auto">
          <a:xfrm>
            <a:off x="7979222" y="4224119"/>
            <a:ext cx="1085850" cy="342900"/>
          </a:xfrm>
          <a:prstGeom prst="wedgeEllipseCallout">
            <a:avLst>
              <a:gd name="adj1" fmla="val -53283"/>
              <a:gd name="adj2" fmla="val 54657"/>
            </a:avLst>
          </a:prstGeom>
          <a:solidFill>
            <a:schemeClr val="bg1"/>
          </a:solidFill>
          <a:ln>
            <a:solidFill>
              <a:schemeClr val="tx1"/>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0" tIns="34290" rIns="0" bIns="34290" numCol="1" rtlCol="0" anchor="t" anchorCtr="0" compatLnSpc="1">
            <a:prstTxWarp prst="textNoShape">
              <a:avLst/>
            </a:prstTxWarp>
          </a:bodyPr>
          <a:lstStyle/>
          <a:p>
            <a:pPr algn="ctr" defTabSz="685800" eaLnBrk="0" hangingPunct="0"/>
            <a:r>
              <a:rPr lang="en-US" sz="1200" dirty="0">
                <a:solidFill>
                  <a:schemeClr val="accent2">
                    <a:lumMod val="75000"/>
                  </a:schemeClr>
                </a:solidFill>
              </a:rPr>
              <a:t>2: </a:t>
            </a:r>
            <a:r>
              <a:rPr lang="en-US" sz="1200" dirty="0" err="1">
                <a:solidFill>
                  <a:schemeClr val="accent2">
                    <a:lumMod val="75000"/>
                  </a:schemeClr>
                </a:solidFill>
              </a:rPr>
              <a:t>BusRdX</a:t>
            </a:r>
            <a:r>
              <a:rPr lang="en-US" sz="1200" dirty="0">
                <a:solidFill>
                  <a:schemeClr val="accent2">
                    <a:lumMod val="75000"/>
                  </a:schemeClr>
                </a:solidFill>
              </a:rPr>
              <a:t> A</a:t>
            </a:r>
          </a:p>
        </p:txBody>
      </p:sp>
      <p:sp>
        <p:nvSpPr>
          <p:cNvPr id="49" name="Oval Callout 54" descr=" 77">
            <a:extLst>
              <a:ext uri="{FF2B5EF4-FFF2-40B4-BE49-F238E27FC236}">
                <a16:creationId xmlns:a16="http://schemas.microsoft.com/office/drawing/2014/main" id="{AA9EFDEF-FD30-4342-8D0C-4ED02F4CD37B}"/>
              </a:ext>
            </a:extLst>
          </p:cNvPr>
          <p:cNvSpPr/>
          <p:nvPr>
            <p:custDataLst>
              <p:tags r:id="rId35"/>
            </p:custDataLst>
          </p:nvPr>
        </p:nvSpPr>
        <p:spPr bwMode="auto">
          <a:xfrm>
            <a:off x="5750372" y="4338419"/>
            <a:ext cx="1257300" cy="342900"/>
          </a:xfrm>
          <a:prstGeom prst="wedgeEllipseCallout">
            <a:avLst>
              <a:gd name="adj1" fmla="val 56796"/>
              <a:gd name="adj2" fmla="val -74755"/>
            </a:avLst>
          </a:prstGeom>
          <a:solidFill>
            <a:schemeClr val="bg1"/>
          </a:solidFill>
          <a:ln>
            <a:solidFill>
              <a:schemeClr val="tx1"/>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0" tIns="34290" rIns="0" bIns="34290" numCol="1" rtlCol="0" anchor="t" anchorCtr="0" compatLnSpc="1">
            <a:prstTxWarp prst="textNoShape">
              <a:avLst/>
            </a:prstTxWarp>
          </a:bodyPr>
          <a:lstStyle/>
          <a:p>
            <a:pPr algn="ctr" defTabSz="685800" eaLnBrk="0" hangingPunct="0"/>
            <a:r>
              <a:rPr lang="en-US" sz="1200" dirty="0">
                <a:solidFill>
                  <a:schemeClr val="accent2">
                    <a:lumMod val="75000"/>
                  </a:schemeClr>
                </a:solidFill>
              </a:rPr>
              <a:t>3: </a:t>
            </a:r>
            <a:r>
              <a:rPr lang="en-US" sz="1200" dirty="0" err="1">
                <a:solidFill>
                  <a:schemeClr val="accent2">
                    <a:lumMod val="75000"/>
                  </a:schemeClr>
                </a:solidFill>
              </a:rPr>
              <a:t>BusReply</a:t>
            </a:r>
            <a:r>
              <a:rPr lang="en-US" sz="1200" dirty="0">
                <a:solidFill>
                  <a:schemeClr val="accent2">
                    <a:lumMod val="75000"/>
                  </a:schemeClr>
                </a:solidFill>
              </a:rPr>
              <a:t> A</a:t>
            </a:r>
          </a:p>
        </p:txBody>
      </p:sp>
      <p:sp>
        <p:nvSpPr>
          <p:cNvPr id="50" name="Rectangle 21" descr=" 78">
            <a:extLst>
              <a:ext uri="{FF2B5EF4-FFF2-40B4-BE49-F238E27FC236}">
                <a16:creationId xmlns:a16="http://schemas.microsoft.com/office/drawing/2014/main" id="{9080EA03-AFDB-4DF6-A1E0-D53C7F6D0F54}"/>
              </a:ext>
            </a:extLst>
          </p:cNvPr>
          <p:cNvSpPr>
            <a:spLocks noChangeArrowheads="1"/>
          </p:cNvSpPr>
          <p:nvPr>
            <p:custDataLst>
              <p:tags r:id="rId36"/>
            </p:custDataLst>
          </p:nvPr>
        </p:nvSpPr>
        <p:spPr bwMode="auto">
          <a:xfrm>
            <a:off x="6664772" y="3938369"/>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a:t>
            </a:r>
            <a:r>
              <a:rPr lang="en-US" sz="1500" strike="sngStrike" dirty="0"/>
              <a:t>M</a:t>
            </a:r>
            <a:r>
              <a:rPr lang="en-US" sz="1500" dirty="0"/>
              <a:t> </a:t>
            </a:r>
            <a:r>
              <a:rPr lang="en-US" sz="1500" dirty="0">
                <a:solidFill>
                  <a:schemeClr val="accent2"/>
                </a:solidFill>
              </a:rPr>
              <a:t>I</a:t>
            </a:r>
            <a:r>
              <a:rPr lang="en-US" sz="1500" dirty="0"/>
              <a:t>]: </a:t>
            </a:r>
            <a:r>
              <a:rPr lang="en-US" sz="1500" strike="sngStrike" dirty="0">
                <a:solidFill>
                  <a:schemeClr val="tx1"/>
                </a:solidFill>
              </a:rPr>
              <a:t>2</a:t>
            </a:r>
            <a:endParaRPr lang="en-US" sz="1800" strike="sngStrike" dirty="0">
              <a:solidFill>
                <a:schemeClr val="tx1"/>
              </a:solidFill>
            </a:endParaRPr>
          </a:p>
        </p:txBody>
      </p:sp>
      <p:sp>
        <p:nvSpPr>
          <p:cNvPr id="51" name="Rectangle 21" descr=" 79">
            <a:extLst>
              <a:ext uri="{FF2B5EF4-FFF2-40B4-BE49-F238E27FC236}">
                <a16:creationId xmlns:a16="http://schemas.microsoft.com/office/drawing/2014/main" id="{ADDDB47A-46B0-4107-8AC9-6F0A762422C3}"/>
              </a:ext>
            </a:extLst>
          </p:cNvPr>
          <p:cNvSpPr>
            <a:spLocks noChangeArrowheads="1"/>
          </p:cNvSpPr>
          <p:nvPr>
            <p:custDataLst>
              <p:tags r:id="rId37"/>
            </p:custDataLst>
          </p:nvPr>
        </p:nvSpPr>
        <p:spPr bwMode="auto">
          <a:xfrm>
            <a:off x="7750622" y="3938369"/>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a:t>
            </a:r>
            <a:r>
              <a:rPr lang="en-US" sz="1500" strike="sngStrike" dirty="0"/>
              <a:t>I</a:t>
            </a:r>
            <a:r>
              <a:rPr lang="en-US" sz="1500" dirty="0"/>
              <a:t> </a:t>
            </a:r>
            <a:r>
              <a:rPr lang="en-US" sz="1500" dirty="0">
                <a:solidFill>
                  <a:schemeClr val="accent2"/>
                </a:solidFill>
              </a:rPr>
              <a:t>M</a:t>
            </a:r>
            <a:r>
              <a:rPr lang="en-US" sz="1500" dirty="0"/>
              <a:t>]: </a:t>
            </a:r>
            <a:r>
              <a:rPr lang="en-US" sz="1500" dirty="0">
                <a:solidFill>
                  <a:schemeClr val="accent2"/>
                </a:solidFill>
              </a:rPr>
              <a:t>3</a:t>
            </a:r>
            <a:endParaRPr lang="en-US" sz="1800" dirty="0">
              <a:solidFill>
                <a:schemeClr val="accent2"/>
              </a:solidFill>
            </a:endParaRPr>
          </a:p>
        </p:txBody>
      </p:sp>
      <p:sp>
        <p:nvSpPr>
          <p:cNvPr id="52" name="Rectangle 2">
            <a:extLst>
              <a:ext uri="{FF2B5EF4-FFF2-40B4-BE49-F238E27FC236}">
                <a16:creationId xmlns:a16="http://schemas.microsoft.com/office/drawing/2014/main" id="{B0B01133-8349-4386-BB04-6C87D2E27550}"/>
              </a:ext>
            </a:extLst>
          </p:cNvPr>
          <p:cNvSpPr>
            <a:spLocks noGrp="1" noChangeArrowheads="1"/>
          </p:cNvSpPr>
          <p:nvPr>
            <p:ph type="title"/>
            <p:custDataLst>
              <p:tags r:id="rId38"/>
            </p:custDataLst>
          </p:nvPr>
        </p:nvSpPr>
        <p:spPr>
          <a:xfrm>
            <a:off x="457200" y="274638"/>
            <a:ext cx="7467600" cy="1143000"/>
          </a:xfrm>
        </p:spPr>
        <p:txBody>
          <a:bodyPr/>
          <a:lstStyle/>
          <a:p>
            <a:pPr eaLnBrk="1" hangingPunct="1"/>
            <a:r>
              <a:rPr lang="en-US" altLang="en-US" dirty="0">
                <a:latin typeface="+mn-lt"/>
              </a:rPr>
              <a:t>MSI Protocol</a:t>
            </a:r>
          </a:p>
        </p:txBody>
      </p:sp>
    </p:spTree>
    <p:custDataLst>
      <p:tags r:id="rId1"/>
    </p:custDataLst>
    <p:extLst>
      <p:ext uri="{BB962C8B-B14F-4D97-AF65-F5344CB8AC3E}">
        <p14:creationId xmlns:p14="http://schemas.microsoft.com/office/powerpoint/2010/main" val="250392263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12" descr=" 26">
            <a:extLst>
              <a:ext uri="{FF2B5EF4-FFF2-40B4-BE49-F238E27FC236}">
                <a16:creationId xmlns:a16="http://schemas.microsoft.com/office/drawing/2014/main" id="{E46CCE21-4679-4321-B866-87424AA794FA}"/>
              </a:ext>
            </a:extLst>
          </p:cNvPr>
          <p:cNvSpPr>
            <a:spLocks noChangeArrowheads="1"/>
          </p:cNvSpPr>
          <p:nvPr>
            <p:custDataLst>
              <p:tags r:id="rId2"/>
            </p:custDataLst>
          </p:nvPr>
        </p:nvSpPr>
        <p:spPr bwMode="auto">
          <a:xfrm rot="18047435">
            <a:off x="276351" y="3674864"/>
            <a:ext cx="1064876"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Store / </a:t>
            </a:r>
            <a:r>
              <a:rPr lang="en-US" sz="1200" dirty="0" err="1">
                <a:latin typeface="+mn-lt"/>
              </a:rPr>
              <a:t>BusRdX</a:t>
            </a:r>
            <a:endParaRPr lang="en-US" sz="1200" dirty="0">
              <a:latin typeface="+mn-lt"/>
            </a:endParaRPr>
          </a:p>
        </p:txBody>
      </p:sp>
      <p:sp>
        <p:nvSpPr>
          <p:cNvPr id="27" name="Oval 8" descr=" 27">
            <a:extLst>
              <a:ext uri="{FF2B5EF4-FFF2-40B4-BE49-F238E27FC236}">
                <a16:creationId xmlns:a16="http://schemas.microsoft.com/office/drawing/2014/main" id="{DBBF02CF-CADF-4288-AB07-511F3237F6BC}"/>
              </a:ext>
            </a:extLst>
          </p:cNvPr>
          <p:cNvSpPr>
            <a:spLocks noChangeArrowheads="1"/>
          </p:cNvSpPr>
          <p:nvPr>
            <p:custDataLst>
              <p:tags r:id="rId3"/>
            </p:custDataLst>
          </p:nvPr>
        </p:nvSpPr>
        <p:spPr bwMode="auto">
          <a:xfrm>
            <a:off x="1047747" y="2626659"/>
            <a:ext cx="685800" cy="685800"/>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2100" dirty="0"/>
              <a:t>I</a:t>
            </a:r>
          </a:p>
        </p:txBody>
      </p:sp>
      <p:sp>
        <p:nvSpPr>
          <p:cNvPr id="28" name="Rectangle 19" descr=" 28">
            <a:extLst>
              <a:ext uri="{FF2B5EF4-FFF2-40B4-BE49-F238E27FC236}">
                <a16:creationId xmlns:a16="http://schemas.microsoft.com/office/drawing/2014/main" id="{87F0BF2B-32FF-4F50-BB1F-129F3AB8DB1D}"/>
              </a:ext>
            </a:extLst>
          </p:cNvPr>
          <p:cNvSpPr>
            <a:spLocks noChangeArrowheads="1"/>
          </p:cNvSpPr>
          <p:nvPr>
            <p:custDataLst>
              <p:tags r:id="rId4"/>
            </p:custDataLst>
          </p:nvPr>
        </p:nvSpPr>
        <p:spPr bwMode="auto">
          <a:xfrm>
            <a:off x="2516984" y="2368853"/>
            <a:ext cx="954589"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Load / </a:t>
            </a:r>
            <a:r>
              <a:rPr lang="en-US" sz="1200" dirty="0" err="1">
                <a:latin typeface="+mn-lt"/>
              </a:rPr>
              <a:t>BusRd</a:t>
            </a:r>
            <a:endParaRPr lang="en-US" sz="1200" dirty="0">
              <a:latin typeface="+mn-lt"/>
            </a:endParaRPr>
          </a:p>
        </p:txBody>
      </p:sp>
      <p:sp>
        <p:nvSpPr>
          <p:cNvPr id="29" name="Oval 8" descr=" 29">
            <a:extLst>
              <a:ext uri="{FF2B5EF4-FFF2-40B4-BE49-F238E27FC236}">
                <a16:creationId xmlns:a16="http://schemas.microsoft.com/office/drawing/2014/main" id="{33CDB991-EB3C-4069-8BA9-57A753E2DDD1}"/>
              </a:ext>
            </a:extLst>
          </p:cNvPr>
          <p:cNvSpPr>
            <a:spLocks noChangeArrowheads="1"/>
          </p:cNvSpPr>
          <p:nvPr>
            <p:custDataLst>
              <p:tags r:id="rId5"/>
            </p:custDataLst>
          </p:nvPr>
        </p:nvSpPr>
        <p:spPr bwMode="auto">
          <a:xfrm>
            <a:off x="4362447" y="2626659"/>
            <a:ext cx="685800" cy="685800"/>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2100" dirty="0"/>
              <a:t>S</a:t>
            </a:r>
          </a:p>
        </p:txBody>
      </p:sp>
      <p:sp>
        <p:nvSpPr>
          <p:cNvPr id="30" name="Freeform 32" descr=" 30">
            <a:extLst>
              <a:ext uri="{FF2B5EF4-FFF2-40B4-BE49-F238E27FC236}">
                <a16:creationId xmlns:a16="http://schemas.microsoft.com/office/drawing/2014/main" id="{3A5C55D6-7CC2-4364-8387-68455F042D9A}"/>
              </a:ext>
            </a:extLst>
          </p:cNvPr>
          <p:cNvSpPr/>
          <p:nvPr>
            <p:custDataLst>
              <p:tags r:id="rId6"/>
            </p:custDataLst>
          </p:nvPr>
        </p:nvSpPr>
        <p:spPr bwMode="auto">
          <a:xfrm>
            <a:off x="1733547" y="2619936"/>
            <a:ext cx="2625539" cy="231962"/>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Lst>
            <a:ahLst/>
            <a:cxnLst>
              <a:cxn ang="0">
                <a:pos x="connsiteX0" y="connsiteY0"/>
              </a:cxn>
              <a:cxn ang="0">
                <a:pos x="connsiteX1" y="connsiteY1"/>
              </a:cxn>
              <a:cxn ang="0">
                <a:pos x="connsiteX2" y="connsiteY2"/>
              </a:cxn>
            </a:cxnLst>
            <a:rect l="l" t="t" r="r" b="b"/>
            <a:pathLst>
              <a:path w="3567953" h="309283">
                <a:moveTo>
                  <a:pt x="0" y="309283"/>
                </a:moveTo>
                <a:cubicBezTo>
                  <a:pt x="626035" y="188259"/>
                  <a:pt x="1072776" y="17930"/>
                  <a:pt x="1667435" y="8965"/>
                </a:cubicBezTo>
                <a:cubicBezTo>
                  <a:pt x="2262094" y="0"/>
                  <a:pt x="3004670" y="152400"/>
                  <a:pt x="3567953" y="255494"/>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31" name="Rectangle 19" descr=" 31">
            <a:extLst>
              <a:ext uri="{FF2B5EF4-FFF2-40B4-BE49-F238E27FC236}">
                <a16:creationId xmlns:a16="http://schemas.microsoft.com/office/drawing/2014/main" id="{E02A03AC-54D9-4AF4-9EFC-11A61E811F0E}"/>
              </a:ext>
            </a:extLst>
          </p:cNvPr>
          <p:cNvSpPr>
            <a:spLocks noChangeArrowheads="1"/>
          </p:cNvSpPr>
          <p:nvPr>
            <p:custDataLst>
              <p:tags r:id="rId7"/>
            </p:custDataLst>
          </p:nvPr>
        </p:nvSpPr>
        <p:spPr bwMode="auto">
          <a:xfrm>
            <a:off x="4999636" y="3058716"/>
            <a:ext cx="659636"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Load / --</a:t>
            </a:r>
          </a:p>
        </p:txBody>
      </p:sp>
      <p:sp>
        <p:nvSpPr>
          <p:cNvPr id="32" name="Rectangle 19" descr=" 32">
            <a:extLst>
              <a:ext uri="{FF2B5EF4-FFF2-40B4-BE49-F238E27FC236}">
                <a16:creationId xmlns:a16="http://schemas.microsoft.com/office/drawing/2014/main" id="{00765427-09EC-45D0-9C29-2C799424A5C6}"/>
              </a:ext>
            </a:extLst>
          </p:cNvPr>
          <p:cNvSpPr>
            <a:spLocks noChangeArrowheads="1"/>
          </p:cNvSpPr>
          <p:nvPr>
            <p:custDataLst>
              <p:tags r:id="rId8"/>
            </p:custDataLst>
          </p:nvPr>
        </p:nvSpPr>
        <p:spPr bwMode="auto">
          <a:xfrm>
            <a:off x="4693021" y="2389080"/>
            <a:ext cx="757420" cy="251993"/>
          </a:xfrm>
          <a:prstGeom prst="rect">
            <a:avLst/>
          </a:prstGeom>
          <a:noFill/>
          <a:ln w="12700">
            <a:noFill/>
            <a:prstDash val="sysDot"/>
            <a:miter lim="800000"/>
            <a:headEnd/>
            <a:tailEnd/>
          </a:ln>
        </p:spPr>
        <p:txBody>
          <a:bodyPr wrap="none" lIns="67866" tIns="33338" rIns="67866" bIns="33338">
            <a:spAutoFit/>
          </a:bodyPr>
          <a:lstStyle/>
          <a:p>
            <a:r>
              <a:rPr lang="en-US" sz="1200" dirty="0" err="1">
                <a:latin typeface="+mn-lt"/>
              </a:rPr>
              <a:t>BusRd</a:t>
            </a:r>
            <a:r>
              <a:rPr lang="en-US" sz="1200" dirty="0">
                <a:latin typeface="+mn-lt"/>
              </a:rPr>
              <a:t> / --</a:t>
            </a:r>
          </a:p>
        </p:txBody>
      </p:sp>
      <p:sp>
        <p:nvSpPr>
          <p:cNvPr id="33" name="Arc 9" descr=" 33">
            <a:extLst>
              <a:ext uri="{FF2B5EF4-FFF2-40B4-BE49-F238E27FC236}">
                <a16:creationId xmlns:a16="http://schemas.microsoft.com/office/drawing/2014/main" id="{B8331003-EF3D-49AA-A122-A5EBAA12E235}"/>
              </a:ext>
            </a:extLst>
          </p:cNvPr>
          <p:cNvSpPr>
            <a:spLocks/>
          </p:cNvSpPr>
          <p:nvPr>
            <p:custDataLst>
              <p:tags r:id="rId9"/>
            </p:custDataLst>
          </p:nvPr>
        </p:nvSpPr>
        <p:spPr bwMode="auto">
          <a:xfrm rot="8454697">
            <a:off x="5048821" y="2639011"/>
            <a:ext cx="472328" cy="415302"/>
          </a:xfrm>
          <a:custGeom>
            <a:avLst/>
            <a:gdLst>
              <a:gd name="T0" fmla="*/ 505 w 43200"/>
              <a:gd name="T1" fmla="*/ 474 h 43200"/>
              <a:gd name="T2" fmla="*/ 599 w 43200"/>
              <a:gd name="T3" fmla="*/ 328 h 43200"/>
              <a:gd name="T4" fmla="*/ 303 w 43200"/>
              <a:gd name="T5" fmla="*/ 272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path>
              <a:path w="43200" h="43200" stroke="0"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lnTo>
                  <a:pt x="21600" y="21600"/>
                </a:lnTo>
                <a:close/>
              </a:path>
            </a:pathLst>
          </a:custGeom>
          <a:noFill/>
          <a:ln w="12700" cap="rnd">
            <a:solidFill>
              <a:schemeClr val="tx1"/>
            </a:solidFill>
            <a:round/>
            <a:headEnd/>
            <a:tailEnd type="triangle" w="med" len="med"/>
          </a:ln>
        </p:spPr>
        <p:txBody>
          <a:bodyPr wrap="none" anchor="ctr"/>
          <a:lstStyle/>
          <a:p>
            <a:endParaRPr lang="en-US" sz="1200" dirty="0">
              <a:latin typeface="+mn-lt"/>
            </a:endParaRPr>
          </a:p>
        </p:txBody>
      </p:sp>
      <p:sp>
        <p:nvSpPr>
          <p:cNvPr id="34" name="Oval 8" descr=" 34">
            <a:extLst>
              <a:ext uri="{FF2B5EF4-FFF2-40B4-BE49-F238E27FC236}">
                <a16:creationId xmlns:a16="http://schemas.microsoft.com/office/drawing/2014/main" id="{6D6F9712-1D17-4F59-A56D-69B6F5C8D760}"/>
              </a:ext>
            </a:extLst>
          </p:cNvPr>
          <p:cNvSpPr>
            <a:spLocks noChangeArrowheads="1"/>
          </p:cNvSpPr>
          <p:nvPr>
            <p:custDataLst>
              <p:tags r:id="rId10"/>
            </p:custDataLst>
          </p:nvPr>
        </p:nvSpPr>
        <p:spPr bwMode="auto">
          <a:xfrm>
            <a:off x="1104897" y="5026959"/>
            <a:ext cx="685800" cy="685800"/>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2100" dirty="0"/>
              <a:t>M</a:t>
            </a:r>
          </a:p>
        </p:txBody>
      </p:sp>
      <p:sp>
        <p:nvSpPr>
          <p:cNvPr id="35" name="Freeform 38" descr=" 35">
            <a:extLst>
              <a:ext uri="{FF2B5EF4-FFF2-40B4-BE49-F238E27FC236}">
                <a16:creationId xmlns:a16="http://schemas.microsoft.com/office/drawing/2014/main" id="{6498D179-63E5-478F-863E-7F646837C369}"/>
              </a:ext>
            </a:extLst>
          </p:cNvPr>
          <p:cNvSpPr/>
          <p:nvPr>
            <p:custDataLst>
              <p:tags r:id="rId11"/>
            </p:custDataLst>
          </p:nvPr>
        </p:nvSpPr>
        <p:spPr bwMode="auto">
          <a:xfrm rot="16035852" flipH="1">
            <a:off x="291114" y="4057237"/>
            <a:ext cx="1712399" cy="231962"/>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Lst>
            <a:ahLst/>
            <a:cxnLst>
              <a:cxn ang="0">
                <a:pos x="connsiteX0" y="connsiteY0"/>
              </a:cxn>
              <a:cxn ang="0">
                <a:pos x="connsiteX1" y="connsiteY1"/>
              </a:cxn>
              <a:cxn ang="0">
                <a:pos x="connsiteX2" y="connsiteY2"/>
              </a:cxn>
            </a:cxnLst>
            <a:rect l="l" t="t" r="r" b="b"/>
            <a:pathLst>
              <a:path w="3567953" h="309283">
                <a:moveTo>
                  <a:pt x="0" y="309283"/>
                </a:moveTo>
                <a:cubicBezTo>
                  <a:pt x="626035" y="188259"/>
                  <a:pt x="1072776" y="17930"/>
                  <a:pt x="1667435" y="8965"/>
                </a:cubicBezTo>
                <a:cubicBezTo>
                  <a:pt x="2262094" y="0"/>
                  <a:pt x="3004670" y="152400"/>
                  <a:pt x="3567953" y="255494"/>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36" name="Freeform 39" descr=" 36">
            <a:extLst>
              <a:ext uri="{FF2B5EF4-FFF2-40B4-BE49-F238E27FC236}">
                <a16:creationId xmlns:a16="http://schemas.microsoft.com/office/drawing/2014/main" id="{7F7D25AD-3CE7-4D70-9A2B-9F64D9212CCD}"/>
              </a:ext>
            </a:extLst>
          </p:cNvPr>
          <p:cNvSpPr/>
          <p:nvPr>
            <p:custDataLst>
              <p:tags r:id="rId12"/>
            </p:custDataLst>
          </p:nvPr>
        </p:nvSpPr>
        <p:spPr bwMode="auto">
          <a:xfrm rot="5400000" flipH="1">
            <a:off x="821879" y="4052678"/>
            <a:ext cx="1712399" cy="231962"/>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Lst>
            <a:ahLst/>
            <a:cxnLst>
              <a:cxn ang="0">
                <a:pos x="connsiteX0" y="connsiteY0"/>
              </a:cxn>
              <a:cxn ang="0">
                <a:pos x="connsiteX1" y="connsiteY1"/>
              </a:cxn>
              <a:cxn ang="0">
                <a:pos x="connsiteX2" y="connsiteY2"/>
              </a:cxn>
            </a:cxnLst>
            <a:rect l="l" t="t" r="r" b="b"/>
            <a:pathLst>
              <a:path w="3567953" h="309283">
                <a:moveTo>
                  <a:pt x="0" y="309283"/>
                </a:moveTo>
                <a:cubicBezTo>
                  <a:pt x="626035" y="188259"/>
                  <a:pt x="1072776" y="17930"/>
                  <a:pt x="1667435" y="8965"/>
                </a:cubicBezTo>
                <a:cubicBezTo>
                  <a:pt x="2262094" y="0"/>
                  <a:pt x="3004670" y="152400"/>
                  <a:pt x="3567953" y="255494"/>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38" name="Freeform 41" descr=" 38">
            <a:extLst>
              <a:ext uri="{FF2B5EF4-FFF2-40B4-BE49-F238E27FC236}">
                <a16:creationId xmlns:a16="http://schemas.microsoft.com/office/drawing/2014/main" id="{D098FEF2-4FC8-4CE2-9E3A-88561280BDA4}"/>
              </a:ext>
            </a:extLst>
          </p:cNvPr>
          <p:cNvSpPr/>
          <p:nvPr>
            <p:custDataLst>
              <p:tags r:id="rId13"/>
            </p:custDataLst>
          </p:nvPr>
        </p:nvSpPr>
        <p:spPr bwMode="auto">
          <a:xfrm rot="10800000">
            <a:off x="1733547" y="3023347"/>
            <a:ext cx="2625539" cy="231962"/>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Lst>
            <a:ahLst/>
            <a:cxnLst>
              <a:cxn ang="0">
                <a:pos x="connsiteX0" y="connsiteY0"/>
              </a:cxn>
              <a:cxn ang="0">
                <a:pos x="connsiteX1" y="connsiteY1"/>
              </a:cxn>
              <a:cxn ang="0">
                <a:pos x="connsiteX2" y="connsiteY2"/>
              </a:cxn>
            </a:cxnLst>
            <a:rect l="l" t="t" r="r" b="b"/>
            <a:pathLst>
              <a:path w="3567953" h="309283">
                <a:moveTo>
                  <a:pt x="0" y="309283"/>
                </a:moveTo>
                <a:cubicBezTo>
                  <a:pt x="626035" y="188259"/>
                  <a:pt x="1072776" y="17930"/>
                  <a:pt x="1667435" y="8965"/>
                </a:cubicBezTo>
                <a:cubicBezTo>
                  <a:pt x="2262094" y="0"/>
                  <a:pt x="3004670" y="152400"/>
                  <a:pt x="3567953" y="255494"/>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39" name="Rectangle 19" descr=" 39">
            <a:extLst>
              <a:ext uri="{FF2B5EF4-FFF2-40B4-BE49-F238E27FC236}">
                <a16:creationId xmlns:a16="http://schemas.microsoft.com/office/drawing/2014/main" id="{B00B0C59-2DF1-4525-AB77-50EAEF06353E}"/>
              </a:ext>
            </a:extLst>
          </p:cNvPr>
          <p:cNvSpPr>
            <a:spLocks noChangeArrowheads="1"/>
          </p:cNvSpPr>
          <p:nvPr>
            <p:custDataLst>
              <p:tags r:id="rId14"/>
            </p:custDataLst>
          </p:nvPr>
        </p:nvSpPr>
        <p:spPr bwMode="auto">
          <a:xfrm>
            <a:off x="2668468" y="3242900"/>
            <a:ext cx="652840"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Evict / --</a:t>
            </a:r>
          </a:p>
        </p:txBody>
      </p:sp>
      <p:sp>
        <p:nvSpPr>
          <p:cNvPr id="40" name="Freeform 43" descr=" 40">
            <a:extLst>
              <a:ext uri="{FF2B5EF4-FFF2-40B4-BE49-F238E27FC236}">
                <a16:creationId xmlns:a16="http://schemas.microsoft.com/office/drawing/2014/main" id="{49444570-B459-4FD9-8379-196C90D20393}"/>
              </a:ext>
            </a:extLst>
          </p:cNvPr>
          <p:cNvSpPr/>
          <p:nvPr>
            <p:custDataLst>
              <p:tags r:id="rId15"/>
            </p:custDataLst>
          </p:nvPr>
        </p:nvSpPr>
        <p:spPr bwMode="auto">
          <a:xfrm rot="20487262">
            <a:off x="1493844" y="3681742"/>
            <a:ext cx="3218770" cy="1089877"/>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 name="connsiteX0" fmla="*/ 0 w 3910048"/>
              <a:gd name="connsiteY0" fmla="*/ 1556263 h 1556263"/>
              <a:gd name="connsiteX1" fmla="*/ 1667435 w 3910048"/>
              <a:gd name="connsiteY1" fmla="*/ 1255945 h 1556263"/>
              <a:gd name="connsiteX2" fmla="*/ 3910048 w 3910048"/>
              <a:gd name="connsiteY2" fmla="*/ 103094 h 1556263"/>
              <a:gd name="connsiteX0" fmla="*/ 0 w 3910048"/>
              <a:gd name="connsiteY0" fmla="*/ 1556263 h 1556263"/>
              <a:gd name="connsiteX1" fmla="*/ 1494292 w 3910048"/>
              <a:gd name="connsiteY1" fmla="*/ 579905 h 1556263"/>
              <a:gd name="connsiteX2" fmla="*/ 3910048 w 3910048"/>
              <a:gd name="connsiteY2" fmla="*/ 103094 h 1556263"/>
              <a:gd name="connsiteX0" fmla="*/ 0 w 3910048"/>
              <a:gd name="connsiteY0" fmla="*/ 1556263 h 1556263"/>
              <a:gd name="connsiteX1" fmla="*/ 395335 w 3910048"/>
              <a:gd name="connsiteY1" fmla="*/ 1300472 h 1556263"/>
              <a:gd name="connsiteX2" fmla="*/ 1494292 w 3910048"/>
              <a:gd name="connsiteY2" fmla="*/ 579905 h 1556263"/>
              <a:gd name="connsiteX3" fmla="*/ 3910048 w 3910048"/>
              <a:gd name="connsiteY3" fmla="*/ 103094 h 1556263"/>
              <a:gd name="connsiteX0" fmla="*/ 0 w 3910048"/>
              <a:gd name="connsiteY0" fmla="*/ 1453169 h 1453169"/>
              <a:gd name="connsiteX1" fmla="*/ 395335 w 3910048"/>
              <a:gd name="connsiteY1" fmla="*/ 1197378 h 1453169"/>
              <a:gd name="connsiteX2" fmla="*/ 1494292 w 3910048"/>
              <a:gd name="connsiteY2" fmla="*/ 476811 h 1453169"/>
              <a:gd name="connsiteX3" fmla="*/ 2702381 w 3910048"/>
              <a:gd name="connsiteY3" fmla="*/ 117923 h 1453169"/>
              <a:gd name="connsiteX4" fmla="*/ 3910048 w 3910048"/>
              <a:gd name="connsiteY4" fmla="*/ 0 h 1453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0048" h="1453169">
                <a:moveTo>
                  <a:pt x="0" y="1453169"/>
                </a:moveTo>
                <a:cubicBezTo>
                  <a:pt x="73616" y="1422838"/>
                  <a:pt x="146286" y="1360104"/>
                  <a:pt x="395335" y="1197378"/>
                </a:cubicBezTo>
                <a:cubicBezTo>
                  <a:pt x="644384" y="1034652"/>
                  <a:pt x="1109784" y="656720"/>
                  <a:pt x="1494292" y="476811"/>
                </a:cubicBezTo>
                <a:cubicBezTo>
                  <a:pt x="1878800" y="296902"/>
                  <a:pt x="2299755" y="197392"/>
                  <a:pt x="2702381" y="117923"/>
                </a:cubicBezTo>
                <a:cubicBezTo>
                  <a:pt x="3105007" y="38455"/>
                  <a:pt x="3709840" y="23200"/>
                  <a:pt x="3910048" y="0"/>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41" name="Freeform 44" descr=" 41">
            <a:extLst>
              <a:ext uri="{FF2B5EF4-FFF2-40B4-BE49-F238E27FC236}">
                <a16:creationId xmlns:a16="http://schemas.microsoft.com/office/drawing/2014/main" id="{3E7A807E-C199-4F70-93E9-FCBBA0C8ED05}"/>
              </a:ext>
            </a:extLst>
          </p:cNvPr>
          <p:cNvSpPr/>
          <p:nvPr>
            <p:custDataLst>
              <p:tags r:id="rId16"/>
            </p:custDataLst>
          </p:nvPr>
        </p:nvSpPr>
        <p:spPr bwMode="auto">
          <a:xfrm rot="9708963">
            <a:off x="1515700" y="3880050"/>
            <a:ext cx="3464645" cy="1207969"/>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 name="connsiteX0" fmla="*/ 0 w 3910048"/>
              <a:gd name="connsiteY0" fmla="*/ 1556263 h 1556263"/>
              <a:gd name="connsiteX1" fmla="*/ 1667435 w 3910048"/>
              <a:gd name="connsiteY1" fmla="*/ 1255945 h 1556263"/>
              <a:gd name="connsiteX2" fmla="*/ 3910048 w 3910048"/>
              <a:gd name="connsiteY2" fmla="*/ 103094 h 1556263"/>
              <a:gd name="connsiteX0" fmla="*/ 0 w 3910048"/>
              <a:gd name="connsiteY0" fmla="*/ 1556263 h 1556263"/>
              <a:gd name="connsiteX1" fmla="*/ 1494292 w 3910048"/>
              <a:gd name="connsiteY1" fmla="*/ 579905 h 1556263"/>
              <a:gd name="connsiteX2" fmla="*/ 3910048 w 3910048"/>
              <a:gd name="connsiteY2" fmla="*/ 103094 h 1556263"/>
              <a:gd name="connsiteX0" fmla="*/ 0 w 3910048"/>
              <a:gd name="connsiteY0" fmla="*/ 1556263 h 1556263"/>
              <a:gd name="connsiteX1" fmla="*/ 395335 w 3910048"/>
              <a:gd name="connsiteY1" fmla="*/ 1300472 h 1556263"/>
              <a:gd name="connsiteX2" fmla="*/ 1494292 w 3910048"/>
              <a:gd name="connsiteY2" fmla="*/ 579905 h 1556263"/>
              <a:gd name="connsiteX3" fmla="*/ 3910048 w 3910048"/>
              <a:gd name="connsiteY3" fmla="*/ 103094 h 1556263"/>
              <a:gd name="connsiteX0" fmla="*/ 0 w 3910048"/>
              <a:gd name="connsiteY0" fmla="*/ 1453169 h 1453169"/>
              <a:gd name="connsiteX1" fmla="*/ 395335 w 3910048"/>
              <a:gd name="connsiteY1" fmla="*/ 1197378 h 1453169"/>
              <a:gd name="connsiteX2" fmla="*/ 1494292 w 3910048"/>
              <a:gd name="connsiteY2" fmla="*/ 476811 h 1453169"/>
              <a:gd name="connsiteX3" fmla="*/ 2702381 w 3910048"/>
              <a:gd name="connsiteY3" fmla="*/ 117923 h 1453169"/>
              <a:gd name="connsiteX4" fmla="*/ 3910048 w 3910048"/>
              <a:gd name="connsiteY4" fmla="*/ 0 h 1453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0048" h="1453169">
                <a:moveTo>
                  <a:pt x="0" y="1453169"/>
                </a:moveTo>
                <a:cubicBezTo>
                  <a:pt x="73616" y="1422838"/>
                  <a:pt x="146286" y="1360104"/>
                  <a:pt x="395335" y="1197378"/>
                </a:cubicBezTo>
                <a:cubicBezTo>
                  <a:pt x="644384" y="1034652"/>
                  <a:pt x="1109784" y="656720"/>
                  <a:pt x="1494292" y="476811"/>
                </a:cubicBezTo>
                <a:cubicBezTo>
                  <a:pt x="1878800" y="296902"/>
                  <a:pt x="2299755" y="197392"/>
                  <a:pt x="2702381" y="117923"/>
                </a:cubicBezTo>
                <a:cubicBezTo>
                  <a:pt x="3105007" y="38455"/>
                  <a:pt x="3709840" y="23200"/>
                  <a:pt x="3910048" y="0"/>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42" name="Rectangle 19" descr=" 42">
            <a:extLst>
              <a:ext uri="{FF2B5EF4-FFF2-40B4-BE49-F238E27FC236}">
                <a16:creationId xmlns:a16="http://schemas.microsoft.com/office/drawing/2014/main" id="{F349E51F-FBFB-452B-ADA0-4EF8D10BCADB}"/>
              </a:ext>
            </a:extLst>
          </p:cNvPr>
          <p:cNvSpPr>
            <a:spLocks noChangeArrowheads="1"/>
          </p:cNvSpPr>
          <p:nvPr>
            <p:custDataLst>
              <p:tags r:id="rId17"/>
            </p:custDataLst>
          </p:nvPr>
        </p:nvSpPr>
        <p:spPr bwMode="auto">
          <a:xfrm rot="19370607">
            <a:off x="2180855" y="4008561"/>
            <a:ext cx="1728006" cy="251993"/>
          </a:xfrm>
          <a:prstGeom prst="rect">
            <a:avLst/>
          </a:prstGeom>
          <a:noFill/>
          <a:ln w="12700">
            <a:noFill/>
            <a:prstDash val="sysDot"/>
            <a:miter lim="800000"/>
            <a:headEnd/>
            <a:tailEnd/>
          </a:ln>
        </p:spPr>
        <p:txBody>
          <a:bodyPr wrap="none" lIns="67866" tIns="33338" rIns="67866" bIns="33338">
            <a:spAutoFit/>
          </a:bodyPr>
          <a:lstStyle/>
          <a:p>
            <a:r>
              <a:rPr lang="en-US" sz="1200" dirty="0" err="1">
                <a:latin typeface="+mn-lt"/>
              </a:rPr>
              <a:t>BusRd</a:t>
            </a:r>
            <a:r>
              <a:rPr lang="en-US" sz="1200" dirty="0">
                <a:latin typeface="+mn-lt"/>
              </a:rPr>
              <a:t> / </a:t>
            </a:r>
            <a:r>
              <a:rPr lang="en-US" sz="1200" dirty="0" err="1">
                <a:latin typeface="+mn-lt"/>
              </a:rPr>
              <a:t>BusReply</a:t>
            </a:r>
            <a:r>
              <a:rPr lang="en-US" sz="1200" dirty="0">
                <a:latin typeface="+mn-lt"/>
              </a:rPr>
              <a:t>, </a:t>
            </a:r>
            <a:r>
              <a:rPr lang="en-US" sz="1200" dirty="0" err="1">
                <a:latin typeface="+mn-lt"/>
              </a:rPr>
              <a:t>BusWB</a:t>
            </a:r>
            <a:endParaRPr lang="en-US" sz="1200" dirty="0">
              <a:latin typeface="+mn-lt"/>
            </a:endParaRPr>
          </a:p>
        </p:txBody>
      </p:sp>
      <p:sp>
        <p:nvSpPr>
          <p:cNvPr id="43" name="Rectangle 12" descr=" 43">
            <a:extLst>
              <a:ext uri="{FF2B5EF4-FFF2-40B4-BE49-F238E27FC236}">
                <a16:creationId xmlns:a16="http://schemas.microsoft.com/office/drawing/2014/main" id="{F1F0EC7B-7653-4760-8A06-29BD0A8AA182}"/>
              </a:ext>
            </a:extLst>
          </p:cNvPr>
          <p:cNvSpPr>
            <a:spLocks noChangeArrowheads="1"/>
          </p:cNvSpPr>
          <p:nvPr>
            <p:custDataLst>
              <p:tags r:id="rId18"/>
            </p:custDataLst>
          </p:nvPr>
        </p:nvSpPr>
        <p:spPr bwMode="auto">
          <a:xfrm rot="4299444">
            <a:off x="1050517" y="3694514"/>
            <a:ext cx="1029161" cy="251993"/>
          </a:xfrm>
          <a:prstGeom prst="rect">
            <a:avLst/>
          </a:prstGeom>
          <a:noFill/>
          <a:ln w="12700">
            <a:noFill/>
            <a:prstDash val="sysDot"/>
            <a:miter lim="800000"/>
            <a:headEnd/>
            <a:tailEnd/>
          </a:ln>
        </p:spPr>
        <p:txBody>
          <a:bodyPr wrap="none" lIns="67866" tIns="33338" rIns="67866" bIns="33338">
            <a:spAutoFit/>
          </a:bodyPr>
          <a:lstStyle/>
          <a:p>
            <a:r>
              <a:rPr lang="en-US" sz="1200" b="1" dirty="0">
                <a:solidFill>
                  <a:schemeClr val="accent2">
                    <a:lumMod val="75000"/>
                  </a:schemeClr>
                </a:solidFill>
                <a:latin typeface="+mn-lt"/>
              </a:rPr>
              <a:t>Evict / </a:t>
            </a:r>
            <a:r>
              <a:rPr lang="en-US" sz="1200" b="1" dirty="0" err="1">
                <a:solidFill>
                  <a:schemeClr val="accent2">
                    <a:lumMod val="75000"/>
                  </a:schemeClr>
                </a:solidFill>
                <a:latin typeface="+mn-lt"/>
              </a:rPr>
              <a:t>BusWB</a:t>
            </a:r>
            <a:endParaRPr lang="en-US" sz="1200" b="1" dirty="0">
              <a:solidFill>
                <a:schemeClr val="accent2">
                  <a:lumMod val="75000"/>
                </a:schemeClr>
              </a:solidFill>
              <a:latin typeface="+mn-lt"/>
            </a:endParaRPr>
          </a:p>
        </p:txBody>
      </p:sp>
      <p:sp>
        <p:nvSpPr>
          <p:cNvPr id="44" name="Arc 9" descr=" 44">
            <a:extLst>
              <a:ext uri="{FF2B5EF4-FFF2-40B4-BE49-F238E27FC236}">
                <a16:creationId xmlns:a16="http://schemas.microsoft.com/office/drawing/2014/main" id="{2A8038E9-C8FF-42F8-8033-41AA97E52CF5}"/>
              </a:ext>
            </a:extLst>
          </p:cNvPr>
          <p:cNvSpPr>
            <a:spLocks/>
          </p:cNvSpPr>
          <p:nvPr>
            <p:custDataLst>
              <p:tags r:id="rId19"/>
            </p:custDataLst>
          </p:nvPr>
        </p:nvSpPr>
        <p:spPr bwMode="auto">
          <a:xfrm rot="18257111">
            <a:off x="680281" y="5417159"/>
            <a:ext cx="472328" cy="415302"/>
          </a:xfrm>
          <a:custGeom>
            <a:avLst/>
            <a:gdLst>
              <a:gd name="T0" fmla="*/ 505 w 43200"/>
              <a:gd name="T1" fmla="*/ 474 h 43200"/>
              <a:gd name="T2" fmla="*/ 599 w 43200"/>
              <a:gd name="T3" fmla="*/ 328 h 43200"/>
              <a:gd name="T4" fmla="*/ 303 w 43200"/>
              <a:gd name="T5" fmla="*/ 272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path>
              <a:path w="43200" h="43200" stroke="0"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lnTo>
                  <a:pt x="21600" y="21600"/>
                </a:lnTo>
                <a:close/>
              </a:path>
            </a:pathLst>
          </a:custGeom>
          <a:noFill/>
          <a:ln w="12700" cap="rnd">
            <a:solidFill>
              <a:schemeClr val="tx1"/>
            </a:solidFill>
            <a:round/>
            <a:headEnd/>
            <a:tailEnd type="triangle" w="med" len="med"/>
          </a:ln>
        </p:spPr>
        <p:txBody>
          <a:bodyPr wrap="none" anchor="ctr"/>
          <a:lstStyle/>
          <a:p>
            <a:endParaRPr lang="en-US" sz="1200" dirty="0">
              <a:latin typeface="+mn-lt"/>
            </a:endParaRPr>
          </a:p>
        </p:txBody>
      </p:sp>
      <p:sp>
        <p:nvSpPr>
          <p:cNvPr id="45" name="Rectangle 19" descr=" 45">
            <a:extLst>
              <a:ext uri="{FF2B5EF4-FFF2-40B4-BE49-F238E27FC236}">
                <a16:creationId xmlns:a16="http://schemas.microsoft.com/office/drawing/2014/main" id="{F508D25A-8129-4ED3-8FE8-9499070B58F1}"/>
              </a:ext>
            </a:extLst>
          </p:cNvPr>
          <p:cNvSpPr>
            <a:spLocks noChangeArrowheads="1"/>
          </p:cNvSpPr>
          <p:nvPr>
            <p:custDataLst>
              <p:tags r:id="rId20"/>
            </p:custDataLst>
          </p:nvPr>
        </p:nvSpPr>
        <p:spPr bwMode="auto">
          <a:xfrm>
            <a:off x="36242" y="5173266"/>
            <a:ext cx="1063273"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Load, Store / --</a:t>
            </a:r>
          </a:p>
        </p:txBody>
      </p:sp>
      <p:sp>
        <p:nvSpPr>
          <p:cNvPr id="46" name="Rectangle 19" descr=" 46">
            <a:extLst>
              <a:ext uri="{FF2B5EF4-FFF2-40B4-BE49-F238E27FC236}">
                <a16:creationId xmlns:a16="http://schemas.microsoft.com/office/drawing/2014/main" id="{464B75E9-EDD5-498D-93E0-C07F5055D663}"/>
              </a:ext>
            </a:extLst>
          </p:cNvPr>
          <p:cNvSpPr>
            <a:spLocks noChangeArrowheads="1"/>
          </p:cNvSpPr>
          <p:nvPr>
            <p:custDataLst>
              <p:tags r:id="rId21"/>
            </p:custDataLst>
          </p:nvPr>
        </p:nvSpPr>
        <p:spPr bwMode="auto">
          <a:xfrm rot="19370607">
            <a:off x="2823582" y="4469075"/>
            <a:ext cx="1006206"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Store</a:t>
            </a:r>
            <a:r>
              <a:rPr lang="en-US" sz="1200" dirty="0">
                <a:solidFill>
                  <a:schemeClr val="accent2"/>
                </a:solidFill>
                <a:latin typeface="+mn-lt"/>
              </a:rPr>
              <a:t> </a:t>
            </a:r>
            <a:r>
              <a:rPr lang="en-US" sz="1200" dirty="0">
                <a:latin typeface="+mn-lt"/>
              </a:rPr>
              <a:t>/ BusInv</a:t>
            </a:r>
          </a:p>
        </p:txBody>
      </p:sp>
      <p:sp>
        <p:nvSpPr>
          <p:cNvPr id="47" name="Rectangle 19" descr=" 47">
            <a:extLst>
              <a:ext uri="{FF2B5EF4-FFF2-40B4-BE49-F238E27FC236}">
                <a16:creationId xmlns:a16="http://schemas.microsoft.com/office/drawing/2014/main" id="{D95610DD-8D45-4A27-8FF0-2CCF5F65929B}"/>
              </a:ext>
            </a:extLst>
          </p:cNvPr>
          <p:cNvSpPr>
            <a:spLocks noChangeArrowheads="1"/>
          </p:cNvSpPr>
          <p:nvPr>
            <p:custDataLst>
              <p:tags r:id="rId22"/>
            </p:custDataLst>
          </p:nvPr>
        </p:nvSpPr>
        <p:spPr bwMode="auto">
          <a:xfrm>
            <a:off x="2419347" y="2917592"/>
            <a:ext cx="1320715" cy="251993"/>
          </a:xfrm>
          <a:prstGeom prst="rect">
            <a:avLst/>
          </a:prstGeom>
          <a:noFill/>
          <a:ln w="12700">
            <a:noFill/>
            <a:prstDash val="sysDot"/>
            <a:miter lim="800000"/>
            <a:headEnd/>
            <a:tailEnd/>
          </a:ln>
        </p:spPr>
        <p:txBody>
          <a:bodyPr wrap="none" lIns="67866" tIns="33338" rIns="67866" bIns="33338">
            <a:spAutoFit/>
          </a:bodyPr>
          <a:lstStyle/>
          <a:p>
            <a:r>
              <a:rPr lang="en-US" sz="1200" dirty="0" err="1">
                <a:latin typeface="+mn-lt"/>
              </a:rPr>
              <a:t>BusRdX</a:t>
            </a:r>
            <a:r>
              <a:rPr lang="en-US" sz="1200" dirty="0">
                <a:latin typeface="+mn-lt"/>
              </a:rPr>
              <a:t>, BusInv / --</a:t>
            </a:r>
          </a:p>
        </p:txBody>
      </p:sp>
      <p:sp>
        <p:nvSpPr>
          <p:cNvPr id="48" name="Rectangle 4" descr=" 48">
            <a:extLst>
              <a:ext uri="{FF2B5EF4-FFF2-40B4-BE49-F238E27FC236}">
                <a16:creationId xmlns:a16="http://schemas.microsoft.com/office/drawing/2014/main" id="{50E70260-F244-4D70-A86E-A1DAEB7C0F4E}"/>
              </a:ext>
            </a:extLst>
          </p:cNvPr>
          <p:cNvSpPr>
            <a:spLocks noChangeArrowheads="1"/>
          </p:cNvSpPr>
          <p:nvPr>
            <p:custDataLst>
              <p:tags r:id="rId23"/>
            </p:custDataLst>
          </p:nvPr>
        </p:nvSpPr>
        <p:spPr bwMode="auto">
          <a:xfrm>
            <a:off x="6953253" y="4510858"/>
            <a:ext cx="1373463"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Bus</a:t>
            </a:r>
          </a:p>
        </p:txBody>
      </p:sp>
      <p:cxnSp>
        <p:nvCxnSpPr>
          <p:cNvPr id="49" name="AutoShape 17" descr=" 49">
            <a:extLst>
              <a:ext uri="{FF2B5EF4-FFF2-40B4-BE49-F238E27FC236}">
                <a16:creationId xmlns:a16="http://schemas.microsoft.com/office/drawing/2014/main" id="{7BE322DA-CC2A-4C23-B670-40F0BBDDF2FC}"/>
              </a:ext>
            </a:extLst>
          </p:cNvPr>
          <p:cNvCxnSpPr>
            <a:cxnSpLocks noChangeShapeType="1"/>
          </p:cNvCxnSpPr>
          <p:nvPr>
            <p:custDataLst>
              <p:tags r:id="rId24"/>
            </p:custDataLst>
          </p:nvPr>
        </p:nvCxnSpPr>
        <p:spPr bwMode="auto">
          <a:xfrm rot="5400000">
            <a:off x="8124828" y="3853633"/>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50" name="Line 10" descr=" 50">
            <a:extLst>
              <a:ext uri="{FF2B5EF4-FFF2-40B4-BE49-F238E27FC236}">
                <a16:creationId xmlns:a16="http://schemas.microsoft.com/office/drawing/2014/main" id="{EE7F15CC-3236-49AD-B1CC-3899B1857D6B}"/>
              </a:ext>
            </a:extLst>
          </p:cNvPr>
          <p:cNvSpPr>
            <a:spLocks noChangeShapeType="1"/>
          </p:cNvSpPr>
          <p:nvPr>
            <p:custDataLst>
              <p:tags r:id="rId25"/>
            </p:custDataLst>
          </p:nvPr>
        </p:nvSpPr>
        <p:spPr bwMode="auto">
          <a:xfrm>
            <a:off x="8210553" y="4221537"/>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cxnSp>
        <p:nvCxnSpPr>
          <p:cNvPr id="51" name="Straight Arrow Connector 50" descr=" 51">
            <a:extLst>
              <a:ext uri="{FF2B5EF4-FFF2-40B4-BE49-F238E27FC236}">
                <a16:creationId xmlns:a16="http://schemas.microsoft.com/office/drawing/2014/main" id="{42CB5A5D-7E2F-4D59-A50C-136D10A9B737}"/>
              </a:ext>
            </a:extLst>
          </p:cNvPr>
          <p:cNvCxnSpPr>
            <a:stCxn id="48" idx="2"/>
            <a:endCxn id="53" idx="0"/>
          </p:cNvCxnSpPr>
          <p:nvPr/>
        </p:nvCxnSpPr>
        <p:spPr bwMode="auto">
          <a:xfrm rot="16200000" flipH="1">
            <a:off x="7525685" y="4907336"/>
            <a:ext cx="228600" cy="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52" name="Rectangle 21" descr=" 52">
            <a:extLst>
              <a:ext uri="{FF2B5EF4-FFF2-40B4-BE49-F238E27FC236}">
                <a16:creationId xmlns:a16="http://schemas.microsoft.com/office/drawing/2014/main" id="{2D9ED725-9A89-4E3C-B799-86077AF7CD97}"/>
              </a:ext>
            </a:extLst>
          </p:cNvPr>
          <p:cNvSpPr>
            <a:spLocks noChangeArrowheads="1"/>
          </p:cNvSpPr>
          <p:nvPr>
            <p:custDataLst>
              <p:tags r:id="rId26"/>
            </p:custDataLst>
          </p:nvPr>
        </p:nvSpPr>
        <p:spPr bwMode="auto">
          <a:xfrm>
            <a:off x="7753353" y="3939358"/>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[M]: 3</a:t>
            </a:r>
            <a:endParaRPr lang="en-US" sz="1800" dirty="0"/>
          </a:p>
        </p:txBody>
      </p:sp>
      <p:sp>
        <p:nvSpPr>
          <p:cNvPr id="53" name="Rectangle 21" descr=" 53">
            <a:extLst>
              <a:ext uri="{FF2B5EF4-FFF2-40B4-BE49-F238E27FC236}">
                <a16:creationId xmlns:a16="http://schemas.microsoft.com/office/drawing/2014/main" id="{189E240A-F9C4-4FBC-AE49-C773B2E45996}"/>
              </a:ext>
            </a:extLst>
          </p:cNvPr>
          <p:cNvSpPr>
            <a:spLocks noChangeArrowheads="1"/>
          </p:cNvSpPr>
          <p:nvPr>
            <p:custDataLst>
              <p:tags r:id="rId27"/>
            </p:custDataLst>
          </p:nvPr>
        </p:nvSpPr>
        <p:spPr bwMode="auto">
          <a:xfrm>
            <a:off x="7197108" y="5021636"/>
            <a:ext cx="885754"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1</a:t>
            </a:r>
            <a:endParaRPr lang="en-US" sz="1800" dirty="0">
              <a:solidFill>
                <a:srgbClr val="C00000"/>
              </a:solidFill>
            </a:endParaRPr>
          </a:p>
        </p:txBody>
      </p:sp>
      <p:sp>
        <p:nvSpPr>
          <p:cNvPr id="54" name="Rectangle 6" descr=" 54">
            <a:extLst>
              <a:ext uri="{FF2B5EF4-FFF2-40B4-BE49-F238E27FC236}">
                <a16:creationId xmlns:a16="http://schemas.microsoft.com/office/drawing/2014/main" id="{E27FFD71-780E-4832-9A6A-CFEB4EA20FB2}"/>
              </a:ext>
            </a:extLst>
          </p:cNvPr>
          <p:cNvSpPr>
            <a:spLocks noChangeArrowheads="1"/>
          </p:cNvSpPr>
          <p:nvPr>
            <p:custDataLst>
              <p:tags r:id="rId28"/>
            </p:custDataLst>
          </p:nvPr>
        </p:nvSpPr>
        <p:spPr bwMode="auto">
          <a:xfrm>
            <a:off x="8016504" y="3482158"/>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P2</a:t>
            </a:r>
          </a:p>
        </p:txBody>
      </p:sp>
      <p:cxnSp>
        <p:nvCxnSpPr>
          <p:cNvPr id="55" name="AutoShape 17" descr=" 55">
            <a:extLst>
              <a:ext uri="{FF2B5EF4-FFF2-40B4-BE49-F238E27FC236}">
                <a16:creationId xmlns:a16="http://schemas.microsoft.com/office/drawing/2014/main" id="{969D5D60-2F6F-4872-A9EF-72B70D8D5C71}"/>
              </a:ext>
            </a:extLst>
          </p:cNvPr>
          <p:cNvCxnSpPr>
            <a:cxnSpLocks noChangeShapeType="1"/>
          </p:cNvCxnSpPr>
          <p:nvPr>
            <p:custDataLst>
              <p:tags r:id="rId29"/>
            </p:custDataLst>
          </p:nvPr>
        </p:nvCxnSpPr>
        <p:spPr bwMode="auto">
          <a:xfrm rot="5400000">
            <a:off x="7038978" y="3853633"/>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56" name="Line 10" descr=" 56">
            <a:extLst>
              <a:ext uri="{FF2B5EF4-FFF2-40B4-BE49-F238E27FC236}">
                <a16:creationId xmlns:a16="http://schemas.microsoft.com/office/drawing/2014/main" id="{19C5B0A6-24C7-41EC-83EC-A20F769D7F35}"/>
              </a:ext>
            </a:extLst>
          </p:cNvPr>
          <p:cNvSpPr>
            <a:spLocks noChangeShapeType="1"/>
          </p:cNvSpPr>
          <p:nvPr>
            <p:custDataLst>
              <p:tags r:id="rId30"/>
            </p:custDataLst>
          </p:nvPr>
        </p:nvSpPr>
        <p:spPr bwMode="auto">
          <a:xfrm>
            <a:off x="7124703" y="4221537"/>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sp>
        <p:nvSpPr>
          <p:cNvPr id="57" name="Rectangle 21" descr=" 57">
            <a:extLst>
              <a:ext uri="{FF2B5EF4-FFF2-40B4-BE49-F238E27FC236}">
                <a16:creationId xmlns:a16="http://schemas.microsoft.com/office/drawing/2014/main" id="{6EE5A3EA-DC24-41F6-8673-14F42445C8C8}"/>
              </a:ext>
            </a:extLst>
          </p:cNvPr>
          <p:cNvSpPr>
            <a:spLocks noChangeArrowheads="1"/>
          </p:cNvSpPr>
          <p:nvPr>
            <p:custDataLst>
              <p:tags r:id="rId31"/>
            </p:custDataLst>
          </p:nvPr>
        </p:nvSpPr>
        <p:spPr bwMode="auto">
          <a:xfrm>
            <a:off x="6667503" y="3939358"/>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[I]</a:t>
            </a:r>
            <a:endParaRPr lang="en-US" sz="1800" dirty="0"/>
          </a:p>
        </p:txBody>
      </p:sp>
      <p:sp>
        <p:nvSpPr>
          <p:cNvPr id="58" name="Rectangle 6" descr=" 58">
            <a:extLst>
              <a:ext uri="{FF2B5EF4-FFF2-40B4-BE49-F238E27FC236}">
                <a16:creationId xmlns:a16="http://schemas.microsoft.com/office/drawing/2014/main" id="{825D0F0B-D0AB-44BE-92BB-47EE842A4700}"/>
              </a:ext>
            </a:extLst>
          </p:cNvPr>
          <p:cNvSpPr>
            <a:spLocks noChangeArrowheads="1"/>
          </p:cNvSpPr>
          <p:nvPr>
            <p:custDataLst>
              <p:tags r:id="rId32"/>
            </p:custDataLst>
          </p:nvPr>
        </p:nvSpPr>
        <p:spPr bwMode="auto">
          <a:xfrm>
            <a:off x="6930654" y="3482158"/>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P1</a:t>
            </a:r>
          </a:p>
        </p:txBody>
      </p:sp>
      <p:sp>
        <p:nvSpPr>
          <p:cNvPr id="37" name="Oval Callout 51" descr=" 59">
            <a:extLst>
              <a:ext uri="{FF2B5EF4-FFF2-40B4-BE49-F238E27FC236}">
                <a16:creationId xmlns:a16="http://schemas.microsoft.com/office/drawing/2014/main" id="{452D6FF2-4DC3-4554-BAAB-6C32839224DA}"/>
              </a:ext>
            </a:extLst>
          </p:cNvPr>
          <p:cNvSpPr/>
          <p:nvPr>
            <p:custDataLst>
              <p:tags r:id="rId33"/>
            </p:custDataLst>
          </p:nvPr>
        </p:nvSpPr>
        <p:spPr bwMode="auto">
          <a:xfrm>
            <a:off x="8153403" y="3139258"/>
            <a:ext cx="914400" cy="342900"/>
          </a:xfrm>
          <a:prstGeom prst="wedgeEllipseCallout">
            <a:avLst>
              <a:gd name="adj1" fmla="val -44362"/>
              <a:gd name="adj2" fmla="val 50735"/>
            </a:avLst>
          </a:prstGeom>
          <a:solidFill>
            <a:schemeClr val="bg1"/>
          </a:solidFill>
          <a:ln>
            <a:solidFill>
              <a:schemeClr val="tx1"/>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0" tIns="34290" rIns="0" bIns="34290" numCol="1" rtlCol="0" anchor="t" anchorCtr="0" compatLnSpc="1">
            <a:prstTxWarp prst="textNoShape">
              <a:avLst/>
            </a:prstTxWarp>
          </a:bodyPr>
          <a:lstStyle/>
          <a:p>
            <a:pPr algn="ctr" defTabSz="685800" eaLnBrk="0" hangingPunct="0"/>
            <a:r>
              <a:rPr lang="en-US" sz="1200" dirty="0">
                <a:solidFill>
                  <a:schemeClr val="accent2">
                    <a:lumMod val="75000"/>
                  </a:schemeClr>
                </a:solidFill>
              </a:rPr>
              <a:t>1: Evict A</a:t>
            </a:r>
          </a:p>
        </p:txBody>
      </p:sp>
      <p:sp>
        <p:nvSpPr>
          <p:cNvPr id="59" name="Oval Callout 52" descr=" 60">
            <a:extLst>
              <a:ext uri="{FF2B5EF4-FFF2-40B4-BE49-F238E27FC236}">
                <a16:creationId xmlns:a16="http://schemas.microsoft.com/office/drawing/2014/main" id="{8737F2A0-F4D3-4CDE-AE0E-E925C5B0815E}"/>
              </a:ext>
            </a:extLst>
          </p:cNvPr>
          <p:cNvSpPr/>
          <p:nvPr>
            <p:custDataLst>
              <p:tags r:id="rId34"/>
            </p:custDataLst>
          </p:nvPr>
        </p:nvSpPr>
        <p:spPr bwMode="auto">
          <a:xfrm>
            <a:off x="7981953" y="4225108"/>
            <a:ext cx="1085850" cy="342900"/>
          </a:xfrm>
          <a:prstGeom prst="wedgeEllipseCallout">
            <a:avLst>
              <a:gd name="adj1" fmla="val -53283"/>
              <a:gd name="adj2" fmla="val 54657"/>
            </a:avLst>
          </a:prstGeom>
          <a:solidFill>
            <a:schemeClr val="bg1"/>
          </a:solidFill>
          <a:ln>
            <a:solidFill>
              <a:schemeClr val="tx1"/>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0" tIns="34290" rIns="0" bIns="34290" numCol="1" rtlCol="0" anchor="t" anchorCtr="0" compatLnSpc="1">
            <a:prstTxWarp prst="textNoShape">
              <a:avLst/>
            </a:prstTxWarp>
          </a:bodyPr>
          <a:lstStyle/>
          <a:p>
            <a:pPr algn="ctr" defTabSz="685800" eaLnBrk="0" hangingPunct="0"/>
            <a:r>
              <a:rPr lang="en-US" sz="1200" dirty="0">
                <a:solidFill>
                  <a:schemeClr val="accent2">
                    <a:lumMod val="75000"/>
                  </a:schemeClr>
                </a:solidFill>
              </a:rPr>
              <a:t>2: </a:t>
            </a:r>
            <a:r>
              <a:rPr lang="en-US" sz="1200" dirty="0" err="1">
                <a:solidFill>
                  <a:schemeClr val="accent2">
                    <a:lumMod val="75000"/>
                  </a:schemeClr>
                </a:solidFill>
              </a:rPr>
              <a:t>BusWB</a:t>
            </a:r>
            <a:r>
              <a:rPr lang="en-US" sz="1200" dirty="0">
                <a:solidFill>
                  <a:schemeClr val="accent2">
                    <a:lumMod val="75000"/>
                  </a:schemeClr>
                </a:solidFill>
              </a:rPr>
              <a:t> A</a:t>
            </a:r>
          </a:p>
        </p:txBody>
      </p:sp>
      <p:sp>
        <p:nvSpPr>
          <p:cNvPr id="60" name="Rectangle 21" descr=" 61">
            <a:extLst>
              <a:ext uri="{FF2B5EF4-FFF2-40B4-BE49-F238E27FC236}">
                <a16:creationId xmlns:a16="http://schemas.microsoft.com/office/drawing/2014/main" id="{7A8BB974-A66A-49CC-B631-FD80E3B19516}"/>
              </a:ext>
            </a:extLst>
          </p:cNvPr>
          <p:cNvSpPr>
            <a:spLocks noChangeArrowheads="1"/>
          </p:cNvSpPr>
          <p:nvPr>
            <p:custDataLst>
              <p:tags r:id="rId35"/>
            </p:custDataLst>
          </p:nvPr>
        </p:nvSpPr>
        <p:spPr bwMode="auto">
          <a:xfrm>
            <a:off x="7753353" y="3939358"/>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a:t>
            </a:r>
            <a:r>
              <a:rPr lang="en-US" sz="1500" strike="sngStrike" dirty="0"/>
              <a:t>M</a:t>
            </a:r>
            <a:r>
              <a:rPr lang="en-US" sz="1500" dirty="0"/>
              <a:t> </a:t>
            </a:r>
            <a:r>
              <a:rPr lang="en-US" sz="1500" dirty="0">
                <a:solidFill>
                  <a:schemeClr val="accent2"/>
                </a:solidFill>
              </a:rPr>
              <a:t>I</a:t>
            </a:r>
            <a:r>
              <a:rPr lang="en-US" sz="1500" dirty="0"/>
              <a:t>]: </a:t>
            </a:r>
            <a:r>
              <a:rPr lang="en-US" sz="1500" strike="sngStrike" dirty="0">
                <a:solidFill>
                  <a:schemeClr val="tx1"/>
                </a:solidFill>
              </a:rPr>
              <a:t>3</a:t>
            </a:r>
            <a:endParaRPr lang="en-US" sz="1800" strike="sngStrike" dirty="0">
              <a:solidFill>
                <a:schemeClr val="tx1"/>
              </a:solidFill>
            </a:endParaRPr>
          </a:p>
        </p:txBody>
      </p:sp>
      <p:sp>
        <p:nvSpPr>
          <p:cNvPr id="61" name="Rectangle 21" descr=" 62">
            <a:extLst>
              <a:ext uri="{FF2B5EF4-FFF2-40B4-BE49-F238E27FC236}">
                <a16:creationId xmlns:a16="http://schemas.microsoft.com/office/drawing/2014/main" id="{3C258727-94F1-4604-B949-BFEDB1DC5543}"/>
              </a:ext>
            </a:extLst>
          </p:cNvPr>
          <p:cNvSpPr>
            <a:spLocks noChangeArrowheads="1"/>
          </p:cNvSpPr>
          <p:nvPr>
            <p:custDataLst>
              <p:tags r:id="rId36"/>
            </p:custDataLst>
          </p:nvPr>
        </p:nvSpPr>
        <p:spPr bwMode="auto">
          <a:xfrm>
            <a:off x="7195301" y="5025208"/>
            <a:ext cx="885754"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A: </a:t>
            </a:r>
            <a:r>
              <a:rPr lang="en-US" sz="1500" strike="sngStrike" dirty="0"/>
              <a:t>1</a:t>
            </a:r>
            <a:r>
              <a:rPr lang="en-US" sz="1500" dirty="0"/>
              <a:t> </a:t>
            </a:r>
            <a:r>
              <a:rPr lang="en-US" sz="1500" dirty="0">
                <a:solidFill>
                  <a:schemeClr val="accent2"/>
                </a:solidFill>
              </a:rPr>
              <a:t>3</a:t>
            </a:r>
            <a:endParaRPr lang="en-US" sz="1800" dirty="0">
              <a:solidFill>
                <a:schemeClr val="accent2"/>
              </a:solidFill>
            </a:endParaRPr>
          </a:p>
        </p:txBody>
      </p:sp>
      <p:sp>
        <p:nvSpPr>
          <p:cNvPr id="64" name="Rectangle 12" descr=" 64">
            <a:extLst>
              <a:ext uri="{FF2B5EF4-FFF2-40B4-BE49-F238E27FC236}">
                <a16:creationId xmlns:a16="http://schemas.microsoft.com/office/drawing/2014/main" id="{D1B314A8-C97E-43B7-8CB4-FBB625D9D6F4}"/>
              </a:ext>
            </a:extLst>
          </p:cNvPr>
          <p:cNvSpPr>
            <a:spLocks noChangeArrowheads="1"/>
          </p:cNvSpPr>
          <p:nvPr>
            <p:custDataLst>
              <p:tags r:id="rId37"/>
            </p:custDataLst>
          </p:nvPr>
        </p:nvSpPr>
        <p:spPr bwMode="auto">
          <a:xfrm rot="3897826">
            <a:off x="1351870" y="3725769"/>
            <a:ext cx="1304557" cy="251993"/>
          </a:xfrm>
          <a:prstGeom prst="rect">
            <a:avLst/>
          </a:prstGeom>
          <a:noFill/>
          <a:ln w="12700">
            <a:noFill/>
            <a:prstDash val="sysDot"/>
            <a:miter lim="800000"/>
            <a:headEnd/>
            <a:tailEnd/>
          </a:ln>
        </p:spPr>
        <p:txBody>
          <a:bodyPr wrap="none" lIns="67866" tIns="33338" rIns="67866" bIns="33338">
            <a:spAutoFit/>
          </a:bodyPr>
          <a:lstStyle/>
          <a:p>
            <a:r>
              <a:rPr lang="en-US" sz="1200" dirty="0" err="1">
                <a:latin typeface="+mn-lt"/>
              </a:rPr>
              <a:t>BusRdX</a:t>
            </a:r>
            <a:r>
              <a:rPr lang="en-US" sz="1200" dirty="0">
                <a:latin typeface="+mn-lt"/>
              </a:rPr>
              <a:t> / </a:t>
            </a:r>
            <a:r>
              <a:rPr lang="en-US" sz="1200" dirty="0" err="1">
                <a:latin typeface="+mn-lt"/>
              </a:rPr>
              <a:t>BusReply</a:t>
            </a:r>
            <a:endParaRPr lang="en-US" sz="1200" dirty="0">
              <a:latin typeface="+mn-lt"/>
            </a:endParaRPr>
          </a:p>
        </p:txBody>
      </p:sp>
      <p:sp>
        <p:nvSpPr>
          <p:cNvPr id="62" name="Rectangle 2">
            <a:extLst>
              <a:ext uri="{FF2B5EF4-FFF2-40B4-BE49-F238E27FC236}">
                <a16:creationId xmlns:a16="http://schemas.microsoft.com/office/drawing/2014/main" id="{9039CA26-D88A-47A1-86FC-F0E0A3D45362}"/>
              </a:ext>
            </a:extLst>
          </p:cNvPr>
          <p:cNvSpPr>
            <a:spLocks noGrp="1" noChangeArrowheads="1"/>
          </p:cNvSpPr>
          <p:nvPr>
            <p:ph type="title"/>
            <p:custDataLst>
              <p:tags r:id="rId38"/>
            </p:custDataLst>
          </p:nvPr>
        </p:nvSpPr>
        <p:spPr>
          <a:xfrm>
            <a:off x="457200" y="274638"/>
            <a:ext cx="7467600" cy="1143000"/>
          </a:xfrm>
        </p:spPr>
        <p:txBody>
          <a:bodyPr/>
          <a:lstStyle/>
          <a:p>
            <a:pPr eaLnBrk="1" hangingPunct="1"/>
            <a:r>
              <a:rPr lang="en-US" altLang="en-US" dirty="0">
                <a:latin typeface="+mn-lt"/>
              </a:rPr>
              <a:t>MSI Protocol</a:t>
            </a:r>
          </a:p>
        </p:txBody>
      </p:sp>
    </p:spTree>
    <p:custDataLst>
      <p:tags r:id="rId1"/>
    </p:custDataLst>
    <p:extLst>
      <p:ext uri="{BB962C8B-B14F-4D97-AF65-F5344CB8AC3E}">
        <p14:creationId xmlns:p14="http://schemas.microsoft.com/office/powerpoint/2010/main" val="101885337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5E77411-9FA2-4D8A-A340-CF14E91FA8E3}"/>
              </a:ext>
            </a:extLst>
          </p:cNvPr>
          <p:cNvGraphicFramePr>
            <a:graphicFrameLocks noGrp="1"/>
          </p:cNvGraphicFramePr>
          <p:nvPr>
            <p:custDataLst>
              <p:tags r:id="rId2"/>
            </p:custDataLst>
          </p:nvPr>
        </p:nvGraphicFramePr>
        <p:xfrm>
          <a:off x="1524000" y="2799977"/>
          <a:ext cx="6095999" cy="2263140"/>
        </p:xfrm>
        <a:graphic>
          <a:graphicData uri="http://schemas.openxmlformats.org/drawingml/2006/table">
            <a:tbl>
              <a:tblPr>
                <a:tableStyleId>{5C22544A-7EE6-4342-B048-85BDC9FD1C3A}</a:tableStyleId>
              </a:tblPr>
              <a:tblGrid>
                <a:gridCol w="870857">
                  <a:extLst>
                    <a:ext uri="{9D8B030D-6E8A-4147-A177-3AD203B41FA5}">
                      <a16:colId xmlns:a16="http://schemas.microsoft.com/office/drawing/2014/main" val="2747917558"/>
                    </a:ext>
                  </a:extLst>
                </a:gridCol>
                <a:gridCol w="870857">
                  <a:extLst>
                    <a:ext uri="{9D8B030D-6E8A-4147-A177-3AD203B41FA5}">
                      <a16:colId xmlns:a16="http://schemas.microsoft.com/office/drawing/2014/main" val="3368954283"/>
                    </a:ext>
                  </a:extLst>
                </a:gridCol>
                <a:gridCol w="870857">
                  <a:extLst>
                    <a:ext uri="{9D8B030D-6E8A-4147-A177-3AD203B41FA5}">
                      <a16:colId xmlns:a16="http://schemas.microsoft.com/office/drawing/2014/main" val="1623642248"/>
                    </a:ext>
                  </a:extLst>
                </a:gridCol>
                <a:gridCol w="870857">
                  <a:extLst>
                    <a:ext uri="{9D8B030D-6E8A-4147-A177-3AD203B41FA5}">
                      <a16:colId xmlns:a16="http://schemas.microsoft.com/office/drawing/2014/main" val="3159337365"/>
                    </a:ext>
                  </a:extLst>
                </a:gridCol>
                <a:gridCol w="870857">
                  <a:extLst>
                    <a:ext uri="{9D8B030D-6E8A-4147-A177-3AD203B41FA5}">
                      <a16:colId xmlns:a16="http://schemas.microsoft.com/office/drawing/2014/main" val="1715650319"/>
                    </a:ext>
                  </a:extLst>
                </a:gridCol>
                <a:gridCol w="870857">
                  <a:extLst>
                    <a:ext uri="{9D8B030D-6E8A-4147-A177-3AD203B41FA5}">
                      <a16:colId xmlns:a16="http://schemas.microsoft.com/office/drawing/2014/main" val="524610870"/>
                    </a:ext>
                  </a:extLst>
                </a:gridCol>
                <a:gridCol w="870857">
                  <a:extLst>
                    <a:ext uri="{9D8B030D-6E8A-4147-A177-3AD203B41FA5}">
                      <a16:colId xmlns:a16="http://schemas.microsoft.com/office/drawing/2014/main" val="378678366"/>
                    </a:ext>
                  </a:extLst>
                </a:gridCol>
              </a:tblGrid>
              <a:tr h="278130">
                <a:tc rowSpan="2">
                  <a:txBody>
                    <a:bodyPr/>
                    <a:lstStyle/>
                    <a:p>
                      <a:pPr algn="ctr"/>
                      <a:r>
                        <a:rPr lang="en-US" sz="1400" b="0" dirty="0">
                          <a:solidFill>
                            <a:schemeClr val="bg1"/>
                          </a:solidFill>
                        </a:rPr>
                        <a:t>Current State</a:t>
                      </a:r>
                    </a:p>
                  </a:txBody>
                  <a:tcPr marL="68580" marR="68580" marT="34290" marB="3429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2">
                        <a:lumMod val="75000"/>
                      </a:schemeClr>
                    </a:solidFill>
                  </a:tcPr>
                </a:tc>
                <a:tc gridSpan="6">
                  <a:txBody>
                    <a:bodyPr/>
                    <a:lstStyle/>
                    <a:p>
                      <a:pPr algn="ctr"/>
                      <a:r>
                        <a:rPr lang="en-US" sz="1400" b="0" dirty="0">
                          <a:solidFill>
                            <a:schemeClr val="bg1"/>
                          </a:solidFill>
                        </a:rPr>
                        <a:t>Event</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lumMod val="50000"/>
                      </a:schemeClr>
                    </a:solidFill>
                  </a:tcPr>
                </a:tc>
                <a:tc hMerge="1">
                  <a:txBody>
                    <a:bodyPr/>
                    <a:lstStyle/>
                    <a:p>
                      <a:pPr algn="ctr"/>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solidFill>
                  </a:tcPr>
                </a:tc>
                <a:tc hMerge="1">
                  <a:txBody>
                    <a:bodyPr/>
                    <a:lstStyle/>
                    <a:p>
                      <a:pPr algn="ctr"/>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solidFill>
                  </a:tcPr>
                </a:tc>
                <a:tc hMerge="1">
                  <a:txBody>
                    <a:bodyPr/>
                    <a:lstStyle/>
                    <a:p>
                      <a:pPr algn="ctr"/>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solidFill>
                  </a:tcPr>
                </a:tc>
                <a:tc hMerge="1">
                  <a:txBody>
                    <a:bodyPr/>
                    <a:lstStyle/>
                    <a:p>
                      <a:pPr algn="ctr"/>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solidFill>
                  </a:tcPr>
                </a:tc>
                <a:tc hMerge="1">
                  <a:txBody>
                    <a:bodyPr/>
                    <a:lstStyle/>
                    <a:p>
                      <a:pPr algn="ctr"/>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168375161"/>
                  </a:ext>
                </a:extLst>
              </a:tr>
              <a:tr h="278130">
                <a:tc vMerge="1">
                  <a:txBody>
                    <a:bodyPr/>
                    <a:lstStyle/>
                    <a:p>
                      <a:pPr algn="ctr"/>
                      <a:endParaRPr 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solidFill>
                  </a:tcPr>
                </a:tc>
                <a:tc>
                  <a:txBody>
                    <a:bodyPr/>
                    <a:lstStyle/>
                    <a:p>
                      <a:pPr algn="ctr"/>
                      <a:r>
                        <a:rPr lang="en-US" sz="1400" b="0" dirty="0">
                          <a:solidFill>
                            <a:schemeClr val="bg1"/>
                          </a:solidFill>
                        </a:rPr>
                        <a:t>Load</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US" sz="1400" b="0" dirty="0">
                          <a:solidFill>
                            <a:schemeClr val="bg1"/>
                          </a:solidFill>
                        </a:rPr>
                        <a:t>Store</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US" sz="1400" b="0" dirty="0">
                          <a:solidFill>
                            <a:schemeClr val="bg1"/>
                          </a:solidFill>
                        </a:rPr>
                        <a:t>Evict</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US" sz="1400" b="0" dirty="0" err="1">
                          <a:solidFill>
                            <a:schemeClr val="bg1"/>
                          </a:solidFill>
                        </a:rPr>
                        <a:t>BusRd</a:t>
                      </a:r>
                      <a:endParaRPr lang="en-US" sz="1400" b="0" dirty="0">
                        <a:solidFill>
                          <a:schemeClr val="bg1"/>
                        </a:solidFill>
                      </a:endParaRP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US" sz="1400" b="0" dirty="0" err="1">
                          <a:solidFill>
                            <a:schemeClr val="bg1"/>
                          </a:solidFill>
                        </a:rPr>
                        <a:t>BusRdX</a:t>
                      </a:r>
                      <a:endParaRPr lang="en-US" sz="1400" b="0" dirty="0">
                        <a:solidFill>
                          <a:schemeClr val="bg1"/>
                        </a:solidFill>
                      </a:endParaRP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US" sz="1400" b="0" dirty="0">
                          <a:solidFill>
                            <a:schemeClr val="bg1"/>
                          </a:solidFill>
                        </a:rPr>
                        <a:t>BusInv</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3703273"/>
                  </a:ext>
                </a:extLst>
              </a:tr>
              <a:tr h="480060">
                <a:tc>
                  <a:txBody>
                    <a:bodyPr/>
                    <a:lstStyle/>
                    <a:p>
                      <a:pPr algn="ctr"/>
                      <a:r>
                        <a:rPr lang="en-US" sz="1400" b="0" dirty="0">
                          <a:solidFill>
                            <a:schemeClr val="bg1"/>
                          </a:solidFill>
                        </a:rPr>
                        <a:t>I</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ctr"/>
                      <a:r>
                        <a:rPr lang="en-US" sz="1400" b="0" dirty="0" err="1"/>
                        <a:t>BusRd</a:t>
                      </a:r>
                      <a:endParaRPr lang="en-US" sz="1400" b="0" dirty="0"/>
                    </a:p>
                    <a:p>
                      <a:pPr algn="ctr"/>
                      <a:r>
                        <a:rPr lang="en-US" sz="1400" b="0" dirty="0"/>
                        <a:t>→ S</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solidFill>
                  </a:tcPr>
                </a:tc>
                <a:tc>
                  <a:txBody>
                    <a:bodyPr/>
                    <a:lstStyle/>
                    <a:p>
                      <a:pPr algn="ctr"/>
                      <a:r>
                        <a:rPr lang="en-US" sz="1400" b="0" dirty="0" err="1"/>
                        <a:t>BusRdX</a:t>
                      </a:r>
                      <a:endParaRPr lang="en-US" sz="1400" b="0" dirty="0"/>
                    </a:p>
                    <a:p>
                      <a:pPr algn="ctr"/>
                      <a:r>
                        <a:rPr lang="en-US" sz="1400" b="0" dirty="0"/>
                        <a:t>→ M</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solidFill>
                  </a:tcPr>
                </a:tc>
                <a:tc>
                  <a:txBody>
                    <a:bodyPr/>
                    <a:lstStyle/>
                    <a:p>
                      <a:pPr algn="ctr"/>
                      <a:endParaRPr lang="en-US" sz="1400" b="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solidFill>
                  </a:tcPr>
                </a:tc>
                <a:tc>
                  <a:txBody>
                    <a:bodyPr/>
                    <a:lstStyle/>
                    <a:p>
                      <a:pPr algn="ctr"/>
                      <a:r>
                        <a:rPr lang="en-US" sz="1400" b="0" dirty="0"/>
                        <a:t>→ I</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solidFill>
                  </a:tcPr>
                </a:tc>
                <a:tc>
                  <a:txBody>
                    <a:bodyPr/>
                    <a:lstStyle/>
                    <a:p>
                      <a:pPr algn="ctr"/>
                      <a:r>
                        <a:rPr lang="en-US" sz="1400" b="0" dirty="0"/>
                        <a:t>→ I</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solidFill>
                  </a:tcPr>
                </a:tc>
                <a:tc>
                  <a:txBody>
                    <a:bodyPr/>
                    <a:lstStyle/>
                    <a:p>
                      <a:pPr algn="ctr"/>
                      <a:r>
                        <a:rPr lang="en-US" sz="1400" b="0" dirty="0"/>
                        <a:t>→ I</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071482201"/>
                  </a:ext>
                </a:extLst>
              </a:tr>
              <a:tr h="480060">
                <a:tc>
                  <a:txBody>
                    <a:bodyPr/>
                    <a:lstStyle/>
                    <a:p>
                      <a:pPr algn="ctr"/>
                      <a:r>
                        <a:rPr lang="en-US" sz="1400" b="0" dirty="0">
                          <a:solidFill>
                            <a:schemeClr val="bg1"/>
                          </a:solidFill>
                        </a:rPr>
                        <a:t>S</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ctr"/>
                      <a:r>
                        <a:rPr lang="en-US" sz="1400" b="0" dirty="0"/>
                        <a:t>→ S</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solidFill>
                  </a:tcPr>
                </a:tc>
                <a:tc>
                  <a:txBody>
                    <a:bodyPr/>
                    <a:lstStyle/>
                    <a:p>
                      <a:pPr algn="ctr"/>
                      <a:r>
                        <a:rPr lang="en-US" sz="1400" b="0" dirty="0"/>
                        <a:t>BusInv</a:t>
                      </a:r>
                    </a:p>
                    <a:p>
                      <a:pPr algn="ctr"/>
                      <a:r>
                        <a:rPr lang="en-US" sz="1400" b="0" dirty="0"/>
                        <a:t>→ M</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solidFill>
                  </a:tcPr>
                </a:tc>
                <a:tc>
                  <a:txBody>
                    <a:bodyPr/>
                    <a:lstStyle/>
                    <a:p>
                      <a:pPr algn="ctr"/>
                      <a:r>
                        <a:rPr lang="en-US" sz="1400" b="0" dirty="0"/>
                        <a:t>→ I</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solidFill>
                  </a:tcPr>
                </a:tc>
                <a:tc>
                  <a:txBody>
                    <a:bodyPr/>
                    <a:lstStyle/>
                    <a:p>
                      <a:pPr algn="ctr"/>
                      <a:r>
                        <a:rPr lang="en-US" sz="1400" b="0" dirty="0"/>
                        <a:t>→ S</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solidFill>
                  </a:tcPr>
                </a:tc>
                <a:tc>
                  <a:txBody>
                    <a:bodyPr/>
                    <a:lstStyle/>
                    <a:p>
                      <a:pPr algn="ctr"/>
                      <a:r>
                        <a:rPr lang="en-US" sz="1400" b="0" dirty="0"/>
                        <a:t>→ I</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solidFill>
                  </a:tcPr>
                </a:tc>
                <a:tc>
                  <a:txBody>
                    <a:bodyPr/>
                    <a:lstStyle/>
                    <a:p>
                      <a:pPr algn="ctr"/>
                      <a:r>
                        <a:rPr lang="en-US" sz="1400" b="0" dirty="0"/>
                        <a:t>→ I</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546483636"/>
                  </a:ext>
                </a:extLst>
              </a:tr>
              <a:tr h="685800">
                <a:tc>
                  <a:txBody>
                    <a:bodyPr/>
                    <a:lstStyle/>
                    <a:p>
                      <a:pPr algn="ctr"/>
                      <a:r>
                        <a:rPr lang="en-US" sz="1400" b="0" dirty="0">
                          <a:solidFill>
                            <a:schemeClr val="bg1"/>
                          </a:solidFill>
                        </a:rPr>
                        <a:t>M</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ctr"/>
                      <a:r>
                        <a:rPr lang="en-US" sz="1400" b="0" dirty="0"/>
                        <a:t>→ M</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solidFill>
                  </a:tcPr>
                </a:tc>
                <a:tc>
                  <a:txBody>
                    <a:bodyPr/>
                    <a:lstStyle/>
                    <a:p>
                      <a:pPr algn="ctr"/>
                      <a:r>
                        <a:rPr lang="en-US" sz="1400" b="0" dirty="0"/>
                        <a:t>→ M</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solidFill>
                  </a:tcPr>
                </a:tc>
                <a:tc>
                  <a:txBody>
                    <a:bodyPr/>
                    <a:lstStyle/>
                    <a:p>
                      <a:pPr algn="ctr"/>
                      <a:r>
                        <a:rPr lang="en-US" sz="1400" b="0" dirty="0" err="1"/>
                        <a:t>BusWB</a:t>
                      </a:r>
                      <a:endParaRPr lang="en-US" sz="1400" b="0" dirty="0"/>
                    </a:p>
                    <a:p>
                      <a:pPr algn="ctr"/>
                      <a:r>
                        <a:rPr lang="en-US" sz="1400" b="0" dirty="0"/>
                        <a:t>→ I</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solidFill>
                  </a:tcPr>
                </a:tc>
                <a:tc>
                  <a:txBody>
                    <a:bodyPr/>
                    <a:lstStyle/>
                    <a:p>
                      <a:pPr algn="ctr"/>
                      <a:r>
                        <a:rPr lang="en-US" sz="1400" b="0" dirty="0" err="1"/>
                        <a:t>BusReply</a:t>
                      </a:r>
                      <a:endParaRPr lang="en-US" sz="1400" b="0" dirty="0"/>
                    </a:p>
                    <a:p>
                      <a:pPr algn="ctr"/>
                      <a:r>
                        <a:rPr lang="en-US" sz="1400" b="0" dirty="0" err="1"/>
                        <a:t>BusWB</a:t>
                      </a:r>
                      <a:endParaRPr lang="en-US" sz="1400" b="0" dirty="0"/>
                    </a:p>
                    <a:p>
                      <a:pPr algn="ctr"/>
                      <a:r>
                        <a:rPr lang="en-US" sz="1400" b="0" dirty="0"/>
                        <a:t>→ S</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solidFill>
                  </a:tcPr>
                </a:tc>
                <a:tc>
                  <a:txBody>
                    <a:bodyPr/>
                    <a:lstStyle/>
                    <a:p>
                      <a:pPr algn="ctr"/>
                      <a:r>
                        <a:rPr lang="en-US" sz="1400" b="0" dirty="0" err="1"/>
                        <a:t>BusReply</a:t>
                      </a:r>
                      <a:endParaRPr lang="en-US" sz="1400" b="0" dirty="0"/>
                    </a:p>
                    <a:p>
                      <a:pPr algn="ctr"/>
                      <a:r>
                        <a:rPr lang="en-US" sz="1400" b="0" dirty="0"/>
                        <a:t>→ I</a:t>
                      </a:r>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solidFill>
                  </a:tcPr>
                </a:tc>
                <a:tc>
                  <a:txBody>
                    <a:bodyPr/>
                    <a:lstStyle/>
                    <a:p>
                      <a:pPr algn="ctr"/>
                      <a:endParaRPr lang="en-US" sz="1400" b="0" dirty="0"/>
                    </a:p>
                  </a:txBody>
                  <a:tcPr marL="68580" marR="68580"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55456780"/>
                  </a:ext>
                </a:extLst>
              </a:tr>
            </a:tbl>
          </a:graphicData>
        </a:graphic>
      </p:graphicFrame>
      <p:sp>
        <p:nvSpPr>
          <p:cNvPr id="50" name="TextBox 49">
            <a:extLst>
              <a:ext uri="{FF2B5EF4-FFF2-40B4-BE49-F238E27FC236}">
                <a16:creationId xmlns:a16="http://schemas.microsoft.com/office/drawing/2014/main" id="{EAC7915B-0513-426E-B300-89C3F687C51B}"/>
              </a:ext>
            </a:extLst>
          </p:cNvPr>
          <p:cNvSpPr txBox="1"/>
          <p:nvPr>
            <p:custDataLst>
              <p:tags r:id="rId3"/>
            </p:custDataLst>
          </p:nvPr>
        </p:nvSpPr>
        <p:spPr>
          <a:xfrm>
            <a:off x="2438400" y="5218262"/>
            <a:ext cx="1703437" cy="420538"/>
          </a:xfrm>
          <a:prstGeom prst="rect">
            <a:avLst/>
          </a:prstGeom>
          <a:noFill/>
        </p:spPr>
        <p:txBody>
          <a:bodyPr wrap="square" rtlCol="0" anchor="ctr">
            <a:noAutofit/>
          </a:bodyPr>
          <a:lstStyle/>
          <a:p>
            <a:pPr algn="ctr"/>
            <a:r>
              <a:rPr lang="en-US" sz="1600" b="1" dirty="0">
                <a:solidFill>
                  <a:schemeClr val="accent6">
                    <a:lumMod val="75000"/>
                  </a:schemeClr>
                </a:solidFill>
                <a:latin typeface="+mn-lt"/>
              </a:rPr>
              <a:t>action</a:t>
            </a:r>
          </a:p>
          <a:p>
            <a:pPr algn="ctr"/>
            <a:r>
              <a:rPr lang="en-US" sz="1600" b="1" dirty="0">
                <a:solidFill>
                  <a:schemeClr val="accent6">
                    <a:lumMod val="75000"/>
                  </a:schemeClr>
                </a:solidFill>
                <a:latin typeface="+mn-lt"/>
              </a:rPr>
              <a:t>→ next state</a:t>
            </a:r>
          </a:p>
        </p:txBody>
      </p:sp>
      <p:cxnSp>
        <p:nvCxnSpPr>
          <p:cNvPr id="51" name="Straight Connector 50">
            <a:extLst>
              <a:ext uri="{FF2B5EF4-FFF2-40B4-BE49-F238E27FC236}">
                <a16:creationId xmlns:a16="http://schemas.microsoft.com/office/drawing/2014/main" id="{5308C316-36CF-4F8F-9ACA-71434F938500}"/>
              </a:ext>
            </a:extLst>
          </p:cNvPr>
          <p:cNvCxnSpPr>
            <a:cxnSpLocks/>
          </p:cNvCxnSpPr>
          <p:nvPr/>
        </p:nvCxnSpPr>
        <p:spPr>
          <a:xfrm flipH="1">
            <a:off x="3619215" y="4685180"/>
            <a:ext cx="706256" cy="627194"/>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7" name="Rectangle 2">
            <a:extLst>
              <a:ext uri="{FF2B5EF4-FFF2-40B4-BE49-F238E27FC236}">
                <a16:creationId xmlns:a16="http://schemas.microsoft.com/office/drawing/2014/main" id="{560DB877-2264-4E2C-BE76-5032A8FB41EF}"/>
              </a:ext>
            </a:extLst>
          </p:cNvPr>
          <p:cNvSpPr>
            <a:spLocks noGrp="1" noChangeArrowheads="1"/>
          </p:cNvSpPr>
          <p:nvPr>
            <p:ph type="title"/>
            <p:custDataLst>
              <p:tags r:id="rId4"/>
            </p:custDataLst>
          </p:nvPr>
        </p:nvSpPr>
        <p:spPr>
          <a:xfrm>
            <a:off x="457200" y="274638"/>
            <a:ext cx="7467600" cy="1143000"/>
          </a:xfrm>
        </p:spPr>
        <p:txBody>
          <a:bodyPr/>
          <a:lstStyle/>
          <a:p>
            <a:pPr eaLnBrk="1" hangingPunct="1"/>
            <a:r>
              <a:rPr lang="en-US" altLang="en-US" dirty="0">
                <a:latin typeface="+mn-lt"/>
              </a:rPr>
              <a:t>MSI Protocol</a:t>
            </a:r>
          </a:p>
        </p:txBody>
      </p:sp>
    </p:spTree>
    <p:custDataLst>
      <p:tags r:id="rId1"/>
    </p:custDataLst>
    <p:extLst>
      <p:ext uri="{BB962C8B-B14F-4D97-AF65-F5344CB8AC3E}">
        <p14:creationId xmlns:p14="http://schemas.microsoft.com/office/powerpoint/2010/main" val="262715300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descr=" 3">
            <a:extLst>
              <a:ext uri="{FF2B5EF4-FFF2-40B4-BE49-F238E27FC236}">
                <a16:creationId xmlns:a16="http://schemas.microsoft.com/office/drawing/2014/main" id="{90B67259-3CA5-48AF-AE68-4D1BAA259AC6}"/>
              </a:ext>
            </a:extLst>
          </p:cNvPr>
          <p:cNvSpPr txBox="1"/>
          <p:nvPr>
            <p:custDataLst>
              <p:tags r:id="rId2"/>
            </p:custDataLst>
          </p:nvPr>
        </p:nvSpPr>
        <p:spPr>
          <a:xfrm>
            <a:off x="395197" y="1918298"/>
            <a:ext cx="8538133" cy="557082"/>
          </a:xfrm>
          <a:prstGeom prst="rect">
            <a:avLst/>
          </a:prstGeom>
          <a:noFill/>
        </p:spPr>
        <p:txBody>
          <a:bodyPr wrap="square" rtlCol="0" anchor="t">
            <a:noAutofit/>
          </a:bodyPr>
          <a:lstStyle/>
          <a:p>
            <a:r>
              <a:rPr lang="en-US" sz="2400" b="1" dirty="0">
                <a:latin typeface="+mn-lt"/>
              </a:rPr>
              <a:t>Modified-Shared-Invalid (MSI) Protocol</a:t>
            </a:r>
          </a:p>
        </p:txBody>
      </p:sp>
      <p:sp>
        <p:nvSpPr>
          <p:cNvPr id="26" name="Rectangle 12">
            <a:extLst>
              <a:ext uri="{FF2B5EF4-FFF2-40B4-BE49-F238E27FC236}">
                <a16:creationId xmlns:a16="http://schemas.microsoft.com/office/drawing/2014/main" id="{E46CCE21-4679-4321-B866-87424AA794FA}"/>
              </a:ext>
            </a:extLst>
          </p:cNvPr>
          <p:cNvSpPr>
            <a:spLocks noChangeArrowheads="1"/>
          </p:cNvSpPr>
          <p:nvPr>
            <p:custDataLst>
              <p:tags r:id="rId3"/>
            </p:custDataLst>
          </p:nvPr>
        </p:nvSpPr>
        <p:spPr bwMode="auto">
          <a:xfrm rot="18047435">
            <a:off x="276351" y="3674864"/>
            <a:ext cx="1064876"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Store / </a:t>
            </a:r>
            <a:r>
              <a:rPr lang="en-US" sz="1200" dirty="0" err="1">
                <a:latin typeface="+mn-lt"/>
              </a:rPr>
              <a:t>BusRdX</a:t>
            </a:r>
            <a:endParaRPr lang="en-US" sz="1200" dirty="0">
              <a:latin typeface="+mn-lt"/>
            </a:endParaRPr>
          </a:p>
        </p:txBody>
      </p:sp>
      <p:sp>
        <p:nvSpPr>
          <p:cNvPr id="27" name="Oval 8">
            <a:extLst>
              <a:ext uri="{FF2B5EF4-FFF2-40B4-BE49-F238E27FC236}">
                <a16:creationId xmlns:a16="http://schemas.microsoft.com/office/drawing/2014/main" id="{DBBF02CF-CADF-4288-AB07-511F3237F6BC}"/>
              </a:ext>
            </a:extLst>
          </p:cNvPr>
          <p:cNvSpPr>
            <a:spLocks noChangeArrowheads="1"/>
          </p:cNvSpPr>
          <p:nvPr>
            <p:custDataLst>
              <p:tags r:id="rId4"/>
            </p:custDataLst>
          </p:nvPr>
        </p:nvSpPr>
        <p:spPr bwMode="auto">
          <a:xfrm>
            <a:off x="1047747" y="2626659"/>
            <a:ext cx="685800" cy="685800"/>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2100" dirty="0"/>
              <a:t>I</a:t>
            </a:r>
          </a:p>
        </p:txBody>
      </p:sp>
      <p:sp>
        <p:nvSpPr>
          <p:cNvPr id="28" name="Rectangle 19">
            <a:extLst>
              <a:ext uri="{FF2B5EF4-FFF2-40B4-BE49-F238E27FC236}">
                <a16:creationId xmlns:a16="http://schemas.microsoft.com/office/drawing/2014/main" id="{87F0BF2B-32FF-4F50-BB1F-129F3AB8DB1D}"/>
              </a:ext>
            </a:extLst>
          </p:cNvPr>
          <p:cNvSpPr>
            <a:spLocks noChangeArrowheads="1"/>
          </p:cNvSpPr>
          <p:nvPr>
            <p:custDataLst>
              <p:tags r:id="rId5"/>
            </p:custDataLst>
          </p:nvPr>
        </p:nvSpPr>
        <p:spPr bwMode="auto">
          <a:xfrm>
            <a:off x="2516984" y="2368853"/>
            <a:ext cx="954589"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Load / </a:t>
            </a:r>
            <a:r>
              <a:rPr lang="en-US" sz="1200" dirty="0" err="1">
                <a:latin typeface="+mn-lt"/>
              </a:rPr>
              <a:t>BusRd</a:t>
            </a:r>
            <a:endParaRPr lang="en-US" sz="1200" dirty="0">
              <a:latin typeface="+mn-lt"/>
            </a:endParaRPr>
          </a:p>
        </p:txBody>
      </p:sp>
      <p:sp>
        <p:nvSpPr>
          <p:cNvPr id="29" name="Oval 8">
            <a:extLst>
              <a:ext uri="{FF2B5EF4-FFF2-40B4-BE49-F238E27FC236}">
                <a16:creationId xmlns:a16="http://schemas.microsoft.com/office/drawing/2014/main" id="{33CDB991-EB3C-4069-8BA9-57A753E2DDD1}"/>
              </a:ext>
            </a:extLst>
          </p:cNvPr>
          <p:cNvSpPr>
            <a:spLocks noChangeArrowheads="1"/>
          </p:cNvSpPr>
          <p:nvPr>
            <p:custDataLst>
              <p:tags r:id="rId6"/>
            </p:custDataLst>
          </p:nvPr>
        </p:nvSpPr>
        <p:spPr bwMode="auto">
          <a:xfrm>
            <a:off x="4362447" y="2626659"/>
            <a:ext cx="685800" cy="685800"/>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2100" dirty="0"/>
              <a:t>S</a:t>
            </a:r>
          </a:p>
        </p:txBody>
      </p:sp>
      <p:sp>
        <p:nvSpPr>
          <p:cNvPr id="30" name="Freeform 32">
            <a:extLst>
              <a:ext uri="{FF2B5EF4-FFF2-40B4-BE49-F238E27FC236}">
                <a16:creationId xmlns:a16="http://schemas.microsoft.com/office/drawing/2014/main" id="{3A5C55D6-7CC2-4364-8387-68455F042D9A}"/>
              </a:ext>
            </a:extLst>
          </p:cNvPr>
          <p:cNvSpPr/>
          <p:nvPr>
            <p:custDataLst>
              <p:tags r:id="rId7"/>
            </p:custDataLst>
          </p:nvPr>
        </p:nvSpPr>
        <p:spPr bwMode="auto">
          <a:xfrm>
            <a:off x="1733547" y="2619936"/>
            <a:ext cx="2625539" cy="231962"/>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Lst>
            <a:ahLst/>
            <a:cxnLst>
              <a:cxn ang="0">
                <a:pos x="connsiteX0" y="connsiteY0"/>
              </a:cxn>
              <a:cxn ang="0">
                <a:pos x="connsiteX1" y="connsiteY1"/>
              </a:cxn>
              <a:cxn ang="0">
                <a:pos x="connsiteX2" y="connsiteY2"/>
              </a:cxn>
            </a:cxnLst>
            <a:rect l="l" t="t" r="r" b="b"/>
            <a:pathLst>
              <a:path w="3567953" h="309283">
                <a:moveTo>
                  <a:pt x="0" y="309283"/>
                </a:moveTo>
                <a:cubicBezTo>
                  <a:pt x="626035" y="188259"/>
                  <a:pt x="1072776" y="17930"/>
                  <a:pt x="1667435" y="8965"/>
                </a:cubicBezTo>
                <a:cubicBezTo>
                  <a:pt x="2262094" y="0"/>
                  <a:pt x="3004670" y="152400"/>
                  <a:pt x="3567953" y="255494"/>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31" name="Rectangle 19">
            <a:extLst>
              <a:ext uri="{FF2B5EF4-FFF2-40B4-BE49-F238E27FC236}">
                <a16:creationId xmlns:a16="http://schemas.microsoft.com/office/drawing/2014/main" id="{E02A03AC-54D9-4AF4-9EFC-11A61E811F0E}"/>
              </a:ext>
            </a:extLst>
          </p:cNvPr>
          <p:cNvSpPr>
            <a:spLocks noChangeArrowheads="1"/>
          </p:cNvSpPr>
          <p:nvPr>
            <p:custDataLst>
              <p:tags r:id="rId8"/>
            </p:custDataLst>
          </p:nvPr>
        </p:nvSpPr>
        <p:spPr bwMode="auto">
          <a:xfrm>
            <a:off x="4999636" y="3058716"/>
            <a:ext cx="659636"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Load / --</a:t>
            </a:r>
          </a:p>
        </p:txBody>
      </p:sp>
      <p:sp>
        <p:nvSpPr>
          <p:cNvPr id="32" name="Rectangle 19">
            <a:extLst>
              <a:ext uri="{FF2B5EF4-FFF2-40B4-BE49-F238E27FC236}">
                <a16:creationId xmlns:a16="http://schemas.microsoft.com/office/drawing/2014/main" id="{00765427-09EC-45D0-9C29-2C799424A5C6}"/>
              </a:ext>
            </a:extLst>
          </p:cNvPr>
          <p:cNvSpPr>
            <a:spLocks noChangeArrowheads="1"/>
          </p:cNvSpPr>
          <p:nvPr>
            <p:custDataLst>
              <p:tags r:id="rId9"/>
            </p:custDataLst>
          </p:nvPr>
        </p:nvSpPr>
        <p:spPr bwMode="auto">
          <a:xfrm>
            <a:off x="4693021" y="2389080"/>
            <a:ext cx="757420" cy="251993"/>
          </a:xfrm>
          <a:prstGeom prst="rect">
            <a:avLst/>
          </a:prstGeom>
          <a:noFill/>
          <a:ln w="12700">
            <a:noFill/>
            <a:prstDash val="sysDot"/>
            <a:miter lim="800000"/>
            <a:headEnd/>
            <a:tailEnd/>
          </a:ln>
        </p:spPr>
        <p:txBody>
          <a:bodyPr wrap="none" lIns="67866" tIns="33338" rIns="67866" bIns="33338">
            <a:spAutoFit/>
          </a:bodyPr>
          <a:lstStyle/>
          <a:p>
            <a:r>
              <a:rPr lang="en-US" sz="1200" dirty="0" err="1">
                <a:latin typeface="+mn-lt"/>
              </a:rPr>
              <a:t>BusRd</a:t>
            </a:r>
            <a:r>
              <a:rPr lang="en-US" sz="1200" dirty="0">
                <a:latin typeface="+mn-lt"/>
              </a:rPr>
              <a:t> / --</a:t>
            </a:r>
          </a:p>
        </p:txBody>
      </p:sp>
      <p:sp>
        <p:nvSpPr>
          <p:cNvPr id="33" name="Arc 9">
            <a:extLst>
              <a:ext uri="{FF2B5EF4-FFF2-40B4-BE49-F238E27FC236}">
                <a16:creationId xmlns:a16="http://schemas.microsoft.com/office/drawing/2014/main" id="{B8331003-EF3D-49AA-A122-A5EBAA12E235}"/>
              </a:ext>
            </a:extLst>
          </p:cNvPr>
          <p:cNvSpPr>
            <a:spLocks/>
          </p:cNvSpPr>
          <p:nvPr>
            <p:custDataLst>
              <p:tags r:id="rId10"/>
            </p:custDataLst>
          </p:nvPr>
        </p:nvSpPr>
        <p:spPr bwMode="auto">
          <a:xfrm rot="8454697">
            <a:off x="5048821" y="2639011"/>
            <a:ext cx="472328" cy="415302"/>
          </a:xfrm>
          <a:custGeom>
            <a:avLst/>
            <a:gdLst>
              <a:gd name="T0" fmla="*/ 505 w 43200"/>
              <a:gd name="T1" fmla="*/ 474 h 43200"/>
              <a:gd name="T2" fmla="*/ 599 w 43200"/>
              <a:gd name="T3" fmla="*/ 328 h 43200"/>
              <a:gd name="T4" fmla="*/ 303 w 43200"/>
              <a:gd name="T5" fmla="*/ 272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path>
              <a:path w="43200" h="43200" stroke="0"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lnTo>
                  <a:pt x="21600" y="21600"/>
                </a:lnTo>
                <a:close/>
              </a:path>
            </a:pathLst>
          </a:custGeom>
          <a:noFill/>
          <a:ln w="12700" cap="rnd">
            <a:solidFill>
              <a:schemeClr val="tx1"/>
            </a:solidFill>
            <a:round/>
            <a:headEnd/>
            <a:tailEnd type="triangle" w="med" len="med"/>
          </a:ln>
        </p:spPr>
        <p:txBody>
          <a:bodyPr wrap="none" anchor="ctr"/>
          <a:lstStyle/>
          <a:p>
            <a:endParaRPr lang="en-US" sz="1200" dirty="0">
              <a:latin typeface="+mn-lt"/>
            </a:endParaRPr>
          </a:p>
        </p:txBody>
      </p:sp>
      <p:sp>
        <p:nvSpPr>
          <p:cNvPr id="34" name="Oval 8">
            <a:extLst>
              <a:ext uri="{FF2B5EF4-FFF2-40B4-BE49-F238E27FC236}">
                <a16:creationId xmlns:a16="http://schemas.microsoft.com/office/drawing/2014/main" id="{6D6F9712-1D17-4F59-A56D-69B6F5C8D760}"/>
              </a:ext>
            </a:extLst>
          </p:cNvPr>
          <p:cNvSpPr>
            <a:spLocks noChangeArrowheads="1"/>
          </p:cNvSpPr>
          <p:nvPr>
            <p:custDataLst>
              <p:tags r:id="rId11"/>
            </p:custDataLst>
          </p:nvPr>
        </p:nvSpPr>
        <p:spPr bwMode="auto">
          <a:xfrm>
            <a:off x="1104897" y="5026959"/>
            <a:ext cx="685800" cy="685800"/>
          </a:xfrm>
          <a:prstGeom prst="ellipse">
            <a:avLst/>
          </a:prstGeom>
          <a:solidFill>
            <a:schemeClr val="accent2">
              <a:lumMod val="60000"/>
              <a:lumOff val="40000"/>
            </a:schemeClr>
          </a:solidFill>
          <a:ln w="25400">
            <a:solidFill>
              <a:schemeClr val="tx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US" sz="2100" dirty="0"/>
              <a:t>M</a:t>
            </a:r>
          </a:p>
        </p:txBody>
      </p:sp>
      <p:sp>
        <p:nvSpPr>
          <p:cNvPr id="35" name="Freeform 38">
            <a:extLst>
              <a:ext uri="{FF2B5EF4-FFF2-40B4-BE49-F238E27FC236}">
                <a16:creationId xmlns:a16="http://schemas.microsoft.com/office/drawing/2014/main" id="{6498D179-63E5-478F-863E-7F646837C369}"/>
              </a:ext>
            </a:extLst>
          </p:cNvPr>
          <p:cNvSpPr/>
          <p:nvPr>
            <p:custDataLst>
              <p:tags r:id="rId12"/>
            </p:custDataLst>
          </p:nvPr>
        </p:nvSpPr>
        <p:spPr bwMode="auto">
          <a:xfrm rot="16035852" flipH="1">
            <a:off x="291114" y="4057237"/>
            <a:ext cx="1712399" cy="231962"/>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Lst>
            <a:ahLst/>
            <a:cxnLst>
              <a:cxn ang="0">
                <a:pos x="connsiteX0" y="connsiteY0"/>
              </a:cxn>
              <a:cxn ang="0">
                <a:pos x="connsiteX1" y="connsiteY1"/>
              </a:cxn>
              <a:cxn ang="0">
                <a:pos x="connsiteX2" y="connsiteY2"/>
              </a:cxn>
            </a:cxnLst>
            <a:rect l="l" t="t" r="r" b="b"/>
            <a:pathLst>
              <a:path w="3567953" h="309283">
                <a:moveTo>
                  <a:pt x="0" y="309283"/>
                </a:moveTo>
                <a:cubicBezTo>
                  <a:pt x="626035" y="188259"/>
                  <a:pt x="1072776" y="17930"/>
                  <a:pt x="1667435" y="8965"/>
                </a:cubicBezTo>
                <a:cubicBezTo>
                  <a:pt x="2262094" y="0"/>
                  <a:pt x="3004670" y="152400"/>
                  <a:pt x="3567953" y="255494"/>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36" name="Freeform 39">
            <a:extLst>
              <a:ext uri="{FF2B5EF4-FFF2-40B4-BE49-F238E27FC236}">
                <a16:creationId xmlns:a16="http://schemas.microsoft.com/office/drawing/2014/main" id="{7F7D25AD-3CE7-4D70-9A2B-9F64D9212CCD}"/>
              </a:ext>
            </a:extLst>
          </p:cNvPr>
          <p:cNvSpPr/>
          <p:nvPr>
            <p:custDataLst>
              <p:tags r:id="rId13"/>
            </p:custDataLst>
          </p:nvPr>
        </p:nvSpPr>
        <p:spPr bwMode="auto">
          <a:xfrm rot="5400000" flipH="1">
            <a:off x="821879" y="4052678"/>
            <a:ext cx="1712399" cy="231962"/>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Lst>
            <a:ahLst/>
            <a:cxnLst>
              <a:cxn ang="0">
                <a:pos x="connsiteX0" y="connsiteY0"/>
              </a:cxn>
              <a:cxn ang="0">
                <a:pos x="connsiteX1" y="connsiteY1"/>
              </a:cxn>
              <a:cxn ang="0">
                <a:pos x="connsiteX2" y="connsiteY2"/>
              </a:cxn>
            </a:cxnLst>
            <a:rect l="l" t="t" r="r" b="b"/>
            <a:pathLst>
              <a:path w="3567953" h="309283">
                <a:moveTo>
                  <a:pt x="0" y="309283"/>
                </a:moveTo>
                <a:cubicBezTo>
                  <a:pt x="626035" y="188259"/>
                  <a:pt x="1072776" y="17930"/>
                  <a:pt x="1667435" y="8965"/>
                </a:cubicBezTo>
                <a:cubicBezTo>
                  <a:pt x="2262094" y="0"/>
                  <a:pt x="3004670" y="152400"/>
                  <a:pt x="3567953" y="255494"/>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38" name="Freeform 41">
            <a:extLst>
              <a:ext uri="{FF2B5EF4-FFF2-40B4-BE49-F238E27FC236}">
                <a16:creationId xmlns:a16="http://schemas.microsoft.com/office/drawing/2014/main" id="{D098FEF2-4FC8-4CE2-9E3A-88561280BDA4}"/>
              </a:ext>
            </a:extLst>
          </p:cNvPr>
          <p:cNvSpPr/>
          <p:nvPr>
            <p:custDataLst>
              <p:tags r:id="rId14"/>
            </p:custDataLst>
          </p:nvPr>
        </p:nvSpPr>
        <p:spPr bwMode="auto">
          <a:xfrm rot="10800000">
            <a:off x="1733547" y="3023347"/>
            <a:ext cx="2625539" cy="231962"/>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Lst>
            <a:ahLst/>
            <a:cxnLst>
              <a:cxn ang="0">
                <a:pos x="connsiteX0" y="connsiteY0"/>
              </a:cxn>
              <a:cxn ang="0">
                <a:pos x="connsiteX1" y="connsiteY1"/>
              </a:cxn>
              <a:cxn ang="0">
                <a:pos x="connsiteX2" y="connsiteY2"/>
              </a:cxn>
            </a:cxnLst>
            <a:rect l="l" t="t" r="r" b="b"/>
            <a:pathLst>
              <a:path w="3567953" h="309283">
                <a:moveTo>
                  <a:pt x="0" y="309283"/>
                </a:moveTo>
                <a:cubicBezTo>
                  <a:pt x="626035" y="188259"/>
                  <a:pt x="1072776" y="17930"/>
                  <a:pt x="1667435" y="8965"/>
                </a:cubicBezTo>
                <a:cubicBezTo>
                  <a:pt x="2262094" y="0"/>
                  <a:pt x="3004670" y="152400"/>
                  <a:pt x="3567953" y="255494"/>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39" name="Rectangle 19">
            <a:extLst>
              <a:ext uri="{FF2B5EF4-FFF2-40B4-BE49-F238E27FC236}">
                <a16:creationId xmlns:a16="http://schemas.microsoft.com/office/drawing/2014/main" id="{B00B0C59-2DF1-4525-AB77-50EAEF06353E}"/>
              </a:ext>
            </a:extLst>
          </p:cNvPr>
          <p:cNvSpPr>
            <a:spLocks noChangeArrowheads="1"/>
          </p:cNvSpPr>
          <p:nvPr>
            <p:custDataLst>
              <p:tags r:id="rId15"/>
            </p:custDataLst>
          </p:nvPr>
        </p:nvSpPr>
        <p:spPr bwMode="auto">
          <a:xfrm>
            <a:off x="2668468" y="3242900"/>
            <a:ext cx="652840"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Evict / --</a:t>
            </a:r>
          </a:p>
        </p:txBody>
      </p:sp>
      <p:sp>
        <p:nvSpPr>
          <p:cNvPr id="40" name="Freeform 43">
            <a:extLst>
              <a:ext uri="{FF2B5EF4-FFF2-40B4-BE49-F238E27FC236}">
                <a16:creationId xmlns:a16="http://schemas.microsoft.com/office/drawing/2014/main" id="{49444570-B459-4FD9-8379-196C90D20393}"/>
              </a:ext>
            </a:extLst>
          </p:cNvPr>
          <p:cNvSpPr/>
          <p:nvPr>
            <p:custDataLst>
              <p:tags r:id="rId16"/>
            </p:custDataLst>
          </p:nvPr>
        </p:nvSpPr>
        <p:spPr bwMode="auto">
          <a:xfrm rot="20487262">
            <a:off x="1493844" y="3681742"/>
            <a:ext cx="3218770" cy="1089877"/>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 name="connsiteX0" fmla="*/ 0 w 3910048"/>
              <a:gd name="connsiteY0" fmla="*/ 1556263 h 1556263"/>
              <a:gd name="connsiteX1" fmla="*/ 1667435 w 3910048"/>
              <a:gd name="connsiteY1" fmla="*/ 1255945 h 1556263"/>
              <a:gd name="connsiteX2" fmla="*/ 3910048 w 3910048"/>
              <a:gd name="connsiteY2" fmla="*/ 103094 h 1556263"/>
              <a:gd name="connsiteX0" fmla="*/ 0 w 3910048"/>
              <a:gd name="connsiteY0" fmla="*/ 1556263 h 1556263"/>
              <a:gd name="connsiteX1" fmla="*/ 1494292 w 3910048"/>
              <a:gd name="connsiteY1" fmla="*/ 579905 h 1556263"/>
              <a:gd name="connsiteX2" fmla="*/ 3910048 w 3910048"/>
              <a:gd name="connsiteY2" fmla="*/ 103094 h 1556263"/>
              <a:gd name="connsiteX0" fmla="*/ 0 w 3910048"/>
              <a:gd name="connsiteY0" fmla="*/ 1556263 h 1556263"/>
              <a:gd name="connsiteX1" fmla="*/ 395335 w 3910048"/>
              <a:gd name="connsiteY1" fmla="*/ 1300472 h 1556263"/>
              <a:gd name="connsiteX2" fmla="*/ 1494292 w 3910048"/>
              <a:gd name="connsiteY2" fmla="*/ 579905 h 1556263"/>
              <a:gd name="connsiteX3" fmla="*/ 3910048 w 3910048"/>
              <a:gd name="connsiteY3" fmla="*/ 103094 h 1556263"/>
              <a:gd name="connsiteX0" fmla="*/ 0 w 3910048"/>
              <a:gd name="connsiteY0" fmla="*/ 1453169 h 1453169"/>
              <a:gd name="connsiteX1" fmla="*/ 395335 w 3910048"/>
              <a:gd name="connsiteY1" fmla="*/ 1197378 h 1453169"/>
              <a:gd name="connsiteX2" fmla="*/ 1494292 w 3910048"/>
              <a:gd name="connsiteY2" fmla="*/ 476811 h 1453169"/>
              <a:gd name="connsiteX3" fmla="*/ 2702381 w 3910048"/>
              <a:gd name="connsiteY3" fmla="*/ 117923 h 1453169"/>
              <a:gd name="connsiteX4" fmla="*/ 3910048 w 3910048"/>
              <a:gd name="connsiteY4" fmla="*/ 0 h 1453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0048" h="1453169">
                <a:moveTo>
                  <a:pt x="0" y="1453169"/>
                </a:moveTo>
                <a:cubicBezTo>
                  <a:pt x="73616" y="1422838"/>
                  <a:pt x="146286" y="1360104"/>
                  <a:pt x="395335" y="1197378"/>
                </a:cubicBezTo>
                <a:cubicBezTo>
                  <a:pt x="644384" y="1034652"/>
                  <a:pt x="1109784" y="656720"/>
                  <a:pt x="1494292" y="476811"/>
                </a:cubicBezTo>
                <a:cubicBezTo>
                  <a:pt x="1878800" y="296902"/>
                  <a:pt x="2299755" y="197392"/>
                  <a:pt x="2702381" y="117923"/>
                </a:cubicBezTo>
                <a:cubicBezTo>
                  <a:pt x="3105007" y="38455"/>
                  <a:pt x="3709840" y="23200"/>
                  <a:pt x="3910048" y="0"/>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41" name="Freeform 44">
            <a:extLst>
              <a:ext uri="{FF2B5EF4-FFF2-40B4-BE49-F238E27FC236}">
                <a16:creationId xmlns:a16="http://schemas.microsoft.com/office/drawing/2014/main" id="{3E7A807E-C199-4F70-93E9-FCBBA0C8ED05}"/>
              </a:ext>
            </a:extLst>
          </p:cNvPr>
          <p:cNvSpPr/>
          <p:nvPr>
            <p:custDataLst>
              <p:tags r:id="rId17"/>
            </p:custDataLst>
          </p:nvPr>
        </p:nvSpPr>
        <p:spPr bwMode="auto">
          <a:xfrm rot="9708963">
            <a:off x="1515700" y="3880050"/>
            <a:ext cx="3464645" cy="1207969"/>
          </a:xfrm>
          <a:custGeom>
            <a:avLst/>
            <a:gdLst>
              <a:gd name="connsiteX0" fmla="*/ 0 w 3567953"/>
              <a:gd name="connsiteY0" fmla="*/ 259977 h 259977"/>
              <a:gd name="connsiteX1" fmla="*/ 1846729 w 3567953"/>
              <a:gd name="connsiteY1" fmla="*/ 8965 h 259977"/>
              <a:gd name="connsiteX2" fmla="*/ 3567953 w 3567953"/>
              <a:gd name="connsiteY2" fmla="*/ 206188 h 259977"/>
              <a:gd name="connsiteX0" fmla="*/ 0 w 3567953"/>
              <a:gd name="connsiteY0" fmla="*/ 309283 h 309283"/>
              <a:gd name="connsiteX1" fmla="*/ 1667435 w 3567953"/>
              <a:gd name="connsiteY1" fmla="*/ 8965 h 309283"/>
              <a:gd name="connsiteX2" fmla="*/ 3567953 w 3567953"/>
              <a:gd name="connsiteY2" fmla="*/ 255494 h 309283"/>
              <a:gd name="connsiteX0" fmla="*/ 0 w 3910048"/>
              <a:gd name="connsiteY0" fmla="*/ 1556263 h 1556263"/>
              <a:gd name="connsiteX1" fmla="*/ 1667435 w 3910048"/>
              <a:gd name="connsiteY1" fmla="*/ 1255945 h 1556263"/>
              <a:gd name="connsiteX2" fmla="*/ 3910048 w 3910048"/>
              <a:gd name="connsiteY2" fmla="*/ 103094 h 1556263"/>
              <a:gd name="connsiteX0" fmla="*/ 0 w 3910048"/>
              <a:gd name="connsiteY0" fmla="*/ 1556263 h 1556263"/>
              <a:gd name="connsiteX1" fmla="*/ 1494292 w 3910048"/>
              <a:gd name="connsiteY1" fmla="*/ 579905 h 1556263"/>
              <a:gd name="connsiteX2" fmla="*/ 3910048 w 3910048"/>
              <a:gd name="connsiteY2" fmla="*/ 103094 h 1556263"/>
              <a:gd name="connsiteX0" fmla="*/ 0 w 3910048"/>
              <a:gd name="connsiteY0" fmla="*/ 1556263 h 1556263"/>
              <a:gd name="connsiteX1" fmla="*/ 395335 w 3910048"/>
              <a:gd name="connsiteY1" fmla="*/ 1300472 h 1556263"/>
              <a:gd name="connsiteX2" fmla="*/ 1494292 w 3910048"/>
              <a:gd name="connsiteY2" fmla="*/ 579905 h 1556263"/>
              <a:gd name="connsiteX3" fmla="*/ 3910048 w 3910048"/>
              <a:gd name="connsiteY3" fmla="*/ 103094 h 1556263"/>
              <a:gd name="connsiteX0" fmla="*/ 0 w 3910048"/>
              <a:gd name="connsiteY0" fmla="*/ 1453169 h 1453169"/>
              <a:gd name="connsiteX1" fmla="*/ 395335 w 3910048"/>
              <a:gd name="connsiteY1" fmla="*/ 1197378 h 1453169"/>
              <a:gd name="connsiteX2" fmla="*/ 1494292 w 3910048"/>
              <a:gd name="connsiteY2" fmla="*/ 476811 h 1453169"/>
              <a:gd name="connsiteX3" fmla="*/ 2702381 w 3910048"/>
              <a:gd name="connsiteY3" fmla="*/ 117923 h 1453169"/>
              <a:gd name="connsiteX4" fmla="*/ 3910048 w 3910048"/>
              <a:gd name="connsiteY4" fmla="*/ 0 h 1453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0048" h="1453169">
                <a:moveTo>
                  <a:pt x="0" y="1453169"/>
                </a:moveTo>
                <a:cubicBezTo>
                  <a:pt x="73616" y="1422838"/>
                  <a:pt x="146286" y="1360104"/>
                  <a:pt x="395335" y="1197378"/>
                </a:cubicBezTo>
                <a:cubicBezTo>
                  <a:pt x="644384" y="1034652"/>
                  <a:pt x="1109784" y="656720"/>
                  <a:pt x="1494292" y="476811"/>
                </a:cubicBezTo>
                <a:cubicBezTo>
                  <a:pt x="1878800" y="296902"/>
                  <a:pt x="2299755" y="197392"/>
                  <a:pt x="2702381" y="117923"/>
                </a:cubicBezTo>
                <a:cubicBezTo>
                  <a:pt x="3105007" y="38455"/>
                  <a:pt x="3709840" y="23200"/>
                  <a:pt x="3910048" y="0"/>
                </a:cubicBezTo>
              </a:path>
            </a:pathLst>
          </a:custGeom>
          <a:noFill/>
          <a:ln w="9525" cap="flat" cmpd="sng" algn="ctr">
            <a:solidFill>
              <a:schemeClr val="tx1"/>
            </a:solidFill>
            <a:prstDash val="solid"/>
            <a:round/>
            <a:headEnd type="none" w="med" len="med"/>
            <a:tailEnd type="stealth" w="lg" len="lg"/>
          </a:ln>
          <a:effectLst/>
        </p:spPr>
        <p:txBody>
          <a:bodyPr vert="horz" wrap="square" lIns="68580" tIns="34290" rIns="68580" bIns="34290" numCol="1" rtlCol="0" anchor="t" anchorCtr="0" compatLnSpc="1">
            <a:prstTxWarp prst="textNoShape">
              <a:avLst/>
            </a:prstTxWarp>
          </a:bodyPr>
          <a:lstStyle/>
          <a:p>
            <a:pPr algn="ctr" defTabSz="685800" eaLnBrk="0" hangingPunct="0"/>
            <a:endParaRPr lang="en-US" sz="1200">
              <a:latin typeface="+mn-lt"/>
            </a:endParaRPr>
          </a:p>
        </p:txBody>
      </p:sp>
      <p:sp>
        <p:nvSpPr>
          <p:cNvPr id="42" name="Rectangle 19">
            <a:extLst>
              <a:ext uri="{FF2B5EF4-FFF2-40B4-BE49-F238E27FC236}">
                <a16:creationId xmlns:a16="http://schemas.microsoft.com/office/drawing/2014/main" id="{F349E51F-FBFB-452B-ADA0-4EF8D10BCADB}"/>
              </a:ext>
            </a:extLst>
          </p:cNvPr>
          <p:cNvSpPr>
            <a:spLocks noChangeArrowheads="1"/>
          </p:cNvSpPr>
          <p:nvPr>
            <p:custDataLst>
              <p:tags r:id="rId18"/>
            </p:custDataLst>
          </p:nvPr>
        </p:nvSpPr>
        <p:spPr bwMode="auto">
          <a:xfrm rot="19370607">
            <a:off x="2180855" y="4008561"/>
            <a:ext cx="1728006" cy="251993"/>
          </a:xfrm>
          <a:prstGeom prst="rect">
            <a:avLst/>
          </a:prstGeom>
          <a:noFill/>
          <a:ln w="12700">
            <a:noFill/>
            <a:prstDash val="sysDot"/>
            <a:miter lim="800000"/>
            <a:headEnd/>
            <a:tailEnd/>
          </a:ln>
        </p:spPr>
        <p:txBody>
          <a:bodyPr wrap="none" lIns="67866" tIns="33338" rIns="67866" bIns="33338">
            <a:spAutoFit/>
          </a:bodyPr>
          <a:lstStyle/>
          <a:p>
            <a:r>
              <a:rPr lang="en-US" sz="1200" dirty="0" err="1">
                <a:latin typeface="+mn-lt"/>
              </a:rPr>
              <a:t>BusRd</a:t>
            </a:r>
            <a:r>
              <a:rPr lang="en-US" sz="1200" dirty="0">
                <a:latin typeface="+mn-lt"/>
              </a:rPr>
              <a:t> / </a:t>
            </a:r>
            <a:r>
              <a:rPr lang="en-US" sz="1200" dirty="0" err="1">
                <a:latin typeface="+mn-lt"/>
              </a:rPr>
              <a:t>BusReply</a:t>
            </a:r>
            <a:r>
              <a:rPr lang="en-US" sz="1200" dirty="0">
                <a:latin typeface="+mn-lt"/>
              </a:rPr>
              <a:t>, </a:t>
            </a:r>
            <a:r>
              <a:rPr lang="en-US" sz="1200" dirty="0" err="1">
                <a:latin typeface="+mn-lt"/>
              </a:rPr>
              <a:t>BusWB</a:t>
            </a:r>
            <a:endParaRPr lang="en-US" sz="1200" dirty="0">
              <a:latin typeface="+mn-lt"/>
            </a:endParaRPr>
          </a:p>
        </p:txBody>
      </p:sp>
      <p:sp>
        <p:nvSpPr>
          <p:cNvPr id="43" name="Rectangle 12">
            <a:extLst>
              <a:ext uri="{FF2B5EF4-FFF2-40B4-BE49-F238E27FC236}">
                <a16:creationId xmlns:a16="http://schemas.microsoft.com/office/drawing/2014/main" id="{F1F0EC7B-7653-4760-8A06-29BD0A8AA182}"/>
              </a:ext>
            </a:extLst>
          </p:cNvPr>
          <p:cNvSpPr>
            <a:spLocks noChangeArrowheads="1"/>
          </p:cNvSpPr>
          <p:nvPr>
            <p:custDataLst>
              <p:tags r:id="rId19"/>
            </p:custDataLst>
          </p:nvPr>
        </p:nvSpPr>
        <p:spPr bwMode="auto">
          <a:xfrm rot="4299444">
            <a:off x="1063148" y="3694514"/>
            <a:ext cx="1003898"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Evict / </a:t>
            </a:r>
            <a:r>
              <a:rPr lang="en-US" sz="1200" dirty="0" err="1">
                <a:latin typeface="+mn-lt"/>
              </a:rPr>
              <a:t>BusWB</a:t>
            </a:r>
            <a:endParaRPr lang="en-US" sz="1200" dirty="0">
              <a:latin typeface="+mn-lt"/>
            </a:endParaRPr>
          </a:p>
        </p:txBody>
      </p:sp>
      <p:sp>
        <p:nvSpPr>
          <p:cNvPr id="44" name="Arc 9">
            <a:extLst>
              <a:ext uri="{FF2B5EF4-FFF2-40B4-BE49-F238E27FC236}">
                <a16:creationId xmlns:a16="http://schemas.microsoft.com/office/drawing/2014/main" id="{2A8038E9-C8FF-42F8-8033-41AA97E52CF5}"/>
              </a:ext>
            </a:extLst>
          </p:cNvPr>
          <p:cNvSpPr>
            <a:spLocks/>
          </p:cNvSpPr>
          <p:nvPr>
            <p:custDataLst>
              <p:tags r:id="rId20"/>
            </p:custDataLst>
          </p:nvPr>
        </p:nvSpPr>
        <p:spPr bwMode="auto">
          <a:xfrm rot="18257111">
            <a:off x="680281" y="5417159"/>
            <a:ext cx="472328" cy="415302"/>
          </a:xfrm>
          <a:custGeom>
            <a:avLst/>
            <a:gdLst>
              <a:gd name="T0" fmla="*/ 505 w 43200"/>
              <a:gd name="T1" fmla="*/ 474 h 43200"/>
              <a:gd name="T2" fmla="*/ 599 w 43200"/>
              <a:gd name="T3" fmla="*/ 328 h 43200"/>
              <a:gd name="T4" fmla="*/ 303 w 43200"/>
              <a:gd name="T5" fmla="*/ 272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path>
              <a:path w="43200" h="43200" stroke="0" extrusionOk="0">
                <a:moveTo>
                  <a:pt x="35975" y="37722"/>
                </a:moveTo>
                <a:cubicBezTo>
                  <a:pt x="32017" y="41250"/>
                  <a:pt x="26901" y="43199"/>
                  <a:pt x="21600" y="43200"/>
                </a:cubicBezTo>
                <a:cubicBezTo>
                  <a:pt x="9670" y="43200"/>
                  <a:pt x="0" y="33529"/>
                  <a:pt x="0" y="21600"/>
                </a:cubicBezTo>
                <a:cubicBezTo>
                  <a:pt x="0" y="9670"/>
                  <a:pt x="9670" y="0"/>
                  <a:pt x="21600" y="0"/>
                </a:cubicBezTo>
                <a:cubicBezTo>
                  <a:pt x="33529" y="0"/>
                  <a:pt x="43200" y="9670"/>
                  <a:pt x="43200" y="21600"/>
                </a:cubicBezTo>
                <a:cubicBezTo>
                  <a:pt x="43200" y="23099"/>
                  <a:pt x="43043" y="24594"/>
                  <a:pt x="42734" y="26062"/>
                </a:cubicBezTo>
                <a:lnTo>
                  <a:pt x="21600" y="21600"/>
                </a:lnTo>
                <a:close/>
              </a:path>
            </a:pathLst>
          </a:custGeom>
          <a:noFill/>
          <a:ln w="12700" cap="rnd">
            <a:solidFill>
              <a:schemeClr val="tx1"/>
            </a:solidFill>
            <a:round/>
            <a:headEnd/>
            <a:tailEnd type="triangle" w="med" len="med"/>
          </a:ln>
        </p:spPr>
        <p:txBody>
          <a:bodyPr wrap="none" anchor="ctr"/>
          <a:lstStyle/>
          <a:p>
            <a:endParaRPr lang="en-US" sz="1200" dirty="0">
              <a:latin typeface="+mn-lt"/>
            </a:endParaRPr>
          </a:p>
        </p:txBody>
      </p:sp>
      <p:sp>
        <p:nvSpPr>
          <p:cNvPr id="45" name="Rectangle 19">
            <a:extLst>
              <a:ext uri="{FF2B5EF4-FFF2-40B4-BE49-F238E27FC236}">
                <a16:creationId xmlns:a16="http://schemas.microsoft.com/office/drawing/2014/main" id="{F508D25A-8129-4ED3-8FE8-9499070B58F1}"/>
              </a:ext>
            </a:extLst>
          </p:cNvPr>
          <p:cNvSpPr>
            <a:spLocks noChangeArrowheads="1"/>
          </p:cNvSpPr>
          <p:nvPr>
            <p:custDataLst>
              <p:tags r:id="rId21"/>
            </p:custDataLst>
          </p:nvPr>
        </p:nvSpPr>
        <p:spPr bwMode="auto">
          <a:xfrm>
            <a:off x="36242" y="5173266"/>
            <a:ext cx="1063273"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Load, Store / --</a:t>
            </a:r>
          </a:p>
        </p:txBody>
      </p:sp>
      <p:sp>
        <p:nvSpPr>
          <p:cNvPr id="46" name="Rectangle 19">
            <a:extLst>
              <a:ext uri="{FF2B5EF4-FFF2-40B4-BE49-F238E27FC236}">
                <a16:creationId xmlns:a16="http://schemas.microsoft.com/office/drawing/2014/main" id="{464B75E9-EDD5-498D-93E0-C07F5055D663}"/>
              </a:ext>
            </a:extLst>
          </p:cNvPr>
          <p:cNvSpPr>
            <a:spLocks noChangeArrowheads="1"/>
          </p:cNvSpPr>
          <p:nvPr>
            <p:custDataLst>
              <p:tags r:id="rId22"/>
            </p:custDataLst>
          </p:nvPr>
        </p:nvSpPr>
        <p:spPr bwMode="auto">
          <a:xfrm rot="19370607">
            <a:off x="2823582" y="4469075"/>
            <a:ext cx="1006206" cy="251993"/>
          </a:xfrm>
          <a:prstGeom prst="rect">
            <a:avLst/>
          </a:prstGeom>
          <a:noFill/>
          <a:ln w="12700">
            <a:noFill/>
            <a:prstDash val="sysDot"/>
            <a:miter lim="800000"/>
            <a:headEnd/>
            <a:tailEnd/>
          </a:ln>
        </p:spPr>
        <p:txBody>
          <a:bodyPr wrap="none" lIns="67866" tIns="33338" rIns="67866" bIns="33338">
            <a:spAutoFit/>
          </a:bodyPr>
          <a:lstStyle/>
          <a:p>
            <a:r>
              <a:rPr lang="en-US" sz="1200" dirty="0">
                <a:latin typeface="+mn-lt"/>
              </a:rPr>
              <a:t>Store</a:t>
            </a:r>
            <a:r>
              <a:rPr lang="en-US" sz="1200" dirty="0">
                <a:solidFill>
                  <a:schemeClr val="accent2"/>
                </a:solidFill>
                <a:latin typeface="+mn-lt"/>
              </a:rPr>
              <a:t> </a:t>
            </a:r>
            <a:r>
              <a:rPr lang="en-US" sz="1200" dirty="0">
                <a:latin typeface="+mn-lt"/>
              </a:rPr>
              <a:t>/ BusInv</a:t>
            </a:r>
          </a:p>
        </p:txBody>
      </p:sp>
      <p:sp>
        <p:nvSpPr>
          <p:cNvPr id="47" name="Rectangle 19">
            <a:extLst>
              <a:ext uri="{FF2B5EF4-FFF2-40B4-BE49-F238E27FC236}">
                <a16:creationId xmlns:a16="http://schemas.microsoft.com/office/drawing/2014/main" id="{D95610DD-8D45-4A27-8FF0-2CCF5F65929B}"/>
              </a:ext>
            </a:extLst>
          </p:cNvPr>
          <p:cNvSpPr>
            <a:spLocks noChangeArrowheads="1"/>
          </p:cNvSpPr>
          <p:nvPr>
            <p:custDataLst>
              <p:tags r:id="rId23"/>
            </p:custDataLst>
          </p:nvPr>
        </p:nvSpPr>
        <p:spPr bwMode="auto">
          <a:xfrm>
            <a:off x="2419347" y="2917592"/>
            <a:ext cx="1320715" cy="251993"/>
          </a:xfrm>
          <a:prstGeom prst="rect">
            <a:avLst/>
          </a:prstGeom>
          <a:noFill/>
          <a:ln w="12700">
            <a:noFill/>
            <a:prstDash val="sysDot"/>
            <a:miter lim="800000"/>
            <a:headEnd/>
            <a:tailEnd/>
          </a:ln>
        </p:spPr>
        <p:txBody>
          <a:bodyPr wrap="none" lIns="67866" tIns="33338" rIns="67866" bIns="33338">
            <a:spAutoFit/>
          </a:bodyPr>
          <a:lstStyle/>
          <a:p>
            <a:r>
              <a:rPr lang="en-US" sz="1200" dirty="0" err="1">
                <a:latin typeface="+mn-lt"/>
              </a:rPr>
              <a:t>BusRdX</a:t>
            </a:r>
            <a:r>
              <a:rPr lang="en-US" sz="1200" dirty="0">
                <a:latin typeface="+mn-lt"/>
              </a:rPr>
              <a:t>, BusInv / --</a:t>
            </a:r>
          </a:p>
        </p:txBody>
      </p:sp>
      <p:sp>
        <p:nvSpPr>
          <p:cNvPr id="48" name="Rectangle 12">
            <a:extLst>
              <a:ext uri="{FF2B5EF4-FFF2-40B4-BE49-F238E27FC236}">
                <a16:creationId xmlns:a16="http://schemas.microsoft.com/office/drawing/2014/main" id="{AA2F7F0C-2E61-407B-B4B1-997E7A814224}"/>
              </a:ext>
            </a:extLst>
          </p:cNvPr>
          <p:cNvSpPr>
            <a:spLocks noChangeArrowheads="1"/>
          </p:cNvSpPr>
          <p:nvPr>
            <p:custDataLst>
              <p:tags r:id="rId24"/>
            </p:custDataLst>
          </p:nvPr>
        </p:nvSpPr>
        <p:spPr bwMode="auto">
          <a:xfrm rot="3897826">
            <a:off x="1342027" y="3725769"/>
            <a:ext cx="1324242" cy="251993"/>
          </a:xfrm>
          <a:prstGeom prst="rect">
            <a:avLst/>
          </a:prstGeom>
          <a:noFill/>
          <a:ln w="12700">
            <a:noFill/>
            <a:prstDash val="sysDot"/>
            <a:miter lim="800000"/>
            <a:headEnd/>
            <a:tailEnd/>
          </a:ln>
        </p:spPr>
        <p:txBody>
          <a:bodyPr wrap="none" lIns="67866" tIns="33338" rIns="67866" bIns="33338">
            <a:spAutoFit/>
          </a:bodyPr>
          <a:lstStyle/>
          <a:p>
            <a:r>
              <a:rPr lang="en-US" sz="1200" dirty="0" err="1">
                <a:latin typeface="+mn-lt"/>
              </a:rPr>
              <a:t>BusRdX</a:t>
            </a:r>
            <a:r>
              <a:rPr lang="en-US" sz="1200" dirty="0">
                <a:latin typeface="+mn-lt"/>
              </a:rPr>
              <a:t> / </a:t>
            </a:r>
            <a:r>
              <a:rPr lang="en-US" sz="1200" b="1" dirty="0" err="1">
                <a:solidFill>
                  <a:schemeClr val="accent2">
                    <a:lumMod val="75000"/>
                  </a:schemeClr>
                </a:solidFill>
                <a:latin typeface="+mn-lt"/>
              </a:rPr>
              <a:t>BusReply</a:t>
            </a:r>
            <a:endParaRPr lang="en-US" sz="1200" b="1" dirty="0">
              <a:solidFill>
                <a:schemeClr val="accent2">
                  <a:lumMod val="75000"/>
                </a:schemeClr>
              </a:solidFill>
              <a:latin typeface="+mn-lt"/>
            </a:endParaRPr>
          </a:p>
        </p:txBody>
      </p:sp>
      <p:sp>
        <p:nvSpPr>
          <p:cNvPr id="37" name="TextBox 36">
            <a:extLst>
              <a:ext uri="{FF2B5EF4-FFF2-40B4-BE49-F238E27FC236}">
                <a16:creationId xmlns:a16="http://schemas.microsoft.com/office/drawing/2014/main" id="{40753847-A798-4DE0-936A-565F5EE93014}"/>
              </a:ext>
            </a:extLst>
          </p:cNvPr>
          <p:cNvSpPr txBox="1"/>
          <p:nvPr>
            <p:custDataLst>
              <p:tags r:id="rId25"/>
            </p:custDataLst>
          </p:nvPr>
        </p:nvSpPr>
        <p:spPr>
          <a:xfrm>
            <a:off x="2176949" y="5435528"/>
            <a:ext cx="5862154" cy="719035"/>
          </a:xfrm>
          <a:prstGeom prst="rect">
            <a:avLst/>
          </a:prstGeom>
          <a:noFill/>
        </p:spPr>
        <p:txBody>
          <a:bodyPr wrap="square" rtlCol="0" anchor="t">
            <a:noAutofit/>
          </a:bodyPr>
          <a:lstStyle/>
          <a:p>
            <a:r>
              <a:rPr lang="en-US" sz="1600" b="1" dirty="0">
                <a:solidFill>
                  <a:schemeClr val="accent6">
                    <a:lumMod val="75000"/>
                  </a:schemeClr>
                </a:solidFill>
                <a:latin typeface="+mn-lt"/>
              </a:rPr>
              <a:t>why no </a:t>
            </a:r>
            <a:r>
              <a:rPr lang="en-US" sz="1600" b="1" dirty="0" err="1">
                <a:solidFill>
                  <a:schemeClr val="accent6">
                    <a:lumMod val="75000"/>
                  </a:schemeClr>
                </a:solidFill>
                <a:latin typeface="+mn-lt"/>
              </a:rPr>
              <a:t>BusWB</a:t>
            </a:r>
            <a:r>
              <a:rPr lang="en-US" sz="1600" b="1" dirty="0">
                <a:solidFill>
                  <a:schemeClr val="accent6">
                    <a:lumMod val="75000"/>
                  </a:schemeClr>
                </a:solidFill>
                <a:latin typeface="+mn-lt"/>
              </a:rPr>
              <a:t> too?</a:t>
            </a:r>
          </a:p>
          <a:p>
            <a:r>
              <a:rPr lang="en-US" sz="1600" dirty="0">
                <a:solidFill>
                  <a:schemeClr val="accent6">
                    <a:lumMod val="75000"/>
                  </a:schemeClr>
                </a:solidFill>
                <a:latin typeface="+mn-lt"/>
              </a:rPr>
              <a:t>other cache in M eventually will write-back</a:t>
            </a:r>
          </a:p>
        </p:txBody>
      </p:sp>
      <p:cxnSp>
        <p:nvCxnSpPr>
          <p:cNvPr id="49" name="Straight Connector 48">
            <a:extLst>
              <a:ext uri="{FF2B5EF4-FFF2-40B4-BE49-F238E27FC236}">
                <a16:creationId xmlns:a16="http://schemas.microsoft.com/office/drawing/2014/main" id="{BAAB9A19-6720-4BF8-9CE5-E5236E441878}"/>
              </a:ext>
            </a:extLst>
          </p:cNvPr>
          <p:cNvCxnSpPr>
            <a:cxnSpLocks/>
          </p:cNvCxnSpPr>
          <p:nvPr/>
        </p:nvCxnSpPr>
        <p:spPr>
          <a:xfrm flipH="1" flipV="1">
            <a:off x="2206858" y="4411648"/>
            <a:ext cx="246554" cy="1092135"/>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0" name="Rectangle 2">
            <a:extLst>
              <a:ext uri="{FF2B5EF4-FFF2-40B4-BE49-F238E27FC236}">
                <a16:creationId xmlns:a16="http://schemas.microsoft.com/office/drawing/2014/main" id="{582E1EA8-2C8F-465D-A45A-14AB331C0105}"/>
              </a:ext>
            </a:extLst>
          </p:cNvPr>
          <p:cNvSpPr>
            <a:spLocks noGrp="1" noChangeArrowheads="1"/>
          </p:cNvSpPr>
          <p:nvPr>
            <p:ph type="title"/>
            <p:custDataLst>
              <p:tags r:id="rId26"/>
            </p:custDataLst>
          </p:nvPr>
        </p:nvSpPr>
        <p:spPr>
          <a:xfrm>
            <a:off x="457200" y="274638"/>
            <a:ext cx="7467600" cy="1143000"/>
          </a:xfrm>
        </p:spPr>
        <p:txBody>
          <a:bodyPr/>
          <a:lstStyle/>
          <a:p>
            <a:pPr eaLnBrk="1" hangingPunct="1"/>
            <a:r>
              <a:rPr lang="en-US" altLang="en-US" dirty="0">
                <a:latin typeface="+mn-lt"/>
              </a:rPr>
              <a:t>Exercise</a:t>
            </a:r>
          </a:p>
        </p:txBody>
      </p:sp>
    </p:spTree>
    <p:custDataLst>
      <p:tags r:id="rId1"/>
    </p:custDataLst>
    <p:extLst>
      <p:ext uri="{BB962C8B-B14F-4D97-AF65-F5344CB8AC3E}">
        <p14:creationId xmlns:p14="http://schemas.microsoft.com/office/powerpoint/2010/main" val="53275246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a:t>
            </a:r>
          </a:p>
        </p:txBody>
      </p:sp>
      <p:sp>
        <p:nvSpPr>
          <p:cNvPr id="2056" name="Rectangle 3"/>
          <p:cNvSpPr>
            <a:spLocks noGrp="1" noChangeArrowheads="1"/>
          </p:cNvSpPr>
          <p:nvPr>
            <p:ph idx="1"/>
            <p:custDataLst>
              <p:tags r:id="rId3"/>
            </p:custDataLst>
          </p:nvPr>
        </p:nvSpPr>
        <p:spPr>
          <a:xfrm>
            <a:off x="682625" y="1600199"/>
            <a:ext cx="8385175" cy="1645373"/>
          </a:xfrm>
        </p:spPr>
        <p:txBody>
          <a:bodyPr/>
          <a:lstStyle/>
          <a:p>
            <a:pPr marL="0" indent="0">
              <a:lnSpc>
                <a:spcPct val="80000"/>
              </a:lnSpc>
              <a:buNone/>
            </a:pPr>
            <a:r>
              <a:rPr lang="en-US" altLang="en-US" sz="2800" dirty="0"/>
              <a:t>With write-back, write-allocate caches and </a:t>
            </a:r>
            <a:r>
              <a:rPr lang="en-US" altLang="en-US" sz="2800" b="1" dirty="0"/>
              <a:t>coherence disabled</a:t>
            </a:r>
            <a:r>
              <a:rPr lang="en-US" altLang="en-US" sz="2800" dirty="0"/>
              <a:t>, show how it’s possible for the memory contents at addresses 2000 and 2004 (same block) to be 10 and 0 after executing this multithreaded program:</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31</a:t>
            </a:fld>
            <a:endParaRPr lang="en-US" altLang="en-US"/>
          </a:p>
        </p:txBody>
      </p:sp>
      <p:sp>
        <p:nvSpPr>
          <p:cNvPr id="36" name="Rectangle 4" descr=" 80">
            <a:extLst>
              <a:ext uri="{FF2B5EF4-FFF2-40B4-BE49-F238E27FC236}">
                <a16:creationId xmlns:a16="http://schemas.microsoft.com/office/drawing/2014/main" id="{B6008B2C-EA43-43B2-9586-A1132BE77AAD}"/>
              </a:ext>
            </a:extLst>
          </p:cNvPr>
          <p:cNvSpPr>
            <a:spLocks noChangeArrowheads="1"/>
          </p:cNvSpPr>
          <p:nvPr>
            <p:custDataLst>
              <p:tags r:id="rId5"/>
            </p:custDataLst>
          </p:nvPr>
        </p:nvSpPr>
        <p:spPr bwMode="auto">
          <a:xfrm>
            <a:off x="6958748" y="5274468"/>
            <a:ext cx="1373463"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Bus</a:t>
            </a:r>
          </a:p>
        </p:txBody>
      </p:sp>
      <p:cxnSp>
        <p:nvCxnSpPr>
          <p:cNvPr id="37" name="AutoShape 17" descr=" 81">
            <a:extLst>
              <a:ext uri="{FF2B5EF4-FFF2-40B4-BE49-F238E27FC236}">
                <a16:creationId xmlns:a16="http://schemas.microsoft.com/office/drawing/2014/main" id="{EEA4E342-0035-4774-9EAC-5CB522B9D13E}"/>
              </a:ext>
            </a:extLst>
          </p:cNvPr>
          <p:cNvCxnSpPr>
            <a:cxnSpLocks noChangeShapeType="1"/>
          </p:cNvCxnSpPr>
          <p:nvPr>
            <p:custDataLst>
              <p:tags r:id="rId6"/>
            </p:custDataLst>
          </p:nvPr>
        </p:nvCxnSpPr>
        <p:spPr bwMode="auto">
          <a:xfrm rot="5400000">
            <a:off x="8130323" y="4617243"/>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38" name="Line 10" descr=" 82">
            <a:extLst>
              <a:ext uri="{FF2B5EF4-FFF2-40B4-BE49-F238E27FC236}">
                <a16:creationId xmlns:a16="http://schemas.microsoft.com/office/drawing/2014/main" id="{0E613265-B02E-48F5-9AB6-8CB31B12EEA9}"/>
              </a:ext>
            </a:extLst>
          </p:cNvPr>
          <p:cNvSpPr>
            <a:spLocks noChangeShapeType="1"/>
          </p:cNvSpPr>
          <p:nvPr>
            <p:custDataLst>
              <p:tags r:id="rId7"/>
            </p:custDataLst>
          </p:nvPr>
        </p:nvSpPr>
        <p:spPr bwMode="auto">
          <a:xfrm>
            <a:off x="8216048" y="4985147"/>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cxnSp>
        <p:nvCxnSpPr>
          <p:cNvPr id="39" name="Straight Arrow Connector 38" descr=" 83">
            <a:extLst>
              <a:ext uri="{FF2B5EF4-FFF2-40B4-BE49-F238E27FC236}">
                <a16:creationId xmlns:a16="http://schemas.microsoft.com/office/drawing/2014/main" id="{106F649E-7F91-4B82-B0D2-FC1A909FB28E}"/>
              </a:ext>
            </a:extLst>
          </p:cNvPr>
          <p:cNvCxnSpPr>
            <a:stCxn id="36" idx="2"/>
            <a:endCxn id="41" idx="0"/>
          </p:cNvCxnSpPr>
          <p:nvPr/>
        </p:nvCxnSpPr>
        <p:spPr bwMode="auto">
          <a:xfrm rot="16200000" flipH="1">
            <a:off x="7531179" y="5670946"/>
            <a:ext cx="228600" cy="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40" name="Rectangle 21" descr=" 84">
            <a:extLst>
              <a:ext uri="{FF2B5EF4-FFF2-40B4-BE49-F238E27FC236}">
                <a16:creationId xmlns:a16="http://schemas.microsoft.com/office/drawing/2014/main" id="{031AD4F6-C9C8-4678-AA5C-4D2F30B5DF04}"/>
              </a:ext>
            </a:extLst>
          </p:cNvPr>
          <p:cNvSpPr>
            <a:spLocks noChangeArrowheads="1"/>
          </p:cNvSpPr>
          <p:nvPr>
            <p:custDataLst>
              <p:tags r:id="rId8"/>
            </p:custDataLst>
          </p:nvPr>
        </p:nvSpPr>
        <p:spPr bwMode="auto">
          <a:xfrm>
            <a:off x="7758848" y="4702968"/>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1800" dirty="0"/>
          </a:p>
        </p:txBody>
      </p:sp>
      <p:sp>
        <p:nvSpPr>
          <p:cNvPr id="41" name="Rectangle 21" descr=" 85">
            <a:extLst>
              <a:ext uri="{FF2B5EF4-FFF2-40B4-BE49-F238E27FC236}">
                <a16:creationId xmlns:a16="http://schemas.microsoft.com/office/drawing/2014/main" id="{27B9B97D-6359-4ACD-B662-63580C027B8D}"/>
              </a:ext>
            </a:extLst>
          </p:cNvPr>
          <p:cNvSpPr>
            <a:spLocks noChangeArrowheads="1"/>
          </p:cNvSpPr>
          <p:nvPr>
            <p:custDataLst>
              <p:tags r:id="rId9"/>
            </p:custDataLst>
          </p:nvPr>
        </p:nvSpPr>
        <p:spPr bwMode="auto">
          <a:xfrm>
            <a:off x="7202603" y="5785246"/>
            <a:ext cx="885754"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0, 0</a:t>
            </a:r>
            <a:endParaRPr lang="en-US" sz="1800" dirty="0">
              <a:solidFill>
                <a:srgbClr val="C00000"/>
              </a:solidFill>
            </a:endParaRPr>
          </a:p>
        </p:txBody>
      </p:sp>
      <p:sp>
        <p:nvSpPr>
          <p:cNvPr id="42" name="Rectangle 6" descr=" 86">
            <a:extLst>
              <a:ext uri="{FF2B5EF4-FFF2-40B4-BE49-F238E27FC236}">
                <a16:creationId xmlns:a16="http://schemas.microsoft.com/office/drawing/2014/main" id="{5EAB7B8F-B3EC-4F39-AC69-F3591E3C4882}"/>
              </a:ext>
            </a:extLst>
          </p:cNvPr>
          <p:cNvSpPr>
            <a:spLocks noChangeArrowheads="1"/>
          </p:cNvSpPr>
          <p:nvPr>
            <p:custDataLst>
              <p:tags r:id="rId10"/>
            </p:custDataLst>
          </p:nvPr>
        </p:nvSpPr>
        <p:spPr bwMode="auto">
          <a:xfrm>
            <a:off x="8021999" y="4245768"/>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B</a:t>
            </a:r>
          </a:p>
        </p:txBody>
      </p:sp>
      <p:cxnSp>
        <p:nvCxnSpPr>
          <p:cNvPr id="43" name="AutoShape 17" descr=" 87">
            <a:extLst>
              <a:ext uri="{FF2B5EF4-FFF2-40B4-BE49-F238E27FC236}">
                <a16:creationId xmlns:a16="http://schemas.microsoft.com/office/drawing/2014/main" id="{03501CEB-AF7F-4B75-9C15-F55C3E77EE4D}"/>
              </a:ext>
            </a:extLst>
          </p:cNvPr>
          <p:cNvCxnSpPr>
            <a:cxnSpLocks noChangeShapeType="1"/>
          </p:cNvCxnSpPr>
          <p:nvPr>
            <p:custDataLst>
              <p:tags r:id="rId11"/>
            </p:custDataLst>
          </p:nvPr>
        </p:nvCxnSpPr>
        <p:spPr bwMode="auto">
          <a:xfrm rot="5400000">
            <a:off x="7044473" y="4617243"/>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44" name="Line 10" descr=" 88">
            <a:extLst>
              <a:ext uri="{FF2B5EF4-FFF2-40B4-BE49-F238E27FC236}">
                <a16:creationId xmlns:a16="http://schemas.microsoft.com/office/drawing/2014/main" id="{4A48B31B-6366-4423-AFBE-FC35E67EBD86}"/>
              </a:ext>
            </a:extLst>
          </p:cNvPr>
          <p:cNvSpPr>
            <a:spLocks noChangeShapeType="1"/>
          </p:cNvSpPr>
          <p:nvPr>
            <p:custDataLst>
              <p:tags r:id="rId12"/>
            </p:custDataLst>
          </p:nvPr>
        </p:nvSpPr>
        <p:spPr bwMode="auto">
          <a:xfrm>
            <a:off x="7130198" y="4985147"/>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sp>
        <p:nvSpPr>
          <p:cNvPr id="45" name="Rectangle 21" descr=" 89">
            <a:extLst>
              <a:ext uri="{FF2B5EF4-FFF2-40B4-BE49-F238E27FC236}">
                <a16:creationId xmlns:a16="http://schemas.microsoft.com/office/drawing/2014/main" id="{BE177E92-E5AA-4E50-9EBB-81EFE633307D}"/>
              </a:ext>
            </a:extLst>
          </p:cNvPr>
          <p:cNvSpPr>
            <a:spLocks noChangeArrowheads="1"/>
          </p:cNvSpPr>
          <p:nvPr>
            <p:custDataLst>
              <p:tags r:id="rId13"/>
            </p:custDataLst>
          </p:nvPr>
        </p:nvSpPr>
        <p:spPr bwMode="auto">
          <a:xfrm>
            <a:off x="6672998" y="4702968"/>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1800" dirty="0"/>
          </a:p>
        </p:txBody>
      </p:sp>
      <p:sp>
        <p:nvSpPr>
          <p:cNvPr id="46" name="Rectangle 6" descr=" 90">
            <a:extLst>
              <a:ext uri="{FF2B5EF4-FFF2-40B4-BE49-F238E27FC236}">
                <a16:creationId xmlns:a16="http://schemas.microsoft.com/office/drawing/2014/main" id="{4B6DD09A-FEEE-41AF-AB90-899D0AC17AB5}"/>
              </a:ext>
            </a:extLst>
          </p:cNvPr>
          <p:cNvSpPr>
            <a:spLocks noChangeArrowheads="1"/>
          </p:cNvSpPr>
          <p:nvPr>
            <p:custDataLst>
              <p:tags r:id="rId14"/>
            </p:custDataLst>
          </p:nvPr>
        </p:nvSpPr>
        <p:spPr bwMode="auto">
          <a:xfrm>
            <a:off x="6936149" y="4245768"/>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A</a:t>
            </a:r>
          </a:p>
        </p:txBody>
      </p:sp>
      <p:sp>
        <p:nvSpPr>
          <p:cNvPr id="19" name="Rectangle 3">
            <a:extLst>
              <a:ext uri="{FF2B5EF4-FFF2-40B4-BE49-F238E27FC236}">
                <a16:creationId xmlns:a16="http://schemas.microsoft.com/office/drawing/2014/main" id="{8B1FDA96-2698-40B4-B623-89B08A3C7C37}"/>
              </a:ext>
            </a:extLst>
          </p:cNvPr>
          <p:cNvSpPr txBox="1">
            <a:spLocks noChangeArrowheads="1"/>
          </p:cNvSpPr>
          <p:nvPr>
            <p:custDataLst>
              <p:tags r:id="rId15"/>
            </p:custDataLst>
          </p:nvPr>
        </p:nvSpPr>
        <p:spPr bwMode="auto">
          <a:xfrm>
            <a:off x="106874" y="3365192"/>
            <a:ext cx="3093526" cy="3162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b="1" dirty="0">
                <a:latin typeface="Courier New" panose="02070309020205020404" pitchFamily="49" charset="0"/>
                <a:cs typeface="Courier New" panose="02070309020205020404" pitchFamily="49" charset="0"/>
              </a:rPr>
              <a:t>     # thread A</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$t0, $zero, 2000</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lw</a:t>
            </a:r>
            <a:r>
              <a:rPr lang="en-US" sz="1400" b="1" dirty="0">
                <a:latin typeface="Courier New" panose="02070309020205020404" pitchFamily="49" charset="0"/>
                <a:cs typeface="Courier New" panose="02070309020205020404" pitchFamily="49" charset="0"/>
              </a:rPr>
              <a:t>   $t1, 0($t0)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$t2, $t1, 1</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$t2, 0($t0)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$t3, $t1, 3</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$t3, 4($t0)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p:txBody>
      </p:sp>
      <p:sp>
        <p:nvSpPr>
          <p:cNvPr id="20" name="Rectangle 3">
            <a:extLst>
              <a:ext uri="{FF2B5EF4-FFF2-40B4-BE49-F238E27FC236}">
                <a16:creationId xmlns:a16="http://schemas.microsoft.com/office/drawing/2014/main" id="{EDA8CCD4-6AD8-4CD5-A079-B1E4E01C33ED}"/>
              </a:ext>
            </a:extLst>
          </p:cNvPr>
          <p:cNvSpPr txBox="1">
            <a:spLocks noChangeArrowheads="1"/>
          </p:cNvSpPr>
          <p:nvPr>
            <p:custDataLst>
              <p:tags r:id="rId16"/>
            </p:custDataLst>
          </p:nvPr>
        </p:nvSpPr>
        <p:spPr bwMode="auto">
          <a:xfrm>
            <a:off x="2819400" y="3365193"/>
            <a:ext cx="3093526" cy="3171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b="1" dirty="0">
                <a:latin typeface="Courier New" panose="02070309020205020404" pitchFamily="49" charset="0"/>
                <a:cs typeface="Courier New" panose="02070309020205020404" pitchFamily="49" charset="0"/>
              </a:rPr>
              <a:t>     # thread B</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$t0, $zero, 2000</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lw</a:t>
            </a:r>
            <a:r>
              <a:rPr lang="en-US" sz="1400" b="1" dirty="0">
                <a:latin typeface="Courier New" panose="02070309020205020404" pitchFamily="49" charset="0"/>
                <a:cs typeface="Courier New" panose="02070309020205020404" pitchFamily="49" charset="0"/>
              </a:rPr>
              <a:t>   $t1, 4($t0)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$t1, $t1, 5</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$t1, 4($t0)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lw</a:t>
            </a:r>
            <a:r>
              <a:rPr lang="en-US" sz="1400" b="1" dirty="0">
                <a:latin typeface="Courier New" panose="02070309020205020404" pitchFamily="49" charset="0"/>
                <a:cs typeface="Courier New" panose="02070309020205020404" pitchFamily="49" charset="0"/>
              </a:rPr>
              <a:t>   $t2, 0($t0)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$t2, $t2, 9</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$t2, 0($t0)</a:t>
            </a:r>
          </a:p>
          <a:p>
            <a:pPr marL="0" indent="0">
              <a:buNone/>
            </a:pPr>
            <a:r>
              <a:rPr lang="en-US" altLang="en-US" sz="1400" b="1" dirty="0">
                <a:latin typeface="Courier New" panose="02070309020205020404" pitchFamily="49" charset="0"/>
                <a:cs typeface="Courier New" panose="02070309020205020404" pitchFamily="49" charset="0"/>
              </a:rPr>
              <a:t>    </a:t>
            </a:r>
            <a:r>
              <a:rPr lang="en-US" sz="1400" b="1" dirty="0">
                <a:latin typeface="Courier New" panose="02070309020205020404" pitchFamily="49" charset="0"/>
                <a:cs typeface="Courier New" panose="02070309020205020404" pitchFamily="49" charset="0"/>
              </a:rPr>
              <a:t> ...</a:t>
            </a:r>
            <a:endParaRPr lang="en-US" altLang="en-US" sz="1400" b="1" dirty="0">
              <a:latin typeface="Courier New" panose="02070309020205020404" pitchFamily="49" charset="0"/>
              <a:cs typeface="Courier New" panose="02070309020205020404" pitchFamily="49" charset="0"/>
            </a:endParaRPr>
          </a:p>
        </p:txBody>
      </p:sp>
      <p:sp>
        <p:nvSpPr>
          <p:cNvPr id="18" name="TextBox 17">
            <a:extLst>
              <a:ext uri="{FF2B5EF4-FFF2-40B4-BE49-F238E27FC236}">
                <a16:creationId xmlns:a16="http://schemas.microsoft.com/office/drawing/2014/main" id="{97D7CAB2-31C3-4585-8D21-58E6B62CF9B4}"/>
              </a:ext>
            </a:extLst>
          </p:cNvPr>
          <p:cNvSpPr txBox="1"/>
          <p:nvPr>
            <p:custDataLst>
              <p:tags r:id="rId17"/>
            </p:custDataLst>
          </p:nvPr>
        </p:nvSpPr>
        <p:spPr>
          <a:xfrm>
            <a:off x="5916563" y="6116135"/>
            <a:ext cx="1703437" cy="420538"/>
          </a:xfrm>
          <a:prstGeom prst="rect">
            <a:avLst/>
          </a:prstGeom>
          <a:noFill/>
        </p:spPr>
        <p:txBody>
          <a:bodyPr wrap="square" rtlCol="0" anchor="ctr">
            <a:noAutofit/>
          </a:bodyPr>
          <a:lstStyle/>
          <a:p>
            <a:pPr algn="ctr"/>
            <a:r>
              <a:rPr lang="en-US" sz="1600" b="1" dirty="0">
                <a:latin typeface="Courier New" panose="02070309020205020404" pitchFamily="49" charset="0"/>
                <a:cs typeface="Courier New" panose="02070309020205020404" pitchFamily="49" charset="0"/>
              </a:rPr>
              <a:t>(2000)</a:t>
            </a:r>
          </a:p>
        </p:txBody>
      </p:sp>
      <p:cxnSp>
        <p:nvCxnSpPr>
          <p:cNvPr id="21" name="Straight Connector 20">
            <a:extLst>
              <a:ext uri="{FF2B5EF4-FFF2-40B4-BE49-F238E27FC236}">
                <a16:creationId xmlns:a16="http://schemas.microsoft.com/office/drawing/2014/main" id="{B89C4A6E-2024-4EE7-B73A-26030D715BEB}"/>
              </a:ext>
            </a:extLst>
          </p:cNvPr>
          <p:cNvCxnSpPr>
            <a:cxnSpLocks/>
          </p:cNvCxnSpPr>
          <p:nvPr/>
        </p:nvCxnSpPr>
        <p:spPr>
          <a:xfrm flipH="1">
            <a:off x="7047077" y="5982597"/>
            <a:ext cx="332025" cy="2449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89BFA62-D4BE-46F3-86D1-5D8130B915D7}"/>
              </a:ext>
            </a:extLst>
          </p:cNvPr>
          <p:cNvSpPr txBox="1"/>
          <p:nvPr>
            <p:custDataLst>
              <p:tags r:id="rId18"/>
            </p:custDataLst>
          </p:nvPr>
        </p:nvSpPr>
        <p:spPr>
          <a:xfrm>
            <a:off x="7543800" y="6107586"/>
            <a:ext cx="1703437" cy="420538"/>
          </a:xfrm>
          <a:prstGeom prst="rect">
            <a:avLst/>
          </a:prstGeom>
          <a:noFill/>
        </p:spPr>
        <p:txBody>
          <a:bodyPr wrap="square" rtlCol="0" anchor="ctr">
            <a:noAutofit/>
          </a:bodyPr>
          <a:lstStyle/>
          <a:p>
            <a:pPr algn="ctr"/>
            <a:r>
              <a:rPr lang="en-US" sz="1600" b="1" dirty="0">
                <a:latin typeface="Courier New" panose="02070309020205020404" pitchFamily="49" charset="0"/>
                <a:cs typeface="Courier New" panose="02070309020205020404" pitchFamily="49" charset="0"/>
              </a:rPr>
              <a:t>(2004)</a:t>
            </a:r>
          </a:p>
        </p:txBody>
      </p:sp>
      <p:cxnSp>
        <p:nvCxnSpPr>
          <p:cNvPr id="23" name="Straight Connector 22">
            <a:extLst>
              <a:ext uri="{FF2B5EF4-FFF2-40B4-BE49-F238E27FC236}">
                <a16:creationId xmlns:a16="http://schemas.microsoft.com/office/drawing/2014/main" id="{7F1DBAE4-4393-412E-ADBB-996316847A72}"/>
              </a:ext>
            </a:extLst>
          </p:cNvPr>
          <p:cNvCxnSpPr>
            <a:cxnSpLocks/>
          </p:cNvCxnSpPr>
          <p:nvPr/>
        </p:nvCxnSpPr>
        <p:spPr>
          <a:xfrm>
            <a:off x="7915102" y="5958405"/>
            <a:ext cx="332025" cy="2449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C2E6EC51-C99D-43F1-BE1C-41C5F002FCF3}"/>
              </a:ext>
            </a:extLst>
          </p:cNvPr>
          <p:cNvSpPr/>
          <p:nvPr>
            <p:custDataLst>
              <p:tags r:id="rId19"/>
            </p:custDataLst>
          </p:nvPr>
        </p:nvSpPr>
        <p:spPr>
          <a:xfrm>
            <a:off x="682625" y="3365191"/>
            <a:ext cx="2319849" cy="283388"/>
          </a:xfrm>
          <a:prstGeom prst="rect">
            <a:avLst/>
          </a:prstGeom>
          <a:solidFill>
            <a:schemeClr val="accent6">
              <a:lumMod val="7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BAF7E57-132B-4151-AD9A-EB0BE2EFC8DA}"/>
              </a:ext>
            </a:extLst>
          </p:cNvPr>
          <p:cNvSpPr/>
          <p:nvPr>
            <p:custDataLst>
              <p:tags r:id="rId20"/>
            </p:custDataLst>
          </p:nvPr>
        </p:nvSpPr>
        <p:spPr>
          <a:xfrm>
            <a:off x="3395151" y="3365191"/>
            <a:ext cx="2319849" cy="283388"/>
          </a:xfrm>
          <a:prstGeom prst="rect">
            <a:avLst/>
          </a:prstGeom>
          <a:solidFill>
            <a:schemeClr val="accent6">
              <a:lumMod val="7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42077631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a:t>
            </a:r>
          </a:p>
        </p:txBody>
      </p:sp>
      <p:sp>
        <p:nvSpPr>
          <p:cNvPr id="2056" name="Rectangle 3"/>
          <p:cNvSpPr>
            <a:spLocks noGrp="1" noChangeArrowheads="1"/>
          </p:cNvSpPr>
          <p:nvPr>
            <p:ph idx="1"/>
            <p:custDataLst>
              <p:tags r:id="rId3"/>
            </p:custDataLst>
          </p:nvPr>
        </p:nvSpPr>
        <p:spPr>
          <a:xfrm>
            <a:off x="682625" y="1600199"/>
            <a:ext cx="8385175" cy="1645373"/>
          </a:xfrm>
        </p:spPr>
        <p:txBody>
          <a:bodyPr/>
          <a:lstStyle/>
          <a:p>
            <a:pPr marL="0" indent="0">
              <a:lnSpc>
                <a:spcPct val="80000"/>
              </a:lnSpc>
              <a:buNone/>
            </a:pPr>
            <a:r>
              <a:rPr lang="en-US" altLang="en-US" sz="2800" dirty="0"/>
              <a:t>With write-back, write-allocate caches and </a:t>
            </a:r>
            <a:r>
              <a:rPr lang="en-US" altLang="en-US" sz="2800" b="1" dirty="0"/>
              <a:t>coherence disabled</a:t>
            </a:r>
            <a:r>
              <a:rPr lang="en-US" altLang="en-US" sz="2800" dirty="0"/>
              <a:t>, show how it’s possible for the memory contents at addresses 2000 and 2004 (same block) to be 10 and 0 after executing this multithreaded program:</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32</a:t>
            </a:fld>
            <a:endParaRPr lang="en-US" altLang="en-US"/>
          </a:p>
        </p:txBody>
      </p:sp>
      <p:sp>
        <p:nvSpPr>
          <p:cNvPr id="19" name="Rectangle 3">
            <a:extLst>
              <a:ext uri="{FF2B5EF4-FFF2-40B4-BE49-F238E27FC236}">
                <a16:creationId xmlns:a16="http://schemas.microsoft.com/office/drawing/2014/main" id="{8B1FDA96-2698-40B4-B623-89B08A3C7C37}"/>
              </a:ext>
            </a:extLst>
          </p:cNvPr>
          <p:cNvSpPr txBox="1">
            <a:spLocks noChangeArrowheads="1"/>
          </p:cNvSpPr>
          <p:nvPr>
            <p:custDataLst>
              <p:tags r:id="rId5"/>
            </p:custDataLst>
          </p:nvPr>
        </p:nvSpPr>
        <p:spPr bwMode="auto">
          <a:xfrm>
            <a:off x="106874" y="3365192"/>
            <a:ext cx="3093526" cy="3162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b="1" dirty="0">
                <a:latin typeface="Courier New" panose="02070309020205020404" pitchFamily="49" charset="0"/>
                <a:cs typeface="Courier New" panose="02070309020205020404" pitchFamily="49" charset="0"/>
              </a:rPr>
              <a:t>     # thread A</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$t0, $zero, 2000</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lw</a:t>
            </a:r>
            <a:r>
              <a:rPr lang="en-US" sz="1400" b="1" dirty="0">
                <a:latin typeface="Courier New" panose="02070309020205020404" pitchFamily="49" charset="0"/>
                <a:cs typeface="Courier New" panose="02070309020205020404" pitchFamily="49" charset="0"/>
              </a:rPr>
              <a:t>   $t1, 0($t0)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$t2, $t1, 1</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$t2, 0($t0)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$t3, $t1, 3</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$t3, 4($t0)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p:txBody>
      </p:sp>
      <p:sp>
        <p:nvSpPr>
          <p:cNvPr id="20" name="Rectangle 3">
            <a:extLst>
              <a:ext uri="{FF2B5EF4-FFF2-40B4-BE49-F238E27FC236}">
                <a16:creationId xmlns:a16="http://schemas.microsoft.com/office/drawing/2014/main" id="{EDA8CCD4-6AD8-4CD5-A079-B1E4E01C33ED}"/>
              </a:ext>
            </a:extLst>
          </p:cNvPr>
          <p:cNvSpPr txBox="1">
            <a:spLocks noChangeArrowheads="1"/>
          </p:cNvSpPr>
          <p:nvPr>
            <p:custDataLst>
              <p:tags r:id="rId6"/>
            </p:custDataLst>
          </p:nvPr>
        </p:nvSpPr>
        <p:spPr bwMode="auto">
          <a:xfrm>
            <a:off x="2819400" y="3365193"/>
            <a:ext cx="3093526" cy="3171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b="1" dirty="0">
                <a:latin typeface="Courier New" panose="02070309020205020404" pitchFamily="49" charset="0"/>
                <a:cs typeface="Courier New" panose="02070309020205020404" pitchFamily="49" charset="0"/>
              </a:rPr>
              <a:t>     # thread B</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$t0, $zero, 2000</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lw</a:t>
            </a:r>
            <a:r>
              <a:rPr lang="en-US" sz="1400" b="1" dirty="0">
                <a:latin typeface="Courier New" panose="02070309020205020404" pitchFamily="49" charset="0"/>
                <a:cs typeface="Courier New" panose="02070309020205020404" pitchFamily="49" charset="0"/>
              </a:rPr>
              <a:t>   $t1, 4($t0)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$t1, $t1, 5</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$t1, 4($t0)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lw</a:t>
            </a:r>
            <a:r>
              <a:rPr lang="en-US" sz="1400" b="1" dirty="0">
                <a:latin typeface="Courier New" panose="02070309020205020404" pitchFamily="49" charset="0"/>
                <a:cs typeface="Courier New" panose="02070309020205020404" pitchFamily="49" charset="0"/>
              </a:rPr>
              <a:t>   $t2, 0($t0)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$t2, $t2, 9</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$t2, 0($t0)</a:t>
            </a:r>
          </a:p>
          <a:p>
            <a:pPr marL="0" indent="0">
              <a:buNone/>
            </a:pPr>
            <a:r>
              <a:rPr lang="en-US" altLang="en-US" sz="1400" b="1" dirty="0">
                <a:latin typeface="Courier New" panose="02070309020205020404" pitchFamily="49" charset="0"/>
                <a:cs typeface="Courier New" panose="02070309020205020404" pitchFamily="49" charset="0"/>
              </a:rPr>
              <a:t>    </a:t>
            </a:r>
            <a:r>
              <a:rPr lang="en-US" sz="1400" b="1" dirty="0">
                <a:latin typeface="Courier New" panose="02070309020205020404" pitchFamily="49" charset="0"/>
                <a:cs typeface="Courier New" panose="02070309020205020404" pitchFamily="49" charset="0"/>
              </a:rPr>
              <a:t> ...</a:t>
            </a:r>
            <a:endParaRPr lang="en-US" altLang="en-US" sz="1400" b="1" dirty="0">
              <a:latin typeface="Courier New" panose="02070309020205020404" pitchFamily="49" charset="0"/>
              <a:cs typeface="Courier New" panose="02070309020205020404" pitchFamily="49" charset="0"/>
            </a:endParaRPr>
          </a:p>
        </p:txBody>
      </p:sp>
      <p:sp>
        <p:nvSpPr>
          <p:cNvPr id="24" name="Rectangle 23">
            <a:extLst>
              <a:ext uri="{FF2B5EF4-FFF2-40B4-BE49-F238E27FC236}">
                <a16:creationId xmlns:a16="http://schemas.microsoft.com/office/drawing/2014/main" id="{C2E6EC51-C99D-43F1-BE1C-41C5F002FCF3}"/>
              </a:ext>
            </a:extLst>
          </p:cNvPr>
          <p:cNvSpPr/>
          <p:nvPr>
            <p:custDataLst>
              <p:tags r:id="rId7"/>
            </p:custDataLst>
          </p:nvPr>
        </p:nvSpPr>
        <p:spPr>
          <a:xfrm>
            <a:off x="682625" y="3365190"/>
            <a:ext cx="2319849" cy="825809"/>
          </a:xfrm>
          <a:prstGeom prst="rect">
            <a:avLst/>
          </a:prstGeom>
          <a:solidFill>
            <a:schemeClr val="accent6">
              <a:lumMod val="7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BAF7E57-132B-4151-AD9A-EB0BE2EFC8DA}"/>
              </a:ext>
            </a:extLst>
          </p:cNvPr>
          <p:cNvSpPr/>
          <p:nvPr>
            <p:custDataLst>
              <p:tags r:id="rId8"/>
            </p:custDataLst>
          </p:nvPr>
        </p:nvSpPr>
        <p:spPr>
          <a:xfrm>
            <a:off x="3395151" y="3365190"/>
            <a:ext cx="2319849" cy="1572331"/>
          </a:xfrm>
          <a:prstGeom prst="rect">
            <a:avLst/>
          </a:prstGeom>
          <a:solidFill>
            <a:schemeClr val="accent6">
              <a:lumMod val="7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4" descr=" 80">
            <a:extLst>
              <a:ext uri="{FF2B5EF4-FFF2-40B4-BE49-F238E27FC236}">
                <a16:creationId xmlns:a16="http://schemas.microsoft.com/office/drawing/2014/main" id="{3077D0D6-128E-4646-94B7-ABB1B70DA320}"/>
              </a:ext>
            </a:extLst>
          </p:cNvPr>
          <p:cNvSpPr>
            <a:spLocks noChangeArrowheads="1"/>
          </p:cNvSpPr>
          <p:nvPr>
            <p:custDataLst>
              <p:tags r:id="rId9"/>
            </p:custDataLst>
          </p:nvPr>
        </p:nvSpPr>
        <p:spPr bwMode="auto">
          <a:xfrm>
            <a:off x="6958748" y="5274468"/>
            <a:ext cx="1373463"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Bus</a:t>
            </a:r>
          </a:p>
        </p:txBody>
      </p:sp>
      <p:cxnSp>
        <p:nvCxnSpPr>
          <p:cNvPr id="27" name="AutoShape 17" descr=" 81">
            <a:extLst>
              <a:ext uri="{FF2B5EF4-FFF2-40B4-BE49-F238E27FC236}">
                <a16:creationId xmlns:a16="http://schemas.microsoft.com/office/drawing/2014/main" id="{036B6041-4EB0-4C0A-A65B-431B65E650F4}"/>
              </a:ext>
            </a:extLst>
          </p:cNvPr>
          <p:cNvCxnSpPr>
            <a:cxnSpLocks noChangeShapeType="1"/>
          </p:cNvCxnSpPr>
          <p:nvPr>
            <p:custDataLst>
              <p:tags r:id="rId10"/>
            </p:custDataLst>
          </p:nvPr>
        </p:nvCxnSpPr>
        <p:spPr bwMode="auto">
          <a:xfrm rot="5400000">
            <a:off x="8130323" y="4617243"/>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28" name="Line 10" descr=" 82">
            <a:extLst>
              <a:ext uri="{FF2B5EF4-FFF2-40B4-BE49-F238E27FC236}">
                <a16:creationId xmlns:a16="http://schemas.microsoft.com/office/drawing/2014/main" id="{D624EF81-20D7-43E4-BC02-433C7483DB03}"/>
              </a:ext>
            </a:extLst>
          </p:cNvPr>
          <p:cNvSpPr>
            <a:spLocks noChangeShapeType="1"/>
          </p:cNvSpPr>
          <p:nvPr>
            <p:custDataLst>
              <p:tags r:id="rId11"/>
            </p:custDataLst>
          </p:nvPr>
        </p:nvSpPr>
        <p:spPr bwMode="auto">
          <a:xfrm>
            <a:off x="8216048" y="4985147"/>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cxnSp>
        <p:nvCxnSpPr>
          <p:cNvPr id="29" name="Straight Arrow Connector 28" descr=" 83">
            <a:extLst>
              <a:ext uri="{FF2B5EF4-FFF2-40B4-BE49-F238E27FC236}">
                <a16:creationId xmlns:a16="http://schemas.microsoft.com/office/drawing/2014/main" id="{C8612D23-B393-4F6F-A8C9-18348D41FE00}"/>
              </a:ext>
            </a:extLst>
          </p:cNvPr>
          <p:cNvCxnSpPr>
            <a:stCxn id="26" idx="2"/>
            <a:endCxn id="31" idx="0"/>
          </p:cNvCxnSpPr>
          <p:nvPr/>
        </p:nvCxnSpPr>
        <p:spPr bwMode="auto">
          <a:xfrm rot="16200000" flipH="1">
            <a:off x="7531179" y="5670946"/>
            <a:ext cx="228600" cy="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30" name="Rectangle 21" descr=" 84">
            <a:extLst>
              <a:ext uri="{FF2B5EF4-FFF2-40B4-BE49-F238E27FC236}">
                <a16:creationId xmlns:a16="http://schemas.microsoft.com/office/drawing/2014/main" id="{C99A4FD2-3BF9-4A68-BA48-0594450FFFF4}"/>
              </a:ext>
            </a:extLst>
          </p:cNvPr>
          <p:cNvSpPr>
            <a:spLocks noChangeArrowheads="1"/>
          </p:cNvSpPr>
          <p:nvPr>
            <p:custDataLst>
              <p:tags r:id="rId12"/>
            </p:custDataLst>
          </p:nvPr>
        </p:nvSpPr>
        <p:spPr bwMode="auto">
          <a:xfrm>
            <a:off x="7758848" y="4702968"/>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0, </a:t>
            </a:r>
            <a:r>
              <a:rPr lang="en-US" sz="1500" b="1" dirty="0"/>
              <a:t>5</a:t>
            </a:r>
            <a:endParaRPr lang="en-US" sz="1800" b="1" dirty="0"/>
          </a:p>
        </p:txBody>
      </p:sp>
      <p:sp>
        <p:nvSpPr>
          <p:cNvPr id="31" name="Rectangle 21" descr=" 85">
            <a:extLst>
              <a:ext uri="{FF2B5EF4-FFF2-40B4-BE49-F238E27FC236}">
                <a16:creationId xmlns:a16="http://schemas.microsoft.com/office/drawing/2014/main" id="{7A53CCD2-629C-4EAD-ADDF-6DC8DCD732FC}"/>
              </a:ext>
            </a:extLst>
          </p:cNvPr>
          <p:cNvSpPr>
            <a:spLocks noChangeArrowheads="1"/>
          </p:cNvSpPr>
          <p:nvPr>
            <p:custDataLst>
              <p:tags r:id="rId13"/>
            </p:custDataLst>
          </p:nvPr>
        </p:nvSpPr>
        <p:spPr bwMode="auto">
          <a:xfrm>
            <a:off x="7202603" y="5785246"/>
            <a:ext cx="885754"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0, 0</a:t>
            </a:r>
            <a:endParaRPr lang="en-US" sz="1800" dirty="0">
              <a:solidFill>
                <a:srgbClr val="C00000"/>
              </a:solidFill>
            </a:endParaRPr>
          </a:p>
        </p:txBody>
      </p:sp>
      <p:sp>
        <p:nvSpPr>
          <p:cNvPr id="32" name="Rectangle 6" descr=" 86">
            <a:extLst>
              <a:ext uri="{FF2B5EF4-FFF2-40B4-BE49-F238E27FC236}">
                <a16:creationId xmlns:a16="http://schemas.microsoft.com/office/drawing/2014/main" id="{F5D29667-FF57-4C16-A645-A21908581310}"/>
              </a:ext>
            </a:extLst>
          </p:cNvPr>
          <p:cNvSpPr>
            <a:spLocks noChangeArrowheads="1"/>
          </p:cNvSpPr>
          <p:nvPr>
            <p:custDataLst>
              <p:tags r:id="rId14"/>
            </p:custDataLst>
          </p:nvPr>
        </p:nvSpPr>
        <p:spPr bwMode="auto">
          <a:xfrm>
            <a:off x="8021999" y="4245768"/>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B</a:t>
            </a:r>
          </a:p>
        </p:txBody>
      </p:sp>
      <p:cxnSp>
        <p:nvCxnSpPr>
          <p:cNvPr id="33" name="AutoShape 17" descr=" 87">
            <a:extLst>
              <a:ext uri="{FF2B5EF4-FFF2-40B4-BE49-F238E27FC236}">
                <a16:creationId xmlns:a16="http://schemas.microsoft.com/office/drawing/2014/main" id="{A2E69F0F-0D91-42A7-8528-15D831A68D05}"/>
              </a:ext>
            </a:extLst>
          </p:cNvPr>
          <p:cNvCxnSpPr>
            <a:cxnSpLocks noChangeShapeType="1"/>
          </p:cNvCxnSpPr>
          <p:nvPr>
            <p:custDataLst>
              <p:tags r:id="rId15"/>
            </p:custDataLst>
          </p:nvPr>
        </p:nvCxnSpPr>
        <p:spPr bwMode="auto">
          <a:xfrm rot="5400000">
            <a:off x="7044473" y="4617243"/>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34" name="Line 10" descr=" 88">
            <a:extLst>
              <a:ext uri="{FF2B5EF4-FFF2-40B4-BE49-F238E27FC236}">
                <a16:creationId xmlns:a16="http://schemas.microsoft.com/office/drawing/2014/main" id="{C80C2E95-7E09-4352-ABB8-D03AB56D3C82}"/>
              </a:ext>
            </a:extLst>
          </p:cNvPr>
          <p:cNvSpPr>
            <a:spLocks noChangeShapeType="1"/>
          </p:cNvSpPr>
          <p:nvPr>
            <p:custDataLst>
              <p:tags r:id="rId16"/>
            </p:custDataLst>
          </p:nvPr>
        </p:nvSpPr>
        <p:spPr bwMode="auto">
          <a:xfrm>
            <a:off x="7130198" y="4985147"/>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sp>
        <p:nvSpPr>
          <p:cNvPr id="35" name="Rectangle 21" descr=" 89">
            <a:extLst>
              <a:ext uri="{FF2B5EF4-FFF2-40B4-BE49-F238E27FC236}">
                <a16:creationId xmlns:a16="http://schemas.microsoft.com/office/drawing/2014/main" id="{7565BBA9-1C94-4C2B-A329-3987D7E79767}"/>
              </a:ext>
            </a:extLst>
          </p:cNvPr>
          <p:cNvSpPr>
            <a:spLocks noChangeArrowheads="1"/>
          </p:cNvSpPr>
          <p:nvPr>
            <p:custDataLst>
              <p:tags r:id="rId17"/>
            </p:custDataLst>
          </p:nvPr>
        </p:nvSpPr>
        <p:spPr bwMode="auto">
          <a:xfrm>
            <a:off x="6672998" y="4702968"/>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0, 0</a:t>
            </a:r>
            <a:endParaRPr lang="en-US" sz="1800" dirty="0"/>
          </a:p>
        </p:txBody>
      </p:sp>
      <p:sp>
        <p:nvSpPr>
          <p:cNvPr id="47" name="Rectangle 6" descr=" 90">
            <a:extLst>
              <a:ext uri="{FF2B5EF4-FFF2-40B4-BE49-F238E27FC236}">
                <a16:creationId xmlns:a16="http://schemas.microsoft.com/office/drawing/2014/main" id="{32122AA4-EA10-4126-98A8-B9CD52213D76}"/>
              </a:ext>
            </a:extLst>
          </p:cNvPr>
          <p:cNvSpPr>
            <a:spLocks noChangeArrowheads="1"/>
          </p:cNvSpPr>
          <p:nvPr>
            <p:custDataLst>
              <p:tags r:id="rId18"/>
            </p:custDataLst>
          </p:nvPr>
        </p:nvSpPr>
        <p:spPr bwMode="auto">
          <a:xfrm>
            <a:off x="6936149" y="4245768"/>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A</a:t>
            </a:r>
          </a:p>
        </p:txBody>
      </p:sp>
      <p:sp>
        <p:nvSpPr>
          <p:cNvPr id="48" name="Text Box 11" descr=" 9">
            <a:extLst>
              <a:ext uri="{FF2B5EF4-FFF2-40B4-BE49-F238E27FC236}">
                <a16:creationId xmlns:a16="http://schemas.microsoft.com/office/drawing/2014/main" id="{ACE2A6A1-2F6D-444A-84D1-1F29F6C39D0F}"/>
              </a:ext>
            </a:extLst>
          </p:cNvPr>
          <p:cNvSpPr txBox="1">
            <a:spLocks noChangeArrowheads="1"/>
          </p:cNvSpPr>
          <p:nvPr>
            <p:custDataLst>
              <p:tags r:id="rId19"/>
            </p:custDataLst>
          </p:nvPr>
        </p:nvSpPr>
        <p:spPr bwMode="auto">
          <a:xfrm>
            <a:off x="7860015" y="3923407"/>
            <a:ext cx="701538" cy="307777"/>
          </a:xfrm>
          <a:prstGeom prst="rect">
            <a:avLst/>
          </a:prstGeom>
          <a:noFill/>
          <a:ln w="12700">
            <a:noFill/>
            <a:miter lim="800000"/>
            <a:headEnd type="none" w="sm" len="sm"/>
            <a:tailEnd type="none" w="sm" len="sm"/>
          </a:ln>
        </p:spPr>
        <p:txBody>
          <a:bodyPr wrap="none">
            <a:spAutoFit/>
          </a:bodyPr>
          <a:lstStyle/>
          <a:p>
            <a:pPr algn="ctr"/>
            <a:r>
              <a:rPr lang="en-US" sz="1400" dirty="0">
                <a:latin typeface="Calibri" pitchFamily="34" charset="0"/>
              </a:rPr>
              <a:t>Store 5</a:t>
            </a:r>
          </a:p>
        </p:txBody>
      </p:sp>
      <p:sp>
        <p:nvSpPr>
          <p:cNvPr id="49" name="Text Box 11" descr=" 9">
            <a:extLst>
              <a:ext uri="{FF2B5EF4-FFF2-40B4-BE49-F238E27FC236}">
                <a16:creationId xmlns:a16="http://schemas.microsoft.com/office/drawing/2014/main" id="{0AF5DFB5-32E9-44B1-8370-4BEBB2BC3B70}"/>
              </a:ext>
            </a:extLst>
          </p:cNvPr>
          <p:cNvSpPr txBox="1">
            <a:spLocks noChangeArrowheads="1"/>
          </p:cNvSpPr>
          <p:nvPr>
            <p:custDataLst>
              <p:tags r:id="rId20"/>
            </p:custDataLst>
          </p:nvPr>
        </p:nvSpPr>
        <p:spPr bwMode="auto">
          <a:xfrm>
            <a:off x="7860014" y="3730823"/>
            <a:ext cx="667170" cy="307777"/>
          </a:xfrm>
          <a:prstGeom prst="rect">
            <a:avLst/>
          </a:prstGeom>
          <a:noFill/>
          <a:ln w="12700">
            <a:noFill/>
            <a:miter lim="800000"/>
            <a:headEnd type="none" w="sm" len="sm"/>
            <a:tailEnd type="none" w="sm" len="sm"/>
          </a:ln>
        </p:spPr>
        <p:txBody>
          <a:bodyPr wrap="none">
            <a:spAutoFit/>
          </a:bodyPr>
          <a:lstStyle/>
          <a:p>
            <a:pPr algn="ctr"/>
            <a:r>
              <a:rPr lang="en-US" sz="1400" dirty="0">
                <a:latin typeface="Calibri" pitchFamily="34" charset="0"/>
              </a:rPr>
              <a:t>Load 0</a:t>
            </a:r>
          </a:p>
        </p:txBody>
      </p:sp>
      <p:sp>
        <p:nvSpPr>
          <p:cNvPr id="50" name="Text Box 11" descr=" 9">
            <a:extLst>
              <a:ext uri="{FF2B5EF4-FFF2-40B4-BE49-F238E27FC236}">
                <a16:creationId xmlns:a16="http://schemas.microsoft.com/office/drawing/2014/main" id="{D3773CDE-A23D-47AB-9D38-AF30F2B2EE34}"/>
              </a:ext>
            </a:extLst>
          </p:cNvPr>
          <p:cNvSpPr txBox="1">
            <a:spLocks noChangeArrowheads="1"/>
          </p:cNvSpPr>
          <p:nvPr>
            <p:custDataLst>
              <p:tags r:id="rId21"/>
            </p:custDataLst>
          </p:nvPr>
        </p:nvSpPr>
        <p:spPr bwMode="auto">
          <a:xfrm>
            <a:off x="6751285" y="3959423"/>
            <a:ext cx="667170" cy="307777"/>
          </a:xfrm>
          <a:prstGeom prst="rect">
            <a:avLst/>
          </a:prstGeom>
          <a:noFill/>
          <a:ln w="12700">
            <a:noFill/>
            <a:miter lim="800000"/>
            <a:headEnd type="none" w="sm" len="sm"/>
            <a:tailEnd type="none" w="sm" len="sm"/>
          </a:ln>
        </p:spPr>
        <p:txBody>
          <a:bodyPr wrap="none">
            <a:spAutoFit/>
          </a:bodyPr>
          <a:lstStyle/>
          <a:p>
            <a:pPr algn="ctr"/>
            <a:r>
              <a:rPr lang="en-US" sz="1400" dirty="0">
                <a:latin typeface="Calibri" pitchFamily="34" charset="0"/>
              </a:rPr>
              <a:t>Load 0</a:t>
            </a:r>
          </a:p>
        </p:txBody>
      </p:sp>
    </p:spTree>
    <p:custDataLst>
      <p:tags r:id="rId1"/>
    </p:custDataLst>
    <p:extLst>
      <p:ext uri="{BB962C8B-B14F-4D97-AF65-F5344CB8AC3E}">
        <p14:creationId xmlns:p14="http://schemas.microsoft.com/office/powerpoint/2010/main" val="28006522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a:t>
            </a:r>
          </a:p>
        </p:txBody>
      </p:sp>
      <p:sp>
        <p:nvSpPr>
          <p:cNvPr id="2056" name="Rectangle 3"/>
          <p:cNvSpPr>
            <a:spLocks noGrp="1" noChangeArrowheads="1"/>
          </p:cNvSpPr>
          <p:nvPr>
            <p:ph idx="1"/>
            <p:custDataLst>
              <p:tags r:id="rId3"/>
            </p:custDataLst>
          </p:nvPr>
        </p:nvSpPr>
        <p:spPr>
          <a:xfrm>
            <a:off x="682625" y="1600199"/>
            <a:ext cx="8385175" cy="1645373"/>
          </a:xfrm>
        </p:spPr>
        <p:txBody>
          <a:bodyPr/>
          <a:lstStyle/>
          <a:p>
            <a:pPr marL="0" indent="0">
              <a:lnSpc>
                <a:spcPct val="80000"/>
              </a:lnSpc>
              <a:buNone/>
            </a:pPr>
            <a:r>
              <a:rPr lang="en-US" altLang="en-US" sz="2800" dirty="0"/>
              <a:t>With write-back, write-allocate caches and </a:t>
            </a:r>
            <a:r>
              <a:rPr lang="en-US" altLang="en-US" sz="2800" b="1" dirty="0"/>
              <a:t>coherence disabled</a:t>
            </a:r>
            <a:r>
              <a:rPr lang="en-US" altLang="en-US" sz="2800" dirty="0"/>
              <a:t>, show how it’s possible for the memory contents at addresses 2000 and 2004 (same block) to be 10 and 0 after executing this multithreaded program:</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33</a:t>
            </a:fld>
            <a:endParaRPr lang="en-US" altLang="en-US"/>
          </a:p>
        </p:txBody>
      </p:sp>
      <p:sp>
        <p:nvSpPr>
          <p:cNvPr id="19" name="Rectangle 3">
            <a:extLst>
              <a:ext uri="{FF2B5EF4-FFF2-40B4-BE49-F238E27FC236}">
                <a16:creationId xmlns:a16="http://schemas.microsoft.com/office/drawing/2014/main" id="{8B1FDA96-2698-40B4-B623-89B08A3C7C37}"/>
              </a:ext>
            </a:extLst>
          </p:cNvPr>
          <p:cNvSpPr txBox="1">
            <a:spLocks noChangeArrowheads="1"/>
          </p:cNvSpPr>
          <p:nvPr>
            <p:custDataLst>
              <p:tags r:id="rId5"/>
            </p:custDataLst>
          </p:nvPr>
        </p:nvSpPr>
        <p:spPr bwMode="auto">
          <a:xfrm>
            <a:off x="106874" y="3365192"/>
            <a:ext cx="3093526" cy="3162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b="1" dirty="0">
                <a:latin typeface="Courier New" panose="02070309020205020404" pitchFamily="49" charset="0"/>
                <a:cs typeface="Courier New" panose="02070309020205020404" pitchFamily="49" charset="0"/>
              </a:rPr>
              <a:t>     # thread A</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$t0, $zero, 2000</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lw</a:t>
            </a:r>
            <a:r>
              <a:rPr lang="en-US" sz="1400" b="1" dirty="0">
                <a:latin typeface="Courier New" panose="02070309020205020404" pitchFamily="49" charset="0"/>
                <a:cs typeface="Courier New" panose="02070309020205020404" pitchFamily="49" charset="0"/>
              </a:rPr>
              <a:t>   $t1, 0($t0)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$t2, $t1, 1</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$t2, 0($t0)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$t3, $t1, 3</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$t3, 4($t0)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p:txBody>
      </p:sp>
      <p:sp>
        <p:nvSpPr>
          <p:cNvPr id="20" name="Rectangle 3">
            <a:extLst>
              <a:ext uri="{FF2B5EF4-FFF2-40B4-BE49-F238E27FC236}">
                <a16:creationId xmlns:a16="http://schemas.microsoft.com/office/drawing/2014/main" id="{EDA8CCD4-6AD8-4CD5-A079-B1E4E01C33ED}"/>
              </a:ext>
            </a:extLst>
          </p:cNvPr>
          <p:cNvSpPr txBox="1">
            <a:spLocks noChangeArrowheads="1"/>
          </p:cNvSpPr>
          <p:nvPr>
            <p:custDataLst>
              <p:tags r:id="rId6"/>
            </p:custDataLst>
          </p:nvPr>
        </p:nvSpPr>
        <p:spPr bwMode="auto">
          <a:xfrm>
            <a:off x="2819400" y="3365193"/>
            <a:ext cx="3093526" cy="3171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b="1" dirty="0">
                <a:latin typeface="Courier New" panose="02070309020205020404" pitchFamily="49" charset="0"/>
                <a:cs typeface="Courier New" panose="02070309020205020404" pitchFamily="49" charset="0"/>
              </a:rPr>
              <a:t>     # thread B</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$t0, $zero, 2000</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lw</a:t>
            </a:r>
            <a:r>
              <a:rPr lang="en-US" sz="1400" b="1" dirty="0">
                <a:latin typeface="Courier New" panose="02070309020205020404" pitchFamily="49" charset="0"/>
                <a:cs typeface="Courier New" panose="02070309020205020404" pitchFamily="49" charset="0"/>
              </a:rPr>
              <a:t>   $t1, 4($t0)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$t1, $t1, 5</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$t1, 4($t0)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lw</a:t>
            </a:r>
            <a:r>
              <a:rPr lang="en-US" sz="1400" b="1" dirty="0">
                <a:latin typeface="Courier New" panose="02070309020205020404" pitchFamily="49" charset="0"/>
                <a:cs typeface="Courier New" panose="02070309020205020404" pitchFamily="49" charset="0"/>
              </a:rPr>
              <a:t>   $t2, 0($t0)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$t2, $t2, 9</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$t2, 0($t0)</a:t>
            </a:r>
          </a:p>
          <a:p>
            <a:pPr marL="0" indent="0">
              <a:buNone/>
            </a:pPr>
            <a:r>
              <a:rPr lang="en-US" altLang="en-US" sz="1400" b="1" dirty="0">
                <a:latin typeface="Courier New" panose="02070309020205020404" pitchFamily="49" charset="0"/>
                <a:cs typeface="Courier New" panose="02070309020205020404" pitchFamily="49" charset="0"/>
              </a:rPr>
              <a:t>    </a:t>
            </a:r>
            <a:r>
              <a:rPr lang="en-US" sz="1400" b="1" dirty="0">
                <a:latin typeface="Courier New" panose="02070309020205020404" pitchFamily="49" charset="0"/>
                <a:cs typeface="Courier New" panose="02070309020205020404" pitchFamily="49" charset="0"/>
              </a:rPr>
              <a:t> ...</a:t>
            </a:r>
            <a:endParaRPr lang="en-US" altLang="en-US" sz="1400" b="1" dirty="0">
              <a:latin typeface="Courier New" panose="02070309020205020404" pitchFamily="49" charset="0"/>
              <a:cs typeface="Courier New" panose="02070309020205020404" pitchFamily="49" charset="0"/>
            </a:endParaRPr>
          </a:p>
        </p:txBody>
      </p:sp>
      <p:sp>
        <p:nvSpPr>
          <p:cNvPr id="24" name="Rectangle 23">
            <a:extLst>
              <a:ext uri="{FF2B5EF4-FFF2-40B4-BE49-F238E27FC236}">
                <a16:creationId xmlns:a16="http://schemas.microsoft.com/office/drawing/2014/main" id="{C2E6EC51-C99D-43F1-BE1C-41C5F002FCF3}"/>
              </a:ext>
            </a:extLst>
          </p:cNvPr>
          <p:cNvSpPr/>
          <p:nvPr>
            <p:custDataLst>
              <p:tags r:id="rId7"/>
            </p:custDataLst>
          </p:nvPr>
        </p:nvSpPr>
        <p:spPr>
          <a:xfrm>
            <a:off x="682625" y="3365190"/>
            <a:ext cx="2319849" cy="825809"/>
          </a:xfrm>
          <a:prstGeom prst="rect">
            <a:avLst/>
          </a:prstGeom>
          <a:solidFill>
            <a:schemeClr val="accent6">
              <a:lumMod val="7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BAF7E57-132B-4151-AD9A-EB0BE2EFC8DA}"/>
              </a:ext>
            </a:extLst>
          </p:cNvPr>
          <p:cNvSpPr/>
          <p:nvPr>
            <p:custDataLst>
              <p:tags r:id="rId8"/>
            </p:custDataLst>
          </p:nvPr>
        </p:nvSpPr>
        <p:spPr>
          <a:xfrm>
            <a:off x="3395151" y="3365190"/>
            <a:ext cx="2319849" cy="1816410"/>
          </a:xfrm>
          <a:prstGeom prst="rect">
            <a:avLst/>
          </a:prstGeom>
          <a:solidFill>
            <a:schemeClr val="accent6">
              <a:lumMod val="7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4" descr=" 80">
            <a:extLst>
              <a:ext uri="{FF2B5EF4-FFF2-40B4-BE49-F238E27FC236}">
                <a16:creationId xmlns:a16="http://schemas.microsoft.com/office/drawing/2014/main" id="{294DE176-1D6B-4CA7-ADBA-A0579551BE8A}"/>
              </a:ext>
            </a:extLst>
          </p:cNvPr>
          <p:cNvSpPr>
            <a:spLocks noChangeArrowheads="1"/>
          </p:cNvSpPr>
          <p:nvPr>
            <p:custDataLst>
              <p:tags r:id="rId9"/>
            </p:custDataLst>
          </p:nvPr>
        </p:nvSpPr>
        <p:spPr bwMode="auto">
          <a:xfrm>
            <a:off x="6958748" y="5274468"/>
            <a:ext cx="1373463"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Bus</a:t>
            </a:r>
          </a:p>
        </p:txBody>
      </p:sp>
      <p:cxnSp>
        <p:nvCxnSpPr>
          <p:cNvPr id="36" name="AutoShape 17" descr=" 81">
            <a:extLst>
              <a:ext uri="{FF2B5EF4-FFF2-40B4-BE49-F238E27FC236}">
                <a16:creationId xmlns:a16="http://schemas.microsoft.com/office/drawing/2014/main" id="{0E353ADE-B567-4BFA-9157-BBB4E8EE9DA4}"/>
              </a:ext>
            </a:extLst>
          </p:cNvPr>
          <p:cNvCxnSpPr>
            <a:cxnSpLocks noChangeShapeType="1"/>
          </p:cNvCxnSpPr>
          <p:nvPr>
            <p:custDataLst>
              <p:tags r:id="rId10"/>
            </p:custDataLst>
          </p:nvPr>
        </p:nvCxnSpPr>
        <p:spPr bwMode="auto">
          <a:xfrm rot="5400000">
            <a:off x="8130323" y="4617243"/>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37" name="Line 10" descr=" 82">
            <a:extLst>
              <a:ext uri="{FF2B5EF4-FFF2-40B4-BE49-F238E27FC236}">
                <a16:creationId xmlns:a16="http://schemas.microsoft.com/office/drawing/2014/main" id="{8203775D-53FF-4E9E-8223-205B63B5AD54}"/>
              </a:ext>
            </a:extLst>
          </p:cNvPr>
          <p:cNvSpPr>
            <a:spLocks noChangeShapeType="1"/>
          </p:cNvSpPr>
          <p:nvPr>
            <p:custDataLst>
              <p:tags r:id="rId11"/>
            </p:custDataLst>
          </p:nvPr>
        </p:nvSpPr>
        <p:spPr bwMode="auto">
          <a:xfrm>
            <a:off x="8216048" y="4985147"/>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cxnSp>
        <p:nvCxnSpPr>
          <p:cNvPr id="38" name="Straight Arrow Connector 37" descr=" 83">
            <a:extLst>
              <a:ext uri="{FF2B5EF4-FFF2-40B4-BE49-F238E27FC236}">
                <a16:creationId xmlns:a16="http://schemas.microsoft.com/office/drawing/2014/main" id="{42CE9126-31AC-4837-AC5E-3366CBCF5573}"/>
              </a:ext>
            </a:extLst>
          </p:cNvPr>
          <p:cNvCxnSpPr>
            <a:stCxn id="23" idx="2"/>
            <a:endCxn id="40" idx="0"/>
          </p:cNvCxnSpPr>
          <p:nvPr/>
        </p:nvCxnSpPr>
        <p:spPr bwMode="auto">
          <a:xfrm rot="16200000" flipH="1">
            <a:off x="7531179" y="5670946"/>
            <a:ext cx="228600" cy="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39" name="Rectangle 21" descr=" 84">
            <a:extLst>
              <a:ext uri="{FF2B5EF4-FFF2-40B4-BE49-F238E27FC236}">
                <a16:creationId xmlns:a16="http://schemas.microsoft.com/office/drawing/2014/main" id="{24643F4F-B3C4-4BE4-B30E-CD721868A6F5}"/>
              </a:ext>
            </a:extLst>
          </p:cNvPr>
          <p:cNvSpPr>
            <a:spLocks noChangeArrowheads="1"/>
          </p:cNvSpPr>
          <p:nvPr>
            <p:custDataLst>
              <p:tags r:id="rId12"/>
            </p:custDataLst>
          </p:nvPr>
        </p:nvSpPr>
        <p:spPr bwMode="auto">
          <a:xfrm>
            <a:off x="7758848" y="4702968"/>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1800" dirty="0"/>
          </a:p>
        </p:txBody>
      </p:sp>
      <p:sp>
        <p:nvSpPr>
          <p:cNvPr id="40" name="Rectangle 21" descr=" 85">
            <a:extLst>
              <a:ext uri="{FF2B5EF4-FFF2-40B4-BE49-F238E27FC236}">
                <a16:creationId xmlns:a16="http://schemas.microsoft.com/office/drawing/2014/main" id="{AEFE5CBE-E0E2-4BE0-8B94-1E8820C9E1EA}"/>
              </a:ext>
            </a:extLst>
          </p:cNvPr>
          <p:cNvSpPr>
            <a:spLocks noChangeArrowheads="1"/>
          </p:cNvSpPr>
          <p:nvPr>
            <p:custDataLst>
              <p:tags r:id="rId13"/>
            </p:custDataLst>
          </p:nvPr>
        </p:nvSpPr>
        <p:spPr bwMode="auto">
          <a:xfrm>
            <a:off x="7202603" y="5785246"/>
            <a:ext cx="885754"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b="1" dirty="0"/>
              <a:t>0, 5</a:t>
            </a:r>
            <a:endParaRPr lang="en-US" sz="1800" b="1" dirty="0">
              <a:solidFill>
                <a:srgbClr val="C00000"/>
              </a:solidFill>
            </a:endParaRPr>
          </a:p>
        </p:txBody>
      </p:sp>
      <p:sp>
        <p:nvSpPr>
          <p:cNvPr id="41" name="Rectangle 6" descr=" 86">
            <a:extLst>
              <a:ext uri="{FF2B5EF4-FFF2-40B4-BE49-F238E27FC236}">
                <a16:creationId xmlns:a16="http://schemas.microsoft.com/office/drawing/2014/main" id="{6DE80C70-E84F-4A7A-9FC8-C8CDC3B56A32}"/>
              </a:ext>
            </a:extLst>
          </p:cNvPr>
          <p:cNvSpPr>
            <a:spLocks noChangeArrowheads="1"/>
          </p:cNvSpPr>
          <p:nvPr>
            <p:custDataLst>
              <p:tags r:id="rId14"/>
            </p:custDataLst>
          </p:nvPr>
        </p:nvSpPr>
        <p:spPr bwMode="auto">
          <a:xfrm>
            <a:off x="8021999" y="4245768"/>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B</a:t>
            </a:r>
          </a:p>
        </p:txBody>
      </p:sp>
      <p:cxnSp>
        <p:nvCxnSpPr>
          <p:cNvPr id="42" name="AutoShape 17" descr=" 87">
            <a:extLst>
              <a:ext uri="{FF2B5EF4-FFF2-40B4-BE49-F238E27FC236}">
                <a16:creationId xmlns:a16="http://schemas.microsoft.com/office/drawing/2014/main" id="{CF27DC83-3B64-48E9-9946-2A98CE2E79B6}"/>
              </a:ext>
            </a:extLst>
          </p:cNvPr>
          <p:cNvCxnSpPr>
            <a:cxnSpLocks noChangeShapeType="1"/>
          </p:cNvCxnSpPr>
          <p:nvPr>
            <p:custDataLst>
              <p:tags r:id="rId15"/>
            </p:custDataLst>
          </p:nvPr>
        </p:nvCxnSpPr>
        <p:spPr bwMode="auto">
          <a:xfrm rot="5400000">
            <a:off x="7044473" y="4617243"/>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43" name="Line 10" descr=" 88">
            <a:extLst>
              <a:ext uri="{FF2B5EF4-FFF2-40B4-BE49-F238E27FC236}">
                <a16:creationId xmlns:a16="http://schemas.microsoft.com/office/drawing/2014/main" id="{C450D7F7-8DC2-49AC-ADA0-3CC12776725D}"/>
              </a:ext>
            </a:extLst>
          </p:cNvPr>
          <p:cNvSpPr>
            <a:spLocks noChangeShapeType="1"/>
          </p:cNvSpPr>
          <p:nvPr>
            <p:custDataLst>
              <p:tags r:id="rId16"/>
            </p:custDataLst>
          </p:nvPr>
        </p:nvSpPr>
        <p:spPr bwMode="auto">
          <a:xfrm>
            <a:off x="7130198" y="4985147"/>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sp>
        <p:nvSpPr>
          <p:cNvPr id="44" name="Rectangle 21" descr=" 89">
            <a:extLst>
              <a:ext uri="{FF2B5EF4-FFF2-40B4-BE49-F238E27FC236}">
                <a16:creationId xmlns:a16="http://schemas.microsoft.com/office/drawing/2014/main" id="{E7AF3422-CE51-4FD7-8027-6C4D842B904D}"/>
              </a:ext>
            </a:extLst>
          </p:cNvPr>
          <p:cNvSpPr>
            <a:spLocks noChangeArrowheads="1"/>
          </p:cNvSpPr>
          <p:nvPr>
            <p:custDataLst>
              <p:tags r:id="rId17"/>
            </p:custDataLst>
          </p:nvPr>
        </p:nvSpPr>
        <p:spPr bwMode="auto">
          <a:xfrm>
            <a:off x="6672998" y="4702968"/>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0, 0</a:t>
            </a:r>
            <a:endParaRPr lang="en-US" sz="1800" dirty="0"/>
          </a:p>
        </p:txBody>
      </p:sp>
      <p:sp>
        <p:nvSpPr>
          <p:cNvPr id="45" name="Rectangle 6" descr=" 90">
            <a:extLst>
              <a:ext uri="{FF2B5EF4-FFF2-40B4-BE49-F238E27FC236}">
                <a16:creationId xmlns:a16="http://schemas.microsoft.com/office/drawing/2014/main" id="{5D82056C-1C74-447E-BA97-18FDB1ED4661}"/>
              </a:ext>
            </a:extLst>
          </p:cNvPr>
          <p:cNvSpPr>
            <a:spLocks noChangeArrowheads="1"/>
          </p:cNvSpPr>
          <p:nvPr>
            <p:custDataLst>
              <p:tags r:id="rId18"/>
            </p:custDataLst>
          </p:nvPr>
        </p:nvSpPr>
        <p:spPr bwMode="auto">
          <a:xfrm>
            <a:off x="6936149" y="4245768"/>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A</a:t>
            </a:r>
          </a:p>
        </p:txBody>
      </p:sp>
      <p:sp>
        <p:nvSpPr>
          <p:cNvPr id="46" name="Text Box 11" descr=" 9">
            <a:extLst>
              <a:ext uri="{FF2B5EF4-FFF2-40B4-BE49-F238E27FC236}">
                <a16:creationId xmlns:a16="http://schemas.microsoft.com/office/drawing/2014/main" id="{687A31E5-5F82-40C8-BD35-1C7531A07CAD}"/>
              </a:ext>
            </a:extLst>
          </p:cNvPr>
          <p:cNvSpPr txBox="1">
            <a:spLocks noChangeArrowheads="1"/>
          </p:cNvSpPr>
          <p:nvPr>
            <p:custDataLst>
              <p:tags r:id="rId19"/>
            </p:custDataLst>
          </p:nvPr>
        </p:nvSpPr>
        <p:spPr bwMode="auto">
          <a:xfrm>
            <a:off x="7774537" y="3923407"/>
            <a:ext cx="836063" cy="307777"/>
          </a:xfrm>
          <a:prstGeom prst="rect">
            <a:avLst/>
          </a:prstGeom>
          <a:noFill/>
          <a:ln w="12700">
            <a:noFill/>
            <a:miter lim="800000"/>
            <a:headEnd type="none" w="sm" len="sm"/>
            <a:tailEnd type="none" w="sm" len="sm"/>
          </a:ln>
        </p:spPr>
        <p:txBody>
          <a:bodyPr wrap="none">
            <a:spAutoFit/>
          </a:bodyPr>
          <a:lstStyle/>
          <a:p>
            <a:r>
              <a:rPr lang="en-US" sz="1400" dirty="0">
                <a:latin typeface="Calibri" pitchFamily="34" charset="0"/>
              </a:rPr>
              <a:t>Evict 0, 5</a:t>
            </a:r>
          </a:p>
        </p:txBody>
      </p:sp>
    </p:spTree>
    <p:custDataLst>
      <p:tags r:id="rId1"/>
    </p:custDataLst>
    <p:extLst>
      <p:ext uri="{BB962C8B-B14F-4D97-AF65-F5344CB8AC3E}">
        <p14:creationId xmlns:p14="http://schemas.microsoft.com/office/powerpoint/2010/main" val="151755970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a:t>
            </a:r>
          </a:p>
        </p:txBody>
      </p:sp>
      <p:sp>
        <p:nvSpPr>
          <p:cNvPr id="2056" name="Rectangle 3"/>
          <p:cNvSpPr>
            <a:spLocks noGrp="1" noChangeArrowheads="1"/>
          </p:cNvSpPr>
          <p:nvPr>
            <p:ph idx="1"/>
            <p:custDataLst>
              <p:tags r:id="rId3"/>
            </p:custDataLst>
          </p:nvPr>
        </p:nvSpPr>
        <p:spPr>
          <a:xfrm>
            <a:off x="682625" y="1600199"/>
            <a:ext cx="8385175" cy="1645373"/>
          </a:xfrm>
        </p:spPr>
        <p:txBody>
          <a:bodyPr/>
          <a:lstStyle/>
          <a:p>
            <a:pPr marL="0" indent="0">
              <a:lnSpc>
                <a:spcPct val="80000"/>
              </a:lnSpc>
              <a:buNone/>
            </a:pPr>
            <a:r>
              <a:rPr lang="en-US" altLang="en-US" sz="2800" dirty="0"/>
              <a:t>With write-back, write-allocate caches and </a:t>
            </a:r>
            <a:r>
              <a:rPr lang="en-US" altLang="en-US" sz="2800" b="1" dirty="0"/>
              <a:t>coherence disabled</a:t>
            </a:r>
            <a:r>
              <a:rPr lang="en-US" altLang="en-US" sz="2800" dirty="0"/>
              <a:t>, show how it’s possible for the memory contents at addresses 2000 and 2004 (same block) to be 10 and 0 after executing this multithreaded program:</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34</a:t>
            </a:fld>
            <a:endParaRPr lang="en-US" altLang="en-US"/>
          </a:p>
        </p:txBody>
      </p:sp>
      <p:sp>
        <p:nvSpPr>
          <p:cNvPr id="19" name="Rectangle 3">
            <a:extLst>
              <a:ext uri="{FF2B5EF4-FFF2-40B4-BE49-F238E27FC236}">
                <a16:creationId xmlns:a16="http://schemas.microsoft.com/office/drawing/2014/main" id="{8B1FDA96-2698-40B4-B623-89B08A3C7C37}"/>
              </a:ext>
            </a:extLst>
          </p:cNvPr>
          <p:cNvSpPr txBox="1">
            <a:spLocks noChangeArrowheads="1"/>
          </p:cNvSpPr>
          <p:nvPr>
            <p:custDataLst>
              <p:tags r:id="rId5"/>
            </p:custDataLst>
          </p:nvPr>
        </p:nvSpPr>
        <p:spPr bwMode="auto">
          <a:xfrm>
            <a:off x="106874" y="3365192"/>
            <a:ext cx="3093526" cy="3162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b="1" dirty="0">
                <a:latin typeface="Courier New" panose="02070309020205020404" pitchFamily="49" charset="0"/>
                <a:cs typeface="Courier New" panose="02070309020205020404" pitchFamily="49" charset="0"/>
              </a:rPr>
              <a:t>     # thread A</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$t0, $zero, 2000</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lw</a:t>
            </a:r>
            <a:r>
              <a:rPr lang="en-US" sz="1400" b="1" dirty="0">
                <a:latin typeface="Courier New" panose="02070309020205020404" pitchFamily="49" charset="0"/>
                <a:cs typeface="Courier New" panose="02070309020205020404" pitchFamily="49" charset="0"/>
              </a:rPr>
              <a:t>   $t1, 0($t0)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$t2, $t1, 1</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$t2, 0($t0)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$t3, $t1, 3</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$t3, 4($t0)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p:txBody>
      </p:sp>
      <p:sp>
        <p:nvSpPr>
          <p:cNvPr id="20" name="Rectangle 3">
            <a:extLst>
              <a:ext uri="{FF2B5EF4-FFF2-40B4-BE49-F238E27FC236}">
                <a16:creationId xmlns:a16="http://schemas.microsoft.com/office/drawing/2014/main" id="{EDA8CCD4-6AD8-4CD5-A079-B1E4E01C33ED}"/>
              </a:ext>
            </a:extLst>
          </p:cNvPr>
          <p:cNvSpPr txBox="1">
            <a:spLocks noChangeArrowheads="1"/>
          </p:cNvSpPr>
          <p:nvPr>
            <p:custDataLst>
              <p:tags r:id="rId6"/>
            </p:custDataLst>
          </p:nvPr>
        </p:nvSpPr>
        <p:spPr bwMode="auto">
          <a:xfrm>
            <a:off x="2819400" y="3365193"/>
            <a:ext cx="3093526" cy="3171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b="1" dirty="0">
                <a:latin typeface="Courier New" panose="02070309020205020404" pitchFamily="49" charset="0"/>
                <a:cs typeface="Courier New" panose="02070309020205020404" pitchFamily="49" charset="0"/>
              </a:rPr>
              <a:t>     # thread B</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$t0, $zero, 2000</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lw</a:t>
            </a:r>
            <a:r>
              <a:rPr lang="en-US" sz="1400" b="1" dirty="0">
                <a:latin typeface="Courier New" panose="02070309020205020404" pitchFamily="49" charset="0"/>
                <a:cs typeface="Courier New" panose="02070309020205020404" pitchFamily="49" charset="0"/>
              </a:rPr>
              <a:t>   $t1, 4($t0)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$t1, $t1, 5</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$t1, 4($t0)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lw</a:t>
            </a:r>
            <a:r>
              <a:rPr lang="en-US" sz="1400" b="1" dirty="0">
                <a:latin typeface="Courier New" panose="02070309020205020404" pitchFamily="49" charset="0"/>
                <a:cs typeface="Courier New" panose="02070309020205020404" pitchFamily="49" charset="0"/>
              </a:rPr>
              <a:t>   $t2, 0($t0)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$t2, $t2, 9</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$t2, 0($t0)</a:t>
            </a:r>
          </a:p>
          <a:p>
            <a:pPr marL="0" indent="0">
              <a:buNone/>
            </a:pPr>
            <a:r>
              <a:rPr lang="en-US" altLang="en-US" sz="1400" b="1" dirty="0">
                <a:latin typeface="Courier New" panose="02070309020205020404" pitchFamily="49" charset="0"/>
                <a:cs typeface="Courier New" panose="02070309020205020404" pitchFamily="49" charset="0"/>
              </a:rPr>
              <a:t>    </a:t>
            </a:r>
            <a:r>
              <a:rPr lang="en-US" sz="1400" b="1" dirty="0">
                <a:latin typeface="Courier New" panose="02070309020205020404" pitchFamily="49" charset="0"/>
                <a:cs typeface="Courier New" panose="02070309020205020404" pitchFamily="49" charset="0"/>
              </a:rPr>
              <a:t> ...</a:t>
            </a:r>
            <a:endParaRPr lang="en-US" altLang="en-US" sz="1400" b="1" dirty="0">
              <a:latin typeface="Courier New" panose="02070309020205020404" pitchFamily="49" charset="0"/>
              <a:cs typeface="Courier New" panose="02070309020205020404" pitchFamily="49" charset="0"/>
            </a:endParaRPr>
          </a:p>
        </p:txBody>
      </p:sp>
      <p:sp>
        <p:nvSpPr>
          <p:cNvPr id="24" name="Rectangle 23">
            <a:extLst>
              <a:ext uri="{FF2B5EF4-FFF2-40B4-BE49-F238E27FC236}">
                <a16:creationId xmlns:a16="http://schemas.microsoft.com/office/drawing/2014/main" id="{C2E6EC51-C99D-43F1-BE1C-41C5F002FCF3}"/>
              </a:ext>
            </a:extLst>
          </p:cNvPr>
          <p:cNvSpPr/>
          <p:nvPr>
            <p:custDataLst>
              <p:tags r:id="rId7"/>
            </p:custDataLst>
          </p:nvPr>
        </p:nvSpPr>
        <p:spPr>
          <a:xfrm>
            <a:off x="682625" y="3365190"/>
            <a:ext cx="2319849" cy="1816410"/>
          </a:xfrm>
          <a:prstGeom prst="rect">
            <a:avLst/>
          </a:prstGeom>
          <a:solidFill>
            <a:schemeClr val="accent6">
              <a:lumMod val="7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BAF7E57-132B-4151-AD9A-EB0BE2EFC8DA}"/>
              </a:ext>
            </a:extLst>
          </p:cNvPr>
          <p:cNvSpPr/>
          <p:nvPr>
            <p:custDataLst>
              <p:tags r:id="rId8"/>
            </p:custDataLst>
          </p:nvPr>
        </p:nvSpPr>
        <p:spPr>
          <a:xfrm>
            <a:off x="3395151" y="3365190"/>
            <a:ext cx="2319849" cy="1816410"/>
          </a:xfrm>
          <a:prstGeom prst="rect">
            <a:avLst/>
          </a:prstGeom>
          <a:solidFill>
            <a:schemeClr val="accent6">
              <a:lumMod val="7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4" descr=" 80">
            <a:extLst>
              <a:ext uri="{FF2B5EF4-FFF2-40B4-BE49-F238E27FC236}">
                <a16:creationId xmlns:a16="http://schemas.microsoft.com/office/drawing/2014/main" id="{193594B1-778B-4AFA-B2AD-B01B8E392A85}"/>
              </a:ext>
            </a:extLst>
          </p:cNvPr>
          <p:cNvSpPr>
            <a:spLocks noChangeArrowheads="1"/>
          </p:cNvSpPr>
          <p:nvPr>
            <p:custDataLst>
              <p:tags r:id="rId9"/>
            </p:custDataLst>
          </p:nvPr>
        </p:nvSpPr>
        <p:spPr bwMode="auto">
          <a:xfrm>
            <a:off x="6958748" y="5274468"/>
            <a:ext cx="1373463"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Bus</a:t>
            </a:r>
          </a:p>
        </p:txBody>
      </p:sp>
      <p:cxnSp>
        <p:nvCxnSpPr>
          <p:cNvPr id="22" name="AutoShape 17" descr=" 81">
            <a:extLst>
              <a:ext uri="{FF2B5EF4-FFF2-40B4-BE49-F238E27FC236}">
                <a16:creationId xmlns:a16="http://schemas.microsoft.com/office/drawing/2014/main" id="{6D1C709F-94AE-436E-8803-A01A546720F6}"/>
              </a:ext>
            </a:extLst>
          </p:cNvPr>
          <p:cNvCxnSpPr>
            <a:cxnSpLocks noChangeShapeType="1"/>
          </p:cNvCxnSpPr>
          <p:nvPr>
            <p:custDataLst>
              <p:tags r:id="rId10"/>
            </p:custDataLst>
          </p:nvPr>
        </p:nvCxnSpPr>
        <p:spPr bwMode="auto">
          <a:xfrm rot="5400000">
            <a:off x="8130323" y="4617243"/>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26" name="Line 10" descr=" 82">
            <a:extLst>
              <a:ext uri="{FF2B5EF4-FFF2-40B4-BE49-F238E27FC236}">
                <a16:creationId xmlns:a16="http://schemas.microsoft.com/office/drawing/2014/main" id="{C6ADA2FC-A18F-4F8A-9C6A-3BA54D04BE32}"/>
              </a:ext>
            </a:extLst>
          </p:cNvPr>
          <p:cNvSpPr>
            <a:spLocks noChangeShapeType="1"/>
          </p:cNvSpPr>
          <p:nvPr>
            <p:custDataLst>
              <p:tags r:id="rId11"/>
            </p:custDataLst>
          </p:nvPr>
        </p:nvSpPr>
        <p:spPr bwMode="auto">
          <a:xfrm>
            <a:off x="8216048" y="4985147"/>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cxnSp>
        <p:nvCxnSpPr>
          <p:cNvPr id="27" name="Straight Arrow Connector 26" descr=" 83">
            <a:extLst>
              <a:ext uri="{FF2B5EF4-FFF2-40B4-BE49-F238E27FC236}">
                <a16:creationId xmlns:a16="http://schemas.microsoft.com/office/drawing/2014/main" id="{E3AB7856-847D-4911-89F7-A2148362523B}"/>
              </a:ext>
            </a:extLst>
          </p:cNvPr>
          <p:cNvCxnSpPr>
            <a:stCxn id="21" idx="2"/>
            <a:endCxn id="29" idx="0"/>
          </p:cNvCxnSpPr>
          <p:nvPr/>
        </p:nvCxnSpPr>
        <p:spPr bwMode="auto">
          <a:xfrm flipH="1">
            <a:off x="7634323" y="5556647"/>
            <a:ext cx="11157" cy="228599"/>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28" name="Rectangle 21" descr=" 84">
            <a:extLst>
              <a:ext uri="{FF2B5EF4-FFF2-40B4-BE49-F238E27FC236}">
                <a16:creationId xmlns:a16="http://schemas.microsoft.com/office/drawing/2014/main" id="{150D0596-4A14-4498-ADE5-1030A2F44727}"/>
              </a:ext>
            </a:extLst>
          </p:cNvPr>
          <p:cNvSpPr>
            <a:spLocks noChangeArrowheads="1"/>
          </p:cNvSpPr>
          <p:nvPr>
            <p:custDataLst>
              <p:tags r:id="rId12"/>
            </p:custDataLst>
          </p:nvPr>
        </p:nvSpPr>
        <p:spPr bwMode="auto">
          <a:xfrm>
            <a:off x="7758848" y="4702968"/>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1800" dirty="0"/>
          </a:p>
        </p:txBody>
      </p:sp>
      <p:sp>
        <p:nvSpPr>
          <p:cNvPr id="29" name="Rectangle 21" descr=" 85">
            <a:extLst>
              <a:ext uri="{FF2B5EF4-FFF2-40B4-BE49-F238E27FC236}">
                <a16:creationId xmlns:a16="http://schemas.microsoft.com/office/drawing/2014/main" id="{353E5524-909E-4AC7-B76B-F16E39B158C0}"/>
              </a:ext>
            </a:extLst>
          </p:cNvPr>
          <p:cNvSpPr>
            <a:spLocks noChangeArrowheads="1"/>
          </p:cNvSpPr>
          <p:nvPr>
            <p:custDataLst>
              <p:tags r:id="rId13"/>
            </p:custDataLst>
          </p:nvPr>
        </p:nvSpPr>
        <p:spPr bwMode="auto">
          <a:xfrm>
            <a:off x="7191446" y="5785246"/>
            <a:ext cx="885754"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0, 5</a:t>
            </a:r>
            <a:endParaRPr lang="en-US" sz="1800" dirty="0">
              <a:solidFill>
                <a:srgbClr val="C00000"/>
              </a:solidFill>
            </a:endParaRPr>
          </a:p>
        </p:txBody>
      </p:sp>
      <p:sp>
        <p:nvSpPr>
          <p:cNvPr id="30" name="Rectangle 6" descr=" 86">
            <a:extLst>
              <a:ext uri="{FF2B5EF4-FFF2-40B4-BE49-F238E27FC236}">
                <a16:creationId xmlns:a16="http://schemas.microsoft.com/office/drawing/2014/main" id="{46AE7B9C-052F-4036-8D74-849041B92254}"/>
              </a:ext>
            </a:extLst>
          </p:cNvPr>
          <p:cNvSpPr>
            <a:spLocks noChangeArrowheads="1"/>
          </p:cNvSpPr>
          <p:nvPr>
            <p:custDataLst>
              <p:tags r:id="rId14"/>
            </p:custDataLst>
          </p:nvPr>
        </p:nvSpPr>
        <p:spPr bwMode="auto">
          <a:xfrm>
            <a:off x="8021999" y="4245768"/>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B</a:t>
            </a:r>
          </a:p>
        </p:txBody>
      </p:sp>
      <p:cxnSp>
        <p:nvCxnSpPr>
          <p:cNvPr id="31" name="AutoShape 17" descr=" 87">
            <a:extLst>
              <a:ext uri="{FF2B5EF4-FFF2-40B4-BE49-F238E27FC236}">
                <a16:creationId xmlns:a16="http://schemas.microsoft.com/office/drawing/2014/main" id="{C6FC3E97-E9E1-44D7-AC07-A5E8910D578B}"/>
              </a:ext>
            </a:extLst>
          </p:cNvPr>
          <p:cNvCxnSpPr>
            <a:cxnSpLocks noChangeShapeType="1"/>
          </p:cNvCxnSpPr>
          <p:nvPr>
            <p:custDataLst>
              <p:tags r:id="rId15"/>
            </p:custDataLst>
          </p:nvPr>
        </p:nvCxnSpPr>
        <p:spPr bwMode="auto">
          <a:xfrm rot="5400000">
            <a:off x="7044473" y="4617243"/>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32" name="Line 10" descr=" 88">
            <a:extLst>
              <a:ext uri="{FF2B5EF4-FFF2-40B4-BE49-F238E27FC236}">
                <a16:creationId xmlns:a16="http://schemas.microsoft.com/office/drawing/2014/main" id="{D69A0D97-D9BF-42B5-AB2F-6256EFB105F7}"/>
              </a:ext>
            </a:extLst>
          </p:cNvPr>
          <p:cNvSpPr>
            <a:spLocks noChangeShapeType="1"/>
          </p:cNvSpPr>
          <p:nvPr>
            <p:custDataLst>
              <p:tags r:id="rId16"/>
            </p:custDataLst>
          </p:nvPr>
        </p:nvSpPr>
        <p:spPr bwMode="auto">
          <a:xfrm>
            <a:off x="7130198" y="4985147"/>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sp>
        <p:nvSpPr>
          <p:cNvPr id="33" name="Rectangle 21" descr=" 89">
            <a:extLst>
              <a:ext uri="{FF2B5EF4-FFF2-40B4-BE49-F238E27FC236}">
                <a16:creationId xmlns:a16="http://schemas.microsoft.com/office/drawing/2014/main" id="{710CF497-1840-414B-86F1-412A05C82338}"/>
              </a:ext>
            </a:extLst>
          </p:cNvPr>
          <p:cNvSpPr>
            <a:spLocks noChangeArrowheads="1"/>
          </p:cNvSpPr>
          <p:nvPr>
            <p:custDataLst>
              <p:tags r:id="rId17"/>
            </p:custDataLst>
          </p:nvPr>
        </p:nvSpPr>
        <p:spPr bwMode="auto">
          <a:xfrm>
            <a:off x="6672998" y="4718446"/>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b="1" dirty="0"/>
              <a:t>1</a:t>
            </a:r>
            <a:r>
              <a:rPr lang="en-US" sz="1500" dirty="0"/>
              <a:t>, 0</a:t>
            </a:r>
            <a:endParaRPr lang="en-US" sz="1800" dirty="0"/>
          </a:p>
        </p:txBody>
      </p:sp>
      <p:sp>
        <p:nvSpPr>
          <p:cNvPr id="34" name="Rectangle 6" descr=" 90">
            <a:extLst>
              <a:ext uri="{FF2B5EF4-FFF2-40B4-BE49-F238E27FC236}">
                <a16:creationId xmlns:a16="http://schemas.microsoft.com/office/drawing/2014/main" id="{A78D95E3-06DA-48B7-AD22-E9D3BA8084A6}"/>
              </a:ext>
            </a:extLst>
          </p:cNvPr>
          <p:cNvSpPr>
            <a:spLocks noChangeArrowheads="1"/>
          </p:cNvSpPr>
          <p:nvPr>
            <p:custDataLst>
              <p:tags r:id="rId18"/>
            </p:custDataLst>
          </p:nvPr>
        </p:nvSpPr>
        <p:spPr bwMode="auto">
          <a:xfrm>
            <a:off x="6936149" y="4245768"/>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A</a:t>
            </a:r>
          </a:p>
        </p:txBody>
      </p:sp>
      <p:sp>
        <p:nvSpPr>
          <p:cNvPr id="35" name="Text Box 11" descr=" 9">
            <a:extLst>
              <a:ext uri="{FF2B5EF4-FFF2-40B4-BE49-F238E27FC236}">
                <a16:creationId xmlns:a16="http://schemas.microsoft.com/office/drawing/2014/main" id="{147C859B-5A5E-44EC-8DD7-C10021833128}"/>
              </a:ext>
            </a:extLst>
          </p:cNvPr>
          <p:cNvSpPr txBox="1">
            <a:spLocks noChangeArrowheads="1"/>
          </p:cNvSpPr>
          <p:nvPr>
            <p:custDataLst>
              <p:tags r:id="rId19"/>
            </p:custDataLst>
          </p:nvPr>
        </p:nvSpPr>
        <p:spPr bwMode="auto">
          <a:xfrm>
            <a:off x="6707737" y="3959423"/>
            <a:ext cx="836063" cy="307777"/>
          </a:xfrm>
          <a:prstGeom prst="rect">
            <a:avLst/>
          </a:prstGeom>
          <a:noFill/>
          <a:ln w="12700">
            <a:noFill/>
            <a:miter lim="800000"/>
            <a:headEnd type="none" w="sm" len="sm"/>
            <a:tailEnd type="none" w="sm" len="sm"/>
          </a:ln>
        </p:spPr>
        <p:txBody>
          <a:bodyPr wrap="none">
            <a:spAutoFit/>
          </a:bodyPr>
          <a:lstStyle/>
          <a:p>
            <a:r>
              <a:rPr lang="en-US" sz="1400" dirty="0">
                <a:latin typeface="Calibri" pitchFamily="34" charset="0"/>
              </a:rPr>
              <a:t>Evict 1, 0</a:t>
            </a:r>
          </a:p>
        </p:txBody>
      </p:sp>
      <p:sp>
        <p:nvSpPr>
          <p:cNvPr id="47" name="Text Box 11" descr=" 9">
            <a:extLst>
              <a:ext uri="{FF2B5EF4-FFF2-40B4-BE49-F238E27FC236}">
                <a16:creationId xmlns:a16="http://schemas.microsoft.com/office/drawing/2014/main" id="{1E4C8D6B-4546-4F5F-B89D-BD74287F4E30}"/>
              </a:ext>
            </a:extLst>
          </p:cNvPr>
          <p:cNvSpPr txBox="1">
            <a:spLocks noChangeArrowheads="1"/>
          </p:cNvSpPr>
          <p:nvPr>
            <p:custDataLst>
              <p:tags r:id="rId20"/>
            </p:custDataLst>
          </p:nvPr>
        </p:nvSpPr>
        <p:spPr bwMode="auto">
          <a:xfrm>
            <a:off x="6766061" y="3730823"/>
            <a:ext cx="701539" cy="307777"/>
          </a:xfrm>
          <a:prstGeom prst="rect">
            <a:avLst/>
          </a:prstGeom>
          <a:noFill/>
          <a:ln w="12700">
            <a:noFill/>
            <a:miter lim="800000"/>
            <a:headEnd type="none" w="sm" len="sm"/>
            <a:tailEnd type="none" w="sm" len="sm"/>
          </a:ln>
        </p:spPr>
        <p:txBody>
          <a:bodyPr wrap="none">
            <a:spAutoFit/>
          </a:bodyPr>
          <a:lstStyle/>
          <a:p>
            <a:r>
              <a:rPr lang="en-US" sz="1400" dirty="0">
                <a:latin typeface="Calibri" pitchFamily="34" charset="0"/>
              </a:rPr>
              <a:t>Store 1</a:t>
            </a:r>
          </a:p>
        </p:txBody>
      </p:sp>
      <p:sp>
        <p:nvSpPr>
          <p:cNvPr id="48" name="Rectangle 21" descr=" 85">
            <a:extLst>
              <a:ext uri="{FF2B5EF4-FFF2-40B4-BE49-F238E27FC236}">
                <a16:creationId xmlns:a16="http://schemas.microsoft.com/office/drawing/2014/main" id="{64D410B6-4CCD-42B4-ADE5-E411D9EDE517}"/>
              </a:ext>
            </a:extLst>
          </p:cNvPr>
          <p:cNvSpPr>
            <a:spLocks noChangeArrowheads="1"/>
          </p:cNvSpPr>
          <p:nvPr>
            <p:custDataLst>
              <p:tags r:id="rId21"/>
            </p:custDataLst>
          </p:nvPr>
        </p:nvSpPr>
        <p:spPr bwMode="auto">
          <a:xfrm>
            <a:off x="7191446" y="5785246"/>
            <a:ext cx="885754"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b="1" dirty="0"/>
              <a:t>1, 0</a:t>
            </a:r>
            <a:endParaRPr lang="en-US" sz="1800" b="1" dirty="0">
              <a:solidFill>
                <a:srgbClr val="C00000"/>
              </a:solidFill>
            </a:endParaRPr>
          </a:p>
        </p:txBody>
      </p:sp>
      <p:sp>
        <p:nvSpPr>
          <p:cNvPr id="49" name="Rectangle 21" descr=" 89">
            <a:extLst>
              <a:ext uri="{FF2B5EF4-FFF2-40B4-BE49-F238E27FC236}">
                <a16:creationId xmlns:a16="http://schemas.microsoft.com/office/drawing/2014/main" id="{BBD3065F-9E61-41DE-9058-D01D415576CC}"/>
              </a:ext>
            </a:extLst>
          </p:cNvPr>
          <p:cNvSpPr>
            <a:spLocks noChangeArrowheads="1"/>
          </p:cNvSpPr>
          <p:nvPr>
            <p:custDataLst>
              <p:tags r:id="rId22"/>
            </p:custDataLst>
          </p:nvPr>
        </p:nvSpPr>
        <p:spPr bwMode="auto">
          <a:xfrm>
            <a:off x="6672998" y="4718446"/>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1800" dirty="0"/>
          </a:p>
        </p:txBody>
      </p:sp>
    </p:spTree>
    <p:custDataLst>
      <p:tags r:id="rId1"/>
    </p:custDataLst>
    <p:extLst>
      <p:ext uri="{BB962C8B-B14F-4D97-AF65-F5344CB8AC3E}">
        <p14:creationId xmlns:p14="http://schemas.microsoft.com/office/powerpoint/2010/main" val="952142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a:t>
            </a:r>
          </a:p>
        </p:txBody>
      </p:sp>
      <p:sp>
        <p:nvSpPr>
          <p:cNvPr id="2056" name="Rectangle 3"/>
          <p:cNvSpPr>
            <a:spLocks noGrp="1" noChangeArrowheads="1"/>
          </p:cNvSpPr>
          <p:nvPr>
            <p:ph idx="1"/>
            <p:custDataLst>
              <p:tags r:id="rId3"/>
            </p:custDataLst>
          </p:nvPr>
        </p:nvSpPr>
        <p:spPr>
          <a:xfrm>
            <a:off x="682625" y="1600199"/>
            <a:ext cx="8385175" cy="1645373"/>
          </a:xfrm>
        </p:spPr>
        <p:txBody>
          <a:bodyPr/>
          <a:lstStyle/>
          <a:p>
            <a:pPr marL="0" indent="0">
              <a:lnSpc>
                <a:spcPct val="80000"/>
              </a:lnSpc>
              <a:buNone/>
            </a:pPr>
            <a:r>
              <a:rPr lang="en-US" altLang="en-US" sz="2800" dirty="0"/>
              <a:t>With write-back, write-allocate caches and </a:t>
            </a:r>
            <a:r>
              <a:rPr lang="en-US" altLang="en-US" sz="2800" b="1" dirty="0"/>
              <a:t>coherence disabled</a:t>
            </a:r>
            <a:r>
              <a:rPr lang="en-US" altLang="en-US" sz="2800" dirty="0"/>
              <a:t>, show how it’s possible for the memory contents at addresses 2000 and 2004 (same block) to be 10 and 0 after executing this multithreaded program:</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35</a:t>
            </a:fld>
            <a:endParaRPr lang="en-US" altLang="en-US"/>
          </a:p>
        </p:txBody>
      </p:sp>
      <p:sp>
        <p:nvSpPr>
          <p:cNvPr id="19" name="Rectangle 3">
            <a:extLst>
              <a:ext uri="{FF2B5EF4-FFF2-40B4-BE49-F238E27FC236}">
                <a16:creationId xmlns:a16="http://schemas.microsoft.com/office/drawing/2014/main" id="{8B1FDA96-2698-40B4-B623-89B08A3C7C37}"/>
              </a:ext>
            </a:extLst>
          </p:cNvPr>
          <p:cNvSpPr txBox="1">
            <a:spLocks noChangeArrowheads="1"/>
          </p:cNvSpPr>
          <p:nvPr>
            <p:custDataLst>
              <p:tags r:id="rId5"/>
            </p:custDataLst>
          </p:nvPr>
        </p:nvSpPr>
        <p:spPr bwMode="auto">
          <a:xfrm>
            <a:off x="106874" y="3365192"/>
            <a:ext cx="3093526" cy="3162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b="1" dirty="0">
                <a:latin typeface="Courier New" panose="02070309020205020404" pitchFamily="49" charset="0"/>
                <a:cs typeface="Courier New" panose="02070309020205020404" pitchFamily="49" charset="0"/>
              </a:rPr>
              <a:t>     # thread A</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$t0, $zero, 2000</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lw</a:t>
            </a:r>
            <a:r>
              <a:rPr lang="en-US" sz="1400" b="1" dirty="0">
                <a:latin typeface="Courier New" panose="02070309020205020404" pitchFamily="49" charset="0"/>
                <a:cs typeface="Courier New" panose="02070309020205020404" pitchFamily="49" charset="0"/>
              </a:rPr>
              <a:t>   $t1, 0($t0)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$t2, $t1, 1</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$t2, 0($t0)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$t3, $t1, 3</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$t3, 4($t0)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p:txBody>
      </p:sp>
      <p:sp>
        <p:nvSpPr>
          <p:cNvPr id="20" name="Rectangle 3">
            <a:extLst>
              <a:ext uri="{FF2B5EF4-FFF2-40B4-BE49-F238E27FC236}">
                <a16:creationId xmlns:a16="http://schemas.microsoft.com/office/drawing/2014/main" id="{EDA8CCD4-6AD8-4CD5-A079-B1E4E01C33ED}"/>
              </a:ext>
            </a:extLst>
          </p:cNvPr>
          <p:cNvSpPr txBox="1">
            <a:spLocks noChangeArrowheads="1"/>
          </p:cNvSpPr>
          <p:nvPr>
            <p:custDataLst>
              <p:tags r:id="rId6"/>
            </p:custDataLst>
          </p:nvPr>
        </p:nvSpPr>
        <p:spPr bwMode="auto">
          <a:xfrm>
            <a:off x="2819400" y="3365193"/>
            <a:ext cx="3093526" cy="3171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b="1" dirty="0">
                <a:latin typeface="Courier New" panose="02070309020205020404" pitchFamily="49" charset="0"/>
                <a:cs typeface="Courier New" panose="02070309020205020404" pitchFamily="49" charset="0"/>
              </a:rPr>
              <a:t>     # thread B</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$t0, $zero, 2000</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lw</a:t>
            </a:r>
            <a:r>
              <a:rPr lang="en-US" sz="1400" b="1" dirty="0">
                <a:latin typeface="Courier New" panose="02070309020205020404" pitchFamily="49" charset="0"/>
                <a:cs typeface="Courier New" panose="02070309020205020404" pitchFamily="49" charset="0"/>
              </a:rPr>
              <a:t>   $t1, 4($t0)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$t1, $t1, 5</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$t1, 4($t0)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lw</a:t>
            </a:r>
            <a:r>
              <a:rPr lang="en-US" sz="1400" b="1" dirty="0">
                <a:latin typeface="Courier New" panose="02070309020205020404" pitchFamily="49" charset="0"/>
                <a:cs typeface="Courier New" panose="02070309020205020404" pitchFamily="49" charset="0"/>
              </a:rPr>
              <a:t>   $t2, 0($t0)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$t2, $t2, 9</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$t2, 0($t0)</a:t>
            </a:r>
          </a:p>
          <a:p>
            <a:pPr marL="0" indent="0">
              <a:buNone/>
            </a:pPr>
            <a:r>
              <a:rPr lang="en-US" altLang="en-US" sz="1400" b="1" dirty="0">
                <a:latin typeface="Courier New" panose="02070309020205020404" pitchFamily="49" charset="0"/>
                <a:cs typeface="Courier New" panose="02070309020205020404" pitchFamily="49" charset="0"/>
              </a:rPr>
              <a:t>    </a:t>
            </a:r>
            <a:r>
              <a:rPr lang="en-US" sz="1400" b="1" dirty="0">
                <a:latin typeface="Courier New" panose="02070309020205020404" pitchFamily="49" charset="0"/>
                <a:cs typeface="Courier New" panose="02070309020205020404" pitchFamily="49" charset="0"/>
              </a:rPr>
              <a:t> ...</a:t>
            </a:r>
            <a:endParaRPr lang="en-US" altLang="en-US" sz="1400" b="1" dirty="0">
              <a:latin typeface="Courier New" panose="02070309020205020404" pitchFamily="49" charset="0"/>
              <a:cs typeface="Courier New" panose="02070309020205020404" pitchFamily="49" charset="0"/>
            </a:endParaRPr>
          </a:p>
        </p:txBody>
      </p:sp>
      <p:sp>
        <p:nvSpPr>
          <p:cNvPr id="24" name="Rectangle 23">
            <a:extLst>
              <a:ext uri="{FF2B5EF4-FFF2-40B4-BE49-F238E27FC236}">
                <a16:creationId xmlns:a16="http://schemas.microsoft.com/office/drawing/2014/main" id="{C2E6EC51-C99D-43F1-BE1C-41C5F002FCF3}"/>
              </a:ext>
            </a:extLst>
          </p:cNvPr>
          <p:cNvSpPr/>
          <p:nvPr>
            <p:custDataLst>
              <p:tags r:id="rId7"/>
            </p:custDataLst>
          </p:nvPr>
        </p:nvSpPr>
        <p:spPr>
          <a:xfrm>
            <a:off x="682625" y="3365190"/>
            <a:ext cx="2319849" cy="1816410"/>
          </a:xfrm>
          <a:prstGeom prst="rect">
            <a:avLst/>
          </a:prstGeom>
          <a:solidFill>
            <a:schemeClr val="accent6">
              <a:lumMod val="7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BAF7E57-132B-4151-AD9A-EB0BE2EFC8DA}"/>
              </a:ext>
            </a:extLst>
          </p:cNvPr>
          <p:cNvSpPr/>
          <p:nvPr>
            <p:custDataLst>
              <p:tags r:id="rId8"/>
            </p:custDataLst>
          </p:nvPr>
        </p:nvSpPr>
        <p:spPr>
          <a:xfrm>
            <a:off x="3395151" y="3365190"/>
            <a:ext cx="2319849" cy="2883210"/>
          </a:xfrm>
          <a:prstGeom prst="rect">
            <a:avLst/>
          </a:prstGeom>
          <a:solidFill>
            <a:schemeClr val="accent6">
              <a:lumMod val="7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4" descr=" 80">
            <a:extLst>
              <a:ext uri="{FF2B5EF4-FFF2-40B4-BE49-F238E27FC236}">
                <a16:creationId xmlns:a16="http://schemas.microsoft.com/office/drawing/2014/main" id="{F36AE97E-389B-454A-BA71-EB0E61FE60E7}"/>
              </a:ext>
            </a:extLst>
          </p:cNvPr>
          <p:cNvSpPr>
            <a:spLocks noChangeArrowheads="1"/>
          </p:cNvSpPr>
          <p:nvPr>
            <p:custDataLst>
              <p:tags r:id="rId9"/>
            </p:custDataLst>
          </p:nvPr>
        </p:nvSpPr>
        <p:spPr bwMode="auto">
          <a:xfrm>
            <a:off x="6958748" y="5274468"/>
            <a:ext cx="1373463"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Bus</a:t>
            </a:r>
          </a:p>
        </p:txBody>
      </p:sp>
      <p:cxnSp>
        <p:nvCxnSpPr>
          <p:cNvPr id="37" name="AutoShape 17" descr=" 81">
            <a:extLst>
              <a:ext uri="{FF2B5EF4-FFF2-40B4-BE49-F238E27FC236}">
                <a16:creationId xmlns:a16="http://schemas.microsoft.com/office/drawing/2014/main" id="{BE95E5E4-C4F0-44BB-B122-9F43AED7D666}"/>
              </a:ext>
            </a:extLst>
          </p:cNvPr>
          <p:cNvCxnSpPr>
            <a:cxnSpLocks noChangeShapeType="1"/>
          </p:cNvCxnSpPr>
          <p:nvPr>
            <p:custDataLst>
              <p:tags r:id="rId10"/>
            </p:custDataLst>
          </p:nvPr>
        </p:nvCxnSpPr>
        <p:spPr bwMode="auto">
          <a:xfrm rot="5400000">
            <a:off x="8130323" y="4617243"/>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38" name="Line 10" descr=" 82">
            <a:extLst>
              <a:ext uri="{FF2B5EF4-FFF2-40B4-BE49-F238E27FC236}">
                <a16:creationId xmlns:a16="http://schemas.microsoft.com/office/drawing/2014/main" id="{D4B2592D-0A81-4D3B-89AF-85C267A0131D}"/>
              </a:ext>
            </a:extLst>
          </p:cNvPr>
          <p:cNvSpPr>
            <a:spLocks noChangeShapeType="1"/>
          </p:cNvSpPr>
          <p:nvPr>
            <p:custDataLst>
              <p:tags r:id="rId11"/>
            </p:custDataLst>
          </p:nvPr>
        </p:nvSpPr>
        <p:spPr bwMode="auto">
          <a:xfrm>
            <a:off x="8216048" y="4985147"/>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cxnSp>
        <p:nvCxnSpPr>
          <p:cNvPr id="39" name="Straight Arrow Connector 38" descr=" 83">
            <a:extLst>
              <a:ext uri="{FF2B5EF4-FFF2-40B4-BE49-F238E27FC236}">
                <a16:creationId xmlns:a16="http://schemas.microsoft.com/office/drawing/2014/main" id="{2373E0CE-B9AE-44F2-951B-2B7C612DE307}"/>
              </a:ext>
            </a:extLst>
          </p:cNvPr>
          <p:cNvCxnSpPr>
            <a:stCxn id="36" idx="2"/>
            <a:endCxn id="40" idx="0"/>
          </p:cNvCxnSpPr>
          <p:nvPr/>
        </p:nvCxnSpPr>
        <p:spPr bwMode="auto">
          <a:xfrm rot="16200000" flipH="1">
            <a:off x="7531179" y="5670946"/>
            <a:ext cx="228600" cy="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40" name="Rectangle 21" descr=" 85">
            <a:extLst>
              <a:ext uri="{FF2B5EF4-FFF2-40B4-BE49-F238E27FC236}">
                <a16:creationId xmlns:a16="http://schemas.microsoft.com/office/drawing/2014/main" id="{1B1E0490-B7AD-454D-90C3-C32626537EB1}"/>
              </a:ext>
            </a:extLst>
          </p:cNvPr>
          <p:cNvSpPr>
            <a:spLocks noChangeArrowheads="1"/>
          </p:cNvSpPr>
          <p:nvPr>
            <p:custDataLst>
              <p:tags r:id="rId12"/>
            </p:custDataLst>
          </p:nvPr>
        </p:nvSpPr>
        <p:spPr bwMode="auto">
          <a:xfrm>
            <a:off x="7202603" y="5785246"/>
            <a:ext cx="885754"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1, 0</a:t>
            </a:r>
            <a:endParaRPr lang="en-US" sz="1800" dirty="0">
              <a:solidFill>
                <a:srgbClr val="C00000"/>
              </a:solidFill>
            </a:endParaRPr>
          </a:p>
        </p:txBody>
      </p:sp>
      <p:sp>
        <p:nvSpPr>
          <p:cNvPr id="41" name="Rectangle 6" descr=" 86">
            <a:extLst>
              <a:ext uri="{FF2B5EF4-FFF2-40B4-BE49-F238E27FC236}">
                <a16:creationId xmlns:a16="http://schemas.microsoft.com/office/drawing/2014/main" id="{C87FAECC-FCCE-4ADC-BBFE-2F53298FC975}"/>
              </a:ext>
            </a:extLst>
          </p:cNvPr>
          <p:cNvSpPr>
            <a:spLocks noChangeArrowheads="1"/>
          </p:cNvSpPr>
          <p:nvPr>
            <p:custDataLst>
              <p:tags r:id="rId13"/>
            </p:custDataLst>
          </p:nvPr>
        </p:nvSpPr>
        <p:spPr bwMode="auto">
          <a:xfrm>
            <a:off x="8021999" y="4245768"/>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B</a:t>
            </a:r>
          </a:p>
        </p:txBody>
      </p:sp>
      <p:cxnSp>
        <p:nvCxnSpPr>
          <p:cNvPr id="42" name="AutoShape 17" descr=" 87">
            <a:extLst>
              <a:ext uri="{FF2B5EF4-FFF2-40B4-BE49-F238E27FC236}">
                <a16:creationId xmlns:a16="http://schemas.microsoft.com/office/drawing/2014/main" id="{9E3E870A-9066-4202-B8B3-534DAF2EB15B}"/>
              </a:ext>
            </a:extLst>
          </p:cNvPr>
          <p:cNvCxnSpPr>
            <a:cxnSpLocks noChangeShapeType="1"/>
          </p:cNvCxnSpPr>
          <p:nvPr>
            <p:custDataLst>
              <p:tags r:id="rId14"/>
            </p:custDataLst>
          </p:nvPr>
        </p:nvCxnSpPr>
        <p:spPr bwMode="auto">
          <a:xfrm rot="5400000">
            <a:off x="7044473" y="4617243"/>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43" name="Line 10" descr=" 88">
            <a:extLst>
              <a:ext uri="{FF2B5EF4-FFF2-40B4-BE49-F238E27FC236}">
                <a16:creationId xmlns:a16="http://schemas.microsoft.com/office/drawing/2014/main" id="{D9DA6F12-CBA5-4F6E-9ADE-D27977BCE79C}"/>
              </a:ext>
            </a:extLst>
          </p:cNvPr>
          <p:cNvSpPr>
            <a:spLocks noChangeShapeType="1"/>
          </p:cNvSpPr>
          <p:nvPr>
            <p:custDataLst>
              <p:tags r:id="rId15"/>
            </p:custDataLst>
          </p:nvPr>
        </p:nvSpPr>
        <p:spPr bwMode="auto">
          <a:xfrm>
            <a:off x="7130198" y="4985147"/>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sp>
        <p:nvSpPr>
          <p:cNvPr id="44" name="Rectangle 21" descr=" 89">
            <a:extLst>
              <a:ext uri="{FF2B5EF4-FFF2-40B4-BE49-F238E27FC236}">
                <a16:creationId xmlns:a16="http://schemas.microsoft.com/office/drawing/2014/main" id="{A341B01A-70E1-4BD9-AC1D-DF5D36003543}"/>
              </a:ext>
            </a:extLst>
          </p:cNvPr>
          <p:cNvSpPr>
            <a:spLocks noChangeArrowheads="1"/>
          </p:cNvSpPr>
          <p:nvPr>
            <p:custDataLst>
              <p:tags r:id="rId16"/>
            </p:custDataLst>
          </p:nvPr>
        </p:nvSpPr>
        <p:spPr bwMode="auto">
          <a:xfrm>
            <a:off x="6672998" y="4702968"/>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1800" dirty="0"/>
          </a:p>
        </p:txBody>
      </p:sp>
      <p:sp>
        <p:nvSpPr>
          <p:cNvPr id="45" name="Rectangle 6" descr=" 90">
            <a:extLst>
              <a:ext uri="{FF2B5EF4-FFF2-40B4-BE49-F238E27FC236}">
                <a16:creationId xmlns:a16="http://schemas.microsoft.com/office/drawing/2014/main" id="{B5073066-9577-4B17-8952-F8F54C024527}"/>
              </a:ext>
            </a:extLst>
          </p:cNvPr>
          <p:cNvSpPr>
            <a:spLocks noChangeArrowheads="1"/>
          </p:cNvSpPr>
          <p:nvPr>
            <p:custDataLst>
              <p:tags r:id="rId17"/>
            </p:custDataLst>
          </p:nvPr>
        </p:nvSpPr>
        <p:spPr bwMode="auto">
          <a:xfrm>
            <a:off x="6936149" y="4245768"/>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A</a:t>
            </a:r>
          </a:p>
        </p:txBody>
      </p:sp>
      <p:sp>
        <p:nvSpPr>
          <p:cNvPr id="46" name="Rectangle 45" descr=" 84">
            <a:extLst>
              <a:ext uri="{FF2B5EF4-FFF2-40B4-BE49-F238E27FC236}">
                <a16:creationId xmlns:a16="http://schemas.microsoft.com/office/drawing/2014/main" id="{E21FBF71-2FB6-442C-9887-03EC4B25048F}"/>
              </a:ext>
            </a:extLst>
          </p:cNvPr>
          <p:cNvSpPr>
            <a:spLocks noChangeArrowheads="1"/>
          </p:cNvSpPr>
          <p:nvPr>
            <p:custDataLst>
              <p:tags r:id="rId18"/>
            </p:custDataLst>
          </p:nvPr>
        </p:nvSpPr>
        <p:spPr bwMode="auto">
          <a:xfrm>
            <a:off x="7758848" y="4702968"/>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b="1" dirty="0"/>
              <a:t>10</a:t>
            </a:r>
            <a:r>
              <a:rPr lang="en-US" sz="1500" dirty="0"/>
              <a:t>, 0</a:t>
            </a:r>
            <a:endParaRPr lang="en-US" sz="1800" dirty="0"/>
          </a:p>
        </p:txBody>
      </p:sp>
      <p:sp>
        <p:nvSpPr>
          <p:cNvPr id="50" name="Text Box 11" descr=" 9">
            <a:extLst>
              <a:ext uri="{FF2B5EF4-FFF2-40B4-BE49-F238E27FC236}">
                <a16:creationId xmlns:a16="http://schemas.microsoft.com/office/drawing/2014/main" id="{323021E6-5070-470F-A318-A7BBC6B17C54}"/>
              </a:ext>
            </a:extLst>
          </p:cNvPr>
          <p:cNvSpPr txBox="1">
            <a:spLocks noChangeArrowheads="1"/>
          </p:cNvSpPr>
          <p:nvPr>
            <p:custDataLst>
              <p:tags r:id="rId19"/>
            </p:custDataLst>
          </p:nvPr>
        </p:nvSpPr>
        <p:spPr bwMode="auto">
          <a:xfrm>
            <a:off x="7831431" y="3923407"/>
            <a:ext cx="792909" cy="307777"/>
          </a:xfrm>
          <a:prstGeom prst="rect">
            <a:avLst/>
          </a:prstGeom>
          <a:noFill/>
          <a:ln w="12700">
            <a:noFill/>
            <a:miter lim="800000"/>
            <a:headEnd type="none" w="sm" len="sm"/>
            <a:tailEnd type="none" w="sm" len="sm"/>
          </a:ln>
        </p:spPr>
        <p:txBody>
          <a:bodyPr wrap="none">
            <a:spAutoFit/>
          </a:bodyPr>
          <a:lstStyle/>
          <a:p>
            <a:pPr algn="ctr"/>
            <a:r>
              <a:rPr lang="en-US" sz="1400" dirty="0">
                <a:latin typeface="Calibri" pitchFamily="34" charset="0"/>
              </a:rPr>
              <a:t>Store 10</a:t>
            </a:r>
          </a:p>
        </p:txBody>
      </p:sp>
      <p:sp>
        <p:nvSpPr>
          <p:cNvPr id="51" name="Text Box 11" descr=" 9">
            <a:extLst>
              <a:ext uri="{FF2B5EF4-FFF2-40B4-BE49-F238E27FC236}">
                <a16:creationId xmlns:a16="http://schemas.microsoft.com/office/drawing/2014/main" id="{B01D04D8-3E9A-48DF-BC47-712879E58E8C}"/>
              </a:ext>
            </a:extLst>
          </p:cNvPr>
          <p:cNvSpPr txBox="1">
            <a:spLocks noChangeArrowheads="1"/>
          </p:cNvSpPr>
          <p:nvPr>
            <p:custDataLst>
              <p:tags r:id="rId20"/>
            </p:custDataLst>
          </p:nvPr>
        </p:nvSpPr>
        <p:spPr bwMode="auto">
          <a:xfrm>
            <a:off x="7877115" y="3657600"/>
            <a:ext cx="667170" cy="307777"/>
          </a:xfrm>
          <a:prstGeom prst="rect">
            <a:avLst/>
          </a:prstGeom>
          <a:noFill/>
          <a:ln w="12700">
            <a:noFill/>
            <a:miter lim="800000"/>
            <a:headEnd type="none" w="sm" len="sm"/>
            <a:tailEnd type="none" w="sm" len="sm"/>
          </a:ln>
        </p:spPr>
        <p:txBody>
          <a:bodyPr wrap="none">
            <a:spAutoFit/>
          </a:bodyPr>
          <a:lstStyle/>
          <a:p>
            <a:pPr algn="ctr"/>
            <a:r>
              <a:rPr lang="en-US" sz="1400" dirty="0">
                <a:latin typeface="Calibri" pitchFamily="34" charset="0"/>
              </a:rPr>
              <a:t>Load 1</a:t>
            </a:r>
          </a:p>
        </p:txBody>
      </p:sp>
    </p:spTree>
    <p:custDataLst>
      <p:tags r:id="rId1"/>
    </p:custDataLst>
    <p:extLst>
      <p:ext uri="{BB962C8B-B14F-4D97-AF65-F5344CB8AC3E}">
        <p14:creationId xmlns:p14="http://schemas.microsoft.com/office/powerpoint/2010/main" val="76145683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a:t>
            </a:r>
          </a:p>
        </p:txBody>
      </p:sp>
      <p:sp>
        <p:nvSpPr>
          <p:cNvPr id="2056" name="Rectangle 3"/>
          <p:cNvSpPr>
            <a:spLocks noGrp="1" noChangeArrowheads="1"/>
          </p:cNvSpPr>
          <p:nvPr>
            <p:ph idx="1"/>
            <p:custDataLst>
              <p:tags r:id="rId3"/>
            </p:custDataLst>
          </p:nvPr>
        </p:nvSpPr>
        <p:spPr>
          <a:xfrm>
            <a:off x="682625" y="1600199"/>
            <a:ext cx="8385175" cy="1645373"/>
          </a:xfrm>
        </p:spPr>
        <p:txBody>
          <a:bodyPr/>
          <a:lstStyle/>
          <a:p>
            <a:pPr marL="0" indent="0">
              <a:lnSpc>
                <a:spcPct val="80000"/>
              </a:lnSpc>
              <a:buNone/>
            </a:pPr>
            <a:r>
              <a:rPr lang="en-US" altLang="en-US" sz="2800" dirty="0"/>
              <a:t>With write-back, write-allocate caches and </a:t>
            </a:r>
            <a:r>
              <a:rPr lang="en-US" altLang="en-US" sz="2800" b="1" dirty="0"/>
              <a:t>coherence disabled</a:t>
            </a:r>
            <a:r>
              <a:rPr lang="en-US" altLang="en-US" sz="2800" dirty="0"/>
              <a:t>, show how it’s possible for the memory contents at addresses 2000 and 2004 (same block) to be 10 and 0 after executing this multithreaded program:</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36</a:t>
            </a:fld>
            <a:endParaRPr lang="en-US" altLang="en-US"/>
          </a:p>
        </p:txBody>
      </p:sp>
      <p:sp>
        <p:nvSpPr>
          <p:cNvPr id="19" name="Rectangle 3">
            <a:extLst>
              <a:ext uri="{FF2B5EF4-FFF2-40B4-BE49-F238E27FC236}">
                <a16:creationId xmlns:a16="http://schemas.microsoft.com/office/drawing/2014/main" id="{8B1FDA96-2698-40B4-B623-89B08A3C7C37}"/>
              </a:ext>
            </a:extLst>
          </p:cNvPr>
          <p:cNvSpPr txBox="1">
            <a:spLocks noChangeArrowheads="1"/>
          </p:cNvSpPr>
          <p:nvPr>
            <p:custDataLst>
              <p:tags r:id="rId5"/>
            </p:custDataLst>
          </p:nvPr>
        </p:nvSpPr>
        <p:spPr bwMode="auto">
          <a:xfrm>
            <a:off x="106874" y="3365192"/>
            <a:ext cx="3093526" cy="3162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b="1" dirty="0">
                <a:latin typeface="Courier New" panose="02070309020205020404" pitchFamily="49" charset="0"/>
                <a:cs typeface="Courier New" panose="02070309020205020404" pitchFamily="49" charset="0"/>
              </a:rPr>
              <a:t>     # thread A</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$t0, $zero, 2000</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lw</a:t>
            </a:r>
            <a:r>
              <a:rPr lang="en-US" sz="1400" b="1" dirty="0">
                <a:latin typeface="Courier New" panose="02070309020205020404" pitchFamily="49" charset="0"/>
                <a:cs typeface="Courier New" panose="02070309020205020404" pitchFamily="49" charset="0"/>
              </a:rPr>
              <a:t>   $t1, 0($t0)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$t2, $t1, 1</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$t2, 0($t0)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$t3, $t1, 3</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$t3, 4($t0)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p:txBody>
      </p:sp>
      <p:sp>
        <p:nvSpPr>
          <p:cNvPr id="20" name="Rectangle 3">
            <a:extLst>
              <a:ext uri="{FF2B5EF4-FFF2-40B4-BE49-F238E27FC236}">
                <a16:creationId xmlns:a16="http://schemas.microsoft.com/office/drawing/2014/main" id="{EDA8CCD4-6AD8-4CD5-A079-B1E4E01C33ED}"/>
              </a:ext>
            </a:extLst>
          </p:cNvPr>
          <p:cNvSpPr txBox="1">
            <a:spLocks noChangeArrowheads="1"/>
          </p:cNvSpPr>
          <p:nvPr>
            <p:custDataLst>
              <p:tags r:id="rId6"/>
            </p:custDataLst>
          </p:nvPr>
        </p:nvSpPr>
        <p:spPr bwMode="auto">
          <a:xfrm>
            <a:off x="2819400" y="3365193"/>
            <a:ext cx="3093526" cy="3171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b="1" dirty="0">
                <a:latin typeface="Courier New" panose="02070309020205020404" pitchFamily="49" charset="0"/>
                <a:cs typeface="Courier New" panose="02070309020205020404" pitchFamily="49" charset="0"/>
              </a:rPr>
              <a:t>     # thread B</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$t0, $zero, 2000</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lw</a:t>
            </a:r>
            <a:r>
              <a:rPr lang="en-US" sz="1400" b="1" dirty="0">
                <a:latin typeface="Courier New" panose="02070309020205020404" pitchFamily="49" charset="0"/>
                <a:cs typeface="Courier New" panose="02070309020205020404" pitchFamily="49" charset="0"/>
              </a:rPr>
              <a:t>   $t1, 4($t0)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$t1, $t1, 5</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$t1, 4($t0)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lw</a:t>
            </a:r>
            <a:r>
              <a:rPr lang="en-US" sz="1400" b="1" dirty="0">
                <a:latin typeface="Courier New" panose="02070309020205020404" pitchFamily="49" charset="0"/>
                <a:cs typeface="Courier New" panose="02070309020205020404" pitchFamily="49" charset="0"/>
              </a:rPr>
              <a:t>   $t2, 0($t0)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$t2, $t2, 9</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$t2, 0($t0)</a:t>
            </a:r>
          </a:p>
          <a:p>
            <a:pPr marL="0" indent="0">
              <a:buNone/>
            </a:pPr>
            <a:r>
              <a:rPr lang="en-US" altLang="en-US" sz="1400" b="1" dirty="0">
                <a:latin typeface="Courier New" panose="02070309020205020404" pitchFamily="49" charset="0"/>
                <a:cs typeface="Courier New" panose="02070309020205020404" pitchFamily="49" charset="0"/>
              </a:rPr>
              <a:t>    </a:t>
            </a:r>
            <a:r>
              <a:rPr lang="en-US" sz="1400" b="1" dirty="0">
                <a:latin typeface="Courier New" panose="02070309020205020404" pitchFamily="49" charset="0"/>
                <a:cs typeface="Courier New" panose="02070309020205020404" pitchFamily="49" charset="0"/>
              </a:rPr>
              <a:t> ...</a:t>
            </a:r>
            <a:endParaRPr lang="en-US" altLang="en-US" sz="1400" b="1" dirty="0">
              <a:latin typeface="Courier New" panose="02070309020205020404" pitchFamily="49" charset="0"/>
              <a:cs typeface="Courier New" panose="02070309020205020404" pitchFamily="49" charset="0"/>
            </a:endParaRPr>
          </a:p>
        </p:txBody>
      </p:sp>
      <p:sp>
        <p:nvSpPr>
          <p:cNvPr id="24" name="Rectangle 23">
            <a:extLst>
              <a:ext uri="{FF2B5EF4-FFF2-40B4-BE49-F238E27FC236}">
                <a16:creationId xmlns:a16="http://schemas.microsoft.com/office/drawing/2014/main" id="{C2E6EC51-C99D-43F1-BE1C-41C5F002FCF3}"/>
              </a:ext>
            </a:extLst>
          </p:cNvPr>
          <p:cNvSpPr/>
          <p:nvPr>
            <p:custDataLst>
              <p:tags r:id="rId7"/>
            </p:custDataLst>
          </p:nvPr>
        </p:nvSpPr>
        <p:spPr>
          <a:xfrm>
            <a:off x="682625" y="3365190"/>
            <a:ext cx="2319849" cy="2578410"/>
          </a:xfrm>
          <a:prstGeom prst="rect">
            <a:avLst/>
          </a:prstGeom>
          <a:solidFill>
            <a:schemeClr val="accent6">
              <a:lumMod val="7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BAF7E57-132B-4151-AD9A-EB0BE2EFC8DA}"/>
              </a:ext>
            </a:extLst>
          </p:cNvPr>
          <p:cNvSpPr/>
          <p:nvPr>
            <p:custDataLst>
              <p:tags r:id="rId8"/>
            </p:custDataLst>
          </p:nvPr>
        </p:nvSpPr>
        <p:spPr>
          <a:xfrm>
            <a:off x="3395151" y="3365190"/>
            <a:ext cx="2319849" cy="2883210"/>
          </a:xfrm>
          <a:prstGeom prst="rect">
            <a:avLst/>
          </a:prstGeom>
          <a:solidFill>
            <a:schemeClr val="accent6">
              <a:lumMod val="7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4" descr=" 80">
            <a:extLst>
              <a:ext uri="{FF2B5EF4-FFF2-40B4-BE49-F238E27FC236}">
                <a16:creationId xmlns:a16="http://schemas.microsoft.com/office/drawing/2014/main" id="{9AB56EE2-2A13-40B7-B067-C6822372CF6C}"/>
              </a:ext>
            </a:extLst>
          </p:cNvPr>
          <p:cNvSpPr>
            <a:spLocks noChangeArrowheads="1"/>
          </p:cNvSpPr>
          <p:nvPr>
            <p:custDataLst>
              <p:tags r:id="rId9"/>
            </p:custDataLst>
          </p:nvPr>
        </p:nvSpPr>
        <p:spPr bwMode="auto">
          <a:xfrm>
            <a:off x="6958748" y="5274468"/>
            <a:ext cx="1373463"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Bus</a:t>
            </a:r>
          </a:p>
        </p:txBody>
      </p:sp>
      <p:cxnSp>
        <p:nvCxnSpPr>
          <p:cNvPr id="23" name="AutoShape 17" descr=" 81">
            <a:extLst>
              <a:ext uri="{FF2B5EF4-FFF2-40B4-BE49-F238E27FC236}">
                <a16:creationId xmlns:a16="http://schemas.microsoft.com/office/drawing/2014/main" id="{85A7D29E-0B92-486C-8C97-7288B754B9F4}"/>
              </a:ext>
            </a:extLst>
          </p:cNvPr>
          <p:cNvCxnSpPr>
            <a:cxnSpLocks noChangeShapeType="1"/>
          </p:cNvCxnSpPr>
          <p:nvPr>
            <p:custDataLst>
              <p:tags r:id="rId10"/>
            </p:custDataLst>
          </p:nvPr>
        </p:nvCxnSpPr>
        <p:spPr bwMode="auto">
          <a:xfrm rot="5400000">
            <a:off x="8130323" y="4617243"/>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26" name="Line 10" descr=" 82">
            <a:extLst>
              <a:ext uri="{FF2B5EF4-FFF2-40B4-BE49-F238E27FC236}">
                <a16:creationId xmlns:a16="http://schemas.microsoft.com/office/drawing/2014/main" id="{39753AE7-5453-4DEC-A3BF-C1AB164E7F6F}"/>
              </a:ext>
            </a:extLst>
          </p:cNvPr>
          <p:cNvSpPr>
            <a:spLocks noChangeShapeType="1"/>
          </p:cNvSpPr>
          <p:nvPr>
            <p:custDataLst>
              <p:tags r:id="rId11"/>
            </p:custDataLst>
          </p:nvPr>
        </p:nvSpPr>
        <p:spPr bwMode="auto">
          <a:xfrm>
            <a:off x="8216048" y="4985147"/>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cxnSp>
        <p:nvCxnSpPr>
          <p:cNvPr id="27" name="Straight Arrow Connector 26" descr=" 83">
            <a:extLst>
              <a:ext uri="{FF2B5EF4-FFF2-40B4-BE49-F238E27FC236}">
                <a16:creationId xmlns:a16="http://schemas.microsoft.com/office/drawing/2014/main" id="{B477BD85-07EA-48BA-A11B-4DD26BA6E3C7}"/>
              </a:ext>
            </a:extLst>
          </p:cNvPr>
          <p:cNvCxnSpPr>
            <a:stCxn id="22" idx="2"/>
            <a:endCxn id="28" idx="0"/>
          </p:cNvCxnSpPr>
          <p:nvPr/>
        </p:nvCxnSpPr>
        <p:spPr bwMode="auto">
          <a:xfrm>
            <a:off x="7645480" y="5556647"/>
            <a:ext cx="0" cy="234553"/>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28" name="Rectangle 21" descr=" 85">
            <a:extLst>
              <a:ext uri="{FF2B5EF4-FFF2-40B4-BE49-F238E27FC236}">
                <a16:creationId xmlns:a16="http://schemas.microsoft.com/office/drawing/2014/main" id="{BBAD1F19-F1B5-4C8E-A1C3-9AB1B2B10AD5}"/>
              </a:ext>
            </a:extLst>
          </p:cNvPr>
          <p:cNvSpPr>
            <a:spLocks noChangeArrowheads="1"/>
          </p:cNvSpPr>
          <p:nvPr>
            <p:custDataLst>
              <p:tags r:id="rId12"/>
            </p:custDataLst>
          </p:nvPr>
        </p:nvSpPr>
        <p:spPr bwMode="auto">
          <a:xfrm>
            <a:off x="7202603" y="5791200"/>
            <a:ext cx="885754"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1, 0</a:t>
            </a:r>
            <a:endParaRPr lang="en-US" sz="1800" dirty="0">
              <a:solidFill>
                <a:srgbClr val="C00000"/>
              </a:solidFill>
            </a:endParaRPr>
          </a:p>
        </p:txBody>
      </p:sp>
      <p:sp>
        <p:nvSpPr>
          <p:cNvPr id="29" name="Rectangle 6" descr=" 86">
            <a:extLst>
              <a:ext uri="{FF2B5EF4-FFF2-40B4-BE49-F238E27FC236}">
                <a16:creationId xmlns:a16="http://schemas.microsoft.com/office/drawing/2014/main" id="{CAF86C3E-93B6-4BD8-8817-AC870FFF7D52}"/>
              </a:ext>
            </a:extLst>
          </p:cNvPr>
          <p:cNvSpPr>
            <a:spLocks noChangeArrowheads="1"/>
          </p:cNvSpPr>
          <p:nvPr>
            <p:custDataLst>
              <p:tags r:id="rId13"/>
            </p:custDataLst>
          </p:nvPr>
        </p:nvSpPr>
        <p:spPr bwMode="auto">
          <a:xfrm>
            <a:off x="8021999" y="4245768"/>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B</a:t>
            </a:r>
          </a:p>
        </p:txBody>
      </p:sp>
      <p:cxnSp>
        <p:nvCxnSpPr>
          <p:cNvPr id="30" name="AutoShape 17" descr=" 87">
            <a:extLst>
              <a:ext uri="{FF2B5EF4-FFF2-40B4-BE49-F238E27FC236}">
                <a16:creationId xmlns:a16="http://schemas.microsoft.com/office/drawing/2014/main" id="{5EF9CDB4-DE97-462A-A67D-1D541ABB6011}"/>
              </a:ext>
            </a:extLst>
          </p:cNvPr>
          <p:cNvCxnSpPr>
            <a:cxnSpLocks noChangeShapeType="1"/>
          </p:cNvCxnSpPr>
          <p:nvPr>
            <p:custDataLst>
              <p:tags r:id="rId14"/>
            </p:custDataLst>
          </p:nvPr>
        </p:nvCxnSpPr>
        <p:spPr bwMode="auto">
          <a:xfrm rot="5400000">
            <a:off x="7044473" y="4617243"/>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31" name="Line 10" descr=" 88">
            <a:extLst>
              <a:ext uri="{FF2B5EF4-FFF2-40B4-BE49-F238E27FC236}">
                <a16:creationId xmlns:a16="http://schemas.microsoft.com/office/drawing/2014/main" id="{5FCEB1CF-05B0-4FD0-B5A1-EF8DFDB212D0}"/>
              </a:ext>
            </a:extLst>
          </p:cNvPr>
          <p:cNvSpPr>
            <a:spLocks noChangeShapeType="1"/>
          </p:cNvSpPr>
          <p:nvPr>
            <p:custDataLst>
              <p:tags r:id="rId15"/>
            </p:custDataLst>
          </p:nvPr>
        </p:nvSpPr>
        <p:spPr bwMode="auto">
          <a:xfrm>
            <a:off x="7130198" y="4985147"/>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sp>
        <p:nvSpPr>
          <p:cNvPr id="32" name="Rectangle 6" descr=" 90">
            <a:extLst>
              <a:ext uri="{FF2B5EF4-FFF2-40B4-BE49-F238E27FC236}">
                <a16:creationId xmlns:a16="http://schemas.microsoft.com/office/drawing/2014/main" id="{80F4243E-41B9-44F0-BB75-EEEE944E75B9}"/>
              </a:ext>
            </a:extLst>
          </p:cNvPr>
          <p:cNvSpPr>
            <a:spLocks noChangeArrowheads="1"/>
          </p:cNvSpPr>
          <p:nvPr>
            <p:custDataLst>
              <p:tags r:id="rId16"/>
            </p:custDataLst>
          </p:nvPr>
        </p:nvSpPr>
        <p:spPr bwMode="auto">
          <a:xfrm>
            <a:off x="6936149" y="4245768"/>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A</a:t>
            </a:r>
          </a:p>
        </p:txBody>
      </p:sp>
      <p:sp>
        <p:nvSpPr>
          <p:cNvPr id="33" name="Rectangle 32" descr=" 84">
            <a:extLst>
              <a:ext uri="{FF2B5EF4-FFF2-40B4-BE49-F238E27FC236}">
                <a16:creationId xmlns:a16="http://schemas.microsoft.com/office/drawing/2014/main" id="{269E3AEB-005D-4672-91BF-5A0CA5DD7914}"/>
              </a:ext>
            </a:extLst>
          </p:cNvPr>
          <p:cNvSpPr>
            <a:spLocks noChangeArrowheads="1"/>
          </p:cNvSpPr>
          <p:nvPr>
            <p:custDataLst>
              <p:tags r:id="rId17"/>
            </p:custDataLst>
          </p:nvPr>
        </p:nvSpPr>
        <p:spPr bwMode="auto">
          <a:xfrm>
            <a:off x="7758848" y="4702968"/>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10, 0</a:t>
            </a:r>
            <a:endParaRPr lang="en-US" sz="1800" dirty="0"/>
          </a:p>
        </p:txBody>
      </p:sp>
      <p:sp>
        <p:nvSpPr>
          <p:cNvPr id="34" name="Rectangle 21" descr=" 89">
            <a:extLst>
              <a:ext uri="{FF2B5EF4-FFF2-40B4-BE49-F238E27FC236}">
                <a16:creationId xmlns:a16="http://schemas.microsoft.com/office/drawing/2014/main" id="{F1DD7205-93F6-447C-93BC-D1A403004B35}"/>
              </a:ext>
            </a:extLst>
          </p:cNvPr>
          <p:cNvSpPr>
            <a:spLocks noChangeArrowheads="1"/>
          </p:cNvSpPr>
          <p:nvPr>
            <p:custDataLst>
              <p:tags r:id="rId18"/>
            </p:custDataLst>
          </p:nvPr>
        </p:nvSpPr>
        <p:spPr bwMode="auto">
          <a:xfrm>
            <a:off x="6672998" y="4718446"/>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dirty="0"/>
              <a:t>1, </a:t>
            </a:r>
            <a:r>
              <a:rPr lang="en-US" sz="1500" b="1" dirty="0"/>
              <a:t>3</a:t>
            </a:r>
            <a:endParaRPr lang="en-US" sz="1800" b="1" dirty="0"/>
          </a:p>
        </p:txBody>
      </p:sp>
      <p:sp>
        <p:nvSpPr>
          <p:cNvPr id="35" name="Text Box 11" descr=" 9">
            <a:extLst>
              <a:ext uri="{FF2B5EF4-FFF2-40B4-BE49-F238E27FC236}">
                <a16:creationId xmlns:a16="http://schemas.microsoft.com/office/drawing/2014/main" id="{B102ADB7-7245-413E-B2C2-644E585C6A3F}"/>
              </a:ext>
            </a:extLst>
          </p:cNvPr>
          <p:cNvSpPr txBox="1">
            <a:spLocks noChangeArrowheads="1"/>
          </p:cNvSpPr>
          <p:nvPr>
            <p:custDataLst>
              <p:tags r:id="rId19"/>
            </p:custDataLst>
          </p:nvPr>
        </p:nvSpPr>
        <p:spPr bwMode="auto">
          <a:xfrm>
            <a:off x="6707737" y="3959423"/>
            <a:ext cx="836063" cy="307777"/>
          </a:xfrm>
          <a:prstGeom prst="rect">
            <a:avLst/>
          </a:prstGeom>
          <a:noFill/>
          <a:ln w="12700">
            <a:noFill/>
            <a:miter lim="800000"/>
            <a:headEnd type="none" w="sm" len="sm"/>
            <a:tailEnd type="none" w="sm" len="sm"/>
          </a:ln>
        </p:spPr>
        <p:txBody>
          <a:bodyPr wrap="none">
            <a:spAutoFit/>
          </a:bodyPr>
          <a:lstStyle/>
          <a:p>
            <a:r>
              <a:rPr lang="en-US" sz="1400" dirty="0">
                <a:latin typeface="Calibri" pitchFamily="34" charset="0"/>
              </a:rPr>
              <a:t>Evict 1, 3</a:t>
            </a:r>
          </a:p>
        </p:txBody>
      </p:sp>
      <p:sp>
        <p:nvSpPr>
          <p:cNvPr id="47" name="Text Box 11" descr=" 9">
            <a:extLst>
              <a:ext uri="{FF2B5EF4-FFF2-40B4-BE49-F238E27FC236}">
                <a16:creationId xmlns:a16="http://schemas.microsoft.com/office/drawing/2014/main" id="{984BE615-366B-44F5-A5BD-CD414800A3B1}"/>
              </a:ext>
            </a:extLst>
          </p:cNvPr>
          <p:cNvSpPr txBox="1">
            <a:spLocks noChangeArrowheads="1"/>
          </p:cNvSpPr>
          <p:nvPr>
            <p:custDataLst>
              <p:tags r:id="rId20"/>
            </p:custDataLst>
          </p:nvPr>
        </p:nvSpPr>
        <p:spPr bwMode="auto">
          <a:xfrm>
            <a:off x="6807110" y="3733800"/>
            <a:ext cx="701538" cy="307777"/>
          </a:xfrm>
          <a:prstGeom prst="rect">
            <a:avLst/>
          </a:prstGeom>
          <a:noFill/>
          <a:ln w="12700">
            <a:noFill/>
            <a:miter lim="800000"/>
            <a:headEnd type="none" w="sm" len="sm"/>
            <a:tailEnd type="none" w="sm" len="sm"/>
          </a:ln>
        </p:spPr>
        <p:txBody>
          <a:bodyPr wrap="none">
            <a:spAutoFit/>
          </a:bodyPr>
          <a:lstStyle/>
          <a:p>
            <a:pPr algn="ctr"/>
            <a:r>
              <a:rPr lang="en-US" sz="1400" dirty="0">
                <a:latin typeface="Calibri" pitchFamily="34" charset="0"/>
              </a:rPr>
              <a:t>Store 3</a:t>
            </a:r>
          </a:p>
        </p:txBody>
      </p:sp>
      <p:sp>
        <p:nvSpPr>
          <p:cNvPr id="52" name="Rectangle 21" descr=" 85">
            <a:extLst>
              <a:ext uri="{FF2B5EF4-FFF2-40B4-BE49-F238E27FC236}">
                <a16:creationId xmlns:a16="http://schemas.microsoft.com/office/drawing/2014/main" id="{AB2CCA1F-496E-4B66-9D5D-C90E2CF29FE1}"/>
              </a:ext>
            </a:extLst>
          </p:cNvPr>
          <p:cNvSpPr>
            <a:spLocks noChangeArrowheads="1"/>
          </p:cNvSpPr>
          <p:nvPr>
            <p:custDataLst>
              <p:tags r:id="rId21"/>
            </p:custDataLst>
          </p:nvPr>
        </p:nvSpPr>
        <p:spPr bwMode="auto">
          <a:xfrm>
            <a:off x="7202603" y="5791200"/>
            <a:ext cx="885754"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b="1" dirty="0"/>
              <a:t>1, 3</a:t>
            </a:r>
            <a:endParaRPr lang="en-US" sz="1800" b="1" dirty="0">
              <a:solidFill>
                <a:srgbClr val="C00000"/>
              </a:solidFill>
            </a:endParaRPr>
          </a:p>
        </p:txBody>
      </p:sp>
      <p:sp>
        <p:nvSpPr>
          <p:cNvPr id="53" name="Rectangle 21" descr=" 89">
            <a:extLst>
              <a:ext uri="{FF2B5EF4-FFF2-40B4-BE49-F238E27FC236}">
                <a16:creationId xmlns:a16="http://schemas.microsoft.com/office/drawing/2014/main" id="{AA09AAB3-FB45-4A8F-9BA1-9D1CC458AB13}"/>
              </a:ext>
            </a:extLst>
          </p:cNvPr>
          <p:cNvSpPr>
            <a:spLocks noChangeArrowheads="1"/>
          </p:cNvSpPr>
          <p:nvPr>
            <p:custDataLst>
              <p:tags r:id="rId22"/>
            </p:custDataLst>
          </p:nvPr>
        </p:nvSpPr>
        <p:spPr bwMode="auto">
          <a:xfrm>
            <a:off x="6672998" y="4718446"/>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1800" b="1" dirty="0"/>
          </a:p>
        </p:txBody>
      </p:sp>
    </p:spTree>
    <p:custDataLst>
      <p:tags r:id="rId1"/>
    </p:custDataLst>
    <p:extLst>
      <p:ext uri="{BB962C8B-B14F-4D97-AF65-F5344CB8AC3E}">
        <p14:creationId xmlns:p14="http://schemas.microsoft.com/office/powerpoint/2010/main" val="337303238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a:t>
            </a:r>
          </a:p>
        </p:txBody>
      </p:sp>
      <p:sp>
        <p:nvSpPr>
          <p:cNvPr id="2056" name="Rectangle 3"/>
          <p:cNvSpPr>
            <a:spLocks noGrp="1" noChangeArrowheads="1"/>
          </p:cNvSpPr>
          <p:nvPr>
            <p:ph idx="1"/>
            <p:custDataLst>
              <p:tags r:id="rId3"/>
            </p:custDataLst>
          </p:nvPr>
        </p:nvSpPr>
        <p:spPr>
          <a:xfrm>
            <a:off x="682625" y="1600199"/>
            <a:ext cx="8385175" cy="1645373"/>
          </a:xfrm>
        </p:spPr>
        <p:txBody>
          <a:bodyPr/>
          <a:lstStyle/>
          <a:p>
            <a:pPr marL="0" indent="0">
              <a:lnSpc>
                <a:spcPct val="80000"/>
              </a:lnSpc>
              <a:buNone/>
            </a:pPr>
            <a:r>
              <a:rPr lang="en-US" altLang="en-US" sz="2800" dirty="0"/>
              <a:t>With write-back, write-allocate caches and </a:t>
            </a:r>
            <a:r>
              <a:rPr lang="en-US" altLang="en-US" sz="2800" b="1" dirty="0"/>
              <a:t>coherence disabled</a:t>
            </a:r>
            <a:r>
              <a:rPr lang="en-US" altLang="en-US" sz="2800" dirty="0"/>
              <a:t>, show how it’s possible for the memory contents at addresses 2000 and 2004 (same block) to be 10 and 0 after executing this multithreaded program:</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37</a:t>
            </a:fld>
            <a:endParaRPr lang="en-US" altLang="en-US"/>
          </a:p>
        </p:txBody>
      </p:sp>
      <p:sp>
        <p:nvSpPr>
          <p:cNvPr id="19" name="Rectangle 3">
            <a:extLst>
              <a:ext uri="{FF2B5EF4-FFF2-40B4-BE49-F238E27FC236}">
                <a16:creationId xmlns:a16="http://schemas.microsoft.com/office/drawing/2014/main" id="{8B1FDA96-2698-40B4-B623-89B08A3C7C37}"/>
              </a:ext>
            </a:extLst>
          </p:cNvPr>
          <p:cNvSpPr txBox="1">
            <a:spLocks noChangeArrowheads="1"/>
          </p:cNvSpPr>
          <p:nvPr>
            <p:custDataLst>
              <p:tags r:id="rId5"/>
            </p:custDataLst>
          </p:nvPr>
        </p:nvSpPr>
        <p:spPr bwMode="auto">
          <a:xfrm>
            <a:off x="106874" y="3365192"/>
            <a:ext cx="3093526" cy="3162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b="1" dirty="0">
                <a:latin typeface="Courier New" panose="02070309020205020404" pitchFamily="49" charset="0"/>
                <a:cs typeface="Courier New" panose="02070309020205020404" pitchFamily="49" charset="0"/>
              </a:rPr>
              <a:t>     # thread A</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$t0, $zero, 2000</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lw</a:t>
            </a:r>
            <a:r>
              <a:rPr lang="en-US" sz="1400" b="1" dirty="0">
                <a:latin typeface="Courier New" panose="02070309020205020404" pitchFamily="49" charset="0"/>
                <a:cs typeface="Courier New" panose="02070309020205020404" pitchFamily="49" charset="0"/>
              </a:rPr>
              <a:t>   $t1, 0($t0)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$t2, $t1, 1</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$t2, 0($t0)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$t3, $t1, 3</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$t3, 4($t0)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p:txBody>
      </p:sp>
      <p:sp>
        <p:nvSpPr>
          <p:cNvPr id="20" name="Rectangle 3">
            <a:extLst>
              <a:ext uri="{FF2B5EF4-FFF2-40B4-BE49-F238E27FC236}">
                <a16:creationId xmlns:a16="http://schemas.microsoft.com/office/drawing/2014/main" id="{EDA8CCD4-6AD8-4CD5-A079-B1E4E01C33ED}"/>
              </a:ext>
            </a:extLst>
          </p:cNvPr>
          <p:cNvSpPr txBox="1">
            <a:spLocks noChangeArrowheads="1"/>
          </p:cNvSpPr>
          <p:nvPr>
            <p:custDataLst>
              <p:tags r:id="rId6"/>
            </p:custDataLst>
          </p:nvPr>
        </p:nvSpPr>
        <p:spPr bwMode="auto">
          <a:xfrm>
            <a:off x="2819400" y="3365193"/>
            <a:ext cx="3093526" cy="3171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b="1" dirty="0">
                <a:latin typeface="Courier New" panose="02070309020205020404" pitchFamily="49" charset="0"/>
                <a:cs typeface="Courier New" panose="02070309020205020404" pitchFamily="49" charset="0"/>
              </a:rPr>
              <a:t>     # thread B</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$t0, $zero, 2000</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lw</a:t>
            </a:r>
            <a:r>
              <a:rPr lang="en-US" sz="1400" b="1" dirty="0">
                <a:latin typeface="Courier New" panose="02070309020205020404" pitchFamily="49" charset="0"/>
                <a:cs typeface="Courier New" panose="02070309020205020404" pitchFamily="49" charset="0"/>
              </a:rPr>
              <a:t>   $t1, 4($t0)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$t1, $t1, 5</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$t1, 4($t0)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lw</a:t>
            </a:r>
            <a:r>
              <a:rPr lang="en-US" sz="1400" b="1" dirty="0">
                <a:latin typeface="Courier New" panose="02070309020205020404" pitchFamily="49" charset="0"/>
                <a:cs typeface="Courier New" panose="02070309020205020404" pitchFamily="49" charset="0"/>
              </a:rPr>
              <a:t>   $t2, 0($t0)</a:t>
            </a:r>
          </a:p>
          <a:p>
            <a:pPr marL="0" indent="0">
              <a:buNone/>
            </a:pPr>
            <a:r>
              <a:rPr lang="en-US" sz="1400" b="1" dirty="0">
                <a:latin typeface="Courier New" panose="02070309020205020404" pitchFamily="49" charset="0"/>
                <a:cs typeface="Courier New" panose="02070309020205020404" pitchFamily="49" charset="0"/>
              </a:rPr>
              <a:t>     ...</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addi</a:t>
            </a:r>
            <a:r>
              <a:rPr lang="en-US" sz="1400" b="1" dirty="0">
                <a:latin typeface="Courier New" panose="02070309020205020404" pitchFamily="49" charset="0"/>
                <a:cs typeface="Courier New" panose="02070309020205020404" pitchFamily="49" charset="0"/>
              </a:rPr>
              <a:t> $t2, $t2, 9</a:t>
            </a:r>
            <a:endParaRPr lang="en-US" sz="1400" dirty="0">
              <a:latin typeface="Courier New" panose="02070309020205020404" pitchFamily="49" charset="0"/>
              <a:cs typeface="Courier New" panose="02070309020205020404" pitchFamily="49" charset="0"/>
            </a:endParaRPr>
          </a:p>
          <a:p>
            <a:pPr marL="0" indent="0">
              <a:buNone/>
            </a:pP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sw</a:t>
            </a:r>
            <a:r>
              <a:rPr lang="en-US" sz="1400" b="1" dirty="0">
                <a:latin typeface="Courier New" panose="02070309020205020404" pitchFamily="49" charset="0"/>
                <a:cs typeface="Courier New" panose="02070309020205020404" pitchFamily="49" charset="0"/>
              </a:rPr>
              <a:t>   $t2, 0($t0)</a:t>
            </a:r>
          </a:p>
          <a:p>
            <a:pPr marL="0" indent="0">
              <a:buNone/>
            </a:pPr>
            <a:r>
              <a:rPr lang="en-US" altLang="en-US" sz="1400" b="1" dirty="0">
                <a:latin typeface="Courier New" panose="02070309020205020404" pitchFamily="49" charset="0"/>
                <a:cs typeface="Courier New" panose="02070309020205020404" pitchFamily="49" charset="0"/>
              </a:rPr>
              <a:t>    </a:t>
            </a:r>
            <a:r>
              <a:rPr lang="en-US" sz="1400" b="1" dirty="0">
                <a:latin typeface="Courier New" panose="02070309020205020404" pitchFamily="49" charset="0"/>
                <a:cs typeface="Courier New" panose="02070309020205020404" pitchFamily="49" charset="0"/>
              </a:rPr>
              <a:t> ...</a:t>
            </a:r>
            <a:endParaRPr lang="en-US" altLang="en-US" sz="1400" b="1" dirty="0">
              <a:latin typeface="Courier New" panose="02070309020205020404" pitchFamily="49" charset="0"/>
              <a:cs typeface="Courier New" panose="02070309020205020404" pitchFamily="49" charset="0"/>
            </a:endParaRPr>
          </a:p>
        </p:txBody>
      </p:sp>
      <p:sp>
        <p:nvSpPr>
          <p:cNvPr id="24" name="Rectangle 23">
            <a:extLst>
              <a:ext uri="{FF2B5EF4-FFF2-40B4-BE49-F238E27FC236}">
                <a16:creationId xmlns:a16="http://schemas.microsoft.com/office/drawing/2014/main" id="{C2E6EC51-C99D-43F1-BE1C-41C5F002FCF3}"/>
              </a:ext>
            </a:extLst>
          </p:cNvPr>
          <p:cNvSpPr/>
          <p:nvPr>
            <p:custDataLst>
              <p:tags r:id="rId7"/>
            </p:custDataLst>
          </p:nvPr>
        </p:nvSpPr>
        <p:spPr>
          <a:xfrm>
            <a:off x="682625" y="3365190"/>
            <a:ext cx="2319849" cy="2578410"/>
          </a:xfrm>
          <a:prstGeom prst="rect">
            <a:avLst/>
          </a:prstGeom>
          <a:solidFill>
            <a:schemeClr val="accent6">
              <a:lumMod val="7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BAF7E57-132B-4151-AD9A-EB0BE2EFC8DA}"/>
              </a:ext>
            </a:extLst>
          </p:cNvPr>
          <p:cNvSpPr/>
          <p:nvPr>
            <p:custDataLst>
              <p:tags r:id="rId8"/>
            </p:custDataLst>
          </p:nvPr>
        </p:nvSpPr>
        <p:spPr>
          <a:xfrm>
            <a:off x="3395151" y="3365190"/>
            <a:ext cx="2319849" cy="3111810"/>
          </a:xfrm>
          <a:prstGeom prst="rect">
            <a:avLst/>
          </a:prstGeom>
          <a:solidFill>
            <a:schemeClr val="accent6">
              <a:lumMod val="7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4" descr=" 80">
            <a:extLst>
              <a:ext uri="{FF2B5EF4-FFF2-40B4-BE49-F238E27FC236}">
                <a16:creationId xmlns:a16="http://schemas.microsoft.com/office/drawing/2014/main" id="{EC52DB25-2142-4F57-A7D3-7FE79DC5C998}"/>
              </a:ext>
            </a:extLst>
          </p:cNvPr>
          <p:cNvSpPr>
            <a:spLocks noChangeArrowheads="1"/>
          </p:cNvSpPr>
          <p:nvPr>
            <p:custDataLst>
              <p:tags r:id="rId9"/>
            </p:custDataLst>
          </p:nvPr>
        </p:nvSpPr>
        <p:spPr bwMode="auto">
          <a:xfrm>
            <a:off x="6958748" y="5274468"/>
            <a:ext cx="1373463"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Bus</a:t>
            </a:r>
          </a:p>
        </p:txBody>
      </p:sp>
      <p:cxnSp>
        <p:nvCxnSpPr>
          <p:cNvPr id="37" name="AutoShape 17" descr=" 81">
            <a:extLst>
              <a:ext uri="{FF2B5EF4-FFF2-40B4-BE49-F238E27FC236}">
                <a16:creationId xmlns:a16="http://schemas.microsoft.com/office/drawing/2014/main" id="{212CE9EC-9B52-477E-BB63-842210734D2D}"/>
              </a:ext>
            </a:extLst>
          </p:cNvPr>
          <p:cNvCxnSpPr>
            <a:cxnSpLocks noChangeShapeType="1"/>
          </p:cNvCxnSpPr>
          <p:nvPr>
            <p:custDataLst>
              <p:tags r:id="rId10"/>
            </p:custDataLst>
          </p:nvPr>
        </p:nvCxnSpPr>
        <p:spPr bwMode="auto">
          <a:xfrm rot="5400000">
            <a:off x="8130323" y="4617243"/>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38" name="Line 10" descr=" 82">
            <a:extLst>
              <a:ext uri="{FF2B5EF4-FFF2-40B4-BE49-F238E27FC236}">
                <a16:creationId xmlns:a16="http://schemas.microsoft.com/office/drawing/2014/main" id="{7498466C-33B3-4768-9F2D-84EAE67143BE}"/>
              </a:ext>
            </a:extLst>
          </p:cNvPr>
          <p:cNvSpPr>
            <a:spLocks noChangeShapeType="1"/>
          </p:cNvSpPr>
          <p:nvPr>
            <p:custDataLst>
              <p:tags r:id="rId11"/>
            </p:custDataLst>
          </p:nvPr>
        </p:nvSpPr>
        <p:spPr bwMode="auto">
          <a:xfrm>
            <a:off x="8216048" y="4985147"/>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cxnSp>
        <p:nvCxnSpPr>
          <p:cNvPr id="39" name="Straight Arrow Connector 38" descr=" 83">
            <a:extLst>
              <a:ext uri="{FF2B5EF4-FFF2-40B4-BE49-F238E27FC236}">
                <a16:creationId xmlns:a16="http://schemas.microsoft.com/office/drawing/2014/main" id="{2B4D4F1B-5682-471F-BEAA-8BDD60D8E157}"/>
              </a:ext>
            </a:extLst>
          </p:cNvPr>
          <p:cNvCxnSpPr>
            <a:stCxn id="36" idx="2"/>
            <a:endCxn id="40" idx="0"/>
          </p:cNvCxnSpPr>
          <p:nvPr/>
        </p:nvCxnSpPr>
        <p:spPr bwMode="auto">
          <a:xfrm rot="16200000" flipH="1">
            <a:off x="7531179" y="5670946"/>
            <a:ext cx="228600" cy="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40" name="Rectangle 21" descr=" 85">
            <a:extLst>
              <a:ext uri="{FF2B5EF4-FFF2-40B4-BE49-F238E27FC236}">
                <a16:creationId xmlns:a16="http://schemas.microsoft.com/office/drawing/2014/main" id="{093A1788-189E-4B0F-9BDB-B3300A337FEB}"/>
              </a:ext>
            </a:extLst>
          </p:cNvPr>
          <p:cNvSpPr>
            <a:spLocks noChangeArrowheads="1"/>
          </p:cNvSpPr>
          <p:nvPr>
            <p:custDataLst>
              <p:tags r:id="rId12"/>
            </p:custDataLst>
          </p:nvPr>
        </p:nvSpPr>
        <p:spPr bwMode="auto">
          <a:xfrm>
            <a:off x="7202603" y="5785246"/>
            <a:ext cx="885754"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1500" b="1" dirty="0"/>
              <a:t>10, 0</a:t>
            </a:r>
            <a:endParaRPr lang="en-US" sz="1800" b="1" dirty="0">
              <a:solidFill>
                <a:srgbClr val="C00000"/>
              </a:solidFill>
            </a:endParaRPr>
          </a:p>
        </p:txBody>
      </p:sp>
      <p:sp>
        <p:nvSpPr>
          <p:cNvPr id="41" name="Rectangle 6" descr=" 86">
            <a:extLst>
              <a:ext uri="{FF2B5EF4-FFF2-40B4-BE49-F238E27FC236}">
                <a16:creationId xmlns:a16="http://schemas.microsoft.com/office/drawing/2014/main" id="{AB7572B0-76F8-4D5D-8DDD-F2A1B8F7AAD6}"/>
              </a:ext>
            </a:extLst>
          </p:cNvPr>
          <p:cNvSpPr>
            <a:spLocks noChangeArrowheads="1"/>
          </p:cNvSpPr>
          <p:nvPr>
            <p:custDataLst>
              <p:tags r:id="rId13"/>
            </p:custDataLst>
          </p:nvPr>
        </p:nvSpPr>
        <p:spPr bwMode="auto">
          <a:xfrm>
            <a:off x="8021999" y="4245768"/>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B</a:t>
            </a:r>
          </a:p>
        </p:txBody>
      </p:sp>
      <p:cxnSp>
        <p:nvCxnSpPr>
          <p:cNvPr id="42" name="AutoShape 17" descr=" 87">
            <a:extLst>
              <a:ext uri="{FF2B5EF4-FFF2-40B4-BE49-F238E27FC236}">
                <a16:creationId xmlns:a16="http://schemas.microsoft.com/office/drawing/2014/main" id="{D5F0E7FC-71B0-4FEB-9242-CED9DA471E53}"/>
              </a:ext>
            </a:extLst>
          </p:cNvPr>
          <p:cNvCxnSpPr>
            <a:cxnSpLocks noChangeShapeType="1"/>
          </p:cNvCxnSpPr>
          <p:nvPr>
            <p:custDataLst>
              <p:tags r:id="rId14"/>
            </p:custDataLst>
          </p:nvPr>
        </p:nvCxnSpPr>
        <p:spPr bwMode="auto">
          <a:xfrm rot="5400000">
            <a:off x="7044473" y="4617243"/>
            <a:ext cx="171450" cy="1"/>
          </a:xfrm>
          <a:prstGeom prst="bentConnector3">
            <a:avLst>
              <a:gd name="adj1" fmla="val 50000"/>
            </a:avLst>
          </a:prstGeom>
          <a:noFill/>
          <a:ln w="12700">
            <a:solidFill>
              <a:schemeClr val="tx1"/>
            </a:solidFill>
            <a:miter lim="800000"/>
            <a:headEnd type="none" w="sm" len="sm"/>
            <a:tailEnd type="triangle" w="med" len="med"/>
          </a:ln>
        </p:spPr>
      </p:cxnSp>
      <p:sp>
        <p:nvSpPr>
          <p:cNvPr id="43" name="Line 10" descr=" 88">
            <a:extLst>
              <a:ext uri="{FF2B5EF4-FFF2-40B4-BE49-F238E27FC236}">
                <a16:creationId xmlns:a16="http://schemas.microsoft.com/office/drawing/2014/main" id="{EA522715-B443-4CF9-A3B6-EB8BC6A365DA}"/>
              </a:ext>
            </a:extLst>
          </p:cNvPr>
          <p:cNvSpPr>
            <a:spLocks noChangeShapeType="1"/>
          </p:cNvSpPr>
          <p:nvPr>
            <p:custDataLst>
              <p:tags r:id="rId15"/>
            </p:custDataLst>
          </p:nvPr>
        </p:nvSpPr>
        <p:spPr bwMode="auto">
          <a:xfrm>
            <a:off x="7130198" y="4985147"/>
            <a:ext cx="0" cy="283369"/>
          </a:xfrm>
          <a:prstGeom prst="line">
            <a:avLst/>
          </a:prstGeom>
          <a:noFill/>
          <a:ln w="12700">
            <a:solidFill>
              <a:schemeClr val="tx1"/>
            </a:solidFill>
            <a:round/>
            <a:headEnd type="none" w="sm" len="sm"/>
            <a:tailEnd type="triangle" w="med" len="med"/>
          </a:ln>
        </p:spPr>
        <p:txBody>
          <a:bodyPr wrap="none" anchor="ctr"/>
          <a:lstStyle/>
          <a:p>
            <a:endParaRPr lang="en-US" sz="750" dirty="0">
              <a:latin typeface="+mn-lt"/>
            </a:endParaRPr>
          </a:p>
        </p:txBody>
      </p:sp>
      <p:sp>
        <p:nvSpPr>
          <p:cNvPr id="44" name="Rectangle 6" descr=" 90">
            <a:extLst>
              <a:ext uri="{FF2B5EF4-FFF2-40B4-BE49-F238E27FC236}">
                <a16:creationId xmlns:a16="http://schemas.microsoft.com/office/drawing/2014/main" id="{EC7EA7C5-EAA8-4A5A-82EA-DFBB5DC14765}"/>
              </a:ext>
            </a:extLst>
          </p:cNvPr>
          <p:cNvSpPr>
            <a:spLocks noChangeArrowheads="1"/>
          </p:cNvSpPr>
          <p:nvPr>
            <p:custDataLst>
              <p:tags r:id="rId16"/>
            </p:custDataLst>
          </p:nvPr>
        </p:nvSpPr>
        <p:spPr bwMode="auto">
          <a:xfrm>
            <a:off x="6936149" y="4245768"/>
            <a:ext cx="388099" cy="282179"/>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1800" dirty="0"/>
              <a:t>A</a:t>
            </a:r>
          </a:p>
        </p:txBody>
      </p:sp>
      <p:sp>
        <p:nvSpPr>
          <p:cNvPr id="45" name="Rectangle 44" descr=" 84">
            <a:extLst>
              <a:ext uri="{FF2B5EF4-FFF2-40B4-BE49-F238E27FC236}">
                <a16:creationId xmlns:a16="http://schemas.microsoft.com/office/drawing/2014/main" id="{1E85C6F3-0C47-40BC-921E-2111AA58DF7F}"/>
              </a:ext>
            </a:extLst>
          </p:cNvPr>
          <p:cNvSpPr>
            <a:spLocks noChangeArrowheads="1"/>
          </p:cNvSpPr>
          <p:nvPr>
            <p:custDataLst>
              <p:tags r:id="rId17"/>
            </p:custDataLst>
          </p:nvPr>
        </p:nvSpPr>
        <p:spPr bwMode="auto">
          <a:xfrm>
            <a:off x="7758848" y="4702968"/>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1800" dirty="0"/>
          </a:p>
        </p:txBody>
      </p:sp>
      <p:sp>
        <p:nvSpPr>
          <p:cNvPr id="46" name="Rectangle 21" descr=" 89">
            <a:extLst>
              <a:ext uri="{FF2B5EF4-FFF2-40B4-BE49-F238E27FC236}">
                <a16:creationId xmlns:a16="http://schemas.microsoft.com/office/drawing/2014/main" id="{C3260806-C36B-4480-8DF6-195DF975CB0C}"/>
              </a:ext>
            </a:extLst>
          </p:cNvPr>
          <p:cNvSpPr>
            <a:spLocks noChangeArrowheads="1"/>
          </p:cNvSpPr>
          <p:nvPr>
            <p:custDataLst>
              <p:tags r:id="rId18"/>
            </p:custDataLst>
          </p:nvPr>
        </p:nvSpPr>
        <p:spPr bwMode="auto">
          <a:xfrm>
            <a:off x="6672998" y="4702968"/>
            <a:ext cx="914400" cy="234554"/>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1800" dirty="0"/>
          </a:p>
        </p:txBody>
      </p:sp>
      <p:sp>
        <p:nvSpPr>
          <p:cNvPr id="48" name="Text Box 11" descr=" 9">
            <a:extLst>
              <a:ext uri="{FF2B5EF4-FFF2-40B4-BE49-F238E27FC236}">
                <a16:creationId xmlns:a16="http://schemas.microsoft.com/office/drawing/2014/main" id="{060F3E8A-DE99-409C-B052-969B77B49A89}"/>
              </a:ext>
            </a:extLst>
          </p:cNvPr>
          <p:cNvSpPr txBox="1">
            <a:spLocks noChangeArrowheads="1"/>
          </p:cNvSpPr>
          <p:nvPr>
            <p:custDataLst>
              <p:tags r:id="rId19"/>
            </p:custDataLst>
          </p:nvPr>
        </p:nvSpPr>
        <p:spPr bwMode="auto">
          <a:xfrm>
            <a:off x="7759367" y="3923407"/>
            <a:ext cx="927433" cy="307777"/>
          </a:xfrm>
          <a:prstGeom prst="rect">
            <a:avLst/>
          </a:prstGeom>
          <a:noFill/>
          <a:ln w="12700">
            <a:noFill/>
            <a:miter lim="800000"/>
            <a:headEnd type="none" w="sm" len="sm"/>
            <a:tailEnd type="none" w="sm" len="sm"/>
          </a:ln>
        </p:spPr>
        <p:txBody>
          <a:bodyPr wrap="none">
            <a:spAutoFit/>
          </a:bodyPr>
          <a:lstStyle/>
          <a:p>
            <a:r>
              <a:rPr lang="en-US" sz="1400" dirty="0">
                <a:latin typeface="Calibri" pitchFamily="34" charset="0"/>
              </a:rPr>
              <a:t>Evict 10, 0</a:t>
            </a:r>
          </a:p>
        </p:txBody>
      </p:sp>
    </p:spTree>
    <p:custDataLst>
      <p:tags r:id="rId1"/>
    </p:custDataLst>
    <p:extLst>
      <p:ext uri="{BB962C8B-B14F-4D97-AF65-F5344CB8AC3E}">
        <p14:creationId xmlns:p14="http://schemas.microsoft.com/office/powerpoint/2010/main" val="138156214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3"/>
  <p:tag name="MMPROD_UIPERSISTENCEDATA" val="MMPROD_UIPERSISTENCEDATA"/>
  <p:tag name="MMPROD_UIDATA" val="&lt;database version=&quot;11.0&quot;&gt;&lt;object type=&quot;1&quot; unique_id=&quot;10001&quot;&gt;&lt;property id=&quot;20141&quot; value=&quot;ECE/CS 552 - Shared Memory and Coherence&quot;/&gt;&lt;property id=&quot;20144&quot; value=&quot;0&quot;/&gt;&lt;property id=&quot;20146&quot; value=&quot;0&quot;/&gt;&lt;property id=&quot;20147&quot; value=&quot;0&quot;/&gt;&lt;property id=&quot;20148&quot; value=&quot;5&quot;/&gt;&lt;property id=&quot;20180&quot; value=&quot;0&quot;/&gt;&lt;property id=&quot;20181&quot; value=&quot;1&quot;/&gt;&lt;property id=&quot;20183&quot; value=&quot;1&quot;/&gt;&lt;property id=&quot;20184&quot; value=&quot;7&quot;/&gt;&lt;property id=&quot;20193&quot; value=&quot;-1&quot;/&gt;&lt;property id=&quot;20224&quot; value=&quot;C:\Users\sanmi\Documents\My Adobe Presentations\ece552-SharedMemoryCoherence&quot;/&gt;&lt;property id=&quot;20250&quot; value=&quot;0&quot;/&gt;&lt;property id=&quot;20251&quot; value=&quot;0&quot;/&gt;&lt;property id=&quot;20259&quot; value=&quot;0&quot;/&gt;&lt;property id=&quot;20263&quot; value=&quot;2&quot;/&gt;&lt;property id=&quot;20264&quot; value=&quot;1&quot;/&gt;&lt;property id=&quot;20519&quot; value=&quot;0&quot;/&gt;&lt;property id=&quot;20700&quot; value=&quot;0&quot;/&gt;&lt;object type=&quot;2&quot; unique_id=&quot;20554&quot;&gt;&lt;object type=&quot;3&quot; unique_id=&quot;20705&quot;&gt;&lt;property id=&quot;20148&quot; value=&quot;5&quot;/&gt;&lt;property id=&quot;20300&quot; value=&quot;Slide 1 - &amp;quot;ECE/CS 552: Shared Memory and Coherence&amp;quot;&quot;/&gt;&lt;property id=&quot;20307&quot; value=&quot;540&quot;/&gt;&lt;property id=&quot;20309&quot; value=&quot;-1&quot;/&gt;&lt;/object&gt;&lt;object type=&quot;3&quot; unique_id=&quot;26042&quot;&gt;&lt;property id=&quot;20148&quot; value=&quot;5&quot;/&gt;&lt;property id=&quot;20300&quot; value=&quot;Slide 5 - &amp;quot;Shared-Memory CMP&amp;quot;&quot;/&gt;&lt;property id=&quot;20307&quot; value=&quot;731&quot;/&gt;&lt;property id=&quot;20309&quot; value=&quot;-1&quot;/&gt;&lt;/object&gt;&lt;object type=&quot;3&quot; unique_id=&quot;27080&quot;&gt;&lt;property id=&quot;20148&quot; value=&quot;5&quot;/&gt;&lt;property id=&quot;20300&quot; value=&quot;Slide 2 - &amp;quot;Shared Memory&amp;quot;&quot;/&gt;&lt;property id=&quot;20307&quot; value=&quot;732&quot;/&gt;&lt;property id=&quot;20309&quot; value=&quot;-1&quot;/&gt;&lt;/object&gt;&lt;object type=&quot;3&quot; unique_id=&quot;27081&quot;&gt;&lt;property id=&quot;20148&quot; value=&quot;5&quot;/&gt;&lt;property id=&quot;20300&quot; value=&quot;Slide 3 - &amp;quot;Shared Memory&amp;quot;&quot;/&gt;&lt;property id=&quot;20307&quot; value=&quot;733&quot;/&gt;&lt;property id=&quot;20309&quot; value=&quot;-1&quot;/&gt;&lt;/object&gt;&lt;object type=&quot;3&quot; unique_id=&quot;27224&quot;&gt;&lt;property id=&quot;20148&quot; value=&quot;5&quot;/&gt;&lt;property id=&quot;20300&quot; value=&quot;Slide 4 - &amp;quot;Shared-Memory CMP&amp;quot;&quot;/&gt;&lt;property id=&quot;20307&quot; value=&quot;734&quot;/&gt;&lt;property id=&quot;20309&quot; value=&quot;-1&quot;/&gt;&lt;/object&gt;&lt;object type=&quot;3&quot; unique_id=&quot;27280&quot;&gt;&lt;property id=&quot;20148&quot; value=&quot;5&quot;/&gt;&lt;property id=&quot;20300&quot; value=&quot;Slide 6 - &amp;quot;UMA vs. NUMA&amp;quot;&quot;/&gt;&lt;property id=&quot;20307&quot; value=&quot;735&quot;/&gt;&lt;property id=&quot;20309&quot; value=&quot;-1&quot;/&gt;&lt;/object&gt;&lt;object type=&quot;3&quot; unique_id=&quot;28995&quot;&gt;&lt;property id=&quot;20148&quot; value=&quot;5&quot;/&gt;&lt;property id=&quot;20300&quot; value=&quot;Slide 7 - &amp;quot;Cache Coherence Problem&amp;quot;&quot;/&gt;&lt;property id=&quot;20307&quot; value=&quot;744&quot;/&gt;&lt;property id=&quot;20309&quot; value=&quot;-1&quot;/&gt;&lt;/object&gt;&lt;object type=&quot;3&quot; unique_id=&quot;28998&quot;&gt;&lt;property id=&quot;20148&quot; value=&quot;5&quot;/&gt;&lt;property id=&quot;20300&quot; value=&quot;Slide 8 - &amp;quot;Cache Coherence Problem&amp;quot;&quot;/&gt;&lt;property id=&quot;20307&quot; value=&quot;747&quot;/&gt;&lt;property id=&quot;20309&quot; value=&quot;-1&quot;/&gt;&lt;/object&gt;&lt;object type=&quot;3&quot; unique_id=&quot;29000&quot;&gt;&lt;property id=&quot;20148&quot; value=&quot;5&quot;/&gt;&lt;property id=&quot;20300&quot; value=&quot;Slide 9 - &amp;quot;Cache Coherence Protocol&amp;quot;&quot;/&gt;&lt;property id=&quot;20307&quot; value=&quot;749&quot;/&gt;&lt;property id=&quot;20309&quot; value=&quot;-1&quot;/&gt;&lt;/object&gt;&lt;object type=&quot;3&quot; unique_id=&quot;29001&quot;&gt;&lt;property id=&quot;20148&quot; value=&quot;5&quot;/&gt;&lt;property id=&quot;20300&quot; value=&quot;Slide 10 - &amp;quot;Cache Coherence Protocol&amp;quot;&quot;/&gt;&lt;property id=&quot;20307&quot; value=&quot;750&quot;/&gt;&lt;property id=&quot;20309&quot; value=&quot;-1&quot;/&gt;&lt;/object&gt;&lt;object type=&quot;3&quot; unique_id=&quot;29002&quot;&gt;&lt;property id=&quot;20148&quot; value=&quot;5&quot;/&gt;&lt;property id=&quot;20300&quot; value=&quot;Slide 12 - &amp;quot;Cache Coherence Protocols&amp;quot;&quot;/&gt;&lt;property id=&quot;20307&quot; value=&quot;751&quot;/&gt;&lt;property id=&quot;20309&quot; value=&quot;-1&quot;/&gt;&lt;/object&gt;&lt;object type=&quot;3&quot; unique_id=&quot;29003&quot;&gt;&lt;property id=&quot;20148&quot; value=&quot;5&quot;/&gt;&lt;property id=&quot;20300&quot; value=&quot;Slide 14 - &amp;quot;Cache Coherence Protocols&amp;quot;&quot;/&gt;&lt;property id=&quot;20307&quot; value=&quot;752&quot;/&gt;&lt;property id=&quot;20309&quot; value=&quot;-1&quot;/&gt;&lt;/object&gt;&lt;object type=&quot;3&quot; unique_id=&quot;29004&quot;&gt;&lt;property id=&quot;20148&quot; value=&quot;5&quot;/&gt;&lt;property id=&quot;20300&quot; value=&quot;Slide 15 - &amp;quot;MI Protocol&amp;quot;&quot;/&gt;&lt;property id=&quot;20307&quot; value=&quot;753&quot;/&gt;&lt;property id=&quot;20309&quot; value=&quot;-1&quot;/&gt;&lt;/object&gt;&lt;object type=&quot;3&quot; unique_id=&quot;29005&quot;&gt;&lt;property id=&quot;20148&quot; value=&quot;5&quot;/&gt;&lt;property id=&quot;20300&quot; value=&quot;Slide 16 - &amp;quot;MI Protocol&amp;quot;&quot;/&gt;&lt;property id=&quot;20307&quot; value=&quot;754&quot;/&gt;&lt;property id=&quot;20309&quot; value=&quot;-1&quot;/&gt;&lt;/object&gt;&lt;object type=&quot;3&quot; unique_id=&quot;29008&quot;&gt;&lt;property id=&quot;20148&quot; value=&quot;5&quot;/&gt;&lt;property id=&quot;20300&quot; value=&quot;Slide 17 - &amp;quot;MI Protocol&amp;quot;&quot;/&gt;&lt;property id=&quot;20307&quot; value=&quot;757&quot;/&gt;&lt;property id=&quot;20309&quot; value=&quot;-1&quot;/&gt;&lt;/object&gt;&lt;object type=&quot;3&quot; unique_id=&quot;29010&quot;&gt;&lt;property id=&quot;20148&quot; value=&quot;5&quot;/&gt;&lt;property id=&quot;20300&quot; value=&quot;Slide 18 - &amp;quot;MI Protocol&amp;quot;&quot;/&gt;&lt;property id=&quot;20307&quot; value=&quot;759&quot;/&gt;&lt;property id=&quot;20309&quot; value=&quot;-1&quot;/&gt;&lt;/object&gt;&lt;object type=&quot;3&quot; unique_id=&quot;29014&quot;&gt;&lt;property id=&quot;20148&quot; value=&quot;5&quot;/&gt;&lt;property id=&quot;20300&quot; value=&quot;Slide 19 - &amp;quot;MI Protocol&amp;quot;&quot;/&gt;&lt;property id=&quot;20307&quot; value=&quot;763&quot;/&gt;&lt;property id=&quot;20309&quot; value=&quot;-1&quot;/&gt;&lt;/object&gt;&lt;object type=&quot;3&quot; unique_id=&quot;29016&quot;&gt;&lt;property id=&quot;20148&quot; value=&quot;5&quot;/&gt;&lt;property id=&quot;20300&quot; value=&quot;Slide 20 - &amp;quot;MSI Protocol&amp;quot;&quot;/&gt;&lt;property id=&quot;20307&quot; value=&quot;765&quot;/&gt;&lt;property id=&quot;20309&quot; value=&quot;-1&quot;/&gt;&lt;/object&gt;&lt;object type=&quot;3&quot; unique_id=&quot;29021&quot;&gt;&lt;property id=&quot;20148&quot; value=&quot;5&quot;/&gt;&lt;property id=&quot;20300&quot; value=&quot;Slide 21 - &amp;quot;MSI Protocol&amp;quot;&quot;/&gt;&lt;property id=&quot;20307&quot; value=&quot;770&quot;/&gt;&lt;property id=&quot;20309&quot; value=&quot;-1&quot;/&gt;&lt;/object&gt;&lt;object type=&quot;3&quot; unique_id=&quot;29026&quot;&gt;&lt;property id=&quot;20148&quot; value=&quot;5&quot;/&gt;&lt;property id=&quot;20300&quot; value=&quot;Slide 22 - &amp;quot;MSI Protocol&amp;quot;&quot;/&gt;&lt;property id=&quot;20307&quot; value=&quot;775&quot;/&gt;&lt;property id=&quot;20309&quot; value=&quot;-1&quot;/&gt;&lt;/object&gt;&lt;object type=&quot;3&quot; unique_id=&quot;29028&quot;&gt;&lt;property id=&quot;20148&quot; value=&quot;5&quot;/&gt;&lt;property id=&quot;20300&quot; value=&quot;Slide 23 - &amp;quot;MSI Protocol&amp;quot;&quot;/&gt;&lt;property id=&quot;20307&quot; value=&quot;777&quot;/&gt;&lt;property id=&quot;20309&quot; value=&quot;-1&quot;/&gt;&lt;/object&gt;&lt;object type=&quot;3&quot; unique_id=&quot;29032&quot;&gt;&lt;property id=&quot;20148&quot; value=&quot;5&quot;/&gt;&lt;property id=&quot;20300&quot; value=&quot;Slide 24 - &amp;quot;MSI Protocol&amp;quot;&quot;/&gt;&lt;property id=&quot;20307&quot; value=&quot;781&quot;/&gt;&lt;property id=&quot;20309&quot; value=&quot;-1&quot;/&gt;&lt;/object&gt;&lt;object type=&quot;3&quot; unique_id=&quot;29037&quot;&gt;&lt;property id=&quot;20148&quot; value=&quot;5&quot;/&gt;&lt;property id=&quot;20300&quot; value=&quot;Slide 25 - &amp;quot;MSI Protocol&amp;quot;&quot;/&gt;&lt;property id=&quot;20307&quot; value=&quot;786&quot;/&gt;&lt;property id=&quot;20309&quot; value=&quot;-1&quot;/&gt;&lt;/object&gt;&lt;object type=&quot;3&quot; unique_id=&quot;29042&quot;&gt;&lt;property id=&quot;20148&quot; value=&quot;5&quot;/&gt;&lt;property id=&quot;20300&quot; value=&quot;Slide 26 - &amp;quot;MSI Protocol&amp;quot;&quot;/&gt;&lt;property id=&quot;20307&quot; value=&quot;791&quot;/&gt;&lt;property id=&quot;20309&quot; value=&quot;-1&quot;/&gt;&lt;/object&gt;&lt;object type=&quot;3&quot; unique_id=&quot;29046&quot;&gt;&lt;property id=&quot;20148&quot; value=&quot;5&quot;/&gt;&lt;property id=&quot;20300&quot; value=&quot;Slide 27 - &amp;quot;MSI Protocol&amp;quot;&quot;/&gt;&lt;property id=&quot;20307&quot; value=&quot;795&quot;/&gt;&lt;property id=&quot;20309&quot; value=&quot;-1&quot;/&gt;&lt;/object&gt;&lt;object type=&quot;3&quot; unique_id=&quot;29049&quot;&gt;&lt;property id=&quot;20148&quot; value=&quot;5&quot;/&gt;&lt;property id=&quot;20300&quot; value=&quot;Slide 28 - &amp;quot;MSI Protocol&amp;quot;&quot;/&gt;&lt;property id=&quot;20307&quot; value=&quot;798&quot;/&gt;&lt;property id=&quot;20309&quot; value=&quot;-1&quot;/&gt;&lt;/object&gt;&lt;object type=&quot;3&quot; unique_id=&quot;29053&quot;&gt;&lt;property id=&quot;20148&quot; value=&quot;5&quot;/&gt;&lt;property id=&quot;20300&quot; value=&quot;Slide 29 - &amp;quot;MSI Protocol&amp;quot;&quot;/&gt;&lt;property id=&quot;20307&quot; value=&quot;802&quot;/&gt;&lt;property id=&quot;20309&quot; value=&quot;-1&quot;/&gt;&lt;/object&gt;&lt;object type=&quot;3&quot; unique_id=&quot;29081&quot;&gt;&lt;property id=&quot;20148&quot; value=&quot;5&quot;/&gt;&lt;property id=&quot;20300&quot; value=&quot;Slide 31 - &amp;quot;Exercise&amp;quot;&quot;/&gt;&lt;property id=&quot;20307&quot; value=&quot;830&quot;/&gt;&lt;property id=&quot;20309&quot; value=&quot;-1&quot;/&gt;&lt;/object&gt;&lt;object type=&quot;3&quot; unique_id=&quot;29610&quot;&gt;&lt;property id=&quot;20148&quot; value=&quot;5&quot;/&gt;&lt;property id=&quot;20300&quot; value=&quot;Slide 11 - &amp;quot;Cache Coherence Protocol&amp;quot;&quot;/&gt;&lt;property id=&quot;20307&quot; value=&quot;851&quot;/&gt;&lt;property id=&quot;20309&quot; value=&quot;-1&quot;/&gt;&lt;/object&gt;&lt;object type=&quot;3&quot; unique_id=&quot;30904&quot;&gt;&lt;property id=&quot;20148&quot; value=&quot;5&quot;/&gt;&lt;property id=&quot;20300&quot; value=&quot;Slide 13 - &amp;quot;Cache Coherence Protocols&amp;quot;&quot;/&gt;&lt;property id=&quot;20307&quot; value=&quot;852&quot;/&gt;&lt;property id=&quot;20309&quot; value=&quot;-1&quot;/&gt;&lt;/object&gt;&lt;object type=&quot;3&quot; unique_id=&quot;36831&quot;&gt;&lt;property id=&quot;20148&quot; value=&quot;5&quot;/&gt;&lt;property id=&quot;20300&quot; value=&quot;Slide 30 - &amp;quot;Exercise&amp;quot;&quot;/&gt;&lt;property id=&quot;20307&quot; value=&quot;853&quot;/&gt;&lt;property id=&quot;20309&quot; value=&quot;-1&quot;/&gt;&lt;/object&gt;&lt;object type=&quot;3&quot; unique_id=&quot;39051&quot;&gt;&lt;property id=&quot;20148&quot; value=&quot;5&quot;/&gt;&lt;property id=&quot;20300&quot; value=&quot;Slide 32 - &amp;quot;Exercise&amp;quot;&quot;/&gt;&lt;property id=&quot;20307&quot; value=&quot;854&quot;/&gt;&lt;property id=&quot;20309&quot; value=&quot;-1&quot;/&gt;&lt;/object&gt;&lt;object type=&quot;3&quot; unique_id=&quot;39281&quot;&gt;&lt;property id=&quot;20148&quot; value=&quot;5&quot;/&gt;&lt;property id=&quot;20300&quot; value=&quot;Slide 33 - &amp;quot;Exercise&amp;quot;&quot;/&gt;&lt;property id=&quot;20307&quot; value=&quot;855&quot;/&gt;&lt;property id=&quot;20309&quot; value=&quot;-1&quot;/&gt;&lt;/object&gt;&lt;object type=&quot;3&quot; unique_id=&quot;39282&quot;&gt;&lt;property id=&quot;20148&quot; value=&quot;5&quot;/&gt;&lt;property id=&quot;20300&quot; value=&quot;Slide 34 - &amp;quot;Exercise&amp;quot;&quot;/&gt;&lt;property id=&quot;20307&quot; value=&quot;856&quot;/&gt;&lt;property id=&quot;20309&quot; value=&quot;-1&quot;/&gt;&lt;/object&gt;&lt;object type=&quot;3&quot; unique_id=&quot;39548&quot;&gt;&lt;property id=&quot;20148&quot; value=&quot;5&quot;/&gt;&lt;property id=&quot;20300&quot; value=&quot;Slide 35 - &amp;quot;Exercise&amp;quot;&quot;/&gt;&lt;property id=&quot;20307&quot; value=&quot;857&quot;/&gt;&lt;property id=&quot;20309&quot; value=&quot;-1&quot;/&gt;&lt;/object&gt;&lt;object type=&quot;3&quot; unique_id=&quot;39752&quot;&gt;&lt;property id=&quot;20148&quot; value=&quot;5&quot;/&gt;&lt;property id=&quot;20300&quot; value=&quot;Slide 36 - &amp;quot;Exercise&amp;quot;&quot;/&gt;&lt;property id=&quot;20307&quot; value=&quot;858&quot;/&gt;&lt;property id=&quot;20309&quot; value=&quot;-1&quot;/&gt;&lt;/object&gt;&lt;object type=&quot;3&quot; unique_id=&quot;39753&quot;&gt;&lt;property id=&quot;20148&quot; value=&quot;5&quot;/&gt;&lt;property id=&quot;20300&quot; value=&quot;Slide 37 - &amp;quot;Exercise&amp;quot;&quot;/&gt;&lt;property id=&quot;20307&quot; value=&quot;859&quot;/&gt;&lt;property id=&quot;20309&quot; value=&quot;-1&quot;/&gt;&lt;/object&gt;&lt;/object&gt;&lt;object type=&quot;8&quot; unique_id=&quot;20628&quot;&gt;&lt;/object&gt;&lt;object type=&quot;10&quot; unique_id=&quot;21256&quot;&gt;&lt;object type=&quot;11&quot; unique_id=&quot;21257&quot;&gt;&lt;property id=&quot;20180&quot; value=&quot;0&quot;/&gt;&lt;property id=&quot;20181&quot; value=&quot;1&quot;/&gt;&lt;property id=&quot;20183&quot; value=&quot;1&quot;/&gt;&lt;/object&gt;&lt;object type=&quot;12&quot; unique_id=&quot;39842&quot;&gt;&lt;/object&gt;&lt;/object&gt;&lt;object type=&quot;4&quot; unique_id=&quot;21258&quot;&gt;&lt;/object&gt;&lt;/object&gt;&lt;/database&gt;"/>
  <p:tag name="MMPROD_THEME_BG_IMAGE" val=""/>
  <p:tag name="MMPROD_TAG_VCONFIG" val="PD94bWwgdmVyc2lvbj0iMS4wIj8+DQo8Y29uZmlndXJhdGlvbj4NCgk8YnJhbmRpbmc+DQoJCTx1aWZvbnQgbmFtZT0iRk9OVF9OT1RFU19URVhUIiB2YWx1ZT0iVmVyZGFuYSw5LGZhbHNlLGZhbHNlLGZhbHNlIi8+DQoJPC9icmFuZGluZz4NCgk8Y29sb3JzPg0KCQk8dWljb2xvciBuYW1lPSJwcmltYXJ5IiB2YWx1ZT0iMHg2Rjg0ODgiLz4NCgkJPHVpY29sb3IgbmFtZT0iZ2xvdyIgdmFsdWU9IjB4NjA5NzczIi8+DQoJCTx1aWNvbG9yIG5hbWU9InRleHQiIHZhbHVlPSIweEZGRkZGRiIvPg0KCQk8dWljb2xvciBuYW1lPSJsaWdodCIgdmFsdWU9IjB4NEU1RDYwIi8+DQoJCTx1aWNvbG9yIG5hbWU9InNoYWRvdyIgdmFsdWU9IjB4MDAwMDAwIi8+DQoJCTx1aWNvbG9yIG5hbWU9ImJhY2tncm91bmQiIHZhbHVlPSIweDcyNzk3MSIvPg0KCTwvY29sb3JzPg0KCTxsYXlvdXQ+DQoJCTx1aXNob3cgbmFtZT0icHJlc2VudGF0aW9udGl0bGUiIHZhbHVlPSJ0cnVlIi8+PHVpc2hvdyBuYW1lPSJwcmVzZW50ZXJwaG90byIgdmFsdWU9InRydWUiLz48dWlzaG93IG5hbWU9InByZXNlbnRlcm5hbWUiIHZhbHVlPSJ0cnVlIi8+PHVpc2hvdyBuYW1lPSJwcmVzZW50ZXJ0aXRsZSIgdmFsdWU9InRydWUiLz48dWlzaG93IG5hbWU9InByZXNlbnRlcmVtYWlsIiB2YWx1ZT0idHJ1ZSIvPjx1aXNob3cgbmFtZT0icHJlc2VudGVyYmlvIiB2YWx1ZT0idHJ1ZSIvPjx1aXNob3cgbmFtZT0iY29tcGFueWxvZ28iIHZhbHVlPSJ0cnVlIi8+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PHVpc2hvdyBuYW1lPSJ2aWV3Y2hhbmdlIiB2YWx1ZT0idHJ1ZSIvPjx1aXNob3cgbmFtZT0iYWx3YXlzU2NydW5jaCIgdmFsdWU9ImZhbHNlIi8+PHVpc2hvdyBuYW1lPSJpbml0aWFsZGlzcGxheW1vZGVpc25vcm1hbCIgdmFsdWU9InRydWUiLz48dWlyZXBsYWNlIG5hbWU9ImxvZ28iIHZhbHVlPSIiLz48dWlyZXBsYWNlIG5hbWU9ImJnaW1hZ2UiIHZhbHVlPSIiLz48dWlyZXBsYWNlIG5hbWU9ImluaXRpYWx0YWIiIHZhbHVlPSJvdXRsaW5lIi8+PHVpc2hvdyBuYW1lPSJjY3RleHRoaWdobGlnaHRpbmciIHZhbHVlPSJ0cnVlIi8+DQoJPC9sYXlvdXQ+DQoJPHByZWxvYWRlcj48c2V0Qm9vbCBuYW1lPSJkaXNhYmxlQXNzZXRQcmVsb2FkZXIiIHZhbHVlPSJ0cnVlIi8+PC9wcmVsb2FkZXI+PGxhbmd1YWdlIGlkPSJlb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DQoJCTx1aXRleHQgbmFtZT0iU0NSVUJCQVJTVEFUVVNfTk9BVURJTyIgdmFsdWU9Ik5vIEF1ZGlvIi8+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DQoJCTx1aXRleHQgbmFtZT0iU0NSVUJCQVJTVEFUVVNfUkVWSUVXUVVJWiIgdmFsdWU9IlJldmlld2luZyBRdWl6Ii8+DQoJCTwhLS0gc3Vic3RpdHV0aW9uOiAlbSA9PSBtaW51dGVzIHJlbWFpbmluZyAtLT4NCgkJPCEtLSBzdWJzdGl0dXRpb246ICVzID09IHNlY29uZHMgcmVtYWluaW5nIC0tPg0KCQk8dWl0ZXh0IG5hbWU9IkVMQVBTRUQiIHZhbHVlPSIlbSBNaW51dGVzICVzIFNlY29uZHMgUmVtYWluaW5nIi8+DQoJCTx1aXRleHQgbmFtZT0iTk9URk9VTkQiIHZhbHVlPSJOb3RoaW5nIEZvdW5kIi8+DQoJCTx1aXRleHQgbmFtZT0iQVRUQUNITUVOVFMiIHZhbHVlPSJBdHRhY2htZW50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DQoJCTx1aXRleHQgbmFtZT0iQ09VUlNFX1NUQVRVUyIgdmFsdWU9Ik1vZHVsZSBTdGF0dXMiLz4NCgkJPHVpdGV4dCBuYW1lPSJQQVNTRURfU1RSSU5HIiB2YWx1ZT0iUGFzc2VkIi8+DQoJCTx1aXRleHQgbmFtZT0iRkFJTEVEX1NUUklORyIgdmFsdWU9IkZhaWxlZCIvPg0KCQk8IS0tcXVpeiBwb2QgYW5kIG1lc3NhZ2UgYm94IHRleHRz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DQoJCTx1aXRleHQgbmFtZT0iUVVJWlBPRF9RVUlaX1BBU1NTQ09SRSIgdmFsdWU9IlBhc3NpbmcgU2NvcmU6Ii8+DQoJCTx1aXRleHQgbmFtZT0iUVVJWlBPRF9RVUlaX01BWFNDT1JFIiB2YWx1ZT0iTWF4IFNjb3JlOiIvPg0KCQk8dWl0ZXh0IG5hbWU9IlFVSVpQT0RfUVVFU0FUTVBUX1NUUiIgdmFsdWU9IkF0dGVtcHQ6ICVuIG9mICV0Ii8+DQoJCTx1aXRleHQgbmFtZT0iUVVJWlBPRF9RVUVTVFlQRV9TVFIiIHZhbHVlPSJUeXBlOiAlcyIvPg0KCQk8dWl0ZXh0IG5hbWU9IlFVSVpQT0RfUVVFU1RZUEVfR1JEIiB2YWx1ZT0iR3JhZGVkIi8+DQoJCTx1aXRleHQgbmFtZT0iUVVJWlBPRF9RVUVTVFlQRV9TVlkiIHZhbHVlPSJTdXJ2ZXkiLz4NCgkJPHVpdGV4dCBuYW1lPSJRVUlaUE9EX1FVSVpBVE1QVF9JTkYiIHZhbHVlPSJJbmZpbml0ZSIvPg0KCQk8dWl0ZXh0IG5hbWU9IlFVSVpQT0RfUVVFU0FUTVBUX0lORiIgdmFsdWU9IkluZmluaXRlIi8+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TaG93IHNpZGViYXIgdG8gcGFydGljaXBhbnRzIi8+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DQoJCTx1aXRleHQgbmFtZT0iQ09MTEFCX0xPQ0FMX1BMQVlCQUNLQlROIiB2YWx1ZT0i2YXZiNin2YHZgiIvPg0KCQk8IS0tIHN1YnN0aXR1dGlvbjogJW4gPT0gc2xpZGUgbnVtYmVyIC0tPg0KCQk8IS0tIHN1YnN0aXR1dGlvbjogJXQgPT0gdG90YWwgc2xpZGUgY291bnQgLS0+DQoJCTx1aXRleHQgbmFtZT0iU0NSVUJCQVJTVEFUVVNfU0xJREVJTkZPIiB2YWx1ZT0i2LTYsdmK2K3YqSAlbiAvICV0IHwgIi8+DQoJCTx1aXRleHQgbmFtZT0iU0NSVUJCQVJTVEFUVVNfU1RPUFBFRCIgdmFsdWU9ItmF2KrZiNmC2YEiLz4NCgkJPHVpdGV4dCBuYW1lPSJTQ1JVQkJBUlNUQVRVU19QTEFZSU5HIiB2YWx1ZT0i2YLZitivINin2YTYqti02LrZitmEIi8+DQoJCTx1aXRleHQgbmFtZT0iU0NSVUJCQVJTVEFUVVNfTk9BVURJTyIgdmFsdWU9ItmE2Kcg2YrZiNis2K8g2LXZiNiqIi8+DQoJCTx1aXRleHQgbmFtZT0iU0NSVUJCQVJTVEFUVVNfVklEUExBWUlORyIgdmFsdWU9Itin2YTZgdmK2K/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DQoJCTwhLS0gc3Vic3RpdHV0aW9uOiAlcyA9PSBzZWNvbmRzIHJlbWFpbmluZyAtLT4NCgkJPHVpdGV4dCBuYW1lPSJFTEFQU0VEIiB2YWx1ZT0iJW0g2K/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DQoJCTx1aXRleHQgbmFtZT0iVEFCX1FVSVoiIHZhbHVlPSLZhdiz2KfYqNmC2KkiLz4NCgkJPHVpdGV4dCBuYW1lPSJUQUJfT1VUTElORSIgdmFsdWU9ItmF2K7Yt9i3Ii8+DQoJCTx1aXRleHQgbmFtZT0iVEFCX1RIVU1CIiB2YWx1ZT0i2YXYtdi62ZHYsdipIi8+DQoJCTx1aXRleHQgbmFtZT0iVEFCX05PVEVTIiB2YWx1ZT0i2YXZhNin2K3YuNin2KoiLz4NCgkJPHVpdGV4dCBuYW1lPSJUQUJfU0VBUkNIIiB2YWx1ZT0i2KjYrdirIi8+DQoJCTx1aXRleHQgbmFtZT0iU0xJREVfSEVBRElORyIgdmFsdWU9Iti52YbZiNin2YYg2KfZhNi02LHZitit2KkgIi8+DQoJCTx1aXRleHQgbmFtZT0iRFVSQVRJT05fSEVBRElORyIgdmFsdWU9ItmF2K/YqSIvPg0KCQk8dWl0ZXh0IG5hbWU9IlNFQVJDSF9IRUFESU5HIiB2YWx1ZT0iOtin2YTYqNit2Ksg2LnZhiDZhti1Ii8+DQoJCTx1aXRleHQgbmFtZT0iVEhVTUJfSEVBRElORyIgdmFsdWU9Iti02LHZitit2KkiLz4NCgkJPHVpdGV4dCBuYW1lPSJUSFVNQl9JTkZPIiB2YWx1ZT0i2LnZhtmI2KfZhi/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DQoJCTx1aXRleHQgbmFtZT0iQ09VUlNFX1NUQVRVUyIgdmFsdWU9Itit2KfZhNipINin2YTZiNit2K/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Ysdis2Kkg2KfZhNmF2LPYrNmE2KkiLz4NCgkJPHVpdGV4dCBuYW1lPSJRVUlaUE9EX1FVSVpfUEFTU1NDT1JFIiB2YWx1ZT0iOtiv2LHYrNipINin2YTZhtis2KfYrSIvPg0KCQk8dWl0ZXh0IG5hbWU9IlFVSVpQT0RfUVVJWl9NQVhTQ09SRSIgdmFsdWU9IjrYp9mE2K/Ysdis2Kkg2KfZhNmC2LXZiNmJIi8+DQoJCTx1aXRleHQgbmFtZT0iUVVJWlBPRF9RVUVTQVRNUFRfU1RSIiB2YWx1ZT0i2KfZhNmF2K3Yp9mI2YTYqSAlbiDZhdmGICV0Ii8+DQoJCTx1aXRleHQgbmFtZT0iUVVJWlBPRF9RVUVTVFlQRV9TVFIiIHZhbHVlPSLYp9mE2YbZiNi5OiAlcyIvPg0KCQk8dWl0ZXh0IG5hbWU9IlFVSVpQT0RfUVVFU1RZUEVfR1JEIiB2YWx1ZT0i2KrZhSDYqti12K3Zitit2YciLz4NCgkJPHVpdGV4dCBuYW1lPSJRVUlaUE9EX1FVRVNUWVBFX1NWWSIgdmFsdWU9Itin2LPYqti32YTYp9i5Ii8+DQoJCTx1aXRleHQgbmFtZT0iUVVJWlBPRF9RVUlaQVRNUFRfSU5GIiB2YWx1ZT0i2YTYpyDZhtmH2KfYptmKIi8+DQoJCTx1aXRleHQgbmFtZT0iUVVJWlBPRF9RVUVTQVRNUFRfSU5GIiB2YWx1ZT0i2YTYpyDZhtmH2KfYptmKIi8+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ZitmIINmE2KrZhtiy2YrZhCDYo9it2K/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DQoJCTx1aXRleHQgbmFtZT0iTVVURSIgdmFsdWU9Iti12KfZhdiqIi8+DQoJCTx1aXRleHQgbmFtZT0iRE9DV1JBUF9USVRMRSIgdmFsdWU9Itin2YTZhdmE2YHYp9iqINin2YTZhdix2YHZgtipINmB2YogUHJlc2VudGVyIi8+DQoJCTx1aXRleHQgbmFtZT0iRE9DV1JBUF9NU0ciIHZhbHVlPSLYp9mE2K3Zgdi4INmB2Yog2KzZh9in2LIg2KfZhNmD2YXYqNmK2YjYqtixIi8+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DQoJPGxhbmd1YWdlIGlkPSJm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DQoJCTx1aXRleHQgbmFtZT0iVU5OQU1FRFNMSURFVElUTEUiIHZhbHVlPSJEaWFwb3NpdGl2ZSAlbiIvPg0KCQk8IS0tIHN1YnN0aXR1dGlvbjogJW4gPT0gc2xpZGUgbnVtYmVyIC0tPg0KCQk8IS0tIHN1YnN0aXR1dGlvbjogJXQgPT0gdG90YWwgc2xpZGUgY291bnQgLS0+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DQoJCTx1aXRleHQgbmFtZT0iU0NSVUJCQVJTVEFUVVNfVklEUExBWUlORyIgdmFsdWU9IkxlY3R1cmUgdmlkw6lvIGVuIGNvdXJzIi8+DQoJCTx1aXRleHQgbmFtZT0iU0NSVUJCQVJTVEFUVVNfTE9BRElORyIgdmFsdWU9IkNoYXJnZW1lbnQgZW4gY291cnMiLz4NCgkJPHVpdGV4dCBuYW1lPSJTQ1JVQkJBUlNUQVRVU19CVUZGRVJJTkciIHZhbHVlPSJNaXNlIGVuIG3DqW1vaXJlIi8+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DQoJCTx1aXRleHQgbmFtZT0iRUxBUFNFRCIgdmFsdWU9IiVtIG1pbnV0ZXMgJXMgc2Vjb25kZXMgcmVzdGFudGVzIi8+DQoJCTx1aXRleHQgbmFtZT0iTk9URk9VTkQiIHZhbHVlPSJSaWVuIHRyb3V2w6kiLz4NCgkJPHVpdGV4dCBuYW1lPSJBVFRBQ0hNRU5UUyIgdmFsdWU9IlBpw6hjZXMgam9pbnRlcyIvPg0KCQk8IS0tIHN1YnN0aXR1dGlvbjogJXAgPT0gY3VycmVudCBzcGVha2VyJ3MgdGl0bGUgLS0+DQoJCTx1aXRleHQgbmFtZT0iQklPV0lOX1RJVExFIiB2YWx1ZT0iQmlvIDogJXAiLz4NCgkJPHVpdGV4dCBuYW1lPSJCSU9CVE5fVElUTEUiIHZhbHVlPSJCaW8gOiIvPg0KCQk8dWl0ZXh0IG5hbWU9IkRJVklERVJCVE5fVElUTEUiIHZhbHVlPSJ8Ii8+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DQoJCTx1aXRleHQgbmFtZT0iUVVJWlBPRF9RVUlaX1NDT1JFIiB2YWx1ZT0iTm90ZSBvYnRlbnVlIDoiLz4NCgkJPHVpdGV4dCBuYW1lPSJRVUlaUE9EX1FVSVpfUEFTU1NDT1JFIiB2YWx1ZT0iTm90ZSBkJ2FkbWlzc2liaWxpdMOpwqA6Ii8+DQoJCTx1aXRleHQgbmFtZT0iUVVJWlBPRF9RVUlaX01BWFNDT1JFIiB2YWx1ZT0iTm90ZSBtYXhpbWFsZSA6Ii8+DQoJCTx1aXRleHQgbmFtZT0iUVVJWlBPRF9RVUVTQVRNUFRfU1RSIiB2YWx1ZT0iVGVudGF0aXZlIDogJW4gc3VyICV0Ii8+DQoJCTx1aXRleHQgbmFtZT0iUVVJWlBPRF9RVUVTVFlQRV9TVFIiIHZhbHVlPSJUeXBlOiAlcyIvPg0KCQk8dWl0ZXh0IG5hbWU9IlFVSVpQT0RfUVVFU1RZUEVfR1JEIiB2YWx1ZT0iTm90w6kiLz4NCgkJPHVpdGV4dCBuYW1lPSJRVUlaUE9EX1FVRVNUWVBFX1NWWSIgdmFsdWU9IkVucXXDqnRlIi8+DQoJCTx1aXRleHQgbmFtZT0iUVVJWlBPRF9RVUlaQVRNUFRfSU5GIiB2YWx1ZT0iSWxsaW1pdMOpIi8+DQoJCTx1aXRleHQgbmFtZT0iUVVJWlBPRF9RVUVTQVRNUFRfSU5GIiB2YWx1ZT0iSWxsaW1pdMOpIi8+DQoJCTx1aXRleHQgbmFtZT0iV0FSTklOR01TR19ZRVNTVFJJTkciIHZhbHVlPSJPdWkiLz4NCgkJPHVpdGV4dCBuYW1lPSJXQVJOSU5HTVNHX05PU1RSSU5HIiB2YWx1ZT0iTm9uIi8+DQoJCTx1aXRleHQgbmFtZT0iV0FSTklOR01TR19USVRMRVNUUklORyIgdmFsdWU9IkF2ZXJ0aXNzZW1lbnQgZGUgbmF2aWdhdGlvbiBkdSBxdWVzdGlvbm5haXJlIi8+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DQoJCTx1aWZvbnQgbmFtZT0iRk9OVF9QUkVTRU5URVJUSVRMRSIgdmFsdWU9IlZlcmRhbmEsMTE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S7mOODleOCoeOCpOODq+itpuWRiiIvPg0KCQk8dWl0ZXh0IG5hbWU9IkFUVEFDSE1FTlRfUFJFVklFV19XQVJOSU5HTVNHIiB2YWx1ZT0i5re75LuY44OV44Kh44Kk44Or44Gv44OX44Os44OT44Ol44O844Oi44O844OJ44Gn44Gv6ZaL44GN44G+44Gb44KT44CC44OR44OW44Oq44OD44K344Ol44KS5L2/55So44GX44Gm57WQ5p6c44KS6KGo56S644GX44Gm44GP44Gg44GV44GE44CCIi8+DQoJCTx1aXRleHQgbmFtZT0iQ09MTEFCX0xPQ0FMX1BMQVlCQUNLX01TRyIgdmFsdWU9IuOCs+ODs+ODhuODs+ODhOOBr+ODreODvOOCq+ODq+OBp+WGjeeUn+OBleOCjOOBpuOBhOOBvuOBmeOAguOBk+OBruODouODvOODieOBp+OBr+WFseWQjOS9nOalreOBp+OBjeOBvuOBm+OCk+OAgiIvPg0KCQk8dWl0ZXh0IG5hbWU9IkNPTExBQl9MT0NBTF9QTEFZQkFDS19USVRMRSIgdmFsdWU9IuODreODvOOCq+ODq+WGjeeUnyIvPg0KCQk8dWl0ZXh0IG5hbWU9IkNPTExBQl9MT0NBTF9QTEFZQkFDS0JUTiIgdmFsdWU9Ik9LIi8+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x1aXRleHQgbmFtZT0iQ09VUlNFX1NUQVRVUyIgdmFsdWU9IuODouOCuOODpeODvOODq+OCueODhuODvOOCv+OCuSIvPg0KCQk8dWl0ZXh0IG5hbWU9IlBBU1NFRF9TVFJJTkciIHZhbHVlPSLlkIjmoLwiLz4NCgkJPHVpdGV4dCBuYW1lPSJGQUlMRURfU1RSSU5HIiB2YWx1ZT0i5LiN5ZCI5qC8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ZIOyekeyXheydhCDsiJjtlontlaAg7IiYIOyXhuyKteuLiOuLpC4iLz4NCgkJPHVpdGV4dCBuYW1lPSJDT0xMQUJfTE9DQUxfUExBWUJBQ0tfVElUTEUiIHZhbHVlPSLroZzsu6wg7J6s7IOdIi8+DQoJCTx1aXRleHQgbmFtZT0iQ09MTEFCX0xPQ0FMX1BMQVlCQUNLQlROIiB2YWx1ZT0i7ZmV7J24Ii8+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DQoJCTwhLS0gc3Vic3RpdHV0aW9uOiAlcyA9PSBzZWNvbmRzIHJlbWFpbmluZyAtLT4NCgkJPHVpdGV4dCBuYW1lPSJFTEFQU0VEIiB2YWx1ZT0iJW3rtoQgJXPstIgg64Ko7J2MIi8+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DQoJCTx1aXRleHQgbmFtZT0iQklPQlROX1RJVExFIiB2YWx1ZT0i6rK966ClIOyGjOqwnCIvPg0KCQk8dWl0ZXh0IG5hbWU9IkRJVklERVJCVE5fVElUTEUiIHZhbHVlPSJ8Ii8+DQoJCTx1aXRleHQgbmFtZT0iQ09OVEFDVEJUTl9USVRMRSIgdmFsdWU9IuyXsOudveyymCIvPg0KCQk8dWl0ZXh0IG5hbWU9IlRBQl9RVUlaIiB2YWx1ZT0i7YC07KaIIi8+DQoJCTx1aXRleHQgbmFtZT0iVEFCX09VVExJTkUiIHZhbHVlPSLqsJzsmpQiLz4NCgkJPHVpdGV4dCBuYW1lPSJUQUJfVEhVTUIiIHZhbHVlPSLstpXshoztjJAiLz4NCgkJPHVpdGV4dCBuYW1lPSJUQUJfTk9URVMiIHZhbHVlPSLrhbjtirgiLz4NCgkJPHVpdGV4dCBuYW1lPSJUQUJfU0VBUkNIIiB2YWx1ZT0i6rKA7IOJIi8+DQoJCTx1aXRleHQgbmFtZT0iU0xJREVfSEVBRElORyIgdmFsdWU9IuyKrOudvOydtOuTnCDsoJzrqqkiLz4NCgkJPHVpdGV4dCBuYW1lPSJEVVJBVElPTl9IRUFESU5HIiB2YWx1ZT0i7J6s7IOd7Iuc6rCEIi8+DQoJCTx1aXRleHQgbmFtZT0iU0VBUkNIX0hFQURJTkciIHZhbHVlPSLthY3siqTtirgg6rKA7IOJOiIvPg0KCQk8dWl0ZXh0IG5hbWU9IlRIVU1CX0hFQURJTkciIHZhbHVlPSLsiqzrnbzsnbTrk5wiLz4NCgkJPHVpdGV4dCBuYW1lPSJUSFVNQl9JTkZPIiB2YWx1ZT0i7KCc66qpL+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DQoJCTx1aXRleHQgbmFtZT0iQ09MTEFCX0xPQ0FMX1BMQVlCQUNLQlROIiB2YWx1ZT0iT2siLz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DQoJCTx1aXRleHQgbmFtZT0iUVVJWlBPRF9RVUlaX0FUVEVNUFQiIHZhbHVlPSJJbnRlbnRvIGRlIHBydWViYToiLz4NCgkJPHVpdGV4dCBuYW1lPSJRVUlaUE9EX1FVSVpfQVRURU1QVF9WQUxVRSIgdmFsdWU9IiVuIGRlICV0Ii8+DQoJCTx1aXRleHQgbmFtZT0iUVVJWlBPRF9RVUlaX1NDT1JFIiB2YWx1ZT0iUHVudHVhY2nDs246Ii8+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DQoJCTx1aXRleHQgbmFtZT0iV0FSTklOR01TR19ZRVNTVFJJTkciIHZhbHVlPSJTw60iLz4NCgkJPHVpdGV4dCBuYW1lPSJXQVJOSU5HTVNHX05PU1RSSU5HIiB2YWx1ZT0iTm8iLz4NCgkJPHVpdGV4dCBuYW1lPSJXQVJOSU5HTVNHX1RJVExFU1RSSU5HIiB2YWx1ZT0iQXZpc28gZGUgbmF2ZWdhY2nDs24gZGUgcHJ1ZWJhIi8+DQoJCTx1aXRleHQgbmFtZT0iV0FSTklOR01TR19NU0dTVFJJTkciIHZhbHVlPSJIYXkgcHJlZ3VudGFzIHNpbiBpbnRlbnRvcyBlbiBlc3RhIHBydWViYS4mI3hBOyYjeEE7UGFyYSBzYWxpciBkZSBsYSBwcnVlYmEsIGhhZ2EgY2xpYyBlbiBTw60uIFBhcmEgY29udGludWFyLCBoYWdhIGNsaWMgZW4gTm8uIi8+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DQoJCTwhLS0gc3Vic3RpdHV0aW9uOiAlbiA9PSBzbGlkZSBudW1iZXIgLS0+DQoJCTx1aXRleHQgbmFtZT0iQk9PS01BUktTTElERSIgdmFsdWU9IkFkb2JlIFByZXNlbnRlcjogJXAgJXMiLz4NCgkJPHVpdGV4dCBuYW1lPSJTSE9XU0lERUJBUiIgdmFsdWU9Ik1vc3RyYXIgYmFycmEgbGF0ZXJhbCBhIGxvcyBwYXJ0aWNpcGFudGVzIi8+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DQoJCTx1aXRleHQgbmFtZT0iU0NSVUJCQVJTVEFUVVNfUExBWUlORyIgdmFsdWU9IlJlcHJvZHV6aW5kbyIvPg0KCQk8dWl0ZXh0IG5hbWU9IlNDUlVCQkFSU1RBVFVTX05PQVVESU8iIHZhbHVlPSJTZW0gw6F1ZGlvIi8+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DQoJCTx1aXRleHQgbmFtZT0iU0NSVUJCQVJTVEFUVVNfUkVWSUVXUVVJWiIgdmFsdWU9IlJldmlzYW5kbyBxdWVzdGlvbsOhcmlvIi8+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DQoJCTx1aXRleHQgbmFtZT0iVEFCX1FVSVoiIHZhbHVlPSJRdWVzdC4iLz4NCgkJPHVpdGV4dCBuYW1lPSJUQUJfT1VUTElORSIgdmFsdWU9IkVzcXVlbWEiLz4NCgkJPHVpdGV4dCBuYW1lPSJUQUJfVEhVTUIiIHZhbHVlPSJNaW5pIi8+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DQoJCTx1aXRleHQgbmFtZT0iQ09VUlNFX1NUQVRVUyIgdmFsdWU9IlN0YXR1cyBkbyBtw7NkdWxvIi8+DQoJCTx1aXRleHQgbmFtZT0iUEFTU0VEX1NUUklORyIgdmFsdWU9IkFwcm92YWRvIi8+DQoJCTx1aXRleHQgbmFtZT0iRkFJTEVEX1NUUklORyIgdmFsdWU9IlJlcHJvdmFkbyIvPg0KCQk8IS0tcXVpeiBwb2QgYW5kIG1lc3NhZ2UgYm94IHRleHRzLS0+DQoJCTx1aXRleHQgbmFtZT0iUVVJWlBPRF9RVUlaX0FUVEVNUFQiIHZhbHVlPSJUZW50YXRpdmEgbm8gcXVlc3Rpb27DoXJpbzoiLz4NCgkJPHVpdGV4dCBuYW1lPSJRVUlaUE9EX1FVSVpfQVRURU1QVF9WQUxVRSIgdmFsdWU9IiVuIGRlICV0Ii8+DQoJCTx1aXRleHQgbmFtZT0iUVVJWlBPRF9RVUlaX1NDT1JFIiB2YWx1ZT0iUG9udHVhw6fDo286Ii8+DQoJCTx1aXRleHQgbmFtZT0iUVVJWlBPRF9RVUlaX1BBU1NTQ09SRSIgdmFsdWU9IlBvbnR1YcOnw6NvIGRlIGFwcm92YcOnw6NvOiIvPg0KCQk8dWl0ZXh0IG5hbWU9IlFVSVpQT0RfUVVJWl9NQVhTQ09SRSIgdmFsdWU9IlBvbnR1YcOnw6NvIG3DoXhpbWE6Ii8+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DQoJCTx1aXRleHQgbmFtZT0iUVVJWlBPRF9RVUlaQVRNUFRfSU5GIiB2YWx1ZT0iSW5maW5pdG8iLz4NCgkJPHVpdGV4dCBuYW1lPSJRVUlaUE9EX1FVRVNBVE1QVF9JTkYiIHZhbHVlPSJJbmZpbml0byIvPg0KCQk8dWl0ZXh0IG5hbWU9IldBUk5JTkdNU0dfWUVTU1RSSU5HIiB2YWx1ZT0iU2ltIi8+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DQoJPC9sYW5ndWFnZT4NCgk8bGFuZ3VhZ2UgaWQ9Iml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ludGVycm90dG8iLz4NCgkJPHVpdGV4dCBuYW1lPSJTQ1JVQkJBUlNUQVRVU19QTEFZSU5HIiB2YWx1ZT0iUmlwcm9kdXppb25lIi8+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DQoJCTx1aXRleHQgbmFtZT0iRUxBUFNFRCIgdmFsdWU9IiVtIE1pbnV0aSAlcyBTZWNvbmRpIHJpbWFuZW50aSIvPg0KCQk8dWl0ZXh0IG5hbWU9Ik5PVEZPVU5EIiB2YWx1ZT0iTmVzc3VuIGVsZW1lbnRvIHRyb3ZhdG8iLz4NCgkJPHVpdGV4dCBuYW1lPSJBVFRBQ0hNRU5UUyIgdmFsdWU9IkFsbGVnYXRp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DQoJCTx1aXRleHQgbmFtZT0iRFVSQVRJT05fSEVBRElORyIgdmFsdWU9IkR1cmF0YSIvPg0KCQk8dWl0ZXh0IG5hbWU9IlNFQVJDSF9IRUFESU5HIiB2YWx1ZT0iQ2VyY2EgdGVzdG86Ii8+DQoJCTx1aXRleHQgbmFtZT0iVEhVTUJfSEVBRElORyIgdmFsdWU9IkRpYXBvc2l0aXZhIi8+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DQoJCTx1aXRleHQgbmFtZT0iQ09MTEFCX0xPQ0FMX1BMQVlCQUNLX01TRyIgdmFsdWU9IkNvbnRlbnQgaXMgYmVpbmcgcGxheWVkIGxvY2FsbHkuXG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DQoJCTx1aXRleHQgbmFtZT0iUVVJWlBPRF9RVUlaX01BWFNDT1JFIiB2YWx1ZT0iTWF4aW1hYWwgaGFhbGJhcmUgc2NvcmU6Ii8+DQoJCTx1aXRleHQgbmFtZT0iUVVJWlBPRF9RVUVTQVRNUFRfU1RSIiB2YWx1ZT0iUG9naW5nOiAlbiB2YW4gJXQiLz4NCgkJPHVpdGV4dCBuYW1lPSJRVUlaUE9EX1FVRVNUWVBFX1NUUiIgdmFsdWU9IlR5cGU6ICVzIi8+DQoJCTx1aXRleHQgbmFtZT0iUVVJWlBPRF9RVUVTVFlQRV9HUkQiIHZhbHVlPSJUZWx0IHZvb3Igc2NvcmUiLz4NCgkJPHVpdGV4dCBuYW1lPSJRVUlaUE9EX1FVRVNUWVBFX1NWWSIgdmFsdWU9IkVucXXDqnRlIi8+DQoJCTx1aXRleHQgbmFtZT0iUVVJWlBPRF9RVUlaQVRNUFRfSU5GIiB2YWx1ZT0iT25iZXBlcmt0Ii8+DQoJCTx1aXRleHQgbmFtZT0iUVVJWlBPRF9RVUVTQVRNUFRfSU5GIiB2YWx1ZT0iT25iZXBlcmt0Ii8+DQoJCTx1aXRleHQgbmFtZT0iV0FSTklOR01TR19ZRVNTVFJJTkciIHZhbHVlPSJKYSIvPg0KCQk8dWl0ZXh0IG5hbWU9IldBUk5JTkdNU0dfTk9TVFJJTkciIHZhbHVlPSJOZWUiLz4NCgkJPHVpdGV4dCBuYW1lPSJXQVJOSU5HTVNHX1RJVExFU1RSSU5HIiB2YWx1ZT0iV2FhcnNjaHV3aW5nIG1ldCBiZXRyZWtraW5nIHRvdCBxdWl6bmF2aWdhdGllIi8+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aaWpwYW5lZWwgYWFuIGRlZWxuZW1lcnMgd2VlcmdldmVuIi8+DQoJCTx1aXRleHQgbmFtZT0iTVVURSIgdmFsdWU9IkRlbXBlbiIvPg0KCQk8dWl0ZXh0IG5hbWU9IkRPQ1dSQVBfVElUTEUiIHZhbHVlPSJQcmVzZW50ZXItYmVzdGFuZHNiaWpsYWdlIi8+DQoJCTx1aXRleHQgbmFtZT0iRE9DV1JBUF9NU0ciIHZhbHVlPSJPcHNsYWFuIGluIERlemUgY29tcHV0ZXIiLz4NCgkJPHVpdGV4dCBuYW1lPSJET0NXUkFQX1BST01QVCIgdmFsdWU9IktsaWsgb20gdGUgZG93bmxvYWRlbiIvPg0KCTwvbGFuZ3VhZ2U+DQoJPGxhbmd1YWdlIGlkPSJjbiI+DQoJCTwhLS0gZm9ybWF0IGZvciB1aWZvbnQgdmFsdWUgaXMgImZvbnQsc2l6ZSxpc2JvbGQsaXNpdGFsaWMsaXNzaGFkb3dlZCIgLS0+DQoJCTx1aWZvbnQgbmFtZT0iRk9OVF9RVUlaWklORyIgdmFsdWU9IuWui+S9ky0xODAzMCwxMCxmYWxzZSxmYWxzZSxmYWxzZSIvPg0KCQk8dWlmb250IG5hbWU9IkZPTlRfU0NSVUJTVEFUVVMiIHZhbHVlPSLlrovkvZMtMTgwMzAsMTAsdHJ1ZSxmYWxzZSx0cnVlIi8+DQoJCTx1aWZvbnQgbmFtZT0iRk9OVF9TQ1JVQlRJTUUiIHZhbHVlPSLlrovkvZMtMTgwMzAsMTAsZmFsc2UsZmFsc2UsdHJ1ZSIvPg0KCQk8dWlmb250IG5hbWU9IkZPTlRfRUxBUFNFRFRJTUUiIHZhbHVlPSLlrovkvZMtMTgwMzAsMTAsdHJ1ZSxmYWxzZSx0cnVlIi8+DQoJCTx1aWZvbnQgbmFtZT0iRk9OVF9VVElMU01FTlUiIHZhbHVlPSLlrovkvZMtMTgwMzAsMTAsdHJ1ZSxmYWxzZSxmYWxzZSIvPg0KCQk8dWlmb250IG5hbWU9IkZPTlRfVEFCUyIgdmFsdWU9IuWui+S9ky0xODAzMCwxNCx0cnVlLGZhbHNlLHRydWUiLz4NCgkJPHVpZm9udCBuYW1lPSJGT05UX1BSRVNFTlRBVElPTk5BTUUiIHZhbHVlPSLlrovkvZMtMTgwMzAsMTQsZmFsc2UsZmFsc2UsdHJ1ZSIvPg0KCQk8dWlmb250IG5hbWU9IkZPTlRfUFJFU0VOVEVSTkFNRSIgdmFsdWU9IuWui+S9ky0xODAzMCwxNCx0cnVlLGZhbHNlLHRydWUiLz4NCgkJPHVpZm9udCBuYW1lPSJGT05UX1BSRVNFTlRFUlRJVExFIiB2YWx1ZT0i5a6L5L2TLTE4MDMwLDEzLGZhbHNlLGZhbHNlLHRydWUiLz4NCgkJPHVpZm9udCBuYW1lPSJGT05UX0JJT0JUTiIgdmFsdWU9IuWui+S9ky0xODAzMCwxMCxmYWxzZSxmYWxzZSx0cnVlIi8+DQoJCTx1aWZvbnQgbmFtZT0iRk9OVF9OT1RFUyIgdmFsdWU9IuWui+S9ky0xODAzMCwxMixmYWxzZSxmYWxzZSxmYWxzZSIvPg0KCQk8dWlmb250IG5hbWU9IkZPTlRfT1VUTElORSIgdmFsdWU9IuWui+S9ky0xODAzMCwxMixmYWxzZSxmYWxzZSx0cnVlIi8+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DQoJCTx1aWZvbnQgbmFtZT0iRk9OVF9MSVNUSEVBRElORyIgdmFsdWU9IuWui+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S9ky0xODAzMCwxMix0cnVlLGZhbHNlLHRydWUiLz4NCgkJPHVpZm9udCBuYW1lPSJGT05UX01TR0JPWF9NU0ciIHZhbHVlPSLlrovkvZMtMTgwMzAsMTIsZmFsc2UsZmFsc2UsdHJ1ZSIvPg0KCQk8dWlmb250IG5hbWU9IkZPTlRfTVNHQk9YX09QVElPTlMiIHZhbHVlPSLlrovkvZMtMTgwMzAsMTAsdHJ1ZSxmYWxzZSx0cnVlIi8+DQoJCTx1aWZvbnQgbmFtZT0iRk9OVF9RVUlaUE9EX1FVSVpfVElUTEUiIHZhbHVlPSLlrovkvZMtMTgwMzAsMTIsdHJ1ZSxmYWxzZSx0cnVlIi8+DQoJCTx1aWZvbnQgbmFtZT0iRk9OVF9RVUlaUE9EX1FVSVpfQVRURU1QVCIgdmFsdWU9IuWui+S9ky0xODAzMCwxMCxmYWxzZSxmYWxzZSx0cnVlIi8+DQoJCTx1aWZvbnQgbmFtZT0iRk9OVF9RVUlaUE9EX1FVSVpfQVRURU1QVF9WQUxVRSIgdmFsdWU9IuWui+S9ky0xODAzMCwxMCx0cnVlLGZhbHNlLHRydWUiLz4NCgkJPHVpZm9udCBuYW1lPSJGT05UX1FVSVpQT0RfUVVFU1RJT05fU0NPUkUiIHZhbHVlPSLlrovkvZMtMTgwMzAsMTAsZmFsc2UsZmFsc2UsdHJ1ZSIvPg0KCQk8dWlmb250IG5hbWU9IkZPTlRfUVVJWlBPRF9RVUVTVElPTl9TQ09SRV9WQUxVRSIgdmFsdWU9IuWui+S9ky0xODAzMCwxMCx0cnVlLGZhbHNlLHRydWUiLz4NCgkJPHVpZm9udCBuYW1lPSJGT05UX1FVSVpQT0RfUVVFU1RJT05fQVRURU1QVCIgdmFsdWU9IuWui+S9ky0xODAzMCwxMCxmYWxzZSxmYWxzZSx0cnVlIi8+DQoJCTx1aWZvbnQgbmFtZT0iRk9OVF9RVUlaUE9EX1FVRVNUSU9OX0FUVEVNUFRfVkFMVUUiIHZhbHVlPSLlrovkvZMtMTgwMzAsMTAsdHJ1ZSxmYWxzZSx0cnVlIi8+DQoJCTx1aWZvbnQgbmFtZT0iRk9OVF9RVUlaUE9EX1FVRVNUSU9OX1RBRyIgdmFsdWU9IuWui+S9ky0xODAzMCwxMix0cnVlLGZhbHNlLHRydWUiLz4NCgkJPHVpZm9udCBuYW1lPSJGT05UX1FVSVpQT0RfUVVJWl9RVUVTVElPTl9DT1VOVCIgdmFsdWU9IuWui+S9ky0xODAzMCwxMCxmYWxzZSxmYWxzZSx0cnVlIi8+DQoJCTx1aWZvbnQgbmFtZT0iRk9OVF9RVUlaUE9EX1FVSVpfUVVFU1RJT05fQ09VTlRfVkFMVUUiIHZhbHVlPSLlrovkvZMtMTgwMzAsMTAsdHJ1ZSxmYWxzZSx0cnVlIi8+DQoJCTx1aWZvbnQgbmFtZT0iRk9OVF9RVUlaUE9EX1FVSVpfUVVFU1RJT05fQVRURU1QVEVEIiB2YWx1ZT0i5a6L5L2TLTE4MDMwLDEwLGZhbHNlLGZhbHNlLHRydWUiLz4NCgkJPHVpZm9udCBuYW1lPSJGT05UX1FVSVpQT0RfUVVJWl9RVUVTVElPTl9BVFRFTVBURURfVkFMVUUiIHZhbHVlPSLlrovkvZMtMTgwMzAsMTAsdHJ1ZSxmYWxzZSx0cnVlIi8+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S9ky0xODAzMCwxMCx0cnVlLGZhbHNlLHRydWUiLz4NCgkJPHVpZm9udCBuYW1lPSJGT05UX1FVSVpQT0RfUVVJWl9NQVhTQ09SRSIgdmFsdWU9IuWui+S9ky0xODAzMCwxMCxmYWxzZSxmYWxzZSx0cnVlIi8+DQoJCTx1aWZvbnQgbmFtZT0iRk9OVF9RVUlaUE9EX1FVSVpfTUFYU0NPUkVfVkFMVUUiIHZhbHVlPSLlrovkvZMtMTgwMzAsMTAsdHJ1ZSxmYWxzZSx0cnVlIi8+DQoJCTx1aWZvbnQgbmFtZT0iRk9OVF9RVUlaUE9EX1FVSVpfUEFTU1NDT1JFIiB2YWx1ZT0i5a6L5L2TLTE4MDMwLDEwLGZhbHNlLGZhbHNlLHRydWUiLz4NCgkJPHVpZm9udCBuYW1lPSJGT05UX1FVSVpQT0RfUVVJWl9QQVNTU0NPUkVfVkFMVUUiIHZhbHVlPSLlrovkvZMtMTgwMzAsMTAsdHJ1ZSxmYWxzZSx0cnVlIi8+DQoJCTwhLS0gdWl0ZXh0IC0tPg0KCQk8IS0tIHN1YnN0aXR1dGlvbjogJW4gPT0gc2xpZGUgbnVtYmVyIC0t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DQoJCTx1aXRleHQgbmFtZT0iQ09MTEFCX0xPQ0FMX1BMQVlCQUNLX1RJVExFIiB2YWx1ZT0iTG9jYWwgUGxheWJhY2siLz4NCgkJPHVpdGV4dCBuYW1lPSJDT0xMQUJfTE9DQUxfUExBWUJBQ0tCVE4iIHZhbHVlPSJPayIvPg0KCQk8dWl0ZXh0IG5hbWU9IlVOTkFNRURTTElERVRJVExFIiB2YWx1ZT0i5bm754Gv54mHICVuIi8+DQoJCTwhLS0gc3Vic3RpdHV0aW9uOiAlbiA9PSBzbGlkZSBudW1iZXIgLS0+DQoJCTwhLS0gc3Vic3RpdHV0aW9uOiAldCA9PSB0b3RhbCBzbGlkZSBjb3VudCAtLT4NCgkJPHVpdGV4dCBuYW1lPSJTQ1JVQkJBUlNUQVRVU19TTElERUlORk8iIHZhbHVlPSLlubvnga/niYcgJW4gLyAldCB8ICIvPg0KCQk8dWl0ZXh0IG5hbWU9IlNDUlVCQkFSU1RBVFVTX1NUT1BQRUQiIHZhbHVlPSLlt7LlgZzmraIiLz4NCgkJPHVpdGV4dCBuYW1lPSJTQ1JVQkJBUlNUQVRVU19QTEFZSU5HIiB2YWx1ZT0i5q2j5Zyo5pKt5pS+Ii8+DQoJCTx1aXRleHQgbmFtZT0iU0NSVUJCQVJTVEFUVVNfTk9BVURJTyIgdmFsdWU9IuaXoOmfs+mikSIvPg0KCQk8dWl0ZXh0IG5hbWU9IlNDUlVCQkFSU1RBVFVTX1ZJRFBMQVlJTkciIHZhbHVlPSLop4bpopHmkq3mlL4iLz4NCgkJPHVpdGV4dCBuYW1lPSJTQ1JVQkJBUlNUQVRVU19MT0FESU5HIiB2YWx1ZT0i5q2j5Zyo6L295YWlIi8+DQoJCTx1aXRleHQgbmFtZT0iU0NSVUJCQVJTVEFUVVNfQlVGRkVSSU5HIiB2YWx1ZT0i5q2j5Zyo6L+b6KGM57yT5Yay5aSE55CGIi8+DQoJCTx1aXRleHQgbmFtZT0iU0NSVUJCQVJTVEFUVVNfUVVFU1RJT04iIHZhbHVlPSLlm57nrZTpl67popgiLz4NCgkJPHVpdGV4dCBuYW1lPSJTQ1JVQkJBUlNUQVRVU19SRVZJRVdRVUlaIiB2YWx1ZT0i5q2j5Zyo5a6h6ZiF5rWL6aqMIi8+DQoJCTwhLS0gc3Vic3RpdHV0aW9uOiAlbSA9PSBtaW51dGVzIHJlbWFpbmluZyAtLT4NCgkJPCEtLSBzdWJzdGl0dXRpb246ICVzID09IHNlY29uZHMgcmVtYWluaW5nIC0tPg0KCQk8dWl0ZXh0IG5hbWU9IkVMQVBTRUQiIHZhbHVlPSLliankvZkgJW0g5YiG6ZKfICVzIOenkiIvPg0KCQk8dWl0ZXh0IG5hbWU9Ik5PVEZPVU5EIiB2YWx1ZT0i5pyq5om+5Yiw5Lu75L2V5YaF5a65Ii8+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mqjCIvPg0KCQk8dWl0ZXh0IG5hbWU9IlRBQl9PVVRMSU5FIiB2YWx1ZT0i5aSn57qyIi8+DQoJCTx1aXRleHQgbmFtZT0iVEFCX1RIVU1CIiB2YWx1ZT0i57yp55Wl5Zu+Ii8+DQoJCTx1aXRleHQgbmFtZT0iVEFCX05PVEVTIiB2YWx1ZT0i5aSH5rOoIi8+DQoJCTx1aXRleHQgbmFtZT0iVEFCX1NFQVJDSCIgdmFsdWU9IuaQnOe0oiIvPg0KCQk8dWl0ZXh0IG5hbWU9IlNMSURFX0hFQURJTkciIHZhbHVlPSLlubvnga/niYfmoIfpopgiLz4NCgkJPHVpdGV4dCBuYW1lPSJEVVJBVElPTl9IRUFESU5HIiB2YWx1ZT0i5oyB57ut5pe26Ze0Ii8+DQoJCTx1aXRleHQgbmFtZT0iU0VBUkNIX0hFQURJTkciIHZhbHVlPSLmkJzntKLmlofmnKw6Ii8+DQoJCTx1aXRleHQgbmFtZT0iVEhVTUJfSEVBRElORyIgdmFsdWU9IuW5u+eBr+eJhyIvPg0KCQk8dWl0ZXh0IG5hbWU9IlRIVU1CX0lORk8iIHZhbHVlPSLlubvnga/niYfmoIfpopgv5oyB57ut5pe26Ze0Ii8+DQoJCTx1aXRleHQgbmFtZT0iQVRUQUNITkFNRV9IRUFESU5HIiB2YWx1ZT0i5paH5Lu25ZCNIi8+DQoJCTx1aXRleHQgbmFtZT0iQVRUQUNIU0laRV9IRUFESU5HIiB2YWx1ZT0i5aSn5bCPIi8+DQoJCTx1aXRleHQgbmFtZT0iU0xJREVfTk9URVMiIHZhbHVlPSLlubvnga/niYflpIfms6g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ua1i+mqjOWwneivleasoeaVsDoiLz4NCgkJPHVpdGV4dCBuYW1lPSJRVUlaUE9EX1FVSVpfQVRURU1QVF9WQUxVRSIgdmFsdWU9IuesrCAlbiDmrKHvvIzlhbEgJXQg5qyhIi8+DQoJCTx1aXRleHQgbmFtZT0iUVVJWlBPRF9RVUlaX1NDT1JFIiB2YWx1ZT0i5b6X5YiGOiIvPg0KCQk8dWl0ZXh0IG5hbWU9IlFVSVpQT0RfUVVJWl9QQVNTU0NPUkUiIHZhbHVlPSLlj4rmoLzliIbmlbA6Ii8+DQoJCTx1aXRleHQgbmFtZT0iUVVJWlBPRF9RVUlaX01BWFNDT1JFIiB2YWx1ZT0i5pyA6auY5YiG5pWwOiIvPg0KCQk8dWl0ZXh0IG5hbWU9IlFVSVpQT0RfUVVFU0FUTVBUX1NUUiIgdmFsdWU9IuWwneivleasoeaVsDog56ysICVuIOasoe+8jOWFsSAldCDmrKEiLz4NCgkJPHVpdGV4dCBuYW1lPSJRVUlaUE9EX1FVRVNUWVBFX1NUUiIgdmFsdWU9Iuexu+WeizogJXMiLz4NCgkJPHVpdGV4dCBuYW1lPSJRVUlaUE9EX1FVRVNUWVBFX0dSRCIgdmFsdWU9IuivhOe6pyIvPg0KCQk8dWl0ZXh0IG5hbWU9IlFVSVpQT0RfUVVFU1RZUEVfU1ZZIiB2YWx1ZT0i6LCD5p+lIi8+DQoJCTx1aXRleHQgbmFtZT0iUVVJWlBPRF9RVUlaQVRNUFRfSU5GIiB2YWx1ZT0i5peg6ZmQIi8+DQoJCTx1aXRleHQgbmFtZT0iUVVJWlBPRF9RVUVTQVRNUFRfSU5GIiB2YWx1ZT0i5peg6ZmQIi8+DQoJCTx1aXRleHQgbmFtZT0iV0FSTklOR01TR19ZRVNTVFJJTkciIHZhbHVlPSLmmK8iLz4NCgkJPHVpdGV4dCBuYW1lPSJXQVJOSU5HTVNHX05PU1RSSU5HIiB2YWx1ZT0i5ZCmIi8+DQoJCTx1aXRleHQgbmFtZT0iV0FSTklOR01TR19USVRMRVNUUklORyIgdmFsdWU9Iua1i+mqjOWvvOiIquitpuWRiiIvPg0KCQk8dWl0ZXh0IG5hbWU9IldBUk5JTkdNU0dfTVNHU1RSSU5HIiB2YWx1ZT0i5q2k5rWL6aqM5Lit5pyJ5pyq5bCd6K+V5L2c562U55qE6Zeu6aKY44CCJiN4QTsmI3hBO+WNleWHu+KAnOaYr+KAnemAgOWHuuatpOa1i+mqjOOAguWNleWHu+KAnOWQpuKAnee7p+e7rea1i+mqjOOAgiIvPg0KCQk8dWl0ZXh0IG5hbWU9IklORk9STUFUSU9OX0gyNjRfRkxBU0hQTEFZRVIiIHZhbHVlPSLlvZPliY3lronoo4XlnKjmgqjnmoTorqHnrpfmnLrkuIrnmoQgRmxhc2ggUGxheWVyIOeJiOacrOS4jeaUr+aMgeivpeinhumikeOAguWNleWHu+inhumikeWMuuWfn+S4i+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C5Yqg6ICF5pi+56S65o+Q6KaB5qCPIi8+DQoJCTx1aXRleHQgbmFtZT0iTVVURSIgdmFsdWU9IumdmemfsyIvPg0KCQk8dWl0ZXh0IG5hbWU9IkRPQ1dSQVBfVElUTEUiIHZhbHVlPSJQcmVzZW50ZXIg5paH5Lu26ZmE5Lu2Ii8+DQoJCTx1aXRleHQgbmFtZT0iRE9DV1JBUF9NU0ciIHZhbHVlPSLkv53lrZjliLDmiJHnmoTorqHnrpfmnLoiLz4NCgkJPHVpdGV4dCBuYW1lPSJET0NXUkFQX1BST01QVCIgdmFsdWU9IuWNleWHu+S7peS4i+i9vSIvPg0KCTwvbGFuZ3VhZ2U+DQoJPGxhbmd1YWdlIGlkPSJ0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x1aXRleHQgbmFtZT0iVU5OQU1FRFNMSURFVElUTEUiIHZhbHVlPSJTbGF5dCAlbiIvPg0KCQk8IS0tIHN1YnN0aXR1dGlvbjogJW4gPT0gc2xpZGUgbnVtYmVyIC0tPg0KCQk8IS0tIHN1YnN0aXR1dGlvbjogJXQgPT0gdG90YWwgc2xpZGUgY291bnQgLS0+DQoJCTx1aXRleHQgbmFtZT0iU0NSVUJCQVJTVEFUVVNfU0xJREVJTkZPIiB2YWx1ZT0iU2xheXQgJW4gLyAldCB8ICIvPg0KCQk8dWl0ZXh0IG5hbWU9IlNDUlVCQkFSU1RBVFVTX1NUT1BQRUQiIHZhbHVlPSJEdXJkdXJ1bGR1Ii8+DQoJCTx1aXRleHQgbmFtZT0iU0NSVUJCQVJTVEFUVVNfUExBWUlORyIgdmFsdWU9Ik95bmF0xLFsxLF5b3IiLz4NCgkJPHVpdGV4dCBuYW1lPSJTQ1JVQkJBUlNUQVRVU19OT0FVRElPIiB2YWx1ZT0iU2VzIFlvayIvPg0KCQk8dWl0ZXh0IG5hbWU9IlNDUlVCQkFSU1RBVFVTX1ZJRFBMQVlJTkciIHZhbHVlPSJWaWRlbyBPeW5hdMSxbMSxeW9yIi8+DQoJCTx1aXRleHQgbmFtZT0iU0NSVUJCQVJTVEFUVVNfTE9BRElORyIgdmFsdWU9IlnDvGtsZW5peW9yIi8+DQoJCTx1aXRleHQgbmFtZT0iU0NSVUJCQVJTVEFUVVNfQlVGRkVSSU5HIiB2YWx1ZT0iQXJhYmVsbGXEn2UgQWzEsW7EsXlvciIvPg0KCQk8dWl0ZXh0IG5hbWU9IlNDUlVCQkFSU1RBVFVTX1FVRVNUSU9OIiB2YWx1ZT0iU29ydXl1IFlhbsSxdGxhIi8+DQoJCTx1aXRleHQgbmFtZT0iU0NSVUJCQVJTVEFUVVNfUkVWSUVXUVVJWiIgdmFsdWU9IlPEsW5hdiDEsG5jZWxlbml5b3IiLz4NCgkJPCEtLSBzdWJzdGl0dXRpb246ICVtID09IG1pbnV0ZXMgcmVtYWluaW5nIC0tPg0KCQk8IS0tIHN1YnN0aXR1dGlvbjogJXMgPT0gc2Vjb25kcyByZW1haW5pbmcgLS0+DQoJCTx1aXRleHQgbmFtZT0iRUxBUFNFRCIgdmFsdWU9IiVtIERha2lrYSAlcyBTYW5peWUgS2FsZMSxIi8+DQoJCTx1aXRleHQgbmFtZT0iTk9URk9VTkQiIHZhbHVlPSJIZXJoYW5naSBCaXIgxZ5leSBCdWx1bm1hZMSxIi8+DQoJCTx1aXRleHQgbmFtZT0iQVRUQUNITUVOVFMiIHZhbHVlPSJFa2xlci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sSwcnRpYmF0Ii8+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0J/QvtC/0YvRgtC60LAg0L/RgNC+0LnRgtC4INC+0L/RgNC+0YE6Ii8+DQoJCTx1aXRleHQgbmFtZT0iUVVJWlBPRF9RVUlaX0FUVEVNUFRfVkFMVUUiIHZhbHVlPSIlbiDQuNC3ICV0Ii8+DQoJCTx1aXRleHQgbmFtZT0iUVVJWlBPRF9RVUlaX1NDT1JFIiB2YWx1ZT0i0J3QsNCx0YDQsNC90L4g0LHQsNC70LvQvtCyOiIvPg0KCQk8dWl0ZXh0IG5hbWU9IlFVSVpQT0RfUVVJWl9QQVNTU0NPUkUiIHZhbHVlPSLQn9GA0L7RhdC+0LTQvdC+0Lkg0YDQtdC30YPQu9GM0YLQsNGCOiIvPg0KCQk8dWl0ZXh0IG5hbWU9IlFVSVpQT0RfUVVJWl9NQVhTQ09SRSIgdmFsdWU9ItCc0LDQutGB0LjQvNCw0LvRjNC90YvQuSDRgNC10LfRg9C70YzRgtCw0YI6Ii8+DQoJCTx1aXRleHQgbmFtZT0iUVVJWlBPRF9RVUVTQVRNUFRfU1RSIiB2YWx1ZT0i0J/QvtC/0YvRgtC60LA6ICVuINC40LcgJXQiLz4NCgkJPHVpdGV4dCBuYW1lPSJRVUlaUE9EX1FVRVNUWVBFX1NUUiIgdmFsdWU9ItCi0LjQvzogJXMiLz4NCgkJPHVpdGV4dCBuYW1lPSJRVUlaUE9EX1FVRVNUWVBFX0dSRCIgdmFsdWU9ItChINC+0YbQtdC90LrQvtC5Ii8+DQoJCTx1aXRleHQgbmFtZT0iUVVJWlBPRF9RVUVTVFlQRV9TVlkiIHZhbHVlPSLQntCx0LfQvtGAIi8+DQoJCTx1aXRleHQgbmFtZT0iUVVJWlBPRF9RVUlaQVRNUFRfSU5GIiB2YWx1ZT0i0JHQvtC70YzRiNC+0LUg0YfQuNGB0LvQviIvPg0KCQk8dWl0ZXh0IG5hbWU9IlFVSVpQT0RfUVVFU0FUTVBUX0lORiIgdmFsdWU9ItCR0L7Qu9GM0YjQvtC1INGH0LjRgdC70L4iLz4NCgkJPHVpdGV4dCBuYW1lPSJXQVJOSU5HTVNHX1lFU1NUUklORyIgdmFsdWU9ItCU0LAiLz4NCgkJPHVpdGV4dCBuYW1lPSJXQVJOSU5HTVNHX05PU1RSSU5HIiB2YWx1ZT0i0J3QtdGCIi8+DQoJCTx1aXRleHQgbmFtZT0iV0FSTklOR01TR19USVRMRVNUUklORyIgdmFsdWU9ItCf0YDQtdC00YPQv9GA0LXQttC00LXQvdC40LUg0L4g0L3QsNCy0LjQs9Cw0YbQuNC4INCyINC+0L/RgNC+0YHQtSIvPg0KCQk8dWl0ZXh0IG5hbWU9IldBUk5JTkdNU0dfTVNHU1RSSU5HIiB2YWx1ZT0i0JIg0L7Qv9GA0L7RgdC1INC+0YHRgtCw0LvQuNGB0Ywg0L3QtdC+0YLQstC10YfQtdC90L3Ri9C1INCy0L7Qv9GA0L7RgdGLLtCd0LDQttCw0YLQuNC1INC60L3QvtC/0LrQuCAmcXVvdDvQlNCwJnF1b3Q7INC/0YDQuNCy0LXQtNC10YIg0Log0LfQsNC60YDRi9GC0LjRjiDQvtC/0YDQvtGB0LAuINCd0LDQttCw0YLQuNC1INC60L3QvtC/0LrQuCAmcXVvdDvQndC10YImcXVvdDsg0L/RgNC+0LTQvtC70LbQuNGCINC+0L/RgNC+0YEuIi8+DQoJCTx1aXRleHQgbmFtZT0iSU5GT1JNQVRJT05fSDI2NF9GTEFTSFBMQVlFUiIgdmFsdWU9ItCi0LXQutGD0YnQsNGPINCy0LXRgNGB0LjRjyDQv9GA0L7QuNCz0YDRi9Cy0LDRgtC10LvRjyBGbGFzaCBQbGF5ZXIsINGD0YHRgtCw0L3QvtCy0LvQtdC90L3QsNGPINC90LAg0Y3RgtC+0Lwg0LrQvtC80L/RjNGO0YLQtdGA0LUsINC90LUg0L/QvtC00LTQtdGA0LbQuNCy0LDQtdGCINGN0YLQviDQstC40LTQtdC+LiDQqdC10LvQutC90LjRgtC1INCyINC+0LHQu9Cw0YHRgtC4INCy0LjQtNC10L4sINGH0YLQvtCx0Ysg0LfQsNCz0YDRg9C30LjRgtGMINC/0L7RgdC70LXQtNC90Y7RjiDQstC10YDRgdC40Y4g0L/RgNC+0LjQs9GA0YvQstCw0YLQtdC70Y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LQn9C+0LrQsNC30YvQstCw0YLRjCDQstGA0LXQt9C60YMg0YPRh9Cw0YHRgtC90LjQutCw0LwiLz4NCgkJPHVpdGV4dCBuYW1lPSJNVVRFIiB2YWx1ZT0i0J7RgtC60LvRjtGH0LjRgtGMINC30LLRg9C6Ii8+DQoJCTx1aXRleHQgbmFtZT0iRE9DV1JBUF9USVRMRSIgdmFsdWU9ItCS0LvQvtC20LXQvdC40LUg0LIg0YTQsNC50LsgQWRvYmUgUHJlc2VudGVyIi8+DQoJCTx1aXRleHQgbmFtZT0iRE9DV1JBUF9NU0ciIHZhbHVlPSLQodC+0YXRgNCw0L3QuNGC0Ywg0LIg0L/QsNC/0LrRgyAmcXVvdDvQnNC+0Lkg0LrQvtC80L/RjNGO0YLQtdGAJnF1b3Q7Ii8+DQoJCTx1aXRleHQgbmFtZT0iRE9DV1JBUF9QUk9NUFQiIHZhbHVlPSLQqdC10LvQutC90YPRgtGMINC00LvRjyDQt9Cw0LPRgNGD0LfQutC4Ii8+DQoJPC9sYW5ndWFnZT4NCjwvY29uZmlndXJhdGlvbj4NCg=="/>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5&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HTML_SHAPEINFO" val="&lt;SlideThumbPath val=&quot;Slide1.PNG&quot;/&gt;"/>
  <p:tag name="PPSNARRATION" val="1,883145026,C:\Users\sanmi\GoogleDrive\UWMdrive\Courses\ECE552\ece552-lec18_SharedMemoryCoherence_pptx\Media.ppcx"/>
</p:tagLst>
</file>

<file path=ppt/tags/tag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AE432DF4-F8DE-4B11-BA3C-23490A90147D}_1.png&quot;/&gt;&lt;left val=&quot;35&quot;/&gt;&lt;top val=&quot;178&quot;/&gt;&lt;width val=&quot;656&quot;/&gt;&lt;height val=&quot;146&quot;/&gt;&lt;hasText val=&quot;1&quot;/&gt;&lt;/Image&gt;&lt;/ThreeDShapeInfo&gt;"/>
  <p:tag name="PRESENTER_SHAPETEXTINFO" val="&lt;ShapeTextInfo&gt;&lt;TableIndex row=&quot;-1&quot; col=&quot;-1&quot;&gt;&lt;linesCount val=&quot;2&quot;/&gt;&lt;lineCharCount val=&quot;30&quot;/&gt;&lt;lineCharCount val=&quot;9&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17F0B5C9-EF27-4C9D-B6E7-342C6CBDD80B}_1.png&quot;/&gt;&lt;left val=&quot;103&quot;/&gt;&lt;top val=&quot;302&quot;/&gt;&lt;width val=&quot;512&quot;/&gt;&lt;height val=&quot;163&quot;/&gt;&lt;hasText val=&quot;1&quot;/&gt;&lt;/Image&gt;&lt;/ThreeDShapeInfo&gt;"/>
  <p:tag name="PRESENTER_SHAPETEXTINFO" val="&lt;ShapeTextInfo&gt;&lt;TableIndex row=&quot;-1&quot; col=&quot;-1&quot;&gt;&lt;linesCount val=&quot;6&quot;/&gt;&lt;lineCharCount val=&quot;24&quot;/&gt;&lt;lineCharCount val=&quot;1&quot;/&gt;&lt;lineCharCount val=&quot;55&quot;/&gt;&lt;lineCharCount val=&quot;53&quot;/&gt;&lt;lineCharCount val=&quot;14&quot;/&gt;&lt;lineCharCount val=&quot;3&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HTML_SHAPEINFO" val="&lt;SlideThumbPath val=&quot;Slide2.PNG&quot;/&gt;"/>
  <p:tag name="PPSNARRATION" val="2,883145026,C:\Users\sanmi\GoogleDrive\UWMdrive\Courses\ECE552\ece552-lec18_SharedMemoryCoherence_pptx\Media.ppcx"/>
</p:tagLst>
</file>

<file path=ppt/tags/tag2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81E68A2F-F344-4128-AAEB-9B2A90ED00E9}_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3&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DE5A4BAE-589B-40D9-B124-79B8FC7BB99F}_2.png&quot;/&gt;&lt;left val=&quot;24&quot;/&gt;&lt;top val=&quot;119&quot;/&gt;&lt;width val=&quot;688&quot;/&gt;&lt;height val=&quot;276&quot;/&gt;&lt;hasText val=&quot;1&quot;/&gt;&lt;/Image&gt;&lt;/ThreeDShapeInfo&gt;"/>
  <p:tag name="PRESENTER_SHAPETEXTINFO" val="&lt;ShapeTextInfo&gt;&lt;TableIndex row=&quot;-1&quot; col=&quot;-1&quot;&gt;&lt;linesCount val=&quot;2&quot;/&gt;&lt;lineCharCount val=&quot;45&quot;/&gt;&lt;lineCharCount val=&quot;45&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854F8785-BCE5-43F2-811B-55BE3BFC636A}_2.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0817593-399D-490F-9063-5627B53864C3}_2.png&quot;/&gt;&lt;left val=&quot;194&quot;/&gt;&lt;top val=&quot;233&quot;/&gt;&lt;width val=&quot;132&quot;/&gt;&lt;height val=&quot;222&quot;/&gt;&lt;hasText val=&quot;1&quot;/&gt;&lt;/Image&gt;&lt;/ThreeDShapeInfo&gt;"/>
  <p:tag name="PRESENTER_SHAPETEXTINFO" val="&lt;ShapeTextInfo&gt;&lt;TableIndex row=&quot;-1&quot; col=&quot;-1&quot;&gt;&lt;linesCount val=&quot;1&quot;/&gt;&lt;lineCharCount val=&quot;6&quot;/&gt;&lt;/TableIndex&gt;&lt;/ShapeTextInfo&gt;"/>
</p:tagLst>
</file>

<file path=ppt/tags/tag2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86AB926-4F32-4CBA-BE1B-53B5E83A5B89}_2.png&quot;/&gt;&lt;left val=&quot;194&quot;/&gt;&lt;top val=&quot;500&quot;/&gt;&lt;width val=&quot;132&quot;/&gt;&lt;height val=&quot;36&quot;/&gt;&lt;hasText val=&quot;1&quot;/&gt;&lt;/Image&gt;&lt;/ThreeDShapeInfo&gt;"/>
  <p:tag name="PRESENTER_SHAPETEXTINFO" val="&lt;ShapeTextInfo&gt;&lt;TableIndex row=&quot;-1&quot; col=&quot;-1&quot;&gt;&lt;linesCount val=&quot;1&quot;/&gt;&lt;lineCharCount val=&quot;10&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CBE74CC8-0F80-4976-AFD4-8BF38EA3733B}_2.png&quot;/&gt;&lt;left val=&quot;102&quot;/&gt;&lt;top val=&quot;339&quot;/&gt;&lt;width val=&quot;78&quot;/&gt;&lt;height val=&quot;39&quot;/&gt;&lt;hasText val=&quot;1&quot;/&gt;&lt;/Image&gt;&lt;/ThreeDShapeInfo&gt;"/>
  <p:tag name="PRESENTER_SHAPETEXTINFO" val="&lt;ShapeTextInfo&gt;&lt;TableIndex row=&quot;-1&quot; col=&quot;-1&quot;&gt;&lt;linesCount val=&quot;1&quot;/&gt;&lt;lineCharCount val=&quot;8&quot;/&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78739EBD-751C-4F88-87FF-AAE985EA4F60}_2.png&quot;/&gt;&lt;left val=&quot;110&quot;/&gt;&lt;top val=&quot;363&quot;/&gt;&lt;width val=&quot;72&quot;/&gt;&lt;height val=&quot;39&quot;/&gt;&lt;hasText val=&quot;1&quot;/&gt;&lt;/Image&gt;&lt;/ThreeDShapeInfo&gt;"/>
  <p:tag name="PRESENTER_SHAPETEXTINFO" val="&lt;ShapeTextInfo&gt;&lt;TableIndex row=&quot;-1&quot; col=&quot;-1&quot;&gt;&lt;linesCount val=&quot;1&quot;/&gt;&lt;lineCharCount val=&quot;7&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PRESENTER_SHAPEINFO" val="&lt;ThreeDShapeInfo&gt;&lt;uuid val=&quot;{34950687-DC36-4E43-9458-E831EF8AC26B}&quot;/&gt;&lt;isInvalidForFieldText val=&quot;0&quot;/&gt;&lt;Image&gt;&lt;filename val=&quot;C:\Users\sanmi\Documents\My Adobe Presentations\ece552-SharedMemoryCoherence\data\asimages\{34950687-DC36-4E43-9458-E831EF8AC26B}_2.png&quot;/&gt;&lt;left val=&quot;248&quot;/&gt;&lt;top val=&quot;292&quot;/&gt;&lt;width val=&quot;246&quot;/&gt;&lt;height val=&quot;84&quot;/&gt;&lt;hasText val=&quot;1&quot;/&gt;&lt;/Image&gt;&lt;/ThreeDShape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PRESENTER_SHAPEINFO" val="&lt;ThreeDShapeInfo&gt;&lt;uuid val=&quot;{06119F46-0197-482F-B5DB-BBA3583DB301}&quot;/&gt;&lt;isInvalidForFieldText val=&quot;0&quot;/&gt;&lt;Image&gt;&lt;filename val=&quot;C:\Users\sanmi\Documents\My Adobe Presentations\ece552-SharedMemoryCoherence\data\asimages\{06119F46-0197-482F-B5DB-BBA3583DB301}_2.png&quot;/&gt;&lt;left val=&quot;162&quot;/&gt;&lt;top val=&quot;369&quot;/&gt;&lt;width val=&quot;52&quot;/&gt;&lt;height val=&quot;25&quot;/&gt;&lt;hasText val=&quot;1&quot;/&gt;&lt;/Image&gt;&lt;/ThreeDShapeInfo&gt;"/>
</p:tagLst>
</file>

<file path=ppt/tags/tag33.xml><?xml version="1.0" encoding="utf-8"?>
<p:tagLst xmlns:a="http://schemas.openxmlformats.org/drawingml/2006/main" xmlns:r="http://schemas.openxmlformats.org/officeDocument/2006/relationships" xmlns:p="http://schemas.openxmlformats.org/presentationml/2006/main">
  <p:tag name="PRESENTER_SHAPEINFO" val="&lt;ThreeDShapeInfo&gt;&lt;uuid val=&quot;{585E6965-6E90-490E-A171-E6316F116B94}&quot;/&gt;&lt;isInvalidForFieldText val=&quot;0&quot;/&gt;&lt;Image&gt;&lt;filename val=&quot;C:\Users\sanmi\Documents\My Adobe Presentations\ece552-SharedMemoryCoherence\data\asimages\{585E6965-6E90-490E-A171-E6316F116B94}_2.png&quot;/&gt;&lt;left val=&quot;170&quot;/&gt;&lt;top val=&quot;355&quot;/&gt;&lt;width val=&quot;52&quot;/&gt;&lt;height val=&quot;25&quot;/&gt;&lt;hasText val=&quot;1&quot;/&gt;&lt;/Image&gt;&lt;/ThreeDShapeInfo&gt;"/>
</p:tagLst>
</file>

<file path=ppt/tags/tag3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93150DCD-62C6-459D-8E28-361967F8D832}_2.png&quot;/&gt;&lt;left val=&quot;446&quot;/&gt;&lt;top val=&quot;231&quot;/&gt;&lt;width val=&quot;146&quot;/&gt;&lt;height val=&quot;39&quot;/&gt;&lt;hasText val=&quot;1&quot;/&gt;&lt;/Image&gt;&lt;/ThreeDShapeInfo&gt;"/>
  <p:tag name="PRESENTER_SHAPETEXTINFO" val="&lt;ShapeTextInfo&gt;&lt;TableIndex row=&quot;-1&quot; col=&quot;-1&quot;&gt;&lt;linesCount val=&quot;1&quot;/&gt;&lt;lineCharCount val=&quot;15&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BA0581F4-EA8B-446C-AE83-EBBF59CD32DE}_2.png&quot;/&gt;&lt;left val=&quot;183&quot;/&gt;&lt;top val=&quot;204&quot;/&gt;&lt;width val=&quot;153&quot;/&gt;&lt;height val=&quot;39&quot;/&gt;&lt;hasText val=&quot;1&quot;/&gt;&lt;/Image&gt;&lt;/ThreeDShapeInfo&gt;"/>
  <p:tag name="PRESENTER_SHAPETEXTINFO" val="&lt;ShapeTextInfo&gt;&lt;TableIndex row=&quot;-1&quot; col=&quot;-1&quot;&gt;&lt;linesCount val=&quot;1&quot;/&gt;&lt;lineCharCount val=&quot;17&quot;/&gt;&lt;/TableIndex&gt;&lt;/ShapeTextInfo&gt;"/>
</p:tagLst>
</file>

<file path=ppt/tags/tag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A198FB38-90E0-4F26-89A1-AACC07506525}_2.png&quot;/&gt;&lt;left val=&quot;194&quot;/&gt;&lt;top val=&quot;500&quot;/&gt;&lt;width val=&quot;132&quot;/&gt;&lt;height val=&quot;36&quot;/&gt;&lt;hasText val=&quot;1&quot;/&gt;&lt;/Image&gt;&lt;/ThreeDShapeInfo&gt;"/>
  <p:tag name="PRESENTER_SHAPETEXTINFO" val="&lt;ShapeTextInfo&gt;&lt;TableIndex row=&quot;-1&quot; col=&quot;-1&quot;&gt;&lt;linesCount val=&quot;1&quot;/&gt;&lt;lineCharCount val=&quot;10&quot;/&gt;&lt;/TableIndex&gt;&lt;/ShapeTextInfo&gt;"/>
</p:tagLst>
</file>

<file path=ppt/tags/tag3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64BEBCD2-49D0-4F8D-8A41-DEFE7391847E}_2.png&quot;/&gt;&lt;left val=&quot;194&quot;/&gt;&lt;top val=&quot;454&quot;/&gt;&lt;width val=&quot;132&quot;/&gt;&lt;height val=&quot;36&quot;/&gt;&lt;hasText val=&quot;1&quot;/&gt;&lt;/Image&gt;&lt;/ThreeDShapeInfo&gt;"/>
  <p:tag name="PRESENTER_SHAPETEXTINFO" val="&lt;ShapeTextInfo&gt;&lt;TableIndex row=&quot;-1&quot; col=&quot;-1&quot;&gt;&lt;linesCount val=&quot;1&quot;/&gt;&lt;lineCharCount val=&quot;10&quot;/&gt;&lt;/TableIndex&gt;&lt;/ShapeTextInfo&gt;"/>
</p:tagLst>
</file>

<file path=ppt/tags/tag39.xml><?xml version="1.0" encoding="utf-8"?>
<p:tagLst xmlns:a="http://schemas.openxmlformats.org/drawingml/2006/main" xmlns:r="http://schemas.openxmlformats.org/officeDocument/2006/relationships" xmlns:p="http://schemas.openxmlformats.org/presentationml/2006/main">
  <p:tag name="HTML_SHAPEINFO" val="&lt;SlideThumbPath val=&quot;Slide3.PNG&quot;/&gt;"/>
  <p:tag name="PPSNARRATION" val="3,883145026,C:\Users\sanmi\GoogleDrive\UWMdrive\Courses\ECE552\ece552-lec18_SharedMemoryCoherence_pptx\Media.ppcx"/>
</p:tagLst>
</file>

<file path=ppt/tags/tag4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B4F1DDD9-59E6-45A7-B4B9-82B07346577F}_3.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3&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357198D-E352-4C64-977D-B95CF1162406}_3.png&quot;/&gt;&lt;left val=&quot;24&quot;/&gt;&lt;top val=&quot;119&quot;/&gt;&lt;width val=&quot;688&quot;/&gt;&lt;height val=&quot;276&quot;/&gt;&lt;hasText val=&quot;1&quot;/&gt;&lt;/Image&gt;&lt;/ThreeDShapeInfo&gt;"/>
  <p:tag name="PRESENTER_SHAPETEXTINFO" val="&lt;ShapeTextInfo&gt;&lt;TableIndex row=&quot;-1&quot; col=&quot;-1&quot;&gt;&lt;linesCount val=&quot;2&quot;/&gt;&lt;lineCharCount val=&quot;45&quot;/&gt;&lt;lineCharCount val=&quot;27&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94C8F839-8BC8-4E78-94C6-6E7BAB145143}_3.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05B1C62E-E290-42A3-A7E4-88FF5DC91DB0}_3.png&quot;/&gt;&lt;left val=&quot;169&quot;/&gt;&lt;top val=&quot;317&quot;/&gt;&lt;width val=&quot;132&quot;/&gt;&lt;height val=&quot;132&quot;/&gt;&lt;hasText val=&quot;1&quot;/&gt;&lt;/Image&gt;&lt;/ThreeDShapeInfo&gt;"/>
  <p:tag name="PRESENTER_SHAPETEXTINFO" val="&lt;ShapeTextInfo&gt;&lt;TableIndex row=&quot;-1&quot; col=&quot;-1&quot;&gt;&lt;linesCount val=&quot;1&quot;/&gt;&lt;lineCharCount val=&quot;6&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29295390-81BF-4998-A358-9D6CD12A5E07}_3.png&quot;/&gt;&lt;left val=&quot;169&quot;/&gt;&lt;top val=&quot;449&quot;/&gt;&lt;width val=&quot;132&quot;/&gt;&lt;height val=&quot;78&quot;/&gt;&lt;hasText val=&quot;1&quot;/&gt;&lt;/Image&gt;&lt;/ThreeDShapeInfo&gt;"/>
  <p:tag name="PRESENTER_SHAPETEXTINFO" val="&lt;ShapeTextInfo&gt;&lt;TableIndex row=&quot;-1&quot; col=&quot;-1&quot;&gt;&lt;linesCount val=&quot;1&quot;/&gt;&lt;lineCharCount val=&quot;7&quot;/&gt;&lt;/TableIndex&gt;&lt;/ShapeTextInfo&gt;"/>
</p:tagLst>
</file>

<file path=ppt/tags/tag5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EAA923C9-2D32-4CA8-BBA6-6648743A810C}_3.png&quot;/&gt;&lt;left val=&quot;453&quot;/&gt;&lt;top val=&quot;227&quot;/&gt;&lt;width val=&quot;132&quot;/&gt;&lt;height val=&quot;174&quot;/&gt;&lt;hasText val=&quot;1&quot;/&gt;&lt;/Image&gt;&lt;/ThreeDShapeInfo&gt;"/>
  <p:tag name="PRESENTER_SHAPETEXTINFO" val="&lt;ShapeTextInfo&gt;&lt;TableIndex row=&quot;-1&quot; col=&quot;-1&quot;&gt;&lt;linesCount val=&quot;1&quot;/&gt;&lt;lineCharCount val=&quot;6&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2933DA2-711D-4E70-88AA-BE4C33796026}_3.png&quot;/&gt;&lt;left val=&quot;453&quot;/&gt;&lt;top val=&quot;401&quot;/&gt;&lt;width val=&quot;132&quot;/&gt;&lt;height val=&quot;54&quot;/&gt;&lt;hasText val=&quot;1&quot;/&gt;&lt;/Image&gt;&lt;/ThreeDShapeInfo&gt;"/>
  <p:tag name="PRESENTER_SHAPETEXTINFO" val="&lt;ShapeTextInfo&gt;&lt;TableIndex row=&quot;-1&quot; col=&quot;-1&quot;&gt;&lt;linesCount val=&quot;1&quot;/&gt;&lt;lineCharCount val=&quot;10&quot;/&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58CC3FB-D031-4F0F-8AFB-87376C2F0B9E}_3.png&quot;/&gt;&lt;left val=&quot;453&quot;/&gt;&lt;top val=&quot;473&quot;/&gt;&lt;width val=&quot;132&quot;/&gt;&lt;height val=&quot;54&quot;/&gt;&lt;hasText val=&quot;1&quot;/&gt;&lt;/Image&gt;&lt;/ThreeDShapeInfo&gt;"/>
  <p:tag name="PRESENTER_SHAPETEXTINFO" val="&lt;ShapeTextInfo&gt;&lt;TableIndex row=&quot;-1&quot; col=&quot;-1&quot;&gt;&lt;linesCount val=&quot;1&quot;/&gt;&lt;lineCharCount val=&quot;10&quot;/&gt;&lt;/TableIndex&gt;&lt;/ShapeTextInfo&gt;"/>
</p:tagLst>
</file>

<file path=ppt/tags/tag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97BC3133-FB93-4681-B3E9-3935054A5625}_3.png&quot;/&gt;&lt;left val=&quot;103&quot;/&gt;&lt;top val=&quot;321&quot;/&gt;&lt;width val=&quot;59&quot;/&gt;&lt;height val=&quot;39&quot;/&gt;&lt;hasText val=&quot;1&quot;/&gt;&lt;/Image&gt;&lt;/ThreeDShapeInfo&gt;"/>
  <p:tag name="PRESENTER_SHAPETEXTINFO" val="&lt;ShapeTextInfo&gt;&lt;TableIndex row=&quot;-1&quot; col=&quot;-1&quot;&gt;&lt;linesCount val=&quot;1&quot;/&gt;&lt;lineCharCount val=&quot;5&quot;/&gt;&lt;/TableIndex&gt;&lt;/ShapeTextInfo&gt;"/>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26370DCB-3A96-47B4-BEDD-B05F53C9D9DB}_3.png&quot;/&gt;&lt;left val=&quot;147&quot;/&gt;&lt;top val=&quot;246&quot;/&gt;&lt;width val=&quot;54&quot;/&gt;&lt;height val=&quot;39&quot;/&gt;&lt;hasText val=&quot;1&quot;/&gt;&lt;/Image&gt;&lt;/ThreeDShapeInfo&gt;"/>
  <p:tag name="PRESENTER_SHAPETEXTINFO" val="&lt;ShapeTextInfo&gt;&lt;TableIndex row=&quot;-1&quot; col=&quot;-1&quot;&gt;&lt;linesCount val=&quot;1&quot;/&gt;&lt;lineCharCount val=&quot;4&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PRESENTER_SHAPEINFO" val="&lt;ThreeDShapeInfo&gt;&lt;uuid val=&quot;{B93730AC-BFC8-4933-ABB7-F02ECEE27395}&quot;/&gt;&lt;isInvalidForFieldText val=&quot;0&quot;/&gt;&lt;Image&gt;&lt;filename val=&quot;C:\Users\sanmi\Documents\My Adobe Presentations\ece552-SharedMemoryCoherence\data\asimages\{B93730AC-BFC8-4933-ABB7-F02ECEE27395}_3.png&quot;/&gt;&lt;left val=&quot;298&quot;/&gt;&lt;top val=&quot;485&quot;/&gt;&lt;width val=&quot;167&quot;/&gt;&lt;height val=&quot;29&quot;/&gt;&lt;hasText val=&quot;1&quot;/&gt;&lt;/Image&gt;&lt;/ThreeDShapeInfo&gt;"/>
</p:tagLst>
</file>

<file path=ppt/tags/tag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PRESENTER_SHAPEINFO" val="&lt;ThreeDShapeInfo&gt;&lt;uuid val=&quot;{F0C27638-F5AA-49CF-A2CA-0E2B42B2651B}&quot;/&gt;&lt;isInvalidForFieldText val=&quot;0&quot;/&gt;&lt;Image&gt;&lt;filename val=&quot;C:\Users\sanmi\Documents\My Adobe Presentations\ece552-SharedMemoryCoherence\data\asimages\{F0C27638-F5AA-49CF-A2CA-0E2B42B2651B}_3.png&quot;/&gt;&lt;left val=&quot;334&quot;/&gt;&lt;top val=&quot;407&quot;/&gt;&lt;width val=&quot;132&quot;/&gt;&lt;height val=&quot;35&quot;/&gt;&lt;hasText val=&quot;1&quot;/&gt;&lt;/Image&gt;&lt;/ThreeDShapeInfo&gt;"/>
</p:tagLst>
</file>

<file path=ppt/tags/tag61.xml><?xml version="1.0" encoding="utf-8"?>
<p:tagLst xmlns:a="http://schemas.openxmlformats.org/drawingml/2006/main" xmlns:r="http://schemas.openxmlformats.org/officeDocument/2006/relationships" xmlns:p="http://schemas.openxmlformats.org/presentationml/2006/main">
  <p:tag name="PRESENTER_SHAPEINFO" val="&lt;ThreeDShapeInfo&gt;&lt;uuid val=&quot;{BF48B427-6E81-47ED-B508-593FAA985F4F}&quot;/&gt;&lt;isInvalidForFieldText val=&quot;0&quot;/&gt;&lt;Image&gt;&lt;filename val=&quot;C:\Users\sanmi\Documents\My Adobe Presentations\ece552-SharedMemoryCoherence\data\asimages\{BF48B427-6E81-47ED-B508-593FAA985F4F}_3.png&quot;/&gt;&lt;left val=&quot;298&quot;/&gt;&lt;top val=&quot;303&quot;/&gt;&lt;width val=&quot;168&quot;/&gt;&lt;height val=&quot;86&quot;/&gt;&lt;hasText val=&quot;1&quot;/&gt;&lt;/Image&gt;&lt;/ThreeDShapeInfo&gt;"/>
</p:tagLst>
</file>

<file path=ppt/tags/tag62.xml><?xml version="1.0" encoding="utf-8"?>
<p:tagLst xmlns:a="http://schemas.openxmlformats.org/drawingml/2006/main" xmlns:r="http://schemas.openxmlformats.org/officeDocument/2006/relationships" xmlns:p="http://schemas.openxmlformats.org/presentationml/2006/main">
  <p:tag name="PRESENTER_SHAPEINFO" val="&lt;ThreeDShapeInfo&gt;&lt;uuid val=&quot;{7C158C9C-F848-4C3E-8653-3319F8956134}&quot;/&gt;&lt;isInvalidForFieldText val=&quot;0&quot;/&gt;&lt;Image&gt;&lt;filename val=&quot;C:\Users\sanmi\Documents\My Adobe Presentations\ece552-SharedMemoryCoherence\data\asimages\{7C158C9C-F848-4C3E-8653-3319F8956134}_3.png&quot;/&gt;&lt;left val=&quot;334&quot;/&gt;&lt;top val=&quot;302&quot;/&gt;&lt;width val=&quot;131&quot;/&gt;&lt;height val=&quot;26&quot;/&gt;&lt;hasText val=&quot;1&quot;/&gt;&lt;/Image&gt;&lt;/ThreeDShapeInfo&gt;"/>
</p:tagLst>
</file>

<file path=ppt/tags/tag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4.xml><?xml version="1.0" encoding="utf-8"?>
<p:tagLst xmlns:a="http://schemas.openxmlformats.org/drawingml/2006/main" xmlns:r="http://schemas.openxmlformats.org/officeDocument/2006/relationships" xmlns:p="http://schemas.openxmlformats.org/presentationml/2006/main">
  <p:tag name="PRESENTER_SHAPEINFO" val="&lt;ThreeDShapeInfo&gt;&lt;uuid val=&quot;{2BBE401C-DDFE-49FF-9112-A2194D7BD638}&quot;/&gt;&lt;isInvalidForFieldText val=&quot;0&quot;/&gt;&lt;Image&gt;&lt;filename val=&quot;C:\Users\sanmi\Documents\My Adobe Presentations\ece552-SharedMemoryCoherence\data\asimages\{2BBE401C-DDFE-49FF-9112-A2194D7BD638}_3.png&quot;/&gt;&lt;left val=&quot;181&quot;/&gt;&lt;top val=&quot;252&quot;/&gt;&lt;width val=&quot;52&quot;/&gt;&lt;height val=&quot;25&quot;/&gt;&lt;hasText val=&quot;1&quot;/&gt;&lt;/Image&gt;&lt;/ThreeDShapeInfo&gt;"/>
</p:tagLst>
</file>

<file path=ppt/tags/tag65.xml><?xml version="1.0" encoding="utf-8"?>
<p:tagLst xmlns:a="http://schemas.openxmlformats.org/drawingml/2006/main" xmlns:r="http://schemas.openxmlformats.org/officeDocument/2006/relationships" xmlns:p="http://schemas.openxmlformats.org/presentationml/2006/main">
  <p:tag name="PRESENTER_SHAPEINFO" val="&lt;ThreeDShapeInfo&gt;&lt;uuid val=&quot;{4B777D1D-1C37-41A4-B239-1036AFBAB1FB}&quot;/&gt;&lt;isInvalidForFieldText val=&quot;0&quot;/&gt;&lt;Image&gt;&lt;filename val=&quot;C:\Users\sanmi\Documents\My Adobe Presentations\ece552-SharedMemoryCoherence\data\asimages\{4B777D1D-1C37-41A4-B239-1036AFBAB1FB}_3.png&quot;/&gt;&lt;left val=&quot;154&quot;/&gt;&lt;top val=&quot;337&quot;/&gt;&lt;width val=&quot;52&quot;/&gt;&lt;height val=&quot;25&quot;/&gt;&lt;hasText val=&quot;1&quot;/&gt;&lt;/Image&gt;&lt;/ThreeDShapeInfo&gt;"/>
</p:tagLst>
</file>

<file path=ppt/tags/tag6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3B0A91FC-AD27-4DC1-AA9D-F583F36F488B}_3.png&quot;/&gt;&lt;left val=&quot;270&quot;/&gt;&lt;top val=&quot;312&quot;/&gt;&lt;width val=&quot;34&quot;/&gt;&lt;height val=&quot;39&quot;/&gt;&lt;hasText val=&quot;1&quot;/&gt;&lt;/Image&gt;&lt;/ThreeDShapeInfo&gt;"/>
  <p:tag name="PRESENTER_SHAPETEXTINFO" val="&lt;ShapeTextInfo&gt;&lt;TableIndex row=&quot;-1&quot; col=&quot;-1&quot;&gt;&lt;linesCount val=&quot;1&quot;/&gt;&lt;lineCharCount val=&quot;2&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D6975218-FF22-4DE7-8BD0-008F29BA26F8}_3.png&quot;/&gt;&lt;left val=&quot;307&quot;/&gt;&lt;top val=&quot;233&quot;/&gt;&lt;width val=&quot;34&quot;/&gt;&lt;height val=&quot;38&quot;/&gt;&lt;hasText val=&quot;1&quot;/&gt;&lt;/Image&gt;&lt;/ThreeDShapeInfo&gt;"/>
  <p:tag name="PRESENTER_SHAPETEXTINFO" val="&lt;ShapeTextInfo&gt;&lt;TableIndex row=&quot;-1&quot; col=&quot;-1&quot;&gt;&lt;linesCount val=&quot;1&quot;/&gt;&lt;lineCharCount val=&quot;2&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DB8861A-3F2B-4F4B-80C3-5D3C1F271CAA}_3.png&quot;/&gt;&lt;left val=&quot;446&quot;/&gt;&lt;top val=&quot;198&quot;/&gt;&lt;width val=&quot;146&quot;/&gt;&lt;height val=&quot;39&quot;/&gt;&lt;hasText val=&quot;1&quot;/&gt;&lt;/Image&gt;&lt;/ThreeDShapeInfo&gt;"/>
  <p:tag name="PRESENTER_SHAPETEXTINFO" val="&lt;ShapeTextInfo&gt;&lt;TableIndex row=&quot;-1&quot; col=&quot;-1&quot;&gt;&lt;linesCount val=&quot;1&quot;/&gt;&lt;lineCharCount val=&quot;15&quot;/&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19F69F87-57ED-46A2-91AD-1D3CE67C7E6D}_3.png&quot;/&gt;&lt;left val=&quot;204&quot;/&gt;&lt;top val=&quot;209&quot;/&gt;&lt;width val=&quot;135&quot;/&gt;&lt;height val=&quot;39&quot;/&gt;&lt;hasText val=&quot;1&quot;/&gt;&lt;/Image&gt;&lt;/ThreeDShapeInfo&gt;"/>
  <p:tag name="PRESENTER_SHAPETEXTINFO" val="&lt;ShapeTextInfo&gt;&lt;TableIndex row=&quot;-1&quot; col=&quot;-1&quot;&gt;&lt;linesCount val=&quot;1&quot;/&gt;&lt;lineCharCount val=&quot;14&quot;/&gt;&lt;/TableIndex&gt;&lt;/ShapeTextInfo&gt;"/>
</p:tagLst>
</file>

<file path=ppt/tags/tag70.xml><?xml version="1.0" encoding="utf-8"?>
<p:tagLst xmlns:a="http://schemas.openxmlformats.org/drawingml/2006/main" xmlns:r="http://schemas.openxmlformats.org/officeDocument/2006/relationships" xmlns:p="http://schemas.openxmlformats.org/presentationml/2006/main">
  <p:tag name="HTML_SHAPEINFO" val="&lt;SlideThumbPath val=&quot;Slide4.PNG&quot;/&gt;"/>
  <p:tag name="PPSNARRATION" val="4,883145026,C:\Users\sanmi\GoogleDrive\UWMdrive\Courses\ECE552\ece552-lec18_SharedMemoryCoherence_pptx\Media.ppcx"/>
</p:tagLst>
</file>

<file path=ppt/tags/tag7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BA67D351-DFFE-49E9-B1BB-1F5BD34B27F0}_4.png&quot;/&gt;&lt;left val=&quot;44&quot;/&gt;&lt;top val=&quot;108&quot;/&gt;&lt;width val=&quot;645&quot;/&gt;&lt;height val=&quot;372&quot;/&gt;&lt;hasText val=&quot;1&quot;/&gt;&lt;/Image&gt;&lt;/ThreeDShapeInfo&gt;"/>
  <p:tag name="PRESENTER_SHAPETEXTINFO" val="&lt;ShapeTextInfo&gt;&lt;TableIndex row=&quot;-1&quot; col=&quot;-1&quot;&gt;&lt;linesCount val=&quot;11&quot;/&gt;&lt;lineCharCount val=&quot;28&quot;/&gt;&lt;lineCharCount val=&quot;56&quot;/&gt;&lt;lineCharCount val=&quot;10&quot;/&gt;&lt;lineCharCount val=&quot;41&quot;/&gt;&lt;lineCharCount val=&quot;24&quot;/&gt;&lt;lineCharCount val=&quot;24&quot;/&gt;&lt;lineCharCount val=&quot;48&quot;/&gt;&lt;lineCharCount val=&quot;55&quot;/&gt;&lt;lineCharCount val=&quot;47&quot;/&gt;&lt;lineCharCount val=&quot;53&quot;/&gt;&lt;lineCharCount val=&quot;8&quot;/&gt;&lt;/TableIndex&gt;&lt;/ShapeTextInfo&gt;"/>
</p:tagLst>
</file>

<file path=ppt/tags/tag7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C9F80EE-540C-40B6-8F6F-25DC4B6BA71A}_4.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7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12EAD9DC-34B6-46E4-A281-2EC3F57D1C12}_4.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7&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HTML_SHAPEINFO" val="&lt;SlideThumbPath val=&quot;Slide5.PNG&quot;/&gt;"/>
  <p:tag name="PPSNARRATION" val="5,883145026,C:\Users\sanmi\GoogleDrive\UWMdrive\Courses\ECE552\ece552-lec18_SharedMemoryCoherence_pptx\Media.ppcx"/>
</p:tagLst>
</file>

<file path=ppt/tags/tag7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0BED37B-7A5E-41AC-8F9D-72E09F4A3C41}_5.png&quot;/&gt;&lt;left val=&quot;35&quot;/&gt;&lt;top val=&quot;21&quot;/&gt;&lt;width val=&quot;612&quot;/&gt;&lt;height val=&quot;98&quot;/&gt;&lt;hasText val=&quot;1&quot;/&gt;&lt;/Image&gt;&lt;/ThreeDShapeInfo&gt;"/>
  <p:tag name="PRESENTER_SHAPETEXTINFO" val="&lt;ShapeTextInfo&gt;&lt;TableIndex row=&quot;-1&quot; col=&quot;-1&quot;&gt;&lt;linesCount val=&quot;1&quot;/&gt;&lt;lineCharCount val=&quot;17&quot;/&gt;&lt;/TableIndex&gt;&lt;/ShapeTextInfo&gt;"/>
</p:tagLst>
</file>

<file path=ppt/tags/tag7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B542ECA7-637F-4505-AB88-9AB5E18552CA}_5.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7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57E60B44-CF50-41CE-92F7-80F06555BFC2}_5.png&quot;/&gt;&lt;left val=&quot;29&quot;/&gt;&lt;top val=&quot;111&quot;/&gt;&lt;width val=&quot;210&quot;/&gt;&lt;height val=&quot;310&quot;/&gt;&lt;hasText val=&quot;1&quot;/&gt;&lt;/Image&gt;&lt;/ThreeDShapeInfo&gt;"/>
</p:tagLst>
</file>

<file path=ppt/tags/tag7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CE49D11-BDCB-41AF-ACBB-FE9BED90171A}_5.png&quot;/&gt;&lt;left val=&quot;251&quot;/&gt;&lt;top val=&quot;111&quot;/&gt;&lt;width val=&quot;210&quot;/&gt;&lt;height val=&quot;310&quot;/&gt;&lt;hasText val=&quot;1&quot;/&gt;&lt;/Image&gt;&lt;/ThreeDShapeInfo&gt;"/>
</p:tagLst>
</file>

<file path=ppt/tags/tag7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E84A193A-3A4A-4F5E-9553-4EE3714F5AF1}_5.png&quot;/&gt;&lt;left val=&quot;473&quot;/&gt;&lt;top val=&quot;111&quot;/&gt;&lt;width val=&quot;210&quot;/&gt;&lt;height val=&quot;310&quot;/&gt;&lt;hasText val=&quot;1&quot;/&gt;&lt;/Image&gt;&lt;/ThreeDShapeInfo&gt;"/>
</p:tagLst>
</file>

<file path=ppt/tags/tag8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9BE6B8D1-1579-4C79-A4CD-034A5DAD958C}_5.png&quot;/&gt;&lt;left val=&quot;135&quot;/&gt;&lt;top val=&quot;491&quot;/&gt;&lt;width val=&quot;448&quot;/&gt;&lt;height val=&quot;45&quot;/&gt;&lt;hasText val=&quot;1&quot;/&gt;&lt;/Image&gt;&lt;/ThreeDShapeInfo&gt;"/>
  <p:tag name="PRESENTER_SHAPETEXTINFO" val="&lt;ShapeTextInfo&gt;&lt;TableIndex row=&quot;-1&quot; col=&quot;-1&quot;&gt;&lt;linesCount val=&quot;1&quot;/&gt;&lt;lineCharCount val=&quot;11&quot;/&gt;&lt;/TableIndex&gt;&lt;/ShapeTextInfo&gt;"/>
</p:tagLst>
</file>

<file path=ppt/tags/tag8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9C1F0EC6-CAC6-4A19-A59F-60BA10C9D706}_5.png&quot;/&gt;&lt;left val=&quot;239&quot;/&gt;&lt;top val=&quot;443&quot;/&gt;&lt;width val=&quot;232&quot;/&gt;&lt;height val=&quot;33&quot;/&gt;&lt;hasText val=&quot;1&quot;/&gt;&lt;/Image&gt;&lt;/ThreeDShapeInfo&gt;"/>
  <p:tag name="PRESENTER_SHAPETEXTINFO" val="&lt;ShapeTextInfo&gt;&lt;TableIndex row=&quot;-1&quot; col=&quot;-1&quot;&gt;&lt;linesCount val=&quot;1&quot;/&gt;&lt;lineCharCount val=&quot;15&quot;/&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CA2D57CA-5767-4DE6-8925-CE5982DCAC29}_5.png&quot;/&gt;&lt;left val=&quot;35&quot;/&gt;&lt;top val=&quot;431&quot;/&gt;&lt;width val=&quot;192&quot;/&gt;&lt;height val=&quot;45&quot;/&gt;&lt;hasText val=&quot;1&quot;/&gt;&lt;/Image&gt;&lt;/ThreeDShapeInfo&gt;"/>
  <p:tag name="PRESENTER_SHAPETEXTINFO" val="&lt;ShapeTextInfo&gt;&lt;TableIndex row=&quot;-1&quot; col=&quot;-1&quot;&gt;&lt;linesCount val=&quot;1&quot;/&gt;&lt;lineCharCount val=&quot;21&quot;/&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5&quot;/&gt;&lt;/TableIndex&gt;&lt;/ShapeTextInfo&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5&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2&quot;/&gt;&lt;lineCharCount val=&quot;8&quot;/&gt;&lt;/TableIndex&gt;&lt;/ShapeTextInfo&gt;"/>
</p:tagLst>
</file>

<file path=ppt/tags/tag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5&quot;/&gt;&lt;/TableIndex&gt;&lt;/ShapeTextInfo&gt;"/>
</p:tagLst>
</file>

<file path=ppt/tags/tag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5&quot;/&gt;&lt;/TableIndex&gt;&lt;/ShapeTextInfo&gt;"/>
</p:tagLst>
</file>

<file path=ppt/tags/tag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2&quot;/&gt;&lt;lineCharCount val=&quot;8&quot;/&gt;&lt;/TableIndex&gt;&lt;/ShapeTextInfo&gt;"/>
</p:tagLst>
</file>

<file path=ppt/tags/tag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5&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5&quot;/&gt;&lt;/TableIndex&gt;&lt;/ShapeTextInfo&gt;"/>
</p:tagLst>
</file>

<file path=ppt/tags/tag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2&quot;/&gt;&lt;lineCharCount val=&quot;8&quot;/&gt;&lt;/TableIndex&gt;&lt;/ShapeTextInfo&gt;"/>
</p:tagLst>
</file>

<file path=ppt/tags/tag93.xml><?xml version="1.0" encoding="utf-8"?>
<p:tagLst xmlns:a="http://schemas.openxmlformats.org/drawingml/2006/main" xmlns:r="http://schemas.openxmlformats.org/officeDocument/2006/relationships" xmlns:p="http://schemas.openxmlformats.org/presentationml/2006/main">
  <p:tag name="HTML_SHAPEINFO" val="&lt;SlideThumbPath val=&quot;Slide6.PNG&quot;/&gt;"/>
  <p:tag name="PPSNARRATION" val="6,883145026,C:\Users\sanmi\GoogleDrive\UWMdrive\Courses\ECE552\ece552-lec18_SharedMemoryCoherence_pptx\Media.ppcx"/>
</p:tagLst>
</file>

<file path=ppt/tags/tag9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C65BE58F-F06C-429C-A719-AD25410E074D}_6.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2&quot;/&gt;&lt;/TableIndex&gt;&lt;/ShapeTextInfo&gt;"/>
</p:tagLst>
</file>

<file path=ppt/tags/tag9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3A64C00A-8A88-4514-AE97-7971AB2D3EB1}_6.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96.xml><?xml version="1.0" encoding="utf-8"?>
<p:tagLst xmlns:a="http://schemas.openxmlformats.org/drawingml/2006/main" xmlns:r="http://schemas.openxmlformats.org/officeDocument/2006/relationships" xmlns:p="http://schemas.openxmlformats.org/presentationml/2006/main">
  <p:tag name="MMPROD_SUBSTITUTION_ID" val="{6946E9A8-AEED-440F-8168-5A0CD4A17033}"/>
  <p:tag name="PRESENTER_SHAPEINFO" val="&lt;ThreeDShapeInfo&gt;&lt;uuid val=&quot;{0C63EE32-FD8F-4FFE-917D-34F7A56FF86F}&quot;/&gt;&lt;isInvalidForFieldText val=&quot;0&quot;/&gt;&lt;Image&gt;&lt;filename val=&quot;C:\Users\sanmi\Documents\My Adobe Presentations\ece552-SharedMemoryCoherence\data\asimages\{0C63EE32-FD8F-4FFE-917D-34F7A56FF86F}.png&quot;/&gt;&lt;left val=&quot;35&quot;/&gt;&lt;top val=&quot;142&quot;/&gt;&lt;width val=&quot;660&quot;/&gt;&lt;height val=&quot;302&quot;/&gt;&lt;hasText val=&quot;1&quot;/&gt;&lt;/Image&gt;&lt;/ThreeDShapeInfo&gt;"/>
</p:tagLst>
</file>

<file path=ppt/tags/tag97.xml><?xml version="1.0" encoding="utf-8"?>
<p:tagLst xmlns:a="http://schemas.openxmlformats.org/drawingml/2006/main" xmlns:r="http://schemas.openxmlformats.org/officeDocument/2006/relationships" xmlns:p="http://schemas.openxmlformats.org/presentationml/2006/main">
  <p:tag name="HTML_SHAPEINFO" val="&lt;SlideThumbPath val=&quot;Slide7.PNG&quot;/&gt;"/>
  <p:tag name="PPSNARRATION" val="7,883145026,C:\Users\sanmi\GoogleDrive\UWMdrive\Courses\ECE552\ece552-lec18_SharedMemoryCoherence_pptx\Media.ppcx"/>
</p:tagLst>
</file>

<file path=ppt/tags/tag98.xml><?xml version="1.0" encoding="utf-8"?>
<p:tagLst xmlns:a="http://schemas.openxmlformats.org/drawingml/2006/main" xmlns:r="http://schemas.openxmlformats.org/officeDocument/2006/relationships" xmlns:p="http://schemas.openxmlformats.org/presentationml/2006/main">
  <p:tag name="PRESENTER_SHAPEINFO" val="&lt;ThreeDShapeInfo&gt;&lt;uuid val=&quot;{03B9B1FD-B45E-495F-88F8-462AE3CECB5B}&quot;/&gt;&lt;isInvalidForFieldText val=&quot;0&quot;/&gt;&lt;Image&gt;&lt;filename val=&quot;C:\Users\sanmi\Documents\My Adobe Presentations\ece552-SharedMemoryCoherence\data\asimages\{03B9B1FD-B45E-495F-88F8-462AE3CECB5B}_7.png&quot;/&gt;&lt;left val=&quot;163&quot;/&gt;&lt;top val=&quot;313&quot;/&gt;&lt;width val=&quot;104&quot;/&gt;&lt;height val=&quot;49&quot;/&gt;&lt;hasText val=&quot;1&quot;/&gt;&lt;/Image&gt;&lt;/ThreeDShapeInfo&gt;"/>
  <p:tag name="PRESENTER_SHAPETEXTINFO" val="&lt;ShapeTextInfo&gt;&lt;TableIndex row=&quot;-1&quot; col=&quot;-1&quot;&gt;&lt;linesCount val=&quot;1&quot;/&gt;&lt;lineCharCount val=&quot;5&quot;/&gt;&lt;/TableIndex&gt;&lt;/ShapeTextInfo&gt;"/>
</p:tagLst>
</file>

<file path=ppt/tags/tag9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0E068D34-EED5-4EDC-ACC5-CA04236B722F}_7.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3&quot;/&gt;&lt;/TableIndex&gt;&lt;/ShapeTextInfo&gt;"/>
</p:tagLst>
</file>

<file path=ppt/tags/tag10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8BBCF3BE-374D-4C05-85F3-3BB5B0C0B785}_7.png&quot;/&gt;&lt;left val=&quot;43&quot;/&gt;&lt;top val=&quot;114&quot;/&gt;&lt;width val=&quot;664&quot;/&gt;&lt;height val=&quot;140&quot;/&gt;&lt;hasText val=&quot;1&quot;/&gt;&lt;/Image&gt;&lt;/ThreeDShapeInfo&gt;"/>
  <p:tag name="PRESENTER_SHAPETEXTINFO" val="&lt;ShapeTextInfo&gt;&lt;TableIndex row=&quot;-1&quot; col=&quot;-1&quot;&gt;&lt;linesCount val=&quot;4&quot;/&gt;&lt;lineCharCount val=&quot;54&quot;/&gt;&lt;lineCharCount val=&quot;51&quot;/&gt;&lt;lineCharCount val=&quot;53&quot;/&gt;&lt;lineCharCount val=&quot;53&quot;/&gt;&lt;/TableIndex&gt;&lt;/ShapeTextInfo&gt;"/>
</p:tagLst>
</file>

<file path=ppt/tags/tag10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12991B5A-EEAE-454D-9EEA-548F7DEEBD0D}_7.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102.xml><?xml version="1.0" encoding="utf-8"?>
<p:tagLst xmlns:a="http://schemas.openxmlformats.org/drawingml/2006/main" xmlns:r="http://schemas.openxmlformats.org/officeDocument/2006/relationships" xmlns:p="http://schemas.openxmlformats.org/presentationml/2006/main">
  <p:tag name="PRESENTER_SHAPEINFO" val="&lt;ThreeDShapeInfo&gt;&lt;uuid val=&quot;{DC939462-742C-4215-8A0A-59F22AF291E5}&quot;/&gt;&lt;isInvalidForFieldText val=&quot;0&quot;/&gt;&lt;Image&gt;&lt;filename val=&quot;C:\Users\sanmi\Documents\My Adobe Presentations\ece552-SharedMemoryCoherence\data\asimages\{DC939462-742C-4215-8A0A-59F22AF291E5}_7.png&quot;/&gt;&lt;left val=&quot;189&quot;/&gt;&lt;top val=&quot;390&quot;/&gt;&lt;width val=&quot;326&quot;/&gt;&lt;height val=&quot;57&quot;/&gt;&lt;hasText val=&quot;1&quot;/&gt;&lt;/Image&gt;&lt;/ThreeDShapeInfo&gt;"/>
  <p:tag name="PRESENTER_SHAPETEXTINFO" val="&lt;ShapeTextInfo&gt;&lt;TableIndex row=&quot;-1&quot; col=&quot;-1&quot;&gt;&lt;linesCount val=&quot;1&quot;/&gt;&lt;lineCharCount val=&quot;3&quot;/&gt;&lt;/TableIndex&gt;&lt;/ShapeTextInfo&gt;"/>
</p:tagLst>
</file>

<file path=ppt/tags/tag103.xml><?xml version="1.0" encoding="utf-8"?>
<p:tagLst xmlns:a="http://schemas.openxmlformats.org/drawingml/2006/main" xmlns:r="http://schemas.openxmlformats.org/officeDocument/2006/relationships" xmlns:p="http://schemas.openxmlformats.org/presentationml/2006/main">
  <p:tag name="PRESENTER_SHAPEINFO" val="&lt;ThreeDShapeInfo&gt;&lt;uuid val=&quot;{83475903-BF82-466B-B36B-7A6D943BCF88}&quot;/&gt;&lt;isInvalidForFieldText val=&quot;0&quot;/&gt;&lt;Image&gt;&lt;filename val=&quot;C:\Users\sanmi\Documents\My Adobe Presentations\ece552-SharedMemoryCoherence\data\asimages\{83475903-BF82-466B-B36B-7A6D943BCF88}_7.png&quot;/&gt;&lt;left val=&quot;179&quot;/&gt;&lt;top val=&quot;255&quot;/&gt;&lt;width val=&quot;73&quot;/&gt;&lt;height val=&quot;59&quot;/&gt;&lt;hasText val=&quot;1&quot;/&gt;&lt;/Image&gt;&lt;/ThreeDShapeInfo&gt;"/>
  <p:tag name="PRESENTER_SHAPETEXTINFO" val="&lt;ShapeTextInfo&gt;&lt;TableIndex row=&quot;-1&quot; col=&quot;-1&quot;&gt;&lt;linesCount val=&quot;1&quot;/&gt;&lt;lineCharCount val=&quot;2&quot;/&gt;&lt;/TableIndex&gt;&lt;/ShapeTextInfo&gt;"/>
</p:tagLst>
</file>

<file path=ppt/tags/tag104.xml><?xml version="1.0" encoding="utf-8"?>
<p:tagLst xmlns:a="http://schemas.openxmlformats.org/drawingml/2006/main" xmlns:r="http://schemas.openxmlformats.org/officeDocument/2006/relationships" xmlns:p="http://schemas.openxmlformats.org/presentationml/2006/main">
  <p:tag name="PRESENTER_SHAPEINFO" val="&lt;ThreeDShapeInfo&gt;&lt;uuid val=&quot;{5A6E5370-BD75-41C4-BE3F-5515584F1DCF}&quot;/&gt;&lt;isInvalidForFieldText val=&quot;0&quot;/&gt;&lt;Image&gt;&lt;filename val=&quot;C:\Users\sanmi\Documents\My Adobe Presentations\ece552-SharedMemoryCoherence\data\asimages\{5A6E5370-BD75-41C4-BE3F-5515584F1DCF}_7.png&quot;/&gt;&lt;left val=&quot;209&quot;/&gt;&lt;top val=&quot;303&quot;/&gt;&lt;width val=&quot;13&quot;/&gt;&lt;height val=&quot;24&quot;/&gt;&lt;hasText val=&quot;1&quot;/&gt;&lt;/Image&gt;&lt;/ThreeDShapeInfo&gt;"/>
</p:tagLst>
</file>

<file path=ppt/tags/tag1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6.xml><?xml version="1.0" encoding="utf-8"?>
<p:tagLst xmlns:a="http://schemas.openxmlformats.org/drawingml/2006/main" xmlns:r="http://schemas.openxmlformats.org/officeDocument/2006/relationships" xmlns:p="http://schemas.openxmlformats.org/presentationml/2006/main">
  <p:tag name="PRESENTER_SHAPEINFO" val="&lt;ThreeDShapeInfo&gt;&lt;uuid val=&quot;{918CC142-4773-4AA0-B715-E9977C139CE1}&quot;/&gt;&lt;isInvalidForFieldText val=&quot;0&quot;/&gt;&lt;Image&gt;&lt;filename val=&quot;C:\Users\sanmi\Documents\My Adobe Presentations\ece552-SharedMemoryCoherence\data\asimages\{918CC142-4773-4AA0-B715-E9977C139CE1}_7.png&quot;/&gt;&lt;left val=&quot;461&quot;/&gt;&lt;top val=&quot;255&quot;/&gt;&lt;width val=&quot;73&quot;/&gt;&lt;height val=&quot;59&quot;/&gt;&lt;hasText val=&quot;1&quot;/&gt;&lt;/Image&gt;&lt;/ThreeDShapeInfo&gt;"/>
  <p:tag name="PRESENTER_SHAPETEXTINFO" val="&lt;ShapeTextInfo&gt;&lt;TableIndex row=&quot;-1&quot; col=&quot;-1&quot;&gt;&lt;linesCount val=&quot;1&quot;/&gt;&lt;lineCharCount val=&quot;2&quot;/&gt;&lt;/TableIndex&gt;&lt;/ShapeTextInfo&gt;"/>
</p:tagLst>
</file>

<file path=ppt/tags/tag107.xml><?xml version="1.0" encoding="utf-8"?>
<p:tagLst xmlns:a="http://schemas.openxmlformats.org/drawingml/2006/main" xmlns:r="http://schemas.openxmlformats.org/officeDocument/2006/relationships" xmlns:p="http://schemas.openxmlformats.org/presentationml/2006/main">
  <p:tag name="PRESENTER_SHAPEINFO" val="&lt;ThreeDShapeInfo&gt;&lt;uuid val=&quot;{324D9034-1C92-4F0A-96EF-FFB0E3CB91FB}&quot;/&gt;&lt;isInvalidForFieldText val=&quot;0&quot;/&gt;&lt;Image&gt;&lt;filename val=&quot;C:\Users\sanmi\Documents\My Adobe Presentations\ece552-SharedMemoryCoherence\data\asimages\{324D9034-1C92-4F0A-96EF-FFB0E3CB91FB}_7.png&quot;/&gt;&lt;left val=&quot;491&quot;/&gt;&lt;top val=&quot;302&quot;/&gt;&lt;width val=&quot;13&quot;/&gt;&lt;height val=&quot;25&quot;/&gt;&lt;hasText val=&quot;1&quot;/&gt;&lt;/Image&gt;&lt;/ThreeDShapeInfo&gt;"/>
</p:tagLst>
</file>

<file path=ppt/tags/tag108.xml><?xml version="1.0" encoding="utf-8"?>
<p:tagLst xmlns:a="http://schemas.openxmlformats.org/drawingml/2006/main" xmlns:r="http://schemas.openxmlformats.org/officeDocument/2006/relationships" xmlns:p="http://schemas.openxmlformats.org/presentationml/2006/main">
  <p:tag name="PRESENTER_SHAPEINFO" val="&lt;ThreeDShapeInfo&gt;&lt;uuid val=&quot;{23AE0E64-13A6-4ABE-8A41-A976D1AE3467}&quot;/&gt;&lt;isInvalidForFieldText val=&quot;0&quot;/&gt;&lt;Image&gt;&lt;filename val=&quot;C:\Users\sanmi\Documents\My Adobe Presentations\ece552-SharedMemoryCoherence\data\asimages\{23AE0E64-13A6-4ABE-8A41-A976D1AE3467}_7.png&quot;/&gt;&lt;left val=&quot;258&quot;/&gt;&lt;top val=&quot;445&quot;/&gt;&lt;width val=&quot;188&quot;/&gt;&lt;height val=&quot;49&quot;/&gt;&lt;hasText val=&quot;1&quot;/&gt;&lt;/Image&gt;&lt;/ThreeDShapeInfo&gt;"/>
  <p:tag name="PRESENTER_SHAPETEXTINFO" val="&lt;ShapeTextInfo&gt;&lt;TableIndex row=&quot;-1&quot; col=&quot;-1&quot;&gt;&lt;linesCount val=&quot;1&quot;/&gt;&lt;lineCharCount val=&quot;5&quot;/&gt;&lt;/TableIndex&gt;&lt;/ShapeTextInfo&gt;"/>
</p:tagLst>
</file>

<file path=ppt/tags/tag1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0.xml><?xml version="1.0" encoding="utf-8"?>
<p:tagLst xmlns:a="http://schemas.openxmlformats.org/drawingml/2006/main" xmlns:r="http://schemas.openxmlformats.org/officeDocument/2006/relationships" xmlns:p="http://schemas.openxmlformats.org/presentationml/2006/main">
  <p:tag name="PRESENTER_SHAPEINFO" val="&lt;ThreeDShapeInfo&gt;&lt;uuid val=&quot;{BE70D0F4-718F-47D7-A707-B56D9BFDF74A}&quot;/&gt;&lt;isInvalidForFieldText val=&quot;0&quot;/&gt;&lt;Image&gt;&lt;filename val=&quot;C:\Users\sanmi\Documents\My Adobe Presentations\ece552-SharedMemoryCoherence\data\asimages\{BE70D0F4-718F-47D7-A707-B56D9BFDF74A}_7.png&quot;/&gt;&lt;left val=&quot;445&quot;/&gt;&lt;top val=&quot;313&quot;/&gt;&lt;width val=&quot;104&quot;/&gt;&lt;height val=&quot;49&quot;/&gt;&lt;hasText val=&quot;1&quot;/&gt;&lt;/Image&gt;&lt;/ThreeDShapeInfo&gt;"/>
  <p:tag name="PRESENTER_SHAPETEXTINFO" val="&lt;ShapeTextInfo&gt;&lt;TableIndex row=&quot;-1&quot; col=&quot;-1&quot;&gt;&lt;linesCount val=&quot;1&quot;/&gt;&lt;lineCharCount val=&quot;5&quot;/&gt;&lt;/TableIndex&gt;&lt;/ShapeTextInfo&gt;"/>
</p:tagLst>
</file>

<file path=ppt/tags/tag11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BBA1D098-C792-42ED-87FB-6A496AEA8A5D}_7.png&quot;/&gt;&lt;left val=&quot;441&quot;/&gt;&lt;top val=&quot;475&quot;/&gt;&lt;width val=&quot;113&quot;/&gt;&lt;height val=&quot;34&quot;/&gt;&lt;hasText val=&quot;1&quot;/&gt;&lt;/Image&gt;&lt;/ThreeDShapeInfo&gt;"/>
  <p:tag name="PRESENTER_SHAPETEXTINFO" val="&lt;ShapeTextInfo&gt;&lt;TableIndex row=&quot;-1&quot; col=&quot;-1&quot;&gt;&lt;linesCount val=&quot;1&quot;/&gt;&lt;lineCharCount val=&quot;11&quot;/&gt;&lt;/TableIndex&gt;&lt;/ShapeTextInfo&gt;"/>
</p:tagLst>
</file>

<file path=ppt/tags/tag112.xml><?xml version="1.0" encoding="utf-8"?>
<p:tagLst xmlns:a="http://schemas.openxmlformats.org/drawingml/2006/main" xmlns:r="http://schemas.openxmlformats.org/officeDocument/2006/relationships" xmlns:p="http://schemas.openxmlformats.org/presentationml/2006/main">
  <p:tag name="PRESENTER_SHAPEINFO" val="&lt;ThreeDShapeInfo&gt;&lt;uuid val=&quot;{7DDD8D1D-2387-4CB1-B9C1-5FFE8427CC0B}&quot;/&gt;&lt;isInvalidForFieldText val=&quot;0&quot;/&gt;&lt;Image&gt;&lt;filename val=&quot;C:\Users\sanmi\Documents\My Adobe Presentations\ece552-SharedMemoryCoherence\data\asimages\{7DDD8D1D-2387-4CB1-B9C1-5FFE8427CC0B}_7.png&quot;/&gt;&lt;left val=&quot;163&quot;/&gt;&lt;top val=&quot;342&quot;/&gt;&lt;width val=&quot;104&quot;/&gt;&lt;height val=&quot;32&quot;/&gt;&lt;hasText val=&quot;1&quot;/&gt;&lt;/Image&gt;&lt;/ThreeDShapeInfo&gt;"/>
  <p:tag name="PRESENTER_SHAPETEXTINFO" val="&lt;ShapeTextInfo&gt;&lt;TableIndex row=&quot;-1&quot; col=&quot;-1&quot;&gt;&lt;linesCount val=&quot;0&quot;/&gt;&lt;/TableIndex&gt;&lt;/ShapeTextInfo&gt;"/>
</p:tagLst>
</file>

<file path=ppt/tags/tag113.xml><?xml version="1.0" encoding="utf-8"?>
<p:tagLst xmlns:a="http://schemas.openxmlformats.org/drawingml/2006/main" xmlns:r="http://schemas.openxmlformats.org/officeDocument/2006/relationships" xmlns:p="http://schemas.openxmlformats.org/presentationml/2006/main">
  <p:tag name="PRESENTER_SHAPEINFO" val="&lt;ThreeDShapeInfo&gt;&lt;uuid val=&quot;{21D0EF5D-B65C-4BA2-AAEB-A146E3A5C6F6}&quot;/&gt;&lt;isInvalidForFieldText val=&quot;0&quot;/&gt;&lt;Image&gt;&lt;filename val=&quot;C:\Users\sanmi\Documents\My Adobe Presentations\ece552-SharedMemoryCoherence\data\asimages\{21D0EF5D-B65C-4BA2-AAEB-A146E3A5C6F6}_7.png&quot;/&gt;&lt;left val=&quot;445&quot;/&gt;&lt;top val=&quot;343&quot;/&gt;&lt;width val=&quot;104&quot;/&gt;&lt;height val=&quot;32&quot;/&gt;&lt;hasText val=&quot;1&quot;/&gt;&lt;/Image&gt;&lt;/ThreeDShapeInfo&gt;"/>
  <p:tag name="PRESENTER_SHAPETEXTINFO" val="&lt;ShapeTextInfo&gt;&lt;TableIndex row=&quot;-1&quot; col=&quot;-1&quot;&gt;&lt;linesCount val=&quot;0&quot;/&gt;&lt;/TableIndex&gt;&lt;/ShapeTextInfo&gt;"/>
</p:tagLst>
</file>

<file path=ppt/tags/tag114.xml><?xml version="1.0" encoding="utf-8"?>
<p:tagLst xmlns:a="http://schemas.openxmlformats.org/drawingml/2006/main" xmlns:r="http://schemas.openxmlformats.org/officeDocument/2006/relationships" xmlns:p="http://schemas.openxmlformats.org/presentationml/2006/main">
  <p:tag name="PRESENTER_SHAPEINFO" val="&lt;ThreeDShapeInfo&gt;&lt;uuid val=&quot;{09A9703B-68B3-4884-A5E8-08CAC3CEC355}&quot;/&gt;&lt;isInvalidForFieldText val=&quot;0&quot;/&gt;&lt;Image&gt;&lt;filename val=&quot;C:\Users\sanmi\Documents\My Adobe Presentations\ece552-SharedMemoryCoherence\data\asimages\{09A9703B-68B3-4884-A5E8-08CAC3CEC355}_7.png&quot;/&gt;&lt;left val=&quot;258&quot;/&gt;&lt;top val=&quot;476&quot;/&gt;&lt;width val=&quot;188&quot;/&gt;&lt;height val=&quot;32&quot;/&gt;&lt;hasText val=&quot;1&quot;/&gt;&lt;/Image&gt;&lt;/ThreeDShapeInfo&gt;"/>
  <p:tag name="PRESENTER_SHAPETEXTINFO" val="&lt;ShapeTextInfo&gt;&lt;TableIndex row=&quot;-1&quot; col=&quot;-1&quot;&gt;&lt;linesCount val=&quot;0&quot;/&gt;&lt;/TableIndex&gt;&lt;/ShapeTextInfo&gt;"/>
</p:tagLst>
</file>

<file path=ppt/tags/tag11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E28B03FC-3A63-43F3-A22A-A5BE94E89ED2}_7.png&quot;/&gt;&lt;left val=&quot;552&quot;/&gt;&lt;top val=&quot;311&quot;/&gt;&lt;width val=&quot;136&quot;/&gt;&lt;height val=&quot;43&quot;/&gt;&lt;hasText val=&quot;1&quot;/&gt;&lt;/Image&gt;&lt;/ThreeDShapeInfo&gt;"/>
  <p:tag name="PRESENTER_SHAPETEXTINFO" val="&lt;ShapeTextInfo&gt;&lt;TableIndex row=&quot;-1&quot; col=&quot;-1&quot;&gt;&lt;linesCount val=&quot;1&quot;/&gt;&lt;lineCharCount val=&quot;13&quot;/&gt;&lt;/TableIndex&gt;&lt;/ShapeTextInfo&gt;"/>
</p:tagLst>
</file>

<file path=ppt/tags/tag11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58C6B4B6-C9F4-4EE5-9C37-CC09E2F42554}_7.png&quot;/&gt;&lt;left val=&quot;30&quot;/&gt;&lt;top val=&quot;264&quot;/&gt;&lt;width val=&quot;140&quot;/&gt;&lt;height val=&quot;43&quot;/&gt;&lt;hasText val=&quot;1&quot;/&gt;&lt;/Image&gt;&lt;/ThreeDShapeInfo&gt;"/>
  <p:tag name="PRESENTER_SHAPETEXTINFO" val="&lt;ShapeTextInfo&gt;&lt;TableIndex row=&quot;-1&quot; col=&quot;-1&quot;&gt;&lt;linesCount val=&quot;1&quot;/&gt;&lt;lineCharCount val=&quot;14&quot;/&gt;&lt;/TableIndex&gt;&lt;/ShapeTextInfo&gt;"/>
</p:tagLst>
</file>

<file path=ppt/tags/tag11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2D881CC6-59AB-435F-BD14-432D094F9E76}_7.png&quot;/&gt;&lt;left val=&quot;-12&quot;/&gt;&lt;top val=&quot;363&quot;/&gt;&lt;width val=&quot;192&quot;/&gt;&lt;height val=&quot;54&quot;/&gt;&lt;hasText val=&quot;1&quot;/&gt;&lt;/Image&gt;&lt;/ThreeDShapeInfo&gt;"/>
  <p:tag name="PRESENTER_SHAPETEXTINFO" val="&lt;ShapeTextInfo&gt;&lt;TableIndex row=&quot;-1&quot; col=&quot;-1&quot;&gt;&lt;linesCount val=&quot;2&quot;/&gt;&lt;lineCharCount val=&quot;19&quot;/&gt;&lt;lineCharCount val=&quot;20&quot;/&gt;&lt;/TableIndex&gt;&lt;/ShapeTextInfo&gt;"/>
</p:tagLst>
</file>

<file path=ppt/tags/tag1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AC5A32FB-034B-44F2-B1AA-8D56A55E042A}_7.png&quot;/&gt;&lt;left val=&quot;511&quot;/&gt;&lt;top val=&quot;394&quot;/&gt;&lt;width val=&quot;192&quot;/&gt;&lt;height val=&quot;45&quot;/&gt;&lt;hasText val=&quot;1&quot;/&gt;&lt;/Image&gt;&lt;/ThreeDShapeInfo&gt;"/>
  <p:tag name="PRESENTER_SHAPETEXTINFO" val="&lt;ShapeTextInfo&gt;&lt;TableIndex row=&quot;-1&quot; col=&quot;-1&quot;&gt;&lt;linesCount val=&quot;1&quot;/&gt;&lt;lineCharCount val=&quot;12&quot;/&gt;&lt;/TableIndex&gt;&lt;/ShapeTextInfo&gt;"/>
</p:tagLst>
</file>

<file path=ppt/tags/tag1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AD289DFC-AC60-4F43-A04C-D929031BB32B}_7.png&quot;/&gt;&lt;left val=&quot;552&quot;/&gt;&lt;top val=&quot;337&quot;/&gt;&lt;width val=&quot;136&quot;/&gt;&lt;height val=&quot;43&quot;/&gt;&lt;hasText val=&quot;1&quot;/&gt;&lt;/Image&gt;&lt;/ThreeDShapeInfo&gt;"/>
  <p:tag name="PRESENTER_SHAPETEXTINFO" val="&lt;ShapeTextInfo&gt;&lt;TableIndex row=&quot;-1&quot; col=&quot;-1&quot;&gt;&lt;linesCount val=&quot;1&quot;/&gt;&lt;lineCharCount val=&quot;13&quot;/&gt;&lt;/TableIndex&gt;&lt;/ShapeTextInfo&gt;"/>
</p:tagLst>
</file>

<file path=ppt/tags/tag120.xml><?xml version="1.0" encoding="utf-8"?>
<p:tagLst xmlns:a="http://schemas.openxmlformats.org/drawingml/2006/main" xmlns:r="http://schemas.openxmlformats.org/officeDocument/2006/relationships" xmlns:p="http://schemas.openxmlformats.org/presentationml/2006/main">
  <p:tag name="HTML_SHAPEINFO" val="&lt;SlideThumbPath val=&quot;Slide8.PNG&quot;/&gt;"/>
  <p:tag name="PPSNARRATION" val="8,883145026,C:\Users\sanmi\GoogleDrive\UWMdrive\Courses\ECE552\ece552-lec18_SharedMemoryCoherence_pptx\Media.ppcx"/>
  <p:tag name="TIMING" val="|18.5"/>
</p:tagLst>
</file>

<file path=ppt/tags/tag121.xml><?xml version="1.0" encoding="utf-8"?>
<p:tagLst xmlns:a="http://schemas.openxmlformats.org/drawingml/2006/main" xmlns:r="http://schemas.openxmlformats.org/officeDocument/2006/relationships" xmlns:p="http://schemas.openxmlformats.org/presentationml/2006/main">
  <p:tag name="PRESENTER_SHAPEINFO" val="&lt;ThreeDShapeInfo&gt;&lt;uuid val=&quot;{7ECCB549-170E-4CD1-A80D-F93E776BA274}&quot;/&gt;&lt;isInvalidForFieldText val=&quot;0&quot;/&gt;&lt;Image&gt;&lt;filename val=&quot;C:\Users\sanmi\Documents\My Adobe Presentations\ece552-SharedMemoryCoherence\data\asimages\{7ECCB549-170E-4CD1-A80D-F93E776BA274}_8.png&quot;/&gt;&lt;left val=&quot;163&quot;/&gt;&lt;top val=&quot;318&quot;/&gt;&lt;width val=&quot;104&quot;/&gt;&lt;height val=&quot;32&quot;/&gt;&lt;hasText val=&quot;1&quot;/&gt;&lt;/Image&gt;&lt;/ThreeDShapeInfo&gt;"/>
  <p:tag name="PRESENTER_SHAPETEXTINFO" val="&lt;ShapeTextInfo&gt;&lt;TableIndex row=&quot;-1&quot; col=&quot;-1&quot;&gt;&lt;linesCount val=&quot;0&quot;/&gt;&lt;/TableIndex&gt;&lt;/ShapeTextInfo&gt;"/>
</p:tagLst>
</file>

<file path=ppt/tags/tag12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223C8BA1-A675-4773-8E50-5B6041CB8772}_8.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3&quot;/&gt;&lt;/TableIndex&gt;&lt;/ShapeTextInfo&gt;"/>
</p:tagLst>
</file>

<file path=ppt/tags/tag12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80F788AA-4534-4BB4-B40E-DD5F683DAB2B}_8.png&quot;/&gt;&lt;left val=&quot;43&quot;/&gt;&lt;top val=&quot;114&quot;/&gt;&lt;width val=&quot;664&quot;/&gt;&lt;height val=&quot;140&quot;/&gt;&lt;hasText val=&quot;1&quot;/&gt;&lt;/Image&gt;&lt;/ThreeDShapeInfo&gt;"/>
  <p:tag name="PRESENTER_SHAPETEXTINFO" val="&lt;ShapeTextInfo&gt;&lt;TableIndex row=&quot;-1&quot; col=&quot;-1&quot;&gt;&lt;linesCount val=&quot;4&quot;/&gt;&lt;lineCharCount val=&quot;54&quot;/&gt;&lt;lineCharCount val=&quot;51&quot;/&gt;&lt;lineCharCount val=&quot;53&quot;/&gt;&lt;lineCharCount val=&quot;53&quot;/&gt;&lt;/TableIndex&gt;&lt;/ShapeTextInfo&gt;"/>
</p:tagLst>
</file>

<file path=ppt/tags/tag12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3000AFCE-ACA2-4DEA-B578-8A9596027D0E}_8.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125.xml><?xml version="1.0" encoding="utf-8"?>
<p:tagLst xmlns:a="http://schemas.openxmlformats.org/drawingml/2006/main" xmlns:r="http://schemas.openxmlformats.org/officeDocument/2006/relationships" xmlns:p="http://schemas.openxmlformats.org/presentationml/2006/main">
  <p:tag name="PRESENTER_SHAPEINFO" val="&lt;ThreeDShapeInfo&gt;&lt;uuid val=&quot;{001AFCB1-71DC-456D-8499-7B8431F4FEDB}&quot;/&gt;&lt;isInvalidForFieldText val=&quot;0&quot;/&gt;&lt;Image&gt;&lt;filename val=&quot;C:\Users\sanmi\Documents\My Adobe Presentations\ece552-SharedMemoryCoherence\data\asimages\{001AFCB1-71DC-456D-8499-7B8431F4FEDB}_8.png&quot;/&gt;&lt;left val=&quot;189&quot;/&gt;&lt;top val=&quot;390&quot;/&gt;&lt;width val=&quot;326&quot;/&gt;&lt;height val=&quot;57&quot;/&gt;&lt;hasText val=&quot;1&quot;/&gt;&lt;/Image&gt;&lt;/ThreeDShapeInfo&gt;"/>
  <p:tag name="PRESENTER_SHAPETEXTINFO" val="&lt;ShapeTextInfo&gt;&lt;TableIndex row=&quot;-1&quot; col=&quot;-1&quot;&gt;&lt;linesCount val=&quot;1&quot;/&gt;&lt;lineCharCount val=&quot;3&quot;/&gt;&lt;/TableIndex&gt;&lt;/ShapeTextInfo&gt;"/>
</p:tagLst>
</file>

<file path=ppt/tags/tag126.xml><?xml version="1.0" encoding="utf-8"?>
<p:tagLst xmlns:a="http://schemas.openxmlformats.org/drawingml/2006/main" xmlns:r="http://schemas.openxmlformats.org/officeDocument/2006/relationships" xmlns:p="http://schemas.openxmlformats.org/presentationml/2006/main">
  <p:tag name="PRESENTER_SHAPEINFO" val="&lt;ThreeDShapeInfo&gt;&lt;uuid val=&quot;{0436E931-7C8C-45E3-B9E9-E8416C8F371A}&quot;/&gt;&lt;isInvalidForFieldText val=&quot;0&quot;/&gt;&lt;Image&gt;&lt;filename val=&quot;C:\Users\sanmi\Documents\My Adobe Presentations\ece552-SharedMemoryCoherence\data\asimages\{0436E931-7C8C-45E3-B9E9-E8416C8F371A}_8.png&quot;/&gt;&lt;left val=&quot;179&quot;/&gt;&lt;top val=&quot;255&quot;/&gt;&lt;width val=&quot;73&quot;/&gt;&lt;height val=&quot;59&quot;/&gt;&lt;hasText val=&quot;1&quot;/&gt;&lt;/Image&gt;&lt;/ThreeDShapeInfo&gt;"/>
  <p:tag name="PRESENTER_SHAPETEXTINFO" val="&lt;ShapeTextInfo&gt;&lt;TableIndex row=&quot;-1&quot; col=&quot;-1&quot;&gt;&lt;linesCount val=&quot;1&quot;/&gt;&lt;lineCharCount val=&quot;2&quot;/&gt;&lt;/TableIndex&gt;&lt;/ShapeTextInfo&gt;"/>
</p:tagLst>
</file>

<file path=ppt/tags/tag127.xml><?xml version="1.0" encoding="utf-8"?>
<p:tagLst xmlns:a="http://schemas.openxmlformats.org/drawingml/2006/main" xmlns:r="http://schemas.openxmlformats.org/officeDocument/2006/relationships" xmlns:p="http://schemas.openxmlformats.org/presentationml/2006/main">
  <p:tag name="PRESENTER_SHAPEINFO" val="&lt;ThreeDShapeInfo&gt;&lt;uuid val=&quot;{50E1A9BC-FC83-4E89-8096-7F948AEFB02D}&quot;/&gt;&lt;isInvalidForFieldText val=&quot;0&quot;/&gt;&lt;Image&gt;&lt;filename val=&quot;C:\Users\sanmi\Documents\My Adobe Presentations\ece552-SharedMemoryCoherence\data\asimages\{50E1A9BC-FC83-4E89-8096-7F948AEFB02D}_8.png&quot;/&gt;&lt;left val=&quot;209&quot;/&gt;&lt;top val=&quot;303&quot;/&gt;&lt;width val=&quot;13&quot;/&gt;&lt;height val=&quot;24&quot;/&gt;&lt;hasText val=&quot;1&quot;/&gt;&lt;/Image&gt;&lt;/ThreeDShapeInfo&gt;"/>
</p:tagLst>
</file>

<file path=ppt/tags/tag1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9.xml><?xml version="1.0" encoding="utf-8"?>
<p:tagLst xmlns:a="http://schemas.openxmlformats.org/drawingml/2006/main" xmlns:r="http://schemas.openxmlformats.org/officeDocument/2006/relationships" xmlns:p="http://schemas.openxmlformats.org/presentationml/2006/main">
  <p:tag name="PRESENTER_SHAPEINFO" val="&lt;ThreeDShapeInfo&gt;&lt;uuid val=&quot;{313B0665-003D-4631-8C90-782BE9E35362}&quot;/&gt;&lt;isInvalidForFieldText val=&quot;0&quot;/&gt;&lt;Image&gt;&lt;filename val=&quot;C:\Users\sanmi\Documents\My Adobe Presentations\ece552-SharedMemoryCoherence\data\asimages\{313B0665-003D-4631-8C90-782BE9E35362}_8.png&quot;/&gt;&lt;left val=&quot;461&quot;/&gt;&lt;top val=&quot;255&quot;/&gt;&lt;width val=&quot;73&quot;/&gt;&lt;height val=&quot;59&quot;/&gt;&lt;hasText val=&quot;1&quot;/&gt;&lt;/Image&gt;&lt;/ThreeDShapeInfo&gt;"/>
  <p:tag name="PRESENTER_SHAPETEXTINFO" val="&lt;ShapeTextInfo&gt;&lt;TableIndex row=&quot;-1&quot; col=&quot;-1&quot;&gt;&lt;linesCount val=&quot;1&quot;/&gt;&lt;lineCharCount val=&quot;2&quot;/&gt;&lt;/TableIndex&gt;&lt;/ShapeTextInfo&gt;"/>
</p:tagLst>
</file>

<file path=ppt/tags/tag130.xml><?xml version="1.0" encoding="utf-8"?>
<p:tagLst xmlns:a="http://schemas.openxmlformats.org/drawingml/2006/main" xmlns:r="http://schemas.openxmlformats.org/officeDocument/2006/relationships" xmlns:p="http://schemas.openxmlformats.org/presentationml/2006/main">
  <p:tag name="PRESENTER_SHAPEINFO" val="&lt;ThreeDShapeInfo&gt;&lt;uuid val=&quot;{87636654-0EEC-4EFF-A932-EB41BBC33298}&quot;/&gt;&lt;isInvalidForFieldText val=&quot;0&quot;/&gt;&lt;Image&gt;&lt;filename val=&quot;C:\Users\sanmi\Documents\My Adobe Presentations\ece552-SharedMemoryCoherence\data\asimages\{87636654-0EEC-4EFF-A932-EB41BBC33298}_8.png&quot;/&gt;&lt;left val=&quot;491&quot;/&gt;&lt;top val=&quot;302&quot;/&gt;&lt;width val=&quot;13&quot;/&gt;&lt;height val=&quot;25&quot;/&gt;&lt;hasText val=&quot;1&quot;/&gt;&lt;/Image&gt;&lt;/ThreeDShapeInfo&gt;"/>
</p:tagLst>
</file>

<file path=ppt/tags/tag131.xml><?xml version="1.0" encoding="utf-8"?>
<p:tagLst xmlns:a="http://schemas.openxmlformats.org/drawingml/2006/main" xmlns:r="http://schemas.openxmlformats.org/officeDocument/2006/relationships" xmlns:p="http://schemas.openxmlformats.org/presentationml/2006/main">
  <p:tag name="PRESENTER_SHAPEINFO" val="&lt;ThreeDShapeInfo&gt;&lt;uuid val=&quot;{028910B1-B4F7-41A6-A4EC-FBA269C3DDA4}&quot;/&gt;&lt;isInvalidForFieldText val=&quot;0&quot;/&gt;&lt;Image&gt;&lt;filename val=&quot;C:\Users\sanmi\Documents\My Adobe Presentations\ece552-SharedMemoryCoherence\data\asimages\{028910B1-B4F7-41A6-A4EC-FBA269C3DDA4}_8.png&quot;/&gt;&lt;left val=&quot;258&quot;/&gt;&lt;top val=&quot;445&quot;/&gt;&lt;width val=&quot;188&quot;/&gt;&lt;height val=&quot;49&quot;/&gt;&lt;hasText val=&quot;1&quot;/&gt;&lt;/Image&gt;&lt;/ThreeDShapeInfo&gt;"/>
  <p:tag name="PRESENTER_SHAPETEXTINFO" val="&lt;ShapeTextInfo&gt;&lt;TableIndex row=&quot;-1&quot; col=&quot;-1&quot;&gt;&lt;linesCount val=&quot;1&quot;/&gt;&lt;lineCharCount val=&quot;8&quot;/&gt;&lt;/TableIndex&gt;&lt;/ShapeTextInfo&gt;"/>
</p:tagLst>
</file>

<file path=ppt/tags/tag1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3.xml><?xml version="1.0" encoding="utf-8"?>
<p:tagLst xmlns:a="http://schemas.openxmlformats.org/drawingml/2006/main" xmlns:r="http://schemas.openxmlformats.org/officeDocument/2006/relationships" xmlns:p="http://schemas.openxmlformats.org/presentationml/2006/main">
  <p:tag name="PRESENTER_SHAPEINFO" val="&lt;ThreeDShapeInfo&gt;&lt;uuid val=&quot;{C7794D00-E061-42C5-A44D-ABE4B23853A9}&quot;/&gt;&lt;isInvalidForFieldText val=&quot;0&quot;/&gt;&lt;Image&gt;&lt;filename val=&quot;C:\Users\sanmi\Documents\My Adobe Presentations\ece552-SharedMemoryCoherence\data\asimages\{C7794D00-E061-42C5-A44D-ABE4B23853A9}_8.png&quot;/&gt;&lt;left val=&quot;445&quot;/&gt;&lt;top val=&quot;313&quot;/&gt;&lt;width val=&quot;104&quot;/&gt;&lt;height val=&quot;49&quot;/&gt;&lt;hasText val=&quot;1&quot;/&gt;&lt;/Image&gt;&lt;/ThreeDShapeInfo&gt;"/>
  <p:tag name="PRESENTER_SHAPETEXTINFO" val="&lt;ShapeTextInfo&gt;&lt;TableIndex row=&quot;-1&quot; col=&quot;-1&quot;&gt;&lt;linesCount val=&quot;1&quot;/&gt;&lt;lineCharCount val=&quot;5&quot;/&gt;&lt;/TableIndex&gt;&lt;/ShapeTextInfo&gt;"/>
</p:tagLst>
</file>

<file path=ppt/tags/tag13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117B9495-716D-4136-A15A-BF3F128E6B05}_8.png&quot;/&gt;&lt;left val=&quot;441&quot;/&gt;&lt;top val=&quot;475&quot;/&gt;&lt;width val=&quot;113&quot;/&gt;&lt;height val=&quot;34&quot;/&gt;&lt;hasText val=&quot;1&quot;/&gt;&lt;/Image&gt;&lt;/ThreeDShapeInfo&gt;"/>
  <p:tag name="PRESENTER_SHAPETEXTINFO" val="&lt;ShapeTextInfo&gt;&lt;TableIndex row=&quot;-1&quot; col=&quot;-1&quot;&gt;&lt;linesCount val=&quot;1&quot;/&gt;&lt;lineCharCount val=&quot;11&quot;/&gt;&lt;/TableIndex&gt;&lt;/ShapeTextInfo&gt;"/>
</p:tagLst>
</file>

<file path=ppt/tags/tag135.xml><?xml version="1.0" encoding="utf-8"?>
<p:tagLst xmlns:a="http://schemas.openxmlformats.org/drawingml/2006/main" xmlns:r="http://schemas.openxmlformats.org/officeDocument/2006/relationships" xmlns:p="http://schemas.openxmlformats.org/presentationml/2006/main">
  <p:tag name="PRESENTER_SHAPEINFO" val="&lt;ThreeDShapeInfo&gt;&lt;uuid val=&quot;{5A27E099-18E6-4B0D-9784-35F5C2394C9D}&quot;/&gt;&lt;isInvalidForFieldText val=&quot;0&quot;/&gt;&lt;Image&gt;&lt;filename val=&quot;C:\Users\sanmi\Documents\My Adobe Presentations\ece552-SharedMemoryCoherence\data\asimages\{5A27E099-18E6-4B0D-9784-35F5C2394C9D}_8.png&quot;/&gt;&lt;left val=&quot;163&quot;/&gt;&lt;top val=&quot;342&quot;/&gt;&lt;width val=&quot;104&quot;/&gt;&lt;height val=&quot;32&quot;/&gt;&lt;hasText val=&quot;1&quot;/&gt;&lt;/Image&gt;&lt;/ThreeDShapeInfo&gt;"/>
  <p:tag name="PRESENTER_SHAPETEXTINFO" val="&lt;ShapeTextInfo&gt;&lt;TableIndex row=&quot;-1&quot; col=&quot;-1&quot;&gt;&lt;linesCount val=&quot;0&quot;/&gt;&lt;/TableIndex&gt;&lt;/ShapeTextInfo&gt;"/>
</p:tagLst>
</file>

<file path=ppt/tags/tag136.xml><?xml version="1.0" encoding="utf-8"?>
<p:tagLst xmlns:a="http://schemas.openxmlformats.org/drawingml/2006/main" xmlns:r="http://schemas.openxmlformats.org/officeDocument/2006/relationships" xmlns:p="http://schemas.openxmlformats.org/presentationml/2006/main">
  <p:tag name="PRESENTER_SHAPEINFO" val="&lt;ThreeDShapeInfo&gt;&lt;uuid val=&quot;{FA6F35F4-3486-402E-8651-F888AB665DC8}&quot;/&gt;&lt;isInvalidForFieldText val=&quot;0&quot;/&gt;&lt;Image&gt;&lt;filename val=&quot;C:\Users\sanmi\Documents\My Adobe Presentations\ece552-SharedMemoryCoherence\data\asimages\{FA6F35F4-3486-402E-8651-F888AB665DC8}_8.png&quot;/&gt;&lt;left val=&quot;445&quot;/&gt;&lt;top val=&quot;343&quot;/&gt;&lt;width val=&quot;104&quot;/&gt;&lt;height val=&quot;32&quot;/&gt;&lt;hasText val=&quot;1&quot;/&gt;&lt;/Image&gt;&lt;/ThreeDShapeInfo&gt;"/>
  <p:tag name="PRESENTER_SHAPETEXTINFO" val="&lt;ShapeTextInfo&gt;&lt;TableIndex row=&quot;-1&quot; col=&quot;-1&quot;&gt;&lt;linesCount val=&quot;0&quot;/&gt;&lt;/TableIndex&gt;&lt;/ShapeTextInfo&gt;"/>
</p:tagLst>
</file>

<file path=ppt/tags/tag137.xml><?xml version="1.0" encoding="utf-8"?>
<p:tagLst xmlns:a="http://schemas.openxmlformats.org/drawingml/2006/main" xmlns:r="http://schemas.openxmlformats.org/officeDocument/2006/relationships" xmlns:p="http://schemas.openxmlformats.org/presentationml/2006/main">
  <p:tag name="PRESENTER_SHAPEINFO" val="&lt;ThreeDShapeInfo&gt;&lt;uuid val=&quot;{2E0D7895-DC73-4283-9BB9-D4C52ED09D01}&quot;/&gt;&lt;isInvalidForFieldText val=&quot;0&quot;/&gt;&lt;Image&gt;&lt;filename val=&quot;C:\Users\sanmi\Documents\My Adobe Presentations\ece552-SharedMemoryCoherence\data\asimages\{2E0D7895-DC73-4283-9BB9-D4C52ED09D01}_8.png&quot;/&gt;&lt;left val=&quot;258&quot;/&gt;&lt;top val=&quot;476&quot;/&gt;&lt;width val=&quot;188&quot;/&gt;&lt;height val=&quot;32&quot;/&gt;&lt;hasText val=&quot;1&quot;/&gt;&lt;/Image&gt;&lt;/ThreeDShapeInfo&gt;"/>
  <p:tag name="PRESENTER_SHAPETEXTINFO" val="&lt;ShapeTextInfo&gt;&lt;TableIndex row=&quot;-1&quot; col=&quot;-1&quot;&gt;&lt;linesCount val=&quot;0&quot;/&gt;&lt;/TableIndex&gt;&lt;/ShapeTextInfo&gt;"/>
</p:tagLst>
</file>

<file path=ppt/tags/tag13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0828E3AF-12D9-4296-9C89-6C293C58AF80}_8.png&quot;/&gt;&lt;left val=&quot;552&quot;/&gt;&lt;top val=&quot;311&quot;/&gt;&lt;width val=&quot;136&quot;/&gt;&lt;height val=&quot;43&quot;/&gt;&lt;hasText val=&quot;1&quot;/&gt;&lt;/Image&gt;&lt;/ThreeDShapeInfo&gt;"/>
  <p:tag name="PRESENTER_SHAPETEXTINFO" val="&lt;ShapeTextInfo&gt;&lt;TableIndex row=&quot;-1&quot; col=&quot;-1&quot;&gt;&lt;linesCount val=&quot;1&quot;/&gt;&lt;lineCharCount val=&quot;13&quot;/&gt;&lt;/TableIndex&gt;&lt;/ShapeTextInfo&gt;"/>
</p:tagLst>
</file>

<file path=ppt/tags/tag13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BB4524C4-30B2-48FA-8712-8FDC8486164B}_8.png&quot;/&gt;&lt;left val=&quot;30&quot;/&gt;&lt;top val=&quot;264&quot;/&gt;&lt;width val=&quot;140&quot;/&gt;&lt;height val=&quot;43&quot;/&gt;&lt;hasText val=&quot;1&quot;/&gt;&lt;/Image&gt;&lt;/ThreeDShapeInfo&gt;"/>
  <p:tag name="PRESENTER_SHAPETEXTINFO" val="&lt;ShapeTextInfo&gt;&lt;TableIndex row=&quot;-1&quot; col=&quot;-1&quot;&gt;&lt;linesCount val=&quot;1&quot;/&gt;&lt;lineCharCount val=&quot;14&quot;/&gt;&lt;/TableIndex&gt;&lt;/ShapeTextInfo&gt;"/>
</p:tagLst>
</file>

<file path=ppt/tags/tag14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DE30C09B-3344-4085-A86E-33B227A02398}_8.png&quot;/&gt;&lt;left val=&quot;511&quot;/&gt;&lt;top val=&quot;417&quot;/&gt;&lt;width val=&quot;192&quot;/&gt;&lt;height val=&quot;45&quot;/&gt;&lt;hasText val=&quot;1&quot;/&gt;&lt;/Image&gt;&lt;/ThreeDShapeInfo&gt;"/>
  <p:tag name="PRESENTER_SHAPETEXTINFO" val="&lt;ShapeTextInfo&gt;&lt;TableIndex row=&quot;-1&quot; col=&quot;-1&quot;&gt;&lt;linesCount val=&quot;1&quot;/&gt;&lt;lineCharCount val=&quot;12&quot;/&gt;&lt;/TableIndex&gt;&lt;/ShapeTextInfo&gt;"/>
</p:tagLst>
</file>

<file path=ppt/tags/tag14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0551252F-6429-4AF4-94FD-B147038F5642}_8.png&quot;/&gt;&lt;left val=&quot;552&quot;/&gt;&lt;top val=&quot;337&quot;/&gt;&lt;width val=&quot;136&quot;/&gt;&lt;height val=&quot;43&quot;/&gt;&lt;hasText val=&quot;1&quot;/&gt;&lt;/Image&gt;&lt;/ThreeDShapeInfo&gt;"/>
  <p:tag name="PRESENTER_SHAPETEXTINFO" val="&lt;ShapeTextInfo&gt;&lt;TableIndex row=&quot;-1&quot; col=&quot;-1&quot;&gt;&lt;linesCount val=&quot;1&quot;/&gt;&lt;lineCharCount val=&quot;13&quot;/&gt;&lt;/TableIndex&gt;&lt;/ShapeTextInfo&gt;"/>
</p:tagLst>
</file>

<file path=ppt/tags/tag14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A9C62622-BE8C-4079-9D60-32AC0AE09381}_8.png&quot;/&gt;&lt;left val=&quot;551&quot;/&gt;&lt;top val=&quot;362&quot;/&gt;&lt;width val=&quot;135&quot;/&gt;&lt;height val=&quot;43&quot;/&gt;&lt;hasText val=&quot;1&quot;/&gt;&lt;/Image&gt;&lt;/ThreeDShapeInfo&gt;"/>
  <p:tag name="PRESENTER_SHAPETEXTINFO" val="&lt;ShapeTextInfo&gt;&lt;TableIndex row=&quot;-1&quot; col=&quot;-1&quot;&gt;&lt;linesCount val=&quot;1&quot;/&gt;&lt;lineCharCount val=&quot;13&quot;/&gt;&lt;/TableIndex&gt;&lt;/ShapeTextInfo&gt;"/>
</p:tagLst>
</file>

<file path=ppt/tags/tag14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E98DFF73-FBA1-445D-95B5-58FE39096E84}_8.png&quot;/&gt;&lt;left val=&quot;30&quot;/&gt;&lt;top val=&quot;288&quot;/&gt;&lt;width val=&quot;104&quot;/&gt;&lt;height val=&quot;43&quot;/&gt;&lt;hasText val=&quot;1&quot;/&gt;&lt;/Image&gt;&lt;/ThreeDShapeInfo&gt;"/>
  <p:tag name="PRESENTER_SHAPETEXTINFO" val="&lt;ShapeTextInfo&gt;&lt;TableIndex row=&quot;-1&quot; col=&quot;-1&quot;&gt;&lt;linesCount val=&quot;1&quot;/&gt;&lt;lineCharCount val=&quot;11&quot;/&gt;&lt;/TableIndex&gt;&lt;/ShapeTextInfo&gt;"/>
</p:tagLst>
</file>

<file path=ppt/tags/tag14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BDF9C14B-3B4D-448C-9378-31F117DD0468}_8.png&quot;/&gt;&lt;left val=&quot;-12&quot;/&gt;&lt;top val=&quot;363&quot;/&gt;&lt;width val=&quot;192&quot;/&gt;&lt;height val=&quot;54&quot;/&gt;&lt;hasText val=&quot;1&quot;/&gt;&lt;/Image&gt;&lt;/ThreeDShapeInfo&gt;"/>
  <p:tag name="PRESENTER_SHAPETEXTINFO" val="&lt;ShapeTextInfo&gt;&lt;TableIndex row=&quot;-1&quot; col=&quot;-1&quot;&gt;&lt;linesCount val=&quot;2&quot;/&gt;&lt;lineCharCount val=&quot;19&quot;/&gt;&lt;lineCharCount val=&quot;20&quot;/&gt;&lt;/TableIndex&gt;&lt;/ShapeTextInfo&gt;"/>
</p:tagLst>
</file>

<file path=ppt/tags/tag1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8A57F403-EEC5-45DF-B49C-AD89462F8ED5}_8.png&quot;/&gt;&lt;left val=&quot;264&quot;/&gt;&lt;top val=&quot;229&quot;/&gt;&lt;width val=&quot;193&quot;/&gt;&lt;height val=&quot;53&quot;/&gt;&lt;hasText val=&quot;1&quot;/&gt;&lt;/Image&gt;&lt;/ThreeDShapeInfo&gt;"/>
  <p:tag name="PRESENTER_SHAPETEXTINFO" val="&lt;ShapeTextInfo&gt;&lt;TableIndex row=&quot;-1&quot; col=&quot;-1&quot;&gt;&lt;linesCount val=&quot;2&quot;/&gt;&lt;lineCharCount val=&quot;16&quot;/&gt;&lt;lineCharCount val=&quot;24&quot;/&gt;&lt;/TableIndex&gt;&lt;/ShapeTextInfo&gt;"/>
</p:tagLst>
</file>

<file path=ppt/tags/tag147.xml><?xml version="1.0" encoding="utf-8"?>
<p:tagLst xmlns:a="http://schemas.openxmlformats.org/drawingml/2006/main" xmlns:r="http://schemas.openxmlformats.org/officeDocument/2006/relationships" xmlns:p="http://schemas.openxmlformats.org/presentationml/2006/main">
  <p:tag name="HTML_SHAPEINFO" val="&lt;SlideThumbPath val=&quot;Slide9.PNG&quot;/&gt;"/>
  <p:tag name="PPSNARRATION" val="9,883145026,C:\Users\sanmi\GoogleDrive\UWMdrive\Courses\ECE552\ece552-lec18_SharedMemoryCoherence_pptx\Media.ppcx"/>
</p:tagLst>
</file>

<file path=ppt/tags/tag14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3E2009A0-CE55-411B-B945-7A4880725227}_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4&quot;/&gt;&lt;/TableIndex&gt;&lt;/ShapeTextInfo&gt;"/>
</p:tagLst>
</file>

<file path=ppt/tags/tag14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7E5AE98-F6AE-415C-B845-2B25E3792C4E}_9.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15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1680165A-EFB7-4C49-AB1E-B46D0F4BC0DC}_9.png&quot;/&gt;&lt;left val=&quot;29&quot;/&gt;&lt;top val=&quot;105&quot;/&gt;&lt;width val=&quot;655&quot;/&gt;&lt;height val=&quot;403&quot;/&gt;&lt;hasText val=&quot;1&quot;/&gt;&lt;/Image&gt;&lt;/ThreeDShapeInfo&gt;"/>
  <p:tag name="PRESENTER_SHAPETEXTINFO" val="&lt;ShapeTextInfo&gt;&lt;TableIndex row=&quot;-1&quot; col=&quot;-1&quot;&gt;&lt;linesCount val=&quot;8&quot;/&gt;&lt;lineCharCount val=&quot;43&quot;/&gt;&lt;lineCharCount val=&quot;49&quot;/&gt;&lt;lineCharCount val=&quot;49&quot;/&gt;&lt;lineCharCount val=&quot;46&quot;/&gt;&lt;lineCharCount val=&quot;28&quot;/&gt;&lt;lineCharCount val=&quot;48&quot;/&gt;&lt;lineCharCount val=&quot;46&quot;/&gt;&lt;lineCharCount val=&quot;50&quot;/&gt;&lt;/TableIndex&gt;&lt;/ShapeTextInfo&gt;"/>
</p:tagLst>
</file>

<file path=ppt/tags/tag151.xml><?xml version="1.0" encoding="utf-8"?>
<p:tagLst xmlns:a="http://schemas.openxmlformats.org/drawingml/2006/main" xmlns:r="http://schemas.openxmlformats.org/officeDocument/2006/relationships" xmlns:p="http://schemas.openxmlformats.org/presentationml/2006/main">
  <p:tag name="HTML_SHAPEINFO" val="&lt;SlideThumbPath val=&quot;Slide10.PNG&quot;/&gt;"/>
  <p:tag name="PPSNARRATION" val="10,883145026,C:\Users\sanmi\GoogleDrive\UWMdrive\Courses\ECE552\ece552-lec18_SharedMemoryCoherence_pptx\Media.ppcx"/>
</p:tagLst>
</file>

<file path=ppt/tags/tag15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ECA6350B-08F7-4164-8864-F626F5BEF0FB}_10.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4&quot;/&gt;&lt;/TableIndex&gt;&lt;/ShapeTextInfo&gt;"/>
</p:tagLst>
</file>

<file path=ppt/tags/tag15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6771071F-AEEF-4491-B7CB-E0D3A52D57DB}_10.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5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D646A128-6B41-4336-9F79-4BA20AA154A6}_10.png&quot;/&gt;&lt;left val=&quot;29&quot;/&gt;&lt;top val=&quot;105&quot;/&gt;&lt;width val=&quot;659&quot;/&gt;&lt;height val=&quot;403&quot;/&gt;&lt;hasText val=&quot;1&quot;/&gt;&lt;/Image&gt;&lt;/ThreeDShapeInfo&gt;"/>
  <p:tag name="PRESENTER_SHAPETEXTINFO" val="&lt;ShapeTextInfo&gt;&lt;TableIndex row=&quot;-1&quot; col=&quot;-1&quot;&gt;&lt;linesCount val=&quot;7&quot;/&gt;&lt;lineCharCount val=&quot;31&quot;/&gt;&lt;lineCharCount val=&quot;47&quot;/&gt;&lt;lineCharCount val=&quot;36&quot;/&gt;&lt;lineCharCount val=&quot;59&quot;/&gt;&lt;lineCharCount val=&quot;49&quot;/&gt;&lt;lineCharCount val=&quot;60&quot;/&gt;&lt;lineCharCount val=&quot;34&quot;/&gt;&lt;/TableIndex&gt;&lt;/ShapeTextInfo&gt;"/>
</p:tagLst>
</file>

<file path=ppt/tags/tag155.xml><?xml version="1.0" encoding="utf-8"?>
<p:tagLst xmlns:a="http://schemas.openxmlformats.org/drawingml/2006/main" xmlns:r="http://schemas.openxmlformats.org/officeDocument/2006/relationships" xmlns:p="http://schemas.openxmlformats.org/presentationml/2006/main">
  <p:tag name="HTML_SHAPEINFO" val="&lt;SlideThumbPath val=&quot;Slide11.PNG&quot;/&gt;"/>
  <p:tag name="PPSNARRATION" val="11,883145026,C:\Users\sanmi\GoogleDrive\UWMdrive\Courses\ECE552\ece552-lec18_SharedMemoryCoherence_pptx\Media.ppcx"/>
</p:tagLst>
</file>

<file path=ppt/tags/tag15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7A665342-DEAE-4E50-B6D5-CBD5AF0009FC}_11.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4&quot;/&gt;&lt;/TableIndex&gt;&lt;/ShapeTextInfo&gt;"/>
</p:tagLst>
</file>

<file path=ppt/tags/tag15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2B5500B1-72F9-4374-84EF-A84B306818D2}_11.png&quot;/&gt;&lt;left val=&quot;41&quot;/&gt;&lt;top val=&quot;112&quot;/&gt;&lt;width val=&quot;667&quot;/&gt;&lt;height val=&quot;307&quot;/&gt;&lt;hasText val=&quot;1&quot;/&gt;&lt;/Image&gt;&lt;/ThreeDShapeInfo&gt;"/>
  <p:tag name="PRESENTER_SHAPETEXTINFO" val="&lt;ShapeTextInfo&gt;&lt;TableIndex row=&quot;-1&quot; col=&quot;-1&quot;&gt;&lt;linesCount val=&quot;10&quot;/&gt;&lt;lineCharCount val=&quot;47&quot;/&gt;&lt;lineCharCount val=&quot;53&quot;/&gt;&lt;lineCharCount val=&quot;11&quot;/&gt;&lt;lineCharCount val=&quot;47&quot;/&gt;&lt;lineCharCount val=&quot;60&quot;/&gt;&lt;lineCharCount val=&quot;23&quot;/&gt;&lt;lineCharCount val=&quot;58&quot;/&gt;&lt;lineCharCount val=&quot;15&quot;/&gt;&lt;lineCharCount val=&quot;50&quot;/&gt;&lt;lineCharCount val=&quot;11&quot;/&gt;&lt;/TableIndex&gt;&lt;/ShapeTextInfo&gt;"/>
</p:tagLst>
</file>

<file path=ppt/tags/tag15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0D46409-8EF3-4519-9B0A-B8559226F39D}_11.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159.xml><?xml version="1.0" encoding="utf-8"?>
<p:tagLst xmlns:a="http://schemas.openxmlformats.org/drawingml/2006/main" xmlns:r="http://schemas.openxmlformats.org/officeDocument/2006/relationships" xmlns:p="http://schemas.openxmlformats.org/presentationml/2006/main">
  <p:tag name="HTML_SHAPEINFO" val="&lt;SlideThumbPath val=&quot;Slide12.PNG&quot;/&gt;"/>
  <p:tag name="PPSNARRATION" val="12,883145026,C:\Users\sanmi\GoogleDrive\UWMdrive\Courses\ECE552\ece552-lec18_SharedMemoryCoherence_pptx\Media.ppcx"/>
</p:tagLst>
</file>

<file path=ppt/tags/tag16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64543559-836F-44AE-B085-3DC650137E3C}_1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5&quot;/&gt;&lt;/TableIndex&gt;&lt;/ShapeTextInfo&gt;"/>
</p:tagLst>
</file>

<file path=ppt/tags/tag16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56548B11-1C35-403A-9E84-174CEEAC47A1}_12.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6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88E4D9CA-8C36-4F41-9B6B-62CF44ED8057}_12.png&quot;/&gt;&lt;left val=&quot;29&quot;/&gt;&lt;top val=&quot;105&quot;/&gt;&lt;width val=&quot;685&quot;/&gt;&lt;height val=&quot;403&quot;/&gt;&lt;hasText val=&quot;1&quot;/&gt;&lt;/Image&gt;&lt;/ThreeDShapeInfo&gt;"/>
  <p:tag name="PRESENTER_SHAPETEXTINFO" val="&lt;ShapeTextInfo&gt;&lt;TableIndex row=&quot;-1&quot; col=&quot;-1&quot;&gt;&lt;linesCount val=&quot;10&quot;/&gt;&lt;lineCharCount val=&quot;25&quot;/&gt;&lt;lineCharCount val=&quot;58&quot;/&gt;&lt;lineCharCount val=&quot;48&quot;/&gt;&lt;lineCharCount val=&quot;14&quot;/&gt;&lt;lineCharCount val=&quot;1&quot;/&gt;&lt;lineCharCount val=&quot;26&quot;/&gt;&lt;lineCharCount val=&quot;55&quot;/&gt;&lt;lineCharCount val=&quot;57&quot;/&gt;&lt;lineCharCount val=&quot;41&quot;/&gt;&lt;lineCharCount val=&quot;20&quot;/&gt;&lt;/TableIndex&gt;&lt;/ShapeTextInfo&gt;"/>
</p:tagLst>
</file>

<file path=ppt/tags/tag163.xml><?xml version="1.0" encoding="utf-8"?>
<p:tagLst xmlns:a="http://schemas.openxmlformats.org/drawingml/2006/main" xmlns:r="http://schemas.openxmlformats.org/officeDocument/2006/relationships" xmlns:p="http://schemas.openxmlformats.org/presentationml/2006/main">
  <p:tag name="HTML_SHAPEINFO" val="&lt;SlideThumbPath val=&quot;Slide13.PNG&quot;/&gt;"/>
  <p:tag name="PPSNARRATION" val="13,883145026,C:\Users\sanmi\GoogleDrive\UWMdrive\Courses\ECE552\ece552-lec18_SharedMemoryCoherence_pptx\Media.ppcx"/>
</p:tagLst>
</file>

<file path=ppt/tags/tag16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2527AC44-7980-4D9D-9404-8470A85BE99B}_13.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5&quot;/&gt;&lt;/TableIndex&gt;&lt;/ShapeTextInfo&gt;"/>
</p:tagLst>
</file>

<file path=ppt/tags/tag16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113A8720-8E5C-4D55-A99E-1FE2DDD97136}_13.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6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B6DB7C84-43AB-479F-BA8D-3D737392B960}_13.png&quot;/&gt;&lt;left val=&quot;29&quot;/&gt;&lt;top val=&quot;105&quot;/&gt;&lt;width val=&quot;693&quot;/&gt;&lt;height val=&quot;403&quot;/&gt;&lt;hasText val=&quot;1&quot;/&gt;&lt;/Image&gt;&lt;/ThreeDShapeInfo&gt;"/>
  <p:tag name="PRESENTER_SHAPETEXTINFO" val="&lt;ShapeTextInfo&gt;&lt;TableIndex row=&quot;-1&quot; col=&quot;-1&quot;&gt;&lt;linesCount val=&quot;10&quot;/&gt;&lt;lineCharCount val=&quot;23&quot;/&gt;&lt;lineCharCount val=&quot;53&quot;/&gt;&lt;lineCharCount val=&quot;29&quot;/&gt;&lt;lineCharCount val=&quot;1&quot;/&gt;&lt;lineCharCount val=&quot;29&quot;/&gt;&lt;lineCharCount val=&quot;52&quot;/&gt;&lt;lineCharCount val=&quot;55&quot;/&gt;&lt;lineCharCount val=&quot;46&quot;/&gt;&lt;lineCharCount val=&quot;62&quot;/&gt;&lt;lineCharCount val=&quot;15&quot;/&gt;&lt;/TableIndex&gt;&lt;/ShapeTextInfo&gt;"/>
</p:tagLst>
</file>

<file path=ppt/tags/tag167.xml><?xml version="1.0" encoding="utf-8"?>
<p:tagLst xmlns:a="http://schemas.openxmlformats.org/drawingml/2006/main" xmlns:r="http://schemas.openxmlformats.org/officeDocument/2006/relationships" xmlns:p="http://schemas.openxmlformats.org/presentationml/2006/main">
  <p:tag name="HTML_SHAPEINFO" val="&lt;SlideThumbPath val=&quot;Slide14.PNG&quot;/&gt;"/>
  <p:tag name="PPSNARRATION" val="14,883145026,C:\Users\sanmi\GoogleDrive\UWMdrive\Courses\ECE552\ece552-lec18_SharedMemoryCoherence_pptx\Media.ppcx"/>
</p:tagLst>
</file>

<file path=ppt/tags/tag16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081573C-6960-4A7E-95CE-912CBF7EB5D6}_14.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5&quot;/&gt;&lt;/TableIndex&gt;&lt;/ShapeTextInfo&gt;"/>
</p:tagLst>
</file>

<file path=ppt/tags/tag16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C61D1D80-6833-40F9-8C53-742C54FB8958}_14.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7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7DC862ED-B310-47C6-9550-2F15BA018B32}_14.png&quot;/&gt;&lt;left val=&quot;29&quot;/&gt;&lt;top val=&quot;105&quot;/&gt;&lt;width val=&quot;673&quot;/&gt;&lt;height val=&quot;403&quot;/&gt;&lt;hasText val=&quot;1&quot;/&gt;&lt;/Image&gt;&lt;/ThreeDShapeInfo&gt;"/>
  <p:tag name="PRESENTER_SHAPETEXTINFO" val="&lt;ShapeTextInfo&gt;&lt;TableIndex row=&quot;-1&quot; col=&quot;-1&quot;&gt;&lt;linesCount val=&quot;10&quot;/&gt;&lt;lineCharCount val=&quot;47&quot;/&gt;&lt;lineCharCount val=&quot;16&quot;/&gt;&lt;lineCharCount val=&quot;50&quot;/&gt;&lt;lineCharCount val=&quot;49&quot;/&gt;&lt;lineCharCount val=&quot;53&quot;/&gt;&lt;lineCharCount val=&quot;46&quot;/&gt;&lt;lineCharCount val=&quot;53&quot;/&gt;&lt;lineCharCount val=&quot;50&quot;/&gt;&lt;lineCharCount val=&quot;51&quot;/&gt;&lt;lineCharCount val=&quot;30&quot;/&gt;&lt;/TableIndex&gt;&lt;/ShapeTextInfo&gt;"/>
</p:tagLst>
</file>

<file path=ppt/tags/tag171.xml><?xml version="1.0" encoding="utf-8"?>
<p:tagLst xmlns:a="http://schemas.openxmlformats.org/drawingml/2006/main" xmlns:r="http://schemas.openxmlformats.org/officeDocument/2006/relationships" xmlns:p="http://schemas.openxmlformats.org/presentationml/2006/main">
  <p:tag name="HTML_SHAPEINFO" val="&lt;SlideThumbPath val=&quot;Slide15.PNG&quot;/&gt;"/>
  <p:tag name="PPSNARRATION" val="15,883145026,C:\Users\sanmi\GoogleDrive\UWMdrive\Courses\ECE552\ece552-lec18_SharedMemoryCoherence_pptx\Media.ppcx"/>
</p:tagLst>
</file>

<file path=ppt/tags/tag17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A339DC8E-021C-4A7E-A6C0-129064EA9592}_15.png&quot;/&gt;&lt;left val=&quot;25&quot;/&gt;&lt;top val=&quot;123&quot;/&gt;&lt;width val=&quot;678&quot;/&gt;&lt;height val=&quot;370&quot;/&gt;&lt;hasText val=&quot;1&quot;/&gt;&lt;/Image&gt;&lt;/ThreeDShapeInfo&gt;"/>
  <p:tag name="PRESENTER_SHAPETEXTINFO" val="&lt;ShapeTextInfo&gt;&lt;TableIndex row=&quot;-1&quot; col=&quot;-1&quot;&gt;&lt;linesCount val=&quot;11&quot;/&gt;&lt;lineCharCount val=&quot;8&quot;/&gt;&lt;lineCharCount val=&quot;75&quot;/&gt;&lt;lineCharCount val=&quot;39&quot;/&gt;&lt;lineCharCount val=&quot;1&quot;/&gt;&lt;lineCharCount val=&quot;16&quot;/&gt;&lt;lineCharCount val=&quot;38&quot;/&gt;&lt;lineCharCount val=&quot;40&quot;/&gt;&lt;lineCharCount val=&quot;35&quot;/&gt;&lt;lineCharCount val=&quot;55&quot;/&gt;&lt;lineCharCount val=&quot;41&quot;/&gt;&lt;lineCharCount val=&quot;27&quot;/&gt;&lt;/TableIndex&gt;&lt;/ShapeTextInfo&gt;"/>
</p:tagLst>
</file>

<file path=ppt/tags/tag17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B95188A8-FF29-4816-B1D8-E7843E647A55}_15.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1&quot;/&gt;&lt;/TableIndex&gt;&lt;/ShapeTextInfo&gt;"/>
</p:tagLst>
</file>

<file path=ppt/tags/tag174.xml><?xml version="1.0" encoding="utf-8"?>
<p:tagLst xmlns:a="http://schemas.openxmlformats.org/drawingml/2006/main" xmlns:r="http://schemas.openxmlformats.org/officeDocument/2006/relationships" xmlns:p="http://schemas.openxmlformats.org/presentationml/2006/main">
  <p:tag name="PRESENTER_SHAPEINFO" val="&lt;ThreeDShapeInfo&gt;&lt;uuid val=&quot;{6002C3A0-52DC-4024-AC94-ED1F89DD211C}&quot;/&gt;&lt;isInvalidForFieldText val=&quot;0&quot;/&gt;&lt;Image&gt;&lt;filename val=&quot;C:\Users\sanmi\Documents\My Adobe Presentations\ece552-SharedMemoryCoherence\data\asimages\{6002C3A0-52DC-4024-AC94-ED1F89DD211C}_15.png&quot;/&gt;&lt;left val=&quot;427&quot;/&gt;&lt;top val=&quot;336&quot;/&gt;&lt;width val=&quot;294&quot;/&gt;&lt;height val=&quot;203&quot;/&gt;&lt;hasText val=&quot;1&quot;/&gt;&lt;/Image&gt;&lt;/ThreeDShapeInfo&gt;"/>
</p:tagLst>
</file>

<file path=ppt/tags/tag17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766D28AD-E615-4C8F-AA11-D7AC905B9FA7}_15.png&quot;/&gt;&lt;left val=&quot;152&quot;/&gt;&lt;top val=&quot;500&quot;/&gt;&lt;width val=&quot;253&quot;/&gt;&lt;height val=&quot;36&quot;/&gt;&lt;hasText val=&quot;1&quot;/&gt;&lt;/Image&gt;&lt;/ThreeDShapeInfo&gt;"/>
  <p:tag name="PRESENTER_SHAPETEXTINFO" val="&lt;ShapeTextInfo&gt;&lt;TableIndex row=&quot;-1&quot; col=&quot;-1&quot;&gt;&lt;linesCount val=&quot;1&quot;/&gt;&lt;lineCharCount val=&quot;29&quot;/&gt;&lt;/TableIndex&gt;&lt;/ShapeTextInfo&gt;"/>
</p:tagLst>
</file>

<file path=ppt/tags/tag1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1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Lst>
</file>

<file path=ppt/tags/tag1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ShapeTextInfo&gt;"/>
</p:tagLst>
</file>

<file path=ppt/tags/tag1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Lst>
</file>

<file path=ppt/tags/tag1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ShapeTextInfo&gt;"/>
</p:tagLst>
</file>

<file path=ppt/tags/tag1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Lst>
</file>

<file path=ppt/tags/tag187.xml><?xml version="1.0" encoding="utf-8"?>
<p:tagLst xmlns:a="http://schemas.openxmlformats.org/drawingml/2006/main" xmlns:r="http://schemas.openxmlformats.org/officeDocument/2006/relationships" xmlns:p="http://schemas.openxmlformats.org/presentationml/2006/main">
  <p:tag name="HTML_SHAPEINFO" val="&lt;SlideThumbPath val=&quot;Slide16.PNG&quot;/&gt;"/>
  <p:tag name="PPSNARRATION" val="16,883145026,C:\Users\sanmi\GoogleDrive\UWMdrive\Courses\ECE552\ece552-lec18_SharedMemoryCoherence_pptx\Media.ppcx"/>
</p:tagLst>
</file>

<file path=ppt/tags/tag188.xml><?xml version="1.0" encoding="utf-8"?>
<p:tagLst xmlns:a="http://schemas.openxmlformats.org/drawingml/2006/main" xmlns:r="http://schemas.openxmlformats.org/officeDocument/2006/relationships" xmlns:p="http://schemas.openxmlformats.org/presentationml/2006/main">
  <p:tag name="PRESENTER_SHAPEINFO" val="&lt;ThreeDShapeInfo&gt;&lt;uuid val=&quot;{F7C19814-38E2-416B-99E1-6B34100F36EB}&quot;/&gt;&lt;isInvalidForFieldText val=&quot;0&quot;/&gt;&lt;Image&gt;&lt;filename val=&quot;C:\Users\sanmi\Documents\My Adobe Presentations\ece552-SharedMemoryCoherence\data\asimages\{F7C19814-38E2-416B-99E1-6B34100F36EB}_16.png&quot;/&gt;&lt;left val=&quot;238&quot;/&gt;&lt;top val=&quot;324&quot;/&gt;&lt;width val=&quot;246&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189.xml><?xml version="1.0" encoding="utf-8"?>
<p:tagLst xmlns:a="http://schemas.openxmlformats.org/drawingml/2006/main" xmlns:r="http://schemas.openxmlformats.org/officeDocument/2006/relationships" xmlns:p="http://schemas.openxmlformats.org/presentationml/2006/main">
  <p:tag name="PRESENTER_SHAPEINFO" val="&lt;ThreeDShapeInfo&gt;&lt;uuid val=&quot;{EEC1D5A5-176E-4FEC-B9BE-02BAD4C20836}&quot;/&gt;&lt;isInvalidForFieldText val=&quot;0&quot;/&gt;&lt;Image&gt;&lt;filename val=&quot;C:\Users\sanmi\Documents\My Adobe Presentations\ece552-SharedMemoryCoherence\data\asimages\{EEC1D5A5-176E-4FEC-B9BE-02BAD4C20836}_16.png&quot;/&gt;&lt;left val=&quot;230&quot;/&gt;&lt;top val=&quot;222&quot;/&gt;&lt;width val=&quot;57&quot;/&gt;&lt;height val=&quot;46&quot;/&gt;&lt;hasText val=&quot;1&quot;/&gt;&lt;/Image&gt;&lt;/ThreeDShapeInfo&gt;"/>
  <p:tag name="PRESENTER_SHAPETEXTINFO" val="&lt;ShapeTextInfo&gt;&lt;TableIndex row=&quot;-1&quot; col=&quot;-1&quot;&gt;&lt;linesCount val=&quot;1&quot;/&gt;&lt;lineCharCount val=&quot;2&quot;/&gt;&lt;/TableIndex&gt;&lt;/ShapeTextInfo&gt;"/>
</p:tagLst>
</file>

<file path=ppt/tags/tag190.xml><?xml version="1.0" encoding="utf-8"?>
<p:tagLst xmlns:a="http://schemas.openxmlformats.org/drawingml/2006/main" xmlns:r="http://schemas.openxmlformats.org/officeDocument/2006/relationships" xmlns:p="http://schemas.openxmlformats.org/presentationml/2006/main">
  <p:tag name="PRESENTER_SHAPEINFO" val="&lt;ThreeDShapeInfo&gt;&lt;uuid val=&quot;{B9B025DD-33F6-44C9-9608-830EBE95A9E3}&quot;/&gt;&lt;isInvalidForFieldText val=&quot;0&quot;/&gt;&lt;Image&gt;&lt;filename val=&quot;C:\Users\sanmi\Documents\My Adobe Presentations\ece552-SharedMemoryCoherence\data\asimages\{B9B025DD-33F6-44C9-9608-830EBE95A9E3}_16.png&quot;/&gt;&lt;left val=&quot;252&quot;/&gt;&lt;top val=&quot;259&quot;/&gt;&lt;width val=&quot;13&quot;/&gt;&lt;height val=&quot;19&quot;/&gt;&lt;hasText val=&quot;1&quot;/&gt;&lt;/Image&gt;&lt;/ThreeDShapeInfo&gt;"/>
</p:tagLst>
</file>

<file path=ppt/tags/tag1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2.xml><?xml version="1.0" encoding="utf-8"?>
<p:tagLst xmlns:a="http://schemas.openxmlformats.org/drawingml/2006/main" xmlns:r="http://schemas.openxmlformats.org/officeDocument/2006/relationships" xmlns:p="http://schemas.openxmlformats.org/presentationml/2006/main">
  <p:tag name="PRESENTER_SHAPEINFO" val="&lt;ThreeDShapeInfo&gt;&lt;uuid val=&quot;{E0D34E15-DFA9-4D62-B8BF-CD6302490B86}&quot;/&gt;&lt;isInvalidForFieldText val=&quot;0&quot;/&gt;&lt;Image&gt;&lt;filename val=&quot;C:\Users\sanmi\Documents\My Adobe Presentations\ece552-SharedMemoryCoherence\data\asimages\{E0D34E15-DFA9-4D62-B8BF-CD6302490B86}_16.png&quot;/&gt;&lt;left val=&quot;441&quot;/&gt;&lt;top val=&quot;222&quot;/&gt;&lt;width val=&quot;57&quot;/&gt;&lt;height val=&quot;46&quot;/&gt;&lt;hasText val=&quot;1&quot;/&gt;&lt;/Image&gt;&lt;/ThreeDShapeInfo&gt;"/>
  <p:tag name="PRESENTER_SHAPETEXTINFO" val="&lt;ShapeTextInfo&gt;&lt;TableIndex row=&quot;-1&quot; col=&quot;-1&quot;&gt;&lt;linesCount val=&quot;1&quot;/&gt;&lt;lineCharCount val=&quot;2&quot;/&gt;&lt;/TableIndex&gt;&lt;/ShapeTextInfo&gt;"/>
</p:tagLst>
</file>

<file path=ppt/tags/tag193.xml><?xml version="1.0" encoding="utf-8"?>
<p:tagLst xmlns:a="http://schemas.openxmlformats.org/drawingml/2006/main" xmlns:r="http://schemas.openxmlformats.org/officeDocument/2006/relationships" xmlns:p="http://schemas.openxmlformats.org/presentationml/2006/main">
  <p:tag name="PRESENTER_SHAPEINFO" val="&lt;ThreeDShapeInfo&gt;&lt;uuid val=&quot;{A26EA832-6505-4009-AFEF-01F3CECD38EB}&quot;/&gt;&lt;isInvalidForFieldText val=&quot;0&quot;/&gt;&lt;Image&gt;&lt;filename val=&quot;C:\Users\sanmi\Documents\My Adobe Presentations\ece552-SharedMemoryCoherence\data\asimages\{A26EA832-6505-4009-AFEF-01F3CECD38EB}_16.png&quot;/&gt;&lt;left val=&quot;463&quot;/&gt;&lt;top val=&quot;258&quot;/&gt;&lt;width val=&quot;13&quot;/&gt;&lt;height val=&quot;20&quot;/&gt;&lt;hasText val=&quot;1&quot;/&gt;&lt;/Image&gt;&lt;/ThreeDShapeInfo&gt;"/>
</p:tagLst>
</file>

<file path=ppt/tags/tag194.xml><?xml version="1.0" encoding="utf-8"?>
<p:tagLst xmlns:a="http://schemas.openxmlformats.org/drawingml/2006/main" xmlns:r="http://schemas.openxmlformats.org/officeDocument/2006/relationships" xmlns:p="http://schemas.openxmlformats.org/presentationml/2006/main">
  <p:tag name="PRESENTER_SHAPEINFO" val="&lt;ThreeDShapeInfo&gt;&lt;uuid val=&quot;{124AF0BF-E272-44B3-9FFE-CE8627A7161E}&quot;/&gt;&lt;isInvalidForFieldText val=&quot;0&quot;/&gt;&lt;Image&gt;&lt;filename val=&quot;C:\Users\sanmi\Documents\My Adobe Presentations\ece552-SharedMemoryCoherence\data\asimages\{124AF0BF-E272-44B3-9FFE-CE8627A7161E}_16.png&quot;/&gt;&lt;left val=&quot;289&quot;/&gt;&lt;top val=&quot;365&quot;/&gt;&lt;width val=&quot;143&quot;/&gt;&lt;height val=&quot;39&quot;/&gt;&lt;hasText val=&quot;1&quot;/&gt;&lt;/Image&gt;&lt;/ThreeDShapeInfo&gt;"/>
  <p:tag name="PRESENTER_SHAPETEXTINFO" val="&lt;ShapeTextInfo&gt;&lt;TableIndex row=&quot;-1&quot; col=&quot;-1&quot;&gt;&lt;linesCount val=&quot;1&quot;/&gt;&lt;lineCharCount val=&quot;4&quot;/&gt;&lt;/TableIndex&gt;&lt;/ShapeTextInfo&gt;"/>
</p:tagLst>
</file>

<file path=ppt/tags/tag1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6.xml><?xml version="1.0" encoding="utf-8"?>
<p:tagLst xmlns:a="http://schemas.openxmlformats.org/drawingml/2006/main" xmlns:r="http://schemas.openxmlformats.org/officeDocument/2006/relationships" xmlns:p="http://schemas.openxmlformats.org/presentationml/2006/main">
  <p:tag name="PRESENTER_SHAPEINFO" val="&lt;ThreeDShapeInfo&gt;&lt;uuid val=&quot;{F1101AC6-7F25-4F36-9184-E967AA69656A}&quot;/&gt;&lt;isInvalidForFieldText val=&quot;0&quot;/&gt;&lt;Image&gt;&lt;filename val=&quot;C:\Users\sanmi\Documents\My Adobe Presentations\ece552-SharedMemoryCoherence\data\asimages\{F1101AC6-7F25-4F36-9184-E967AA69656A}_16.png&quot;/&gt;&lt;left val=&quot;218&quot;/&gt;&lt;top val=&quot;266&quot;/&gt;&lt;width val=&quot;80&quot;/&gt;&lt;height val=&quot;38&quot;/&gt;&lt;hasText val=&quot;1&quot;/&gt;&lt;/Image&gt;&lt;/ThreeDShapeInfo&gt;"/>
  <p:tag name="PRESENTER_SHAPETEXTINFO" val="&lt;ShapeTextInfo&gt;&lt;TableIndex row=&quot;-1&quot; col=&quot;-1&quot;&gt;&lt;linesCount val=&quot;1&quot;/&gt;&lt;lineCharCount val=&quot;9&quot;/&gt;&lt;/TableIndex&gt;&lt;/ShapeTextInfo&gt;"/>
</p:tagLst>
</file>

<file path=ppt/tags/tag197.xml><?xml version="1.0" encoding="utf-8"?>
<p:tagLst xmlns:a="http://schemas.openxmlformats.org/drawingml/2006/main" xmlns:r="http://schemas.openxmlformats.org/officeDocument/2006/relationships" xmlns:p="http://schemas.openxmlformats.org/presentationml/2006/main">
  <p:tag name="PRESENTER_SHAPEINFO" val="&lt;ThreeDShapeInfo&gt;&lt;uuid val=&quot;{8F03FC9A-18A9-4C5E-AAB2-DC5AA4B8CC51}&quot;/&gt;&lt;isInvalidForFieldText val=&quot;0&quot;/&gt;&lt;Image&gt;&lt;filename val=&quot;C:\Users\sanmi\Documents\My Adobe Presentations\ece552-SharedMemoryCoherence\data\asimages\{8F03FC9A-18A9-4C5E-AAB2-DC5AA4B8CC51}_16.png&quot;/&gt;&lt;left val=&quot;430&quot;/&gt;&lt;top val=&quot;266&quot;/&gt;&lt;width val=&quot;80&quot;/&gt;&lt;height val=&quot;39&quot;/&gt;&lt;hasText val=&quot;1&quot;/&gt;&lt;/Image&gt;&lt;/ThreeDShapeInfo&gt;"/>
  <p:tag name="PRESENTER_SHAPETEXTINFO" val="&lt;ShapeTextInfo&gt;&lt;TableIndex row=&quot;-1&quot; col=&quot;-1&quot;&gt;&lt;linesCount val=&quot;1&quot;/&gt;&lt;lineCharCount val=&quot;9&quot;/&gt;&lt;/TableIndex&gt;&lt;/ShapeTextInfo&gt;"/>
</p:tagLst>
</file>

<file path=ppt/tags/tag19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76171AA2-CFC9-47EE-837D-16F78ABECEF5}_16.png&quot;/&gt;&lt;left val=&quot;429&quot;/&gt;&lt;top val=&quot;389&quot;/&gt;&lt;width val=&quot;85&quot;/&gt;&lt;height val=&quot;26&quot;/&gt;&lt;hasText val=&quot;1&quot;/&gt;&lt;/Image&gt;&lt;/ThreeDShapeInfo&gt;"/>
  <p:tag name="PRESENTER_SHAPETEXTINFO" val="&lt;ShapeTextInfo&gt;&lt;TableIndex row=&quot;-1&quot; col=&quot;-1&quot;&gt;&lt;linesCount val=&quot;1&quot;/&gt;&lt;lineCharCount val=&quot;11&quot;/&gt;&lt;/TableIndex&gt;&lt;/ShapeTextInfo&gt;"/>
</p:tagLst>
</file>

<file path=ppt/tags/tag199.xml><?xml version="1.0" encoding="utf-8"?>
<p:tagLst xmlns:a="http://schemas.openxmlformats.org/drawingml/2006/main" xmlns:r="http://schemas.openxmlformats.org/officeDocument/2006/relationships" xmlns:p="http://schemas.openxmlformats.org/presentationml/2006/main">
  <p:tag name="PRESENTER_SHAPEINFO" val="&lt;ThreeDShapeInfo&gt;&lt;uuid val=&quot;{B57CD4AE-5F82-4A04-BE77-FA9618A33302}&quot;/&gt;&lt;isInvalidForFieldText val=&quot;0&quot;/&gt;&lt;Image&gt;&lt;filename val=&quot;C:\Users\sanmi\Documents\My Adobe Presentations\ece552-SharedMemoryCoherence\data\asimages\{B57CD4AE-5F82-4A04-BE77-FA9618A33302}_16.png&quot;/&gt;&lt;left val=&quot;218&quot;/&gt;&lt;top val=&quot;288&quot;/&gt;&lt;width val=&quot;80&quot;/&gt;&lt;height val=&quot;26&quot;/&gt;&lt;hasText val=&quot;1&quot;/&gt;&lt;/Image&gt;&lt;/ThreeDShapeInfo&gt;"/>
  <p:tag name="PRESENTER_SHAPETEXTINFO" val="&lt;ShapeTextInfo&gt;&lt;TableIndex row=&quot;-1&quot; col=&quot;-1&quot;&gt;&lt;linesCount val=&quot;0&quot;/&gt;&lt;/TableIndex&gt;&lt;/ShapeTextInfo&gt;"/>
</p:tagLst>
</file>

<file path=ppt/tags/tag200.xml><?xml version="1.0" encoding="utf-8"?>
<p:tagLst xmlns:a="http://schemas.openxmlformats.org/drawingml/2006/main" xmlns:r="http://schemas.openxmlformats.org/officeDocument/2006/relationships" xmlns:p="http://schemas.openxmlformats.org/presentationml/2006/main">
  <p:tag name="PRESENTER_SHAPEINFO" val="&lt;ThreeDShapeInfo&gt;&lt;uuid val=&quot;{EE255334-FA8D-474E-8773-0DDFAA0B9024}&quot;/&gt;&lt;isInvalidForFieldText val=&quot;0&quot;/&gt;&lt;Image&gt;&lt;filename val=&quot;C:\Users\sanmi\Documents\My Adobe Presentations\ece552-SharedMemoryCoherence\data\asimages\{EE255334-FA8D-474E-8773-0DDFAA0B9024}_16.png&quot;/&gt;&lt;left val=&quot;430&quot;/&gt;&lt;top val=&quot;288&quot;/&gt;&lt;width val=&quot;80&quot;/&gt;&lt;height val=&quot;26&quot;/&gt;&lt;hasText val=&quot;1&quot;/&gt;&lt;/Image&gt;&lt;/ThreeDShapeInfo&gt;"/>
  <p:tag name="PRESENTER_SHAPETEXTINFO" val="&lt;ShapeTextInfo&gt;&lt;TableIndex row=&quot;-1&quot; col=&quot;-1&quot;&gt;&lt;linesCount val=&quot;0&quot;/&gt;&lt;/TableIndex&gt;&lt;/ShapeTextInfo&gt;"/>
</p:tagLst>
</file>

<file path=ppt/tags/tag201.xml><?xml version="1.0" encoding="utf-8"?>
<p:tagLst xmlns:a="http://schemas.openxmlformats.org/drawingml/2006/main" xmlns:r="http://schemas.openxmlformats.org/officeDocument/2006/relationships" xmlns:p="http://schemas.openxmlformats.org/presentationml/2006/main">
  <p:tag name="PRESENTER_SHAPEINFO" val="&lt;ThreeDShapeInfo&gt;&lt;uuid val=&quot;{B4427E68-415F-479B-936D-ED072A7C1AE8}&quot;/&gt;&lt;isInvalidForFieldText val=&quot;0&quot;/&gt;&lt;Image&gt;&lt;filename val=&quot;C:\Users\sanmi\Documents\My Adobe Presentations\ece552-SharedMemoryCoherence\data\asimages\{B4427E68-415F-479B-936D-ED072A7C1AE8}_16.png&quot;/&gt;&lt;left val=&quot;289&quot;/&gt;&lt;top val=&quot;388&quot;/&gt;&lt;width val=&quot;143&quot;/&gt;&lt;height val=&quot;26&quot;/&gt;&lt;hasText val=&quot;1&quot;/&gt;&lt;/Image&gt;&lt;/ThreeDShapeInfo&gt;"/>
  <p:tag name="PRESENTER_SHAPETEXTINFO" val="&lt;ShapeTextInfo&gt;&lt;TableIndex row=&quot;-1&quot; col=&quot;-1&quot;&gt;&lt;linesCount val=&quot;0&quot;/&gt;&lt;/TableIndex&gt;&lt;/ShapeTextInfo&gt;"/>
</p:tagLst>
</file>

<file path=ppt/tags/tag20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81F7360C-2289-4FBB-B921-EC29D9D15265}_16.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1&quot;/&gt;&lt;/TableIndex&gt;&lt;/ShapeTextInfo&gt;"/>
</p:tagLst>
</file>

<file path=ppt/tags/tag203.xml><?xml version="1.0" encoding="utf-8"?>
<p:tagLst xmlns:a="http://schemas.openxmlformats.org/drawingml/2006/main" xmlns:r="http://schemas.openxmlformats.org/officeDocument/2006/relationships" xmlns:p="http://schemas.openxmlformats.org/presentationml/2006/main">
  <p:tag name="PRESENTER_SHAPEINFO" val="&lt;ThreeDShapeInfo&gt;&lt;uuid val=&quot;{5C75A13F-C701-45B4-8E3C-D70D860279F7}&quot;/&gt;&lt;isInvalidForFieldText val=&quot;0&quot;/&gt;&lt;Image&gt;&lt;filename val=&quot;C:\Users\sanmi\Documents\My Adobe Presentations\ece552-SharedMemoryCoherence\data\asimages\{5C75A13F-C701-45B4-8E3C-D70D860279F7}_16.png&quot;/&gt;&lt;left val=&quot;427&quot;/&gt;&lt;top val=&quot;336&quot;/&gt;&lt;width val=&quot;294&quot;/&gt;&lt;height val=&quot;203&quot;/&gt;&lt;hasText val=&quot;1&quot;/&gt;&lt;/Image&gt;&lt;/ThreeDShapeInfo&gt;"/>
</p:tagLst>
</file>

<file path=ppt/tags/tag2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2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2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Lst>
</file>

<file path=ppt/tags/tag2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ShapeTextInfo&gt;"/>
</p:tagLst>
</file>

<file path=ppt/tags/tag2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Lst>
</file>

<file path=ppt/tags/tag2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ShapeTextInfo&gt;"/>
</p:tagLst>
</file>

<file path=ppt/tags/tag2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Lst>
</file>

<file path=ppt/tags/tag215.xml><?xml version="1.0" encoding="utf-8"?>
<p:tagLst xmlns:a="http://schemas.openxmlformats.org/drawingml/2006/main" xmlns:r="http://schemas.openxmlformats.org/officeDocument/2006/relationships" xmlns:p="http://schemas.openxmlformats.org/presentationml/2006/main">
  <p:tag name="HTML_SHAPEINFO" val="&lt;SlideThumbPath val=&quot;Slide17.PNG&quot;/&gt;"/>
  <p:tag name="PPSNARRATION" val="17,883145026,C:\Users\sanmi\GoogleDrive\UWMdrive\Courses\ECE552\ece552-lec18_SharedMemoryCoherence_pptx\Media.ppcx"/>
</p:tagLst>
</file>

<file path=ppt/tags/tag216.xml><?xml version="1.0" encoding="utf-8"?>
<p:tagLst xmlns:a="http://schemas.openxmlformats.org/drawingml/2006/main" xmlns:r="http://schemas.openxmlformats.org/officeDocument/2006/relationships" xmlns:p="http://schemas.openxmlformats.org/presentationml/2006/main">
  <p:tag name="PRESENTER_SHAPEINFO" val="&lt;ThreeDShapeInfo&gt;&lt;uuid val=&quot;{9616621E-F5EE-48AC-885E-EE61FA16B51C}&quot;/&gt;&lt;isInvalidForFieldText val=&quot;0&quot;/&gt;&lt;Image&gt;&lt;filename val=&quot;C:\Users\sanmi\Documents\My Adobe Presentations\ece552-SharedMemoryCoherence\data\asimages\{9616621E-F5EE-48AC-885E-EE61FA16B51C}_17.png&quot;/&gt;&lt;left val=&quot;238&quot;/&gt;&lt;top val=&quot;324&quot;/&gt;&lt;width val=&quot;246&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217.xml><?xml version="1.0" encoding="utf-8"?>
<p:tagLst xmlns:a="http://schemas.openxmlformats.org/drawingml/2006/main" xmlns:r="http://schemas.openxmlformats.org/officeDocument/2006/relationships" xmlns:p="http://schemas.openxmlformats.org/presentationml/2006/main">
  <p:tag name="PRESENTER_SHAPEINFO" val="&lt;ThreeDShapeInfo&gt;&lt;uuid val=&quot;{6263CFF6-1046-4F84-B636-B37DBAE2258D}&quot;/&gt;&lt;isInvalidForFieldText val=&quot;0&quot;/&gt;&lt;Image&gt;&lt;filename val=&quot;C:\Users\sanmi\Documents\My Adobe Presentations\ece552-SharedMemoryCoherence\data\asimages\{6263CFF6-1046-4F84-B636-B37DBAE2258D}_17.png&quot;/&gt;&lt;left val=&quot;230&quot;/&gt;&lt;top val=&quot;222&quot;/&gt;&lt;width val=&quot;57&quot;/&gt;&lt;height val=&quot;46&quot;/&gt;&lt;hasText val=&quot;1&quot;/&gt;&lt;/Image&gt;&lt;/ThreeDShapeInfo&gt;"/>
  <p:tag name="PRESENTER_SHAPETEXTINFO" val="&lt;ShapeTextInfo&gt;&lt;TableIndex row=&quot;-1&quot; col=&quot;-1&quot;&gt;&lt;linesCount val=&quot;1&quot;/&gt;&lt;lineCharCount val=&quot;2&quot;/&gt;&lt;/TableIndex&gt;&lt;/ShapeTextInfo&gt;"/>
</p:tagLst>
</file>

<file path=ppt/tags/tag218.xml><?xml version="1.0" encoding="utf-8"?>
<p:tagLst xmlns:a="http://schemas.openxmlformats.org/drawingml/2006/main" xmlns:r="http://schemas.openxmlformats.org/officeDocument/2006/relationships" xmlns:p="http://schemas.openxmlformats.org/presentationml/2006/main">
  <p:tag name="PRESENTER_SHAPEINFO" val="&lt;ThreeDShapeInfo&gt;&lt;uuid val=&quot;{6CED79AD-FE41-4E44-80E4-8F21F3CC8293}&quot;/&gt;&lt;isInvalidForFieldText val=&quot;0&quot;/&gt;&lt;Image&gt;&lt;filename val=&quot;C:\Users\sanmi\Documents\My Adobe Presentations\ece552-SharedMemoryCoherence\data\asimages\{6CED79AD-FE41-4E44-80E4-8F21F3CC8293}_17.png&quot;/&gt;&lt;left val=&quot;252&quot;/&gt;&lt;top val=&quot;259&quot;/&gt;&lt;width val=&quot;13&quot;/&gt;&lt;height val=&quot;19&quot;/&gt;&lt;hasText val=&quot;1&quot;/&gt;&lt;/Image&gt;&lt;/ThreeDShapeInfo&gt;"/>
</p:tagLst>
</file>

<file path=ppt/tags/tag2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0.xml><?xml version="1.0" encoding="utf-8"?>
<p:tagLst xmlns:a="http://schemas.openxmlformats.org/drawingml/2006/main" xmlns:r="http://schemas.openxmlformats.org/officeDocument/2006/relationships" xmlns:p="http://schemas.openxmlformats.org/presentationml/2006/main">
  <p:tag name="PRESENTER_SHAPEINFO" val="&lt;ThreeDShapeInfo&gt;&lt;uuid val=&quot;{CA4E34FF-EA75-4527-A788-27BEFB552AAF}&quot;/&gt;&lt;isInvalidForFieldText val=&quot;0&quot;/&gt;&lt;Image&gt;&lt;filename val=&quot;C:\Users\sanmi\Documents\My Adobe Presentations\ece552-SharedMemoryCoherence\data\asimages\{CA4E34FF-EA75-4527-A788-27BEFB552AAF}_17.png&quot;/&gt;&lt;left val=&quot;441&quot;/&gt;&lt;top val=&quot;222&quot;/&gt;&lt;width val=&quot;57&quot;/&gt;&lt;height val=&quot;46&quot;/&gt;&lt;hasText val=&quot;1&quot;/&gt;&lt;/Image&gt;&lt;/ThreeDShapeInfo&gt;"/>
  <p:tag name="PRESENTER_SHAPETEXTINFO" val="&lt;ShapeTextInfo&gt;&lt;TableIndex row=&quot;-1&quot; col=&quot;-1&quot;&gt;&lt;linesCount val=&quot;1&quot;/&gt;&lt;lineCharCount val=&quot;2&quot;/&gt;&lt;/TableIndex&gt;&lt;/ShapeTextInfo&gt;"/>
</p:tagLst>
</file>

<file path=ppt/tags/tag221.xml><?xml version="1.0" encoding="utf-8"?>
<p:tagLst xmlns:a="http://schemas.openxmlformats.org/drawingml/2006/main" xmlns:r="http://schemas.openxmlformats.org/officeDocument/2006/relationships" xmlns:p="http://schemas.openxmlformats.org/presentationml/2006/main">
  <p:tag name="PRESENTER_SHAPEINFO" val="&lt;ThreeDShapeInfo&gt;&lt;uuid val=&quot;{4FBC952C-C62F-4CCF-B506-5C8D74E1AA62}&quot;/&gt;&lt;isInvalidForFieldText val=&quot;0&quot;/&gt;&lt;Image&gt;&lt;filename val=&quot;C:\Users\sanmi\Documents\My Adobe Presentations\ece552-SharedMemoryCoherence\data\asimages\{4FBC952C-C62F-4CCF-B506-5C8D74E1AA62}_17.png&quot;/&gt;&lt;left val=&quot;463&quot;/&gt;&lt;top val=&quot;258&quot;/&gt;&lt;width val=&quot;13&quot;/&gt;&lt;height val=&quot;20&quot;/&gt;&lt;hasText val=&quot;1&quot;/&gt;&lt;/Image&gt;&lt;/ThreeDShapeInfo&gt;"/>
</p:tagLst>
</file>

<file path=ppt/tags/tag222.xml><?xml version="1.0" encoding="utf-8"?>
<p:tagLst xmlns:a="http://schemas.openxmlformats.org/drawingml/2006/main" xmlns:r="http://schemas.openxmlformats.org/officeDocument/2006/relationships" xmlns:p="http://schemas.openxmlformats.org/presentationml/2006/main">
  <p:tag name="PRESENTER_SHAPEINFO" val="&lt;ThreeDShapeInfo&gt;&lt;uuid val=&quot;{AE560D61-C7BD-473F-9489-03F68A82AF19}&quot;/&gt;&lt;isInvalidForFieldText val=&quot;0&quot;/&gt;&lt;Image&gt;&lt;filename val=&quot;C:\Users\sanmi\Documents\My Adobe Presentations\ece552-SharedMemoryCoherence\data\asimages\{AE560D61-C7BD-473F-9489-03F68A82AF19}_17.png&quot;/&gt;&lt;left val=&quot;289&quot;/&gt;&lt;top val=&quot;365&quot;/&gt;&lt;width val=&quot;143&quot;/&gt;&lt;height val=&quot;39&quot;/&gt;&lt;hasText val=&quot;1&quot;/&gt;&lt;/Image&gt;&lt;/ThreeDShapeInfo&gt;"/>
  <p:tag name="PRESENTER_SHAPETEXTINFO" val="&lt;ShapeTextInfo&gt;&lt;TableIndex row=&quot;-1&quot; col=&quot;-1&quot;&gt;&lt;linesCount val=&quot;1&quot;/&gt;&lt;lineCharCount val=&quot;4&quot;/&gt;&lt;/TableIndex&gt;&lt;/ShapeTextInfo&gt;"/>
</p:tagLst>
</file>

<file path=ppt/tags/tag2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4.xml><?xml version="1.0" encoding="utf-8"?>
<p:tagLst xmlns:a="http://schemas.openxmlformats.org/drawingml/2006/main" xmlns:r="http://schemas.openxmlformats.org/officeDocument/2006/relationships" xmlns:p="http://schemas.openxmlformats.org/presentationml/2006/main">
  <p:tag name="PRESENTER_SHAPEINFO" val="&lt;ThreeDShapeInfo&gt;&lt;uuid val=&quot;{41A564A3-9D08-40B2-AFAC-71EE91254DC4}&quot;/&gt;&lt;isInvalidForFieldText val=&quot;0&quot;/&gt;&lt;Image&gt;&lt;filename val=&quot;C:\Users\sanmi\Documents\My Adobe Presentations\ece552-SharedMemoryCoherence\data\asimages\{41A564A3-9D08-40B2-AFAC-71EE91254DC4}_17.png&quot;/&gt;&lt;left val=&quot;212&quot;/&gt;&lt;top val=&quot;266&quot;/&gt;&lt;width val=&quot;92&quot;/&gt;&lt;height val=&quot;38&quot;/&gt;&lt;hasText val=&quot;1&quot;/&gt;&lt;/Image&gt;&lt;/ThreeDShapeInfo&gt;"/>
  <p:tag name="PRESENTER_SHAPETEXTINFO" val="&lt;ShapeTextInfo&gt;&lt;TableIndex row=&quot;-1&quot; col=&quot;-1&quot;&gt;&lt;linesCount val=&quot;1&quot;/&gt;&lt;lineCharCount val=&quot;12&quot;/&gt;&lt;/TableIndex&gt;&lt;/ShapeTextInfo&gt;"/>
</p:tagLst>
</file>

<file path=ppt/tags/tag225.xml><?xml version="1.0" encoding="utf-8"?>
<p:tagLst xmlns:a="http://schemas.openxmlformats.org/drawingml/2006/main" xmlns:r="http://schemas.openxmlformats.org/officeDocument/2006/relationships" xmlns:p="http://schemas.openxmlformats.org/presentationml/2006/main">
  <p:tag name="PRESENTER_SHAPEINFO" val="&lt;ThreeDShapeInfo&gt;&lt;uuid val=&quot;{C08EE394-61CF-4200-BBFE-6FE6C062C079}&quot;/&gt;&lt;isInvalidForFieldText val=&quot;0&quot;/&gt;&lt;Image&gt;&lt;filename val=&quot;C:\Users\sanmi\Documents\My Adobe Presentations\ece552-SharedMemoryCoherence\data\asimages\{C08EE394-61CF-4200-BBFE-6FE6C062C079}_17.png&quot;/&gt;&lt;left val=&quot;430&quot;/&gt;&lt;top val=&quot;266&quot;/&gt;&lt;width val=&quot;80&quot;/&gt;&lt;height val=&quot;39&quot;/&gt;&lt;hasText val=&quot;1&quot;/&gt;&lt;/Image&gt;&lt;/ThreeDShapeInfo&gt;"/>
  <p:tag name="PRESENTER_SHAPETEXTINFO" val="&lt;ShapeTextInfo&gt;&lt;TableIndex row=&quot;-1&quot; col=&quot;-1&quot;&gt;&lt;linesCount val=&quot;1&quot;/&gt;&lt;lineCharCount val=&quot;9&quot;/&gt;&lt;/TableIndex&gt;&lt;/ShapeTextInfo&gt;"/>
</p:tagLst>
</file>

<file path=ppt/tags/tag22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CEDECF1F-8AA6-4199-8ED3-D6185266D51C}_17.png&quot;/&gt;&lt;left val=&quot;429&quot;/&gt;&lt;top val=&quot;389&quot;/&gt;&lt;width val=&quot;85&quot;/&gt;&lt;height val=&quot;26&quot;/&gt;&lt;hasText val=&quot;1&quot;/&gt;&lt;/Image&gt;&lt;/ThreeDShapeInfo&gt;"/>
  <p:tag name="PRESENTER_SHAPETEXTINFO" val="&lt;ShapeTextInfo&gt;&lt;TableIndex row=&quot;-1&quot; col=&quot;-1&quot;&gt;&lt;linesCount val=&quot;1&quot;/&gt;&lt;lineCharCount val=&quot;11&quot;/&gt;&lt;/TableIndex&gt;&lt;/ShapeTextInfo&gt;"/>
</p:tagLst>
</file>

<file path=ppt/tags/tag227.xml><?xml version="1.0" encoding="utf-8"?>
<p:tagLst xmlns:a="http://schemas.openxmlformats.org/drawingml/2006/main" xmlns:r="http://schemas.openxmlformats.org/officeDocument/2006/relationships" xmlns:p="http://schemas.openxmlformats.org/presentationml/2006/main">
  <p:tag name="PRESENTER_SHAPEINFO" val="&lt;ThreeDShapeInfo&gt;&lt;uuid val=&quot;{BC203D10-5EE9-4363-83F6-9D21F0968EBA}&quot;/&gt;&lt;isInvalidForFieldText val=&quot;0&quot;/&gt;&lt;Image&gt;&lt;filename val=&quot;C:\Users\sanmi\Documents\My Adobe Presentations\ece552-SharedMemoryCoherence\data\asimages\{BC203D10-5EE9-4363-83F6-9D21F0968EBA}_17.png&quot;/&gt;&lt;left val=&quot;218&quot;/&gt;&lt;top val=&quot;288&quot;/&gt;&lt;width val=&quot;80&quot;/&gt;&lt;height val=&quot;26&quot;/&gt;&lt;hasText val=&quot;1&quot;/&gt;&lt;/Image&gt;&lt;/ThreeDShapeInfo&gt;"/>
  <p:tag name="PRESENTER_SHAPETEXTINFO" val="&lt;ShapeTextInfo&gt;&lt;TableIndex row=&quot;-1&quot; col=&quot;-1&quot;&gt;&lt;linesCount val=&quot;0&quot;/&gt;&lt;/TableIndex&gt;&lt;/ShapeTextInfo&gt;"/>
</p:tagLst>
</file>

<file path=ppt/tags/tag228.xml><?xml version="1.0" encoding="utf-8"?>
<p:tagLst xmlns:a="http://schemas.openxmlformats.org/drawingml/2006/main" xmlns:r="http://schemas.openxmlformats.org/officeDocument/2006/relationships" xmlns:p="http://schemas.openxmlformats.org/presentationml/2006/main">
  <p:tag name="PRESENTER_SHAPEINFO" val="&lt;ThreeDShapeInfo&gt;&lt;uuid val=&quot;{80BAAEC4-1541-43C1-BF26-5ED7399D8C6E}&quot;/&gt;&lt;isInvalidForFieldText val=&quot;0&quot;/&gt;&lt;Image&gt;&lt;filename val=&quot;C:\Users\sanmi\Documents\My Adobe Presentations\ece552-SharedMemoryCoherence\data\asimages\{80BAAEC4-1541-43C1-BF26-5ED7399D8C6E}_17.png&quot;/&gt;&lt;left val=&quot;430&quot;/&gt;&lt;top val=&quot;288&quot;/&gt;&lt;width val=&quot;80&quot;/&gt;&lt;height val=&quot;26&quot;/&gt;&lt;hasText val=&quot;1&quot;/&gt;&lt;/Image&gt;&lt;/ThreeDShapeInfo&gt;"/>
  <p:tag name="PRESENTER_SHAPETEXTINFO" val="&lt;ShapeTextInfo&gt;&lt;TableIndex row=&quot;-1&quot; col=&quot;-1&quot;&gt;&lt;linesCount val=&quot;0&quot;/&gt;&lt;/TableIndex&gt;&lt;/ShapeTextInfo&gt;"/>
</p:tagLst>
</file>

<file path=ppt/tags/tag229.xml><?xml version="1.0" encoding="utf-8"?>
<p:tagLst xmlns:a="http://schemas.openxmlformats.org/drawingml/2006/main" xmlns:r="http://schemas.openxmlformats.org/officeDocument/2006/relationships" xmlns:p="http://schemas.openxmlformats.org/presentationml/2006/main">
  <p:tag name="PRESENTER_SHAPEINFO" val="&lt;ThreeDShapeInfo&gt;&lt;uuid val=&quot;{EEBD29A5-0B3C-4EE0-B94C-EDAB26ABD6BE}&quot;/&gt;&lt;isInvalidForFieldText val=&quot;0&quot;/&gt;&lt;Image&gt;&lt;filename val=&quot;C:\Users\sanmi\Documents\My Adobe Presentations\ece552-SharedMemoryCoherence\data\asimages\{EEBD29A5-0B3C-4EE0-B94C-EDAB26ABD6BE}_17.png&quot;/&gt;&lt;left val=&quot;289&quot;/&gt;&lt;top val=&quot;388&quot;/&gt;&lt;width val=&quot;143&quot;/&gt;&lt;height val=&quot;26&quot;/&gt;&lt;hasText val=&quot;1&quot;/&gt;&lt;/Image&gt;&lt;/ThreeDShapeInfo&gt;"/>
  <p:tag name="PRESENTER_SHAPETEXTINFO" val="&lt;ShapeTextInfo&gt;&lt;TableIndex row=&quot;-1&quot; col=&quot;-1&quot;&gt;&lt;linesCount val=&quot;0&quot;/&gt;&lt;/TableIndex&gt;&lt;/ShapeTextInfo&gt;"/>
</p:tagLst>
</file>

<file path=ppt/tags/tag23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AB9ECEA8-002F-4B3C-9647-7796F71B22CB}_17.png&quot;/&gt;&lt;left val=&quot;136&quot;/&gt;&lt;top val=&quot;229&quot;/&gt;&lt;width val=&quot;98&quot;/&gt;&lt;height val=&quot;32&quot;/&gt;&lt;hasText val=&quot;1&quot;/&gt;&lt;/Image&gt;&lt;/ThreeDShapeInfo&gt;"/>
  <p:tag name="PRESENTER_SHAPETEXTINFO" val="&lt;ShapeTextInfo&gt;&lt;TableIndex row=&quot;-1&quot; col=&quot;-1&quot;&gt;&lt;linesCount val=&quot;1&quot;/&gt;&lt;lineCharCount val=&quot;13&quot;/&gt;&lt;/TableIndex&gt;&lt;/ShapeTextInfo&gt;"/>
</p:tagLst>
</file>

<file path=ppt/tags/tag23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3FC5FFD7-DB9C-47DF-914A-B640FE5D40AE}_17.png&quot;/&gt;&lt;left val=&quot;142&quot;/&gt;&lt;top val=&quot;333&quot;/&gt;&lt;width val=&quot;96&quot;/&gt;&lt;height val=&quot;32&quot;/&gt;&lt;hasText val=&quot;1&quot;/&gt;&lt;/Image&gt;&lt;/ThreeDShapeInfo&gt;"/>
  <p:tag name="PRESENTER_SHAPETEXTINFO" val="&lt;ShapeTextInfo&gt;&lt;TableIndex row=&quot;-1&quot; col=&quot;-1&quot;&gt;&lt;linesCount val=&quot;1&quot;/&gt;&lt;lineCharCount val=&quot;12&quot;/&gt;&lt;/TableIndex&gt;&lt;/ShapeTextInfo&gt;"/>
</p:tagLst>
</file>

<file path=ppt/tags/tag23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307EFA39-8A90-4E5E-8111-F3F9E49A328A}_17.png&quot;/&gt;&lt;left val=&quot;192&quot;/&gt;&lt;top val=&quot;377&quot;/&gt;&lt;width val=&quot;106&quot;/&gt;&lt;height val=&quot;32&quot;/&gt;&lt;hasText val=&quot;1&quot;/&gt;&lt;/Image&gt;&lt;/ThreeDShapeInfo&gt;"/>
  <p:tag name="PRESENTER_SHAPETEXTINFO" val="&lt;ShapeTextInfo&gt;&lt;TableIndex row=&quot;-1&quot; col=&quot;-1&quot;&gt;&lt;linesCount val=&quot;1&quot;/&gt;&lt;lineCharCount val=&quot;14&quot;/&gt;&lt;/TableIndex&gt;&lt;/ShapeTextInfo&gt;"/>
</p:tagLst>
</file>

<file path=ppt/tags/tag23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154E626-62B2-4896-8149-73EFC0B0CD3A}_17.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1&quot;/&gt;&lt;/TableIndex&gt;&lt;/ShapeTextInfo&gt;"/>
</p:tagLst>
</file>

<file path=ppt/tags/tag234.xml><?xml version="1.0" encoding="utf-8"?>
<p:tagLst xmlns:a="http://schemas.openxmlformats.org/drawingml/2006/main" xmlns:r="http://schemas.openxmlformats.org/officeDocument/2006/relationships" xmlns:p="http://schemas.openxmlformats.org/presentationml/2006/main">
  <p:tag name="PRESENTER_SHAPEINFO" val="&lt;ThreeDShapeInfo&gt;&lt;uuid val=&quot;{845463B3-C8DF-4C1C-BE1F-96D6027FC1DB}&quot;/&gt;&lt;isInvalidForFieldText val=&quot;0&quot;/&gt;&lt;Image&gt;&lt;filename val=&quot;C:\Users\sanmi\Documents\My Adobe Presentations\ece552-SharedMemoryCoherence\data\asimages\{845463B3-C8DF-4C1C-BE1F-96D6027FC1DB}_17.png&quot;/&gt;&lt;left val=&quot;427&quot;/&gt;&lt;top val=&quot;336&quot;/&gt;&lt;width val=&quot;294&quot;/&gt;&lt;height val=&quot;203&quot;/&gt;&lt;hasText val=&quot;1&quot;/&gt;&lt;/Image&gt;&lt;/ThreeDShapeInfo&gt;"/>
</p:tagLst>
</file>

<file path=ppt/tags/tag2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2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2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Lst>
</file>

<file path=ppt/tags/tag2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ShapeTextInfo&gt;"/>
</p:tagLst>
</file>

<file path=ppt/tags/tag2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Lst>
</file>

<file path=ppt/tags/tag2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ShapeTextInfo&gt;"/>
</p:tagLst>
</file>

<file path=ppt/tags/tag2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Lst>
</file>

<file path=ppt/tags/tag246.xml><?xml version="1.0" encoding="utf-8"?>
<p:tagLst xmlns:a="http://schemas.openxmlformats.org/drawingml/2006/main" xmlns:r="http://schemas.openxmlformats.org/officeDocument/2006/relationships" xmlns:p="http://schemas.openxmlformats.org/presentationml/2006/main">
  <p:tag name="HTML_SHAPEINFO" val="&lt;SlideThumbPath val=&quot;Slide18.PNG&quot;/&gt;"/>
  <p:tag name="PPSNARRATION" val="18,883145026,C:\Users\sanmi\GoogleDrive\UWMdrive\Courses\ECE552\ece552-lec18_SharedMemoryCoherence_pptx\Media.ppcx"/>
</p:tagLst>
</file>

<file path=ppt/tags/tag247.xml><?xml version="1.0" encoding="utf-8"?>
<p:tagLst xmlns:a="http://schemas.openxmlformats.org/drawingml/2006/main" xmlns:r="http://schemas.openxmlformats.org/officeDocument/2006/relationships" xmlns:p="http://schemas.openxmlformats.org/presentationml/2006/main">
  <p:tag name="PRESENTER_SHAPEINFO" val="&lt;ThreeDShapeInfo&gt;&lt;uuid val=&quot;{3F843897-4C78-436E-83A5-3D656F03AC74}&quot;/&gt;&lt;isInvalidForFieldText val=&quot;0&quot;/&gt;&lt;Image&gt;&lt;filename val=&quot;C:\Users\sanmi\Documents\My Adobe Presentations\ece552-SharedMemoryCoherence\data\asimages\{3F843897-4C78-436E-83A5-3D656F03AC74}_18.png&quot;/&gt;&lt;left val=&quot;238&quot;/&gt;&lt;top val=&quot;324&quot;/&gt;&lt;width val=&quot;246&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248.xml><?xml version="1.0" encoding="utf-8"?>
<p:tagLst xmlns:a="http://schemas.openxmlformats.org/drawingml/2006/main" xmlns:r="http://schemas.openxmlformats.org/officeDocument/2006/relationships" xmlns:p="http://schemas.openxmlformats.org/presentationml/2006/main">
  <p:tag name="PRESENTER_SHAPEINFO" val="&lt;ThreeDShapeInfo&gt;&lt;uuid val=&quot;{66A5AB2C-B9B9-4713-989D-D67C512D77C2}&quot;/&gt;&lt;isInvalidForFieldText val=&quot;0&quot;/&gt;&lt;Image&gt;&lt;filename val=&quot;C:\Users\sanmi\Documents\My Adobe Presentations\ece552-SharedMemoryCoherence\data\asimages\{66A5AB2C-B9B9-4713-989D-D67C512D77C2}_18.png&quot;/&gt;&lt;left val=&quot;230&quot;/&gt;&lt;top val=&quot;222&quot;/&gt;&lt;width val=&quot;57&quot;/&gt;&lt;height val=&quot;46&quot;/&gt;&lt;hasText val=&quot;1&quot;/&gt;&lt;/Image&gt;&lt;/ThreeDShapeInfo&gt;"/>
  <p:tag name="PRESENTER_SHAPETEXTINFO" val="&lt;ShapeTextInfo&gt;&lt;TableIndex row=&quot;-1&quot; col=&quot;-1&quot;&gt;&lt;linesCount val=&quot;1&quot;/&gt;&lt;lineCharCount val=&quot;2&quot;/&gt;&lt;/TableIndex&gt;&lt;/ShapeTextInfo&gt;"/>
</p:tagLst>
</file>

<file path=ppt/tags/tag249.xml><?xml version="1.0" encoding="utf-8"?>
<p:tagLst xmlns:a="http://schemas.openxmlformats.org/drawingml/2006/main" xmlns:r="http://schemas.openxmlformats.org/officeDocument/2006/relationships" xmlns:p="http://schemas.openxmlformats.org/presentationml/2006/main">
  <p:tag name="PRESENTER_SHAPEINFO" val="&lt;ThreeDShapeInfo&gt;&lt;uuid val=&quot;{20D4F305-5ED9-4689-BB9D-91AD0D8FC85F}&quot;/&gt;&lt;isInvalidForFieldText val=&quot;0&quot;/&gt;&lt;Image&gt;&lt;filename val=&quot;C:\Users\sanmi\Documents\My Adobe Presentations\ece552-SharedMemoryCoherence\data\asimages\{20D4F305-5ED9-4689-BB9D-91AD0D8FC85F}_18.png&quot;/&gt;&lt;left val=&quot;252&quot;/&gt;&lt;top val=&quot;259&quot;/&gt;&lt;width val=&quot;13&quot;/&gt;&lt;height val=&quot;19&quot;/&gt;&lt;hasText val=&quot;1&quot;/&gt;&lt;/Image&gt;&lt;/ThreeDShapeInfo&gt;"/>
</p:tagLst>
</file>

<file path=ppt/tags/tag2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1.xml><?xml version="1.0" encoding="utf-8"?>
<p:tagLst xmlns:a="http://schemas.openxmlformats.org/drawingml/2006/main" xmlns:r="http://schemas.openxmlformats.org/officeDocument/2006/relationships" xmlns:p="http://schemas.openxmlformats.org/presentationml/2006/main">
  <p:tag name="PRESENTER_SHAPEINFO" val="&lt;ThreeDShapeInfo&gt;&lt;uuid val=&quot;{8A6028DD-6137-44FA-B5E4-8A73D75E7513}&quot;/&gt;&lt;isInvalidForFieldText val=&quot;0&quot;/&gt;&lt;Image&gt;&lt;filename val=&quot;C:\Users\sanmi\Documents\My Adobe Presentations\ece552-SharedMemoryCoherence\data\asimages\{8A6028DD-6137-44FA-B5E4-8A73D75E7513}_18.png&quot;/&gt;&lt;left val=&quot;441&quot;/&gt;&lt;top val=&quot;222&quot;/&gt;&lt;width val=&quot;57&quot;/&gt;&lt;height val=&quot;46&quot;/&gt;&lt;hasText val=&quot;1&quot;/&gt;&lt;/Image&gt;&lt;/ThreeDShapeInfo&gt;"/>
  <p:tag name="PRESENTER_SHAPETEXTINFO" val="&lt;ShapeTextInfo&gt;&lt;TableIndex row=&quot;-1&quot; col=&quot;-1&quot;&gt;&lt;linesCount val=&quot;1&quot;/&gt;&lt;lineCharCount val=&quot;2&quot;/&gt;&lt;/TableIndex&gt;&lt;/ShapeTextInfo&gt;"/>
</p:tagLst>
</file>

<file path=ppt/tags/tag252.xml><?xml version="1.0" encoding="utf-8"?>
<p:tagLst xmlns:a="http://schemas.openxmlformats.org/drawingml/2006/main" xmlns:r="http://schemas.openxmlformats.org/officeDocument/2006/relationships" xmlns:p="http://schemas.openxmlformats.org/presentationml/2006/main">
  <p:tag name="PRESENTER_SHAPEINFO" val="&lt;ThreeDShapeInfo&gt;&lt;uuid val=&quot;{F046F45A-96D6-4EC6-8AD7-D8833A98A1B7}&quot;/&gt;&lt;isInvalidForFieldText val=&quot;0&quot;/&gt;&lt;Image&gt;&lt;filename val=&quot;C:\Users\sanmi\Documents\My Adobe Presentations\ece552-SharedMemoryCoherence\data\asimages\{F046F45A-96D6-4EC6-8AD7-D8833A98A1B7}_18.png&quot;/&gt;&lt;left val=&quot;463&quot;/&gt;&lt;top val=&quot;258&quot;/&gt;&lt;width val=&quot;13&quot;/&gt;&lt;height val=&quot;20&quot;/&gt;&lt;hasText val=&quot;1&quot;/&gt;&lt;/Image&gt;&lt;/ThreeDShapeInfo&gt;"/>
</p:tagLst>
</file>

<file path=ppt/tags/tag253.xml><?xml version="1.0" encoding="utf-8"?>
<p:tagLst xmlns:a="http://schemas.openxmlformats.org/drawingml/2006/main" xmlns:r="http://schemas.openxmlformats.org/officeDocument/2006/relationships" xmlns:p="http://schemas.openxmlformats.org/presentationml/2006/main">
  <p:tag name="PRESENTER_SHAPEINFO" val="&lt;ThreeDShapeInfo&gt;&lt;uuid val=&quot;{3AD19284-AB3D-424D-BB69-F38F8A5E78D3}&quot;/&gt;&lt;isInvalidForFieldText val=&quot;0&quot;/&gt;&lt;Image&gt;&lt;filename val=&quot;C:\Users\sanmi\Documents\My Adobe Presentations\ece552-SharedMemoryCoherence\data\asimages\{3AD19284-AB3D-424D-BB69-F38F8A5E78D3}_18.png&quot;/&gt;&lt;left val=&quot;289&quot;/&gt;&lt;top val=&quot;365&quot;/&gt;&lt;width val=&quot;143&quot;/&gt;&lt;height val=&quot;39&quot;/&gt;&lt;hasText val=&quot;1&quot;/&gt;&lt;/Image&gt;&lt;/ThreeDShapeInfo&gt;"/>
  <p:tag name="PRESENTER_SHAPETEXTINFO" val="&lt;ShapeTextInfo&gt;&lt;TableIndex row=&quot;-1&quot; col=&quot;-1&quot;&gt;&lt;linesCount val=&quot;1&quot;/&gt;&lt;lineCharCount val=&quot;4&quot;/&gt;&lt;/TableIndex&gt;&lt;/ShapeTextInfo&gt;"/>
</p:tagLst>
</file>

<file path=ppt/tags/tag2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5.xml><?xml version="1.0" encoding="utf-8"?>
<p:tagLst xmlns:a="http://schemas.openxmlformats.org/drawingml/2006/main" xmlns:r="http://schemas.openxmlformats.org/officeDocument/2006/relationships" xmlns:p="http://schemas.openxmlformats.org/presentationml/2006/main">
  <p:tag name="PRESENTER_SHAPEINFO" val="&lt;ThreeDShapeInfo&gt;&lt;uuid val=&quot;{DA49010C-9ED6-4294-B510-7DC3E42D2075}&quot;/&gt;&lt;isInvalidForFieldText val=&quot;0&quot;/&gt;&lt;Image&gt;&lt;filename val=&quot;C:\Users\sanmi\Documents\My Adobe Presentations\ece552-SharedMemoryCoherence\data\asimages\{DA49010C-9ED6-4294-B510-7DC3E42D2075}_18.png&quot;/&gt;&lt;left val=&quot;212&quot;/&gt;&lt;top val=&quot;266&quot;/&gt;&lt;width val=&quot;92&quot;/&gt;&lt;height val=&quot;38&quot;/&gt;&lt;hasText val=&quot;1&quot;/&gt;&lt;/Image&gt;&lt;/ThreeDShapeInfo&gt;"/>
  <p:tag name="PRESENTER_SHAPETEXTINFO" val="&lt;ShapeTextInfo&gt;&lt;TableIndex row=&quot;-1&quot; col=&quot;-1&quot;&gt;&lt;linesCount val=&quot;1&quot;/&gt;&lt;lineCharCount val=&quot;12&quot;/&gt;&lt;/TableIndex&gt;&lt;/ShapeTextInfo&gt;"/>
</p:tagLst>
</file>

<file path=ppt/tags/tag256.xml><?xml version="1.0" encoding="utf-8"?>
<p:tagLst xmlns:a="http://schemas.openxmlformats.org/drawingml/2006/main" xmlns:r="http://schemas.openxmlformats.org/officeDocument/2006/relationships" xmlns:p="http://schemas.openxmlformats.org/presentationml/2006/main">
  <p:tag name="PRESENTER_SHAPEINFO" val="&lt;ThreeDShapeInfo&gt;&lt;uuid val=&quot;{E7B2177D-66B0-4579-B653-42123F1BD8F2}&quot;/&gt;&lt;isInvalidForFieldText val=&quot;0&quot;/&gt;&lt;Image&gt;&lt;filename val=&quot;C:\Users\sanmi\Documents\My Adobe Presentations\ece552-SharedMemoryCoherence\data\asimages\{E7B2177D-66B0-4579-B653-42123F1BD8F2}_18.png&quot;/&gt;&lt;left val=&quot;430&quot;/&gt;&lt;top val=&quot;266&quot;/&gt;&lt;width val=&quot;80&quot;/&gt;&lt;height val=&quot;39&quot;/&gt;&lt;hasText val=&quot;1&quot;/&gt;&lt;/Image&gt;&lt;/ThreeDShapeInfo&gt;"/>
  <p:tag name="PRESENTER_SHAPETEXTINFO" val="&lt;ShapeTextInfo&gt;&lt;TableIndex row=&quot;-1&quot; col=&quot;-1&quot;&gt;&lt;linesCount val=&quot;1&quot;/&gt;&lt;lineCharCount val=&quot;9&quot;/&gt;&lt;/TableIndex&gt;&lt;/ShapeTextInfo&gt;"/>
</p:tagLst>
</file>

<file path=ppt/tags/tag25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3F5A12F0-76F1-4F2E-8881-26781685ADC8}_18.png&quot;/&gt;&lt;left val=&quot;429&quot;/&gt;&lt;top val=&quot;389&quot;/&gt;&lt;width val=&quot;85&quot;/&gt;&lt;height val=&quot;26&quot;/&gt;&lt;hasText val=&quot;1&quot;/&gt;&lt;/Image&gt;&lt;/ThreeDShapeInfo&gt;"/>
  <p:tag name="PRESENTER_SHAPETEXTINFO" val="&lt;ShapeTextInfo&gt;&lt;TableIndex row=&quot;-1&quot; col=&quot;-1&quot;&gt;&lt;linesCount val=&quot;1&quot;/&gt;&lt;lineCharCount val=&quot;11&quot;/&gt;&lt;/TableIndex&gt;&lt;/ShapeTextInfo&gt;"/>
</p:tagLst>
</file>

<file path=ppt/tags/tag258.xml><?xml version="1.0" encoding="utf-8"?>
<p:tagLst xmlns:a="http://schemas.openxmlformats.org/drawingml/2006/main" xmlns:r="http://schemas.openxmlformats.org/officeDocument/2006/relationships" xmlns:p="http://schemas.openxmlformats.org/presentationml/2006/main">
  <p:tag name="PRESENTER_SHAPEINFO" val="&lt;ThreeDShapeInfo&gt;&lt;uuid val=&quot;{B2791AB6-55C5-4556-B61B-9C10A6C8F71C}&quot;/&gt;&lt;isInvalidForFieldText val=&quot;0&quot;/&gt;&lt;Image&gt;&lt;filename val=&quot;C:\Users\sanmi\Documents\My Adobe Presentations\ece552-SharedMemoryCoherence\data\asimages\{B2791AB6-55C5-4556-B61B-9C10A6C8F71C}_18.png&quot;/&gt;&lt;left val=&quot;218&quot;/&gt;&lt;top val=&quot;288&quot;/&gt;&lt;width val=&quot;80&quot;/&gt;&lt;height val=&quot;26&quot;/&gt;&lt;hasText val=&quot;1&quot;/&gt;&lt;/Image&gt;&lt;/ThreeDShapeInfo&gt;"/>
  <p:tag name="PRESENTER_SHAPETEXTINFO" val="&lt;ShapeTextInfo&gt;&lt;TableIndex row=&quot;-1&quot; col=&quot;-1&quot;&gt;&lt;linesCount val=&quot;0&quot;/&gt;&lt;/TableIndex&gt;&lt;/ShapeTextInfo&gt;"/>
</p:tagLst>
</file>

<file path=ppt/tags/tag259.xml><?xml version="1.0" encoding="utf-8"?>
<p:tagLst xmlns:a="http://schemas.openxmlformats.org/drawingml/2006/main" xmlns:r="http://schemas.openxmlformats.org/officeDocument/2006/relationships" xmlns:p="http://schemas.openxmlformats.org/presentationml/2006/main">
  <p:tag name="PRESENTER_SHAPEINFO" val="&lt;ThreeDShapeInfo&gt;&lt;uuid val=&quot;{2D4E8F47-1127-4A37-A109-39CE92B841B3}&quot;/&gt;&lt;isInvalidForFieldText val=&quot;0&quot;/&gt;&lt;Image&gt;&lt;filename val=&quot;C:\Users\sanmi\Documents\My Adobe Presentations\ece552-SharedMemoryCoherence\data\asimages\{2D4E8F47-1127-4A37-A109-39CE92B841B3}_18.png&quot;/&gt;&lt;left val=&quot;430&quot;/&gt;&lt;top val=&quot;288&quot;/&gt;&lt;width val=&quot;80&quot;/&gt;&lt;height val=&quot;26&quot;/&gt;&lt;hasText val=&quot;1&quot;/&gt;&lt;/Image&gt;&lt;/ThreeDShapeInfo&gt;"/>
  <p:tag name="PRESENTER_SHAPETEXTINFO" val="&lt;ShapeTextInfo&gt;&lt;TableIndex row=&quot;-1&quot; col=&quot;-1&quot;&gt;&lt;linesCount val=&quot;0&quot;/&gt;&lt;/TableIndex&gt;&lt;/ShapeTextInfo&gt;"/>
</p:tagLst>
</file>

<file path=ppt/tags/tag260.xml><?xml version="1.0" encoding="utf-8"?>
<p:tagLst xmlns:a="http://schemas.openxmlformats.org/drawingml/2006/main" xmlns:r="http://schemas.openxmlformats.org/officeDocument/2006/relationships" xmlns:p="http://schemas.openxmlformats.org/presentationml/2006/main">
  <p:tag name="PRESENTER_SHAPEINFO" val="&lt;ThreeDShapeInfo&gt;&lt;uuid val=&quot;{D4F9FACE-1E5A-4C22-9746-A7088F8292D5}&quot;/&gt;&lt;isInvalidForFieldText val=&quot;0&quot;/&gt;&lt;Image&gt;&lt;filename val=&quot;C:\Users\sanmi\Documents\My Adobe Presentations\ece552-SharedMemoryCoherence\data\asimages\{D4F9FACE-1E5A-4C22-9746-A7088F8292D5}_18.png&quot;/&gt;&lt;left val=&quot;289&quot;/&gt;&lt;top val=&quot;388&quot;/&gt;&lt;width val=&quot;143&quot;/&gt;&lt;height val=&quot;26&quot;/&gt;&lt;hasText val=&quot;1&quot;/&gt;&lt;/Image&gt;&lt;/ThreeDShapeInfo&gt;"/>
  <p:tag name="PRESENTER_SHAPETEXTINFO" val="&lt;ShapeTextInfo&gt;&lt;TableIndex row=&quot;-1&quot; col=&quot;-1&quot;&gt;&lt;linesCount val=&quot;0&quot;/&gt;&lt;/TableIndex&gt;&lt;/ShapeTextInfo&gt;"/>
</p:tagLst>
</file>

<file path=ppt/tags/tag26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5C057C4-819E-4546-A646-1EC75F730B31}_18.png&quot;/&gt;&lt;left val=&quot;136&quot;/&gt;&lt;top val=&quot;229&quot;/&gt;&lt;width val=&quot;98&quot;/&gt;&lt;height val=&quot;32&quot;/&gt;&lt;hasText val=&quot;1&quot;/&gt;&lt;/Image&gt;&lt;/ThreeDShapeInfo&gt;"/>
  <p:tag name="PRESENTER_SHAPETEXTINFO" val="&lt;ShapeTextInfo&gt;&lt;TableIndex row=&quot;-1&quot; col=&quot;-1&quot;&gt;&lt;linesCount val=&quot;1&quot;/&gt;&lt;lineCharCount val=&quot;13&quot;/&gt;&lt;/TableIndex&gt;&lt;/ShapeTextInfo&gt;"/>
</p:tagLst>
</file>

<file path=ppt/tags/tag26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72FB9296-48D1-43F2-9E64-2EC0849B701A}_18.png&quot;/&gt;&lt;left val=&quot;142&quot;/&gt;&lt;top val=&quot;333&quot;/&gt;&lt;width val=&quot;96&quot;/&gt;&lt;height val=&quot;32&quot;/&gt;&lt;hasText val=&quot;1&quot;/&gt;&lt;/Image&gt;&lt;/ThreeDShapeInfo&gt;"/>
  <p:tag name="PRESENTER_SHAPETEXTINFO" val="&lt;ShapeTextInfo&gt;&lt;TableIndex row=&quot;-1&quot; col=&quot;-1&quot;&gt;&lt;linesCount val=&quot;1&quot;/&gt;&lt;lineCharCount val=&quot;12&quot;/&gt;&lt;/TableIndex&gt;&lt;/ShapeTextInfo&gt;"/>
</p:tagLst>
</file>

<file path=ppt/tags/tag26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5007D42-58C4-4448-B743-9E4D80353ADC}_18.png&quot;/&gt;&lt;left val=&quot;192&quot;/&gt;&lt;top val=&quot;377&quot;/&gt;&lt;width val=&quot;106&quot;/&gt;&lt;height val=&quot;32&quot;/&gt;&lt;hasText val=&quot;1&quot;/&gt;&lt;/Image&gt;&lt;/ThreeDShapeInfo&gt;"/>
  <p:tag name="PRESENTER_SHAPETEXTINFO" val="&lt;ShapeTextInfo&gt;&lt;TableIndex row=&quot;-1&quot; col=&quot;-1&quot;&gt;&lt;linesCount val=&quot;1&quot;/&gt;&lt;lineCharCount val=&quot;14&quot;/&gt;&lt;/TableIndex&gt;&lt;/ShapeTextInfo&gt;"/>
</p:tagLst>
</file>

<file path=ppt/tags/tag26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D20B13F-824D-4935-8A7D-D905BFDAE843}_18.png&quot;/&gt;&lt;left val=&quot;136&quot;/&gt;&lt;top val=&quot;243&quot;/&gt;&lt;width val=&quot;98&quot;/&gt;&lt;height val=&quot;32&quot;/&gt;&lt;hasText val=&quot;1&quot;/&gt;&lt;/Image&gt;&lt;/ThreeDShapeInfo&gt;"/>
  <p:tag name="PRESENTER_SHAPETEXTINFO" val="&lt;ShapeTextInfo&gt;&lt;TableIndex row=&quot;-1&quot; col=&quot;-1&quot;&gt;&lt;linesCount val=&quot;1&quot;/&gt;&lt;lineCharCount val=&quot;13&quot;/&gt;&lt;/TableIndex&gt;&lt;/ShapeTextInfo&gt;"/>
</p:tagLst>
</file>

<file path=ppt/tags/tag26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CB51F005-521C-4BA3-8A3B-7506297B3FC3}_18.png&quot;/&gt;&lt;left val=&quot;93&quot;/&gt;&lt;top val=&quot;257&quot;/&gt;&lt;width val=&quot;133&quot;/&gt;&lt;height val=&quot;32&quot;/&gt;&lt;hasText val=&quot;1&quot;/&gt;&lt;/Image&gt;&lt;/ThreeDShapeInfo&gt;"/>
  <p:tag name="PRESENTER_SHAPETEXTINFO" val="&lt;ShapeTextInfo&gt;&lt;TableIndex row=&quot;-1&quot; col=&quot;-1&quot;&gt;&lt;linesCount val=&quot;1&quot;/&gt;&lt;lineCharCount val=&quot;18&quot;/&gt;&lt;/TableIndex&gt;&lt;/ShapeTextInfo&gt;"/>
</p:tagLst>
</file>

<file path=ppt/tags/tag26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35ADCAC3-1BA1-4F2D-9E65-08AC71F07D4E}_18.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1&quot;/&gt;&lt;/TableIndex&gt;&lt;/ShapeTextInfo&gt;"/>
</p:tagLst>
</file>

<file path=ppt/tags/tag267.xml><?xml version="1.0" encoding="utf-8"?>
<p:tagLst xmlns:a="http://schemas.openxmlformats.org/drawingml/2006/main" xmlns:r="http://schemas.openxmlformats.org/officeDocument/2006/relationships" xmlns:p="http://schemas.openxmlformats.org/presentationml/2006/main">
  <p:tag name="PRESENTER_SHAPEINFO" val="&lt;ThreeDShapeInfo&gt;&lt;uuid val=&quot;{8C66D627-A31E-44D3-9002-14C65178D217}&quot;/&gt;&lt;isInvalidForFieldText val=&quot;0&quot;/&gt;&lt;Image&gt;&lt;filename val=&quot;C:\Users\sanmi\Documents\My Adobe Presentations\ece552-SharedMemoryCoherence\data\asimages\{8C66D627-A31E-44D3-9002-14C65178D217}_18.png&quot;/&gt;&lt;left val=&quot;427&quot;/&gt;&lt;top val=&quot;336&quot;/&gt;&lt;width val=&quot;294&quot;/&gt;&lt;height val=&quot;203&quot;/&gt;&lt;hasText val=&quot;1&quot;/&gt;&lt;/Image&gt;&lt;/ThreeDShapeInfo&gt;"/>
</p:tagLst>
</file>

<file path=ppt/tags/tag2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2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2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Lst>
</file>

<file path=ppt/tags/tag2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ShapeTextInfo&gt;"/>
</p:tagLst>
</file>

<file path=ppt/tags/tag2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Lst>
</file>

<file path=ppt/tags/tag2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ShapeTextInfo&gt;"/>
</p:tagLst>
</file>

<file path=ppt/tags/tag2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Lst>
</file>

<file path=ppt/tags/tag279.xml><?xml version="1.0" encoding="utf-8"?>
<p:tagLst xmlns:a="http://schemas.openxmlformats.org/drawingml/2006/main" xmlns:r="http://schemas.openxmlformats.org/officeDocument/2006/relationships" xmlns:p="http://schemas.openxmlformats.org/presentationml/2006/main">
  <p:tag name="HTML_SHAPEINFO" val="&lt;SlideThumbPath val=&quot;Slide19.PNG&quot;/&gt;"/>
  <p:tag name="PPSNARRATION" val="19,883145026,C:\Users\sanmi\GoogleDrive\UWMdrive\Courses\ECE552\ece552-lec18_SharedMemoryCoherence_pptx\Media.ppcx"/>
</p:tagLst>
</file>

<file path=ppt/tags/tag280.xml><?xml version="1.0" encoding="utf-8"?>
<p:tagLst xmlns:a="http://schemas.openxmlformats.org/drawingml/2006/main" xmlns:r="http://schemas.openxmlformats.org/officeDocument/2006/relationships" xmlns:p="http://schemas.openxmlformats.org/presentationml/2006/main">
  <p:tag name="PRESENTER_SHAPEINFO" val="&lt;ThreeDShapeInfo&gt;&lt;uuid val=&quot;{01C7BA68-8C00-4887-A1DD-1D2704EA9089}&quot;/&gt;&lt;isInvalidForFieldText val=&quot;0&quot;/&gt;&lt;Image&gt;&lt;filename val=&quot;C:\Users\sanmi\Documents\My Adobe Presentations\ece552-SharedMemoryCoherence\data\asimages\{01C7BA68-8C00-4887-A1DD-1D2704EA9089}_19.png&quot;/&gt;&lt;left val=&quot;238&quot;/&gt;&lt;top val=&quot;324&quot;/&gt;&lt;width val=&quot;246&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281.xml><?xml version="1.0" encoding="utf-8"?>
<p:tagLst xmlns:a="http://schemas.openxmlformats.org/drawingml/2006/main" xmlns:r="http://schemas.openxmlformats.org/officeDocument/2006/relationships" xmlns:p="http://schemas.openxmlformats.org/presentationml/2006/main">
  <p:tag name="PRESENTER_SHAPEINFO" val="&lt;ThreeDShapeInfo&gt;&lt;uuid val=&quot;{87DD585D-1970-4B65-A5F1-8C2F4BBF1C72}&quot;/&gt;&lt;isInvalidForFieldText val=&quot;0&quot;/&gt;&lt;Image&gt;&lt;filename val=&quot;C:\Users\sanmi\Documents\My Adobe Presentations\ece552-SharedMemoryCoherence\data\asimages\{87DD585D-1970-4B65-A5F1-8C2F4BBF1C72}_19.png&quot;/&gt;&lt;left val=&quot;230&quot;/&gt;&lt;top val=&quot;222&quot;/&gt;&lt;width val=&quot;57&quot;/&gt;&lt;height val=&quot;46&quot;/&gt;&lt;hasText val=&quot;1&quot;/&gt;&lt;/Image&gt;&lt;/ThreeDShapeInfo&gt;"/>
  <p:tag name="PRESENTER_SHAPETEXTINFO" val="&lt;ShapeTextInfo&gt;&lt;TableIndex row=&quot;-1&quot; col=&quot;-1&quot;&gt;&lt;linesCount val=&quot;1&quot;/&gt;&lt;lineCharCount val=&quot;2&quot;/&gt;&lt;/TableIndex&gt;&lt;/ShapeTextInfo&gt;"/>
</p:tagLst>
</file>

<file path=ppt/tags/tag282.xml><?xml version="1.0" encoding="utf-8"?>
<p:tagLst xmlns:a="http://schemas.openxmlformats.org/drawingml/2006/main" xmlns:r="http://schemas.openxmlformats.org/officeDocument/2006/relationships" xmlns:p="http://schemas.openxmlformats.org/presentationml/2006/main">
  <p:tag name="PRESENTER_SHAPEINFO" val="&lt;ThreeDShapeInfo&gt;&lt;uuid val=&quot;{B06C34FC-1937-49FF-84C6-48E3B0BC2E08}&quot;/&gt;&lt;isInvalidForFieldText val=&quot;0&quot;/&gt;&lt;Image&gt;&lt;filename val=&quot;C:\Users\sanmi\Documents\My Adobe Presentations\ece552-SharedMemoryCoherence\data\asimages\{B06C34FC-1937-49FF-84C6-48E3B0BC2E08}_19.png&quot;/&gt;&lt;left val=&quot;252&quot;/&gt;&lt;top val=&quot;259&quot;/&gt;&lt;width val=&quot;13&quot;/&gt;&lt;height val=&quot;19&quot;/&gt;&lt;hasText val=&quot;1&quot;/&gt;&lt;/Image&gt;&lt;/ThreeDShapeInfo&gt;"/>
</p:tagLst>
</file>

<file path=ppt/tags/tag2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84.xml><?xml version="1.0" encoding="utf-8"?>
<p:tagLst xmlns:a="http://schemas.openxmlformats.org/drawingml/2006/main" xmlns:r="http://schemas.openxmlformats.org/officeDocument/2006/relationships" xmlns:p="http://schemas.openxmlformats.org/presentationml/2006/main">
  <p:tag name="PRESENTER_SHAPEINFO" val="&lt;ThreeDShapeInfo&gt;&lt;uuid val=&quot;{9A723257-9C12-4A19-B009-0E9D061E2A6D}&quot;/&gt;&lt;isInvalidForFieldText val=&quot;0&quot;/&gt;&lt;Image&gt;&lt;filename val=&quot;C:\Users\sanmi\Documents\My Adobe Presentations\ece552-SharedMemoryCoherence\data\asimages\{9A723257-9C12-4A19-B009-0E9D061E2A6D}_19.png&quot;/&gt;&lt;left val=&quot;441&quot;/&gt;&lt;top val=&quot;222&quot;/&gt;&lt;width val=&quot;57&quot;/&gt;&lt;height val=&quot;46&quot;/&gt;&lt;hasText val=&quot;1&quot;/&gt;&lt;/Image&gt;&lt;/ThreeDShapeInfo&gt;"/>
  <p:tag name="PRESENTER_SHAPETEXTINFO" val="&lt;ShapeTextInfo&gt;&lt;TableIndex row=&quot;-1&quot; col=&quot;-1&quot;&gt;&lt;linesCount val=&quot;1&quot;/&gt;&lt;lineCharCount val=&quot;2&quot;/&gt;&lt;/TableIndex&gt;&lt;/ShapeTextInfo&gt;"/>
</p:tagLst>
</file>

<file path=ppt/tags/tag285.xml><?xml version="1.0" encoding="utf-8"?>
<p:tagLst xmlns:a="http://schemas.openxmlformats.org/drawingml/2006/main" xmlns:r="http://schemas.openxmlformats.org/officeDocument/2006/relationships" xmlns:p="http://schemas.openxmlformats.org/presentationml/2006/main">
  <p:tag name="PRESENTER_SHAPEINFO" val="&lt;ThreeDShapeInfo&gt;&lt;uuid val=&quot;{600A89D9-5141-4523-A157-6F119DFD4E0F}&quot;/&gt;&lt;isInvalidForFieldText val=&quot;0&quot;/&gt;&lt;Image&gt;&lt;filename val=&quot;C:\Users\sanmi\Documents\My Adobe Presentations\ece552-SharedMemoryCoherence\data\asimages\{600A89D9-5141-4523-A157-6F119DFD4E0F}_19.png&quot;/&gt;&lt;left val=&quot;463&quot;/&gt;&lt;top val=&quot;258&quot;/&gt;&lt;width val=&quot;13&quot;/&gt;&lt;height val=&quot;20&quot;/&gt;&lt;hasText val=&quot;1&quot;/&gt;&lt;/Image&gt;&lt;/ThreeDShapeInfo&gt;"/>
</p:tagLst>
</file>

<file path=ppt/tags/tag286.xml><?xml version="1.0" encoding="utf-8"?>
<p:tagLst xmlns:a="http://schemas.openxmlformats.org/drawingml/2006/main" xmlns:r="http://schemas.openxmlformats.org/officeDocument/2006/relationships" xmlns:p="http://schemas.openxmlformats.org/presentationml/2006/main">
  <p:tag name="PRESENTER_SHAPEINFO" val="&lt;ThreeDShapeInfo&gt;&lt;uuid val=&quot;{CE002110-C738-44B6-BF05-BD474A67C20F}&quot;/&gt;&lt;isInvalidForFieldText val=&quot;0&quot;/&gt;&lt;Image&gt;&lt;filename val=&quot;C:\Users\sanmi\Documents\My Adobe Presentations\ece552-SharedMemoryCoherence\data\asimages\{CE002110-C738-44B6-BF05-BD474A67C20F}_19.png&quot;/&gt;&lt;left val=&quot;289&quot;/&gt;&lt;top val=&quot;365&quot;/&gt;&lt;width val=&quot;143&quot;/&gt;&lt;height val=&quot;39&quot;/&gt;&lt;hasText val=&quot;1&quot;/&gt;&lt;/Image&gt;&lt;/ThreeDShapeInfo&gt;"/>
  <p:tag name="PRESENTER_SHAPETEXTINFO" val="&lt;ShapeTextInfo&gt;&lt;TableIndex row=&quot;-1&quot; col=&quot;-1&quot;&gt;&lt;linesCount val=&quot;1&quot;/&gt;&lt;lineCharCount val=&quot;4&quot;/&gt;&lt;/TableIndex&gt;&lt;/ShapeTextInfo&gt;"/>
</p:tagLst>
</file>

<file path=ppt/tags/tag2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88.xml><?xml version="1.0" encoding="utf-8"?>
<p:tagLst xmlns:a="http://schemas.openxmlformats.org/drawingml/2006/main" xmlns:r="http://schemas.openxmlformats.org/officeDocument/2006/relationships" xmlns:p="http://schemas.openxmlformats.org/presentationml/2006/main">
  <p:tag name="PRESENTER_SHAPEINFO" val="&lt;ThreeDShapeInfo&gt;&lt;uuid val=&quot;{35A0425E-F745-414E-B8D3-24180AD445DD}&quot;/&gt;&lt;isInvalidForFieldText val=&quot;0&quot;/&gt;&lt;Image&gt;&lt;filename val=&quot;C:\Users\sanmi\Documents\My Adobe Presentations\ece552-SharedMemoryCoherence\data\asimages\{35A0425E-F745-414E-B8D3-24180AD445DD}_19.png&quot;/&gt;&lt;left val=&quot;218&quot;/&gt;&lt;top val=&quot;266&quot;/&gt;&lt;width val=&quot;80&quot;/&gt;&lt;height val=&quot;38&quot;/&gt;&lt;hasText val=&quot;1&quot;/&gt;&lt;/Image&gt;&lt;/ThreeDShapeInfo&gt;"/>
  <p:tag name="PRESENTER_SHAPETEXTINFO" val="&lt;ShapeTextInfo&gt;&lt;TableIndex row=&quot;-1&quot; col=&quot;-1&quot;&gt;&lt;linesCount val=&quot;1&quot;/&gt;&lt;lineCharCount val=&quot;7&quot;/&gt;&lt;/TableIndex&gt;&lt;/ShapeTextInfo&gt;"/>
</p:tagLst>
</file>

<file path=ppt/tags/tag289.xml><?xml version="1.0" encoding="utf-8"?>
<p:tagLst xmlns:a="http://schemas.openxmlformats.org/drawingml/2006/main" xmlns:r="http://schemas.openxmlformats.org/officeDocument/2006/relationships" xmlns:p="http://schemas.openxmlformats.org/presentationml/2006/main">
  <p:tag name="PRESENTER_SHAPEINFO" val="&lt;ThreeDShapeInfo&gt;&lt;uuid val=&quot;{CFD5B7FE-659B-4AAE-A23D-6C66746E6884}&quot;/&gt;&lt;isInvalidForFieldText val=&quot;0&quot;/&gt;&lt;Image&gt;&lt;filename val=&quot;C:\Users\sanmi\Documents\My Adobe Presentations\ece552-SharedMemoryCoherence\data\asimages\{CFD5B7FE-659B-4AAE-A23D-6C66746E6884}_19.png&quot;/&gt;&lt;left val=&quot;429&quot;/&gt;&lt;top val=&quot;266&quot;/&gt;&lt;width val=&quot;81&quot;/&gt;&lt;height val=&quot;39&quot;/&gt;&lt;hasText val=&quot;1&quot;/&gt;&lt;/Image&gt;&lt;/ThreeDShapeInfo&gt;"/>
  <p:tag name="PRESENTER_SHAPETEXTINFO" val="&lt;ShapeTextInfo&gt;&lt;TableIndex row=&quot;-1&quot; col=&quot;-1&quot;&gt;&lt;linesCount val=&quot;1&quot;/&gt;&lt;lineCharCount val=&quot;10&quot;/&gt;&lt;/TableIndex&gt;&lt;/ShapeTextInfo&gt;"/>
</p:tagLst>
</file>

<file path=ppt/tags/tag29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E5A7B7BF-C7DC-46BF-B8F8-E41F26FF9240}_19.png&quot;/&gt;&lt;left val=&quot;429&quot;/&gt;&lt;top val=&quot;389&quot;/&gt;&lt;width val=&quot;85&quot;/&gt;&lt;height val=&quot;26&quot;/&gt;&lt;hasText val=&quot;1&quot;/&gt;&lt;/Image&gt;&lt;/ThreeDShapeInfo&gt;"/>
  <p:tag name="PRESENTER_SHAPETEXTINFO" val="&lt;ShapeTextInfo&gt;&lt;TableIndex row=&quot;-1&quot; col=&quot;-1&quot;&gt;&lt;linesCount val=&quot;1&quot;/&gt;&lt;lineCharCount val=&quot;11&quot;/&gt;&lt;/TableIndex&gt;&lt;/ShapeTextInfo&gt;"/>
</p:tagLst>
</file>

<file path=ppt/tags/tag291.xml><?xml version="1.0" encoding="utf-8"?>
<p:tagLst xmlns:a="http://schemas.openxmlformats.org/drawingml/2006/main" xmlns:r="http://schemas.openxmlformats.org/officeDocument/2006/relationships" xmlns:p="http://schemas.openxmlformats.org/presentationml/2006/main">
  <p:tag name="PRESENTER_SHAPEINFO" val="&lt;ThreeDShapeInfo&gt;&lt;uuid val=&quot;{08E48C0C-CD9C-4786-98AE-416F7CD4987C}&quot;/&gt;&lt;isInvalidForFieldText val=&quot;0&quot;/&gt;&lt;Image&gt;&lt;filename val=&quot;C:\Users\sanmi\Documents\My Adobe Presentations\ece552-SharedMemoryCoherence\data\asimages\{08E48C0C-CD9C-4786-98AE-416F7CD4987C}_19.png&quot;/&gt;&lt;left val=&quot;218&quot;/&gt;&lt;top val=&quot;288&quot;/&gt;&lt;width val=&quot;80&quot;/&gt;&lt;height val=&quot;26&quot;/&gt;&lt;hasText val=&quot;1&quot;/&gt;&lt;/Image&gt;&lt;/ThreeDShapeInfo&gt;"/>
  <p:tag name="PRESENTER_SHAPETEXTINFO" val="&lt;ShapeTextInfo&gt;&lt;TableIndex row=&quot;-1&quot; col=&quot;-1&quot;&gt;&lt;linesCount val=&quot;0&quot;/&gt;&lt;/TableIndex&gt;&lt;/ShapeTextInfo&gt;"/>
</p:tagLst>
</file>

<file path=ppt/tags/tag292.xml><?xml version="1.0" encoding="utf-8"?>
<p:tagLst xmlns:a="http://schemas.openxmlformats.org/drawingml/2006/main" xmlns:r="http://schemas.openxmlformats.org/officeDocument/2006/relationships" xmlns:p="http://schemas.openxmlformats.org/presentationml/2006/main">
  <p:tag name="PRESENTER_SHAPEINFO" val="&lt;ThreeDShapeInfo&gt;&lt;uuid val=&quot;{FDCE7784-FB94-44B8-A960-558920E25191}&quot;/&gt;&lt;isInvalidForFieldText val=&quot;0&quot;/&gt;&lt;Image&gt;&lt;filename val=&quot;C:\Users\sanmi\Documents\My Adobe Presentations\ece552-SharedMemoryCoherence\data\asimages\{FDCE7784-FB94-44B8-A960-558920E25191}_19.png&quot;/&gt;&lt;left val=&quot;430&quot;/&gt;&lt;top val=&quot;288&quot;/&gt;&lt;width val=&quot;80&quot;/&gt;&lt;height val=&quot;26&quot;/&gt;&lt;hasText val=&quot;1&quot;/&gt;&lt;/Image&gt;&lt;/ThreeDShapeInfo&gt;"/>
  <p:tag name="PRESENTER_SHAPETEXTINFO" val="&lt;ShapeTextInfo&gt;&lt;TableIndex row=&quot;-1&quot; col=&quot;-1&quot;&gt;&lt;linesCount val=&quot;0&quot;/&gt;&lt;/TableIndex&gt;&lt;/ShapeTextInfo&gt;"/>
</p:tagLst>
</file>

<file path=ppt/tags/tag293.xml><?xml version="1.0" encoding="utf-8"?>
<p:tagLst xmlns:a="http://schemas.openxmlformats.org/drawingml/2006/main" xmlns:r="http://schemas.openxmlformats.org/officeDocument/2006/relationships" xmlns:p="http://schemas.openxmlformats.org/presentationml/2006/main">
  <p:tag name="PRESENTER_SHAPEINFO" val="&lt;ThreeDShapeInfo&gt;&lt;uuid val=&quot;{4F249FB6-8538-42BB-B9C6-AB3EE36B6F97}&quot;/&gt;&lt;isInvalidForFieldText val=&quot;0&quot;/&gt;&lt;Image&gt;&lt;filename val=&quot;C:\Users\sanmi\Documents\My Adobe Presentations\ece552-SharedMemoryCoherence\data\asimages\{4F249FB6-8538-42BB-B9C6-AB3EE36B6F97}_19.png&quot;/&gt;&lt;left val=&quot;289&quot;/&gt;&lt;top val=&quot;388&quot;/&gt;&lt;width val=&quot;143&quot;/&gt;&lt;height val=&quot;26&quot;/&gt;&lt;hasText val=&quot;1&quot;/&gt;&lt;/Image&gt;&lt;/ThreeDShapeInfo&gt;"/>
  <p:tag name="PRESENTER_SHAPETEXTINFO" val="&lt;ShapeTextInfo&gt;&lt;TableIndex row=&quot;-1&quot; col=&quot;-1&quot;&gt;&lt;linesCount val=&quot;0&quot;/&gt;&lt;/TableIndex&gt;&lt;/ShapeTextInfo&gt;"/>
</p:tagLst>
</file>

<file path=ppt/tags/tag29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3CF19B98-CFCB-4B0D-930B-3C54F09E8B52}_19.png&quot;/&gt;&lt;left val=&quot;136&quot;/&gt;&lt;top val=&quot;229&quot;/&gt;&lt;width val=&quot;98&quot;/&gt;&lt;height val=&quot;32&quot;/&gt;&lt;hasText val=&quot;1&quot;/&gt;&lt;/Image&gt;&lt;/ThreeDShapeInfo&gt;"/>
  <p:tag name="PRESENTER_SHAPETEXTINFO" val="&lt;ShapeTextInfo&gt;&lt;TableIndex row=&quot;-1&quot; col=&quot;-1&quot;&gt;&lt;linesCount val=&quot;1&quot;/&gt;&lt;lineCharCount val=&quot;13&quot;/&gt;&lt;/TableIndex&gt;&lt;/ShapeTextInfo&gt;"/>
</p:tagLst>
</file>

<file path=ppt/tags/tag29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53DC663B-4DCE-4A22-AA20-FAD9666AA7CD}_19.png&quot;/&gt;&lt;left val=&quot;142&quot;/&gt;&lt;top val=&quot;333&quot;/&gt;&lt;width val=&quot;96&quot;/&gt;&lt;height val=&quot;32&quot;/&gt;&lt;hasText val=&quot;1&quot;/&gt;&lt;/Image&gt;&lt;/ThreeDShapeInfo&gt;"/>
  <p:tag name="PRESENTER_SHAPETEXTINFO" val="&lt;ShapeTextInfo&gt;&lt;TableIndex row=&quot;-1&quot; col=&quot;-1&quot;&gt;&lt;linesCount val=&quot;1&quot;/&gt;&lt;lineCharCount val=&quot;12&quot;/&gt;&lt;/TableIndex&gt;&lt;/ShapeTextInfo&gt;"/>
</p:tagLst>
</file>

<file path=ppt/tags/tag29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2207ADD-4EF7-4DCA-A7FC-643AAD374C0C}_19.png&quot;/&gt;&lt;left val=&quot;192&quot;/&gt;&lt;top val=&quot;377&quot;/&gt;&lt;width val=&quot;106&quot;/&gt;&lt;height val=&quot;32&quot;/&gt;&lt;hasText val=&quot;1&quot;/&gt;&lt;/Image&gt;&lt;/ThreeDShapeInfo&gt;"/>
  <p:tag name="PRESENTER_SHAPETEXTINFO" val="&lt;ShapeTextInfo&gt;&lt;TableIndex row=&quot;-1&quot; col=&quot;-1&quot;&gt;&lt;linesCount val=&quot;1&quot;/&gt;&lt;lineCharCount val=&quot;14&quot;/&gt;&lt;/TableIndex&gt;&lt;/ShapeTextInfo&gt;"/>
</p:tagLst>
</file>

<file path=ppt/tags/tag29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D0FAB99F-2029-46CE-9433-01A9E2E1DEB9}_19.png&quot;/&gt;&lt;left val=&quot;136&quot;/&gt;&lt;top val=&quot;243&quot;/&gt;&lt;width val=&quot;98&quot;/&gt;&lt;height val=&quot;32&quot;/&gt;&lt;hasText val=&quot;1&quot;/&gt;&lt;/Image&gt;&lt;/ThreeDShapeInfo&gt;"/>
  <p:tag name="PRESENTER_SHAPETEXTINFO" val="&lt;ShapeTextInfo&gt;&lt;TableIndex row=&quot;-1&quot; col=&quot;-1&quot;&gt;&lt;linesCount val=&quot;1&quot;/&gt;&lt;lineCharCount val=&quot;13&quot;/&gt;&lt;/TableIndex&gt;&lt;/ShapeTextInfo&gt;"/>
</p:tagLst>
</file>

<file path=ppt/tags/tag29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6838DF77-6BFC-4565-899B-5B8AA3C1F538}_19.png&quot;/&gt;&lt;left val=&quot;497&quot;/&gt;&lt;top val=&quot;228&quot;/&gt;&lt;width val=&quot;80&quot;/&gt;&lt;height val=&quot;32&quot;/&gt;&lt;hasText val=&quot;1&quot;/&gt;&lt;/Image&gt;&lt;/ThreeDShapeInfo&gt;"/>
  <p:tag name="PRESENTER_SHAPETEXTINFO" val="&lt;ShapeTextInfo&gt;&lt;TableIndex row=&quot;-1&quot; col=&quot;-1&quot;&gt;&lt;linesCount val=&quot;1&quot;/&gt;&lt;lineCharCount val=&quot;10&quot;/&gt;&lt;/TableIndex&gt;&lt;/ShapeTextInfo&gt;"/>
</p:tagLst>
</file>

<file path=ppt/tags/tag29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C6AC6BB4-14EA-4AAC-823F-98D985D3EFDE}_19.png&quot;/&gt;&lt;left val=&quot;471&quot;/&gt;&lt;top val=&quot;310&quot;/&gt;&lt;width val=&quot;96&quot;/&gt;&lt;height val=&quot;32&quot;/&gt;&lt;hasText val=&quot;1&quot;/&gt;&lt;/Image&gt;&lt;/ThreeDShapeInfo&gt;"/>
  <p:tag name="PRESENTER_SHAPETEXTINFO" val="&lt;ShapeTextInfo&gt;&lt;TableIndex row=&quot;-1&quot; col=&quot;-1&quot;&gt;&lt;linesCount val=&quot;1&quot;/&gt;&lt;lineCharCount val=&quot;12&quot;/&gt;&lt;/TableIndex&gt;&lt;/ShapeTextInfo&gt;"/>
</p:tagLst>
</file>

<file path=ppt/tags/tag30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EF6081AE-4597-4819-9DFA-C3764C8BE367}_19.png&quot;/&gt;&lt;left val=&quot;2&quot;/&gt;&lt;top val=&quot;319&quot;/&gt;&lt;width val=&quot;165&quot;/&gt;&lt;height val=&quot;92&quot;/&gt;&lt;hasText val=&quot;1&quot;/&gt;&lt;/Image&gt;&lt;/ThreeDShapeInfo&gt;"/>
  <p:tag name="PRESENTER_SHAPETEXTINFO" val="&lt;ShapeTextInfo&gt;&lt;TableIndex row=&quot;-1&quot; col=&quot;-1&quot;&gt;&lt;linesCount val=&quot;4&quot;/&gt;&lt;lineCharCount val=&quot;17&quot;/&gt;&lt;lineCharCount val=&quot;19&quot;/&gt;&lt;lineCharCount val=&quot;22&quot;/&gt;&lt;lineCharCount val=&quot;16&quot;/&gt;&lt;/TableIndex&gt;&lt;/ShapeTextInfo&gt;"/>
</p:tagLst>
</file>

<file path=ppt/tags/tag30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2653027-7A28-4D17-98BC-18E59C54E5AD}_1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1&quot;/&gt;&lt;/TableIndex&gt;&lt;/ShapeTextInfo&gt;"/>
</p:tagLst>
</file>

<file path=ppt/tags/tag30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BF0F6EE-6604-4525-8CD8-7E1A99798987}_19.png&quot;/&gt;&lt;left val=&quot;121&quot;/&gt;&lt;top val=&quot;275&quot;/&gt;&lt;width val=&quot;106&quot;/&gt;&lt;height val=&quot;32&quot;/&gt;&lt;hasText val=&quot;1&quot;/&gt;&lt;/Image&gt;&lt;/ThreeDShapeInfo&gt;"/>
  <p:tag name="PRESENTER_SHAPETEXTINFO" val="&lt;ShapeTextInfo&gt;&lt;TableIndex row=&quot;-1&quot; col=&quot;-1&quot;&gt;&lt;linesCount val=&quot;1&quot;/&gt;&lt;lineCharCount val=&quot;14&quot;/&gt;&lt;/TableIndex&gt;&lt;/ShapeTextInfo&gt;"/>
</p:tagLst>
</file>

<file path=ppt/tags/tag303.xml><?xml version="1.0" encoding="utf-8"?>
<p:tagLst xmlns:a="http://schemas.openxmlformats.org/drawingml/2006/main" xmlns:r="http://schemas.openxmlformats.org/officeDocument/2006/relationships" xmlns:p="http://schemas.openxmlformats.org/presentationml/2006/main">
  <p:tag name="PRESENTER_SHAPEINFO" val="&lt;ThreeDShapeInfo&gt;&lt;uuid val=&quot;{05A4120E-8C03-4399-9150-9D2A570DBE47}&quot;/&gt;&lt;isInvalidForFieldText val=&quot;0&quot;/&gt;&lt;Image&gt;&lt;filename val=&quot;C:\Users\sanmi\Documents\My Adobe Presentations\ece552-SharedMemoryCoherence\data\asimages\{05A4120E-8C03-4399-9150-9D2A570DBE47}_19.png&quot;/&gt;&lt;left val=&quot;427&quot;/&gt;&lt;top val=&quot;336&quot;/&gt;&lt;width val=&quot;294&quot;/&gt;&lt;height val=&quot;203&quot;/&gt;&lt;hasText val=&quot;1&quot;/&gt;&lt;/Image&gt;&lt;/ThreeDShapeInfo&gt;"/>
</p:tagLst>
</file>

<file path=ppt/tags/tag30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0BAABFD5-272D-46D9-B215-D922C9ED464D}_19.png&quot;/&gt;&lt;left val=&quot;524&quot;/&gt;&lt;top val=&quot;255&quot;/&gt;&lt;width val=&quot;180&quot;/&gt;&lt;height val=&quot;54&quot;/&gt;&lt;hasText val=&quot;1&quot;/&gt;&lt;/Image&gt;&lt;/ThreeDShapeInfo&gt;"/>
  <p:tag name="PRESENTER_SHAPETEXTINFO" val="&lt;ShapeTextInfo&gt;&lt;TableIndex row=&quot;-1&quot; col=&quot;-1&quot;&gt;&lt;linesCount val=&quot;2&quot;/&gt;&lt;lineCharCount val=&quot;24&quot;/&gt;&lt;lineCharCount val=&quot;18&quot;/&gt;&lt;/TableIndex&gt;&lt;/ShapeTextInfo&gt;"/>
</p:tagLst>
</file>

<file path=ppt/tags/tag30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957EE9FF-91CF-4AC4-ABE0-147C720B72EE}_19.png&quot;/&gt;&lt;left val=&quot;93&quot;/&gt;&lt;top val=&quot;257&quot;/&gt;&lt;width val=&quot;133&quot;/&gt;&lt;height val=&quot;32&quot;/&gt;&lt;hasText val=&quot;1&quot;/&gt;&lt;/Image&gt;&lt;/ThreeDShapeInfo&gt;"/>
  <p:tag name="PRESENTER_SHAPETEXTINFO" val="&lt;ShapeTextInfo&gt;&lt;TableIndex row=&quot;-1&quot; col=&quot;-1&quot;&gt;&lt;linesCount val=&quot;1&quot;/&gt;&lt;lineCharCount val=&quot;18&quot;/&gt;&lt;/TableIndex&gt;&lt;/ShapeTextInfo&gt;"/>
</p:tagLst>
</file>

<file path=ppt/tags/tag3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3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3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3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Lst>
</file>

<file path=ppt/tags/tag3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ShapeTextInfo&gt;"/>
</p:tagLst>
</file>

<file path=ppt/tags/tag3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Lst>
</file>

<file path=ppt/tags/tag3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ShapeTextInfo&gt;"/>
</p:tagLst>
</file>

<file path=ppt/tags/tag3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Lst>
</file>

<file path=ppt/tags/tag317.xml><?xml version="1.0" encoding="utf-8"?>
<p:tagLst xmlns:a="http://schemas.openxmlformats.org/drawingml/2006/main" xmlns:r="http://schemas.openxmlformats.org/officeDocument/2006/relationships" xmlns:p="http://schemas.openxmlformats.org/presentationml/2006/main">
  <p:tag name="HTML_SHAPEINFO" val="&lt;SlideThumbPath val=&quot;Slide20.PNG&quot;/&gt;"/>
  <p:tag name="PPSNARRATION" val="20,883145026,C:\Users\sanmi\GoogleDrive\UWMdrive\Courses\ECE552\ece552-lec18_SharedMemoryCoherence_pptx\Media.ppcx"/>
</p:tagLst>
</file>

<file path=ppt/tags/tag3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CA06396F-6991-402D-81F2-B9BEBD6C40B7}_20.png&quot;/&gt;&lt;left val=&quot;23&quot;/&gt;&lt;top val=&quot;147&quot;/&gt;&lt;width val=&quot;689&quot;/&gt;&lt;height val=&quot;327&quot;/&gt;&lt;hasText val=&quot;1&quot;/&gt;&lt;/Image&gt;&lt;/ThreeDShapeInfo&gt;"/>
  <p:tag name="PRESENTER_SHAPETEXTINFO" val="&lt;ShapeTextInfo&gt;&lt;TableIndex row=&quot;-1&quot; col=&quot;-1&quot;&gt;&lt;linesCount val=&quot;11&quot;/&gt;&lt;lineCharCount val=&quot;52&quot;/&gt;&lt;lineCharCount val=&quot;1&quot;/&gt;&lt;lineCharCount val=&quot;8&quot;/&gt;&lt;lineCharCount val=&quot;75&quot;/&gt;&lt;lineCharCount val=&quot;80&quot;/&gt;&lt;lineCharCount val=&quot;39&quot;/&gt;&lt;lineCharCount val=&quot;1&quot;/&gt;&lt;lineCharCount val=&quot;20&quot;/&gt;&lt;lineCharCount val=&quot;50&quot;/&gt;&lt;lineCharCount val=&quot;74&quot;/&gt;&lt;lineCharCount val=&quot;27&quot;/&gt;&lt;/TableIndex&gt;&lt;/ShapeTextInfo&gt;"/>
</p:tagLst>
</file>

<file path=ppt/tags/tag3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1A29F94A-3466-4A70-9087-D18582B2AC95}_20.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2&quot;/&gt;&lt;/TableIndex&gt;&lt;/ShapeTextInfo&gt;"/>
</p:tagLst>
</file>

<file path=ppt/tags/tag320.xml><?xml version="1.0" encoding="utf-8"?>
<p:tagLst xmlns:a="http://schemas.openxmlformats.org/drawingml/2006/main" xmlns:r="http://schemas.openxmlformats.org/officeDocument/2006/relationships" xmlns:p="http://schemas.openxmlformats.org/presentationml/2006/main">
  <p:tag name="HTML_SHAPEINFO" val="&lt;SlideThumbPath val=&quot;Slide21.PNG&quot;/&gt;"/>
  <p:tag name="PPSNARRATION" val="21,883145026,C:\Users\sanmi\GoogleDrive\UWMdrive\Courses\ECE552\ece552-lec18_SharedMemoryCoherence_pptx\Media.ppcx"/>
</p:tagLst>
</file>

<file path=ppt/tags/tag321.xml><?xml version="1.0" encoding="utf-8"?>
<p:tagLst xmlns:a="http://schemas.openxmlformats.org/drawingml/2006/main" xmlns:r="http://schemas.openxmlformats.org/officeDocument/2006/relationships" xmlns:p="http://schemas.openxmlformats.org/presentationml/2006/main">
  <p:tag name="PRESENTER_SHAPEINFO" val="&lt;ThreeDShapeInfo&gt;&lt;uuid val=&quot;{1BBEA64B-7F88-44C7-9DC6-B32789BE29D2}&quot;/&gt;&lt;isInvalidForFieldText val=&quot;0&quot;/&gt;&lt;Image&gt;&lt;filename val=&quot;C:\Users\sanmi\Documents\My Adobe Presentations\ece552-SharedMemoryCoherence\data\asimages\{1BBEA64B-7F88-44C7-9DC6-B32789BE29D2}_21.png&quot;/&gt;&lt;left val=&quot;77&quot;/&gt;&lt;top val=&quot;203&quot;/&gt;&lt;width val=&quot;63&quot;/&gt;&lt;height val=&quot;63&quot;/&gt;&lt;hasText val=&quot;1&quot;/&gt;&lt;/Image&gt;&lt;/ThreeDShapeInfo&gt;"/>
  <p:tag name="PRESENTER_SHAPETEXTINFO" val="&lt;ShapeTextInfo&gt;&lt;TableIndex row=&quot;-1&quot; col=&quot;-1&quot;&gt;&lt;linesCount val=&quot;1&quot;/&gt;&lt;lineCharCount val=&quot;1&quot;/&gt;&lt;/TableIndex&gt;&lt;/ShapeTextInfo&gt;"/>
</p:tagLst>
</file>

<file path=ppt/tags/tag32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C83CD080-CF91-41E9-9965-FCC5929BAEA3}_21.png&quot;/&gt;&lt;left val=&quot;195&quot;/&gt;&lt;top val=&quot;185&quot;/&gt;&lt;width val=&quot;81&quot;/&gt;&lt;height val=&quot;26&quot;/&gt;&lt;hasText val=&quot;1&quot;/&gt;&lt;/Image&gt;&lt;/ThreeDShapeInfo&gt;"/>
  <p:tag name="PRESENTER_SHAPETEXTINFO" val="&lt;ShapeTextInfo&gt;&lt;TableIndex row=&quot;-1&quot; col=&quot;-1&quot;&gt;&lt;linesCount val=&quot;1&quot;/&gt;&lt;lineCharCount val=&quot;12&quot;/&gt;&lt;/TableIndex&gt;&lt;/ShapeTextInfo&gt;"/>
</p:tagLst>
</file>

<file path=ppt/tags/tag323.xml><?xml version="1.0" encoding="utf-8"?>
<p:tagLst xmlns:a="http://schemas.openxmlformats.org/drawingml/2006/main" xmlns:r="http://schemas.openxmlformats.org/officeDocument/2006/relationships" xmlns:p="http://schemas.openxmlformats.org/presentationml/2006/main">
  <p:tag name="PRESENTER_SHAPEINFO" val="&lt;ThreeDShapeInfo&gt;&lt;uuid val=&quot;{88973AF4-EBC0-4F6D-99EE-752980663634}&quot;/&gt;&lt;isInvalidForFieldText val=&quot;0&quot;/&gt;&lt;Image&gt;&lt;filename val=&quot;C:\Users\sanmi\Documents\My Adobe Presentations\ece552-SharedMemoryCoherence\data\asimages\{88973AF4-EBC0-4F6D-99EE-752980663634}_21.png&quot;/&gt;&lt;left val=&quot;338&quot;/&gt;&lt;top val=&quot;203&quot;/&gt;&lt;width val=&quot;63&quot;/&gt;&lt;height val=&quot;63&quot;/&gt;&lt;hasText val=&quot;1&quot;/&gt;&lt;/Image&gt;&lt;/ThreeDShapeInfo&gt;"/>
  <p:tag name="PRESENTER_SHAPETEXTINFO" val="&lt;ShapeTextInfo&gt;&lt;TableIndex row=&quot;-1&quot; col=&quot;-1&quot;&gt;&lt;linesCount val=&quot;1&quot;/&gt;&lt;lineCharCount val=&quot;1&quot;/&gt;&lt;/TableIndex&gt;&lt;/ShapeTextInfo&gt;"/>
</p:tagLst>
</file>

<file path=ppt/tags/tag324.xml><?xml version="1.0" encoding="utf-8"?>
<p:tagLst xmlns:a="http://schemas.openxmlformats.org/drawingml/2006/main" xmlns:r="http://schemas.openxmlformats.org/officeDocument/2006/relationships" xmlns:p="http://schemas.openxmlformats.org/presentationml/2006/main">
  <p:tag name="HTML_AUTOSHAPE_INFO" val="&lt;ThreeDShapeInfo&gt;&lt;uuid val=&quot;{2528FEAC-3DF3-45C6-A984-D7B2C63176B8}&quot;/&gt;&lt;isInvalidForFieldText val=&quot;1&quot;/&gt;&lt;Image&gt;&lt;filename val=&quot;C:\Users\sanmi\Documents\My Adobe Presentations\ece552-SharedMemoryCoherence\data\asimages\{2528FEAC-3DF3-45C6-A984-D7B2C63176B8}_21_S.png&quot;/&gt;&lt;left val=&quot;135&quot;/&gt;&lt;top val=&quot;205&quot;/&gt;&lt;width val=&quot;218&quot;/&gt;&lt;height val=&quot;26&quot;/&gt;&lt;hasText val=&quot;0&quot;/&gt;&lt;/Image&gt;&lt;Image&gt;&lt;filename val=&quot;C:\Users\sanmi\Documents\My Adobe Presentations\ece552-SharedMemoryCoherence\data\asimages\{2528FEAC-3DF3-45C6-A984-D7B2C63176B8}_21_T.png&quot;/&gt;&lt;left val=&quot;135&quot;/&gt;&lt;top val=&quot;206&quot;/&gt;&lt;width val=&quot;207&quot;/&gt;&lt;height val=&quot;18&quot;/&gt;&lt;hasText val=&quot;1&quot;/&gt;&lt;/Image&gt;&lt;/ThreeDShapeInfo&gt;"/>
  <p:tag name="PRESENTER_SHAPETEXTINFO" val="&lt;ShapeTextInfo&gt;&lt;TableIndex row=&quot;-1&quot; col=&quot;-1&quot;&gt;&lt;linesCount val=&quot;0&quot;/&gt;&lt;/TableIndex&gt;&lt;/ShapeTextInfo&gt;"/>
</p:tagLst>
</file>

<file path=ppt/tags/tag325.xml><?xml version="1.0" encoding="utf-8"?>
<p:tagLst xmlns:a="http://schemas.openxmlformats.org/drawingml/2006/main" xmlns:r="http://schemas.openxmlformats.org/officeDocument/2006/relationships" xmlns:p="http://schemas.openxmlformats.org/presentationml/2006/main">
  <p:tag name="PRESENTER_SHAPEINFO" val="&lt;ThreeDShapeInfo&gt;&lt;uuid val=&quot;{88089B40-D97B-40C6-B9B6-D9ADDC529AF8}&quot;/&gt;&lt;isInvalidForFieldText val=&quot;0&quot;/&gt;&lt;Image&gt;&lt;filename val=&quot;C:\Users\sanmi\Documents\My Adobe Presentations\ece552-SharedMemoryCoherence\data\asimages\{88089B40-D97B-40C6-B9B6-D9ADDC529AF8}_21.png&quot;/&gt;&lt;left val=&quot;543&quot;/&gt;&lt;top val=&quot;347&quot;/&gt;&lt;width val=&quot;116&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326.xml><?xml version="1.0" encoding="utf-8"?>
<p:tagLst xmlns:a="http://schemas.openxmlformats.org/drawingml/2006/main" xmlns:r="http://schemas.openxmlformats.org/officeDocument/2006/relationships" xmlns:p="http://schemas.openxmlformats.org/presentationml/2006/main">
  <p:tag name="PRESENTER_SHAPEINFO" val="&lt;ThreeDShapeInfo&gt;&lt;uuid val=&quot;{C9157F54-7CF4-4568-A0B6-073FE8B44D72}&quot;/&gt;&lt;isInvalidForFieldText val=&quot;0&quot;/&gt;&lt;Image&gt;&lt;filename val=&quot;C:\Users\sanmi\Documents\My Adobe Presentations\ece552-SharedMemoryCoherence\data\asimages\{C9157F54-7CF4-4568-A0B6-073FE8B44D72}_21.png&quot;/&gt;&lt;left val=&quot;639&quot;/&gt;&lt;top val=&quot;296&quot;/&gt;&lt;width val=&quot;13&quot;/&gt;&lt;height val=&quot;20&quot;/&gt;&lt;hasText val=&quot;1&quot;/&gt;&lt;/Image&gt;&lt;/ThreeDShapeInfo&gt;"/>
</p:tagLst>
</file>

<file path=ppt/tags/tag3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28.xml><?xml version="1.0" encoding="utf-8"?>
<p:tagLst xmlns:a="http://schemas.openxmlformats.org/drawingml/2006/main" xmlns:r="http://schemas.openxmlformats.org/officeDocument/2006/relationships" xmlns:p="http://schemas.openxmlformats.org/presentationml/2006/main">
  <p:tag name="PRESENTER_SHAPEINFO" val="&lt;ThreeDShapeInfo&gt;&lt;uuid val=&quot;{4057828D-16BE-44A8-96B1-6A50A928A6A4}&quot;/&gt;&lt;isInvalidForFieldText val=&quot;0&quot;/&gt;&lt;Image&gt;&lt;filename val=&quot;C:\Users\sanmi\Documents\My Adobe Presentations\ece552-SharedMemoryCoherence\data\asimages\{4057828D-16BE-44A8-96B1-6A50A928A6A4}_21.png&quot;/&gt;&lt;left val=&quot;606&quot;/&gt;&lt;top val=&quot;303&quot;/&gt;&lt;width val=&quot;80&quot;/&gt;&lt;height val=&quot;39&quot;/&gt;&lt;hasText val=&quot;1&quot;/&gt;&lt;/Image&gt;&lt;/ThreeDShapeInfo&gt;"/>
  <p:tag name="PRESENTER_SHAPETEXTINFO" val="&lt;ShapeTextInfo&gt;&lt;TableIndex row=&quot;-1&quot; col=&quot;-1&quot;&gt;&lt;linesCount val=&quot;1&quot;/&gt;&lt;lineCharCount val=&quot;5&quot;/&gt;&lt;/TableIndex&gt;&lt;/ShapeTextInfo&gt;"/>
</p:tagLst>
</file>

<file path=ppt/tags/tag329.xml><?xml version="1.0" encoding="utf-8"?>
<p:tagLst xmlns:a="http://schemas.openxmlformats.org/drawingml/2006/main" xmlns:r="http://schemas.openxmlformats.org/officeDocument/2006/relationships" xmlns:p="http://schemas.openxmlformats.org/presentationml/2006/main">
  <p:tag name="PRESENTER_SHAPEINFO" val="&lt;ThreeDShapeInfo&gt;&lt;uuid val=&quot;{926E9C96-9D6F-425C-A80B-7154265F7856}&quot;/&gt;&lt;isInvalidForFieldText val=&quot;0&quot;/&gt;&lt;Image&gt;&lt;filename val=&quot;C:\Users\sanmi\Documents\My Adobe Presentations\ece552-SharedMemoryCoherence\data\asimages\{926E9C96-9D6F-425C-A80B-7154265F7856}_21.png&quot;/&gt;&lt;left val=&quot;562&quot;/&gt;&lt;top val=&quot;388&quot;/&gt;&lt;width val=&quot;78&quot;/&gt;&lt;height val=&quot;38&quot;/&gt;&lt;hasText val=&quot;1&quot;/&gt;&lt;/Image&gt;&lt;/ThreeDShapeInfo&gt;"/>
  <p:tag name="PRESENTER_SHAPETEXTINFO" val="&lt;ShapeTextInfo&gt;&lt;TableIndex row=&quot;-1&quot; col=&quot;-1&quot;&gt;&lt;linesCount val=&quot;1&quot;/&gt;&lt;lineCharCount val=&quot;4&quot;/&gt;&lt;/TableIndex&gt;&lt;/ShapeTextInfo&gt;"/>
</p:tagLst>
</file>

<file path=ppt/tags/tag330.xml><?xml version="1.0" encoding="utf-8"?>
<p:tagLst xmlns:a="http://schemas.openxmlformats.org/drawingml/2006/main" xmlns:r="http://schemas.openxmlformats.org/officeDocument/2006/relationships" xmlns:p="http://schemas.openxmlformats.org/presentationml/2006/main">
  <p:tag name="PRESENTER_SHAPEINFO" val="&lt;ThreeDShapeInfo&gt;&lt;uuid val=&quot;{E9F352F3-215C-447D-90D3-7E3D8025945D}&quot;/&gt;&lt;isInvalidForFieldText val=&quot;0&quot;/&gt;&lt;Image&gt;&lt;filename val=&quot;C:\Users\sanmi\Documents\My Adobe Presentations\ece552-SharedMemoryCoherence\data\asimages\{E9F352F3-215C-447D-90D3-7E3D8025945D}_21.png&quot;/&gt;&lt;left val=&quot;622&quot;/&gt;&lt;top val=&quot;266&quot;/&gt;&lt;width val=&quot;47&quot;/&gt;&lt;height val=&quot;45&quot;/&gt;&lt;hasText val=&quot;1&quot;/&gt;&lt;/Image&gt;&lt;/ThreeDShapeInfo&gt;"/>
  <p:tag name="PRESENTER_SHAPETEXTINFO" val="&lt;ShapeTextInfo&gt;&lt;TableIndex row=&quot;-1&quot; col=&quot;-1&quot;&gt;&lt;linesCount val=&quot;1&quot;/&gt;&lt;lineCharCount val=&quot;2&quot;/&gt;&lt;/TableIndex&gt;&lt;/ShapeTextInfo&gt;"/>
</p:tagLst>
</file>

<file path=ppt/tags/tag331.xml><?xml version="1.0" encoding="utf-8"?>
<p:tagLst xmlns:a="http://schemas.openxmlformats.org/drawingml/2006/main" xmlns:r="http://schemas.openxmlformats.org/officeDocument/2006/relationships" xmlns:p="http://schemas.openxmlformats.org/presentationml/2006/main">
  <p:tag name="PRESENTER_SHAPEINFO" val="&lt;ThreeDShapeInfo&gt;&lt;uuid val=&quot;{177F1B1D-EAB0-4C0C-AEC3-257F1845BD3F}&quot;/&gt;&lt;isInvalidForFieldText val=&quot;0&quot;/&gt;&lt;Image&gt;&lt;filename val=&quot;C:\Users\sanmi\Documents\My Adobe Presentations\ece552-SharedMemoryCoherence\data\asimages\{177F1B1D-EAB0-4C0C-AEC3-257F1845BD3F}_21.png&quot;/&gt;&lt;left val=&quot;554&quot;/&gt;&lt;top val=&quot;296&quot;/&gt;&lt;width val=&quot;13&quot;/&gt;&lt;height val=&quot;20&quot;/&gt;&lt;hasText val=&quot;1&quot;/&gt;&lt;/Image&gt;&lt;/ThreeDShapeInfo&gt;"/>
</p:tagLst>
</file>

<file path=ppt/tags/tag3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33.xml><?xml version="1.0" encoding="utf-8"?>
<p:tagLst xmlns:a="http://schemas.openxmlformats.org/drawingml/2006/main" xmlns:r="http://schemas.openxmlformats.org/officeDocument/2006/relationships" xmlns:p="http://schemas.openxmlformats.org/presentationml/2006/main">
  <p:tag name="PRESENTER_SHAPEINFO" val="&lt;ThreeDShapeInfo&gt;&lt;uuid val=&quot;{251AA5AA-C9F4-4413-B0E9-8177C45AF7F7}&quot;/&gt;&lt;isInvalidForFieldText val=&quot;0&quot;/&gt;&lt;Image&gt;&lt;filename val=&quot;C:\Users\sanmi\Documents\My Adobe Presentations\ece552-SharedMemoryCoherence\data\asimages\{251AA5AA-C9F4-4413-B0E9-8177C45AF7F7}_21.png&quot;/&gt;&lt;left val=&quot;520&quot;/&gt;&lt;top val=&quot;303&quot;/&gt;&lt;width val=&quot;80&quot;/&gt;&lt;height val=&quot;39&quot;/&gt;&lt;hasText val=&quot;1&quot;/&gt;&lt;/Image&gt;&lt;/ThreeDShapeInfo&gt;"/>
  <p:tag name="PRESENTER_SHAPETEXTINFO" val="&lt;ShapeTextInfo&gt;&lt;TableIndex row=&quot;-1&quot; col=&quot;-1&quot;&gt;&lt;linesCount val=&quot;1&quot;/&gt;&lt;lineCharCount val=&quot;5&quot;/&gt;&lt;/TableIndex&gt;&lt;/ShapeTextInfo&gt;"/>
</p:tagLst>
</file>

<file path=ppt/tags/tag334.xml><?xml version="1.0" encoding="utf-8"?>
<p:tagLst xmlns:a="http://schemas.openxmlformats.org/drawingml/2006/main" xmlns:r="http://schemas.openxmlformats.org/officeDocument/2006/relationships" xmlns:p="http://schemas.openxmlformats.org/presentationml/2006/main">
  <p:tag name="PRESENTER_SHAPEINFO" val="&lt;ThreeDShapeInfo&gt;&lt;uuid val=&quot;{6AA9C509-981A-4B32-90F2-E000DE91559F}&quot;/&gt;&lt;isInvalidForFieldText val=&quot;0&quot;/&gt;&lt;Image&gt;&lt;filename val=&quot;C:\Users\sanmi\Documents\My Adobe Presentations\ece552-SharedMemoryCoherence\data\asimages\{6AA9C509-981A-4B32-90F2-E000DE91559F}_21.png&quot;/&gt;&lt;left val=&quot;537&quot;/&gt;&lt;top val=&quot;266&quot;/&gt;&lt;width val=&quot;47&quot;/&gt;&lt;height val=&quot;45&quot;/&gt;&lt;hasText val=&quot;1&quot;/&gt;&lt;/Image&gt;&lt;/ThreeDShapeInfo&gt;"/>
  <p:tag name="PRESENTER_SHAPETEXTINFO" val="&lt;ShapeTextInfo&gt;&lt;TableIndex row=&quot;-1&quot; col=&quot;-1&quot;&gt;&lt;linesCount val=&quot;1&quot;/&gt;&lt;lineCharCount val=&quot;2&quot;/&gt;&lt;/TableIndex&gt;&lt;/ShapeTextInfo&gt;"/>
</p:tagLst>
</file>

<file path=ppt/tags/tag335.xml><?xml version="1.0" encoding="utf-8"?>
<p:tagLst xmlns:a="http://schemas.openxmlformats.org/drawingml/2006/main" xmlns:r="http://schemas.openxmlformats.org/officeDocument/2006/relationships" xmlns:p="http://schemas.openxmlformats.org/presentationml/2006/main">
  <p:tag name="PRESENTER_SHAPEINFO" val="&lt;ThreeDShapeInfo&gt;&lt;uuid val=&quot;{0F9E4EC3-FDB2-47C0-9EB8-2F97D99BDFF3}&quot;/&gt;&lt;isInvalidForFieldText val=&quot;0&quot;/&gt;&lt;Image&gt;&lt;filename val=&quot;C:\Users\sanmi\Documents\My Adobe Presentations\ece552-SharedMemoryCoherence\data\asimages\{0F9E4EC3-FDB2-47C0-9EB8-2F97D99BDFF3}_21.png&quot;/&gt;&lt;left val=&quot;556&quot;/&gt;&lt;top val=&quot;244&quot;/&gt;&lt;width val=&quot;80&quot;/&gt;&lt;height val=&quot;36&quot;/&gt;&lt;hasText val=&quot;1&quot;/&gt;&lt;/Image&gt;&lt;/ThreeDShapeInfo&gt;"/>
  <p:tag name="PRESENTER_SHAPETEXTINFO" val="&lt;ShapeTextInfo&gt;&lt;TableIndex row=&quot;-1&quot; col=&quot;-1&quot;&gt;&lt;linesCount val=&quot;1&quot;/&gt;&lt;lineCharCount val=&quot;9&quot;/&gt;&lt;/TableIndex&gt;&lt;/ShapeTextInfo&gt;"/>
</p:tagLst>
</file>

<file path=ppt/tags/tag336.xml><?xml version="1.0" encoding="utf-8"?>
<p:tagLst xmlns:a="http://schemas.openxmlformats.org/drawingml/2006/main" xmlns:r="http://schemas.openxmlformats.org/officeDocument/2006/relationships" xmlns:p="http://schemas.openxmlformats.org/presentationml/2006/main">
  <p:tag name="PRESENTER_SHAPEINFO" val="&lt;ThreeDShapeInfo&gt;&lt;uuid val=&quot;{4203CDF6-8B4F-4556-8D34-8BC61CA473AB}&quot;/&gt;&lt;isInvalidForFieldText val=&quot;0&quot;/&gt;&lt;Image&gt;&lt;filename val=&quot;C:\Users\sanmi\Documents\My Adobe Presentations\ece552-SharedMemoryCoherence\data\asimages\{4203CDF6-8B4F-4556-8D34-8BC61CA473AB}_21.png&quot;/&gt;&lt;left val=&quot;453&quot;/&gt;&lt;top val=&quot;339&quot;/&gt;&lt;width val=&quot;110&quot;/&gt;&lt;height val=&quot;36&quot;/&gt;&lt;hasText val=&quot;1&quot;/&gt;&lt;/Image&gt;&lt;/ThreeDShapeInfo&gt;"/>
  <p:tag name="PRESENTER_SHAPETEXTINFO" val="&lt;ShapeTextInfo&gt;&lt;TableIndex row=&quot;-1&quot; col=&quot;-1&quot;&gt;&lt;linesCount val=&quot;1&quot;/&gt;&lt;lineCharCount val=&quot;10&quot;/&gt;&lt;/TableIndex&gt;&lt;/ShapeTextInfo&gt;"/>
</p:tagLst>
</file>

<file path=ppt/tags/tag337.xml><?xml version="1.0" encoding="utf-8"?>
<p:tagLst xmlns:a="http://schemas.openxmlformats.org/drawingml/2006/main" xmlns:r="http://schemas.openxmlformats.org/officeDocument/2006/relationships" xmlns:p="http://schemas.openxmlformats.org/presentationml/2006/main">
  <p:tag name="PRESENTER_SHAPEINFO" val="&lt;ThreeDShapeInfo&gt;&lt;uuid val=&quot;{7201F8E5-3792-40CE-A61C-B26145833B21}&quot;/&gt;&lt;isInvalidForFieldText val=&quot;0&quot;/&gt;&lt;Image&gt;&lt;filename val=&quot;C:\Users\sanmi\Documents\My Adobe Presentations\ece552-SharedMemoryCoherence\data\asimages\{7201F8E5-3792-40CE-A61C-B26145833B21}_21.png&quot;/&gt;&lt;left val=&quot;448&quot;/&gt;&lt;top val=&quot;388&quot;/&gt;&lt;width val=&quot;141&quot;/&gt;&lt;height val=&quot;36&quot;/&gt;&lt;hasText val=&quot;1&quot;/&gt;&lt;/Image&gt;&lt;/ThreeDShapeInfo&gt;"/>
  <p:tag name="PRESENTER_SHAPETEXTINFO" val="&lt;ShapeTextInfo&gt;&lt;TableIndex row=&quot;-1&quot; col=&quot;-1&quot;&gt;&lt;linesCount val=&quot;1&quot;/&gt;&lt;lineCharCount val=&quot;13&quot;/&gt;&lt;/TableIndex&gt;&lt;/ShapeTextInfo&gt;"/>
</p:tagLst>
</file>

<file path=ppt/tags/tag338.xml><?xml version="1.0" encoding="utf-8"?>
<p:tagLst xmlns:a="http://schemas.openxmlformats.org/drawingml/2006/main" xmlns:r="http://schemas.openxmlformats.org/officeDocument/2006/relationships" xmlns:p="http://schemas.openxmlformats.org/presentationml/2006/main">
  <p:tag name="PRESENTER_SHAPEINFO" val="&lt;ThreeDShapeInfo&gt;&lt;uuid val=&quot;{09EB8F1D-E8B2-4BD1-BFEB-412354589D1B}&quot;/&gt;&lt;isInvalidForFieldText val=&quot;0&quot;/&gt;&lt;Image&gt;&lt;filename val=&quot;C:\Users\sanmi\Documents\My Adobe Presentations\ece552-SharedMemoryCoherence\data\asimages\{09EB8F1D-E8B2-4BD1-BFEB-412354589D1B}_21.png&quot;/&gt;&lt;left val=&quot;520&quot;/&gt;&lt;top val=&quot;303&quot;/&gt;&lt;width val=&quot;80&quot;/&gt;&lt;height val=&quot;39&quot;/&gt;&lt;hasText val=&quot;1&quot;/&gt;&lt;/Image&gt;&lt;/ThreeDShapeInfo&gt;"/>
  <p:tag name="PRESENTER_SHAPETEXTINFO" val="&lt;ShapeTextInfo&gt;&lt;TableIndex row=&quot;-1&quot; col=&quot;-1&quot;&gt;&lt;linesCount val=&quot;1&quot;/&gt;&lt;lineCharCount val=&quot;10&quot;/&gt;&lt;/TableIndex&gt;&lt;/ShapeTextInfo&gt;"/>
</p:tagLst>
</file>

<file path=ppt/tags/tag33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BDC300E9-520D-4C1B-959E-5CC9B436D47E}_21.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2&quot;/&gt;&lt;/TableIndex&gt;&lt;/ShapeTextInfo&gt;"/>
</p:tagLst>
</file>

<file path=ppt/tags/tag340.xml><?xml version="1.0" encoding="utf-8"?>
<p:tagLst xmlns:a="http://schemas.openxmlformats.org/drawingml/2006/main" xmlns:r="http://schemas.openxmlformats.org/officeDocument/2006/relationships" xmlns:p="http://schemas.openxmlformats.org/presentationml/2006/main">
  <p:tag name="HTML_SHAPEINFO" val="&lt;SlideThumbPath val=&quot;Slide22.PNG&quot;/&gt;"/>
  <p:tag name="PPSNARRATION" val="22,883145026,C:\Users\sanmi\GoogleDrive\UWMdrive\Courses\ECE552\ece552-lec18_SharedMemoryCoherence_pptx\Media.ppcx"/>
</p:tagLst>
</file>

<file path=ppt/tags/tag341.xml><?xml version="1.0" encoding="utf-8"?>
<p:tagLst xmlns:a="http://schemas.openxmlformats.org/drawingml/2006/main" xmlns:r="http://schemas.openxmlformats.org/officeDocument/2006/relationships" xmlns:p="http://schemas.openxmlformats.org/presentationml/2006/main">
  <p:tag name="PRESENTER_SHAPEINFO" val="&lt;ThreeDShapeInfo&gt;&lt;uuid val=&quot;{5B0AADB7-C793-4EF7-A223-34C016DC19E9}&quot;/&gt;&lt;isInvalidForFieldText val=&quot;0&quot;/&gt;&lt;Image&gt;&lt;filename val=&quot;C:\Users\sanmi\Documents\My Adobe Presentations\ece552-SharedMemoryCoherence\data\asimages\{5B0AADB7-C793-4EF7-A223-34C016DC19E9}_22.png&quot;/&gt;&lt;left val=&quot;77&quot;/&gt;&lt;top val=&quot;203&quot;/&gt;&lt;width val=&quot;63&quot;/&gt;&lt;height val=&quot;63&quot;/&gt;&lt;hasText val=&quot;1&quot;/&gt;&lt;/Image&gt;&lt;/ThreeDShapeInfo&gt;"/>
  <p:tag name="PRESENTER_SHAPETEXTINFO" val="&lt;ShapeTextInfo&gt;&lt;TableIndex row=&quot;-1&quot; col=&quot;-1&quot;&gt;&lt;linesCount val=&quot;1&quot;/&gt;&lt;lineCharCount val=&quot;1&quot;/&gt;&lt;/TableIndex&gt;&lt;/ShapeTextInfo&gt;"/>
</p:tagLst>
</file>

<file path=ppt/tags/tag34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97C908EC-4185-41D9-A078-209BA4044A27}_22.png&quot;/&gt;&lt;left val=&quot;195&quot;/&gt;&lt;top val=&quot;185&quot;/&gt;&lt;width val=&quot;79&quot;/&gt;&lt;height val=&quot;26&quot;/&gt;&lt;hasText val=&quot;1&quot;/&gt;&lt;/Image&gt;&lt;/ThreeDShapeInfo&gt;"/>
  <p:tag name="PRESENTER_SHAPETEXTINFO" val="&lt;ShapeTextInfo&gt;&lt;TableIndex row=&quot;-1&quot; col=&quot;-1&quot;&gt;&lt;linesCount val=&quot;1&quot;/&gt;&lt;lineCharCount val=&quot;12&quot;/&gt;&lt;/TableIndex&gt;&lt;/ShapeTextInfo&gt;"/>
</p:tagLst>
</file>

<file path=ppt/tags/tag343.xml><?xml version="1.0" encoding="utf-8"?>
<p:tagLst xmlns:a="http://schemas.openxmlformats.org/drawingml/2006/main" xmlns:r="http://schemas.openxmlformats.org/officeDocument/2006/relationships" xmlns:p="http://schemas.openxmlformats.org/presentationml/2006/main">
  <p:tag name="PRESENTER_SHAPEINFO" val="&lt;ThreeDShapeInfo&gt;&lt;uuid val=&quot;{4D2633DA-47D4-417D-8F8A-875A027EF706}&quot;/&gt;&lt;isInvalidForFieldText val=&quot;0&quot;/&gt;&lt;Image&gt;&lt;filename val=&quot;C:\Users\sanmi\Documents\My Adobe Presentations\ece552-SharedMemoryCoherence\data\asimages\{4D2633DA-47D4-417D-8F8A-875A027EF706}_22.png&quot;/&gt;&lt;left val=&quot;338&quot;/&gt;&lt;top val=&quot;203&quot;/&gt;&lt;width val=&quot;63&quot;/&gt;&lt;height val=&quot;63&quot;/&gt;&lt;hasText val=&quot;1&quot;/&gt;&lt;/Image&gt;&lt;/ThreeDShapeInfo&gt;"/>
  <p:tag name="PRESENTER_SHAPETEXTINFO" val="&lt;ShapeTextInfo&gt;&lt;TableIndex row=&quot;-1&quot; col=&quot;-1&quot;&gt;&lt;linesCount val=&quot;1&quot;/&gt;&lt;lineCharCount val=&quot;1&quot;/&gt;&lt;/TableIndex&gt;&lt;/ShapeTextInfo&gt;"/>
</p:tagLst>
</file>

<file path=ppt/tags/tag344.xml><?xml version="1.0" encoding="utf-8"?>
<p:tagLst xmlns:a="http://schemas.openxmlformats.org/drawingml/2006/main" xmlns:r="http://schemas.openxmlformats.org/officeDocument/2006/relationships" xmlns:p="http://schemas.openxmlformats.org/presentationml/2006/main">
  <p:tag name="HTML_AUTOSHAPE_INFO" val="&lt;ThreeDShapeInfo&gt;&lt;uuid val=&quot;{68B160C2-7926-452D-84A8-72C6AFEAE51E}&quot;/&gt;&lt;isInvalidForFieldText val=&quot;1&quot;/&gt;&lt;Image&gt;&lt;filename val=&quot;C:\Users\sanmi\Documents\My Adobe Presentations\ece552-SharedMemoryCoherence\data\asimages\{68B160C2-7926-452D-84A8-72C6AFEAE51E}_22_S.png&quot;/&gt;&lt;left val=&quot;135&quot;/&gt;&lt;top val=&quot;205&quot;/&gt;&lt;width val=&quot;218&quot;/&gt;&lt;height val=&quot;26&quot;/&gt;&lt;hasText val=&quot;0&quot;/&gt;&lt;/Image&gt;&lt;Image&gt;&lt;filename val=&quot;C:\Users\sanmi\Documents\My Adobe Presentations\ece552-SharedMemoryCoherence\data\asimages\{68B160C2-7926-452D-84A8-72C6AFEAE51E}_22_T.png&quot;/&gt;&lt;left val=&quot;135&quot;/&gt;&lt;top val=&quot;206&quot;/&gt;&lt;width val=&quot;207&quot;/&gt;&lt;height val=&quot;18&quot;/&gt;&lt;hasText val=&quot;1&quot;/&gt;&lt;/Image&gt;&lt;/ThreeDShapeInfo&gt;"/>
  <p:tag name="PRESENTER_SHAPETEXTINFO" val="&lt;ShapeTextInfo&gt;&lt;TableIndex row=&quot;-1&quot; col=&quot;-1&quot;&gt;&lt;linesCount val=&quot;0&quot;/&gt;&lt;/TableIndex&gt;&lt;/ShapeTextInfo&gt;"/>
</p:tagLst>
</file>

<file path=ppt/tags/tag34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C84A5E5-74E4-436A-A7C0-C4E777D369E8}_22.png&quot;/&gt;&lt;left val=&quot;391&quot;/&gt;&lt;top val=&quot;239&quot;/&gt;&lt;width val=&quot;57&quot;/&gt;&lt;height val=&quot;26&quot;/&gt;&lt;hasText val=&quot;1&quot;/&gt;&lt;/Image&gt;&lt;/ThreeDShapeInfo&gt;"/>
  <p:tag name="PRESENTER_SHAPETEXTINFO" val="&lt;ShapeTextInfo&gt;&lt;TableIndex row=&quot;-1&quot; col=&quot;-1&quot;&gt;&lt;linesCount val=&quot;1&quot;/&gt;&lt;lineCharCount val=&quot;9&quot;/&gt;&lt;/TableIndex&gt;&lt;/ShapeTextInfo&gt;"/>
</p:tagLst>
</file>

<file path=ppt/tags/tag34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E7531377-8FD1-405A-80FF-0B481595DB48}_22.png&quot;/&gt;&lt;left val=&quot;367&quot;/&gt;&lt;top val=&quot;186&quot;/&gt;&lt;width val=&quot;64&quot;/&gt;&lt;height val=&quot;26&quot;/&gt;&lt;hasText val=&quot;1&quot;/&gt;&lt;/Image&gt;&lt;/ThreeDShapeInfo&gt;"/>
  <p:tag name="PRESENTER_SHAPETEXTINFO" val="&lt;ShapeTextInfo&gt;&lt;TableIndex row=&quot;-1&quot; col=&quot;-1&quot;&gt;&lt;linesCount val=&quot;1&quot;/&gt;&lt;lineCharCount val=&quot;10&quot;/&gt;&lt;/TableIndex&gt;&lt;/ShapeTextInfo&gt;"/>
</p:tagLst>
</file>

<file path=ppt/tags/tag347.xml><?xml version="1.0" encoding="utf-8"?>
<p:tagLst xmlns:a="http://schemas.openxmlformats.org/drawingml/2006/main" xmlns:r="http://schemas.openxmlformats.org/officeDocument/2006/relationships" xmlns:p="http://schemas.openxmlformats.org/presentationml/2006/main">
  <p:tag name="HTML_AUTOSHAPE_INFO" val="&lt;ThreeDShapeInfo&gt;&lt;uuid val=&quot;{FDCF6E31-87C0-4F5B-BBD9-3A4E8A8F6DF0}&quot;/&gt;&lt;isInvalidForFieldText val=&quot;1&quot;/&gt;&lt;Image&gt;&lt;filename val=&quot;C:\Users\sanmi\Documents\My Adobe Presentations\ece552-SharedMemoryCoherence\data\asimages\{FDCF6E31-87C0-4F5B-BBD9-3A4E8A8F6DF0}_22_S.png&quot;/&gt;&lt;left val=&quot;393&quot;/&gt;&lt;top val=&quot;205&quot;/&gt;&lt;width val=&quot;41&quot;/&gt;&lt;height val=&quot;36&quot;/&gt;&lt;hasText val=&quot;0&quot;/&gt;&lt;/Image&gt;&lt;Image&gt;&lt;filename val=&quot;C:\Users\sanmi\Documents\My Adobe Presentations\ece552-SharedMemoryCoherence\data\asimages\{FDCF6E31-87C0-4F5B-BBD9-3A4E8A8F6DF0}_22_T.png&quot;/&gt;&lt;left val=&quot;398&quot;/&gt;&lt;top val=&quot;206&quot;/&gt;&lt;width val=&quot;36&quot;/&gt;&lt;height val=&quot;35&quot;/&gt;&lt;hasText val=&quot;1&quot;/&gt;&lt;/Image&gt;&lt;/ThreeDShapeInfo&gt;"/>
  <p:tag name="PRESENTER_SHAPETEXTINFO" val="&lt;ShapeTextInfo&gt;&lt;TableIndex row=&quot;-1&quot; col=&quot;-1&quot;&gt;&lt;linesCount val=&quot;0&quot;/&gt;&lt;/TableIndex&gt;&lt;/ShapeTextInfo&gt;"/>
</p:tagLst>
</file>

<file path=ppt/tags/tag348.xml><?xml version="1.0" encoding="utf-8"?>
<p:tagLst xmlns:a="http://schemas.openxmlformats.org/drawingml/2006/main" xmlns:r="http://schemas.openxmlformats.org/officeDocument/2006/relationships" xmlns:p="http://schemas.openxmlformats.org/presentationml/2006/main">
  <p:tag name="PRESENTER_SHAPEINFO" val="&lt;ThreeDShapeInfo&gt;&lt;uuid val=&quot;{700460E9-7A3E-489C-8416-F29F758E344A}&quot;/&gt;&lt;isInvalidForFieldText val=&quot;0&quot;/&gt;&lt;Image&gt;&lt;filename val=&quot;C:\Users\sanmi\Documents\My Adobe Presentations\ece552-SharedMemoryCoherence\data\asimages\{700460E9-7A3E-489C-8416-F29F758E344A}_22.png&quot;/&gt;&lt;left val=&quot;543&quot;/&gt;&lt;top val=&quot;347&quot;/&gt;&lt;width val=&quot;116&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349.xml><?xml version="1.0" encoding="utf-8"?>
<p:tagLst xmlns:a="http://schemas.openxmlformats.org/drawingml/2006/main" xmlns:r="http://schemas.openxmlformats.org/officeDocument/2006/relationships" xmlns:p="http://schemas.openxmlformats.org/presentationml/2006/main">
  <p:tag name="PRESENTER_SHAPEINFO" val="&lt;ThreeDShapeInfo&gt;&lt;uuid val=&quot;{05D34A8F-83B5-463F-8D22-633B962CA1F8}&quot;/&gt;&lt;isInvalidForFieldText val=&quot;0&quot;/&gt;&lt;Image&gt;&lt;filename val=&quot;C:\Users\sanmi\Documents\My Adobe Presentations\ece552-SharedMemoryCoherence\data\asimages\{05D34A8F-83B5-463F-8D22-633B962CA1F8}_22.png&quot;/&gt;&lt;left val=&quot;639&quot;/&gt;&lt;top val=&quot;296&quot;/&gt;&lt;width val=&quot;13&quot;/&gt;&lt;height val=&quot;20&quot;/&gt;&lt;hasText val=&quot;1&quot;/&gt;&lt;/Image&gt;&lt;/ThreeDShapeInfo&gt;"/>
</p:tagLst>
</file>

<file path=ppt/tags/tag3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51.xml><?xml version="1.0" encoding="utf-8"?>
<p:tagLst xmlns:a="http://schemas.openxmlformats.org/drawingml/2006/main" xmlns:r="http://schemas.openxmlformats.org/officeDocument/2006/relationships" xmlns:p="http://schemas.openxmlformats.org/presentationml/2006/main">
  <p:tag name="PRESENTER_SHAPEINFO" val="&lt;ThreeDShapeInfo&gt;&lt;uuid val=&quot;{F7F13D88-6328-4183-9145-48BDFC1873BE}&quot;/&gt;&lt;isInvalidForFieldText val=&quot;0&quot;/&gt;&lt;Image&gt;&lt;filename val=&quot;C:\Users\sanmi\Documents\My Adobe Presentations\ece552-SharedMemoryCoherence\data\asimages\{F7F13D88-6328-4183-9145-48BDFC1873BE}_22.png&quot;/&gt;&lt;left val=&quot;606&quot;/&gt;&lt;top val=&quot;303&quot;/&gt;&lt;width val=&quot;80&quot;/&gt;&lt;height val=&quot;38&quot;/&gt;&lt;hasText val=&quot;1&quot;/&gt;&lt;/Image&gt;&lt;/ThreeDShapeInfo&gt;"/>
  <p:tag name="PRESENTER_SHAPETEXTINFO" val="&lt;ShapeTextInfo&gt;&lt;TableIndex row=&quot;-1&quot; col=&quot;-1&quot;&gt;&lt;linesCount val=&quot;1&quot;/&gt;&lt;lineCharCount val=&quot;5&quot;/&gt;&lt;/TableIndex&gt;&lt;/ShapeTextInfo&gt;"/>
</p:tagLst>
</file>

<file path=ppt/tags/tag352.xml><?xml version="1.0" encoding="utf-8"?>
<p:tagLst xmlns:a="http://schemas.openxmlformats.org/drawingml/2006/main" xmlns:r="http://schemas.openxmlformats.org/officeDocument/2006/relationships" xmlns:p="http://schemas.openxmlformats.org/presentationml/2006/main">
  <p:tag name="PRESENTER_SHAPEINFO" val="&lt;ThreeDShapeInfo&gt;&lt;uuid val=&quot;{73627C87-A101-4363-BC67-8DA1EC9CD602}&quot;/&gt;&lt;isInvalidForFieldText val=&quot;0&quot;/&gt;&lt;Image&gt;&lt;filename val=&quot;C:\Users\sanmi\Documents\My Adobe Presentations\ece552-SharedMemoryCoherence\data\asimages\{73627C87-A101-4363-BC67-8DA1EC9CD602}_22.png&quot;/&gt;&lt;left val=&quot;562&quot;/&gt;&lt;top val=&quot;389&quot;/&gt;&lt;width val=&quot;78&quot;/&gt;&lt;height val=&quot;38&quot;/&gt;&lt;hasText val=&quot;1&quot;/&gt;&lt;/Image&gt;&lt;/ThreeDShapeInfo&gt;"/>
  <p:tag name="PRESENTER_SHAPETEXTINFO" val="&lt;ShapeTextInfo&gt;&lt;TableIndex row=&quot;-1&quot; col=&quot;-1&quot;&gt;&lt;linesCount val=&quot;1&quot;/&gt;&lt;lineCharCount val=&quot;4&quot;/&gt;&lt;/TableIndex&gt;&lt;/ShapeTextInfo&gt;"/>
</p:tagLst>
</file>

<file path=ppt/tags/tag353.xml><?xml version="1.0" encoding="utf-8"?>
<p:tagLst xmlns:a="http://schemas.openxmlformats.org/drawingml/2006/main" xmlns:r="http://schemas.openxmlformats.org/officeDocument/2006/relationships" xmlns:p="http://schemas.openxmlformats.org/presentationml/2006/main">
  <p:tag name="PRESENTER_SHAPEINFO" val="&lt;ThreeDShapeInfo&gt;&lt;uuid val=&quot;{FA5784F4-4364-4FF5-86AA-999525F9DBD7}&quot;/&gt;&lt;isInvalidForFieldText val=&quot;0&quot;/&gt;&lt;Image&gt;&lt;filename val=&quot;C:\Users\sanmi\Documents\My Adobe Presentations\ece552-SharedMemoryCoherence\data\asimages\{FA5784F4-4364-4FF5-86AA-999525F9DBD7}_22.png&quot;/&gt;&lt;left val=&quot;622&quot;/&gt;&lt;top val=&quot;266&quot;/&gt;&lt;width val=&quot;47&quot;/&gt;&lt;height val=&quot;45&quot;/&gt;&lt;hasText val=&quot;1&quot;/&gt;&lt;/Image&gt;&lt;/ThreeDShapeInfo&gt;"/>
  <p:tag name="PRESENTER_SHAPETEXTINFO" val="&lt;ShapeTextInfo&gt;&lt;TableIndex row=&quot;-1&quot; col=&quot;-1&quot;&gt;&lt;linesCount val=&quot;1&quot;/&gt;&lt;lineCharCount val=&quot;2&quot;/&gt;&lt;/TableIndex&gt;&lt;/ShapeTextInfo&gt;"/>
</p:tagLst>
</file>

<file path=ppt/tags/tag354.xml><?xml version="1.0" encoding="utf-8"?>
<p:tagLst xmlns:a="http://schemas.openxmlformats.org/drawingml/2006/main" xmlns:r="http://schemas.openxmlformats.org/officeDocument/2006/relationships" xmlns:p="http://schemas.openxmlformats.org/presentationml/2006/main">
  <p:tag name="PRESENTER_SHAPEINFO" val="&lt;ThreeDShapeInfo&gt;&lt;uuid val=&quot;{E7D77DF7-FAA1-4440-BDB4-F2331BCB8DB5}&quot;/&gt;&lt;isInvalidForFieldText val=&quot;0&quot;/&gt;&lt;Image&gt;&lt;filename val=&quot;C:\Users\sanmi\Documents\My Adobe Presentations\ece552-SharedMemoryCoherence\data\asimages\{E7D77DF7-FAA1-4440-BDB4-F2331BCB8DB5}_22.png&quot;/&gt;&lt;left val=&quot;554&quot;/&gt;&lt;top val=&quot;296&quot;/&gt;&lt;width val=&quot;13&quot;/&gt;&lt;height val=&quot;20&quot;/&gt;&lt;hasText val=&quot;1&quot;/&gt;&lt;/Image&gt;&lt;/ThreeDShapeInfo&gt;"/>
</p:tagLst>
</file>

<file path=ppt/tags/tag3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56.xml><?xml version="1.0" encoding="utf-8"?>
<p:tagLst xmlns:a="http://schemas.openxmlformats.org/drawingml/2006/main" xmlns:r="http://schemas.openxmlformats.org/officeDocument/2006/relationships" xmlns:p="http://schemas.openxmlformats.org/presentationml/2006/main">
  <p:tag name="PRESENTER_SHAPEINFO" val="&lt;ThreeDShapeInfo&gt;&lt;uuid val=&quot;{8D2289CE-3D59-4EBC-877C-F2EB6C8B1D24}&quot;/&gt;&lt;isInvalidForFieldText val=&quot;0&quot;/&gt;&lt;Image&gt;&lt;filename val=&quot;C:\Users\sanmi\Documents\My Adobe Presentations\ece552-SharedMemoryCoherence\data\asimages\{8D2289CE-3D59-4EBC-877C-F2EB6C8B1D24}_22.png&quot;/&gt;&lt;left val=&quot;520&quot;/&gt;&lt;top val=&quot;303&quot;/&gt;&lt;width val=&quot;80&quot;/&gt;&lt;height val=&quot;38&quot;/&gt;&lt;hasText val=&quot;1&quot;/&gt;&lt;/Image&gt;&lt;/ThreeDShapeInfo&gt;"/>
  <p:tag name="PRESENTER_SHAPETEXTINFO" val="&lt;ShapeTextInfo&gt;&lt;TableIndex row=&quot;-1&quot; col=&quot;-1&quot;&gt;&lt;linesCount val=&quot;1&quot;/&gt;&lt;lineCharCount val=&quot;8&quot;/&gt;&lt;/TableIndex&gt;&lt;/ShapeTextInfo&gt;"/>
</p:tagLst>
</file>

<file path=ppt/tags/tag357.xml><?xml version="1.0" encoding="utf-8"?>
<p:tagLst xmlns:a="http://schemas.openxmlformats.org/drawingml/2006/main" xmlns:r="http://schemas.openxmlformats.org/officeDocument/2006/relationships" xmlns:p="http://schemas.openxmlformats.org/presentationml/2006/main">
  <p:tag name="PRESENTER_SHAPEINFO" val="&lt;ThreeDShapeInfo&gt;&lt;uuid val=&quot;{B19D1192-E9ED-4DCA-9AD7-626F6F6ACE8D}&quot;/&gt;&lt;isInvalidForFieldText val=&quot;0&quot;/&gt;&lt;Image&gt;&lt;filename val=&quot;C:\Users\sanmi\Documents\My Adobe Presentations\ece552-SharedMemoryCoherence\data\asimages\{B19D1192-E9ED-4DCA-9AD7-626F6F6ACE8D}_22.png&quot;/&gt;&lt;left val=&quot;537&quot;/&gt;&lt;top val=&quot;266&quot;/&gt;&lt;width val=&quot;47&quot;/&gt;&lt;height val=&quot;45&quot;/&gt;&lt;hasText val=&quot;1&quot;/&gt;&lt;/Image&gt;&lt;/ThreeDShapeInfo&gt;"/>
  <p:tag name="PRESENTER_SHAPETEXTINFO" val="&lt;ShapeTextInfo&gt;&lt;TableIndex row=&quot;-1&quot; col=&quot;-1&quot;&gt;&lt;linesCount val=&quot;1&quot;/&gt;&lt;lineCharCount val=&quot;2&quot;/&gt;&lt;/TableIndex&gt;&lt;/ShapeTextInfo&gt;"/>
</p:tagLst>
</file>

<file path=ppt/tags/tag358.xml><?xml version="1.0" encoding="utf-8"?>
<p:tagLst xmlns:a="http://schemas.openxmlformats.org/drawingml/2006/main" xmlns:r="http://schemas.openxmlformats.org/officeDocument/2006/relationships" xmlns:p="http://schemas.openxmlformats.org/presentationml/2006/main">
  <p:tag name="PRESENTER_SHAPEINFO" val="&lt;ThreeDShapeInfo&gt;&lt;uuid val=&quot;{5414F197-40F5-4C59-83DC-402E3CF6010A}&quot;/&gt;&lt;isInvalidForFieldText val=&quot;0&quot;/&gt;&lt;Image&gt;&lt;filename val=&quot;C:\Users\sanmi\Documents\My Adobe Presentations\ece552-SharedMemoryCoherence\data\asimages\{5414F197-40F5-4C59-83DC-402E3CF6010A}_22.png&quot;/&gt;&lt;left val=&quot;637&quot;/&gt;&lt;top val=&quot;244&quot;/&gt;&lt;width val=&quot;80&quot;/&gt;&lt;height val=&quot;36&quot;/&gt;&lt;hasText val=&quot;1&quot;/&gt;&lt;/Image&gt;&lt;/ThreeDShapeInfo&gt;"/>
  <p:tag name="PRESENTER_SHAPETEXTINFO" val="&lt;ShapeTextInfo&gt;&lt;TableIndex row=&quot;-1&quot; col=&quot;-1&quot;&gt;&lt;linesCount val=&quot;1&quot;/&gt;&lt;lineCharCount val=&quot;9&quot;/&gt;&lt;/TableIndex&gt;&lt;/ShapeTextInfo&gt;"/>
</p:tagLst>
</file>

<file path=ppt/tags/tag359.xml><?xml version="1.0" encoding="utf-8"?>
<p:tagLst xmlns:a="http://schemas.openxmlformats.org/drawingml/2006/main" xmlns:r="http://schemas.openxmlformats.org/officeDocument/2006/relationships" xmlns:p="http://schemas.openxmlformats.org/presentationml/2006/main">
  <p:tag name="PRESENTER_SHAPEINFO" val="&lt;ThreeDShapeInfo&gt;&lt;uuid val=&quot;{F6CFF012-AF03-4F16-8220-2DADC7BD915B}&quot;/&gt;&lt;isInvalidForFieldText val=&quot;0&quot;/&gt;&lt;Image&gt;&lt;filename val=&quot;C:\Users\sanmi\Documents\My Adobe Presentations\ece552-SharedMemoryCoherence\data\asimages\{F6CFF012-AF03-4F16-8220-2DADC7BD915B}_22.png&quot;/&gt;&lt;left val=&quot;624&quot;/&gt;&lt;top val=&quot;330&quot;/&gt;&lt;width val=&quot;93&quot;/&gt;&lt;height val=&quot;36&quot;/&gt;&lt;hasText val=&quot;1&quot;/&gt;&lt;/Image&gt;&lt;/ThreeDShapeInfo&gt;"/>
  <p:tag name="PRESENTER_SHAPETEXTINFO" val="&lt;ShapeTextInfo&gt;&lt;TableIndex row=&quot;-1&quot; col=&quot;-1&quot;&gt;&lt;linesCount val=&quot;1&quot;/&gt;&lt;lineCharCount val=&quot;10&quot;/&gt;&lt;/TableIndex&gt;&lt;/ShapeTextInfo&gt;"/>
</p:tagLst>
</file>

<file path=ppt/tags/tag360.xml><?xml version="1.0" encoding="utf-8"?>
<p:tagLst xmlns:a="http://schemas.openxmlformats.org/drawingml/2006/main" xmlns:r="http://schemas.openxmlformats.org/officeDocument/2006/relationships" xmlns:p="http://schemas.openxmlformats.org/presentationml/2006/main">
  <p:tag name="PRESENTER_SHAPEINFO" val="&lt;ThreeDShapeInfo&gt;&lt;uuid val=&quot;{15B69762-6109-431D-9DD6-92BC536AF454}&quot;/&gt;&lt;isInvalidForFieldText val=&quot;0&quot;/&gt;&lt;Image&gt;&lt;filename val=&quot;C:\Users\sanmi\Documents\My Adobe Presentations\ece552-SharedMemoryCoherence\data\asimages\{15B69762-6109-431D-9DD6-92BC536AF454}_22.png&quot;/&gt;&lt;left val=&quot;463&quot;/&gt;&lt;top val=&quot;401&quot;/&gt;&lt;width val=&quot;114&quot;/&gt;&lt;height val=&quot;42&quot;/&gt;&lt;hasText val=&quot;1&quot;/&gt;&lt;/Image&gt;&lt;/ThreeDShapeInfo&gt;"/>
  <p:tag name="PRESENTER_SHAPETEXTINFO" val="&lt;ShapeTextInfo&gt;&lt;TableIndex row=&quot;-1&quot; col=&quot;-1&quot;&gt;&lt;linesCount val=&quot;1&quot;/&gt;&lt;lineCharCount val=&quot;13&quot;/&gt;&lt;/TableIndex&gt;&lt;/ShapeTextInfo&gt;"/>
</p:tagLst>
</file>

<file path=ppt/tags/tag361.xml><?xml version="1.0" encoding="utf-8"?>
<p:tagLst xmlns:a="http://schemas.openxmlformats.org/drawingml/2006/main" xmlns:r="http://schemas.openxmlformats.org/officeDocument/2006/relationships" xmlns:p="http://schemas.openxmlformats.org/presentationml/2006/main">
  <p:tag name="PRESENTER_SHAPEINFO" val="&lt;ThreeDShapeInfo&gt;&lt;uuid val=&quot;{DDBBC7DD-58F4-4D2E-A49E-9ACE16033A75}&quot;/&gt;&lt;isInvalidForFieldText val=&quot;0&quot;/&gt;&lt;Image&gt;&lt;filename val=&quot;C:\Users\sanmi\Documents\My Adobe Presentations\ece552-SharedMemoryCoherence\data\asimages\{DDBBC7DD-58F4-4D2E-A49E-9ACE16033A75}_22.png&quot;/&gt;&lt;left val=&quot;606&quot;/&gt;&lt;top val=&quot;303&quot;/&gt;&lt;width val=&quot;80&quot;/&gt;&lt;height val=&quot;38&quot;/&gt;&lt;hasText val=&quot;1&quot;/&gt;&lt;/Image&gt;&lt;/ThreeDShapeInfo&gt;"/>
  <p:tag name="PRESENTER_SHAPETEXTINFO" val="&lt;ShapeTextInfo&gt;&lt;TableIndex row=&quot;-1&quot; col=&quot;-1&quot;&gt;&lt;linesCount val=&quot;1&quot;/&gt;&lt;lineCharCount val=&quot;10&quot;/&gt;&lt;/TableIndex&gt;&lt;/ShapeTextInfo&gt;"/>
</p:tagLst>
</file>

<file path=ppt/tags/tag36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0DDC8515-5800-40CB-9A19-5A2916076411}_2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2&quot;/&gt;&lt;/TableIndex&gt;&lt;/ShapeTextInfo&gt;"/>
</p:tagLst>
</file>

<file path=ppt/tags/tag363.xml><?xml version="1.0" encoding="utf-8"?>
<p:tagLst xmlns:a="http://schemas.openxmlformats.org/drawingml/2006/main" xmlns:r="http://schemas.openxmlformats.org/officeDocument/2006/relationships" xmlns:p="http://schemas.openxmlformats.org/presentationml/2006/main">
  <p:tag name="PRESENTER_SHAPEINFO" val="&lt;ThreeDShapeInfo&gt;&lt;uuid val=&quot;{19F89B06-C144-49C6-B6EE-A1BBE72C8771}&quot;/&gt;&lt;isInvalidForFieldText val=&quot;0&quot;/&gt;&lt;Image&gt;&lt;filename val=&quot;C:\Users\sanmi\Documents\My Adobe Presentations\ece552-SharedMemoryCoherence\data\asimages\{19F89B06-C144-49C6-B6EE-A1BBE72C8771}_22.png&quot;/&gt;&lt;left val=&quot;556&quot;/&gt;&lt;top val=&quot;244&quot;/&gt;&lt;width val=&quot;80&quot;/&gt;&lt;height val=&quot;36&quot;/&gt;&lt;hasText val=&quot;1&quot;/&gt;&lt;/Image&gt;&lt;/ThreeDShapeInfo&gt;"/>
  <p:tag name="PRESENTER_SHAPETEXTINFO" val="&lt;ShapeTextInfo&gt;&lt;TableIndex row=&quot;-1&quot; col=&quot;-1&quot;&gt;&lt;linesCount val=&quot;1&quot;/&gt;&lt;lineCharCount val=&quot;9&quot;/&gt;&lt;/TableIndex&gt;&lt;/ShapeTextInfo&gt;"/>
</p:tagLst>
</file>

<file path=ppt/tags/tag364.xml><?xml version="1.0" encoding="utf-8"?>
<p:tagLst xmlns:a="http://schemas.openxmlformats.org/drawingml/2006/main" xmlns:r="http://schemas.openxmlformats.org/officeDocument/2006/relationships" xmlns:p="http://schemas.openxmlformats.org/presentationml/2006/main">
  <p:tag name="HTML_SHAPEINFO" val="&lt;SlideThumbPath val=&quot;Slide23.PNG&quot;/&gt;"/>
  <p:tag name="PPSNARRATION" val="23,883145026,C:\Users\sanmi\GoogleDrive\UWMdrive\Courses\ECE552\ece552-lec18_SharedMemoryCoherence_pptx\Media.ppcx"/>
</p:tagLst>
</file>

<file path=ppt/tags/tag365.xml><?xml version="1.0" encoding="utf-8"?>
<p:tagLst xmlns:a="http://schemas.openxmlformats.org/drawingml/2006/main" xmlns:r="http://schemas.openxmlformats.org/officeDocument/2006/relationships" xmlns:p="http://schemas.openxmlformats.org/presentationml/2006/main">
  <p:tag name="PRESENTER_SHAPEINFO" val="&lt;ThreeDShapeInfo&gt;&lt;uuid val=&quot;{A57DC27C-5783-4248-8C75-068B0B8C9410}&quot;/&gt;&lt;isInvalidForFieldText val=&quot;0&quot;/&gt;&lt;Image&gt;&lt;filename val=&quot;C:\Users\sanmi\Documents\My Adobe Presentations\ece552-SharedMemoryCoherence\data\asimages\{A57DC27C-5783-4248-8C75-068B0B8C9410}_23.png&quot;/&gt;&lt;left val=&quot;77&quot;/&gt;&lt;top val=&quot;203&quot;/&gt;&lt;width val=&quot;63&quot;/&gt;&lt;height val=&quot;63&quot;/&gt;&lt;hasText val=&quot;1&quot;/&gt;&lt;/Image&gt;&lt;/ThreeDShapeInfo&gt;"/>
  <p:tag name="PRESENTER_SHAPETEXTINFO" val="&lt;ShapeTextInfo&gt;&lt;TableIndex row=&quot;-1&quot; col=&quot;-1&quot;&gt;&lt;linesCount val=&quot;1&quot;/&gt;&lt;lineCharCount val=&quot;1&quot;/&gt;&lt;/TableIndex&gt;&lt;/ShapeTextInfo&gt;"/>
</p:tagLst>
</file>

<file path=ppt/tags/tag36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A151B4D5-803E-40EA-A795-1331EC0BD6A7}_23.png&quot;/&gt;&lt;left val=&quot;195&quot;/&gt;&lt;top val=&quot;185&quot;/&gt;&lt;width val=&quot;79&quot;/&gt;&lt;height val=&quot;26&quot;/&gt;&lt;hasText val=&quot;1&quot;/&gt;&lt;/Image&gt;&lt;/ThreeDShapeInfo&gt;"/>
  <p:tag name="PRESENTER_SHAPETEXTINFO" val="&lt;ShapeTextInfo&gt;&lt;TableIndex row=&quot;-1&quot; col=&quot;-1&quot;&gt;&lt;linesCount val=&quot;1&quot;/&gt;&lt;lineCharCount val=&quot;12&quot;/&gt;&lt;/TableIndex&gt;&lt;/ShapeTextInfo&gt;"/>
</p:tagLst>
</file>

<file path=ppt/tags/tag367.xml><?xml version="1.0" encoding="utf-8"?>
<p:tagLst xmlns:a="http://schemas.openxmlformats.org/drawingml/2006/main" xmlns:r="http://schemas.openxmlformats.org/officeDocument/2006/relationships" xmlns:p="http://schemas.openxmlformats.org/presentationml/2006/main">
  <p:tag name="PRESENTER_SHAPEINFO" val="&lt;ThreeDShapeInfo&gt;&lt;uuid val=&quot;{896120B8-7E35-4250-99C3-C9BC10972D52}&quot;/&gt;&lt;isInvalidForFieldText val=&quot;0&quot;/&gt;&lt;Image&gt;&lt;filename val=&quot;C:\Users\sanmi\Documents\My Adobe Presentations\ece552-SharedMemoryCoherence\data\asimages\{896120B8-7E35-4250-99C3-C9BC10972D52}_23.png&quot;/&gt;&lt;left val=&quot;338&quot;/&gt;&lt;top val=&quot;203&quot;/&gt;&lt;width val=&quot;63&quot;/&gt;&lt;height val=&quot;63&quot;/&gt;&lt;hasText val=&quot;1&quot;/&gt;&lt;/Image&gt;&lt;/ThreeDShapeInfo&gt;"/>
  <p:tag name="PRESENTER_SHAPETEXTINFO" val="&lt;ShapeTextInfo&gt;&lt;TableIndex row=&quot;-1&quot; col=&quot;-1&quot;&gt;&lt;linesCount val=&quot;1&quot;/&gt;&lt;lineCharCount val=&quot;1&quot;/&gt;&lt;/TableIndex&gt;&lt;/ShapeTextInfo&gt;"/>
</p:tagLst>
</file>

<file path=ppt/tags/tag368.xml><?xml version="1.0" encoding="utf-8"?>
<p:tagLst xmlns:a="http://schemas.openxmlformats.org/drawingml/2006/main" xmlns:r="http://schemas.openxmlformats.org/officeDocument/2006/relationships" xmlns:p="http://schemas.openxmlformats.org/presentationml/2006/main">
  <p:tag name="HTML_AUTOSHAPE_INFO" val="&lt;ThreeDShapeInfo&gt;&lt;uuid val=&quot;{89DFD585-FA95-46FD-B932-AF0CD3F20EBF}&quot;/&gt;&lt;isInvalidForFieldText val=&quot;1&quot;/&gt;&lt;Image&gt;&lt;filename val=&quot;C:\Users\sanmi\Documents\My Adobe Presentations\ece552-SharedMemoryCoherence\data\asimages\{89DFD585-FA95-46FD-B932-AF0CD3F20EBF}_23_S.png&quot;/&gt;&lt;left val=&quot;135&quot;/&gt;&lt;top val=&quot;205&quot;/&gt;&lt;width val=&quot;218&quot;/&gt;&lt;height val=&quot;26&quot;/&gt;&lt;hasText val=&quot;0&quot;/&gt;&lt;/Image&gt;&lt;Image&gt;&lt;filename val=&quot;C:\Users\sanmi\Documents\My Adobe Presentations\ece552-SharedMemoryCoherence\data\asimages\{89DFD585-FA95-46FD-B932-AF0CD3F20EBF}_23_T.png&quot;/&gt;&lt;left val=&quot;135&quot;/&gt;&lt;top val=&quot;206&quot;/&gt;&lt;width val=&quot;207&quot;/&gt;&lt;height val=&quot;18&quot;/&gt;&lt;hasText val=&quot;1&quot;/&gt;&lt;/Image&gt;&lt;/ThreeDShapeInfo&gt;"/>
  <p:tag name="PRESENTER_SHAPETEXTINFO" val="&lt;ShapeTextInfo&gt;&lt;TableIndex row=&quot;-1&quot; col=&quot;-1&quot;&gt;&lt;linesCount val=&quot;0&quot;/&gt;&lt;/TableIndex&gt;&lt;/ShapeTextInfo&gt;"/>
</p:tagLst>
</file>

<file path=ppt/tags/tag36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524874C-5EE5-4C84-AE46-A8F090BEAB0B}_23.png&quot;/&gt;&lt;left val=&quot;391&quot;/&gt;&lt;top val=&quot;239&quot;/&gt;&lt;width val=&quot;56&quot;/&gt;&lt;height val=&quot;26&quot;/&gt;&lt;hasText val=&quot;1&quot;/&gt;&lt;/Image&gt;&lt;/ThreeDShapeInfo&gt;"/>
  <p:tag name="PRESENTER_SHAPETEXTINFO" val="&lt;ShapeTextInfo&gt;&lt;TableIndex row=&quot;-1&quot; col=&quot;-1&quot;&gt;&lt;linesCount val=&quot;1&quot;/&gt;&lt;lineCharCount val=&quot;9&quot;/&gt;&lt;/TableIndex&gt;&lt;/ShapeTextInfo&gt;"/>
</p:tagLst>
</file>

<file path=ppt/tags/tag37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76F85580-15E0-49EA-BC2A-3743206A4B87}_23.png&quot;/&gt;&lt;left val=&quot;367&quot;/&gt;&lt;top val=&quot;186&quot;/&gt;&lt;width val=&quot;63&quot;/&gt;&lt;height val=&quot;26&quot;/&gt;&lt;hasText val=&quot;1&quot;/&gt;&lt;/Image&gt;&lt;/ThreeDShapeInfo&gt;"/>
  <p:tag name="PRESENTER_SHAPETEXTINFO" val="&lt;ShapeTextInfo&gt;&lt;TableIndex row=&quot;-1&quot; col=&quot;-1&quot;&gt;&lt;linesCount val=&quot;1&quot;/&gt;&lt;lineCharCount val=&quot;10&quot;/&gt;&lt;/TableIndex&gt;&lt;/ShapeTextInfo&gt;"/>
</p:tagLst>
</file>

<file path=ppt/tags/tag371.xml><?xml version="1.0" encoding="utf-8"?>
<p:tagLst xmlns:a="http://schemas.openxmlformats.org/drawingml/2006/main" xmlns:r="http://schemas.openxmlformats.org/officeDocument/2006/relationships" xmlns:p="http://schemas.openxmlformats.org/presentationml/2006/main">
  <p:tag name="HTML_AUTOSHAPE_INFO" val="&lt;ThreeDShapeInfo&gt;&lt;uuid val=&quot;{27AA2E82-5C13-4379-B985-3640D43DF8B6}&quot;/&gt;&lt;isInvalidForFieldText val=&quot;1&quot;/&gt;&lt;Image&gt;&lt;filename val=&quot;C:\Users\sanmi\Documents\My Adobe Presentations\ece552-SharedMemoryCoherence\data\asimages\{27AA2E82-5C13-4379-B985-3640D43DF8B6}_23_S.png&quot;/&gt;&lt;left val=&quot;393&quot;/&gt;&lt;top val=&quot;205&quot;/&gt;&lt;width val=&quot;41&quot;/&gt;&lt;height val=&quot;36&quot;/&gt;&lt;hasText val=&quot;0&quot;/&gt;&lt;/Image&gt;&lt;Image&gt;&lt;filename val=&quot;C:\Users\sanmi\Documents\My Adobe Presentations\ece552-SharedMemoryCoherence\data\asimages\{27AA2E82-5C13-4379-B985-3640D43DF8B6}_23_T.png&quot;/&gt;&lt;left val=&quot;398&quot;/&gt;&lt;top val=&quot;206&quot;/&gt;&lt;width val=&quot;36&quot;/&gt;&lt;height val=&quot;35&quot;/&gt;&lt;hasText val=&quot;1&quot;/&gt;&lt;/Image&gt;&lt;/ThreeDShapeInfo&gt;"/>
  <p:tag name="PRESENTER_SHAPETEXTINFO" val="&lt;ShapeTextInfo&gt;&lt;TableIndex row=&quot;-1&quot; col=&quot;-1&quot;&gt;&lt;linesCount val=&quot;0&quot;/&gt;&lt;/TableIndex&gt;&lt;/ShapeTextInfo&gt;"/>
</p:tagLst>
</file>

<file path=ppt/tags/tag372.xml><?xml version="1.0" encoding="utf-8"?>
<p:tagLst xmlns:a="http://schemas.openxmlformats.org/drawingml/2006/main" xmlns:r="http://schemas.openxmlformats.org/officeDocument/2006/relationships" xmlns:p="http://schemas.openxmlformats.org/presentationml/2006/main">
  <p:tag name="HTML_AUTOSHAPE_INFO" val="&lt;ThreeDShapeInfo&gt;&lt;uuid val=&quot;{EA8C05D8-3809-4A7B-9088-31D5E25F3E03}&quot;/&gt;&lt;isInvalidForFieldText val=&quot;1&quot;/&gt;&lt;Image&gt;&lt;filename val=&quot;C:\Users\sanmi\Documents\My Adobe Presentations\ece552-SharedMemoryCoherence\data\asimages\{EA8C05D8-3809-4A7B-9088-31D5E25F3E03}_23_S.png&quot;/&gt;&lt;left val=&quot;125&quot;/&gt;&lt;top val=&quot;230&quot;/&gt;&lt;width val=&quot;218&quot;/&gt;&lt;height val=&quot;26&quot;/&gt;&lt;hasText val=&quot;0&quot;/&gt;&lt;/Image&gt;&lt;Image&gt;&lt;filename val=&quot;C:\Users\sanmi\Documents\My Adobe Presentations\ece552-SharedMemoryCoherence\data\asimages\{EA8C05D8-3809-4A7B-9088-31D5E25F3E03}_23_T.png&quot;/&gt;&lt;left val=&quot;135&quot;/&gt;&lt;top val=&quot;237&quot;/&gt;&lt;width val=&quot;207&quot;/&gt;&lt;height val=&quot;18&quot;/&gt;&lt;hasText val=&quot;1&quot;/&gt;&lt;/Image&gt;&lt;/ThreeDShapeInfo&gt;"/>
  <p:tag name="PRESENTER_SHAPETEXTINFO" val="&lt;ShapeTextInfo&gt;&lt;TableIndex row=&quot;-1&quot; col=&quot;-1&quot;&gt;&lt;linesCount val=&quot;0&quot;/&gt;&lt;/TableIndex&gt;&lt;/ShapeTextInfo&gt;"/>
</p:tagLst>
</file>

<file path=ppt/tags/tag37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0DB32091-1F7D-4788-80DA-4CBB8B6152D5}_23.png&quot;/&gt;&lt;left val=&quot;207&quot;/&gt;&lt;top val=&quot;254&quot;/&gt;&lt;width val=&quot;56&quot;/&gt;&lt;height val=&quot;26&quot;/&gt;&lt;hasText val=&quot;1&quot;/&gt;&lt;/Image&gt;&lt;/ThreeDShapeInfo&gt;"/>
  <p:tag name="PRESENTER_SHAPETEXTINFO" val="&lt;ShapeTextInfo&gt;&lt;TableIndex row=&quot;-1&quot; col=&quot;-1&quot;&gt;&lt;linesCount val=&quot;1&quot;/&gt;&lt;lineCharCount val=&quot;10&quot;/&gt;&lt;/TableIndex&gt;&lt;/ShapeTextInfo&gt;"/>
</p:tagLst>
</file>

<file path=ppt/tags/tag374.xml><?xml version="1.0" encoding="utf-8"?>
<p:tagLst xmlns:a="http://schemas.openxmlformats.org/drawingml/2006/main" xmlns:r="http://schemas.openxmlformats.org/officeDocument/2006/relationships" xmlns:p="http://schemas.openxmlformats.org/presentationml/2006/main">
  <p:tag name="PRESENTER_SHAPEINFO" val="&lt;ThreeDShapeInfo&gt;&lt;uuid val=&quot;{278A3359-BD59-4242-BCF1-7F27C1EB9DFE}&quot;/&gt;&lt;isInvalidForFieldText val=&quot;0&quot;/&gt;&lt;Image&gt;&lt;filename val=&quot;C:\Users\sanmi\Documents\My Adobe Presentations\ece552-SharedMemoryCoherence\data\asimages\{278A3359-BD59-4242-BCF1-7F27C1EB9DFE}_23.png&quot;/&gt;&lt;left val=&quot;543&quot;/&gt;&lt;top val=&quot;348&quot;/&gt;&lt;width val=&quot;116&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375.xml><?xml version="1.0" encoding="utf-8"?>
<p:tagLst xmlns:a="http://schemas.openxmlformats.org/drawingml/2006/main" xmlns:r="http://schemas.openxmlformats.org/officeDocument/2006/relationships" xmlns:p="http://schemas.openxmlformats.org/presentationml/2006/main">
  <p:tag name="PRESENTER_SHAPEINFO" val="&lt;ThreeDShapeInfo&gt;&lt;uuid val=&quot;{E154A22B-8592-4629-9620-B8CFC5DF968B}&quot;/&gt;&lt;isInvalidForFieldText val=&quot;0&quot;/&gt;&lt;Image&gt;&lt;filename val=&quot;C:\Users\sanmi\Documents\My Adobe Presentations\ece552-SharedMemoryCoherence\data\asimages\{E154A22B-8592-4629-9620-B8CFC5DF968B}_23.png&quot;/&gt;&lt;left val=&quot;639&quot;/&gt;&lt;top val=&quot;296&quot;/&gt;&lt;width val=&quot;13&quot;/&gt;&lt;height val=&quot;20&quot;/&gt;&lt;hasText val=&quot;1&quot;/&gt;&lt;/Image&gt;&lt;/ThreeDShapeInfo&gt;"/>
</p:tagLst>
</file>

<file path=ppt/tags/tag3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7.xml><?xml version="1.0" encoding="utf-8"?>
<p:tagLst xmlns:a="http://schemas.openxmlformats.org/drawingml/2006/main" xmlns:r="http://schemas.openxmlformats.org/officeDocument/2006/relationships" xmlns:p="http://schemas.openxmlformats.org/presentationml/2006/main">
  <p:tag name="PRESENTER_SHAPEINFO" val="&lt;ThreeDShapeInfo&gt;&lt;uuid val=&quot;{3280CB84-8571-4C91-936F-3ECDBB579F44}&quot;/&gt;&lt;isInvalidForFieldText val=&quot;0&quot;/&gt;&lt;Image&gt;&lt;filename val=&quot;C:\Users\sanmi\Documents\My Adobe Presentations\ece552-SharedMemoryCoherence\data\asimages\{3280CB84-8571-4C91-936F-3ECDBB579F44}_23.png&quot;/&gt;&lt;left val=&quot;606&quot;/&gt;&lt;top val=&quot;304&quot;/&gt;&lt;width val=&quot;80&quot;/&gt;&lt;height val=&quot;38&quot;/&gt;&lt;hasText val=&quot;1&quot;/&gt;&lt;/Image&gt;&lt;/ThreeDShapeInfo&gt;"/>
  <p:tag name="PRESENTER_SHAPETEXTINFO" val="&lt;ShapeTextInfo&gt;&lt;TableIndex row=&quot;-1&quot; col=&quot;-1&quot;&gt;&lt;linesCount val=&quot;1&quot;/&gt;&lt;lineCharCount val=&quot;5&quot;/&gt;&lt;/TableIndex&gt;&lt;/ShapeTextInfo&gt;"/>
</p:tagLst>
</file>

<file path=ppt/tags/tag378.xml><?xml version="1.0" encoding="utf-8"?>
<p:tagLst xmlns:a="http://schemas.openxmlformats.org/drawingml/2006/main" xmlns:r="http://schemas.openxmlformats.org/officeDocument/2006/relationships" xmlns:p="http://schemas.openxmlformats.org/presentationml/2006/main">
  <p:tag name="PRESENTER_SHAPEINFO" val="&lt;ThreeDShapeInfo&gt;&lt;uuid val=&quot;{610A5B72-0670-4E11-A1F5-0D2E590587B2}&quot;/&gt;&lt;isInvalidForFieldText val=&quot;0&quot;/&gt;&lt;Image&gt;&lt;filename val=&quot;C:\Users\sanmi\Documents\My Adobe Presentations\ece552-SharedMemoryCoherence\data\asimages\{610A5B72-0670-4E11-A1F5-0D2E590587B2}_23.png&quot;/&gt;&lt;left val=&quot;562&quot;/&gt;&lt;top val=&quot;389&quot;/&gt;&lt;width val=&quot;78&quot;/&gt;&lt;height val=&quot;39&quot;/&gt;&lt;hasText val=&quot;1&quot;/&gt;&lt;/Image&gt;&lt;/ThreeDShapeInfo&gt;"/>
  <p:tag name="PRESENTER_SHAPETEXTINFO" val="&lt;ShapeTextInfo&gt;&lt;TableIndex row=&quot;-1&quot; col=&quot;-1&quot;&gt;&lt;linesCount val=&quot;1&quot;/&gt;&lt;lineCharCount val=&quot;4&quot;/&gt;&lt;/TableIndex&gt;&lt;/ShapeTextInfo&gt;"/>
</p:tagLst>
</file>

<file path=ppt/tags/tag379.xml><?xml version="1.0" encoding="utf-8"?>
<p:tagLst xmlns:a="http://schemas.openxmlformats.org/drawingml/2006/main" xmlns:r="http://schemas.openxmlformats.org/officeDocument/2006/relationships" xmlns:p="http://schemas.openxmlformats.org/presentationml/2006/main">
  <p:tag name="PRESENTER_SHAPEINFO" val="&lt;ThreeDShapeInfo&gt;&lt;uuid val=&quot;{591B9107-416F-416D-B4CC-259E2CB684E3}&quot;/&gt;&lt;isInvalidForFieldText val=&quot;0&quot;/&gt;&lt;Image&gt;&lt;filename val=&quot;C:\Users\sanmi\Documents\My Adobe Presentations\ece552-SharedMemoryCoherence\data\asimages\{591B9107-416F-416D-B4CC-259E2CB684E3}_23.png&quot;/&gt;&lt;left val=&quot;622&quot;/&gt;&lt;top val=&quot;267&quot;/&gt;&lt;width val=&quot;47&quot;/&gt;&lt;height val=&quot;45&quot;/&gt;&lt;hasText val=&quot;1&quot;/&gt;&lt;/Image&gt;&lt;/ThreeDShapeInfo&gt;"/>
  <p:tag name="PRESENTER_SHAPETEXTINFO" val="&lt;ShapeTextInfo&gt;&lt;TableIndex row=&quot;-1&quot; col=&quot;-1&quot;&gt;&lt;linesCount val=&quot;1&quot;/&gt;&lt;lineCharCount val=&quot;2&quot;/&gt;&lt;/TableIndex&gt;&lt;/ShapeTextInfo&gt;"/>
</p:tagLst>
</file>

<file path=ppt/tags/tag380.xml><?xml version="1.0" encoding="utf-8"?>
<p:tagLst xmlns:a="http://schemas.openxmlformats.org/drawingml/2006/main" xmlns:r="http://schemas.openxmlformats.org/officeDocument/2006/relationships" xmlns:p="http://schemas.openxmlformats.org/presentationml/2006/main">
  <p:tag name="PRESENTER_SHAPEINFO" val="&lt;ThreeDShapeInfo&gt;&lt;uuid val=&quot;{5AEE4235-067B-4F97-AE4A-1762CE3157C6}&quot;/&gt;&lt;isInvalidForFieldText val=&quot;0&quot;/&gt;&lt;Image&gt;&lt;filename val=&quot;C:\Users\sanmi\Documents\My Adobe Presentations\ece552-SharedMemoryCoherence\data\asimages\{5AEE4235-067B-4F97-AE4A-1762CE3157C6}_23.png&quot;/&gt;&lt;left val=&quot;554&quot;/&gt;&lt;top val=&quot;296&quot;/&gt;&lt;width val=&quot;13&quot;/&gt;&lt;height val=&quot;20&quot;/&gt;&lt;hasText val=&quot;1&quot;/&gt;&lt;/Image&gt;&lt;/ThreeDShapeInfo&gt;"/>
</p:tagLst>
</file>

<file path=ppt/tags/tag3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82.xml><?xml version="1.0" encoding="utf-8"?>
<p:tagLst xmlns:a="http://schemas.openxmlformats.org/drawingml/2006/main" xmlns:r="http://schemas.openxmlformats.org/officeDocument/2006/relationships" xmlns:p="http://schemas.openxmlformats.org/presentationml/2006/main">
  <p:tag name="PRESENTER_SHAPEINFO" val="&lt;ThreeDShapeInfo&gt;&lt;uuid val=&quot;{09A0A9F5-FB8C-4687-BE8D-D2BA511C820E}&quot;/&gt;&lt;isInvalidForFieldText val=&quot;0&quot;/&gt;&lt;Image&gt;&lt;filename val=&quot;C:\Users\sanmi\Documents\My Adobe Presentations\ece552-SharedMemoryCoherence\data\asimages\{09A0A9F5-FB8C-4687-BE8D-D2BA511C820E}_23.png&quot;/&gt;&lt;left val=&quot;520&quot;/&gt;&lt;top val=&quot;304&quot;/&gt;&lt;width val=&quot;80&quot;/&gt;&lt;height val=&quot;38&quot;/&gt;&lt;hasText val=&quot;1&quot;/&gt;&lt;/Image&gt;&lt;/ThreeDShapeInfo&gt;"/>
  <p:tag name="PRESENTER_SHAPETEXTINFO" val="&lt;ShapeTextInfo&gt;&lt;TableIndex row=&quot;-1&quot; col=&quot;-1&quot;&gt;&lt;linesCount val=&quot;1&quot;/&gt;&lt;lineCharCount val=&quot;8&quot;/&gt;&lt;/TableIndex&gt;&lt;/ShapeTextInfo&gt;"/>
</p:tagLst>
</file>

<file path=ppt/tags/tag383.xml><?xml version="1.0" encoding="utf-8"?>
<p:tagLst xmlns:a="http://schemas.openxmlformats.org/drawingml/2006/main" xmlns:r="http://schemas.openxmlformats.org/officeDocument/2006/relationships" xmlns:p="http://schemas.openxmlformats.org/presentationml/2006/main">
  <p:tag name="PRESENTER_SHAPEINFO" val="&lt;ThreeDShapeInfo&gt;&lt;uuid val=&quot;{B357F3F1-C9BA-408A-93B5-47EAB876F8B8}&quot;/&gt;&lt;isInvalidForFieldText val=&quot;0&quot;/&gt;&lt;Image&gt;&lt;filename val=&quot;C:\Users\sanmi\Documents\My Adobe Presentations\ece552-SharedMemoryCoherence\data\asimages\{B357F3F1-C9BA-408A-93B5-47EAB876F8B8}_23.png&quot;/&gt;&lt;left val=&quot;537&quot;/&gt;&lt;top val=&quot;267&quot;/&gt;&lt;width val=&quot;47&quot;/&gt;&lt;height val=&quot;45&quot;/&gt;&lt;hasText val=&quot;1&quot;/&gt;&lt;/Image&gt;&lt;/ThreeDShapeInfo&gt;"/>
  <p:tag name="PRESENTER_SHAPETEXTINFO" val="&lt;ShapeTextInfo&gt;&lt;TableIndex row=&quot;-1&quot; col=&quot;-1&quot;&gt;&lt;linesCount val=&quot;1&quot;/&gt;&lt;lineCharCount val=&quot;2&quot;/&gt;&lt;/TableIndex&gt;&lt;/ShapeTextInfo&gt;"/>
</p:tagLst>
</file>

<file path=ppt/tags/tag384.xml><?xml version="1.0" encoding="utf-8"?>
<p:tagLst xmlns:a="http://schemas.openxmlformats.org/drawingml/2006/main" xmlns:r="http://schemas.openxmlformats.org/officeDocument/2006/relationships" xmlns:p="http://schemas.openxmlformats.org/presentationml/2006/main">
  <p:tag name="PRESENTER_SHAPEINFO" val="&lt;ThreeDShapeInfo&gt;&lt;uuid val=&quot;{02976572-8105-42B4-968D-2DC4E023D45D}&quot;/&gt;&lt;isInvalidForFieldText val=&quot;0&quot;/&gt;&lt;Image&gt;&lt;filename val=&quot;C:\Users\sanmi\Documents\My Adobe Presentations\ece552-SharedMemoryCoherence\data\asimages\{02976572-8105-42B4-968D-2DC4E023D45D}_23.png&quot;/&gt;&lt;left val=&quot;606&quot;/&gt;&lt;top val=&quot;304&quot;/&gt;&lt;width val=&quot;80&quot;/&gt;&lt;height val=&quot;38&quot;/&gt;&lt;hasText val=&quot;1&quot;/&gt;&lt;/Image&gt;&lt;/ThreeDShapeInfo&gt;"/>
  <p:tag name="PRESENTER_SHAPETEXTINFO" val="&lt;ShapeTextInfo&gt;&lt;TableIndex row=&quot;-1&quot; col=&quot;-1&quot;&gt;&lt;linesCount val=&quot;1&quot;/&gt;&lt;lineCharCount val=&quot;8&quot;/&gt;&lt;/TableIndex&gt;&lt;/ShapeTextInfo&gt;"/>
</p:tagLst>
</file>

<file path=ppt/tags/tag385.xml><?xml version="1.0" encoding="utf-8"?>
<p:tagLst xmlns:a="http://schemas.openxmlformats.org/drawingml/2006/main" xmlns:r="http://schemas.openxmlformats.org/officeDocument/2006/relationships" xmlns:p="http://schemas.openxmlformats.org/presentationml/2006/main">
  <p:tag name="PRESENTER_SHAPEINFO" val="&lt;ThreeDShapeInfo&gt;&lt;uuid val=&quot;{D0C65F0A-E97A-4E5F-B338-6D8964E526CB}&quot;/&gt;&lt;isInvalidForFieldText val=&quot;0&quot;/&gt;&lt;Image&gt;&lt;filename val=&quot;C:\Users\sanmi\Documents\My Adobe Presentations\ece552-SharedMemoryCoherence\data\asimages\{D0C65F0A-E97A-4E5F-B338-6D8964E526CB}_23.png&quot;/&gt;&lt;left val=&quot;606&quot;/&gt;&lt;top val=&quot;303&quot;/&gt;&lt;width val=&quot;80&quot;/&gt;&lt;height val=&quot;38&quot;/&gt;&lt;hasText val=&quot;1&quot;/&gt;&lt;/Image&gt;&lt;/ThreeDShapeInfo&gt;"/>
  <p:tag name="PRESENTER_SHAPETEXTINFO" val="&lt;ShapeTextInfo&gt;&lt;TableIndex row=&quot;-1&quot; col=&quot;-1&quot;&gt;&lt;linesCount val=&quot;1&quot;/&gt;&lt;lineCharCount val=&quot;7&quot;/&gt;&lt;/TableIndex&gt;&lt;/ShapeTextInfo&gt;"/>
</p:tagLst>
</file>

<file path=ppt/tags/tag386.xml><?xml version="1.0" encoding="utf-8"?>
<p:tagLst xmlns:a="http://schemas.openxmlformats.org/drawingml/2006/main" xmlns:r="http://schemas.openxmlformats.org/officeDocument/2006/relationships" xmlns:p="http://schemas.openxmlformats.org/presentationml/2006/main">
  <p:tag name="PRESENTER_SHAPEINFO" val="&lt;ThreeDShapeInfo&gt;&lt;uuid val=&quot;{1D63888D-A512-4D60-A486-8F8AD25984DB}&quot;/&gt;&lt;isInvalidForFieldText val=&quot;0&quot;/&gt;&lt;Image&gt;&lt;filename val=&quot;C:\Users\sanmi\Documents\My Adobe Presentations\ece552-SharedMemoryCoherence\data\asimages\{1D63888D-A512-4D60-A486-8F8AD25984DB}_23.png&quot;/&gt;&lt;left val=&quot;637&quot;/&gt;&lt;top val=&quot;245&quot;/&gt;&lt;width val=&quot;80&quot;/&gt;&lt;height val=&quot;36&quot;/&gt;&lt;hasText val=&quot;1&quot;/&gt;&lt;/Image&gt;&lt;/ThreeDShapeInfo&gt;"/>
  <p:tag name="PRESENTER_SHAPETEXTINFO" val="&lt;ShapeTextInfo&gt;&lt;TableIndex row=&quot;-1&quot; col=&quot;-1&quot;&gt;&lt;linesCount val=&quot;1&quot;/&gt;&lt;lineCharCount val=&quot;7&quot;/&gt;&lt;/TableIndex&gt;&lt;/ShapeTextInfo&gt;"/>
</p:tagLst>
</file>

<file path=ppt/tags/tag38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B8A16774-A070-4E0F-8644-A531C65DB754}_23.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2&quot;/&gt;&lt;/TableIndex&gt;&lt;/ShapeTextInfo&gt;"/>
</p:tagLst>
</file>

<file path=ppt/tags/tag388.xml><?xml version="1.0" encoding="utf-8"?>
<p:tagLst xmlns:a="http://schemas.openxmlformats.org/drawingml/2006/main" xmlns:r="http://schemas.openxmlformats.org/officeDocument/2006/relationships" xmlns:p="http://schemas.openxmlformats.org/presentationml/2006/main">
  <p:tag name="HTML_SHAPEINFO" val="&lt;SlideThumbPath val=&quot;Slide24.PNG&quot;/&gt;"/>
  <p:tag name="PPSNARRATION" val="24,883145026,C:\Users\sanmi\GoogleDrive\UWMdrive\Courses\ECE552\ece552-lec18_SharedMemoryCoherence_pptx\Media.ppcx"/>
</p:tagLst>
</file>

<file path=ppt/tags/tag38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8BF32783-97B5-4478-A9D3-DFC157C72872}_24.png&quot;/&gt;&lt;left val=&quot;18&quot;/&gt;&lt;top val=&quot;288&quot;/&gt;&lt;width val=&quot;90&quot;/&gt;&lt;height val=&quot;26&quot;/&gt;&lt;hasText val=&quot;1&quot;/&gt;&lt;/Image&gt;&lt;/ThreeDShapeInfo&gt;"/>
  <p:tag name="PRESENTER_SHAPETEXTINFO" val="&lt;ShapeTextInfo&gt;&lt;TableIndex row=&quot;-1&quot; col=&quot;-1&quot;&gt;&lt;linesCount val=&quot;1&quot;/&gt;&lt;lineCharCount val=&quot;14&quot;/&gt;&lt;/TableIndex&gt;&lt;/ShapeTextInfo&gt;"/>
</p:tagLst>
</file>

<file path=ppt/tags/tag390.xml><?xml version="1.0" encoding="utf-8"?>
<p:tagLst xmlns:a="http://schemas.openxmlformats.org/drawingml/2006/main" xmlns:r="http://schemas.openxmlformats.org/officeDocument/2006/relationships" xmlns:p="http://schemas.openxmlformats.org/presentationml/2006/main">
  <p:tag name="PRESENTER_SHAPEINFO" val="&lt;ThreeDShapeInfo&gt;&lt;uuid val=&quot;{AFD19D6D-EB84-42ED-A968-7C66B5BEA2AB}&quot;/&gt;&lt;isInvalidForFieldText val=&quot;0&quot;/&gt;&lt;Image&gt;&lt;filename val=&quot;C:\Users\sanmi\Documents\My Adobe Presentations\ece552-SharedMemoryCoherence\data\asimages\{AFD19D6D-EB84-42ED-A968-7C66B5BEA2AB}_24.png&quot;/&gt;&lt;left val=&quot;77&quot;/&gt;&lt;top val=&quot;203&quot;/&gt;&lt;width val=&quot;63&quot;/&gt;&lt;height val=&quot;63&quot;/&gt;&lt;hasText val=&quot;1&quot;/&gt;&lt;/Image&gt;&lt;/ThreeDShapeInfo&gt;"/>
  <p:tag name="PRESENTER_SHAPETEXTINFO" val="&lt;ShapeTextInfo&gt;&lt;TableIndex row=&quot;-1&quot; col=&quot;-1&quot;&gt;&lt;linesCount val=&quot;1&quot;/&gt;&lt;lineCharCount val=&quot;1&quot;/&gt;&lt;/TableIndex&gt;&lt;/ShapeTextInfo&gt;"/>
</p:tagLst>
</file>

<file path=ppt/tags/tag39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6DB3039-112C-48BA-98D6-222B5CAC8DD7}_24.png&quot;/&gt;&lt;left val=&quot;195&quot;/&gt;&lt;top val=&quot;185&quot;/&gt;&lt;width val=&quot;79&quot;/&gt;&lt;height val=&quot;26&quot;/&gt;&lt;hasText val=&quot;1&quot;/&gt;&lt;/Image&gt;&lt;/ThreeDShapeInfo&gt;"/>
  <p:tag name="PRESENTER_SHAPETEXTINFO" val="&lt;ShapeTextInfo&gt;&lt;TableIndex row=&quot;-1&quot; col=&quot;-1&quot;&gt;&lt;linesCount val=&quot;1&quot;/&gt;&lt;lineCharCount val=&quot;12&quot;/&gt;&lt;/TableIndex&gt;&lt;/ShapeTextInfo&gt;"/>
</p:tagLst>
</file>

<file path=ppt/tags/tag392.xml><?xml version="1.0" encoding="utf-8"?>
<p:tagLst xmlns:a="http://schemas.openxmlformats.org/drawingml/2006/main" xmlns:r="http://schemas.openxmlformats.org/officeDocument/2006/relationships" xmlns:p="http://schemas.openxmlformats.org/presentationml/2006/main">
  <p:tag name="PRESENTER_SHAPEINFO" val="&lt;ThreeDShapeInfo&gt;&lt;uuid val=&quot;{120A59AA-776C-42E3-9528-981599A77B27}&quot;/&gt;&lt;isInvalidForFieldText val=&quot;0&quot;/&gt;&lt;Image&gt;&lt;filename val=&quot;C:\Users\sanmi\Documents\My Adobe Presentations\ece552-SharedMemoryCoherence\data\asimages\{120A59AA-776C-42E3-9528-981599A77B27}_24.png&quot;/&gt;&lt;left val=&quot;338&quot;/&gt;&lt;top val=&quot;203&quot;/&gt;&lt;width val=&quot;63&quot;/&gt;&lt;height val=&quot;63&quot;/&gt;&lt;hasText val=&quot;1&quot;/&gt;&lt;/Image&gt;&lt;/ThreeDShapeInfo&gt;"/>
  <p:tag name="PRESENTER_SHAPETEXTINFO" val="&lt;ShapeTextInfo&gt;&lt;TableIndex row=&quot;-1&quot; col=&quot;-1&quot;&gt;&lt;linesCount val=&quot;1&quot;/&gt;&lt;lineCharCount val=&quot;1&quot;/&gt;&lt;/TableIndex&gt;&lt;/ShapeTextInfo&gt;"/>
</p:tagLst>
</file>

<file path=ppt/tags/tag393.xml><?xml version="1.0" encoding="utf-8"?>
<p:tagLst xmlns:a="http://schemas.openxmlformats.org/drawingml/2006/main" xmlns:r="http://schemas.openxmlformats.org/officeDocument/2006/relationships" xmlns:p="http://schemas.openxmlformats.org/presentationml/2006/main">
  <p:tag name="HTML_AUTOSHAPE_INFO" val="&lt;ThreeDShapeInfo&gt;&lt;uuid val=&quot;{D7CD7572-90AE-43D4-B9C7-3B9CDD1E06A0}&quot;/&gt;&lt;isInvalidForFieldText val=&quot;1&quot;/&gt;&lt;Image&gt;&lt;filename val=&quot;C:\Users\sanmi\Documents\My Adobe Presentations\ece552-SharedMemoryCoherence\data\asimages\{D7CD7572-90AE-43D4-B9C7-3B9CDD1E06A0}_24_S.png&quot;/&gt;&lt;left val=&quot;135&quot;/&gt;&lt;top val=&quot;205&quot;/&gt;&lt;width val=&quot;218&quot;/&gt;&lt;height val=&quot;26&quot;/&gt;&lt;hasText val=&quot;0&quot;/&gt;&lt;/Image&gt;&lt;Image&gt;&lt;filename val=&quot;C:\Users\sanmi\Documents\My Adobe Presentations\ece552-SharedMemoryCoherence\data\asimages\{D7CD7572-90AE-43D4-B9C7-3B9CDD1E06A0}_24_T.png&quot;/&gt;&lt;left val=&quot;135&quot;/&gt;&lt;top val=&quot;206&quot;/&gt;&lt;width val=&quot;207&quot;/&gt;&lt;height val=&quot;18&quot;/&gt;&lt;hasText val=&quot;1&quot;/&gt;&lt;/Image&gt;&lt;/ThreeDShapeInfo&gt;"/>
  <p:tag name="PRESENTER_SHAPETEXTINFO" val="&lt;ShapeTextInfo&gt;&lt;TableIndex row=&quot;-1&quot; col=&quot;-1&quot;&gt;&lt;linesCount val=&quot;0&quot;/&gt;&lt;/TableIndex&gt;&lt;/ShapeTextInfo&gt;"/>
</p:tagLst>
</file>

<file path=ppt/tags/tag39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3AEAF9F9-F09B-460F-9891-13368666A9DD}_24.png&quot;/&gt;&lt;left val=&quot;391&quot;/&gt;&lt;top val=&quot;239&quot;/&gt;&lt;width val=&quot;56&quot;/&gt;&lt;height val=&quot;26&quot;/&gt;&lt;hasText val=&quot;1&quot;/&gt;&lt;/Image&gt;&lt;/ThreeDShapeInfo&gt;"/>
  <p:tag name="PRESENTER_SHAPETEXTINFO" val="&lt;ShapeTextInfo&gt;&lt;TableIndex row=&quot;-1&quot; col=&quot;-1&quot;&gt;&lt;linesCount val=&quot;1&quot;/&gt;&lt;lineCharCount val=&quot;9&quot;/&gt;&lt;/TableIndex&gt;&lt;/ShapeTextInfo&gt;"/>
</p:tagLst>
</file>

<file path=ppt/tags/tag39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DE762164-1177-44DE-9AA5-E0B1975BC007}_24.png&quot;/&gt;&lt;left val=&quot;367&quot;/&gt;&lt;top val=&quot;186&quot;/&gt;&lt;width val=&quot;63&quot;/&gt;&lt;height val=&quot;26&quot;/&gt;&lt;hasText val=&quot;1&quot;/&gt;&lt;/Image&gt;&lt;/ThreeDShapeInfo&gt;"/>
  <p:tag name="PRESENTER_SHAPETEXTINFO" val="&lt;ShapeTextInfo&gt;&lt;TableIndex row=&quot;-1&quot; col=&quot;-1&quot;&gt;&lt;linesCount val=&quot;1&quot;/&gt;&lt;lineCharCount val=&quot;10&quot;/&gt;&lt;/TableIndex&gt;&lt;/ShapeTextInfo&gt;"/>
</p:tagLst>
</file>

<file path=ppt/tags/tag396.xml><?xml version="1.0" encoding="utf-8"?>
<p:tagLst xmlns:a="http://schemas.openxmlformats.org/drawingml/2006/main" xmlns:r="http://schemas.openxmlformats.org/officeDocument/2006/relationships" xmlns:p="http://schemas.openxmlformats.org/presentationml/2006/main">
  <p:tag name="HTML_AUTOSHAPE_INFO" val="&lt;ThreeDShapeInfo&gt;&lt;uuid val=&quot;{A6CFCF4D-604F-48FA-91B3-50E4A45BEB9A}&quot;/&gt;&lt;isInvalidForFieldText val=&quot;1&quot;/&gt;&lt;Image&gt;&lt;filename val=&quot;C:\Users\sanmi\Documents\My Adobe Presentations\ece552-SharedMemoryCoherence\data\asimages\{A6CFCF4D-604F-48FA-91B3-50E4A45BEB9A}_24_S.png&quot;/&gt;&lt;left val=&quot;393&quot;/&gt;&lt;top val=&quot;205&quot;/&gt;&lt;width val=&quot;41&quot;/&gt;&lt;height val=&quot;36&quot;/&gt;&lt;hasText val=&quot;0&quot;/&gt;&lt;/Image&gt;&lt;Image&gt;&lt;filename val=&quot;C:\Users\sanmi\Documents\My Adobe Presentations\ece552-SharedMemoryCoherence\data\asimages\{A6CFCF4D-604F-48FA-91B3-50E4A45BEB9A}_24_T.png&quot;/&gt;&lt;left val=&quot;398&quot;/&gt;&lt;top val=&quot;206&quot;/&gt;&lt;width val=&quot;36&quot;/&gt;&lt;height val=&quot;35&quot;/&gt;&lt;hasText val=&quot;1&quot;/&gt;&lt;/Image&gt;&lt;/ThreeDShapeInfo&gt;"/>
  <p:tag name="PRESENTER_SHAPETEXTINFO" val="&lt;ShapeTextInfo&gt;&lt;TableIndex row=&quot;-1&quot; col=&quot;-1&quot;&gt;&lt;linesCount val=&quot;0&quot;/&gt;&lt;/TableIndex&gt;&lt;/ShapeTextInfo&gt;"/>
</p:tagLst>
</file>

<file path=ppt/tags/tag397.xml><?xml version="1.0" encoding="utf-8"?>
<p:tagLst xmlns:a="http://schemas.openxmlformats.org/drawingml/2006/main" xmlns:r="http://schemas.openxmlformats.org/officeDocument/2006/relationships" xmlns:p="http://schemas.openxmlformats.org/presentationml/2006/main">
  <p:tag name="PRESENTER_SHAPEINFO" val="&lt;ThreeDShapeInfo&gt;&lt;uuid val=&quot;{1E2C705D-5A30-4FEC-BFD5-6110C8465BEF}&quot;/&gt;&lt;isInvalidForFieldText val=&quot;0&quot;/&gt;&lt;Image&gt;&lt;filename val=&quot;C:\Users\sanmi\Documents\My Adobe Presentations\ece552-SharedMemoryCoherence\data\asimages\{1E2C705D-5A30-4FEC-BFD5-6110C8465BEF}_24.png&quot;/&gt;&lt;left val=&quot;82&quot;/&gt;&lt;top val=&quot;392&quot;/&gt;&lt;width val=&quot;63&quot;/&gt;&lt;height val=&quot;63&quot;/&gt;&lt;hasText val=&quot;1&quot;/&gt;&lt;/Image&gt;&lt;/ThreeDShapeInfo&gt;"/>
  <p:tag name="PRESENTER_SHAPETEXTINFO" val="&lt;ShapeTextInfo&gt;&lt;TableIndex row=&quot;-1&quot; col=&quot;-1&quot;&gt;&lt;linesCount val=&quot;1&quot;/&gt;&lt;lineCharCount val=&quot;1&quot;/&gt;&lt;/TableIndex&gt;&lt;/ShapeTextInfo&gt;"/>
</p:tagLst>
</file>

<file path=ppt/tags/tag398.xml><?xml version="1.0" encoding="utf-8"?>
<p:tagLst xmlns:a="http://schemas.openxmlformats.org/drawingml/2006/main" xmlns:r="http://schemas.openxmlformats.org/officeDocument/2006/relationships" xmlns:p="http://schemas.openxmlformats.org/presentationml/2006/main">
  <p:tag name="HTML_AUTOSHAPE_INFO" val="&lt;ThreeDShapeInfo&gt;&lt;uuid val=&quot;{7E9B557A-36D3-400D-97A5-3B9E568854EE}&quot;/&gt;&lt;isInvalidForFieldText val=&quot;1&quot;/&gt;&lt;Image&gt;&lt;filename val=&quot;C:\Users\sanmi\Documents\My Adobe Presentations\ece552-SharedMemoryCoherence\data\asimages\{7E9B557A-36D3-400D-97A5-3B9E568854EE}_24_S.png&quot;/&gt;&lt;left val=&quot;80&quot;/&gt;&lt;top val=&quot;260&quot;/&gt;&lt;width val=&quot;29&quot;/&gt;&lt;height val=&quot;146&quot;/&gt;&lt;hasText val=&quot;0&quot;/&gt;&lt;/Image&gt;&lt;Image&gt;&lt;filename val=&quot;C:\Users\sanmi\Documents\My Adobe Presentations\ece552-SharedMemoryCoherence\data\asimages\{7E9B557A-36D3-400D-97A5-3B9E568854EE}_24_T.png&quot;/&gt;&lt;left val=&quot;81&quot;/&gt;&lt;top val=&quot;260&quot;/&gt;&lt;width val=&quot;19&quot;/&gt;&lt;height val=&quot;135&quot;/&gt;&lt;hasText val=&quot;1&quot;/&gt;&lt;/Image&gt;&lt;/ThreeDShapeInfo&gt;"/>
  <p:tag name="PRESENTER_SHAPETEXTINFO" val="&lt;ShapeTextInfo&gt;&lt;TableIndex row=&quot;-1&quot; col=&quot;-1&quot;&gt;&lt;linesCount val=&quot;0&quot;/&gt;&lt;/TableIndex&gt;&lt;/ShapeTextInfo&gt;"/>
</p:tagLst>
</file>

<file path=ppt/tags/tag399.xml><?xml version="1.0" encoding="utf-8"?>
<p:tagLst xmlns:a="http://schemas.openxmlformats.org/drawingml/2006/main" xmlns:r="http://schemas.openxmlformats.org/officeDocument/2006/relationships" xmlns:p="http://schemas.openxmlformats.org/presentationml/2006/main">
  <p:tag name="HTML_AUTOSHAPE_INFO" val="&lt;ThreeDShapeInfo&gt;&lt;uuid val=&quot;{502D9790-330C-41E6-B0C6-3A018A087078}&quot;/&gt;&lt;isInvalidForFieldText val=&quot;1&quot;/&gt;&lt;Image&gt;&lt;filename val=&quot;C:\Users\sanmi\Documents\My Adobe Presentations\ece552-SharedMemoryCoherence\data\asimages\{502D9790-330C-41E6-B0C6-3A018A087078}_24_S.png&quot;/&gt;&lt;left val=&quot;125&quot;/&gt;&lt;top val=&quot;230&quot;/&gt;&lt;width val=&quot;218&quot;/&gt;&lt;height val=&quot;26&quot;/&gt;&lt;hasText val=&quot;0&quot;/&gt;&lt;/Image&gt;&lt;Image&gt;&lt;filename val=&quot;C:\Users\sanmi\Documents\My Adobe Presentations\ece552-SharedMemoryCoherence\data\asimages\{502D9790-330C-41E6-B0C6-3A018A087078}_24_T.png&quot;/&gt;&lt;left val=&quot;135&quot;/&gt;&lt;top val=&quot;237&quot;/&gt;&lt;width val=&quot;207&quot;/&gt;&lt;height val=&quot;18&quot;/&gt;&lt;hasText val=&quot;1&quot;/&gt;&lt;/Image&gt;&lt;/ThreeDShapeInfo&gt;"/>
  <p:tag name="PRESENTER_SHAPETEXTINFO" val="&lt;ShapeTextInfo&gt;&lt;TableIndex row=&quot;-1&quot; col=&quot;-1&quot;&gt;&lt;linesCount val=&quot;0&quot;/&gt;&lt;/TableIndex&gt;&lt;/ShapeTextInfo&gt;"/>
</p:tagLst>
</file>

<file path=ppt/tags/tag40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87A6663-412F-40E8-A29A-DFD798AC4699}_24.png&quot;/&gt;&lt;left val=&quot;207&quot;/&gt;&lt;top val=&quot;254&quot;/&gt;&lt;width val=&quot;55&quot;/&gt;&lt;height val=&quot;26&quot;/&gt;&lt;hasText val=&quot;1&quot;/&gt;&lt;/Image&gt;&lt;/ThreeDShapeInfo&gt;"/>
  <p:tag name="PRESENTER_SHAPETEXTINFO" val="&lt;ShapeTextInfo&gt;&lt;TableIndex row=&quot;-1&quot; col=&quot;-1&quot;&gt;&lt;linesCount val=&quot;1&quot;/&gt;&lt;lineCharCount val=&quot;10&quot;/&gt;&lt;/TableIndex&gt;&lt;/ShapeTextInfo&gt;"/>
</p:tagLst>
</file>

<file path=ppt/tags/tag401.xml><?xml version="1.0" encoding="utf-8"?>
<p:tagLst xmlns:a="http://schemas.openxmlformats.org/drawingml/2006/main" xmlns:r="http://schemas.openxmlformats.org/officeDocument/2006/relationships" xmlns:p="http://schemas.openxmlformats.org/presentationml/2006/main">
  <p:tag name="HTML_AUTOSHAPE_INFO" val="&lt;ThreeDShapeInfo&gt;&lt;uuid val=&quot;{3CF7F5F3-83C7-4161-924A-525F689486AD}&quot;/&gt;&lt;isInvalidForFieldText val=&quot;1&quot;/&gt;&lt;Image&gt;&lt;filename val=&quot;C:\Users\sanmi\Documents\My Adobe Presentations\ece552-SharedMemoryCoherence\data\asimages\{3CF7F5F3-83C7-4161-924A-525F689486AD}_24_S.png&quot;/&gt;&lt;left val=&quot;54&quot;/&gt;&lt;top val=&quot;423&quot;/&gt;&lt;width val=&quot;37&quot;/&gt;&lt;height val=&quot;38&quot;/&gt;&lt;hasText val=&quot;0&quot;/&gt;&lt;/Image&gt;&lt;Image&gt;&lt;filename val=&quot;C:\Users\sanmi\Documents\My Adobe Presentations\ece552-SharedMemoryCoherence\data\asimages\{3CF7F5F3-83C7-4161-924A-525F689486AD}_24_T.png&quot;/&gt;&lt;left val=&quot;54&quot;/&gt;&lt;top val=&quot;424&quot;/&gt;&lt;width val=&quot;35&quot;/&gt;&lt;height val=&quot;37&quot;/&gt;&lt;hasText val=&quot;1&quot;/&gt;&lt;/Image&gt;&lt;/ThreeDShapeInfo&gt;"/>
  <p:tag name="PRESENTER_SHAPETEXTINFO" val="&lt;ShapeTextInfo&gt;&lt;TableIndex row=&quot;-1&quot; col=&quot;-1&quot;&gt;&lt;linesCount val=&quot;0&quot;/&gt;&lt;/TableIndex&gt;&lt;/ShapeTextInfo&gt;"/>
</p:tagLst>
</file>

<file path=ppt/tags/tag40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AE69E64-9485-4371-8138-4B3FE0C2E527}_24.png&quot;/&gt;&lt;left val=&quot;0&quot;/&gt;&lt;top val=&quot;405&quot;/&gt;&lt;width val=&quot;89&quot;/&gt;&lt;height val=&quot;26&quot;/&gt;&lt;hasText val=&quot;1&quot;/&gt;&lt;/Image&gt;&lt;/ThreeDShapeInfo&gt;"/>
  <p:tag name="PRESENTER_SHAPETEXTINFO" val="&lt;ShapeTextInfo&gt;&lt;TableIndex row=&quot;-1&quot; col=&quot;-1&quot;&gt;&lt;linesCount val=&quot;1&quot;/&gt;&lt;lineCharCount val=&quot;16&quot;/&gt;&lt;/TableIndex&gt;&lt;/ShapeTextInfo&gt;"/>
</p:tagLst>
</file>

<file path=ppt/tags/tag40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6F591AAD-2BDB-484C-B460-C4014F11B4D7}_24.png&quot;/&gt;&lt;left val=&quot;188&quot;/&gt;&lt;top val=&quot;228&quot;/&gt;&lt;width val=&quot;71&quot;/&gt;&lt;height val=&quot;26&quot;/&gt;&lt;hasText val=&quot;1&quot;/&gt;&lt;/Image&gt;&lt;/ThreeDShapeInfo&gt;"/>
  <p:tag name="PRESENTER_SHAPETEXTINFO" val="&lt;ShapeTextInfo&gt;&lt;TableIndex row=&quot;-1&quot; col=&quot;-1&quot;&gt;&lt;linesCount val=&quot;1&quot;/&gt;&lt;lineCharCount val=&quot;11&quot;/&gt;&lt;/TableIndex&gt;&lt;/ShapeTextInfo&gt;"/>
</p:tagLst>
</file>

<file path=ppt/tags/tag404.xml><?xml version="1.0" encoding="utf-8"?>
<p:tagLst xmlns:a="http://schemas.openxmlformats.org/drawingml/2006/main" xmlns:r="http://schemas.openxmlformats.org/officeDocument/2006/relationships" xmlns:p="http://schemas.openxmlformats.org/presentationml/2006/main">
  <p:tag name="PRESENTER_SHAPEINFO" val="&lt;ThreeDShapeInfo&gt;&lt;uuid val=&quot;{5E45A466-D9F0-42FF-8E1B-F41DB34079DF}&quot;/&gt;&lt;isInvalidForFieldText val=&quot;0&quot;/&gt;&lt;Image&gt;&lt;filename val=&quot;C:\Users\sanmi\Documents\My Adobe Presentations\ece552-SharedMemoryCoherence\data\asimages\{5E45A466-D9F0-42FF-8E1B-F41DB34079DF}_24.png&quot;/&gt;&lt;left val=&quot;520&quot;/&gt;&lt;top val=&quot;303&quot;/&gt;&lt;width val=&quot;80&quot;/&gt;&lt;height val=&quot;39&quot;/&gt;&lt;hasText val=&quot;1&quot;/&gt;&lt;/Image&gt;&lt;/ThreeDShapeInfo&gt;"/>
  <p:tag name="PRESENTER_SHAPETEXTINFO" val="&lt;ShapeTextInfo&gt;&lt;TableIndex row=&quot;-1&quot; col=&quot;-1&quot;&gt;&lt;linesCount val=&quot;1&quot;/&gt;&lt;lineCharCount val=&quot;8&quot;/&gt;&lt;/TableIndex&gt;&lt;/ShapeTextInfo&gt;"/>
</p:tagLst>
</file>

<file path=ppt/tags/tag405.xml><?xml version="1.0" encoding="utf-8"?>
<p:tagLst xmlns:a="http://schemas.openxmlformats.org/drawingml/2006/main" xmlns:r="http://schemas.openxmlformats.org/officeDocument/2006/relationships" xmlns:p="http://schemas.openxmlformats.org/presentationml/2006/main">
  <p:tag name="PRESENTER_SHAPEINFO" val="&lt;ThreeDShapeInfo&gt;&lt;uuid val=&quot;{14A03560-22CC-442E-8F81-C1BB7E56B527}&quot;/&gt;&lt;isInvalidForFieldText val=&quot;0&quot;/&gt;&lt;Image&gt;&lt;filename val=&quot;C:\Users\sanmi\Documents\My Adobe Presentations\ece552-SharedMemoryCoherence\data\asimages\{14A03560-22CC-442E-8F81-C1BB7E56B527}_24.png&quot;/&gt;&lt;left val=&quot;543&quot;/&gt;&lt;top val=&quot;348&quot;/&gt;&lt;width val=&quot;116&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406.xml><?xml version="1.0" encoding="utf-8"?>
<p:tagLst xmlns:a="http://schemas.openxmlformats.org/drawingml/2006/main" xmlns:r="http://schemas.openxmlformats.org/officeDocument/2006/relationships" xmlns:p="http://schemas.openxmlformats.org/presentationml/2006/main">
  <p:tag name="PRESENTER_SHAPEINFO" val="&lt;ThreeDShapeInfo&gt;&lt;uuid val=&quot;{840CC407-E34A-47D9-B65E-B41C9EBADB6D}&quot;/&gt;&lt;isInvalidForFieldText val=&quot;0&quot;/&gt;&lt;Image&gt;&lt;filename val=&quot;C:\Users\sanmi\Documents\My Adobe Presentations\ece552-SharedMemoryCoherence\data\asimages\{840CC407-E34A-47D9-B65E-B41C9EBADB6D}_24.png&quot;/&gt;&lt;left val=&quot;639&quot;/&gt;&lt;top val=&quot;296&quot;/&gt;&lt;width val=&quot;13&quot;/&gt;&lt;height val=&quot;20&quot;/&gt;&lt;hasText val=&quot;1&quot;/&gt;&lt;/Image&gt;&lt;/ThreeDShapeInfo&gt;"/>
</p:tagLst>
</file>

<file path=ppt/tags/tag4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08.xml><?xml version="1.0" encoding="utf-8"?>
<p:tagLst xmlns:a="http://schemas.openxmlformats.org/drawingml/2006/main" xmlns:r="http://schemas.openxmlformats.org/officeDocument/2006/relationships" xmlns:p="http://schemas.openxmlformats.org/presentationml/2006/main">
  <p:tag name="PRESENTER_SHAPEINFO" val="&lt;ThreeDShapeInfo&gt;&lt;uuid val=&quot;{7341128E-0674-4CAD-8E66-0435AD2DC99A}&quot;/&gt;&lt;isInvalidForFieldText val=&quot;0&quot;/&gt;&lt;Image&gt;&lt;filename val=&quot;C:\Users\sanmi\Documents\My Adobe Presentations\ece552-SharedMemoryCoherence\data\asimages\{7341128E-0674-4CAD-8E66-0435AD2DC99A}_24.png&quot;/&gt;&lt;left val=&quot;606&quot;/&gt;&lt;top val=&quot;303&quot;/&gt;&lt;width val=&quot;80&quot;/&gt;&lt;height val=&quot;39&quot;/&gt;&lt;hasText val=&quot;1&quot;/&gt;&lt;/Image&gt;&lt;/ThreeDShapeInfo&gt;"/>
  <p:tag name="PRESENTER_SHAPETEXTINFO" val="&lt;ShapeTextInfo&gt;&lt;TableIndex row=&quot;-1&quot; col=&quot;-1&quot;&gt;&lt;linesCount val=&quot;1&quot;/&gt;&lt;lineCharCount val=&quot;5&quot;/&gt;&lt;/TableIndex&gt;&lt;/ShapeTextInfo&gt;"/>
</p:tagLst>
</file>

<file path=ppt/tags/tag409.xml><?xml version="1.0" encoding="utf-8"?>
<p:tagLst xmlns:a="http://schemas.openxmlformats.org/drawingml/2006/main" xmlns:r="http://schemas.openxmlformats.org/officeDocument/2006/relationships" xmlns:p="http://schemas.openxmlformats.org/presentationml/2006/main">
  <p:tag name="PRESENTER_SHAPEINFO" val="&lt;ThreeDShapeInfo&gt;&lt;uuid val=&quot;{73987F72-6BE2-4D06-BE50-DB411287AF3D}&quot;/&gt;&lt;isInvalidForFieldText val=&quot;0&quot;/&gt;&lt;Image&gt;&lt;filename val=&quot;C:\Users\sanmi\Documents\My Adobe Presentations\ece552-SharedMemoryCoherence\data\asimages\{73987F72-6BE2-4D06-BE50-DB411287AF3D}_24.png&quot;/&gt;&lt;left val=&quot;562&quot;/&gt;&lt;top val=&quot;389&quot;/&gt;&lt;width val=&quot;78&quot;/&gt;&lt;height val=&quot;39&quot;/&gt;&lt;hasText val=&quot;1&quot;/&gt;&lt;/Image&gt;&lt;/ThreeDShapeInfo&gt;"/>
  <p:tag name="PRESENTER_SHAPETEXTINFO" val="&lt;ShapeTextInfo&gt;&lt;TableIndex row=&quot;-1&quot; col=&quot;-1&quot;&gt;&lt;linesCount val=&quot;1&quot;/&gt;&lt;lineCharCount val=&quot;4&quot;/&gt;&lt;/TableIndex&gt;&lt;/ShapeTextInfo&gt;"/>
</p:tagLst>
</file>

<file path=ppt/tags/tag410.xml><?xml version="1.0" encoding="utf-8"?>
<p:tagLst xmlns:a="http://schemas.openxmlformats.org/drawingml/2006/main" xmlns:r="http://schemas.openxmlformats.org/officeDocument/2006/relationships" xmlns:p="http://schemas.openxmlformats.org/presentationml/2006/main">
  <p:tag name="PRESENTER_SHAPEINFO" val="&lt;ThreeDShapeInfo&gt;&lt;uuid val=&quot;{7A5B82CF-7B68-4BB0-991E-544C8645D7DF}&quot;/&gt;&lt;isInvalidForFieldText val=&quot;0&quot;/&gt;&lt;Image&gt;&lt;filename val=&quot;C:\Users\sanmi\Documents\My Adobe Presentations\ece552-SharedMemoryCoherence\data\asimages\{7A5B82CF-7B68-4BB0-991E-544C8645D7DF}_24.png&quot;/&gt;&lt;left val=&quot;622&quot;/&gt;&lt;top val=&quot;267&quot;/&gt;&lt;width val=&quot;47&quot;/&gt;&lt;height val=&quot;45&quot;/&gt;&lt;hasText val=&quot;1&quot;/&gt;&lt;/Image&gt;&lt;/ThreeDShapeInfo&gt;"/>
  <p:tag name="PRESENTER_SHAPETEXTINFO" val="&lt;ShapeTextInfo&gt;&lt;TableIndex row=&quot;-1&quot; col=&quot;-1&quot;&gt;&lt;linesCount val=&quot;1&quot;/&gt;&lt;lineCharCount val=&quot;2&quot;/&gt;&lt;/TableIndex&gt;&lt;/ShapeTextInfo&gt;"/>
</p:tagLst>
</file>

<file path=ppt/tags/tag411.xml><?xml version="1.0" encoding="utf-8"?>
<p:tagLst xmlns:a="http://schemas.openxmlformats.org/drawingml/2006/main" xmlns:r="http://schemas.openxmlformats.org/officeDocument/2006/relationships" xmlns:p="http://schemas.openxmlformats.org/presentationml/2006/main">
  <p:tag name="PRESENTER_SHAPEINFO" val="&lt;ThreeDShapeInfo&gt;&lt;uuid val=&quot;{616AA5B6-EF04-4C8B-A208-8CAC0C6F2EE5}&quot;/&gt;&lt;isInvalidForFieldText val=&quot;0&quot;/&gt;&lt;Image&gt;&lt;filename val=&quot;C:\Users\sanmi\Documents\My Adobe Presentations\ece552-SharedMemoryCoherence\data\asimages\{616AA5B6-EF04-4C8B-A208-8CAC0C6F2EE5}_24.png&quot;/&gt;&lt;left val=&quot;554&quot;/&gt;&lt;top val=&quot;296&quot;/&gt;&lt;width val=&quot;13&quot;/&gt;&lt;height val=&quot;20&quot;/&gt;&lt;hasText val=&quot;1&quot;/&gt;&lt;/Image&gt;&lt;/ThreeDShapeInfo&gt;"/>
</p:tagLst>
</file>

<file path=ppt/tags/tag4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13.xml><?xml version="1.0" encoding="utf-8"?>
<p:tagLst xmlns:a="http://schemas.openxmlformats.org/drawingml/2006/main" xmlns:r="http://schemas.openxmlformats.org/officeDocument/2006/relationships" xmlns:p="http://schemas.openxmlformats.org/presentationml/2006/main">
  <p:tag name="PRESENTER_SHAPEINFO" val="&lt;ThreeDShapeInfo&gt;&lt;uuid val=&quot;{ADDA1CA9-AD97-45A8-B479-AD96ECD5CF11}&quot;/&gt;&lt;isInvalidForFieldText val=&quot;0&quot;/&gt;&lt;Image&gt;&lt;filename val=&quot;C:\Users\sanmi\Documents\My Adobe Presentations\ece552-SharedMemoryCoherence\data\asimages\{ADDA1CA9-AD97-45A8-B479-AD96ECD5CF11}_24.png&quot;/&gt;&lt;left val=&quot;520&quot;/&gt;&lt;top val=&quot;303&quot;/&gt;&lt;width val=&quot;80&quot;/&gt;&lt;height val=&quot;39&quot;/&gt;&lt;hasText val=&quot;1&quot;/&gt;&lt;/Image&gt;&lt;/ThreeDShapeInfo&gt;"/>
  <p:tag name="PRESENTER_SHAPETEXTINFO" val="&lt;ShapeTextInfo&gt;&lt;TableIndex row=&quot;-1&quot; col=&quot;-1&quot;&gt;&lt;linesCount val=&quot;1&quot;/&gt;&lt;lineCharCount val=&quot;10&quot;/&gt;&lt;/TableIndex&gt;&lt;/ShapeTextInfo&gt;"/>
</p:tagLst>
</file>

<file path=ppt/tags/tag414.xml><?xml version="1.0" encoding="utf-8"?>
<p:tagLst xmlns:a="http://schemas.openxmlformats.org/drawingml/2006/main" xmlns:r="http://schemas.openxmlformats.org/officeDocument/2006/relationships" xmlns:p="http://schemas.openxmlformats.org/presentationml/2006/main">
  <p:tag name="PRESENTER_SHAPEINFO" val="&lt;ThreeDShapeInfo&gt;&lt;uuid val=&quot;{91BB6F8D-9969-4254-8A3B-617ACE3A5BEF}&quot;/&gt;&lt;isInvalidForFieldText val=&quot;0&quot;/&gt;&lt;Image&gt;&lt;filename val=&quot;C:\Users\sanmi\Documents\My Adobe Presentations\ece552-SharedMemoryCoherence\data\asimages\{91BB6F8D-9969-4254-8A3B-617ACE3A5BEF}_24.png&quot;/&gt;&lt;left val=&quot;537&quot;/&gt;&lt;top val=&quot;267&quot;/&gt;&lt;width val=&quot;47&quot;/&gt;&lt;height val=&quot;45&quot;/&gt;&lt;hasText val=&quot;1&quot;/&gt;&lt;/Image&gt;&lt;/ThreeDShapeInfo&gt;"/>
  <p:tag name="PRESENTER_SHAPETEXTINFO" val="&lt;ShapeTextInfo&gt;&lt;TableIndex row=&quot;-1&quot; col=&quot;-1&quot;&gt;&lt;linesCount val=&quot;1&quot;/&gt;&lt;lineCharCount val=&quot;2&quot;/&gt;&lt;/TableIndex&gt;&lt;/ShapeTextInfo&gt;"/>
</p:tagLst>
</file>

<file path=ppt/tags/tag415.xml><?xml version="1.0" encoding="utf-8"?>
<p:tagLst xmlns:a="http://schemas.openxmlformats.org/drawingml/2006/main" xmlns:r="http://schemas.openxmlformats.org/officeDocument/2006/relationships" xmlns:p="http://schemas.openxmlformats.org/presentationml/2006/main">
  <p:tag name="PRESENTER_SHAPEINFO" val="&lt;ThreeDShapeInfo&gt;&lt;uuid val=&quot;{D2FC8E8C-6B3B-47FF-AA80-443BB3522B8F}&quot;/&gt;&lt;isInvalidForFieldText val=&quot;0&quot;/&gt;&lt;Image&gt;&lt;filename val=&quot;C:\Users\sanmi\Documents\My Adobe Presentations\ece552-SharedMemoryCoherence\data\asimages\{D2FC8E8C-6B3B-47FF-AA80-443BB3522B8F}_24.png&quot;/&gt;&lt;left val=&quot;637&quot;/&gt;&lt;top val=&quot;245&quot;/&gt;&lt;width val=&quot;80&quot;/&gt;&lt;height val=&quot;36&quot;/&gt;&lt;hasText val=&quot;1&quot;/&gt;&lt;/Image&gt;&lt;/ThreeDShapeInfo&gt;"/>
  <p:tag name="PRESENTER_SHAPETEXTINFO" val="&lt;ShapeTextInfo&gt;&lt;TableIndex row=&quot;-1&quot; col=&quot;-1&quot;&gt;&lt;linesCount val=&quot;1&quot;/&gt;&lt;lineCharCount val=&quot;10&quot;/&gt;&lt;/TableIndex&gt;&lt;/ShapeTextInfo&gt;"/>
</p:tagLst>
</file>

<file path=ppt/tags/tag416.xml><?xml version="1.0" encoding="utf-8"?>
<p:tagLst xmlns:a="http://schemas.openxmlformats.org/drawingml/2006/main" xmlns:r="http://schemas.openxmlformats.org/officeDocument/2006/relationships" xmlns:p="http://schemas.openxmlformats.org/presentationml/2006/main">
  <p:tag name="PRESENTER_SHAPEINFO" val="&lt;ThreeDShapeInfo&gt;&lt;uuid val=&quot;{6C7828E5-6668-419D-B341-3B5468664D28}&quot;/&gt;&lt;isInvalidForFieldText val=&quot;0&quot;/&gt;&lt;Image&gt;&lt;filename val=&quot;C:\Users\sanmi\Documents\My Adobe Presentations\ece552-SharedMemoryCoherence\data\asimages\{6C7828E5-6668-419D-B341-3B5468664D28}_24.png&quot;/&gt;&lt;left val=&quot;600&quot;/&gt;&lt;top val=&quot;303&quot;/&gt;&lt;width val=&quot;92&quot;/&gt;&lt;height val=&quot;39&quot;/&gt;&lt;hasText val=&quot;1&quot;/&gt;&lt;/Image&gt;&lt;/ThreeDShapeInfo&gt;"/>
  <p:tag name="PRESENTER_SHAPETEXTINFO" val="&lt;ShapeTextInfo&gt;&lt;TableIndex row=&quot;-1&quot; col=&quot;-1&quot;&gt;&lt;linesCount val=&quot;1&quot;/&gt;&lt;lineCharCount val=&quot;12&quot;/&gt;&lt;/TableIndex&gt;&lt;/ShapeTextInfo&gt;"/>
</p:tagLst>
</file>

<file path=ppt/tags/tag417.xml><?xml version="1.0" encoding="utf-8"?>
<p:tagLst xmlns:a="http://schemas.openxmlformats.org/drawingml/2006/main" xmlns:r="http://schemas.openxmlformats.org/officeDocument/2006/relationships" xmlns:p="http://schemas.openxmlformats.org/presentationml/2006/main">
  <p:tag name="PRESENTER_SHAPEINFO" val="&lt;ThreeDShapeInfo&gt;&lt;uuid val=&quot;{2FB4D3E7-63A3-4DE9-8A6F-784FF7BF6DE2}&quot;/&gt;&lt;isInvalidForFieldText val=&quot;0&quot;/&gt;&lt;Image&gt;&lt;filename val=&quot;C:\Users\sanmi\Documents\My Adobe Presentations\ece552-SharedMemoryCoherence\data\asimages\{2FB4D3E7-63A3-4DE9-8A6F-784FF7BF6DE2}_24.png&quot;/&gt;&lt;left val=&quot;614&quot;/&gt;&lt;top val=&quot;330&quot;/&gt;&lt;width val=&quot;103&quot;/&gt;&lt;height val=&quot;36&quot;/&gt;&lt;hasText val=&quot;1&quot;/&gt;&lt;/Image&gt;&lt;/ThreeDShapeInfo&gt;"/>
  <p:tag name="PRESENTER_SHAPETEXTINFO" val="&lt;ShapeTextInfo&gt;&lt;TableIndex row=&quot;-1&quot; col=&quot;-1&quot;&gt;&lt;linesCount val=&quot;1&quot;/&gt;&lt;lineCharCount val=&quot;11&quot;/&gt;&lt;/TableIndex&gt;&lt;/ShapeTextInfo&gt;"/>
</p:tagLst>
</file>

<file path=ppt/tags/tag418.xml><?xml version="1.0" encoding="utf-8"?>
<p:tagLst xmlns:a="http://schemas.openxmlformats.org/drawingml/2006/main" xmlns:r="http://schemas.openxmlformats.org/officeDocument/2006/relationships" xmlns:p="http://schemas.openxmlformats.org/presentationml/2006/main">
  <p:tag name="PRESENTER_SHAPEINFO" val="&lt;ThreeDShapeInfo&gt;&lt;uuid val=&quot;{0045BEE5-C58C-40BB-AFE2-81581879D8AC}&quot;/&gt;&lt;isInvalidForFieldText val=&quot;0&quot;/&gt;&lt;Image&gt;&lt;filename val=&quot;C:\Users\sanmi\Documents\My Adobe Presentations\ece552-SharedMemoryCoherence\data\asimages\{0045BEE5-C58C-40BB-AFE2-81581879D8AC}_24.png&quot;/&gt;&lt;left val=&quot;463&quot;/&gt;&lt;top val=&quot;400&quot;/&gt;&lt;width val=&quot;114&quot;/&gt;&lt;height val=&quot;42&quot;/&gt;&lt;hasText val=&quot;1&quot;/&gt;&lt;/Image&gt;&lt;/ThreeDShapeInfo&gt;"/>
  <p:tag name="PRESENTER_SHAPETEXTINFO" val="&lt;ShapeTextInfo&gt;&lt;TableIndex row=&quot;-1&quot; col=&quot;-1&quot;&gt;&lt;linesCount val=&quot;1&quot;/&gt;&lt;lineCharCount val=&quot;13&quot;/&gt;&lt;/TableIndex&gt;&lt;/ShapeTextInfo&gt;"/>
</p:tagLst>
</file>

<file path=ppt/tags/tag4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7BC8908D-A063-49D9-BED6-9040C8F2FE64}_24.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2&quot;/&gt;&lt;/TableIndex&gt;&lt;/ShapeTextInfo&gt;"/>
</p:tagLst>
</file>

<file path=ppt/tags/tag420.xml><?xml version="1.0" encoding="utf-8"?>
<p:tagLst xmlns:a="http://schemas.openxmlformats.org/drawingml/2006/main" xmlns:r="http://schemas.openxmlformats.org/officeDocument/2006/relationships" xmlns:p="http://schemas.openxmlformats.org/presentationml/2006/main">
  <p:tag name="HTML_SHAPEINFO" val="&lt;SlideThumbPath val=&quot;Slide25.PNG&quot;/&gt;"/>
  <p:tag name="PPSNARRATION" val="25,883145026,C:\Users\sanmi\GoogleDrive\UWMdrive\Courses\ECE552\ece552-lec18_SharedMemoryCoherence_pptx\Media.ppcx"/>
</p:tagLst>
</file>

<file path=ppt/tags/tag42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C5899AE4-99AB-417F-9488-CC13C6808179}_25.png&quot;/&gt;&lt;left val=&quot;19&quot;/&gt;&lt;top val=&quot;288&quot;/&gt;&lt;width val=&quot;87&quot;/&gt;&lt;height val=&quot;26&quot;/&gt;&lt;hasText val=&quot;1&quot;/&gt;&lt;/Image&gt;&lt;/ThreeDShapeInfo&gt;"/>
  <p:tag name="PRESENTER_SHAPETEXTINFO" val="&lt;ShapeTextInfo&gt;&lt;TableIndex row=&quot;-1&quot; col=&quot;-1&quot;&gt;&lt;linesCount val=&quot;1&quot;/&gt;&lt;lineCharCount val=&quot;14&quot;/&gt;&lt;/TableIndex&gt;&lt;/ShapeTextInfo&gt;"/>
</p:tagLst>
</file>

<file path=ppt/tags/tag422.xml><?xml version="1.0" encoding="utf-8"?>
<p:tagLst xmlns:a="http://schemas.openxmlformats.org/drawingml/2006/main" xmlns:r="http://schemas.openxmlformats.org/officeDocument/2006/relationships" xmlns:p="http://schemas.openxmlformats.org/presentationml/2006/main">
  <p:tag name="PRESENTER_SHAPEINFO" val="&lt;ThreeDShapeInfo&gt;&lt;uuid val=&quot;{DA51A8D7-86DB-4A54-8FAC-CD7168A99ABD}&quot;/&gt;&lt;isInvalidForFieldText val=&quot;0&quot;/&gt;&lt;Image&gt;&lt;filename val=&quot;C:\Users\sanmi\Documents\My Adobe Presentations\ece552-SharedMemoryCoherence\data\asimages\{DA51A8D7-86DB-4A54-8FAC-CD7168A99ABD}_25.png&quot;/&gt;&lt;left val=&quot;77&quot;/&gt;&lt;top val=&quot;203&quot;/&gt;&lt;width val=&quot;63&quot;/&gt;&lt;height val=&quot;63&quot;/&gt;&lt;hasText val=&quot;1&quot;/&gt;&lt;/Image&gt;&lt;/ThreeDShapeInfo&gt;"/>
  <p:tag name="PRESENTER_SHAPETEXTINFO" val="&lt;ShapeTextInfo&gt;&lt;TableIndex row=&quot;-1&quot; col=&quot;-1&quot;&gt;&lt;linesCount val=&quot;1&quot;/&gt;&lt;lineCharCount val=&quot;1&quot;/&gt;&lt;/TableIndex&gt;&lt;/ShapeTextInfo&gt;"/>
</p:tagLst>
</file>

<file path=ppt/tags/tag42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7AD1F06A-E39A-4403-8689-285517BC8724}_25.png&quot;/&gt;&lt;left val=&quot;195&quot;/&gt;&lt;top val=&quot;185&quot;/&gt;&lt;width val=&quot;79&quot;/&gt;&lt;height val=&quot;26&quot;/&gt;&lt;hasText val=&quot;1&quot;/&gt;&lt;/Image&gt;&lt;/ThreeDShapeInfo&gt;"/>
  <p:tag name="PRESENTER_SHAPETEXTINFO" val="&lt;ShapeTextInfo&gt;&lt;TableIndex row=&quot;-1&quot; col=&quot;-1&quot;&gt;&lt;linesCount val=&quot;1&quot;/&gt;&lt;lineCharCount val=&quot;12&quot;/&gt;&lt;/TableIndex&gt;&lt;/ShapeTextInfo&gt;"/>
</p:tagLst>
</file>

<file path=ppt/tags/tag424.xml><?xml version="1.0" encoding="utf-8"?>
<p:tagLst xmlns:a="http://schemas.openxmlformats.org/drawingml/2006/main" xmlns:r="http://schemas.openxmlformats.org/officeDocument/2006/relationships" xmlns:p="http://schemas.openxmlformats.org/presentationml/2006/main">
  <p:tag name="PRESENTER_SHAPEINFO" val="&lt;ThreeDShapeInfo&gt;&lt;uuid val=&quot;{6FC8B0EB-8D26-4CDA-8FD0-7932CF7A2966}&quot;/&gt;&lt;isInvalidForFieldText val=&quot;0&quot;/&gt;&lt;Image&gt;&lt;filename val=&quot;C:\Users\sanmi\Documents\My Adobe Presentations\ece552-SharedMemoryCoherence\data\asimages\{6FC8B0EB-8D26-4CDA-8FD0-7932CF7A2966}_25.png&quot;/&gt;&lt;left val=&quot;338&quot;/&gt;&lt;top val=&quot;203&quot;/&gt;&lt;width val=&quot;63&quot;/&gt;&lt;height val=&quot;63&quot;/&gt;&lt;hasText val=&quot;1&quot;/&gt;&lt;/Image&gt;&lt;/ThreeDShapeInfo&gt;"/>
  <p:tag name="PRESENTER_SHAPETEXTINFO" val="&lt;ShapeTextInfo&gt;&lt;TableIndex row=&quot;-1&quot; col=&quot;-1&quot;&gt;&lt;linesCount val=&quot;1&quot;/&gt;&lt;lineCharCount val=&quot;1&quot;/&gt;&lt;/TableIndex&gt;&lt;/ShapeTextInfo&gt;"/>
</p:tagLst>
</file>

<file path=ppt/tags/tag425.xml><?xml version="1.0" encoding="utf-8"?>
<p:tagLst xmlns:a="http://schemas.openxmlformats.org/drawingml/2006/main" xmlns:r="http://schemas.openxmlformats.org/officeDocument/2006/relationships" xmlns:p="http://schemas.openxmlformats.org/presentationml/2006/main">
  <p:tag name="HTML_AUTOSHAPE_INFO" val="&lt;ThreeDShapeInfo&gt;&lt;uuid val=&quot;{A95CACFE-C8B6-4FCD-A5E8-AC0FCF55CA84}&quot;/&gt;&lt;isInvalidForFieldText val=&quot;1&quot;/&gt;&lt;Image&gt;&lt;filename val=&quot;C:\Users\sanmi\Documents\My Adobe Presentations\ece552-SharedMemoryCoherence\data\asimages\{A95CACFE-C8B6-4FCD-A5E8-AC0FCF55CA84}_25_S.png&quot;/&gt;&lt;left val=&quot;135&quot;/&gt;&lt;top val=&quot;205&quot;/&gt;&lt;width val=&quot;218&quot;/&gt;&lt;height val=&quot;26&quot;/&gt;&lt;hasText val=&quot;0&quot;/&gt;&lt;/Image&gt;&lt;Image&gt;&lt;filename val=&quot;C:\Users\sanmi\Documents\My Adobe Presentations\ece552-SharedMemoryCoherence\data\asimages\{A95CACFE-C8B6-4FCD-A5E8-AC0FCF55CA84}_25_T.png&quot;/&gt;&lt;left val=&quot;135&quot;/&gt;&lt;top val=&quot;206&quot;/&gt;&lt;width val=&quot;207&quot;/&gt;&lt;height val=&quot;18&quot;/&gt;&lt;hasText val=&quot;1&quot;/&gt;&lt;/Image&gt;&lt;/ThreeDShapeInfo&gt;"/>
  <p:tag name="PRESENTER_SHAPETEXTINFO" val="&lt;ShapeTextInfo&gt;&lt;TableIndex row=&quot;-1&quot; col=&quot;-1&quot;&gt;&lt;linesCount val=&quot;0&quot;/&gt;&lt;/TableIndex&gt;&lt;/ShapeTextInfo&gt;"/>
</p:tagLst>
</file>

<file path=ppt/tags/tag42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6972251F-0CB2-4D9C-8AA8-DA596F615F89}_25.png&quot;/&gt;&lt;left val=&quot;391&quot;/&gt;&lt;top val=&quot;239&quot;/&gt;&lt;width val=&quot;56&quot;/&gt;&lt;height val=&quot;26&quot;/&gt;&lt;hasText val=&quot;1&quot;/&gt;&lt;/Image&gt;&lt;/ThreeDShapeInfo&gt;"/>
  <p:tag name="PRESENTER_SHAPETEXTINFO" val="&lt;ShapeTextInfo&gt;&lt;TableIndex row=&quot;-1&quot; col=&quot;-1&quot;&gt;&lt;linesCount val=&quot;1&quot;/&gt;&lt;lineCharCount val=&quot;9&quot;/&gt;&lt;/TableIndex&gt;&lt;/ShapeTextInfo&gt;"/>
</p:tagLst>
</file>

<file path=ppt/tags/tag42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CECFE842-F1B9-47E7-B7F8-0D2E80D999A6}_25.png&quot;/&gt;&lt;left val=&quot;367&quot;/&gt;&lt;top val=&quot;186&quot;/&gt;&lt;width val=&quot;63&quot;/&gt;&lt;height val=&quot;26&quot;/&gt;&lt;hasText val=&quot;1&quot;/&gt;&lt;/Image&gt;&lt;/ThreeDShapeInfo&gt;"/>
  <p:tag name="PRESENTER_SHAPETEXTINFO" val="&lt;ShapeTextInfo&gt;&lt;TableIndex row=&quot;-1&quot; col=&quot;-1&quot;&gt;&lt;linesCount val=&quot;1&quot;/&gt;&lt;lineCharCount val=&quot;10&quot;/&gt;&lt;/TableIndex&gt;&lt;/ShapeTextInfo&gt;"/>
</p:tagLst>
</file>

<file path=ppt/tags/tag428.xml><?xml version="1.0" encoding="utf-8"?>
<p:tagLst xmlns:a="http://schemas.openxmlformats.org/drawingml/2006/main" xmlns:r="http://schemas.openxmlformats.org/officeDocument/2006/relationships" xmlns:p="http://schemas.openxmlformats.org/presentationml/2006/main">
  <p:tag name="HTML_AUTOSHAPE_INFO" val="&lt;ThreeDShapeInfo&gt;&lt;uuid val=&quot;{CDD43EB4-93B8-4644-B191-94F49193309F}&quot;/&gt;&lt;isInvalidForFieldText val=&quot;1&quot;/&gt;&lt;Image&gt;&lt;filename val=&quot;C:\Users\sanmi\Documents\My Adobe Presentations\ece552-SharedMemoryCoherence\data\asimages\{CDD43EB4-93B8-4644-B191-94F49193309F}_25_S.png&quot;/&gt;&lt;left val=&quot;393&quot;/&gt;&lt;top val=&quot;205&quot;/&gt;&lt;width val=&quot;41&quot;/&gt;&lt;height val=&quot;36&quot;/&gt;&lt;hasText val=&quot;0&quot;/&gt;&lt;/Image&gt;&lt;Image&gt;&lt;filename val=&quot;C:\Users\sanmi\Documents\My Adobe Presentations\ece552-SharedMemoryCoherence\data\asimages\{CDD43EB4-93B8-4644-B191-94F49193309F}_25_T.png&quot;/&gt;&lt;left val=&quot;398&quot;/&gt;&lt;top val=&quot;206&quot;/&gt;&lt;width val=&quot;36&quot;/&gt;&lt;height val=&quot;35&quot;/&gt;&lt;hasText val=&quot;1&quot;/&gt;&lt;/Image&gt;&lt;/ThreeDShapeInfo&gt;"/>
  <p:tag name="PRESENTER_SHAPETEXTINFO" val="&lt;ShapeTextInfo&gt;&lt;TableIndex row=&quot;-1&quot; col=&quot;-1&quot;&gt;&lt;linesCount val=&quot;0&quot;/&gt;&lt;/TableIndex&gt;&lt;/ShapeTextInfo&gt;"/>
</p:tagLst>
</file>

<file path=ppt/tags/tag429.xml><?xml version="1.0" encoding="utf-8"?>
<p:tagLst xmlns:a="http://schemas.openxmlformats.org/drawingml/2006/main" xmlns:r="http://schemas.openxmlformats.org/officeDocument/2006/relationships" xmlns:p="http://schemas.openxmlformats.org/presentationml/2006/main">
  <p:tag name="PRESENTER_SHAPEINFO" val="&lt;ThreeDShapeInfo&gt;&lt;uuid val=&quot;{ABF514CA-F2F3-477C-9081-A040B876874E}&quot;/&gt;&lt;isInvalidForFieldText val=&quot;0&quot;/&gt;&lt;Image&gt;&lt;filename val=&quot;C:\Users\sanmi\Documents\My Adobe Presentations\ece552-SharedMemoryCoherence\data\asimages\{ABF514CA-F2F3-477C-9081-A040B876874E}_25.png&quot;/&gt;&lt;left val=&quot;82&quot;/&gt;&lt;top val=&quot;392&quot;/&gt;&lt;width val=&quot;63&quot;/&gt;&lt;height val=&quot;63&quot;/&gt;&lt;hasText val=&quot;1&quot;/&gt;&lt;/Image&gt;&lt;/ThreeDShapeInfo&gt;"/>
  <p:tag name="PRESENTER_SHAPETEXTINFO" val="&lt;ShapeTextInfo&gt;&lt;TableIndex row=&quot;-1&quot; col=&quot;-1&quot;&gt;&lt;linesCount val=&quot;1&quot;/&gt;&lt;lineCharCount val=&quot;1&quot;/&gt;&lt;/TableIndex&gt;&lt;/ShapeTextInfo&gt;"/>
</p:tagLst>
</file>

<file path=ppt/tags/tag430.xml><?xml version="1.0" encoding="utf-8"?>
<p:tagLst xmlns:a="http://schemas.openxmlformats.org/drawingml/2006/main" xmlns:r="http://schemas.openxmlformats.org/officeDocument/2006/relationships" xmlns:p="http://schemas.openxmlformats.org/presentationml/2006/main">
  <p:tag name="HTML_AUTOSHAPE_INFO" val="&lt;ThreeDShapeInfo&gt;&lt;uuid val=&quot;{286DB811-B3AF-4630-B96A-41B1FA82C467}&quot;/&gt;&lt;isInvalidForFieldText val=&quot;1&quot;/&gt;&lt;Image&gt;&lt;filename val=&quot;C:\Users\sanmi\Documents\My Adobe Presentations\ece552-SharedMemoryCoherence\data\asimages\{286DB811-B3AF-4630-B96A-41B1FA82C467}_25_S.png&quot;/&gt;&lt;left val=&quot;80&quot;/&gt;&lt;top val=&quot;260&quot;/&gt;&lt;width val=&quot;29&quot;/&gt;&lt;height val=&quot;146&quot;/&gt;&lt;hasText val=&quot;0&quot;/&gt;&lt;/Image&gt;&lt;Image&gt;&lt;filename val=&quot;C:\Users\sanmi\Documents\My Adobe Presentations\ece552-SharedMemoryCoherence\data\asimages\{286DB811-B3AF-4630-B96A-41B1FA82C467}_25_T.png&quot;/&gt;&lt;left val=&quot;81&quot;/&gt;&lt;top val=&quot;260&quot;/&gt;&lt;width val=&quot;19&quot;/&gt;&lt;height val=&quot;135&quot;/&gt;&lt;hasText val=&quot;1&quot;/&gt;&lt;/Image&gt;&lt;/ThreeDShapeInfo&gt;"/>
  <p:tag name="PRESENTER_SHAPETEXTINFO" val="&lt;ShapeTextInfo&gt;&lt;TableIndex row=&quot;-1&quot; col=&quot;-1&quot;&gt;&lt;linesCount val=&quot;0&quot;/&gt;&lt;/TableIndex&gt;&lt;/ShapeTextInfo&gt;"/>
</p:tagLst>
</file>

<file path=ppt/tags/tag431.xml><?xml version="1.0" encoding="utf-8"?>
<p:tagLst xmlns:a="http://schemas.openxmlformats.org/drawingml/2006/main" xmlns:r="http://schemas.openxmlformats.org/officeDocument/2006/relationships" xmlns:p="http://schemas.openxmlformats.org/presentationml/2006/main">
  <p:tag name="HTML_AUTOSHAPE_INFO" val="&lt;ThreeDShapeInfo&gt;&lt;uuid val=&quot;{BDDE679D-FB11-4FE9-89C9-9CEC3D25CB45}&quot;/&gt;&lt;isInvalidForFieldText val=&quot;1&quot;/&gt;&lt;Image&gt;&lt;filename val=&quot;C:\Users\sanmi\Documents\My Adobe Presentations\ece552-SharedMemoryCoherence\data\asimages\{BDDE679D-FB11-4FE9-89C9-9CEC3D25CB45}_25_S.png&quot;/&gt;&lt;left val=&quot;125&quot;/&gt;&lt;top val=&quot;230&quot;/&gt;&lt;width val=&quot;218&quot;/&gt;&lt;height val=&quot;26&quot;/&gt;&lt;hasText val=&quot;0&quot;/&gt;&lt;/Image&gt;&lt;Image&gt;&lt;filename val=&quot;C:\Users\sanmi\Documents\My Adobe Presentations\ece552-SharedMemoryCoherence\data\asimages\{BDDE679D-FB11-4FE9-89C9-9CEC3D25CB45}_25_T.png&quot;/&gt;&lt;left val=&quot;135&quot;/&gt;&lt;top val=&quot;237&quot;/&gt;&lt;width val=&quot;207&quot;/&gt;&lt;height val=&quot;18&quot;/&gt;&lt;hasText val=&quot;1&quot;/&gt;&lt;/Image&gt;&lt;/ThreeDShapeInfo&gt;"/>
  <p:tag name="PRESENTER_SHAPETEXTINFO" val="&lt;ShapeTextInfo&gt;&lt;TableIndex row=&quot;-1&quot; col=&quot;-1&quot;&gt;&lt;linesCount val=&quot;0&quot;/&gt;&lt;/TableIndex&gt;&lt;/ShapeTextInfo&gt;"/>
</p:tagLst>
</file>

<file path=ppt/tags/tag43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BA72B838-7268-4F8F-9B29-1C5978FEE9B2}_25.png&quot;/&gt;&lt;left val=&quot;207&quot;/&gt;&lt;top val=&quot;254&quot;/&gt;&lt;width val=&quot;55&quot;/&gt;&lt;height val=&quot;26&quot;/&gt;&lt;hasText val=&quot;1&quot;/&gt;&lt;/Image&gt;&lt;/ThreeDShapeInfo&gt;"/>
  <p:tag name="PRESENTER_SHAPETEXTINFO" val="&lt;ShapeTextInfo&gt;&lt;TableIndex row=&quot;-1&quot; col=&quot;-1&quot;&gt;&lt;linesCount val=&quot;1&quot;/&gt;&lt;lineCharCount val=&quot;10&quot;/&gt;&lt;/TableIndex&gt;&lt;/ShapeTextInfo&gt;"/>
</p:tagLst>
</file>

<file path=ppt/tags/tag433.xml><?xml version="1.0" encoding="utf-8"?>
<p:tagLst xmlns:a="http://schemas.openxmlformats.org/drawingml/2006/main" xmlns:r="http://schemas.openxmlformats.org/officeDocument/2006/relationships" xmlns:p="http://schemas.openxmlformats.org/presentationml/2006/main">
  <p:tag name="HTML_AUTOSHAPE_INFO" val="&lt;ThreeDShapeInfo&gt;&lt;uuid val=&quot;{2E36A8C9-4788-4CD5-939A-D85CE7983760}&quot;/&gt;&lt;isInvalidForFieldText val=&quot;1&quot;/&gt;&lt;Image&gt;&lt;filename val=&quot;C:\Users\sanmi\Documents\My Adobe Presentations\ece552-SharedMemoryCoherence\data\asimages\{2E36A8C9-4788-4CD5-939A-D85CE7983760}_25_S.png&quot;/&gt;&lt;left val=&quot;137&quot;/&gt;&lt;top val=&quot;241&quot;/&gt;&lt;width val=&quot;224&quot;/&gt;&lt;height val=&quot;173&quot;/&gt;&lt;hasText val=&quot;0&quot;/&gt;&lt;/Image&gt;&lt;Image&gt;&lt;filename val=&quot;C:\Users\sanmi\Documents\My Adobe Presentations\ece552-SharedMemoryCoherence\data\asimages\{2E36A8C9-4788-4CD5-939A-D85CE7983760}_25_T.png&quot;/&gt;&lt;left val=&quot;137&quot;/&gt;&lt;top val=&quot;251&quot;/&gt;&lt;width val=&quot;214&quot;/&gt;&lt;height val=&quot;163&quot;/&gt;&lt;hasText val=&quot;1&quot;/&gt;&lt;/Image&gt;&lt;/ThreeDShapeInfo&gt;"/>
  <p:tag name="PRESENTER_SHAPETEXTINFO" val="&lt;ShapeTextInfo&gt;&lt;TableIndex row=&quot;-1&quot; col=&quot;-1&quot;&gt;&lt;linesCount val=&quot;0&quot;/&gt;&lt;/TableIndex&gt;&lt;/ShapeTextInfo&gt;"/>
</p:tagLst>
</file>

<file path=ppt/tags/tag43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1A7CCB2D-4E14-4F95-8711-F4E2A5058B28}_25.png&quot;/&gt;&lt;left val=&quot;167&quot;/&gt;&lt;top val=&quot;314&quot;/&gt;&lt;width val=&quot;143&quot;/&gt;&lt;height val=&quot;26&quot;/&gt;&lt;hasText val=&quot;1&quot;/&gt;&lt;/Image&gt;&lt;/ThreeDShapeInfo&gt;"/>
  <p:tag name="PRESENTER_SHAPETEXTINFO" val="&lt;ShapeTextInfo&gt;&lt;TableIndex row=&quot;-1&quot; col=&quot;-1&quot;&gt;&lt;linesCount val=&quot;1&quot;/&gt;&lt;lineCharCount val=&quot;23&quot;/&gt;&lt;/TableIndex&gt;&lt;/ShapeTextInfo&gt;"/>
</p:tagLst>
</file>

<file path=ppt/tags/tag435.xml><?xml version="1.0" encoding="utf-8"?>
<p:tagLst xmlns:a="http://schemas.openxmlformats.org/drawingml/2006/main" xmlns:r="http://schemas.openxmlformats.org/officeDocument/2006/relationships" xmlns:p="http://schemas.openxmlformats.org/presentationml/2006/main">
  <p:tag name="HTML_AUTOSHAPE_INFO" val="&lt;ThreeDShapeInfo&gt;&lt;uuid val=&quot;{841F16D9-5A6E-4A57-88B5-B065669D2B6D}&quot;/&gt;&lt;isInvalidForFieldText val=&quot;1&quot;/&gt;&lt;Image&gt;&lt;filename val=&quot;C:\Users\sanmi\Documents\My Adobe Presentations\ece552-SharedMemoryCoherence\data\asimages\{841F16D9-5A6E-4A57-88B5-B065669D2B6D}_25_S.png&quot;/&gt;&lt;left val=&quot;54&quot;/&gt;&lt;top val=&quot;423&quot;/&gt;&lt;width val=&quot;37&quot;/&gt;&lt;height val=&quot;38&quot;/&gt;&lt;hasText val=&quot;0&quot;/&gt;&lt;/Image&gt;&lt;Image&gt;&lt;filename val=&quot;C:\Users\sanmi\Documents\My Adobe Presentations\ece552-SharedMemoryCoherence\data\asimages\{841F16D9-5A6E-4A57-88B5-B065669D2B6D}_25_T.png&quot;/&gt;&lt;left val=&quot;54&quot;/&gt;&lt;top val=&quot;424&quot;/&gt;&lt;width val=&quot;35&quot;/&gt;&lt;height val=&quot;37&quot;/&gt;&lt;hasText val=&quot;1&quot;/&gt;&lt;/Image&gt;&lt;/ThreeDShapeInfo&gt;"/>
  <p:tag name="PRESENTER_SHAPETEXTINFO" val="&lt;ShapeTextInfo&gt;&lt;TableIndex row=&quot;-1&quot; col=&quot;-1&quot;&gt;&lt;linesCount val=&quot;0&quot;/&gt;&lt;/TableIndex&gt;&lt;/ShapeTextInfo&gt;"/>
</p:tagLst>
</file>

<file path=ppt/tags/tag43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DEED07D-1F5E-4220-AAE7-87A60BCB882F}_25.png&quot;/&gt;&lt;left val=&quot;0&quot;/&gt;&lt;top val=&quot;405&quot;/&gt;&lt;width val=&quot;87&quot;/&gt;&lt;height val=&quot;26&quot;/&gt;&lt;hasText val=&quot;1&quot;/&gt;&lt;/Image&gt;&lt;/ThreeDShapeInfo&gt;"/>
  <p:tag name="PRESENTER_SHAPETEXTINFO" val="&lt;ShapeTextInfo&gt;&lt;TableIndex row=&quot;-1&quot; col=&quot;-1&quot;&gt;&lt;linesCount val=&quot;1&quot;/&gt;&lt;lineCharCount val=&quot;16&quot;/&gt;&lt;/TableIndex&gt;&lt;/ShapeTextInfo&gt;"/>
</p:tagLst>
</file>

<file path=ppt/tags/tag43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B34856F9-BD52-47B7-A2D4-80486E56C7D3}_25.png&quot;/&gt;&lt;left val=&quot;188&quot;/&gt;&lt;top val=&quot;228&quot;/&gt;&lt;width val=&quot;69&quot;/&gt;&lt;height val=&quot;26&quot;/&gt;&lt;hasText val=&quot;1&quot;/&gt;&lt;/Image&gt;&lt;/ThreeDShapeInfo&gt;"/>
  <p:tag name="PRESENTER_SHAPETEXTINFO" val="&lt;ShapeTextInfo&gt;&lt;TableIndex row=&quot;-1&quot; col=&quot;-1&quot;&gt;&lt;linesCount val=&quot;1&quot;/&gt;&lt;lineCharCount val=&quot;11&quot;/&gt;&lt;/TableIndex&gt;&lt;/ShapeTextInfo&gt;"/>
</p:tagLst>
</file>

<file path=ppt/tags/tag438.xml><?xml version="1.0" encoding="utf-8"?>
<p:tagLst xmlns:a="http://schemas.openxmlformats.org/drawingml/2006/main" xmlns:r="http://schemas.openxmlformats.org/officeDocument/2006/relationships" xmlns:p="http://schemas.openxmlformats.org/presentationml/2006/main">
  <p:tag name="PRESENTER_SHAPEINFO" val="&lt;ThreeDShapeInfo&gt;&lt;uuid val=&quot;{DD11ED34-2B28-40EA-A6D5-EF00F34B915C}&quot;/&gt;&lt;isInvalidForFieldText val=&quot;0&quot;/&gt;&lt;Image&gt;&lt;filename val=&quot;C:\Users\sanmi\Documents\My Adobe Presentations\ece552-SharedMemoryCoherence\data\asimages\{DD11ED34-2B28-40EA-A6D5-EF00F34B915C}_25.png&quot;/&gt;&lt;left val=&quot;543&quot;/&gt;&lt;top val=&quot;348&quot;/&gt;&lt;width val=&quot;116&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439.xml><?xml version="1.0" encoding="utf-8"?>
<p:tagLst xmlns:a="http://schemas.openxmlformats.org/drawingml/2006/main" xmlns:r="http://schemas.openxmlformats.org/officeDocument/2006/relationships" xmlns:p="http://schemas.openxmlformats.org/presentationml/2006/main">
  <p:tag name="PRESENTER_SHAPEINFO" val="&lt;ThreeDShapeInfo&gt;&lt;uuid val=&quot;{AC255D06-4D7C-4D03-8FF3-A27AC4736439}&quot;/&gt;&lt;isInvalidForFieldText val=&quot;0&quot;/&gt;&lt;Image&gt;&lt;filename val=&quot;C:\Users\sanmi\Documents\My Adobe Presentations\ece552-SharedMemoryCoherence\data\asimages\{AC255D06-4D7C-4D03-8FF3-A27AC4736439}_25.png&quot;/&gt;&lt;left val=&quot;639&quot;/&gt;&lt;top val=&quot;296&quot;/&gt;&lt;width val=&quot;13&quot;/&gt;&lt;height val=&quot;20&quot;/&gt;&lt;hasText val=&quot;1&quot;/&gt;&lt;/Image&gt;&lt;/ThreeDShapeInfo&gt;"/>
</p:tagLst>
</file>

<file path=ppt/tags/tag4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41.xml><?xml version="1.0" encoding="utf-8"?>
<p:tagLst xmlns:a="http://schemas.openxmlformats.org/drawingml/2006/main" xmlns:r="http://schemas.openxmlformats.org/officeDocument/2006/relationships" xmlns:p="http://schemas.openxmlformats.org/presentationml/2006/main">
  <p:tag name="PRESENTER_SHAPEINFO" val="&lt;ThreeDShapeInfo&gt;&lt;uuid val=&quot;{B55A1770-F539-44AC-AC0C-515AEB928131}&quot;/&gt;&lt;isInvalidForFieldText val=&quot;0&quot;/&gt;&lt;Image&gt;&lt;filename val=&quot;C:\Users\sanmi\Documents\My Adobe Presentations\ece552-SharedMemoryCoherence\data\asimages\{B55A1770-F539-44AC-AC0C-515AEB928131}_25.png&quot;/&gt;&lt;left val=&quot;606&quot;/&gt;&lt;top val=&quot;304&quot;/&gt;&lt;width val=&quot;80&quot;/&gt;&lt;height val=&quot;38&quot;/&gt;&lt;hasText val=&quot;1&quot;/&gt;&lt;/Image&gt;&lt;/ThreeDShapeInfo&gt;"/>
  <p:tag name="PRESENTER_SHAPETEXTINFO" val="&lt;ShapeTextInfo&gt;&lt;TableIndex row=&quot;-1&quot; col=&quot;-1&quot;&gt;&lt;linesCount val=&quot;1&quot;/&gt;&lt;lineCharCount val=&quot;8&quot;/&gt;&lt;/TableIndex&gt;&lt;/ShapeTextInfo&gt;"/>
</p:tagLst>
</file>

<file path=ppt/tags/tag442.xml><?xml version="1.0" encoding="utf-8"?>
<p:tagLst xmlns:a="http://schemas.openxmlformats.org/drawingml/2006/main" xmlns:r="http://schemas.openxmlformats.org/officeDocument/2006/relationships" xmlns:p="http://schemas.openxmlformats.org/presentationml/2006/main">
  <p:tag name="PRESENTER_SHAPEINFO" val="&lt;ThreeDShapeInfo&gt;&lt;uuid val=&quot;{87DD3A38-2908-4BF3-A74B-281DB5D40889}&quot;/&gt;&lt;isInvalidForFieldText val=&quot;0&quot;/&gt;&lt;Image&gt;&lt;filename val=&quot;C:\Users\sanmi\Documents\My Adobe Presentations\ece552-SharedMemoryCoherence\data\asimages\{87DD3A38-2908-4BF3-A74B-281DB5D40889}_25.png&quot;/&gt;&lt;left val=&quot;562&quot;/&gt;&lt;top val=&quot;389&quot;/&gt;&lt;width val=&quot;78&quot;/&gt;&lt;height val=&quot;38&quot;/&gt;&lt;hasText val=&quot;1&quot;/&gt;&lt;/Image&gt;&lt;/ThreeDShapeInfo&gt;"/>
  <p:tag name="PRESENTER_SHAPETEXTINFO" val="&lt;ShapeTextInfo&gt;&lt;TableIndex row=&quot;-1&quot; col=&quot;-1&quot;&gt;&lt;linesCount val=&quot;1&quot;/&gt;&lt;lineCharCount val=&quot;4&quot;/&gt;&lt;/TableIndex&gt;&lt;/ShapeTextInfo&gt;"/>
</p:tagLst>
</file>

<file path=ppt/tags/tag443.xml><?xml version="1.0" encoding="utf-8"?>
<p:tagLst xmlns:a="http://schemas.openxmlformats.org/drawingml/2006/main" xmlns:r="http://schemas.openxmlformats.org/officeDocument/2006/relationships" xmlns:p="http://schemas.openxmlformats.org/presentationml/2006/main">
  <p:tag name="PRESENTER_SHAPEINFO" val="&lt;ThreeDShapeInfo&gt;&lt;uuid val=&quot;{81751E32-479D-498C-BB23-689EF116EC7C}&quot;/&gt;&lt;isInvalidForFieldText val=&quot;0&quot;/&gt;&lt;Image&gt;&lt;filename val=&quot;C:\Users\sanmi\Documents\My Adobe Presentations\ece552-SharedMemoryCoherence\data\asimages\{81751E32-479D-498C-BB23-689EF116EC7C}_25.png&quot;/&gt;&lt;left val=&quot;622&quot;/&gt;&lt;top val=&quot;267&quot;/&gt;&lt;width val=&quot;47&quot;/&gt;&lt;height val=&quot;45&quot;/&gt;&lt;hasText val=&quot;1&quot;/&gt;&lt;/Image&gt;&lt;/ThreeDShapeInfo&gt;"/>
  <p:tag name="PRESENTER_SHAPETEXTINFO" val="&lt;ShapeTextInfo&gt;&lt;TableIndex row=&quot;-1&quot; col=&quot;-1&quot;&gt;&lt;linesCount val=&quot;1&quot;/&gt;&lt;lineCharCount val=&quot;2&quot;/&gt;&lt;/TableIndex&gt;&lt;/ShapeTextInfo&gt;"/>
</p:tagLst>
</file>

<file path=ppt/tags/tag444.xml><?xml version="1.0" encoding="utf-8"?>
<p:tagLst xmlns:a="http://schemas.openxmlformats.org/drawingml/2006/main" xmlns:r="http://schemas.openxmlformats.org/officeDocument/2006/relationships" xmlns:p="http://schemas.openxmlformats.org/presentationml/2006/main">
  <p:tag name="PRESENTER_SHAPEINFO" val="&lt;ThreeDShapeInfo&gt;&lt;uuid val=&quot;{CDA231B4-C0B5-4375-B842-53DC038D527F}&quot;/&gt;&lt;isInvalidForFieldText val=&quot;0&quot;/&gt;&lt;Image&gt;&lt;filename val=&quot;C:\Users\sanmi\Documents\My Adobe Presentations\ece552-SharedMemoryCoherence\data\asimages\{CDA231B4-C0B5-4375-B842-53DC038D527F}_25.png&quot;/&gt;&lt;left val=&quot;554&quot;/&gt;&lt;top val=&quot;296&quot;/&gt;&lt;width val=&quot;13&quot;/&gt;&lt;height val=&quot;20&quot;/&gt;&lt;hasText val=&quot;1&quot;/&gt;&lt;/Image&gt;&lt;/ThreeDShapeInfo&gt;"/>
</p:tagLst>
</file>

<file path=ppt/tags/tag4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46.xml><?xml version="1.0" encoding="utf-8"?>
<p:tagLst xmlns:a="http://schemas.openxmlformats.org/drawingml/2006/main" xmlns:r="http://schemas.openxmlformats.org/officeDocument/2006/relationships" xmlns:p="http://schemas.openxmlformats.org/presentationml/2006/main">
  <p:tag name="PRESENTER_SHAPEINFO" val="&lt;ThreeDShapeInfo&gt;&lt;uuid val=&quot;{F461BB33-C7D5-4C57-9CE8-E1AA60FEE5D9}&quot;/&gt;&lt;isInvalidForFieldText val=&quot;0&quot;/&gt;&lt;Image&gt;&lt;filename val=&quot;C:\Users\sanmi\Documents\My Adobe Presentations\ece552-SharedMemoryCoherence\data\asimages\{F461BB33-C7D5-4C57-9CE8-E1AA60FEE5D9}_25.png&quot;/&gt;&lt;left val=&quot;520&quot;/&gt;&lt;top val=&quot;304&quot;/&gt;&lt;width val=&quot;80&quot;/&gt;&lt;height val=&quot;38&quot;/&gt;&lt;hasText val=&quot;1&quot;/&gt;&lt;/Image&gt;&lt;/ThreeDShapeInfo&gt;"/>
  <p:tag name="PRESENTER_SHAPETEXTINFO" val="&lt;ShapeTextInfo&gt;&lt;TableIndex row=&quot;-1&quot; col=&quot;-1&quot;&gt;&lt;linesCount val=&quot;1&quot;/&gt;&lt;lineCharCount val=&quot;5&quot;/&gt;&lt;/TableIndex&gt;&lt;/ShapeTextInfo&gt;"/>
</p:tagLst>
</file>

<file path=ppt/tags/tag447.xml><?xml version="1.0" encoding="utf-8"?>
<p:tagLst xmlns:a="http://schemas.openxmlformats.org/drawingml/2006/main" xmlns:r="http://schemas.openxmlformats.org/officeDocument/2006/relationships" xmlns:p="http://schemas.openxmlformats.org/presentationml/2006/main">
  <p:tag name="PRESENTER_SHAPEINFO" val="&lt;ThreeDShapeInfo&gt;&lt;uuid val=&quot;{FF142352-A48C-44B3-91A1-E5725B11772C}&quot;/&gt;&lt;isInvalidForFieldText val=&quot;0&quot;/&gt;&lt;Image&gt;&lt;filename val=&quot;C:\Users\sanmi\Documents\My Adobe Presentations\ece552-SharedMemoryCoherence\data\asimages\{FF142352-A48C-44B3-91A1-E5725B11772C}_25.png&quot;/&gt;&lt;left val=&quot;537&quot;/&gt;&lt;top val=&quot;267&quot;/&gt;&lt;width val=&quot;47&quot;/&gt;&lt;height val=&quot;45&quot;/&gt;&lt;hasText val=&quot;1&quot;/&gt;&lt;/Image&gt;&lt;/ThreeDShapeInfo&gt;"/>
  <p:tag name="PRESENTER_SHAPETEXTINFO" val="&lt;ShapeTextInfo&gt;&lt;TableIndex row=&quot;-1&quot; col=&quot;-1&quot;&gt;&lt;linesCount val=&quot;1&quot;/&gt;&lt;lineCharCount val=&quot;2&quot;/&gt;&lt;/TableIndex&gt;&lt;/ShapeTextInfo&gt;"/>
</p:tagLst>
</file>

<file path=ppt/tags/tag448.xml><?xml version="1.0" encoding="utf-8"?>
<p:tagLst xmlns:a="http://schemas.openxmlformats.org/drawingml/2006/main" xmlns:r="http://schemas.openxmlformats.org/officeDocument/2006/relationships" xmlns:p="http://schemas.openxmlformats.org/presentationml/2006/main">
  <p:tag name="PRESENTER_SHAPEINFO" val="&lt;ThreeDShapeInfo&gt;&lt;uuid val=&quot;{C76F42E8-3CE6-49EA-B939-9D54C78AD7B1}&quot;/&gt;&lt;isInvalidForFieldText val=&quot;0&quot;/&gt;&lt;Image&gt;&lt;filename val=&quot;C:\Users\sanmi\Documents\My Adobe Presentations\ece552-SharedMemoryCoherence\data\asimages\{C76F42E8-3CE6-49EA-B939-9D54C78AD7B1}_25.png&quot;/&gt;&lt;left val=&quot;556&quot;/&gt;&lt;top val=&quot;245&quot;/&gt;&lt;width val=&quot;80&quot;/&gt;&lt;height val=&quot;36&quot;/&gt;&lt;hasText val=&quot;1&quot;/&gt;&lt;/Image&gt;&lt;/ThreeDShapeInfo&gt;"/>
  <p:tag name="PRESENTER_SHAPETEXTINFO" val="&lt;ShapeTextInfo&gt;&lt;TableIndex row=&quot;-1&quot; col=&quot;-1&quot;&gt;&lt;linesCount val=&quot;1&quot;/&gt;&lt;lineCharCount val=&quot;9&quot;/&gt;&lt;/TableIndex&gt;&lt;/ShapeTextInfo&gt;"/>
</p:tagLst>
</file>

<file path=ppt/tags/tag449.xml><?xml version="1.0" encoding="utf-8"?>
<p:tagLst xmlns:a="http://schemas.openxmlformats.org/drawingml/2006/main" xmlns:r="http://schemas.openxmlformats.org/officeDocument/2006/relationships" xmlns:p="http://schemas.openxmlformats.org/presentationml/2006/main">
  <p:tag name="PRESENTER_SHAPEINFO" val="&lt;ThreeDShapeInfo&gt;&lt;uuid val=&quot;{40E6BAD8-3682-4DAE-B8DC-1C0A872B27A8}&quot;/&gt;&lt;isInvalidForFieldText val=&quot;0&quot;/&gt;&lt;Image&gt;&lt;filename val=&quot;C:\Users\sanmi\Documents\My Adobe Presentations\ece552-SharedMemoryCoherence\data\asimages\{40E6BAD8-3682-4DAE-B8DC-1C0A872B27A8}_25.png&quot;/&gt;&lt;left val=&quot;453&quot;/&gt;&lt;top val=&quot;339&quot;/&gt;&lt;width val=&quot;110&quot;/&gt;&lt;height val=&quot;36&quot;/&gt;&lt;hasText val=&quot;1&quot;/&gt;&lt;/Image&gt;&lt;/ThreeDShapeInfo&gt;"/>
  <p:tag name="PRESENTER_SHAPETEXTINFO" val="&lt;ShapeTextInfo&gt;&lt;TableIndex row=&quot;-1&quot; col=&quot;-1&quot;&gt;&lt;linesCount val=&quot;1&quot;/&gt;&lt;lineCharCount val=&quot;10&quot;/&gt;&lt;/TableIndex&gt;&lt;/ShapeTextInfo&gt;"/>
</p:tagLst>
</file>

<file path=ppt/tags/tag450.xml><?xml version="1.0" encoding="utf-8"?>
<p:tagLst xmlns:a="http://schemas.openxmlformats.org/drawingml/2006/main" xmlns:r="http://schemas.openxmlformats.org/officeDocument/2006/relationships" xmlns:p="http://schemas.openxmlformats.org/presentationml/2006/main">
  <p:tag name="PRESENTER_SHAPEINFO" val="&lt;ThreeDShapeInfo&gt;&lt;uuid val=&quot;{A10BAD88-6E8C-4BD4-879B-E120E5A200E6}&quot;/&gt;&lt;isInvalidForFieldText val=&quot;0&quot;/&gt;&lt;Image&gt;&lt;filename val=&quot;C:\Users\sanmi\Documents\My Adobe Presentations\ece552-SharedMemoryCoherence\data\asimages\{A10BAD88-6E8C-4BD4-879B-E120E5A200E6}_25.png&quot;/&gt;&lt;left val=&quot;615&quot;/&gt;&lt;top val=&quot;330&quot;/&gt;&lt;width val=&quot;102&quot;/&gt;&lt;height val=&quot;36&quot;/&gt;&lt;hasText val=&quot;1&quot;/&gt;&lt;/Image&gt;&lt;/ThreeDShapeInfo&gt;"/>
  <p:tag name="PRESENTER_SHAPETEXTINFO" val="&lt;ShapeTextInfo&gt;&lt;TableIndex row=&quot;-1&quot; col=&quot;-1&quot;&gt;&lt;linesCount val=&quot;1&quot;/&gt;&lt;lineCharCount val=&quot;13&quot;/&gt;&lt;/TableIndex&gt;&lt;/ShapeTextInfo&gt;"/>
</p:tagLst>
</file>

<file path=ppt/tags/tag451.xml><?xml version="1.0" encoding="utf-8"?>
<p:tagLst xmlns:a="http://schemas.openxmlformats.org/drawingml/2006/main" xmlns:r="http://schemas.openxmlformats.org/officeDocument/2006/relationships" xmlns:p="http://schemas.openxmlformats.org/presentationml/2006/main">
  <p:tag name="PRESENTER_SHAPEINFO" val="&lt;ThreeDShapeInfo&gt;&lt;uuid val=&quot;{FBDF4299-4D3F-4D16-84E2-69F02A995314}&quot;/&gt;&lt;isInvalidForFieldText val=&quot;0&quot;/&gt;&lt;Image&gt;&lt;filename val=&quot;C:\Users\sanmi\Documents\My Adobe Presentations\ece552-SharedMemoryCoherence\data\asimages\{FBDF4299-4D3F-4D16-84E2-69F02A995314}_25.png&quot;/&gt;&lt;left val=&quot;520&quot;/&gt;&lt;top val=&quot;304&quot;/&gt;&lt;width val=&quot;80&quot;/&gt;&lt;height val=&quot;38&quot;/&gt;&lt;hasText val=&quot;1&quot;/&gt;&lt;/Image&gt;&lt;/ThreeDShapeInfo&gt;"/>
  <p:tag name="PRESENTER_SHAPETEXTINFO" val="&lt;ShapeTextInfo&gt;&lt;TableIndex row=&quot;-1&quot; col=&quot;-1&quot;&gt;&lt;linesCount val=&quot;1&quot;/&gt;&lt;lineCharCount val=&quot;10&quot;/&gt;&lt;/TableIndex&gt;&lt;/ShapeTextInfo&gt;"/>
</p:tagLst>
</file>

<file path=ppt/tags/tag452.xml><?xml version="1.0" encoding="utf-8"?>
<p:tagLst xmlns:a="http://schemas.openxmlformats.org/drawingml/2006/main" xmlns:r="http://schemas.openxmlformats.org/officeDocument/2006/relationships" xmlns:p="http://schemas.openxmlformats.org/presentationml/2006/main">
  <p:tag name="PRESENTER_SHAPEINFO" val="&lt;ThreeDShapeInfo&gt;&lt;uuid val=&quot;{1E98473E-6BB1-4BEB-945C-50389A85ECFB}&quot;/&gt;&lt;isInvalidForFieldText val=&quot;0&quot;/&gt;&lt;Image&gt;&lt;filename val=&quot;C:\Users\sanmi\Documents\My Adobe Presentations\ece552-SharedMemoryCoherence\data\asimages\{1E98473E-6BB1-4BEB-945C-50389A85ECFB}_25.png&quot;/&gt;&lt;left val=&quot;604&quot;/&gt;&lt;top val=&quot;304&quot;/&gt;&lt;width val=&quot;84&quot;/&gt;&lt;height val=&quot;38&quot;/&gt;&lt;hasText val=&quot;1&quot;/&gt;&lt;/Image&gt;&lt;/ThreeDShapeInfo&gt;"/>
  <p:tag name="PRESENTER_SHAPETEXTINFO" val="&lt;ShapeTextInfo&gt;&lt;TableIndex row=&quot;-1&quot; col=&quot;-1&quot;&gt;&lt;linesCount val=&quot;1&quot;/&gt;&lt;lineCharCount val=&quot;10&quot;/&gt;&lt;/TableIndex&gt;&lt;/ShapeTextInfo&gt;"/>
</p:tagLst>
</file>

<file path=ppt/tags/tag453.xml><?xml version="1.0" encoding="utf-8"?>
<p:tagLst xmlns:a="http://schemas.openxmlformats.org/drawingml/2006/main" xmlns:r="http://schemas.openxmlformats.org/officeDocument/2006/relationships" xmlns:p="http://schemas.openxmlformats.org/presentationml/2006/main">
  <p:tag name="PRESENTER_SHAPEINFO" val="&lt;ThreeDShapeInfo&gt;&lt;uuid val=&quot;{1375027B-9CD9-4196-B116-DE48D4E7238A}&quot;/&gt;&lt;isInvalidForFieldText val=&quot;0&quot;/&gt;&lt;Image&gt;&lt;filename val=&quot;C:\Users\sanmi\Documents\My Adobe Presentations\ece552-SharedMemoryCoherence\data\asimages\{1375027B-9CD9-4196-B116-DE48D4E7238A}_25.png&quot;/&gt;&lt;left val=&quot;561&quot;/&gt;&lt;top val=&quot;389&quot;/&gt;&lt;width val=&quot;78&quot;/&gt;&lt;height val=&quot;38&quot;/&gt;&lt;hasText val=&quot;1&quot;/&gt;&lt;/Image&gt;&lt;/ThreeDShapeInfo&gt;"/>
  <p:tag name="PRESENTER_SHAPETEXTINFO" val="&lt;ShapeTextInfo&gt;&lt;TableIndex row=&quot;-1&quot; col=&quot;-1&quot;&gt;&lt;linesCount val=&quot;1&quot;/&gt;&lt;lineCharCount val=&quot;6&quot;/&gt;&lt;/TableIndex&gt;&lt;/ShapeTextInfo&gt;"/>
</p:tagLst>
</file>

<file path=ppt/tags/tag454.xml><?xml version="1.0" encoding="utf-8"?>
<p:tagLst xmlns:a="http://schemas.openxmlformats.org/drawingml/2006/main" xmlns:r="http://schemas.openxmlformats.org/officeDocument/2006/relationships" xmlns:p="http://schemas.openxmlformats.org/presentationml/2006/main">
  <p:tag name="PRESENTER_SHAPEINFO" val="&lt;ThreeDShapeInfo&gt;&lt;uuid val=&quot;{6117A3C1-2A07-41F6-89FB-4847AEB97BC5}&quot;/&gt;&lt;isInvalidForFieldText val=&quot;0&quot;/&gt;&lt;Image&gt;&lt;filename val=&quot;C:\Users\sanmi\Documents\My Adobe Presentations\ece552-SharedMemoryCoherence\data\asimages\{6117A3C1-2A07-41F6-89FB-4847AEB97BC5}_25.png&quot;/&gt;&lt;left val=&quot;602&quot;/&gt;&lt;top val=&quot;364&quot;/&gt;&lt;width val=&quot;118&quot;/&gt;&lt;height val=&quot;36&quot;/&gt;&lt;hasText val=&quot;1&quot;/&gt;&lt;/Image&gt;&lt;/ThreeDShapeInfo&gt;"/>
  <p:tag name="PRESENTER_SHAPETEXTINFO" val="&lt;ShapeTextInfo&gt;&lt;TableIndex row=&quot;-1&quot; col=&quot;-1&quot;&gt;&lt;linesCount val=&quot;1&quot;/&gt;&lt;lineCharCount val=&quot;10&quot;/&gt;&lt;/TableIndex&gt;&lt;/ShapeTextInfo&gt;"/>
</p:tagLst>
</file>

<file path=ppt/tags/tag45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EEFC31D1-8ECA-4518-AD47-07194F45A080}_25.png&quot;/&gt;&lt;left val=&quot;513&quot;/&gt;&lt;top val=&quot;426&quot;/&gt;&lt;width val=&quot;153&quot;/&gt;&lt;height val=&quot;54&quot;/&gt;&lt;hasText val=&quot;1&quot;/&gt;&lt;/Image&gt;&lt;/ThreeDShapeInfo&gt;"/>
  <p:tag name="PRESENTER_SHAPETEXTINFO" val="&lt;ShapeTextInfo&gt;&lt;TableIndex row=&quot;-1&quot; col=&quot;-1&quot;&gt;&lt;linesCount val=&quot;2&quot;/&gt;&lt;lineCharCount val=&quot;16&quot;/&gt;&lt;lineCharCount val=&quot;21&quot;/&gt;&lt;/TableIndex&gt;&lt;/ShapeTextInfo&gt;"/>
</p:tagLst>
</file>

<file path=ppt/tags/tag45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32F58C36-223D-4FD3-8B55-C49C1515494B}_25.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2&quot;/&gt;&lt;/TableIndex&gt;&lt;/ShapeTextInfo&gt;"/>
</p:tagLst>
</file>

<file path=ppt/tags/tag457.xml><?xml version="1.0" encoding="utf-8"?>
<p:tagLst xmlns:a="http://schemas.openxmlformats.org/drawingml/2006/main" xmlns:r="http://schemas.openxmlformats.org/officeDocument/2006/relationships" xmlns:p="http://schemas.openxmlformats.org/presentationml/2006/main">
  <p:tag name="HTML_SHAPEINFO" val="&lt;SlideThumbPath val=&quot;Slide26.PNG&quot;/&gt;"/>
  <p:tag name="PPSNARRATION" val="26,883145026,C:\Users\sanmi\GoogleDrive\UWMdrive\Courses\ECE552\ece552-lec18_SharedMemoryCoherence_pptx\Media.ppcx"/>
  <p:tag name="TIMING" val="|27.9"/>
</p:tagLst>
</file>

<file path=ppt/tags/tag45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7B82E0D4-90C6-4AFD-8FCC-33480797666F}_26.png&quot;/&gt;&lt;left val=&quot;19&quot;/&gt;&lt;top val=&quot;288&quot;/&gt;&lt;width val=&quot;87&quot;/&gt;&lt;height val=&quot;26&quot;/&gt;&lt;hasText val=&quot;1&quot;/&gt;&lt;/Image&gt;&lt;/ThreeDShapeInfo&gt;"/>
  <p:tag name="PRESENTER_SHAPETEXTINFO" val="&lt;ShapeTextInfo&gt;&lt;TableIndex row=&quot;-1&quot; col=&quot;-1&quot;&gt;&lt;linesCount val=&quot;1&quot;/&gt;&lt;lineCharCount val=&quot;14&quot;/&gt;&lt;/TableIndex&gt;&lt;/ShapeTextInfo&gt;"/>
</p:tagLst>
</file>

<file path=ppt/tags/tag459.xml><?xml version="1.0" encoding="utf-8"?>
<p:tagLst xmlns:a="http://schemas.openxmlformats.org/drawingml/2006/main" xmlns:r="http://schemas.openxmlformats.org/officeDocument/2006/relationships" xmlns:p="http://schemas.openxmlformats.org/presentationml/2006/main">
  <p:tag name="PRESENTER_SHAPEINFO" val="&lt;ThreeDShapeInfo&gt;&lt;uuid val=&quot;{3CC6B149-DA3D-4665-BF15-B335ACD41DD7}&quot;/&gt;&lt;isInvalidForFieldText val=&quot;0&quot;/&gt;&lt;Image&gt;&lt;filename val=&quot;C:\Users\sanmi\Documents\My Adobe Presentations\ece552-SharedMemoryCoherence\data\asimages\{3CC6B149-DA3D-4665-BF15-B335ACD41DD7}_26.png&quot;/&gt;&lt;left val=&quot;77&quot;/&gt;&lt;top val=&quot;203&quot;/&gt;&lt;width val=&quot;63&quot;/&gt;&lt;height val=&quot;63&quot;/&gt;&lt;hasText val=&quot;1&quot;/&gt;&lt;/Image&gt;&lt;/ThreeDShapeInfo&gt;"/>
  <p:tag name="PRESENTER_SHAPETEXTINFO" val="&lt;ShapeTextInfo&gt;&lt;TableIndex row=&quot;-1&quot; col=&quot;-1&quot;&gt;&lt;linesCount val=&quot;1&quot;/&gt;&lt;lineCharCount val=&quot;1&quot;/&gt;&lt;/TableIndex&gt;&lt;/ShapeTextInfo&gt;"/>
</p:tagLst>
</file>

<file path=ppt/tags/tag46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122361DB-C523-4843-B4D7-1E32E85FE994}_26.png&quot;/&gt;&lt;left val=&quot;195&quot;/&gt;&lt;top val=&quot;185&quot;/&gt;&lt;width val=&quot;79&quot;/&gt;&lt;height val=&quot;26&quot;/&gt;&lt;hasText val=&quot;1&quot;/&gt;&lt;/Image&gt;&lt;/ThreeDShapeInfo&gt;"/>
  <p:tag name="PRESENTER_SHAPETEXTINFO" val="&lt;ShapeTextInfo&gt;&lt;TableIndex row=&quot;-1&quot; col=&quot;-1&quot;&gt;&lt;linesCount val=&quot;1&quot;/&gt;&lt;lineCharCount val=&quot;12&quot;/&gt;&lt;/TableIndex&gt;&lt;/ShapeTextInfo&gt;"/>
</p:tagLst>
</file>

<file path=ppt/tags/tag461.xml><?xml version="1.0" encoding="utf-8"?>
<p:tagLst xmlns:a="http://schemas.openxmlformats.org/drawingml/2006/main" xmlns:r="http://schemas.openxmlformats.org/officeDocument/2006/relationships" xmlns:p="http://schemas.openxmlformats.org/presentationml/2006/main">
  <p:tag name="PRESENTER_SHAPEINFO" val="&lt;ThreeDShapeInfo&gt;&lt;uuid val=&quot;{C35527E0-A856-4BD9-B4F6-F47146CA4B0C}&quot;/&gt;&lt;isInvalidForFieldText val=&quot;0&quot;/&gt;&lt;Image&gt;&lt;filename val=&quot;C:\Users\sanmi\Documents\My Adobe Presentations\ece552-SharedMemoryCoherence\data\asimages\{C35527E0-A856-4BD9-B4F6-F47146CA4B0C}_26.png&quot;/&gt;&lt;left val=&quot;338&quot;/&gt;&lt;top val=&quot;203&quot;/&gt;&lt;width val=&quot;63&quot;/&gt;&lt;height val=&quot;63&quot;/&gt;&lt;hasText val=&quot;1&quot;/&gt;&lt;/Image&gt;&lt;/ThreeDShapeInfo&gt;"/>
  <p:tag name="PRESENTER_SHAPETEXTINFO" val="&lt;ShapeTextInfo&gt;&lt;TableIndex row=&quot;-1&quot; col=&quot;-1&quot;&gt;&lt;linesCount val=&quot;1&quot;/&gt;&lt;lineCharCount val=&quot;1&quot;/&gt;&lt;/TableIndex&gt;&lt;/ShapeTextInfo&gt;"/>
</p:tagLst>
</file>

<file path=ppt/tags/tag462.xml><?xml version="1.0" encoding="utf-8"?>
<p:tagLst xmlns:a="http://schemas.openxmlformats.org/drawingml/2006/main" xmlns:r="http://schemas.openxmlformats.org/officeDocument/2006/relationships" xmlns:p="http://schemas.openxmlformats.org/presentationml/2006/main">
  <p:tag name="HTML_AUTOSHAPE_INFO" val="&lt;ThreeDShapeInfo&gt;&lt;uuid val=&quot;{8F204940-C158-4C7D-8DDA-0A6AC6C09CD5}&quot;/&gt;&lt;isInvalidForFieldText val=&quot;1&quot;/&gt;&lt;Image&gt;&lt;filename val=&quot;C:\Users\sanmi\Documents\My Adobe Presentations\ece552-SharedMemoryCoherence\data\asimages\{8F204940-C158-4C7D-8DDA-0A6AC6C09CD5}_26_S.png&quot;/&gt;&lt;left val=&quot;135&quot;/&gt;&lt;top val=&quot;205&quot;/&gt;&lt;width val=&quot;218&quot;/&gt;&lt;height val=&quot;26&quot;/&gt;&lt;hasText val=&quot;0&quot;/&gt;&lt;/Image&gt;&lt;Image&gt;&lt;filename val=&quot;C:\Users\sanmi\Documents\My Adobe Presentations\ece552-SharedMemoryCoherence\data\asimages\{8F204940-C158-4C7D-8DDA-0A6AC6C09CD5}_26_T.png&quot;/&gt;&lt;left val=&quot;135&quot;/&gt;&lt;top val=&quot;206&quot;/&gt;&lt;width val=&quot;207&quot;/&gt;&lt;height val=&quot;18&quot;/&gt;&lt;hasText val=&quot;1&quot;/&gt;&lt;/Image&gt;&lt;/ThreeDShapeInfo&gt;"/>
  <p:tag name="PRESENTER_SHAPETEXTINFO" val="&lt;ShapeTextInfo&gt;&lt;TableIndex row=&quot;-1&quot; col=&quot;-1&quot;&gt;&lt;linesCount val=&quot;0&quot;/&gt;&lt;/TableIndex&gt;&lt;/ShapeTextInfo&gt;"/>
</p:tagLst>
</file>

<file path=ppt/tags/tag46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323E243C-5E32-42CF-AEBF-C1C91CC642F5}_26.png&quot;/&gt;&lt;left val=&quot;391&quot;/&gt;&lt;top val=&quot;239&quot;/&gt;&lt;width val=&quot;56&quot;/&gt;&lt;height val=&quot;26&quot;/&gt;&lt;hasText val=&quot;1&quot;/&gt;&lt;/Image&gt;&lt;/ThreeDShapeInfo&gt;"/>
  <p:tag name="PRESENTER_SHAPETEXTINFO" val="&lt;ShapeTextInfo&gt;&lt;TableIndex row=&quot;-1&quot; col=&quot;-1&quot;&gt;&lt;linesCount val=&quot;1&quot;/&gt;&lt;lineCharCount val=&quot;9&quot;/&gt;&lt;/TableIndex&gt;&lt;/ShapeTextInfo&gt;"/>
</p:tagLst>
</file>

<file path=ppt/tags/tag46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114F2638-5653-40B1-9B41-5445FE71FAA2}_26.png&quot;/&gt;&lt;left val=&quot;367&quot;/&gt;&lt;top val=&quot;186&quot;/&gt;&lt;width val=&quot;63&quot;/&gt;&lt;height val=&quot;26&quot;/&gt;&lt;hasText val=&quot;1&quot;/&gt;&lt;/Image&gt;&lt;/ThreeDShapeInfo&gt;"/>
  <p:tag name="PRESENTER_SHAPETEXTINFO" val="&lt;ShapeTextInfo&gt;&lt;TableIndex row=&quot;-1&quot; col=&quot;-1&quot;&gt;&lt;linesCount val=&quot;1&quot;/&gt;&lt;lineCharCount val=&quot;10&quot;/&gt;&lt;/TableIndex&gt;&lt;/ShapeTextInfo&gt;"/>
</p:tagLst>
</file>

<file path=ppt/tags/tag465.xml><?xml version="1.0" encoding="utf-8"?>
<p:tagLst xmlns:a="http://schemas.openxmlformats.org/drawingml/2006/main" xmlns:r="http://schemas.openxmlformats.org/officeDocument/2006/relationships" xmlns:p="http://schemas.openxmlformats.org/presentationml/2006/main">
  <p:tag name="HTML_AUTOSHAPE_INFO" val="&lt;ThreeDShapeInfo&gt;&lt;uuid val=&quot;{9AF4BBB7-93E9-4502-AF07-9CC8E16F0FC0}&quot;/&gt;&lt;isInvalidForFieldText val=&quot;1&quot;/&gt;&lt;Image&gt;&lt;filename val=&quot;C:\Users\sanmi\Documents\My Adobe Presentations\ece552-SharedMemoryCoherence\data\asimages\{9AF4BBB7-93E9-4502-AF07-9CC8E16F0FC0}_26_S.png&quot;/&gt;&lt;left val=&quot;393&quot;/&gt;&lt;top val=&quot;205&quot;/&gt;&lt;width val=&quot;41&quot;/&gt;&lt;height val=&quot;36&quot;/&gt;&lt;hasText val=&quot;0&quot;/&gt;&lt;/Image&gt;&lt;Image&gt;&lt;filename val=&quot;C:\Users\sanmi\Documents\My Adobe Presentations\ece552-SharedMemoryCoherence\data\asimages\{9AF4BBB7-93E9-4502-AF07-9CC8E16F0FC0}_26_T.png&quot;/&gt;&lt;left val=&quot;398&quot;/&gt;&lt;top val=&quot;206&quot;/&gt;&lt;width val=&quot;36&quot;/&gt;&lt;height val=&quot;35&quot;/&gt;&lt;hasText val=&quot;1&quot;/&gt;&lt;/Image&gt;&lt;/ThreeDShapeInfo&gt;"/>
  <p:tag name="PRESENTER_SHAPETEXTINFO" val="&lt;ShapeTextInfo&gt;&lt;TableIndex row=&quot;-1&quot; col=&quot;-1&quot;&gt;&lt;linesCount val=&quot;0&quot;/&gt;&lt;/TableIndex&gt;&lt;/ShapeTextInfo&gt;"/>
</p:tagLst>
</file>

<file path=ppt/tags/tag466.xml><?xml version="1.0" encoding="utf-8"?>
<p:tagLst xmlns:a="http://schemas.openxmlformats.org/drawingml/2006/main" xmlns:r="http://schemas.openxmlformats.org/officeDocument/2006/relationships" xmlns:p="http://schemas.openxmlformats.org/presentationml/2006/main">
  <p:tag name="PRESENTER_SHAPEINFO" val="&lt;ThreeDShapeInfo&gt;&lt;uuid val=&quot;{81690D72-77C3-430D-93CF-704DD9C5137C}&quot;/&gt;&lt;isInvalidForFieldText val=&quot;0&quot;/&gt;&lt;Image&gt;&lt;filename val=&quot;C:\Users\sanmi\Documents\My Adobe Presentations\ece552-SharedMemoryCoherence\data\asimages\{81690D72-77C3-430D-93CF-704DD9C5137C}_26.png&quot;/&gt;&lt;left val=&quot;82&quot;/&gt;&lt;top val=&quot;392&quot;/&gt;&lt;width val=&quot;63&quot;/&gt;&lt;height val=&quot;63&quot;/&gt;&lt;hasText val=&quot;1&quot;/&gt;&lt;/Image&gt;&lt;/ThreeDShapeInfo&gt;"/>
  <p:tag name="PRESENTER_SHAPETEXTINFO" val="&lt;ShapeTextInfo&gt;&lt;TableIndex row=&quot;-1&quot; col=&quot;-1&quot;&gt;&lt;linesCount val=&quot;1&quot;/&gt;&lt;lineCharCount val=&quot;1&quot;/&gt;&lt;/TableIndex&gt;&lt;/ShapeTextInfo&gt;"/>
</p:tagLst>
</file>

<file path=ppt/tags/tag467.xml><?xml version="1.0" encoding="utf-8"?>
<p:tagLst xmlns:a="http://schemas.openxmlformats.org/drawingml/2006/main" xmlns:r="http://schemas.openxmlformats.org/officeDocument/2006/relationships" xmlns:p="http://schemas.openxmlformats.org/presentationml/2006/main">
  <p:tag name="HTML_AUTOSHAPE_INFO" val="&lt;ThreeDShapeInfo&gt;&lt;uuid val=&quot;{CFF26334-7B1E-45CD-A1A1-A47D61110590}&quot;/&gt;&lt;isInvalidForFieldText val=&quot;1&quot;/&gt;&lt;Image&gt;&lt;filename val=&quot;C:\Users\sanmi\Documents\My Adobe Presentations\ece552-SharedMemoryCoherence\data\asimages\{CFF26334-7B1E-45CD-A1A1-A47D61110590}_26_S.png&quot;/&gt;&lt;left val=&quot;80&quot;/&gt;&lt;top val=&quot;260&quot;/&gt;&lt;width val=&quot;29&quot;/&gt;&lt;height val=&quot;146&quot;/&gt;&lt;hasText val=&quot;0&quot;/&gt;&lt;/Image&gt;&lt;Image&gt;&lt;filename val=&quot;C:\Users\sanmi\Documents\My Adobe Presentations\ece552-SharedMemoryCoherence\data\asimages\{CFF26334-7B1E-45CD-A1A1-A47D61110590}_26_T.png&quot;/&gt;&lt;left val=&quot;81&quot;/&gt;&lt;top val=&quot;260&quot;/&gt;&lt;width val=&quot;19&quot;/&gt;&lt;height val=&quot;135&quot;/&gt;&lt;hasText val=&quot;1&quot;/&gt;&lt;/Image&gt;&lt;/ThreeDShapeInfo&gt;"/>
  <p:tag name="PRESENTER_SHAPETEXTINFO" val="&lt;ShapeTextInfo&gt;&lt;TableIndex row=&quot;-1&quot; col=&quot;-1&quot;&gt;&lt;linesCount val=&quot;0&quot;/&gt;&lt;/TableIndex&gt;&lt;/ShapeTextInfo&gt;"/>
</p:tagLst>
</file>

<file path=ppt/tags/tag468.xml><?xml version="1.0" encoding="utf-8"?>
<p:tagLst xmlns:a="http://schemas.openxmlformats.org/drawingml/2006/main" xmlns:r="http://schemas.openxmlformats.org/officeDocument/2006/relationships" xmlns:p="http://schemas.openxmlformats.org/presentationml/2006/main">
  <p:tag name="HTML_AUTOSHAPE_INFO" val="&lt;ThreeDShapeInfo&gt;&lt;uuid val=&quot;{BFA4F4FB-9946-4562-AADA-B300436131B1}&quot;/&gt;&lt;isInvalidForFieldText val=&quot;1&quot;/&gt;&lt;Image&gt;&lt;filename val=&quot;C:\Users\sanmi\Documents\My Adobe Presentations\ece552-SharedMemoryCoherence\data\asimages\{BFA4F4FB-9946-4562-AADA-B300436131B1}_26_S.png&quot;/&gt;&lt;left val=&quot;125&quot;/&gt;&lt;top val=&quot;230&quot;/&gt;&lt;width val=&quot;218&quot;/&gt;&lt;height val=&quot;26&quot;/&gt;&lt;hasText val=&quot;0&quot;/&gt;&lt;/Image&gt;&lt;Image&gt;&lt;filename val=&quot;C:\Users\sanmi\Documents\My Adobe Presentations\ece552-SharedMemoryCoherence\data\asimages\{BFA4F4FB-9946-4562-AADA-B300436131B1}_26_T.png&quot;/&gt;&lt;left val=&quot;135&quot;/&gt;&lt;top val=&quot;237&quot;/&gt;&lt;width val=&quot;207&quot;/&gt;&lt;height val=&quot;18&quot;/&gt;&lt;hasText val=&quot;1&quot;/&gt;&lt;/Image&gt;&lt;/ThreeDShapeInfo&gt;"/>
  <p:tag name="PRESENTER_SHAPETEXTINFO" val="&lt;ShapeTextInfo&gt;&lt;TableIndex row=&quot;-1&quot; col=&quot;-1&quot;&gt;&lt;linesCount val=&quot;0&quot;/&gt;&lt;/TableIndex&gt;&lt;/ShapeTextInfo&gt;"/>
</p:tagLst>
</file>

<file path=ppt/tags/tag46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82CC50F6-9CFC-4E5B-A2B9-9B892C586FBD}_26.png&quot;/&gt;&lt;left val=&quot;207&quot;/&gt;&lt;top val=&quot;254&quot;/&gt;&lt;width val=&quot;55&quot;/&gt;&lt;height val=&quot;26&quot;/&gt;&lt;hasText val=&quot;1&quot;/&gt;&lt;/Image&gt;&lt;/ThreeDShapeInfo&gt;"/>
  <p:tag name="PRESENTER_SHAPETEXTINFO" val="&lt;ShapeTextInfo&gt;&lt;TableIndex row=&quot;-1&quot; col=&quot;-1&quot;&gt;&lt;linesCount val=&quot;1&quot;/&gt;&lt;lineCharCount val=&quot;10&quot;/&gt;&lt;/TableIndex&gt;&lt;/ShapeTextInfo&gt;"/>
</p:tagLst>
</file>

<file path=ppt/tags/tag470.xml><?xml version="1.0" encoding="utf-8"?>
<p:tagLst xmlns:a="http://schemas.openxmlformats.org/drawingml/2006/main" xmlns:r="http://schemas.openxmlformats.org/officeDocument/2006/relationships" xmlns:p="http://schemas.openxmlformats.org/presentationml/2006/main">
  <p:tag name="HTML_AUTOSHAPE_INFO" val="&lt;ThreeDShapeInfo&gt;&lt;uuid val=&quot;{0F2A01B5-920E-47DA-A002-8C0CC1AA3997}&quot;/&gt;&lt;isInvalidForFieldText val=&quot;1&quot;/&gt;&lt;Image&gt;&lt;filename val=&quot;C:\Users\sanmi\Documents\My Adobe Presentations\ece552-SharedMemoryCoherence\data\asimages\{0F2A01B5-920E-47DA-A002-8C0CC1AA3997}_26_S.png&quot;/&gt;&lt;left val=&quot;137&quot;/&gt;&lt;top val=&quot;241&quot;/&gt;&lt;width val=&quot;224&quot;/&gt;&lt;height val=&quot;173&quot;/&gt;&lt;hasText val=&quot;0&quot;/&gt;&lt;/Image&gt;&lt;Image&gt;&lt;filename val=&quot;C:\Users\sanmi\Documents\My Adobe Presentations\ece552-SharedMemoryCoherence\data\asimages\{0F2A01B5-920E-47DA-A002-8C0CC1AA3997}_26_T.png&quot;/&gt;&lt;left val=&quot;137&quot;/&gt;&lt;top val=&quot;251&quot;/&gt;&lt;width val=&quot;214&quot;/&gt;&lt;height val=&quot;163&quot;/&gt;&lt;hasText val=&quot;1&quot;/&gt;&lt;/Image&gt;&lt;/ThreeDShapeInfo&gt;"/>
  <p:tag name="PRESENTER_SHAPETEXTINFO" val="&lt;ShapeTextInfo&gt;&lt;TableIndex row=&quot;-1&quot; col=&quot;-1&quot;&gt;&lt;linesCount val=&quot;0&quot;/&gt;&lt;/TableIndex&gt;&lt;/ShapeTextInfo&gt;"/>
</p:tagLst>
</file>

<file path=ppt/tags/tag471.xml><?xml version="1.0" encoding="utf-8"?>
<p:tagLst xmlns:a="http://schemas.openxmlformats.org/drawingml/2006/main" xmlns:r="http://schemas.openxmlformats.org/officeDocument/2006/relationships" xmlns:p="http://schemas.openxmlformats.org/presentationml/2006/main">
  <p:tag name="HTML_AUTOSHAPE_INFO" val="&lt;ThreeDShapeInfo&gt;&lt;uuid val=&quot;{F42E1EB9-D6E9-411C-A224-CD963D2D208B}&quot;/&gt;&lt;isInvalidForFieldText val=&quot;1&quot;/&gt;&lt;Image&gt;&lt;filename val=&quot;C:\Users\sanmi\Documents\My Adobe Presentations\ece552-SharedMemoryCoherence\data\asimages\{F42E1EB9-D6E9-411C-A224-CD963D2D208B}_26_S.png&quot;/&gt;&lt;left val=&quot;130&quot;/&gt;&lt;top val=&quot;264&quot;/&gt;&lt;width val=&quot;241&quot;/&gt;&lt;height val=&quot;187&quot;/&gt;&lt;hasText val=&quot;0&quot;/&gt;&lt;/Image&gt;&lt;Image&gt;&lt;filename val=&quot;C:\Users\sanmi\Documents\My Adobe Presentations\ece552-SharedMemoryCoherence\data\asimages\{F42E1EB9-D6E9-411C-A224-CD963D2D208B}_26_T.png&quot;/&gt;&lt;left val=&quot;140&quot;/&gt;&lt;top val=&quot;264&quot;/&gt;&lt;width val=&quot;230&quot;/&gt;&lt;height val=&quot;176&quot;/&gt;&lt;hasText val=&quot;1&quot;/&gt;&lt;/Image&gt;&lt;/ThreeDShapeInfo&gt;"/>
  <p:tag name="PRESENTER_SHAPETEXTINFO" val="&lt;ShapeTextInfo&gt;&lt;TableIndex row=&quot;-1&quot; col=&quot;-1&quot;&gt;&lt;linesCount val=&quot;0&quot;/&gt;&lt;/TableIndex&gt;&lt;/ShapeTextInfo&gt;"/>
</p:tagLst>
</file>

<file path=ppt/tags/tag47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7F7750AC-CE3B-48A1-A7A0-EF84E7B08523}_26.png&quot;/&gt;&lt;left val=&quot;169&quot;/&gt;&lt;top val=&quot;314&quot;/&gt;&lt;width val=&quot;139&quot;/&gt;&lt;height val=&quot;26&quot;/&gt;&lt;hasText val=&quot;1&quot;/&gt;&lt;/Image&gt;&lt;/ThreeDShapeInfo&gt;"/>
  <p:tag name="PRESENTER_SHAPETEXTINFO" val="&lt;ShapeTextInfo&gt;&lt;TableIndex row=&quot;-1&quot; col=&quot;-1&quot;&gt;&lt;linesCount val=&quot;1&quot;/&gt;&lt;lineCharCount val=&quot;23&quot;/&gt;&lt;/TableIndex&gt;&lt;/ShapeTextInfo&gt;"/>
</p:tagLst>
</file>

<file path=ppt/tags/tag473.xml><?xml version="1.0" encoding="utf-8"?>
<p:tagLst xmlns:a="http://schemas.openxmlformats.org/drawingml/2006/main" xmlns:r="http://schemas.openxmlformats.org/officeDocument/2006/relationships" xmlns:p="http://schemas.openxmlformats.org/presentationml/2006/main">
  <p:tag name="HTML_AUTOSHAPE_INFO" val="&lt;ThreeDShapeInfo&gt;&lt;uuid val=&quot;{5A1C5541-2901-4188-834F-964778AA588E}&quot;/&gt;&lt;isInvalidForFieldText val=&quot;1&quot;/&gt;&lt;Image&gt;&lt;filename val=&quot;C:\Users\sanmi\Documents\My Adobe Presentations\ece552-SharedMemoryCoherence\data\asimages\{5A1C5541-2901-4188-834F-964778AA588E}_26_S.png&quot;/&gt;&lt;left val=&quot;54&quot;/&gt;&lt;top val=&quot;423&quot;/&gt;&lt;width val=&quot;37&quot;/&gt;&lt;height val=&quot;38&quot;/&gt;&lt;hasText val=&quot;0&quot;/&gt;&lt;/Image&gt;&lt;Image&gt;&lt;filename val=&quot;C:\Users\sanmi\Documents\My Adobe Presentations\ece552-SharedMemoryCoherence\data\asimages\{5A1C5541-2901-4188-834F-964778AA588E}_26_T.png&quot;/&gt;&lt;left val=&quot;54&quot;/&gt;&lt;top val=&quot;424&quot;/&gt;&lt;width val=&quot;35&quot;/&gt;&lt;height val=&quot;37&quot;/&gt;&lt;hasText val=&quot;1&quot;/&gt;&lt;/Image&gt;&lt;/ThreeDShapeInfo&gt;"/>
  <p:tag name="PRESENTER_SHAPETEXTINFO" val="&lt;ShapeTextInfo&gt;&lt;TableIndex row=&quot;-1&quot; col=&quot;-1&quot;&gt;&lt;linesCount val=&quot;0&quot;/&gt;&lt;/TableIndex&gt;&lt;/ShapeTextInfo&gt;"/>
</p:tagLst>
</file>

<file path=ppt/tags/tag47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2A7DD0EF-5655-4435-8587-F480A2223BA0}_26.png&quot;/&gt;&lt;left val=&quot;0&quot;/&gt;&lt;top val=&quot;405&quot;/&gt;&lt;width val=&quot;87&quot;/&gt;&lt;height val=&quot;26&quot;/&gt;&lt;hasText val=&quot;1&quot;/&gt;&lt;/Image&gt;&lt;/ThreeDShapeInfo&gt;"/>
  <p:tag name="PRESENTER_SHAPETEXTINFO" val="&lt;ShapeTextInfo&gt;&lt;TableIndex row=&quot;-1&quot; col=&quot;-1&quot;&gt;&lt;linesCount val=&quot;1&quot;/&gt;&lt;lineCharCount val=&quot;16&quot;/&gt;&lt;/TableIndex&gt;&lt;/ShapeTextInfo&gt;"/>
</p:tagLst>
</file>

<file path=ppt/tags/tag47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8775F5E8-32D2-49BC-9531-CD90BC76C8D9}_26.png&quot;/&gt;&lt;left val=&quot;218&quot;/&gt;&lt;top val=&quot;350&quot;/&gt;&lt;width val=&quot;85&quot;/&gt;&lt;height val=&quot;26&quot;/&gt;&lt;hasText val=&quot;1&quot;/&gt;&lt;/Image&gt;&lt;/ThreeDShapeInfo&gt;"/>
  <p:tag name="PRESENTER_SHAPETEXTINFO" val="&lt;ShapeTextInfo&gt;&lt;TableIndex row=&quot;-1&quot; col=&quot;-1&quot;&gt;&lt;linesCount val=&quot;1&quot;/&gt;&lt;lineCharCount val=&quot;14&quot;/&gt;&lt;/TableIndex&gt;&lt;/ShapeTextInfo&gt;"/>
</p:tagLst>
</file>

<file path=ppt/tags/tag47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BB328B85-F8CD-4709-B35D-0DB18C84969D}_26.png&quot;/&gt;&lt;left val=&quot;188&quot;/&gt;&lt;top val=&quot;228&quot;/&gt;&lt;width val=&quot;108&quot;/&gt;&lt;height val=&quot;26&quot;/&gt;&lt;hasText val=&quot;1&quot;/&gt;&lt;/Image&gt;&lt;/ThreeDShapeInfo&gt;"/>
  <p:tag name="PRESENTER_SHAPETEXTINFO" val="&lt;ShapeTextInfo&gt;&lt;TableIndex row=&quot;-1&quot; col=&quot;-1&quot;&gt;&lt;linesCount val=&quot;1&quot;/&gt;&lt;lineCharCount val=&quot;19&quot;/&gt;&lt;/TableIndex&gt;&lt;/ShapeTextInfo&gt;"/>
</p:tagLst>
</file>

<file path=ppt/tags/tag477.xml><?xml version="1.0" encoding="utf-8"?>
<p:tagLst xmlns:a="http://schemas.openxmlformats.org/drawingml/2006/main" xmlns:r="http://schemas.openxmlformats.org/officeDocument/2006/relationships" xmlns:p="http://schemas.openxmlformats.org/presentationml/2006/main">
  <p:tag name="PRESENTER_SHAPEINFO" val="&lt;ThreeDShapeInfo&gt;&lt;uuid val=&quot;{55B309F3-50AD-48F6-842F-157BA9894C39}&quot;/&gt;&lt;isInvalidForFieldText val=&quot;0&quot;/&gt;&lt;Image&gt;&lt;filename val=&quot;C:\Users\sanmi\Documents\My Adobe Presentations\ece552-SharedMemoryCoherence\data\asimages\{55B309F3-50AD-48F6-842F-157BA9894C39}_26.png&quot;/&gt;&lt;left val=&quot;543&quot;/&gt;&lt;top val=&quot;347&quot;/&gt;&lt;width val=&quot;116&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478.xml><?xml version="1.0" encoding="utf-8"?>
<p:tagLst xmlns:a="http://schemas.openxmlformats.org/drawingml/2006/main" xmlns:r="http://schemas.openxmlformats.org/officeDocument/2006/relationships" xmlns:p="http://schemas.openxmlformats.org/presentationml/2006/main">
  <p:tag name="PRESENTER_SHAPEINFO" val="&lt;ThreeDShapeInfo&gt;&lt;uuid val=&quot;{26574D2E-9691-4573-B6DF-6FB32C8D6FB5}&quot;/&gt;&lt;isInvalidForFieldText val=&quot;0&quot;/&gt;&lt;Image&gt;&lt;filename val=&quot;C:\Users\sanmi\Documents\My Adobe Presentations\ece552-SharedMemoryCoherence\data\asimages\{26574D2E-9691-4573-B6DF-6FB32C8D6FB5}_26.png&quot;/&gt;&lt;left val=&quot;640&quot;/&gt;&lt;top val=&quot;296&quot;/&gt;&lt;width val=&quot;13&quot;/&gt;&lt;height val=&quot;20&quot;/&gt;&lt;hasText val=&quot;1&quot;/&gt;&lt;/Image&gt;&lt;/ThreeDShapeInfo&gt;"/>
</p:tagLst>
</file>

<file path=ppt/tags/tag4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80.xml><?xml version="1.0" encoding="utf-8"?>
<p:tagLst xmlns:a="http://schemas.openxmlformats.org/drawingml/2006/main" xmlns:r="http://schemas.openxmlformats.org/officeDocument/2006/relationships" xmlns:p="http://schemas.openxmlformats.org/presentationml/2006/main">
  <p:tag name="PRESENTER_SHAPEINFO" val="&lt;ThreeDShapeInfo&gt;&lt;uuid val=&quot;{587909E7-2A49-4423-BC12-B289C3B49D90}&quot;/&gt;&lt;isInvalidForFieldText val=&quot;0&quot;/&gt;&lt;Image&gt;&lt;filename val=&quot;C:\Users\sanmi\Documents\My Adobe Presentations\ece552-SharedMemoryCoherence\data\asimages\{587909E7-2A49-4423-BC12-B289C3B49D90}_26.png&quot;/&gt;&lt;left val=&quot;606&quot;/&gt;&lt;top val=&quot;303&quot;/&gt;&lt;width val=&quot;80&quot;/&gt;&lt;height val=&quot;38&quot;/&gt;&lt;hasText val=&quot;1&quot;/&gt;&lt;/Image&gt;&lt;/ThreeDShapeInfo&gt;"/>
  <p:tag name="PRESENTER_SHAPETEXTINFO" val="&lt;ShapeTextInfo&gt;&lt;TableIndex row=&quot;-1&quot; col=&quot;-1&quot;&gt;&lt;linesCount val=&quot;1&quot;/&gt;&lt;lineCharCount val=&quot;8&quot;/&gt;&lt;/TableIndex&gt;&lt;/ShapeTextInfo&gt;"/>
</p:tagLst>
</file>

<file path=ppt/tags/tag481.xml><?xml version="1.0" encoding="utf-8"?>
<p:tagLst xmlns:a="http://schemas.openxmlformats.org/drawingml/2006/main" xmlns:r="http://schemas.openxmlformats.org/officeDocument/2006/relationships" xmlns:p="http://schemas.openxmlformats.org/presentationml/2006/main">
  <p:tag name="PRESENTER_SHAPEINFO" val="&lt;ThreeDShapeInfo&gt;&lt;uuid val=&quot;{1AF16BBB-9D99-4B40-A073-7A8D04249740}&quot;/&gt;&lt;isInvalidForFieldText val=&quot;0&quot;/&gt;&lt;Image&gt;&lt;filename val=&quot;C:\Users\sanmi\Documents\My Adobe Presentations\ece552-SharedMemoryCoherence\data\asimages\{1AF16BBB-9D99-4B40-A073-7A8D04249740}_26.png&quot;/&gt;&lt;left val=&quot;563&quot;/&gt;&lt;top val=&quot;388&quot;/&gt;&lt;width val=&quot;78&quot;/&gt;&lt;height val=&quot;38&quot;/&gt;&lt;hasText val=&quot;1&quot;/&gt;&lt;/Image&gt;&lt;/ThreeDShapeInfo&gt;"/>
  <p:tag name="PRESENTER_SHAPETEXTINFO" val="&lt;ShapeTextInfo&gt;&lt;TableIndex row=&quot;-1&quot; col=&quot;-1&quot;&gt;&lt;linesCount val=&quot;1&quot;/&gt;&lt;lineCharCount val=&quot;4&quot;/&gt;&lt;/TableIndex&gt;&lt;/ShapeTextInfo&gt;"/>
</p:tagLst>
</file>

<file path=ppt/tags/tag482.xml><?xml version="1.0" encoding="utf-8"?>
<p:tagLst xmlns:a="http://schemas.openxmlformats.org/drawingml/2006/main" xmlns:r="http://schemas.openxmlformats.org/officeDocument/2006/relationships" xmlns:p="http://schemas.openxmlformats.org/presentationml/2006/main">
  <p:tag name="PRESENTER_SHAPEINFO" val="&lt;ThreeDShapeInfo&gt;&lt;uuid val=&quot;{6B08A699-88C0-482F-BE48-DBDE4782C82D}&quot;/&gt;&lt;isInvalidForFieldText val=&quot;0&quot;/&gt;&lt;Image&gt;&lt;filename val=&quot;C:\Users\sanmi\Documents\My Adobe Presentations\ece552-SharedMemoryCoherence\data\asimages\{6B08A699-88C0-482F-BE48-DBDE4782C82D}_26.png&quot;/&gt;&lt;left val=&quot;623&quot;/&gt;&lt;top val=&quot;266&quot;/&gt;&lt;width val=&quot;47&quot;/&gt;&lt;height val=&quot;45&quot;/&gt;&lt;hasText val=&quot;1&quot;/&gt;&lt;/Image&gt;&lt;/ThreeDShapeInfo&gt;"/>
  <p:tag name="PRESENTER_SHAPETEXTINFO" val="&lt;ShapeTextInfo&gt;&lt;TableIndex row=&quot;-1&quot; col=&quot;-1&quot;&gt;&lt;linesCount val=&quot;1&quot;/&gt;&lt;lineCharCount val=&quot;2&quot;/&gt;&lt;/TableIndex&gt;&lt;/ShapeTextInfo&gt;"/>
</p:tagLst>
</file>

<file path=ppt/tags/tag483.xml><?xml version="1.0" encoding="utf-8"?>
<p:tagLst xmlns:a="http://schemas.openxmlformats.org/drawingml/2006/main" xmlns:r="http://schemas.openxmlformats.org/officeDocument/2006/relationships" xmlns:p="http://schemas.openxmlformats.org/presentationml/2006/main">
  <p:tag name="PRESENTER_SHAPEINFO" val="&lt;ThreeDShapeInfo&gt;&lt;uuid val=&quot;{E7863C78-F58F-4A6C-AF7A-6D8250A94E52}&quot;/&gt;&lt;isInvalidForFieldText val=&quot;0&quot;/&gt;&lt;Image&gt;&lt;filename val=&quot;C:\Users\sanmi\Documents\My Adobe Presentations\ece552-SharedMemoryCoherence\data\asimages\{E7863C78-F58F-4A6C-AF7A-6D8250A94E52}_26.png&quot;/&gt;&lt;left val=&quot;554&quot;/&gt;&lt;top val=&quot;296&quot;/&gt;&lt;width val=&quot;13&quot;/&gt;&lt;height val=&quot;20&quot;/&gt;&lt;hasText val=&quot;1&quot;/&gt;&lt;/Image&gt;&lt;/ThreeDShapeInfo&gt;"/>
</p:tagLst>
</file>

<file path=ppt/tags/tag4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85.xml><?xml version="1.0" encoding="utf-8"?>
<p:tagLst xmlns:a="http://schemas.openxmlformats.org/drawingml/2006/main" xmlns:r="http://schemas.openxmlformats.org/officeDocument/2006/relationships" xmlns:p="http://schemas.openxmlformats.org/presentationml/2006/main">
  <p:tag name="PRESENTER_SHAPEINFO" val="&lt;ThreeDShapeInfo&gt;&lt;uuid val=&quot;{BA79575D-EC1F-4926-A7D7-364D12D211D7}&quot;/&gt;&lt;isInvalidForFieldText val=&quot;0&quot;/&gt;&lt;Image&gt;&lt;filename val=&quot;C:\Users\sanmi\Documents\My Adobe Presentations\ece552-SharedMemoryCoherence\data\asimages\{BA79575D-EC1F-4926-A7D7-364D12D211D7}_26.png&quot;/&gt;&lt;left val=&quot;521&quot;/&gt;&lt;top val=&quot;303&quot;/&gt;&lt;width val=&quot;80&quot;/&gt;&lt;height val=&quot;38&quot;/&gt;&lt;hasText val=&quot;1&quot;/&gt;&lt;/Image&gt;&lt;/ThreeDShapeInfo&gt;"/>
  <p:tag name="PRESENTER_SHAPETEXTINFO" val="&lt;ShapeTextInfo&gt;&lt;TableIndex row=&quot;-1&quot; col=&quot;-1&quot;&gt;&lt;linesCount val=&quot;1&quot;/&gt;&lt;lineCharCount val=&quot;8&quot;/&gt;&lt;/TableIndex&gt;&lt;/ShapeTextInfo&gt;"/>
</p:tagLst>
</file>

<file path=ppt/tags/tag486.xml><?xml version="1.0" encoding="utf-8"?>
<p:tagLst xmlns:a="http://schemas.openxmlformats.org/drawingml/2006/main" xmlns:r="http://schemas.openxmlformats.org/officeDocument/2006/relationships" xmlns:p="http://schemas.openxmlformats.org/presentationml/2006/main">
  <p:tag name="PRESENTER_SHAPEINFO" val="&lt;ThreeDShapeInfo&gt;&lt;uuid val=&quot;{58F94532-976B-40FD-87A1-4540FEF8DA8B}&quot;/&gt;&lt;isInvalidForFieldText val=&quot;0&quot;/&gt;&lt;Image&gt;&lt;filename val=&quot;C:\Users\sanmi\Documents\My Adobe Presentations\ece552-SharedMemoryCoherence\data\asimages\{58F94532-976B-40FD-87A1-4540FEF8DA8B}_26.png&quot;/&gt;&lt;left val=&quot;537&quot;/&gt;&lt;top val=&quot;266&quot;/&gt;&lt;width val=&quot;47&quot;/&gt;&lt;height val=&quot;45&quot;/&gt;&lt;hasText val=&quot;1&quot;/&gt;&lt;/Image&gt;&lt;/ThreeDShapeInfo&gt;"/>
  <p:tag name="PRESENTER_SHAPETEXTINFO" val="&lt;ShapeTextInfo&gt;&lt;TableIndex row=&quot;-1&quot; col=&quot;-1&quot;&gt;&lt;linesCount val=&quot;1&quot;/&gt;&lt;lineCharCount val=&quot;2&quot;/&gt;&lt;/TableIndex&gt;&lt;/ShapeTextInfo&gt;"/>
</p:tagLst>
</file>

<file path=ppt/tags/tag487.xml><?xml version="1.0" encoding="utf-8"?>
<p:tagLst xmlns:a="http://schemas.openxmlformats.org/drawingml/2006/main" xmlns:r="http://schemas.openxmlformats.org/officeDocument/2006/relationships" xmlns:p="http://schemas.openxmlformats.org/presentationml/2006/main">
  <p:tag name="PRESENTER_SHAPEINFO" val="&lt;ThreeDShapeInfo&gt;&lt;uuid val=&quot;{25BCBF57-BEE9-41F6-AA3C-B7921D18F308}&quot;/&gt;&lt;isInvalidForFieldText val=&quot;0&quot;/&gt;&lt;Image&gt;&lt;filename val=&quot;C:\Users\sanmi\Documents\My Adobe Presentations\ece552-SharedMemoryCoherence\data\asimages\{25BCBF57-BEE9-41F6-AA3C-B7921D18F308}_26.png&quot;/&gt;&lt;left val=&quot;552&quot;/&gt;&lt;top val=&quot;231&quot;/&gt;&lt;width val=&quot;111&quot;/&gt;&lt;height val=&quot;52&quot;/&gt;&lt;hasText val=&quot;1&quot;/&gt;&lt;/Image&gt;&lt;/ThreeDShapeInfo&gt;"/>
  <p:tag name="PRESENTER_SHAPETEXTINFO" val="&lt;ShapeTextInfo&gt;&lt;TableIndex row=&quot;-1&quot; col=&quot;-1&quot;&gt;&lt;linesCount val=&quot;2&quot;/&gt;&lt;lineCharCount val=&quot;11&quot;/&gt;&lt;lineCharCount val=&quot;13&quot;/&gt;&lt;/TableIndex&gt;&lt;/ShapeTextInfo&gt;"/>
</p:tagLst>
</file>

<file path=ppt/tags/tag488.xml><?xml version="1.0" encoding="utf-8"?>
<p:tagLst xmlns:a="http://schemas.openxmlformats.org/drawingml/2006/main" xmlns:r="http://schemas.openxmlformats.org/officeDocument/2006/relationships" xmlns:p="http://schemas.openxmlformats.org/presentationml/2006/main">
  <p:tag name="PRESENTER_SHAPEINFO" val="&lt;ThreeDShapeInfo&gt;&lt;uuid val=&quot;{835C7C72-BE9B-4768-84F6-3E935590A843}&quot;/&gt;&lt;isInvalidForFieldText val=&quot;0&quot;/&gt;&lt;Image&gt;&lt;filename val=&quot;C:\Users\sanmi\Documents\My Adobe Presentations\ece552-SharedMemoryCoherence\data\asimages\{835C7C72-BE9B-4768-84F6-3E935590A843}_26.png&quot;/&gt;&lt;left val=&quot;449&quot;/&gt;&lt;top val=&quot;332&quot;/&gt;&lt;width val=&quot;114&quot;/&gt;&lt;height val=&quot;42&quot;/&gt;&lt;hasText val=&quot;1&quot;/&gt;&lt;/Image&gt;&lt;/ThreeDShapeInfo&gt;"/>
  <p:tag name="PRESENTER_SHAPETEXTINFO" val="&lt;ShapeTextInfo&gt;&lt;TableIndex row=&quot;-1&quot; col=&quot;-1&quot;&gt;&lt;linesCount val=&quot;1&quot;/&gt;&lt;lineCharCount val=&quot;11&quot;/&gt;&lt;/TableIndex&gt;&lt;/ShapeTextInfo&gt;"/>
</p:tagLst>
</file>

<file path=ppt/tags/tag489.xml><?xml version="1.0" encoding="utf-8"?>
<p:tagLst xmlns:a="http://schemas.openxmlformats.org/drawingml/2006/main" xmlns:r="http://schemas.openxmlformats.org/officeDocument/2006/relationships" xmlns:p="http://schemas.openxmlformats.org/presentationml/2006/main">
  <p:tag name="PRESENTER_SHAPEINFO" val="&lt;ThreeDShapeInfo&gt;&lt;uuid val=&quot;{952529EB-6C4F-42AB-A37E-950601C05EB8}&quot;/&gt;&lt;isInvalidForFieldText val=&quot;0&quot;/&gt;&lt;Image&gt;&lt;filename val=&quot;C:\Users\sanmi\Documents\My Adobe Presentations\ece552-SharedMemoryCoherence\data\asimages\{952529EB-6C4F-42AB-A37E-950601C05EB8}_26.png&quot;/&gt;&lt;left val=&quot;519&quot;/&gt;&lt;top val=&quot;303&quot;/&gt;&lt;width val=&quot;84&quot;/&gt;&lt;height val=&quot;38&quot;/&gt;&lt;hasText val=&quot;1&quot;/&gt;&lt;/Image&gt;&lt;/ThreeDShapeInfo&gt;"/>
  <p:tag name="PRESENTER_SHAPETEXTINFO" val="&lt;ShapeTextInfo&gt;&lt;TableIndex row=&quot;-1&quot; col=&quot;-1&quot;&gt;&lt;linesCount val=&quot;1&quot;/&gt;&lt;lineCharCount val=&quot;10&quot;/&gt;&lt;/TableIndex&gt;&lt;/ShapeTextInfo&gt;"/>
</p:tagLst>
</file>

<file path=ppt/tags/tag490.xml><?xml version="1.0" encoding="utf-8"?>
<p:tagLst xmlns:a="http://schemas.openxmlformats.org/drawingml/2006/main" xmlns:r="http://schemas.openxmlformats.org/officeDocument/2006/relationships" xmlns:p="http://schemas.openxmlformats.org/presentationml/2006/main">
  <p:tag name="PRESENTER_SHAPEINFO" val="&lt;ThreeDShapeInfo&gt;&lt;uuid val=&quot;{092DB61A-513A-4A4D-B3A9-A8FC67858166}&quot;/&gt;&lt;isInvalidForFieldText val=&quot;0&quot;/&gt;&lt;Image&gt;&lt;filename val=&quot;C:\Users\sanmi\Documents\My Adobe Presentations\ece552-SharedMemoryCoherence\data\asimages\{092DB61A-513A-4A4D-B3A9-A8FC67858166}_26.png&quot;/&gt;&lt;left val=&quot;606&quot;/&gt;&lt;top val=&quot;303&quot;/&gt;&lt;width val=&quot;80&quot;/&gt;&lt;height val=&quot;38&quot;/&gt;&lt;hasText val=&quot;1&quot;/&gt;&lt;/Image&gt;&lt;/ThreeDShapeInfo&gt;"/>
  <p:tag name="PRESENTER_SHAPETEXTINFO" val="&lt;ShapeTextInfo&gt;&lt;TableIndex row=&quot;-1&quot; col=&quot;-1&quot;&gt;&lt;linesCount val=&quot;1&quot;/&gt;&lt;lineCharCount val=&quot;7&quot;/&gt;&lt;/TableIndex&gt;&lt;/ShapeTextInfo&gt;"/>
</p:tagLst>
</file>

<file path=ppt/tags/tag491.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SharedMemoryCoherence\data\asimages\{A55449ED-83D5-4074-B7C1-EBCEE24033F7}_1.png_crop.png&quot;/&gt;&lt;left val=&quot;268&quot;/&gt;&lt;top val=&quot;397&quot;/&gt;&lt;width val=&quot;248&quot;/&gt;&lt;height val=&quot;11&quot;/&gt;&lt;hasText val=&quot;1&quot;/&gt;&lt;paraId val=&quot;1&quot;/&gt;&lt;/Image&gt;&lt;Image&gt;&lt;filename val=&quot;C:\Users\sanmi\Documents\My Adobe Presentations\ece552-SharedMemoryCoherence\data\asimages\{924D3A0A-5204-49F9-B586-4812C282DCC2}_1.png_crop.png&quot;/&gt;&lt;left val=&quot;273&quot;/&gt;&lt;top val=&quot;417&quot;/&gt;&lt;width val=&quot;237&quot;/&gt;&lt;height val=&quot;14&quot;/&gt;&lt;hasText val=&quot;1&quot;/&gt;&lt;paraId val=&quot;2&quot;/&gt;&lt;/Image&gt;&lt;/TextEffect&gt;"/>
  <p:tag name="PRESENTER_SHAPETEXTINFO" val="&lt;ShapeTextInfo&gt;&lt;TableIndex row=&quot;-1&quot; col=&quot;-1&quot;&gt;&lt;linesCount val=&quot;2&quot;/&gt;&lt;lineCharCount val=&quot;37&quot;/&gt;&lt;lineCharCount val=&quot;34&quot;/&gt;&lt;/TableIndex&gt;&lt;/ShapeTextInfo&gt;"/>
</p:tagLst>
</file>

<file path=ppt/tags/tag49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503D67D-DF60-40B0-9ED8-380F261F3D8A}_26.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2&quot;/&gt;&lt;/TableIndex&gt;&lt;/ShapeTextInfo&gt;"/>
</p:tagLst>
</file>

<file path=ppt/tags/tag493.xml><?xml version="1.0" encoding="utf-8"?>
<p:tagLst xmlns:a="http://schemas.openxmlformats.org/drawingml/2006/main" xmlns:r="http://schemas.openxmlformats.org/officeDocument/2006/relationships" xmlns:p="http://schemas.openxmlformats.org/presentationml/2006/main">
  <p:tag name="HTML_SHAPEINFO" val="&lt;SlideThumbPath val=&quot;Slide27.PNG&quot;/&gt;"/>
  <p:tag name="PPSNARRATION" val="27,883145026,C:\Users\sanmi\GoogleDrive\UWMdrive\Courses\ECE552\ece552-lec18_SharedMemoryCoherence_pptx\Media.ppcx"/>
</p:tagLst>
</file>

<file path=ppt/tags/tag49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4357BD0-A3C8-4DD2-AE65-6C97DA78470B}_27.png&quot;/&gt;&lt;left val=&quot;19&quot;/&gt;&lt;top val=&quot;288&quot;/&gt;&lt;width val=&quot;87&quot;/&gt;&lt;height val=&quot;26&quot;/&gt;&lt;hasText val=&quot;1&quot;/&gt;&lt;/Image&gt;&lt;/ThreeDShapeInfo&gt;"/>
  <p:tag name="PRESENTER_SHAPETEXTINFO" val="&lt;ShapeTextInfo&gt;&lt;TableIndex row=&quot;-1&quot; col=&quot;-1&quot;&gt;&lt;linesCount val=&quot;1&quot;/&gt;&lt;lineCharCount val=&quot;14&quot;/&gt;&lt;/TableIndex&gt;&lt;/ShapeTextInfo&gt;"/>
</p:tagLst>
</file>

<file path=ppt/tags/tag495.xml><?xml version="1.0" encoding="utf-8"?>
<p:tagLst xmlns:a="http://schemas.openxmlformats.org/drawingml/2006/main" xmlns:r="http://schemas.openxmlformats.org/officeDocument/2006/relationships" xmlns:p="http://schemas.openxmlformats.org/presentationml/2006/main">
  <p:tag name="PRESENTER_SHAPEINFO" val="&lt;ThreeDShapeInfo&gt;&lt;uuid val=&quot;{13CE7143-46A7-4A1E-8404-AE11FE9C2394}&quot;/&gt;&lt;isInvalidForFieldText val=&quot;0&quot;/&gt;&lt;Image&gt;&lt;filename val=&quot;C:\Users\sanmi\Documents\My Adobe Presentations\ece552-SharedMemoryCoherence\data\asimages\{13CE7143-46A7-4A1E-8404-AE11FE9C2394}_27.png&quot;/&gt;&lt;left val=&quot;77&quot;/&gt;&lt;top val=&quot;203&quot;/&gt;&lt;width val=&quot;63&quot;/&gt;&lt;height val=&quot;63&quot;/&gt;&lt;hasText val=&quot;1&quot;/&gt;&lt;/Image&gt;&lt;/ThreeDShapeInfo&gt;"/>
  <p:tag name="PRESENTER_SHAPETEXTINFO" val="&lt;ShapeTextInfo&gt;&lt;TableIndex row=&quot;-1&quot; col=&quot;-1&quot;&gt;&lt;linesCount val=&quot;1&quot;/&gt;&lt;lineCharCount val=&quot;1&quot;/&gt;&lt;/TableIndex&gt;&lt;/ShapeTextInfo&gt;"/>
</p:tagLst>
</file>

<file path=ppt/tags/tag49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86CBD63-E5ED-4394-98C7-FA7C7C2713E4}_27.png&quot;/&gt;&lt;left val=&quot;195&quot;/&gt;&lt;top val=&quot;185&quot;/&gt;&lt;width val=&quot;79&quot;/&gt;&lt;height val=&quot;26&quot;/&gt;&lt;hasText val=&quot;1&quot;/&gt;&lt;/Image&gt;&lt;/ThreeDShapeInfo&gt;"/>
  <p:tag name="PRESENTER_SHAPETEXTINFO" val="&lt;ShapeTextInfo&gt;&lt;TableIndex row=&quot;-1&quot; col=&quot;-1&quot;&gt;&lt;linesCount val=&quot;1&quot;/&gt;&lt;lineCharCount val=&quot;12&quot;/&gt;&lt;/TableIndex&gt;&lt;/ShapeTextInfo&gt;"/>
</p:tagLst>
</file>

<file path=ppt/tags/tag497.xml><?xml version="1.0" encoding="utf-8"?>
<p:tagLst xmlns:a="http://schemas.openxmlformats.org/drawingml/2006/main" xmlns:r="http://schemas.openxmlformats.org/officeDocument/2006/relationships" xmlns:p="http://schemas.openxmlformats.org/presentationml/2006/main">
  <p:tag name="PRESENTER_SHAPEINFO" val="&lt;ThreeDShapeInfo&gt;&lt;uuid val=&quot;{B5F8120A-70C4-4511-81BC-571ED34B3144}&quot;/&gt;&lt;isInvalidForFieldText val=&quot;0&quot;/&gt;&lt;Image&gt;&lt;filename val=&quot;C:\Users\sanmi\Documents\My Adobe Presentations\ece552-SharedMemoryCoherence\data\asimages\{B5F8120A-70C4-4511-81BC-571ED34B3144}_27.png&quot;/&gt;&lt;left val=&quot;338&quot;/&gt;&lt;top val=&quot;203&quot;/&gt;&lt;width val=&quot;63&quot;/&gt;&lt;height val=&quot;63&quot;/&gt;&lt;hasText val=&quot;1&quot;/&gt;&lt;/Image&gt;&lt;/ThreeDShapeInfo&gt;"/>
  <p:tag name="PRESENTER_SHAPETEXTINFO" val="&lt;ShapeTextInfo&gt;&lt;TableIndex row=&quot;-1&quot; col=&quot;-1&quot;&gt;&lt;linesCount val=&quot;1&quot;/&gt;&lt;lineCharCount val=&quot;1&quot;/&gt;&lt;/TableIndex&gt;&lt;/ShapeTextInfo&gt;"/>
</p:tagLst>
</file>

<file path=ppt/tags/tag498.xml><?xml version="1.0" encoding="utf-8"?>
<p:tagLst xmlns:a="http://schemas.openxmlformats.org/drawingml/2006/main" xmlns:r="http://schemas.openxmlformats.org/officeDocument/2006/relationships" xmlns:p="http://schemas.openxmlformats.org/presentationml/2006/main">
  <p:tag name="HTML_AUTOSHAPE_INFO" val="&lt;ThreeDShapeInfo&gt;&lt;uuid val=&quot;{A55B2B9A-522A-4289-A57F-D4052976F901}&quot;/&gt;&lt;isInvalidForFieldText val=&quot;1&quot;/&gt;&lt;Image&gt;&lt;filename val=&quot;C:\Users\sanmi\Documents\My Adobe Presentations\ece552-SharedMemoryCoherence\data\asimages\{A55B2B9A-522A-4289-A57F-D4052976F901}_27_S.png&quot;/&gt;&lt;left val=&quot;135&quot;/&gt;&lt;top val=&quot;205&quot;/&gt;&lt;width val=&quot;218&quot;/&gt;&lt;height val=&quot;26&quot;/&gt;&lt;hasText val=&quot;0&quot;/&gt;&lt;/Image&gt;&lt;Image&gt;&lt;filename val=&quot;C:\Users\sanmi\Documents\My Adobe Presentations\ece552-SharedMemoryCoherence\data\asimages\{A55B2B9A-522A-4289-A57F-D4052976F901}_27_T.png&quot;/&gt;&lt;left val=&quot;135&quot;/&gt;&lt;top val=&quot;206&quot;/&gt;&lt;width val=&quot;207&quot;/&gt;&lt;height val=&quot;18&quot;/&gt;&lt;hasText val=&quot;1&quot;/&gt;&lt;/Image&gt;&lt;/ThreeDShapeInfo&gt;"/>
  <p:tag name="PRESENTER_SHAPETEXTINFO" val="&lt;ShapeTextInfo&gt;&lt;TableIndex row=&quot;-1&quot; col=&quot;-1&quot;&gt;&lt;linesCount val=&quot;0&quot;/&gt;&lt;/TableIndex&gt;&lt;/ShapeTextInfo&gt;"/>
</p:tagLst>
</file>

<file path=ppt/tags/tag49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110057CC-82AA-4F8D-9B27-477CCA97CD18}_27.png&quot;/&gt;&lt;left val=&quot;391&quot;/&gt;&lt;top val=&quot;239&quot;/&gt;&lt;width val=&quot;56&quot;/&gt;&lt;height val=&quot;26&quot;/&gt;&lt;hasText val=&quot;1&quot;/&gt;&lt;/Image&gt;&lt;/ThreeDShapeInfo&gt;"/>
  <p:tag name="PRESENTER_SHAPETEXTINFO" val="&lt;ShapeTextInfo&gt;&lt;TableIndex row=&quot;-1&quot; col=&quot;-1&quot;&gt;&lt;linesCount val=&quot;1&quot;/&gt;&lt;lineCharCount val=&quot;9&quot;/&gt;&lt;/TableIndex&gt;&lt;/ShapeTextInfo&gt;"/>
</p:tagLst>
</file>

<file path=ppt/tags/tag50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72FA5D85-E9EC-462E-9911-4587DC135B57}_27.png&quot;/&gt;&lt;left val=&quot;367&quot;/&gt;&lt;top val=&quot;186&quot;/&gt;&lt;width val=&quot;63&quot;/&gt;&lt;height val=&quot;26&quot;/&gt;&lt;hasText val=&quot;1&quot;/&gt;&lt;/Image&gt;&lt;/ThreeDShapeInfo&gt;"/>
  <p:tag name="PRESENTER_SHAPETEXTINFO" val="&lt;ShapeTextInfo&gt;&lt;TableIndex row=&quot;-1&quot; col=&quot;-1&quot;&gt;&lt;linesCount val=&quot;1&quot;/&gt;&lt;lineCharCount val=&quot;10&quot;/&gt;&lt;/TableIndex&gt;&lt;/ShapeTextInfo&gt;"/>
</p:tagLst>
</file>

<file path=ppt/tags/tag501.xml><?xml version="1.0" encoding="utf-8"?>
<p:tagLst xmlns:a="http://schemas.openxmlformats.org/drawingml/2006/main" xmlns:r="http://schemas.openxmlformats.org/officeDocument/2006/relationships" xmlns:p="http://schemas.openxmlformats.org/presentationml/2006/main">
  <p:tag name="HTML_AUTOSHAPE_INFO" val="&lt;ThreeDShapeInfo&gt;&lt;uuid val=&quot;{AE3D019B-D3EB-4589-9BB1-F83EE216089B}&quot;/&gt;&lt;isInvalidForFieldText val=&quot;1&quot;/&gt;&lt;Image&gt;&lt;filename val=&quot;C:\Users\sanmi\Documents\My Adobe Presentations\ece552-SharedMemoryCoherence\data\asimages\{AE3D019B-D3EB-4589-9BB1-F83EE216089B}_27_S.png&quot;/&gt;&lt;left val=&quot;393&quot;/&gt;&lt;top val=&quot;205&quot;/&gt;&lt;width val=&quot;41&quot;/&gt;&lt;height val=&quot;36&quot;/&gt;&lt;hasText val=&quot;0&quot;/&gt;&lt;/Image&gt;&lt;Image&gt;&lt;filename val=&quot;C:\Users\sanmi\Documents\My Adobe Presentations\ece552-SharedMemoryCoherence\data\asimages\{AE3D019B-D3EB-4589-9BB1-F83EE216089B}_27_T.png&quot;/&gt;&lt;left val=&quot;398&quot;/&gt;&lt;top val=&quot;206&quot;/&gt;&lt;width val=&quot;36&quot;/&gt;&lt;height val=&quot;35&quot;/&gt;&lt;hasText val=&quot;1&quot;/&gt;&lt;/Image&gt;&lt;/ThreeDShapeInfo&gt;"/>
  <p:tag name="PRESENTER_SHAPETEXTINFO" val="&lt;ShapeTextInfo&gt;&lt;TableIndex row=&quot;-1&quot; col=&quot;-1&quot;&gt;&lt;linesCount val=&quot;0&quot;/&gt;&lt;/TableIndex&gt;&lt;/ShapeTextInfo&gt;"/>
</p:tagLst>
</file>

<file path=ppt/tags/tag502.xml><?xml version="1.0" encoding="utf-8"?>
<p:tagLst xmlns:a="http://schemas.openxmlformats.org/drawingml/2006/main" xmlns:r="http://schemas.openxmlformats.org/officeDocument/2006/relationships" xmlns:p="http://schemas.openxmlformats.org/presentationml/2006/main">
  <p:tag name="PRESENTER_SHAPEINFO" val="&lt;ThreeDShapeInfo&gt;&lt;uuid val=&quot;{398E0A79-EAF3-4A5B-8C83-EC7E2F14CB5B}&quot;/&gt;&lt;isInvalidForFieldText val=&quot;0&quot;/&gt;&lt;Image&gt;&lt;filename val=&quot;C:\Users\sanmi\Documents\My Adobe Presentations\ece552-SharedMemoryCoherence\data\asimages\{398E0A79-EAF3-4A5B-8C83-EC7E2F14CB5B}_27.png&quot;/&gt;&lt;left val=&quot;82&quot;/&gt;&lt;top val=&quot;392&quot;/&gt;&lt;width val=&quot;63&quot;/&gt;&lt;height val=&quot;63&quot;/&gt;&lt;hasText val=&quot;1&quot;/&gt;&lt;/Image&gt;&lt;/ThreeDShapeInfo&gt;"/>
  <p:tag name="PRESENTER_SHAPETEXTINFO" val="&lt;ShapeTextInfo&gt;&lt;TableIndex row=&quot;-1&quot; col=&quot;-1&quot;&gt;&lt;linesCount val=&quot;1&quot;/&gt;&lt;lineCharCount val=&quot;1&quot;/&gt;&lt;/TableIndex&gt;&lt;/ShapeTextInfo&gt;"/>
</p:tagLst>
</file>

<file path=ppt/tags/tag503.xml><?xml version="1.0" encoding="utf-8"?>
<p:tagLst xmlns:a="http://schemas.openxmlformats.org/drawingml/2006/main" xmlns:r="http://schemas.openxmlformats.org/officeDocument/2006/relationships" xmlns:p="http://schemas.openxmlformats.org/presentationml/2006/main">
  <p:tag name="HTML_AUTOSHAPE_INFO" val="&lt;ThreeDShapeInfo&gt;&lt;uuid val=&quot;{DF5C8774-BC03-48C9-BF4E-7975747C5A26}&quot;/&gt;&lt;isInvalidForFieldText val=&quot;1&quot;/&gt;&lt;Image&gt;&lt;filename val=&quot;C:\Users\sanmi\Documents\My Adobe Presentations\ece552-SharedMemoryCoherence\data\asimages\{DF5C8774-BC03-48C9-BF4E-7975747C5A26}_27_S.png&quot;/&gt;&lt;left val=&quot;80&quot;/&gt;&lt;top val=&quot;260&quot;/&gt;&lt;width val=&quot;29&quot;/&gt;&lt;height val=&quot;146&quot;/&gt;&lt;hasText val=&quot;0&quot;/&gt;&lt;/Image&gt;&lt;Image&gt;&lt;filename val=&quot;C:\Users\sanmi\Documents\My Adobe Presentations\ece552-SharedMemoryCoherence\data\asimages\{DF5C8774-BC03-48C9-BF4E-7975747C5A26}_27_T.png&quot;/&gt;&lt;left val=&quot;81&quot;/&gt;&lt;top val=&quot;260&quot;/&gt;&lt;width val=&quot;19&quot;/&gt;&lt;height val=&quot;135&quot;/&gt;&lt;hasText val=&quot;1&quot;/&gt;&lt;/Image&gt;&lt;/ThreeDShapeInfo&gt;"/>
  <p:tag name="PRESENTER_SHAPETEXTINFO" val="&lt;ShapeTextInfo&gt;&lt;TableIndex row=&quot;-1&quot; col=&quot;-1&quot;&gt;&lt;linesCount val=&quot;0&quot;/&gt;&lt;/TableIndex&gt;&lt;/ShapeTextInfo&gt;"/>
</p:tagLst>
</file>

<file path=ppt/tags/tag504.xml><?xml version="1.0" encoding="utf-8"?>
<p:tagLst xmlns:a="http://schemas.openxmlformats.org/drawingml/2006/main" xmlns:r="http://schemas.openxmlformats.org/officeDocument/2006/relationships" xmlns:p="http://schemas.openxmlformats.org/presentationml/2006/main">
  <p:tag name="HTML_AUTOSHAPE_INFO" val="&lt;ThreeDShapeInfo&gt;&lt;uuid val=&quot;{72846142-ACB3-49EE-ABCC-44844948BE66}&quot;/&gt;&lt;isInvalidForFieldText val=&quot;1&quot;/&gt;&lt;Image&gt;&lt;filename val=&quot;C:\Users\sanmi\Documents\My Adobe Presentations\ece552-SharedMemoryCoherence\data\asimages\{72846142-ACB3-49EE-ABCC-44844948BE66}_27_S.png&quot;/&gt;&lt;left val=&quot;115&quot;/&gt;&lt;top val=&quot;250&quot;/&gt;&lt;width val=&quot;26&quot;/&gt;&lt;height val=&quot;146&quot;/&gt;&lt;hasText val=&quot;0&quot;/&gt;&lt;/Image&gt;&lt;Image&gt;&lt;filename val=&quot;C:\Users\sanmi\Documents\My Adobe Presentations\ece552-SharedMemoryCoherence\data\asimages\{72846142-ACB3-49EE-ABCC-44844948BE66}_27_T.png&quot;/&gt;&lt;left val=&quot;122&quot;/&gt;&lt;top val=&quot;260&quot;/&gt;&lt;width val=&quot;18&quot;/&gt;&lt;height val=&quot;135&quot;/&gt;&lt;hasText val=&quot;1&quot;/&gt;&lt;/Image&gt;&lt;/ThreeDShapeInfo&gt;"/>
  <p:tag name="PRESENTER_SHAPETEXTINFO" val="&lt;ShapeTextInfo&gt;&lt;TableIndex row=&quot;-1&quot; col=&quot;-1&quot;&gt;&lt;linesCount val=&quot;0&quot;/&gt;&lt;/TableIndex&gt;&lt;/ShapeTextInfo&gt;"/>
</p:tagLst>
</file>

<file path=ppt/tags/tag50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1A001DEA-C319-4976-B6B1-6D9FE15F46C6}_27.png&quot;/&gt;&lt;left val=&quot;102&quot;/&gt;&lt;top val=&quot;291&quot;/&gt;&lt;width val=&quot;109&quot;/&gt;&lt;height val=&quot;26&quot;/&gt;&lt;hasText val=&quot;1&quot;/&gt;&lt;/Image&gt;&lt;/ThreeDShapeInfo&gt;"/>
  <p:tag name="PRESENTER_SHAPETEXTINFO" val="&lt;ShapeTextInfo&gt;&lt;TableIndex row=&quot;-1&quot; col=&quot;-1&quot;&gt;&lt;linesCount val=&quot;1&quot;/&gt;&lt;lineCharCount val=&quot;17&quot;/&gt;&lt;/TableIndex&gt;&lt;/ShapeTextInfo&gt;"/>
</p:tagLst>
</file>

<file path=ppt/tags/tag506.xml><?xml version="1.0" encoding="utf-8"?>
<p:tagLst xmlns:a="http://schemas.openxmlformats.org/drawingml/2006/main" xmlns:r="http://schemas.openxmlformats.org/officeDocument/2006/relationships" xmlns:p="http://schemas.openxmlformats.org/presentationml/2006/main">
  <p:tag name="HTML_AUTOSHAPE_INFO" val="&lt;ThreeDShapeInfo&gt;&lt;uuid val=&quot;{E65B4DCE-77CB-45B3-8547-B4D2A3C0484E}&quot;/&gt;&lt;isInvalidForFieldText val=&quot;1&quot;/&gt;&lt;Image&gt;&lt;filename val=&quot;C:\Users\sanmi\Documents\My Adobe Presentations\ece552-SharedMemoryCoherence\data\asimages\{E65B4DCE-77CB-45B3-8547-B4D2A3C0484E}_27_S.png&quot;/&gt;&lt;left val=&quot;125&quot;/&gt;&lt;top val=&quot;230&quot;/&gt;&lt;width val=&quot;218&quot;/&gt;&lt;height val=&quot;26&quot;/&gt;&lt;hasText val=&quot;0&quot;/&gt;&lt;/Image&gt;&lt;Image&gt;&lt;filename val=&quot;C:\Users\sanmi\Documents\My Adobe Presentations\ece552-SharedMemoryCoherence\data\asimages\{E65B4DCE-77CB-45B3-8547-B4D2A3C0484E}_27_T.png&quot;/&gt;&lt;left val=&quot;135&quot;/&gt;&lt;top val=&quot;237&quot;/&gt;&lt;width val=&quot;207&quot;/&gt;&lt;height val=&quot;18&quot;/&gt;&lt;hasText val=&quot;1&quot;/&gt;&lt;/Image&gt;&lt;/ThreeDShapeInfo&gt;"/>
  <p:tag name="PRESENTER_SHAPETEXTINFO" val="&lt;ShapeTextInfo&gt;&lt;TableIndex row=&quot;-1&quot; col=&quot;-1&quot;&gt;&lt;linesCount val=&quot;0&quot;/&gt;&lt;/TableIndex&gt;&lt;/ShapeTextInfo&gt;"/>
</p:tagLst>
</file>

<file path=ppt/tags/tag50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1B789FD-6306-4FE6-8D8D-4766AB9A779F}_27.png&quot;/&gt;&lt;left val=&quot;207&quot;/&gt;&lt;top val=&quot;254&quot;/&gt;&lt;width val=&quot;55&quot;/&gt;&lt;height val=&quot;26&quot;/&gt;&lt;hasText val=&quot;1&quot;/&gt;&lt;/Image&gt;&lt;/ThreeDShapeInfo&gt;"/>
  <p:tag name="PRESENTER_SHAPETEXTINFO" val="&lt;ShapeTextInfo&gt;&lt;TableIndex row=&quot;-1&quot; col=&quot;-1&quot;&gt;&lt;linesCount val=&quot;1&quot;/&gt;&lt;lineCharCount val=&quot;10&quot;/&gt;&lt;/TableIndex&gt;&lt;/ShapeTextInfo&gt;"/>
</p:tagLst>
</file>

<file path=ppt/tags/tag508.xml><?xml version="1.0" encoding="utf-8"?>
<p:tagLst xmlns:a="http://schemas.openxmlformats.org/drawingml/2006/main" xmlns:r="http://schemas.openxmlformats.org/officeDocument/2006/relationships" xmlns:p="http://schemas.openxmlformats.org/presentationml/2006/main">
  <p:tag name="HTML_AUTOSHAPE_INFO" val="&lt;ThreeDShapeInfo&gt;&lt;uuid val=&quot;{CADC91D3-F62B-449F-A77D-F13A7A14B9B0}&quot;/&gt;&lt;isInvalidForFieldText val=&quot;1&quot;/&gt;&lt;Image&gt;&lt;filename val=&quot;C:\Users\sanmi\Documents\My Adobe Presentations\ece552-SharedMemoryCoherence\data\asimages\{CADC91D3-F62B-449F-A77D-F13A7A14B9B0}_27_S.png&quot;/&gt;&lt;left val=&quot;137&quot;/&gt;&lt;top val=&quot;241&quot;/&gt;&lt;width val=&quot;224&quot;/&gt;&lt;height val=&quot;173&quot;/&gt;&lt;hasText val=&quot;0&quot;/&gt;&lt;/Image&gt;&lt;Image&gt;&lt;filename val=&quot;C:\Users\sanmi\Documents\My Adobe Presentations\ece552-SharedMemoryCoherence\data\asimages\{CADC91D3-F62B-449F-A77D-F13A7A14B9B0}_27_T.png&quot;/&gt;&lt;left val=&quot;137&quot;/&gt;&lt;top val=&quot;251&quot;/&gt;&lt;width val=&quot;214&quot;/&gt;&lt;height val=&quot;163&quot;/&gt;&lt;hasText val=&quot;1&quot;/&gt;&lt;/Image&gt;&lt;/ThreeDShapeInfo&gt;"/>
  <p:tag name="PRESENTER_SHAPETEXTINFO" val="&lt;ShapeTextInfo&gt;&lt;TableIndex row=&quot;-1&quot; col=&quot;-1&quot;&gt;&lt;linesCount val=&quot;0&quot;/&gt;&lt;/TableIndex&gt;&lt;/ShapeTextInfo&gt;"/>
</p:tagLst>
</file>

<file path=ppt/tags/tag509.xml><?xml version="1.0" encoding="utf-8"?>
<p:tagLst xmlns:a="http://schemas.openxmlformats.org/drawingml/2006/main" xmlns:r="http://schemas.openxmlformats.org/officeDocument/2006/relationships" xmlns:p="http://schemas.openxmlformats.org/presentationml/2006/main">
  <p:tag name="HTML_AUTOSHAPE_INFO" val="&lt;ThreeDShapeInfo&gt;&lt;uuid val=&quot;{10D93343-AB9C-4F02-95F5-1138C7CF9956}&quot;/&gt;&lt;isInvalidForFieldText val=&quot;1&quot;/&gt;&lt;Image&gt;&lt;filename val=&quot;C:\Users\sanmi\Documents\My Adobe Presentations\ece552-SharedMemoryCoherence\data\asimages\{10D93343-AB9C-4F02-95F5-1138C7CF9956}_27_S.png&quot;/&gt;&lt;left val=&quot;130&quot;/&gt;&lt;top val=&quot;264&quot;/&gt;&lt;width val=&quot;241&quot;/&gt;&lt;height val=&quot;187&quot;/&gt;&lt;hasText val=&quot;0&quot;/&gt;&lt;/Image&gt;&lt;Image&gt;&lt;filename val=&quot;C:\Users\sanmi\Documents\My Adobe Presentations\ece552-SharedMemoryCoherence\data\asimages\{10D93343-AB9C-4F02-95F5-1138C7CF9956}_27_T.png&quot;/&gt;&lt;left val=&quot;140&quot;/&gt;&lt;top val=&quot;264&quot;/&gt;&lt;width val=&quot;230&quot;/&gt;&lt;height val=&quot;176&quot;/&gt;&lt;hasText val=&quot;1&quot;/&gt;&lt;/Image&gt;&lt;/ThreeDShapeInfo&gt;"/>
  <p:tag name="PRESENTER_SHAPETEXTINFO" val="&lt;ShapeTextInfo&gt;&lt;TableIndex row=&quot;-1&quot; col=&quot;-1&quot;&gt;&lt;linesCount val=&quot;0&quot;/&gt;&lt;/TableIndex&gt;&lt;/ShapeTextInfo&gt;"/>
</p:tagLst>
</file>

<file path=ppt/tags/tag51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E128EF33-E79E-4FC0-8576-0FF28957521A}_27.png&quot;/&gt;&lt;left val=&quot;169&quot;/&gt;&lt;top val=&quot;314&quot;/&gt;&lt;width val=&quot;139&quot;/&gt;&lt;height val=&quot;26&quot;/&gt;&lt;hasText val=&quot;1&quot;/&gt;&lt;/Image&gt;&lt;/ThreeDShapeInfo&gt;"/>
  <p:tag name="PRESENTER_SHAPETEXTINFO" val="&lt;ShapeTextInfo&gt;&lt;TableIndex row=&quot;-1&quot; col=&quot;-1&quot;&gt;&lt;linesCount val=&quot;1&quot;/&gt;&lt;lineCharCount val=&quot;23&quot;/&gt;&lt;/TableIndex&gt;&lt;/ShapeTextInfo&gt;"/>
</p:tagLst>
</file>

<file path=ppt/tags/tag511.xml><?xml version="1.0" encoding="utf-8"?>
<p:tagLst xmlns:a="http://schemas.openxmlformats.org/drawingml/2006/main" xmlns:r="http://schemas.openxmlformats.org/officeDocument/2006/relationships" xmlns:p="http://schemas.openxmlformats.org/presentationml/2006/main">
  <p:tag name="HTML_AUTOSHAPE_INFO" val="&lt;ThreeDShapeInfo&gt;&lt;uuid val=&quot;{9749BB0E-4104-42AF-A33F-D2D78C76A389}&quot;/&gt;&lt;isInvalidForFieldText val=&quot;1&quot;/&gt;&lt;Image&gt;&lt;filename val=&quot;C:\Users\sanmi\Documents\My Adobe Presentations\ece552-SharedMemoryCoherence\data\asimages\{9749BB0E-4104-42AF-A33F-D2D78C76A389}_27_S.png&quot;/&gt;&lt;left val=&quot;54&quot;/&gt;&lt;top val=&quot;423&quot;/&gt;&lt;width val=&quot;37&quot;/&gt;&lt;height val=&quot;38&quot;/&gt;&lt;hasText val=&quot;0&quot;/&gt;&lt;/Image&gt;&lt;Image&gt;&lt;filename val=&quot;C:\Users\sanmi\Documents\My Adobe Presentations\ece552-SharedMemoryCoherence\data\asimages\{9749BB0E-4104-42AF-A33F-D2D78C76A389}_27_T.png&quot;/&gt;&lt;left val=&quot;54&quot;/&gt;&lt;top val=&quot;424&quot;/&gt;&lt;width val=&quot;35&quot;/&gt;&lt;height val=&quot;37&quot;/&gt;&lt;hasText val=&quot;1&quot;/&gt;&lt;/Image&gt;&lt;/ThreeDShapeInfo&gt;"/>
  <p:tag name="PRESENTER_SHAPETEXTINFO" val="&lt;ShapeTextInfo&gt;&lt;TableIndex row=&quot;-1&quot; col=&quot;-1&quot;&gt;&lt;linesCount val=&quot;0&quot;/&gt;&lt;/TableIndex&gt;&lt;/ShapeTextInfo&gt;"/>
</p:tagLst>
</file>

<file path=ppt/tags/tag51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E9FCBE33-BE15-4388-80EA-79EADC5DDB0A}_27.png&quot;/&gt;&lt;left val=&quot;0&quot;/&gt;&lt;top val=&quot;405&quot;/&gt;&lt;width val=&quot;87&quot;/&gt;&lt;height val=&quot;26&quot;/&gt;&lt;hasText val=&quot;1&quot;/&gt;&lt;/Image&gt;&lt;/ThreeDShapeInfo&gt;"/>
  <p:tag name="PRESENTER_SHAPETEXTINFO" val="&lt;ShapeTextInfo&gt;&lt;TableIndex row=&quot;-1&quot; col=&quot;-1&quot;&gt;&lt;linesCount val=&quot;1&quot;/&gt;&lt;lineCharCount val=&quot;16&quot;/&gt;&lt;/TableIndex&gt;&lt;/ShapeTextInfo&gt;"/>
</p:tagLst>
</file>

<file path=ppt/tags/tag51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5D1F6B07-F794-4BDD-9804-C460BB733BF4}_27.png&quot;/&gt;&lt;left val=&quot;219&quot;/&gt;&lt;top val=&quot;350&quot;/&gt;&lt;width val=&quot;83&quot;/&gt;&lt;height val=&quot;26&quot;/&gt;&lt;hasText val=&quot;1&quot;/&gt;&lt;/Image&gt;&lt;/ThreeDShapeInfo&gt;"/>
  <p:tag name="PRESENTER_SHAPETEXTINFO" val="&lt;ShapeTextInfo&gt;&lt;TableIndex row=&quot;-1&quot; col=&quot;-1&quot;&gt;&lt;linesCount val=&quot;1&quot;/&gt;&lt;lineCharCount val=&quot;14&quot;/&gt;&lt;/TableIndex&gt;&lt;/ShapeTextInfo&gt;"/>
</p:tagLst>
</file>

<file path=ppt/tags/tag51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7DBABAE2-AEB1-4ACE-BA14-4C89B7379506}_27.png&quot;/&gt;&lt;left val=&quot;188&quot;/&gt;&lt;top val=&quot;228&quot;/&gt;&lt;width val=&quot;106&quot;/&gt;&lt;height val=&quot;26&quot;/&gt;&lt;hasText val=&quot;1&quot;/&gt;&lt;/Image&gt;&lt;/ThreeDShapeInfo&gt;"/>
  <p:tag name="PRESENTER_SHAPETEXTINFO" val="&lt;ShapeTextInfo&gt;&lt;TableIndex row=&quot;-1&quot; col=&quot;-1&quot;&gt;&lt;linesCount val=&quot;1&quot;/&gt;&lt;lineCharCount val=&quot;19&quot;/&gt;&lt;/TableIndex&gt;&lt;/ShapeTextInfo&gt;"/>
</p:tagLst>
</file>

<file path=ppt/tags/tag515.xml><?xml version="1.0" encoding="utf-8"?>
<p:tagLst xmlns:a="http://schemas.openxmlformats.org/drawingml/2006/main" xmlns:r="http://schemas.openxmlformats.org/officeDocument/2006/relationships" xmlns:p="http://schemas.openxmlformats.org/presentationml/2006/main">
  <p:tag name="PRESENTER_SHAPEINFO" val="&lt;ThreeDShapeInfo&gt;&lt;uuid val=&quot;{05087FBE-968C-4385-AE9B-9415EEC0D99C}&quot;/&gt;&lt;isInvalidForFieldText val=&quot;0&quot;/&gt;&lt;Image&gt;&lt;filename val=&quot;C:\Users\sanmi\Documents\My Adobe Presentations\ece552-SharedMemoryCoherence\data\asimages\{05087FBE-968C-4385-AE9B-9415EEC0D99C}_27.png&quot;/&gt;&lt;left val=&quot;543&quot;/&gt;&lt;top val=&quot;347&quot;/&gt;&lt;width val=&quot;116&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516.xml><?xml version="1.0" encoding="utf-8"?>
<p:tagLst xmlns:a="http://schemas.openxmlformats.org/drawingml/2006/main" xmlns:r="http://schemas.openxmlformats.org/officeDocument/2006/relationships" xmlns:p="http://schemas.openxmlformats.org/presentationml/2006/main">
  <p:tag name="PRESENTER_SHAPEINFO" val="&lt;ThreeDShapeInfo&gt;&lt;uuid val=&quot;{52242F09-19E4-4348-8A0E-F23CCABE45B6}&quot;/&gt;&lt;isInvalidForFieldText val=&quot;0&quot;/&gt;&lt;Image&gt;&lt;filename val=&quot;C:\Users\sanmi\Documents\My Adobe Presentations\ece552-SharedMemoryCoherence\data\asimages\{52242F09-19E4-4348-8A0E-F23CCABE45B6}_27.png&quot;/&gt;&lt;left val=&quot;639&quot;/&gt;&lt;top val=&quot;296&quot;/&gt;&lt;width val=&quot;13&quot;/&gt;&lt;height val=&quot;20&quot;/&gt;&lt;hasText val=&quot;1&quot;/&gt;&lt;/Image&gt;&lt;/ThreeDShapeInfo&gt;"/>
</p:tagLst>
</file>

<file path=ppt/tags/tag5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18.xml><?xml version="1.0" encoding="utf-8"?>
<p:tagLst xmlns:a="http://schemas.openxmlformats.org/drawingml/2006/main" xmlns:r="http://schemas.openxmlformats.org/officeDocument/2006/relationships" xmlns:p="http://schemas.openxmlformats.org/presentationml/2006/main">
  <p:tag name="PRESENTER_SHAPEINFO" val="&lt;ThreeDShapeInfo&gt;&lt;uuid val=&quot;{4383689A-811E-4F3E-BF31-B83F1B760307}&quot;/&gt;&lt;isInvalidForFieldText val=&quot;0&quot;/&gt;&lt;Image&gt;&lt;filename val=&quot;C:\Users\sanmi\Documents\My Adobe Presentations\ece552-SharedMemoryCoherence\data\asimages\{4383689A-811E-4F3E-BF31-B83F1B760307}_27.png&quot;/&gt;&lt;left val=&quot;606&quot;/&gt;&lt;top val=&quot;303&quot;/&gt;&lt;width val=&quot;80&quot;/&gt;&lt;height val=&quot;38&quot;/&gt;&lt;hasText val=&quot;1&quot;/&gt;&lt;/Image&gt;&lt;/ThreeDShapeInfo&gt;"/>
  <p:tag name="PRESENTER_SHAPETEXTINFO" val="&lt;ShapeTextInfo&gt;&lt;TableIndex row=&quot;-1&quot; col=&quot;-1&quot;&gt;&lt;linesCount val=&quot;1&quot;/&gt;&lt;lineCharCount val=&quot;5&quot;/&gt;&lt;/TableIndex&gt;&lt;/ShapeTextInfo&gt;"/>
</p:tagLst>
</file>

<file path=ppt/tags/tag519.xml><?xml version="1.0" encoding="utf-8"?>
<p:tagLst xmlns:a="http://schemas.openxmlformats.org/drawingml/2006/main" xmlns:r="http://schemas.openxmlformats.org/officeDocument/2006/relationships" xmlns:p="http://schemas.openxmlformats.org/presentationml/2006/main">
  <p:tag name="PRESENTER_SHAPEINFO" val="&lt;ThreeDShapeInfo&gt;&lt;uuid val=&quot;{4D48B4FB-F2DB-4412-BB20-3BAEDE17BACD}&quot;/&gt;&lt;isInvalidForFieldText val=&quot;0&quot;/&gt;&lt;Image&gt;&lt;filename val=&quot;C:\Users\sanmi\Documents\My Adobe Presentations\ece552-SharedMemoryCoherence\data\asimages\{4D48B4FB-F2DB-4412-BB20-3BAEDE17BACD}_27.png&quot;/&gt;&lt;left val=&quot;562&quot;/&gt;&lt;top val=&quot;388&quot;/&gt;&lt;width val=&quot;78&quot;/&gt;&lt;height val=&quot;39&quot;/&gt;&lt;hasText val=&quot;1&quot;/&gt;&lt;/Image&gt;&lt;/ThreeDShapeInfo&gt;"/>
  <p:tag name="PRESENTER_SHAPETEXTINFO" val="&lt;ShapeTextInfo&gt;&lt;TableIndex row=&quot;-1&quot; col=&quot;-1&quot;&gt;&lt;linesCount val=&quot;1&quot;/&gt;&lt;lineCharCount val=&quot;4&quot;/&gt;&lt;/TableIndex&gt;&lt;/ShapeTextInfo&gt;"/>
</p:tagLst>
</file>

<file path=ppt/tags/tag520.xml><?xml version="1.0" encoding="utf-8"?>
<p:tagLst xmlns:a="http://schemas.openxmlformats.org/drawingml/2006/main" xmlns:r="http://schemas.openxmlformats.org/officeDocument/2006/relationships" xmlns:p="http://schemas.openxmlformats.org/presentationml/2006/main">
  <p:tag name="PRESENTER_SHAPEINFO" val="&lt;ThreeDShapeInfo&gt;&lt;uuid val=&quot;{8748ECEE-ACDD-437F-AC6F-FC1A2173B9E0}&quot;/&gt;&lt;isInvalidForFieldText val=&quot;0&quot;/&gt;&lt;Image&gt;&lt;filename val=&quot;C:\Users\sanmi\Documents\My Adobe Presentations\ece552-SharedMemoryCoherence\data\asimages\{8748ECEE-ACDD-437F-AC6F-FC1A2173B9E0}_27.png&quot;/&gt;&lt;left val=&quot;622&quot;/&gt;&lt;top val=&quot;266&quot;/&gt;&lt;width val=&quot;47&quot;/&gt;&lt;height val=&quot;45&quot;/&gt;&lt;hasText val=&quot;1&quot;/&gt;&lt;/Image&gt;&lt;/ThreeDShapeInfo&gt;"/>
  <p:tag name="PRESENTER_SHAPETEXTINFO" val="&lt;ShapeTextInfo&gt;&lt;TableIndex row=&quot;-1&quot; col=&quot;-1&quot;&gt;&lt;linesCount val=&quot;1&quot;/&gt;&lt;lineCharCount val=&quot;2&quot;/&gt;&lt;/TableIndex&gt;&lt;/ShapeTextInfo&gt;"/>
</p:tagLst>
</file>

<file path=ppt/tags/tag521.xml><?xml version="1.0" encoding="utf-8"?>
<p:tagLst xmlns:a="http://schemas.openxmlformats.org/drawingml/2006/main" xmlns:r="http://schemas.openxmlformats.org/officeDocument/2006/relationships" xmlns:p="http://schemas.openxmlformats.org/presentationml/2006/main">
  <p:tag name="PRESENTER_SHAPEINFO" val="&lt;ThreeDShapeInfo&gt;&lt;uuid val=&quot;{69868A0B-BB76-490D-B7FB-FC984D983D06}&quot;/&gt;&lt;isInvalidForFieldText val=&quot;0&quot;/&gt;&lt;Image&gt;&lt;filename val=&quot;C:\Users\sanmi\Documents\My Adobe Presentations\ece552-SharedMemoryCoherence\data\asimages\{69868A0B-BB76-490D-B7FB-FC984D983D06}_27.png&quot;/&gt;&lt;left val=&quot;554&quot;/&gt;&lt;top val=&quot;296&quot;/&gt;&lt;width val=&quot;13&quot;/&gt;&lt;height val=&quot;20&quot;/&gt;&lt;hasText val=&quot;1&quot;/&gt;&lt;/Image&gt;&lt;/ThreeDShapeInfo&gt;"/>
</p:tagLst>
</file>

<file path=ppt/tags/tag5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23.xml><?xml version="1.0" encoding="utf-8"?>
<p:tagLst xmlns:a="http://schemas.openxmlformats.org/drawingml/2006/main" xmlns:r="http://schemas.openxmlformats.org/officeDocument/2006/relationships" xmlns:p="http://schemas.openxmlformats.org/presentationml/2006/main">
  <p:tag name="PRESENTER_SHAPEINFO" val="&lt;ThreeDShapeInfo&gt;&lt;uuid val=&quot;{5204C85F-A293-41DD-A2B3-8269EF74DC04}&quot;/&gt;&lt;isInvalidForFieldText val=&quot;0&quot;/&gt;&lt;Image&gt;&lt;filename val=&quot;C:\Users\sanmi\Documents\My Adobe Presentations\ece552-SharedMemoryCoherence\data\asimages\{5204C85F-A293-41DD-A2B3-8269EF74DC04}_27.png&quot;/&gt;&lt;left val=&quot;520&quot;/&gt;&lt;top val=&quot;303&quot;/&gt;&lt;width val=&quot;80&quot;/&gt;&lt;height val=&quot;38&quot;/&gt;&lt;hasText val=&quot;1&quot;/&gt;&lt;/Image&gt;&lt;/ThreeDShapeInfo&gt;"/>
  <p:tag name="PRESENTER_SHAPETEXTINFO" val="&lt;ShapeTextInfo&gt;&lt;TableIndex row=&quot;-1&quot; col=&quot;-1&quot;&gt;&lt;linesCount val=&quot;1&quot;/&gt;&lt;lineCharCount val=&quot;8&quot;/&gt;&lt;/TableIndex&gt;&lt;/ShapeTextInfo&gt;"/>
</p:tagLst>
</file>

<file path=ppt/tags/tag524.xml><?xml version="1.0" encoding="utf-8"?>
<p:tagLst xmlns:a="http://schemas.openxmlformats.org/drawingml/2006/main" xmlns:r="http://schemas.openxmlformats.org/officeDocument/2006/relationships" xmlns:p="http://schemas.openxmlformats.org/presentationml/2006/main">
  <p:tag name="PRESENTER_SHAPEINFO" val="&lt;ThreeDShapeInfo&gt;&lt;uuid val=&quot;{5AE53481-7073-418F-AE72-1B62F3C34463}&quot;/&gt;&lt;isInvalidForFieldText val=&quot;0&quot;/&gt;&lt;Image&gt;&lt;filename val=&quot;C:\Users\sanmi\Documents\My Adobe Presentations\ece552-SharedMemoryCoherence\data\asimages\{5AE53481-7073-418F-AE72-1B62F3C34463}_27.png&quot;/&gt;&lt;left val=&quot;537&quot;/&gt;&lt;top val=&quot;266&quot;/&gt;&lt;width val=&quot;47&quot;/&gt;&lt;height val=&quot;45&quot;/&gt;&lt;hasText val=&quot;1&quot;/&gt;&lt;/Image&gt;&lt;/ThreeDShapeInfo&gt;"/>
  <p:tag name="PRESENTER_SHAPETEXTINFO" val="&lt;ShapeTextInfo&gt;&lt;TableIndex row=&quot;-1&quot; col=&quot;-1&quot;&gt;&lt;linesCount val=&quot;1&quot;/&gt;&lt;lineCharCount val=&quot;2&quot;/&gt;&lt;/TableIndex&gt;&lt;/ShapeTextInfo&gt;"/>
</p:tagLst>
</file>

<file path=ppt/tags/tag525.xml><?xml version="1.0" encoding="utf-8"?>
<p:tagLst xmlns:a="http://schemas.openxmlformats.org/drawingml/2006/main" xmlns:r="http://schemas.openxmlformats.org/officeDocument/2006/relationships" xmlns:p="http://schemas.openxmlformats.org/presentationml/2006/main">
  <p:tag name="PRESENTER_SHAPEINFO" val="&lt;ThreeDShapeInfo&gt;&lt;uuid val=&quot;{388A40C1-A61F-4357-840C-257475E68CFC}&quot;/&gt;&lt;isInvalidForFieldText val=&quot;0&quot;/&gt;&lt;Image&gt;&lt;filename val=&quot;C:\Users\sanmi\Documents\My Adobe Presentations\ece552-SharedMemoryCoherence\data\asimages\{388A40C1-A61F-4357-840C-257475E68CFC}_27.png&quot;/&gt;&lt;left val=&quot;637&quot;/&gt;&lt;top val=&quot;244&quot;/&gt;&lt;width val=&quot;80&quot;/&gt;&lt;height val=&quot;36&quot;/&gt;&lt;hasText val=&quot;1&quot;/&gt;&lt;/Image&gt;&lt;/ThreeDShapeInfo&gt;"/>
  <p:tag name="PRESENTER_SHAPETEXTINFO" val="&lt;ShapeTextInfo&gt;&lt;TableIndex row=&quot;-1&quot; col=&quot;-1&quot;&gt;&lt;linesCount val=&quot;1&quot;/&gt;&lt;lineCharCount val=&quot;10&quot;/&gt;&lt;/TableIndex&gt;&lt;/ShapeTextInfo&gt;"/>
</p:tagLst>
</file>

<file path=ppt/tags/tag526.xml><?xml version="1.0" encoding="utf-8"?>
<p:tagLst xmlns:a="http://schemas.openxmlformats.org/drawingml/2006/main" xmlns:r="http://schemas.openxmlformats.org/officeDocument/2006/relationships" xmlns:p="http://schemas.openxmlformats.org/presentationml/2006/main">
  <p:tag name="PRESENTER_SHAPEINFO" val="&lt;ThreeDShapeInfo&gt;&lt;uuid val=&quot;{07147D86-9BE0-4D61-8BF2-2B9AF50DBE01}&quot;/&gt;&lt;isInvalidForFieldText val=&quot;0&quot;/&gt;&lt;Image&gt;&lt;filename val=&quot;C:\Users\sanmi\Documents\My Adobe Presentations\ece552-SharedMemoryCoherence\data\asimages\{07147D86-9BE0-4D61-8BF2-2B9AF50DBE01}_27.png&quot;/&gt;&lt;left val=&quot;621&quot;/&gt;&lt;top val=&quot;330&quot;/&gt;&lt;width val=&quot;96&quot;/&gt;&lt;height val=&quot;36&quot;/&gt;&lt;hasText val=&quot;1&quot;/&gt;&lt;/Image&gt;&lt;/ThreeDShapeInfo&gt;"/>
  <p:tag name="PRESENTER_SHAPETEXTINFO" val="&lt;ShapeTextInfo&gt;&lt;TableIndex row=&quot;-1&quot; col=&quot;-1&quot;&gt;&lt;linesCount val=&quot;1&quot;/&gt;&lt;lineCharCount val=&quot;11&quot;/&gt;&lt;/TableIndex&gt;&lt;/ShapeTextInfo&gt;"/>
</p:tagLst>
</file>

<file path=ppt/tags/tag527.xml><?xml version="1.0" encoding="utf-8"?>
<p:tagLst xmlns:a="http://schemas.openxmlformats.org/drawingml/2006/main" xmlns:r="http://schemas.openxmlformats.org/officeDocument/2006/relationships" xmlns:p="http://schemas.openxmlformats.org/presentationml/2006/main">
  <p:tag name="PRESENTER_SHAPEINFO" val="&lt;ThreeDShapeInfo&gt;&lt;uuid val=&quot;{6214115D-51F2-4590-9AD1-A230E6E52C4C}&quot;/&gt;&lt;isInvalidForFieldText val=&quot;0&quot;/&gt;&lt;Image&gt;&lt;filename val=&quot;C:\Users\sanmi\Documents\My Adobe Presentations\ece552-SharedMemoryCoherence\data\asimages\{6214115D-51F2-4590-9AD1-A230E6E52C4C}_27.png&quot;/&gt;&lt;left val=&quot;448&quot;/&gt;&lt;top val=&quot;332&quot;/&gt;&lt;width val=&quot;114&quot;/&gt;&lt;height val=&quot;42&quot;/&gt;&lt;hasText val=&quot;1&quot;/&gt;&lt;/Image&gt;&lt;/ThreeDShapeInfo&gt;"/>
  <p:tag name="PRESENTER_SHAPETEXTINFO" val="&lt;ShapeTextInfo&gt;&lt;TableIndex row=&quot;-1&quot; col=&quot;-1&quot;&gt;&lt;linesCount val=&quot;1&quot;/&gt;&lt;lineCharCount val=&quot;13&quot;/&gt;&lt;/TableIndex&gt;&lt;/ShapeTextInfo&gt;"/>
</p:tagLst>
</file>

<file path=ppt/tags/tag528.xml><?xml version="1.0" encoding="utf-8"?>
<p:tagLst xmlns:a="http://schemas.openxmlformats.org/drawingml/2006/main" xmlns:r="http://schemas.openxmlformats.org/officeDocument/2006/relationships" xmlns:p="http://schemas.openxmlformats.org/presentationml/2006/main">
  <p:tag name="PRESENTER_SHAPEINFO" val="&lt;ThreeDShapeInfo&gt;&lt;uuid val=&quot;{CCBF4A58-6A96-4121-ADD8-F2074EF99D42}&quot;/&gt;&lt;isInvalidForFieldText val=&quot;0&quot;/&gt;&lt;Image&gt;&lt;filename val=&quot;C:\Users\sanmi\Documents\My Adobe Presentations\ece552-SharedMemoryCoherence\data\asimages\{CCBF4A58-6A96-4121-ADD8-F2074EF99D42}_27.png&quot;/&gt;&lt;left val=&quot;519&quot;/&gt;&lt;top val=&quot;303&quot;/&gt;&lt;width val=&quot;81&quot;/&gt;&lt;height val=&quot;38&quot;/&gt;&lt;hasText val=&quot;1&quot;/&gt;&lt;/Image&gt;&lt;/ThreeDShapeInfo&gt;"/>
  <p:tag name="PRESENTER_SHAPETEXTINFO" val="&lt;ShapeTextInfo&gt;&lt;TableIndex row=&quot;-1&quot; col=&quot;-1&quot;&gt;&lt;linesCount val=&quot;1&quot;/&gt;&lt;lineCharCount val=&quot;10&quot;/&gt;&lt;/TableIndex&gt;&lt;/ShapeTextInfo&gt;"/>
</p:tagLst>
</file>

<file path=ppt/tags/tag529.xml><?xml version="1.0" encoding="utf-8"?>
<p:tagLst xmlns:a="http://schemas.openxmlformats.org/drawingml/2006/main" xmlns:r="http://schemas.openxmlformats.org/officeDocument/2006/relationships" xmlns:p="http://schemas.openxmlformats.org/presentationml/2006/main">
  <p:tag name="PRESENTER_SHAPEINFO" val="&lt;ThreeDShapeInfo&gt;&lt;uuid val=&quot;{5CECA72E-DD0D-4DF4-8388-1CAB7538CA21}&quot;/&gt;&lt;isInvalidForFieldText val=&quot;0&quot;/&gt;&lt;Image&gt;&lt;filename val=&quot;C:\Users\sanmi\Documents\My Adobe Presentations\ece552-SharedMemoryCoherence\data\asimages\{5CECA72E-DD0D-4DF4-8388-1CAB7538CA21}_27.png&quot;/&gt;&lt;left val=&quot;605&quot;/&gt;&lt;top val=&quot;303&quot;/&gt;&lt;width val=&quot;81&quot;/&gt;&lt;height val=&quot;38&quot;/&gt;&lt;hasText val=&quot;1&quot;/&gt;&lt;/Image&gt;&lt;/ThreeDShapeInfo&gt;"/>
  <p:tag name="PRESENTER_SHAPETEXTINFO" val="&lt;ShapeTextInfo&gt;&lt;TableIndex row=&quot;-1&quot; col=&quot;-1&quot;&gt;&lt;linesCount val=&quot;1&quot;/&gt;&lt;lineCharCount val=&quot;10&quot;/&gt;&lt;/TableIndex&gt;&lt;/ShapeTextInfo&gt;"/>
</p:tagLst>
</file>

<file path=ppt/tags/tag53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30CDF656-8C88-4F30-998C-5CCC51B43661}_27.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2&quot;/&gt;&lt;/TableIndex&gt;&lt;/ShapeTextInfo&gt;"/>
</p:tagLst>
</file>

<file path=ppt/tags/tag531.xml><?xml version="1.0" encoding="utf-8"?>
<p:tagLst xmlns:a="http://schemas.openxmlformats.org/drawingml/2006/main" xmlns:r="http://schemas.openxmlformats.org/officeDocument/2006/relationships" xmlns:p="http://schemas.openxmlformats.org/presentationml/2006/main">
  <p:tag name="HTML_SHAPEINFO" val="&lt;SlideThumbPath val=&quot;Slide28.PNG&quot;/&gt;"/>
  <p:tag name="PPSNARRATION" val="28,883145026,C:\Users\sanmi\GoogleDrive\UWMdrive\Courses\ECE552\ece552-lec18_SharedMemoryCoherence_pptx\Media.ppcx"/>
</p:tagLst>
</file>

<file path=ppt/tags/tag53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598B3EDD-FC7E-442C-ACFA-DC6339461EC6}_28.png&quot;/&gt;&lt;left val=&quot;19&quot;/&gt;&lt;top val=&quot;288&quot;/&gt;&lt;width val=&quot;87&quot;/&gt;&lt;height val=&quot;26&quot;/&gt;&lt;hasText val=&quot;1&quot;/&gt;&lt;/Image&gt;&lt;/ThreeDShapeInfo&gt;"/>
  <p:tag name="PRESENTER_SHAPETEXTINFO" val="&lt;ShapeTextInfo&gt;&lt;TableIndex row=&quot;-1&quot; col=&quot;-1&quot;&gt;&lt;linesCount val=&quot;1&quot;/&gt;&lt;lineCharCount val=&quot;14&quot;/&gt;&lt;/TableIndex&gt;&lt;/ShapeTextInfo&gt;"/>
</p:tagLst>
</file>

<file path=ppt/tags/tag533.xml><?xml version="1.0" encoding="utf-8"?>
<p:tagLst xmlns:a="http://schemas.openxmlformats.org/drawingml/2006/main" xmlns:r="http://schemas.openxmlformats.org/officeDocument/2006/relationships" xmlns:p="http://schemas.openxmlformats.org/presentationml/2006/main">
  <p:tag name="PRESENTER_SHAPEINFO" val="&lt;ThreeDShapeInfo&gt;&lt;uuid val=&quot;{C63786B8-77DA-4E47-9FCA-1755199C4C86}&quot;/&gt;&lt;isInvalidForFieldText val=&quot;0&quot;/&gt;&lt;Image&gt;&lt;filename val=&quot;C:\Users\sanmi\Documents\My Adobe Presentations\ece552-SharedMemoryCoherence\data\asimages\{C63786B8-77DA-4E47-9FCA-1755199C4C86}_28.png&quot;/&gt;&lt;left val=&quot;77&quot;/&gt;&lt;top val=&quot;203&quot;/&gt;&lt;width val=&quot;63&quot;/&gt;&lt;height val=&quot;63&quot;/&gt;&lt;hasText val=&quot;1&quot;/&gt;&lt;/Image&gt;&lt;/ThreeDShapeInfo&gt;"/>
  <p:tag name="PRESENTER_SHAPETEXTINFO" val="&lt;ShapeTextInfo&gt;&lt;TableIndex row=&quot;-1&quot; col=&quot;-1&quot;&gt;&lt;linesCount val=&quot;1&quot;/&gt;&lt;lineCharCount val=&quot;1&quot;/&gt;&lt;/TableIndex&gt;&lt;/ShapeTextInfo&gt;"/>
</p:tagLst>
</file>

<file path=ppt/tags/tag53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C0063D45-A5C6-41CB-8E40-7A94C447E0CF}_28.png&quot;/&gt;&lt;left val=&quot;195&quot;/&gt;&lt;top val=&quot;185&quot;/&gt;&lt;width val=&quot;79&quot;/&gt;&lt;height val=&quot;26&quot;/&gt;&lt;hasText val=&quot;1&quot;/&gt;&lt;/Image&gt;&lt;/ThreeDShapeInfo&gt;"/>
  <p:tag name="PRESENTER_SHAPETEXTINFO" val="&lt;ShapeTextInfo&gt;&lt;TableIndex row=&quot;-1&quot; col=&quot;-1&quot;&gt;&lt;linesCount val=&quot;1&quot;/&gt;&lt;lineCharCount val=&quot;12&quot;/&gt;&lt;/TableIndex&gt;&lt;/ShapeTextInfo&gt;"/>
</p:tagLst>
</file>

<file path=ppt/tags/tag535.xml><?xml version="1.0" encoding="utf-8"?>
<p:tagLst xmlns:a="http://schemas.openxmlformats.org/drawingml/2006/main" xmlns:r="http://schemas.openxmlformats.org/officeDocument/2006/relationships" xmlns:p="http://schemas.openxmlformats.org/presentationml/2006/main">
  <p:tag name="PRESENTER_SHAPEINFO" val="&lt;ThreeDShapeInfo&gt;&lt;uuid val=&quot;{E025EEDC-B177-4BCB-9741-E4D23135580A}&quot;/&gt;&lt;isInvalidForFieldText val=&quot;0&quot;/&gt;&lt;Image&gt;&lt;filename val=&quot;C:\Users\sanmi\Documents\My Adobe Presentations\ece552-SharedMemoryCoherence\data\asimages\{E025EEDC-B177-4BCB-9741-E4D23135580A}_28.png&quot;/&gt;&lt;left val=&quot;338&quot;/&gt;&lt;top val=&quot;203&quot;/&gt;&lt;width val=&quot;63&quot;/&gt;&lt;height val=&quot;63&quot;/&gt;&lt;hasText val=&quot;1&quot;/&gt;&lt;/Image&gt;&lt;/ThreeDShapeInfo&gt;"/>
  <p:tag name="PRESENTER_SHAPETEXTINFO" val="&lt;ShapeTextInfo&gt;&lt;TableIndex row=&quot;-1&quot; col=&quot;-1&quot;&gt;&lt;linesCount val=&quot;1&quot;/&gt;&lt;lineCharCount val=&quot;1&quot;/&gt;&lt;/TableIndex&gt;&lt;/ShapeTextInfo&gt;"/>
</p:tagLst>
</file>

<file path=ppt/tags/tag536.xml><?xml version="1.0" encoding="utf-8"?>
<p:tagLst xmlns:a="http://schemas.openxmlformats.org/drawingml/2006/main" xmlns:r="http://schemas.openxmlformats.org/officeDocument/2006/relationships" xmlns:p="http://schemas.openxmlformats.org/presentationml/2006/main">
  <p:tag name="HTML_AUTOSHAPE_INFO" val="&lt;ThreeDShapeInfo&gt;&lt;uuid val=&quot;{DD19CAB6-5215-4730-8E22-BFBB88F0BA95}&quot;/&gt;&lt;isInvalidForFieldText val=&quot;1&quot;/&gt;&lt;Image&gt;&lt;filename val=&quot;C:\Users\sanmi\Documents\My Adobe Presentations\ece552-SharedMemoryCoherence\data\asimages\{DD19CAB6-5215-4730-8E22-BFBB88F0BA95}_28_S.png&quot;/&gt;&lt;left val=&quot;135&quot;/&gt;&lt;top val=&quot;205&quot;/&gt;&lt;width val=&quot;218&quot;/&gt;&lt;height val=&quot;26&quot;/&gt;&lt;hasText val=&quot;0&quot;/&gt;&lt;/Image&gt;&lt;Image&gt;&lt;filename val=&quot;C:\Users\sanmi\Documents\My Adobe Presentations\ece552-SharedMemoryCoherence\data\asimages\{DD19CAB6-5215-4730-8E22-BFBB88F0BA95}_28_T.png&quot;/&gt;&lt;left val=&quot;135&quot;/&gt;&lt;top val=&quot;206&quot;/&gt;&lt;width val=&quot;207&quot;/&gt;&lt;height val=&quot;18&quot;/&gt;&lt;hasText val=&quot;1&quot;/&gt;&lt;/Image&gt;&lt;/ThreeDShapeInfo&gt;"/>
  <p:tag name="PRESENTER_SHAPETEXTINFO" val="&lt;ShapeTextInfo&gt;&lt;TableIndex row=&quot;-1&quot; col=&quot;-1&quot;&gt;&lt;linesCount val=&quot;0&quot;/&gt;&lt;/TableIndex&gt;&lt;/ShapeTextInfo&gt;"/>
</p:tagLst>
</file>

<file path=ppt/tags/tag53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EE065F57-6517-45F7-BD23-AEC92A6E857D}_28.png&quot;/&gt;&lt;left val=&quot;391&quot;/&gt;&lt;top val=&quot;239&quot;/&gt;&lt;width val=&quot;56&quot;/&gt;&lt;height val=&quot;26&quot;/&gt;&lt;hasText val=&quot;1&quot;/&gt;&lt;/Image&gt;&lt;/ThreeDShapeInfo&gt;"/>
  <p:tag name="PRESENTER_SHAPETEXTINFO" val="&lt;ShapeTextInfo&gt;&lt;TableIndex row=&quot;-1&quot; col=&quot;-1&quot;&gt;&lt;linesCount val=&quot;1&quot;/&gt;&lt;lineCharCount val=&quot;9&quot;/&gt;&lt;/TableIndex&gt;&lt;/ShapeTextInfo&gt;"/>
</p:tagLst>
</file>

<file path=ppt/tags/tag53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726412D2-6E5E-4EE3-BD80-C0A9F60730C1}_28.png&quot;/&gt;&lt;left val=&quot;367&quot;/&gt;&lt;top val=&quot;186&quot;/&gt;&lt;width val=&quot;63&quot;/&gt;&lt;height val=&quot;26&quot;/&gt;&lt;hasText val=&quot;1&quot;/&gt;&lt;/Image&gt;&lt;/ThreeDShapeInfo&gt;"/>
  <p:tag name="PRESENTER_SHAPETEXTINFO" val="&lt;ShapeTextInfo&gt;&lt;TableIndex row=&quot;-1&quot; col=&quot;-1&quot;&gt;&lt;linesCount val=&quot;1&quot;/&gt;&lt;lineCharCount val=&quot;10&quot;/&gt;&lt;/TableIndex&gt;&lt;/ShapeTextInfo&gt;"/>
</p:tagLst>
</file>

<file path=ppt/tags/tag539.xml><?xml version="1.0" encoding="utf-8"?>
<p:tagLst xmlns:a="http://schemas.openxmlformats.org/drawingml/2006/main" xmlns:r="http://schemas.openxmlformats.org/officeDocument/2006/relationships" xmlns:p="http://schemas.openxmlformats.org/presentationml/2006/main">
  <p:tag name="HTML_AUTOSHAPE_INFO" val="&lt;ThreeDShapeInfo&gt;&lt;uuid val=&quot;{BBEC7DA5-514D-4064-A12C-F13E2F026184}&quot;/&gt;&lt;isInvalidForFieldText val=&quot;1&quot;/&gt;&lt;Image&gt;&lt;filename val=&quot;C:\Users\sanmi\Documents\My Adobe Presentations\ece552-SharedMemoryCoherence\data\asimages\{BBEC7DA5-514D-4064-A12C-F13E2F026184}_28_S.png&quot;/&gt;&lt;left val=&quot;393&quot;/&gt;&lt;top val=&quot;205&quot;/&gt;&lt;width val=&quot;41&quot;/&gt;&lt;height val=&quot;36&quot;/&gt;&lt;hasText val=&quot;0&quot;/&gt;&lt;/Image&gt;&lt;Image&gt;&lt;filename val=&quot;C:\Users\sanmi\Documents\My Adobe Presentations\ece552-SharedMemoryCoherence\data\asimages\{BBEC7DA5-514D-4064-A12C-F13E2F026184}_28_T.png&quot;/&gt;&lt;left val=&quot;398&quot;/&gt;&lt;top val=&quot;206&quot;/&gt;&lt;width val=&quot;36&quot;/&gt;&lt;height val=&quot;35&quot;/&gt;&lt;hasText val=&quot;1&quot;/&gt;&lt;/Image&gt;&lt;/ThreeDShapeInfo&gt;"/>
  <p:tag name="PRESENTER_SHAPETEXTINFO" val="&lt;ShapeTextInfo&gt;&lt;TableIndex row=&quot;-1&quot; col=&quot;-1&quot;&gt;&lt;linesCount val=&quot;0&quot;/&gt;&lt;/TableIndex&gt;&lt;/ShapeTextInfo&gt;"/>
</p:tagLst>
</file>

<file path=ppt/tags/tag540.xml><?xml version="1.0" encoding="utf-8"?>
<p:tagLst xmlns:a="http://schemas.openxmlformats.org/drawingml/2006/main" xmlns:r="http://schemas.openxmlformats.org/officeDocument/2006/relationships" xmlns:p="http://schemas.openxmlformats.org/presentationml/2006/main">
  <p:tag name="PRESENTER_SHAPEINFO" val="&lt;ThreeDShapeInfo&gt;&lt;uuid val=&quot;{96A2E743-68BF-4D40-92AD-2009F2B53BDC}&quot;/&gt;&lt;isInvalidForFieldText val=&quot;0&quot;/&gt;&lt;Image&gt;&lt;filename val=&quot;C:\Users\sanmi\Documents\My Adobe Presentations\ece552-SharedMemoryCoherence\data\asimages\{96A2E743-68BF-4D40-92AD-2009F2B53BDC}_28.png&quot;/&gt;&lt;left val=&quot;82&quot;/&gt;&lt;top val=&quot;392&quot;/&gt;&lt;width val=&quot;63&quot;/&gt;&lt;height val=&quot;63&quot;/&gt;&lt;hasText val=&quot;1&quot;/&gt;&lt;/Image&gt;&lt;/ThreeDShapeInfo&gt;"/>
  <p:tag name="PRESENTER_SHAPETEXTINFO" val="&lt;ShapeTextInfo&gt;&lt;TableIndex row=&quot;-1&quot; col=&quot;-1&quot;&gt;&lt;linesCount val=&quot;1&quot;/&gt;&lt;lineCharCount val=&quot;1&quot;/&gt;&lt;/TableIndex&gt;&lt;/ShapeTextInfo&gt;"/>
</p:tagLst>
</file>

<file path=ppt/tags/tag541.xml><?xml version="1.0" encoding="utf-8"?>
<p:tagLst xmlns:a="http://schemas.openxmlformats.org/drawingml/2006/main" xmlns:r="http://schemas.openxmlformats.org/officeDocument/2006/relationships" xmlns:p="http://schemas.openxmlformats.org/presentationml/2006/main">
  <p:tag name="HTML_AUTOSHAPE_INFO" val="&lt;ThreeDShapeInfo&gt;&lt;uuid val=&quot;{906B55D3-BCA2-41D6-8409-D541556B1E2C}&quot;/&gt;&lt;isInvalidForFieldText val=&quot;1&quot;/&gt;&lt;Image&gt;&lt;filename val=&quot;C:\Users\sanmi\Documents\My Adobe Presentations\ece552-SharedMemoryCoherence\data\asimages\{906B55D3-BCA2-41D6-8409-D541556B1E2C}_28_S.png&quot;/&gt;&lt;left val=&quot;80&quot;/&gt;&lt;top val=&quot;260&quot;/&gt;&lt;width val=&quot;29&quot;/&gt;&lt;height val=&quot;146&quot;/&gt;&lt;hasText val=&quot;0&quot;/&gt;&lt;/Image&gt;&lt;Image&gt;&lt;filename val=&quot;C:\Users\sanmi\Documents\My Adobe Presentations\ece552-SharedMemoryCoherence\data\asimages\{906B55D3-BCA2-41D6-8409-D541556B1E2C}_28_T.png&quot;/&gt;&lt;left val=&quot;81&quot;/&gt;&lt;top val=&quot;260&quot;/&gt;&lt;width val=&quot;19&quot;/&gt;&lt;height val=&quot;135&quot;/&gt;&lt;hasText val=&quot;1&quot;/&gt;&lt;/Image&gt;&lt;/ThreeDShapeInfo&gt;"/>
  <p:tag name="PRESENTER_SHAPETEXTINFO" val="&lt;ShapeTextInfo&gt;&lt;TableIndex row=&quot;-1&quot; col=&quot;-1&quot;&gt;&lt;linesCount val=&quot;0&quot;/&gt;&lt;/TableIndex&gt;&lt;/ShapeTextInfo&gt;"/>
</p:tagLst>
</file>

<file path=ppt/tags/tag542.xml><?xml version="1.0" encoding="utf-8"?>
<p:tagLst xmlns:a="http://schemas.openxmlformats.org/drawingml/2006/main" xmlns:r="http://schemas.openxmlformats.org/officeDocument/2006/relationships" xmlns:p="http://schemas.openxmlformats.org/presentationml/2006/main">
  <p:tag name="HTML_AUTOSHAPE_INFO" val="&lt;ThreeDShapeInfo&gt;&lt;uuid val=&quot;{6D7ACEC2-E501-4744-8917-2795E6BE01F9}&quot;/&gt;&lt;isInvalidForFieldText val=&quot;1&quot;/&gt;&lt;Image&gt;&lt;filename val=&quot;C:\Users\sanmi\Documents\My Adobe Presentations\ece552-SharedMemoryCoherence\data\asimages\{6D7ACEC2-E501-4744-8917-2795E6BE01F9}_28_S.png&quot;/&gt;&lt;left val=&quot;115&quot;/&gt;&lt;top val=&quot;250&quot;/&gt;&lt;width val=&quot;26&quot;/&gt;&lt;height val=&quot;146&quot;/&gt;&lt;hasText val=&quot;0&quot;/&gt;&lt;/Image&gt;&lt;Image&gt;&lt;filename val=&quot;C:\Users\sanmi\Documents\My Adobe Presentations\ece552-SharedMemoryCoherence\data\asimages\{6D7ACEC2-E501-4744-8917-2795E6BE01F9}_28_T.png&quot;/&gt;&lt;left val=&quot;122&quot;/&gt;&lt;top val=&quot;260&quot;/&gt;&lt;width val=&quot;18&quot;/&gt;&lt;height val=&quot;135&quot;/&gt;&lt;hasText val=&quot;1&quot;/&gt;&lt;/Image&gt;&lt;/ThreeDShapeInfo&gt;"/>
  <p:tag name="PRESENTER_SHAPETEXTINFO" val="&lt;ShapeTextInfo&gt;&lt;TableIndex row=&quot;-1&quot; col=&quot;-1&quot;&gt;&lt;linesCount val=&quot;0&quot;/&gt;&lt;/TableIndex&gt;&lt;/ShapeTextInfo&gt;"/>
</p:tagLst>
</file>

<file path=ppt/tags/tag543.xml><?xml version="1.0" encoding="utf-8"?>
<p:tagLst xmlns:a="http://schemas.openxmlformats.org/drawingml/2006/main" xmlns:r="http://schemas.openxmlformats.org/officeDocument/2006/relationships" xmlns:p="http://schemas.openxmlformats.org/presentationml/2006/main">
  <p:tag name="HTML_AUTOSHAPE_INFO" val="&lt;ThreeDShapeInfo&gt;&lt;uuid val=&quot;{6CB0026A-DAA4-4A1C-B6B1-95050F616490}&quot;/&gt;&lt;isInvalidForFieldText val=&quot;1&quot;/&gt;&lt;Image&gt;&lt;filename val=&quot;C:\Users\sanmi\Documents\My Adobe Presentations\ece552-SharedMemoryCoherence\data\asimages\{6CB0026A-DAA4-4A1C-B6B1-95050F616490}_28_S.png&quot;/&gt;&lt;left val=&quot;125&quot;/&gt;&lt;top val=&quot;230&quot;/&gt;&lt;width val=&quot;218&quot;/&gt;&lt;height val=&quot;26&quot;/&gt;&lt;hasText val=&quot;0&quot;/&gt;&lt;/Image&gt;&lt;Image&gt;&lt;filename val=&quot;C:\Users\sanmi\Documents\My Adobe Presentations\ece552-SharedMemoryCoherence\data\asimages\{6CB0026A-DAA4-4A1C-B6B1-95050F616490}_28_T.png&quot;/&gt;&lt;left val=&quot;135&quot;/&gt;&lt;top val=&quot;237&quot;/&gt;&lt;width val=&quot;207&quot;/&gt;&lt;height val=&quot;18&quot;/&gt;&lt;hasText val=&quot;1&quot;/&gt;&lt;/Image&gt;&lt;/ThreeDShapeInfo&gt;"/>
  <p:tag name="PRESENTER_SHAPETEXTINFO" val="&lt;ShapeTextInfo&gt;&lt;TableIndex row=&quot;-1&quot; col=&quot;-1&quot;&gt;&lt;linesCount val=&quot;0&quot;/&gt;&lt;/TableIndex&gt;&lt;/ShapeTextInfo&gt;"/>
</p:tagLst>
</file>

<file path=ppt/tags/tag54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1AC2657-B823-46A3-B3AD-DA83EB72CF78}_28.png&quot;/&gt;&lt;left val=&quot;207&quot;/&gt;&lt;top val=&quot;254&quot;/&gt;&lt;width val=&quot;55&quot;/&gt;&lt;height val=&quot;26&quot;/&gt;&lt;hasText val=&quot;1&quot;/&gt;&lt;/Image&gt;&lt;/ThreeDShapeInfo&gt;"/>
  <p:tag name="PRESENTER_SHAPETEXTINFO" val="&lt;ShapeTextInfo&gt;&lt;TableIndex row=&quot;-1&quot; col=&quot;-1&quot;&gt;&lt;linesCount val=&quot;1&quot;/&gt;&lt;lineCharCount val=&quot;10&quot;/&gt;&lt;/TableIndex&gt;&lt;/ShapeTextInfo&gt;"/>
</p:tagLst>
</file>

<file path=ppt/tags/tag545.xml><?xml version="1.0" encoding="utf-8"?>
<p:tagLst xmlns:a="http://schemas.openxmlformats.org/drawingml/2006/main" xmlns:r="http://schemas.openxmlformats.org/officeDocument/2006/relationships" xmlns:p="http://schemas.openxmlformats.org/presentationml/2006/main">
  <p:tag name="HTML_AUTOSHAPE_INFO" val="&lt;ThreeDShapeInfo&gt;&lt;uuid val=&quot;{8819C6E3-A283-459B-B340-47A4F2C3C912}&quot;/&gt;&lt;isInvalidForFieldText val=&quot;1&quot;/&gt;&lt;Image&gt;&lt;filename val=&quot;C:\Users\sanmi\Documents\My Adobe Presentations\ece552-SharedMemoryCoherence\data\asimages\{8819C6E3-A283-459B-B340-47A4F2C3C912}_28_S.png&quot;/&gt;&lt;left val=&quot;137&quot;/&gt;&lt;top val=&quot;241&quot;/&gt;&lt;width val=&quot;224&quot;/&gt;&lt;height val=&quot;173&quot;/&gt;&lt;hasText val=&quot;0&quot;/&gt;&lt;/Image&gt;&lt;Image&gt;&lt;filename val=&quot;C:\Users\sanmi\Documents\My Adobe Presentations\ece552-SharedMemoryCoherence\data\asimages\{8819C6E3-A283-459B-B340-47A4F2C3C912}_28_T.png&quot;/&gt;&lt;left val=&quot;137&quot;/&gt;&lt;top val=&quot;251&quot;/&gt;&lt;width val=&quot;214&quot;/&gt;&lt;height val=&quot;163&quot;/&gt;&lt;hasText val=&quot;1&quot;/&gt;&lt;/Image&gt;&lt;/ThreeDShapeInfo&gt;"/>
  <p:tag name="PRESENTER_SHAPETEXTINFO" val="&lt;ShapeTextInfo&gt;&lt;TableIndex row=&quot;-1&quot; col=&quot;-1&quot;&gt;&lt;linesCount val=&quot;0&quot;/&gt;&lt;/TableIndex&gt;&lt;/ShapeTextInfo&gt;"/>
</p:tagLst>
</file>

<file path=ppt/tags/tag546.xml><?xml version="1.0" encoding="utf-8"?>
<p:tagLst xmlns:a="http://schemas.openxmlformats.org/drawingml/2006/main" xmlns:r="http://schemas.openxmlformats.org/officeDocument/2006/relationships" xmlns:p="http://schemas.openxmlformats.org/presentationml/2006/main">
  <p:tag name="HTML_AUTOSHAPE_INFO" val="&lt;ThreeDShapeInfo&gt;&lt;uuid val=&quot;{FA28B34F-6F5F-47FE-8697-D9E383AA932C}&quot;/&gt;&lt;isInvalidForFieldText val=&quot;1&quot;/&gt;&lt;Image&gt;&lt;filename val=&quot;C:\Users\sanmi\Documents\My Adobe Presentations\ece552-SharedMemoryCoherence\data\asimages\{FA28B34F-6F5F-47FE-8697-D9E383AA932C}_28_S.png&quot;/&gt;&lt;left val=&quot;130&quot;/&gt;&lt;top val=&quot;264&quot;/&gt;&lt;width val=&quot;241&quot;/&gt;&lt;height val=&quot;187&quot;/&gt;&lt;hasText val=&quot;0&quot;/&gt;&lt;/Image&gt;&lt;Image&gt;&lt;filename val=&quot;C:\Users\sanmi\Documents\My Adobe Presentations\ece552-SharedMemoryCoherence\data\asimages\{FA28B34F-6F5F-47FE-8697-D9E383AA932C}_28_T.png&quot;/&gt;&lt;left val=&quot;140&quot;/&gt;&lt;top val=&quot;264&quot;/&gt;&lt;width val=&quot;230&quot;/&gt;&lt;height val=&quot;176&quot;/&gt;&lt;hasText val=&quot;1&quot;/&gt;&lt;/Image&gt;&lt;/ThreeDShapeInfo&gt;"/>
  <p:tag name="PRESENTER_SHAPETEXTINFO" val="&lt;ShapeTextInfo&gt;&lt;TableIndex row=&quot;-1&quot; col=&quot;-1&quot;&gt;&lt;linesCount val=&quot;0&quot;/&gt;&lt;/TableIndex&gt;&lt;/ShapeTextInfo&gt;"/>
</p:tagLst>
</file>

<file path=ppt/tags/tag54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EF736B50-A712-4827-BAD4-E39BF4FD07D6}_28.png&quot;/&gt;&lt;left val=&quot;169&quot;/&gt;&lt;top val=&quot;314&quot;/&gt;&lt;width val=&quot;139&quot;/&gt;&lt;height val=&quot;26&quot;/&gt;&lt;hasText val=&quot;1&quot;/&gt;&lt;/Image&gt;&lt;/ThreeDShapeInfo&gt;"/>
  <p:tag name="PRESENTER_SHAPETEXTINFO" val="&lt;ShapeTextInfo&gt;&lt;TableIndex row=&quot;-1&quot; col=&quot;-1&quot;&gt;&lt;linesCount val=&quot;1&quot;/&gt;&lt;lineCharCount val=&quot;23&quot;/&gt;&lt;/TableIndex&gt;&lt;/ShapeTextInfo&gt;"/>
</p:tagLst>
</file>

<file path=ppt/tags/tag54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576BE4C0-EA29-443E-96DF-AC082D9CC120}_28.png&quot;/&gt;&lt;left val=&quot;80&quot;/&gt;&lt;top val=&quot;289&quot;/&gt;&lt;width val=&quot;85&quot;/&gt;&lt;height val=&quot;26&quot;/&gt;&lt;hasText val=&quot;1&quot;/&gt;&lt;/Image&gt;&lt;/ThreeDShapeInfo&gt;"/>
  <p:tag name="PRESENTER_SHAPETEXTINFO" val="&lt;ShapeTextInfo&gt;&lt;TableIndex row=&quot;-1&quot; col=&quot;-1&quot;&gt;&lt;linesCount val=&quot;1&quot;/&gt;&lt;lineCharCount val=&quot;13&quot;/&gt;&lt;/TableIndex&gt;&lt;/ShapeTextInfo&gt;"/>
</p:tagLst>
</file>

<file path=ppt/tags/tag549.xml><?xml version="1.0" encoding="utf-8"?>
<p:tagLst xmlns:a="http://schemas.openxmlformats.org/drawingml/2006/main" xmlns:r="http://schemas.openxmlformats.org/officeDocument/2006/relationships" xmlns:p="http://schemas.openxmlformats.org/presentationml/2006/main">
  <p:tag name="HTML_AUTOSHAPE_INFO" val="&lt;ThreeDShapeInfo&gt;&lt;uuid val=&quot;{B87B67BC-CF04-4D25-A574-62CC30FE9C8F}&quot;/&gt;&lt;isInvalidForFieldText val=&quot;1&quot;/&gt;&lt;Image&gt;&lt;filename val=&quot;C:\Users\sanmi\Documents\My Adobe Presentations\ece552-SharedMemoryCoherence\data\asimages\{B87B67BC-CF04-4D25-A574-62CC30FE9C8F}_28_S.png&quot;/&gt;&lt;left val=&quot;54&quot;/&gt;&lt;top val=&quot;423&quot;/&gt;&lt;width val=&quot;37&quot;/&gt;&lt;height val=&quot;38&quot;/&gt;&lt;hasText val=&quot;0&quot;/&gt;&lt;/Image&gt;&lt;Image&gt;&lt;filename val=&quot;C:\Users\sanmi\Documents\My Adobe Presentations\ece552-SharedMemoryCoherence\data\asimages\{B87B67BC-CF04-4D25-A574-62CC30FE9C8F}_28_T.png&quot;/&gt;&lt;left val=&quot;54&quot;/&gt;&lt;top val=&quot;424&quot;/&gt;&lt;width val=&quot;35&quot;/&gt;&lt;height val=&quot;37&quot;/&gt;&lt;hasText val=&quot;1&quot;/&gt;&lt;/Image&gt;&lt;/ThreeDShapeInfo&gt;"/>
  <p:tag name="PRESENTER_SHAPETEXTINFO" val="&lt;ShapeTextInfo&gt;&lt;TableIndex row=&quot;-1&quot; col=&quot;-1&quot;&gt;&lt;linesCount val=&quot;0&quot;/&gt;&lt;/TableIndex&gt;&lt;/ShapeTextInfo&gt;"/>
</p:tagLst>
</file>

<file path=ppt/tags/tag55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08C88979-3EB0-4645-A634-C18A30B4DC1B}_28.png&quot;/&gt;&lt;left val=&quot;0&quot;/&gt;&lt;top val=&quot;405&quot;/&gt;&lt;width val=&quot;87&quot;/&gt;&lt;height val=&quot;26&quot;/&gt;&lt;hasText val=&quot;1&quot;/&gt;&lt;/Image&gt;&lt;/ThreeDShapeInfo&gt;"/>
  <p:tag name="PRESENTER_SHAPETEXTINFO" val="&lt;ShapeTextInfo&gt;&lt;TableIndex row=&quot;-1&quot; col=&quot;-1&quot;&gt;&lt;linesCount val=&quot;1&quot;/&gt;&lt;lineCharCount val=&quot;16&quot;/&gt;&lt;/TableIndex&gt;&lt;/ShapeTextInfo&gt;"/>
</p:tagLst>
</file>

<file path=ppt/tags/tag55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DE98C004-98FA-4D2B-A608-781E39ABAF6F}_28.png&quot;/&gt;&lt;left val=&quot;219&quot;/&gt;&lt;top val=&quot;350&quot;/&gt;&lt;width val=&quot;83&quot;/&gt;&lt;height val=&quot;26&quot;/&gt;&lt;hasText val=&quot;1&quot;/&gt;&lt;/Image&gt;&lt;/ThreeDShapeInfo&gt;"/>
  <p:tag name="PRESENTER_SHAPETEXTINFO" val="&lt;ShapeTextInfo&gt;&lt;TableIndex row=&quot;-1&quot; col=&quot;-1&quot;&gt;&lt;linesCount val=&quot;1&quot;/&gt;&lt;lineCharCount val=&quot;14&quot;/&gt;&lt;/TableIndex&gt;&lt;/ShapeTextInfo&gt;"/>
</p:tagLst>
</file>

<file path=ppt/tags/tag55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A996CE15-D11A-4BCB-8BDD-581D79CDDD6F}_28.png&quot;/&gt;&lt;left val=&quot;188&quot;/&gt;&lt;top val=&quot;228&quot;/&gt;&lt;width val=&quot;106&quot;/&gt;&lt;height val=&quot;26&quot;/&gt;&lt;hasText val=&quot;1&quot;/&gt;&lt;/Image&gt;&lt;/ThreeDShapeInfo&gt;"/>
  <p:tag name="PRESENTER_SHAPETEXTINFO" val="&lt;ShapeTextInfo&gt;&lt;TableIndex row=&quot;-1&quot; col=&quot;-1&quot;&gt;&lt;linesCount val=&quot;1&quot;/&gt;&lt;lineCharCount val=&quot;19&quot;/&gt;&lt;/TableIndex&gt;&lt;/ShapeTextInfo&gt;"/>
</p:tagLst>
</file>

<file path=ppt/tags/tag553.xml><?xml version="1.0" encoding="utf-8"?>
<p:tagLst xmlns:a="http://schemas.openxmlformats.org/drawingml/2006/main" xmlns:r="http://schemas.openxmlformats.org/officeDocument/2006/relationships" xmlns:p="http://schemas.openxmlformats.org/presentationml/2006/main">
  <p:tag name="PRESENTER_SHAPEINFO" val="&lt;ThreeDShapeInfo&gt;&lt;uuid val=&quot;{252E7BA6-6210-42BC-A137-9484720906F7}&quot;/&gt;&lt;isInvalidForFieldText val=&quot;0&quot;/&gt;&lt;Image&gt;&lt;filename val=&quot;C:\Users\sanmi\Documents\My Adobe Presentations\ece552-SharedMemoryCoherence\data\asimages\{252E7BA6-6210-42BC-A137-9484720906F7}_28.png&quot;/&gt;&lt;left val=&quot;543&quot;/&gt;&lt;top val=&quot;348&quot;/&gt;&lt;width val=&quot;116&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554.xml><?xml version="1.0" encoding="utf-8"?>
<p:tagLst xmlns:a="http://schemas.openxmlformats.org/drawingml/2006/main" xmlns:r="http://schemas.openxmlformats.org/officeDocument/2006/relationships" xmlns:p="http://schemas.openxmlformats.org/presentationml/2006/main">
  <p:tag name="PRESENTER_SHAPEINFO" val="&lt;ThreeDShapeInfo&gt;&lt;uuid val=&quot;{A852DB5C-D545-4FAF-BBC1-9437E31B0334}&quot;/&gt;&lt;isInvalidForFieldText val=&quot;0&quot;/&gt;&lt;Image&gt;&lt;filename val=&quot;C:\Users\sanmi\Documents\My Adobe Presentations\ece552-SharedMemoryCoherence\data\asimages\{A852DB5C-D545-4FAF-BBC1-9437E31B0334}_28.png&quot;/&gt;&lt;left val=&quot;639&quot;/&gt;&lt;top val=&quot;296&quot;/&gt;&lt;width val=&quot;13&quot;/&gt;&lt;height val=&quot;20&quot;/&gt;&lt;hasText val=&quot;1&quot;/&gt;&lt;/Image&gt;&lt;/ThreeDShapeInfo&gt;"/>
</p:tagLst>
</file>

<file path=ppt/tags/tag5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56.xml><?xml version="1.0" encoding="utf-8"?>
<p:tagLst xmlns:a="http://schemas.openxmlformats.org/drawingml/2006/main" xmlns:r="http://schemas.openxmlformats.org/officeDocument/2006/relationships" xmlns:p="http://schemas.openxmlformats.org/presentationml/2006/main">
  <p:tag name="PRESENTER_SHAPEINFO" val="&lt;ThreeDShapeInfo&gt;&lt;uuid val=&quot;{46702466-1511-40CE-9749-A526E5D327F5}&quot;/&gt;&lt;isInvalidForFieldText val=&quot;0&quot;/&gt;&lt;Image&gt;&lt;filename val=&quot;C:\Users\sanmi\Documents\My Adobe Presentations\ece552-SharedMemoryCoherence\data\asimages\{46702466-1511-40CE-9749-A526E5D327F5}_28.png&quot;/&gt;&lt;left val=&quot;606&quot;/&gt;&lt;top val=&quot;303&quot;/&gt;&lt;width val=&quot;80&quot;/&gt;&lt;height val=&quot;39&quot;/&gt;&lt;hasText val=&quot;1&quot;/&gt;&lt;/Image&gt;&lt;/ThreeDShapeInfo&gt;"/>
  <p:tag name="PRESENTER_SHAPETEXTINFO" val="&lt;ShapeTextInfo&gt;&lt;TableIndex row=&quot;-1&quot; col=&quot;-1&quot;&gt;&lt;linesCount val=&quot;1&quot;/&gt;&lt;lineCharCount val=&quot;8&quot;/&gt;&lt;/TableIndex&gt;&lt;/ShapeTextInfo&gt;"/>
</p:tagLst>
</file>

<file path=ppt/tags/tag557.xml><?xml version="1.0" encoding="utf-8"?>
<p:tagLst xmlns:a="http://schemas.openxmlformats.org/drawingml/2006/main" xmlns:r="http://schemas.openxmlformats.org/officeDocument/2006/relationships" xmlns:p="http://schemas.openxmlformats.org/presentationml/2006/main">
  <p:tag name="PRESENTER_SHAPEINFO" val="&lt;ThreeDShapeInfo&gt;&lt;uuid val=&quot;{6D1DC107-AE6F-4902-8503-9784C8A33C0A}&quot;/&gt;&lt;isInvalidForFieldText val=&quot;0&quot;/&gt;&lt;Image&gt;&lt;filename val=&quot;C:\Users\sanmi\Documents\My Adobe Presentations\ece552-SharedMemoryCoherence\data\asimages\{6D1DC107-AE6F-4902-8503-9784C8A33C0A}_28.png&quot;/&gt;&lt;left val=&quot;562&quot;/&gt;&lt;top val=&quot;389&quot;/&gt;&lt;width val=&quot;78&quot;/&gt;&lt;height val=&quot;38&quot;/&gt;&lt;hasText val=&quot;1&quot;/&gt;&lt;/Image&gt;&lt;/ThreeDShapeInfo&gt;"/>
  <p:tag name="PRESENTER_SHAPETEXTINFO" val="&lt;ShapeTextInfo&gt;&lt;TableIndex row=&quot;-1&quot; col=&quot;-1&quot;&gt;&lt;linesCount val=&quot;1&quot;/&gt;&lt;lineCharCount val=&quot;4&quot;/&gt;&lt;/TableIndex&gt;&lt;/ShapeTextInfo&gt;"/>
</p:tagLst>
</file>

<file path=ppt/tags/tag558.xml><?xml version="1.0" encoding="utf-8"?>
<p:tagLst xmlns:a="http://schemas.openxmlformats.org/drawingml/2006/main" xmlns:r="http://schemas.openxmlformats.org/officeDocument/2006/relationships" xmlns:p="http://schemas.openxmlformats.org/presentationml/2006/main">
  <p:tag name="PRESENTER_SHAPEINFO" val="&lt;ThreeDShapeInfo&gt;&lt;uuid val=&quot;{0FB91863-86C8-47E0-9376-C842CA3051C8}&quot;/&gt;&lt;isInvalidForFieldText val=&quot;0&quot;/&gt;&lt;Image&gt;&lt;filename val=&quot;C:\Users\sanmi\Documents\My Adobe Presentations\ece552-SharedMemoryCoherence\data\asimages\{0FB91863-86C8-47E0-9376-C842CA3051C8}_28.png&quot;/&gt;&lt;left val=&quot;622&quot;/&gt;&lt;top val=&quot;267&quot;/&gt;&lt;width val=&quot;47&quot;/&gt;&lt;height val=&quot;45&quot;/&gt;&lt;hasText val=&quot;1&quot;/&gt;&lt;/Image&gt;&lt;/ThreeDShapeInfo&gt;"/>
  <p:tag name="PRESENTER_SHAPETEXTINFO" val="&lt;ShapeTextInfo&gt;&lt;TableIndex row=&quot;-1&quot; col=&quot;-1&quot;&gt;&lt;linesCount val=&quot;1&quot;/&gt;&lt;lineCharCount val=&quot;2&quot;/&gt;&lt;/TableIndex&gt;&lt;/ShapeTextInfo&gt;"/>
</p:tagLst>
</file>

<file path=ppt/tags/tag559.xml><?xml version="1.0" encoding="utf-8"?>
<p:tagLst xmlns:a="http://schemas.openxmlformats.org/drawingml/2006/main" xmlns:r="http://schemas.openxmlformats.org/officeDocument/2006/relationships" xmlns:p="http://schemas.openxmlformats.org/presentationml/2006/main">
  <p:tag name="PRESENTER_SHAPEINFO" val="&lt;ThreeDShapeInfo&gt;&lt;uuid val=&quot;{35315C55-77D7-4463-A5AC-C55E0B83192D}&quot;/&gt;&lt;isInvalidForFieldText val=&quot;0&quot;/&gt;&lt;Image&gt;&lt;filename val=&quot;C:\Users\sanmi\Documents\My Adobe Presentations\ece552-SharedMemoryCoherence\data\asimages\{35315C55-77D7-4463-A5AC-C55E0B83192D}_28.png&quot;/&gt;&lt;left val=&quot;554&quot;/&gt;&lt;top val=&quot;296&quot;/&gt;&lt;width val=&quot;13&quot;/&gt;&lt;height val=&quot;20&quot;/&gt;&lt;hasText val=&quot;1&quot;/&gt;&lt;/Image&gt;&lt;/ThreeDShapeInfo&gt;"/>
</p:tagLst>
</file>

<file path=ppt/tags/tag5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61.xml><?xml version="1.0" encoding="utf-8"?>
<p:tagLst xmlns:a="http://schemas.openxmlformats.org/drawingml/2006/main" xmlns:r="http://schemas.openxmlformats.org/officeDocument/2006/relationships" xmlns:p="http://schemas.openxmlformats.org/presentationml/2006/main">
  <p:tag name="PRESENTER_SHAPEINFO" val="&lt;ThreeDShapeInfo&gt;&lt;uuid val=&quot;{67AEA5BE-0C82-484F-A077-F68903D94FB7}&quot;/&gt;&lt;isInvalidForFieldText val=&quot;0&quot;/&gt;&lt;Image&gt;&lt;filename val=&quot;C:\Users\sanmi\Documents\My Adobe Presentations\ece552-SharedMemoryCoherence\data\asimages\{67AEA5BE-0C82-484F-A077-F68903D94FB7}_28.png&quot;/&gt;&lt;left val=&quot;520&quot;/&gt;&lt;top val=&quot;303&quot;/&gt;&lt;width val=&quot;80&quot;/&gt;&lt;height val=&quot;39&quot;/&gt;&lt;hasText val=&quot;1&quot;/&gt;&lt;/Image&gt;&lt;/ThreeDShapeInfo&gt;"/>
  <p:tag name="PRESENTER_SHAPETEXTINFO" val="&lt;ShapeTextInfo&gt;&lt;TableIndex row=&quot;-1&quot; col=&quot;-1&quot;&gt;&lt;linesCount val=&quot;1&quot;/&gt;&lt;lineCharCount val=&quot;5&quot;/&gt;&lt;/TableIndex&gt;&lt;/ShapeTextInfo&gt;"/>
</p:tagLst>
</file>

<file path=ppt/tags/tag562.xml><?xml version="1.0" encoding="utf-8"?>
<p:tagLst xmlns:a="http://schemas.openxmlformats.org/drawingml/2006/main" xmlns:r="http://schemas.openxmlformats.org/officeDocument/2006/relationships" xmlns:p="http://schemas.openxmlformats.org/presentationml/2006/main">
  <p:tag name="PRESENTER_SHAPEINFO" val="&lt;ThreeDShapeInfo&gt;&lt;uuid val=&quot;{27E241F4-F868-41F6-803D-C47E1E75908D}&quot;/&gt;&lt;isInvalidForFieldText val=&quot;0&quot;/&gt;&lt;Image&gt;&lt;filename val=&quot;C:\Users\sanmi\Documents\My Adobe Presentations\ece552-SharedMemoryCoherence\data\asimages\{27E241F4-F868-41F6-803D-C47E1E75908D}_28.png&quot;/&gt;&lt;left val=&quot;537&quot;/&gt;&lt;top val=&quot;267&quot;/&gt;&lt;width val=&quot;47&quot;/&gt;&lt;height val=&quot;45&quot;/&gt;&lt;hasText val=&quot;1&quot;/&gt;&lt;/Image&gt;&lt;/ThreeDShapeInfo&gt;"/>
  <p:tag name="PRESENTER_SHAPETEXTINFO" val="&lt;ShapeTextInfo&gt;&lt;TableIndex row=&quot;-1&quot; col=&quot;-1&quot;&gt;&lt;linesCount val=&quot;1&quot;/&gt;&lt;lineCharCount val=&quot;2&quot;/&gt;&lt;/TableIndex&gt;&lt;/ShapeTextInfo&gt;"/>
</p:tagLst>
</file>

<file path=ppt/tags/tag563.xml><?xml version="1.0" encoding="utf-8"?>
<p:tagLst xmlns:a="http://schemas.openxmlformats.org/drawingml/2006/main" xmlns:r="http://schemas.openxmlformats.org/officeDocument/2006/relationships" xmlns:p="http://schemas.openxmlformats.org/presentationml/2006/main">
  <p:tag name="PRESENTER_SHAPEINFO" val="&lt;ThreeDShapeInfo&gt;&lt;uuid val=&quot;{43397B01-0F8E-4F95-B5C1-20A441F0AF3F}&quot;/&gt;&lt;isInvalidForFieldText val=&quot;0&quot;/&gt;&lt;Image&gt;&lt;filename val=&quot;C:\Users\sanmi\Documents\My Adobe Presentations\ece552-SharedMemoryCoherence\data\asimages\{43397B01-0F8E-4F95-B5C1-20A441F0AF3F}_28.png&quot;/&gt;&lt;left val=&quot;637&quot;/&gt;&lt;top val=&quot;244&quot;/&gt;&lt;width val=&quot;80&quot;/&gt;&lt;height val=&quot;36&quot;/&gt;&lt;hasText val=&quot;1&quot;/&gt;&lt;/Image&gt;&lt;/ThreeDShapeInfo&gt;"/>
  <p:tag name="PRESENTER_SHAPETEXTINFO" val="&lt;ShapeTextInfo&gt;&lt;TableIndex row=&quot;-1&quot; col=&quot;-1&quot;&gt;&lt;linesCount val=&quot;1&quot;/&gt;&lt;lineCharCount val=&quot;10&quot;/&gt;&lt;/TableIndex&gt;&lt;/ShapeTextInfo&gt;"/>
</p:tagLst>
</file>

<file path=ppt/tags/tag564.xml><?xml version="1.0" encoding="utf-8"?>
<p:tagLst xmlns:a="http://schemas.openxmlformats.org/drawingml/2006/main" xmlns:r="http://schemas.openxmlformats.org/officeDocument/2006/relationships" xmlns:p="http://schemas.openxmlformats.org/presentationml/2006/main">
  <p:tag name="PRESENTER_SHAPEINFO" val="&lt;ThreeDShapeInfo&gt;&lt;uuid val=&quot;{802530D5-2000-496E-9B25-20FA2B477983}&quot;/&gt;&lt;isInvalidForFieldText val=&quot;0&quot;/&gt;&lt;Image&gt;&lt;filename val=&quot;C:\Users\sanmi\Documents\My Adobe Presentations\ece552-SharedMemoryCoherence\data\asimages\{802530D5-2000-496E-9B25-20FA2B477983}_28.png&quot;/&gt;&lt;left val=&quot;621&quot;/&gt;&lt;top val=&quot;330&quot;/&gt;&lt;width val=&quot;96&quot;/&gt;&lt;height val=&quot;36&quot;/&gt;&lt;hasText val=&quot;1&quot;/&gt;&lt;/Image&gt;&lt;/ThreeDShapeInfo&gt;"/>
  <p:tag name="PRESENTER_SHAPETEXTINFO" val="&lt;ShapeTextInfo&gt;&lt;TableIndex row=&quot;-1&quot; col=&quot;-1&quot;&gt;&lt;linesCount val=&quot;1&quot;/&gt;&lt;lineCharCount val=&quot;10&quot;/&gt;&lt;/TableIndex&gt;&lt;/ShapeTextInfo&gt;"/>
</p:tagLst>
</file>

<file path=ppt/tags/tag565.xml><?xml version="1.0" encoding="utf-8"?>
<p:tagLst xmlns:a="http://schemas.openxmlformats.org/drawingml/2006/main" xmlns:r="http://schemas.openxmlformats.org/officeDocument/2006/relationships" xmlns:p="http://schemas.openxmlformats.org/presentationml/2006/main">
  <p:tag name="PRESENTER_SHAPEINFO" val="&lt;ThreeDShapeInfo&gt;&lt;uuid val=&quot;{2289F43B-01DA-4C48-B5CD-B66E92771CD0}&quot;/&gt;&lt;isInvalidForFieldText val=&quot;0&quot;/&gt;&lt;Image&gt;&lt;filename val=&quot;C:\Users\sanmi\Documents\My Adobe Presentations\ece552-SharedMemoryCoherence\data\asimages\{2289F43B-01DA-4C48-B5CD-B66E92771CD0}_28.png&quot;/&gt;&lt;left val=&quot;605&quot;/&gt;&lt;top val=&quot;303&quot;/&gt;&lt;width val=&quot;81&quot;/&gt;&lt;height val=&quot;39&quot;/&gt;&lt;hasText val=&quot;1&quot;/&gt;&lt;/Image&gt;&lt;/ThreeDShapeInfo&gt;"/>
  <p:tag name="PRESENTER_SHAPETEXTINFO" val="&lt;ShapeTextInfo&gt;&lt;TableIndex row=&quot;-1&quot; col=&quot;-1&quot;&gt;&lt;linesCount val=&quot;1&quot;/&gt;&lt;lineCharCount val=&quot;10&quot;/&gt;&lt;/TableIndex&gt;&lt;/ShapeTextInfo&gt;"/>
</p:tagLst>
</file>

<file path=ppt/tags/tag566.xml><?xml version="1.0" encoding="utf-8"?>
<p:tagLst xmlns:a="http://schemas.openxmlformats.org/drawingml/2006/main" xmlns:r="http://schemas.openxmlformats.org/officeDocument/2006/relationships" xmlns:p="http://schemas.openxmlformats.org/presentationml/2006/main">
  <p:tag name="PRESENTER_SHAPEINFO" val="&lt;ThreeDShapeInfo&gt;&lt;uuid val=&quot;{3FE7E1E8-738B-4938-A209-1BCB05D9FADA}&quot;/&gt;&lt;isInvalidForFieldText val=&quot;0&quot;/&gt;&lt;Image&gt;&lt;filename val=&quot;C:\Users\sanmi\Documents\My Adobe Presentations\ece552-SharedMemoryCoherence\data\asimages\{3FE7E1E8-738B-4938-A209-1BCB05D9FADA}_28.png&quot;/&gt;&lt;left val=&quot;562&quot;/&gt;&lt;top val=&quot;389&quot;/&gt;&lt;width val=&quot;78&quot;/&gt;&lt;height val=&quot;39&quot;/&gt;&lt;hasText val=&quot;1&quot;/&gt;&lt;/Image&gt;&lt;/ThreeDShapeInfo&gt;"/>
  <p:tag name="PRESENTER_SHAPETEXTINFO" val="&lt;ShapeTextInfo&gt;&lt;TableIndex row=&quot;-1&quot; col=&quot;-1&quot;&gt;&lt;linesCount val=&quot;1&quot;/&gt;&lt;lineCharCount val=&quot;6&quot;/&gt;&lt;/TableIndex&gt;&lt;/ShapeTextInfo&gt;"/>
</p:tagLst>
</file>

<file path=ppt/tags/tag56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DF81B8C7-927B-47ED-BE41-EA0AF57A7E7C}_28.png&quot;/&gt;&lt;left val=&quot;104&quot;/&gt;&lt;top val=&quot;291&quot;/&gt;&lt;width val=&quot;106&quot;/&gt;&lt;height val=&quot;26&quot;/&gt;&lt;hasText val=&quot;1&quot;/&gt;&lt;/Image&gt;&lt;/ThreeDShapeInfo&gt;"/>
  <p:tag name="PRESENTER_SHAPETEXTINFO" val="&lt;ShapeTextInfo&gt;&lt;TableIndex row=&quot;-1&quot; col=&quot;-1&quot;&gt;&lt;linesCount val=&quot;1&quot;/&gt;&lt;lineCharCount val=&quot;17&quot;/&gt;&lt;/TableIndex&gt;&lt;/ShapeTextInfo&gt;"/>
</p:tagLst>
</file>

<file path=ppt/tags/tag56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7908DAAA-BC21-4711-8AC1-987E211ED224}_28.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2&quot;/&gt;&lt;/TableIndex&gt;&lt;/ShapeTextInfo&gt;"/>
</p:tagLst>
</file>

<file path=ppt/tags/tag569.xml><?xml version="1.0" encoding="utf-8"?>
<p:tagLst xmlns:a="http://schemas.openxmlformats.org/drawingml/2006/main" xmlns:r="http://schemas.openxmlformats.org/officeDocument/2006/relationships" xmlns:p="http://schemas.openxmlformats.org/presentationml/2006/main">
  <p:tag name="HTML_SHAPEINFO" val="&lt;SlideThumbPath val=&quot;Slide29.PNG&quot;/&gt;"/>
  <p:tag name="PPSNARRATION" val="29,883145026,C:\Users\sanmi\GoogleDrive\UWMdrive\Courses\ECE552\ece552-lec18_SharedMemoryCoherence_pptx\Media.ppcx"/>
</p:tagLst>
</file>

<file path=ppt/tags/tag57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B202E085-8A31-4026-8BED-9293874DFA4B}_29.png&quot;/&gt;&lt;left val=&quot;118&quot;/&gt;&lt;top val=&quot;218&quot;/&gt;&lt;width val=&quot;484&quot;/&gt;&lt;height val=&quot;186&quot;/&gt;&lt;hasText val=&quot;1&quot;/&gt;&lt;/Image&gt;&lt;/ThreeDShapeInfo&gt;"/>
  <p:tag name="PRESENTER_SHAPETEXTINFO" val="&lt;ShapeTextInfo&gt;&lt;TableIndex row=&quot;1&quot; col=&quot;1&quot;&gt;&lt;linesCount val=&quot;2&quot;/&gt;&lt;lineCharCount val=&quot;8&quot;/&gt;&lt;lineCharCount val=&quot;5&quot;/&gt;&lt;/TableIndex&gt;&lt;TableIndex row=&quot;1&quot; col=&quot;2&quot;&gt;&lt;linesCount val=&quot;1&quot;/&gt;&lt;lineCharCount val=&quot;5&quot;/&gt;&lt;/TableIndex&gt;&lt;TableIndex row=&quot;1&quot; col=&quot;3&quot;&gt;&lt;linesCount val=&quot;1&quot;/&gt;&lt;lineCharCount val=&quot;5&quot;/&gt;&lt;/TableIndex&gt;&lt;TableIndex row=&quot;1&quot; col=&quot;4&quot;&gt;&lt;linesCount val=&quot;1&quot;/&gt;&lt;lineCharCount val=&quot;5&quot;/&gt;&lt;/TableIndex&gt;&lt;TableIndex row=&quot;1&quot; col=&quot;5&quot;&gt;&lt;linesCount val=&quot;1&quot;/&gt;&lt;lineCharCount val=&quot;5&quot;/&gt;&lt;/TableIndex&gt;&lt;TableIndex row=&quot;1&quot; col=&quot;6&quot;&gt;&lt;linesCount val=&quot;1&quot;/&gt;&lt;lineCharCount val=&quot;5&quot;/&gt;&lt;/TableIndex&gt;&lt;TableIndex row=&quot;1&quot; col=&quot;7&quot;&gt;&lt;linesCount val=&quot;1&quot;/&gt;&lt;lineCharCount val=&quot;5&quot;/&gt;&lt;/TableIndex&gt;&lt;TableIndex row=&quot;2&quot; col=&quot;1&quot;&gt;&lt;linesCount val=&quot;2&quot;/&gt;&lt;lineCharCount val=&quot;8&quot;/&gt;&lt;lineCharCount val=&quot;5&quot;/&gt;&lt;/TableIndex&gt;&lt;TableIndex row=&quot;2&quot; col=&quot;2&quot;&gt;&lt;linesCount val=&quot;1&quot;/&gt;&lt;lineCharCount val=&quot;4&quot;/&gt;&lt;/TableIndex&gt;&lt;TableIndex row=&quot;2&quot; col=&quot;3&quot;&gt;&lt;linesCount val=&quot;1&quot;/&gt;&lt;lineCharCount val=&quot;5&quot;/&gt;&lt;/TableIndex&gt;&lt;TableIndex row=&quot;2&quot; col=&quot;4&quot;&gt;&lt;linesCount val=&quot;1&quot;/&gt;&lt;lineCharCount val=&quot;5&quot;/&gt;&lt;/TableIndex&gt;&lt;TableIndex row=&quot;2&quot; col=&quot;5&quot;&gt;&lt;linesCount val=&quot;1&quot;/&gt;&lt;lineCharCount val=&quot;5&quot;/&gt;&lt;/TableIndex&gt;&lt;TableIndex row=&quot;2&quot; col=&quot;6&quot;&gt;&lt;linesCount val=&quot;1&quot;/&gt;&lt;lineCharCount val=&quot;6&quot;/&gt;&lt;/TableIndex&gt;&lt;TableIndex row=&quot;2&quot; col=&quot;7&quot;&gt;&lt;linesCount val=&quot;1&quot;/&gt;&lt;lineCharCount val=&quot;6&quot;/&gt;&lt;/TableIndex&gt;&lt;TableIndex row=&quot;3&quot; col=&quot;1&quot;&gt;&lt;linesCount val=&quot;1&quot;/&gt;&lt;lineCharCount val=&quot;1&quot;/&gt;&lt;/TableIndex&gt;&lt;TableIndex row=&quot;3&quot; col=&quot;2&quot;&gt;&lt;linesCount val=&quot;2&quot;/&gt;&lt;lineCharCount val=&quot;6&quot;/&gt;&lt;lineCharCount val=&quot;3&quot;/&gt;&lt;/TableIndex&gt;&lt;TableIndex row=&quot;3&quot; col=&quot;3&quot;&gt;&lt;linesCount val=&quot;2&quot;/&gt;&lt;lineCharCount val=&quot;7&quot;/&gt;&lt;lineCharCount val=&quot;3&quot;/&gt;&lt;/TableIndex&gt;&lt;TableIndex row=&quot;3&quot; col=&quot;4&quot;&gt;&lt;linesCount val=&quot;0&quot;/&gt;&lt;/TableIndex&gt;&lt;TableIndex row=&quot;3&quot; col=&quot;5&quot;&gt;&lt;linesCount val=&quot;1&quot;/&gt;&lt;lineCharCount val=&quot;3&quot;/&gt;&lt;/TableIndex&gt;&lt;TableIndex row=&quot;3&quot; col=&quot;6&quot;&gt;&lt;linesCount val=&quot;1&quot;/&gt;&lt;lineCharCount val=&quot;3&quot;/&gt;&lt;/TableIndex&gt;&lt;TableIndex row=&quot;3&quot; col=&quot;7&quot;&gt;&lt;linesCount val=&quot;1&quot;/&gt;&lt;lineCharCount val=&quot;3&quot;/&gt;&lt;/TableIndex&gt;&lt;TableIndex row=&quot;4&quot; col=&quot;1&quot;&gt;&lt;linesCount val=&quot;1&quot;/&gt;&lt;lineCharCount val=&quot;1&quot;/&gt;&lt;/TableIndex&gt;&lt;TableIndex row=&quot;4&quot; col=&quot;2&quot;&gt;&lt;linesCount val=&quot;1&quot;/&gt;&lt;lineCharCount val=&quot;3&quot;/&gt;&lt;/TableIndex&gt;&lt;TableIndex row=&quot;4&quot; col=&quot;3&quot;&gt;&lt;linesCount val=&quot;2&quot;/&gt;&lt;lineCharCount val=&quot;7&quot;/&gt;&lt;lineCharCount val=&quot;3&quot;/&gt;&lt;/TableIndex&gt;&lt;TableIndex row=&quot;4&quot; col=&quot;4&quot;&gt;&lt;linesCount val=&quot;1&quot;/&gt;&lt;lineCharCount val=&quot;3&quot;/&gt;&lt;/TableIndex&gt;&lt;TableIndex row=&quot;4&quot; col=&quot;5&quot;&gt;&lt;linesCount val=&quot;1&quot;/&gt;&lt;lineCharCount val=&quot;3&quot;/&gt;&lt;/TableIndex&gt;&lt;TableIndex row=&quot;4&quot; col=&quot;6&quot;&gt;&lt;linesCount val=&quot;1&quot;/&gt;&lt;lineCharCount val=&quot;3&quot;/&gt;&lt;/TableIndex&gt;&lt;TableIndex row=&quot;4&quot; col=&quot;7&quot;&gt;&lt;linesCount val=&quot;1&quot;/&gt;&lt;lineCharCount val=&quot;3&quot;/&gt;&lt;/TableIndex&gt;&lt;TableIndex row=&quot;5&quot; col=&quot;1&quot;&gt;&lt;linesCount val=&quot;1&quot;/&gt;&lt;lineCharCount val=&quot;1&quot;/&gt;&lt;/TableIndex&gt;&lt;TableIndex row=&quot;5&quot; col=&quot;2&quot;&gt;&lt;linesCount val=&quot;1&quot;/&gt;&lt;lineCharCount val=&quot;3&quot;/&gt;&lt;/TableIndex&gt;&lt;TableIndex row=&quot;5&quot; col=&quot;3&quot;&gt;&lt;linesCount val=&quot;1&quot;/&gt;&lt;lineCharCount val=&quot;3&quot;/&gt;&lt;/TableIndex&gt;&lt;TableIndex row=&quot;5&quot; col=&quot;4&quot;&gt;&lt;linesCount val=&quot;2&quot;/&gt;&lt;lineCharCount val=&quot;6&quot;/&gt;&lt;lineCharCount val=&quot;3&quot;/&gt;&lt;/TableIndex&gt;&lt;TableIndex row=&quot;5&quot; col=&quot;5&quot;&gt;&lt;linesCount val=&quot;3&quot;/&gt;&lt;lineCharCount val=&quot;9&quot;/&gt;&lt;lineCharCount val=&quot;6&quot;/&gt;&lt;lineCharCount val=&quot;3&quot;/&gt;&lt;/TableIndex&gt;&lt;TableIndex row=&quot;5&quot; col=&quot;6&quot;&gt;&lt;linesCount val=&quot;2&quot;/&gt;&lt;lineCharCount val=&quot;9&quot;/&gt;&lt;lineCharCount val=&quot;3&quot;/&gt;&lt;/TableIndex&gt;&lt;TableIndex row=&quot;5&quot; col=&quot;7&quot;&gt;&lt;linesCount val=&quot;0&quot;/&gt;&lt;/TableIndex&gt;&lt;/ShapeTextInfo&gt;"/>
</p:tagLst>
</file>

<file path=ppt/tags/tag57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E880A272-A0E0-4854-BDB2-65FBE016A48C}_29.png&quot;/&gt;&lt;left val=&quot;191&quot;/&gt;&lt;top val=&quot;402&quot;/&gt;&lt;width val=&quot;135&quot;/&gt;&lt;height val=&quot;53&quot;/&gt;&lt;hasText val=&quot;1&quot;/&gt;&lt;/Image&gt;&lt;/ThreeDShapeInfo&gt;"/>
  <p:tag name="PRESENTER_SHAPETEXTINFO" val="&lt;ShapeTextInfo&gt;&lt;TableIndex row=&quot;-1&quot; col=&quot;-1&quot;&gt;&lt;linesCount val=&quot;2&quot;/&gt;&lt;lineCharCount val=&quot;7&quot;/&gt;&lt;lineCharCount val=&quot;12&quot;/&gt;&lt;/TableIndex&gt;&lt;/ShapeTextInfo&gt;"/>
</p:tagLst>
</file>

<file path=ppt/tags/tag57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C527C8EF-CD69-4C6D-920E-189638F131FC}_2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2&quot;/&gt;&lt;/TableIndex&gt;&lt;/ShapeTextInfo&gt;"/>
</p:tagLst>
</file>

<file path=ppt/tags/tag573.xml><?xml version="1.0" encoding="utf-8"?>
<p:tagLst xmlns:a="http://schemas.openxmlformats.org/drawingml/2006/main" xmlns:r="http://schemas.openxmlformats.org/officeDocument/2006/relationships" xmlns:p="http://schemas.openxmlformats.org/presentationml/2006/main">
  <p:tag name="HTML_SHAPEINFO" val="&lt;SlideThumbPath val=&quot;Slide30.PNG&quot;/&gt;"/>
  <p:tag name="PPSNARRATION" val="30,883145026,C:\Users\sanmi\GoogleDrive\UWMdrive\Courses\ECE552\ece552-lec18_SharedMemoryCoherence_pptx\Media.ppcx"/>
  <p:tag name="TIMING" val="|21"/>
</p:tagLst>
</file>

<file path=ppt/tags/tag57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25B26C1-D21F-4C80-8C2D-0AF9F66DC5B4}_30.png&quot;/&gt;&lt;left val=&quot;23&quot;/&gt;&lt;top val=&quot;147&quot;/&gt;&lt;width val=&quot;680&quot;/&gt;&lt;height val=&quot;51&quot;/&gt;&lt;hasText val=&quot;1&quot;/&gt;&lt;/Image&gt;&lt;/ThreeDShapeInfo&gt;"/>
  <p:tag name="PRESENTER_SHAPETEXTINFO" val="&lt;ShapeTextInfo&gt;&lt;TableIndex row=&quot;-1&quot; col=&quot;-1&quot;&gt;&lt;linesCount val=&quot;1&quot;/&gt;&lt;lineCharCount val=&quot;38&quot;/&gt;&lt;/TableIndex&gt;&lt;/ShapeTextInfo&gt;"/>
</p:tagLst>
</file>

<file path=ppt/tags/tag57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9455498D-F984-4A08-9E1C-BCB553D85157}_30.png&quot;/&gt;&lt;left val=&quot;19&quot;/&gt;&lt;top val=&quot;288&quot;/&gt;&lt;width val=&quot;87&quot;/&gt;&lt;height val=&quot;26&quot;/&gt;&lt;hasText val=&quot;1&quot;/&gt;&lt;/Image&gt;&lt;/ThreeDShapeInfo&gt;"/>
  <p:tag name="PRESENTER_SHAPETEXTINFO" val="&lt;ShapeTextInfo&gt;&lt;TableIndex row=&quot;-1&quot; col=&quot;-1&quot;&gt;&lt;linesCount val=&quot;1&quot;/&gt;&lt;lineCharCount val=&quot;14&quot;/&gt;&lt;/TableIndex&gt;&lt;/ShapeTextInfo&gt;"/>
</p:tagLst>
</file>

<file path=ppt/tags/tag576.xml><?xml version="1.0" encoding="utf-8"?>
<p:tagLst xmlns:a="http://schemas.openxmlformats.org/drawingml/2006/main" xmlns:r="http://schemas.openxmlformats.org/officeDocument/2006/relationships" xmlns:p="http://schemas.openxmlformats.org/presentationml/2006/main">
  <p:tag name="PRESENTER_SHAPEINFO" val="&lt;ThreeDShapeInfo&gt;&lt;uuid val=&quot;{02A20B6A-C90E-4A74-A832-AA87DF95F86C}&quot;/&gt;&lt;isInvalidForFieldText val=&quot;0&quot;/&gt;&lt;Image&gt;&lt;filename val=&quot;C:\Users\sanmi\Documents\My Adobe Presentations\ece552-SharedMemoryCoherence\data\asimages\{02A20B6A-C90E-4A74-A832-AA87DF95F86C}_30.png&quot;/&gt;&lt;left val=&quot;77&quot;/&gt;&lt;top val=&quot;203&quot;/&gt;&lt;width val=&quot;63&quot;/&gt;&lt;height val=&quot;63&quot;/&gt;&lt;hasText val=&quot;1&quot;/&gt;&lt;/Image&gt;&lt;/ThreeDShapeInfo&gt;"/>
  <p:tag name="PRESENTER_SHAPETEXTINFO" val="&lt;ShapeTextInfo&gt;&lt;TableIndex row=&quot;-1&quot; col=&quot;-1&quot;&gt;&lt;linesCount val=&quot;1&quot;/&gt;&lt;lineCharCount val=&quot;1&quot;/&gt;&lt;/TableIndex&gt;&lt;/ShapeTextInfo&gt;"/>
</p:tagLst>
</file>

<file path=ppt/tags/tag57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14839571-1C2A-40CE-B0F9-A8C9FF9F7330}_30.png&quot;/&gt;&lt;left val=&quot;195&quot;/&gt;&lt;top val=&quot;185&quot;/&gt;&lt;width val=&quot;79&quot;/&gt;&lt;height val=&quot;26&quot;/&gt;&lt;hasText val=&quot;1&quot;/&gt;&lt;/Image&gt;&lt;/ThreeDShapeInfo&gt;"/>
  <p:tag name="PRESENTER_SHAPETEXTINFO" val="&lt;ShapeTextInfo&gt;&lt;TableIndex row=&quot;-1&quot; col=&quot;-1&quot;&gt;&lt;linesCount val=&quot;1&quot;/&gt;&lt;lineCharCount val=&quot;12&quot;/&gt;&lt;/TableIndex&gt;&lt;/ShapeTextInfo&gt;"/>
</p:tagLst>
</file>

<file path=ppt/tags/tag578.xml><?xml version="1.0" encoding="utf-8"?>
<p:tagLst xmlns:a="http://schemas.openxmlformats.org/drawingml/2006/main" xmlns:r="http://schemas.openxmlformats.org/officeDocument/2006/relationships" xmlns:p="http://schemas.openxmlformats.org/presentationml/2006/main">
  <p:tag name="PRESENTER_SHAPEINFO" val="&lt;ThreeDShapeInfo&gt;&lt;uuid val=&quot;{8DA2369B-AF2A-419D-9D4B-05FB7DDAD188}&quot;/&gt;&lt;isInvalidForFieldText val=&quot;0&quot;/&gt;&lt;Image&gt;&lt;filename val=&quot;C:\Users\sanmi\Documents\My Adobe Presentations\ece552-SharedMemoryCoherence\data\asimages\{8DA2369B-AF2A-419D-9D4B-05FB7DDAD188}_30.png&quot;/&gt;&lt;left val=&quot;338&quot;/&gt;&lt;top val=&quot;203&quot;/&gt;&lt;width val=&quot;63&quot;/&gt;&lt;height val=&quot;63&quot;/&gt;&lt;hasText val=&quot;1&quot;/&gt;&lt;/Image&gt;&lt;/ThreeDShapeInfo&gt;"/>
  <p:tag name="PRESENTER_SHAPETEXTINFO" val="&lt;ShapeTextInfo&gt;&lt;TableIndex row=&quot;-1&quot; col=&quot;-1&quot;&gt;&lt;linesCount val=&quot;1&quot;/&gt;&lt;lineCharCount val=&quot;1&quot;/&gt;&lt;/TableIndex&gt;&lt;/ShapeTextInfo&gt;"/>
</p:tagLst>
</file>

<file path=ppt/tags/tag579.xml><?xml version="1.0" encoding="utf-8"?>
<p:tagLst xmlns:a="http://schemas.openxmlformats.org/drawingml/2006/main" xmlns:r="http://schemas.openxmlformats.org/officeDocument/2006/relationships" xmlns:p="http://schemas.openxmlformats.org/presentationml/2006/main">
  <p:tag name="HTML_AUTOSHAPE_INFO" val="&lt;ThreeDShapeInfo&gt;&lt;uuid val=&quot;{A0D5C75B-84D7-4948-8200-A73DD7752E52}&quot;/&gt;&lt;isInvalidForFieldText val=&quot;1&quot;/&gt;&lt;Image&gt;&lt;filename val=&quot;C:\Users\sanmi\Documents\My Adobe Presentations\ece552-SharedMemoryCoherence\data\asimages\{A0D5C75B-84D7-4948-8200-A73DD7752E52}_30_S.png&quot;/&gt;&lt;left val=&quot;135&quot;/&gt;&lt;top val=&quot;205&quot;/&gt;&lt;width val=&quot;218&quot;/&gt;&lt;height val=&quot;26&quot;/&gt;&lt;hasText val=&quot;0&quot;/&gt;&lt;/Image&gt;&lt;Image&gt;&lt;filename val=&quot;C:\Users\sanmi\Documents\My Adobe Presentations\ece552-SharedMemoryCoherence\data\asimages\{A0D5C75B-84D7-4948-8200-A73DD7752E52}_30_T.png&quot;/&gt;&lt;left val=&quot;135&quot;/&gt;&lt;top val=&quot;206&quot;/&gt;&lt;width val=&quot;207&quot;/&gt;&lt;height val=&quot;18&quot;/&gt;&lt;hasText val=&quot;1&quot;/&gt;&lt;/Image&gt;&lt;/ThreeDShapeInfo&gt;"/>
  <p:tag name="PRESENTER_SHAPETEXTINFO" val="&lt;ShapeTextInfo&gt;&lt;TableIndex row=&quot;-1&quot; col=&quot;-1&quot;&gt;&lt;linesCount val=&quot;0&quot;/&gt;&lt;/TableIndex&gt;&lt;/ShapeTextInfo&gt;"/>
</p:tagLst>
</file>

<file path=ppt/tags/tag58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95443E5-4FED-4347-B7E8-7996F448DF01}_30.png&quot;/&gt;&lt;left val=&quot;391&quot;/&gt;&lt;top val=&quot;239&quot;/&gt;&lt;width val=&quot;56&quot;/&gt;&lt;height val=&quot;26&quot;/&gt;&lt;hasText val=&quot;1&quot;/&gt;&lt;/Image&gt;&lt;/ThreeDShapeInfo&gt;"/>
  <p:tag name="PRESENTER_SHAPETEXTINFO" val="&lt;ShapeTextInfo&gt;&lt;TableIndex row=&quot;-1&quot; col=&quot;-1&quot;&gt;&lt;linesCount val=&quot;1&quot;/&gt;&lt;lineCharCount val=&quot;9&quot;/&gt;&lt;/TableIndex&gt;&lt;/ShapeTextInfo&gt;"/>
</p:tagLst>
</file>

<file path=ppt/tags/tag58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8A68C174-6671-40CF-B760-62E101F8BC9E}_30.png&quot;/&gt;&lt;left val=&quot;367&quot;/&gt;&lt;top val=&quot;186&quot;/&gt;&lt;width val=&quot;63&quot;/&gt;&lt;height val=&quot;26&quot;/&gt;&lt;hasText val=&quot;1&quot;/&gt;&lt;/Image&gt;&lt;/ThreeDShapeInfo&gt;"/>
  <p:tag name="PRESENTER_SHAPETEXTINFO" val="&lt;ShapeTextInfo&gt;&lt;TableIndex row=&quot;-1&quot; col=&quot;-1&quot;&gt;&lt;linesCount val=&quot;1&quot;/&gt;&lt;lineCharCount val=&quot;10&quot;/&gt;&lt;/TableIndex&gt;&lt;/ShapeTextInfo&gt;"/>
</p:tagLst>
</file>

<file path=ppt/tags/tag582.xml><?xml version="1.0" encoding="utf-8"?>
<p:tagLst xmlns:a="http://schemas.openxmlformats.org/drawingml/2006/main" xmlns:r="http://schemas.openxmlformats.org/officeDocument/2006/relationships" xmlns:p="http://schemas.openxmlformats.org/presentationml/2006/main">
  <p:tag name="HTML_AUTOSHAPE_INFO" val="&lt;ThreeDShapeInfo&gt;&lt;uuid val=&quot;{62908248-4F9A-44BC-8897-9755B68BF01C}&quot;/&gt;&lt;isInvalidForFieldText val=&quot;1&quot;/&gt;&lt;Image&gt;&lt;filename val=&quot;C:\Users\sanmi\Documents\My Adobe Presentations\ece552-SharedMemoryCoherence\data\asimages\{62908248-4F9A-44BC-8897-9755B68BF01C}_30_S.png&quot;/&gt;&lt;left val=&quot;393&quot;/&gt;&lt;top val=&quot;205&quot;/&gt;&lt;width val=&quot;41&quot;/&gt;&lt;height val=&quot;36&quot;/&gt;&lt;hasText val=&quot;0&quot;/&gt;&lt;/Image&gt;&lt;Image&gt;&lt;filename val=&quot;C:\Users\sanmi\Documents\My Adobe Presentations\ece552-SharedMemoryCoherence\data\asimages\{62908248-4F9A-44BC-8897-9755B68BF01C}_30_T.png&quot;/&gt;&lt;left val=&quot;398&quot;/&gt;&lt;top val=&quot;206&quot;/&gt;&lt;width val=&quot;36&quot;/&gt;&lt;height val=&quot;35&quot;/&gt;&lt;hasText val=&quot;1&quot;/&gt;&lt;/Image&gt;&lt;/ThreeDShapeInfo&gt;"/>
  <p:tag name="PRESENTER_SHAPETEXTINFO" val="&lt;ShapeTextInfo&gt;&lt;TableIndex row=&quot;-1&quot; col=&quot;-1&quot;&gt;&lt;linesCount val=&quot;0&quot;/&gt;&lt;/TableIndex&gt;&lt;/ShapeTextInfo&gt;"/>
</p:tagLst>
</file>

<file path=ppt/tags/tag583.xml><?xml version="1.0" encoding="utf-8"?>
<p:tagLst xmlns:a="http://schemas.openxmlformats.org/drawingml/2006/main" xmlns:r="http://schemas.openxmlformats.org/officeDocument/2006/relationships" xmlns:p="http://schemas.openxmlformats.org/presentationml/2006/main">
  <p:tag name="PRESENTER_SHAPEINFO" val="&lt;ThreeDShapeInfo&gt;&lt;uuid val=&quot;{81028785-E2C3-44B8-B5CE-878B198A5307}&quot;/&gt;&lt;isInvalidForFieldText val=&quot;0&quot;/&gt;&lt;Image&gt;&lt;filename val=&quot;C:\Users\sanmi\Documents\My Adobe Presentations\ece552-SharedMemoryCoherence\data\asimages\{81028785-E2C3-44B8-B5CE-878B198A5307}_30.png&quot;/&gt;&lt;left val=&quot;82&quot;/&gt;&lt;top val=&quot;392&quot;/&gt;&lt;width val=&quot;63&quot;/&gt;&lt;height val=&quot;63&quot;/&gt;&lt;hasText val=&quot;1&quot;/&gt;&lt;/Image&gt;&lt;/ThreeDShapeInfo&gt;"/>
  <p:tag name="PRESENTER_SHAPETEXTINFO" val="&lt;ShapeTextInfo&gt;&lt;TableIndex row=&quot;-1&quot; col=&quot;-1&quot;&gt;&lt;linesCount val=&quot;1&quot;/&gt;&lt;lineCharCount val=&quot;1&quot;/&gt;&lt;/TableIndex&gt;&lt;/ShapeTextInfo&gt;"/>
</p:tagLst>
</file>

<file path=ppt/tags/tag584.xml><?xml version="1.0" encoding="utf-8"?>
<p:tagLst xmlns:a="http://schemas.openxmlformats.org/drawingml/2006/main" xmlns:r="http://schemas.openxmlformats.org/officeDocument/2006/relationships" xmlns:p="http://schemas.openxmlformats.org/presentationml/2006/main">
  <p:tag name="HTML_AUTOSHAPE_INFO" val="&lt;ThreeDShapeInfo&gt;&lt;uuid val=&quot;{2F851327-EE87-4BB9-867C-37A25569EFBD}&quot;/&gt;&lt;isInvalidForFieldText val=&quot;1&quot;/&gt;&lt;Image&gt;&lt;filename val=&quot;C:\Users\sanmi\Documents\My Adobe Presentations\ece552-SharedMemoryCoherence\data\asimages\{2F851327-EE87-4BB9-867C-37A25569EFBD}_30_S.png&quot;/&gt;&lt;left val=&quot;80&quot;/&gt;&lt;top val=&quot;260&quot;/&gt;&lt;width val=&quot;29&quot;/&gt;&lt;height val=&quot;146&quot;/&gt;&lt;hasText val=&quot;0&quot;/&gt;&lt;/Image&gt;&lt;Image&gt;&lt;filename val=&quot;C:\Users\sanmi\Documents\My Adobe Presentations\ece552-SharedMemoryCoherence\data\asimages\{2F851327-EE87-4BB9-867C-37A25569EFBD}_30_T.png&quot;/&gt;&lt;left val=&quot;81&quot;/&gt;&lt;top val=&quot;260&quot;/&gt;&lt;width val=&quot;19&quot;/&gt;&lt;height val=&quot;135&quot;/&gt;&lt;hasText val=&quot;1&quot;/&gt;&lt;/Image&gt;&lt;/ThreeDShapeInfo&gt;"/>
  <p:tag name="PRESENTER_SHAPETEXTINFO" val="&lt;ShapeTextInfo&gt;&lt;TableIndex row=&quot;-1&quot; col=&quot;-1&quot;&gt;&lt;linesCount val=&quot;0&quot;/&gt;&lt;/TableIndex&gt;&lt;/ShapeTextInfo&gt;"/>
</p:tagLst>
</file>

<file path=ppt/tags/tag585.xml><?xml version="1.0" encoding="utf-8"?>
<p:tagLst xmlns:a="http://schemas.openxmlformats.org/drawingml/2006/main" xmlns:r="http://schemas.openxmlformats.org/officeDocument/2006/relationships" xmlns:p="http://schemas.openxmlformats.org/presentationml/2006/main">
  <p:tag name="HTML_AUTOSHAPE_INFO" val="&lt;ThreeDShapeInfo&gt;&lt;uuid val=&quot;{B77E16CA-5A6C-42DF-870C-E37E417554BD}&quot;/&gt;&lt;isInvalidForFieldText val=&quot;1&quot;/&gt;&lt;Image&gt;&lt;filename val=&quot;C:\Users\sanmi\Documents\My Adobe Presentations\ece552-SharedMemoryCoherence\data\asimages\{B77E16CA-5A6C-42DF-870C-E37E417554BD}_30_S.png&quot;/&gt;&lt;left val=&quot;115&quot;/&gt;&lt;top val=&quot;250&quot;/&gt;&lt;width val=&quot;26&quot;/&gt;&lt;height val=&quot;146&quot;/&gt;&lt;hasText val=&quot;0&quot;/&gt;&lt;/Image&gt;&lt;Image&gt;&lt;filename val=&quot;C:\Users\sanmi\Documents\My Adobe Presentations\ece552-SharedMemoryCoherence\data\asimages\{B77E16CA-5A6C-42DF-870C-E37E417554BD}_30_T.png&quot;/&gt;&lt;left val=&quot;122&quot;/&gt;&lt;top val=&quot;260&quot;/&gt;&lt;width val=&quot;18&quot;/&gt;&lt;height val=&quot;135&quot;/&gt;&lt;hasText val=&quot;1&quot;/&gt;&lt;/Image&gt;&lt;/ThreeDShapeInfo&gt;"/>
  <p:tag name="PRESENTER_SHAPETEXTINFO" val="&lt;ShapeTextInfo&gt;&lt;TableIndex row=&quot;-1&quot; col=&quot;-1&quot;&gt;&lt;linesCount val=&quot;0&quot;/&gt;&lt;/TableIndex&gt;&lt;/ShapeTextInfo&gt;"/>
</p:tagLst>
</file>

<file path=ppt/tags/tag586.xml><?xml version="1.0" encoding="utf-8"?>
<p:tagLst xmlns:a="http://schemas.openxmlformats.org/drawingml/2006/main" xmlns:r="http://schemas.openxmlformats.org/officeDocument/2006/relationships" xmlns:p="http://schemas.openxmlformats.org/presentationml/2006/main">
  <p:tag name="HTML_AUTOSHAPE_INFO" val="&lt;ThreeDShapeInfo&gt;&lt;uuid val=&quot;{0C876102-025B-4521-B88C-9F7FAEF6933F}&quot;/&gt;&lt;isInvalidForFieldText val=&quot;1&quot;/&gt;&lt;Image&gt;&lt;filename val=&quot;C:\Users\sanmi\Documents\My Adobe Presentations\ece552-SharedMemoryCoherence\data\asimages\{0C876102-025B-4521-B88C-9F7FAEF6933F}_30_S.png&quot;/&gt;&lt;left val=&quot;125&quot;/&gt;&lt;top val=&quot;230&quot;/&gt;&lt;width val=&quot;218&quot;/&gt;&lt;height val=&quot;26&quot;/&gt;&lt;hasText val=&quot;0&quot;/&gt;&lt;/Image&gt;&lt;Image&gt;&lt;filename val=&quot;C:\Users\sanmi\Documents\My Adobe Presentations\ece552-SharedMemoryCoherence\data\asimages\{0C876102-025B-4521-B88C-9F7FAEF6933F}_30_T.png&quot;/&gt;&lt;left val=&quot;135&quot;/&gt;&lt;top val=&quot;237&quot;/&gt;&lt;width val=&quot;207&quot;/&gt;&lt;height val=&quot;18&quot;/&gt;&lt;hasText val=&quot;1&quot;/&gt;&lt;/Image&gt;&lt;/ThreeDShapeInfo&gt;"/>
  <p:tag name="PRESENTER_SHAPETEXTINFO" val="&lt;ShapeTextInfo&gt;&lt;TableIndex row=&quot;-1&quot; col=&quot;-1&quot;&gt;&lt;linesCount val=&quot;0&quot;/&gt;&lt;/TableIndex&gt;&lt;/ShapeTextInfo&gt;"/>
</p:tagLst>
</file>

<file path=ppt/tags/tag58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98CFF082-8175-4942-8D0F-1E1E86C2E5D9}_30.png&quot;/&gt;&lt;left val=&quot;207&quot;/&gt;&lt;top val=&quot;254&quot;/&gt;&lt;width val=&quot;55&quot;/&gt;&lt;height val=&quot;26&quot;/&gt;&lt;hasText val=&quot;1&quot;/&gt;&lt;/Image&gt;&lt;/ThreeDShapeInfo&gt;"/>
  <p:tag name="PRESENTER_SHAPETEXTINFO" val="&lt;ShapeTextInfo&gt;&lt;TableIndex row=&quot;-1&quot; col=&quot;-1&quot;&gt;&lt;linesCount val=&quot;1&quot;/&gt;&lt;lineCharCount val=&quot;10&quot;/&gt;&lt;/TableIndex&gt;&lt;/ShapeTextInfo&gt;"/>
</p:tagLst>
</file>

<file path=ppt/tags/tag588.xml><?xml version="1.0" encoding="utf-8"?>
<p:tagLst xmlns:a="http://schemas.openxmlformats.org/drawingml/2006/main" xmlns:r="http://schemas.openxmlformats.org/officeDocument/2006/relationships" xmlns:p="http://schemas.openxmlformats.org/presentationml/2006/main">
  <p:tag name="HTML_AUTOSHAPE_INFO" val="&lt;ThreeDShapeInfo&gt;&lt;uuid val=&quot;{E0525AEB-EAE3-4437-A6AD-C7BF9989B95C}&quot;/&gt;&lt;isInvalidForFieldText val=&quot;1&quot;/&gt;&lt;Image&gt;&lt;filename val=&quot;C:\Users\sanmi\Documents\My Adobe Presentations\ece552-SharedMemoryCoherence\data\asimages\{E0525AEB-EAE3-4437-A6AD-C7BF9989B95C}_30_S.png&quot;/&gt;&lt;left val=&quot;137&quot;/&gt;&lt;top val=&quot;241&quot;/&gt;&lt;width val=&quot;224&quot;/&gt;&lt;height val=&quot;173&quot;/&gt;&lt;hasText val=&quot;0&quot;/&gt;&lt;/Image&gt;&lt;Image&gt;&lt;filename val=&quot;C:\Users\sanmi\Documents\My Adobe Presentations\ece552-SharedMemoryCoherence\data\asimages\{E0525AEB-EAE3-4437-A6AD-C7BF9989B95C}_30_T.png&quot;/&gt;&lt;left val=&quot;137&quot;/&gt;&lt;top val=&quot;251&quot;/&gt;&lt;width val=&quot;214&quot;/&gt;&lt;height val=&quot;163&quot;/&gt;&lt;hasText val=&quot;1&quot;/&gt;&lt;/Image&gt;&lt;/ThreeDShapeInfo&gt;"/>
  <p:tag name="PRESENTER_SHAPETEXTINFO" val="&lt;ShapeTextInfo&gt;&lt;TableIndex row=&quot;-1&quot; col=&quot;-1&quot;&gt;&lt;linesCount val=&quot;0&quot;/&gt;&lt;/TableIndex&gt;&lt;/ShapeTextInfo&gt;"/>
</p:tagLst>
</file>

<file path=ppt/tags/tag589.xml><?xml version="1.0" encoding="utf-8"?>
<p:tagLst xmlns:a="http://schemas.openxmlformats.org/drawingml/2006/main" xmlns:r="http://schemas.openxmlformats.org/officeDocument/2006/relationships" xmlns:p="http://schemas.openxmlformats.org/presentationml/2006/main">
  <p:tag name="HTML_AUTOSHAPE_INFO" val="&lt;ThreeDShapeInfo&gt;&lt;uuid val=&quot;{39B6AF80-F463-4535-8500-513FF4150DB4}&quot;/&gt;&lt;isInvalidForFieldText val=&quot;1&quot;/&gt;&lt;Image&gt;&lt;filename val=&quot;C:\Users\sanmi\Documents\My Adobe Presentations\ece552-SharedMemoryCoherence\data\asimages\{39B6AF80-F463-4535-8500-513FF4150DB4}_30_S.png&quot;/&gt;&lt;left val=&quot;130&quot;/&gt;&lt;top val=&quot;264&quot;/&gt;&lt;width val=&quot;241&quot;/&gt;&lt;height val=&quot;187&quot;/&gt;&lt;hasText val=&quot;0&quot;/&gt;&lt;/Image&gt;&lt;Image&gt;&lt;filename val=&quot;C:\Users\sanmi\Documents\My Adobe Presentations\ece552-SharedMemoryCoherence\data\asimages\{39B6AF80-F463-4535-8500-513FF4150DB4}_30_T.png&quot;/&gt;&lt;left val=&quot;140&quot;/&gt;&lt;top val=&quot;264&quot;/&gt;&lt;width val=&quot;230&quot;/&gt;&lt;height val=&quot;176&quot;/&gt;&lt;hasText val=&quot;1&quot;/&gt;&lt;/Image&gt;&lt;/ThreeDShapeInfo&gt;"/>
  <p:tag name="PRESENTER_SHAPETEXTINFO" val="&lt;ShapeTextInfo&gt;&lt;TableIndex row=&quot;-1&quot; col=&quot;-1&quot;&gt;&lt;linesCount val=&quot;0&quot;/&gt;&lt;/TableIndex&gt;&lt;/ShapeTextInfo&gt;"/>
</p:tagLst>
</file>

<file path=ppt/tags/tag59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630B498-137F-4C85-B7A3-09E66D0101F8}_30.png&quot;/&gt;&lt;left val=&quot;169&quot;/&gt;&lt;top val=&quot;314&quot;/&gt;&lt;width val=&quot;139&quot;/&gt;&lt;height val=&quot;26&quot;/&gt;&lt;hasText val=&quot;1&quot;/&gt;&lt;/Image&gt;&lt;/ThreeDShapeInfo&gt;"/>
  <p:tag name="PRESENTER_SHAPETEXTINFO" val="&lt;ShapeTextInfo&gt;&lt;TableIndex row=&quot;-1&quot; col=&quot;-1&quot;&gt;&lt;linesCount val=&quot;1&quot;/&gt;&lt;lineCharCount val=&quot;23&quot;/&gt;&lt;/TableIndex&gt;&lt;/ShapeTextInfo&gt;"/>
</p:tagLst>
</file>

<file path=ppt/tags/tag59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88FB537F-AD47-4725-90F9-23EA2FC3127F}_30.png&quot;/&gt;&lt;left val=&quot;81&quot;/&gt;&lt;top val=&quot;289&quot;/&gt;&lt;width val=&quot;83&quot;/&gt;&lt;height val=&quot;26&quot;/&gt;&lt;hasText val=&quot;1&quot;/&gt;&lt;/Image&gt;&lt;/ThreeDShapeInfo&gt;"/>
  <p:tag name="PRESENTER_SHAPETEXTINFO" val="&lt;ShapeTextInfo&gt;&lt;TableIndex row=&quot;-1&quot; col=&quot;-1&quot;&gt;&lt;linesCount val=&quot;1&quot;/&gt;&lt;lineCharCount val=&quot;13&quot;/&gt;&lt;/TableIndex&gt;&lt;/ShapeTextInfo&gt;"/>
</p:tagLst>
</file>

<file path=ppt/tags/tag592.xml><?xml version="1.0" encoding="utf-8"?>
<p:tagLst xmlns:a="http://schemas.openxmlformats.org/drawingml/2006/main" xmlns:r="http://schemas.openxmlformats.org/officeDocument/2006/relationships" xmlns:p="http://schemas.openxmlformats.org/presentationml/2006/main">
  <p:tag name="HTML_AUTOSHAPE_INFO" val="&lt;ThreeDShapeInfo&gt;&lt;uuid val=&quot;{15EA1402-911B-4796-8FA9-58FD0FEC1D34}&quot;/&gt;&lt;isInvalidForFieldText val=&quot;1&quot;/&gt;&lt;Image&gt;&lt;filename val=&quot;C:\Users\sanmi\Documents\My Adobe Presentations\ece552-SharedMemoryCoherence\data\asimages\{15EA1402-911B-4796-8FA9-58FD0FEC1D34}_30_S.png&quot;/&gt;&lt;left val=&quot;54&quot;/&gt;&lt;top val=&quot;423&quot;/&gt;&lt;width val=&quot;37&quot;/&gt;&lt;height val=&quot;38&quot;/&gt;&lt;hasText val=&quot;0&quot;/&gt;&lt;/Image&gt;&lt;Image&gt;&lt;filename val=&quot;C:\Users\sanmi\Documents\My Adobe Presentations\ece552-SharedMemoryCoherence\data\asimages\{15EA1402-911B-4796-8FA9-58FD0FEC1D34}_30_T.png&quot;/&gt;&lt;left val=&quot;54&quot;/&gt;&lt;top val=&quot;424&quot;/&gt;&lt;width val=&quot;35&quot;/&gt;&lt;height val=&quot;37&quot;/&gt;&lt;hasText val=&quot;1&quot;/&gt;&lt;/Image&gt;&lt;/ThreeDShapeInfo&gt;"/>
  <p:tag name="PRESENTER_SHAPETEXTINFO" val="&lt;ShapeTextInfo&gt;&lt;TableIndex row=&quot;-1&quot; col=&quot;-1&quot;&gt;&lt;linesCount val=&quot;0&quot;/&gt;&lt;/TableIndex&gt;&lt;/ShapeTextInfo&gt;"/>
</p:tagLst>
</file>

<file path=ppt/tags/tag59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8E328566-911A-4A03-A750-631E3759133E}_30.png&quot;/&gt;&lt;left val=&quot;0&quot;/&gt;&lt;top val=&quot;405&quot;/&gt;&lt;width val=&quot;87&quot;/&gt;&lt;height val=&quot;26&quot;/&gt;&lt;hasText val=&quot;1&quot;/&gt;&lt;/Image&gt;&lt;/ThreeDShapeInfo&gt;"/>
  <p:tag name="PRESENTER_SHAPETEXTINFO" val="&lt;ShapeTextInfo&gt;&lt;TableIndex row=&quot;-1&quot; col=&quot;-1&quot;&gt;&lt;linesCount val=&quot;1&quot;/&gt;&lt;lineCharCount val=&quot;16&quot;/&gt;&lt;/TableIndex&gt;&lt;/ShapeTextInfo&gt;"/>
</p:tagLst>
</file>

<file path=ppt/tags/tag59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22B9F2DF-9AD5-418D-BB16-7B580159556C}_30.png&quot;/&gt;&lt;left val=&quot;219&quot;/&gt;&lt;top val=&quot;350&quot;/&gt;&lt;width val=&quot;83&quot;/&gt;&lt;height val=&quot;26&quot;/&gt;&lt;hasText val=&quot;1&quot;/&gt;&lt;/Image&gt;&lt;/ThreeDShapeInfo&gt;"/>
  <p:tag name="PRESENTER_SHAPETEXTINFO" val="&lt;ShapeTextInfo&gt;&lt;TableIndex row=&quot;-1&quot; col=&quot;-1&quot;&gt;&lt;linesCount val=&quot;1&quot;/&gt;&lt;lineCharCount val=&quot;14&quot;/&gt;&lt;/TableIndex&gt;&lt;/ShapeTextInfo&gt;"/>
</p:tagLst>
</file>

<file path=ppt/tags/tag59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A45CB60-6220-41CF-A042-1CAF4F12DF97}_30.png&quot;/&gt;&lt;left val=&quot;188&quot;/&gt;&lt;top val=&quot;228&quot;/&gt;&lt;width val=&quot;106&quot;/&gt;&lt;height val=&quot;26&quot;/&gt;&lt;hasText val=&quot;1&quot;/&gt;&lt;/Image&gt;&lt;/ThreeDShapeInfo&gt;"/>
  <p:tag name="PRESENTER_SHAPETEXTINFO" val="&lt;ShapeTextInfo&gt;&lt;TableIndex row=&quot;-1&quot; col=&quot;-1&quot;&gt;&lt;linesCount val=&quot;1&quot;/&gt;&lt;lineCharCount val=&quot;19&quot;/&gt;&lt;/TableIndex&gt;&lt;/ShapeTextInfo&gt;"/>
</p:tagLst>
</file>

<file path=ppt/tags/tag59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1BF3942D-69F0-4931-90E2-276F71030D8B}_30.png&quot;/&gt;&lt;left val=&quot;103&quot;/&gt;&lt;top val=&quot;291&quot;/&gt;&lt;width val=&quot;107&quot;/&gt;&lt;height val=&quot;26&quot;/&gt;&lt;hasText val=&quot;1&quot;/&gt;&lt;/Image&gt;&lt;/ThreeDShapeInfo&gt;"/>
  <p:tag name="PRESENTER_SHAPETEXTINFO" val="&lt;ShapeTextInfo&gt;&lt;TableIndex row=&quot;-1&quot; col=&quot;-1&quot;&gt;&lt;linesCount val=&quot;1&quot;/&gt;&lt;lineCharCount val=&quot;17&quot;/&gt;&lt;/TableIndex&gt;&lt;/ShapeTextInfo&gt;"/>
</p:tagLst>
</file>

<file path=ppt/tags/tag597.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SharedMemoryCoherence\data\asimages\{58474DF0-3C28-48FF-B80B-572C1D5DC338}_1.png_crop.png&quot;/&gt;&lt;left val=&quot;178&quot;/&gt;&lt;top val=&quot;435&quot;/&gt;&lt;width val=&quot;132&quot;/&gt;&lt;height val=&quot;14&quot;/&gt;&lt;hasText val=&quot;1&quot;/&gt;&lt;paraId val=&quot;1&quot;/&gt;&lt;/Image&gt;&lt;Image&gt;&lt;filename val=&quot;C:\Users\sanmi\Documents\My Adobe Presentations\ece552-SharedMemoryCoherence\data\asimages\{697F010F-FCD3-4F12-A57E-E463E6F4524D}_1.png_crop.png&quot;/&gt;&lt;left val=&quot;178&quot;/&gt;&lt;top val=&quot;454&quot;/&gt;&lt;width val=&quot;278&quot;/&gt;&lt;height val=&quot;14&quot;/&gt;&lt;hasText val=&quot;1&quot;/&gt;&lt;paraId val=&quot;2&quot;/&gt;&lt;/Image&gt;&lt;/TextEffect&gt;"/>
  <p:tag name="PRESENTER_SHAPETEXTINFO" val="&lt;ShapeTextInfo&gt;&lt;TableIndex row=&quot;-1&quot; col=&quot;-1&quot;&gt;&lt;linesCount val=&quot;2&quot;/&gt;&lt;lineCharCount val=&quot;18&quot;/&gt;&lt;lineCharCount val=&quot;43&quot;/&gt;&lt;/TableIndex&gt;&lt;/ShapeTextInfo&gt;"/>
</p:tagLst>
</file>

<file path=ppt/tags/tag59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690306F0-72C5-4950-A488-A9A0ACE6BF1F}_30.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599.xml><?xml version="1.0" encoding="utf-8"?>
<p:tagLst xmlns:a="http://schemas.openxmlformats.org/drawingml/2006/main" xmlns:r="http://schemas.openxmlformats.org/officeDocument/2006/relationships" xmlns:p="http://schemas.openxmlformats.org/presentationml/2006/main">
  <p:tag name="HTML_SHAPEINFO" val="&lt;SlideThumbPath val=&quot;Slide31.PNG&quot;/&gt;"/>
  <p:tag name="PPSNARRATION" val="31,883145026,C:\Users\sanmi\GoogleDrive\UWMdrive\Courses\ECE552\ece552-lec18_SharedMemoryCoherence_pptx\Media.ppcx"/>
</p:tagLst>
</file>

<file path=ppt/tags/tag60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996138F-380A-4CCE-81DC-0792B6113E47}_31.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60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DA34F7D2-B268-4D0A-8733-87F685C83C98}_31.png&quot;/&gt;&lt;left val=&quot;43&quot;/&gt;&lt;top val=&quot;114&quot;/&gt;&lt;width val=&quot;680&quot;/&gt;&lt;height val=&quot;141&quot;/&gt;&lt;hasText val=&quot;1&quot;/&gt;&lt;/Image&gt;&lt;/ThreeDShapeInfo&gt;"/>
  <p:tag name="PRESENTER_SHAPETEXTINFO" val="&lt;ShapeTextInfo&gt;&lt;TableIndex row=&quot;-1&quot; col=&quot;-1&quot;&gt;&lt;linesCount val=&quot;4&quot;/&gt;&lt;lineCharCount val=&quot;53&quot;/&gt;&lt;lineCharCount val=&quot;48&quot;/&gt;&lt;lineCharCount val=&quot;55&quot;/&gt;&lt;lineCharCount val=&quot;52&quot;/&gt;&lt;/TableIndex&gt;&lt;/ShapeTextInfo&gt;"/>
</p:tagLst>
</file>

<file path=ppt/tags/tag60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D986C97C-0D7A-47AE-9A4E-F892E93DD850}_31.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603.xml><?xml version="1.0" encoding="utf-8"?>
<p:tagLst xmlns:a="http://schemas.openxmlformats.org/drawingml/2006/main" xmlns:r="http://schemas.openxmlformats.org/officeDocument/2006/relationships" xmlns:p="http://schemas.openxmlformats.org/presentationml/2006/main">
  <p:tag name="PRESENTER_SHAPEINFO" val="&lt;ThreeDShapeInfo&gt;&lt;uuid val=&quot;{05214E90-3F7F-4BEB-91C6-AB919801E95D}&quot;/&gt;&lt;isInvalidForFieldText val=&quot;0&quot;/&gt;&lt;Image&gt;&lt;filename val=&quot;C:\Users\sanmi\Documents\My Adobe Presentations\ece552-SharedMemoryCoherence\data\asimages\{05214E90-3F7F-4BEB-91C6-AB919801E95D}_31.png&quot;/&gt;&lt;left val=&quot;543&quot;/&gt;&lt;top val=&quot;408&quot;/&gt;&lt;width val=&quot;116&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604.xml><?xml version="1.0" encoding="utf-8"?>
<p:tagLst xmlns:a="http://schemas.openxmlformats.org/drawingml/2006/main" xmlns:r="http://schemas.openxmlformats.org/officeDocument/2006/relationships" xmlns:p="http://schemas.openxmlformats.org/presentationml/2006/main">
  <p:tag name="PRESENTER_SHAPEINFO" val="&lt;ThreeDShapeInfo&gt;&lt;uuid val=&quot;{1872DC62-1F8C-4B00-B3EE-21EFF0CB1322}&quot;/&gt;&lt;isInvalidForFieldText val=&quot;0&quot;/&gt;&lt;Image&gt;&lt;filename val=&quot;C:\Users\sanmi\Documents\My Adobe Presentations\ece552-SharedMemoryCoherence\data\asimages\{1872DC62-1F8C-4B00-B3EE-21EFF0CB1322}_31.png&quot;/&gt;&lt;left val=&quot;640&quot;/&gt;&lt;top val=&quot;356&quot;/&gt;&lt;width val=&quot;13&quot;/&gt;&lt;height val=&quot;20&quot;/&gt;&lt;hasText val=&quot;1&quot;/&gt;&lt;/Image&gt;&lt;/ThreeDShapeInfo&gt;"/>
</p:tagLst>
</file>

<file path=ppt/tags/tag6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06.xml><?xml version="1.0" encoding="utf-8"?>
<p:tagLst xmlns:a="http://schemas.openxmlformats.org/drawingml/2006/main" xmlns:r="http://schemas.openxmlformats.org/officeDocument/2006/relationships" xmlns:p="http://schemas.openxmlformats.org/presentationml/2006/main">
  <p:tag name="PRESENTER_SHAPEINFO" val="&lt;ThreeDShapeInfo&gt;&lt;uuid val=&quot;{18775D38-5799-4150-BB9D-D1FFA7256701}&quot;/&gt;&lt;isInvalidForFieldText val=&quot;0&quot;/&gt;&lt;Image&gt;&lt;filename val=&quot;C:\Users\sanmi\Documents\My Adobe Presentations\ece552-SharedMemoryCoherence\data\asimages\{18775D38-5799-4150-BB9D-D1FFA7256701}_31.png&quot;/&gt;&lt;left val=&quot;606&quot;/&gt;&lt;top val=&quot;367&quot;/&gt;&lt;width val=&quot;80&quot;/&gt;&lt;height val=&quot;26&quot;/&gt;&lt;hasText val=&quot;1&quot;/&gt;&lt;/Image&gt;&lt;/ThreeDShapeInfo&gt;"/>
  <p:tag name="PRESENTER_SHAPETEXTINFO" val="&lt;ShapeTextInfo&gt;&lt;TableIndex row=&quot;-1&quot; col=&quot;-1&quot;&gt;&lt;linesCount val=&quot;0&quot;/&gt;&lt;/TableIndex&gt;&lt;/ShapeTextInfo&gt;"/>
</p:tagLst>
</file>

<file path=ppt/tags/tag607.xml><?xml version="1.0" encoding="utf-8"?>
<p:tagLst xmlns:a="http://schemas.openxmlformats.org/drawingml/2006/main" xmlns:r="http://schemas.openxmlformats.org/officeDocument/2006/relationships" xmlns:p="http://schemas.openxmlformats.org/presentationml/2006/main">
  <p:tag name="PRESENTER_SHAPEINFO" val="&lt;ThreeDShapeInfo&gt;&lt;uuid val=&quot;{3014224B-CFB8-4AA9-999E-E0DD32724DEB}&quot;/&gt;&lt;isInvalidForFieldText val=&quot;0&quot;/&gt;&lt;Image&gt;&lt;filename val=&quot;C:\Users\sanmi\Documents\My Adobe Presentations\ece552-SharedMemoryCoherence\data\asimages\{3014224B-CFB8-4AA9-999E-E0DD32724DEB}_31.png&quot;/&gt;&lt;left val=&quot;563&quot;/&gt;&lt;top val=&quot;449&quot;/&gt;&lt;width val=&quot;78&quot;/&gt;&lt;height val=&quot;38&quot;/&gt;&lt;hasText val=&quot;1&quot;/&gt;&lt;/Image&gt;&lt;/ThreeDShapeInfo&gt;"/>
  <p:tag name="PRESENTER_SHAPETEXTINFO" val="&lt;ShapeTextInfo&gt;&lt;TableIndex row=&quot;-1&quot; col=&quot;-1&quot;&gt;&lt;linesCount val=&quot;1&quot;/&gt;&lt;lineCharCount val=&quot;4&quot;/&gt;&lt;/TableIndex&gt;&lt;/ShapeTextInfo&gt;"/>
</p:tagLst>
</file>

<file path=ppt/tags/tag608.xml><?xml version="1.0" encoding="utf-8"?>
<p:tagLst xmlns:a="http://schemas.openxmlformats.org/drawingml/2006/main" xmlns:r="http://schemas.openxmlformats.org/officeDocument/2006/relationships" xmlns:p="http://schemas.openxmlformats.org/presentationml/2006/main">
  <p:tag name="PRESENTER_SHAPEINFO" val="&lt;ThreeDShapeInfo&gt;&lt;uuid val=&quot;{4F5424C0-06AD-4424-8174-15ADAA9B7271}&quot;/&gt;&lt;isInvalidForFieldText val=&quot;0&quot;/&gt;&lt;Image&gt;&lt;filename val=&quot;C:\Users\sanmi\Documents\My Adobe Presentations\ece552-SharedMemoryCoherence\data\asimages\{4F5424C0-06AD-4424-8174-15ADAA9B7271}_31.png&quot;/&gt;&lt;left val=&quot;627&quot;/&gt;&lt;top val=&quot;327&quot;/&gt;&lt;width val=&quot;38&quot;/&gt;&lt;height val=&quot;45&quot;/&gt;&lt;hasText val=&quot;1&quot;/&gt;&lt;/Image&gt;&lt;/ThreeDShapeInfo&gt;"/>
  <p:tag name="PRESENTER_SHAPETEXTINFO" val="&lt;ShapeTextInfo&gt;&lt;TableIndex row=&quot;-1&quot; col=&quot;-1&quot;&gt;&lt;linesCount val=&quot;1&quot;/&gt;&lt;lineCharCount val=&quot;1&quot;/&gt;&lt;/TableIndex&gt;&lt;/ShapeTextInfo&gt;"/>
</p:tagLst>
</file>

<file path=ppt/tags/tag609.xml><?xml version="1.0" encoding="utf-8"?>
<p:tagLst xmlns:a="http://schemas.openxmlformats.org/drawingml/2006/main" xmlns:r="http://schemas.openxmlformats.org/officeDocument/2006/relationships" xmlns:p="http://schemas.openxmlformats.org/presentationml/2006/main">
  <p:tag name="PRESENTER_SHAPEINFO" val="&lt;ThreeDShapeInfo&gt;&lt;uuid val=&quot;{F1E7727C-8A7D-4A7E-8B21-A3B18DDEC590}&quot;/&gt;&lt;isInvalidForFieldText val=&quot;0&quot;/&gt;&lt;Image&gt;&lt;filename val=&quot;C:\Users\sanmi\Documents\My Adobe Presentations\ece552-SharedMemoryCoherence\data\asimages\{F1E7727C-8A7D-4A7E-8B21-A3B18DDEC590}_31.png&quot;/&gt;&lt;left val=&quot;554&quot;/&gt;&lt;top val=&quot;356&quot;/&gt;&lt;width val=&quot;13&quot;/&gt;&lt;height val=&quot;20&quot;/&gt;&lt;hasText val=&quot;1&quot;/&gt;&lt;/Image&gt;&lt;/ThreeDShapeInfo&gt;"/>
</p:tagLst>
</file>

<file path=ppt/tags/tag6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1.xml><?xml version="1.0" encoding="utf-8"?>
<p:tagLst xmlns:a="http://schemas.openxmlformats.org/drawingml/2006/main" xmlns:r="http://schemas.openxmlformats.org/officeDocument/2006/relationships" xmlns:p="http://schemas.openxmlformats.org/presentationml/2006/main">
  <p:tag name="PRESENTER_SHAPEINFO" val="&lt;ThreeDShapeInfo&gt;&lt;uuid val=&quot;{FF179C5F-94F9-4AD4-B4ED-F99A440CBEE7}&quot;/&gt;&lt;isInvalidForFieldText val=&quot;0&quot;/&gt;&lt;Image&gt;&lt;filename val=&quot;C:\Users\sanmi\Documents\My Adobe Presentations\ece552-SharedMemoryCoherence\data\asimages\{FF179C5F-94F9-4AD4-B4ED-F99A440CBEE7}_31.png&quot;/&gt;&lt;left val=&quot;521&quot;/&gt;&lt;top val=&quot;367&quot;/&gt;&lt;width val=&quot;80&quot;/&gt;&lt;height val=&quot;26&quot;/&gt;&lt;hasText val=&quot;1&quot;/&gt;&lt;/Image&gt;&lt;/ThreeDShapeInfo&gt;"/>
  <p:tag name="PRESENTER_SHAPETEXTINFO" val="&lt;ShapeTextInfo&gt;&lt;TableIndex row=&quot;-1&quot; col=&quot;-1&quot;&gt;&lt;linesCount val=&quot;0&quot;/&gt;&lt;/TableIndex&gt;&lt;/ShapeTextInfo&gt;"/>
</p:tagLst>
</file>

<file path=ppt/tags/tag612.xml><?xml version="1.0" encoding="utf-8"?>
<p:tagLst xmlns:a="http://schemas.openxmlformats.org/drawingml/2006/main" xmlns:r="http://schemas.openxmlformats.org/officeDocument/2006/relationships" xmlns:p="http://schemas.openxmlformats.org/presentationml/2006/main">
  <p:tag name="PRESENTER_SHAPEINFO" val="&lt;ThreeDShapeInfo&gt;&lt;uuid val=&quot;{2CDECA3A-A6DC-4690-96B7-0EA3054939A7}&quot;/&gt;&lt;isInvalidForFieldText val=&quot;0&quot;/&gt;&lt;Image&gt;&lt;filename val=&quot;C:\Users\sanmi\Documents\My Adobe Presentations\ece552-SharedMemoryCoherence\data\asimages\{2CDECA3A-A6DC-4690-96B7-0EA3054939A7}_31.png&quot;/&gt;&lt;left val=&quot;541&quot;/&gt;&lt;top val=&quot;327&quot;/&gt;&lt;width val=&quot;39&quot;/&gt;&lt;height val=&quot;45&quot;/&gt;&lt;hasText val=&quot;1&quot;/&gt;&lt;/Image&gt;&lt;/ThreeDShapeInfo&gt;"/>
  <p:tag name="PRESENTER_SHAPETEXTINFO" val="&lt;ShapeTextInfo&gt;&lt;TableIndex row=&quot;-1&quot; col=&quot;-1&quot;&gt;&lt;linesCount val=&quot;1&quot;/&gt;&lt;lineCharCount val=&quot;1&quot;/&gt;&lt;/TableIndex&gt;&lt;/ShapeTextInfo&gt;"/>
</p:tagLst>
</file>

<file path=ppt/tags/tag61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1F29726D-B5A6-4D4E-A08D-D2AE622A92A7}_31.png&quot;/&gt;&lt;left val=&quot;7&quot;/&gt;&lt;top val=&quot;264&quot;/&gt;&lt;width val=&quot;244&quot;/&gt;&lt;height val=&quot;250&quot;/&gt;&lt;hasText val=&quot;1&quot;/&gt;&lt;/Image&gt;&lt;/ThreeDShapeInfo&gt;"/>
  <p:tag name="PRESENTER_SHAPETEXTINFO" val="&lt;ShapeTextInfo&gt;&lt;TableIndex row=&quot;-1&quot; col=&quot;-1&quot;&gt;&lt;linesCount val=&quot;10&quot;/&gt;&lt;lineCharCount val=&quot;16&quot;/&gt;&lt;lineCharCount val=&quot;27&quot;/&gt;&lt;lineCharCount val=&quot;22&quot;/&gt;&lt;lineCharCount val=&quot;9&quot;/&gt;&lt;lineCharCount val=&quot;22&quot;/&gt;&lt;lineCharCount val=&quot;22&quot;/&gt;&lt;lineCharCount val=&quot;9&quot;/&gt;&lt;lineCharCount val=&quot;22&quot;/&gt;&lt;lineCharCount val=&quot;22&quot;/&gt;&lt;lineCharCount val=&quot;8&quot;/&gt;&lt;/TableIndex&gt;&lt;/ShapeTextInfo&gt;"/>
</p:tagLst>
</file>

<file path=ppt/tags/tag61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5AD8479A-7F68-480F-8F36-248EFBDE144A}_31.png&quot;/&gt;&lt;left val=&quot;221&quot;/&gt;&lt;top val=&quot;264&quot;/&gt;&lt;width val=&quot;244&quot;/&gt;&lt;height val=&quot;252&quot;/&gt;&lt;hasText val=&quot;1&quot;/&gt;&lt;/Image&gt;&lt;/ThreeDShapeInfo&gt;"/>
  <p:tag name="PRESENTER_SHAPETEXTINFO" val="&lt;ShapeTextInfo&gt;&lt;TableIndex row=&quot;-1&quot; col=&quot;-1&quot;&gt;&lt;linesCount val=&quot;12&quot;/&gt;&lt;lineCharCount val=&quot;16&quot;/&gt;&lt;lineCharCount val=&quot;27&quot;/&gt;&lt;lineCharCount val=&quot;22&quot;/&gt;&lt;lineCharCount val=&quot;9&quot;/&gt;&lt;lineCharCount val=&quot;22&quot;/&gt;&lt;lineCharCount val=&quot;22&quot;/&gt;&lt;lineCharCount val=&quot;9&quot;/&gt;&lt;lineCharCount val=&quot;22&quot;/&gt;&lt;lineCharCount val=&quot;9&quot;/&gt;&lt;lineCharCount val=&quot;22&quot;/&gt;&lt;lineCharCount val=&quot;22&quot;/&gt;&lt;lineCharCount val=&quot;8&quot;/&gt;&lt;/TableIndex&gt;&lt;/ShapeTextInfo&gt;"/>
</p:tagLst>
</file>

<file path=ppt/tags/tag61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D8ADB1A9-7417-4AAA-9ABF-D083DA53AC83}_31.png&quot;/&gt;&lt;left val=&quot;465&quot;/&gt;&lt;top val=&quot;481&quot;/&gt;&lt;width val=&quot;135&quot;/&gt;&lt;height val=&quot;36&quot;/&gt;&lt;hasText val=&quot;1&quot;/&gt;&lt;/Image&gt;&lt;/ThreeDShapeInfo&gt;"/>
  <p:tag name="PRESENTER_SHAPETEXTINFO" val="&lt;ShapeTextInfo&gt;&lt;TableIndex row=&quot;-1&quot; col=&quot;-1&quot;&gt;&lt;linesCount val=&quot;1&quot;/&gt;&lt;lineCharCount val=&quot;6&quot;/&gt;&lt;/TableIndex&gt;&lt;/ShapeTextInfo&gt;"/>
</p:tagLst>
</file>

<file path=ppt/tags/tag61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5D98156C-DCD6-4C07-AC18-DA87B66E3C85}_31.png&quot;/&gt;&lt;left val=&quot;593&quot;/&gt;&lt;top val=&quot;480&quot;/&gt;&lt;width val=&quot;135&quot;/&gt;&lt;height val=&quot;36&quot;/&gt;&lt;hasText val=&quot;1&quot;/&gt;&lt;/Image&gt;&lt;/ThreeDShapeInfo&gt;"/>
  <p:tag name="PRESENTER_SHAPETEXTINFO" val="&lt;ShapeTextInfo&gt;&lt;TableIndex row=&quot;-1&quot; col=&quot;-1&quot;&gt;&lt;linesCount val=&quot;1&quot;/&gt;&lt;lineCharCount val=&quot;6&quot;/&gt;&lt;/TableIndex&gt;&lt;/ShapeTextInfo&gt;"/>
</p:tagLst>
</file>

<file path=ppt/tags/tag6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9.xml><?xml version="1.0" encoding="utf-8"?>
<p:tagLst xmlns:a="http://schemas.openxmlformats.org/drawingml/2006/main" xmlns:r="http://schemas.openxmlformats.org/officeDocument/2006/relationships" xmlns:p="http://schemas.openxmlformats.org/presentationml/2006/main">
  <p:tag name="HTML_SHAPEINFO" val="&lt;SlideThumbPath val=&quot;Slide32.PNG&quot;/&gt;"/>
  <p:tag name="PPSNARRATION" val="32,883145026,C:\Users\sanmi\GoogleDrive\UWMdrive\Courses\ECE552\ece552-lec18_SharedMemoryCoherence_pptx\Media.ppcx"/>
</p:tagLst>
</file>

<file path=ppt/tags/tag62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95D62B9B-592F-4068-8F17-65CA819EC0A8}_3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62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1398B6F8-5F53-4EA8-BFF4-4131DC7980BA}_32.png&quot;/&gt;&lt;left val=&quot;43&quot;/&gt;&lt;top val=&quot;114&quot;/&gt;&lt;width val=&quot;680&quot;/&gt;&lt;height val=&quot;141&quot;/&gt;&lt;hasText val=&quot;1&quot;/&gt;&lt;/Image&gt;&lt;/ThreeDShapeInfo&gt;"/>
  <p:tag name="PRESENTER_SHAPETEXTINFO" val="&lt;ShapeTextInfo&gt;&lt;TableIndex row=&quot;-1&quot; col=&quot;-1&quot;&gt;&lt;linesCount val=&quot;4&quot;/&gt;&lt;lineCharCount val=&quot;53&quot;/&gt;&lt;lineCharCount val=&quot;48&quot;/&gt;&lt;lineCharCount val=&quot;55&quot;/&gt;&lt;lineCharCount val=&quot;52&quot;/&gt;&lt;/TableIndex&gt;&lt;/ShapeTextInfo&gt;"/>
</p:tagLst>
</file>

<file path=ppt/tags/tag62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A053F0A1-04B5-4CFC-A060-8B9140D4A141}_32.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62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8D85405A-10CA-430F-9087-B9C55254E659}_32.png&quot;/&gt;&lt;left val=&quot;7&quot;/&gt;&lt;top val=&quot;264&quot;/&gt;&lt;width val=&quot;244&quot;/&gt;&lt;height val=&quot;250&quot;/&gt;&lt;hasText val=&quot;1&quot;/&gt;&lt;/Image&gt;&lt;/ThreeDShapeInfo&gt;"/>
  <p:tag name="PRESENTER_SHAPETEXTINFO" val="&lt;ShapeTextInfo&gt;&lt;TableIndex row=&quot;-1&quot; col=&quot;-1&quot;&gt;&lt;linesCount val=&quot;10&quot;/&gt;&lt;lineCharCount val=&quot;16&quot;/&gt;&lt;lineCharCount val=&quot;27&quot;/&gt;&lt;lineCharCount val=&quot;22&quot;/&gt;&lt;lineCharCount val=&quot;9&quot;/&gt;&lt;lineCharCount val=&quot;22&quot;/&gt;&lt;lineCharCount val=&quot;22&quot;/&gt;&lt;lineCharCount val=&quot;9&quot;/&gt;&lt;lineCharCount val=&quot;22&quot;/&gt;&lt;lineCharCount val=&quot;22&quot;/&gt;&lt;lineCharCount val=&quot;8&quot;/&gt;&lt;/TableIndex&gt;&lt;/ShapeTextInfo&gt;"/>
</p:tagLst>
</file>

<file path=ppt/tags/tag62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ABE69954-CA6D-45D6-B138-ADE3C821C39C}_32.png&quot;/&gt;&lt;left val=&quot;221&quot;/&gt;&lt;top val=&quot;264&quot;/&gt;&lt;width val=&quot;244&quot;/&gt;&lt;height val=&quot;252&quot;/&gt;&lt;hasText val=&quot;1&quot;/&gt;&lt;/Image&gt;&lt;/ThreeDShapeInfo&gt;"/>
  <p:tag name="PRESENTER_SHAPETEXTINFO" val="&lt;ShapeTextInfo&gt;&lt;TableIndex row=&quot;-1&quot; col=&quot;-1&quot;&gt;&lt;linesCount val=&quot;12&quot;/&gt;&lt;lineCharCount val=&quot;16&quot;/&gt;&lt;lineCharCount val=&quot;27&quot;/&gt;&lt;lineCharCount val=&quot;22&quot;/&gt;&lt;lineCharCount val=&quot;9&quot;/&gt;&lt;lineCharCount val=&quot;22&quot;/&gt;&lt;lineCharCount val=&quot;22&quot;/&gt;&lt;lineCharCount val=&quot;9&quot;/&gt;&lt;lineCharCount val=&quot;22&quot;/&gt;&lt;lineCharCount val=&quot;9&quot;/&gt;&lt;lineCharCount val=&quot;22&quot;/&gt;&lt;lineCharCount val=&quot;22&quot;/&gt;&lt;lineCharCount val=&quot;8&quot;/&gt;&lt;/TableIndex&gt;&lt;/ShapeTextInfo&gt;"/>
</p:tagLst>
</file>

<file path=ppt/tags/tag6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7.xml><?xml version="1.0" encoding="utf-8"?>
<p:tagLst xmlns:a="http://schemas.openxmlformats.org/drawingml/2006/main" xmlns:r="http://schemas.openxmlformats.org/officeDocument/2006/relationships" xmlns:p="http://schemas.openxmlformats.org/presentationml/2006/main">
  <p:tag name="PRESENTER_SHAPEINFO" val="&lt;ThreeDShapeInfo&gt;&lt;uuid val=&quot;{26FC4BF6-5ED1-4F48-903C-595A5A244A0A}&quot;/&gt;&lt;isInvalidForFieldText val=&quot;0&quot;/&gt;&lt;Image&gt;&lt;filename val=&quot;C:\Users\sanmi\Documents\My Adobe Presentations\ece552-SharedMemoryCoherence\data\asimages\{26FC4BF6-5ED1-4F48-903C-595A5A244A0A}_32.png&quot;/&gt;&lt;left val=&quot;543&quot;/&gt;&lt;top val=&quot;408&quot;/&gt;&lt;width val=&quot;116&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628.xml><?xml version="1.0" encoding="utf-8"?>
<p:tagLst xmlns:a="http://schemas.openxmlformats.org/drawingml/2006/main" xmlns:r="http://schemas.openxmlformats.org/officeDocument/2006/relationships" xmlns:p="http://schemas.openxmlformats.org/presentationml/2006/main">
  <p:tag name="PRESENTER_SHAPEINFO" val="&lt;ThreeDShapeInfo&gt;&lt;uuid val=&quot;{B5414879-70B2-40FE-BC9B-12307A6AAC5E}&quot;/&gt;&lt;isInvalidForFieldText val=&quot;0&quot;/&gt;&lt;Image&gt;&lt;filename val=&quot;C:\Users\sanmi\Documents\My Adobe Presentations\ece552-SharedMemoryCoherence\data\asimages\{B5414879-70B2-40FE-BC9B-12307A6AAC5E}_32.png&quot;/&gt;&lt;left val=&quot;640&quot;/&gt;&lt;top val=&quot;356&quot;/&gt;&lt;width val=&quot;13&quot;/&gt;&lt;height val=&quot;20&quot;/&gt;&lt;hasText val=&quot;1&quot;/&gt;&lt;/Image&gt;&lt;/ThreeDShapeInfo&gt;"/>
</p:tagLst>
</file>

<file path=ppt/tags/tag6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30.xml><?xml version="1.0" encoding="utf-8"?>
<p:tagLst xmlns:a="http://schemas.openxmlformats.org/drawingml/2006/main" xmlns:r="http://schemas.openxmlformats.org/officeDocument/2006/relationships" xmlns:p="http://schemas.openxmlformats.org/presentationml/2006/main">
  <p:tag name="PRESENTER_SHAPEINFO" val="&lt;ThreeDShapeInfo&gt;&lt;uuid val=&quot;{E25EE066-2A47-4047-B388-0ED1298872A0}&quot;/&gt;&lt;isInvalidForFieldText val=&quot;0&quot;/&gt;&lt;Image&gt;&lt;filename val=&quot;C:\Users\sanmi\Documents\My Adobe Presentations\ece552-SharedMemoryCoherence\data\asimages\{E25EE066-2A47-4047-B388-0ED1298872A0}_32.png&quot;/&gt;&lt;left val=&quot;606&quot;/&gt;&lt;top val=&quot;363&quot;/&gt;&lt;width val=&quot;80&quot;/&gt;&lt;height val=&quot;39&quot;/&gt;&lt;hasText val=&quot;1&quot;/&gt;&lt;/Image&gt;&lt;/ThreeDShapeInfo&gt;"/>
  <p:tag name="PRESENTER_SHAPETEXTINFO" val="&lt;ShapeTextInfo&gt;&lt;TableIndex row=&quot;-1&quot; col=&quot;-1&quot;&gt;&lt;linesCount val=&quot;1&quot;/&gt;&lt;lineCharCount val=&quot;4&quot;/&gt;&lt;/TableIndex&gt;&lt;/ShapeTextInfo&gt;"/>
</p:tagLst>
</file>

<file path=ppt/tags/tag631.xml><?xml version="1.0" encoding="utf-8"?>
<p:tagLst xmlns:a="http://schemas.openxmlformats.org/drawingml/2006/main" xmlns:r="http://schemas.openxmlformats.org/officeDocument/2006/relationships" xmlns:p="http://schemas.openxmlformats.org/presentationml/2006/main">
  <p:tag name="PRESENTER_SHAPEINFO" val="&lt;ThreeDShapeInfo&gt;&lt;uuid val=&quot;{56E3AA0D-2522-47CE-8737-EB6CFBDD759D}&quot;/&gt;&lt;isInvalidForFieldText val=&quot;0&quot;/&gt;&lt;Image&gt;&lt;filename val=&quot;C:\Users\sanmi\Documents\My Adobe Presentations\ece552-SharedMemoryCoherence\data\asimages\{56E3AA0D-2522-47CE-8737-EB6CFBDD759D}_32.png&quot;/&gt;&lt;left val=&quot;563&quot;/&gt;&lt;top val=&quot;449&quot;/&gt;&lt;width val=&quot;78&quot;/&gt;&lt;height val=&quot;38&quot;/&gt;&lt;hasText val=&quot;1&quot;/&gt;&lt;/Image&gt;&lt;/ThreeDShapeInfo&gt;"/>
  <p:tag name="PRESENTER_SHAPETEXTINFO" val="&lt;ShapeTextInfo&gt;&lt;TableIndex row=&quot;-1&quot; col=&quot;-1&quot;&gt;&lt;linesCount val=&quot;1&quot;/&gt;&lt;lineCharCount val=&quot;4&quot;/&gt;&lt;/TableIndex&gt;&lt;/ShapeTextInfo&gt;"/>
</p:tagLst>
</file>

<file path=ppt/tags/tag632.xml><?xml version="1.0" encoding="utf-8"?>
<p:tagLst xmlns:a="http://schemas.openxmlformats.org/drawingml/2006/main" xmlns:r="http://schemas.openxmlformats.org/officeDocument/2006/relationships" xmlns:p="http://schemas.openxmlformats.org/presentationml/2006/main">
  <p:tag name="PRESENTER_SHAPEINFO" val="&lt;ThreeDShapeInfo&gt;&lt;uuid val=&quot;{7E8AF231-6B83-44BC-B0FB-EE28D72F1D41}&quot;/&gt;&lt;isInvalidForFieldText val=&quot;0&quot;/&gt;&lt;Image&gt;&lt;filename val=&quot;C:\Users\sanmi\Documents\My Adobe Presentations\ece552-SharedMemoryCoherence\data\asimages\{7E8AF231-6B83-44BC-B0FB-EE28D72F1D41}_32.png&quot;/&gt;&lt;left val=&quot;627&quot;/&gt;&lt;top val=&quot;327&quot;/&gt;&lt;width val=&quot;38&quot;/&gt;&lt;height val=&quot;45&quot;/&gt;&lt;hasText val=&quot;1&quot;/&gt;&lt;/Image&gt;&lt;/ThreeDShapeInfo&gt;"/>
  <p:tag name="PRESENTER_SHAPETEXTINFO" val="&lt;ShapeTextInfo&gt;&lt;TableIndex row=&quot;-1&quot; col=&quot;-1&quot;&gt;&lt;linesCount val=&quot;1&quot;/&gt;&lt;lineCharCount val=&quot;1&quot;/&gt;&lt;/TableIndex&gt;&lt;/ShapeTextInfo&gt;"/>
</p:tagLst>
</file>

<file path=ppt/tags/tag633.xml><?xml version="1.0" encoding="utf-8"?>
<p:tagLst xmlns:a="http://schemas.openxmlformats.org/drawingml/2006/main" xmlns:r="http://schemas.openxmlformats.org/officeDocument/2006/relationships" xmlns:p="http://schemas.openxmlformats.org/presentationml/2006/main">
  <p:tag name="PRESENTER_SHAPEINFO" val="&lt;ThreeDShapeInfo&gt;&lt;uuid val=&quot;{B5A682DF-33E2-467A-84E0-2E916A85A685}&quot;/&gt;&lt;isInvalidForFieldText val=&quot;0&quot;/&gt;&lt;Image&gt;&lt;filename val=&quot;C:\Users\sanmi\Documents\My Adobe Presentations\ece552-SharedMemoryCoherence\data\asimages\{B5A682DF-33E2-467A-84E0-2E916A85A685}_32.png&quot;/&gt;&lt;left val=&quot;554&quot;/&gt;&lt;top val=&quot;356&quot;/&gt;&lt;width val=&quot;13&quot;/&gt;&lt;height val=&quot;20&quot;/&gt;&lt;hasText val=&quot;1&quot;/&gt;&lt;/Image&gt;&lt;/ThreeDShapeInfo&gt;"/>
</p:tagLst>
</file>

<file path=ppt/tags/tag6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35.xml><?xml version="1.0" encoding="utf-8"?>
<p:tagLst xmlns:a="http://schemas.openxmlformats.org/drawingml/2006/main" xmlns:r="http://schemas.openxmlformats.org/officeDocument/2006/relationships" xmlns:p="http://schemas.openxmlformats.org/presentationml/2006/main">
  <p:tag name="PRESENTER_SHAPEINFO" val="&lt;ThreeDShapeInfo&gt;&lt;uuid val=&quot;{5CBBEE06-C418-45D7-89ED-26EFAA36E675}&quot;/&gt;&lt;isInvalidForFieldText val=&quot;0&quot;/&gt;&lt;Image&gt;&lt;filename val=&quot;C:\Users\sanmi\Documents\My Adobe Presentations\ece552-SharedMemoryCoherence\data\asimages\{5CBBEE06-C418-45D7-89ED-26EFAA36E675}_32.png&quot;/&gt;&lt;left val=&quot;521&quot;/&gt;&lt;top val=&quot;363&quot;/&gt;&lt;width val=&quot;80&quot;/&gt;&lt;height val=&quot;39&quot;/&gt;&lt;hasText val=&quot;1&quot;/&gt;&lt;/Image&gt;&lt;/ThreeDShapeInfo&gt;"/>
  <p:tag name="PRESENTER_SHAPETEXTINFO" val="&lt;ShapeTextInfo&gt;&lt;TableIndex row=&quot;-1&quot; col=&quot;-1&quot;&gt;&lt;linesCount val=&quot;1&quot;/&gt;&lt;lineCharCount val=&quot;4&quot;/&gt;&lt;/TableIndex&gt;&lt;/ShapeTextInfo&gt;"/>
</p:tagLst>
</file>

<file path=ppt/tags/tag636.xml><?xml version="1.0" encoding="utf-8"?>
<p:tagLst xmlns:a="http://schemas.openxmlformats.org/drawingml/2006/main" xmlns:r="http://schemas.openxmlformats.org/officeDocument/2006/relationships" xmlns:p="http://schemas.openxmlformats.org/presentationml/2006/main">
  <p:tag name="PRESENTER_SHAPEINFO" val="&lt;ThreeDShapeInfo&gt;&lt;uuid val=&quot;{41458CDA-7D98-4A1C-A2C7-71AEC4D726FA}&quot;/&gt;&lt;isInvalidForFieldText val=&quot;0&quot;/&gt;&lt;Image&gt;&lt;filename val=&quot;C:\Users\sanmi\Documents\My Adobe Presentations\ece552-SharedMemoryCoherence\data\asimages\{41458CDA-7D98-4A1C-A2C7-71AEC4D726FA}_32.png&quot;/&gt;&lt;left val=&quot;541&quot;/&gt;&lt;top val=&quot;327&quot;/&gt;&lt;width val=&quot;39&quot;/&gt;&lt;height val=&quot;45&quot;/&gt;&lt;hasText val=&quot;1&quot;/&gt;&lt;/Image&gt;&lt;/ThreeDShapeInfo&gt;"/>
  <p:tag name="PRESENTER_SHAPETEXTINFO" val="&lt;ShapeTextInfo&gt;&lt;TableIndex row=&quot;-1&quot; col=&quot;-1&quot;&gt;&lt;linesCount val=&quot;1&quot;/&gt;&lt;lineCharCount val=&quot;1&quot;/&gt;&lt;/TableIndex&gt;&lt;/ShapeTextInfo&gt;"/>
</p:tagLst>
</file>

<file path=ppt/tags/tag63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9F747E46-F475-4899-A33F-49B7D556A127}_32.png&quot;/&gt;&lt;left val=&quot;617&quot;/&gt;&lt;top val=&quot;307&quot;/&gt;&lt;width val=&quot;58&quot;/&gt;&lt;height val=&quot;30&quot;/&gt;&lt;hasText val=&quot;1&quot;/&gt;&lt;/Image&gt;&lt;/ThreeDShapeInfo&gt;"/>
  <p:tag name="PRESENTER_SHAPETEXTINFO" val="&lt;ShapeTextInfo&gt;&lt;TableIndex row=&quot;-1&quot; col=&quot;-1&quot;&gt;&lt;linesCount val=&quot;1&quot;/&gt;&lt;lineCharCount val=&quot;7&quot;/&gt;&lt;/TableIndex&gt;&lt;/ShapeTextInfo&gt;"/>
</p:tagLst>
</file>

<file path=ppt/tags/tag63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98231898-DD88-431B-B63C-029DA2E38F64}_32.png&quot;/&gt;&lt;left val=&quot;617&quot;/&gt;&lt;top val=&quot;292&quot;/&gt;&lt;width val=&quot;55&quot;/&gt;&lt;height val=&quot;30&quot;/&gt;&lt;hasText val=&quot;1&quot;/&gt;&lt;/Image&gt;&lt;/ThreeDShapeInfo&gt;"/>
  <p:tag name="PRESENTER_SHAPETEXTINFO" val="&lt;ShapeTextInfo&gt;&lt;TableIndex row=&quot;-1&quot; col=&quot;-1&quot;&gt;&lt;linesCount val=&quot;1&quot;/&gt;&lt;lineCharCount val=&quot;6&quot;/&gt;&lt;/TableIndex&gt;&lt;/ShapeTextInfo&gt;"/>
</p:tagLst>
</file>

<file path=ppt/tags/tag63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1B17BFCE-1153-4FF1-B9BB-19A1794939EF}_32.png&quot;/&gt;&lt;left val=&quot;530&quot;/&gt;&lt;top val=&quot;310&quot;/&gt;&lt;width val=&quot;55&quot;/&gt;&lt;height val=&quot;30&quot;/&gt;&lt;hasText val=&quot;1&quot;/&gt;&lt;/Image&gt;&lt;/ThreeDShapeInfo&gt;"/>
  <p:tag name="PRESENTER_SHAPETEXTINFO" val="&lt;ShapeTextInfo&gt;&lt;TableIndex row=&quot;-1&quot; col=&quot;-1&quot;&gt;&lt;linesCount val=&quot;1&quot;/&gt;&lt;lineCharCount val=&quot;6&quot;/&gt;&lt;/TableIndex&gt;&lt;/ShapeTextInfo&gt;"/>
</p:tagLst>
</file>

<file path=ppt/tags/tag640.xml><?xml version="1.0" encoding="utf-8"?>
<p:tagLst xmlns:a="http://schemas.openxmlformats.org/drawingml/2006/main" xmlns:r="http://schemas.openxmlformats.org/officeDocument/2006/relationships" xmlns:p="http://schemas.openxmlformats.org/presentationml/2006/main">
  <p:tag name="HTML_SHAPEINFO" val="&lt;SlideThumbPath val=&quot;Slide33.PNG&quot;/&gt;"/>
  <p:tag name="PPSNARRATION" val="33,883145026,C:\Users\sanmi\GoogleDrive\UWMdrive\Courses\ECE552\ece552-lec18_SharedMemoryCoherence_pptx\Media.ppcx"/>
</p:tagLst>
</file>

<file path=ppt/tags/tag64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84FD64E6-8689-4E89-B0E3-65C43C0F2AEE}_33.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64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2E1A349C-D5C2-41DD-8EAB-DACE8BE91B37}_33.png&quot;/&gt;&lt;left val=&quot;43&quot;/&gt;&lt;top val=&quot;114&quot;/&gt;&lt;width val=&quot;680&quot;/&gt;&lt;height val=&quot;141&quot;/&gt;&lt;hasText val=&quot;1&quot;/&gt;&lt;/Image&gt;&lt;/ThreeDShapeInfo&gt;"/>
  <p:tag name="PRESENTER_SHAPETEXTINFO" val="&lt;ShapeTextInfo&gt;&lt;TableIndex row=&quot;-1&quot; col=&quot;-1&quot;&gt;&lt;linesCount val=&quot;4&quot;/&gt;&lt;lineCharCount val=&quot;53&quot;/&gt;&lt;lineCharCount val=&quot;48&quot;/&gt;&lt;lineCharCount val=&quot;55&quot;/&gt;&lt;lineCharCount val=&quot;52&quot;/&gt;&lt;/TableIndex&gt;&lt;/ShapeTextInfo&gt;"/>
</p:tagLst>
</file>

<file path=ppt/tags/tag64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21FC5D6B-0575-4018-83CC-3E0039530244}_33.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64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EFB0BB8A-2C41-4DF2-94B6-5580BD590A6F}_33.png&quot;/&gt;&lt;left val=&quot;7&quot;/&gt;&lt;top val=&quot;264&quot;/&gt;&lt;width val=&quot;244&quot;/&gt;&lt;height val=&quot;250&quot;/&gt;&lt;hasText val=&quot;1&quot;/&gt;&lt;/Image&gt;&lt;/ThreeDShapeInfo&gt;"/>
  <p:tag name="PRESENTER_SHAPETEXTINFO" val="&lt;ShapeTextInfo&gt;&lt;TableIndex row=&quot;-1&quot; col=&quot;-1&quot;&gt;&lt;linesCount val=&quot;10&quot;/&gt;&lt;lineCharCount val=&quot;16&quot;/&gt;&lt;lineCharCount val=&quot;27&quot;/&gt;&lt;lineCharCount val=&quot;22&quot;/&gt;&lt;lineCharCount val=&quot;9&quot;/&gt;&lt;lineCharCount val=&quot;22&quot;/&gt;&lt;lineCharCount val=&quot;22&quot;/&gt;&lt;lineCharCount val=&quot;9&quot;/&gt;&lt;lineCharCount val=&quot;22&quot;/&gt;&lt;lineCharCount val=&quot;22&quot;/&gt;&lt;lineCharCount val=&quot;8&quot;/&gt;&lt;/TableIndex&gt;&lt;/ShapeTextInfo&gt;"/>
</p:tagLst>
</file>

<file path=ppt/tags/tag64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AB6650E6-EECB-4872-9769-9690D5DAC58D}_33.png&quot;/&gt;&lt;left val=&quot;221&quot;/&gt;&lt;top val=&quot;264&quot;/&gt;&lt;width val=&quot;244&quot;/&gt;&lt;height val=&quot;252&quot;/&gt;&lt;hasText val=&quot;1&quot;/&gt;&lt;/Image&gt;&lt;/ThreeDShapeInfo&gt;"/>
  <p:tag name="PRESENTER_SHAPETEXTINFO" val="&lt;ShapeTextInfo&gt;&lt;TableIndex row=&quot;-1&quot; col=&quot;-1&quot;&gt;&lt;linesCount val=&quot;12&quot;/&gt;&lt;lineCharCount val=&quot;16&quot;/&gt;&lt;lineCharCount val=&quot;27&quot;/&gt;&lt;lineCharCount val=&quot;22&quot;/&gt;&lt;lineCharCount val=&quot;9&quot;/&gt;&lt;lineCharCount val=&quot;22&quot;/&gt;&lt;lineCharCount val=&quot;22&quot;/&gt;&lt;lineCharCount val=&quot;9&quot;/&gt;&lt;lineCharCount val=&quot;22&quot;/&gt;&lt;lineCharCount val=&quot;9&quot;/&gt;&lt;lineCharCount val=&quot;22&quot;/&gt;&lt;lineCharCount val=&quot;22&quot;/&gt;&lt;lineCharCount val=&quot;8&quot;/&gt;&lt;/TableIndex&gt;&lt;/ShapeTextInfo&gt;"/>
</p:tagLst>
</file>

<file path=ppt/tags/tag6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48.xml><?xml version="1.0" encoding="utf-8"?>
<p:tagLst xmlns:a="http://schemas.openxmlformats.org/drawingml/2006/main" xmlns:r="http://schemas.openxmlformats.org/officeDocument/2006/relationships" xmlns:p="http://schemas.openxmlformats.org/presentationml/2006/main">
  <p:tag name="PRESENTER_SHAPEINFO" val="&lt;ThreeDShapeInfo&gt;&lt;uuid val=&quot;{4AEF7CC1-A14B-4BD9-8E80-F685DF89166E}&quot;/&gt;&lt;isInvalidForFieldText val=&quot;0&quot;/&gt;&lt;Image&gt;&lt;filename val=&quot;C:\Users\sanmi\Documents\My Adobe Presentations\ece552-SharedMemoryCoherence\data\asimages\{4AEF7CC1-A14B-4BD9-8E80-F685DF89166E}_33.png&quot;/&gt;&lt;left val=&quot;543&quot;/&gt;&lt;top val=&quot;408&quot;/&gt;&lt;width val=&quot;116&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649.xml><?xml version="1.0" encoding="utf-8"?>
<p:tagLst xmlns:a="http://schemas.openxmlformats.org/drawingml/2006/main" xmlns:r="http://schemas.openxmlformats.org/officeDocument/2006/relationships" xmlns:p="http://schemas.openxmlformats.org/presentationml/2006/main">
  <p:tag name="PRESENTER_SHAPEINFO" val="&lt;ThreeDShapeInfo&gt;&lt;uuid val=&quot;{78585788-1E40-4638-B177-48D45516BE67}&quot;/&gt;&lt;isInvalidForFieldText val=&quot;0&quot;/&gt;&lt;Image&gt;&lt;filename val=&quot;C:\Users\sanmi\Documents\My Adobe Presentations\ece552-SharedMemoryCoherence\data\asimages\{78585788-1E40-4638-B177-48D45516BE67}_33.png&quot;/&gt;&lt;left val=&quot;640&quot;/&gt;&lt;top val=&quot;356&quot;/&gt;&lt;width val=&quot;13&quot;/&gt;&lt;height val=&quot;20&quot;/&gt;&lt;hasText val=&quot;1&quot;/&gt;&lt;/Image&gt;&lt;/ThreeDShapeInfo&gt;"/>
</p:tagLst>
</file>

<file path=ppt/tags/tag6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51.xml><?xml version="1.0" encoding="utf-8"?>
<p:tagLst xmlns:a="http://schemas.openxmlformats.org/drawingml/2006/main" xmlns:r="http://schemas.openxmlformats.org/officeDocument/2006/relationships" xmlns:p="http://schemas.openxmlformats.org/presentationml/2006/main">
  <p:tag name="PRESENTER_SHAPEINFO" val="&lt;ThreeDShapeInfo&gt;&lt;uuid val=&quot;{DC23CAF4-EE08-4810-9B4C-3C0DB4AA9E44}&quot;/&gt;&lt;isInvalidForFieldText val=&quot;0&quot;/&gt;&lt;Image&gt;&lt;filename val=&quot;C:\Users\sanmi\Documents\My Adobe Presentations\ece552-SharedMemoryCoherence\data\asimages\{DC23CAF4-EE08-4810-9B4C-3C0DB4AA9E44}_33.png&quot;/&gt;&lt;left val=&quot;606&quot;/&gt;&lt;top val=&quot;367&quot;/&gt;&lt;width val=&quot;80&quot;/&gt;&lt;height val=&quot;26&quot;/&gt;&lt;hasText val=&quot;1&quot;/&gt;&lt;/Image&gt;&lt;/ThreeDShapeInfo&gt;"/>
  <p:tag name="PRESENTER_SHAPETEXTINFO" val="&lt;ShapeTextInfo&gt;&lt;TableIndex row=&quot;-1&quot; col=&quot;-1&quot;&gt;&lt;linesCount val=&quot;0&quot;/&gt;&lt;/TableIndex&gt;&lt;/ShapeTextInfo&gt;"/>
</p:tagLst>
</file>

<file path=ppt/tags/tag652.xml><?xml version="1.0" encoding="utf-8"?>
<p:tagLst xmlns:a="http://schemas.openxmlformats.org/drawingml/2006/main" xmlns:r="http://schemas.openxmlformats.org/officeDocument/2006/relationships" xmlns:p="http://schemas.openxmlformats.org/presentationml/2006/main">
  <p:tag name="PRESENTER_SHAPEINFO" val="&lt;ThreeDShapeInfo&gt;&lt;uuid val=&quot;{9B9D1945-BE26-4B91-8745-6AE81B5E7661}&quot;/&gt;&lt;isInvalidForFieldText val=&quot;0&quot;/&gt;&lt;Image&gt;&lt;filename val=&quot;C:\Users\sanmi\Documents\My Adobe Presentations\ece552-SharedMemoryCoherence\data\asimages\{9B9D1945-BE26-4B91-8745-6AE81B5E7661}_33.png&quot;/&gt;&lt;left val=&quot;563&quot;/&gt;&lt;top val=&quot;449&quot;/&gt;&lt;width val=&quot;78&quot;/&gt;&lt;height val=&quot;38&quot;/&gt;&lt;hasText val=&quot;1&quot;/&gt;&lt;/Image&gt;&lt;/ThreeDShapeInfo&gt;"/>
  <p:tag name="PRESENTER_SHAPETEXTINFO" val="&lt;ShapeTextInfo&gt;&lt;TableIndex row=&quot;-1&quot; col=&quot;-1&quot;&gt;&lt;linesCount val=&quot;1&quot;/&gt;&lt;lineCharCount val=&quot;4&quot;/&gt;&lt;/TableIndex&gt;&lt;/ShapeTextInfo&gt;"/>
</p:tagLst>
</file>

<file path=ppt/tags/tag653.xml><?xml version="1.0" encoding="utf-8"?>
<p:tagLst xmlns:a="http://schemas.openxmlformats.org/drawingml/2006/main" xmlns:r="http://schemas.openxmlformats.org/officeDocument/2006/relationships" xmlns:p="http://schemas.openxmlformats.org/presentationml/2006/main">
  <p:tag name="PRESENTER_SHAPEINFO" val="&lt;ThreeDShapeInfo&gt;&lt;uuid val=&quot;{6951B387-6FEF-4F3E-9E94-E5CF7550AB6E}&quot;/&gt;&lt;isInvalidForFieldText val=&quot;0&quot;/&gt;&lt;Image&gt;&lt;filename val=&quot;C:\Users\sanmi\Documents\My Adobe Presentations\ece552-SharedMemoryCoherence\data\asimages\{6951B387-6FEF-4F3E-9E94-E5CF7550AB6E}_33.png&quot;/&gt;&lt;left val=&quot;627&quot;/&gt;&lt;top val=&quot;327&quot;/&gt;&lt;width val=&quot;38&quot;/&gt;&lt;height val=&quot;45&quot;/&gt;&lt;hasText val=&quot;1&quot;/&gt;&lt;/Image&gt;&lt;/ThreeDShapeInfo&gt;"/>
  <p:tag name="PRESENTER_SHAPETEXTINFO" val="&lt;ShapeTextInfo&gt;&lt;TableIndex row=&quot;-1&quot; col=&quot;-1&quot;&gt;&lt;linesCount val=&quot;1&quot;/&gt;&lt;lineCharCount val=&quot;1&quot;/&gt;&lt;/TableIndex&gt;&lt;/ShapeTextInfo&gt;"/>
</p:tagLst>
</file>

<file path=ppt/tags/tag654.xml><?xml version="1.0" encoding="utf-8"?>
<p:tagLst xmlns:a="http://schemas.openxmlformats.org/drawingml/2006/main" xmlns:r="http://schemas.openxmlformats.org/officeDocument/2006/relationships" xmlns:p="http://schemas.openxmlformats.org/presentationml/2006/main">
  <p:tag name="PRESENTER_SHAPEINFO" val="&lt;ThreeDShapeInfo&gt;&lt;uuid val=&quot;{F9A19813-456D-4B63-82C6-DCAFC08FACA8}&quot;/&gt;&lt;isInvalidForFieldText val=&quot;0&quot;/&gt;&lt;Image&gt;&lt;filename val=&quot;C:\Users\sanmi\Documents\My Adobe Presentations\ece552-SharedMemoryCoherence\data\asimages\{F9A19813-456D-4B63-82C6-DCAFC08FACA8}_33.png&quot;/&gt;&lt;left val=&quot;554&quot;/&gt;&lt;top val=&quot;356&quot;/&gt;&lt;width val=&quot;13&quot;/&gt;&lt;height val=&quot;20&quot;/&gt;&lt;hasText val=&quot;1&quot;/&gt;&lt;/Image&gt;&lt;/ThreeDShapeInfo&gt;"/>
</p:tagLst>
</file>

<file path=ppt/tags/tag6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56.xml><?xml version="1.0" encoding="utf-8"?>
<p:tagLst xmlns:a="http://schemas.openxmlformats.org/drawingml/2006/main" xmlns:r="http://schemas.openxmlformats.org/officeDocument/2006/relationships" xmlns:p="http://schemas.openxmlformats.org/presentationml/2006/main">
  <p:tag name="PRESENTER_SHAPEINFO" val="&lt;ThreeDShapeInfo&gt;&lt;uuid val=&quot;{3CFDCF76-38E2-4F4F-94DE-F6A71C2BD7E1}&quot;/&gt;&lt;isInvalidForFieldText val=&quot;0&quot;/&gt;&lt;Image&gt;&lt;filename val=&quot;C:\Users\sanmi\Documents\My Adobe Presentations\ece552-SharedMemoryCoherence\data\asimages\{3CFDCF76-38E2-4F4F-94DE-F6A71C2BD7E1}_33.png&quot;/&gt;&lt;left val=&quot;521&quot;/&gt;&lt;top val=&quot;363&quot;/&gt;&lt;width val=&quot;80&quot;/&gt;&lt;height val=&quot;39&quot;/&gt;&lt;hasText val=&quot;1&quot;/&gt;&lt;/Image&gt;&lt;/ThreeDShapeInfo&gt;"/>
  <p:tag name="PRESENTER_SHAPETEXTINFO" val="&lt;ShapeTextInfo&gt;&lt;TableIndex row=&quot;-1&quot; col=&quot;-1&quot;&gt;&lt;linesCount val=&quot;1&quot;/&gt;&lt;lineCharCount val=&quot;4&quot;/&gt;&lt;/TableIndex&gt;&lt;/ShapeTextInfo&gt;"/>
</p:tagLst>
</file>

<file path=ppt/tags/tag657.xml><?xml version="1.0" encoding="utf-8"?>
<p:tagLst xmlns:a="http://schemas.openxmlformats.org/drawingml/2006/main" xmlns:r="http://schemas.openxmlformats.org/officeDocument/2006/relationships" xmlns:p="http://schemas.openxmlformats.org/presentationml/2006/main">
  <p:tag name="PRESENTER_SHAPEINFO" val="&lt;ThreeDShapeInfo&gt;&lt;uuid val=&quot;{F1A38738-3411-4351-BE6B-A4FCBCCECAFA}&quot;/&gt;&lt;isInvalidForFieldText val=&quot;0&quot;/&gt;&lt;Image&gt;&lt;filename val=&quot;C:\Users\sanmi\Documents\My Adobe Presentations\ece552-SharedMemoryCoherence\data\asimages\{F1A38738-3411-4351-BE6B-A4FCBCCECAFA}_33.png&quot;/&gt;&lt;left val=&quot;541&quot;/&gt;&lt;top val=&quot;327&quot;/&gt;&lt;width val=&quot;39&quot;/&gt;&lt;height val=&quot;45&quot;/&gt;&lt;hasText val=&quot;1&quot;/&gt;&lt;/Image&gt;&lt;/ThreeDShapeInfo&gt;"/>
  <p:tag name="PRESENTER_SHAPETEXTINFO" val="&lt;ShapeTextInfo&gt;&lt;TableIndex row=&quot;-1&quot; col=&quot;-1&quot;&gt;&lt;linesCount val=&quot;1&quot;/&gt;&lt;lineCharCount val=&quot;1&quot;/&gt;&lt;/TableIndex&gt;&lt;/ShapeTextInfo&gt;"/>
</p:tagLst>
</file>

<file path=ppt/tags/tag65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9658E92-240C-4298-8D84-6C55199EE3D8}_33.png&quot;/&gt;&lt;left val=&quot;610&quot;/&gt;&lt;top val=&quot;307&quot;/&gt;&lt;width val=&quot;68&quot;/&gt;&lt;height val=&quot;30&quot;/&gt;&lt;hasText val=&quot;1&quot;/&gt;&lt;/Image&gt;&lt;/ThreeDShapeInfo&gt;"/>
  <p:tag name="PRESENTER_SHAPETEXTINFO" val="&lt;ShapeTextInfo&gt;&lt;TableIndex row=&quot;-1&quot; col=&quot;-1&quot;&gt;&lt;linesCount val=&quot;1&quot;/&gt;&lt;lineCharCount val=&quot;10&quot;/&gt;&lt;/TableIndex&gt;&lt;/ShapeTextInfo&gt;"/>
</p:tagLst>
</file>

<file path=ppt/tags/tag659.xml><?xml version="1.0" encoding="utf-8"?>
<p:tagLst xmlns:a="http://schemas.openxmlformats.org/drawingml/2006/main" xmlns:r="http://schemas.openxmlformats.org/officeDocument/2006/relationships" xmlns:p="http://schemas.openxmlformats.org/presentationml/2006/main">
  <p:tag name="HTML_SHAPEINFO" val="&lt;SlideThumbPath val=&quot;Slide34.PNG&quot;/&gt;"/>
  <p:tag name="PPSNARRATION" val="34,883145026,C:\Users\sanmi\GoogleDrive\UWMdrive\Courses\ECE552\ece552-lec18_SharedMemoryCoherence_pptx\Media.ppcx"/>
  <p:tag name="TIMING" val="|9.9"/>
</p:tagLst>
</file>

<file path=ppt/tags/tag66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A64F0130-871E-4E59-A7F9-A5483048698A}_34.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66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3AD02B3-FA49-4EDE-9E04-ED9C690B0EA2}_34.png&quot;/&gt;&lt;left val=&quot;43&quot;/&gt;&lt;top val=&quot;114&quot;/&gt;&lt;width val=&quot;680&quot;/&gt;&lt;height val=&quot;141&quot;/&gt;&lt;hasText val=&quot;1&quot;/&gt;&lt;/Image&gt;&lt;/ThreeDShapeInfo&gt;"/>
  <p:tag name="PRESENTER_SHAPETEXTINFO" val="&lt;ShapeTextInfo&gt;&lt;TableIndex row=&quot;-1&quot; col=&quot;-1&quot;&gt;&lt;linesCount val=&quot;4&quot;/&gt;&lt;lineCharCount val=&quot;53&quot;/&gt;&lt;lineCharCount val=&quot;48&quot;/&gt;&lt;lineCharCount val=&quot;55&quot;/&gt;&lt;lineCharCount val=&quot;52&quot;/&gt;&lt;/TableIndex&gt;&lt;/ShapeTextInfo&gt;"/>
</p:tagLst>
</file>

<file path=ppt/tags/tag66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EC5D36C5-EC83-40E0-B2B6-78032A3D66CC}_34.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66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DB8ECDAB-D11B-4227-9038-29F8D4D2918A}_34.png&quot;/&gt;&lt;left val=&quot;7&quot;/&gt;&lt;top val=&quot;264&quot;/&gt;&lt;width val=&quot;244&quot;/&gt;&lt;height val=&quot;250&quot;/&gt;&lt;hasText val=&quot;1&quot;/&gt;&lt;/Image&gt;&lt;/ThreeDShapeInfo&gt;"/>
  <p:tag name="PRESENTER_SHAPETEXTINFO" val="&lt;ShapeTextInfo&gt;&lt;TableIndex row=&quot;-1&quot; col=&quot;-1&quot;&gt;&lt;linesCount val=&quot;10&quot;/&gt;&lt;lineCharCount val=&quot;16&quot;/&gt;&lt;lineCharCount val=&quot;27&quot;/&gt;&lt;lineCharCount val=&quot;22&quot;/&gt;&lt;lineCharCount val=&quot;9&quot;/&gt;&lt;lineCharCount val=&quot;22&quot;/&gt;&lt;lineCharCount val=&quot;22&quot;/&gt;&lt;lineCharCount val=&quot;9&quot;/&gt;&lt;lineCharCount val=&quot;22&quot;/&gt;&lt;lineCharCount val=&quot;22&quot;/&gt;&lt;lineCharCount val=&quot;8&quot;/&gt;&lt;/TableIndex&gt;&lt;/ShapeTextInfo&gt;"/>
</p:tagLst>
</file>

<file path=ppt/tags/tag66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754B0DA8-B984-4BAF-98E6-E18D313B6E80}_34.png&quot;/&gt;&lt;left val=&quot;221&quot;/&gt;&lt;top val=&quot;264&quot;/&gt;&lt;width val=&quot;244&quot;/&gt;&lt;height val=&quot;252&quot;/&gt;&lt;hasText val=&quot;1&quot;/&gt;&lt;/Image&gt;&lt;/ThreeDShapeInfo&gt;"/>
  <p:tag name="PRESENTER_SHAPETEXTINFO" val="&lt;ShapeTextInfo&gt;&lt;TableIndex row=&quot;-1&quot; col=&quot;-1&quot;&gt;&lt;linesCount val=&quot;12&quot;/&gt;&lt;lineCharCount val=&quot;16&quot;/&gt;&lt;lineCharCount val=&quot;27&quot;/&gt;&lt;lineCharCount val=&quot;22&quot;/&gt;&lt;lineCharCount val=&quot;9&quot;/&gt;&lt;lineCharCount val=&quot;22&quot;/&gt;&lt;lineCharCount val=&quot;22&quot;/&gt;&lt;lineCharCount val=&quot;9&quot;/&gt;&lt;lineCharCount val=&quot;22&quot;/&gt;&lt;lineCharCount val=&quot;9&quot;/&gt;&lt;lineCharCount val=&quot;22&quot;/&gt;&lt;lineCharCount val=&quot;22&quot;/&gt;&lt;lineCharCount val=&quot;8&quot;/&gt;&lt;/TableIndex&gt;&lt;/ShapeTextInfo&gt;"/>
</p:tagLst>
</file>

<file path=ppt/tags/tag6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67.xml><?xml version="1.0" encoding="utf-8"?>
<p:tagLst xmlns:a="http://schemas.openxmlformats.org/drawingml/2006/main" xmlns:r="http://schemas.openxmlformats.org/officeDocument/2006/relationships" xmlns:p="http://schemas.openxmlformats.org/presentationml/2006/main">
  <p:tag name="PRESENTER_SHAPEINFO" val="&lt;ThreeDShapeInfo&gt;&lt;uuid val=&quot;{8E7935C1-E820-4D12-9698-617E92DF6B53}&quot;/&gt;&lt;isInvalidForFieldText val=&quot;0&quot;/&gt;&lt;Image&gt;&lt;filename val=&quot;C:\Users\sanmi\Documents\My Adobe Presentations\ece552-SharedMemoryCoherence\data\asimages\{8E7935C1-E820-4D12-9698-617E92DF6B53}_34.png&quot;/&gt;&lt;left val=&quot;543&quot;/&gt;&lt;top val=&quot;408&quot;/&gt;&lt;width val=&quot;116&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668.xml><?xml version="1.0" encoding="utf-8"?>
<p:tagLst xmlns:a="http://schemas.openxmlformats.org/drawingml/2006/main" xmlns:r="http://schemas.openxmlformats.org/officeDocument/2006/relationships" xmlns:p="http://schemas.openxmlformats.org/presentationml/2006/main">
  <p:tag name="PRESENTER_SHAPEINFO" val="&lt;ThreeDShapeInfo&gt;&lt;uuid val=&quot;{A6D43F35-93E8-47DE-AC6B-A5923864AFD8}&quot;/&gt;&lt;isInvalidForFieldText val=&quot;0&quot;/&gt;&lt;Image&gt;&lt;filename val=&quot;C:\Users\sanmi\Documents\My Adobe Presentations\ece552-SharedMemoryCoherence\data\asimages\{A6D43F35-93E8-47DE-AC6B-A5923864AFD8}_34.png&quot;/&gt;&lt;left val=&quot;640&quot;/&gt;&lt;top val=&quot;356&quot;/&gt;&lt;width val=&quot;13&quot;/&gt;&lt;height val=&quot;20&quot;/&gt;&lt;hasText val=&quot;1&quot;/&gt;&lt;/Image&gt;&lt;/ThreeDShapeInfo&gt;"/>
</p:tagLst>
</file>

<file path=ppt/tags/tag6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70.xml><?xml version="1.0" encoding="utf-8"?>
<p:tagLst xmlns:a="http://schemas.openxmlformats.org/drawingml/2006/main" xmlns:r="http://schemas.openxmlformats.org/officeDocument/2006/relationships" xmlns:p="http://schemas.openxmlformats.org/presentationml/2006/main">
  <p:tag name="PRESENTER_SHAPEINFO" val="&lt;ThreeDShapeInfo&gt;&lt;uuid val=&quot;{733865C2-19A8-44C9-AA10-858E719EE947}&quot;/&gt;&lt;isInvalidForFieldText val=&quot;0&quot;/&gt;&lt;Image&gt;&lt;filename val=&quot;C:\Users\sanmi\Documents\My Adobe Presentations\ece552-SharedMemoryCoherence\data\asimages\{733865C2-19A8-44C9-AA10-858E719EE947}_34.png&quot;/&gt;&lt;left val=&quot;606&quot;/&gt;&lt;top val=&quot;367&quot;/&gt;&lt;width val=&quot;80&quot;/&gt;&lt;height val=&quot;26&quot;/&gt;&lt;hasText val=&quot;1&quot;/&gt;&lt;/Image&gt;&lt;/ThreeDShapeInfo&gt;"/>
  <p:tag name="PRESENTER_SHAPETEXTINFO" val="&lt;ShapeTextInfo&gt;&lt;TableIndex row=&quot;-1&quot; col=&quot;-1&quot;&gt;&lt;linesCount val=&quot;0&quot;/&gt;&lt;/TableIndex&gt;&lt;/ShapeTextInfo&gt;"/>
</p:tagLst>
</file>

<file path=ppt/tags/tag671.xml><?xml version="1.0" encoding="utf-8"?>
<p:tagLst xmlns:a="http://schemas.openxmlformats.org/drawingml/2006/main" xmlns:r="http://schemas.openxmlformats.org/officeDocument/2006/relationships" xmlns:p="http://schemas.openxmlformats.org/presentationml/2006/main">
  <p:tag name="PRESENTER_SHAPEINFO" val="&lt;ThreeDShapeInfo&gt;&lt;uuid val=&quot;{92267EC4-203F-465F-B903-B41008FB71D3}&quot;/&gt;&lt;isInvalidForFieldText val=&quot;0&quot;/&gt;&lt;Image&gt;&lt;filename val=&quot;C:\Users\sanmi\Documents\My Adobe Presentations\ece552-SharedMemoryCoherence\data\asimages\{92267EC4-203F-465F-B903-B41008FB71D3}_34.png&quot;/&gt;&lt;left val=&quot;562&quot;/&gt;&lt;top val=&quot;449&quot;/&gt;&lt;width val=&quot;78&quot;/&gt;&lt;height val=&quot;38&quot;/&gt;&lt;hasText val=&quot;1&quot;/&gt;&lt;/Image&gt;&lt;/ThreeDShapeInfo&gt;"/>
  <p:tag name="PRESENTER_SHAPETEXTINFO" val="&lt;ShapeTextInfo&gt;&lt;TableIndex row=&quot;-1&quot; col=&quot;-1&quot;&gt;&lt;linesCount val=&quot;1&quot;/&gt;&lt;lineCharCount val=&quot;4&quot;/&gt;&lt;/TableIndex&gt;&lt;/ShapeTextInfo&gt;"/>
</p:tagLst>
</file>

<file path=ppt/tags/tag672.xml><?xml version="1.0" encoding="utf-8"?>
<p:tagLst xmlns:a="http://schemas.openxmlformats.org/drawingml/2006/main" xmlns:r="http://schemas.openxmlformats.org/officeDocument/2006/relationships" xmlns:p="http://schemas.openxmlformats.org/presentationml/2006/main">
  <p:tag name="PRESENTER_SHAPEINFO" val="&lt;ThreeDShapeInfo&gt;&lt;uuid val=&quot;{06568D3B-A961-41C7-A285-DE0D4EBEA7A6}&quot;/&gt;&lt;isInvalidForFieldText val=&quot;0&quot;/&gt;&lt;Image&gt;&lt;filename val=&quot;C:\Users\sanmi\Documents\My Adobe Presentations\ece552-SharedMemoryCoherence\data\asimages\{06568D3B-A961-41C7-A285-DE0D4EBEA7A6}_34.png&quot;/&gt;&lt;left val=&quot;627&quot;/&gt;&lt;top val=&quot;327&quot;/&gt;&lt;width val=&quot;38&quot;/&gt;&lt;height val=&quot;45&quot;/&gt;&lt;hasText val=&quot;1&quot;/&gt;&lt;/Image&gt;&lt;/ThreeDShapeInfo&gt;"/>
  <p:tag name="PRESENTER_SHAPETEXTINFO" val="&lt;ShapeTextInfo&gt;&lt;TableIndex row=&quot;-1&quot; col=&quot;-1&quot;&gt;&lt;linesCount val=&quot;1&quot;/&gt;&lt;lineCharCount val=&quot;1&quot;/&gt;&lt;/TableIndex&gt;&lt;/ShapeTextInfo&gt;"/>
</p:tagLst>
</file>

<file path=ppt/tags/tag673.xml><?xml version="1.0" encoding="utf-8"?>
<p:tagLst xmlns:a="http://schemas.openxmlformats.org/drawingml/2006/main" xmlns:r="http://schemas.openxmlformats.org/officeDocument/2006/relationships" xmlns:p="http://schemas.openxmlformats.org/presentationml/2006/main">
  <p:tag name="PRESENTER_SHAPEINFO" val="&lt;ThreeDShapeInfo&gt;&lt;uuid val=&quot;{68756070-E054-4142-8AAD-D92A5EB7B6C7}&quot;/&gt;&lt;isInvalidForFieldText val=&quot;0&quot;/&gt;&lt;Image&gt;&lt;filename val=&quot;C:\Users\sanmi\Documents\My Adobe Presentations\ece552-SharedMemoryCoherence\data\asimages\{68756070-E054-4142-8AAD-D92A5EB7B6C7}_34.png&quot;/&gt;&lt;left val=&quot;554&quot;/&gt;&lt;top val=&quot;356&quot;/&gt;&lt;width val=&quot;13&quot;/&gt;&lt;height val=&quot;20&quot;/&gt;&lt;hasText val=&quot;1&quot;/&gt;&lt;/Image&gt;&lt;/ThreeDShapeInfo&gt;"/>
</p:tagLst>
</file>

<file path=ppt/tags/tag6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75.xml><?xml version="1.0" encoding="utf-8"?>
<p:tagLst xmlns:a="http://schemas.openxmlformats.org/drawingml/2006/main" xmlns:r="http://schemas.openxmlformats.org/officeDocument/2006/relationships" xmlns:p="http://schemas.openxmlformats.org/presentationml/2006/main">
  <p:tag name="PRESENTER_SHAPEINFO" val="&lt;ThreeDShapeInfo&gt;&lt;uuid val=&quot;{4FBC4907-9F97-4952-A1A7-A00D8FA21F76}&quot;/&gt;&lt;isInvalidForFieldText val=&quot;0&quot;/&gt;&lt;Image&gt;&lt;filename val=&quot;C:\Users\sanmi\Documents\My Adobe Presentations\ece552-SharedMemoryCoherence\data\asimages\{4FBC4907-9F97-4952-A1A7-A00D8FA21F76}_34.png&quot;/&gt;&lt;left val=&quot;521&quot;/&gt;&lt;top val=&quot;365&quot;/&gt;&lt;width val=&quot;80&quot;/&gt;&lt;height val=&quot;38&quot;/&gt;&lt;hasText val=&quot;1&quot;/&gt;&lt;/Image&gt;&lt;/ThreeDShapeInfo&gt;"/>
  <p:tag name="PRESENTER_SHAPETEXTINFO" val="&lt;ShapeTextInfo&gt;&lt;TableIndex row=&quot;-1&quot; col=&quot;-1&quot;&gt;&lt;linesCount val=&quot;1&quot;/&gt;&lt;lineCharCount val=&quot;4&quot;/&gt;&lt;/TableIndex&gt;&lt;/ShapeTextInfo&gt;"/>
</p:tagLst>
</file>

<file path=ppt/tags/tag676.xml><?xml version="1.0" encoding="utf-8"?>
<p:tagLst xmlns:a="http://schemas.openxmlformats.org/drawingml/2006/main" xmlns:r="http://schemas.openxmlformats.org/officeDocument/2006/relationships" xmlns:p="http://schemas.openxmlformats.org/presentationml/2006/main">
  <p:tag name="PRESENTER_SHAPEINFO" val="&lt;ThreeDShapeInfo&gt;&lt;uuid val=&quot;{61A68A47-7E4C-4404-B403-D2F79964E4B1}&quot;/&gt;&lt;isInvalidForFieldText val=&quot;0&quot;/&gt;&lt;Image&gt;&lt;filename val=&quot;C:\Users\sanmi\Documents\My Adobe Presentations\ece552-SharedMemoryCoherence\data\asimages\{61A68A47-7E4C-4404-B403-D2F79964E4B1}_34.png&quot;/&gt;&lt;left val=&quot;541&quot;/&gt;&lt;top val=&quot;327&quot;/&gt;&lt;width val=&quot;39&quot;/&gt;&lt;height val=&quot;45&quot;/&gt;&lt;hasText val=&quot;1&quot;/&gt;&lt;/Image&gt;&lt;/ThreeDShapeInfo&gt;"/>
  <p:tag name="PRESENTER_SHAPETEXTINFO" val="&lt;ShapeTextInfo&gt;&lt;TableIndex row=&quot;-1&quot; col=&quot;-1&quot;&gt;&lt;linesCount val=&quot;1&quot;/&gt;&lt;lineCharCount val=&quot;1&quot;/&gt;&lt;/TableIndex&gt;&lt;/ShapeTextInfo&gt;"/>
</p:tagLst>
</file>

<file path=ppt/tags/tag67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DE9C22ED-BAB6-4692-B8D3-600567AFD84E}_34.png&quot;/&gt;&lt;left val=&quot;526&quot;/&gt;&lt;top val=&quot;310&quot;/&gt;&lt;width val=&quot;68&quot;/&gt;&lt;height val=&quot;30&quot;/&gt;&lt;hasText val=&quot;1&quot;/&gt;&lt;/Image&gt;&lt;/ThreeDShapeInfo&gt;"/>
  <p:tag name="PRESENTER_SHAPETEXTINFO" val="&lt;ShapeTextInfo&gt;&lt;TableIndex row=&quot;-1&quot; col=&quot;-1&quot;&gt;&lt;linesCount val=&quot;1&quot;/&gt;&lt;lineCharCount val=&quot;10&quot;/&gt;&lt;/TableIndex&gt;&lt;/ShapeTextInfo&gt;"/>
</p:tagLst>
</file>

<file path=ppt/tags/tag67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113C3BA-34F0-49BF-92B7-6CD7CB140F75}_34.png&quot;/&gt;&lt;left val=&quot;531&quot;/&gt;&lt;top val=&quot;292&quot;/&gt;&lt;width val=&quot;58&quot;/&gt;&lt;height val=&quot;30&quot;/&gt;&lt;hasText val=&quot;1&quot;/&gt;&lt;/Image&gt;&lt;/ThreeDShapeInfo&gt;"/>
  <p:tag name="PRESENTER_SHAPETEXTINFO" val="&lt;ShapeTextInfo&gt;&lt;TableIndex row=&quot;-1&quot; col=&quot;-1&quot;&gt;&lt;linesCount val=&quot;1&quot;/&gt;&lt;lineCharCount val=&quot;7&quot;/&gt;&lt;/TableIndex&gt;&lt;/ShapeTextInfo&gt;"/>
</p:tagLst>
</file>

<file path=ppt/tags/tag679.xml><?xml version="1.0" encoding="utf-8"?>
<p:tagLst xmlns:a="http://schemas.openxmlformats.org/drawingml/2006/main" xmlns:r="http://schemas.openxmlformats.org/officeDocument/2006/relationships" xmlns:p="http://schemas.openxmlformats.org/presentationml/2006/main">
  <p:tag name="PRESENTER_SHAPEINFO" val="&lt;ThreeDShapeInfo&gt;&lt;uuid val=&quot;{F09A30F1-1DA1-402F-97EE-D292DA60E6C0}&quot;/&gt;&lt;isInvalidForFieldText val=&quot;0&quot;/&gt;&lt;Image&gt;&lt;filename val=&quot;C:\Users\sanmi\Documents\My Adobe Presentations\ece552-SharedMemoryCoherence\data\asimages\{F09A30F1-1DA1-402F-97EE-D292DA60E6C0}_34.png&quot;/&gt;&lt;left val=&quot;562&quot;/&gt;&lt;top val=&quot;449&quot;/&gt;&lt;width val=&quot;78&quot;/&gt;&lt;height val=&quot;38&quot;/&gt;&lt;hasText val=&quot;1&quot;/&gt;&lt;/Image&gt;&lt;/ThreeDShapeInfo&gt;"/>
  <p:tag name="PRESENTER_SHAPETEXTINFO" val="&lt;ShapeTextInfo&gt;&lt;TableIndex row=&quot;-1&quot; col=&quot;-1&quot;&gt;&lt;linesCount val=&quot;1&quot;/&gt;&lt;lineCharCount val=&quot;4&quot;/&gt;&lt;/TableIndex&gt;&lt;/ShapeTextInfo&gt;"/>
</p:tagLst>
</file>

<file path=ppt/tags/tag680.xml><?xml version="1.0" encoding="utf-8"?>
<p:tagLst xmlns:a="http://schemas.openxmlformats.org/drawingml/2006/main" xmlns:r="http://schemas.openxmlformats.org/officeDocument/2006/relationships" xmlns:p="http://schemas.openxmlformats.org/presentationml/2006/main">
  <p:tag name="PRESENTER_SHAPEINFO" val="&lt;ThreeDShapeInfo&gt;&lt;uuid val=&quot;{90EBE9FF-86E6-4F2A-9FB2-FCD0BA7C7DBF}&quot;/&gt;&lt;isInvalidForFieldText val=&quot;0&quot;/&gt;&lt;Image&gt;&lt;filename val=&quot;C:\Users\sanmi\Documents\My Adobe Presentations\ece552-SharedMemoryCoherence\data\asimages\{90EBE9FF-86E6-4F2A-9FB2-FCD0BA7C7DBF}_34.png&quot;/&gt;&lt;left val=&quot;521&quot;/&gt;&lt;top val=&quot;369&quot;/&gt;&lt;width val=&quot;80&quot;/&gt;&lt;height val=&quot;26&quot;/&gt;&lt;hasText val=&quot;1&quot;/&gt;&lt;/Image&gt;&lt;/ThreeDShapeInfo&gt;"/>
  <p:tag name="PRESENTER_SHAPETEXTINFO" val="&lt;ShapeTextInfo&gt;&lt;TableIndex row=&quot;-1&quot; col=&quot;-1&quot;&gt;&lt;linesCount val=&quot;0&quot;/&gt;&lt;/TableIndex&gt;&lt;/ShapeTextInfo&gt;"/>
</p:tagLst>
</file>

<file path=ppt/tags/tag681.xml><?xml version="1.0" encoding="utf-8"?>
<p:tagLst xmlns:a="http://schemas.openxmlformats.org/drawingml/2006/main" xmlns:r="http://schemas.openxmlformats.org/officeDocument/2006/relationships" xmlns:p="http://schemas.openxmlformats.org/presentationml/2006/main">
  <p:tag name="HTML_SHAPEINFO" val="&lt;SlideThumbPath val=&quot;Slide35.PNG&quot;/&gt;"/>
  <p:tag name="PPSNARRATION" val="35,883145026,C:\Users\sanmi\GoogleDrive\UWMdrive\Courses\ECE552\ece552-lec18_SharedMemoryCoherence_pptx\Media.ppcx"/>
</p:tagLst>
</file>

<file path=ppt/tags/tag68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525BC229-E691-4379-90BC-79D5112E1DA6}_35.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68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BA05D2C-3F17-4800-ADFA-4CAED9D1101A}_35.png&quot;/&gt;&lt;left val=&quot;43&quot;/&gt;&lt;top val=&quot;114&quot;/&gt;&lt;width val=&quot;680&quot;/&gt;&lt;height val=&quot;141&quot;/&gt;&lt;hasText val=&quot;1&quot;/&gt;&lt;/Image&gt;&lt;/ThreeDShapeInfo&gt;"/>
  <p:tag name="PRESENTER_SHAPETEXTINFO" val="&lt;ShapeTextInfo&gt;&lt;TableIndex row=&quot;-1&quot; col=&quot;-1&quot;&gt;&lt;linesCount val=&quot;4&quot;/&gt;&lt;lineCharCount val=&quot;53&quot;/&gt;&lt;lineCharCount val=&quot;48&quot;/&gt;&lt;lineCharCount val=&quot;55&quot;/&gt;&lt;lineCharCount val=&quot;52&quot;/&gt;&lt;/TableIndex&gt;&lt;/ShapeTextInfo&gt;"/>
</p:tagLst>
</file>

<file path=ppt/tags/tag68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0B8C1765-7EC1-4584-86DA-FEE1063C15B9}_35.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68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11B29A7-699C-4A6B-8234-76E7E5216499}_35.png&quot;/&gt;&lt;left val=&quot;7&quot;/&gt;&lt;top val=&quot;264&quot;/&gt;&lt;width val=&quot;244&quot;/&gt;&lt;height val=&quot;250&quot;/&gt;&lt;hasText val=&quot;1&quot;/&gt;&lt;/Image&gt;&lt;/ThreeDShapeInfo&gt;"/>
  <p:tag name="PRESENTER_SHAPETEXTINFO" val="&lt;ShapeTextInfo&gt;&lt;TableIndex row=&quot;-1&quot; col=&quot;-1&quot;&gt;&lt;linesCount val=&quot;10&quot;/&gt;&lt;lineCharCount val=&quot;16&quot;/&gt;&lt;lineCharCount val=&quot;27&quot;/&gt;&lt;lineCharCount val=&quot;22&quot;/&gt;&lt;lineCharCount val=&quot;9&quot;/&gt;&lt;lineCharCount val=&quot;22&quot;/&gt;&lt;lineCharCount val=&quot;22&quot;/&gt;&lt;lineCharCount val=&quot;9&quot;/&gt;&lt;lineCharCount val=&quot;22&quot;/&gt;&lt;lineCharCount val=&quot;22&quot;/&gt;&lt;lineCharCount val=&quot;8&quot;/&gt;&lt;/TableIndex&gt;&lt;/ShapeTextInfo&gt;"/>
</p:tagLst>
</file>

<file path=ppt/tags/tag68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9C088229-FA09-430E-B0C8-2839DF14FCC6}_35.png&quot;/&gt;&lt;left val=&quot;221&quot;/&gt;&lt;top val=&quot;264&quot;/&gt;&lt;width val=&quot;244&quot;/&gt;&lt;height val=&quot;252&quot;/&gt;&lt;hasText val=&quot;1&quot;/&gt;&lt;/Image&gt;&lt;/ThreeDShapeInfo&gt;"/>
  <p:tag name="PRESENTER_SHAPETEXTINFO" val="&lt;ShapeTextInfo&gt;&lt;TableIndex row=&quot;-1&quot; col=&quot;-1&quot;&gt;&lt;linesCount val=&quot;12&quot;/&gt;&lt;lineCharCount val=&quot;16&quot;/&gt;&lt;lineCharCount val=&quot;27&quot;/&gt;&lt;lineCharCount val=&quot;22&quot;/&gt;&lt;lineCharCount val=&quot;9&quot;/&gt;&lt;lineCharCount val=&quot;22&quot;/&gt;&lt;lineCharCount val=&quot;22&quot;/&gt;&lt;lineCharCount val=&quot;9&quot;/&gt;&lt;lineCharCount val=&quot;22&quot;/&gt;&lt;lineCharCount val=&quot;9&quot;/&gt;&lt;lineCharCount val=&quot;22&quot;/&gt;&lt;lineCharCount val=&quot;22&quot;/&gt;&lt;lineCharCount val=&quot;8&quot;/&gt;&lt;/TableIndex&gt;&lt;/ShapeTextInfo&gt;"/>
</p:tagLst>
</file>

<file path=ppt/tags/tag6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89.xml><?xml version="1.0" encoding="utf-8"?>
<p:tagLst xmlns:a="http://schemas.openxmlformats.org/drawingml/2006/main" xmlns:r="http://schemas.openxmlformats.org/officeDocument/2006/relationships" xmlns:p="http://schemas.openxmlformats.org/presentationml/2006/main">
  <p:tag name="PRESENTER_SHAPEINFO" val="&lt;ThreeDShapeInfo&gt;&lt;uuid val=&quot;{E7BEACAA-E1B0-4699-A46F-FB7A9EB74472}&quot;/&gt;&lt;isInvalidForFieldText val=&quot;0&quot;/&gt;&lt;Image&gt;&lt;filename val=&quot;C:\Users\sanmi\Documents\My Adobe Presentations\ece552-SharedMemoryCoherence\data\asimages\{E7BEACAA-E1B0-4699-A46F-FB7A9EB74472}_35.png&quot;/&gt;&lt;left val=&quot;543&quot;/&gt;&lt;top val=&quot;408&quot;/&gt;&lt;width val=&quot;116&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690.xml><?xml version="1.0" encoding="utf-8"?>
<p:tagLst xmlns:a="http://schemas.openxmlformats.org/drawingml/2006/main" xmlns:r="http://schemas.openxmlformats.org/officeDocument/2006/relationships" xmlns:p="http://schemas.openxmlformats.org/presentationml/2006/main">
  <p:tag name="PRESENTER_SHAPEINFO" val="&lt;ThreeDShapeInfo&gt;&lt;uuid val=&quot;{11737D90-C94B-412F-A07B-0AAFA54EB3C3}&quot;/&gt;&lt;isInvalidForFieldText val=&quot;0&quot;/&gt;&lt;Image&gt;&lt;filename val=&quot;C:\Users\sanmi\Documents\My Adobe Presentations\ece552-SharedMemoryCoherence\data\asimages\{11737D90-C94B-412F-A07B-0AAFA54EB3C3}_35.png&quot;/&gt;&lt;left val=&quot;640&quot;/&gt;&lt;top val=&quot;356&quot;/&gt;&lt;width val=&quot;13&quot;/&gt;&lt;height val=&quot;20&quot;/&gt;&lt;hasText val=&quot;1&quot;/&gt;&lt;/Image&gt;&lt;/ThreeDShapeInfo&gt;"/>
</p:tagLst>
</file>

<file path=ppt/tags/tag6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2.xml><?xml version="1.0" encoding="utf-8"?>
<p:tagLst xmlns:a="http://schemas.openxmlformats.org/drawingml/2006/main" xmlns:r="http://schemas.openxmlformats.org/officeDocument/2006/relationships" xmlns:p="http://schemas.openxmlformats.org/presentationml/2006/main">
  <p:tag name="PRESENTER_SHAPEINFO" val="&lt;ThreeDShapeInfo&gt;&lt;uuid val=&quot;{938F8DF0-A49F-41BE-819F-A888FE85C007}&quot;/&gt;&lt;isInvalidForFieldText val=&quot;0&quot;/&gt;&lt;Image&gt;&lt;filename val=&quot;C:\Users\sanmi\Documents\My Adobe Presentations\ece552-SharedMemoryCoherence\data\asimages\{938F8DF0-A49F-41BE-819F-A888FE85C007}_35.png&quot;/&gt;&lt;left val=&quot;563&quot;/&gt;&lt;top val=&quot;449&quot;/&gt;&lt;width val=&quot;78&quot;/&gt;&lt;height val=&quot;38&quot;/&gt;&lt;hasText val=&quot;1&quot;/&gt;&lt;/Image&gt;&lt;/ThreeDShapeInfo&gt;"/>
  <p:tag name="PRESENTER_SHAPETEXTINFO" val="&lt;ShapeTextInfo&gt;&lt;TableIndex row=&quot;-1&quot; col=&quot;-1&quot;&gt;&lt;linesCount val=&quot;1&quot;/&gt;&lt;lineCharCount val=&quot;4&quot;/&gt;&lt;/TableIndex&gt;&lt;/ShapeTextInfo&gt;"/>
</p:tagLst>
</file>

<file path=ppt/tags/tag693.xml><?xml version="1.0" encoding="utf-8"?>
<p:tagLst xmlns:a="http://schemas.openxmlformats.org/drawingml/2006/main" xmlns:r="http://schemas.openxmlformats.org/officeDocument/2006/relationships" xmlns:p="http://schemas.openxmlformats.org/presentationml/2006/main">
  <p:tag name="PRESENTER_SHAPEINFO" val="&lt;ThreeDShapeInfo&gt;&lt;uuid val=&quot;{BA2AB6F2-C3D5-46DA-AB0B-C5717E965810}&quot;/&gt;&lt;isInvalidForFieldText val=&quot;0&quot;/&gt;&lt;Image&gt;&lt;filename val=&quot;C:\Users\sanmi\Documents\My Adobe Presentations\ece552-SharedMemoryCoherence\data\asimages\{BA2AB6F2-C3D5-46DA-AB0B-C5717E965810}_35.png&quot;/&gt;&lt;left val=&quot;627&quot;/&gt;&lt;top val=&quot;327&quot;/&gt;&lt;width val=&quot;38&quot;/&gt;&lt;height val=&quot;45&quot;/&gt;&lt;hasText val=&quot;1&quot;/&gt;&lt;/Image&gt;&lt;/ThreeDShapeInfo&gt;"/>
  <p:tag name="PRESENTER_SHAPETEXTINFO" val="&lt;ShapeTextInfo&gt;&lt;TableIndex row=&quot;-1&quot; col=&quot;-1&quot;&gt;&lt;linesCount val=&quot;1&quot;/&gt;&lt;lineCharCount val=&quot;1&quot;/&gt;&lt;/TableIndex&gt;&lt;/ShapeTextInfo&gt;"/>
</p:tagLst>
</file>

<file path=ppt/tags/tag694.xml><?xml version="1.0" encoding="utf-8"?>
<p:tagLst xmlns:a="http://schemas.openxmlformats.org/drawingml/2006/main" xmlns:r="http://schemas.openxmlformats.org/officeDocument/2006/relationships" xmlns:p="http://schemas.openxmlformats.org/presentationml/2006/main">
  <p:tag name="PRESENTER_SHAPEINFO" val="&lt;ThreeDShapeInfo&gt;&lt;uuid val=&quot;{6EECD19C-7DD2-4104-8F72-B7BC8B3E60D4}&quot;/&gt;&lt;isInvalidForFieldText val=&quot;0&quot;/&gt;&lt;Image&gt;&lt;filename val=&quot;C:\Users\sanmi\Documents\My Adobe Presentations\ece552-SharedMemoryCoherence\data\asimages\{6EECD19C-7DD2-4104-8F72-B7BC8B3E60D4}_35.png&quot;/&gt;&lt;left val=&quot;554&quot;/&gt;&lt;top val=&quot;356&quot;/&gt;&lt;width val=&quot;13&quot;/&gt;&lt;height val=&quot;20&quot;/&gt;&lt;hasText val=&quot;1&quot;/&gt;&lt;/Image&gt;&lt;/ThreeDShapeInfo&gt;"/>
</p:tagLst>
</file>

<file path=ppt/tags/tag6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6.xml><?xml version="1.0" encoding="utf-8"?>
<p:tagLst xmlns:a="http://schemas.openxmlformats.org/drawingml/2006/main" xmlns:r="http://schemas.openxmlformats.org/officeDocument/2006/relationships" xmlns:p="http://schemas.openxmlformats.org/presentationml/2006/main">
  <p:tag name="PRESENTER_SHAPEINFO" val="&lt;ThreeDShapeInfo&gt;&lt;uuid val=&quot;{8810B6CB-B29D-4C89-B962-604DBB2A8CC2}&quot;/&gt;&lt;isInvalidForFieldText val=&quot;0&quot;/&gt;&lt;Image&gt;&lt;filename val=&quot;C:\Users\sanmi\Documents\My Adobe Presentations\ece552-SharedMemoryCoherence\data\asimages\{8810B6CB-B29D-4C89-B962-604DBB2A8CC2}_35.png&quot;/&gt;&lt;left val=&quot;521&quot;/&gt;&lt;top val=&quot;367&quot;/&gt;&lt;width val=&quot;80&quot;/&gt;&lt;height val=&quot;26&quot;/&gt;&lt;hasText val=&quot;1&quot;/&gt;&lt;/Image&gt;&lt;/ThreeDShapeInfo&gt;"/>
  <p:tag name="PRESENTER_SHAPETEXTINFO" val="&lt;ShapeTextInfo&gt;&lt;TableIndex row=&quot;-1&quot; col=&quot;-1&quot;&gt;&lt;linesCount val=&quot;0&quot;/&gt;&lt;/TableIndex&gt;&lt;/ShapeTextInfo&gt;"/>
</p:tagLst>
</file>

<file path=ppt/tags/tag697.xml><?xml version="1.0" encoding="utf-8"?>
<p:tagLst xmlns:a="http://schemas.openxmlformats.org/drawingml/2006/main" xmlns:r="http://schemas.openxmlformats.org/officeDocument/2006/relationships" xmlns:p="http://schemas.openxmlformats.org/presentationml/2006/main">
  <p:tag name="PRESENTER_SHAPEINFO" val="&lt;ThreeDShapeInfo&gt;&lt;uuid val=&quot;{B0FE5566-CACE-4C4D-99CE-6DB3C01CDF37}&quot;/&gt;&lt;isInvalidForFieldText val=&quot;0&quot;/&gt;&lt;Image&gt;&lt;filename val=&quot;C:\Users\sanmi\Documents\My Adobe Presentations\ece552-SharedMemoryCoherence\data\asimages\{B0FE5566-CACE-4C4D-99CE-6DB3C01CDF37}_35.png&quot;/&gt;&lt;left val=&quot;541&quot;/&gt;&lt;top val=&quot;327&quot;/&gt;&lt;width val=&quot;39&quot;/&gt;&lt;height val=&quot;45&quot;/&gt;&lt;hasText val=&quot;1&quot;/&gt;&lt;/Image&gt;&lt;/ThreeDShapeInfo&gt;"/>
  <p:tag name="PRESENTER_SHAPETEXTINFO" val="&lt;ShapeTextInfo&gt;&lt;TableIndex row=&quot;-1&quot; col=&quot;-1&quot;&gt;&lt;linesCount val=&quot;1&quot;/&gt;&lt;lineCharCount val=&quot;1&quot;/&gt;&lt;/TableIndex&gt;&lt;/ShapeTextInfo&gt;"/>
</p:tagLst>
</file>

<file path=ppt/tags/tag698.xml><?xml version="1.0" encoding="utf-8"?>
<p:tagLst xmlns:a="http://schemas.openxmlformats.org/drawingml/2006/main" xmlns:r="http://schemas.openxmlformats.org/officeDocument/2006/relationships" xmlns:p="http://schemas.openxmlformats.org/presentationml/2006/main">
  <p:tag name="PRESENTER_SHAPEINFO" val="&lt;ThreeDShapeInfo&gt;&lt;uuid val=&quot;{7231DE61-705B-4EF3-A99A-E871CCD1AFCC}&quot;/&gt;&lt;isInvalidForFieldText val=&quot;0&quot;/&gt;&lt;Image&gt;&lt;filename val=&quot;C:\Users\sanmi\Documents\My Adobe Presentations\ece552-SharedMemoryCoherence\data\asimages\{7231DE61-705B-4EF3-A99A-E871CCD1AFCC}_35.png&quot;/&gt;&lt;left val=&quot;606&quot;/&gt;&lt;top val=&quot;363&quot;/&gt;&lt;width val=&quot;80&quot;/&gt;&lt;height val=&quot;39&quot;/&gt;&lt;hasText val=&quot;1&quot;/&gt;&lt;/Image&gt;&lt;/ThreeDShapeInfo&gt;"/>
  <p:tag name="PRESENTER_SHAPETEXTINFO" val="&lt;ShapeTextInfo&gt;&lt;TableIndex row=&quot;-1&quot; col=&quot;-1&quot;&gt;&lt;linesCount val=&quot;1&quot;/&gt;&lt;lineCharCount val=&quot;5&quot;/&gt;&lt;/TableIndex&gt;&lt;/ShapeTextInfo&gt;"/>
</p:tagLst>
</file>

<file path=ppt/tags/tag69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DA7470A8-6585-4777-87D4-2C8B9541E113}_35.png&quot;/&gt;&lt;left val=&quot;615&quot;/&gt;&lt;top val=&quot;307&quot;/&gt;&lt;width val=&quot;65&quot;/&gt;&lt;height val=&quot;30&quot;/&gt;&lt;hasText val=&quot;1&quot;/&gt;&lt;/Image&gt;&lt;/ThreeDShapeInfo&gt;"/>
  <p:tag name="PRESENTER_SHAPETEXTINFO" val="&lt;ShapeTextInfo&gt;&lt;TableIndex row=&quot;-1&quot; col=&quot;-1&quot;&gt;&lt;linesCount val=&quot;1&quot;/&gt;&lt;lineCharCount val=&quot;8&quot;/&gt;&lt;/TableIndex&gt;&lt;/ShapeTextInfo&gt;"/>
</p:tagLst>
</file>

<file path=ppt/tags/tag70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155C71EB-CF28-42A6-BC71-C2C180362EF0}_35.png&quot;/&gt;&lt;left val=&quot;618&quot;/&gt;&lt;top val=&quot;286&quot;/&gt;&lt;width val=&quot;55&quot;/&gt;&lt;height val=&quot;30&quot;/&gt;&lt;hasText val=&quot;1&quot;/&gt;&lt;/Image&gt;&lt;/ThreeDShapeInfo&gt;"/>
  <p:tag name="PRESENTER_SHAPETEXTINFO" val="&lt;ShapeTextInfo&gt;&lt;TableIndex row=&quot;-1&quot; col=&quot;-1&quot;&gt;&lt;linesCount val=&quot;1&quot;/&gt;&lt;lineCharCount val=&quot;6&quot;/&gt;&lt;/TableIndex&gt;&lt;/ShapeTextInfo&gt;"/>
</p:tagLst>
</file>

<file path=ppt/tags/tag701.xml><?xml version="1.0" encoding="utf-8"?>
<p:tagLst xmlns:a="http://schemas.openxmlformats.org/drawingml/2006/main" xmlns:r="http://schemas.openxmlformats.org/officeDocument/2006/relationships" xmlns:p="http://schemas.openxmlformats.org/presentationml/2006/main">
  <p:tag name="HTML_SHAPEINFO" val="&lt;SlideThumbPath val=&quot;Slide36.PNG&quot;/&gt;"/>
  <p:tag name="PPSNARRATION" val="36,883145026,C:\Users\sanmi\GoogleDrive\UWMdrive\Courses\ECE552\ece552-lec18_SharedMemoryCoherence_pptx\Media.ppcx"/>
  <p:tag name="TIMING" val="|15"/>
</p:tagLst>
</file>

<file path=ppt/tags/tag70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75A4DEC3-AB0A-446C-9AC2-CB5D6D74BA0B}_36.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70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EAA1C00F-A1F9-4C8F-8187-9A9E964DBBA0}_36.png&quot;/&gt;&lt;left val=&quot;43&quot;/&gt;&lt;top val=&quot;114&quot;/&gt;&lt;width val=&quot;680&quot;/&gt;&lt;height val=&quot;141&quot;/&gt;&lt;hasText val=&quot;1&quot;/&gt;&lt;/Image&gt;&lt;/ThreeDShapeInfo&gt;"/>
  <p:tag name="PRESENTER_SHAPETEXTINFO" val="&lt;ShapeTextInfo&gt;&lt;TableIndex row=&quot;-1&quot; col=&quot;-1&quot;&gt;&lt;linesCount val=&quot;4&quot;/&gt;&lt;lineCharCount val=&quot;53&quot;/&gt;&lt;lineCharCount val=&quot;48&quot;/&gt;&lt;lineCharCount val=&quot;55&quot;/&gt;&lt;lineCharCount val=&quot;52&quot;/&gt;&lt;/TableIndex&gt;&lt;/ShapeTextInfo&gt;"/>
</p:tagLst>
</file>

<file path=ppt/tags/tag70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3B5C409F-0F64-4F04-9A98-C68998075C79}_36.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70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ECDAD04A-459D-480A-BF5D-FAF7392C799A}_36.png&quot;/&gt;&lt;left val=&quot;7&quot;/&gt;&lt;top val=&quot;264&quot;/&gt;&lt;width val=&quot;244&quot;/&gt;&lt;height val=&quot;250&quot;/&gt;&lt;hasText val=&quot;1&quot;/&gt;&lt;/Image&gt;&lt;/ThreeDShapeInfo&gt;"/>
  <p:tag name="PRESENTER_SHAPETEXTINFO" val="&lt;ShapeTextInfo&gt;&lt;TableIndex row=&quot;-1&quot; col=&quot;-1&quot;&gt;&lt;linesCount val=&quot;10&quot;/&gt;&lt;lineCharCount val=&quot;16&quot;/&gt;&lt;lineCharCount val=&quot;27&quot;/&gt;&lt;lineCharCount val=&quot;22&quot;/&gt;&lt;lineCharCount val=&quot;9&quot;/&gt;&lt;lineCharCount val=&quot;22&quot;/&gt;&lt;lineCharCount val=&quot;22&quot;/&gt;&lt;lineCharCount val=&quot;9&quot;/&gt;&lt;lineCharCount val=&quot;22&quot;/&gt;&lt;lineCharCount val=&quot;22&quot;/&gt;&lt;lineCharCount val=&quot;8&quot;/&gt;&lt;/TableIndex&gt;&lt;/ShapeTextInfo&gt;"/>
</p:tagLst>
</file>

<file path=ppt/tags/tag70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29194A43-862F-4594-9FA7-98508FA63798}_36.png&quot;/&gt;&lt;left val=&quot;221&quot;/&gt;&lt;top val=&quot;264&quot;/&gt;&lt;width val=&quot;244&quot;/&gt;&lt;height val=&quot;252&quot;/&gt;&lt;hasText val=&quot;1&quot;/&gt;&lt;/Image&gt;&lt;/ThreeDShapeInfo&gt;"/>
  <p:tag name="PRESENTER_SHAPETEXTINFO" val="&lt;ShapeTextInfo&gt;&lt;TableIndex row=&quot;-1&quot; col=&quot;-1&quot;&gt;&lt;linesCount val=&quot;12&quot;/&gt;&lt;lineCharCount val=&quot;16&quot;/&gt;&lt;lineCharCount val=&quot;27&quot;/&gt;&lt;lineCharCount val=&quot;22&quot;/&gt;&lt;lineCharCount val=&quot;9&quot;/&gt;&lt;lineCharCount val=&quot;22&quot;/&gt;&lt;lineCharCount val=&quot;22&quot;/&gt;&lt;lineCharCount val=&quot;9&quot;/&gt;&lt;lineCharCount val=&quot;22&quot;/&gt;&lt;lineCharCount val=&quot;9&quot;/&gt;&lt;lineCharCount val=&quot;22&quot;/&gt;&lt;lineCharCount val=&quot;22&quot;/&gt;&lt;lineCharCount val=&quot;8&quot;/&gt;&lt;/TableIndex&gt;&lt;/ShapeTextInfo&gt;"/>
</p:tagLst>
</file>

<file path=ppt/tags/tag7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09.xml><?xml version="1.0" encoding="utf-8"?>
<p:tagLst xmlns:a="http://schemas.openxmlformats.org/drawingml/2006/main" xmlns:r="http://schemas.openxmlformats.org/officeDocument/2006/relationships" xmlns:p="http://schemas.openxmlformats.org/presentationml/2006/main">
  <p:tag name="PRESENTER_SHAPEINFO" val="&lt;ThreeDShapeInfo&gt;&lt;uuid val=&quot;{603C5F60-E99D-4955-8E8C-7A3CEF65578F}&quot;/&gt;&lt;isInvalidForFieldText val=&quot;0&quot;/&gt;&lt;Image&gt;&lt;filename val=&quot;C:\Users\sanmi\Documents\My Adobe Presentations\ece552-SharedMemoryCoherence\data\asimages\{603C5F60-E99D-4955-8E8C-7A3CEF65578F}_36.png&quot;/&gt;&lt;left val=&quot;543&quot;/&gt;&lt;top val=&quot;408&quot;/&gt;&lt;width val=&quot;116&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710.xml><?xml version="1.0" encoding="utf-8"?>
<p:tagLst xmlns:a="http://schemas.openxmlformats.org/drawingml/2006/main" xmlns:r="http://schemas.openxmlformats.org/officeDocument/2006/relationships" xmlns:p="http://schemas.openxmlformats.org/presentationml/2006/main">
  <p:tag name="PRESENTER_SHAPEINFO" val="&lt;ThreeDShapeInfo&gt;&lt;uuid val=&quot;{C028DB35-3D0D-454C-AD21-5B476028916D}&quot;/&gt;&lt;isInvalidForFieldText val=&quot;0&quot;/&gt;&lt;Image&gt;&lt;filename val=&quot;C:\Users\sanmi\Documents\My Adobe Presentations\ece552-SharedMemoryCoherence\data\asimages\{C028DB35-3D0D-454C-AD21-5B476028916D}_36.png&quot;/&gt;&lt;left val=&quot;640&quot;/&gt;&lt;top val=&quot;356&quot;/&gt;&lt;width val=&quot;13&quot;/&gt;&lt;height val=&quot;20&quot;/&gt;&lt;hasText val=&quot;1&quot;/&gt;&lt;/Image&gt;&lt;/ThreeDShapeInfo&gt;"/>
</p:tagLst>
</file>

<file path=ppt/tags/tag7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12.xml><?xml version="1.0" encoding="utf-8"?>
<p:tagLst xmlns:a="http://schemas.openxmlformats.org/drawingml/2006/main" xmlns:r="http://schemas.openxmlformats.org/officeDocument/2006/relationships" xmlns:p="http://schemas.openxmlformats.org/presentationml/2006/main">
  <p:tag name="PRESENTER_SHAPEINFO" val="&lt;ThreeDShapeInfo&gt;&lt;uuid val=&quot;{2D4BD855-BD42-4871-99AE-D229175BD68C}&quot;/&gt;&lt;isInvalidForFieldText val=&quot;0&quot;/&gt;&lt;Image&gt;&lt;filename val=&quot;C:\Users\sanmi\Documents\My Adobe Presentations\ece552-SharedMemoryCoherence\data\asimages\{2D4BD855-BD42-4871-99AE-D229175BD68C}_36.png&quot;/&gt;&lt;left val=&quot;563&quot;/&gt;&lt;top val=&quot;449&quot;/&gt;&lt;width val=&quot;78&quot;/&gt;&lt;height val=&quot;38&quot;/&gt;&lt;hasText val=&quot;1&quot;/&gt;&lt;/Image&gt;&lt;/ThreeDShapeInfo&gt;"/>
  <p:tag name="PRESENTER_SHAPETEXTINFO" val="&lt;ShapeTextInfo&gt;&lt;TableIndex row=&quot;-1&quot; col=&quot;-1&quot;&gt;&lt;linesCount val=&quot;1&quot;/&gt;&lt;lineCharCount val=&quot;4&quot;/&gt;&lt;/TableIndex&gt;&lt;/ShapeTextInfo&gt;"/>
</p:tagLst>
</file>

<file path=ppt/tags/tag713.xml><?xml version="1.0" encoding="utf-8"?>
<p:tagLst xmlns:a="http://schemas.openxmlformats.org/drawingml/2006/main" xmlns:r="http://schemas.openxmlformats.org/officeDocument/2006/relationships" xmlns:p="http://schemas.openxmlformats.org/presentationml/2006/main">
  <p:tag name="PRESENTER_SHAPEINFO" val="&lt;ThreeDShapeInfo&gt;&lt;uuid val=&quot;{21DE420C-EEDD-4831-BCFA-4F3A75D4F6A4}&quot;/&gt;&lt;isInvalidForFieldText val=&quot;0&quot;/&gt;&lt;Image&gt;&lt;filename val=&quot;C:\Users\sanmi\Documents\My Adobe Presentations\ece552-SharedMemoryCoherence\data\asimages\{21DE420C-EEDD-4831-BCFA-4F3A75D4F6A4}_36.png&quot;/&gt;&lt;left val=&quot;627&quot;/&gt;&lt;top val=&quot;327&quot;/&gt;&lt;width val=&quot;38&quot;/&gt;&lt;height val=&quot;45&quot;/&gt;&lt;hasText val=&quot;1&quot;/&gt;&lt;/Image&gt;&lt;/ThreeDShapeInfo&gt;"/>
  <p:tag name="PRESENTER_SHAPETEXTINFO" val="&lt;ShapeTextInfo&gt;&lt;TableIndex row=&quot;-1&quot; col=&quot;-1&quot;&gt;&lt;linesCount val=&quot;1&quot;/&gt;&lt;lineCharCount val=&quot;1&quot;/&gt;&lt;/TableIndex&gt;&lt;/ShapeTextInfo&gt;"/>
</p:tagLst>
</file>

<file path=ppt/tags/tag714.xml><?xml version="1.0" encoding="utf-8"?>
<p:tagLst xmlns:a="http://schemas.openxmlformats.org/drawingml/2006/main" xmlns:r="http://schemas.openxmlformats.org/officeDocument/2006/relationships" xmlns:p="http://schemas.openxmlformats.org/presentationml/2006/main">
  <p:tag name="PRESENTER_SHAPEINFO" val="&lt;ThreeDShapeInfo&gt;&lt;uuid val=&quot;{F116BE82-5114-4723-AB8F-1EF7B0E5C96E}&quot;/&gt;&lt;isInvalidForFieldText val=&quot;0&quot;/&gt;&lt;Image&gt;&lt;filename val=&quot;C:\Users\sanmi\Documents\My Adobe Presentations\ece552-SharedMemoryCoherence\data\asimages\{F116BE82-5114-4723-AB8F-1EF7B0E5C96E}_36.png&quot;/&gt;&lt;left val=&quot;554&quot;/&gt;&lt;top val=&quot;356&quot;/&gt;&lt;width val=&quot;13&quot;/&gt;&lt;height val=&quot;20&quot;/&gt;&lt;hasText val=&quot;1&quot;/&gt;&lt;/Image&gt;&lt;/ThreeDShapeInfo&gt;"/>
</p:tagLst>
</file>

<file path=ppt/tags/tag7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16.xml><?xml version="1.0" encoding="utf-8"?>
<p:tagLst xmlns:a="http://schemas.openxmlformats.org/drawingml/2006/main" xmlns:r="http://schemas.openxmlformats.org/officeDocument/2006/relationships" xmlns:p="http://schemas.openxmlformats.org/presentationml/2006/main">
  <p:tag name="PRESENTER_SHAPEINFO" val="&lt;ThreeDShapeInfo&gt;&lt;uuid val=&quot;{1B8790DA-E7AF-4C0E-8998-B9B1858B01CC}&quot;/&gt;&lt;isInvalidForFieldText val=&quot;0&quot;/&gt;&lt;Image&gt;&lt;filename val=&quot;C:\Users\sanmi\Documents\My Adobe Presentations\ece552-SharedMemoryCoherence\data\asimages\{1B8790DA-E7AF-4C0E-8998-B9B1858B01CC}_36.png&quot;/&gt;&lt;left val=&quot;541&quot;/&gt;&lt;top val=&quot;327&quot;/&gt;&lt;width val=&quot;39&quot;/&gt;&lt;height val=&quot;45&quot;/&gt;&lt;hasText val=&quot;1&quot;/&gt;&lt;/Image&gt;&lt;/ThreeDShapeInfo&gt;"/>
  <p:tag name="PRESENTER_SHAPETEXTINFO" val="&lt;ShapeTextInfo&gt;&lt;TableIndex row=&quot;-1&quot; col=&quot;-1&quot;&gt;&lt;linesCount val=&quot;1&quot;/&gt;&lt;lineCharCount val=&quot;1&quot;/&gt;&lt;/TableIndex&gt;&lt;/ShapeTextInfo&gt;"/>
</p:tagLst>
</file>

<file path=ppt/tags/tag717.xml><?xml version="1.0" encoding="utf-8"?>
<p:tagLst xmlns:a="http://schemas.openxmlformats.org/drawingml/2006/main" xmlns:r="http://schemas.openxmlformats.org/officeDocument/2006/relationships" xmlns:p="http://schemas.openxmlformats.org/presentationml/2006/main">
  <p:tag name="PRESENTER_SHAPEINFO" val="&lt;ThreeDShapeInfo&gt;&lt;uuid val=&quot;{1FFF63E4-16AC-4F98-9C05-05AA8FB31F98}&quot;/&gt;&lt;isInvalidForFieldText val=&quot;0&quot;/&gt;&lt;Image&gt;&lt;filename val=&quot;C:\Users\sanmi\Documents\My Adobe Presentations\ece552-SharedMemoryCoherence\data\asimages\{1FFF63E4-16AC-4F98-9C05-05AA8FB31F98}_36.png&quot;/&gt;&lt;left val=&quot;606&quot;/&gt;&lt;top val=&quot;363&quot;/&gt;&lt;width val=&quot;80&quot;/&gt;&lt;height val=&quot;39&quot;/&gt;&lt;hasText val=&quot;1&quot;/&gt;&lt;/Image&gt;&lt;/ThreeDShapeInfo&gt;"/>
  <p:tag name="PRESENTER_SHAPETEXTINFO" val="&lt;ShapeTextInfo&gt;&lt;TableIndex row=&quot;-1&quot; col=&quot;-1&quot;&gt;&lt;linesCount val=&quot;1&quot;/&gt;&lt;lineCharCount val=&quot;5&quot;/&gt;&lt;/TableIndex&gt;&lt;/ShapeTextInfo&gt;"/>
</p:tagLst>
</file>

<file path=ppt/tags/tag718.xml><?xml version="1.0" encoding="utf-8"?>
<p:tagLst xmlns:a="http://schemas.openxmlformats.org/drawingml/2006/main" xmlns:r="http://schemas.openxmlformats.org/officeDocument/2006/relationships" xmlns:p="http://schemas.openxmlformats.org/presentationml/2006/main">
  <p:tag name="PRESENTER_SHAPEINFO" val="&lt;ThreeDShapeInfo&gt;&lt;uuid val=&quot;{DB8494AE-7998-4381-A387-8AC93996D8CA}&quot;/&gt;&lt;isInvalidForFieldText val=&quot;0&quot;/&gt;&lt;Image&gt;&lt;filename val=&quot;C:\Users\sanmi\Documents\My Adobe Presentations\ece552-SharedMemoryCoherence\data\asimages\{DB8494AE-7998-4381-A387-8AC93996D8CA}_36.png&quot;/&gt;&lt;left val=&quot;521&quot;/&gt;&lt;top val=&quot;365&quot;/&gt;&lt;width val=&quot;80&quot;/&gt;&lt;height val=&quot;38&quot;/&gt;&lt;hasText val=&quot;1&quot;/&gt;&lt;/Image&gt;&lt;/ThreeDShapeInfo&gt;"/>
  <p:tag name="PRESENTER_SHAPETEXTINFO" val="&lt;ShapeTextInfo&gt;&lt;TableIndex row=&quot;-1&quot; col=&quot;-1&quot;&gt;&lt;linesCount val=&quot;1&quot;/&gt;&lt;lineCharCount val=&quot;4&quot;/&gt;&lt;/TableIndex&gt;&lt;/ShapeTextInfo&gt;"/>
</p:tagLst>
</file>

<file path=ppt/tags/tag7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DDEBCC57-DB7E-4CF4-9683-8C35ED5FCC43}_36.png&quot;/&gt;&lt;left val=&quot;526&quot;/&gt;&lt;top val=&quot;310&quot;/&gt;&lt;width val=&quot;68&quot;/&gt;&lt;height val=&quot;30&quot;/&gt;&lt;hasText val=&quot;1&quot;/&gt;&lt;/Image&gt;&lt;/ThreeDShapeInfo&gt;"/>
  <p:tag name="PRESENTER_SHAPETEXTINFO" val="&lt;ShapeTextInfo&gt;&lt;TableIndex row=&quot;-1&quot; col=&quot;-1&quot;&gt;&lt;linesCount val=&quot;1&quot;/&gt;&lt;lineCharCount val=&quot;10&quot;/&gt;&lt;/TableIndex&gt;&lt;/ShapeTextInfo&gt;"/>
</p:tagLst>
</file>

<file path=ppt/tags/tag72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954C825-D29B-4885-B1ED-5514CE8B0B3A}_36.png&quot;/&gt;&lt;left val=&quot;534&quot;/&gt;&lt;top val=&quot;292&quot;/&gt;&lt;width val=&quot;58&quot;/&gt;&lt;height val=&quot;30&quot;/&gt;&lt;hasText val=&quot;1&quot;/&gt;&lt;/Image&gt;&lt;/ThreeDShapeInfo&gt;"/>
  <p:tag name="PRESENTER_SHAPETEXTINFO" val="&lt;ShapeTextInfo&gt;&lt;TableIndex row=&quot;-1&quot; col=&quot;-1&quot;&gt;&lt;linesCount val=&quot;1&quot;/&gt;&lt;lineCharCount val=&quot;7&quot;/&gt;&lt;/TableIndex&gt;&lt;/ShapeTextInfo&gt;"/>
</p:tagLst>
</file>

<file path=ppt/tags/tag721.xml><?xml version="1.0" encoding="utf-8"?>
<p:tagLst xmlns:a="http://schemas.openxmlformats.org/drawingml/2006/main" xmlns:r="http://schemas.openxmlformats.org/officeDocument/2006/relationships" xmlns:p="http://schemas.openxmlformats.org/presentationml/2006/main">
  <p:tag name="PRESENTER_SHAPEINFO" val="&lt;ThreeDShapeInfo&gt;&lt;uuid val=&quot;{A518CE38-C7D0-4116-9A99-C5FDBDFBE483}&quot;/&gt;&lt;isInvalidForFieldText val=&quot;0&quot;/&gt;&lt;Image&gt;&lt;filename val=&quot;C:\Users\sanmi\Documents\My Adobe Presentations\ece552-SharedMemoryCoherence\data\asimages\{A518CE38-C7D0-4116-9A99-C5FDBDFBE483}_36.png&quot;/&gt;&lt;left val=&quot;563&quot;/&gt;&lt;top val=&quot;449&quot;/&gt;&lt;width val=&quot;78&quot;/&gt;&lt;height val=&quot;38&quot;/&gt;&lt;hasText val=&quot;1&quot;/&gt;&lt;/Image&gt;&lt;/ThreeDShapeInfo&gt;"/>
  <p:tag name="PRESENTER_SHAPETEXTINFO" val="&lt;ShapeTextInfo&gt;&lt;TableIndex row=&quot;-1&quot; col=&quot;-1&quot;&gt;&lt;linesCount val=&quot;1&quot;/&gt;&lt;lineCharCount val=&quot;4&quot;/&gt;&lt;/TableIndex&gt;&lt;/ShapeTextInfo&gt;"/>
</p:tagLst>
</file>

<file path=ppt/tags/tag722.xml><?xml version="1.0" encoding="utf-8"?>
<p:tagLst xmlns:a="http://schemas.openxmlformats.org/drawingml/2006/main" xmlns:r="http://schemas.openxmlformats.org/officeDocument/2006/relationships" xmlns:p="http://schemas.openxmlformats.org/presentationml/2006/main">
  <p:tag name="PRESENTER_SHAPEINFO" val="&lt;ThreeDShapeInfo&gt;&lt;uuid val=&quot;{621E5994-48C1-4CA0-B2AE-5A4B253F4A33}&quot;/&gt;&lt;isInvalidForFieldText val=&quot;0&quot;/&gt;&lt;Image&gt;&lt;filename val=&quot;C:\Users\sanmi\Documents\My Adobe Presentations\ece552-SharedMemoryCoherence\data\asimages\{621E5994-48C1-4CA0-B2AE-5A4B253F4A33}_36.png&quot;/&gt;&lt;left val=&quot;521&quot;/&gt;&lt;top val=&quot;369&quot;/&gt;&lt;width val=&quot;80&quot;/&gt;&lt;height val=&quot;26&quot;/&gt;&lt;hasText val=&quot;1&quot;/&gt;&lt;/Image&gt;&lt;/ThreeDShapeInfo&gt;"/>
  <p:tag name="PRESENTER_SHAPETEXTINFO" val="&lt;ShapeTextInfo&gt;&lt;TableIndex row=&quot;-1&quot; col=&quot;-1&quot;&gt;&lt;linesCount val=&quot;0&quot;/&gt;&lt;/TableIndex&gt;&lt;/ShapeTextInfo&gt;"/>
</p:tagLst>
</file>

<file path=ppt/tags/tag723.xml><?xml version="1.0" encoding="utf-8"?>
<p:tagLst xmlns:a="http://schemas.openxmlformats.org/drawingml/2006/main" xmlns:r="http://schemas.openxmlformats.org/officeDocument/2006/relationships" xmlns:p="http://schemas.openxmlformats.org/presentationml/2006/main">
  <p:tag name="HTML_SHAPEINFO" val="&lt;SlideThumbPath val=&quot;Slide37.PNG&quot;/&gt;"/>
  <p:tag name="PPSNARRATION" val="37,883145026,C:\Users\sanmi\GoogleDrive\UWMdrive\Courses\ECE552\ece552-lec18_SharedMemoryCoherence_pptx\Media.ppcx"/>
</p:tagLst>
</file>

<file path=ppt/tags/tag72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DD7FB68-9D2A-4307-8DBD-F3452ED79104}_37.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72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2A0B2F9D-902A-4CEB-8071-1D23314B4E2A}_37.png&quot;/&gt;&lt;left val=&quot;43&quot;/&gt;&lt;top val=&quot;114&quot;/&gt;&lt;width val=&quot;680&quot;/&gt;&lt;height val=&quot;141&quot;/&gt;&lt;hasText val=&quot;1&quot;/&gt;&lt;/Image&gt;&lt;/ThreeDShapeInfo&gt;"/>
  <p:tag name="PRESENTER_SHAPETEXTINFO" val="&lt;ShapeTextInfo&gt;&lt;TableIndex row=&quot;-1&quot; col=&quot;-1&quot;&gt;&lt;linesCount val=&quot;4&quot;/&gt;&lt;lineCharCount val=&quot;53&quot;/&gt;&lt;lineCharCount val=&quot;48&quot;/&gt;&lt;lineCharCount val=&quot;55&quot;/&gt;&lt;lineCharCount val=&quot;52&quot;/&gt;&lt;/TableIndex&gt;&lt;/ShapeTextInfo&gt;"/>
</p:tagLst>
</file>

<file path=ppt/tags/tag72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73C5DE2A-B429-456C-B569-811DF85B9628}_37.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72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384B9DC0-A79C-4123-A18E-DF683BAB46B3}_37.png&quot;/&gt;&lt;left val=&quot;7&quot;/&gt;&lt;top val=&quot;264&quot;/&gt;&lt;width val=&quot;244&quot;/&gt;&lt;height val=&quot;250&quot;/&gt;&lt;hasText val=&quot;1&quot;/&gt;&lt;/Image&gt;&lt;/ThreeDShapeInfo&gt;"/>
  <p:tag name="PRESENTER_SHAPETEXTINFO" val="&lt;ShapeTextInfo&gt;&lt;TableIndex row=&quot;-1&quot; col=&quot;-1&quot;&gt;&lt;linesCount val=&quot;10&quot;/&gt;&lt;lineCharCount val=&quot;16&quot;/&gt;&lt;lineCharCount val=&quot;27&quot;/&gt;&lt;lineCharCount val=&quot;22&quot;/&gt;&lt;lineCharCount val=&quot;9&quot;/&gt;&lt;lineCharCount val=&quot;22&quot;/&gt;&lt;lineCharCount val=&quot;22&quot;/&gt;&lt;lineCharCount val=&quot;9&quot;/&gt;&lt;lineCharCount val=&quot;22&quot;/&gt;&lt;lineCharCount val=&quot;22&quot;/&gt;&lt;lineCharCount val=&quot;8&quot;/&gt;&lt;/TableIndex&gt;&lt;/ShapeTextInfo&gt;"/>
</p:tagLst>
</file>

<file path=ppt/tags/tag72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E3D24CE3-115B-4E45-BADB-AB34B476C884}_37.png&quot;/&gt;&lt;left val=&quot;221&quot;/&gt;&lt;top val=&quot;264&quot;/&gt;&lt;width val=&quot;244&quot;/&gt;&lt;height val=&quot;252&quot;/&gt;&lt;hasText val=&quot;1&quot;/&gt;&lt;/Image&gt;&lt;/ThreeDShapeInfo&gt;"/>
  <p:tag name="PRESENTER_SHAPETEXTINFO" val="&lt;ShapeTextInfo&gt;&lt;TableIndex row=&quot;-1&quot; col=&quot;-1&quot;&gt;&lt;linesCount val=&quot;12&quot;/&gt;&lt;lineCharCount val=&quot;16&quot;/&gt;&lt;lineCharCount val=&quot;27&quot;/&gt;&lt;lineCharCount val=&quot;22&quot;/&gt;&lt;lineCharCount val=&quot;9&quot;/&gt;&lt;lineCharCount val=&quot;22&quot;/&gt;&lt;lineCharCount val=&quot;22&quot;/&gt;&lt;lineCharCount val=&quot;9&quot;/&gt;&lt;lineCharCount val=&quot;22&quot;/&gt;&lt;lineCharCount val=&quot;9&quot;/&gt;&lt;lineCharCount val=&quot;22&quot;/&gt;&lt;lineCharCount val=&quot;22&quot;/&gt;&lt;lineCharCount val=&quot;8&quot;/&gt;&lt;/TableIndex&gt;&lt;/ShapeTextInfo&gt;"/>
</p:tagLst>
</file>

<file path=ppt/tags/tag7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31.xml><?xml version="1.0" encoding="utf-8"?>
<p:tagLst xmlns:a="http://schemas.openxmlformats.org/drawingml/2006/main" xmlns:r="http://schemas.openxmlformats.org/officeDocument/2006/relationships" xmlns:p="http://schemas.openxmlformats.org/presentationml/2006/main">
  <p:tag name="PRESENTER_SHAPEINFO" val="&lt;ThreeDShapeInfo&gt;&lt;uuid val=&quot;{53F812B5-A4B8-4C9F-8258-2A496B5634A3}&quot;/&gt;&lt;isInvalidForFieldText val=&quot;0&quot;/&gt;&lt;Image&gt;&lt;filename val=&quot;C:\Users\sanmi\Documents\My Adobe Presentations\ece552-SharedMemoryCoherence\data\asimages\{53F812B5-A4B8-4C9F-8258-2A496B5634A3}_37.png&quot;/&gt;&lt;left val=&quot;543&quot;/&gt;&lt;top val=&quot;408&quot;/&gt;&lt;width val=&quot;116&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732.xml><?xml version="1.0" encoding="utf-8"?>
<p:tagLst xmlns:a="http://schemas.openxmlformats.org/drawingml/2006/main" xmlns:r="http://schemas.openxmlformats.org/officeDocument/2006/relationships" xmlns:p="http://schemas.openxmlformats.org/presentationml/2006/main">
  <p:tag name="PRESENTER_SHAPEINFO" val="&lt;ThreeDShapeInfo&gt;&lt;uuid val=&quot;{2B4C0C56-F3D7-4716-8406-C082B64539BC}&quot;/&gt;&lt;isInvalidForFieldText val=&quot;0&quot;/&gt;&lt;Image&gt;&lt;filename val=&quot;C:\Users\sanmi\Documents\My Adobe Presentations\ece552-SharedMemoryCoherence\data\asimages\{2B4C0C56-F3D7-4716-8406-C082B64539BC}_37.png&quot;/&gt;&lt;left val=&quot;640&quot;/&gt;&lt;top val=&quot;356&quot;/&gt;&lt;width val=&quot;13&quot;/&gt;&lt;height val=&quot;20&quot;/&gt;&lt;hasText val=&quot;1&quot;/&gt;&lt;/Image&gt;&lt;/ThreeDShapeInfo&gt;"/>
</p:tagLst>
</file>

<file path=ppt/tags/tag7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34.xml><?xml version="1.0" encoding="utf-8"?>
<p:tagLst xmlns:a="http://schemas.openxmlformats.org/drawingml/2006/main" xmlns:r="http://schemas.openxmlformats.org/officeDocument/2006/relationships" xmlns:p="http://schemas.openxmlformats.org/presentationml/2006/main">
  <p:tag name="PRESENTER_SHAPEINFO" val="&lt;ThreeDShapeInfo&gt;&lt;uuid val=&quot;{579D5025-27A3-4D4A-94E5-C9EB706E00A5}&quot;/&gt;&lt;isInvalidForFieldText val=&quot;0&quot;/&gt;&lt;Image&gt;&lt;filename val=&quot;C:\Users\sanmi\Documents\My Adobe Presentations\ece552-SharedMemoryCoherence\data\asimages\{579D5025-27A3-4D4A-94E5-C9EB706E00A5}_37.png&quot;/&gt;&lt;left val=&quot;563&quot;/&gt;&lt;top val=&quot;449&quot;/&gt;&lt;width val=&quot;78&quot;/&gt;&lt;height val=&quot;38&quot;/&gt;&lt;hasText val=&quot;1&quot;/&gt;&lt;/Image&gt;&lt;/ThreeDShapeInfo&gt;"/>
  <p:tag name="PRESENTER_SHAPETEXTINFO" val="&lt;ShapeTextInfo&gt;&lt;TableIndex row=&quot;-1&quot; col=&quot;-1&quot;&gt;&lt;linesCount val=&quot;1&quot;/&gt;&lt;lineCharCount val=&quot;5&quot;/&gt;&lt;/TableIndex&gt;&lt;/ShapeTextInfo&gt;"/>
</p:tagLst>
</file>

<file path=ppt/tags/tag735.xml><?xml version="1.0" encoding="utf-8"?>
<p:tagLst xmlns:a="http://schemas.openxmlformats.org/drawingml/2006/main" xmlns:r="http://schemas.openxmlformats.org/officeDocument/2006/relationships" xmlns:p="http://schemas.openxmlformats.org/presentationml/2006/main">
  <p:tag name="PRESENTER_SHAPEINFO" val="&lt;ThreeDShapeInfo&gt;&lt;uuid val=&quot;{33308F10-E7FA-4E46-9338-F3DDA458E4EA}&quot;/&gt;&lt;isInvalidForFieldText val=&quot;0&quot;/&gt;&lt;Image&gt;&lt;filename val=&quot;C:\Users\sanmi\Documents\My Adobe Presentations\ece552-SharedMemoryCoherence\data\asimages\{33308F10-E7FA-4E46-9338-F3DDA458E4EA}_37.png&quot;/&gt;&lt;left val=&quot;627&quot;/&gt;&lt;top val=&quot;327&quot;/&gt;&lt;width val=&quot;38&quot;/&gt;&lt;height val=&quot;45&quot;/&gt;&lt;hasText val=&quot;1&quot;/&gt;&lt;/Image&gt;&lt;/ThreeDShapeInfo&gt;"/>
  <p:tag name="PRESENTER_SHAPETEXTINFO" val="&lt;ShapeTextInfo&gt;&lt;TableIndex row=&quot;-1&quot; col=&quot;-1&quot;&gt;&lt;linesCount val=&quot;1&quot;/&gt;&lt;lineCharCount val=&quot;1&quot;/&gt;&lt;/TableIndex&gt;&lt;/ShapeTextInfo&gt;"/>
</p:tagLst>
</file>

<file path=ppt/tags/tag736.xml><?xml version="1.0" encoding="utf-8"?>
<p:tagLst xmlns:a="http://schemas.openxmlformats.org/drawingml/2006/main" xmlns:r="http://schemas.openxmlformats.org/officeDocument/2006/relationships" xmlns:p="http://schemas.openxmlformats.org/presentationml/2006/main">
  <p:tag name="PRESENTER_SHAPEINFO" val="&lt;ThreeDShapeInfo&gt;&lt;uuid val=&quot;{BFC826B2-9A6C-4569-B50E-A3417E296C37}&quot;/&gt;&lt;isInvalidForFieldText val=&quot;0&quot;/&gt;&lt;Image&gt;&lt;filename val=&quot;C:\Users\sanmi\Documents\My Adobe Presentations\ece552-SharedMemoryCoherence\data\asimages\{BFC826B2-9A6C-4569-B50E-A3417E296C37}_37.png&quot;/&gt;&lt;left val=&quot;554&quot;/&gt;&lt;top val=&quot;356&quot;/&gt;&lt;width val=&quot;13&quot;/&gt;&lt;height val=&quot;20&quot;/&gt;&lt;hasText val=&quot;1&quot;/&gt;&lt;/Image&gt;&lt;/ThreeDShapeInfo&gt;"/>
</p:tagLst>
</file>

<file path=ppt/tags/tag7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38.xml><?xml version="1.0" encoding="utf-8"?>
<p:tagLst xmlns:a="http://schemas.openxmlformats.org/drawingml/2006/main" xmlns:r="http://schemas.openxmlformats.org/officeDocument/2006/relationships" xmlns:p="http://schemas.openxmlformats.org/presentationml/2006/main">
  <p:tag name="PRESENTER_SHAPEINFO" val="&lt;ThreeDShapeInfo&gt;&lt;uuid val=&quot;{779813AE-655C-4DEA-99D9-12D9DD358700}&quot;/&gt;&lt;isInvalidForFieldText val=&quot;0&quot;/&gt;&lt;Image&gt;&lt;filename val=&quot;C:\Users\sanmi\Documents\My Adobe Presentations\ece552-SharedMemoryCoherence\data\asimages\{779813AE-655C-4DEA-99D9-12D9DD358700}_37.png&quot;/&gt;&lt;left val=&quot;541&quot;/&gt;&lt;top val=&quot;327&quot;/&gt;&lt;width val=&quot;39&quot;/&gt;&lt;height val=&quot;45&quot;/&gt;&lt;hasText val=&quot;1&quot;/&gt;&lt;/Image&gt;&lt;/ThreeDShapeInfo&gt;"/>
  <p:tag name="PRESENTER_SHAPETEXTINFO" val="&lt;ShapeTextInfo&gt;&lt;TableIndex row=&quot;-1&quot; col=&quot;-1&quot;&gt;&lt;linesCount val=&quot;1&quot;/&gt;&lt;lineCharCount val=&quot;1&quot;/&gt;&lt;/TableIndex&gt;&lt;/ShapeTextInfo&gt;"/>
</p:tagLst>
</file>

<file path=ppt/tags/tag739.xml><?xml version="1.0" encoding="utf-8"?>
<p:tagLst xmlns:a="http://schemas.openxmlformats.org/drawingml/2006/main" xmlns:r="http://schemas.openxmlformats.org/officeDocument/2006/relationships" xmlns:p="http://schemas.openxmlformats.org/presentationml/2006/main">
  <p:tag name="PRESENTER_SHAPEINFO" val="&lt;ThreeDShapeInfo&gt;&lt;uuid val=&quot;{C4455465-4131-4AFE-803C-A36ACF558A33}&quot;/&gt;&lt;isInvalidForFieldText val=&quot;0&quot;/&gt;&lt;Image&gt;&lt;filename val=&quot;C:\Users\sanmi\Documents\My Adobe Presentations\ece552-SharedMemoryCoherence\data\asimages\{C4455465-4131-4AFE-803C-A36ACF558A33}_37.png&quot;/&gt;&lt;left val=&quot;606&quot;/&gt;&lt;top val=&quot;367&quot;/&gt;&lt;width val=&quot;80&quot;/&gt;&lt;height val=&quot;26&quot;/&gt;&lt;hasText val=&quot;1&quot;/&gt;&lt;/Image&gt;&lt;/ThreeDShapeInfo&gt;"/>
  <p:tag name="PRESENTER_SHAPETEXTINFO" val="&lt;ShapeTextInfo&gt;&lt;TableIndex row=&quot;-1&quot; col=&quot;-1&quot;&gt;&lt;linesCount val=&quot;0&quot;/&gt;&lt;/TableIndex&gt;&lt;/ShapeTextInfo&gt;"/>
</p:tagLst>
</file>

<file path=ppt/tags/tag740.xml><?xml version="1.0" encoding="utf-8"?>
<p:tagLst xmlns:a="http://schemas.openxmlformats.org/drawingml/2006/main" xmlns:r="http://schemas.openxmlformats.org/officeDocument/2006/relationships" xmlns:p="http://schemas.openxmlformats.org/presentationml/2006/main">
  <p:tag name="PRESENTER_SHAPEINFO" val="&lt;ThreeDShapeInfo&gt;&lt;uuid val=&quot;{E80617D5-9CFF-4CD9-A287-6B43F88DC4BF}&quot;/&gt;&lt;isInvalidForFieldText val=&quot;0&quot;/&gt;&lt;Image&gt;&lt;filename val=&quot;C:\Users\sanmi\Documents\My Adobe Presentations\ece552-SharedMemoryCoherence\data\asimages\{E80617D5-9CFF-4CD9-A287-6B43F88DC4BF}_37.png&quot;/&gt;&lt;left val=&quot;521&quot;/&gt;&lt;top val=&quot;367&quot;/&gt;&lt;width val=&quot;80&quot;/&gt;&lt;height val=&quot;26&quot;/&gt;&lt;hasText val=&quot;1&quot;/&gt;&lt;/Image&gt;&lt;/ThreeDShapeInfo&gt;"/>
  <p:tag name="PRESENTER_SHAPETEXTINFO" val="&lt;ShapeTextInfo&gt;&lt;TableIndex row=&quot;-1&quot; col=&quot;-1&quot;&gt;&lt;linesCount val=&quot;0&quot;/&gt;&lt;/TableIndex&gt;&lt;/ShapeTextInfo&gt;"/>
</p:tagLst>
</file>

<file path=ppt/tags/tag74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0CF22F8A-E2B7-4E6D-8597-39A8967B257C}_37.png&quot;/&gt;&lt;left val=&quot;609&quot;/&gt;&lt;top val=&quot;307&quot;/&gt;&lt;width val=&quot;75&quot;/&gt;&lt;height val=&quot;30&quot;/&gt;&lt;hasText val=&quot;1&quot;/&gt;&lt;/Image&gt;&lt;/ThreeDShapeInfo&gt;"/>
  <p:tag name="PRESENTER_SHAPETEXTINFO" val="&lt;ShapeTextInfo&gt;&lt;TableIndex row=&quot;-1&quot; col=&quot;-1&quot;&gt;&lt;linesCount val=&quot;1&quot;/&gt;&lt;lineCharCount val=&quot;11&quot;/&gt;&lt;/TableIndex&gt;&lt;/ShapeTextInfo&gt;"/>
</p:tagLst>
</file>

<file path=ppt/theme/theme1.xml><?xml version="1.0" encoding="utf-8"?>
<a:theme xmlns:a="http://schemas.openxmlformats.org/drawingml/2006/main" name="Lecture Notes 55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 Notes 552</Template>
  <TotalTime>81</TotalTime>
  <Words>3530</Words>
  <Application>Microsoft Macintosh PowerPoint</Application>
  <PresentationFormat>On-screen Show (4:3)</PresentationFormat>
  <Paragraphs>740</Paragraphs>
  <Slides>37</Slides>
  <Notes>37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굴림</vt:lpstr>
      <vt:lpstr>Arial</vt:lpstr>
      <vt:lpstr>Calibri</vt:lpstr>
      <vt:lpstr>Courier New</vt:lpstr>
      <vt:lpstr>Times New Roman</vt:lpstr>
      <vt:lpstr>Wingdings</vt:lpstr>
      <vt:lpstr>Lecture Notes 552</vt:lpstr>
      <vt:lpstr>ECE/CS 552: Shared Memory and Coherence</vt:lpstr>
      <vt:lpstr>Shared Memory</vt:lpstr>
      <vt:lpstr>Shared Memory</vt:lpstr>
      <vt:lpstr>Shared-Memory CMP</vt:lpstr>
      <vt:lpstr>Shared-Memory CMP</vt:lpstr>
      <vt:lpstr>UMA vs. NUMA</vt:lpstr>
      <vt:lpstr>Cache Coherence Problem</vt:lpstr>
      <vt:lpstr>Cache Coherence Problem</vt:lpstr>
      <vt:lpstr>Cache Coherence Protocol</vt:lpstr>
      <vt:lpstr>Cache Coherence Protocol</vt:lpstr>
      <vt:lpstr>Cache Coherence Protocol</vt:lpstr>
      <vt:lpstr>Cache Coherence Protocols</vt:lpstr>
      <vt:lpstr>Cache Coherence Protocols</vt:lpstr>
      <vt:lpstr>Cache Coherence Protocols</vt:lpstr>
      <vt:lpstr>MI Protocol</vt:lpstr>
      <vt:lpstr>MI Protocol</vt:lpstr>
      <vt:lpstr>MI Protocol</vt:lpstr>
      <vt:lpstr>MI Protocol</vt:lpstr>
      <vt:lpstr>MI Protocol</vt:lpstr>
      <vt:lpstr>MSI Protocol</vt:lpstr>
      <vt:lpstr>MSI Protocol</vt:lpstr>
      <vt:lpstr>MSI Protocol</vt:lpstr>
      <vt:lpstr>MSI Protocol</vt:lpstr>
      <vt:lpstr>MSI Protocol</vt:lpstr>
      <vt:lpstr>MSI Protocol</vt:lpstr>
      <vt:lpstr>MSI Protocol</vt:lpstr>
      <vt:lpstr>MSI Protocol</vt:lpstr>
      <vt:lpstr>MSI Protocol</vt:lpstr>
      <vt:lpstr>MSI Protocol</vt:lpstr>
      <vt:lpstr>Exercise</vt:lpstr>
      <vt:lpstr>Exercise</vt:lpstr>
      <vt:lpstr>Exercise</vt:lpstr>
      <vt:lpstr>Exercise</vt:lpstr>
      <vt:lpstr>Exercise</vt:lpstr>
      <vt:lpstr>Exercise</vt:lpstr>
      <vt:lpstr>Exercise</vt:lpstr>
      <vt:lpstr>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ECE/CS 552: Shared Memory and Coherence</dc:title>
  <dc:creator/>
  <cp:lastModifiedBy>Boone Severson</cp:lastModifiedBy>
  <cp:revision>498</cp:revision>
  <cp:lastPrinted>1601-01-01T00:00:00Z</cp:lastPrinted>
  <dcterms:created xsi:type="dcterms:W3CDTF">1601-01-01T00:00:00Z</dcterms:created>
  <dcterms:modified xsi:type="dcterms:W3CDTF">2024-08-29T04:25:52Z</dcterms:modified>
</cp:coreProperties>
</file>