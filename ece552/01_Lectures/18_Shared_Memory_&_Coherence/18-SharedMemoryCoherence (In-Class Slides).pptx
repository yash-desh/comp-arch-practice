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2.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3.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4.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notesSlides/notesSlide5.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6.xml" ContentType="application/vnd.openxmlformats-officedocument.presentationml.notesSlide+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notesSlides/notesSlide7.xml" ContentType="application/vnd.openxmlformats-officedocument.presentationml.notesSlide+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notesSlides/notesSlide8.xml" ContentType="application/vnd.openxmlformats-officedocument.presentationml.notesSlide+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notesSlides/notesSlide9.xml" ContentType="application/vnd.openxmlformats-officedocument.presentationml.notesSlide+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2" r:id="rId1"/>
  </p:sldMasterIdLst>
  <p:notesMasterIdLst>
    <p:notesMasterId r:id="rId12"/>
  </p:notesMasterIdLst>
  <p:handoutMasterIdLst>
    <p:handoutMasterId r:id="rId13"/>
  </p:handoutMasterIdLst>
  <p:sldIdLst>
    <p:sldId id="540" r:id="rId2"/>
    <p:sldId id="732" r:id="rId3"/>
    <p:sldId id="731" r:id="rId4"/>
    <p:sldId id="744" r:id="rId5"/>
    <p:sldId id="866" r:id="rId6"/>
    <p:sldId id="865" r:id="rId7"/>
    <p:sldId id="867" r:id="rId8"/>
    <p:sldId id="868" r:id="rId9"/>
    <p:sldId id="869" r:id="rId10"/>
    <p:sldId id="749" r:id="rId11"/>
  </p:sldIdLst>
  <p:sldSz cx="9144000" cy="6858000" type="screen4x3"/>
  <p:notesSz cx="7010400" cy="9296400"/>
  <p:custDataLst>
    <p:tags r:id="rId14"/>
  </p:custDataLst>
  <p:defaultTextStyle>
    <a:defPPr>
      <a:defRPr lang="en-US"/>
    </a:defPPr>
    <a:lvl1pPr algn="l" rtl="0" fontAlgn="base">
      <a:spcBef>
        <a:spcPct val="0"/>
      </a:spcBef>
      <a:spcAft>
        <a:spcPct val="0"/>
      </a:spcAft>
      <a:defRPr sz="10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10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10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10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1000" kern="1200">
        <a:solidFill>
          <a:schemeClr val="tx1"/>
        </a:solidFill>
        <a:latin typeface="Times New Roman" panose="02020603050405020304" pitchFamily="18" charset="0"/>
        <a:ea typeface="+mn-ea"/>
        <a:cs typeface="+mn-cs"/>
      </a:defRPr>
    </a:lvl5pPr>
    <a:lvl6pPr marL="2286000" algn="l" defTabSz="914400" rtl="0" eaLnBrk="1" latinLnBrk="0" hangingPunct="1">
      <a:defRPr sz="1000" kern="1200">
        <a:solidFill>
          <a:schemeClr val="tx1"/>
        </a:solidFill>
        <a:latin typeface="Times New Roman" panose="02020603050405020304" pitchFamily="18" charset="0"/>
        <a:ea typeface="+mn-ea"/>
        <a:cs typeface="+mn-cs"/>
      </a:defRPr>
    </a:lvl6pPr>
    <a:lvl7pPr marL="2743200" algn="l" defTabSz="914400" rtl="0" eaLnBrk="1" latinLnBrk="0" hangingPunct="1">
      <a:defRPr sz="1000" kern="1200">
        <a:solidFill>
          <a:schemeClr val="tx1"/>
        </a:solidFill>
        <a:latin typeface="Times New Roman" panose="02020603050405020304" pitchFamily="18" charset="0"/>
        <a:ea typeface="+mn-ea"/>
        <a:cs typeface="+mn-cs"/>
      </a:defRPr>
    </a:lvl7pPr>
    <a:lvl8pPr marL="3200400" algn="l" defTabSz="914400" rtl="0" eaLnBrk="1" latinLnBrk="0" hangingPunct="1">
      <a:defRPr sz="1000" kern="1200">
        <a:solidFill>
          <a:schemeClr val="tx1"/>
        </a:solidFill>
        <a:latin typeface="Times New Roman" panose="02020603050405020304" pitchFamily="18" charset="0"/>
        <a:ea typeface="+mn-ea"/>
        <a:cs typeface="+mn-cs"/>
      </a:defRPr>
    </a:lvl8pPr>
    <a:lvl9pPr marL="3657600" algn="l" defTabSz="914400" rtl="0" eaLnBrk="1" latinLnBrk="0" hangingPunct="1">
      <a:defRPr sz="1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7">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FF3300"/>
    <a:srgbClr val="000000"/>
    <a:srgbClr val="0066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84898" autoAdjust="0"/>
  </p:normalViewPr>
  <p:slideViewPr>
    <p:cSldViewPr>
      <p:cViewPr varScale="1">
        <p:scale>
          <a:sx n="108" d="100"/>
          <a:sy n="108" d="100"/>
        </p:scale>
        <p:origin x="2304"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24"/>
    </p:cViewPr>
  </p:sorterViewPr>
  <p:notesViewPr>
    <p:cSldViewPr>
      <p:cViewPr varScale="1">
        <p:scale>
          <a:sx n="81" d="100"/>
          <a:sy n="81" d="100"/>
        </p:scale>
        <p:origin x="-2328" y="-90"/>
      </p:cViewPr>
      <p:guideLst>
        <p:guide orient="horz" pos="2927"/>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one Severson" userId="1d942a2b-e0b5-491a-b49e-d500fa0ad426" providerId="ADAL" clId="{74E96A1E-83A1-0843-A6A2-752936F8F69C}"/>
    <pc:docChg chg="modSld">
      <pc:chgData name="Boone Severson" userId="1d942a2b-e0b5-491a-b49e-d500fa0ad426" providerId="ADAL" clId="{74E96A1E-83A1-0843-A6A2-752936F8F69C}" dt="2024-11-13T02:14:25.285" v="21" actId="20577"/>
      <pc:docMkLst>
        <pc:docMk/>
      </pc:docMkLst>
      <pc:sldChg chg="modSp mod">
        <pc:chgData name="Boone Severson" userId="1d942a2b-e0b5-491a-b49e-d500fa0ad426" providerId="ADAL" clId="{74E96A1E-83A1-0843-A6A2-752936F8F69C}" dt="2024-11-13T02:14:25.285" v="21" actId="20577"/>
        <pc:sldMkLst>
          <pc:docMk/>
          <pc:sldMk cId="0" sldId="540"/>
        </pc:sldMkLst>
        <pc:spChg chg="mod">
          <ac:chgData name="Boone Severson" userId="1d942a2b-e0b5-491a-b49e-d500fa0ad426" providerId="ADAL" clId="{74E96A1E-83A1-0843-A6A2-752936F8F69C}" dt="2024-11-13T02:14:25.285" v="21" actId="20577"/>
          <ac:spMkLst>
            <pc:docMk/>
            <pc:sldMk cId="0" sldId="540"/>
            <ac:spMk id="3" creationId="{60F7F15D-B052-485D-B6FA-83AEEE3C0BC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665FA8B-063C-4D70-BF01-AD0778FA2072}"/>
              </a:ext>
            </a:extLst>
          </p:cNvPr>
          <p:cNvSpPr>
            <a:spLocks noGrp="1" noChangeArrowheads="1"/>
          </p:cNvSpPr>
          <p:nvPr>
            <p:ph type="hdr" sz="quarter"/>
          </p:nvPr>
        </p:nvSpPr>
        <p:spPr bwMode="auto">
          <a:xfrm>
            <a:off x="0" y="0"/>
            <a:ext cx="30384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t" anchorCtr="0" compatLnSpc="1">
            <a:prstTxWarp prst="textNoShape">
              <a:avLst/>
            </a:prstTxWarp>
          </a:bodyPr>
          <a:lstStyle>
            <a:lvl1pPr defTabSz="935038" eaLnBrk="0" hangingPunct="0">
              <a:defRPr sz="1200"/>
            </a:lvl1pPr>
          </a:lstStyle>
          <a:p>
            <a:pPr>
              <a:defRPr/>
            </a:pPr>
            <a:endParaRPr lang="en-US" altLang="en-US"/>
          </a:p>
        </p:txBody>
      </p:sp>
      <p:sp>
        <p:nvSpPr>
          <p:cNvPr id="15363" name="Rectangle 3">
            <a:extLst>
              <a:ext uri="{FF2B5EF4-FFF2-40B4-BE49-F238E27FC236}">
                <a16:creationId xmlns:a16="http://schemas.microsoft.com/office/drawing/2014/main" id="{381FE4E2-881C-4313-87BA-6EB7DC60D8F3}"/>
              </a:ext>
            </a:extLst>
          </p:cNvPr>
          <p:cNvSpPr>
            <a:spLocks noGrp="1" noChangeArrowheads="1"/>
          </p:cNvSpPr>
          <p:nvPr>
            <p:ph type="dt" sz="quarter" idx="1"/>
          </p:nvPr>
        </p:nvSpPr>
        <p:spPr bwMode="auto">
          <a:xfrm>
            <a:off x="3971925" y="0"/>
            <a:ext cx="30384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t" anchorCtr="0" compatLnSpc="1">
            <a:prstTxWarp prst="textNoShape">
              <a:avLst/>
            </a:prstTxWarp>
          </a:bodyPr>
          <a:lstStyle>
            <a:lvl1pPr algn="r" defTabSz="935038" eaLnBrk="0" hangingPunct="0">
              <a:defRPr sz="1200"/>
            </a:lvl1pPr>
          </a:lstStyle>
          <a:p>
            <a:pPr>
              <a:defRPr/>
            </a:pPr>
            <a:endParaRPr lang="en-US" altLang="en-US"/>
          </a:p>
        </p:txBody>
      </p:sp>
      <p:sp>
        <p:nvSpPr>
          <p:cNvPr id="15364" name="Rectangle 4">
            <a:extLst>
              <a:ext uri="{FF2B5EF4-FFF2-40B4-BE49-F238E27FC236}">
                <a16:creationId xmlns:a16="http://schemas.microsoft.com/office/drawing/2014/main" id="{FA8BEDA1-EB4C-4538-9E12-EDCEC5087BCE}"/>
              </a:ext>
            </a:extLst>
          </p:cNvPr>
          <p:cNvSpPr>
            <a:spLocks noGrp="1" noChangeArrowheads="1"/>
          </p:cNvSpPr>
          <p:nvPr>
            <p:ph type="ftr" sz="quarter" idx="2"/>
          </p:nvPr>
        </p:nvSpPr>
        <p:spPr bwMode="auto">
          <a:xfrm>
            <a:off x="0" y="8832850"/>
            <a:ext cx="365125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b" anchorCtr="0" compatLnSpc="1">
            <a:prstTxWarp prst="textNoShape">
              <a:avLst/>
            </a:prstTxWarp>
          </a:bodyPr>
          <a:lstStyle>
            <a:lvl1pPr defTabSz="935038" eaLnBrk="0" hangingPunct="0">
              <a:defRPr sz="1200"/>
            </a:lvl1pPr>
          </a:lstStyle>
          <a:p>
            <a:pPr>
              <a:defRPr/>
            </a:pPr>
            <a:r>
              <a:rPr lang="en-US" altLang="en-US"/>
              <a:t>ECE/CS 552: Introduction To Computer Architecture</a:t>
            </a:r>
          </a:p>
        </p:txBody>
      </p:sp>
      <p:sp>
        <p:nvSpPr>
          <p:cNvPr id="15365" name="Rectangle 5">
            <a:extLst>
              <a:ext uri="{FF2B5EF4-FFF2-40B4-BE49-F238E27FC236}">
                <a16:creationId xmlns:a16="http://schemas.microsoft.com/office/drawing/2014/main" id="{7D2229AB-7F22-4EAE-9E68-F8036B5AA73B}"/>
              </a:ext>
            </a:extLst>
          </p:cNvPr>
          <p:cNvSpPr>
            <a:spLocks noGrp="1" noChangeArrowheads="1"/>
          </p:cNvSpPr>
          <p:nvPr>
            <p:ph type="sldNum" sz="quarter" idx="3"/>
          </p:nvPr>
        </p:nvSpPr>
        <p:spPr bwMode="auto">
          <a:xfrm>
            <a:off x="3971925" y="8832850"/>
            <a:ext cx="30384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b" anchorCtr="0" compatLnSpc="1">
            <a:prstTxWarp prst="textNoShape">
              <a:avLst/>
            </a:prstTxWarp>
          </a:bodyPr>
          <a:lstStyle>
            <a:lvl1pPr algn="r" defTabSz="935038" eaLnBrk="0" hangingPunct="0">
              <a:defRPr sz="1200"/>
            </a:lvl1pPr>
          </a:lstStyle>
          <a:p>
            <a:fld id="{6E3B70C2-F2C1-4DBA-B664-C5E183E92889}"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C869F52-A67D-4BE8-90AA-DC69B48EC09F}"/>
              </a:ext>
            </a:extLst>
          </p:cNvPr>
          <p:cNvSpPr>
            <a:spLocks noGrp="1" noChangeArrowheads="1"/>
          </p:cNvSpPr>
          <p:nvPr>
            <p:ph type="hdr" sz="quarter"/>
          </p:nvPr>
        </p:nvSpPr>
        <p:spPr bwMode="auto">
          <a:xfrm>
            <a:off x="0" y="0"/>
            <a:ext cx="30384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t" anchorCtr="0" compatLnSpc="1">
            <a:prstTxWarp prst="textNoShape">
              <a:avLst/>
            </a:prstTxWarp>
          </a:bodyPr>
          <a:lstStyle>
            <a:lvl1pPr defTabSz="935038" eaLnBrk="0" hangingPunct="0">
              <a:defRPr sz="1200"/>
            </a:lvl1pPr>
          </a:lstStyle>
          <a:p>
            <a:pPr>
              <a:defRPr/>
            </a:pPr>
            <a:endParaRPr lang="en-US" altLang="en-US"/>
          </a:p>
        </p:txBody>
      </p:sp>
      <p:sp>
        <p:nvSpPr>
          <p:cNvPr id="17411" name="Rectangle 3">
            <a:extLst>
              <a:ext uri="{FF2B5EF4-FFF2-40B4-BE49-F238E27FC236}">
                <a16:creationId xmlns:a16="http://schemas.microsoft.com/office/drawing/2014/main" id="{75618605-9DAD-4183-B061-A2735A4755C1}"/>
              </a:ext>
            </a:extLst>
          </p:cNvPr>
          <p:cNvSpPr>
            <a:spLocks noGrp="1" noChangeArrowheads="1"/>
          </p:cNvSpPr>
          <p:nvPr>
            <p:ph type="dt" idx="1"/>
          </p:nvPr>
        </p:nvSpPr>
        <p:spPr bwMode="auto">
          <a:xfrm>
            <a:off x="3971925" y="0"/>
            <a:ext cx="30384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t" anchorCtr="0" compatLnSpc="1">
            <a:prstTxWarp prst="textNoShape">
              <a:avLst/>
            </a:prstTxWarp>
          </a:bodyPr>
          <a:lstStyle>
            <a:lvl1pPr algn="r" defTabSz="935038" eaLnBrk="0" hangingPunct="0">
              <a:defRPr sz="1200"/>
            </a:lvl1pPr>
          </a:lstStyle>
          <a:p>
            <a:pPr>
              <a:defRPr/>
            </a:pPr>
            <a:endParaRPr lang="en-US" altLang="en-US"/>
          </a:p>
        </p:txBody>
      </p:sp>
      <p:sp>
        <p:nvSpPr>
          <p:cNvPr id="35844" name="Rectangle 4">
            <a:extLst>
              <a:ext uri="{FF2B5EF4-FFF2-40B4-BE49-F238E27FC236}">
                <a16:creationId xmlns:a16="http://schemas.microsoft.com/office/drawing/2014/main" id="{7AC9D20D-EEF7-406F-AA29-994FF2FA17AB}"/>
              </a:ext>
            </a:extLst>
          </p:cNvPr>
          <p:cNvSpPr>
            <a:spLocks noGrp="1" noRot="1" noChangeAspect="1" noChangeArrowheads="1" noTextEdit="1"/>
          </p:cNvSpPr>
          <p:nvPr>
            <p:ph type="sldImg" idx="2"/>
          </p:nvPr>
        </p:nvSpPr>
        <p:spPr bwMode="auto">
          <a:xfrm>
            <a:off x="1182688" y="698500"/>
            <a:ext cx="4646612" cy="348456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413" name="Rectangle 5">
            <a:extLst>
              <a:ext uri="{FF2B5EF4-FFF2-40B4-BE49-F238E27FC236}">
                <a16:creationId xmlns:a16="http://schemas.microsoft.com/office/drawing/2014/main" id="{6117B0A0-5D60-4A6E-806A-319027793467}"/>
              </a:ext>
            </a:extLst>
          </p:cNvPr>
          <p:cNvSpPr>
            <a:spLocks noGrp="1" noChangeArrowheads="1"/>
          </p:cNvSpPr>
          <p:nvPr>
            <p:ph type="body" sz="quarter" idx="3"/>
          </p:nvPr>
        </p:nvSpPr>
        <p:spPr bwMode="auto">
          <a:xfrm>
            <a:off x="933450" y="4416425"/>
            <a:ext cx="5143500" cy="418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17414" name="Rectangle 6">
            <a:extLst>
              <a:ext uri="{FF2B5EF4-FFF2-40B4-BE49-F238E27FC236}">
                <a16:creationId xmlns:a16="http://schemas.microsoft.com/office/drawing/2014/main" id="{33191D9D-81AA-4235-A278-F824689DF9F1}"/>
              </a:ext>
            </a:extLst>
          </p:cNvPr>
          <p:cNvSpPr>
            <a:spLocks noGrp="1" noChangeArrowheads="1"/>
          </p:cNvSpPr>
          <p:nvPr>
            <p:ph type="ftr" sz="quarter" idx="4"/>
          </p:nvPr>
        </p:nvSpPr>
        <p:spPr bwMode="auto">
          <a:xfrm>
            <a:off x="0" y="8832850"/>
            <a:ext cx="30384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b" anchorCtr="0" compatLnSpc="1">
            <a:prstTxWarp prst="textNoShape">
              <a:avLst/>
            </a:prstTxWarp>
          </a:bodyPr>
          <a:lstStyle>
            <a:lvl1pPr defTabSz="935038" eaLnBrk="0" hangingPunct="0">
              <a:defRPr sz="1200"/>
            </a:lvl1pPr>
          </a:lstStyle>
          <a:p>
            <a:pPr>
              <a:defRPr/>
            </a:pPr>
            <a:endParaRPr lang="en-US" altLang="en-US"/>
          </a:p>
        </p:txBody>
      </p:sp>
      <p:sp>
        <p:nvSpPr>
          <p:cNvPr id="17415" name="Rectangle 7">
            <a:extLst>
              <a:ext uri="{FF2B5EF4-FFF2-40B4-BE49-F238E27FC236}">
                <a16:creationId xmlns:a16="http://schemas.microsoft.com/office/drawing/2014/main" id="{2071B1B9-83C4-4654-958F-69B2CDDDCE5C}"/>
              </a:ext>
            </a:extLst>
          </p:cNvPr>
          <p:cNvSpPr>
            <a:spLocks noGrp="1" noChangeArrowheads="1"/>
          </p:cNvSpPr>
          <p:nvPr>
            <p:ph type="sldNum" sz="quarter" idx="5"/>
          </p:nvPr>
        </p:nvSpPr>
        <p:spPr bwMode="auto">
          <a:xfrm>
            <a:off x="3971925" y="8832850"/>
            <a:ext cx="30384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b" anchorCtr="0" compatLnSpc="1">
            <a:prstTxWarp prst="textNoShape">
              <a:avLst/>
            </a:prstTxWarp>
          </a:bodyPr>
          <a:lstStyle>
            <a:lvl1pPr algn="r" defTabSz="935038" eaLnBrk="0" hangingPunct="0">
              <a:defRPr sz="1200"/>
            </a:lvl1pPr>
          </a:lstStyle>
          <a:p>
            <a:fld id="{3412D5C1-D0DC-40F7-BDD3-DD827C056E83}"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a:t>
            </a:fld>
            <a:endParaRPr lang="en-US" altLang="en-US"/>
          </a:p>
        </p:txBody>
      </p:sp>
    </p:spTree>
    <p:extLst>
      <p:ext uri="{BB962C8B-B14F-4D97-AF65-F5344CB8AC3E}">
        <p14:creationId xmlns:p14="http://schemas.microsoft.com/office/powerpoint/2010/main" val="2021964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a:t>
            </a:fld>
            <a:endParaRPr lang="en-US" altLang="en-US"/>
          </a:p>
        </p:txBody>
      </p:sp>
    </p:spTree>
    <p:extLst>
      <p:ext uri="{BB962C8B-B14F-4D97-AF65-F5344CB8AC3E}">
        <p14:creationId xmlns:p14="http://schemas.microsoft.com/office/powerpoint/2010/main" val="2270353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3</a:t>
            </a:fld>
            <a:endParaRPr lang="en-US" altLang="en-US"/>
          </a:p>
        </p:txBody>
      </p:sp>
    </p:spTree>
    <p:extLst>
      <p:ext uri="{BB962C8B-B14F-4D97-AF65-F5344CB8AC3E}">
        <p14:creationId xmlns:p14="http://schemas.microsoft.com/office/powerpoint/2010/main" val="13433356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4</a:t>
            </a:fld>
            <a:endParaRPr lang="en-US" altLang="en-US"/>
          </a:p>
        </p:txBody>
      </p:sp>
    </p:spTree>
    <p:extLst>
      <p:ext uri="{BB962C8B-B14F-4D97-AF65-F5344CB8AC3E}">
        <p14:creationId xmlns:p14="http://schemas.microsoft.com/office/powerpoint/2010/main" val="32827147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5</a:t>
            </a:fld>
            <a:endParaRPr lang="en-US" altLang="en-US"/>
          </a:p>
        </p:txBody>
      </p:sp>
    </p:spTree>
    <p:extLst>
      <p:ext uri="{BB962C8B-B14F-4D97-AF65-F5344CB8AC3E}">
        <p14:creationId xmlns:p14="http://schemas.microsoft.com/office/powerpoint/2010/main" val="915461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6</a:t>
            </a:fld>
            <a:endParaRPr lang="en-US" altLang="en-US"/>
          </a:p>
        </p:txBody>
      </p:sp>
    </p:spTree>
    <p:extLst>
      <p:ext uri="{BB962C8B-B14F-4D97-AF65-F5344CB8AC3E}">
        <p14:creationId xmlns:p14="http://schemas.microsoft.com/office/powerpoint/2010/main" val="12981073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7</a:t>
            </a:fld>
            <a:endParaRPr lang="en-US" altLang="en-US"/>
          </a:p>
        </p:txBody>
      </p:sp>
    </p:spTree>
    <p:extLst>
      <p:ext uri="{BB962C8B-B14F-4D97-AF65-F5344CB8AC3E}">
        <p14:creationId xmlns:p14="http://schemas.microsoft.com/office/powerpoint/2010/main" val="1436024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8</a:t>
            </a:fld>
            <a:endParaRPr lang="en-US" altLang="en-US"/>
          </a:p>
        </p:txBody>
      </p:sp>
    </p:spTree>
    <p:extLst>
      <p:ext uri="{BB962C8B-B14F-4D97-AF65-F5344CB8AC3E}">
        <p14:creationId xmlns:p14="http://schemas.microsoft.com/office/powerpoint/2010/main" val="7768113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9</a:t>
            </a:fld>
            <a:endParaRPr lang="en-US" altLang="en-US"/>
          </a:p>
        </p:txBody>
      </p:sp>
    </p:spTree>
    <p:extLst>
      <p:ext uri="{BB962C8B-B14F-4D97-AF65-F5344CB8AC3E}">
        <p14:creationId xmlns:p14="http://schemas.microsoft.com/office/powerpoint/2010/main" val="12629997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10</a:t>
            </a:fld>
            <a:endParaRPr lang="en-US" altLang="en-US"/>
          </a:p>
        </p:txBody>
      </p:sp>
    </p:spTree>
    <p:extLst>
      <p:ext uri="{BB962C8B-B14F-4D97-AF65-F5344CB8AC3E}">
        <p14:creationId xmlns:p14="http://schemas.microsoft.com/office/powerpoint/2010/main" val="11673289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LOGO_200">
            <a:extLst>
              <a:ext uri="{FF2B5EF4-FFF2-40B4-BE49-F238E27FC236}">
                <a16:creationId xmlns:a16="http://schemas.microsoft.com/office/drawing/2014/main" id="{F8789D68-DF1E-45B3-A6C0-77A5EB00550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LOGO_200">
            <a:extLst>
              <a:ext uri="{FF2B5EF4-FFF2-40B4-BE49-F238E27FC236}">
                <a16:creationId xmlns:a16="http://schemas.microsoft.com/office/drawing/2014/main" id="{71ED43BD-67BE-440C-9864-F25EBC75E0E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custDataLst>
              <p:tags r:id="rId1"/>
            </p:custDataLst>
          </p:nvPr>
        </p:nvSpPr>
        <p:spPr>
          <a:xfrm>
            <a:off x="685800" y="2362200"/>
            <a:ext cx="7772400" cy="1238250"/>
          </a:xfrm>
        </p:spPr>
        <p:txBody>
          <a:bodyPr/>
          <a:lstStyle/>
          <a:p>
            <a:r>
              <a:rPr lang="en-US"/>
              <a:t>Click to edit Master title style</a:t>
            </a:r>
          </a:p>
        </p:txBody>
      </p:sp>
      <p:sp>
        <p:nvSpPr>
          <p:cNvPr id="3" name="Subtitle 2"/>
          <p:cNvSpPr>
            <a:spLocks noGrp="1"/>
          </p:cNvSpPr>
          <p:nvPr>
            <p:ph type="subTitle" idx="1"/>
            <p:custDataLst>
              <p:tags r:id="rId2"/>
            </p:custDataLst>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Date Placeholder 3">
            <a:extLst>
              <a:ext uri="{FF2B5EF4-FFF2-40B4-BE49-F238E27FC236}">
                <a16:creationId xmlns:a16="http://schemas.microsoft.com/office/drawing/2014/main" id="{77DFC483-F5BF-4539-96D2-E99714B02B7D}"/>
              </a:ext>
            </a:extLst>
          </p:cNvPr>
          <p:cNvSpPr>
            <a:spLocks noGrp="1"/>
          </p:cNvSpPr>
          <p:nvPr>
            <p:ph type="dt" sz="half" idx="10"/>
            <p:custDataLst>
              <p:tags r:id="rId3"/>
            </p:custDataLst>
          </p:nvPr>
        </p:nvSpPr>
        <p:spPr/>
        <p:txBody>
          <a:bodyPr/>
          <a:lstStyle>
            <a:lvl1pPr>
              <a:defRPr/>
            </a:lvl1pPr>
          </a:lstStyle>
          <a:p>
            <a:pPr>
              <a:defRPr/>
            </a:pPr>
            <a:endParaRPr lang="en-US" altLang="en-US"/>
          </a:p>
        </p:txBody>
      </p:sp>
      <p:sp>
        <p:nvSpPr>
          <p:cNvPr id="7" name="Footer Placeholder 4">
            <a:extLst>
              <a:ext uri="{FF2B5EF4-FFF2-40B4-BE49-F238E27FC236}">
                <a16:creationId xmlns:a16="http://schemas.microsoft.com/office/drawing/2014/main" id="{E3CF486E-B4FC-4C96-8CB1-945F4BA1A0D7}"/>
              </a:ext>
            </a:extLst>
          </p:cNvPr>
          <p:cNvSpPr>
            <a:spLocks noGrp="1"/>
          </p:cNvSpPr>
          <p:nvPr>
            <p:ph type="ftr" sz="quarter" idx="11"/>
            <p:custDataLst>
              <p:tags r:id="rId4"/>
            </p:custDataLst>
          </p:nvPr>
        </p:nvSpPr>
        <p:spPr/>
        <p:txBody>
          <a:bodyPr/>
          <a:lstStyle>
            <a:lvl1pPr>
              <a:defRPr/>
            </a:lvl1pPr>
          </a:lstStyle>
          <a:p>
            <a:pPr>
              <a:defRPr/>
            </a:pPr>
            <a:r>
              <a:rPr lang="en-US" altLang="en-US"/>
              <a:t>© Hill, Lipasti</a:t>
            </a:r>
          </a:p>
        </p:txBody>
      </p:sp>
      <p:sp>
        <p:nvSpPr>
          <p:cNvPr id="8" name="Slide Number Placeholder 5">
            <a:extLst>
              <a:ext uri="{FF2B5EF4-FFF2-40B4-BE49-F238E27FC236}">
                <a16:creationId xmlns:a16="http://schemas.microsoft.com/office/drawing/2014/main" id="{55FABDED-DC68-4356-9B69-6A27D6D86E8A}"/>
              </a:ext>
            </a:extLst>
          </p:cNvPr>
          <p:cNvSpPr>
            <a:spLocks noGrp="1"/>
          </p:cNvSpPr>
          <p:nvPr>
            <p:ph type="sldNum" sz="quarter" idx="12"/>
            <p:custDataLst>
              <p:tags r:id="rId5"/>
            </p:custDataLst>
          </p:nvPr>
        </p:nvSpPr>
        <p:spPr/>
        <p:txBody>
          <a:bodyPr/>
          <a:lstStyle>
            <a:lvl2pPr lvl="1">
              <a:defRPr/>
            </a:lvl2pPr>
          </a:lstStyle>
          <a:p>
            <a:pPr lvl="1"/>
            <a:fld id="{F26D53C3-94B4-4E25-868F-FDCC830F1813}" type="slidenum">
              <a:rPr lang="en-US" altLang="en-US"/>
              <a:pPr lvl="1"/>
              <a:t>‹#›</a:t>
            </a:fld>
            <a:endParaRPr lang="en-US" altLang="en-US"/>
          </a:p>
        </p:txBody>
      </p:sp>
    </p:spTree>
    <p:extLst>
      <p:ext uri="{BB962C8B-B14F-4D97-AF65-F5344CB8AC3E}">
        <p14:creationId xmlns:p14="http://schemas.microsoft.com/office/powerpoint/2010/main" val="418501315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p>
        </p:txBody>
      </p:sp>
      <p:sp>
        <p:nvSpPr>
          <p:cNvPr id="3" name="Content Placeholder 2"/>
          <p:cNvSpPr>
            <a:spLocks noGrp="1"/>
          </p:cNvSpPr>
          <p:nvPr>
            <p:ph idx="1"/>
            <p:custDataLst>
              <p:tags r:id="rId2"/>
            </p:custDataLst>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a:extLst>
              <a:ext uri="{FF2B5EF4-FFF2-40B4-BE49-F238E27FC236}">
                <a16:creationId xmlns:a16="http://schemas.microsoft.com/office/drawing/2014/main" id="{F58DF54A-2963-4066-855D-BE4BF006F8C4}"/>
              </a:ext>
            </a:extLst>
          </p:cNvPr>
          <p:cNvSpPr>
            <a:spLocks noGrp="1"/>
          </p:cNvSpPr>
          <p:nvPr>
            <p:ph type="dt" sz="half" idx="10"/>
            <p:custDataLst>
              <p:tags r:id="rId3"/>
            </p:custDataLst>
          </p:nvPr>
        </p:nvSpPr>
        <p:spPr/>
        <p:txBody>
          <a:bodyPr/>
          <a:lstStyle>
            <a:lvl1pPr>
              <a:defRPr/>
            </a:lvl1pPr>
          </a:lstStyle>
          <a:p>
            <a:pPr>
              <a:defRPr/>
            </a:pPr>
            <a:endParaRPr lang="en-US" altLang="en-US"/>
          </a:p>
        </p:txBody>
      </p:sp>
      <p:sp>
        <p:nvSpPr>
          <p:cNvPr id="7" name="Footer Placeholder 4">
            <a:extLst>
              <a:ext uri="{FF2B5EF4-FFF2-40B4-BE49-F238E27FC236}">
                <a16:creationId xmlns:a16="http://schemas.microsoft.com/office/drawing/2014/main" id="{9E82FE2C-A1EE-4380-817A-5988FD0EE0FA}"/>
              </a:ext>
            </a:extLst>
          </p:cNvPr>
          <p:cNvSpPr>
            <a:spLocks noGrp="1"/>
          </p:cNvSpPr>
          <p:nvPr>
            <p:ph type="ftr" sz="quarter" idx="11"/>
            <p:custDataLst>
              <p:tags r:id="rId4"/>
            </p:custDataLst>
          </p:nvPr>
        </p:nvSpPr>
        <p:spPr/>
        <p:txBody>
          <a:bodyPr/>
          <a:lstStyle>
            <a:lvl1pPr>
              <a:defRPr/>
            </a:lvl1pPr>
          </a:lstStyle>
          <a:p>
            <a:pPr>
              <a:defRPr/>
            </a:pPr>
            <a:r>
              <a:rPr lang="en-US" altLang="en-US"/>
              <a:t>© Hill, Lipasti</a:t>
            </a:r>
          </a:p>
        </p:txBody>
      </p:sp>
      <p:sp>
        <p:nvSpPr>
          <p:cNvPr id="8" name="Slide Number Placeholder 5">
            <a:extLst>
              <a:ext uri="{FF2B5EF4-FFF2-40B4-BE49-F238E27FC236}">
                <a16:creationId xmlns:a16="http://schemas.microsoft.com/office/drawing/2014/main" id="{71B472F8-3BEF-4271-B8F6-C8512E515EDC}"/>
              </a:ext>
            </a:extLst>
          </p:cNvPr>
          <p:cNvSpPr>
            <a:spLocks noGrp="1"/>
          </p:cNvSpPr>
          <p:nvPr>
            <p:ph type="sldNum" sz="quarter" idx="12"/>
            <p:custDataLst>
              <p:tags r:id="rId5"/>
            </p:custDataLst>
          </p:nvPr>
        </p:nvSpPr>
        <p:spPr/>
        <p:txBody>
          <a:bodyPr/>
          <a:lstStyle>
            <a:lvl2pPr lvl="1">
              <a:defRPr sz="1400"/>
            </a:lvl2pPr>
          </a:lstStyle>
          <a:p>
            <a:pPr lvl="1"/>
            <a:fld id="{B7E7A024-158A-42C6-8EE4-794CA031091A}" type="slidenum">
              <a:rPr lang="en-US" altLang="en-US"/>
              <a:pPr lvl="1"/>
              <a:t>‹#›</a:t>
            </a:fld>
            <a:endParaRPr lang="en-US" altLang="en-US"/>
          </a:p>
        </p:txBody>
      </p:sp>
    </p:spTree>
    <p:extLst>
      <p:ext uri="{BB962C8B-B14F-4D97-AF65-F5344CB8AC3E}">
        <p14:creationId xmlns:p14="http://schemas.microsoft.com/office/powerpoint/2010/main" val="36112170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B8F5570D-AF20-4116-9732-9EB433FF6EE7}"/>
              </a:ext>
            </a:extLst>
          </p:cNvPr>
          <p:cNvSpPr>
            <a:spLocks noGrp="1"/>
          </p:cNvSpPr>
          <p:nvPr>
            <p:ph type="dt" sz="half" idx="10"/>
          </p:nvPr>
        </p:nvSpPr>
        <p:spPr/>
        <p:txBody>
          <a:bodyPr/>
          <a:lstStyle>
            <a:lvl1pPr>
              <a:defRPr/>
            </a:lvl1pPr>
          </a:lstStyle>
          <a:p>
            <a:pPr>
              <a:defRPr/>
            </a:pPr>
            <a:endParaRPr lang="en-US" altLang="en-US"/>
          </a:p>
        </p:txBody>
      </p:sp>
      <p:sp>
        <p:nvSpPr>
          <p:cNvPr id="4" name="Footer Placeholder 4">
            <a:extLst>
              <a:ext uri="{FF2B5EF4-FFF2-40B4-BE49-F238E27FC236}">
                <a16:creationId xmlns:a16="http://schemas.microsoft.com/office/drawing/2014/main" id="{D5A42796-B95F-4E56-8309-BCB5EAFE3DDB}"/>
              </a:ext>
            </a:extLst>
          </p:cNvPr>
          <p:cNvSpPr>
            <a:spLocks noGrp="1"/>
          </p:cNvSpPr>
          <p:nvPr>
            <p:ph type="ftr" sz="quarter" idx="11"/>
          </p:nvPr>
        </p:nvSpPr>
        <p:spPr/>
        <p:txBody>
          <a:bodyPr/>
          <a:lstStyle>
            <a:lvl1pPr>
              <a:defRPr/>
            </a:lvl1pPr>
          </a:lstStyle>
          <a:p>
            <a:pPr>
              <a:defRPr/>
            </a:pPr>
            <a:r>
              <a:rPr lang="en-US" altLang="en-US"/>
              <a:t>© Hill, Lipasti</a:t>
            </a:r>
          </a:p>
        </p:txBody>
      </p:sp>
      <p:sp>
        <p:nvSpPr>
          <p:cNvPr id="5" name="Slide Number Placeholder 5">
            <a:extLst>
              <a:ext uri="{FF2B5EF4-FFF2-40B4-BE49-F238E27FC236}">
                <a16:creationId xmlns:a16="http://schemas.microsoft.com/office/drawing/2014/main" id="{CAF911B6-C369-49A9-A1C1-DE305D680AA0}"/>
              </a:ext>
            </a:extLst>
          </p:cNvPr>
          <p:cNvSpPr>
            <a:spLocks noGrp="1"/>
          </p:cNvSpPr>
          <p:nvPr>
            <p:ph type="sldNum" sz="quarter" idx="12"/>
          </p:nvPr>
        </p:nvSpPr>
        <p:spPr/>
        <p:txBody>
          <a:bodyPr/>
          <a:lstStyle>
            <a:lvl2pPr lvl="1">
              <a:defRPr/>
            </a:lvl2pPr>
          </a:lstStyle>
          <a:p>
            <a:pPr lvl="1"/>
            <a:fld id="{BA02BA93-FC22-4768-97AD-81B6FD26661F}" type="slidenum">
              <a:rPr lang="en-US" altLang="en-US"/>
              <a:pPr lvl="1"/>
              <a:t>‹#›</a:t>
            </a:fld>
            <a:endParaRPr lang="en-US" altLang="en-US"/>
          </a:p>
        </p:txBody>
      </p:sp>
    </p:spTree>
    <p:extLst>
      <p:ext uri="{BB962C8B-B14F-4D97-AF65-F5344CB8AC3E}">
        <p14:creationId xmlns:p14="http://schemas.microsoft.com/office/powerpoint/2010/main" val="1015968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2625" y="609600"/>
            <a:ext cx="8080375" cy="1143000"/>
          </a:xfrm>
        </p:spPr>
        <p:txBody>
          <a:bodyPr/>
          <a:lstStyle/>
          <a:p>
            <a:r>
              <a:rPr lang="en-US"/>
              <a:t>Click to edit Master title style</a:t>
            </a:r>
          </a:p>
        </p:txBody>
      </p:sp>
      <p:sp>
        <p:nvSpPr>
          <p:cNvPr id="3" name="Text Placeholder 2"/>
          <p:cNvSpPr>
            <a:spLocks noGrp="1"/>
          </p:cNvSpPr>
          <p:nvPr>
            <p:ph type="body" sz="half" idx="1"/>
          </p:nvPr>
        </p:nvSpPr>
        <p:spPr>
          <a:xfrm>
            <a:off x="682625"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5025" y="1981200"/>
            <a:ext cx="3810000" cy="4114800"/>
          </a:xfrm>
        </p:spPr>
        <p:txBody>
          <a:bodyPr/>
          <a:lstStyle/>
          <a:p>
            <a:pPr lvl="0"/>
            <a:r>
              <a:rPr lang="en-US" noProof="0"/>
              <a:t>Click icon to add clip art</a:t>
            </a:r>
          </a:p>
        </p:txBody>
      </p:sp>
      <p:sp>
        <p:nvSpPr>
          <p:cNvPr id="5" name="Date Placeholder 3">
            <a:extLst>
              <a:ext uri="{FF2B5EF4-FFF2-40B4-BE49-F238E27FC236}">
                <a16:creationId xmlns:a16="http://schemas.microsoft.com/office/drawing/2014/main" id="{14203BB7-8619-4698-8C86-AB3895D96A3C}"/>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39F6D0A7-8F5A-4739-98BC-F6AB11F636D3}"/>
              </a:ext>
            </a:extLst>
          </p:cNvPr>
          <p:cNvSpPr>
            <a:spLocks noGrp="1"/>
          </p:cNvSpPr>
          <p:nvPr>
            <p:ph type="ftr" sz="quarter" idx="11"/>
          </p:nvPr>
        </p:nvSpPr>
        <p:spPr/>
        <p:txBody>
          <a:bodyPr/>
          <a:lstStyle>
            <a:lvl1pPr>
              <a:defRPr/>
            </a:lvl1pPr>
          </a:lstStyle>
          <a:p>
            <a:pPr>
              <a:defRPr/>
            </a:pPr>
            <a:r>
              <a:rPr lang="en-US" altLang="en-US"/>
              <a:t>© Hill, Lipasti</a:t>
            </a:r>
          </a:p>
        </p:txBody>
      </p:sp>
      <p:sp>
        <p:nvSpPr>
          <p:cNvPr id="7" name="Slide Number Placeholder 5">
            <a:extLst>
              <a:ext uri="{FF2B5EF4-FFF2-40B4-BE49-F238E27FC236}">
                <a16:creationId xmlns:a16="http://schemas.microsoft.com/office/drawing/2014/main" id="{C92EA5A7-7B44-4C5D-8930-15F48A1978B8}"/>
              </a:ext>
            </a:extLst>
          </p:cNvPr>
          <p:cNvSpPr>
            <a:spLocks noGrp="1"/>
          </p:cNvSpPr>
          <p:nvPr>
            <p:ph type="sldNum" sz="quarter" idx="12"/>
          </p:nvPr>
        </p:nvSpPr>
        <p:spPr/>
        <p:txBody>
          <a:bodyPr/>
          <a:lstStyle>
            <a:lvl2pPr lvl="1">
              <a:defRPr/>
            </a:lvl2pPr>
          </a:lstStyle>
          <a:p>
            <a:pPr lvl="1"/>
            <a:fld id="{D58B94F4-A469-442A-A38B-D59DA896557B}" type="slidenum">
              <a:rPr lang="en-US" altLang="en-US"/>
              <a:pPr lvl="1"/>
              <a:t>‹#›</a:t>
            </a:fld>
            <a:endParaRPr lang="en-US" altLang="en-US"/>
          </a:p>
        </p:txBody>
      </p:sp>
    </p:spTree>
    <p:extLst>
      <p:ext uri="{BB962C8B-B14F-4D97-AF65-F5344CB8AC3E}">
        <p14:creationId xmlns:p14="http://schemas.microsoft.com/office/powerpoint/2010/main" val="772805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4.xml"/><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10"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tags" Target="../tags/tag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6162EC40-6D83-46D2-84B7-479A8F0D6330}"/>
              </a:ext>
            </a:extLst>
          </p:cNvPr>
          <p:cNvSpPr>
            <a:spLocks noGrp="1"/>
          </p:cNvSpPr>
          <p:nvPr>
            <p:ph type="title"/>
            <p:custDataLst>
              <p:tags r:id="rId6"/>
            </p:custDataLst>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23BDD8D4-E695-492F-9065-EDA1992142BE}"/>
              </a:ext>
            </a:extLst>
          </p:cNvPr>
          <p:cNvSpPr>
            <a:spLocks noGrp="1"/>
          </p:cNvSpPr>
          <p:nvPr>
            <p:ph type="body" idx="1"/>
            <p:custDataLst>
              <p:tags r:id="rId7"/>
            </p:custDataLst>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DFB0FE4E-B9B0-436E-9272-1202EAFD4606}"/>
              </a:ext>
            </a:extLst>
          </p:cNvPr>
          <p:cNvSpPr>
            <a:spLocks noGrp="1"/>
          </p:cNvSpPr>
          <p:nvPr>
            <p:ph type="dt" sz="half" idx="2"/>
            <p:custDataLst>
              <p:tags r:id="rId8"/>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itchFamily="18" charset="0"/>
              </a:defRPr>
            </a:lvl1pPr>
          </a:lstStyle>
          <a:p>
            <a:pPr>
              <a:defRPr/>
            </a:pPr>
            <a:endParaRPr lang="en-US" altLang="en-US"/>
          </a:p>
        </p:txBody>
      </p:sp>
      <p:sp>
        <p:nvSpPr>
          <p:cNvPr id="5" name="Footer Placeholder 4">
            <a:extLst>
              <a:ext uri="{FF2B5EF4-FFF2-40B4-BE49-F238E27FC236}">
                <a16:creationId xmlns:a16="http://schemas.microsoft.com/office/drawing/2014/main" id="{3307D937-A571-46B2-8B29-D8E6557E4123}"/>
              </a:ext>
            </a:extLst>
          </p:cNvPr>
          <p:cNvSpPr>
            <a:spLocks noGrp="1"/>
          </p:cNvSpPr>
          <p:nvPr>
            <p:ph type="ftr" sz="quarter" idx="3"/>
            <p:custDataLst>
              <p:tags r:id="rId9"/>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defRPr>
            </a:lvl1pPr>
          </a:lstStyle>
          <a:p>
            <a:pPr>
              <a:defRPr/>
            </a:pPr>
            <a:r>
              <a:rPr lang="en-US" altLang="en-US"/>
              <a:t>© Hill, Lipasti</a:t>
            </a:r>
          </a:p>
        </p:txBody>
      </p:sp>
      <p:sp>
        <p:nvSpPr>
          <p:cNvPr id="6" name="Slide Number Placeholder 5">
            <a:extLst>
              <a:ext uri="{FF2B5EF4-FFF2-40B4-BE49-F238E27FC236}">
                <a16:creationId xmlns:a16="http://schemas.microsoft.com/office/drawing/2014/main" id="{65680E1F-60C3-42F4-9240-6EB48215B9C0}"/>
              </a:ext>
            </a:extLst>
          </p:cNvPr>
          <p:cNvSpPr>
            <a:spLocks noGrp="1"/>
          </p:cNvSpPr>
          <p:nvPr>
            <p:ph type="sldNum" sz="quarter" idx="4"/>
            <p:custDataLst>
              <p:tags r:id="rId10"/>
            </p:custDataLst>
          </p:nvPr>
        </p:nvSpPr>
        <p:spPr>
          <a:xfrm>
            <a:off x="7620000" y="6356350"/>
            <a:ext cx="1066800" cy="365125"/>
          </a:xfrm>
          <a:prstGeom prst="rect">
            <a:avLst/>
          </a:prstGeom>
        </p:spPr>
        <p:txBody>
          <a:bodyPr vert="horz" wrap="square" lIns="91440" tIns="45720" rIns="91440" bIns="45720" numCol="1" anchor="ctr" anchorCtr="0" compatLnSpc="1">
            <a:prstTxWarp prst="textNoShape">
              <a:avLst/>
            </a:prstTxWarp>
          </a:bodyPr>
          <a:lstStyle>
            <a:lvl2pPr lvl="1" algn="r">
              <a:defRPr>
                <a:latin typeface="Calibri" panose="020F0502020204030204" pitchFamily="34" charset="0"/>
              </a:defRPr>
            </a:lvl2pPr>
          </a:lstStyle>
          <a:p>
            <a:pPr lvl="1"/>
            <a:fld id="{7E04EAAA-BCAE-4A81-8F71-B5EE1EE34BC4}" type="slidenum">
              <a:rPr lang="en-US" altLang="en-US"/>
              <a:pPr lvl="1"/>
              <a:t>‹#›</a:t>
            </a:fld>
            <a:endParaRPr lang="en-US" altLang="en-US"/>
          </a:p>
        </p:txBody>
      </p:sp>
    </p:spTree>
  </p:cSld>
  <p:clrMap bg1="lt1" tx1="dk1" bg2="lt2" tx2="dk2" accent1="accent1" accent2="accent2" accent3="accent3" accent4="accent4" accent5="accent5" accent6="accent6" hlink="hlink" folHlink="folHlink"/>
  <p:sldLayoutIdLst>
    <p:sldLayoutId id="2147483683" r:id="rId1"/>
    <p:sldLayoutId id="2147483684" r:id="rId2"/>
    <p:sldLayoutId id="2147483681" r:id="rId3"/>
    <p:sldLayoutId id="2147483682" r:id="rId4"/>
  </p:sldLayoutIdLst>
  <p:transition/>
  <p:hf hdr="0" ftr="0" dt="0"/>
  <p:txStyles>
    <p:titleStyle>
      <a:lvl1pPr algn="ctr" rtl="0" eaLnBrk="0" fontAlgn="base" hangingPunct="0">
        <a:spcBef>
          <a:spcPct val="0"/>
        </a:spcBef>
        <a:spcAft>
          <a:spcPct val="0"/>
        </a:spcAft>
        <a:defRPr sz="4400" b="0" i="0" u="none"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b="0" i="0" u="none"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tags" Target="../tags/tag32.xml"/><Relationship Id="rId18" Type="http://schemas.openxmlformats.org/officeDocument/2006/relationships/tags" Target="../tags/tag37.xml"/><Relationship Id="rId3" Type="http://schemas.openxmlformats.org/officeDocument/2006/relationships/tags" Target="../tags/tag22.xml"/><Relationship Id="rId21" Type="http://schemas.openxmlformats.org/officeDocument/2006/relationships/notesSlide" Target="../notesSlides/notesSlide2.xml"/><Relationship Id="rId7" Type="http://schemas.openxmlformats.org/officeDocument/2006/relationships/tags" Target="../tags/tag26.xml"/><Relationship Id="rId12" Type="http://schemas.openxmlformats.org/officeDocument/2006/relationships/tags" Target="../tags/tag31.xml"/><Relationship Id="rId17" Type="http://schemas.openxmlformats.org/officeDocument/2006/relationships/tags" Target="../tags/tag36.xml"/><Relationship Id="rId2" Type="http://schemas.openxmlformats.org/officeDocument/2006/relationships/tags" Target="../tags/tag21.xml"/><Relationship Id="rId16" Type="http://schemas.openxmlformats.org/officeDocument/2006/relationships/tags" Target="../tags/tag35.xml"/><Relationship Id="rId20" Type="http://schemas.openxmlformats.org/officeDocument/2006/relationships/slideLayout" Target="../slideLayouts/slideLayout2.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5" Type="http://schemas.openxmlformats.org/officeDocument/2006/relationships/tags" Target="../tags/tag24.xml"/><Relationship Id="rId15" Type="http://schemas.openxmlformats.org/officeDocument/2006/relationships/tags" Target="../tags/tag34.xml"/><Relationship Id="rId10" Type="http://schemas.openxmlformats.org/officeDocument/2006/relationships/tags" Target="../tags/tag29.xml"/><Relationship Id="rId19" Type="http://schemas.openxmlformats.org/officeDocument/2006/relationships/tags" Target="../tags/tag38.xml"/><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tags" Target="../tags/tag33.xml"/></Relationships>
</file>

<file path=ppt/slides/_rels/slide3.xml.rels><?xml version="1.0" encoding="UTF-8" standalone="yes"?>
<Relationships xmlns="http://schemas.openxmlformats.org/package/2006/relationships"><Relationship Id="rId8" Type="http://schemas.openxmlformats.org/officeDocument/2006/relationships/tags" Target="../tags/tag46.xml"/><Relationship Id="rId13" Type="http://schemas.openxmlformats.org/officeDocument/2006/relationships/tags" Target="../tags/tag51.xml"/><Relationship Id="rId18" Type="http://schemas.openxmlformats.org/officeDocument/2006/relationships/tags" Target="../tags/tag56.xml"/><Relationship Id="rId3" Type="http://schemas.openxmlformats.org/officeDocument/2006/relationships/tags" Target="../tags/tag41.xml"/><Relationship Id="rId21" Type="http://schemas.openxmlformats.org/officeDocument/2006/relationships/notesSlide" Target="../notesSlides/notesSlide3.xml"/><Relationship Id="rId7" Type="http://schemas.openxmlformats.org/officeDocument/2006/relationships/tags" Target="../tags/tag45.xml"/><Relationship Id="rId12" Type="http://schemas.openxmlformats.org/officeDocument/2006/relationships/tags" Target="../tags/tag50.xml"/><Relationship Id="rId17" Type="http://schemas.openxmlformats.org/officeDocument/2006/relationships/tags" Target="../tags/tag55.xml"/><Relationship Id="rId2" Type="http://schemas.openxmlformats.org/officeDocument/2006/relationships/tags" Target="../tags/tag40.xml"/><Relationship Id="rId16" Type="http://schemas.openxmlformats.org/officeDocument/2006/relationships/tags" Target="../tags/tag54.xml"/><Relationship Id="rId20" Type="http://schemas.openxmlformats.org/officeDocument/2006/relationships/slideLayout" Target="../slideLayouts/slideLayout2.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tags" Target="../tags/tag49.xml"/><Relationship Id="rId5" Type="http://schemas.openxmlformats.org/officeDocument/2006/relationships/tags" Target="../tags/tag43.xml"/><Relationship Id="rId15" Type="http://schemas.openxmlformats.org/officeDocument/2006/relationships/tags" Target="../tags/tag53.xml"/><Relationship Id="rId10" Type="http://schemas.openxmlformats.org/officeDocument/2006/relationships/tags" Target="../tags/tag48.xml"/><Relationship Id="rId19" Type="http://schemas.openxmlformats.org/officeDocument/2006/relationships/tags" Target="../tags/tag57.xml"/><Relationship Id="rId4" Type="http://schemas.openxmlformats.org/officeDocument/2006/relationships/tags" Target="../tags/tag42.xml"/><Relationship Id="rId9" Type="http://schemas.openxmlformats.org/officeDocument/2006/relationships/tags" Target="../tags/tag47.xml"/><Relationship Id="rId14" Type="http://schemas.openxmlformats.org/officeDocument/2006/relationships/tags" Target="../tags/tag52.xml"/><Relationship Id="rId22" Type="http://schemas.openxmlformats.org/officeDocument/2006/relationships/image" Target="../media/image2.jpeg"/></Relationships>
</file>

<file path=ppt/slides/_rels/slide4.xml.rels><?xml version="1.0" encoding="UTF-8" standalone="yes"?>
<Relationships xmlns="http://schemas.openxmlformats.org/package/2006/relationships"><Relationship Id="rId8" Type="http://schemas.openxmlformats.org/officeDocument/2006/relationships/tags" Target="../tags/tag65.xml"/><Relationship Id="rId13" Type="http://schemas.openxmlformats.org/officeDocument/2006/relationships/tags" Target="../tags/tag70.xml"/><Relationship Id="rId18" Type="http://schemas.openxmlformats.org/officeDocument/2006/relationships/tags" Target="../tags/tag75.xml"/><Relationship Id="rId3" Type="http://schemas.openxmlformats.org/officeDocument/2006/relationships/tags" Target="../tags/tag60.xml"/><Relationship Id="rId21" Type="http://schemas.openxmlformats.org/officeDocument/2006/relationships/notesSlide" Target="../notesSlides/notesSlide4.xml"/><Relationship Id="rId7" Type="http://schemas.openxmlformats.org/officeDocument/2006/relationships/tags" Target="../tags/tag64.xml"/><Relationship Id="rId12" Type="http://schemas.openxmlformats.org/officeDocument/2006/relationships/tags" Target="../tags/tag69.xml"/><Relationship Id="rId17" Type="http://schemas.openxmlformats.org/officeDocument/2006/relationships/tags" Target="../tags/tag74.xml"/><Relationship Id="rId2" Type="http://schemas.openxmlformats.org/officeDocument/2006/relationships/tags" Target="../tags/tag59.xml"/><Relationship Id="rId16" Type="http://schemas.openxmlformats.org/officeDocument/2006/relationships/tags" Target="../tags/tag73.xml"/><Relationship Id="rId20" Type="http://schemas.openxmlformats.org/officeDocument/2006/relationships/slideLayout" Target="../slideLayouts/slideLayout2.xml"/><Relationship Id="rId1" Type="http://schemas.openxmlformats.org/officeDocument/2006/relationships/tags" Target="../tags/tag58.xml"/><Relationship Id="rId6" Type="http://schemas.openxmlformats.org/officeDocument/2006/relationships/tags" Target="../tags/tag63.xml"/><Relationship Id="rId11" Type="http://schemas.openxmlformats.org/officeDocument/2006/relationships/tags" Target="../tags/tag68.xml"/><Relationship Id="rId5" Type="http://schemas.openxmlformats.org/officeDocument/2006/relationships/tags" Target="../tags/tag62.xml"/><Relationship Id="rId15" Type="http://schemas.openxmlformats.org/officeDocument/2006/relationships/tags" Target="../tags/tag72.xml"/><Relationship Id="rId10" Type="http://schemas.openxmlformats.org/officeDocument/2006/relationships/tags" Target="../tags/tag67.xml"/><Relationship Id="rId19" Type="http://schemas.openxmlformats.org/officeDocument/2006/relationships/tags" Target="../tags/tag76.xml"/><Relationship Id="rId4" Type="http://schemas.openxmlformats.org/officeDocument/2006/relationships/tags" Target="../tags/tag61.xml"/><Relationship Id="rId9" Type="http://schemas.openxmlformats.org/officeDocument/2006/relationships/tags" Target="../tags/tag66.xml"/><Relationship Id="rId14" Type="http://schemas.openxmlformats.org/officeDocument/2006/relationships/tags" Target="../tags/tag71.xml"/></Relationships>
</file>

<file path=ppt/slides/_rels/slide5.xml.rels><?xml version="1.0" encoding="UTF-8" standalone="yes"?>
<Relationships xmlns="http://schemas.openxmlformats.org/package/2006/relationships"><Relationship Id="rId8" Type="http://schemas.openxmlformats.org/officeDocument/2006/relationships/tags" Target="../tags/tag84.xml"/><Relationship Id="rId13" Type="http://schemas.openxmlformats.org/officeDocument/2006/relationships/tags" Target="../tags/tag89.xml"/><Relationship Id="rId18" Type="http://schemas.openxmlformats.org/officeDocument/2006/relationships/tags" Target="../tags/tag94.xml"/><Relationship Id="rId3" Type="http://schemas.openxmlformats.org/officeDocument/2006/relationships/tags" Target="../tags/tag79.xml"/><Relationship Id="rId21" Type="http://schemas.openxmlformats.org/officeDocument/2006/relationships/notesSlide" Target="../notesSlides/notesSlide5.xml"/><Relationship Id="rId7" Type="http://schemas.openxmlformats.org/officeDocument/2006/relationships/tags" Target="../tags/tag83.xml"/><Relationship Id="rId12" Type="http://schemas.openxmlformats.org/officeDocument/2006/relationships/tags" Target="../tags/tag88.xml"/><Relationship Id="rId17" Type="http://schemas.openxmlformats.org/officeDocument/2006/relationships/tags" Target="../tags/tag93.xml"/><Relationship Id="rId2" Type="http://schemas.openxmlformats.org/officeDocument/2006/relationships/tags" Target="../tags/tag78.xml"/><Relationship Id="rId16" Type="http://schemas.openxmlformats.org/officeDocument/2006/relationships/tags" Target="../tags/tag92.xml"/><Relationship Id="rId20" Type="http://schemas.openxmlformats.org/officeDocument/2006/relationships/slideLayout" Target="../slideLayouts/slideLayout2.xml"/><Relationship Id="rId1" Type="http://schemas.openxmlformats.org/officeDocument/2006/relationships/tags" Target="../tags/tag77.xml"/><Relationship Id="rId6" Type="http://schemas.openxmlformats.org/officeDocument/2006/relationships/tags" Target="../tags/tag82.xml"/><Relationship Id="rId11" Type="http://schemas.openxmlformats.org/officeDocument/2006/relationships/tags" Target="../tags/tag87.xml"/><Relationship Id="rId5" Type="http://schemas.openxmlformats.org/officeDocument/2006/relationships/tags" Target="../tags/tag81.xml"/><Relationship Id="rId15" Type="http://schemas.openxmlformats.org/officeDocument/2006/relationships/tags" Target="../tags/tag91.xml"/><Relationship Id="rId10" Type="http://schemas.openxmlformats.org/officeDocument/2006/relationships/tags" Target="../tags/tag86.xml"/><Relationship Id="rId19" Type="http://schemas.openxmlformats.org/officeDocument/2006/relationships/tags" Target="../tags/tag95.xml"/><Relationship Id="rId4" Type="http://schemas.openxmlformats.org/officeDocument/2006/relationships/tags" Target="../tags/tag80.xml"/><Relationship Id="rId9" Type="http://schemas.openxmlformats.org/officeDocument/2006/relationships/tags" Target="../tags/tag85.xml"/><Relationship Id="rId14" Type="http://schemas.openxmlformats.org/officeDocument/2006/relationships/tags" Target="../tags/tag90.xml"/></Relationships>
</file>

<file path=ppt/slides/_rels/slide6.xml.rels><?xml version="1.0" encoding="UTF-8" standalone="yes"?>
<Relationships xmlns="http://schemas.openxmlformats.org/package/2006/relationships"><Relationship Id="rId8" Type="http://schemas.openxmlformats.org/officeDocument/2006/relationships/tags" Target="../tags/tag103.xml"/><Relationship Id="rId13" Type="http://schemas.openxmlformats.org/officeDocument/2006/relationships/tags" Target="../tags/tag108.xml"/><Relationship Id="rId18" Type="http://schemas.openxmlformats.org/officeDocument/2006/relationships/tags" Target="../tags/tag113.xml"/><Relationship Id="rId3" Type="http://schemas.openxmlformats.org/officeDocument/2006/relationships/tags" Target="../tags/tag98.xml"/><Relationship Id="rId21" Type="http://schemas.openxmlformats.org/officeDocument/2006/relationships/slideLayout" Target="../slideLayouts/slideLayout2.xml"/><Relationship Id="rId7" Type="http://schemas.openxmlformats.org/officeDocument/2006/relationships/tags" Target="../tags/tag102.xml"/><Relationship Id="rId12" Type="http://schemas.openxmlformats.org/officeDocument/2006/relationships/tags" Target="../tags/tag107.xml"/><Relationship Id="rId17" Type="http://schemas.openxmlformats.org/officeDocument/2006/relationships/tags" Target="../tags/tag112.xml"/><Relationship Id="rId2" Type="http://schemas.openxmlformats.org/officeDocument/2006/relationships/tags" Target="../tags/tag97.xml"/><Relationship Id="rId16" Type="http://schemas.openxmlformats.org/officeDocument/2006/relationships/tags" Target="../tags/tag111.xml"/><Relationship Id="rId20" Type="http://schemas.openxmlformats.org/officeDocument/2006/relationships/tags" Target="../tags/tag115.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tags" Target="../tags/tag106.xml"/><Relationship Id="rId5" Type="http://schemas.openxmlformats.org/officeDocument/2006/relationships/tags" Target="../tags/tag100.xml"/><Relationship Id="rId15" Type="http://schemas.openxmlformats.org/officeDocument/2006/relationships/tags" Target="../tags/tag110.xml"/><Relationship Id="rId10" Type="http://schemas.openxmlformats.org/officeDocument/2006/relationships/tags" Target="../tags/tag105.xml"/><Relationship Id="rId19" Type="http://schemas.openxmlformats.org/officeDocument/2006/relationships/tags" Target="../tags/tag114.xml"/><Relationship Id="rId4" Type="http://schemas.openxmlformats.org/officeDocument/2006/relationships/tags" Target="../tags/tag99.xml"/><Relationship Id="rId9" Type="http://schemas.openxmlformats.org/officeDocument/2006/relationships/tags" Target="../tags/tag104.xml"/><Relationship Id="rId14" Type="http://schemas.openxmlformats.org/officeDocument/2006/relationships/tags" Target="../tags/tag109.xml"/><Relationship Id="rId2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tags" Target="../tags/tag123.xml"/><Relationship Id="rId13" Type="http://schemas.openxmlformats.org/officeDocument/2006/relationships/tags" Target="../tags/tag128.xml"/><Relationship Id="rId18" Type="http://schemas.openxmlformats.org/officeDocument/2006/relationships/tags" Target="../tags/tag133.xml"/><Relationship Id="rId3" Type="http://schemas.openxmlformats.org/officeDocument/2006/relationships/tags" Target="../tags/tag118.xml"/><Relationship Id="rId21" Type="http://schemas.openxmlformats.org/officeDocument/2006/relationships/tags" Target="../tags/tag136.xml"/><Relationship Id="rId7" Type="http://schemas.openxmlformats.org/officeDocument/2006/relationships/tags" Target="../tags/tag122.xml"/><Relationship Id="rId12" Type="http://schemas.openxmlformats.org/officeDocument/2006/relationships/tags" Target="../tags/tag127.xml"/><Relationship Id="rId17" Type="http://schemas.openxmlformats.org/officeDocument/2006/relationships/tags" Target="../tags/tag132.xml"/><Relationship Id="rId2" Type="http://schemas.openxmlformats.org/officeDocument/2006/relationships/tags" Target="../tags/tag117.xml"/><Relationship Id="rId16" Type="http://schemas.openxmlformats.org/officeDocument/2006/relationships/tags" Target="../tags/tag131.xml"/><Relationship Id="rId20" Type="http://schemas.openxmlformats.org/officeDocument/2006/relationships/tags" Target="../tags/tag135.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tags" Target="../tags/tag126.xml"/><Relationship Id="rId24" Type="http://schemas.openxmlformats.org/officeDocument/2006/relationships/notesSlide" Target="../notesSlides/notesSlide7.xml"/><Relationship Id="rId5" Type="http://schemas.openxmlformats.org/officeDocument/2006/relationships/tags" Target="../tags/tag120.xml"/><Relationship Id="rId15" Type="http://schemas.openxmlformats.org/officeDocument/2006/relationships/tags" Target="../tags/tag130.xml"/><Relationship Id="rId23" Type="http://schemas.openxmlformats.org/officeDocument/2006/relationships/slideLayout" Target="../slideLayouts/slideLayout2.xml"/><Relationship Id="rId10" Type="http://schemas.openxmlformats.org/officeDocument/2006/relationships/tags" Target="../tags/tag125.xml"/><Relationship Id="rId19" Type="http://schemas.openxmlformats.org/officeDocument/2006/relationships/tags" Target="../tags/tag134.xml"/><Relationship Id="rId4" Type="http://schemas.openxmlformats.org/officeDocument/2006/relationships/tags" Target="../tags/tag119.xml"/><Relationship Id="rId9" Type="http://schemas.openxmlformats.org/officeDocument/2006/relationships/tags" Target="../tags/tag124.xml"/><Relationship Id="rId14" Type="http://schemas.openxmlformats.org/officeDocument/2006/relationships/tags" Target="../tags/tag129.xml"/><Relationship Id="rId22" Type="http://schemas.openxmlformats.org/officeDocument/2006/relationships/tags" Target="../tags/tag137.xml"/></Relationships>
</file>

<file path=ppt/slides/_rels/slide8.xml.rels><?xml version="1.0" encoding="UTF-8" standalone="yes"?>
<Relationships xmlns="http://schemas.openxmlformats.org/package/2006/relationships"><Relationship Id="rId8" Type="http://schemas.openxmlformats.org/officeDocument/2006/relationships/tags" Target="../tags/tag145.xml"/><Relationship Id="rId13" Type="http://schemas.openxmlformats.org/officeDocument/2006/relationships/tags" Target="../tags/tag150.xml"/><Relationship Id="rId18" Type="http://schemas.openxmlformats.org/officeDocument/2006/relationships/tags" Target="../tags/tag155.xml"/><Relationship Id="rId3" Type="http://schemas.openxmlformats.org/officeDocument/2006/relationships/tags" Target="../tags/tag140.xml"/><Relationship Id="rId21" Type="http://schemas.openxmlformats.org/officeDocument/2006/relationships/tags" Target="../tags/tag158.xml"/><Relationship Id="rId7" Type="http://schemas.openxmlformats.org/officeDocument/2006/relationships/tags" Target="../tags/tag144.xml"/><Relationship Id="rId12" Type="http://schemas.openxmlformats.org/officeDocument/2006/relationships/tags" Target="../tags/tag149.xml"/><Relationship Id="rId17" Type="http://schemas.openxmlformats.org/officeDocument/2006/relationships/tags" Target="../tags/tag154.xml"/><Relationship Id="rId2" Type="http://schemas.openxmlformats.org/officeDocument/2006/relationships/tags" Target="../tags/tag139.xml"/><Relationship Id="rId16" Type="http://schemas.openxmlformats.org/officeDocument/2006/relationships/tags" Target="../tags/tag153.xml"/><Relationship Id="rId20" Type="http://schemas.openxmlformats.org/officeDocument/2006/relationships/tags" Target="../tags/tag157.xml"/><Relationship Id="rId1" Type="http://schemas.openxmlformats.org/officeDocument/2006/relationships/tags" Target="../tags/tag138.xml"/><Relationship Id="rId6" Type="http://schemas.openxmlformats.org/officeDocument/2006/relationships/tags" Target="../tags/tag143.xml"/><Relationship Id="rId11" Type="http://schemas.openxmlformats.org/officeDocument/2006/relationships/tags" Target="../tags/tag148.xml"/><Relationship Id="rId24" Type="http://schemas.openxmlformats.org/officeDocument/2006/relationships/notesSlide" Target="../notesSlides/notesSlide8.xml"/><Relationship Id="rId5" Type="http://schemas.openxmlformats.org/officeDocument/2006/relationships/tags" Target="../tags/tag142.xml"/><Relationship Id="rId15" Type="http://schemas.openxmlformats.org/officeDocument/2006/relationships/tags" Target="../tags/tag152.xml"/><Relationship Id="rId23" Type="http://schemas.openxmlformats.org/officeDocument/2006/relationships/slideLayout" Target="../slideLayouts/slideLayout2.xml"/><Relationship Id="rId10" Type="http://schemas.openxmlformats.org/officeDocument/2006/relationships/tags" Target="../tags/tag147.xml"/><Relationship Id="rId19" Type="http://schemas.openxmlformats.org/officeDocument/2006/relationships/tags" Target="../tags/tag156.xml"/><Relationship Id="rId4" Type="http://schemas.openxmlformats.org/officeDocument/2006/relationships/tags" Target="../tags/tag141.xml"/><Relationship Id="rId9" Type="http://schemas.openxmlformats.org/officeDocument/2006/relationships/tags" Target="../tags/tag146.xml"/><Relationship Id="rId14" Type="http://schemas.openxmlformats.org/officeDocument/2006/relationships/tags" Target="../tags/tag151.xml"/><Relationship Id="rId22" Type="http://schemas.openxmlformats.org/officeDocument/2006/relationships/tags" Target="../tags/tag159.xml"/></Relationships>
</file>

<file path=ppt/slides/_rels/slide9.xml.rels><?xml version="1.0" encoding="UTF-8" standalone="yes"?>
<Relationships xmlns="http://schemas.openxmlformats.org/package/2006/relationships"><Relationship Id="rId8" Type="http://schemas.openxmlformats.org/officeDocument/2006/relationships/tags" Target="../tags/tag167.xml"/><Relationship Id="rId13" Type="http://schemas.openxmlformats.org/officeDocument/2006/relationships/tags" Target="../tags/tag172.xml"/><Relationship Id="rId18" Type="http://schemas.openxmlformats.org/officeDocument/2006/relationships/tags" Target="../tags/tag177.xml"/><Relationship Id="rId26" Type="http://schemas.openxmlformats.org/officeDocument/2006/relationships/notesSlide" Target="../notesSlides/notesSlide9.xml"/><Relationship Id="rId3" Type="http://schemas.openxmlformats.org/officeDocument/2006/relationships/tags" Target="../tags/tag162.xml"/><Relationship Id="rId21" Type="http://schemas.openxmlformats.org/officeDocument/2006/relationships/tags" Target="../tags/tag180.xml"/><Relationship Id="rId7" Type="http://schemas.openxmlformats.org/officeDocument/2006/relationships/tags" Target="../tags/tag166.xml"/><Relationship Id="rId12" Type="http://schemas.openxmlformats.org/officeDocument/2006/relationships/tags" Target="../tags/tag171.xml"/><Relationship Id="rId17" Type="http://schemas.openxmlformats.org/officeDocument/2006/relationships/tags" Target="../tags/tag176.xml"/><Relationship Id="rId25" Type="http://schemas.openxmlformats.org/officeDocument/2006/relationships/slideLayout" Target="../slideLayouts/slideLayout2.xml"/><Relationship Id="rId2" Type="http://schemas.openxmlformats.org/officeDocument/2006/relationships/tags" Target="../tags/tag161.xml"/><Relationship Id="rId16" Type="http://schemas.openxmlformats.org/officeDocument/2006/relationships/tags" Target="../tags/tag175.xml"/><Relationship Id="rId20" Type="http://schemas.openxmlformats.org/officeDocument/2006/relationships/tags" Target="../tags/tag179.xml"/><Relationship Id="rId1" Type="http://schemas.openxmlformats.org/officeDocument/2006/relationships/tags" Target="../tags/tag160.xml"/><Relationship Id="rId6" Type="http://schemas.openxmlformats.org/officeDocument/2006/relationships/tags" Target="../tags/tag165.xml"/><Relationship Id="rId11" Type="http://schemas.openxmlformats.org/officeDocument/2006/relationships/tags" Target="../tags/tag170.xml"/><Relationship Id="rId24" Type="http://schemas.openxmlformats.org/officeDocument/2006/relationships/tags" Target="../tags/tag183.xml"/><Relationship Id="rId5" Type="http://schemas.openxmlformats.org/officeDocument/2006/relationships/tags" Target="../tags/tag164.xml"/><Relationship Id="rId15" Type="http://schemas.openxmlformats.org/officeDocument/2006/relationships/tags" Target="../tags/tag174.xml"/><Relationship Id="rId23" Type="http://schemas.openxmlformats.org/officeDocument/2006/relationships/tags" Target="../tags/tag182.xml"/><Relationship Id="rId10" Type="http://schemas.openxmlformats.org/officeDocument/2006/relationships/tags" Target="../tags/tag169.xml"/><Relationship Id="rId19" Type="http://schemas.openxmlformats.org/officeDocument/2006/relationships/tags" Target="../tags/tag178.xml"/><Relationship Id="rId4" Type="http://schemas.openxmlformats.org/officeDocument/2006/relationships/tags" Target="../tags/tag163.xml"/><Relationship Id="rId9" Type="http://schemas.openxmlformats.org/officeDocument/2006/relationships/tags" Target="../tags/tag168.xml"/><Relationship Id="rId14" Type="http://schemas.openxmlformats.org/officeDocument/2006/relationships/tags" Target="../tags/tag173.xml"/><Relationship Id="rId22" Type="http://schemas.openxmlformats.org/officeDocument/2006/relationships/tags" Target="../tags/tag181.xml"/></Relationships>
</file>

<file path=ppt/slides/_rels/slide10.xml.rels><?xml version="1.0" encoding="UTF-8" standalone="yes"?>
<Relationships xmlns="http://schemas.openxmlformats.org/package/2006/relationships"><Relationship Id="rId3" Type="http://schemas.openxmlformats.org/officeDocument/2006/relationships/tags" Target="../tags/tag186.xml"/><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tags" Target="../tags/tag18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F831BF55-F706-4EA0-ADB2-762E59B97EC4}"/>
              </a:ext>
            </a:extLst>
          </p:cNvPr>
          <p:cNvSpPr>
            <a:spLocks noGrp="1"/>
          </p:cNvSpPr>
          <p:nvPr>
            <p:ph type="ctrTitle"/>
            <p:custDataLst>
              <p:tags r:id="rId2"/>
            </p:custDataLst>
          </p:nvPr>
        </p:nvSpPr>
        <p:spPr>
          <a:xfrm>
            <a:off x="457200" y="2495550"/>
            <a:ext cx="8229600" cy="1238250"/>
          </a:xfrm>
        </p:spPr>
        <p:txBody>
          <a:bodyPr/>
          <a:lstStyle/>
          <a:p>
            <a:pPr eaLnBrk="1" hangingPunct="1"/>
            <a:r>
              <a:rPr lang="en-US" altLang="en-US" dirty="0"/>
              <a:t>ECE/CS 552: Shared Memory and Coherence</a:t>
            </a:r>
          </a:p>
        </p:txBody>
      </p:sp>
      <p:sp>
        <p:nvSpPr>
          <p:cNvPr id="3" name="Subtitle 2">
            <a:extLst>
              <a:ext uri="{FF2B5EF4-FFF2-40B4-BE49-F238E27FC236}">
                <a16:creationId xmlns:a16="http://schemas.microsoft.com/office/drawing/2014/main" id="{60F7F15D-B052-485D-B6FA-83AEEE3C0BC0}"/>
              </a:ext>
            </a:extLst>
          </p:cNvPr>
          <p:cNvSpPr>
            <a:spLocks noGrp="1"/>
          </p:cNvSpPr>
          <p:nvPr>
            <p:ph type="subTitle" idx="1"/>
            <p:custDataLst>
              <p:tags r:id="rId3"/>
            </p:custDataLst>
          </p:nvPr>
        </p:nvSpPr>
        <p:spPr>
          <a:xfrm>
            <a:off x="1371600" y="3886200"/>
            <a:ext cx="6400800" cy="1752600"/>
          </a:xfrm>
        </p:spPr>
        <p:txBody>
          <a:bodyPr>
            <a:noAutofit/>
          </a:bodyPr>
          <a:lstStyle/>
          <a:p>
            <a:pPr eaLnBrk="1" hangingPunct="1">
              <a:buFont typeface="Arial" charset="0"/>
              <a:buNone/>
              <a:defRPr/>
            </a:pPr>
            <a:r>
              <a:rPr lang="en-US" sz="2200" dirty="0"/>
              <a:t>Boone Severson</a:t>
            </a:r>
          </a:p>
          <a:p>
            <a:pPr eaLnBrk="1" hangingPunct="1">
              <a:buFont typeface="Arial" charset="0"/>
              <a:buNone/>
              <a:defRPr/>
            </a:pPr>
            <a:endParaRPr lang="en-US" sz="2200" dirty="0"/>
          </a:p>
          <a:p>
            <a:pPr eaLnBrk="1" hangingPunct="1">
              <a:buFont typeface="Arial" charset="0"/>
              <a:buNone/>
              <a:defRPr/>
            </a:pPr>
            <a:r>
              <a:rPr lang="en-US" sz="2200" dirty="0"/>
              <a:t>Lecture notes based in part on slides created by Joshua San Miguel, Mikko </a:t>
            </a:r>
            <a:r>
              <a:rPr lang="en-US" sz="2200" dirty="0" err="1"/>
              <a:t>Lipasti</a:t>
            </a:r>
            <a:r>
              <a:rPr lang="en-US" sz="2200" dirty="0"/>
              <a:t>, Mark Hill, David Wood, Guri Sohi, John Shen and Jim Smith</a:t>
            </a:r>
          </a:p>
          <a:p>
            <a:pPr eaLnBrk="1" hangingPunct="1">
              <a:buFont typeface="Arial" charset="0"/>
              <a:buNone/>
              <a:defRPr/>
            </a:pPr>
            <a:r>
              <a:rPr lang="en-US" sz="2200" dirty="0"/>
              <a:t>  </a:t>
            </a:r>
          </a:p>
          <a:p>
            <a:pPr eaLnBrk="1" hangingPunct="1">
              <a:buFont typeface="Arial" charset="0"/>
              <a:buNone/>
              <a:defRPr/>
            </a:pPr>
            <a:endParaRPr lang="en-US" sz="22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Shared Memory</a:t>
            </a:r>
          </a:p>
        </p:txBody>
      </p:sp>
      <p:sp>
        <p:nvSpPr>
          <p:cNvPr id="5123" name="Rectangle 3">
            <a:extLst>
              <a:ext uri="{FF2B5EF4-FFF2-40B4-BE49-F238E27FC236}">
                <a16:creationId xmlns:a16="http://schemas.microsoft.com/office/drawing/2014/main" id="{EF56DE11-1CD6-4AB1-ADE4-E75FAD219132}"/>
              </a:ext>
            </a:extLst>
          </p:cNvPr>
          <p:cNvSpPr>
            <a:spLocks noGrp="1" noChangeArrowheads="1"/>
          </p:cNvSpPr>
          <p:nvPr>
            <p:ph idx="1"/>
            <p:custDataLst>
              <p:tags r:id="rId3"/>
            </p:custDataLst>
          </p:nvPr>
        </p:nvSpPr>
        <p:spPr>
          <a:xfrm>
            <a:off x="457200" y="1600200"/>
            <a:ext cx="8458200" cy="3428999"/>
          </a:xfrm>
        </p:spPr>
        <p:txBody>
          <a:bodyPr/>
          <a:lstStyle/>
          <a:p>
            <a:pPr eaLnBrk="1" hangingPunct="1"/>
            <a:r>
              <a:rPr lang="en-US" altLang="en-US" dirty="0"/>
              <a:t>Programming model for implicit communication</a:t>
            </a:r>
          </a:p>
          <a:p>
            <a:pPr lvl="1" eaLnBrk="1" hangingPunct="1"/>
            <a:r>
              <a:rPr lang="en-US" altLang="en-US" dirty="0"/>
              <a:t>Between different threads in the same process</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2</a:t>
            </a:fld>
            <a:endParaRPr lang="en-US" altLang="en-US" sz="1400">
              <a:latin typeface="Times New Roman" panose="02020603050405020304" pitchFamily="18" charset="0"/>
            </a:endParaRPr>
          </a:p>
        </p:txBody>
      </p:sp>
      <p:sp>
        <p:nvSpPr>
          <p:cNvPr id="11" name="Rectangle 10">
            <a:extLst>
              <a:ext uri="{FF2B5EF4-FFF2-40B4-BE49-F238E27FC236}">
                <a16:creationId xmlns:a16="http://schemas.microsoft.com/office/drawing/2014/main" id="{38761EBC-B530-44E9-980F-152E36D3E45F}"/>
              </a:ext>
            </a:extLst>
          </p:cNvPr>
          <p:cNvSpPr/>
          <p:nvPr>
            <p:custDataLst>
              <p:tags r:id="rId5"/>
            </p:custDataLst>
          </p:nvPr>
        </p:nvSpPr>
        <p:spPr bwMode="auto">
          <a:xfrm>
            <a:off x="2476021" y="2971800"/>
            <a:ext cx="1676400" cy="2819400"/>
          </a:xfrm>
          <a:prstGeom prst="rect">
            <a:avLst/>
          </a:prstGeom>
          <a:solidFill>
            <a:schemeClr val="accent2">
              <a:lumMod val="20000"/>
              <a:lumOff val="80000"/>
            </a:schemeClr>
          </a:solidFill>
          <a:ln w="25400" cap="flat" cmpd="sng" algn="ctr">
            <a:solidFill>
              <a:schemeClr val="tx1"/>
            </a:solidFill>
            <a:prstDash val="solid"/>
            <a:headEnd type="none" w="med" len="med"/>
            <a:tailEnd type="none" w="med" len="med"/>
          </a:ln>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en-US" sz="1600" dirty="0">
                <a:solidFill>
                  <a:schemeClr val="tx1"/>
                </a:solidFill>
              </a:rPr>
              <a:t>shared</a:t>
            </a:r>
          </a:p>
        </p:txBody>
      </p:sp>
      <p:sp>
        <p:nvSpPr>
          <p:cNvPr id="12" name="Rectangle 11">
            <a:extLst>
              <a:ext uri="{FF2B5EF4-FFF2-40B4-BE49-F238E27FC236}">
                <a16:creationId xmlns:a16="http://schemas.microsoft.com/office/drawing/2014/main" id="{91E59BF3-41D4-4448-A8DB-6BF7BEC1F917}"/>
              </a:ext>
            </a:extLst>
          </p:cNvPr>
          <p:cNvSpPr/>
          <p:nvPr>
            <p:custDataLst>
              <p:tags r:id="rId6"/>
            </p:custDataLst>
          </p:nvPr>
        </p:nvSpPr>
        <p:spPr bwMode="auto">
          <a:xfrm>
            <a:off x="2476021" y="6359726"/>
            <a:ext cx="1676400" cy="422073"/>
          </a:xfrm>
          <a:prstGeom prst="rect">
            <a:avLst/>
          </a:prstGeom>
          <a:solidFill>
            <a:schemeClr val="accent2">
              <a:lumMod val="60000"/>
              <a:lumOff val="40000"/>
            </a:schemeClr>
          </a:solidFill>
          <a:ln w="25400" cap="flat" cmpd="sng" algn="ctr">
            <a:solidFill>
              <a:schemeClr val="tx1"/>
            </a:solidFill>
            <a:prstDash val="solid"/>
            <a:headEnd type="none" w="med" len="med"/>
            <a:tailEnd type="none" w="med" len="med"/>
          </a:ln>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rPr>
              <a:t>T</a:t>
            </a:r>
            <a:r>
              <a:rPr kumimoji="0" lang="en-US" sz="1600" b="0" i="0" u="none" strike="noStrike" cap="none" normalizeH="0" baseline="-25000" dirty="0">
                <a:ln>
                  <a:noFill/>
                </a:ln>
                <a:solidFill>
                  <a:schemeClr val="tx1"/>
                </a:solidFill>
                <a:effectLst/>
              </a:rPr>
              <a:t>0</a:t>
            </a:r>
            <a:r>
              <a:rPr kumimoji="0" lang="en-US" sz="1600" b="0" i="0" u="none" strike="noStrike" cap="none" normalizeH="0" baseline="0" dirty="0">
                <a:ln>
                  <a:noFill/>
                </a:ln>
                <a:solidFill>
                  <a:schemeClr val="tx1"/>
                </a:solidFill>
                <a:effectLst/>
              </a:rPr>
              <a:t> private</a:t>
            </a:r>
          </a:p>
        </p:txBody>
      </p:sp>
      <p:sp>
        <p:nvSpPr>
          <p:cNvPr id="13" name="Rectangle 12">
            <a:extLst>
              <a:ext uri="{FF2B5EF4-FFF2-40B4-BE49-F238E27FC236}">
                <a16:creationId xmlns:a16="http://schemas.microsoft.com/office/drawing/2014/main" id="{04167BAF-FAD5-478D-A3A3-9D84014CE59A}"/>
              </a:ext>
            </a:extLst>
          </p:cNvPr>
          <p:cNvSpPr/>
          <p:nvPr>
            <p:custDataLst>
              <p:tags r:id="rId7"/>
            </p:custDataLst>
          </p:nvPr>
        </p:nvSpPr>
        <p:spPr bwMode="auto">
          <a:xfrm>
            <a:off x="5763037" y="3322007"/>
            <a:ext cx="1676400" cy="3124200"/>
          </a:xfrm>
          <a:prstGeom prst="rect">
            <a:avLst/>
          </a:prstGeom>
          <a:solidFill>
            <a:schemeClr val="bg2"/>
          </a:solidFill>
          <a:ln w="2540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endParaRPr lang="en-US" sz="1600" dirty="0">
              <a:solidFill>
                <a:schemeClr val="tx1"/>
              </a:solidFill>
            </a:endParaRPr>
          </a:p>
        </p:txBody>
      </p:sp>
      <p:sp>
        <p:nvSpPr>
          <p:cNvPr id="16" name="Flowchart: Process 15">
            <a:extLst>
              <a:ext uri="{FF2B5EF4-FFF2-40B4-BE49-F238E27FC236}">
                <a16:creationId xmlns:a16="http://schemas.microsoft.com/office/drawing/2014/main" id="{6958FD8B-43A9-4F05-ADC4-DB8CB4A33892}"/>
              </a:ext>
            </a:extLst>
          </p:cNvPr>
          <p:cNvSpPr/>
          <p:nvPr>
            <p:custDataLst>
              <p:tags r:id="rId8"/>
            </p:custDataLst>
          </p:nvPr>
        </p:nvSpPr>
        <p:spPr bwMode="auto">
          <a:xfrm>
            <a:off x="2675129" y="4561026"/>
            <a:ext cx="533400" cy="304800"/>
          </a:xfrm>
          <a:prstGeom prst="flowChartProcess">
            <a:avLst/>
          </a:prstGeom>
          <a:solidFill>
            <a:schemeClr val="tx1"/>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mn-lt"/>
            </a:endParaRPr>
          </a:p>
        </p:txBody>
      </p:sp>
      <p:sp>
        <p:nvSpPr>
          <p:cNvPr id="17" name="TextBox 16">
            <a:extLst>
              <a:ext uri="{FF2B5EF4-FFF2-40B4-BE49-F238E27FC236}">
                <a16:creationId xmlns:a16="http://schemas.microsoft.com/office/drawing/2014/main" id="{E27B5F69-BA29-4DD6-B633-BA622C7A016B}"/>
              </a:ext>
            </a:extLst>
          </p:cNvPr>
          <p:cNvSpPr txBox="1"/>
          <p:nvPr>
            <p:custDataLst>
              <p:tags r:id="rId9"/>
            </p:custDataLst>
          </p:nvPr>
        </p:nvSpPr>
        <p:spPr>
          <a:xfrm>
            <a:off x="1351050" y="4343400"/>
            <a:ext cx="904607" cy="369332"/>
          </a:xfrm>
          <a:prstGeom prst="rect">
            <a:avLst/>
          </a:prstGeom>
          <a:noFill/>
        </p:spPr>
        <p:txBody>
          <a:bodyPr wrap="none" rtlCol="0">
            <a:spAutoFit/>
          </a:bodyPr>
          <a:lstStyle/>
          <a:p>
            <a:pPr algn="l"/>
            <a:r>
              <a:rPr lang="en-US" sz="1800" dirty="0">
                <a:latin typeface="+mn-lt"/>
              </a:rPr>
              <a:t>T</a:t>
            </a:r>
            <a:r>
              <a:rPr lang="en-US" sz="1800" baseline="-25000" dirty="0">
                <a:latin typeface="+mn-lt"/>
              </a:rPr>
              <a:t>0</a:t>
            </a:r>
            <a:r>
              <a:rPr lang="en-US" sz="1800" dirty="0">
                <a:latin typeface="+mn-lt"/>
              </a:rPr>
              <a:t> store</a:t>
            </a:r>
            <a:endParaRPr lang="en-US" sz="1800" i="1" baseline="-25000" dirty="0">
              <a:latin typeface="+mn-lt"/>
            </a:endParaRPr>
          </a:p>
        </p:txBody>
      </p:sp>
      <p:sp>
        <p:nvSpPr>
          <p:cNvPr id="19" name="TextBox 18">
            <a:extLst>
              <a:ext uri="{FF2B5EF4-FFF2-40B4-BE49-F238E27FC236}">
                <a16:creationId xmlns:a16="http://schemas.microsoft.com/office/drawing/2014/main" id="{5725E9EA-9C55-462F-8CBB-1EA81E2A0451}"/>
              </a:ext>
            </a:extLst>
          </p:cNvPr>
          <p:cNvSpPr txBox="1"/>
          <p:nvPr>
            <p:custDataLst>
              <p:tags r:id="rId10"/>
            </p:custDataLst>
          </p:nvPr>
        </p:nvSpPr>
        <p:spPr>
          <a:xfrm>
            <a:off x="1455929" y="4643715"/>
            <a:ext cx="822789" cy="369332"/>
          </a:xfrm>
          <a:prstGeom prst="rect">
            <a:avLst/>
          </a:prstGeom>
          <a:noFill/>
        </p:spPr>
        <p:txBody>
          <a:bodyPr wrap="none" rtlCol="0">
            <a:spAutoFit/>
          </a:bodyPr>
          <a:lstStyle/>
          <a:p>
            <a:pPr algn="l"/>
            <a:r>
              <a:rPr lang="en-US" sz="1800" dirty="0">
                <a:latin typeface="+mn-lt"/>
              </a:rPr>
              <a:t>T</a:t>
            </a:r>
            <a:r>
              <a:rPr lang="en-US" sz="1800" baseline="-25000" dirty="0">
                <a:latin typeface="+mn-lt"/>
              </a:rPr>
              <a:t>n</a:t>
            </a:r>
            <a:r>
              <a:rPr lang="en-US" sz="1800" dirty="0">
                <a:latin typeface="+mn-lt"/>
              </a:rPr>
              <a:t> load</a:t>
            </a:r>
            <a:endParaRPr lang="en-US" sz="1800" i="1" baseline="-25000" dirty="0">
              <a:latin typeface="+mn-lt"/>
            </a:endParaRPr>
          </a:p>
        </p:txBody>
      </p:sp>
      <p:cxnSp>
        <p:nvCxnSpPr>
          <p:cNvPr id="23" name="Straight Arrow Connector 22">
            <a:extLst>
              <a:ext uri="{FF2B5EF4-FFF2-40B4-BE49-F238E27FC236}">
                <a16:creationId xmlns:a16="http://schemas.microsoft.com/office/drawing/2014/main" id="{31BB25EF-638A-446C-8C9C-E616F63E84CB}"/>
              </a:ext>
            </a:extLst>
          </p:cNvPr>
          <p:cNvCxnSpPr>
            <a:cxnSpLocks/>
            <a:stCxn id="16" idx="3"/>
            <a:endCxn id="25" idx="1"/>
          </p:cNvCxnSpPr>
          <p:nvPr>
            <p:custDataLst>
              <p:tags r:id="rId11"/>
            </p:custDataLst>
          </p:nvPr>
        </p:nvCxnSpPr>
        <p:spPr bwMode="auto">
          <a:xfrm flipV="1">
            <a:off x="3208529" y="3855407"/>
            <a:ext cx="2923555" cy="858019"/>
          </a:xfrm>
          <a:prstGeom prst="straightConnector1">
            <a:avLst/>
          </a:prstGeom>
          <a:ln w="25400">
            <a:solidFill>
              <a:schemeClr val="tx1"/>
            </a:solidFill>
            <a:prstDash val="dash"/>
            <a:headEnd type="none" w="med" len="med"/>
            <a:tailEnd type="arrow"/>
          </a:ln>
        </p:spPr>
        <p:style>
          <a:lnRef idx="2">
            <a:schemeClr val="accent3"/>
          </a:lnRef>
          <a:fillRef idx="0">
            <a:schemeClr val="accent3"/>
          </a:fillRef>
          <a:effectRef idx="1">
            <a:schemeClr val="accent3"/>
          </a:effectRef>
          <a:fontRef idx="minor">
            <a:schemeClr val="tx1"/>
          </a:fontRef>
        </p:style>
      </p:cxnSp>
      <p:sp>
        <p:nvSpPr>
          <p:cNvPr id="25" name="Flowchart: Process 24">
            <a:extLst>
              <a:ext uri="{FF2B5EF4-FFF2-40B4-BE49-F238E27FC236}">
                <a16:creationId xmlns:a16="http://schemas.microsoft.com/office/drawing/2014/main" id="{1718064E-9C01-4F8C-892C-57A6F9CCC062}"/>
              </a:ext>
            </a:extLst>
          </p:cNvPr>
          <p:cNvSpPr/>
          <p:nvPr>
            <p:custDataLst>
              <p:tags r:id="rId12"/>
            </p:custDataLst>
          </p:nvPr>
        </p:nvSpPr>
        <p:spPr bwMode="auto">
          <a:xfrm>
            <a:off x="6132084" y="3703007"/>
            <a:ext cx="533400" cy="304800"/>
          </a:xfrm>
          <a:prstGeom prst="flowChartProcess">
            <a:avLst/>
          </a:prstGeom>
          <a:solidFill>
            <a:schemeClr val="tx1"/>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mn-lt"/>
            </a:endParaRPr>
          </a:p>
        </p:txBody>
      </p:sp>
      <p:cxnSp>
        <p:nvCxnSpPr>
          <p:cNvPr id="26" name="Curved Connector 100">
            <a:extLst>
              <a:ext uri="{FF2B5EF4-FFF2-40B4-BE49-F238E27FC236}">
                <a16:creationId xmlns:a16="http://schemas.microsoft.com/office/drawing/2014/main" id="{06088CFE-79BA-417D-BB31-FCEB15C1A7A5}"/>
              </a:ext>
            </a:extLst>
          </p:cNvPr>
          <p:cNvCxnSpPr/>
          <p:nvPr>
            <p:custDataLst>
              <p:tags r:id="rId13"/>
            </p:custDataLst>
          </p:nvPr>
        </p:nvCxnSpPr>
        <p:spPr bwMode="auto">
          <a:xfrm flipH="1">
            <a:off x="2217929" y="4754283"/>
            <a:ext cx="457200" cy="76200"/>
          </a:xfrm>
          <a:prstGeom prst="curvedConnector3">
            <a:avLst>
              <a:gd name="adj1" fmla="val 50000"/>
            </a:avLst>
          </a:prstGeom>
          <a:ln w="25400">
            <a:solidFill>
              <a:schemeClr val="tx1"/>
            </a:solidFill>
            <a:headEnd type="none" w="med" len="med"/>
            <a:tailEnd type="arrow"/>
          </a:ln>
        </p:spPr>
        <p:style>
          <a:lnRef idx="2">
            <a:schemeClr val="accent2"/>
          </a:lnRef>
          <a:fillRef idx="0">
            <a:schemeClr val="accent2"/>
          </a:fillRef>
          <a:effectRef idx="1">
            <a:schemeClr val="accent2"/>
          </a:effectRef>
          <a:fontRef idx="minor">
            <a:schemeClr val="tx1"/>
          </a:fontRef>
        </p:style>
      </p:cxnSp>
      <p:cxnSp>
        <p:nvCxnSpPr>
          <p:cNvPr id="27" name="Curved Connector 101">
            <a:extLst>
              <a:ext uri="{FF2B5EF4-FFF2-40B4-BE49-F238E27FC236}">
                <a16:creationId xmlns:a16="http://schemas.microsoft.com/office/drawing/2014/main" id="{E31BE152-283B-41A0-B970-4FC29F175A9E}"/>
              </a:ext>
            </a:extLst>
          </p:cNvPr>
          <p:cNvCxnSpPr/>
          <p:nvPr>
            <p:custDataLst>
              <p:tags r:id="rId14"/>
            </p:custDataLst>
          </p:nvPr>
        </p:nvCxnSpPr>
        <p:spPr bwMode="auto">
          <a:xfrm>
            <a:off x="2217929" y="4582464"/>
            <a:ext cx="457200" cy="76200"/>
          </a:xfrm>
          <a:prstGeom prst="curvedConnector3">
            <a:avLst>
              <a:gd name="adj1" fmla="val 50000"/>
            </a:avLst>
          </a:prstGeom>
          <a:ln w="25400">
            <a:solidFill>
              <a:schemeClr val="tx1"/>
            </a:solidFill>
            <a:headEnd type="none" w="med" len="med"/>
            <a:tailEnd type="arrow"/>
          </a:ln>
        </p:spPr>
        <p:style>
          <a:lnRef idx="2">
            <a:schemeClr val="accent2"/>
          </a:lnRef>
          <a:fillRef idx="0">
            <a:schemeClr val="accent2"/>
          </a:fillRef>
          <a:effectRef idx="1">
            <a:schemeClr val="accent2"/>
          </a:effectRef>
          <a:fontRef idx="minor">
            <a:schemeClr val="tx1"/>
          </a:fontRef>
        </p:style>
      </p:cxnSp>
      <p:sp>
        <p:nvSpPr>
          <p:cNvPr id="30" name="TextBox 29">
            <a:extLst>
              <a:ext uri="{FF2B5EF4-FFF2-40B4-BE49-F238E27FC236}">
                <a16:creationId xmlns:a16="http://schemas.microsoft.com/office/drawing/2014/main" id="{A1F293FB-196B-4BD0-A8FA-3B9F1CB6C381}"/>
              </a:ext>
            </a:extLst>
          </p:cNvPr>
          <p:cNvSpPr txBox="1"/>
          <p:nvPr>
            <p:custDataLst>
              <p:tags r:id="rId15"/>
            </p:custDataLst>
          </p:nvPr>
        </p:nvSpPr>
        <p:spPr>
          <a:xfrm>
            <a:off x="5715000" y="2971800"/>
            <a:ext cx="1772473" cy="369332"/>
          </a:xfrm>
          <a:prstGeom prst="rect">
            <a:avLst/>
          </a:prstGeom>
          <a:noFill/>
        </p:spPr>
        <p:txBody>
          <a:bodyPr wrap="none" rtlCol="0">
            <a:spAutoFit/>
          </a:bodyPr>
          <a:lstStyle/>
          <a:p>
            <a:pPr algn="ctr"/>
            <a:r>
              <a:rPr lang="en-US" sz="1800" dirty="0">
                <a:latin typeface="+mn-lt"/>
              </a:rPr>
              <a:t>physical memory</a:t>
            </a:r>
            <a:endParaRPr lang="en-US" sz="1800" i="1" baseline="-25000" dirty="0">
              <a:latin typeface="+mn-lt"/>
            </a:endParaRPr>
          </a:p>
        </p:txBody>
      </p:sp>
      <p:sp>
        <p:nvSpPr>
          <p:cNvPr id="31" name="TextBox 30">
            <a:extLst>
              <a:ext uri="{FF2B5EF4-FFF2-40B4-BE49-F238E27FC236}">
                <a16:creationId xmlns:a16="http://schemas.microsoft.com/office/drawing/2014/main" id="{816A3B19-8F51-4F18-93BD-726B89711F2E}"/>
              </a:ext>
            </a:extLst>
          </p:cNvPr>
          <p:cNvSpPr txBox="1"/>
          <p:nvPr>
            <p:custDataLst>
              <p:tags r:id="rId16"/>
            </p:custDataLst>
          </p:nvPr>
        </p:nvSpPr>
        <p:spPr>
          <a:xfrm>
            <a:off x="2350137" y="2621593"/>
            <a:ext cx="1917063" cy="369332"/>
          </a:xfrm>
          <a:prstGeom prst="rect">
            <a:avLst/>
          </a:prstGeom>
          <a:noFill/>
        </p:spPr>
        <p:txBody>
          <a:bodyPr wrap="none" rtlCol="0">
            <a:spAutoFit/>
          </a:bodyPr>
          <a:lstStyle/>
          <a:p>
            <a:pPr algn="ctr"/>
            <a:r>
              <a:rPr lang="en-US" sz="1800" dirty="0">
                <a:latin typeface="+mn-lt"/>
              </a:rPr>
              <a:t>virtual memory P</a:t>
            </a:r>
            <a:r>
              <a:rPr lang="en-US" sz="1800" baseline="-25000" dirty="0">
                <a:latin typeface="+mn-lt"/>
              </a:rPr>
              <a:t>0</a:t>
            </a:r>
            <a:endParaRPr lang="en-US" sz="1800" i="1" baseline="-25000" dirty="0">
              <a:latin typeface="+mn-lt"/>
            </a:endParaRPr>
          </a:p>
        </p:txBody>
      </p:sp>
      <p:sp>
        <p:nvSpPr>
          <p:cNvPr id="35" name="Rectangle 34">
            <a:extLst>
              <a:ext uri="{FF2B5EF4-FFF2-40B4-BE49-F238E27FC236}">
                <a16:creationId xmlns:a16="http://schemas.microsoft.com/office/drawing/2014/main" id="{92D736C2-5B61-499F-91B4-893594E5811B}"/>
              </a:ext>
            </a:extLst>
          </p:cNvPr>
          <p:cNvSpPr/>
          <p:nvPr>
            <p:custDataLst>
              <p:tags r:id="rId17"/>
            </p:custDataLst>
          </p:nvPr>
        </p:nvSpPr>
        <p:spPr bwMode="auto">
          <a:xfrm>
            <a:off x="2476021" y="5791200"/>
            <a:ext cx="1676400" cy="990600"/>
          </a:xfrm>
          <a:prstGeom prst="rect">
            <a:avLst/>
          </a:prstGeom>
          <a:solidFill>
            <a:schemeClr val="accent2">
              <a:lumMod val="60000"/>
              <a:lumOff val="40000"/>
            </a:schemeClr>
          </a:solidFill>
          <a:ln w="2540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endParaRPr>
          </a:p>
        </p:txBody>
      </p:sp>
      <p:sp>
        <p:nvSpPr>
          <p:cNvPr id="36" name="Rectangle 35">
            <a:extLst>
              <a:ext uri="{FF2B5EF4-FFF2-40B4-BE49-F238E27FC236}">
                <a16:creationId xmlns:a16="http://schemas.microsoft.com/office/drawing/2014/main" id="{B2B9B272-5A4C-42CD-9DEE-46DDF08270E1}"/>
              </a:ext>
            </a:extLst>
          </p:cNvPr>
          <p:cNvSpPr/>
          <p:nvPr>
            <p:custDataLst>
              <p:tags r:id="rId18"/>
            </p:custDataLst>
          </p:nvPr>
        </p:nvSpPr>
        <p:spPr bwMode="auto">
          <a:xfrm>
            <a:off x="2476021" y="6359726"/>
            <a:ext cx="1676400" cy="422074"/>
          </a:xfrm>
          <a:prstGeom prst="rect">
            <a:avLst/>
          </a:prstGeom>
          <a:solidFill>
            <a:schemeClr val="accent2">
              <a:lumMod val="60000"/>
              <a:lumOff val="40000"/>
            </a:schemeClr>
          </a:solidFill>
          <a:ln w="25400" cap="flat" cmpd="sng" algn="ctr">
            <a:solidFill>
              <a:schemeClr val="tx1"/>
            </a:solidFill>
            <a:prstDash val="solid"/>
            <a:headEnd type="none" w="med" len="med"/>
            <a:tailEnd type="none" w="med" len="med"/>
          </a:ln>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rPr>
              <a:t>T</a:t>
            </a:r>
            <a:r>
              <a:rPr kumimoji="0" lang="en-US" sz="1600" b="0" i="0" u="none" strike="noStrike" cap="none" normalizeH="0" baseline="-25000" dirty="0">
                <a:ln>
                  <a:noFill/>
                </a:ln>
                <a:solidFill>
                  <a:schemeClr val="tx1"/>
                </a:solidFill>
                <a:effectLst/>
              </a:rPr>
              <a:t>0</a:t>
            </a:r>
            <a:r>
              <a:rPr kumimoji="0" lang="en-US" sz="1600" b="0" i="0" u="none" strike="noStrike" cap="none" normalizeH="0" baseline="0" dirty="0">
                <a:ln>
                  <a:noFill/>
                </a:ln>
                <a:solidFill>
                  <a:schemeClr val="tx1"/>
                </a:solidFill>
                <a:effectLst/>
              </a:rPr>
              <a:t> private</a:t>
            </a:r>
          </a:p>
        </p:txBody>
      </p:sp>
      <p:sp>
        <p:nvSpPr>
          <p:cNvPr id="37" name="Rectangle 36">
            <a:extLst>
              <a:ext uri="{FF2B5EF4-FFF2-40B4-BE49-F238E27FC236}">
                <a16:creationId xmlns:a16="http://schemas.microsoft.com/office/drawing/2014/main" id="{C3B30282-94AD-473A-A57E-3FA67D452C45}"/>
              </a:ext>
            </a:extLst>
          </p:cNvPr>
          <p:cNvSpPr/>
          <p:nvPr>
            <p:custDataLst>
              <p:tags r:id="rId19"/>
            </p:custDataLst>
          </p:nvPr>
        </p:nvSpPr>
        <p:spPr bwMode="auto">
          <a:xfrm>
            <a:off x="2470468" y="5780226"/>
            <a:ext cx="1676400" cy="422074"/>
          </a:xfrm>
          <a:prstGeom prst="rect">
            <a:avLst/>
          </a:prstGeom>
          <a:solidFill>
            <a:schemeClr val="accent2">
              <a:lumMod val="60000"/>
              <a:lumOff val="40000"/>
            </a:schemeClr>
          </a:solidFill>
          <a:ln w="25400" cap="flat" cmpd="sng" algn="ctr">
            <a:solidFill>
              <a:schemeClr val="tx1"/>
            </a:solidFill>
            <a:prstDash val="solid"/>
            <a:headEnd type="none" w="med" len="med"/>
            <a:tailEnd type="none" w="med" len="med"/>
          </a:ln>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rPr>
              <a:t>T</a:t>
            </a:r>
            <a:r>
              <a:rPr kumimoji="0" lang="en-US" sz="1600" b="0" i="0" u="none" strike="noStrike" cap="none" normalizeH="0" baseline="-25000" dirty="0">
                <a:ln>
                  <a:noFill/>
                </a:ln>
                <a:solidFill>
                  <a:schemeClr val="tx1"/>
                </a:solidFill>
                <a:effectLst/>
              </a:rPr>
              <a:t>n</a:t>
            </a:r>
            <a:r>
              <a:rPr kumimoji="0" lang="en-US" sz="1600" b="0" i="0" u="none" strike="noStrike" cap="none" normalizeH="0" baseline="0" dirty="0">
                <a:ln>
                  <a:noFill/>
                </a:ln>
                <a:solidFill>
                  <a:schemeClr val="tx1"/>
                </a:solidFill>
                <a:effectLst/>
              </a:rPr>
              <a:t> private</a:t>
            </a:r>
          </a:p>
        </p:txBody>
      </p:sp>
    </p:spTree>
    <p:custDataLst>
      <p:tags r:id="rId1"/>
    </p:custDataLst>
    <p:extLst>
      <p:ext uri="{BB962C8B-B14F-4D97-AF65-F5344CB8AC3E}">
        <p14:creationId xmlns:p14="http://schemas.microsoft.com/office/powerpoint/2010/main" val="21054711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dirty="0"/>
              <a:t>Shared-Memory CMP</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3</a:t>
            </a:fld>
            <a:endParaRPr lang="en-US" altLang="en-US" sz="1400"/>
          </a:p>
        </p:txBody>
      </p:sp>
      <p:grpSp>
        <p:nvGrpSpPr>
          <p:cNvPr id="2" name="Group 1">
            <a:extLst>
              <a:ext uri="{FF2B5EF4-FFF2-40B4-BE49-F238E27FC236}">
                <a16:creationId xmlns:a16="http://schemas.microsoft.com/office/drawing/2014/main" id="{70AF1508-2897-4E70-92B6-67C6A89DDF4B}"/>
              </a:ext>
            </a:extLst>
          </p:cNvPr>
          <p:cNvGrpSpPr/>
          <p:nvPr>
            <p:custDataLst>
              <p:tags r:id="rId4"/>
            </p:custDataLst>
          </p:nvPr>
        </p:nvGrpSpPr>
        <p:grpSpPr>
          <a:xfrm>
            <a:off x="381000" y="1428317"/>
            <a:ext cx="2662237" cy="4052292"/>
            <a:chOff x="1071563" y="1428317"/>
            <a:chExt cx="7000875" cy="4345641"/>
          </a:xfrm>
        </p:grpSpPr>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2006449"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6903720"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371260" y="490728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36757B-F06D-4E20-9282-A8FF9D6175DB}"/>
                </a:ext>
              </a:extLst>
            </p:cNvPr>
            <p:cNvCxnSpPr>
              <a:cxnSpLocks/>
            </p:cNvCxnSpPr>
            <p:nvPr/>
          </p:nvCxnSpPr>
          <p:spPr>
            <a:xfrm rot="5400000">
              <a:off x="4456082" y="5675899"/>
              <a:ext cx="196119"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ln/>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D009F42-8219-4094-9CC2-F2B7670971BF}"/>
                </a:ext>
              </a:extLst>
            </p:cNvPr>
            <p:cNvSpPr/>
            <p:nvPr>
              <p:custDataLst>
                <p:tags r:id="rId17"/>
              </p:custDataLst>
            </p:nvPr>
          </p:nvSpPr>
          <p:spPr>
            <a:xfrm>
              <a:off x="1376362" y="3886200"/>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custDataLst>
                <p:tags r:id="rId18"/>
              </p:custDataLst>
            </p:nvPr>
          </p:nvSpPr>
          <p:spPr>
            <a:xfrm>
              <a:off x="6176962" y="3866717"/>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L1-D cache</a:t>
              </a:r>
            </a:p>
          </p:txBody>
        </p:sp>
        <p:cxnSp>
          <p:nvCxnSpPr>
            <p:cNvPr id="13" name="Straight Connector 12">
              <a:extLst>
                <a:ext uri="{FF2B5EF4-FFF2-40B4-BE49-F238E27FC236}">
                  <a16:creationId xmlns:a16="http://schemas.microsoft.com/office/drawing/2014/main" id="{1481658E-174A-4B8C-A0F6-8F38D5C146AC}"/>
                </a:ext>
              </a:extLst>
            </p:cNvPr>
            <p:cNvCxnSpPr>
              <a:cxnSpLocks/>
            </p:cNvCxnSpPr>
            <p:nvPr/>
          </p:nvCxnSpPr>
          <p:spPr>
            <a:xfrm flipV="1">
              <a:off x="1376362" y="3027187"/>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A4CC4D3-AE60-4E01-A3B8-ECE0FDFD30A5}"/>
                </a:ext>
              </a:extLst>
            </p:cNvPr>
            <p:cNvCxnSpPr>
              <a:cxnSpLocks/>
            </p:cNvCxnSpPr>
            <p:nvPr/>
          </p:nvCxnSpPr>
          <p:spPr>
            <a:xfrm flipH="1" flipV="1">
              <a:off x="2390908" y="3028624"/>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8172EE4-4B58-442A-AD32-447CB0566418}"/>
                </a:ext>
              </a:extLst>
            </p:cNvPr>
            <p:cNvCxnSpPr>
              <a:cxnSpLocks/>
            </p:cNvCxnSpPr>
            <p:nvPr/>
          </p:nvCxnSpPr>
          <p:spPr>
            <a:xfrm flipV="1">
              <a:off x="6172200" y="3015139"/>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40439B3-031E-41E8-ACAF-E3944D2657EC}"/>
                </a:ext>
              </a:extLst>
            </p:cNvPr>
            <p:cNvCxnSpPr>
              <a:cxnSpLocks/>
            </p:cNvCxnSpPr>
            <p:nvPr/>
          </p:nvCxnSpPr>
          <p:spPr>
            <a:xfrm flipH="1" flipV="1">
              <a:off x="7186746" y="3016576"/>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2D7A2886-7379-423F-85D4-322ACFAFD94C}"/>
                </a:ext>
              </a:extLst>
            </p:cNvPr>
            <p:cNvSpPr/>
            <p:nvPr>
              <p:custDataLst>
                <p:tags r:id="rId19"/>
              </p:custDataLst>
            </p:nvPr>
          </p:nvSpPr>
          <p:spPr>
            <a:xfrm>
              <a:off x="2906701" y="5029200"/>
              <a:ext cx="3330597"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unified I/D</a:t>
              </a:r>
            </a:p>
            <a:p>
              <a:pPr algn="ctr"/>
              <a:r>
                <a:rPr lang="en-US" sz="1400" b="1" dirty="0">
                  <a:solidFill>
                    <a:schemeClr val="tx1"/>
                  </a:solidFill>
                </a:rPr>
                <a:t>L2 cache</a:t>
              </a:r>
            </a:p>
          </p:txBody>
        </p:sp>
        <p:cxnSp>
          <p:nvCxnSpPr>
            <p:cNvPr id="15" name="Straight Connector 14">
              <a:extLst>
                <a:ext uri="{FF2B5EF4-FFF2-40B4-BE49-F238E27FC236}">
                  <a16:creationId xmlns:a16="http://schemas.microsoft.com/office/drawing/2014/main" id="{EDD64322-E63E-49AB-8A7A-1A61875339C8}"/>
                </a:ext>
              </a:extLst>
            </p:cNvPr>
            <p:cNvCxnSpPr/>
            <p:nvPr/>
          </p:nvCxnSpPr>
          <p:spPr>
            <a:xfrm>
              <a:off x="2174081" y="4724400"/>
              <a:ext cx="4912519"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A824B9C7-BB45-44EA-98B8-0E08D03BA1C5}"/>
              </a:ext>
            </a:extLst>
          </p:cNvPr>
          <p:cNvGrpSpPr/>
          <p:nvPr>
            <p:custDataLst>
              <p:tags r:id="rId5"/>
            </p:custDataLst>
          </p:nvPr>
        </p:nvGrpSpPr>
        <p:grpSpPr>
          <a:xfrm>
            <a:off x="3200400" y="1428317"/>
            <a:ext cx="2662237" cy="4210483"/>
            <a:chOff x="1071563" y="1428317"/>
            <a:chExt cx="7000875" cy="4515283"/>
          </a:xfrm>
        </p:grpSpPr>
        <p:cxnSp>
          <p:nvCxnSpPr>
            <p:cNvPr id="53" name="Straight Connector 52">
              <a:extLst>
                <a:ext uri="{FF2B5EF4-FFF2-40B4-BE49-F238E27FC236}">
                  <a16:creationId xmlns:a16="http://schemas.microsoft.com/office/drawing/2014/main" id="{81DDBB36-68F0-4CA6-B2D1-836A5605CB88}"/>
                </a:ext>
              </a:extLst>
            </p:cNvPr>
            <p:cNvCxnSpPr>
              <a:cxnSpLocks/>
            </p:cNvCxnSpPr>
            <p:nvPr/>
          </p:nvCxnSpPr>
          <p:spPr>
            <a:xfrm rot="5400000">
              <a:off x="2006449"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545AD1D-DA5F-4C5C-A78F-DD0813B87F96}"/>
                </a:ext>
              </a:extLst>
            </p:cNvPr>
            <p:cNvCxnSpPr>
              <a:cxnSpLocks/>
            </p:cNvCxnSpPr>
            <p:nvPr/>
          </p:nvCxnSpPr>
          <p:spPr>
            <a:xfrm rot="5400000">
              <a:off x="6903720"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A7953A7-EAAF-4523-880D-D7776D8FE399}"/>
                </a:ext>
              </a:extLst>
            </p:cNvPr>
            <p:cNvCxnSpPr>
              <a:cxnSpLocks/>
            </p:cNvCxnSpPr>
            <p:nvPr/>
          </p:nvCxnSpPr>
          <p:spPr>
            <a:xfrm rot="5400000">
              <a:off x="4371260" y="490728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98CA5E0-638C-4C69-873B-00BFE17AA1C7}"/>
                </a:ext>
              </a:extLst>
            </p:cNvPr>
            <p:cNvCxnSpPr>
              <a:cxnSpLocks/>
            </p:cNvCxnSpPr>
            <p:nvPr/>
          </p:nvCxnSpPr>
          <p:spPr>
            <a:xfrm rot="5400000">
              <a:off x="4371260" y="57607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pic>
          <p:nvPicPr>
            <p:cNvPr id="5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EB72AC71-495C-4E3D-BE0F-8C2118A50A09}"/>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ln/>
            <a:extLst>
              <a:ext uri="{909E8E84-426E-40DD-AFC4-6F175D3DCCD1}">
                <a14:hiddenFill xmlns:a14="http://schemas.microsoft.com/office/drawing/2010/main">
                  <a:solidFill>
                    <a:srgbClr val="FFFFFF"/>
                  </a:solidFill>
                </a14:hiddenFill>
              </a:ext>
            </a:extLst>
          </p:spPr>
        </p:pic>
        <p:sp>
          <p:nvSpPr>
            <p:cNvPr id="58" name="Rectangle 57">
              <a:extLst>
                <a:ext uri="{FF2B5EF4-FFF2-40B4-BE49-F238E27FC236}">
                  <a16:creationId xmlns:a16="http://schemas.microsoft.com/office/drawing/2014/main" id="{C2E7FDB8-8340-4A77-8ED3-BF3F94566A38}"/>
                </a:ext>
              </a:extLst>
            </p:cNvPr>
            <p:cNvSpPr/>
            <p:nvPr>
              <p:custDataLst>
                <p:tags r:id="rId14"/>
              </p:custDataLst>
            </p:nvPr>
          </p:nvSpPr>
          <p:spPr>
            <a:xfrm>
              <a:off x="1376362" y="3886200"/>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L1-I cache</a:t>
              </a:r>
            </a:p>
          </p:txBody>
        </p:sp>
        <p:sp>
          <p:nvSpPr>
            <p:cNvPr id="59" name="Rectangle 58">
              <a:extLst>
                <a:ext uri="{FF2B5EF4-FFF2-40B4-BE49-F238E27FC236}">
                  <a16:creationId xmlns:a16="http://schemas.microsoft.com/office/drawing/2014/main" id="{46059270-04A6-4500-B528-F8A835466CD0}"/>
                </a:ext>
              </a:extLst>
            </p:cNvPr>
            <p:cNvSpPr/>
            <p:nvPr>
              <p:custDataLst>
                <p:tags r:id="rId15"/>
              </p:custDataLst>
            </p:nvPr>
          </p:nvSpPr>
          <p:spPr>
            <a:xfrm>
              <a:off x="6176962" y="3866717"/>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L1-D cache</a:t>
              </a:r>
            </a:p>
          </p:txBody>
        </p:sp>
        <p:cxnSp>
          <p:nvCxnSpPr>
            <p:cNvPr id="60" name="Straight Connector 59">
              <a:extLst>
                <a:ext uri="{FF2B5EF4-FFF2-40B4-BE49-F238E27FC236}">
                  <a16:creationId xmlns:a16="http://schemas.microsoft.com/office/drawing/2014/main" id="{28CC5CFF-C1A4-4557-8AB1-107BBEFBC980}"/>
                </a:ext>
              </a:extLst>
            </p:cNvPr>
            <p:cNvCxnSpPr>
              <a:cxnSpLocks/>
            </p:cNvCxnSpPr>
            <p:nvPr/>
          </p:nvCxnSpPr>
          <p:spPr>
            <a:xfrm flipV="1">
              <a:off x="1376362" y="3027187"/>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F68C595-F513-4652-B8C1-C1A6A903FC92}"/>
                </a:ext>
              </a:extLst>
            </p:cNvPr>
            <p:cNvCxnSpPr>
              <a:cxnSpLocks/>
            </p:cNvCxnSpPr>
            <p:nvPr/>
          </p:nvCxnSpPr>
          <p:spPr>
            <a:xfrm flipH="1" flipV="1">
              <a:off x="2390908" y="3028624"/>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BD70B5E-948C-4C0E-96AE-2D079191828B}"/>
                </a:ext>
              </a:extLst>
            </p:cNvPr>
            <p:cNvCxnSpPr>
              <a:cxnSpLocks/>
            </p:cNvCxnSpPr>
            <p:nvPr/>
          </p:nvCxnSpPr>
          <p:spPr>
            <a:xfrm flipV="1">
              <a:off x="6172200" y="3015139"/>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2221236-3860-476B-9434-643870C0DCC7}"/>
                </a:ext>
              </a:extLst>
            </p:cNvPr>
            <p:cNvCxnSpPr>
              <a:cxnSpLocks/>
            </p:cNvCxnSpPr>
            <p:nvPr/>
          </p:nvCxnSpPr>
          <p:spPr>
            <a:xfrm flipH="1" flipV="1">
              <a:off x="7186746" y="3016576"/>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117DA5B1-D072-4B57-988E-B7E4C99A2DA4}"/>
                </a:ext>
              </a:extLst>
            </p:cNvPr>
            <p:cNvSpPr/>
            <p:nvPr>
              <p:custDataLst>
                <p:tags r:id="rId16"/>
              </p:custDataLst>
            </p:nvPr>
          </p:nvSpPr>
          <p:spPr>
            <a:xfrm>
              <a:off x="2906701" y="5029200"/>
              <a:ext cx="3330597"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unified I/D</a:t>
              </a:r>
            </a:p>
            <a:p>
              <a:pPr algn="ctr"/>
              <a:r>
                <a:rPr lang="en-US" sz="1400" b="1" dirty="0">
                  <a:solidFill>
                    <a:schemeClr val="tx1"/>
                  </a:solidFill>
                </a:rPr>
                <a:t>L2 cache</a:t>
              </a:r>
            </a:p>
          </p:txBody>
        </p:sp>
        <p:cxnSp>
          <p:nvCxnSpPr>
            <p:cNvPr id="65" name="Straight Connector 64">
              <a:extLst>
                <a:ext uri="{FF2B5EF4-FFF2-40B4-BE49-F238E27FC236}">
                  <a16:creationId xmlns:a16="http://schemas.microsoft.com/office/drawing/2014/main" id="{CE39FB94-99FE-4ACD-99EA-8DCAEDF6FE16}"/>
                </a:ext>
              </a:extLst>
            </p:cNvPr>
            <p:cNvCxnSpPr/>
            <p:nvPr/>
          </p:nvCxnSpPr>
          <p:spPr>
            <a:xfrm>
              <a:off x="2174081" y="4724400"/>
              <a:ext cx="4912519"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DEA36ADE-73F4-4034-941A-30C83533DB4C}"/>
              </a:ext>
            </a:extLst>
          </p:cNvPr>
          <p:cNvGrpSpPr/>
          <p:nvPr>
            <p:custDataLst>
              <p:tags r:id="rId6"/>
            </p:custDataLst>
          </p:nvPr>
        </p:nvGrpSpPr>
        <p:grpSpPr>
          <a:xfrm>
            <a:off x="6024563" y="1428317"/>
            <a:ext cx="2662237" cy="4052292"/>
            <a:chOff x="1071563" y="1428317"/>
            <a:chExt cx="7000875" cy="4345641"/>
          </a:xfrm>
        </p:grpSpPr>
        <p:cxnSp>
          <p:nvCxnSpPr>
            <p:cNvPr id="67" name="Straight Connector 66">
              <a:extLst>
                <a:ext uri="{FF2B5EF4-FFF2-40B4-BE49-F238E27FC236}">
                  <a16:creationId xmlns:a16="http://schemas.microsoft.com/office/drawing/2014/main" id="{C61248E0-A76E-4380-9764-6F542B27C9A5}"/>
                </a:ext>
              </a:extLst>
            </p:cNvPr>
            <p:cNvCxnSpPr>
              <a:cxnSpLocks/>
            </p:cNvCxnSpPr>
            <p:nvPr/>
          </p:nvCxnSpPr>
          <p:spPr>
            <a:xfrm rot="5400000">
              <a:off x="2006449"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02C4EDC-2DF9-4803-87E9-BE97687AEC25}"/>
                </a:ext>
              </a:extLst>
            </p:cNvPr>
            <p:cNvCxnSpPr>
              <a:cxnSpLocks/>
            </p:cNvCxnSpPr>
            <p:nvPr/>
          </p:nvCxnSpPr>
          <p:spPr>
            <a:xfrm rot="5400000">
              <a:off x="6903720"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9AF58ED7-7F1B-46A8-84D9-8AA44357D100}"/>
                </a:ext>
              </a:extLst>
            </p:cNvPr>
            <p:cNvCxnSpPr>
              <a:cxnSpLocks/>
            </p:cNvCxnSpPr>
            <p:nvPr/>
          </p:nvCxnSpPr>
          <p:spPr>
            <a:xfrm rot="5400000">
              <a:off x="4371260" y="490728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89630B8-1FF8-43B1-B6A9-D39E45DEC418}"/>
                </a:ext>
              </a:extLst>
            </p:cNvPr>
            <p:cNvCxnSpPr>
              <a:cxnSpLocks/>
            </p:cNvCxnSpPr>
            <p:nvPr/>
          </p:nvCxnSpPr>
          <p:spPr>
            <a:xfrm rot="5400000">
              <a:off x="4456082" y="5675899"/>
              <a:ext cx="196119"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pic>
          <p:nvPicPr>
            <p:cNvPr id="71"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6E6505CC-84CD-40BC-A6FA-A3D77A23961D}"/>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ln/>
            <a:extLst>
              <a:ext uri="{909E8E84-426E-40DD-AFC4-6F175D3DCCD1}">
                <a14:hiddenFill xmlns:a14="http://schemas.microsoft.com/office/drawing/2010/main">
                  <a:solidFill>
                    <a:srgbClr val="FFFFFF"/>
                  </a:solidFill>
                </a14:hiddenFill>
              </a:ext>
            </a:extLst>
          </p:spPr>
        </p:pic>
        <p:sp>
          <p:nvSpPr>
            <p:cNvPr id="72" name="Rectangle 71">
              <a:extLst>
                <a:ext uri="{FF2B5EF4-FFF2-40B4-BE49-F238E27FC236}">
                  <a16:creationId xmlns:a16="http://schemas.microsoft.com/office/drawing/2014/main" id="{BEA8895F-B154-4523-A255-C6D08CBF7CD7}"/>
                </a:ext>
              </a:extLst>
            </p:cNvPr>
            <p:cNvSpPr/>
            <p:nvPr>
              <p:custDataLst>
                <p:tags r:id="rId11"/>
              </p:custDataLst>
            </p:nvPr>
          </p:nvSpPr>
          <p:spPr>
            <a:xfrm>
              <a:off x="1376362" y="3886200"/>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L1-I cache</a:t>
              </a:r>
            </a:p>
          </p:txBody>
        </p:sp>
        <p:sp>
          <p:nvSpPr>
            <p:cNvPr id="73" name="Rectangle 72">
              <a:extLst>
                <a:ext uri="{FF2B5EF4-FFF2-40B4-BE49-F238E27FC236}">
                  <a16:creationId xmlns:a16="http://schemas.microsoft.com/office/drawing/2014/main" id="{430B70B5-AB08-4CBC-BB52-94C88C39C21A}"/>
                </a:ext>
              </a:extLst>
            </p:cNvPr>
            <p:cNvSpPr/>
            <p:nvPr>
              <p:custDataLst>
                <p:tags r:id="rId12"/>
              </p:custDataLst>
            </p:nvPr>
          </p:nvSpPr>
          <p:spPr>
            <a:xfrm>
              <a:off x="6176962" y="3866717"/>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L1-D cache</a:t>
              </a:r>
            </a:p>
          </p:txBody>
        </p:sp>
        <p:cxnSp>
          <p:nvCxnSpPr>
            <p:cNvPr id="74" name="Straight Connector 73">
              <a:extLst>
                <a:ext uri="{FF2B5EF4-FFF2-40B4-BE49-F238E27FC236}">
                  <a16:creationId xmlns:a16="http://schemas.microsoft.com/office/drawing/2014/main" id="{7E0B8AB1-06BE-4516-A112-C6902418BB68}"/>
                </a:ext>
              </a:extLst>
            </p:cNvPr>
            <p:cNvCxnSpPr>
              <a:cxnSpLocks/>
            </p:cNvCxnSpPr>
            <p:nvPr/>
          </p:nvCxnSpPr>
          <p:spPr>
            <a:xfrm flipV="1">
              <a:off x="1376362" y="3027187"/>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8263AF4-188A-4FDA-B1B9-F1702721182A}"/>
                </a:ext>
              </a:extLst>
            </p:cNvPr>
            <p:cNvCxnSpPr>
              <a:cxnSpLocks/>
            </p:cNvCxnSpPr>
            <p:nvPr/>
          </p:nvCxnSpPr>
          <p:spPr>
            <a:xfrm flipH="1" flipV="1">
              <a:off x="2390908" y="3028624"/>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CD463B3-4801-4104-B5BF-F3271FC98426}"/>
                </a:ext>
              </a:extLst>
            </p:cNvPr>
            <p:cNvCxnSpPr>
              <a:cxnSpLocks/>
            </p:cNvCxnSpPr>
            <p:nvPr/>
          </p:nvCxnSpPr>
          <p:spPr>
            <a:xfrm flipV="1">
              <a:off x="6172200" y="3015139"/>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28E2841-6D7F-4EDD-B6B7-93420FFFEE65}"/>
                </a:ext>
              </a:extLst>
            </p:cNvPr>
            <p:cNvCxnSpPr>
              <a:cxnSpLocks/>
            </p:cNvCxnSpPr>
            <p:nvPr/>
          </p:nvCxnSpPr>
          <p:spPr>
            <a:xfrm flipH="1" flipV="1">
              <a:off x="7186746" y="3016576"/>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sp>
          <p:nvSpPr>
            <p:cNvPr id="78" name="Rectangle 77">
              <a:extLst>
                <a:ext uri="{FF2B5EF4-FFF2-40B4-BE49-F238E27FC236}">
                  <a16:creationId xmlns:a16="http://schemas.microsoft.com/office/drawing/2014/main" id="{4B99CDC0-E679-4BFB-934B-082C6E6164EF}"/>
                </a:ext>
              </a:extLst>
            </p:cNvPr>
            <p:cNvSpPr/>
            <p:nvPr>
              <p:custDataLst>
                <p:tags r:id="rId13"/>
              </p:custDataLst>
            </p:nvPr>
          </p:nvSpPr>
          <p:spPr>
            <a:xfrm>
              <a:off x="2906701" y="5029200"/>
              <a:ext cx="3330597"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unified I/D</a:t>
              </a:r>
            </a:p>
            <a:p>
              <a:pPr algn="ctr"/>
              <a:r>
                <a:rPr lang="en-US" sz="1400" b="1" dirty="0">
                  <a:solidFill>
                    <a:schemeClr val="tx1"/>
                  </a:solidFill>
                </a:rPr>
                <a:t>L2 cache</a:t>
              </a:r>
            </a:p>
          </p:txBody>
        </p:sp>
        <p:cxnSp>
          <p:nvCxnSpPr>
            <p:cNvPr id="79" name="Straight Connector 78">
              <a:extLst>
                <a:ext uri="{FF2B5EF4-FFF2-40B4-BE49-F238E27FC236}">
                  <a16:creationId xmlns:a16="http://schemas.microsoft.com/office/drawing/2014/main" id="{08AE09DA-A9F0-4D73-906F-91123C1CBA61}"/>
                </a:ext>
              </a:extLst>
            </p:cNvPr>
            <p:cNvCxnSpPr/>
            <p:nvPr/>
          </p:nvCxnSpPr>
          <p:spPr>
            <a:xfrm>
              <a:off x="2174081" y="4724400"/>
              <a:ext cx="4912519"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grpSp>
      <p:cxnSp>
        <p:nvCxnSpPr>
          <p:cNvPr id="80" name="Straight Connector 79">
            <a:extLst>
              <a:ext uri="{FF2B5EF4-FFF2-40B4-BE49-F238E27FC236}">
                <a16:creationId xmlns:a16="http://schemas.microsoft.com/office/drawing/2014/main" id="{18386195-9157-44FD-BA5B-D401F6A36FC5}"/>
              </a:ext>
            </a:extLst>
          </p:cNvPr>
          <p:cNvCxnSpPr/>
          <p:nvPr/>
        </p:nvCxnSpPr>
        <p:spPr>
          <a:xfrm>
            <a:off x="1676400" y="5486400"/>
            <a:ext cx="56692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27A35C7-00B1-4F0B-8D33-7E6A2E460038}"/>
              </a:ext>
            </a:extLst>
          </p:cNvPr>
          <p:cNvCxnSpPr>
            <a:cxnSpLocks/>
          </p:cNvCxnSpPr>
          <p:nvPr/>
        </p:nvCxnSpPr>
        <p:spPr>
          <a:xfrm rot="5400000">
            <a:off x="4204687" y="5958840"/>
            <a:ext cx="6400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5C4F596C-7CDC-40AA-AC7D-C5FB7C554EFF}"/>
              </a:ext>
            </a:extLst>
          </p:cNvPr>
          <p:cNvSpPr/>
          <p:nvPr>
            <p:custDataLst>
              <p:tags r:id="rId7"/>
            </p:custDataLst>
          </p:nvPr>
        </p:nvSpPr>
        <p:spPr>
          <a:xfrm>
            <a:off x="1731234" y="6248400"/>
            <a:ext cx="568153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main memory</a:t>
            </a:r>
          </a:p>
        </p:txBody>
      </p:sp>
      <p:sp>
        <p:nvSpPr>
          <p:cNvPr id="49" name="Rectangle 48">
            <a:extLst>
              <a:ext uri="{FF2B5EF4-FFF2-40B4-BE49-F238E27FC236}">
                <a16:creationId xmlns:a16="http://schemas.microsoft.com/office/drawing/2014/main" id="{14E930D7-3FF6-42A4-9FB0-F9DB0D06EDCA}"/>
              </a:ext>
            </a:extLst>
          </p:cNvPr>
          <p:cNvSpPr/>
          <p:nvPr>
            <p:custDataLst>
              <p:tags r:id="rId8"/>
            </p:custDataLst>
          </p:nvPr>
        </p:nvSpPr>
        <p:spPr>
          <a:xfrm>
            <a:off x="3048000" y="5638800"/>
            <a:ext cx="2942933" cy="390713"/>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shared L3 cache</a:t>
            </a:r>
          </a:p>
        </p:txBody>
      </p:sp>
      <p:sp>
        <p:nvSpPr>
          <p:cNvPr id="50" name="TextBox 49">
            <a:extLst>
              <a:ext uri="{FF2B5EF4-FFF2-40B4-BE49-F238E27FC236}">
                <a16:creationId xmlns:a16="http://schemas.microsoft.com/office/drawing/2014/main" id="{E5FDC884-2D8C-4EB6-910C-78B09299C143}"/>
              </a:ext>
            </a:extLst>
          </p:cNvPr>
          <p:cNvSpPr txBox="1"/>
          <p:nvPr>
            <p:custDataLst>
              <p:tags r:id="rId9"/>
            </p:custDataLst>
          </p:nvPr>
        </p:nvSpPr>
        <p:spPr>
          <a:xfrm>
            <a:off x="457200" y="5486400"/>
            <a:ext cx="2437082" cy="560717"/>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private L1, L2 caches</a:t>
            </a:r>
          </a:p>
        </p:txBody>
      </p:sp>
      <p:sp>
        <p:nvSpPr>
          <p:cNvPr id="3" name="Oval 2">
            <a:extLst>
              <a:ext uri="{FF2B5EF4-FFF2-40B4-BE49-F238E27FC236}">
                <a16:creationId xmlns:a16="http://schemas.microsoft.com/office/drawing/2014/main" id="{64185645-44FE-4377-8A11-94F6DF808184}"/>
              </a:ext>
            </a:extLst>
          </p:cNvPr>
          <p:cNvSpPr/>
          <p:nvPr>
            <p:custDataLst>
              <p:tags r:id="rId10"/>
            </p:custDataLst>
          </p:nvPr>
        </p:nvSpPr>
        <p:spPr>
          <a:xfrm>
            <a:off x="253496" y="2895600"/>
            <a:ext cx="2870704" cy="2719539"/>
          </a:xfrm>
          <a:prstGeom prst="ellipse">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2461409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1" descr=" 15">
            <a:extLst>
              <a:ext uri="{FF2B5EF4-FFF2-40B4-BE49-F238E27FC236}">
                <a16:creationId xmlns:a16="http://schemas.microsoft.com/office/drawing/2014/main" id="{CE3BB417-CEC1-4317-A0F5-A75A0B0D8AC7}"/>
              </a:ext>
            </a:extLst>
          </p:cNvPr>
          <p:cNvSpPr>
            <a:spLocks noChangeArrowheads="1"/>
          </p:cNvSpPr>
          <p:nvPr>
            <p:custDataLst>
              <p:tags r:id="rId2"/>
            </p:custDataLst>
          </p:nvPr>
        </p:nvSpPr>
        <p:spPr bwMode="auto">
          <a:xfrm>
            <a:off x="2133600" y="4081947"/>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2055"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Cache Coherence Problem</a:t>
            </a:r>
          </a:p>
        </p:txBody>
      </p:sp>
      <p:sp>
        <p:nvSpPr>
          <p:cNvPr id="2056" name="Rectangle 3"/>
          <p:cNvSpPr>
            <a:spLocks noGrp="1" noChangeArrowheads="1"/>
          </p:cNvSpPr>
          <p:nvPr>
            <p:ph idx="1"/>
            <p:custDataLst>
              <p:tags r:id="rId4"/>
            </p:custDataLst>
          </p:nvPr>
        </p:nvSpPr>
        <p:spPr>
          <a:xfrm>
            <a:off x="682625" y="1600200"/>
            <a:ext cx="8308975" cy="1295400"/>
          </a:xfrm>
        </p:spPr>
        <p:txBody>
          <a:bodyPr/>
          <a:lstStyle/>
          <a:p>
            <a:pPr marL="0" indent="0">
              <a:lnSpc>
                <a:spcPct val="80000"/>
              </a:lnSpc>
              <a:buNone/>
            </a:pPr>
            <a:r>
              <a:rPr lang="en-US" altLang="en-US" sz="2800" dirty="0"/>
              <a:t>A block X can exist in multiple </a:t>
            </a:r>
            <a:r>
              <a:rPr lang="en-US" altLang="en-US" sz="2800" b="1" dirty="0"/>
              <a:t>private</a:t>
            </a:r>
            <a:r>
              <a:rPr lang="en-US" altLang="en-US" sz="2800" dirty="0"/>
              <a:t> caches at any given moment. If one core modifies X, unless other cores are immediately made aware of this change, the other cores may read the </a:t>
            </a:r>
            <a:r>
              <a:rPr lang="en-US" altLang="en-US" sz="2800" b="1" dirty="0"/>
              <a:t>stale (wrong) </a:t>
            </a:r>
            <a:r>
              <a:rPr lang="en-US" altLang="en-US" sz="2800" dirty="0"/>
              <a:t>contents of X.</a:t>
            </a:r>
          </a:p>
        </p:txBody>
      </p:sp>
      <p:sp>
        <p:nvSpPr>
          <p:cNvPr id="2054" name="Slide Number Placeholder 5"/>
          <p:cNvSpPr>
            <a:spLocks noGrp="1"/>
          </p:cNvSpPr>
          <p:nvPr>
            <p:ph type="sldNum" sz="quarter" idx="12"/>
            <p:custDataLst>
              <p:tags r:id="rId5"/>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4</a:t>
            </a:fld>
            <a:endParaRPr lang="en-US" altLang="en-US"/>
          </a:p>
        </p:txBody>
      </p:sp>
      <p:sp>
        <p:nvSpPr>
          <p:cNvPr id="5" name="Rectangle 4" descr=" 5">
            <a:extLst>
              <a:ext uri="{FF2B5EF4-FFF2-40B4-BE49-F238E27FC236}">
                <a16:creationId xmlns:a16="http://schemas.microsoft.com/office/drawing/2014/main" id="{EDE355B8-E286-4696-8B42-B19B51166A6E}"/>
              </a:ext>
            </a:extLst>
          </p:cNvPr>
          <p:cNvSpPr>
            <a:spLocks noChangeArrowheads="1"/>
          </p:cNvSpPr>
          <p:nvPr>
            <p:custDataLst>
              <p:tags r:id="rId6"/>
            </p:custDataLst>
          </p:nvPr>
        </p:nvSpPr>
        <p:spPr bwMode="auto">
          <a:xfrm>
            <a:off x="2462806" y="5071802"/>
            <a:ext cx="4041084" cy="376238"/>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Bus</a:t>
            </a:r>
          </a:p>
        </p:txBody>
      </p:sp>
      <p:sp>
        <p:nvSpPr>
          <p:cNvPr id="6" name="Rectangle 6" descr=" 6">
            <a:extLst>
              <a:ext uri="{FF2B5EF4-FFF2-40B4-BE49-F238E27FC236}">
                <a16:creationId xmlns:a16="http://schemas.microsoft.com/office/drawing/2014/main" id="{D69625F6-D9BC-4773-B8F3-4888CE62BED5}"/>
              </a:ext>
            </a:extLst>
          </p:cNvPr>
          <p:cNvSpPr>
            <a:spLocks noChangeArrowheads="1"/>
          </p:cNvSpPr>
          <p:nvPr>
            <p:custDataLst>
              <p:tags r:id="rId7"/>
            </p:custDataLst>
          </p:nvPr>
        </p:nvSpPr>
        <p:spPr bwMode="auto">
          <a:xfrm>
            <a:off x="2326341" y="3273165"/>
            <a:ext cx="833719" cy="574675"/>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P1</a:t>
            </a:r>
          </a:p>
        </p:txBody>
      </p:sp>
      <p:cxnSp>
        <p:nvCxnSpPr>
          <p:cNvPr id="7" name="AutoShape 9" descr=" 7">
            <a:extLst>
              <a:ext uri="{FF2B5EF4-FFF2-40B4-BE49-F238E27FC236}">
                <a16:creationId xmlns:a16="http://schemas.microsoft.com/office/drawing/2014/main" id="{FB829A3E-4309-4B4E-91AE-79E4B807B46F}"/>
              </a:ext>
            </a:extLst>
          </p:cNvPr>
          <p:cNvCxnSpPr>
            <a:cxnSpLocks noChangeShapeType="1"/>
          </p:cNvCxnSpPr>
          <p:nvPr>
            <p:custDataLst>
              <p:tags r:id="rId8"/>
            </p:custDataLst>
          </p:nvPr>
        </p:nvCxnSpPr>
        <p:spPr bwMode="auto">
          <a:xfrm rot="5400000">
            <a:off x="2634457" y="3973203"/>
            <a:ext cx="217488" cy="1"/>
          </a:xfrm>
          <a:prstGeom prst="bentConnector3">
            <a:avLst>
              <a:gd name="adj1" fmla="val 50000"/>
            </a:avLst>
          </a:prstGeom>
          <a:noFill/>
          <a:ln w="12700">
            <a:solidFill>
              <a:schemeClr val="tx1"/>
            </a:solidFill>
            <a:miter lim="800000"/>
            <a:headEnd type="none" w="sm" len="sm"/>
            <a:tailEnd type="triangle" w="med" len="med"/>
          </a:ln>
        </p:spPr>
      </p:cxnSp>
      <p:sp>
        <p:nvSpPr>
          <p:cNvPr id="8" name="Line 10" descr=" 8">
            <a:extLst>
              <a:ext uri="{FF2B5EF4-FFF2-40B4-BE49-F238E27FC236}">
                <a16:creationId xmlns:a16="http://schemas.microsoft.com/office/drawing/2014/main" id="{3AE748C1-0FFF-4A5E-AD2C-71E099112ABD}"/>
              </a:ext>
            </a:extLst>
          </p:cNvPr>
          <p:cNvSpPr>
            <a:spLocks noChangeShapeType="1"/>
          </p:cNvSpPr>
          <p:nvPr>
            <p:custDataLst>
              <p:tags r:id="rId9"/>
            </p:custDataLst>
          </p:nvPr>
        </p:nvSpPr>
        <p:spPr bwMode="auto">
          <a:xfrm>
            <a:off x="2752165" y="4695005"/>
            <a:ext cx="0" cy="377825"/>
          </a:xfrm>
          <a:prstGeom prst="line">
            <a:avLst/>
          </a:prstGeom>
          <a:noFill/>
          <a:ln w="12700">
            <a:solidFill>
              <a:schemeClr val="tx1"/>
            </a:solidFill>
            <a:round/>
            <a:headEnd type="none" w="sm" len="sm"/>
            <a:tailEnd type="triangle" w="med" len="med"/>
          </a:ln>
        </p:spPr>
        <p:txBody>
          <a:bodyPr wrap="none" anchor="ctr"/>
          <a:lstStyle/>
          <a:p>
            <a:endParaRPr lang="en-US" dirty="0">
              <a:latin typeface="Calibri" pitchFamily="34" charset="0"/>
            </a:endParaRPr>
          </a:p>
        </p:txBody>
      </p:sp>
      <p:sp>
        <p:nvSpPr>
          <p:cNvPr id="9" name="Rectangle 14" descr=" 10">
            <a:extLst>
              <a:ext uri="{FF2B5EF4-FFF2-40B4-BE49-F238E27FC236}">
                <a16:creationId xmlns:a16="http://schemas.microsoft.com/office/drawing/2014/main" id="{19C9A5C2-82A6-4618-AEF4-D796B42B9D28}"/>
              </a:ext>
            </a:extLst>
          </p:cNvPr>
          <p:cNvSpPr>
            <a:spLocks noChangeArrowheads="1"/>
          </p:cNvSpPr>
          <p:nvPr>
            <p:custDataLst>
              <p:tags r:id="rId10"/>
            </p:custDataLst>
          </p:nvPr>
        </p:nvSpPr>
        <p:spPr bwMode="auto">
          <a:xfrm>
            <a:off x="5907741" y="3273165"/>
            <a:ext cx="833719" cy="574675"/>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P2</a:t>
            </a:r>
          </a:p>
        </p:txBody>
      </p:sp>
      <p:cxnSp>
        <p:nvCxnSpPr>
          <p:cNvPr id="10" name="AutoShape 17" descr=" 11">
            <a:extLst>
              <a:ext uri="{FF2B5EF4-FFF2-40B4-BE49-F238E27FC236}">
                <a16:creationId xmlns:a16="http://schemas.microsoft.com/office/drawing/2014/main" id="{E0521808-8B71-4CD4-9BE9-B6CFFD252860}"/>
              </a:ext>
            </a:extLst>
          </p:cNvPr>
          <p:cNvCxnSpPr>
            <a:cxnSpLocks noChangeShapeType="1"/>
            <a:stCxn id="9" idx="2"/>
            <a:endCxn id="15" idx="0"/>
          </p:cNvCxnSpPr>
          <p:nvPr>
            <p:custDataLst>
              <p:tags r:id="rId11"/>
            </p:custDataLst>
          </p:nvPr>
        </p:nvCxnSpPr>
        <p:spPr bwMode="auto">
          <a:xfrm rot="5400000">
            <a:off x="6210301" y="3962140"/>
            <a:ext cx="228600" cy="1"/>
          </a:xfrm>
          <a:prstGeom prst="bentConnector3">
            <a:avLst>
              <a:gd name="adj1" fmla="val 50000"/>
            </a:avLst>
          </a:prstGeom>
          <a:noFill/>
          <a:ln w="12700">
            <a:solidFill>
              <a:schemeClr val="tx1"/>
            </a:solidFill>
            <a:miter lim="800000"/>
            <a:headEnd type="none" w="sm" len="sm"/>
            <a:tailEnd type="triangle" w="med" len="med"/>
          </a:ln>
        </p:spPr>
      </p:cxnSp>
      <p:sp>
        <p:nvSpPr>
          <p:cNvPr id="11" name="Rectangle 21" descr=" 12">
            <a:extLst>
              <a:ext uri="{FF2B5EF4-FFF2-40B4-BE49-F238E27FC236}">
                <a16:creationId xmlns:a16="http://schemas.microsoft.com/office/drawing/2014/main" id="{33B0E5F3-06D7-4950-A1EE-7474D266FA9B}"/>
              </a:ext>
            </a:extLst>
          </p:cNvPr>
          <p:cNvSpPr>
            <a:spLocks noChangeArrowheads="1"/>
          </p:cNvSpPr>
          <p:nvPr>
            <p:custDataLst>
              <p:tags r:id="rId12"/>
            </p:custDataLst>
          </p:nvPr>
        </p:nvSpPr>
        <p:spPr bwMode="auto">
          <a:xfrm>
            <a:off x="3338278" y="5760778"/>
            <a:ext cx="2290141"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2000" dirty="0">
                <a:latin typeface="Calibri" pitchFamily="34" charset="0"/>
              </a:rPr>
              <a:t>X: 51,40</a:t>
            </a:r>
            <a:endParaRPr lang="en-US" sz="2400" dirty="0">
              <a:latin typeface="Calibri" pitchFamily="34" charset="0"/>
            </a:endParaRPr>
          </a:p>
        </p:txBody>
      </p:sp>
      <p:sp>
        <p:nvSpPr>
          <p:cNvPr id="12" name="Line 10" descr=" 13">
            <a:extLst>
              <a:ext uri="{FF2B5EF4-FFF2-40B4-BE49-F238E27FC236}">
                <a16:creationId xmlns:a16="http://schemas.microsoft.com/office/drawing/2014/main" id="{2766B6C8-0F2B-4CBE-B18A-2AA179550756}"/>
              </a:ext>
            </a:extLst>
          </p:cNvPr>
          <p:cNvSpPr>
            <a:spLocks noChangeShapeType="1"/>
          </p:cNvSpPr>
          <p:nvPr>
            <p:custDataLst>
              <p:tags r:id="rId13"/>
            </p:custDataLst>
          </p:nvPr>
        </p:nvSpPr>
        <p:spPr bwMode="auto">
          <a:xfrm>
            <a:off x="6324600" y="4686040"/>
            <a:ext cx="0" cy="377825"/>
          </a:xfrm>
          <a:prstGeom prst="line">
            <a:avLst/>
          </a:prstGeom>
          <a:noFill/>
          <a:ln w="12700">
            <a:solidFill>
              <a:schemeClr val="tx1"/>
            </a:solidFill>
            <a:round/>
            <a:headEnd type="none" w="sm" len="sm"/>
            <a:tailEnd type="triangle" w="med" len="med"/>
          </a:ln>
        </p:spPr>
        <p:txBody>
          <a:bodyPr wrap="none" anchor="ctr"/>
          <a:lstStyle/>
          <a:p>
            <a:endParaRPr lang="en-US" dirty="0">
              <a:latin typeface="Calibri" pitchFamily="34" charset="0"/>
            </a:endParaRPr>
          </a:p>
        </p:txBody>
      </p:sp>
      <p:cxnSp>
        <p:nvCxnSpPr>
          <p:cNvPr id="13" name="Straight Arrow Connector 12" descr=" 14">
            <a:extLst>
              <a:ext uri="{FF2B5EF4-FFF2-40B4-BE49-F238E27FC236}">
                <a16:creationId xmlns:a16="http://schemas.microsoft.com/office/drawing/2014/main" id="{942E8D10-FE0C-444F-BA46-F64AB115E845}"/>
              </a:ext>
            </a:extLst>
          </p:cNvPr>
          <p:cNvCxnSpPr>
            <a:stCxn id="5" idx="2"/>
            <a:endCxn id="11" idx="0"/>
          </p:cNvCxnSpPr>
          <p:nvPr/>
        </p:nvCxnSpPr>
        <p:spPr bwMode="auto">
          <a:xfrm rot="16200000" flipH="1">
            <a:off x="4326979" y="5604408"/>
            <a:ext cx="312738"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5" name="Rectangle 21" descr=" 16">
            <a:extLst>
              <a:ext uri="{FF2B5EF4-FFF2-40B4-BE49-F238E27FC236}">
                <a16:creationId xmlns:a16="http://schemas.microsoft.com/office/drawing/2014/main" id="{31A0AD37-7542-4F47-9814-213E540FEF69}"/>
              </a:ext>
            </a:extLst>
          </p:cNvPr>
          <p:cNvSpPr>
            <a:spLocks noChangeArrowheads="1"/>
          </p:cNvSpPr>
          <p:nvPr>
            <p:custDataLst>
              <p:tags r:id="rId14"/>
            </p:custDataLst>
          </p:nvPr>
        </p:nvSpPr>
        <p:spPr bwMode="auto">
          <a:xfrm>
            <a:off x="5715000" y="4076440"/>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16" name="TextBox 15" descr=" 17">
            <a:extLst>
              <a:ext uri="{FF2B5EF4-FFF2-40B4-BE49-F238E27FC236}">
                <a16:creationId xmlns:a16="http://schemas.microsoft.com/office/drawing/2014/main" id="{EA522BB3-BBBD-4687-BCEB-E94B1A0F0D3E}"/>
              </a:ext>
            </a:extLst>
          </p:cNvPr>
          <p:cNvSpPr txBox="1"/>
          <p:nvPr>
            <p:custDataLst>
              <p:tags r:id="rId15"/>
            </p:custDataLst>
          </p:nvPr>
        </p:nvSpPr>
        <p:spPr>
          <a:xfrm>
            <a:off x="5638800" y="6057640"/>
            <a:ext cx="1373518" cy="338554"/>
          </a:xfrm>
          <a:prstGeom prst="rect">
            <a:avLst/>
          </a:prstGeom>
          <a:noFill/>
        </p:spPr>
        <p:txBody>
          <a:bodyPr wrap="none" rtlCol="0">
            <a:spAutoFit/>
          </a:bodyPr>
          <a:lstStyle/>
          <a:p>
            <a:r>
              <a:rPr lang="en-US" sz="1600" dirty="0">
                <a:latin typeface="+mn-lt"/>
              </a:rPr>
              <a:t>Main Memory</a:t>
            </a:r>
          </a:p>
        </p:txBody>
      </p:sp>
      <p:sp>
        <p:nvSpPr>
          <p:cNvPr id="17" name="Rectangle 22" descr=" 24">
            <a:extLst>
              <a:ext uri="{FF2B5EF4-FFF2-40B4-BE49-F238E27FC236}">
                <a16:creationId xmlns:a16="http://schemas.microsoft.com/office/drawing/2014/main" id="{A90CB2CB-1A09-4341-A1E3-CBF2F3A75203}"/>
              </a:ext>
            </a:extLst>
          </p:cNvPr>
          <p:cNvSpPr>
            <a:spLocks noChangeArrowheads="1"/>
          </p:cNvSpPr>
          <p:nvPr>
            <p:custDataLst>
              <p:tags r:id="rId16"/>
            </p:custDataLst>
          </p:nvPr>
        </p:nvSpPr>
        <p:spPr bwMode="auto">
          <a:xfrm>
            <a:off x="2133600" y="4381240"/>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18" name="Rectangle 22" descr=" 25">
            <a:extLst>
              <a:ext uri="{FF2B5EF4-FFF2-40B4-BE49-F238E27FC236}">
                <a16:creationId xmlns:a16="http://schemas.microsoft.com/office/drawing/2014/main" id="{DF4A33AA-A93B-40BE-AEC9-149E924A2C29}"/>
              </a:ext>
            </a:extLst>
          </p:cNvPr>
          <p:cNvSpPr>
            <a:spLocks noChangeArrowheads="1"/>
          </p:cNvSpPr>
          <p:nvPr>
            <p:custDataLst>
              <p:tags r:id="rId17"/>
            </p:custDataLst>
          </p:nvPr>
        </p:nvSpPr>
        <p:spPr bwMode="auto">
          <a:xfrm>
            <a:off x="5715000" y="4392352"/>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19" name="Rectangle 22" descr=" 26">
            <a:extLst>
              <a:ext uri="{FF2B5EF4-FFF2-40B4-BE49-F238E27FC236}">
                <a16:creationId xmlns:a16="http://schemas.microsoft.com/office/drawing/2014/main" id="{7925C335-3B0E-40B4-837E-DE3758F69EB2}"/>
              </a:ext>
            </a:extLst>
          </p:cNvPr>
          <p:cNvSpPr>
            <a:spLocks noChangeArrowheads="1"/>
          </p:cNvSpPr>
          <p:nvPr>
            <p:custDataLst>
              <p:tags r:id="rId18"/>
            </p:custDataLst>
          </p:nvPr>
        </p:nvSpPr>
        <p:spPr bwMode="auto">
          <a:xfrm>
            <a:off x="3338278" y="6076690"/>
            <a:ext cx="2290141"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22" name="TextBox 21">
            <a:extLst>
              <a:ext uri="{FF2B5EF4-FFF2-40B4-BE49-F238E27FC236}">
                <a16:creationId xmlns:a16="http://schemas.microsoft.com/office/drawing/2014/main" id="{8B5B228C-9941-4C73-BF63-2470C1F9A157}"/>
              </a:ext>
            </a:extLst>
          </p:cNvPr>
          <p:cNvSpPr txBox="1"/>
          <p:nvPr>
            <p:custDataLst>
              <p:tags r:id="rId19"/>
            </p:custDataLst>
          </p:nvPr>
        </p:nvSpPr>
        <p:spPr>
          <a:xfrm>
            <a:off x="-151082" y="4773283"/>
            <a:ext cx="2437082" cy="560717"/>
          </a:xfrm>
          <a:prstGeom prst="rect">
            <a:avLst/>
          </a:prstGeom>
          <a:noFill/>
        </p:spPr>
        <p:txBody>
          <a:bodyPr wrap="square" rtlCol="0" anchor="ctr">
            <a:noAutofit/>
          </a:bodyPr>
          <a:lstStyle/>
          <a:p>
            <a:pPr algn="ctr"/>
            <a:r>
              <a:rPr lang="en-US" sz="1600" dirty="0">
                <a:latin typeface="+mn-lt"/>
              </a:rPr>
              <a:t>assume write-through,</a:t>
            </a:r>
          </a:p>
          <a:p>
            <a:pPr algn="ctr"/>
            <a:r>
              <a:rPr lang="en-US" sz="1600" dirty="0">
                <a:latin typeface="+mn-lt"/>
              </a:rPr>
              <a:t>write-allocate L1 cache</a:t>
            </a:r>
          </a:p>
        </p:txBody>
      </p:sp>
      <p:cxnSp>
        <p:nvCxnSpPr>
          <p:cNvPr id="23" name="Straight Connector 22">
            <a:extLst>
              <a:ext uri="{FF2B5EF4-FFF2-40B4-BE49-F238E27FC236}">
                <a16:creationId xmlns:a16="http://schemas.microsoft.com/office/drawing/2014/main" id="{7E1D3498-359D-42B5-B693-E6409DB6E023}"/>
              </a:ext>
            </a:extLst>
          </p:cNvPr>
          <p:cNvCxnSpPr>
            <a:cxnSpLocks/>
          </p:cNvCxnSpPr>
          <p:nvPr/>
        </p:nvCxnSpPr>
        <p:spPr>
          <a:xfrm flipV="1">
            <a:off x="1905000" y="4534586"/>
            <a:ext cx="398493" cy="2884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3361968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1" descr=" 15">
            <a:extLst>
              <a:ext uri="{FF2B5EF4-FFF2-40B4-BE49-F238E27FC236}">
                <a16:creationId xmlns:a16="http://schemas.microsoft.com/office/drawing/2014/main" id="{CE3BB417-CEC1-4317-A0F5-A75A0B0D8AC7}"/>
              </a:ext>
            </a:extLst>
          </p:cNvPr>
          <p:cNvSpPr>
            <a:spLocks noChangeArrowheads="1"/>
          </p:cNvSpPr>
          <p:nvPr>
            <p:custDataLst>
              <p:tags r:id="rId2"/>
            </p:custDataLst>
          </p:nvPr>
        </p:nvSpPr>
        <p:spPr bwMode="auto">
          <a:xfrm>
            <a:off x="2133600" y="4081947"/>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2055"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Cache Coherence Problem</a:t>
            </a:r>
          </a:p>
        </p:txBody>
      </p:sp>
      <p:sp>
        <p:nvSpPr>
          <p:cNvPr id="2056" name="Rectangle 3"/>
          <p:cNvSpPr>
            <a:spLocks noGrp="1" noChangeArrowheads="1"/>
          </p:cNvSpPr>
          <p:nvPr>
            <p:ph idx="1"/>
            <p:custDataLst>
              <p:tags r:id="rId4"/>
            </p:custDataLst>
          </p:nvPr>
        </p:nvSpPr>
        <p:spPr>
          <a:xfrm>
            <a:off x="682625" y="1600200"/>
            <a:ext cx="8308975" cy="1295400"/>
          </a:xfrm>
        </p:spPr>
        <p:txBody>
          <a:bodyPr/>
          <a:lstStyle/>
          <a:p>
            <a:pPr marL="0" indent="0">
              <a:lnSpc>
                <a:spcPct val="80000"/>
              </a:lnSpc>
              <a:buNone/>
            </a:pPr>
            <a:r>
              <a:rPr lang="en-US" altLang="en-US" sz="2800" dirty="0"/>
              <a:t>A block X can exist in multiple </a:t>
            </a:r>
            <a:r>
              <a:rPr lang="en-US" altLang="en-US" sz="2800" b="1" dirty="0"/>
              <a:t>private</a:t>
            </a:r>
            <a:r>
              <a:rPr lang="en-US" altLang="en-US" sz="2800" dirty="0"/>
              <a:t> caches at any given moment. If one core modifies X, unless other cores are immediately made aware of this change, the other cores may read the </a:t>
            </a:r>
            <a:r>
              <a:rPr lang="en-US" altLang="en-US" sz="2800" b="1" dirty="0"/>
              <a:t>stale (wrong) </a:t>
            </a:r>
            <a:r>
              <a:rPr lang="en-US" altLang="en-US" sz="2800" dirty="0"/>
              <a:t>contents of X.</a:t>
            </a:r>
          </a:p>
        </p:txBody>
      </p:sp>
      <p:sp>
        <p:nvSpPr>
          <p:cNvPr id="2054" name="Slide Number Placeholder 5"/>
          <p:cNvSpPr>
            <a:spLocks noGrp="1"/>
          </p:cNvSpPr>
          <p:nvPr>
            <p:ph type="sldNum" sz="quarter" idx="12"/>
            <p:custDataLst>
              <p:tags r:id="rId5"/>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5</a:t>
            </a:fld>
            <a:endParaRPr lang="en-US" altLang="en-US"/>
          </a:p>
        </p:txBody>
      </p:sp>
      <p:sp>
        <p:nvSpPr>
          <p:cNvPr id="5" name="Rectangle 4" descr=" 5">
            <a:extLst>
              <a:ext uri="{FF2B5EF4-FFF2-40B4-BE49-F238E27FC236}">
                <a16:creationId xmlns:a16="http://schemas.microsoft.com/office/drawing/2014/main" id="{EDE355B8-E286-4696-8B42-B19B51166A6E}"/>
              </a:ext>
            </a:extLst>
          </p:cNvPr>
          <p:cNvSpPr>
            <a:spLocks noChangeArrowheads="1"/>
          </p:cNvSpPr>
          <p:nvPr>
            <p:custDataLst>
              <p:tags r:id="rId6"/>
            </p:custDataLst>
          </p:nvPr>
        </p:nvSpPr>
        <p:spPr bwMode="auto">
          <a:xfrm>
            <a:off x="2462806" y="5071802"/>
            <a:ext cx="4041084" cy="376238"/>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Bus</a:t>
            </a:r>
          </a:p>
        </p:txBody>
      </p:sp>
      <p:sp>
        <p:nvSpPr>
          <p:cNvPr id="6" name="Rectangle 6" descr=" 6">
            <a:extLst>
              <a:ext uri="{FF2B5EF4-FFF2-40B4-BE49-F238E27FC236}">
                <a16:creationId xmlns:a16="http://schemas.microsoft.com/office/drawing/2014/main" id="{D69625F6-D9BC-4773-B8F3-4888CE62BED5}"/>
              </a:ext>
            </a:extLst>
          </p:cNvPr>
          <p:cNvSpPr>
            <a:spLocks noChangeArrowheads="1"/>
          </p:cNvSpPr>
          <p:nvPr>
            <p:custDataLst>
              <p:tags r:id="rId7"/>
            </p:custDataLst>
          </p:nvPr>
        </p:nvSpPr>
        <p:spPr bwMode="auto">
          <a:xfrm>
            <a:off x="2326341" y="3273165"/>
            <a:ext cx="833719" cy="574675"/>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P1</a:t>
            </a:r>
          </a:p>
        </p:txBody>
      </p:sp>
      <p:cxnSp>
        <p:nvCxnSpPr>
          <p:cNvPr id="7" name="AutoShape 9" descr=" 7">
            <a:extLst>
              <a:ext uri="{FF2B5EF4-FFF2-40B4-BE49-F238E27FC236}">
                <a16:creationId xmlns:a16="http://schemas.microsoft.com/office/drawing/2014/main" id="{FB829A3E-4309-4B4E-91AE-79E4B807B46F}"/>
              </a:ext>
            </a:extLst>
          </p:cNvPr>
          <p:cNvCxnSpPr>
            <a:cxnSpLocks noChangeShapeType="1"/>
          </p:cNvCxnSpPr>
          <p:nvPr>
            <p:custDataLst>
              <p:tags r:id="rId8"/>
            </p:custDataLst>
          </p:nvPr>
        </p:nvCxnSpPr>
        <p:spPr bwMode="auto">
          <a:xfrm rot="5400000">
            <a:off x="2634457" y="3973203"/>
            <a:ext cx="217488" cy="1"/>
          </a:xfrm>
          <a:prstGeom prst="bentConnector3">
            <a:avLst>
              <a:gd name="adj1" fmla="val 50000"/>
            </a:avLst>
          </a:prstGeom>
          <a:noFill/>
          <a:ln w="12700">
            <a:solidFill>
              <a:schemeClr val="tx1"/>
            </a:solidFill>
            <a:miter lim="800000"/>
            <a:headEnd type="none" w="sm" len="sm"/>
            <a:tailEnd type="triangle" w="med" len="med"/>
          </a:ln>
        </p:spPr>
      </p:cxnSp>
      <p:sp>
        <p:nvSpPr>
          <p:cNvPr id="8" name="Line 10" descr=" 8">
            <a:extLst>
              <a:ext uri="{FF2B5EF4-FFF2-40B4-BE49-F238E27FC236}">
                <a16:creationId xmlns:a16="http://schemas.microsoft.com/office/drawing/2014/main" id="{3AE748C1-0FFF-4A5E-AD2C-71E099112ABD}"/>
              </a:ext>
            </a:extLst>
          </p:cNvPr>
          <p:cNvSpPr>
            <a:spLocks noChangeShapeType="1"/>
          </p:cNvSpPr>
          <p:nvPr>
            <p:custDataLst>
              <p:tags r:id="rId9"/>
            </p:custDataLst>
          </p:nvPr>
        </p:nvSpPr>
        <p:spPr bwMode="auto">
          <a:xfrm>
            <a:off x="2752165" y="4695005"/>
            <a:ext cx="0" cy="377825"/>
          </a:xfrm>
          <a:prstGeom prst="line">
            <a:avLst/>
          </a:prstGeom>
          <a:noFill/>
          <a:ln w="12700">
            <a:solidFill>
              <a:schemeClr val="tx1"/>
            </a:solidFill>
            <a:round/>
            <a:headEnd type="none" w="sm" len="sm"/>
            <a:tailEnd type="triangle" w="med" len="med"/>
          </a:ln>
        </p:spPr>
        <p:txBody>
          <a:bodyPr wrap="none" anchor="ctr"/>
          <a:lstStyle/>
          <a:p>
            <a:endParaRPr lang="en-US" dirty="0">
              <a:latin typeface="Calibri" pitchFamily="34" charset="0"/>
            </a:endParaRPr>
          </a:p>
        </p:txBody>
      </p:sp>
      <p:sp>
        <p:nvSpPr>
          <p:cNvPr id="9" name="Rectangle 14" descr=" 10">
            <a:extLst>
              <a:ext uri="{FF2B5EF4-FFF2-40B4-BE49-F238E27FC236}">
                <a16:creationId xmlns:a16="http://schemas.microsoft.com/office/drawing/2014/main" id="{19C9A5C2-82A6-4618-AEF4-D796B42B9D28}"/>
              </a:ext>
            </a:extLst>
          </p:cNvPr>
          <p:cNvSpPr>
            <a:spLocks noChangeArrowheads="1"/>
          </p:cNvSpPr>
          <p:nvPr>
            <p:custDataLst>
              <p:tags r:id="rId10"/>
            </p:custDataLst>
          </p:nvPr>
        </p:nvSpPr>
        <p:spPr bwMode="auto">
          <a:xfrm>
            <a:off x="5907741" y="3273165"/>
            <a:ext cx="833719" cy="574675"/>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P2</a:t>
            </a:r>
          </a:p>
        </p:txBody>
      </p:sp>
      <p:cxnSp>
        <p:nvCxnSpPr>
          <p:cNvPr id="10" name="AutoShape 17" descr=" 11">
            <a:extLst>
              <a:ext uri="{FF2B5EF4-FFF2-40B4-BE49-F238E27FC236}">
                <a16:creationId xmlns:a16="http://schemas.microsoft.com/office/drawing/2014/main" id="{E0521808-8B71-4CD4-9BE9-B6CFFD252860}"/>
              </a:ext>
            </a:extLst>
          </p:cNvPr>
          <p:cNvCxnSpPr>
            <a:cxnSpLocks noChangeShapeType="1"/>
            <a:stCxn id="9" idx="2"/>
            <a:endCxn id="15" idx="0"/>
          </p:cNvCxnSpPr>
          <p:nvPr>
            <p:custDataLst>
              <p:tags r:id="rId11"/>
            </p:custDataLst>
          </p:nvPr>
        </p:nvCxnSpPr>
        <p:spPr bwMode="auto">
          <a:xfrm rot="5400000">
            <a:off x="6210301" y="3962140"/>
            <a:ext cx="228600" cy="1"/>
          </a:xfrm>
          <a:prstGeom prst="bentConnector3">
            <a:avLst>
              <a:gd name="adj1" fmla="val 50000"/>
            </a:avLst>
          </a:prstGeom>
          <a:noFill/>
          <a:ln w="12700">
            <a:solidFill>
              <a:schemeClr val="tx1"/>
            </a:solidFill>
            <a:miter lim="800000"/>
            <a:headEnd type="none" w="sm" len="sm"/>
            <a:tailEnd type="triangle" w="med" len="med"/>
          </a:ln>
        </p:spPr>
      </p:cxnSp>
      <p:sp>
        <p:nvSpPr>
          <p:cNvPr id="11" name="Rectangle 21" descr=" 12">
            <a:extLst>
              <a:ext uri="{FF2B5EF4-FFF2-40B4-BE49-F238E27FC236}">
                <a16:creationId xmlns:a16="http://schemas.microsoft.com/office/drawing/2014/main" id="{33B0E5F3-06D7-4950-A1EE-7474D266FA9B}"/>
              </a:ext>
            </a:extLst>
          </p:cNvPr>
          <p:cNvSpPr>
            <a:spLocks noChangeArrowheads="1"/>
          </p:cNvSpPr>
          <p:nvPr>
            <p:custDataLst>
              <p:tags r:id="rId12"/>
            </p:custDataLst>
          </p:nvPr>
        </p:nvSpPr>
        <p:spPr bwMode="auto">
          <a:xfrm>
            <a:off x="3338278" y="5760778"/>
            <a:ext cx="2290141"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2000" dirty="0">
                <a:latin typeface="Calibri" pitchFamily="34" charset="0"/>
              </a:rPr>
              <a:t>X: 51,40</a:t>
            </a:r>
            <a:endParaRPr lang="en-US" sz="2400" dirty="0">
              <a:latin typeface="Calibri" pitchFamily="34" charset="0"/>
            </a:endParaRPr>
          </a:p>
        </p:txBody>
      </p:sp>
      <p:sp>
        <p:nvSpPr>
          <p:cNvPr id="12" name="Line 10" descr=" 13">
            <a:extLst>
              <a:ext uri="{FF2B5EF4-FFF2-40B4-BE49-F238E27FC236}">
                <a16:creationId xmlns:a16="http://schemas.microsoft.com/office/drawing/2014/main" id="{2766B6C8-0F2B-4CBE-B18A-2AA179550756}"/>
              </a:ext>
            </a:extLst>
          </p:cNvPr>
          <p:cNvSpPr>
            <a:spLocks noChangeShapeType="1"/>
          </p:cNvSpPr>
          <p:nvPr>
            <p:custDataLst>
              <p:tags r:id="rId13"/>
            </p:custDataLst>
          </p:nvPr>
        </p:nvSpPr>
        <p:spPr bwMode="auto">
          <a:xfrm>
            <a:off x="6324600" y="4686040"/>
            <a:ext cx="0" cy="377825"/>
          </a:xfrm>
          <a:prstGeom prst="line">
            <a:avLst/>
          </a:prstGeom>
          <a:noFill/>
          <a:ln w="12700">
            <a:solidFill>
              <a:schemeClr val="tx1"/>
            </a:solidFill>
            <a:round/>
            <a:headEnd type="none" w="sm" len="sm"/>
            <a:tailEnd type="triangle" w="med" len="med"/>
          </a:ln>
        </p:spPr>
        <p:txBody>
          <a:bodyPr wrap="none" anchor="ctr"/>
          <a:lstStyle/>
          <a:p>
            <a:endParaRPr lang="en-US" dirty="0">
              <a:latin typeface="Calibri" pitchFamily="34" charset="0"/>
            </a:endParaRPr>
          </a:p>
        </p:txBody>
      </p:sp>
      <p:cxnSp>
        <p:nvCxnSpPr>
          <p:cNvPr id="13" name="Straight Arrow Connector 12" descr=" 14">
            <a:extLst>
              <a:ext uri="{FF2B5EF4-FFF2-40B4-BE49-F238E27FC236}">
                <a16:creationId xmlns:a16="http://schemas.microsoft.com/office/drawing/2014/main" id="{942E8D10-FE0C-444F-BA46-F64AB115E845}"/>
              </a:ext>
            </a:extLst>
          </p:cNvPr>
          <p:cNvCxnSpPr>
            <a:stCxn id="5" idx="2"/>
            <a:endCxn id="11" idx="0"/>
          </p:cNvCxnSpPr>
          <p:nvPr/>
        </p:nvCxnSpPr>
        <p:spPr bwMode="auto">
          <a:xfrm rot="16200000" flipH="1">
            <a:off x="4326979" y="5604408"/>
            <a:ext cx="312738"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5" name="Rectangle 21" descr=" 16">
            <a:extLst>
              <a:ext uri="{FF2B5EF4-FFF2-40B4-BE49-F238E27FC236}">
                <a16:creationId xmlns:a16="http://schemas.microsoft.com/office/drawing/2014/main" id="{31A0AD37-7542-4F47-9814-213E540FEF69}"/>
              </a:ext>
            </a:extLst>
          </p:cNvPr>
          <p:cNvSpPr>
            <a:spLocks noChangeArrowheads="1"/>
          </p:cNvSpPr>
          <p:nvPr>
            <p:custDataLst>
              <p:tags r:id="rId14"/>
            </p:custDataLst>
          </p:nvPr>
        </p:nvSpPr>
        <p:spPr bwMode="auto">
          <a:xfrm>
            <a:off x="5715000" y="4076440"/>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2000" dirty="0">
                <a:latin typeface="Calibri" pitchFamily="34" charset="0"/>
              </a:rPr>
              <a:t>X: 51,40</a:t>
            </a:r>
            <a:endParaRPr lang="en-US" sz="2400" dirty="0">
              <a:latin typeface="Calibri" pitchFamily="34" charset="0"/>
            </a:endParaRPr>
          </a:p>
        </p:txBody>
      </p:sp>
      <p:sp>
        <p:nvSpPr>
          <p:cNvPr id="16" name="TextBox 15" descr=" 17">
            <a:extLst>
              <a:ext uri="{FF2B5EF4-FFF2-40B4-BE49-F238E27FC236}">
                <a16:creationId xmlns:a16="http://schemas.microsoft.com/office/drawing/2014/main" id="{EA522BB3-BBBD-4687-BCEB-E94B1A0F0D3E}"/>
              </a:ext>
            </a:extLst>
          </p:cNvPr>
          <p:cNvSpPr txBox="1"/>
          <p:nvPr>
            <p:custDataLst>
              <p:tags r:id="rId15"/>
            </p:custDataLst>
          </p:nvPr>
        </p:nvSpPr>
        <p:spPr>
          <a:xfrm>
            <a:off x="5638800" y="6057640"/>
            <a:ext cx="1373518" cy="338554"/>
          </a:xfrm>
          <a:prstGeom prst="rect">
            <a:avLst/>
          </a:prstGeom>
          <a:noFill/>
        </p:spPr>
        <p:txBody>
          <a:bodyPr wrap="none" rtlCol="0">
            <a:spAutoFit/>
          </a:bodyPr>
          <a:lstStyle/>
          <a:p>
            <a:r>
              <a:rPr lang="en-US" sz="1600" dirty="0">
                <a:latin typeface="+mn-lt"/>
              </a:rPr>
              <a:t>Main Memory</a:t>
            </a:r>
          </a:p>
        </p:txBody>
      </p:sp>
      <p:sp>
        <p:nvSpPr>
          <p:cNvPr id="17" name="Rectangle 22" descr=" 24">
            <a:extLst>
              <a:ext uri="{FF2B5EF4-FFF2-40B4-BE49-F238E27FC236}">
                <a16:creationId xmlns:a16="http://schemas.microsoft.com/office/drawing/2014/main" id="{A90CB2CB-1A09-4341-A1E3-CBF2F3A75203}"/>
              </a:ext>
            </a:extLst>
          </p:cNvPr>
          <p:cNvSpPr>
            <a:spLocks noChangeArrowheads="1"/>
          </p:cNvSpPr>
          <p:nvPr>
            <p:custDataLst>
              <p:tags r:id="rId16"/>
            </p:custDataLst>
          </p:nvPr>
        </p:nvSpPr>
        <p:spPr bwMode="auto">
          <a:xfrm>
            <a:off x="2133600" y="4381240"/>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18" name="Rectangle 22" descr=" 25">
            <a:extLst>
              <a:ext uri="{FF2B5EF4-FFF2-40B4-BE49-F238E27FC236}">
                <a16:creationId xmlns:a16="http://schemas.microsoft.com/office/drawing/2014/main" id="{DF4A33AA-A93B-40BE-AEC9-149E924A2C29}"/>
              </a:ext>
            </a:extLst>
          </p:cNvPr>
          <p:cNvSpPr>
            <a:spLocks noChangeArrowheads="1"/>
          </p:cNvSpPr>
          <p:nvPr>
            <p:custDataLst>
              <p:tags r:id="rId17"/>
            </p:custDataLst>
          </p:nvPr>
        </p:nvSpPr>
        <p:spPr bwMode="auto">
          <a:xfrm>
            <a:off x="5715000" y="4392352"/>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19" name="Rectangle 22" descr=" 26">
            <a:extLst>
              <a:ext uri="{FF2B5EF4-FFF2-40B4-BE49-F238E27FC236}">
                <a16:creationId xmlns:a16="http://schemas.microsoft.com/office/drawing/2014/main" id="{7925C335-3B0E-40B4-837E-DE3758F69EB2}"/>
              </a:ext>
            </a:extLst>
          </p:cNvPr>
          <p:cNvSpPr>
            <a:spLocks noChangeArrowheads="1"/>
          </p:cNvSpPr>
          <p:nvPr>
            <p:custDataLst>
              <p:tags r:id="rId18"/>
            </p:custDataLst>
          </p:nvPr>
        </p:nvSpPr>
        <p:spPr bwMode="auto">
          <a:xfrm>
            <a:off x="3338278" y="6076690"/>
            <a:ext cx="2290141"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20" name="Text Box 11" descr=" 9">
            <a:extLst>
              <a:ext uri="{FF2B5EF4-FFF2-40B4-BE49-F238E27FC236}">
                <a16:creationId xmlns:a16="http://schemas.microsoft.com/office/drawing/2014/main" id="{79F72ADC-1F7B-4F47-8FFC-1DA0B1E8AD0C}"/>
              </a:ext>
            </a:extLst>
          </p:cNvPr>
          <p:cNvSpPr txBox="1">
            <a:spLocks noChangeArrowheads="1"/>
          </p:cNvSpPr>
          <p:nvPr>
            <p:custDataLst>
              <p:tags r:id="rId19"/>
            </p:custDataLst>
          </p:nvPr>
        </p:nvSpPr>
        <p:spPr bwMode="auto">
          <a:xfrm>
            <a:off x="7086600" y="3986706"/>
            <a:ext cx="1806905"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1: </a:t>
            </a:r>
            <a:r>
              <a:rPr lang="en-US" sz="2000" dirty="0">
                <a:latin typeface="Calibri" pitchFamily="34" charset="0"/>
              </a:rPr>
              <a:t>Load X[0]=51</a:t>
            </a:r>
          </a:p>
        </p:txBody>
      </p:sp>
    </p:spTree>
    <p:custDataLst>
      <p:tags r:id="rId1"/>
    </p:custDataLst>
    <p:extLst>
      <p:ext uri="{BB962C8B-B14F-4D97-AF65-F5344CB8AC3E}">
        <p14:creationId xmlns:p14="http://schemas.microsoft.com/office/powerpoint/2010/main" val="28123668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1" descr=" 15">
            <a:extLst>
              <a:ext uri="{FF2B5EF4-FFF2-40B4-BE49-F238E27FC236}">
                <a16:creationId xmlns:a16="http://schemas.microsoft.com/office/drawing/2014/main" id="{CE3BB417-CEC1-4317-A0F5-A75A0B0D8AC7}"/>
              </a:ext>
            </a:extLst>
          </p:cNvPr>
          <p:cNvSpPr>
            <a:spLocks noChangeArrowheads="1"/>
          </p:cNvSpPr>
          <p:nvPr>
            <p:custDataLst>
              <p:tags r:id="rId2"/>
            </p:custDataLst>
          </p:nvPr>
        </p:nvSpPr>
        <p:spPr bwMode="auto">
          <a:xfrm>
            <a:off x="2133600" y="4081947"/>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2000" dirty="0">
                <a:latin typeface="Calibri" pitchFamily="34" charset="0"/>
              </a:rPr>
              <a:t>X: 51,</a:t>
            </a:r>
            <a:r>
              <a:rPr lang="en-US" sz="2000" b="1" dirty="0">
                <a:latin typeface="Calibri" pitchFamily="34" charset="0"/>
              </a:rPr>
              <a:t>37</a:t>
            </a:r>
            <a:endParaRPr lang="en-US" sz="2400" b="1" dirty="0">
              <a:latin typeface="Calibri" pitchFamily="34" charset="0"/>
            </a:endParaRPr>
          </a:p>
        </p:txBody>
      </p:sp>
      <p:sp>
        <p:nvSpPr>
          <p:cNvPr id="2055"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Cache Coherence Problem</a:t>
            </a:r>
          </a:p>
        </p:txBody>
      </p:sp>
      <p:sp>
        <p:nvSpPr>
          <p:cNvPr id="2056" name="Rectangle 3"/>
          <p:cNvSpPr>
            <a:spLocks noGrp="1" noChangeArrowheads="1"/>
          </p:cNvSpPr>
          <p:nvPr>
            <p:ph idx="1"/>
            <p:custDataLst>
              <p:tags r:id="rId4"/>
            </p:custDataLst>
          </p:nvPr>
        </p:nvSpPr>
        <p:spPr>
          <a:xfrm>
            <a:off x="682625" y="1600200"/>
            <a:ext cx="8308975" cy="1295400"/>
          </a:xfrm>
        </p:spPr>
        <p:txBody>
          <a:bodyPr/>
          <a:lstStyle/>
          <a:p>
            <a:pPr marL="0" indent="0">
              <a:lnSpc>
                <a:spcPct val="80000"/>
              </a:lnSpc>
              <a:buNone/>
            </a:pPr>
            <a:r>
              <a:rPr lang="en-US" altLang="en-US" sz="2800" dirty="0"/>
              <a:t>A block X can exist in multiple </a:t>
            </a:r>
            <a:r>
              <a:rPr lang="en-US" altLang="en-US" sz="2800" b="1" dirty="0"/>
              <a:t>private</a:t>
            </a:r>
            <a:r>
              <a:rPr lang="en-US" altLang="en-US" sz="2800" dirty="0"/>
              <a:t> caches at any given moment. If one core modifies X, unless other cores are immediately made aware of this change, the other cores may read the </a:t>
            </a:r>
            <a:r>
              <a:rPr lang="en-US" altLang="en-US" sz="2800" b="1" dirty="0"/>
              <a:t>stale (wrong) </a:t>
            </a:r>
            <a:r>
              <a:rPr lang="en-US" altLang="en-US" sz="2800" dirty="0"/>
              <a:t>contents of X.</a:t>
            </a:r>
          </a:p>
        </p:txBody>
      </p:sp>
      <p:sp>
        <p:nvSpPr>
          <p:cNvPr id="2054" name="Slide Number Placeholder 5"/>
          <p:cNvSpPr>
            <a:spLocks noGrp="1"/>
          </p:cNvSpPr>
          <p:nvPr>
            <p:ph type="sldNum" sz="quarter" idx="12"/>
            <p:custDataLst>
              <p:tags r:id="rId5"/>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6</a:t>
            </a:fld>
            <a:endParaRPr lang="en-US" altLang="en-US"/>
          </a:p>
        </p:txBody>
      </p:sp>
      <p:sp>
        <p:nvSpPr>
          <p:cNvPr id="5" name="Rectangle 4" descr=" 5">
            <a:extLst>
              <a:ext uri="{FF2B5EF4-FFF2-40B4-BE49-F238E27FC236}">
                <a16:creationId xmlns:a16="http://schemas.microsoft.com/office/drawing/2014/main" id="{EDE355B8-E286-4696-8B42-B19B51166A6E}"/>
              </a:ext>
            </a:extLst>
          </p:cNvPr>
          <p:cNvSpPr>
            <a:spLocks noChangeArrowheads="1"/>
          </p:cNvSpPr>
          <p:nvPr>
            <p:custDataLst>
              <p:tags r:id="rId6"/>
            </p:custDataLst>
          </p:nvPr>
        </p:nvSpPr>
        <p:spPr bwMode="auto">
          <a:xfrm>
            <a:off x="2462806" y="5071802"/>
            <a:ext cx="4041084" cy="376238"/>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Bus</a:t>
            </a:r>
          </a:p>
        </p:txBody>
      </p:sp>
      <p:sp>
        <p:nvSpPr>
          <p:cNvPr id="6" name="Rectangle 6" descr=" 6">
            <a:extLst>
              <a:ext uri="{FF2B5EF4-FFF2-40B4-BE49-F238E27FC236}">
                <a16:creationId xmlns:a16="http://schemas.microsoft.com/office/drawing/2014/main" id="{D69625F6-D9BC-4773-B8F3-4888CE62BED5}"/>
              </a:ext>
            </a:extLst>
          </p:cNvPr>
          <p:cNvSpPr>
            <a:spLocks noChangeArrowheads="1"/>
          </p:cNvSpPr>
          <p:nvPr>
            <p:custDataLst>
              <p:tags r:id="rId7"/>
            </p:custDataLst>
          </p:nvPr>
        </p:nvSpPr>
        <p:spPr bwMode="auto">
          <a:xfrm>
            <a:off x="2326341" y="3273165"/>
            <a:ext cx="833719" cy="574675"/>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P1</a:t>
            </a:r>
          </a:p>
        </p:txBody>
      </p:sp>
      <p:cxnSp>
        <p:nvCxnSpPr>
          <p:cNvPr id="7" name="AutoShape 9" descr=" 7">
            <a:extLst>
              <a:ext uri="{FF2B5EF4-FFF2-40B4-BE49-F238E27FC236}">
                <a16:creationId xmlns:a16="http://schemas.microsoft.com/office/drawing/2014/main" id="{FB829A3E-4309-4B4E-91AE-79E4B807B46F}"/>
              </a:ext>
            </a:extLst>
          </p:cNvPr>
          <p:cNvCxnSpPr>
            <a:cxnSpLocks noChangeShapeType="1"/>
          </p:cNvCxnSpPr>
          <p:nvPr>
            <p:custDataLst>
              <p:tags r:id="rId8"/>
            </p:custDataLst>
          </p:nvPr>
        </p:nvCxnSpPr>
        <p:spPr bwMode="auto">
          <a:xfrm rot="5400000">
            <a:off x="2634457" y="3973203"/>
            <a:ext cx="217488" cy="1"/>
          </a:xfrm>
          <a:prstGeom prst="bentConnector3">
            <a:avLst>
              <a:gd name="adj1" fmla="val 50000"/>
            </a:avLst>
          </a:prstGeom>
          <a:noFill/>
          <a:ln w="12700">
            <a:solidFill>
              <a:schemeClr val="tx1"/>
            </a:solidFill>
            <a:miter lim="800000"/>
            <a:headEnd type="none" w="sm" len="sm"/>
            <a:tailEnd type="triangle" w="med" len="med"/>
          </a:ln>
        </p:spPr>
      </p:cxnSp>
      <p:sp>
        <p:nvSpPr>
          <p:cNvPr id="8" name="Line 10" descr=" 8">
            <a:extLst>
              <a:ext uri="{FF2B5EF4-FFF2-40B4-BE49-F238E27FC236}">
                <a16:creationId xmlns:a16="http://schemas.microsoft.com/office/drawing/2014/main" id="{3AE748C1-0FFF-4A5E-AD2C-71E099112ABD}"/>
              </a:ext>
            </a:extLst>
          </p:cNvPr>
          <p:cNvSpPr>
            <a:spLocks noChangeShapeType="1"/>
          </p:cNvSpPr>
          <p:nvPr>
            <p:custDataLst>
              <p:tags r:id="rId9"/>
            </p:custDataLst>
          </p:nvPr>
        </p:nvSpPr>
        <p:spPr bwMode="auto">
          <a:xfrm>
            <a:off x="2752165" y="4695005"/>
            <a:ext cx="0" cy="377825"/>
          </a:xfrm>
          <a:prstGeom prst="line">
            <a:avLst/>
          </a:prstGeom>
          <a:noFill/>
          <a:ln w="12700">
            <a:solidFill>
              <a:schemeClr val="tx1"/>
            </a:solidFill>
            <a:round/>
            <a:headEnd type="none" w="sm" len="sm"/>
            <a:tailEnd type="triangle" w="med" len="med"/>
          </a:ln>
        </p:spPr>
        <p:txBody>
          <a:bodyPr wrap="none" anchor="ctr"/>
          <a:lstStyle/>
          <a:p>
            <a:endParaRPr lang="en-US" dirty="0">
              <a:latin typeface="Calibri" pitchFamily="34" charset="0"/>
            </a:endParaRPr>
          </a:p>
        </p:txBody>
      </p:sp>
      <p:sp>
        <p:nvSpPr>
          <p:cNvPr id="9" name="Rectangle 14" descr=" 10">
            <a:extLst>
              <a:ext uri="{FF2B5EF4-FFF2-40B4-BE49-F238E27FC236}">
                <a16:creationId xmlns:a16="http://schemas.microsoft.com/office/drawing/2014/main" id="{19C9A5C2-82A6-4618-AEF4-D796B42B9D28}"/>
              </a:ext>
            </a:extLst>
          </p:cNvPr>
          <p:cNvSpPr>
            <a:spLocks noChangeArrowheads="1"/>
          </p:cNvSpPr>
          <p:nvPr>
            <p:custDataLst>
              <p:tags r:id="rId10"/>
            </p:custDataLst>
          </p:nvPr>
        </p:nvSpPr>
        <p:spPr bwMode="auto">
          <a:xfrm>
            <a:off x="5907741" y="3273165"/>
            <a:ext cx="833719" cy="574675"/>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P2</a:t>
            </a:r>
          </a:p>
        </p:txBody>
      </p:sp>
      <p:cxnSp>
        <p:nvCxnSpPr>
          <p:cNvPr id="10" name="AutoShape 17" descr=" 11">
            <a:extLst>
              <a:ext uri="{FF2B5EF4-FFF2-40B4-BE49-F238E27FC236}">
                <a16:creationId xmlns:a16="http://schemas.microsoft.com/office/drawing/2014/main" id="{E0521808-8B71-4CD4-9BE9-B6CFFD252860}"/>
              </a:ext>
            </a:extLst>
          </p:cNvPr>
          <p:cNvCxnSpPr>
            <a:cxnSpLocks noChangeShapeType="1"/>
            <a:stCxn id="9" idx="2"/>
            <a:endCxn id="15" idx="0"/>
          </p:cNvCxnSpPr>
          <p:nvPr>
            <p:custDataLst>
              <p:tags r:id="rId11"/>
            </p:custDataLst>
          </p:nvPr>
        </p:nvCxnSpPr>
        <p:spPr bwMode="auto">
          <a:xfrm rot="5400000">
            <a:off x="6210301" y="3962140"/>
            <a:ext cx="228600" cy="1"/>
          </a:xfrm>
          <a:prstGeom prst="bentConnector3">
            <a:avLst>
              <a:gd name="adj1" fmla="val 50000"/>
            </a:avLst>
          </a:prstGeom>
          <a:noFill/>
          <a:ln w="12700">
            <a:solidFill>
              <a:schemeClr val="tx1"/>
            </a:solidFill>
            <a:miter lim="800000"/>
            <a:headEnd type="none" w="sm" len="sm"/>
            <a:tailEnd type="triangle" w="med" len="med"/>
          </a:ln>
        </p:spPr>
      </p:cxnSp>
      <p:sp>
        <p:nvSpPr>
          <p:cNvPr id="11" name="Rectangle 21" descr=" 12">
            <a:extLst>
              <a:ext uri="{FF2B5EF4-FFF2-40B4-BE49-F238E27FC236}">
                <a16:creationId xmlns:a16="http://schemas.microsoft.com/office/drawing/2014/main" id="{33B0E5F3-06D7-4950-A1EE-7474D266FA9B}"/>
              </a:ext>
            </a:extLst>
          </p:cNvPr>
          <p:cNvSpPr>
            <a:spLocks noChangeArrowheads="1"/>
          </p:cNvSpPr>
          <p:nvPr>
            <p:custDataLst>
              <p:tags r:id="rId12"/>
            </p:custDataLst>
          </p:nvPr>
        </p:nvSpPr>
        <p:spPr bwMode="auto">
          <a:xfrm>
            <a:off x="3338278" y="5760778"/>
            <a:ext cx="2290141"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2000" dirty="0">
                <a:latin typeface="Calibri" pitchFamily="34" charset="0"/>
              </a:rPr>
              <a:t>X: 51,</a:t>
            </a:r>
            <a:r>
              <a:rPr lang="en-US" sz="2000" b="1" dirty="0">
                <a:latin typeface="Calibri" pitchFamily="34" charset="0"/>
              </a:rPr>
              <a:t>37</a:t>
            </a:r>
            <a:endParaRPr lang="en-US" sz="2400" b="1" dirty="0">
              <a:latin typeface="Calibri" pitchFamily="34" charset="0"/>
            </a:endParaRPr>
          </a:p>
        </p:txBody>
      </p:sp>
      <p:sp>
        <p:nvSpPr>
          <p:cNvPr id="12" name="Line 10" descr=" 13">
            <a:extLst>
              <a:ext uri="{FF2B5EF4-FFF2-40B4-BE49-F238E27FC236}">
                <a16:creationId xmlns:a16="http://schemas.microsoft.com/office/drawing/2014/main" id="{2766B6C8-0F2B-4CBE-B18A-2AA179550756}"/>
              </a:ext>
            </a:extLst>
          </p:cNvPr>
          <p:cNvSpPr>
            <a:spLocks noChangeShapeType="1"/>
          </p:cNvSpPr>
          <p:nvPr>
            <p:custDataLst>
              <p:tags r:id="rId13"/>
            </p:custDataLst>
          </p:nvPr>
        </p:nvSpPr>
        <p:spPr bwMode="auto">
          <a:xfrm>
            <a:off x="6324600" y="4686040"/>
            <a:ext cx="0" cy="377825"/>
          </a:xfrm>
          <a:prstGeom prst="line">
            <a:avLst/>
          </a:prstGeom>
          <a:noFill/>
          <a:ln w="12700">
            <a:solidFill>
              <a:schemeClr val="tx1"/>
            </a:solidFill>
            <a:round/>
            <a:headEnd type="none" w="sm" len="sm"/>
            <a:tailEnd type="triangle" w="med" len="med"/>
          </a:ln>
        </p:spPr>
        <p:txBody>
          <a:bodyPr wrap="none" anchor="ctr"/>
          <a:lstStyle/>
          <a:p>
            <a:endParaRPr lang="en-US" dirty="0">
              <a:latin typeface="Calibri" pitchFamily="34" charset="0"/>
            </a:endParaRPr>
          </a:p>
        </p:txBody>
      </p:sp>
      <p:cxnSp>
        <p:nvCxnSpPr>
          <p:cNvPr id="13" name="Straight Arrow Connector 12" descr=" 14">
            <a:extLst>
              <a:ext uri="{FF2B5EF4-FFF2-40B4-BE49-F238E27FC236}">
                <a16:creationId xmlns:a16="http://schemas.microsoft.com/office/drawing/2014/main" id="{942E8D10-FE0C-444F-BA46-F64AB115E845}"/>
              </a:ext>
            </a:extLst>
          </p:cNvPr>
          <p:cNvCxnSpPr>
            <a:stCxn id="5" idx="2"/>
            <a:endCxn id="11" idx="0"/>
          </p:cNvCxnSpPr>
          <p:nvPr/>
        </p:nvCxnSpPr>
        <p:spPr bwMode="auto">
          <a:xfrm rot="16200000" flipH="1">
            <a:off x="4326979" y="5604408"/>
            <a:ext cx="312738"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5" name="Rectangle 21" descr=" 16">
            <a:extLst>
              <a:ext uri="{FF2B5EF4-FFF2-40B4-BE49-F238E27FC236}">
                <a16:creationId xmlns:a16="http://schemas.microsoft.com/office/drawing/2014/main" id="{31A0AD37-7542-4F47-9814-213E540FEF69}"/>
              </a:ext>
            </a:extLst>
          </p:cNvPr>
          <p:cNvSpPr>
            <a:spLocks noChangeArrowheads="1"/>
          </p:cNvSpPr>
          <p:nvPr>
            <p:custDataLst>
              <p:tags r:id="rId14"/>
            </p:custDataLst>
          </p:nvPr>
        </p:nvSpPr>
        <p:spPr bwMode="auto">
          <a:xfrm>
            <a:off x="5715000" y="4076440"/>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2000" dirty="0">
                <a:latin typeface="Calibri" pitchFamily="34" charset="0"/>
              </a:rPr>
              <a:t>X: 51,40</a:t>
            </a:r>
            <a:endParaRPr lang="en-US" sz="2400" dirty="0">
              <a:latin typeface="Calibri" pitchFamily="34" charset="0"/>
            </a:endParaRPr>
          </a:p>
        </p:txBody>
      </p:sp>
      <p:sp>
        <p:nvSpPr>
          <p:cNvPr id="16" name="TextBox 15" descr=" 17">
            <a:extLst>
              <a:ext uri="{FF2B5EF4-FFF2-40B4-BE49-F238E27FC236}">
                <a16:creationId xmlns:a16="http://schemas.microsoft.com/office/drawing/2014/main" id="{EA522BB3-BBBD-4687-BCEB-E94B1A0F0D3E}"/>
              </a:ext>
            </a:extLst>
          </p:cNvPr>
          <p:cNvSpPr txBox="1"/>
          <p:nvPr>
            <p:custDataLst>
              <p:tags r:id="rId15"/>
            </p:custDataLst>
          </p:nvPr>
        </p:nvSpPr>
        <p:spPr>
          <a:xfrm>
            <a:off x="5638800" y="6057640"/>
            <a:ext cx="1373518" cy="338554"/>
          </a:xfrm>
          <a:prstGeom prst="rect">
            <a:avLst/>
          </a:prstGeom>
          <a:noFill/>
        </p:spPr>
        <p:txBody>
          <a:bodyPr wrap="none" rtlCol="0">
            <a:spAutoFit/>
          </a:bodyPr>
          <a:lstStyle/>
          <a:p>
            <a:r>
              <a:rPr lang="en-US" sz="1600" dirty="0">
                <a:latin typeface="+mn-lt"/>
              </a:rPr>
              <a:t>Main Memory</a:t>
            </a:r>
          </a:p>
        </p:txBody>
      </p:sp>
      <p:sp>
        <p:nvSpPr>
          <p:cNvPr id="17" name="Rectangle 22" descr=" 24">
            <a:extLst>
              <a:ext uri="{FF2B5EF4-FFF2-40B4-BE49-F238E27FC236}">
                <a16:creationId xmlns:a16="http://schemas.microsoft.com/office/drawing/2014/main" id="{A90CB2CB-1A09-4341-A1E3-CBF2F3A75203}"/>
              </a:ext>
            </a:extLst>
          </p:cNvPr>
          <p:cNvSpPr>
            <a:spLocks noChangeArrowheads="1"/>
          </p:cNvSpPr>
          <p:nvPr>
            <p:custDataLst>
              <p:tags r:id="rId16"/>
            </p:custDataLst>
          </p:nvPr>
        </p:nvSpPr>
        <p:spPr bwMode="auto">
          <a:xfrm>
            <a:off x="2133600" y="4381240"/>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18" name="Rectangle 22" descr=" 25">
            <a:extLst>
              <a:ext uri="{FF2B5EF4-FFF2-40B4-BE49-F238E27FC236}">
                <a16:creationId xmlns:a16="http://schemas.microsoft.com/office/drawing/2014/main" id="{DF4A33AA-A93B-40BE-AEC9-149E924A2C29}"/>
              </a:ext>
            </a:extLst>
          </p:cNvPr>
          <p:cNvSpPr>
            <a:spLocks noChangeArrowheads="1"/>
          </p:cNvSpPr>
          <p:nvPr>
            <p:custDataLst>
              <p:tags r:id="rId17"/>
            </p:custDataLst>
          </p:nvPr>
        </p:nvSpPr>
        <p:spPr bwMode="auto">
          <a:xfrm>
            <a:off x="5715000" y="4392352"/>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19" name="Rectangle 22" descr=" 26">
            <a:extLst>
              <a:ext uri="{FF2B5EF4-FFF2-40B4-BE49-F238E27FC236}">
                <a16:creationId xmlns:a16="http://schemas.microsoft.com/office/drawing/2014/main" id="{7925C335-3B0E-40B4-837E-DE3758F69EB2}"/>
              </a:ext>
            </a:extLst>
          </p:cNvPr>
          <p:cNvSpPr>
            <a:spLocks noChangeArrowheads="1"/>
          </p:cNvSpPr>
          <p:nvPr>
            <p:custDataLst>
              <p:tags r:id="rId18"/>
            </p:custDataLst>
          </p:nvPr>
        </p:nvSpPr>
        <p:spPr bwMode="auto">
          <a:xfrm>
            <a:off x="3338278" y="6076690"/>
            <a:ext cx="2290141"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20" name="Text Box 11" descr=" 9">
            <a:extLst>
              <a:ext uri="{FF2B5EF4-FFF2-40B4-BE49-F238E27FC236}">
                <a16:creationId xmlns:a16="http://schemas.microsoft.com/office/drawing/2014/main" id="{79F72ADC-1F7B-4F47-8FFC-1DA0B1E8AD0C}"/>
              </a:ext>
            </a:extLst>
          </p:cNvPr>
          <p:cNvSpPr txBox="1">
            <a:spLocks noChangeArrowheads="1"/>
          </p:cNvSpPr>
          <p:nvPr>
            <p:custDataLst>
              <p:tags r:id="rId19"/>
            </p:custDataLst>
          </p:nvPr>
        </p:nvSpPr>
        <p:spPr bwMode="auto">
          <a:xfrm>
            <a:off x="7086600" y="3986706"/>
            <a:ext cx="1806905"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1: </a:t>
            </a:r>
            <a:r>
              <a:rPr lang="en-US" sz="2000" dirty="0">
                <a:latin typeface="Calibri" pitchFamily="34" charset="0"/>
              </a:rPr>
              <a:t>Load X[0]=51</a:t>
            </a:r>
          </a:p>
        </p:txBody>
      </p:sp>
      <p:sp>
        <p:nvSpPr>
          <p:cNvPr id="21" name="Text Box 11" descr=" 9">
            <a:extLst>
              <a:ext uri="{FF2B5EF4-FFF2-40B4-BE49-F238E27FC236}">
                <a16:creationId xmlns:a16="http://schemas.microsoft.com/office/drawing/2014/main" id="{79294125-0F02-4103-8308-22D5EA6B7D0B}"/>
              </a:ext>
            </a:extLst>
          </p:cNvPr>
          <p:cNvSpPr txBox="1">
            <a:spLocks noChangeArrowheads="1"/>
          </p:cNvSpPr>
          <p:nvPr>
            <p:custDataLst>
              <p:tags r:id="rId20"/>
            </p:custDataLst>
          </p:nvPr>
        </p:nvSpPr>
        <p:spPr bwMode="auto">
          <a:xfrm>
            <a:off x="304800" y="3398808"/>
            <a:ext cx="1858714"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2: </a:t>
            </a:r>
            <a:r>
              <a:rPr lang="en-US" sz="2000" dirty="0">
                <a:latin typeface="Calibri" pitchFamily="34" charset="0"/>
              </a:rPr>
              <a:t>Store X[1]=37</a:t>
            </a:r>
          </a:p>
        </p:txBody>
      </p:sp>
    </p:spTree>
    <p:custDataLst>
      <p:tags r:id="rId1"/>
    </p:custDataLst>
    <p:extLst>
      <p:ext uri="{BB962C8B-B14F-4D97-AF65-F5344CB8AC3E}">
        <p14:creationId xmlns:p14="http://schemas.microsoft.com/office/powerpoint/2010/main" val="32981902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1" descr=" 15">
            <a:extLst>
              <a:ext uri="{FF2B5EF4-FFF2-40B4-BE49-F238E27FC236}">
                <a16:creationId xmlns:a16="http://schemas.microsoft.com/office/drawing/2014/main" id="{CE3BB417-CEC1-4317-A0F5-A75A0B0D8AC7}"/>
              </a:ext>
            </a:extLst>
          </p:cNvPr>
          <p:cNvSpPr>
            <a:spLocks noChangeArrowheads="1"/>
          </p:cNvSpPr>
          <p:nvPr>
            <p:custDataLst>
              <p:tags r:id="rId2"/>
            </p:custDataLst>
          </p:nvPr>
        </p:nvSpPr>
        <p:spPr bwMode="auto">
          <a:xfrm>
            <a:off x="2133600" y="4081947"/>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2000" dirty="0">
                <a:latin typeface="Calibri" pitchFamily="34" charset="0"/>
              </a:rPr>
              <a:t>X: 51,37</a:t>
            </a:r>
            <a:endParaRPr lang="en-US" sz="2400" dirty="0">
              <a:latin typeface="Calibri" pitchFamily="34" charset="0"/>
            </a:endParaRPr>
          </a:p>
        </p:txBody>
      </p:sp>
      <p:sp>
        <p:nvSpPr>
          <p:cNvPr id="2055"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Cache Coherence Problem</a:t>
            </a:r>
          </a:p>
        </p:txBody>
      </p:sp>
      <p:sp>
        <p:nvSpPr>
          <p:cNvPr id="2056" name="Rectangle 3"/>
          <p:cNvSpPr>
            <a:spLocks noGrp="1" noChangeArrowheads="1"/>
          </p:cNvSpPr>
          <p:nvPr>
            <p:ph idx="1"/>
            <p:custDataLst>
              <p:tags r:id="rId4"/>
            </p:custDataLst>
          </p:nvPr>
        </p:nvSpPr>
        <p:spPr>
          <a:xfrm>
            <a:off x="682625" y="1600200"/>
            <a:ext cx="8308975" cy="1295400"/>
          </a:xfrm>
        </p:spPr>
        <p:txBody>
          <a:bodyPr/>
          <a:lstStyle/>
          <a:p>
            <a:pPr marL="0" indent="0">
              <a:lnSpc>
                <a:spcPct val="80000"/>
              </a:lnSpc>
              <a:buNone/>
            </a:pPr>
            <a:r>
              <a:rPr lang="en-US" altLang="en-US" sz="2800" dirty="0"/>
              <a:t>A block X can exist in multiple </a:t>
            </a:r>
            <a:r>
              <a:rPr lang="en-US" altLang="en-US" sz="2800" b="1" dirty="0"/>
              <a:t>private</a:t>
            </a:r>
            <a:r>
              <a:rPr lang="en-US" altLang="en-US" sz="2800" dirty="0"/>
              <a:t> caches at any given moment. If one core modifies X, unless other cores are immediately made aware of this change, the other cores may read the </a:t>
            </a:r>
            <a:r>
              <a:rPr lang="en-US" altLang="en-US" sz="2800" b="1" dirty="0"/>
              <a:t>stale (wrong) </a:t>
            </a:r>
            <a:r>
              <a:rPr lang="en-US" altLang="en-US" sz="2800" dirty="0"/>
              <a:t>contents of X.</a:t>
            </a:r>
          </a:p>
        </p:txBody>
      </p:sp>
      <p:sp>
        <p:nvSpPr>
          <p:cNvPr id="2054" name="Slide Number Placeholder 5"/>
          <p:cNvSpPr>
            <a:spLocks noGrp="1"/>
          </p:cNvSpPr>
          <p:nvPr>
            <p:ph type="sldNum" sz="quarter" idx="12"/>
            <p:custDataLst>
              <p:tags r:id="rId5"/>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7</a:t>
            </a:fld>
            <a:endParaRPr lang="en-US" altLang="en-US"/>
          </a:p>
        </p:txBody>
      </p:sp>
      <p:sp>
        <p:nvSpPr>
          <p:cNvPr id="5" name="Rectangle 4" descr=" 5">
            <a:extLst>
              <a:ext uri="{FF2B5EF4-FFF2-40B4-BE49-F238E27FC236}">
                <a16:creationId xmlns:a16="http://schemas.microsoft.com/office/drawing/2014/main" id="{EDE355B8-E286-4696-8B42-B19B51166A6E}"/>
              </a:ext>
            </a:extLst>
          </p:cNvPr>
          <p:cNvSpPr>
            <a:spLocks noChangeArrowheads="1"/>
          </p:cNvSpPr>
          <p:nvPr>
            <p:custDataLst>
              <p:tags r:id="rId6"/>
            </p:custDataLst>
          </p:nvPr>
        </p:nvSpPr>
        <p:spPr bwMode="auto">
          <a:xfrm>
            <a:off x="2462806" y="5071802"/>
            <a:ext cx="4041084" cy="376238"/>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Bus</a:t>
            </a:r>
          </a:p>
        </p:txBody>
      </p:sp>
      <p:sp>
        <p:nvSpPr>
          <p:cNvPr id="6" name="Rectangle 6" descr=" 6">
            <a:extLst>
              <a:ext uri="{FF2B5EF4-FFF2-40B4-BE49-F238E27FC236}">
                <a16:creationId xmlns:a16="http://schemas.microsoft.com/office/drawing/2014/main" id="{D69625F6-D9BC-4773-B8F3-4888CE62BED5}"/>
              </a:ext>
            </a:extLst>
          </p:cNvPr>
          <p:cNvSpPr>
            <a:spLocks noChangeArrowheads="1"/>
          </p:cNvSpPr>
          <p:nvPr>
            <p:custDataLst>
              <p:tags r:id="rId7"/>
            </p:custDataLst>
          </p:nvPr>
        </p:nvSpPr>
        <p:spPr bwMode="auto">
          <a:xfrm>
            <a:off x="2326341" y="3273165"/>
            <a:ext cx="833719" cy="574675"/>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P1</a:t>
            </a:r>
          </a:p>
        </p:txBody>
      </p:sp>
      <p:cxnSp>
        <p:nvCxnSpPr>
          <p:cNvPr id="7" name="AutoShape 9" descr=" 7">
            <a:extLst>
              <a:ext uri="{FF2B5EF4-FFF2-40B4-BE49-F238E27FC236}">
                <a16:creationId xmlns:a16="http://schemas.microsoft.com/office/drawing/2014/main" id="{FB829A3E-4309-4B4E-91AE-79E4B807B46F}"/>
              </a:ext>
            </a:extLst>
          </p:cNvPr>
          <p:cNvCxnSpPr>
            <a:cxnSpLocks noChangeShapeType="1"/>
          </p:cNvCxnSpPr>
          <p:nvPr>
            <p:custDataLst>
              <p:tags r:id="rId8"/>
            </p:custDataLst>
          </p:nvPr>
        </p:nvCxnSpPr>
        <p:spPr bwMode="auto">
          <a:xfrm rot="5400000">
            <a:off x="2634457" y="3973203"/>
            <a:ext cx="217488" cy="1"/>
          </a:xfrm>
          <a:prstGeom prst="bentConnector3">
            <a:avLst>
              <a:gd name="adj1" fmla="val 50000"/>
            </a:avLst>
          </a:prstGeom>
          <a:noFill/>
          <a:ln w="12700">
            <a:solidFill>
              <a:schemeClr val="tx1"/>
            </a:solidFill>
            <a:miter lim="800000"/>
            <a:headEnd type="none" w="sm" len="sm"/>
            <a:tailEnd type="triangle" w="med" len="med"/>
          </a:ln>
        </p:spPr>
      </p:cxnSp>
      <p:sp>
        <p:nvSpPr>
          <p:cNvPr id="8" name="Line 10" descr=" 8">
            <a:extLst>
              <a:ext uri="{FF2B5EF4-FFF2-40B4-BE49-F238E27FC236}">
                <a16:creationId xmlns:a16="http://schemas.microsoft.com/office/drawing/2014/main" id="{3AE748C1-0FFF-4A5E-AD2C-71E099112ABD}"/>
              </a:ext>
            </a:extLst>
          </p:cNvPr>
          <p:cNvSpPr>
            <a:spLocks noChangeShapeType="1"/>
          </p:cNvSpPr>
          <p:nvPr>
            <p:custDataLst>
              <p:tags r:id="rId9"/>
            </p:custDataLst>
          </p:nvPr>
        </p:nvSpPr>
        <p:spPr bwMode="auto">
          <a:xfrm>
            <a:off x="2752165" y="4695005"/>
            <a:ext cx="0" cy="377825"/>
          </a:xfrm>
          <a:prstGeom prst="line">
            <a:avLst/>
          </a:prstGeom>
          <a:noFill/>
          <a:ln w="12700">
            <a:solidFill>
              <a:schemeClr val="tx1"/>
            </a:solidFill>
            <a:round/>
            <a:headEnd type="none" w="sm" len="sm"/>
            <a:tailEnd type="triangle" w="med" len="med"/>
          </a:ln>
        </p:spPr>
        <p:txBody>
          <a:bodyPr wrap="none" anchor="ctr"/>
          <a:lstStyle/>
          <a:p>
            <a:endParaRPr lang="en-US" dirty="0">
              <a:latin typeface="Calibri" pitchFamily="34" charset="0"/>
            </a:endParaRPr>
          </a:p>
        </p:txBody>
      </p:sp>
      <p:sp>
        <p:nvSpPr>
          <p:cNvPr id="9" name="Rectangle 14" descr=" 10">
            <a:extLst>
              <a:ext uri="{FF2B5EF4-FFF2-40B4-BE49-F238E27FC236}">
                <a16:creationId xmlns:a16="http://schemas.microsoft.com/office/drawing/2014/main" id="{19C9A5C2-82A6-4618-AEF4-D796B42B9D28}"/>
              </a:ext>
            </a:extLst>
          </p:cNvPr>
          <p:cNvSpPr>
            <a:spLocks noChangeArrowheads="1"/>
          </p:cNvSpPr>
          <p:nvPr>
            <p:custDataLst>
              <p:tags r:id="rId10"/>
            </p:custDataLst>
          </p:nvPr>
        </p:nvSpPr>
        <p:spPr bwMode="auto">
          <a:xfrm>
            <a:off x="5907741" y="3273165"/>
            <a:ext cx="833719" cy="574675"/>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P2</a:t>
            </a:r>
          </a:p>
        </p:txBody>
      </p:sp>
      <p:cxnSp>
        <p:nvCxnSpPr>
          <p:cNvPr id="10" name="AutoShape 17" descr=" 11">
            <a:extLst>
              <a:ext uri="{FF2B5EF4-FFF2-40B4-BE49-F238E27FC236}">
                <a16:creationId xmlns:a16="http://schemas.microsoft.com/office/drawing/2014/main" id="{E0521808-8B71-4CD4-9BE9-B6CFFD252860}"/>
              </a:ext>
            </a:extLst>
          </p:cNvPr>
          <p:cNvCxnSpPr>
            <a:cxnSpLocks noChangeShapeType="1"/>
            <a:stCxn id="9" idx="2"/>
            <a:endCxn id="15" idx="0"/>
          </p:cNvCxnSpPr>
          <p:nvPr>
            <p:custDataLst>
              <p:tags r:id="rId11"/>
            </p:custDataLst>
          </p:nvPr>
        </p:nvCxnSpPr>
        <p:spPr bwMode="auto">
          <a:xfrm rot="5400000">
            <a:off x="6210301" y="3962140"/>
            <a:ext cx="228600" cy="1"/>
          </a:xfrm>
          <a:prstGeom prst="bentConnector3">
            <a:avLst>
              <a:gd name="adj1" fmla="val 50000"/>
            </a:avLst>
          </a:prstGeom>
          <a:noFill/>
          <a:ln w="12700">
            <a:solidFill>
              <a:schemeClr val="tx1"/>
            </a:solidFill>
            <a:miter lim="800000"/>
            <a:headEnd type="none" w="sm" len="sm"/>
            <a:tailEnd type="triangle" w="med" len="med"/>
          </a:ln>
        </p:spPr>
      </p:cxnSp>
      <p:sp>
        <p:nvSpPr>
          <p:cNvPr id="11" name="Rectangle 21" descr=" 12">
            <a:extLst>
              <a:ext uri="{FF2B5EF4-FFF2-40B4-BE49-F238E27FC236}">
                <a16:creationId xmlns:a16="http://schemas.microsoft.com/office/drawing/2014/main" id="{33B0E5F3-06D7-4950-A1EE-7474D266FA9B}"/>
              </a:ext>
            </a:extLst>
          </p:cNvPr>
          <p:cNvSpPr>
            <a:spLocks noChangeArrowheads="1"/>
          </p:cNvSpPr>
          <p:nvPr>
            <p:custDataLst>
              <p:tags r:id="rId12"/>
            </p:custDataLst>
          </p:nvPr>
        </p:nvSpPr>
        <p:spPr bwMode="auto">
          <a:xfrm>
            <a:off x="3338278" y="5760778"/>
            <a:ext cx="2290141"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2000" dirty="0">
                <a:latin typeface="Calibri" pitchFamily="34" charset="0"/>
              </a:rPr>
              <a:t>X: 51,37</a:t>
            </a:r>
            <a:endParaRPr lang="en-US" sz="2400" dirty="0">
              <a:latin typeface="Calibri" pitchFamily="34" charset="0"/>
            </a:endParaRPr>
          </a:p>
        </p:txBody>
      </p:sp>
      <p:sp>
        <p:nvSpPr>
          <p:cNvPr id="12" name="Line 10" descr=" 13">
            <a:extLst>
              <a:ext uri="{FF2B5EF4-FFF2-40B4-BE49-F238E27FC236}">
                <a16:creationId xmlns:a16="http://schemas.microsoft.com/office/drawing/2014/main" id="{2766B6C8-0F2B-4CBE-B18A-2AA179550756}"/>
              </a:ext>
            </a:extLst>
          </p:cNvPr>
          <p:cNvSpPr>
            <a:spLocks noChangeShapeType="1"/>
          </p:cNvSpPr>
          <p:nvPr>
            <p:custDataLst>
              <p:tags r:id="rId13"/>
            </p:custDataLst>
          </p:nvPr>
        </p:nvSpPr>
        <p:spPr bwMode="auto">
          <a:xfrm>
            <a:off x="6324600" y="4686040"/>
            <a:ext cx="0" cy="377825"/>
          </a:xfrm>
          <a:prstGeom prst="line">
            <a:avLst/>
          </a:prstGeom>
          <a:noFill/>
          <a:ln w="12700">
            <a:solidFill>
              <a:schemeClr val="tx1"/>
            </a:solidFill>
            <a:round/>
            <a:headEnd type="none" w="sm" len="sm"/>
            <a:tailEnd type="triangle" w="med" len="med"/>
          </a:ln>
        </p:spPr>
        <p:txBody>
          <a:bodyPr wrap="none" anchor="ctr"/>
          <a:lstStyle/>
          <a:p>
            <a:endParaRPr lang="en-US" dirty="0">
              <a:latin typeface="Calibri" pitchFamily="34" charset="0"/>
            </a:endParaRPr>
          </a:p>
        </p:txBody>
      </p:sp>
      <p:cxnSp>
        <p:nvCxnSpPr>
          <p:cNvPr id="13" name="Straight Arrow Connector 12" descr=" 14">
            <a:extLst>
              <a:ext uri="{FF2B5EF4-FFF2-40B4-BE49-F238E27FC236}">
                <a16:creationId xmlns:a16="http://schemas.microsoft.com/office/drawing/2014/main" id="{942E8D10-FE0C-444F-BA46-F64AB115E845}"/>
              </a:ext>
            </a:extLst>
          </p:cNvPr>
          <p:cNvCxnSpPr>
            <a:stCxn id="5" idx="2"/>
            <a:endCxn id="11" idx="0"/>
          </p:cNvCxnSpPr>
          <p:nvPr/>
        </p:nvCxnSpPr>
        <p:spPr bwMode="auto">
          <a:xfrm rot="16200000" flipH="1">
            <a:off x="4326979" y="5604408"/>
            <a:ext cx="312738"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5" name="Rectangle 21" descr=" 16">
            <a:extLst>
              <a:ext uri="{FF2B5EF4-FFF2-40B4-BE49-F238E27FC236}">
                <a16:creationId xmlns:a16="http://schemas.microsoft.com/office/drawing/2014/main" id="{31A0AD37-7542-4F47-9814-213E540FEF69}"/>
              </a:ext>
            </a:extLst>
          </p:cNvPr>
          <p:cNvSpPr>
            <a:spLocks noChangeArrowheads="1"/>
          </p:cNvSpPr>
          <p:nvPr>
            <p:custDataLst>
              <p:tags r:id="rId14"/>
            </p:custDataLst>
          </p:nvPr>
        </p:nvSpPr>
        <p:spPr bwMode="auto">
          <a:xfrm>
            <a:off x="5715000" y="4076440"/>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2000" dirty="0">
                <a:latin typeface="Calibri" pitchFamily="34" charset="0"/>
              </a:rPr>
              <a:t>X: 51,40</a:t>
            </a:r>
            <a:endParaRPr lang="en-US" sz="2400" dirty="0">
              <a:latin typeface="Calibri" pitchFamily="34" charset="0"/>
            </a:endParaRPr>
          </a:p>
        </p:txBody>
      </p:sp>
      <p:sp>
        <p:nvSpPr>
          <p:cNvPr id="16" name="TextBox 15" descr=" 17">
            <a:extLst>
              <a:ext uri="{FF2B5EF4-FFF2-40B4-BE49-F238E27FC236}">
                <a16:creationId xmlns:a16="http://schemas.microsoft.com/office/drawing/2014/main" id="{EA522BB3-BBBD-4687-BCEB-E94B1A0F0D3E}"/>
              </a:ext>
            </a:extLst>
          </p:cNvPr>
          <p:cNvSpPr txBox="1"/>
          <p:nvPr>
            <p:custDataLst>
              <p:tags r:id="rId15"/>
            </p:custDataLst>
          </p:nvPr>
        </p:nvSpPr>
        <p:spPr>
          <a:xfrm>
            <a:off x="5638800" y="6057640"/>
            <a:ext cx="1373518" cy="338554"/>
          </a:xfrm>
          <a:prstGeom prst="rect">
            <a:avLst/>
          </a:prstGeom>
          <a:noFill/>
        </p:spPr>
        <p:txBody>
          <a:bodyPr wrap="none" rtlCol="0">
            <a:spAutoFit/>
          </a:bodyPr>
          <a:lstStyle/>
          <a:p>
            <a:r>
              <a:rPr lang="en-US" sz="1600" dirty="0">
                <a:latin typeface="+mn-lt"/>
              </a:rPr>
              <a:t>Main Memory</a:t>
            </a:r>
          </a:p>
        </p:txBody>
      </p:sp>
      <p:sp>
        <p:nvSpPr>
          <p:cNvPr id="17" name="Rectangle 22" descr=" 24">
            <a:extLst>
              <a:ext uri="{FF2B5EF4-FFF2-40B4-BE49-F238E27FC236}">
                <a16:creationId xmlns:a16="http://schemas.microsoft.com/office/drawing/2014/main" id="{A90CB2CB-1A09-4341-A1E3-CBF2F3A75203}"/>
              </a:ext>
            </a:extLst>
          </p:cNvPr>
          <p:cNvSpPr>
            <a:spLocks noChangeArrowheads="1"/>
          </p:cNvSpPr>
          <p:nvPr>
            <p:custDataLst>
              <p:tags r:id="rId16"/>
            </p:custDataLst>
          </p:nvPr>
        </p:nvSpPr>
        <p:spPr bwMode="auto">
          <a:xfrm>
            <a:off x="2133600" y="4381240"/>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18" name="Rectangle 22" descr=" 25">
            <a:extLst>
              <a:ext uri="{FF2B5EF4-FFF2-40B4-BE49-F238E27FC236}">
                <a16:creationId xmlns:a16="http://schemas.microsoft.com/office/drawing/2014/main" id="{DF4A33AA-A93B-40BE-AEC9-149E924A2C29}"/>
              </a:ext>
            </a:extLst>
          </p:cNvPr>
          <p:cNvSpPr>
            <a:spLocks noChangeArrowheads="1"/>
          </p:cNvSpPr>
          <p:nvPr>
            <p:custDataLst>
              <p:tags r:id="rId17"/>
            </p:custDataLst>
          </p:nvPr>
        </p:nvSpPr>
        <p:spPr bwMode="auto">
          <a:xfrm>
            <a:off x="5715000" y="4392352"/>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19" name="Rectangle 22" descr=" 26">
            <a:extLst>
              <a:ext uri="{FF2B5EF4-FFF2-40B4-BE49-F238E27FC236}">
                <a16:creationId xmlns:a16="http://schemas.microsoft.com/office/drawing/2014/main" id="{7925C335-3B0E-40B4-837E-DE3758F69EB2}"/>
              </a:ext>
            </a:extLst>
          </p:cNvPr>
          <p:cNvSpPr>
            <a:spLocks noChangeArrowheads="1"/>
          </p:cNvSpPr>
          <p:nvPr>
            <p:custDataLst>
              <p:tags r:id="rId18"/>
            </p:custDataLst>
          </p:nvPr>
        </p:nvSpPr>
        <p:spPr bwMode="auto">
          <a:xfrm>
            <a:off x="3338278" y="6076690"/>
            <a:ext cx="2290141"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20" name="Text Box 11" descr=" 9">
            <a:extLst>
              <a:ext uri="{FF2B5EF4-FFF2-40B4-BE49-F238E27FC236}">
                <a16:creationId xmlns:a16="http://schemas.microsoft.com/office/drawing/2014/main" id="{79F72ADC-1F7B-4F47-8FFC-1DA0B1E8AD0C}"/>
              </a:ext>
            </a:extLst>
          </p:cNvPr>
          <p:cNvSpPr txBox="1">
            <a:spLocks noChangeArrowheads="1"/>
          </p:cNvSpPr>
          <p:nvPr>
            <p:custDataLst>
              <p:tags r:id="rId19"/>
            </p:custDataLst>
          </p:nvPr>
        </p:nvSpPr>
        <p:spPr bwMode="auto">
          <a:xfrm>
            <a:off x="7086600" y="3986706"/>
            <a:ext cx="1806905"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1: </a:t>
            </a:r>
            <a:r>
              <a:rPr lang="en-US" sz="2000" dirty="0">
                <a:latin typeface="Calibri" pitchFamily="34" charset="0"/>
              </a:rPr>
              <a:t>Load X[0]=51</a:t>
            </a:r>
          </a:p>
        </p:txBody>
      </p:sp>
      <p:sp>
        <p:nvSpPr>
          <p:cNvPr id="21" name="Text Box 11" descr=" 9">
            <a:extLst>
              <a:ext uri="{FF2B5EF4-FFF2-40B4-BE49-F238E27FC236}">
                <a16:creationId xmlns:a16="http://schemas.microsoft.com/office/drawing/2014/main" id="{79294125-0F02-4103-8308-22D5EA6B7D0B}"/>
              </a:ext>
            </a:extLst>
          </p:cNvPr>
          <p:cNvSpPr txBox="1">
            <a:spLocks noChangeArrowheads="1"/>
          </p:cNvSpPr>
          <p:nvPr>
            <p:custDataLst>
              <p:tags r:id="rId20"/>
            </p:custDataLst>
          </p:nvPr>
        </p:nvSpPr>
        <p:spPr bwMode="auto">
          <a:xfrm>
            <a:off x="304800" y="3398808"/>
            <a:ext cx="1858714"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2: </a:t>
            </a:r>
            <a:r>
              <a:rPr lang="en-US" sz="2000" dirty="0">
                <a:latin typeface="Calibri" pitchFamily="34" charset="0"/>
              </a:rPr>
              <a:t>Store X[1]=37</a:t>
            </a:r>
          </a:p>
        </p:txBody>
      </p:sp>
      <p:sp>
        <p:nvSpPr>
          <p:cNvPr id="24" name="TextBox 23">
            <a:extLst>
              <a:ext uri="{FF2B5EF4-FFF2-40B4-BE49-F238E27FC236}">
                <a16:creationId xmlns:a16="http://schemas.microsoft.com/office/drawing/2014/main" id="{1C80FA51-E971-43AA-823E-6F8D03B08493}"/>
              </a:ext>
            </a:extLst>
          </p:cNvPr>
          <p:cNvSpPr txBox="1"/>
          <p:nvPr>
            <p:custDataLst>
              <p:tags r:id="rId21"/>
            </p:custDataLst>
          </p:nvPr>
        </p:nvSpPr>
        <p:spPr>
          <a:xfrm>
            <a:off x="6629400" y="4999741"/>
            <a:ext cx="2437082" cy="560717"/>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wrong value!</a:t>
            </a:r>
          </a:p>
        </p:txBody>
      </p:sp>
      <p:cxnSp>
        <p:nvCxnSpPr>
          <p:cNvPr id="25" name="Straight Connector 24">
            <a:extLst>
              <a:ext uri="{FF2B5EF4-FFF2-40B4-BE49-F238E27FC236}">
                <a16:creationId xmlns:a16="http://schemas.microsoft.com/office/drawing/2014/main" id="{398F03FC-566C-4ECA-857A-7213A290A3F1}"/>
              </a:ext>
            </a:extLst>
          </p:cNvPr>
          <p:cNvCxnSpPr>
            <a:cxnSpLocks/>
          </p:cNvCxnSpPr>
          <p:nvPr/>
        </p:nvCxnSpPr>
        <p:spPr>
          <a:xfrm flipV="1">
            <a:off x="7923482" y="4648200"/>
            <a:ext cx="650259" cy="531258"/>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 Box 11" descr=" 9">
            <a:extLst>
              <a:ext uri="{FF2B5EF4-FFF2-40B4-BE49-F238E27FC236}">
                <a16:creationId xmlns:a16="http://schemas.microsoft.com/office/drawing/2014/main" id="{1815B68E-21A2-4B6C-8348-3EC31B268C3E}"/>
              </a:ext>
            </a:extLst>
          </p:cNvPr>
          <p:cNvSpPr txBox="1">
            <a:spLocks noChangeArrowheads="1"/>
          </p:cNvSpPr>
          <p:nvPr>
            <p:custDataLst>
              <p:tags r:id="rId22"/>
            </p:custDataLst>
          </p:nvPr>
        </p:nvSpPr>
        <p:spPr bwMode="auto">
          <a:xfrm>
            <a:off x="7086599" y="4325815"/>
            <a:ext cx="1806905"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3: </a:t>
            </a:r>
            <a:r>
              <a:rPr lang="en-US" sz="2000" dirty="0">
                <a:latin typeface="Calibri" pitchFamily="34" charset="0"/>
              </a:rPr>
              <a:t>Load X[1]=40</a:t>
            </a:r>
          </a:p>
        </p:txBody>
      </p:sp>
    </p:spTree>
    <p:custDataLst>
      <p:tags r:id="rId1"/>
    </p:custDataLst>
    <p:extLst>
      <p:ext uri="{BB962C8B-B14F-4D97-AF65-F5344CB8AC3E}">
        <p14:creationId xmlns:p14="http://schemas.microsoft.com/office/powerpoint/2010/main" val="34571266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1" descr=" 15">
            <a:extLst>
              <a:ext uri="{FF2B5EF4-FFF2-40B4-BE49-F238E27FC236}">
                <a16:creationId xmlns:a16="http://schemas.microsoft.com/office/drawing/2014/main" id="{CE3BB417-CEC1-4317-A0F5-A75A0B0D8AC7}"/>
              </a:ext>
            </a:extLst>
          </p:cNvPr>
          <p:cNvSpPr>
            <a:spLocks noChangeArrowheads="1"/>
          </p:cNvSpPr>
          <p:nvPr>
            <p:custDataLst>
              <p:tags r:id="rId2"/>
            </p:custDataLst>
          </p:nvPr>
        </p:nvSpPr>
        <p:spPr bwMode="auto">
          <a:xfrm>
            <a:off x="2133600" y="4081947"/>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2000" dirty="0">
                <a:latin typeface="Calibri" pitchFamily="34" charset="0"/>
              </a:rPr>
              <a:t>X: </a:t>
            </a:r>
            <a:r>
              <a:rPr lang="en-US" sz="2000" b="1" dirty="0">
                <a:latin typeface="Calibri" pitchFamily="34" charset="0"/>
              </a:rPr>
              <a:t>6</a:t>
            </a:r>
            <a:r>
              <a:rPr lang="en-US" sz="2000" dirty="0">
                <a:latin typeface="Calibri" pitchFamily="34" charset="0"/>
              </a:rPr>
              <a:t>,37</a:t>
            </a:r>
            <a:endParaRPr lang="en-US" sz="2400" dirty="0">
              <a:latin typeface="Calibri" pitchFamily="34" charset="0"/>
            </a:endParaRPr>
          </a:p>
        </p:txBody>
      </p:sp>
      <p:sp>
        <p:nvSpPr>
          <p:cNvPr id="2055"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Cache Coherence Problem</a:t>
            </a:r>
          </a:p>
        </p:txBody>
      </p:sp>
      <p:sp>
        <p:nvSpPr>
          <p:cNvPr id="2056" name="Rectangle 3"/>
          <p:cNvSpPr>
            <a:spLocks noGrp="1" noChangeArrowheads="1"/>
          </p:cNvSpPr>
          <p:nvPr>
            <p:ph idx="1"/>
            <p:custDataLst>
              <p:tags r:id="rId4"/>
            </p:custDataLst>
          </p:nvPr>
        </p:nvSpPr>
        <p:spPr>
          <a:xfrm>
            <a:off x="682625" y="1600200"/>
            <a:ext cx="8308975" cy="1295400"/>
          </a:xfrm>
        </p:spPr>
        <p:txBody>
          <a:bodyPr/>
          <a:lstStyle/>
          <a:p>
            <a:pPr marL="0" indent="0">
              <a:lnSpc>
                <a:spcPct val="80000"/>
              </a:lnSpc>
              <a:buNone/>
            </a:pPr>
            <a:r>
              <a:rPr lang="en-US" altLang="en-US" sz="2800" dirty="0"/>
              <a:t>A block X can exist in multiple </a:t>
            </a:r>
            <a:r>
              <a:rPr lang="en-US" altLang="en-US" sz="2800" b="1" dirty="0"/>
              <a:t>private</a:t>
            </a:r>
            <a:r>
              <a:rPr lang="en-US" altLang="en-US" sz="2800" dirty="0"/>
              <a:t> caches at any given moment. If one core modifies X, unless other cores are immediately made aware of this change, the other cores may read the </a:t>
            </a:r>
            <a:r>
              <a:rPr lang="en-US" altLang="en-US" sz="2800" b="1" dirty="0"/>
              <a:t>stale (wrong) </a:t>
            </a:r>
            <a:r>
              <a:rPr lang="en-US" altLang="en-US" sz="2800" dirty="0"/>
              <a:t>contents of X.</a:t>
            </a:r>
          </a:p>
        </p:txBody>
      </p:sp>
      <p:sp>
        <p:nvSpPr>
          <p:cNvPr id="2054" name="Slide Number Placeholder 5"/>
          <p:cNvSpPr>
            <a:spLocks noGrp="1"/>
          </p:cNvSpPr>
          <p:nvPr>
            <p:ph type="sldNum" sz="quarter" idx="12"/>
            <p:custDataLst>
              <p:tags r:id="rId5"/>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8</a:t>
            </a:fld>
            <a:endParaRPr lang="en-US" altLang="en-US"/>
          </a:p>
        </p:txBody>
      </p:sp>
      <p:sp>
        <p:nvSpPr>
          <p:cNvPr id="5" name="Rectangle 4" descr=" 5">
            <a:extLst>
              <a:ext uri="{FF2B5EF4-FFF2-40B4-BE49-F238E27FC236}">
                <a16:creationId xmlns:a16="http://schemas.microsoft.com/office/drawing/2014/main" id="{EDE355B8-E286-4696-8B42-B19B51166A6E}"/>
              </a:ext>
            </a:extLst>
          </p:cNvPr>
          <p:cNvSpPr>
            <a:spLocks noChangeArrowheads="1"/>
          </p:cNvSpPr>
          <p:nvPr>
            <p:custDataLst>
              <p:tags r:id="rId6"/>
            </p:custDataLst>
          </p:nvPr>
        </p:nvSpPr>
        <p:spPr bwMode="auto">
          <a:xfrm>
            <a:off x="2462806" y="5071802"/>
            <a:ext cx="4041084" cy="376238"/>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Bus</a:t>
            </a:r>
          </a:p>
        </p:txBody>
      </p:sp>
      <p:sp>
        <p:nvSpPr>
          <p:cNvPr id="6" name="Rectangle 6" descr=" 6">
            <a:extLst>
              <a:ext uri="{FF2B5EF4-FFF2-40B4-BE49-F238E27FC236}">
                <a16:creationId xmlns:a16="http://schemas.microsoft.com/office/drawing/2014/main" id="{D69625F6-D9BC-4773-B8F3-4888CE62BED5}"/>
              </a:ext>
            </a:extLst>
          </p:cNvPr>
          <p:cNvSpPr>
            <a:spLocks noChangeArrowheads="1"/>
          </p:cNvSpPr>
          <p:nvPr>
            <p:custDataLst>
              <p:tags r:id="rId7"/>
            </p:custDataLst>
          </p:nvPr>
        </p:nvSpPr>
        <p:spPr bwMode="auto">
          <a:xfrm>
            <a:off x="2326341" y="3273165"/>
            <a:ext cx="833719" cy="574675"/>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P1</a:t>
            </a:r>
          </a:p>
        </p:txBody>
      </p:sp>
      <p:cxnSp>
        <p:nvCxnSpPr>
          <p:cNvPr id="7" name="AutoShape 9" descr=" 7">
            <a:extLst>
              <a:ext uri="{FF2B5EF4-FFF2-40B4-BE49-F238E27FC236}">
                <a16:creationId xmlns:a16="http://schemas.microsoft.com/office/drawing/2014/main" id="{FB829A3E-4309-4B4E-91AE-79E4B807B46F}"/>
              </a:ext>
            </a:extLst>
          </p:cNvPr>
          <p:cNvCxnSpPr>
            <a:cxnSpLocks noChangeShapeType="1"/>
          </p:cNvCxnSpPr>
          <p:nvPr>
            <p:custDataLst>
              <p:tags r:id="rId8"/>
            </p:custDataLst>
          </p:nvPr>
        </p:nvCxnSpPr>
        <p:spPr bwMode="auto">
          <a:xfrm rot="5400000">
            <a:off x="2634457" y="3973203"/>
            <a:ext cx="217488" cy="1"/>
          </a:xfrm>
          <a:prstGeom prst="bentConnector3">
            <a:avLst>
              <a:gd name="adj1" fmla="val 50000"/>
            </a:avLst>
          </a:prstGeom>
          <a:noFill/>
          <a:ln w="12700">
            <a:solidFill>
              <a:schemeClr val="tx1"/>
            </a:solidFill>
            <a:miter lim="800000"/>
            <a:headEnd type="none" w="sm" len="sm"/>
            <a:tailEnd type="triangle" w="med" len="med"/>
          </a:ln>
        </p:spPr>
      </p:cxnSp>
      <p:sp>
        <p:nvSpPr>
          <p:cNvPr id="8" name="Line 10" descr=" 8">
            <a:extLst>
              <a:ext uri="{FF2B5EF4-FFF2-40B4-BE49-F238E27FC236}">
                <a16:creationId xmlns:a16="http://schemas.microsoft.com/office/drawing/2014/main" id="{3AE748C1-0FFF-4A5E-AD2C-71E099112ABD}"/>
              </a:ext>
            </a:extLst>
          </p:cNvPr>
          <p:cNvSpPr>
            <a:spLocks noChangeShapeType="1"/>
          </p:cNvSpPr>
          <p:nvPr>
            <p:custDataLst>
              <p:tags r:id="rId9"/>
            </p:custDataLst>
          </p:nvPr>
        </p:nvSpPr>
        <p:spPr bwMode="auto">
          <a:xfrm>
            <a:off x="2752165" y="4695005"/>
            <a:ext cx="0" cy="377825"/>
          </a:xfrm>
          <a:prstGeom prst="line">
            <a:avLst/>
          </a:prstGeom>
          <a:noFill/>
          <a:ln w="12700">
            <a:solidFill>
              <a:schemeClr val="tx1"/>
            </a:solidFill>
            <a:round/>
            <a:headEnd type="none" w="sm" len="sm"/>
            <a:tailEnd type="triangle" w="med" len="med"/>
          </a:ln>
        </p:spPr>
        <p:txBody>
          <a:bodyPr wrap="none" anchor="ctr"/>
          <a:lstStyle/>
          <a:p>
            <a:endParaRPr lang="en-US" dirty="0">
              <a:latin typeface="Calibri" pitchFamily="34" charset="0"/>
            </a:endParaRPr>
          </a:p>
        </p:txBody>
      </p:sp>
      <p:sp>
        <p:nvSpPr>
          <p:cNvPr id="9" name="Rectangle 14" descr=" 10">
            <a:extLst>
              <a:ext uri="{FF2B5EF4-FFF2-40B4-BE49-F238E27FC236}">
                <a16:creationId xmlns:a16="http://schemas.microsoft.com/office/drawing/2014/main" id="{19C9A5C2-82A6-4618-AEF4-D796B42B9D28}"/>
              </a:ext>
            </a:extLst>
          </p:cNvPr>
          <p:cNvSpPr>
            <a:spLocks noChangeArrowheads="1"/>
          </p:cNvSpPr>
          <p:nvPr>
            <p:custDataLst>
              <p:tags r:id="rId10"/>
            </p:custDataLst>
          </p:nvPr>
        </p:nvSpPr>
        <p:spPr bwMode="auto">
          <a:xfrm>
            <a:off x="5907741" y="3273165"/>
            <a:ext cx="833719" cy="574675"/>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P2</a:t>
            </a:r>
          </a:p>
        </p:txBody>
      </p:sp>
      <p:cxnSp>
        <p:nvCxnSpPr>
          <p:cNvPr id="10" name="AutoShape 17" descr=" 11">
            <a:extLst>
              <a:ext uri="{FF2B5EF4-FFF2-40B4-BE49-F238E27FC236}">
                <a16:creationId xmlns:a16="http://schemas.microsoft.com/office/drawing/2014/main" id="{E0521808-8B71-4CD4-9BE9-B6CFFD252860}"/>
              </a:ext>
            </a:extLst>
          </p:cNvPr>
          <p:cNvCxnSpPr>
            <a:cxnSpLocks noChangeShapeType="1"/>
            <a:stCxn id="9" idx="2"/>
            <a:endCxn id="15" idx="0"/>
          </p:cNvCxnSpPr>
          <p:nvPr>
            <p:custDataLst>
              <p:tags r:id="rId11"/>
            </p:custDataLst>
          </p:nvPr>
        </p:nvCxnSpPr>
        <p:spPr bwMode="auto">
          <a:xfrm rot="5400000">
            <a:off x="6210301" y="3962140"/>
            <a:ext cx="228600" cy="1"/>
          </a:xfrm>
          <a:prstGeom prst="bentConnector3">
            <a:avLst>
              <a:gd name="adj1" fmla="val 50000"/>
            </a:avLst>
          </a:prstGeom>
          <a:noFill/>
          <a:ln w="12700">
            <a:solidFill>
              <a:schemeClr val="tx1"/>
            </a:solidFill>
            <a:miter lim="800000"/>
            <a:headEnd type="none" w="sm" len="sm"/>
            <a:tailEnd type="triangle" w="med" len="med"/>
          </a:ln>
        </p:spPr>
      </p:cxnSp>
      <p:sp>
        <p:nvSpPr>
          <p:cNvPr id="11" name="Rectangle 21" descr=" 12">
            <a:extLst>
              <a:ext uri="{FF2B5EF4-FFF2-40B4-BE49-F238E27FC236}">
                <a16:creationId xmlns:a16="http://schemas.microsoft.com/office/drawing/2014/main" id="{33B0E5F3-06D7-4950-A1EE-7474D266FA9B}"/>
              </a:ext>
            </a:extLst>
          </p:cNvPr>
          <p:cNvSpPr>
            <a:spLocks noChangeArrowheads="1"/>
          </p:cNvSpPr>
          <p:nvPr>
            <p:custDataLst>
              <p:tags r:id="rId12"/>
            </p:custDataLst>
          </p:nvPr>
        </p:nvSpPr>
        <p:spPr bwMode="auto">
          <a:xfrm>
            <a:off x="3338278" y="5760778"/>
            <a:ext cx="2290141"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2000" dirty="0">
                <a:latin typeface="Calibri" pitchFamily="34" charset="0"/>
              </a:rPr>
              <a:t>X: </a:t>
            </a:r>
            <a:r>
              <a:rPr lang="en-US" sz="2000" b="1" dirty="0">
                <a:latin typeface="Calibri" pitchFamily="34" charset="0"/>
              </a:rPr>
              <a:t>6</a:t>
            </a:r>
            <a:r>
              <a:rPr lang="en-US" sz="2000" dirty="0">
                <a:latin typeface="Calibri" pitchFamily="34" charset="0"/>
              </a:rPr>
              <a:t>,37</a:t>
            </a:r>
            <a:endParaRPr lang="en-US" sz="2400" dirty="0">
              <a:latin typeface="Calibri" pitchFamily="34" charset="0"/>
            </a:endParaRPr>
          </a:p>
        </p:txBody>
      </p:sp>
      <p:sp>
        <p:nvSpPr>
          <p:cNvPr id="12" name="Line 10" descr=" 13">
            <a:extLst>
              <a:ext uri="{FF2B5EF4-FFF2-40B4-BE49-F238E27FC236}">
                <a16:creationId xmlns:a16="http://schemas.microsoft.com/office/drawing/2014/main" id="{2766B6C8-0F2B-4CBE-B18A-2AA179550756}"/>
              </a:ext>
            </a:extLst>
          </p:cNvPr>
          <p:cNvSpPr>
            <a:spLocks noChangeShapeType="1"/>
          </p:cNvSpPr>
          <p:nvPr>
            <p:custDataLst>
              <p:tags r:id="rId13"/>
            </p:custDataLst>
          </p:nvPr>
        </p:nvSpPr>
        <p:spPr bwMode="auto">
          <a:xfrm>
            <a:off x="6324600" y="4686040"/>
            <a:ext cx="0" cy="377825"/>
          </a:xfrm>
          <a:prstGeom prst="line">
            <a:avLst/>
          </a:prstGeom>
          <a:noFill/>
          <a:ln w="12700">
            <a:solidFill>
              <a:schemeClr val="tx1"/>
            </a:solidFill>
            <a:round/>
            <a:headEnd type="none" w="sm" len="sm"/>
            <a:tailEnd type="triangle" w="med" len="med"/>
          </a:ln>
        </p:spPr>
        <p:txBody>
          <a:bodyPr wrap="none" anchor="ctr"/>
          <a:lstStyle/>
          <a:p>
            <a:endParaRPr lang="en-US" dirty="0">
              <a:latin typeface="Calibri" pitchFamily="34" charset="0"/>
            </a:endParaRPr>
          </a:p>
        </p:txBody>
      </p:sp>
      <p:cxnSp>
        <p:nvCxnSpPr>
          <p:cNvPr id="13" name="Straight Arrow Connector 12" descr=" 14">
            <a:extLst>
              <a:ext uri="{FF2B5EF4-FFF2-40B4-BE49-F238E27FC236}">
                <a16:creationId xmlns:a16="http://schemas.microsoft.com/office/drawing/2014/main" id="{942E8D10-FE0C-444F-BA46-F64AB115E845}"/>
              </a:ext>
            </a:extLst>
          </p:cNvPr>
          <p:cNvCxnSpPr>
            <a:stCxn id="5" idx="2"/>
            <a:endCxn id="11" idx="0"/>
          </p:cNvCxnSpPr>
          <p:nvPr/>
        </p:nvCxnSpPr>
        <p:spPr bwMode="auto">
          <a:xfrm rot="16200000" flipH="1">
            <a:off x="4326979" y="5604408"/>
            <a:ext cx="312738"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5" name="Rectangle 21" descr=" 16">
            <a:extLst>
              <a:ext uri="{FF2B5EF4-FFF2-40B4-BE49-F238E27FC236}">
                <a16:creationId xmlns:a16="http://schemas.microsoft.com/office/drawing/2014/main" id="{31A0AD37-7542-4F47-9814-213E540FEF69}"/>
              </a:ext>
            </a:extLst>
          </p:cNvPr>
          <p:cNvSpPr>
            <a:spLocks noChangeArrowheads="1"/>
          </p:cNvSpPr>
          <p:nvPr>
            <p:custDataLst>
              <p:tags r:id="rId14"/>
            </p:custDataLst>
          </p:nvPr>
        </p:nvSpPr>
        <p:spPr bwMode="auto">
          <a:xfrm>
            <a:off x="5715000" y="4076440"/>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2000" dirty="0">
                <a:latin typeface="Calibri" pitchFamily="34" charset="0"/>
              </a:rPr>
              <a:t>X: 51,40</a:t>
            </a:r>
            <a:endParaRPr lang="en-US" sz="2400" dirty="0">
              <a:latin typeface="Calibri" pitchFamily="34" charset="0"/>
            </a:endParaRPr>
          </a:p>
        </p:txBody>
      </p:sp>
      <p:sp>
        <p:nvSpPr>
          <p:cNvPr id="16" name="TextBox 15" descr=" 17">
            <a:extLst>
              <a:ext uri="{FF2B5EF4-FFF2-40B4-BE49-F238E27FC236}">
                <a16:creationId xmlns:a16="http://schemas.microsoft.com/office/drawing/2014/main" id="{EA522BB3-BBBD-4687-BCEB-E94B1A0F0D3E}"/>
              </a:ext>
            </a:extLst>
          </p:cNvPr>
          <p:cNvSpPr txBox="1"/>
          <p:nvPr>
            <p:custDataLst>
              <p:tags r:id="rId15"/>
            </p:custDataLst>
          </p:nvPr>
        </p:nvSpPr>
        <p:spPr>
          <a:xfrm>
            <a:off x="5638800" y="6057640"/>
            <a:ext cx="1373518" cy="338554"/>
          </a:xfrm>
          <a:prstGeom prst="rect">
            <a:avLst/>
          </a:prstGeom>
          <a:noFill/>
        </p:spPr>
        <p:txBody>
          <a:bodyPr wrap="none" rtlCol="0">
            <a:spAutoFit/>
          </a:bodyPr>
          <a:lstStyle/>
          <a:p>
            <a:r>
              <a:rPr lang="en-US" sz="1600" dirty="0">
                <a:latin typeface="+mn-lt"/>
              </a:rPr>
              <a:t>Main Memory</a:t>
            </a:r>
          </a:p>
        </p:txBody>
      </p:sp>
      <p:sp>
        <p:nvSpPr>
          <p:cNvPr id="17" name="Rectangle 22" descr=" 24">
            <a:extLst>
              <a:ext uri="{FF2B5EF4-FFF2-40B4-BE49-F238E27FC236}">
                <a16:creationId xmlns:a16="http://schemas.microsoft.com/office/drawing/2014/main" id="{A90CB2CB-1A09-4341-A1E3-CBF2F3A75203}"/>
              </a:ext>
            </a:extLst>
          </p:cNvPr>
          <p:cNvSpPr>
            <a:spLocks noChangeArrowheads="1"/>
          </p:cNvSpPr>
          <p:nvPr>
            <p:custDataLst>
              <p:tags r:id="rId16"/>
            </p:custDataLst>
          </p:nvPr>
        </p:nvSpPr>
        <p:spPr bwMode="auto">
          <a:xfrm>
            <a:off x="2133600" y="4381240"/>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18" name="Rectangle 22" descr=" 25">
            <a:extLst>
              <a:ext uri="{FF2B5EF4-FFF2-40B4-BE49-F238E27FC236}">
                <a16:creationId xmlns:a16="http://schemas.microsoft.com/office/drawing/2014/main" id="{DF4A33AA-A93B-40BE-AEC9-149E924A2C29}"/>
              </a:ext>
            </a:extLst>
          </p:cNvPr>
          <p:cNvSpPr>
            <a:spLocks noChangeArrowheads="1"/>
          </p:cNvSpPr>
          <p:nvPr>
            <p:custDataLst>
              <p:tags r:id="rId17"/>
            </p:custDataLst>
          </p:nvPr>
        </p:nvSpPr>
        <p:spPr bwMode="auto">
          <a:xfrm>
            <a:off x="5715000" y="4392352"/>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19" name="Rectangle 22" descr=" 26">
            <a:extLst>
              <a:ext uri="{FF2B5EF4-FFF2-40B4-BE49-F238E27FC236}">
                <a16:creationId xmlns:a16="http://schemas.microsoft.com/office/drawing/2014/main" id="{7925C335-3B0E-40B4-837E-DE3758F69EB2}"/>
              </a:ext>
            </a:extLst>
          </p:cNvPr>
          <p:cNvSpPr>
            <a:spLocks noChangeArrowheads="1"/>
          </p:cNvSpPr>
          <p:nvPr>
            <p:custDataLst>
              <p:tags r:id="rId18"/>
            </p:custDataLst>
          </p:nvPr>
        </p:nvSpPr>
        <p:spPr bwMode="auto">
          <a:xfrm>
            <a:off x="3338278" y="6076690"/>
            <a:ext cx="2290141"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20" name="Text Box 11" descr=" 9">
            <a:extLst>
              <a:ext uri="{FF2B5EF4-FFF2-40B4-BE49-F238E27FC236}">
                <a16:creationId xmlns:a16="http://schemas.microsoft.com/office/drawing/2014/main" id="{79F72ADC-1F7B-4F47-8FFC-1DA0B1E8AD0C}"/>
              </a:ext>
            </a:extLst>
          </p:cNvPr>
          <p:cNvSpPr txBox="1">
            <a:spLocks noChangeArrowheads="1"/>
          </p:cNvSpPr>
          <p:nvPr>
            <p:custDataLst>
              <p:tags r:id="rId19"/>
            </p:custDataLst>
          </p:nvPr>
        </p:nvSpPr>
        <p:spPr bwMode="auto">
          <a:xfrm>
            <a:off x="7086600" y="3986706"/>
            <a:ext cx="1806905"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1: </a:t>
            </a:r>
            <a:r>
              <a:rPr lang="en-US" sz="2000" dirty="0">
                <a:latin typeface="Calibri" pitchFamily="34" charset="0"/>
              </a:rPr>
              <a:t>Load X[0]=51</a:t>
            </a:r>
          </a:p>
        </p:txBody>
      </p:sp>
      <p:sp>
        <p:nvSpPr>
          <p:cNvPr id="21" name="Text Box 11" descr=" 9">
            <a:extLst>
              <a:ext uri="{FF2B5EF4-FFF2-40B4-BE49-F238E27FC236}">
                <a16:creationId xmlns:a16="http://schemas.microsoft.com/office/drawing/2014/main" id="{79294125-0F02-4103-8308-22D5EA6B7D0B}"/>
              </a:ext>
            </a:extLst>
          </p:cNvPr>
          <p:cNvSpPr txBox="1">
            <a:spLocks noChangeArrowheads="1"/>
          </p:cNvSpPr>
          <p:nvPr>
            <p:custDataLst>
              <p:tags r:id="rId20"/>
            </p:custDataLst>
          </p:nvPr>
        </p:nvSpPr>
        <p:spPr bwMode="auto">
          <a:xfrm>
            <a:off x="304800" y="3398808"/>
            <a:ext cx="1858714"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2: </a:t>
            </a:r>
            <a:r>
              <a:rPr lang="en-US" sz="2000" dirty="0">
                <a:latin typeface="Calibri" pitchFamily="34" charset="0"/>
              </a:rPr>
              <a:t>Store X[1]=37</a:t>
            </a:r>
          </a:p>
        </p:txBody>
      </p:sp>
      <p:sp>
        <p:nvSpPr>
          <p:cNvPr id="26" name="Text Box 11" descr=" 9">
            <a:extLst>
              <a:ext uri="{FF2B5EF4-FFF2-40B4-BE49-F238E27FC236}">
                <a16:creationId xmlns:a16="http://schemas.microsoft.com/office/drawing/2014/main" id="{1815B68E-21A2-4B6C-8348-3EC31B268C3E}"/>
              </a:ext>
            </a:extLst>
          </p:cNvPr>
          <p:cNvSpPr txBox="1">
            <a:spLocks noChangeArrowheads="1"/>
          </p:cNvSpPr>
          <p:nvPr>
            <p:custDataLst>
              <p:tags r:id="rId21"/>
            </p:custDataLst>
          </p:nvPr>
        </p:nvSpPr>
        <p:spPr bwMode="auto">
          <a:xfrm>
            <a:off x="7086599" y="4325815"/>
            <a:ext cx="1806905"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3: </a:t>
            </a:r>
            <a:r>
              <a:rPr lang="en-US" sz="2000" dirty="0">
                <a:latin typeface="Calibri" pitchFamily="34" charset="0"/>
              </a:rPr>
              <a:t>Load X[1]=40</a:t>
            </a:r>
          </a:p>
        </p:txBody>
      </p:sp>
      <p:sp>
        <p:nvSpPr>
          <p:cNvPr id="2" name="Text Box 11" descr=" 9">
            <a:extLst>
              <a:ext uri="{FF2B5EF4-FFF2-40B4-BE49-F238E27FC236}">
                <a16:creationId xmlns:a16="http://schemas.microsoft.com/office/drawing/2014/main" id="{F6BDCB20-52CE-ED21-386B-30EAA7BFADCD}"/>
              </a:ext>
            </a:extLst>
          </p:cNvPr>
          <p:cNvSpPr txBox="1">
            <a:spLocks noChangeArrowheads="1"/>
          </p:cNvSpPr>
          <p:nvPr>
            <p:custDataLst>
              <p:tags r:id="rId22"/>
            </p:custDataLst>
          </p:nvPr>
        </p:nvSpPr>
        <p:spPr bwMode="auto">
          <a:xfrm>
            <a:off x="304800" y="3762085"/>
            <a:ext cx="1728871"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4: </a:t>
            </a:r>
            <a:r>
              <a:rPr lang="en-US" sz="2000" dirty="0">
                <a:latin typeface="Calibri" pitchFamily="34" charset="0"/>
              </a:rPr>
              <a:t>Store X[0]=6</a:t>
            </a:r>
          </a:p>
        </p:txBody>
      </p:sp>
    </p:spTree>
    <p:custDataLst>
      <p:tags r:id="rId1"/>
    </p:custDataLst>
    <p:extLst>
      <p:ext uri="{BB962C8B-B14F-4D97-AF65-F5344CB8AC3E}">
        <p14:creationId xmlns:p14="http://schemas.microsoft.com/office/powerpoint/2010/main" val="20626734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1" descr=" 15">
            <a:extLst>
              <a:ext uri="{FF2B5EF4-FFF2-40B4-BE49-F238E27FC236}">
                <a16:creationId xmlns:a16="http://schemas.microsoft.com/office/drawing/2014/main" id="{CE3BB417-CEC1-4317-A0F5-A75A0B0D8AC7}"/>
              </a:ext>
            </a:extLst>
          </p:cNvPr>
          <p:cNvSpPr>
            <a:spLocks noChangeArrowheads="1"/>
          </p:cNvSpPr>
          <p:nvPr>
            <p:custDataLst>
              <p:tags r:id="rId2"/>
            </p:custDataLst>
          </p:nvPr>
        </p:nvSpPr>
        <p:spPr bwMode="auto">
          <a:xfrm>
            <a:off x="2133600" y="4081947"/>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2000" dirty="0">
                <a:latin typeface="Calibri" pitchFamily="34" charset="0"/>
              </a:rPr>
              <a:t>X: 6,37</a:t>
            </a:r>
            <a:endParaRPr lang="en-US" sz="2400" dirty="0">
              <a:latin typeface="Calibri" pitchFamily="34" charset="0"/>
            </a:endParaRPr>
          </a:p>
        </p:txBody>
      </p:sp>
      <p:sp>
        <p:nvSpPr>
          <p:cNvPr id="2055"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Cache Coherence Problem</a:t>
            </a:r>
          </a:p>
        </p:txBody>
      </p:sp>
      <p:sp>
        <p:nvSpPr>
          <p:cNvPr id="2056" name="Rectangle 3"/>
          <p:cNvSpPr>
            <a:spLocks noGrp="1" noChangeArrowheads="1"/>
          </p:cNvSpPr>
          <p:nvPr>
            <p:ph idx="1"/>
            <p:custDataLst>
              <p:tags r:id="rId4"/>
            </p:custDataLst>
          </p:nvPr>
        </p:nvSpPr>
        <p:spPr>
          <a:xfrm>
            <a:off x="682625" y="1600200"/>
            <a:ext cx="8308975" cy="1295400"/>
          </a:xfrm>
        </p:spPr>
        <p:txBody>
          <a:bodyPr/>
          <a:lstStyle/>
          <a:p>
            <a:pPr marL="0" indent="0">
              <a:lnSpc>
                <a:spcPct val="80000"/>
              </a:lnSpc>
              <a:buNone/>
            </a:pPr>
            <a:r>
              <a:rPr lang="en-US" altLang="en-US" sz="2800" dirty="0"/>
              <a:t>A block X can exist in multiple </a:t>
            </a:r>
            <a:r>
              <a:rPr lang="en-US" altLang="en-US" sz="2800" b="1" dirty="0"/>
              <a:t>private</a:t>
            </a:r>
            <a:r>
              <a:rPr lang="en-US" altLang="en-US" sz="2800" dirty="0"/>
              <a:t> caches at any given moment. If one core modifies X, unless other cores are immediately made aware of this change, the other cores may read the </a:t>
            </a:r>
            <a:r>
              <a:rPr lang="en-US" altLang="en-US" sz="2800" b="1" dirty="0"/>
              <a:t>stale (wrong) </a:t>
            </a:r>
            <a:r>
              <a:rPr lang="en-US" altLang="en-US" sz="2800" dirty="0"/>
              <a:t>contents of X.</a:t>
            </a:r>
          </a:p>
        </p:txBody>
      </p:sp>
      <p:sp>
        <p:nvSpPr>
          <p:cNvPr id="2054" name="Slide Number Placeholder 5"/>
          <p:cNvSpPr>
            <a:spLocks noGrp="1"/>
          </p:cNvSpPr>
          <p:nvPr>
            <p:ph type="sldNum" sz="quarter" idx="12"/>
            <p:custDataLst>
              <p:tags r:id="rId5"/>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9</a:t>
            </a:fld>
            <a:endParaRPr lang="en-US" altLang="en-US"/>
          </a:p>
        </p:txBody>
      </p:sp>
      <p:sp>
        <p:nvSpPr>
          <p:cNvPr id="5" name="Rectangle 4" descr=" 5">
            <a:extLst>
              <a:ext uri="{FF2B5EF4-FFF2-40B4-BE49-F238E27FC236}">
                <a16:creationId xmlns:a16="http://schemas.microsoft.com/office/drawing/2014/main" id="{EDE355B8-E286-4696-8B42-B19B51166A6E}"/>
              </a:ext>
            </a:extLst>
          </p:cNvPr>
          <p:cNvSpPr>
            <a:spLocks noChangeArrowheads="1"/>
          </p:cNvSpPr>
          <p:nvPr>
            <p:custDataLst>
              <p:tags r:id="rId6"/>
            </p:custDataLst>
          </p:nvPr>
        </p:nvSpPr>
        <p:spPr bwMode="auto">
          <a:xfrm>
            <a:off x="2462806" y="5071802"/>
            <a:ext cx="4041084" cy="376238"/>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Bus</a:t>
            </a:r>
          </a:p>
        </p:txBody>
      </p:sp>
      <p:sp>
        <p:nvSpPr>
          <p:cNvPr id="6" name="Rectangle 6" descr=" 6">
            <a:extLst>
              <a:ext uri="{FF2B5EF4-FFF2-40B4-BE49-F238E27FC236}">
                <a16:creationId xmlns:a16="http://schemas.microsoft.com/office/drawing/2014/main" id="{D69625F6-D9BC-4773-B8F3-4888CE62BED5}"/>
              </a:ext>
            </a:extLst>
          </p:cNvPr>
          <p:cNvSpPr>
            <a:spLocks noChangeArrowheads="1"/>
          </p:cNvSpPr>
          <p:nvPr>
            <p:custDataLst>
              <p:tags r:id="rId7"/>
            </p:custDataLst>
          </p:nvPr>
        </p:nvSpPr>
        <p:spPr bwMode="auto">
          <a:xfrm>
            <a:off x="2326341" y="3273165"/>
            <a:ext cx="833719" cy="574675"/>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P1</a:t>
            </a:r>
          </a:p>
        </p:txBody>
      </p:sp>
      <p:cxnSp>
        <p:nvCxnSpPr>
          <p:cNvPr id="7" name="AutoShape 9" descr=" 7">
            <a:extLst>
              <a:ext uri="{FF2B5EF4-FFF2-40B4-BE49-F238E27FC236}">
                <a16:creationId xmlns:a16="http://schemas.microsoft.com/office/drawing/2014/main" id="{FB829A3E-4309-4B4E-91AE-79E4B807B46F}"/>
              </a:ext>
            </a:extLst>
          </p:cNvPr>
          <p:cNvCxnSpPr>
            <a:cxnSpLocks noChangeShapeType="1"/>
          </p:cNvCxnSpPr>
          <p:nvPr>
            <p:custDataLst>
              <p:tags r:id="rId8"/>
            </p:custDataLst>
          </p:nvPr>
        </p:nvCxnSpPr>
        <p:spPr bwMode="auto">
          <a:xfrm rot="5400000">
            <a:off x="2634457" y="3973203"/>
            <a:ext cx="217488" cy="1"/>
          </a:xfrm>
          <a:prstGeom prst="bentConnector3">
            <a:avLst>
              <a:gd name="adj1" fmla="val 50000"/>
            </a:avLst>
          </a:prstGeom>
          <a:noFill/>
          <a:ln w="12700">
            <a:solidFill>
              <a:schemeClr val="tx1"/>
            </a:solidFill>
            <a:miter lim="800000"/>
            <a:headEnd type="none" w="sm" len="sm"/>
            <a:tailEnd type="triangle" w="med" len="med"/>
          </a:ln>
        </p:spPr>
      </p:cxnSp>
      <p:sp>
        <p:nvSpPr>
          <p:cNvPr id="8" name="Line 10" descr=" 8">
            <a:extLst>
              <a:ext uri="{FF2B5EF4-FFF2-40B4-BE49-F238E27FC236}">
                <a16:creationId xmlns:a16="http://schemas.microsoft.com/office/drawing/2014/main" id="{3AE748C1-0FFF-4A5E-AD2C-71E099112ABD}"/>
              </a:ext>
            </a:extLst>
          </p:cNvPr>
          <p:cNvSpPr>
            <a:spLocks noChangeShapeType="1"/>
          </p:cNvSpPr>
          <p:nvPr>
            <p:custDataLst>
              <p:tags r:id="rId9"/>
            </p:custDataLst>
          </p:nvPr>
        </p:nvSpPr>
        <p:spPr bwMode="auto">
          <a:xfrm>
            <a:off x="2752165" y="4695005"/>
            <a:ext cx="0" cy="377825"/>
          </a:xfrm>
          <a:prstGeom prst="line">
            <a:avLst/>
          </a:prstGeom>
          <a:noFill/>
          <a:ln w="12700">
            <a:solidFill>
              <a:schemeClr val="tx1"/>
            </a:solidFill>
            <a:round/>
            <a:headEnd type="none" w="sm" len="sm"/>
            <a:tailEnd type="triangle" w="med" len="med"/>
          </a:ln>
        </p:spPr>
        <p:txBody>
          <a:bodyPr wrap="none" anchor="ctr"/>
          <a:lstStyle/>
          <a:p>
            <a:endParaRPr lang="en-US" dirty="0">
              <a:latin typeface="Calibri" pitchFamily="34" charset="0"/>
            </a:endParaRPr>
          </a:p>
        </p:txBody>
      </p:sp>
      <p:sp>
        <p:nvSpPr>
          <p:cNvPr id="9" name="Rectangle 14" descr=" 10">
            <a:extLst>
              <a:ext uri="{FF2B5EF4-FFF2-40B4-BE49-F238E27FC236}">
                <a16:creationId xmlns:a16="http://schemas.microsoft.com/office/drawing/2014/main" id="{19C9A5C2-82A6-4618-AEF4-D796B42B9D28}"/>
              </a:ext>
            </a:extLst>
          </p:cNvPr>
          <p:cNvSpPr>
            <a:spLocks noChangeArrowheads="1"/>
          </p:cNvSpPr>
          <p:nvPr>
            <p:custDataLst>
              <p:tags r:id="rId10"/>
            </p:custDataLst>
          </p:nvPr>
        </p:nvSpPr>
        <p:spPr bwMode="auto">
          <a:xfrm>
            <a:off x="5907741" y="3273165"/>
            <a:ext cx="833719" cy="574675"/>
          </a:xfrm>
          <a:prstGeom prst="rect">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sz="2400" dirty="0">
                <a:latin typeface="Calibri" pitchFamily="34" charset="0"/>
              </a:rPr>
              <a:t>P2</a:t>
            </a:r>
          </a:p>
        </p:txBody>
      </p:sp>
      <p:cxnSp>
        <p:nvCxnSpPr>
          <p:cNvPr id="10" name="AutoShape 17" descr=" 11">
            <a:extLst>
              <a:ext uri="{FF2B5EF4-FFF2-40B4-BE49-F238E27FC236}">
                <a16:creationId xmlns:a16="http://schemas.microsoft.com/office/drawing/2014/main" id="{E0521808-8B71-4CD4-9BE9-B6CFFD252860}"/>
              </a:ext>
            </a:extLst>
          </p:cNvPr>
          <p:cNvCxnSpPr>
            <a:cxnSpLocks noChangeShapeType="1"/>
            <a:stCxn id="9" idx="2"/>
            <a:endCxn id="15" idx="0"/>
          </p:cNvCxnSpPr>
          <p:nvPr>
            <p:custDataLst>
              <p:tags r:id="rId11"/>
            </p:custDataLst>
          </p:nvPr>
        </p:nvCxnSpPr>
        <p:spPr bwMode="auto">
          <a:xfrm rot="5400000">
            <a:off x="6210301" y="3962140"/>
            <a:ext cx="228600" cy="1"/>
          </a:xfrm>
          <a:prstGeom prst="bentConnector3">
            <a:avLst>
              <a:gd name="adj1" fmla="val 50000"/>
            </a:avLst>
          </a:prstGeom>
          <a:noFill/>
          <a:ln w="12700">
            <a:solidFill>
              <a:schemeClr val="tx1"/>
            </a:solidFill>
            <a:miter lim="800000"/>
            <a:headEnd type="none" w="sm" len="sm"/>
            <a:tailEnd type="triangle" w="med" len="med"/>
          </a:ln>
        </p:spPr>
      </p:cxnSp>
      <p:sp>
        <p:nvSpPr>
          <p:cNvPr id="11" name="Rectangle 21" descr=" 12">
            <a:extLst>
              <a:ext uri="{FF2B5EF4-FFF2-40B4-BE49-F238E27FC236}">
                <a16:creationId xmlns:a16="http://schemas.microsoft.com/office/drawing/2014/main" id="{33B0E5F3-06D7-4950-A1EE-7474D266FA9B}"/>
              </a:ext>
            </a:extLst>
          </p:cNvPr>
          <p:cNvSpPr>
            <a:spLocks noChangeArrowheads="1"/>
          </p:cNvSpPr>
          <p:nvPr>
            <p:custDataLst>
              <p:tags r:id="rId12"/>
            </p:custDataLst>
          </p:nvPr>
        </p:nvSpPr>
        <p:spPr bwMode="auto">
          <a:xfrm>
            <a:off x="3338278" y="5760778"/>
            <a:ext cx="2290141"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2000" dirty="0">
                <a:latin typeface="Calibri" pitchFamily="34" charset="0"/>
              </a:rPr>
              <a:t>X: 6,37</a:t>
            </a:r>
            <a:endParaRPr lang="en-US" sz="2400" dirty="0">
              <a:latin typeface="Calibri" pitchFamily="34" charset="0"/>
            </a:endParaRPr>
          </a:p>
        </p:txBody>
      </p:sp>
      <p:sp>
        <p:nvSpPr>
          <p:cNvPr id="12" name="Line 10" descr=" 13">
            <a:extLst>
              <a:ext uri="{FF2B5EF4-FFF2-40B4-BE49-F238E27FC236}">
                <a16:creationId xmlns:a16="http://schemas.microsoft.com/office/drawing/2014/main" id="{2766B6C8-0F2B-4CBE-B18A-2AA179550756}"/>
              </a:ext>
            </a:extLst>
          </p:cNvPr>
          <p:cNvSpPr>
            <a:spLocks noChangeShapeType="1"/>
          </p:cNvSpPr>
          <p:nvPr>
            <p:custDataLst>
              <p:tags r:id="rId13"/>
            </p:custDataLst>
          </p:nvPr>
        </p:nvSpPr>
        <p:spPr bwMode="auto">
          <a:xfrm>
            <a:off x="6324600" y="4686040"/>
            <a:ext cx="0" cy="377825"/>
          </a:xfrm>
          <a:prstGeom prst="line">
            <a:avLst/>
          </a:prstGeom>
          <a:noFill/>
          <a:ln w="12700">
            <a:solidFill>
              <a:schemeClr val="tx1"/>
            </a:solidFill>
            <a:round/>
            <a:headEnd type="none" w="sm" len="sm"/>
            <a:tailEnd type="triangle" w="med" len="med"/>
          </a:ln>
        </p:spPr>
        <p:txBody>
          <a:bodyPr wrap="none" anchor="ctr"/>
          <a:lstStyle/>
          <a:p>
            <a:endParaRPr lang="en-US" dirty="0">
              <a:latin typeface="Calibri" pitchFamily="34" charset="0"/>
            </a:endParaRPr>
          </a:p>
        </p:txBody>
      </p:sp>
      <p:cxnSp>
        <p:nvCxnSpPr>
          <p:cNvPr id="13" name="Straight Arrow Connector 12" descr=" 14">
            <a:extLst>
              <a:ext uri="{FF2B5EF4-FFF2-40B4-BE49-F238E27FC236}">
                <a16:creationId xmlns:a16="http://schemas.microsoft.com/office/drawing/2014/main" id="{942E8D10-FE0C-444F-BA46-F64AB115E845}"/>
              </a:ext>
            </a:extLst>
          </p:cNvPr>
          <p:cNvCxnSpPr>
            <a:stCxn id="5" idx="2"/>
            <a:endCxn id="11" idx="0"/>
          </p:cNvCxnSpPr>
          <p:nvPr/>
        </p:nvCxnSpPr>
        <p:spPr bwMode="auto">
          <a:xfrm rot="16200000" flipH="1">
            <a:off x="4326979" y="5604408"/>
            <a:ext cx="312738" cy="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5" name="Rectangle 21" descr=" 16">
            <a:extLst>
              <a:ext uri="{FF2B5EF4-FFF2-40B4-BE49-F238E27FC236}">
                <a16:creationId xmlns:a16="http://schemas.microsoft.com/office/drawing/2014/main" id="{31A0AD37-7542-4F47-9814-213E540FEF69}"/>
              </a:ext>
            </a:extLst>
          </p:cNvPr>
          <p:cNvSpPr>
            <a:spLocks noChangeArrowheads="1"/>
          </p:cNvSpPr>
          <p:nvPr>
            <p:custDataLst>
              <p:tags r:id="rId14"/>
            </p:custDataLst>
          </p:nvPr>
        </p:nvSpPr>
        <p:spPr bwMode="auto">
          <a:xfrm>
            <a:off x="5715000" y="4076440"/>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US" sz="2000" dirty="0">
                <a:latin typeface="Calibri" pitchFamily="34" charset="0"/>
              </a:rPr>
              <a:t>X: 51,40</a:t>
            </a:r>
            <a:endParaRPr lang="en-US" sz="2400" dirty="0">
              <a:latin typeface="Calibri" pitchFamily="34" charset="0"/>
            </a:endParaRPr>
          </a:p>
        </p:txBody>
      </p:sp>
      <p:sp>
        <p:nvSpPr>
          <p:cNvPr id="16" name="TextBox 15" descr=" 17">
            <a:extLst>
              <a:ext uri="{FF2B5EF4-FFF2-40B4-BE49-F238E27FC236}">
                <a16:creationId xmlns:a16="http://schemas.microsoft.com/office/drawing/2014/main" id="{EA522BB3-BBBD-4687-BCEB-E94B1A0F0D3E}"/>
              </a:ext>
            </a:extLst>
          </p:cNvPr>
          <p:cNvSpPr txBox="1"/>
          <p:nvPr>
            <p:custDataLst>
              <p:tags r:id="rId15"/>
            </p:custDataLst>
          </p:nvPr>
        </p:nvSpPr>
        <p:spPr>
          <a:xfrm>
            <a:off x="5638800" y="6057640"/>
            <a:ext cx="1373518" cy="338554"/>
          </a:xfrm>
          <a:prstGeom prst="rect">
            <a:avLst/>
          </a:prstGeom>
          <a:noFill/>
        </p:spPr>
        <p:txBody>
          <a:bodyPr wrap="none" rtlCol="0">
            <a:spAutoFit/>
          </a:bodyPr>
          <a:lstStyle/>
          <a:p>
            <a:r>
              <a:rPr lang="en-US" sz="1600" dirty="0">
                <a:latin typeface="+mn-lt"/>
              </a:rPr>
              <a:t>Main Memory</a:t>
            </a:r>
          </a:p>
        </p:txBody>
      </p:sp>
      <p:sp>
        <p:nvSpPr>
          <p:cNvPr id="17" name="Rectangle 22" descr=" 24">
            <a:extLst>
              <a:ext uri="{FF2B5EF4-FFF2-40B4-BE49-F238E27FC236}">
                <a16:creationId xmlns:a16="http://schemas.microsoft.com/office/drawing/2014/main" id="{A90CB2CB-1A09-4341-A1E3-CBF2F3A75203}"/>
              </a:ext>
            </a:extLst>
          </p:cNvPr>
          <p:cNvSpPr>
            <a:spLocks noChangeArrowheads="1"/>
          </p:cNvSpPr>
          <p:nvPr>
            <p:custDataLst>
              <p:tags r:id="rId16"/>
            </p:custDataLst>
          </p:nvPr>
        </p:nvSpPr>
        <p:spPr bwMode="auto">
          <a:xfrm>
            <a:off x="2133600" y="4381240"/>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18" name="Rectangle 22" descr=" 25">
            <a:extLst>
              <a:ext uri="{FF2B5EF4-FFF2-40B4-BE49-F238E27FC236}">
                <a16:creationId xmlns:a16="http://schemas.microsoft.com/office/drawing/2014/main" id="{DF4A33AA-A93B-40BE-AEC9-149E924A2C29}"/>
              </a:ext>
            </a:extLst>
          </p:cNvPr>
          <p:cNvSpPr>
            <a:spLocks noChangeArrowheads="1"/>
          </p:cNvSpPr>
          <p:nvPr>
            <p:custDataLst>
              <p:tags r:id="rId17"/>
            </p:custDataLst>
          </p:nvPr>
        </p:nvSpPr>
        <p:spPr bwMode="auto">
          <a:xfrm>
            <a:off x="5715000" y="4392352"/>
            <a:ext cx="1219200"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19" name="Rectangle 22" descr=" 26">
            <a:extLst>
              <a:ext uri="{FF2B5EF4-FFF2-40B4-BE49-F238E27FC236}">
                <a16:creationId xmlns:a16="http://schemas.microsoft.com/office/drawing/2014/main" id="{7925C335-3B0E-40B4-837E-DE3758F69EB2}"/>
              </a:ext>
            </a:extLst>
          </p:cNvPr>
          <p:cNvSpPr>
            <a:spLocks noChangeArrowheads="1"/>
          </p:cNvSpPr>
          <p:nvPr>
            <p:custDataLst>
              <p:tags r:id="rId18"/>
            </p:custDataLst>
          </p:nvPr>
        </p:nvSpPr>
        <p:spPr bwMode="auto">
          <a:xfrm>
            <a:off x="3338278" y="6076690"/>
            <a:ext cx="2290141" cy="312738"/>
          </a:xfrm>
          <a:prstGeom prst="rect">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algn="ctr"/>
            <a:endParaRPr lang="en-US" sz="2400" dirty="0">
              <a:latin typeface="Calibri" pitchFamily="34" charset="0"/>
            </a:endParaRPr>
          </a:p>
        </p:txBody>
      </p:sp>
      <p:sp>
        <p:nvSpPr>
          <p:cNvPr id="20" name="Text Box 11" descr=" 9">
            <a:extLst>
              <a:ext uri="{FF2B5EF4-FFF2-40B4-BE49-F238E27FC236}">
                <a16:creationId xmlns:a16="http://schemas.microsoft.com/office/drawing/2014/main" id="{79F72ADC-1F7B-4F47-8FFC-1DA0B1E8AD0C}"/>
              </a:ext>
            </a:extLst>
          </p:cNvPr>
          <p:cNvSpPr txBox="1">
            <a:spLocks noChangeArrowheads="1"/>
          </p:cNvSpPr>
          <p:nvPr>
            <p:custDataLst>
              <p:tags r:id="rId19"/>
            </p:custDataLst>
          </p:nvPr>
        </p:nvSpPr>
        <p:spPr bwMode="auto">
          <a:xfrm>
            <a:off x="7086600" y="3986706"/>
            <a:ext cx="1806905"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1: </a:t>
            </a:r>
            <a:r>
              <a:rPr lang="en-US" sz="2000" dirty="0">
                <a:latin typeface="Calibri" pitchFamily="34" charset="0"/>
              </a:rPr>
              <a:t>Load X[0]=51</a:t>
            </a:r>
          </a:p>
        </p:txBody>
      </p:sp>
      <p:sp>
        <p:nvSpPr>
          <p:cNvPr id="21" name="Text Box 11" descr=" 9">
            <a:extLst>
              <a:ext uri="{FF2B5EF4-FFF2-40B4-BE49-F238E27FC236}">
                <a16:creationId xmlns:a16="http://schemas.microsoft.com/office/drawing/2014/main" id="{79294125-0F02-4103-8308-22D5EA6B7D0B}"/>
              </a:ext>
            </a:extLst>
          </p:cNvPr>
          <p:cNvSpPr txBox="1">
            <a:spLocks noChangeArrowheads="1"/>
          </p:cNvSpPr>
          <p:nvPr>
            <p:custDataLst>
              <p:tags r:id="rId20"/>
            </p:custDataLst>
          </p:nvPr>
        </p:nvSpPr>
        <p:spPr bwMode="auto">
          <a:xfrm>
            <a:off x="304800" y="3398808"/>
            <a:ext cx="1858714"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2: </a:t>
            </a:r>
            <a:r>
              <a:rPr lang="en-US" sz="2000" dirty="0">
                <a:latin typeface="Calibri" pitchFamily="34" charset="0"/>
              </a:rPr>
              <a:t>Store X[1]=37</a:t>
            </a:r>
          </a:p>
        </p:txBody>
      </p:sp>
      <p:sp>
        <p:nvSpPr>
          <p:cNvPr id="24" name="TextBox 23">
            <a:extLst>
              <a:ext uri="{FF2B5EF4-FFF2-40B4-BE49-F238E27FC236}">
                <a16:creationId xmlns:a16="http://schemas.microsoft.com/office/drawing/2014/main" id="{1C80FA51-E971-43AA-823E-6F8D03B08493}"/>
              </a:ext>
            </a:extLst>
          </p:cNvPr>
          <p:cNvSpPr txBox="1"/>
          <p:nvPr>
            <p:custDataLst>
              <p:tags r:id="rId21"/>
            </p:custDataLst>
          </p:nvPr>
        </p:nvSpPr>
        <p:spPr>
          <a:xfrm>
            <a:off x="6629400" y="5380741"/>
            <a:ext cx="2437082" cy="560717"/>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wrong value!</a:t>
            </a:r>
          </a:p>
        </p:txBody>
      </p:sp>
      <p:cxnSp>
        <p:nvCxnSpPr>
          <p:cNvPr id="25" name="Straight Connector 24">
            <a:extLst>
              <a:ext uri="{FF2B5EF4-FFF2-40B4-BE49-F238E27FC236}">
                <a16:creationId xmlns:a16="http://schemas.microsoft.com/office/drawing/2014/main" id="{398F03FC-566C-4ECA-857A-7213A290A3F1}"/>
              </a:ext>
            </a:extLst>
          </p:cNvPr>
          <p:cNvCxnSpPr>
            <a:cxnSpLocks/>
          </p:cNvCxnSpPr>
          <p:nvPr/>
        </p:nvCxnSpPr>
        <p:spPr>
          <a:xfrm flipV="1">
            <a:off x="7923482" y="5029200"/>
            <a:ext cx="650259" cy="531258"/>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 Box 11" descr=" 9">
            <a:extLst>
              <a:ext uri="{FF2B5EF4-FFF2-40B4-BE49-F238E27FC236}">
                <a16:creationId xmlns:a16="http://schemas.microsoft.com/office/drawing/2014/main" id="{1815B68E-21A2-4B6C-8348-3EC31B268C3E}"/>
              </a:ext>
            </a:extLst>
          </p:cNvPr>
          <p:cNvSpPr txBox="1">
            <a:spLocks noChangeArrowheads="1"/>
          </p:cNvSpPr>
          <p:nvPr>
            <p:custDataLst>
              <p:tags r:id="rId22"/>
            </p:custDataLst>
          </p:nvPr>
        </p:nvSpPr>
        <p:spPr bwMode="auto">
          <a:xfrm>
            <a:off x="7086599" y="4325815"/>
            <a:ext cx="1806905"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3: </a:t>
            </a:r>
            <a:r>
              <a:rPr lang="en-US" sz="2000" dirty="0">
                <a:latin typeface="Calibri" pitchFamily="34" charset="0"/>
              </a:rPr>
              <a:t>Load X[1]=40</a:t>
            </a:r>
          </a:p>
        </p:txBody>
      </p:sp>
      <p:sp>
        <p:nvSpPr>
          <p:cNvPr id="2" name="Text Box 11" descr=" 9">
            <a:extLst>
              <a:ext uri="{FF2B5EF4-FFF2-40B4-BE49-F238E27FC236}">
                <a16:creationId xmlns:a16="http://schemas.microsoft.com/office/drawing/2014/main" id="{F6BDCB20-52CE-ED21-386B-30EAA7BFADCD}"/>
              </a:ext>
            </a:extLst>
          </p:cNvPr>
          <p:cNvSpPr txBox="1">
            <a:spLocks noChangeArrowheads="1"/>
          </p:cNvSpPr>
          <p:nvPr>
            <p:custDataLst>
              <p:tags r:id="rId23"/>
            </p:custDataLst>
          </p:nvPr>
        </p:nvSpPr>
        <p:spPr bwMode="auto">
          <a:xfrm>
            <a:off x="304800" y="3762085"/>
            <a:ext cx="1728871"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4: </a:t>
            </a:r>
            <a:r>
              <a:rPr lang="en-US" sz="2000" dirty="0">
                <a:latin typeface="Calibri" pitchFamily="34" charset="0"/>
              </a:rPr>
              <a:t>Store X[0]=6</a:t>
            </a:r>
          </a:p>
        </p:txBody>
      </p:sp>
      <p:sp>
        <p:nvSpPr>
          <p:cNvPr id="3" name="Text Box 11" descr=" 9">
            <a:extLst>
              <a:ext uri="{FF2B5EF4-FFF2-40B4-BE49-F238E27FC236}">
                <a16:creationId xmlns:a16="http://schemas.microsoft.com/office/drawing/2014/main" id="{02E4B0F3-6603-B468-0A36-6225B0C70768}"/>
              </a:ext>
            </a:extLst>
          </p:cNvPr>
          <p:cNvSpPr txBox="1">
            <a:spLocks noChangeArrowheads="1"/>
          </p:cNvSpPr>
          <p:nvPr>
            <p:custDataLst>
              <p:tags r:id="rId24"/>
            </p:custDataLst>
          </p:nvPr>
        </p:nvSpPr>
        <p:spPr bwMode="auto">
          <a:xfrm>
            <a:off x="7081854" y="4674897"/>
            <a:ext cx="1806905" cy="400110"/>
          </a:xfrm>
          <a:prstGeom prst="rect">
            <a:avLst/>
          </a:prstGeom>
          <a:noFill/>
          <a:ln w="12700">
            <a:noFill/>
            <a:miter lim="800000"/>
            <a:headEnd type="none" w="sm" len="sm"/>
            <a:tailEnd type="none" w="sm" len="sm"/>
          </a:ln>
        </p:spPr>
        <p:txBody>
          <a:bodyPr wrap="none">
            <a:spAutoFit/>
          </a:bodyPr>
          <a:lstStyle/>
          <a:p>
            <a:r>
              <a:rPr lang="en-US" sz="2000" dirty="0">
                <a:solidFill>
                  <a:srgbClr val="CC0000"/>
                </a:solidFill>
                <a:latin typeface="Calibri" pitchFamily="34" charset="0"/>
              </a:rPr>
              <a:t>5: </a:t>
            </a:r>
            <a:r>
              <a:rPr lang="en-US" sz="2000" dirty="0">
                <a:latin typeface="Calibri" pitchFamily="34" charset="0"/>
              </a:rPr>
              <a:t>Load X[0]=51</a:t>
            </a:r>
          </a:p>
        </p:txBody>
      </p:sp>
    </p:spTree>
    <p:custDataLst>
      <p:tags r:id="rId1"/>
    </p:custDataLst>
    <p:extLst>
      <p:ext uri="{BB962C8B-B14F-4D97-AF65-F5344CB8AC3E}">
        <p14:creationId xmlns:p14="http://schemas.microsoft.com/office/powerpoint/2010/main" val="25328546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Cache Coherence</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10</a:t>
            </a:fld>
            <a:endParaRPr lang="en-US" altLang="en-US" sz="1400">
              <a:latin typeface="Times New Roman" panose="02020603050405020304" pitchFamily="18" charset="0"/>
            </a:endParaRPr>
          </a:p>
        </p:txBody>
      </p:sp>
      <p:sp>
        <p:nvSpPr>
          <p:cNvPr id="5" name="TextBox 4">
            <a:extLst>
              <a:ext uri="{FF2B5EF4-FFF2-40B4-BE49-F238E27FC236}">
                <a16:creationId xmlns:a16="http://schemas.microsoft.com/office/drawing/2014/main" id="{CAC3357B-E167-407E-A018-2D2860FA112F}"/>
              </a:ext>
            </a:extLst>
          </p:cNvPr>
          <p:cNvSpPr txBox="1"/>
          <p:nvPr>
            <p:custDataLst>
              <p:tags r:id="rId4"/>
            </p:custDataLst>
          </p:nvPr>
        </p:nvSpPr>
        <p:spPr>
          <a:xfrm>
            <a:off x="526929" y="1414732"/>
            <a:ext cx="8159871" cy="5037826"/>
          </a:xfrm>
          <a:prstGeom prst="rect">
            <a:avLst/>
          </a:prstGeom>
          <a:noFill/>
        </p:spPr>
        <p:txBody>
          <a:bodyPr wrap="square" rtlCol="0" anchor="t">
            <a:noAutofit/>
          </a:bodyPr>
          <a:lstStyle/>
          <a:p>
            <a:r>
              <a:rPr lang="en-US" sz="3200" dirty="0">
                <a:latin typeface="+mn-lt"/>
              </a:rPr>
              <a:t>Enforces the following for private caches:</a:t>
            </a:r>
          </a:p>
          <a:p>
            <a:pPr marL="457200" indent="-457200">
              <a:buFont typeface="Arial" panose="020B0604020202020204" pitchFamily="34" charset="0"/>
              <a:buChar char="•"/>
            </a:pPr>
            <a:r>
              <a:rPr lang="en-US" sz="2800" b="1" dirty="0">
                <a:latin typeface="+mn-lt"/>
              </a:rPr>
              <a:t>Write Serialization: </a:t>
            </a:r>
            <a:r>
              <a:rPr lang="en-US" sz="2800" dirty="0">
                <a:latin typeface="+mn-lt"/>
              </a:rPr>
              <a:t>At any moment in time, only one processor can modify a memory block, and all processors agree on who it is </a:t>
            </a:r>
            <a:r>
              <a:rPr lang="en-US" sz="2800" i="1" dirty="0">
                <a:latin typeface="+mn-lt"/>
              </a:rPr>
              <a:t>(single-writer, multiple-reader invariant)</a:t>
            </a:r>
            <a:r>
              <a:rPr lang="en-US" sz="2800" dirty="0">
                <a:latin typeface="+mn-lt"/>
              </a:rPr>
              <a:t>.</a:t>
            </a:r>
          </a:p>
          <a:p>
            <a:pPr marL="457200" indent="-457200">
              <a:buFont typeface="Arial" panose="020B0604020202020204" pitchFamily="34" charset="0"/>
              <a:buChar char="•"/>
            </a:pPr>
            <a:r>
              <a:rPr lang="en-US" sz="2800" b="1" dirty="0">
                <a:latin typeface="+mn-lt"/>
              </a:rPr>
              <a:t>Write Propagation: </a:t>
            </a:r>
            <a:r>
              <a:rPr lang="en-US" sz="2800" dirty="0">
                <a:latin typeface="+mn-lt"/>
              </a:rPr>
              <a:t>Any processors that read the memory block immediately after a modification must observe the new value </a:t>
            </a:r>
            <a:r>
              <a:rPr lang="en-US" sz="2800" i="1" dirty="0">
                <a:latin typeface="+mn-lt"/>
              </a:rPr>
              <a:t>(data-value invariant)</a:t>
            </a:r>
            <a:r>
              <a:rPr lang="en-US" sz="2800" dirty="0">
                <a:latin typeface="+mn-lt"/>
              </a:rPr>
              <a:t>.</a:t>
            </a:r>
          </a:p>
        </p:txBody>
      </p:sp>
    </p:spTree>
    <p:custDataLst>
      <p:tags r:id="rId1"/>
    </p:custDataLst>
    <p:extLst>
      <p:ext uri="{BB962C8B-B14F-4D97-AF65-F5344CB8AC3E}">
        <p14:creationId xmlns:p14="http://schemas.microsoft.com/office/powerpoint/2010/main" val="26120185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3"/>
  <p:tag name="MMPROD_UIPERSISTENCEDATA" val="MMPROD_UIPERSISTENCEDATA"/>
  <p:tag name="MMPROD_THEME_BG_IMAGE" val=""/>
  <p:tag name="MMPROD_TAG_VCONFIG" val="PD94bWwgdmVyc2lvbj0iMS4wIj8+DQo8Y29uZmlndXJhdGlvbj4NCgk8YnJhbmRpbmc+DQoJCTx1aWZvbnQgbmFtZT0iRk9OVF9OT1RFU19URVhUIiB2YWx1ZT0iVmVyZGFuYSw5LGZhbHNlLGZhbHNlLGZhbHNlIi8+DQoJPC9icmFuZGluZz4NCgk8Y29sb3JzPg0KCQk8dWljb2xvciBuYW1lPSJwcmltYXJ5IiB2YWx1ZT0iMHg2Rjg0ODgiLz4NCgkJPHVpY29sb3IgbmFtZT0iZ2xvdyIgdmFsdWU9IjB4NjA5NzczIi8+DQoJCTx1aWNvbG9yIG5hbWU9InRleHQiIHZhbHVlPSIweEZGRkZGRiIvPg0KCQk8dWljb2xvciBuYW1lPSJsaWdodCIgdmFsdWU9IjB4NEU1RDYwIi8+DQoJCTx1aWNvbG9yIG5hbWU9InNoYWRvdyIgdmFsdWU9IjB4MDAwMDAwIi8+DQoJCTx1aWNvbG9yIG5hbWU9ImJhY2tncm91bmQiIHZhbHVlPSIweDcyNzk3MSIvPg0KCTwvY29sb3JzPg0KCTxsYXlvdXQ+DQoJCTx1aXNob3cgbmFtZT0icHJlc2VudGF0aW9udGl0bGUiIHZhbHVlPSJ0cnVlIi8+PHVpc2hvdyBuYW1lPSJwcmVzZW50ZXJwaG90byIgdmFsdWU9InRydWUiLz48dWlzaG93IG5hbWU9InByZXNlbnRlcm5hbWUiIHZhbHVlPSJ0cnVlIi8+PHVpc2hvdyBuYW1lPSJwcmVzZW50ZXJ0aXRsZSIgdmFsdWU9InRydWUiLz48dWlzaG93IG5hbWU9InByZXNlbnRlcmVtYWlsIiB2YWx1ZT0idHJ1ZSIvPjx1aXNob3cgbmFtZT0icHJlc2VudGVyYmlvIiB2YWx1ZT0idHJ1ZSIvPjx1aXNob3cgbmFtZT0iY29tcGFueWxvZ28iIHZhbHVlPSJ0cnVlIi8+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PHVpc2hvdyBuYW1lPSJ2aWV3Y2hhbmdlIiB2YWx1ZT0idHJ1ZSIvPjx1aXNob3cgbmFtZT0iYWx3YXlzU2NydW5jaCIgdmFsdWU9ImZhbHNlIi8+PHVpc2hvdyBuYW1lPSJpbml0aWFsZGlzcGxheW1vZGVpc25vcm1hbCIgdmFsdWU9InRydWUiLz48dWlyZXBsYWNlIG5hbWU9ImxvZ28iIHZhbHVlPSIiLz48dWlyZXBsYWNlIG5hbWU9ImJnaW1hZ2UiIHZhbHVlPSIiLz48dWlyZXBsYWNlIG5hbWU9ImluaXRpYWx0YWIiIHZhbHVlPSJvdXRsaW5lIi8+PHVpc2hvdyBuYW1lPSJjY3RleHRoaWdobGlnaHRpbmciIHZhbHVlPSJ0cnVlIi8+DQoJPC9sYXlvdXQ+DQoJPHByZWxvYWRlcj48c2V0Qm9vbCBuYW1lPSJkaXNhYmxlQXNzZXRQcmVsb2FkZXIiIHZhbHVlPSJ0cnVlIi8+PC9wcmVsb2FkZXI+PGxhbmd1YWdlIGlkPSJlb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x1aXRleHQgbmFtZT0iQ09VUlNFX1NUQVRVUyIgdmFsdWU9Ik1vZHVsZSBTdGF0dXMiLz4NCgkJPHVpdGV4dCBuYW1lPSJQQVNTRURfU1RSSU5HIiB2YWx1ZT0iUGFzc2VkIi8+DQoJCTx1aXRleHQgbmFtZT0iRkFJTEVEX1NUUklORyIgdmFsdWU9IkZhaWxlZCIvPg0KCQk8IS0tcXVpeiBwb2QgYW5kIG1lc3NhZ2UgYm94IHRleHRz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DQoJCTx1aXRleHQgbmFtZT0iUVVJWlBPRF9RVUlaX1BBU1NTQ09SRSIgdmFsdWU9IlBhc3NpbmcgU2NvcmU6Ii8+DQoJCTx1aXRleHQgbmFtZT0iUVVJWlBPRF9RVUlaX01BWFNDT1JFIiB2YWx1ZT0iTWF4IFNjb3JlOiIvPg0KCQk8dWl0ZXh0IG5hbWU9IlFVSVpQT0RfUVVFU0FUTVBUX1NUUiIgdmFsdWU9IkF0dGVtcHQ6ICVuIG9mICV0Ii8+DQoJCTx1aXRleHQgbmFtZT0iUVVJWlBPRF9RVUVTVFlQRV9TVFIiIHZhbHVlPSJUeXBlOiAlcyIvPg0KCQk8dWl0ZXh0IG5hbWU9IlFVSVpQT0RfUVVFU1RZUEVfR1JEIiB2YWx1ZT0iR3JhZGVkIi8+DQoJCTx1aXRleHQgbmFtZT0iUVVJWlBPRF9RVUVTVFlQRV9TVlkiIHZhbHVlPSJTdXJ2ZXkiLz4NCgkJPHVpdGV4dCBuYW1lPSJRVUlaUE9EX1FVSVpBVE1QVF9JTkYiIHZhbHVlPSJJbmZpbml0ZSIvPg0KCQk8dWl0ZXh0IG5hbWU9IlFVSVpQT0RfUVVFU0FUTVBUX0lORiIgdmFsdWU9IkluZmluaXRlIi8+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TaG93IHNpZGViYXIgdG8gcGFydGljaXBhbnRzIi8+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DQoJCTx1aXRleHQgbmFtZT0iQ09MTEFCX0xPQ0FMX1BMQVlCQUNLQlROIiB2YWx1ZT0i2YXZiNin2YHZgiIvPg0KCQk8IS0tIHN1YnN0aXR1dGlvbjogJW4gPT0gc2xpZGUgbnVtYmVyIC0tPg0KCQk8IS0tIHN1YnN0aXR1dGlvbjogJXQgPT0gdG90YWwgc2xpZGUgY291bnQgLS0+DQoJCTx1aXRleHQgbmFtZT0iU0NSVUJCQVJTVEFUVVNfU0xJREVJTkZPIiB2YWx1ZT0i2LTYsdmK2K3YqSAlbiAvICV0IHwgIi8+DQoJCTx1aXRleHQgbmFtZT0iU0NSVUJCQVJTVEFUVVNfU1RPUFBFRCIgdmFsdWU9ItmF2KrZiNmC2YEiLz4NCgkJPHVpdGV4dCBuYW1lPSJTQ1JVQkJBUlNUQVRVU19QTEFZSU5HIiB2YWx1ZT0i2YLZitivINin2YTYqti02LrZitmEIi8+DQoJCTx1aXRleHQgbmFtZT0iU0NSVUJCQVJTVEFUVVNfTk9BVURJTyIgdmFsdWU9ItmE2Kcg2YrZiNis2K8g2LXZiNiqIi8+DQoJCTx1aXRleHQgbmFtZT0iU0NSVUJCQVJTVEFUVVNfVklEUExBWUlORyIgdmFsdWU9Itin2YTZgdmK2K/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DQoJCTwhLS0gc3Vic3RpdHV0aW9uOiAlcyA9PSBzZWNvbmRzIHJlbWFpbmluZyAtLT4NCgkJPHVpdGV4dCBuYW1lPSJFTEFQU0VEIiB2YWx1ZT0iJW0g2K/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DQoJCTx1aXRleHQgbmFtZT0iVEFCX1FVSVoiIHZhbHVlPSLZhdiz2KfYqNmC2KkiLz4NCgkJPHVpdGV4dCBuYW1lPSJUQUJfT1VUTElORSIgdmFsdWU9ItmF2K7Yt9i3Ii8+DQoJCTx1aXRleHQgbmFtZT0iVEFCX1RIVU1CIiB2YWx1ZT0i2YXYtdi62ZHYsdipIi8+DQoJCTx1aXRleHQgbmFtZT0iVEFCX05PVEVTIiB2YWx1ZT0i2YXZhNin2K3YuNin2KoiLz4NCgkJPHVpdGV4dCBuYW1lPSJUQUJfU0VBUkNIIiB2YWx1ZT0i2KjYrdirIi8+DQoJCTx1aXRleHQgbmFtZT0iU0xJREVfSEVBRElORyIgdmFsdWU9Iti52YbZiNin2YYg2KfZhNi02LHZitit2KkgIi8+DQoJCTx1aXRleHQgbmFtZT0iRFVSQVRJT05fSEVBRElORyIgdmFsdWU9ItmF2K/YqSIvPg0KCQk8dWl0ZXh0IG5hbWU9IlNFQVJDSF9IRUFESU5HIiB2YWx1ZT0iOtin2YTYqNit2Ksg2LnZhiDZhti1Ii8+DQoJCTx1aXRleHQgbmFtZT0iVEhVTUJfSEVBRElORyIgdmFsdWU9Iti02LHZitit2KkiLz4NCgkJPHVpdGV4dCBuYW1lPSJUSFVNQl9JTkZPIiB2YWx1ZT0i2LnZhtmI2KfZhi/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DQoJCTx1aXRleHQgbmFtZT0iQ09VUlNFX1NUQVRVUyIgdmFsdWU9Itit2KfZhNipINin2YTZiNit2K/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Ysdis2Kkg2KfZhNmF2LPYrNmE2KkiLz4NCgkJPHVpdGV4dCBuYW1lPSJRVUlaUE9EX1FVSVpfUEFTU1NDT1JFIiB2YWx1ZT0iOtiv2LHYrNipINin2YTZhtis2KfYrSIvPg0KCQk8dWl0ZXh0IG5hbWU9IlFVSVpQT0RfUVVJWl9NQVhTQ09SRSIgdmFsdWU9IjrYp9mE2K/Ysdis2Kkg2KfZhNmC2LXZiNmJIi8+DQoJCTx1aXRleHQgbmFtZT0iUVVJWlBPRF9RVUVTQVRNUFRfU1RSIiB2YWx1ZT0i2KfZhNmF2K3Yp9mI2YTYqSAlbiDZhdmGICV0Ii8+DQoJCTx1aXRleHQgbmFtZT0iUVVJWlBPRF9RVUVTVFlQRV9TVFIiIHZhbHVlPSLYp9mE2YbZiNi5OiAlcyIvPg0KCQk8dWl0ZXh0IG5hbWU9IlFVSVpQT0RfUVVFU1RZUEVfR1JEIiB2YWx1ZT0i2KrZhSDYqti12K3Zitit2YciLz4NCgkJPHVpdGV4dCBuYW1lPSJRVUlaUE9EX1FVRVNUWVBFX1NWWSIgdmFsdWU9Itin2LPYqti32YTYp9i5Ii8+DQoJCTx1aXRleHQgbmFtZT0iUVVJWlBPRF9RVUlaQVRNUFRfSU5GIiB2YWx1ZT0i2YTYpyDZhtmH2KfYptmKIi8+DQoJCTx1aXRleHQgbmFtZT0iUVVJWlBPRF9RVUVTQVRNUFRfSU5GIiB2YWx1ZT0i2YTYpyDZhtmH2KfYptmKIi8+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ZitmIINmE2KrZhtiy2YrZhCDYo9it2K/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DQoJCTx1aXRleHQgbmFtZT0iTVVURSIgdmFsdWU9Iti12KfZhdiqIi8+DQoJCTx1aXRleHQgbmFtZT0iRE9DV1JBUF9USVRMRSIgdmFsdWU9Itin2YTZhdmE2YHYp9iqINin2YTZhdix2YHZgtipINmB2YogUHJlc2VudGVyIi8+DQoJCTx1aXRleHQgbmFtZT0iRE9DV1JBUF9NU0ciIHZhbHVlPSLYp9mE2K3Zgdi4INmB2Yog2KzZh9in2LIg2KfZhNmD2YXYqNmK2YjYqtixIi8+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S7mOODleOCoeOCpOODq+itpuWRiiIvPg0KCQk8dWl0ZXh0IG5hbWU9IkFUVEFDSE1FTlRfUFJFVklFV19XQVJOSU5HTVNHIiB2YWx1ZT0i5re75LuY44OV44Kh44Kk44Or44Gv44OX44Os44OT44Ol44O844Oi44O844OJ44Gn44Gv6ZaL44GN44G+44Gb44KT44CC44OR44OW44Oq44OD44K344Ol44KS5L2/55So44GX44Gm57WQ5p6c44KS6KGo56S644GX44Gm44GP44Gg44GV44GE44CCIi8+DQoJCTx1aXRleHQgbmFtZT0iQ09MTEFCX0xPQ0FMX1BMQVlCQUNLX01TRyIgdmFsdWU9IuOCs+ODs+ODhuODs+ODhOOBr+ODreODvOOCq+ODq+OBp+WGjeeUn+OBleOCjOOBpuOBhOOBvuOBmeOAguOBk+OBruODouODvOODieOBp+OBr+WFseWQjOS9nOalreOBp+OBjeOBvuOBm+OCk+OAgiIvPg0KCQk8dWl0ZXh0IG5hbWU9IkNPTExBQl9MT0NBTF9QTEFZQkFDS19USVRMRSIgdmFsdWU9IuODreODvOOCq+ODq+WGjeeUnyIvPg0KCQk8dWl0ZXh0IG5hbWU9IkNPTExBQl9MT0NBTF9QTEFZQkFDS0JUTiIgdmFsdWU9Ik9LIi8+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x1aXRleHQgbmFtZT0iQ09VUlNFX1NUQVRVUyIgdmFsdWU9IuODouOCuOODpeODvOODq+OCueODhuODvOOCv+OCuSIvPg0KCQk8dWl0ZXh0IG5hbWU9IlBBU1NFRF9TVFJJTkciIHZhbHVlPSLlkIjmoLwiLz4NCgkJPHVpdGV4dCBuYW1lPSJGQUlMRURfU1RSSU5HIiB2YWx1ZT0i5LiN5ZCI5qC8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ZIOyekeyXheydhCDsiJjtlontlaAg7IiYIOyXhuyKteuLiOuLpC4iLz4NCgkJPHVpdGV4dCBuYW1lPSJDT0xMQUJfTE9DQUxfUExBWUJBQ0tfVElUTEUiIHZhbHVlPSLroZzsu6wg7J6s7IOdIi8+DQoJCTx1aXRleHQgbmFtZT0iQ09MTEFCX0xPQ0FMX1BMQVlCQUNLQlROIiB2YWx1ZT0i7ZmV7J24Ii8+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DQoJCTx1aXRleHQgbmFtZT0iQ09MTEFCX0xPQ0FMX1BMQVlCQUNLQlROIiB2YWx1ZT0iT2siLz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DQoJCTx1aXRleHQgbmFtZT0iU0NSVUJCQVJTVEFUVVNfUExBWUlORyIgdmFsdWU9IlJlcHJvZHV6aW5kbyIvPg0KCQk8dWl0ZXh0IG5hbWU9IlNDUlVCQkFSU1RBVFVTX05PQVVESU8iIHZhbHVlPSJTZW0gw6F1ZGlvIi8+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DQoJCTx1aXRleHQgbmFtZT0iU0NSVUJCQVJTVEFUVVNfUkVWSUVXUVVJWiIgdmFsdWU9IlJldmlzYW5kbyBxdWVzdGlvbsOhcmlvIi8+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DQoJCTx1aXRleHQgbmFtZT0iVEFCX1FVSVoiIHZhbHVlPSJRdWVzdC4iLz4NCgkJPHVpdGV4dCBuYW1lPSJUQUJfT1VUTElORSIgdmFsdWU9IkVzcXVlbWEiLz4NCgkJPHVpdGV4dCBuYW1lPSJUQUJfVEhVTUIiIHZhbHVlPSJNaW5pIi8+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DQoJCTx1aXRleHQgbmFtZT0iQ09VUlNFX1NUQVRVUyIgdmFsdWU9IlN0YXR1cyBkbyBtw7NkdWxvIi8+DQoJCTx1aXRleHQgbmFtZT0iUEFTU0VEX1NUUklORyIgdmFsdWU9IkFwcm92YWRvIi8+DQoJCTx1aXRleHQgbmFtZT0iRkFJTEVEX1NUUklORyIgdmFsdWU9IlJlcHJvdmFkby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DQoJCTx1aXRleHQgbmFtZT0iQ09MTEFCX0xPQ0FMX1BMQVlCQUNLX01TRyIgdmFsdWU9IkNvbnRlbnQgaXMgYmVpbmcgcGxheWVkIGxvY2FsbHkuXG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DQoJCTx1aXRleHQgbmFtZT0iUVVJWlBPRF9RVUlaX01BWFNDT1JFIiB2YWx1ZT0iTWF4aW1hYWwgaGFhbGJhcmUgc2NvcmU6Ii8+DQoJCTx1aXRleHQgbmFtZT0iUVVJWlBPRF9RVUVTQVRNUFRfU1RSIiB2YWx1ZT0iUG9naW5nOiAlbiB2YW4gJXQiLz4NCgkJPHVpdGV4dCBuYW1lPSJRVUlaUE9EX1FVRVNUWVBFX1NUUiIgdmFsdWU9IlR5cGU6ICVzIi8+DQoJCTx1aXRleHQgbmFtZT0iUVVJWlBPRF9RVUVTVFlQRV9HUkQiIHZhbHVlPSJUZWx0IHZvb3Igc2NvcmUiLz4NCgkJPHVpdGV4dCBuYW1lPSJRVUlaUE9EX1FVRVNUWVBFX1NWWSIgdmFsdWU9IkVucXXDqnRlIi8+DQoJCTx1aXRleHQgbmFtZT0iUVVJWlBPRF9RVUlaQVRNUFRfSU5GIiB2YWx1ZT0iT25iZXBlcmt0Ii8+DQoJCTx1aXRleHQgbmFtZT0iUVVJWlBPRF9RVUVTQVRNUFRfSU5GIiB2YWx1ZT0iT25iZXBlcmt0Ii8+DQoJCTx1aXRleHQgbmFtZT0iV0FSTklOR01TR19ZRVNTVFJJTkciIHZhbHVlPSJKYSIvPg0KCQk8dWl0ZXh0IG5hbWU9IldBUk5JTkdNU0dfTk9TVFJJTkciIHZhbHVlPSJOZWUiLz4NCgkJPHVpdGV4dCBuYW1lPSJXQVJOSU5HTVNHX1RJVExFU1RSSU5HIiB2YWx1ZT0iV2FhcnNjaHV3aW5nIG1ldCBiZXRyZWtraW5nIHRvdCBxdWl6bmF2aWdhdGllIi8+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aaWpwYW5lZWwgYWFuIGRlZWxuZW1lcnMgd2VlcmdldmVuIi8+DQoJCTx1aXRleHQgbmFtZT0iTVVURSIgdmFsdWU9IkRlbXBlbiIvPg0KCQk8dWl0ZXh0IG5hbWU9IkRPQ1dSQVBfVElUTEUiIHZhbHVlPSJQcmVzZW50ZXItYmVzdGFuZHNiaWpsYWdlIi8+DQoJCTx1aXRleHQgbmFtZT0iRE9DV1JBUF9NU0ciIHZhbHVlPSJPcHNsYWFuIGluIERlemUgY29tcHV0ZXIiLz4NCgkJPHVpdGV4dCBuYW1lPSJET0NXUkFQX1BST01QVCIgdmFsdWU9IktsaWsgb20gdGUgZG93bmxvYWRlbiIvPg0KCTwvbGFuZ3VhZ2U+DQoJPGxhbmd1YWdlIGlkPSJjbiI+DQoJCTwhLS0gZm9ybWF0IGZvciB1aWZvbnQgdmFsdWUgaXMgImZvbnQsc2l6ZSxpc2JvbGQsaXNpdGFsaWMsaXNzaGFkb3dlZCIgLS0+DQoJCTx1aWZvbnQgbmFtZT0iRk9OVF9RVUlaWklORyIgdmFsdWU9IuWui+S9ky0xODAzMCwxMCxmYWxzZSxmYWxzZSxmYWxzZSIvPg0KCQk8dWlmb250IG5hbWU9IkZPTlRfU0NSVUJTVEFUVVMiIHZhbHVlPSLlrovkvZMtMTgwMzAsMTAsdHJ1ZSxmYWxzZSx0cnVlIi8+DQoJCTx1aWZvbnQgbmFtZT0iRk9OVF9TQ1JVQlRJTUUiIHZhbHVlPSLlrovkvZMtMTgwMzAsMTAsZmFsc2UsZmFsc2UsdHJ1ZSIvPg0KCQk8dWlmb250IG5hbWU9IkZPTlRfRUxBUFNFRFRJTUUiIHZhbHVlPSLlrovkvZMtMTgwMzAsMTAsdHJ1ZSxmYWxzZSx0cnVlIi8+DQoJCTx1aWZvbnQgbmFtZT0iRk9OVF9VVElMU01FTlUiIHZhbHVlPSLlrovkvZMtMTgwMzAsMTAsdHJ1ZSxmYWxzZSxmYWxzZSIvPg0KCQk8dWlmb250IG5hbWU9IkZPTlRfVEFCUyIgdmFsdWU9IuWui+S9ky0xODAzMCwxNCx0cnVlLGZhbHNlLHRydWUiLz4NCgkJPHVpZm9udCBuYW1lPSJGT05UX1BSRVNFTlRBVElPTk5BTUUiIHZhbHVlPSLlrovkvZMtMTgwMzAsMTQsZmFsc2UsZmFsc2UsdHJ1ZSIvPg0KCQk8dWlmb250IG5hbWU9IkZPTlRfUFJFU0VOVEVSTkFNRSIgdmFsdWU9IuWui+S9ky0xODAzMCwxNCx0cnVlLGZhbHNlLHRydWUiLz4NCgkJPHVpZm9udCBuYW1lPSJGT05UX1BSRVNFTlRFUlRJVExFIiB2YWx1ZT0i5a6L5L2TLTE4MDMwLDEzLGZhbHNlLGZhbHNlLHRydWUiLz4NCgkJPHVpZm9udCBuYW1lPSJGT05UX0JJT0JUTiIgdmFsdWU9IuWui+S9ky0xODAzMCwxMCxmYWxzZSxmYWxzZSx0cnVlIi8+DQoJCTx1aWZvbnQgbmFtZT0iRk9OVF9OT1RFUyIgdmFsdWU9IuWui+S9ky0xODAzMCwxMixmYWxzZSxmYWxzZSxmYWxzZSIvPg0KCQk8dWlmb250IG5hbWU9IkZPTlRfT1VUTElORSIgdmFsdWU9IuWui+S9ky0xODAzMCwxMixmYWxzZSxmYWxzZSx0cnVlIi8+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DQoJCTx1aWZvbnQgbmFtZT0iRk9OVF9MSVNUSEVBRElORyIgdmFsdWU9IuWui+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S9ky0xODAzMCwxMix0cnVlLGZhbHNlLHRydWUiLz4NCgkJPHVpZm9udCBuYW1lPSJGT05UX01TR0JPWF9NU0ciIHZhbHVlPSLlrovkvZMtMTgwMzAsMTIsZmFsc2UsZmFsc2UsdHJ1ZSIvPg0KCQk8dWlmb250IG5hbWU9IkZPTlRfTVNHQk9YX09QVElPTlMiIHZhbHVlPSLlrovkvZMtMTgwMzAsMTAsdHJ1ZSxmYWxzZSx0cnVlIi8+DQoJCTx1aWZvbnQgbmFtZT0iRk9OVF9RVUlaUE9EX1FVSVpfVElUTEUiIHZhbHVlPSLlrovkvZMtMTgwMzAsMTIsdHJ1ZSxmYWxzZSx0cnVlIi8+DQoJCTx1aWZvbnQgbmFtZT0iRk9OVF9RVUlaUE9EX1FVSVpfQVRURU1QVCIgdmFsdWU9IuWui+S9ky0xODAzMCwxMCxmYWxzZSxmYWxzZSx0cnVlIi8+DQoJCTx1aWZvbnQgbmFtZT0iRk9OVF9RVUlaUE9EX1FVSVpfQVRURU1QVF9WQUxVRSIgdmFsdWU9IuWui+S9ky0xODAzMCwxMCx0cnVlLGZhbHNlLHRydWUiLz4NCgkJPHVpZm9udCBuYW1lPSJGT05UX1FVSVpQT0RfUVVFU1RJT05fU0NPUkUiIHZhbHVlPSLlrovkvZMtMTgwMzAsMTAsZmFsc2UsZmFsc2UsdHJ1ZSIvPg0KCQk8dWlmb250IG5hbWU9IkZPTlRfUVVJWlBPRF9RVUVTVElPTl9TQ09SRV9WQUxVRSIgdmFsdWU9IuWui+S9ky0xODAzMCwxMCx0cnVlLGZhbHNlLHRydWUiLz4NCgkJPHVpZm9udCBuYW1lPSJGT05UX1FVSVpQT0RfUVVFU1RJT05fQVRURU1QVCIgdmFsdWU9IuWui+S9ky0xODAzMCwxMCxmYWxzZSxmYWxzZSx0cnVlIi8+DQoJCTx1aWZvbnQgbmFtZT0iRk9OVF9RVUlaUE9EX1FVRVNUSU9OX0FUVEVNUFRfVkFMVUUiIHZhbHVlPSLlrovkvZMtMTgwMzAsMTAsdHJ1ZSxmYWxzZSx0cnVlIi8+DQoJCTx1aWZvbnQgbmFtZT0iRk9OVF9RVUlaUE9EX1FVRVNUSU9OX1RBRyIgdmFsdWU9IuWui+S9ky0xODAzMCwxMix0cnVlLGZhbHNlLHRydWUiLz4NCgkJPHVpZm9udCBuYW1lPSJGT05UX1FVSVpQT0RfUVVJWl9RVUVTVElPTl9DT1VOVCIgdmFsdWU9IuWui+S9ky0xODAzMCwxMCxmYWxzZSxmYWxzZSx0cnVlIi8+DQoJCTx1aWZvbnQgbmFtZT0iRk9OVF9RVUlaUE9EX1FVSVpfUVVFU1RJT05fQ09VTlRfVkFMVUUiIHZhbHVlPSLlrovkvZMtMTgwMzAsMTAsdHJ1ZSxmYWxzZSx0cnVlIi8+DQoJCTx1aWZvbnQgbmFtZT0iRk9OVF9RVUlaUE9EX1FVSVpfUVVFU1RJT05fQVRURU1QVEVEIiB2YWx1ZT0i5a6L5L2TLTE4MDMwLDEwLGZhbHNlLGZhbHNlLHRydWUiLz4NCgkJPHVpZm9udCBuYW1lPSJGT05UX1FVSVpQT0RfUVVJWl9RVUVTVElPTl9BVFRFTVBURURfVkFMVUUiIHZhbHVlPSLlrovkvZMtMTgwMzAsMTAsdHJ1ZSxmYWxzZSx0cnVlIi8+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S9ky0xODAzMCwxMCx0cnVlLGZhbHNlLHRydWUiLz4NCgkJPHVpZm9udCBuYW1lPSJGT05UX1FVSVpQT0RfUVVJWl9NQVhTQ09SRSIgdmFsdWU9IuWui+S9ky0xODAzMCwxMCxmYWxzZSxmYWxzZSx0cnVlIi8+DQoJCTx1aWZvbnQgbmFtZT0iRk9OVF9RVUlaUE9EX1FVSVpfTUFYU0NPUkVfVkFMVUUiIHZhbHVlPSLlrovkvZMtMTgwMzAsMTAsdHJ1ZSxmYWxzZSx0cnVlIi8+DQoJCTx1aWZvbnQgbmFtZT0iRk9OVF9RVUlaUE9EX1FVSVpfUEFTU1NDT1JFIiB2YWx1ZT0i5a6L5L2TLTE4MDMwLDEwLGZhbHNlLGZhbHNlLHRydWUiLz4NCgkJPHVpZm9udCBuYW1lPSJGT05UX1FVSVpQT0RfUVVJWl9QQVNTU0NPUkVfVkFMVUUiIHZhbHVlPSLlrovkvZMtMTgwMzAsMTAsdHJ1ZSxmYWxzZSx0cnVlIi8+DQoJCTwhLS0gdWl0ZXh0IC0tPg0KCQk8IS0tIHN1YnN0aXR1dGlvbjogJW4gPT0gc2xpZGUgbnVtYmVyIC0t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DQoJCTx1aXRleHQgbmFtZT0iQ09MTEFCX0xPQ0FMX1BMQVlCQUNLX1RJVExFIiB2YWx1ZT0iTG9jYWwgUGxheWJhY2siLz4NCgkJPHVpdGV4dCBuYW1lPSJDT0xMQUJfTE9DQUxfUExBWUJBQ0tCVE4iIHZhbHVlPSJPayIvPg0KCQk8dWl0ZXh0IG5hbWU9IlVOTkFNRURTTElERVRJVExFIiB2YWx1ZT0i5bm754Gv54mHICVuIi8+DQoJCTwhLS0gc3Vic3RpdHV0aW9uOiAlbiA9PSBzbGlkZSBudW1iZXIgLS0+DQoJCTwhLS0gc3Vic3RpdHV0aW9uOiAldCA9PSB0b3RhbCBzbGlkZSBjb3VudCAtLT4NCgkJPHVpdGV4dCBuYW1lPSJTQ1JVQkJBUlNUQVRVU19TTElERUlORk8iIHZhbHVlPSLlubvnga/niYcgJW4gLyAldCB8ICIvPg0KCQk8dWl0ZXh0IG5hbWU9IlNDUlVCQkFSU1RBVFVTX1NUT1BQRUQiIHZhbHVlPSLlt7LlgZzmraIiLz4NCgkJPHVpdGV4dCBuYW1lPSJTQ1JVQkJBUlNUQVRVU19QTEFZSU5HIiB2YWx1ZT0i5q2j5Zyo5pKt5pS+Ii8+DQoJCTx1aXRleHQgbmFtZT0iU0NSVUJCQVJTVEFUVVNfTk9BVURJTyIgdmFsdWU9IuaXoOmfs+mikSIvPg0KCQk8dWl0ZXh0IG5hbWU9IlNDUlVCQkFSU1RBVFVTX1ZJRFBMQVlJTkciIHZhbHVlPSLop4bpopHmkq3mlL4iLz4NCgkJPHVpdGV4dCBuYW1lPSJTQ1JVQkJBUlNUQVRVU19MT0FESU5HIiB2YWx1ZT0i5q2j5Zyo6L295YWlIi8+DQoJCTx1aXRleHQgbmFtZT0iU0NSVUJCQVJTVEFUVVNfQlVGRkVSSU5HIiB2YWx1ZT0i5q2j5Zyo6L+b6KGM57yT5Yay5aSE55CGIi8+DQoJCTx1aXRleHQgbmFtZT0iU0NSVUJCQVJTVEFUVVNfUVVFU1RJT04iIHZhbHVlPSLlm57nrZTpl67popgiLz4NCgkJPHVpdGV4dCBuYW1lPSJTQ1JVQkJBUlNUQVRVU19SRVZJRVdRVUlaIiB2YWx1ZT0i5q2j5Zyo5a6h6ZiF5rWL6aqMIi8+DQoJCTwhLS0gc3Vic3RpdHV0aW9uOiAlbSA9PSBtaW51dGVzIHJlbWFpbmluZyAtLT4NCgkJPCEtLSBzdWJzdGl0dXRpb246ICVzID09IHNlY29uZHMgcmVtYWluaW5nIC0tPg0KCQk8dWl0ZXh0IG5hbWU9IkVMQVBTRUQiIHZhbHVlPSLliankvZkgJW0g5YiG6ZKfICVzIOenkiIvPg0KCQk8dWl0ZXh0IG5hbWU9Ik5PVEZPVU5EIiB2YWx1ZT0i5pyq5om+5Yiw5Lu75L2V5YaF5a65Ii8+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mqjCIvPg0KCQk8dWl0ZXh0IG5hbWU9IlRBQl9PVVRMSU5FIiB2YWx1ZT0i5aSn57qyIi8+DQoJCTx1aXRleHQgbmFtZT0iVEFCX1RIVU1CIiB2YWx1ZT0i57yp55Wl5Zu+Ii8+DQoJCTx1aXRleHQgbmFtZT0iVEFCX05PVEVTIiB2YWx1ZT0i5aSH5rOoIi8+DQoJCTx1aXRleHQgbmFtZT0iVEFCX1NFQVJDSCIgdmFsdWU9IuaQnOe0oiIvPg0KCQk8dWl0ZXh0IG5hbWU9IlNMSURFX0hFQURJTkciIHZhbHVlPSLlubvnga/niYfmoIfpopgiLz4NCgkJPHVpdGV4dCBuYW1lPSJEVVJBVElPTl9IRUFESU5HIiB2YWx1ZT0i5oyB57ut5pe26Ze0Ii8+DQoJCTx1aXRleHQgbmFtZT0iU0VBUkNIX0hFQURJTkciIHZhbHVlPSLmkJzntKLmlofmnKw6Ii8+DQoJCTx1aXRleHQgbmFtZT0iVEhVTUJfSEVBRElORyIgdmFsdWU9IuW5u+eBr+eJhyIvPg0KCQk8dWl0ZXh0IG5hbWU9IlRIVU1CX0lORk8iIHZhbHVlPSLlubvnga/niYfmoIfpopgv5oyB57ut5pe26Ze0Ii8+DQoJCTx1aXRleHQgbmFtZT0iQVRUQUNITkFNRV9IRUFESU5HIiB2YWx1ZT0i5paH5Lu25ZCNIi8+DQoJCTx1aXRleHQgbmFtZT0iQVRUQUNIU0laRV9IRUFESU5HIiB2YWx1ZT0i5aSn5bCPIi8+DQoJCTx1aXRleHQgbmFtZT0iU0xJREVfTk9URVMiIHZhbHVlPSLlubvnga/niYflpIfms6g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JPGxhbmd1YWdlIGlkPSJ0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x1aXRleHQgbmFtZT0iVU5OQU1FRFNMSURFVElUTEUiIHZhbHVlPSJTbGF5dCAlbiIvPg0KCQk8IS0tIHN1YnN0aXR1dGlvbjogJW4gPT0gc2xpZGUgbnVtYmVyIC0tPg0KCQk8IS0tIHN1YnN0aXR1dGlvbjogJXQgPT0gdG90YWwgc2xpZGUgY291bnQgLS0+DQoJCTx1aXRleHQgbmFtZT0iU0NSVUJCQVJTVEFUVVNfU0xJREVJTkZPIiB2YWx1ZT0iU2xheXQgJW4gLyAldCB8ICIvPg0KCQk8dWl0ZXh0IG5hbWU9IlNDUlVCQkFSU1RBVFVTX1NUT1BQRUQiIHZhbHVlPSJEdXJkdXJ1bGR1Ii8+DQoJCTx1aXRleHQgbmFtZT0iU0NSVUJCQVJTVEFUVVNfUExBWUlORyIgdmFsdWU9Ik95bmF0xLFsxLF5b3IiLz4NCgkJPHVpdGV4dCBuYW1lPSJTQ1JVQkJBUlNUQVRVU19OT0FVRElPIiB2YWx1ZT0iU2VzIFlvayIvPg0KCQk8dWl0ZXh0IG5hbWU9IlNDUlVCQkFSU1RBVFVTX1ZJRFBMQVlJTkciIHZhbHVlPSJWaWRlbyBPeW5hdMSxbMSxeW9yIi8+DQoJCTx1aXRleHQgbmFtZT0iU0NSVUJCQVJTVEFUVVNfTE9BRElORyIgdmFsdWU9IlnDvGtsZW5peW9yIi8+DQoJCTx1aXRleHQgbmFtZT0iU0NSVUJCQVJTVEFUVVNfQlVGRkVSSU5HIiB2YWx1ZT0iQXJhYmVsbGXEn2UgQWzEsW7EsXlvciIvPg0KCQk8dWl0ZXh0IG5hbWU9IlNDUlVCQkFSU1RBVFVTX1FVRVNUSU9OIiB2YWx1ZT0iU29ydXl1IFlhbsSxdGxhIi8+DQoJCTx1aXRleHQgbmFtZT0iU0NSVUJCQVJTVEFUVVNfUkVWSUVXUVVJWiIgdmFsdWU9IlPEsW5hdiDEsG5jZWxlbml5b3IiLz4NCgkJPCEtLSBzdWJzdGl0dXRpb246ICVtID09IG1pbnV0ZXMgcmVtYWluaW5nIC0tPg0KCQk8IS0tIHN1YnN0aXR1dGlvbjogJXMgPT0gc2Vjb25kcyByZW1haW5pbmcgLS0+DQoJCTx1aXRleHQgbmFtZT0iRUxBUFNFRCIgdmFsdWU9IiVtIERha2lrYSAlcyBTYW5peWUgS2FsZMSxIi8+DQoJCTx1aXRleHQgbmFtZT0iTk9URk9VTkQiIHZhbHVlPSJIZXJoYW5naSBCaXIgxZ5leSBCdWx1bm1hZMSxIi8+DQoJCTx1aXRleHQgbmFtZT0iQVRUQUNITUVOVFMiIHZhbHVlPSJFa2xlci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sSwcnRpYmF0Ii8+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0J/QvtC/0YvRgtC60LAg0L/RgNC+0LnRgtC4INC+0L/RgNC+0YE6Ii8+DQoJCTx1aXRleHQgbmFtZT0iUVVJWlBPRF9RVUlaX0FUVEVNUFRfVkFMVUUiIHZhbHVlPSIlbiDQuNC3ICV0Ii8+DQoJCTx1aXRleHQgbmFtZT0iUVVJWlBPRF9RVUlaX1NDT1JFIiB2YWx1ZT0i0J3QsNCx0YDQsNC90L4g0LHQsNC70LvQvtCyOiIvPg0KCQk8dWl0ZXh0IG5hbWU9IlFVSVpQT0RfUVVJWl9QQVNTU0NPUkUiIHZhbHVlPSLQn9GA0L7RhdC+0LTQvdC+0Lkg0YDQtdC30YPQu9GM0YLQsNGCOiIvPg0KCQk8dWl0ZXh0IG5hbWU9IlFVSVpQT0RfUVVJWl9NQVhTQ09SRSIgdmFsdWU9ItCc0LDQutGB0LjQvNCw0LvRjNC90YvQuSDRgNC10LfRg9C70YzRgtCw0YI6Ii8+DQoJCTx1aXRleHQgbmFtZT0iUVVJWlBPRF9RVUVTQVRNUFRfU1RSIiB2YWx1ZT0i0J/QvtC/0YvRgtC60LA6ICVuINC40LcgJXQiLz4NCgkJPHVpdGV4dCBuYW1lPSJRVUlaUE9EX1FVRVNUWVBFX1NUUiIgdmFsdWU9ItCi0LjQvzogJXMiLz4NCgkJPHVpdGV4dCBuYW1lPSJRVUlaUE9EX1FVRVNUWVBFX0dSRCIgdmFsdWU9ItChINC+0YbQtdC90LrQvtC5Ii8+DQoJCTx1aXRleHQgbmFtZT0iUVVJWlBPRF9RVUVTVFlQRV9TVlkiIHZhbHVlPSLQntCx0LfQvtGAIi8+DQoJCTx1aXRleHQgbmFtZT0iUVVJWlBPRF9RVUlaQVRNUFRfSU5GIiB2YWx1ZT0i0JHQvtC70YzRiNC+0LUg0YfQuNGB0LvQviIvPg0KCQk8dWl0ZXh0IG5hbWU9IlFVSVpQT0RfUVVFU0FUTVBUX0lORiIgdmFsdWU9ItCR0L7Qu9GM0YjQvtC1INGH0LjRgdC70L4iLz4NCgkJPHVpdGV4dCBuYW1lPSJXQVJOSU5HTVNHX1lFU1NUUklORyIgdmFsdWU9ItCU0LAiLz4NCgkJPHVpdGV4dCBuYW1lPSJXQVJOSU5HTVNHX05PU1RSSU5HIiB2YWx1ZT0i0J3QtdGCIi8+DQoJCTx1aXRleHQgbmFtZT0iV0FSTklOR01TR19USVRMRVNUUklORyIgdmFsdWU9ItCf0YDQtdC00YPQv9GA0LXQttC00LXQvdC40LUg0L4g0L3QsNCy0LjQs9Cw0YbQuNC4INCyINC+0L/RgNC+0YHQtSIvPg0KCQk8dWl0ZXh0IG5hbWU9IldBUk5JTkdNU0dfTVNHU1RSSU5HIiB2YWx1ZT0i0JIg0L7Qv9GA0L7RgdC1INC+0YHRgtCw0LvQuNGB0Ywg0L3QtdC+0YLQstC10YfQtdC90L3Ri9C1INCy0L7Qv9GA0L7RgdGLLtCd0LDQttCw0YLQuNC1INC60L3QvtC/0LrQuCAmcXVvdDvQlNCwJnF1b3Q7INC/0YDQuNCy0LXQtNC10YIg0Log0LfQsNC60YDRi9GC0LjRjiDQvtC/0YDQvtGB0LAuINCd0LDQttCw0YLQuNC1INC60L3QvtC/0LrQuCAmcXVvdDvQndC10YImcXVvdDsg0L/RgNC+0LTQvtC70LbQuNGCINC+0L/RgNC+0YEuIi8+DQoJCTx1aXRleHQgbmFtZT0iSU5GT1JNQVRJT05fSDI2NF9GTEFTSFBMQVlFUiIgdmFsdWU9ItCi0LXQutGD0YnQsNGPINCy0LXRgNGB0LjRjyDQv9GA0L7QuNCz0YDRi9Cy0LDRgtC10LvRjyBGbGFzaCBQbGF5ZXIsINGD0YHRgtCw0L3QvtCy0LvQtdC90L3QsNGPINC90LAg0Y3RgtC+0Lwg0LrQvtC80L/RjNGO0YLQtdGA0LUsINC90LUg0L/QvtC00LTQtdGA0LbQuNCy0LDQtdGCINGN0YLQviDQstC40LTQtdC+LiDQqdC10LvQutC90LjRgtC1INCyINC+0LHQu9Cw0YHRgtC4INCy0LjQtNC10L4sINGH0YLQvtCx0Ysg0LfQsNCz0YDRg9C30LjRgtGMINC/0L7RgdC70LXQtNC90Y7RjiDQstC10YDRgdC40Y4g0L/RgNC+0LjQs9GA0YvQstCw0YLQtdC70Y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Qn9C+0LrQsNC30YvQstCw0YLRjCDQstGA0LXQt9C60YMg0YPRh9Cw0YHRgtC90LjQutCw0LwiLz4NCgkJPHVpdGV4dCBuYW1lPSJNVVRFIiB2YWx1ZT0i0J7RgtC60LvRjtGH0LjRgtGMINC30LLRg9C6Ii8+DQoJCTx1aXRleHQgbmFtZT0iRE9DV1JBUF9USVRMRSIgdmFsdWU9ItCS0LvQvtC20LXQvdC40LUg0LIg0YTQsNC50LsgQWRvYmUgUHJlc2VudGVyIi8+DQoJCTx1aXRleHQgbmFtZT0iRE9DV1JBUF9NU0ciIHZhbHVlPSLQodC+0YXRgNCw0L3QuNGC0Ywg0LIg0L/QsNC/0LrRgyAmcXVvdDvQnNC+0Lkg0LrQvtC80L/RjNGO0YLQtdGAJnF1b3Q7Ii8+DQoJCTx1aXRleHQgbmFtZT0iRE9DV1JBUF9QUk9NUFQiIHZhbHVlPSLQqdC10LvQutC90YPRgtGMINC00LvRjyDQt9Cw0LPRgNGD0LfQutC4Ii8+DQoJPC9sYW5ndWFnZT4NCjwvY29uZmlndXJhdGlvbj4NCg=="/>
  <p:tag name="MMPROD_UIDATA" val="&lt;database version=&quot;11.0&quot;&gt;&lt;object type=&quot;1&quot; unique_id=&quot;10001&quot;&gt;&lt;property id=&quot;20141&quot; value=&quot;ECE/CS 552 - Shared Memory and Coherence&quot;/&gt;&lt;property id=&quot;20144&quot; value=&quot;0&quot;/&gt;&lt;property id=&quot;20146&quot; value=&quot;0&quot;/&gt;&lt;property id=&quot;20147&quot; value=&quot;0&quot;/&gt;&lt;property id=&quot;20148&quot; value=&quot;5&quot;/&gt;&lt;property id=&quot;20180&quot; value=&quot;0&quot;/&gt;&lt;property id=&quot;20181&quot; value=&quot;1&quot;/&gt;&lt;property id=&quot;20183&quot; value=&quot;1&quot;/&gt;&lt;property id=&quot;20184&quot; value=&quot;7&quot;/&gt;&lt;property id=&quot;20193&quot; value=&quot;-1&quot;/&gt;&lt;property id=&quot;20224&quot; value=&quot;C:\Users\sanmi\Documents\My Adobe Presentations\ece552-SharedMemoryCoherence&quot;/&gt;&lt;property id=&quot;20250&quot; value=&quot;0&quot;/&gt;&lt;property id=&quot;20251&quot; value=&quot;0&quot;/&gt;&lt;property id=&quot;20259&quot; value=&quot;0&quot;/&gt;&lt;property id=&quot;20263&quot; value=&quot;2&quot;/&gt;&lt;property id=&quot;20264&quot; value=&quot;1&quot;/&gt;&lt;property id=&quot;20519&quot; value=&quot;0&quot;/&gt;&lt;property id=&quot;20700&quot; value=&quot;0&quot;/&gt;&lt;object type=&quot;2&quot; unique_id=&quot;20554&quot;&gt;&lt;object type=&quot;3&quot; unique_id=&quot;20705&quot;&gt;&lt;property id=&quot;20148&quot; value=&quot;5&quot;/&gt;&lt;property id=&quot;20300&quot; value=&quot;Slide 1 - &amp;quot;ECE/CS 552: Shared Memory and Coherence&amp;quot;&quot;/&gt;&lt;property id=&quot;20307&quot; value=&quot;540&quot;/&gt;&lt;property id=&quot;20309&quot; value=&quot;-1&quot;/&gt;&lt;/object&gt;&lt;object type=&quot;3&quot; unique_id=&quot;26042&quot;&gt;&lt;property id=&quot;20148&quot; value=&quot;5&quot;/&gt;&lt;property id=&quot;20300&quot; value=&quot;Slide 3 - &amp;quot;Shared-Memory CMP&amp;quot;&quot;/&gt;&lt;property id=&quot;20307&quot; value=&quot;731&quot;/&gt;&lt;property id=&quot;20309&quot; value=&quot;-1&quot;/&gt;&lt;/object&gt;&lt;object type=&quot;3&quot; unique_id=&quot;27080&quot;&gt;&lt;property id=&quot;20148&quot; value=&quot;5&quot;/&gt;&lt;property id=&quot;20300&quot; value=&quot;Slide 2 - &amp;quot;Shared Memory&amp;quot;&quot;/&gt;&lt;property id=&quot;20307&quot; value=&quot;732&quot;/&gt;&lt;property id=&quot;20309&quot; value=&quot;-1&quot;/&gt;&lt;/object&gt;&lt;object type=&quot;3&quot; unique_id=&quot;28995&quot;&gt;&lt;property id=&quot;20148&quot; value=&quot;5&quot;/&gt;&lt;property id=&quot;20300&quot; value=&quot;Slide 4 - &amp;quot;Cache Coherence Problem&amp;quot;&quot;/&gt;&lt;property id=&quot;20307&quot; value=&quot;744&quot;/&gt;&lt;property id=&quot;20309&quot; value=&quot;-1&quot;/&gt;&lt;/object&gt;&lt;object type=&quot;3&quot; unique_id=&quot;40102&quot;&gt;&lt;property id=&quot;20148&quot; value=&quot;5&quot;/&gt;&lt;property id=&quot;20300&quot; value=&quot;Slide 7 - &amp;quot;Cache Coherence Problem&amp;quot;&quot;/&gt;&lt;property id=&quot;20307&quot; value=&quot;860&quot;/&gt;&lt;/object&gt;&lt;object type=&quot;3&quot; unique_id=&quot;40103&quot;&gt;&lt;property id=&quot;20148&quot; value=&quot;5&quot;/&gt;&lt;property id=&quot;20300&quot; value=&quot;Slide 8 - &amp;quot;Cache Coherence Problem&amp;quot;&quot;/&gt;&lt;property id=&quot;20307&quot; value=&quot;861&quot;/&gt;&lt;/object&gt;&lt;object type=&quot;3&quot; unique_id=&quot;40260&quot;&gt;&lt;property id=&quot;20148&quot; value=&quot;5&quot;/&gt;&lt;property id=&quot;20300&quot; value=&quot;Slide 9 - &amp;quot;Cache Coherence Problem&amp;quot;&quot;/&gt;&lt;property id=&quot;20307&quot; value=&quot;863&quot;/&gt;&lt;/object&gt;&lt;object type=&quot;3&quot; unique_id=&quot;40261&quot;&gt;&lt;property id=&quot;20148&quot; value=&quot;5&quot;/&gt;&lt;property id=&quot;20300&quot; value=&quot;Slide 10 - &amp;quot;Cache Coherence Problem&amp;quot;&quot;/&gt;&lt;property id=&quot;20307&quot; value=&quot;864&quot;/&gt;&lt;/object&gt;&lt;object type=&quot;3&quot; unique_id=&quot;40415&quot;&gt;&lt;property id=&quot;20148&quot; value=&quot;5&quot;/&gt;&lt;property id=&quot;20300&quot; value=&quot;Slide 6 - &amp;quot;Cache Coherence Problem&amp;quot;&quot;/&gt;&lt;property id=&quot;20307&quot; value=&quot;865&quot;/&gt;&lt;/object&gt;&lt;object type=&quot;3&quot; unique_id=&quot;40498&quot;&gt;&lt;property id=&quot;20148&quot; value=&quot;5&quot;/&gt;&lt;property id=&quot;20300&quot; value=&quot;Slide 5 - &amp;quot;Cache Coherence Problem&amp;quot;&quot;/&gt;&lt;property id=&quot;20307&quot; value=&quot;866&quot;/&gt;&lt;/object&gt;&lt;/object&gt;&lt;object type=&quot;8&quot; unique_id=&quot;20628&quot;&gt;&lt;/object&gt;&lt;object type=&quot;10&quot; unique_id=&quot;21256&quot;&gt;&lt;object type=&quot;11&quot; unique_id=&quot;21257&quot;&gt;&lt;property id=&quot;20180&quot; value=&quot;0&quot;/&gt;&lt;property id=&quot;20181&quot; value=&quot;1&quot;/&gt;&lt;property id=&quot;20183&quot; value=&quot;1&quot;/&gt;&lt;/object&gt;&lt;object type=&quot;12&quot; unique_id=&quot;39842&quot;&gt;&lt;/object&gt;&lt;/object&gt;&lt;object type=&quot;4&quot; unique_id=&quot;21258&quot;&gt;&lt;/object&gt;&lt;/object&gt;&lt;/database&gt;"/>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HTML_SHAPEINFO" val="&lt;SlideThumbPath val=&quot;Slide1.PNG&quot;/&gt;"/>
</p:tagLst>
</file>

<file path=ppt/tags/tag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25980EAA-1040-46AE-850A-BD406F413467}_1.png&quot;/&gt;&lt;left val=&quot;35&quot;/&gt;&lt;top val=&quot;178&quot;/&gt;&lt;width val=&quot;656&quot;/&gt;&lt;height val=&quot;146&quot;/&gt;&lt;hasText val=&quot;1&quot;/&gt;&lt;/Image&gt;&lt;/ThreeDShapeInfo&gt;"/>
  <p:tag name="PRESENTER_SHAPETEXTINFO" val="&lt;ShapeTextInfo&gt;&lt;TableIndex row=&quot;-1&quot; col=&quot;-1&quot;&gt;&lt;linesCount val=&quot;2&quot;/&gt;&lt;lineCharCount val=&quot;30&quot;/&gt;&lt;lineCharCount val=&quot;9&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ED0D0FF-B23C-404F-A44F-BB3CC2149BB1}_1.png&quot;/&gt;&lt;left val=&quot;103&quot;/&gt;&lt;top val=&quot;302&quot;/&gt;&lt;width val=&quot;512&quot;/&gt;&lt;height val=&quot;163&quot;/&gt;&lt;hasText val=&quot;1&quot;/&gt;&lt;/Image&gt;&lt;/ThreeDShapeInfo&gt;"/>
  <p:tag name="PRESENTER_SHAPETEXTINFO" val="&lt;ShapeTextInfo&gt;&lt;TableIndex row=&quot;-1&quot; col=&quot;-1&quot;&gt;&lt;linesCount val=&quot;6&quot;/&gt;&lt;lineCharCount val=&quot;24&quot;/&gt;&lt;lineCharCount val=&quot;1&quot;/&gt;&lt;lineCharCount val=&quot;55&quot;/&gt;&lt;lineCharCount val=&quot;53&quot;/&gt;&lt;lineCharCount val=&quot;14&quot;/&gt;&lt;lineCharCount val=&quot;3&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HTML_SHAPEINFO" val="&lt;SlideThumbPath val=&quot;Slide2.PNG&quot;/&gt;"/>
</p:tagLst>
</file>

<file path=ppt/tags/tag2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AB9F2F9B-8E56-482C-97D2-5C9CA44D434A}_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3&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5D3856EF-9547-473C-99FF-A5900FB90EED}_2.png&quot;/&gt;&lt;left val=&quot;24&quot;/&gt;&lt;top val=&quot;119&quot;/&gt;&lt;width val=&quot;688&quot;/&gt;&lt;height val=&quot;276&quot;/&gt;&lt;hasText val=&quot;1&quot;/&gt;&lt;/Image&gt;&lt;/ThreeDShapeInfo&gt;"/>
  <p:tag name="PRESENTER_SHAPETEXTINFO" val="&lt;ShapeTextInfo&gt;&lt;TableIndex row=&quot;-1&quot; col=&quot;-1&quot;&gt;&lt;linesCount val=&quot;2&quot;/&gt;&lt;lineCharCount val=&quot;45&quot;/&gt;&lt;lineCharCount val=&quot;45&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0D3D3E77-160A-44C0-A552-AE60940F45AC}_2.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6D908AA9-3498-4795-8F17-6A232BD4098B}_2.png&quot;/&gt;&lt;left val=&quot;194&quot;/&gt;&lt;top val=&quot;233&quot;/&gt;&lt;width val=&quot;132&quot;/&gt;&lt;height val=&quot;222&quot;/&gt;&lt;hasText val=&quot;1&quot;/&gt;&lt;/Image&gt;&lt;/ThreeDShapeInfo&gt;"/>
  <p:tag name="PRESENTER_SHAPETEXTINFO" val="&lt;ShapeTextInfo&gt;&lt;TableIndex row=&quot;-1&quot; col=&quot;-1&quot;&gt;&lt;linesCount val=&quot;1&quot;/&gt;&lt;lineCharCount val=&quot;6&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02490D4-AB34-40D8-A339-CE6E09F3B713}_2.png&quot;/&gt;&lt;left val=&quot;194&quot;/&gt;&lt;top val=&quot;500&quot;/&gt;&lt;width val=&quot;132&quot;/&gt;&lt;height val=&quot;36&quot;/&gt;&lt;hasText val=&quot;1&quot;/&gt;&lt;/Image&gt;&lt;/ThreeDShapeInfo&gt;"/>
  <p:tag name="PRESENTER_SHAPETEXTINFO" val="&lt;ShapeTextInfo&gt;&lt;TableIndex row=&quot;-1&quot; col=&quot;-1&quot;&gt;&lt;linesCount val=&quot;1&quot;/&gt;&lt;lineCharCount val=&quot;10&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5E24383D-F393-41C0-9092-3D01DA9DC40B}_2.png&quot;/&gt;&lt;left val=&quot;102&quot;/&gt;&lt;top val=&quot;339&quot;/&gt;&lt;width val=&quot;78&quot;/&gt;&lt;height val=&quot;39&quot;/&gt;&lt;hasText val=&quot;1&quot;/&gt;&lt;/Image&gt;&lt;/ThreeDShapeInfo&gt;"/>
  <p:tag name="PRESENTER_SHAPETEXTINFO" val="&lt;ShapeTextInfo&gt;&lt;TableIndex row=&quot;-1&quot; col=&quot;-1&quot;&gt;&lt;linesCount val=&quot;1&quot;/&gt;&lt;lineCharCount val=&quot;8&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EA968118-0512-47E9-9A9D-E71D5CFF7A82}_2.png&quot;/&gt;&lt;left val=&quot;110&quot;/&gt;&lt;top val=&quot;363&quot;/&gt;&lt;width val=&quot;72&quot;/&gt;&lt;height val=&quot;39&quot;/&gt;&lt;hasText val=&quot;1&quot;/&gt;&lt;/Image&gt;&lt;/ThreeDShapeInfo&gt;"/>
  <p:tag name="PRESENTER_SHAPETEXTINFO" val="&lt;ShapeTextInfo&gt;&lt;TableIndex row=&quot;-1&quot; col=&quot;-1&quot;&gt;&lt;linesCount val=&quot;1&quot;/&gt;&lt;lineCharCount val=&quot;7&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INFO" val="&lt;ThreeDShapeInfo&gt;&lt;uuid val=&quot;{2120C682-4369-46DD-AD73-C49511C075B2}&quot;/&gt;&lt;isInvalidForFieldText val=&quot;0&quot;/&gt;&lt;Image&gt;&lt;filename val=&quot;C:\Users\sanmi\Documents\My Adobe Presentations\ece552-SharedMemoryCoherence\data\asimages\{2120C682-4369-46DD-AD73-C49511C075B2}_2.png&quot;/&gt;&lt;left val=&quot;248&quot;/&gt;&lt;top val=&quot;292&quot;/&gt;&lt;width val=&quot;246&quot;/&gt;&lt;height val=&quot;84&quot;/&gt;&lt;hasText val=&quot;1&quot;/&gt;&lt;/Image&gt;&lt;/ThreeDShape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PRESENTER_SHAPEINFO" val="&lt;ThreeDShapeInfo&gt;&lt;uuid val=&quot;{24EFCB9E-B16F-4735-B2E0-8CA76035E9C3}&quot;/&gt;&lt;isInvalidForFieldText val=&quot;0&quot;/&gt;&lt;Image&gt;&lt;filename val=&quot;C:\Users\sanmi\Documents\My Adobe Presentations\ece552-SharedMemoryCoherence\data\asimages\{24EFCB9E-B16F-4735-B2E0-8CA76035E9C3}_2.png&quot;/&gt;&lt;left val=&quot;162&quot;/&gt;&lt;top val=&quot;369&quot;/&gt;&lt;width val=&quot;52&quot;/&gt;&lt;height val=&quot;25&quot;/&gt;&lt;hasText val=&quot;1&quot;/&gt;&lt;/Image&gt;&lt;/ThreeDShapeInfo&gt;"/>
</p:tagLst>
</file>

<file path=ppt/tags/tag33.xml><?xml version="1.0" encoding="utf-8"?>
<p:tagLst xmlns:a="http://schemas.openxmlformats.org/drawingml/2006/main" xmlns:r="http://schemas.openxmlformats.org/officeDocument/2006/relationships" xmlns:p="http://schemas.openxmlformats.org/presentationml/2006/main">
  <p:tag name="PRESENTER_SHAPEINFO" val="&lt;ThreeDShapeInfo&gt;&lt;uuid val=&quot;{2D449A1C-8A41-4CC0-A532-D6D5541D645B}&quot;/&gt;&lt;isInvalidForFieldText val=&quot;0&quot;/&gt;&lt;Image&gt;&lt;filename val=&quot;C:\Users\sanmi\Documents\My Adobe Presentations\ece552-SharedMemoryCoherence\data\asimages\{2D449A1C-8A41-4CC0-A532-D6D5541D645B}_2.png&quot;/&gt;&lt;left val=&quot;170&quot;/&gt;&lt;top val=&quot;355&quot;/&gt;&lt;width val=&quot;52&quot;/&gt;&lt;height val=&quot;25&quot;/&gt;&lt;hasText val=&quot;1&quot;/&gt;&lt;/Image&gt;&lt;/ThreeDShapeInfo&gt;"/>
</p:tagLst>
</file>

<file path=ppt/tags/tag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8B0049D-5B34-4BCF-8D75-868F8B49ADF4}_2.png&quot;/&gt;&lt;left val=&quot;446&quot;/&gt;&lt;top val=&quot;231&quot;/&gt;&lt;width val=&quot;146&quot;/&gt;&lt;height val=&quot;39&quot;/&gt;&lt;hasText val=&quot;1&quot;/&gt;&lt;/Image&gt;&lt;/ThreeDShapeInfo&gt;"/>
  <p:tag name="PRESENTER_SHAPETEXTINFO" val="&lt;ShapeTextInfo&gt;&lt;TableIndex row=&quot;-1&quot; col=&quot;-1&quot;&gt;&lt;linesCount val=&quot;1&quot;/&gt;&lt;lineCharCount val=&quot;15&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609B2CF5-5B7C-48F7-8E58-4BDFD7FB3ED2}_2.png&quot;/&gt;&lt;left val=&quot;183&quot;/&gt;&lt;top val=&quot;204&quot;/&gt;&lt;width val=&quot;153&quot;/&gt;&lt;height val=&quot;39&quot;/&gt;&lt;hasText val=&quot;1&quot;/&gt;&lt;/Image&gt;&lt;/ThreeDShapeInfo&gt;"/>
  <p:tag name="PRESENTER_SHAPETEXTINFO" val="&lt;ShapeTextInfo&gt;&lt;TableIndex row=&quot;-1&quot; col=&quot;-1&quot;&gt;&lt;linesCount val=&quot;1&quot;/&gt;&lt;lineCharCount val=&quot;17&quot;/&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659F503D-B20B-49AF-B8F3-CA406120625B}_2.png&quot;/&gt;&lt;left val=&quot;194&quot;/&gt;&lt;top val=&quot;500&quot;/&gt;&lt;width val=&quot;132&quot;/&gt;&lt;height val=&quot;36&quot;/&gt;&lt;hasText val=&quot;1&quot;/&gt;&lt;/Image&gt;&lt;/ThreeDShapeInfo&gt;"/>
  <p:tag name="PRESENTER_SHAPETEXTINFO" val="&lt;ShapeTextInfo&gt;&lt;TableIndex row=&quot;-1&quot; col=&quot;-1&quot;&gt;&lt;linesCount val=&quot;1&quot;/&gt;&lt;lineCharCount val=&quot;10&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606B0559-142D-417A-A51C-DBCE097E4286}_2.png&quot;/&gt;&lt;left val=&quot;194&quot;/&gt;&lt;top val=&quot;454&quot;/&gt;&lt;width val=&quot;132&quot;/&gt;&lt;height val=&quot;36&quot;/&gt;&lt;hasText val=&quot;1&quot;/&gt;&lt;/Image&gt;&lt;/ThreeDShapeInfo&gt;"/>
  <p:tag name="PRESENTER_SHAPETEXTINFO" val="&lt;ShapeTextInfo&gt;&lt;TableIndex row=&quot;-1&quot; col=&quot;-1&quot;&gt;&lt;linesCount val=&quot;1&quot;/&gt;&lt;lineCharCount val=&quot;10&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HTML_SHAPEINFO" val="&lt;SlideThumbPath val=&quot;Slide5.PNG&quot;/&gt;"/>
</p:tagLst>
</file>

<file path=ppt/tags/tag4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DFB2966-88E7-47F9-AA66-18A8A86D6DA6}_5.png&quot;/&gt;&lt;left val=&quot;35&quot;/&gt;&lt;top val=&quot;21&quot;/&gt;&lt;width val=&quot;612&quot;/&gt;&lt;height val=&quot;98&quot;/&gt;&lt;hasText val=&quot;1&quot;/&gt;&lt;/Image&gt;&lt;/ThreeDShapeInfo&gt;"/>
  <p:tag name="PRESENTER_SHAPETEXTINFO" val="&lt;ShapeTextInfo&gt;&lt;TableIndex row=&quot;-1&quot; col=&quot;-1&quot;&gt;&lt;linesCount val=&quot;1&quot;/&gt;&lt;lineCharCount val=&quot;17&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D2AD708-FC2B-4C78-9831-69D635DC3BAB}_5.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D9AB869-ED15-4F81-823A-FA3F5131BD96}_5.png&quot;/&gt;&lt;left val=&quot;29&quot;/&gt;&lt;top val=&quot;111&quot;/&gt;&lt;width val=&quot;210&quot;/&gt;&lt;height val=&quot;310&quot;/&gt;&lt;hasText val=&quot;1&quot;/&gt;&lt;/Image&gt;&lt;/ThreeDShapeInfo&gt;"/>
</p:tagLst>
</file>

<file path=ppt/tags/tag4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3928195-B5D2-4719-9356-2DA2A1BB681D}_5.png&quot;/&gt;&lt;left val=&quot;251&quot;/&gt;&lt;top val=&quot;111&quot;/&gt;&lt;width val=&quot;210&quot;/&gt;&lt;height val=&quot;310&quot;/&gt;&lt;hasText val=&quot;1&quot;/&gt;&lt;/Image&gt;&lt;/ThreeDShapeInfo&gt;"/>
</p:tagLst>
</file>

<file path=ppt/tags/tag4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0ED3D267-5559-4704-A364-5C79ABCA00ED}_5.png&quot;/&gt;&lt;left val=&quot;473&quot;/&gt;&lt;top val=&quot;111&quot;/&gt;&lt;width val=&quot;210&quot;/&gt;&lt;height val=&quot;310&quot;/&gt;&lt;hasText val=&quot;1&quot;/&gt;&lt;/Image&gt;&lt;/ThreeDShapeInfo&gt;"/>
</p:tagLst>
</file>

<file path=ppt/tags/tag4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D2C1720-2978-4F1D-AF35-8645B24D3F16}_5.png&quot;/&gt;&lt;left val=&quot;135&quot;/&gt;&lt;top val=&quot;491&quot;/&gt;&lt;width val=&quot;448&quot;/&gt;&lt;height val=&quot;45&quot;/&gt;&lt;hasText val=&quot;1&quot;/&gt;&lt;/Image&gt;&lt;/ThreeDShapeInfo&gt;"/>
  <p:tag name="PRESENTER_SHAPETEXTINFO" val="&lt;ShapeTextInfo&gt;&lt;TableIndex row=&quot;-1&quot; col=&quot;-1&quot;&gt;&lt;linesCount val=&quot;1&quot;/&gt;&lt;lineCharCount val=&quot;11&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8C3F811-E9E4-4659-92B0-63C7E499EC3B}_5.png&quot;/&gt;&lt;left val=&quot;239&quot;/&gt;&lt;top val=&quot;443&quot;/&gt;&lt;width val=&quot;232&quot;/&gt;&lt;height val=&quot;33&quot;/&gt;&lt;hasText val=&quot;1&quot;/&gt;&lt;/Image&gt;&lt;/ThreeDShapeInfo&gt;"/>
  <p:tag name="PRESENTER_SHAPETEXTINFO" val="&lt;ShapeTextInfo&gt;&lt;TableIndex row=&quot;-1&quot; col=&quot;-1&quot;&gt;&lt;linesCount val=&quot;1&quot;/&gt;&lt;lineCharCount val=&quot;15&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CE8A4D7D-655C-4282-BED8-2C8D78AED037}_5.png&quot;/&gt;&lt;left val=&quot;35&quot;/&gt;&lt;top val=&quot;431&quot;/&gt;&lt;width val=&quot;192&quot;/&gt;&lt;height val=&quot;45&quot;/&gt;&lt;hasText val=&quot;1&quot;/&gt;&lt;/Image&gt;&lt;/ThreeDShapeInfo&gt;"/>
  <p:tag name="PRESENTER_SHAPETEXTINFO" val="&lt;ShapeTextInfo&gt;&lt;TableIndex row=&quot;-1&quot; col=&quot;-1&quot;&gt;&lt;linesCount val=&quot;1&quot;/&gt;&lt;lineCharCount val=&quot;21&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2&quot;/&gt;&lt;lineCharCount val=&quot;8&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2&quot;/&gt;&lt;lineCharCount val=&quot;8&quot;/&gt;&lt;/TableIndex&gt;&lt;/ShapeTextInfo&gt;"/>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2&quot;/&gt;&lt;lineCharCount val=&quot;8&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HTML_SHAPEINFO" val="&lt;SlideThumbPath val=&quot;Slide7.PNG&quot;/&gt;"/>
</p:tagLst>
</file>

<file path=ppt/tags/tag59.xml><?xml version="1.0" encoding="utf-8"?>
<p:tagLst xmlns:a="http://schemas.openxmlformats.org/drawingml/2006/main" xmlns:r="http://schemas.openxmlformats.org/officeDocument/2006/relationships" xmlns:p="http://schemas.openxmlformats.org/presentationml/2006/main">
  <p:tag name="PRESENTER_SHAPEINFO" val="&lt;ThreeDShapeInfo&gt;&lt;uuid val=&quot;{F03FDCF0-D667-46E8-AFA3-10A7AD1C2C81}&quot;/&gt;&lt;isInvalidForFieldText val=&quot;0&quot;/&gt;&lt;Image&gt;&lt;filename val=&quot;C:\Users\sanmi\Documents\My Adobe Presentations\ece552-SharedMemoryCoherence\data\asimages\{F03FDCF0-D667-46E8-AFA3-10A7AD1C2C81}_7.png&quot;/&gt;&lt;left val=&quot;163&quot;/&gt;&lt;top val=&quot;313&quot;/&gt;&lt;width val=&quot;104&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5DA3169-8C34-4D1A-8C51-7AA012BD3EE5}_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3&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C20E86F-4CF5-47D6-96A2-5E84CD50DFF3}_7.png&quot;/&gt;&lt;left val=&quot;43&quot;/&gt;&lt;top val=&quot;114&quot;/&gt;&lt;width val=&quot;664&quot;/&gt;&lt;height val=&quot;140&quot;/&gt;&lt;hasText val=&quot;1&quot;/&gt;&lt;/Image&gt;&lt;/ThreeDShapeInfo&gt;"/>
  <p:tag name="PRESENTER_SHAPETEXTINFO" val="&lt;ShapeTextInfo&gt;&lt;TableIndex row=&quot;-1&quot; col=&quot;-1&quot;&gt;&lt;linesCount val=&quot;4&quot;/&gt;&lt;lineCharCount val=&quot;54&quot;/&gt;&lt;lineCharCount val=&quot;51&quot;/&gt;&lt;lineCharCount val=&quot;53&quot;/&gt;&lt;lineCharCount val=&quot;53&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3DB0C67-1720-4A22-8529-4BD03325DC58}_7.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63.xml><?xml version="1.0" encoding="utf-8"?>
<p:tagLst xmlns:a="http://schemas.openxmlformats.org/drawingml/2006/main" xmlns:r="http://schemas.openxmlformats.org/officeDocument/2006/relationships" xmlns:p="http://schemas.openxmlformats.org/presentationml/2006/main">
  <p:tag name="PRESENTER_SHAPEINFO" val="&lt;ThreeDShapeInfo&gt;&lt;uuid val=&quot;{18264B14-5689-4154-8349-14A13F661494}&quot;/&gt;&lt;isInvalidForFieldText val=&quot;0&quot;/&gt;&lt;Image&gt;&lt;filename val=&quot;C:\Users\sanmi\Documents\My Adobe Presentations\ece552-SharedMemoryCoherence\data\asimages\{18264B14-5689-4154-8349-14A13F661494}_7.png&quot;/&gt;&lt;left val=&quot;189&quot;/&gt;&lt;top val=&quot;390&quot;/&gt;&lt;width val=&quot;326&quot;/&gt;&lt;height val=&quot;57&quot;/&gt;&lt;hasText val=&quot;1&quot;/&gt;&lt;/Image&gt;&lt;/ThreeDShapeInfo&gt;"/>
  <p:tag name="PRESENTER_SHAPETEXTINFO" val="&lt;ShapeTextInfo&gt;&lt;TableIndex row=&quot;-1&quot; col=&quot;-1&quot;&gt;&lt;linesCount val=&quot;1&quot;/&gt;&lt;lineCharCount val=&quot;3&quot;/&gt;&lt;/TableIndex&gt;&lt;/ShapeTextInfo&gt;"/>
</p:tagLst>
</file>

<file path=ppt/tags/tag64.xml><?xml version="1.0" encoding="utf-8"?>
<p:tagLst xmlns:a="http://schemas.openxmlformats.org/drawingml/2006/main" xmlns:r="http://schemas.openxmlformats.org/officeDocument/2006/relationships" xmlns:p="http://schemas.openxmlformats.org/presentationml/2006/main">
  <p:tag name="PRESENTER_SHAPEINFO" val="&lt;ThreeDShapeInfo&gt;&lt;uuid val=&quot;{F8753212-F35A-4961-A81C-7FB43553CBFC}&quot;/&gt;&lt;isInvalidForFieldText val=&quot;0&quot;/&gt;&lt;Image&gt;&lt;filename val=&quot;C:\Users\sanmi\Documents\My Adobe Presentations\ece552-SharedMemoryCoherence\data\asimages\{F8753212-F35A-4961-A81C-7FB43553CBFC}_7.png&quot;/&gt;&lt;left val=&quot;179&quot;/&gt;&lt;top val=&quot;255&quot;/&gt;&lt;width val=&quot;73&quot;/&gt;&lt;height val=&quot;59&quot;/&gt;&lt;hasText val=&quot;1&quot;/&gt;&lt;/Image&gt;&lt;/ThreeDShapeInfo&gt;"/>
  <p:tag name="PRESENTER_SHAPETEXTINFO" val="&lt;ShapeTextInfo&gt;&lt;TableIndex row=&quot;-1&quot; col=&quot;-1&quot;&gt;&lt;linesCount val=&quot;1&quot;/&gt;&lt;lineCharCount val=&quot;2&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PRESENTER_SHAPEINFO" val="&lt;ThreeDShapeInfo&gt;&lt;uuid val=&quot;{C1921005-C76F-4266-A619-70A4F01B6FEC}&quot;/&gt;&lt;isInvalidForFieldText val=&quot;0&quot;/&gt;&lt;Image&gt;&lt;filename val=&quot;C:\Users\sanmi\Documents\My Adobe Presentations\ece552-SharedMemoryCoherence\data\asimages\{C1921005-C76F-4266-A619-70A4F01B6FEC}_7.png&quot;/&gt;&lt;left val=&quot;209&quot;/&gt;&lt;top val=&quot;303&quot;/&gt;&lt;width val=&quot;13&quot;/&gt;&lt;height val=&quot;24&quot;/&gt;&lt;hasText val=&quot;1&quot;/&gt;&lt;/Image&gt;&lt;/ThreeDShape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INFO" val="&lt;ThreeDShapeInfo&gt;&lt;uuid val=&quot;{B21F032D-2CD1-41F7-B99B-4FB8C9B273EC}&quot;/&gt;&lt;isInvalidForFieldText val=&quot;0&quot;/&gt;&lt;Image&gt;&lt;filename val=&quot;C:\Users\sanmi\Documents\My Adobe Presentations\ece552-SharedMemoryCoherence\data\asimages\{B21F032D-2CD1-41F7-B99B-4FB8C9B273EC}_7.png&quot;/&gt;&lt;left val=&quot;461&quot;/&gt;&lt;top val=&quot;255&quot;/&gt;&lt;width val=&quot;73&quot;/&gt;&lt;height val=&quot;59&quot;/&gt;&lt;hasText val=&quot;1&quot;/&gt;&lt;/Image&gt;&lt;/ThreeDShapeInfo&gt;"/>
  <p:tag name="PRESENTER_SHAPETEXTINFO" val="&lt;ShapeTextInfo&gt;&lt;TableIndex row=&quot;-1&quot; col=&quot;-1&quot;&gt;&lt;linesCount val=&quot;1&quot;/&gt;&lt;lineCharCount val=&quot;2&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INFO" val="&lt;ThreeDShapeInfo&gt;&lt;uuid val=&quot;{25C12C6D-E019-481D-92FD-6734500B3A2A}&quot;/&gt;&lt;isInvalidForFieldText val=&quot;0&quot;/&gt;&lt;Image&gt;&lt;filename val=&quot;C:\Users\sanmi\Documents\My Adobe Presentations\ece552-SharedMemoryCoherence\data\asimages\{25C12C6D-E019-481D-92FD-6734500B3A2A}_7.png&quot;/&gt;&lt;left val=&quot;491&quot;/&gt;&lt;top val=&quot;302&quot;/&gt;&lt;width val=&quot;13&quot;/&gt;&lt;height val=&quot;25&quot;/&gt;&lt;hasText val=&quot;1&quot;/&gt;&lt;/Image&gt;&lt;/ThreeDShapeInfo&gt;"/>
</p:tagLst>
</file>

<file path=ppt/tags/tag69.xml><?xml version="1.0" encoding="utf-8"?>
<p:tagLst xmlns:a="http://schemas.openxmlformats.org/drawingml/2006/main" xmlns:r="http://schemas.openxmlformats.org/officeDocument/2006/relationships" xmlns:p="http://schemas.openxmlformats.org/presentationml/2006/main">
  <p:tag name="PRESENTER_SHAPEINFO" val="&lt;ThreeDShapeInfo&gt;&lt;uuid val=&quot;{1CBD259F-AE71-4314-AB70-C1A4E21D0F1B}&quot;/&gt;&lt;isInvalidForFieldText val=&quot;0&quot;/&gt;&lt;Image&gt;&lt;filename val=&quot;C:\Users\sanmi\Documents\My Adobe Presentations\ece552-SharedMemoryCoherence\data\asimages\{1CBD259F-AE71-4314-AB70-C1A4E21D0F1B}_7.png&quot;/&gt;&lt;left val=&quot;258&quot;/&gt;&lt;top val=&quot;445&quot;/&gt;&lt;width val=&quot;188&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1.xml><?xml version="1.0" encoding="utf-8"?>
<p:tagLst xmlns:a="http://schemas.openxmlformats.org/drawingml/2006/main" xmlns:r="http://schemas.openxmlformats.org/officeDocument/2006/relationships" xmlns:p="http://schemas.openxmlformats.org/presentationml/2006/main">
  <p:tag name="PRESENTER_SHAPEINFO" val="&lt;ThreeDShapeInfo&gt;&lt;uuid val=&quot;{DBA05B35-EAD7-4D98-AAD5-6D53B1E1F520}&quot;/&gt;&lt;isInvalidForFieldText val=&quot;0&quot;/&gt;&lt;Image&gt;&lt;filename val=&quot;C:\Users\sanmi\Documents\My Adobe Presentations\ece552-SharedMemoryCoherence\data\asimages\{DBA05B35-EAD7-4D98-AAD5-6D53B1E1F520}_7.png&quot;/&gt;&lt;left val=&quot;445&quot;/&gt;&lt;top val=&quot;313&quot;/&gt;&lt;width val=&quot;104&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7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9037015-1635-40EE-81CB-9604A1A2B8C3}_7.png&quot;/&gt;&lt;left val=&quot;441&quot;/&gt;&lt;top val=&quot;475&quot;/&gt;&lt;width val=&quot;113&quot;/&gt;&lt;height val=&quot;34&quot;/&gt;&lt;hasText val=&quot;1&quot;/&gt;&lt;/Image&gt;&lt;/ThreeDShapeInfo&gt;"/>
  <p:tag name="PRESENTER_SHAPETEXTINFO" val="&lt;ShapeTextInfo&gt;&lt;TableIndex row=&quot;-1&quot; col=&quot;-1&quot;&gt;&lt;linesCount val=&quot;1&quot;/&gt;&lt;lineCharCount val=&quot;11&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PRESENTER_SHAPEINFO" val="&lt;ThreeDShapeInfo&gt;&lt;uuid val=&quot;{CA2DB92B-29AA-43B7-8C2E-1DC680556BFF}&quot;/&gt;&lt;isInvalidForFieldText val=&quot;0&quot;/&gt;&lt;Image&gt;&lt;filename val=&quot;C:\Users\sanmi\Documents\My Adobe Presentations\ece552-SharedMemoryCoherence\data\asimages\{CA2DB92B-29AA-43B7-8C2E-1DC680556BFF}_7.png&quot;/&gt;&lt;left val=&quot;163&quot;/&gt;&lt;top val=&quot;342&quot;/&gt;&lt;width val=&quot;104&quot;/&gt;&lt;height val=&quot;32&quot;/&gt;&lt;hasText val=&quot;1&quot;/&gt;&lt;/Image&gt;&lt;/ThreeDShapeInfo&gt;"/>
  <p:tag name="PRESENTER_SHAPETEXTINFO" val="&lt;ShapeTextInfo&gt;&lt;TableIndex row=&quot;-1&quot; col=&quot;-1&quot;&gt;&lt;linesCount val=&quot;0&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INFO" val="&lt;ThreeDShapeInfo&gt;&lt;uuid val=&quot;{3E3DF1DB-E14F-4600-8634-1A2412B4F3F0}&quot;/&gt;&lt;isInvalidForFieldText val=&quot;0&quot;/&gt;&lt;Image&gt;&lt;filename val=&quot;C:\Users\sanmi\Documents\My Adobe Presentations\ece552-SharedMemoryCoherence\data\asimages\{3E3DF1DB-E14F-4600-8634-1A2412B4F3F0}_7.png&quot;/&gt;&lt;left val=&quot;445&quot;/&gt;&lt;top val=&quot;343&quot;/&gt;&lt;width val=&quot;104&quot;/&gt;&lt;height val=&quot;32&quot;/&gt;&lt;hasText val=&quot;1&quot;/&gt;&lt;/Image&gt;&lt;/ThreeDShapeInfo&gt;"/>
  <p:tag name="PRESENTER_SHAPETEXTINFO" val="&lt;ShapeTextInfo&gt;&lt;TableIndex row=&quot;-1&quot; col=&quot;-1&quot;&gt;&lt;linesCount val=&quot;0&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RESENTER_SHAPEINFO" val="&lt;ThreeDShapeInfo&gt;&lt;uuid val=&quot;{8382EE48-43E7-4266-B690-11794324BD02}&quot;/&gt;&lt;isInvalidForFieldText val=&quot;0&quot;/&gt;&lt;Image&gt;&lt;filename val=&quot;C:\Users\sanmi\Documents\My Adobe Presentations\ece552-SharedMemoryCoherence\data\asimages\{8382EE48-43E7-4266-B690-11794324BD02}_7.png&quot;/&gt;&lt;left val=&quot;258&quot;/&gt;&lt;top val=&quot;476&quot;/&gt;&lt;width val=&quot;188&quot;/&gt;&lt;height val=&quot;32&quot;/&gt;&lt;hasText val=&quot;1&quot;/&gt;&lt;/Image&gt;&lt;/ThreeDShapeInfo&gt;"/>
  <p:tag name="PRESENTER_SHAPETEXTINFO" val="&lt;ShapeTextInfo&gt;&lt;TableIndex row=&quot;-1&quot; col=&quot;-1&quot;&gt;&lt;linesCount val=&quot;0&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6FDD5DB-64CB-4E29-8A70-42C965D0F3BB}_7.png&quot;/&gt;&lt;left val=&quot;-12&quot;/&gt;&lt;top val=&quot;363&quot;/&gt;&lt;width val=&quot;192&quot;/&gt;&lt;height val=&quot;54&quot;/&gt;&lt;hasText val=&quot;1&quot;/&gt;&lt;/Image&gt;&lt;/ThreeDShapeInfo&gt;"/>
  <p:tag name="PRESENTER_SHAPETEXTINFO" val="&lt;ShapeTextInfo&gt;&lt;TableIndex row=&quot;-1&quot; col=&quot;-1&quot;&gt;&lt;linesCount val=&quot;2&quot;/&gt;&lt;lineCharCount val=&quot;19&quot;/&gt;&lt;lineCharCount val=&quot;20&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HTML_SHAPEINFO" val="&lt;SlideThumbPath val=&quot;Slide7.PNG&quot;/&gt;"/>
</p:tagLst>
</file>

<file path=ppt/tags/tag78.xml><?xml version="1.0" encoding="utf-8"?>
<p:tagLst xmlns:a="http://schemas.openxmlformats.org/drawingml/2006/main" xmlns:r="http://schemas.openxmlformats.org/officeDocument/2006/relationships" xmlns:p="http://schemas.openxmlformats.org/presentationml/2006/main">
  <p:tag name="PRESENTER_SHAPEINFO" val="&lt;ThreeDShapeInfo&gt;&lt;uuid val=&quot;{F03FDCF0-D667-46E8-AFA3-10A7AD1C2C81}&quot;/&gt;&lt;isInvalidForFieldText val=&quot;0&quot;/&gt;&lt;Image&gt;&lt;filename val=&quot;C:\Users\sanmi\Documents\My Adobe Presentations\ece552-SharedMemoryCoherence\data\asimages\{F03FDCF0-D667-46E8-AFA3-10A7AD1C2C81}_7.png&quot;/&gt;&lt;left val=&quot;163&quot;/&gt;&lt;top val=&quot;313&quot;/&gt;&lt;width val=&quot;104&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7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5DA3169-8C34-4D1A-8C51-7AA012BD3EE5}_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3&quot;/&gt;&lt;/TableIndex&gt;&lt;/ShapeTextInfo&gt;"/>
</p:tagLst>
</file>

<file path=ppt/tags/tag8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C20E86F-4CF5-47D6-96A2-5E84CD50DFF3}_7.png&quot;/&gt;&lt;left val=&quot;43&quot;/&gt;&lt;top val=&quot;114&quot;/&gt;&lt;width val=&quot;664&quot;/&gt;&lt;height val=&quot;140&quot;/&gt;&lt;hasText val=&quot;1&quot;/&gt;&lt;/Image&gt;&lt;/ThreeDShapeInfo&gt;"/>
  <p:tag name="PRESENTER_SHAPETEXTINFO" val="&lt;ShapeTextInfo&gt;&lt;TableIndex row=&quot;-1&quot; col=&quot;-1&quot;&gt;&lt;linesCount val=&quot;4&quot;/&gt;&lt;lineCharCount val=&quot;54&quot;/&gt;&lt;lineCharCount val=&quot;51&quot;/&gt;&lt;lineCharCount val=&quot;53&quot;/&gt;&lt;lineCharCount val=&quot;53&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3DB0C67-1720-4A22-8529-4BD03325DC58}_7.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INFO" val="&lt;ThreeDShapeInfo&gt;&lt;uuid val=&quot;{18264B14-5689-4154-8349-14A13F661494}&quot;/&gt;&lt;isInvalidForFieldText val=&quot;0&quot;/&gt;&lt;Image&gt;&lt;filename val=&quot;C:\Users\sanmi\Documents\My Adobe Presentations\ece552-SharedMemoryCoherence\data\asimages\{18264B14-5689-4154-8349-14A13F661494}_7.png&quot;/&gt;&lt;left val=&quot;189&quot;/&gt;&lt;top val=&quot;390&quot;/&gt;&lt;width val=&quot;326&quot;/&gt;&lt;height val=&quot;57&quot;/&gt;&lt;hasText val=&quot;1&quot;/&gt;&lt;/Image&gt;&lt;/ThreeDShapeInfo&gt;"/>
  <p:tag name="PRESENTER_SHAPETEXTINFO" val="&lt;ShapeTextInfo&gt;&lt;TableIndex row=&quot;-1&quot; col=&quot;-1&quot;&gt;&lt;linesCount val=&quot;1&quot;/&gt;&lt;lineCharCount val=&quot;3&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INFO" val="&lt;ThreeDShapeInfo&gt;&lt;uuid val=&quot;{F8753212-F35A-4961-A81C-7FB43553CBFC}&quot;/&gt;&lt;isInvalidForFieldText val=&quot;0&quot;/&gt;&lt;Image&gt;&lt;filename val=&quot;C:\Users\sanmi\Documents\My Adobe Presentations\ece552-SharedMemoryCoherence\data\asimages\{F8753212-F35A-4961-A81C-7FB43553CBFC}_7.png&quot;/&gt;&lt;left val=&quot;179&quot;/&gt;&lt;top val=&quot;255&quot;/&gt;&lt;width val=&quot;73&quot;/&gt;&lt;height val=&quot;59&quot;/&gt;&lt;hasText val=&quot;1&quot;/&gt;&lt;/Image&gt;&lt;/ThreeDShapeInfo&gt;"/>
  <p:tag name="PRESENTER_SHAPETEXTINFO" val="&lt;ShapeTextInfo&gt;&lt;TableIndex row=&quot;-1&quot; col=&quot;-1&quot;&gt;&lt;linesCount val=&quot;1&quot;/&gt;&lt;lineCharCount val=&quot;2&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INFO" val="&lt;ThreeDShapeInfo&gt;&lt;uuid val=&quot;{C1921005-C76F-4266-A619-70A4F01B6FEC}&quot;/&gt;&lt;isInvalidForFieldText val=&quot;0&quot;/&gt;&lt;Image&gt;&lt;filename val=&quot;C:\Users\sanmi\Documents\My Adobe Presentations\ece552-SharedMemoryCoherence\data\asimages\{C1921005-C76F-4266-A619-70A4F01B6FEC}_7.png&quot;/&gt;&lt;left val=&quot;209&quot;/&gt;&lt;top val=&quot;303&quot;/&gt;&lt;width val=&quot;13&quot;/&gt;&lt;height val=&quot;24&quot;/&gt;&lt;hasText val=&quot;1&quot;/&gt;&lt;/Image&gt;&lt;/ThreeDShape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INFO" val="&lt;ThreeDShapeInfo&gt;&lt;uuid val=&quot;{B21F032D-2CD1-41F7-B99B-4FB8C9B273EC}&quot;/&gt;&lt;isInvalidForFieldText val=&quot;0&quot;/&gt;&lt;Image&gt;&lt;filename val=&quot;C:\Users\sanmi\Documents\My Adobe Presentations\ece552-SharedMemoryCoherence\data\asimages\{B21F032D-2CD1-41F7-B99B-4FB8C9B273EC}_7.png&quot;/&gt;&lt;left val=&quot;461&quot;/&gt;&lt;top val=&quot;255&quot;/&gt;&lt;width val=&quot;73&quot;/&gt;&lt;height val=&quot;59&quot;/&gt;&lt;hasText val=&quot;1&quot;/&gt;&lt;/Image&gt;&lt;/ThreeDShapeInfo&gt;"/>
  <p:tag name="PRESENTER_SHAPETEXTINFO" val="&lt;ShapeTextInfo&gt;&lt;TableIndex row=&quot;-1&quot; col=&quot;-1&quot;&gt;&lt;linesCount val=&quot;1&quot;/&gt;&lt;lineCharCount val=&quot;2&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PRESENTER_SHAPEINFO" val="&lt;ThreeDShapeInfo&gt;&lt;uuid val=&quot;{25C12C6D-E019-481D-92FD-6734500B3A2A}&quot;/&gt;&lt;isInvalidForFieldText val=&quot;0&quot;/&gt;&lt;Image&gt;&lt;filename val=&quot;C:\Users\sanmi\Documents\My Adobe Presentations\ece552-SharedMemoryCoherence\data\asimages\{25C12C6D-E019-481D-92FD-6734500B3A2A}_7.png&quot;/&gt;&lt;left val=&quot;491&quot;/&gt;&lt;top val=&quot;302&quot;/&gt;&lt;width val=&quot;13&quot;/&gt;&lt;height val=&quot;25&quot;/&gt;&lt;hasText val=&quot;1&quot;/&gt;&lt;/Image&gt;&lt;/ThreeDShapeInfo&gt;"/>
</p:tagLst>
</file>

<file path=ppt/tags/tag88.xml><?xml version="1.0" encoding="utf-8"?>
<p:tagLst xmlns:a="http://schemas.openxmlformats.org/drawingml/2006/main" xmlns:r="http://schemas.openxmlformats.org/officeDocument/2006/relationships" xmlns:p="http://schemas.openxmlformats.org/presentationml/2006/main">
  <p:tag name="PRESENTER_SHAPEINFO" val="&lt;ThreeDShapeInfo&gt;&lt;uuid val=&quot;{1CBD259F-AE71-4314-AB70-C1A4E21D0F1B}&quot;/&gt;&lt;isInvalidForFieldText val=&quot;0&quot;/&gt;&lt;Image&gt;&lt;filename val=&quot;C:\Users\sanmi\Documents\My Adobe Presentations\ece552-SharedMemoryCoherence\data\asimages\{1CBD259F-AE71-4314-AB70-C1A4E21D0F1B}_7.png&quot;/&gt;&lt;left val=&quot;258&quot;/&gt;&lt;top val=&quot;445&quot;/&gt;&lt;width val=&quot;188&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PRESENTER_SHAPEINFO" val="&lt;ThreeDShapeInfo&gt;&lt;uuid val=&quot;{DBA05B35-EAD7-4D98-AAD5-6D53B1E1F520}&quot;/&gt;&lt;isInvalidForFieldText val=&quot;0&quot;/&gt;&lt;Image&gt;&lt;filename val=&quot;C:\Users\sanmi\Documents\My Adobe Presentations\ece552-SharedMemoryCoherence\data\asimages\{DBA05B35-EAD7-4D98-AAD5-6D53B1E1F520}_7.png&quot;/&gt;&lt;left val=&quot;445&quot;/&gt;&lt;top val=&quot;313&quot;/&gt;&lt;width val=&quot;104&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9037015-1635-40EE-81CB-9604A1A2B8C3}_7.png&quot;/&gt;&lt;left val=&quot;441&quot;/&gt;&lt;top val=&quot;475&quot;/&gt;&lt;width val=&quot;113&quot;/&gt;&lt;height val=&quot;34&quot;/&gt;&lt;hasText val=&quot;1&quot;/&gt;&lt;/Image&gt;&lt;/ThreeDShapeInfo&gt;"/>
  <p:tag name="PRESENTER_SHAPETEXTINFO" val="&lt;ShapeTextInfo&gt;&lt;TableIndex row=&quot;-1&quot; col=&quot;-1&quot;&gt;&lt;linesCount val=&quot;1&quot;/&gt;&lt;lineCharCount val=&quot;11&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INFO" val="&lt;ThreeDShapeInfo&gt;&lt;uuid val=&quot;{CA2DB92B-29AA-43B7-8C2E-1DC680556BFF}&quot;/&gt;&lt;isInvalidForFieldText val=&quot;0&quot;/&gt;&lt;Image&gt;&lt;filename val=&quot;C:\Users\sanmi\Documents\My Adobe Presentations\ece552-SharedMemoryCoherence\data\asimages\{CA2DB92B-29AA-43B7-8C2E-1DC680556BFF}_7.png&quot;/&gt;&lt;left val=&quot;163&quot;/&gt;&lt;top val=&quot;342&quot;/&gt;&lt;width val=&quot;104&quot;/&gt;&lt;height val=&quot;32&quot;/&gt;&lt;hasText val=&quot;1&quot;/&gt;&lt;/Image&gt;&lt;/ThreeDShapeInfo&gt;"/>
  <p:tag name="PRESENTER_SHAPETEXTINFO" val="&lt;ShapeTextInfo&gt;&lt;TableIndex row=&quot;-1&quot; col=&quot;-1&quot;&gt;&lt;linesCount val=&quot;0&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PRESENTER_SHAPEINFO" val="&lt;ThreeDShapeInfo&gt;&lt;uuid val=&quot;{3E3DF1DB-E14F-4600-8634-1A2412B4F3F0}&quot;/&gt;&lt;isInvalidForFieldText val=&quot;0&quot;/&gt;&lt;Image&gt;&lt;filename val=&quot;C:\Users\sanmi\Documents\My Adobe Presentations\ece552-SharedMemoryCoherence\data\asimages\{3E3DF1DB-E14F-4600-8634-1A2412B4F3F0}_7.png&quot;/&gt;&lt;left val=&quot;445&quot;/&gt;&lt;top val=&quot;343&quot;/&gt;&lt;width val=&quot;104&quot;/&gt;&lt;height val=&quot;32&quot;/&gt;&lt;hasText val=&quot;1&quot;/&gt;&lt;/Image&gt;&lt;/ThreeDShapeInfo&gt;"/>
  <p:tag name="PRESENTER_SHAPETEXTINFO" val="&lt;ShapeTextInfo&gt;&lt;TableIndex row=&quot;-1&quot; col=&quot;-1&quot;&gt;&lt;linesCount val=&quot;0&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PRESENTER_SHAPEINFO" val="&lt;ThreeDShapeInfo&gt;&lt;uuid val=&quot;{8382EE48-43E7-4266-B690-11794324BD02}&quot;/&gt;&lt;isInvalidForFieldText val=&quot;0&quot;/&gt;&lt;Image&gt;&lt;filename val=&quot;C:\Users\sanmi\Documents\My Adobe Presentations\ece552-SharedMemoryCoherence\data\asimages\{8382EE48-43E7-4266-B690-11794324BD02}_7.png&quot;/&gt;&lt;left val=&quot;258&quot;/&gt;&lt;top val=&quot;476&quot;/&gt;&lt;width val=&quot;188&quot;/&gt;&lt;height val=&quot;32&quot;/&gt;&lt;hasText val=&quot;1&quot;/&gt;&lt;/Image&gt;&lt;/ThreeDShapeInfo&gt;"/>
  <p:tag name="PRESENTER_SHAPETEXTINFO" val="&lt;ShapeTextInfo&gt;&lt;TableIndex row=&quot;-1&quot; col=&quot;-1&quot;&gt;&lt;linesCount val=&quot;0&quot;/&gt;&lt;/TableIndex&gt;&lt;/ShapeTextInfo&gt;"/>
</p:tagLst>
</file>

<file path=ppt/tags/tag9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FBB5144-9F69-4C19-A7E4-05B2FE6539DB}_7.png&quot;/&gt;&lt;left val=&quot;552&quot;/&gt;&lt;top val=&quot;311&quot;/&gt;&lt;width val=&quot;136&quot;/&gt;&lt;height val=&quot;43&quot;/&gt;&lt;hasText val=&quot;1&quot;/&gt;&lt;/Image&gt;&lt;/ThreeDShapeInfo&gt;"/>
  <p:tag name="PRESENTER_SHAPETEXTINFO" val="&lt;ShapeTextInfo&gt;&lt;TableIndex row=&quot;-1&quot; col=&quot;-1&quot;&gt;&lt;linesCount val=&quot;1&quot;/&gt;&lt;lineCharCount val=&quot;13&quot;/&gt;&lt;/TableIndex&gt;&lt;/ShapeTextInfo&gt;"/>
</p:tagLst>
</file>

<file path=ppt/tags/tag96.xml><?xml version="1.0" encoding="utf-8"?>
<p:tagLst xmlns:a="http://schemas.openxmlformats.org/drawingml/2006/main" xmlns:r="http://schemas.openxmlformats.org/officeDocument/2006/relationships" xmlns:p="http://schemas.openxmlformats.org/presentationml/2006/main">
  <p:tag name="HTML_SHAPEINFO" val="&lt;SlideThumbPath val=&quot;Slide7.PNG&quot;/&gt;"/>
</p:tagLst>
</file>

<file path=ppt/tags/tag97.xml><?xml version="1.0" encoding="utf-8"?>
<p:tagLst xmlns:a="http://schemas.openxmlformats.org/drawingml/2006/main" xmlns:r="http://schemas.openxmlformats.org/officeDocument/2006/relationships" xmlns:p="http://schemas.openxmlformats.org/presentationml/2006/main">
  <p:tag name="PRESENTER_SHAPEINFO" val="&lt;ThreeDShapeInfo&gt;&lt;uuid val=&quot;{F03FDCF0-D667-46E8-AFA3-10A7AD1C2C81}&quot;/&gt;&lt;isInvalidForFieldText val=&quot;0&quot;/&gt;&lt;Image&gt;&lt;filename val=&quot;C:\Users\sanmi\Documents\My Adobe Presentations\ece552-SharedMemoryCoherence\data\asimages\{F03FDCF0-D667-46E8-AFA3-10A7AD1C2C81}_7.png&quot;/&gt;&lt;left val=&quot;163&quot;/&gt;&lt;top val=&quot;313&quot;/&gt;&lt;width val=&quot;104&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5DA3169-8C34-4D1A-8C51-7AA012BD3EE5}_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3&quot;/&gt;&lt;/TableIndex&gt;&lt;/ShapeTextInfo&gt;"/>
</p:tagLst>
</file>

<file path=ppt/tags/tag9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C20E86F-4CF5-47D6-96A2-5E84CD50DFF3}_7.png&quot;/&gt;&lt;left val=&quot;43&quot;/&gt;&lt;top val=&quot;114&quot;/&gt;&lt;width val=&quot;664&quot;/&gt;&lt;height val=&quot;140&quot;/&gt;&lt;hasText val=&quot;1&quot;/&gt;&lt;/Image&gt;&lt;/ThreeDShapeInfo&gt;"/>
  <p:tag name="PRESENTER_SHAPETEXTINFO" val="&lt;ShapeTextInfo&gt;&lt;TableIndex row=&quot;-1&quot; col=&quot;-1&quot;&gt;&lt;linesCount val=&quot;4&quot;/&gt;&lt;lineCharCount val=&quot;54&quot;/&gt;&lt;lineCharCount val=&quot;51&quot;/&gt;&lt;lineCharCount val=&quot;53&quot;/&gt;&lt;lineCharCount val=&quot;53&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3DB0C67-1720-4A22-8529-4BD03325DC58}_7.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PRESENTER_SHAPEINFO" val="&lt;ThreeDShapeInfo&gt;&lt;uuid val=&quot;{18264B14-5689-4154-8349-14A13F661494}&quot;/&gt;&lt;isInvalidForFieldText val=&quot;0&quot;/&gt;&lt;Image&gt;&lt;filename val=&quot;C:\Users\sanmi\Documents\My Adobe Presentations\ece552-SharedMemoryCoherence\data\asimages\{18264B14-5689-4154-8349-14A13F661494}_7.png&quot;/&gt;&lt;left val=&quot;189&quot;/&gt;&lt;top val=&quot;390&quot;/&gt;&lt;width val=&quot;326&quot;/&gt;&lt;height val=&quot;57&quot;/&gt;&lt;hasText val=&quot;1&quot;/&gt;&lt;/Image&gt;&lt;/ThreeDShapeInfo&gt;"/>
  <p:tag name="PRESENTER_SHAPETEXTINFO" val="&lt;ShapeTextInfo&gt;&lt;TableIndex row=&quot;-1&quot; col=&quot;-1&quot;&gt;&lt;linesCount val=&quot;1&quot;/&gt;&lt;lineCharCount val=&quot;3&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PRESENTER_SHAPEINFO" val="&lt;ThreeDShapeInfo&gt;&lt;uuid val=&quot;{F8753212-F35A-4961-A81C-7FB43553CBFC}&quot;/&gt;&lt;isInvalidForFieldText val=&quot;0&quot;/&gt;&lt;Image&gt;&lt;filename val=&quot;C:\Users\sanmi\Documents\My Adobe Presentations\ece552-SharedMemoryCoherence\data\asimages\{F8753212-F35A-4961-A81C-7FB43553CBFC}_7.png&quot;/&gt;&lt;left val=&quot;179&quot;/&gt;&lt;top val=&quot;255&quot;/&gt;&lt;width val=&quot;73&quot;/&gt;&lt;height val=&quot;59&quot;/&gt;&lt;hasText val=&quot;1&quot;/&gt;&lt;/Image&gt;&lt;/ThreeDShapeInfo&gt;"/>
  <p:tag name="PRESENTER_SHAPETEXTINFO" val="&lt;ShapeTextInfo&gt;&lt;TableIndex row=&quot;-1&quot; col=&quot;-1&quot;&gt;&lt;linesCount val=&quot;1&quot;/&gt;&lt;lineCharCount val=&quot;2&quot;/&gt;&lt;/TableIndex&gt;&lt;/ShapeTextInfo&gt;"/>
</p:tagLst>
</file>

<file path=ppt/tags/tag103.xml><?xml version="1.0" encoding="utf-8"?>
<p:tagLst xmlns:a="http://schemas.openxmlformats.org/drawingml/2006/main" xmlns:r="http://schemas.openxmlformats.org/officeDocument/2006/relationships" xmlns:p="http://schemas.openxmlformats.org/presentationml/2006/main">
  <p:tag name="PRESENTER_SHAPEINFO" val="&lt;ThreeDShapeInfo&gt;&lt;uuid val=&quot;{C1921005-C76F-4266-A619-70A4F01B6FEC}&quot;/&gt;&lt;isInvalidForFieldText val=&quot;0&quot;/&gt;&lt;Image&gt;&lt;filename val=&quot;C:\Users\sanmi\Documents\My Adobe Presentations\ece552-SharedMemoryCoherence\data\asimages\{C1921005-C76F-4266-A619-70A4F01B6FEC}_7.png&quot;/&gt;&lt;left val=&quot;209&quot;/&gt;&lt;top val=&quot;303&quot;/&gt;&lt;width val=&quot;13&quot;/&gt;&lt;height val=&quot;24&quot;/&gt;&lt;hasText val=&quot;1&quot;/&gt;&lt;/Image&gt;&lt;/ThreeDShapeInfo&gt;"/>
</p:tagLst>
</file>

<file path=ppt/tags/tag1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5.xml><?xml version="1.0" encoding="utf-8"?>
<p:tagLst xmlns:a="http://schemas.openxmlformats.org/drawingml/2006/main" xmlns:r="http://schemas.openxmlformats.org/officeDocument/2006/relationships" xmlns:p="http://schemas.openxmlformats.org/presentationml/2006/main">
  <p:tag name="PRESENTER_SHAPEINFO" val="&lt;ThreeDShapeInfo&gt;&lt;uuid val=&quot;{B21F032D-2CD1-41F7-B99B-4FB8C9B273EC}&quot;/&gt;&lt;isInvalidForFieldText val=&quot;0&quot;/&gt;&lt;Image&gt;&lt;filename val=&quot;C:\Users\sanmi\Documents\My Adobe Presentations\ece552-SharedMemoryCoherence\data\asimages\{B21F032D-2CD1-41F7-B99B-4FB8C9B273EC}_7.png&quot;/&gt;&lt;left val=&quot;461&quot;/&gt;&lt;top val=&quot;255&quot;/&gt;&lt;width val=&quot;73&quot;/&gt;&lt;height val=&quot;59&quot;/&gt;&lt;hasText val=&quot;1&quot;/&gt;&lt;/Image&gt;&lt;/ThreeDShapeInfo&gt;"/>
  <p:tag name="PRESENTER_SHAPETEXTINFO" val="&lt;ShapeTextInfo&gt;&lt;TableIndex row=&quot;-1&quot; col=&quot;-1&quot;&gt;&lt;linesCount val=&quot;1&quot;/&gt;&lt;lineCharCount val=&quot;2&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PRESENTER_SHAPEINFO" val="&lt;ThreeDShapeInfo&gt;&lt;uuid val=&quot;{25C12C6D-E019-481D-92FD-6734500B3A2A}&quot;/&gt;&lt;isInvalidForFieldText val=&quot;0&quot;/&gt;&lt;Image&gt;&lt;filename val=&quot;C:\Users\sanmi\Documents\My Adobe Presentations\ece552-SharedMemoryCoherence\data\asimages\{25C12C6D-E019-481D-92FD-6734500B3A2A}_7.png&quot;/&gt;&lt;left val=&quot;491&quot;/&gt;&lt;top val=&quot;302&quot;/&gt;&lt;width val=&quot;13&quot;/&gt;&lt;height val=&quot;25&quot;/&gt;&lt;hasText val=&quot;1&quot;/&gt;&lt;/Image&gt;&lt;/ThreeDShapeInfo&gt;"/>
</p:tagLst>
</file>

<file path=ppt/tags/tag107.xml><?xml version="1.0" encoding="utf-8"?>
<p:tagLst xmlns:a="http://schemas.openxmlformats.org/drawingml/2006/main" xmlns:r="http://schemas.openxmlformats.org/officeDocument/2006/relationships" xmlns:p="http://schemas.openxmlformats.org/presentationml/2006/main">
  <p:tag name="PRESENTER_SHAPEINFO" val="&lt;ThreeDShapeInfo&gt;&lt;uuid val=&quot;{1CBD259F-AE71-4314-AB70-C1A4E21D0F1B}&quot;/&gt;&lt;isInvalidForFieldText val=&quot;0&quot;/&gt;&lt;Image&gt;&lt;filename val=&quot;C:\Users\sanmi\Documents\My Adobe Presentations\ece552-SharedMemoryCoherence\data\asimages\{1CBD259F-AE71-4314-AB70-C1A4E21D0F1B}_7.png&quot;/&gt;&lt;left val=&quot;258&quot;/&gt;&lt;top val=&quot;445&quot;/&gt;&lt;width val=&quot;188&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1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PRESENTER_SHAPEINFO" val="&lt;ThreeDShapeInfo&gt;&lt;uuid val=&quot;{DBA05B35-EAD7-4D98-AAD5-6D53B1E1F520}&quot;/&gt;&lt;isInvalidForFieldText val=&quot;0&quot;/&gt;&lt;Image&gt;&lt;filename val=&quot;C:\Users\sanmi\Documents\My Adobe Presentations\ece552-SharedMemoryCoherence\data\asimages\{DBA05B35-EAD7-4D98-AAD5-6D53B1E1F520}_7.png&quot;/&gt;&lt;left val=&quot;445&quot;/&gt;&lt;top val=&quot;313&quot;/&gt;&lt;width val=&quot;104&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11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9037015-1635-40EE-81CB-9604A1A2B8C3}_7.png&quot;/&gt;&lt;left val=&quot;441&quot;/&gt;&lt;top val=&quot;475&quot;/&gt;&lt;width val=&quot;113&quot;/&gt;&lt;height val=&quot;34&quot;/&gt;&lt;hasText val=&quot;1&quot;/&gt;&lt;/Image&gt;&lt;/ThreeDShapeInfo&gt;"/>
  <p:tag name="PRESENTER_SHAPETEXTINFO" val="&lt;ShapeTextInfo&gt;&lt;TableIndex row=&quot;-1&quot; col=&quot;-1&quot;&gt;&lt;linesCount val=&quot;1&quot;/&gt;&lt;lineCharCount val=&quot;11&quot;/&gt;&lt;/TableIndex&gt;&lt;/ShapeTextInfo&gt;"/>
</p:tagLst>
</file>

<file path=ppt/tags/tag111.xml><?xml version="1.0" encoding="utf-8"?>
<p:tagLst xmlns:a="http://schemas.openxmlformats.org/drawingml/2006/main" xmlns:r="http://schemas.openxmlformats.org/officeDocument/2006/relationships" xmlns:p="http://schemas.openxmlformats.org/presentationml/2006/main">
  <p:tag name="PRESENTER_SHAPEINFO" val="&lt;ThreeDShapeInfo&gt;&lt;uuid val=&quot;{CA2DB92B-29AA-43B7-8C2E-1DC680556BFF}&quot;/&gt;&lt;isInvalidForFieldText val=&quot;0&quot;/&gt;&lt;Image&gt;&lt;filename val=&quot;C:\Users\sanmi\Documents\My Adobe Presentations\ece552-SharedMemoryCoherence\data\asimages\{CA2DB92B-29AA-43B7-8C2E-1DC680556BFF}_7.png&quot;/&gt;&lt;left val=&quot;163&quot;/&gt;&lt;top val=&quot;342&quot;/&gt;&lt;width val=&quot;104&quot;/&gt;&lt;height val=&quot;32&quot;/&gt;&lt;hasText val=&quot;1&quot;/&gt;&lt;/Image&gt;&lt;/ThreeDShapeInfo&gt;"/>
  <p:tag name="PRESENTER_SHAPETEXTINFO" val="&lt;ShapeTextInfo&gt;&lt;TableIndex row=&quot;-1&quot; col=&quot;-1&quot;&gt;&lt;linesCount val=&quot;0&quot;/&gt;&lt;/TableIndex&gt;&lt;/ShapeTextInfo&gt;"/>
</p:tagLst>
</file>

<file path=ppt/tags/tag112.xml><?xml version="1.0" encoding="utf-8"?>
<p:tagLst xmlns:a="http://schemas.openxmlformats.org/drawingml/2006/main" xmlns:r="http://schemas.openxmlformats.org/officeDocument/2006/relationships" xmlns:p="http://schemas.openxmlformats.org/presentationml/2006/main">
  <p:tag name="PRESENTER_SHAPEINFO" val="&lt;ThreeDShapeInfo&gt;&lt;uuid val=&quot;{3E3DF1DB-E14F-4600-8634-1A2412B4F3F0}&quot;/&gt;&lt;isInvalidForFieldText val=&quot;0&quot;/&gt;&lt;Image&gt;&lt;filename val=&quot;C:\Users\sanmi\Documents\My Adobe Presentations\ece552-SharedMemoryCoherence\data\asimages\{3E3DF1DB-E14F-4600-8634-1A2412B4F3F0}_7.png&quot;/&gt;&lt;left val=&quot;445&quot;/&gt;&lt;top val=&quot;343&quot;/&gt;&lt;width val=&quot;104&quot;/&gt;&lt;height val=&quot;32&quot;/&gt;&lt;hasText val=&quot;1&quot;/&gt;&lt;/Image&gt;&lt;/ThreeDShapeInfo&gt;"/>
  <p:tag name="PRESENTER_SHAPETEXTINFO" val="&lt;ShapeTextInfo&gt;&lt;TableIndex row=&quot;-1&quot; col=&quot;-1&quot;&gt;&lt;linesCount val=&quot;0&quot;/&gt;&lt;/TableIndex&gt;&lt;/ShapeTextInfo&gt;"/>
</p:tagLst>
</file>

<file path=ppt/tags/tag113.xml><?xml version="1.0" encoding="utf-8"?>
<p:tagLst xmlns:a="http://schemas.openxmlformats.org/drawingml/2006/main" xmlns:r="http://schemas.openxmlformats.org/officeDocument/2006/relationships" xmlns:p="http://schemas.openxmlformats.org/presentationml/2006/main">
  <p:tag name="PRESENTER_SHAPEINFO" val="&lt;ThreeDShapeInfo&gt;&lt;uuid val=&quot;{8382EE48-43E7-4266-B690-11794324BD02}&quot;/&gt;&lt;isInvalidForFieldText val=&quot;0&quot;/&gt;&lt;Image&gt;&lt;filename val=&quot;C:\Users\sanmi\Documents\My Adobe Presentations\ece552-SharedMemoryCoherence\data\asimages\{8382EE48-43E7-4266-B690-11794324BD02}_7.png&quot;/&gt;&lt;left val=&quot;258&quot;/&gt;&lt;top val=&quot;476&quot;/&gt;&lt;width val=&quot;188&quot;/&gt;&lt;height val=&quot;32&quot;/&gt;&lt;hasText val=&quot;1&quot;/&gt;&lt;/Image&gt;&lt;/ThreeDShapeInfo&gt;"/>
  <p:tag name="PRESENTER_SHAPETEXTINFO" val="&lt;ShapeTextInfo&gt;&lt;TableIndex row=&quot;-1&quot; col=&quot;-1&quot;&gt;&lt;linesCount val=&quot;0&quot;/&gt;&lt;/TableIndex&gt;&lt;/ShapeTextInfo&gt;"/>
</p:tagLst>
</file>

<file path=ppt/tags/tag11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FBB5144-9F69-4C19-A7E4-05B2FE6539DB}_7.png&quot;/&gt;&lt;left val=&quot;552&quot;/&gt;&lt;top val=&quot;311&quot;/&gt;&lt;width val=&quot;136&quot;/&gt;&lt;height val=&quot;43&quot;/&gt;&lt;hasText val=&quot;1&quot;/&gt;&lt;/Image&gt;&lt;/ThreeDShapeInfo&gt;"/>
  <p:tag name="PRESENTER_SHAPETEXTINFO" val="&lt;ShapeTextInfo&gt;&lt;TableIndex row=&quot;-1&quot; col=&quot;-1&quot;&gt;&lt;linesCount val=&quot;1&quot;/&gt;&lt;lineCharCount val=&quot;13&quot;/&gt;&lt;/TableIndex&gt;&lt;/ShapeTextInfo&gt;"/>
</p:tagLst>
</file>

<file path=ppt/tags/tag11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90456A36-B5CC-4B5A-9903-A3656D38B57B}_7.png&quot;/&gt;&lt;left val=&quot;30&quot;/&gt;&lt;top val=&quot;264&quot;/&gt;&lt;width val=&quot;140&quot;/&gt;&lt;height val=&quot;43&quot;/&gt;&lt;hasText val=&quot;1&quot;/&gt;&lt;/Image&gt;&lt;/ThreeDShapeInfo&gt;"/>
  <p:tag name="PRESENTER_SHAPETEXTINFO" val="&lt;ShapeTextInfo&gt;&lt;TableIndex row=&quot;-1&quot; col=&quot;-1&quot;&gt;&lt;linesCount val=&quot;1&quot;/&gt;&lt;lineCharCount val=&quot;14&quot;/&gt;&lt;/TableIndex&gt;&lt;/ShapeTextInfo&gt;"/>
</p:tagLst>
</file>

<file path=ppt/tags/tag116.xml><?xml version="1.0" encoding="utf-8"?>
<p:tagLst xmlns:a="http://schemas.openxmlformats.org/drawingml/2006/main" xmlns:r="http://schemas.openxmlformats.org/officeDocument/2006/relationships" xmlns:p="http://schemas.openxmlformats.org/presentationml/2006/main">
  <p:tag name="HTML_SHAPEINFO" val="&lt;SlideThumbPath val=&quot;Slide7.PNG&quot;/&gt;"/>
</p:tagLst>
</file>

<file path=ppt/tags/tag117.xml><?xml version="1.0" encoding="utf-8"?>
<p:tagLst xmlns:a="http://schemas.openxmlformats.org/drawingml/2006/main" xmlns:r="http://schemas.openxmlformats.org/officeDocument/2006/relationships" xmlns:p="http://schemas.openxmlformats.org/presentationml/2006/main">
  <p:tag name="PRESENTER_SHAPEINFO" val="&lt;ThreeDShapeInfo&gt;&lt;uuid val=&quot;{F03FDCF0-D667-46E8-AFA3-10A7AD1C2C81}&quot;/&gt;&lt;isInvalidForFieldText val=&quot;0&quot;/&gt;&lt;Image&gt;&lt;filename val=&quot;C:\Users\sanmi\Documents\My Adobe Presentations\ece552-SharedMemoryCoherence\data\asimages\{F03FDCF0-D667-46E8-AFA3-10A7AD1C2C81}_7.png&quot;/&gt;&lt;left val=&quot;163&quot;/&gt;&lt;top val=&quot;313&quot;/&gt;&lt;width val=&quot;104&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1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5DA3169-8C34-4D1A-8C51-7AA012BD3EE5}_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3&quot;/&gt;&lt;/TableIndex&gt;&lt;/ShapeTextInfo&gt;"/>
</p:tagLst>
</file>

<file path=ppt/tags/tag1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C20E86F-4CF5-47D6-96A2-5E84CD50DFF3}_7.png&quot;/&gt;&lt;left val=&quot;43&quot;/&gt;&lt;top val=&quot;114&quot;/&gt;&lt;width val=&quot;664&quot;/&gt;&lt;height val=&quot;140&quot;/&gt;&lt;hasText val=&quot;1&quot;/&gt;&lt;/Image&gt;&lt;/ThreeDShapeInfo&gt;"/>
  <p:tag name="PRESENTER_SHAPETEXTINFO" val="&lt;ShapeTextInfo&gt;&lt;TableIndex row=&quot;-1&quot; col=&quot;-1&quot;&gt;&lt;linesCount val=&quot;4&quot;/&gt;&lt;lineCharCount val=&quot;54&quot;/&gt;&lt;lineCharCount val=&quot;51&quot;/&gt;&lt;lineCharCount val=&quot;53&quot;/&gt;&lt;lineCharCount val=&quot;53&quot;/&gt;&lt;/TableIndex&gt;&lt;/ShapeTextInfo&gt;"/>
</p:tagLst>
</file>

<file path=ppt/tags/tag12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3DB0C67-1720-4A22-8529-4BD03325DC58}_7.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121.xml><?xml version="1.0" encoding="utf-8"?>
<p:tagLst xmlns:a="http://schemas.openxmlformats.org/drawingml/2006/main" xmlns:r="http://schemas.openxmlformats.org/officeDocument/2006/relationships" xmlns:p="http://schemas.openxmlformats.org/presentationml/2006/main">
  <p:tag name="PRESENTER_SHAPEINFO" val="&lt;ThreeDShapeInfo&gt;&lt;uuid val=&quot;{18264B14-5689-4154-8349-14A13F661494}&quot;/&gt;&lt;isInvalidForFieldText val=&quot;0&quot;/&gt;&lt;Image&gt;&lt;filename val=&quot;C:\Users\sanmi\Documents\My Adobe Presentations\ece552-SharedMemoryCoherence\data\asimages\{18264B14-5689-4154-8349-14A13F661494}_7.png&quot;/&gt;&lt;left val=&quot;189&quot;/&gt;&lt;top val=&quot;390&quot;/&gt;&lt;width val=&quot;326&quot;/&gt;&lt;height val=&quot;57&quot;/&gt;&lt;hasText val=&quot;1&quot;/&gt;&lt;/Image&gt;&lt;/ThreeDShapeInfo&gt;"/>
  <p:tag name="PRESENTER_SHAPETEXTINFO" val="&lt;ShapeTextInfo&gt;&lt;TableIndex row=&quot;-1&quot; col=&quot;-1&quot;&gt;&lt;linesCount val=&quot;1&quot;/&gt;&lt;lineCharCount val=&quot;3&quot;/&gt;&lt;/TableIndex&gt;&lt;/ShapeTextInfo&gt;"/>
</p:tagLst>
</file>

<file path=ppt/tags/tag122.xml><?xml version="1.0" encoding="utf-8"?>
<p:tagLst xmlns:a="http://schemas.openxmlformats.org/drawingml/2006/main" xmlns:r="http://schemas.openxmlformats.org/officeDocument/2006/relationships" xmlns:p="http://schemas.openxmlformats.org/presentationml/2006/main">
  <p:tag name="PRESENTER_SHAPEINFO" val="&lt;ThreeDShapeInfo&gt;&lt;uuid val=&quot;{F8753212-F35A-4961-A81C-7FB43553CBFC}&quot;/&gt;&lt;isInvalidForFieldText val=&quot;0&quot;/&gt;&lt;Image&gt;&lt;filename val=&quot;C:\Users\sanmi\Documents\My Adobe Presentations\ece552-SharedMemoryCoherence\data\asimages\{F8753212-F35A-4961-A81C-7FB43553CBFC}_7.png&quot;/&gt;&lt;left val=&quot;179&quot;/&gt;&lt;top val=&quot;255&quot;/&gt;&lt;width val=&quot;73&quot;/&gt;&lt;height val=&quot;59&quot;/&gt;&lt;hasText val=&quot;1&quot;/&gt;&lt;/Image&gt;&lt;/ThreeDShapeInfo&gt;"/>
  <p:tag name="PRESENTER_SHAPETEXTINFO" val="&lt;ShapeTextInfo&gt;&lt;TableIndex row=&quot;-1&quot; col=&quot;-1&quot;&gt;&lt;linesCount val=&quot;1&quot;/&gt;&lt;lineCharCount val=&quot;2&quot;/&gt;&lt;/TableIndex&gt;&lt;/ShapeTextInfo&gt;"/>
</p:tagLst>
</file>

<file path=ppt/tags/tag123.xml><?xml version="1.0" encoding="utf-8"?>
<p:tagLst xmlns:a="http://schemas.openxmlformats.org/drawingml/2006/main" xmlns:r="http://schemas.openxmlformats.org/officeDocument/2006/relationships" xmlns:p="http://schemas.openxmlformats.org/presentationml/2006/main">
  <p:tag name="PRESENTER_SHAPEINFO" val="&lt;ThreeDShapeInfo&gt;&lt;uuid val=&quot;{C1921005-C76F-4266-A619-70A4F01B6FEC}&quot;/&gt;&lt;isInvalidForFieldText val=&quot;0&quot;/&gt;&lt;Image&gt;&lt;filename val=&quot;C:\Users\sanmi\Documents\My Adobe Presentations\ece552-SharedMemoryCoherence\data\asimages\{C1921005-C76F-4266-A619-70A4F01B6FEC}_7.png&quot;/&gt;&lt;left val=&quot;209&quot;/&gt;&lt;top val=&quot;303&quot;/&gt;&lt;width val=&quot;13&quot;/&gt;&lt;height val=&quot;24&quot;/&gt;&lt;hasText val=&quot;1&quot;/&gt;&lt;/Image&gt;&lt;/ThreeDShapeInfo&gt;"/>
</p:tagLst>
</file>

<file path=ppt/tags/tag1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5.xml><?xml version="1.0" encoding="utf-8"?>
<p:tagLst xmlns:a="http://schemas.openxmlformats.org/drawingml/2006/main" xmlns:r="http://schemas.openxmlformats.org/officeDocument/2006/relationships" xmlns:p="http://schemas.openxmlformats.org/presentationml/2006/main">
  <p:tag name="PRESENTER_SHAPEINFO" val="&lt;ThreeDShapeInfo&gt;&lt;uuid val=&quot;{B21F032D-2CD1-41F7-B99B-4FB8C9B273EC}&quot;/&gt;&lt;isInvalidForFieldText val=&quot;0&quot;/&gt;&lt;Image&gt;&lt;filename val=&quot;C:\Users\sanmi\Documents\My Adobe Presentations\ece552-SharedMemoryCoherence\data\asimages\{B21F032D-2CD1-41F7-B99B-4FB8C9B273EC}_7.png&quot;/&gt;&lt;left val=&quot;461&quot;/&gt;&lt;top val=&quot;255&quot;/&gt;&lt;width val=&quot;73&quot;/&gt;&lt;height val=&quot;59&quot;/&gt;&lt;hasText val=&quot;1&quot;/&gt;&lt;/Image&gt;&lt;/ThreeDShapeInfo&gt;"/>
  <p:tag name="PRESENTER_SHAPETEXTINFO" val="&lt;ShapeTextInfo&gt;&lt;TableIndex row=&quot;-1&quot; col=&quot;-1&quot;&gt;&lt;linesCount val=&quot;1&quot;/&gt;&lt;lineCharCount val=&quot;2&quot;/&gt;&lt;/TableIndex&gt;&lt;/ShapeTextInfo&gt;"/>
</p:tagLst>
</file>

<file path=ppt/tags/tag126.xml><?xml version="1.0" encoding="utf-8"?>
<p:tagLst xmlns:a="http://schemas.openxmlformats.org/drawingml/2006/main" xmlns:r="http://schemas.openxmlformats.org/officeDocument/2006/relationships" xmlns:p="http://schemas.openxmlformats.org/presentationml/2006/main">
  <p:tag name="PRESENTER_SHAPEINFO" val="&lt;ThreeDShapeInfo&gt;&lt;uuid val=&quot;{25C12C6D-E019-481D-92FD-6734500B3A2A}&quot;/&gt;&lt;isInvalidForFieldText val=&quot;0&quot;/&gt;&lt;Image&gt;&lt;filename val=&quot;C:\Users\sanmi\Documents\My Adobe Presentations\ece552-SharedMemoryCoherence\data\asimages\{25C12C6D-E019-481D-92FD-6734500B3A2A}_7.png&quot;/&gt;&lt;left val=&quot;491&quot;/&gt;&lt;top val=&quot;302&quot;/&gt;&lt;width val=&quot;13&quot;/&gt;&lt;height val=&quot;25&quot;/&gt;&lt;hasText val=&quot;1&quot;/&gt;&lt;/Image&gt;&lt;/ThreeDShapeInfo&gt;"/>
</p:tagLst>
</file>

<file path=ppt/tags/tag127.xml><?xml version="1.0" encoding="utf-8"?>
<p:tagLst xmlns:a="http://schemas.openxmlformats.org/drawingml/2006/main" xmlns:r="http://schemas.openxmlformats.org/officeDocument/2006/relationships" xmlns:p="http://schemas.openxmlformats.org/presentationml/2006/main">
  <p:tag name="PRESENTER_SHAPEINFO" val="&lt;ThreeDShapeInfo&gt;&lt;uuid val=&quot;{1CBD259F-AE71-4314-AB70-C1A4E21D0F1B}&quot;/&gt;&lt;isInvalidForFieldText val=&quot;0&quot;/&gt;&lt;Image&gt;&lt;filename val=&quot;C:\Users\sanmi\Documents\My Adobe Presentations\ece552-SharedMemoryCoherence\data\asimages\{1CBD259F-AE71-4314-AB70-C1A4E21D0F1B}_7.png&quot;/&gt;&lt;left val=&quot;258&quot;/&gt;&lt;top val=&quot;445&quot;/&gt;&lt;width val=&quot;188&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1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9.xml><?xml version="1.0" encoding="utf-8"?>
<p:tagLst xmlns:a="http://schemas.openxmlformats.org/drawingml/2006/main" xmlns:r="http://schemas.openxmlformats.org/officeDocument/2006/relationships" xmlns:p="http://schemas.openxmlformats.org/presentationml/2006/main">
  <p:tag name="PRESENTER_SHAPEINFO" val="&lt;ThreeDShapeInfo&gt;&lt;uuid val=&quot;{DBA05B35-EAD7-4D98-AAD5-6D53B1E1F520}&quot;/&gt;&lt;isInvalidForFieldText val=&quot;0&quot;/&gt;&lt;Image&gt;&lt;filename val=&quot;C:\Users\sanmi\Documents\My Adobe Presentations\ece552-SharedMemoryCoherence\data\asimages\{DBA05B35-EAD7-4D98-AAD5-6D53B1E1F520}_7.png&quot;/&gt;&lt;left val=&quot;445&quot;/&gt;&lt;top val=&quot;313&quot;/&gt;&lt;width val=&quot;104&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13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9037015-1635-40EE-81CB-9604A1A2B8C3}_7.png&quot;/&gt;&lt;left val=&quot;441&quot;/&gt;&lt;top val=&quot;475&quot;/&gt;&lt;width val=&quot;113&quot;/&gt;&lt;height val=&quot;34&quot;/&gt;&lt;hasText val=&quot;1&quot;/&gt;&lt;/Image&gt;&lt;/ThreeDShapeInfo&gt;"/>
  <p:tag name="PRESENTER_SHAPETEXTINFO" val="&lt;ShapeTextInfo&gt;&lt;TableIndex row=&quot;-1&quot; col=&quot;-1&quot;&gt;&lt;linesCount val=&quot;1&quot;/&gt;&lt;lineCharCount val=&quot;11&quot;/&gt;&lt;/TableIndex&gt;&lt;/ShapeTextInfo&gt;"/>
</p:tagLst>
</file>

<file path=ppt/tags/tag131.xml><?xml version="1.0" encoding="utf-8"?>
<p:tagLst xmlns:a="http://schemas.openxmlformats.org/drawingml/2006/main" xmlns:r="http://schemas.openxmlformats.org/officeDocument/2006/relationships" xmlns:p="http://schemas.openxmlformats.org/presentationml/2006/main">
  <p:tag name="PRESENTER_SHAPEINFO" val="&lt;ThreeDShapeInfo&gt;&lt;uuid val=&quot;{CA2DB92B-29AA-43B7-8C2E-1DC680556BFF}&quot;/&gt;&lt;isInvalidForFieldText val=&quot;0&quot;/&gt;&lt;Image&gt;&lt;filename val=&quot;C:\Users\sanmi\Documents\My Adobe Presentations\ece552-SharedMemoryCoherence\data\asimages\{CA2DB92B-29AA-43B7-8C2E-1DC680556BFF}_7.png&quot;/&gt;&lt;left val=&quot;163&quot;/&gt;&lt;top val=&quot;342&quot;/&gt;&lt;width val=&quot;104&quot;/&gt;&lt;height val=&quot;32&quot;/&gt;&lt;hasText val=&quot;1&quot;/&gt;&lt;/Image&gt;&lt;/ThreeDShapeInfo&gt;"/>
  <p:tag name="PRESENTER_SHAPETEXTINFO" val="&lt;ShapeTextInfo&gt;&lt;TableIndex row=&quot;-1&quot; col=&quot;-1&quot;&gt;&lt;linesCount val=&quot;0&quot;/&gt;&lt;/TableIndex&gt;&lt;/ShapeTextInfo&gt;"/>
</p:tagLst>
</file>

<file path=ppt/tags/tag132.xml><?xml version="1.0" encoding="utf-8"?>
<p:tagLst xmlns:a="http://schemas.openxmlformats.org/drawingml/2006/main" xmlns:r="http://schemas.openxmlformats.org/officeDocument/2006/relationships" xmlns:p="http://schemas.openxmlformats.org/presentationml/2006/main">
  <p:tag name="PRESENTER_SHAPEINFO" val="&lt;ThreeDShapeInfo&gt;&lt;uuid val=&quot;{3E3DF1DB-E14F-4600-8634-1A2412B4F3F0}&quot;/&gt;&lt;isInvalidForFieldText val=&quot;0&quot;/&gt;&lt;Image&gt;&lt;filename val=&quot;C:\Users\sanmi\Documents\My Adobe Presentations\ece552-SharedMemoryCoherence\data\asimages\{3E3DF1DB-E14F-4600-8634-1A2412B4F3F0}_7.png&quot;/&gt;&lt;left val=&quot;445&quot;/&gt;&lt;top val=&quot;343&quot;/&gt;&lt;width val=&quot;104&quot;/&gt;&lt;height val=&quot;32&quot;/&gt;&lt;hasText val=&quot;1&quot;/&gt;&lt;/Image&gt;&lt;/ThreeDShapeInfo&gt;"/>
  <p:tag name="PRESENTER_SHAPETEXTINFO" val="&lt;ShapeTextInfo&gt;&lt;TableIndex row=&quot;-1&quot; col=&quot;-1&quot;&gt;&lt;linesCount val=&quot;0&quot;/&gt;&lt;/TableIndex&gt;&lt;/ShapeTextInfo&gt;"/>
</p:tagLst>
</file>

<file path=ppt/tags/tag133.xml><?xml version="1.0" encoding="utf-8"?>
<p:tagLst xmlns:a="http://schemas.openxmlformats.org/drawingml/2006/main" xmlns:r="http://schemas.openxmlformats.org/officeDocument/2006/relationships" xmlns:p="http://schemas.openxmlformats.org/presentationml/2006/main">
  <p:tag name="PRESENTER_SHAPEINFO" val="&lt;ThreeDShapeInfo&gt;&lt;uuid val=&quot;{8382EE48-43E7-4266-B690-11794324BD02}&quot;/&gt;&lt;isInvalidForFieldText val=&quot;0&quot;/&gt;&lt;Image&gt;&lt;filename val=&quot;C:\Users\sanmi\Documents\My Adobe Presentations\ece552-SharedMemoryCoherence\data\asimages\{8382EE48-43E7-4266-B690-11794324BD02}_7.png&quot;/&gt;&lt;left val=&quot;258&quot;/&gt;&lt;top val=&quot;476&quot;/&gt;&lt;width val=&quot;188&quot;/&gt;&lt;height val=&quot;32&quot;/&gt;&lt;hasText val=&quot;1&quot;/&gt;&lt;/Image&gt;&lt;/ThreeDShapeInfo&gt;"/>
  <p:tag name="PRESENTER_SHAPETEXTINFO" val="&lt;ShapeTextInfo&gt;&lt;TableIndex row=&quot;-1&quot; col=&quot;-1&quot;&gt;&lt;linesCount val=&quot;0&quot;/&gt;&lt;/TableIndex&gt;&lt;/ShapeTextInfo&gt;"/>
</p:tagLst>
</file>

<file path=ppt/tags/tag1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FBB5144-9F69-4C19-A7E4-05B2FE6539DB}_7.png&quot;/&gt;&lt;left val=&quot;552&quot;/&gt;&lt;top val=&quot;311&quot;/&gt;&lt;width val=&quot;136&quot;/&gt;&lt;height val=&quot;43&quot;/&gt;&lt;hasText val=&quot;1&quot;/&gt;&lt;/Image&gt;&lt;/ThreeDShapeInfo&gt;"/>
  <p:tag name="PRESENTER_SHAPETEXTINFO" val="&lt;ShapeTextInfo&gt;&lt;TableIndex row=&quot;-1&quot; col=&quot;-1&quot;&gt;&lt;linesCount val=&quot;1&quot;/&gt;&lt;lineCharCount val=&quot;13&quot;/&gt;&lt;/TableIndex&gt;&lt;/ShapeTextInfo&gt;"/>
</p:tagLst>
</file>

<file path=ppt/tags/tag13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90456A36-B5CC-4B5A-9903-A3656D38B57B}_7.png&quot;/&gt;&lt;left val=&quot;30&quot;/&gt;&lt;top val=&quot;264&quot;/&gt;&lt;width val=&quot;140&quot;/&gt;&lt;height val=&quot;43&quot;/&gt;&lt;hasText val=&quot;1&quot;/&gt;&lt;/Image&gt;&lt;/ThreeDShapeInfo&gt;"/>
  <p:tag name="PRESENTER_SHAPETEXTINFO" val="&lt;ShapeTextInfo&gt;&lt;TableIndex row=&quot;-1&quot; col=&quot;-1&quot;&gt;&lt;linesCount val=&quot;1&quot;/&gt;&lt;lineCharCount val=&quot;14&quot;/&gt;&lt;/TableIndex&gt;&lt;/ShapeTextInfo&gt;"/>
</p:tagLst>
</file>

<file path=ppt/tags/tag13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2D2E595D-72ED-404C-A0B5-317845E9AB17}_7.png&quot;/&gt;&lt;left val=&quot;511&quot;/&gt;&lt;top val=&quot;394&quot;/&gt;&lt;width val=&quot;192&quot;/&gt;&lt;height val=&quot;45&quot;/&gt;&lt;hasText val=&quot;1&quot;/&gt;&lt;/Image&gt;&lt;/ThreeDShapeInfo&gt;"/>
  <p:tag name="PRESENTER_SHAPETEXTINFO" val="&lt;ShapeTextInfo&gt;&lt;TableIndex row=&quot;-1&quot; col=&quot;-1&quot;&gt;&lt;linesCount val=&quot;1&quot;/&gt;&lt;lineCharCount val=&quot;12&quot;/&gt;&lt;/TableIndex&gt;&lt;/ShapeTextInfo&gt;"/>
</p:tagLst>
</file>

<file path=ppt/tags/tag1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5A5948A4-15ED-4097-A966-C4135B42AFCE}_7.png&quot;/&gt;&lt;left val=&quot;552&quot;/&gt;&lt;top val=&quot;337&quot;/&gt;&lt;width val=&quot;136&quot;/&gt;&lt;height val=&quot;43&quot;/&gt;&lt;hasText val=&quot;1&quot;/&gt;&lt;/Image&gt;&lt;/ThreeDShapeInfo&gt;"/>
  <p:tag name="PRESENTER_SHAPETEXTINFO" val="&lt;ShapeTextInfo&gt;&lt;TableIndex row=&quot;-1&quot; col=&quot;-1&quot;&gt;&lt;linesCount val=&quot;1&quot;/&gt;&lt;lineCharCount val=&quot;13&quot;/&gt;&lt;/TableIndex&gt;&lt;/ShapeTextInfo&gt;"/>
</p:tagLst>
</file>

<file path=ppt/tags/tag138.xml><?xml version="1.0" encoding="utf-8"?>
<p:tagLst xmlns:a="http://schemas.openxmlformats.org/drawingml/2006/main" xmlns:r="http://schemas.openxmlformats.org/officeDocument/2006/relationships" xmlns:p="http://schemas.openxmlformats.org/presentationml/2006/main">
  <p:tag name="HTML_SHAPEINFO" val="&lt;SlideThumbPath val=&quot;Slide7.PNG&quot;/&gt;"/>
</p:tagLst>
</file>

<file path=ppt/tags/tag139.xml><?xml version="1.0" encoding="utf-8"?>
<p:tagLst xmlns:a="http://schemas.openxmlformats.org/drawingml/2006/main" xmlns:r="http://schemas.openxmlformats.org/officeDocument/2006/relationships" xmlns:p="http://schemas.openxmlformats.org/presentationml/2006/main">
  <p:tag name="PRESENTER_SHAPEINFO" val="&lt;ThreeDShapeInfo&gt;&lt;uuid val=&quot;{F03FDCF0-D667-46E8-AFA3-10A7AD1C2C81}&quot;/&gt;&lt;isInvalidForFieldText val=&quot;0&quot;/&gt;&lt;Image&gt;&lt;filename val=&quot;C:\Users\sanmi\Documents\My Adobe Presentations\ece552-SharedMemoryCoherence\data\asimages\{F03FDCF0-D667-46E8-AFA3-10A7AD1C2C81}_7.png&quot;/&gt;&lt;left val=&quot;163&quot;/&gt;&lt;top val=&quot;313&quot;/&gt;&lt;width val=&quot;104&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14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5DA3169-8C34-4D1A-8C51-7AA012BD3EE5}_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3&quot;/&gt;&lt;/TableIndex&gt;&lt;/ShapeTextInfo&gt;"/>
</p:tagLst>
</file>

<file path=ppt/tags/tag14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C20E86F-4CF5-47D6-96A2-5E84CD50DFF3}_7.png&quot;/&gt;&lt;left val=&quot;43&quot;/&gt;&lt;top val=&quot;114&quot;/&gt;&lt;width val=&quot;664&quot;/&gt;&lt;height val=&quot;140&quot;/&gt;&lt;hasText val=&quot;1&quot;/&gt;&lt;/Image&gt;&lt;/ThreeDShapeInfo&gt;"/>
  <p:tag name="PRESENTER_SHAPETEXTINFO" val="&lt;ShapeTextInfo&gt;&lt;TableIndex row=&quot;-1&quot; col=&quot;-1&quot;&gt;&lt;linesCount val=&quot;4&quot;/&gt;&lt;lineCharCount val=&quot;54&quot;/&gt;&lt;lineCharCount val=&quot;51&quot;/&gt;&lt;lineCharCount val=&quot;53&quot;/&gt;&lt;lineCharCount val=&quot;53&quot;/&gt;&lt;/TableIndex&gt;&lt;/ShapeTextInfo&gt;"/>
</p:tagLst>
</file>

<file path=ppt/tags/tag14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3DB0C67-1720-4A22-8529-4BD03325DC58}_7.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143.xml><?xml version="1.0" encoding="utf-8"?>
<p:tagLst xmlns:a="http://schemas.openxmlformats.org/drawingml/2006/main" xmlns:r="http://schemas.openxmlformats.org/officeDocument/2006/relationships" xmlns:p="http://schemas.openxmlformats.org/presentationml/2006/main">
  <p:tag name="PRESENTER_SHAPEINFO" val="&lt;ThreeDShapeInfo&gt;&lt;uuid val=&quot;{18264B14-5689-4154-8349-14A13F661494}&quot;/&gt;&lt;isInvalidForFieldText val=&quot;0&quot;/&gt;&lt;Image&gt;&lt;filename val=&quot;C:\Users\sanmi\Documents\My Adobe Presentations\ece552-SharedMemoryCoherence\data\asimages\{18264B14-5689-4154-8349-14A13F661494}_7.png&quot;/&gt;&lt;left val=&quot;189&quot;/&gt;&lt;top val=&quot;390&quot;/&gt;&lt;width val=&quot;326&quot;/&gt;&lt;height val=&quot;57&quot;/&gt;&lt;hasText val=&quot;1&quot;/&gt;&lt;/Image&gt;&lt;/ThreeDShapeInfo&gt;"/>
  <p:tag name="PRESENTER_SHAPETEXTINFO" val="&lt;ShapeTextInfo&gt;&lt;TableIndex row=&quot;-1&quot; col=&quot;-1&quot;&gt;&lt;linesCount val=&quot;1&quot;/&gt;&lt;lineCharCount val=&quot;3&quot;/&gt;&lt;/TableIndex&gt;&lt;/ShapeTextInfo&gt;"/>
</p:tagLst>
</file>

<file path=ppt/tags/tag144.xml><?xml version="1.0" encoding="utf-8"?>
<p:tagLst xmlns:a="http://schemas.openxmlformats.org/drawingml/2006/main" xmlns:r="http://schemas.openxmlformats.org/officeDocument/2006/relationships" xmlns:p="http://schemas.openxmlformats.org/presentationml/2006/main">
  <p:tag name="PRESENTER_SHAPEINFO" val="&lt;ThreeDShapeInfo&gt;&lt;uuid val=&quot;{F8753212-F35A-4961-A81C-7FB43553CBFC}&quot;/&gt;&lt;isInvalidForFieldText val=&quot;0&quot;/&gt;&lt;Image&gt;&lt;filename val=&quot;C:\Users\sanmi\Documents\My Adobe Presentations\ece552-SharedMemoryCoherence\data\asimages\{F8753212-F35A-4961-A81C-7FB43553CBFC}_7.png&quot;/&gt;&lt;left val=&quot;179&quot;/&gt;&lt;top val=&quot;255&quot;/&gt;&lt;width val=&quot;73&quot;/&gt;&lt;height val=&quot;59&quot;/&gt;&lt;hasText val=&quot;1&quot;/&gt;&lt;/Image&gt;&lt;/ThreeDShapeInfo&gt;"/>
  <p:tag name="PRESENTER_SHAPETEXTINFO" val="&lt;ShapeTextInfo&gt;&lt;TableIndex row=&quot;-1&quot; col=&quot;-1&quot;&gt;&lt;linesCount val=&quot;1&quot;/&gt;&lt;lineCharCount val=&quot;2&quot;/&gt;&lt;/TableIndex&gt;&lt;/ShapeTextInfo&gt;"/>
</p:tagLst>
</file>

<file path=ppt/tags/tag145.xml><?xml version="1.0" encoding="utf-8"?>
<p:tagLst xmlns:a="http://schemas.openxmlformats.org/drawingml/2006/main" xmlns:r="http://schemas.openxmlformats.org/officeDocument/2006/relationships" xmlns:p="http://schemas.openxmlformats.org/presentationml/2006/main">
  <p:tag name="PRESENTER_SHAPEINFO" val="&lt;ThreeDShapeInfo&gt;&lt;uuid val=&quot;{C1921005-C76F-4266-A619-70A4F01B6FEC}&quot;/&gt;&lt;isInvalidForFieldText val=&quot;0&quot;/&gt;&lt;Image&gt;&lt;filename val=&quot;C:\Users\sanmi\Documents\My Adobe Presentations\ece552-SharedMemoryCoherence\data\asimages\{C1921005-C76F-4266-A619-70A4F01B6FEC}_7.png&quot;/&gt;&lt;left val=&quot;209&quot;/&gt;&lt;top val=&quot;303&quot;/&gt;&lt;width val=&quot;13&quot;/&gt;&lt;height val=&quot;24&quot;/&gt;&lt;hasText val=&quot;1&quot;/&gt;&lt;/Image&gt;&lt;/ThreeDShapeInfo&gt;"/>
</p:tagLst>
</file>

<file path=ppt/tags/tag1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7.xml><?xml version="1.0" encoding="utf-8"?>
<p:tagLst xmlns:a="http://schemas.openxmlformats.org/drawingml/2006/main" xmlns:r="http://schemas.openxmlformats.org/officeDocument/2006/relationships" xmlns:p="http://schemas.openxmlformats.org/presentationml/2006/main">
  <p:tag name="PRESENTER_SHAPEINFO" val="&lt;ThreeDShapeInfo&gt;&lt;uuid val=&quot;{B21F032D-2CD1-41F7-B99B-4FB8C9B273EC}&quot;/&gt;&lt;isInvalidForFieldText val=&quot;0&quot;/&gt;&lt;Image&gt;&lt;filename val=&quot;C:\Users\sanmi\Documents\My Adobe Presentations\ece552-SharedMemoryCoherence\data\asimages\{B21F032D-2CD1-41F7-B99B-4FB8C9B273EC}_7.png&quot;/&gt;&lt;left val=&quot;461&quot;/&gt;&lt;top val=&quot;255&quot;/&gt;&lt;width val=&quot;73&quot;/&gt;&lt;height val=&quot;59&quot;/&gt;&lt;hasText val=&quot;1&quot;/&gt;&lt;/Image&gt;&lt;/ThreeDShapeInfo&gt;"/>
  <p:tag name="PRESENTER_SHAPETEXTINFO" val="&lt;ShapeTextInfo&gt;&lt;TableIndex row=&quot;-1&quot; col=&quot;-1&quot;&gt;&lt;linesCount val=&quot;1&quot;/&gt;&lt;lineCharCount val=&quot;2&quot;/&gt;&lt;/TableIndex&gt;&lt;/ShapeTextInfo&gt;"/>
</p:tagLst>
</file>

<file path=ppt/tags/tag148.xml><?xml version="1.0" encoding="utf-8"?>
<p:tagLst xmlns:a="http://schemas.openxmlformats.org/drawingml/2006/main" xmlns:r="http://schemas.openxmlformats.org/officeDocument/2006/relationships" xmlns:p="http://schemas.openxmlformats.org/presentationml/2006/main">
  <p:tag name="PRESENTER_SHAPEINFO" val="&lt;ThreeDShapeInfo&gt;&lt;uuid val=&quot;{25C12C6D-E019-481D-92FD-6734500B3A2A}&quot;/&gt;&lt;isInvalidForFieldText val=&quot;0&quot;/&gt;&lt;Image&gt;&lt;filename val=&quot;C:\Users\sanmi\Documents\My Adobe Presentations\ece552-SharedMemoryCoherence\data\asimages\{25C12C6D-E019-481D-92FD-6734500B3A2A}_7.png&quot;/&gt;&lt;left val=&quot;491&quot;/&gt;&lt;top val=&quot;302&quot;/&gt;&lt;width val=&quot;13&quot;/&gt;&lt;height val=&quot;25&quot;/&gt;&lt;hasText val=&quot;1&quot;/&gt;&lt;/Image&gt;&lt;/ThreeDShapeInfo&gt;"/>
</p:tagLst>
</file>

<file path=ppt/tags/tag149.xml><?xml version="1.0" encoding="utf-8"?>
<p:tagLst xmlns:a="http://schemas.openxmlformats.org/drawingml/2006/main" xmlns:r="http://schemas.openxmlformats.org/officeDocument/2006/relationships" xmlns:p="http://schemas.openxmlformats.org/presentationml/2006/main">
  <p:tag name="PRESENTER_SHAPEINFO" val="&lt;ThreeDShapeInfo&gt;&lt;uuid val=&quot;{1CBD259F-AE71-4314-AB70-C1A4E21D0F1B}&quot;/&gt;&lt;isInvalidForFieldText val=&quot;0&quot;/&gt;&lt;Image&gt;&lt;filename val=&quot;C:\Users\sanmi\Documents\My Adobe Presentations\ece552-SharedMemoryCoherence\data\asimages\{1CBD259F-AE71-4314-AB70-C1A4E21D0F1B}_7.png&quot;/&gt;&lt;left val=&quot;258&quot;/&gt;&lt;top val=&quot;445&quot;/&gt;&lt;width val=&quot;188&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1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1.xml><?xml version="1.0" encoding="utf-8"?>
<p:tagLst xmlns:a="http://schemas.openxmlformats.org/drawingml/2006/main" xmlns:r="http://schemas.openxmlformats.org/officeDocument/2006/relationships" xmlns:p="http://schemas.openxmlformats.org/presentationml/2006/main">
  <p:tag name="PRESENTER_SHAPEINFO" val="&lt;ThreeDShapeInfo&gt;&lt;uuid val=&quot;{DBA05B35-EAD7-4D98-AAD5-6D53B1E1F520}&quot;/&gt;&lt;isInvalidForFieldText val=&quot;0&quot;/&gt;&lt;Image&gt;&lt;filename val=&quot;C:\Users\sanmi\Documents\My Adobe Presentations\ece552-SharedMemoryCoherence\data\asimages\{DBA05B35-EAD7-4D98-AAD5-6D53B1E1F520}_7.png&quot;/&gt;&lt;left val=&quot;445&quot;/&gt;&lt;top val=&quot;313&quot;/&gt;&lt;width val=&quot;104&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15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9037015-1635-40EE-81CB-9604A1A2B8C3}_7.png&quot;/&gt;&lt;left val=&quot;441&quot;/&gt;&lt;top val=&quot;475&quot;/&gt;&lt;width val=&quot;113&quot;/&gt;&lt;height val=&quot;34&quot;/&gt;&lt;hasText val=&quot;1&quot;/&gt;&lt;/Image&gt;&lt;/ThreeDShapeInfo&gt;"/>
  <p:tag name="PRESENTER_SHAPETEXTINFO" val="&lt;ShapeTextInfo&gt;&lt;TableIndex row=&quot;-1&quot; col=&quot;-1&quot;&gt;&lt;linesCount val=&quot;1&quot;/&gt;&lt;lineCharCount val=&quot;11&quot;/&gt;&lt;/TableIndex&gt;&lt;/ShapeTextInfo&gt;"/>
</p:tagLst>
</file>

<file path=ppt/tags/tag153.xml><?xml version="1.0" encoding="utf-8"?>
<p:tagLst xmlns:a="http://schemas.openxmlformats.org/drawingml/2006/main" xmlns:r="http://schemas.openxmlformats.org/officeDocument/2006/relationships" xmlns:p="http://schemas.openxmlformats.org/presentationml/2006/main">
  <p:tag name="PRESENTER_SHAPEINFO" val="&lt;ThreeDShapeInfo&gt;&lt;uuid val=&quot;{CA2DB92B-29AA-43B7-8C2E-1DC680556BFF}&quot;/&gt;&lt;isInvalidForFieldText val=&quot;0&quot;/&gt;&lt;Image&gt;&lt;filename val=&quot;C:\Users\sanmi\Documents\My Adobe Presentations\ece552-SharedMemoryCoherence\data\asimages\{CA2DB92B-29AA-43B7-8C2E-1DC680556BFF}_7.png&quot;/&gt;&lt;left val=&quot;163&quot;/&gt;&lt;top val=&quot;342&quot;/&gt;&lt;width val=&quot;104&quot;/&gt;&lt;height val=&quot;32&quot;/&gt;&lt;hasText val=&quot;1&quot;/&gt;&lt;/Image&gt;&lt;/ThreeDShapeInfo&gt;"/>
  <p:tag name="PRESENTER_SHAPETEXTINFO" val="&lt;ShapeTextInfo&gt;&lt;TableIndex row=&quot;-1&quot; col=&quot;-1&quot;&gt;&lt;linesCount val=&quot;0&quot;/&gt;&lt;/TableIndex&gt;&lt;/ShapeTextInfo&gt;"/>
</p:tagLst>
</file>

<file path=ppt/tags/tag154.xml><?xml version="1.0" encoding="utf-8"?>
<p:tagLst xmlns:a="http://schemas.openxmlformats.org/drawingml/2006/main" xmlns:r="http://schemas.openxmlformats.org/officeDocument/2006/relationships" xmlns:p="http://schemas.openxmlformats.org/presentationml/2006/main">
  <p:tag name="PRESENTER_SHAPEINFO" val="&lt;ThreeDShapeInfo&gt;&lt;uuid val=&quot;{3E3DF1DB-E14F-4600-8634-1A2412B4F3F0}&quot;/&gt;&lt;isInvalidForFieldText val=&quot;0&quot;/&gt;&lt;Image&gt;&lt;filename val=&quot;C:\Users\sanmi\Documents\My Adobe Presentations\ece552-SharedMemoryCoherence\data\asimages\{3E3DF1DB-E14F-4600-8634-1A2412B4F3F0}_7.png&quot;/&gt;&lt;left val=&quot;445&quot;/&gt;&lt;top val=&quot;343&quot;/&gt;&lt;width val=&quot;104&quot;/&gt;&lt;height val=&quot;32&quot;/&gt;&lt;hasText val=&quot;1&quot;/&gt;&lt;/Image&gt;&lt;/ThreeDShapeInfo&gt;"/>
  <p:tag name="PRESENTER_SHAPETEXTINFO" val="&lt;ShapeTextInfo&gt;&lt;TableIndex row=&quot;-1&quot; col=&quot;-1&quot;&gt;&lt;linesCount val=&quot;0&quot;/&gt;&lt;/TableIndex&gt;&lt;/ShapeTextInfo&gt;"/>
</p:tagLst>
</file>

<file path=ppt/tags/tag155.xml><?xml version="1.0" encoding="utf-8"?>
<p:tagLst xmlns:a="http://schemas.openxmlformats.org/drawingml/2006/main" xmlns:r="http://schemas.openxmlformats.org/officeDocument/2006/relationships" xmlns:p="http://schemas.openxmlformats.org/presentationml/2006/main">
  <p:tag name="PRESENTER_SHAPEINFO" val="&lt;ThreeDShapeInfo&gt;&lt;uuid val=&quot;{8382EE48-43E7-4266-B690-11794324BD02}&quot;/&gt;&lt;isInvalidForFieldText val=&quot;0&quot;/&gt;&lt;Image&gt;&lt;filename val=&quot;C:\Users\sanmi\Documents\My Adobe Presentations\ece552-SharedMemoryCoherence\data\asimages\{8382EE48-43E7-4266-B690-11794324BD02}_7.png&quot;/&gt;&lt;left val=&quot;258&quot;/&gt;&lt;top val=&quot;476&quot;/&gt;&lt;width val=&quot;188&quot;/&gt;&lt;height val=&quot;32&quot;/&gt;&lt;hasText val=&quot;1&quot;/&gt;&lt;/Image&gt;&lt;/ThreeDShapeInfo&gt;"/>
  <p:tag name="PRESENTER_SHAPETEXTINFO" val="&lt;ShapeTextInfo&gt;&lt;TableIndex row=&quot;-1&quot; col=&quot;-1&quot;&gt;&lt;linesCount val=&quot;0&quot;/&gt;&lt;/TableIndex&gt;&lt;/ShapeTextInfo&gt;"/>
</p:tagLst>
</file>

<file path=ppt/tags/tag15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FBB5144-9F69-4C19-A7E4-05B2FE6539DB}_7.png&quot;/&gt;&lt;left val=&quot;552&quot;/&gt;&lt;top val=&quot;311&quot;/&gt;&lt;width val=&quot;136&quot;/&gt;&lt;height val=&quot;43&quot;/&gt;&lt;hasText val=&quot;1&quot;/&gt;&lt;/Image&gt;&lt;/ThreeDShapeInfo&gt;"/>
  <p:tag name="PRESENTER_SHAPETEXTINFO" val="&lt;ShapeTextInfo&gt;&lt;TableIndex row=&quot;-1&quot; col=&quot;-1&quot;&gt;&lt;linesCount val=&quot;1&quot;/&gt;&lt;lineCharCount val=&quot;13&quot;/&gt;&lt;/TableIndex&gt;&lt;/ShapeTextInfo&gt;"/>
</p:tagLst>
</file>

<file path=ppt/tags/tag15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90456A36-B5CC-4B5A-9903-A3656D38B57B}_7.png&quot;/&gt;&lt;left val=&quot;30&quot;/&gt;&lt;top val=&quot;264&quot;/&gt;&lt;width val=&quot;140&quot;/&gt;&lt;height val=&quot;43&quot;/&gt;&lt;hasText val=&quot;1&quot;/&gt;&lt;/Image&gt;&lt;/ThreeDShapeInfo&gt;"/>
  <p:tag name="PRESENTER_SHAPETEXTINFO" val="&lt;ShapeTextInfo&gt;&lt;TableIndex row=&quot;-1&quot; col=&quot;-1&quot;&gt;&lt;linesCount val=&quot;1&quot;/&gt;&lt;lineCharCount val=&quot;14&quot;/&gt;&lt;/TableIndex&gt;&lt;/ShapeTextInfo&gt;"/>
</p:tagLst>
</file>

<file path=ppt/tags/tag15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5A5948A4-15ED-4097-A966-C4135B42AFCE}_7.png&quot;/&gt;&lt;left val=&quot;552&quot;/&gt;&lt;top val=&quot;337&quot;/&gt;&lt;width val=&quot;136&quot;/&gt;&lt;height val=&quot;43&quot;/&gt;&lt;hasText val=&quot;1&quot;/&gt;&lt;/Image&gt;&lt;/ThreeDShapeInfo&gt;"/>
  <p:tag name="PRESENTER_SHAPETEXTINFO" val="&lt;ShapeTextInfo&gt;&lt;TableIndex row=&quot;-1&quot; col=&quot;-1&quot;&gt;&lt;linesCount val=&quot;1&quot;/&gt;&lt;lineCharCount val=&quot;13&quot;/&gt;&lt;/TableIndex&gt;&lt;/ShapeTextInfo&gt;"/>
</p:tagLst>
</file>

<file path=ppt/tags/tag15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90456A36-B5CC-4B5A-9903-A3656D38B57B}_7.png&quot;/&gt;&lt;left val=&quot;30&quot;/&gt;&lt;top val=&quot;264&quot;/&gt;&lt;width val=&quot;140&quot;/&gt;&lt;height val=&quot;43&quot;/&gt;&lt;hasText val=&quot;1&quot;/&gt;&lt;/Image&gt;&lt;/ThreeDShapeInfo&gt;"/>
  <p:tag name="PRESENTER_SHAPETEXTINFO" val="&lt;ShapeTextInfo&gt;&lt;TableIndex row=&quot;-1&quot; col=&quot;-1&quot;&gt;&lt;linesCount val=&quot;1&quot;/&gt;&lt;lineCharCount val=&quot;14&quot;/&gt;&lt;/TableIndex&gt;&lt;/ShapeTextInfo&gt;"/>
</p:tagLst>
</file>

<file path=ppt/tags/tag160.xml><?xml version="1.0" encoding="utf-8"?>
<p:tagLst xmlns:a="http://schemas.openxmlformats.org/drawingml/2006/main" xmlns:r="http://schemas.openxmlformats.org/officeDocument/2006/relationships" xmlns:p="http://schemas.openxmlformats.org/presentationml/2006/main">
  <p:tag name="HTML_SHAPEINFO" val="&lt;SlideThumbPath val=&quot;Slide7.PNG&quot;/&gt;"/>
</p:tagLst>
</file>

<file path=ppt/tags/tag161.xml><?xml version="1.0" encoding="utf-8"?>
<p:tagLst xmlns:a="http://schemas.openxmlformats.org/drawingml/2006/main" xmlns:r="http://schemas.openxmlformats.org/officeDocument/2006/relationships" xmlns:p="http://schemas.openxmlformats.org/presentationml/2006/main">
  <p:tag name="PRESENTER_SHAPEINFO" val="&lt;ThreeDShapeInfo&gt;&lt;uuid val=&quot;{F03FDCF0-D667-46E8-AFA3-10A7AD1C2C81}&quot;/&gt;&lt;isInvalidForFieldText val=&quot;0&quot;/&gt;&lt;Image&gt;&lt;filename val=&quot;C:\Users\sanmi\Documents\My Adobe Presentations\ece552-SharedMemoryCoherence\data\asimages\{F03FDCF0-D667-46E8-AFA3-10A7AD1C2C81}_7.png&quot;/&gt;&lt;left val=&quot;163&quot;/&gt;&lt;top val=&quot;313&quot;/&gt;&lt;width val=&quot;104&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16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D5DA3169-8C34-4D1A-8C51-7AA012BD3EE5}_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3&quot;/&gt;&lt;/TableIndex&gt;&lt;/ShapeTextInfo&gt;"/>
</p:tagLst>
</file>

<file path=ppt/tags/tag16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8C20E86F-4CF5-47D6-96A2-5E84CD50DFF3}_7.png&quot;/&gt;&lt;left val=&quot;43&quot;/&gt;&lt;top val=&quot;114&quot;/&gt;&lt;width val=&quot;664&quot;/&gt;&lt;height val=&quot;140&quot;/&gt;&lt;hasText val=&quot;1&quot;/&gt;&lt;/Image&gt;&lt;/ThreeDShapeInfo&gt;"/>
  <p:tag name="PRESENTER_SHAPETEXTINFO" val="&lt;ShapeTextInfo&gt;&lt;TableIndex row=&quot;-1&quot; col=&quot;-1&quot;&gt;&lt;linesCount val=&quot;4&quot;/&gt;&lt;lineCharCount val=&quot;54&quot;/&gt;&lt;lineCharCount val=&quot;51&quot;/&gt;&lt;lineCharCount val=&quot;53&quot;/&gt;&lt;lineCharCount val=&quot;53&quot;/&gt;&lt;/TableIndex&gt;&lt;/ShapeTextInfo&gt;"/>
</p:tagLst>
</file>

<file path=ppt/tags/tag16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3DB0C67-1720-4A22-8529-4BD03325DC58}_7.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165.xml><?xml version="1.0" encoding="utf-8"?>
<p:tagLst xmlns:a="http://schemas.openxmlformats.org/drawingml/2006/main" xmlns:r="http://schemas.openxmlformats.org/officeDocument/2006/relationships" xmlns:p="http://schemas.openxmlformats.org/presentationml/2006/main">
  <p:tag name="PRESENTER_SHAPEINFO" val="&lt;ThreeDShapeInfo&gt;&lt;uuid val=&quot;{18264B14-5689-4154-8349-14A13F661494}&quot;/&gt;&lt;isInvalidForFieldText val=&quot;0&quot;/&gt;&lt;Image&gt;&lt;filename val=&quot;C:\Users\sanmi\Documents\My Adobe Presentations\ece552-SharedMemoryCoherence\data\asimages\{18264B14-5689-4154-8349-14A13F661494}_7.png&quot;/&gt;&lt;left val=&quot;189&quot;/&gt;&lt;top val=&quot;390&quot;/&gt;&lt;width val=&quot;326&quot;/&gt;&lt;height val=&quot;57&quot;/&gt;&lt;hasText val=&quot;1&quot;/&gt;&lt;/Image&gt;&lt;/ThreeDShapeInfo&gt;"/>
  <p:tag name="PRESENTER_SHAPETEXTINFO" val="&lt;ShapeTextInfo&gt;&lt;TableIndex row=&quot;-1&quot; col=&quot;-1&quot;&gt;&lt;linesCount val=&quot;1&quot;/&gt;&lt;lineCharCount val=&quot;3&quot;/&gt;&lt;/TableIndex&gt;&lt;/ShapeTextInfo&gt;"/>
</p:tagLst>
</file>

<file path=ppt/tags/tag166.xml><?xml version="1.0" encoding="utf-8"?>
<p:tagLst xmlns:a="http://schemas.openxmlformats.org/drawingml/2006/main" xmlns:r="http://schemas.openxmlformats.org/officeDocument/2006/relationships" xmlns:p="http://schemas.openxmlformats.org/presentationml/2006/main">
  <p:tag name="PRESENTER_SHAPEINFO" val="&lt;ThreeDShapeInfo&gt;&lt;uuid val=&quot;{F8753212-F35A-4961-A81C-7FB43553CBFC}&quot;/&gt;&lt;isInvalidForFieldText val=&quot;0&quot;/&gt;&lt;Image&gt;&lt;filename val=&quot;C:\Users\sanmi\Documents\My Adobe Presentations\ece552-SharedMemoryCoherence\data\asimages\{F8753212-F35A-4961-A81C-7FB43553CBFC}_7.png&quot;/&gt;&lt;left val=&quot;179&quot;/&gt;&lt;top val=&quot;255&quot;/&gt;&lt;width val=&quot;73&quot;/&gt;&lt;height val=&quot;59&quot;/&gt;&lt;hasText val=&quot;1&quot;/&gt;&lt;/Image&gt;&lt;/ThreeDShapeInfo&gt;"/>
  <p:tag name="PRESENTER_SHAPETEXTINFO" val="&lt;ShapeTextInfo&gt;&lt;TableIndex row=&quot;-1&quot; col=&quot;-1&quot;&gt;&lt;linesCount val=&quot;1&quot;/&gt;&lt;lineCharCount val=&quot;2&quot;/&gt;&lt;/TableIndex&gt;&lt;/ShapeTextInfo&gt;"/>
</p:tagLst>
</file>

<file path=ppt/tags/tag167.xml><?xml version="1.0" encoding="utf-8"?>
<p:tagLst xmlns:a="http://schemas.openxmlformats.org/drawingml/2006/main" xmlns:r="http://schemas.openxmlformats.org/officeDocument/2006/relationships" xmlns:p="http://schemas.openxmlformats.org/presentationml/2006/main">
  <p:tag name="PRESENTER_SHAPEINFO" val="&lt;ThreeDShapeInfo&gt;&lt;uuid val=&quot;{C1921005-C76F-4266-A619-70A4F01B6FEC}&quot;/&gt;&lt;isInvalidForFieldText val=&quot;0&quot;/&gt;&lt;Image&gt;&lt;filename val=&quot;C:\Users\sanmi\Documents\My Adobe Presentations\ece552-SharedMemoryCoherence\data\asimages\{C1921005-C76F-4266-A619-70A4F01B6FEC}_7.png&quot;/&gt;&lt;left val=&quot;209&quot;/&gt;&lt;top val=&quot;303&quot;/&gt;&lt;width val=&quot;13&quot;/&gt;&lt;height val=&quot;24&quot;/&gt;&lt;hasText val=&quot;1&quot;/&gt;&lt;/Image&gt;&lt;/ThreeDShapeInfo&gt;"/>
</p:tagLst>
</file>

<file path=ppt/tags/tag1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9.xml><?xml version="1.0" encoding="utf-8"?>
<p:tagLst xmlns:a="http://schemas.openxmlformats.org/drawingml/2006/main" xmlns:r="http://schemas.openxmlformats.org/officeDocument/2006/relationships" xmlns:p="http://schemas.openxmlformats.org/presentationml/2006/main">
  <p:tag name="PRESENTER_SHAPEINFO" val="&lt;ThreeDShapeInfo&gt;&lt;uuid val=&quot;{B21F032D-2CD1-41F7-B99B-4FB8C9B273EC}&quot;/&gt;&lt;isInvalidForFieldText val=&quot;0&quot;/&gt;&lt;Image&gt;&lt;filename val=&quot;C:\Users\sanmi\Documents\My Adobe Presentations\ece552-SharedMemoryCoherence\data\asimages\{B21F032D-2CD1-41F7-B99B-4FB8C9B273EC}_7.png&quot;/&gt;&lt;left val=&quot;461&quot;/&gt;&lt;top val=&quot;255&quot;/&gt;&lt;width val=&quot;73&quot;/&gt;&lt;height val=&quot;59&quot;/&gt;&lt;hasText val=&quot;1&quot;/&gt;&lt;/Image&gt;&lt;/ThreeDShapeInfo&gt;"/>
  <p:tag name="PRESENTER_SHAPETEXTINFO" val="&lt;ShapeTextInfo&gt;&lt;TableIndex row=&quot;-1&quot; col=&quot;-1&quot;&gt;&lt;linesCount val=&quot;1&quot;/&gt;&lt;lineCharCount val=&quot;2&quot;/&gt;&lt;/TableIndex&gt;&lt;/ShapeTextInfo&gt;"/>
</p:tagLst>
</file>

<file path=ppt/tags/tag170.xml><?xml version="1.0" encoding="utf-8"?>
<p:tagLst xmlns:a="http://schemas.openxmlformats.org/drawingml/2006/main" xmlns:r="http://schemas.openxmlformats.org/officeDocument/2006/relationships" xmlns:p="http://schemas.openxmlformats.org/presentationml/2006/main">
  <p:tag name="PRESENTER_SHAPEINFO" val="&lt;ThreeDShapeInfo&gt;&lt;uuid val=&quot;{25C12C6D-E019-481D-92FD-6734500B3A2A}&quot;/&gt;&lt;isInvalidForFieldText val=&quot;0&quot;/&gt;&lt;Image&gt;&lt;filename val=&quot;C:\Users\sanmi\Documents\My Adobe Presentations\ece552-SharedMemoryCoherence\data\asimages\{25C12C6D-E019-481D-92FD-6734500B3A2A}_7.png&quot;/&gt;&lt;left val=&quot;491&quot;/&gt;&lt;top val=&quot;302&quot;/&gt;&lt;width val=&quot;13&quot;/&gt;&lt;height val=&quot;25&quot;/&gt;&lt;hasText val=&quot;1&quot;/&gt;&lt;/Image&gt;&lt;/ThreeDShapeInfo&gt;"/>
</p:tagLst>
</file>

<file path=ppt/tags/tag171.xml><?xml version="1.0" encoding="utf-8"?>
<p:tagLst xmlns:a="http://schemas.openxmlformats.org/drawingml/2006/main" xmlns:r="http://schemas.openxmlformats.org/officeDocument/2006/relationships" xmlns:p="http://schemas.openxmlformats.org/presentationml/2006/main">
  <p:tag name="PRESENTER_SHAPEINFO" val="&lt;ThreeDShapeInfo&gt;&lt;uuid val=&quot;{1CBD259F-AE71-4314-AB70-C1A4E21D0F1B}&quot;/&gt;&lt;isInvalidForFieldText val=&quot;0&quot;/&gt;&lt;Image&gt;&lt;filename val=&quot;C:\Users\sanmi\Documents\My Adobe Presentations\ece552-SharedMemoryCoherence\data\asimages\{1CBD259F-AE71-4314-AB70-C1A4E21D0F1B}_7.png&quot;/&gt;&lt;left val=&quot;258&quot;/&gt;&lt;top val=&quot;445&quot;/&gt;&lt;width val=&quot;188&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1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3.xml><?xml version="1.0" encoding="utf-8"?>
<p:tagLst xmlns:a="http://schemas.openxmlformats.org/drawingml/2006/main" xmlns:r="http://schemas.openxmlformats.org/officeDocument/2006/relationships" xmlns:p="http://schemas.openxmlformats.org/presentationml/2006/main">
  <p:tag name="PRESENTER_SHAPEINFO" val="&lt;ThreeDShapeInfo&gt;&lt;uuid val=&quot;{DBA05B35-EAD7-4D98-AAD5-6D53B1E1F520}&quot;/&gt;&lt;isInvalidForFieldText val=&quot;0&quot;/&gt;&lt;Image&gt;&lt;filename val=&quot;C:\Users\sanmi\Documents\My Adobe Presentations\ece552-SharedMemoryCoherence\data\asimages\{DBA05B35-EAD7-4D98-AAD5-6D53B1E1F520}_7.png&quot;/&gt;&lt;left val=&quot;445&quot;/&gt;&lt;top val=&quot;313&quot;/&gt;&lt;width val=&quot;104&quot;/&gt;&lt;height val=&quot;49&quot;/&gt;&lt;hasText val=&quot;1&quot;/&gt;&lt;/Image&gt;&lt;/ThreeDShapeInfo&gt;"/>
  <p:tag name="PRESENTER_SHAPETEXTINFO" val="&lt;ShapeTextInfo&gt;&lt;TableIndex row=&quot;-1&quot; col=&quot;-1&quot;&gt;&lt;linesCount val=&quot;1&quot;/&gt;&lt;lineCharCount val=&quot;5&quot;/&gt;&lt;/TableIndex&gt;&lt;/ShapeTextInfo&gt;"/>
</p:tagLst>
</file>

<file path=ppt/tags/tag17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49037015-1635-40EE-81CB-9604A1A2B8C3}_7.png&quot;/&gt;&lt;left val=&quot;441&quot;/&gt;&lt;top val=&quot;475&quot;/&gt;&lt;width val=&quot;113&quot;/&gt;&lt;height val=&quot;34&quot;/&gt;&lt;hasText val=&quot;1&quot;/&gt;&lt;/Image&gt;&lt;/ThreeDShapeInfo&gt;"/>
  <p:tag name="PRESENTER_SHAPETEXTINFO" val="&lt;ShapeTextInfo&gt;&lt;TableIndex row=&quot;-1&quot; col=&quot;-1&quot;&gt;&lt;linesCount val=&quot;1&quot;/&gt;&lt;lineCharCount val=&quot;11&quot;/&gt;&lt;/TableIndex&gt;&lt;/ShapeTextInfo&gt;"/>
</p:tagLst>
</file>

<file path=ppt/tags/tag175.xml><?xml version="1.0" encoding="utf-8"?>
<p:tagLst xmlns:a="http://schemas.openxmlformats.org/drawingml/2006/main" xmlns:r="http://schemas.openxmlformats.org/officeDocument/2006/relationships" xmlns:p="http://schemas.openxmlformats.org/presentationml/2006/main">
  <p:tag name="PRESENTER_SHAPEINFO" val="&lt;ThreeDShapeInfo&gt;&lt;uuid val=&quot;{CA2DB92B-29AA-43B7-8C2E-1DC680556BFF}&quot;/&gt;&lt;isInvalidForFieldText val=&quot;0&quot;/&gt;&lt;Image&gt;&lt;filename val=&quot;C:\Users\sanmi\Documents\My Adobe Presentations\ece552-SharedMemoryCoherence\data\asimages\{CA2DB92B-29AA-43B7-8C2E-1DC680556BFF}_7.png&quot;/&gt;&lt;left val=&quot;163&quot;/&gt;&lt;top val=&quot;342&quot;/&gt;&lt;width val=&quot;104&quot;/&gt;&lt;height val=&quot;32&quot;/&gt;&lt;hasText val=&quot;1&quot;/&gt;&lt;/Image&gt;&lt;/ThreeDShapeInfo&gt;"/>
  <p:tag name="PRESENTER_SHAPETEXTINFO" val="&lt;ShapeTextInfo&gt;&lt;TableIndex row=&quot;-1&quot; col=&quot;-1&quot;&gt;&lt;linesCount val=&quot;0&quot;/&gt;&lt;/TableIndex&gt;&lt;/ShapeTextInfo&gt;"/>
</p:tagLst>
</file>

<file path=ppt/tags/tag176.xml><?xml version="1.0" encoding="utf-8"?>
<p:tagLst xmlns:a="http://schemas.openxmlformats.org/drawingml/2006/main" xmlns:r="http://schemas.openxmlformats.org/officeDocument/2006/relationships" xmlns:p="http://schemas.openxmlformats.org/presentationml/2006/main">
  <p:tag name="PRESENTER_SHAPEINFO" val="&lt;ThreeDShapeInfo&gt;&lt;uuid val=&quot;{3E3DF1DB-E14F-4600-8634-1A2412B4F3F0}&quot;/&gt;&lt;isInvalidForFieldText val=&quot;0&quot;/&gt;&lt;Image&gt;&lt;filename val=&quot;C:\Users\sanmi\Documents\My Adobe Presentations\ece552-SharedMemoryCoherence\data\asimages\{3E3DF1DB-E14F-4600-8634-1A2412B4F3F0}_7.png&quot;/&gt;&lt;left val=&quot;445&quot;/&gt;&lt;top val=&quot;343&quot;/&gt;&lt;width val=&quot;104&quot;/&gt;&lt;height val=&quot;32&quot;/&gt;&lt;hasText val=&quot;1&quot;/&gt;&lt;/Image&gt;&lt;/ThreeDShapeInfo&gt;"/>
  <p:tag name="PRESENTER_SHAPETEXTINFO" val="&lt;ShapeTextInfo&gt;&lt;TableIndex row=&quot;-1&quot; col=&quot;-1&quot;&gt;&lt;linesCount val=&quot;0&quot;/&gt;&lt;/TableIndex&gt;&lt;/ShapeTextInfo&gt;"/>
</p:tagLst>
</file>

<file path=ppt/tags/tag177.xml><?xml version="1.0" encoding="utf-8"?>
<p:tagLst xmlns:a="http://schemas.openxmlformats.org/drawingml/2006/main" xmlns:r="http://schemas.openxmlformats.org/officeDocument/2006/relationships" xmlns:p="http://schemas.openxmlformats.org/presentationml/2006/main">
  <p:tag name="PRESENTER_SHAPEINFO" val="&lt;ThreeDShapeInfo&gt;&lt;uuid val=&quot;{8382EE48-43E7-4266-B690-11794324BD02}&quot;/&gt;&lt;isInvalidForFieldText val=&quot;0&quot;/&gt;&lt;Image&gt;&lt;filename val=&quot;C:\Users\sanmi\Documents\My Adobe Presentations\ece552-SharedMemoryCoherence\data\asimages\{8382EE48-43E7-4266-B690-11794324BD02}_7.png&quot;/&gt;&lt;left val=&quot;258&quot;/&gt;&lt;top val=&quot;476&quot;/&gt;&lt;width val=&quot;188&quot;/&gt;&lt;height val=&quot;32&quot;/&gt;&lt;hasText val=&quot;1&quot;/&gt;&lt;/Image&gt;&lt;/ThreeDShapeInfo&gt;"/>
  <p:tag name="PRESENTER_SHAPETEXTINFO" val="&lt;ShapeTextInfo&gt;&lt;TableIndex row=&quot;-1&quot; col=&quot;-1&quot;&gt;&lt;linesCount val=&quot;0&quot;/&gt;&lt;/TableIndex&gt;&lt;/ShapeTextInfo&gt;"/>
</p:tagLst>
</file>

<file path=ppt/tags/tag17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FBB5144-9F69-4C19-A7E4-05B2FE6539DB}_7.png&quot;/&gt;&lt;left val=&quot;552&quot;/&gt;&lt;top val=&quot;311&quot;/&gt;&lt;width val=&quot;136&quot;/&gt;&lt;height val=&quot;43&quot;/&gt;&lt;hasText val=&quot;1&quot;/&gt;&lt;/Image&gt;&lt;/ThreeDShapeInfo&gt;"/>
  <p:tag name="PRESENTER_SHAPETEXTINFO" val="&lt;ShapeTextInfo&gt;&lt;TableIndex row=&quot;-1&quot; col=&quot;-1&quot;&gt;&lt;linesCount val=&quot;1&quot;/&gt;&lt;lineCharCount val=&quot;13&quot;/&gt;&lt;/TableIndex&gt;&lt;/ShapeTextInfo&gt;"/>
</p:tagLst>
</file>

<file path=ppt/tags/tag17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90456A36-B5CC-4B5A-9903-A3656D38B57B}_7.png&quot;/&gt;&lt;left val=&quot;30&quot;/&gt;&lt;top val=&quot;264&quot;/&gt;&lt;width val=&quot;140&quot;/&gt;&lt;height val=&quot;43&quot;/&gt;&lt;hasText val=&quot;1&quot;/&gt;&lt;/Image&gt;&lt;/ThreeDShapeInfo&gt;"/>
  <p:tag name="PRESENTER_SHAPETEXTINFO" val="&lt;ShapeTextInfo&gt;&lt;TableIndex row=&quot;-1&quot; col=&quot;-1&quot;&gt;&lt;linesCount val=&quot;1&quot;/&gt;&lt;lineCharCount val=&quot;14&quot;/&gt;&lt;/TableIndex&gt;&lt;/ShapeTextInfo&gt;"/>
</p:tagLst>
</file>

<file path=ppt/tags/tag18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2D2E595D-72ED-404C-A0B5-317845E9AB17}_7.png&quot;/&gt;&lt;left val=&quot;511&quot;/&gt;&lt;top val=&quot;394&quot;/&gt;&lt;width val=&quot;192&quot;/&gt;&lt;height val=&quot;45&quot;/&gt;&lt;hasText val=&quot;1&quot;/&gt;&lt;/Image&gt;&lt;/ThreeDShapeInfo&gt;"/>
  <p:tag name="PRESENTER_SHAPETEXTINFO" val="&lt;ShapeTextInfo&gt;&lt;TableIndex row=&quot;-1&quot; col=&quot;-1&quot;&gt;&lt;linesCount val=&quot;1&quot;/&gt;&lt;lineCharCount val=&quot;12&quot;/&gt;&lt;/TableIndex&gt;&lt;/ShapeTextInfo&gt;"/>
</p:tagLst>
</file>

<file path=ppt/tags/tag18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5A5948A4-15ED-4097-A966-C4135B42AFCE}_7.png&quot;/&gt;&lt;left val=&quot;552&quot;/&gt;&lt;top val=&quot;337&quot;/&gt;&lt;width val=&quot;136&quot;/&gt;&lt;height val=&quot;43&quot;/&gt;&lt;hasText val=&quot;1&quot;/&gt;&lt;/Image&gt;&lt;/ThreeDShapeInfo&gt;"/>
  <p:tag name="PRESENTER_SHAPETEXTINFO" val="&lt;ShapeTextInfo&gt;&lt;TableIndex row=&quot;-1&quot; col=&quot;-1&quot;&gt;&lt;linesCount val=&quot;1&quot;/&gt;&lt;lineCharCount val=&quot;13&quot;/&gt;&lt;/TableIndex&gt;&lt;/ShapeTextInfo&gt;"/>
</p:tagLst>
</file>

<file path=ppt/tags/tag18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90456A36-B5CC-4B5A-9903-A3656D38B57B}_7.png&quot;/&gt;&lt;left val=&quot;30&quot;/&gt;&lt;top val=&quot;264&quot;/&gt;&lt;width val=&quot;140&quot;/&gt;&lt;height val=&quot;43&quot;/&gt;&lt;hasText val=&quot;1&quot;/&gt;&lt;/Image&gt;&lt;/ThreeDShapeInfo&gt;"/>
  <p:tag name="PRESENTER_SHAPETEXTINFO" val="&lt;ShapeTextInfo&gt;&lt;TableIndex row=&quot;-1&quot; col=&quot;-1&quot;&gt;&lt;linesCount val=&quot;1&quot;/&gt;&lt;lineCharCount val=&quot;14&quot;/&gt;&lt;/TableIndex&gt;&lt;/ShapeTextInfo&gt;"/>
</p:tagLst>
</file>

<file path=ppt/tags/tag18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5A5948A4-15ED-4097-A966-C4135B42AFCE}_7.png&quot;/&gt;&lt;left val=&quot;552&quot;/&gt;&lt;top val=&quot;337&quot;/&gt;&lt;width val=&quot;136&quot;/&gt;&lt;height val=&quot;43&quot;/&gt;&lt;hasText val=&quot;1&quot;/&gt;&lt;/Image&gt;&lt;/ThreeDShapeInfo&gt;"/>
  <p:tag name="PRESENTER_SHAPETEXTINFO" val="&lt;ShapeTextInfo&gt;&lt;TableIndex row=&quot;-1&quot; col=&quot;-1&quot;&gt;&lt;linesCount val=&quot;1&quot;/&gt;&lt;lineCharCount val=&quot;13&quot;/&gt;&lt;/TableIndex&gt;&lt;/ShapeTextInfo&gt;"/>
</p:tagLst>
</file>

<file path=ppt/tags/tag184.xml><?xml version="1.0" encoding="utf-8"?>
<p:tagLst xmlns:a="http://schemas.openxmlformats.org/drawingml/2006/main" xmlns:r="http://schemas.openxmlformats.org/officeDocument/2006/relationships" xmlns:p="http://schemas.openxmlformats.org/presentationml/2006/main">
  <p:tag name="HTML_SHAPEINFO" val="&lt;SlideThumbPath val=&quot;Slide9.PNG&quot;/&gt;"/>
  <p:tag name="PPSNARRATION" val="9,883145026,C:\Users\sanmi\GoogleDrive\UWMdrive\Courses\ECE552\ece552-lec18_SharedMemoryCoherence_pptx\Media.ppcx"/>
</p:tagLst>
</file>

<file path=ppt/tags/tag18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3E2009A0-CE55-411B-B945-7A4880725227}_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4&quot;/&gt;&lt;/TableIndex&gt;&lt;/ShapeTextInfo&gt;"/>
</p:tagLst>
</file>

<file path=ppt/tags/tag18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F7E5AE98-F6AE-415C-B845-2B25E3792C4E}_9.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18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SharedMemoryCoherence\data\asimages\{1680165A-EFB7-4C49-AB1E-B46D0F4BC0DC}_9.png&quot;/&gt;&lt;left val=&quot;29&quot;/&gt;&lt;top val=&quot;105&quot;/&gt;&lt;width val=&quot;655&quot;/&gt;&lt;height val=&quot;403&quot;/&gt;&lt;hasText val=&quot;1&quot;/&gt;&lt;/Image&gt;&lt;/ThreeDShapeInfo&gt;"/>
  <p:tag name="PRESENTER_SHAPETEXTINFO" val="&lt;ShapeTextInfo&gt;&lt;TableIndex row=&quot;-1&quot; col=&quot;-1&quot;&gt;&lt;linesCount val=&quot;8&quot;/&gt;&lt;lineCharCount val=&quot;43&quot;/&gt;&lt;lineCharCount val=&quot;49&quot;/&gt;&lt;lineCharCount val=&quot;49&quot;/&gt;&lt;lineCharCount val=&quot;46&quot;/&gt;&lt;lineCharCount val=&quot;28&quot;/&gt;&lt;lineCharCount val=&quot;48&quot;/&gt;&lt;lineCharCount val=&quot;46&quot;/&gt;&lt;lineCharCount val=&quot;50&quot;/&gt;&lt;/TableIndex&gt;&lt;/ShapeTextInfo&gt;"/>
</p:tagLst>
</file>

<file path=ppt/theme/theme1.xml><?xml version="1.0" encoding="utf-8"?>
<a:theme xmlns:a="http://schemas.openxmlformats.org/drawingml/2006/main" name="Lecture Notes 55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Notes 552</Template>
  <TotalTime>8202</TotalTime>
  <Words>692</Words>
  <Application>Microsoft Macintosh PowerPoint</Application>
  <PresentationFormat>On-screen Show (4:3)</PresentationFormat>
  <Paragraphs>125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Lecture Notes 552</vt:lpstr>
      <vt:lpstr>ECE/CS 552: Shared Memory and Coherence</vt:lpstr>
      <vt:lpstr>Shared Memory</vt:lpstr>
      <vt:lpstr>Shared-Memory CMP</vt:lpstr>
      <vt:lpstr>Cache Coherence Problem</vt:lpstr>
      <vt:lpstr>Cache Coherence Problem</vt:lpstr>
      <vt:lpstr>Cache Coherence Problem</vt:lpstr>
      <vt:lpstr>Cache Coherence Problem</vt:lpstr>
      <vt:lpstr>Cache Coherence Problem</vt:lpstr>
      <vt:lpstr>Cache Coherence Problem</vt:lpstr>
      <vt:lpstr>Cache Coherence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ECE/CS 552: Shared Memory and Coherence</dc:title>
  <dc:creator/>
  <cp:lastModifiedBy>Boone Severson</cp:lastModifiedBy>
  <cp:revision>509</cp:revision>
  <cp:lastPrinted>1601-01-01T00:00:00Z</cp:lastPrinted>
  <dcterms:created xsi:type="dcterms:W3CDTF">1601-01-01T00:00:00Z</dcterms:created>
  <dcterms:modified xsi:type="dcterms:W3CDTF">2024-11-13T02:14:27Z</dcterms:modified>
</cp:coreProperties>
</file>