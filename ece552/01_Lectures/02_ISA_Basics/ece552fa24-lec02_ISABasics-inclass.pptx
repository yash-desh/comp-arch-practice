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</p:sldMasterIdLst>
  <p:notesMasterIdLst>
    <p:notesMasterId r:id="rId6"/>
  </p:notesMasterIdLst>
  <p:handoutMasterIdLst>
    <p:handoutMasterId r:id="rId7"/>
  </p:handoutMasterIdLst>
  <p:sldIdLst>
    <p:sldId id="302" r:id="rId2"/>
    <p:sldId id="372" r:id="rId3"/>
    <p:sldId id="267" r:id="rId4"/>
    <p:sldId id="375" r:id="rId5"/>
  </p:sldIdLst>
  <p:sldSz cx="9144000" cy="6858000" type="screen4x3"/>
  <p:notesSz cx="6845300" cy="9396413"/>
  <p:custDataLst>
    <p:tags r:id="rId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2358" y="-96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498850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ECE/CS 552: Introduction To Computer Architecture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49E94325-7BE7-428D-AE55-308395C004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1232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3150" y="704850"/>
            <a:ext cx="4699000" cy="3522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4FFE8B02-4736-417B-B842-A69D106543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6665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0509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8879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0089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038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C5951701-B0B4-4939-BB63-0F357124220B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495102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217407CB-AE38-450A-8258-626CEFFEE7BF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161108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84E426E2-4AE0-4571-B460-6460009BCFCE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2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2.xml"/><Relationship Id="rId4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81000" y="2362200"/>
            <a:ext cx="83820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ISA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</a:t>
            </a:r>
            <a:r>
              <a:rPr lang="en-US" sz="2200" dirty="0" err="1"/>
              <a:t>Mikko</a:t>
            </a:r>
            <a:r>
              <a:rPr lang="en-US" sz="2200" dirty="0"/>
              <a:t> </a:t>
            </a:r>
            <a:r>
              <a:rPr lang="en-US" sz="2200" dirty="0" err="1"/>
              <a:t>Lipasti</a:t>
            </a:r>
            <a:r>
              <a:rPr lang="en-US" sz="2200" dirty="0"/>
              <a:t>, Mark Hill, David Wood, </a:t>
            </a:r>
            <a:r>
              <a:rPr lang="en-US" sz="2200" dirty="0" err="1"/>
              <a:t>Guri</a:t>
            </a:r>
            <a:r>
              <a:rPr lang="en-US" sz="2200" dirty="0"/>
              <a:t>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74638"/>
            <a:ext cx="7467600" cy="990840"/>
          </a:xfrm>
        </p:spPr>
        <p:txBody>
          <a:bodyPr/>
          <a:lstStyle/>
          <a:p>
            <a:r>
              <a:rPr lang="en-US" dirty="0"/>
              <a:t>MIPS Green 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2</a:t>
            </a:fld>
            <a:endParaRPr lang="en-US" alt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437961" y="449580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A85056-68B0-9387-9D73-3020291F5E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5926" y="1143000"/>
            <a:ext cx="4792148" cy="54212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9684A5F-0E3F-AF43-79DB-EC92853D167D}"/>
              </a:ext>
            </a:extLst>
          </p:cNvPr>
          <p:cNvSpPr/>
          <p:nvPr/>
        </p:nvSpPr>
        <p:spPr>
          <a:xfrm>
            <a:off x="2362200" y="1265478"/>
            <a:ext cx="2362200" cy="5298755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BDD47A-AEF7-A3B3-3FCB-F1DD200B95FC}"/>
              </a:ext>
            </a:extLst>
          </p:cNvPr>
          <p:cNvSpPr/>
          <p:nvPr/>
        </p:nvSpPr>
        <p:spPr>
          <a:xfrm>
            <a:off x="4769685" y="5105400"/>
            <a:ext cx="2198389" cy="144904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893158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MIPS ISA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10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Focus on </a:t>
            </a:r>
            <a:r>
              <a:rPr lang="en-US" altLang="en-US" b="1" dirty="0"/>
              <a:t>core instruction set</a:t>
            </a:r>
          </a:p>
          <a:p>
            <a:pPr lvl="1" eaLnBrk="1" hangingPunct="1"/>
            <a:r>
              <a:rPr lang="en-US" altLang="en-US" dirty="0"/>
              <a:t>And ignore </a:t>
            </a:r>
            <a:r>
              <a:rPr lang="en-US" altLang="en-US" i="1" dirty="0"/>
              <a:t>Load Linked </a:t>
            </a:r>
            <a:r>
              <a:rPr lang="en-US" altLang="en-US" dirty="0"/>
              <a:t>and </a:t>
            </a:r>
            <a:r>
              <a:rPr lang="en-US" altLang="en-US" i="1" dirty="0"/>
              <a:t>Store Conditional</a:t>
            </a:r>
          </a:p>
          <a:p>
            <a:pPr eaLnBrk="1" hangingPunct="1"/>
            <a:r>
              <a:rPr lang="en-US" altLang="en-US" dirty="0"/>
              <a:t>Instructions and registers are </a:t>
            </a:r>
            <a:r>
              <a:rPr lang="en-US" altLang="en-US" b="1" dirty="0"/>
              <a:t>32-bit words</a:t>
            </a:r>
          </a:p>
          <a:p>
            <a:pPr lvl="1" eaLnBrk="1" hangingPunct="1"/>
            <a:r>
              <a:rPr lang="en-US" altLang="en-US" dirty="0"/>
              <a:t>Registers are referred by name ($t0) or number ($8)</a:t>
            </a:r>
          </a:p>
          <a:p>
            <a:pPr lvl="1" eaLnBrk="1" hangingPunct="1"/>
            <a:r>
              <a:rPr lang="en-US" altLang="en-US" dirty="0"/>
              <a:t>Register $zero ($0) always contains the value 0</a:t>
            </a:r>
          </a:p>
          <a:p>
            <a:pPr eaLnBrk="1" hangingPunct="1"/>
            <a:r>
              <a:rPr lang="en-US" altLang="en-US" dirty="0"/>
              <a:t>Memory is </a:t>
            </a:r>
            <a:r>
              <a:rPr lang="en-US" altLang="en-US" b="1" dirty="0"/>
              <a:t>byte-addressable</a:t>
            </a:r>
          </a:p>
          <a:p>
            <a:pPr eaLnBrk="1" hangingPunct="1"/>
            <a:r>
              <a:rPr lang="en-US" altLang="en-US" dirty="0"/>
              <a:t>Only supports Branch on </a:t>
            </a:r>
            <a:r>
              <a:rPr lang="en-US" altLang="en-US" b="1" dirty="0"/>
              <a:t>Equal</a:t>
            </a:r>
            <a:r>
              <a:rPr lang="en-US" altLang="en-US" dirty="0"/>
              <a:t> or </a:t>
            </a:r>
            <a:r>
              <a:rPr lang="en-US" altLang="en-US" b="1" dirty="0"/>
              <a:t>Not Equal</a:t>
            </a:r>
          </a:p>
          <a:p>
            <a:pPr lvl="1" eaLnBrk="1" hangingPunct="1"/>
            <a:r>
              <a:rPr lang="en-US" altLang="en-US" dirty="0"/>
              <a:t>Use Set Less Than instructions for other comparisons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E0AC69B8-6616-4FB8-B7F1-5BBA4E2C113E}" type="slidenum">
              <a:rPr lang="en-US" altLang="en-US">
                <a:latin typeface="Calibri" panose="020F0502020204030204" pitchFamily="34" charset="0"/>
              </a:rPr>
              <a:pPr lvl="1"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Sample code: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4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60556" y="2057400"/>
            <a:ext cx="85072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LOOP: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$t0, $zero, 4096		# [$t0] = 4096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$t1, 4($t0)		# [$t1] = ($t0+4)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slti</a:t>
            </a:r>
            <a:r>
              <a:rPr lang="en-US" dirty="0">
                <a:latin typeface="+mn-lt"/>
              </a:rPr>
              <a:t>	$t2, $t1, 32		# [$t2] = [$t1] &lt; 32 ? 1 : 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bne</a:t>
            </a:r>
            <a:r>
              <a:rPr lang="en-US" dirty="0">
                <a:latin typeface="+mn-lt"/>
              </a:rPr>
              <a:t>	$t2, $zero, LOOP	# branch to LOOP if [$t2] != 0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F3D6685-E2F2-AB70-7D40-09B2183B277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5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MIPS ISA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93782B-4A16-8F73-CDD5-3028595C850A}"/>
              </a:ext>
            </a:extLst>
          </p:cNvPr>
          <p:cNvSpPr txBox="1"/>
          <p:nvPr/>
        </p:nvSpPr>
        <p:spPr>
          <a:xfrm>
            <a:off x="1524000" y="4038600"/>
            <a:ext cx="829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register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1234B0-0D9D-E60C-213C-775C5AFF7E86}"/>
              </a:ext>
            </a:extLst>
          </p:cNvPr>
          <p:cNvCxnSpPr/>
          <p:nvPr/>
        </p:nvCxnSpPr>
        <p:spPr>
          <a:xfrm flipH="1">
            <a:off x="1981200" y="3527695"/>
            <a:ext cx="457200" cy="6096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4FED58-DC05-1A88-7D62-52F35ABE1521}"/>
              </a:ext>
            </a:extLst>
          </p:cNvPr>
          <p:cNvCxnSpPr>
            <a:cxnSpLocks/>
          </p:cNvCxnSpPr>
          <p:nvPr/>
        </p:nvCxnSpPr>
        <p:spPr>
          <a:xfrm flipH="1">
            <a:off x="2209800" y="3527695"/>
            <a:ext cx="990600" cy="60960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0BF9A8-A210-275E-E869-E632EDA25D5A}"/>
              </a:ext>
            </a:extLst>
          </p:cNvPr>
          <p:cNvSpPr txBox="1"/>
          <p:nvPr/>
        </p:nvSpPr>
        <p:spPr>
          <a:xfrm>
            <a:off x="4690834" y="3776246"/>
            <a:ext cx="11003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immediate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083E1D-FDA2-A4A0-9996-3C01220B3A98}"/>
              </a:ext>
            </a:extLst>
          </p:cNvPr>
          <p:cNvCxnSpPr>
            <a:cxnSpLocks/>
          </p:cNvCxnSpPr>
          <p:nvPr/>
        </p:nvCxnSpPr>
        <p:spPr>
          <a:xfrm>
            <a:off x="3048000" y="2773336"/>
            <a:ext cx="2133600" cy="1059159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E7C0E2-C497-9FDD-5002-49BD17A4B0C4}"/>
              </a:ext>
            </a:extLst>
          </p:cNvPr>
          <p:cNvCxnSpPr>
            <a:cxnSpLocks/>
          </p:cNvCxnSpPr>
          <p:nvPr/>
        </p:nvCxnSpPr>
        <p:spPr>
          <a:xfrm>
            <a:off x="4038600" y="2430733"/>
            <a:ext cx="1219200" cy="1401762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8DBB86F-4442-0402-0AE7-577DD7DE3966}"/>
              </a:ext>
            </a:extLst>
          </p:cNvPr>
          <p:cNvCxnSpPr>
            <a:cxnSpLocks/>
          </p:cNvCxnSpPr>
          <p:nvPr/>
        </p:nvCxnSpPr>
        <p:spPr>
          <a:xfrm>
            <a:off x="4038600" y="3522779"/>
            <a:ext cx="887244" cy="309716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B029ABC-705B-414D-B22B-B82E5E87F192}"/>
              </a:ext>
            </a:extLst>
          </p:cNvPr>
          <p:cNvSpPr txBox="1"/>
          <p:nvPr/>
        </p:nvSpPr>
        <p:spPr>
          <a:xfrm>
            <a:off x="261436" y="3014246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label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7C60387-F6D8-37A3-2A17-B5BDD0B16B58}"/>
              </a:ext>
            </a:extLst>
          </p:cNvPr>
          <p:cNvCxnSpPr>
            <a:cxnSpLocks/>
          </p:cNvCxnSpPr>
          <p:nvPr/>
        </p:nvCxnSpPr>
        <p:spPr>
          <a:xfrm flipH="1">
            <a:off x="669177" y="2429731"/>
            <a:ext cx="306364" cy="67819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691661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1"/>
  <p:tag name="MMPROD_UIPERSISTENCEDATA" val="MMPROD_UIPERSISTENCEDATA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MMPROD_UIDATA" val="&lt;database version=&quot;11.0&quot;&gt;&lt;object type=&quot;1&quot; unique_id=&quot;10001&quot;&gt;&lt;property id=&quot;20141&quot; value=&quot;ECE/CS 552 - ISA Basics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f2019-ISABasics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221&quot;&gt;&lt;/object&gt;&lt;object type=&quot;2&quot; unique_id=&quot;10222&quot;&gt;&lt;object type=&quot;3&quot; unique_id=&quot;10232&quot;&gt;&lt;property id=&quot;20148&quot; value=&quot;5&quot;/&gt;&lt;property id=&quot;20300&quot; value=&quot;Slide 4 - &amp;quot;Arithmetic and Logic&amp;quot;&quot;/&gt;&lt;property id=&quot;20307&quot; value=&quot;266&quot;/&gt;&lt;property id=&quot;20309&quot; value=&quot;-1&quot;/&gt;&lt;/object&gt;&lt;object type=&quot;3&quot; unique_id=&quot;10233&quot;&gt;&lt;property id=&quot;20148&quot; value=&quot;5&quot;/&gt;&lt;property id=&quot;20300&quot; value=&quot;Slide 5 - &amp;quot;Loads and Stores&amp;quot;&quot;/&gt;&lt;property id=&quot;20307&quot; value=&quot;267&quot;/&gt;&lt;property id=&quot;20309&quot; value=&quot;-1&quot;/&gt;&lt;/object&gt;&lt;object type=&quot;3&quot; unique_id=&quot;10492&quot;&gt;&lt;property id=&quot;20148&quot; value=&quot;5&quot;/&gt;&lt;property id=&quot;20300&quot; value=&quot;Slide 1 - &amp;quot;ECE/CS 552: ISA Basics&amp;quot;&quot;/&gt;&lt;property id=&quot;20307&quot; value=&quot;302&quot;/&gt;&lt;property id=&quot;20309&quot; value=&quot;-1&quot;/&gt;&lt;/object&gt;&lt;object type=&quot;3&quot; unique_id=&quot;144879&quot;&gt;&lt;property id=&quot;20148&quot; value=&quot;5&quot;/&gt;&lt;property id=&quot;20300&quot; value=&quot;Slide 8 - &amp;quot;Exercise – MIPS Assembly&amp;quot;&quot;/&gt;&lt;property id=&quot;20307&quot; value=&quot;341&quot;/&gt;&lt;property id=&quot;20309&quot; value=&quot;-1&quot;/&gt;&lt;/object&gt;&lt;object type=&quot;3&quot; unique_id=&quot;147059&quot;&gt;&lt;property id=&quot;20148&quot; value=&quot;5&quot;/&gt;&lt;property id=&quot;20300&quot; value=&quot;Slide 7 - &amp;quot;Branches and Jumps&amp;quot;&quot;/&gt;&lt;property id=&quot;20307&quot; value=&quot;276&quot;/&gt;&lt;property id=&quot;20309&quot; value=&quot;-1&quot;/&gt;&lt;/object&gt;&lt;object type=&quot;3&quot; unique_id=&quot;148883&quot;&gt;&lt;property id=&quot;20148&quot; value=&quot;5&quot;/&gt;&lt;property id=&quot;20300&quot; value=&quot;Slide 6 - &amp;quot;Branches and Jumps&amp;quot;&quot;/&gt;&lt;property id=&quot;20307&quot; value=&quot;370&quot;/&gt;&lt;property id=&quot;20309&quot; value=&quot;-1&quot;/&gt;&lt;/object&gt;&lt;object type=&quot;3&quot; unique_id=&quot;150723&quot;&gt;&lt;property id=&quot;20148&quot; value=&quot;5&quot;/&gt;&lt;property id=&quot;20300&quot; value=&quot;Slide 2 - &amp;quot;MIPS Green Card&amp;quot;&quot;/&gt;&lt;property id=&quot;20307&quot; value=&quot;372&quot;/&gt;&lt;property id=&quot;20309&quot; value=&quot;-1&quot;/&gt;&lt;/object&gt;&lt;object type=&quot;3&quot; unique_id=&quot;150918&quot;&gt;&lt;property id=&quot;20148&quot; value=&quot;5&quot;/&gt;&lt;property id=&quot;20300&quot; value=&quot;Slide 3 - &amp;quot;Overview&amp;quot;&quot;/&gt;&lt;property id=&quot;20307&quot; value=&quot;373&quot;/&gt;&lt;/object&gt;&lt;object type=&quot;3&quot; unique_id=&quot;151133&quot;&gt;&lt;property id=&quot;20148&quot; value=&quot;5&quot;/&gt;&lt;property id=&quot;20300&quot; value=&quot;Slide 9 - &amp;quot;Exercise – MIPS Assembly&amp;quot;&quot;/&gt;&lt;property id=&quot;20307&quot; value=&quot;374&quot;/&gt;&lt;/object&gt;&lt;object type=&quot;3&quot; unique_id=&quot;151302&quot;&gt;&lt;property id=&quot;20148&quot; value=&quot;5&quot;/&gt;&lt;property id=&quot;20300&quot; value=&quot;Slide 10 - &amp;quot;Exercise – MIPS Assembly&amp;quot;&quot;/&gt;&lt;property id=&quot;20307&quot; value=&quot;379&quot;/&gt;&lt;/object&gt;&lt;object type=&quot;3&quot; unique_id=&quot;151303&quot;&gt;&lt;property id=&quot;20148&quot; value=&quot;5&quot;/&gt;&lt;property id=&quot;20300&quot; value=&quot;Slide 11 - &amp;quot;Exercise – MIPS Assembly&amp;quot;&quot;/&gt;&lt;property id=&quot;20307&quot; value=&quot;378&quot;/&gt;&lt;/object&gt;&lt;object type=&quot;3&quot; unique_id=&quot;151304&quot;&gt;&lt;property id=&quot;20148&quot; value=&quot;5&quot;/&gt;&lt;property id=&quot;20300&quot; value=&quot;Slide 12 - &amp;quot;Exercise – MIPS Assembly&amp;quot;&quot;/&gt;&lt;property id=&quot;20307&quot; value=&quot;377&quot;/&gt;&lt;/object&gt;&lt;object type=&quot;3&quot; unique_id=&quot;151305&quot;&gt;&lt;property id=&quot;20148&quot; value=&quot;5&quot;/&gt;&lt;property id=&quot;20300&quot; value=&quot;Slide 13 - &amp;quot;Exercise – MIPS Assembly&amp;quot;&quot;/&gt;&lt;property id=&quot;20307&quot; value=&quot;376&quot;/&gt;&lt;/object&gt;&lt;object type=&quot;3&quot; unique_id=&quot;151306&quot;&gt;&lt;property id=&quot;20148&quot; value=&quot;5&quot;/&gt;&lt;property id=&quot;20300&quot; value=&quot;Slide 14 - &amp;quot;Exercise – MIPS Assembly&amp;quot;&quot;/&gt;&lt;property id=&quot;20307&quot; value=&quot;375&quot;/&gt;&lt;/object&gt;&lt;object type=&quot;3&quot; unique_id=&quot;151666&quot;&gt;&lt;property id=&quot;20148&quot; value=&quot;5&quot;/&gt;&lt;property id=&quot;20300&quot; value=&quot;Slide 15 - &amp;quot;Interesting Talk Today&amp;quot;&quot;/&gt;&lt;property id=&quot;20307&quot; value=&quot;385&quot;/&gt;&lt;/object&gt;&lt;/object&gt;&lt;object type=&quot;10&quot; unique_id=&quot;17072&quot;&gt;&lt;object type=&quot;11&quot; unique_id=&quot;17073&quot;&gt;&lt;property id=&quot;20180&quot; value=&quot;0&quot;/&gt;&lt;property id=&quot;20181&quot; value=&quot;1&quot;/&gt;&lt;property id=&quot;20183&quot; value=&quot;1&quot;/&gt;&lt;/object&gt;&lt;object type=&quot;12&quot; unique_id=&quot;147501&quot;&gt;&lt;/object&gt;&lt;/object&gt;&lt;object type=&quot;4&quot; unique_id=&quot;17074&quot;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5E0051DF-04CA-42B8-9908-797E5E5D41A0}_1.png&quot;/&gt;&lt;left val=&quot;29&quot;/&gt;&lt;top val=&quot;185&quot;/&gt;&lt;width val=&quot;660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0172712E-A629-43EF-8506-6D1A52610E34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5.PNG&quot;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9CB365DE-9F42-42F8-BD2D-CAA957E8FC58}_5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B78A7E4A-111E-46AD-9C56-262ED0D44E04}_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0.PNG&quot;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AF3527A7-83ED-4ACE-B713-D05AFFBF6BD0}_1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DCC6A365-067F-4050-9F5F-45CB4FFD46E0}_10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7&quot;/&gt;&lt;lineCharCount val=&quot;35&quot;/&gt;&lt;lineCharCount val=&quot;17&quot;/&gt;&lt;lineCharCount val=&quot;32&quot;/&gt;&lt;lineCharCount val=&quot;34&quot;/&gt;&lt;lineCharCount val=&quot;48&quot;/&gt;&lt;lineCharCount val=&quot;35&quot;/&gt;&lt;lineCharCount val=&quot;49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3CE0B3CA-FD2A-4D3C-9C96-F34ABAC38186}_1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3.PNG&quot;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B572184E-E2DF-4527-9548-D4C4AB216A4C}_23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20025EF5-74F2-429F-BE9C-6BF44722DA87}_2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34D9FF4C-E412-494E-B9D3-A4A1E01E30A9}_23.png&quot;/&gt;&lt;left val=&quot;43&quot;/&gt;&lt;top val=&quot;158&quot;/&gt;&lt;width val=&quot;336&quot;/&gt;&lt;height val=&quot;224&quot;/&gt;&lt;hasText val=&quot;1&quot;/&gt;&lt;/Image&gt;&lt;/ThreeDShapeInfo&gt;"/>
  <p:tag name="PRESENTER_SHAPETEXTINFO" val="&lt;ShapeTextInfo&gt;&lt;TableIndex row=&quot;-1&quot; col=&quot;-1&quot;&gt;&lt;linesCount val=&quot;7&quot;/&gt;&lt;lineCharCount val=&quot;24&quot;/&gt;&lt;lineCharCount val=&quot;17&quot;/&gt;&lt;lineCharCount val=&quot;22&quot;/&gt;&lt;lineCharCount val=&quot;22&quot;/&gt;&lt;lineCharCount val=&quot;20&quot;/&gt;&lt;lineCharCount val=&quot;20&quot;/&gt;&lt;lineCharCount val=&quot;24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AF3527A7-83ED-4ACE-B713-D05AFFBF6BD0}_1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685</TotalTime>
  <Words>211</Words>
  <Application>Microsoft Macintosh PowerPoint</Application>
  <PresentationFormat>On-screen Show (4:3)</PresentationFormat>
  <Paragraphs>31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Lecture Notes 552</vt:lpstr>
      <vt:lpstr>ECE/CS 552: ISA Basics</vt:lpstr>
      <vt:lpstr>MIPS Green Card</vt:lpstr>
      <vt:lpstr>MIPS ISA</vt:lpstr>
      <vt:lpstr>MIPS ISA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Instruction Sets</dc:title>
  <dc:creator/>
  <cp:lastModifiedBy>Boone Severson</cp:lastModifiedBy>
  <cp:revision>392</cp:revision>
  <cp:lastPrinted>1601-01-01T00:00:00Z</cp:lastPrinted>
  <dcterms:created xsi:type="dcterms:W3CDTF">1601-01-01T00:00:00Z</dcterms:created>
  <dcterms:modified xsi:type="dcterms:W3CDTF">2024-09-01T19:03:30Z</dcterms:modified>
</cp:coreProperties>
</file>