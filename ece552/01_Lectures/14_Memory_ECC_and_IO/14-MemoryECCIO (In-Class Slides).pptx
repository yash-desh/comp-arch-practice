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1.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2.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notesSlides/notesSlide3.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5" r:id="rId1"/>
  </p:sldMasterIdLst>
  <p:notesMasterIdLst>
    <p:notesMasterId r:id="rId16"/>
  </p:notesMasterIdLst>
  <p:handoutMasterIdLst>
    <p:handoutMasterId r:id="rId17"/>
  </p:handoutMasterIdLst>
  <p:sldIdLst>
    <p:sldId id="691" r:id="rId2"/>
    <p:sldId id="778" r:id="rId3"/>
    <p:sldId id="800" r:id="rId4"/>
    <p:sldId id="806" r:id="rId5"/>
    <p:sldId id="807" r:id="rId6"/>
    <p:sldId id="808" r:id="rId7"/>
    <p:sldId id="809" r:id="rId8"/>
    <p:sldId id="810" r:id="rId9"/>
    <p:sldId id="812" r:id="rId10"/>
    <p:sldId id="814" r:id="rId11"/>
    <p:sldId id="816" r:id="rId12"/>
    <p:sldId id="819" r:id="rId13"/>
    <p:sldId id="533" r:id="rId14"/>
    <p:sldId id="820" r:id="rId15"/>
  </p:sldIdLst>
  <p:sldSz cx="9144000" cy="6858000" type="screen4x3"/>
  <p:notesSz cx="6845300" cy="9396413"/>
  <p:custDataLst>
    <p:tags r:id="rId18"/>
  </p:custDataLst>
  <p:defaultTextStyle>
    <a:defPPr>
      <a:defRPr lang="en-US"/>
    </a:defPPr>
    <a:lvl1pPr algn="l" rtl="0" fontAlgn="base">
      <a:spcBef>
        <a:spcPct val="0"/>
      </a:spcBef>
      <a:spcAft>
        <a:spcPct val="0"/>
      </a:spcAft>
      <a:defRPr sz="10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10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10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10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1000" kern="1200">
        <a:solidFill>
          <a:schemeClr val="tx1"/>
        </a:solidFill>
        <a:latin typeface="Times New Roman" panose="02020603050405020304" pitchFamily="18" charset="0"/>
        <a:ea typeface="+mn-ea"/>
        <a:cs typeface="+mn-cs"/>
      </a:defRPr>
    </a:lvl5pPr>
    <a:lvl6pPr marL="2286000" algn="l" defTabSz="914400" rtl="0" eaLnBrk="1" latinLnBrk="0" hangingPunct="1">
      <a:defRPr sz="1000" kern="1200">
        <a:solidFill>
          <a:schemeClr val="tx1"/>
        </a:solidFill>
        <a:latin typeface="Times New Roman" panose="02020603050405020304" pitchFamily="18" charset="0"/>
        <a:ea typeface="+mn-ea"/>
        <a:cs typeface="+mn-cs"/>
      </a:defRPr>
    </a:lvl6pPr>
    <a:lvl7pPr marL="2743200" algn="l" defTabSz="914400" rtl="0" eaLnBrk="1" latinLnBrk="0" hangingPunct="1">
      <a:defRPr sz="1000" kern="1200">
        <a:solidFill>
          <a:schemeClr val="tx1"/>
        </a:solidFill>
        <a:latin typeface="Times New Roman" panose="02020603050405020304" pitchFamily="18" charset="0"/>
        <a:ea typeface="+mn-ea"/>
        <a:cs typeface="+mn-cs"/>
      </a:defRPr>
    </a:lvl7pPr>
    <a:lvl8pPr marL="3200400" algn="l" defTabSz="914400" rtl="0" eaLnBrk="1" latinLnBrk="0" hangingPunct="1">
      <a:defRPr sz="1000" kern="1200">
        <a:solidFill>
          <a:schemeClr val="tx1"/>
        </a:solidFill>
        <a:latin typeface="Times New Roman" panose="02020603050405020304" pitchFamily="18" charset="0"/>
        <a:ea typeface="+mn-ea"/>
        <a:cs typeface="+mn-cs"/>
      </a:defRPr>
    </a:lvl8pPr>
    <a:lvl9pPr marL="3657600" algn="l" defTabSz="914400" rtl="0" eaLnBrk="1" latinLnBrk="0" hangingPunct="1">
      <a:defRPr sz="10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60">
          <p15:clr>
            <a:srgbClr val="A4A3A4"/>
          </p15:clr>
        </p15:guide>
        <p15:guide id="2" pos="215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660066"/>
    <a:srgbClr val="FF3300"/>
    <a:srgbClr val="000000"/>
    <a:srgbClr val="006600"/>
    <a:srgbClr val="FFFF66"/>
    <a:srgbClr val="FFCC00"/>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28B65C-8935-074F-BFA1-E42441AAC198}" v="1" dt="2024-11-05T13:20:36.5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87823" autoAdjust="0"/>
  </p:normalViewPr>
  <p:slideViewPr>
    <p:cSldViewPr>
      <p:cViewPr varScale="1">
        <p:scale>
          <a:sx n="112" d="100"/>
          <a:sy n="112" d="100"/>
        </p:scale>
        <p:origin x="2184" y="176"/>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66" d="100"/>
        <a:sy n="66" d="100"/>
      </p:scale>
      <p:origin x="0" y="3054"/>
    </p:cViewPr>
  </p:sorterViewPr>
  <p:notesViewPr>
    <p:cSldViewPr>
      <p:cViewPr varScale="1">
        <p:scale>
          <a:sx n="81" d="100"/>
          <a:sy n="81" d="100"/>
        </p:scale>
        <p:origin x="-2328" y="-90"/>
      </p:cViewPr>
      <p:guideLst>
        <p:guide orient="horz" pos="2960"/>
        <p:guide pos="2156"/>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_rels/viewProps.xml.rels><?xml version="1.0" encoding="UTF-8" standalone="yes"?>
<Relationships xmlns="http://schemas.openxmlformats.org/package/2006/relationships"><Relationship Id="rId1" Type="http://schemas.openxmlformats.org/officeDocument/2006/relationships/slide" Target="slides/slide1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one Severson" userId="1d942a2b-e0b5-491a-b49e-d500fa0ad426" providerId="ADAL" clId="{2D28B65C-8935-074F-BFA1-E42441AAC198}"/>
    <pc:docChg chg="addSld modSld">
      <pc:chgData name="Boone Severson" userId="1d942a2b-e0b5-491a-b49e-d500fa0ad426" providerId="ADAL" clId="{2D28B65C-8935-074F-BFA1-E42441AAC198}" dt="2024-11-05T13:20:36.571" v="24"/>
      <pc:docMkLst>
        <pc:docMk/>
      </pc:docMkLst>
      <pc:sldChg chg="modSp mod">
        <pc:chgData name="Boone Severson" userId="1d942a2b-e0b5-491a-b49e-d500fa0ad426" providerId="ADAL" clId="{2D28B65C-8935-074F-BFA1-E42441AAC198}" dt="2024-11-05T12:55:20.131" v="23" actId="20577"/>
        <pc:sldMkLst>
          <pc:docMk/>
          <pc:sldMk cId="1744269001" sldId="691"/>
        </pc:sldMkLst>
        <pc:spChg chg="mod">
          <ac:chgData name="Boone Severson" userId="1d942a2b-e0b5-491a-b49e-d500fa0ad426" providerId="ADAL" clId="{2D28B65C-8935-074F-BFA1-E42441AAC198}" dt="2024-11-05T12:55:20.131" v="23" actId="20577"/>
          <ac:spMkLst>
            <pc:docMk/>
            <pc:sldMk cId="1744269001" sldId="691"/>
            <ac:spMk id="3" creationId="{CD80CA9F-F218-40E5-87C0-1EBB3CC3C8DC}"/>
          </ac:spMkLst>
        </pc:spChg>
      </pc:sldChg>
      <pc:sldChg chg="add">
        <pc:chgData name="Boone Severson" userId="1d942a2b-e0b5-491a-b49e-d500fa0ad426" providerId="ADAL" clId="{2D28B65C-8935-074F-BFA1-E42441AAC198}" dt="2024-11-05T13:20:36.571" v="24"/>
        <pc:sldMkLst>
          <pc:docMk/>
          <pc:sldMk cId="980976378" sldId="77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A2276C1E-4FDE-43D2-9799-A07A53C3DC3B}"/>
              </a:ext>
            </a:extLst>
          </p:cNvPr>
          <p:cNvSpPr>
            <a:spLocks noGrp="1" noChangeArrowheads="1"/>
          </p:cNvSpPr>
          <p:nvPr>
            <p:ph type="hdr" sz="quarter"/>
          </p:nvPr>
        </p:nvSpPr>
        <p:spPr bwMode="auto">
          <a:xfrm>
            <a:off x="0" y="0"/>
            <a:ext cx="2967038" cy="469900"/>
          </a:xfrm>
          <a:prstGeom prst="rect">
            <a:avLst/>
          </a:prstGeom>
          <a:noFill/>
          <a:ln w="12700">
            <a:noFill/>
            <a:miter lim="800000"/>
            <a:headEnd type="none" w="sm" len="sm"/>
            <a:tailEnd type="none" w="sm" len="sm"/>
          </a:ln>
          <a:effectLst/>
        </p:spPr>
        <p:txBody>
          <a:bodyPr vert="horz" wrap="square" lIns="93172" tIns="46586" rIns="93172" bIns="46586" numCol="1" anchor="t" anchorCtr="0" compatLnSpc="1">
            <a:prstTxWarp prst="textNoShape">
              <a:avLst/>
            </a:prstTxWarp>
          </a:bodyPr>
          <a:lstStyle>
            <a:lvl1pPr defTabSz="931863" eaLnBrk="0" hangingPunct="0">
              <a:defRPr sz="1200"/>
            </a:lvl1pPr>
          </a:lstStyle>
          <a:p>
            <a:pPr>
              <a:defRPr/>
            </a:pPr>
            <a:endParaRPr lang="en-US"/>
          </a:p>
        </p:txBody>
      </p:sp>
      <p:sp>
        <p:nvSpPr>
          <p:cNvPr id="15363" name="Rectangle 3">
            <a:extLst>
              <a:ext uri="{FF2B5EF4-FFF2-40B4-BE49-F238E27FC236}">
                <a16:creationId xmlns:a16="http://schemas.microsoft.com/office/drawing/2014/main" id="{198D110D-63B2-4696-B01C-156722BF94E4}"/>
              </a:ext>
            </a:extLst>
          </p:cNvPr>
          <p:cNvSpPr>
            <a:spLocks noGrp="1" noChangeArrowheads="1"/>
          </p:cNvSpPr>
          <p:nvPr>
            <p:ph type="dt" sz="quarter" idx="1"/>
          </p:nvPr>
        </p:nvSpPr>
        <p:spPr bwMode="auto">
          <a:xfrm>
            <a:off x="3878263" y="0"/>
            <a:ext cx="2967037" cy="469900"/>
          </a:xfrm>
          <a:prstGeom prst="rect">
            <a:avLst/>
          </a:prstGeom>
          <a:noFill/>
          <a:ln w="12700">
            <a:noFill/>
            <a:miter lim="800000"/>
            <a:headEnd type="none" w="sm" len="sm"/>
            <a:tailEnd type="none" w="sm" len="sm"/>
          </a:ln>
          <a:effectLst/>
        </p:spPr>
        <p:txBody>
          <a:bodyPr vert="horz" wrap="square" lIns="93172" tIns="46586" rIns="93172" bIns="46586" numCol="1" anchor="t" anchorCtr="0" compatLnSpc="1">
            <a:prstTxWarp prst="textNoShape">
              <a:avLst/>
            </a:prstTxWarp>
          </a:bodyPr>
          <a:lstStyle>
            <a:lvl1pPr algn="r" defTabSz="931863" eaLnBrk="0" hangingPunct="0">
              <a:defRPr sz="1200"/>
            </a:lvl1pPr>
          </a:lstStyle>
          <a:p>
            <a:pPr>
              <a:defRPr/>
            </a:pPr>
            <a:endParaRPr lang="en-US"/>
          </a:p>
        </p:txBody>
      </p:sp>
      <p:sp>
        <p:nvSpPr>
          <p:cNvPr id="15364" name="Rectangle 4">
            <a:extLst>
              <a:ext uri="{FF2B5EF4-FFF2-40B4-BE49-F238E27FC236}">
                <a16:creationId xmlns:a16="http://schemas.microsoft.com/office/drawing/2014/main" id="{0D856F07-2516-457F-97C0-0DC1843CE084}"/>
              </a:ext>
            </a:extLst>
          </p:cNvPr>
          <p:cNvSpPr>
            <a:spLocks noGrp="1" noChangeArrowheads="1"/>
          </p:cNvSpPr>
          <p:nvPr>
            <p:ph type="ftr" sz="quarter" idx="2"/>
          </p:nvPr>
        </p:nvSpPr>
        <p:spPr bwMode="auto">
          <a:xfrm>
            <a:off x="0" y="8926513"/>
            <a:ext cx="3494088" cy="469900"/>
          </a:xfrm>
          <a:prstGeom prst="rect">
            <a:avLst/>
          </a:prstGeom>
          <a:noFill/>
          <a:ln w="12700">
            <a:noFill/>
            <a:miter lim="800000"/>
            <a:headEnd type="none" w="sm" len="sm"/>
            <a:tailEnd type="none" w="sm" len="sm"/>
          </a:ln>
          <a:effectLst/>
        </p:spPr>
        <p:txBody>
          <a:bodyPr vert="horz" wrap="square" lIns="93172" tIns="46586" rIns="93172" bIns="46586" numCol="1" anchor="b" anchorCtr="0" compatLnSpc="1">
            <a:prstTxWarp prst="textNoShape">
              <a:avLst/>
            </a:prstTxWarp>
          </a:bodyPr>
          <a:lstStyle>
            <a:lvl1pPr defTabSz="931863" eaLnBrk="0" hangingPunct="0">
              <a:defRPr sz="1200"/>
            </a:lvl1pPr>
          </a:lstStyle>
          <a:p>
            <a:pPr>
              <a:defRPr/>
            </a:pPr>
            <a:r>
              <a:rPr lang="en-US"/>
              <a:t>ECE/CS 552: Introduction To Computer Architecture</a:t>
            </a:r>
          </a:p>
        </p:txBody>
      </p:sp>
      <p:sp>
        <p:nvSpPr>
          <p:cNvPr id="15365" name="Rectangle 5">
            <a:extLst>
              <a:ext uri="{FF2B5EF4-FFF2-40B4-BE49-F238E27FC236}">
                <a16:creationId xmlns:a16="http://schemas.microsoft.com/office/drawing/2014/main" id="{B038ACCB-CC89-4E49-93F0-03A220C37DB3}"/>
              </a:ext>
            </a:extLst>
          </p:cNvPr>
          <p:cNvSpPr>
            <a:spLocks noGrp="1" noChangeArrowheads="1"/>
          </p:cNvSpPr>
          <p:nvPr>
            <p:ph type="sldNum" sz="quarter" idx="3"/>
          </p:nvPr>
        </p:nvSpPr>
        <p:spPr bwMode="auto">
          <a:xfrm>
            <a:off x="3878263" y="8926513"/>
            <a:ext cx="2967037" cy="469900"/>
          </a:xfrm>
          <a:prstGeom prst="rect">
            <a:avLst/>
          </a:prstGeom>
          <a:noFill/>
          <a:ln w="12700">
            <a:noFill/>
            <a:miter lim="800000"/>
            <a:headEnd type="none" w="sm" len="sm"/>
            <a:tailEnd type="none" w="sm" len="sm"/>
          </a:ln>
          <a:effectLst/>
        </p:spPr>
        <p:txBody>
          <a:bodyPr vert="horz" wrap="square" lIns="93172" tIns="46586" rIns="93172" bIns="46586" numCol="1" anchor="b" anchorCtr="0" compatLnSpc="1">
            <a:prstTxWarp prst="textNoShape">
              <a:avLst/>
            </a:prstTxWarp>
          </a:bodyPr>
          <a:lstStyle>
            <a:lvl1pPr algn="r" defTabSz="931863" eaLnBrk="0" hangingPunct="0">
              <a:defRPr sz="1200"/>
            </a:lvl1pPr>
          </a:lstStyle>
          <a:p>
            <a:fld id="{1F6CA107-D573-4384-9CB2-87026C6B6FAB}"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2980A15F-1736-4C9F-9470-D250CF861DCE}"/>
              </a:ext>
            </a:extLst>
          </p:cNvPr>
          <p:cNvSpPr>
            <a:spLocks noGrp="1" noChangeArrowheads="1"/>
          </p:cNvSpPr>
          <p:nvPr>
            <p:ph type="hdr" sz="quarter"/>
          </p:nvPr>
        </p:nvSpPr>
        <p:spPr bwMode="auto">
          <a:xfrm>
            <a:off x="0" y="0"/>
            <a:ext cx="2967038" cy="469900"/>
          </a:xfrm>
          <a:prstGeom prst="rect">
            <a:avLst/>
          </a:prstGeom>
          <a:noFill/>
          <a:ln w="12700">
            <a:noFill/>
            <a:miter lim="800000"/>
            <a:headEnd type="none" w="sm" len="sm"/>
            <a:tailEnd type="none" w="sm" len="sm"/>
          </a:ln>
          <a:effectLst/>
        </p:spPr>
        <p:txBody>
          <a:bodyPr vert="horz" wrap="square" lIns="93172" tIns="46586" rIns="93172" bIns="46586" numCol="1" anchor="t" anchorCtr="0" compatLnSpc="1">
            <a:prstTxWarp prst="textNoShape">
              <a:avLst/>
            </a:prstTxWarp>
          </a:bodyPr>
          <a:lstStyle>
            <a:lvl1pPr defTabSz="931863" eaLnBrk="0" hangingPunct="0">
              <a:defRPr sz="1200"/>
            </a:lvl1pPr>
          </a:lstStyle>
          <a:p>
            <a:pPr>
              <a:defRPr/>
            </a:pPr>
            <a:endParaRPr lang="en-US"/>
          </a:p>
        </p:txBody>
      </p:sp>
      <p:sp>
        <p:nvSpPr>
          <p:cNvPr id="17411" name="Rectangle 3">
            <a:extLst>
              <a:ext uri="{FF2B5EF4-FFF2-40B4-BE49-F238E27FC236}">
                <a16:creationId xmlns:a16="http://schemas.microsoft.com/office/drawing/2014/main" id="{63520581-3E74-4F22-A191-4826283F1A01}"/>
              </a:ext>
            </a:extLst>
          </p:cNvPr>
          <p:cNvSpPr>
            <a:spLocks noGrp="1" noChangeArrowheads="1"/>
          </p:cNvSpPr>
          <p:nvPr>
            <p:ph type="dt" idx="1"/>
          </p:nvPr>
        </p:nvSpPr>
        <p:spPr bwMode="auto">
          <a:xfrm>
            <a:off x="3878263" y="0"/>
            <a:ext cx="2967037" cy="469900"/>
          </a:xfrm>
          <a:prstGeom prst="rect">
            <a:avLst/>
          </a:prstGeom>
          <a:noFill/>
          <a:ln w="12700">
            <a:noFill/>
            <a:miter lim="800000"/>
            <a:headEnd type="none" w="sm" len="sm"/>
            <a:tailEnd type="none" w="sm" len="sm"/>
          </a:ln>
          <a:effectLst/>
        </p:spPr>
        <p:txBody>
          <a:bodyPr vert="horz" wrap="square" lIns="93172" tIns="46586" rIns="93172" bIns="46586" numCol="1" anchor="t" anchorCtr="0" compatLnSpc="1">
            <a:prstTxWarp prst="textNoShape">
              <a:avLst/>
            </a:prstTxWarp>
          </a:bodyPr>
          <a:lstStyle>
            <a:lvl1pPr algn="r" defTabSz="931863" eaLnBrk="0" hangingPunct="0">
              <a:defRPr sz="1200"/>
            </a:lvl1pPr>
          </a:lstStyle>
          <a:p>
            <a:pPr>
              <a:defRPr/>
            </a:pPr>
            <a:endParaRPr lang="en-US"/>
          </a:p>
        </p:txBody>
      </p:sp>
      <p:sp>
        <p:nvSpPr>
          <p:cNvPr id="33796" name="Rectangle 4">
            <a:extLst>
              <a:ext uri="{FF2B5EF4-FFF2-40B4-BE49-F238E27FC236}">
                <a16:creationId xmlns:a16="http://schemas.microsoft.com/office/drawing/2014/main" id="{5926668D-C721-45FB-A9B3-B43D9DE16F5C}"/>
              </a:ext>
            </a:extLst>
          </p:cNvPr>
          <p:cNvSpPr>
            <a:spLocks noGrp="1" noRot="1" noChangeAspect="1" noChangeArrowheads="1" noTextEdit="1"/>
          </p:cNvSpPr>
          <p:nvPr>
            <p:ph type="sldImg" idx="2"/>
          </p:nvPr>
        </p:nvSpPr>
        <p:spPr bwMode="auto">
          <a:xfrm>
            <a:off x="1073150" y="704850"/>
            <a:ext cx="4699000" cy="35226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3" name="Rectangle 5">
            <a:extLst>
              <a:ext uri="{FF2B5EF4-FFF2-40B4-BE49-F238E27FC236}">
                <a16:creationId xmlns:a16="http://schemas.microsoft.com/office/drawing/2014/main" id="{643A2D62-DD4D-4FA1-B876-C702E9295EF9}"/>
              </a:ext>
            </a:extLst>
          </p:cNvPr>
          <p:cNvSpPr>
            <a:spLocks noGrp="1" noChangeArrowheads="1"/>
          </p:cNvSpPr>
          <p:nvPr>
            <p:ph type="body" sz="quarter" idx="3"/>
          </p:nvPr>
        </p:nvSpPr>
        <p:spPr bwMode="auto">
          <a:xfrm>
            <a:off x="912813" y="4464050"/>
            <a:ext cx="5019675" cy="4227513"/>
          </a:xfrm>
          <a:prstGeom prst="rect">
            <a:avLst/>
          </a:prstGeom>
          <a:noFill/>
          <a:ln w="12700">
            <a:noFill/>
            <a:miter lim="800000"/>
            <a:headEnd type="none" w="sm" len="sm"/>
            <a:tailEnd type="none" w="sm" len="sm"/>
          </a:ln>
          <a:effectLst/>
        </p:spPr>
        <p:txBody>
          <a:bodyPr vert="horz" wrap="square" lIns="93172" tIns="46586" rIns="93172" bIns="4658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414" name="Rectangle 6">
            <a:extLst>
              <a:ext uri="{FF2B5EF4-FFF2-40B4-BE49-F238E27FC236}">
                <a16:creationId xmlns:a16="http://schemas.microsoft.com/office/drawing/2014/main" id="{7460CE2E-4CE6-4A94-B542-B4D191427B7F}"/>
              </a:ext>
            </a:extLst>
          </p:cNvPr>
          <p:cNvSpPr>
            <a:spLocks noGrp="1" noChangeArrowheads="1"/>
          </p:cNvSpPr>
          <p:nvPr>
            <p:ph type="ftr" sz="quarter" idx="4"/>
          </p:nvPr>
        </p:nvSpPr>
        <p:spPr bwMode="auto">
          <a:xfrm>
            <a:off x="0" y="8926513"/>
            <a:ext cx="2967038" cy="469900"/>
          </a:xfrm>
          <a:prstGeom prst="rect">
            <a:avLst/>
          </a:prstGeom>
          <a:noFill/>
          <a:ln w="12700">
            <a:noFill/>
            <a:miter lim="800000"/>
            <a:headEnd type="none" w="sm" len="sm"/>
            <a:tailEnd type="none" w="sm" len="sm"/>
          </a:ln>
          <a:effectLst/>
        </p:spPr>
        <p:txBody>
          <a:bodyPr vert="horz" wrap="square" lIns="93172" tIns="46586" rIns="93172" bIns="46586" numCol="1" anchor="b" anchorCtr="0" compatLnSpc="1">
            <a:prstTxWarp prst="textNoShape">
              <a:avLst/>
            </a:prstTxWarp>
          </a:bodyPr>
          <a:lstStyle>
            <a:lvl1pPr defTabSz="931863" eaLnBrk="0" hangingPunct="0">
              <a:defRPr sz="1200"/>
            </a:lvl1pPr>
          </a:lstStyle>
          <a:p>
            <a:pPr>
              <a:defRPr/>
            </a:pPr>
            <a:endParaRPr lang="en-US"/>
          </a:p>
        </p:txBody>
      </p:sp>
      <p:sp>
        <p:nvSpPr>
          <p:cNvPr id="17415" name="Rectangle 7">
            <a:extLst>
              <a:ext uri="{FF2B5EF4-FFF2-40B4-BE49-F238E27FC236}">
                <a16:creationId xmlns:a16="http://schemas.microsoft.com/office/drawing/2014/main" id="{B322B5FA-4DD7-4B6F-89C6-FE4DA19403D9}"/>
              </a:ext>
            </a:extLst>
          </p:cNvPr>
          <p:cNvSpPr>
            <a:spLocks noGrp="1" noChangeArrowheads="1"/>
          </p:cNvSpPr>
          <p:nvPr>
            <p:ph type="sldNum" sz="quarter" idx="5"/>
          </p:nvPr>
        </p:nvSpPr>
        <p:spPr bwMode="auto">
          <a:xfrm>
            <a:off x="3878263" y="8926513"/>
            <a:ext cx="2967037" cy="469900"/>
          </a:xfrm>
          <a:prstGeom prst="rect">
            <a:avLst/>
          </a:prstGeom>
          <a:noFill/>
          <a:ln w="12700">
            <a:noFill/>
            <a:miter lim="800000"/>
            <a:headEnd type="none" w="sm" len="sm"/>
            <a:tailEnd type="none" w="sm" len="sm"/>
          </a:ln>
          <a:effectLst/>
        </p:spPr>
        <p:txBody>
          <a:bodyPr vert="horz" wrap="square" lIns="93172" tIns="46586" rIns="93172" bIns="46586" numCol="1" anchor="b" anchorCtr="0" compatLnSpc="1">
            <a:prstTxWarp prst="textNoShape">
              <a:avLst/>
            </a:prstTxWarp>
          </a:bodyPr>
          <a:lstStyle>
            <a:lvl1pPr algn="r" defTabSz="931863" eaLnBrk="0" hangingPunct="0">
              <a:defRPr sz="1200"/>
            </a:lvl1pPr>
          </a:lstStyle>
          <a:p>
            <a:fld id="{5E59F150-E825-430A-804D-8C97FFE5B060}"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1</a:t>
            </a:fld>
            <a:endParaRPr lang="en-US" altLang="en-US"/>
          </a:p>
        </p:txBody>
      </p:sp>
    </p:spTree>
    <p:extLst>
      <p:ext uri="{BB962C8B-B14F-4D97-AF65-F5344CB8AC3E}">
        <p14:creationId xmlns:p14="http://schemas.microsoft.com/office/powerpoint/2010/main" val="26875845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2</a:t>
            </a:fld>
            <a:endParaRPr lang="en-US" altLang="en-US"/>
          </a:p>
        </p:txBody>
      </p:sp>
    </p:spTree>
    <p:extLst>
      <p:ext uri="{BB962C8B-B14F-4D97-AF65-F5344CB8AC3E}">
        <p14:creationId xmlns:p14="http://schemas.microsoft.com/office/powerpoint/2010/main" val="12391610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13</a:t>
            </a:fld>
            <a:endParaRPr lang="en-US" altLang="en-US"/>
          </a:p>
        </p:txBody>
      </p:sp>
    </p:spTree>
    <p:extLst>
      <p:ext uri="{BB962C8B-B14F-4D97-AF65-F5344CB8AC3E}">
        <p14:creationId xmlns:p14="http://schemas.microsoft.com/office/powerpoint/2010/main" val="36794769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14</a:t>
            </a:fld>
            <a:endParaRPr lang="en-US" altLang="en-US"/>
          </a:p>
        </p:txBody>
      </p:sp>
    </p:spTree>
    <p:extLst>
      <p:ext uri="{BB962C8B-B14F-4D97-AF65-F5344CB8AC3E}">
        <p14:creationId xmlns:p14="http://schemas.microsoft.com/office/powerpoint/2010/main" val="283099528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7" Type="http://schemas.openxmlformats.org/officeDocument/2006/relationships/image" Target="../media/image1.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6" descr="LOGO_200">
            <a:extLst>
              <a:ext uri="{FF2B5EF4-FFF2-40B4-BE49-F238E27FC236}">
                <a16:creationId xmlns:a16="http://schemas.microsoft.com/office/drawing/2014/main" id="{8B47AD39-DF33-4590-93F3-C0C2C2E340D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0" y="228600"/>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7" descr="LOGO_200">
            <a:extLst>
              <a:ext uri="{FF2B5EF4-FFF2-40B4-BE49-F238E27FC236}">
                <a16:creationId xmlns:a16="http://schemas.microsoft.com/office/drawing/2014/main" id="{1C512D95-87F5-43FE-AF81-8FE3500BB89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0" y="228600"/>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custDataLst>
              <p:tags r:id="rId1"/>
            </p:custDataLst>
          </p:nvPr>
        </p:nvSpPr>
        <p:spPr>
          <a:xfrm>
            <a:off x="685800" y="2362200"/>
            <a:ext cx="7772400" cy="1238250"/>
          </a:xfrm>
        </p:spPr>
        <p:txBody>
          <a:bodyPr/>
          <a:lstStyle/>
          <a:p>
            <a:r>
              <a:rPr lang="en-US"/>
              <a:t>Click to edit Master title style</a:t>
            </a:r>
          </a:p>
        </p:txBody>
      </p:sp>
      <p:sp>
        <p:nvSpPr>
          <p:cNvPr id="3" name="Subtitle 2"/>
          <p:cNvSpPr>
            <a:spLocks noGrp="1"/>
          </p:cNvSpPr>
          <p:nvPr>
            <p:ph type="subTitle" idx="1"/>
            <p:custDataLst>
              <p:tags r:id="rId2"/>
            </p:custDataLst>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Date Placeholder 3">
            <a:extLst>
              <a:ext uri="{FF2B5EF4-FFF2-40B4-BE49-F238E27FC236}">
                <a16:creationId xmlns:a16="http://schemas.microsoft.com/office/drawing/2014/main" id="{91760920-F560-426D-81D9-9EF5716DB8BC}"/>
              </a:ext>
            </a:extLst>
          </p:cNvPr>
          <p:cNvSpPr>
            <a:spLocks noGrp="1"/>
          </p:cNvSpPr>
          <p:nvPr>
            <p:ph type="dt" sz="half" idx="10"/>
            <p:custDataLst>
              <p:tags r:id="rId3"/>
            </p:custDataLst>
          </p:nvPr>
        </p:nvSpPr>
        <p:spPr/>
        <p:txBody>
          <a:bodyPr/>
          <a:lstStyle>
            <a:lvl1pPr>
              <a:defRPr/>
            </a:lvl1pPr>
          </a:lstStyle>
          <a:p>
            <a:pPr>
              <a:defRPr/>
            </a:pPr>
            <a:endParaRPr lang="en-US"/>
          </a:p>
        </p:txBody>
      </p:sp>
      <p:sp>
        <p:nvSpPr>
          <p:cNvPr id="7" name="Footer Placeholder 4">
            <a:extLst>
              <a:ext uri="{FF2B5EF4-FFF2-40B4-BE49-F238E27FC236}">
                <a16:creationId xmlns:a16="http://schemas.microsoft.com/office/drawing/2014/main" id="{DBE78E5F-1F7C-4A1E-8FA7-E613761D287C}"/>
              </a:ext>
            </a:extLst>
          </p:cNvPr>
          <p:cNvSpPr>
            <a:spLocks noGrp="1"/>
          </p:cNvSpPr>
          <p:nvPr>
            <p:ph type="ftr" sz="quarter" idx="11"/>
            <p:custDataLst>
              <p:tags r:id="rId4"/>
            </p:custDataLst>
          </p:nvPr>
        </p:nvSpPr>
        <p:spPr/>
        <p:txBody>
          <a:bodyPr/>
          <a:lstStyle>
            <a:lvl1pPr>
              <a:defRPr/>
            </a:lvl1pPr>
          </a:lstStyle>
          <a:p>
            <a:pPr>
              <a:defRPr/>
            </a:pPr>
            <a:r>
              <a:rPr lang="en-US"/>
              <a:t>© Hill, Lipasti</a:t>
            </a:r>
          </a:p>
        </p:txBody>
      </p:sp>
      <p:sp>
        <p:nvSpPr>
          <p:cNvPr id="8" name="Slide Number Placeholder 5">
            <a:extLst>
              <a:ext uri="{FF2B5EF4-FFF2-40B4-BE49-F238E27FC236}">
                <a16:creationId xmlns:a16="http://schemas.microsoft.com/office/drawing/2014/main" id="{ADCCE014-1DDF-4F7B-A8AE-66C41AFE8FD7}"/>
              </a:ext>
            </a:extLst>
          </p:cNvPr>
          <p:cNvSpPr>
            <a:spLocks noGrp="1"/>
          </p:cNvSpPr>
          <p:nvPr>
            <p:ph type="sldNum" sz="quarter" idx="12"/>
            <p:custDataLst>
              <p:tags r:id="rId5"/>
            </p:custDataLst>
          </p:nvPr>
        </p:nvSpPr>
        <p:spPr/>
        <p:txBody>
          <a:bodyPr/>
          <a:lstStyle>
            <a:lvl2pPr lvl="1">
              <a:defRPr/>
            </a:lvl2pPr>
          </a:lstStyle>
          <a:p>
            <a:pPr lvl="1"/>
            <a:fld id="{500D8959-8FD2-4E6C-AD97-F8EF0533F393}" type="slidenum">
              <a:rPr lang="en-US" altLang="en-US"/>
              <a:pPr lvl="1"/>
              <a:t>‹#›</a:t>
            </a:fld>
            <a:endParaRPr lang="en-US" altLang="en-US"/>
          </a:p>
        </p:txBody>
      </p:sp>
    </p:spTree>
    <p:extLst>
      <p:ext uri="{BB962C8B-B14F-4D97-AF65-F5344CB8AC3E}">
        <p14:creationId xmlns:p14="http://schemas.microsoft.com/office/powerpoint/2010/main" val="206298110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lstStyle/>
          <a:p>
            <a:r>
              <a:rPr lang="en-US"/>
              <a:t>Click to edit Master title style</a:t>
            </a:r>
          </a:p>
        </p:txBody>
      </p:sp>
      <p:sp>
        <p:nvSpPr>
          <p:cNvPr id="3" name="Content Placeholder 2"/>
          <p:cNvSpPr>
            <a:spLocks noGrp="1"/>
          </p:cNvSpPr>
          <p:nvPr>
            <p:ph idx="1"/>
            <p:custDataLst>
              <p:tags r:id="rId2"/>
            </p:custDataLst>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3">
            <a:extLst>
              <a:ext uri="{FF2B5EF4-FFF2-40B4-BE49-F238E27FC236}">
                <a16:creationId xmlns:a16="http://schemas.microsoft.com/office/drawing/2014/main" id="{456401B0-5A37-4247-A8F4-FFCBF0C9F034}"/>
              </a:ext>
            </a:extLst>
          </p:cNvPr>
          <p:cNvSpPr>
            <a:spLocks noGrp="1"/>
          </p:cNvSpPr>
          <p:nvPr>
            <p:ph type="dt" sz="half" idx="10"/>
            <p:custDataLst>
              <p:tags r:id="rId3"/>
            </p:custDataLst>
          </p:nvPr>
        </p:nvSpPr>
        <p:spPr/>
        <p:txBody>
          <a:bodyPr/>
          <a:lstStyle>
            <a:lvl1pPr>
              <a:defRPr/>
            </a:lvl1pPr>
          </a:lstStyle>
          <a:p>
            <a:pPr>
              <a:defRPr/>
            </a:pPr>
            <a:endParaRPr lang="en-US"/>
          </a:p>
        </p:txBody>
      </p:sp>
      <p:sp>
        <p:nvSpPr>
          <p:cNvPr id="7" name="Footer Placeholder 4">
            <a:extLst>
              <a:ext uri="{FF2B5EF4-FFF2-40B4-BE49-F238E27FC236}">
                <a16:creationId xmlns:a16="http://schemas.microsoft.com/office/drawing/2014/main" id="{25C8F602-308C-44B3-BA60-06AD48EA8861}"/>
              </a:ext>
            </a:extLst>
          </p:cNvPr>
          <p:cNvSpPr>
            <a:spLocks noGrp="1"/>
          </p:cNvSpPr>
          <p:nvPr>
            <p:ph type="ftr" sz="quarter" idx="11"/>
            <p:custDataLst>
              <p:tags r:id="rId4"/>
            </p:custDataLst>
          </p:nvPr>
        </p:nvSpPr>
        <p:spPr/>
        <p:txBody>
          <a:bodyPr/>
          <a:lstStyle>
            <a:lvl1pPr>
              <a:defRPr/>
            </a:lvl1pPr>
          </a:lstStyle>
          <a:p>
            <a:pPr>
              <a:defRPr/>
            </a:pPr>
            <a:r>
              <a:rPr lang="en-US"/>
              <a:t>© Hill, Lipasti</a:t>
            </a:r>
          </a:p>
        </p:txBody>
      </p:sp>
      <p:sp>
        <p:nvSpPr>
          <p:cNvPr id="8" name="Slide Number Placeholder 5">
            <a:extLst>
              <a:ext uri="{FF2B5EF4-FFF2-40B4-BE49-F238E27FC236}">
                <a16:creationId xmlns:a16="http://schemas.microsoft.com/office/drawing/2014/main" id="{87F653D3-6551-453B-8834-6C97BEF27931}"/>
              </a:ext>
            </a:extLst>
          </p:cNvPr>
          <p:cNvSpPr>
            <a:spLocks noGrp="1"/>
          </p:cNvSpPr>
          <p:nvPr>
            <p:ph type="sldNum" sz="quarter" idx="12"/>
            <p:custDataLst>
              <p:tags r:id="rId5"/>
            </p:custDataLst>
          </p:nvPr>
        </p:nvSpPr>
        <p:spPr/>
        <p:txBody>
          <a:bodyPr/>
          <a:lstStyle>
            <a:lvl2pPr lvl="1">
              <a:defRPr sz="1400"/>
            </a:lvl2pPr>
          </a:lstStyle>
          <a:p>
            <a:pPr lvl="1"/>
            <a:fld id="{0EDCD18F-876B-4EBD-A2CE-B68E83602C93}" type="slidenum">
              <a:rPr lang="en-US" altLang="en-US"/>
              <a:pPr lvl="1"/>
              <a:t>‹#›</a:t>
            </a:fld>
            <a:endParaRPr lang="en-US" altLang="en-US"/>
          </a:p>
        </p:txBody>
      </p:sp>
    </p:spTree>
    <p:extLst>
      <p:ext uri="{BB962C8B-B14F-4D97-AF65-F5344CB8AC3E}">
        <p14:creationId xmlns:p14="http://schemas.microsoft.com/office/powerpoint/2010/main" val="2257217212"/>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F252746-D4E7-4B85-995E-F0825B17D26C}"/>
              </a:ext>
            </a:extLst>
          </p:cNvPr>
          <p:cNvSpPr>
            <a:spLocks noGrp="1"/>
          </p:cNvSpPr>
          <p:nvPr>
            <p:ph type="dt" sz="half" idx="10"/>
          </p:nvPr>
        </p:nvSpPr>
        <p:spPr/>
        <p:txBody>
          <a:bodyPr/>
          <a:lstStyle>
            <a:lvl1pPr>
              <a:defRPr/>
            </a:lvl1pPr>
          </a:lstStyle>
          <a:p>
            <a:pPr>
              <a:defRPr/>
            </a:pPr>
            <a:endParaRPr lang="en-US"/>
          </a:p>
        </p:txBody>
      </p:sp>
      <p:sp>
        <p:nvSpPr>
          <p:cNvPr id="4" name="Footer Placeholder 3">
            <a:extLst>
              <a:ext uri="{FF2B5EF4-FFF2-40B4-BE49-F238E27FC236}">
                <a16:creationId xmlns:a16="http://schemas.microsoft.com/office/drawing/2014/main" id="{4D6E2A7F-7C07-4F10-B2AC-936389135AB8}"/>
              </a:ext>
            </a:extLst>
          </p:cNvPr>
          <p:cNvSpPr>
            <a:spLocks noGrp="1"/>
          </p:cNvSpPr>
          <p:nvPr>
            <p:ph type="ftr" sz="quarter" idx="11"/>
          </p:nvPr>
        </p:nvSpPr>
        <p:spPr/>
        <p:txBody>
          <a:bodyPr/>
          <a:lstStyle>
            <a:lvl1pPr>
              <a:defRPr/>
            </a:lvl1pPr>
          </a:lstStyle>
          <a:p>
            <a:pPr>
              <a:defRPr/>
            </a:pPr>
            <a:r>
              <a:rPr lang="en-US"/>
              <a:t>© Hill, Lipasti</a:t>
            </a:r>
          </a:p>
        </p:txBody>
      </p:sp>
      <p:sp>
        <p:nvSpPr>
          <p:cNvPr id="5" name="Slide Number Placeholder 4">
            <a:extLst>
              <a:ext uri="{FF2B5EF4-FFF2-40B4-BE49-F238E27FC236}">
                <a16:creationId xmlns:a16="http://schemas.microsoft.com/office/drawing/2014/main" id="{5E4713AC-A3C9-4A09-8462-D68F64C0A263}"/>
              </a:ext>
            </a:extLst>
          </p:cNvPr>
          <p:cNvSpPr>
            <a:spLocks noGrp="1"/>
          </p:cNvSpPr>
          <p:nvPr>
            <p:ph type="sldNum" sz="quarter" idx="12"/>
          </p:nvPr>
        </p:nvSpPr>
        <p:spPr/>
        <p:txBody>
          <a:bodyPr/>
          <a:lstStyle>
            <a:lvl2pPr lvl="1">
              <a:defRPr/>
            </a:lvl2pPr>
          </a:lstStyle>
          <a:p>
            <a:pPr lvl="1"/>
            <a:fld id="{9C6BE582-286B-4647-89E9-2DDCDD1490BE}" type="slidenum">
              <a:rPr lang="en-US" altLang="en-US"/>
              <a:pPr lvl="1"/>
              <a:t>‹#›</a:t>
            </a:fld>
            <a:endParaRPr lang="en-US" altLang="en-US"/>
          </a:p>
        </p:txBody>
      </p:sp>
    </p:spTree>
    <p:extLst>
      <p:ext uri="{BB962C8B-B14F-4D97-AF65-F5344CB8AC3E}">
        <p14:creationId xmlns:p14="http://schemas.microsoft.com/office/powerpoint/2010/main" val="2864987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682625" y="609600"/>
            <a:ext cx="8080375" cy="1143000"/>
          </a:xfrm>
        </p:spPr>
        <p:txBody>
          <a:bodyPr/>
          <a:lstStyle/>
          <a:p>
            <a:r>
              <a:rPr lang="en-US"/>
              <a:t>Click to edit Master title style</a:t>
            </a:r>
          </a:p>
        </p:txBody>
      </p:sp>
      <p:sp>
        <p:nvSpPr>
          <p:cNvPr id="3" name="Text Placeholder 2"/>
          <p:cNvSpPr>
            <a:spLocks noGrp="1"/>
          </p:cNvSpPr>
          <p:nvPr>
            <p:ph type="body" sz="half" idx="1"/>
          </p:nvPr>
        </p:nvSpPr>
        <p:spPr>
          <a:xfrm>
            <a:off x="682625"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5025" y="1981200"/>
            <a:ext cx="3810000" cy="4114800"/>
          </a:xfrm>
        </p:spPr>
        <p:txBody>
          <a:bodyPr/>
          <a:lstStyle/>
          <a:p>
            <a:pPr lvl="0"/>
            <a:r>
              <a:rPr lang="en-US" noProof="0"/>
              <a:t>Click icon to add clip art</a:t>
            </a:r>
          </a:p>
        </p:txBody>
      </p:sp>
      <p:sp>
        <p:nvSpPr>
          <p:cNvPr id="5" name="Date Placeholder 3">
            <a:extLst>
              <a:ext uri="{FF2B5EF4-FFF2-40B4-BE49-F238E27FC236}">
                <a16:creationId xmlns:a16="http://schemas.microsoft.com/office/drawing/2014/main" id="{4CBDC2BD-6B7E-49E9-911D-8DCE5447EAF1}"/>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7C3C25FE-B17A-4800-8A72-379B83CDBD99}"/>
              </a:ext>
            </a:extLst>
          </p:cNvPr>
          <p:cNvSpPr>
            <a:spLocks noGrp="1"/>
          </p:cNvSpPr>
          <p:nvPr>
            <p:ph type="ftr" sz="quarter" idx="11"/>
          </p:nvPr>
        </p:nvSpPr>
        <p:spPr/>
        <p:txBody>
          <a:bodyPr/>
          <a:lstStyle>
            <a:lvl1pPr>
              <a:defRPr/>
            </a:lvl1pPr>
          </a:lstStyle>
          <a:p>
            <a:pPr>
              <a:defRPr/>
            </a:pPr>
            <a:r>
              <a:rPr lang="en-US"/>
              <a:t>© Hill, Lipasti</a:t>
            </a:r>
          </a:p>
        </p:txBody>
      </p:sp>
      <p:sp>
        <p:nvSpPr>
          <p:cNvPr id="7" name="Slide Number Placeholder 5">
            <a:extLst>
              <a:ext uri="{FF2B5EF4-FFF2-40B4-BE49-F238E27FC236}">
                <a16:creationId xmlns:a16="http://schemas.microsoft.com/office/drawing/2014/main" id="{DF943460-5DA2-4F2B-B27F-A9ECA55D6FC9}"/>
              </a:ext>
            </a:extLst>
          </p:cNvPr>
          <p:cNvSpPr>
            <a:spLocks noGrp="1"/>
          </p:cNvSpPr>
          <p:nvPr>
            <p:ph type="sldNum" sz="quarter" idx="12"/>
          </p:nvPr>
        </p:nvSpPr>
        <p:spPr/>
        <p:txBody>
          <a:bodyPr/>
          <a:lstStyle>
            <a:lvl2pPr lvl="1">
              <a:defRPr/>
            </a:lvl2pPr>
          </a:lstStyle>
          <a:p>
            <a:pPr lvl="1"/>
            <a:fld id="{AD2CFC07-BDFD-4FD8-AEEA-8EE2BD6FEC33}" type="slidenum">
              <a:rPr lang="en-US" altLang="en-US"/>
              <a:pPr lvl="1"/>
              <a:t>‹#›</a:t>
            </a:fld>
            <a:endParaRPr lang="en-US" altLang="en-US"/>
          </a:p>
        </p:txBody>
      </p:sp>
    </p:spTree>
    <p:extLst>
      <p:ext uri="{BB962C8B-B14F-4D97-AF65-F5344CB8AC3E}">
        <p14:creationId xmlns:p14="http://schemas.microsoft.com/office/powerpoint/2010/main" val="3963381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4.xml"/><Relationship Id="rId3" Type="http://schemas.openxmlformats.org/officeDocument/2006/relationships/slideLayout" Target="../slideLayouts/slideLayout3.xml"/><Relationship Id="rId7"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10" Type="http://schemas.openxmlformats.org/officeDocument/2006/relationships/tags" Target="../tags/tag6.xml"/><Relationship Id="rId4" Type="http://schemas.openxmlformats.org/officeDocument/2006/relationships/slideLayout" Target="../slideLayouts/slideLayout4.xml"/><Relationship Id="rId9" Type="http://schemas.openxmlformats.org/officeDocument/2006/relationships/tags" Target="../tags/tag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7D575308-EE3D-4847-8341-B6C58E1E2B62}"/>
              </a:ext>
            </a:extLst>
          </p:cNvPr>
          <p:cNvSpPr>
            <a:spLocks noGrp="1"/>
          </p:cNvSpPr>
          <p:nvPr>
            <p:ph type="title"/>
            <p:custDataLst>
              <p:tags r:id="rId6"/>
            </p:custDataLst>
          </p:nvPr>
        </p:nvSpPr>
        <p:spPr bwMode="auto">
          <a:xfrm>
            <a:off x="457200" y="274638"/>
            <a:ext cx="7467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40C50C7-848D-47BD-8D6E-9F9D18F0B314}"/>
              </a:ext>
            </a:extLst>
          </p:cNvPr>
          <p:cNvSpPr>
            <a:spLocks noGrp="1"/>
          </p:cNvSpPr>
          <p:nvPr>
            <p:ph type="body" idx="1"/>
            <p:custDataLst>
              <p:tags r:id="rId7"/>
            </p:custDataLst>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0721BE35-EB61-4664-942E-96195D317313}"/>
              </a:ext>
            </a:extLst>
          </p:cNvPr>
          <p:cNvSpPr>
            <a:spLocks noGrp="1"/>
          </p:cNvSpPr>
          <p:nvPr>
            <p:ph type="dt" sz="half" idx="2"/>
            <p:custDataLst>
              <p:tags r:id="rId8"/>
            </p:custDataLst>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itchFamily="18" charset="0"/>
              </a:defRPr>
            </a:lvl1pPr>
          </a:lstStyle>
          <a:p>
            <a:pPr>
              <a:defRPr/>
            </a:pPr>
            <a:endParaRPr lang="en-US"/>
          </a:p>
        </p:txBody>
      </p:sp>
      <p:sp>
        <p:nvSpPr>
          <p:cNvPr id="5" name="Footer Placeholder 4">
            <a:extLst>
              <a:ext uri="{FF2B5EF4-FFF2-40B4-BE49-F238E27FC236}">
                <a16:creationId xmlns:a16="http://schemas.microsoft.com/office/drawing/2014/main" id="{7978FCF2-5CF4-41D3-AD73-B668EEE2C8E4}"/>
              </a:ext>
            </a:extLst>
          </p:cNvPr>
          <p:cNvSpPr>
            <a:spLocks noGrp="1"/>
          </p:cNvSpPr>
          <p:nvPr>
            <p:ph type="ftr" sz="quarter" idx="3"/>
            <p:custDataLst>
              <p:tags r:id="rId9"/>
            </p:custDataLst>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itchFamily="18" charset="0"/>
              </a:defRPr>
            </a:lvl1pPr>
          </a:lstStyle>
          <a:p>
            <a:pPr>
              <a:defRPr/>
            </a:pPr>
            <a:r>
              <a:rPr lang="en-US"/>
              <a:t>© Hill, Lipasti</a:t>
            </a:r>
          </a:p>
        </p:txBody>
      </p:sp>
      <p:sp>
        <p:nvSpPr>
          <p:cNvPr id="6" name="Slide Number Placeholder 5">
            <a:extLst>
              <a:ext uri="{FF2B5EF4-FFF2-40B4-BE49-F238E27FC236}">
                <a16:creationId xmlns:a16="http://schemas.microsoft.com/office/drawing/2014/main" id="{E11436A6-847A-4529-A438-88DC94F54956}"/>
              </a:ext>
            </a:extLst>
          </p:cNvPr>
          <p:cNvSpPr>
            <a:spLocks noGrp="1"/>
          </p:cNvSpPr>
          <p:nvPr>
            <p:ph type="sldNum" sz="quarter" idx="4"/>
            <p:custDataLst>
              <p:tags r:id="rId10"/>
            </p:custDataLst>
          </p:nvPr>
        </p:nvSpPr>
        <p:spPr>
          <a:xfrm>
            <a:off x="7620000" y="6356350"/>
            <a:ext cx="1066800" cy="365125"/>
          </a:xfrm>
          <a:prstGeom prst="rect">
            <a:avLst/>
          </a:prstGeom>
        </p:spPr>
        <p:txBody>
          <a:bodyPr vert="horz" wrap="square" lIns="91440" tIns="45720" rIns="91440" bIns="45720" numCol="1" anchor="ctr" anchorCtr="0" compatLnSpc="1">
            <a:prstTxWarp prst="textNoShape">
              <a:avLst/>
            </a:prstTxWarp>
          </a:bodyPr>
          <a:lstStyle>
            <a:lvl2pPr lvl="1" algn="r">
              <a:defRPr>
                <a:latin typeface="Calibri" panose="020F0502020204030204" pitchFamily="34" charset="0"/>
              </a:defRPr>
            </a:lvl2pPr>
          </a:lstStyle>
          <a:p>
            <a:pPr lvl="1"/>
            <a:fld id="{DE04778B-3B40-420D-B763-68DB33D50843}" type="slidenum">
              <a:rPr lang="en-US" altLang="en-US"/>
              <a:pPr lvl="1"/>
              <a:t>‹#›</a:t>
            </a:fld>
            <a:endParaRPr lang="en-US" altLang="en-US"/>
          </a:p>
        </p:txBody>
      </p:sp>
    </p:spTree>
  </p:cSld>
  <p:clrMap bg1="lt1" tx1="dk1" bg2="lt2" tx2="dk2" accent1="accent1" accent2="accent2" accent3="accent3" accent4="accent4" accent5="accent5" accent6="accent6" hlink="hlink" folHlink="folHlink"/>
  <p:sldLayoutIdLst>
    <p:sldLayoutId id="2147483767" r:id="rId1"/>
    <p:sldLayoutId id="2147483768" r:id="rId2"/>
    <p:sldLayoutId id="2147483769" r:id="rId3"/>
    <p:sldLayoutId id="2147483766" r:id="rId4"/>
  </p:sldLayoutIdLst>
  <p:transition/>
  <p:hf hdr="0" ftr="0" dt="0"/>
  <p:txStyles>
    <p:titleStyle>
      <a:lvl1pPr algn="ctr" rtl="0" eaLnBrk="0" fontAlgn="base" hangingPunct="0">
        <a:spcBef>
          <a:spcPct val="0"/>
        </a:spcBef>
        <a:spcAft>
          <a:spcPct val="0"/>
        </a:spcAft>
        <a:defRPr sz="4400" b="0" i="0" u="none"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b="0" i="0" u="none"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27.xml"/><Relationship Id="rId13" Type="http://schemas.openxmlformats.org/officeDocument/2006/relationships/tags" Target="../tags/tag32.xml"/><Relationship Id="rId3" Type="http://schemas.openxmlformats.org/officeDocument/2006/relationships/tags" Target="../tags/tag22.xml"/><Relationship Id="rId7" Type="http://schemas.openxmlformats.org/officeDocument/2006/relationships/tags" Target="../tags/tag26.xml"/><Relationship Id="rId12" Type="http://schemas.openxmlformats.org/officeDocument/2006/relationships/tags" Target="../tags/tag31.xml"/><Relationship Id="rId2" Type="http://schemas.openxmlformats.org/officeDocument/2006/relationships/tags" Target="../tags/tag21.xml"/><Relationship Id="rId16" Type="http://schemas.openxmlformats.org/officeDocument/2006/relationships/notesSlide" Target="../notesSlides/notesSlide2.xml"/><Relationship Id="rId1" Type="http://schemas.openxmlformats.org/officeDocument/2006/relationships/tags" Target="../tags/tag20.xml"/><Relationship Id="rId6" Type="http://schemas.openxmlformats.org/officeDocument/2006/relationships/tags" Target="../tags/tag25.xml"/><Relationship Id="rId11" Type="http://schemas.openxmlformats.org/officeDocument/2006/relationships/tags" Target="../tags/tag30.xml"/><Relationship Id="rId5" Type="http://schemas.openxmlformats.org/officeDocument/2006/relationships/tags" Target="../tags/tag24.xml"/><Relationship Id="rId15" Type="http://schemas.openxmlformats.org/officeDocument/2006/relationships/slideLayout" Target="../slideLayouts/slideLayout2.xml"/><Relationship Id="rId10" Type="http://schemas.openxmlformats.org/officeDocument/2006/relationships/tags" Target="../tags/tag29.xml"/><Relationship Id="rId4" Type="http://schemas.openxmlformats.org/officeDocument/2006/relationships/tags" Target="../tags/tag23.xml"/><Relationship Id="rId9" Type="http://schemas.openxmlformats.org/officeDocument/2006/relationships/tags" Target="../tags/tag28.xml"/><Relationship Id="rId14" Type="http://schemas.openxmlformats.org/officeDocument/2006/relationships/tags" Target="../tags/tag33.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notesSlide" Target="../notesSlides/notesSlide3.xml"/><Relationship Id="rId5" Type="http://schemas.openxmlformats.org/officeDocument/2006/relationships/slideLayout" Target="../slideLayouts/slideLayout2.xml"/><Relationship Id="rId4" Type="http://schemas.openxmlformats.org/officeDocument/2006/relationships/tags" Target="../tags/tag37.xml"/></Relationships>
</file>

<file path=ppt/slides/_rels/slide14.xml.rels><?xml version="1.0" encoding="UTF-8" standalone="yes"?>
<Relationships xmlns="http://schemas.openxmlformats.org/package/2006/relationships"><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image" Target="../media/image3.png"/><Relationship Id="rId5" Type="http://schemas.openxmlformats.org/officeDocument/2006/relationships/notesSlide" Target="../notesSlides/notesSlide4.xml"/><Relationship Id="rId4"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F0F85797-DA9F-4E9D-9884-0778D414DE4E}"/>
              </a:ext>
            </a:extLst>
          </p:cNvPr>
          <p:cNvSpPr>
            <a:spLocks noGrp="1"/>
          </p:cNvSpPr>
          <p:nvPr>
            <p:ph type="ctrTitle"/>
            <p:custDataLst>
              <p:tags r:id="rId2"/>
            </p:custDataLst>
          </p:nvPr>
        </p:nvSpPr>
        <p:spPr>
          <a:xfrm>
            <a:off x="457200" y="2495550"/>
            <a:ext cx="8229600" cy="1238250"/>
          </a:xfrm>
        </p:spPr>
        <p:txBody>
          <a:bodyPr/>
          <a:lstStyle/>
          <a:p>
            <a:pPr eaLnBrk="1" hangingPunct="1"/>
            <a:r>
              <a:rPr lang="en-US" altLang="en-US" sz="4000" dirty="0"/>
              <a:t>ECE/CS 552: Memory, ECC and I/O</a:t>
            </a:r>
          </a:p>
        </p:txBody>
      </p:sp>
      <p:sp>
        <p:nvSpPr>
          <p:cNvPr id="3" name="Subtitle 2">
            <a:extLst>
              <a:ext uri="{FF2B5EF4-FFF2-40B4-BE49-F238E27FC236}">
                <a16:creationId xmlns:a16="http://schemas.microsoft.com/office/drawing/2014/main" id="{CD80CA9F-F218-40E5-87C0-1EBB3CC3C8DC}"/>
              </a:ext>
            </a:extLst>
          </p:cNvPr>
          <p:cNvSpPr>
            <a:spLocks noGrp="1"/>
          </p:cNvSpPr>
          <p:nvPr>
            <p:ph type="subTitle" idx="1"/>
            <p:custDataLst>
              <p:tags r:id="rId3"/>
            </p:custDataLst>
          </p:nvPr>
        </p:nvSpPr>
        <p:spPr>
          <a:xfrm>
            <a:off x="1371600" y="3886200"/>
            <a:ext cx="6400800" cy="1752600"/>
          </a:xfrm>
        </p:spPr>
        <p:txBody>
          <a:bodyPr>
            <a:normAutofit fontScale="62500" lnSpcReduction="20000"/>
          </a:bodyPr>
          <a:lstStyle/>
          <a:p>
            <a:pPr eaLnBrk="1" hangingPunct="1">
              <a:buFont typeface="Arial" charset="0"/>
              <a:buNone/>
              <a:defRPr/>
            </a:pPr>
            <a:r>
              <a:rPr lang="en-US" dirty="0"/>
              <a:t>Boone Severson </a:t>
            </a:r>
          </a:p>
          <a:p>
            <a:pPr eaLnBrk="1" hangingPunct="1">
              <a:buFont typeface="Arial" charset="0"/>
              <a:buNone/>
              <a:defRPr/>
            </a:pPr>
            <a:endParaRPr lang="en-US" dirty="0"/>
          </a:p>
          <a:p>
            <a:pPr eaLnBrk="1" hangingPunct="1">
              <a:buFont typeface="Arial" charset="0"/>
              <a:buNone/>
              <a:defRPr/>
            </a:pPr>
            <a:r>
              <a:rPr lang="en-US" dirty="0"/>
              <a:t>Lecture notes based in part on slides created by Joshua San Miguel, Mikko </a:t>
            </a:r>
            <a:r>
              <a:rPr lang="en-US" dirty="0" err="1"/>
              <a:t>Lipasti</a:t>
            </a:r>
            <a:r>
              <a:rPr lang="en-US" dirty="0"/>
              <a:t>, Mark Hill, David Wood, Guri Sohi, John Shen and Jim Smith</a:t>
            </a:r>
          </a:p>
          <a:p>
            <a:pPr eaLnBrk="1" hangingPunct="1">
              <a:buFont typeface="Arial" charset="0"/>
              <a:buNone/>
              <a:defRPr/>
            </a:pPr>
            <a:r>
              <a:rPr lang="en-US" dirty="0"/>
              <a:t>  </a:t>
            </a:r>
          </a:p>
          <a:p>
            <a:pPr eaLnBrk="1" hangingPunct="1">
              <a:buFont typeface="Arial" charset="0"/>
              <a:buNone/>
              <a:defRPr/>
            </a:pPr>
            <a:endParaRPr lang="en-US" dirty="0"/>
          </a:p>
        </p:txBody>
      </p:sp>
    </p:spTree>
    <p:custDataLst>
      <p:tags r:id="rId1"/>
    </p:custDataLst>
    <p:extLst>
      <p:ext uri="{BB962C8B-B14F-4D97-AF65-F5344CB8AC3E}">
        <p14:creationId xmlns:p14="http://schemas.microsoft.com/office/powerpoint/2010/main" val="1744269001"/>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Address Translation</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2</a:t>
            </a:fld>
            <a:endParaRPr lang="en-US" altLang="en-US" sz="1400">
              <a:latin typeface="Times New Roman" panose="02020603050405020304" pitchFamily="18" charset="0"/>
            </a:endParaRPr>
          </a:p>
        </p:txBody>
      </p:sp>
      <p:sp>
        <p:nvSpPr>
          <p:cNvPr id="38" name="TextBox 37">
            <a:extLst>
              <a:ext uri="{FF2B5EF4-FFF2-40B4-BE49-F238E27FC236}">
                <a16:creationId xmlns:a16="http://schemas.microsoft.com/office/drawing/2014/main" id="{7A070952-0F67-4D11-884B-596CB40884CB}"/>
              </a:ext>
            </a:extLst>
          </p:cNvPr>
          <p:cNvSpPr txBox="1"/>
          <p:nvPr>
            <p:custDataLst>
              <p:tags r:id="rId4"/>
            </p:custDataLst>
          </p:nvPr>
        </p:nvSpPr>
        <p:spPr>
          <a:xfrm>
            <a:off x="526929" y="1219200"/>
            <a:ext cx="8388471" cy="4382267"/>
          </a:xfrm>
          <a:prstGeom prst="rect">
            <a:avLst/>
          </a:prstGeom>
          <a:noFill/>
        </p:spPr>
        <p:txBody>
          <a:bodyPr wrap="square" rtlCol="0" anchor="t">
            <a:noAutofit/>
          </a:bodyPr>
          <a:lstStyle/>
          <a:p>
            <a:r>
              <a:rPr lang="en-US" sz="3200" dirty="0">
                <a:latin typeface="+mn-lt"/>
              </a:rPr>
              <a:t>VA→PA mapping:</a:t>
            </a:r>
          </a:p>
          <a:p>
            <a:pPr marL="457200" indent="-457200">
              <a:buFont typeface="Arial" panose="020B0604020202020204" pitchFamily="34" charset="0"/>
              <a:buChar char="•"/>
            </a:pPr>
            <a:r>
              <a:rPr lang="en-US" sz="2800" dirty="0">
                <a:latin typeface="+mn-lt"/>
              </a:rPr>
              <a:t>Split VA into </a:t>
            </a:r>
            <a:r>
              <a:rPr lang="en-US" sz="2800" b="1" dirty="0">
                <a:latin typeface="+mn-lt"/>
              </a:rPr>
              <a:t>virtual page number (VPN)</a:t>
            </a:r>
            <a:r>
              <a:rPr lang="en-US" sz="2800" dirty="0">
                <a:latin typeface="+mn-lt"/>
              </a:rPr>
              <a:t> and </a:t>
            </a:r>
            <a:r>
              <a:rPr lang="en-US" sz="2800" b="1" dirty="0">
                <a:latin typeface="+mn-lt"/>
              </a:rPr>
              <a:t>page offset (POFS)</a:t>
            </a:r>
          </a:p>
          <a:p>
            <a:pPr marL="457200" indent="-457200">
              <a:buFont typeface="Arial" panose="020B0604020202020204" pitchFamily="34" charset="0"/>
              <a:buChar char="•"/>
            </a:pPr>
            <a:r>
              <a:rPr lang="en-US" sz="2800" dirty="0">
                <a:latin typeface="+mn-lt"/>
              </a:rPr>
              <a:t>Translate VPN into </a:t>
            </a:r>
            <a:r>
              <a:rPr lang="en-US" sz="2800" b="1" dirty="0">
                <a:latin typeface="+mn-lt"/>
              </a:rPr>
              <a:t>physical page number (PPN)</a:t>
            </a:r>
          </a:p>
          <a:p>
            <a:pPr marL="914400" lvl="1" indent="-457200">
              <a:buFont typeface="Wingdings" panose="05000000000000000000" pitchFamily="2" charset="2"/>
              <a:buChar char="Ø"/>
            </a:pPr>
            <a:r>
              <a:rPr lang="en-US" sz="2400" dirty="0">
                <a:latin typeface="+mn-lt"/>
              </a:rPr>
              <a:t>POFS is not translated</a:t>
            </a:r>
          </a:p>
          <a:p>
            <a:pPr marL="914400" lvl="1" indent="-457200">
              <a:buFont typeface="Wingdings" panose="05000000000000000000" pitchFamily="2" charset="2"/>
              <a:buChar char="Ø"/>
            </a:pPr>
            <a:r>
              <a:rPr lang="en-US" sz="2400" dirty="0">
                <a:latin typeface="+mn-lt"/>
              </a:rPr>
              <a:t>VA→PA = [VPN, POFS] → [PPN, POFS]</a:t>
            </a:r>
          </a:p>
          <a:p>
            <a:pPr marL="457200" indent="-457200">
              <a:buFont typeface="Arial" panose="020B0604020202020204" pitchFamily="34" charset="0"/>
              <a:buChar char="•"/>
            </a:pPr>
            <a:r>
              <a:rPr lang="en-US" sz="2800" dirty="0">
                <a:latin typeface="+mn-lt"/>
              </a:rPr>
              <a:t>e.g.,</a:t>
            </a:r>
          </a:p>
          <a:p>
            <a:pPr marL="914400" lvl="1" indent="-457200">
              <a:buFont typeface="Wingdings" panose="05000000000000000000" pitchFamily="2" charset="2"/>
              <a:buChar char="Ø"/>
            </a:pPr>
            <a:r>
              <a:rPr lang="en-US" sz="2400" dirty="0">
                <a:latin typeface="+mn-lt"/>
              </a:rPr>
              <a:t>64KB pages implies 16-bit POFS</a:t>
            </a:r>
          </a:p>
          <a:p>
            <a:pPr marL="914400" lvl="1" indent="-457200">
              <a:buFont typeface="Wingdings" panose="05000000000000000000" pitchFamily="2" charset="2"/>
              <a:buChar char="Ø"/>
            </a:pPr>
            <a:r>
              <a:rPr lang="en-US" sz="2400" dirty="0">
                <a:latin typeface="+mn-lt"/>
              </a:rPr>
              <a:t>32-bit machine implies 32-bit VA; thus 16-bit VPN</a:t>
            </a:r>
          </a:p>
          <a:p>
            <a:pPr marL="914400" lvl="1" indent="-457200">
              <a:buFont typeface="Wingdings" panose="05000000000000000000" pitchFamily="2" charset="2"/>
              <a:buChar char="Ø"/>
            </a:pPr>
            <a:r>
              <a:rPr lang="en-US" sz="2400" dirty="0">
                <a:latin typeface="+mn-lt"/>
              </a:rPr>
              <a:t>Maximum 256MB physical memory implies 28-bit PA; thus 12-bit PPN</a:t>
            </a:r>
          </a:p>
        </p:txBody>
      </p:sp>
      <p:sp>
        <p:nvSpPr>
          <p:cNvPr id="39" name="Rectangle 38">
            <a:extLst>
              <a:ext uri="{FF2B5EF4-FFF2-40B4-BE49-F238E27FC236}">
                <a16:creationId xmlns:a16="http://schemas.microsoft.com/office/drawing/2014/main" id="{67CA5DCC-849F-4605-A887-5902E596EB2E}"/>
              </a:ext>
            </a:extLst>
          </p:cNvPr>
          <p:cNvSpPr>
            <a:spLocks noChangeArrowheads="1"/>
          </p:cNvSpPr>
          <p:nvPr>
            <p:custDataLst>
              <p:tags r:id="rId5"/>
            </p:custDataLst>
          </p:nvPr>
        </p:nvSpPr>
        <p:spPr bwMode="auto">
          <a:xfrm>
            <a:off x="5562600" y="5715000"/>
            <a:ext cx="2438400" cy="3048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pPr algn="ctr"/>
            <a:r>
              <a:rPr lang="en-US" sz="1600" dirty="0">
                <a:solidFill>
                  <a:srgbClr val="000000"/>
                </a:solidFill>
                <a:latin typeface="+mn-lt"/>
              </a:rPr>
              <a:t>[15:0] = POFS</a:t>
            </a:r>
          </a:p>
        </p:txBody>
      </p:sp>
      <p:sp>
        <p:nvSpPr>
          <p:cNvPr id="40" name="Rectangle 39">
            <a:extLst>
              <a:ext uri="{FF2B5EF4-FFF2-40B4-BE49-F238E27FC236}">
                <a16:creationId xmlns:a16="http://schemas.microsoft.com/office/drawing/2014/main" id="{3A36288D-A583-499F-B9A4-74FA294372F4}"/>
              </a:ext>
            </a:extLst>
          </p:cNvPr>
          <p:cNvSpPr>
            <a:spLocks noChangeArrowheads="1"/>
          </p:cNvSpPr>
          <p:nvPr>
            <p:custDataLst>
              <p:tags r:id="rId6"/>
            </p:custDataLst>
          </p:nvPr>
        </p:nvSpPr>
        <p:spPr bwMode="auto">
          <a:xfrm>
            <a:off x="533400" y="5715000"/>
            <a:ext cx="2514600" cy="304800"/>
          </a:xfrm>
          <a:prstGeom prst="rect">
            <a:avLst/>
          </a:prstGeom>
          <a:noFill/>
          <a:ln w="28575">
            <a:noFill/>
            <a:miter lim="800000"/>
            <a:headEnd/>
            <a:tailEnd/>
          </a:ln>
        </p:spPr>
        <p:txBody>
          <a:bodyPr wrap="none" anchor="ctr">
            <a:prstTxWarp prst="textNoShape">
              <a:avLst/>
            </a:prstTxWarp>
          </a:bodyPr>
          <a:lstStyle/>
          <a:p>
            <a:pPr algn="r"/>
            <a:r>
              <a:rPr lang="en-US" sz="1600">
                <a:solidFill>
                  <a:srgbClr val="000000"/>
                </a:solidFill>
                <a:latin typeface="+mn-lt"/>
              </a:rPr>
              <a:t>virtual address[31:0]</a:t>
            </a:r>
          </a:p>
        </p:txBody>
      </p:sp>
      <p:sp>
        <p:nvSpPr>
          <p:cNvPr id="41" name="Rectangle 40">
            <a:extLst>
              <a:ext uri="{FF2B5EF4-FFF2-40B4-BE49-F238E27FC236}">
                <a16:creationId xmlns:a16="http://schemas.microsoft.com/office/drawing/2014/main" id="{4F3D34A1-43C0-49FA-9C01-FA0208C7B302}"/>
              </a:ext>
            </a:extLst>
          </p:cNvPr>
          <p:cNvSpPr>
            <a:spLocks noChangeArrowheads="1"/>
          </p:cNvSpPr>
          <p:nvPr>
            <p:custDataLst>
              <p:tags r:id="rId7"/>
            </p:custDataLst>
          </p:nvPr>
        </p:nvSpPr>
        <p:spPr bwMode="auto">
          <a:xfrm>
            <a:off x="3124200" y="5715000"/>
            <a:ext cx="2438400" cy="304800"/>
          </a:xfrm>
          <a:prstGeom prst="rect">
            <a:avLst/>
          </a:prstGeom>
          <a:solidFill>
            <a:schemeClr val="accent6">
              <a:lumMod val="40000"/>
              <a:lumOff val="60000"/>
            </a:schemeClr>
          </a:solidFill>
          <a:ln w="28575">
            <a:solidFill>
              <a:srgbClr val="000000"/>
            </a:solidFill>
            <a:miter lim="800000"/>
            <a:headEnd/>
            <a:tailEnd/>
          </a:ln>
        </p:spPr>
        <p:txBody>
          <a:bodyPr wrap="none" anchor="ctr">
            <a:prstTxWarp prst="textNoShape">
              <a:avLst/>
            </a:prstTxWarp>
          </a:bodyPr>
          <a:lstStyle/>
          <a:p>
            <a:pPr algn="ctr"/>
            <a:r>
              <a:rPr lang="en-US" sz="1600" dirty="0">
                <a:solidFill>
                  <a:srgbClr val="000000"/>
                </a:solidFill>
                <a:latin typeface="+mn-lt"/>
              </a:rPr>
              <a:t>[31:16] = VPN</a:t>
            </a:r>
          </a:p>
        </p:txBody>
      </p:sp>
      <p:sp>
        <p:nvSpPr>
          <p:cNvPr id="42" name="Rectangle 41">
            <a:extLst>
              <a:ext uri="{FF2B5EF4-FFF2-40B4-BE49-F238E27FC236}">
                <a16:creationId xmlns:a16="http://schemas.microsoft.com/office/drawing/2014/main" id="{48ABF98A-53B5-4A4E-82AD-100AD4F0C70B}"/>
              </a:ext>
            </a:extLst>
          </p:cNvPr>
          <p:cNvSpPr>
            <a:spLocks noChangeArrowheads="1"/>
          </p:cNvSpPr>
          <p:nvPr>
            <p:custDataLst>
              <p:tags r:id="rId8"/>
            </p:custDataLst>
          </p:nvPr>
        </p:nvSpPr>
        <p:spPr bwMode="auto">
          <a:xfrm>
            <a:off x="5562600" y="6324600"/>
            <a:ext cx="2438400" cy="304800"/>
          </a:xfrm>
          <a:prstGeom prst="rect">
            <a:avLst/>
          </a:prstGeom>
          <a:solidFill>
            <a:schemeClr val="bg1"/>
          </a:solidFill>
          <a:ln w="28575">
            <a:solidFill>
              <a:srgbClr val="000000"/>
            </a:solidFill>
            <a:miter lim="800000"/>
            <a:headEnd/>
            <a:tailEnd/>
          </a:ln>
        </p:spPr>
        <p:txBody>
          <a:bodyPr wrap="none" anchor="ctr">
            <a:prstTxWarp prst="textNoShape">
              <a:avLst/>
            </a:prstTxWarp>
          </a:bodyPr>
          <a:lstStyle/>
          <a:p>
            <a:pPr algn="ctr"/>
            <a:r>
              <a:rPr lang="en-US" sz="1600" dirty="0">
                <a:solidFill>
                  <a:srgbClr val="000000"/>
                </a:solidFill>
                <a:latin typeface="+mn-lt"/>
              </a:rPr>
              <a:t>[15:0] = POFS</a:t>
            </a:r>
          </a:p>
        </p:txBody>
      </p:sp>
      <p:sp>
        <p:nvSpPr>
          <p:cNvPr id="43" name="Rectangle 42">
            <a:extLst>
              <a:ext uri="{FF2B5EF4-FFF2-40B4-BE49-F238E27FC236}">
                <a16:creationId xmlns:a16="http://schemas.microsoft.com/office/drawing/2014/main" id="{E51D332E-1735-4460-B7E3-8B8FC1A5F2CB}"/>
              </a:ext>
            </a:extLst>
          </p:cNvPr>
          <p:cNvSpPr>
            <a:spLocks noChangeArrowheads="1"/>
          </p:cNvSpPr>
          <p:nvPr>
            <p:custDataLst>
              <p:tags r:id="rId9"/>
            </p:custDataLst>
          </p:nvPr>
        </p:nvSpPr>
        <p:spPr bwMode="auto">
          <a:xfrm>
            <a:off x="533400" y="6324600"/>
            <a:ext cx="2514600" cy="304800"/>
          </a:xfrm>
          <a:prstGeom prst="rect">
            <a:avLst/>
          </a:prstGeom>
          <a:noFill/>
          <a:ln w="28575">
            <a:noFill/>
            <a:miter lim="800000"/>
            <a:headEnd/>
            <a:tailEnd/>
          </a:ln>
        </p:spPr>
        <p:txBody>
          <a:bodyPr wrap="none" anchor="ctr">
            <a:prstTxWarp prst="textNoShape">
              <a:avLst/>
            </a:prstTxWarp>
          </a:bodyPr>
          <a:lstStyle/>
          <a:p>
            <a:pPr algn="r"/>
            <a:r>
              <a:rPr lang="en-US" sz="1600" dirty="0">
                <a:solidFill>
                  <a:srgbClr val="000000"/>
                </a:solidFill>
                <a:latin typeface="+mn-lt"/>
              </a:rPr>
              <a:t>physical address[27:0]</a:t>
            </a:r>
          </a:p>
        </p:txBody>
      </p:sp>
      <p:sp>
        <p:nvSpPr>
          <p:cNvPr id="44" name="Rectangle 43">
            <a:extLst>
              <a:ext uri="{FF2B5EF4-FFF2-40B4-BE49-F238E27FC236}">
                <a16:creationId xmlns:a16="http://schemas.microsoft.com/office/drawing/2014/main" id="{BEF6F07B-4499-4A31-9851-1DA24BE646AD}"/>
              </a:ext>
            </a:extLst>
          </p:cNvPr>
          <p:cNvSpPr>
            <a:spLocks noChangeArrowheads="1"/>
          </p:cNvSpPr>
          <p:nvPr>
            <p:custDataLst>
              <p:tags r:id="rId10"/>
            </p:custDataLst>
          </p:nvPr>
        </p:nvSpPr>
        <p:spPr bwMode="auto">
          <a:xfrm>
            <a:off x="3733800" y="6324600"/>
            <a:ext cx="1828800" cy="3048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r>
              <a:rPr lang="en-US" sz="1600" dirty="0">
                <a:solidFill>
                  <a:srgbClr val="000000"/>
                </a:solidFill>
                <a:latin typeface="+mn-lt"/>
              </a:rPr>
              <a:t>[27:16] = PPN</a:t>
            </a:r>
          </a:p>
        </p:txBody>
      </p:sp>
      <p:sp>
        <p:nvSpPr>
          <p:cNvPr id="45" name="Line 10">
            <a:extLst>
              <a:ext uri="{FF2B5EF4-FFF2-40B4-BE49-F238E27FC236}">
                <a16:creationId xmlns:a16="http://schemas.microsoft.com/office/drawing/2014/main" id="{DDDC1D82-BBEC-46D2-B0A8-D1D09D509F7D}"/>
              </a:ext>
            </a:extLst>
          </p:cNvPr>
          <p:cNvSpPr>
            <a:spLocks noChangeShapeType="1"/>
          </p:cNvSpPr>
          <p:nvPr>
            <p:custDataLst>
              <p:tags r:id="rId11"/>
            </p:custDataLst>
          </p:nvPr>
        </p:nvSpPr>
        <p:spPr bwMode="auto">
          <a:xfrm>
            <a:off x="4800600" y="6019800"/>
            <a:ext cx="0" cy="304800"/>
          </a:xfrm>
          <a:prstGeom prst="line">
            <a:avLst/>
          </a:prstGeom>
          <a:noFill/>
          <a:ln w="28575">
            <a:solidFill>
              <a:srgbClr val="000000"/>
            </a:solidFill>
            <a:round/>
            <a:headEnd/>
            <a:tailEnd type="triangle" w="med" len="med"/>
          </a:ln>
        </p:spPr>
        <p:txBody>
          <a:bodyPr wrap="none" anchor="ctr">
            <a:prstTxWarp prst="textNoShape">
              <a:avLst/>
            </a:prstTxWarp>
          </a:bodyPr>
          <a:lstStyle/>
          <a:p>
            <a:pPr algn="ctr"/>
            <a:endParaRPr lang="en-US" sz="1600">
              <a:latin typeface="+mn-lt"/>
            </a:endParaRPr>
          </a:p>
        </p:txBody>
      </p:sp>
      <p:sp>
        <p:nvSpPr>
          <p:cNvPr id="46" name="Line 11">
            <a:extLst>
              <a:ext uri="{FF2B5EF4-FFF2-40B4-BE49-F238E27FC236}">
                <a16:creationId xmlns:a16="http://schemas.microsoft.com/office/drawing/2014/main" id="{157A52DE-87D7-408B-89A1-8D7511C06972}"/>
              </a:ext>
            </a:extLst>
          </p:cNvPr>
          <p:cNvSpPr>
            <a:spLocks noChangeShapeType="1"/>
          </p:cNvSpPr>
          <p:nvPr>
            <p:custDataLst>
              <p:tags r:id="rId12"/>
            </p:custDataLst>
          </p:nvPr>
        </p:nvSpPr>
        <p:spPr bwMode="auto">
          <a:xfrm>
            <a:off x="6781800" y="6019800"/>
            <a:ext cx="0" cy="304800"/>
          </a:xfrm>
          <a:prstGeom prst="line">
            <a:avLst/>
          </a:prstGeom>
          <a:noFill/>
          <a:ln w="28575">
            <a:solidFill>
              <a:srgbClr val="000000"/>
            </a:solidFill>
            <a:round/>
            <a:headEnd/>
            <a:tailEnd type="triangle" w="med" len="med"/>
          </a:ln>
        </p:spPr>
        <p:txBody>
          <a:bodyPr wrap="none" anchor="ctr">
            <a:prstTxWarp prst="textNoShape">
              <a:avLst/>
            </a:prstTxWarp>
          </a:bodyPr>
          <a:lstStyle/>
          <a:p>
            <a:pPr algn="ctr"/>
            <a:endParaRPr lang="en-US" sz="1600">
              <a:latin typeface="+mn-lt"/>
            </a:endParaRPr>
          </a:p>
        </p:txBody>
      </p:sp>
      <p:sp>
        <p:nvSpPr>
          <p:cNvPr id="47" name="Text Box 12">
            <a:extLst>
              <a:ext uri="{FF2B5EF4-FFF2-40B4-BE49-F238E27FC236}">
                <a16:creationId xmlns:a16="http://schemas.microsoft.com/office/drawing/2014/main" id="{6F9A677C-5411-43A1-A5A4-CE7D8BC67D32}"/>
              </a:ext>
            </a:extLst>
          </p:cNvPr>
          <p:cNvSpPr txBox="1">
            <a:spLocks noChangeArrowheads="1"/>
          </p:cNvSpPr>
          <p:nvPr>
            <p:custDataLst>
              <p:tags r:id="rId13"/>
            </p:custDataLst>
          </p:nvPr>
        </p:nvSpPr>
        <p:spPr bwMode="auto">
          <a:xfrm>
            <a:off x="3801785" y="5957888"/>
            <a:ext cx="937180" cy="338554"/>
          </a:xfrm>
          <a:prstGeom prst="rect">
            <a:avLst/>
          </a:prstGeom>
          <a:noFill/>
          <a:ln w="12700">
            <a:noFill/>
            <a:miter lim="800000"/>
            <a:headEnd/>
            <a:tailEnd/>
          </a:ln>
        </p:spPr>
        <p:txBody>
          <a:bodyPr wrap="none">
            <a:prstTxWarp prst="textNoShape">
              <a:avLst/>
            </a:prstTxWarp>
            <a:spAutoFit/>
          </a:bodyPr>
          <a:lstStyle/>
          <a:p>
            <a:pPr algn="ctr"/>
            <a:r>
              <a:rPr lang="en-US" sz="1600" b="1">
                <a:solidFill>
                  <a:srgbClr val="FF0000"/>
                </a:solidFill>
                <a:latin typeface="+mn-lt"/>
              </a:rPr>
              <a:t>translate</a:t>
            </a:r>
          </a:p>
        </p:txBody>
      </p:sp>
      <p:sp>
        <p:nvSpPr>
          <p:cNvPr id="48" name="Text Box 13">
            <a:extLst>
              <a:ext uri="{FF2B5EF4-FFF2-40B4-BE49-F238E27FC236}">
                <a16:creationId xmlns:a16="http://schemas.microsoft.com/office/drawing/2014/main" id="{ECA2F846-E758-4775-9C54-349D40A92CE8}"/>
              </a:ext>
            </a:extLst>
          </p:cNvPr>
          <p:cNvSpPr txBox="1">
            <a:spLocks noChangeArrowheads="1"/>
          </p:cNvSpPr>
          <p:nvPr>
            <p:custDataLst>
              <p:tags r:id="rId14"/>
            </p:custDataLst>
          </p:nvPr>
        </p:nvSpPr>
        <p:spPr bwMode="auto">
          <a:xfrm>
            <a:off x="6853153" y="5957888"/>
            <a:ext cx="1173335" cy="338554"/>
          </a:xfrm>
          <a:prstGeom prst="rect">
            <a:avLst/>
          </a:prstGeom>
          <a:noFill/>
          <a:ln w="12700">
            <a:noFill/>
            <a:miter lim="800000"/>
            <a:headEnd/>
            <a:tailEnd/>
          </a:ln>
        </p:spPr>
        <p:txBody>
          <a:bodyPr wrap="none">
            <a:prstTxWarp prst="textNoShape">
              <a:avLst/>
            </a:prstTxWarp>
            <a:spAutoFit/>
          </a:bodyPr>
          <a:lstStyle/>
          <a:p>
            <a:pPr algn="ctr"/>
            <a:r>
              <a:rPr lang="en-US" sz="1600" b="1">
                <a:solidFill>
                  <a:srgbClr val="FF0000"/>
                </a:solidFill>
                <a:latin typeface="+mn-lt"/>
              </a:rPr>
              <a:t>don’t touch</a:t>
            </a:r>
          </a:p>
        </p:txBody>
      </p:sp>
    </p:spTree>
    <p:custDataLst>
      <p:tags r:id="rId1"/>
    </p:custDataLst>
    <p:extLst>
      <p:ext uri="{BB962C8B-B14F-4D97-AF65-F5344CB8AC3E}">
        <p14:creationId xmlns:p14="http://schemas.microsoft.com/office/powerpoint/2010/main" val="980976378"/>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F711CB0D-C0D7-4562-B7DA-D2D7B5AFD0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1563" y="1428317"/>
            <a:ext cx="7000875" cy="2465766"/>
          </a:xfrm>
          <a:prstGeom prst="rect">
            <a:avLst/>
          </a:prstGeom>
          <a:noFill/>
          <a:extLst>
            <a:ext uri="{909E8E84-426E-40DD-AFC4-6F175D3DCCD1}">
              <a14:hiddenFill xmlns:a14="http://schemas.microsoft.com/office/drawing/2010/main">
                <a:solidFill>
                  <a:srgbClr val="FFFFFF"/>
                </a:solidFill>
              </a14:hiddenFill>
            </a:ext>
          </a:extLst>
        </p:spPr>
      </p:pic>
      <p:cxnSp>
        <p:nvCxnSpPr>
          <p:cNvPr id="35" name="Straight Connector 34">
            <a:extLst>
              <a:ext uri="{FF2B5EF4-FFF2-40B4-BE49-F238E27FC236}">
                <a16:creationId xmlns:a16="http://schemas.microsoft.com/office/drawing/2014/main" id="{265E582B-2BE4-4EC6-A5B8-74BDCF16C9C4}"/>
              </a:ext>
            </a:extLst>
          </p:cNvPr>
          <p:cNvCxnSpPr>
            <a:cxnSpLocks/>
          </p:cNvCxnSpPr>
          <p:nvPr/>
        </p:nvCxnSpPr>
        <p:spPr>
          <a:xfrm flipV="1">
            <a:off x="1376362" y="3027187"/>
            <a:ext cx="501607" cy="86689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64E88D1-0AD8-4D69-B499-6268D1E14919}"/>
              </a:ext>
            </a:extLst>
          </p:cNvPr>
          <p:cNvCxnSpPr>
            <a:cxnSpLocks/>
          </p:cNvCxnSpPr>
          <p:nvPr/>
        </p:nvCxnSpPr>
        <p:spPr>
          <a:xfrm flipH="1" flipV="1">
            <a:off x="2390908" y="3028624"/>
            <a:ext cx="580892" cy="85757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546DB20B-9B8C-4424-BA47-E5C7919A58E5}"/>
              </a:ext>
            </a:extLst>
          </p:cNvPr>
          <p:cNvCxnSpPr>
            <a:cxnSpLocks/>
          </p:cNvCxnSpPr>
          <p:nvPr/>
        </p:nvCxnSpPr>
        <p:spPr>
          <a:xfrm flipV="1">
            <a:off x="6172200" y="3015139"/>
            <a:ext cx="501607" cy="86689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B63478E-2EC4-479D-BCA1-9F5B778AAB0D}"/>
              </a:ext>
            </a:extLst>
          </p:cNvPr>
          <p:cNvCxnSpPr>
            <a:cxnSpLocks/>
          </p:cNvCxnSpPr>
          <p:nvPr/>
        </p:nvCxnSpPr>
        <p:spPr>
          <a:xfrm flipH="1" flipV="1">
            <a:off x="7186746" y="3016576"/>
            <a:ext cx="580892" cy="85757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1404ADB-3E98-481D-9597-40CD0E2A313C}"/>
              </a:ext>
            </a:extLst>
          </p:cNvPr>
          <p:cNvCxnSpPr>
            <a:cxnSpLocks/>
          </p:cNvCxnSpPr>
          <p:nvPr/>
        </p:nvCxnSpPr>
        <p:spPr>
          <a:xfrm rot="5400000">
            <a:off x="2006449" y="454152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7F5B5DC-551E-41AE-BF66-4AB1E6ABB81A}"/>
              </a:ext>
            </a:extLst>
          </p:cNvPr>
          <p:cNvCxnSpPr>
            <a:cxnSpLocks/>
          </p:cNvCxnSpPr>
          <p:nvPr/>
        </p:nvCxnSpPr>
        <p:spPr>
          <a:xfrm rot="5400000">
            <a:off x="6903720" y="454152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FD4CFD9-260D-46B8-AF4F-870403878260}"/>
              </a:ext>
            </a:extLst>
          </p:cNvPr>
          <p:cNvCxnSpPr>
            <a:cxnSpLocks/>
          </p:cNvCxnSpPr>
          <p:nvPr/>
        </p:nvCxnSpPr>
        <p:spPr>
          <a:xfrm rot="5400000">
            <a:off x="4371260" y="490728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036757B-F06D-4E20-9282-A8FF9D6175DB}"/>
              </a:ext>
            </a:extLst>
          </p:cNvPr>
          <p:cNvCxnSpPr>
            <a:cxnSpLocks/>
          </p:cNvCxnSpPr>
          <p:nvPr/>
        </p:nvCxnSpPr>
        <p:spPr>
          <a:xfrm rot="5400000">
            <a:off x="4371260" y="576072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170" name="Rectangle 2">
            <a:extLst>
              <a:ext uri="{FF2B5EF4-FFF2-40B4-BE49-F238E27FC236}">
                <a16:creationId xmlns:a16="http://schemas.microsoft.com/office/drawing/2014/main" id="{0F2D9CF4-0499-494F-BD5C-CD0370CAD9EC}"/>
              </a:ext>
            </a:extLst>
          </p:cNvPr>
          <p:cNvSpPr>
            <a:spLocks noGrp="1"/>
          </p:cNvSpPr>
          <p:nvPr>
            <p:ph type="title"/>
          </p:nvPr>
        </p:nvSpPr>
        <p:spPr>
          <a:xfrm>
            <a:off x="457200" y="274638"/>
            <a:ext cx="7772400" cy="1143000"/>
          </a:xfrm>
        </p:spPr>
        <p:txBody>
          <a:bodyPr/>
          <a:lstStyle/>
          <a:p>
            <a:pPr eaLnBrk="1" hangingPunct="1"/>
            <a:r>
              <a:rPr lang="en-US" altLang="en-US" dirty="0"/>
              <a:t>Physical (PIPT) Cache</a:t>
            </a:r>
          </a:p>
        </p:txBody>
      </p:sp>
      <p:sp>
        <p:nvSpPr>
          <p:cNvPr id="7172" name="Slide Number Placeholder 1">
            <a:extLst>
              <a:ext uri="{FF2B5EF4-FFF2-40B4-BE49-F238E27FC236}">
                <a16:creationId xmlns:a16="http://schemas.microsoft.com/office/drawing/2014/main" id="{AF650905-CD6A-4E22-8527-A92B86F5B11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C25E0FD2-F670-4010-94F9-09ADC4179CDE}" type="slidenum">
              <a:rPr lang="en-US" altLang="en-US" sz="1400"/>
              <a:pPr lvl="1">
                <a:spcBef>
                  <a:spcPct val="0"/>
                </a:spcBef>
                <a:buFontTx/>
                <a:buNone/>
              </a:pPr>
              <a:t>3</a:t>
            </a:fld>
            <a:endParaRPr lang="en-US" altLang="en-US" sz="1400"/>
          </a:p>
        </p:txBody>
      </p:sp>
      <p:sp>
        <p:nvSpPr>
          <p:cNvPr id="4" name="Rectangle 3">
            <a:extLst>
              <a:ext uri="{FF2B5EF4-FFF2-40B4-BE49-F238E27FC236}">
                <a16:creationId xmlns:a16="http://schemas.microsoft.com/office/drawing/2014/main" id="{ED009F42-8219-4094-9CC2-F2B7670971BF}"/>
              </a:ext>
            </a:extLst>
          </p:cNvPr>
          <p:cNvSpPr/>
          <p:nvPr/>
        </p:nvSpPr>
        <p:spPr>
          <a:xfrm>
            <a:off x="1376362" y="3886200"/>
            <a:ext cx="1595438" cy="53340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L1-I cache</a:t>
            </a:r>
          </a:p>
        </p:txBody>
      </p:sp>
      <p:sp>
        <p:nvSpPr>
          <p:cNvPr id="11" name="Rectangle 10">
            <a:extLst>
              <a:ext uri="{FF2B5EF4-FFF2-40B4-BE49-F238E27FC236}">
                <a16:creationId xmlns:a16="http://schemas.microsoft.com/office/drawing/2014/main" id="{245FF189-AAF0-4FFB-88FB-01D4DF347755}"/>
              </a:ext>
            </a:extLst>
          </p:cNvPr>
          <p:cNvSpPr/>
          <p:nvPr/>
        </p:nvSpPr>
        <p:spPr>
          <a:xfrm>
            <a:off x="6176962" y="3866717"/>
            <a:ext cx="1595438" cy="53340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L1-D cache</a:t>
            </a:r>
          </a:p>
        </p:txBody>
      </p:sp>
      <p:sp>
        <p:nvSpPr>
          <p:cNvPr id="18" name="Rectangle 17">
            <a:extLst>
              <a:ext uri="{FF2B5EF4-FFF2-40B4-BE49-F238E27FC236}">
                <a16:creationId xmlns:a16="http://schemas.microsoft.com/office/drawing/2014/main" id="{2D7A2886-7379-423F-85D4-322ACFAFD94C}"/>
              </a:ext>
            </a:extLst>
          </p:cNvPr>
          <p:cNvSpPr/>
          <p:nvPr/>
        </p:nvSpPr>
        <p:spPr>
          <a:xfrm>
            <a:off x="2906701" y="5029200"/>
            <a:ext cx="3330597" cy="53340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unified I/D L2 cache</a:t>
            </a:r>
          </a:p>
        </p:txBody>
      </p:sp>
      <p:sp>
        <p:nvSpPr>
          <p:cNvPr id="19" name="Rectangle 18">
            <a:extLst>
              <a:ext uri="{FF2B5EF4-FFF2-40B4-BE49-F238E27FC236}">
                <a16:creationId xmlns:a16="http://schemas.microsoft.com/office/drawing/2014/main" id="{5C4F596C-7CDC-40AA-AC7D-C5FB7C554EFF}"/>
              </a:ext>
            </a:extLst>
          </p:cNvPr>
          <p:cNvSpPr/>
          <p:nvPr/>
        </p:nvSpPr>
        <p:spPr>
          <a:xfrm>
            <a:off x="1731234" y="5943600"/>
            <a:ext cx="5681530" cy="53340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main memory</a:t>
            </a:r>
          </a:p>
        </p:txBody>
      </p:sp>
      <p:cxnSp>
        <p:nvCxnSpPr>
          <p:cNvPr id="15" name="Straight Connector 14">
            <a:extLst>
              <a:ext uri="{FF2B5EF4-FFF2-40B4-BE49-F238E27FC236}">
                <a16:creationId xmlns:a16="http://schemas.microsoft.com/office/drawing/2014/main" id="{EDD64322-E63E-49AB-8A7A-1A61875339C8}"/>
              </a:ext>
            </a:extLst>
          </p:cNvPr>
          <p:cNvCxnSpPr/>
          <p:nvPr/>
        </p:nvCxnSpPr>
        <p:spPr>
          <a:xfrm>
            <a:off x="2174081" y="4724400"/>
            <a:ext cx="491251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F468064B-1E50-4180-A1A3-2C481C7060FE}"/>
              </a:ext>
            </a:extLst>
          </p:cNvPr>
          <p:cNvSpPr/>
          <p:nvPr/>
        </p:nvSpPr>
        <p:spPr>
          <a:xfrm>
            <a:off x="6096005" y="5943600"/>
            <a:ext cx="1316758" cy="533400"/>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page table</a:t>
            </a:r>
          </a:p>
        </p:txBody>
      </p:sp>
      <p:cxnSp>
        <p:nvCxnSpPr>
          <p:cNvPr id="26" name="Straight Connector 25">
            <a:extLst>
              <a:ext uri="{FF2B5EF4-FFF2-40B4-BE49-F238E27FC236}">
                <a16:creationId xmlns:a16="http://schemas.microsoft.com/office/drawing/2014/main" id="{E045391E-B695-4246-BB2B-6586C3716530}"/>
              </a:ext>
            </a:extLst>
          </p:cNvPr>
          <p:cNvCxnSpPr>
            <a:cxnSpLocks/>
          </p:cNvCxnSpPr>
          <p:nvPr/>
        </p:nvCxnSpPr>
        <p:spPr>
          <a:xfrm>
            <a:off x="2487179" y="3394494"/>
            <a:ext cx="589482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56A592D-870D-4A0F-A77D-D2C426AC1009}"/>
              </a:ext>
            </a:extLst>
          </p:cNvPr>
          <p:cNvCxnSpPr>
            <a:cxnSpLocks/>
          </p:cNvCxnSpPr>
          <p:nvPr/>
        </p:nvCxnSpPr>
        <p:spPr>
          <a:xfrm>
            <a:off x="8382000" y="3394494"/>
            <a:ext cx="0" cy="277770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51E0218-F441-49B1-8F2B-F01DADCD705E}"/>
              </a:ext>
            </a:extLst>
          </p:cNvPr>
          <p:cNvCxnSpPr>
            <a:cxnSpLocks/>
          </p:cNvCxnSpPr>
          <p:nvPr/>
        </p:nvCxnSpPr>
        <p:spPr>
          <a:xfrm>
            <a:off x="7412763" y="6172200"/>
            <a:ext cx="96923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101D632-2BB9-4387-95F1-E6529E85FA4B}"/>
              </a:ext>
            </a:extLst>
          </p:cNvPr>
          <p:cNvCxnSpPr>
            <a:cxnSpLocks/>
          </p:cNvCxnSpPr>
          <p:nvPr/>
        </p:nvCxnSpPr>
        <p:spPr>
          <a:xfrm rot="5400000">
            <a:off x="1950720" y="3699155"/>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39BBE81F-9C19-4CF3-8FD8-F4A9D48F9E98}"/>
              </a:ext>
            </a:extLst>
          </p:cNvPr>
          <p:cNvCxnSpPr>
            <a:cxnSpLocks/>
          </p:cNvCxnSpPr>
          <p:nvPr/>
        </p:nvCxnSpPr>
        <p:spPr>
          <a:xfrm rot="5400000">
            <a:off x="6751320" y="3676255"/>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40599568-8419-41FC-BEE1-E4A87420EBC3}"/>
              </a:ext>
            </a:extLst>
          </p:cNvPr>
          <p:cNvSpPr/>
          <p:nvPr/>
        </p:nvSpPr>
        <p:spPr>
          <a:xfrm>
            <a:off x="6562987" y="3200400"/>
            <a:ext cx="734579" cy="408421"/>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TLB</a:t>
            </a:r>
          </a:p>
        </p:txBody>
      </p:sp>
      <p:sp>
        <p:nvSpPr>
          <p:cNvPr id="27" name="Rectangle 26">
            <a:extLst>
              <a:ext uri="{FF2B5EF4-FFF2-40B4-BE49-F238E27FC236}">
                <a16:creationId xmlns:a16="http://schemas.microsoft.com/office/drawing/2014/main" id="{4E186134-61F3-4505-826F-7F8686DD71AD}"/>
              </a:ext>
            </a:extLst>
          </p:cNvPr>
          <p:cNvSpPr/>
          <p:nvPr/>
        </p:nvSpPr>
        <p:spPr>
          <a:xfrm>
            <a:off x="1752600" y="3200400"/>
            <a:ext cx="734579" cy="408421"/>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TLB</a:t>
            </a:r>
          </a:p>
        </p:txBody>
      </p:sp>
      <p:cxnSp>
        <p:nvCxnSpPr>
          <p:cNvPr id="32" name="Straight Connector 31">
            <a:extLst>
              <a:ext uri="{FF2B5EF4-FFF2-40B4-BE49-F238E27FC236}">
                <a16:creationId xmlns:a16="http://schemas.microsoft.com/office/drawing/2014/main" id="{3278ABDD-9924-4A16-BE09-5E9AF0454237}"/>
              </a:ext>
            </a:extLst>
          </p:cNvPr>
          <p:cNvCxnSpPr>
            <a:cxnSpLocks/>
          </p:cNvCxnSpPr>
          <p:nvPr/>
        </p:nvCxnSpPr>
        <p:spPr>
          <a:xfrm>
            <a:off x="-1" y="3733800"/>
            <a:ext cx="9144000" cy="0"/>
          </a:xfrm>
          <a:prstGeom prst="line">
            <a:avLst/>
          </a:prstGeom>
          <a:ln w="635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7AF56C7A-EF3C-4ACD-BD97-D321F576B608}"/>
              </a:ext>
            </a:extLst>
          </p:cNvPr>
          <p:cNvSpPr txBox="1"/>
          <p:nvPr/>
        </p:nvSpPr>
        <p:spPr>
          <a:xfrm>
            <a:off x="-819" y="3291642"/>
            <a:ext cx="1371600" cy="458674"/>
          </a:xfrm>
          <a:prstGeom prst="rect">
            <a:avLst/>
          </a:prstGeom>
          <a:noFill/>
        </p:spPr>
        <p:txBody>
          <a:bodyPr wrap="square" rtlCol="0" anchor="ctr">
            <a:noAutofit/>
          </a:bodyPr>
          <a:lstStyle/>
          <a:p>
            <a:r>
              <a:rPr lang="en-US" sz="1800" b="1" dirty="0">
                <a:solidFill>
                  <a:schemeClr val="accent6">
                    <a:lumMod val="75000"/>
                  </a:schemeClr>
                </a:solidFill>
                <a:latin typeface="+mn-lt"/>
              </a:rPr>
              <a:t>virtual</a:t>
            </a:r>
          </a:p>
        </p:txBody>
      </p:sp>
      <p:sp>
        <p:nvSpPr>
          <p:cNvPr id="34" name="TextBox 33">
            <a:extLst>
              <a:ext uri="{FF2B5EF4-FFF2-40B4-BE49-F238E27FC236}">
                <a16:creationId xmlns:a16="http://schemas.microsoft.com/office/drawing/2014/main" id="{F89C0461-6BFC-433D-914C-EBA0E77D7FAE}"/>
              </a:ext>
            </a:extLst>
          </p:cNvPr>
          <p:cNvSpPr txBox="1"/>
          <p:nvPr/>
        </p:nvSpPr>
        <p:spPr>
          <a:xfrm>
            <a:off x="-1585" y="3696979"/>
            <a:ext cx="1371600" cy="458674"/>
          </a:xfrm>
          <a:prstGeom prst="rect">
            <a:avLst/>
          </a:prstGeom>
          <a:noFill/>
        </p:spPr>
        <p:txBody>
          <a:bodyPr wrap="square" rtlCol="0" anchor="ctr">
            <a:noAutofit/>
          </a:bodyPr>
          <a:lstStyle/>
          <a:p>
            <a:r>
              <a:rPr lang="en-US" sz="1800" b="1" dirty="0">
                <a:solidFill>
                  <a:schemeClr val="accent6">
                    <a:lumMod val="75000"/>
                  </a:schemeClr>
                </a:solidFill>
                <a:latin typeface="+mn-lt"/>
              </a:rPr>
              <a:t>physical</a:t>
            </a:r>
          </a:p>
        </p:txBody>
      </p:sp>
    </p:spTree>
    <p:extLst>
      <p:ext uri="{BB962C8B-B14F-4D97-AF65-F5344CB8AC3E}">
        <p14:creationId xmlns:p14="http://schemas.microsoft.com/office/powerpoint/2010/main" val="1094634303"/>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71404ADB-3E98-481D-9597-40CD0E2A313C}"/>
              </a:ext>
            </a:extLst>
          </p:cNvPr>
          <p:cNvCxnSpPr>
            <a:cxnSpLocks/>
          </p:cNvCxnSpPr>
          <p:nvPr/>
        </p:nvCxnSpPr>
        <p:spPr>
          <a:xfrm rot="5400000">
            <a:off x="2006449" y="454152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7F5B5DC-551E-41AE-BF66-4AB1E6ABB81A}"/>
              </a:ext>
            </a:extLst>
          </p:cNvPr>
          <p:cNvCxnSpPr>
            <a:cxnSpLocks/>
          </p:cNvCxnSpPr>
          <p:nvPr/>
        </p:nvCxnSpPr>
        <p:spPr>
          <a:xfrm rot="5400000">
            <a:off x="6903720" y="454152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FD4CFD9-260D-46B8-AF4F-870403878260}"/>
              </a:ext>
            </a:extLst>
          </p:cNvPr>
          <p:cNvCxnSpPr>
            <a:cxnSpLocks/>
          </p:cNvCxnSpPr>
          <p:nvPr/>
        </p:nvCxnSpPr>
        <p:spPr>
          <a:xfrm rot="5400000">
            <a:off x="4371260" y="490728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036757B-F06D-4E20-9282-A8FF9D6175DB}"/>
              </a:ext>
            </a:extLst>
          </p:cNvPr>
          <p:cNvCxnSpPr>
            <a:cxnSpLocks/>
          </p:cNvCxnSpPr>
          <p:nvPr/>
        </p:nvCxnSpPr>
        <p:spPr>
          <a:xfrm rot="5400000">
            <a:off x="4371260" y="576072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170" name="Rectangle 2">
            <a:extLst>
              <a:ext uri="{FF2B5EF4-FFF2-40B4-BE49-F238E27FC236}">
                <a16:creationId xmlns:a16="http://schemas.microsoft.com/office/drawing/2014/main" id="{0F2D9CF4-0499-494F-BD5C-CD0370CAD9EC}"/>
              </a:ext>
            </a:extLst>
          </p:cNvPr>
          <p:cNvSpPr>
            <a:spLocks noGrp="1"/>
          </p:cNvSpPr>
          <p:nvPr>
            <p:ph type="title"/>
          </p:nvPr>
        </p:nvSpPr>
        <p:spPr>
          <a:xfrm>
            <a:off x="1" y="274638"/>
            <a:ext cx="9143998" cy="1143000"/>
          </a:xfrm>
        </p:spPr>
        <p:txBody>
          <a:bodyPr/>
          <a:lstStyle/>
          <a:p>
            <a:pPr eaLnBrk="1" hangingPunct="1"/>
            <a:r>
              <a:rPr lang="en-US" altLang="en-US" dirty="0" err="1"/>
              <a:t>Virt</a:t>
            </a:r>
            <a:r>
              <a:rPr lang="en-US" altLang="en-US" dirty="0"/>
              <a:t>-Indexed Phys-Tagged (VIPT) Cache</a:t>
            </a:r>
          </a:p>
        </p:txBody>
      </p:sp>
      <p:sp>
        <p:nvSpPr>
          <p:cNvPr id="7172" name="Slide Number Placeholder 1">
            <a:extLst>
              <a:ext uri="{FF2B5EF4-FFF2-40B4-BE49-F238E27FC236}">
                <a16:creationId xmlns:a16="http://schemas.microsoft.com/office/drawing/2014/main" id="{AF650905-CD6A-4E22-8527-A92B86F5B11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C25E0FD2-F670-4010-94F9-09ADC4179CDE}" type="slidenum">
              <a:rPr lang="en-US" altLang="en-US" sz="1400"/>
              <a:pPr lvl="1">
                <a:spcBef>
                  <a:spcPct val="0"/>
                </a:spcBef>
                <a:buFontTx/>
                <a:buNone/>
              </a:pPr>
              <a:t>4</a:t>
            </a:fld>
            <a:endParaRPr lang="en-US" altLang="en-US" sz="1400"/>
          </a:p>
        </p:txBody>
      </p:sp>
      <p:pic>
        <p:nvPicPr>
          <p:cNvPr id="7"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F711CB0D-C0D7-4562-B7DA-D2D7B5AFD0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1563" y="1428317"/>
            <a:ext cx="7000875" cy="246576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ED009F42-8219-4094-9CC2-F2B7670971BF}"/>
              </a:ext>
            </a:extLst>
          </p:cNvPr>
          <p:cNvSpPr/>
          <p:nvPr/>
        </p:nvSpPr>
        <p:spPr>
          <a:xfrm>
            <a:off x="1376362" y="3886200"/>
            <a:ext cx="1595438" cy="53340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L1-I cache</a:t>
            </a:r>
          </a:p>
        </p:txBody>
      </p:sp>
      <p:sp>
        <p:nvSpPr>
          <p:cNvPr id="11" name="Rectangle 10">
            <a:extLst>
              <a:ext uri="{FF2B5EF4-FFF2-40B4-BE49-F238E27FC236}">
                <a16:creationId xmlns:a16="http://schemas.microsoft.com/office/drawing/2014/main" id="{245FF189-AAF0-4FFB-88FB-01D4DF347755}"/>
              </a:ext>
            </a:extLst>
          </p:cNvPr>
          <p:cNvSpPr/>
          <p:nvPr/>
        </p:nvSpPr>
        <p:spPr>
          <a:xfrm>
            <a:off x="6176962" y="3866717"/>
            <a:ext cx="1595438" cy="53340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L1-D cache</a:t>
            </a:r>
          </a:p>
        </p:txBody>
      </p:sp>
      <p:sp>
        <p:nvSpPr>
          <p:cNvPr id="18" name="Rectangle 17">
            <a:extLst>
              <a:ext uri="{FF2B5EF4-FFF2-40B4-BE49-F238E27FC236}">
                <a16:creationId xmlns:a16="http://schemas.microsoft.com/office/drawing/2014/main" id="{2D7A2886-7379-423F-85D4-322ACFAFD94C}"/>
              </a:ext>
            </a:extLst>
          </p:cNvPr>
          <p:cNvSpPr/>
          <p:nvPr/>
        </p:nvSpPr>
        <p:spPr>
          <a:xfrm>
            <a:off x="2906701" y="5029200"/>
            <a:ext cx="3330597" cy="53340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unified I/D L2 cache</a:t>
            </a:r>
          </a:p>
        </p:txBody>
      </p:sp>
      <p:sp>
        <p:nvSpPr>
          <p:cNvPr id="19" name="Rectangle 18">
            <a:extLst>
              <a:ext uri="{FF2B5EF4-FFF2-40B4-BE49-F238E27FC236}">
                <a16:creationId xmlns:a16="http://schemas.microsoft.com/office/drawing/2014/main" id="{5C4F596C-7CDC-40AA-AC7D-C5FB7C554EFF}"/>
              </a:ext>
            </a:extLst>
          </p:cNvPr>
          <p:cNvSpPr/>
          <p:nvPr/>
        </p:nvSpPr>
        <p:spPr>
          <a:xfrm>
            <a:off x="1731234" y="5943600"/>
            <a:ext cx="5681530" cy="53340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main memory</a:t>
            </a:r>
          </a:p>
        </p:txBody>
      </p:sp>
      <p:cxnSp>
        <p:nvCxnSpPr>
          <p:cNvPr id="15" name="Straight Connector 14">
            <a:extLst>
              <a:ext uri="{FF2B5EF4-FFF2-40B4-BE49-F238E27FC236}">
                <a16:creationId xmlns:a16="http://schemas.microsoft.com/office/drawing/2014/main" id="{EDD64322-E63E-49AB-8A7A-1A61875339C8}"/>
              </a:ext>
            </a:extLst>
          </p:cNvPr>
          <p:cNvCxnSpPr/>
          <p:nvPr/>
        </p:nvCxnSpPr>
        <p:spPr>
          <a:xfrm>
            <a:off x="2174081" y="4724400"/>
            <a:ext cx="491251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F468064B-1E50-4180-A1A3-2C481C7060FE}"/>
              </a:ext>
            </a:extLst>
          </p:cNvPr>
          <p:cNvSpPr/>
          <p:nvPr/>
        </p:nvSpPr>
        <p:spPr>
          <a:xfrm>
            <a:off x="6096005" y="5943600"/>
            <a:ext cx="1316758" cy="533400"/>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page table</a:t>
            </a:r>
          </a:p>
        </p:txBody>
      </p:sp>
      <p:cxnSp>
        <p:nvCxnSpPr>
          <p:cNvPr id="26" name="Straight Connector 25">
            <a:extLst>
              <a:ext uri="{FF2B5EF4-FFF2-40B4-BE49-F238E27FC236}">
                <a16:creationId xmlns:a16="http://schemas.microsoft.com/office/drawing/2014/main" id="{E045391E-B695-4246-BB2B-6586C3716530}"/>
              </a:ext>
            </a:extLst>
          </p:cNvPr>
          <p:cNvCxnSpPr>
            <a:cxnSpLocks/>
          </p:cNvCxnSpPr>
          <p:nvPr/>
        </p:nvCxnSpPr>
        <p:spPr>
          <a:xfrm>
            <a:off x="3782579" y="3775494"/>
            <a:ext cx="44805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56A592D-870D-4A0F-A77D-D2C426AC1009}"/>
              </a:ext>
            </a:extLst>
          </p:cNvPr>
          <p:cNvCxnSpPr>
            <a:cxnSpLocks/>
          </p:cNvCxnSpPr>
          <p:nvPr/>
        </p:nvCxnSpPr>
        <p:spPr>
          <a:xfrm>
            <a:off x="8229600" y="3699294"/>
            <a:ext cx="0" cy="246888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51E0218-F441-49B1-8F2B-F01DADCD705E}"/>
              </a:ext>
            </a:extLst>
          </p:cNvPr>
          <p:cNvCxnSpPr>
            <a:cxnSpLocks/>
          </p:cNvCxnSpPr>
          <p:nvPr/>
        </p:nvCxnSpPr>
        <p:spPr>
          <a:xfrm>
            <a:off x="7412763" y="6172200"/>
            <a:ext cx="8229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40599568-8419-41FC-BEE1-E4A87420EBC3}"/>
              </a:ext>
            </a:extLst>
          </p:cNvPr>
          <p:cNvSpPr/>
          <p:nvPr/>
        </p:nvSpPr>
        <p:spPr>
          <a:xfrm>
            <a:off x="7858387" y="3581400"/>
            <a:ext cx="734579" cy="408421"/>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TLB</a:t>
            </a:r>
          </a:p>
        </p:txBody>
      </p:sp>
      <p:sp>
        <p:nvSpPr>
          <p:cNvPr id="27" name="Rectangle 26">
            <a:extLst>
              <a:ext uri="{FF2B5EF4-FFF2-40B4-BE49-F238E27FC236}">
                <a16:creationId xmlns:a16="http://schemas.microsoft.com/office/drawing/2014/main" id="{4E186134-61F3-4505-826F-7F8686DD71AD}"/>
              </a:ext>
            </a:extLst>
          </p:cNvPr>
          <p:cNvSpPr/>
          <p:nvPr/>
        </p:nvSpPr>
        <p:spPr>
          <a:xfrm>
            <a:off x="3048000" y="3581400"/>
            <a:ext cx="734579" cy="408421"/>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TLB</a:t>
            </a:r>
          </a:p>
        </p:txBody>
      </p:sp>
      <p:cxnSp>
        <p:nvCxnSpPr>
          <p:cNvPr id="32" name="Straight Connector 31">
            <a:extLst>
              <a:ext uri="{FF2B5EF4-FFF2-40B4-BE49-F238E27FC236}">
                <a16:creationId xmlns:a16="http://schemas.microsoft.com/office/drawing/2014/main" id="{3278ABDD-9924-4A16-BE09-5E9AF0454237}"/>
              </a:ext>
            </a:extLst>
          </p:cNvPr>
          <p:cNvCxnSpPr>
            <a:cxnSpLocks/>
          </p:cNvCxnSpPr>
          <p:nvPr/>
        </p:nvCxnSpPr>
        <p:spPr>
          <a:xfrm>
            <a:off x="-1" y="4150147"/>
            <a:ext cx="9144000" cy="0"/>
          </a:xfrm>
          <a:prstGeom prst="line">
            <a:avLst/>
          </a:prstGeom>
          <a:ln w="635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7AF56C7A-EF3C-4ACD-BD97-D321F576B608}"/>
              </a:ext>
            </a:extLst>
          </p:cNvPr>
          <p:cNvSpPr txBox="1"/>
          <p:nvPr/>
        </p:nvSpPr>
        <p:spPr>
          <a:xfrm>
            <a:off x="-819" y="3707989"/>
            <a:ext cx="1371600" cy="458674"/>
          </a:xfrm>
          <a:prstGeom prst="rect">
            <a:avLst/>
          </a:prstGeom>
          <a:noFill/>
        </p:spPr>
        <p:txBody>
          <a:bodyPr wrap="square" rtlCol="0" anchor="ctr">
            <a:noAutofit/>
          </a:bodyPr>
          <a:lstStyle/>
          <a:p>
            <a:r>
              <a:rPr lang="en-US" sz="1800" b="1" dirty="0">
                <a:solidFill>
                  <a:schemeClr val="accent6">
                    <a:lumMod val="75000"/>
                  </a:schemeClr>
                </a:solidFill>
                <a:latin typeface="+mn-lt"/>
              </a:rPr>
              <a:t>virtual</a:t>
            </a:r>
          </a:p>
        </p:txBody>
      </p:sp>
      <p:sp>
        <p:nvSpPr>
          <p:cNvPr id="34" name="TextBox 33">
            <a:extLst>
              <a:ext uri="{FF2B5EF4-FFF2-40B4-BE49-F238E27FC236}">
                <a16:creationId xmlns:a16="http://schemas.microsoft.com/office/drawing/2014/main" id="{F89C0461-6BFC-433D-914C-EBA0E77D7FAE}"/>
              </a:ext>
            </a:extLst>
          </p:cNvPr>
          <p:cNvSpPr txBox="1"/>
          <p:nvPr/>
        </p:nvSpPr>
        <p:spPr>
          <a:xfrm>
            <a:off x="-1585" y="4113326"/>
            <a:ext cx="1371600" cy="458674"/>
          </a:xfrm>
          <a:prstGeom prst="rect">
            <a:avLst/>
          </a:prstGeom>
          <a:noFill/>
        </p:spPr>
        <p:txBody>
          <a:bodyPr wrap="square" rtlCol="0" anchor="ctr">
            <a:noAutofit/>
          </a:bodyPr>
          <a:lstStyle/>
          <a:p>
            <a:r>
              <a:rPr lang="en-US" sz="1800" b="1" dirty="0">
                <a:solidFill>
                  <a:schemeClr val="accent6">
                    <a:lumMod val="75000"/>
                  </a:schemeClr>
                </a:solidFill>
                <a:latin typeface="+mn-lt"/>
              </a:rPr>
              <a:t>physical</a:t>
            </a:r>
          </a:p>
        </p:txBody>
      </p:sp>
      <p:cxnSp>
        <p:nvCxnSpPr>
          <p:cNvPr id="39" name="Straight Connector 38">
            <a:extLst>
              <a:ext uri="{FF2B5EF4-FFF2-40B4-BE49-F238E27FC236}">
                <a16:creationId xmlns:a16="http://schemas.microsoft.com/office/drawing/2014/main" id="{716D07E4-52DB-4D5B-9954-D03F58F9F2C5}"/>
              </a:ext>
            </a:extLst>
          </p:cNvPr>
          <p:cNvCxnSpPr>
            <a:cxnSpLocks/>
          </p:cNvCxnSpPr>
          <p:nvPr/>
        </p:nvCxnSpPr>
        <p:spPr>
          <a:xfrm flipV="1">
            <a:off x="1376362" y="3027187"/>
            <a:ext cx="501607" cy="86689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6B9ACFB5-084A-4260-B5BC-A2BD973FC2AC}"/>
              </a:ext>
            </a:extLst>
          </p:cNvPr>
          <p:cNvCxnSpPr>
            <a:cxnSpLocks/>
          </p:cNvCxnSpPr>
          <p:nvPr/>
        </p:nvCxnSpPr>
        <p:spPr>
          <a:xfrm flipH="1" flipV="1">
            <a:off x="2390908" y="3028624"/>
            <a:ext cx="1391671" cy="55277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9C89573C-1FBE-466A-83CA-CB8F7E4361D9}"/>
              </a:ext>
            </a:extLst>
          </p:cNvPr>
          <p:cNvCxnSpPr>
            <a:cxnSpLocks/>
          </p:cNvCxnSpPr>
          <p:nvPr/>
        </p:nvCxnSpPr>
        <p:spPr>
          <a:xfrm flipV="1">
            <a:off x="6172200" y="3015139"/>
            <a:ext cx="501607" cy="86689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C62C8ED0-24B8-4F62-83B1-18ACB8DA6D08}"/>
              </a:ext>
            </a:extLst>
          </p:cNvPr>
          <p:cNvCxnSpPr>
            <a:cxnSpLocks/>
          </p:cNvCxnSpPr>
          <p:nvPr/>
        </p:nvCxnSpPr>
        <p:spPr>
          <a:xfrm flipH="1" flipV="1">
            <a:off x="7186746" y="3016576"/>
            <a:ext cx="1406220" cy="564824"/>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2563425"/>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VIPT Cache</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5</a:t>
            </a:fld>
            <a:endParaRPr lang="en-US" altLang="en-US"/>
          </a:p>
        </p:txBody>
      </p:sp>
      <p:cxnSp>
        <p:nvCxnSpPr>
          <p:cNvPr id="6" name="Straight Arrow Connector 5">
            <a:extLst>
              <a:ext uri="{FF2B5EF4-FFF2-40B4-BE49-F238E27FC236}">
                <a16:creationId xmlns:a16="http://schemas.microsoft.com/office/drawing/2014/main" id="{C45BE81F-7E63-42E4-A768-6A2DBF6438D0}"/>
              </a:ext>
            </a:extLst>
          </p:cNvPr>
          <p:cNvCxnSpPr/>
          <p:nvPr/>
        </p:nvCxnSpPr>
        <p:spPr>
          <a:xfrm>
            <a:off x="1371600" y="4141694"/>
            <a:ext cx="1371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7" name="Table 6">
            <a:extLst>
              <a:ext uri="{FF2B5EF4-FFF2-40B4-BE49-F238E27FC236}">
                <a16:creationId xmlns:a16="http://schemas.microsoft.com/office/drawing/2014/main" id="{F013A05E-2BC7-4EE8-AE54-477FEED93E54}"/>
              </a:ext>
            </a:extLst>
          </p:cNvPr>
          <p:cNvGraphicFramePr>
            <a:graphicFrameLocks noGrp="1"/>
          </p:cNvGraphicFramePr>
          <p:nvPr>
            <p:extLst>
              <p:ext uri="{D42A27DB-BD31-4B8C-83A1-F6EECF244321}">
                <p14:modId xmlns:p14="http://schemas.microsoft.com/office/powerpoint/2010/main" val="3723364742"/>
              </p:ext>
            </p:extLst>
          </p:nvPr>
        </p:nvGraphicFramePr>
        <p:xfrm>
          <a:off x="2743200" y="2846294"/>
          <a:ext cx="5710645" cy="2225040"/>
        </p:xfrm>
        <a:graphic>
          <a:graphicData uri="http://schemas.openxmlformats.org/drawingml/2006/table">
            <a:tbl>
              <a:tblPr bandRow="1">
                <a:tableStyleId>{5C22544A-7EE6-4342-B048-85BDC9FD1C3A}</a:tableStyleId>
              </a:tblPr>
              <a:tblGrid>
                <a:gridCol w="5334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544286">
                  <a:extLst>
                    <a:ext uri="{9D8B030D-6E8A-4147-A177-3AD203B41FA5}">
                      <a16:colId xmlns:a16="http://schemas.microsoft.com/office/drawing/2014/main" val="20002"/>
                    </a:ext>
                  </a:extLst>
                </a:gridCol>
                <a:gridCol w="1197428">
                  <a:extLst>
                    <a:ext uri="{9D8B030D-6E8A-4147-A177-3AD203B41FA5}">
                      <a16:colId xmlns:a16="http://schemas.microsoft.com/office/drawing/2014/main" val="20003"/>
                    </a:ext>
                  </a:extLst>
                </a:gridCol>
                <a:gridCol w="870857">
                  <a:extLst>
                    <a:ext uri="{9D8B030D-6E8A-4147-A177-3AD203B41FA5}">
                      <a16:colId xmlns:a16="http://schemas.microsoft.com/office/drawing/2014/main" val="20004"/>
                    </a:ext>
                  </a:extLst>
                </a:gridCol>
                <a:gridCol w="870857">
                  <a:extLst>
                    <a:ext uri="{9D8B030D-6E8A-4147-A177-3AD203B41FA5}">
                      <a16:colId xmlns:a16="http://schemas.microsoft.com/office/drawing/2014/main" val="20005"/>
                    </a:ext>
                  </a:extLst>
                </a:gridCol>
                <a:gridCol w="870857">
                  <a:extLst>
                    <a:ext uri="{9D8B030D-6E8A-4147-A177-3AD203B41FA5}">
                      <a16:colId xmlns:a16="http://schemas.microsoft.com/office/drawing/2014/main" val="20006"/>
                    </a:ext>
                  </a:extLst>
                </a:gridCol>
              </a:tblGrid>
              <a:tr h="370840">
                <a:tc>
                  <a:txBody>
                    <a:bodyPr/>
                    <a:lstStyle/>
                    <a:p>
                      <a:pPr algn="ctr"/>
                      <a:r>
                        <a:rPr lang="en-US" dirty="0"/>
                        <a:t>tag</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tag</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data</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data</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r>
                        <a:rPr lang="en-US" b="0" dirty="0">
                          <a:latin typeface="+mn-lt"/>
                          <a:cs typeface="Calibri"/>
                        </a:rPr>
                        <a:t>● ● ●</a:t>
                      </a:r>
                      <a:endParaRPr lang="en-US" b="0"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r>
                        <a:rPr lang="en-US" b="0" dirty="0">
                          <a:latin typeface="+mn-lt"/>
                          <a:cs typeface="Calibri"/>
                        </a:rPr>
                        <a:t>● ● ●</a:t>
                      </a:r>
                      <a:endParaRPr lang="en-US" b="0"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2"/>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b="1"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b="1"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3"/>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4"/>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5"/>
                  </a:ext>
                </a:extLst>
              </a:tr>
            </a:tbl>
          </a:graphicData>
        </a:graphic>
      </p:graphicFrame>
      <p:sp>
        <p:nvSpPr>
          <p:cNvPr id="8" name="Trapezoid 7">
            <a:extLst>
              <a:ext uri="{FF2B5EF4-FFF2-40B4-BE49-F238E27FC236}">
                <a16:creationId xmlns:a16="http://schemas.microsoft.com/office/drawing/2014/main" id="{7D55239E-209F-495A-8B42-1E271C042D73}"/>
              </a:ext>
            </a:extLst>
          </p:cNvPr>
          <p:cNvSpPr/>
          <p:nvPr/>
        </p:nvSpPr>
        <p:spPr>
          <a:xfrm flipV="1">
            <a:off x="6477000" y="5464002"/>
            <a:ext cx="2514600" cy="365760"/>
          </a:xfrm>
          <a:prstGeom prst="trapezoid">
            <a:avLst>
              <a:gd name="adj" fmla="val 86212"/>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BEEB579-362A-4A16-AE30-59E1934ACA39}"/>
              </a:ext>
            </a:extLst>
          </p:cNvPr>
          <p:cNvSpPr/>
          <p:nvPr/>
        </p:nvSpPr>
        <p:spPr>
          <a:xfrm>
            <a:off x="4617720" y="5311602"/>
            <a:ext cx="411480" cy="41148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a:t>
            </a:r>
          </a:p>
        </p:txBody>
      </p:sp>
      <p:cxnSp>
        <p:nvCxnSpPr>
          <p:cNvPr id="10" name="Straight Arrow Connector 9">
            <a:extLst>
              <a:ext uri="{FF2B5EF4-FFF2-40B4-BE49-F238E27FC236}">
                <a16:creationId xmlns:a16="http://schemas.microsoft.com/office/drawing/2014/main" id="{A894139C-8958-40DA-96C5-7E7E1362CDE8}"/>
              </a:ext>
            </a:extLst>
          </p:cNvPr>
          <p:cNvCxnSpPr/>
          <p:nvPr/>
        </p:nvCxnSpPr>
        <p:spPr>
          <a:xfrm>
            <a:off x="5029200" y="5540202"/>
            <a:ext cx="146304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C44F9E8-ABB5-4920-A616-85AF243C4DC1}"/>
              </a:ext>
            </a:extLst>
          </p:cNvPr>
          <p:cNvCxnSpPr/>
          <p:nvPr/>
        </p:nvCxnSpPr>
        <p:spPr>
          <a:xfrm rot="5400000">
            <a:off x="4251960" y="4705574"/>
            <a:ext cx="109728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C49A967-7F07-4B1E-B62B-888B49868097}"/>
              </a:ext>
            </a:extLst>
          </p:cNvPr>
          <p:cNvCxnSpPr/>
          <p:nvPr/>
        </p:nvCxnSpPr>
        <p:spPr>
          <a:xfrm rot="5400000">
            <a:off x="7970520" y="4797014"/>
            <a:ext cx="128016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5C35EAF-D1F2-4395-9584-B890290FB6C0}"/>
              </a:ext>
            </a:extLst>
          </p:cNvPr>
          <p:cNvCxnSpPr/>
          <p:nvPr/>
        </p:nvCxnSpPr>
        <p:spPr>
          <a:xfrm rot="5400000">
            <a:off x="7559040" y="5966922"/>
            <a:ext cx="27432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94DC620-9FB7-455C-A54B-B17860249AC7}"/>
              </a:ext>
            </a:extLst>
          </p:cNvPr>
          <p:cNvCxnSpPr/>
          <p:nvPr/>
        </p:nvCxnSpPr>
        <p:spPr>
          <a:xfrm>
            <a:off x="4648200" y="4141694"/>
            <a:ext cx="164592"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17CC8B1-6719-4FF5-BC73-524EACF45DF9}"/>
              </a:ext>
            </a:extLst>
          </p:cNvPr>
          <p:cNvCxnSpPr/>
          <p:nvPr/>
        </p:nvCxnSpPr>
        <p:spPr>
          <a:xfrm>
            <a:off x="8458200" y="4141694"/>
            <a:ext cx="164592"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45E07A49-B957-459E-82B7-6E8E8DBCDFC0}"/>
              </a:ext>
            </a:extLst>
          </p:cNvPr>
          <p:cNvSpPr txBox="1"/>
          <p:nvPr/>
        </p:nvSpPr>
        <p:spPr>
          <a:xfrm>
            <a:off x="2514600" y="2465295"/>
            <a:ext cx="990600" cy="369332"/>
          </a:xfrm>
          <a:prstGeom prst="rect">
            <a:avLst/>
          </a:prstGeom>
          <a:noFill/>
        </p:spPr>
        <p:txBody>
          <a:bodyPr wrap="square" rtlCol="0" anchor="ctr">
            <a:spAutoFit/>
          </a:bodyPr>
          <a:lstStyle/>
          <a:p>
            <a:pPr algn="ctr"/>
            <a:r>
              <a:rPr lang="en-US" sz="1800" dirty="0">
                <a:latin typeface="+mn-lt"/>
              </a:rPr>
              <a:t>way 0</a:t>
            </a:r>
          </a:p>
        </p:txBody>
      </p:sp>
      <p:sp>
        <p:nvSpPr>
          <p:cNvPr id="17" name="TextBox 16">
            <a:extLst>
              <a:ext uri="{FF2B5EF4-FFF2-40B4-BE49-F238E27FC236}">
                <a16:creationId xmlns:a16="http://schemas.microsoft.com/office/drawing/2014/main" id="{6341C48D-44BD-475B-B436-7456F73B4146}"/>
              </a:ext>
            </a:extLst>
          </p:cNvPr>
          <p:cNvSpPr txBox="1"/>
          <p:nvPr/>
        </p:nvSpPr>
        <p:spPr>
          <a:xfrm>
            <a:off x="3886200" y="2465295"/>
            <a:ext cx="990600" cy="369332"/>
          </a:xfrm>
          <a:prstGeom prst="rect">
            <a:avLst/>
          </a:prstGeom>
          <a:noFill/>
        </p:spPr>
        <p:txBody>
          <a:bodyPr wrap="square" rtlCol="0" anchor="ctr">
            <a:spAutoFit/>
          </a:bodyPr>
          <a:lstStyle/>
          <a:p>
            <a:pPr algn="ctr"/>
            <a:r>
              <a:rPr lang="en-US" sz="1800" dirty="0">
                <a:latin typeface="+mn-lt"/>
              </a:rPr>
              <a:t>way N-1</a:t>
            </a:r>
          </a:p>
        </p:txBody>
      </p:sp>
      <p:sp>
        <p:nvSpPr>
          <p:cNvPr id="18" name="TextBox 17">
            <a:extLst>
              <a:ext uri="{FF2B5EF4-FFF2-40B4-BE49-F238E27FC236}">
                <a16:creationId xmlns:a16="http://schemas.microsoft.com/office/drawing/2014/main" id="{BE5298D5-D95E-4743-BC73-CC3671367998}"/>
              </a:ext>
            </a:extLst>
          </p:cNvPr>
          <p:cNvSpPr txBox="1"/>
          <p:nvPr/>
        </p:nvSpPr>
        <p:spPr>
          <a:xfrm>
            <a:off x="5791200" y="2465295"/>
            <a:ext cx="990600" cy="369332"/>
          </a:xfrm>
          <a:prstGeom prst="rect">
            <a:avLst/>
          </a:prstGeom>
          <a:noFill/>
        </p:spPr>
        <p:txBody>
          <a:bodyPr wrap="square" rtlCol="0" anchor="ctr">
            <a:spAutoFit/>
          </a:bodyPr>
          <a:lstStyle/>
          <a:p>
            <a:pPr algn="ctr"/>
            <a:r>
              <a:rPr lang="en-US" sz="1800" dirty="0">
                <a:latin typeface="+mn-lt"/>
              </a:rPr>
              <a:t>way 0</a:t>
            </a:r>
          </a:p>
        </p:txBody>
      </p:sp>
      <p:sp>
        <p:nvSpPr>
          <p:cNvPr id="19" name="TextBox 18">
            <a:extLst>
              <a:ext uri="{FF2B5EF4-FFF2-40B4-BE49-F238E27FC236}">
                <a16:creationId xmlns:a16="http://schemas.microsoft.com/office/drawing/2014/main" id="{AB795696-7743-4BEA-8FE2-36D4269F3825}"/>
              </a:ext>
            </a:extLst>
          </p:cNvPr>
          <p:cNvSpPr txBox="1"/>
          <p:nvPr/>
        </p:nvSpPr>
        <p:spPr>
          <a:xfrm>
            <a:off x="7543800" y="2465295"/>
            <a:ext cx="990600" cy="369332"/>
          </a:xfrm>
          <a:prstGeom prst="rect">
            <a:avLst/>
          </a:prstGeom>
          <a:noFill/>
        </p:spPr>
        <p:txBody>
          <a:bodyPr wrap="square" rtlCol="0" anchor="ctr">
            <a:spAutoFit/>
          </a:bodyPr>
          <a:lstStyle/>
          <a:p>
            <a:pPr algn="ctr"/>
            <a:r>
              <a:rPr lang="en-US" sz="1800" dirty="0">
                <a:latin typeface="+mn-lt"/>
              </a:rPr>
              <a:t>way N-1</a:t>
            </a:r>
          </a:p>
        </p:txBody>
      </p:sp>
      <p:sp>
        <p:nvSpPr>
          <p:cNvPr id="20" name="TextBox 19">
            <a:extLst>
              <a:ext uri="{FF2B5EF4-FFF2-40B4-BE49-F238E27FC236}">
                <a16:creationId xmlns:a16="http://schemas.microsoft.com/office/drawing/2014/main" id="{AE44DC6D-E8F7-4AD8-B663-AB8F1ACC712A}"/>
              </a:ext>
            </a:extLst>
          </p:cNvPr>
          <p:cNvSpPr txBox="1"/>
          <p:nvPr/>
        </p:nvSpPr>
        <p:spPr>
          <a:xfrm>
            <a:off x="4736352" y="5211499"/>
            <a:ext cx="1066800" cy="369332"/>
          </a:xfrm>
          <a:prstGeom prst="rect">
            <a:avLst/>
          </a:prstGeom>
          <a:noFill/>
        </p:spPr>
        <p:txBody>
          <a:bodyPr wrap="square" rtlCol="0" anchor="ctr">
            <a:spAutoFit/>
          </a:bodyPr>
          <a:lstStyle/>
          <a:p>
            <a:pPr algn="ctr"/>
            <a:r>
              <a:rPr lang="en-US" sz="1800" b="1" dirty="0">
                <a:latin typeface="+mn-lt"/>
              </a:rPr>
              <a:t>HIT?</a:t>
            </a:r>
          </a:p>
        </p:txBody>
      </p:sp>
      <p:sp>
        <p:nvSpPr>
          <p:cNvPr id="22" name="TextBox 21">
            <a:extLst>
              <a:ext uri="{FF2B5EF4-FFF2-40B4-BE49-F238E27FC236}">
                <a16:creationId xmlns:a16="http://schemas.microsoft.com/office/drawing/2014/main" id="{128C01E9-6765-4A72-B779-3980D3EC081A}"/>
              </a:ext>
            </a:extLst>
          </p:cNvPr>
          <p:cNvSpPr txBox="1"/>
          <p:nvPr/>
        </p:nvSpPr>
        <p:spPr>
          <a:xfrm>
            <a:off x="1143000" y="3886186"/>
            <a:ext cx="1066800" cy="560308"/>
          </a:xfrm>
          <a:prstGeom prst="rect">
            <a:avLst/>
          </a:prstGeom>
          <a:solidFill>
            <a:schemeClr val="accent6">
              <a:lumMod val="60000"/>
              <a:lumOff val="40000"/>
            </a:schemeClr>
          </a:solidFill>
          <a:ln w="25400">
            <a:solidFill>
              <a:schemeClr val="tx1"/>
            </a:solidFill>
          </a:ln>
        </p:spPr>
        <p:txBody>
          <a:bodyPr wrap="square" rtlCol="0" anchor="ctr">
            <a:noAutofit/>
          </a:bodyPr>
          <a:lstStyle/>
          <a:p>
            <a:pPr algn="ctr"/>
            <a:r>
              <a:rPr lang="en-US" sz="1800" b="1" dirty="0">
                <a:latin typeface="+mn-lt"/>
              </a:rPr>
              <a:t>hash function</a:t>
            </a:r>
          </a:p>
        </p:txBody>
      </p:sp>
      <p:cxnSp>
        <p:nvCxnSpPr>
          <p:cNvPr id="23" name="Straight Arrow Connector 22">
            <a:extLst>
              <a:ext uri="{FF2B5EF4-FFF2-40B4-BE49-F238E27FC236}">
                <a16:creationId xmlns:a16="http://schemas.microsoft.com/office/drawing/2014/main" id="{EF20B0A6-5147-4BF4-B83F-D6A1A3CBAA4C}"/>
              </a:ext>
            </a:extLst>
          </p:cNvPr>
          <p:cNvCxnSpPr/>
          <p:nvPr/>
        </p:nvCxnSpPr>
        <p:spPr>
          <a:xfrm flipV="1">
            <a:off x="914399" y="2209800"/>
            <a:ext cx="1" cy="329184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AFD8470-1C89-4B1B-8891-D34FEADA59A1}"/>
              </a:ext>
            </a:extLst>
          </p:cNvPr>
          <p:cNvCxnSpPr>
            <a:cxnSpLocks/>
          </p:cNvCxnSpPr>
          <p:nvPr/>
        </p:nvCxnSpPr>
        <p:spPr>
          <a:xfrm flipV="1">
            <a:off x="914399" y="5513294"/>
            <a:ext cx="3611881" cy="4048"/>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24CFF512-2322-4974-8FF9-EC78E1A189C5}"/>
              </a:ext>
            </a:extLst>
          </p:cNvPr>
          <p:cNvCxnSpPr/>
          <p:nvPr/>
        </p:nvCxnSpPr>
        <p:spPr>
          <a:xfrm rot="5400000">
            <a:off x="853439" y="2804160"/>
            <a:ext cx="210312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DB65478-A7FD-4752-B35A-FE15BADCBA16}"/>
              </a:ext>
            </a:extLst>
          </p:cNvPr>
          <p:cNvSpPr txBox="1"/>
          <p:nvPr/>
        </p:nvSpPr>
        <p:spPr>
          <a:xfrm>
            <a:off x="7162800" y="6058363"/>
            <a:ext cx="1066800" cy="369332"/>
          </a:xfrm>
          <a:prstGeom prst="rect">
            <a:avLst/>
          </a:prstGeom>
          <a:noFill/>
        </p:spPr>
        <p:txBody>
          <a:bodyPr wrap="square" rtlCol="0" anchor="ctr">
            <a:spAutoFit/>
          </a:bodyPr>
          <a:lstStyle/>
          <a:p>
            <a:pPr algn="ctr"/>
            <a:r>
              <a:rPr lang="en-US" sz="1800" b="1" dirty="0">
                <a:solidFill>
                  <a:schemeClr val="accent2">
                    <a:lumMod val="75000"/>
                  </a:schemeClr>
                </a:solidFill>
                <a:latin typeface="+mn-lt"/>
              </a:rPr>
              <a:t>data</a:t>
            </a:r>
          </a:p>
        </p:txBody>
      </p:sp>
      <p:sp>
        <p:nvSpPr>
          <p:cNvPr id="28" name="TextBox 27">
            <a:extLst>
              <a:ext uri="{FF2B5EF4-FFF2-40B4-BE49-F238E27FC236}">
                <a16:creationId xmlns:a16="http://schemas.microsoft.com/office/drawing/2014/main" id="{8071B42F-939D-4840-ADF4-38EEF9D46DCE}"/>
              </a:ext>
            </a:extLst>
          </p:cNvPr>
          <p:cNvSpPr txBox="1"/>
          <p:nvPr/>
        </p:nvSpPr>
        <p:spPr>
          <a:xfrm>
            <a:off x="609600" y="5132295"/>
            <a:ext cx="1066800" cy="369332"/>
          </a:xfrm>
          <a:prstGeom prst="rect">
            <a:avLst/>
          </a:prstGeom>
          <a:noFill/>
        </p:spPr>
        <p:txBody>
          <a:bodyPr wrap="square" rtlCol="0" anchor="ctr">
            <a:spAutoFit/>
          </a:bodyPr>
          <a:lstStyle/>
          <a:p>
            <a:pPr algn="ctr"/>
            <a:r>
              <a:rPr lang="en-US" sz="1800" dirty="0">
                <a:latin typeface="+mn-lt"/>
              </a:rPr>
              <a:t>tag</a:t>
            </a:r>
          </a:p>
        </p:txBody>
      </p:sp>
      <p:sp>
        <p:nvSpPr>
          <p:cNvPr id="29" name="TextBox 28">
            <a:extLst>
              <a:ext uri="{FF2B5EF4-FFF2-40B4-BE49-F238E27FC236}">
                <a16:creationId xmlns:a16="http://schemas.microsoft.com/office/drawing/2014/main" id="{AB906976-B199-4CE3-A6BE-841BAF2729FA}"/>
              </a:ext>
            </a:extLst>
          </p:cNvPr>
          <p:cNvSpPr txBox="1"/>
          <p:nvPr/>
        </p:nvSpPr>
        <p:spPr>
          <a:xfrm>
            <a:off x="1935149" y="3797008"/>
            <a:ext cx="1066800" cy="369332"/>
          </a:xfrm>
          <a:prstGeom prst="rect">
            <a:avLst/>
          </a:prstGeom>
          <a:noFill/>
        </p:spPr>
        <p:txBody>
          <a:bodyPr wrap="square" rtlCol="0" anchor="ctr">
            <a:spAutoFit/>
          </a:bodyPr>
          <a:lstStyle/>
          <a:p>
            <a:pPr algn="ctr"/>
            <a:r>
              <a:rPr lang="en-US" sz="1800" dirty="0">
                <a:latin typeface="+mn-lt"/>
              </a:rPr>
              <a:t>set</a:t>
            </a:r>
          </a:p>
        </p:txBody>
      </p:sp>
      <p:graphicFrame>
        <p:nvGraphicFramePr>
          <p:cNvPr id="30" name="Table 29">
            <a:extLst>
              <a:ext uri="{FF2B5EF4-FFF2-40B4-BE49-F238E27FC236}">
                <a16:creationId xmlns:a16="http://schemas.microsoft.com/office/drawing/2014/main" id="{03723D23-00D9-4EEE-BCFC-EA0193BA23DB}"/>
              </a:ext>
            </a:extLst>
          </p:cNvPr>
          <p:cNvGraphicFramePr>
            <a:graphicFrameLocks noGrp="1"/>
          </p:cNvGraphicFramePr>
          <p:nvPr>
            <p:extLst>
              <p:ext uri="{D42A27DB-BD31-4B8C-83A1-F6EECF244321}">
                <p14:modId xmlns:p14="http://schemas.microsoft.com/office/powerpoint/2010/main" val="151926768"/>
              </p:ext>
            </p:extLst>
          </p:nvPr>
        </p:nvGraphicFramePr>
        <p:xfrm>
          <a:off x="0" y="2981960"/>
          <a:ext cx="1752600" cy="37084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20000"/>
                    </a:ext>
                  </a:extLst>
                </a:gridCol>
              </a:tblGrid>
              <a:tr h="370840">
                <a:tc>
                  <a:txBody>
                    <a:bodyPr/>
                    <a:lstStyle/>
                    <a:p>
                      <a:pPr algn="ctr"/>
                      <a:r>
                        <a:rPr lang="en-US" b="0" dirty="0">
                          <a:solidFill>
                            <a:schemeClr val="tx1"/>
                          </a:solidFill>
                        </a:rPr>
                        <a:t>physical address</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graphicFrame>
        <p:nvGraphicFramePr>
          <p:cNvPr id="32" name="Table 31">
            <a:extLst>
              <a:ext uri="{FF2B5EF4-FFF2-40B4-BE49-F238E27FC236}">
                <a16:creationId xmlns:a16="http://schemas.microsoft.com/office/drawing/2014/main" id="{F23C14DF-2EAA-4013-8058-C620D1404765}"/>
              </a:ext>
            </a:extLst>
          </p:cNvPr>
          <p:cNvGraphicFramePr>
            <a:graphicFrameLocks noGrp="1"/>
          </p:cNvGraphicFramePr>
          <p:nvPr>
            <p:extLst>
              <p:ext uri="{D42A27DB-BD31-4B8C-83A1-F6EECF244321}">
                <p14:modId xmlns:p14="http://schemas.microsoft.com/office/powerpoint/2010/main" val="1795088941"/>
              </p:ext>
            </p:extLst>
          </p:nvPr>
        </p:nvGraphicFramePr>
        <p:xfrm>
          <a:off x="609600" y="1446756"/>
          <a:ext cx="1752600" cy="37084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20000"/>
                    </a:ext>
                  </a:extLst>
                </a:gridCol>
              </a:tblGrid>
              <a:tr h="370840">
                <a:tc>
                  <a:txBody>
                    <a:bodyPr/>
                    <a:lstStyle/>
                    <a:p>
                      <a:pPr algn="ctr"/>
                      <a:r>
                        <a:rPr lang="en-US" b="0" dirty="0">
                          <a:solidFill>
                            <a:schemeClr val="tx1"/>
                          </a:solidFill>
                        </a:rPr>
                        <a:t>virtual address</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
        <p:nvSpPr>
          <p:cNvPr id="31" name="TextBox 30">
            <a:extLst>
              <a:ext uri="{FF2B5EF4-FFF2-40B4-BE49-F238E27FC236}">
                <a16:creationId xmlns:a16="http://schemas.microsoft.com/office/drawing/2014/main" id="{A6E0AC77-6FA5-4A38-BA23-4AF4C8C29695}"/>
              </a:ext>
            </a:extLst>
          </p:cNvPr>
          <p:cNvSpPr txBox="1"/>
          <p:nvPr/>
        </p:nvSpPr>
        <p:spPr>
          <a:xfrm>
            <a:off x="1828800" y="2055926"/>
            <a:ext cx="4114800" cy="458674"/>
          </a:xfrm>
          <a:prstGeom prst="rect">
            <a:avLst/>
          </a:prstGeom>
          <a:noFill/>
        </p:spPr>
        <p:txBody>
          <a:bodyPr wrap="square" rtlCol="0" anchor="ctr">
            <a:noAutofit/>
          </a:bodyPr>
          <a:lstStyle/>
          <a:p>
            <a:pPr algn="ctr"/>
            <a:r>
              <a:rPr lang="en-US" sz="1800" b="1" dirty="0">
                <a:solidFill>
                  <a:schemeClr val="accent6">
                    <a:lumMod val="75000"/>
                  </a:schemeClr>
                </a:solidFill>
                <a:latin typeface="+mn-lt"/>
              </a:rPr>
              <a:t>cache indexing in parallel to TLB lookup</a:t>
            </a:r>
          </a:p>
        </p:txBody>
      </p:sp>
      <p:cxnSp>
        <p:nvCxnSpPr>
          <p:cNvPr id="33" name="Straight Connector 32">
            <a:extLst>
              <a:ext uri="{FF2B5EF4-FFF2-40B4-BE49-F238E27FC236}">
                <a16:creationId xmlns:a16="http://schemas.microsoft.com/office/drawing/2014/main" id="{8C4B17F9-9179-438D-B97A-7AAB8EC63236}"/>
              </a:ext>
            </a:extLst>
          </p:cNvPr>
          <p:cNvCxnSpPr>
            <a:cxnSpLocks/>
          </p:cNvCxnSpPr>
          <p:nvPr/>
        </p:nvCxnSpPr>
        <p:spPr>
          <a:xfrm flipH="1">
            <a:off x="2054074" y="2400945"/>
            <a:ext cx="765324" cy="1688746"/>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A9685004-693B-4C24-963D-004D52386439}"/>
              </a:ext>
            </a:extLst>
          </p:cNvPr>
          <p:cNvSpPr txBox="1"/>
          <p:nvPr/>
        </p:nvSpPr>
        <p:spPr>
          <a:xfrm>
            <a:off x="2415542" y="1143000"/>
            <a:ext cx="6042658" cy="834879"/>
          </a:xfrm>
          <a:prstGeom prst="rect">
            <a:avLst/>
          </a:prstGeom>
          <a:noFill/>
        </p:spPr>
        <p:txBody>
          <a:bodyPr wrap="square" rtlCol="0" anchor="ctr">
            <a:noAutofit/>
          </a:bodyPr>
          <a:lstStyle/>
          <a:p>
            <a:pPr algn="ctr"/>
            <a:r>
              <a:rPr lang="en-US" sz="1800" b="1" i="1" dirty="0">
                <a:solidFill>
                  <a:schemeClr val="accent6">
                    <a:lumMod val="75000"/>
                  </a:schemeClr>
                </a:solidFill>
                <a:latin typeface="+mn-lt"/>
              </a:rPr>
              <a:t>Synonyms</a:t>
            </a:r>
            <a:r>
              <a:rPr lang="en-US" sz="1800" b="1" dirty="0">
                <a:solidFill>
                  <a:schemeClr val="accent6">
                    <a:lumMod val="75000"/>
                  </a:schemeClr>
                </a:solidFill>
                <a:latin typeface="+mn-lt"/>
              </a:rPr>
              <a:t>: different virtual address → same physical address?</a:t>
            </a:r>
          </a:p>
        </p:txBody>
      </p:sp>
      <p:sp>
        <p:nvSpPr>
          <p:cNvPr id="2" name="TextBox 1">
            <a:extLst>
              <a:ext uri="{FF2B5EF4-FFF2-40B4-BE49-F238E27FC236}">
                <a16:creationId xmlns:a16="http://schemas.microsoft.com/office/drawing/2014/main" id="{5E93B69A-D18D-EA60-13E3-E07632FA1C4D}"/>
              </a:ext>
            </a:extLst>
          </p:cNvPr>
          <p:cNvSpPr txBox="1"/>
          <p:nvPr/>
        </p:nvSpPr>
        <p:spPr>
          <a:xfrm>
            <a:off x="152400" y="2151698"/>
            <a:ext cx="1520674" cy="560308"/>
          </a:xfrm>
          <a:prstGeom prst="rect">
            <a:avLst/>
          </a:prstGeom>
          <a:solidFill>
            <a:schemeClr val="accent6">
              <a:lumMod val="60000"/>
              <a:lumOff val="40000"/>
            </a:schemeClr>
          </a:solidFill>
          <a:ln w="25400">
            <a:solidFill>
              <a:schemeClr val="tx1"/>
            </a:solidFill>
          </a:ln>
        </p:spPr>
        <p:txBody>
          <a:bodyPr wrap="square" rtlCol="0" anchor="ctr">
            <a:noAutofit/>
          </a:bodyPr>
          <a:lstStyle/>
          <a:p>
            <a:pPr algn="ctr"/>
            <a:r>
              <a:rPr lang="en-US" sz="1800" b="1" dirty="0">
                <a:latin typeface="+mn-lt"/>
              </a:rPr>
              <a:t>TLB</a:t>
            </a:r>
          </a:p>
        </p:txBody>
      </p:sp>
      <p:cxnSp>
        <p:nvCxnSpPr>
          <p:cNvPr id="3" name="Straight Arrow Connector 2">
            <a:extLst>
              <a:ext uri="{FF2B5EF4-FFF2-40B4-BE49-F238E27FC236}">
                <a16:creationId xmlns:a16="http://schemas.microsoft.com/office/drawing/2014/main" id="{E39ED5B3-001D-C1CD-E79E-08252936B84A}"/>
              </a:ext>
            </a:extLst>
          </p:cNvPr>
          <p:cNvCxnSpPr/>
          <p:nvPr/>
        </p:nvCxnSpPr>
        <p:spPr>
          <a:xfrm rot="5400000">
            <a:off x="754379" y="1977616"/>
            <a:ext cx="32004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B99BC5A5-54B0-E757-895F-9442DFC46211}"/>
              </a:ext>
            </a:extLst>
          </p:cNvPr>
          <p:cNvCxnSpPr>
            <a:cxnSpLocks/>
          </p:cNvCxnSpPr>
          <p:nvPr/>
        </p:nvCxnSpPr>
        <p:spPr>
          <a:xfrm flipH="1">
            <a:off x="1580137" y="2400945"/>
            <a:ext cx="1007336" cy="185055"/>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755036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VIPT Cache – Synonyms</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6</a:t>
            </a:fld>
            <a:endParaRPr lang="en-US" altLang="en-US"/>
          </a:p>
        </p:txBody>
      </p:sp>
      <p:cxnSp>
        <p:nvCxnSpPr>
          <p:cNvPr id="6" name="Straight Arrow Connector 5">
            <a:extLst>
              <a:ext uri="{FF2B5EF4-FFF2-40B4-BE49-F238E27FC236}">
                <a16:creationId xmlns:a16="http://schemas.microsoft.com/office/drawing/2014/main" id="{C45BE81F-7E63-42E4-A768-6A2DBF6438D0}"/>
              </a:ext>
            </a:extLst>
          </p:cNvPr>
          <p:cNvCxnSpPr/>
          <p:nvPr/>
        </p:nvCxnSpPr>
        <p:spPr>
          <a:xfrm>
            <a:off x="1371600" y="4141694"/>
            <a:ext cx="1371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7" name="Table 6">
            <a:extLst>
              <a:ext uri="{FF2B5EF4-FFF2-40B4-BE49-F238E27FC236}">
                <a16:creationId xmlns:a16="http://schemas.microsoft.com/office/drawing/2014/main" id="{F013A05E-2BC7-4EE8-AE54-477FEED93E54}"/>
              </a:ext>
            </a:extLst>
          </p:cNvPr>
          <p:cNvGraphicFramePr>
            <a:graphicFrameLocks noGrp="1"/>
          </p:cNvGraphicFramePr>
          <p:nvPr>
            <p:extLst>
              <p:ext uri="{D42A27DB-BD31-4B8C-83A1-F6EECF244321}">
                <p14:modId xmlns:p14="http://schemas.microsoft.com/office/powerpoint/2010/main" val="2444855918"/>
              </p:ext>
            </p:extLst>
          </p:nvPr>
        </p:nvGraphicFramePr>
        <p:xfrm>
          <a:off x="2743200" y="2846294"/>
          <a:ext cx="5710645" cy="2225040"/>
        </p:xfrm>
        <a:graphic>
          <a:graphicData uri="http://schemas.openxmlformats.org/drawingml/2006/table">
            <a:tbl>
              <a:tblPr bandRow="1">
                <a:tableStyleId>{5C22544A-7EE6-4342-B048-85BDC9FD1C3A}</a:tableStyleId>
              </a:tblPr>
              <a:tblGrid>
                <a:gridCol w="5334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544286">
                  <a:extLst>
                    <a:ext uri="{9D8B030D-6E8A-4147-A177-3AD203B41FA5}">
                      <a16:colId xmlns:a16="http://schemas.microsoft.com/office/drawing/2014/main" val="20002"/>
                    </a:ext>
                  </a:extLst>
                </a:gridCol>
                <a:gridCol w="1197428">
                  <a:extLst>
                    <a:ext uri="{9D8B030D-6E8A-4147-A177-3AD203B41FA5}">
                      <a16:colId xmlns:a16="http://schemas.microsoft.com/office/drawing/2014/main" val="20003"/>
                    </a:ext>
                  </a:extLst>
                </a:gridCol>
                <a:gridCol w="870857">
                  <a:extLst>
                    <a:ext uri="{9D8B030D-6E8A-4147-A177-3AD203B41FA5}">
                      <a16:colId xmlns:a16="http://schemas.microsoft.com/office/drawing/2014/main" val="20004"/>
                    </a:ext>
                  </a:extLst>
                </a:gridCol>
                <a:gridCol w="870857">
                  <a:extLst>
                    <a:ext uri="{9D8B030D-6E8A-4147-A177-3AD203B41FA5}">
                      <a16:colId xmlns:a16="http://schemas.microsoft.com/office/drawing/2014/main" val="20005"/>
                    </a:ext>
                  </a:extLst>
                </a:gridCol>
                <a:gridCol w="870857">
                  <a:extLst>
                    <a:ext uri="{9D8B030D-6E8A-4147-A177-3AD203B41FA5}">
                      <a16:colId xmlns:a16="http://schemas.microsoft.com/office/drawing/2014/main" val="20006"/>
                    </a:ext>
                  </a:extLst>
                </a:gridCol>
              </a:tblGrid>
              <a:tr h="370840">
                <a:tc>
                  <a:txBody>
                    <a:bodyPr/>
                    <a:lstStyle/>
                    <a:p>
                      <a:pPr algn="ctr"/>
                      <a:r>
                        <a:rPr lang="en-US" dirty="0"/>
                        <a:t>tag</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tag</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data</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data</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r>
                        <a:rPr lang="en-US" b="0" dirty="0">
                          <a:latin typeface="+mn-lt"/>
                          <a:cs typeface="Calibri"/>
                        </a:rPr>
                        <a:t>● ● ●</a:t>
                      </a:r>
                      <a:endParaRPr lang="en-US" b="0"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r>
                        <a:rPr lang="en-US" b="0" dirty="0">
                          <a:latin typeface="+mn-lt"/>
                          <a:cs typeface="Calibri"/>
                        </a:rPr>
                        <a:t>● ● ●</a:t>
                      </a:r>
                      <a:endParaRPr lang="en-US" b="0"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2"/>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accent6">
                        <a:lumMod val="60000"/>
                        <a:lumOff val="40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ctr"/>
                      <a:endParaRPr lang="en-US" b="1"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accent6">
                        <a:lumMod val="60000"/>
                        <a:lumOff val="40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b="1"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3"/>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4"/>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5"/>
                  </a:ext>
                </a:extLst>
              </a:tr>
            </a:tbl>
          </a:graphicData>
        </a:graphic>
      </p:graphicFrame>
      <p:sp>
        <p:nvSpPr>
          <p:cNvPr id="8" name="Trapezoid 7">
            <a:extLst>
              <a:ext uri="{FF2B5EF4-FFF2-40B4-BE49-F238E27FC236}">
                <a16:creationId xmlns:a16="http://schemas.microsoft.com/office/drawing/2014/main" id="{7D55239E-209F-495A-8B42-1E271C042D73}"/>
              </a:ext>
            </a:extLst>
          </p:cNvPr>
          <p:cNvSpPr/>
          <p:nvPr/>
        </p:nvSpPr>
        <p:spPr>
          <a:xfrm flipV="1">
            <a:off x="6477000" y="5464002"/>
            <a:ext cx="2514600" cy="365760"/>
          </a:xfrm>
          <a:prstGeom prst="trapezoid">
            <a:avLst>
              <a:gd name="adj" fmla="val 86212"/>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BEEB579-362A-4A16-AE30-59E1934ACA39}"/>
              </a:ext>
            </a:extLst>
          </p:cNvPr>
          <p:cNvSpPr/>
          <p:nvPr/>
        </p:nvSpPr>
        <p:spPr>
          <a:xfrm>
            <a:off x="4617720" y="5311602"/>
            <a:ext cx="411480" cy="41148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a:t>
            </a:r>
          </a:p>
        </p:txBody>
      </p:sp>
      <p:cxnSp>
        <p:nvCxnSpPr>
          <p:cNvPr id="10" name="Straight Arrow Connector 9">
            <a:extLst>
              <a:ext uri="{FF2B5EF4-FFF2-40B4-BE49-F238E27FC236}">
                <a16:creationId xmlns:a16="http://schemas.microsoft.com/office/drawing/2014/main" id="{A894139C-8958-40DA-96C5-7E7E1362CDE8}"/>
              </a:ext>
            </a:extLst>
          </p:cNvPr>
          <p:cNvCxnSpPr/>
          <p:nvPr/>
        </p:nvCxnSpPr>
        <p:spPr>
          <a:xfrm>
            <a:off x="5029200" y="5540202"/>
            <a:ext cx="146304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C44F9E8-ABB5-4920-A616-85AF243C4DC1}"/>
              </a:ext>
            </a:extLst>
          </p:cNvPr>
          <p:cNvCxnSpPr/>
          <p:nvPr/>
        </p:nvCxnSpPr>
        <p:spPr>
          <a:xfrm rot="5400000">
            <a:off x="4251960" y="4705574"/>
            <a:ext cx="109728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C49A967-7F07-4B1E-B62B-888B49868097}"/>
              </a:ext>
            </a:extLst>
          </p:cNvPr>
          <p:cNvCxnSpPr/>
          <p:nvPr/>
        </p:nvCxnSpPr>
        <p:spPr>
          <a:xfrm rot="5400000">
            <a:off x="7970520" y="4797014"/>
            <a:ext cx="128016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5C35EAF-D1F2-4395-9584-B890290FB6C0}"/>
              </a:ext>
            </a:extLst>
          </p:cNvPr>
          <p:cNvCxnSpPr/>
          <p:nvPr/>
        </p:nvCxnSpPr>
        <p:spPr>
          <a:xfrm rot="5400000">
            <a:off x="7559040" y="5966922"/>
            <a:ext cx="27432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94DC620-9FB7-455C-A54B-B17860249AC7}"/>
              </a:ext>
            </a:extLst>
          </p:cNvPr>
          <p:cNvCxnSpPr/>
          <p:nvPr/>
        </p:nvCxnSpPr>
        <p:spPr>
          <a:xfrm>
            <a:off x="4648200" y="4141694"/>
            <a:ext cx="164592"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17CC8B1-6719-4FF5-BC73-524EACF45DF9}"/>
              </a:ext>
            </a:extLst>
          </p:cNvPr>
          <p:cNvCxnSpPr/>
          <p:nvPr/>
        </p:nvCxnSpPr>
        <p:spPr>
          <a:xfrm>
            <a:off x="8458200" y="4141694"/>
            <a:ext cx="164592"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45E07A49-B957-459E-82B7-6E8E8DBCDFC0}"/>
              </a:ext>
            </a:extLst>
          </p:cNvPr>
          <p:cNvSpPr txBox="1"/>
          <p:nvPr/>
        </p:nvSpPr>
        <p:spPr>
          <a:xfrm>
            <a:off x="2514600" y="2465295"/>
            <a:ext cx="990600" cy="369332"/>
          </a:xfrm>
          <a:prstGeom prst="rect">
            <a:avLst/>
          </a:prstGeom>
          <a:noFill/>
        </p:spPr>
        <p:txBody>
          <a:bodyPr wrap="square" rtlCol="0" anchor="ctr">
            <a:spAutoFit/>
          </a:bodyPr>
          <a:lstStyle/>
          <a:p>
            <a:pPr algn="ctr"/>
            <a:r>
              <a:rPr lang="en-US" sz="1800" dirty="0">
                <a:latin typeface="+mn-lt"/>
              </a:rPr>
              <a:t>way 0</a:t>
            </a:r>
          </a:p>
        </p:txBody>
      </p:sp>
      <p:sp>
        <p:nvSpPr>
          <p:cNvPr id="17" name="TextBox 16">
            <a:extLst>
              <a:ext uri="{FF2B5EF4-FFF2-40B4-BE49-F238E27FC236}">
                <a16:creationId xmlns:a16="http://schemas.microsoft.com/office/drawing/2014/main" id="{6341C48D-44BD-475B-B436-7456F73B4146}"/>
              </a:ext>
            </a:extLst>
          </p:cNvPr>
          <p:cNvSpPr txBox="1"/>
          <p:nvPr/>
        </p:nvSpPr>
        <p:spPr>
          <a:xfrm>
            <a:off x="3886200" y="2465295"/>
            <a:ext cx="990600" cy="369332"/>
          </a:xfrm>
          <a:prstGeom prst="rect">
            <a:avLst/>
          </a:prstGeom>
          <a:noFill/>
        </p:spPr>
        <p:txBody>
          <a:bodyPr wrap="square" rtlCol="0" anchor="ctr">
            <a:spAutoFit/>
          </a:bodyPr>
          <a:lstStyle/>
          <a:p>
            <a:pPr algn="ctr"/>
            <a:r>
              <a:rPr lang="en-US" sz="1800" dirty="0">
                <a:latin typeface="+mn-lt"/>
              </a:rPr>
              <a:t>way N-1</a:t>
            </a:r>
          </a:p>
        </p:txBody>
      </p:sp>
      <p:sp>
        <p:nvSpPr>
          <p:cNvPr id="18" name="TextBox 17">
            <a:extLst>
              <a:ext uri="{FF2B5EF4-FFF2-40B4-BE49-F238E27FC236}">
                <a16:creationId xmlns:a16="http://schemas.microsoft.com/office/drawing/2014/main" id="{BE5298D5-D95E-4743-BC73-CC3671367998}"/>
              </a:ext>
            </a:extLst>
          </p:cNvPr>
          <p:cNvSpPr txBox="1"/>
          <p:nvPr/>
        </p:nvSpPr>
        <p:spPr>
          <a:xfrm>
            <a:off x="5791200" y="2465295"/>
            <a:ext cx="990600" cy="369332"/>
          </a:xfrm>
          <a:prstGeom prst="rect">
            <a:avLst/>
          </a:prstGeom>
          <a:noFill/>
        </p:spPr>
        <p:txBody>
          <a:bodyPr wrap="square" rtlCol="0" anchor="ctr">
            <a:spAutoFit/>
          </a:bodyPr>
          <a:lstStyle/>
          <a:p>
            <a:pPr algn="ctr"/>
            <a:r>
              <a:rPr lang="en-US" sz="1800" dirty="0">
                <a:latin typeface="+mn-lt"/>
              </a:rPr>
              <a:t>way 0</a:t>
            </a:r>
          </a:p>
        </p:txBody>
      </p:sp>
      <p:sp>
        <p:nvSpPr>
          <p:cNvPr id="19" name="TextBox 18">
            <a:extLst>
              <a:ext uri="{FF2B5EF4-FFF2-40B4-BE49-F238E27FC236}">
                <a16:creationId xmlns:a16="http://schemas.microsoft.com/office/drawing/2014/main" id="{AB795696-7743-4BEA-8FE2-36D4269F3825}"/>
              </a:ext>
            </a:extLst>
          </p:cNvPr>
          <p:cNvSpPr txBox="1"/>
          <p:nvPr/>
        </p:nvSpPr>
        <p:spPr>
          <a:xfrm>
            <a:off x="7543800" y="2465295"/>
            <a:ext cx="990600" cy="369332"/>
          </a:xfrm>
          <a:prstGeom prst="rect">
            <a:avLst/>
          </a:prstGeom>
          <a:noFill/>
        </p:spPr>
        <p:txBody>
          <a:bodyPr wrap="square" rtlCol="0" anchor="ctr">
            <a:spAutoFit/>
          </a:bodyPr>
          <a:lstStyle/>
          <a:p>
            <a:pPr algn="ctr"/>
            <a:r>
              <a:rPr lang="en-US" sz="1800" dirty="0">
                <a:latin typeface="+mn-lt"/>
              </a:rPr>
              <a:t>way N-1</a:t>
            </a:r>
          </a:p>
        </p:txBody>
      </p:sp>
      <p:sp>
        <p:nvSpPr>
          <p:cNvPr id="20" name="TextBox 19">
            <a:extLst>
              <a:ext uri="{FF2B5EF4-FFF2-40B4-BE49-F238E27FC236}">
                <a16:creationId xmlns:a16="http://schemas.microsoft.com/office/drawing/2014/main" id="{AE44DC6D-E8F7-4AD8-B663-AB8F1ACC712A}"/>
              </a:ext>
            </a:extLst>
          </p:cNvPr>
          <p:cNvSpPr txBox="1"/>
          <p:nvPr/>
        </p:nvSpPr>
        <p:spPr>
          <a:xfrm>
            <a:off x="4736352" y="5211499"/>
            <a:ext cx="1066800" cy="369332"/>
          </a:xfrm>
          <a:prstGeom prst="rect">
            <a:avLst/>
          </a:prstGeom>
          <a:noFill/>
        </p:spPr>
        <p:txBody>
          <a:bodyPr wrap="square" rtlCol="0" anchor="ctr">
            <a:spAutoFit/>
          </a:bodyPr>
          <a:lstStyle/>
          <a:p>
            <a:pPr algn="ctr"/>
            <a:r>
              <a:rPr lang="en-US" sz="1800" b="1" dirty="0">
                <a:latin typeface="+mn-lt"/>
              </a:rPr>
              <a:t>HIT?</a:t>
            </a:r>
          </a:p>
        </p:txBody>
      </p:sp>
      <p:sp>
        <p:nvSpPr>
          <p:cNvPr id="22" name="TextBox 21">
            <a:extLst>
              <a:ext uri="{FF2B5EF4-FFF2-40B4-BE49-F238E27FC236}">
                <a16:creationId xmlns:a16="http://schemas.microsoft.com/office/drawing/2014/main" id="{128C01E9-6765-4A72-B779-3980D3EC081A}"/>
              </a:ext>
            </a:extLst>
          </p:cNvPr>
          <p:cNvSpPr txBox="1"/>
          <p:nvPr/>
        </p:nvSpPr>
        <p:spPr>
          <a:xfrm>
            <a:off x="1143000" y="3886186"/>
            <a:ext cx="1066800" cy="560308"/>
          </a:xfrm>
          <a:prstGeom prst="rect">
            <a:avLst/>
          </a:prstGeom>
          <a:solidFill>
            <a:schemeClr val="accent6">
              <a:lumMod val="60000"/>
              <a:lumOff val="40000"/>
            </a:schemeClr>
          </a:solidFill>
          <a:ln w="25400">
            <a:solidFill>
              <a:schemeClr val="tx1"/>
            </a:solidFill>
          </a:ln>
        </p:spPr>
        <p:txBody>
          <a:bodyPr wrap="square" rtlCol="0" anchor="ctr">
            <a:noAutofit/>
          </a:bodyPr>
          <a:lstStyle/>
          <a:p>
            <a:pPr algn="ctr"/>
            <a:r>
              <a:rPr lang="en-US" sz="1800" b="1" dirty="0">
                <a:latin typeface="+mn-lt"/>
              </a:rPr>
              <a:t>hash function</a:t>
            </a:r>
          </a:p>
        </p:txBody>
      </p:sp>
      <p:cxnSp>
        <p:nvCxnSpPr>
          <p:cNvPr id="23" name="Straight Arrow Connector 22">
            <a:extLst>
              <a:ext uri="{FF2B5EF4-FFF2-40B4-BE49-F238E27FC236}">
                <a16:creationId xmlns:a16="http://schemas.microsoft.com/office/drawing/2014/main" id="{EF20B0A6-5147-4BF4-B83F-D6A1A3CBAA4C}"/>
              </a:ext>
            </a:extLst>
          </p:cNvPr>
          <p:cNvCxnSpPr/>
          <p:nvPr/>
        </p:nvCxnSpPr>
        <p:spPr>
          <a:xfrm flipV="1">
            <a:off x="914399" y="2209800"/>
            <a:ext cx="1" cy="329184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AFD8470-1C89-4B1B-8891-D34FEADA59A1}"/>
              </a:ext>
            </a:extLst>
          </p:cNvPr>
          <p:cNvCxnSpPr>
            <a:cxnSpLocks/>
          </p:cNvCxnSpPr>
          <p:nvPr/>
        </p:nvCxnSpPr>
        <p:spPr>
          <a:xfrm flipV="1">
            <a:off x="914399" y="5513294"/>
            <a:ext cx="3611881" cy="4048"/>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24CFF512-2322-4974-8FF9-EC78E1A189C5}"/>
              </a:ext>
            </a:extLst>
          </p:cNvPr>
          <p:cNvCxnSpPr/>
          <p:nvPr/>
        </p:nvCxnSpPr>
        <p:spPr>
          <a:xfrm rot="5400000">
            <a:off x="853439" y="2804160"/>
            <a:ext cx="210312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DB65478-A7FD-4752-B35A-FE15BADCBA16}"/>
              </a:ext>
            </a:extLst>
          </p:cNvPr>
          <p:cNvSpPr txBox="1"/>
          <p:nvPr/>
        </p:nvSpPr>
        <p:spPr>
          <a:xfrm>
            <a:off x="7162800" y="6058363"/>
            <a:ext cx="1066800" cy="369332"/>
          </a:xfrm>
          <a:prstGeom prst="rect">
            <a:avLst/>
          </a:prstGeom>
          <a:noFill/>
        </p:spPr>
        <p:txBody>
          <a:bodyPr wrap="square" rtlCol="0" anchor="ctr">
            <a:spAutoFit/>
          </a:bodyPr>
          <a:lstStyle/>
          <a:p>
            <a:pPr algn="ctr"/>
            <a:r>
              <a:rPr lang="en-US" sz="1800" b="1" dirty="0">
                <a:solidFill>
                  <a:schemeClr val="accent2">
                    <a:lumMod val="75000"/>
                  </a:schemeClr>
                </a:solidFill>
                <a:latin typeface="+mn-lt"/>
              </a:rPr>
              <a:t>data</a:t>
            </a:r>
          </a:p>
        </p:txBody>
      </p:sp>
      <p:sp>
        <p:nvSpPr>
          <p:cNvPr id="28" name="TextBox 27">
            <a:extLst>
              <a:ext uri="{FF2B5EF4-FFF2-40B4-BE49-F238E27FC236}">
                <a16:creationId xmlns:a16="http://schemas.microsoft.com/office/drawing/2014/main" id="{8071B42F-939D-4840-ADF4-38EEF9D46DCE}"/>
              </a:ext>
            </a:extLst>
          </p:cNvPr>
          <p:cNvSpPr txBox="1"/>
          <p:nvPr/>
        </p:nvSpPr>
        <p:spPr>
          <a:xfrm>
            <a:off x="609600" y="5132295"/>
            <a:ext cx="1066800" cy="369332"/>
          </a:xfrm>
          <a:prstGeom prst="rect">
            <a:avLst/>
          </a:prstGeom>
          <a:noFill/>
        </p:spPr>
        <p:txBody>
          <a:bodyPr wrap="square" rtlCol="0" anchor="ctr">
            <a:spAutoFit/>
          </a:bodyPr>
          <a:lstStyle/>
          <a:p>
            <a:pPr algn="ctr"/>
            <a:r>
              <a:rPr lang="en-US" sz="1800" dirty="0">
                <a:latin typeface="+mn-lt"/>
              </a:rPr>
              <a:t>tag</a:t>
            </a:r>
          </a:p>
        </p:txBody>
      </p:sp>
      <p:sp>
        <p:nvSpPr>
          <p:cNvPr id="29" name="TextBox 28">
            <a:extLst>
              <a:ext uri="{FF2B5EF4-FFF2-40B4-BE49-F238E27FC236}">
                <a16:creationId xmlns:a16="http://schemas.microsoft.com/office/drawing/2014/main" id="{AB906976-B199-4CE3-A6BE-841BAF2729FA}"/>
              </a:ext>
            </a:extLst>
          </p:cNvPr>
          <p:cNvSpPr txBox="1"/>
          <p:nvPr/>
        </p:nvSpPr>
        <p:spPr>
          <a:xfrm>
            <a:off x="1935149" y="3797008"/>
            <a:ext cx="1066800" cy="369332"/>
          </a:xfrm>
          <a:prstGeom prst="rect">
            <a:avLst/>
          </a:prstGeom>
          <a:noFill/>
        </p:spPr>
        <p:txBody>
          <a:bodyPr wrap="square" rtlCol="0" anchor="ctr">
            <a:spAutoFit/>
          </a:bodyPr>
          <a:lstStyle/>
          <a:p>
            <a:pPr algn="ctr"/>
            <a:r>
              <a:rPr lang="en-US" sz="1800" dirty="0">
                <a:latin typeface="+mn-lt"/>
              </a:rPr>
              <a:t>set</a:t>
            </a:r>
          </a:p>
        </p:txBody>
      </p:sp>
      <p:sp>
        <p:nvSpPr>
          <p:cNvPr id="31" name="TextBox 30">
            <a:extLst>
              <a:ext uri="{FF2B5EF4-FFF2-40B4-BE49-F238E27FC236}">
                <a16:creationId xmlns:a16="http://schemas.microsoft.com/office/drawing/2014/main" id="{A6E0AC77-6FA5-4A38-BA23-4AF4C8C29695}"/>
              </a:ext>
            </a:extLst>
          </p:cNvPr>
          <p:cNvSpPr txBox="1"/>
          <p:nvPr/>
        </p:nvSpPr>
        <p:spPr>
          <a:xfrm>
            <a:off x="1470085" y="1731606"/>
            <a:ext cx="1174630" cy="458674"/>
          </a:xfrm>
          <a:prstGeom prst="rect">
            <a:avLst/>
          </a:prstGeom>
          <a:noFill/>
        </p:spPr>
        <p:txBody>
          <a:bodyPr wrap="square" rtlCol="0" anchor="ctr">
            <a:noAutofit/>
          </a:bodyPr>
          <a:lstStyle/>
          <a:p>
            <a:pPr algn="ctr"/>
            <a:r>
              <a:rPr lang="en-US" sz="1800" b="1" dirty="0">
                <a:solidFill>
                  <a:schemeClr val="accent6">
                    <a:lumMod val="75000"/>
                  </a:schemeClr>
                </a:solidFill>
                <a:latin typeface="+mn-lt"/>
              </a:rPr>
              <a:t>V</a:t>
            </a:r>
            <a:r>
              <a:rPr lang="en-US" sz="1800" b="1" baseline="-25000" dirty="0">
                <a:solidFill>
                  <a:schemeClr val="accent6">
                    <a:lumMod val="75000"/>
                  </a:schemeClr>
                </a:solidFill>
                <a:latin typeface="+mn-lt"/>
              </a:rPr>
              <a:t>A</a:t>
            </a:r>
          </a:p>
        </p:txBody>
      </p:sp>
      <p:graphicFrame>
        <p:nvGraphicFramePr>
          <p:cNvPr id="2" name="Table 1">
            <a:extLst>
              <a:ext uri="{FF2B5EF4-FFF2-40B4-BE49-F238E27FC236}">
                <a16:creationId xmlns:a16="http://schemas.microsoft.com/office/drawing/2014/main" id="{2819BA88-A4DE-773C-256E-882F8493F05B}"/>
              </a:ext>
            </a:extLst>
          </p:cNvPr>
          <p:cNvGraphicFramePr>
            <a:graphicFrameLocks noGrp="1"/>
          </p:cNvGraphicFramePr>
          <p:nvPr>
            <p:extLst>
              <p:ext uri="{D42A27DB-BD31-4B8C-83A1-F6EECF244321}">
                <p14:modId xmlns:p14="http://schemas.microsoft.com/office/powerpoint/2010/main" val="298866363"/>
              </p:ext>
            </p:extLst>
          </p:nvPr>
        </p:nvGraphicFramePr>
        <p:xfrm>
          <a:off x="0" y="2981960"/>
          <a:ext cx="1752600" cy="37084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20000"/>
                    </a:ext>
                  </a:extLst>
                </a:gridCol>
              </a:tblGrid>
              <a:tr h="370840">
                <a:tc>
                  <a:txBody>
                    <a:bodyPr/>
                    <a:lstStyle/>
                    <a:p>
                      <a:pPr algn="ctr"/>
                      <a:r>
                        <a:rPr lang="en-US" b="0" dirty="0">
                          <a:solidFill>
                            <a:schemeClr val="tx1"/>
                          </a:solidFill>
                        </a:rPr>
                        <a:t>physical address</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graphicFrame>
        <p:nvGraphicFramePr>
          <p:cNvPr id="3" name="Table 2">
            <a:extLst>
              <a:ext uri="{FF2B5EF4-FFF2-40B4-BE49-F238E27FC236}">
                <a16:creationId xmlns:a16="http://schemas.microsoft.com/office/drawing/2014/main" id="{94560947-F4B1-8B73-2836-1187F2A2A571}"/>
              </a:ext>
            </a:extLst>
          </p:cNvPr>
          <p:cNvGraphicFramePr>
            <a:graphicFrameLocks noGrp="1"/>
          </p:cNvGraphicFramePr>
          <p:nvPr>
            <p:extLst>
              <p:ext uri="{D42A27DB-BD31-4B8C-83A1-F6EECF244321}">
                <p14:modId xmlns:p14="http://schemas.microsoft.com/office/powerpoint/2010/main" val="3038976889"/>
              </p:ext>
            </p:extLst>
          </p:nvPr>
        </p:nvGraphicFramePr>
        <p:xfrm>
          <a:off x="609600" y="1446756"/>
          <a:ext cx="1752600" cy="37084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20000"/>
                    </a:ext>
                  </a:extLst>
                </a:gridCol>
              </a:tblGrid>
              <a:tr h="370840">
                <a:tc>
                  <a:txBody>
                    <a:bodyPr/>
                    <a:lstStyle/>
                    <a:p>
                      <a:pPr algn="ctr"/>
                      <a:r>
                        <a:rPr lang="en-US" b="0" dirty="0">
                          <a:solidFill>
                            <a:schemeClr val="tx1"/>
                          </a:solidFill>
                        </a:rPr>
                        <a:t>virtual address</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
        <p:nvSpPr>
          <p:cNvPr id="4" name="TextBox 3">
            <a:extLst>
              <a:ext uri="{FF2B5EF4-FFF2-40B4-BE49-F238E27FC236}">
                <a16:creationId xmlns:a16="http://schemas.microsoft.com/office/drawing/2014/main" id="{D4E99AA4-E45A-F2F5-AC38-D6F961C705FA}"/>
              </a:ext>
            </a:extLst>
          </p:cNvPr>
          <p:cNvSpPr txBox="1"/>
          <p:nvPr/>
        </p:nvSpPr>
        <p:spPr>
          <a:xfrm>
            <a:off x="152400" y="2151698"/>
            <a:ext cx="1520674" cy="560308"/>
          </a:xfrm>
          <a:prstGeom prst="rect">
            <a:avLst/>
          </a:prstGeom>
          <a:solidFill>
            <a:schemeClr val="accent6">
              <a:lumMod val="60000"/>
              <a:lumOff val="40000"/>
            </a:schemeClr>
          </a:solidFill>
          <a:ln w="25400">
            <a:solidFill>
              <a:schemeClr val="tx1"/>
            </a:solidFill>
          </a:ln>
        </p:spPr>
        <p:txBody>
          <a:bodyPr wrap="square" rtlCol="0" anchor="ctr">
            <a:noAutofit/>
          </a:bodyPr>
          <a:lstStyle/>
          <a:p>
            <a:pPr algn="ctr"/>
            <a:r>
              <a:rPr lang="en-US" sz="1800" b="1" dirty="0">
                <a:latin typeface="+mn-lt"/>
              </a:rPr>
              <a:t>TLB</a:t>
            </a:r>
          </a:p>
        </p:txBody>
      </p:sp>
      <p:cxnSp>
        <p:nvCxnSpPr>
          <p:cNvPr id="5" name="Straight Arrow Connector 4">
            <a:extLst>
              <a:ext uri="{FF2B5EF4-FFF2-40B4-BE49-F238E27FC236}">
                <a16:creationId xmlns:a16="http://schemas.microsoft.com/office/drawing/2014/main" id="{C390BF26-F354-A16E-9EAE-BA1287A706D4}"/>
              </a:ext>
            </a:extLst>
          </p:cNvPr>
          <p:cNvCxnSpPr/>
          <p:nvPr/>
        </p:nvCxnSpPr>
        <p:spPr>
          <a:xfrm rot="5400000">
            <a:off x="754379" y="1977616"/>
            <a:ext cx="32004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0096624"/>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VIPT Cache – Synonyms</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7</a:t>
            </a:fld>
            <a:endParaRPr lang="en-US" altLang="en-US"/>
          </a:p>
        </p:txBody>
      </p:sp>
      <p:cxnSp>
        <p:nvCxnSpPr>
          <p:cNvPr id="6" name="Straight Arrow Connector 5">
            <a:extLst>
              <a:ext uri="{FF2B5EF4-FFF2-40B4-BE49-F238E27FC236}">
                <a16:creationId xmlns:a16="http://schemas.microsoft.com/office/drawing/2014/main" id="{C45BE81F-7E63-42E4-A768-6A2DBF6438D0}"/>
              </a:ext>
            </a:extLst>
          </p:cNvPr>
          <p:cNvCxnSpPr/>
          <p:nvPr/>
        </p:nvCxnSpPr>
        <p:spPr>
          <a:xfrm>
            <a:off x="1371600" y="4141694"/>
            <a:ext cx="1371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7" name="Table 6">
            <a:extLst>
              <a:ext uri="{FF2B5EF4-FFF2-40B4-BE49-F238E27FC236}">
                <a16:creationId xmlns:a16="http://schemas.microsoft.com/office/drawing/2014/main" id="{F013A05E-2BC7-4EE8-AE54-477FEED93E54}"/>
              </a:ext>
            </a:extLst>
          </p:cNvPr>
          <p:cNvGraphicFramePr>
            <a:graphicFrameLocks noGrp="1"/>
          </p:cNvGraphicFramePr>
          <p:nvPr/>
        </p:nvGraphicFramePr>
        <p:xfrm>
          <a:off x="2743200" y="2846294"/>
          <a:ext cx="5710645" cy="2225040"/>
        </p:xfrm>
        <a:graphic>
          <a:graphicData uri="http://schemas.openxmlformats.org/drawingml/2006/table">
            <a:tbl>
              <a:tblPr bandRow="1">
                <a:tableStyleId>{5C22544A-7EE6-4342-B048-85BDC9FD1C3A}</a:tableStyleId>
              </a:tblPr>
              <a:tblGrid>
                <a:gridCol w="5334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544286">
                  <a:extLst>
                    <a:ext uri="{9D8B030D-6E8A-4147-A177-3AD203B41FA5}">
                      <a16:colId xmlns:a16="http://schemas.microsoft.com/office/drawing/2014/main" val="20002"/>
                    </a:ext>
                  </a:extLst>
                </a:gridCol>
                <a:gridCol w="1197428">
                  <a:extLst>
                    <a:ext uri="{9D8B030D-6E8A-4147-A177-3AD203B41FA5}">
                      <a16:colId xmlns:a16="http://schemas.microsoft.com/office/drawing/2014/main" val="20003"/>
                    </a:ext>
                  </a:extLst>
                </a:gridCol>
                <a:gridCol w="870857">
                  <a:extLst>
                    <a:ext uri="{9D8B030D-6E8A-4147-A177-3AD203B41FA5}">
                      <a16:colId xmlns:a16="http://schemas.microsoft.com/office/drawing/2014/main" val="20004"/>
                    </a:ext>
                  </a:extLst>
                </a:gridCol>
                <a:gridCol w="870857">
                  <a:extLst>
                    <a:ext uri="{9D8B030D-6E8A-4147-A177-3AD203B41FA5}">
                      <a16:colId xmlns:a16="http://schemas.microsoft.com/office/drawing/2014/main" val="20005"/>
                    </a:ext>
                  </a:extLst>
                </a:gridCol>
                <a:gridCol w="870857">
                  <a:extLst>
                    <a:ext uri="{9D8B030D-6E8A-4147-A177-3AD203B41FA5}">
                      <a16:colId xmlns:a16="http://schemas.microsoft.com/office/drawing/2014/main" val="20006"/>
                    </a:ext>
                  </a:extLst>
                </a:gridCol>
              </a:tblGrid>
              <a:tr h="370840">
                <a:tc>
                  <a:txBody>
                    <a:bodyPr/>
                    <a:lstStyle/>
                    <a:p>
                      <a:pPr algn="ctr"/>
                      <a:r>
                        <a:rPr lang="en-US" dirty="0"/>
                        <a:t>tag</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tag</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data</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data</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r>
                        <a:rPr lang="en-US" b="0" dirty="0">
                          <a:latin typeface="+mn-lt"/>
                          <a:cs typeface="Calibri"/>
                        </a:rPr>
                        <a:t>● ● ●</a:t>
                      </a:r>
                      <a:endParaRPr lang="en-US" b="0"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r>
                        <a:rPr lang="en-US" b="0" dirty="0">
                          <a:latin typeface="+mn-lt"/>
                          <a:cs typeface="Calibri"/>
                        </a:rPr>
                        <a:t>● ● ●</a:t>
                      </a:r>
                      <a:endParaRPr lang="en-US" b="0"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2"/>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accent6">
                        <a:lumMod val="60000"/>
                        <a:lumOff val="40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ctr"/>
                      <a:r>
                        <a:rPr lang="en-US" b="1" dirty="0"/>
                        <a:t>X</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6">
                        <a:lumMod val="7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a:t>[X]</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3"/>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4"/>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5"/>
                  </a:ext>
                </a:extLst>
              </a:tr>
            </a:tbl>
          </a:graphicData>
        </a:graphic>
      </p:graphicFrame>
      <p:sp>
        <p:nvSpPr>
          <p:cNvPr id="8" name="Trapezoid 7">
            <a:extLst>
              <a:ext uri="{FF2B5EF4-FFF2-40B4-BE49-F238E27FC236}">
                <a16:creationId xmlns:a16="http://schemas.microsoft.com/office/drawing/2014/main" id="{7D55239E-209F-495A-8B42-1E271C042D73}"/>
              </a:ext>
            </a:extLst>
          </p:cNvPr>
          <p:cNvSpPr/>
          <p:nvPr/>
        </p:nvSpPr>
        <p:spPr>
          <a:xfrm flipV="1">
            <a:off x="6477000" y="5464002"/>
            <a:ext cx="2514600" cy="365760"/>
          </a:xfrm>
          <a:prstGeom prst="trapezoid">
            <a:avLst>
              <a:gd name="adj" fmla="val 86212"/>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BEEB579-362A-4A16-AE30-59E1934ACA39}"/>
              </a:ext>
            </a:extLst>
          </p:cNvPr>
          <p:cNvSpPr/>
          <p:nvPr/>
        </p:nvSpPr>
        <p:spPr>
          <a:xfrm>
            <a:off x="4617720" y="5311602"/>
            <a:ext cx="411480" cy="41148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a:t>
            </a:r>
          </a:p>
        </p:txBody>
      </p:sp>
      <p:cxnSp>
        <p:nvCxnSpPr>
          <p:cNvPr id="10" name="Straight Arrow Connector 9">
            <a:extLst>
              <a:ext uri="{FF2B5EF4-FFF2-40B4-BE49-F238E27FC236}">
                <a16:creationId xmlns:a16="http://schemas.microsoft.com/office/drawing/2014/main" id="{A894139C-8958-40DA-96C5-7E7E1362CDE8}"/>
              </a:ext>
            </a:extLst>
          </p:cNvPr>
          <p:cNvCxnSpPr/>
          <p:nvPr/>
        </p:nvCxnSpPr>
        <p:spPr>
          <a:xfrm>
            <a:off x="5029200" y="5540202"/>
            <a:ext cx="146304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C44F9E8-ABB5-4920-A616-85AF243C4DC1}"/>
              </a:ext>
            </a:extLst>
          </p:cNvPr>
          <p:cNvCxnSpPr/>
          <p:nvPr/>
        </p:nvCxnSpPr>
        <p:spPr>
          <a:xfrm rot="5400000">
            <a:off x="4251960" y="4705574"/>
            <a:ext cx="109728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C49A967-7F07-4B1E-B62B-888B49868097}"/>
              </a:ext>
            </a:extLst>
          </p:cNvPr>
          <p:cNvCxnSpPr/>
          <p:nvPr/>
        </p:nvCxnSpPr>
        <p:spPr>
          <a:xfrm rot="5400000">
            <a:off x="7970520" y="4797014"/>
            <a:ext cx="128016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5C35EAF-D1F2-4395-9584-B890290FB6C0}"/>
              </a:ext>
            </a:extLst>
          </p:cNvPr>
          <p:cNvCxnSpPr/>
          <p:nvPr/>
        </p:nvCxnSpPr>
        <p:spPr>
          <a:xfrm rot="5400000">
            <a:off x="7559040" y="5966922"/>
            <a:ext cx="27432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94DC620-9FB7-455C-A54B-B17860249AC7}"/>
              </a:ext>
            </a:extLst>
          </p:cNvPr>
          <p:cNvCxnSpPr/>
          <p:nvPr/>
        </p:nvCxnSpPr>
        <p:spPr>
          <a:xfrm>
            <a:off x="4648200" y="4141694"/>
            <a:ext cx="164592"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17CC8B1-6719-4FF5-BC73-524EACF45DF9}"/>
              </a:ext>
            </a:extLst>
          </p:cNvPr>
          <p:cNvCxnSpPr/>
          <p:nvPr/>
        </p:nvCxnSpPr>
        <p:spPr>
          <a:xfrm>
            <a:off x="8458200" y="4141694"/>
            <a:ext cx="164592"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45E07A49-B957-459E-82B7-6E8E8DBCDFC0}"/>
              </a:ext>
            </a:extLst>
          </p:cNvPr>
          <p:cNvSpPr txBox="1"/>
          <p:nvPr/>
        </p:nvSpPr>
        <p:spPr>
          <a:xfrm>
            <a:off x="2514600" y="2465295"/>
            <a:ext cx="990600" cy="369332"/>
          </a:xfrm>
          <a:prstGeom prst="rect">
            <a:avLst/>
          </a:prstGeom>
          <a:noFill/>
        </p:spPr>
        <p:txBody>
          <a:bodyPr wrap="square" rtlCol="0" anchor="ctr">
            <a:spAutoFit/>
          </a:bodyPr>
          <a:lstStyle/>
          <a:p>
            <a:pPr algn="ctr"/>
            <a:r>
              <a:rPr lang="en-US" sz="1800" dirty="0">
                <a:latin typeface="+mn-lt"/>
              </a:rPr>
              <a:t>way 0</a:t>
            </a:r>
          </a:p>
        </p:txBody>
      </p:sp>
      <p:sp>
        <p:nvSpPr>
          <p:cNvPr id="17" name="TextBox 16">
            <a:extLst>
              <a:ext uri="{FF2B5EF4-FFF2-40B4-BE49-F238E27FC236}">
                <a16:creationId xmlns:a16="http://schemas.microsoft.com/office/drawing/2014/main" id="{6341C48D-44BD-475B-B436-7456F73B4146}"/>
              </a:ext>
            </a:extLst>
          </p:cNvPr>
          <p:cNvSpPr txBox="1"/>
          <p:nvPr/>
        </p:nvSpPr>
        <p:spPr>
          <a:xfrm>
            <a:off x="3886200" y="2465295"/>
            <a:ext cx="990600" cy="369332"/>
          </a:xfrm>
          <a:prstGeom prst="rect">
            <a:avLst/>
          </a:prstGeom>
          <a:noFill/>
        </p:spPr>
        <p:txBody>
          <a:bodyPr wrap="square" rtlCol="0" anchor="ctr">
            <a:spAutoFit/>
          </a:bodyPr>
          <a:lstStyle/>
          <a:p>
            <a:pPr algn="ctr"/>
            <a:r>
              <a:rPr lang="en-US" sz="1800" dirty="0">
                <a:latin typeface="+mn-lt"/>
              </a:rPr>
              <a:t>way N-1</a:t>
            </a:r>
          </a:p>
        </p:txBody>
      </p:sp>
      <p:sp>
        <p:nvSpPr>
          <p:cNvPr id="18" name="TextBox 17">
            <a:extLst>
              <a:ext uri="{FF2B5EF4-FFF2-40B4-BE49-F238E27FC236}">
                <a16:creationId xmlns:a16="http://schemas.microsoft.com/office/drawing/2014/main" id="{BE5298D5-D95E-4743-BC73-CC3671367998}"/>
              </a:ext>
            </a:extLst>
          </p:cNvPr>
          <p:cNvSpPr txBox="1"/>
          <p:nvPr/>
        </p:nvSpPr>
        <p:spPr>
          <a:xfrm>
            <a:off x="5791200" y="2465295"/>
            <a:ext cx="990600" cy="369332"/>
          </a:xfrm>
          <a:prstGeom prst="rect">
            <a:avLst/>
          </a:prstGeom>
          <a:noFill/>
        </p:spPr>
        <p:txBody>
          <a:bodyPr wrap="square" rtlCol="0" anchor="ctr">
            <a:spAutoFit/>
          </a:bodyPr>
          <a:lstStyle/>
          <a:p>
            <a:pPr algn="ctr"/>
            <a:r>
              <a:rPr lang="en-US" sz="1800" dirty="0">
                <a:latin typeface="+mn-lt"/>
              </a:rPr>
              <a:t>way 0</a:t>
            </a:r>
          </a:p>
        </p:txBody>
      </p:sp>
      <p:sp>
        <p:nvSpPr>
          <p:cNvPr id="19" name="TextBox 18">
            <a:extLst>
              <a:ext uri="{FF2B5EF4-FFF2-40B4-BE49-F238E27FC236}">
                <a16:creationId xmlns:a16="http://schemas.microsoft.com/office/drawing/2014/main" id="{AB795696-7743-4BEA-8FE2-36D4269F3825}"/>
              </a:ext>
            </a:extLst>
          </p:cNvPr>
          <p:cNvSpPr txBox="1"/>
          <p:nvPr/>
        </p:nvSpPr>
        <p:spPr>
          <a:xfrm>
            <a:off x="7543800" y="2465295"/>
            <a:ext cx="990600" cy="369332"/>
          </a:xfrm>
          <a:prstGeom prst="rect">
            <a:avLst/>
          </a:prstGeom>
          <a:noFill/>
        </p:spPr>
        <p:txBody>
          <a:bodyPr wrap="square" rtlCol="0" anchor="ctr">
            <a:spAutoFit/>
          </a:bodyPr>
          <a:lstStyle/>
          <a:p>
            <a:pPr algn="ctr"/>
            <a:r>
              <a:rPr lang="en-US" sz="1800" dirty="0">
                <a:latin typeface="+mn-lt"/>
              </a:rPr>
              <a:t>way N-1</a:t>
            </a:r>
          </a:p>
        </p:txBody>
      </p:sp>
      <p:sp>
        <p:nvSpPr>
          <p:cNvPr id="20" name="TextBox 19">
            <a:extLst>
              <a:ext uri="{FF2B5EF4-FFF2-40B4-BE49-F238E27FC236}">
                <a16:creationId xmlns:a16="http://schemas.microsoft.com/office/drawing/2014/main" id="{AE44DC6D-E8F7-4AD8-B663-AB8F1ACC712A}"/>
              </a:ext>
            </a:extLst>
          </p:cNvPr>
          <p:cNvSpPr txBox="1"/>
          <p:nvPr/>
        </p:nvSpPr>
        <p:spPr>
          <a:xfrm>
            <a:off x="4736352" y="5211499"/>
            <a:ext cx="1066800" cy="369332"/>
          </a:xfrm>
          <a:prstGeom prst="rect">
            <a:avLst/>
          </a:prstGeom>
          <a:noFill/>
        </p:spPr>
        <p:txBody>
          <a:bodyPr wrap="square" rtlCol="0" anchor="ctr">
            <a:spAutoFit/>
          </a:bodyPr>
          <a:lstStyle/>
          <a:p>
            <a:pPr algn="ctr"/>
            <a:r>
              <a:rPr lang="en-US" sz="1800" b="1" dirty="0">
                <a:latin typeface="+mn-lt"/>
              </a:rPr>
              <a:t>HIT?</a:t>
            </a:r>
          </a:p>
        </p:txBody>
      </p:sp>
      <p:sp>
        <p:nvSpPr>
          <p:cNvPr id="22" name="TextBox 21">
            <a:extLst>
              <a:ext uri="{FF2B5EF4-FFF2-40B4-BE49-F238E27FC236}">
                <a16:creationId xmlns:a16="http://schemas.microsoft.com/office/drawing/2014/main" id="{128C01E9-6765-4A72-B779-3980D3EC081A}"/>
              </a:ext>
            </a:extLst>
          </p:cNvPr>
          <p:cNvSpPr txBox="1"/>
          <p:nvPr/>
        </p:nvSpPr>
        <p:spPr>
          <a:xfrm>
            <a:off x="1143000" y="3886186"/>
            <a:ext cx="1066800" cy="560308"/>
          </a:xfrm>
          <a:prstGeom prst="rect">
            <a:avLst/>
          </a:prstGeom>
          <a:solidFill>
            <a:schemeClr val="accent6">
              <a:lumMod val="60000"/>
              <a:lumOff val="40000"/>
            </a:schemeClr>
          </a:solidFill>
          <a:ln w="25400">
            <a:solidFill>
              <a:schemeClr val="tx1"/>
            </a:solidFill>
          </a:ln>
        </p:spPr>
        <p:txBody>
          <a:bodyPr wrap="square" rtlCol="0" anchor="ctr">
            <a:noAutofit/>
          </a:bodyPr>
          <a:lstStyle/>
          <a:p>
            <a:pPr algn="ctr"/>
            <a:r>
              <a:rPr lang="en-US" sz="1800" b="1" dirty="0">
                <a:latin typeface="+mn-lt"/>
              </a:rPr>
              <a:t>hash function</a:t>
            </a:r>
          </a:p>
        </p:txBody>
      </p:sp>
      <p:cxnSp>
        <p:nvCxnSpPr>
          <p:cNvPr id="23" name="Straight Arrow Connector 22">
            <a:extLst>
              <a:ext uri="{FF2B5EF4-FFF2-40B4-BE49-F238E27FC236}">
                <a16:creationId xmlns:a16="http://schemas.microsoft.com/office/drawing/2014/main" id="{EF20B0A6-5147-4BF4-B83F-D6A1A3CBAA4C}"/>
              </a:ext>
            </a:extLst>
          </p:cNvPr>
          <p:cNvCxnSpPr/>
          <p:nvPr/>
        </p:nvCxnSpPr>
        <p:spPr>
          <a:xfrm flipV="1">
            <a:off x="914399" y="2209800"/>
            <a:ext cx="1" cy="329184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AFD8470-1C89-4B1B-8891-D34FEADA59A1}"/>
              </a:ext>
            </a:extLst>
          </p:cNvPr>
          <p:cNvCxnSpPr>
            <a:cxnSpLocks/>
          </p:cNvCxnSpPr>
          <p:nvPr/>
        </p:nvCxnSpPr>
        <p:spPr>
          <a:xfrm flipV="1">
            <a:off x="914399" y="5513294"/>
            <a:ext cx="3611881" cy="4048"/>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24CFF512-2322-4974-8FF9-EC78E1A189C5}"/>
              </a:ext>
            </a:extLst>
          </p:cNvPr>
          <p:cNvCxnSpPr/>
          <p:nvPr/>
        </p:nvCxnSpPr>
        <p:spPr>
          <a:xfrm rot="5400000">
            <a:off x="853439" y="2804160"/>
            <a:ext cx="210312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DB65478-A7FD-4752-B35A-FE15BADCBA16}"/>
              </a:ext>
            </a:extLst>
          </p:cNvPr>
          <p:cNvSpPr txBox="1"/>
          <p:nvPr/>
        </p:nvSpPr>
        <p:spPr>
          <a:xfrm>
            <a:off x="7162800" y="6058363"/>
            <a:ext cx="1066800" cy="369332"/>
          </a:xfrm>
          <a:prstGeom prst="rect">
            <a:avLst/>
          </a:prstGeom>
          <a:noFill/>
        </p:spPr>
        <p:txBody>
          <a:bodyPr wrap="square" rtlCol="0" anchor="ctr">
            <a:spAutoFit/>
          </a:bodyPr>
          <a:lstStyle/>
          <a:p>
            <a:pPr algn="ctr"/>
            <a:r>
              <a:rPr lang="en-US" sz="1800" b="1" dirty="0">
                <a:solidFill>
                  <a:schemeClr val="accent2">
                    <a:lumMod val="75000"/>
                  </a:schemeClr>
                </a:solidFill>
                <a:latin typeface="+mn-lt"/>
              </a:rPr>
              <a:t>data</a:t>
            </a:r>
          </a:p>
        </p:txBody>
      </p:sp>
      <p:sp>
        <p:nvSpPr>
          <p:cNvPr id="28" name="TextBox 27">
            <a:extLst>
              <a:ext uri="{FF2B5EF4-FFF2-40B4-BE49-F238E27FC236}">
                <a16:creationId xmlns:a16="http://schemas.microsoft.com/office/drawing/2014/main" id="{8071B42F-939D-4840-ADF4-38EEF9D46DCE}"/>
              </a:ext>
            </a:extLst>
          </p:cNvPr>
          <p:cNvSpPr txBox="1"/>
          <p:nvPr/>
        </p:nvSpPr>
        <p:spPr>
          <a:xfrm>
            <a:off x="609600" y="5132295"/>
            <a:ext cx="1066800" cy="369332"/>
          </a:xfrm>
          <a:prstGeom prst="rect">
            <a:avLst/>
          </a:prstGeom>
          <a:noFill/>
        </p:spPr>
        <p:txBody>
          <a:bodyPr wrap="square" rtlCol="0" anchor="ctr">
            <a:spAutoFit/>
          </a:bodyPr>
          <a:lstStyle/>
          <a:p>
            <a:pPr algn="ctr"/>
            <a:r>
              <a:rPr lang="en-US" sz="1800" dirty="0">
                <a:latin typeface="+mn-lt"/>
              </a:rPr>
              <a:t>tag</a:t>
            </a:r>
          </a:p>
        </p:txBody>
      </p:sp>
      <p:sp>
        <p:nvSpPr>
          <p:cNvPr id="29" name="TextBox 28">
            <a:extLst>
              <a:ext uri="{FF2B5EF4-FFF2-40B4-BE49-F238E27FC236}">
                <a16:creationId xmlns:a16="http://schemas.microsoft.com/office/drawing/2014/main" id="{AB906976-B199-4CE3-A6BE-841BAF2729FA}"/>
              </a:ext>
            </a:extLst>
          </p:cNvPr>
          <p:cNvSpPr txBox="1"/>
          <p:nvPr/>
        </p:nvSpPr>
        <p:spPr>
          <a:xfrm>
            <a:off x="1935149" y="3797008"/>
            <a:ext cx="1066800" cy="369332"/>
          </a:xfrm>
          <a:prstGeom prst="rect">
            <a:avLst/>
          </a:prstGeom>
          <a:noFill/>
        </p:spPr>
        <p:txBody>
          <a:bodyPr wrap="square" rtlCol="0" anchor="ctr">
            <a:spAutoFit/>
          </a:bodyPr>
          <a:lstStyle/>
          <a:p>
            <a:pPr algn="ctr"/>
            <a:r>
              <a:rPr lang="en-US" sz="1800" dirty="0">
                <a:latin typeface="+mn-lt"/>
              </a:rPr>
              <a:t>set</a:t>
            </a:r>
          </a:p>
        </p:txBody>
      </p:sp>
      <p:sp>
        <p:nvSpPr>
          <p:cNvPr id="31" name="TextBox 30">
            <a:extLst>
              <a:ext uri="{FF2B5EF4-FFF2-40B4-BE49-F238E27FC236}">
                <a16:creationId xmlns:a16="http://schemas.microsoft.com/office/drawing/2014/main" id="{A6E0AC77-6FA5-4A38-BA23-4AF4C8C29695}"/>
              </a:ext>
            </a:extLst>
          </p:cNvPr>
          <p:cNvSpPr txBox="1"/>
          <p:nvPr/>
        </p:nvSpPr>
        <p:spPr>
          <a:xfrm>
            <a:off x="1470085" y="1731606"/>
            <a:ext cx="1174630" cy="458674"/>
          </a:xfrm>
          <a:prstGeom prst="rect">
            <a:avLst/>
          </a:prstGeom>
          <a:noFill/>
        </p:spPr>
        <p:txBody>
          <a:bodyPr wrap="square" rtlCol="0" anchor="ctr">
            <a:noAutofit/>
          </a:bodyPr>
          <a:lstStyle/>
          <a:p>
            <a:pPr algn="ctr"/>
            <a:r>
              <a:rPr lang="en-US" sz="1800" b="1" dirty="0">
                <a:solidFill>
                  <a:schemeClr val="accent6">
                    <a:lumMod val="75000"/>
                  </a:schemeClr>
                </a:solidFill>
                <a:latin typeface="+mn-lt"/>
              </a:rPr>
              <a:t>V</a:t>
            </a:r>
            <a:r>
              <a:rPr lang="en-US" sz="1800" b="1" baseline="-25000" dirty="0">
                <a:solidFill>
                  <a:schemeClr val="accent6">
                    <a:lumMod val="75000"/>
                  </a:schemeClr>
                </a:solidFill>
                <a:latin typeface="+mn-lt"/>
              </a:rPr>
              <a:t>A</a:t>
            </a:r>
          </a:p>
        </p:txBody>
      </p:sp>
      <p:sp>
        <p:nvSpPr>
          <p:cNvPr id="33" name="TextBox 32">
            <a:extLst>
              <a:ext uri="{FF2B5EF4-FFF2-40B4-BE49-F238E27FC236}">
                <a16:creationId xmlns:a16="http://schemas.microsoft.com/office/drawing/2014/main" id="{35937311-D1E0-4772-9C74-7E177B860BEE}"/>
              </a:ext>
            </a:extLst>
          </p:cNvPr>
          <p:cNvSpPr txBox="1"/>
          <p:nvPr/>
        </p:nvSpPr>
        <p:spPr>
          <a:xfrm>
            <a:off x="-130115" y="3275126"/>
            <a:ext cx="1174630" cy="458674"/>
          </a:xfrm>
          <a:prstGeom prst="rect">
            <a:avLst/>
          </a:prstGeom>
          <a:noFill/>
        </p:spPr>
        <p:txBody>
          <a:bodyPr wrap="square" rtlCol="0" anchor="ctr">
            <a:noAutofit/>
          </a:bodyPr>
          <a:lstStyle/>
          <a:p>
            <a:pPr algn="ctr"/>
            <a:r>
              <a:rPr lang="en-US" sz="1800" b="1" dirty="0">
                <a:solidFill>
                  <a:schemeClr val="accent6">
                    <a:lumMod val="75000"/>
                  </a:schemeClr>
                </a:solidFill>
                <a:latin typeface="+mn-lt"/>
              </a:rPr>
              <a:t>V</a:t>
            </a:r>
            <a:r>
              <a:rPr lang="en-US" sz="1800" b="1" baseline="-25000" dirty="0">
                <a:solidFill>
                  <a:schemeClr val="accent6">
                    <a:lumMod val="75000"/>
                  </a:schemeClr>
                </a:solidFill>
                <a:latin typeface="+mn-lt"/>
              </a:rPr>
              <a:t>A </a:t>
            </a:r>
            <a:r>
              <a:rPr lang="en-US" sz="1800" b="1" dirty="0">
                <a:solidFill>
                  <a:schemeClr val="accent6">
                    <a:lumMod val="75000"/>
                  </a:schemeClr>
                </a:solidFill>
                <a:latin typeface="+mn-lt"/>
              </a:rPr>
              <a:t>-&gt; X</a:t>
            </a:r>
            <a:endParaRPr lang="en-US" sz="1800" b="1" baseline="-25000" dirty="0">
              <a:solidFill>
                <a:schemeClr val="accent6">
                  <a:lumMod val="75000"/>
                </a:schemeClr>
              </a:solidFill>
              <a:latin typeface="+mn-lt"/>
            </a:endParaRPr>
          </a:p>
        </p:txBody>
      </p:sp>
      <p:graphicFrame>
        <p:nvGraphicFramePr>
          <p:cNvPr id="21" name="Table 20">
            <a:extLst>
              <a:ext uri="{FF2B5EF4-FFF2-40B4-BE49-F238E27FC236}">
                <a16:creationId xmlns:a16="http://schemas.microsoft.com/office/drawing/2014/main" id="{D8045BC4-5FC5-676F-81DC-0A706B1E8691}"/>
              </a:ext>
            </a:extLst>
          </p:cNvPr>
          <p:cNvGraphicFramePr>
            <a:graphicFrameLocks noGrp="1"/>
          </p:cNvGraphicFramePr>
          <p:nvPr>
            <p:extLst>
              <p:ext uri="{D42A27DB-BD31-4B8C-83A1-F6EECF244321}">
                <p14:modId xmlns:p14="http://schemas.microsoft.com/office/powerpoint/2010/main" val="298866363"/>
              </p:ext>
            </p:extLst>
          </p:nvPr>
        </p:nvGraphicFramePr>
        <p:xfrm>
          <a:off x="0" y="2981960"/>
          <a:ext cx="1752600" cy="37084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20000"/>
                    </a:ext>
                  </a:extLst>
                </a:gridCol>
              </a:tblGrid>
              <a:tr h="370840">
                <a:tc>
                  <a:txBody>
                    <a:bodyPr/>
                    <a:lstStyle/>
                    <a:p>
                      <a:pPr algn="ctr"/>
                      <a:r>
                        <a:rPr lang="en-US" b="0" dirty="0">
                          <a:solidFill>
                            <a:schemeClr val="tx1"/>
                          </a:solidFill>
                        </a:rPr>
                        <a:t>physical address</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graphicFrame>
        <p:nvGraphicFramePr>
          <p:cNvPr id="26" name="Table 25">
            <a:extLst>
              <a:ext uri="{FF2B5EF4-FFF2-40B4-BE49-F238E27FC236}">
                <a16:creationId xmlns:a16="http://schemas.microsoft.com/office/drawing/2014/main" id="{3192F801-2E28-4CBE-04CA-C830CA910004}"/>
              </a:ext>
            </a:extLst>
          </p:cNvPr>
          <p:cNvGraphicFramePr>
            <a:graphicFrameLocks noGrp="1"/>
          </p:cNvGraphicFramePr>
          <p:nvPr>
            <p:extLst>
              <p:ext uri="{D42A27DB-BD31-4B8C-83A1-F6EECF244321}">
                <p14:modId xmlns:p14="http://schemas.microsoft.com/office/powerpoint/2010/main" val="3038976889"/>
              </p:ext>
            </p:extLst>
          </p:nvPr>
        </p:nvGraphicFramePr>
        <p:xfrm>
          <a:off x="609600" y="1446756"/>
          <a:ext cx="1752600" cy="37084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20000"/>
                    </a:ext>
                  </a:extLst>
                </a:gridCol>
              </a:tblGrid>
              <a:tr h="370840">
                <a:tc>
                  <a:txBody>
                    <a:bodyPr/>
                    <a:lstStyle/>
                    <a:p>
                      <a:pPr algn="ctr"/>
                      <a:r>
                        <a:rPr lang="en-US" b="0" dirty="0">
                          <a:solidFill>
                            <a:schemeClr val="tx1"/>
                          </a:solidFill>
                        </a:rPr>
                        <a:t>virtual address</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
        <p:nvSpPr>
          <p:cNvPr id="34" name="TextBox 33">
            <a:extLst>
              <a:ext uri="{FF2B5EF4-FFF2-40B4-BE49-F238E27FC236}">
                <a16:creationId xmlns:a16="http://schemas.microsoft.com/office/drawing/2014/main" id="{815666D0-B170-2114-623E-F0EEDCFFFA65}"/>
              </a:ext>
            </a:extLst>
          </p:cNvPr>
          <p:cNvSpPr txBox="1"/>
          <p:nvPr/>
        </p:nvSpPr>
        <p:spPr>
          <a:xfrm>
            <a:off x="152400" y="2151698"/>
            <a:ext cx="1520674" cy="560308"/>
          </a:xfrm>
          <a:prstGeom prst="rect">
            <a:avLst/>
          </a:prstGeom>
          <a:solidFill>
            <a:schemeClr val="accent6">
              <a:lumMod val="60000"/>
              <a:lumOff val="40000"/>
            </a:schemeClr>
          </a:solidFill>
          <a:ln w="25400">
            <a:solidFill>
              <a:schemeClr val="tx1"/>
            </a:solidFill>
          </a:ln>
        </p:spPr>
        <p:txBody>
          <a:bodyPr wrap="square" rtlCol="0" anchor="ctr">
            <a:noAutofit/>
          </a:bodyPr>
          <a:lstStyle/>
          <a:p>
            <a:pPr algn="ctr"/>
            <a:r>
              <a:rPr lang="en-US" sz="1800" b="1" dirty="0">
                <a:latin typeface="+mn-lt"/>
              </a:rPr>
              <a:t>TLB</a:t>
            </a:r>
          </a:p>
        </p:txBody>
      </p:sp>
      <p:cxnSp>
        <p:nvCxnSpPr>
          <p:cNvPr id="35" name="Straight Arrow Connector 34">
            <a:extLst>
              <a:ext uri="{FF2B5EF4-FFF2-40B4-BE49-F238E27FC236}">
                <a16:creationId xmlns:a16="http://schemas.microsoft.com/office/drawing/2014/main" id="{43E05637-2AA9-B1E3-2989-85396A641C26}"/>
              </a:ext>
            </a:extLst>
          </p:cNvPr>
          <p:cNvCxnSpPr/>
          <p:nvPr/>
        </p:nvCxnSpPr>
        <p:spPr>
          <a:xfrm rot="5400000">
            <a:off x="754379" y="1977616"/>
            <a:ext cx="32004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764968"/>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VIPT Cache – Synonyms</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8</a:t>
            </a:fld>
            <a:endParaRPr lang="en-US" altLang="en-US"/>
          </a:p>
        </p:txBody>
      </p:sp>
      <p:cxnSp>
        <p:nvCxnSpPr>
          <p:cNvPr id="6" name="Straight Arrow Connector 5">
            <a:extLst>
              <a:ext uri="{FF2B5EF4-FFF2-40B4-BE49-F238E27FC236}">
                <a16:creationId xmlns:a16="http://schemas.microsoft.com/office/drawing/2014/main" id="{C45BE81F-7E63-42E4-A768-6A2DBF6438D0}"/>
              </a:ext>
            </a:extLst>
          </p:cNvPr>
          <p:cNvCxnSpPr/>
          <p:nvPr/>
        </p:nvCxnSpPr>
        <p:spPr>
          <a:xfrm>
            <a:off x="1371600" y="4572000"/>
            <a:ext cx="1371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7" name="Table 6">
            <a:extLst>
              <a:ext uri="{FF2B5EF4-FFF2-40B4-BE49-F238E27FC236}">
                <a16:creationId xmlns:a16="http://schemas.microsoft.com/office/drawing/2014/main" id="{F013A05E-2BC7-4EE8-AE54-477FEED93E54}"/>
              </a:ext>
            </a:extLst>
          </p:cNvPr>
          <p:cNvGraphicFramePr>
            <a:graphicFrameLocks noGrp="1"/>
          </p:cNvGraphicFramePr>
          <p:nvPr/>
        </p:nvGraphicFramePr>
        <p:xfrm>
          <a:off x="2743200" y="2846294"/>
          <a:ext cx="5710645" cy="2225040"/>
        </p:xfrm>
        <a:graphic>
          <a:graphicData uri="http://schemas.openxmlformats.org/drawingml/2006/table">
            <a:tbl>
              <a:tblPr bandRow="1">
                <a:tableStyleId>{5C22544A-7EE6-4342-B048-85BDC9FD1C3A}</a:tableStyleId>
              </a:tblPr>
              <a:tblGrid>
                <a:gridCol w="5334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544286">
                  <a:extLst>
                    <a:ext uri="{9D8B030D-6E8A-4147-A177-3AD203B41FA5}">
                      <a16:colId xmlns:a16="http://schemas.microsoft.com/office/drawing/2014/main" val="20002"/>
                    </a:ext>
                  </a:extLst>
                </a:gridCol>
                <a:gridCol w="1197428">
                  <a:extLst>
                    <a:ext uri="{9D8B030D-6E8A-4147-A177-3AD203B41FA5}">
                      <a16:colId xmlns:a16="http://schemas.microsoft.com/office/drawing/2014/main" val="20003"/>
                    </a:ext>
                  </a:extLst>
                </a:gridCol>
                <a:gridCol w="870857">
                  <a:extLst>
                    <a:ext uri="{9D8B030D-6E8A-4147-A177-3AD203B41FA5}">
                      <a16:colId xmlns:a16="http://schemas.microsoft.com/office/drawing/2014/main" val="20004"/>
                    </a:ext>
                  </a:extLst>
                </a:gridCol>
                <a:gridCol w="870857">
                  <a:extLst>
                    <a:ext uri="{9D8B030D-6E8A-4147-A177-3AD203B41FA5}">
                      <a16:colId xmlns:a16="http://schemas.microsoft.com/office/drawing/2014/main" val="20005"/>
                    </a:ext>
                  </a:extLst>
                </a:gridCol>
                <a:gridCol w="870857">
                  <a:extLst>
                    <a:ext uri="{9D8B030D-6E8A-4147-A177-3AD203B41FA5}">
                      <a16:colId xmlns:a16="http://schemas.microsoft.com/office/drawing/2014/main" val="20006"/>
                    </a:ext>
                  </a:extLst>
                </a:gridCol>
              </a:tblGrid>
              <a:tr h="370840">
                <a:tc>
                  <a:txBody>
                    <a:bodyPr/>
                    <a:lstStyle/>
                    <a:p>
                      <a:pPr algn="ctr"/>
                      <a:r>
                        <a:rPr lang="en-US" dirty="0"/>
                        <a:t>tag</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tag</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data</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data</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r>
                        <a:rPr lang="en-US" b="0" dirty="0">
                          <a:latin typeface="+mn-lt"/>
                          <a:cs typeface="Calibri"/>
                        </a:rPr>
                        <a:t>● ● ●</a:t>
                      </a:r>
                      <a:endParaRPr lang="en-US" b="0"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r>
                        <a:rPr lang="en-US" b="0" dirty="0">
                          <a:latin typeface="+mn-lt"/>
                          <a:cs typeface="Calibri"/>
                        </a:rPr>
                        <a:t>● ● ●</a:t>
                      </a:r>
                      <a:endParaRPr lang="en-US" b="0"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2"/>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a:t>X</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a:t>[X]</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3"/>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accent6">
                        <a:lumMod val="60000"/>
                        <a:lumOff val="40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accent6">
                        <a:lumMod val="60000"/>
                        <a:lumOff val="40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4"/>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5"/>
                  </a:ext>
                </a:extLst>
              </a:tr>
            </a:tbl>
          </a:graphicData>
        </a:graphic>
      </p:graphicFrame>
      <p:sp>
        <p:nvSpPr>
          <p:cNvPr id="8" name="Trapezoid 7">
            <a:extLst>
              <a:ext uri="{FF2B5EF4-FFF2-40B4-BE49-F238E27FC236}">
                <a16:creationId xmlns:a16="http://schemas.microsoft.com/office/drawing/2014/main" id="{7D55239E-209F-495A-8B42-1E271C042D73}"/>
              </a:ext>
            </a:extLst>
          </p:cNvPr>
          <p:cNvSpPr/>
          <p:nvPr/>
        </p:nvSpPr>
        <p:spPr>
          <a:xfrm flipV="1">
            <a:off x="6477000" y="5464002"/>
            <a:ext cx="2514600" cy="365760"/>
          </a:xfrm>
          <a:prstGeom prst="trapezoid">
            <a:avLst>
              <a:gd name="adj" fmla="val 86212"/>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BEEB579-362A-4A16-AE30-59E1934ACA39}"/>
              </a:ext>
            </a:extLst>
          </p:cNvPr>
          <p:cNvSpPr/>
          <p:nvPr/>
        </p:nvSpPr>
        <p:spPr>
          <a:xfrm>
            <a:off x="4617720" y="5311602"/>
            <a:ext cx="411480" cy="41148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a:t>
            </a:r>
          </a:p>
        </p:txBody>
      </p:sp>
      <p:cxnSp>
        <p:nvCxnSpPr>
          <p:cNvPr id="10" name="Straight Arrow Connector 9">
            <a:extLst>
              <a:ext uri="{FF2B5EF4-FFF2-40B4-BE49-F238E27FC236}">
                <a16:creationId xmlns:a16="http://schemas.microsoft.com/office/drawing/2014/main" id="{A894139C-8958-40DA-96C5-7E7E1362CDE8}"/>
              </a:ext>
            </a:extLst>
          </p:cNvPr>
          <p:cNvCxnSpPr/>
          <p:nvPr/>
        </p:nvCxnSpPr>
        <p:spPr>
          <a:xfrm>
            <a:off x="5029200" y="5540202"/>
            <a:ext cx="146304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C44F9E8-ABB5-4920-A616-85AF243C4DC1}"/>
              </a:ext>
            </a:extLst>
          </p:cNvPr>
          <p:cNvCxnSpPr>
            <a:cxnSpLocks/>
          </p:cNvCxnSpPr>
          <p:nvPr/>
        </p:nvCxnSpPr>
        <p:spPr>
          <a:xfrm>
            <a:off x="4800600" y="4495800"/>
            <a:ext cx="0" cy="758414"/>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C49A967-7F07-4B1E-B62B-888B49868097}"/>
              </a:ext>
            </a:extLst>
          </p:cNvPr>
          <p:cNvCxnSpPr/>
          <p:nvPr/>
        </p:nvCxnSpPr>
        <p:spPr>
          <a:xfrm rot="5400000">
            <a:off x="7970520" y="4797014"/>
            <a:ext cx="128016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5C35EAF-D1F2-4395-9584-B890290FB6C0}"/>
              </a:ext>
            </a:extLst>
          </p:cNvPr>
          <p:cNvCxnSpPr/>
          <p:nvPr/>
        </p:nvCxnSpPr>
        <p:spPr>
          <a:xfrm rot="5400000">
            <a:off x="7559040" y="5966922"/>
            <a:ext cx="27432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94DC620-9FB7-455C-A54B-B17860249AC7}"/>
              </a:ext>
            </a:extLst>
          </p:cNvPr>
          <p:cNvCxnSpPr/>
          <p:nvPr/>
        </p:nvCxnSpPr>
        <p:spPr>
          <a:xfrm>
            <a:off x="4648200" y="4495800"/>
            <a:ext cx="164592"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17CC8B1-6719-4FF5-BC73-524EACF45DF9}"/>
              </a:ext>
            </a:extLst>
          </p:cNvPr>
          <p:cNvCxnSpPr/>
          <p:nvPr/>
        </p:nvCxnSpPr>
        <p:spPr>
          <a:xfrm>
            <a:off x="8458200" y="4141694"/>
            <a:ext cx="164592"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45E07A49-B957-459E-82B7-6E8E8DBCDFC0}"/>
              </a:ext>
            </a:extLst>
          </p:cNvPr>
          <p:cNvSpPr txBox="1"/>
          <p:nvPr/>
        </p:nvSpPr>
        <p:spPr>
          <a:xfrm>
            <a:off x="2514600" y="2465295"/>
            <a:ext cx="990600" cy="369332"/>
          </a:xfrm>
          <a:prstGeom prst="rect">
            <a:avLst/>
          </a:prstGeom>
          <a:noFill/>
        </p:spPr>
        <p:txBody>
          <a:bodyPr wrap="square" rtlCol="0" anchor="ctr">
            <a:spAutoFit/>
          </a:bodyPr>
          <a:lstStyle/>
          <a:p>
            <a:pPr algn="ctr"/>
            <a:r>
              <a:rPr lang="en-US" sz="1800" dirty="0">
                <a:latin typeface="+mn-lt"/>
              </a:rPr>
              <a:t>way 0</a:t>
            </a:r>
          </a:p>
        </p:txBody>
      </p:sp>
      <p:sp>
        <p:nvSpPr>
          <p:cNvPr id="17" name="TextBox 16">
            <a:extLst>
              <a:ext uri="{FF2B5EF4-FFF2-40B4-BE49-F238E27FC236}">
                <a16:creationId xmlns:a16="http://schemas.microsoft.com/office/drawing/2014/main" id="{6341C48D-44BD-475B-B436-7456F73B4146}"/>
              </a:ext>
            </a:extLst>
          </p:cNvPr>
          <p:cNvSpPr txBox="1"/>
          <p:nvPr/>
        </p:nvSpPr>
        <p:spPr>
          <a:xfrm>
            <a:off x="3886200" y="2465295"/>
            <a:ext cx="990600" cy="369332"/>
          </a:xfrm>
          <a:prstGeom prst="rect">
            <a:avLst/>
          </a:prstGeom>
          <a:noFill/>
        </p:spPr>
        <p:txBody>
          <a:bodyPr wrap="square" rtlCol="0" anchor="ctr">
            <a:spAutoFit/>
          </a:bodyPr>
          <a:lstStyle/>
          <a:p>
            <a:pPr algn="ctr"/>
            <a:r>
              <a:rPr lang="en-US" sz="1800" dirty="0">
                <a:latin typeface="+mn-lt"/>
              </a:rPr>
              <a:t>way N-1</a:t>
            </a:r>
          </a:p>
        </p:txBody>
      </p:sp>
      <p:sp>
        <p:nvSpPr>
          <p:cNvPr id="18" name="TextBox 17">
            <a:extLst>
              <a:ext uri="{FF2B5EF4-FFF2-40B4-BE49-F238E27FC236}">
                <a16:creationId xmlns:a16="http://schemas.microsoft.com/office/drawing/2014/main" id="{BE5298D5-D95E-4743-BC73-CC3671367998}"/>
              </a:ext>
            </a:extLst>
          </p:cNvPr>
          <p:cNvSpPr txBox="1"/>
          <p:nvPr/>
        </p:nvSpPr>
        <p:spPr>
          <a:xfrm>
            <a:off x="5791200" y="2465295"/>
            <a:ext cx="990600" cy="369332"/>
          </a:xfrm>
          <a:prstGeom prst="rect">
            <a:avLst/>
          </a:prstGeom>
          <a:noFill/>
        </p:spPr>
        <p:txBody>
          <a:bodyPr wrap="square" rtlCol="0" anchor="ctr">
            <a:spAutoFit/>
          </a:bodyPr>
          <a:lstStyle/>
          <a:p>
            <a:pPr algn="ctr"/>
            <a:r>
              <a:rPr lang="en-US" sz="1800" dirty="0">
                <a:latin typeface="+mn-lt"/>
              </a:rPr>
              <a:t>way 0</a:t>
            </a:r>
          </a:p>
        </p:txBody>
      </p:sp>
      <p:sp>
        <p:nvSpPr>
          <p:cNvPr id="19" name="TextBox 18">
            <a:extLst>
              <a:ext uri="{FF2B5EF4-FFF2-40B4-BE49-F238E27FC236}">
                <a16:creationId xmlns:a16="http://schemas.microsoft.com/office/drawing/2014/main" id="{AB795696-7743-4BEA-8FE2-36D4269F3825}"/>
              </a:ext>
            </a:extLst>
          </p:cNvPr>
          <p:cNvSpPr txBox="1"/>
          <p:nvPr/>
        </p:nvSpPr>
        <p:spPr>
          <a:xfrm>
            <a:off x="7543800" y="2465295"/>
            <a:ext cx="990600" cy="369332"/>
          </a:xfrm>
          <a:prstGeom prst="rect">
            <a:avLst/>
          </a:prstGeom>
          <a:noFill/>
        </p:spPr>
        <p:txBody>
          <a:bodyPr wrap="square" rtlCol="0" anchor="ctr">
            <a:spAutoFit/>
          </a:bodyPr>
          <a:lstStyle/>
          <a:p>
            <a:pPr algn="ctr"/>
            <a:r>
              <a:rPr lang="en-US" sz="1800" dirty="0">
                <a:latin typeface="+mn-lt"/>
              </a:rPr>
              <a:t>way N-1</a:t>
            </a:r>
          </a:p>
        </p:txBody>
      </p:sp>
      <p:sp>
        <p:nvSpPr>
          <p:cNvPr id="20" name="TextBox 19">
            <a:extLst>
              <a:ext uri="{FF2B5EF4-FFF2-40B4-BE49-F238E27FC236}">
                <a16:creationId xmlns:a16="http://schemas.microsoft.com/office/drawing/2014/main" id="{AE44DC6D-E8F7-4AD8-B663-AB8F1ACC712A}"/>
              </a:ext>
            </a:extLst>
          </p:cNvPr>
          <p:cNvSpPr txBox="1"/>
          <p:nvPr/>
        </p:nvSpPr>
        <p:spPr>
          <a:xfrm>
            <a:off x="4736352" y="5211499"/>
            <a:ext cx="1066800" cy="369332"/>
          </a:xfrm>
          <a:prstGeom prst="rect">
            <a:avLst/>
          </a:prstGeom>
          <a:noFill/>
        </p:spPr>
        <p:txBody>
          <a:bodyPr wrap="square" rtlCol="0" anchor="ctr">
            <a:spAutoFit/>
          </a:bodyPr>
          <a:lstStyle/>
          <a:p>
            <a:pPr algn="ctr"/>
            <a:r>
              <a:rPr lang="en-US" sz="1800" b="1" dirty="0">
                <a:latin typeface="+mn-lt"/>
              </a:rPr>
              <a:t>HIT?</a:t>
            </a:r>
          </a:p>
        </p:txBody>
      </p:sp>
      <p:sp>
        <p:nvSpPr>
          <p:cNvPr id="22" name="TextBox 21">
            <a:extLst>
              <a:ext uri="{FF2B5EF4-FFF2-40B4-BE49-F238E27FC236}">
                <a16:creationId xmlns:a16="http://schemas.microsoft.com/office/drawing/2014/main" id="{128C01E9-6765-4A72-B779-3980D3EC081A}"/>
              </a:ext>
            </a:extLst>
          </p:cNvPr>
          <p:cNvSpPr txBox="1"/>
          <p:nvPr/>
        </p:nvSpPr>
        <p:spPr>
          <a:xfrm>
            <a:off x="1143000" y="4316492"/>
            <a:ext cx="1066800" cy="560308"/>
          </a:xfrm>
          <a:prstGeom prst="rect">
            <a:avLst/>
          </a:prstGeom>
          <a:solidFill>
            <a:schemeClr val="accent6">
              <a:lumMod val="60000"/>
              <a:lumOff val="40000"/>
            </a:schemeClr>
          </a:solidFill>
          <a:ln w="25400">
            <a:solidFill>
              <a:schemeClr val="tx1"/>
            </a:solidFill>
          </a:ln>
        </p:spPr>
        <p:txBody>
          <a:bodyPr wrap="square" rtlCol="0" anchor="ctr">
            <a:noAutofit/>
          </a:bodyPr>
          <a:lstStyle/>
          <a:p>
            <a:pPr algn="ctr"/>
            <a:r>
              <a:rPr lang="en-US" sz="1800" b="1" dirty="0">
                <a:latin typeface="+mn-lt"/>
              </a:rPr>
              <a:t>hash function</a:t>
            </a:r>
          </a:p>
        </p:txBody>
      </p:sp>
      <p:cxnSp>
        <p:nvCxnSpPr>
          <p:cNvPr id="23" name="Straight Arrow Connector 22">
            <a:extLst>
              <a:ext uri="{FF2B5EF4-FFF2-40B4-BE49-F238E27FC236}">
                <a16:creationId xmlns:a16="http://schemas.microsoft.com/office/drawing/2014/main" id="{EF20B0A6-5147-4BF4-B83F-D6A1A3CBAA4C}"/>
              </a:ext>
            </a:extLst>
          </p:cNvPr>
          <p:cNvCxnSpPr/>
          <p:nvPr/>
        </p:nvCxnSpPr>
        <p:spPr>
          <a:xfrm flipV="1">
            <a:off x="914399" y="2209800"/>
            <a:ext cx="1" cy="329184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AFD8470-1C89-4B1B-8891-D34FEADA59A1}"/>
              </a:ext>
            </a:extLst>
          </p:cNvPr>
          <p:cNvCxnSpPr>
            <a:cxnSpLocks/>
          </p:cNvCxnSpPr>
          <p:nvPr/>
        </p:nvCxnSpPr>
        <p:spPr>
          <a:xfrm flipV="1">
            <a:off x="914399" y="5513294"/>
            <a:ext cx="3611881" cy="4048"/>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24CFF512-2322-4974-8FF9-EC78E1A189C5}"/>
              </a:ext>
            </a:extLst>
          </p:cNvPr>
          <p:cNvCxnSpPr/>
          <p:nvPr/>
        </p:nvCxnSpPr>
        <p:spPr>
          <a:xfrm rot="5400000">
            <a:off x="624839" y="3032760"/>
            <a:ext cx="256032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DB65478-A7FD-4752-B35A-FE15BADCBA16}"/>
              </a:ext>
            </a:extLst>
          </p:cNvPr>
          <p:cNvSpPr txBox="1"/>
          <p:nvPr/>
        </p:nvSpPr>
        <p:spPr>
          <a:xfrm>
            <a:off x="7162800" y="6058363"/>
            <a:ext cx="1066800" cy="369332"/>
          </a:xfrm>
          <a:prstGeom prst="rect">
            <a:avLst/>
          </a:prstGeom>
          <a:noFill/>
        </p:spPr>
        <p:txBody>
          <a:bodyPr wrap="square" rtlCol="0" anchor="ctr">
            <a:spAutoFit/>
          </a:bodyPr>
          <a:lstStyle/>
          <a:p>
            <a:pPr algn="ctr"/>
            <a:r>
              <a:rPr lang="en-US" sz="1800" b="1" dirty="0">
                <a:solidFill>
                  <a:schemeClr val="accent2">
                    <a:lumMod val="75000"/>
                  </a:schemeClr>
                </a:solidFill>
                <a:latin typeface="+mn-lt"/>
              </a:rPr>
              <a:t>data</a:t>
            </a:r>
          </a:p>
        </p:txBody>
      </p:sp>
      <p:sp>
        <p:nvSpPr>
          <p:cNvPr id="28" name="TextBox 27">
            <a:extLst>
              <a:ext uri="{FF2B5EF4-FFF2-40B4-BE49-F238E27FC236}">
                <a16:creationId xmlns:a16="http://schemas.microsoft.com/office/drawing/2014/main" id="{8071B42F-939D-4840-ADF4-38EEF9D46DCE}"/>
              </a:ext>
            </a:extLst>
          </p:cNvPr>
          <p:cNvSpPr txBox="1"/>
          <p:nvPr/>
        </p:nvSpPr>
        <p:spPr>
          <a:xfrm>
            <a:off x="609600" y="5132295"/>
            <a:ext cx="1066800" cy="369332"/>
          </a:xfrm>
          <a:prstGeom prst="rect">
            <a:avLst/>
          </a:prstGeom>
          <a:noFill/>
        </p:spPr>
        <p:txBody>
          <a:bodyPr wrap="square" rtlCol="0" anchor="ctr">
            <a:spAutoFit/>
          </a:bodyPr>
          <a:lstStyle/>
          <a:p>
            <a:pPr algn="ctr"/>
            <a:r>
              <a:rPr lang="en-US" sz="1800" dirty="0">
                <a:latin typeface="+mn-lt"/>
              </a:rPr>
              <a:t>tag</a:t>
            </a:r>
          </a:p>
        </p:txBody>
      </p:sp>
      <p:sp>
        <p:nvSpPr>
          <p:cNvPr id="29" name="TextBox 28">
            <a:extLst>
              <a:ext uri="{FF2B5EF4-FFF2-40B4-BE49-F238E27FC236}">
                <a16:creationId xmlns:a16="http://schemas.microsoft.com/office/drawing/2014/main" id="{AB906976-B199-4CE3-A6BE-841BAF2729FA}"/>
              </a:ext>
            </a:extLst>
          </p:cNvPr>
          <p:cNvSpPr txBox="1"/>
          <p:nvPr/>
        </p:nvSpPr>
        <p:spPr>
          <a:xfrm>
            <a:off x="1935149" y="4227314"/>
            <a:ext cx="1066800" cy="369332"/>
          </a:xfrm>
          <a:prstGeom prst="rect">
            <a:avLst/>
          </a:prstGeom>
          <a:noFill/>
        </p:spPr>
        <p:txBody>
          <a:bodyPr wrap="square" rtlCol="0" anchor="ctr">
            <a:spAutoFit/>
          </a:bodyPr>
          <a:lstStyle/>
          <a:p>
            <a:pPr algn="ctr"/>
            <a:r>
              <a:rPr lang="en-US" sz="1800" dirty="0">
                <a:latin typeface="+mn-lt"/>
              </a:rPr>
              <a:t>set</a:t>
            </a:r>
          </a:p>
        </p:txBody>
      </p:sp>
      <p:sp>
        <p:nvSpPr>
          <p:cNvPr id="34" name="TextBox 33">
            <a:extLst>
              <a:ext uri="{FF2B5EF4-FFF2-40B4-BE49-F238E27FC236}">
                <a16:creationId xmlns:a16="http://schemas.microsoft.com/office/drawing/2014/main" id="{15886E2B-4EDA-44F0-B405-9CD77706FE0C}"/>
              </a:ext>
            </a:extLst>
          </p:cNvPr>
          <p:cNvSpPr txBox="1"/>
          <p:nvPr/>
        </p:nvSpPr>
        <p:spPr>
          <a:xfrm>
            <a:off x="1470085" y="1731606"/>
            <a:ext cx="1174630" cy="458674"/>
          </a:xfrm>
          <a:prstGeom prst="rect">
            <a:avLst/>
          </a:prstGeom>
          <a:noFill/>
        </p:spPr>
        <p:txBody>
          <a:bodyPr wrap="square" rtlCol="0" anchor="ctr">
            <a:noAutofit/>
          </a:bodyPr>
          <a:lstStyle/>
          <a:p>
            <a:pPr algn="ctr"/>
            <a:r>
              <a:rPr lang="en-US" sz="1800" b="1" dirty="0">
                <a:solidFill>
                  <a:schemeClr val="accent6">
                    <a:lumMod val="75000"/>
                  </a:schemeClr>
                </a:solidFill>
                <a:latin typeface="+mn-lt"/>
              </a:rPr>
              <a:t>V</a:t>
            </a:r>
            <a:r>
              <a:rPr lang="en-US" sz="1800" b="1" baseline="-25000" dirty="0">
                <a:solidFill>
                  <a:schemeClr val="accent6">
                    <a:lumMod val="75000"/>
                  </a:schemeClr>
                </a:solidFill>
                <a:latin typeface="+mn-lt"/>
              </a:rPr>
              <a:t>B</a:t>
            </a:r>
          </a:p>
        </p:txBody>
      </p:sp>
      <p:graphicFrame>
        <p:nvGraphicFramePr>
          <p:cNvPr id="2" name="Table 1">
            <a:extLst>
              <a:ext uri="{FF2B5EF4-FFF2-40B4-BE49-F238E27FC236}">
                <a16:creationId xmlns:a16="http://schemas.microsoft.com/office/drawing/2014/main" id="{D6646884-BEB2-0081-5BC0-526627C2204D}"/>
              </a:ext>
            </a:extLst>
          </p:cNvPr>
          <p:cNvGraphicFramePr>
            <a:graphicFrameLocks noGrp="1"/>
          </p:cNvGraphicFramePr>
          <p:nvPr>
            <p:extLst>
              <p:ext uri="{D42A27DB-BD31-4B8C-83A1-F6EECF244321}">
                <p14:modId xmlns:p14="http://schemas.microsoft.com/office/powerpoint/2010/main" val="298866363"/>
              </p:ext>
            </p:extLst>
          </p:nvPr>
        </p:nvGraphicFramePr>
        <p:xfrm>
          <a:off x="0" y="2981960"/>
          <a:ext cx="1752600" cy="37084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20000"/>
                    </a:ext>
                  </a:extLst>
                </a:gridCol>
              </a:tblGrid>
              <a:tr h="370840">
                <a:tc>
                  <a:txBody>
                    <a:bodyPr/>
                    <a:lstStyle/>
                    <a:p>
                      <a:pPr algn="ctr"/>
                      <a:r>
                        <a:rPr lang="en-US" b="0" dirty="0">
                          <a:solidFill>
                            <a:schemeClr val="tx1"/>
                          </a:solidFill>
                        </a:rPr>
                        <a:t>physical address</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graphicFrame>
        <p:nvGraphicFramePr>
          <p:cNvPr id="3" name="Table 2">
            <a:extLst>
              <a:ext uri="{FF2B5EF4-FFF2-40B4-BE49-F238E27FC236}">
                <a16:creationId xmlns:a16="http://schemas.microsoft.com/office/drawing/2014/main" id="{F43B6F57-9910-BC13-1A3A-2F31F269A766}"/>
              </a:ext>
            </a:extLst>
          </p:cNvPr>
          <p:cNvGraphicFramePr>
            <a:graphicFrameLocks noGrp="1"/>
          </p:cNvGraphicFramePr>
          <p:nvPr>
            <p:extLst>
              <p:ext uri="{D42A27DB-BD31-4B8C-83A1-F6EECF244321}">
                <p14:modId xmlns:p14="http://schemas.microsoft.com/office/powerpoint/2010/main" val="3038976889"/>
              </p:ext>
            </p:extLst>
          </p:nvPr>
        </p:nvGraphicFramePr>
        <p:xfrm>
          <a:off x="609600" y="1446756"/>
          <a:ext cx="1752600" cy="37084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20000"/>
                    </a:ext>
                  </a:extLst>
                </a:gridCol>
              </a:tblGrid>
              <a:tr h="370840">
                <a:tc>
                  <a:txBody>
                    <a:bodyPr/>
                    <a:lstStyle/>
                    <a:p>
                      <a:pPr algn="ctr"/>
                      <a:r>
                        <a:rPr lang="en-US" b="0" dirty="0">
                          <a:solidFill>
                            <a:schemeClr val="tx1"/>
                          </a:solidFill>
                        </a:rPr>
                        <a:t>virtual address</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
        <p:nvSpPr>
          <p:cNvPr id="4" name="TextBox 3">
            <a:extLst>
              <a:ext uri="{FF2B5EF4-FFF2-40B4-BE49-F238E27FC236}">
                <a16:creationId xmlns:a16="http://schemas.microsoft.com/office/drawing/2014/main" id="{FF3F7BA0-7D59-A0AC-50C6-5578396151FF}"/>
              </a:ext>
            </a:extLst>
          </p:cNvPr>
          <p:cNvSpPr txBox="1"/>
          <p:nvPr/>
        </p:nvSpPr>
        <p:spPr>
          <a:xfrm>
            <a:off x="152400" y="2151698"/>
            <a:ext cx="1520674" cy="560308"/>
          </a:xfrm>
          <a:prstGeom prst="rect">
            <a:avLst/>
          </a:prstGeom>
          <a:solidFill>
            <a:schemeClr val="accent6">
              <a:lumMod val="60000"/>
              <a:lumOff val="40000"/>
            </a:schemeClr>
          </a:solidFill>
          <a:ln w="25400">
            <a:solidFill>
              <a:schemeClr val="tx1"/>
            </a:solidFill>
          </a:ln>
        </p:spPr>
        <p:txBody>
          <a:bodyPr wrap="square" rtlCol="0" anchor="ctr">
            <a:noAutofit/>
          </a:bodyPr>
          <a:lstStyle/>
          <a:p>
            <a:pPr algn="ctr"/>
            <a:r>
              <a:rPr lang="en-US" sz="1800" b="1" dirty="0">
                <a:latin typeface="+mn-lt"/>
              </a:rPr>
              <a:t>TLB</a:t>
            </a:r>
          </a:p>
        </p:txBody>
      </p:sp>
      <p:cxnSp>
        <p:nvCxnSpPr>
          <p:cNvPr id="5" name="Straight Arrow Connector 4">
            <a:extLst>
              <a:ext uri="{FF2B5EF4-FFF2-40B4-BE49-F238E27FC236}">
                <a16:creationId xmlns:a16="http://schemas.microsoft.com/office/drawing/2014/main" id="{80695B0D-DDFE-6487-BA48-D2B4A1A89611}"/>
              </a:ext>
            </a:extLst>
          </p:cNvPr>
          <p:cNvCxnSpPr/>
          <p:nvPr/>
        </p:nvCxnSpPr>
        <p:spPr>
          <a:xfrm rot="5400000">
            <a:off x="754379" y="1977616"/>
            <a:ext cx="32004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478345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VIPT Cache – Synonyms</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9</a:t>
            </a:fld>
            <a:endParaRPr lang="en-US" altLang="en-US"/>
          </a:p>
        </p:txBody>
      </p:sp>
      <p:cxnSp>
        <p:nvCxnSpPr>
          <p:cNvPr id="6" name="Straight Arrow Connector 5">
            <a:extLst>
              <a:ext uri="{FF2B5EF4-FFF2-40B4-BE49-F238E27FC236}">
                <a16:creationId xmlns:a16="http://schemas.microsoft.com/office/drawing/2014/main" id="{C45BE81F-7E63-42E4-A768-6A2DBF6438D0}"/>
              </a:ext>
            </a:extLst>
          </p:cNvPr>
          <p:cNvCxnSpPr/>
          <p:nvPr/>
        </p:nvCxnSpPr>
        <p:spPr>
          <a:xfrm>
            <a:off x="1371600" y="4572000"/>
            <a:ext cx="1371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7" name="Table 6">
            <a:extLst>
              <a:ext uri="{FF2B5EF4-FFF2-40B4-BE49-F238E27FC236}">
                <a16:creationId xmlns:a16="http://schemas.microsoft.com/office/drawing/2014/main" id="{F013A05E-2BC7-4EE8-AE54-477FEED93E54}"/>
              </a:ext>
            </a:extLst>
          </p:cNvPr>
          <p:cNvGraphicFramePr>
            <a:graphicFrameLocks noGrp="1"/>
          </p:cNvGraphicFramePr>
          <p:nvPr/>
        </p:nvGraphicFramePr>
        <p:xfrm>
          <a:off x="2743200" y="2846294"/>
          <a:ext cx="5710645" cy="2225040"/>
        </p:xfrm>
        <a:graphic>
          <a:graphicData uri="http://schemas.openxmlformats.org/drawingml/2006/table">
            <a:tbl>
              <a:tblPr bandRow="1">
                <a:tableStyleId>{5C22544A-7EE6-4342-B048-85BDC9FD1C3A}</a:tableStyleId>
              </a:tblPr>
              <a:tblGrid>
                <a:gridCol w="5334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544286">
                  <a:extLst>
                    <a:ext uri="{9D8B030D-6E8A-4147-A177-3AD203B41FA5}">
                      <a16:colId xmlns:a16="http://schemas.microsoft.com/office/drawing/2014/main" val="20002"/>
                    </a:ext>
                  </a:extLst>
                </a:gridCol>
                <a:gridCol w="1197428">
                  <a:extLst>
                    <a:ext uri="{9D8B030D-6E8A-4147-A177-3AD203B41FA5}">
                      <a16:colId xmlns:a16="http://schemas.microsoft.com/office/drawing/2014/main" val="20003"/>
                    </a:ext>
                  </a:extLst>
                </a:gridCol>
                <a:gridCol w="870857">
                  <a:extLst>
                    <a:ext uri="{9D8B030D-6E8A-4147-A177-3AD203B41FA5}">
                      <a16:colId xmlns:a16="http://schemas.microsoft.com/office/drawing/2014/main" val="20004"/>
                    </a:ext>
                  </a:extLst>
                </a:gridCol>
                <a:gridCol w="870857">
                  <a:extLst>
                    <a:ext uri="{9D8B030D-6E8A-4147-A177-3AD203B41FA5}">
                      <a16:colId xmlns:a16="http://schemas.microsoft.com/office/drawing/2014/main" val="20005"/>
                    </a:ext>
                  </a:extLst>
                </a:gridCol>
                <a:gridCol w="870857">
                  <a:extLst>
                    <a:ext uri="{9D8B030D-6E8A-4147-A177-3AD203B41FA5}">
                      <a16:colId xmlns:a16="http://schemas.microsoft.com/office/drawing/2014/main" val="20006"/>
                    </a:ext>
                  </a:extLst>
                </a:gridCol>
              </a:tblGrid>
              <a:tr h="370840">
                <a:tc>
                  <a:txBody>
                    <a:bodyPr/>
                    <a:lstStyle/>
                    <a:p>
                      <a:pPr algn="ctr"/>
                      <a:r>
                        <a:rPr lang="en-US" dirty="0"/>
                        <a:t>tag</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tag</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data</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data</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r>
                        <a:rPr lang="en-US" b="0" dirty="0">
                          <a:latin typeface="+mn-lt"/>
                          <a:cs typeface="Calibri"/>
                        </a:rPr>
                        <a:t>● ● ●</a:t>
                      </a:r>
                      <a:endParaRPr lang="en-US" b="0"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r>
                        <a:rPr lang="en-US" b="0" dirty="0">
                          <a:latin typeface="+mn-lt"/>
                          <a:cs typeface="Calibri"/>
                        </a:rPr>
                        <a:t>● ● ●</a:t>
                      </a:r>
                      <a:endParaRPr lang="en-US" b="0"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2"/>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a:t>X</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a:t>[X]</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3"/>
                  </a:ext>
                </a:extLst>
              </a:tr>
              <a:tr h="370840">
                <a:tc>
                  <a:txBody>
                    <a:bodyPr/>
                    <a:lstStyle/>
                    <a:p>
                      <a:pPr algn="ctr"/>
                      <a:r>
                        <a:rPr lang="en-US" b="1" dirty="0"/>
                        <a:t>X</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6">
                        <a:lumMod val="7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accent6">
                        <a:lumMod val="60000"/>
                        <a:lumOff val="40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a:t>[X]</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4"/>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5"/>
                  </a:ext>
                </a:extLst>
              </a:tr>
            </a:tbl>
          </a:graphicData>
        </a:graphic>
      </p:graphicFrame>
      <p:sp>
        <p:nvSpPr>
          <p:cNvPr id="8" name="Trapezoid 7">
            <a:extLst>
              <a:ext uri="{FF2B5EF4-FFF2-40B4-BE49-F238E27FC236}">
                <a16:creationId xmlns:a16="http://schemas.microsoft.com/office/drawing/2014/main" id="{7D55239E-209F-495A-8B42-1E271C042D73}"/>
              </a:ext>
            </a:extLst>
          </p:cNvPr>
          <p:cNvSpPr/>
          <p:nvPr/>
        </p:nvSpPr>
        <p:spPr>
          <a:xfrm flipV="1">
            <a:off x="6477000" y="5464002"/>
            <a:ext cx="2514600" cy="365760"/>
          </a:xfrm>
          <a:prstGeom prst="trapezoid">
            <a:avLst>
              <a:gd name="adj" fmla="val 86212"/>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BEEB579-362A-4A16-AE30-59E1934ACA39}"/>
              </a:ext>
            </a:extLst>
          </p:cNvPr>
          <p:cNvSpPr/>
          <p:nvPr/>
        </p:nvSpPr>
        <p:spPr>
          <a:xfrm>
            <a:off x="4617720" y="5311602"/>
            <a:ext cx="411480" cy="41148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a:t>
            </a:r>
          </a:p>
        </p:txBody>
      </p:sp>
      <p:cxnSp>
        <p:nvCxnSpPr>
          <p:cNvPr id="10" name="Straight Arrow Connector 9">
            <a:extLst>
              <a:ext uri="{FF2B5EF4-FFF2-40B4-BE49-F238E27FC236}">
                <a16:creationId xmlns:a16="http://schemas.microsoft.com/office/drawing/2014/main" id="{A894139C-8958-40DA-96C5-7E7E1362CDE8}"/>
              </a:ext>
            </a:extLst>
          </p:cNvPr>
          <p:cNvCxnSpPr/>
          <p:nvPr/>
        </p:nvCxnSpPr>
        <p:spPr>
          <a:xfrm>
            <a:off x="5029200" y="5540202"/>
            <a:ext cx="146304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C49A967-7F07-4B1E-B62B-888B49868097}"/>
              </a:ext>
            </a:extLst>
          </p:cNvPr>
          <p:cNvCxnSpPr/>
          <p:nvPr/>
        </p:nvCxnSpPr>
        <p:spPr>
          <a:xfrm rot="5400000">
            <a:off x="7970520" y="4797014"/>
            <a:ext cx="128016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5C35EAF-D1F2-4395-9584-B890290FB6C0}"/>
              </a:ext>
            </a:extLst>
          </p:cNvPr>
          <p:cNvCxnSpPr/>
          <p:nvPr/>
        </p:nvCxnSpPr>
        <p:spPr>
          <a:xfrm rot="5400000">
            <a:off x="7559040" y="5966922"/>
            <a:ext cx="27432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17CC8B1-6719-4FF5-BC73-524EACF45DF9}"/>
              </a:ext>
            </a:extLst>
          </p:cNvPr>
          <p:cNvCxnSpPr/>
          <p:nvPr/>
        </p:nvCxnSpPr>
        <p:spPr>
          <a:xfrm>
            <a:off x="8458200" y="4141694"/>
            <a:ext cx="164592"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45E07A49-B957-459E-82B7-6E8E8DBCDFC0}"/>
              </a:ext>
            </a:extLst>
          </p:cNvPr>
          <p:cNvSpPr txBox="1"/>
          <p:nvPr/>
        </p:nvSpPr>
        <p:spPr>
          <a:xfrm>
            <a:off x="2514600" y="2465295"/>
            <a:ext cx="990600" cy="369332"/>
          </a:xfrm>
          <a:prstGeom prst="rect">
            <a:avLst/>
          </a:prstGeom>
          <a:noFill/>
        </p:spPr>
        <p:txBody>
          <a:bodyPr wrap="square" rtlCol="0" anchor="ctr">
            <a:spAutoFit/>
          </a:bodyPr>
          <a:lstStyle/>
          <a:p>
            <a:pPr algn="ctr"/>
            <a:r>
              <a:rPr lang="en-US" sz="1800" dirty="0">
                <a:latin typeface="+mn-lt"/>
              </a:rPr>
              <a:t>way 0</a:t>
            </a:r>
          </a:p>
        </p:txBody>
      </p:sp>
      <p:sp>
        <p:nvSpPr>
          <p:cNvPr id="17" name="TextBox 16">
            <a:extLst>
              <a:ext uri="{FF2B5EF4-FFF2-40B4-BE49-F238E27FC236}">
                <a16:creationId xmlns:a16="http://schemas.microsoft.com/office/drawing/2014/main" id="{6341C48D-44BD-475B-B436-7456F73B4146}"/>
              </a:ext>
            </a:extLst>
          </p:cNvPr>
          <p:cNvSpPr txBox="1"/>
          <p:nvPr/>
        </p:nvSpPr>
        <p:spPr>
          <a:xfrm>
            <a:off x="3886200" y="2465295"/>
            <a:ext cx="990600" cy="369332"/>
          </a:xfrm>
          <a:prstGeom prst="rect">
            <a:avLst/>
          </a:prstGeom>
          <a:noFill/>
        </p:spPr>
        <p:txBody>
          <a:bodyPr wrap="square" rtlCol="0" anchor="ctr">
            <a:spAutoFit/>
          </a:bodyPr>
          <a:lstStyle/>
          <a:p>
            <a:pPr algn="ctr"/>
            <a:r>
              <a:rPr lang="en-US" sz="1800" dirty="0">
                <a:latin typeface="+mn-lt"/>
              </a:rPr>
              <a:t>way N-1</a:t>
            </a:r>
          </a:p>
        </p:txBody>
      </p:sp>
      <p:sp>
        <p:nvSpPr>
          <p:cNvPr id="18" name="TextBox 17">
            <a:extLst>
              <a:ext uri="{FF2B5EF4-FFF2-40B4-BE49-F238E27FC236}">
                <a16:creationId xmlns:a16="http://schemas.microsoft.com/office/drawing/2014/main" id="{BE5298D5-D95E-4743-BC73-CC3671367998}"/>
              </a:ext>
            </a:extLst>
          </p:cNvPr>
          <p:cNvSpPr txBox="1"/>
          <p:nvPr/>
        </p:nvSpPr>
        <p:spPr>
          <a:xfrm>
            <a:off x="5791200" y="2465295"/>
            <a:ext cx="990600" cy="369332"/>
          </a:xfrm>
          <a:prstGeom prst="rect">
            <a:avLst/>
          </a:prstGeom>
          <a:noFill/>
        </p:spPr>
        <p:txBody>
          <a:bodyPr wrap="square" rtlCol="0" anchor="ctr">
            <a:spAutoFit/>
          </a:bodyPr>
          <a:lstStyle/>
          <a:p>
            <a:pPr algn="ctr"/>
            <a:r>
              <a:rPr lang="en-US" sz="1800" dirty="0">
                <a:latin typeface="+mn-lt"/>
              </a:rPr>
              <a:t>way 0</a:t>
            </a:r>
          </a:p>
        </p:txBody>
      </p:sp>
      <p:sp>
        <p:nvSpPr>
          <p:cNvPr id="19" name="TextBox 18">
            <a:extLst>
              <a:ext uri="{FF2B5EF4-FFF2-40B4-BE49-F238E27FC236}">
                <a16:creationId xmlns:a16="http://schemas.microsoft.com/office/drawing/2014/main" id="{AB795696-7743-4BEA-8FE2-36D4269F3825}"/>
              </a:ext>
            </a:extLst>
          </p:cNvPr>
          <p:cNvSpPr txBox="1"/>
          <p:nvPr/>
        </p:nvSpPr>
        <p:spPr>
          <a:xfrm>
            <a:off x="7543800" y="2465295"/>
            <a:ext cx="990600" cy="369332"/>
          </a:xfrm>
          <a:prstGeom prst="rect">
            <a:avLst/>
          </a:prstGeom>
          <a:noFill/>
        </p:spPr>
        <p:txBody>
          <a:bodyPr wrap="square" rtlCol="0" anchor="ctr">
            <a:spAutoFit/>
          </a:bodyPr>
          <a:lstStyle/>
          <a:p>
            <a:pPr algn="ctr"/>
            <a:r>
              <a:rPr lang="en-US" sz="1800" dirty="0">
                <a:latin typeface="+mn-lt"/>
              </a:rPr>
              <a:t>way N-1</a:t>
            </a:r>
          </a:p>
        </p:txBody>
      </p:sp>
      <p:sp>
        <p:nvSpPr>
          <p:cNvPr id="20" name="TextBox 19">
            <a:extLst>
              <a:ext uri="{FF2B5EF4-FFF2-40B4-BE49-F238E27FC236}">
                <a16:creationId xmlns:a16="http://schemas.microsoft.com/office/drawing/2014/main" id="{AE44DC6D-E8F7-4AD8-B663-AB8F1ACC712A}"/>
              </a:ext>
            </a:extLst>
          </p:cNvPr>
          <p:cNvSpPr txBox="1"/>
          <p:nvPr/>
        </p:nvSpPr>
        <p:spPr>
          <a:xfrm>
            <a:off x="4736352" y="5211499"/>
            <a:ext cx="1066800" cy="369332"/>
          </a:xfrm>
          <a:prstGeom prst="rect">
            <a:avLst/>
          </a:prstGeom>
          <a:noFill/>
        </p:spPr>
        <p:txBody>
          <a:bodyPr wrap="square" rtlCol="0" anchor="ctr">
            <a:spAutoFit/>
          </a:bodyPr>
          <a:lstStyle/>
          <a:p>
            <a:pPr algn="ctr"/>
            <a:r>
              <a:rPr lang="en-US" sz="1800" b="1" dirty="0">
                <a:latin typeface="+mn-lt"/>
              </a:rPr>
              <a:t>HIT?</a:t>
            </a:r>
          </a:p>
        </p:txBody>
      </p:sp>
      <p:sp>
        <p:nvSpPr>
          <p:cNvPr id="22" name="TextBox 21">
            <a:extLst>
              <a:ext uri="{FF2B5EF4-FFF2-40B4-BE49-F238E27FC236}">
                <a16:creationId xmlns:a16="http://schemas.microsoft.com/office/drawing/2014/main" id="{128C01E9-6765-4A72-B779-3980D3EC081A}"/>
              </a:ext>
            </a:extLst>
          </p:cNvPr>
          <p:cNvSpPr txBox="1"/>
          <p:nvPr/>
        </p:nvSpPr>
        <p:spPr>
          <a:xfrm>
            <a:off x="1143000" y="4316492"/>
            <a:ext cx="1066800" cy="560308"/>
          </a:xfrm>
          <a:prstGeom prst="rect">
            <a:avLst/>
          </a:prstGeom>
          <a:solidFill>
            <a:schemeClr val="accent6">
              <a:lumMod val="60000"/>
              <a:lumOff val="40000"/>
            </a:schemeClr>
          </a:solidFill>
          <a:ln w="25400">
            <a:solidFill>
              <a:schemeClr val="tx1"/>
            </a:solidFill>
          </a:ln>
        </p:spPr>
        <p:txBody>
          <a:bodyPr wrap="square" rtlCol="0" anchor="ctr">
            <a:noAutofit/>
          </a:bodyPr>
          <a:lstStyle/>
          <a:p>
            <a:pPr algn="ctr"/>
            <a:r>
              <a:rPr lang="en-US" sz="1800" b="1" dirty="0">
                <a:latin typeface="+mn-lt"/>
              </a:rPr>
              <a:t>hash function</a:t>
            </a:r>
          </a:p>
        </p:txBody>
      </p:sp>
      <p:cxnSp>
        <p:nvCxnSpPr>
          <p:cNvPr id="23" name="Straight Arrow Connector 22">
            <a:extLst>
              <a:ext uri="{FF2B5EF4-FFF2-40B4-BE49-F238E27FC236}">
                <a16:creationId xmlns:a16="http://schemas.microsoft.com/office/drawing/2014/main" id="{EF20B0A6-5147-4BF4-B83F-D6A1A3CBAA4C}"/>
              </a:ext>
            </a:extLst>
          </p:cNvPr>
          <p:cNvCxnSpPr/>
          <p:nvPr/>
        </p:nvCxnSpPr>
        <p:spPr>
          <a:xfrm flipV="1">
            <a:off x="914399" y="2209800"/>
            <a:ext cx="1" cy="329184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AFD8470-1C89-4B1B-8891-D34FEADA59A1}"/>
              </a:ext>
            </a:extLst>
          </p:cNvPr>
          <p:cNvCxnSpPr>
            <a:cxnSpLocks/>
          </p:cNvCxnSpPr>
          <p:nvPr/>
        </p:nvCxnSpPr>
        <p:spPr>
          <a:xfrm flipV="1">
            <a:off x="914399" y="5513294"/>
            <a:ext cx="3611881" cy="4048"/>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24CFF512-2322-4974-8FF9-EC78E1A189C5}"/>
              </a:ext>
            </a:extLst>
          </p:cNvPr>
          <p:cNvCxnSpPr/>
          <p:nvPr/>
        </p:nvCxnSpPr>
        <p:spPr>
          <a:xfrm rot="5400000">
            <a:off x="624839" y="3032760"/>
            <a:ext cx="256032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DB65478-A7FD-4752-B35A-FE15BADCBA16}"/>
              </a:ext>
            </a:extLst>
          </p:cNvPr>
          <p:cNvSpPr txBox="1"/>
          <p:nvPr/>
        </p:nvSpPr>
        <p:spPr>
          <a:xfrm>
            <a:off x="7162800" y="6058363"/>
            <a:ext cx="1066800" cy="369332"/>
          </a:xfrm>
          <a:prstGeom prst="rect">
            <a:avLst/>
          </a:prstGeom>
          <a:noFill/>
        </p:spPr>
        <p:txBody>
          <a:bodyPr wrap="square" rtlCol="0" anchor="ctr">
            <a:spAutoFit/>
          </a:bodyPr>
          <a:lstStyle/>
          <a:p>
            <a:pPr algn="ctr"/>
            <a:r>
              <a:rPr lang="en-US" sz="1800" b="1" dirty="0">
                <a:solidFill>
                  <a:schemeClr val="accent2">
                    <a:lumMod val="75000"/>
                  </a:schemeClr>
                </a:solidFill>
                <a:latin typeface="+mn-lt"/>
              </a:rPr>
              <a:t>data</a:t>
            </a:r>
          </a:p>
        </p:txBody>
      </p:sp>
      <p:sp>
        <p:nvSpPr>
          <p:cNvPr id="28" name="TextBox 27">
            <a:extLst>
              <a:ext uri="{FF2B5EF4-FFF2-40B4-BE49-F238E27FC236}">
                <a16:creationId xmlns:a16="http://schemas.microsoft.com/office/drawing/2014/main" id="{8071B42F-939D-4840-ADF4-38EEF9D46DCE}"/>
              </a:ext>
            </a:extLst>
          </p:cNvPr>
          <p:cNvSpPr txBox="1"/>
          <p:nvPr/>
        </p:nvSpPr>
        <p:spPr>
          <a:xfrm>
            <a:off x="609600" y="5132295"/>
            <a:ext cx="1066800" cy="369332"/>
          </a:xfrm>
          <a:prstGeom prst="rect">
            <a:avLst/>
          </a:prstGeom>
          <a:noFill/>
        </p:spPr>
        <p:txBody>
          <a:bodyPr wrap="square" rtlCol="0" anchor="ctr">
            <a:spAutoFit/>
          </a:bodyPr>
          <a:lstStyle/>
          <a:p>
            <a:pPr algn="ctr"/>
            <a:r>
              <a:rPr lang="en-US" sz="1800" dirty="0">
                <a:latin typeface="+mn-lt"/>
              </a:rPr>
              <a:t>tag</a:t>
            </a:r>
          </a:p>
        </p:txBody>
      </p:sp>
      <p:sp>
        <p:nvSpPr>
          <p:cNvPr id="29" name="TextBox 28">
            <a:extLst>
              <a:ext uri="{FF2B5EF4-FFF2-40B4-BE49-F238E27FC236}">
                <a16:creationId xmlns:a16="http://schemas.microsoft.com/office/drawing/2014/main" id="{AB906976-B199-4CE3-A6BE-841BAF2729FA}"/>
              </a:ext>
            </a:extLst>
          </p:cNvPr>
          <p:cNvSpPr txBox="1"/>
          <p:nvPr/>
        </p:nvSpPr>
        <p:spPr>
          <a:xfrm>
            <a:off x="1935149" y="4227314"/>
            <a:ext cx="1066800" cy="369332"/>
          </a:xfrm>
          <a:prstGeom prst="rect">
            <a:avLst/>
          </a:prstGeom>
          <a:noFill/>
        </p:spPr>
        <p:txBody>
          <a:bodyPr wrap="square" rtlCol="0" anchor="ctr">
            <a:spAutoFit/>
          </a:bodyPr>
          <a:lstStyle/>
          <a:p>
            <a:pPr algn="ctr"/>
            <a:r>
              <a:rPr lang="en-US" sz="1800" dirty="0">
                <a:latin typeface="+mn-lt"/>
              </a:rPr>
              <a:t>set</a:t>
            </a:r>
          </a:p>
        </p:txBody>
      </p:sp>
      <p:sp>
        <p:nvSpPr>
          <p:cNvPr id="34" name="TextBox 33">
            <a:extLst>
              <a:ext uri="{FF2B5EF4-FFF2-40B4-BE49-F238E27FC236}">
                <a16:creationId xmlns:a16="http://schemas.microsoft.com/office/drawing/2014/main" id="{15886E2B-4EDA-44F0-B405-9CD77706FE0C}"/>
              </a:ext>
            </a:extLst>
          </p:cNvPr>
          <p:cNvSpPr txBox="1"/>
          <p:nvPr/>
        </p:nvSpPr>
        <p:spPr>
          <a:xfrm>
            <a:off x="1470085" y="1731606"/>
            <a:ext cx="1174630" cy="458674"/>
          </a:xfrm>
          <a:prstGeom prst="rect">
            <a:avLst/>
          </a:prstGeom>
          <a:noFill/>
        </p:spPr>
        <p:txBody>
          <a:bodyPr wrap="square" rtlCol="0" anchor="ctr">
            <a:noAutofit/>
          </a:bodyPr>
          <a:lstStyle/>
          <a:p>
            <a:pPr algn="ctr"/>
            <a:r>
              <a:rPr lang="en-US" sz="1800" b="1" dirty="0">
                <a:solidFill>
                  <a:schemeClr val="accent6">
                    <a:lumMod val="75000"/>
                  </a:schemeClr>
                </a:solidFill>
                <a:latin typeface="+mn-lt"/>
              </a:rPr>
              <a:t>V</a:t>
            </a:r>
            <a:r>
              <a:rPr lang="en-US" sz="1800" b="1" baseline="-25000" dirty="0">
                <a:solidFill>
                  <a:schemeClr val="accent6">
                    <a:lumMod val="75000"/>
                  </a:schemeClr>
                </a:solidFill>
                <a:latin typeface="+mn-lt"/>
              </a:rPr>
              <a:t>B</a:t>
            </a:r>
          </a:p>
        </p:txBody>
      </p:sp>
      <p:sp>
        <p:nvSpPr>
          <p:cNvPr id="31" name="TextBox 30">
            <a:extLst>
              <a:ext uri="{FF2B5EF4-FFF2-40B4-BE49-F238E27FC236}">
                <a16:creationId xmlns:a16="http://schemas.microsoft.com/office/drawing/2014/main" id="{63287E26-F654-4303-B76B-CCE75A0C8D21}"/>
              </a:ext>
            </a:extLst>
          </p:cNvPr>
          <p:cNvSpPr txBox="1"/>
          <p:nvPr/>
        </p:nvSpPr>
        <p:spPr>
          <a:xfrm>
            <a:off x="-130115" y="3275126"/>
            <a:ext cx="1174630" cy="458674"/>
          </a:xfrm>
          <a:prstGeom prst="rect">
            <a:avLst/>
          </a:prstGeom>
          <a:noFill/>
        </p:spPr>
        <p:txBody>
          <a:bodyPr wrap="square" rtlCol="0" anchor="ctr">
            <a:noAutofit/>
          </a:bodyPr>
          <a:lstStyle/>
          <a:p>
            <a:pPr algn="ctr"/>
            <a:r>
              <a:rPr lang="en-US" sz="1800" b="1" dirty="0">
                <a:solidFill>
                  <a:schemeClr val="accent6">
                    <a:lumMod val="75000"/>
                  </a:schemeClr>
                </a:solidFill>
                <a:latin typeface="+mn-lt"/>
              </a:rPr>
              <a:t>V</a:t>
            </a:r>
            <a:r>
              <a:rPr lang="en-US" sz="1800" b="1" baseline="-25000" dirty="0">
                <a:solidFill>
                  <a:schemeClr val="accent6">
                    <a:lumMod val="75000"/>
                  </a:schemeClr>
                </a:solidFill>
                <a:latin typeface="+mn-lt"/>
              </a:rPr>
              <a:t>B </a:t>
            </a:r>
            <a:r>
              <a:rPr lang="en-US" sz="1800" b="1" dirty="0">
                <a:solidFill>
                  <a:schemeClr val="accent6">
                    <a:lumMod val="75000"/>
                  </a:schemeClr>
                </a:solidFill>
                <a:latin typeface="+mn-lt"/>
              </a:rPr>
              <a:t>-&gt; X</a:t>
            </a:r>
            <a:endParaRPr lang="en-US" sz="1800" b="1" baseline="-25000" dirty="0">
              <a:solidFill>
                <a:schemeClr val="accent6">
                  <a:lumMod val="75000"/>
                </a:schemeClr>
              </a:solidFill>
              <a:latin typeface="+mn-lt"/>
            </a:endParaRPr>
          </a:p>
        </p:txBody>
      </p:sp>
      <p:cxnSp>
        <p:nvCxnSpPr>
          <p:cNvPr id="33" name="Straight Arrow Connector 32">
            <a:extLst>
              <a:ext uri="{FF2B5EF4-FFF2-40B4-BE49-F238E27FC236}">
                <a16:creationId xmlns:a16="http://schemas.microsoft.com/office/drawing/2014/main" id="{D895B149-3F46-45D1-9D7E-F2C5F12C5F2F}"/>
              </a:ext>
            </a:extLst>
          </p:cNvPr>
          <p:cNvCxnSpPr>
            <a:cxnSpLocks/>
          </p:cNvCxnSpPr>
          <p:nvPr/>
        </p:nvCxnSpPr>
        <p:spPr>
          <a:xfrm>
            <a:off x="4800600" y="4495800"/>
            <a:ext cx="0" cy="758414"/>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C551339A-3A9B-49D7-AD46-16EBAB77A6DA}"/>
              </a:ext>
            </a:extLst>
          </p:cNvPr>
          <p:cNvCxnSpPr/>
          <p:nvPr/>
        </p:nvCxnSpPr>
        <p:spPr>
          <a:xfrm>
            <a:off x="4648200" y="4495800"/>
            <a:ext cx="164592"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 name="Oval 1">
            <a:extLst>
              <a:ext uri="{FF2B5EF4-FFF2-40B4-BE49-F238E27FC236}">
                <a16:creationId xmlns:a16="http://schemas.microsoft.com/office/drawing/2014/main" id="{12684D52-6D03-425A-88C7-80363679CA6C}"/>
              </a:ext>
            </a:extLst>
          </p:cNvPr>
          <p:cNvSpPr/>
          <p:nvPr/>
        </p:nvSpPr>
        <p:spPr>
          <a:xfrm rot="20974306">
            <a:off x="5543592" y="3908679"/>
            <a:ext cx="3330515" cy="799915"/>
          </a:xfrm>
          <a:prstGeom prst="ellipse">
            <a:avLst/>
          </a:prstGeom>
          <a:noFill/>
          <a:ln w="508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9576A971-6289-412F-8A38-CEC58EB20D49}"/>
              </a:ext>
            </a:extLst>
          </p:cNvPr>
          <p:cNvSpPr txBox="1"/>
          <p:nvPr/>
        </p:nvSpPr>
        <p:spPr>
          <a:xfrm>
            <a:off x="5474262" y="1981200"/>
            <a:ext cx="3592079" cy="458674"/>
          </a:xfrm>
          <a:prstGeom prst="rect">
            <a:avLst/>
          </a:prstGeom>
          <a:noFill/>
        </p:spPr>
        <p:txBody>
          <a:bodyPr wrap="square" rtlCol="0" anchor="ctr">
            <a:noAutofit/>
          </a:bodyPr>
          <a:lstStyle/>
          <a:p>
            <a:pPr algn="ctr"/>
            <a:r>
              <a:rPr lang="en-US" sz="1800" b="1" dirty="0">
                <a:solidFill>
                  <a:schemeClr val="accent6">
                    <a:lumMod val="75000"/>
                  </a:schemeClr>
                </a:solidFill>
                <a:latin typeface="+mn-lt"/>
              </a:rPr>
              <a:t>synonym problem:</a:t>
            </a:r>
          </a:p>
          <a:p>
            <a:pPr algn="ctr"/>
            <a:r>
              <a:rPr lang="en-US" sz="1800" b="1" dirty="0">
                <a:solidFill>
                  <a:schemeClr val="accent6">
                    <a:lumMod val="75000"/>
                  </a:schemeClr>
                </a:solidFill>
                <a:latin typeface="+mn-lt"/>
              </a:rPr>
              <a:t>two copies of same physical block!</a:t>
            </a:r>
          </a:p>
        </p:txBody>
      </p:sp>
      <p:graphicFrame>
        <p:nvGraphicFramePr>
          <p:cNvPr id="3" name="Table 2">
            <a:extLst>
              <a:ext uri="{FF2B5EF4-FFF2-40B4-BE49-F238E27FC236}">
                <a16:creationId xmlns:a16="http://schemas.microsoft.com/office/drawing/2014/main" id="{DD942665-7FF7-9A8C-B1AB-62138EA887A1}"/>
              </a:ext>
            </a:extLst>
          </p:cNvPr>
          <p:cNvGraphicFramePr>
            <a:graphicFrameLocks noGrp="1"/>
          </p:cNvGraphicFramePr>
          <p:nvPr>
            <p:extLst>
              <p:ext uri="{D42A27DB-BD31-4B8C-83A1-F6EECF244321}">
                <p14:modId xmlns:p14="http://schemas.microsoft.com/office/powerpoint/2010/main" val="298866363"/>
              </p:ext>
            </p:extLst>
          </p:nvPr>
        </p:nvGraphicFramePr>
        <p:xfrm>
          <a:off x="0" y="2981960"/>
          <a:ext cx="1752600" cy="37084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20000"/>
                    </a:ext>
                  </a:extLst>
                </a:gridCol>
              </a:tblGrid>
              <a:tr h="370840">
                <a:tc>
                  <a:txBody>
                    <a:bodyPr/>
                    <a:lstStyle/>
                    <a:p>
                      <a:pPr algn="ctr"/>
                      <a:r>
                        <a:rPr lang="en-US" b="0" dirty="0">
                          <a:solidFill>
                            <a:schemeClr val="tx1"/>
                          </a:solidFill>
                        </a:rPr>
                        <a:t>physical address</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graphicFrame>
        <p:nvGraphicFramePr>
          <p:cNvPr id="4" name="Table 3">
            <a:extLst>
              <a:ext uri="{FF2B5EF4-FFF2-40B4-BE49-F238E27FC236}">
                <a16:creationId xmlns:a16="http://schemas.microsoft.com/office/drawing/2014/main" id="{3AF71ADB-93E2-4400-73CB-EF2B4F706CBE}"/>
              </a:ext>
            </a:extLst>
          </p:cNvPr>
          <p:cNvGraphicFramePr>
            <a:graphicFrameLocks noGrp="1"/>
          </p:cNvGraphicFramePr>
          <p:nvPr>
            <p:extLst>
              <p:ext uri="{D42A27DB-BD31-4B8C-83A1-F6EECF244321}">
                <p14:modId xmlns:p14="http://schemas.microsoft.com/office/powerpoint/2010/main" val="3038976889"/>
              </p:ext>
            </p:extLst>
          </p:nvPr>
        </p:nvGraphicFramePr>
        <p:xfrm>
          <a:off x="609600" y="1446756"/>
          <a:ext cx="1752600" cy="37084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20000"/>
                    </a:ext>
                  </a:extLst>
                </a:gridCol>
              </a:tblGrid>
              <a:tr h="370840">
                <a:tc>
                  <a:txBody>
                    <a:bodyPr/>
                    <a:lstStyle/>
                    <a:p>
                      <a:pPr algn="ctr"/>
                      <a:r>
                        <a:rPr lang="en-US" b="0" dirty="0">
                          <a:solidFill>
                            <a:schemeClr val="tx1"/>
                          </a:solidFill>
                        </a:rPr>
                        <a:t>virtual address</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
        <p:nvSpPr>
          <p:cNvPr id="5" name="TextBox 4">
            <a:extLst>
              <a:ext uri="{FF2B5EF4-FFF2-40B4-BE49-F238E27FC236}">
                <a16:creationId xmlns:a16="http://schemas.microsoft.com/office/drawing/2014/main" id="{063AA9C6-16B8-3F87-E558-1B008D261C0E}"/>
              </a:ext>
            </a:extLst>
          </p:cNvPr>
          <p:cNvSpPr txBox="1"/>
          <p:nvPr/>
        </p:nvSpPr>
        <p:spPr>
          <a:xfrm>
            <a:off x="152400" y="2151698"/>
            <a:ext cx="1520674" cy="560308"/>
          </a:xfrm>
          <a:prstGeom prst="rect">
            <a:avLst/>
          </a:prstGeom>
          <a:solidFill>
            <a:schemeClr val="accent6">
              <a:lumMod val="60000"/>
              <a:lumOff val="40000"/>
            </a:schemeClr>
          </a:solidFill>
          <a:ln w="25400">
            <a:solidFill>
              <a:schemeClr val="tx1"/>
            </a:solidFill>
          </a:ln>
        </p:spPr>
        <p:txBody>
          <a:bodyPr wrap="square" rtlCol="0" anchor="ctr">
            <a:noAutofit/>
          </a:bodyPr>
          <a:lstStyle/>
          <a:p>
            <a:pPr algn="ctr"/>
            <a:r>
              <a:rPr lang="en-US" sz="1800" b="1" dirty="0">
                <a:latin typeface="+mn-lt"/>
              </a:rPr>
              <a:t>TLB</a:t>
            </a:r>
          </a:p>
        </p:txBody>
      </p:sp>
      <p:cxnSp>
        <p:nvCxnSpPr>
          <p:cNvPr id="11" name="Straight Arrow Connector 10">
            <a:extLst>
              <a:ext uri="{FF2B5EF4-FFF2-40B4-BE49-F238E27FC236}">
                <a16:creationId xmlns:a16="http://schemas.microsoft.com/office/drawing/2014/main" id="{EF196643-8982-3BB7-87D5-722C263159C3}"/>
              </a:ext>
            </a:extLst>
          </p:cNvPr>
          <p:cNvCxnSpPr/>
          <p:nvPr/>
        </p:nvCxnSpPr>
        <p:spPr>
          <a:xfrm rot="5400000">
            <a:off x="754379" y="1977616"/>
            <a:ext cx="32004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600477"/>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VIPT Cache – Synonyms</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10</a:t>
            </a:fld>
            <a:endParaRPr lang="en-US" altLang="en-US"/>
          </a:p>
        </p:txBody>
      </p:sp>
      <p:cxnSp>
        <p:nvCxnSpPr>
          <p:cNvPr id="6" name="Straight Arrow Connector 5">
            <a:extLst>
              <a:ext uri="{FF2B5EF4-FFF2-40B4-BE49-F238E27FC236}">
                <a16:creationId xmlns:a16="http://schemas.microsoft.com/office/drawing/2014/main" id="{C45BE81F-7E63-42E4-A768-6A2DBF6438D0}"/>
              </a:ext>
            </a:extLst>
          </p:cNvPr>
          <p:cNvCxnSpPr/>
          <p:nvPr/>
        </p:nvCxnSpPr>
        <p:spPr>
          <a:xfrm>
            <a:off x="1371600" y="4141694"/>
            <a:ext cx="1371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7" name="Table 6">
            <a:extLst>
              <a:ext uri="{FF2B5EF4-FFF2-40B4-BE49-F238E27FC236}">
                <a16:creationId xmlns:a16="http://schemas.microsoft.com/office/drawing/2014/main" id="{F013A05E-2BC7-4EE8-AE54-477FEED93E54}"/>
              </a:ext>
            </a:extLst>
          </p:cNvPr>
          <p:cNvGraphicFramePr>
            <a:graphicFrameLocks noGrp="1"/>
          </p:cNvGraphicFramePr>
          <p:nvPr/>
        </p:nvGraphicFramePr>
        <p:xfrm>
          <a:off x="2743200" y="2846294"/>
          <a:ext cx="5710645" cy="2225040"/>
        </p:xfrm>
        <a:graphic>
          <a:graphicData uri="http://schemas.openxmlformats.org/drawingml/2006/table">
            <a:tbl>
              <a:tblPr bandRow="1">
                <a:tableStyleId>{5C22544A-7EE6-4342-B048-85BDC9FD1C3A}</a:tableStyleId>
              </a:tblPr>
              <a:tblGrid>
                <a:gridCol w="5334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544286">
                  <a:extLst>
                    <a:ext uri="{9D8B030D-6E8A-4147-A177-3AD203B41FA5}">
                      <a16:colId xmlns:a16="http://schemas.microsoft.com/office/drawing/2014/main" val="20002"/>
                    </a:ext>
                  </a:extLst>
                </a:gridCol>
                <a:gridCol w="1197428">
                  <a:extLst>
                    <a:ext uri="{9D8B030D-6E8A-4147-A177-3AD203B41FA5}">
                      <a16:colId xmlns:a16="http://schemas.microsoft.com/office/drawing/2014/main" val="20003"/>
                    </a:ext>
                  </a:extLst>
                </a:gridCol>
                <a:gridCol w="870857">
                  <a:extLst>
                    <a:ext uri="{9D8B030D-6E8A-4147-A177-3AD203B41FA5}">
                      <a16:colId xmlns:a16="http://schemas.microsoft.com/office/drawing/2014/main" val="20004"/>
                    </a:ext>
                  </a:extLst>
                </a:gridCol>
                <a:gridCol w="870857">
                  <a:extLst>
                    <a:ext uri="{9D8B030D-6E8A-4147-A177-3AD203B41FA5}">
                      <a16:colId xmlns:a16="http://schemas.microsoft.com/office/drawing/2014/main" val="20005"/>
                    </a:ext>
                  </a:extLst>
                </a:gridCol>
                <a:gridCol w="870857">
                  <a:extLst>
                    <a:ext uri="{9D8B030D-6E8A-4147-A177-3AD203B41FA5}">
                      <a16:colId xmlns:a16="http://schemas.microsoft.com/office/drawing/2014/main" val="20006"/>
                    </a:ext>
                  </a:extLst>
                </a:gridCol>
              </a:tblGrid>
              <a:tr h="370840">
                <a:tc>
                  <a:txBody>
                    <a:bodyPr/>
                    <a:lstStyle/>
                    <a:p>
                      <a:pPr algn="ctr"/>
                      <a:r>
                        <a:rPr lang="en-US" dirty="0"/>
                        <a:t>tag</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tag</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data</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data</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r>
                        <a:rPr lang="en-US" b="0" dirty="0">
                          <a:latin typeface="+mn-lt"/>
                          <a:cs typeface="Calibri"/>
                        </a:rPr>
                        <a:t>● ● ●</a:t>
                      </a:r>
                      <a:endParaRPr lang="en-US" b="0"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r>
                        <a:rPr lang="en-US" b="0" dirty="0">
                          <a:latin typeface="+mn-lt"/>
                          <a:cs typeface="Calibri"/>
                        </a:rPr>
                        <a:t>● ● ●</a:t>
                      </a:r>
                      <a:endParaRPr lang="en-US" b="0"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2"/>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accent6">
                        <a:lumMod val="60000"/>
                        <a:lumOff val="40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ctr"/>
                      <a:r>
                        <a:rPr lang="en-US" b="1" dirty="0"/>
                        <a:t>X</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a:t>[X]</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3"/>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4"/>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5"/>
                  </a:ext>
                </a:extLst>
              </a:tr>
            </a:tbl>
          </a:graphicData>
        </a:graphic>
      </p:graphicFrame>
      <p:sp>
        <p:nvSpPr>
          <p:cNvPr id="8" name="Trapezoid 7">
            <a:extLst>
              <a:ext uri="{FF2B5EF4-FFF2-40B4-BE49-F238E27FC236}">
                <a16:creationId xmlns:a16="http://schemas.microsoft.com/office/drawing/2014/main" id="{7D55239E-209F-495A-8B42-1E271C042D73}"/>
              </a:ext>
            </a:extLst>
          </p:cNvPr>
          <p:cNvSpPr/>
          <p:nvPr/>
        </p:nvSpPr>
        <p:spPr>
          <a:xfrm flipV="1">
            <a:off x="6477000" y="5464002"/>
            <a:ext cx="2514600" cy="365760"/>
          </a:xfrm>
          <a:prstGeom prst="trapezoid">
            <a:avLst>
              <a:gd name="adj" fmla="val 86212"/>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BEEB579-362A-4A16-AE30-59E1934ACA39}"/>
              </a:ext>
            </a:extLst>
          </p:cNvPr>
          <p:cNvSpPr/>
          <p:nvPr/>
        </p:nvSpPr>
        <p:spPr>
          <a:xfrm>
            <a:off x="4617720" y="5311602"/>
            <a:ext cx="411480" cy="41148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a:t>
            </a:r>
          </a:p>
        </p:txBody>
      </p:sp>
      <p:cxnSp>
        <p:nvCxnSpPr>
          <p:cNvPr id="10" name="Straight Arrow Connector 9">
            <a:extLst>
              <a:ext uri="{FF2B5EF4-FFF2-40B4-BE49-F238E27FC236}">
                <a16:creationId xmlns:a16="http://schemas.microsoft.com/office/drawing/2014/main" id="{A894139C-8958-40DA-96C5-7E7E1362CDE8}"/>
              </a:ext>
            </a:extLst>
          </p:cNvPr>
          <p:cNvCxnSpPr/>
          <p:nvPr/>
        </p:nvCxnSpPr>
        <p:spPr>
          <a:xfrm>
            <a:off x="5029200" y="5540202"/>
            <a:ext cx="146304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C44F9E8-ABB5-4920-A616-85AF243C4DC1}"/>
              </a:ext>
            </a:extLst>
          </p:cNvPr>
          <p:cNvCxnSpPr/>
          <p:nvPr/>
        </p:nvCxnSpPr>
        <p:spPr>
          <a:xfrm rot="5400000">
            <a:off x="4251960" y="4705574"/>
            <a:ext cx="109728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C49A967-7F07-4B1E-B62B-888B49868097}"/>
              </a:ext>
            </a:extLst>
          </p:cNvPr>
          <p:cNvCxnSpPr/>
          <p:nvPr/>
        </p:nvCxnSpPr>
        <p:spPr>
          <a:xfrm rot="5400000">
            <a:off x="7970520" y="4797014"/>
            <a:ext cx="128016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5C35EAF-D1F2-4395-9584-B890290FB6C0}"/>
              </a:ext>
            </a:extLst>
          </p:cNvPr>
          <p:cNvCxnSpPr/>
          <p:nvPr/>
        </p:nvCxnSpPr>
        <p:spPr>
          <a:xfrm rot="5400000">
            <a:off x="7559040" y="5966922"/>
            <a:ext cx="27432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94DC620-9FB7-455C-A54B-B17860249AC7}"/>
              </a:ext>
            </a:extLst>
          </p:cNvPr>
          <p:cNvCxnSpPr/>
          <p:nvPr/>
        </p:nvCxnSpPr>
        <p:spPr>
          <a:xfrm>
            <a:off x="4648200" y="4141694"/>
            <a:ext cx="164592"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17CC8B1-6719-4FF5-BC73-524EACF45DF9}"/>
              </a:ext>
            </a:extLst>
          </p:cNvPr>
          <p:cNvCxnSpPr/>
          <p:nvPr/>
        </p:nvCxnSpPr>
        <p:spPr>
          <a:xfrm>
            <a:off x="8458200" y="4141694"/>
            <a:ext cx="164592"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45E07A49-B957-459E-82B7-6E8E8DBCDFC0}"/>
              </a:ext>
            </a:extLst>
          </p:cNvPr>
          <p:cNvSpPr txBox="1"/>
          <p:nvPr/>
        </p:nvSpPr>
        <p:spPr>
          <a:xfrm>
            <a:off x="2514600" y="2465295"/>
            <a:ext cx="990600" cy="369332"/>
          </a:xfrm>
          <a:prstGeom prst="rect">
            <a:avLst/>
          </a:prstGeom>
          <a:noFill/>
        </p:spPr>
        <p:txBody>
          <a:bodyPr wrap="square" rtlCol="0" anchor="ctr">
            <a:spAutoFit/>
          </a:bodyPr>
          <a:lstStyle/>
          <a:p>
            <a:pPr algn="ctr"/>
            <a:r>
              <a:rPr lang="en-US" sz="1800" dirty="0">
                <a:latin typeface="+mn-lt"/>
              </a:rPr>
              <a:t>way 0</a:t>
            </a:r>
          </a:p>
        </p:txBody>
      </p:sp>
      <p:sp>
        <p:nvSpPr>
          <p:cNvPr id="17" name="TextBox 16">
            <a:extLst>
              <a:ext uri="{FF2B5EF4-FFF2-40B4-BE49-F238E27FC236}">
                <a16:creationId xmlns:a16="http://schemas.microsoft.com/office/drawing/2014/main" id="{6341C48D-44BD-475B-B436-7456F73B4146}"/>
              </a:ext>
            </a:extLst>
          </p:cNvPr>
          <p:cNvSpPr txBox="1"/>
          <p:nvPr/>
        </p:nvSpPr>
        <p:spPr>
          <a:xfrm>
            <a:off x="3886200" y="2465295"/>
            <a:ext cx="990600" cy="369332"/>
          </a:xfrm>
          <a:prstGeom prst="rect">
            <a:avLst/>
          </a:prstGeom>
          <a:noFill/>
        </p:spPr>
        <p:txBody>
          <a:bodyPr wrap="square" rtlCol="0" anchor="ctr">
            <a:spAutoFit/>
          </a:bodyPr>
          <a:lstStyle/>
          <a:p>
            <a:pPr algn="ctr"/>
            <a:r>
              <a:rPr lang="en-US" sz="1800" dirty="0">
                <a:latin typeface="+mn-lt"/>
              </a:rPr>
              <a:t>way N-1</a:t>
            </a:r>
          </a:p>
        </p:txBody>
      </p:sp>
      <p:sp>
        <p:nvSpPr>
          <p:cNvPr id="18" name="TextBox 17">
            <a:extLst>
              <a:ext uri="{FF2B5EF4-FFF2-40B4-BE49-F238E27FC236}">
                <a16:creationId xmlns:a16="http://schemas.microsoft.com/office/drawing/2014/main" id="{BE5298D5-D95E-4743-BC73-CC3671367998}"/>
              </a:ext>
            </a:extLst>
          </p:cNvPr>
          <p:cNvSpPr txBox="1"/>
          <p:nvPr/>
        </p:nvSpPr>
        <p:spPr>
          <a:xfrm>
            <a:off x="5791200" y="2465295"/>
            <a:ext cx="990600" cy="369332"/>
          </a:xfrm>
          <a:prstGeom prst="rect">
            <a:avLst/>
          </a:prstGeom>
          <a:noFill/>
        </p:spPr>
        <p:txBody>
          <a:bodyPr wrap="square" rtlCol="0" anchor="ctr">
            <a:spAutoFit/>
          </a:bodyPr>
          <a:lstStyle/>
          <a:p>
            <a:pPr algn="ctr"/>
            <a:r>
              <a:rPr lang="en-US" sz="1800" dirty="0">
                <a:latin typeface="+mn-lt"/>
              </a:rPr>
              <a:t>way 0</a:t>
            </a:r>
          </a:p>
        </p:txBody>
      </p:sp>
      <p:sp>
        <p:nvSpPr>
          <p:cNvPr id="19" name="TextBox 18">
            <a:extLst>
              <a:ext uri="{FF2B5EF4-FFF2-40B4-BE49-F238E27FC236}">
                <a16:creationId xmlns:a16="http://schemas.microsoft.com/office/drawing/2014/main" id="{AB795696-7743-4BEA-8FE2-36D4269F3825}"/>
              </a:ext>
            </a:extLst>
          </p:cNvPr>
          <p:cNvSpPr txBox="1"/>
          <p:nvPr/>
        </p:nvSpPr>
        <p:spPr>
          <a:xfrm>
            <a:off x="7543800" y="2465295"/>
            <a:ext cx="990600" cy="369332"/>
          </a:xfrm>
          <a:prstGeom prst="rect">
            <a:avLst/>
          </a:prstGeom>
          <a:noFill/>
        </p:spPr>
        <p:txBody>
          <a:bodyPr wrap="square" rtlCol="0" anchor="ctr">
            <a:spAutoFit/>
          </a:bodyPr>
          <a:lstStyle/>
          <a:p>
            <a:pPr algn="ctr"/>
            <a:r>
              <a:rPr lang="en-US" sz="1800" dirty="0">
                <a:latin typeface="+mn-lt"/>
              </a:rPr>
              <a:t>way N-1</a:t>
            </a:r>
          </a:p>
        </p:txBody>
      </p:sp>
      <p:sp>
        <p:nvSpPr>
          <p:cNvPr id="20" name="TextBox 19">
            <a:extLst>
              <a:ext uri="{FF2B5EF4-FFF2-40B4-BE49-F238E27FC236}">
                <a16:creationId xmlns:a16="http://schemas.microsoft.com/office/drawing/2014/main" id="{AE44DC6D-E8F7-4AD8-B663-AB8F1ACC712A}"/>
              </a:ext>
            </a:extLst>
          </p:cNvPr>
          <p:cNvSpPr txBox="1"/>
          <p:nvPr/>
        </p:nvSpPr>
        <p:spPr>
          <a:xfrm>
            <a:off x="4736352" y="5211499"/>
            <a:ext cx="1066800" cy="369332"/>
          </a:xfrm>
          <a:prstGeom prst="rect">
            <a:avLst/>
          </a:prstGeom>
          <a:noFill/>
        </p:spPr>
        <p:txBody>
          <a:bodyPr wrap="square" rtlCol="0" anchor="ctr">
            <a:spAutoFit/>
          </a:bodyPr>
          <a:lstStyle/>
          <a:p>
            <a:pPr algn="ctr"/>
            <a:r>
              <a:rPr lang="en-US" sz="1800" b="1" dirty="0">
                <a:latin typeface="+mn-lt"/>
              </a:rPr>
              <a:t>HIT?</a:t>
            </a:r>
          </a:p>
        </p:txBody>
      </p:sp>
      <p:sp>
        <p:nvSpPr>
          <p:cNvPr id="22" name="TextBox 21">
            <a:extLst>
              <a:ext uri="{FF2B5EF4-FFF2-40B4-BE49-F238E27FC236}">
                <a16:creationId xmlns:a16="http://schemas.microsoft.com/office/drawing/2014/main" id="{128C01E9-6765-4A72-B779-3980D3EC081A}"/>
              </a:ext>
            </a:extLst>
          </p:cNvPr>
          <p:cNvSpPr txBox="1"/>
          <p:nvPr/>
        </p:nvSpPr>
        <p:spPr>
          <a:xfrm>
            <a:off x="1143000" y="3886186"/>
            <a:ext cx="1066800" cy="560308"/>
          </a:xfrm>
          <a:prstGeom prst="rect">
            <a:avLst/>
          </a:prstGeom>
          <a:solidFill>
            <a:schemeClr val="accent6">
              <a:lumMod val="60000"/>
              <a:lumOff val="40000"/>
            </a:schemeClr>
          </a:solidFill>
          <a:ln w="25400">
            <a:solidFill>
              <a:schemeClr val="tx1"/>
            </a:solidFill>
          </a:ln>
        </p:spPr>
        <p:txBody>
          <a:bodyPr wrap="square" rtlCol="0" anchor="ctr">
            <a:noAutofit/>
          </a:bodyPr>
          <a:lstStyle/>
          <a:p>
            <a:pPr algn="ctr"/>
            <a:r>
              <a:rPr lang="en-US" sz="1800" b="1" dirty="0">
                <a:latin typeface="+mn-lt"/>
              </a:rPr>
              <a:t>hash function</a:t>
            </a:r>
          </a:p>
        </p:txBody>
      </p:sp>
      <p:cxnSp>
        <p:nvCxnSpPr>
          <p:cNvPr id="23" name="Straight Arrow Connector 22">
            <a:extLst>
              <a:ext uri="{FF2B5EF4-FFF2-40B4-BE49-F238E27FC236}">
                <a16:creationId xmlns:a16="http://schemas.microsoft.com/office/drawing/2014/main" id="{EF20B0A6-5147-4BF4-B83F-D6A1A3CBAA4C}"/>
              </a:ext>
            </a:extLst>
          </p:cNvPr>
          <p:cNvCxnSpPr/>
          <p:nvPr/>
        </p:nvCxnSpPr>
        <p:spPr>
          <a:xfrm flipV="1">
            <a:off x="914399" y="2209800"/>
            <a:ext cx="1" cy="329184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AFD8470-1C89-4B1B-8891-D34FEADA59A1}"/>
              </a:ext>
            </a:extLst>
          </p:cNvPr>
          <p:cNvCxnSpPr>
            <a:cxnSpLocks/>
          </p:cNvCxnSpPr>
          <p:nvPr/>
        </p:nvCxnSpPr>
        <p:spPr>
          <a:xfrm flipV="1">
            <a:off x="914399" y="5513294"/>
            <a:ext cx="3611881" cy="4048"/>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24CFF512-2322-4974-8FF9-EC78E1A189C5}"/>
              </a:ext>
            </a:extLst>
          </p:cNvPr>
          <p:cNvCxnSpPr/>
          <p:nvPr/>
        </p:nvCxnSpPr>
        <p:spPr>
          <a:xfrm rot="5400000">
            <a:off x="853439" y="2804160"/>
            <a:ext cx="210312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DB65478-A7FD-4752-B35A-FE15BADCBA16}"/>
              </a:ext>
            </a:extLst>
          </p:cNvPr>
          <p:cNvSpPr txBox="1"/>
          <p:nvPr/>
        </p:nvSpPr>
        <p:spPr>
          <a:xfrm>
            <a:off x="7162800" y="6058363"/>
            <a:ext cx="1066800" cy="369332"/>
          </a:xfrm>
          <a:prstGeom prst="rect">
            <a:avLst/>
          </a:prstGeom>
          <a:noFill/>
        </p:spPr>
        <p:txBody>
          <a:bodyPr wrap="square" rtlCol="0" anchor="ctr">
            <a:spAutoFit/>
          </a:bodyPr>
          <a:lstStyle/>
          <a:p>
            <a:pPr algn="ctr"/>
            <a:r>
              <a:rPr lang="en-US" sz="1800" b="1" dirty="0">
                <a:solidFill>
                  <a:schemeClr val="accent2">
                    <a:lumMod val="75000"/>
                  </a:schemeClr>
                </a:solidFill>
                <a:latin typeface="+mn-lt"/>
              </a:rPr>
              <a:t>data</a:t>
            </a:r>
          </a:p>
        </p:txBody>
      </p:sp>
      <p:sp>
        <p:nvSpPr>
          <p:cNvPr id="28" name="TextBox 27">
            <a:extLst>
              <a:ext uri="{FF2B5EF4-FFF2-40B4-BE49-F238E27FC236}">
                <a16:creationId xmlns:a16="http://schemas.microsoft.com/office/drawing/2014/main" id="{8071B42F-939D-4840-ADF4-38EEF9D46DCE}"/>
              </a:ext>
            </a:extLst>
          </p:cNvPr>
          <p:cNvSpPr txBox="1"/>
          <p:nvPr/>
        </p:nvSpPr>
        <p:spPr>
          <a:xfrm>
            <a:off x="609600" y="5132295"/>
            <a:ext cx="1066800" cy="369332"/>
          </a:xfrm>
          <a:prstGeom prst="rect">
            <a:avLst/>
          </a:prstGeom>
          <a:noFill/>
        </p:spPr>
        <p:txBody>
          <a:bodyPr wrap="square" rtlCol="0" anchor="ctr">
            <a:spAutoFit/>
          </a:bodyPr>
          <a:lstStyle/>
          <a:p>
            <a:pPr algn="ctr"/>
            <a:r>
              <a:rPr lang="en-US" sz="1800" dirty="0">
                <a:latin typeface="+mn-lt"/>
              </a:rPr>
              <a:t>tag</a:t>
            </a:r>
          </a:p>
        </p:txBody>
      </p:sp>
      <p:sp>
        <p:nvSpPr>
          <p:cNvPr id="29" name="TextBox 28">
            <a:extLst>
              <a:ext uri="{FF2B5EF4-FFF2-40B4-BE49-F238E27FC236}">
                <a16:creationId xmlns:a16="http://schemas.microsoft.com/office/drawing/2014/main" id="{AB906976-B199-4CE3-A6BE-841BAF2729FA}"/>
              </a:ext>
            </a:extLst>
          </p:cNvPr>
          <p:cNvSpPr txBox="1"/>
          <p:nvPr/>
        </p:nvSpPr>
        <p:spPr>
          <a:xfrm>
            <a:off x="1935149" y="3797008"/>
            <a:ext cx="1066800" cy="369332"/>
          </a:xfrm>
          <a:prstGeom prst="rect">
            <a:avLst/>
          </a:prstGeom>
          <a:noFill/>
        </p:spPr>
        <p:txBody>
          <a:bodyPr wrap="square" rtlCol="0" anchor="ctr">
            <a:spAutoFit/>
          </a:bodyPr>
          <a:lstStyle/>
          <a:p>
            <a:pPr algn="ctr"/>
            <a:r>
              <a:rPr lang="en-US" sz="1800" dirty="0">
                <a:latin typeface="+mn-lt"/>
              </a:rPr>
              <a:t>set</a:t>
            </a:r>
          </a:p>
        </p:txBody>
      </p:sp>
      <p:sp>
        <p:nvSpPr>
          <p:cNvPr id="31" name="TextBox 30">
            <a:extLst>
              <a:ext uri="{FF2B5EF4-FFF2-40B4-BE49-F238E27FC236}">
                <a16:creationId xmlns:a16="http://schemas.microsoft.com/office/drawing/2014/main" id="{A6E0AC77-6FA5-4A38-BA23-4AF4C8C29695}"/>
              </a:ext>
            </a:extLst>
          </p:cNvPr>
          <p:cNvSpPr txBox="1"/>
          <p:nvPr/>
        </p:nvSpPr>
        <p:spPr>
          <a:xfrm>
            <a:off x="1644770" y="1731606"/>
            <a:ext cx="1174630" cy="458674"/>
          </a:xfrm>
          <a:prstGeom prst="rect">
            <a:avLst/>
          </a:prstGeom>
          <a:noFill/>
        </p:spPr>
        <p:txBody>
          <a:bodyPr wrap="square" rtlCol="0" anchor="ctr">
            <a:noAutofit/>
          </a:bodyPr>
          <a:lstStyle/>
          <a:p>
            <a:pPr algn="ctr"/>
            <a:r>
              <a:rPr lang="en-US" sz="1800" b="1" dirty="0">
                <a:solidFill>
                  <a:schemeClr val="accent6">
                    <a:lumMod val="75000"/>
                  </a:schemeClr>
                </a:solidFill>
                <a:latin typeface="+mn-lt"/>
              </a:rPr>
              <a:t>V</a:t>
            </a:r>
            <a:r>
              <a:rPr lang="en-US" sz="1800" b="1" baseline="-25000" dirty="0">
                <a:solidFill>
                  <a:schemeClr val="accent6">
                    <a:lumMod val="75000"/>
                  </a:schemeClr>
                </a:solidFill>
                <a:latin typeface="+mn-lt"/>
              </a:rPr>
              <a:t>A</a:t>
            </a:r>
            <a:r>
              <a:rPr lang="en-US" sz="1800" b="1" dirty="0">
                <a:solidFill>
                  <a:schemeClr val="accent6">
                    <a:lumMod val="75000"/>
                  </a:schemeClr>
                </a:solidFill>
                <a:latin typeface="+mn-lt"/>
              </a:rPr>
              <a:t>, V</a:t>
            </a:r>
            <a:r>
              <a:rPr lang="en-US" sz="1800" b="1" baseline="-25000" dirty="0">
                <a:solidFill>
                  <a:schemeClr val="accent6">
                    <a:lumMod val="75000"/>
                  </a:schemeClr>
                </a:solidFill>
                <a:latin typeface="+mn-lt"/>
              </a:rPr>
              <a:t>B</a:t>
            </a:r>
          </a:p>
        </p:txBody>
      </p:sp>
      <p:sp>
        <p:nvSpPr>
          <p:cNvPr id="33" name="TextBox 32">
            <a:extLst>
              <a:ext uri="{FF2B5EF4-FFF2-40B4-BE49-F238E27FC236}">
                <a16:creationId xmlns:a16="http://schemas.microsoft.com/office/drawing/2014/main" id="{A5F4B1ED-3FB1-4A8D-A3F5-B17A92229F75}"/>
              </a:ext>
            </a:extLst>
          </p:cNvPr>
          <p:cNvSpPr txBox="1"/>
          <p:nvPr/>
        </p:nvSpPr>
        <p:spPr>
          <a:xfrm>
            <a:off x="979921" y="5893268"/>
            <a:ext cx="3592079" cy="458674"/>
          </a:xfrm>
          <a:prstGeom prst="rect">
            <a:avLst/>
          </a:prstGeom>
          <a:noFill/>
        </p:spPr>
        <p:txBody>
          <a:bodyPr wrap="square" rtlCol="0" anchor="ctr">
            <a:noAutofit/>
          </a:bodyPr>
          <a:lstStyle/>
          <a:p>
            <a:pPr algn="ctr"/>
            <a:r>
              <a:rPr lang="en-US" sz="1800" b="1" dirty="0">
                <a:solidFill>
                  <a:schemeClr val="accent6">
                    <a:lumMod val="75000"/>
                  </a:schemeClr>
                </a:solidFill>
                <a:latin typeface="+mn-lt"/>
              </a:rPr>
              <a:t>solution:</a:t>
            </a:r>
          </a:p>
          <a:p>
            <a:pPr algn="ctr"/>
            <a:r>
              <a:rPr lang="en-US" sz="1800" b="1" dirty="0">
                <a:solidFill>
                  <a:schemeClr val="accent6">
                    <a:lumMod val="75000"/>
                  </a:schemeClr>
                </a:solidFill>
                <a:latin typeface="+mn-lt"/>
              </a:rPr>
              <a:t>map V</a:t>
            </a:r>
            <a:r>
              <a:rPr lang="en-US" sz="1800" b="1" baseline="-25000" dirty="0">
                <a:solidFill>
                  <a:schemeClr val="accent6">
                    <a:lumMod val="75000"/>
                  </a:schemeClr>
                </a:solidFill>
                <a:latin typeface="+mn-lt"/>
              </a:rPr>
              <a:t>A</a:t>
            </a:r>
            <a:r>
              <a:rPr lang="en-US" sz="1800" b="1" dirty="0">
                <a:solidFill>
                  <a:schemeClr val="accent6">
                    <a:lumMod val="75000"/>
                  </a:schemeClr>
                </a:solidFill>
                <a:latin typeface="+mn-lt"/>
              </a:rPr>
              <a:t> and V</a:t>
            </a:r>
            <a:r>
              <a:rPr lang="en-US" sz="1800" b="1" baseline="-25000" dirty="0">
                <a:solidFill>
                  <a:schemeClr val="accent6">
                    <a:lumMod val="75000"/>
                  </a:schemeClr>
                </a:solidFill>
                <a:latin typeface="+mn-lt"/>
              </a:rPr>
              <a:t>B</a:t>
            </a:r>
            <a:r>
              <a:rPr lang="en-US" sz="1800" b="1" dirty="0">
                <a:solidFill>
                  <a:schemeClr val="accent6">
                    <a:lumMod val="75000"/>
                  </a:schemeClr>
                </a:solidFill>
                <a:latin typeface="+mn-lt"/>
              </a:rPr>
              <a:t> to the same set</a:t>
            </a:r>
          </a:p>
        </p:txBody>
      </p:sp>
      <p:cxnSp>
        <p:nvCxnSpPr>
          <p:cNvPr id="34" name="Straight Connector 33">
            <a:extLst>
              <a:ext uri="{FF2B5EF4-FFF2-40B4-BE49-F238E27FC236}">
                <a16:creationId xmlns:a16="http://schemas.microsoft.com/office/drawing/2014/main" id="{1E63AF09-A464-427D-9FE8-13B82DD90076}"/>
              </a:ext>
            </a:extLst>
          </p:cNvPr>
          <p:cNvCxnSpPr>
            <a:cxnSpLocks/>
          </p:cNvCxnSpPr>
          <p:nvPr/>
        </p:nvCxnSpPr>
        <p:spPr>
          <a:xfrm>
            <a:off x="1904999" y="4446494"/>
            <a:ext cx="624841" cy="1420906"/>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2" name="Table 1">
            <a:extLst>
              <a:ext uri="{FF2B5EF4-FFF2-40B4-BE49-F238E27FC236}">
                <a16:creationId xmlns:a16="http://schemas.microsoft.com/office/drawing/2014/main" id="{B83F05A9-3091-3AD7-1EB0-4D3BF1D26F74}"/>
              </a:ext>
            </a:extLst>
          </p:cNvPr>
          <p:cNvGraphicFramePr>
            <a:graphicFrameLocks noGrp="1"/>
          </p:cNvGraphicFramePr>
          <p:nvPr>
            <p:extLst>
              <p:ext uri="{D42A27DB-BD31-4B8C-83A1-F6EECF244321}">
                <p14:modId xmlns:p14="http://schemas.microsoft.com/office/powerpoint/2010/main" val="298866363"/>
              </p:ext>
            </p:extLst>
          </p:nvPr>
        </p:nvGraphicFramePr>
        <p:xfrm>
          <a:off x="0" y="2981960"/>
          <a:ext cx="1752600" cy="37084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20000"/>
                    </a:ext>
                  </a:extLst>
                </a:gridCol>
              </a:tblGrid>
              <a:tr h="370840">
                <a:tc>
                  <a:txBody>
                    <a:bodyPr/>
                    <a:lstStyle/>
                    <a:p>
                      <a:pPr algn="ctr"/>
                      <a:r>
                        <a:rPr lang="en-US" b="0" dirty="0">
                          <a:solidFill>
                            <a:schemeClr val="tx1"/>
                          </a:solidFill>
                        </a:rPr>
                        <a:t>physical address</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graphicFrame>
        <p:nvGraphicFramePr>
          <p:cNvPr id="3" name="Table 2">
            <a:extLst>
              <a:ext uri="{FF2B5EF4-FFF2-40B4-BE49-F238E27FC236}">
                <a16:creationId xmlns:a16="http://schemas.microsoft.com/office/drawing/2014/main" id="{9638F644-3C31-272A-79B0-8C80F7EEC086}"/>
              </a:ext>
            </a:extLst>
          </p:cNvPr>
          <p:cNvGraphicFramePr>
            <a:graphicFrameLocks noGrp="1"/>
          </p:cNvGraphicFramePr>
          <p:nvPr>
            <p:extLst>
              <p:ext uri="{D42A27DB-BD31-4B8C-83A1-F6EECF244321}">
                <p14:modId xmlns:p14="http://schemas.microsoft.com/office/powerpoint/2010/main" val="3038976889"/>
              </p:ext>
            </p:extLst>
          </p:nvPr>
        </p:nvGraphicFramePr>
        <p:xfrm>
          <a:off x="609600" y="1446756"/>
          <a:ext cx="1752600" cy="37084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20000"/>
                    </a:ext>
                  </a:extLst>
                </a:gridCol>
              </a:tblGrid>
              <a:tr h="370840">
                <a:tc>
                  <a:txBody>
                    <a:bodyPr/>
                    <a:lstStyle/>
                    <a:p>
                      <a:pPr algn="ctr"/>
                      <a:r>
                        <a:rPr lang="en-US" b="0" dirty="0">
                          <a:solidFill>
                            <a:schemeClr val="tx1"/>
                          </a:solidFill>
                        </a:rPr>
                        <a:t>virtual address</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
        <p:nvSpPr>
          <p:cNvPr id="4" name="TextBox 3">
            <a:extLst>
              <a:ext uri="{FF2B5EF4-FFF2-40B4-BE49-F238E27FC236}">
                <a16:creationId xmlns:a16="http://schemas.microsoft.com/office/drawing/2014/main" id="{A0E8D7F8-50B1-0B6A-F420-39F00900F7D5}"/>
              </a:ext>
            </a:extLst>
          </p:cNvPr>
          <p:cNvSpPr txBox="1"/>
          <p:nvPr/>
        </p:nvSpPr>
        <p:spPr>
          <a:xfrm>
            <a:off x="152400" y="2151698"/>
            <a:ext cx="1520674" cy="560308"/>
          </a:xfrm>
          <a:prstGeom prst="rect">
            <a:avLst/>
          </a:prstGeom>
          <a:solidFill>
            <a:schemeClr val="accent6">
              <a:lumMod val="60000"/>
              <a:lumOff val="40000"/>
            </a:schemeClr>
          </a:solidFill>
          <a:ln w="25400">
            <a:solidFill>
              <a:schemeClr val="tx1"/>
            </a:solidFill>
          </a:ln>
        </p:spPr>
        <p:txBody>
          <a:bodyPr wrap="square" rtlCol="0" anchor="ctr">
            <a:noAutofit/>
          </a:bodyPr>
          <a:lstStyle/>
          <a:p>
            <a:pPr algn="ctr"/>
            <a:r>
              <a:rPr lang="en-US" sz="1800" b="1" dirty="0">
                <a:latin typeface="+mn-lt"/>
              </a:rPr>
              <a:t>TLB</a:t>
            </a:r>
          </a:p>
        </p:txBody>
      </p:sp>
      <p:cxnSp>
        <p:nvCxnSpPr>
          <p:cNvPr id="5" name="Straight Arrow Connector 4">
            <a:extLst>
              <a:ext uri="{FF2B5EF4-FFF2-40B4-BE49-F238E27FC236}">
                <a16:creationId xmlns:a16="http://schemas.microsoft.com/office/drawing/2014/main" id="{1F3E834E-A9BE-1560-3B78-F8E212FC218F}"/>
              </a:ext>
            </a:extLst>
          </p:cNvPr>
          <p:cNvCxnSpPr/>
          <p:nvPr/>
        </p:nvCxnSpPr>
        <p:spPr>
          <a:xfrm rot="5400000">
            <a:off x="754379" y="1977616"/>
            <a:ext cx="32004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1903591"/>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en-US" altLang="en-US" dirty="0"/>
              <a:t>VIPT Cache – Synonyms</a:t>
            </a:r>
          </a:p>
        </p:txBody>
      </p:sp>
      <p:sp>
        <p:nvSpPr>
          <p:cNvPr id="3993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11</a:t>
            </a:fld>
            <a:endParaRPr lang="en-US" altLang="en-US"/>
          </a:p>
        </p:txBody>
      </p:sp>
      <p:cxnSp>
        <p:nvCxnSpPr>
          <p:cNvPr id="6" name="Straight Arrow Connector 5">
            <a:extLst>
              <a:ext uri="{FF2B5EF4-FFF2-40B4-BE49-F238E27FC236}">
                <a16:creationId xmlns:a16="http://schemas.microsoft.com/office/drawing/2014/main" id="{C45BE81F-7E63-42E4-A768-6A2DBF6438D0}"/>
              </a:ext>
            </a:extLst>
          </p:cNvPr>
          <p:cNvCxnSpPr/>
          <p:nvPr/>
        </p:nvCxnSpPr>
        <p:spPr>
          <a:xfrm>
            <a:off x="1371600" y="4141694"/>
            <a:ext cx="1371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7" name="Table 6">
            <a:extLst>
              <a:ext uri="{FF2B5EF4-FFF2-40B4-BE49-F238E27FC236}">
                <a16:creationId xmlns:a16="http://schemas.microsoft.com/office/drawing/2014/main" id="{F013A05E-2BC7-4EE8-AE54-477FEED93E54}"/>
              </a:ext>
            </a:extLst>
          </p:cNvPr>
          <p:cNvGraphicFramePr>
            <a:graphicFrameLocks noGrp="1"/>
          </p:cNvGraphicFramePr>
          <p:nvPr/>
        </p:nvGraphicFramePr>
        <p:xfrm>
          <a:off x="2743200" y="2846294"/>
          <a:ext cx="5710645" cy="2225040"/>
        </p:xfrm>
        <a:graphic>
          <a:graphicData uri="http://schemas.openxmlformats.org/drawingml/2006/table">
            <a:tbl>
              <a:tblPr bandRow="1">
                <a:tableStyleId>{5C22544A-7EE6-4342-B048-85BDC9FD1C3A}</a:tableStyleId>
              </a:tblPr>
              <a:tblGrid>
                <a:gridCol w="5334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544286">
                  <a:extLst>
                    <a:ext uri="{9D8B030D-6E8A-4147-A177-3AD203B41FA5}">
                      <a16:colId xmlns:a16="http://schemas.microsoft.com/office/drawing/2014/main" val="20002"/>
                    </a:ext>
                  </a:extLst>
                </a:gridCol>
                <a:gridCol w="1197428">
                  <a:extLst>
                    <a:ext uri="{9D8B030D-6E8A-4147-A177-3AD203B41FA5}">
                      <a16:colId xmlns:a16="http://schemas.microsoft.com/office/drawing/2014/main" val="20003"/>
                    </a:ext>
                  </a:extLst>
                </a:gridCol>
                <a:gridCol w="870857">
                  <a:extLst>
                    <a:ext uri="{9D8B030D-6E8A-4147-A177-3AD203B41FA5}">
                      <a16:colId xmlns:a16="http://schemas.microsoft.com/office/drawing/2014/main" val="20004"/>
                    </a:ext>
                  </a:extLst>
                </a:gridCol>
                <a:gridCol w="870857">
                  <a:extLst>
                    <a:ext uri="{9D8B030D-6E8A-4147-A177-3AD203B41FA5}">
                      <a16:colId xmlns:a16="http://schemas.microsoft.com/office/drawing/2014/main" val="20005"/>
                    </a:ext>
                  </a:extLst>
                </a:gridCol>
                <a:gridCol w="870857">
                  <a:extLst>
                    <a:ext uri="{9D8B030D-6E8A-4147-A177-3AD203B41FA5}">
                      <a16:colId xmlns:a16="http://schemas.microsoft.com/office/drawing/2014/main" val="20006"/>
                    </a:ext>
                  </a:extLst>
                </a:gridCol>
              </a:tblGrid>
              <a:tr h="370840">
                <a:tc>
                  <a:txBody>
                    <a:bodyPr/>
                    <a:lstStyle/>
                    <a:p>
                      <a:pPr algn="ctr"/>
                      <a:r>
                        <a:rPr lang="en-US" dirty="0"/>
                        <a:t>tag</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tag</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data</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data</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r>
                        <a:rPr lang="en-US" b="0" dirty="0">
                          <a:latin typeface="+mn-lt"/>
                          <a:cs typeface="Calibri"/>
                        </a:rPr>
                        <a:t>● ● ●</a:t>
                      </a:r>
                      <a:endParaRPr lang="en-US" b="0"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r>
                        <a:rPr lang="en-US" b="0" dirty="0">
                          <a:latin typeface="+mn-lt"/>
                          <a:cs typeface="Calibri"/>
                        </a:rPr>
                        <a:t>● ● ●</a:t>
                      </a:r>
                      <a:endParaRPr lang="en-US" b="0"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2"/>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accent6">
                        <a:lumMod val="60000"/>
                        <a:lumOff val="40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ctr"/>
                      <a:r>
                        <a:rPr lang="en-US" b="1" dirty="0"/>
                        <a:t>X</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6">
                        <a:lumMod val="7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a:t>[X]</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3"/>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4"/>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5"/>
                  </a:ext>
                </a:extLst>
              </a:tr>
            </a:tbl>
          </a:graphicData>
        </a:graphic>
      </p:graphicFrame>
      <p:sp>
        <p:nvSpPr>
          <p:cNvPr id="8" name="Trapezoid 7">
            <a:extLst>
              <a:ext uri="{FF2B5EF4-FFF2-40B4-BE49-F238E27FC236}">
                <a16:creationId xmlns:a16="http://schemas.microsoft.com/office/drawing/2014/main" id="{7D55239E-209F-495A-8B42-1E271C042D73}"/>
              </a:ext>
            </a:extLst>
          </p:cNvPr>
          <p:cNvSpPr/>
          <p:nvPr/>
        </p:nvSpPr>
        <p:spPr>
          <a:xfrm flipV="1">
            <a:off x="6477000" y="5464002"/>
            <a:ext cx="2514600" cy="365760"/>
          </a:xfrm>
          <a:prstGeom prst="trapezoid">
            <a:avLst>
              <a:gd name="adj" fmla="val 86212"/>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BEEB579-362A-4A16-AE30-59E1934ACA39}"/>
              </a:ext>
            </a:extLst>
          </p:cNvPr>
          <p:cNvSpPr/>
          <p:nvPr/>
        </p:nvSpPr>
        <p:spPr>
          <a:xfrm>
            <a:off x="4617720" y="5311602"/>
            <a:ext cx="411480" cy="41148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a:t>
            </a:r>
          </a:p>
        </p:txBody>
      </p:sp>
      <p:cxnSp>
        <p:nvCxnSpPr>
          <p:cNvPr id="10" name="Straight Arrow Connector 9">
            <a:extLst>
              <a:ext uri="{FF2B5EF4-FFF2-40B4-BE49-F238E27FC236}">
                <a16:creationId xmlns:a16="http://schemas.microsoft.com/office/drawing/2014/main" id="{A894139C-8958-40DA-96C5-7E7E1362CDE8}"/>
              </a:ext>
            </a:extLst>
          </p:cNvPr>
          <p:cNvCxnSpPr/>
          <p:nvPr/>
        </p:nvCxnSpPr>
        <p:spPr>
          <a:xfrm>
            <a:off x="5029200" y="5540202"/>
            <a:ext cx="146304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C44F9E8-ABB5-4920-A616-85AF243C4DC1}"/>
              </a:ext>
            </a:extLst>
          </p:cNvPr>
          <p:cNvCxnSpPr/>
          <p:nvPr/>
        </p:nvCxnSpPr>
        <p:spPr>
          <a:xfrm rot="5400000">
            <a:off x="4251960" y="4705574"/>
            <a:ext cx="109728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C49A967-7F07-4B1E-B62B-888B49868097}"/>
              </a:ext>
            </a:extLst>
          </p:cNvPr>
          <p:cNvCxnSpPr/>
          <p:nvPr/>
        </p:nvCxnSpPr>
        <p:spPr>
          <a:xfrm rot="5400000">
            <a:off x="7970520" y="4797014"/>
            <a:ext cx="128016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5C35EAF-D1F2-4395-9584-B890290FB6C0}"/>
              </a:ext>
            </a:extLst>
          </p:cNvPr>
          <p:cNvCxnSpPr/>
          <p:nvPr/>
        </p:nvCxnSpPr>
        <p:spPr>
          <a:xfrm rot="5400000">
            <a:off x="7559040" y="5966922"/>
            <a:ext cx="27432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94DC620-9FB7-455C-A54B-B17860249AC7}"/>
              </a:ext>
            </a:extLst>
          </p:cNvPr>
          <p:cNvCxnSpPr/>
          <p:nvPr/>
        </p:nvCxnSpPr>
        <p:spPr>
          <a:xfrm>
            <a:off x="4648200" y="4141694"/>
            <a:ext cx="164592"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17CC8B1-6719-4FF5-BC73-524EACF45DF9}"/>
              </a:ext>
            </a:extLst>
          </p:cNvPr>
          <p:cNvCxnSpPr/>
          <p:nvPr/>
        </p:nvCxnSpPr>
        <p:spPr>
          <a:xfrm>
            <a:off x="8458200" y="4141694"/>
            <a:ext cx="164592"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45E07A49-B957-459E-82B7-6E8E8DBCDFC0}"/>
              </a:ext>
            </a:extLst>
          </p:cNvPr>
          <p:cNvSpPr txBox="1"/>
          <p:nvPr/>
        </p:nvSpPr>
        <p:spPr>
          <a:xfrm>
            <a:off x="2514600" y="2465295"/>
            <a:ext cx="990600" cy="369332"/>
          </a:xfrm>
          <a:prstGeom prst="rect">
            <a:avLst/>
          </a:prstGeom>
          <a:noFill/>
        </p:spPr>
        <p:txBody>
          <a:bodyPr wrap="square" rtlCol="0" anchor="ctr">
            <a:spAutoFit/>
          </a:bodyPr>
          <a:lstStyle/>
          <a:p>
            <a:pPr algn="ctr"/>
            <a:r>
              <a:rPr lang="en-US" sz="1800" dirty="0">
                <a:latin typeface="+mn-lt"/>
              </a:rPr>
              <a:t>way 0</a:t>
            </a:r>
          </a:p>
        </p:txBody>
      </p:sp>
      <p:sp>
        <p:nvSpPr>
          <p:cNvPr id="17" name="TextBox 16">
            <a:extLst>
              <a:ext uri="{FF2B5EF4-FFF2-40B4-BE49-F238E27FC236}">
                <a16:creationId xmlns:a16="http://schemas.microsoft.com/office/drawing/2014/main" id="{6341C48D-44BD-475B-B436-7456F73B4146}"/>
              </a:ext>
            </a:extLst>
          </p:cNvPr>
          <p:cNvSpPr txBox="1"/>
          <p:nvPr/>
        </p:nvSpPr>
        <p:spPr>
          <a:xfrm>
            <a:off x="3886200" y="2465295"/>
            <a:ext cx="990600" cy="369332"/>
          </a:xfrm>
          <a:prstGeom prst="rect">
            <a:avLst/>
          </a:prstGeom>
          <a:noFill/>
        </p:spPr>
        <p:txBody>
          <a:bodyPr wrap="square" rtlCol="0" anchor="ctr">
            <a:spAutoFit/>
          </a:bodyPr>
          <a:lstStyle/>
          <a:p>
            <a:pPr algn="ctr"/>
            <a:r>
              <a:rPr lang="en-US" sz="1800" dirty="0">
                <a:latin typeface="+mn-lt"/>
              </a:rPr>
              <a:t>way N-1</a:t>
            </a:r>
          </a:p>
        </p:txBody>
      </p:sp>
      <p:sp>
        <p:nvSpPr>
          <p:cNvPr id="18" name="TextBox 17">
            <a:extLst>
              <a:ext uri="{FF2B5EF4-FFF2-40B4-BE49-F238E27FC236}">
                <a16:creationId xmlns:a16="http://schemas.microsoft.com/office/drawing/2014/main" id="{BE5298D5-D95E-4743-BC73-CC3671367998}"/>
              </a:ext>
            </a:extLst>
          </p:cNvPr>
          <p:cNvSpPr txBox="1"/>
          <p:nvPr/>
        </p:nvSpPr>
        <p:spPr>
          <a:xfrm>
            <a:off x="5791200" y="2465295"/>
            <a:ext cx="990600" cy="369332"/>
          </a:xfrm>
          <a:prstGeom prst="rect">
            <a:avLst/>
          </a:prstGeom>
          <a:noFill/>
        </p:spPr>
        <p:txBody>
          <a:bodyPr wrap="square" rtlCol="0" anchor="ctr">
            <a:spAutoFit/>
          </a:bodyPr>
          <a:lstStyle/>
          <a:p>
            <a:pPr algn="ctr"/>
            <a:r>
              <a:rPr lang="en-US" sz="1800" dirty="0">
                <a:latin typeface="+mn-lt"/>
              </a:rPr>
              <a:t>way 0</a:t>
            </a:r>
          </a:p>
        </p:txBody>
      </p:sp>
      <p:sp>
        <p:nvSpPr>
          <p:cNvPr id="19" name="TextBox 18">
            <a:extLst>
              <a:ext uri="{FF2B5EF4-FFF2-40B4-BE49-F238E27FC236}">
                <a16:creationId xmlns:a16="http://schemas.microsoft.com/office/drawing/2014/main" id="{AB795696-7743-4BEA-8FE2-36D4269F3825}"/>
              </a:ext>
            </a:extLst>
          </p:cNvPr>
          <p:cNvSpPr txBox="1"/>
          <p:nvPr/>
        </p:nvSpPr>
        <p:spPr>
          <a:xfrm>
            <a:off x="7543800" y="2465295"/>
            <a:ext cx="990600" cy="369332"/>
          </a:xfrm>
          <a:prstGeom prst="rect">
            <a:avLst/>
          </a:prstGeom>
          <a:noFill/>
        </p:spPr>
        <p:txBody>
          <a:bodyPr wrap="square" rtlCol="0" anchor="ctr">
            <a:spAutoFit/>
          </a:bodyPr>
          <a:lstStyle/>
          <a:p>
            <a:pPr algn="ctr"/>
            <a:r>
              <a:rPr lang="en-US" sz="1800" dirty="0">
                <a:latin typeface="+mn-lt"/>
              </a:rPr>
              <a:t>way N-1</a:t>
            </a:r>
          </a:p>
        </p:txBody>
      </p:sp>
      <p:sp>
        <p:nvSpPr>
          <p:cNvPr id="20" name="TextBox 19">
            <a:extLst>
              <a:ext uri="{FF2B5EF4-FFF2-40B4-BE49-F238E27FC236}">
                <a16:creationId xmlns:a16="http://schemas.microsoft.com/office/drawing/2014/main" id="{AE44DC6D-E8F7-4AD8-B663-AB8F1ACC712A}"/>
              </a:ext>
            </a:extLst>
          </p:cNvPr>
          <p:cNvSpPr txBox="1"/>
          <p:nvPr/>
        </p:nvSpPr>
        <p:spPr>
          <a:xfrm>
            <a:off x="4736352" y="5211499"/>
            <a:ext cx="1066800" cy="369332"/>
          </a:xfrm>
          <a:prstGeom prst="rect">
            <a:avLst/>
          </a:prstGeom>
          <a:noFill/>
        </p:spPr>
        <p:txBody>
          <a:bodyPr wrap="square" rtlCol="0" anchor="ctr">
            <a:spAutoFit/>
          </a:bodyPr>
          <a:lstStyle/>
          <a:p>
            <a:pPr algn="ctr"/>
            <a:r>
              <a:rPr lang="en-US" sz="1800" b="1" dirty="0">
                <a:latin typeface="+mn-lt"/>
              </a:rPr>
              <a:t>HIT?</a:t>
            </a:r>
          </a:p>
        </p:txBody>
      </p:sp>
      <p:sp>
        <p:nvSpPr>
          <p:cNvPr id="22" name="TextBox 21">
            <a:extLst>
              <a:ext uri="{FF2B5EF4-FFF2-40B4-BE49-F238E27FC236}">
                <a16:creationId xmlns:a16="http://schemas.microsoft.com/office/drawing/2014/main" id="{128C01E9-6765-4A72-B779-3980D3EC081A}"/>
              </a:ext>
            </a:extLst>
          </p:cNvPr>
          <p:cNvSpPr txBox="1"/>
          <p:nvPr/>
        </p:nvSpPr>
        <p:spPr>
          <a:xfrm>
            <a:off x="1143000" y="3886186"/>
            <a:ext cx="1066800" cy="560308"/>
          </a:xfrm>
          <a:prstGeom prst="rect">
            <a:avLst/>
          </a:prstGeom>
          <a:solidFill>
            <a:schemeClr val="accent6">
              <a:lumMod val="60000"/>
              <a:lumOff val="40000"/>
            </a:schemeClr>
          </a:solidFill>
          <a:ln w="25400">
            <a:solidFill>
              <a:schemeClr val="tx1"/>
            </a:solidFill>
          </a:ln>
        </p:spPr>
        <p:txBody>
          <a:bodyPr wrap="square" rtlCol="0" anchor="ctr">
            <a:noAutofit/>
          </a:bodyPr>
          <a:lstStyle/>
          <a:p>
            <a:pPr algn="ctr"/>
            <a:r>
              <a:rPr lang="en-US" sz="1800" b="1" dirty="0">
                <a:latin typeface="+mn-lt"/>
              </a:rPr>
              <a:t>hash function</a:t>
            </a:r>
          </a:p>
        </p:txBody>
      </p:sp>
      <p:cxnSp>
        <p:nvCxnSpPr>
          <p:cNvPr id="23" name="Straight Arrow Connector 22">
            <a:extLst>
              <a:ext uri="{FF2B5EF4-FFF2-40B4-BE49-F238E27FC236}">
                <a16:creationId xmlns:a16="http://schemas.microsoft.com/office/drawing/2014/main" id="{EF20B0A6-5147-4BF4-B83F-D6A1A3CBAA4C}"/>
              </a:ext>
            </a:extLst>
          </p:cNvPr>
          <p:cNvCxnSpPr/>
          <p:nvPr/>
        </p:nvCxnSpPr>
        <p:spPr>
          <a:xfrm flipV="1">
            <a:off x="914399" y="2209800"/>
            <a:ext cx="1" cy="329184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AFD8470-1C89-4B1B-8891-D34FEADA59A1}"/>
              </a:ext>
            </a:extLst>
          </p:cNvPr>
          <p:cNvCxnSpPr>
            <a:cxnSpLocks/>
          </p:cNvCxnSpPr>
          <p:nvPr/>
        </p:nvCxnSpPr>
        <p:spPr>
          <a:xfrm flipV="1">
            <a:off x="914399" y="5513294"/>
            <a:ext cx="3611881" cy="4048"/>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24CFF512-2322-4974-8FF9-EC78E1A189C5}"/>
              </a:ext>
            </a:extLst>
          </p:cNvPr>
          <p:cNvCxnSpPr/>
          <p:nvPr/>
        </p:nvCxnSpPr>
        <p:spPr>
          <a:xfrm rot="5400000">
            <a:off x="853439" y="2804160"/>
            <a:ext cx="210312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DB65478-A7FD-4752-B35A-FE15BADCBA16}"/>
              </a:ext>
            </a:extLst>
          </p:cNvPr>
          <p:cNvSpPr txBox="1"/>
          <p:nvPr/>
        </p:nvSpPr>
        <p:spPr>
          <a:xfrm>
            <a:off x="7162800" y="6058363"/>
            <a:ext cx="1066800" cy="369332"/>
          </a:xfrm>
          <a:prstGeom prst="rect">
            <a:avLst/>
          </a:prstGeom>
          <a:noFill/>
        </p:spPr>
        <p:txBody>
          <a:bodyPr wrap="square" rtlCol="0" anchor="ctr">
            <a:spAutoFit/>
          </a:bodyPr>
          <a:lstStyle/>
          <a:p>
            <a:pPr algn="ctr"/>
            <a:r>
              <a:rPr lang="en-US" sz="1800" b="1" dirty="0">
                <a:solidFill>
                  <a:schemeClr val="accent2">
                    <a:lumMod val="75000"/>
                  </a:schemeClr>
                </a:solidFill>
                <a:latin typeface="+mn-lt"/>
              </a:rPr>
              <a:t>data</a:t>
            </a:r>
          </a:p>
        </p:txBody>
      </p:sp>
      <p:sp>
        <p:nvSpPr>
          <p:cNvPr id="28" name="TextBox 27">
            <a:extLst>
              <a:ext uri="{FF2B5EF4-FFF2-40B4-BE49-F238E27FC236}">
                <a16:creationId xmlns:a16="http://schemas.microsoft.com/office/drawing/2014/main" id="{8071B42F-939D-4840-ADF4-38EEF9D46DCE}"/>
              </a:ext>
            </a:extLst>
          </p:cNvPr>
          <p:cNvSpPr txBox="1"/>
          <p:nvPr/>
        </p:nvSpPr>
        <p:spPr>
          <a:xfrm>
            <a:off x="609600" y="5132295"/>
            <a:ext cx="1066800" cy="369332"/>
          </a:xfrm>
          <a:prstGeom prst="rect">
            <a:avLst/>
          </a:prstGeom>
          <a:noFill/>
        </p:spPr>
        <p:txBody>
          <a:bodyPr wrap="square" rtlCol="0" anchor="ctr">
            <a:spAutoFit/>
          </a:bodyPr>
          <a:lstStyle/>
          <a:p>
            <a:pPr algn="ctr"/>
            <a:r>
              <a:rPr lang="en-US" sz="1800" dirty="0">
                <a:latin typeface="+mn-lt"/>
              </a:rPr>
              <a:t>tag</a:t>
            </a:r>
          </a:p>
        </p:txBody>
      </p:sp>
      <p:sp>
        <p:nvSpPr>
          <p:cNvPr id="29" name="TextBox 28">
            <a:extLst>
              <a:ext uri="{FF2B5EF4-FFF2-40B4-BE49-F238E27FC236}">
                <a16:creationId xmlns:a16="http://schemas.microsoft.com/office/drawing/2014/main" id="{AB906976-B199-4CE3-A6BE-841BAF2729FA}"/>
              </a:ext>
            </a:extLst>
          </p:cNvPr>
          <p:cNvSpPr txBox="1"/>
          <p:nvPr/>
        </p:nvSpPr>
        <p:spPr>
          <a:xfrm>
            <a:off x="1935149" y="3797008"/>
            <a:ext cx="1066800" cy="369332"/>
          </a:xfrm>
          <a:prstGeom prst="rect">
            <a:avLst/>
          </a:prstGeom>
          <a:noFill/>
        </p:spPr>
        <p:txBody>
          <a:bodyPr wrap="square" rtlCol="0" anchor="ctr">
            <a:spAutoFit/>
          </a:bodyPr>
          <a:lstStyle/>
          <a:p>
            <a:pPr algn="ctr"/>
            <a:r>
              <a:rPr lang="en-US" sz="1800" dirty="0">
                <a:latin typeface="+mn-lt"/>
              </a:rPr>
              <a:t>set</a:t>
            </a:r>
          </a:p>
        </p:txBody>
      </p:sp>
      <p:sp>
        <p:nvSpPr>
          <p:cNvPr id="33" name="TextBox 32">
            <a:extLst>
              <a:ext uri="{FF2B5EF4-FFF2-40B4-BE49-F238E27FC236}">
                <a16:creationId xmlns:a16="http://schemas.microsoft.com/office/drawing/2014/main" id="{35937311-D1E0-4772-9C74-7E177B860BEE}"/>
              </a:ext>
            </a:extLst>
          </p:cNvPr>
          <p:cNvSpPr txBox="1"/>
          <p:nvPr/>
        </p:nvSpPr>
        <p:spPr>
          <a:xfrm>
            <a:off x="-130115" y="3275126"/>
            <a:ext cx="1174630" cy="458674"/>
          </a:xfrm>
          <a:prstGeom prst="rect">
            <a:avLst/>
          </a:prstGeom>
          <a:noFill/>
        </p:spPr>
        <p:txBody>
          <a:bodyPr wrap="square" rtlCol="0" anchor="ctr">
            <a:noAutofit/>
          </a:bodyPr>
          <a:lstStyle/>
          <a:p>
            <a:pPr algn="ctr"/>
            <a:r>
              <a:rPr lang="en-US" sz="1800" b="1" dirty="0">
                <a:solidFill>
                  <a:schemeClr val="accent6">
                    <a:lumMod val="75000"/>
                  </a:schemeClr>
                </a:solidFill>
                <a:latin typeface="+mn-lt"/>
              </a:rPr>
              <a:t>V</a:t>
            </a:r>
            <a:r>
              <a:rPr lang="en-US" sz="1800" b="1" baseline="-25000" dirty="0">
                <a:solidFill>
                  <a:schemeClr val="accent6">
                    <a:lumMod val="75000"/>
                  </a:schemeClr>
                </a:solidFill>
                <a:latin typeface="+mn-lt"/>
              </a:rPr>
              <a:t>A</a:t>
            </a:r>
            <a:r>
              <a:rPr lang="en-US" sz="1800" b="1" dirty="0">
                <a:solidFill>
                  <a:schemeClr val="accent6">
                    <a:lumMod val="75000"/>
                  </a:schemeClr>
                </a:solidFill>
                <a:latin typeface="+mn-lt"/>
              </a:rPr>
              <a:t>,V</a:t>
            </a:r>
            <a:r>
              <a:rPr lang="en-US" sz="1800" b="1" baseline="-25000" dirty="0">
                <a:solidFill>
                  <a:schemeClr val="accent6">
                    <a:lumMod val="75000"/>
                  </a:schemeClr>
                </a:solidFill>
                <a:latin typeface="+mn-lt"/>
              </a:rPr>
              <a:t>B </a:t>
            </a:r>
            <a:r>
              <a:rPr lang="en-US" sz="1800" b="1" dirty="0">
                <a:solidFill>
                  <a:schemeClr val="accent6">
                    <a:lumMod val="75000"/>
                  </a:schemeClr>
                </a:solidFill>
                <a:latin typeface="+mn-lt"/>
              </a:rPr>
              <a:t>-&gt; X</a:t>
            </a:r>
            <a:endParaRPr lang="en-US" sz="1800" b="1" baseline="-25000" dirty="0">
              <a:solidFill>
                <a:schemeClr val="accent6">
                  <a:lumMod val="75000"/>
                </a:schemeClr>
              </a:solidFill>
              <a:latin typeface="+mn-lt"/>
            </a:endParaRPr>
          </a:p>
        </p:txBody>
      </p:sp>
      <p:sp>
        <p:nvSpPr>
          <p:cNvPr id="35" name="TextBox 34">
            <a:extLst>
              <a:ext uri="{FF2B5EF4-FFF2-40B4-BE49-F238E27FC236}">
                <a16:creationId xmlns:a16="http://schemas.microsoft.com/office/drawing/2014/main" id="{726B54E1-C4DF-49D7-8461-EA1CF5E0373D}"/>
              </a:ext>
            </a:extLst>
          </p:cNvPr>
          <p:cNvSpPr txBox="1"/>
          <p:nvPr/>
        </p:nvSpPr>
        <p:spPr>
          <a:xfrm>
            <a:off x="1644770" y="1731606"/>
            <a:ext cx="1174630" cy="458674"/>
          </a:xfrm>
          <a:prstGeom prst="rect">
            <a:avLst/>
          </a:prstGeom>
          <a:noFill/>
        </p:spPr>
        <p:txBody>
          <a:bodyPr wrap="square" rtlCol="0" anchor="ctr">
            <a:noAutofit/>
          </a:bodyPr>
          <a:lstStyle/>
          <a:p>
            <a:pPr algn="ctr"/>
            <a:r>
              <a:rPr lang="en-US" sz="1800" b="1" dirty="0">
                <a:solidFill>
                  <a:schemeClr val="accent6">
                    <a:lumMod val="75000"/>
                  </a:schemeClr>
                </a:solidFill>
                <a:latin typeface="+mn-lt"/>
              </a:rPr>
              <a:t>V</a:t>
            </a:r>
            <a:r>
              <a:rPr lang="en-US" sz="1800" b="1" baseline="-25000" dirty="0">
                <a:solidFill>
                  <a:schemeClr val="accent6">
                    <a:lumMod val="75000"/>
                  </a:schemeClr>
                </a:solidFill>
                <a:latin typeface="+mn-lt"/>
              </a:rPr>
              <a:t>A</a:t>
            </a:r>
            <a:r>
              <a:rPr lang="en-US" sz="1800" b="1" dirty="0">
                <a:solidFill>
                  <a:schemeClr val="accent6">
                    <a:lumMod val="75000"/>
                  </a:schemeClr>
                </a:solidFill>
                <a:latin typeface="+mn-lt"/>
              </a:rPr>
              <a:t>, V</a:t>
            </a:r>
            <a:r>
              <a:rPr lang="en-US" sz="1800" b="1" baseline="-25000" dirty="0">
                <a:solidFill>
                  <a:schemeClr val="accent6">
                    <a:lumMod val="75000"/>
                  </a:schemeClr>
                </a:solidFill>
                <a:latin typeface="+mn-lt"/>
              </a:rPr>
              <a:t>B</a:t>
            </a:r>
          </a:p>
        </p:txBody>
      </p:sp>
      <p:sp>
        <p:nvSpPr>
          <p:cNvPr id="31" name="TextBox 30">
            <a:extLst>
              <a:ext uri="{FF2B5EF4-FFF2-40B4-BE49-F238E27FC236}">
                <a16:creationId xmlns:a16="http://schemas.microsoft.com/office/drawing/2014/main" id="{B2A65298-4604-4E6E-B8A2-3BA30AC49C70}"/>
              </a:ext>
            </a:extLst>
          </p:cNvPr>
          <p:cNvSpPr txBox="1"/>
          <p:nvPr/>
        </p:nvSpPr>
        <p:spPr>
          <a:xfrm>
            <a:off x="979921" y="5893268"/>
            <a:ext cx="3592079" cy="458674"/>
          </a:xfrm>
          <a:prstGeom prst="rect">
            <a:avLst/>
          </a:prstGeom>
          <a:noFill/>
        </p:spPr>
        <p:txBody>
          <a:bodyPr wrap="square" rtlCol="0" anchor="ctr">
            <a:noAutofit/>
          </a:bodyPr>
          <a:lstStyle/>
          <a:p>
            <a:pPr algn="ctr"/>
            <a:r>
              <a:rPr lang="en-US" sz="1800" b="1" dirty="0">
                <a:solidFill>
                  <a:schemeClr val="accent6">
                    <a:lumMod val="75000"/>
                  </a:schemeClr>
                </a:solidFill>
                <a:latin typeface="+mn-lt"/>
              </a:rPr>
              <a:t>solution:</a:t>
            </a:r>
          </a:p>
          <a:p>
            <a:pPr algn="ctr"/>
            <a:r>
              <a:rPr lang="en-US" sz="1800" b="1" dirty="0">
                <a:solidFill>
                  <a:schemeClr val="accent6">
                    <a:lumMod val="75000"/>
                  </a:schemeClr>
                </a:solidFill>
                <a:latin typeface="+mn-lt"/>
              </a:rPr>
              <a:t>map V</a:t>
            </a:r>
            <a:r>
              <a:rPr lang="en-US" sz="1800" b="1" baseline="-25000" dirty="0">
                <a:solidFill>
                  <a:schemeClr val="accent6">
                    <a:lumMod val="75000"/>
                  </a:schemeClr>
                </a:solidFill>
                <a:latin typeface="+mn-lt"/>
              </a:rPr>
              <a:t>A</a:t>
            </a:r>
            <a:r>
              <a:rPr lang="en-US" sz="1800" b="1" dirty="0">
                <a:solidFill>
                  <a:schemeClr val="accent6">
                    <a:lumMod val="75000"/>
                  </a:schemeClr>
                </a:solidFill>
                <a:latin typeface="+mn-lt"/>
              </a:rPr>
              <a:t> and V</a:t>
            </a:r>
            <a:r>
              <a:rPr lang="en-US" sz="1800" b="1" baseline="-25000" dirty="0">
                <a:solidFill>
                  <a:schemeClr val="accent6">
                    <a:lumMod val="75000"/>
                  </a:schemeClr>
                </a:solidFill>
                <a:latin typeface="+mn-lt"/>
              </a:rPr>
              <a:t>B</a:t>
            </a:r>
            <a:r>
              <a:rPr lang="en-US" sz="1800" b="1" dirty="0">
                <a:solidFill>
                  <a:schemeClr val="accent6">
                    <a:lumMod val="75000"/>
                  </a:schemeClr>
                </a:solidFill>
                <a:latin typeface="+mn-lt"/>
              </a:rPr>
              <a:t> to the same set</a:t>
            </a:r>
          </a:p>
        </p:txBody>
      </p:sp>
      <p:cxnSp>
        <p:nvCxnSpPr>
          <p:cNvPr id="34" name="Straight Connector 33">
            <a:extLst>
              <a:ext uri="{FF2B5EF4-FFF2-40B4-BE49-F238E27FC236}">
                <a16:creationId xmlns:a16="http://schemas.microsoft.com/office/drawing/2014/main" id="{C1C17DB9-A07F-44C9-8496-ED197FB0C633}"/>
              </a:ext>
            </a:extLst>
          </p:cNvPr>
          <p:cNvCxnSpPr>
            <a:cxnSpLocks/>
          </p:cNvCxnSpPr>
          <p:nvPr/>
        </p:nvCxnSpPr>
        <p:spPr>
          <a:xfrm>
            <a:off x="1904999" y="4446494"/>
            <a:ext cx="624841" cy="1420906"/>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D93B837E-6E74-4434-B0CE-4FFDAF56F17B}"/>
              </a:ext>
            </a:extLst>
          </p:cNvPr>
          <p:cNvSpPr txBox="1"/>
          <p:nvPr/>
        </p:nvSpPr>
        <p:spPr>
          <a:xfrm>
            <a:off x="3505200" y="1295400"/>
            <a:ext cx="5334000" cy="962693"/>
          </a:xfrm>
          <a:prstGeom prst="rect">
            <a:avLst/>
          </a:prstGeom>
          <a:noFill/>
        </p:spPr>
        <p:txBody>
          <a:bodyPr wrap="square" rtlCol="0" anchor="t">
            <a:noAutofit/>
          </a:bodyPr>
          <a:lstStyle/>
          <a:p>
            <a:r>
              <a:rPr lang="en-US" sz="2800" dirty="0">
                <a:latin typeface="+mn-lt"/>
              </a:rPr>
              <a:t>But don’t know V</a:t>
            </a:r>
            <a:r>
              <a:rPr lang="en-US" sz="2800" baseline="-25000" dirty="0">
                <a:latin typeface="+mn-lt"/>
              </a:rPr>
              <a:t>A</a:t>
            </a:r>
            <a:r>
              <a:rPr lang="en-US" sz="2800" dirty="0">
                <a:latin typeface="+mn-lt"/>
              </a:rPr>
              <a:t> and V</a:t>
            </a:r>
            <a:r>
              <a:rPr lang="en-US" sz="2800" baseline="-25000" dirty="0">
                <a:latin typeface="+mn-lt"/>
              </a:rPr>
              <a:t>B</a:t>
            </a:r>
            <a:r>
              <a:rPr lang="en-US" sz="2800" dirty="0">
                <a:latin typeface="+mn-lt"/>
              </a:rPr>
              <a:t> a priori; how to map them to the same set?</a:t>
            </a:r>
          </a:p>
        </p:txBody>
      </p:sp>
      <p:graphicFrame>
        <p:nvGraphicFramePr>
          <p:cNvPr id="2" name="Table 1">
            <a:extLst>
              <a:ext uri="{FF2B5EF4-FFF2-40B4-BE49-F238E27FC236}">
                <a16:creationId xmlns:a16="http://schemas.microsoft.com/office/drawing/2014/main" id="{8410DDFE-082B-A1E3-59B3-AAE6E91BF75E}"/>
              </a:ext>
            </a:extLst>
          </p:cNvPr>
          <p:cNvGraphicFramePr>
            <a:graphicFrameLocks noGrp="1"/>
          </p:cNvGraphicFramePr>
          <p:nvPr>
            <p:extLst>
              <p:ext uri="{D42A27DB-BD31-4B8C-83A1-F6EECF244321}">
                <p14:modId xmlns:p14="http://schemas.microsoft.com/office/powerpoint/2010/main" val="298866363"/>
              </p:ext>
            </p:extLst>
          </p:nvPr>
        </p:nvGraphicFramePr>
        <p:xfrm>
          <a:off x="0" y="2981960"/>
          <a:ext cx="1752600" cy="37084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20000"/>
                    </a:ext>
                  </a:extLst>
                </a:gridCol>
              </a:tblGrid>
              <a:tr h="370840">
                <a:tc>
                  <a:txBody>
                    <a:bodyPr/>
                    <a:lstStyle/>
                    <a:p>
                      <a:pPr algn="ctr"/>
                      <a:r>
                        <a:rPr lang="en-US" b="0" dirty="0">
                          <a:solidFill>
                            <a:schemeClr val="tx1"/>
                          </a:solidFill>
                        </a:rPr>
                        <a:t>physical address</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graphicFrame>
        <p:nvGraphicFramePr>
          <p:cNvPr id="3" name="Table 2">
            <a:extLst>
              <a:ext uri="{FF2B5EF4-FFF2-40B4-BE49-F238E27FC236}">
                <a16:creationId xmlns:a16="http://schemas.microsoft.com/office/drawing/2014/main" id="{D7342596-434B-B6FF-A7B3-0C2F35F93B81}"/>
              </a:ext>
            </a:extLst>
          </p:cNvPr>
          <p:cNvGraphicFramePr>
            <a:graphicFrameLocks noGrp="1"/>
          </p:cNvGraphicFramePr>
          <p:nvPr>
            <p:extLst>
              <p:ext uri="{D42A27DB-BD31-4B8C-83A1-F6EECF244321}">
                <p14:modId xmlns:p14="http://schemas.microsoft.com/office/powerpoint/2010/main" val="3038976889"/>
              </p:ext>
            </p:extLst>
          </p:nvPr>
        </p:nvGraphicFramePr>
        <p:xfrm>
          <a:off x="609600" y="1446756"/>
          <a:ext cx="1752600" cy="37084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20000"/>
                    </a:ext>
                  </a:extLst>
                </a:gridCol>
              </a:tblGrid>
              <a:tr h="370840">
                <a:tc>
                  <a:txBody>
                    <a:bodyPr/>
                    <a:lstStyle/>
                    <a:p>
                      <a:pPr algn="ctr"/>
                      <a:r>
                        <a:rPr lang="en-US" b="0" dirty="0">
                          <a:solidFill>
                            <a:schemeClr val="tx1"/>
                          </a:solidFill>
                        </a:rPr>
                        <a:t>virtual address</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
        <p:nvSpPr>
          <p:cNvPr id="4" name="TextBox 3">
            <a:extLst>
              <a:ext uri="{FF2B5EF4-FFF2-40B4-BE49-F238E27FC236}">
                <a16:creationId xmlns:a16="http://schemas.microsoft.com/office/drawing/2014/main" id="{B44CDA6C-46D2-2D7B-6BB1-558FA2E44D39}"/>
              </a:ext>
            </a:extLst>
          </p:cNvPr>
          <p:cNvSpPr txBox="1"/>
          <p:nvPr/>
        </p:nvSpPr>
        <p:spPr>
          <a:xfrm>
            <a:off x="152400" y="2151698"/>
            <a:ext cx="1520674" cy="560308"/>
          </a:xfrm>
          <a:prstGeom prst="rect">
            <a:avLst/>
          </a:prstGeom>
          <a:solidFill>
            <a:schemeClr val="accent6">
              <a:lumMod val="60000"/>
              <a:lumOff val="40000"/>
            </a:schemeClr>
          </a:solidFill>
          <a:ln w="25400">
            <a:solidFill>
              <a:schemeClr val="tx1"/>
            </a:solidFill>
          </a:ln>
        </p:spPr>
        <p:txBody>
          <a:bodyPr wrap="square" rtlCol="0" anchor="ctr">
            <a:noAutofit/>
          </a:bodyPr>
          <a:lstStyle/>
          <a:p>
            <a:pPr algn="ctr"/>
            <a:r>
              <a:rPr lang="en-US" sz="1800" b="1" dirty="0">
                <a:latin typeface="+mn-lt"/>
              </a:rPr>
              <a:t>TLB</a:t>
            </a:r>
          </a:p>
        </p:txBody>
      </p:sp>
      <p:cxnSp>
        <p:nvCxnSpPr>
          <p:cNvPr id="5" name="Straight Arrow Connector 4">
            <a:extLst>
              <a:ext uri="{FF2B5EF4-FFF2-40B4-BE49-F238E27FC236}">
                <a16:creationId xmlns:a16="http://schemas.microsoft.com/office/drawing/2014/main" id="{396DCFED-FFD4-0F7F-51C9-E3AA39D3E837}"/>
              </a:ext>
            </a:extLst>
          </p:cNvPr>
          <p:cNvCxnSpPr/>
          <p:nvPr/>
        </p:nvCxnSpPr>
        <p:spPr>
          <a:xfrm rot="5400000">
            <a:off x="754379" y="1977616"/>
            <a:ext cx="32004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867665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AC4DBAE-C862-4E53-8820-B6193884B590}"/>
              </a:ext>
            </a:extLst>
          </p:cNvPr>
          <p:cNvSpPr>
            <a:spLocks noGrp="1" noChangeArrowheads="1"/>
          </p:cNvSpPr>
          <p:nvPr>
            <p:ph type="title"/>
          </p:nvPr>
        </p:nvSpPr>
        <p:spPr>
          <a:xfrm>
            <a:off x="457200" y="274638"/>
            <a:ext cx="7467600" cy="1143000"/>
          </a:xfrm>
        </p:spPr>
        <p:txBody>
          <a:bodyPr/>
          <a:lstStyle/>
          <a:p>
            <a:pPr eaLnBrk="1" hangingPunct="1"/>
            <a:r>
              <a:rPr lang="en-US" altLang="en-US" dirty="0"/>
              <a:t>VIPT Cache – Synonyms</a:t>
            </a:r>
          </a:p>
        </p:txBody>
      </p:sp>
      <p:sp>
        <p:nvSpPr>
          <p:cNvPr id="21507" name="Slide Number Placeholder 5">
            <a:extLst>
              <a:ext uri="{FF2B5EF4-FFF2-40B4-BE49-F238E27FC236}">
                <a16:creationId xmlns:a16="http://schemas.microsoft.com/office/drawing/2014/main" id="{02CB05C1-D28B-4729-955C-18C4BDA29E5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48BD0ED0-4929-42DC-B642-0B2A8C8A2950}" type="slidenum">
              <a:rPr lang="en-US" altLang="en-US" sz="1400"/>
              <a:pPr lvl="1" eaLnBrk="1" hangingPunct="1">
                <a:spcBef>
                  <a:spcPct val="0"/>
                </a:spcBef>
                <a:buFontTx/>
                <a:buNone/>
              </a:pPr>
              <a:t>12</a:t>
            </a:fld>
            <a:endParaRPr lang="en-US" altLang="en-US" sz="1400">
              <a:latin typeface="Times New Roman" panose="02020603050405020304" pitchFamily="18" charset="0"/>
            </a:endParaRPr>
          </a:p>
        </p:txBody>
      </p:sp>
      <p:sp>
        <p:nvSpPr>
          <p:cNvPr id="14" name="TextBox 13">
            <a:extLst>
              <a:ext uri="{FF2B5EF4-FFF2-40B4-BE49-F238E27FC236}">
                <a16:creationId xmlns:a16="http://schemas.microsoft.com/office/drawing/2014/main" id="{19C63A25-D5F5-4261-865B-2CA7873FDCB1}"/>
              </a:ext>
            </a:extLst>
          </p:cNvPr>
          <p:cNvSpPr txBox="1"/>
          <p:nvPr/>
        </p:nvSpPr>
        <p:spPr>
          <a:xfrm>
            <a:off x="526930" y="1414732"/>
            <a:ext cx="8464670" cy="5138468"/>
          </a:xfrm>
          <a:prstGeom prst="rect">
            <a:avLst/>
          </a:prstGeom>
          <a:noFill/>
        </p:spPr>
        <p:txBody>
          <a:bodyPr wrap="square" rtlCol="0" anchor="t">
            <a:noAutofit/>
          </a:bodyPr>
          <a:lstStyle/>
          <a:p>
            <a:r>
              <a:rPr lang="en-US" sz="2800" dirty="0">
                <a:latin typeface="+mn-lt"/>
              </a:rPr>
              <a:t>e.g., Assume 4KB pages. If the physical address of our data is </a:t>
            </a:r>
            <a:r>
              <a:rPr lang="en-US" sz="2800" b="1" dirty="0">
                <a:latin typeface="+mn-lt"/>
              </a:rPr>
              <a:t>0x1A318ED4</a:t>
            </a:r>
            <a:r>
              <a:rPr lang="en-US" sz="2800" dirty="0">
                <a:latin typeface="+mn-lt"/>
              </a:rPr>
              <a:t>, and virtual addresses V</a:t>
            </a:r>
            <a:r>
              <a:rPr lang="en-US" sz="2800" baseline="-25000" dirty="0">
                <a:latin typeface="+mn-lt"/>
              </a:rPr>
              <a:t>A</a:t>
            </a:r>
            <a:r>
              <a:rPr lang="en-US" sz="2800" dirty="0">
                <a:latin typeface="+mn-lt"/>
              </a:rPr>
              <a:t> and V</a:t>
            </a:r>
            <a:r>
              <a:rPr lang="en-US" sz="2800" baseline="-25000" dirty="0">
                <a:latin typeface="+mn-lt"/>
              </a:rPr>
              <a:t>B</a:t>
            </a:r>
            <a:r>
              <a:rPr lang="en-US" sz="2800" dirty="0">
                <a:latin typeface="+mn-lt"/>
              </a:rPr>
              <a:t> both map to it, what do we know about V</a:t>
            </a:r>
            <a:r>
              <a:rPr lang="en-US" sz="2800" baseline="-25000" dirty="0">
                <a:latin typeface="+mn-lt"/>
              </a:rPr>
              <a:t>A</a:t>
            </a:r>
            <a:r>
              <a:rPr lang="en-US" sz="2800" dirty="0">
                <a:latin typeface="+mn-lt"/>
              </a:rPr>
              <a:t> and V</a:t>
            </a:r>
            <a:r>
              <a:rPr lang="en-US" sz="2800" baseline="-25000" dirty="0">
                <a:latin typeface="+mn-lt"/>
              </a:rPr>
              <a:t>B</a:t>
            </a:r>
            <a:r>
              <a:rPr lang="en-US" sz="2800" dirty="0">
                <a:latin typeface="+mn-lt"/>
              </a:rPr>
              <a:t>?</a:t>
            </a:r>
          </a:p>
          <a:p>
            <a:r>
              <a:rPr lang="en-US" sz="2800" b="1" dirty="0">
                <a:solidFill>
                  <a:schemeClr val="accent6">
                    <a:lumMod val="75000"/>
                  </a:schemeClr>
                </a:solidFill>
                <a:latin typeface="+mn-lt"/>
              </a:rPr>
              <a:t>V</a:t>
            </a:r>
            <a:r>
              <a:rPr lang="en-US" sz="2800" b="1" baseline="-25000" dirty="0">
                <a:solidFill>
                  <a:schemeClr val="accent6">
                    <a:lumMod val="75000"/>
                  </a:schemeClr>
                </a:solidFill>
                <a:latin typeface="+mn-lt"/>
              </a:rPr>
              <a:t>A</a:t>
            </a:r>
            <a:r>
              <a:rPr lang="en-US" sz="2800" b="1" dirty="0">
                <a:solidFill>
                  <a:schemeClr val="accent6">
                    <a:lumMod val="75000"/>
                  </a:schemeClr>
                </a:solidFill>
                <a:latin typeface="+mn-lt"/>
              </a:rPr>
              <a:t> = 0x______ED4</a:t>
            </a:r>
          </a:p>
          <a:p>
            <a:r>
              <a:rPr lang="en-US" sz="2800" b="1" dirty="0">
                <a:solidFill>
                  <a:schemeClr val="accent6">
                    <a:lumMod val="75000"/>
                  </a:schemeClr>
                </a:solidFill>
                <a:latin typeface="+mn-lt"/>
              </a:rPr>
              <a:t>V</a:t>
            </a:r>
            <a:r>
              <a:rPr lang="en-US" sz="2800" b="1" baseline="-25000" dirty="0">
                <a:solidFill>
                  <a:schemeClr val="accent6">
                    <a:lumMod val="75000"/>
                  </a:schemeClr>
                </a:solidFill>
                <a:latin typeface="+mn-lt"/>
              </a:rPr>
              <a:t>B</a:t>
            </a:r>
            <a:r>
              <a:rPr lang="en-US" sz="2800" b="1" dirty="0">
                <a:solidFill>
                  <a:schemeClr val="accent6">
                    <a:lumMod val="75000"/>
                  </a:schemeClr>
                </a:solidFill>
                <a:latin typeface="+mn-lt"/>
              </a:rPr>
              <a:t> = 0x______ED4</a:t>
            </a:r>
          </a:p>
          <a:p>
            <a:endParaRPr lang="en-US" sz="2800" b="1" dirty="0">
              <a:solidFill>
                <a:schemeClr val="accent6">
                  <a:lumMod val="75000"/>
                </a:schemeClr>
              </a:solidFill>
              <a:latin typeface="+mn-lt"/>
            </a:endParaRPr>
          </a:p>
          <a:p>
            <a:endParaRPr lang="en-US" sz="2800" dirty="0">
              <a:latin typeface="+mn-lt"/>
            </a:endParaRPr>
          </a:p>
          <a:p>
            <a:r>
              <a:rPr lang="en-US" sz="2800" b="1" dirty="0">
                <a:latin typeface="+mn-lt"/>
              </a:rPr>
              <a:t>So then without knowing what V</a:t>
            </a:r>
            <a:r>
              <a:rPr lang="en-US" sz="2800" b="1" baseline="-25000" dirty="0">
                <a:latin typeface="+mn-lt"/>
              </a:rPr>
              <a:t>A</a:t>
            </a:r>
            <a:r>
              <a:rPr lang="en-US" sz="2800" b="1" dirty="0">
                <a:latin typeface="+mn-lt"/>
              </a:rPr>
              <a:t> and V</a:t>
            </a:r>
            <a:r>
              <a:rPr lang="en-US" sz="2800" b="1" baseline="-25000" dirty="0">
                <a:latin typeface="+mn-lt"/>
              </a:rPr>
              <a:t>B</a:t>
            </a:r>
            <a:r>
              <a:rPr lang="en-US" sz="2800" b="1" dirty="0">
                <a:latin typeface="+mn-lt"/>
              </a:rPr>
              <a:t> exactly are, how can we make sure they always map to the same set in our VIPT cache?</a:t>
            </a:r>
          </a:p>
        </p:txBody>
      </p:sp>
    </p:spTree>
    <p:extLst>
      <p:ext uri="{BB962C8B-B14F-4D97-AF65-F5344CB8AC3E}">
        <p14:creationId xmlns:p14="http://schemas.microsoft.com/office/powerpoint/2010/main" val="20891289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Error Correction Codes</a:t>
            </a:r>
          </a:p>
        </p:txBody>
      </p:sp>
      <p:sp>
        <p:nvSpPr>
          <p:cNvPr id="13315" name="Rectangle 3">
            <a:extLst>
              <a:ext uri="{FF2B5EF4-FFF2-40B4-BE49-F238E27FC236}">
                <a16:creationId xmlns:a16="http://schemas.microsoft.com/office/drawing/2014/main" id="{42C502B6-6AC6-4A9D-9283-DCD535169C48}"/>
              </a:ext>
            </a:extLst>
          </p:cNvPr>
          <p:cNvSpPr>
            <a:spLocks noGrp="1" noChangeArrowheads="1"/>
          </p:cNvSpPr>
          <p:nvPr>
            <p:ph idx="1"/>
            <p:custDataLst>
              <p:tags r:id="rId3"/>
            </p:custDataLst>
          </p:nvPr>
        </p:nvSpPr>
        <p:spPr>
          <a:xfrm>
            <a:off x="457200" y="1600200"/>
            <a:ext cx="8229600" cy="4525963"/>
          </a:xfrm>
        </p:spPr>
        <p:txBody>
          <a:bodyPr/>
          <a:lstStyle/>
          <a:p>
            <a:pPr eaLnBrk="1" hangingPunct="1">
              <a:lnSpc>
                <a:spcPct val="80000"/>
              </a:lnSpc>
            </a:pPr>
            <a:r>
              <a:rPr lang="en-US" altLang="en-US" sz="2800" dirty="0"/>
              <a:t>Main memory stores a huge number of bits</a:t>
            </a:r>
          </a:p>
          <a:p>
            <a:pPr lvl="1" eaLnBrk="1" hangingPunct="1">
              <a:lnSpc>
                <a:spcPct val="90000"/>
              </a:lnSpc>
            </a:pPr>
            <a:r>
              <a:rPr lang="en-US" altLang="en-US" sz="2400" dirty="0"/>
              <a:t>Probability of </a:t>
            </a:r>
            <a:r>
              <a:rPr lang="en-US" altLang="en-US" sz="2400" i="1" dirty="0"/>
              <a:t>bit-flip</a:t>
            </a:r>
            <a:r>
              <a:rPr lang="en-US" altLang="en-US" sz="2400" dirty="0"/>
              <a:t> becomes significant</a:t>
            </a:r>
          </a:p>
          <a:p>
            <a:pPr lvl="1" eaLnBrk="1" hangingPunct="1">
              <a:lnSpc>
                <a:spcPct val="90000"/>
              </a:lnSpc>
            </a:pPr>
            <a:r>
              <a:rPr lang="en-US" altLang="en-US" sz="2400" dirty="0"/>
              <a:t>Bit-flips (called </a:t>
            </a:r>
            <a:r>
              <a:rPr lang="en-US" altLang="en-US" sz="2400" i="1" dirty="0"/>
              <a:t>soft errors</a:t>
            </a:r>
            <a:r>
              <a:rPr lang="en-US" altLang="en-US" sz="2400" dirty="0"/>
              <a:t>) caused by</a:t>
            </a:r>
          </a:p>
          <a:p>
            <a:pPr lvl="2" eaLnBrk="1" hangingPunct="1">
              <a:lnSpc>
                <a:spcPct val="90000"/>
              </a:lnSpc>
            </a:pPr>
            <a:r>
              <a:rPr lang="en-US" altLang="en-US" sz="2000" dirty="0"/>
              <a:t>Gamma rays and alpha particles</a:t>
            </a:r>
          </a:p>
          <a:p>
            <a:pPr lvl="2" eaLnBrk="1" hangingPunct="1">
              <a:lnSpc>
                <a:spcPct val="90000"/>
              </a:lnSpc>
            </a:pPr>
            <a:r>
              <a:rPr lang="en-US" altLang="en-US" sz="2000" dirty="0"/>
              <a:t>Electrical interference</a:t>
            </a:r>
          </a:p>
          <a:p>
            <a:pPr lvl="2" eaLnBrk="1" hangingPunct="1">
              <a:lnSpc>
                <a:spcPct val="90000"/>
              </a:lnSpc>
            </a:pPr>
            <a:r>
              <a:rPr lang="en-US" altLang="en-US" sz="2000" dirty="0"/>
              <a:t>etc.</a:t>
            </a:r>
          </a:p>
          <a:p>
            <a:pPr lvl="1" eaLnBrk="1" hangingPunct="1">
              <a:lnSpc>
                <a:spcPct val="90000"/>
              </a:lnSpc>
            </a:pPr>
            <a:r>
              <a:rPr lang="en-US" altLang="en-US" sz="2400" dirty="0"/>
              <a:t>Getting worse with smaller feature sizes</a:t>
            </a:r>
          </a:p>
          <a:p>
            <a:pPr eaLnBrk="1" hangingPunct="1">
              <a:lnSpc>
                <a:spcPct val="80000"/>
              </a:lnSpc>
            </a:pPr>
            <a:r>
              <a:rPr lang="en-US" altLang="en-US" sz="2800" dirty="0"/>
              <a:t>Systems must be protected from soft errors via </a:t>
            </a:r>
            <a:r>
              <a:rPr lang="en-US" altLang="en-US" sz="2800" i="1" dirty="0"/>
              <a:t>error correction codes (ECC)</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13</a:t>
            </a:fld>
            <a:endParaRPr lang="en-US" altLang="en-US" sz="1400">
              <a:latin typeface="Times New Roman" panose="02020603050405020304" pitchFamily="18" charset="0"/>
            </a:endParaRPr>
          </a:p>
        </p:txBody>
      </p:sp>
    </p:spTree>
    <p:custDataLst>
      <p:tags r:id="rId1"/>
    </p:custData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Exercise – ECC</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14</a:t>
            </a:fld>
            <a:endParaRPr lang="en-US" altLang="en-US" sz="1400">
              <a:latin typeface="Times New Roman" panose="02020603050405020304" pitchFamily="18" charset="0"/>
            </a:endParaRPr>
          </a:p>
        </p:txBody>
      </p:sp>
      <p:pic>
        <p:nvPicPr>
          <p:cNvPr id="4" name="Picture 3">
            <a:extLst>
              <a:ext uri="{FF2B5EF4-FFF2-40B4-BE49-F238E27FC236}">
                <a16:creationId xmlns:a16="http://schemas.microsoft.com/office/drawing/2014/main" id="{35CA09E8-08F9-B13E-729A-AC56B93B08CC}"/>
              </a:ext>
            </a:extLst>
          </p:cNvPr>
          <p:cNvPicPr>
            <a:picLocks noChangeAspect="1"/>
          </p:cNvPicPr>
          <p:nvPr/>
        </p:nvPicPr>
        <p:blipFill>
          <a:blip r:embed="rId6"/>
          <a:stretch>
            <a:fillRect/>
          </a:stretch>
        </p:blipFill>
        <p:spPr>
          <a:xfrm>
            <a:off x="673304" y="1447800"/>
            <a:ext cx="7797392" cy="4421128"/>
          </a:xfrm>
          <a:prstGeom prst="rect">
            <a:avLst/>
          </a:prstGeom>
        </p:spPr>
      </p:pic>
    </p:spTree>
    <p:custDataLst>
      <p:tags r:id="rId1"/>
    </p:custDataLst>
    <p:extLst>
      <p:ext uri="{BB962C8B-B14F-4D97-AF65-F5344CB8AC3E}">
        <p14:creationId xmlns:p14="http://schemas.microsoft.com/office/powerpoint/2010/main" val="1903177193"/>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MMPROD_NEXTUNIQUEID" val="10012"/>
  <p:tag name="MMPROD_UIPERSISTENCEDATA" val="MMPROD_UIPERSISTENCEDATA"/>
  <p:tag name="MMPROD_THEME_BG_IMAGE" val=""/>
  <p:tag name="MMPROD_TAG_VCONFIG" val="PD94bWwgdmVyc2lvbj0iMS4wIj8+DQo8Y29uZmlndXJhdGlvbj4NCgk8YnJhbmRpbmc+DQoJCTx1aWZvbnQgbmFtZT0iRk9OVF9OT1RFU19URVhUIiB2YWx1ZT0iVmVyZGFuYSw5LGZhbHNlLGZhbHNlLGZhbHNlIi8+DQoJPC9icmFuZGluZz4NCgk8Y29sb3JzPg0KCQk8dWljb2xvciBuYW1lPSJwcmltYXJ5IiB2YWx1ZT0iMHg2Rjg0ODgiLz4NCgkJPHVpY29sb3IgbmFtZT0iZ2xvdyIgdmFsdWU9IjB4NjA5NzczIi8+DQoJCTx1aWNvbG9yIG5hbWU9InRleHQiIHZhbHVlPSIweEZGRkZGRiIvPg0KCQk8dWljb2xvciBuYW1lPSJsaWdodCIgdmFsdWU9IjB4NEU1RDYwIi8+DQoJCTx1aWNvbG9yIG5hbWU9InNoYWRvdyIgdmFsdWU9IjB4MDAwMDAwIi8+DQoJCTx1aWNvbG9yIG5hbWU9ImJhY2tncm91bmQiIHZhbHVlPSIweDcyNzk3MSIvPg0KCTwvY29sb3JzPg0KCTxsYXlvdXQ+DQoJCTx1aXNob3cgbmFtZT0icHJlc2VudGF0aW9udGl0bGUiIHZhbHVlPSJ0cnVlIi8+PHVpc2hvdyBuYW1lPSJwcmVzZW50ZXJwaG90byIgdmFsdWU9InRydWUiLz48dWlzaG93IG5hbWU9InByZXNlbnRlcm5hbWUiIHZhbHVlPSJ0cnVlIi8+PHVpc2hvdyBuYW1lPSJwcmVzZW50ZXJ0aXRsZSIgdmFsdWU9InRydWUiLz48dWlzaG93IG5hbWU9InByZXNlbnRlcmVtYWlsIiB2YWx1ZT0idHJ1ZSIvPjx1aXNob3cgbmFtZT0icHJlc2VudGVyYmlvIiB2YWx1ZT0idHJ1ZSIvPjx1aXNob3cgbmFtZT0iY29tcGFueWxvZ28iIHZhbHVlPSJ0cnVlIi8+PHVpc2hvdyBuYW1lPSJzaWRlYmFyIiB2YWx1ZT0idHJ1ZSIvPjx1aXNob3cgbmFtZT0ib3V0bGluZSIgdmFsdWU9InRydWUiLz48dWlzaG93IG5hbWU9InRodW1ibmFpbCIgdmFsdWU9InRydWUiLz4NCgkJPHVpc2hvdyBuYW1lPSJub3RlcyIgdmFsdWU9InRydWUiLz48dWlzaG93IG5hbWU9InNlYXJjaCIgdmFsdWU9InRydWUiLz48dWlzaG93IG5hbWU9InF1aXoiIHZhbHVlPSJ0cnVlIi8+PHVpc2hvdyBuYW1lPSJhdHRhY2htZW50cyIgdmFsdWU9InRydWUiLz48dWlzaG93IG5hbWU9InV0aWxzIiB2YWx1ZT0idHJ1ZSIvPjx1aXNob3cgbmFtZT0idm9sdW1lIiB2YWx1ZT0idHJ1ZSIvPjx1aXNob3cgbmFtZT0icGxheWJhciIgdmFsdWU9InRydWUiLz48dWlzaG93IG5hbWU9InRhbGtpbmdoZWFkIiB2YWx1ZT0idHJ1ZSIvPjx1aXNob3cgbmFtZT0ic2lkZWJhcm9ucmlnaHQiIHZhbHVlPSJ0cnVlIi8+PHVpc2hvdyBuYW1lPSJ2aWV3Y2hhbmdlIiB2YWx1ZT0idHJ1ZSIvPjx1aXNob3cgbmFtZT0iYWx3YXlzU2NydW5jaCIgdmFsdWU9ImZhbHNlIi8+PHVpc2hvdyBuYW1lPSJpbml0aWFsZGlzcGxheW1vZGVpc25vcm1hbCIgdmFsdWU9InRydWUiLz48dWlyZXBsYWNlIG5hbWU9ImxvZ28iIHZhbHVlPSIiLz48dWlyZXBsYWNlIG5hbWU9ImJnaW1hZ2UiIHZhbHVlPSIiLz48dWlyZXBsYWNlIG5hbWU9ImluaXRpYWx0YWIiIHZhbHVlPSJvdXRsaW5lIi8+PHVpc2hvdyBuYW1lPSJjY3RleHRoaWdobGlnaHRpbmciIHZhbHVlPSJ0cnVlIi8+DQoJPC9sYXlvdXQ+DQoJPHByZWxvYWRlcj48c2V0Qm9vbCBuYW1lPSJkaXNhYmxlQXNzZXRQcmVsb2FkZXIiIHZhbHVlPSJ0cnVlIi8+PC9wcmVsb2FkZXI+PGxhbmd1YWdlIGlkPSJlb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TbGlkZSAlbiIvPg0KCQk8dWl0ZXh0IG5hbWU9IkFUVEFDSE1FTlRfUFJFVklFV19XQVJOSU5HTVNHX1RJVExFU1RSSU5HIiB2YWx1ZT0iQXR0YWNobWVudCBXYXJuaW5nIi8+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4gQ29sbGFib3JhdGlvbiBkb2VzIG5vdCB3b3JrIGluIHRoaXMgbW9kZSIvPg0KCQk8dWl0ZXh0IG5hbWU9IkNPTExBQl9MT0NBTF9QTEFZQkFDS19USVRMRSIgdmFsdWU9IkxvY2FsIFBsYXliYWNrIi8+DQoJCTx1aXRleHQgbmFtZT0iQ09MTEFCX0xPQ0FMX1BMQVlCQUNLQlROIiB2YWx1ZT0iT2s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DQoJCTx1aXRleHQgbmFtZT0iU0NSVUJCQVJTVEFUVVNfTk9BVURJTyIgdmFsdWU9Ik5vIEF1ZGlvIi8+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DQoJCTx1aXRleHQgbmFtZT0iU0NSVUJCQVJTVEFUVVNfUkVWSUVXUVVJWiIgdmFsdWU9IlJldmlld2luZyBRdWl6Ii8+DQoJCTwhLS0gc3Vic3RpdHV0aW9uOiAlbSA9PSBtaW51dGVzIHJlbWFpbmluZyAtLT4NCgkJPCEtLSBzdWJzdGl0dXRpb246ICVzID09IHNlY29uZHMgcmVtYWluaW5nIC0tPg0KCQk8dWl0ZXh0IG5hbWU9IkVMQVBTRUQiIHZhbHVlPSIlbSBNaW51dGVzICVzIFNlY29uZHMgUmVtYWluaW5nIi8+DQoJCTx1aXRleHQgbmFtZT0iTk9URk9VTkQiIHZhbHVlPSJOb3RoaW5nIEZvdW5kIi8+DQoJCTx1aXRleHQgbmFtZT0iQVRUQUNITUVOVFMiIHZhbHVlPSJBdHRhY2htZW50cy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DQoJCTx1aXRleHQgbmFtZT0iQ09VUlNFX1NUQVRVUyIgdmFsdWU9Ik1vZHVsZSBTdGF0dXMiLz4NCgkJPHVpdGV4dCBuYW1lPSJQQVNTRURfU1RSSU5HIiB2YWx1ZT0iUGFzc2VkIi8+DQoJCTx1aXRleHQgbmFtZT0iRkFJTEVEX1NUUklORyIgdmFsdWU9IkZhaWxlZCIvPg0KCQk8IS0tcXVpeiBwb2QgYW5kIG1lc3NhZ2UgYm94IHRleHRz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FVSVpQT0RfUVVJWl9BVFRFTVBUIiB2YWx1ZT0iUXVpeiBBdHRlbXB0OiIvPg0KCQk8dWl0ZXh0IG5hbWU9IlFVSVpQT0RfUVVJWl9BVFRFTVBUX1ZBTFVFIiB2YWx1ZT0iJW4gb2YgJXQiLz4NCgkJPHVpdGV4dCBuYW1lPSJRVUlaUE9EX1FVSVpfU0NPUkUiIHZhbHVlPSJTY29yZWQ6Ii8+DQoJCTx1aXRleHQgbmFtZT0iUVVJWlBPRF9RVUlaX1BBU1NTQ09SRSIgdmFsdWU9IlBhc3NpbmcgU2NvcmU6Ii8+DQoJCTx1aXRleHQgbmFtZT0iUVVJWlBPRF9RVUlaX01BWFNDT1JFIiB2YWx1ZT0iTWF4IFNjb3JlOiIvPg0KCQk8dWl0ZXh0IG5hbWU9IlFVSVpQT0RfUVVFU0FUTVBUX1NUUiIgdmFsdWU9IkF0dGVtcHQ6ICVuIG9mICV0Ii8+DQoJCTx1aXRleHQgbmFtZT0iUVVJWlBPRF9RVUVTVFlQRV9TVFIiIHZhbHVlPSJUeXBlOiAlcyIvPg0KCQk8dWl0ZXh0IG5hbWU9IlFVSVpQT0RfUVVFU1RZUEVfR1JEIiB2YWx1ZT0iR3JhZGVkIi8+DQoJCTx1aXRleHQgbmFtZT0iUVVJWlBPRF9RVUVTVFlQRV9TVlkiIHZhbHVlPSJTdXJ2ZXkiLz4NCgkJPHVpdGV4dCBuYW1lPSJRVUlaUE9EX1FVSVpBVE1QVF9JTkYiIHZhbHVlPSJJbmZpbml0ZSIvPg0KCQk8dWl0ZXh0IG5hbWU9IlFVSVpQT0RfUVVFU0FUTVBUX0lORiIgdmFsdWU9IkluZmluaXRlIi8+DQoJCTx1aXRleHQgbmFtZT0iV0FSTklOR01TR19ZRVNTVFJJTkciIHZhbHVlPSJZZXMiLz4NCgkJPHVpdGV4dCBuYW1lPSJXQVJOSU5HTVNHX05PU1RSSU5HIiB2YWx1ZT0iTm8iLz4NCgkJPHVpdGV4dCBuYW1lPSJXQVJOSU5HTVNHX1RJVExFU1RSSU5HIiB2YWx1ZT0iUXVpeiBOYXZpZ2F0aW9uIFdhcm5pbmciLz4NCgkJPHVpdGV4dCBuYW1lPSJXQVJOSU5HTVNHX01TR1NUUklORyIgdmFsdWU9IlRoZXJlIGFyZSB1bi1hdHRlbXB0ZWQgcXVlc3Rpb25zIGluIHRoaXMgUXVpei4mI3hBOyYjeEE7Q2xpY2tpbmcgWWVzIHdpbGwgdGFrZSB5b3Ugb3V0IG9mIHRoZSBRdWl6LiBDbGljayBObyB0byBjb250aW51ZSB0aGUgUXVpei4iLz4NCgkJPHVpdGV4dCBuYW1lPSJJTkZPUk1BVElPTl9IMjY0X0ZMQVNIUExBWUVSIiB2YWx1ZT0iVGhlIGN1cnJlbnQgdmVyc2lvbiBvZiBGbGFzaCBQbGF5ZXIgaW5zdGFsbGVkIG9uIHlvdXIgbWFjaGluZSBkb2VzIG5vdCBzdXBwb3J0IHRoaXMgdmlkZW8uIENsaWNrIG9uIHRoZSB2aWRlbyBhcmVhIHRvIGRvd25sb2FkIHRoZSBsYXRlc3Q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TaG93IHNpZGViYXIgdG8gcGFydGljaXBhbnRzIi8+DQoJCTx1aXRleHQgbmFtZT0iTVVURSIgdmFsdWU9Ik11dGUiLz4NCgkJPHVpdGV4dCBuYW1lPSJET0NXUkFQX1RJVExFIiB2YWx1ZT0iUHJlc2VudGVyIEZpbGUgQXR0YWNobWVudCIvPg0KCQk8dWl0ZXh0IG5hbWU9IkRPQ1dSQVBfTVNHIiB2YWx1ZT0iU2F2ZSB0byBNeSBDb21wdXRlciIvPg0KCQk8dWl0ZXh0IG5hbWU9IkRPQ1dSQVBfUFJPTVBUIiB2YWx1ZT0iQ2xpY2sgdG8gRG93bmxvYWQiLz4NCgk8L2xhbmd1YWdlPg0KCTxsYW5ndWFnZSBpZD0iYX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2KrYrdiw2YrYsSDYudmGINin2YTZhdix2YHZgtin2KoiLz4NCgkJPHVpdGV4dCBuYW1lPSJBVFRBQ0hNRU5UX1BSRVZJRVdfV0FSTklOR01TRyIgdmFsdWU9ItmE2Kcg2YrZhdmD2YYg2YHYqtitINin2YTZhdix2YHZgtin2Kog2YHZiiDZhtmF2Lcg2KfZhNmF2LnYp9mK2YbYqS4g2KfZhNix2KzYp9ihINin2LPYqtiu2K/Yp9mFINmG2LTYsSDZhNix2KTZitipINin2YTZhtiq2KfYptisLiIvPg0KCQk8dWl0ZXh0IG5hbWU9IlVOTkFNRURTTElERVRJVExFIiB2YWx1ZT0i2LTYsdmK2K3YqSAlbiIvPg0KCQk8dWl0ZXh0IG5hbWU9IkNPTExBQl9MT0NBTF9QTEFZQkFDS19NU0ciIHZhbHVlPSLZitis2LHZiiDYrdin2YTZitin2Ysg2KrYtNi62YrZhCDYp9mE2YXYrdiq2YjZiSDZhdit2YTZitin2YsuINin2YTYqti52KfZiNmGINmE2Kcg2YrYudmF2YQg2YHZiiDZh9iw2Kcg2KfZhNmI2LbYuS4iLz4NCgkJPHVpdGV4dCBuYW1lPSJDT0xMQUJfTE9DQUxfUExBWUJBQ0tfVElUTEUiIHZhbHVlPSLYqti02LrZitmEINmF2K3ZhNmKIi8+DQoJCTx1aXRleHQgbmFtZT0iQ09MTEFCX0xPQ0FMX1BMQVlCQUNLQlROIiB2YWx1ZT0i2YXZiNin2YHZgiIvPg0KCQk8IS0tIHN1YnN0aXR1dGlvbjogJW4gPT0gc2xpZGUgbnVtYmVyIC0tPg0KCQk8IS0tIHN1YnN0aXR1dGlvbjogJXQgPT0gdG90YWwgc2xpZGUgY291bnQgLS0+DQoJCTx1aXRleHQgbmFtZT0iU0NSVUJCQVJTVEFUVVNfU0xJREVJTkZPIiB2YWx1ZT0i2LTYsdmK2K3YqSAlbiAvICV0IHwgIi8+DQoJCTx1aXRleHQgbmFtZT0iU0NSVUJCQVJTVEFUVVNfU1RPUFBFRCIgdmFsdWU9ItmF2KrZiNmC2YEiLz4NCgkJPHVpdGV4dCBuYW1lPSJTQ1JVQkJBUlNUQVRVU19QTEFZSU5HIiB2YWx1ZT0i2YLZitivINin2YTYqti02LrZitmEIi8+DQoJCTx1aXRleHQgbmFtZT0iU0NSVUJCQVJTVEFUVVNfTk9BVURJTyIgdmFsdWU9ItmE2Kcg2YrZiNis2K8g2LXZiNiqIi8+DQoJCTx1aXRleHQgbmFtZT0iU0NSVUJCQVJTVEFUVVNfVklEUExBWUlORyIgdmFsdWU9Itin2YTZgdmK2K/ZitmIINmC2YrYryDYp9mE2KrYtNi62YrZhCIvPg0KCQk8dWl0ZXh0IG5hbWU9IlNDUlVCQkFSU1RBVFVTX0xPQURJTkciIHZhbHVlPSLZitis2LHZiiDYp9mE2KLZhiDYp9mE2KrYrdmF2YrZhC4uLiIvPg0KCQk8dWl0ZXh0IG5hbWU9IlNDUlVCQkFSU1RBVFVTX0JVRkZFUklORyIgdmFsdWU9ItmK2KzYsdmKINin2YTYotmGINin2YTYqtiu2LLZitmGINin2YTZhdik2YLYqiIvPg0KCQk8dWl0ZXh0IG5hbWU9IlNDUlVCQkFSU1RBVFVTX1FVRVNUSU9OIiB2YWx1ZT0i2KfZhNil2KzYp9io2Kkg2LnZhNmJINin2YTYs9ik2KfZhCIvPg0KCQk8dWl0ZXh0IG5hbWU9IlNDUlVCQkFSU1RBVFVTX1JFVklFV1FVSVoiIHZhbHVlPSLZhdix2KfYrNi52Kkg2KfZhNmF2LPYp9io2YLYqSIvPg0KCQk8IS0tIHN1YnN0aXR1dGlvbjogJW0gPT0gbWludXRlcyByZW1haW5pbmcgLS0+DQoJCTwhLS0gc3Vic3RpdHV0aW9uOiAlcyA9PSBzZWNvbmRzIHJlbWFpbmluZyAtLT4NCgkJPHVpdGV4dCBuYW1lPSJFTEFQU0VEIiB2YWx1ZT0iJW0g2K/Zgtin2KbZgiVzINir2YjYp9mGINmF2KrYqNmC2YrYqSIvPg0KCQk8dWl0ZXh0IG5hbWU9Ik5PVEZPVU5EIiB2YWx1ZT0i2YTZhSDZitmP2LnYq9ixINi52YTZiSDYtNmK2KEiLz4NCgkJPHVpdGV4dCBuYW1lPSJBVFRBQ0hNRU5UUyIgdmFsdWU9Itin2YTZhdix2YHZgtin2KoiLz4NCgkJPCEtLSBzdWJzdGl0dXRpb246ICVwID09IGN1cnJlbnQgc3BlYWtlcidzIHRpdGxlIC0tPg0KCQk8dWl0ZXh0IG5hbWU9IkJJT1dJTl9USVRMRSIgdmFsdWU9Itin2YTYs9mK2LHYqSDYp9mE2LDYp9iq2YrYqTogJXAiLz4NCgkJPHVpdGV4dCBuYW1lPSJCSU9CVE5fVElUTEUiIHZhbHVlPSLYp9mE2LPZitix2Kkg2KfZhNiw2KfYqtmK2KkiLz4NCgkJPHVpdGV4dCBuYW1lPSJESVZJREVSQlROX1RJVExFIiB2YWx1ZT0ifCIvPg0KCQk8dWl0ZXh0IG5hbWU9IkNPTlRBQ1RCVE5fVElUTEUiIHZhbHVlPSLYp9iq2LXYp9mEIi8+DQoJCTx1aXRleHQgbmFtZT0iVEFCX1FVSVoiIHZhbHVlPSLZhdiz2KfYqNmC2KkiLz4NCgkJPHVpdGV4dCBuYW1lPSJUQUJfT1VUTElORSIgdmFsdWU9ItmF2K7Yt9i3Ii8+DQoJCTx1aXRleHQgbmFtZT0iVEFCX1RIVU1CIiB2YWx1ZT0i2YXYtdi62ZHYsdipIi8+DQoJCTx1aXRleHQgbmFtZT0iVEFCX05PVEVTIiB2YWx1ZT0i2YXZhNin2K3YuNin2KoiLz4NCgkJPHVpdGV4dCBuYW1lPSJUQUJfU0VBUkNIIiB2YWx1ZT0i2KjYrdirIi8+DQoJCTx1aXRleHQgbmFtZT0iU0xJREVfSEVBRElORyIgdmFsdWU9Iti52YbZiNin2YYg2KfZhNi02LHZitit2KkgIi8+DQoJCTx1aXRleHQgbmFtZT0iRFVSQVRJT05fSEVBRElORyIgdmFsdWU9ItmF2K/YqSIvPg0KCQk8dWl0ZXh0IG5hbWU9IlNFQVJDSF9IRUFESU5HIiB2YWx1ZT0iOtin2YTYqNit2Ksg2LnZhiDZhti1Ii8+DQoJCTx1aXRleHQgbmFtZT0iVEhVTUJfSEVBRElORyIgdmFsdWU9Iti02LHZitit2KkiLz4NCgkJPHVpdGV4dCBuYW1lPSJUSFVNQl9JTkZPIiB2YWx1ZT0i2LnZhtmI2KfZhi/Zhdiv2Kkg2KfZhNi02LHZitit2KkiLz4NCgkJPHVpdGV4dCBuYW1lPSJBVFRBQ0hOQU1FX0hFQURJTkciIHZhbHVlPSLYp9iz2YUg2KfZhNmF2YTZgSIvPg0KCQk8dWl0ZXh0IG5hbWU9IkFUVEFDSFNJWkVfSEVBRElORyIgdmFsdWU9Itin2YTYrdis2YUiLz4NCgkJPHVpdGV4dCBuYW1lPSJTTElERV9OT1RFUyIgdmFsdWU9ItmF2YTYp9it2LjYp9iqINin2YTYtNix2YrYrdipIi8+DQoJCTx1aXRleHQgbmFtZT0iQ09VUlNFX1NUQVRVUyIgdmFsdWU9Itit2KfZhNipINin2YTZiNit2K/YqSIvPg0KCQk8dWl0ZXh0IG5hbWU9IlBBU1NFRF9TVFJJTkciIHZhbHVlPSLZhtis2KfYrSIvPg0KCQk8dWl0ZXh0IG5hbWU9IkZBSUxFRF9TVFJJTkciIHZhbHVlPSLZgdi02YQiLz4NCgkJPCEtLXF1aXogcG9kIGFuZCBtZXNzYWdlIGJveCB0ZXh0cy0tPg0KCQk8dWl0ZXh0IG5hbWU9IlFVSVpQT0RfUVVJWl9BVFRFTVBUIiB2YWx1ZT0i2LHZgtmFINin2YTZhdit2KfZiNmE2Kkg2YHZiiDYp9mE2YXYs9in2KjZgtipOiIvPg0KCQk8dWl0ZXh0IG5hbWU9IlFVSVpQT0RfUVVJWl9BVFRFTVBUX1ZBTFVFIiB2YWx1ZT0iJW4g2YXZhiAldCIvPg0KCQk8dWl0ZXh0IG5hbWU9IlFVSVpQT0RfUVVJWl9TQ09SRSIgdmFsdWU9IjrYp9mE2K/Ysdis2Kkg2KfZhNmF2LPYrNmE2KkiLz4NCgkJPHVpdGV4dCBuYW1lPSJRVUlaUE9EX1FVSVpfUEFTU1NDT1JFIiB2YWx1ZT0iOtiv2LHYrNipINin2YTZhtis2KfYrSIvPg0KCQk8dWl0ZXh0IG5hbWU9IlFVSVpQT0RfUVVJWl9NQVhTQ09SRSIgdmFsdWU9IjrYp9mE2K/Ysdis2Kkg2KfZhNmC2LXZiNmJIi8+DQoJCTx1aXRleHQgbmFtZT0iUVVJWlBPRF9RVUVTQVRNUFRfU1RSIiB2YWx1ZT0i2KfZhNmF2K3Yp9mI2YTYqSAlbiDZhdmGICV0Ii8+DQoJCTx1aXRleHQgbmFtZT0iUVVJWlBPRF9RVUVTVFlQRV9TVFIiIHZhbHVlPSLYp9mE2YbZiNi5OiAlcyIvPg0KCQk8dWl0ZXh0IG5hbWU9IlFVSVpQT0RfUVVFU1RZUEVfR1JEIiB2YWx1ZT0i2KrZhSDYqti12K3Zitit2YciLz4NCgkJPHVpdGV4dCBuYW1lPSJRVUlaUE9EX1FVRVNUWVBFX1NWWSIgdmFsdWU9Itin2LPYqti32YTYp9i5Ii8+DQoJCTx1aXRleHQgbmFtZT0iUVVJWlBPRF9RVUlaQVRNUFRfSU5GIiB2YWx1ZT0i2YTYpyDZhtmH2KfYptmKIi8+DQoJCTx1aXRleHQgbmFtZT0iUVVJWlBPRF9RVUVTQVRNUFRfSU5GIiB2YWx1ZT0i2YTYpyDZhtmH2KfYptmKIi8+DQoJCTx1aXRleHQgbmFtZT0iV0FSTklOR01TR19ZRVNTVFJJTkciIHZhbHVlPSLZhti52YUiLz4NCgkJPHVpdGV4dCBuYW1lPSJXQVJOSU5HTVNHX05PU1RSSU5HIiB2YWx1ZT0i2YTYpyIvPg0KCQk8dWl0ZXh0IG5hbWU9IldBUk5JTkdNU0dfVElUTEVTVFJJTkciIHZhbHVlPSLYqtit2LDZitixINi52YYg2KfZhNiq2YbZgtmEINmB2Yog2KfZhNmF2LPYp9io2YLYqSIvPg0KCQk8dWl0ZXh0IG5hbWU9IldBUk5JTkdNU0dfTVNHU1RSSU5HIiB2YWx1ZT0i2YfZhtin2YMg2KPYs9im2YTYqSDZhNmFINiq2KrZhSDYp9mE2KXYrNin2KjYqSDYudmE2YrZh9inINmB2Yog2KfZhNmF2LPYp9io2YLYqS4g2KfZhNmG2YLYsSDYudmE2Ykg2YbYudmFINiz2YrYrtix2KzZgyDZhdmGINin2YTZhdiz2KfYqNmC2KkuINin2YbZgtixINmE2Kcg2YTZhdiq2KfYqNi52Kkg2KfZhNmF2LPYp9io2YLYqS4iLz4NCgkJPHVpdGV4dCBuYW1lPSJJTkZPUk1BVElPTl9IMjY0X0ZMQVNIUExBWUVSIiB2YWx1ZT0i2YbYs9iu2KkgRmxhc2ggUGxheWVyICDYp9mE2YXYq9io2KrYqSDYrdin2YTZitin2Ysg2LnZhNmJINis2YfYp9iy2YMg2YTYpyDYqtiv2LnZhSDZh9iw2Kcg2KfZhNmB2YrYr9mK2YguINin2YbZgtixINi52YTZiSDZhdmG2LfZgtipINin2YTZgdmK2K/ZitmIINmE2KrZhtiy2YrZhCDYo9it2K/YqyDZhtiz2K7YqSDZhdmG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2KXYuNmH2KfYsSDYp9mE2LTYsdmK2Lcg2KfZhNis2KfZhtio2Yog2YTZhNmF2LTYp9ix2YPZitmGIi8+DQoJCTx1aXRleHQgbmFtZT0iTVVURSIgdmFsdWU9Iti12KfZhdiqIi8+DQoJCTx1aXRleHQgbmFtZT0iRE9DV1JBUF9USVRMRSIgdmFsdWU9Itin2YTZhdmE2YHYp9iqINin2YTZhdix2YHZgtipINmB2YogUHJlc2VudGVyIi8+DQoJCTx1aXRleHQgbmFtZT0iRE9DV1JBUF9NU0ciIHZhbHVlPSLYp9mE2K3Zgdi4INmB2Yog2KzZh9in2LIg2KfZhNmD2YXYqNmK2YjYqtixIi8+DQoJCTx1aXRleHQgbmFtZT0iRE9DV1JBUF9QUk9NUFQiIHZhbHVlPSLYp9mG2YLYsSDZh9mG2Kcg2YTZhNiq2YbYstmK2YQiLz4NCgk8L2xhbmd1YWdlPg0KCTxsYW5ndWFnZSBpZD0iZG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V2FybnVuZyBiZWltIMOWZmZuZW4gdm9uIEFubGFnZW4iLz4NCgkJPHVpdGV4dCBuYW1lPSJBVFRBQ0hNRU5UX1BSRVZJRVdfV0FSTklOR01TRyIgdmFsdWU9IkFuaMOkbmdlIGvDtm5uZW4gbmljaHQgaW0gVm9yc2NoYXUtTW9kdXMgZ2XDtmZmbmV0IHdlcmRlbi4gVmVyd2VuZGVuIFNpZSDigJ5WZXLDtmZmZW50bGljaGVu4oCcLCB1bSBkaWUgRXJnZWJuaXNzZSBhbnp1emVpZ2VuLiIvPg0KCQk8dWl0ZXh0IG5hbWU9IkNPTExBQl9MT0NBTF9QTEFZQkFDS19NU0ciIHZhbHVlPSJJbmhhbHQgd2lyZCBsb2thbCBnZXNwaWVsdC4gWnVzYW1tZW5hcmJlaXQgZnVua3Rpb25pZXJ0IGluIGRpZXNlbSBNb2R1cyBuaWNodC4iLz4NCgkJPHVpdGV4dCBuYW1lPSJDT0xMQUJfTE9DQUxfUExBWUJBQ0tfVElUTEUiIHZhbHVlPSJMb2thbGUgV2llZGVyZ2FiZSIvPg0KCQk8dWl0ZXh0IG5hbWU9IkNPTExBQl9MT0NBTF9QTEFZQkFDS0JUTiIgdmFsdWU9Ik9LIi8+DQoJCTx1aXRleHQgbmFtZT0iVU5OQU1FRFNMSURFVElUTEUiIHZhbHVlPSJGb2xpZSAlbiIvPg0KCQk8IS0tIHN1YnN0aXR1dGlvbjogJW4gPT0gc2xpZGUgbnVtYmVyIC0tPg0KCQk8IS0tIHN1YnN0aXR1dGlvbjogJXQgPT0gdG90YWwgc2xpZGUgY291bnQgLS0+DQoJCTx1aXRleHQgbmFtZT0iU0NSVUJCQVJTVEFUVVNfU0xJREVJTkZPIiB2YWx1ZT0iRm9saWUgJW4gLyAldCB8ICIvPg0KCQk8dWl0ZXh0IG5hbWU9IlNDUlVCQkFSU1RBVFVTX1NUT1BQRUQiIHZhbHVlPSJCZWVuZGV0Ii8+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DQoJCTx1aXRleHQgbmFtZT0iU0NSVUJCQVJTVEFUVVNfUVVFU1RJT04iIHZhbHVlPSJGcmFnZSBiZWFudHdvcnRlbiIvPg0KCQk8dWl0ZXh0IG5hbWU9IlNDUlVCQkFSU1RBVFVTX1JFVklFV1FVSVoiIHZhbHVlPSJOb2NobWFscyBkdXJjaHNlaGVuIi8+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DQoJCTx1aXRleHQgbmFtZT0iQklPV0lOX1RJVExFIiB2YWx1ZT0iU3ByZWNoZXI6ICVwIi8+DQoJCTx1aXRleHQgbmFtZT0iQklPQlROX1RJVExFIiB2YWx1ZT0iU3ByZWNoZXIiLz4NCgkJPHVpdGV4dCBuYW1lPSJESVZJREVSQlROX1RJVExFIiB2YWx1ZT0ifCIvPg0KCQk8dWl0ZXh0IG5hbWU9IkNPTlRBQ1RCVE5fVElUTEUiIHZhbHVlPSJLb250YWt0Ii8+DQoJCTx1aXRleHQgbmFtZT0iVEFCX1FVSVoiIHZhbHVlPSJRdWl6Ii8+DQoJCTx1aXRleHQgbmFtZT0iVEFCX09VVExJTkUiIHZhbHVlPSJTdHJ1a3R1ciIvPg0KCQk8dWl0ZXh0IG5hbWU9IlRBQl9USFVNQiIgdmFsdWU9Ik1pbmlhdHVyIi8+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HVpdGV4dCBuYW1lPSJDT1VSU0VfU1RBVFVTIiB2YWx1ZT0iTW9kdWxzdGF0dXMiLz4NCgkJPHVpdGV4dCBuYW1lPSJQQVNTRURfU1RSSU5HIiB2YWx1ZT0iRXJmb2xncmVpY2giLz4NCgkJPHVpdGV4dCBuYW1lPSJGQUlMRURfU1RSSU5HIiB2YWx1ZT0iRmVobGdlc2NobGFnZW4iLz4NCgkJPCEtLXF1aXogcG9kIGFuZCBtZXNzYWdlIGJveCB0ZXh0cy0tPg0KCQk8dWl0ZXh0IG5hbWU9IlFVSVpQT0RfUVVJWl9BVFRFTVBUIiB2YWx1ZT0iUXVpenZlcnN1Y2g6Ii8+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DQoJCTx1aXRleHQgbmFtZT0iUVVJWlBPRF9RVUVTQVRNUFRfU1RSIiB2YWx1ZT0iVmVyc3VjaDogJW4gdm9uICV0Ii8+DQoJCTx1aXRleHQgbmFtZT0iUVVJWlBPRF9RVUVTVFlQRV9TVFIiIHZhbHVlPSJUeXA6ICVzIi8+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QXVzIi8+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DQoJPGxhbmd1YWdlIGlkPSJmc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mVydGlzc2VtZW50IGNvbmNlcm5hbnQgbGEgcGnDqGNlIGpvaW50ZSIvPg0KCQk8dWl0ZXh0IG5hbWU9IkFUVEFDSE1FTlRfUFJFVklFV19XQVJOSU5HTVNHIiB2YWx1ZT0iTGVzIHBpw6hjZXMgam9pbnRlcyBuZSBwZXV2ZW50IHBhcyDDqnRyZSBvdXZlcnRlcyBlbiBtb2RlIEFwZXLDp3UuIFV0aWxpc2V6IGxhIHB1YmxpY2F0aW9uIHBvdXIgYWZmaWNoZXIgbGVzIHLDqXN1bHRhdHMuIi8+DQoJCTx1aXRleHQgbmFtZT0iQ09MTEFCX0xPQ0FMX1BMQVlCQUNLX01TRyIgdmFsdWU9IkxlIGNvbnRlbnUgZXN0IGx1IGxvY2FsZW1lbnQuIExhIGNvbGxhYm9yYXRpb24gbuKAmWVzdCBwYXMgcHJpc2UgZW4gY2hhcmdlIHBvdXIgY2UgbW9kZS4iLz4NCgkJPHVpdGV4dCBuYW1lPSJDT0xMQUJfTE9DQUxfUExBWUJBQ0tfVElUTEUiIHZhbHVlPSJMZWN0dXJlIGxvY2FsZSIvPg0KCQk8dWl0ZXh0IG5hbWU9IkNPTExBQl9MT0NBTF9QTEFZQkFDS0JUTiIgdmFsdWU9Ik9rIi8+DQoJCTx1aXRleHQgbmFtZT0iVU5OQU1FRFNMSURFVElUTEUiIHZhbHVlPSJEaWFwb3NpdGl2ZSAlbiIvPg0KCQk8IS0tIHN1YnN0aXR1dGlvbjogJW4gPT0gc2xpZGUgbnVtYmVyIC0tPg0KCQk8IS0tIHN1YnN0aXR1dGlvbjogJXQgPT0gdG90YWwgc2xpZGUgY291bnQgLS0+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DQoJCTx1aXRleHQgbmFtZT0iU0NSVUJCQVJTVEFUVVNfVklEUExBWUlORyIgdmFsdWU9IkxlY3R1cmUgdmlkw6lvIGVuIGNvdXJzIi8+DQoJCTx1aXRleHQgbmFtZT0iU0NSVUJCQVJTVEFUVVNfTE9BRElORyIgdmFsdWU9IkNoYXJnZW1lbnQgZW4gY291cnMiLz4NCgkJPHVpdGV4dCBuYW1lPSJTQ1JVQkJBUlNUQVRVU19CVUZGRVJJTkciIHZhbHVlPSJNaXNlIGVuIG3DqW1vaXJlIi8+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DQoJCTx1aXRleHQgbmFtZT0iRUxBUFNFRCIgdmFsdWU9IiVtIG1pbnV0ZXMgJXMgc2Vjb25kZXMgcmVzdGFudGVzIi8+DQoJCTx1aXRleHQgbmFtZT0iTk9URk9VTkQiIHZhbHVlPSJSaWVuIHRyb3V2w6kiLz4NCgkJPHVpdGV4dCBuYW1lPSJBVFRBQ0hNRU5UUyIgdmFsdWU9IlBpw6hjZXMgam9pbnRlcyIvPg0KCQk8IS0tIHN1YnN0aXR1dGlvbjogJXAgPT0gY3VycmVudCBzcGVha2VyJ3MgdGl0bGUgLS0+DQoJCTx1aXRleHQgbmFtZT0iQklPV0lOX1RJVExFIiB2YWx1ZT0iQmlvIDogJXAiLz4NCgkJPHVpdGV4dCBuYW1lPSJCSU9CVE5fVElUTEUiIHZhbHVlPSJCaW8gOiIvPg0KCQk8dWl0ZXh0IG5hbWU9IkRJVklERVJCVE5fVElUTEUiIHZhbHVlPSJ8Ii8+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HVpdGV4dCBuYW1lPSJDT1VSU0VfU1RBVFVTIiB2YWx1ZT0iU3RhdHV0IGR1IG1vZHVsZSIvPg0KCQk8dWl0ZXh0IG5hbWU9IlBBU1NFRF9TVFJJTkciIHZhbHVlPSJSw6l1c3NpIi8+DQoJCTx1aXRleHQgbmFtZT0iRkFJTEVEX1NUUklORyIgdmFsdWU9IkVjaG91w6kiLz4NCgkJPCEtLXF1aXogcG9kIGFuZCBtZXNzYWdlIGJveCB0ZXh0cy0tPg0KCQk8dWl0ZXh0IG5hbWU9IlFVSVpQT0RfUVVJWl9BVFRFTVBUIiB2YWx1ZT0iVGVudGF0aXZlIGRlIHF1ZXN0aW9ubmFpcmUgOiIvPg0KCQk8dWl0ZXh0IG5hbWU9IlFVSVpQT0RfUVVJWl9BVFRFTVBUX1ZBTFVFIiB2YWx1ZT0iJW4gc3VyICV0Ii8+DQoJCTx1aXRleHQgbmFtZT0iUVVJWlBPRF9RVUlaX1NDT1JFIiB2YWx1ZT0iTm90ZSBvYnRlbnVlIDoiLz4NCgkJPHVpdGV4dCBuYW1lPSJRVUlaUE9EX1FVSVpfUEFTU1NDT1JFIiB2YWx1ZT0iTm90ZSBkJ2FkbWlzc2liaWxpdMOpwqA6Ii8+DQoJCTx1aXRleHQgbmFtZT0iUVVJWlBPRF9RVUlaX01BWFNDT1JFIiB2YWx1ZT0iTm90ZSBtYXhpbWFsZSA6Ii8+DQoJCTx1aXRleHQgbmFtZT0iUVVJWlBPRF9RVUVTQVRNUFRfU1RSIiB2YWx1ZT0iVGVudGF0aXZlIDogJW4gc3VyICV0Ii8+DQoJCTx1aXRleHQgbmFtZT0iUVVJWlBPRF9RVUVTVFlQRV9TVFIiIHZhbHVlPSJUeXBlOiAlcyIvPg0KCQk8dWl0ZXh0IG5hbWU9IlFVSVpQT0RfUVVFU1RZUEVfR1JEIiB2YWx1ZT0iTm90w6kiLz4NCgkJPHVpdGV4dCBuYW1lPSJRVUlaUE9EX1FVRVNUWVBFX1NWWSIgdmFsdWU9IkVucXXDqnRlIi8+DQoJCTx1aXRleHQgbmFtZT0iUVVJWlBPRF9RVUlaQVRNUFRfSU5GIiB2YWx1ZT0iSWxsaW1pdMOpIi8+DQoJCTx1aXRleHQgbmFtZT0iUVVJWlBPRF9RVUVTQVRNUFRfSU5GIiB2YWx1ZT0iSWxsaW1pdMOpIi8+DQoJCTx1aXRleHQgbmFtZT0iV0FSTklOR01TR19ZRVNTVFJJTkciIHZhbHVlPSJPdWkiLz4NCgkJPHVpdGV4dCBuYW1lPSJXQVJOSU5HTVNHX05PU1RSSU5HIiB2YWx1ZT0iTm9uIi8+DQoJCTx1aXRleHQgbmFtZT0iV0FSTklOR01TR19USVRMRVNUUklORyIgdmFsdWU9IkF2ZXJ0aXNzZW1lbnQgZGUgbmF2aWdhdGlvbiBkdSBxdWVzdGlvbm5haXJlIi8+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DQoJCTx1aWZvbnQgbmFtZT0iRk9OVF9QUkVTRU5URVJUSVRMRSIgdmFsdWU9IlZlcmRhbmEsMTE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ua3u+S7mOODleOCoeOCpOODq+itpuWRiiIvPg0KCQk8dWl0ZXh0IG5hbWU9IkFUVEFDSE1FTlRfUFJFVklFV19XQVJOSU5HTVNHIiB2YWx1ZT0i5re75LuY44OV44Kh44Kk44Or44Gv44OX44Os44OT44Ol44O844Oi44O844OJ44Gn44Gv6ZaL44GN44G+44Gb44KT44CC44OR44OW44Oq44OD44K344Ol44KS5L2/55So44GX44Gm57WQ5p6c44KS6KGo56S644GX44Gm44GP44Gg44GV44GE44CCIi8+DQoJCTx1aXRleHQgbmFtZT0iQ09MTEFCX0xPQ0FMX1BMQVlCQUNLX01TRyIgdmFsdWU9IuOCs+ODs+ODhuODs+ODhOOBr+ODreODvOOCq+ODq+OBp+WGjeeUn+OBleOCjOOBpuOBhOOBvuOBmeOAguOBk+OBruODouODvOODieOBp+OBr+WFseWQjOS9nOalreOBp+OBjeOBvuOBm+OCk+OAgiIvPg0KCQk8dWl0ZXh0IG5hbWU9IkNPTExBQl9MT0NBTF9QTEFZQkFDS19USVRMRSIgdmFsdWU9IuODreODvOOCq+ODq+WGjeeUnyIvPg0KCQk8dWl0ZXh0IG5hbWU9IkNPTExBQl9MT0NBTF9QTEFZQkFDS0JUTiIgdmFsdWU9Ik9LIi8+DQoJCTx1aXRleHQgbmFtZT0iVU5OQU1FRFNMSURFVElUTEUiIHZhbHVlPSLjgrnjg6njgqTjg4kgOiAlbiIvPg0KCQk8IS0tIHN1YnN0aXR1dGlvbjogJW4gPT0gc2xpZGUgbnVtYmVyIC0tPg0KCQk8IS0tIHN1YnN0aXR1dGlvbjogJXQgPT0gdG90YWwgc2xpZGUgY291bnQgLS0+DQoJCTx1aXRleHQgbmFtZT0iU0NSVUJCQVJTVEFUVVNfU0xJREVJTkZPIiB2YWx1ZT0i44K544Op44Kk44OJIDogJW4gLyAldCB8ICIvPg0KCQk8dWl0ZXh0IG5hbWU9IlNDUlVCQkFSU1RBVFVTX1NUT1BQRUQiIHZhbHVlPSLlgZzmraIiLz4NCgkJPHVpdGV4dCBuYW1lPSJTQ1JVQkJBUlNUQVRVU19QTEFZSU5HIiB2YWx1ZT0i5YaN55Sf5LitIi8+DQoJCTx1aXRleHQgbmFtZT0iU0NSVUJCQVJTVEFUVVNfTk9BVURJTyIgdmFsdWU9Iumfs+WjsOOBquOBlyIvPg0KCQk8dWl0ZXh0IG5hbWU9IlNDUlVCQkFSU1RBVFVTX1ZJRFBMQVlJTkciIHZhbHVlPSLjg5Pjg4fjgqrlho3nlJ/kuK0iLz4NCgkJPHVpdGV4dCBuYW1lPSJTQ1JVQkJBUlNUQVRVU19MT0FESU5HIiB2YWx1ZT0i44Ot44O844OJ5LitIi8+DQoJCTx1aXRleHQgbmFtZT0iU0NSVUJCQVJTVEFUVVNfQlVGRkVSSU5HIiB2YWx1ZT0i44OQ44OD44OV44Kh5LitIi8+DQoJCTx1aXRleHQgbmFtZT0iU0NSVUJCQVJTVEFUVVNfUVVFU1RJT04iIHZhbHVlPSLos6rllY/jgavnrZTjgYjjgabkuIvjgZXjgYQiLz4NCgkJPHVpdGV4dCBuYW1lPSJTQ1JVQkJBUlNUQVRVU19SRVZJRVdRVUlaIiB2YWx1ZT0i44Kv44Kk44K644KS44Os44OT44Ol44O844GX44Gm44GE44G+44GZIi8+DQoJCTwhLS0gc3Vic3RpdHV0aW9uOiAlbSA9PSBtaW51dGVzIHJlbWFpbmluZyAtLT4NCgkJPCEtLSBzdWJzdGl0dXRpb246ICVzID09IHNlY29uZHMgcmVtYWluaW5nIC0tPg0KCQk8dWl0ZXh0IG5hbWU9IkVMQVBTRUQiIHZhbHVlPSLmrovjgoogOiAlbSDliIYgJXMg56eSIi8+DQoJCTx1aXRleHQgbmFtZT0iTk9URk9VTkQiIHZhbHVlPSLkvZXjgoLopovjgaTjgYvjgorjgb7jgZvjgpMiLz4NCgkJPHVpdGV4dCBuYW1lPSJBVFRBQ0hNRU5UUyIgdmFsdWU9Iua3u+S7mCIvPg0KCQk8IS0tIHN1YnN0aXR1dGlvbjogJXAgPT0gY3VycmVudCBzcGVha2VyJ3MgdGl0bGUgLS0+DQoJCTx1aXRleHQgbmFtZT0iQklPV0lOX1RJVExFIiB2YWx1ZT0i57WM5q20IDogJXAiLz4NCgkJPHVpdGV4dCBuYW1lPSJCSU9CVE5fVElUTEUiIHZhbHVlPSLntYzmrbQiLz4NCgkJPHVpdGV4dCBuYW1lPSJESVZJREVSQlROX1RJVExFIiB2YWx1ZT0ifCIvPg0KCQk8dWl0ZXh0IG5hbWU9IkNPTlRBQ1RCVE5fVElUTEUiIHZhbHVlPSLjgYrllY/jgYTlkIjjgo/jgZsiLz4NCgkJPHVpdGV4dCBuYW1lPSJUQUJfUVVJWiIgdmFsdWU9IuOCr+OCpOOCuiIvPg0KCQk8dWl0ZXh0IG5hbWU9IlRBQl9PVVRMSU5FIiB2YWx1ZT0i44Ki44Km44OI44Op44Kk44OzIi8+DQoJCTx1aXRleHQgbmFtZT0iVEFCX1RIVU1CIiB2YWx1ZT0i44K144Og44ON44O844OrIi8+DQoJCTx1aXRleHQgbmFtZT0iVEFCX05PVEVTIiB2YWx1ZT0i44OO44O844OIIi8+DQoJCTx1aXRleHQgbmFtZT0iVEFCX1NFQVJDSCIgdmFsdWU9IuaknOe0oiIvPg0KCQk8dWl0ZXh0IG5hbWU9IlNMSURFX0hFQURJTkciIHZhbHVlPSLjgrnjg6njgqTjg4njgr/jgqTjg4jjg6siLz4NCgkJPHVpdGV4dCBuYW1lPSJEVVJBVElPTl9IRUFESU5HIiB2YWx1ZT0i6ZW344GVIi8+DQoJCTx1aXRleHQgbmFtZT0iU0VBUkNIX0hFQURJTkciIHZhbHVlPSLmpJzntKLjgZnjgovjg4bjgq3jgrnjg4ggOiAiLz4NCgkJPHVpdGV4dCBuYW1lPSJUSFVNQl9IRUFESU5HIiB2YWx1ZT0i44K544Op44Kk44OJIi8+DQoJCTx1aXRleHQgbmFtZT0iVEhVTUJfSU5GTyIgdmFsdWU9IuOCueODqeOCpOODieOCv+OCpOODiOODqyAvIOmVt+OBlSIvPg0KCQk8dWl0ZXh0IG5hbWU9IkFUVEFDSE5BTUVfSEVBRElORyIgdmFsdWU9IuODleOCoeOCpOODq+WQjSIvPg0KCQk8dWl0ZXh0IG5hbWU9IkFUVEFDSFNJWkVfSEVBRElORyIgdmFsdWU9IuOCteOCpOOCuiIvPg0KCQk8dWl0ZXh0IG5hbWU9IlNMSURFX05PVEVTIiB2YWx1ZT0i44K544Op44Kk44OJ44OO44O844OIIi8+DQoJCTx1aXRleHQgbmFtZT0iQ09VUlNFX1NUQVRVUyIgdmFsdWU9IuODouOCuOODpeODvOODq+OCueODhuODvOOCv+OCuSIvPg0KCQk8dWl0ZXh0IG5hbWU9IlBBU1NFRF9TVFJJTkciIHZhbHVlPSLlkIjmoLwiLz4NCgkJPHVpdGV4dCBuYW1lPSJGQUlMRURfU1RSSU5HIiB2YWx1ZT0i5LiN5ZCI5qC8Ii8+DQoJCTwhLS1xdWl6IHBvZCBhbmQgbWVzc2FnZSBib3ggdGV4dHMtLT4NCgkJPHVpdGV4dCBuYW1lPSJRVUlaUE9EX1FVSVpfQVRURU1QVCIgdmFsdWU9IuOCr+OCpOOCuuippuihjOWbnuaVsCA6ICIvPg0KCQk8dWl0ZXh0IG5hbWU9IlFVSVpQT0RfUVVJWl9BVFRFTVBUX1ZBTFVFIiB2YWx1ZT0iJW4gLyAldCIvPg0KCQk8dWl0ZXh0IG5hbWU9IlFVSVpQT0RfUVVJWl9TQ09SRSIgdmFsdWU9IuOCueOCs+OCoiA6ICIvPg0KCQk8dWl0ZXh0IG5hbWU9IlFVSVpQT0RfUVVJWl9QQVNTU0NPUkUiIHZhbHVlPSLlkIjmoLzngrkgOiIvPg0KCQk8dWl0ZXh0IG5hbWU9IlFVSVpQT0RfUVVJWl9NQVhTQ09SRSIgdmFsdWU9IuacgOmrmOW+l+eCuSA6ICIvPg0KCQk8dWl0ZXh0IG5hbWU9IlFVSVpQT0RfUVVFU0FUTVBUX1NUUiIgdmFsdWU9IuippuihjOWbnuaVsCA6ICVuIC8gJXQiLz4NCgkJPHVpdGV4dCBuYW1lPSJRVUlaUE9EX1FVRVNUWVBFX1NUUiIgdmFsdWU9IuOCv+OCpOODlyA6ICVzIi8+DQoJCTx1aXRleHQgbmFtZT0iUVVJWlBPRF9RVUVTVFlQRV9HUkQiIHZhbHVlPSLoqZXkvqEiLz4NCgkJPHVpdGV4dCBuYW1lPSJRVUlaUE9EX1FVRVNUWVBFX1NWWSIgdmFsdWU9IuOCouODs+OCseODvOODiCIvPg0KCQk8dWl0ZXh0IG5hbWU9IlFVSVpQT0RfUVVJWkFUTVBUX0lORiIgdmFsdWU9IueEoeWItumZkCIvPg0KCQk8dWl0ZXh0IG5hbWU9IlFVSVpQT0RfUVVFU0FUTVBUX0lORiIgdmFsdWU9IueEoeWItumZkCIvPg0KCQk8dWl0ZXh0IG5hbWU9IldBUk5JTkdNU0dfWUVTU1RSSU5HIiB2YWx1ZT0i44Gv44GEIi8+DQoJCTx1aXRleHQgbmFtZT0iV0FSTklOR01TR19OT1NUUklORyIgdmFsdWU9IuOBhOOBhOOBiCIvPg0KCQk8dWl0ZXh0IG5hbWU9IldBUk5JTkdNU0dfVElUTEVTVFJJTkciIHZhbHVlPSLjgq/jgqTjgrrjga7jg4rjg5PjgrLjg7zjgrfjg6fjg7PjgavplqLjgZnjgovorablkYoiLz4NCgkJPHVpdGV4dCBuYW1lPSJXQVJOSU5HTVNHX01TR1NUUklORyIgdmFsdWU9IuOBk+OBruOCr+OCpOOCuuOBq+OBr+OAgeOBvuOBoOino+etlOOBl+OBpuOBhOOBquOBhOizquWVj+OBjOOBguOCiuOBvuOBmeOAgiYjeEE7JiN4QTsg44Kv44Kk44K644KS57WC5LqG44GZ44KL44Gr44Gv44CB44CM44Gv44GE44CN44KS44Kv44Oq44OD44Kv44GX44G+44GZ44CC44Kv44Kk44K644KS57aa6KGM44GZ44KL44Gr44Gv44CB44CM44GE44GE44GI44CN44KS44Kv44Oq44OD44Kv44GX44G+44GZ44CCIi8+DQoJCTx1aXRleHQgbmFtZT0iSU5GT1JNQVRJT05fSDI2NF9GTEFTSFBMQVlFUiIgdmFsdWU9IuOBiuS9v+OBhOOBruOCs+ODs+ODlOODpeODvOOCv+OBq+ePvuWcqOOCpOODs+OCueODiOODvOODq+OBleOCjOOBpuOBhOOCiyBGbGFzaCBQbGF5ZXIg44Gu44OQ44O844K444On44Oz44Gv44CB44GT44Gu44OT44OH44Kq44KS44K144Od44O844OI44GX44Gm44GE44G+44Gb44KT44CC5pyA5paw44GuIEZsYXNoIFBsYXllciDjgpLjg4Djgqbjg7Pjg63jg7zjg4njgZnjgovjgavjga/jgIHjg5Pjg4fjgqrpoJjln5/jgpLjgq/jg6rjg4Pjgq/jgZfjgabjgY/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C5Yqg6ICF44Gr6KaL44Gb44KLIi8+DQoJCTx1aXRleHQgbmFtZT0iTVVURSIgdmFsdWU9IuODn+ODpeODvOODiCIvPg0KCQk8dWl0ZXh0IG5hbWU9IkRPQ1dSQVBfVElUTEUiIHZhbHVlPSJQcmVzZW50ZXIg5re75LuY44OV44Kh44Kk44OrIi8+DQoJCTx1aXRleHQgbmFtZT0iRE9DV1JBUF9NU0ciIHZhbHVlPSLjg57jgqTjgrPjg7Pjg5Tjg6Xjg7zjgr/jgavkv53lrZgiLz4NCgkJPHVpdGV4dCBuYW1lPSJET0NXUkFQX1BST01QVCIgdmFsdWU9IuOCr+ODquODg+OCr+OBl+OBpuODgOOCpuODs+ODreODvOODiSIvPg0KCTwvbGFuZ3VhZ2U+DQoJPGxhbmd1YWdlIGlkPSJrbyI+DQoJCTwhLS0gZm9ybWF0IGZvciB1aWZvbnQgdmFsdWUgaXMgImZvbnQsc2l6ZSxpc2JvbGQsaXNpdGFsaWMsaXNzaGFkb3dlZCIgLS0+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DQoJCTx1aWZvbnQgbmFtZT0iRk9OVF9FTEFQU0VEVElNRSIgdmFsdWU9IlZlcmRhbmEsMTEsdHJ1ZSxmYWxzZSxmYWxzZSIvPg0KCQk8dWlmb250IG5hbWU9IkZPTlRfVVRJTFNNRU5VIiB2YWx1ZT0iVmVyZGFuYSw5LHRydWUsZmFsc2UsZmFsc2UiLz4NCgkJPHVpZm9udCBuYW1lPSJGT05UX1RBQlMiIHZhbHVlPSJWZXJkYW5hLDExLGZhbHNlLGZhbHNlLGZhbHNlIi8+DQoJCTx1aWZvbnQgbmFtZT0iRk9OVF9QUkVTRU5UQVRJT05OQU1FIiB2YWx1ZT0iVmVyZGFuYSwxNSxmYWxzZSxmYWxzZSx0cnVlIi8+DQoJCTx1aWZvbnQgbmFtZT0iRk9OVF9QUkVTRU5URVJOQU1FIiB2YWx1ZT0iVmVyZGFuYSwxNSx0cnVlLGZhbHNlLHRydWUiLz4NCgkJPHVpZm9udCBuYW1lPSJGT05UX1BSRVNFTlRFUlRJVExFIiB2YWx1ZT0iVmVyZGFuYSwxMSxmYWxzZSxmYWxzZSx0cnVlIi8+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MTEsZmFsc2UsZmFsc2UsdHJ1ZSIvPg0KCQk8dWlmb250IG5hbWU9IkZPTlRfQklPV0lOIiB2YWx1ZT0iVmVyZGFuYSwxMSxmYWxzZSxmYWxzZSxmYWxzZSIvPg0KCQk8dWlmb250IG5hbWU9IkZPTlRfTElTVEhFQURJTkciIHZhbHVlPSJWZXJkYW5hLDExLGZhbHNlLGZhbHNlLGZhbHNlIi8+DQoJCTx1aWZvbnQgbmFtZT0iRk9OVF9XSU5USVRMRSIgdmFsdWU9IlZlcmRhbmEsMTE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7LKo67aAIO2MjOydvCDqsr3qs6AiLz4NCgkJPHVpdGV4dCBuYW1lPSJBVFRBQ0hNRU5UX1BSRVZJRVdfV0FSTklOR01TRyIgdmFsdWU9IuuvuOumrOuztOq4sCDrqqjrk5zsl5DshJzripQg7LKo67aAIO2MjOydvOydtCDsl7Trpqzsp4Ag7JWK7Iq164uI64ukLiDqsrDqs7zrpbwg67O066Ck66m0IOqyjOyLnCDquLDriqXsnYQg7IKs7Jqp7ZWY7Iut7Iuc7JikLiIvPg0KCQk8dWl0ZXh0IG5hbWU9IkNPTExBQl9MT0NBTF9QTEFZQkFDS19NU0ciIHZhbHVlPSLsvZjthZDtirjqsIAg66Gc7Lus7JeQ7IScIOyerOyDnSDspJHsnoXri4jri6QuIOydtCDrqqjrk5zsl5DshJzripQg6rO164+ZIOyekeyXheydhCDsiJjtlontlaAg7IiYIOyXhuyKteuLiOuLpC4iLz4NCgkJPHVpdGV4dCBuYW1lPSJDT0xMQUJfTE9DQUxfUExBWUJBQ0tfVElUTEUiIHZhbHVlPSLroZzsu6wg7J6s7IOdIi8+DQoJCTx1aXRleHQgbmFtZT0iQ09MTEFCX0xPQ0FMX1BMQVlCQUNLQlROIiB2YWx1ZT0i7ZmV7J24Ii8+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DQoJCTwhLS0gc3Vic3RpdHV0aW9uOiAlcyA9PSBzZWNvbmRzIHJlbWFpbmluZyAtLT4NCgkJPHVpdGV4dCBuYW1lPSJFTEFQU0VEIiB2YWx1ZT0iJW3rtoQgJXPstIgg64Ko7J2MIi8+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DQoJCTx1aXRleHQgbmFtZT0iQklPQlROX1RJVExFIiB2YWx1ZT0i6rK966ClIOyGjOqwnCIvPg0KCQk8dWl0ZXh0IG5hbWU9IkRJVklERVJCVE5fVElUTEUiIHZhbHVlPSJ8Ii8+DQoJCTx1aXRleHQgbmFtZT0iQ09OVEFDVEJUTl9USVRMRSIgdmFsdWU9IuyXsOudveyymCIvPg0KCQk8dWl0ZXh0IG5hbWU9IlRBQl9RVUlaIiB2YWx1ZT0i7YC07KaIIi8+DQoJCTx1aXRleHQgbmFtZT0iVEFCX09VVExJTkUiIHZhbHVlPSLqsJzsmpQiLz4NCgkJPHVpdGV4dCBuYW1lPSJUQUJfVEhVTUIiIHZhbHVlPSLstpXshoztjJAiLz4NCgkJPHVpdGV4dCBuYW1lPSJUQUJfTk9URVMiIHZhbHVlPSLrhbjtirgiLz4NCgkJPHVpdGV4dCBuYW1lPSJUQUJfU0VBUkNIIiB2YWx1ZT0i6rKA7IOJIi8+DQoJCTx1aXRleHQgbmFtZT0iU0xJREVfSEVBRElORyIgdmFsdWU9IuyKrOudvOydtOuTnCDsoJzrqqkiLz4NCgkJPHVpdGV4dCBuYW1lPSJEVVJBVElPTl9IRUFESU5HIiB2YWx1ZT0i7J6s7IOd7Iuc6rCEIi8+DQoJCTx1aXRleHQgbmFtZT0iU0VBUkNIX0hFQURJTkciIHZhbHVlPSLthY3siqTtirgg6rKA7IOJOiIvPg0KCQk8dWl0ZXh0IG5hbWU9IlRIVU1CX0hFQURJTkciIHZhbHVlPSLsiqzrnbzsnbTrk5wiLz4NCgkJPHVpdGV4dCBuYW1lPSJUSFVNQl9JTkZPIiB2YWx1ZT0i7KCc66qpL+yerOyDneyLnOqwhCIvPg0KCQk8dWl0ZXh0IG5hbWU9IkFUVEFDSE5BTUVfSEVBRElORyIgdmFsdWU9Iu2MjOydvCDsnbTrpoQiLz4NCgkJPHVpdGV4dCBuYW1lPSJBVFRBQ0hTSVpFX0hFQURJTkciIHZhbHVlPSLtgazquLAiLz4NCgkJPHVpdGV4dCBuYW1lPSJTTElERV9OT1RFUyIgdmFsdWU9IuyKrOudvOydtOuTnCDrhbjtirgiLz4NCgkJPHVpdGV4dCBuYW1lPSJDT1VSU0VfU1RBVFVTIiB2YWx1ZT0i66qo65OIIOyDge2DnCIvPg0KCQk8dWl0ZXh0IG5hbWU9IlBBU1NFRF9TVFJJTkciIHZhbHVlPSLtlanqsqkiLz4NCgkJPHVpdGV4dCBuYW1lPSJGQUlMRURfU1RSSU5HIiB2YWx1ZT0i67aI7ZWp6rKpIi8+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DQoJCTx1aXRleHQgbmFtZT0iUVVJWlBPRF9RVUlaX1BBU1NTQ09SRSIgdmFsdWU9Iu2GteqzvCDsoJDsiJg6Ii8+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E7ZWY7KeAIOyViuydgCDsp4jrrLjsnbQg7J6I7Iq164uI64ukLiYjeEE7JiN4QTvtgLTspojrpbwg7KKF66OM7ZWY66Ck66m0IFvsmIhd66W8IO2BtOumre2VmOqzoCwg7YC07KaI66W8IOqzhOyGje2VmOugpOuptCBb7JWE64uI7JikXeulvCDtgbTrpq3tlZjsi63si5zsmKQuIi8+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DQoJCTx1aXRleHQgbmFtZT0iRE9DV1JBUF9QUk9NUFQiIHZhbHVlPSLtgbTrpq3tlZjsl6wg64uk7Jq066Gc65OcIi8+DQoJPC9sYW5ndWFnZT4NCgk8bGFuZ3VhZ2UgaWQ9ImVz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2aXNvIGRlIGFyY2hpdm8gYWRqdW50byIvPg0KCQk8dWl0ZXh0IG5hbWU9IkFUVEFDSE1FTlRfUFJFVklFV19XQVJOSU5HTVNHIiB2YWx1ZT0iTm8gZXMgcG9zaWJsZSBhYnJpciBsb3MgYXJjaGl2b3MgYWRqdW50b3MgZW4gZWwgbW9kbyBkZSBwcmV2aXN1YWxpemFjacOzbi4gVXNlIFB1YmxpY2FyIHBhcmEgdmVyIGxvcyByZXN1bHRhZG9zLiIvPg0KCQk8dWl0ZXh0IG5hbWU9IkNPTExBQl9MT0NBTF9QTEFZQkFDS19NU0ciIHZhbHVlPSJFbCBjb250ZW5pZG8gc2UgZXN0w6EgcmVwcm9kdWNpZW5kbyBsb2NhbG1lbnRlLiBMYSBjb2xhYm9yYWNpw7NuIG5vIGZ1bmNpb25hIGVuIGVzdGUgbW9kby4iLz4NCgkJPHVpdGV4dCBuYW1lPSJDT0xMQUJfTE9DQUxfUExBWUJBQ0tfVElUTEUiIHZhbHVlPSJSZXByb2R1Y2Npw7NuIGxvY2FsIi8+DQoJCTx1aXRleHQgbmFtZT0iQ09MTEFCX0xPQ0FMX1BMQVlCQUNLQlROIiB2YWx1ZT0iT2siLz4NCgkJPHVpdGV4dCBuYW1lPSJVTk5BTUVEU0xJREVUSVRMRSIgdmFsdWU9IkRpYXBvc2l0aXZhICVu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RldGVuaWRhIi8+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DQoJCTx1aXRleHQgbmFtZT0iU0NSVUJCQVJTVEFUVVNfUkVWSUVXUVVJWiIgdmFsdWU9IlJldmlzYW5kbyBwcnVlYmEiLz4NCgkJPCEtLSBzdWJzdGl0dXRpb246ICVtID09IG1pbnV0ZXMgcmVtYWluaW5nIC0tPg0KCQk8IS0tIHN1YnN0aXR1dGlvbjogJXMgPT0gc2Vjb25kcyByZW1haW5pbmcgLS0+DQoJCTx1aXRleHQgbmFtZT0iRUxBUFNFRCIgdmFsdWU9IiVtIG1pbnV0b3MgJXMgc2VndW5kb3MgcmVzdGFudGVzIi8+DQoJCTx1aXRleHQgbmFtZT0iTk9URk9VTkQiIHZhbHVlPSJObyBzZSBoYSBlbmNvbnRyYWRvIG5hZGEiLz4NCgkJPHVpdGV4dCBuYW1lPSJBVFRBQ0hNRU5UUyIgdmFsdWU9IkFyY2hpdm9zIGFkanVudG9zIi8+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DQoJCTx1aXRleHQgbmFtZT0iQVRUQUNIU0laRV9IRUFESU5HIiB2YWx1ZT0iVGFtYcOxbyIvPg0KCQk8dWl0ZXh0IG5hbWU9IlNMSURFX05PVEVTIiB2YWx1ZT0iTm90YXMgZGUgZGlhcG9zaXRpdmEiLz4NCgkJPHVpdGV4dCBuYW1lPSJDT1VSU0VfU1RBVFVTIiB2YWx1ZT0iRXN0YWRvIGRlIG1vZHVsbyIvPg0KCQk8dWl0ZXh0IG5hbWU9IlBBU1NFRF9TVFJJTkciIHZhbHVlPSJBcHJvYmFkbyIvPg0KCQk8dWl0ZXh0IG5hbWU9IkZBSUxFRF9TVFJJTkciIHZhbHVlPSJTdXNwZW5zbyIvPg0KCQk8IS0tcXVpeiBwb2QgYW5kIG1lc3NhZ2UgYm94IHRleHRzLS0+DQoJCTx1aXRleHQgbmFtZT0iUVVJWlBPRF9RVUlaX0FUVEVNUFQiIHZhbHVlPSJJbnRlbnRvIGRlIHBydWViYToiLz4NCgkJPHVpdGV4dCBuYW1lPSJRVUlaUE9EX1FVSVpfQVRURU1QVF9WQUxVRSIgdmFsdWU9IiVuIGRlICV0Ii8+DQoJCTx1aXRleHQgbmFtZT0iUVVJWlBPRF9RVUlaX1NDT1JFIiB2YWx1ZT0iUHVudHVhY2nDs246Ii8+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DQoJCTx1aXRleHQgbmFtZT0iV0FSTklOR01TR19ZRVNTVFJJTkciIHZhbHVlPSJTw60iLz4NCgkJPHVpdGV4dCBuYW1lPSJXQVJOSU5HTVNHX05PU1RSSU5HIiB2YWx1ZT0iTm8iLz4NCgkJPHVpdGV4dCBuYW1lPSJXQVJOSU5HTVNHX1RJVExFU1RSSU5HIiB2YWx1ZT0iQXZpc28gZGUgbmF2ZWdhY2nDs24gZGUgcHJ1ZWJhIi8+DQoJCTx1aXRleHQgbmFtZT0iV0FSTklOR01TR19NU0dTVFJJTkciIHZhbHVlPSJIYXkgcHJlZ3VudGFzIHNpbiBpbnRlbnRvcyBlbiBlc3RhIHBydWViYS4mI3hBOyYjeEE7UGFyYSBzYWxpciBkZSBsYSBwcnVlYmEsIGhhZ2EgY2xpYyBlbiBTw60uIFBhcmEgY29udGludWFyLCBoYWdhIGNsaWMgZW4gTm8uIi8+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DQoJCTwhLS0gc3Vic3RpdHV0aW9uOiAlbiA9PSBzbGlkZSBudW1iZXIgLS0+DQoJCTx1aXRleHQgbmFtZT0iQk9PS01BUktTTElERSIgdmFsdWU9IkFkb2JlIFByZXNlbnRlcjogJXAgJXMiLz4NCgkJPHVpdGV4dCBuYW1lPSJTSE9XU0lERUJBUiIgdmFsdWU9Ik1vc3RyYXIgYmFycmEgbGF0ZXJhbCBhIGxvcyBwYXJ0aWNpcGFudGVzIi8+DQoJCTx1aXRleHQgbmFtZT0iTVVURSIgdmFsdWU9Ik11ZG8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DQoJPGxhbmd1YWdlIGlkPSJw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mlzbyBkZSBhbmV4byIvPg0KCQk8dWl0ZXh0IG5hbWU9IkFUVEFDSE1FTlRfUFJFVklFV19XQVJOSU5HTVNHIiB2YWx1ZT0iT3MgYW5leG9zIG7Do28gc8OjbyBhYmVydG9zIG5vIG1vZG8gZGUgVmlzdWFsaXphw6fDo28uIFVzZSBvIGNvbWFuZG8gZGUgcHVibGljYcOnw6NvIHBhcmEgdmVyIG9zIHJlc3VsdGFkb3MuIi8+DQoJCTx1aXRleHQgbmFtZT0iQ09MTEFCX0xPQ0FMX1BMQVlCQUNLX01TRyIgdmFsdWU9Ik8gY29udGXDumRvIGVzdMOhIHNlbmRvIHJlcHJvZHV6aWRvIGxvY2FsbWVudGUuQSBjb2xhYm9yYcOnw6NvIG7Do28gZnVuY2lvbmEgbmVzdGUgbW9kby4iLz4NCgkJPHVpdGV4dCBuYW1lPSJDT0xMQUJfTE9DQUxfUExBWUJBQ0tfVElUTEUiIHZhbHVlPSJSZXByb2R1w6fDo28gbG9jYWwiLz4NCgkJPHVpdGV4dCBuYW1lPSJDT0xMQUJfTE9DQUxfUExBWUJBQ0tCVE4iIHZhbHVlPSJPayIv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DQoJCTx1aXRleHQgbmFtZT0iU0NSVUJCQVJTVEFUVVNfUExBWUlORyIgdmFsdWU9IlJlcHJvZHV6aW5kbyIvPg0KCQk8dWl0ZXh0IG5hbWU9IlNDUlVCQkFSU1RBVFVTX05PQVVESU8iIHZhbHVlPSJTZW0gw6F1ZGlvIi8+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DQoJCTx1aXRleHQgbmFtZT0iU0NSVUJCQVJTVEFUVVNfUkVWSUVXUVVJWiIgdmFsdWU9IlJldmlzYW5kbyBxdWVzdGlvbsOhcmlvIi8+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DQoJCTx1aXRleHQgbmFtZT0iVEFCX1FVSVoiIHZhbHVlPSJRdWVzdC4iLz4NCgkJPHVpdGV4dCBuYW1lPSJUQUJfT1VUTElORSIgdmFsdWU9IkVzcXVlbWEiLz4NCgkJPHVpdGV4dCBuYW1lPSJUQUJfVEhVTUIiIHZhbHVlPSJNaW5pIi8+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DQoJCTx1aXRleHQgbmFtZT0iQ09VUlNFX1NUQVRVUyIgdmFsdWU9IlN0YXR1cyBkbyBtw7NkdWxvIi8+DQoJCTx1aXRleHQgbmFtZT0iUEFTU0VEX1NUUklORyIgdmFsdWU9IkFwcm92YWRvIi8+DQoJCTx1aXRleHQgbmFtZT0iRkFJTEVEX1NUUklORyIgdmFsdWU9IlJlcHJvdmFkbyIvPg0KCQk8IS0tcXVpeiBwb2QgYW5kIG1lc3NhZ2UgYm94IHRleHRzLS0+DQoJCTx1aXRleHQgbmFtZT0iUVVJWlBPRF9RVUlaX0FUVEVNUFQiIHZhbHVlPSJUZW50YXRpdmEgbm8gcXVlc3Rpb27DoXJpbzoiLz4NCgkJPHVpdGV4dCBuYW1lPSJRVUlaUE9EX1FVSVpfQVRURU1QVF9WQUxVRSIgdmFsdWU9IiVuIGRlICV0Ii8+DQoJCTx1aXRleHQgbmFtZT0iUVVJWlBPRF9RVUlaX1NDT1JFIiB2YWx1ZT0iUG9udHVhw6fDo286Ii8+DQoJCTx1aXRleHQgbmFtZT0iUVVJWlBPRF9RVUlaX1BBU1NTQ09SRSIgdmFsdWU9IlBvbnR1YcOnw6NvIGRlIGFwcm92YcOnw6NvOiIvPg0KCQk8dWl0ZXh0IG5hbWU9IlFVSVpQT0RfUVVJWl9NQVhTQ09SRSIgdmFsdWU9IlBvbnR1YcOnw6NvIG3DoXhpbWE6Ii8+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DQoJCTx1aXRleHQgbmFtZT0iUVVJWlBPRF9RVUlaQVRNUFRfSU5GIiB2YWx1ZT0iSW5maW5pdG8iLz4NCgkJPHVpdGV4dCBuYW1lPSJRVUlaUE9EX1FVRVNBVE1QVF9JTkYiIHZhbHVlPSJJbmZpbml0byIvPg0KCQk8dWl0ZXh0IG5hbWU9IldBUk5JTkdNU0dfWUVTU1RSSU5HIiB2YWx1ZT0iU2ltIi8+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DQoJPC9sYW5ndWFnZT4NCgk8bGFuZ3VhZ2UgaWQ9Iml0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0dGFjaG1lbnQgV2FybmluZyIvPg0KCQk8dWl0ZXh0IG5hbWU9IkFUVEFDSE1FTlRfUFJFVklFV19XQVJOSU5HTVNHIiB2YWx1ZT0iQXR0YWNobWVudHMgZG8gbm90IG9wZW4gaW4gUHJldmlldyBtb2RlLiBQbGVhc2UgdXNlIHB1Ymxpc2ggdG8gc2VlIHRoZSByZXN1bHRzIi8+DQoJCTx1aXRleHQgbmFtZT0iVU5OQU1FRFNMSURFVElUTEUiIHZhbHVlPSJEaWFwb3NpdGl2YS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ludGVycm90dG8iLz4NCgkJPHVpdGV4dCBuYW1lPSJTQ1JVQkJBUlNUQVRVU19QTEFZSU5HIiB2YWx1ZT0iUmlwcm9kdXppb25lIi8+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DQoJCTx1aXRleHQgbmFtZT0iRUxBUFNFRCIgdmFsdWU9IiVtIE1pbnV0aSAlcyBTZWNvbmRpIHJpbWFuZW50aSIvPg0KCQk8dWl0ZXh0IG5hbWU9Ik5PVEZPVU5EIiB2YWx1ZT0iTmVzc3VuIGVsZW1lbnRvIHRyb3ZhdG8iLz4NCgkJPHVpdGV4dCBuYW1lPSJBVFRBQ0hNRU5UUyIgdmFsdWU9IkFsbGVnYXRpIi8+DQoJCTwhLS0gc3Vic3RpdHV0aW9uOiAlcCA9PSBjdXJyZW50IHNwZWFrZXIncyB0aXRsZSAtLT4NCgkJPHVpdGV4dCBuYW1lPSJCSU9XSU5fVElUTEUiIHZhbHVlPSJCaW86ICVwIi8+DQoJCTx1aXRleHQgbmFtZT0iQklPQlROX1RJVExFIiB2YWx1ZT0iQmlvIi8+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DQoJCTx1aXRleHQgbmFtZT0iRFVSQVRJT05fSEVBRElORyIgdmFsdWU9IkR1cmF0YSIvPg0KCQk8dWl0ZXh0IG5hbWU9IlNFQVJDSF9IRUFESU5HIiB2YWx1ZT0iQ2VyY2EgdGVzdG86Ii8+DQoJCTx1aXRleHQgbmFtZT0iVEhVTUJfSEVBRElORyIgdmFsdWU9IkRpYXBvc2l0aXZhIi8+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DQoJCTx1aXRleHQgbmFtZT0iUVVJWlBPRF9RVUlaX1BBU1NTQ09SRSIgdmFsdWU9IlB1bnRlZ2dpbyBtaW5pbW86Ii8+DQoJCTx1aXRleHQgbmFtZT0iUVVJWlBPRF9RVUlaX01BWFNDT1JFIiB2YWx1ZT0iUHVudGVnZ2lvIG1hc3NpbW86Ii8+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DQoJCTx1aXRleHQgbmFtZT0iV0FSTklOR01TR19ZRVNTVFJJTkciIHZhbHVlPSJTw6wiLz4NCgkJPHVpdGV4dCBuYW1lPSJXQVJOSU5HTVNHX05PU1RSSU5HIiB2YWx1ZT0iTm8iLz4NCgkJPHVpdGV4dCBuYW1lPSJXQVJOSU5HTVNHX1RJVExFU1RSSU5HIiB2YWx1ZT0iQXZ2ZXJ0ZW56YSBuYXZpZ2F6aW9uZSBxdWl6Ii8+DQoJCTx1aXRleHQgbmFtZT0iV0FSTklOR01TR19NU0dTVFJJTkciIHZhbHVlPSJPY2NvcnJlIGFuY29yYSByaXNwb25kZXJlIGFkIGFsY3VuZSBkb21hbmRlIGRlbCBxdWl6LiYjeEE7JiN4QTtTZSBmYXRlIGNsaWMgc3UgU8OsLCB1c2NpcmV0ZSBkYWwgcXVpei4gRmF0ZSBjbGljIHN1IE5vIHBlciBjb250aW51YXJlIGlsIHF1aXouIi8+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EgYmFycmEgbGF0ZXJhbGUgYWkgcGFydGVjaXBhbnRpIi8+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DQoJPGxhbmd1YWdlIGlkPSJub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RGlhICVuIi8+DQoJCTx1aXRleHQgbmFtZT0iQ09MTEFCX0xPQ0FMX1BMQVlCQUNLX01TRyIgdmFsdWU9IkNvbnRlbnQgaXMgYmVpbmcgcGxheWVkIGxvY2FsbHkuXG4gQ29sbGFib3JhdGlvbiBkb2VzIG5vdCB3b3JrIGluIHRoaXMgbW9kZSIvPg0KCQk8dWl0ZXh0IG5hbWU9IkNPTExBQl9MT0NBTF9QTEFZQkFDS19USVRMRSIgdmFsdWU9IkxvY2FsIFBsYXliYWNrIi8+DQoJCTx1aXRleHQgbmFtZT0iQ09MTEFCX0xPQ0FMX1BMQVlCQUNLQlROIiB2YWx1ZT0iT2siLz4NCgkJPCEtLSBzdWJzdGl0dXRpb246ICVuID09IHNsaWRlIG51bWJlciAtLT4NCgkJPCEtLSBzdWJzdGl0dXRpb246ICV0ID09IHRvdGFsIHNsaWRlIGNvdW50IC0tPg0KCQk8dWl0ZXh0IG5hbWU9IlNDUlVCQkFSU1RBVFVTX1NMSURFSU5GTyIgdmFsdWU9IkRpYSAlbiAvICV0IHwgIi8+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DQoJCTx1aXRleHQgbmFtZT0iU0NSVUJCQVJTVEFUVVNfUVVFU1RJT04iIHZhbHVlPSJWcmFhZyBtZXQgYW50d29vcmQiLz4NCgkJPHVpdGV4dCBuYW1lPSJTQ1JVQkJBUlNUQVRVU19SRVZJRVdRVUlaIiB2YWx1ZT0iUXVpeiBjb250cm9sZXJlbiIvPg0KCQk8IS0tIHN1YnN0aXR1dGlvbjogJW0gPT0gbWludXRlcyByZW1haW5pbmcgLS0+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DQoJCTwhLS0gc3Vic3RpdHV0aW9uOiAlcCA9PSBjdXJyZW50IHNwZWFrZXIncyB0aXRsZSAtLT4NCgkJPHVpdGV4dCBuYW1lPSJCSU9XSU5fVElUTEUiIHZhbHVlPSJCaW9ncmFmaWU6ICVwIi8+DQoJCTx1aXRleHQgbmFtZT0iQklPQlROX1RJVExFIiB2YWx1ZT0iQmlvZ3JhZmllIi8+DQoJCTx1aXRleHQgbmFtZT0iRElWSURFUkJUTl9USVRMRSIgdmFsdWU9InwiLz4NCgkJPHVpdGV4dCBuYW1lPSJDT05UQUNUQlROX1RJVExFIiB2YWx1ZT0iQ29udGFjdCIvPg0KCQk8dWl0ZXh0IG5hbWU9IlRBQl9RVUlaIiB2YWx1ZT0iUXVpeiIvPg0KCQk8dWl0ZXh0IG5hbWU9IlRBQl9PVVRMSU5FIiB2YWx1ZT0iT3ZlcnppY2h0Ii8+DQoJCTx1aXRleHQgbmFtZT0iVEFCX1RIVU1CIiB2YWx1ZT0iTWluaWF0dXVyIi8+DQoJCTx1aXRleHQgbmFtZT0iVEFCX05PVEVTIiB2YWx1ZT0iTm90aXRpZXMiLz4NCgkJPHVpdGV4dCBuYW1lPSJUQUJfU0VBUkNIIiB2YWx1ZT0iWm9la2VuIi8+DQoJCTx1aXRleHQgbmFtZT0iU0xJREVfSEVBRElORyIgdmFsdWU9IlRpdGVsIHZhbiBkaWEiLz4NCgkJPHVpdGV4dCBuYW1lPSJEVVJBVElPTl9IRUFESU5HIiB2YWx1ZT0iRHV1ciIvPg0KCQk8dWl0ZXh0IG5hbWU9IlNFQVJDSF9IRUFESU5HIiB2YWx1ZT0iWm9la2VuIG5hYXIgdGVrc3Q6Ii8+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DQoJCTx1aXRleHQgbmFtZT0iU0xJREVfTk9URVMiIHZhbHVlPSJEaWFub3RpdGllcyIvPg0KCQk8dWl0ZXh0IG5hbWU9IkNPVVJTRV9TVEFUVVMiIHZhbHVlPSJNb2R1bGUgU3RhdHVzIi8+DQoJCTx1aXRleHQgbmFtZT0iUEFTU0VEX1NUUklORyIgdmFsdWU9IlBhc3NlZCIvPg0KCQk8dWl0ZXh0IG5hbWU9IkZBSUxFRF9TVFJJTkciIHZhbHVlPSJGYWlsZWQ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DQoJCTx1aXRleHQgbmFtZT0iUVVJWlBPRF9RVUlaX01BWFNDT1JFIiB2YWx1ZT0iTWF4aW1hYWwgaGFhbGJhcmUgc2NvcmU6Ii8+DQoJCTx1aXRleHQgbmFtZT0iUVVJWlBPRF9RVUVTQVRNUFRfU1RSIiB2YWx1ZT0iUG9naW5nOiAlbiB2YW4gJXQiLz4NCgkJPHVpdGV4dCBuYW1lPSJRVUlaUE9EX1FVRVNUWVBFX1NUUiIgdmFsdWU9IlR5cGU6ICVzIi8+DQoJCTx1aXRleHQgbmFtZT0iUVVJWlBPRF9RVUVTVFlQRV9HUkQiIHZhbHVlPSJUZWx0IHZvb3Igc2NvcmUiLz4NCgkJPHVpdGV4dCBuYW1lPSJRVUlaUE9EX1FVRVNUWVBFX1NWWSIgdmFsdWU9IkVucXXDqnRlIi8+DQoJCTx1aXRleHQgbmFtZT0iUVVJWlBPRF9RVUlaQVRNUFRfSU5GIiB2YWx1ZT0iT25iZXBlcmt0Ii8+DQoJCTx1aXRleHQgbmFtZT0iUVVJWlBPRF9RVUVTQVRNUFRfSU5GIiB2YWx1ZT0iT25iZXBlcmt0Ii8+DQoJCTx1aXRleHQgbmFtZT0iV0FSTklOR01TR19ZRVNTVFJJTkciIHZhbHVlPSJKYSIvPg0KCQk8dWl0ZXh0IG5hbWU9IldBUk5JTkdNU0dfTk9TVFJJTkciIHZhbHVlPSJOZWUiLz4NCgkJPHVpdGV4dCBuYW1lPSJXQVJOSU5HTVNHX1RJVExFU1RSSU5HIiB2YWx1ZT0iV2FhcnNjaHV3aW5nIG1ldCBiZXRyZWtraW5nIHRvdCBxdWl6bmF2aWdhdGllIi8+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aaWpwYW5lZWwgYWFuIGRlZWxuZW1lcnMgd2VlcmdldmVuIi8+DQoJCTx1aXRleHQgbmFtZT0iTVVURSIgdmFsdWU9IkRlbXBlbiIvPg0KCQk8dWl0ZXh0IG5hbWU9IkRPQ1dSQVBfVElUTEUiIHZhbHVlPSJQcmVzZW50ZXItYmVzdGFuZHNiaWpsYWdlIi8+DQoJCTx1aXRleHQgbmFtZT0iRE9DV1JBUF9NU0ciIHZhbHVlPSJPcHNsYWFuIGluIERlemUgY29tcHV0ZXIiLz4NCgkJPHVpdGV4dCBuYW1lPSJET0NXUkFQX1BST01QVCIgdmFsdWU9IktsaWsgb20gdGUgZG93bmxvYWRlbiIvPg0KCTwvbGFuZ3VhZ2U+DQoJPGxhbmd1YWdlIGlkPSJjbiI+DQoJCTwhLS0gZm9ybWF0IGZvciB1aWZvbnQgdmFsdWUgaXMgImZvbnQsc2l6ZSxpc2JvbGQsaXNpdGFsaWMsaXNzaGFkb3dlZCIgLS0+DQoJCTx1aWZvbnQgbmFtZT0iRk9OVF9RVUlaWklORyIgdmFsdWU9IuWui+S9ky0xODAzMCwxMCxmYWxzZSxmYWxzZSxmYWxzZSIvPg0KCQk8dWlmb250IG5hbWU9IkZPTlRfU0NSVUJTVEFUVVMiIHZhbHVlPSLlrovkvZMtMTgwMzAsMTAsdHJ1ZSxmYWxzZSx0cnVlIi8+DQoJCTx1aWZvbnQgbmFtZT0iRk9OVF9TQ1JVQlRJTUUiIHZhbHVlPSLlrovkvZMtMTgwMzAsMTAsZmFsc2UsZmFsc2UsdHJ1ZSIvPg0KCQk8dWlmb250IG5hbWU9IkZPTlRfRUxBUFNFRFRJTUUiIHZhbHVlPSLlrovkvZMtMTgwMzAsMTAsdHJ1ZSxmYWxzZSx0cnVlIi8+DQoJCTx1aWZvbnQgbmFtZT0iRk9OVF9VVElMU01FTlUiIHZhbHVlPSLlrovkvZMtMTgwMzAsMTAsdHJ1ZSxmYWxzZSxmYWxzZSIvPg0KCQk8dWlmb250IG5hbWU9IkZPTlRfVEFCUyIgdmFsdWU9IuWui+S9ky0xODAzMCwxNCx0cnVlLGZhbHNlLHRydWUiLz4NCgkJPHVpZm9udCBuYW1lPSJGT05UX1BSRVNFTlRBVElPTk5BTUUiIHZhbHVlPSLlrovkvZMtMTgwMzAsMTQsZmFsc2UsZmFsc2UsdHJ1ZSIvPg0KCQk8dWlmb250IG5hbWU9IkZPTlRfUFJFU0VOVEVSTkFNRSIgdmFsdWU9IuWui+S9ky0xODAzMCwxNCx0cnVlLGZhbHNlLHRydWUiLz4NCgkJPHVpZm9udCBuYW1lPSJGT05UX1BSRVNFTlRFUlRJVExFIiB2YWx1ZT0i5a6L5L2TLTE4MDMwLDEzLGZhbHNlLGZhbHNlLHRydWUiLz4NCgkJPHVpZm9udCBuYW1lPSJGT05UX0JJT0JUTiIgdmFsdWU9IuWui+S9ky0xODAzMCwxMCxmYWxzZSxmYWxzZSx0cnVlIi8+DQoJCTx1aWZvbnQgbmFtZT0iRk9OVF9OT1RFUyIgdmFsdWU9IuWui+S9ky0xODAzMCwxMixmYWxzZSxmYWxzZSxmYWxzZSIvPg0KCQk8dWlmb250IG5hbWU9IkZPTlRfT1VUTElORSIgdmFsdWU9IuWui+S9ky0xODAzMCwxMixmYWxzZSxmYWxzZSx0cnVlIi8+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DQoJCTx1aWZvbnQgbmFtZT0iRk9OVF9MSVNUSEVBRElORyIgdmFsdWU9IuWui+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S9ky0xODAzMCwxMix0cnVlLGZhbHNlLHRydWUiLz4NCgkJPHVpZm9udCBuYW1lPSJGT05UX01TR0JPWF9NU0ciIHZhbHVlPSLlrovkvZMtMTgwMzAsMTIsZmFsc2UsZmFsc2UsdHJ1ZSIvPg0KCQk8dWlmb250IG5hbWU9IkZPTlRfTVNHQk9YX09QVElPTlMiIHZhbHVlPSLlrovkvZMtMTgwMzAsMTAsdHJ1ZSxmYWxzZSx0cnVlIi8+DQoJCTx1aWZvbnQgbmFtZT0iRk9OVF9RVUlaUE9EX1FVSVpfVElUTEUiIHZhbHVlPSLlrovkvZMtMTgwMzAsMTIsdHJ1ZSxmYWxzZSx0cnVlIi8+DQoJCTx1aWZvbnQgbmFtZT0iRk9OVF9RVUlaUE9EX1FVSVpfQVRURU1QVCIgdmFsdWU9IuWui+S9ky0xODAzMCwxMCxmYWxzZSxmYWxzZSx0cnVlIi8+DQoJCTx1aWZvbnQgbmFtZT0iRk9OVF9RVUlaUE9EX1FVSVpfQVRURU1QVF9WQUxVRSIgdmFsdWU9IuWui+S9ky0xODAzMCwxMCx0cnVlLGZhbHNlLHRydWUiLz4NCgkJPHVpZm9udCBuYW1lPSJGT05UX1FVSVpQT0RfUVVFU1RJT05fU0NPUkUiIHZhbHVlPSLlrovkvZMtMTgwMzAsMTAsZmFsc2UsZmFsc2UsdHJ1ZSIvPg0KCQk8dWlmb250IG5hbWU9IkZPTlRfUVVJWlBPRF9RVUVTVElPTl9TQ09SRV9WQUxVRSIgdmFsdWU9IuWui+S9ky0xODAzMCwxMCx0cnVlLGZhbHNlLHRydWUiLz4NCgkJPHVpZm9udCBuYW1lPSJGT05UX1FVSVpQT0RfUVVFU1RJT05fQVRURU1QVCIgdmFsdWU9IuWui+S9ky0xODAzMCwxMCxmYWxzZSxmYWxzZSx0cnVlIi8+DQoJCTx1aWZvbnQgbmFtZT0iRk9OVF9RVUlaUE9EX1FVRVNUSU9OX0FUVEVNUFRfVkFMVUUiIHZhbHVlPSLlrovkvZMtMTgwMzAsMTAsdHJ1ZSxmYWxzZSx0cnVlIi8+DQoJCTx1aWZvbnQgbmFtZT0iRk9OVF9RVUlaUE9EX1FVRVNUSU9OX1RBRyIgdmFsdWU9IuWui+S9ky0xODAzMCwxMix0cnVlLGZhbHNlLHRydWUiLz4NCgkJPHVpZm9udCBuYW1lPSJGT05UX1FVSVpQT0RfUVVJWl9RVUVTVElPTl9DT1VOVCIgdmFsdWU9IuWui+S9ky0xODAzMCwxMCxmYWxzZSxmYWxzZSx0cnVlIi8+DQoJCTx1aWZvbnQgbmFtZT0iRk9OVF9RVUlaUE9EX1FVSVpfUVVFU1RJT05fQ09VTlRfVkFMVUUiIHZhbHVlPSLlrovkvZMtMTgwMzAsMTAsdHJ1ZSxmYWxzZSx0cnVlIi8+DQoJCTx1aWZvbnQgbmFtZT0iRk9OVF9RVUlaUE9EX1FVSVpfUVVFU1RJT05fQVRURU1QVEVEIiB2YWx1ZT0i5a6L5L2TLTE4MDMwLDEwLGZhbHNlLGZhbHNlLHRydWUiLz4NCgkJPHVpZm9udCBuYW1lPSJGT05UX1FVSVpQT0RfUVVJWl9RVUVTVElPTl9BVFRFTVBURURfVkFMVUUiIHZhbHVlPSLlrovkvZMtMTgwMzAsMTAsdHJ1ZSxmYWxzZSx0cnVlIi8+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S9ky0xODAzMCwxMCx0cnVlLGZhbHNlLHRydWUiLz4NCgkJPHVpZm9udCBuYW1lPSJGT05UX1FVSVpQT0RfUVVJWl9NQVhTQ09SRSIgdmFsdWU9IuWui+S9ky0xODAzMCwxMCxmYWxzZSxmYWxzZSx0cnVlIi8+DQoJCTx1aWZvbnQgbmFtZT0iRk9OVF9RVUlaUE9EX1FVSVpfTUFYU0NPUkVfVkFMVUUiIHZhbHVlPSLlrovkvZMtMTgwMzAsMTAsdHJ1ZSxmYWxzZSx0cnVlIi8+DQoJCTx1aWZvbnQgbmFtZT0iRk9OVF9RVUlaUE9EX1FVSVpfUEFTU1NDT1JFIiB2YWx1ZT0i5a6L5L2TLTE4MDMwLDEwLGZhbHNlLGZhbHNlLHRydWUiLz4NCgkJPHVpZm9udCBuYW1lPSJGT05UX1FVSVpQT0RfUVVJWl9QQVNTU0NPUkVfVkFMVUUiIHZhbHVlPSLlrovkvZMtMTgwMzAsMTAsdHJ1ZSxmYWxzZSx0cnVlIi8+DQoJCTwhLS0gdWl0ZXh0IC0tPg0KCQk8IS0tIHN1YnN0aXR1dGlvbjogJW4gPT0gc2xpZGUgbnVtYmVyIC0tPg0KCQk8dWl0ZXh0IG5hbWU9IkFUVEFDSE1FTlRfUFJFVklFV19XQVJOSU5HTVNHX1RJVExFU1RSSU5HIiB2YWx1ZT0iQXR0YWNobWVudCBXYXJuaW5nIi8+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5cbiBDb2xsYWJvcmF0aW9uIGRvZXMgbm90IHdvcmsgaW4gdGhpcyBtb2RlIi8+DQoJCTx1aXRleHQgbmFtZT0iQ09MTEFCX0xPQ0FMX1BMQVlCQUNLX1RJVExFIiB2YWx1ZT0iTG9jYWwgUGxheWJhY2siLz4NCgkJPHVpdGV4dCBuYW1lPSJDT0xMQUJfTE9DQUxfUExBWUJBQ0tCVE4iIHZhbHVlPSJPayIvPg0KCQk8dWl0ZXh0IG5hbWU9IlVOTkFNRURTTElERVRJVExFIiB2YWx1ZT0i5bm754Gv54mHICVuIi8+DQoJCTwhLS0gc3Vic3RpdHV0aW9uOiAlbiA9PSBzbGlkZSBudW1iZXIgLS0+DQoJCTwhLS0gc3Vic3RpdHV0aW9uOiAldCA9PSB0b3RhbCBzbGlkZSBjb3VudCAtLT4NCgkJPHVpdGV4dCBuYW1lPSJTQ1JVQkJBUlNUQVRVU19TTElERUlORk8iIHZhbHVlPSLlubvnga/niYcgJW4gLyAldCB8ICIvPg0KCQk8dWl0ZXh0IG5hbWU9IlNDUlVCQkFSU1RBVFVTX1NUT1BQRUQiIHZhbHVlPSLlt7LlgZzmraIiLz4NCgkJPHVpdGV4dCBuYW1lPSJTQ1JVQkJBUlNUQVRVU19QTEFZSU5HIiB2YWx1ZT0i5q2j5Zyo5pKt5pS+Ii8+DQoJCTx1aXRleHQgbmFtZT0iU0NSVUJCQVJTVEFUVVNfTk9BVURJTyIgdmFsdWU9IuaXoOmfs+mikSIvPg0KCQk8dWl0ZXh0IG5hbWU9IlNDUlVCQkFSU1RBVFVTX1ZJRFBMQVlJTkciIHZhbHVlPSLop4bpopHmkq3mlL4iLz4NCgkJPHVpdGV4dCBuYW1lPSJTQ1JVQkJBUlNUQVRVU19MT0FESU5HIiB2YWx1ZT0i5q2j5Zyo6L295YWlIi8+DQoJCTx1aXRleHQgbmFtZT0iU0NSVUJCQVJTVEFUVVNfQlVGRkVSSU5HIiB2YWx1ZT0i5q2j5Zyo6L+b6KGM57yT5Yay5aSE55CGIi8+DQoJCTx1aXRleHQgbmFtZT0iU0NSVUJCQVJTVEFUVVNfUVVFU1RJT04iIHZhbHVlPSLlm57nrZTpl67popgiLz4NCgkJPHVpdGV4dCBuYW1lPSJTQ1JVQkJBUlNUQVRVU19SRVZJRVdRVUlaIiB2YWx1ZT0i5q2j5Zyo5a6h6ZiF5rWL6aqMIi8+DQoJCTwhLS0gc3Vic3RpdHV0aW9uOiAlbSA9PSBtaW51dGVzIHJlbWFpbmluZyAtLT4NCgkJPCEtLSBzdWJzdGl0dXRpb246ICVzID09IHNlY29uZHMgcmVtYWluaW5nIC0tPg0KCQk8dWl0ZXh0IG5hbWU9IkVMQVBTRUQiIHZhbHVlPSLliankvZkgJW0g5YiG6ZKfICVzIOenkiIvPg0KCQk8dWl0ZXh0IG5hbWU9Ik5PVEZPVU5EIiB2YWx1ZT0i5pyq5om+5Yiw5Lu75L2V5YaF5a65Ii8+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mqjCIvPg0KCQk8dWl0ZXh0IG5hbWU9IlRBQl9PVVRMSU5FIiB2YWx1ZT0i5aSn57qyIi8+DQoJCTx1aXRleHQgbmFtZT0iVEFCX1RIVU1CIiB2YWx1ZT0i57yp55Wl5Zu+Ii8+DQoJCTx1aXRleHQgbmFtZT0iVEFCX05PVEVTIiB2YWx1ZT0i5aSH5rOoIi8+DQoJCTx1aXRleHQgbmFtZT0iVEFCX1NFQVJDSCIgdmFsdWU9IuaQnOe0oiIvPg0KCQk8dWl0ZXh0IG5hbWU9IlNMSURFX0hFQURJTkciIHZhbHVlPSLlubvnga/niYfmoIfpopgiLz4NCgkJPHVpdGV4dCBuYW1lPSJEVVJBVElPTl9IRUFESU5HIiB2YWx1ZT0i5oyB57ut5pe26Ze0Ii8+DQoJCTx1aXRleHQgbmFtZT0iU0VBUkNIX0hFQURJTkciIHZhbHVlPSLmkJzntKLmlofmnKw6Ii8+DQoJCTx1aXRleHQgbmFtZT0iVEhVTUJfSEVBRElORyIgdmFsdWU9IuW5u+eBr+eJhyIvPg0KCQk8dWl0ZXh0IG5hbWU9IlRIVU1CX0lORk8iIHZhbHVlPSLlubvnga/niYfmoIfpopgv5oyB57ut5pe26Ze0Ii8+DQoJCTx1aXRleHQgbmFtZT0iQVRUQUNITkFNRV9IRUFESU5HIiB2YWx1ZT0i5paH5Lu25ZCNIi8+DQoJCTx1aXRleHQgbmFtZT0iQVRUQUNIU0laRV9IRUFESU5HIiB2YWx1ZT0i5aSn5bCPIi8+DQoJCTx1aXRleHQgbmFtZT0iU0xJREVfTk9URVMiIHZhbHVlPSLlubvnga/niYflpIfms6g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ua1i+mqjOWwneivleasoeaVsDoiLz4NCgkJPHVpdGV4dCBuYW1lPSJRVUlaUE9EX1FVSVpfQVRURU1QVF9WQUxVRSIgdmFsdWU9IuesrCAlbiDmrKHvvIzlhbEgJXQg5qyhIi8+DQoJCTx1aXRleHQgbmFtZT0iUVVJWlBPRF9RVUlaX1NDT1JFIiB2YWx1ZT0i5b6X5YiGOiIvPg0KCQk8dWl0ZXh0IG5hbWU9IlFVSVpQT0RfUVVJWl9QQVNTU0NPUkUiIHZhbHVlPSLlj4rmoLzliIbmlbA6Ii8+DQoJCTx1aXRleHQgbmFtZT0iUVVJWlBPRF9RVUlaX01BWFNDT1JFIiB2YWx1ZT0i5pyA6auY5YiG5pWwOiIvPg0KCQk8dWl0ZXh0IG5hbWU9IlFVSVpQT0RfUVVFU0FUTVBUX1NUUiIgdmFsdWU9IuWwneivleasoeaVsDog56ysICVuIOasoe+8jOWFsSAldCDmrKEiLz4NCgkJPHVpdGV4dCBuYW1lPSJRVUlaUE9EX1FVRVNUWVBFX1NUUiIgdmFsdWU9Iuexu+WeizogJXMiLz4NCgkJPHVpdGV4dCBuYW1lPSJRVUlaUE9EX1FVRVNUWVBFX0dSRCIgdmFsdWU9IuivhOe6pyIvPg0KCQk8dWl0ZXh0IG5hbWU9IlFVSVpQT0RfUVVFU1RZUEVfU1ZZIiB2YWx1ZT0i6LCD5p+lIi8+DQoJCTx1aXRleHQgbmFtZT0iUVVJWlBPRF9RVUlaQVRNUFRfSU5GIiB2YWx1ZT0i5peg6ZmQIi8+DQoJCTx1aXRleHQgbmFtZT0iUVVJWlBPRF9RVUVTQVRNUFRfSU5GIiB2YWx1ZT0i5peg6ZmQIi8+DQoJCTx1aXRleHQgbmFtZT0iV0FSTklOR01TR19ZRVNTVFJJTkciIHZhbHVlPSLmmK8iLz4NCgkJPHVpdGV4dCBuYW1lPSJXQVJOSU5HTVNHX05PU1RSSU5HIiB2YWx1ZT0i5ZCmIi8+DQoJCTx1aXRleHQgbmFtZT0iV0FSTklOR01TR19USVRMRVNUUklORyIgdmFsdWU9Iua1i+mqjOWvvOiIquitpuWRiiIvPg0KCQk8dWl0ZXh0IG5hbWU9IldBUk5JTkdNU0dfTVNHU1RSSU5HIiB2YWx1ZT0i5q2k5rWL6aqM5Lit5pyJ5pyq5bCd6K+V5L2c562U55qE6Zeu6aKY44CCJiN4QTsmI3hBO+WNleWHu+KAnOaYr+KAnemAgOWHuuatpOa1i+mqjOOAguWNleWHu+KAnOWQpuKAnee7p+e7rea1i+mqjOOAgiIvPg0KCQk8dWl0ZXh0IG5hbWU9IklORk9STUFUSU9OX0gyNjRfRkxBU0hQTEFZRVIiIHZhbHVlPSLlvZPliY3lronoo4XlnKjmgqjnmoTorqHnrpfmnLrkuIrnmoQgRmxhc2ggUGxheWVyIOeJiOacrOS4jeaUr+aMgeivpeinhumikeOAguWNleWHu+inhumikeWMuuWfn+S4i+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C5Yqg6ICF5pi+56S65o+Q6KaB5qCPIi8+DQoJCTx1aXRleHQgbmFtZT0iTVVURSIgdmFsdWU9IumdmemfsyIvPg0KCQk8dWl0ZXh0IG5hbWU9IkRPQ1dSQVBfVElUTEUiIHZhbHVlPSJQcmVzZW50ZXIg5paH5Lu26ZmE5Lu2Ii8+DQoJCTx1aXRleHQgbmFtZT0iRE9DV1JBUF9NU0ciIHZhbHVlPSLkv53lrZjliLDmiJHnmoTorqHnrpfmnLoiLz4NCgkJPHVpdGV4dCBuYW1lPSJET0NXUkFQX1BST01QVCIgdmFsdWU9IuWNleWHu+S7peS4i+i9vSIvPg0KCTwvbGFuZ3VhZ2U+DQoJPGxhbmd1YWdlIGlkPSJ0c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x1aXRleHQgbmFtZT0iVU5OQU1FRFNMSURFVElUTEUiIHZhbHVlPSJTbGF5dCAlbiIvPg0KCQk8IS0tIHN1YnN0aXR1dGlvbjogJW4gPT0gc2xpZGUgbnVtYmVyIC0tPg0KCQk8IS0tIHN1YnN0aXR1dGlvbjogJXQgPT0gdG90YWwgc2xpZGUgY291bnQgLS0+DQoJCTx1aXRleHQgbmFtZT0iU0NSVUJCQVJTVEFUVVNfU0xJREVJTkZPIiB2YWx1ZT0iU2xheXQgJW4gLyAldCB8ICIvPg0KCQk8dWl0ZXh0IG5hbWU9IlNDUlVCQkFSU1RBVFVTX1NUT1BQRUQiIHZhbHVlPSJEdXJkdXJ1bGR1Ii8+DQoJCTx1aXRleHQgbmFtZT0iU0NSVUJCQVJTVEFUVVNfUExBWUlORyIgdmFsdWU9Ik95bmF0xLFsxLF5b3IiLz4NCgkJPHVpdGV4dCBuYW1lPSJTQ1JVQkJBUlNUQVRVU19OT0FVRElPIiB2YWx1ZT0iU2VzIFlvayIvPg0KCQk8dWl0ZXh0IG5hbWU9IlNDUlVCQkFSU1RBVFVTX1ZJRFBMQVlJTkciIHZhbHVlPSJWaWRlbyBPeW5hdMSxbMSxeW9yIi8+DQoJCTx1aXRleHQgbmFtZT0iU0NSVUJCQVJTVEFUVVNfTE9BRElORyIgdmFsdWU9IlnDvGtsZW5peW9yIi8+DQoJCTx1aXRleHQgbmFtZT0iU0NSVUJCQVJTVEFUVVNfQlVGRkVSSU5HIiB2YWx1ZT0iQXJhYmVsbGXEn2UgQWzEsW7EsXlvciIvPg0KCQk8dWl0ZXh0IG5hbWU9IlNDUlVCQkFSU1RBVFVTX1FVRVNUSU9OIiB2YWx1ZT0iU29ydXl1IFlhbsSxdGxhIi8+DQoJCTx1aXRleHQgbmFtZT0iU0NSVUJCQVJTVEFUVVNfUkVWSUVXUVVJWiIgdmFsdWU9IlPEsW5hdiDEsG5jZWxlbml5b3IiLz4NCgkJPCEtLSBzdWJzdGl0dXRpb246ICVtID09IG1pbnV0ZXMgcmVtYWluaW5nIC0tPg0KCQk8IS0tIHN1YnN0aXR1dGlvbjogJXMgPT0gc2Vjb25kcyByZW1haW5pbmcgLS0+DQoJCTx1aXRleHQgbmFtZT0iRUxBUFNFRCIgdmFsdWU9IiVtIERha2lrYSAlcyBTYW5peWUgS2FsZMSxIi8+DQoJCTx1aXRleHQgbmFtZT0iTk9URk9VTkQiIHZhbHVlPSJIZXJoYW5naSBCaXIgxZ5leSBCdWx1bm1hZMSxIi8+DQoJCTx1aXRleHQgbmFtZT0iQVRUQUNITUVOVFMiIHZhbHVlPSJFa2xlci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sSwcnRpYmF0Ii8+DQoJCTx1aXRleHQgbmFtZT0iVEFCX1FVSVoiIHZhbHVlPSJTxLFuYXYiLz4NCgkJPHVpdGV4dCBuYW1lPSJUQUJfT1VUTElORSIgdmFsdWU9IkFuYSBIYXQiLz4NCgkJPHVpdGV4dCBuYW1lPSJUQUJfVEhVTUIiIHZhbHVlPSJSZXNpbSIvPg0KCQk8dWl0ZXh0IG5hbWU9IlRBQl9OT1RFUyIgdmFsdWU9Ik5vdGxhciIvPg0KCQk8dWl0ZXh0IG5hbWU9IlRBQl9TRUFSQ0giIHZhbHVlPSJBcmEiLz4NCgkJPHVpdGV4dCBuYW1lPSJTTElERV9IRUFESU5HIiB2YWx1ZT0iU2xheXQgQmHFn2zEscSfxLEiLz4NCgkJPHVpdGV4dCBuYW1lPSJEVVJBVElPTl9IRUFESU5HIiB2YWx1ZT0iU8O8cmUiLz4NCgkJPHVpdGV4dCBuYW1lPSJTRUFSQ0hfSEVBRElORyIgdmFsdWU9Ik1ldG5pIGFyYToiLz4NCgkJPHVpdGV4dCBuYW1lPSJUSFVNQl9IRUFESU5HIiB2YWx1ZT0iU2xheXQiLz4NCgkJPHVpdGV4dCBuYW1lPSJUSFVNQl9JTkZPIiB2YWx1ZT0iU2xheXQgQmHFn2zEscSfxLEvU8O8cmVzaSIvPg0KCQk8dWl0ZXh0IG5hbWU9IkFUVEFDSE5BTUVfSEVBRElORyIgdmFsdWU9IkRvc3lhIEFkxLEiLz4NCgkJPHVpdGV4dCBuYW1lPSJBVFRBQ0hTSVpFX0hFQURJTkciIHZhbHVlPSJCb3l1dCIvPg0KCQk8dWl0ZXh0IG5hbWU9IlNMSURFX05PVEVTIiB2YWx1ZT0iU2xheXQgTm90bGFyxLE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lPEsW5hdiBEZW5lbWVzaToiLz4NCgkJPHVpdGV4dCBuYW1lPSJRVUlaUE9EX1FVSVpfQVRURU1QVF9WQUxVRSIgdmFsdWU9IiVuLyV0Ii8+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DQoJCTx1aXRleHQgbmFtZT0iUVVJWlBPRF9RVUVTVFlQRV9HUkQiIHZhbHVlPSJCYXNhbWFrbMSxIi8+DQoJCTx1aXRleHQgbmFtZT0iUVVJWlBPRF9RVUVTVFlQRV9TVlkiIHZhbHVlPSJBbmtldCIvPg0KCQk8dWl0ZXh0IG5hbWU9IlFVSVpQT0RfUVVJWkFUTVBUX0lORiIgdmFsdWU9IlPEsW7EsXJzxLF6Ii8+DQoJCTx1aXRleHQgbmFtZT0iUVVJWlBPRF9RVUVTQVRNUFRfSU5GIiB2YWx1ZT0iU8SxbsSxcnPEsXoiLz4NCgkJPHVpdGV4dCBuYW1lPSJXQVJOSU5HTVNHX1lFU1NUUklORyIgdmFsdWU9IkV2ZXQiLz4NCgkJPHVpdGV4dCBuYW1lPSJXQVJOSU5HTVNHX05PU1RSSU5HIiB2YWx1ZT0iSGF5xLFyIi8+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DQoJCTx1aXRleHQgbmFtZT0iRE9DV1JBUF9QUk9NUFQiIHZhbHVlPSLEsG5kaXJtZWsgacOnaW4gVMSxa2xhdMSxbiIvPg0KCTwvbGFuZ3VhZ2U+DQoJPGxhbmd1YWdlIGlkPSJyd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0KHQu9Cw0LnQtC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whLS0gc3Vic3RpdHV0aW9uOiAlbiA9PSBzbGlkZSBudW1iZXIgLS0+DQoJCTwhLS0gc3Vic3RpdHV0aW9uOiAldCA9PSB0b3RhbCBzbGlkZSBjb3VudCAtLT4NCgkJPHVpdGV4dCBuYW1lPSJTQ1JVQkJBUlNUQVRVU19TTElERUlORk8iIHZhbHVlPSLQodC70LDQudC0ICVuIC8gJXQgfCAiLz4NCgkJPHVpdGV4dCBuYW1lPSJTQ1JVQkJBUlNUQVRVU19TVE9QUEVEIiB2YWx1ZT0i0J7RgdGC0LDQvdC+0LLQu9C10L3QviIvPg0KCQk8dWl0ZXh0IG5hbWU9IlNDUlVCQkFSU1RBVFVTX1BMQVlJTkciIHZhbHVlPSLQktC+0YHQv9GA0L7QuNC30LLQtdC00LXQvdC40LUiLz4NCgkJPHVpdGV4dCBuYW1lPSJTQ1JVQkJBUlNUQVRVU19OT0FVRElPIiB2YWx1ZT0i0J3QtdGCINCw0YPQtNC40L4iLz4NCgkJPHVpdGV4dCBuYW1lPSJTQ1JVQkJBUlNUQVRVU19WSURQTEFZSU5HIiB2YWx1ZT0i0JLQvtGB0L/RgNC+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0L/RgNC+0YEiLz4NCgkJPHVpdGV4dCBuYW1lPSJTQ1JVQkJBUlNUQVRVU19SRVZJRVdRVUlaIiB2YWx1ZT0i0J7QsdC30L7RgCDQvtC/0YDQvtGB0LAiLz4NCgkJPCEtLSBzdWJzdGl0dXRpb246ICVtID09IG1pbnV0ZXMgcmVtYWluaW5nIC0tPg0KCQk8IS0tIHN1YnN0aXR1dGlvbjogJXMgPT0gc2Vjb25kcyByZW1haW5pbmcgLS0+DQoJCTx1aXRleHQgbmFtZT0iRUxBUFNFRCIgdmFsdWU9ItCe0YHRgtCw0LvQvtGB0YwgJW0g0LzQuNC9LiAlcyDRgSIvPg0KCQk8dWl0ZXh0IG5hbWU9Ik5PVEZPVU5EIiB2YWx1ZT0i0J3QuNGH0LXQs9C+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0L3RgtCw0LrRgiIvPg0KCQk8dWl0ZXh0IG5hbWU9IlRBQl9RVUlaIiB2YWx1ZT0i0J7Qv9GA0L7RgSIvPg0KCQk8dWl0ZXh0IG5hbWU9IlRBQl9PVVRMSU5FIiB2YWx1ZT0i0KHRhdC10LzQsCIvPg0KCQk8dWl0ZXh0IG5hbWU9IlRBQl9USFVNQiIgdmFsdWU9ItCR0LXQs9GD0L3QvtC6Ii8+DQoJCTx1aXRleHQgbmFtZT0iVEFCX05PVEVTIiB2YWx1ZT0i0JfQsNC80LXRgtC60LgiLz4NCgkJPHVpdGV4dCBuYW1lPSJUQUJfU0VBUkNIIiB2YWx1ZT0i0J/QvtC40YHQuiIvPg0KCQk8dWl0ZXh0IG5hbWU9IlNMSURFX0hFQURJTkciIHZhbHVlPSLQl9Cw0LPQvtC70L7QstC+0Log0YHQu9Cw0LnQtNCwIi8+DQoJCTx1aXRleHQgbmFtZT0iRFVSQVRJT05fSEVBRElORyIgdmFsdWU9ItCU0LvQuNGCLdGB0YLRjCIvPg0KCQk8dWl0ZXh0IG5hbWU9IlNFQVJDSF9IRUFESU5HIiB2YWx1ZT0i0J/QvtC40YHQuiDRgtC10LrRgdGC0LA6Ii8+DQoJCTx1aXRleHQgbmFtZT0iVEhVTUJfSEVBRElORyIgdmFsdWU9ItCh0LvQsNC50LQiLz4NCgkJPHVpdGV4dCBuYW1lPSJUSFVNQl9JTkZPIiB2YWx1ZT0i0J3QsNC30LLQsNC90LjQtS/QtNC70LjRgi3QvdC+0YHRgtGMIi8+DQoJCTx1aXRleHQgbmFtZT0iQVRUQUNITkFNRV9IRUFESU5HIiB2YWx1ZT0i0JjQvNGPINGE0LDQudC70LAiLz4NCgkJPHVpdGV4dCBuYW1lPSJBVFRBQ0hTSVpFX0hFQURJTkciIHZhbHVlPSLQoNCw0LfQvNC10YAiLz4NCgkJPHVpdGV4dCBuYW1lPSJTTElERV9OT1RFUyIgdmFsdWU9ItCX0LDQvNC10YLQutC4INC6INGB0LvQsNC50LTRgyIvPg0KCQk8dWl0ZXh0IG5hbWU9IkNPVVJTRV9TVEFUVVMiIHZhbHVlPSJNb2R1bGUgU3RhdHVzIi8+DQoJCTx1aXRleHQgbmFtZT0iUEFTU0VEX1NUUklORyIgdmFsdWU9IlBhc3NlZCIvPg0KCQk8dWl0ZXh0IG5hbWU9IkZBSUxFRF9TVFJJTkciIHZhbHVlPSJGYWlsZWQiLz4NCgkJPCEtLXF1aXogcG9kIGFuZCBtZXNzYWdlIGJveCB0ZXh0cy0tPg0KCQk8dWl0ZXh0IG5hbWU9IlFVSVpQT0RfUVVJWl9BVFRFTVBUIiB2YWx1ZT0i0J/QvtC/0YvRgtC60LAg0L/RgNC+0LnRgtC4INC+0L/RgNC+0YE6Ii8+DQoJCTx1aXRleHQgbmFtZT0iUVVJWlBPRF9RVUlaX0FUVEVNUFRfVkFMVUUiIHZhbHVlPSIlbiDQuNC3ICV0Ii8+DQoJCTx1aXRleHQgbmFtZT0iUVVJWlBPRF9RVUlaX1NDT1JFIiB2YWx1ZT0i0J3QsNCx0YDQsNC90L4g0LHQsNC70LvQvtCyOiIvPg0KCQk8dWl0ZXh0IG5hbWU9IlFVSVpQT0RfUVVJWl9QQVNTU0NPUkUiIHZhbHVlPSLQn9GA0L7RhdC+0LTQvdC+0Lkg0YDQtdC30YPQu9GM0YLQsNGCOiIvPg0KCQk8dWl0ZXh0IG5hbWU9IlFVSVpQT0RfUVVJWl9NQVhTQ09SRSIgdmFsdWU9ItCc0LDQutGB0LjQvNCw0LvRjNC90YvQuSDRgNC10LfRg9C70YzRgtCw0YI6Ii8+DQoJCTx1aXRleHQgbmFtZT0iUVVJWlBPRF9RVUVTQVRNUFRfU1RSIiB2YWx1ZT0i0J/QvtC/0YvRgtC60LA6ICVuINC40LcgJXQiLz4NCgkJPHVpdGV4dCBuYW1lPSJRVUlaUE9EX1FVRVNUWVBFX1NUUiIgdmFsdWU9ItCi0LjQvzogJXMiLz4NCgkJPHVpdGV4dCBuYW1lPSJRVUlaUE9EX1FVRVNUWVBFX0dSRCIgdmFsdWU9ItChINC+0YbQtdC90LrQvtC5Ii8+DQoJCTx1aXRleHQgbmFtZT0iUVVJWlBPRF9RVUVTVFlQRV9TVlkiIHZhbHVlPSLQntCx0LfQvtGAIi8+DQoJCTx1aXRleHQgbmFtZT0iUVVJWlBPRF9RVUlaQVRNUFRfSU5GIiB2YWx1ZT0i0JHQvtC70YzRiNC+0LUg0YfQuNGB0LvQviIvPg0KCQk8dWl0ZXh0IG5hbWU9IlFVSVpQT0RfUVVFU0FUTVBUX0lORiIgdmFsdWU9ItCR0L7Qu9GM0YjQvtC1INGH0LjRgdC70L4iLz4NCgkJPHVpdGV4dCBuYW1lPSJXQVJOSU5HTVNHX1lFU1NUUklORyIgdmFsdWU9ItCU0LAiLz4NCgkJPHVpdGV4dCBuYW1lPSJXQVJOSU5HTVNHX05PU1RSSU5HIiB2YWx1ZT0i0J3QtdGCIi8+DQoJCTx1aXRleHQgbmFtZT0iV0FSTklOR01TR19USVRMRVNUUklORyIgdmFsdWU9ItCf0YDQtdC00YPQv9GA0LXQttC00LXQvdC40LUg0L4g0L3QsNCy0LjQs9Cw0YbQuNC4INCyINC+0L/RgNC+0YHQtSIvPg0KCQk8dWl0ZXh0IG5hbWU9IldBUk5JTkdNU0dfTVNHU1RSSU5HIiB2YWx1ZT0i0JIg0L7Qv9GA0L7RgdC1INC+0YHRgtCw0LvQuNGB0Ywg0L3QtdC+0YLQstC10YfQtdC90L3Ri9C1INCy0L7Qv9GA0L7RgdGLLtCd0LDQttCw0YLQuNC1INC60L3QvtC/0LrQuCAmcXVvdDvQlNCwJnF1b3Q7INC/0YDQuNCy0LXQtNC10YIg0Log0LfQsNC60YDRi9GC0LjRjiDQvtC/0YDQvtGB0LAuINCd0LDQttCw0YLQuNC1INC60L3QvtC/0LrQuCAmcXVvdDvQndC10YImcXVvdDsg0L/RgNC+0LTQvtC70LbQuNGCINC+0L/RgNC+0YEuIi8+DQoJCTx1aXRleHQgbmFtZT0iSU5GT1JNQVRJT05fSDI2NF9GTEFTSFBMQVlFUiIgdmFsdWU9ItCi0LXQutGD0YnQsNGPINCy0LXRgNGB0LjRjyDQv9GA0L7QuNCz0YDRi9Cy0LDRgtC10LvRjyBGbGFzaCBQbGF5ZXIsINGD0YHRgtCw0L3QvtCy0LvQtdC90L3QsNGPINC90LAg0Y3RgtC+0Lwg0LrQvtC80L/RjNGO0YLQtdGA0LUsINC90LUg0L/QvtC00LTQtdGA0LbQuNCy0LDQtdGCINGN0YLQviDQstC40LTQtdC+LiDQqdC10LvQutC90LjRgtC1INCyINC+0LHQu9Cw0YHRgtC4INCy0LjQtNC10L4sINGH0YLQvtCx0Ysg0LfQsNCz0YDRg9C30LjRgtGMINC/0L7RgdC70LXQtNC90Y7RjiDQstC10YDRgdC40Y4g0L/RgNC+0LjQs9GA0YvQstCw0YLQtdC70Y8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LQn9C+0LrQsNC30YvQstCw0YLRjCDQstGA0LXQt9C60YMg0YPRh9Cw0YHRgtC90LjQutCw0LwiLz4NCgkJPHVpdGV4dCBuYW1lPSJNVVRFIiB2YWx1ZT0i0J7RgtC60LvRjtGH0LjRgtGMINC30LLRg9C6Ii8+DQoJCTx1aXRleHQgbmFtZT0iRE9DV1JBUF9USVRMRSIgdmFsdWU9ItCS0LvQvtC20LXQvdC40LUg0LIg0YTQsNC50LsgQWRvYmUgUHJlc2VudGVyIi8+DQoJCTx1aXRleHQgbmFtZT0iRE9DV1JBUF9NU0ciIHZhbHVlPSLQodC+0YXRgNCw0L3QuNGC0Ywg0LIg0L/QsNC/0LrRgyAmcXVvdDvQnNC+0Lkg0LrQvtC80L/RjNGO0YLQtdGAJnF1b3Q7Ii8+DQoJCTx1aXRleHQgbmFtZT0iRE9DV1JBUF9QUk9NUFQiIHZhbHVlPSLQqdC10LvQutC90YPRgtGMINC00LvRjyDQt9Cw0LPRgNGD0LfQutC4Ii8+DQoJPC9sYW5ndWFnZT4NCjwvY29uZmlndXJhdGlvbj4NCg=="/>
  <p:tag name="MMPROD_UIDATA" val="&lt;database version=&quot;11.0&quot;&gt;&lt;object type=&quot;1&quot; unique_id=&quot;10001&quot;&gt;&lt;property id=&quot;20141&quot; value=&quot;ECE/CS 552 - Virtual Memory&quot;/&gt;&lt;property id=&quot;20144&quot; value=&quot;0&quot;/&gt;&lt;property id=&quot;20146&quot; value=&quot;0&quot;/&gt;&lt;property id=&quot;20147&quot; value=&quot;0&quot;/&gt;&lt;property id=&quot;20148&quot; value=&quot;5&quot;/&gt;&lt;property id=&quot;20180&quot; value=&quot;0&quot;/&gt;&lt;property id=&quot;20181&quot; value=&quot;1&quot;/&gt;&lt;property id=&quot;20183&quot; value=&quot;1&quot;/&gt;&lt;property id=&quot;20184&quot; value=&quot;7&quot;/&gt;&lt;property id=&quot;20193&quot; value=&quot;-1&quot;/&gt;&lt;property id=&quot;20224&quot; value=&quot;C:\Users\sanmi\Documents\My Adobe Presentations\ece552-VirtualMemory&quot;/&gt;&lt;property id=&quot;20250&quot; value=&quot;0&quot;/&gt;&lt;property id=&quot;20251&quot; value=&quot;0&quot;/&gt;&lt;property id=&quot;20259&quot; value=&quot;0&quot;/&gt;&lt;property id=&quot;20263&quot; value=&quot;2&quot;/&gt;&lt;property id=&quot;20264&quot; value=&quot;1&quot;/&gt;&lt;property id=&quot;20519&quot; value=&quot;0&quot;/&gt;&lt;property id=&quot;20700&quot; value=&quot;0&quot;/&gt;&lt;object type=&quot;8&quot; unique_id=&quot;10476&quot;&gt;&lt;/object&gt;&lt;object type=&quot;2&quot; unique_id=&quot;10477&quot;&gt;&lt;object type=&quot;3&quot; unique_id=&quot;195028&quot;&gt;&lt;property id=&quot;20148&quot; value=&quot;5&quot;/&gt;&lt;property id=&quot;20300&quot; value=&quot;Slide 15 - &amp;quot;SECDED – Hamming(7,4) + Parity&amp;quot;&quot;/&gt;&lt;property id=&quot;20307&quot; value=&quot;799&quot;/&gt;&lt;property id=&quot;20309&quot; value=&quot;-1&quot;/&gt;&lt;/object&gt;&lt;object type=&quot;3&quot; unique_id=&quot;210873&quot;&gt;&lt;property id=&quot;20148&quot; value=&quot;5&quot;/&gt;&lt;property id=&quot;20300&quot; value=&quot;Slide 1 - &amp;quot;ECE/CS 552: Memory, ECC and I/O&amp;quot;&quot;/&gt;&lt;property id=&quot;20307&quot; value=&quot;691&quot;/&gt;&lt;/object&gt;&lt;object type=&quot;3&quot; unique_id=&quot;210887&quot;&gt;&lt;property id=&quot;20148&quot; value=&quot;5&quot;/&gt;&lt;property id=&quot;20300&quot; value=&quot;Slide 13 - &amp;quot;SECDED – Hamming(7,4) + Parity&amp;quot;&quot;/&gt;&lt;property id=&quot;20307&quot; value=&quot;733&quot;/&gt;&lt;/object&gt;&lt;object type=&quot;3&quot; unique_id=&quot;212033&quot;&gt;&lt;property id=&quot;20148&quot; value=&quot;5&quot;/&gt;&lt;property id=&quot;20300&quot; value=&quot;Slide 2 - &amp;quot;Physical (PIPT) Cache&amp;quot;&quot;/&gt;&lt;property id=&quot;20307&quot; value=&quot;800&quot;/&gt;&lt;/object&gt;&lt;object type=&quot;3&quot; unique_id=&quot;212034&quot;&gt;&lt;property id=&quot;20148&quot; value=&quot;5&quot;/&gt;&lt;property id=&quot;20300&quot; value=&quot;Slide 3 - &amp;quot;Virtual (VIVT) Cache&amp;quot;&quot;/&gt;&lt;property id=&quot;20307&quot; value=&quot;801&quot;/&gt;&lt;/object&gt;&lt;object type=&quot;3&quot; unique_id=&quot;212035&quot;&gt;&lt;property id=&quot;20148&quot; value=&quot;5&quot;/&gt;&lt;property id=&quot;20300&quot; value=&quot;Slide 4 - &amp;quot;VIPT Cache&amp;quot;&quot;/&gt;&lt;property id=&quot;20307&quot; value=&quot;806&quot;/&gt;&lt;/object&gt;&lt;object type=&quot;3&quot; unique_id=&quot;212036&quot;&gt;&lt;property id=&quot;20148&quot; value=&quot;5&quot;/&gt;&lt;property id=&quot;20300&quot; value=&quot;Slide 5 - &amp;quot;VIPT Cache – Synonyms&amp;quot;&quot;/&gt;&lt;property id=&quot;20307&quot; value=&quot;807&quot;/&gt;&lt;/object&gt;&lt;object type=&quot;3&quot; unique_id=&quot;212037&quot;&gt;&lt;property id=&quot;20148&quot; value=&quot;5&quot;/&gt;&lt;property id=&quot;20300&quot; value=&quot;Slide 6 - &amp;quot;VIPT Cache – Synonyms&amp;quot;&quot;/&gt;&lt;property id=&quot;20307&quot; value=&quot;808&quot;/&gt;&lt;/object&gt;&lt;object type=&quot;3&quot; unique_id=&quot;212038&quot;&gt;&lt;property id=&quot;20148&quot; value=&quot;5&quot;/&gt;&lt;property id=&quot;20300&quot; value=&quot;Slide 7 - &amp;quot;VIPT Cache – Synonyms&amp;quot;&quot;/&gt;&lt;property id=&quot;20307&quot; value=&quot;809&quot;/&gt;&lt;/object&gt;&lt;object type=&quot;3&quot; unique_id=&quot;212039&quot;&gt;&lt;property id=&quot;20148&quot; value=&quot;5&quot;/&gt;&lt;property id=&quot;20300&quot; value=&quot;Slide 8 - &amp;quot;VIPT Cache – Synonyms&amp;quot;&quot;/&gt;&lt;property id=&quot;20307&quot; value=&quot;810&quot;/&gt;&lt;/object&gt;&lt;object type=&quot;3&quot; unique_id=&quot;212040&quot;&gt;&lt;property id=&quot;20148&quot; value=&quot;5&quot;/&gt;&lt;property id=&quot;20300&quot; value=&quot;Slide 9 - &amp;quot;VIPT Cache – Synonyms&amp;quot;&quot;/&gt;&lt;property id=&quot;20307&quot; value=&quot;812&quot;/&gt;&lt;/object&gt;&lt;object type=&quot;3&quot; unique_id=&quot;212041&quot;&gt;&lt;property id=&quot;20148&quot; value=&quot;5&quot;/&gt;&lt;property id=&quot;20300&quot; value=&quot;Slide 10 - &amp;quot;VIPT Cache – Synonyms&amp;quot;&quot;/&gt;&lt;property id=&quot;20307&quot; value=&quot;814&quot;/&gt;&lt;/object&gt;&lt;object type=&quot;3&quot; unique_id=&quot;212042&quot;&gt;&lt;property id=&quot;20148&quot; value=&quot;5&quot;/&gt;&lt;property id=&quot;20300&quot; value=&quot;Slide 11 - &amp;quot;VIPT Cache – Synonyms&amp;quot;&quot;/&gt;&lt;property id=&quot;20307&quot; value=&quot;816&quot;/&gt;&lt;/object&gt;&lt;object type=&quot;3&quot; unique_id=&quot;212043&quot;&gt;&lt;property id=&quot;20148&quot; value=&quot;5&quot;/&gt;&lt;property id=&quot;20300&quot; value=&quot;Slide 12 - &amp;quot;VIPT Cache – Synonyms&amp;quot;&quot;/&gt;&lt;property id=&quot;20307&quot; value=&quot;819&quot;/&gt;&lt;/object&gt;&lt;object type=&quot;3&quot; unique_id=&quot;212210&quot;&gt;&lt;property id=&quot;20148&quot; value=&quot;5&quot;/&gt;&lt;property id=&quot;20300&quot; value=&quot;Slide 14 - &amp;quot;SECDED – Hamming(7,4) + Parity&amp;quot;&quot;/&gt;&lt;property id=&quot;20307&quot; value=&quot;820&quot;/&gt;&lt;/object&gt;&lt;/object&gt;&lt;object type=&quot;10&quot; unique_id=&quot;19997&quot;&gt;&lt;object type=&quot;11&quot; unique_id=&quot;19998&quot;&gt;&lt;property id=&quot;20180&quot; value=&quot;0&quot;/&gt;&lt;property id=&quot;20181&quot; value=&quot;1&quot;/&gt;&lt;property id=&quot;20183&quot; value=&quot;1&quot;/&gt;&lt;/object&gt;&lt;object type=&quot;12&quot; unique_id=&quot;200472&quot;&gt;&lt;/object&gt;&lt;/object&gt;&lt;object type=&quot;4&quot; unique_id=&quot;19999&quot;&gt;&lt;/object&gt;&lt;/object&gt;&lt;/database&gt;"/>
  <p:tag name="SECTOMILLISECCONVERTED" val="1"/>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3&quot;/&gt;&lt;lineCharCount val=&quot;13&quot;/&gt;&lt;lineCharCount val=&quot;12&quot;/&gt;&lt;lineCharCount val=&quot;13&quot;/&gt;&lt;lineCharCount val=&quot;11&quot;/&gt;&lt;/TableIndex&gt;&lt;/ShapeTextInfo&gt;"/>
</p:tagLst>
</file>

<file path=ppt/tags/tag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Lst>
</file>

<file path=ppt/tags/tag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5&quot;/&gt;&lt;/TableIndex&gt;&lt;/ShapeTextInfo&gt;"/>
</p:tagLst>
</file>

<file path=ppt/tags/tag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Lst>
</file>

<file path=ppt/tags/tag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3&quot;/&gt;&lt;lineCharCount val=&quot;13&quot;/&gt;&lt;lineCharCount val=&quot;12&quot;/&gt;&lt;lineCharCount val=&quot;13&quot;/&gt;&lt;lineCharCount val=&quot;11&quot;/&gt;&lt;/TableIndex&gt;&lt;/ShapeTextInfo&gt;"/>
</p:tagLst>
</file>

<file path=ppt/tags/tag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Lst>
</file>

<file path=ppt/tags/tag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7.xml><?xml version="1.0" encoding="utf-8"?>
<p:tagLst xmlns:a="http://schemas.openxmlformats.org/drawingml/2006/main" xmlns:r="http://schemas.openxmlformats.org/officeDocument/2006/relationships" xmlns:p="http://schemas.openxmlformats.org/presentationml/2006/main">
  <p:tag name="HTML_SHAPEINFO" val="&lt;SlideThumbPath val=&quot;Slide1.PNG&quot;/&gt;"/>
</p:tagLst>
</file>

<file path=ppt/tags/tag1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D44B56F1-587C-4A63-BFB5-0013DEC565E1}_1.png&quot;/&gt;&lt;left val=&quot;35&quot;/&gt;&lt;top val=&quot;195&quot;/&gt;&lt;width val=&quot;648&quot;/&gt;&lt;height val=&quot;98&quot;/&gt;&lt;hasText val=&quot;1&quot;/&gt;&lt;/Image&gt;&lt;/ThreeDShapeInfo&gt;"/>
  <p:tag name="PRESENTER_SHAPETEXTINFO" val="&lt;ShapeTextInfo&gt;&lt;TableIndex row=&quot;-1&quot; col=&quot;-1&quot;&gt;&lt;linesCount val=&quot;1&quot;/&gt;&lt;lineCharCount val=&quot;31&quot;/&gt;&lt;/TableIndex&gt;&lt;/ShapeTextInfo&gt;"/>
</p:tagLst>
</file>

<file path=ppt/tags/tag1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2BE514E7-4F1C-4E67-88F0-2BA1AF149610}_1.png&quot;/&gt;&lt;left val=&quot;104&quot;/&gt;&lt;top val=&quot;298&quot;/&gt;&lt;width val=&quot;515&quot;/&gt;&lt;height val=&quot;145&quot;/&gt;&lt;hasText val=&quot;1&quot;/&gt;&lt;/Image&gt;&lt;/ThreeDShapeInfo&gt;"/>
  <p:tag name="PRESENTER_SHAPETEXTINFO" val="&lt;ShapeTextInfo&gt;&lt;TableIndex row=&quot;-1&quot; col=&quot;-1&quot;&gt;&lt;linesCount val=&quot;6&quot;/&gt;&lt;lineCharCount val=&quot;24&quot;/&gt;&lt;lineCharCount val=&quot;1&quot;/&gt;&lt;lineCharCount val=&quot;55&quot;/&gt;&lt;lineCharCount val=&quot;61&quot;/&gt;&lt;lineCharCount val=&quot;6&quot;/&gt;&lt;lineCharCount val=&quot;3&quot;/&gt;&lt;/TableIndex&gt;&lt;/ShapeTextInfo&gt;"/>
</p:tagLst>
</file>

<file path=ppt/tags/tag20.xml><?xml version="1.0" encoding="utf-8"?>
<p:tagLst xmlns:a="http://schemas.openxmlformats.org/drawingml/2006/main" xmlns:r="http://schemas.openxmlformats.org/officeDocument/2006/relationships" xmlns:p="http://schemas.openxmlformats.org/presentationml/2006/main">
  <p:tag name="HTML_SHAPEINFO" val="&lt;SlideThumbPath val=&quot;Slide9.PNG&quot;/&gt;"/>
  <p:tag name="PPSNARRATION" val="9,1947083624,C:\Users\sanmi\GoogleDrive\UWMdrive\Courses\ECE552\ece552-lec13_VirtualMemory_pptx\Media.ppcx"/>
</p:tagLst>
</file>

<file path=ppt/tags/tag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9&quot;/&gt;&lt;/TableIndex&gt;&lt;/ShapeTextInfo&gt;"/>
  <p:tag name="HTML_SHAPEINFO" val="&lt;ThreeDShapeInfo&gt;&lt;uuid val=&quot;&quot;/&gt;&lt;isInvalidForFieldText val=&quot;0&quot;/&gt;&lt;Image&gt;&lt;filename val=&quot;C:\Users\sanmi\Documents\My Adobe Presentations\ece552-VirtualMemory\data\asimages\{E616ABE3-CF8E-4669-B577-92F42C3ACC54}_9.png&quot;/&gt;&lt;left val=&quot;35&quot;/&gt;&lt;top val=&quot;21&quot;/&gt;&lt;width val=&quot;588&quot;/&gt;&lt;height val=&quot;98&quot;/&gt;&lt;hasText val=&quot;1&quot;/&gt;&lt;/Image&gt;&lt;/ThreeDShapeInfo&gt;"/>
</p:tagLst>
</file>

<file path=ppt/tags/tag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VirtualMemory\data\asimages\{0863C791-6EE6-4001-A853-57B5D513458A}_9.png&quot;/&gt;&lt;left val=&quot;599&quot;/&gt;&lt;top val=&quot;500&quot;/&gt;&lt;width val=&quot;86&quot;/&gt;&lt;height val=&quot;32&quot;/&gt;&lt;hasText val=&quot;1&quot;/&gt;&lt;/Image&gt;&lt;/ThreeDShapeInfo&gt;"/>
</p:tagLst>
</file>

<file path=ppt/tags/tag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1&quot;/&gt;&lt;lineCharCount val=&quot;15&quot;/&gt;&lt;lineCharCount val=&quot;49&quot;/&gt;&lt;lineCharCount val=&quot;14&quot;/&gt;&lt;lineCharCount val=&quot;46&quot;/&gt;&lt;lineCharCount val=&quot;23&quot;/&gt;&lt;lineCharCount val=&quot;34&quot;/&gt;&lt;lineCharCount val=&quot;6&quot;/&gt;&lt;lineCharCount val=&quot;31&quot;/&gt;&lt;lineCharCount val=&quot;50&quot;/&gt;&lt;lineCharCount val=&quot;54&quot;/&gt;&lt;lineCharCount val=&quot;10&quot;/&gt;&lt;/TableIndex&gt;&lt;/ShapeTextInfo&gt;"/>
  <p:tag name="HTML_SHAPEINFO" val="&lt;ThreeDShapeInfo&gt;&lt;uuid val=&quot;&quot;/&gt;&lt;isInvalidForFieldText val=&quot;0&quot;/&gt;&lt;Image&gt;&lt;filename val=&quot;C:\Users\sanmi\Documents\My Adobe Presentations\ece552-VirtualMemory\data\asimages\{881E8A40-1399-4503-93D3-5E5EB67E4A25}_9.png&quot;/&gt;&lt;left val=&quot;29&quot;/&gt;&lt;top val=&quot;89&quot;/&gt;&lt;width val=&quot;678&quot;/&gt;&lt;height val=&quot;370&quot;/&gt;&lt;hasText val=&quot;1&quot;/&gt;&lt;/Image&gt;&lt;/ThreeDShapeInfo&gt;"/>
</p:tagLst>
</file>

<file path=ppt/tags/tag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3&quot;/&gt;&lt;/TableIndex&gt;&lt;/ShapeTextInfo&gt;"/>
  <p:tag name="HTML_SHAPEINFO" val="&lt;ThreeDShapeInfo&gt;&lt;uuid val=&quot;&quot;/&gt;&lt;isInvalidForFieldText val=&quot;0&quot;/&gt;&lt;Image&gt;&lt;filename val=&quot;C:\Users\sanmi\Documents\My Adobe Presentations\ece552-VirtualMemory\data\asimages\{572378FF-57E7-425C-B4A3-D05A48D6E6E4}_9.png&quot;/&gt;&lt;left val=&quot;437&quot;/&gt;&lt;top val=&quot;447&quot;/&gt;&lt;width val=&quot;192&quot;/&gt;&lt;height val=&quot;34&quot;/&gt;&lt;hasText val=&quot;1&quot;/&gt;&lt;/Image&gt;&lt;/ThreeDShapeInfo&gt;"/>
</p:tagLst>
</file>

<file path=ppt/tags/tag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1&quot;/&gt;&lt;/TableIndex&gt;&lt;/ShapeTextInfo&gt;"/>
  <p:tag name="HTML_SHAPEINFO" val="&lt;ThreeDShapeInfo&gt;&lt;uuid val=&quot;&quot;/&gt;&lt;isInvalidForFieldText val=&quot;0&quot;/&gt;&lt;Image&gt;&lt;filename val=&quot;C:\Users\sanmi\Documents\My Adobe Presentations\ece552-VirtualMemory\data\asimages\{A9A17785-FD99-49EE-B0D3-D47576FE32A6}_9.png&quot;/&gt;&lt;left val=&quot;41&quot;/&gt;&lt;top val=&quot;447&quot;/&gt;&lt;width val=&quot;201&quot;/&gt;&lt;height val=&quot;34&quot;/&gt;&lt;hasText val=&quot;1&quot;/&gt;&lt;/Image&gt;&lt;/ThreeDShapeInfo&gt;"/>
</p:tagLst>
</file>

<file path=ppt/tags/tag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3&quot;/&gt;&lt;/TableIndex&gt;&lt;/ShapeTextInfo&gt;"/>
  <p:tag name="HTML_SHAPEINFO" val="&lt;ThreeDShapeInfo&gt;&lt;uuid val=&quot;&quot;/&gt;&lt;isInvalidForFieldText val=&quot;0&quot;/&gt;&lt;Image&gt;&lt;filename val=&quot;C:\Users\sanmi\Documents\My Adobe Presentations\ece552-VirtualMemory\data\asimages\{665EE81D-A2C3-4DB9-BA9B-AC8A1F504FDF}_9.png&quot;/&gt;&lt;left val=&quot;245&quot;/&gt;&lt;top val=&quot;447&quot;/&gt;&lt;width val=&quot;192&quot;/&gt;&lt;height val=&quot;34&quot;/&gt;&lt;hasText val=&quot;1&quot;/&gt;&lt;/Image&gt;&lt;/ThreeDShapeInfo&gt;"/>
</p:tagLst>
</file>

<file path=ppt/tags/tag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3&quot;/&gt;&lt;/TableIndex&gt;&lt;/ShapeTextInfo&gt;"/>
  <p:tag name="HTML_SHAPEINFO" val="&lt;ThreeDShapeInfo&gt;&lt;uuid val=&quot;&quot;/&gt;&lt;isInvalidForFieldText val=&quot;0&quot;/&gt;&lt;Image&gt;&lt;filename val=&quot;C:\Users\sanmi\Documents\My Adobe Presentations\ece552-VirtualMemory\data\asimages\{47859CA5-6E54-4A48-8A4A-0BA0091CDD12}_9.png&quot;/&gt;&lt;left val=&quot;437&quot;/&gt;&lt;top val=&quot;495&quot;/&gt;&lt;width val=&quot;192&quot;/&gt;&lt;height val=&quot;34&quot;/&gt;&lt;hasText val=&quot;1&quot;/&gt;&lt;/Image&gt;&lt;/ThreeDShapeInfo&gt;"/>
</p:tagLst>
</file>

<file path=ppt/tags/tag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2&quot;/&gt;&lt;/TableIndex&gt;&lt;/ShapeTextInfo&gt;"/>
  <p:tag name="HTML_SHAPEINFO" val="&lt;ThreeDShapeInfo&gt;&lt;uuid val=&quot;&quot;/&gt;&lt;isInvalidForFieldText val=&quot;0&quot;/&gt;&lt;Image&gt;&lt;filename val=&quot;C:\Users\sanmi\Documents\My Adobe Presentations\ece552-VirtualMemory\data\asimages\{60B1961B-3256-429B-8C6E-1CE3A53D73B8}_9.png&quot;/&gt;&lt;left val=&quot;41&quot;/&gt;&lt;top val=&quot;495&quot;/&gt;&lt;width val=&quot;201&quot;/&gt;&lt;height val=&quot;34&quot;/&gt;&lt;hasText val=&quot;1&quot;/&gt;&lt;/Image&gt;&lt;/ThreeDShapeInfo&gt;"/>
</p:tagLst>
</file>

<file path=ppt/tags/tag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3&quot;/&gt;&lt;/TableIndex&gt;&lt;/ShapeTextInfo&gt;"/>
  <p:tag name="HTML_SHAPEINFO" val="&lt;ThreeDShapeInfo&gt;&lt;uuid val=&quot;&quot;/&gt;&lt;isInvalidForFieldText val=&quot;0&quot;/&gt;&lt;Image&gt;&lt;filename val=&quot;C:\Users\sanmi\Documents\My Adobe Presentations\ece552-VirtualMemory\data\asimages\{7DDE3763-8C92-49FE-9996-74E9DA7657B9}_9.png&quot;/&gt;&lt;left val=&quot;293&quot;/&gt;&lt;top val=&quot;495&quot;/&gt;&lt;width val=&quot;144&quot;/&gt;&lt;height val=&quot;34&quot;/&gt;&lt;hasText val=&quot;1&quot;/&gt;&lt;/Image&gt;&lt;/ThreeDShapeInfo&gt;"/>
</p:tagLst>
</file>

<file path=ppt/tags/tag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ShapeTextInfo&gt;"/>
  <p:tag name="HTML_SHAPEINFO" val="&lt;ThreeDShapeInfo&gt;&lt;uuid val=&quot;&quot;/&gt;&lt;isInvalidForFieldText val=&quot;0&quot;/&gt;&lt;Image&gt;&lt;filename val=&quot;C:\Users\sanmi\Documents\My Adobe Presentations\ece552-VirtualMemory\data\asimages\{FD859536-B880-4ADF-A406-878AEAF3C16F}_9.png&quot;/&gt;&lt;left val=&quot;296&quot;/&gt;&lt;top val=&quot;467&quot;/&gt;&lt;width val=&quot;78&quot;/&gt;&lt;height val=&quot;34&quot;/&gt;&lt;hasText val=&quot;1&quot;/&gt;&lt;/Image&gt;&lt;/ThreeDShapeInfo&gt;"/>
</p:tagLst>
</file>

<file path=ppt/tags/tag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HTML_SHAPEINFO" val="&lt;ThreeDShapeInfo&gt;&lt;uuid val=&quot;&quot;/&gt;&lt;isInvalidForFieldText val=&quot;0&quot;/&gt;&lt;Image&gt;&lt;filename val=&quot;C:\Users\sanmi\Documents\My Adobe Presentations\ece552-VirtualMemory\data\asimages\{7D866CC8-9651-455A-B01C-9456939AF556}_9.png&quot;/&gt;&lt;left val=&quot;537&quot;/&gt;&lt;top val=&quot;467&quot;/&gt;&lt;width val=&quot;97&quot;/&gt;&lt;height val=&quot;34&quot;/&gt;&lt;hasText val=&quot;1&quot;/&gt;&lt;/Image&gt;&lt;/ThreeDShapeInfo&gt;"/>
</p:tagLst>
</file>

<file path=ppt/tags/tag34.xml><?xml version="1.0" encoding="utf-8"?>
<p:tagLst xmlns:a="http://schemas.openxmlformats.org/drawingml/2006/main" xmlns:r="http://schemas.openxmlformats.org/officeDocument/2006/relationships" xmlns:p="http://schemas.openxmlformats.org/presentationml/2006/main">
  <p:tag name="HTML_SHAPEINFO" val="&lt;SlideThumbPath val=&quot;Slide9.PNG&quot;/&gt;"/>
  <p:tag name="PPSNARRATION" val="9,564884097,C:\Users\sanmi\GoogleDrive\UWMdrive\Courses\ECE552\ece552-lec14_MemoryECCIO_pptx\Media.ppcx"/>
</p:tagLst>
</file>

<file path=ppt/tags/tag3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E6EC4EA0-4CFF-49F3-B67B-F056540BF816}_9.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3&quot;/&gt;&lt;/TableIndex&gt;&lt;/ShapeTextInfo&gt;"/>
</p:tagLst>
</file>

<file path=ppt/tags/tag3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47B3FF41-A452-4DF9-93AE-C75D35664F10}_9.png&quot;/&gt;&lt;left val=&quot;27&quot;/&gt;&lt;top val=&quot;114&quot;/&gt;&lt;width val=&quot;662&quot;/&gt;&lt;height val=&quot;368&quot;/&gt;&lt;hasText val=&quot;1&quot;/&gt;&lt;/Image&gt;&lt;/ThreeDShapeInfo&gt;"/>
  <p:tag name="PRESENTER_SHAPETEXTINFO" val="&lt;ShapeTextInfo&gt;&lt;TableIndex row=&quot;-1&quot; col=&quot;-1&quot;&gt;&lt;linesCount val=&quot;9&quot;/&gt;&lt;lineCharCount val=&quot;41&quot;/&gt;&lt;lineCharCount val=&quot;44&quot;/&gt;&lt;lineCharCount val=&quot;41&quot;/&gt;&lt;lineCharCount val=&quot;31&quot;/&gt;&lt;lineCharCount val=&quot;24&quot;/&gt;&lt;lineCharCount val=&quot;5&quot;/&gt;&lt;lineCharCount val=&quot;41&quot;/&gt;&lt;lineCharCount val=&quot;53&quot;/&gt;&lt;lineCharCount val=&quot;22&quot;/&gt;&lt;/TableIndex&gt;&lt;/ShapeTextInfo&gt;"/>
</p:tagLst>
</file>

<file path=ppt/tags/tag3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0B40356F-434F-4E16-8172-3344824B249A}_9.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1&quot;/&gt;&lt;/TableIndex&gt;&lt;/ShapeTextInfo&gt;"/>
</p:tagLst>
</file>

<file path=ppt/tags/tag38.xml><?xml version="1.0" encoding="utf-8"?>
<p:tagLst xmlns:a="http://schemas.openxmlformats.org/drawingml/2006/main" xmlns:r="http://schemas.openxmlformats.org/officeDocument/2006/relationships" xmlns:p="http://schemas.openxmlformats.org/presentationml/2006/main">
  <p:tag name="HTML_SHAPEINFO" val="&lt;SlideThumbPath val=&quot;Slide9.PNG&quot;/&gt;"/>
  <p:tag name="PPSNARRATION" val="9,564884097,C:\Users\sanmi\GoogleDrive\UWMdrive\Courses\ECE552\ece552-lec14_MemoryECCIO_pptx\Media.ppcx"/>
</p:tagLst>
</file>

<file path=ppt/tags/tag3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E6EC4EA0-4CFF-49F3-B67B-F056540BF816}_9.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3&quot;/&gt;&lt;/TableIndex&gt;&lt;/ShapeTextInfo&gt;"/>
</p:tagLst>
</file>

<file path=ppt/tags/tag4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MemoryECCIO\data\asimages\{0B40356F-434F-4E16-8172-3344824B249A}_9.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1&quot;/&gt;&lt;/TableIndex&gt;&lt;/ShapeTextInfo&gt;"/>
</p:tagLst>
</file>

<file path=ppt/theme/theme1.xml><?xml version="1.0" encoding="utf-8"?>
<a:theme xmlns:a="http://schemas.openxmlformats.org/drawingml/2006/main" name="Lecture Notes 55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Lecture Notes 552</Template>
  <TotalTime>48</TotalTime>
  <Words>710</Words>
  <Application>Microsoft Macintosh PowerPoint</Application>
  <PresentationFormat>On-screen Show (4:3)</PresentationFormat>
  <Paragraphs>247</Paragraphs>
  <Slides>14</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Times New Roman</vt:lpstr>
      <vt:lpstr>Wingdings</vt:lpstr>
      <vt:lpstr>Lecture Notes 552</vt:lpstr>
      <vt:lpstr>ECE/CS 552: Memory, ECC and I/O</vt:lpstr>
      <vt:lpstr>Address Translation</vt:lpstr>
      <vt:lpstr>Physical (PIPT) Cache</vt:lpstr>
      <vt:lpstr>Virt-Indexed Phys-Tagged (VIPT) Cache</vt:lpstr>
      <vt:lpstr>VIPT Cache</vt:lpstr>
      <vt:lpstr>VIPT Cache – Synonyms</vt:lpstr>
      <vt:lpstr>VIPT Cache – Synonyms</vt:lpstr>
      <vt:lpstr>VIPT Cache – Synonyms</vt:lpstr>
      <vt:lpstr>VIPT Cache – Synonyms</vt:lpstr>
      <vt:lpstr>VIPT Cache – Synonyms</vt:lpstr>
      <vt:lpstr>VIPT Cache – Synonyms</vt:lpstr>
      <vt:lpstr>VIPT Cache – Synonyms</vt:lpstr>
      <vt:lpstr>Error Correction Codes</vt:lpstr>
      <vt:lpstr>Exercise – ECC</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ECE/CS 552: Memory, ECC and IO</dc:title>
  <dc:creator/>
  <cp:lastModifiedBy>Boone Severson</cp:lastModifiedBy>
  <cp:revision>713</cp:revision>
  <cp:lastPrinted>1601-01-01T00:00:00Z</cp:lastPrinted>
  <dcterms:created xsi:type="dcterms:W3CDTF">1601-01-01T00:00:00Z</dcterms:created>
  <dcterms:modified xsi:type="dcterms:W3CDTF">2024-11-05T13:20:46Z</dcterms:modified>
</cp:coreProperties>
</file>