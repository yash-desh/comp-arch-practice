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3.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4.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5.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6.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7.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8.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9.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0.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11.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2.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13.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14.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15.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6.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17.xml" ContentType="application/vnd.openxmlformats-officedocument.presentationml.notesSlide+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18.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19.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20.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21.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notesSlides/notesSlide22.xml" ContentType="application/vnd.openxmlformats-officedocument.presentationml.notesSlide+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23.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24.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25.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notesSlides/notesSlide26.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notesSlides/notesSlide27.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28.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notesSlides/notesSlide29.xml" ContentType="application/vnd.openxmlformats-officedocument.presentationml.notesSlide+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notesSlides/notesSlide30.xml" ContentType="application/vnd.openxmlformats-officedocument.presentationml.notesSlide+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notesSlides/notesSlide31.xml" ContentType="application/vnd.openxmlformats-officedocument.presentationml.notesSlide+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notesSlides/notesSlide32.xml" ContentType="application/vnd.openxmlformats-officedocument.presentationml.notesSlide+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33.xml" ContentType="application/vnd.openxmlformats-officedocument.presentationml.notesSlide+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34.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notesSlides/notesSlide35.xml" ContentType="application/vnd.openxmlformats-officedocument.presentationml.notesSlide+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notesSlides/notesSlide36.xml" ContentType="application/vnd.openxmlformats-officedocument.presentationml.notesSlide+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39"/>
  </p:notesMasterIdLst>
  <p:handoutMasterIdLst>
    <p:handoutMasterId r:id="rId40"/>
  </p:handoutMasterIdLst>
  <p:sldIdLst>
    <p:sldId id="691" r:id="rId2"/>
    <p:sldId id="771" r:id="rId3"/>
    <p:sldId id="772" r:id="rId4"/>
    <p:sldId id="774" r:id="rId5"/>
    <p:sldId id="790" r:id="rId6"/>
    <p:sldId id="792" r:id="rId7"/>
    <p:sldId id="791" r:id="rId8"/>
    <p:sldId id="775" r:id="rId9"/>
    <p:sldId id="533" r:id="rId10"/>
    <p:sldId id="777" r:id="rId11"/>
    <p:sldId id="700" r:id="rId12"/>
    <p:sldId id="707" r:id="rId13"/>
    <p:sldId id="705" r:id="rId14"/>
    <p:sldId id="723" r:id="rId15"/>
    <p:sldId id="713" r:id="rId16"/>
    <p:sldId id="710" r:id="rId17"/>
    <p:sldId id="717" r:id="rId18"/>
    <p:sldId id="727" r:id="rId19"/>
    <p:sldId id="716" r:id="rId20"/>
    <p:sldId id="728" r:id="rId21"/>
    <p:sldId id="729" r:id="rId22"/>
    <p:sldId id="733" r:id="rId23"/>
    <p:sldId id="770" r:id="rId24"/>
    <p:sldId id="778" r:id="rId25"/>
    <p:sldId id="795" r:id="rId26"/>
    <p:sldId id="794" r:id="rId27"/>
    <p:sldId id="797" r:id="rId28"/>
    <p:sldId id="798" r:id="rId29"/>
    <p:sldId id="779" r:id="rId30"/>
    <p:sldId id="780" r:id="rId31"/>
    <p:sldId id="782" r:id="rId32"/>
    <p:sldId id="787" r:id="rId33"/>
    <p:sldId id="784" r:id="rId34"/>
    <p:sldId id="785" r:id="rId35"/>
    <p:sldId id="788" r:id="rId36"/>
    <p:sldId id="789" r:id="rId37"/>
    <p:sldId id="799" r:id="rId38"/>
  </p:sldIdLst>
  <p:sldSz cx="9144000" cy="6858000" type="screen4x3"/>
  <p:notesSz cx="6845300" cy="9396413"/>
  <p:custDataLst>
    <p:tags r:id="rId41"/>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27" autoAdjust="0"/>
    <p:restoredTop sz="68312" autoAdjust="0"/>
  </p:normalViewPr>
  <p:slideViewPr>
    <p:cSldViewPr>
      <p:cViewPr varScale="1">
        <p:scale>
          <a:sx n="169" d="100"/>
          <a:sy n="169" d="100"/>
        </p:scale>
        <p:origin x="2176" y="18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55" d="100"/>
        <a:sy n="155" d="100"/>
      </p:scale>
      <p:origin x="0" y="0"/>
    </p:cViewPr>
  </p:notesTextViewPr>
  <p:sorterViewPr>
    <p:cViewPr>
      <p:scale>
        <a:sx n="66" d="100"/>
        <a:sy n="66" d="100"/>
      </p:scale>
      <p:origin x="0" y="3054"/>
    </p:cViewPr>
  </p:sorterViewPr>
  <p:notesViewPr>
    <p:cSldViewPr>
      <p:cViewPr varScale="1">
        <p:scale>
          <a:sx n="81" d="100"/>
          <a:sy n="81" d="100"/>
        </p:scale>
        <p:origin x="-2328" y="-90"/>
      </p:cViewPr>
      <p:guideLst>
        <p:guide orient="horz" pos="2960"/>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_rels/viewProps.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2276C1E-4FDE-43D2-9799-A07A53C3DC3B}"/>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198D110D-63B2-4696-B01C-156722BF94E4}"/>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0D856F07-2516-457F-97C0-0DC1843CE084}"/>
              </a:ext>
            </a:extLst>
          </p:cNvPr>
          <p:cNvSpPr>
            <a:spLocks noGrp="1" noChangeArrowheads="1"/>
          </p:cNvSpPr>
          <p:nvPr>
            <p:ph type="ftr" sz="quarter" idx="2"/>
          </p:nvPr>
        </p:nvSpPr>
        <p:spPr bwMode="auto">
          <a:xfrm>
            <a:off x="0" y="8926513"/>
            <a:ext cx="349408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B038ACCB-CC89-4E49-93F0-03A220C37DB3}"/>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1F6CA107-D573-4384-9CB2-87026C6B6FA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980A15F-1736-4C9F-9470-D250CF861DCE}"/>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63520581-3E74-4F22-A191-4826283F1A01}"/>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33796" name="Rectangle 4">
            <a:extLst>
              <a:ext uri="{FF2B5EF4-FFF2-40B4-BE49-F238E27FC236}">
                <a16:creationId xmlns:a16="http://schemas.microsoft.com/office/drawing/2014/main" id="{5926668D-C721-45FB-A9B3-B43D9DE16F5C}"/>
              </a:ext>
            </a:extLst>
          </p:cNvPr>
          <p:cNvSpPr>
            <a:spLocks noGrp="1" noRot="1" noChangeAspect="1" noChangeArrowheads="1" noTextEdit="1"/>
          </p:cNvSpPr>
          <p:nvPr>
            <p:ph type="sldImg" idx="2"/>
          </p:nvPr>
        </p:nvSpPr>
        <p:spPr bwMode="auto">
          <a:xfrm>
            <a:off x="1073150" y="704850"/>
            <a:ext cx="4699000"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643A2D62-DD4D-4FA1-B876-C702E9295EF9}"/>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7460CE2E-4CE6-4A94-B542-B4D191427B7F}"/>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B322B5FA-4DD7-4B6F-89C6-FE4DA19403D9}"/>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5E59F150-E825-430A-804D-8C97FFE5B06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a:t>
            </a:fld>
            <a:endParaRPr lang="en-US" altLang="en-US"/>
          </a:p>
        </p:txBody>
      </p:sp>
    </p:spTree>
    <p:extLst>
      <p:ext uri="{BB962C8B-B14F-4D97-AF65-F5344CB8AC3E}">
        <p14:creationId xmlns:p14="http://schemas.microsoft.com/office/powerpoint/2010/main" val="2687584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a:t>
            </a:fld>
            <a:endParaRPr lang="en-US" altLang="en-US"/>
          </a:p>
        </p:txBody>
      </p:sp>
    </p:spTree>
    <p:extLst>
      <p:ext uri="{BB962C8B-B14F-4D97-AF65-F5344CB8AC3E}">
        <p14:creationId xmlns:p14="http://schemas.microsoft.com/office/powerpoint/2010/main" val="1464844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a:t>
            </a:fld>
            <a:endParaRPr lang="en-US" altLang="en-US"/>
          </a:p>
        </p:txBody>
      </p:sp>
    </p:spTree>
    <p:extLst>
      <p:ext uri="{BB962C8B-B14F-4D97-AF65-F5344CB8AC3E}">
        <p14:creationId xmlns:p14="http://schemas.microsoft.com/office/powerpoint/2010/main" val="2704396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4</a:t>
            </a:fld>
            <a:endParaRPr lang="en-US" altLang="en-US"/>
          </a:p>
        </p:txBody>
      </p:sp>
    </p:spTree>
    <p:extLst>
      <p:ext uri="{BB962C8B-B14F-4D97-AF65-F5344CB8AC3E}">
        <p14:creationId xmlns:p14="http://schemas.microsoft.com/office/powerpoint/2010/main" val="2854477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5</a:t>
            </a:fld>
            <a:endParaRPr lang="en-US" altLang="en-US"/>
          </a:p>
        </p:txBody>
      </p:sp>
    </p:spTree>
    <p:extLst>
      <p:ext uri="{BB962C8B-B14F-4D97-AF65-F5344CB8AC3E}">
        <p14:creationId xmlns:p14="http://schemas.microsoft.com/office/powerpoint/2010/main" val="3848305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6</a:t>
            </a:fld>
            <a:endParaRPr lang="en-US" altLang="en-US"/>
          </a:p>
        </p:txBody>
      </p:sp>
    </p:spTree>
    <p:extLst>
      <p:ext uri="{BB962C8B-B14F-4D97-AF65-F5344CB8AC3E}">
        <p14:creationId xmlns:p14="http://schemas.microsoft.com/office/powerpoint/2010/main" val="758716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7</a:t>
            </a:fld>
            <a:endParaRPr lang="en-US" altLang="en-US"/>
          </a:p>
        </p:txBody>
      </p:sp>
    </p:spTree>
    <p:extLst>
      <p:ext uri="{BB962C8B-B14F-4D97-AF65-F5344CB8AC3E}">
        <p14:creationId xmlns:p14="http://schemas.microsoft.com/office/powerpoint/2010/main" val="308656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8</a:t>
            </a:fld>
            <a:endParaRPr lang="en-US" altLang="en-US"/>
          </a:p>
        </p:txBody>
      </p:sp>
    </p:spTree>
    <p:extLst>
      <p:ext uri="{BB962C8B-B14F-4D97-AF65-F5344CB8AC3E}">
        <p14:creationId xmlns:p14="http://schemas.microsoft.com/office/powerpoint/2010/main" val="3847945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9</a:t>
            </a:fld>
            <a:endParaRPr lang="en-US" altLang="en-US"/>
          </a:p>
        </p:txBody>
      </p:sp>
    </p:spTree>
    <p:extLst>
      <p:ext uri="{BB962C8B-B14F-4D97-AF65-F5344CB8AC3E}">
        <p14:creationId xmlns:p14="http://schemas.microsoft.com/office/powerpoint/2010/main" val="3679476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10</a:t>
            </a:fld>
            <a:endParaRPr lang="en-US" altLang="en-US"/>
          </a:p>
        </p:txBody>
      </p:sp>
    </p:spTree>
    <p:extLst>
      <p:ext uri="{BB962C8B-B14F-4D97-AF65-F5344CB8AC3E}">
        <p14:creationId xmlns:p14="http://schemas.microsoft.com/office/powerpoint/2010/main" val="3562198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11</a:t>
            </a:fld>
            <a:endParaRPr lang="en-US" altLang="en-US"/>
          </a:p>
        </p:txBody>
      </p:sp>
    </p:spTree>
    <p:extLst>
      <p:ext uri="{BB962C8B-B14F-4D97-AF65-F5344CB8AC3E}">
        <p14:creationId xmlns:p14="http://schemas.microsoft.com/office/powerpoint/2010/main" val="307617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12</a:t>
            </a:fld>
            <a:endParaRPr lang="en-US" altLang="en-US"/>
          </a:p>
        </p:txBody>
      </p:sp>
    </p:spTree>
    <p:extLst>
      <p:ext uri="{BB962C8B-B14F-4D97-AF65-F5344CB8AC3E}">
        <p14:creationId xmlns:p14="http://schemas.microsoft.com/office/powerpoint/2010/main" val="1926304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13</a:t>
            </a:fld>
            <a:endParaRPr lang="en-US" altLang="en-US"/>
          </a:p>
        </p:txBody>
      </p:sp>
    </p:spTree>
    <p:extLst>
      <p:ext uri="{BB962C8B-B14F-4D97-AF65-F5344CB8AC3E}">
        <p14:creationId xmlns:p14="http://schemas.microsoft.com/office/powerpoint/2010/main" val="1240017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14</a:t>
            </a:fld>
            <a:endParaRPr lang="en-US" altLang="en-US"/>
          </a:p>
        </p:txBody>
      </p:sp>
    </p:spTree>
    <p:extLst>
      <p:ext uri="{BB962C8B-B14F-4D97-AF65-F5344CB8AC3E}">
        <p14:creationId xmlns:p14="http://schemas.microsoft.com/office/powerpoint/2010/main" val="1788728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15</a:t>
            </a:fld>
            <a:endParaRPr lang="en-US" altLang="en-US"/>
          </a:p>
        </p:txBody>
      </p:sp>
    </p:spTree>
    <p:extLst>
      <p:ext uri="{BB962C8B-B14F-4D97-AF65-F5344CB8AC3E}">
        <p14:creationId xmlns:p14="http://schemas.microsoft.com/office/powerpoint/2010/main" val="1926537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16</a:t>
            </a:fld>
            <a:endParaRPr lang="en-US" altLang="en-US"/>
          </a:p>
        </p:txBody>
      </p:sp>
    </p:spTree>
    <p:extLst>
      <p:ext uri="{BB962C8B-B14F-4D97-AF65-F5344CB8AC3E}">
        <p14:creationId xmlns:p14="http://schemas.microsoft.com/office/powerpoint/2010/main" val="1693843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17</a:t>
            </a:fld>
            <a:endParaRPr lang="en-US" altLang="en-US"/>
          </a:p>
        </p:txBody>
      </p:sp>
    </p:spTree>
    <p:extLst>
      <p:ext uri="{BB962C8B-B14F-4D97-AF65-F5344CB8AC3E}">
        <p14:creationId xmlns:p14="http://schemas.microsoft.com/office/powerpoint/2010/main" val="112747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18</a:t>
            </a:fld>
            <a:endParaRPr lang="en-US" altLang="en-US"/>
          </a:p>
        </p:txBody>
      </p:sp>
    </p:spTree>
    <p:extLst>
      <p:ext uri="{BB962C8B-B14F-4D97-AF65-F5344CB8AC3E}">
        <p14:creationId xmlns:p14="http://schemas.microsoft.com/office/powerpoint/2010/main" val="2251913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19</a:t>
            </a:fld>
            <a:endParaRPr lang="en-US" altLang="en-US"/>
          </a:p>
        </p:txBody>
      </p:sp>
    </p:spTree>
    <p:extLst>
      <p:ext uri="{BB962C8B-B14F-4D97-AF65-F5344CB8AC3E}">
        <p14:creationId xmlns:p14="http://schemas.microsoft.com/office/powerpoint/2010/main" val="479409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20</a:t>
            </a:fld>
            <a:endParaRPr lang="en-US" altLang="en-US"/>
          </a:p>
        </p:txBody>
      </p:sp>
    </p:spTree>
    <p:extLst>
      <p:ext uri="{BB962C8B-B14F-4D97-AF65-F5344CB8AC3E}">
        <p14:creationId xmlns:p14="http://schemas.microsoft.com/office/powerpoint/2010/main" val="3839475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21</a:t>
            </a:fld>
            <a:endParaRPr lang="en-US" altLang="en-US"/>
          </a:p>
        </p:txBody>
      </p:sp>
    </p:spTree>
    <p:extLst>
      <p:ext uri="{BB962C8B-B14F-4D97-AF65-F5344CB8AC3E}">
        <p14:creationId xmlns:p14="http://schemas.microsoft.com/office/powerpoint/2010/main" val="2422713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22</a:t>
            </a:fld>
            <a:endParaRPr lang="en-US" altLang="en-US"/>
          </a:p>
        </p:txBody>
      </p:sp>
    </p:spTree>
    <p:extLst>
      <p:ext uri="{BB962C8B-B14F-4D97-AF65-F5344CB8AC3E}">
        <p14:creationId xmlns:p14="http://schemas.microsoft.com/office/powerpoint/2010/main" val="3859916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23</a:t>
            </a:fld>
            <a:endParaRPr lang="en-US" altLang="en-US"/>
          </a:p>
        </p:txBody>
      </p:sp>
    </p:spTree>
    <p:extLst>
      <p:ext uri="{BB962C8B-B14F-4D97-AF65-F5344CB8AC3E}">
        <p14:creationId xmlns:p14="http://schemas.microsoft.com/office/powerpoint/2010/main" val="17969819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24</a:t>
            </a:fld>
            <a:endParaRPr lang="en-US" altLang="en-US"/>
          </a:p>
        </p:txBody>
      </p:sp>
    </p:spTree>
    <p:extLst>
      <p:ext uri="{BB962C8B-B14F-4D97-AF65-F5344CB8AC3E}">
        <p14:creationId xmlns:p14="http://schemas.microsoft.com/office/powerpoint/2010/main" val="31034159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25</a:t>
            </a:fld>
            <a:endParaRPr lang="en-US" altLang="en-US"/>
          </a:p>
        </p:txBody>
      </p:sp>
    </p:spTree>
    <p:extLst>
      <p:ext uri="{BB962C8B-B14F-4D97-AF65-F5344CB8AC3E}">
        <p14:creationId xmlns:p14="http://schemas.microsoft.com/office/powerpoint/2010/main" val="304255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26</a:t>
            </a:fld>
            <a:endParaRPr lang="en-US" altLang="en-US"/>
          </a:p>
        </p:txBody>
      </p:sp>
    </p:spTree>
    <p:extLst>
      <p:ext uri="{BB962C8B-B14F-4D97-AF65-F5344CB8AC3E}">
        <p14:creationId xmlns:p14="http://schemas.microsoft.com/office/powerpoint/2010/main" val="25549388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27</a:t>
            </a:fld>
            <a:endParaRPr lang="en-US" altLang="en-US"/>
          </a:p>
        </p:txBody>
      </p:sp>
    </p:spTree>
    <p:extLst>
      <p:ext uri="{BB962C8B-B14F-4D97-AF65-F5344CB8AC3E}">
        <p14:creationId xmlns:p14="http://schemas.microsoft.com/office/powerpoint/2010/main" val="27475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28</a:t>
            </a:fld>
            <a:endParaRPr lang="en-US" altLang="en-US"/>
          </a:p>
        </p:txBody>
      </p:sp>
    </p:spTree>
    <p:extLst>
      <p:ext uri="{BB962C8B-B14F-4D97-AF65-F5344CB8AC3E}">
        <p14:creationId xmlns:p14="http://schemas.microsoft.com/office/powerpoint/2010/main" val="39667131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29</a:t>
            </a:fld>
            <a:endParaRPr lang="en-US" altLang="en-US"/>
          </a:p>
        </p:txBody>
      </p:sp>
    </p:spTree>
    <p:extLst>
      <p:ext uri="{BB962C8B-B14F-4D97-AF65-F5344CB8AC3E}">
        <p14:creationId xmlns:p14="http://schemas.microsoft.com/office/powerpoint/2010/main" val="3926728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30</a:t>
            </a:fld>
            <a:endParaRPr lang="en-US" altLang="en-US"/>
          </a:p>
        </p:txBody>
      </p:sp>
    </p:spTree>
    <p:extLst>
      <p:ext uri="{BB962C8B-B14F-4D97-AF65-F5344CB8AC3E}">
        <p14:creationId xmlns:p14="http://schemas.microsoft.com/office/powerpoint/2010/main" val="28894064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31</a:t>
            </a:fld>
            <a:endParaRPr lang="en-US" altLang="en-US"/>
          </a:p>
        </p:txBody>
      </p:sp>
    </p:spTree>
    <p:extLst>
      <p:ext uri="{BB962C8B-B14F-4D97-AF65-F5344CB8AC3E}">
        <p14:creationId xmlns:p14="http://schemas.microsoft.com/office/powerpoint/2010/main" val="27681739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32</a:t>
            </a:fld>
            <a:endParaRPr lang="en-US" altLang="en-US"/>
          </a:p>
        </p:txBody>
      </p:sp>
    </p:spTree>
    <p:extLst>
      <p:ext uri="{BB962C8B-B14F-4D97-AF65-F5344CB8AC3E}">
        <p14:creationId xmlns:p14="http://schemas.microsoft.com/office/powerpoint/2010/main" val="370756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33</a:t>
            </a:fld>
            <a:endParaRPr lang="en-US" altLang="en-US"/>
          </a:p>
        </p:txBody>
      </p:sp>
    </p:spTree>
    <p:extLst>
      <p:ext uri="{BB962C8B-B14F-4D97-AF65-F5344CB8AC3E}">
        <p14:creationId xmlns:p14="http://schemas.microsoft.com/office/powerpoint/2010/main" val="1475831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34</a:t>
            </a:fld>
            <a:endParaRPr lang="en-US" altLang="en-US"/>
          </a:p>
        </p:txBody>
      </p:sp>
    </p:spTree>
    <p:extLst>
      <p:ext uri="{BB962C8B-B14F-4D97-AF65-F5344CB8AC3E}">
        <p14:creationId xmlns:p14="http://schemas.microsoft.com/office/powerpoint/2010/main" val="3576849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35</a:t>
            </a:fld>
            <a:endParaRPr lang="en-US" altLang="en-US"/>
          </a:p>
        </p:txBody>
      </p:sp>
    </p:spTree>
    <p:extLst>
      <p:ext uri="{BB962C8B-B14F-4D97-AF65-F5344CB8AC3E}">
        <p14:creationId xmlns:p14="http://schemas.microsoft.com/office/powerpoint/2010/main" val="4244039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36</a:t>
            </a:fld>
            <a:endParaRPr lang="en-US" altLang="en-US"/>
          </a:p>
        </p:txBody>
      </p:sp>
    </p:spTree>
    <p:extLst>
      <p:ext uri="{BB962C8B-B14F-4D97-AF65-F5344CB8AC3E}">
        <p14:creationId xmlns:p14="http://schemas.microsoft.com/office/powerpoint/2010/main" val="468131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37</a:t>
            </a:fld>
            <a:endParaRPr lang="en-US" altLang="en-US"/>
          </a:p>
        </p:txBody>
      </p:sp>
    </p:spTree>
    <p:extLst>
      <p:ext uri="{BB962C8B-B14F-4D97-AF65-F5344CB8AC3E}">
        <p14:creationId xmlns:p14="http://schemas.microsoft.com/office/powerpoint/2010/main" val="38438400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8B47AD39-DF33-4590-93F3-C0C2C2E34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C512D95-87F5-43FE-AF81-8FE3500BB8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91760920-F560-426D-81D9-9EF5716DB8BC}"/>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DBE78E5F-1F7C-4A1E-8FA7-E613761D287C}"/>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ADCCE014-1DDF-4F7B-A8AE-66C41AFE8FD7}"/>
              </a:ext>
            </a:extLst>
          </p:cNvPr>
          <p:cNvSpPr>
            <a:spLocks noGrp="1"/>
          </p:cNvSpPr>
          <p:nvPr>
            <p:ph type="sldNum" sz="quarter" idx="12"/>
            <p:custDataLst>
              <p:tags r:id="rId5"/>
            </p:custDataLst>
          </p:nvPr>
        </p:nvSpPr>
        <p:spPr/>
        <p:txBody>
          <a:bodyPr/>
          <a:lstStyle>
            <a:lvl2pPr lvl="1">
              <a:defRPr/>
            </a:lvl2pPr>
          </a:lstStyle>
          <a:p>
            <a:pPr lvl="1"/>
            <a:fld id="{500D8959-8FD2-4E6C-AD97-F8EF0533F393}" type="slidenum">
              <a:rPr lang="en-US" altLang="en-US"/>
              <a:pPr lvl="1"/>
              <a:t>‹#›</a:t>
            </a:fld>
            <a:endParaRPr lang="en-US" altLang="en-US"/>
          </a:p>
        </p:txBody>
      </p:sp>
    </p:spTree>
    <p:extLst>
      <p:ext uri="{BB962C8B-B14F-4D97-AF65-F5344CB8AC3E}">
        <p14:creationId xmlns:p14="http://schemas.microsoft.com/office/powerpoint/2010/main" val="206298110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456401B0-5A37-4247-A8F4-FFCBF0C9F034}"/>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25C8F602-308C-44B3-BA60-06AD48EA8861}"/>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87F653D3-6551-453B-8834-6C97BEF27931}"/>
              </a:ext>
            </a:extLst>
          </p:cNvPr>
          <p:cNvSpPr>
            <a:spLocks noGrp="1"/>
          </p:cNvSpPr>
          <p:nvPr>
            <p:ph type="sldNum" sz="quarter" idx="12"/>
            <p:custDataLst>
              <p:tags r:id="rId5"/>
            </p:custDataLst>
          </p:nvPr>
        </p:nvSpPr>
        <p:spPr/>
        <p:txBody>
          <a:bodyPr/>
          <a:lstStyle>
            <a:lvl2pPr lvl="1">
              <a:defRPr sz="1400"/>
            </a:lvl2pPr>
          </a:lstStyle>
          <a:p>
            <a:pPr lvl="1"/>
            <a:fld id="{0EDCD18F-876B-4EBD-A2CE-B68E83602C93}" type="slidenum">
              <a:rPr lang="en-US" altLang="en-US"/>
              <a:pPr lvl="1"/>
              <a:t>‹#›</a:t>
            </a:fld>
            <a:endParaRPr lang="en-US" altLang="en-US"/>
          </a:p>
        </p:txBody>
      </p:sp>
    </p:spTree>
    <p:extLst>
      <p:ext uri="{BB962C8B-B14F-4D97-AF65-F5344CB8AC3E}">
        <p14:creationId xmlns:p14="http://schemas.microsoft.com/office/powerpoint/2010/main" val="225721721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52746-D4E7-4B85-995E-F0825B17D26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4D6E2A7F-7C07-4F10-B2AC-936389135AB8}"/>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4">
            <a:extLst>
              <a:ext uri="{FF2B5EF4-FFF2-40B4-BE49-F238E27FC236}">
                <a16:creationId xmlns:a16="http://schemas.microsoft.com/office/drawing/2014/main" id="{5E4713AC-A3C9-4A09-8462-D68F64C0A263}"/>
              </a:ext>
            </a:extLst>
          </p:cNvPr>
          <p:cNvSpPr>
            <a:spLocks noGrp="1"/>
          </p:cNvSpPr>
          <p:nvPr>
            <p:ph type="sldNum" sz="quarter" idx="12"/>
          </p:nvPr>
        </p:nvSpPr>
        <p:spPr/>
        <p:txBody>
          <a:bodyPr/>
          <a:lstStyle>
            <a:lvl2pPr lvl="1">
              <a:defRPr/>
            </a:lvl2pPr>
          </a:lstStyle>
          <a:p>
            <a:pPr lvl="1"/>
            <a:fld id="{9C6BE582-286B-4647-89E9-2DDCDD1490BE}" type="slidenum">
              <a:rPr lang="en-US" altLang="en-US"/>
              <a:pPr lvl="1"/>
              <a:t>‹#›</a:t>
            </a:fld>
            <a:endParaRPr lang="en-US" altLang="en-US"/>
          </a:p>
        </p:txBody>
      </p:sp>
    </p:spTree>
    <p:extLst>
      <p:ext uri="{BB962C8B-B14F-4D97-AF65-F5344CB8AC3E}">
        <p14:creationId xmlns:p14="http://schemas.microsoft.com/office/powerpoint/2010/main" val="286498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4CBDC2BD-6B7E-49E9-911D-8DCE5447EA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C3C25FE-B17A-4800-8A72-379B83CDBD99}"/>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DF943460-5DA2-4F2B-B27F-A9ECA55D6FC9}"/>
              </a:ext>
            </a:extLst>
          </p:cNvPr>
          <p:cNvSpPr>
            <a:spLocks noGrp="1"/>
          </p:cNvSpPr>
          <p:nvPr>
            <p:ph type="sldNum" sz="quarter" idx="12"/>
          </p:nvPr>
        </p:nvSpPr>
        <p:spPr/>
        <p:txBody>
          <a:bodyPr/>
          <a:lstStyle>
            <a:lvl2pPr lvl="1">
              <a:defRPr/>
            </a:lvl2pPr>
          </a:lstStyle>
          <a:p>
            <a:pPr lvl="1"/>
            <a:fld id="{AD2CFC07-BDFD-4FD8-AEEA-8EE2BD6FEC33}" type="slidenum">
              <a:rPr lang="en-US" altLang="en-US"/>
              <a:pPr lvl="1"/>
              <a:t>‹#›</a:t>
            </a:fld>
            <a:endParaRPr lang="en-US" altLang="en-US"/>
          </a:p>
        </p:txBody>
      </p:sp>
    </p:spTree>
    <p:extLst>
      <p:ext uri="{BB962C8B-B14F-4D97-AF65-F5344CB8AC3E}">
        <p14:creationId xmlns:p14="http://schemas.microsoft.com/office/powerpoint/2010/main" val="3963381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D575308-EE3D-4847-8341-B6C58E1E2B62}"/>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40C50C7-848D-47BD-8D6E-9F9D18F0B314}"/>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721BE35-EB61-4664-942E-96195D317313}"/>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7978FCF2-5CF4-41D3-AD73-B668EEE2C8E4}"/>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E11436A6-847A-4529-A438-88DC94F54956}"/>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DE04778B-3B40-420D-B763-68DB33D50843}"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66"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26" Type="http://schemas.openxmlformats.org/officeDocument/2006/relationships/tags" Target="../tags/tag49.xml"/><Relationship Id="rId21" Type="http://schemas.openxmlformats.org/officeDocument/2006/relationships/tags" Target="../tags/tag44.xml"/><Relationship Id="rId42" Type="http://schemas.openxmlformats.org/officeDocument/2006/relationships/tags" Target="../tags/tag65.xml"/><Relationship Id="rId47" Type="http://schemas.openxmlformats.org/officeDocument/2006/relationships/tags" Target="../tags/tag70.xml"/><Relationship Id="rId63" Type="http://schemas.openxmlformats.org/officeDocument/2006/relationships/tags" Target="../tags/tag86.xml"/><Relationship Id="rId68" Type="http://schemas.openxmlformats.org/officeDocument/2006/relationships/tags" Target="../tags/tag91.xml"/><Relationship Id="rId2" Type="http://schemas.openxmlformats.org/officeDocument/2006/relationships/tags" Target="../tags/tag25.xml"/><Relationship Id="rId16" Type="http://schemas.openxmlformats.org/officeDocument/2006/relationships/tags" Target="../tags/tag39.xml"/><Relationship Id="rId29" Type="http://schemas.openxmlformats.org/officeDocument/2006/relationships/tags" Target="../tags/tag52.xml"/><Relationship Id="rId11" Type="http://schemas.openxmlformats.org/officeDocument/2006/relationships/tags" Target="../tags/tag34.xml"/><Relationship Id="rId24" Type="http://schemas.openxmlformats.org/officeDocument/2006/relationships/tags" Target="../tags/tag47.xml"/><Relationship Id="rId32" Type="http://schemas.openxmlformats.org/officeDocument/2006/relationships/tags" Target="../tags/tag55.xml"/><Relationship Id="rId37" Type="http://schemas.openxmlformats.org/officeDocument/2006/relationships/tags" Target="../tags/tag60.xml"/><Relationship Id="rId40" Type="http://schemas.openxmlformats.org/officeDocument/2006/relationships/tags" Target="../tags/tag63.xml"/><Relationship Id="rId45" Type="http://schemas.openxmlformats.org/officeDocument/2006/relationships/tags" Target="../tags/tag68.xml"/><Relationship Id="rId53" Type="http://schemas.openxmlformats.org/officeDocument/2006/relationships/tags" Target="../tags/tag76.xml"/><Relationship Id="rId58" Type="http://schemas.openxmlformats.org/officeDocument/2006/relationships/tags" Target="../tags/tag81.xml"/><Relationship Id="rId66" Type="http://schemas.openxmlformats.org/officeDocument/2006/relationships/tags" Target="../tags/tag89.xml"/><Relationship Id="rId74" Type="http://schemas.openxmlformats.org/officeDocument/2006/relationships/image" Target="../media/image3.png"/><Relationship Id="rId5" Type="http://schemas.openxmlformats.org/officeDocument/2006/relationships/tags" Target="../tags/tag28.xml"/><Relationship Id="rId61" Type="http://schemas.openxmlformats.org/officeDocument/2006/relationships/tags" Target="../tags/tag84.xml"/><Relationship Id="rId19" Type="http://schemas.openxmlformats.org/officeDocument/2006/relationships/tags" Target="../tags/tag42.xml"/><Relationship Id="rId14" Type="http://schemas.openxmlformats.org/officeDocument/2006/relationships/tags" Target="../tags/tag37.xml"/><Relationship Id="rId22" Type="http://schemas.openxmlformats.org/officeDocument/2006/relationships/tags" Target="../tags/tag45.xml"/><Relationship Id="rId27" Type="http://schemas.openxmlformats.org/officeDocument/2006/relationships/tags" Target="../tags/tag50.xml"/><Relationship Id="rId30" Type="http://schemas.openxmlformats.org/officeDocument/2006/relationships/tags" Target="../tags/tag53.xml"/><Relationship Id="rId35" Type="http://schemas.openxmlformats.org/officeDocument/2006/relationships/tags" Target="../tags/tag58.xml"/><Relationship Id="rId43" Type="http://schemas.openxmlformats.org/officeDocument/2006/relationships/tags" Target="../tags/tag66.xml"/><Relationship Id="rId48" Type="http://schemas.openxmlformats.org/officeDocument/2006/relationships/tags" Target="../tags/tag71.xml"/><Relationship Id="rId56" Type="http://schemas.openxmlformats.org/officeDocument/2006/relationships/tags" Target="../tags/tag79.xml"/><Relationship Id="rId64" Type="http://schemas.openxmlformats.org/officeDocument/2006/relationships/tags" Target="../tags/tag87.xml"/><Relationship Id="rId69" Type="http://schemas.openxmlformats.org/officeDocument/2006/relationships/tags" Target="../tags/tag92.xml"/><Relationship Id="rId8" Type="http://schemas.openxmlformats.org/officeDocument/2006/relationships/tags" Target="../tags/tag31.xml"/><Relationship Id="rId51" Type="http://schemas.openxmlformats.org/officeDocument/2006/relationships/tags" Target="../tags/tag74.xml"/><Relationship Id="rId72" Type="http://schemas.openxmlformats.org/officeDocument/2006/relationships/notesSlide" Target="../notesSlides/notesSlide3.xml"/><Relationship Id="rId3" Type="http://schemas.openxmlformats.org/officeDocument/2006/relationships/tags" Target="../tags/tag26.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tags" Target="../tags/tag48.xml"/><Relationship Id="rId33" Type="http://schemas.openxmlformats.org/officeDocument/2006/relationships/tags" Target="../tags/tag56.xml"/><Relationship Id="rId38" Type="http://schemas.openxmlformats.org/officeDocument/2006/relationships/tags" Target="../tags/tag61.xml"/><Relationship Id="rId46" Type="http://schemas.openxmlformats.org/officeDocument/2006/relationships/tags" Target="../tags/tag69.xml"/><Relationship Id="rId59" Type="http://schemas.openxmlformats.org/officeDocument/2006/relationships/tags" Target="../tags/tag82.xml"/><Relationship Id="rId67" Type="http://schemas.openxmlformats.org/officeDocument/2006/relationships/tags" Target="../tags/tag90.xml"/><Relationship Id="rId20" Type="http://schemas.openxmlformats.org/officeDocument/2006/relationships/tags" Target="../tags/tag43.xml"/><Relationship Id="rId41" Type="http://schemas.openxmlformats.org/officeDocument/2006/relationships/tags" Target="../tags/tag64.xml"/><Relationship Id="rId54" Type="http://schemas.openxmlformats.org/officeDocument/2006/relationships/tags" Target="../tags/tag77.xml"/><Relationship Id="rId62" Type="http://schemas.openxmlformats.org/officeDocument/2006/relationships/tags" Target="../tags/tag85.xml"/><Relationship Id="rId70" Type="http://schemas.openxmlformats.org/officeDocument/2006/relationships/tags" Target="../tags/tag93.xml"/><Relationship Id="rId1" Type="http://schemas.openxmlformats.org/officeDocument/2006/relationships/tags" Target="../tags/tag24.xml"/><Relationship Id="rId6" Type="http://schemas.openxmlformats.org/officeDocument/2006/relationships/tags" Target="../tags/tag29.xml"/><Relationship Id="rId15" Type="http://schemas.openxmlformats.org/officeDocument/2006/relationships/tags" Target="../tags/tag38.xml"/><Relationship Id="rId23" Type="http://schemas.openxmlformats.org/officeDocument/2006/relationships/tags" Target="../tags/tag46.xml"/><Relationship Id="rId28" Type="http://schemas.openxmlformats.org/officeDocument/2006/relationships/tags" Target="../tags/tag51.xml"/><Relationship Id="rId36" Type="http://schemas.openxmlformats.org/officeDocument/2006/relationships/tags" Target="../tags/tag59.xml"/><Relationship Id="rId49" Type="http://schemas.openxmlformats.org/officeDocument/2006/relationships/tags" Target="../tags/tag72.xml"/><Relationship Id="rId57" Type="http://schemas.openxmlformats.org/officeDocument/2006/relationships/tags" Target="../tags/tag80.xml"/><Relationship Id="rId10" Type="http://schemas.openxmlformats.org/officeDocument/2006/relationships/tags" Target="../tags/tag33.xml"/><Relationship Id="rId31" Type="http://schemas.openxmlformats.org/officeDocument/2006/relationships/tags" Target="../tags/tag54.xml"/><Relationship Id="rId44" Type="http://schemas.openxmlformats.org/officeDocument/2006/relationships/tags" Target="../tags/tag67.xml"/><Relationship Id="rId52" Type="http://schemas.openxmlformats.org/officeDocument/2006/relationships/tags" Target="../tags/tag75.xml"/><Relationship Id="rId60" Type="http://schemas.openxmlformats.org/officeDocument/2006/relationships/tags" Target="../tags/tag83.xml"/><Relationship Id="rId65" Type="http://schemas.openxmlformats.org/officeDocument/2006/relationships/tags" Target="../tags/tag88.xml"/><Relationship Id="rId73" Type="http://schemas.openxmlformats.org/officeDocument/2006/relationships/image" Target="../media/image2.wmf"/><Relationship Id="rId4" Type="http://schemas.openxmlformats.org/officeDocument/2006/relationships/tags" Target="../tags/tag27.xml"/><Relationship Id="rId9" Type="http://schemas.openxmlformats.org/officeDocument/2006/relationships/tags" Target="../tags/tag32.xml"/><Relationship Id="rId13" Type="http://schemas.openxmlformats.org/officeDocument/2006/relationships/tags" Target="../tags/tag36.xml"/><Relationship Id="rId18" Type="http://schemas.openxmlformats.org/officeDocument/2006/relationships/tags" Target="../tags/tag41.xml"/><Relationship Id="rId39" Type="http://schemas.openxmlformats.org/officeDocument/2006/relationships/tags" Target="../tags/tag62.xml"/><Relationship Id="rId34" Type="http://schemas.openxmlformats.org/officeDocument/2006/relationships/tags" Target="../tags/tag57.xml"/><Relationship Id="rId50" Type="http://schemas.openxmlformats.org/officeDocument/2006/relationships/tags" Target="../tags/tag73.xml"/><Relationship Id="rId55" Type="http://schemas.openxmlformats.org/officeDocument/2006/relationships/tags" Target="../tags/tag78.xml"/><Relationship Id="rId7" Type="http://schemas.openxmlformats.org/officeDocument/2006/relationships/tags" Target="../tags/tag30.xml"/><Relationship Id="rId7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5.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image" Target="../media/image4.jpeg"/><Relationship Id="rId5" Type="http://schemas.openxmlformats.org/officeDocument/2006/relationships/tags" Target="../tags/tag102.xml"/><Relationship Id="rId10" Type="http://schemas.openxmlformats.org/officeDocument/2006/relationships/notesSlide" Target="../notesSlides/notesSlide5.xml"/><Relationship Id="rId4" Type="http://schemas.openxmlformats.org/officeDocument/2006/relationships/tags" Target="../tags/tag101.xml"/><Relationship Id="rId9"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notesSlide" Target="../notesSlides/notesSlide6.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slideLayout" Target="../slideLayouts/slideLayout2.xml"/><Relationship Id="rId5" Type="http://schemas.openxmlformats.org/officeDocument/2006/relationships/tags" Target="../tags/tag110.xml"/><Relationship Id="rId4" Type="http://schemas.openxmlformats.org/officeDocument/2006/relationships/tags" Target="../tags/tag109.xml"/></Relationships>
</file>

<file path=ppt/slides/_rels/slide7.xml.rels><?xml version="1.0" encoding="UTF-8" standalone="yes"?>
<Relationships xmlns="http://schemas.openxmlformats.org/package/2006/relationships"><Relationship Id="rId8" Type="http://schemas.openxmlformats.org/officeDocument/2006/relationships/tags" Target="../tags/tag118.xml"/><Relationship Id="rId3" Type="http://schemas.openxmlformats.org/officeDocument/2006/relationships/tags" Target="../tags/tag113.xml"/><Relationship Id="rId7" Type="http://schemas.openxmlformats.org/officeDocument/2006/relationships/tags" Target="../tags/tag117.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4.jpeg"/><Relationship Id="rId5" Type="http://schemas.openxmlformats.org/officeDocument/2006/relationships/tags" Target="../tags/tag115.xml"/><Relationship Id="rId10" Type="http://schemas.openxmlformats.org/officeDocument/2006/relationships/notesSlide" Target="../notesSlides/notesSlide7.xml"/><Relationship Id="rId4" Type="http://schemas.openxmlformats.org/officeDocument/2006/relationships/tags" Target="../tags/tag114.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22.xml"/></Relationships>
</file>

<file path=ppt/slides/_rels/slide9.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126.xml"/></Relationships>
</file>

<file path=ppt/slides/_rels/slide10.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30.xml"/></Relationships>
</file>

<file path=ppt/slides/_rels/slide11.xml.rels><?xml version="1.0" encoding="UTF-8" standalone="yes"?>
<Relationships xmlns="http://schemas.openxmlformats.org/package/2006/relationships"><Relationship Id="rId3" Type="http://schemas.openxmlformats.org/officeDocument/2006/relationships/tags" Target="../tags/tag133.xml"/><Relationship Id="rId7" Type="http://schemas.openxmlformats.org/officeDocument/2006/relationships/notesSlide" Target="../notesSlides/notesSlide11.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slideLayout" Target="../slideLayouts/slideLayout2.xml"/><Relationship Id="rId5" Type="http://schemas.openxmlformats.org/officeDocument/2006/relationships/tags" Target="../tags/tag135.xml"/><Relationship Id="rId4" Type="http://schemas.openxmlformats.org/officeDocument/2006/relationships/tags" Target="../tags/tag134.xml"/></Relationships>
</file>

<file path=ppt/slides/_rels/slide12.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18" Type="http://schemas.openxmlformats.org/officeDocument/2006/relationships/tags" Target="../tags/tag153.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17" Type="http://schemas.openxmlformats.org/officeDocument/2006/relationships/tags" Target="../tags/tag152.xml"/><Relationship Id="rId2" Type="http://schemas.openxmlformats.org/officeDocument/2006/relationships/tags" Target="../tags/tag137.xml"/><Relationship Id="rId16" Type="http://schemas.openxmlformats.org/officeDocument/2006/relationships/tags" Target="../tags/tag151.xml"/><Relationship Id="rId20" Type="http://schemas.openxmlformats.org/officeDocument/2006/relationships/notesSlide" Target="../notesSlides/notesSlide12.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5" Type="http://schemas.openxmlformats.org/officeDocument/2006/relationships/tags" Target="../tags/tag150.xml"/><Relationship Id="rId10" Type="http://schemas.openxmlformats.org/officeDocument/2006/relationships/tags" Target="../tags/tag145.xml"/><Relationship Id="rId19" Type="http://schemas.openxmlformats.org/officeDocument/2006/relationships/slideLayout" Target="../slideLayouts/slideLayout2.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tags" Target="../tags/tag149.xml"/></Relationships>
</file>

<file path=ppt/slides/_rels/slide13.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tags" Target="../tags/tag166.xml"/><Relationship Id="rId18" Type="http://schemas.openxmlformats.org/officeDocument/2006/relationships/tags" Target="../tags/tag171.xml"/><Relationship Id="rId26" Type="http://schemas.openxmlformats.org/officeDocument/2006/relationships/tags" Target="../tags/tag179.xml"/><Relationship Id="rId3" Type="http://schemas.openxmlformats.org/officeDocument/2006/relationships/tags" Target="../tags/tag156.xml"/><Relationship Id="rId21" Type="http://schemas.openxmlformats.org/officeDocument/2006/relationships/tags" Target="../tags/tag174.xml"/><Relationship Id="rId7" Type="http://schemas.openxmlformats.org/officeDocument/2006/relationships/tags" Target="../tags/tag160.xml"/><Relationship Id="rId12" Type="http://schemas.openxmlformats.org/officeDocument/2006/relationships/tags" Target="../tags/tag165.xml"/><Relationship Id="rId17" Type="http://schemas.openxmlformats.org/officeDocument/2006/relationships/tags" Target="../tags/tag170.xml"/><Relationship Id="rId25" Type="http://schemas.openxmlformats.org/officeDocument/2006/relationships/tags" Target="../tags/tag178.xml"/><Relationship Id="rId2" Type="http://schemas.openxmlformats.org/officeDocument/2006/relationships/tags" Target="../tags/tag155.xml"/><Relationship Id="rId16" Type="http://schemas.openxmlformats.org/officeDocument/2006/relationships/tags" Target="../tags/tag169.xml"/><Relationship Id="rId20" Type="http://schemas.openxmlformats.org/officeDocument/2006/relationships/tags" Target="../tags/tag173.xml"/><Relationship Id="rId29" Type="http://schemas.openxmlformats.org/officeDocument/2006/relationships/slideLayout" Target="../slideLayouts/slideLayout2.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tags" Target="../tags/tag164.xml"/><Relationship Id="rId24" Type="http://schemas.openxmlformats.org/officeDocument/2006/relationships/tags" Target="../tags/tag177.xml"/><Relationship Id="rId5" Type="http://schemas.openxmlformats.org/officeDocument/2006/relationships/tags" Target="../tags/tag158.xml"/><Relationship Id="rId15" Type="http://schemas.openxmlformats.org/officeDocument/2006/relationships/tags" Target="../tags/tag168.xml"/><Relationship Id="rId23" Type="http://schemas.openxmlformats.org/officeDocument/2006/relationships/tags" Target="../tags/tag176.xml"/><Relationship Id="rId28" Type="http://schemas.openxmlformats.org/officeDocument/2006/relationships/tags" Target="../tags/tag181.xml"/><Relationship Id="rId10" Type="http://schemas.openxmlformats.org/officeDocument/2006/relationships/tags" Target="../tags/tag163.xml"/><Relationship Id="rId19" Type="http://schemas.openxmlformats.org/officeDocument/2006/relationships/tags" Target="../tags/tag172.xml"/><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tags" Target="../tags/tag167.xml"/><Relationship Id="rId22" Type="http://schemas.openxmlformats.org/officeDocument/2006/relationships/tags" Target="../tags/tag175.xml"/><Relationship Id="rId27" Type="http://schemas.openxmlformats.org/officeDocument/2006/relationships/tags" Target="../tags/tag180.xml"/><Relationship Id="rId3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tags" Target="../tags/tag184.xml"/><Relationship Id="rId7" Type="http://schemas.openxmlformats.org/officeDocument/2006/relationships/notesSlide" Target="../notesSlides/notesSlide14.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slideLayout" Target="../slideLayouts/slideLayout2.xml"/><Relationship Id="rId5" Type="http://schemas.openxmlformats.org/officeDocument/2006/relationships/tags" Target="../tags/tag186.xml"/><Relationship Id="rId4" Type="http://schemas.openxmlformats.org/officeDocument/2006/relationships/tags" Target="../tags/tag185.xml"/></Relationships>
</file>

<file path=ppt/slides/_rels/slide15.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190.xml"/></Relationships>
</file>

<file path=ppt/slides/_rels/slide16.xml.rels><?xml version="1.0" encoding="UTF-8" standalone="yes"?>
<Relationships xmlns="http://schemas.openxmlformats.org/package/2006/relationships"><Relationship Id="rId3" Type="http://schemas.openxmlformats.org/officeDocument/2006/relationships/tags" Target="../tags/tag193.xml"/><Relationship Id="rId7" Type="http://schemas.openxmlformats.org/officeDocument/2006/relationships/notesSlide" Target="../notesSlides/notesSlide16.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2.xml"/><Relationship Id="rId5" Type="http://schemas.openxmlformats.org/officeDocument/2006/relationships/tags" Target="../tags/tag195.xml"/><Relationship Id="rId4" Type="http://schemas.openxmlformats.org/officeDocument/2006/relationships/tags" Target="../tags/tag194.xml"/></Relationships>
</file>

<file path=ppt/slides/_rels/slide17.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tags" Target="../tags/tag208.xml"/><Relationship Id="rId18" Type="http://schemas.openxmlformats.org/officeDocument/2006/relationships/notesSlide" Target="../notesSlides/notesSlide17.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tags" Target="../tags/tag207.xml"/><Relationship Id="rId17" Type="http://schemas.openxmlformats.org/officeDocument/2006/relationships/slideLayout" Target="../slideLayouts/slideLayout2.xml"/><Relationship Id="rId2" Type="http://schemas.openxmlformats.org/officeDocument/2006/relationships/tags" Target="../tags/tag197.xml"/><Relationship Id="rId16" Type="http://schemas.openxmlformats.org/officeDocument/2006/relationships/tags" Target="../tags/tag211.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5" Type="http://schemas.openxmlformats.org/officeDocument/2006/relationships/tags" Target="../tags/tag210.xml"/><Relationship Id="rId10" Type="http://schemas.openxmlformats.org/officeDocument/2006/relationships/tags" Target="../tags/tag205.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s>
</file>

<file path=ppt/slides/_rels/slide18.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notesSlide" Target="../notesSlides/notesSlide18.xml"/><Relationship Id="rId5" Type="http://schemas.openxmlformats.org/officeDocument/2006/relationships/tags" Target="../tags/tag216.xml"/><Relationship Id="rId10" Type="http://schemas.openxmlformats.org/officeDocument/2006/relationships/slideLayout" Target="../slideLayouts/slideLayout2.xml"/><Relationship Id="rId4" Type="http://schemas.openxmlformats.org/officeDocument/2006/relationships/tags" Target="../tags/tag215.xml"/><Relationship Id="rId9" Type="http://schemas.openxmlformats.org/officeDocument/2006/relationships/tags" Target="../tags/tag220.xml"/></Relationships>
</file>

<file path=ppt/slides/_rels/slide19.xml.rels><?xml version="1.0" encoding="UTF-8" standalone="yes"?>
<Relationships xmlns="http://schemas.openxmlformats.org/package/2006/relationships"><Relationship Id="rId8" Type="http://schemas.openxmlformats.org/officeDocument/2006/relationships/tags" Target="../tags/tag228.xml"/><Relationship Id="rId13" Type="http://schemas.openxmlformats.org/officeDocument/2006/relationships/tags" Target="../tags/tag233.xml"/><Relationship Id="rId18" Type="http://schemas.openxmlformats.org/officeDocument/2006/relationships/tags" Target="../tags/tag238.xml"/><Relationship Id="rId3" Type="http://schemas.openxmlformats.org/officeDocument/2006/relationships/tags" Target="../tags/tag223.xml"/><Relationship Id="rId21" Type="http://schemas.openxmlformats.org/officeDocument/2006/relationships/tags" Target="../tags/tag241.xml"/><Relationship Id="rId7" Type="http://schemas.openxmlformats.org/officeDocument/2006/relationships/tags" Target="../tags/tag227.xml"/><Relationship Id="rId12" Type="http://schemas.openxmlformats.org/officeDocument/2006/relationships/tags" Target="../tags/tag232.xml"/><Relationship Id="rId17" Type="http://schemas.openxmlformats.org/officeDocument/2006/relationships/tags" Target="../tags/tag237.xml"/><Relationship Id="rId2" Type="http://schemas.openxmlformats.org/officeDocument/2006/relationships/tags" Target="../tags/tag222.xml"/><Relationship Id="rId16" Type="http://schemas.openxmlformats.org/officeDocument/2006/relationships/tags" Target="../tags/tag236.xml"/><Relationship Id="rId20" Type="http://schemas.openxmlformats.org/officeDocument/2006/relationships/tags" Target="../tags/tag240.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tags" Target="../tags/tag231.xml"/><Relationship Id="rId5" Type="http://schemas.openxmlformats.org/officeDocument/2006/relationships/tags" Target="../tags/tag225.xml"/><Relationship Id="rId15" Type="http://schemas.openxmlformats.org/officeDocument/2006/relationships/tags" Target="../tags/tag235.xml"/><Relationship Id="rId23" Type="http://schemas.openxmlformats.org/officeDocument/2006/relationships/notesSlide" Target="../notesSlides/notesSlide19.xml"/><Relationship Id="rId10" Type="http://schemas.openxmlformats.org/officeDocument/2006/relationships/tags" Target="../tags/tag230.xml"/><Relationship Id="rId19" Type="http://schemas.openxmlformats.org/officeDocument/2006/relationships/tags" Target="../tags/tag239.xml"/><Relationship Id="rId4" Type="http://schemas.openxmlformats.org/officeDocument/2006/relationships/tags" Target="../tags/tag224.xml"/><Relationship Id="rId9" Type="http://schemas.openxmlformats.org/officeDocument/2006/relationships/tags" Target="../tags/tag229.xml"/><Relationship Id="rId14" Type="http://schemas.openxmlformats.org/officeDocument/2006/relationships/tags" Target="../tags/tag234.xml"/><Relationship Id="rId2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244.xml"/><Relationship Id="rId7" Type="http://schemas.openxmlformats.org/officeDocument/2006/relationships/notesSlide" Target="../notesSlides/notesSlide20.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slideLayout" Target="../slideLayouts/slideLayout2.xml"/><Relationship Id="rId5" Type="http://schemas.openxmlformats.org/officeDocument/2006/relationships/tags" Target="../tags/tag246.xml"/><Relationship Id="rId4" Type="http://schemas.openxmlformats.org/officeDocument/2006/relationships/tags" Target="../tags/tag245.xml"/></Relationships>
</file>

<file path=ppt/slides/_rels/slide21.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tags" Target="../tags/tag259.xml"/><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tags" Target="../tags/tag258.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tags" Target="../tags/tag257.xml"/><Relationship Id="rId5" Type="http://schemas.openxmlformats.org/officeDocument/2006/relationships/tags" Target="../tags/tag251.xml"/><Relationship Id="rId15" Type="http://schemas.openxmlformats.org/officeDocument/2006/relationships/notesSlide" Target="../notesSlides/notesSlide21.xml"/><Relationship Id="rId10" Type="http://schemas.openxmlformats.org/officeDocument/2006/relationships/tags" Target="../tags/tag256.xml"/><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267.xml"/><Relationship Id="rId3" Type="http://schemas.openxmlformats.org/officeDocument/2006/relationships/tags" Target="../tags/tag262.xml"/><Relationship Id="rId7" Type="http://schemas.openxmlformats.org/officeDocument/2006/relationships/tags" Target="../tags/tag266.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notesSlide" Target="../notesSlides/notesSlide22.xml"/><Relationship Id="rId5" Type="http://schemas.openxmlformats.org/officeDocument/2006/relationships/tags" Target="../tags/tag264.xml"/><Relationship Id="rId10" Type="http://schemas.openxmlformats.org/officeDocument/2006/relationships/slideLayout" Target="../slideLayouts/slideLayout2.xml"/><Relationship Id="rId4" Type="http://schemas.openxmlformats.org/officeDocument/2006/relationships/tags" Target="../tags/tag263.xml"/><Relationship Id="rId9" Type="http://schemas.openxmlformats.org/officeDocument/2006/relationships/tags" Target="../tags/tag268.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71.xml"/><Relationship Id="rId7" Type="http://schemas.openxmlformats.org/officeDocument/2006/relationships/tags" Target="../tags/tag275.xml"/><Relationship Id="rId2" Type="http://schemas.openxmlformats.org/officeDocument/2006/relationships/tags" Target="../tags/tag270.xml"/><Relationship Id="rId1" Type="http://schemas.openxmlformats.org/officeDocument/2006/relationships/tags" Target="../tags/tag269.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tags" Target="../tags/tag27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notesSlide" Target="../notesSlides/notesSlide24.xml"/><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slideLayout" Target="../slideLayouts/slideLayout2.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tags" Target="../tags/tag286.xml"/><Relationship Id="rId5" Type="http://schemas.openxmlformats.org/officeDocument/2006/relationships/tags" Target="../tags/tag280.xml"/><Relationship Id="rId10" Type="http://schemas.openxmlformats.org/officeDocument/2006/relationships/tags" Target="../tags/tag285.xml"/><Relationship Id="rId4" Type="http://schemas.openxmlformats.org/officeDocument/2006/relationships/tags" Target="../tags/tag279.xml"/><Relationship Id="rId9" Type="http://schemas.openxmlformats.org/officeDocument/2006/relationships/tags" Target="../tags/tag284.xml"/><Relationship Id="rId14" Type="http://schemas.openxmlformats.org/officeDocument/2006/relationships/image" Target="../media/image4.jpeg"/></Relationships>
</file>

<file path=ppt/slides/_rels/slide25.xml.rels><?xml version="1.0" encoding="UTF-8" standalone="yes"?>
<Relationships xmlns="http://schemas.openxmlformats.org/package/2006/relationships"><Relationship Id="rId3" Type="http://schemas.openxmlformats.org/officeDocument/2006/relationships/tags" Target="../tags/tag289.xml"/><Relationship Id="rId7" Type="http://schemas.openxmlformats.org/officeDocument/2006/relationships/image" Target="../media/image5.png"/><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290.xml"/></Relationships>
</file>

<file path=ppt/slides/_rels/slide26.xml.rels><?xml version="1.0" encoding="UTF-8" standalone="yes"?>
<Relationships xmlns="http://schemas.openxmlformats.org/package/2006/relationships"><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294.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3" Type="http://schemas.openxmlformats.org/officeDocument/2006/relationships/tags" Target="../tags/tag297.xml"/><Relationship Id="rId7" Type="http://schemas.openxmlformats.org/officeDocument/2006/relationships/slideLayout" Target="../slideLayouts/slideLayout2.xm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303.xml"/><Relationship Id="rId7" Type="http://schemas.openxmlformats.org/officeDocument/2006/relationships/slideLayout" Target="../slideLayouts/slideLayout2.xml"/><Relationship Id="rId2" Type="http://schemas.openxmlformats.org/officeDocument/2006/relationships/tags" Target="../tags/tag302.xml"/><Relationship Id="rId1" Type="http://schemas.openxmlformats.org/officeDocument/2006/relationships/tags" Target="../tags/tag301.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s>
</file>

<file path=ppt/slides/_rels/slide29.xml.rels><?xml version="1.0" encoding="UTF-8" standalone="yes"?>
<Relationships xmlns="http://schemas.openxmlformats.org/package/2006/relationships"><Relationship Id="rId8" Type="http://schemas.openxmlformats.org/officeDocument/2006/relationships/tags" Target="../tags/tag314.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6.pn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notesSlide" Target="../notesSlides/notesSlide29.xml"/><Relationship Id="rId5" Type="http://schemas.openxmlformats.org/officeDocument/2006/relationships/tags" Target="../tags/tag311.xml"/><Relationship Id="rId10" Type="http://schemas.openxmlformats.org/officeDocument/2006/relationships/slideLayout" Target="../slideLayouts/slideLayout2.xml"/><Relationship Id="rId4" Type="http://schemas.openxmlformats.org/officeDocument/2006/relationships/tags" Target="../tags/tag310.xml"/><Relationship Id="rId9" Type="http://schemas.openxmlformats.org/officeDocument/2006/relationships/tags" Target="../tags/tag315.xml"/></Relationships>
</file>

<file path=ppt/slides/_rels/slide30.xml.rels><?xml version="1.0" encoding="UTF-8" standalone="yes"?>
<Relationships xmlns="http://schemas.openxmlformats.org/package/2006/relationships"><Relationship Id="rId8" Type="http://schemas.openxmlformats.org/officeDocument/2006/relationships/tags" Target="../tags/tag323.xml"/><Relationship Id="rId13" Type="http://schemas.openxmlformats.org/officeDocument/2006/relationships/tags" Target="../tags/tag328.xml"/><Relationship Id="rId18" Type="http://schemas.openxmlformats.org/officeDocument/2006/relationships/notesSlide" Target="../notesSlides/notesSlide30.xml"/><Relationship Id="rId3" Type="http://schemas.openxmlformats.org/officeDocument/2006/relationships/tags" Target="../tags/tag318.xml"/><Relationship Id="rId7" Type="http://schemas.openxmlformats.org/officeDocument/2006/relationships/tags" Target="../tags/tag322.xml"/><Relationship Id="rId12" Type="http://schemas.openxmlformats.org/officeDocument/2006/relationships/tags" Target="../tags/tag327.xml"/><Relationship Id="rId17" Type="http://schemas.openxmlformats.org/officeDocument/2006/relationships/slideLayout" Target="../slideLayouts/slideLayout2.xml"/><Relationship Id="rId2" Type="http://schemas.openxmlformats.org/officeDocument/2006/relationships/tags" Target="../tags/tag317.xml"/><Relationship Id="rId16" Type="http://schemas.openxmlformats.org/officeDocument/2006/relationships/tags" Target="../tags/tag331.xml"/><Relationship Id="rId1" Type="http://schemas.openxmlformats.org/officeDocument/2006/relationships/tags" Target="../tags/tag316.xml"/><Relationship Id="rId6" Type="http://schemas.openxmlformats.org/officeDocument/2006/relationships/tags" Target="../tags/tag321.xml"/><Relationship Id="rId11" Type="http://schemas.openxmlformats.org/officeDocument/2006/relationships/tags" Target="../tags/tag326.xml"/><Relationship Id="rId5" Type="http://schemas.openxmlformats.org/officeDocument/2006/relationships/tags" Target="../tags/tag320.xml"/><Relationship Id="rId15" Type="http://schemas.openxmlformats.org/officeDocument/2006/relationships/tags" Target="../tags/tag330.xml"/><Relationship Id="rId10" Type="http://schemas.openxmlformats.org/officeDocument/2006/relationships/tags" Target="../tags/tag325.xml"/><Relationship Id="rId19" Type="http://schemas.openxmlformats.org/officeDocument/2006/relationships/image" Target="../media/image4.jpeg"/><Relationship Id="rId4" Type="http://schemas.openxmlformats.org/officeDocument/2006/relationships/tags" Target="../tags/tag319.xml"/><Relationship Id="rId9" Type="http://schemas.openxmlformats.org/officeDocument/2006/relationships/tags" Target="../tags/tag324.xml"/><Relationship Id="rId14" Type="http://schemas.openxmlformats.org/officeDocument/2006/relationships/tags" Target="../tags/tag329.xml"/></Relationships>
</file>

<file path=ppt/slides/_rels/slide31.xml.rels><?xml version="1.0" encoding="UTF-8" standalone="yes"?>
<Relationships xmlns="http://schemas.openxmlformats.org/package/2006/relationships"><Relationship Id="rId3" Type="http://schemas.openxmlformats.org/officeDocument/2006/relationships/tags" Target="../tags/tag334.xml"/><Relationship Id="rId7" Type="http://schemas.openxmlformats.org/officeDocument/2006/relationships/image" Target="../media/image7.wmf"/><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tags" Target="../tags/tag335.xml"/></Relationships>
</file>

<file path=ppt/slides/_rels/slide32.xml.rels><?xml version="1.0" encoding="UTF-8" standalone="yes"?>
<Relationships xmlns="http://schemas.openxmlformats.org/package/2006/relationships"><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tags" Target="../tags/tag339.xml"/></Relationships>
</file>

<file path=ppt/slides/_rels/slide33.xml.rels><?xml version="1.0" encoding="UTF-8" standalone="yes"?>
<Relationships xmlns="http://schemas.openxmlformats.org/package/2006/relationships"><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343.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46.xml"/><Relationship Id="rId7" Type="http://schemas.openxmlformats.org/officeDocument/2006/relationships/tags" Target="../tags/tag350.xml"/><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tags" Target="../tags/tag349.xml"/><Relationship Id="rId5" Type="http://schemas.openxmlformats.org/officeDocument/2006/relationships/tags" Target="../tags/tag348.xml"/><Relationship Id="rId10" Type="http://schemas.openxmlformats.org/officeDocument/2006/relationships/image" Target="../media/image8.wmf"/><Relationship Id="rId4" Type="http://schemas.openxmlformats.org/officeDocument/2006/relationships/tags" Target="../tags/tag347.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notesSlide" Target="../notesSlides/notesSlide35.xml"/><Relationship Id="rId3" Type="http://schemas.openxmlformats.org/officeDocument/2006/relationships/tags" Target="../tags/tag353.xml"/><Relationship Id="rId7" Type="http://schemas.openxmlformats.org/officeDocument/2006/relationships/tags" Target="../tags/tag357.xml"/><Relationship Id="rId12" Type="http://schemas.openxmlformats.org/officeDocument/2006/relationships/slideLayout" Target="../slideLayouts/slideLayout2.xml"/><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0" Type="http://schemas.openxmlformats.org/officeDocument/2006/relationships/tags" Target="../tags/tag360.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image" Target="../media/image4.jpeg"/></Relationships>
</file>

<file path=ppt/slides/_rels/slide36.xml.rels><?xml version="1.0" encoding="UTF-8" standalone="yes"?>
<Relationships xmlns="http://schemas.openxmlformats.org/package/2006/relationships"><Relationship Id="rId8" Type="http://schemas.openxmlformats.org/officeDocument/2006/relationships/tags" Target="../tags/tag369.xml"/><Relationship Id="rId13" Type="http://schemas.openxmlformats.org/officeDocument/2006/relationships/notesSlide" Target="../notesSlides/notesSlide36.xml"/><Relationship Id="rId3" Type="http://schemas.openxmlformats.org/officeDocument/2006/relationships/tags" Target="../tags/tag364.xml"/><Relationship Id="rId7" Type="http://schemas.openxmlformats.org/officeDocument/2006/relationships/tags" Target="../tags/tag368.xml"/><Relationship Id="rId12" Type="http://schemas.openxmlformats.org/officeDocument/2006/relationships/slideLayout" Target="../slideLayouts/slideLayout2.xml"/><Relationship Id="rId2" Type="http://schemas.openxmlformats.org/officeDocument/2006/relationships/tags" Target="../tags/tag363.xml"/><Relationship Id="rId1" Type="http://schemas.openxmlformats.org/officeDocument/2006/relationships/tags" Target="../tags/tag362.xml"/><Relationship Id="rId6" Type="http://schemas.openxmlformats.org/officeDocument/2006/relationships/tags" Target="../tags/tag367.xml"/><Relationship Id="rId11" Type="http://schemas.openxmlformats.org/officeDocument/2006/relationships/tags" Target="../tags/tag372.xml"/><Relationship Id="rId5" Type="http://schemas.openxmlformats.org/officeDocument/2006/relationships/tags" Target="../tags/tag366.xml"/><Relationship Id="rId10" Type="http://schemas.openxmlformats.org/officeDocument/2006/relationships/tags" Target="../tags/tag371.xml"/><Relationship Id="rId4" Type="http://schemas.openxmlformats.org/officeDocument/2006/relationships/tags" Target="../tags/tag365.xml"/><Relationship Id="rId9" Type="http://schemas.openxmlformats.org/officeDocument/2006/relationships/tags" Target="../tags/tag370.xml"/><Relationship Id="rId14" Type="http://schemas.openxmlformats.org/officeDocument/2006/relationships/image" Target="../media/image4.jpeg"/></Relationships>
</file>

<file path=ppt/slides/_rels/slide37.xml.rels><?xml version="1.0" encoding="UTF-8" standalone="yes"?>
<Relationships xmlns="http://schemas.openxmlformats.org/package/2006/relationships"><Relationship Id="rId8" Type="http://schemas.openxmlformats.org/officeDocument/2006/relationships/tags" Target="../tags/tag380.xml"/><Relationship Id="rId13" Type="http://schemas.openxmlformats.org/officeDocument/2006/relationships/tags" Target="../tags/tag385.xml"/><Relationship Id="rId18" Type="http://schemas.openxmlformats.org/officeDocument/2006/relationships/tags" Target="../tags/tag390.xml"/><Relationship Id="rId26" Type="http://schemas.openxmlformats.org/officeDocument/2006/relationships/tags" Target="../tags/tag398.xml"/><Relationship Id="rId3" Type="http://schemas.openxmlformats.org/officeDocument/2006/relationships/tags" Target="../tags/tag375.xml"/><Relationship Id="rId21" Type="http://schemas.openxmlformats.org/officeDocument/2006/relationships/tags" Target="../tags/tag393.xml"/><Relationship Id="rId7" Type="http://schemas.openxmlformats.org/officeDocument/2006/relationships/tags" Target="../tags/tag379.xml"/><Relationship Id="rId12" Type="http://schemas.openxmlformats.org/officeDocument/2006/relationships/tags" Target="../tags/tag384.xml"/><Relationship Id="rId17" Type="http://schemas.openxmlformats.org/officeDocument/2006/relationships/tags" Target="../tags/tag389.xml"/><Relationship Id="rId25" Type="http://schemas.openxmlformats.org/officeDocument/2006/relationships/tags" Target="../tags/tag397.xml"/><Relationship Id="rId2" Type="http://schemas.openxmlformats.org/officeDocument/2006/relationships/tags" Target="../tags/tag374.xml"/><Relationship Id="rId16" Type="http://schemas.openxmlformats.org/officeDocument/2006/relationships/tags" Target="../tags/tag388.xml"/><Relationship Id="rId20" Type="http://schemas.openxmlformats.org/officeDocument/2006/relationships/tags" Target="../tags/tag392.xml"/><Relationship Id="rId1" Type="http://schemas.openxmlformats.org/officeDocument/2006/relationships/tags" Target="../tags/tag373.xml"/><Relationship Id="rId6" Type="http://schemas.openxmlformats.org/officeDocument/2006/relationships/tags" Target="../tags/tag378.xml"/><Relationship Id="rId11" Type="http://schemas.openxmlformats.org/officeDocument/2006/relationships/tags" Target="../tags/tag383.xml"/><Relationship Id="rId24" Type="http://schemas.openxmlformats.org/officeDocument/2006/relationships/tags" Target="../tags/tag396.xml"/><Relationship Id="rId5" Type="http://schemas.openxmlformats.org/officeDocument/2006/relationships/tags" Target="../tags/tag377.xml"/><Relationship Id="rId15" Type="http://schemas.openxmlformats.org/officeDocument/2006/relationships/tags" Target="../tags/tag387.xml"/><Relationship Id="rId23" Type="http://schemas.openxmlformats.org/officeDocument/2006/relationships/tags" Target="../tags/tag395.xml"/><Relationship Id="rId28" Type="http://schemas.openxmlformats.org/officeDocument/2006/relationships/notesSlide" Target="../notesSlides/notesSlide37.xml"/><Relationship Id="rId10" Type="http://schemas.openxmlformats.org/officeDocument/2006/relationships/tags" Target="../tags/tag382.xml"/><Relationship Id="rId19" Type="http://schemas.openxmlformats.org/officeDocument/2006/relationships/tags" Target="../tags/tag391.xml"/><Relationship Id="rId4" Type="http://schemas.openxmlformats.org/officeDocument/2006/relationships/tags" Target="../tags/tag376.xml"/><Relationship Id="rId9" Type="http://schemas.openxmlformats.org/officeDocument/2006/relationships/tags" Target="../tags/tag381.xml"/><Relationship Id="rId14" Type="http://schemas.openxmlformats.org/officeDocument/2006/relationships/tags" Target="../tags/tag386.xml"/><Relationship Id="rId22" Type="http://schemas.openxmlformats.org/officeDocument/2006/relationships/tags" Target="../tags/tag394.xml"/><Relationship Id="rId27"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0F85797-DA9F-4E9D-9884-0778D414DE4E}"/>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sz="4000" dirty="0"/>
              <a:t>ECE/CS 552: Memory, ECC and I/O</a:t>
            </a:r>
          </a:p>
        </p:txBody>
      </p:sp>
      <p:sp>
        <p:nvSpPr>
          <p:cNvPr id="3" name="Subtitle 2">
            <a:extLst>
              <a:ext uri="{FF2B5EF4-FFF2-40B4-BE49-F238E27FC236}">
                <a16:creationId xmlns:a16="http://schemas.microsoft.com/office/drawing/2014/main" id="{CD80CA9F-F218-40E5-87C0-1EBB3CC3C8DC}"/>
              </a:ext>
            </a:extLst>
          </p:cNvPr>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a:t>
            </a:r>
            <a:br>
              <a:rPr lang="en-US" dirty="0"/>
            </a:br>
            <a:r>
              <a:rPr lang="en-US" dirty="0"/>
              <a:t>Joshua San Miguel, </a:t>
            </a:r>
            <a:r>
              <a:rPr lang="en-US" dirty="0" err="1"/>
              <a:t>Mikko</a:t>
            </a:r>
            <a:r>
              <a:rPr lang="en-US" dirty="0"/>
              <a:t> </a:t>
            </a:r>
            <a:r>
              <a:rPr lang="en-US" dirty="0" err="1"/>
              <a:t>Lipasti</a:t>
            </a:r>
            <a:r>
              <a:rPr lang="en-US" dirty="0"/>
              <a:t>, Mark Hill, David Wood, </a:t>
            </a:r>
            <a:r>
              <a:rPr lang="en-US" dirty="0" err="1"/>
              <a:t>Guri</a:t>
            </a:r>
            <a:r>
              <a:rPr lang="en-US" dirty="0"/>
              <a:t> Sohi, John Shen and Jim Smith</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174426900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73998A-EE46-42EB-B026-20A3A8CDBDF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Main Memory</a:t>
            </a:r>
          </a:p>
        </p:txBody>
      </p:sp>
      <p:sp>
        <p:nvSpPr>
          <p:cNvPr id="8195" name="Rectangle 3">
            <a:extLst>
              <a:ext uri="{FF2B5EF4-FFF2-40B4-BE49-F238E27FC236}">
                <a16:creationId xmlns:a16="http://schemas.microsoft.com/office/drawing/2014/main" id="{CAA8D1DF-267A-42E5-BED7-EBA04A08E9D1}"/>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90000"/>
              </a:lnSpc>
            </a:pPr>
            <a:r>
              <a:rPr lang="en-US" altLang="en-US" dirty="0"/>
              <a:t>Commodity DRAM chips</a:t>
            </a:r>
          </a:p>
          <a:p>
            <a:pPr eaLnBrk="1" hangingPunct="1">
              <a:lnSpc>
                <a:spcPct val="90000"/>
              </a:lnSpc>
            </a:pPr>
            <a:r>
              <a:rPr lang="en-US" altLang="en-US" dirty="0"/>
              <a:t>Design objectives:</a:t>
            </a:r>
          </a:p>
          <a:p>
            <a:pPr lvl="1" eaLnBrk="1" hangingPunct="1">
              <a:lnSpc>
                <a:spcPct val="90000"/>
              </a:lnSpc>
            </a:pPr>
            <a:r>
              <a:rPr lang="en-US" altLang="en-US" dirty="0"/>
              <a:t>Minimizing cost, latency</a:t>
            </a:r>
          </a:p>
          <a:p>
            <a:pPr lvl="1" eaLnBrk="1" hangingPunct="1">
              <a:lnSpc>
                <a:spcPct val="90000"/>
              </a:lnSpc>
            </a:pPr>
            <a:r>
              <a:rPr lang="en-US" altLang="en-US" dirty="0"/>
              <a:t>Maximizing bandwidth, capacity</a:t>
            </a:r>
          </a:p>
          <a:p>
            <a:pPr eaLnBrk="1" hangingPunct="1">
              <a:lnSpc>
                <a:spcPct val="90000"/>
              </a:lnSpc>
            </a:pPr>
            <a:r>
              <a:rPr lang="en-US" altLang="en-US" dirty="0"/>
              <a:t>Susceptible to </a:t>
            </a:r>
            <a:r>
              <a:rPr lang="en-US" altLang="en-US" i="1" dirty="0"/>
              <a:t>soft errors</a:t>
            </a:r>
          </a:p>
          <a:p>
            <a:pPr lvl="1" eaLnBrk="1" hangingPunct="1">
              <a:lnSpc>
                <a:spcPct val="90000"/>
              </a:lnSpc>
            </a:pPr>
            <a:r>
              <a:rPr lang="en-US" altLang="en-US" dirty="0"/>
              <a:t>Protect with </a:t>
            </a:r>
            <a:r>
              <a:rPr lang="en-US" altLang="en-US" i="1" dirty="0"/>
              <a:t>error correction codes (ECC)</a:t>
            </a:r>
          </a:p>
          <a:p>
            <a:pPr lvl="1" eaLnBrk="1" hangingPunct="1">
              <a:lnSpc>
                <a:spcPct val="90000"/>
              </a:lnSpc>
            </a:pPr>
            <a:r>
              <a:rPr lang="en-US" altLang="en-US" dirty="0"/>
              <a:t>ECC also widely used in on-chip memories/buses</a:t>
            </a:r>
          </a:p>
        </p:txBody>
      </p:sp>
      <p:sp>
        <p:nvSpPr>
          <p:cNvPr id="8196" name="Slide Number Placeholder 5">
            <a:extLst>
              <a:ext uri="{FF2B5EF4-FFF2-40B4-BE49-F238E27FC236}">
                <a16:creationId xmlns:a16="http://schemas.microsoft.com/office/drawing/2014/main" id="{BBA6A878-9906-4363-8ECE-61FBD4A13318}"/>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DB87B888-C171-4FA3-BDED-30C4DAA9C7E4}"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6090720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84" name="Picture 600">
            <a:extLst>
              <a:ext uri="{FF2B5EF4-FFF2-40B4-BE49-F238E27FC236}">
                <a16:creationId xmlns:a16="http://schemas.microsoft.com/office/drawing/2014/main" id="{79B49D59-A101-4109-AE05-EF7350B17999}"/>
              </a:ext>
            </a:extLst>
          </p:cNvPr>
          <p:cNvPicPr>
            <a:picLocks noChangeAspect="1" noChangeArrowheads="1"/>
          </p:cNvPicPr>
          <p:nvPr>
            <p:custDataLst>
              <p:tags r:id="rId2"/>
            </p:custDataLst>
          </p:nvPr>
        </p:nvPicPr>
        <p:blipFill>
          <a:blip r:embed="rId73">
            <a:extLst>
              <a:ext uri="{28A0092B-C50C-407E-A947-70E740481C1C}">
                <a14:useLocalDpi xmlns:a14="http://schemas.microsoft.com/office/drawing/2010/main" val="0"/>
              </a:ext>
            </a:extLst>
          </a:blip>
          <a:srcRect/>
          <a:stretch>
            <a:fillRect/>
          </a:stretch>
        </p:blipFill>
        <p:spPr bwMode="auto">
          <a:xfrm>
            <a:off x="1524000" y="304800"/>
            <a:ext cx="6705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53316" name="Rectangle 601">
            <a:extLst>
              <a:ext uri="{FF2B5EF4-FFF2-40B4-BE49-F238E27FC236}">
                <a16:creationId xmlns:a16="http://schemas.microsoft.com/office/drawing/2014/main" id="{4FF5C465-B75C-45E5-8D9A-98024424BDD4}"/>
              </a:ext>
            </a:extLst>
          </p:cNvPr>
          <p:cNvSpPr>
            <a:spLocks noGrp="1" noChangeArrowheads="1"/>
          </p:cNvSpPr>
          <p:nvPr>
            <p:ph idx="1"/>
            <p:custDataLst>
              <p:tags r:id="rId3"/>
            </p:custDataLst>
          </p:nvPr>
        </p:nvSpPr>
        <p:spPr>
          <a:xfrm>
            <a:off x="152400" y="5181600"/>
            <a:ext cx="4319588" cy="1676399"/>
          </a:xfrm>
        </p:spPr>
        <p:txBody>
          <a:bodyPr rtlCol="0">
            <a:normAutofit/>
          </a:bodyPr>
          <a:lstStyle/>
          <a:p>
            <a:pPr eaLnBrk="1" fontAlgn="auto" hangingPunct="1">
              <a:lnSpc>
                <a:spcPct val="80000"/>
              </a:lnSpc>
              <a:spcBef>
                <a:spcPts val="100"/>
              </a:spcBef>
              <a:spcAft>
                <a:spcPts val="100"/>
              </a:spcAft>
              <a:buFont typeface="Arial" charset="0"/>
              <a:buChar char="•"/>
              <a:defRPr/>
            </a:pPr>
            <a:r>
              <a:rPr lang="en-US" sz="2000" dirty="0">
                <a:solidFill>
                  <a:srgbClr val="000000"/>
                </a:solidFill>
                <a:latin typeface="+mj-lt"/>
              </a:rPr>
              <a:t>Data stored as charge in capacitor</a:t>
            </a:r>
          </a:p>
          <a:p>
            <a:pPr eaLnBrk="1" fontAlgn="auto" hangingPunct="1">
              <a:lnSpc>
                <a:spcPct val="80000"/>
              </a:lnSpc>
              <a:spcBef>
                <a:spcPts val="100"/>
              </a:spcBef>
              <a:spcAft>
                <a:spcPts val="100"/>
              </a:spcAft>
              <a:buFont typeface="Arial" charset="0"/>
              <a:buChar char="•"/>
              <a:defRPr/>
            </a:pPr>
            <a:r>
              <a:rPr lang="en-US" sz="2000" dirty="0">
                <a:solidFill>
                  <a:srgbClr val="000000"/>
                </a:solidFill>
                <a:latin typeface="+mj-lt"/>
              </a:rPr>
              <a:t>Discharge on reads</a:t>
            </a:r>
          </a:p>
          <a:p>
            <a:pPr eaLnBrk="1" fontAlgn="auto" hangingPunct="1">
              <a:lnSpc>
                <a:spcPct val="80000"/>
              </a:lnSpc>
              <a:spcBef>
                <a:spcPts val="100"/>
              </a:spcBef>
              <a:spcAft>
                <a:spcPts val="100"/>
              </a:spcAft>
              <a:buFont typeface="Arial" charset="0"/>
              <a:buChar char="•"/>
              <a:defRPr/>
            </a:pPr>
            <a:r>
              <a:rPr lang="en-US" sz="2000" dirty="0">
                <a:solidFill>
                  <a:srgbClr val="000000"/>
                </a:solidFill>
                <a:latin typeface="+mj-lt"/>
              </a:rPr>
              <a:t>Charge leaks over time</a:t>
            </a:r>
          </a:p>
          <a:p>
            <a:pPr lvl="1" eaLnBrk="1" fontAlgn="auto" hangingPunct="1">
              <a:lnSpc>
                <a:spcPct val="90000"/>
              </a:lnSpc>
              <a:spcBef>
                <a:spcPts val="100"/>
              </a:spcBef>
              <a:spcAft>
                <a:spcPts val="100"/>
              </a:spcAft>
              <a:buFont typeface="Arial" charset="0"/>
              <a:buChar char="–"/>
              <a:defRPr/>
            </a:pPr>
            <a:r>
              <a:rPr lang="en-US" sz="1800" dirty="0">
                <a:solidFill>
                  <a:srgbClr val="000000"/>
                </a:solidFill>
                <a:latin typeface="+mj-lt"/>
              </a:rPr>
              <a:t>Refresh periodically </a:t>
            </a:r>
          </a:p>
          <a:p>
            <a:pPr lvl="1" eaLnBrk="1" fontAlgn="auto" hangingPunct="1">
              <a:lnSpc>
                <a:spcPct val="90000"/>
              </a:lnSpc>
              <a:spcBef>
                <a:spcPts val="100"/>
              </a:spcBef>
              <a:spcAft>
                <a:spcPts val="100"/>
              </a:spcAft>
              <a:buFont typeface="Arial" charset="0"/>
              <a:buChar char="–"/>
              <a:defRPr/>
            </a:pPr>
            <a:r>
              <a:rPr lang="en-US" sz="1800" dirty="0">
                <a:solidFill>
                  <a:srgbClr val="000000"/>
                </a:solidFill>
                <a:latin typeface="+mj-lt"/>
              </a:rPr>
              <a:t>e.g., Every 64ms</a:t>
            </a:r>
          </a:p>
        </p:txBody>
      </p:sp>
      <p:sp>
        <p:nvSpPr>
          <p:cNvPr id="9220" name="Rectangle 276">
            <a:extLst>
              <a:ext uri="{FF2B5EF4-FFF2-40B4-BE49-F238E27FC236}">
                <a16:creationId xmlns:a16="http://schemas.microsoft.com/office/drawing/2014/main" id="{43F56B58-E69C-4AD7-9773-92ADB12BF889}"/>
              </a:ext>
            </a:extLst>
          </p:cNvPr>
          <p:cNvSpPr>
            <a:spLocks noChangeArrowheads="1"/>
          </p:cNvSpPr>
          <p:nvPr>
            <p:custDataLst>
              <p:tags r:id="rId4"/>
            </p:custDataLst>
          </p:nvPr>
        </p:nvSpPr>
        <p:spPr bwMode="auto">
          <a:xfrm>
            <a:off x="2273300" y="54070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1" name="Rectangle 277">
            <a:extLst>
              <a:ext uri="{FF2B5EF4-FFF2-40B4-BE49-F238E27FC236}">
                <a16:creationId xmlns:a16="http://schemas.microsoft.com/office/drawing/2014/main" id="{A5803849-F36A-468E-935C-2F2F8FC46758}"/>
              </a:ext>
            </a:extLst>
          </p:cNvPr>
          <p:cNvSpPr>
            <a:spLocks noChangeArrowheads="1"/>
          </p:cNvSpPr>
          <p:nvPr>
            <p:custDataLst>
              <p:tags r:id="rId5"/>
            </p:custDataLst>
          </p:nvPr>
        </p:nvSpPr>
        <p:spPr bwMode="auto">
          <a:xfrm>
            <a:off x="2273300" y="54705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2" name="Rectangle 285">
            <a:extLst>
              <a:ext uri="{FF2B5EF4-FFF2-40B4-BE49-F238E27FC236}">
                <a16:creationId xmlns:a16="http://schemas.microsoft.com/office/drawing/2014/main" id="{B18F295A-AED1-4540-BD16-299551127F5F}"/>
              </a:ext>
            </a:extLst>
          </p:cNvPr>
          <p:cNvSpPr>
            <a:spLocks noChangeArrowheads="1"/>
          </p:cNvSpPr>
          <p:nvPr>
            <p:custDataLst>
              <p:tags r:id="rId6"/>
            </p:custDataLst>
          </p:nvPr>
        </p:nvSpPr>
        <p:spPr bwMode="auto">
          <a:xfrm>
            <a:off x="2247900" y="48736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3" name="Rectangle 286">
            <a:extLst>
              <a:ext uri="{FF2B5EF4-FFF2-40B4-BE49-F238E27FC236}">
                <a16:creationId xmlns:a16="http://schemas.microsoft.com/office/drawing/2014/main" id="{62DE964C-D365-41C1-B8D5-7FE510ADEB4C}"/>
              </a:ext>
            </a:extLst>
          </p:cNvPr>
          <p:cNvSpPr>
            <a:spLocks noChangeArrowheads="1"/>
          </p:cNvSpPr>
          <p:nvPr>
            <p:custDataLst>
              <p:tags r:id="rId7"/>
            </p:custDataLst>
          </p:nvPr>
        </p:nvSpPr>
        <p:spPr bwMode="auto">
          <a:xfrm>
            <a:off x="2247900" y="48990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4" name="Rectangle 294">
            <a:extLst>
              <a:ext uri="{FF2B5EF4-FFF2-40B4-BE49-F238E27FC236}">
                <a16:creationId xmlns:a16="http://schemas.microsoft.com/office/drawing/2014/main" id="{2512E546-78CC-473C-9A08-0DB9964041BC}"/>
              </a:ext>
            </a:extLst>
          </p:cNvPr>
          <p:cNvSpPr>
            <a:spLocks noChangeArrowheads="1"/>
          </p:cNvSpPr>
          <p:nvPr>
            <p:custDataLst>
              <p:tags r:id="rId8"/>
            </p:custDataLst>
          </p:nvPr>
        </p:nvSpPr>
        <p:spPr bwMode="auto">
          <a:xfrm>
            <a:off x="2679700" y="48736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5" name="Rectangle 295">
            <a:extLst>
              <a:ext uri="{FF2B5EF4-FFF2-40B4-BE49-F238E27FC236}">
                <a16:creationId xmlns:a16="http://schemas.microsoft.com/office/drawing/2014/main" id="{3F42BB58-FCE8-49D9-A0D3-AC7010343822}"/>
              </a:ext>
            </a:extLst>
          </p:cNvPr>
          <p:cNvSpPr>
            <a:spLocks noChangeArrowheads="1"/>
          </p:cNvSpPr>
          <p:nvPr>
            <p:custDataLst>
              <p:tags r:id="rId9"/>
            </p:custDataLst>
          </p:nvPr>
        </p:nvSpPr>
        <p:spPr bwMode="auto">
          <a:xfrm>
            <a:off x="2679700" y="49117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6" name="Rectangle 300">
            <a:extLst>
              <a:ext uri="{FF2B5EF4-FFF2-40B4-BE49-F238E27FC236}">
                <a16:creationId xmlns:a16="http://schemas.microsoft.com/office/drawing/2014/main" id="{99DF418E-E4E0-4614-AB91-A8916A606A78}"/>
              </a:ext>
            </a:extLst>
          </p:cNvPr>
          <p:cNvSpPr>
            <a:spLocks noChangeArrowheads="1"/>
          </p:cNvSpPr>
          <p:nvPr>
            <p:custDataLst>
              <p:tags r:id="rId10"/>
            </p:custDataLst>
          </p:nvPr>
        </p:nvSpPr>
        <p:spPr bwMode="auto">
          <a:xfrm>
            <a:off x="2768600" y="47974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7" name="Rectangle 303">
            <a:extLst>
              <a:ext uri="{FF2B5EF4-FFF2-40B4-BE49-F238E27FC236}">
                <a16:creationId xmlns:a16="http://schemas.microsoft.com/office/drawing/2014/main" id="{6601FB79-6833-4079-A18B-A89B8D268EBD}"/>
              </a:ext>
            </a:extLst>
          </p:cNvPr>
          <p:cNvSpPr>
            <a:spLocks noChangeArrowheads="1"/>
          </p:cNvSpPr>
          <p:nvPr>
            <p:custDataLst>
              <p:tags r:id="rId11"/>
            </p:custDataLst>
          </p:nvPr>
        </p:nvSpPr>
        <p:spPr bwMode="auto">
          <a:xfrm>
            <a:off x="2870200" y="54705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8" name="Rectangle 308">
            <a:extLst>
              <a:ext uri="{FF2B5EF4-FFF2-40B4-BE49-F238E27FC236}">
                <a16:creationId xmlns:a16="http://schemas.microsoft.com/office/drawing/2014/main" id="{2DCC0E84-AD07-4611-817D-8AB24713D26B}"/>
              </a:ext>
            </a:extLst>
          </p:cNvPr>
          <p:cNvSpPr>
            <a:spLocks noChangeArrowheads="1"/>
          </p:cNvSpPr>
          <p:nvPr>
            <p:custDataLst>
              <p:tags r:id="rId12"/>
            </p:custDataLst>
          </p:nvPr>
        </p:nvSpPr>
        <p:spPr bwMode="auto">
          <a:xfrm>
            <a:off x="2463800" y="52546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29" name="Rectangle 311">
            <a:extLst>
              <a:ext uri="{FF2B5EF4-FFF2-40B4-BE49-F238E27FC236}">
                <a16:creationId xmlns:a16="http://schemas.microsoft.com/office/drawing/2014/main" id="{995A2FCC-D57F-494E-9117-1B01F20BF166}"/>
              </a:ext>
            </a:extLst>
          </p:cNvPr>
          <p:cNvSpPr>
            <a:spLocks noChangeArrowheads="1"/>
          </p:cNvSpPr>
          <p:nvPr>
            <p:custDataLst>
              <p:tags r:id="rId13"/>
            </p:custDataLst>
          </p:nvPr>
        </p:nvSpPr>
        <p:spPr bwMode="auto">
          <a:xfrm>
            <a:off x="3430588" y="54832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0" name="Rectangle 316">
            <a:extLst>
              <a:ext uri="{FF2B5EF4-FFF2-40B4-BE49-F238E27FC236}">
                <a16:creationId xmlns:a16="http://schemas.microsoft.com/office/drawing/2014/main" id="{960766E3-613A-4A24-92DA-CD2E78363BFD}"/>
              </a:ext>
            </a:extLst>
          </p:cNvPr>
          <p:cNvSpPr>
            <a:spLocks noChangeArrowheads="1"/>
          </p:cNvSpPr>
          <p:nvPr>
            <p:custDataLst>
              <p:tags r:id="rId14"/>
            </p:custDataLst>
          </p:nvPr>
        </p:nvSpPr>
        <p:spPr bwMode="auto">
          <a:xfrm>
            <a:off x="2870200" y="4911725"/>
            <a:ext cx="1588"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1" name="Rectangle 318">
            <a:extLst>
              <a:ext uri="{FF2B5EF4-FFF2-40B4-BE49-F238E27FC236}">
                <a16:creationId xmlns:a16="http://schemas.microsoft.com/office/drawing/2014/main" id="{DAE36E2D-F64D-442D-A6D0-2C1A4BD4A32A}"/>
              </a:ext>
            </a:extLst>
          </p:cNvPr>
          <p:cNvSpPr>
            <a:spLocks noChangeArrowheads="1"/>
          </p:cNvSpPr>
          <p:nvPr>
            <p:custDataLst>
              <p:tags r:id="rId15"/>
            </p:custDataLst>
          </p:nvPr>
        </p:nvSpPr>
        <p:spPr bwMode="auto">
          <a:xfrm>
            <a:off x="4040188" y="54832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2" name="Rectangle 327">
            <a:extLst>
              <a:ext uri="{FF2B5EF4-FFF2-40B4-BE49-F238E27FC236}">
                <a16:creationId xmlns:a16="http://schemas.microsoft.com/office/drawing/2014/main" id="{5105F4F9-2C20-4150-A7AE-C7D702E5B6FF}"/>
              </a:ext>
            </a:extLst>
          </p:cNvPr>
          <p:cNvSpPr>
            <a:spLocks noChangeArrowheads="1"/>
          </p:cNvSpPr>
          <p:nvPr>
            <p:custDataLst>
              <p:tags r:id="rId16"/>
            </p:custDataLst>
          </p:nvPr>
        </p:nvSpPr>
        <p:spPr bwMode="auto">
          <a:xfrm>
            <a:off x="3303588" y="50514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3" name="Rectangle 328">
            <a:extLst>
              <a:ext uri="{FF2B5EF4-FFF2-40B4-BE49-F238E27FC236}">
                <a16:creationId xmlns:a16="http://schemas.microsoft.com/office/drawing/2014/main" id="{66F753B0-1199-4022-87EE-CBCF03643F64}"/>
              </a:ext>
            </a:extLst>
          </p:cNvPr>
          <p:cNvSpPr>
            <a:spLocks noChangeArrowheads="1"/>
          </p:cNvSpPr>
          <p:nvPr>
            <p:custDataLst>
              <p:tags r:id="rId17"/>
            </p:custDataLst>
          </p:nvPr>
        </p:nvSpPr>
        <p:spPr bwMode="auto">
          <a:xfrm>
            <a:off x="3303588" y="49498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4" name="Rectangle 333">
            <a:extLst>
              <a:ext uri="{FF2B5EF4-FFF2-40B4-BE49-F238E27FC236}">
                <a16:creationId xmlns:a16="http://schemas.microsoft.com/office/drawing/2014/main" id="{5EF3D1A9-6DCE-4DCB-ADA1-44EA618C127D}"/>
              </a:ext>
            </a:extLst>
          </p:cNvPr>
          <p:cNvSpPr>
            <a:spLocks noChangeArrowheads="1"/>
          </p:cNvSpPr>
          <p:nvPr>
            <p:custDataLst>
              <p:tags r:id="rId18"/>
            </p:custDataLst>
          </p:nvPr>
        </p:nvSpPr>
        <p:spPr bwMode="auto">
          <a:xfrm>
            <a:off x="2870200" y="5114925"/>
            <a:ext cx="1588"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5" name="Rectangle 334">
            <a:extLst>
              <a:ext uri="{FF2B5EF4-FFF2-40B4-BE49-F238E27FC236}">
                <a16:creationId xmlns:a16="http://schemas.microsoft.com/office/drawing/2014/main" id="{B7738230-BFD4-4172-A3FE-BB5FFB428839}"/>
              </a:ext>
            </a:extLst>
          </p:cNvPr>
          <p:cNvSpPr>
            <a:spLocks noChangeArrowheads="1"/>
          </p:cNvSpPr>
          <p:nvPr>
            <p:custDataLst>
              <p:tags r:id="rId19"/>
            </p:custDataLst>
          </p:nvPr>
        </p:nvSpPr>
        <p:spPr bwMode="auto">
          <a:xfrm>
            <a:off x="2897188" y="5114925"/>
            <a:ext cx="1587"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6" name="Rectangle 339">
            <a:extLst>
              <a:ext uri="{FF2B5EF4-FFF2-40B4-BE49-F238E27FC236}">
                <a16:creationId xmlns:a16="http://schemas.microsoft.com/office/drawing/2014/main" id="{80076E9F-A902-4768-9FF9-B16B0C893B3B}"/>
              </a:ext>
            </a:extLst>
          </p:cNvPr>
          <p:cNvSpPr>
            <a:spLocks noChangeArrowheads="1"/>
          </p:cNvSpPr>
          <p:nvPr>
            <p:custDataLst>
              <p:tags r:id="rId20"/>
            </p:custDataLst>
          </p:nvPr>
        </p:nvSpPr>
        <p:spPr bwMode="auto">
          <a:xfrm>
            <a:off x="4040188" y="5127625"/>
            <a:ext cx="1587"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7" name="Rectangle 340">
            <a:extLst>
              <a:ext uri="{FF2B5EF4-FFF2-40B4-BE49-F238E27FC236}">
                <a16:creationId xmlns:a16="http://schemas.microsoft.com/office/drawing/2014/main" id="{77D14895-40FB-4B80-A99A-2A5706142640}"/>
              </a:ext>
            </a:extLst>
          </p:cNvPr>
          <p:cNvSpPr>
            <a:spLocks noChangeArrowheads="1"/>
          </p:cNvSpPr>
          <p:nvPr>
            <p:custDataLst>
              <p:tags r:id="rId21"/>
            </p:custDataLst>
          </p:nvPr>
        </p:nvSpPr>
        <p:spPr bwMode="auto">
          <a:xfrm>
            <a:off x="4014788" y="5114925"/>
            <a:ext cx="1587"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8" name="Rectangle 342">
            <a:extLst>
              <a:ext uri="{FF2B5EF4-FFF2-40B4-BE49-F238E27FC236}">
                <a16:creationId xmlns:a16="http://schemas.microsoft.com/office/drawing/2014/main" id="{96D5F3FE-4E4D-4772-A257-B0100B665B50}"/>
              </a:ext>
            </a:extLst>
          </p:cNvPr>
          <p:cNvSpPr>
            <a:spLocks noChangeArrowheads="1"/>
          </p:cNvSpPr>
          <p:nvPr>
            <p:custDataLst>
              <p:tags r:id="rId22"/>
            </p:custDataLst>
          </p:nvPr>
        </p:nvSpPr>
        <p:spPr bwMode="auto">
          <a:xfrm>
            <a:off x="5094288" y="4164013"/>
            <a:ext cx="1587"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39" name="Rectangle 343">
            <a:extLst>
              <a:ext uri="{FF2B5EF4-FFF2-40B4-BE49-F238E27FC236}">
                <a16:creationId xmlns:a16="http://schemas.microsoft.com/office/drawing/2014/main" id="{185FC862-57A5-477A-BF48-191E514E96E1}"/>
              </a:ext>
            </a:extLst>
          </p:cNvPr>
          <p:cNvSpPr>
            <a:spLocks noChangeArrowheads="1"/>
          </p:cNvSpPr>
          <p:nvPr>
            <p:custDataLst>
              <p:tags r:id="rId23"/>
            </p:custDataLst>
          </p:nvPr>
        </p:nvSpPr>
        <p:spPr bwMode="auto">
          <a:xfrm>
            <a:off x="4852988" y="4164013"/>
            <a:ext cx="1587" cy="12700"/>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0" name="Rectangle 345">
            <a:extLst>
              <a:ext uri="{FF2B5EF4-FFF2-40B4-BE49-F238E27FC236}">
                <a16:creationId xmlns:a16="http://schemas.microsoft.com/office/drawing/2014/main" id="{3A383746-FB3C-4851-9728-FE3A184DF85E}"/>
              </a:ext>
            </a:extLst>
          </p:cNvPr>
          <p:cNvSpPr>
            <a:spLocks noChangeArrowheads="1"/>
          </p:cNvSpPr>
          <p:nvPr>
            <p:custDataLst>
              <p:tags r:id="rId24"/>
            </p:custDataLst>
          </p:nvPr>
        </p:nvSpPr>
        <p:spPr bwMode="auto">
          <a:xfrm>
            <a:off x="5462588" y="4608513"/>
            <a:ext cx="12700" cy="1587"/>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1" name="Rectangle 346">
            <a:extLst>
              <a:ext uri="{FF2B5EF4-FFF2-40B4-BE49-F238E27FC236}">
                <a16:creationId xmlns:a16="http://schemas.microsoft.com/office/drawing/2014/main" id="{F043D37C-D4E4-4C02-AC02-48301B4D9395}"/>
              </a:ext>
            </a:extLst>
          </p:cNvPr>
          <p:cNvSpPr>
            <a:spLocks noChangeArrowheads="1"/>
          </p:cNvSpPr>
          <p:nvPr>
            <p:custDataLst>
              <p:tags r:id="rId25"/>
            </p:custDataLst>
          </p:nvPr>
        </p:nvSpPr>
        <p:spPr bwMode="auto">
          <a:xfrm>
            <a:off x="4903788" y="6499225"/>
            <a:ext cx="12700"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2" name="Rectangle 375">
            <a:extLst>
              <a:ext uri="{FF2B5EF4-FFF2-40B4-BE49-F238E27FC236}">
                <a16:creationId xmlns:a16="http://schemas.microsoft.com/office/drawing/2014/main" id="{D74CAF41-3560-4D81-9557-78516E1FA164}"/>
              </a:ext>
            </a:extLst>
          </p:cNvPr>
          <p:cNvSpPr>
            <a:spLocks noChangeArrowheads="1"/>
          </p:cNvSpPr>
          <p:nvPr>
            <p:custDataLst>
              <p:tags r:id="rId26"/>
            </p:custDataLst>
          </p:nvPr>
        </p:nvSpPr>
        <p:spPr bwMode="auto">
          <a:xfrm>
            <a:off x="2420938" y="206692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3" name="Rectangle 378">
            <a:extLst>
              <a:ext uri="{FF2B5EF4-FFF2-40B4-BE49-F238E27FC236}">
                <a16:creationId xmlns:a16="http://schemas.microsoft.com/office/drawing/2014/main" id="{9ABCF2F9-7507-4F01-A766-C6352E086868}"/>
              </a:ext>
            </a:extLst>
          </p:cNvPr>
          <p:cNvSpPr>
            <a:spLocks noChangeArrowheads="1"/>
          </p:cNvSpPr>
          <p:nvPr>
            <p:custDataLst>
              <p:tags r:id="rId27"/>
            </p:custDataLst>
          </p:nvPr>
        </p:nvSpPr>
        <p:spPr bwMode="auto">
          <a:xfrm>
            <a:off x="2873375" y="206692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4" name="Rectangle 380">
            <a:extLst>
              <a:ext uri="{FF2B5EF4-FFF2-40B4-BE49-F238E27FC236}">
                <a16:creationId xmlns:a16="http://schemas.microsoft.com/office/drawing/2014/main" id="{1286562D-C045-4BF6-9755-01645524BD94}"/>
              </a:ext>
            </a:extLst>
          </p:cNvPr>
          <p:cNvSpPr>
            <a:spLocks noChangeArrowheads="1"/>
          </p:cNvSpPr>
          <p:nvPr>
            <p:custDataLst>
              <p:tags r:id="rId28"/>
            </p:custDataLst>
          </p:nvPr>
        </p:nvSpPr>
        <p:spPr bwMode="auto">
          <a:xfrm>
            <a:off x="2516188" y="2376488"/>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5" name="Rectangle 381">
            <a:extLst>
              <a:ext uri="{FF2B5EF4-FFF2-40B4-BE49-F238E27FC236}">
                <a16:creationId xmlns:a16="http://schemas.microsoft.com/office/drawing/2014/main" id="{4AFCD415-B028-48CE-9E69-D46FF44EC2FD}"/>
              </a:ext>
            </a:extLst>
          </p:cNvPr>
          <p:cNvSpPr>
            <a:spLocks noChangeArrowheads="1"/>
          </p:cNvSpPr>
          <p:nvPr>
            <p:custDataLst>
              <p:tags r:id="rId29"/>
            </p:custDataLst>
          </p:nvPr>
        </p:nvSpPr>
        <p:spPr bwMode="auto">
          <a:xfrm>
            <a:off x="2801938" y="2376488"/>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6" name="Rectangle 383">
            <a:extLst>
              <a:ext uri="{FF2B5EF4-FFF2-40B4-BE49-F238E27FC236}">
                <a16:creationId xmlns:a16="http://schemas.microsoft.com/office/drawing/2014/main" id="{915FD6CC-0696-4A78-A487-741BABC1AE9D}"/>
              </a:ext>
            </a:extLst>
          </p:cNvPr>
          <p:cNvSpPr>
            <a:spLocks noChangeArrowheads="1"/>
          </p:cNvSpPr>
          <p:nvPr>
            <p:custDataLst>
              <p:tags r:id="rId30"/>
            </p:custDataLst>
          </p:nvPr>
        </p:nvSpPr>
        <p:spPr bwMode="auto">
          <a:xfrm>
            <a:off x="2516188" y="2233613"/>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7" name="Rectangle 384">
            <a:extLst>
              <a:ext uri="{FF2B5EF4-FFF2-40B4-BE49-F238E27FC236}">
                <a16:creationId xmlns:a16="http://schemas.microsoft.com/office/drawing/2014/main" id="{BAD91ED0-E227-49EC-8652-394CFD86CB0F}"/>
              </a:ext>
            </a:extLst>
          </p:cNvPr>
          <p:cNvSpPr>
            <a:spLocks noChangeArrowheads="1"/>
          </p:cNvSpPr>
          <p:nvPr>
            <p:custDataLst>
              <p:tags r:id="rId31"/>
            </p:custDataLst>
          </p:nvPr>
        </p:nvSpPr>
        <p:spPr bwMode="auto">
          <a:xfrm>
            <a:off x="2801938" y="2233613"/>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8" name="Rectangle 386">
            <a:extLst>
              <a:ext uri="{FF2B5EF4-FFF2-40B4-BE49-F238E27FC236}">
                <a16:creationId xmlns:a16="http://schemas.microsoft.com/office/drawing/2014/main" id="{65253F3F-CD6F-47CE-8022-968B18A0400A}"/>
              </a:ext>
            </a:extLst>
          </p:cNvPr>
          <p:cNvSpPr>
            <a:spLocks noChangeArrowheads="1"/>
          </p:cNvSpPr>
          <p:nvPr>
            <p:custDataLst>
              <p:tags r:id="rId32"/>
            </p:custDataLst>
          </p:nvPr>
        </p:nvSpPr>
        <p:spPr bwMode="auto">
          <a:xfrm>
            <a:off x="2516188" y="2114550"/>
            <a:ext cx="1587"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49" name="Rectangle 387">
            <a:extLst>
              <a:ext uri="{FF2B5EF4-FFF2-40B4-BE49-F238E27FC236}">
                <a16:creationId xmlns:a16="http://schemas.microsoft.com/office/drawing/2014/main" id="{2D6E5347-88AE-47CF-8621-5CE2A83B39BB}"/>
              </a:ext>
            </a:extLst>
          </p:cNvPr>
          <p:cNvSpPr>
            <a:spLocks noChangeArrowheads="1"/>
          </p:cNvSpPr>
          <p:nvPr>
            <p:custDataLst>
              <p:tags r:id="rId33"/>
            </p:custDataLst>
          </p:nvPr>
        </p:nvSpPr>
        <p:spPr bwMode="auto">
          <a:xfrm>
            <a:off x="2801938" y="2114550"/>
            <a:ext cx="1587"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0" name="Rectangle 389">
            <a:extLst>
              <a:ext uri="{FF2B5EF4-FFF2-40B4-BE49-F238E27FC236}">
                <a16:creationId xmlns:a16="http://schemas.microsoft.com/office/drawing/2014/main" id="{9D0E2487-5D5C-4F07-AC71-1BDFC76C581E}"/>
              </a:ext>
            </a:extLst>
          </p:cNvPr>
          <p:cNvSpPr>
            <a:spLocks noChangeArrowheads="1"/>
          </p:cNvSpPr>
          <p:nvPr>
            <p:custDataLst>
              <p:tags r:id="rId34"/>
            </p:custDataLst>
          </p:nvPr>
        </p:nvSpPr>
        <p:spPr bwMode="auto">
          <a:xfrm>
            <a:off x="3398838" y="206692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1" name="Rectangle 392">
            <a:extLst>
              <a:ext uri="{FF2B5EF4-FFF2-40B4-BE49-F238E27FC236}">
                <a16:creationId xmlns:a16="http://schemas.microsoft.com/office/drawing/2014/main" id="{4EB0E3AB-9155-4D93-B21E-C66A04F84087}"/>
              </a:ext>
            </a:extLst>
          </p:cNvPr>
          <p:cNvSpPr>
            <a:spLocks noChangeArrowheads="1"/>
          </p:cNvSpPr>
          <p:nvPr>
            <p:custDataLst>
              <p:tags r:id="rId35"/>
            </p:custDataLst>
          </p:nvPr>
        </p:nvSpPr>
        <p:spPr bwMode="auto">
          <a:xfrm>
            <a:off x="3827463" y="206692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2" name="Rectangle 394">
            <a:extLst>
              <a:ext uri="{FF2B5EF4-FFF2-40B4-BE49-F238E27FC236}">
                <a16:creationId xmlns:a16="http://schemas.microsoft.com/office/drawing/2014/main" id="{6F3E718C-6256-420F-B42A-F46E9485C1F6}"/>
              </a:ext>
            </a:extLst>
          </p:cNvPr>
          <p:cNvSpPr>
            <a:spLocks noChangeArrowheads="1"/>
          </p:cNvSpPr>
          <p:nvPr>
            <p:custDataLst>
              <p:tags r:id="rId36"/>
            </p:custDataLst>
          </p:nvPr>
        </p:nvSpPr>
        <p:spPr bwMode="auto">
          <a:xfrm>
            <a:off x="3470275" y="2352675"/>
            <a:ext cx="1588"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3" name="Rectangle 395">
            <a:extLst>
              <a:ext uri="{FF2B5EF4-FFF2-40B4-BE49-F238E27FC236}">
                <a16:creationId xmlns:a16="http://schemas.microsoft.com/office/drawing/2014/main" id="{4B1EEB1D-FA80-4E83-BB7A-9CD15A362B52}"/>
              </a:ext>
            </a:extLst>
          </p:cNvPr>
          <p:cNvSpPr>
            <a:spLocks noChangeArrowheads="1"/>
          </p:cNvSpPr>
          <p:nvPr>
            <p:custDataLst>
              <p:tags r:id="rId37"/>
            </p:custDataLst>
          </p:nvPr>
        </p:nvSpPr>
        <p:spPr bwMode="auto">
          <a:xfrm>
            <a:off x="3756025" y="2352675"/>
            <a:ext cx="1588"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4" name="Rectangle 397">
            <a:extLst>
              <a:ext uri="{FF2B5EF4-FFF2-40B4-BE49-F238E27FC236}">
                <a16:creationId xmlns:a16="http://schemas.microsoft.com/office/drawing/2014/main" id="{8AAAE703-C776-4511-B623-CC7136EB4F88}"/>
              </a:ext>
            </a:extLst>
          </p:cNvPr>
          <p:cNvSpPr>
            <a:spLocks noChangeArrowheads="1"/>
          </p:cNvSpPr>
          <p:nvPr>
            <p:custDataLst>
              <p:tags r:id="rId38"/>
            </p:custDataLst>
          </p:nvPr>
        </p:nvSpPr>
        <p:spPr bwMode="auto">
          <a:xfrm>
            <a:off x="3470275" y="2233613"/>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5" name="Rectangle 398">
            <a:extLst>
              <a:ext uri="{FF2B5EF4-FFF2-40B4-BE49-F238E27FC236}">
                <a16:creationId xmlns:a16="http://schemas.microsoft.com/office/drawing/2014/main" id="{7D49A1DD-2497-47B5-BFC8-C0E0B6B94CD1}"/>
              </a:ext>
            </a:extLst>
          </p:cNvPr>
          <p:cNvSpPr>
            <a:spLocks noChangeArrowheads="1"/>
          </p:cNvSpPr>
          <p:nvPr>
            <p:custDataLst>
              <p:tags r:id="rId39"/>
            </p:custDataLst>
          </p:nvPr>
        </p:nvSpPr>
        <p:spPr bwMode="auto">
          <a:xfrm>
            <a:off x="3756025" y="2233613"/>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6" name="Rectangle 400">
            <a:extLst>
              <a:ext uri="{FF2B5EF4-FFF2-40B4-BE49-F238E27FC236}">
                <a16:creationId xmlns:a16="http://schemas.microsoft.com/office/drawing/2014/main" id="{BFE6218D-8DD9-46B3-A2DB-82D35C0EA967}"/>
              </a:ext>
            </a:extLst>
          </p:cNvPr>
          <p:cNvSpPr>
            <a:spLocks noChangeArrowheads="1"/>
          </p:cNvSpPr>
          <p:nvPr>
            <p:custDataLst>
              <p:tags r:id="rId40"/>
            </p:custDataLst>
          </p:nvPr>
        </p:nvSpPr>
        <p:spPr bwMode="auto">
          <a:xfrm>
            <a:off x="3470275" y="20907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7" name="Rectangle 401">
            <a:extLst>
              <a:ext uri="{FF2B5EF4-FFF2-40B4-BE49-F238E27FC236}">
                <a16:creationId xmlns:a16="http://schemas.microsoft.com/office/drawing/2014/main" id="{F4CA5795-5037-4596-BD75-4EFE4330FD24}"/>
              </a:ext>
            </a:extLst>
          </p:cNvPr>
          <p:cNvSpPr>
            <a:spLocks noChangeArrowheads="1"/>
          </p:cNvSpPr>
          <p:nvPr>
            <p:custDataLst>
              <p:tags r:id="rId41"/>
            </p:custDataLst>
          </p:nvPr>
        </p:nvSpPr>
        <p:spPr bwMode="auto">
          <a:xfrm>
            <a:off x="3756025" y="20907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8" name="Rectangle 403">
            <a:extLst>
              <a:ext uri="{FF2B5EF4-FFF2-40B4-BE49-F238E27FC236}">
                <a16:creationId xmlns:a16="http://schemas.microsoft.com/office/drawing/2014/main" id="{D2EE9879-5A91-4418-B1B1-A46209387B9A}"/>
              </a:ext>
            </a:extLst>
          </p:cNvPr>
          <p:cNvSpPr>
            <a:spLocks noChangeArrowheads="1"/>
          </p:cNvSpPr>
          <p:nvPr>
            <p:custDataLst>
              <p:tags r:id="rId42"/>
            </p:custDataLst>
          </p:nvPr>
        </p:nvSpPr>
        <p:spPr bwMode="auto">
          <a:xfrm>
            <a:off x="4471988" y="247332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59" name="Rectangle 406">
            <a:extLst>
              <a:ext uri="{FF2B5EF4-FFF2-40B4-BE49-F238E27FC236}">
                <a16:creationId xmlns:a16="http://schemas.microsoft.com/office/drawing/2014/main" id="{735E4207-B354-4E73-A9F0-756AF31F1D74}"/>
              </a:ext>
            </a:extLst>
          </p:cNvPr>
          <p:cNvSpPr>
            <a:spLocks noChangeArrowheads="1"/>
          </p:cNvSpPr>
          <p:nvPr>
            <p:custDataLst>
              <p:tags r:id="rId43"/>
            </p:custDataLst>
          </p:nvPr>
        </p:nvSpPr>
        <p:spPr bwMode="auto">
          <a:xfrm>
            <a:off x="4924425" y="247332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0" name="Rectangle 408">
            <a:extLst>
              <a:ext uri="{FF2B5EF4-FFF2-40B4-BE49-F238E27FC236}">
                <a16:creationId xmlns:a16="http://schemas.microsoft.com/office/drawing/2014/main" id="{A7BE8924-171B-4843-ADD1-8C433B42D56E}"/>
              </a:ext>
            </a:extLst>
          </p:cNvPr>
          <p:cNvSpPr>
            <a:spLocks noChangeArrowheads="1"/>
          </p:cNvSpPr>
          <p:nvPr>
            <p:custDataLst>
              <p:tags r:id="rId44"/>
            </p:custDataLst>
          </p:nvPr>
        </p:nvSpPr>
        <p:spPr bwMode="auto">
          <a:xfrm>
            <a:off x="4567238" y="2185988"/>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1" name="Rectangle 409">
            <a:extLst>
              <a:ext uri="{FF2B5EF4-FFF2-40B4-BE49-F238E27FC236}">
                <a16:creationId xmlns:a16="http://schemas.microsoft.com/office/drawing/2014/main" id="{B54C5D87-E85E-42D9-8833-798FB4991927}"/>
              </a:ext>
            </a:extLst>
          </p:cNvPr>
          <p:cNvSpPr>
            <a:spLocks noChangeArrowheads="1"/>
          </p:cNvSpPr>
          <p:nvPr>
            <p:custDataLst>
              <p:tags r:id="rId45"/>
            </p:custDataLst>
          </p:nvPr>
        </p:nvSpPr>
        <p:spPr bwMode="auto">
          <a:xfrm>
            <a:off x="4852988" y="2185988"/>
            <a:ext cx="1587"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2" name="Rectangle 411">
            <a:extLst>
              <a:ext uri="{FF2B5EF4-FFF2-40B4-BE49-F238E27FC236}">
                <a16:creationId xmlns:a16="http://schemas.microsoft.com/office/drawing/2014/main" id="{845A063F-664E-49AC-BD79-F73EF8A19694}"/>
              </a:ext>
            </a:extLst>
          </p:cNvPr>
          <p:cNvSpPr>
            <a:spLocks noChangeArrowheads="1"/>
          </p:cNvSpPr>
          <p:nvPr>
            <p:custDataLst>
              <p:tags r:id="rId46"/>
            </p:custDataLst>
          </p:nvPr>
        </p:nvSpPr>
        <p:spPr bwMode="auto">
          <a:xfrm>
            <a:off x="4567238" y="2305050"/>
            <a:ext cx="1587"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3" name="Rectangle 412">
            <a:extLst>
              <a:ext uri="{FF2B5EF4-FFF2-40B4-BE49-F238E27FC236}">
                <a16:creationId xmlns:a16="http://schemas.microsoft.com/office/drawing/2014/main" id="{808209D6-623E-4E88-AB79-863AFA882FB4}"/>
              </a:ext>
            </a:extLst>
          </p:cNvPr>
          <p:cNvSpPr>
            <a:spLocks noChangeArrowheads="1"/>
          </p:cNvSpPr>
          <p:nvPr>
            <p:custDataLst>
              <p:tags r:id="rId47"/>
            </p:custDataLst>
          </p:nvPr>
        </p:nvSpPr>
        <p:spPr bwMode="auto">
          <a:xfrm>
            <a:off x="4852988" y="2305050"/>
            <a:ext cx="1587"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4" name="Rectangle 414">
            <a:extLst>
              <a:ext uri="{FF2B5EF4-FFF2-40B4-BE49-F238E27FC236}">
                <a16:creationId xmlns:a16="http://schemas.microsoft.com/office/drawing/2014/main" id="{6ED722DC-2596-48AE-9F0E-A4914C4F338F}"/>
              </a:ext>
            </a:extLst>
          </p:cNvPr>
          <p:cNvSpPr>
            <a:spLocks noChangeArrowheads="1"/>
          </p:cNvSpPr>
          <p:nvPr>
            <p:custDataLst>
              <p:tags r:id="rId48"/>
            </p:custDataLst>
          </p:nvPr>
        </p:nvSpPr>
        <p:spPr bwMode="auto">
          <a:xfrm>
            <a:off x="4543425" y="2449513"/>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5" name="Rectangle 415">
            <a:extLst>
              <a:ext uri="{FF2B5EF4-FFF2-40B4-BE49-F238E27FC236}">
                <a16:creationId xmlns:a16="http://schemas.microsoft.com/office/drawing/2014/main" id="{E824D14D-C07B-4632-B1FF-1386CB012947}"/>
              </a:ext>
            </a:extLst>
          </p:cNvPr>
          <p:cNvSpPr>
            <a:spLocks noChangeArrowheads="1"/>
          </p:cNvSpPr>
          <p:nvPr>
            <p:custDataLst>
              <p:tags r:id="rId49"/>
            </p:custDataLst>
          </p:nvPr>
        </p:nvSpPr>
        <p:spPr bwMode="auto">
          <a:xfrm>
            <a:off x="4829175" y="2449513"/>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6" name="Rectangle 518">
            <a:extLst>
              <a:ext uri="{FF2B5EF4-FFF2-40B4-BE49-F238E27FC236}">
                <a16:creationId xmlns:a16="http://schemas.microsoft.com/office/drawing/2014/main" id="{60CC03AF-7FA0-4973-8102-ED9162CED91D}"/>
              </a:ext>
            </a:extLst>
          </p:cNvPr>
          <p:cNvSpPr>
            <a:spLocks noChangeArrowheads="1"/>
          </p:cNvSpPr>
          <p:nvPr>
            <p:custDataLst>
              <p:tags r:id="rId50"/>
            </p:custDataLst>
          </p:nvPr>
        </p:nvSpPr>
        <p:spPr bwMode="auto">
          <a:xfrm>
            <a:off x="2778125" y="361632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7" name="Rectangle 519">
            <a:extLst>
              <a:ext uri="{FF2B5EF4-FFF2-40B4-BE49-F238E27FC236}">
                <a16:creationId xmlns:a16="http://schemas.microsoft.com/office/drawing/2014/main" id="{8F3C6192-FD6A-4E8A-A5FC-18EECF1B52DA}"/>
              </a:ext>
            </a:extLst>
          </p:cNvPr>
          <p:cNvSpPr>
            <a:spLocks noChangeArrowheads="1"/>
          </p:cNvSpPr>
          <p:nvPr>
            <p:custDataLst>
              <p:tags r:id="rId51"/>
            </p:custDataLst>
          </p:nvPr>
        </p:nvSpPr>
        <p:spPr bwMode="auto">
          <a:xfrm>
            <a:off x="2778125" y="3735388"/>
            <a:ext cx="23813" cy="1587"/>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8" name="Rectangle 527">
            <a:extLst>
              <a:ext uri="{FF2B5EF4-FFF2-40B4-BE49-F238E27FC236}">
                <a16:creationId xmlns:a16="http://schemas.microsoft.com/office/drawing/2014/main" id="{8DB07D0C-1573-4A0A-885C-00F2F9A83875}"/>
              </a:ext>
            </a:extLst>
          </p:cNvPr>
          <p:cNvSpPr>
            <a:spLocks noChangeArrowheads="1"/>
          </p:cNvSpPr>
          <p:nvPr>
            <p:custDataLst>
              <p:tags r:id="rId52"/>
            </p:custDataLst>
          </p:nvPr>
        </p:nvSpPr>
        <p:spPr bwMode="auto">
          <a:xfrm>
            <a:off x="2730500" y="2616200"/>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69" name="Rectangle 528">
            <a:extLst>
              <a:ext uri="{FF2B5EF4-FFF2-40B4-BE49-F238E27FC236}">
                <a16:creationId xmlns:a16="http://schemas.microsoft.com/office/drawing/2014/main" id="{42D9E387-39EA-401C-887B-C722C19CCEA8}"/>
              </a:ext>
            </a:extLst>
          </p:cNvPr>
          <p:cNvSpPr>
            <a:spLocks noChangeArrowheads="1"/>
          </p:cNvSpPr>
          <p:nvPr>
            <p:custDataLst>
              <p:tags r:id="rId53"/>
            </p:custDataLst>
          </p:nvPr>
        </p:nvSpPr>
        <p:spPr bwMode="auto">
          <a:xfrm>
            <a:off x="2730500" y="266382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0" name="Rectangle 536">
            <a:extLst>
              <a:ext uri="{FF2B5EF4-FFF2-40B4-BE49-F238E27FC236}">
                <a16:creationId xmlns:a16="http://schemas.microsoft.com/office/drawing/2014/main" id="{70CBD97A-676D-49ED-BFD8-B7E739ABEABD}"/>
              </a:ext>
            </a:extLst>
          </p:cNvPr>
          <p:cNvSpPr>
            <a:spLocks noChangeArrowheads="1"/>
          </p:cNvSpPr>
          <p:nvPr>
            <p:custDataLst>
              <p:tags r:id="rId54"/>
            </p:custDataLst>
          </p:nvPr>
        </p:nvSpPr>
        <p:spPr bwMode="auto">
          <a:xfrm>
            <a:off x="3541713" y="2616200"/>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1" name="Rectangle 537">
            <a:extLst>
              <a:ext uri="{FF2B5EF4-FFF2-40B4-BE49-F238E27FC236}">
                <a16:creationId xmlns:a16="http://schemas.microsoft.com/office/drawing/2014/main" id="{71E41B27-755F-4B69-9463-3AFED8756FF2}"/>
              </a:ext>
            </a:extLst>
          </p:cNvPr>
          <p:cNvSpPr>
            <a:spLocks noChangeArrowheads="1"/>
          </p:cNvSpPr>
          <p:nvPr>
            <p:custDataLst>
              <p:tags r:id="rId55"/>
            </p:custDataLst>
          </p:nvPr>
        </p:nvSpPr>
        <p:spPr bwMode="auto">
          <a:xfrm>
            <a:off x="3541713" y="2687638"/>
            <a:ext cx="23812" cy="1587"/>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2" name="Rectangle 542">
            <a:extLst>
              <a:ext uri="{FF2B5EF4-FFF2-40B4-BE49-F238E27FC236}">
                <a16:creationId xmlns:a16="http://schemas.microsoft.com/office/drawing/2014/main" id="{30F5334F-762F-4892-9ECB-5AC895C9BECB}"/>
              </a:ext>
            </a:extLst>
          </p:cNvPr>
          <p:cNvSpPr>
            <a:spLocks noChangeArrowheads="1"/>
          </p:cNvSpPr>
          <p:nvPr>
            <p:custDataLst>
              <p:tags r:id="rId56"/>
            </p:custDataLst>
          </p:nvPr>
        </p:nvSpPr>
        <p:spPr bwMode="auto">
          <a:xfrm>
            <a:off x="3708400" y="247332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3" name="Rectangle 545">
            <a:extLst>
              <a:ext uri="{FF2B5EF4-FFF2-40B4-BE49-F238E27FC236}">
                <a16:creationId xmlns:a16="http://schemas.microsoft.com/office/drawing/2014/main" id="{2ED2448A-F27B-4BCC-BC65-470B812119EC}"/>
              </a:ext>
            </a:extLst>
          </p:cNvPr>
          <p:cNvSpPr>
            <a:spLocks noChangeArrowheads="1"/>
          </p:cNvSpPr>
          <p:nvPr>
            <p:custDataLst>
              <p:tags r:id="rId57"/>
            </p:custDataLst>
          </p:nvPr>
        </p:nvSpPr>
        <p:spPr bwMode="auto">
          <a:xfrm>
            <a:off x="3898900" y="3735388"/>
            <a:ext cx="23813" cy="1587"/>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4" name="Rectangle 550">
            <a:extLst>
              <a:ext uri="{FF2B5EF4-FFF2-40B4-BE49-F238E27FC236}">
                <a16:creationId xmlns:a16="http://schemas.microsoft.com/office/drawing/2014/main" id="{8A3A011C-7596-4AD5-8F2A-67AB3CBD71BF}"/>
              </a:ext>
            </a:extLst>
          </p:cNvPr>
          <p:cNvSpPr>
            <a:spLocks noChangeArrowheads="1"/>
          </p:cNvSpPr>
          <p:nvPr>
            <p:custDataLst>
              <p:tags r:id="rId58"/>
            </p:custDataLst>
          </p:nvPr>
        </p:nvSpPr>
        <p:spPr bwMode="auto">
          <a:xfrm>
            <a:off x="3136900" y="3330575"/>
            <a:ext cx="23813"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5" name="Rectangle 553">
            <a:extLst>
              <a:ext uri="{FF2B5EF4-FFF2-40B4-BE49-F238E27FC236}">
                <a16:creationId xmlns:a16="http://schemas.microsoft.com/office/drawing/2014/main" id="{DA13FC74-2684-4062-9783-7806CC3170D9}"/>
              </a:ext>
            </a:extLst>
          </p:cNvPr>
          <p:cNvSpPr>
            <a:spLocks noChangeArrowheads="1"/>
          </p:cNvSpPr>
          <p:nvPr>
            <p:custDataLst>
              <p:tags r:id="rId59"/>
            </p:custDataLst>
          </p:nvPr>
        </p:nvSpPr>
        <p:spPr bwMode="auto">
          <a:xfrm>
            <a:off x="4948238" y="3759200"/>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6" name="Rectangle 558">
            <a:extLst>
              <a:ext uri="{FF2B5EF4-FFF2-40B4-BE49-F238E27FC236}">
                <a16:creationId xmlns:a16="http://schemas.microsoft.com/office/drawing/2014/main" id="{2B60CF6A-7DC7-4721-A5DF-FB8B15E978BE}"/>
              </a:ext>
            </a:extLst>
          </p:cNvPr>
          <p:cNvSpPr>
            <a:spLocks noChangeArrowheads="1"/>
          </p:cNvSpPr>
          <p:nvPr>
            <p:custDataLst>
              <p:tags r:id="rId60"/>
            </p:custDataLst>
          </p:nvPr>
        </p:nvSpPr>
        <p:spPr bwMode="auto">
          <a:xfrm>
            <a:off x="3898900" y="26876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7" name="Rectangle 560">
            <a:extLst>
              <a:ext uri="{FF2B5EF4-FFF2-40B4-BE49-F238E27FC236}">
                <a16:creationId xmlns:a16="http://schemas.microsoft.com/office/drawing/2014/main" id="{C9A909C4-614B-4652-89ED-AE4B0573E203}"/>
              </a:ext>
            </a:extLst>
          </p:cNvPr>
          <p:cNvSpPr>
            <a:spLocks noChangeArrowheads="1"/>
          </p:cNvSpPr>
          <p:nvPr>
            <p:custDataLst>
              <p:tags r:id="rId61"/>
            </p:custDataLst>
          </p:nvPr>
        </p:nvSpPr>
        <p:spPr bwMode="auto">
          <a:xfrm>
            <a:off x="6094413" y="3759200"/>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8" name="Rectangle 570">
            <a:extLst>
              <a:ext uri="{FF2B5EF4-FFF2-40B4-BE49-F238E27FC236}">
                <a16:creationId xmlns:a16="http://schemas.microsoft.com/office/drawing/2014/main" id="{512B2ADC-ED74-45A5-BF52-6A7D34DB4A18}"/>
              </a:ext>
            </a:extLst>
          </p:cNvPr>
          <p:cNvSpPr>
            <a:spLocks noChangeArrowheads="1"/>
          </p:cNvSpPr>
          <p:nvPr>
            <p:custDataLst>
              <p:tags r:id="rId62"/>
            </p:custDataLst>
          </p:nvPr>
        </p:nvSpPr>
        <p:spPr bwMode="auto">
          <a:xfrm>
            <a:off x="4710113" y="294957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79" name="Rectangle 571">
            <a:extLst>
              <a:ext uri="{FF2B5EF4-FFF2-40B4-BE49-F238E27FC236}">
                <a16:creationId xmlns:a16="http://schemas.microsoft.com/office/drawing/2014/main" id="{C22A5015-703F-42D7-B3D7-ED93B2C830F8}"/>
              </a:ext>
            </a:extLst>
          </p:cNvPr>
          <p:cNvSpPr>
            <a:spLocks noChangeArrowheads="1"/>
          </p:cNvSpPr>
          <p:nvPr>
            <p:custDataLst>
              <p:tags r:id="rId63"/>
            </p:custDataLst>
          </p:nvPr>
        </p:nvSpPr>
        <p:spPr bwMode="auto">
          <a:xfrm>
            <a:off x="4710113" y="2759075"/>
            <a:ext cx="23812" cy="1588"/>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80" name="Rectangle 576">
            <a:extLst>
              <a:ext uri="{FF2B5EF4-FFF2-40B4-BE49-F238E27FC236}">
                <a16:creationId xmlns:a16="http://schemas.microsoft.com/office/drawing/2014/main" id="{CF6526F0-0A2C-4CCE-AEA3-097D59FBBDC0}"/>
              </a:ext>
            </a:extLst>
          </p:cNvPr>
          <p:cNvSpPr>
            <a:spLocks noChangeArrowheads="1"/>
          </p:cNvSpPr>
          <p:nvPr>
            <p:custDataLst>
              <p:tags r:id="rId64"/>
            </p:custDataLst>
          </p:nvPr>
        </p:nvSpPr>
        <p:spPr bwMode="auto">
          <a:xfrm>
            <a:off x="3898900" y="30686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81" name="Rectangle 577">
            <a:extLst>
              <a:ext uri="{FF2B5EF4-FFF2-40B4-BE49-F238E27FC236}">
                <a16:creationId xmlns:a16="http://schemas.microsoft.com/office/drawing/2014/main" id="{0D939172-E20B-4768-B537-11AC6EF76225}"/>
              </a:ext>
            </a:extLst>
          </p:cNvPr>
          <p:cNvSpPr>
            <a:spLocks noChangeArrowheads="1"/>
          </p:cNvSpPr>
          <p:nvPr>
            <p:custDataLst>
              <p:tags r:id="rId65"/>
            </p:custDataLst>
          </p:nvPr>
        </p:nvSpPr>
        <p:spPr bwMode="auto">
          <a:xfrm>
            <a:off x="3946525" y="30686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82" name="Rectangle 582">
            <a:extLst>
              <a:ext uri="{FF2B5EF4-FFF2-40B4-BE49-F238E27FC236}">
                <a16:creationId xmlns:a16="http://schemas.microsoft.com/office/drawing/2014/main" id="{F37AA98C-1C20-4726-93FD-45C5C7F87257}"/>
              </a:ext>
            </a:extLst>
          </p:cNvPr>
          <p:cNvSpPr>
            <a:spLocks noChangeArrowheads="1"/>
          </p:cNvSpPr>
          <p:nvPr>
            <p:custDataLst>
              <p:tags r:id="rId66"/>
            </p:custDataLst>
          </p:nvPr>
        </p:nvSpPr>
        <p:spPr bwMode="auto">
          <a:xfrm>
            <a:off x="6094413" y="3092450"/>
            <a:ext cx="1587" cy="23813"/>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83" name="Rectangle 583">
            <a:extLst>
              <a:ext uri="{FF2B5EF4-FFF2-40B4-BE49-F238E27FC236}">
                <a16:creationId xmlns:a16="http://schemas.microsoft.com/office/drawing/2014/main" id="{2D2647BE-77BE-4F55-B652-D68B0C2CA4C5}"/>
              </a:ext>
            </a:extLst>
          </p:cNvPr>
          <p:cNvSpPr>
            <a:spLocks noChangeArrowheads="1"/>
          </p:cNvSpPr>
          <p:nvPr>
            <p:custDataLst>
              <p:tags r:id="rId67"/>
            </p:custDataLst>
          </p:nvPr>
        </p:nvSpPr>
        <p:spPr bwMode="auto">
          <a:xfrm>
            <a:off x="6045200" y="3068638"/>
            <a:ext cx="1588" cy="23812"/>
          </a:xfrm>
          <a:prstGeom prst="rect">
            <a:avLst/>
          </a:prstGeom>
          <a:blipFill dpi="0" rotWithShape="0">
            <a:blip r:embed="rId7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9285" name="Slide Number Placeholder 69">
            <a:extLst>
              <a:ext uri="{FF2B5EF4-FFF2-40B4-BE49-F238E27FC236}">
                <a16:creationId xmlns:a16="http://schemas.microsoft.com/office/drawing/2014/main" id="{CB271A02-12DF-4748-B82E-B22C067EC266}"/>
              </a:ext>
            </a:extLst>
          </p:cNvPr>
          <p:cNvSpPr>
            <a:spLocks noGrp="1"/>
          </p:cNvSpPr>
          <p:nvPr>
            <p:ph type="sldNum" sz="quarter" idx="12"/>
            <p:custDataLst>
              <p:tags r:id="rId68"/>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0A6D1C3D-E1F6-4627-9D80-9B40BCD0A0EF}" type="slidenum">
              <a:rPr lang="en-US" altLang="en-US" sz="1400"/>
              <a:pPr lvl="1" eaLnBrk="1" hangingPunct="1">
                <a:spcBef>
                  <a:spcPct val="0"/>
                </a:spcBef>
                <a:buFontTx/>
                <a:buNone/>
              </a:pPr>
              <a:t>3</a:t>
            </a:fld>
            <a:endParaRPr lang="en-US" altLang="en-US" sz="1400"/>
          </a:p>
        </p:txBody>
      </p:sp>
      <p:sp>
        <p:nvSpPr>
          <p:cNvPr id="71" name="Rectangle 601">
            <a:extLst>
              <a:ext uri="{FF2B5EF4-FFF2-40B4-BE49-F238E27FC236}">
                <a16:creationId xmlns:a16="http://schemas.microsoft.com/office/drawing/2014/main" id="{2BBCDCE5-E487-4B13-A20A-8F808E899C3B}"/>
              </a:ext>
            </a:extLst>
          </p:cNvPr>
          <p:cNvSpPr txBox="1">
            <a:spLocks noChangeArrowheads="1"/>
          </p:cNvSpPr>
          <p:nvPr>
            <p:custDataLst>
              <p:tags r:id="rId69"/>
            </p:custDataLst>
          </p:nvPr>
        </p:nvSpPr>
        <p:spPr bwMode="auto">
          <a:xfrm>
            <a:off x="4572000" y="5178425"/>
            <a:ext cx="4495800" cy="1676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fontAlgn="auto" hangingPunct="1">
              <a:lnSpc>
                <a:spcPct val="80000"/>
              </a:lnSpc>
              <a:spcBef>
                <a:spcPts val="100"/>
              </a:spcBef>
              <a:spcAft>
                <a:spcPts val="100"/>
              </a:spcAft>
              <a:buFont typeface="+mj-lt"/>
              <a:buAutoNum type="arabicParenR"/>
              <a:defRPr/>
            </a:pPr>
            <a:r>
              <a:rPr lang="en-US" sz="2000" dirty="0">
                <a:solidFill>
                  <a:srgbClr val="000000"/>
                </a:solidFill>
                <a:latin typeface="+mj-lt"/>
              </a:rPr>
              <a:t>Read entire row to row buffer</a:t>
            </a:r>
          </a:p>
          <a:p>
            <a:pPr lvl="1" eaLnBrk="1" fontAlgn="auto" hangingPunct="1">
              <a:lnSpc>
                <a:spcPct val="80000"/>
              </a:lnSpc>
              <a:spcBef>
                <a:spcPts val="100"/>
              </a:spcBef>
              <a:spcAft>
                <a:spcPts val="100"/>
              </a:spcAft>
              <a:defRPr/>
            </a:pPr>
            <a:r>
              <a:rPr lang="en-US" sz="1800" dirty="0">
                <a:solidFill>
                  <a:srgbClr val="000000"/>
                </a:solidFill>
                <a:latin typeface="+mj-lt"/>
              </a:rPr>
              <a:t>Row address strobe (RAS), page open</a:t>
            </a:r>
          </a:p>
          <a:p>
            <a:pPr eaLnBrk="1" fontAlgn="auto" hangingPunct="1">
              <a:lnSpc>
                <a:spcPct val="80000"/>
              </a:lnSpc>
              <a:spcBef>
                <a:spcPts val="100"/>
              </a:spcBef>
              <a:spcAft>
                <a:spcPts val="100"/>
              </a:spcAft>
              <a:buFont typeface="+mj-lt"/>
              <a:buAutoNum type="arabicParenR"/>
              <a:defRPr/>
            </a:pPr>
            <a:r>
              <a:rPr lang="en-US" sz="2000" dirty="0">
                <a:solidFill>
                  <a:srgbClr val="000000"/>
                </a:solidFill>
                <a:latin typeface="+mj-lt"/>
              </a:rPr>
              <a:t>Read word from row buffer</a:t>
            </a:r>
          </a:p>
          <a:p>
            <a:pPr lvl="1" eaLnBrk="1" fontAlgn="auto" hangingPunct="1">
              <a:lnSpc>
                <a:spcPct val="80000"/>
              </a:lnSpc>
              <a:spcBef>
                <a:spcPts val="100"/>
              </a:spcBef>
              <a:spcAft>
                <a:spcPts val="100"/>
              </a:spcAft>
              <a:defRPr/>
            </a:pPr>
            <a:r>
              <a:rPr lang="en-US" sz="1800" dirty="0">
                <a:solidFill>
                  <a:srgbClr val="000000"/>
                </a:solidFill>
                <a:latin typeface="+mj-lt"/>
              </a:rPr>
              <a:t>Column address strobe (CAS)</a:t>
            </a:r>
          </a:p>
          <a:p>
            <a:pPr eaLnBrk="1" fontAlgn="auto" hangingPunct="1">
              <a:lnSpc>
                <a:spcPct val="80000"/>
              </a:lnSpc>
              <a:spcBef>
                <a:spcPts val="100"/>
              </a:spcBef>
              <a:spcAft>
                <a:spcPts val="100"/>
              </a:spcAft>
              <a:buFont typeface="+mj-lt"/>
              <a:buAutoNum type="arabicParenR"/>
              <a:defRPr/>
            </a:pPr>
            <a:r>
              <a:rPr lang="en-US" sz="2000" dirty="0">
                <a:solidFill>
                  <a:srgbClr val="000000"/>
                </a:solidFill>
                <a:latin typeface="+mj-lt"/>
              </a:rPr>
              <a:t>Write row back</a:t>
            </a:r>
          </a:p>
          <a:p>
            <a:pPr lvl="1" eaLnBrk="1" fontAlgn="auto" hangingPunct="1">
              <a:lnSpc>
                <a:spcPct val="80000"/>
              </a:lnSpc>
              <a:spcBef>
                <a:spcPts val="100"/>
              </a:spcBef>
              <a:spcAft>
                <a:spcPts val="100"/>
              </a:spcAft>
              <a:defRPr/>
            </a:pPr>
            <a:r>
              <a:rPr lang="en-US" sz="1800" dirty="0" err="1">
                <a:solidFill>
                  <a:srgbClr val="000000"/>
                </a:solidFill>
                <a:latin typeface="+mj-lt"/>
              </a:rPr>
              <a:t>Precharge</a:t>
            </a:r>
            <a:r>
              <a:rPr lang="en-US" sz="1800" dirty="0">
                <a:solidFill>
                  <a:srgbClr val="000000"/>
                </a:solidFill>
                <a:latin typeface="+mj-lt"/>
              </a:rPr>
              <a:t>, page close</a:t>
            </a:r>
          </a:p>
        </p:txBody>
      </p:sp>
      <p:sp>
        <p:nvSpPr>
          <p:cNvPr id="3" name="Title 2">
            <a:extLst>
              <a:ext uri="{FF2B5EF4-FFF2-40B4-BE49-F238E27FC236}">
                <a16:creationId xmlns:a16="http://schemas.microsoft.com/office/drawing/2014/main" id="{9FCF422A-A7F8-4F85-AB34-085044589DEB}"/>
              </a:ext>
            </a:extLst>
          </p:cNvPr>
          <p:cNvSpPr>
            <a:spLocks noGrp="1"/>
          </p:cNvSpPr>
          <p:nvPr>
            <p:ph type="title"/>
            <p:custDataLst>
              <p:tags r:id="rId70"/>
            </p:custDataLst>
          </p:nvPr>
        </p:nvSpPr>
        <p:spPr>
          <a:xfrm>
            <a:off x="457200" y="274638"/>
            <a:ext cx="7467600" cy="1143000"/>
          </a:xfrm>
        </p:spPr>
        <p:txBody>
          <a:bodyPr/>
          <a:lstStyle/>
          <a:p>
            <a:r>
              <a:rPr lang="en-US" dirty="0"/>
              <a:t>Main Memory – DRAM </a:t>
            </a:r>
          </a:p>
        </p:txBody>
      </p:sp>
    </p:spTree>
    <p:custDataLst>
      <p:tags r:id="rId1"/>
    </p:custDataLst>
    <p:extLst>
      <p:ext uri="{BB962C8B-B14F-4D97-AF65-F5344CB8AC3E}">
        <p14:creationId xmlns:p14="http://schemas.microsoft.com/office/powerpoint/2010/main" val="298454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FD6790C-594E-4DEC-8C00-FDEB70AB870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Main Memory – Access</a:t>
            </a:r>
          </a:p>
        </p:txBody>
      </p:sp>
      <p:sp>
        <p:nvSpPr>
          <p:cNvPr id="10243" name="Rectangle 3">
            <a:extLst>
              <a:ext uri="{FF2B5EF4-FFF2-40B4-BE49-F238E27FC236}">
                <a16:creationId xmlns:a16="http://schemas.microsoft.com/office/drawing/2014/main" id="{5AD4D96F-0FBB-4E66-A92D-4DD8EE1A9607}"/>
              </a:ext>
            </a:extLst>
          </p:cNvPr>
          <p:cNvSpPr>
            <a:spLocks noGrp="1" noChangeArrowheads="1"/>
          </p:cNvSpPr>
          <p:nvPr>
            <p:ph idx="1"/>
            <p:custDataLst>
              <p:tags r:id="rId3"/>
            </p:custDataLst>
          </p:nvPr>
        </p:nvSpPr>
        <p:spPr>
          <a:xfrm>
            <a:off x="457200" y="1295400"/>
            <a:ext cx="8610600" cy="4830763"/>
          </a:xfrm>
        </p:spPr>
        <p:txBody>
          <a:bodyPr/>
          <a:lstStyle/>
          <a:p>
            <a:pPr marL="0" indent="0" eaLnBrk="1" hangingPunct="1">
              <a:spcBef>
                <a:spcPts val="0"/>
              </a:spcBef>
              <a:spcAft>
                <a:spcPts val="0"/>
              </a:spcAft>
              <a:buNone/>
              <a:defRPr/>
            </a:pPr>
            <a:r>
              <a:rPr lang="en-US" altLang="en-US" sz="2800" dirty="0"/>
              <a:t>e.g., Main memory access for 4-word </a:t>
            </a:r>
            <a:r>
              <a:rPr lang="en-US" altLang="en-US" sz="2800"/>
              <a:t>cache block:</a:t>
            </a:r>
            <a:endParaRPr lang="en-US" altLang="en-US" sz="2800" dirty="0"/>
          </a:p>
          <a:p>
            <a:pPr eaLnBrk="1" hangingPunct="1">
              <a:spcBef>
                <a:spcPts val="0"/>
              </a:spcBef>
              <a:spcAft>
                <a:spcPts val="0"/>
              </a:spcAft>
              <a:buFont typeface="Arial" charset="0"/>
              <a:buChar char="•"/>
              <a:defRPr/>
            </a:pPr>
            <a:r>
              <a:rPr lang="en-US" altLang="en-US" sz="2400" dirty="0"/>
              <a:t>Note that DRAM bus cycles are ~10x CPU cycle time</a:t>
            </a:r>
          </a:p>
          <a:p>
            <a:pPr eaLnBrk="1" hangingPunct="1">
              <a:spcBef>
                <a:spcPts val="0"/>
              </a:spcBef>
              <a:spcAft>
                <a:spcPts val="0"/>
              </a:spcAft>
              <a:buFont typeface="Arial" charset="0"/>
              <a:buChar char="•"/>
              <a:defRPr/>
            </a:pPr>
            <a:r>
              <a:rPr lang="en-US" altLang="en-US" sz="2400" dirty="0"/>
              <a:t>1) Read entire row into row buffer (RAS, page open)</a:t>
            </a:r>
          </a:p>
          <a:p>
            <a:pPr lvl="1" eaLnBrk="1" hangingPunct="1">
              <a:spcBef>
                <a:spcPts val="0"/>
              </a:spcBef>
              <a:spcAft>
                <a:spcPts val="0"/>
              </a:spcAft>
              <a:buFont typeface="Arial" charset="0"/>
              <a:buChar char="–"/>
              <a:defRPr/>
            </a:pPr>
            <a:r>
              <a:rPr lang="en-US" altLang="en-US" sz="2000" dirty="0">
                <a:solidFill>
                  <a:srgbClr val="FF0000"/>
                </a:solidFill>
              </a:rPr>
              <a:t>5 cycles to send row address and read row</a:t>
            </a:r>
          </a:p>
          <a:p>
            <a:pPr eaLnBrk="1" hangingPunct="1">
              <a:spcBef>
                <a:spcPts val="0"/>
              </a:spcBef>
              <a:spcAft>
                <a:spcPts val="0"/>
              </a:spcAft>
              <a:buFont typeface="Arial" charset="0"/>
              <a:buChar char="•"/>
              <a:defRPr/>
            </a:pPr>
            <a:r>
              <a:rPr lang="en-US" altLang="en-US" sz="2400" dirty="0"/>
              <a:t>2) Read each word from row buffer (CAS)</a:t>
            </a:r>
          </a:p>
          <a:p>
            <a:pPr lvl="1" eaLnBrk="1" hangingPunct="1">
              <a:spcBef>
                <a:spcPts val="0"/>
              </a:spcBef>
              <a:spcAft>
                <a:spcPts val="0"/>
              </a:spcAft>
              <a:buFont typeface="Arial" charset="0"/>
              <a:buChar char="–"/>
              <a:defRPr/>
            </a:pPr>
            <a:r>
              <a:rPr lang="en-US" altLang="en-US" sz="2000" dirty="0">
                <a:solidFill>
                  <a:schemeClr val="accent6">
                    <a:lumMod val="75000"/>
                  </a:schemeClr>
                </a:solidFill>
              </a:rPr>
              <a:t>1 cycle to send column address</a:t>
            </a:r>
          </a:p>
          <a:p>
            <a:pPr lvl="1" eaLnBrk="1" hangingPunct="1">
              <a:spcBef>
                <a:spcPts val="0"/>
              </a:spcBef>
              <a:spcAft>
                <a:spcPts val="0"/>
              </a:spcAft>
              <a:buFont typeface="Arial" charset="0"/>
              <a:buChar char="–"/>
              <a:defRPr/>
            </a:pPr>
            <a:r>
              <a:rPr lang="en-US" altLang="en-US" sz="2000" dirty="0">
                <a:solidFill>
                  <a:srgbClr val="7030A0"/>
                </a:solidFill>
              </a:rPr>
              <a:t>3 cycle DRAM internal access delay </a:t>
            </a:r>
          </a:p>
          <a:p>
            <a:pPr lvl="1" eaLnBrk="1" hangingPunct="1">
              <a:spcBef>
                <a:spcPts val="0"/>
              </a:spcBef>
              <a:spcAft>
                <a:spcPts val="0"/>
              </a:spcAft>
              <a:buFont typeface="Arial" charset="0"/>
              <a:buChar char="–"/>
              <a:defRPr/>
            </a:pPr>
            <a:r>
              <a:rPr lang="en-US" altLang="en-US" sz="2000" dirty="0">
                <a:solidFill>
                  <a:srgbClr val="00B0F0"/>
                </a:solidFill>
              </a:rPr>
              <a:t>1 cycle to receive data word on bus</a:t>
            </a:r>
          </a:p>
          <a:p>
            <a:pPr eaLnBrk="1" hangingPunct="1">
              <a:spcBef>
                <a:spcPts val="0"/>
              </a:spcBef>
              <a:spcAft>
                <a:spcPts val="0"/>
              </a:spcAft>
              <a:buFont typeface="Arial" charset="0"/>
              <a:buChar char="•"/>
              <a:defRPr/>
            </a:pPr>
            <a:r>
              <a:rPr lang="en-US" altLang="en-US" sz="2400" dirty="0"/>
              <a:t>3) </a:t>
            </a:r>
            <a:r>
              <a:rPr lang="en-US" altLang="en-US" sz="2400" dirty="0" err="1"/>
              <a:t>Precharge</a:t>
            </a:r>
            <a:r>
              <a:rPr lang="en-US" altLang="en-US" sz="2400" dirty="0"/>
              <a:t> (page close)</a:t>
            </a:r>
          </a:p>
          <a:p>
            <a:pPr lvl="1" eaLnBrk="1" hangingPunct="1">
              <a:spcBef>
                <a:spcPts val="0"/>
              </a:spcBef>
              <a:spcAft>
                <a:spcPts val="0"/>
              </a:spcAft>
              <a:buFont typeface="Arial" charset="0"/>
              <a:buChar char="–"/>
              <a:defRPr/>
            </a:pPr>
            <a:r>
              <a:rPr lang="en-US" altLang="en-US" sz="2000" dirty="0">
                <a:solidFill>
                  <a:srgbClr val="00B050"/>
                </a:solidFill>
              </a:rPr>
              <a:t>5 cycles to </a:t>
            </a:r>
            <a:r>
              <a:rPr lang="en-US" altLang="en-US" sz="2000" dirty="0" err="1">
                <a:solidFill>
                  <a:srgbClr val="00B050"/>
                </a:solidFill>
              </a:rPr>
              <a:t>precharge</a:t>
            </a:r>
            <a:endParaRPr lang="en-US" altLang="en-US" sz="2000" dirty="0">
              <a:solidFill>
                <a:srgbClr val="00B050"/>
              </a:solidFill>
            </a:endParaRPr>
          </a:p>
        </p:txBody>
      </p:sp>
      <p:sp>
        <p:nvSpPr>
          <p:cNvPr id="11268" name="Slide Number Placeholder 5">
            <a:extLst>
              <a:ext uri="{FF2B5EF4-FFF2-40B4-BE49-F238E27FC236}">
                <a16:creationId xmlns:a16="http://schemas.microsoft.com/office/drawing/2014/main" id="{EBA75BEA-1B1D-48AB-A62D-B45F9DE8A4AB}"/>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9CFB4EDD-1E1A-499D-BFB5-452A0C24EF53}" type="slidenum">
              <a:rPr lang="en-US" altLang="en-US" sz="1400"/>
              <a:pPr lvl="1" eaLnBrk="1" hangingPunct="1">
                <a:spcBef>
                  <a:spcPct val="0"/>
                </a:spcBef>
                <a:buFontTx/>
                <a:buNone/>
              </a:pPr>
              <a:t>4</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65077690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51655E7-B83C-4C5A-A0A9-796DD123CE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Main Memory – Access</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5</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59436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ACA5364-B492-4D89-8F4C-A4C449F3F874}"/>
              </a:ext>
            </a:extLst>
          </p:cNvPr>
          <p:cNvSpPr txBox="1"/>
          <p:nvPr>
            <p:custDataLst>
              <p:tags r:id="rId8"/>
            </p:custDataLst>
          </p:nvPr>
        </p:nvSpPr>
        <p:spPr>
          <a:xfrm>
            <a:off x="500835" y="5257800"/>
            <a:ext cx="2623365"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one-word-wide bus</a:t>
            </a:r>
          </a:p>
        </p:txBody>
      </p:sp>
      <p:cxnSp>
        <p:nvCxnSpPr>
          <p:cNvPr id="29" name="Straight Connector 28">
            <a:extLst>
              <a:ext uri="{FF2B5EF4-FFF2-40B4-BE49-F238E27FC236}">
                <a16:creationId xmlns:a16="http://schemas.microsoft.com/office/drawing/2014/main" id="{07771E7C-5459-4929-A91E-04A7BFD3BC53}"/>
              </a:ext>
            </a:extLst>
          </p:cNvPr>
          <p:cNvCxnSpPr>
            <a:cxnSpLocks/>
          </p:cNvCxnSpPr>
          <p:nvPr/>
        </p:nvCxnSpPr>
        <p:spPr>
          <a:xfrm>
            <a:off x="2681354" y="5620121"/>
            <a:ext cx="1858997" cy="2157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3621520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FD6790C-594E-4DEC-8C00-FDEB70AB870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Main Memory – Access</a:t>
            </a:r>
          </a:p>
        </p:txBody>
      </p:sp>
      <p:sp>
        <p:nvSpPr>
          <p:cNvPr id="10243" name="Rectangle 3">
            <a:extLst>
              <a:ext uri="{FF2B5EF4-FFF2-40B4-BE49-F238E27FC236}">
                <a16:creationId xmlns:a16="http://schemas.microsoft.com/office/drawing/2014/main" id="{5AD4D96F-0FBB-4E66-A92D-4DD8EE1A9607}"/>
              </a:ext>
            </a:extLst>
          </p:cNvPr>
          <p:cNvSpPr>
            <a:spLocks noGrp="1" noChangeArrowheads="1"/>
          </p:cNvSpPr>
          <p:nvPr>
            <p:ph idx="1"/>
            <p:custDataLst>
              <p:tags r:id="rId3"/>
            </p:custDataLst>
          </p:nvPr>
        </p:nvSpPr>
        <p:spPr>
          <a:xfrm>
            <a:off x="457200" y="1295400"/>
            <a:ext cx="8382000" cy="2589213"/>
          </a:xfrm>
        </p:spPr>
        <p:txBody>
          <a:bodyPr/>
          <a:lstStyle/>
          <a:p>
            <a:pPr eaLnBrk="1" hangingPunct="1">
              <a:lnSpc>
                <a:spcPct val="80000"/>
              </a:lnSpc>
              <a:spcBef>
                <a:spcPts val="100"/>
              </a:spcBef>
              <a:spcAft>
                <a:spcPts val="100"/>
              </a:spcAft>
              <a:buFont typeface="Arial" charset="0"/>
              <a:buChar char="•"/>
              <a:defRPr/>
            </a:pPr>
            <a:r>
              <a:rPr lang="en-US" altLang="en-US" sz="2800" dirty="0"/>
              <a:t>e.g., One word wide:</a:t>
            </a:r>
          </a:p>
          <a:p>
            <a:pPr marL="457200" lvl="1" indent="0" eaLnBrk="1" hangingPunct="1">
              <a:lnSpc>
                <a:spcPct val="80000"/>
              </a:lnSpc>
              <a:spcBef>
                <a:spcPts val="100"/>
              </a:spcBef>
              <a:spcAft>
                <a:spcPts val="100"/>
              </a:spcAft>
              <a:buNone/>
              <a:defRPr/>
            </a:pPr>
            <a:r>
              <a:rPr lang="en-US" altLang="en-US" sz="2400" dirty="0">
                <a:solidFill>
                  <a:srgbClr val="FF0000"/>
                </a:solidFill>
              </a:rPr>
              <a:t>r=row </a:t>
            </a:r>
            <a:r>
              <a:rPr lang="en-US" altLang="en-US" sz="2400" dirty="0" err="1">
                <a:solidFill>
                  <a:srgbClr val="FF0000"/>
                </a:solidFill>
              </a:rPr>
              <a:t>addr</a:t>
            </a:r>
            <a:r>
              <a:rPr lang="en-US" altLang="en-US" sz="2400" dirty="0"/>
              <a:t>, </a:t>
            </a:r>
            <a:r>
              <a:rPr lang="en-US" altLang="en-US" sz="2400" dirty="0">
                <a:solidFill>
                  <a:schemeClr val="accent6">
                    <a:lumMod val="75000"/>
                  </a:schemeClr>
                </a:solidFill>
              </a:rPr>
              <a:t>c=col </a:t>
            </a:r>
            <a:r>
              <a:rPr lang="en-US" altLang="en-US" sz="2400" dirty="0" err="1">
                <a:solidFill>
                  <a:schemeClr val="accent6">
                    <a:lumMod val="75000"/>
                  </a:schemeClr>
                </a:solidFill>
              </a:rPr>
              <a:t>addr</a:t>
            </a:r>
            <a:r>
              <a:rPr lang="en-US" altLang="en-US" sz="2400" dirty="0"/>
              <a:t>, </a:t>
            </a:r>
            <a:r>
              <a:rPr lang="en-US" altLang="en-US" sz="2400" dirty="0">
                <a:solidFill>
                  <a:srgbClr val="7030A0"/>
                </a:solidFill>
              </a:rPr>
              <a:t>d=DRAM delay</a:t>
            </a:r>
            <a:r>
              <a:rPr lang="en-US" altLang="en-US" sz="2400" dirty="0"/>
              <a:t>, </a:t>
            </a:r>
            <a:r>
              <a:rPr lang="en-US" altLang="en-US" sz="2400" dirty="0">
                <a:solidFill>
                  <a:srgbClr val="00B0F0"/>
                </a:solidFill>
              </a:rPr>
              <a:t>b=bus</a:t>
            </a:r>
            <a:r>
              <a:rPr lang="en-US" altLang="en-US" sz="2400" dirty="0"/>
              <a:t>, </a:t>
            </a:r>
            <a:r>
              <a:rPr lang="en-US" altLang="en-US" sz="2400" dirty="0">
                <a:solidFill>
                  <a:srgbClr val="00B050"/>
                </a:solidFill>
              </a:rPr>
              <a:t>p=</a:t>
            </a:r>
            <a:r>
              <a:rPr lang="en-US" altLang="en-US" sz="2400" dirty="0" err="1">
                <a:solidFill>
                  <a:srgbClr val="00B050"/>
                </a:solidFill>
              </a:rPr>
              <a:t>precharge</a:t>
            </a:r>
            <a:endParaRPr lang="en-US" altLang="en-US" sz="2400" dirty="0">
              <a:solidFill>
                <a:srgbClr val="00B050"/>
              </a:solidFill>
            </a:endParaRPr>
          </a:p>
          <a:p>
            <a:pPr marL="457200" lvl="1" indent="0" eaLnBrk="1" hangingPunct="1">
              <a:lnSpc>
                <a:spcPct val="80000"/>
              </a:lnSpc>
              <a:spcBef>
                <a:spcPts val="100"/>
              </a:spcBef>
              <a:spcAft>
                <a:spcPts val="100"/>
              </a:spcAft>
              <a:buNone/>
              <a:defRPr/>
            </a:pPr>
            <a:endParaRPr lang="en-US" altLang="en-US" sz="2400" dirty="0"/>
          </a:p>
          <a:p>
            <a:pPr marL="457200" lvl="1" indent="0" eaLnBrk="1" hangingPunct="1">
              <a:lnSpc>
                <a:spcPct val="90000"/>
              </a:lnSpc>
              <a:spcBef>
                <a:spcPts val="100"/>
              </a:spcBef>
              <a:spcAft>
                <a:spcPts val="100"/>
              </a:spcAft>
              <a:buFont typeface="Arial" charset="0"/>
              <a:buNone/>
              <a:defRPr/>
            </a:pPr>
            <a:r>
              <a:rPr lang="en-US" altLang="en-US" sz="2400" b="1" u="sng" dirty="0" err="1">
                <a:solidFill>
                  <a:srgbClr val="FF0000"/>
                </a:solidFill>
                <a:latin typeface="Courier" pitchFamily="49" charset="0"/>
              </a:rPr>
              <a:t>rrrrr</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r>
              <a:rPr lang="en-US" altLang="en-US" sz="2400" b="1" dirty="0" err="1">
                <a:solidFill>
                  <a:srgbClr val="00B050"/>
                </a:solidFill>
                <a:latin typeface="Courier" pitchFamily="49" charset="0"/>
              </a:rPr>
              <a:t>ppppp</a:t>
            </a:r>
            <a:endParaRPr lang="en-US" altLang="en-US" sz="2400" b="1" dirty="0">
              <a:solidFill>
                <a:srgbClr val="00B050"/>
              </a:solidFill>
              <a:latin typeface="Courier" pitchFamily="49" charset="0"/>
            </a:endParaRPr>
          </a:p>
          <a:p>
            <a:pPr marL="457200" lvl="1" indent="0" eaLnBrk="1" hangingPunct="1">
              <a:lnSpc>
                <a:spcPct val="90000"/>
              </a:lnSpc>
              <a:spcBef>
                <a:spcPts val="100"/>
              </a:spcBef>
              <a:spcAft>
                <a:spcPts val="100"/>
              </a:spcAft>
              <a:buFont typeface="Arial" charset="0"/>
              <a:buNone/>
              <a:defRPr/>
            </a:pPr>
            <a:endParaRPr lang="en-US" altLang="en-US" sz="2400" b="1" dirty="0">
              <a:solidFill>
                <a:srgbClr val="00B050"/>
              </a:solidFill>
              <a:latin typeface="Courier" pitchFamily="49" charset="0"/>
            </a:endParaRPr>
          </a:p>
          <a:p>
            <a:pPr marL="457200" lvl="1" indent="0" eaLnBrk="1" hangingPunct="1">
              <a:lnSpc>
                <a:spcPct val="90000"/>
              </a:lnSpc>
              <a:spcBef>
                <a:spcPts val="100"/>
              </a:spcBef>
              <a:spcAft>
                <a:spcPts val="100"/>
              </a:spcAft>
              <a:buNone/>
              <a:defRPr/>
            </a:pPr>
            <a:r>
              <a:rPr lang="en-US" altLang="en-US" sz="2400" dirty="0"/>
              <a:t>5 + 4 * (1 + 3 + 1) = 25 cycles to fetch data</a:t>
            </a:r>
          </a:p>
          <a:p>
            <a:pPr marL="457200" lvl="1" indent="0" eaLnBrk="1" hangingPunct="1">
              <a:lnSpc>
                <a:spcPct val="90000"/>
              </a:lnSpc>
              <a:spcBef>
                <a:spcPts val="100"/>
              </a:spcBef>
              <a:spcAft>
                <a:spcPts val="100"/>
              </a:spcAft>
              <a:buNone/>
              <a:defRPr/>
            </a:pPr>
            <a:r>
              <a:rPr lang="en-US" altLang="en-US" sz="2400" dirty="0"/>
              <a:t>	(then 5 cycles until next access allowed)</a:t>
            </a:r>
          </a:p>
        </p:txBody>
      </p:sp>
      <p:sp>
        <p:nvSpPr>
          <p:cNvPr id="11268" name="Slide Number Placeholder 5">
            <a:extLst>
              <a:ext uri="{FF2B5EF4-FFF2-40B4-BE49-F238E27FC236}">
                <a16:creationId xmlns:a16="http://schemas.microsoft.com/office/drawing/2014/main" id="{EBA75BEA-1B1D-48AB-A62D-B45F9DE8A4AB}"/>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9CFB4EDD-1E1A-499D-BFB5-452A0C24EF53}"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sp>
        <p:nvSpPr>
          <p:cNvPr id="5" name="Rectangle 3">
            <a:extLst>
              <a:ext uri="{FF2B5EF4-FFF2-40B4-BE49-F238E27FC236}">
                <a16:creationId xmlns:a16="http://schemas.microsoft.com/office/drawing/2014/main" id="{8E7E92D9-4900-42E9-B0F8-1424627E7495}"/>
              </a:ext>
            </a:extLst>
          </p:cNvPr>
          <p:cNvSpPr txBox="1">
            <a:spLocks noChangeArrowheads="1"/>
          </p:cNvSpPr>
          <p:nvPr>
            <p:custDataLst>
              <p:tags r:id="rId5"/>
            </p:custDataLst>
          </p:nvPr>
        </p:nvSpPr>
        <p:spPr bwMode="auto">
          <a:xfrm>
            <a:off x="457200" y="3962400"/>
            <a:ext cx="82296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80000"/>
              </a:lnSpc>
              <a:spcBef>
                <a:spcPts val="2400"/>
              </a:spcBef>
              <a:spcAft>
                <a:spcPts val="1400"/>
              </a:spcAft>
              <a:buFont typeface="Arial" charset="0"/>
              <a:buChar char="•"/>
              <a:defRPr/>
            </a:pPr>
            <a:r>
              <a:rPr lang="en-US" altLang="en-US" sz="2800" dirty="0"/>
              <a:t>e.g., One word wide, burst mode (pipelined):</a:t>
            </a:r>
          </a:p>
          <a:p>
            <a:pPr marL="457200" lvl="1" indent="0" eaLnBrk="1" hangingPunct="1">
              <a:lnSpc>
                <a:spcPct val="90000"/>
              </a:lnSpc>
              <a:buFont typeface="Arial" charset="0"/>
              <a:buNone/>
              <a:defRPr/>
            </a:pPr>
            <a:r>
              <a:rPr lang="en-US" altLang="en-US" sz="2400" b="1" u="sng" dirty="0" err="1">
                <a:solidFill>
                  <a:srgbClr val="FF0000"/>
                </a:solidFill>
                <a:latin typeface="Courier" pitchFamily="49" charset="0"/>
              </a:rPr>
              <a:t>rrrrr</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endParaRPr lang="en-US" altLang="en-US" sz="2400" b="1" dirty="0">
              <a:solidFill>
                <a:srgbClr val="00B050"/>
              </a:solidFill>
              <a:latin typeface="Courier" pitchFamily="49" charset="0"/>
            </a:endParaRPr>
          </a:p>
          <a:p>
            <a:pPr marL="457200" lvl="1" indent="0" eaLnBrk="1" hangingPunct="1">
              <a:lnSpc>
                <a:spcPct val="90000"/>
              </a:lnSpc>
              <a:buFont typeface="Arial" charset="0"/>
              <a:buNone/>
              <a:defRPr/>
            </a:pPr>
            <a:r>
              <a:rPr lang="en-US" altLang="en-US" sz="2400" b="1" dirty="0">
                <a:solidFill>
                  <a:srgbClr val="FF0000"/>
                </a:solidFill>
                <a:latin typeface="Courier" pitchFamily="49" charset="0"/>
              </a:rPr>
              <a:t>          </a:t>
            </a:r>
            <a:r>
              <a:rPr lang="en-US" altLang="en-US" sz="2400" b="1" u="sng" dirty="0">
                <a:solidFill>
                  <a:srgbClr val="00B0F0"/>
                </a:solidFill>
                <a:latin typeface="Courier" pitchFamily="49" charset="0"/>
              </a:rPr>
              <a:t>b</a:t>
            </a:r>
            <a:endParaRPr lang="en-US" altLang="en-US" sz="2400" b="1" dirty="0">
              <a:solidFill>
                <a:srgbClr val="00B050"/>
              </a:solidFill>
              <a:latin typeface="Courier" pitchFamily="49" charset="0"/>
            </a:endParaRPr>
          </a:p>
          <a:p>
            <a:pPr marL="457200" lvl="1" indent="0" eaLnBrk="1" hangingPunct="1">
              <a:lnSpc>
                <a:spcPct val="90000"/>
              </a:lnSpc>
              <a:buFont typeface="Arial" charset="0"/>
              <a:buNone/>
              <a:defRPr/>
            </a:pPr>
            <a:r>
              <a:rPr lang="en-US" altLang="en-US" sz="2400" b="1" dirty="0">
                <a:solidFill>
                  <a:srgbClr val="FF0000"/>
                </a:solidFill>
                <a:latin typeface="Courier" pitchFamily="49" charset="0"/>
              </a:rPr>
              <a:t>           </a:t>
            </a:r>
            <a:r>
              <a:rPr lang="en-US" altLang="en-US" sz="2400" b="1" u="sng" dirty="0">
                <a:solidFill>
                  <a:srgbClr val="00B0F0"/>
                </a:solidFill>
                <a:latin typeface="Courier" pitchFamily="49" charset="0"/>
              </a:rPr>
              <a:t>b</a:t>
            </a:r>
          </a:p>
          <a:p>
            <a:pPr marL="457200" lvl="1" indent="0" eaLnBrk="1" hangingPunct="1">
              <a:lnSpc>
                <a:spcPct val="90000"/>
              </a:lnSpc>
              <a:buFont typeface="Arial" charset="0"/>
              <a:buNone/>
              <a:defRPr/>
            </a:pPr>
            <a:r>
              <a:rPr lang="en-US" altLang="en-US" sz="2400" b="1" dirty="0">
                <a:solidFill>
                  <a:srgbClr val="00B0F0"/>
                </a:solidFill>
                <a:latin typeface="Courier" pitchFamily="49" charset="0"/>
              </a:rPr>
              <a:t>           </a:t>
            </a:r>
            <a:r>
              <a:rPr lang="en-US" altLang="en-US" sz="2400" b="1" dirty="0">
                <a:solidFill>
                  <a:srgbClr val="FF0000"/>
                </a:solidFill>
                <a:latin typeface="Courier" pitchFamily="49" charset="0"/>
              </a:rPr>
              <a:t> </a:t>
            </a:r>
            <a:r>
              <a:rPr lang="en-US" altLang="en-US" sz="2400" b="1" u="sng" dirty="0" err="1">
                <a:solidFill>
                  <a:srgbClr val="00B0F0"/>
                </a:solidFill>
                <a:latin typeface="Courier" pitchFamily="49" charset="0"/>
              </a:rPr>
              <a:t>b</a:t>
            </a:r>
            <a:r>
              <a:rPr lang="en-US" altLang="en-US" sz="2400" b="1" dirty="0" err="1">
                <a:solidFill>
                  <a:srgbClr val="00B050"/>
                </a:solidFill>
                <a:latin typeface="Courier" pitchFamily="49" charset="0"/>
              </a:rPr>
              <a:t>ppppp</a:t>
            </a:r>
            <a:endParaRPr lang="en-US" altLang="en-US" sz="2400" b="1" dirty="0">
              <a:solidFill>
                <a:srgbClr val="00B050"/>
              </a:solidFill>
              <a:latin typeface="Courier" pitchFamily="49" charset="0"/>
            </a:endParaRPr>
          </a:p>
          <a:p>
            <a:pPr marL="457200" lvl="1" indent="0" eaLnBrk="1" hangingPunct="1">
              <a:lnSpc>
                <a:spcPct val="90000"/>
              </a:lnSpc>
              <a:spcBef>
                <a:spcPts val="1200"/>
              </a:spcBef>
              <a:buNone/>
              <a:defRPr/>
            </a:pPr>
            <a:r>
              <a:rPr lang="en-US" altLang="en-US" sz="2400" dirty="0"/>
              <a:t>5 + 1 + 3 + 4 = 13 cycles (then 5 cycles until next access)</a:t>
            </a:r>
          </a:p>
        </p:txBody>
      </p:sp>
    </p:spTree>
    <p:custDataLst>
      <p:tags r:id="rId1"/>
    </p:custDataLst>
    <p:extLst>
      <p:ext uri="{BB962C8B-B14F-4D97-AF65-F5344CB8AC3E}">
        <p14:creationId xmlns:p14="http://schemas.microsoft.com/office/powerpoint/2010/main" val="35576345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51655E7-B83C-4C5A-A0A9-796DD123CE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23672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Main Memory – Access</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7</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59436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ACA5364-B492-4D89-8F4C-A4C449F3F874}"/>
              </a:ext>
            </a:extLst>
          </p:cNvPr>
          <p:cNvSpPr txBox="1"/>
          <p:nvPr>
            <p:custDataLst>
              <p:tags r:id="rId8"/>
            </p:custDataLst>
          </p:nvPr>
        </p:nvSpPr>
        <p:spPr>
          <a:xfrm>
            <a:off x="500835" y="5257800"/>
            <a:ext cx="2623365"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four-word-wide bus</a:t>
            </a:r>
          </a:p>
        </p:txBody>
      </p:sp>
      <p:cxnSp>
        <p:nvCxnSpPr>
          <p:cNvPr id="29" name="Straight Connector 28">
            <a:extLst>
              <a:ext uri="{FF2B5EF4-FFF2-40B4-BE49-F238E27FC236}">
                <a16:creationId xmlns:a16="http://schemas.microsoft.com/office/drawing/2014/main" id="{07771E7C-5459-4929-A91E-04A7BFD3BC53}"/>
              </a:ext>
            </a:extLst>
          </p:cNvPr>
          <p:cNvCxnSpPr>
            <a:cxnSpLocks/>
          </p:cNvCxnSpPr>
          <p:nvPr/>
        </p:nvCxnSpPr>
        <p:spPr>
          <a:xfrm>
            <a:off x="2681354" y="5620121"/>
            <a:ext cx="1858997" cy="2157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4F2278-9602-4B1A-934D-957B1AB6A2E2}"/>
              </a:ext>
            </a:extLst>
          </p:cNvPr>
          <p:cNvCxnSpPr>
            <a:cxnSpLocks/>
          </p:cNvCxnSpPr>
          <p:nvPr/>
        </p:nvCxnSpPr>
        <p:spPr>
          <a:xfrm rot="5400000">
            <a:off x="4330780" y="57454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18E1101-5565-46D3-AB2A-A82F41B4C810}"/>
              </a:ext>
            </a:extLst>
          </p:cNvPr>
          <p:cNvCxnSpPr>
            <a:cxnSpLocks/>
          </p:cNvCxnSpPr>
          <p:nvPr/>
        </p:nvCxnSpPr>
        <p:spPr>
          <a:xfrm rot="5400000">
            <a:off x="440698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1A35A4-BE82-48FF-813C-DA280F0D3E32}"/>
              </a:ext>
            </a:extLst>
          </p:cNvPr>
          <p:cNvCxnSpPr>
            <a:cxnSpLocks/>
          </p:cNvCxnSpPr>
          <p:nvPr/>
        </p:nvCxnSpPr>
        <p:spPr>
          <a:xfrm rot="5400000">
            <a:off x="4501040" y="57454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2599283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9BCB148-2C03-40BC-9EA9-8ADA48F0F5F3}"/>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Main Memory – Access</a:t>
            </a:r>
          </a:p>
        </p:txBody>
      </p:sp>
      <p:sp>
        <p:nvSpPr>
          <p:cNvPr id="11267" name="Rectangle 3">
            <a:extLst>
              <a:ext uri="{FF2B5EF4-FFF2-40B4-BE49-F238E27FC236}">
                <a16:creationId xmlns:a16="http://schemas.microsoft.com/office/drawing/2014/main" id="{45DA4869-D305-40B0-9DE6-5DEE3C17DC11}"/>
              </a:ext>
            </a:extLst>
          </p:cNvPr>
          <p:cNvSpPr>
            <a:spLocks noGrp="1" noChangeArrowheads="1"/>
          </p:cNvSpPr>
          <p:nvPr>
            <p:ph idx="1"/>
            <p:custDataLst>
              <p:tags r:id="rId3"/>
            </p:custDataLst>
          </p:nvPr>
        </p:nvSpPr>
        <p:spPr>
          <a:xfrm>
            <a:off x="457200" y="1295400"/>
            <a:ext cx="8229600" cy="4830763"/>
          </a:xfrm>
        </p:spPr>
        <p:txBody>
          <a:bodyPr/>
          <a:lstStyle/>
          <a:p>
            <a:pPr eaLnBrk="1" hangingPunct="1">
              <a:lnSpc>
                <a:spcPct val="80000"/>
              </a:lnSpc>
              <a:spcBef>
                <a:spcPts val="2400"/>
              </a:spcBef>
              <a:spcAft>
                <a:spcPts val="1400"/>
              </a:spcAft>
              <a:buFont typeface="Arial" charset="0"/>
              <a:buChar char="•"/>
              <a:defRPr/>
            </a:pPr>
            <a:r>
              <a:rPr lang="en-US" altLang="en-US" sz="2800" dirty="0"/>
              <a:t>e.g., Four word wide:</a:t>
            </a:r>
          </a:p>
          <a:p>
            <a:pPr marL="457200" lvl="1" indent="0" eaLnBrk="1" hangingPunct="1">
              <a:lnSpc>
                <a:spcPct val="90000"/>
              </a:lnSpc>
              <a:buFont typeface="Arial" charset="0"/>
              <a:buNone/>
              <a:defRPr/>
            </a:pPr>
            <a:r>
              <a:rPr lang="en-US" altLang="en-US" sz="2400" b="1" u="sng" dirty="0" err="1">
                <a:solidFill>
                  <a:srgbClr val="FF0000"/>
                </a:solidFill>
                <a:latin typeface="Courier" pitchFamily="49" charset="0"/>
              </a:rPr>
              <a:t>rrrrr</a:t>
            </a:r>
            <a:r>
              <a:rPr lang="en-US" altLang="en-US" sz="2400" b="1" u="sng" dirty="0" err="1">
                <a:solidFill>
                  <a:schemeClr val="accent6">
                    <a:lumMod val="75000"/>
                  </a:schemeClr>
                </a:solidFill>
                <a:latin typeface="Courier" pitchFamily="49" charset="0"/>
              </a:rPr>
              <a:t>c</a:t>
            </a:r>
            <a:r>
              <a:rPr lang="en-US" altLang="en-US" sz="2400" b="1" u="sng" dirty="0" err="1">
                <a:solidFill>
                  <a:srgbClr val="7030A0"/>
                </a:solidFill>
                <a:latin typeface="Courier" pitchFamily="49" charset="0"/>
              </a:rPr>
              <a:t>ddd</a:t>
            </a:r>
            <a:r>
              <a:rPr lang="en-US" altLang="en-US" sz="2400" b="1" u="sng" dirty="0" err="1">
                <a:solidFill>
                  <a:srgbClr val="00B0F0"/>
                </a:solidFill>
                <a:latin typeface="Courier" pitchFamily="49" charset="0"/>
              </a:rPr>
              <a:t>b</a:t>
            </a:r>
            <a:r>
              <a:rPr lang="en-US" altLang="en-US" sz="2400" b="1" dirty="0" err="1">
                <a:solidFill>
                  <a:srgbClr val="00B050"/>
                </a:solidFill>
                <a:latin typeface="Courier" pitchFamily="49" charset="0"/>
              </a:rPr>
              <a:t>ppppp</a:t>
            </a:r>
            <a:endParaRPr lang="en-US" altLang="en-US" sz="2400" b="1" dirty="0">
              <a:solidFill>
                <a:srgbClr val="00B050"/>
              </a:solidFill>
              <a:latin typeface="Courier" pitchFamily="49" charset="0"/>
            </a:endParaRPr>
          </a:p>
          <a:p>
            <a:pPr marL="457200" lvl="1" indent="0" eaLnBrk="1" hangingPunct="1">
              <a:lnSpc>
                <a:spcPct val="90000"/>
              </a:lnSpc>
              <a:spcBef>
                <a:spcPts val="1200"/>
              </a:spcBef>
              <a:buNone/>
              <a:defRPr/>
            </a:pPr>
            <a:r>
              <a:rPr lang="en-US" altLang="en-US" sz="2400" dirty="0"/>
              <a:t>5 + 1 + 3 + 1 = 9 cycles (then 5 cycles until next access)</a:t>
            </a:r>
            <a:endParaRPr lang="en-US" altLang="en-US" dirty="0"/>
          </a:p>
          <a:p>
            <a:pPr eaLnBrk="1" hangingPunct="1">
              <a:lnSpc>
                <a:spcPct val="90000"/>
              </a:lnSpc>
              <a:spcBef>
                <a:spcPts val="1200"/>
              </a:spcBef>
              <a:buFont typeface="Arial" charset="0"/>
              <a:buChar char="•"/>
              <a:defRPr/>
            </a:pPr>
            <a:endParaRPr lang="en-US" altLang="en-US" sz="2800" dirty="0"/>
          </a:p>
          <a:p>
            <a:pPr eaLnBrk="1" hangingPunct="1">
              <a:lnSpc>
                <a:spcPct val="80000"/>
              </a:lnSpc>
              <a:buFont typeface="Arial" charset="0"/>
              <a:buChar char="•"/>
              <a:defRPr/>
            </a:pPr>
            <a:endParaRPr lang="en-US" altLang="en-US" sz="2800" dirty="0"/>
          </a:p>
        </p:txBody>
      </p:sp>
      <p:sp>
        <p:nvSpPr>
          <p:cNvPr id="12292" name="Slide Number Placeholder 5">
            <a:extLst>
              <a:ext uri="{FF2B5EF4-FFF2-40B4-BE49-F238E27FC236}">
                <a16:creationId xmlns:a16="http://schemas.microsoft.com/office/drawing/2014/main" id="{E0DFFCEF-7FFA-4BE1-B745-982557BA3980}"/>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DBC8EA9-51E9-4532-B87A-ACEFB34E5B75}" type="slidenum">
              <a:rPr lang="en-US" altLang="en-US" sz="1400"/>
              <a:pPr lvl="1" eaLnBrk="1" hangingPunct="1">
                <a:spcBef>
                  <a:spcPct val="0"/>
                </a:spcBef>
                <a:buFontTx/>
                <a:buNone/>
              </a:pPr>
              <a:t>8</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96345552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ECC</a:t>
            </a:r>
          </a:p>
        </p:txBody>
      </p:sp>
      <p:sp>
        <p:nvSpPr>
          <p:cNvPr id="13315" name="Rectangle 3">
            <a:extLst>
              <a:ext uri="{FF2B5EF4-FFF2-40B4-BE49-F238E27FC236}">
                <a16:creationId xmlns:a16="http://schemas.microsoft.com/office/drawing/2014/main" id="{42C502B6-6AC6-4A9D-9283-DCD535169C48}"/>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dirty="0"/>
              <a:t>Main memory stores a huge number of bits</a:t>
            </a:r>
          </a:p>
          <a:p>
            <a:pPr lvl="1" eaLnBrk="1" hangingPunct="1">
              <a:lnSpc>
                <a:spcPct val="90000"/>
              </a:lnSpc>
            </a:pPr>
            <a:r>
              <a:rPr lang="en-US" altLang="en-US" sz="2400" dirty="0"/>
              <a:t>Probability of </a:t>
            </a:r>
            <a:r>
              <a:rPr lang="en-US" altLang="en-US" sz="2400" i="1" dirty="0"/>
              <a:t>bit-flip</a:t>
            </a:r>
            <a:r>
              <a:rPr lang="en-US" altLang="en-US" sz="2400" dirty="0"/>
              <a:t> becomes significant</a:t>
            </a:r>
          </a:p>
          <a:p>
            <a:pPr lvl="1" eaLnBrk="1" hangingPunct="1">
              <a:lnSpc>
                <a:spcPct val="90000"/>
              </a:lnSpc>
            </a:pPr>
            <a:r>
              <a:rPr lang="en-US" altLang="en-US" sz="2400" dirty="0"/>
              <a:t>Bit-flips (called </a:t>
            </a:r>
            <a:r>
              <a:rPr lang="en-US" altLang="en-US" sz="2400" i="1" dirty="0"/>
              <a:t>soft errors</a:t>
            </a:r>
            <a:r>
              <a:rPr lang="en-US" altLang="en-US" sz="2400" dirty="0"/>
              <a:t>) caused by</a:t>
            </a:r>
          </a:p>
          <a:p>
            <a:pPr lvl="2" eaLnBrk="1" hangingPunct="1">
              <a:lnSpc>
                <a:spcPct val="90000"/>
              </a:lnSpc>
            </a:pPr>
            <a:r>
              <a:rPr lang="en-US" altLang="en-US" sz="2000" dirty="0"/>
              <a:t>Gamma rays and alpha particles</a:t>
            </a:r>
          </a:p>
          <a:p>
            <a:pPr lvl="2" eaLnBrk="1" hangingPunct="1">
              <a:lnSpc>
                <a:spcPct val="90000"/>
              </a:lnSpc>
            </a:pPr>
            <a:r>
              <a:rPr lang="en-US" altLang="en-US" sz="2000" dirty="0"/>
              <a:t>Electrical interference</a:t>
            </a:r>
          </a:p>
          <a:p>
            <a:pPr lvl="2" eaLnBrk="1" hangingPunct="1">
              <a:lnSpc>
                <a:spcPct val="90000"/>
              </a:lnSpc>
            </a:pPr>
            <a:r>
              <a:rPr lang="en-US" altLang="en-US" sz="2000" dirty="0"/>
              <a:t>etc.</a:t>
            </a:r>
          </a:p>
          <a:p>
            <a:pPr lvl="1" eaLnBrk="1" hangingPunct="1">
              <a:lnSpc>
                <a:spcPct val="90000"/>
              </a:lnSpc>
            </a:pPr>
            <a:r>
              <a:rPr lang="en-US" altLang="en-US" sz="2400" dirty="0"/>
              <a:t>Getting worse with smaller feature sizes</a:t>
            </a:r>
          </a:p>
          <a:p>
            <a:pPr eaLnBrk="1" hangingPunct="1">
              <a:lnSpc>
                <a:spcPct val="80000"/>
              </a:lnSpc>
            </a:pPr>
            <a:r>
              <a:rPr lang="en-US" altLang="en-US" sz="2800" dirty="0"/>
              <a:t>Systems must be protected from soft errors via </a:t>
            </a:r>
            <a:r>
              <a:rPr lang="en-US" altLang="en-US" sz="2800" i="1" dirty="0"/>
              <a:t>error correction codes (ECC)</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9</a:t>
            </a:fld>
            <a:endParaRPr lang="en-US" altLang="en-US" sz="1400">
              <a:latin typeface="Times New Roman" panose="02020603050405020304" pitchFamily="18" charset="0"/>
            </a:endParaRPr>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7D0CA8E-DD6F-4D56-80F4-A9B7C9BD236B}"/>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ECC</a:t>
            </a:r>
          </a:p>
        </p:txBody>
      </p:sp>
      <p:sp>
        <p:nvSpPr>
          <p:cNvPr id="14339" name="Rectangle 3">
            <a:extLst>
              <a:ext uri="{FF2B5EF4-FFF2-40B4-BE49-F238E27FC236}">
                <a16:creationId xmlns:a16="http://schemas.microsoft.com/office/drawing/2014/main" id="{569160ED-2479-445B-A080-59E4335D5BC4}"/>
              </a:ext>
            </a:extLst>
          </p:cNvPr>
          <p:cNvSpPr>
            <a:spLocks noGrp="1" noChangeArrowheads="1"/>
          </p:cNvSpPr>
          <p:nvPr>
            <p:ph idx="1"/>
            <p:custDataLst>
              <p:tags r:id="rId3"/>
            </p:custDataLst>
          </p:nvPr>
        </p:nvSpPr>
        <p:spPr>
          <a:xfrm>
            <a:off x="682625" y="1600200"/>
            <a:ext cx="7927975" cy="4495800"/>
          </a:xfrm>
        </p:spPr>
        <p:txBody>
          <a:bodyPr/>
          <a:lstStyle/>
          <a:p>
            <a:pPr eaLnBrk="1" hangingPunct="1">
              <a:spcBef>
                <a:spcPts val="0"/>
              </a:spcBef>
              <a:spcAft>
                <a:spcPts val="0"/>
              </a:spcAft>
            </a:pPr>
            <a:r>
              <a:rPr lang="en-US" altLang="en-US" sz="2800" dirty="0"/>
              <a:t>Probability of bit errors in a single word:</a:t>
            </a:r>
          </a:p>
          <a:p>
            <a:pPr lvl="1" eaLnBrk="1" hangingPunct="1">
              <a:spcBef>
                <a:spcPts val="0"/>
              </a:spcBef>
              <a:spcAft>
                <a:spcPts val="0"/>
              </a:spcAft>
              <a:buFontTx/>
              <a:buNone/>
            </a:pPr>
            <a:r>
              <a:rPr lang="en-US" altLang="en-US" sz="2400" dirty="0"/>
              <a:t>P(0 errors) &gt; P(1 error) &gt; P(2 errors) &gt;&gt; P(&gt;2 errors)</a:t>
            </a:r>
          </a:p>
          <a:p>
            <a:pPr eaLnBrk="1" hangingPunct="1">
              <a:spcBef>
                <a:spcPts val="0"/>
              </a:spcBef>
              <a:spcAft>
                <a:spcPts val="0"/>
              </a:spcAft>
            </a:pPr>
            <a:r>
              <a:rPr lang="en-US" altLang="en-US" sz="2800" b="1" dirty="0"/>
              <a:t>Detection</a:t>
            </a:r>
            <a:r>
              <a:rPr lang="en-US" altLang="en-US" sz="2800" dirty="0"/>
              <a:t>: signal a problem</a:t>
            </a:r>
          </a:p>
          <a:p>
            <a:pPr eaLnBrk="1" hangingPunct="1">
              <a:spcBef>
                <a:spcPts val="0"/>
              </a:spcBef>
              <a:spcAft>
                <a:spcPts val="0"/>
              </a:spcAft>
            </a:pPr>
            <a:r>
              <a:rPr lang="en-US" altLang="en-US" sz="2800" b="1" dirty="0"/>
              <a:t>Correction</a:t>
            </a:r>
            <a:r>
              <a:rPr lang="en-US" altLang="en-US" sz="2800" dirty="0"/>
              <a:t>: restore data to correct value</a:t>
            </a:r>
          </a:p>
        </p:txBody>
      </p:sp>
      <p:sp>
        <p:nvSpPr>
          <p:cNvPr id="14340" name="Slide Number Placeholder 5">
            <a:extLst>
              <a:ext uri="{FF2B5EF4-FFF2-40B4-BE49-F238E27FC236}">
                <a16:creationId xmlns:a16="http://schemas.microsoft.com/office/drawing/2014/main" id="{C8724A03-2DCD-4870-BE89-271854F613C2}"/>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32E9DBC2-9463-4169-A68C-96BB26499045}" type="slidenum">
              <a:rPr lang="en-US" altLang="en-US" sz="1400"/>
              <a:pPr lvl="1" eaLnBrk="1" hangingPunct="1">
                <a:spcBef>
                  <a:spcPct val="0"/>
                </a:spcBef>
                <a:buFontTx/>
                <a:buNone/>
              </a:pPr>
              <a:t>10</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79932667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No ECC</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11</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22C5892D-537B-4D7B-8583-209CE68DB495}"/>
              </a:ext>
            </a:extLst>
          </p:cNvPr>
          <p:cNvGraphicFramePr>
            <a:graphicFrameLocks noGrp="1"/>
          </p:cNvGraphicFramePr>
          <p:nvPr>
            <p:custDataLst>
              <p:tags r:id="rId4"/>
            </p:custDataLst>
            <p:extLst>
              <p:ext uri="{D42A27DB-BD31-4B8C-83A1-F6EECF244321}">
                <p14:modId xmlns:p14="http://schemas.microsoft.com/office/powerpoint/2010/main" val="1163667626"/>
              </p:ext>
            </p:extLst>
          </p:nvPr>
        </p:nvGraphicFramePr>
        <p:xfrm>
          <a:off x="2705100" y="3429000"/>
          <a:ext cx="3733800" cy="1381760"/>
        </p:xfrm>
        <a:graphic>
          <a:graphicData uri="http://schemas.openxmlformats.org/drawingml/2006/table">
            <a:tbl>
              <a:tblPr>
                <a:tableStyleId>{5C22544A-7EE6-4342-B048-85BDC9FD1C3A}</a:tableStyleId>
              </a:tblPr>
              <a:tblGrid>
                <a:gridCol w="1479430">
                  <a:extLst>
                    <a:ext uri="{9D8B030D-6E8A-4147-A177-3AD203B41FA5}">
                      <a16:colId xmlns:a16="http://schemas.microsoft.com/office/drawing/2014/main" val="2497083988"/>
                    </a:ext>
                  </a:extLst>
                </a:gridCol>
                <a:gridCol w="2254370">
                  <a:extLst>
                    <a:ext uri="{9D8B030D-6E8A-4147-A177-3AD203B41FA5}">
                      <a16:colId xmlns:a16="http://schemas.microsoft.com/office/drawing/2014/main" val="1877466339"/>
                    </a:ext>
                  </a:extLst>
                </a:gridCol>
              </a:tblGrid>
              <a:tr h="370840">
                <a:tc>
                  <a:txBody>
                    <a:bodyPr/>
                    <a:lstStyle/>
                    <a:p>
                      <a:pPr algn="ctr"/>
                      <a:r>
                        <a:rPr lang="en-US" b="1" dirty="0"/>
                        <a:t>Data Word</a:t>
                      </a:r>
                    </a:p>
                    <a:p>
                      <a:pPr algn="ctr"/>
                      <a:r>
                        <a:rPr lang="en-US" b="1" dirty="0"/>
                        <a:t>(1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Codeword in Memory</a:t>
                      </a:r>
                    </a:p>
                    <a:p>
                      <a:pPr algn="ctr"/>
                      <a:r>
                        <a:rPr lang="en-US" b="1" dirty="0"/>
                        <a:t>(1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bl>
          </a:graphicData>
        </a:graphic>
      </p:graphicFrame>
      <p:sp>
        <p:nvSpPr>
          <p:cNvPr id="10" name="TextBox 9">
            <a:extLst>
              <a:ext uri="{FF2B5EF4-FFF2-40B4-BE49-F238E27FC236}">
                <a16:creationId xmlns:a16="http://schemas.microsoft.com/office/drawing/2014/main" id="{C7175B0D-FD80-4504-9196-59C9B7D2BC14}"/>
              </a:ext>
            </a:extLst>
          </p:cNvPr>
          <p:cNvSpPr txBox="1"/>
          <p:nvPr>
            <p:custDataLst>
              <p:tags r:id="rId5"/>
            </p:custDataLst>
          </p:nvPr>
        </p:nvSpPr>
        <p:spPr>
          <a:xfrm>
            <a:off x="526930" y="1414732"/>
            <a:ext cx="8236070" cy="1140218"/>
          </a:xfrm>
          <a:prstGeom prst="rect">
            <a:avLst/>
          </a:prstGeom>
          <a:noFill/>
        </p:spPr>
        <p:txBody>
          <a:bodyPr wrap="square" rtlCol="0" anchor="t">
            <a:noAutofit/>
          </a:bodyPr>
          <a:lstStyle/>
          <a:p>
            <a:r>
              <a:rPr lang="en-US" sz="2800" dirty="0">
                <a:latin typeface="+mn-lt"/>
              </a:rPr>
              <a:t>A single bit of data is stored as one bit in memory</a:t>
            </a:r>
          </a:p>
          <a:p>
            <a:pPr marL="457200" indent="-457200">
              <a:buFont typeface="Wingdings" panose="05000000000000000000" pitchFamily="2" charset="2"/>
              <a:buChar char="Ø"/>
            </a:pPr>
            <a:r>
              <a:rPr lang="en-US" sz="2400" b="1" dirty="0">
                <a:latin typeface="+mn-lt"/>
              </a:rPr>
              <a:t>Hamming Distance:</a:t>
            </a:r>
            <a:r>
              <a:rPr lang="en-US" sz="2400" dirty="0">
                <a:latin typeface="+mn-lt"/>
              </a:rPr>
              <a:t> how many bits must flip to convert a valid codeword to a different valid codeword?</a:t>
            </a:r>
          </a:p>
          <a:p>
            <a:pPr marL="457200" indent="-457200">
              <a:buFont typeface="Wingdings" panose="05000000000000000000" pitchFamily="2" charset="2"/>
              <a:buChar char="Ø"/>
            </a:pPr>
            <a:r>
              <a:rPr lang="en-US" sz="2400" dirty="0">
                <a:latin typeface="+mn-lt"/>
              </a:rPr>
              <a:t>Hamming Distance  = 1</a:t>
            </a:r>
          </a:p>
        </p:txBody>
      </p:sp>
    </p:spTree>
    <p:custDataLst>
      <p:tags r:id="rId1"/>
    </p:custDataLst>
    <p:extLst>
      <p:ext uri="{BB962C8B-B14F-4D97-AF65-F5344CB8AC3E}">
        <p14:creationId xmlns:p14="http://schemas.microsoft.com/office/powerpoint/2010/main" val="328804859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Single Error Detection (SED)</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12</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22C5892D-537B-4D7B-8583-209CE68DB495}"/>
              </a:ext>
            </a:extLst>
          </p:cNvPr>
          <p:cNvGraphicFramePr>
            <a:graphicFrameLocks noGrp="1"/>
          </p:cNvGraphicFramePr>
          <p:nvPr>
            <p:custDataLst>
              <p:tags r:id="rId4"/>
            </p:custDataLst>
          </p:nvPr>
        </p:nvGraphicFramePr>
        <p:xfrm>
          <a:off x="2705100" y="2590800"/>
          <a:ext cx="3733800" cy="1381760"/>
        </p:xfrm>
        <a:graphic>
          <a:graphicData uri="http://schemas.openxmlformats.org/drawingml/2006/table">
            <a:tbl>
              <a:tblPr>
                <a:tableStyleId>{5C22544A-7EE6-4342-B048-85BDC9FD1C3A}</a:tableStyleId>
              </a:tblPr>
              <a:tblGrid>
                <a:gridCol w="1479430">
                  <a:extLst>
                    <a:ext uri="{9D8B030D-6E8A-4147-A177-3AD203B41FA5}">
                      <a16:colId xmlns:a16="http://schemas.microsoft.com/office/drawing/2014/main" val="2497083988"/>
                    </a:ext>
                  </a:extLst>
                </a:gridCol>
                <a:gridCol w="2254370">
                  <a:extLst>
                    <a:ext uri="{9D8B030D-6E8A-4147-A177-3AD203B41FA5}">
                      <a16:colId xmlns:a16="http://schemas.microsoft.com/office/drawing/2014/main" val="1877466339"/>
                    </a:ext>
                  </a:extLst>
                </a:gridCol>
              </a:tblGrid>
              <a:tr h="370840">
                <a:tc>
                  <a:txBody>
                    <a:bodyPr/>
                    <a:lstStyle/>
                    <a:p>
                      <a:pPr algn="ctr"/>
                      <a:r>
                        <a:rPr lang="en-US" b="1" dirty="0"/>
                        <a:t>Data Word</a:t>
                      </a:r>
                    </a:p>
                    <a:p>
                      <a:pPr algn="ctr"/>
                      <a:r>
                        <a:rPr lang="en-US" b="1" dirty="0"/>
                        <a:t>(1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Codeword in Memory</a:t>
                      </a:r>
                    </a:p>
                    <a:p>
                      <a:pPr algn="ctr"/>
                      <a:r>
                        <a:rPr lang="en-US" b="1" dirty="0"/>
                        <a:t>(2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bl>
          </a:graphicData>
        </a:graphic>
      </p:graphicFrame>
      <p:sp>
        <p:nvSpPr>
          <p:cNvPr id="10" name="TextBox 9">
            <a:extLst>
              <a:ext uri="{FF2B5EF4-FFF2-40B4-BE49-F238E27FC236}">
                <a16:creationId xmlns:a16="http://schemas.microsoft.com/office/drawing/2014/main" id="{C7175B0D-FD80-4504-9196-59C9B7D2BC14}"/>
              </a:ext>
            </a:extLst>
          </p:cNvPr>
          <p:cNvSpPr txBox="1"/>
          <p:nvPr>
            <p:custDataLst>
              <p:tags r:id="rId5"/>
            </p:custDataLst>
          </p:nvPr>
        </p:nvSpPr>
        <p:spPr>
          <a:xfrm>
            <a:off x="526930" y="1414732"/>
            <a:ext cx="8236070" cy="1023668"/>
          </a:xfrm>
          <a:prstGeom prst="rect">
            <a:avLst/>
          </a:prstGeom>
          <a:noFill/>
        </p:spPr>
        <p:txBody>
          <a:bodyPr wrap="square" rtlCol="0" anchor="t">
            <a:noAutofit/>
          </a:bodyPr>
          <a:lstStyle/>
          <a:p>
            <a:r>
              <a:rPr lang="en-US" sz="2800" dirty="0">
                <a:latin typeface="+mn-lt"/>
              </a:rPr>
              <a:t>Store one extra bit of redundancy in memory</a:t>
            </a:r>
          </a:p>
          <a:p>
            <a:pPr marL="457200" indent="-457200">
              <a:buFont typeface="Wingdings" panose="05000000000000000000" pitchFamily="2" charset="2"/>
              <a:buChar char="Ø"/>
            </a:pPr>
            <a:r>
              <a:rPr lang="en-US" sz="2400" dirty="0">
                <a:latin typeface="+mn-lt"/>
              </a:rPr>
              <a:t>Hamming Distance  = 2</a:t>
            </a:r>
          </a:p>
        </p:txBody>
      </p:sp>
      <p:cxnSp>
        <p:nvCxnSpPr>
          <p:cNvPr id="7" name="Straight Connector 6">
            <a:extLst>
              <a:ext uri="{FF2B5EF4-FFF2-40B4-BE49-F238E27FC236}">
                <a16:creationId xmlns:a16="http://schemas.microsoft.com/office/drawing/2014/main" id="{8248CEF0-F518-4EC0-8183-FCF5250C6040}"/>
              </a:ext>
            </a:extLst>
          </p:cNvPr>
          <p:cNvCxnSpPr>
            <a:stCxn id="48" idx="6"/>
            <a:endCxn id="36" idx="2"/>
          </p:cNvCxnSpPr>
          <p:nvPr>
            <p:custDataLst>
              <p:tags r:id="rId6"/>
            </p:custDataLst>
          </p:nvPr>
        </p:nvCxnSpPr>
        <p:spPr>
          <a:xfrm>
            <a:off x="3944112" y="4679373"/>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EDA8F15-2218-4B78-98C1-A382FB75B932}"/>
              </a:ext>
            </a:extLst>
          </p:cNvPr>
          <p:cNvCxnSpPr>
            <a:stCxn id="37" idx="6"/>
            <a:endCxn id="38" idx="2"/>
          </p:cNvCxnSpPr>
          <p:nvPr>
            <p:custDataLst>
              <p:tags r:id="rId7"/>
            </p:custDataLst>
          </p:nvPr>
        </p:nvCxnSpPr>
        <p:spPr>
          <a:xfrm>
            <a:off x="3944112" y="5926282"/>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7C89A8C-0C02-488D-917D-7A239A887C28}"/>
              </a:ext>
            </a:extLst>
          </p:cNvPr>
          <p:cNvCxnSpPr>
            <a:cxnSpLocks/>
          </p:cNvCxnSpPr>
          <p:nvPr>
            <p:custDataLst>
              <p:tags r:id="rId8"/>
            </p:custDataLst>
          </p:nvPr>
        </p:nvCxnSpPr>
        <p:spPr>
          <a:xfrm rot="5400000">
            <a:off x="3281836" y="5302497"/>
            <a:ext cx="727364" cy="2827"/>
          </a:xfrm>
          <a:prstGeom prst="line">
            <a:avLst/>
          </a:prstGeom>
          <a:ln>
            <a:solidFill>
              <a:schemeClr val="accent6">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B07380E-0C78-4429-8AAF-A830A79BAC1E}"/>
              </a:ext>
            </a:extLst>
          </p:cNvPr>
          <p:cNvCxnSpPr>
            <a:cxnSpLocks/>
          </p:cNvCxnSpPr>
          <p:nvPr>
            <p:custDataLst>
              <p:tags r:id="rId9"/>
            </p:custDataLst>
          </p:nvPr>
        </p:nvCxnSpPr>
        <p:spPr>
          <a:xfrm rot="5400000">
            <a:off x="5045104" y="5302497"/>
            <a:ext cx="727364" cy="28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446F3626-4799-4875-AF48-EE3BCFB7DB4D}"/>
              </a:ext>
            </a:extLst>
          </p:cNvPr>
          <p:cNvSpPr/>
          <p:nvPr>
            <p:custDataLst>
              <p:tags r:id="rId10"/>
            </p:custDataLst>
          </p:nvPr>
        </p:nvSpPr>
        <p:spPr>
          <a:xfrm>
            <a:off x="5029200" y="4419600"/>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tx1"/>
                </a:solidFill>
              </a:rPr>
              <a:t>01</a:t>
            </a:r>
          </a:p>
        </p:txBody>
      </p:sp>
      <p:sp>
        <p:nvSpPr>
          <p:cNvPr id="37" name="Oval 36">
            <a:extLst>
              <a:ext uri="{FF2B5EF4-FFF2-40B4-BE49-F238E27FC236}">
                <a16:creationId xmlns:a16="http://schemas.microsoft.com/office/drawing/2014/main" id="{ED1B010F-5F16-4547-844A-D120CD6C01B7}"/>
              </a:ext>
            </a:extLst>
          </p:cNvPr>
          <p:cNvSpPr/>
          <p:nvPr>
            <p:custDataLst>
              <p:tags r:id="rId11"/>
            </p:custDataLst>
          </p:nvPr>
        </p:nvSpPr>
        <p:spPr>
          <a:xfrm>
            <a:off x="3265932" y="5666510"/>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tx1"/>
                </a:solidFill>
              </a:rPr>
              <a:t>10</a:t>
            </a:r>
          </a:p>
        </p:txBody>
      </p:sp>
      <p:sp>
        <p:nvSpPr>
          <p:cNvPr id="38" name="Oval 37">
            <a:extLst>
              <a:ext uri="{FF2B5EF4-FFF2-40B4-BE49-F238E27FC236}">
                <a16:creationId xmlns:a16="http://schemas.microsoft.com/office/drawing/2014/main" id="{9667F05D-6753-4241-8096-67AA72CC4E69}"/>
              </a:ext>
            </a:extLst>
          </p:cNvPr>
          <p:cNvSpPr/>
          <p:nvPr>
            <p:custDataLst>
              <p:tags r:id="rId12"/>
            </p:custDataLst>
          </p:nvPr>
        </p:nvSpPr>
        <p:spPr>
          <a:xfrm>
            <a:off x="5029200" y="5666510"/>
            <a:ext cx="678180" cy="519545"/>
          </a:xfrm>
          <a:prstGeom prst="ellipse">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tx1"/>
                </a:solidFill>
              </a:rPr>
              <a:t>11</a:t>
            </a:r>
          </a:p>
        </p:txBody>
      </p:sp>
      <p:sp>
        <p:nvSpPr>
          <p:cNvPr id="48" name="Oval 47">
            <a:extLst>
              <a:ext uri="{FF2B5EF4-FFF2-40B4-BE49-F238E27FC236}">
                <a16:creationId xmlns:a16="http://schemas.microsoft.com/office/drawing/2014/main" id="{C8324A29-223C-4A8E-A066-262B697A3EAD}"/>
              </a:ext>
            </a:extLst>
          </p:cNvPr>
          <p:cNvSpPr/>
          <p:nvPr>
            <p:custDataLst>
              <p:tags r:id="rId13"/>
            </p:custDataLst>
          </p:nvPr>
        </p:nvSpPr>
        <p:spPr>
          <a:xfrm>
            <a:off x="3265932" y="4419600"/>
            <a:ext cx="678180" cy="519545"/>
          </a:xfrm>
          <a:prstGeom prst="ellipse">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tx1"/>
                </a:solidFill>
              </a:rPr>
              <a:t>00</a:t>
            </a:r>
          </a:p>
        </p:txBody>
      </p:sp>
      <p:sp>
        <p:nvSpPr>
          <p:cNvPr id="14" name="TextBox 13">
            <a:extLst>
              <a:ext uri="{FF2B5EF4-FFF2-40B4-BE49-F238E27FC236}">
                <a16:creationId xmlns:a16="http://schemas.microsoft.com/office/drawing/2014/main" id="{6CFA8473-E8C2-4B9B-9FFE-112347837F08}"/>
              </a:ext>
            </a:extLst>
          </p:cNvPr>
          <p:cNvSpPr txBox="1"/>
          <p:nvPr>
            <p:custDataLst>
              <p:tags r:id="rId14"/>
            </p:custDataLst>
          </p:nvPr>
        </p:nvSpPr>
        <p:spPr>
          <a:xfrm>
            <a:off x="1212893" y="5008549"/>
            <a:ext cx="2438400" cy="51954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each edge is one bit-flip</a:t>
            </a:r>
          </a:p>
        </p:txBody>
      </p:sp>
      <p:cxnSp>
        <p:nvCxnSpPr>
          <p:cNvPr id="15" name="Straight Connector 14">
            <a:extLst>
              <a:ext uri="{FF2B5EF4-FFF2-40B4-BE49-F238E27FC236}">
                <a16:creationId xmlns:a16="http://schemas.microsoft.com/office/drawing/2014/main" id="{C4817641-3F43-4410-8641-C0539B755C7E}"/>
              </a:ext>
            </a:extLst>
          </p:cNvPr>
          <p:cNvCxnSpPr>
            <a:endCxn id="17" idx="2"/>
          </p:cNvCxnSpPr>
          <p:nvPr>
            <p:custDataLst>
              <p:tags r:id="rId15"/>
            </p:custDataLst>
          </p:nvPr>
        </p:nvCxnSpPr>
        <p:spPr>
          <a:xfrm>
            <a:off x="3944112" y="4679373"/>
            <a:ext cx="1085088" cy="2165"/>
          </a:xfrm>
          <a:prstGeom prst="line">
            <a:avLst/>
          </a:prstGeom>
          <a:ln>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C2A322F-6EAE-43EC-9ECC-1A740889B00B}"/>
              </a:ext>
            </a:extLst>
          </p:cNvPr>
          <p:cNvCxnSpPr>
            <a:cxnSpLocks/>
          </p:cNvCxnSpPr>
          <p:nvPr>
            <p:custDataLst>
              <p:tags r:id="rId16"/>
            </p:custDataLst>
          </p:nvPr>
        </p:nvCxnSpPr>
        <p:spPr>
          <a:xfrm rot="5400000">
            <a:off x="5045104" y="5302497"/>
            <a:ext cx="727364" cy="2827"/>
          </a:xfrm>
          <a:prstGeom prst="line">
            <a:avLst/>
          </a:prstGeom>
          <a:ln>
            <a:solidFill>
              <a:srgbClr val="FF0000"/>
            </a:solidFill>
            <a:headEnd type="triangle" w="lg" len="lg"/>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5DF8FC46-C8C2-4675-8891-195CBDA17CBB}"/>
              </a:ext>
            </a:extLst>
          </p:cNvPr>
          <p:cNvSpPr/>
          <p:nvPr>
            <p:custDataLst>
              <p:tags r:id="rId17"/>
            </p:custDataLst>
          </p:nvPr>
        </p:nvSpPr>
        <p:spPr>
          <a:xfrm>
            <a:off x="5029200" y="4419600"/>
            <a:ext cx="678180" cy="519545"/>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bg1"/>
                </a:solidFill>
              </a:rPr>
              <a:t>01</a:t>
            </a:r>
          </a:p>
        </p:txBody>
      </p:sp>
      <p:sp>
        <p:nvSpPr>
          <p:cNvPr id="18" name="TextBox 17">
            <a:extLst>
              <a:ext uri="{FF2B5EF4-FFF2-40B4-BE49-F238E27FC236}">
                <a16:creationId xmlns:a16="http://schemas.microsoft.com/office/drawing/2014/main" id="{EF4B2A58-2219-4035-905D-AF33A8D4B236}"/>
              </a:ext>
            </a:extLst>
          </p:cNvPr>
          <p:cNvSpPr txBox="1"/>
          <p:nvPr>
            <p:custDataLst>
              <p:tags r:id="rId18"/>
            </p:custDataLst>
          </p:nvPr>
        </p:nvSpPr>
        <p:spPr>
          <a:xfrm>
            <a:off x="4953000" y="4189526"/>
            <a:ext cx="3276600" cy="458674"/>
          </a:xfrm>
          <a:prstGeom prst="rect">
            <a:avLst/>
          </a:prstGeom>
          <a:noFill/>
        </p:spPr>
        <p:txBody>
          <a:bodyPr wrap="square" rtlCol="0" anchor="ctr">
            <a:noAutofit/>
          </a:bodyPr>
          <a:lstStyle/>
          <a:p>
            <a:pPr algn="ctr"/>
            <a:r>
              <a:rPr lang="en-US" sz="1800" b="1" dirty="0">
                <a:solidFill>
                  <a:srgbClr val="FF0000"/>
                </a:solidFill>
                <a:latin typeface="+mn-lt"/>
              </a:rPr>
              <a:t>if we observe invalid codeword, which bit flipped?</a:t>
            </a:r>
          </a:p>
        </p:txBody>
      </p:sp>
    </p:spTree>
    <p:custDataLst>
      <p:tags r:id="rId1"/>
    </p:custDataLst>
    <p:extLst>
      <p:ext uri="{BB962C8B-B14F-4D97-AF65-F5344CB8AC3E}">
        <p14:creationId xmlns:p14="http://schemas.microsoft.com/office/powerpoint/2010/main" val="36717020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48" grpId="0" animBg="1"/>
      <p:bldP spid="14" grpId="0"/>
      <p:bldP spid="17"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Single Error Correction (SECSED)</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13</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22C5892D-537B-4D7B-8583-209CE68DB495}"/>
              </a:ext>
            </a:extLst>
          </p:cNvPr>
          <p:cNvGraphicFramePr>
            <a:graphicFrameLocks noGrp="1"/>
          </p:cNvGraphicFramePr>
          <p:nvPr>
            <p:custDataLst>
              <p:tags r:id="rId4"/>
            </p:custDataLst>
          </p:nvPr>
        </p:nvGraphicFramePr>
        <p:xfrm>
          <a:off x="2705100" y="2590800"/>
          <a:ext cx="3733800" cy="1381760"/>
        </p:xfrm>
        <a:graphic>
          <a:graphicData uri="http://schemas.openxmlformats.org/drawingml/2006/table">
            <a:tbl>
              <a:tblPr>
                <a:tableStyleId>{5C22544A-7EE6-4342-B048-85BDC9FD1C3A}</a:tableStyleId>
              </a:tblPr>
              <a:tblGrid>
                <a:gridCol w="1479430">
                  <a:extLst>
                    <a:ext uri="{9D8B030D-6E8A-4147-A177-3AD203B41FA5}">
                      <a16:colId xmlns:a16="http://schemas.microsoft.com/office/drawing/2014/main" val="2497083988"/>
                    </a:ext>
                  </a:extLst>
                </a:gridCol>
                <a:gridCol w="2254370">
                  <a:extLst>
                    <a:ext uri="{9D8B030D-6E8A-4147-A177-3AD203B41FA5}">
                      <a16:colId xmlns:a16="http://schemas.microsoft.com/office/drawing/2014/main" val="1877466339"/>
                    </a:ext>
                  </a:extLst>
                </a:gridCol>
              </a:tblGrid>
              <a:tr h="370840">
                <a:tc>
                  <a:txBody>
                    <a:bodyPr/>
                    <a:lstStyle/>
                    <a:p>
                      <a:pPr algn="ctr"/>
                      <a:r>
                        <a:rPr lang="en-US" b="1" dirty="0"/>
                        <a:t>Data Word</a:t>
                      </a:r>
                    </a:p>
                    <a:p>
                      <a:pPr algn="ctr"/>
                      <a:r>
                        <a:rPr lang="en-US" b="1" dirty="0"/>
                        <a:t>(1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Codeword in Memory</a:t>
                      </a:r>
                    </a:p>
                    <a:p>
                      <a:pPr algn="ctr"/>
                      <a:r>
                        <a:rPr lang="en-US" b="1" dirty="0"/>
                        <a:t>(3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bl>
          </a:graphicData>
        </a:graphic>
      </p:graphicFrame>
      <p:sp>
        <p:nvSpPr>
          <p:cNvPr id="10" name="TextBox 9">
            <a:extLst>
              <a:ext uri="{FF2B5EF4-FFF2-40B4-BE49-F238E27FC236}">
                <a16:creationId xmlns:a16="http://schemas.microsoft.com/office/drawing/2014/main" id="{C7175B0D-FD80-4504-9196-59C9B7D2BC14}"/>
              </a:ext>
            </a:extLst>
          </p:cNvPr>
          <p:cNvSpPr txBox="1"/>
          <p:nvPr>
            <p:custDataLst>
              <p:tags r:id="rId5"/>
            </p:custDataLst>
          </p:nvPr>
        </p:nvSpPr>
        <p:spPr>
          <a:xfrm>
            <a:off x="526930" y="1414732"/>
            <a:ext cx="8236070" cy="1023668"/>
          </a:xfrm>
          <a:prstGeom prst="rect">
            <a:avLst/>
          </a:prstGeom>
          <a:noFill/>
        </p:spPr>
        <p:txBody>
          <a:bodyPr wrap="square" rtlCol="0" anchor="t">
            <a:noAutofit/>
          </a:bodyPr>
          <a:lstStyle/>
          <a:p>
            <a:r>
              <a:rPr lang="en-US" sz="2800" dirty="0">
                <a:latin typeface="+mn-lt"/>
              </a:rPr>
              <a:t>Store two extra bits of redundancy in memory</a:t>
            </a:r>
          </a:p>
          <a:p>
            <a:pPr marL="457200" indent="-457200">
              <a:buFont typeface="Wingdings" panose="05000000000000000000" pitchFamily="2" charset="2"/>
              <a:buChar char="Ø"/>
            </a:pPr>
            <a:r>
              <a:rPr lang="en-US" sz="2400" dirty="0">
                <a:latin typeface="+mn-lt"/>
              </a:rPr>
              <a:t>Hamming Distance  = 3</a:t>
            </a:r>
          </a:p>
        </p:txBody>
      </p:sp>
      <p:cxnSp>
        <p:nvCxnSpPr>
          <p:cNvPr id="7" name="Straight Connector 6">
            <a:extLst>
              <a:ext uri="{FF2B5EF4-FFF2-40B4-BE49-F238E27FC236}">
                <a16:creationId xmlns:a16="http://schemas.microsoft.com/office/drawing/2014/main" id="{8248CEF0-F518-4EC0-8183-FCF5250C6040}"/>
              </a:ext>
            </a:extLst>
          </p:cNvPr>
          <p:cNvCxnSpPr>
            <a:stCxn id="48" idx="6"/>
            <a:endCxn id="36" idx="2"/>
          </p:cNvCxnSpPr>
          <p:nvPr>
            <p:custDataLst>
              <p:tags r:id="rId6"/>
            </p:custDataLst>
          </p:nvPr>
        </p:nvCxnSpPr>
        <p:spPr>
          <a:xfrm>
            <a:off x="3554730" y="5032230"/>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EDA8F15-2218-4B78-98C1-A382FB75B932}"/>
              </a:ext>
            </a:extLst>
          </p:cNvPr>
          <p:cNvCxnSpPr>
            <a:stCxn id="37" idx="6"/>
            <a:endCxn id="38" idx="2"/>
          </p:cNvCxnSpPr>
          <p:nvPr>
            <p:custDataLst>
              <p:tags r:id="rId7"/>
            </p:custDataLst>
          </p:nvPr>
        </p:nvCxnSpPr>
        <p:spPr>
          <a:xfrm>
            <a:off x="3554730" y="6279139"/>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7C89A8C-0C02-488D-917D-7A239A887C28}"/>
              </a:ext>
            </a:extLst>
          </p:cNvPr>
          <p:cNvCxnSpPr>
            <a:cxnSpLocks/>
          </p:cNvCxnSpPr>
          <p:nvPr>
            <p:custDataLst>
              <p:tags r:id="rId8"/>
            </p:custDataLst>
          </p:nvPr>
        </p:nvCxnSpPr>
        <p:spPr>
          <a:xfrm rot="5400000">
            <a:off x="2900836" y="5655354"/>
            <a:ext cx="727364" cy="28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B07380E-0C78-4429-8AAF-A830A79BAC1E}"/>
              </a:ext>
            </a:extLst>
          </p:cNvPr>
          <p:cNvCxnSpPr>
            <a:cxnSpLocks/>
          </p:cNvCxnSpPr>
          <p:nvPr>
            <p:custDataLst>
              <p:tags r:id="rId9"/>
            </p:custDataLst>
          </p:nvPr>
        </p:nvCxnSpPr>
        <p:spPr>
          <a:xfrm rot="5400000">
            <a:off x="4664104" y="5655354"/>
            <a:ext cx="727364" cy="28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A270E0D-1F9B-4F06-8573-43D0A34B0C09}"/>
              </a:ext>
            </a:extLst>
          </p:cNvPr>
          <p:cNvCxnSpPr>
            <a:stCxn id="39" idx="6"/>
            <a:endCxn id="40" idx="2"/>
          </p:cNvCxnSpPr>
          <p:nvPr>
            <p:custDataLst>
              <p:tags r:id="rId10"/>
            </p:custDataLst>
          </p:nvPr>
        </p:nvCxnSpPr>
        <p:spPr>
          <a:xfrm>
            <a:off x="4504182" y="4512685"/>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D0B31FB-611E-44DA-887D-35652ECEB3B0}"/>
              </a:ext>
            </a:extLst>
          </p:cNvPr>
          <p:cNvCxnSpPr>
            <a:stCxn id="42" idx="6"/>
            <a:endCxn id="43" idx="2"/>
          </p:cNvCxnSpPr>
          <p:nvPr>
            <p:custDataLst>
              <p:tags r:id="rId11"/>
            </p:custDataLst>
          </p:nvPr>
        </p:nvCxnSpPr>
        <p:spPr>
          <a:xfrm>
            <a:off x="4504182" y="5759594"/>
            <a:ext cx="1085088" cy="21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C28C4EB-4E57-4F62-8CD6-9662E43142A9}"/>
              </a:ext>
            </a:extLst>
          </p:cNvPr>
          <p:cNvCxnSpPr>
            <a:cxnSpLocks/>
          </p:cNvCxnSpPr>
          <p:nvPr>
            <p:custDataLst>
              <p:tags r:id="rId12"/>
            </p:custDataLst>
          </p:nvPr>
        </p:nvCxnSpPr>
        <p:spPr>
          <a:xfrm rot="5400000" flipH="1" flipV="1">
            <a:off x="3537303" y="4495382"/>
            <a:ext cx="152171" cy="4699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B6E22EB-300D-4524-8E1C-E0B9509CF5D6}"/>
              </a:ext>
            </a:extLst>
          </p:cNvPr>
          <p:cNvCxnSpPr>
            <a:cxnSpLocks/>
          </p:cNvCxnSpPr>
          <p:nvPr>
            <p:custDataLst>
              <p:tags r:id="rId13"/>
            </p:custDataLst>
          </p:nvPr>
        </p:nvCxnSpPr>
        <p:spPr>
          <a:xfrm rot="5400000" flipH="1" flipV="1">
            <a:off x="5300571" y="4495382"/>
            <a:ext cx="152171" cy="4699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3E5738F-3208-4985-8237-6CF27B33EE03}"/>
              </a:ext>
            </a:extLst>
          </p:cNvPr>
          <p:cNvCxnSpPr>
            <a:cxnSpLocks/>
          </p:cNvCxnSpPr>
          <p:nvPr>
            <p:custDataLst>
              <p:tags r:id="rId14"/>
            </p:custDataLst>
          </p:nvPr>
        </p:nvCxnSpPr>
        <p:spPr>
          <a:xfrm rot="5400000" flipH="1" flipV="1">
            <a:off x="3537303" y="5742291"/>
            <a:ext cx="152171" cy="4699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EFCD6DD-1FA5-4B24-BF6B-4FC4201D1CBB}"/>
              </a:ext>
            </a:extLst>
          </p:cNvPr>
          <p:cNvCxnSpPr>
            <a:cxnSpLocks/>
          </p:cNvCxnSpPr>
          <p:nvPr>
            <p:custDataLst>
              <p:tags r:id="rId15"/>
            </p:custDataLst>
          </p:nvPr>
        </p:nvCxnSpPr>
        <p:spPr>
          <a:xfrm rot="5400000" flipH="1" flipV="1">
            <a:off x="5300571" y="5742291"/>
            <a:ext cx="152171" cy="4699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410294E-3801-4AB7-A4FB-331ABD0CE0B5}"/>
              </a:ext>
            </a:extLst>
          </p:cNvPr>
          <p:cNvCxnSpPr>
            <a:cxnSpLocks/>
          </p:cNvCxnSpPr>
          <p:nvPr>
            <p:custDataLst>
              <p:tags r:id="rId16"/>
            </p:custDataLst>
          </p:nvPr>
        </p:nvCxnSpPr>
        <p:spPr>
          <a:xfrm rot="5400000">
            <a:off x="3786743" y="5133000"/>
            <a:ext cx="727364" cy="28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80CE9A3A-0CAB-457F-8C01-14C3AA37ED72}"/>
              </a:ext>
            </a:extLst>
          </p:cNvPr>
          <p:cNvCxnSpPr>
            <a:cxnSpLocks/>
          </p:cNvCxnSpPr>
          <p:nvPr>
            <p:custDataLst>
              <p:tags r:id="rId17"/>
            </p:custDataLst>
          </p:nvPr>
        </p:nvCxnSpPr>
        <p:spPr>
          <a:xfrm rot="5400000">
            <a:off x="5550011" y="5133000"/>
            <a:ext cx="727364" cy="28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446F3626-4799-4875-AF48-EE3BCFB7DB4D}"/>
              </a:ext>
            </a:extLst>
          </p:cNvPr>
          <p:cNvSpPr/>
          <p:nvPr>
            <p:custDataLst>
              <p:tags r:id="rId18"/>
            </p:custDataLst>
          </p:nvPr>
        </p:nvSpPr>
        <p:spPr>
          <a:xfrm>
            <a:off x="4639818" y="4772457"/>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001</a:t>
            </a:r>
          </a:p>
        </p:txBody>
      </p:sp>
      <p:sp>
        <p:nvSpPr>
          <p:cNvPr id="37" name="Oval 36">
            <a:extLst>
              <a:ext uri="{FF2B5EF4-FFF2-40B4-BE49-F238E27FC236}">
                <a16:creationId xmlns:a16="http://schemas.microsoft.com/office/drawing/2014/main" id="{ED1B010F-5F16-4547-844A-D120CD6C01B7}"/>
              </a:ext>
            </a:extLst>
          </p:cNvPr>
          <p:cNvSpPr/>
          <p:nvPr>
            <p:custDataLst>
              <p:tags r:id="rId19"/>
            </p:custDataLst>
          </p:nvPr>
        </p:nvSpPr>
        <p:spPr>
          <a:xfrm>
            <a:off x="2876550" y="6019367"/>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010</a:t>
            </a:r>
          </a:p>
        </p:txBody>
      </p:sp>
      <p:sp>
        <p:nvSpPr>
          <p:cNvPr id="38" name="Oval 37">
            <a:extLst>
              <a:ext uri="{FF2B5EF4-FFF2-40B4-BE49-F238E27FC236}">
                <a16:creationId xmlns:a16="http://schemas.microsoft.com/office/drawing/2014/main" id="{9667F05D-6753-4241-8096-67AA72CC4E69}"/>
              </a:ext>
            </a:extLst>
          </p:cNvPr>
          <p:cNvSpPr/>
          <p:nvPr>
            <p:custDataLst>
              <p:tags r:id="rId20"/>
            </p:custDataLst>
          </p:nvPr>
        </p:nvSpPr>
        <p:spPr>
          <a:xfrm>
            <a:off x="4639818" y="6019367"/>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011</a:t>
            </a:r>
          </a:p>
        </p:txBody>
      </p:sp>
      <p:sp>
        <p:nvSpPr>
          <p:cNvPr id="39" name="Oval 38">
            <a:extLst>
              <a:ext uri="{FF2B5EF4-FFF2-40B4-BE49-F238E27FC236}">
                <a16:creationId xmlns:a16="http://schemas.microsoft.com/office/drawing/2014/main" id="{6C5AA40C-EDDD-4ABB-BD12-31D3BD82A615}"/>
              </a:ext>
            </a:extLst>
          </p:cNvPr>
          <p:cNvSpPr/>
          <p:nvPr>
            <p:custDataLst>
              <p:tags r:id="rId21"/>
            </p:custDataLst>
          </p:nvPr>
        </p:nvSpPr>
        <p:spPr>
          <a:xfrm>
            <a:off x="3826002" y="4252912"/>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100</a:t>
            </a:r>
          </a:p>
        </p:txBody>
      </p:sp>
      <p:sp>
        <p:nvSpPr>
          <p:cNvPr id="40" name="Oval 39">
            <a:extLst>
              <a:ext uri="{FF2B5EF4-FFF2-40B4-BE49-F238E27FC236}">
                <a16:creationId xmlns:a16="http://schemas.microsoft.com/office/drawing/2014/main" id="{EBD16A60-18FE-46E9-BAD0-2EF9E5527157}"/>
              </a:ext>
            </a:extLst>
          </p:cNvPr>
          <p:cNvSpPr/>
          <p:nvPr>
            <p:custDataLst>
              <p:tags r:id="rId22"/>
            </p:custDataLst>
          </p:nvPr>
        </p:nvSpPr>
        <p:spPr>
          <a:xfrm>
            <a:off x="5589270" y="4252912"/>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101</a:t>
            </a:r>
          </a:p>
        </p:txBody>
      </p:sp>
      <p:sp>
        <p:nvSpPr>
          <p:cNvPr id="42" name="Oval 41">
            <a:extLst>
              <a:ext uri="{FF2B5EF4-FFF2-40B4-BE49-F238E27FC236}">
                <a16:creationId xmlns:a16="http://schemas.microsoft.com/office/drawing/2014/main" id="{F585B142-BBE7-4E3E-A3D8-A85C825426DC}"/>
              </a:ext>
            </a:extLst>
          </p:cNvPr>
          <p:cNvSpPr/>
          <p:nvPr>
            <p:custDataLst>
              <p:tags r:id="rId23"/>
            </p:custDataLst>
          </p:nvPr>
        </p:nvSpPr>
        <p:spPr>
          <a:xfrm>
            <a:off x="3826002" y="5499821"/>
            <a:ext cx="678180" cy="519545"/>
          </a:xfrm>
          <a:prstGeom prst="ellipse">
            <a:avLst/>
          </a:prstGeom>
          <a:solidFill>
            <a:schemeClr val="bg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110</a:t>
            </a:r>
          </a:p>
        </p:txBody>
      </p:sp>
      <p:sp>
        <p:nvSpPr>
          <p:cNvPr id="43" name="Oval 42">
            <a:extLst>
              <a:ext uri="{FF2B5EF4-FFF2-40B4-BE49-F238E27FC236}">
                <a16:creationId xmlns:a16="http://schemas.microsoft.com/office/drawing/2014/main" id="{EF7C6B79-25A0-4F10-8C40-1FA0D7F89F6B}"/>
              </a:ext>
            </a:extLst>
          </p:cNvPr>
          <p:cNvSpPr/>
          <p:nvPr>
            <p:custDataLst>
              <p:tags r:id="rId24"/>
            </p:custDataLst>
          </p:nvPr>
        </p:nvSpPr>
        <p:spPr>
          <a:xfrm>
            <a:off x="5589270" y="5499821"/>
            <a:ext cx="678180" cy="519545"/>
          </a:xfrm>
          <a:prstGeom prst="ellipse">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111</a:t>
            </a:r>
          </a:p>
        </p:txBody>
      </p:sp>
      <p:sp>
        <p:nvSpPr>
          <p:cNvPr id="48" name="Oval 47">
            <a:extLst>
              <a:ext uri="{FF2B5EF4-FFF2-40B4-BE49-F238E27FC236}">
                <a16:creationId xmlns:a16="http://schemas.microsoft.com/office/drawing/2014/main" id="{C8324A29-223C-4A8E-A066-262B697A3EAD}"/>
              </a:ext>
            </a:extLst>
          </p:cNvPr>
          <p:cNvSpPr/>
          <p:nvPr>
            <p:custDataLst>
              <p:tags r:id="rId25"/>
            </p:custDataLst>
          </p:nvPr>
        </p:nvSpPr>
        <p:spPr>
          <a:xfrm>
            <a:off x="2876550" y="4772457"/>
            <a:ext cx="678180" cy="519545"/>
          </a:xfrm>
          <a:prstGeom prst="ellipse">
            <a:avLst/>
          </a:prstGeom>
          <a:solidFill>
            <a:schemeClr val="accent6">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000</a:t>
            </a:r>
          </a:p>
        </p:txBody>
      </p:sp>
      <p:cxnSp>
        <p:nvCxnSpPr>
          <p:cNvPr id="26" name="Straight Connector 25">
            <a:extLst>
              <a:ext uri="{FF2B5EF4-FFF2-40B4-BE49-F238E27FC236}">
                <a16:creationId xmlns:a16="http://schemas.microsoft.com/office/drawing/2014/main" id="{A780906D-C9E0-4FCA-8BC9-6B88BF5FE27C}"/>
              </a:ext>
            </a:extLst>
          </p:cNvPr>
          <p:cNvCxnSpPr>
            <a:cxnSpLocks/>
          </p:cNvCxnSpPr>
          <p:nvPr>
            <p:custDataLst>
              <p:tags r:id="rId26"/>
            </p:custDataLst>
          </p:nvPr>
        </p:nvCxnSpPr>
        <p:spPr>
          <a:xfrm rot="5400000">
            <a:off x="5550011" y="5133000"/>
            <a:ext cx="727364" cy="2827"/>
          </a:xfrm>
          <a:prstGeom prst="line">
            <a:avLst/>
          </a:prstGeom>
          <a:ln>
            <a:solidFill>
              <a:srgbClr val="FF0000"/>
            </a:solidFill>
            <a:headEnd type="triangle" w="lg" len="lg"/>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270F5926-7760-40E4-A754-CA1C0936BA03}"/>
              </a:ext>
            </a:extLst>
          </p:cNvPr>
          <p:cNvSpPr/>
          <p:nvPr>
            <p:custDataLst>
              <p:tags r:id="rId27"/>
            </p:custDataLst>
          </p:nvPr>
        </p:nvSpPr>
        <p:spPr>
          <a:xfrm>
            <a:off x="5589270" y="4252912"/>
            <a:ext cx="678180" cy="519545"/>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bg1"/>
                </a:solidFill>
              </a:rPr>
              <a:t>101</a:t>
            </a:r>
          </a:p>
        </p:txBody>
      </p:sp>
      <p:sp>
        <p:nvSpPr>
          <p:cNvPr id="28" name="TextBox 27">
            <a:extLst>
              <a:ext uri="{FF2B5EF4-FFF2-40B4-BE49-F238E27FC236}">
                <a16:creationId xmlns:a16="http://schemas.microsoft.com/office/drawing/2014/main" id="{2C66B5AD-6CB0-414F-B057-A033ED8652F1}"/>
              </a:ext>
            </a:extLst>
          </p:cNvPr>
          <p:cNvSpPr txBox="1"/>
          <p:nvPr>
            <p:custDataLst>
              <p:tags r:id="rId28"/>
            </p:custDataLst>
          </p:nvPr>
        </p:nvSpPr>
        <p:spPr>
          <a:xfrm>
            <a:off x="6037247" y="5007183"/>
            <a:ext cx="3276600" cy="458674"/>
          </a:xfrm>
          <a:prstGeom prst="rect">
            <a:avLst/>
          </a:prstGeom>
          <a:noFill/>
        </p:spPr>
        <p:txBody>
          <a:bodyPr wrap="square" rtlCol="0" anchor="ctr">
            <a:noAutofit/>
          </a:bodyPr>
          <a:lstStyle/>
          <a:p>
            <a:pPr algn="ctr"/>
            <a:r>
              <a:rPr lang="en-US" sz="1800" b="1" dirty="0">
                <a:solidFill>
                  <a:srgbClr val="FF0000"/>
                </a:solidFill>
                <a:latin typeface="+mn-lt"/>
              </a:rPr>
              <a:t>if we observe invalid codeword, assuming only one bit flipped, we know exactly which valid codeword we had previously</a:t>
            </a:r>
          </a:p>
        </p:txBody>
      </p:sp>
    </p:spTree>
    <p:custDataLst>
      <p:tags r:id="rId1"/>
    </p:custDataLst>
    <p:extLst>
      <p:ext uri="{BB962C8B-B14F-4D97-AF65-F5344CB8AC3E}">
        <p14:creationId xmlns:p14="http://schemas.microsoft.com/office/powerpoint/2010/main" val="14861270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SED – Parity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22C5892D-537B-4D7B-8583-209CE68DB495}"/>
              </a:ext>
            </a:extLst>
          </p:cNvPr>
          <p:cNvGraphicFramePr>
            <a:graphicFrameLocks noGrp="1"/>
          </p:cNvGraphicFramePr>
          <p:nvPr>
            <p:custDataLst>
              <p:tags r:id="rId4"/>
            </p:custDataLst>
            <p:extLst>
              <p:ext uri="{D42A27DB-BD31-4B8C-83A1-F6EECF244321}">
                <p14:modId xmlns:p14="http://schemas.microsoft.com/office/powerpoint/2010/main" val="3902304705"/>
              </p:ext>
            </p:extLst>
          </p:nvPr>
        </p:nvGraphicFramePr>
        <p:xfrm>
          <a:off x="2705100" y="3886200"/>
          <a:ext cx="3733800" cy="2865120"/>
        </p:xfrm>
        <a:graphic>
          <a:graphicData uri="http://schemas.openxmlformats.org/drawingml/2006/table">
            <a:tbl>
              <a:tblPr>
                <a:tableStyleId>{5C22544A-7EE6-4342-B048-85BDC9FD1C3A}</a:tableStyleId>
              </a:tblPr>
              <a:tblGrid>
                <a:gridCol w="1479430">
                  <a:extLst>
                    <a:ext uri="{9D8B030D-6E8A-4147-A177-3AD203B41FA5}">
                      <a16:colId xmlns:a16="http://schemas.microsoft.com/office/drawing/2014/main" val="2497083988"/>
                    </a:ext>
                  </a:extLst>
                </a:gridCol>
                <a:gridCol w="2254370">
                  <a:extLst>
                    <a:ext uri="{9D8B030D-6E8A-4147-A177-3AD203B41FA5}">
                      <a16:colId xmlns:a16="http://schemas.microsoft.com/office/drawing/2014/main" val="1877466339"/>
                    </a:ext>
                  </a:extLst>
                </a:gridCol>
              </a:tblGrid>
              <a:tr h="370840">
                <a:tc>
                  <a:txBody>
                    <a:bodyPr/>
                    <a:lstStyle/>
                    <a:p>
                      <a:pPr algn="ctr"/>
                      <a:r>
                        <a:rPr lang="en-US" b="1" dirty="0"/>
                        <a:t>Data Word</a:t>
                      </a:r>
                    </a:p>
                    <a:p>
                      <a:pPr algn="ctr"/>
                      <a:r>
                        <a:rPr lang="en-US" b="1" dirty="0"/>
                        <a:t>(4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Codeword in Memory</a:t>
                      </a:r>
                    </a:p>
                    <a:p>
                      <a:pPr algn="ctr"/>
                      <a:r>
                        <a:rPr lang="en-US" b="1" dirty="0"/>
                        <a:t>(</a:t>
                      </a:r>
                      <a:r>
                        <a:rPr lang="en-US" b="0" dirty="0"/>
                        <a:t>4 bits + </a:t>
                      </a:r>
                      <a:r>
                        <a:rPr lang="en-US" b="1" dirty="0"/>
                        <a:t>1 parity 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0000</a:t>
                      </a:r>
                      <a:r>
                        <a:rPr lang="en-US" b="1"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0001</a:t>
                      </a:r>
                      <a:r>
                        <a:rPr kumimoji="0" lang="en-US" sz="1800" b="1" i="0" u="none" strike="noStrike" kern="1200" cap="none" spc="0" normalizeH="0" baseline="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0010</a:t>
                      </a:r>
                      <a:r>
                        <a:rPr kumimoji="0" lang="en-US" sz="1800" b="1" i="0" u="none" strike="noStrike" kern="1200" cap="none" spc="0" normalizeH="0" baseline="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0011</a:t>
                      </a:r>
                      <a:r>
                        <a:rPr kumimoji="0" lang="en-US" sz="1800" b="1" i="0" u="none" strike="noStrike" kern="1200" cap="none" spc="0" normalizeH="0" baseline="0" noProof="0" dirty="0">
                          <a:ln>
                            <a:noFill/>
                          </a:ln>
                          <a:solidFill>
                            <a:prstClr val="black"/>
                          </a:solidFill>
                          <a:effectLst/>
                          <a:uLnTx/>
                          <a:uFillTx/>
                          <a:latin typeface="Calibri"/>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0100</a:t>
                      </a:r>
                      <a:r>
                        <a:rPr kumimoji="0" lang="en-US" sz="1800" b="1" i="0" u="none" strike="noStrike" kern="1200" cap="none" spc="0" normalizeH="0" baseline="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0101</a:t>
                      </a:r>
                      <a:r>
                        <a:rPr kumimoji="0" lang="en-US" sz="1800" b="1" i="0" u="none" strike="noStrike" kern="1200" cap="none" spc="0" normalizeH="0" baseline="0" noProof="0" dirty="0">
                          <a:ln>
                            <a:noFill/>
                          </a:ln>
                          <a:solidFill>
                            <a:prstClr val="black"/>
                          </a:solidFill>
                          <a:effectLst/>
                          <a:uLnTx/>
                          <a:uFillTx/>
                          <a:latin typeface="Calibri"/>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bl>
          </a:graphicData>
        </a:graphic>
      </p:graphicFrame>
      <p:sp>
        <p:nvSpPr>
          <p:cNvPr id="10" name="TextBox 9">
            <a:extLst>
              <a:ext uri="{FF2B5EF4-FFF2-40B4-BE49-F238E27FC236}">
                <a16:creationId xmlns:a16="http://schemas.microsoft.com/office/drawing/2014/main" id="{C7175B0D-FD80-4504-9196-59C9B7D2BC14}"/>
              </a:ext>
            </a:extLst>
          </p:cNvPr>
          <p:cNvSpPr txBox="1"/>
          <p:nvPr>
            <p:custDataLst>
              <p:tags r:id="rId5"/>
            </p:custDataLst>
          </p:nvPr>
        </p:nvSpPr>
        <p:spPr>
          <a:xfrm>
            <a:off x="526930" y="1414732"/>
            <a:ext cx="8617070" cy="1633268"/>
          </a:xfrm>
          <a:prstGeom prst="rect">
            <a:avLst/>
          </a:prstGeom>
          <a:noFill/>
        </p:spPr>
        <p:txBody>
          <a:bodyPr wrap="square" rtlCol="0" anchor="t">
            <a:noAutofit/>
          </a:bodyPr>
          <a:lstStyle/>
          <a:p>
            <a:r>
              <a:rPr lang="en-US" sz="2800" dirty="0">
                <a:latin typeface="+mn-lt"/>
              </a:rPr>
              <a:t>For arbitrary n-bit data word (b</a:t>
            </a:r>
            <a:r>
              <a:rPr lang="en-US" sz="2800" baseline="-25000" dirty="0">
                <a:latin typeface="+mn-lt"/>
              </a:rPr>
              <a:t>n</a:t>
            </a:r>
            <a:r>
              <a:rPr lang="en-US" sz="2800" dirty="0">
                <a:latin typeface="+mn-lt"/>
              </a:rPr>
              <a:t>…b</a:t>
            </a:r>
            <a:r>
              <a:rPr lang="en-US" sz="2800" baseline="-25000" dirty="0">
                <a:latin typeface="+mn-lt"/>
              </a:rPr>
              <a:t>1</a:t>
            </a:r>
            <a:r>
              <a:rPr lang="en-US" sz="2800" dirty="0">
                <a:latin typeface="+mn-lt"/>
              </a:rPr>
              <a:t>), add one </a:t>
            </a:r>
            <a:r>
              <a:rPr lang="en-US" sz="2800" i="1" dirty="0">
                <a:latin typeface="+mn-lt"/>
              </a:rPr>
              <a:t>parity</a:t>
            </a:r>
            <a:r>
              <a:rPr lang="en-US" sz="2800" dirty="0">
                <a:latin typeface="+mn-lt"/>
              </a:rPr>
              <a:t> bit P to codeword</a:t>
            </a:r>
          </a:p>
          <a:p>
            <a:pPr marL="457200" indent="-457200">
              <a:buFont typeface="Wingdings" panose="05000000000000000000" pitchFamily="2" charset="2"/>
              <a:buChar char="Ø"/>
            </a:pPr>
            <a:r>
              <a:rPr lang="en-US" sz="2400" dirty="0">
                <a:latin typeface="+mn-lt"/>
              </a:rPr>
              <a:t>Hamming Distance = 2</a:t>
            </a:r>
          </a:p>
          <a:p>
            <a:pPr marL="457200" indent="-457200">
              <a:buFont typeface="Wingdings" panose="05000000000000000000" pitchFamily="2" charset="2"/>
              <a:buChar char="Ø"/>
            </a:pPr>
            <a:r>
              <a:rPr lang="en-US" sz="2400" dirty="0">
                <a:latin typeface="+mn-lt"/>
              </a:rPr>
              <a:t>P = b</a:t>
            </a:r>
            <a:r>
              <a:rPr lang="en-US" sz="2400" baseline="-25000" dirty="0">
                <a:latin typeface="+mn-lt"/>
              </a:rPr>
              <a:t>1</a:t>
            </a:r>
            <a:r>
              <a:rPr lang="en-US" sz="2400" dirty="0">
                <a:latin typeface="+mn-lt"/>
              </a:rPr>
              <a:t> ⊕ … ⊕ b</a:t>
            </a:r>
            <a:r>
              <a:rPr lang="en-US" sz="2400" baseline="-25000" dirty="0">
                <a:latin typeface="+mn-lt"/>
              </a:rPr>
              <a:t>n</a:t>
            </a:r>
          </a:p>
          <a:p>
            <a:pPr marL="457200" indent="-457200">
              <a:buFont typeface="Wingdings" panose="05000000000000000000" pitchFamily="2" charset="2"/>
              <a:buChar char="Ø"/>
            </a:pPr>
            <a:r>
              <a:rPr lang="en-US" sz="2400" dirty="0">
                <a:latin typeface="+mn-lt"/>
              </a:rPr>
              <a:t>When reading codeword, check </a:t>
            </a:r>
            <a:r>
              <a:rPr lang="en-US" sz="2400" i="1" dirty="0">
                <a:latin typeface="+mn-lt"/>
              </a:rPr>
              <a:t>syndrome</a:t>
            </a:r>
            <a:r>
              <a:rPr lang="en-US" sz="2400" dirty="0">
                <a:latin typeface="+mn-lt"/>
              </a:rPr>
              <a:t> = P</a:t>
            </a:r>
            <a:r>
              <a:rPr lang="en-US" sz="2400" dirty="0"/>
              <a:t>⊕</a:t>
            </a:r>
            <a:r>
              <a:rPr lang="en-US" sz="2400" dirty="0">
                <a:latin typeface="+mn-lt"/>
              </a:rPr>
              <a:t>b</a:t>
            </a:r>
            <a:r>
              <a:rPr lang="en-US" sz="2400" baseline="-25000" dirty="0">
                <a:latin typeface="+mn-lt"/>
              </a:rPr>
              <a:t>1</a:t>
            </a:r>
            <a:r>
              <a:rPr lang="en-US" sz="2400" dirty="0">
                <a:latin typeface="+mn-lt"/>
              </a:rPr>
              <a:t>⊕…⊕b</a:t>
            </a:r>
            <a:r>
              <a:rPr lang="en-US" sz="2400" baseline="-25000" dirty="0">
                <a:latin typeface="+mn-lt"/>
              </a:rPr>
              <a:t>n</a:t>
            </a:r>
            <a:r>
              <a:rPr lang="en-US" sz="2400" dirty="0">
                <a:latin typeface="+mn-lt"/>
              </a:rPr>
              <a:t>== 0?</a:t>
            </a:r>
          </a:p>
          <a:p>
            <a:pPr marL="457200" indent="-457200">
              <a:buFont typeface="Wingdings" panose="05000000000000000000" pitchFamily="2" charset="2"/>
              <a:buChar char="Ø"/>
            </a:pPr>
            <a:r>
              <a:rPr lang="en-US" sz="2400" dirty="0">
                <a:latin typeface="+mn-lt"/>
              </a:rPr>
              <a:t>Note: following discussions assume one-based indexing</a:t>
            </a:r>
          </a:p>
        </p:txBody>
      </p:sp>
    </p:spTree>
    <p:custDataLst>
      <p:tags r:id="rId1"/>
    </p:custDataLst>
    <p:extLst>
      <p:ext uri="{BB962C8B-B14F-4D97-AF65-F5344CB8AC3E}">
        <p14:creationId xmlns:p14="http://schemas.microsoft.com/office/powerpoint/2010/main" val="22229314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SECSED – Hamming Code</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15</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236070" cy="1633268"/>
          </a:xfrm>
          <a:prstGeom prst="rect">
            <a:avLst/>
          </a:prstGeom>
          <a:noFill/>
        </p:spPr>
        <p:txBody>
          <a:bodyPr wrap="square" rtlCol="0" anchor="t">
            <a:noAutofit/>
          </a:bodyPr>
          <a:lstStyle/>
          <a:p>
            <a:r>
              <a:rPr lang="en-US" sz="2800" dirty="0">
                <a:latin typeface="+mn-lt"/>
              </a:rPr>
              <a:t>For arbitrary n-bit data word (b</a:t>
            </a:r>
            <a:r>
              <a:rPr lang="en-US" sz="2800" baseline="-25000" dirty="0">
                <a:latin typeface="+mn-lt"/>
              </a:rPr>
              <a:t>n</a:t>
            </a:r>
            <a:r>
              <a:rPr lang="en-US" sz="2800" dirty="0">
                <a:latin typeface="+mn-lt"/>
              </a:rPr>
              <a:t>…b</a:t>
            </a:r>
            <a:r>
              <a:rPr lang="en-US" sz="2800" baseline="-25000" dirty="0">
                <a:latin typeface="+mn-lt"/>
              </a:rPr>
              <a:t>1</a:t>
            </a:r>
            <a:r>
              <a:rPr lang="en-US" sz="2800" dirty="0">
                <a:latin typeface="+mn-lt"/>
              </a:rPr>
              <a:t>), add k </a:t>
            </a:r>
            <a:r>
              <a:rPr lang="en-US" sz="2800" i="1" dirty="0">
                <a:latin typeface="+mn-lt"/>
              </a:rPr>
              <a:t>check</a:t>
            </a:r>
            <a:r>
              <a:rPr lang="en-US" sz="2800" dirty="0">
                <a:latin typeface="+mn-lt"/>
              </a:rPr>
              <a:t> bits (C</a:t>
            </a:r>
            <a:r>
              <a:rPr lang="en-US" sz="2800" baseline="-25000" dirty="0">
                <a:latin typeface="+mn-lt"/>
              </a:rPr>
              <a:t>k</a:t>
            </a:r>
            <a:r>
              <a:rPr lang="en-US" sz="2800" dirty="0">
                <a:latin typeface="+mn-lt"/>
              </a:rPr>
              <a:t>…C</a:t>
            </a:r>
            <a:r>
              <a:rPr lang="en-US" sz="2800" baseline="-25000" dirty="0">
                <a:latin typeface="+mn-lt"/>
              </a:rPr>
              <a:t>1</a:t>
            </a:r>
            <a:r>
              <a:rPr lang="en-US" sz="2800" dirty="0">
                <a:latin typeface="+mn-lt"/>
              </a:rPr>
              <a:t>) to codeword, where 2</a:t>
            </a:r>
            <a:r>
              <a:rPr lang="en-US" sz="2800" baseline="30000" dirty="0">
                <a:latin typeface="+mn-lt"/>
              </a:rPr>
              <a:t>k</a:t>
            </a:r>
            <a:r>
              <a:rPr lang="en-US" sz="2800" dirty="0">
                <a:latin typeface="+mn-lt"/>
              </a:rPr>
              <a:t> ≥ n+k+1</a:t>
            </a:r>
          </a:p>
          <a:p>
            <a:pPr marL="457200" indent="-457200">
              <a:buFont typeface="Wingdings" panose="05000000000000000000" pitchFamily="2" charset="2"/>
              <a:buChar char="Ø"/>
            </a:pPr>
            <a:r>
              <a:rPr lang="en-US" sz="2400" dirty="0">
                <a:latin typeface="+mn-lt"/>
              </a:rPr>
              <a:t>e.g., Hamming(7,4): n=4, k=3; Hamming Distance = 3</a:t>
            </a:r>
            <a:endParaRPr lang="en-US" sz="2400" baseline="-25000" dirty="0">
              <a:latin typeface="+mn-lt"/>
            </a:endParaRPr>
          </a:p>
        </p:txBody>
      </p:sp>
    </p:spTree>
    <p:custDataLst>
      <p:tags r:id="rId1"/>
    </p:custDataLst>
    <p:extLst>
      <p:ext uri="{BB962C8B-B14F-4D97-AF65-F5344CB8AC3E}">
        <p14:creationId xmlns:p14="http://schemas.microsoft.com/office/powerpoint/2010/main" val="236621676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SECSED – Hamming(7,4)</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16</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 7-bit codeword (W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3-bit </a:t>
            </a:r>
            <a:r>
              <a:rPr lang="en-US" sz="2800" i="1" dirty="0">
                <a:latin typeface="+mn-lt"/>
              </a:rPr>
              <a:t>syndrome</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that specifies if any (and which) bit has flipped:</a:t>
            </a: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5"/>
            </p:custDataLst>
            <p:extLst>
              <p:ext uri="{D42A27DB-BD31-4B8C-83A1-F6EECF244321}">
                <p14:modId xmlns:p14="http://schemas.microsoft.com/office/powerpoint/2010/main" val="39392982"/>
              </p:ext>
            </p:extLst>
          </p:nvPr>
        </p:nvGraphicFramePr>
        <p:xfrm>
          <a:off x="33147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Tree>
    <p:custDataLst>
      <p:tags r:id="rId1"/>
    </p:custDataLst>
    <p:extLst>
      <p:ext uri="{BB962C8B-B14F-4D97-AF65-F5344CB8AC3E}">
        <p14:creationId xmlns:p14="http://schemas.microsoft.com/office/powerpoint/2010/main" val="42930384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SECSED – Hamming(7,4)</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17</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 7-bit codeword (W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3-bit </a:t>
            </a:r>
            <a:r>
              <a:rPr lang="en-US" sz="2800" i="1" dirty="0">
                <a:latin typeface="+mn-lt"/>
              </a:rPr>
              <a:t>syndrome</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that specifies if any (and which) bit has flipped:</a:t>
            </a: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5"/>
            </p:custData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2" name="Arrow: Right 1">
            <a:extLst>
              <a:ext uri="{FF2B5EF4-FFF2-40B4-BE49-F238E27FC236}">
                <a16:creationId xmlns:a16="http://schemas.microsoft.com/office/drawing/2014/main" id="{C272A432-C74D-4B7B-B669-22619D92DD7E}"/>
              </a:ext>
            </a:extLst>
          </p:cNvPr>
          <p:cNvSpPr/>
          <p:nvPr>
            <p:custDataLst>
              <p:tags r:id="rId6"/>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C3C4DC05-CD25-446B-BCA0-4A076A414F68}"/>
              </a:ext>
            </a:extLst>
          </p:cNvPr>
          <p:cNvGraphicFramePr>
            <a:graphicFrameLocks noGrp="1"/>
          </p:cNvGraphicFramePr>
          <p:nvPr>
            <p:custDataLst>
              <p:tags r:id="rId7"/>
            </p:custDataLst>
            <p:extLst>
              <p:ext uri="{D42A27DB-BD31-4B8C-83A1-F6EECF244321}">
                <p14:modId xmlns:p14="http://schemas.microsoft.com/office/powerpoint/2010/main" val="3381841679"/>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graphicFrame>
        <p:nvGraphicFramePr>
          <p:cNvPr id="9" name="Table 8">
            <a:extLst>
              <a:ext uri="{FF2B5EF4-FFF2-40B4-BE49-F238E27FC236}">
                <a16:creationId xmlns:a16="http://schemas.microsoft.com/office/drawing/2014/main" id="{1FE8163F-1907-4C5E-872E-FC4AF778E7D0}"/>
              </a:ext>
            </a:extLst>
          </p:cNvPr>
          <p:cNvGraphicFramePr>
            <a:graphicFrameLocks noGrp="1"/>
          </p:cNvGraphicFramePr>
          <p:nvPr>
            <p:custDataLst>
              <p:tags r:id="rId8"/>
            </p:custDataLst>
            <p:extLst>
              <p:ext uri="{D42A27DB-BD31-4B8C-83A1-F6EECF244321}">
                <p14:modId xmlns:p14="http://schemas.microsoft.com/office/powerpoint/2010/main" val="3354563833"/>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a:t>
                      </a:r>
                      <a:r>
                        <a:rPr lang="en-US" b="1" dirty="0">
                          <a:solidFill>
                            <a:schemeClr val="accent6">
                              <a:lumMod val="75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a:t>
                      </a:r>
                      <a:r>
                        <a:rPr lang="en-US" b="1" dirty="0">
                          <a:solidFill>
                            <a:schemeClr val="accent6">
                              <a:lumMod val="75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a:t>
                      </a:r>
                      <a:r>
                        <a:rPr lang="en-US" b="1" dirty="0">
                          <a:solidFill>
                            <a:schemeClr val="accent6">
                              <a:lumMod val="75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a:t>
                      </a:r>
                      <a:r>
                        <a:rPr lang="en-US" b="1" dirty="0">
                          <a:solidFill>
                            <a:schemeClr val="accent6">
                              <a:lumMod val="75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47350959"/>
                  </a:ext>
                </a:extLst>
              </a:tr>
            </a:tbl>
          </a:graphicData>
        </a:graphic>
      </p:graphicFrame>
      <p:sp>
        <p:nvSpPr>
          <p:cNvPr id="11" name="Arrow: Right 10">
            <a:extLst>
              <a:ext uri="{FF2B5EF4-FFF2-40B4-BE49-F238E27FC236}">
                <a16:creationId xmlns:a16="http://schemas.microsoft.com/office/drawing/2014/main" id="{8B156899-95FA-4D07-937C-1F273C2C4A3A}"/>
              </a:ext>
            </a:extLst>
          </p:cNvPr>
          <p:cNvSpPr/>
          <p:nvPr>
            <p:custDataLst>
              <p:tags r:id="rId9"/>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08BE82CC-8438-4DA0-9353-BD49E85212FC}"/>
              </a:ext>
            </a:extLst>
          </p:cNvPr>
          <p:cNvGraphicFramePr>
            <a:graphicFrameLocks noGrp="1"/>
          </p:cNvGraphicFramePr>
          <p:nvPr>
            <p:custDataLst>
              <p:tags r:id="rId10"/>
            </p:custDataLst>
            <p:extLst>
              <p:ext uri="{D42A27DB-BD31-4B8C-83A1-F6EECF244321}">
                <p14:modId xmlns:p14="http://schemas.microsoft.com/office/powerpoint/2010/main" val="1905317272"/>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graphicFrame>
        <p:nvGraphicFramePr>
          <p:cNvPr id="13" name="Table 12">
            <a:extLst>
              <a:ext uri="{FF2B5EF4-FFF2-40B4-BE49-F238E27FC236}">
                <a16:creationId xmlns:a16="http://schemas.microsoft.com/office/drawing/2014/main" id="{93FA5CD7-4FB0-4955-85E2-25E5C9690527}"/>
              </a:ext>
            </a:extLst>
          </p:cNvPr>
          <p:cNvGraphicFramePr>
            <a:graphicFrameLocks noGrp="1"/>
          </p:cNvGraphicFramePr>
          <p:nvPr>
            <p:custDataLst>
              <p:tags r:id="rId11"/>
            </p:custDataLst>
            <p:extLst>
              <p:ext uri="{D42A27DB-BD31-4B8C-83A1-F6EECF244321}">
                <p14:modId xmlns:p14="http://schemas.microsoft.com/office/powerpoint/2010/main" val="2083650723"/>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a:t>
                      </a:r>
                      <a:r>
                        <a:rPr lang="en-US" b="1" dirty="0">
                          <a:solidFill>
                            <a:schemeClr val="accent6">
                              <a:lumMod val="75000"/>
                            </a:schemeClr>
                          </a:solidFill>
                        </a:rPr>
                        <a:t>1</a:t>
                      </a: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algn="ctr"/>
                      <a:r>
                        <a:rPr lang="en-US" dirty="0"/>
                        <a:t>0</a:t>
                      </a:r>
                      <a:r>
                        <a:rPr lang="en-US" b="1" dirty="0">
                          <a:solidFill>
                            <a:schemeClr val="accent6">
                              <a:lumMod val="75000"/>
                            </a:schemeClr>
                          </a:solidFill>
                        </a:rPr>
                        <a:t>1</a:t>
                      </a: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a:t>
                      </a:r>
                      <a:r>
                        <a:rPr lang="en-US" b="1" dirty="0">
                          <a:solidFill>
                            <a:schemeClr val="accent6">
                              <a:lumMod val="75000"/>
                            </a:schemeClr>
                          </a:solidFill>
                        </a:rPr>
                        <a:t>1</a:t>
                      </a: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4157741"/>
                  </a:ext>
                </a:extLst>
              </a:tr>
              <a:tr h="370840">
                <a:tc>
                  <a:txBody>
                    <a:bodyPr/>
                    <a:lstStyle/>
                    <a:p>
                      <a:pPr algn="ctr"/>
                      <a:r>
                        <a:rPr lang="en-US" dirty="0"/>
                        <a:t>1</a:t>
                      </a:r>
                      <a:r>
                        <a:rPr lang="en-US" b="1" dirty="0">
                          <a:solidFill>
                            <a:schemeClr val="accent6">
                              <a:lumMod val="75000"/>
                            </a:schemeClr>
                          </a:solidFill>
                        </a:rPr>
                        <a:t>1</a:t>
                      </a: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47350959"/>
                  </a:ext>
                </a:extLst>
              </a:tr>
            </a:tbl>
          </a:graphicData>
        </a:graphic>
      </p:graphicFrame>
      <p:sp>
        <p:nvSpPr>
          <p:cNvPr id="14" name="Arrow: Right 13">
            <a:extLst>
              <a:ext uri="{FF2B5EF4-FFF2-40B4-BE49-F238E27FC236}">
                <a16:creationId xmlns:a16="http://schemas.microsoft.com/office/drawing/2014/main" id="{27C9B7DF-E8FE-48E5-8D87-19B4B5807EFE}"/>
              </a:ext>
            </a:extLst>
          </p:cNvPr>
          <p:cNvSpPr/>
          <p:nvPr>
            <p:custDataLst>
              <p:tags r:id="rId12"/>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14">
            <a:extLst>
              <a:ext uri="{FF2B5EF4-FFF2-40B4-BE49-F238E27FC236}">
                <a16:creationId xmlns:a16="http://schemas.microsoft.com/office/drawing/2014/main" id="{BC3F46B8-470A-4139-AEEE-C4983480BDF3}"/>
              </a:ext>
            </a:extLst>
          </p:cNvPr>
          <p:cNvGraphicFramePr>
            <a:graphicFrameLocks noGrp="1"/>
          </p:cNvGraphicFramePr>
          <p:nvPr>
            <p:custDataLst>
              <p:tags r:id="rId13"/>
            </p:custDataLst>
            <p:extLst>
              <p:ext uri="{D42A27DB-BD31-4B8C-83A1-F6EECF244321}">
                <p14:modId xmlns:p14="http://schemas.microsoft.com/office/powerpoint/2010/main" val="2862340081"/>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graphicFrame>
        <p:nvGraphicFramePr>
          <p:cNvPr id="16" name="Table 15">
            <a:extLst>
              <a:ext uri="{FF2B5EF4-FFF2-40B4-BE49-F238E27FC236}">
                <a16:creationId xmlns:a16="http://schemas.microsoft.com/office/drawing/2014/main" id="{88E1FC33-3925-4804-BBCC-6512E61F896A}"/>
              </a:ext>
            </a:extLst>
          </p:cNvPr>
          <p:cNvGraphicFramePr>
            <a:graphicFrameLocks noGrp="1"/>
          </p:cNvGraphicFramePr>
          <p:nvPr>
            <p:custDataLst>
              <p:tags r:id="rId14"/>
            </p:custDataLst>
            <p:extLst>
              <p:ext uri="{D42A27DB-BD31-4B8C-83A1-F6EECF244321}">
                <p14:modId xmlns:p14="http://schemas.microsoft.com/office/powerpoint/2010/main" val="1908300370"/>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b="1" dirty="0">
                          <a:solidFill>
                            <a:schemeClr val="accent6">
                              <a:lumMod val="75000"/>
                            </a:schemeClr>
                          </a:solidFill>
                        </a:rPr>
                        <a:t>1</a:t>
                      </a:r>
                      <a:r>
                        <a:rPr lang="en-US" dirty="0"/>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204947444"/>
                  </a:ext>
                </a:extLst>
              </a:tr>
              <a:tr h="370840">
                <a:tc>
                  <a:txBody>
                    <a:bodyPr/>
                    <a:lstStyle/>
                    <a:p>
                      <a:pPr algn="ctr"/>
                      <a:r>
                        <a:rPr lang="en-US" b="1" dirty="0">
                          <a:solidFill>
                            <a:schemeClr val="accent6">
                              <a:lumMod val="75000"/>
                            </a:schemeClr>
                          </a:solidFill>
                        </a:rPr>
                        <a:t>1</a:t>
                      </a:r>
                      <a:r>
                        <a:rPr lang="en-US" dirty="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78435326"/>
                  </a:ext>
                </a:extLst>
              </a:tr>
              <a:tr h="370840">
                <a:tc>
                  <a:txBody>
                    <a:bodyPr/>
                    <a:lstStyle/>
                    <a:p>
                      <a:pPr algn="ctr"/>
                      <a:r>
                        <a:rPr lang="en-US" b="1" dirty="0">
                          <a:solidFill>
                            <a:schemeClr val="accent6">
                              <a:lumMod val="75000"/>
                            </a:schemeClr>
                          </a:solidFill>
                        </a:rPr>
                        <a:t>1</a:t>
                      </a: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4157741"/>
                  </a:ext>
                </a:extLst>
              </a:tr>
              <a:tr h="370840">
                <a:tc>
                  <a:txBody>
                    <a:bodyPr/>
                    <a:lstStyle/>
                    <a:p>
                      <a:pPr algn="ctr"/>
                      <a:r>
                        <a:rPr lang="en-US" b="1" dirty="0">
                          <a:solidFill>
                            <a:schemeClr val="accent6">
                              <a:lumMod val="75000"/>
                            </a:schemeClr>
                          </a:solidFill>
                        </a:rPr>
                        <a:t>1</a:t>
                      </a:r>
                      <a:r>
                        <a:rPr lang="en-US" dirty="0"/>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47350959"/>
                  </a:ext>
                </a:extLst>
              </a:tr>
            </a:tbl>
          </a:graphicData>
        </a:graphic>
      </p:graphicFrame>
      <p:sp>
        <p:nvSpPr>
          <p:cNvPr id="17" name="Arrow: Right 16">
            <a:extLst>
              <a:ext uri="{FF2B5EF4-FFF2-40B4-BE49-F238E27FC236}">
                <a16:creationId xmlns:a16="http://schemas.microsoft.com/office/drawing/2014/main" id="{A736CFCD-5DC8-4DDA-BBCF-7AFDCBA0D745}"/>
              </a:ext>
            </a:extLst>
          </p:cNvPr>
          <p:cNvSpPr/>
          <p:nvPr>
            <p:custDataLst>
              <p:tags r:id="rId15"/>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a:extLst>
              <a:ext uri="{FF2B5EF4-FFF2-40B4-BE49-F238E27FC236}">
                <a16:creationId xmlns:a16="http://schemas.microsoft.com/office/drawing/2014/main" id="{FE721025-F476-4568-8DEE-C465F0946475}"/>
              </a:ext>
            </a:extLst>
          </p:cNvPr>
          <p:cNvGraphicFramePr>
            <a:graphicFrameLocks noGrp="1"/>
          </p:cNvGraphicFramePr>
          <p:nvPr>
            <p:custDataLst>
              <p:tags r:id="rId16"/>
            </p:custDataLst>
            <p:extLst>
              <p:ext uri="{D42A27DB-BD31-4B8C-83A1-F6EECF244321}">
                <p14:modId xmlns:p14="http://schemas.microsoft.com/office/powerpoint/2010/main" val="3299938223"/>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bl>
          </a:graphicData>
        </a:graphic>
      </p:graphicFrame>
    </p:spTree>
    <p:custDataLst>
      <p:tags r:id="rId1"/>
    </p:custDataLst>
    <p:extLst>
      <p:ext uri="{BB962C8B-B14F-4D97-AF65-F5344CB8AC3E}">
        <p14:creationId xmlns:p14="http://schemas.microsoft.com/office/powerpoint/2010/main" val="26628532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3"/>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1" grpId="1" animBg="1"/>
      <p:bldP spid="14" grpId="0" animBg="1"/>
      <p:bldP spid="14" grpId="1"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SECSED – Hamming(7,4)</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18</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 7-bit codeword (W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3-bit </a:t>
            </a:r>
            <a:r>
              <a:rPr lang="en-US" sz="2800" i="1" dirty="0">
                <a:latin typeface="+mn-lt"/>
              </a:rPr>
              <a:t>syndrome</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that specifies if any (and which) bit has flipped:</a:t>
            </a: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5"/>
            </p:custDataLst>
            <p:extLst>
              <p:ext uri="{D42A27DB-BD31-4B8C-83A1-F6EECF244321}">
                <p14:modId xmlns:p14="http://schemas.microsoft.com/office/powerpoint/2010/main" val="2331689378"/>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b="0" dirty="0">
                          <a:solidFill>
                            <a:schemeClr val="tx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Calibri"/>
                          <a:ea typeface="+mn-ea"/>
                          <a:cs typeface="+mn-cs"/>
                        </a:rPr>
                        <a:t>W</a:t>
                      </a:r>
                      <a:r>
                        <a:rPr kumimoji="0" lang="en-US" sz="1800" b="0" i="0" u="none" strike="noStrike" kern="1200" cap="none" spc="0" normalizeH="0" baseline="-25000" noProof="0" dirty="0">
                          <a:ln>
                            <a:noFill/>
                          </a:ln>
                          <a:solidFill>
                            <a:schemeClr val="tx1"/>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2" name="Arrow: Right 1">
            <a:extLst>
              <a:ext uri="{FF2B5EF4-FFF2-40B4-BE49-F238E27FC236}">
                <a16:creationId xmlns:a16="http://schemas.microsoft.com/office/drawing/2014/main" id="{C272A432-C74D-4B7B-B669-22619D92DD7E}"/>
              </a:ext>
            </a:extLst>
          </p:cNvPr>
          <p:cNvSpPr/>
          <p:nvPr>
            <p:custDataLst>
              <p:tags r:id="rId6"/>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C3C4DC05-CD25-446B-BCA0-4A076A414F68}"/>
              </a:ext>
            </a:extLst>
          </p:cNvPr>
          <p:cNvGraphicFramePr>
            <a:graphicFrameLocks noGrp="1"/>
          </p:cNvGraphicFramePr>
          <p:nvPr>
            <p:custDataLst>
              <p:tags r:id="rId7"/>
            </p:custDataLst>
            <p:extLst>
              <p:ext uri="{D42A27DB-BD31-4B8C-83A1-F6EECF244321}">
                <p14:modId xmlns:p14="http://schemas.microsoft.com/office/powerpoint/2010/main" val="2282612393"/>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a:t>
                      </a: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a:t>
                      </a: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sp>
        <p:nvSpPr>
          <p:cNvPr id="9" name="TextBox 8">
            <a:extLst>
              <a:ext uri="{FF2B5EF4-FFF2-40B4-BE49-F238E27FC236}">
                <a16:creationId xmlns:a16="http://schemas.microsoft.com/office/drawing/2014/main" id="{9B586942-C488-4DD9-8E03-E2C7D54DA25D}"/>
              </a:ext>
            </a:extLst>
          </p:cNvPr>
          <p:cNvSpPr txBox="1"/>
          <p:nvPr>
            <p:custDataLst>
              <p:tags r:id="rId8"/>
            </p:custDataLst>
          </p:nvPr>
        </p:nvSpPr>
        <p:spPr>
          <a:xfrm>
            <a:off x="2819400" y="5765632"/>
            <a:ext cx="35814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e.g., if both S</a:t>
            </a:r>
            <a:r>
              <a:rPr lang="en-US" sz="1800" b="1" baseline="-25000" dirty="0">
                <a:solidFill>
                  <a:schemeClr val="accent6">
                    <a:lumMod val="75000"/>
                  </a:schemeClr>
                </a:solidFill>
                <a:latin typeface="+mn-lt"/>
              </a:rPr>
              <a:t>1</a:t>
            </a:r>
            <a:r>
              <a:rPr lang="en-US" sz="1800" b="1" dirty="0">
                <a:solidFill>
                  <a:schemeClr val="accent6">
                    <a:lumMod val="75000"/>
                  </a:schemeClr>
                </a:solidFill>
                <a:latin typeface="+mn-lt"/>
              </a:rPr>
              <a:t> and S</a:t>
            </a:r>
            <a:r>
              <a:rPr lang="en-US" sz="1800" b="1" baseline="-25000" dirty="0">
                <a:solidFill>
                  <a:schemeClr val="accent6">
                    <a:lumMod val="75000"/>
                  </a:schemeClr>
                </a:solidFill>
                <a:latin typeface="+mn-lt"/>
              </a:rPr>
              <a:t>3</a:t>
            </a:r>
            <a:r>
              <a:rPr lang="en-US" sz="1800" b="1" dirty="0">
                <a:solidFill>
                  <a:schemeClr val="accent6">
                    <a:lumMod val="75000"/>
                  </a:schemeClr>
                </a:solidFill>
                <a:latin typeface="+mn-lt"/>
              </a:rPr>
              <a:t> are 1,</a:t>
            </a:r>
          </a:p>
          <a:p>
            <a:pPr algn="ctr"/>
            <a:r>
              <a:rPr lang="en-US" sz="1800" b="1" dirty="0">
                <a:solidFill>
                  <a:schemeClr val="accent6">
                    <a:lumMod val="75000"/>
                  </a:schemeClr>
                </a:solidFill>
                <a:latin typeface="+mn-lt"/>
              </a:rPr>
              <a:t>then W</a:t>
            </a:r>
            <a:r>
              <a:rPr lang="en-US" sz="1800" b="1" baseline="-25000" dirty="0">
                <a:solidFill>
                  <a:schemeClr val="accent6">
                    <a:lumMod val="75000"/>
                  </a:schemeClr>
                </a:solidFill>
                <a:latin typeface="+mn-lt"/>
              </a:rPr>
              <a:t>5</a:t>
            </a:r>
            <a:r>
              <a:rPr lang="en-US" sz="1800" b="1" dirty="0">
                <a:solidFill>
                  <a:schemeClr val="accent6">
                    <a:lumMod val="75000"/>
                  </a:schemeClr>
                </a:solidFill>
                <a:latin typeface="+mn-lt"/>
              </a:rPr>
              <a:t> must have flipped</a:t>
            </a:r>
          </a:p>
        </p:txBody>
      </p:sp>
      <p:sp>
        <p:nvSpPr>
          <p:cNvPr id="11" name="TextBox 10">
            <a:extLst>
              <a:ext uri="{FF2B5EF4-FFF2-40B4-BE49-F238E27FC236}">
                <a16:creationId xmlns:a16="http://schemas.microsoft.com/office/drawing/2014/main" id="{C44A2E63-E648-4B51-971A-9E75FC3E344B}"/>
              </a:ext>
            </a:extLst>
          </p:cNvPr>
          <p:cNvSpPr txBox="1"/>
          <p:nvPr>
            <p:custDataLst>
              <p:tags r:id="rId9"/>
            </p:custDataLst>
          </p:nvPr>
        </p:nvSpPr>
        <p:spPr>
          <a:xfrm>
            <a:off x="3276600" y="3362223"/>
            <a:ext cx="26670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e.g., S</a:t>
            </a:r>
            <a:r>
              <a:rPr lang="en-US" sz="1800" b="1" baseline="-25000" dirty="0">
                <a:solidFill>
                  <a:schemeClr val="accent6">
                    <a:lumMod val="75000"/>
                  </a:schemeClr>
                </a:solidFill>
                <a:latin typeface="+mn-lt"/>
              </a:rPr>
              <a:t>1</a:t>
            </a:r>
            <a:r>
              <a:rPr lang="en-US" sz="1800" b="1" dirty="0">
                <a:solidFill>
                  <a:schemeClr val="accent6">
                    <a:lumMod val="75000"/>
                  </a:schemeClr>
                </a:solidFill>
                <a:latin typeface="+mn-lt"/>
              </a:rPr>
              <a:t> is 1 if any one of W</a:t>
            </a:r>
            <a:r>
              <a:rPr lang="en-US" sz="1800" b="1" baseline="-25000" dirty="0">
                <a:solidFill>
                  <a:schemeClr val="accent6">
                    <a:lumMod val="75000"/>
                  </a:schemeClr>
                </a:solidFill>
                <a:latin typeface="+mn-lt"/>
              </a:rPr>
              <a:t>1</a:t>
            </a:r>
            <a:r>
              <a:rPr lang="en-US" sz="1800" b="1" dirty="0">
                <a:solidFill>
                  <a:schemeClr val="accent6">
                    <a:lumMod val="75000"/>
                  </a:schemeClr>
                </a:solidFill>
                <a:latin typeface="+mn-lt"/>
              </a:rPr>
              <a:t>, W</a:t>
            </a:r>
            <a:r>
              <a:rPr lang="en-US" sz="1800" b="1" baseline="-25000" dirty="0">
                <a:solidFill>
                  <a:schemeClr val="accent6">
                    <a:lumMod val="75000"/>
                  </a:schemeClr>
                </a:solidFill>
                <a:latin typeface="+mn-lt"/>
              </a:rPr>
              <a:t>3</a:t>
            </a:r>
            <a:r>
              <a:rPr lang="en-US" sz="1800" b="1" dirty="0">
                <a:solidFill>
                  <a:schemeClr val="accent6">
                    <a:lumMod val="75000"/>
                  </a:schemeClr>
                </a:solidFill>
                <a:latin typeface="+mn-lt"/>
              </a:rPr>
              <a:t>, W</a:t>
            </a:r>
            <a:r>
              <a:rPr lang="en-US" sz="1800" b="1" baseline="-25000" dirty="0">
                <a:solidFill>
                  <a:schemeClr val="accent6">
                    <a:lumMod val="75000"/>
                  </a:schemeClr>
                </a:solidFill>
                <a:latin typeface="+mn-lt"/>
              </a:rPr>
              <a:t>5</a:t>
            </a:r>
            <a:r>
              <a:rPr lang="en-US" sz="1800" b="1" dirty="0">
                <a:solidFill>
                  <a:schemeClr val="accent6">
                    <a:lumMod val="75000"/>
                  </a:schemeClr>
                </a:solidFill>
                <a:latin typeface="+mn-lt"/>
              </a:rPr>
              <a:t> or W</a:t>
            </a:r>
            <a:r>
              <a:rPr lang="en-US" sz="1800" b="1" baseline="-25000" dirty="0">
                <a:solidFill>
                  <a:schemeClr val="accent6">
                    <a:lumMod val="75000"/>
                  </a:schemeClr>
                </a:solidFill>
                <a:latin typeface="+mn-lt"/>
              </a:rPr>
              <a:t>7</a:t>
            </a:r>
            <a:r>
              <a:rPr lang="en-US" sz="1800" b="1" dirty="0">
                <a:solidFill>
                  <a:schemeClr val="accent6">
                    <a:lumMod val="75000"/>
                  </a:schemeClr>
                </a:solidFill>
                <a:latin typeface="+mn-lt"/>
              </a:rPr>
              <a:t> flipped</a:t>
            </a:r>
          </a:p>
        </p:txBody>
      </p:sp>
    </p:spTree>
    <p:custDataLst>
      <p:tags r:id="rId1"/>
    </p:custDataLst>
    <p:extLst>
      <p:ext uri="{BB962C8B-B14F-4D97-AF65-F5344CB8AC3E}">
        <p14:creationId xmlns:p14="http://schemas.microsoft.com/office/powerpoint/2010/main" val="381723350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SECSED – Hamming(7,4)</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19</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 7-bit codeword (W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3-bit </a:t>
            </a:r>
            <a:r>
              <a:rPr lang="en-US" sz="2800" i="1" dirty="0">
                <a:latin typeface="+mn-lt"/>
              </a:rPr>
              <a:t>syndrome</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that specifies if any (and which) bit has flipped:</a:t>
            </a: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5"/>
            </p:custData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2" name="Arrow: Right 1">
            <a:extLst>
              <a:ext uri="{FF2B5EF4-FFF2-40B4-BE49-F238E27FC236}">
                <a16:creationId xmlns:a16="http://schemas.microsoft.com/office/drawing/2014/main" id="{C272A432-C74D-4B7B-B669-22619D92DD7E}"/>
              </a:ext>
            </a:extLst>
          </p:cNvPr>
          <p:cNvSpPr/>
          <p:nvPr>
            <p:custDataLst>
              <p:tags r:id="rId6"/>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127CEF27-56B5-46D1-8110-16FCFAD88BD5}"/>
              </a:ext>
            </a:extLst>
          </p:cNvPr>
          <p:cNvGraphicFramePr>
            <a:graphicFrameLocks noGrp="1"/>
          </p:cNvGraphicFramePr>
          <p:nvPr>
            <p:custDataLst>
              <p:tags r:id="rId7"/>
            </p:custDataLst>
            <p:extLst>
              <p:ext uri="{D42A27DB-BD31-4B8C-83A1-F6EECF244321}">
                <p14:modId xmlns:p14="http://schemas.microsoft.com/office/powerpoint/2010/main" val="694318134"/>
              </p:ext>
            </p:extLst>
          </p:nvPr>
        </p:nvGraphicFramePr>
        <p:xfrm>
          <a:off x="6353355" y="3317240"/>
          <a:ext cx="2514600" cy="296672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graphicFrame>
        <p:nvGraphicFramePr>
          <p:cNvPr id="8" name="Table 7">
            <a:extLst>
              <a:ext uri="{FF2B5EF4-FFF2-40B4-BE49-F238E27FC236}">
                <a16:creationId xmlns:a16="http://schemas.microsoft.com/office/drawing/2014/main" id="{C3C4DC05-CD25-446B-BCA0-4A076A414F68}"/>
              </a:ext>
            </a:extLst>
          </p:cNvPr>
          <p:cNvGraphicFramePr>
            <a:graphicFrameLocks noGrp="1"/>
          </p:cNvGraphicFramePr>
          <p:nvPr>
            <p:custDataLst>
              <p:tags r:id="rId8"/>
            </p:custData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graphicFrame>
        <p:nvGraphicFramePr>
          <p:cNvPr id="9" name="Table 8">
            <a:extLst>
              <a:ext uri="{FF2B5EF4-FFF2-40B4-BE49-F238E27FC236}">
                <a16:creationId xmlns:a16="http://schemas.microsoft.com/office/drawing/2014/main" id="{185C8866-5313-409D-8515-FCEB9737C10B}"/>
              </a:ext>
            </a:extLst>
          </p:cNvPr>
          <p:cNvGraphicFramePr>
            <a:graphicFrameLocks noGrp="1"/>
          </p:cNvGraphicFramePr>
          <p:nvPr>
            <p:custDataLst>
              <p:tags r:id="rId9"/>
            </p:custData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11" name="Arrow: Right 10">
            <a:extLst>
              <a:ext uri="{FF2B5EF4-FFF2-40B4-BE49-F238E27FC236}">
                <a16:creationId xmlns:a16="http://schemas.microsoft.com/office/drawing/2014/main" id="{19DFC122-8892-4427-8A60-2CC40A3D1C39}"/>
              </a:ext>
            </a:extLst>
          </p:cNvPr>
          <p:cNvSpPr/>
          <p:nvPr>
            <p:custDataLst>
              <p:tags r:id="rId10"/>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2B1906E9-1E2A-41F2-B35F-83CBAEA0BD89}"/>
              </a:ext>
            </a:extLst>
          </p:cNvPr>
          <p:cNvGraphicFramePr>
            <a:graphicFrameLocks noGrp="1"/>
          </p:cNvGraphicFramePr>
          <p:nvPr>
            <p:custDataLst>
              <p:tags r:id="rId11"/>
            </p:custDataLst>
          </p:nvPr>
        </p:nvGraphicFramePr>
        <p:xfrm>
          <a:off x="6353355" y="3317240"/>
          <a:ext cx="2514600" cy="296672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graphicFrame>
        <p:nvGraphicFramePr>
          <p:cNvPr id="13" name="Table 12">
            <a:extLst>
              <a:ext uri="{FF2B5EF4-FFF2-40B4-BE49-F238E27FC236}">
                <a16:creationId xmlns:a16="http://schemas.microsoft.com/office/drawing/2014/main" id="{4C37DB07-91AC-45E8-BC21-4108A191E07F}"/>
              </a:ext>
            </a:extLst>
          </p:cNvPr>
          <p:cNvGraphicFramePr>
            <a:graphicFrameLocks noGrp="1"/>
          </p:cNvGraphicFramePr>
          <p:nvPr>
            <p:custDataLst>
              <p:tags r:id="rId12"/>
            </p:custData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sp>
        <p:nvSpPr>
          <p:cNvPr id="14" name="TextBox 13">
            <a:extLst>
              <a:ext uri="{FF2B5EF4-FFF2-40B4-BE49-F238E27FC236}">
                <a16:creationId xmlns:a16="http://schemas.microsoft.com/office/drawing/2014/main" id="{9D75D462-1A57-488A-905A-AC27E1438FF9}"/>
              </a:ext>
            </a:extLst>
          </p:cNvPr>
          <p:cNvSpPr txBox="1"/>
          <p:nvPr>
            <p:custDataLst>
              <p:tags r:id="rId13"/>
            </p:custDataLst>
          </p:nvPr>
        </p:nvSpPr>
        <p:spPr>
          <a:xfrm>
            <a:off x="2743200" y="5897676"/>
            <a:ext cx="25908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use these as check bits (i.e., parity)</a:t>
            </a:r>
          </a:p>
        </p:txBody>
      </p:sp>
      <p:cxnSp>
        <p:nvCxnSpPr>
          <p:cNvPr id="15" name="Straight Connector 14">
            <a:extLst>
              <a:ext uri="{FF2B5EF4-FFF2-40B4-BE49-F238E27FC236}">
                <a16:creationId xmlns:a16="http://schemas.microsoft.com/office/drawing/2014/main" id="{987F6072-6193-4B1E-9CEC-B9C2B12DFB02}"/>
              </a:ext>
            </a:extLst>
          </p:cNvPr>
          <p:cNvCxnSpPr>
            <a:cxnSpLocks/>
          </p:cNvCxnSpPr>
          <p:nvPr/>
        </p:nvCxnSpPr>
        <p:spPr>
          <a:xfrm flipH="1">
            <a:off x="4038600" y="5478169"/>
            <a:ext cx="187764" cy="38923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39AFD266-97E4-44A2-B50B-DFC865388781}"/>
              </a:ext>
            </a:extLst>
          </p:cNvPr>
          <p:cNvGraphicFramePr>
            <a:graphicFrameLocks noGrp="1"/>
          </p:cNvGraphicFramePr>
          <p:nvPr>
            <p:custDataLst>
              <p:tags r:id="rId14"/>
            </p:custDataLst>
            <p:extLst>
              <p:ext uri="{D42A27DB-BD31-4B8C-83A1-F6EECF244321}">
                <p14:modId xmlns:p14="http://schemas.microsoft.com/office/powerpoint/2010/main" val="3103993566"/>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18" name="Arrow: Right 17">
            <a:extLst>
              <a:ext uri="{FF2B5EF4-FFF2-40B4-BE49-F238E27FC236}">
                <a16:creationId xmlns:a16="http://schemas.microsoft.com/office/drawing/2014/main" id="{1AC0C75C-16BD-46E3-91D6-397C9238B188}"/>
              </a:ext>
            </a:extLst>
          </p:cNvPr>
          <p:cNvSpPr/>
          <p:nvPr>
            <p:custDataLst>
              <p:tags r:id="rId15"/>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a:extLst>
              <a:ext uri="{FF2B5EF4-FFF2-40B4-BE49-F238E27FC236}">
                <a16:creationId xmlns:a16="http://schemas.microsoft.com/office/drawing/2014/main" id="{026F8341-19FE-437E-A7FE-4F39961DB4C5}"/>
              </a:ext>
            </a:extLst>
          </p:cNvPr>
          <p:cNvGraphicFramePr>
            <a:graphicFrameLocks noGrp="1"/>
          </p:cNvGraphicFramePr>
          <p:nvPr>
            <p:custDataLst>
              <p:tags r:id="rId16"/>
            </p:custDataLst>
            <p:extLst>
              <p:ext uri="{D42A27DB-BD31-4B8C-83A1-F6EECF244321}">
                <p14:modId xmlns:p14="http://schemas.microsoft.com/office/powerpoint/2010/main" val="1148211356"/>
              </p:ext>
            </p:extLst>
          </p:nvPr>
        </p:nvGraphicFramePr>
        <p:xfrm>
          <a:off x="6353355" y="3317240"/>
          <a:ext cx="2514600" cy="296672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47350959"/>
                  </a:ext>
                </a:extLst>
              </a:tr>
            </a:tbl>
          </a:graphicData>
        </a:graphic>
      </p:graphicFrame>
      <p:graphicFrame>
        <p:nvGraphicFramePr>
          <p:cNvPr id="20" name="Table 19">
            <a:extLst>
              <a:ext uri="{FF2B5EF4-FFF2-40B4-BE49-F238E27FC236}">
                <a16:creationId xmlns:a16="http://schemas.microsoft.com/office/drawing/2014/main" id="{49E336CD-AABE-47E5-994D-245598F38E6E}"/>
              </a:ext>
            </a:extLst>
          </p:cNvPr>
          <p:cNvGraphicFramePr>
            <a:graphicFrameLocks noGrp="1"/>
          </p:cNvGraphicFramePr>
          <p:nvPr>
            <p:custDataLst>
              <p:tags r:id="rId17"/>
            </p:custDataLst>
            <p:extLst>
              <p:ext uri="{D42A27DB-BD31-4B8C-83A1-F6EECF244321}">
                <p14:modId xmlns:p14="http://schemas.microsoft.com/office/powerpoint/2010/main" val="2456141016"/>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bl>
          </a:graphicData>
        </a:graphic>
      </p:graphicFrame>
      <p:graphicFrame>
        <p:nvGraphicFramePr>
          <p:cNvPr id="21" name="Table 20">
            <a:extLst>
              <a:ext uri="{FF2B5EF4-FFF2-40B4-BE49-F238E27FC236}">
                <a16:creationId xmlns:a16="http://schemas.microsoft.com/office/drawing/2014/main" id="{7579506B-9328-4BE4-B075-FD22EE88B5A3}"/>
              </a:ext>
            </a:extLst>
          </p:cNvPr>
          <p:cNvGraphicFramePr>
            <a:graphicFrameLocks noGrp="1"/>
          </p:cNvGraphicFramePr>
          <p:nvPr>
            <p:custDataLst>
              <p:tags r:id="rId18"/>
            </p:custDataLst>
            <p:extLst>
              <p:ext uri="{D42A27DB-BD31-4B8C-83A1-F6EECF244321}">
                <p14:modId xmlns:p14="http://schemas.microsoft.com/office/powerpoint/2010/main" val="69349906"/>
              </p:ext>
            </p:extLst>
          </p:nvPr>
        </p:nvGraphicFramePr>
        <p:xfrm>
          <a:off x="304800" y="3276600"/>
          <a:ext cx="2514600" cy="33375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370840">
                <a:tc>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algn="ctr"/>
                      <a:r>
                        <a:rPr lang="en-US" dirty="0"/>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370840">
                <a:tc>
                  <a:txBody>
                    <a:bodyPr/>
                    <a:lstStyle/>
                    <a:p>
                      <a:pPr algn="ctr"/>
                      <a:r>
                        <a:rPr lang="en-US"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algn="ctr"/>
                      <a:r>
                        <a:rPr lang="en-US"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algn="ctr"/>
                      <a:r>
                        <a:rPr lang="en-US" dirty="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algn="ctr"/>
                      <a:r>
                        <a:rPr lang="en-US"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algn="ctr"/>
                      <a:r>
                        <a:rPr lang="en-US" dirty="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algn="ctr"/>
                      <a:r>
                        <a:rPr lang="en-US" dirty="0"/>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algn="ctr"/>
                      <a:r>
                        <a:rPr lang="en-US" dirty="0"/>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bl>
          </a:graphicData>
        </a:graphic>
      </p:graphicFrame>
      <p:sp>
        <p:nvSpPr>
          <p:cNvPr id="22" name="Arrow: Right 21">
            <a:extLst>
              <a:ext uri="{FF2B5EF4-FFF2-40B4-BE49-F238E27FC236}">
                <a16:creationId xmlns:a16="http://schemas.microsoft.com/office/drawing/2014/main" id="{C49E95D3-41A5-481E-9AA7-FAA9A25029E8}"/>
              </a:ext>
            </a:extLst>
          </p:cNvPr>
          <p:cNvSpPr/>
          <p:nvPr>
            <p:custDataLst>
              <p:tags r:id="rId19"/>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CAA8B459-7E69-4AE9-96B9-007D94C69625}"/>
              </a:ext>
            </a:extLst>
          </p:cNvPr>
          <p:cNvGraphicFramePr>
            <a:graphicFrameLocks noGrp="1"/>
          </p:cNvGraphicFramePr>
          <p:nvPr>
            <p:custDataLst>
              <p:tags r:id="rId20"/>
            </p:custDataLst>
            <p:extLst>
              <p:ext uri="{D42A27DB-BD31-4B8C-83A1-F6EECF244321}">
                <p14:modId xmlns:p14="http://schemas.microsoft.com/office/powerpoint/2010/main" val="937573095"/>
              </p:ext>
            </p:extLst>
          </p:nvPr>
        </p:nvGraphicFramePr>
        <p:xfrm>
          <a:off x="6353355" y="3317240"/>
          <a:ext cx="2514600" cy="296672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350959"/>
                  </a:ext>
                </a:extLst>
              </a:tr>
            </a:tbl>
          </a:graphicData>
        </a:graphic>
      </p:graphicFrame>
      <p:graphicFrame>
        <p:nvGraphicFramePr>
          <p:cNvPr id="24" name="Table 23">
            <a:extLst>
              <a:ext uri="{FF2B5EF4-FFF2-40B4-BE49-F238E27FC236}">
                <a16:creationId xmlns:a16="http://schemas.microsoft.com/office/drawing/2014/main" id="{DB1DB672-D42E-4480-8D98-CABE210C4EE8}"/>
              </a:ext>
            </a:extLst>
          </p:cNvPr>
          <p:cNvGraphicFramePr>
            <a:graphicFrameLocks noGrp="1"/>
          </p:cNvGraphicFramePr>
          <p:nvPr>
            <p:custDataLst>
              <p:tags r:id="rId21"/>
            </p:custDataLst>
            <p:extLst>
              <p:ext uri="{D42A27DB-BD31-4B8C-83A1-F6EECF244321}">
                <p14:modId xmlns:p14="http://schemas.microsoft.com/office/powerpoint/2010/main" val="1356233985"/>
              </p:ext>
            </p:extLst>
          </p:nvPr>
        </p:nvGraphicFramePr>
        <p:xfrm>
          <a:off x="3581400" y="4058920"/>
          <a:ext cx="2514600" cy="148336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3529766"/>
                  </a:ext>
                </a:extLst>
              </a:tr>
            </a:tbl>
          </a:graphicData>
        </a:graphic>
      </p:graphicFrame>
    </p:spTree>
    <p:custDataLst>
      <p:tags r:id="rId1"/>
    </p:custDataLst>
    <p:extLst>
      <p:ext uri="{BB962C8B-B14F-4D97-AF65-F5344CB8AC3E}">
        <p14:creationId xmlns:p14="http://schemas.microsoft.com/office/powerpoint/2010/main" val="42568213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3"/>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0"/>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1" grpId="1" animBg="1"/>
      <p:bldP spid="14" grpId="0"/>
      <p:bldP spid="14" grpId="1"/>
      <p:bldP spid="18" grpId="0" animBg="1"/>
      <p:bldP spid="18" grpId="1" animBg="1"/>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SECDED – Hamming(7,4) + Parity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20</a:t>
            </a:fld>
            <a:endParaRPr lang="en-US" altLang="en-US" sz="140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4"/>
            </p:custDataLst>
            <p:extLst>
              <p:ext uri="{D42A27DB-BD31-4B8C-83A1-F6EECF244321}">
                <p14:modId xmlns:p14="http://schemas.microsoft.com/office/powerpoint/2010/main" val="696899873"/>
              </p:ext>
            </p:extLst>
          </p:nvPr>
        </p:nvGraphicFramePr>
        <p:xfrm>
          <a:off x="42672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7" name="TextBox 6">
            <a:extLst>
              <a:ext uri="{FF2B5EF4-FFF2-40B4-BE49-F238E27FC236}">
                <a16:creationId xmlns:a16="http://schemas.microsoft.com/office/drawing/2014/main" id="{2C810FC6-90B4-4361-98CD-46176CA1522A}"/>
              </a:ext>
            </a:extLst>
          </p:cNvPr>
          <p:cNvSpPr txBox="1"/>
          <p:nvPr>
            <p:custDataLst>
              <p:tags r:id="rId5"/>
            </p:custDataLst>
          </p:nvPr>
        </p:nvSpPr>
        <p:spPr>
          <a:xfrm>
            <a:off x="526930" y="1414732"/>
            <a:ext cx="8464670" cy="2471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an 8-bit codeword (W</a:t>
            </a:r>
            <a:r>
              <a:rPr lang="en-US" sz="2800" baseline="-25000" dirty="0">
                <a:latin typeface="+mn-lt"/>
              </a:rPr>
              <a:t>8</a:t>
            </a:r>
            <a:r>
              <a:rPr lang="en-US" sz="2800" dirty="0">
                <a:latin typeface="+mn-lt"/>
              </a:rPr>
              <a:t>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4-bit </a:t>
            </a:r>
            <a:r>
              <a:rPr lang="en-US" sz="2800" i="1" dirty="0">
                <a:latin typeface="+mn-lt"/>
              </a:rPr>
              <a:t>syndrome</a:t>
            </a:r>
            <a:r>
              <a:rPr lang="en-US" sz="2800" dirty="0">
                <a:latin typeface="+mn-lt"/>
              </a:rPr>
              <a:t> that includes a 1-bit </a:t>
            </a:r>
            <a:r>
              <a:rPr lang="en-US" sz="2800" i="1" dirty="0">
                <a:latin typeface="+mn-lt"/>
              </a:rPr>
              <a:t>parity</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S</a:t>
            </a:r>
            <a:r>
              <a:rPr lang="en-US" sz="2800" baseline="-25000" dirty="0">
                <a:latin typeface="+mn-lt"/>
              </a:rPr>
              <a:t>P</a:t>
            </a:r>
            <a:r>
              <a:rPr lang="en-US" sz="2800" dirty="0">
                <a:latin typeface="+mn-lt"/>
              </a:rPr>
              <a:t>):</a:t>
            </a:r>
          </a:p>
          <a:p>
            <a:pPr marL="457200" indent="-457200">
              <a:buFont typeface="Wingdings" panose="05000000000000000000" pitchFamily="2" charset="2"/>
              <a:buChar char="Ø"/>
            </a:pPr>
            <a:r>
              <a:rPr lang="en-US" sz="2400" dirty="0">
                <a:latin typeface="+mn-lt"/>
              </a:rPr>
              <a:t>Hamming Distance = 4</a:t>
            </a:r>
          </a:p>
        </p:txBody>
      </p:sp>
    </p:spTree>
    <p:custDataLst>
      <p:tags r:id="rId1"/>
    </p:custDataLst>
    <p:extLst>
      <p:ext uri="{BB962C8B-B14F-4D97-AF65-F5344CB8AC3E}">
        <p14:creationId xmlns:p14="http://schemas.microsoft.com/office/powerpoint/2010/main" val="10828444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SECDED – Hamming(7,4) + Parity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21</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Store a 4-bit data word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as an 8-bit codeword (W</a:t>
            </a:r>
            <a:r>
              <a:rPr lang="en-US" sz="2800" baseline="-25000" dirty="0">
                <a:latin typeface="+mn-lt"/>
              </a:rPr>
              <a:t>8</a:t>
            </a:r>
            <a:r>
              <a:rPr lang="en-US" sz="2800" dirty="0">
                <a:latin typeface="+mn-lt"/>
              </a:rPr>
              <a:t>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in memory. Whenever we read the codeword, generate a 4-bit </a:t>
            </a:r>
            <a:r>
              <a:rPr lang="en-US" sz="2800" i="1" dirty="0">
                <a:latin typeface="+mn-lt"/>
              </a:rPr>
              <a:t>syndrome</a:t>
            </a:r>
            <a:r>
              <a:rPr lang="en-US" sz="2800" dirty="0">
                <a:latin typeface="+mn-lt"/>
              </a:rPr>
              <a:t> that includes a 1-bit </a:t>
            </a:r>
            <a:r>
              <a:rPr lang="en-US" sz="2800" i="1" dirty="0">
                <a:latin typeface="+mn-lt"/>
              </a:rPr>
              <a:t>parity</a:t>
            </a:r>
            <a:r>
              <a:rPr lang="en-US" sz="2800" dirty="0">
                <a:latin typeface="+mn-lt"/>
              </a:rPr>
              <a:t> (S</a:t>
            </a:r>
            <a:r>
              <a:rPr lang="en-US" sz="2800" baseline="-25000" dirty="0">
                <a:latin typeface="+mn-lt"/>
              </a:rPr>
              <a:t>3</a:t>
            </a:r>
            <a:r>
              <a:rPr lang="en-US" sz="2800" dirty="0">
                <a:latin typeface="+mn-lt"/>
              </a:rPr>
              <a:t>S</a:t>
            </a:r>
            <a:r>
              <a:rPr lang="en-US" sz="2800" baseline="-25000" dirty="0">
                <a:latin typeface="+mn-lt"/>
              </a:rPr>
              <a:t>2</a:t>
            </a:r>
            <a:r>
              <a:rPr lang="en-US" sz="2800" dirty="0">
                <a:latin typeface="+mn-lt"/>
              </a:rPr>
              <a:t>S</a:t>
            </a:r>
            <a:r>
              <a:rPr lang="en-US" sz="2800" baseline="-25000" dirty="0">
                <a:latin typeface="+mn-lt"/>
              </a:rPr>
              <a:t>1</a:t>
            </a:r>
            <a:r>
              <a:rPr lang="en-US" sz="2800" dirty="0">
                <a:latin typeface="+mn-lt"/>
              </a:rPr>
              <a:t>, S</a:t>
            </a:r>
            <a:r>
              <a:rPr lang="en-US" sz="2800" baseline="-25000" dirty="0">
                <a:latin typeface="+mn-lt"/>
              </a:rPr>
              <a:t>P</a:t>
            </a:r>
            <a:r>
              <a:rPr lang="en-US" sz="2800" dirty="0">
                <a:latin typeface="+mn-lt"/>
              </a:rPr>
              <a:t>):</a:t>
            </a: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5"/>
            </p:custDataLst>
            <p:extLst>
              <p:ext uri="{D42A27DB-BD31-4B8C-83A1-F6EECF244321}">
                <p14:modId xmlns:p14="http://schemas.microsoft.com/office/powerpoint/2010/main" val="2907174649"/>
              </p:ext>
            </p:ext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7" name="Arrow: Right 6">
            <a:extLst>
              <a:ext uri="{FF2B5EF4-FFF2-40B4-BE49-F238E27FC236}">
                <a16:creationId xmlns:a16="http://schemas.microsoft.com/office/drawing/2014/main" id="{FA13BE1B-0416-4804-8FE8-623F68D824B4}"/>
              </a:ext>
            </a:extLst>
          </p:cNvPr>
          <p:cNvSpPr/>
          <p:nvPr>
            <p:custDataLst>
              <p:tags r:id="rId6"/>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C236A00A-554E-4FCA-8A11-14FA8B6418E4}"/>
              </a:ext>
            </a:extLst>
          </p:cNvPr>
          <p:cNvGraphicFramePr>
            <a:graphicFrameLocks noGrp="1"/>
          </p:cNvGraphicFramePr>
          <p:nvPr>
            <p:custDataLst>
              <p:tags r:id="rId7"/>
            </p:custDataLst>
            <p:extLst>
              <p:ext uri="{D42A27DB-BD31-4B8C-83A1-F6EECF244321}">
                <p14:modId xmlns:p14="http://schemas.microsoft.com/office/powerpoint/2010/main" val="1455692812"/>
              </p:ext>
            </p:ext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9" name="Table 8">
            <a:extLst>
              <a:ext uri="{FF2B5EF4-FFF2-40B4-BE49-F238E27FC236}">
                <a16:creationId xmlns:a16="http://schemas.microsoft.com/office/drawing/2014/main" id="{B375BDC1-50F8-4DB8-9183-8470D11B80E1}"/>
              </a:ext>
            </a:extLst>
          </p:cNvPr>
          <p:cNvGraphicFramePr>
            <a:graphicFrameLocks noGrp="1"/>
          </p:cNvGraphicFramePr>
          <p:nvPr>
            <p:custDataLst>
              <p:tags r:id="rId8"/>
            </p:custDataLst>
            <p:extLst>
              <p:ext uri="{D42A27DB-BD31-4B8C-83A1-F6EECF244321}">
                <p14:modId xmlns:p14="http://schemas.microsoft.com/office/powerpoint/2010/main" val="3332056824"/>
              </p:ext>
            </p:ext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11" name="Table 10">
            <a:extLst>
              <a:ext uri="{FF2B5EF4-FFF2-40B4-BE49-F238E27FC236}">
                <a16:creationId xmlns:a16="http://schemas.microsoft.com/office/drawing/2014/main" id="{32366CAF-68DE-425B-ACE3-3DDACDE409DB}"/>
              </a:ext>
            </a:extLst>
          </p:cNvPr>
          <p:cNvGraphicFramePr>
            <a:graphicFrameLocks noGrp="1"/>
          </p:cNvGraphicFramePr>
          <p:nvPr>
            <p:custDataLst>
              <p:tags r:id="rId9"/>
            </p:custDataLst>
            <p:extLst>
              <p:ext uri="{D42A27DB-BD31-4B8C-83A1-F6EECF244321}">
                <p14:modId xmlns:p14="http://schemas.microsoft.com/office/powerpoint/2010/main" val="1050386880"/>
              </p:ext>
            </p:ext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12" name="Arrow: Right 11">
            <a:extLst>
              <a:ext uri="{FF2B5EF4-FFF2-40B4-BE49-F238E27FC236}">
                <a16:creationId xmlns:a16="http://schemas.microsoft.com/office/drawing/2014/main" id="{3235AFF8-5311-47A1-9E83-D3A3CA43044E}"/>
              </a:ext>
            </a:extLst>
          </p:cNvPr>
          <p:cNvSpPr/>
          <p:nvPr>
            <p:custDataLst>
              <p:tags r:id="rId10"/>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3A32A7C5-11BC-4402-9281-8D969DB602A3}"/>
              </a:ext>
            </a:extLst>
          </p:cNvPr>
          <p:cNvGraphicFramePr>
            <a:graphicFrameLocks noGrp="1"/>
          </p:cNvGraphicFramePr>
          <p:nvPr>
            <p:custDataLst>
              <p:tags r:id="rId11"/>
            </p:custDataLst>
            <p:extLst>
              <p:ext uri="{D42A27DB-BD31-4B8C-83A1-F6EECF244321}">
                <p14:modId xmlns:p14="http://schemas.microsoft.com/office/powerpoint/2010/main" val="1410285993"/>
              </p:ext>
            </p:ext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03102305"/>
                  </a:ext>
                </a:extLst>
              </a:tr>
            </a:tbl>
          </a:graphicData>
        </a:graphic>
      </p:graphicFrame>
      <p:graphicFrame>
        <p:nvGraphicFramePr>
          <p:cNvPr id="14" name="Table 13">
            <a:extLst>
              <a:ext uri="{FF2B5EF4-FFF2-40B4-BE49-F238E27FC236}">
                <a16:creationId xmlns:a16="http://schemas.microsoft.com/office/drawing/2014/main" id="{468035E7-356F-4568-9BC2-631A1BABEA31}"/>
              </a:ext>
            </a:extLst>
          </p:cNvPr>
          <p:cNvGraphicFramePr>
            <a:graphicFrameLocks noGrp="1"/>
          </p:cNvGraphicFramePr>
          <p:nvPr>
            <p:custDataLst>
              <p:tags r:id="rId12"/>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accent6">
                              <a:lumMod val="75000"/>
                            </a:schemeClr>
                          </a:solidFill>
                          <a:latin typeface="+mn-lt"/>
                        </a:rPr>
                        <a:t>W</a:t>
                      </a:r>
                      <a:r>
                        <a:rPr lang="en-US" sz="1800" b="1" baseline="-25000" dirty="0">
                          <a:solidFill>
                            <a:schemeClr val="accent6">
                              <a:lumMod val="75000"/>
                            </a:schemeClr>
                          </a:solidFill>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cxnSp>
        <p:nvCxnSpPr>
          <p:cNvPr id="15" name="Straight Connector 14">
            <a:extLst>
              <a:ext uri="{FF2B5EF4-FFF2-40B4-BE49-F238E27FC236}">
                <a16:creationId xmlns:a16="http://schemas.microsoft.com/office/drawing/2014/main" id="{AA086B8C-37A7-4190-9351-4CBD9B6C7161}"/>
              </a:ext>
            </a:extLst>
          </p:cNvPr>
          <p:cNvCxnSpPr>
            <a:cxnSpLocks/>
          </p:cNvCxnSpPr>
          <p:nvPr/>
        </p:nvCxnSpPr>
        <p:spPr>
          <a:xfrm flipH="1">
            <a:off x="4384236" y="5859169"/>
            <a:ext cx="187764" cy="38923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074052A-3DE3-4D3C-864A-00752CD5BE06}"/>
              </a:ext>
            </a:extLst>
          </p:cNvPr>
          <p:cNvSpPr txBox="1"/>
          <p:nvPr>
            <p:custDataLst>
              <p:tags r:id="rId13"/>
            </p:custDataLst>
          </p:nvPr>
        </p:nvSpPr>
        <p:spPr>
          <a:xfrm>
            <a:off x="3026434" y="6232423"/>
            <a:ext cx="21336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use this as parity bit of entire codeword</a:t>
            </a:r>
          </a:p>
        </p:txBody>
      </p:sp>
    </p:spTree>
    <p:custDataLst>
      <p:tags r:id="rId1"/>
    </p:custDataLst>
    <p:extLst>
      <p:ext uri="{BB962C8B-B14F-4D97-AF65-F5344CB8AC3E}">
        <p14:creationId xmlns:p14="http://schemas.microsoft.com/office/powerpoint/2010/main" val="1740027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175B0D-FD80-4504-9196-59C9B7D2BC14}"/>
              </a:ext>
            </a:extLst>
          </p:cNvPr>
          <p:cNvSpPr txBox="1"/>
          <p:nvPr>
            <p:custDataLst>
              <p:tags r:id="rId2"/>
            </p:custDataLst>
          </p:nvPr>
        </p:nvSpPr>
        <p:spPr>
          <a:xfrm>
            <a:off x="526930" y="1414732"/>
            <a:ext cx="8464670" cy="1709468"/>
          </a:xfrm>
          <a:prstGeom prst="rect">
            <a:avLst/>
          </a:prstGeom>
          <a:noFill/>
        </p:spPr>
        <p:txBody>
          <a:bodyPr wrap="square" rtlCol="0" anchor="t">
            <a:noAutofit/>
          </a:bodyPr>
          <a:lstStyle/>
          <a:p>
            <a:r>
              <a:rPr lang="en-US" sz="2800" dirty="0">
                <a:latin typeface="+mn-lt"/>
              </a:rPr>
              <a:t>e.g., Encode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 0101 into an 8-bit codeword:</a:t>
            </a:r>
          </a:p>
          <a:p>
            <a:endParaRPr lang="en-US" sz="2800" dirty="0">
              <a:latin typeface="+mn-lt"/>
            </a:endParaRPr>
          </a:p>
          <a:p>
            <a:r>
              <a:rPr lang="en-US" sz="2800" b="1" dirty="0">
                <a:latin typeface="+mn-lt"/>
              </a:rPr>
              <a:t>W</a:t>
            </a:r>
            <a:r>
              <a:rPr lang="en-US" sz="2800" b="1" baseline="-25000" dirty="0">
                <a:latin typeface="+mn-lt"/>
              </a:rPr>
              <a:t>8</a:t>
            </a:r>
            <a:r>
              <a:rPr lang="en-US" sz="2800" b="1" dirty="0">
                <a:latin typeface="+mn-lt"/>
              </a:rPr>
              <a:t>W</a:t>
            </a:r>
            <a:r>
              <a:rPr lang="en-US" sz="2800" b="1" baseline="-25000" dirty="0">
                <a:latin typeface="+mn-lt"/>
              </a:rPr>
              <a:t>7</a:t>
            </a:r>
            <a:r>
              <a:rPr lang="en-US" sz="2800" b="1" dirty="0">
                <a:latin typeface="+mn-lt"/>
              </a:rPr>
              <a:t>W</a:t>
            </a:r>
            <a:r>
              <a:rPr lang="en-US" sz="2800" b="1" baseline="-25000" dirty="0">
                <a:latin typeface="+mn-lt"/>
              </a:rPr>
              <a:t>6</a:t>
            </a:r>
            <a:r>
              <a:rPr lang="en-US" sz="2800" b="1" dirty="0">
                <a:latin typeface="+mn-lt"/>
              </a:rPr>
              <a:t>W</a:t>
            </a:r>
            <a:r>
              <a:rPr lang="en-US" sz="2800" b="1" baseline="-25000" dirty="0">
                <a:latin typeface="+mn-lt"/>
              </a:rPr>
              <a:t>5</a:t>
            </a:r>
            <a:r>
              <a:rPr lang="en-US" sz="2800" b="1" dirty="0">
                <a:latin typeface="+mn-lt"/>
              </a:rPr>
              <a:t>W</a:t>
            </a:r>
            <a:r>
              <a:rPr lang="en-US" sz="2800" b="1" baseline="-25000" dirty="0">
                <a:latin typeface="+mn-lt"/>
              </a:rPr>
              <a:t>4</a:t>
            </a:r>
            <a:r>
              <a:rPr lang="en-US" sz="2800" b="1" dirty="0">
                <a:latin typeface="+mn-lt"/>
              </a:rPr>
              <a:t>W</a:t>
            </a:r>
            <a:r>
              <a:rPr lang="en-US" sz="2800" b="1" baseline="-25000" dirty="0">
                <a:latin typeface="+mn-lt"/>
              </a:rPr>
              <a:t>3</a:t>
            </a:r>
            <a:r>
              <a:rPr lang="en-US" sz="2800" b="1" dirty="0">
                <a:latin typeface="+mn-lt"/>
              </a:rPr>
              <a:t>W</a:t>
            </a:r>
            <a:r>
              <a:rPr lang="en-US" sz="2800" b="1" baseline="-25000" dirty="0">
                <a:latin typeface="+mn-lt"/>
              </a:rPr>
              <a:t>2</a:t>
            </a:r>
            <a:r>
              <a:rPr lang="en-US" sz="2800" b="1" dirty="0">
                <a:latin typeface="+mn-lt"/>
              </a:rPr>
              <a:t>W</a:t>
            </a:r>
            <a:r>
              <a:rPr lang="en-US" sz="2800" b="1" baseline="-25000" dirty="0">
                <a:latin typeface="+mn-lt"/>
              </a:rPr>
              <a:t>1</a:t>
            </a:r>
            <a:r>
              <a:rPr lang="en-US" sz="2800" b="1" dirty="0">
                <a:latin typeface="+mn-lt"/>
              </a:rPr>
              <a:t> = ____________</a:t>
            </a:r>
          </a:p>
        </p:txBody>
      </p:sp>
      <p:sp>
        <p:nvSpPr>
          <p:cNvPr id="11" name="TextBox 10">
            <a:extLst>
              <a:ext uri="{FF2B5EF4-FFF2-40B4-BE49-F238E27FC236}">
                <a16:creationId xmlns:a16="http://schemas.microsoft.com/office/drawing/2014/main" id="{1DCADF07-7328-4498-B0B1-2AAE36085992}"/>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800" dirty="0">
                <a:latin typeface="+mn-lt"/>
              </a:rPr>
              <a:t>e.g., Encode b</a:t>
            </a:r>
            <a:r>
              <a:rPr lang="en-US" sz="2800" baseline="-25000" dirty="0">
                <a:latin typeface="+mn-lt"/>
              </a:rPr>
              <a:t>4</a:t>
            </a:r>
            <a:r>
              <a:rPr lang="en-US" sz="2800" dirty="0">
                <a:latin typeface="+mn-lt"/>
              </a:rPr>
              <a:t>b</a:t>
            </a:r>
            <a:r>
              <a:rPr lang="en-US" sz="2800" baseline="-25000" dirty="0">
                <a:latin typeface="+mn-lt"/>
              </a:rPr>
              <a:t>3</a:t>
            </a:r>
            <a:r>
              <a:rPr lang="en-US" sz="2800" dirty="0">
                <a:latin typeface="+mn-lt"/>
              </a:rPr>
              <a:t>b</a:t>
            </a:r>
            <a:r>
              <a:rPr lang="en-US" sz="2800" baseline="-25000" dirty="0">
                <a:latin typeface="+mn-lt"/>
              </a:rPr>
              <a:t>2</a:t>
            </a:r>
            <a:r>
              <a:rPr lang="en-US" sz="2800" dirty="0">
                <a:latin typeface="+mn-lt"/>
              </a:rPr>
              <a:t>b</a:t>
            </a:r>
            <a:r>
              <a:rPr lang="en-US" sz="2800" baseline="-25000" dirty="0">
                <a:latin typeface="+mn-lt"/>
              </a:rPr>
              <a:t>1</a:t>
            </a:r>
            <a:r>
              <a:rPr lang="en-US" sz="2800" dirty="0">
                <a:latin typeface="+mn-lt"/>
              </a:rPr>
              <a:t> = 0101 into an 8-bit codeword:</a:t>
            </a:r>
          </a:p>
          <a:p>
            <a:endParaRPr lang="en-US" sz="2800" dirty="0">
              <a:latin typeface="+mn-lt"/>
            </a:endParaRPr>
          </a:p>
          <a:p>
            <a:r>
              <a:rPr lang="en-US" sz="2800" b="1" dirty="0">
                <a:latin typeface="+mn-lt"/>
              </a:rPr>
              <a:t>W</a:t>
            </a:r>
            <a:r>
              <a:rPr lang="en-US" sz="2800" b="1" baseline="-25000" dirty="0">
                <a:latin typeface="+mn-lt"/>
              </a:rPr>
              <a:t>8</a:t>
            </a:r>
            <a:r>
              <a:rPr lang="en-US" sz="2800" b="1" dirty="0">
                <a:latin typeface="+mn-lt"/>
              </a:rPr>
              <a:t>W</a:t>
            </a:r>
            <a:r>
              <a:rPr lang="en-US" sz="2800" b="1" baseline="-25000" dirty="0">
                <a:latin typeface="+mn-lt"/>
              </a:rPr>
              <a:t>7</a:t>
            </a:r>
            <a:r>
              <a:rPr lang="en-US" sz="2800" b="1" dirty="0">
                <a:latin typeface="+mn-lt"/>
              </a:rPr>
              <a:t>W</a:t>
            </a:r>
            <a:r>
              <a:rPr lang="en-US" sz="2800" b="1" baseline="-25000" dirty="0">
                <a:latin typeface="+mn-lt"/>
              </a:rPr>
              <a:t>6</a:t>
            </a:r>
            <a:r>
              <a:rPr lang="en-US" sz="2800" b="1" dirty="0">
                <a:latin typeface="+mn-lt"/>
              </a:rPr>
              <a:t>W</a:t>
            </a:r>
            <a:r>
              <a:rPr lang="en-US" sz="2800" b="1" baseline="-25000" dirty="0">
                <a:latin typeface="+mn-lt"/>
              </a:rPr>
              <a:t>5</a:t>
            </a:r>
            <a:r>
              <a:rPr lang="en-US" sz="2800" b="1" dirty="0">
                <a:latin typeface="+mn-lt"/>
              </a:rPr>
              <a:t>W</a:t>
            </a:r>
            <a:r>
              <a:rPr lang="en-US" sz="2800" b="1" baseline="-25000" dirty="0">
                <a:latin typeface="+mn-lt"/>
              </a:rPr>
              <a:t>4</a:t>
            </a:r>
            <a:r>
              <a:rPr lang="en-US" sz="2800" b="1" dirty="0">
                <a:latin typeface="+mn-lt"/>
              </a:rPr>
              <a:t>W</a:t>
            </a:r>
            <a:r>
              <a:rPr lang="en-US" sz="2800" b="1" baseline="-25000" dirty="0">
                <a:latin typeface="+mn-lt"/>
              </a:rPr>
              <a:t>3</a:t>
            </a:r>
            <a:r>
              <a:rPr lang="en-US" sz="2800" b="1" dirty="0">
                <a:latin typeface="+mn-lt"/>
              </a:rPr>
              <a:t>W</a:t>
            </a:r>
            <a:r>
              <a:rPr lang="en-US" sz="2800" b="1" baseline="-25000" dirty="0">
                <a:latin typeface="+mn-lt"/>
              </a:rPr>
              <a:t>2</a:t>
            </a:r>
            <a:r>
              <a:rPr lang="en-US" sz="2800" b="1" dirty="0">
                <a:latin typeface="+mn-lt"/>
              </a:rPr>
              <a:t>W</a:t>
            </a:r>
            <a:r>
              <a:rPr lang="en-US" sz="2800" b="1" baseline="-25000" dirty="0">
                <a:latin typeface="+mn-lt"/>
              </a:rPr>
              <a:t>1</a:t>
            </a:r>
            <a:r>
              <a:rPr lang="en-US" sz="2800" b="1" dirty="0">
                <a:latin typeface="+mn-lt"/>
              </a:rPr>
              <a:t> = </a:t>
            </a:r>
            <a:r>
              <a:rPr lang="en-US" sz="2800" b="1" dirty="0">
                <a:solidFill>
                  <a:schemeClr val="accent6">
                    <a:lumMod val="75000"/>
                  </a:schemeClr>
                </a:solidFill>
                <a:latin typeface="+mn-lt"/>
              </a:rPr>
              <a:t>00101101</a:t>
            </a:r>
          </a:p>
        </p:txBody>
      </p:sp>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4"/>
            </p:custDataLst>
          </p:nvPr>
        </p:nvSpPr>
        <p:spPr>
          <a:xfrm>
            <a:off x="457200" y="274638"/>
            <a:ext cx="8159870" cy="1143000"/>
          </a:xfrm>
        </p:spPr>
        <p:txBody>
          <a:bodyPr/>
          <a:lstStyle/>
          <a:p>
            <a:pPr eaLnBrk="1" hangingPunct="1"/>
            <a:r>
              <a:rPr lang="en-US" altLang="en-US" dirty="0"/>
              <a:t>SECDED – Hamming(7,4) + Parity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22</a:t>
            </a:fld>
            <a:endParaRPr lang="en-US" altLang="en-US" sz="140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6"/>
            </p:custDataLst>
            <p:extLst>
              <p:ext uri="{D42A27DB-BD31-4B8C-83A1-F6EECF244321}">
                <p14:modId xmlns:p14="http://schemas.microsoft.com/office/powerpoint/2010/main" val="2453707925"/>
              </p:ext>
            </p:ext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7" name="Arrow: Right 6">
            <a:extLst>
              <a:ext uri="{FF2B5EF4-FFF2-40B4-BE49-F238E27FC236}">
                <a16:creationId xmlns:a16="http://schemas.microsoft.com/office/drawing/2014/main" id="{FA13BE1B-0416-4804-8FE8-623F68D824B4}"/>
              </a:ext>
            </a:extLst>
          </p:cNvPr>
          <p:cNvSpPr/>
          <p:nvPr>
            <p:custDataLst>
              <p:tags r:id="rId7"/>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C236A00A-554E-4FCA-8A11-14FA8B6418E4}"/>
              </a:ext>
            </a:extLst>
          </p:cNvPr>
          <p:cNvGraphicFramePr>
            <a:graphicFrameLocks noGrp="1"/>
          </p:cNvGraphicFramePr>
          <p:nvPr>
            <p:custDataLst>
              <p:tags r:id="rId8"/>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9" name="Table 8">
            <a:extLst>
              <a:ext uri="{FF2B5EF4-FFF2-40B4-BE49-F238E27FC236}">
                <a16:creationId xmlns:a16="http://schemas.microsoft.com/office/drawing/2014/main" id="{B375BDC1-50F8-4DB8-9183-8470D11B80E1}"/>
              </a:ext>
            </a:extLst>
          </p:cNvPr>
          <p:cNvGraphicFramePr>
            <a:graphicFrameLocks noGrp="1"/>
          </p:cNvGraphicFramePr>
          <p:nvPr>
            <p:custDataLst>
              <p:tags r:id="rId9"/>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spTree>
    <p:custDataLst>
      <p:tags r:id="rId1"/>
    </p:custDataLst>
    <p:extLst>
      <p:ext uri="{BB962C8B-B14F-4D97-AF65-F5344CB8AC3E}">
        <p14:creationId xmlns:p14="http://schemas.microsoft.com/office/powerpoint/2010/main" val="812724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8159870" cy="1143000"/>
          </a:xfrm>
        </p:spPr>
        <p:txBody>
          <a:bodyPr/>
          <a:lstStyle/>
          <a:p>
            <a:pPr eaLnBrk="1" hangingPunct="1"/>
            <a:r>
              <a:rPr lang="en-US" altLang="en-US" dirty="0"/>
              <a:t>SECDED – Hamming(7,4) + Parity</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23</a:t>
            </a:fld>
            <a:endParaRPr lang="en-US" altLang="en-US" sz="1400">
              <a:latin typeface="Times New Roman" panose="02020603050405020304" pitchFamily="18" charset="0"/>
            </a:endParaRPr>
          </a:p>
        </p:txBody>
      </p:sp>
      <p:sp>
        <p:nvSpPr>
          <p:cNvPr id="10" name="TextBox 9">
            <a:extLst>
              <a:ext uri="{FF2B5EF4-FFF2-40B4-BE49-F238E27FC236}">
                <a16:creationId xmlns:a16="http://schemas.microsoft.com/office/drawing/2014/main" id="{C7175B0D-FD80-4504-9196-59C9B7D2BC14}"/>
              </a:ext>
            </a:extLst>
          </p:cNvPr>
          <p:cNvSpPr txBox="1"/>
          <p:nvPr>
            <p:custDataLst>
              <p:tags r:id="rId4"/>
            </p:custDataLst>
          </p:nvPr>
        </p:nvSpPr>
        <p:spPr>
          <a:xfrm>
            <a:off x="526930" y="1414732"/>
            <a:ext cx="8464670" cy="947468"/>
          </a:xfrm>
          <a:prstGeom prst="rect">
            <a:avLst/>
          </a:prstGeom>
          <a:noFill/>
        </p:spPr>
        <p:txBody>
          <a:bodyPr wrap="square" rtlCol="0" anchor="t">
            <a:noAutofit/>
          </a:bodyPr>
          <a:lstStyle/>
          <a:p>
            <a:r>
              <a:rPr lang="en-US" sz="2800" dirty="0">
                <a:latin typeface="+mn-lt"/>
              </a:rPr>
              <a:t>Compare this to simply storing the bits redundantly:</a:t>
            </a:r>
            <a:endParaRPr lang="en-US" sz="2800" b="1" dirty="0">
              <a:solidFill>
                <a:schemeClr val="accent6">
                  <a:lumMod val="75000"/>
                </a:schemeClr>
              </a:solidFill>
              <a:latin typeface="+mn-lt"/>
            </a:endParaRPr>
          </a:p>
        </p:txBody>
      </p:sp>
      <p:graphicFrame>
        <p:nvGraphicFramePr>
          <p:cNvPr id="8" name="Table 7">
            <a:extLst>
              <a:ext uri="{FF2B5EF4-FFF2-40B4-BE49-F238E27FC236}">
                <a16:creationId xmlns:a16="http://schemas.microsoft.com/office/drawing/2014/main" id="{C236A00A-554E-4FCA-8A11-14FA8B6418E4}"/>
              </a:ext>
            </a:extLst>
          </p:cNvPr>
          <p:cNvGraphicFramePr>
            <a:graphicFrameLocks noGrp="1"/>
          </p:cNvGraphicFramePr>
          <p:nvPr>
            <p:custDataLst>
              <p:tags r:id="rId5"/>
            </p:custDataLst>
          </p:nvPr>
        </p:nvGraphicFramePr>
        <p:xfrm>
          <a:off x="1066800" y="2489200"/>
          <a:ext cx="2514600" cy="360680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Hamming(7,4) + Parity</a:t>
                      </a:r>
                    </a:p>
                    <a:p>
                      <a:pPr algn="ctr"/>
                      <a:r>
                        <a:rPr lang="en-US" b="1" dirty="0"/>
                        <a:t>(SECDED 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11" name="Table 10">
            <a:extLst>
              <a:ext uri="{FF2B5EF4-FFF2-40B4-BE49-F238E27FC236}">
                <a16:creationId xmlns:a16="http://schemas.microsoft.com/office/drawing/2014/main" id="{1013CD22-5FCA-4A0C-BDD1-0E3125F166B0}"/>
              </a:ext>
            </a:extLst>
          </p:cNvPr>
          <p:cNvGraphicFramePr>
            <a:graphicFrameLocks noGrp="1"/>
          </p:cNvGraphicFramePr>
          <p:nvPr>
            <p:custDataLst>
              <p:tags r:id="rId6"/>
            </p:custDataLst>
          </p:nvPr>
        </p:nvGraphicFramePr>
        <p:xfrm>
          <a:off x="5562600" y="2489200"/>
          <a:ext cx="2514600" cy="360680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1-Bit Redundancy</a:t>
                      </a:r>
                    </a:p>
                    <a:p>
                      <a:pPr algn="ctr"/>
                      <a:r>
                        <a:rPr lang="en-US" b="1" dirty="0"/>
                        <a:t>(SED 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b</a:t>
                      </a:r>
                      <a:r>
                        <a:rPr kumimoji="0" lang="en-US" sz="1800" b="0" i="0" u="none" strike="noStrike" kern="1200" cap="none" spc="0" normalizeH="0" baseline="-25000" noProof="0" dirty="0">
                          <a:ln>
                            <a:noFill/>
                          </a:ln>
                          <a:solidFill>
                            <a:prstClr val="black"/>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b</a:t>
                      </a:r>
                      <a:r>
                        <a:rPr kumimoji="0" lang="en-US" sz="1800" b="0" i="0" u="none" strike="noStrike" kern="1200" cap="none" spc="0" normalizeH="0" baseline="-25000" noProof="0" dirty="0">
                          <a:ln>
                            <a:noFill/>
                          </a:ln>
                          <a:solidFill>
                            <a:prstClr val="black"/>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sp>
        <p:nvSpPr>
          <p:cNvPr id="12" name="TextBox 11">
            <a:extLst>
              <a:ext uri="{FF2B5EF4-FFF2-40B4-BE49-F238E27FC236}">
                <a16:creationId xmlns:a16="http://schemas.microsoft.com/office/drawing/2014/main" id="{E5CC1E8B-8976-41B5-BE30-A4C080EFEF9E}"/>
              </a:ext>
            </a:extLst>
          </p:cNvPr>
          <p:cNvSpPr txBox="1"/>
          <p:nvPr>
            <p:custDataLst>
              <p:tags r:id="rId7"/>
            </p:custDataLst>
          </p:nvPr>
        </p:nvSpPr>
        <p:spPr>
          <a:xfrm>
            <a:off x="4114800" y="3962400"/>
            <a:ext cx="1066800" cy="685800"/>
          </a:xfrm>
          <a:prstGeom prst="rect">
            <a:avLst/>
          </a:prstGeom>
          <a:noFill/>
        </p:spPr>
        <p:txBody>
          <a:bodyPr wrap="square" rtlCol="0" anchor="ctr">
            <a:noAutofit/>
          </a:bodyPr>
          <a:lstStyle/>
          <a:p>
            <a:pPr algn="ctr"/>
            <a:r>
              <a:rPr lang="en-US" sz="2800" b="1" dirty="0">
                <a:latin typeface="+mn-lt"/>
              </a:rPr>
              <a:t>vs.</a:t>
            </a:r>
            <a:endParaRPr lang="en-US" sz="2800" b="1" dirty="0">
              <a:solidFill>
                <a:schemeClr val="accent6">
                  <a:lumMod val="75000"/>
                </a:schemeClr>
              </a:solidFill>
              <a:latin typeface="+mn-lt"/>
            </a:endParaRPr>
          </a:p>
        </p:txBody>
      </p:sp>
    </p:spTree>
    <p:custDataLst>
      <p:tags r:id="rId1"/>
    </p:custDataLst>
    <p:extLst>
      <p:ext uri="{BB962C8B-B14F-4D97-AF65-F5344CB8AC3E}">
        <p14:creationId xmlns:p14="http://schemas.microsoft.com/office/powerpoint/2010/main" val="125499690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EF8464C-69BE-43FE-ABC4-00F4CDC816E9}"/>
              </a:ext>
            </a:extLst>
          </p:cNvPr>
          <p:cNvPicPr>
            <a:picLocks noChangeAspect="1" noChangeArrowheads="1"/>
          </p:cNvPicPr>
          <p:nvPr/>
        </p:nvPicPr>
        <p:blipFill>
          <a:blip r:embed="rId14">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62700" y="566928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err="1"/>
              <a:t>Input/Output</a:t>
            </a:r>
            <a:endParaRPr lang="en-US" altLang="en-US" dirty="0"/>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24</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52400" y="5943600"/>
            <a:ext cx="449580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2300C55-B36D-4B82-811E-58347C336610}"/>
              </a:ext>
            </a:extLst>
          </p:cNvPr>
          <p:cNvCxnSpPr/>
          <p:nvPr/>
        </p:nvCxnSpPr>
        <p:spPr>
          <a:xfrm>
            <a:off x="2555080" y="5772222"/>
            <a:ext cx="5303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314BD7-6184-4222-9E42-27B691973F8B}"/>
              </a:ext>
            </a:extLst>
          </p:cNvPr>
          <p:cNvCxnSpPr>
            <a:cxnSpLocks/>
          </p:cNvCxnSpPr>
          <p:nvPr/>
        </p:nvCxnSpPr>
        <p:spPr>
          <a:xfrm rot="5400000">
            <a:off x="2478017"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D09954-BC83-4116-92CA-3047E6FBB89C}"/>
              </a:ext>
            </a:extLst>
          </p:cNvPr>
          <p:cNvCxnSpPr>
            <a:cxnSpLocks/>
          </p:cNvCxnSpPr>
          <p:nvPr/>
        </p:nvCxnSpPr>
        <p:spPr>
          <a:xfrm rot="5400000">
            <a:off x="5471160"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1B3BEB-6EDE-4F60-81A3-8BD5952B7106}"/>
              </a:ext>
            </a:extLst>
          </p:cNvPr>
          <p:cNvCxnSpPr>
            <a:cxnSpLocks/>
          </p:cNvCxnSpPr>
          <p:nvPr/>
        </p:nvCxnSpPr>
        <p:spPr>
          <a:xfrm rot="5400000">
            <a:off x="7757159"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AEF7E1-D959-480A-8E45-7112F3E7A3BC}"/>
              </a:ext>
            </a:extLst>
          </p:cNvPr>
          <p:cNvSpPr/>
          <p:nvPr>
            <p:custDataLst>
              <p:tags r:id="rId8"/>
            </p:custDataLst>
          </p:nvPr>
        </p:nvSpPr>
        <p:spPr>
          <a:xfrm>
            <a:off x="5181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29" name="Rectangle 28">
            <a:extLst>
              <a:ext uri="{FF2B5EF4-FFF2-40B4-BE49-F238E27FC236}">
                <a16:creationId xmlns:a16="http://schemas.microsoft.com/office/drawing/2014/main" id="{300698E2-FC66-4901-94E4-EF47217C8E59}"/>
              </a:ext>
            </a:extLst>
          </p:cNvPr>
          <p:cNvSpPr/>
          <p:nvPr>
            <p:custDataLst>
              <p:tags r:id="rId9"/>
            </p:custDataLst>
          </p:nvPr>
        </p:nvSpPr>
        <p:spPr>
          <a:xfrm>
            <a:off x="6324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30" name="Rectangle 29">
            <a:extLst>
              <a:ext uri="{FF2B5EF4-FFF2-40B4-BE49-F238E27FC236}">
                <a16:creationId xmlns:a16="http://schemas.microsoft.com/office/drawing/2014/main" id="{30651880-F7C7-41E0-B515-05F7BF00558B}"/>
              </a:ext>
            </a:extLst>
          </p:cNvPr>
          <p:cNvSpPr/>
          <p:nvPr>
            <p:custDataLst>
              <p:tags r:id="rId10"/>
            </p:custDataLst>
          </p:nvPr>
        </p:nvSpPr>
        <p:spPr>
          <a:xfrm>
            <a:off x="7467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cxnSp>
        <p:nvCxnSpPr>
          <p:cNvPr id="31" name="Straight Connector 30">
            <a:extLst>
              <a:ext uri="{FF2B5EF4-FFF2-40B4-BE49-F238E27FC236}">
                <a16:creationId xmlns:a16="http://schemas.microsoft.com/office/drawing/2014/main" id="{26E036C0-0594-4843-9BD9-F84BF2D41B33}"/>
              </a:ext>
            </a:extLst>
          </p:cNvPr>
          <p:cNvCxnSpPr>
            <a:cxnSpLocks/>
          </p:cNvCxnSpPr>
          <p:nvPr/>
        </p:nvCxnSpPr>
        <p:spPr>
          <a:xfrm rot="5400000">
            <a:off x="6614160"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3">
            <a:extLst>
              <a:ext uri="{FF2B5EF4-FFF2-40B4-BE49-F238E27FC236}">
                <a16:creationId xmlns:a16="http://schemas.microsoft.com/office/drawing/2014/main" id="{A024BEFC-4330-4934-8EFD-49B5736FEEEC}"/>
              </a:ext>
            </a:extLst>
          </p:cNvPr>
          <p:cNvSpPr>
            <a:spLocks noGrp="1" noChangeArrowheads="1"/>
          </p:cNvSpPr>
          <p:nvPr>
            <p:ph idx="1"/>
            <p:custDataLst>
              <p:tags r:id="rId11"/>
            </p:custDataLst>
          </p:nvPr>
        </p:nvSpPr>
        <p:spPr>
          <a:xfrm>
            <a:off x="457200" y="1371600"/>
            <a:ext cx="8229600" cy="2362200"/>
          </a:xfrm>
          <a:solidFill>
            <a:srgbClr val="FFFFFF">
              <a:alpha val="74902"/>
            </a:srgbClr>
          </a:solidFill>
        </p:spPr>
        <p:txBody>
          <a:bodyPr/>
          <a:lstStyle/>
          <a:p>
            <a:pPr eaLnBrk="1" hangingPunct="1"/>
            <a:r>
              <a:rPr lang="en-US" altLang="en-US" dirty="0"/>
              <a:t>I/O necessary:</a:t>
            </a:r>
          </a:p>
          <a:p>
            <a:pPr lvl="1" eaLnBrk="1" hangingPunct="1"/>
            <a:r>
              <a:rPr lang="en-US" altLang="en-US" dirty="0"/>
              <a:t>To/from users (display, keyboard, mouse)</a:t>
            </a:r>
          </a:p>
          <a:p>
            <a:pPr lvl="1" eaLnBrk="1" hangingPunct="1"/>
            <a:r>
              <a:rPr lang="en-US" altLang="en-US" dirty="0"/>
              <a:t>To/from non-volatile media (disk)</a:t>
            </a:r>
          </a:p>
          <a:p>
            <a:pPr lvl="1" eaLnBrk="1" hangingPunct="1"/>
            <a:r>
              <a:rPr lang="en-US" altLang="en-US" dirty="0"/>
              <a:t>To/from other computers (networks)</a:t>
            </a:r>
          </a:p>
          <a:p>
            <a:pPr eaLnBrk="1" hangingPunct="1"/>
            <a:endParaRPr lang="en-US" altLang="en-US" dirty="0"/>
          </a:p>
        </p:txBody>
      </p:sp>
    </p:spTree>
    <p:custDataLst>
      <p:tags r:id="rId1"/>
    </p:custDataLst>
    <p:extLst>
      <p:ext uri="{BB962C8B-B14F-4D97-AF65-F5344CB8AC3E}">
        <p14:creationId xmlns:p14="http://schemas.microsoft.com/office/powerpoint/2010/main" val="154591077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57CBF29-AF4D-4CE4-8446-927C75E0AC0E}"/>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Disk</a:t>
            </a:r>
          </a:p>
        </p:txBody>
      </p:sp>
      <p:pic>
        <p:nvPicPr>
          <p:cNvPr id="9219" name="Picture 3">
            <a:extLst>
              <a:ext uri="{FF2B5EF4-FFF2-40B4-BE49-F238E27FC236}">
                <a16:creationId xmlns:a16="http://schemas.microsoft.com/office/drawing/2014/main" id="{FCEC90F7-465C-4ABE-98C1-5CDC649A521B}"/>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a:xfrm>
            <a:off x="4648200" y="1981200"/>
            <a:ext cx="4416425" cy="3581400"/>
          </a:xfrm>
        </p:spPr>
      </p:pic>
      <p:sp>
        <p:nvSpPr>
          <p:cNvPr id="9220" name="Slide Number Placeholder 5">
            <a:extLst>
              <a:ext uri="{FF2B5EF4-FFF2-40B4-BE49-F238E27FC236}">
                <a16:creationId xmlns:a16="http://schemas.microsoft.com/office/drawing/2014/main" id="{7A5DABDC-C1DD-4608-B6C4-43FEB7F8409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247F9D6E-9F9B-4AA0-AB75-E46B9E2F3750}" type="slidenum">
              <a:rPr lang="en-US" altLang="en-US" sz="1400"/>
              <a:pPr lvl="1" eaLnBrk="1" hangingPunct="1">
                <a:spcBef>
                  <a:spcPct val="0"/>
                </a:spcBef>
                <a:buFontTx/>
                <a:buNone/>
              </a:pPr>
              <a:t>25</a:t>
            </a:fld>
            <a:endParaRPr lang="en-US" altLang="en-US" sz="1400">
              <a:latin typeface="Times New Roman" panose="02020603050405020304" pitchFamily="18" charset="0"/>
            </a:endParaRPr>
          </a:p>
        </p:txBody>
      </p:sp>
      <p:sp>
        <p:nvSpPr>
          <p:cNvPr id="6" name="Rectangle 3">
            <a:extLst>
              <a:ext uri="{FF2B5EF4-FFF2-40B4-BE49-F238E27FC236}">
                <a16:creationId xmlns:a16="http://schemas.microsoft.com/office/drawing/2014/main" id="{47653E78-A316-47D9-8B71-08F050568B97}"/>
              </a:ext>
            </a:extLst>
          </p:cNvPr>
          <p:cNvSpPr txBox="1">
            <a:spLocks noChangeArrowheads="1"/>
          </p:cNvSpPr>
          <p:nvPr>
            <p:custDataLst>
              <p:tags r:id="rId4"/>
            </p:custDataLst>
          </p:nvPr>
        </p:nvSpPr>
        <p:spPr bwMode="auto">
          <a:xfrm>
            <a:off x="457200" y="1600200"/>
            <a:ext cx="4267200" cy="434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800" dirty="0"/>
              <a:t>Stack of platters:</a:t>
            </a:r>
          </a:p>
          <a:p>
            <a:pPr lvl="1" eaLnBrk="1" hangingPunct="1"/>
            <a:r>
              <a:rPr lang="en-US" altLang="en-US" sz="2400" dirty="0"/>
              <a:t>Two surfaces per platter</a:t>
            </a:r>
          </a:p>
          <a:p>
            <a:pPr lvl="1" eaLnBrk="1" hangingPunct="1"/>
            <a:r>
              <a:rPr lang="en-US" altLang="en-US" sz="2400" dirty="0"/>
              <a:t>Multiple tracks per surface</a:t>
            </a:r>
          </a:p>
          <a:p>
            <a:pPr lvl="2" eaLnBrk="1" hangingPunct="1"/>
            <a:r>
              <a:rPr lang="en-US" altLang="en-US" sz="2000" dirty="0"/>
              <a:t>Surface head moves to select track</a:t>
            </a:r>
          </a:p>
          <a:p>
            <a:pPr lvl="2" eaLnBrk="1" hangingPunct="1"/>
            <a:r>
              <a:rPr lang="en-US" altLang="en-US" sz="2000" dirty="0"/>
              <a:t>Heads of all platters synchronized</a:t>
            </a:r>
          </a:p>
          <a:p>
            <a:pPr lvl="1" eaLnBrk="1" hangingPunct="1"/>
            <a:r>
              <a:rPr lang="en-US" altLang="en-US" sz="2400" dirty="0"/>
              <a:t>Multiple sectors per track</a:t>
            </a:r>
          </a:p>
          <a:p>
            <a:pPr lvl="2" eaLnBrk="1" hangingPunct="1"/>
            <a:r>
              <a:rPr lang="en-US" altLang="en-US" sz="2000" dirty="0"/>
              <a:t>Platters rotate to select sector</a:t>
            </a:r>
          </a:p>
        </p:txBody>
      </p:sp>
    </p:spTree>
    <p:custDataLst>
      <p:tags r:id="rId1"/>
    </p:custDataLst>
    <p:extLst>
      <p:ext uri="{BB962C8B-B14F-4D97-AF65-F5344CB8AC3E}">
        <p14:creationId xmlns:p14="http://schemas.microsoft.com/office/powerpoint/2010/main" val="25626586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94F5991-7C65-4AE7-8968-EE8E9424573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Disk – RAID</a:t>
            </a:r>
          </a:p>
        </p:txBody>
      </p:sp>
      <p:sp>
        <p:nvSpPr>
          <p:cNvPr id="12291" name="Rectangle 3">
            <a:extLst>
              <a:ext uri="{FF2B5EF4-FFF2-40B4-BE49-F238E27FC236}">
                <a16:creationId xmlns:a16="http://schemas.microsoft.com/office/drawing/2014/main" id="{DFD702A6-FD94-47CA-9AE1-D63F56CB23FE}"/>
              </a:ext>
            </a:extLst>
          </p:cNvPr>
          <p:cNvSpPr>
            <a:spLocks noGrp="1" noChangeArrowheads="1"/>
          </p:cNvSpPr>
          <p:nvPr>
            <p:ph idx="1"/>
            <p:custDataLst>
              <p:tags r:id="rId3"/>
            </p:custDataLst>
          </p:nvPr>
        </p:nvSpPr>
        <p:spPr>
          <a:xfrm>
            <a:off x="457200" y="1600200"/>
            <a:ext cx="8610600" cy="4525963"/>
          </a:xfrm>
        </p:spPr>
        <p:txBody>
          <a:bodyPr/>
          <a:lstStyle/>
          <a:p>
            <a:pPr eaLnBrk="1" hangingPunct="1"/>
            <a:r>
              <a:rPr lang="en-US" altLang="en-US" sz="2800" dirty="0"/>
              <a:t>Redundant arrays of inexpensive disks (RAID):</a:t>
            </a:r>
          </a:p>
          <a:p>
            <a:pPr lvl="1" eaLnBrk="1" hangingPunct="1"/>
            <a:r>
              <a:rPr lang="en-US" altLang="en-US" sz="2400" dirty="0"/>
              <a:t>Handles disk failures</a:t>
            </a:r>
          </a:p>
          <a:p>
            <a:pPr lvl="1" eaLnBrk="1" hangingPunct="1"/>
            <a:r>
              <a:rPr lang="en-US" altLang="en-US" sz="2400" dirty="0"/>
              <a:t>e.g., Given a 100-disk system, if mean time to failure per disk is 5 years: over a long period of time, 1 disk fails every 18 days</a:t>
            </a:r>
          </a:p>
          <a:p>
            <a:pPr eaLnBrk="1" hangingPunct="1"/>
            <a:r>
              <a:rPr lang="en-US" altLang="en-US" sz="2800" dirty="0"/>
              <a:t>Unlike memory ECC, we can tell when (and which) disks fail via diagnostics</a:t>
            </a:r>
          </a:p>
          <a:p>
            <a:pPr lvl="1" eaLnBrk="1" hangingPunct="1"/>
            <a:r>
              <a:rPr lang="en-US" altLang="en-US" sz="2400" dirty="0"/>
              <a:t>Just need to be able to recover the data</a:t>
            </a:r>
          </a:p>
        </p:txBody>
      </p:sp>
      <p:sp>
        <p:nvSpPr>
          <p:cNvPr id="12292" name="Slide Number Placeholder 5">
            <a:extLst>
              <a:ext uri="{FF2B5EF4-FFF2-40B4-BE49-F238E27FC236}">
                <a16:creationId xmlns:a16="http://schemas.microsoft.com/office/drawing/2014/main" id="{31DA0A1B-FFC3-4DE9-A616-EF1B18B37FE4}"/>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7C08B7C0-1CE5-4DD9-888F-EA78432257BA}" type="slidenum">
              <a:rPr lang="en-US" altLang="en-US" sz="1400"/>
              <a:pPr lvl="1" eaLnBrk="1" hangingPunct="1">
                <a:spcBef>
                  <a:spcPct val="0"/>
                </a:spcBef>
                <a:buFontTx/>
                <a:buNone/>
              </a:pPr>
              <a:t>26</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8853335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94F5991-7C65-4AE7-8968-EE8E9424573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Disk – RAID</a:t>
            </a:r>
          </a:p>
        </p:txBody>
      </p:sp>
      <p:sp>
        <p:nvSpPr>
          <p:cNvPr id="12291" name="Rectangle 3">
            <a:extLst>
              <a:ext uri="{FF2B5EF4-FFF2-40B4-BE49-F238E27FC236}">
                <a16:creationId xmlns:a16="http://schemas.microsoft.com/office/drawing/2014/main" id="{DFD702A6-FD94-47CA-9AE1-D63F56CB23FE}"/>
              </a:ext>
            </a:extLst>
          </p:cNvPr>
          <p:cNvSpPr>
            <a:spLocks noGrp="1" noChangeArrowheads="1"/>
          </p:cNvSpPr>
          <p:nvPr>
            <p:ph idx="1"/>
            <p:custDataLst>
              <p:tags r:id="rId3"/>
            </p:custDataLst>
          </p:nvPr>
        </p:nvSpPr>
        <p:spPr>
          <a:xfrm>
            <a:off x="457200" y="1600200"/>
            <a:ext cx="4800600" cy="4525963"/>
          </a:xfrm>
        </p:spPr>
        <p:txBody>
          <a:bodyPr/>
          <a:lstStyle/>
          <a:p>
            <a:pPr eaLnBrk="1" hangingPunct="1"/>
            <a:r>
              <a:rPr lang="en-US" altLang="en-US" sz="2800" dirty="0"/>
              <a:t>RAID 0:</a:t>
            </a:r>
          </a:p>
          <a:p>
            <a:pPr lvl="1" eaLnBrk="1" hangingPunct="1"/>
            <a:r>
              <a:rPr lang="en-US" altLang="en-US" sz="2400" dirty="0"/>
              <a:t>Block-level striping</a:t>
            </a:r>
          </a:p>
          <a:p>
            <a:pPr lvl="1" eaLnBrk="1" hangingPunct="1"/>
            <a:r>
              <a:rPr lang="en-US" altLang="en-US" sz="2400" dirty="0"/>
              <a:t>No failure protection</a:t>
            </a:r>
          </a:p>
          <a:p>
            <a:pPr marL="457200" lvl="1" indent="0" eaLnBrk="1" hangingPunct="1">
              <a:buNone/>
            </a:pPr>
            <a:endParaRPr lang="en-US" altLang="en-US" sz="2400" dirty="0"/>
          </a:p>
          <a:p>
            <a:pPr eaLnBrk="1" hangingPunct="1"/>
            <a:r>
              <a:rPr lang="en-US" altLang="en-US" sz="2800" dirty="0"/>
              <a:t>RAID 1:</a:t>
            </a:r>
          </a:p>
          <a:p>
            <a:pPr lvl="1" eaLnBrk="1" hangingPunct="1"/>
            <a:r>
              <a:rPr lang="en-US" altLang="en-US" sz="2400" dirty="0"/>
              <a:t>Block-level striping</a:t>
            </a:r>
          </a:p>
          <a:p>
            <a:pPr lvl="1" eaLnBrk="1" hangingPunct="1"/>
            <a:r>
              <a:rPr lang="en-US" altLang="en-US" sz="2400" dirty="0"/>
              <a:t>Store all data twice (mirroring)</a:t>
            </a:r>
          </a:p>
          <a:p>
            <a:pPr marL="457200" lvl="1" indent="0" eaLnBrk="1" hangingPunct="1">
              <a:buNone/>
            </a:pPr>
            <a:endParaRPr lang="en-US" altLang="en-US" sz="2400" dirty="0"/>
          </a:p>
          <a:p>
            <a:pPr eaLnBrk="1" hangingPunct="1"/>
            <a:r>
              <a:rPr lang="en-US" altLang="en-US" sz="2800" dirty="0"/>
              <a:t>RAID 3:</a:t>
            </a:r>
          </a:p>
          <a:p>
            <a:pPr lvl="1" eaLnBrk="1" hangingPunct="1"/>
            <a:r>
              <a:rPr lang="en-US" altLang="en-US" sz="2400" dirty="0"/>
              <a:t>Bit-interleaved parity</a:t>
            </a:r>
          </a:p>
        </p:txBody>
      </p:sp>
      <p:sp>
        <p:nvSpPr>
          <p:cNvPr id="12292" name="Slide Number Placeholder 5">
            <a:extLst>
              <a:ext uri="{FF2B5EF4-FFF2-40B4-BE49-F238E27FC236}">
                <a16:creationId xmlns:a16="http://schemas.microsoft.com/office/drawing/2014/main" id="{31DA0A1B-FFC3-4DE9-A616-EF1B18B37FE4}"/>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7C08B7C0-1CE5-4DD9-888F-EA78432257BA}" type="slidenum">
              <a:rPr lang="en-US" altLang="en-US" sz="1400"/>
              <a:pPr lvl="1" eaLnBrk="1" hangingPunct="1">
                <a:spcBef>
                  <a:spcPct val="0"/>
                </a:spcBef>
                <a:buFontTx/>
                <a:buNone/>
              </a:pPr>
              <a:t>27</a:t>
            </a:fld>
            <a:endParaRPr lang="en-US" altLang="en-US" sz="1400">
              <a:latin typeface="Times New Roman" panose="02020603050405020304" pitchFamily="18" charset="0"/>
            </a:endParaRPr>
          </a:p>
        </p:txBody>
      </p:sp>
      <p:graphicFrame>
        <p:nvGraphicFramePr>
          <p:cNvPr id="2" name="Table 1">
            <a:extLst>
              <a:ext uri="{FF2B5EF4-FFF2-40B4-BE49-F238E27FC236}">
                <a16:creationId xmlns:a16="http://schemas.microsoft.com/office/drawing/2014/main" id="{045D7683-18A5-4A3E-A139-86C27B11FA31}"/>
              </a:ext>
            </a:extLst>
          </p:cNvPr>
          <p:cNvGraphicFramePr>
            <a:graphicFrameLocks noGrp="1"/>
          </p:cNvGraphicFramePr>
          <p:nvPr>
            <p:custDataLst>
              <p:tags r:id="rId5"/>
            </p:custDataLst>
            <p:extLst>
              <p:ext uri="{D42A27DB-BD31-4B8C-83A1-F6EECF244321}">
                <p14:modId xmlns:p14="http://schemas.microsoft.com/office/powerpoint/2010/main" val="1645796507"/>
              </p:ext>
            </p:extLst>
          </p:nvPr>
        </p:nvGraphicFramePr>
        <p:xfrm>
          <a:off x="6000750" y="1600200"/>
          <a:ext cx="2857500" cy="1524000"/>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1233007564"/>
                    </a:ext>
                  </a:extLst>
                </a:gridCol>
                <a:gridCol w="952500">
                  <a:extLst>
                    <a:ext uri="{9D8B030D-6E8A-4147-A177-3AD203B41FA5}">
                      <a16:colId xmlns:a16="http://schemas.microsoft.com/office/drawing/2014/main" val="1069282468"/>
                    </a:ext>
                  </a:extLst>
                </a:gridCol>
                <a:gridCol w="952500">
                  <a:extLst>
                    <a:ext uri="{9D8B030D-6E8A-4147-A177-3AD203B41FA5}">
                      <a16:colId xmlns:a16="http://schemas.microsoft.com/office/drawing/2014/main" val="1928048935"/>
                    </a:ext>
                  </a:extLst>
                </a:gridCol>
              </a:tblGrid>
              <a:tr h="274320">
                <a:tc>
                  <a:txBody>
                    <a:bodyPr/>
                    <a:lstStyle/>
                    <a:p>
                      <a:pPr algn="ctr"/>
                      <a:r>
                        <a:rPr lang="en-US" sz="1400" b="1" dirty="0"/>
                        <a:t>disk0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2630685"/>
                  </a:ext>
                </a:extLst>
              </a:tr>
              <a:tr h="274320">
                <a:tc>
                  <a:txBody>
                    <a:bodyPr/>
                    <a:lstStyle/>
                    <a:p>
                      <a:pPr algn="ctr"/>
                      <a:r>
                        <a:rPr lang="en-US" sz="1400"/>
                        <a:t>block0</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block2</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971326"/>
                  </a:ext>
                </a:extLst>
              </a:tr>
              <a:tr h="274320">
                <a:tc>
                  <a:txBody>
                    <a:bodyPr/>
                    <a:lstStyle/>
                    <a:p>
                      <a:pPr algn="ctr"/>
                      <a:r>
                        <a:rPr lang="en-US" sz="1400"/>
                        <a:t>block3</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block4</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block5</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1689340"/>
                  </a:ext>
                </a:extLst>
              </a:tr>
              <a:tr h="274320">
                <a:tc>
                  <a:txBody>
                    <a:bodyPr/>
                    <a:lstStyle/>
                    <a:p>
                      <a:pPr algn="ctr"/>
                      <a:r>
                        <a:rPr lang="en-US" sz="1400"/>
                        <a:t>block6</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block7</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block8</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2711251"/>
                  </a:ext>
                </a:extLst>
              </a:tr>
              <a:tr h="274320">
                <a:tc>
                  <a:txBody>
                    <a:bodyPr/>
                    <a:lstStyle/>
                    <a:p>
                      <a:pPr algn="ctr"/>
                      <a:r>
                        <a:rPr lang="en-US" sz="1400"/>
                        <a:t>block9</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block10</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3790631"/>
                  </a:ext>
                </a:extLst>
              </a:tr>
            </a:tbl>
          </a:graphicData>
        </a:graphic>
      </p:graphicFrame>
      <p:graphicFrame>
        <p:nvGraphicFramePr>
          <p:cNvPr id="6" name="Table 5">
            <a:extLst>
              <a:ext uri="{FF2B5EF4-FFF2-40B4-BE49-F238E27FC236}">
                <a16:creationId xmlns:a16="http://schemas.microsoft.com/office/drawing/2014/main" id="{6D660D7B-9559-4AB0-B419-F520415886E5}"/>
              </a:ext>
            </a:extLst>
          </p:cNvPr>
          <p:cNvGraphicFramePr>
            <a:graphicFrameLocks noGrp="1"/>
          </p:cNvGraphicFramePr>
          <p:nvPr>
            <p:custDataLst>
              <p:tags r:id="rId6"/>
            </p:custDataLst>
            <p:extLst>
              <p:ext uri="{D42A27DB-BD31-4B8C-83A1-F6EECF244321}">
                <p14:modId xmlns:p14="http://schemas.microsoft.com/office/powerpoint/2010/main" val="2954183174"/>
              </p:ext>
            </p:extLst>
          </p:nvPr>
        </p:nvGraphicFramePr>
        <p:xfrm>
          <a:off x="5048250" y="5105400"/>
          <a:ext cx="3810000" cy="1524000"/>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1233007564"/>
                    </a:ext>
                  </a:extLst>
                </a:gridCol>
                <a:gridCol w="952500">
                  <a:extLst>
                    <a:ext uri="{9D8B030D-6E8A-4147-A177-3AD203B41FA5}">
                      <a16:colId xmlns:a16="http://schemas.microsoft.com/office/drawing/2014/main" val="1069282468"/>
                    </a:ext>
                  </a:extLst>
                </a:gridCol>
                <a:gridCol w="952500">
                  <a:extLst>
                    <a:ext uri="{9D8B030D-6E8A-4147-A177-3AD203B41FA5}">
                      <a16:colId xmlns:a16="http://schemas.microsoft.com/office/drawing/2014/main" val="1928048935"/>
                    </a:ext>
                  </a:extLst>
                </a:gridCol>
                <a:gridCol w="952500">
                  <a:extLst>
                    <a:ext uri="{9D8B030D-6E8A-4147-A177-3AD203B41FA5}">
                      <a16:colId xmlns:a16="http://schemas.microsoft.com/office/drawing/2014/main" val="1614887600"/>
                    </a:ext>
                  </a:extLst>
                </a:gridCol>
              </a:tblGrid>
              <a:tr h="274320">
                <a:tc>
                  <a:txBody>
                    <a:bodyPr/>
                    <a:lstStyle/>
                    <a:p>
                      <a:pPr algn="ctr"/>
                      <a:r>
                        <a:rPr lang="en-US" sz="1400" b="1" dirty="0"/>
                        <a:t>disk0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2630685"/>
                  </a:ext>
                </a:extLst>
              </a:tr>
              <a:tr h="274320">
                <a:tc>
                  <a:txBody>
                    <a:bodyPr/>
                    <a:lstStyle/>
                    <a:p>
                      <a:pPr algn="ctr"/>
                      <a:r>
                        <a:rPr lang="en-US" sz="1400" dirty="0"/>
                        <a:t>bit0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971326"/>
                  </a:ext>
                </a:extLst>
              </a:tr>
              <a:tr h="274320">
                <a:tc>
                  <a:txBody>
                    <a:bodyPr/>
                    <a:lstStyle/>
                    <a:p>
                      <a:pPr algn="ctr"/>
                      <a:r>
                        <a:rPr lang="en-US" sz="1400" dirty="0"/>
                        <a:t>bit3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1689340"/>
                  </a:ext>
                </a:extLst>
              </a:tr>
              <a:tr h="274320">
                <a:tc>
                  <a:txBody>
                    <a:bodyPr/>
                    <a:lstStyle/>
                    <a:p>
                      <a:pPr algn="ctr"/>
                      <a:r>
                        <a:rPr lang="en-US" sz="1400" dirty="0"/>
                        <a:t>bit6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2711251"/>
                  </a:ext>
                </a:extLst>
              </a:tr>
              <a:tr h="274320">
                <a:tc>
                  <a:txBody>
                    <a:bodyPr/>
                    <a:lstStyle/>
                    <a:p>
                      <a:pPr algn="ctr"/>
                      <a:r>
                        <a:rPr lang="en-US" sz="1400" dirty="0"/>
                        <a:t>bit9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bit11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parity9-11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3790631"/>
                  </a:ext>
                </a:extLst>
              </a:tr>
            </a:tbl>
          </a:graphicData>
        </a:graphic>
      </p:graphicFrame>
    </p:spTree>
    <p:custDataLst>
      <p:tags r:id="rId1"/>
    </p:custDataLst>
    <p:extLst>
      <p:ext uri="{BB962C8B-B14F-4D97-AF65-F5344CB8AC3E}">
        <p14:creationId xmlns:p14="http://schemas.microsoft.com/office/powerpoint/2010/main" val="27265416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94F5991-7C65-4AE7-8968-EE8E9424573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Disk – RAID</a:t>
            </a:r>
          </a:p>
        </p:txBody>
      </p:sp>
      <p:sp>
        <p:nvSpPr>
          <p:cNvPr id="12291" name="Rectangle 3">
            <a:extLst>
              <a:ext uri="{FF2B5EF4-FFF2-40B4-BE49-F238E27FC236}">
                <a16:creationId xmlns:a16="http://schemas.microsoft.com/office/drawing/2014/main" id="{DFD702A6-FD94-47CA-9AE1-D63F56CB23FE}"/>
              </a:ext>
            </a:extLst>
          </p:cNvPr>
          <p:cNvSpPr>
            <a:spLocks noGrp="1" noChangeArrowheads="1"/>
          </p:cNvSpPr>
          <p:nvPr>
            <p:ph idx="1"/>
            <p:custDataLst>
              <p:tags r:id="rId3"/>
            </p:custDataLst>
          </p:nvPr>
        </p:nvSpPr>
        <p:spPr>
          <a:xfrm>
            <a:off x="457200" y="1600200"/>
            <a:ext cx="4800600" cy="4525963"/>
          </a:xfrm>
        </p:spPr>
        <p:txBody>
          <a:bodyPr/>
          <a:lstStyle/>
          <a:p>
            <a:pPr eaLnBrk="1" hangingPunct="1"/>
            <a:r>
              <a:rPr lang="en-US" altLang="en-US" sz="2800" dirty="0"/>
              <a:t>RAID 4:</a:t>
            </a:r>
          </a:p>
          <a:p>
            <a:pPr lvl="1" eaLnBrk="1" hangingPunct="1"/>
            <a:r>
              <a:rPr lang="en-US" altLang="en-US" sz="2400" dirty="0"/>
              <a:t>Block-interleaved parity</a:t>
            </a:r>
          </a:p>
          <a:p>
            <a:pPr marL="457200" lvl="1" indent="0" eaLnBrk="1" hangingPunct="1">
              <a:buNone/>
            </a:pPr>
            <a:endParaRPr lang="en-US" altLang="en-US" sz="2400" dirty="0"/>
          </a:p>
          <a:p>
            <a:pPr marL="457200" lvl="1" indent="0" eaLnBrk="1" hangingPunct="1">
              <a:buNone/>
            </a:pPr>
            <a:endParaRPr lang="en-US" altLang="en-US" sz="2400" dirty="0"/>
          </a:p>
          <a:p>
            <a:pPr eaLnBrk="1" hangingPunct="1"/>
            <a:r>
              <a:rPr lang="en-US" altLang="en-US" sz="2800" dirty="0"/>
              <a:t>RAID 5:</a:t>
            </a:r>
          </a:p>
          <a:p>
            <a:pPr lvl="1" eaLnBrk="1" hangingPunct="1"/>
            <a:r>
              <a:rPr lang="en-US" altLang="en-US" sz="2400" dirty="0"/>
              <a:t>Distributed block-interleaved parity</a:t>
            </a:r>
          </a:p>
        </p:txBody>
      </p:sp>
      <p:sp>
        <p:nvSpPr>
          <p:cNvPr id="12292" name="Slide Number Placeholder 5">
            <a:extLst>
              <a:ext uri="{FF2B5EF4-FFF2-40B4-BE49-F238E27FC236}">
                <a16:creationId xmlns:a16="http://schemas.microsoft.com/office/drawing/2014/main" id="{31DA0A1B-FFC3-4DE9-A616-EF1B18B37FE4}"/>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7C08B7C0-1CE5-4DD9-888F-EA78432257BA}" type="slidenum">
              <a:rPr lang="en-US" altLang="en-US" sz="1400"/>
              <a:pPr lvl="1" eaLnBrk="1" hangingPunct="1">
                <a:spcBef>
                  <a:spcPct val="0"/>
                </a:spcBef>
                <a:buFontTx/>
                <a:buNone/>
              </a:pPr>
              <a:t>28</a:t>
            </a:fld>
            <a:endParaRPr lang="en-US" altLang="en-US" sz="140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6D660D7B-9559-4AB0-B419-F520415886E5}"/>
              </a:ext>
            </a:extLst>
          </p:cNvPr>
          <p:cNvGraphicFramePr>
            <a:graphicFrameLocks noGrp="1"/>
          </p:cNvGraphicFramePr>
          <p:nvPr>
            <p:custDataLst>
              <p:tags r:id="rId5"/>
            </p:custDataLst>
            <p:extLst>
              <p:ext uri="{D42A27DB-BD31-4B8C-83A1-F6EECF244321}">
                <p14:modId xmlns:p14="http://schemas.microsoft.com/office/powerpoint/2010/main" val="3059627886"/>
              </p:ext>
            </p:extLst>
          </p:nvPr>
        </p:nvGraphicFramePr>
        <p:xfrm>
          <a:off x="5105400" y="1524000"/>
          <a:ext cx="3810000" cy="1524000"/>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1233007564"/>
                    </a:ext>
                  </a:extLst>
                </a:gridCol>
                <a:gridCol w="952500">
                  <a:extLst>
                    <a:ext uri="{9D8B030D-6E8A-4147-A177-3AD203B41FA5}">
                      <a16:colId xmlns:a16="http://schemas.microsoft.com/office/drawing/2014/main" val="1069282468"/>
                    </a:ext>
                  </a:extLst>
                </a:gridCol>
                <a:gridCol w="952500">
                  <a:extLst>
                    <a:ext uri="{9D8B030D-6E8A-4147-A177-3AD203B41FA5}">
                      <a16:colId xmlns:a16="http://schemas.microsoft.com/office/drawing/2014/main" val="1928048935"/>
                    </a:ext>
                  </a:extLst>
                </a:gridCol>
                <a:gridCol w="952500">
                  <a:extLst>
                    <a:ext uri="{9D8B030D-6E8A-4147-A177-3AD203B41FA5}">
                      <a16:colId xmlns:a16="http://schemas.microsoft.com/office/drawing/2014/main" val="1614887600"/>
                    </a:ext>
                  </a:extLst>
                </a:gridCol>
              </a:tblGrid>
              <a:tr h="274320">
                <a:tc>
                  <a:txBody>
                    <a:bodyPr/>
                    <a:lstStyle/>
                    <a:p>
                      <a:pPr algn="ctr"/>
                      <a:r>
                        <a:rPr lang="en-US" sz="1400" b="1" dirty="0"/>
                        <a:t>disk0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2630685"/>
                  </a:ext>
                </a:extLst>
              </a:tr>
              <a:tr h="274320">
                <a:tc>
                  <a:txBody>
                    <a:bodyPr/>
                    <a:lstStyle/>
                    <a:p>
                      <a:pPr algn="ctr"/>
                      <a:r>
                        <a:rPr lang="en-US" sz="1400"/>
                        <a:t>block0</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block2</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971326"/>
                  </a:ext>
                </a:extLst>
              </a:tr>
              <a:tr h="274320">
                <a:tc>
                  <a:txBody>
                    <a:bodyPr/>
                    <a:lstStyle/>
                    <a:p>
                      <a:pPr algn="ctr"/>
                      <a:r>
                        <a:rPr lang="en-US" sz="1400"/>
                        <a:t>block3</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block4</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block5</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1689340"/>
                  </a:ext>
                </a:extLst>
              </a:tr>
              <a:tr h="274320">
                <a:tc>
                  <a:txBody>
                    <a:bodyPr/>
                    <a:lstStyle/>
                    <a:p>
                      <a:pPr algn="ctr"/>
                      <a:r>
                        <a:rPr lang="en-US" sz="1400"/>
                        <a:t>block6</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block7</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block8</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2711251"/>
                  </a:ext>
                </a:extLst>
              </a:tr>
              <a:tr h="274320">
                <a:tc>
                  <a:txBody>
                    <a:bodyPr/>
                    <a:lstStyle/>
                    <a:p>
                      <a:pPr algn="ctr"/>
                      <a:r>
                        <a:rPr lang="en-US" sz="1400"/>
                        <a:t>block9</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block10</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parity9-11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3790631"/>
                  </a:ext>
                </a:extLst>
              </a:tr>
            </a:tbl>
          </a:graphicData>
        </a:graphic>
      </p:graphicFrame>
      <p:graphicFrame>
        <p:nvGraphicFramePr>
          <p:cNvPr id="7" name="Table 6">
            <a:extLst>
              <a:ext uri="{FF2B5EF4-FFF2-40B4-BE49-F238E27FC236}">
                <a16:creationId xmlns:a16="http://schemas.microsoft.com/office/drawing/2014/main" id="{5C79DFBF-21DB-4729-B6C1-3484AF56EBDD}"/>
              </a:ext>
            </a:extLst>
          </p:cNvPr>
          <p:cNvGraphicFramePr>
            <a:graphicFrameLocks noGrp="1"/>
          </p:cNvGraphicFramePr>
          <p:nvPr>
            <p:custDataLst>
              <p:tags r:id="rId6"/>
            </p:custDataLst>
            <p:extLst>
              <p:ext uri="{D42A27DB-BD31-4B8C-83A1-F6EECF244321}">
                <p14:modId xmlns:p14="http://schemas.microsoft.com/office/powerpoint/2010/main" val="1858568308"/>
              </p:ext>
            </p:extLst>
          </p:nvPr>
        </p:nvGraphicFramePr>
        <p:xfrm>
          <a:off x="5105400" y="3429000"/>
          <a:ext cx="3810000" cy="1524000"/>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1233007564"/>
                    </a:ext>
                  </a:extLst>
                </a:gridCol>
                <a:gridCol w="952500">
                  <a:extLst>
                    <a:ext uri="{9D8B030D-6E8A-4147-A177-3AD203B41FA5}">
                      <a16:colId xmlns:a16="http://schemas.microsoft.com/office/drawing/2014/main" val="1069282468"/>
                    </a:ext>
                  </a:extLst>
                </a:gridCol>
                <a:gridCol w="952500">
                  <a:extLst>
                    <a:ext uri="{9D8B030D-6E8A-4147-A177-3AD203B41FA5}">
                      <a16:colId xmlns:a16="http://schemas.microsoft.com/office/drawing/2014/main" val="1928048935"/>
                    </a:ext>
                  </a:extLst>
                </a:gridCol>
                <a:gridCol w="952500">
                  <a:extLst>
                    <a:ext uri="{9D8B030D-6E8A-4147-A177-3AD203B41FA5}">
                      <a16:colId xmlns:a16="http://schemas.microsoft.com/office/drawing/2014/main" val="1614887600"/>
                    </a:ext>
                  </a:extLst>
                </a:gridCol>
              </a:tblGrid>
              <a:tr h="274320">
                <a:tc>
                  <a:txBody>
                    <a:bodyPr/>
                    <a:lstStyle/>
                    <a:p>
                      <a:pPr algn="ctr"/>
                      <a:r>
                        <a:rPr lang="en-US" sz="1400" b="1" dirty="0"/>
                        <a:t>disk0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b="1" dirty="0"/>
                        <a:t>disk3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2630685"/>
                  </a:ext>
                </a:extLst>
              </a:tr>
              <a:tr h="274320">
                <a:tc>
                  <a:txBody>
                    <a:bodyPr/>
                    <a:lstStyle/>
                    <a:p>
                      <a:pPr algn="ctr"/>
                      <a:r>
                        <a:rPr lang="en-US" sz="1400"/>
                        <a:t>block0</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block2</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81971326"/>
                  </a:ext>
                </a:extLst>
              </a:tr>
              <a:tr h="274320">
                <a:tc>
                  <a:txBody>
                    <a:bodyPr/>
                    <a:lstStyle/>
                    <a:p>
                      <a:pPr algn="ctr"/>
                      <a:r>
                        <a:rPr lang="en-US" sz="1400"/>
                        <a:t>block3</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a:t>block4</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1689340"/>
                  </a:ext>
                </a:extLst>
              </a:tr>
              <a:tr h="274320">
                <a:tc>
                  <a:txBody>
                    <a:bodyPr/>
                    <a:lstStyle/>
                    <a:p>
                      <a:pPr algn="ctr"/>
                      <a:r>
                        <a:rPr lang="en-US" sz="1400"/>
                        <a:t>block6</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parity6-8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2711251"/>
                  </a:ext>
                </a:extLst>
              </a:tr>
              <a:tr h="274320">
                <a:tc>
                  <a:txBody>
                    <a:bodyPr/>
                    <a:lstStyle/>
                    <a:p>
                      <a:pPr algn="ctr"/>
                      <a:r>
                        <a:rPr lang="en-US" sz="1400" dirty="0"/>
                        <a:t>parity9-11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400" dirty="0"/>
                        <a:t>block11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3790631"/>
                  </a:ext>
                </a:extLst>
              </a:tr>
            </a:tbl>
          </a:graphicData>
        </a:graphic>
      </p:graphicFrame>
    </p:spTree>
    <p:custDataLst>
      <p:tags r:id="rId1"/>
    </p:custDataLst>
    <p:extLst>
      <p:ext uri="{BB962C8B-B14F-4D97-AF65-F5344CB8AC3E}">
        <p14:creationId xmlns:p14="http://schemas.microsoft.com/office/powerpoint/2010/main" val="277714759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err="1"/>
              <a:t>Input/Output</a:t>
            </a:r>
            <a:endParaRPr lang="en-US" altLang="en-US" dirty="0"/>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1724074"/>
          </a:xfrm>
        </p:spPr>
        <p:txBody>
          <a:bodyPr/>
          <a:lstStyle/>
          <a:p>
            <a:pPr eaLnBrk="1" hangingPunct="1"/>
            <a:r>
              <a:rPr lang="en-US" altLang="en-US" dirty="0"/>
              <a:t>How to communicate from host processor to I/O device?</a:t>
            </a:r>
          </a:p>
          <a:p>
            <a:pPr lvl="1" eaLnBrk="1" hangingPunct="1"/>
            <a:r>
              <a:rPr lang="en-US" altLang="en-US" dirty="0"/>
              <a:t>Memory-mapped I/O vs. ISA commands for I/O</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29</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DE7C55BC-4A00-4993-9F91-79C061912E56}"/>
              </a:ext>
            </a:extLst>
          </p:cNvPr>
          <p:cNvGraphicFramePr>
            <a:graphicFrameLocks noGrp="1"/>
          </p:cNvGraphicFramePr>
          <p:nvPr>
            <p:custDataLst>
              <p:tags r:id="rId5"/>
            </p:custDataLst>
          </p:nvPr>
        </p:nvGraphicFramePr>
        <p:xfrm>
          <a:off x="1905000" y="3600319"/>
          <a:ext cx="1066800" cy="316992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8133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433659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470400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02126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3130666"/>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49861053"/>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06719529"/>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5467689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349321"/>
                  </a:ext>
                </a:extLst>
              </a:tr>
            </a:tbl>
          </a:graphicData>
        </a:graphic>
      </p:graphicFrame>
      <p:sp>
        <p:nvSpPr>
          <p:cNvPr id="6" name="TextBox 5">
            <a:extLst>
              <a:ext uri="{FF2B5EF4-FFF2-40B4-BE49-F238E27FC236}">
                <a16:creationId xmlns:a16="http://schemas.microsoft.com/office/drawing/2014/main" id="{DC6976FF-1374-4041-93CE-7D77780AE118}"/>
              </a:ext>
            </a:extLst>
          </p:cNvPr>
          <p:cNvSpPr txBox="1"/>
          <p:nvPr>
            <p:custDataLst>
              <p:tags r:id="rId6"/>
            </p:custDataLst>
          </p:nvPr>
        </p:nvSpPr>
        <p:spPr>
          <a:xfrm>
            <a:off x="914400" y="3276600"/>
            <a:ext cx="30099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virtual address space</a:t>
            </a:r>
          </a:p>
        </p:txBody>
      </p:sp>
      <p:sp>
        <p:nvSpPr>
          <p:cNvPr id="7" name="TextBox 6">
            <a:extLst>
              <a:ext uri="{FF2B5EF4-FFF2-40B4-BE49-F238E27FC236}">
                <a16:creationId xmlns:a16="http://schemas.microsoft.com/office/drawing/2014/main" id="{61E617E7-4114-40C4-AEFC-99BD42DF13E4}"/>
              </a:ext>
            </a:extLst>
          </p:cNvPr>
          <p:cNvSpPr txBox="1"/>
          <p:nvPr>
            <p:custDataLst>
              <p:tags r:id="rId7"/>
            </p:custDataLst>
          </p:nvPr>
        </p:nvSpPr>
        <p:spPr>
          <a:xfrm>
            <a:off x="-38100" y="4428780"/>
            <a:ext cx="20193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memory-mapped I/O register</a:t>
            </a:r>
          </a:p>
        </p:txBody>
      </p:sp>
      <p:cxnSp>
        <p:nvCxnSpPr>
          <p:cNvPr id="8" name="Straight Connector 7">
            <a:extLst>
              <a:ext uri="{FF2B5EF4-FFF2-40B4-BE49-F238E27FC236}">
                <a16:creationId xmlns:a16="http://schemas.microsoft.com/office/drawing/2014/main" id="{8A77F5AB-1F57-4612-AF9C-263F755974DB}"/>
              </a:ext>
            </a:extLst>
          </p:cNvPr>
          <p:cNvCxnSpPr>
            <a:cxnSpLocks/>
          </p:cNvCxnSpPr>
          <p:nvPr/>
        </p:nvCxnSpPr>
        <p:spPr>
          <a:xfrm flipH="1">
            <a:off x="1447800" y="4064389"/>
            <a:ext cx="514351" cy="36439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B9FE36D-FD82-4A92-AA8C-0E2DE1DE65D9}"/>
              </a:ext>
            </a:extLst>
          </p:cNvPr>
          <p:cNvPicPr>
            <a:picLocks noChangeAspect="1"/>
          </p:cNvPicPr>
          <p:nvPr/>
        </p:nvPicPr>
        <p:blipFill>
          <a:blip r:embed="rId12"/>
          <a:stretch>
            <a:fillRect/>
          </a:stretch>
        </p:blipFill>
        <p:spPr>
          <a:xfrm>
            <a:off x="5469346" y="3548103"/>
            <a:ext cx="1941376" cy="2928897"/>
          </a:xfrm>
          <a:prstGeom prst="rect">
            <a:avLst/>
          </a:prstGeom>
        </p:spPr>
      </p:pic>
      <p:sp>
        <p:nvSpPr>
          <p:cNvPr id="11" name="TextBox 10">
            <a:extLst>
              <a:ext uri="{FF2B5EF4-FFF2-40B4-BE49-F238E27FC236}">
                <a16:creationId xmlns:a16="http://schemas.microsoft.com/office/drawing/2014/main" id="{2C58338C-11F5-46BF-96A9-42E2C5521BCE}"/>
              </a:ext>
            </a:extLst>
          </p:cNvPr>
          <p:cNvSpPr txBox="1"/>
          <p:nvPr>
            <p:custDataLst>
              <p:tags r:id="rId8"/>
            </p:custDataLst>
          </p:nvPr>
        </p:nvSpPr>
        <p:spPr>
          <a:xfrm>
            <a:off x="4914900" y="3277491"/>
            <a:ext cx="30099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instruction set</a:t>
            </a:r>
          </a:p>
        </p:txBody>
      </p:sp>
      <p:sp>
        <p:nvSpPr>
          <p:cNvPr id="12" name="TextBox 11">
            <a:extLst>
              <a:ext uri="{FF2B5EF4-FFF2-40B4-BE49-F238E27FC236}">
                <a16:creationId xmlns:a16="http://schemas.microsoft.com/office/drawing/2014/main" id="{9CA0E96C-A6E6-45BE-BEC4-7996492A0A9B}"/>
              </a:ext>
            </a:extLst>
          </p:cNvPr>
          <p:cNvSpPr txBox="1"/>
          <p:nvPr>
            <p:custDataLst>
              <p:tags r:id="rId9"/>
            </p:custDataLst>
          </p:nvPr>
        </p:nvSpPr>
        <p:spPr>
          <a:xfrm>
            <a:off x="5181600" y="6400800"/>
            <a:ext cx="2590800" cy="28382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read/write I/O register</a:t>
            </a:r>
          </a:p>
        </p:txBody>
      </p:sp>
    </p:spTree>
    <p:custDataLst>
      <p:tags r:id="rId1"/>
    </p:custDataLst>
    <p:extLst>
      <p:ext uri="{BB962C8B-B14F-4D97-AF65-F5344CB8AC3E}">
        <p14:creationId xmlns:p14="http://schemas.microsoft.com/office/powerpoint/2010/main" val="79969628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Input/Output</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1724074"/>
          </a:xfrm>
        </p:spPr>
        <p:txBody>
          <a:bodyPr/>
          <a:lstStyle/>
          <a:p>
            <a:pPr eaLnBrk="1" hangingPunct="1"/>
            <a:r>
              <a:rPr lang="en-US" altLang="en-US" dirty="0"/>
              <a:t>How to communicate from I/O device to host processor?</a:t>
            </a:r>
          </a:p>
          <a:p>
            <a:pPr lvl="1" eaLnBrk="1" hangingPunct="1"/>
            <a:r>
              <a:rPr lang="en-US" altLang="en-US" dirty="0"/>
              <a:t>Polling vs. interrupts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30</a:t>
            </a:fld>
            <a:endParaRPr lang="en-US" altLang="en-US" sz="1400">
              <a:latin typeface="Times New Roman" panose="02020603050405020304" pitchFamily="18" charset="0"/>
            </a:endParaRPr>
          </a:p>
        </p:txBody>
      </p:sp>
      <p:grpSp>
        <p:nvGrpSpPr>
          <p:cNvPr id="2" name="Group 1">
            <a:extLst>
              <a:ext uri="{FF2B5EF4-FFF2-40B4-BE49-F238E27FC236}">
                <a16:creationId xmlns:a16="http://schemas.microsoft.com/office/drawing/2014/main" id="{F75AC7C3-CD2A-4890-BE87-A0932B69D86E}"/>
              </a:ext>
            </a:extLst>
          </p:cNvPr>
          <p:cNvGrpSpPr/>
          <p:nvPr>
            <p:custDataLst>
              <p:tags r:id="rId5"/>
            </p:custDataLst>
          </p:nvPr>
        </p:nvGrpSpPr>
        <p:grpSpPr>
          <a:xfrm>
            <a:off x="152400" y="3276600"/>
            <a:ext cx="8077200" cy="3200400"/>
            <a:chOff x="152400" y="1428317"/>
            <a:chExt cx="8077200" cy="5048683"/>
          </a:xfrm>
        </p:grpSpPr>
        <p:cxnSp>
          <p:nvCxnSpPr>
            <p:cNvPr id="13" name="Straight Connector 12">
              <a:extLst>
                <a:ext uri="{FF2B5EF4-FFF2-40B4-BE49-F238E27FC236}">
                  <a16:creationId xmlns:a16="http://schemas.microsoft.com/office/drawing/2014/main" id="{98C3DB3D-D84A-43D9-B35E-73319131DBA8}"/>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D4D436-F855-44D5-B431-607D5CB60933}"/>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4B3EAB-0D9E-4B08-B855-9E95ADEB6116}"/>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6EABF0F-F93B-4C73-8E8C-3F8961330D24}"/>
                </a:ext>
              </a:extLst>
            </p:cNvPr>
            <p:cNvCxnSpPr>
              <a:cxnSpLocks/>
            </p:cNvCxnSpPr>
            <p:nvPr/>
          </p:nvCxnSpPr>
          <p:spPr>
            <a:xfrm rot="5400000">
              <a:off x="4462700" y="5669280"/>
              <a:ext cx="18288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1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2B982F6-39ED-4D34-95DE-1CA4945C04E2}"/>
                </a:ext>
              </a:extLst>
            </p:cNvPr>
            <p:cNvPicPr>
              <a:picLocks noChangeAspect="1" noChangeArrowheads="1"/>
            </p:cNvPicPr>
            <p:nvPr/>
          </p:nvPicPr>
          <p:blipFill>
            <a:blip r:embed="rId19">
              <a:alphaModFix amt="15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5D40ED1E-B58A-43D9-A268-CC7CCC888A16}"/>
                </a:ext>
              </a:extLst>
            </p:cNvPr>
            <p:cNvSpPr/>
            <p:nvPr>
              <p:custDataLst>
                <p:tags r:id="rId10"/>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9" name="Rectangle 18">
              <a:extLst>
                <a:ext uri="{FF2B5EF4-FFF2-40B4-BE49-F238E27FC236}">
                  <a16:creationId xmlns:a16="http://schemas.microsoft.com/office/drawing/2014/main" id="{6DDF1669-FFA3-48DE-B79F-CD0265DC16DD}"/>
                </a:ext>
              </a:extLst>
            </p:cNvPr>
            <p:cNvSpPr/>
            <p:nvPr>
              <p:custDataLst>
                <p:tags r:id="rId11"/>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20" name="Straight Connector 19">
              <a:extLst>
                <a:ext uri="{FF2B5EF4-FFF2-40B4-BE49-F238E27FC236}">
                  <a16:creationId xmlns:a16="http://schemas.microsoft.com/office/drawing/2014/main" id="{E38CF22E-8A70-455D-825C-43E7BA4C3915}"/>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719428-965A-4260-85E8-3A9FFE77A6AF}"/>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745C3C-D9AE-4F3B-8944-41AED6B65F5C}"/>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A3C5D2-211D-4B3E-AA48-0CDCD678EFF1}"/>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4DDCEF7-49FA-4F1A-B3B2-CF28BF4DE724}"/>
                </a:ext>
              </a:extLst>
            </p:cNvPr>
            <p:cNvSpPr/>
            <p:nvPr>
              <p:custDataLst>
                <p:tags r:id="rId12"/>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25" name="Rectangle 24">
              <a:extLst>
                <a:ext uri="{FF2B5EF4-FFF2-40B4-BE49-F238E27FC236}">
                  <a16:creationId xmlns:a16="http://schemas.microsoft.com/office/drawing/2014/main" id="{AB779A8D-982C-44E0-9D4C-06CD8B7FB16B}"/>
                </a:ext>
              </a:extLst>
            </p:cNvPr>
            <p:cNvSpPr/>
            <p:nvPr>
              <p:custDataLst>
                <p:tags r:id="rId13"/>
              </p:custDataLst>
            </p:nvPr>
          </p:nvSpPr>
          <p:spPr>
            <a:xfrm>
              <a:off x="152400" y="5943600"/>
              <a:ext cx="449580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26" name="Straight Connector 25">
              <a:extLst>
                <a:ext uri="{FF2B5EF4-FFF2-40B4-BE49-F238E27FC236}">
                  <a16:creationId xmlns:a16="http://schemas.microsoft.com/office/drawing/2014/main" id="{58E1BC95-34DC-497D-80BA-7F9EFFC1CC59}"/>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9AA393B-10D3-498C-900C-8FFACD876337}"/>
                </a:ext>
              </a:extLst>
            </p:cNvPr>
            <p:cNvCxnSpPr/>
            <p:nvPr/>
          </p:nvCxnSpPr>
          <p:spPr>
            <a:xfrm>
              <a:off x="2555080" y="5772222"/>
              <a:ext cx="530352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06A05B7-EBDF-4FA9-BD70-12C8655A764B}"/>
                </a:ext>
              </a:extLst>
            </p:cNvPr>
            <p:cNvCxnSpPr>
              <a:cxnSpLocks/>
            </p:cNvCxnSpPr>
            <p:nvPr/>
          </p:nvCxnSpPr>
          <p:spPr>
            <a:xfrm rot="5400000">
              <a:off x="2478017" y="5852160"/>
              <a:ext cx="18288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2F0F86-1BD5-4BCE-A644-D618CEDDEE3F}"/>
                </a:ext>
              </a:extLst>
            </p:cNvPr>
            <p:cNvCxnSpPr>
              <a:cxnSpLocks/>
            </p:cNvCxnSpPr>
            <p:nvPr/>
          </p:nvCxnSpPr>
          <p:spPr>
            <a:xfrm rot="5400000">
              <a:off x="5471160" y="5852160"/>
              <a:ext cx="18288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52F3699-5B4D-4CA6-B8A6-571C39861A4D}"/>
                </a:ext>
              </a:extLst>
            </p:cNvPr>
            <p:cNvCxnSpPr>
              <a:cxnSpLocks/>
            </p:cNvCxnSpPr>
            <p:nvPr/>
          </p:nvCxnSpPr>
          <p:spPr>
            <a:xfrm rot="5400000">
              <a:off x="7757159" y="5852160"/>
              <a:ext cx="18288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043EF599-7595-4FDC-AC5A-68A03EB19262}"/>
                </a:ext>
              </a:extLst>
            </p:cNvPr>
            <p:cNvSpPr/>
            <p:nvPr>
              <p:custDataLst>
                <p:tags r:id="rId14"/>
              </p:custDataLst>
            </p:nvPr>
          </p:nvSpPr>
          <p:spPr>
            <a:xfrm>
              <a:off x="5181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32" name="Rectangle 31">
              <a:extLst>
                <a:ext uri="{FF2B5EF4-FFF2-40B4-BE49-F238E27FC236}">
                  <a16:creationId xmlns:a16="http://schemas.microsoft.com/office/drawing/2014/main" id="{D1C49041-654F-43BE-80B9-8A0EE4382B43}"/>
                </a:ext>
              </a:extLst>
            </p:cNvPr>
            <p:cNvSpPr/>
            <p:nvPr>
              <p:custDataLst>
                <p:tags r:id="rId15"/>
              </p:custDataLst>
            </p:nvPr>
          </p:nvSpPr>
          <p:spPr>
            <a:xfrm>
              <a:off x="6324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33" name="Rectangle 32">
              <a:extLst>
                <a:ext uri="{FF2B5EF4-FFF2-40B4-BE49-F238E27FC236}">
                  <a16:creationId xmlns:a16="http://schemas.microsoft.com/office/drawing/2014/main" id="{49F9219A-9D9B-48E6-AECF-467E9F33EEAD}"/>
                </a:ext>
              </a:extLst>
            </p:cNvPr>
            <p:cNvSpPr/>
            <p:nvPr>
              <p:custDataLst>
                <p:tags r:id="rId16"/>
              </p:custDataLst>
            </p:nvPr>
          </p:nvSpPr>
          <p:spPr>
            <a:xfrm>
              <a:off x="7467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cxnSp>
          <p:nvCxnSpPr>
            <p:cNvPr id="34" name="Straight Connector 33">
              <a:extLst>
                <a:ext uri="{FF2B5EF4-FFF2-40B4-BE49-F238E27FC236}">
                  <a16:creationId xmlns:a16="http://schemas.microsoft.com/office/drawing/2014/main" id="{DD2798C9-9041-458E-868E-1FB3FFFC098D}"/>
                </a:ext>
              </a:extLst>
            </p:cNvPr>
            <p:cNvCxnSpPr>
              <a:cxnSpLocks/>
            </p:cNvCxnSpPr>
            <p:nvPr/>
          </p:nvCxnSpPr>
          <p:spPr>
            <a:xfrm rot="5400000">
              <a:off x="6614160" y="5852160"/>
              <a:ext cx="18288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sp>
        <p:nvSpPr>
          <p:cNvPr id="35" name="Arrow: Circular 34">
            <a:extLst>
              <a:ext uri="{FF2B5EF4-FFF2-40B4-BE49-F238E27FC236}">
                <a16:creationId xmlns:a16="http://schemas.microsoft.com/office/drawing/2014/main" id="{A9B49A05-AF64-448D-9AC2-4CCB9B5B026F}"/>
              </a:ext>
            </a:extLst>
          </p:cNvPr>
          <p:cNvSpPr/>
          <p:nvPr>
            <p:custDataLst>
              <p:tags r:id="rId6"/>
            </p:custDataLst>
          </p:nvPr>
        </p:nvSpPr>
        <p:spPr>
          <a:xfrm flipH="1">
            <a:off x="4130626" y="3492087"/>
            <a:ext cx="833887" cy="1036447"/>
          </a:xfrm>
          <a:prstGeom prst="circular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Arrow: Circular 35">
            <a:extLst>
              <a:ext uri="{FF2B5EF4-FFF2-40B4-BE49-F238E27FC236}">
                <a16:creationId xmlns:a16="http://schemas.microsoft.com/office/drawing/2014/main" id="{CBEF3E4D-F73D-48A4-8A14-3BD42EECC1D7}"/>
              </a:ext>
            </a:extLst>
          </p:cNvPr>
          <p:cNvSpPr/>
          <p:nvPr>
            <p:custDataLst>
              <p:tags r:id="rId7"/>
            </p:custDataLst>
          </p:nvPr>
        </p:nvSpPr>
        <p:spPr>
          <a:xfrm rot="10800000" flipH="1">
            <a:off x="4130625" y="3695640"/>
            <a:ext cx="833887" cy="1036447"/>
          </a:xfrm>
          <a:prstGeom prst="circular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TextBox 37">
            <a:extLst>
              <a:ext uri="{FF2B5EF4-FFF2-40B4-BE49-F238E27FC236}">
                <a16:creationId xmlns:a16="http://schemas.microsoft.com/office/drawing/2014/main" id="{4ED52F9F-64F2-419F-8CDA-3BC08F055B2F}"/>
              </a:ext>
            </a:extLst>
          </p:cNvPr>
          <p:cNvSpPr txBox="1"/>
          <p:nvPr>
            <p:custDataLst>
              <p:tags r:id="rId8"/>
            </p:custDataLst>
          </p:nvPr>
        </p:nvSpPr>
        <p:spPr>
          <a:xfrm>
            <a:off x="3200400" y="3875257"/>
            <a:ext cx="2607555"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poll (read) I/O register</a:t>
            </a:r>
          </a:p>
        </p:txBody>
      </p:sp>
      <p:cxnSp>
        <p:nvCxnSpPr>
          <p:cNvPr id="39" name="Straight Arrow Connector 38">
            <a:extLst>
              <a:ext uri="{FF2B5EF4-FFF2-40B4-BE49-F238E27FC236}">
                <a16:creationId xmlns:a16="http://schemas.microsoft.com/office/drawing/2014/main" id="{27CD1C08-6E9A-4FFD-864B-A11009AB2EC6}"/>
              </a:ext>
            </a:extLst>
          </p:cNvPr>
          <p:cNvCxnSpPr/>
          <p:nvPr/>
        </p:nvCxnSpPr>
        <p:spPr>
          <a:xfrm flipV="1">
            <a:off x="6673807" y="5825271"/>
            <a:ext cx="0" cy="313603"/>
          </a:xfrm>
          <a:prstGeom prst="straightConnector1">
            <a:avLst/>
          </a:prstGeom>
          <a:ln w="508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9194C03-7944-4997-B3FD-D3E2A6F144D6}"/>
              </a:ext>
            </a:extLst>
          </p:cNvPr>
          <p:cNvSpPr txBox="1"/>
          <p:nvPr>
            <p:custDataLst>
              <p:tags r:id="rId9"/>
            </p:custDataLst>
          </p:nvPr>
        </p:nvSpPr>
        <p:spPr>
          <a:xfrm>
            <a:off x="6663743" y="5480121"/>
            <a:ext cx="230504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interrupt processor</a:t>
            </a:r>
          </a:p>
          <a:p>
            <a:pPr algn="ctr"/>
            <a:r>
              <a:rPr lang="en-US" sz="1800" b="1" dirty="0">
                <a:solidFill>
                  <a:schemeClr val="accent6">
                    <a:lumMod val="75000"/>
                  </a:schemeClr>
                </a:solidFill>
                <a:latin typeface="+mn-lt"/>
              </a:rPr>
              <a:t>(similar to exceptions)</a:t>
            </a:r>
          </a:p>
        </p:txBody>
      </p:sp>
    </p:spTree>
    <p:custDataLst>
      <p:tags r:id="rId1"/>
    </p:custDataLst>
    <p:extLst>
      <p:ext uri="{BB962C8B-B14F-4D97-AF65-F5344CB8AC3E}">
        <p14:creationId xmlns:p14="http://schemas.microsoft.com/office/powerpoint/2010/main" val="312176438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1FDED06-8808-4E0C-B95A-46E1348FCB9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Buses</a:t>
            </a:r>
          </a:p>
        </p:txBody>
      </p:sp>
      <p:sp>
        <p:nvSpPr>
          <p:cNvPr id="15364" name="Slide Number Placeholder 5">
            <a:extLst>
              <a:ext uri="{FF2B5EF4-FFF2-40B4-BE49-F238E27FC236}">
                <a16:creationId xmlns:a16="http://schemas.microsoft.com/office/drawing/2014/main" id="{1E715AA6-7F4E-4EFF-858F-B696EDF3196A}"/>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8D12BA66-9E17-4468-A496-7A86409E858D}" type="slidenum">
              <a:rPr lang="en-US" altLang="en-US" sz="1400"/>
              <a:pPr lvl="1" eaLnBrk="1" hangingPunct="1">
                <a:spcBef>
                  <a:spcPct val="0"/>
                </a:spcBef>
                <a:buFontTx/>
                <a:buNone/>
              </a:pPr>
              <a:t>31</a:t>
            </a:fld>
            <a:endParaRPr lang="en-US" altLang="en-US" sz="1400">
              <a:latin typeface="Times New Roman" panose="02020603050405020304" pitchFamily="18" charset="0"/>
            </a:endParaRPr>
          </a:p>
        </p:txBody>
      </p:sp>
      <p:pic>
        <p:nvPicPr>
          <p:cNvPr id="8" name="Picture 5" descr="f0809">
            <a:extLst>
              <a:ext uri="{FF2B5EF4-FFF2-40B4-BE49-F238E27FC236}">
                <a16:creationId xmlns:a16="http://schemas.microsoft.com/office/drawing/2014/main" id="{C281F819-367F-498A-A5DE-EAA6F676D0A6}"/>
              </a:ext>
            </a:extLst>
          </p:cNvPr>
          <p:cNvPicPr>
            <a:picLocks noChangeAspect="1" noChangeArrowheads="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1828800" y="1143000"/>
            <a:ext cx="4876800" cy="5657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77326203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1FDED06-8808-4E0C-B95A-46E1348FCB9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Buses</a:t>
            </a:r>
          </a:p>
        </p:txBody>
      </p:sp>
      <p:sp>
        <p:nvSpPr>
          <p:cNvPr id="15363" name="Rectangle 3">
            <a:extLst>
              <a:ext uri="{FF2B5EF4-FFF2-40B4-BE49-F238E27FC236}">
                <a16:creationId xmlns:a16="http://schemas.microsoft.com/office/drawing/2014/main" id="{74A6B20C-1F2A-49C1-A786-3BDD3E912A2B}"/>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Bunch of wires:</a:t>
            </a:r>
          </a:p>
          <a:p>
            <a:pPr lvl="1" eaLnBrk="1" hangingPunct="1"/>
            <a:r>
              <a:rPr lang="en-US" altLang="en-US" dirty="0"/>
              <a:t>Arbitration</a:t>
            </a:r>
          </a:p>
          <a:p>
            <a:pPr lvl="1" eaLnBrk="1" hangingPunct="1"/>
            <a:r>
              <a:rPr lang="en-US" altLang="en-US" dirty="0"/>
              <a:t>Control</a:t>
            </a:r>
          </a:p>
          <a:p>
            <a:pPr lvl="1" eaLnBrk="1" hangingPunct="1"/>
            <a:r>
              <a:rPr lang="en-US" altLang="en-US" dirty="0"/>
              <a:t>Data</a:t>
            </a:r>
          </a:p>
          <a:p>
            <a:pPr lvl="1" eaLnBrk="1" hangingPunct="1"/>
            <a:r>
              <a:rPr lang="en-US" altLang="en-US" dirty="0"/>
              <a:t>Address</a:t>
            </a:r>
          </a:p>
        </p:txBody>
      </p:sp>
      <p:sp>
        <p:nvSpPr>
          <p:cNvPr id="15364" name="Slide Number Placeholder 5">
            <a:extLst>
              <a:ext uri="{FF2B5EF4-FFF2-40B4-BE49-F238E27FC236}">
                <a16:creationId xmlns:a16="http://schemas.microsoft.com/office/drawing/2014/main" id="{1E715AA6-7F4E-4EFF-858F-B696EDF3196A}"/>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8D12BA66-9E17-4468-A496-7A86409E858D}" type="slidenum">
              <a:rPr lang="en-US" altLang="en-US" sz="1400"/>
              <a:pPr lvl="1" eaLnBrk="1" hangingPunct="1">
                <a:spcBef>
                  <a:spcPct val="0"/>
                </a:spcBef>
                <a:buFontTx/>
                <a:buNone/>
              </a:pPr>
              <a:t>32</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222876287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B2CD138-1DF4-47FA-A7F5-D82AE5F6177D}"/>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Buses</a:t>
            </a:r>
          </a:p>
        </p:txBody>
      </p:sp>
      <p:sp>
        <p:nvSpPr>
          <p:cNvPr id="17411" name="Rectangle 3">
            <a:extLst>
              <a:ext uri="{FF2B5EF4-FFF2-40B4-BE49-F238E27FC236}">
                <a16:creationId xmlns:a16="http://schemas.microsoft.com/office/drawing/2014/main" id="{F2917439-AD2C-4289-9827-45E11F166645}"/>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sz="2800" b="1" dirty="0"/>
              <a:t>Synchronous bus</a:t>
            </a:r>
            <a:r>
              <a:rPr lang="en-US" altLang="en-US" sz="2800" dirty="0"/>
              <a:t>: has clock</a:t>
            </a:r>
          </a:p>
          <a:p>
            <a:pPr lvl="1" eaLnBrk="1" hangingPunct="1"/>
            <a:r>
              <a:rPr lang="en-US" altLang="en-US" sz="2400" dirty="0"/>
              <a:t>Everyone watches clock and latches at appropriate phase</a:t>
            </a:r>
          </a:p>
          <a:p>
            <a:pPr lvl="1" eaLnBrk="1" hangingPunct="1"/>
            <a:r>
              <a:rPr lang="en-US" altLang="en-US" sz="2400" dirty="0"/>
              <a:t>Transactions take fixed or variable number of cycles</a:t>
            </a:r>
          </a:p>
          <a:p>
            <a:pPr lvl="1" eaLnBrk="1" hangingPunct="1"/>
            <a:r>
              <a:rPr lang="en-US" altLang="en-US" sz="2400" dirty="0"/>
              <a:t>Faster but clock limits bus length</a:t>
            </a:r>
          </a:p>
          <a:p>
            <a:pPr lvl="1" eaLnBrk="1" hangingPunct="1"/>
            <a:r>
              <a:rPr lang="en-US" altLang="en-US" sz="2400" dirty="0"/>
              <a:t>e.g., Processor-memory</a:t>
            </a:r>
          </a:p>
          <a:p>
            <a:pPr eaLnBrk="1" hangingPunct="1"/>
            <a:r>
              <a:rPr lang="en-US" altLang="en-US" sz="2800" b="1" dirty="0"/>
              <a:t>Asynchronous bus</a:t>
            </a:r>
            <a:r>
              <a:rPr lang="en-US" altLang="en-US" sz="2800" dirty="0"/>
              <a:t>: requires handshake</a:t>
            </a:r>
          </a:p>
          <a:p>
            <a:pPr lvl="1" eaLnBrk="1" hangingPunct="1"/>
            <a:r>
              <a:rPr lang="en-US" altLang="en-US" sz="2400" dirty="0"/>
              <a:t>More flexible</a:t>
            </a:r>
          </a:p>
          <a:p>
            <a:pPr lvl="1" eaLnBrk="1" hangingPunct="1"/>
            <a:r>
              <a:rPr lang="en-US" altLang="en-US" sz="2400" dirty="0"/>
              <a:t>e.g., I/O</a:t>
            </a:r>
          </a:p>
        </p:txBody>
      </p:sp>
      <p:sp>
        <p:nvSpPr>
          <p:cNvPr id="17412" name="Slide Number Placeholder 5">
            <a:extLst>
              <a:ext uri="{FF2B5EF4-FFF2-40B4-BE49-F238E27FC236}">
                <a16:creationId xmlns:a16="http://schemas.microsoft.com/office/drawing/2014/main" id="{3A9A66F8-C145-4B99-8FA0-DA7C44AF6FBA}"/>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E6E7DB8-F55F-415C-BA7C-E7EA845424E7}" type="slidenum">
              <a:rPr lang="en-US" altLang="en-US" sz="1400"/>
              <a:pPr lvl="1" eaLnBrk="1" hangingPunct="1">
                <a:spcBef>
                  <a:spcPct val="0"/>
                </a:spcBef>
                <a:buFontTx/>
                <a:buNone/>
              </a:pPr>
              <a:t>33</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41514371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56F89F-DF39-44FF-AAC9-4D06A99C731B}"/>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Buses – Asynchronous</a:t>
            </a:r>
          </a:p>
        </p:txBody>
      </p:sp>
      <p:sp>
        <p:nvSpPr>
          <p:cNvPr id="18435" name="Rectangle 3">
            <a:extLst>
              <a:ext uri="{FF2B5EF4-FFF2-40B4-BE49-F238E27FC236}">
                <a16:creationId xmlns:a16="http://schemas.microsoft.com/office/drawing/2014/main" id="{7F607332-C0AA-47FD-8F4A-AA79989DBE25}"/>
              </a:ext>
            </a:extLst>
          </p:cNvPr>
          <p:cNvSpPr>
            <a:spLocks noGrp="1" noChangeArrowheads="1"/>
          </p:cNvSpPr>
          <p:nvPr>
            <p:ph idx="1"/>
            <p:custDataLst>
              <p:tags r:id="rId3"/>
            </p:custDataLst>
          </p:nvPr>
        </p:nvSpPr>
        <p:spPr>
          <a:xfrm>
            <a:off x="304800" y="4343400"/>
            <a:ext cx="4041775" cy="2286000"/>
          </a:xfrm>
        </p:spPr>
        <p:txBody>
          <a:bodyPr/>
          <a:lstStyle/>
          <a:p>
            <a:pPr eaLnBrk="1" hangingPunct="1">
              <a:buFont typeface="Wingdings" panose="05000000000000000000" pitchFamily="2" charset="2"/>
              <a:buNone/>
            </a:pPr>
            <a:r>
              <a:rPr lang="en-US" altLang="en-US" sz="2800" dirty="0"/>
              <a:t>(1) Request sent</a:t>
            </a:r>
          </a:p>
          <a:p>
            <a:pPr eaLnBrk="1" hangingPunct="1">
              <a:buFont typeface="Wingdings" panose="05000000000000000000" pitchFamily="2" charset="2"/>
              <a:buNone/>
            </a:pPr>
            <a:r>
              <a:rPr lang="en-US" altLang="en-US" sz="2800" dirty="0"/>
              <a:t>(3) Request </a:t>
            </a:r>
            <a:r>
              <a:rPr lang="en-US" altLang="en-US" sz="2800" dirty="0" err="1"/>
              <a:t>deasserted</a:t>
            </a:r>
            <a:endParaRPr lang="en-US" altLang="en-US" sz="2800" dirty="0"/>
          </a:p>
          <a:p>
            <a:pPr eaLnBrk="1" hangingPunct="1">
              <a:buFont typeface="Wingdings" panose="05000000000000000000" pitchFamily="2" charset="2"/>
              <a:buNone/>
            </a:pPr>
            <a:endParaRPr lang="en-US" altLang="en-US" sz="2800" dirty="0"/>
          </a:p>
          <a:p>
            <a:pPr eaLnBrk="1" hangingPunct="1">
              <a:buFont typeface="Wingdings" panose="05000000000000000000" pitchFamily="2" charset="2"/>
              <a:buNone/>
            </a:pPr>
            <a:r>
              <a:rPr lang="en-US" altLang="en-US" sz="2800" dirty="0"/>
              <a:t>(6) Data response received</a:t>
            </a:r>
          </a:p>
        </p:txBody>
      </p:sp>
      <p:sp>
        <p:nvSpPr>
          <p:cNvPr id="18436" name="Slide Number Placeholder 5">
            <a:extLst>
              <a:ext uri="{FF2B5EF4-FFF2-40B4-BE49-F238E27FC236}">
                <a16:creationId xmlns:a16="http://schemas.microsoft.com/office/drawing/2014/main" id="{4DE3F8A6-B99B-4CDA-A09A-3EE2DD8EEE94}"/>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F0624A05-5410-4F51-B847-C7167AACE4ED}" type="slidenum">
              <a:rPr lang="en-US" altLang="en-US" sz="1400"/>
              <a:pPr lvl="1" eaLnBrk="1" hangingPunct="1">
                <a:spcBef>
                  <a:spcPct val="0"/>
                </a:spcBef>
                <a:buFontTx/>
                <a:buNone/>
              </a:pPr>
              <a:t>34</a:t>
            </a:fld>
            <a:endParaRPr lang="en-US" altLang="en-US" sz="1400">
              <a:latin typeface="Times New Roman" panose="02020603050405020304" pitchFamily="18" charset="0"/>
            </a:endParaRPr>
          </a:p>
        </p:txBody>
      </p:sp>
      <p:pic>
        <p:nvPicPr>
          <p:cNvPr id="18437" name="Picture 4" descr="f0810">
            <a:extLst>
              <a:ext uri="{FF2B5EF4-FFF2-40B4-BE49-F238E27FC236}">
                <a16:creationId xmlns:a16="http://schemas.microsoft.com/office/drawing/2014/main" id="{C94CD019-44D2-4B1D-B736-B12C0298A144}"/>
              </a:ext>
            </a:extLst>
          </p:cNvPr>
          <p:cNvPicPr>
            <a:picLocks noChangeAspect="1" noChangeArrowheads="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838200" y="1600200"/>
            <a:ext cx="754380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D08E50A-7247-4E17-8790-988DEECACE68}"/>
              </a:ext>
            </a:extLst>
          </p:cNvPr>
          <p:cNvSpPr txBox="1"/>
          <p:nvPr>
            <p:custDataLst>
              <p:tags r:id="rId6"/>
            </p:custDataLst>
          </p:nvPr>
        </p:nvSpPr>
        <p:spPr>
          <a:xfrm>
            <a:off x="381000" y="2286000"/>
            <a:ext cx="1351472" cy="315471"/>
          </a:xfrm>
          <a:prstGeom prst="rect">
            <a:avLst/>
          </a:prstGeom>
          <a:solidFill>
            <a:schemeClr val="bg1"/>
          </a:solidFill>
        </p:spPr>
        <p:txBody>
          <a:bodyPr wrap="square" rtlCol="0">
            <a:spAutoFit/>
          </a:bodyPr>
          <a:lstStyle/>
          <a:p>
            <a:pPr algn="r"/>
            <a:r>
              <a:rPr lang="en-US" sz="1450" dirty="0" err="1">
                <a:latin typeface="Arial" panose="020B0604020202020204" pitchFamily="34" charset="0"/>
                <a:cs typeface="Arial" panose="020B0604020202020204" pitchFamily="34" charset="0"/>
              </a:rPr>
              <a:t>Req</a:t>
            </a:r>
            <a:r>
              <a:rPr lang="en-US" sz="1450" dirty="0">
                <a:latin typeface="Arial" panose="020B0604020202020204" pitchFamily="34" charset="0"/>
                <a:cs typeface="Arial" panose="020B0604020202020204" pitchFamily="34" charset="0"/>
              </a:rPr>
              <a:t>/Data</a:t>
            </a:r>
          </a:p>
        </p:txBody>
      </p:sp>
      <p:sp>
        <p:nvSpPr>
          <p:cNvPr id="7" name="Rectangle 3">
            <a:extLst>
              <a:ext uri="{FF2B5EF4-FFF2-40B4-BE49-F238E27FC236}">
                <a16:creationId xmlns:a16="http://schemas.microsoft.com/office/drawing/2014/main" id="{EF786F92-0DFD-48E6-AF58-1CC6DA347094}"/>
              </a:ext>
            </a:extLst>
          </p:cNvPr>
          <p:cNvSpPr txBox="1">
            <a:spLocks noChangeArrowheads="1"/>
          </p:cNvSpPr>
          <p:nvPr>
            <p:custDataLst>
              <p:tags r:id="rId7"/>
            </p:custDataLst>
          </p:nvPr>
        </p:nvSpPr>
        <p:spPr bwMode="auto">
          <a:xfrm>
            <a:off x="4572000" y="4343400"/>
            <a:ext cx="4419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en-US" altLang="en-US" sz="2800" dirty="0"/>
              <a:t>(2) Request received</a:t>
            </a:r>
          </a:p>
          <a:p>
            <a:pPr eaLnBrk="1" hangingPunct="1">
              <a:buFont typeface="Wingdings" panose="05000000000000000000" pitchFamily="2" charset="2"/>
              <a:buNone/>
            </a:pPr>
            <a:r>
              <a:rPr lang="en-US" altLang="en-US" sz="2800" dirty="0"/>
              <a:t>(4) Ack </a:t>
            </a:r>
            <a:r>
              <a:rPr lang="en-US" altLang="en-US" sz="2800" dirty="0" err="1"/>
              <a:t>deasserted</a:t>
            </a:r>
            <a:endParaRPr lang="en-US" altLang="en-US" sz="2800" dirty="0"/>
          </a:p>
          <a:p>
            <a:pPr eaLnBrk="1" hangingPunct="1">
              <a:buFont typeface="Wingdings" panose="05000000000000000000" pitchFamily="2" charset="2"/>
              <a:buNone/>
            </a:pPr>
            <a:r>
              <a:rPr lang="en-US" altLang="en-US" sz="2800" dirty="0"/>
              <a:t>(5) Data response sent</a:t>
            </a:r>
          </a:p>
          <a:p>
            <a:pPr eaLnBrk="1" hangingPunct="1">
              <a:buFont typeface="Wingdings" panose="05000000000000000000" pitchFamily="2" charset="2"/>
              <a:buNone/>
            </a:pPr>
            <a:r>
              <a:rPr lang="en-US" altLang="en-US" sz="2800" dirty="0"/>
              <a:t>(7) Data response </a:t>
            </a:r>
            <a:r>
              <a:rPr lang="en-US" altLang="en-US" sz="2800" dirty="0" err="1"/>
              <a:t>deasserted</a:t>
            </a:r>
            <a:endParaRPr lang="en-US" altLang="en-US" sz="2800" dirty="0"/>
          </a:p>
        </p:txBody>
      </p:sp>
    </p:spTree>
    <p:custDataLst>
      <p:tags r:id="rId1"/>
    </p:custDataLst>
    <p:extLst>
      <p:ext uri="{BB962C8B-B14F-4D97-AF65-F5344CB8AC3E}">
        <p14:creationId xmlns:p14="http://schemas.microsoft.com/office/powerpoint/2010/main" val="43672799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3620362"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3620362"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err="1"/>
              <a:t>Input/Output</a:t>
            </a:r>
            <a:r>
              <a:rPr lang="en-US" altLang="en-US" dirty="0"/>
              <a:t> – Caches</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35</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155803"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524000" y="5943600"/>
            <a:ext cx="449580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0" y="4724400"/>
            <a:ext cx="6355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D09954-BC83-4116-92CA-3047E6FBB89C}"/>
              </a:ext>
            </a:extLst>
          </p:cNvPr>
          <p:cNvCxnSpPr>
            <a:cxnSpLocks/>
          </p:cNvCxnSpPr>
          <p:nvPr/>
        </p:nvCxnSpPr>
        <p:spPr>
          <a:xfrm rot="5400000">
            <a:off x="6111240" y="486156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1B3BEB-6EDE-4F60-81A3-8BD5952B7106}"/>
              </a:ext>
            </a:extLst>
          </p:cNvPr>
          <p:cNvCxnSpPr>
            <a:cxnSpLocks/>
          </p:cNvCxnSpPr>
          <p:nvPr/>
        </p:nvCxnSpPr>
        <p:spPr>
          <a:xfrm rot="5400000">
            <a:off x="8397239" y="486156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AEF7E1-D959-480A-8E45-7112F3E7A3BC}"/>
              </a:ext>
            </a:extLst>
          </p:cNvPr>
          <p:cNvSpPr/>
          <p:nvPr>
            <p:custDataLst>
              <p:tags r:id="rId8"/>
            </p:custDataLst>
          </p:nvPr>
        </p:nvSpPr>
        <p:spPr>
          <a:xfrm>
            <a:off x="5867400" y="50292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29" name="Rectangle 28">
            <a:extLst>
              <a:ext uri="{FF2B5EF4-FFF2-40B4-BE49-F238E27FC236}">
                <a16:creationId xmlns:a16="http://schemas.microsoft.com/office/drawing/2014/main" id="{300698E2-FC66-4901-94E4-EF47217C8E59}"/>
              </a:ext>
            </a:extLst>
          </p:cNvPr>
          <p:cNvSpPr/>
          <p:nvPr>
            <p:custDataLst>
              <p:tags r:id="rId9"/>
            </p:custDataLst>
          </p:nvPr>
        </p:nvSpPr>
        <p:spPr>
          <a:xfrm>
            <a:off x="7010400" y="50292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30" name="Rectangle 29">
            <a:extLst>
              <a:ext uri="{FF2B5EF4-FFF2-40B4-BE49-F238E27FC236}">
                <a16:creationId xmlns:a16="http://schemas.microsoft.com/office/drawing/2014/main" id="{30651880-F7C7-41E0-B515-05F7BF00558B}"/>
              </a:ext>
            </a:extLst>
          </p:cNvPr>
          <p:cNvSpPr/>
          <p:nvPr>
            <p:custDataLst>
              <p:tags r:id="rId10"/>
            </p:custDataLst>
          </p:nvPr>
        </p:nvSpPr>
        <p:spPr>
          <a:xfrm>
            <a:off x="8153400" y="50292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cxnSp>
        <p:nvCxnSpPr>
          <p:cNvPr id="31" name="Straight Connector 30">
            <a:extLst>
              <a:ext uri="{FF2B5EF4-FFF2-40B4-BE49-F238E27FC236}">
                <a16:creationId xmlns:a16="http://schemas.microsoft.com/office/drawing/2014/main" id="{26E036C0-0594-4843-9BD9-F84BF2D41B33}"/>
              </a:ext>
            </a:extLst>
          </p:cNvPr>
          <p:cNvCxnSpPr>
            <a:cxnSpLocks/>
          </p:cNvCxnSpPr>
          <p:nvPr/>
        </p:nvCxnSpPr>
        <p:spPr>
          <a:xfrm rot="5400000">
            <a:off x="7254240" y="486156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50FAB85-6F45-4A8B-96BF-30D518A386D9}"/>
              </a:ext>
            </a:extLst>
          </p:cNvPr>
          <p:cNvSpPr txBox="1"/>
          <p:nvPr>
            <p:custDataLst>
              <p:tags r:id="rId11"/>
            </p:custDataLst>
          </p:nvPr>
        </p:nvSpPr>
        <p:spPr>
          <a:xfrm>
            <a:off x="3505200" y="4067718"/>
            <a:ext cx="2623365"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slows down loads/stores</a:t>
            </a:r>
          </a:p>
        </p:txBody>
      </p:sp>
      <p:cxnSp>
        <p:nvCxnSpPr>
          <p:cNvPr id="33" name="Straight Connector 32">
            <a:extLst>
              <a:ext uri="{FF2B5EF4-FFF2-40B4-BE49-F238E27FC236}">
                <a16:creationId xmlns:a16="http://schemas.microsoft.com/office/drawing/2014/main" id="{3D3EDBDF-029B-43B6-BF6A-ED4F8DED4D39}"/>
              </a:ext>
            </a:extLst>
          </p:cNvPr>
          <p:cNvCxnSpPr>
            <a:cxnSpLocks/>
          </p:cNvCxnSpPr>
          <p:nvPr/>
        </p:nvCxnSpPr>
        <p:spPr>
          <a:xfrm>
            <a:off x="5734663" y="4419600"/>
            <a:ext cx="393902" cy="281199"/>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97111338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62700" y="566928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err="1"/>
              <a:t>Input/Output</a:t>
            </a:r>
            <a:r>
              <a:rPr lang="en-US" altLang="en-US" dirty="0"/>
              <a:t> – Caches</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36</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52400" y="5943600"/>
            <a:ext cx="449580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2300C55-B36D-4B82-811E-58347C336610}"/>
              </a:ext>
            </a:extLst>
          </p:cNvPr>
          <p:cNvCxnSpPr/>
          <p:nvPr/>
        </p:nvCxnSpPr>
        <p:spPr>
          <a:xfrm>
            <a:off x="2555080" y="5772222"/>
            <a:ext cx="5303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314BD7-6184-4222-9E42-27B691973F8B}"/>
              </a:ext>
            </a:extLst>
          </p:cNvPr>
          <p:cNvCxnSpPr>
            <a:cxnSpLocks/>
          </p:cNvCxnSpPr>
          <p:nvPr/>
        </p:nvCxnSpPr>
        <p:spPr>
          <a:xfrm rot="5400000">
            <a:off x="2478017"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D09954-BC83-4116-92CA-3047E6FBB89C}"/>
              </a:ext>
            </a:extLst>
          </p:cNvPr>
          <p:cNvCxnSpPr>
            <a:cxnSpLocks/>
          </p:cNvCxnSpPr>
          <p:nvPr/>
        </p:nvCxnSpPr>
        <p:spPr>
          <a:xfrm rot="5400000">
            <a:off x="5471160"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1B3BEB-6EDE-4F60-81A3-8BD5952B7106}"/>
              </a:ext>
            </a:extLst>
          </p:cNvPr>
          <p:cNvCxnSpPr>
            <a:cxnSpLocks/>
          </p:cNvCxnSpPr>
          <p:nvPr/>
        </p:nvCxnSpPr>
        <p:spPr>
          <a:xfrm rot="5400000">
            <a:off x="7757159"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AEF7E1-D959-480A-8E45-7112F3E7A3BC}"/>
              </a:ext>
            </a:extLst>
          </p:cNvPr>
          <p:cNvSpPr/>
          <p:nvPr>
            <p:custDataLst>
              <p:tags r:id="rId8"/>
            </p:custDataLst>
          </p:nvPr>
        </p:nvSpPr>
        <p:spPr>
          <a:xfrm>
            <a:off x="5181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29" name="Rectangle 28">
            <a:extLst>
              <a:ext uri="{FF2B5EF4-FFF2-40B4-BE49-F238E27FC236}">
                <a16:creationId xmlns:a16="http://schemas.microsoft.com/office/drawing/2014/main" id="{300698E2-FC66-4901-94E4-EF47217C8E59}"/>
              </a:ext>
            </a:extLst>
          </p:cNvPr>
          <p:cNvSpPr/>
          <p:nvPr>
            <p:custDataLst>
              <p:tags r:id="rId9"/>
            </p:custDataLst>
          </p:nvPr>
        </p:nvSpPr>
        <p:spPr>
          <a:xfrm>
            <a:off x="6324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sp>
        <p:nvSpPr>
          <p:cNvPr id="30" name="Rectangle 29">
            <a:extLst>
              <a:ext uri="{FF2B5EF4-FFF2-40B4-BE49-F238E27FC236}">
                <a16:creationId xmlns:a16="http://schemas.microsoft.com/office/drawing/2014/main" id="{30651880-F7C7-41E0-B515-05F7BF00558B}"/>
              </a:ext>
            </a:extLst>
          </p:cNvPr>
          <p:cNvSpPr/>
          <p:nvPr>
            <p:custDataLst>
              <p:tags r:id="rId10"/>
            </p:custDataLst>
          </p:nvPr>
        </p:nvSpPr>
        <p:spPr>
          <a:xfrm>
            <a:off x="7467600" y="5943600"/>
            <a:ext cx="76200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I/O</a:t>
            </a:r>
          </a:p>
        </p:txBody>
      </p:sp>
      <p:cxnSp>
        <p:nvCxnSpPr>
          <p:cNvPr id="31" name="Straight Connector 30">
            <a:extLst>
              <a:ext uri="{FF2B5EF4-FFF2-40B4-BE49-F238E27FC236}">
                <a16:creationId xmlns:a16="http://schemas.microsoft.com/office/drawing/2014/main" id="{26E036C0-0594-4843-9BD9-F84BF2D41B33}"/>
              </a:ext>
            </a:extLst>
          </p:cNvPr>
          <p:cNvCxnSpPr>
            <a:cxnSpLocks/>
          </p:cNvCxnSpPr>
          <p:nvPr/>
        </p:nvCxnSpPr>
        <p:spPr>
          <a:xfrm rot="5400000">
            <a:off x="6614160" y="58521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38C4F70-60C0-4CAF-8E10-87D3D31DD2FF}"/>
              </a:ext>
            </a:extLst>
          </p:cNvPr>
          <p:cNvSpPr txBox="1"/>
          <p:nvPr>
            <p:custDataLst>
              <p:tags r:id="rId11"/>
            </p:custDataLst>
          </p:nvPr>
        </p:nvSpPr>
        <p:spPr>
          <a:xfrm>
            <a:off x="6493876" y="4853319"/>
            <a:ext cx="2421511" cy="633081"/>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no access to up-to-date data in caches</a:t>
            </a:r>
          </a:p>
        </p:txBody>
      </p:sp>
      <p:cxnSp>
        <p:nvCxnSpPr>
          <p:cNvPr id="33" name="Straight Connector 32">
            <a:extLst>
              <a:ext uri="{FF2B5EF4-FFF2-40B4-BE49-F238E27FC236}">
                <a16:creationId xmlns:a16="http://schemas.microsoft.com/office/drawing/2014/main" id="{DE3B5F1A-0AA9-4556-9F84-1740DA7BEDE0}"/>
              </a:ext>
            </a:extLst>
          </p:cNvPr>
          <p:cNvCxnSpPr>
            <a:cxnSpLocks/>
          </p:cNvCxnSpPr>
          <p:nvPr/>
        </p:nvCxnSpPr>
        <p:spPr>
          <a:xfrm flipH="1">
            <a:off x="7315200" y="5461312"/>
            <a:ext cx="309113" cy="292549"/>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6525289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7175B0D-FD80-4504-9196-59C9B7D2BC14}"/>
              </a:ext>
            </a:extLst>
          </p:cNvPr>
          <p:cNvSpPr txBox="1"/>
          <p:nvPr>
            <p:custDataLst>
              <p:tags r:id="rId2"/>
            </p:custDataLst>
          </p:nvPr>
        </p:nvSpPr>
        <p:spPr>
          <a:xfrm>
            <a:off x="526930" y="1414732"/>
            <a:ext cx="8464670" cy="1709468"/>
          </a:xfrm>
          <a:prstGeom prst="rect">
            <a:avLst/>
          </a:prstGeom>
          <a:noFill/>
        </p:spPr>
        <p:txBody>
          <a:bodyPr wrap="square" rtlCol="0" anchor="t">
            <a:noAutofit/>
          </a:bodyPr>
          <a:lstStyle/>
          <a:p>
            <a:r>
              <a:rPr lang="en-US" sz="2800" dirty="0">
                <a:latin typeface="+mn-lt"/>
              </a:rPr>
              <a:t>e.g., A single bit-flip has occurred. Recover original data:</a:t>
            </a:r>
          </a:p>
          <a:p>
            <a:r>
              <a:rPr lang="en-US" sz="2800" dirty="0">
                <a:latin typeface="+mn-lt"/>
              </a:rPr>
              <a:t>W</a:t>
            </a:r>
            <a:r>
              <a:rPr lang="en-US" sz="2800" baseline="-25000" dirty="0">
                <a:latin typeface="+mn-lt"/>
              </a:rPr>
              <a:t>8</a:t>
            </a:r>
            <a:r>
              <a:rPr lang="en-US" sz="2800" dirty="0">
                <a:latin typeface="+mn-lt"/>
              </a:rPr>
              <a:t>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 </a:t>
            </a:r>
            <a:r>
              <a:rPr lang="en-US" sz="2800" b="1" dirty="0">
                <a:solidFill>
                  <a:srgbClr val="FF0000"/>
                </a:solidFill>
                <a:latin typeface="+mn-lt"/>
              </a:rPr>
              <a:t>00101001</a:t>
            </a:r>
          </a:p>
          <a:p>
            <a:r>
              <a:rPr lang="en-US" sz="2800" b="1" dirty="0">
                <a:latin typeface="+mn-lt"/>
              </a:rPr>
              <a:t>b</a:t>
            </a:r>
            <a:r>
              <a:rPr lang="en-US" sz="2800" b="1" baseline="-25000" dirty="0">
                <a:latin typeface="+mn-lt"/>
              </a:rPr>
              <a:t>4</a:t>
            </a:r>
            <a:r>
              <a:rPr lang="en-US" sz="2800" b="1" dirty="0">
                <a:latin typeface="+mn-lt"/>
              </a:rPr>
              <a:t>b</a:t>
            </a:r>
            <a:r>
              <a:rPr lang="en-US" sz="2800" b="1" baseline="-25000" dirty="0">
                <a:latin typeface="+mn-lt"/>
              </a:rPr>
              <a:t>3</a:t>
            </a:r>
            <a:r>
              <a:rPr lang="en-US" sz="2800" b="1" dirty="0">
                <a:latin typeface="+mn-lt"/>
              </a:rPr>
              <a:t>b</a:t>
            </a:r>
            <a:r>
              <a:rPr lang="en-US" sz="2800" b="1" baseline="-25000" dirty="0">
                <a:latin typeface="+mn-lt"/>
              </a:rPr>
              <a:t>2</a:t>
            </a:r>
            <a:r>
              <a:rPr lang="en-US" sz="2800" b="1" dirty="0">
                <a:latin typeface="+mn-lt"/>
              </a:rPr>
              <a:t>b</a:t>
            </a:r>
            <a:r>
              <a:rPr lang="en-US" sz="2800" b="1" baseline="-25000" dirty="0">
                <a:latin typeface="+mn-lt"/>
              </a:rPr>
              <a:t>1</a:t>
            </a:r>
            <a:r>
              <a:rPr lang="en-US" sz="2800" b="1" dirty="0">
                <a:latin typeface="+mn-lt"/>
              </a:rPr>
              <a:t> = __________</a:t>
            </a:r>
            <a:endParaRPr lang="en-US" sz="2800" b="1" dirty="0">
              <a:solidFill>
                <a:schemeClr val="accent6">
                  <a:lumMod val="75000"/>
                </a:schemeClr>
              </a:solidFill>
              <a:latin typeface="+mn-lt"/>
            </a:endParaRPr>
          </a:p>
        </p:txBody>
      </p:sp>
      <p:sp>
        <p:nvSpPr>
          <p:cNvPr id="23" name="TextBox 22">
            <a:extLst>
              <a:ext uri="{FF2B5EF4-FFF2-40B4-BE49-F238E27FC236}">
                <a16:creationId xmlns:a16="http://schemas.microsoft.com/office/drawing/2014/main" id="{04086CE8-6042-4DAF-9091-275EBF9E56FF}"/>
              </a:ext>
            </a:extLst>
          </p:cNvPr>
          <p:cNvSpPr txBox="1"/>
          <p:nvPr>
            <p:custDataLst>
              <p:tags r:id="rId3"/>
            </p:custDataLst>
          </p:nvPr>
        </p:nvSpPr>
        <p:spPr>
          <a:xfrm>
            <a:off x="526930" y="1414732"/>
            <a:ext cx="8464670" cy="1709468"/>
          </a:xfrm>
          <a:prstGeom prst="rect">
            <a:avLst/>
          </a:prstGeom>
          <a:noFill/>
        </p:spPr>
        <p:txBody>
          <a:bodyPr wrap="square" rtlCol="0" anchor="t">
            <a:noAutofit/>
          </a:bodyPr>
          <a:lstStyle/>
          <a:p>
            <a:r>
              <a:rPr lang="en-US" sz="2800" dirty="0">
                <a:latin typeface="+mn-lt"/>
              </a:rPr>
              <a:t>e.g., A single bit-flip has occurred. Recover original data:</a:t>
            </a:r>
          </a:p>
          <a:p>
            <a:r>
              <a:rPr lang="en-US" sz="2800" dirty="0">
                <a:latin typeface="+mn-lt"/>
              </a:rPr>
              <a:t>W</a:t>
            </a:r>
            <a:r>
              <a:rPr lang="en-US" sz="2800" baseline="-25000" dirty="0">
                <a:latin typeface="+mn-lt"/>
              </a:rPr>
              <a:t>8</a:t>
            </a:r>
            <a:r>
              <a:rPr lang="en-US" sz="2800" dirty="0">
                <a:latin typeface="+mn-lt"/>
              </a:rPr>
              <a:t>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 </a:t>
            </a:r>
            <a:r>
              <a:rPr lang="en-US" sz="2800" b="1" dirty="0">
                <a:solidFill>
                  <a:srgbClr val="FF0000"/>
                </a:solidFill>
                <a:latin typeface="+mn-lt"/>
              </a:rPr>
              <a:t>00101</a:t>
            </a:r>
            <a:r>
              <a:rPr lang="en-US" sz="2800" b="1" u="sng" dirty="0">
                <a:solidFill>
                  <a:schemeClr val="accent6">
                    <a:lumMod val="75000"/>
                  </a:schemeClr>
                </a:solidFill>
                <a:latin typeface="+mn-lt"/>
              </a:rPr>
              <a:t>0</a:t>
            </a:r>
            <a:r>
              <a:rPr lang="en-US" sz="2800" b="1" dirty="0">
                <a:solidFill>
                  <a:srgbClr val="FF0000"/>
                </a:solidFill>
                <a:latin typeface="+mn-lt"/>
              </a:rPr>
              <a:t>01</a:t>
            </a:r>
          </a:p>
          <a:p>
            <a:r>
              <a:rPr lang="en-US" sz="2800" b="1" dirty="0">
                <a:latin typeface="+mn-lt"/>
              </a:rPr>
              <a:t>b</a:t>
            </a:r>
            <a:r>
              <a:rPr lang="en-US" sz="2800" b="1" baseline="-25000" dirty="0">
                <a:latin typeface="+mn-lt"/>
              </a:rPr>
              <a:t>4</a:t>
            </a:r>
            <a:r>
              <a:rPr lang="en-US" sz="2800" b="1" dirty="0">
                <a:latin typeface="+mn-lt"/>
              </a:rPr>
              <a:t>b</a:t>
            </a:r>
            <a:r>
              <a:rPr lang="en-US" sz="2800" b="1" baseline="-25000" dirty="0">
                <a:latin typeface="+mn-lt"/>
              </a:rPr>
              <a:t>3</a:t>
            </a:r>
            <a:r>
              <a:rPr lang="en-US" sz="2800" b="1" dirty="0">
                <a:latin typeface="+mn-lt"/>
              </a:rPr>
              <a:t>b</a:t>
            </a:r>
            <a:r>
              <a:rPr lang="en-US" sz="2800" b="1" baseline="-25000" dirty="0">
                <a:latin typeface="+mn-lt"/>
              </a:rPr>
              <a:t>2</a:t>
            </a:r>
            <a:r>
              <a:rPr lang="en-US" sz="2800" b="1" dirty="0">
                <a:latin typeface="+mn-lt"/>
              </a:rPr>
              <a:t>b</a:t>
            </a:r>
            <a:r>
              <a:rPr lang="en-US" sz="2800" b="1" baseline="-25000" dirty="0">
                <a:latin typeface="+mn-lt"/>
              </a:rPr>
              <a:t>1</a:t>
            </a:r>
            <a:r>
              <a:rPr lang="en-US" sz="2800" b="1" dirty="0">
                <a:latin typeface="+mn-lt"/>
              </a:rPr>
              <a:t> = __________</a:t>
            </a:r>
            <a:endParaRPr lang="en-US" sz="2800" b="1" dirty="0">
              <a:solidFill>
                <a:schemeClr val="accent6">
                  <a:lumMod val="75000"/>
                </a:schemeClr>
              </a:solidFill>
              <a:latin typeface="+mn-lt"/>
            </a:endParaRPr>
          </a:p>
        </p:txBody>
      </p:sp>
      <p:sp>
        <p:nvSpPr>
          <p:cNvPr id="28" name="TextBox 27">
            <a:extLst>
              <a:ext uri="{FF2B5EF4-FFF2-40B4-BE49-F238E27FC236}">
                <a16:creationId xmlns:a16="http://schemas.microsoft.com/office/drawing/2014/main" id="{B461CF69-18E7-444D-AC6E-329C0EEED875}"/>
              </a:ext>
            </a:extLst>
          </p:cNvPr>
          <p:cNvSpPr txBox="1"/>
          <p:nvPr>
            <p:custDataLst>
              <p:tags r:id="rId4"/>
            </p:custDataLst>
          </p:nvPr>
        </p:nvSpPr>
        <p:spPr>
          <a:xfrm>
            <a:off x="526930" y="1414732"/>
            <a:ext cx="8464670" cy="1709468"/>
          </a:xfrm>
          <a:prstGeom prst="rect">
            <a:avLst/>
          </a:prstGeom>
          <a:noFill/>
        </p:spPr>
        <p:txBody>
          <a:bodyPr wrap="square" rtlCol="0" anchor="t">
            <a:noAutofit/>
          </a:bodyPr>
          <a:lstStyle/>
          <a:p>
            <a:r>
              <a:rPr lang="en-US" sz="2800" dirty="0">
                <a:latin typeface="+mn-lt"/>
              </a:rPr>
              <a:t>e.g., A single bit-flip has occurred. Recover original data:</a:t>
            </a:r>
          </a:p>
          <a:p>
            <a:r>
              <a:rPr lang="en-US" sz="2800" dirty="0">
                <a:latin typeface="+mn-lt"/>
              </a:rPr>
              <a:t>W</a:t>
            </a:r>
            <a:r>
              <a:rPr lang="en-US" sz="2800" baseline="-25000" dirty="0">
                <a:latin typeface="+mn-lt"/>
              </a:rPr>
              <a:t>8</a:t>
            </a:r>
            <a:r>
              <a:rPr lang="en-US" sz="2800" dirty="0">
                <a:latin typeface="+mn-lt"/>
              </a:rPr>
              <a:t>W</a:t>
            </a:r>
            <a:r>
              <a:rPr lang="en-US" sz="2800" baseline="-25000" dirty="0">
                <a:latin typeface="+mn-lt"/>
              </a:rPr>
              <a:t>7</a:t>
            </a:r>
            <a:r>
              <a:rPr lang="en-US" sz="2800" dirty="0">
                <a:latin typeface="+mn-lt"/>
              </a:rPr>
              <a:t>W</a:t>
            </a:r>
            <a:r>
              <a:rPr lang="en-US" sz="2800" baseline="-25000" dirty="0">
                <a:latin typeface="+mn-lt"/>
              </a:rPr>
              <a:t>6</a:t>
            </a:r>
            <a:r>
              <a:rPr lang="en-US" sz="2800" dirty="0">
                <a:latin typeface="+mn-lt"/>
              </a:rPr>
              <a:t>W</a:t>
            </a:r>
            <a:r>
              <a:rPr lang="en-US" sz="2800" baseline="-25000" dirty="0">
                <a:latin typeface="+mn-lt"/>
              </a:rPr>
              <a:t>5</a:t>
            </a:r>
            <a:r>
              <a:rPr lang="en-US" sz="2800" dirty="0">
                <a:latin typeface="+mn-lt"/>
              </a:rPr>
              <a:t>W</a:t>
            </a:r>
            <a:r>
              <a:rPr lang="en-US" sz="2800" baseline="-25000" dirty="0">
                <a:latin typeface="+mn-lt"/>
              </a:rPr>
              <a:t>4</a:t>
            </a:r>
            <a:r>
              <a:rPr lang="en-US" sz="2800" dirty="0">
                <a:latin typeface="+mn-lt"/>
              </a:rPr>
              <a:t>W</a:t>
            </a:r>
            <a:r>
              <a:rPr lang="en-US" sz="2800" baseline="-25000" dirty="0">
                <a:latin typeface="+mn-lt"/>
              </a:rPr>
              <a:t>3</a:t>
            </a:r>
            <a:r>
              <a:rPr lang="en-US" sz="2800" dirty="0">
                <a:latin typeface="+mn-lt"/>
              </a:rPr>
              <a:t>W</a:t>
            </a:r>
            <a:r>
              <a:rPr lang="en-US" sz="2800" baseline="-25000" dirty="0">
                <a:latin typeface="+mn-lt"/>
              </a:rPr>
              <a:t>2</a:t>
            </a:r>
            <a:r>
              <a:rPr lang="en-US" sz="2800" dirty="0">
                <a:latin typeface="+mn-lt"/>
              </a:rPr>
              <a:t>W</a:t>
            </a:r>
            <a:r>
              <a:rPr lang="en-US" sz="2800" baseline="-25000" dirty="0">
                <a:latin typeface="+mn-lt"/>
              </a:rPr>
              <a:t>1</a:t>
            </a:r>
            <a:r>
              <a:rPr lang="en-US" sz="2800" dirty="0">
                <a:latin typeface="+mn-lt"/>
              </a:rPr>
              <a:t> = </a:t>
            </a:r>
            <a:r>
              <a:rPr lang="en-US" sz="2800" b="1" dirty="0">
                <a:solidFill>
                  <a:srgbClr val="FF0000"/>
                </a:solidFill>
                <a:latin typeface="+mn-lt"/>
              </a:rPr>
              <a:t>00101</a:t>
            </a:r>
            <a:r>
              <a:rPr lang="en-US" sz="2800" b="1" u="sng" dirty="0">
                <a:solidFill>
                  <a:schemeClr val="accent6">
                    <a:lumMod val="75000"/>
                  </a:schemeClr>
                </a:solidFill>
                <a:latin typeface="+mn-lt"/>
              </a:rPr>
              <a:t>0</a:t>
            </a:r>
            <a:r>
              <a:rPr lang="en-US" sz="2800" b="1" dirty="0">
                <a:solidFill>
                  <a:srgbClr val="FF0000"/>
                </a:solidFill>
                <a:latin typeface="+mn-lt"/>
              </a:rPr>
              <a:t>01</a:t>
            </a:r>
          </a:p>
          <a:p>
            <a:r>
              <a:rPr lang="en-US" sz="2800" b="1" dirty="0">
                <a:latin typeface="+mn-lt"/>
              </a:rPr>
              <a:t>b</a:t>
            </a:r>
            <a:r>
              <a:rPr lang="en-US" sz="2800" b="1" baseline="-25000" dirty="0">
                <a:latin typeface="+mn-lt"/>
              </a:rPr>
              <a:t>4</a:t>
            </a:r>
            <a:r>
              <a:rPr lang="en-US" sz="2800" b="1" dirty="0">
                <a:latin typeface="+mn-lt"/>
              </a:rPr>
              <a:t>b</a:t>
            </a:r>
            <a:r>
              <a:rPr lang="en-US" sz="2800" b="1" baseline="-25000" dirty="0">
                <a:latin typeface="+mn-lt"/>
              </a:rPr>
              <a:t>3</a:t>
            </a:r>
            <a:r>
              <a:rPr lang="en-US" sz="2800" b="1" dirty="0">
                <a:latin typeface="+mn-lt"/>
              </a:rPr>
              <a:t>b</a:t>
            </a:r>
            <a:r>
              <a:rPr lang="en-US" sz="2800" b="1" baseline="-25000" dirty="0">
                <a:latin typeface="+mn-lt"/>
              </a:rPr>
              <a:t>2</a:t>
            </a:r>
            <a:r>
              <a:rPr lang="en-US" sz="2800" b="1" dirty="0">
                <a:latin typeface="+mn-lt"/>
              </a:rPr>
              <a:t>b</a:t>
            </a:r>
            <a:r>
              <a:rPr lang="en-US" sz="2800" b="1" baseline="-25000" dirty="0">
                <a:latin typeface="+mn-lt"/>
              </a:rPr>
              <a:t>1</a:t>
            </a:r>
            <a:r>
              <a:rPr lang="en-US" sz="2800" b="1" dirty="0">
                <a:latin typeface="+mn-lt"/>
              </a:rPr>
              <a:t> = </a:t>
            </a:r>
            <a:r>
              <a:rPr lang="en-US" sz="2800" b="1" dirty="0">
                <a:solidFill>
                  <a:schemeClr val="accent6">
                    <a:lumMod val="75000"/>
                  </a:schemeClr>
                </a:solidFill>
                <a:latin typeface="+mn-lt"/>
              </a:rPr>
              <a:t>0101</a:t>
            </a:r>
          </a:p>
        </p:txBody>
      </p:sp>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5"/>
            </p:custDataLst>
          </p:nvPr>
        </p:nvSpPr>
        <p:spPr>
          <a:xfrm>
            <a:off x="457200" y="274638"/>
            <a:ext cx="8159870" cy="1143000"/>
          </a:xfrm>
        </p:spPr>
        <p:txBody>
          <a:bodyPr/>
          <a:lstStyle/>
          <a:p>
            <a:pPr eaLnBrk="1" hangingPunct="1"/>
            <a:r>
              <a:rPr lang="en-US" altLang="en-US" dirty="0"/>
              <a:t>Exercise – SECDED</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6"/>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37</a:t>
            </a:fld>
            <a:endParaRPr lang="en-US" altLang="en-US" sz="140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75E91C29-BA73-4390-B92D-24D0D185DCC5}"/>
              </a:ext>
            </a:extLst>
          </p:cNvPr>
          <p:cNvGraphicFramePr>
            <a:graphicFrameLocks noGrp="1"/>
          </p:cNvGraphicFramePr>
          <p:nvPr>
            <p:custDataLst>
              <p:tags r:id="rId7"/>
            </p:custData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7" name="Arrow: Right 6">
            <a:extLst>
              <a:ext uri="{FF2B5EF4-FFF2-40B4-BE49-F238E27FC236}">
                <a16:creationId xmlns:a16="http://schemas.microsoft.com/office/drawing/2014/main" id="{FA13BE1B-0416-4804-8FE8-623F68D824B4}"/>
              </a:ext>
            </a:extLst>
          </p:cNvPr>
          <p:cNvSpPr/>
          <p:nvPr>
            <p:custDataLst>
              <p:tags r:id="rId8"/>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C236A00A-554E-4FCA-8A11-14FA8B6418E4}"/>
              </a:ext>
            </a:extLst>
          </p:cNvPr>
          <p:cNvGraphicFramePr>
            <a:graphicFrameLocks noGrp="1"/>
          </p:cNvGraphicFramePr>
          <p:nvPr>
            <p:custDataLst>
              <p:tags r:id="rId9"/>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9" name="Table 8">
            <a:extLst>
              <a:ext uri="{FF2B5EF4-FFF2-40B4-BE49-F238E27FC236}">
                <a16:creationId xmlns:a16="http://schemas.microsoft.com/office/drawing/2014/main" id="{B375BDC1-50F8-4DB8-9183-8470D11B80E1}"/>
              </a:ext>
            </a:extLst>
          </p:cNvPr>
          <p:cNvGraphicFramePr>
            <a:graphicFrameLocks noGrp="1"/>
          </p:cNvGraphicFramePr>
          <p:nvPr>
            <p:custDataLst>
              <p:tags r:id="rId10"/>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1</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11" name="Table 10">
            <a:extLst>
              <a:ext uri="{FF2B5EF4-FFF2-40B4-BE49-F238E27FC236}">
                <a16:creationId xmlns:a16="http://schemas.microsoft.com/office/drawing/2014/main" id="{3244D051-AFA6-4144-B4B1-1C9E42C8AA10}"/>
              </a:ext>
            </a:extLst>
          </p:cNvPr>
          <p:cNvGraphicFramePr>
            <a:graphicFrameLocks noGrp="1"/>
          </p:cNvGraphicFramePr>
          <p:nvPr>
            <p:custDataLst>
              <p:tags r:id="rId11"/>
            </p:custData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12" name="Arrow: Right 11">
            <a:extLst>
              <a:ext uri="{FF2B5EF4-FFF2-40B4-BE49-F238E27FC236}">
                <a16:creationId xmlns:a16="http://schemas.microsoft.com/office/drawing/2014/main" id="{777CBDBD-D0C0-42AB-BADC-9C24D778E56E}"/>
              </a:ext>
            </a:extLst>
          </p:cNvPr>
          <p:cNvSpPr/>
          <p:nvPr>
            <p:custDataLst>
              <p:tags r:id="rId12"/>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F71B7973-FC28-4381-927A-44C17EDA1633}"/>
              </a:ext>
            </a:extLst>
          </p:cNvPr>
          <p:cNvGraphicFramePr>
            <a:graphicFrameLocks noGrp="1"/>
          </p:cNvGraphicFramePr>
          <p:nvPr>
            <p:custDataLst>
              <p:tags r:id="rId13"/>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14" name="Table 13">
            <a:extLst>
              <a:ext uri="{FF2B5EF4-FFF2-40B4-BE49-F238E27FC236}">
                <a16:creationId xmlns:a16="http://schemas.microsoft.com/office/drawing/2014/main" id="{416DD2D6-DA0C-4CC3-A8EB-AEB0A1C44854}"/>
              </a:ext>
            </a:extLst>
          </p:cNvPr>
          <p:cNvGraphicFramePr>
            <a:graphicFrameLocks noGrp="1"/>
          </p:cNvGraphicFramePr>
          <p:nvPr>
            <p:custDataLst>
              <p:tags r:id="rId14"/>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2</a:t>
                      </a:r>
                      <a:r>
                        <a:rPr lang="en-US" sz="1800" dirty="0">
                          <a:latin typeface="+mn-lt"/>
                        </a:rPr>
                        <a:t>⊕W</a:t>
                      </a:r>
                      <a:r>
                        <a:rPr lang="en-US" sz="1800" baseline="-25000" dirty="0">
                          <a:latin typeface="+mn-lt"/>
                        </a:rPr>
                        <a:t>3</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15" name="Table 14">
            <a:extLst>
              <a:ext uri="{FF2B5EF4-FFF2-40B4-BE49-F238E27FC236}">
                <a16:creationId xmlns:a16="http://schemas.microsoft.com/office/drawing/2014/main" id="{7672BFDB-6EA4-4EC5-88C6-D1D974AE4A01}"/>
              </a:ext>
            </a:extLst>
          </p:cNvPr>
          <p:cNvGraphicFramePr>
            <a:graphicFrameLocks noGrp="1"/>
          </p:cNvGraphicFramePr>
          <p:nvPr>
            <p:custDataLst>
              <p:tags r:id="rId15"/>
            </p:custData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16" name="Arrow: Right 15">
            <a:extLst>
              <a:ext uri="{FF2B5EF4-FFF2-40B4-BE49-F238E27FC236}">
                <a16:creationId xmlns:a16="http://schemas.microsoft.com/office/drawing/2014/main" id="{D2AB4433-33AA-479A-AEDD-BECCBF94B490}"/>
              </a:ext>
            </a:extLst>
          </p:cNvPr>
          <p:cNvSpPr/>
          <p:nvPr>
            <p:custDataLst>
              <p:tags r:id="rId16"/>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le 16">
            <a:extLst>
              <a:ext uri="{FF2B5EF4-FFF2-40B4-BE49-F238E27FC236}">
                <a16:creationId xmlns:a16="http://schemas.microsoft.com/office/drawing/2014/main" id="{67A86F35-33BF-4DFF-AC4C-B7F072E24EDD}"/>
              </a:ext>
            </a:extLst>
          </p:cNvPr>
          <p:cNvGraphicFramePr>
            <a:graphicFrameLocks noGrp="1"/>
          </p:cNvGraphicFramePr>
          <p:nvPr>
            <p:custDataLst>
              <p:tags r:id="rId17"/>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18" name="Table 17">
            <a:extLst>
              <a:ext uri="{FF2B5EF4-FFF2-40B4-BE49-F238E27FC236}">
                <a16:creationId xmlns:a16="http://schemas.microsoft.com/office/drawing/2014/main" id="{7D13F3D8-5FD1-4269-9544-255134AE4B15}"/>
              </a:ext>
            </a:extLst>
          </p:cNvPr>
          <p:cNvGraphicFramePr>
            <a:graphicFrameLocks noGrp="1"/>
          </p:cNvGraphicFramePr>
          <p:nvPr>
            <p:custDataLst>
              <p:tags r:id="rId18"/>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4</a:t>
                      </a:r>
                      <a:r>
                        <a:rPr lang="en-US" sz="1800" dirty="0">
                          <a:latin typeface="+mn-lt"/>
                        </a:rPr>
                        <a:t>⊕W</a:t>
                      </a:r>
                      <a:r>
                        <a:rPr lang="en-US" sz="1800" baseline="-25000" dirty="0">
                          <a:latin typeface="+mn-lt"/>
                        </a:rPr>
                        <a:t>5</a:t>
                      </a:r>
                      <a:r>
                        <a:rPr lang="en-US" sz="1800" dirty="0">
                          <a:latin typeface="+mn-lt"/>
                        </a:rPr>
                        <a:t>⊕W</a:t>
                      </a:r>
                      <a:r>
                        <a:rPr lang="en-US" sz="1800" baseline="-25000" dirty="0">
                          <a:latin typeface="+mn-lt"/>
                        </a:rPr>
                        <a:t>6</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19" name="Table 18">
            <a:extLst>
              <a:ext uri="{FF2B5EF4-FFF2-40B4-BE49-F238E27FC236}">
                <a16:creationId xmlns:a16="http://schemas.microsoft.com/office/drawing/2014/main" id="{BF12623A-C9D9-4F87-9AA9-0F667AA0AF5A}"/>
              </a:ext>
            </a:extLst>
          </p:cNvPr>
          <p:cNvGraphicFramePr>
            <a:graphicFrameLocks noGrp="1"/>
          </p:cNvGraphicFramePr>
          <p:nvPr>
            <p:custDataLst>
              <p:tags r:id="rId19"/>
            </p:custData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20" name="Arrow: Right 19">
            <a:extLst>
              <a:ext uri="{FF2B5EF4-FFF2-40B4-BE49-F238E27FC236}">
                <a16:creationId xmlns:a16="http://schemas.microsoft.com/office/drawing/2014/main" id="{5C9479FA-4FC2-42DA-8524-09230EDC6F84}"/>
              </a:ext>
            </a:extLst>
          </p:cNvPr>
          <p:cNvSpPr/>
          <p:nvPr>
            <p:custDataLst>
              <p:tags r:id="rId20"/>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a:extLst>
              <a:ext uri="{FF2B5EF4-FFF2-40B4-BE49-F238E27FC236}">
                <a16:creationId xmlns:a16="http://schemas.microsoft.com/office/drawing/2014/main" id="{C9DDC4FD-8303-4955-B1E4-B40AEFF0B8D5}"/>
              </a:ext>
            </a:extLst>
          </p:cNvPr>
          <p:cNvGraphicFramePr>
            <a:graphicFrameLocks noGrp="1"/>
          </p:cNvGraphicFramePr>
          <p:nvPr>
            <p:custDataLst>
              <p:tags r:id="rId21"/>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22" name="Table 21">
            <a:extLst>
              <a:ext uri="{FF2B5EF4-FFF2-40B4-BE49-F238E27FC236}">
                <a16:creationId xmlns:a16="http://schemas.microsoft.com/office/drawing/2014/main" id="{6301AE1C-622A-446B-9A09-EF3410E79302}"/>
              </a:ext>
            </a:extLst>
          </p:cNvPr>
          <p:cNvGraphicFramePr>
            <a:graphicFrameLocks noGrp="1"/>
          </p:cNvGraphicFramePr>
          <p:nvPr>
            <p:custDataLst>
              <p:tags r:id="rId22"/>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0</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W</a:t>
                      </a:r>
                      <a:r>
                        <a:rPr lang="en-US" sz="1800" baseline="-25000" dirty="0">
                          <a:latin typeface="+mn-lt"/>
                        </a:rPr>
                        <a:t>8</a:t>
                      </a:r>
                      <a:r>
                        <a:rPr lang="en-US" sz="1800" dirty="0">
                          <a:latin typeface="+mn-lt"/>
                        </a:rPr>
                        <a:t>⊕…⊕W</a:t>
                      </a:r>
                      <a:r>
                        <a:rPr lang="en-US" sz="1800" baseline="-250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451835"/>
                  </a:ext>
                </a:extLst>
              </a:tr>
            </a:tbl>
          </a:graphicData>
        </a:graphic>
      </p:graphicFrame>
      <p:graphicFrame>
        <p:nvGraphicFramePr>
          <p:cNvPr id="24" name="Table 23">
            <a:extLst>
              <a:ext uri="{FF2B5EF4-FFF2-40B4-BE49-F238E27FC236}">
                <a16:creationId xmlns:a16="http://schemas.microsoft.com/office/drawing/2014/main" id="{BC03FEE3-C3FD-49FF-B38D-2FDF92459AE3}"/>
              </a:ext>
            </a:extLst>
          </p:cNvPr>
          <p:cNvGraphicFramePr>
            <a:graphicFrameLocks noGrp="1"/>
          </p:cNvGraphicFramePr>
          <p:nvPr>
            <p:custDataLst>
              <p:tags r:id="rId23"/>
            </p:custDataLst>
          </p:nvPr>
        </p:nvGraphicFramePr>
        <p:xfrm>
          <a:off x="228600" y="3276600"/>
          <a:ext cx="2514600" cy="335280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97083988"/>
                    </a:ext>
                  </a:extLst>
                </a:gridCol>
                <a:gridCol w="1295400">
                  <a:extLst>
                    <a:ext uri="{9D8B030D-6E8A-4147-A177-3AD203B41FA5}">
                      <a16:colId xmlns:a16="http://schemas.microsoft.com/office/drawing/2014/main" val="1877466339"/>
                    </a:ext>
                  </a:extLst>
                </a:gridCol>
              </a:tblGrid>
              <a:tr h="182880">
                <a:tc>
                  <a:txBody>
                    <a:bodyPr/>
                    <a:lstStyle/>
                    <a:p>
                      <a:pPr algn="ctr"/>
                      <a:r>
                        <a:rPr lang="en-US" sz="1400" b="1" dirty="0"/>
                        <a:t>S</a:t>
                      </a:r>
                      <a:r>
                        <a:rPr lang="en-US" sz="1400" b="1" baseline="-25000" dirty="0"/>
                        <a:t>3</a:t>
                      </a:r>
                      <a:r>
                        <a:rPr lang="en-US" sz="1400" b="1" dirty="0"/>
                        <a:t>S</a:t>
                      </a:r>
                      <a:r>
                        <a:rPr lang="en-US" sz="1400" b="1" baseline="-25000" dirty="0"/>
                        <a:t>2</a:t>
                      </a:r>
                      <a:r>
                        <a:rPr lang="en-US" sz="1400" b="1" dirty="0"/>
                        <a:t>S</a:t>
                      </a:r>
                      <a:r>
                        <a:rPr lang="en-US" sz="1400" b="1" baseline="-25000" dirty="0"/>
                        <a:t>1</a:t>
                      </a:r>
                      <a:r>
                        <a:rPr lang="en-US" sz="1400" b="1" dirty="0"/>
                        <a:t>, S</a:t>
                      </a:r>
                      <a:r>
                        <a:rPr lang="en-US" sz="1400" b="1" baseline="-25000" dirty="0"/>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Bit flipped?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182880">
                <a:tc>
                  <a:txBody>
                    <a:bodyPr/>
                    <a:lstStyle/>
                    <a:p>
                      <a:pPr algn="ctr"/>
                      <a:r>
                        <a:rPr lang="en-US" sz="1400" dirty="0"/>
                        <a:t>000, 0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77522"/>
                  </a:ext>
                </a:extLst>
              </a:tr>
              <a:tr h="182880">
                <a:tc>
                  <a:txBody>
                    <a:bodyPr/>
                    <a:lstStyle/>
                    <a:p>
                      <a:pPr algn="ctr"/>
                      <a:r>
                        <a:rPr lang="en-US" sz="1400" dirty="0"/>
                        <a:t>001, 1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182880">
                <a:tc>
                  <a:txBody>
                    <a:bodyPr/>
                    <a:lstStyle/>
                    <a:p>
                      <a:pPr algn="ctr"/>
                      <a:r>
                        <a:rPr lang="en-US" sz="1400" dirty="0"/>
                        <a:t>010, 1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182880">
                <a:tc>
                  <a:txBody>
                    <a:bodyPr/>
                    <a:lstStyle/>
                    <a:p>
                      <a:pPr algn="ctr"/>
                      <a:r>
                        <a:rPr lang="en-US" sz="1400" dirty="0"/>
                        <a:t>011, 1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182880">
                <a:tc>
                  <a:txBody>
                    <a:bodyPr/>
                    <a:lstStyle/>
                    <a:p>
                      <a:pPr algn="ctr"/>
                      <a:r>
                        <a:rPr lang="en-US" sz="1400" dirty="0"/>
                        <a:t>100, 1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182880">
                <a:tc>
                  <a:txBody>
                    <a:bodyPr/>
                    <a:lstStyle/>
                    <a:p>
                      <a:pPr algn="ctr"/>
                      <a:r>
                        <a:rPr lang="en-US" sz="1400" dirty="0"/>
                        <a:t>101, 1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182880">
                <a:tc>
                  <a:txBody>
                    <a:bodyPr/>
                    <a:lstStyle/>
                    <a:p>
                      <a:pPr algn="ctr"/>
                      <a:r>
                        <a:rPr lang="en-US" sz="1400" dirty="0"/>
                        <a:t>110, 1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182880">
                <a:tc>
                  <a:txBody>
                    <a:bodyPr/>
                    <a:lstStyle/>
                    <a:p>
                      <a:pPr algn="ctr"/>
                      <a:r>
                        <a:rPr lang="en-US" sz="1400" dirty="0"/>
                        <a:t>111, 1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182880">
                <a:tc>
                  <a:txBody>
                    <a:bodyPr/>
                    <a:lstStyle/>
                    <a:p>
                      <a:pPr algn="ctr"/>
                      <a:r>
                        <a:rPr lang="en-US" sz="1400" dirty="0"/>
                        <a:t>000, 1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524806"/>
                  </a:ext>
                </a:extLst>
              </a:tr>
              <a:tr h="182880">
                <a:tc>
                  <a:txBody>
                    <a:bodyPr/>
                    <a:lstStyle/>
                    <a:p>
                      <a:pPr algn="ctr"/>
                      <a:r>
                        <a:rPr lang="en-US" sz="1400" dirty="0"/>
                        <a:t>non-zero,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double bit-flip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05266"/>
                  </a:ext>
                </a:extLst>
              </a:tr>
            </a:tbl>
          </a:graphicData>
        </a:graphic>
      </p:graphicFrame>
      <p:sp>
        <p:nvSpPr>
          <p:cNvPr id="25" name="Arrow: Right 24">
            <a:extLst>
              <a:ext uri="{FF2B5EF4-FFF2-40B4-BE49-F238E27FC236}">
                <a16:creationId xmlns:a16="http://schemas.microsoft.com/office/drawing/2014/main" id="{ADFC949D-673C-4E0C-9418-EB116841AA0B}"/>
              </a:ext>
            </a:extLst>
          </p:cNvPr>
          <p:cNvSpPr/>
          <p:nvPr>
            <p:custDataLst>
              <p:tags r:id="rId24"/>
            </p:custDataLst>
          </p:nvPr>
        </p:nvSpPr>
        <p:spPr>
          <a:xfrm>
            <a:off x="2971800" y="4495800"/>
            <a:ext cx="457200" cy="609600"/>
          </a:xfrm>
          <a:prstGeom prst="rightArrow">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Table 25">
            <a:extLst>
              <a:ext uri="{FF2B5EF4-FFF2-40B4-BE49-F238E27FC236}">
                <a16:creationId xmlns:a16="http://schemas.microsoft.com/office/drawing/2014/main" id="{DF1B350C-0C07-4AD2-BBFE-D982B8DC9838}"/>
              </a:ext>
            </a:extLst>
          </p:cNvPr>
          <p:cNvGraphicFramePr>
            <a:graphicFrameLocks noGrp="1"/>
          </p:cNvGraphicFramePr>
          <p:nvPr>
            <p:custDataLst>
              <p:tags r:id="rId25"/>
            </p:custDataLst>
          </p:nvPr>
        </p:nvGraphicFramePr>
        <p:xfrm>
          <a:off x="6353355" y="3124200"/>
          <a:ext cx="2514600" cy="333756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497083988"/>
                    </a:ext>
                  </a:extLst>
                </a:gridCol>
                <a:gridCol w="1828800">
                  <a:extLst>
                    <a:ext uri="{9D8B030D-6E8A-4147-A177-3AD203B41FA5}">
                      <a16:colId xmlns:a16="http://schemas.microsoft.com/office/drawing/2014/main" val="1877466339"/>
                    </a:ext>
                  </a:extLst>
                </a:gridCol>
              </a:tblGrid>
              <a:tr h="370840">
                <a:tc gridSpan="2">
                  <a:txBody>
                    <a:bodyPr/>
                    <a:lstStyle/>
                    <a:p>
                      <a:pPr algn="ctr"/>
                      <a:r>
                        <a:rPr lang="en-US" b="1" dirty="0"/>
                        <a:t>Codeword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1</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2</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2</a:t>
                      </a:r>
                      <a:r>
                        <a:rPr lang="en-US" sz="1800" dirty="0">
                          <a:latin typeface="+mn-lt"/>
                        </a:rPr>
                        <a:t> = b</a:t>
                      </a:r>
                      <a:r>
                        <a:rPr lang="en-US" sz="1800" baseline="-25000" dirty="0">
                          <a:latin typeface="+mn-lt"/>
                        </a:rPr>
                        <a:t>1</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C</a:t>
                      </a:r>
                      <a:r>
                        <a:rPr lang="en-US" sz="1800" baseline="-25000" dirty="0">
                          <a:latin typeface="+mn-lt"/>
                        </a:rPr>
                        <a:t>3</a:t>
                      </a:r>
                      <a:r>
                        <a:rPr lang="en-US" sz="1800" dirty="0">
                          <a:latin typeface="+mn-lt"/>
                        </a:rPr>
                        <a:t> = b</a:t>
                      </a:r>
                      <a:r>
                        <a:rPr lang="en-US" sz="1800" baseline="-25000" dirty="0">
                          <a:latin typeface="+mn-lt"/>
                        </a:rPr>
                        <a:t>2</a:t>
                      </a:r>
                      <a:r>
                        <a:rPr lang="en-US" sz="1800" dirty="0">
                          <a:latin typeface="+mn-lt"/>
                        </a:rPr>
                        <a:t>⊕b</a:t>
                      </a:r>
                      <a:r>
                        <a:rPr lang="en-US" sz="1800" baseline="-25000" dirty="0">
                          <a:latin typeface="+mn-lt"/>
                        </a:rPr>
                        <a:t>3</a:t>
                      </a:r>
                      <a:r>
                        <a:rPr lang="en-US" sz="1800" dirty="0">
                          <a:latin typeface="+mn-lt"/>
                        </a:rPr>
                        <a:t>⊕b</a:t>
                      </a:r>
                      <a:r>
                        <a:rPr lang="en-US" sz="1800" baseline="-25000" dirty="0">
                          <a:latin typeface="+mn-lt"/>
                        </a:rPr>
                        <a:t>4</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474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4353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15774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a:ea typeface="+mn-ea"/>
                          <a:cs typeface="+mn-cs"/>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3509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a:t>
                      </a:r>
                      <a:r>
                        <a:rPr kumimoji="0" lang="en-US" sz="1800" b="0" i="0" u="none" strike="noStrike" kern="1200" cap="none" spc="0" normalizeH="0" baseline="-25000" noProof="0" dirty="0">
                          <a:ln>
                            <a:noFill/>
                          </a:ln>
                          <a:solidFill>
                            <a:prstClr val="black"/>
                          </a:solidFill>
                          <a:effectLst/>
                          <a:uLnTx/>
                          <a:uFillTx/>
                          <a:latin typeface="+mn-lt"/>
                          <a:ea typeface="+mn-ea"/>
                          <a:cs typeface="+mn-cs"/>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P = W</a:t>
                      </a:r>
                      <a:r>
                        <a:rPr lang="en-US" sz="1800" baseline="-25000" dirty="0">
                          <a:latin typeface="+mn-lt"/>
                        </a:rPr>
                        <a:t>1</a:t>
                      </a:r>
                      <a:r>
                        <a:rPr lang="en-US" sz="1800" dirty="0">
                          <a:latin typeface="+mn-lt"/>
                        </a:rPr>
                        <a:t>⊕…⊕W</a:t>
                      </a:r>
                      <a:r>
                        <a:rPr lang="en-US" sz="1800" baseline="-25000" dirty="0">
                          <a:latin typeface="+mn-lt"/>
                        </a:rPr>
                        <a:t>7</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102305"/>
                  </a:ext>
                </a:extLst>
              </a:tr>
            </a:tbl>
          </a:graphicData>
        </a:graphic>
      </p:graphicFrame>
      <p:graphicFrame>
        <p:nvGraphicFramePr>
          <p:cNvPr id="27" name="Table 26">
            <a:extLst>
              <a:ext uri="{FF2B5EF4-FFF2-40B4-BE49-F238E27FC236}">
                <a16:creationId xmlns:a16="http://schemas.microsoft.com/office/drawing/2014/main" id="{B69CBFA2-8995-4306-8B28-0A702116B30A}"/>
              </a:ext>
            </a:extLst>
          </p:cNvPr>
          <p:cNvGraphicFramePr>
            <a:graphicFrameLocks noGrp="1"/>
          </p:cNvGraphicFramePr>
          <p:nvPr>
            <p:custDataLst>
              <p:tags r:id="rId26"/>
            </p:custDataLst>
          </p:nvPr>
        </p:nvGraphicFramePr>
        <p:xfrm>
          <a:off x="3581400" y="4058920"/>
          <a:ext cx="2514600" cy="1854200"/>
        </p:xfrm>
        <a:graphic>
          <a:graphicData uri="http://schemas.openxmlformats.org/drawingml/2006/table">
            <a:tbl>
              <a:tblPr>
                <a:tableStyleId>{5C22544A-7EE6-4342-B048-85BDC9FD1C3A}</a:tableStyleId>
              </a:tblPr>
              <a:tblGrid>
                <a:gridCol w="457200">
                  <a:extLst>
                    <a:ext uri="{9D8B030D-6E8A-4147-A177-3AD203B41FA5}">
                      <a16:colId xmlns:a16="http://schemas.microsoft.com/office/drawing/2014/main" val="2497083988"/>
                    </a:ext>
                  </a:extLst>
                </a:gridCol>
                <a:gridCol w="2057400">
                  <a:extLst>
                    <a:ext uri="{9D8B030D-6E8A-4147-A177-3AD203B41FA5}">
                      <a16:colId xmlns:a16="http://schemas.microsoft.com/office/drawing/2014/main" val="1877466339"/>
                    </a:ext>
                  </a:extLst>
                </a:gridCol>
              </a:tblGrid>
              <a:tr h="370840">
                <a:tc gridSpan="2">
                  <a:txBody>
                    <a:bodyPr/>
                    <a:lstStyle/>
                    <a:p>
                      <a:pPr algn="ctr"/>
                      <a:r>
                        <a:rPr lang="en-US" b="1" dirty="0"/>
                        <a:t>Syndrome, Parity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08733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684175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3087907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0</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135297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rPr>
                        <a:t>1</a:t>
                      </a:r>
                      <a:endParaRPr kumimoji="0" lang="en-US" sz="1800" b="0" i="0" u="none" strike="noStrike" kern="1200" cap="none" spc="0" normalizeH="0" baseline="-25000" noProof="0" dirty="0">
                        <a:ln>
                          <a:noFill/>
                        </a:ln>
                        <a:solidFill>
                          <a:prstClr val="black"/>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979451835"/>
                  </a:ext>
                </a:extLst>
              </a:tr>
            </a:tbl>
          </a:graphicData>
        </a:graphic>
      </p:graphicFrame>
    </p:spTree>
    <p:custDataLst>
      <p:tags r:id="rId1"/>
    </p:custDataLst>
    <p:extLst>
      <p:ext uri="{BB962C8B-B14F-4D97-AF65-F5344CB8AC3E}">
        <p14:creationId xmlns:p14="http://schemas.microsoft.com/office/powerpoint/2010/main" val="30439746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8"/>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9"/>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20"/>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2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2"/>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3"/>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P spid="23" grpId="1"/>
      <p:bldP spid="28" grpId="0"/>
      <p:bldP spid="7" grpId="0" animBg="1"/>
      <p:bldP spid="12" grpId="0" animBg="1"/>
      <p:bldP spid="12" grpId="1" animBg="1"/>
      <p:bldP spid="16" grpId="0" animBg="1"/>
      <p:bldP spid="16" grpId="1" animBg="1"/>
      <p:bldP spid="20" grpId="0" animBg="1"/>
      <p:bldP spid="20" grpId="1" animBg="1"/>
      <p:bldP spid="2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PERSISTENCEDATA" val="MMPROD_UIPERSISTENCEDATA"/>
  <p:tag name="MMPROD_UIDATA" val="&lt;database version=&quot;11.0&quot;&gt;&lt;object type=&quot;1&quot; unique_id=&quot;10001&quot;&gt;&lt;property id=&quot;20141&quot; value=&quot;ECE/CS 552 - Memory, ECC and IO&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MemoryECCIO&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476&quot;&gt;&lt;/object&gt;&lt;object type=&quot;2&quot; unique_id=&quot;10477&quot;&gt;&lt;object type=&quot;3&quot; unique_id=&quot;20325&quot;&gt;&lt;property id=&quot;20148&quot; value=&quot;5&quot;/&gt;&lt;property id=&quot;20300&quot; value=&quot;Slide 1 - &amp;quot;ECE/CS 552: Memory, ECC and I/O&amp;quot;&quot;/&gt;&lt;property id=&quot;20307&quot; value=&quot;691&quot;/&gt;&lt;property id=&quot;20309&quot; value=&quot;-1&quot;/&gt;&lt;/object&gt;&lt;object type=&quot;3&quot; unique_id=&quot;20328&quot;&gt;&lt;property id=&quot;20148&quot; value=&quot;5&quot;/&gt;&lt;property id=&quot;20300&quot; value=&quot;Slide 9 - &amp;quot;ECC&amp;quot;&quot;/&gt;&lt;property id=&quot;20307&quot; value=&quot;533&quot;/&gt;&lt;property id=&quot;20309&quot; value=&quot;-1&quot;/&gt;&lt;/object&gt;&lt;object type=&quot;3&quot; unique_id=&quot;20329&quot;&gt;&lt;property id=&quot;20148&quot; value=&quot;5&quot;/&gt;&lt;property id=&quot;20300&quot; value=&quot;Slide 11 - &amp;quot;No ECC&amp;quot;&quot;/&gt;&lt;property id=&quot;20307&quot; value=&quot;700&quot;/&gt;&lt;property id=&quot;20309&quot; value=&quot;-1&quot;/&gt;&lt;/object&gt;&lt;object type=&quot;3&quot; unique_id=&quot;20331&quot;&gt;&lt;property id=&quot;20148&quot; value=&quot;5&quot;/&gt;&lt;property id=&quot;20300&quot; value=&quot;Slide 12 - &amp;quot;Single Error Detection (SED)&amp;quot;&quot;/&gt;&lt;property id=&quot;20307&quot; value=&quot;707&quot;/&gt;&lt;property id=&quot;20309&quot; value=&quot;-1&quot;/&gt;&lt;/object&gt;&lt;object type=&quot;3&quot; unique_id=&quot;20334&quot;&gt;&lt;property id=&quot;20148&quot; value=&quot;5&quot;/&gt;&lt;property id=&quot;20300&quot; value=&quot;Slide 13 - &amp;quot;Single Error Correction (SECSED)&amp;quot;&quot;/&gt;&lt;property id=&quot;20307&quot; value=&quot;705&quot;/&gt;&lt;property id=&quot;20309&quot; value=&quot;-1&quot;/&gt;&lt;/object&gt;&lt;object type=&quot;3&quot; unique_id=&quot;20337&quot;&gt;&lt;property id=&quot;20148&quot; value=&quot;5&quot;/&gt;&lt;property id=&quot;20300&quot; value=&quot;Slide 14 - &amp;quot;SED – Parity&amp;quot;&quot;/&gt;&lt;property id=&quot;20307&quot; value=&quot;723&quot;/&gt;&lt;property id=&quot;20309&quot; value=&quot;-1&quot;/&gt;&lt;/object&gt;&lt;object type=&quot;3&quot; unique_id=&quot;20338&quot;&gt;&lt;property id=&quot;20148&quot; value=&quot;5&quot;/&gt;&lt;property id=&quot;20300&quot; value=&quot;Slide 15 - &amp;quot;SECSED – Hamming Code&amp;quot;&quot;/&gt;&lt;property id=&quot;20307&quot; value=&quot;713&quot;/&gt;&lt;property id=&quot;20309&quot; value=&quot;-1&quot;/&gt;&lt;/object&gt;&lt;object type=&quot;3&quot; unique_id=&quot;20339&quot;&gt;&lt;property id=&quot;20148&quot; value=&quot;5&quot;/&gt;&lt;property id=&quot;20300&quot; value=&quot;Slide 16 - &amp;quot;SECSED – Hamming(7,4)&amp;quot;&quot;/&gt;&lt;property id=&quot;20307&quot; value=&quot;710&quot;/&gt;&lt;property id=&quot;20309&quot; value=&quot;-1&quot;/&gt;&lt;/object&gt;&lt;object type=&quot;3&quot; unique_id=&quot;20340&quot;&gt;&lt;property id=&quot;20148&quot; value=&quot;5&quot;/&gt;&lt;property id=&quot;20300&quot; value=&quot;Slide 17 - &amp;quot;SECSED – Hamming(7,4)&amp;quot;&quot;/&gt;&lt;property id=&quot;20307&quot; value=&quot;717&quot;/&gt;&lt;property id=&quot;20309&quot; value=&quot;-1&quot;/&gt;&lt;/object&gt;&lt;object type=&quot;3&quot; unique_id=&quot;20344&quot;&gt;&lt;property id=&quot;20148&quot; value=&quot;5&quot;/&gt;&lt;property id=&quot;20300&quot; value=&quot;Slide 19 - &amp;quot;SECSED – Hamming(7,4)&amp;quot;&quot;/&gt;&lt;property id=&quot;20307&quot; value=&quot;716&quot;/&gt;&lt;property id=&quot;20309&quot; value=&quot;-1&quot;/&gt;&lt;/object&gt;&lt;object type=&quot;3&quot; unique_id=&quot;20349&quot;&gt;&lt;property id=&quot;20148&quot; value=&quot;5&quot;/&gt;&lt;property id=&quot;20300&quot; value=&quot;Slide 18 - &amp;quot;SECSED – Hamming(7,4)&amp;quot;&quot;/&gt;&lt;property id=&quot;20307&quot; value=&quot;727&quot;/&gt;&lt;property id=&quot;20309&quot; value=&quot;-1&quot;/&gt;&lt;/object&gt;&lt;object type=&quot;3&quot; unique_id=&quot;20350&quot;&gt;&lt;property id=&quot;20148&quot; value=&quot;5&quot;/&gt;&lt;property id=&quot;20300&quot; value=&quot;Slide 20 - &amp;quot;SECDED – Hamming(7,4) + Parity&amp;quot;&quot;/&gt;&lt;property id=&quot;20307&quot; value=&quot;728&quot;/&gt;&lt;property id=&quot;20309&quot; value=&quot;-1&quot;/&gt;&lt;/object&gt;&lt;object type=&quot;3&quot; unique_id=&quot;20351&quot;&gt;&lt;property id=&quot;20148&quot; value=&quot;5&quot;/&gt;&lt;property id=&quot;20300&quot; value=&quot;Slide 21 - &amp;quot;SECDED – Hamming(7,4) + Parity&amp;quot;&quot;/&gt;&lt;property id=&quot;20307&quot; value=&quot;729&quot;/&gt;&lt;property id=&quot;20309&quot; value=&quot;-1&quot;/&gt;&lt;/object&gt;&lt;object type=&quot;3&quot; unique_id=&quot;20354&quot;&gt;&lt;property id=&quot;20148&quot; value=&quot;5&quot;/&gt;&lt;property id=&quot;20300&quot; value=&quot;Slide 22 - &amp;quot;SECDED – Hamming(7,4) + Parity&amp;quot;&quot;/&gt;&lt;property id=&quot;20307&quot; value=&quot;733&quot;/&gt;&lt;property id=&quot;20309&quot; value=&quot;-1&quot;/&gt;&lt;/object&gt;&lt;object type=&quot;3&quot; unique_id=&quot;20365&quot;&gt;&lt;property id=&quot;20148&quot; value=&quot;5&quot;/&gt;&lt;property id=&quot;20300&quot; value=&quot;Slide 23 - &amp;quot;SECDED – Hamming(7,4) + Parity&amp;quot;&quot;/&gt;&lt;property id=&quot;20307&quot; value=&quot;770&quot;/&gt;&lt;property id=&quot;20309&quot; value=&quot;-1&quot;/&gt;&lt;/object&gt;&lt;object type=&quot;3&quot; unique_id=&quot;21310&quot;&gt;&lt;property id=&quot;20148&quot; value=&quot;5&quot;/&gt;&lt;property id=&quot;20300&quot; value=&quot;Slide 2 - &amp;quot;Main Memory&amp;quot;&quot;/&gt;&lt;property id=&quot;20307&quot; value=&quot;771&quot;/&gt;&lt;property id=&quot;20309&quot; value=&quot;-1&quot;/&gt;&lt;/object&gt;&lt;object type=&quot;3&quot; unique_id=&quot;21311&quot;&gt;&lt;property id=&quot;20148&quot; value=&quot;5&quot;/&gt;&lt;property id=&quot;20300&quot; value=&quot;Slide 3 - &amp;quot;Main Memory – DRAM &amp;quot;&quot;/&gt;&lt;property id=&quot;20307&quot; value=&quot;772&quot;/&gt;&lt;property id=&quot;20309&quot; value=&quot;-1&quot;/&gt;&lt;/object&gt;&lt;object type=&quot;3&quot; unique_id=&quot;21313&quot;&gt;&lt;property id=&quot;20148&quot; value=&quot;5&quot;/&gt;&lt;property id=&quot;20300&quot; value=&quot;Slide 4 - &amp;quot;Main Memory – Access&amp;quot;&quot;/&gt;&lt;property id=&quot;20307&quot; value=&quot;774&quot;/&gt;&lt;property id=&quot;20309&quot; value=&quot;-1&quot;/&gt;&lt;/object&gt;&lt;object type=&quot;3&quot; unique_id=&quot;21314&quot;&gt;&lt;property id=&quot;20148&quot; value=&quot;5&quot;/&gt;&lt;property id=&quot;20300&quot; value=&quot;Slide 8 - &amp;quot;Main Memory – Access&amp;quot;&quot;/&gt;&lt;property id=&quot;20307&quot; value=&quot;775&quot;/&gt;&lt;property id=&quot;20309&quot; value=&quot;-1&quot;/&gt;&lt;/object&gt;&lt;object type=&quot;3&quot; unique_id=&quot;21315&quot;&gt;&lt;property id=&quot;20148&quot; value=&quot;5&quot;/&gt;&lt;property id=&quot;20300&quot; value=&quot;Slide 10 - &amp;quot;ECC&amp;quot;&quot;/&gt;&lt;property id=&quot;20307&quot; value=&quot;777&quot;/&gt;&lt;property id=&quot;20309&quot; value=&quot;-1&quot;/&gt;&lt;/object&gt;&lt;object type=&quot;3&quot; unique_id=&quot;22498&quot;&gt;&lt;property id=&quot;20148&quot; value=&quot;5&quot;/&gt;&lt;property id=&quot;20300&quot; value=&quot;Slide 24 - &amp;quot;Input/Output&amp;quot;&quot;/&gt;&lt;property id=&quot;20307&quot; value=&quot;778&quot;/&gt;&lt;property id=&quot;20309&quot; value=&quot;-1&quot;/&gt;&lt;/object&gt;&lt;object type=&quot;3&quot; unique_id=&quot;22499&quot;&gt;&lt;property id=&quot;20148&quot; value=&quot;5&quot;/&gt;&lt;property id=&quot;20300&quot; value=&quot;Slide 29 - &amp;quot;Input/Output&amp;quot;&quot;/&gt;&lt;property id=&quot;20307&quot; value=&quot;779&quot;/&gt;&lt;property id=&quot;20309&quot; value=&quot;-1&quot;/&gt;&lt;/object&gt;&lt;object type=&quot;3&quot; unique_id=&quot;22500&quot;&gt;&lt;property id=&quot;20148&quot; value=&quot;5&quot;/&gt;&lt;property id=&quot;20300&quot; value=&quot;Slide 30 - &amp;quot;Input/Output&amp;quot;&quot;/&gt;&lt;property id=&quot;20307&quot; value=&quot;780&quot;/&gt;&lt;property id=&quot;20309&quot; value=&quot;-1&quot;/&gt;&lt;/object&gt;&lt;object type=&quot;3&quot; unique_id=&quot;23200&quot;&gt;&lt;property id=&quot;20148&quot; value=&quot;5&quot;/&gt;&lt;property id=&quot;20300&quot; value=&quot;Slide 31 - &amp;quot;Buses&amp;quot;&quot;/&gt;&lt;property id=&quot;20307&quot; value=&quot;782&quot;/&gt;&lt;property id=&quot;20309&quot; value=&quot;-1&quot;/&gt;&lt;/object&gt;&lt;object type=&quot;3&quot; unique_id=&quot;23201&quot;&gt;&lt;property id=&quot;20148&quot; value=&quot;5&quot;/&gt;&lt;property id=&quot;20300&quot; value=&quot;Slide 32 - &amp;quot;Buses&amp;quot;&quot;/&gt;&lt;property id=&quot;20307&quot; value=&quot;787&quot;/&gt;&lt;property id=&quot;20309&quot; value=&quot;-1&quot;/&gt;&lt;/object&gt;&lt;object type=&quot;3&quot; unique_id=&quot;23203&quot;&gt;&lt;property id=&quot;20148&quot; value=&quot;5&quot;/&gt;&lt;property id=&quot;20300&quot; value=&quot;Slide 33 - &amp;quot;Buses&amp;quot;&quot;/&gt;&lt;property id=&quot;20307&quot; value=&quot;784&quot;/&gt;&lt;property id=&quot;20309&quot; value=&quot;-1&quot;/&gt;&lt;/object&gt;&lt;object type=&quot;3&quot; unique_id=&quot;23204&quot;&gt;&lt;property id=&quot;20148&quot; value=&quot;5&quot;/&gt;&lt;property id=&quot;20300&quot; value=&quot;Slide 34 - &amp;quot;Buses – Asynchronous&amp;quot;&quot;/&gt;&lt;property id=&quot;20307&quot; value=&quot;785&quot;/&gt;&lt;property id=&quot;20309&quot; value=&quot;-1&quot;/&gt;&lt;/object&gt;&lt;object type=&quot;3&quot; unique_id=&quot;23561&quot;&gt;&lt;property id=&quot;20148&quot; value=&quot;5&quot;/&gt;&lt;property id=&quot;20300&quot; value=&quot;Slide 35 - &amp;quot;Input/Output – Caches&amp;quot;&quot;/&gt;&lt;property id=&quot;20307&quot; value=&quot;788&quot;/&gt;&lt;property id=&quot;20309&quot; value=&quot;-1&quot;/&gt;&lt;/object&gt;&lt;object type=&quot;3&quot; unique_id=&quot;23562&quot;&gt;&lt;property id=&quot;20148&quot; value=&quot;5&quot;/&gt;&lt;property id=&quot;20300&quot; value=&quot;Slide 36 - &amp;quot;Input/Output – Caches&amp;quot;&quot;/&gt;&lt;property id=&quot;20307&quot; value=&quot;789&quot;/&gt;&lt;property id=&quot;20309&quot; value=&quot;-1&quot;/&gt;&lt;/object&gt;&lt;object type=&quot;3&quot; unique_id=&quot;201202&quot;&gt;&lt;property id=&quot;20148&quot; value=&quot;5&quot;/&gt;&lt;property id=&quot;20300&quot; value=&quot;Slide 5 - &amp;quot;Main Memory – Access&amp;quot;&quot;/&gt;&lt;property id=&quot;20307&quot; value=&quot;790&quot;/&gt;&lt;property id=&quot;20309&quot; value=&quot;-1&quot;/&gt;&lt;/object&gt;&lt;object type=&quot;3&quot; unique_id=&quot;201393&quot;&gt;&lt;property id=&quot;20148&quot; value=&quot;5&quot;/&gt;&lt;property id=&quot;20300&quot; value=&quot;Slide 6 - &amp;quot;Main Memory – Access&amp;quot;&quot;/&gt;&lt;property id=&quot;20307&quot; value=&quot;792&quot;/&gt;&lt;property id=&quot;20309&quot; value=&quot;-1&quot;/&gt;&lt;/object&gt;&lt;object type=&quot;3&quot; unique_id=&quot;201394&quot;&gt;&lt;property id=&quot;20148&quot; value=&quot;5&quot;/&gt;&lt;property id=&quot;20300&quot; value=&quot;Slide 7 - &amp;quot;Main Memory – Access&amp;quot;&quot;/&gt;&lt;property id=&quot;20307&quot; value=&quot;791&quot;/&gt;&lt;property id=&quot;20309&quot; value=&quot;-1&quot;/&gt;&lt;/object&gt;&lt;object type=&quot;3&quot; unique_id=&quot;202687&quot;&gt;&lt;property id=&quot;20148&quot; value=&quot;5&quot;/&gt;&lt;property id=&quot;20300&quot; value=&quot;Slide 26 - &amp;quot;Disk – RAID&amp;quot;&quot;/&gt;&lt;property id=&quot;20307&quot; value=&quot;794&quot;/&gt;&lt;property id=&quot;20309&quot; value=&quot;-1&quot;/&gt;&lt;/object&gt;&lt;object type=&quot;3&quot; unique_id=&quot;202888&quot;&gt;&lt;property id=&quot;20148&quot; value=&quot;5&quot;/&gt;&lt;property id=&quot;20300&quot; value=&quot;Slide 25 - &amp;quot;Disk&amp;quot;&quot;/&gt;&lt;property id=&quot;20307&quot; value=&quot;795&quot;/&gt;&lt;property id=&quot;20309&quot; value=&quot;-1&quot;/&gt;&lt;/object&gt;&lt;object type=&quot;3&quot; unique_id=&quot;203763&quot;&gt;&lt;property id=&quot;20148&quot; value=&quot;5&quot;/&gt;&lt;property id=&quot;20300&quot; value=&quot;Slide 27 - &amp;quot;Disk – RAID&amp;quot;&quot;/&gt;&lt;property id=&quot;20307&quot; value=&quot;797&quot;/&gt;&lt;property id=&quot;20309&quot; value=&quot;-1&quot;/&gt;&lt;/object&gt;&lt;object type=&quot;3&quot; unique_id=&quot;204151&quot;&gt;&lt;property id=&quot;20148&quot; value=&quot;5&quot;/&gt;&lt;property id=&quot;20300&quot; value=&quot;Slide 28 - &amp;quot;Disk – RAID&amp;quot;&quot;/&gt;&lt;property id=&quot;20307&quot; value=&quot;798&quot;/&gt;&lt;property id=&quot;20309&quot; value=&quot;-1&quot;/&gt;&lt;/object&gt;&lt;object type=&quot;3&quot; unique_id=&quot;207012&quot;&gt;&lt;property id=&quot;20148&quot; value=&quot;5&quot;/&gt;&lt;property id=&quot;20300&quot; value=&quot;Slide 37 - &amp;quot;Exercise – SECDED&amp;quot;&quot;/&gt;&lt;property id=&quot;20307&quot; value=&quot;799&quot;/&gt;&lt;property id=&quot;20309&quot; value=&quot;-1&quot;/&gt;&lt;/object&gt;&lt;/object&gt;&lt;object type=&quot;10&quot; unique_id=&quot;19997&quot;&gt;&lt;object type=&quot;11&quot; unique_id=&quot;19998&quot;&gt;&lt;property id=&quot;20180&quot; value=&quot;0&quot;/&gt;&lt;property id=&quot;20181&quot; value=&quot;1&quot;/&gt;&lt;property id=&quot;20183&quot; value=&quot;1&quot;/&gt;&lt;/object&gt;&lt;object type=&quot;12&quot; unique_id=&quot;210754&quot;&gt;&lt;/object&gt;&lt;/object&gt;&lt;object type=&quot;4&quot; unique_id=&quot;19999&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564884097,C:\Users\sanmi\GoogleDrive\UWMdrive\Courses\ECE552\ece552-lec14_MemoryECCIO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137AA43-5CAE-4723-8C13-64DBE5363107}_1.png&quot;/&gt;&lt;left val=&quot;35&quot;/&gt;&lt;top val=&quot;195&quot;/&gt;&lt;width val=&quot;648&quot;/&gt;&lt;height val=&quot;98&quot;/&gt;&lt;hasText val=&quot;1&quot;/&gt;&lt;/Image&gt;&lt;/ThreeDShapeInfo&gt;"/>
  <p:tag name="PRESENTER_SHAPETEXTINFO" val="&lt;ShapeTextInfo&gt;&lt;TableIndex row=&quot;-1&quot; col=&quot;-1&quot;&gt;&lt;linesCount val=&quot;1&quot;/&gt;&lt;lineCharCount val=&quot;31&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5AB1CD6-57B7-4431-B630-7D858B15A42D}_1.png&quot;/&gt;&lt;left val=&quot;104&quot;/&gt;&lt;top val=&quot;298&quot;/&gt;&lt;width val=&quot;515&quot;/&gt;&lt;height val=&quot;145&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61&quot;/&gt;&lt;lineCharCount val=&quot;6&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564884097,C:\Users\sanmi\GoogleDrive\UWMdrive\Courses\ECE552\ece552-lec14_MemoryECCIO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811D1D8-6DA8-46A0-ABEF-6F9B5A16DE84}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8B04C86-2AF6-4775-A5D9-25A3A704B91A}_2.png&quot;/&gt;&lt;left val=&quot;24&quot;/&gt;&lt;top val=&quot;115&quot;/&gt;&lt;width val=&quot;659&quot;/&gt;&lt;height val=&quot;367&quot;/&gt;&lt;hasText val=&quot;1&quot;/&gt;&lt;/Image&gt;&lt;/ThreeDShapeInfo&gt;"/>
  <p:tag name="PRESENTER_SHAPETEXTINFO" val="&lt;ShapeTextInfo&gt;&lt;TableIndex row=&quot;-1&quot; col=&quot;-1&quot;&gt;&lt;linesCount val=&quot;7&quot;/&gt;&lt;lineCharCount val=&quot;21&quot;/&gt;&lt;lineCharCount val=&quot;19&quot;/&gt;&lt;lineCharCount val=&quot;25&quot;/&gt;&lt;lineCharCount val=&quot;31&quot;/&gt;&lt;lineCharCount val=&quot;27&quot;/&gt;&lt;lineCharCount val=&quot;42&quot;/&gt;&lt;lineCharCount val=&quot;46&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761DF34-3565-4FCB-8202-0C62A32C125F}_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564884097,C:\Users\sanmi\GoogleDrive\UWMdrive\Courses\ECE552\ece552-lec14_MemoryECCIO_pptx\Media.ppcx"/>
  <p:tag name="TIMING" val="|33.8"/>
</p:tagLst>
</file>

<file path=ppt/tags/tag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23E7D15E-EA09-4E0C-9461-BB7F5942DADB}&quot;/&gt;&lt;isInvalidForFieldText val=&quot;0&quot;/&gt;&lt;Image&gt;&lt;filename val=&quot;C:\Users\sanmi\Documents\My Adobe Presentations\ece552-MemoryECCIO\data\asimages\{23E7D15E-EA09-4E0C-9461-BB7F5942DADB}.png&quot;/&gt;&lt;left val=&quot;119&quot;/&gt;&lt;top val=&quot;23&quot;/&gt;&lt;width val=&quot;528&quot;/&gt;&lt;height val=&quot;390&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857F6A1-F0D9-41B3-A615-EDB19AFF876E}_3.png&quot;/&gt;&lt;left val=&quot;7&quot;/&gt;&lt;top val=&quot;400&quot;/&gt;&lt;width val=&quot;345&quot;/&gt;&lt;height val=&quot;139&quot;/&gt;&lt;hasText val=&quot;1&quot;/&gt;&lt;/Image&gt;&lt;/ThreeDShapeInfo&gt;"/>
  <p:tag name="PRESENTER_SHAPETEXTINFO" val="&lt;ShapeTextInfo&gt;&lt;TableIndex row=&quot;-1&quot; col=&quot;-1&quot;&gt;&lt;linesCount val=&quot;5&quot;/&gt;&lt;lineCharCount val=&quot;35&quot;/&gt;&lt;lineCharCount val=&quot;19&quot;/&gt;&lt;lineCharCount val=&quot;23&quot;/&gt;&lt;lineCharCount val=&quot;22&quot;/&gt;&lt;lineCharCount val=&quot;16&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968398C7-BA8B-4F2E-BC97-1A79F1D2F406}&quot;/&gt;&lt;isInvalidForFieldText val=&quot;0&quot;/&gt;&lt;Image&gt;&lt;filename val=&quot;C:\Users\sanmi\Documents\My Adobe Presentations\ece552-MemoryECCIO\data\asimages\{968398C7-BA8B-4F2E-BC97-1A79F1D2F406}.png&quot;/&gt;&lt;left val=&quot;178&quot;/&gt;&lt;top val=&quot;425&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C3EC1091-485B-496E-8C49-32E338856E3A}&quot;/&gt;&lt;isInvalidForFieldText val=&quot;0&quot;/&gt;&lt;Image&gt;&lt;filename val=&quot;C:\Users\sanmi\Documents\My Adobe Presentations\ece552-MemoryECCIO\data\asimages\{C3EC1091-485B-496E-8C49-32E338856E3A}.png&quot;/&gt;&lt;left val=&quot;178&quot;/&gt;&lt;top val=&quot;430&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002311A3-ADF5-4585-B217-2DB1FE15ED8F}&quot;/&gt;&lt;isInvalidForFieldText val=&quot;0&quot;/&gt;&lt;Image&gt;&lt;filename val=&quot;C:\Users\sanmi\Documents\My Adobe Presentations\ece552-MemoryECCIO\data\asimages\{002311A3-ADF5-4585-B217-2DB1FE15ED8F}.png&quot;/&gt;&lt;left val=&quot;176&quot;/&gt;&lt;top val=&quot;383&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979348-EB05-4C17-87D1-AE1ECCB6F556}&quot;/&gt;&lt;isInvalidForFieldText val=&quot;0&quot;/&gt;&lt;Image&gt;&lt;filename val=&quot;C:\Users\sanmi\Documents\My Adobe Presentations\ece552-MemoryECCIO\data\asimages\{83979348-EB05-4C17-87D1-AE1ECCB6F556}.png&quot;/&gt;&lt;left val=&quot;176&quot;/&gt;&lt;top val=&quot;385&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90E6BE2B-0AD9-4C6F-91DF-2FCCAAB253CB}&quot;/&gt;&lt;isInvalidForFieldText val=&quot;0&quot;/&gt;&lt;Image&gt;&lt;filename val=&quot;C:\Users\sanmi\Documents\My Adobe Presentations\ece552-MemoryECCIO\data\asimages\{90E6BE2B-0AD9-4C6F-91DF-2FCCAAB253CB}.png&quot;/&gt;&lt;left val=&quot;210&quot;/&gt;&lt;top val=&quot;383&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45DE23F6-5F5E-4C77-89A4-C093BBB11FE5}&quot;/&gt;&lt;isInvalidForFieldText val=&quot;0&quot;/&gt;&lt;Image&gt;&lt;filename val=&quot;C:\Users\sanmi\Documents\My Adobe Presentations\ece552-MemoryECCIO\data\asimages\{45DE23F6-5F5E-4C77-89A4-C093BBB11FE5}.png&quot;/&gt;&lt;left val=&quot;210&quot;/&gt;&lt;top val=&quot;386&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317003-29DF-424C-B4FC-A4D5BCB224F0}&quot;/&gt;&lt;isInvalidForFieldText val=&quot;0&quot;/&gt;&lt;Image&gt;&lt;filename val=&quot;C:\Users\sanmi\Documents\My Adobe Presentations\ece552-MemoryECCIO\data\asimages\{6C317003-29DF-424C-B4FC-A4D5BCB224F0}.png&quot;/&gt;&lt;left val=&quot;217&quot;/&gt;&lt;top val=&quot;377&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E1C8C133-7856-4500-9073-3C368BAF237C}&quot;/&gt;&lt;isInvalidForFieldText val=&quot;0&quot;/&gt;&lt;Image&gt;&lt;filename val=&quot;C:\Users\sanmi\Documents\My Adobe Presentations\ece552-MemoryECCIO\data\asimages\{E1C8C133-7856-4500-9073-3C368BAF237C}.png&quot;/&gt;&lt;left val=&quot;225&quot;/&gt;&lt;top val=&quot;430&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5DE2F6B4-D204-4FD9-B8D8-F31464425294}&quot;/&gt;&lt;isInvalidForFieldText val=&quot;0&quot;/&gt;&lt;Image&gt;&lt;filename val=&quot;C:\Users\sanmi\Documents\My Adobe Presentations\ece552-MemoryECCIO\data\asimages\{5DE2F6B4-D204-4FD9-B8D8-F31464425294}.png&quot;/&gt;&lt;left val=&quot;193&quot;/&gt;&lt;top val=&quot;413&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3CDB3B3-6353-4C24-A96C-D8BCA2B9F0DC}&quot;/&gt;&lt;isInvalidForFieldText val=&quot;0&quot;/&gt;&lt;Image&gt;&lt;filename val=&quot;C:\Users\sanmi\Documents\My Adobe Presentations\ece552-MemoryECCIO\data\asimages\{23CDB3B3-6353-4C24-A96C-D8BCA2B9F0DC}.png&quot;/&gt;&lt;left val=&quot;269&quot;/&gt;&lt;top val=&quot;431&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INFO" val="&lt;ThreeDShapeInfo&gt;&lt;uuid val=&quot;{7D6F95D1-27B1-44C1-B112-BA4CDD655044}&quot;/&gt;&lt;isInvalidForFieldText val=&quot;0&quot;/&gt;&lt;Image&gt;&lt;filename val=&quot;C:\Users\sanmi\Documents\My Adobe Presentations\ece552-MemoryECCIO\data\asimages\{7D6F95D1-27B1-44C1-B112-BA4CDD655044}.png&quot;/&gt;&lt;left val=&quot;225&quot;/&gt;&lt;top val=&quot;386&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EC21E5C-1581-4615-81AE-7F09C14CB7B5}&quot;/&gt;&lt;isInvalidForFieldText val=&quot;0&quot;/&gt;&lt;Image&gt;&lt;filename val=&quot;C:\Users\sanmi\Documents\My Adobe Presentations\ece552-MemoryECCIO\data\asimages\{0EC21E5C-1581-4615-81AE-7F09C14CB7B5}.png&quot;/&gt;&lt;left val=&quot;317&quot;/&gt;&lt;top val=&quot;431&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INFO" val="&lt;ThreeDShapeInfo&gt;&lt;uuid val=&quot;{85FF9189-0130-42B3-8C68-7D8BBC39F66C}&quot;/&gt;&lt;isInvalidForFieldText val=&quot;0&quot;/&gt;&lt;Image&gt;&lt;filename val=&quot;C:\Users\sanmi\Documents\My Adobe Presentations\ece552-MemoryECCIO\data\asimages\{85FF9189-0130-42B3-8C68-7D8BBC39F66C}.png&quot;/&gt;&lt;left val=&quot;259&quot;/&gt;&lt;top val=&quot;397&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A1F489-3AB5-42DD-B95A-EE96C6E093CD}&quot;/&gt;&lt;isInvalidForFieldText val=&quot;0&quot;/&gt;&lt;Image&gt;&lt;filename val=&quot;C:\Users\sanmi\Documents\My Adobe Presentations\ece552-MemoryECCIO\data\asimages\{AAA1F489-3AB5-42DD-B95A-EE96C6E093CD}.png&quot;/&gt;&lt;left val=&quot;259&quot;/&gt;&lt;top val=&quot;389&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FEFB344-C009-4471-AC49-B362128368C1}&quot;/&gt;&lt;isInvalidForFieldText val=&quot;0&quot;/&gt;&lt;Image&gt;&lt;filename val=&quot;C:\Users\sanmi\Documents\My Adobe Presentations\ece552-MemoryECCIO\data\asimages\{5FEFB344-C009-4471-AC49-B362128368C1}.png&quot;/&gt;&lt;left val=&quot;225&quot;/&gt;&lt;top val=&quot;402&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INFO" val="&lt;ThreeDShapeInfo&gt;&lt;uuid val=&quot;{BF444E45-92C4-4F0D-AF95-94F07A797341}&quot;/&gt;&lt;isInvalidForFieldText val=&quot;0&quot;/&gt;&lt;Image&gt;&lt;filename val=&quot;C:\Users\sanmi\Documents\My Adobe Presentations\ece552-MemoryECCIO\data\asimages\{BF444E45-92C4-4F0D-AF95-94F07A797341}.png&quot;/&gt;&lt;left val=&quot;227&quot;/&gt;&lt;top val=&quot;402&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74313-7612-4E03-A16C-CC2F9161EC61}&quot;/&gt;&lt;isInvalidForFieldText val=&quot;0&quot;/&gt;&lt;Image&gt;&lt;filename val=&quot;C:\Users\sanmi\Documents\My Adobe Presentations\ece552-MemoryECCIO\data\asimages\{B2174313-7612-4E03-A16C-CC2F9161EC61}.png&quot;/&gt;&lt;left val=&quot;317&quot;/&gt;&lt;top val=&quot;403&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42037140-31F1-496A-8532-1D30100E4EAD}&quot;/&gt;&lt;isInvalidForFieldText val=&quot;0&quot;/&gt;&lt;Image&gt;&lt;filename val=&quot;C:\Users\sanmi\Documents\My Adobe Presentations\ece552-MemoryECCIO\data\asimages\{42037140-31F1-496A-8532-1D30100E4EAD}.png&quot;/&gt;&lt;left val=&quot;315&quot;/&gt;&lt;top val=&quot;402&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INFO" val="&lt;ThreeDShapeInfo&gt;&lt;uuid val=&quot;{9C96C901-7490-41B9-A862-7D18A86B8ACB}&quot;/&gt;&lt;isInvalidForFieldText val=&quot;0&quot;/&gt;&lt;Image&gt;&lt;filename val=&quot;C:\Users\sanmi\Documents\My Adobe Presentations\ece552-MemoryECCIO\data\asimages\{9C96C901-7490-41B9-A862-7D18A86B8ACB}.png&quot;/&gt;&lt;left val=&quot;400&quot;/&gt;&lt;top val=&quot;327&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3112DC-2FFF-4B7A-8022-FC6DC3EB6C0E}&quot;/&gt;&lt;isInvalidForFieldText val=&quot;0&quot;/&gt;&lt;Image&gt;&lt;filename val=&quot;C:\Users\sanmi\Documents\My Adobe Presentations\ece552-MemoryECCIO\data\asimages\{AA3112DC-2FFF-4B7A-8022-FC6DC3EB6C0E}.png&quot;/&gt;&lt;left val=&quot;381&quot;/&gt;&lt;top val=&quot;327&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69CDBA4-5A2E-481C-9B10-ECECD44A7142}&quot;/&gt;&lt;isInvalidForFieldText val=&quot;0&quot;/&gt;&lt;Image&gt;&lt;filename val=&quot;C:\Users\sanmi\Documents\My Adobe Presentations\ece552-MemoryECCIO\data\asimages\{369CDBA4-5A2E-481C-9B10-ECECD44A7142}.png&quot;/&gt;&lt;left val=&quot;429&quot;/&gt;&lt;top val=&quot;362&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D71AD056-CA25-4F74-BBF1-87DDA375E2EE}&quot;/&gt;&lt;isInvalidForFieldText val=&quot;0&quot;/&gt;&lt;Image&gt;&lt;filename val=&quot;C:\Users\sanmi\Documents\My Adobe Presentations\ece552-MemoryECCIO\data\asimages\{D71AD056-CA25-4F74-BBF1-87DDA375E2EE}.png&quot;/&gt;&lt;left val=&quot;385&quot;/&gt;&lt;top val=&quot;511&quot;/&gt;&lt;width val=&quot;1&quot;/&gt;&lt;height val=&quot;1&quot;/&gt;&lt;hasText val=&quot;1&quot;/&gt;&lt;/Image&gt;&lt;/ThreeDShapeInfo&gt;"/>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A7E32E-F0E3-4998-A3C9-1B56A0A2DBF8}&quot;/&gt;&lt;isInvalidForFieldText val=&quot;0&quot;/&gt;&lt;Image&gt;&lt;filename val=&quot;C:\Users\sanmi\Documents\My Adobe Presentations\ece552-MemoryECCIO\data\asimages\{6CA7E32E-F0E3-4998-A3C9-1B56A0A2DBF8}.png&quot;/&gt;&lt;left val=&quot;190&quot;/&gt;&lt;top val=&quot;162&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5D59AC6-229D-4C5B-96F3-38F0A79EDBCB}&quot;/&gt;&lt;isInvalidForFieldText val=&quot;0&quot;/&gt;&lt;Image&gt;&lt;filename val=&quot;C:\Users\sanmi\Documents\My Adobe Presentations\ece552-MemoryECCIO\data\asimages\{E5D59AC6-229D-4C5B-96F3-38F0A79EDBCB}.png&quot;/&gt;&lt;left val=&quot;225&quot;/&gt;&lt;top val=&quot;162&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B6C2D65-B4F9-4BB1-9B4E-E5FA86413639}&quot;/&gt;&lt;isInvalidForFieldText val=&quot;0&quot;/&gt;&lt;Image&gt;&lt;filename val=&quot;C:\Users\sanmi\Documents\My Adobe Presentations\ece552-MemoryECCIO\data\asimages\{FB6C2D65-B4F9-4BB1-9B4E-E5FA86413639}.png&quot;/&gt;&lt;left val=&quot;197&quot;/&gt;&lt;top val=&quot;186&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20A7A4-5B4C-48C1-A591-B3170146C1E7}&quot;/&gt;&lt;isInvalidForFieldText val=&quot;0&quot;/&gt;&lt;Image&gt;&lt;filename val=&quot;C:\Users\sanmi\Documents\My Adobe Presentations\ece552-MemoryECCIO\data\asimages\{C120A7A4-5B4C-48C1-A591-B3170146C1E7}.png&quot;/&gt;&lt;left val=&quot;220&quot;/&gt;&lt;top val=&quot;186&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BEE262-B54D-434F-925C-F754D6BCDD85}&quot;/&gt;&lt;isInvalidForFieldText val=&quot;0&quot;/&gt;&lt;Image&gt;&lt;filename val=&quot;C:\Users\sanmi\Documents\My Adobe Presentations\ece552-MemoryECCIO\data\asimages\{25BEE262-B54D-434F-925C-F754D6BCDD85}.png&quot;/&gt;&lt;left val=&quot;197&quot;/&gt;&lt;top val=&quot;17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9E614E-5850-465D-803E-8CBF4E11BA27}&quot;/&gt;&lt;isInvalidForFieldText val=&quot;0&quot;/&gt;&lt;Image&gt;&lt;filename val=&quot;C:\Users\sanmi\Documents\My Adobe Presentations\ece552-MemoryECCIO\data\asimages\{AA9E614E-5850-465D-803E-8CBF4E11BA27}.png&quot;/&gt;&lt;left val=&quot;220&quot;/&gt;&lt;top val=&quot;17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679F29-FC11-4875-917F-8A04282EF7FB}&quot;/&gt;&lt;isInvalidForFieldText val=&quot;0&quot;/&gt;&lt;Image&gt;&lt;filename val=&quot;C:\Users\sanmi\Documents\My Adobe Presentations\ece552-MemoryECCIO\data\asimages\{73679F29-FC11-4875-917F-8A04282EF7FB}.png&quot;/&gt;&lt;left val=&quot;197&quot;/&gt;&lt;top val=&quot;16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FA04C30B-3CCC-4DC8-AA79-960E8F5F4CC0}&quot;/&gt;&lt;isInvalidForFieldText val=&quot;0&quot;/&gt;&lt;Image&gt;&lt;filename val=&quot;C:\Users\sanmi\Documents\My Adobe Presentations\ece552-MemoryECCIO\data\asimages\{FA04C30B-3CCC-4DC8-AA79-960E8F5F4CC0}.png&quot;/&gt;&lt;left val=&quot;220&quot;/&gt;&lt;top val=&quot;16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6C97A29-7CB7-4773-AE65-C99BA12C867B}&quot;/&gt;&lt;isInvalidForFieldText val=&quot;0&quot;/&gt;&lt;Image&gt;&lt;filename val=&quot;C:\Users\sanmi\Documents\My Adobe Presentations\ece552-MemoryECCIO\data\asimages\{26C97A29-7CB7-4773-AE65-C99BA12C867B}.png&quot;/&gt;&lt;left val=&quot;267&quot;/&gt;&lt;top val=&quot;162&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INFO" val="&lt;ThreeDShapeInfo&gt;&lt;uuid val=&quot;{CC536262-9669-405D-9E44-03A0D4B654F7}&quot;/&gt;&lt;isInvalidForFieldText val=&quot;0&quot;/&gt;&lt;Image&gt;&lt;filename val=&quot;C:\Users\sanmi\Documents\My Adobe Presentations\ece552-MemoryECCIO\data\asimages\{CC536262-9669-405D-9E44-03A0D4B654F7}.png&quot;/&gt;&lt;left val=&quot;300&quot;/&gt;&lt;top val=&quot;162&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0385ECA1-2A22-483D-8681-958C3007FCFB}&quot;/&gt;&lt;isInvalidForFieldText val=&quot;0&quot;/&gt;&lt;Image&gt;&lt;filename val=&quot;C:\Users\sanmi\Documents\My Adobe Presentations\ece552-MemoryECCIO\data\asimages\{0385ECA1-2A22-483D-8681-958C3007FCFB}.png&quot;/&gt;&lt;left val=&quot;272&quot;/&gt;&lt;top val=&quot;184&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4B811DD9-B269-4AA5-B7C7-E85AB98007D1}&quot;/&gt;&lt;isInvalidForFieldText val=&quot;0&quot;/&gt;&lt;Image&gt;&lt;filename val=&quot;C:\Users\sanmi\Documents\My Adobe Presentations\ece552-MemoryECCIO\data\asimages\{4B811DD9-B269-4AA5-B7C7-E85AB98007D1}.png&quot;/&gt;&lt;left val=&quot;295&quot;/&gt;&lt;top val=&quot;184&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7CE9F612-6C70-4789-B710-C2E7E39ED438}&quot;/&gt;&lt;isInvalidForFieldText val=&quot;0&quot;/&gt;&lt;Image&gt;&lt;filename val=&quot;C:\Users\sanmi\Documents\My Adobe Presentations\ece552-MemoryECCIO\data\asimages\{7CE9F612-6C70-4789-B710-C2E7E39ED438}.png&quot;/&gt;&lt;left val=&quot;272&quot;/&gt;&lt;top val=&quot;17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INFO" val="&lt;ThreeDShapeInfo&gt;&lt;uuid val=&quot;{B5EFF044-5A9F-4503-AF1E-30577BB75BDF}&quot;/&gt;&lt;isInvalidForFieldText val=&quot;0&quot;/&gt;&lt;Image&gt;&lt;filename val=&quot;C:\Users\sanmi\Documents\My Adobe Presentations\ece552-MemoryECCIO\data\asimages\{B5EFF044-5A9F-4503-AF1E-30577BB75BDF}.png&quot;/&gt;&lt;left val=&quot;295&quot;/&gt;&lt;top val=&quot;175&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390E8639-F292-4E39-9CBD-66565BA843AE}&quot;/&gt;&lt;isInvalidForFieldText val=&quot;0&quot;/&gt;&lt;Image&gt;&lt;filename val=&quot;C:\Users\sanmi\Documents\My Adobe Presentations\ece552-MemoryECCIO\data\asimages\{390E8639-F292-4E39-9CBD-66565BA843AE}.png&quot;/&gt;&lt;left val=&quot;272&quot;/&gt;&lt;top val=&quot;164&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558A88F-A259-4310-9904-6152D3D55D3E}&quot;/&gt;&lt;isInvalidForFieldText val=&quot;0&quot;/&gt;&lt;Image&gt;&lt;filename val=&quot;C:\Users\sanmi\Documents\My Adobe Presentations\ece552-MemoryECCIO\data\asimages\{6558A88F-A259-4310-9904-6152D3D55D3E}.png&quot;/&gt;&lt;left val=&quot;295&quot;/&gt;&lt;top val=&quot;164&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4A603E9A-0162-4C56-B9B8-C5C816ADBA34}&quot;/&gt;&lt;isInvalidForFieldText val=&quot;0&quot;/&gt;&lt;Image&gt;&lt;filename val=&quot;C:\Users\sanmi\Documents\My Adobe Presentations\ece552-MemoryECCIO\data\asimages\{4A603E9A-0162-4C56-B9B8-C5C816ADBA34}.png&quot;/&gt;&lt;left val=&quot;351&quot;/&gt;&lt;top val=&quot;194&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D7C450DF-7E72-4EB0-B2CA-376A72E03BC8}&quot;/&gt;&lt;isInvalidForFieldText val=&quot;0&quot;/&gt;&lt;Image&gt;&lt;filename val=&quot;C:\Users\sanmi\Documents\My Adobe Presentations\ece552-MemoryECCIO\data\asimages\{D7C450DF-7E72-4EB0-B2CA-376A72E03BC8}.png&quot;/&gt;&lt;left val=&quot;387&quot;/&gt;&lt;top val=&quot;194&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4E4107ED-B128-495E-A14B-B33065518845}&quot;/&gt;&lt;isInvalidForFieldText val=&quot;0&quot;/&gt;&lt;Image&gt;&lt;filename val=&quot;C:\Users\sanmi\Documents\My Adobe Presentations\ece552-MemoryECCIO\data\asimages\{4E4107ED-B128-495E-A14B-B33065518845}.png&quot;/&gt;&lt;left val=&quot;359&quot;/&gt;&lt;top val=&quot;17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819DABA-BC91-4138-B816-0708DEF98951}&quot;/&gt;&lt;isInvalidForFieldText val=&quot;0&quot;/&gt;&lt;Image&gt;&lt;filename val=&quot;C:\Users\sanmi\Documents\My Adobe Presentations\ece552-MemoryECCIO\data\asimages\{A819DABA-BC91-4138-B816-0708DEF98951}.png&quot;/&gt;&lt;left val=&quot;381&quot;/&gt;&lt;top val=&quot;17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F9FA5F-2485-43C3-A209-2754E0D77D9A}&quot;/&gt;&lt;isInvalidForFieldText val=&quot;0&quot;/&gt;&lt;Image&gt;&lt;filename val=&quot;C:\Users\sanmi\Documents\My Adobe Presentations\ece552-MemoryECCIO\data\asimages\{B2F9FA5F-2485-43C3-A209-2754E0D77D9A}.png&quot;/&gt;&lt;left val=&quot;359&quot;/&gt;&lt;top val=&quot;180&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9CEEB883-E7E9-4399-802B-AEFF12E567D8}&quot;/&gt;&lt;isInvalidForFieldText val=&quot;0&quot;/&gt;&lt;Image&gt;&lt;filename val=&quot;C:\Users\sanmi\Documents\My Adobe Presentations\ece552-MemoryECCIO\data\asimages\{9CEEB883-E7E9-4399-802B-AEFF12E567D8}.png&quot;/&gt;&lt;left val=&quot;381&quot;/&gt;&lt;top val=&quot;180&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7D3DE5-F2BF-42C5-95A7-5C53DE0B0928}&quot;/&gt;&lt;isInvalidForFieldText val=&quot;0&quot;/&gt;&lt;Image&gt;&lt;filename val=&quot;C:\Users\sanmi\Documents\My Adobe Presentations\ece552-MemoryECCIO\data\asimages\{DB7D3DE5-F2BF-42C5-95A7-5C53DE0B0928}.png&quot;/&gt;&lt;left val=&quot;357&quot;/&gt;&lt;top val=&quot;192&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5B1D442E-EB94-471A-AFD3-F9EECAA88206}&quot;/&gt;&lt;isInvalidForFieldText val=&quot;0&quot;/&gt;&lt;Image&gt;&lt;filename val=&quot;C:\Users\sanmi\Documents\My Adobe Presentations\ece552-MemoryECCIO\data\asimages\{5B1D442E-EB94-471A-AFD3-F9EECAA88206}.png&quot;/&gt;&lt;left val=&quot;379&quot;/&gt;&lt;top val=&quot;192&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F5EF21B9-9E64-4A3C-85DF-E8E4B5AA03BF}&quot;/&gt;&lt;isInvalidForFieldText val=&quot;0&quot;/&gt;&lt;Image&gt;&lt;filename val=&quot;C:\Users\sanmi\Documents\My Adobe Presentations\ece552-MemoryECCIO\data\asimages\{F5EF21B9-9E64-4A3C-85DF-E8E4B5AA03BF}.png&quot;/&gt;&lt;left val=&quot;218&quot;/&gt;&lt;top val=&quot;284&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184708-DBBF-4225-B567-BCC603FB1AEF}&quot;/&gt;&lt;isInvalidForFieldText val=&quot;0&quot;/&gt;&lt;Image&gt;&lt;filename val=&quot;C:\Users\sanmi\Documents\My Adobe Presentations\ece552-MemoryECCIO\data\asimages\{3E184708-DBBF-4225-B567-BCC603FB1AEF}.png&quot;/&gt;&lt;left val=&quot;218&quot;/&gt;&lt;top val=&quot;293&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91370DB3-9542-4A61-A209-92A0CCAA1EA4}&quot;/&gt;&lt;isInvalidForFieldText val=&quot;0&quot;/&gt;&lt;Image&gt;&lt;filename val=&quot;C:\Users\sanmi\Documents\My Adobe Presentations\ece552-MemoryECCIO\data\asimages\{91370DB3-9542-4A61-A209-92A0CCAA1EA4}.png&quot;/&gt;&lt;left val=&quot;214&quot;/&gt;&lt;top val=&quot;205&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AD8E54B-CD27-4F21-99A3-B8CD3BA81F37}&quot;/&gt;&lt;isInvalidForFieldText val=&quot;0&quot;/&gt;&lt;Image&gt;&lt;filename val=&quot;C:\Users\sanmi\Documents\My Adobe Presentations\ece552-MemoryECCIO\data\asimages\{2AD8E54B-CD27-4F21-99A3-B8CD3BA81F37}.png&quot;/&gt;&lt;left val=&quot;214&quot;/&gt;&lt;top val=&quot;209&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DC1AB6-42EE-46A6-9243-428E03953645}&quot;/&gt;&lt;isInvalidForFieldText val=&quot;0&quot;/&gt;&lt;Image&gt;&lt;filename val=&quot;C:\Users\sanmi\Documents\My Adobe Presentations\ece552-MemoryECCIO\data\asimages\{18DC1AB6-42EE-46A6-9243-428E03953645}.png&quot;/&gt;&lt;left val=&quot;278&quot;/&gt;&lt;top val=&quot;205&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91EA3A36-53E2-4A34-9588-79B3DA7B91F0}&quot;/&gt;&lt;isInvalidForFieldText val=&quot;0&quot;/&gt;&lt;Image&gt;&lt;filename val=&quot;C:\Users\sanmi\Documents\My Adobe Presentations\ece552-MemoryECCIO\data\asimages\{91EA3A36-53E2-4A34-9588-79B3DA7B91F0}.png&quot;/&gt;&lt;left val=&quot;278&quot;/&gt;&lt;top val=&quot;211&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442B74-0B5E-43BB-81E1-E8C8D4E2206D}&quot;/&gt;&lt;isInvalidForFieldText val=&quot;0&quot;/&gt;&lt;Image&gt;&lt;filename val=&quot;C:\Users\sanmi\Documents\My Adobe Presentations\ece552-MemoryECCIO\data\asimages\{4F442B74-0B5E-43BB-81E1-E8C8D4E2206D}.png&quot;/&gt;&lt;left val=&quot;291&quot;/&gt;&lt;top val=&quot;194&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6A576676-E7C7-43B4-945C-7AFCAA52376A}&quot;/&gt;&lt;isInvalidForFieldText val=&quot;0&quot;/&gt;&lt;Image&gt;&lt;filename val=&quot;C:\Users\sanmi\Documents\My Adobe Presentations\ece552-MemoryECCIO\data\asimages\{6A576676-E7C7-43B4-945C-7AFCAA52376A}.png&quot;/&gt;&lt;left val=&quot;306&quot;/&gt;&lt;top val=&quot;293&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INFO" val="&lt;ThreeDShapeInfo&gt;&lt;uuid val=&quot;{CC2FFD4D-43DF-4932-BD6D-70CCDC867220}&quot;/&gt;&lt;isInvalidForFieldText val=&quot;0&quot;/&gt;&lt;Image&gt;&lt;filename val=&quot;C:\Users\sanmi\Documents\My Adobe Presentations\ece552-MemoryECCIO\data\asimages\{CC2FFD4D-43DF-4932-BD6D-70CCDC867220}.png&quot;/&gt;&lt;left val=&quot;246&quot;/&gt;&lt;top val=&quot;261&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C95AB564-DCE1-4B87-9D9D-5E9693599F49}&quot;/&gt;&lt;isInvalidForFieldText val=&quot;0&quot;/&gt;&lt;Image&gt;&lt;filename val=&quot;C:\Users\sanmi\Documents\My Adobe Presentations\ece552-MemoryECCIO\data\asimages\{C95AB564-DCE1-4B87-9D9D-5E9693599F49}.png&quot;/&gt;&lt;left val=&quot;389&quot;/&gt;&lt;top val=&quot;295&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0CD10394-148F-4942-99A3-2819CDEC062A}&quot;/&gt;&lt;isInvalidForFieldText val=&quot;0&quot;/&gt;&lt;Image&gt;&lt;filename val=&quot;C:\Users\sanmi\Documents\My Adobe Presentations\ece552-MemoryECCIO\data\asimages\{0CD10394-148F-4942-99A3-2819CDEC062A}.png&quot;/&gt;&lt;left val=&quot;306&quot;/&gt;&lt;top val=&quot;21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19531B-2177-4D93-9426-963F9C4D7DF5}&quot;/&gt;&lt;isInvalidForFieldText val=&quot;0&quot;/&gt;&lt;Image&gt;&lt;filename val=&quot;C:\Users\sanmi\Documents\My Adobe Presentations\ece552-MemoryECCIO\data\asimages\{CA19531B-2177-4D93-9426-963F9C4D7DF5}.png&quot;/&gt;&lt;left val=&quot;479&quot;/&gt;&lt;top val=&quot;295&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INFO" val="&lt;ThreeDShapeInfo&gt;&lt;uuid val=&quot;{EDB2D0E4-4307-4A19-A0A6-4CFA3CB8BEE4}&quot;/&gt;&lt;isInvalidForFieldText val=&quot;0&quot;/&gt;&lt;Image&gt;&lt;filename val=&quot;C:\Users\sanmi\Documents\My Adobe Presentations\ece552-MemoryECCIO\data\asimages\{EDB2D0E4-4307-4A19-A0A6-4CFA3CB8BEE4}.png&quot;/&gt;&lt;left val=&quot;370&quot;/&gt;&lt;top val=&quot;231&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36D902F5-0D0D-448F-9B94-E78B3D4B08EB}&quot;/&gt;&lt;isInvalidForFieldText val=&quot;0&quot;/&gt;&lt;Image&gt;&lt;filename val=&quot;C:\Users\sanmi\Documents\My Adobe Presentations\ece552-MemoryECCIO\data\asimages\{36D902F5-0D0D-448F-9B94-E78B3D4B08EB}.png&quot;/&gt;&lt;left val=&quot;370&quot;/&gt;&lt;top val=&quot;216&quot;/&gt;&lt;width val=&quot;2&quot;/&gt;&lt;height val=&quot;1&quot;/&gt;&lt;hasText val=&quot;1&quot;/&gt;&lt;/Image&gt;&lt;/ThreeDShapeInfo&gt;"/>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F3054BE-0F8A-4AE7-98BA-9137839DAB3D}&quot;/&gt;&lt;isInvalidForFieldText val=&quot;0&quot;/&gt;&lt;Image&gt;&lt;filename val=&quot;C:\Users\sanmi\Documents\My Adobe Presentations\ece552-MemoryECCIO\data\asimages\{3F3054BE-0F8A-4AE7-98BA-9137839DAB3D}.png&quot;/&gt;&lt;left val=&quot;306&quot;/&gt;&lt;top val=&quot;24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92583A50-E407-4039-9F54-B6FB7DCFB0C1}&quot;/&gt;&lt;isInvalidForFieldText val=&quot;0&quot;/&gt;&lt;Image&gt;&lt;filename val=&quot;C:\Users\sanmi\Documents\My Adobe Presentations\ece552-MemoryECCIO\data\asimages\{92583A50-E407-4039-9F54-B6FB7DCFB0C1}.png&quot;/&gt;&lt;left val=&quot;310&quot;/&gt;&lt;top val=&quot;24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AF226C3A-E381-48CD-B383-AFD8D582C83D}&quot;/&gt;&lt;isInvalidForFieldText val=&quot;0&quot;/&gt;&lt;Image&gt;&lt;filename val=&quot;C:\Users\sanmi\Documents\My Adobe Presentations\ece552-MemoryECCIO\data\asimages\{AF226C3A-E381-48CD-B383-AFD8D582C83D}.png&quot;/&gt;&lt;left val=&quot;479&quot;/&gt;&lt;top val=&quot;243&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9A06A2C5-70E7-4DF8-8937-944E01425A0A}&quot;/&gt;&lt;isInvalidForFieldText val=&quot;0&quot;/&gt;&lt;Image&gt;&lt;filename val=&quot;C:\Users\sanmi\Documents\My Adobe Presentations\ece552-MemoryECCIO\data\asimages\{9A06A2C5-70E7-4DF8-8937-944E01425A0A}.png&quot;/&gt;&lt;left val=&quot;475&quot;/&gt;&lt;top val=&quot;241&quot;/&gt;&lt;width val=&quot;1&quot;/&gt;&lt;height val=&quot;2&quot;/&gt;&lt;hasText val=&quot;1&quot;/&gt;&lt;/Image&gt;&lt;/ThreeDShapeInfo&gt;"/>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4E9F2CC-8402-49FF-9B15-2FC47DB29E29}_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3386554-7DEC-4813-9758-77593AEC8BA7}_3.png&quot;/&gt;&lt;left val=&quot;354&quot;/&gt;&lt;top val=&quot;400&quot;/&gt;&lt;width val=&quot;360&quot;/&gt;&lt;height val=&quot;142&quot;/&gt;&lt;hasText val=&quot;1&quot;/&gt;&lt;/Image&gt;&lt;/ThreeDShapeInfo&gt;"/>
  <p:tag name="PRESENTER_SHAPETEXTINFO" val="&lt;ShapeTextInfo&gt;&lt;TableIndex row=&quot;-1&quot; col=&quot;-1&quot;&gt;&lt;linesCount val=&quot;6&quot;/&gt;&lt;lineCharCount val=&quot;30&quot;/&gt;&lt;lineCharCount val=&quot;36&quot;/&gt;&lt;lineCharCount val=&quot;26&quot;/&gt;&lt;lineCharCount val=&quot;28&quot;/&gt;&lt;lineCharCount val=&quot;15&quot;/&gt;&lt;lineCharCount val=&quot;21&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B75320F-E14E-418E-8338-A7046F764755}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564884097,C:\Users\sanmi\GoogleDrive\UWMdrive\Courses\ECE552\ece552-lec14_MemoryECCIO_pptx\Media.ppcx"/>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0A6A38E-47E6-4AA8-A049-171D583D6F5B}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B681230-7942-49B2-8FE4-BF950FF11F4E}_4.png&quot;/&gt;&lt;left val=&quot;25&quot;/&gt;&lt;top val=&quot;96&quot;/&gt;&lt;width val=&quot;688&quot;/&gt;&lt;height val=&quot;386&quot;/&gt;&lt;hasText val=&quot;1&quot;/&gt;&lt;/Image&gt;&lt;/ThreeDShapeInfo&gt;"/>
  <p:tag name="PRESENTER_SHAPETEXTINFO" val="&lt;ShapeTextInfo&gt;&lt;TableIndex row=&quot;-1&quot; col=&quot;-1&quot;&gt;&lt;linesCount val=&quot;10&quot;/&gt;&lt;lineCharCount val=&quot;49&quot;/&gt;&lt;lineCharCount val=&quot;50&quot;/&gt;&lt;lineCharCount val=&quot;52&quot;/&gt;&lt;lineCharCount val=&quot;42&quot;/&gt;&lt;lineCharCount val=&quot;40&quot;/&gt;&lt;lineCharCount val=&quot;31&quot;/&gt;&lt;lineCharCount val=&quot;36&quot;/&gt;&lt;lineCharCount val=&quot;36&quot;/&gt;&lt;lineCharCount val=&quot;26&quot;/&gt;&lt;lineCharCount val=&quot;21&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EB972E2-BAB2-42CE-ADA7-A7BA59F64F60}_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564884097,C:\Users\sanmi\GoogleDrive\UWMdrive\Courses\ECE552\ece552-lec14_MemoryECCIO_pptx\Media.ppcx"/>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0C11C8F-34CA-4978-B07E-4C667ECBF40D}_5.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F0C0C91-B3E8-4796-91FC-C4660493C20D}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025A5DA-4218-4310-86E6-9572E12B1D2B}_5.png&quot;/&gt;&lt;left val=&quot;107&quot;/&gt;&lt;top val=&quot;305&quot;/&gt;&lt;width val=&quot;126&quot;/&gt;&lt;height val=&quot;45&quot;/&gt;&lt;hasText val=&quot;1&quot;/&gt;&lt;/Image&gt;&lt;/ThreeDShapeInfo&gt;"/>
  <p:tag name="PRESENTER_SHAPETEXTINFO" val="&lt;ShapeTextInfo&gt;&lt;TableIndex row=&quot;-1&quot; col=&quot;-1&quot;&gt;&lt;linesCount val=&quot;1&quot;/&gt;&lt;lineCharCount val=&quot;1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DE4BDA6-4BEB-4F21-A992-AEF5160CB7D7}_5.png&quot;/&gt;&lt;left val=&quot;485&quot;/&gt;&lt;top val=&quot;303&quot;/&gt;&lt;width val=&quot;126&quot;/&gt;&lt;height val=&quot;46&quot;/&gt;&lt;hasText val=&quot;1&quot;/&gt;&lt;/Image&gt;&lt;/ThreeDShapeInfo&gt;"/>
  <p:tag name="PRESENTER_SHAPETEXTINFO" val="&lt;ShapeTextInfo&gt;&lt;TableIndex row=&quot;-1&quot; col=&quot;-1&quot;&gt;&lt;linesCount val=&quot;1&quot;/&gt;&lt;lineCharCount val=&quot;1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036B8FD-3A0E-46C0-9EB2-BBA62A383B0E}_5.png&quot;/&gt;&lt;left val=&quot;228&quot;/&gt;&lt;top val=&quot;395&quot;/&gt;&lt;width val=&quot;26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2898804-6B9F-415A-9AD1-DF9FF15D3CD9}_5.png&quot;/&gt;&lt;left val=&quot;135&quot;/&gt;&lt;top val=&quot;467&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7579C40-A7B1-4395-96E4-4CD2396BD7C0}_5.png&quot;/&gt;&lt;left val=&quot;38&quot;/&gt;&lt;top val=&quot;413&quot;/&gt;&lt;width val=&quot;207&quot;/&gt;&lt;height val=&quot;40&quot;/&gt;&lt;hasText val=&quot;1&quot;/&gt;&lt;/Image&gt;&lt;/ThreeDShapeInfo&gt;"/>
  <p:tag name="PRESENTER_SHAPETEXTINFO" val="&lt;ShapeTextInfo&gt;&lt;TableIndex row=&quot;-1&quot; col=&quot;-1&quot;&gt;&lt;linesCount val=&quot;1&quot;/&gt;&lt;lineCharCount val=&quot;17&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564884097,C:\Users\sanmi\GoogleDrive\UWMdrive\Courses\ECE552\ece552-lec14_MemoryECCIO_pptx\Media.ppcx"/>
  <p:tag name="TIMING" val="|42.8"/>
</p:tagLst>
</file>

<file path=ppt/tags/tag1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60A6936-5380-4E8C-8DEC-1E346C19DDF2}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CDF311F-881E-4213-92CE-8F115AE1953F}_6.png&quot;/&gt;&lt;left val=&quot;27&quot;/&gt;&lt;top val=&quot;90&quot;/&gt;&lt;width val=&quot;669&quot;/&gt;&lt;height val=&quot;218&quot;/&gt;&lt;hasText val=&quot;1&quot;/&gt;&lt;/Image&gt;&lt;/ThreeDShapeInfo&gt;"/>
  <p:tag name="PRESENTER_SHAPETEXTINFO" val="&lt;ShapeTextInfo&gt;&lt;TableIndex row=&quot;-1&quot; col=&quot;-1&quot;&gt;&lt;linesCount val=&quot;7&quot;/&gt;&lt;lineCharCount val=&quot;21&quot;/&gt;&lt;lineCharCount val=&quot;57&quot;/&gt;&lt;lineCharCount val=&quot;1&quot;/&gt;&lt;lineCharCount val=&quot;31&quot;/&gt;&lt;lineCharCount val=&quot;1&quot;/&gt;&lt;lineCharCount val=&quot;46&quot;/&gt;&lt;lineCharCount val=&quot;42&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AFC60B7-C51D-4CF9-9A82-4549E923B626}_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89CCA9B-AEBC-4EA3-AE7C-9E6C18FF129B}_6.png&quot;/&gt;&lt;left val=&quot;27&quot;/&gt;&lt;top val=&quot;300&quot;/&gt;&lt;width val=&quot;657&quot;/&gt;&lt;height val=&quot;235&quot;/&gt;&lt;hasText val=&quot;1&quot;/&gt;&lt;/Image&gt;&lt;/ThreeDShapeInfo&gt;"/>
  <p:tag name="PRESENTER_SHAPETEXTINFO" val="&lt;ShapeTextInfo&gt;&lt;TableIndex row=&quot;-1&quot; col=&quot;-1&quot;&gt;&lt;linesCount val=&quot;6&quot;/&gt;&lt;lineCharCount val=&quot;45&quot;/&gt;&lt;lineCharCount val=&quot;11&quot;/&gt;&lt;lineCharCount val=&quot;12&quot;/&gt;&lt;lineCharCount val=&quot;13&quot;/&gt;&lt;lineCharCount val=&quot;19&quot;/&gt;&lt;lineCharCount val=&quot;59&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564884097,C:\Users\sanmi\GoogleDrive\UWMdrive\Courses\ECE552\ece552-lec14_MemoryECCIO_pptx\Media.ppcx"/>
</p:tagLst>
</file>

<file path=ppt/tags/tag1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98F078E-A4BB-408E-BFDE-B54D2B3DD74B}_7.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139BAD4-6D1E-4FDE-98B6-24C3F4A42390}_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027A72C-00CC-44AD-BDE1-F9028B64586E}_7.png&quot;/&gt;&lt;left val=&quot;107&quot;/&gt;&lt;top val=&quot;305&quot;/&gt;&lt;width val=&quot;126&quot;/&gt;&lt;height val=&quot;45&quot;/&gt;&lt;hasText val=&quot;1&quot;/&gt;&lt;/Image&gt;&lt;/ThreeDShapeInfo&gt;"/>
  <p:tag name="PRESENTER_SHAPETEXTINFO" val="&lt;ShapeTextInfo&gt;&lt;TableIndex row=&quot;-1&quot; col=&quot;-1&quot;&gt;&lt;linesCount val=&quot;1&quot;/&gt;&lt;lineCharCount val=&quot;1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662B70F-5AA0-4296-A7B1-DC9A6766D83E}_7.png&quot;/&gt;&lt;left val=&quot;485&quot;/&gt;&lt;top val=&quot;303&quot;/&gt;&lt;width val=&quot;126&quot;/&gt;&lt;height val=&quot;46&quot;/&gt;&lt;hasText val=&quot;1&quot;/&gt;&lt;/Image&gt;&lt;/ThreeDShapeInfo&gt;"/>
  <p:tag name="PRESENTER_SHAPETEXTINFO" val="&lt;ShapeTextInfo&gt;&lt;TableIndex row=&quot;-1&quot; col=&quot;-1&quot;&gt;&lt;linesCount val=&quot;1&quot;/&gt;&lt;lineCharCount val=&quot;1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624A2C1-DCA8-4121-B0AB-6DA58D2A3760}_7.png&quot;/&gt;&lt;left val=&quot;228&quot;/&gt;&lt;top val=&quot;395&quot;/&gt;&lt;width val=&quot;26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8FC4DF3-C0B6-438B-8E0A-ED10F951DC21}_7.png&quot;/&gt;&lt;left val=&quot;135&quot;/&gt;&lt;top val=&quot;467&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FFC749D-A9DA-431E-A43D-894E9FD694B9}_7.png&quot;/&gt;&lt;left val=&quot;38&quot;/&gt;&lt;top val=&quot;413&quot;/&gt;&lt;width val=&quot;207&quot;/&gt;&lt;height val=&quot;40&quot;/&gt;&lt;hasText val=&quot;1&quot;/&gt;&lt;/Image&gt;&lt;/ThreeDShapeInfo&gt;"/>
  <p:tag name="PRESENTER_SHAPETEXTINFO" val="&lt;ShapeTextInfo&gt;&lt;TableIndex row=&quot;-1&quot; col=&quot;-1&quot;&gt;&lt;linesCount val=&quot;1&quot;/&gt;&lt;lineCharCount val=&quot;18&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564884097,C:\Users\sanmi\GoogleDrive\UWMdrive\Courses\ECE552\ece552-lec14_MemoryECCIO_pptx\Media.ppcx"/>
</p:tagLst>
</file>

<file path=ppt/tags/tag1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A9D24FB-B815-4C1A-8DA4-F42EC6D2FF8E}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B51BE6B-53B0-4D5E-BCAC-9D139F193C7E}_8.png&quot;/&gt;&lt;left val=&quot;27&quot;/&gt;&lt;top val=&quot;90&quot;/&gt;&lt;width val=&quot;657&quot;/&gt;&lt;height val=&quot;392&quot;/&gt;&lt;hasText val=&quot;1&quot;/&gt;&lt;/Image&gt;&lt;/ThreeDShapeInfo&gt;"/>
  <p:tag name="PRESENTER_SHAPETEXTINFO" val="&lt;ShapeTextInfo&gt;&lt;TableIndex row=&quot;-1&quot; col=&quot;-1&quot;&gt;&lt;linesCount val=&quot;4&quot;/&gt;&lt;lineCharCount val=&quot;22&quot;/&gt;&lt;lineCharCount val=&quot;16&quot;/&gt;&lt;lineCharCount val=&quot;59&quot;/&gt;&lt;lineCharCount val=&quot;1&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E2EA163-862E-4C2D-91E8-B85CC297E59D}_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564884097,C:\Users\sanmi\GoogleDrive\UWMdrive\Courses\ECE552\ece552-lec14_MemoryECCIO_pptx\Media.ppcx"/>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6EC4EA0-4CFF-49F3-B67B-F056540BF816}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3&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B3FF41-A452-4DF9-93AE-C75D35664F10}_9.png&quot;/&gt;&lt;left val=&quot;27&quot;/&gt;&lt;top val=&quot;114&quot;/&gt;&lt;width val=&quot;662&quot;/&gt;&lt;height val=&quot;368&quot;/&gt;&lt;hasText val=&quot;1&quot;/&gt;&lt;/Image&gt;&lt;/ThreeDShapeInfo&gt;"/>
  <p:tag name="PRESENTER_SHAPETEXTINFO" val="&lt;ShapeTextInfo&gt;&lt;TableIndex row=&quot;-1&quot; col=&quot;-1&quot;&gt;&lt;linesCount val=&quot;9&quot;/&gt;&lt;lineCharCount val=&quot;41&quot;/&gt;&lt;lineCharCount val=&quot;44&quot;/&gt;&lt;lineCharCount val=&quot;41&quot;/&gt;&lt;lineCharCount val=&quot;31&quot;/&gt;&lt;lineCharCount val=&quot;24&quot;/&gt;&lt;lineCharCount val=&quot;5&quot;/&gt;&lt;lineCharCount val=&quot;41&quot;/&gt;&lt;lineCharCount val=&quot;53&quot;/&gt;&lt;lineCharCount val=&quot;22&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B40356F-434F-4E16-8172-3344824B249A}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564884097,C:\Users\sanmi\GoogleDrive\UWMdrive\Courses\ECE552\ece552-lec14_MemoryECCIO_pptx\Media.ppcx"/>
</p:tagLst>
</file>

<file path=ppt/tags/tag1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E741A32-98CB-4F30-9BE6-1611C22E338B}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3&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04EB2BA-2378-4848-92BE-B8950F32C83A}_10.png&quot;/&gt;&lt;left val=&quot;44&quot;/&gt;&lt;top val=&quot;120&quot;/&gt;&lt;width val=&quot;633&quot;/&gt;&lt;height val=&quot;359&quot;/&gt;&lt;hasText val=&quot;1&quot;/&gt;&lt;/Image&gt;&lt;/ThreeDShapeInfo&gt;"/>
  <p:tag name="PRESENTER_SHAPETEXTINFO" val="&lt;ShapeTextInfo&gt;&lt;TableIndex row=&quot;-1&quot; col=&quot;-1&quot;&gt;&lt;linesCount val=&quot;4&quot;/&gt;&lt;lineCharCount val=&quot;44&quot;/&gt;&lt;lineCharCount val=&quot;55&quot;/&gt;&lt;lineCharCount val=&quot;28&quot;/&gt;&lt;lineCharCount val=&quot;41&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4F2E41B-AFEB-4BBC-8D86-8423EC4D028E}_1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564884097,C:\Users\sanmi\GoogleDrive\UWMdrive\Courses\ECE552\ece552-lec14_MemoryECCIO_pptx\Media.ppcx"/>
</p:tagLst>
</file>

<file path=ppt/tags/tag1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987C6E8-1893-47F2-89E2-FA2B12AC4623}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6&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9BD7E02-DA14-4A5A-986C-10E04022831B}_1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5B9F7D3-D854-4A3E-8794-34B6E9EEA8DC}_11.png&quot;/&gt;&lt;left val=&quot;212&quot;/&gt;&lt;top val=&quot;267&quot;/&gt;&lt;width val=&quot;296&quot;/&gt;&lt;height val=&quot;118&quot;/&gt;&lt;hasText val=&quot;1&quot;/&gt;&lt;/Image&gt;&lt;/ThreeDShapeInfo&gt;"/>
  <p:tag name="PRESENTER_SHAPETEXTINFO" val="&lt;ShapeTextInfo&gt;&lt;TableIndex row=&quot;1&quot; col=&quot;1&quot;&gt;&lt;linesCount val=&quot;2&quot;/&gt;&lt;lineCharCount val=&quot;10&quot;/&gt;&lt;lineCharCount val=&quot;7&quot;/&gt;&lt;/TableIndex&gt;&lt;TableIndex row=&quot;1&quot; col=&quot;2&quot;&gt;&lt;linesCount val=&quot;2&quot;/&gt;&lt;lineCharCount val=&quot;19&quot;/&gt;&lt;lineCharCount val=&quot;7&quot;/&gt;&lt;/TableIndex&gt;&lt;TableIndex row=&quot;2&quot; col=&quot;1&quot;&gt;&lt;linesCount val=&quot;1&quot;/&gt;&lt;lineCharCount val=&quot;1&quot;/&gt;&lt;/TableIndex&gt;&lt;TableIndex row=&quot;2&quot; col=&quot;2&quot;&gt;&lt;linesCount val=&quot;1&quot;/&gt;&lt;lineCharCount val=&quot;1&quot;/&gt;&lt;/TableIndex&gt;&lt;TableIndex row=&quot;3&quot; col=&quot;1&quot;&gt;&lt;linesCount val=&quot;1&quot;/&gt;&lt;lineCharCount val=&quot;1&quot;/&gt;&lt;/TableIndex&gt;&lt;TableIndex row=&quot;3&quot; col=&quot;2&quot;&gt;&lt;linesCount val=&quot;1&quot;/&gt;&lt;lineCharCount val=&quot;1&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23E3231-1A0C-4845-A7C4-F3D36EA56D28}_11.png&quot;/&gt;&lt;left val=&quot;31&quot;/&gt;&lt;top val=&quot;105&quot;/&gt;&lt;width val=&quot;659&quot;/&gt;&lt;height val=&quot;143&quot;/&gt;&lt;hasText val=&quot;1&quot;/&gt;&lt;/Image&gt;&lt;/ThreeDShapeInfo&gt;"/>
  <p:tag name="PRESENTER_SHAPETEXTINFO" val="&lt;ShapeTextInfo&gt;&lt;TableIndex row=&quot;-1&quot; col=&quot;-1&quot;&gt;&lt;linesCount val=&quot;4&quot;/&gt;&lt;lineCharCount val=&quot;52&quot;/&gt;&lt;lineCharCount val=&quot;55&quot;/&gt;&lt;lineCharCount val=&quot;46&quot;/&gt;&lt;lineCharCount val=&quot;21&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564884097,C:\Users\sanmi\GoogleDrive\UWMdrive\Courses\ECE552\ece552-lec14_MemoryECCIO_pptx\Media.ppcx"/>
  <p:tag name="TIMING" val="|25.3|23.1"/>
</p:tagLst>
</file>

<file path=ppt/tags/tag1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7DC2407-F8B6-4B22-A784-99EA519CAC53}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5548B87-FFD9-4AD5-9F09-CB2360E43A7E}_1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10BB8D9-3838-491B-9F8E-471BC21A00CD}_12.png&quot;/&gt;&lt;left val=&quot;212&quot;/&gt;&lt;top val=&quot;201&quot;/&gt;&lt;width val=&quot;296&quot;/&gt;&lt;height val=&quot;118&quot;/&gt;&lt;hasText val=&quot;1&quot;/&gt;&lt;/Image&gt;&lt;/ThreeDShapeInfo&gt;"/>
  <p:tag name="PRESENTER_SHAPETEXTINFO" val="&lt;ShapeTextInfo&gt;&lt;TableIndex row=&quot;1&quot; col=&quot;1&quot;&gt;&lt;linesCount val=&quot;2&quot;/&gt;&lt;lineCharCount val=&quot;10&quot;/&gt;&lt;lineCharCount val=&quot;7&quot;/&gt;&lt;/TableIndex&gt;&lt;TableIndex row=&quot;1&quot; col=&quot;2&quot;&gt;&lt;linesCount val=&quot;2&quot;/&gt;&lt;lineCharCount val=&quot;19&quot;/&gt;&lt;lineCharCount val=&quot;8&quot;/&gt;&lt;/TableIndex&gt;&lt;TableIndex row=&quot;2&quot; col=&quot;1&quot;&gt;&lt;linesCount val=&quot;1&quot;/&gt;&lt;lineCharCount val=&quot;1&quot;/&gt;&lt;/TableIndex&gt;&lt;TableIndex row=&quot;2&quot; col=&quot;2&quot;&gt;&lt;linesCount val=&quot;1&quot;/&gt;&lt;lineCharCount val=&quot;2&quot;/&gt;&lt;/TableIndex&gt;&lt;TableIndex row=&quot;3&quot; col=&quot;1&quot;&gt;&lt;linesCount val=&quot;1&quot;/&gt;&lt;lineCharCount val=&quot;1&quot;/&gt;&lt;/TableIndex&gt;&lt;TableIndex row=&quot;3&quot; col=&quot;2&quot;&gt;&lt;linesCount val=&quot;1&quot;/&gt;&lt;lineCharCount val=&quot;2&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4C55E0B-16A0-4094-BF87-A0A82890C2D5}_12.png&quot;/&gt;&lt;left val=&quot;31&quot;/&gt;&lt;top val=&quot;105&quot;/&gt;&lt;width val=&quot;659&quot;/&gt;&lt;height val=&quot;86&quot;/&gt;&lt;hasText val=&quot;1&quot;/&gt;&lt;/Image&gt;&lt;/ThreeDShapeInfo&gt;"/>
  <p:tag name="PRESENTER_SHAPETEXTINFO" val="&lt;ShapeTextInfo&gt;&lt;TableIndex row=&quot;-1&quot; col=&quot;-1&quot;&gt;&lt;linesCount val=&quot;2&quot;/&gt;&lt;lineCharCount val=&quot;44&quot;/&gt;&lt;lineCharCount val=&quot;21&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6799A62-1E1D-46A6-8838-7E1DDE87FA39}&quot;/&gt;&lt;isInvalidForFieldText val=&quot;0&quot;/&gt;&lt;Image&gt;&lt;filename val=&quot;C:\Users\sanmi\Documents\My Adobe Presentations\ece552-MemoryECCIO\data\asimages\{16799A62-1E1D-46A6-8838-7E1DDE87FA39}_12.png&quot;/&gt;&lt;left val=&quot;306&quot;/&gt;&lt;top val=&quot;365&quot;/&gt;&lt;width val=&quot;93&quot;/&gt;&lt;height val=&quot;9&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INFO" val="&lt;ThreeDShapeInfo&gt;&lt;uuid val=&quot;{8C64ECF0-F37E-46DD-A68D-92DD69ED14D4}&quot;/&gt;&lt;isInvalidForFieldText val=&quot;0&quot;/&gt;&lt;Image&gt;&lt;filename val=&quot;C:\Users\sanmi\Documents\My Adobe Presentations\ece552-MemoryECCIO\data\asimages\{8C64ECF0-F37E-46DD-A68D-92DD69ED14D4}_12.png&quot;/&gt;&lt;left val=&quot;306&quot;/&gt;&lt;top val=&quot;463&quot;/&gt;&lt;width val=&quot;93&quot;/&gt;&lt;height val=&quot;9&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5217F92D-7248-464F-8A88-11A4000D74FB}&quot;/&gt;&lt;isInvalidForFieldText val=&quot;0&quot;/&gt;&lt;Image&gt;&lt;filename val=&quot;C:\Users\sanmi\Documents\My Adobe Presentations\ece552-MemoryECCIO\data\asimages\{5217F92D-7248-464F-8A88-11A4000D74FB}_12.png&quot;/&gt;&lt;left val=&quot;273&quot;/&gt;&lt;top val=&quot;386&quot;/&gt;&lt;width val=&quot;27&quot;/&gt;&lt;height val=&quot;74&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B92E7404-2B70-4FEC-A979-28E0E2336DC0}&quot;/&gt;&lt;isInvalidForFieldText val=&quot;0&quot;/&gt;&lt;Image&gt;&lt;filename val=&quot;C:\Users\sanmi\Documents\My Adobe Presentations\ece552-MemoryECCIO\data\asimages\{B92E7404-2B70-4FEC-A979-28E0E2336DC0}_12.png&quot;/&gt;&lt;left val=&quot;420&quot;/&gt;&lt;top val=&quot;386&quot;/&gt;&lt;width val=&quot;9&quot;/&gt;&lt;height val=&quot;65&quot;/&gt;&lt;hasText val=&quot;1&quot;/&gt;&lt;/Image&gt;&lt;/ThreeDShapeInfo&gt;"/>
</p:tagLst>
</file>

<file path=ppt/tags/tag145.xml><?xml version="1.0" encoding="utf-8"?>
<p:tagLst xmlns:a="http://schemas.openxmlformats.org/drawingml/2006/main" xmlns:r="http://schemas.openxmlformats.org/officeDocument/2006/relationships" xmlns:p="http://schemas.openxmlformats.org/presentationml/2006/main">
  <p:tag name="PRESENTER_SHAPEINFO" val="&lt;ThreeDShapeInfo&gt;&lt;uuid val=&quot;{5C583BAA-D4DC-4634-8BE5-B4DEBBE284DA}&quot;/&gt;&lt;isInvalidForFieldText val=&quot;0&quot;/&gt;&lt;Image&gt;&lt;filename val=&quot;C:\Users\sanmi\Documents\My Adobe Presentations\ece552-MemoryECCIO\data\asimages\{5C583BAA-D4DC-4634-8BE5-B4DEBBE284DA}_12.png&quot;/&gt;&lt;left val=&quot;391&quot;/&gt;&lt;top val=&quot;345&quot;/&gt;&lt;width val=&quot;61&quot;/&gt;&lt;height val=&quot;49&quot;/&gt;&lt;hasText val=&quot;1&quot;/&gt;&lt;/Image&gt;&lt;/ThreeDShapeInfo&gt;"/>
  <p:tag name="PRESENTER_SHAPETEXTINFO" val="&lt;ShapeTextInfo&gt;&lt;TableIndex row=&quot;-1&quot; col=&quot;-1&quot;&gt;&lt;linesCount val=&quot;1&quot;/&gt;&lt;lineCharCount val=&quot;2&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INFO" val="&lt;ThreeDShapeInfo&gt;&lt;uuid val=&quot;{B091FD8B-F6A9-4ACE-89BA-3C187513CDB2}&quot;/&gt;&lt;isInvalidForFieldText val=&quot;0&quot;/&gt;&lt;Image&gt;&lt;filename val=&quot;C:\Users\sanmi\Documents\My Adobe Presentations\ece552-MemoryECCIO\data\asimages\{B091FD8B-F6A9-4ACE-89BA-3C187513CDB2}_12.png&quot;/&gt;&lt;left val=&quot;252&quot;/&gt;&lt;top val=&quot;443&quot;/&gt;&lt;width val=&quot;61&quot;/&gt;&lt;height val=&quot;49&quot;/&gt;&lt;hasText val=&quot;1&quot;/&gt;&lt;/Image&gt;&lt;/ThreeDShapeInfo&gt;"/>
  <p:tag name="PRESENTER_SHAPETEXTINFO" val="&lt;ShapeTextInfo&gt;&lt;TableIndex row=&quot;-1&quot; col=&quot;-1&quot;&gt;&lt;linesCount val=&quot;1&quot;/&gt;&lt;lineCharCount val=&quot;2&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A555F2F5-710A-4020-88BC-68C0D7765C28}&quot;/&gt;&lt;isInvalidForFieldText val=&quot;0&quot;/&gt;&lt;Image&gt;&lt;filename val=&quot;C:\Users\sanmi\Documents\My Adobe Presentations\ece552-MemoryECCIO\data\asimages\{A555F2F5-710A-4020-88BC-68C0D7765C28}_12.png&quot;/&gt;&lt;left val=&quot;391&quot;/&gt;&lt;top val=&quot;443&quot;/&gt;&lt;width val=&quot;61&quot;/&gt;&lt;height val=&quot;49&quot;/&gt;&lt;hasText val=&quot;1&quot;/&gt;&lt;/Image&gt;&lt;/ThreeDShapeInfo&gt;"/>
  <p:tag name="PRESENTER_SHAPETEXTINFO" val="&lt;ShapeTextInfo&gt;&lt;TableIndex row=&quot;-1&quot; col=&quot;-1&quot;&gt;&lt;linesCount val=&quot;1&quot;/&gt;&lt;lineCharCount val=&quot;2&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34D803-FB11-4AAE-94DE-81517E00B1B4}&quot;/&gt;&lt;isInvalidForFieldText val=&quot;0&quot;/&gt;&lt;Image&gt;&lt;filename val=&quot;C:\Users\sanmi\Documents\My Adobe Presentations\ece552-MemoryECCIO\data\asimages\{AA34D803-FB11-4AAE-94DE-81517E00B1B4}_12.png&quot;/&gt;&lt;left val=&quot;252&quot;/&gt;&lt;top val=&quot;345&quot;/&gt;&lt;width val=&quot;61&quot;/&gt;&lt;height val=&quot;49&quot;/&gt;&lt;hasText val=&quot;1&quot;/&gt;&lt;/Image&gt;&lt;/ThreeDShapeInfo&gt;"/>
  <p:tag name="PRESENTER_SHAPETEXTINFO" val="&lt;ShapeTextInfo&gt;&lt;TableIndex row=&quot;-1&quot; col=&quot;-1&quot;&gt;&lt;linesCount val=&quot;1&quot;/&gt;&lt;lineCharCount val=&quot;2&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640EE29-9AFC-4A8E-9747-A7BD6814F6D9}_12.png&quot;/&gt;&lt;left val=&quot;91&quot;/&gt;&lt;top val=&quot;393&quot;/&gt;&lt;width val=&quot;199&quot;/&gt;&lt;height val=&quot;43&quot;/&gt;&lt;hasText val=&quot;1&quot;/&gt;&lt;/Image&gt;&lt;/ThreeDShapeInfo&gt;"/>
  <p:tag name="PRESENTER_SHAPETEXTINFO" val="&lt;ShapeTextInfo&gt;&lt;TableIndex row=&quot;-1&quot; col=&quot;-1&quot;&gt;&lt;linesCount val=&quot;1&quot;/&gt;&lt;lineCharCount val=&quot;25&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INFO" val="&lt;ThreeDShapeInfo&gt;&lt;uuid val=&quot;{03A98AC3-BE61-4BA0-A78C-B8988ADE8DA4}&quot;/&gt;&lt;isInvalidForFieldText val=&quot;0&quot;/&gt;&lt;Image&gt;&lt;filename val=&quot;C:\Users\sanmi\Documents\My Adobe Presentations\ece552-MemoryECCIO\data\asimages\{03A98AC3-BE61-4BA0-A78C-B8988ADE8DA4}_12.png&quot;/&gt;&lt;left val=&quot;306&quot;/&gt;&lt;top val=&quot;356&quot;/&gt;&lt;width val=&quot;103&quot;/&gt;&lt;height val=&quot;27&quot;/&gt;&lt;hasText val=&quot;1&quot;/&gt;&lt;/Image&gt;&lt;/ThreeDShapeInfo&gt;"/>
</p:tagLst>
</file>

<file path=ppt/tags/tag1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E4D1C0F9-8F50-4181-B03B-AEC7E010A132}&quot;/&gt;&lt;isInvalidForFieldText val=&quot;0&quot;/&gt;&lt;Image&gt;&lt;filename val=&quot;C:\Users\sanmi\Documents\My Adobe Presentations\ece552-MemoryECCIO\data\asimages\{E4D1C0F9-8F50-4181-B03B-AEC7E010A132}_12.png&quot;/&gt;&lt;left val=&quot;412&quot;/&gt;&lt;top val=&quot;376&quot;/&gt;&lt;width val=&quot;27&quot;/&gt;&lt;height val=&quot;75&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B7FDF467-82DA-4092-816D-FEB93AFE5AB6}&quot;/&gt;&lt;isInvalidForFieldText val=&quot;0&quot;/&gt;&lt;Image&gt;&lt;filename val=&quot;C:\Users\sanmi\Documents\My Adobe Presentations\ece552-MemoryECCIO\data\asimages\{B7FDF467-82DA-4092-816D-FEB93AFE5AB6}_12.png&quot;/&gt;&lt;left val=&quot;391&quot;/&gt;&lt;top val=&quot;345&quot;/&gt;&lt;width val=&quot;61&quot;/&gt;&lt;height val=&quot;49&quot;/&gt;&lt;hasText val=&quot;1&quot;/&gt;&lt;/Image&gt;&lt;/ThreeDShapeInfo&gt;"/>
  <p:tag name="PRESENTER_SHAPETEXTINFO" val="&lt;ShapeTextInfo&gt;&lt;TableIndex row=&quot;-1&quot; col=&quot;-1&quot;&gt;&lt;linesCount val=&quot;1&quot;/&gt;&lt;lineCharCount val=&quot;2&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0ADCB40-843A-4F11-ADF3-11359B0545CE}_12.png&quot;/&gt;&lt;left val=&quot;389&quot;/&gt;&lt;top val=&quot;320&quot;/&gt;&lt;width val=&quot;263&quot;/&gt;&lt;height val=&quot;60&quot;/&gt;&lt;hasText val=&quot;1&quot;/&gt;&lt;/Image&gt;&lt;/ThreeDShapeInfo&gt;"/>
  <p:tag name="PRESENTER_SHAPETEXTINFO" val="&lt;ShapeTextInfo&gt;&lt;TableIndex row=&quot;-1&quot; col=&quot;-1&quot;&gt;&lt;linesCount val=&quot;2&quot;/&gt;&lt;lineCharCount val=&quot;32&quot;/&gt;&lt;lineCharCount val=&quot;18&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564884097,C:\Users\sanmi\GoogleDrive\UWMdrive\Courses\ECE552\ece552-lec14_MemoryECCIO_pptx\Media.ppcx"/>
  <p:tag name="TIMING" val="|20.5"/>
</p:tagLst>
</file>

<file path=ppt/tags/tag1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9643E85-C7D1-442A-BCBD-49DEA4DFB8A6}_13.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32&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728B32F-CC02-4B0B-AF79-2CF7A55E5523}_1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6E775DE-9371-49B9-8B3D-D48D09782588}_13.png&quot;/&gt;&lt;left val=&quot;212&quot;/&gt;&lt;top val=&quot;201&quot;/&gt;&lt;width val=&quot;296&quot;/&gt;&lt;height val=&quot;118&quot;/&gt;&lt;hasText val=&quot;1&quot;/&gt;&lt;/Image&gt;&lt;/ThreeDShapeInfo&gt;"/>
  <p:tag name="PRESENTER_SHAPETEXTINFO" val="&lt;ShapeTextInfo&gt;&lt;TableIndex row=&quot;1&quot; col=&quot;1&quot;&gt;&lt;linesCount val=&quot;2&quot;/&gt;&lt;lineCharCount val=&quot;10&quot;/&gt;&lt;lineCharCount val=&quot;7&quot;/&gt;&lt;/TableIndex&gt;&lt;TableIndex row=&quot;1&quot; col=&quot;2&quot;&gt;&lt;linesCount val=&quot;2&quot;/&gt;&lt;lineCharCount val=&quot;19&quot;/&gt;&lt;lineCharCount val=&quot;8&quot;/&gt;&lt;/TableIndex&gt;&lt;TableIndex row=&quot;2&quot; col=&quot;1&quot;&gt;&lt;linesCount val=&quot;1&quot;/&gt;&lt;lineCharCount val=&quot;1&quot;/&gt;&lt;/TableIndex&gt;&lt;TableIndex row=&quot;2&quot; col=&quot;2&quot;&gt;&lt;linesCount val=&quot;1&quot;/&gt;&lt;lineCharCount val=&quot;3&quot;/&gt;&lt;/TableIndex&gt;&lt;TableIndex row=&quot;3&quot; col=&quot;1&quot;&gt;&lt;linesCount val=&quot;1&quot;/&gt;&lt;lineCharCount val=&quot;1&quot;/&gt;&lt;/TableIndex&gt;&lt;TableIndex row=&quot;3&quot; col=&quot;2&quot;&gt;&lt;linesCount val=&quot;1&quot;/&gt;&lt;lineCharCount val=&quot;3&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0DD32FA-1B31-481D-9499-E6BB2FC4BB28}_13.png&quot;/&gt;&lt;left val=&quot;31&quot;/&gt;&lt;top val=&quot;105&quot;/&gt;&lt;width val=&quot;659&quot;/&gt;&lt;height val=&quot;86&quot;/&gt;&lt;hasText val=&quot;1&quot;/&gt;&lt;/Image&gt;&lt;/ThreeDShapeInfo&gt;"/>
  <p:tag name="PRESENTER_SHAPETEXTINFO" val="&lt;ShapeTextInfo&gt;&lt;TableIndex row=&quot;-1&quot; col=&quot;-1&quot;&gt;&lt;linesCount val=&quot;2&quot;/&gt;&lt;lineCharCount val=&quot;45&quot;/&gt;&lt;lineCharCount val=&quot;21&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D5185114-6DC0-4078-87FB-669FEED66031}&quot;/&gt;&lt;isInvalidForFieldText val=&quot;0&quot;/&gt;&lt;Image&gt;&lt;filename val=&quot;C:\Users\sanmi\Documents\My Adobe Presentations\ece552-MemoryECCIO\data\asimages\{D5185114-6DC0-4078-87FB-669FEED66031}_13.png&quot;/&gt;&lt;left val=&quot;276&quot;/&gt;&lt;top val=&quot;393&quot;/&gt;&lt;width val=&quot;93&quot;/&gt;&lt;height val=&quot;9&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BDBE24F4-FBBF-4DC5-8AC3-9F2D637CDF37}&quot;/&gt;&lt;isInvalidForFieldText val=&quot;0&quot;/&gt;&lt;Image&gt;&lt;filename val=&quot;C:\Users\sanmi\Documents\My Adobe Presentations\ece552-MemoryECCIO\data\asimages\{BDBE24F4-FBBF-4DC5-8AC3-9F2D637CDF37}_13.png&quot;/&gt;&lt;left val=&quot;276&quot;/&gt;&lt;top val=&quot;491&quot;/&gt;&lt;width val=&quot;93&quot;/&gt;&lt;height val=&quot;9&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CBCB3A94-9F24-4B81-85C7-F6C2ADEC38AC}&quot;/&gt;&lt;isInvalidForFieldText val=&quot;0&quot;/&gt;&lt;Image&gt;&lt;filename val=&quot;C:\Users\sanmi\Documents\My Adobe Presentations\ece552-MemoryECCIO\data\asimages\{CBCB3A94-9F24-4B81-85C7-F6C2ADEC38AC}_13.png&quot;/&gt;&lt;left val=&quot;252&quot;/&gt;&lt;top val=&quot;414&quot;/&gt;&lt;width val=&quot;9&quot;/&gt;&lt;height val=&quot;65&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945005D-0B26-4FC9-A00F-B11D93751C21}&quot;/&gt;&lt;isInvalidForFieldText val=&quot;0&quot;/&gt;&lt;Image&gt;&lt;filename val=&quot;C:\Users\sanmi\Documents\My Adobe Presentations\ece552-MemoryECCIO\data\asimages\{2945005D-0B26-4FC9-A00F-B11D93751C21}_13.png&quot;/&gt;&lt;left val=&quot;390&quot;/&gt;&lt;top val=&quot;414&quot;/&gt;&lt;width val=&quot;9&quot;/&gt;&lt;height val=&quot;65&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39AF9105-6FA3-45EC-A98C-FEE1DEAB9082}&quot;/&gt;&lt;isInvalidForFieldText val=&quot;0&quot;/&gt;&lt;Image&gt;&lt;filename val=&quot;C:\Users\sanmi\Documents\My Adobe Presentations\ece552-MemoryECCIO\data\asimages\{39AF9105-6FA3-45EC-A98C-FEE1DEAB9082}_13.png&quot;/&gt;&lt;left val=&quot;350&quot;/&gt;&lt;top val=&quot;352&quot;/&gt;&lt;width val=&quot;93&quot;/&gt;&lt;height val=&quot;9&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AD67299C-DA82-4AE9-AC37-C17C34DFB325}&quot;/&gt;&lt;isInvalidForFieldText val=&quot;0&quot;/&gt;&lt;Image&gt;&lt;filename val=&quot;C:\Users\sanmi\Documents\My Adobe Presentations\ece552-MemoryECCIO\data\asimages\{AD67299C-DA82-4AE9-AC37-C17C34DFB325}_13.png&quot;/&gt;&lt;left val=&quot;350&quot;/&gt;&lt;top val=&quot;450&quot;/&gt;&lt;width val=&quot;93&quot;/&gt;&lt;height val=&quot;9&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A85581D5-55C8-40F7-9F5B-644B691D01A5}&quot;/&gt;&lt;isInvalidForFieldText val=&quot;0&quot;/&gt;&lt;Image&gt;&lt;filename val=&quot;C:\Users\sanmi\Documents\My Adobe Presentations\ece552-MemoryECCIO\data\asimages\{A85581D5-55C8-40F7-9F5B-644B691D01A5}_13.png&quot;/&gt;&lt;left val=&quot;261&quot;/&gt;&lt;top val=&quot;363&quot;/&gt;&lt;width val=&quot;45&quot;/&gt;&lt;height val=&quot;21&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467F685-4DD9-4886-9250-3F918FCCEA07}&quot;/&gt;&lt;isInvalidForFieldText val=&quot;0&quot;/&gt;&lt;Image&gt;&lt;filename val=&quot;C:\Users\sanmi\Documents\My Adobe Presentations\ece552-MemoryECCIO\data\asimages\{2467F685-4DD9-4886-9250-3F918FCCEA07}_13.png&quot;/&gt;&lt;left val=&quot;400&quot;/&gt;&lt;top val=&quot;363&quot;/&gt;&lt;width val=&quot;45&quot;/&gt;&lt;height val=&quot;21&quot;/&gt;&lt;hasText val=&quot;1&quot;/&gt;&lt;/Image&gt;&lt;/ThreeDShapeInfo&gt;"/>
</p:tagLst>
</file>

<file path=ppt/tags/tag1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0C1E9A06-96B6-44D6-9DE8-46986785C185}&quot;/&gt;&lt;isInvalidForFieldText val=&quot;0&quot;/&gt;&lt;Image&gt;&lt;filename val=&quot;C:\Users\sanmi\Documents\My Adobe Presentations\ece552-MemoryECCIO\data\asimages\{0C1E9A06-96B6-44D6-9DE8-46986785C185}_13.png&quot;/&gt;&lt;left val=&quot;261&quot;/&gt;&lt;top val=&quot;461&quot;/&gt;&lt;width val=&quot;45&quot;/&gt;&lt;height val=&quot;21&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7040DA-0DD1-40CF-9829-2D0610A0A022}&quot;/&gt;&lt;isInvalidForFieldText val=&quot;0&quot;/&gt;&lt;Image&gt;&lt;filename val=&quot;C:\Users\sanmi\Documents\My Adobe Presentations\ece552-MemoryECCIO\data\asimages\{6C7040DA-0DD1-40CF-9829-2D0610A0A022}_13.png&quot;/&gt;&lt;left val=&quot;400&quot;/&gt;&lt;top val=&quot;461&quot;/&gt;&lt;width val=&quot;45&quot;/&gt;&lt;height val=&quot;21&quot;/&gt;&lt;hasText val=&quot;1&quot;/&gt;&lt;/Image&gt;&lt;/ThreeDShapeInfo&gt;"/>
</p:tagLst>
</file>

<file path=ppt/tags/tag1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34678352-C3B1-4BD8-8D70-EF21F6549463}&quot;/&gt;&lt;isInvalidForFieldText val=&quot;0&quot;/&gt;&lt;Image&gt;&lt;filename val=&quot;C:\Users\sanmi\Documents\My Adobe Presentations\ece552-MemoryECCIO\data\asimages\{34678352-C3B1-4BD8-8D70-EF21F6549463}_13.png&quot;/&gt;&lt;left val=&quot;321&quot;/&gt;&lt;top val=&quot;373&quot;/&gt;&lt;width val=&quot;9&quot;/&gt;&lt;height val=&quot;65&quot;/&gt;&lt;hasText val=&quot;1&quot;/&gt;&lt;/Image&gt;&lt;/ThreeDShapeInfo&gt;"/>
</p:tagLst>
</file>

<file path=ppt/tags/tag1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01F55D5E-6D12-4859-9951-82260E451BCF}&quot;/&gt;&lt;isInvalidForFieldText val=&quot;0&quot;/&gt;&lt;Image&gt;&lt;filename val=&quot;C:\Users\sanmi\Documents\My Adobe Presentations\ece552-MemoryECCIO\data\asimages\{01F55D5E-6D12-4859-9951-82260E451BCF}_13.png&quot;/&gt;&lt;left val=&quot;460&quot;/&gt;&lt;top val=&quot;373&quot;/&gt;&lt;width val=&quot;9&quot;/&gt;&lt;height val=&quot;65&quot;/&gt;&lt;hasText val=&quot;1&quot;/&gt;&lt;/Image&gt;&lt;/ThreeDShapeInfo&gt;"/>
</p:tagLst>
</file>

<file path=ppt/tags/tag171.xml><?xml version="1.0" encoding="utf-8"?>
<p:tagLst xmlns:a="http://schemas.openxmlformats.org/drawingml/2006/main" xmlns:r="http://schemas.openxmlformats.org/officeDocument/2006/relationships" xmlns:p="http://schemas.openxmlformats.org/presentationml/2006/main">
  <p:tag name="PRESENTER_SHAPEINFO" val="&lt;ThreeDShapeInfo&gt;&lt;uuid val=&quot;{85876FCA-9F20-4B07-B82E-8BB10934793C}&quot;/&gt;&lt;isInvalidForFieldText val=&quot;0&quot;/&gt;&lt;Image&gt;&lt;filename val=&quot;C:\Users\sanmi\Documents\My Adobe Presentations\ece552-MemoryECCIO\data\asimages\{85876FCA-9F20-4B07-B82E-8BB10934793C}_13.png&quot;/&gt;&lt;left val=&quot;361&quot;/&gt;&lt;top val=&quot;373&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C79FF37C-EE4B-4C0C-A06E-294CE2A16C9D}&quot;/&gt;&lt;isInvalidForFieldText val=&quot;0&quot;/&gt;&lt;Image&gt;&lt;filename val=&quot;C:\Users\sanmi\Documents\My Adobe Presentations\ece552-MemoryECCIO\data\asimages\{C79FF37C-EE4B-4C0C-A06E-294CE2A16C9D}_13.png&quot;/&gt;&lt;left val=&quot;222&quot;/&gt;&lt;top val=&quot;471&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F0A1142-53E9-4126-8810-E1B6BABB2E40}&quot;/&gt;&lt;isInvalidForFieldText val=&quot;0&quot;/&gt;&lt;Image&gt;&lt;filename val=&quot;C:\Users\sanmi\Documents\My Adobe Presentations\ece552-MemoryECCIO\data\asimages\{1F0A1142-53E9-4126-8810-E1B6BABB2E40}_13.png&quot;/&gt;&lt;left val=&quot;361&quot;/&gt;&lt;top val=&quot;471&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0F9CF30-5AC3-4B28-AFFB-54A198254FBD}&quot;/&gt;&lt;isInvalidForFieldText val=&quot;0&quot;/&gt;&lt;Image&gt;&lt;filename val=&quot;C:\Users\sanmi\Documents\My Adobe Presentations\ece552-MemoryECCIO\data\asimages\{50F9CF30-5AC3-4B28-AFFB-54A198254FBD}_13.png&quot;/&gt;&lt;left val=&quot;297&quot;/&gt;&lt;top val=&quot;332&quot;/&gt;&lt;width val=&quot;61&quot;/&gt;&lt;height val=&quot;48&quot;/&gt;&lt;hasText val=&quot;1&quot;/&gt;&lt;/Image&gt;&lt;/ThreeDShapeInfo&gt;"/>
  <p:tag name="PRESENTER_SHAPETEXTINFO" val="&lt;ShapeTextInfo&gt;&lt;TableIndex row=&quot;-1&quot; col=&quot;-1&quot;&gt;&lt;linesCount val=&quot;1&quot;/&gt;&lt;lineCharCount val=&quot;3&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377F5B95-4494-4DCF-9ACB-8AD6EE014BC4}&quot;/&gt;&lt;isInvalidForFieldText val=&quot;0&quot;/&gt;&lt;Image&gt;&lt;filename val=&quot;C:\Users\sanmi\Documents\My Adobe Presentations\ece552-MemoryECCIO\data\asimages\{377F5B95-4494-4DCF-9ACB-8AD6EE014BC4}_13.png&quot;/&gt;&lt;left val=&quot;435&quot;/&gt;&lt;top val=&quot;332&quot;/&gt;&lt;width val=&quot;61&quot;/&gt;&lt;height val=&quot;48&quot;/&gt;&lt;hasText val=&quot;1&quot;/&gt;&lt;/Image&gt;&lt;/ThreeDShapeInfo&gt;"/>
  <p:tag name="PRESENTER_SHAPETEXTINFO" val="&lt;ShapeTextInfo&gt;&lt;TableIndex row=&quot;-1&quot; col=&quot;-1&quot;&gt;&lt;linesCount val=&quot;1&quot;/&gt;&lt;lineCharCount val=&quot;3&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68DF9A71-D4B2-479F-B077-260E9141E48F}&quot;/&gt;&lt;isInvalidForFieldText val=&quot;0&quot;/&gt;&lt;Image&gt;&lt;filename val=&quot;C:\Users\sanmi\Documents\My Adobe Presentations\ece552-MemoryECCIO\data\asimages\{68DF9A71-D4B2-479F-B077-260E9141E48F}_13.png&quot;/&gt;&lt;left val=&quot;297&quot;/&gt;&lt;top val=&quot;430&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9D339628-8050-4298-98C8-F1E2B4DD5797}&quot;/&gt;&lt;isInvalidForFieldText val=&quot;0&quot;/&gt;&lt;Image&gt;&lt;filename val=&quot;C:\Users\sanmi\Documents\My Adobe Presentations\ece552-MemoryECCIO\data\asimages\{9D339628-8050-4298-98C8-F1E2B4DD5797}_13.png&quot;/&gt;&lt;left val=&quot;435&quot;/&gt;&lt;top val=&quot;430&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5C0AEB8-2796-47DD-A96D-57C51A841745}&quot;/&gt;&lt;isInvalidForFieldText val=&quot;0&quot;/&gt;&lt;Image&gt;&lt;filename val=&quot;C:\Users\sanmi\Documents\My Adobe Presentations\ece552-MemoryECCIO\data\asimages\{A5C0AEB8-2796-47DD-A96D-57C51A841745}_13.png&quot;/&gt;&lt;left val=&quot;222&quot;/&gt;&lt;top val=&quot;373&quot;/&gt;&lt;width val=&quot;61&quot;/&gt;&lt;height val=&quot;49&quot;/&gt;&lt;hasText val=&quot;1&quot;/&gt;&lt;/Image&gt;&lt;/ThreeDShapeInfo&gt;"/>
  <p:tag name="PRESENTER_SHAPETEXTINFO" val="&lt;ShapeTextInfo&gt;&lt;TableIndex row=&quot;-1&quot; col=&quot;-1&quot;&gt;&lt;linesCount val=&quot;1&quot;/&gt;&lt;lineCharCount val=&quot;3&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INFO" val="&lt;ThreeDShapeInfo&gt;&lt;uuid val=&quot;{4D4621D2-FB0E-486E-8348-01BA7ADA1C73}&quot;/&gt;&lt;isInvalidForFieldText val=&quot;0&quot;/&gt;&lt;Image&gt;&lt;filename val=&quot;C:\Users\sanmi\Documents\My Adobe Presentations\ece552-MemoryECCIO\data\asimages\{4D4621D2-FB0E-486E-8348-01BA7ADA1C73}_13.png&quot;/&gt;&lt;left val=&quot;452&quot;/&gt;&lt;top val=&quot;363&quot;/&gt;&lt;width val=&quot;27&quot;/&gt;&lt;height val=&quot;75&quot;/&gt;&lt;hasText val=&quot;1&quot;/&gt;&lt;/Image&gt;&lt;/ThreeDShapeInfo&gt;"/>
</p:tagLst>
</file>

<file path=ppt/tags/tag1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6A4371-7C4A-401D-83BD-AD193A02C5F5}&quot;/&gt;&lt;isInvalidForFieldText val=&quot;0&quot;/&gt;&lt;Image&gt;&lt;filename val=&quot;C:\Users\sanmi\Documents\My Adobe Presentations\ece552-MemoryECCIO\data\asimages\{DB6A4371-7C4A-401D-83BD-AD193A02C5F5}_13.png&quot;/&gt;&lt;left val=&quot;435&quot;/&gt;&lt;top val=&quot;332&quot;/&gt;&lt;width val=&quot;61&quot;/&gt;&lt;height val=&quot;48&quot;/&gt;&lt;hasText val=&quot;1&quot;/&gt;&lt;/Image&gt;&lt;/ThreeDShapeInfo&gt;"/>
  <p:tag name="PRESENTER_SHAPETEXTINFO" val="&lt;ShapeTextInfo&gt;&lt;TableIndex row=&quot;-1&quot; col=&quot;-1&quot;&gt;&lt;linesCount val=&quot;1&quot;/&gt;&lt;lineCharCount val=&quot;3&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BD34F97-705B-4DDD-8C66-4439CE844B33}_13.png&quot;/&gt;&lt;left val=&quot;474&quot;/&gt;&lt;top val=&quot;363&quot;/&gt;&lt;width val=&quot;263&quot;/&gt;&lt;height val=&quot;103&quot;/&gt;&lt;hasText val=&quot;1&quot;/&gt;&lt;/Image&gt;&lt;/ThreeDShapeInfo&gt;"/>
  <p:tag name="PRESENTER_SHAPETEXTINFO" val="&lt;ShapeTextInfo&gt;&lt;TableIndex row=&quot;-1&quot; col=&quot;-1&quot;&gt;&lt;linesCount val=&quot;4&quot;/&gt;&lt;lineCharCount val=&quot;32&quot;/&gt;&lt;lineCharCount val=&quot;31&quot;/&gt;&lt;lineCharCount val=&quot;28&quot;/&gt;&lt;lineCharCount val=&quot;26&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564884097,C:\Users\sanmi\GoogleDrive\UWMdrive\Courses\ECE552\ece552-lec14_MemoryECCIO_pptx\Media.ppcx"/>
</p:tagLst>
</file>

<file path=ppt/tags/tag1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D7C224F-E187-4164-BFD8-648A74CD3E08}_14.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12859FB-EB0E-4A3A-84FA-241AC2AD9D1F}_1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4D4FF05-15A7-4987-94D8-79F3B317D657}_14.png&quot;/&gt;&lt;left val=&quot;212&quot;/&gt;&lt;top val=&quot;303&quot;/&gt;&lt;width val=&quot;296&quot;/&gt;&lt;height val=&quot;235&quot;/&gt;&lt;hasText val=&quot;1&quot;/&gt;&lt;/Image&gt;&lt;/ThreeDShapeInfo&gt;"/>
  <p:tag name="PRESENTER_SHAPETEXTINFO" val="&lt;ShapeTextInfo&gt;&lt;TableIndex row=&quot;1&quot; col=&quot;1&quot;&gt;&lt;linesCount val=&quot;2&quot;/&gt;&lt;lineCharCount val=&quot;10&quot;/&gt;&lt;lineCharCount val=&quot;8&quot;/&gt;&lt;/TableIndex&gt;&lt;TableIndex row=&quot;1&quot; col=&quot;2&quot;&gt;&lt;linesCount val=&quot;2&quot;/&gt;&lt;lineCharCount val=&quot;19&quot;/&gt;&lt;lineCharCount val=&quot;23&quot;/&gt;&lt;/TableIndex&gt;&lt;TableIndex row=&quot;2&quot; col=&quot;1&quot;&gt;&lt;linesCount val=&quot;1&quot;/&gt;&lt;lineCharCount val=&quot;4&quot;/&gt;&lt;/TableIndex&gt;&lt;TableIndex row=&quot;2&quot; col=&quot;2&quot;&gt;&lt;linesCount val=&quot;1&quot;/&gt;&lt;lineCharCount val=&quot;5&quot;/&gt;&lt;/TableIndex&gt;&lt;TableIndex row=&quot;3&quot; col=&quot;1&quot;&gt;&lt;linesCount val=&quot;1&quot;/&gt;&lt;lineCharCount val=&quot;4&quot;/&gt;&lt;/TableIndex&gt;&lt;TableIndex row=&quot;3&quot; col=&quot;2&quot;&gt;&lt;linesCount val=&quot;1&quot;/&gt;&lt;lineCharCount val=&quot;5&quot;/&gt;&lt;/TableIndex&gt;&lt;TableIndex row=&quot;4&quot; col=&quot;1&quot;&gt;&lt;linesCount val=&quot;1&quot;/&gt;&lt;lineCharCount val=&quot;4&quot;/&gt;&lt;/TableIndex&gt;&lt;TableIndex row=&quot;4&quot; col=&quot;2&quot;&gt;&lt;linesCount val=&quot;1&quot;/&gt;&lt;lineCharCount val=&quot;5&quot;/&gt;&lt;/TableIndex&gt;&lt;TableIndex row=&quot;5&quot; col=&quot;1&quot;&gt;&lt;linesCount val=&quot;1&quot;/&gt;&lt;lineCharCount val=&quot;4&quot;/&gt;&lt;/TableIndex&gt;&lt;TableIndex row=&quot;5&quot; col=&quot;2&quot;&gt;&lt;linesCount val=&quot;1&quot;/&gt;&lt;lineCharCount val=&quot;5&quot;/&gt;&lt;/TableIndex&gt;&lt;TableIndex row=&quot;6&quot; col=&quot;1&quot;&gt;&lt;linesCount val=&quot;1&quot;/&gt;&lt;lineCharCount val=&quot;4&quot;/&gt;&lt;/TableIndex&gt;&lt;TableIndex row=&quot;6&quot; col=&quot;2&quot;&gt;&lt;linesCount val=&quot;1&quot;/&gt;&lt;lineCharCount val=&quot;5&quot;/&gt;&lt;/TableIndex&gt;&lt;TableIndex row=&quot;7&quot; col=&quot;1&quot;&gt;&lt;linesCount val=&quot;1&quot;/&gt;&lt;lineCharCount val=&quot;4&quot;/&gt;&lt;/TableIndex&gt;&lt;TableIndex row=&quot;7&quot; col=&quot;2&quot;&gt;&lt;linesCount val=&quot;1&quot;/&gt;&lt;lineCharCount val=&quot;5&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F3DB7DC-7BE8-42E3-B31D-B8024B433252}_14.png&quot;/&gt;&lt;left val=&quot;31&quot;/&gt;&lt;top val=&quot;105&quot;/&gt;&lt;width val=&quot;694&quot;/&gt;&lt;height val=&quot;206&quot;/&gt;&lt;hasText val=&quot;1&quot;/&gt;&lt;/Image&gt;&lt;/ThreeDShapeInfo&gt;"/>
  <p:tag name="PRESENTER_SHAPETEXTINFO" val="&lt;ShapeTextInfo&gt;&lt;TableIndex row=&quot;-1&quot; col=&quot;-1&quot;&gt;&lt;linesCount val=&quot;6&quot;/&gt;&lt;lineCharCount val=&quot;60&quot;/&gt;&lt;lineCharCount val=&quot;12&quot;/&gt;&lt;lineCharCount val=&quot;21&quot;/&gt;&lt;lineCharCount val=&quot;16&quot;/&gt;&lt;lineCharCount val=&quot;55&quot;/&gt;&lt;lineCharCount val=&quot;53&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564884097,C:\Users\sanmi\GoogleDrive\UWMdrive\Courses\ECE552\ece552-lec14_MemoryECCIO_pptx\Media.ppcx"/>
</p:tagLst>
</file>

<file path=ppt/tags/tag1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76553CB-613E-470F-918E-A0F1A566E8F9}_15.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CFA5DF7-8B48-4AA5-8477-096E2B238AED}_1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79813AA-AA38-41C3-92FD-887D3EC1E401}_15.png&quot;/&gt;&lt;left val=&quot;31&quot;/&gt;&lt;top val=&quot;105&quot;/&gt;&lt;width val=&quot;659&quot;/&gt;&lt;height val=&quot;134&quot;/&gt;&lt;hasText val=&quot;1&quot;/&gt;&lt;/Image&gt;&lt;/ThreeDShapeInfo&gt;"/>
  <p:tag name="PRESENTER_SHAPETEXTINFO" val="&lt;ShapeTextInfo&gt;&lt;TableIndex row=&quot;-1&quot; col=&quot;-1&quot;&gt;&lt;linesCount val=&quot;3&quot;/&gt;&lt;lineCharCount val=&quot;56&quot;/&gt;&lt;lineCharCount val=&quot;38&quot;/&gt;&lt;lineCharCount val=&quot;50&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564884097,C:\Users\sanmi\GoogleDrive\UWMdrive\Courses\ECE552\ece552-lec14_MemoryECCIO_pptx\Media.ppcx"/>
</p:tagLst>
</file>

<file path=ppt/tags/tag1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EA7A26D-FDAE-4C9A-8BA7-1F7BE4EBF752}_16.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56E72E5-E285-450C-9E49-4FC3F11983E0}_1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F5C6297-177C-49E0-AB54-E673106041A6}_16.png&quot;/&gt;&lt;left val=&quot;31&quot;/&gt;&lt;top val=&quot;105&quot;/&gt;&lt;width val=&quot;677&quot;/&gt;&lt;height val=&quot;160&quot;/&gt;&lt;hasText val=&quot;1&quot;/&gt;&lt;/Image&gt;&lt;/ThreeDShapeInfo&gt;"/>
  <p:tag name="PRESENTER_SHAPETEXTINFO" val="&lt;ShapeTextInfo&gt;&lt;TableIndex row=&quot;-1&quot; col=&quot;-1&quot;&gt;&lt;linesCount val=&quot;4&quot;/&gt;&lt;lineCharCount val=&quot;55&quot;/&gt;&lt;lineCharCount val=&quot;45&quot;/&gt;&lt;lineCharCount val=&quot;54&quot;/&gt;&lt;lineCharCount val=&quot;45&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2D690DC-2898-44A7-8B7C-93D16107DD1A}_16.png&quot;/&gt;&lt;left val=&quot;260&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564884097,C:\Users\sanmi\GoogleDrive\UWMdrive\Courses\ECE552\ece552-lec14_MemoryECCIO_pptx\Media.ppcx"/>
  <p:tag name="TIMING" val="|10|17.6|14.6"/>
</p:tagLst>
</file>

<file path=ppt/tags/tag1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EA6F771-C34E-4F45-B337-848364F2957C}_17.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0ECD5F3-EEAB-47DF-BC76-31A4694FE783}_1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9AE407-016D-444D-801A-508A96081441}_17.png&quot;/&gt;&lt;left val=&quot;31&quot;/&gt;&lt;top val=&quot;105&quot;/&gt;&lt;width val=&quot;677&quot;/&gt;&lt;height val=&quot;160&quot;/&gt;&lt;hasText val=&quot;1&quot;/&gt;&lt;/Image&gt;&lt;/ThreeDShapeInfo&gt;"/>
  <p:tag name="PRESENTER_SHAPETEXTINFO" val="&lt;ShapeTextInfo&gt;&lt;TableIndex row=&quot;-1&quot; col=&quot;-1&quot;&gt;&lt;linesCount val=&quot;4&quot;/&gt;&lt;lineCharCount val=&quot;55&quot;/&gt;&lt;lineCharCount val=&quot;45&quot;/&gt;&lt;lineCharCount val=&quot;54&quot;/&gt;&lt;lineCharCount val=&quot;45&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ED38464-1AFA-4A0C-8399-431253011EC7}_17.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B8D2617-1754-4FAF-8736-8ADF27AA740D}_17.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0&quot;/&gt;&lt;/TableIndex&gt;&lt;TableIndex row=&quot;3&quot; col=&quot;1&quot;&gt;&lt;linesCount val=&quot;1&quot;/&gt;&lt;lineCharCount val=&quot;2&quot;/&gt;&lt;/TableIndex&gt;&lt;TableIndex row=&quot;3&quot; col=&quot;2&quot;&gt;&lt;linesCount val=&quot;0&quot;/&gt;&lt;/TableIndex&gt;&lt;TableIndex row=&quot;4&quot; col=&quot;1&quot;&gt;&lt;linesCount val=&quot;1&quot;/&gt;&lt;lineCharCount val=&quot;2&quot;/&gt;&lt;/TableIndex&gt;&lt;TableIndex row=&quot;4&quot; col=&quot;2&quot;&gt;&lt;linesCount val=&quot;0&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8705BC5-5EE5-4013-B134-69AD7878DF54}_17.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AAC676C-2AB3-4834-955D-ACA4B2579FF4}_17.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0&quot;/&gt;&lt;/TableIndex&gt;&lt;TableIndex row=&quot;4&quot; col=&quot;1&quot;&gt;&lt;linesCount val=&quot;1&quot;/&gt;&lt;lineCharCount val=&quot;2&quot;/&gt;&lt;/TableIndex&gt;&lt;TableIndex row=&quot;4&quot; col=&quot;2&quot;&gt;&lt;linesCount val=&quot;0&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01E6359-3C06-4661-B8D3-6A7FAC5D155E}_17.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30BCCEE-8723-4BCE-AF1B-196BC1C76677}_17.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0&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5E7B929-FDE7-4C81-8257-A365E27655E6}_17.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C2AA72B-CD6D-4245-BF7D-7CA324B05192}_17.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564884097,C:\Users\sanmi\GoogleDrive\UWMdrive\Courses\ECE552\ece552-lec14_MemoryECCIO_pptx\Media.ppcx"/>
</p:tagLst>
</file>

<file path=ppt/tags/tag2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8CDEC2B-9EAF-411F-9193-C5F38E9DD118}_18.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40E4058-CA70-4AB0-B26B-58B9C75851F4}_1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7052AFE-7819-4F61-AD6C-4644CC3A9D05}_18.png&quot;/&gt;&lt;left val=&quot;31&quot;/&gt;&lt;top val=&quot;105&quot;/&gt;&lt;width val=&quot;677&quot;/&gt;&lt;height val=&quot;160&quot;/&gt;&lt;hasText val=&quot;1&quot;/&gt;&lt;/Image&gt;&lt;/ThreeDShapeInfo&gt;"/>
  <p:tag name="PRESENTER_SHAPETEXTINFO" val="&lt;ShapeTextInfo&gt;&lt;TableIndex row=&quot;-1&quot; col=&quot;-1&quot;&gt;&lt;linesCount val=&quot;4&quot;/&gt;&lt;lineCharCount val=&quot;55&quot;/&gt;&lt;lineCharCount val=&quot;45&quot;/&gt;&lt;lineCharCount val=&quot;54&quot;/&gt;&lt;lineCharCount val=&quot;45&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3971A49-A90F-49EA-8A29-740FA175C561}_18.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0CDB07F-D98D-4F6B-8E32-E6A5A9A359A6}_18.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2359036-B173-470E-8479-8B1CCAC4CA1E}_18.png&quot;/&gt;&lt;left val=&quot;221&quot;/&gt;&lt;top val=&quot;444&quot;/&gt;&lt;width val=&quot;282&quot;/&gt;&lt;height val=&quot;60&quot;/&gt;&lt;hasText val=&quot;1&quot;/&gt;&lt;/Image&gt;&lt;/ThreeDShapeInfo&gt;"/>
  <p:tag name="PRESENTER_SHAPETEXTINFO" val="&lt;ShapeTextInfo&gt;&lt;TableIndex row=&quot;-1&quot; col=&quot;-1&quot;&gt;&lt;linesCount val=&quot;2&quot;/&gt;&lt;lineCharCount val=&quot;31&quot;/&gt;&lt;lineCharCount val=&quot;25&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3BD5931-6D08-42FD-B6F0-741E55AEF00A}_18.png&quot;/&gt;&lt;left val=&quot;257&quot;/&gt;&lt;top val=&quot;255&quot;/&gt;&lt;width val=&quot;211&quot;/&gt;&lt;height val=&quot;60&quot;/&gt;&lt;hasText val=&quot;1&quot;/&gt;&lt;/Image&gt;&lt;/ThreeDShapeInfo&gt;"/>
  <p:tag name="PRESENTER_SHAPETEXTINFO" val="&lt;ShapeTextInfo&gt;&lt;TableIndex row=&quot;-1&quot; col=&quot;-1&quot;&gt;&lt;linesCount val=&quot;2&quot;/&gt;&lt;lineCharCount val=&quot;28&quot;/&gt;&lt;lineCharCount val=&quot;24&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564884097,C:\Users\sanmi\GoogleDrive\UWMdrive\Courses\ECE552\ece552-lec14_MemoryECCIO_pptx\Media.ppcx"/>
  <p:tag name="TIMING" val="|10.2|24|8.7"/>
</p:tagLst>
</file>

<file path=ppt/tags/tag2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7B3D100-340E-4732-99A9-26E67E1D0B61}_19.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93A50F2-F539-4A3B-978E-1C4545A2BAF9}_1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BD241C2-8B6D-4CF6-870A-F5EEEAA06000}_19.png&quot;/&gt;&lt;left val=&quot;31&quot;/&gt;&lt;top val=&quot;105&quot;/&gt;&lt;width val=&quot;677&quot;/&gt;&lt;height val=&quot;160&quot;/&gt;&lt;hasText val=&quot;1&quot;/&gt;&lt;/Image&gt;&lt;/ThreeDShapeInfo&gt;"/>
  <p:tag name="PRESENTER_SHAPETEXTINFO" val="&lt;ShapeTextInfo&gt;&lt;TableIndex row=&quot;-1&quot; col=&quot;-1&quot;&gt;&lt;linesCount val=&quot;4&quot;/&gt;&lt;lineCharCount val=&quot;55&quot;/&gt;&lt;lineCharCount val=&quot;45&quot;/&gt;&lt;lineCharCount val=&quot;54&quot;/&gt;&lt;lineCharCount val=&quot;45&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AAA190F-CC0A-4673-A86A-28849D71B821}_19.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6FC97CC-6B79-46C1-9012-31A4FC896B77}_19.png&quot;/&gt;&lt;left val=&quot;499&quot;/&gt;&lt;top val=&quot;258&quot;/&gt;&lt;width val=&quot;200&quot;/&gt;&lt;height val=&quot;243&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0&quot;/&gt;&lt;/TableIndex&gt;&lt;TableIndex row=&quot;3&quot; col=&quot;1&quot;&gt;&lt;linesCount val=&quot;1&quot;/&gt;&lt;lineCharCount val=&quot;2&quot;/&gt;&lt;/TableIndex&gt;&lt;TableIndex row=&quot;3&quot; col=&quot;2&quot;&gt;&lt;linesCount val=&quot;0&quot;/&gt;&lt;/TableIndex&gt;&lt;TableIndex row=&quot;4&quot; col=&quot;1&quot;&gt;&lt;linesCount val=&quot;1&quot;/&gt;&lt;lineCharCount val=&quot;2&quot;/&gt;&lt;/TableIndex&gt;&lt;TableIndex row=&quot;4&quot; col=&quot;2&quot;&gt;&lt;linesCount val=&quot;0&quot;/&gt;&lt;/TableIndex&gt;&lt;TableIndex row=&quot;5&quot; col=&quot;1&quot;&gt;&lt;linesCount val=&quot;1&quot;/&gt;&lt;lineCharCount val=&quot;2&quot;/&gt;&lt;/TableIndex&gt;&lt;TableIndex row=&quot;5&quot; col=&quot;2&quot;&gt;&lt;linesCount val=&quot;0&quot;/&gt;&lt;/TableIndex&gt;&lt;TableIndex row=&quot;6&quot; col=&quot;1&quot;&gt;&lt;linesCount val=&quot;1&quot;/&gt;&lt;lineCharCount val=&quot;2&quot;/&gt;&lt;/TableIndex&gt;&lt;TableIndex row=&quot;6&quot; col=&quot;2&quot;&gt;&lt;linesCount val=&quot;0&quot;/&gt;&lt;/TableIndex&gt;&lt;TableIndex row=&quot;7&quot; col=&quot;1&quot;&gt;&lt;linesCount val=&quot;1&quot;/&gt;&lt;lineCharCount val=&quot;2&quot;/&gt;&lt;/TableIndex&gt;&lt;TableIndex row=&quot;7&quot; col=&quot;2&quot;&gt;&lt;linesCount val=&quot;0&quot;/&gt;&lt;/TableIndex&gt;&lt;TableIndex row=&quot;8&quot; col=&quot;1&quot;&gt;&lt;linesCount val=&quot;1&quot;/&gt;&lt;lineCharCount val=&quot;2&quot;/&gt;&lt;/TableIndex&gt;&lt;TableIndex row=&quot;8&quot; col=&quot;2&quot;&gt;&lt;linesCount val=&quot;0&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93D19DC-5F03-46FD-B2AF-6BD93CE775EE}_19.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7060FE0-EF88-4D52-B3AC-9AA4F806951A}_19.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B78AED6-EC52-47FB-8A90-49BBBA4DDD06}_19.png&quot;/&gt;&lt;left val=&quot;499&quot;/&gt;&lt;top val=&quot;258&quot;/&gt;&lt;width val=&quot;200&quot;/&gt;&lt;height val=&quot;243&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0&quot;/&gt;&lt;/TableIndex&gt;&lt;TableIndex row=&quot;5&quot; col=&quot;1&quot;&gt;&lt;linesCount val=&quot;1&quot;/&gt;&lt;lineCharCount val=&quot;2&quot;/&gt;&lt;/TableIndex&gt;&lt;TableIndex row=&quot;5&quot; col=&quot;2&quot;&gt;&lt;linesCount val=&quot;1&quot;/&gt;&lt;lineCharCount val=&quot;11&quot;/&gt;&lt;/TableIndex&gt;&lt;TableIndex row=&quot;6&quot; col=&quot;1&quot;&gt;&lt;linesCount val=&quot;1&quot;/&gt;&lt;lineCharCount val=&quot;2&quot;/&gt;&lt;/TableIndex&gt;&lt;TableIndex row=&quot;6&quot; col=&quot;2&quot;&gt;&lt;linesCount val=&quot;0&quot;/&gt;&lt;/TableIndex&gt;&lt;TableIndex row=&quot;7&quot; col=&quot;1&quot;&gt;&lt;linesCount val=&quot;1&quot;/&gt;&lt;lineCharCount val=&quot;2&quot;/&gt;&lt;/TableIndex&gt;&lt;TableIndex row=&quot;7&quot; col=&quot;2&quot;&gt;&lt;linesCount val=&quot;0&quot;/&gt;&lt;/TableIndex&gt;&lt;TableIndex row=&quot;8&quot; col=&quot;1&quot;&gt;&lt;linesCount val=&quot;1&quot;/&gt;&lt;lineCharCount val=&quot;2&quot;/&gt;&lt;/TableIndex&gt;&lt;TableIndex row=&quot;8&quot; col=&quot;2&quot;&gt;&lt;linesCount val=&quot;0&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5B9817B-8E34-4A5B-8021-B35F188FE246}_19.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711A14C-A46C-4874-A30E-5ACC9063B677}_19.png&quot;/&gt;&lt;left val=&quot;215&quot;/&gt;&lt;top val=&quot;454&quot;/&gt;&lt;width val=&quot;204&quot;/&gt;&lt;height val=&quot;60&quot;/&gt;&lt;hasText val=&quot;1&quot;/&gt;&lt;/Image&gt;&lt;/ThreeDShapeInfo&gt;"/>
  <p:tag name="PRESENTER_SHAPETEXTINFO" val="&lt;ShapeTextInfo&gt;&lt;TableIndex row=&quot;-1&quot; col=&quot;-1&quot;&gt;&lt;linesCount val=&quot;2&quot;/&gt;&lt;lineCharCount val=&quot;24&quot;/&gt;&lt;lineCharCount val=&quot;14&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86E15D8-C90D-433F-914A-A55113C5FCC5}_19.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D155D1D-24B4-45DB-B223-972B7966BAFB}_19.png&quot;/&gt;&lt;left val=&quot;499&quot;/&gt;&lt;top val=&quot;258&quot;/&gt;&lt;width val=&quot;200&quot;/&gt;&lt;height val=&quot;243&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1&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0BB6DE1-A19F-4005-BE7F-0733DB8F61FD}_19.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D74EE8D-422F-4A1D-8FAC-0C71F4AD3514}_19.png&quot;/&gt;&lt;left val=&quot;23&quot;/&gt;&lt;top val=&quot;255&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12&quot;/&gt;&lt;/TableIndex&gt;&lt;TableIndex row=&quot;2&quot; col=&quot;1&quot;&gt;&lt;linesCount val=&quot;1&quot;/&gt;&lt;lineCharCount val=&quot;3&quot;/&gt;&lt;/TableIndex&gt;&lt;TableIndex row=&quot;2&quot; col=&quot;2&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4&quot; col=&quot;1&quot;&gt;&lt;linesCount val=&quot;1&quot;/&gt;&lt;lineCharCount val=&quot;3&quot;/&gt;&lt;/TableIndex&gt;&lt;TableIndex row=&quot;4&quot; col=&quot;2&quot;&gt;&lt;linesCount val=&quot;1&quot;/&gt;&lt;lineCharCount val=&quot;2&quot;/&gt;&lt;/TableIndex&gt;&lt;TableIndex row=&quot;5&quot; col=&quot;1&quot;&gt;&lt;linesCount val=&quot;1&quot;/&gt;&lt;lineCharCount val=&quot;3&quot;/&gt;&lt;/TableIndex&gt;&lt;TableIndex row=&quot;5&quot; col=&quot;2&quot;&gt;&lt;linesCount val=&quot;1&quot;/&gt;&lt;lineCharCount val=&quot;2&quot;/&gt;&lt;/TableIndex&gt;&lt;TableIndex row=&quot;6&quot; col=&quot;1&quot;&gt;&lt;linesCount val=&quot;1&quot;/&gt;&lt;lineCharCount val=&quot;3&quot;/&gt;&lt;/TableIndex&gt;&lt;TableIndex row=&quot;6&quot; col=&quot;2&quot;&gt;&lt;linesCount val=&quot;1&quot;/&gt;&lt;lineCharCount val=&quot;2&quot;/&gt;&lt;/TableIndex&gt;&lt;TableIndex row=&quot;7&quot; col=&quot;1&quot;&gt;&lt;linesCount val=&quot;1&quot;/&gt;&lt;lineCharCount val=&quot;3&quot;/&gt;&lt;/TableIndex&gt;&lt;TableIndex row=&quot;7&quot; col=&quot;2&quot;&gt;&lt;linesCount val=&quot;1&quot;/&gt;&lt;lineCharCount val=&quot;2&quot;/&gt;&lt;/TableIndex&gt;&lt;TableIndex row=&quot;8&quot; col=&quot;1&quot;&gt;&lt;linesCount val=&quot;1&quot;/&gt;&lt;lineCharCount val=&quot;3&quot;/&gt;&lt;/TableIndex&gt;&lt;TableIndex row=&quot;8&quot; col=&quot;2&quot;&gt;&lt;linesCount val=&quot;1&quot;/&gt;&lt;lineCharCount val=&quot;2&quot;/&gt;&lt;/TableIndex&gt;&lt;TableIndex row=&quot;9&quot; col=&quot;1&quot;&gt;&lt;linesCount val=&quot;1&quot;/&gt;&lt;lineCharCount val=&quot;3&quot;/&gt;&lt;/TableIndex&gt;&lt;TableIndex row=&quot;9&quot; col=&quot;2&quot;&gt;&lt;linesCount val=&quot;1&quot;/&gt;&lt;lineCharCount val=&quot;2&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79F4F19-5D3E-4A86-96C6-23987E7DDCA0}_19.png&quot;/&gt;&lt;left val=&quot;499&quot;/&gt;&lt;top val=&quot;258&quot;/&gt;&lt;width val=&quot;200&quot;/&gt;&lt;height val=&quot;243&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7113320-591A-4ADF-8575-AB40317D56F9}_19.png&quot;/&gt;&lt;left val=&quot;281&quot;/&gt;&lt;top val=&quot;317&quot;/&gt;&lt;width val=&quot;200&quot;/&gt;&lt;height val=&quot;126&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564884097,C:\Users\sanmi\GoogleDrive\UWMdrive\Courses\ECE552\ece552-lec14_MemoryECCIO_pptx\Media.ppcx"/>
</p:tagLst>
</file>

<file path=ppt/tags/tag2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67ACC82-D5B3-45E2-BE52-FBC5E2DE60FB}_20.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30&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84B8490-6868-43FE-AC7F-9C0C71E02347}_2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D39D0AC-60BA-4B93-9A3B-6253B7448D99}_20.png&quot;/&gt;&lt;left val=&quot;335&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05EA65D-5F3E-4435-A0F0-E25B0FE699CB}_20.png&quot;/&gt;&lt;left val=&quot;31&quot;/&gt;&lt;top val=&quot;105&quot;/&gt;&lt;width val=&quot;690&quot;/&gt;&lt;height val=&quot;200&quot;/&gt;&lt;hasText val=&quot;1&quot;/&gt;&lt;/Image&gt;&lt;/ThreeDShapeInfo&gt;"/>
  <p:tag name="PRESENTER_SHAPETEXTINFO" val="&lt;ShapeTextInfo&gt;&lt;TableIndex row=&quot;-1&quot; col=&quot;-1&quot;&gt;&lt;linesCount val=&quot;5&quot;/&gt;&lt;lineCharCount val=&quot;56&quot;/&gt;&lt;lineCharCount val=&quot;47&quot;/&gt;&lt;lineCharCount val=&quot;56&quot;/&gt;&lt;lineCharCount val=&quot;27&quot;/&gt;&lt;lineCharCount val=&quot;20&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564884097,C:\Users\sanmi\GoogleDrive\UWMdrive\Courses\ECE552\ece552-lec14_MemoryECCIO_pptx\Media.ppcx"/>
  <p:tag name="TIMING" val="|9.9"/>
</p:tagLst>
</file>

<file path=ppt/tags/tag2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6B18AB9-EEBC-4DED-8A6E-781433E65D79}_21.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3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4F17158-C059-43B7-A1A1-87E739344B6C}_2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03EE427-4001-49F7-A991-6A2F57325D38}_21.png&quot;/&gt;&lt;left val=&quot;31&quot;/&gt;&lt;top val=&quot;105&quot;/&gt;&lt;width val=&quot;690&quot;/&gt;&lt;height val=&quot;160&quot;/&gt;&lt;hasText val=&quot;1&quot;/&gt;&lt;/Image&gt;&lt;/ThreeDShapeInfo&gt;"/>
  <p:tag name="PRESENTER_SHAPETEXTINFO" val="&lt;ShapeTextInfo&gt;&lt;TableIndex row=&quot;-1&quot; col=&quot;-1&quot;&gt;&lt;linesCount val=&quot;4&quot;/&gt;&lt;lineCharCount val=&quot;56&quot;/&gt;&lt;lineCharCount val=&quot;47&quot;/&gt;&lt;lineCharCount val=&quot;56&quot;/&gt;&lt;lineCharCount val=&quot;26&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F6C69DB-A6CA-4B76-8D47-310EDDAEBD7F}_21.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5143689-2601-4F7B-9168-5132992C7D6C}_21.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0&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DCBA64D-B1A8-44D6-94F4-6715D663E17D}_21.png&quot;/&gt;&lt;left val=&quot;281&quot;/&gt;&lt;top val=&quot;317&quot;/&gt;&lt;width val=&quot;200&quot;/&gt;&lt;height val=&quot;155&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0&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FB6C2F4-A7CA-4399-8729-32AAE038C12A}_21.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E7C009C-3AB9-4016-BD69-3DB70DBDBE5B}_21.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7826451-5A73-4552-9F64-CA97B07A85DE}_21.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282DDCB-D955-4543-AFAF-8A929C70EE8B}_21.png&quot;/&gt;&lt;left val=&quot;235&quot;/&gt;&lt;top val=&quot;481&quot;/&gt;&lt;width val=&quot;176&quot;/&gt;&lt;height val=&quot;60&quot;/&gt;&lt;hasText val=&quot;1&quot;/&gt;&lt;/Image&gt;&lt;/ThreeDShapeInfo&gt;"/>
  <p:tag name="PRESENTER_SHAPETEXTINFO" val="&lt;ShapeTextInfo&gt;&lt;TableIndex row=&quot;-1&quot; col=&quot;-1&quot;&gt;&lt;linesCount val=&quot;2&quot;/&gt;&lt;lineCharCount val=&quot;23&quot;/&gt;&lt;lineCharCount val=&quot;18&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64884097,C:\Users\sanmi\GoogleDrive\UWMdrive\Courses\ECE552\ece552-lec14_MemoryECCIO_pptx\Media.ppcx"/>
  <p:tag name="TIMING" val="|12.3"/>
</p:tagLst>
</file>

<file path=ppt/tags/tag2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4D55805-9303-4F39-A6EE-BEDBDF2ECFDD}_22.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53&quot;/&gt;&lt;lineCharCount val=&quot;1&quot;/&gt;&lt;lineCharCount val=&quot;31&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896CE94-14E3-4C4E-9EED-42FD56D14E5F}_22.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53&quot;/&gt;&lt;lineCharCount val=&quot;1&quot;/&gt;&lt;lineCharCount val=&quot;27&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A6AF9E8-09EB-48CC-B2E8-0319AD38003C}_22.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3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CDF38AA-AECA-45D2-921B-8A24621EF624}_2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A49E69D-5A8F-4A07-A37D-863F406F438E}_22.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38B24CD-B628-4E4A-837B-FD55FEA40E47}_22.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90FD024-D260-444B-8C6F-24A7D712F633}_22.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564884097,C:\Users\sanmi\GoogleDrive\UWMdrive\Courses\ECE552\ece552-lec14_MemoryECCIO_pptx\Media.ppcx"/>
</p:tagLst>
</file>

<file path=ppt/tags/tag2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23C643E-AC18-4CD2-BE78-E1D2FE7642B9}_23.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30&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02939AD-A7D0-452C-BE3C-93B3DEC5EED1}_2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9AA96E3-979F-4A1A-B0EA-F79FE60C398E}_23.png&quot;/&gt;&lt;left val=&quot;31&quot;/&gt;&lt;top val=&quot;105&quot;/&gt;&lt;width val=&quot;677&quot;/&gt;&lt;height val=&quot;80&quot;/&gt;&lt;hasText val=&quot;1&quot;/&gt;&lt;/Image&gt;&lt;/ThreeDShapeInfo&gt;"/>
  <p:tag name="PRESENTER_SHAPETEXTINFO" val="&lt;ShapeTextInfo&gt;&lt;TableIndex row=&quot;-1&quot; col=&quot;-1&quot;&gt;&lt;linesCount val=&quot;1&quot;/&gt;&lt;lineCharCount val=&quot;52&quot;/&gt;&lt;/TableIndex&gt;&lt;/ShapeTextInfo&gt;"/>
</p:tagLst>
</file>

<file path=ppt/tags/tag2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05BDC0C-A723-46BD-B53B-44F75112647F}_23.png&quot;/&gt;&lt;left val=&quot;83&quot;/&gt;&lt;top val=&quot;193&quot;/&gt;&lt;width val=&quot;200&quot;/&gt;&lt;height val=&quot;294&quot;/&gt;&lt;hasText val=&quot;1&quot;/&gt;&lt;/Image&gt;&lt;/ThreeDShapeInfo&gt;"/>
  <p:tag name="PRESENTER_SHAPETEXTINFO" val="&lt;ShapeTextInfo&gt;&lt;TableIndex row=&quot;1&quot; col=&quot;1&quot;&gt;&lt;linesCount val=&quot;2&quot;/&gt;&lt;lineCharCount val=&quot;22&quot;/&gt;&lt;lineCharCount val=&quot;17&quot;/&gt;&lt;/TableIndex&gt;&lt;TableIndex row=&quot;1&quot; col=&quot;2&quot;&gt;&lt;linesCount val=&quot;2&quot;/&gt;&lt;lineCharCount val=&quot;22&quot;/&gt;&lt;lineCharCount val=&quot;17&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4DAC155-A9D0-4F06-A3A3-4AFB210CE4AE}_23.png&quot;/&gt;&lt;left val=&quot;437&quot;/&gt;&lt;top val=&quot;193&quot;/&gt;&lt;width val=&quot;200&quot;/&gt;&lt;height val=&quot;294&quot;/&gt;&lt;hasText val=&quot;1&quot;/&gt;&lt;/Image&gt;&lt;/ThreeDShapeInfo&gt;"/>
  <p:tag name="PRESENTER_SHAPETEXTINFO" val="&lt;ShapeTextInfo&gt;&lt;TableIndex row=&quot;1&quot; col=&quot;1&quot;&gt;&lt;linesCount val=&quot;2&quot;/&gt;&lt;lineCharCount val=&quot;17&quot;/&gt;&lt;lineCharCount val=&quot;14&quot;/&gt;&lt;/TableIndex&gt;&lt;TableIndex row=&quot;1&quot; col=&quot;2&quot;&gt;&lt;linesCount val=&quot;2&quot;/&gt;&lt;lineCharCount val=&quot;17&quot;/&gt;&lt;lineCharCount val=&quot;14&quot;/&gt;&lt;/TableIndex&gt;&lt;TableIndex row=&quot;2&quot; col=&quot;1&quot;&gt;&lt;linesCount val=&quot;1&quot;/&gt;&lt;lineCharCount val=&quot;2&quot;/&gt;&lt;/TableIndex&gt;&lt;TableIndex row=&quot;2&quot; col=&quot;2&quot;&gt;&lt;linesCount val=&quot;1&quot;/&gt;&lt;lineCharCount val=&quot;2&quot;/&gt;&lt;/TableIndex&gt;&lt;TableIndex row=&quot;3&quot; col=&quot;1&quot;&gt;&lt;linesCount val=&quot;1&quot;/&gt;&lt;lineCharCount val=&quot;2&quot;/&gt;&lt;/TableIndex&gt;&lt;TableIndex row=&quot;3&quot; col=&quot;2&quot;&gt;&lt;linesCount val=&quot;1&quot;/&gt;&lt;lineCharCount val=&quot;2&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2&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2&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CE42AEC-3BA3-4A35-9276-177BA2D3B25A}_23.png&quot;/&gt;&lt;left val=&quot;323&quot;/&gt;&lt;top val=&quot;311&quot;/&gt;&lt;width val=&quot;84&quot;/&gt;&lt;height val=&quot;61&quot;/&gt;&lt;hasText val=&quot;1&quot;/&gt;&lt;/Image&gt;&lt;/ThreeDShapeInfo&gt;"/>
  <p:tag name="PRESENTER_SHAPETEXTINFO" val="&lt;ShapeTextInfo&gt;&lt;TableIndex row=&quot;-1&quot; col=&quot;-1&quot;&gt;&lt;linesCount val=&quot;1&quot;/&gt;&lt;lineCharCount val=&quot;3&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564884097,C:\Users\sanmi\GoogleDrive\UWMdrive\Courses\ECE552\ece552-lec14_MemoryECCIO_pptx\Media.ppcx"/>
</p:tagLst>
</file>

<file path=ppt/tags/tag2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488C568-4A11-4336-AE3C-EBD47EACF0FB}_24.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F712EB4-58A9-465F-BF2C-1D2EEADC9E16}_2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A2CAF1F-BC4D-4A9C-8A7E-12E121FF1BCC}_24.png&quot;/&gt;&lt;left val=&quot;107&quot;/&gt;&lt;top val=&quot;305&quot;/&gt;&lt;width val=&quot;126&quot;/&gt;&lt;height val=&quot;45&quot;/&gt;&lt;hasText val=&quot;1&quot;/&gt;&lt;/Image&gt;&lt;/ThreeDShapeInfo&gt;"/>
  <p:tag name="PRESENTER_SHAPETEXTINFO" val="&lt;ShapeTextInfo&gt;&lt;TableIndex row=&quot;-1&quot; col=&quot;-1&quot;&gt;&lt;linesCount val=&quot;1&quot;/&gt;&lt;lineCharCount val=&quot;10&quot;/&gt;&lt;/TableIndex&gt;&lt;/ShapeTextInfo&gt;"/>
</p:tagLst>
</file>

<file path=ppt/tags/tag2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52ED94C-29B2-4A80-BB53-97B6AB93ABDF}_24.png&quot;/&gt;&lt;left val=&quot;485&quot;/&gt;&lt;top val=&quot;303&quot;/&gt;&lt;width val=&quot;126&quot;/&gt;&lt;height val=&quot;46&quot;/&gt;&lt;hasText val=&quot;1&quot;/&gt;&lt;/Image&gt;&lt;/ThreeDShapeInfo&gt;"/>
  <p:tag name="PRESENTER_SHAPETEXTINFO" val="&lt;ShapeTextInfo&gt;&lt;TableIndex row=&quot;-1&quot; col=&quot;-1&quot;&gt;&lt;linesCount val=&quot;1&quot;/&gt;&lt;lineCharCount val=&quot;10&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DFBF34C-F28F-44F6-A96C-E237509982E1}_24.png&quot;/&gt;&lt;left val=&quot;228&quot;/&gt;&lt;top val=&quot;395&quot;/&gt;&lt;width val=&quot;26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2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6E97CD3-EE25-4D38-A059-DC4BF4B8A9F1}_24.png&quot;/&gt;&lt;left val=&quot;11&quot;/&gt;&lt;top val=&quot;467&quot;/&gt;&lt;width val=&quot;354&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2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70B2350-6707-433A-8EFC-BB4B4FD21CBE}_24.png&quot;/&gt;&lt;left val=&quot;40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CED2907-8652-4163-9C4D-41A3548BBDF2}_24.png&quot;/&gt;&lt;left val=&quot;49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6FBEE5B-4842-42AA-AAB4-98C9496F8EE1}_24.png&quot;/&gt;&lt;left val=&quot;58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2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67F0E70-6FC0-47F6-8705-8019B4254ED8}_24.png&quot;/&gt;&lt;left val=&quot;24&quot;/&gt;&lt;top val=&quot;101&quot;/&gt;&lt;width val=&quot;659&quot;/&gt;&lt;height val=&quot;192&quot;/&gt;&lt;hasText val=&quot;1&quot;/&gt;&lt;/Image&gt;&lt;/ThreeDShapeInfo&gt;"/>
  <p:tag name="PRESENTER_SHAPETEXTINFO" val="&lt;ShapeTextInfo&gt;&lt;TableIndex row=&quot;-1&quot; col=&quot;-1&quot;&gt;&lt;linesCount val=&quot;4&quot;/&gt;&lt;lineCharCount val=&quot;15&quot;/&gt;&lt;lineCharCount val=&quot;41&quot;/&gt;&lt;lineCharCount val=&quot;34&quot;/&gt;&lt;lineCharCount val=&quot;35&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564884097,C:\Users\sanmi\GoogleDrive\UWMdrive\Courses\ECE552\ece552-lec14_MemoryECCIO_pptx\Media.ppcx"/>
</p:tagLst>
</file>

<file path=ppt/tags/tag2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42C6AB7-8BA3-4EF9-B466-21E5C65575D8}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4&quot;/&gt;&lt;/TableIndex&gt;&lt;/ShapeTextInfo&gt;"/>
</p:tagLst>
</file>

<file path=ppt/tags/tag2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B0C0DC8-FC16-4C07-8FB8-E661B46FB187}_2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53B010E-C314-4D1E-B5B0-28BFD6DEAE6E}_25.png&quot;/&gt;&lt;left val=&quot;27&quot;/&gt;&lt;top val=&quot;120&quot;/&gt;&lt;width val=&quot;349&quot;/&gt;&lt;height val=&quot;347&quot;/&gt;&lt;hasText val=&quot;1&quot;/&gt;&lt;/Image&gt;&lt;/ThreeDShapeInfo&gt;"/>
  <p:tag name="PRESENTER_SHAPETEXTINFO" val="&lt;ShapeTextInfo&gt;&lt;TableIndex row=&quot;-1&quot; col=&quot;-1&quot;&gt;&lt;linesCount val=&quot;10&quot;/&gt;&lt;lineCharCount val=&quot;19&quot;/&gt;&lt;lineCharCount val=&quot;25&quot;/&gt;&lt;lineCharCount val=&quot;28&quot;/&gt;&lt;lineCharCount val=&quot;22&quot;/&gt;&lt;lineCharCount val=&quot;13&quot;/&gt;&lt;lineCharCount val=&quot;22&quot;/&gt;&lt;lineCharCount val=&quot;13&quot;/&gt;&lt;lineCharCount val=&quot;27&quot;/&gt;&lt;lineCharCount val=&quot;26&quot;/&gt;&lt;lineCharCount val=&quot;6&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564884097,C:\Users\sanmi\GoogleDrive\UWMdrive\Courses\ECE552\ece552-lec14_MemoryECCIO_pptx\Media.ppcx"/>
</p:tagLst>
</file>

<file path=ppt/tags/tag2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DC515A7-8836-4168-B84C-8EDEE88540E3}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AAF1329-1E82-4F57-A3C5-A1641CF8775A}_26.png&quot;/&gt;&lt;left val=&quot;27&quot;/&gt;&lt;top val=&quot;120&quot;/&gt;&lt;width val=&quot;697&quot;/&gt;&lt;height val=&quot;362&quot;/&gt;&lt;hasText val=&quot;1&quot;/&gt;&lt;/Image&gt;&lt;/ThreeDShapeInfo&gt;"/>
  <p:tag name="PRESENTER_SHAPETEXTINFO" val="&lt;ShapeTextInfo&gt;&lt;TableIndex row=&quot;-1&quot; col=&quot;-1&quot;&gt;&lt;linesCount val=&quot;7&quot;/&gt;&lt;lineCharCount val=&quot;46&quot;/&gt;&lt;lineCharCount val=&quot;22&quot;/&gt;&lt;lineCharCount val=&quot;64&quot;/&gt;&lt;lineCharCount val=&quot;67&quot;/&gt;&lt;lineCharCount val=&quot;54&quot;/&gt;&lt;lineCharCount val=&quot;21&quot;/&gt;&lt;lineCharCount val=&quot;40&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5FAE6E3-0A7A-4F1D-B43C-AC469B84BC5D}_2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564884097,C:\Users\sanmi\GoogleDrive\UWMdrive\Courses\ECE552\ece552-lec14_MemoryECCIO_pptx\Media.ppcx"/>
</p:tagLst>
</file>

<file path=ppt/tags/tag2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B244FA6-DAE0-47C6-912D-1B297CEDE02A}_2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A75DE87-864D-4B8C-8317-E2BC5ACC8CB9}_27.png&quot;/&gt;&lt;left val=&quot;27&quot;/&gt;&lt;top val=&quot;120&quot;/&gt;&lt;width val=&quot;387&quot;/&gt;&lt;height val=&quot;380&quot;/&gt;&lt;hasText val=&quot;1&quot;/&gt;&lt;/Image&gt;&lt;/ThreeDShapeInfo&gt;"/>
  <p:tag name="PRESENTER_SHAPETEXTINFO" val="&lt;ShapeTextInfo&gt;&lt;TableIndex row=&quot;-1&quot; col=&quot;-1&quot;&gt;&lt;linesCount val=&quot;10&quot;/&gt;&lt;lineCharCount val=&quot;8&quot;/&gt;&lt;lineCharCount val=&quot;21&quot;/&gt;&lt;lineCharCount val=&quot;22&quot;/&gt;&lt;lineCharCount val=&quot;1&quot;/&gt;&lt;lineCharCount val=&quot;8&quot;/&gt;&lt;lineCharCount val=&quot;21&quot;/&gt;&lt;lineCharCount val=&quot;33&quot;/&gt;&lt;lineCharCount val=&quot;1&quot;/&gt;&lt;lineCharCount val=&quot;8&quot;/&gt;&lt;lineCharCount val=&quot;22&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7E36D9-5A58-4094-A651-0B22C85787B7}_2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52611BB-B94C-4CFD-AD69-85EE46D656D6}_27.png&quot;/&gt;&lt;left val=&quot;471&quot;/&gt;&lt;top val=&quot;124&quot;/&gt;&lt;width val=&quot;227&quot;/&gt;&lt;height val=&quot;126&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5&quot;/&gt;&lt;/TableIndex&gt;&lt;TableIndex row=&quot;1&quot; col=&quot;3&quot;&gt;&lt;linesCount val=&quot;1&quot;/&gt;&lt;lineCharCount val=&quot;5&quot;/&gt;&lt;/TableIndex&gt;&lt;TableIndex row=&quot;2&quot; col=&quot;1&quot;&gt;&lt;linesCount val=&quot;1&quot;/&gt;&lt;lineCharCount val=&quot;6&quot;/&gt;&lt;/TableIndex&gt;&lt;TableIndex row=&quot;2&quot; col=&quot;2&quot;&gt;&lt;linesCount val=&quot;1&quot;/&gt;&lt;lineCharCount val=&quot;6&quot;/&gt;&lt;/TableIndex&gt;&lt;TableIndex row=&quot;2&quot; col=&quot;3&quot;&gt;&lt;linesCount val=&quot;1&quot;/&gt;&lt;lineCharCount val=&quot;6&quot;/&gt;&lt;/TableIndex&gt;&lt;TableIndex row=&quot;3&quot; col=&quot;1&quot;&gt;&lt;linesCount val=&quot;1&quot;/&gt;&lt;lineCharCount val=&quot;6&quot;/&gt;&lt;/TableIndex&gt;&lt;TableIndex row=&quot;3&quot; col=&quot;2&quot;&gt;&lt;linesCount val=&quot;1&quot;/&gt;&lt;lineCharCount val=&quot;6&quot;/&gt;&lt;/TableIndex&gt;&lt;TableIndex row=&quot;3&quot; col=&quot;3&quot;&gt;&lt;linesCount val=&quot;1&quot;/&gt;&lt;lineCharCount val=&quot;6&quot;/&gt;&lt;/TableIndex&gt;&lt;TableIndex row=&quot;4&quot; col=&quot;1&quot;&gt;&lt;linesCount val=&quot;1&quot;/&gt;&lt;lineCharCount val=&quot;6&quot;/&gt;&lt;/TableIndex&gt;&lt;TableIndex row=&quot;4&quot; col=&quot;2&quot;&gt;&lt;linesCount val=&quot;1&quot;/&gt;&lt;lineCharCount val=&quot;6&quot;/&gt;&lt;/TableIndex&gt;&lt;TableIndex row=&quot;4&quot; col=&quot;3&quot;&gt;&lt;linesCount val=&quot;1&quot;/&gt;&lt;lineCharCount val=&quot;6&quot;/&gt;&lt;/TableIndex&gt;&lt;TableIndex row=&quot;5&quot; col=&quot;1&quot;&gt;&lt;linesCount val=&quot;1&quot;/&gt;&lt;lineCharCount val=&quot;6&quot;/&gt;&lt;/TableIndex&gt;&lt;TableIndex row=&quot;5&quot; col=&quot;2&quot;&gt;&lt;linesCount val=&quot;1&quot;/&gt;&lt;lineCharCount val=&quot;7&quot;/&gt;&lt;/TableIndex&gt;&lt;TableIndex row=&quot;5&quot; col=&quot;3&quot;&gt;&lt;linesCount val=&quot;1&quot;/&gt;&lt;lineCharCount val=&quot;7&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8191119-4169-4AAC-A42D-879E8E691F3C}_27.png&quot;/&gt;&lt;left val=&quot;396&quot;/&gt;&lt;top val=&quot;400&quot;/&gt;&lt;width val=&quot;302&quot;/&gt;&lt;height val=&quot;126&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5&quot;/&gt;&lt;/TableIndex&gt;&lt;TableIndex row=&quot;1&quot; col=&quot;3&quot;&gt;&lt;linesCount val=&quot;1&quot;/&gt;&lt;lineCharCount val=&quot;5&quot;/&gt;&lt;/TableIndex&gt;&lt;TableIndex row=&quot;1&quot; col=&quot;4&quot;&gt;&lt;linesCount val=&quot;1&quot;/&gt;&lt;lineCharCount val=&quot;5&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4&quot;/&gt;&lt;/TableIndex&gt;&lt;TableIndex row=&quot;2&quot; col=&quot;4&quot;&gt;&lt;linesCount val=&quot;1&quot;/&gt;&lt;lineCharCount val=&quot;9&quot;/&gt;&lt;/TableIndex&gt;&lt;TableIndex row=&quot;3&quot; col=&quot;1&quot;&gt;&lt;linesCount val=&quot;1&quot;/&gt;&lt;lineCharCount val=&quot;4&quot;/&gt;&lt;/TableIndex&gt;&lt;TableIndex row=&quot;3&quot; col=&quot;2&quot;&gt;&lt;linesCount val=&quot;1&quot;/&gt;&lt;lineCharCount val=&quot;4&quot;/&gt;&lt;/TableIndex&gt;&lt;TableIndex row=&quot;3&quot; col=&quot;3&quot;&gt;&lt;linesCount val=&quot;1&quot;/&gt;&lt;lineCharCount val=&quot;4&quot;/&gt;&lt;/TableIndex&gt;&lt;TableIndex row=&quot;3&quot; col=&quot;4&quot;&gt;&lt;linesCount val=&quot;1&quot;/&gt;&lt;lineCharCount val=&quot;9&quot;/&gt;&lt;/TableIndex&gt;&lt;TableIndex row=&quot;4&quot; col=&quot;1&quot;&gt;&lt;linesCount val=&quot;1&quot;/&gt;&lt;lineCharCount val=&quot;4&quot;/&gt;&lt;/TableIndex&gt;&lt;TableIndex row=&quot;4&quot; col=&quot;2&quot;&gt;&lt;linesCount val=&quot;1&quot;/&gt;&lt;lineCharCount val=&quot;4&quot;/&gt;&lt;/TableIndex&gt;&lt;TableIndex row=&quot;4&quot; col=&quot;3&quot;&gt;&lt;linesCount val=&quot;1&quot;/&gt;&lt;lineCharCount val=&quot;4&quot;/&gt;&lt;/TableIndex&gt;&lt;TableIndex row=&quot;4&quot; col=&quot;4&quot;&gt;&lt;linesCount val=&quot;1&quot;/&gt;&lt;lineCharCount val=&quot;9&quot;/&gt;&lt;/TableIndex&gt;&lt;TableIndex row=&quot;5&quot; col=&quot;1&quot;&gt;&lt;linesCount val=&quot;1&quot;/&gt;&lt;lineCharCount val=&quot;4&quot;/&gt;&lt;/TableIndex&gt;&lt;TableIndex row=&quot;5&quot; col=&quot;2&quot;&gt;&lt;linesCount val=&quot;1&quot;/&gt;&lt;lineCharCount val=&quot;5&quot;/&gt;&lt;/TableIndex&gt;&lt;TableIndex row=&quot;5&quot; col=&quot;3&quot;&gt;&lt;linesCount val=&quot;1&quot;/&gt;&lt;lineCharCount val=&quot;5&quot;/&gt;&lt;/TableIndex&gt;&lt;TableIndex row=&quot;5&quot; col=&quot;4&quot;&gt;&lt;linesCount val=&quot;1&quot;/&gt;&lt;lineCharCount val=&quot;10&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564884097,C:\Users\sanmi\GoogleDrive\UWMdrive\Courses\ECE552\ece552-lec14_MemoryECCIO_pptx\Media.ppcx"/>
</p:tagLst>
</file>

<file path=ppt/tags/tag3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646BE6E-CDCB-4831-8DED-7D93F6C8F9BE}_2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10133A6-58D9-4CAD-B7C3-38B81BF8A35A}_28.png&quot;/&gt;&lt;left val=&quot;27&quot;/&gt;&lt;top val=&quot;120&quot;/&gt;&lt;width val=&quot;387&quot;/&gt;&lt;height val=&quot;362&quot;/&gt;&lt;hasText val=&quot;1&quot;/&gt;&lt;/Image&gt;&lt;/ThreeDShapeInfo&gt;"/>
  <p:tag name="PRESENTER_SHAPETEXTINFO" val="&lt;ShapeTextInfo&gt;&lt;TableIndex row=&quot;-1&quot; col=&quot;-1&quot;&gt;&lt;linesCount val=&quot;7&quot;/&gt;&lt;lineCharCount val=&quot;8&quot;/&gt;&lt;lineCharCount val=&quot;25&quot;/&gt;&lt;lineCharCount val=&quot;1&quot;/&gt;&lt;lineCharCount val=&quot;1&quot;/&gt;&lt;lineCharCount val=&quot;8&quot;/&gt;&lt;lineCharCount val=&quot;30&quot;/&gt;&lt;lineCharCount val=&quot;6&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E2F42AF-5A27-43E1-9CDB-C220B9D84D32}_2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1D47E93-41C9-4669-856A-DCB6B0F3DC58}_28.png&quot;/&gt;&lt;left val=&quot;401&quot;/&gt;&lt;top val=&quot;118&quot;/&gt;&lt;width val=&quot;302&quot;/&gt;&lt;height val=&quot;126&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5&quot;/&gt;&lt;/TableIndex&gt;&lt;TableIndex row=&quot;1&quot; col=&quot;3&quot;&gt;&lt;linesCount val=&quot;1&quot;/&gt;&lt;lineCharCount val=&quot;5&quot;/&gt;&lt;/TableIndex&gt;&lt;TableIndex row=&quot;1&quot; col=&quot;4&quot;&gt;&lt;linesCount val=&quot;1&quot;/&gt;&lt;lineCharCount val=&quot;5&quot;/&gt;&lt;/TableIndex&gt;&lt;TableIndex row=&quot;2&quot; col=&quot;1&quot;&gt;&lt;linesCount val=&quot;1&quot;/&gt;&lt;lineCharCount val=&quot;6&quot;/&gt;&lt;/TableIndex&gt;&lt;TableIndex row=&quot;2&quot; col=&quot;2&quot;&gt;&lt;linesCount val=&quot;1&quot;/&gt;&lt;lineCharCount val=&quot;6&quot;/&gt;&lt;/TableIndex&gt;&lt;TableIndex row=&quot;2&quot; col=&quot;3&quot;&gt;&lt;linesCount val=&quot;1&quot;/&gt;&lt;lineCharCount val=&quot;6&quot;/&gt;&lt;/TableIndex&gt;&lt;TableIndex row=&quot;2&quot; col=&quot;4&quot;&gt;&lt;linesCount val=&quot;1&quot;/&gt;&lt;lineCharCount val=&quot;9&quot;/&gt;&lt;/TableIndex&gt;&lt;TableIndex row=&quot;3&quot; col=&quot;1&quot;&gt;&lt;linesCount val=&quot;1&quot;/&gt;&lt;lineCharCount val=&quot;6&quot;/&gt;&lt;/TableIndex&gt;&lt;TableIndex row=&quot;3&quot; col=&quot;2&quot;&gt;&lt;linesCount val=&quot;1&quot;/&gt;&lt;lineCharCount val=&quot;6&quot;/&gt;&lt;/TableIndex&gt;&lt;TableIndex row=&quot;3&quot; col=&quot;3&quot;&gt;&lt;linesCount val=&quot;1&quot;/&gt;&lt;lineCharCount val=&quot;6&quot;/&gt;&lt;/TableIndex&gt;&lt;TableIndex row=&quot;3&quot; col=&quot;4&quot;&gt;&lt;linesCount val=&quot;1&quot;/&gt;&lt;lineCharCount val=&quot;9&quot;/&gt;&lt;/TableIndex&gt;&lt;TableIndex row=&quot;4&quot; col=&quot;1&quot;&gt;&lt;linesCount val=&quot;1&quot;/&gt;&lt;lineCharCount val=&quot;6&quot;/&gt;&lt;/TableIndex&gt;&lt;TableIndex row=&quot;4&quot; col=&quot;2&quot;&gt;&lt;linesCount val=&quot;1&quot;/&gt;&lt;lineCharCount val=&quot;6&quot;/&gt;&lt;/TableIndex&gt;&lt;TableIndex row=&quot;4&quot; col=&quot;3&quot;&gt;&lt;linesCount val=&quot;1&quot;/&gt;&lt;lineCharCount val=&quot;6&quot;/&gt;&lt;/TableIndex&gt;&lt;TableIndex row=&quot;4&quot; col=&quot;4&quot;&gt;&lt;linesCount val=&quot;1&quot;/&gt;&lt;lineCharCount val=&quot;9&quot;/&gt;&lt;/TableIndex&gt;&lt;TableIndex row=&quot;5&quot; col=&quot;1&quot;&gt;&lt;linesCount val=&quot;1&quot;/&gt;&lt;lineCharCount val=&quot;6&quot;/&gt;&lt;/TableIndex&gt;&lt;TableIndex row=&quot;5&quot; col=&quot;2&quot;&gt;&lt;linesCount val=&quot;1&quot;/&gt;&lt;lineCharCount val=&quot;7&quot;/&gt;&lt;/TableIndex&gt;&lt;TableIndex row=&quot;5&quot; col=&quot;3&quot;&gt;&lt;linesCount val=&quot;1&quot;/&gt;&lt;lineCharCount val=&quot;7&quot;/&gt;&lt;/TableIndex&gt;&lt;TableIndex row=&quot;5&quot; col=&quot;4&quot;&gt;&lt;linesCount val=&quot;1&quot;/&gt;&lt;lineCharCount val=&quot;10&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C4D2A2E-F9EA-4F8F-8D77-4CCB5E28D1FF}_28.png&quot;/&gt;&lt;left val=&quot;401&quot;/&gt;&lt;top val=&quot;268&quot;/&gt;&lt;width val=&quot;302&quot;/&gt;&lt;height val=&quot;126&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5&quot;/&gt;&lt;/TableIndex&gt;&lt;TableIndex row=&quot;1&quot; col=&quot;3&quot;&gt;&lt;linesCount val=&quot;1&quot;/&gt;&lt;lineCharCount val=&quot;5&quot;/&gt;&lt;/TableIndex&gt;&lt;TableIndex row=&quot;1&quot; col=&quot;4&quot;&gt;&lt;linesCount val=&quot;1&quot;/&gt;&lt;lineCharCount val=&quot;5&quot;/&gt;&lt;/TableIndex&gt;&lt;TableIndex row=&quot;2&quot; col=&quot;1&quot;&gt;&lt;linesCount val=&quot;1&quot;/&gt;&lt;lineCharCount val=&quot;6&quot;/&gt;&lt;/TableIndex&gt;&lt;TableIndex row=&quot;2&quot; col=&quot;2&quot;&gt;&lt;linesCount val=&quot;1&quot;/&gt;&lt;lineCharCount val=&quot;6&quot;/&gt;&lt;/TableIndex&gt;&lt;TableIndex row=&quot;2&quot; col=&quot;3&quot;&gt;&lt;linesCount val=&quot;1&quot;/&gt;&lt;lineCharCount val=&quot;6&quot;/&gt;&lt;/TableIndex&gt;&lt;TableIndex row=&quot;2&quot; col=&quot;4&quot;&gt;&lt;linesCount val=&quot;1&quot;/&gt;&lt;lineCharCount val=&quot;9&quot;/&gt;&lt;/TableIndex&gt;&lt;TableIndex row=&quot;3&quot; col=&quot;1&quot;&gt;&lt;linesCount val=&quot;1&quot;/&gt;&lt;lineCharCount val=&quot;6&quot;/&gt;&lt;/TableIndex&gt;&lt;TableIndex row=&quot;3&quot; col=&quot;2&quot;&gt;&lt;linesCount val=&quot;1&quot;/&gt;&lt;lineCharCount val=&quot;6&quot;/&gt;&lt;/TableIndex&gt;&lt;TableIndex row=&quot;3&quot; col=&quot;3&quot;&gt;&lt;linesCount val=&quot;1&quot;/&gt;&lt;lineCharCount val=&quot;9&quot;/&gt;&lt;/TableIndex&gt;&lt;TableIndex row=&quot;3&quot; col=&quot;4&quot;&gt;&lt;linesCount val=&quot;1&quot;/&gt;&lt;lineCharCount val=&quot;6&quot;/&gt;&lt;/TableIndex&gt;&lt;TableIndex row=&quot;4&quot; col=&quot;1&quot;&gt;&lt;linesCount val=&quot;1&quot;/&gt;&lt;lineCharCount val=&quot;6&quot;/&gt;&lt;/TableIndex&gt;&lt;TableIndex row=&quot;4&quot; col=&quot;2&quot;&gt;&lt;linesCount val=&quot;1&quot;/&gt;&lt;lineCharCount val=&quot;9&quot;/&gt;&lt;/TableIndex&gt;&lt;TableIndex row=&quot;4&quot; col=&quot;3&quot;&gt;&lt;linesCount val=&quot;1&quot;/&gt;&lt;lineCharCount val=&quot;6&quot;/&gt;&lt;/TableIndex&gt;&lt;TableIndex row=&quot;4&quot; col=&quot;4&quot;&gt;&lt;linesCount val=&quot;1&quot;/&gt;&lt;lineCharCount val=&quot;6&quot;/&gt;&lt;/TableIndex&gt;&lt;TableIndex row=&quot;5&quot; col=&quot;1&quot;&gt;&lt;linesCount val=&quot;1&quot;/&gt;&lt;lineCharCount val=&quot;10&quot;/&gt;&lt;/TableIndex&gt;&lt;TableIndex row=&quot;5&quot; col=&quot;2&quot;&gt;&lt;linesCount val=&quot;1&quot;/&gt;&lt;lineCharCount val=&quot;6&quot;/&gt;&lt;/TableIndex&gt;&lt;TableIndex row=&quot;5&quot; col=&quot;3&quot;&gt;&lt;linesCount val=&quot;1&quot;/&gt;&lt;lineCharCount val=&quot;7&quot;/&gt;&lt;/TableIndex&gt;&lt;TableIndex row=&quot;5&quot; col=&quot;4&quot;&gt;&lt;linesCount val=&quot;1&quot;/&gt;&lt;lineCharCount val=&quot;7&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564884097,C:\Users\sanmi\GoogleDrive\UWMdrive\Courses\ECE552\ece552-lec14_MemoryECCIO_pptx\Media.ppcx"/>
</p:tagLst>
</file>

<file path=ppt/tags/tag3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0DB132C-69A4-44C2-84D8-7AEC1C3EC352}_2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912347A-278F-46A2-A281-0BB896C87656}_29.png&quot;/&gt;&lt;left val=&quot;24&quot;/&gt;&lt;top val=&quot;119&quot;/&gt;&lt;width val=&quot;659&quot;/&gt;&lt;height val=&quot;144&quot;/&gt;&lt;hasText val=&quot;1&quot;/&gt;&lt;/Image&gt;&lt;/ThreeDShapeInfo&gt;"/>
  <p:tag name="PRESENTER_SHAPETEXTINFO" val="&lt;ShapeTextInfo&gt;&lt;TableIndex row=&quot;-1&quot; col=&quot;-1&quot;&gt;&lt;linesCount val=&quot;3&quot;/&gt;&lt;lineCharCount val=&quot;42&quot;/&gt;&lt;lineCharCount val=&quot;12&quot;/&gt;&lt;lineCharCount val=&quot;42&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88A0927-97BF-476C-98AF-C01DF5CDE5C3}_2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TableIndex row=&quot;9&quot; col=&quot;1&quot;&gt;&lt;linesCount val=&quot;0&quot;/&gt;&lt;/TableIndex&gt;&lt;TableIndex row=&quot;10&quot; col=&quot;1&quot;&gt;&lt;linesCount val=&quot;0&quot;/&gt;&lt;/TableIndex&gt;&lt;TableIndex row=&quot;11&quot; col=&quot;1&quot;&gt;&lt;linesCount val=&quot;0&quot;/&gt;&lt;/TableIndex&gt;&lt;TableIndex row=&quot;12&quot; col=&quot;1&quot;&gt;&lt;linesCount val=&quot;0&quot;/&gt;&lt;/TableIndex&gt;&lt;TableIndex row=&quot;13&quot; col=&quot;1&quot;&gt;&lt;linesCount val=&quot;0&quot;/&gt;&lt;/TableIndex&gt;&lt;TableIndex row=&quot;14&quot; col=&quot;1&quot;&gt;&lt;linesCount val=&quot;0&quot;/&gt;&lt;/TableIndex&gt;&lt;TableIndex row=&quot;15&quot; col=&quot;1&quot;&gt;&lt;linesCount val=&quot;0&quot;/&gt;&lt;/TableIndex&gt;&lt;TableIndex row=&quot;16&quot; col=&quot;1&quot;&gt;&lt;linesCount val=&quot;0&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E59B073-E9C7-475C-84A1-67AF5F4E7FC1}_29.png&quot;/&gt;&lt;left val=&quot;71&quot;/&gt;&lt;top val=&quot;256&quot;/&gt;&lt;width val=&quot;237&quot;/&gt;&lt;height val=&quot;34&quot;/&gt;&lt;hasText val=&quot;1&quot;/&gt;&lt;/Image&gt;&lt;/ThreeDShapeInfo&gt;"/>
  <p:tag name="PRESENTER_SHAPETEXTINFO" val="&lt;ShapeTextInfo&gt;&lt;TableIndex row=&quot;-1&quot; col=&quot;-1&quot;&gt;&lt;linesCount val=&quot;1&quot;/&gt;&lt;lineCharCount val=&quot;21&quot;/&gt;&lt;/TableIndex&gt;&lt;/ShapeTextInfo&gt;"/>
</p:tagLst>
</file>

<file path=ppt/tags/tag3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3B9B8C5-C37D-4E9F-88A3-8C20A9E222EF}_29.png&quot;/&gt;&lt;left val=&quot;-3&quot;/&gt;&lt;top val=&quot;339&quot;/&gt;&lt;width val=&quot;160&quot;/&gt;&lt;height val=&quot;60&quot;/&gt;&lt;hasText val=&quot;1&quot;/&gt;&lt;/Image&gt;&lt;/ThreeDShapeInfo&gt;"/>
  <p:tag name="PRESENTER_SHAPETEXTINFO" val="&lt;ShapeTextInfo&gt;&lt;TableIndex row=&quot;-1&quot; col=&quot;-1&quot;&gt;&lt;linesCount val=&quot;2&quot;/&gt;&lt;lineCharCount val=&quot;14&quot;/&gt;&lt;lineCharCount val=&quot;12&quot;/&gt;&lt;/TableIndex&gt;&lt;/ShapeTextInfo&gt;"/>
</p:tagLst>
</file>

<file path=ppt/tags/tag3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F8DA0AB-2E4F-427D-AC50-04EFF9C5BFF7}_29.png&quot;/&gt;&lt;left val=&quot;386&quot;/&gt;&lt;top val=&quot;256&quot;/&gt;&lt;width val=&quot;237&quot;/&gt;&lt;height val=&quot;34&quot;/&gt;&lt;hasText val=&quot;1&quot;/&gt;&lt;/Image&gt;&lt;/ThreeDShapeInfo&gt;"/>
  <p:tag name="PRESENTER_SHAPETEXTINFO" val="&lt;ShapeTextInfo&gt;&lt;TableIndex row=&quot;-1&quot; col=&quot;-1&quot;&gt;&lt;linesCount val=&quot;1&quot;/&gt;&lt;lineCharCount val=&quot;15&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C0ABE0E-B5BD-4A28-92C2-A35CD274215A}_29.png&quot;/&gt;&lt;left val=&quot;407&quot;/&gt;&lt;top val=&quot;498&quot;/&gt;&lt;width val=&quot;204&quot;/&gt;&lt;height val=&quot;39&quot;/&gt;&lt;hasText val=&quot;1&quot;/&gt;&lt;/Image&gt;&lt;/ThreeDShapeInfo&gt;"/>
  <p:tag name="PRESENTER_SHAPETEXTINFO" val="&lt;ShapeTextInfo&gt;&lt;TableIndex row=&quot;-1&quot; col=&quot;-1&quot;&gt;&lt;linesCount val=&quot;1&quot;/&gt;&lt;lineCharCount val=&quot;23&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564884097,C:\Users\sanmi\GoogleDrive\UWMdrive\Courses\ECE552\ece552-lec14_MemoryECCIO_pptx\Media.ppcx"/>
</p:tagLst>
</file>

<file path=ppt/tags/tag3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58BDEB9-DE43-4663-92DC-518E46775839}_3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6780DF5-40D7-4ACC-BF9D-F3F3A0551D92}_30.png&quot;/&gt;&lt;left val=&quot;24&quot;/&gt;&lt;top val=&quot;119&quot;/&gt;&lt;width val=&quot;659&quot;/&gt;&lt;height val=&quot;144&quot;/&gt;&lt;hasText val=&quot;1&quot;/&gt;&lt;/Image&gt;&lt;/ThreeDShapeInfo&gt;"/>
  <p:tag name="PRESENTER_SHAPETEXTINFO" val="&lt;ShapeTextInfo&gt;&lt;TableIndex row=&quot;-1&quot; col=&quot;-1&quot;&gt;&lt;linesCount val=&quot;3&quot;/&gt;&lt;lineCharCount val=&quot;43&quot;/&gt;&lt;lineCharCount val=&quot;11&quot;/&gt;&lt;lineCharCount val=&quot;22&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F5D12F6-CC08-4769-85C4-475B0A5E82CA}_3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6CF4F07-F56F-4C32-9C9F-A9222A215B60}_30.png&quot;/&gt;&lt;left val=&quot;11&quot;/&gt;&lt;top val=&quot;257&quot;/&gt;&lt;width val=&quot;636&quot;/&gt;&lt;height val=&quot;263&quot;/&gt;&lt;hasText val=&quot;1&quot;/&gt;&lt;/Image&gt;&lt;/ThreeDShapeInfo&gt;"/>
</p:tagLst>
</file>

<file path=ppt/tags/tag321.xml><?xml version="1.0" encoding="utf-8"?>
<p:tagLst xmlns:a="http://schemas.openxmlformats.org/drawingml/2006/main" xmlns:r="http://schemas.openxmlformats.org/officeDocument/2006/relationships" xmlns:p="http://schemas.openxmlformats.org/presentationml/2006/main">
  <p:tag name="HTML_AUTOSHAPE_INFO" val="&lt;ThreeDShapeInfo&gt;&lt;uuid val=&quot;{3CDE7C6D-2A48-4D13-AB30-CF2FD7563AD0}&quot;/&gt;&lt;isInvalidForFieldText val=&quot;1&quot;/&gt;&lt;Image&gt;&lt;filename val=&quot;C:\Users\sanmi\Documents\My Adobe Presentations\ece552-MemoryECCIO\data\asimages\{3CDE7C6D-2A48-4D13-AB30-CF2FD7563AD0}_30_S.png&quot;/&gt;&lt;left val=&quot;325&quot;/&gt;&lt;top val=&quot;278&quot;/&gt;&lt;width val=&quot;61&quot;/&gt;&lt;height val=&quot;37&quot;/&gt;&lt;hasText val=&quot;0&quot;/&gt;&lt;/Image&gt;&lt;Image&gt;&lt;filename val=&quot;C:\Users\sanmi\Documents\My Adobe Presentations\ece552-MemoryECCIO\data\asimages\{3CDE7C6D-2A48-4D13-AB30-CF2FD7563AD0}_30_T.png&quot;/&gt;&lt;left val=&quot;325&quot;/&gt;&lt;top val=&quot;278&quot;/&gt;&lt;width val=&quot;61&quot;/&gt;&lt;height val=&quot;37&quot;/&gt;&lt;hasText val=&quot;1&quot;/&gt;&lt;/Image&gt;&lt;/ThreeDShapeInfo&gt;"/>
  <p:tag name="PRESENTER_SHAPETEXTINFO" val="&lt;ShapeTextInfo&gt;&lt;TableIndex row=&quot;-1&quot; col=&quot;-1&quot;&gt;&lt;linesCount val=&quot;0&quot;/&gt;&lt;/TableIndex&gt;&lt;/ShapeTextInfo&gt;"/>
</p:tagLst>
</file>

<file path=ppt/tags/tag322.xml><?xml version="1.0" encoding="utf-8"?>
<p:tagLst xmlns:a="http://schemas.openxmlformats.org/drawingml/2006/main" xmlns:r="http://schemas.openxmlformats.org/officeDocument/2006/relationships" xmlns:p="http://schemas.openxmlformats.org/presentationml/2006/main">
  <p:tag name="HTML_AUTOSHAPE_INFO" val="&lt;ThreeDShapeInfo&gt;&lt;uuid val=&quot;{A4CA8871-3F48-4FFF-A1CB-C8D36F8B3AA8}&quot;/&gt;&lt;isInvalidForFieldText val=&quot;1&quot;/&gt;&lt;Image&gt;&lt;filename val=&quot;C:\Users\sanmi\Documents\My Adobe Presentations\ece552-MemoryECCIO\data\asimages\{A4CA8871-3F48-4FFF-A1CB-C8D36F8B3AA8}_30_S.png&quot;/&gt;&lt;left val=&quot;328&quot;/&gt;&lt;top val=&quot;331&quot;/&gt;&lt;width val=&quot;61&quot;/&gt;&lt;height val=&quot;37&quot;/&gt;&lt;hasText val=&quot;0&quot;/&gt;&lt;/Image&gt;&lt;Image&gt;&lt;filename val=&quot;C:\Users\sanmi\Documents\My Adobe Presentations\ece552-MemoryECCIO\data\asimages\{A4CA8871-3F48-4FFF-A1CB-C8D36F8B3AA8}_30_T.png&quot;/&gt;&lt;left val=&quot;328&quot;/&gt;&lt;top val=&quot;331&quot;/&gt;&lt;width val=&quot;61&quot;/&gt;&lt;height val=&quot;37&quot;/&gt;&lt;hasText val=&quot;1&quot;/&gt;&lt;/Image&gt;&lt;/ThreeDShapeInfo&gt;"/>
  <p:tag name="PRESENTER_SHAPETEXTINFO" val="&lt;ShapeTextInfo&gt;&lt;TableIndex row=&quot;-1&quot; col=&quot;-1&quot;&gt;&lt;linesCount val=&quot;0&quot;/&gt;&lt;/TableIndex&gt;&lt;/ShapeTextInfo&gt;"/>
</p:tagLst>
</file>

<file path=ppt/tags/tag3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965BD23-7BB4-4BED-BCC8-4DA276457807}_30.png&quot;/&gt;&lt;left val=&quot;251&quot;/&gt;&lt;top val=&quot;304&quot;/&gt;&lt;width val=&quot;206&quot;/&gt;&lt;height val=&quot;40&quot;/&gt;&lt;hasText val=&quot;1&quot;/&gt;&lt;/Image&gt;&lt;/ThreeDShapeInfo&gt;"/>
  <p:tag name="PRESENTER_SHAPETEXTINFO" val="&lt;ShapeTextInfo&gt;&lt;TableIndex row=&quot;-1&quot; col=&quot;-1&quot;&gt;&lt;linesCount val=&quot;1&quot;/&gt;&lt;lineCharCount val=&quot;24&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6EC4E55-5134-4B98-BE63-E7FA791D5A56}_30.png&quot;/&gt;&lt;left val=&quot;521&quot;/&gt;&lt;top val=&quot;422&quot;/&gt;&lt;width val=&quot;188&quot;/&gt;&lt;height val=&quot;60&quot;/&gt;&lt;hasText val=&quot;1&quot;/&gt;&lt;/Image&gt;&lt;/ThreeDShapeInfo&gt;"/>
  <p:tag name="PRESENTER_SHAPETEXTINFO" val="&lt;ShapeTextInfo&gt;&lt;TableIndex row=&quot;-1&quot; col=&quot;-1&quot;&gt;&lt;linesCount val=&quot;2&quot;/&gt;&lt;lineCharCount val=&quot;20&quot;/&gt;&lt;lineCharCount val=&quot;23&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32.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564884097,C:\Users\sanmi\GoogleDrive\UWMdrive\Courses\ECE552\ece552-lec14_MemoryECCIO_pptx\Media.ppcx"/>
</p:tagLst>
</file>

<file path=ppt/tags/tag3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B68CC4-284C-4BEF-83FE-757BA2073F51}_3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5&quot;/&gt;&lt;/TableIndex&gt;&lt;/ShapeTextInfo&gt;"/>
</p:tagLst>
</file>

<file path=ppt/tags/tag3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C636C42-4C17-414E-8C70-84B0B3A0C38E}_3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MMPROD_SUBSTITUTION_ID" val="{7E3CFC1D-AE8B-46D9-B239-8EE0960D4CA5}"/>
  <p:tag name="PRESENTER_SHAPEINFO" val="&lt;ThreeDShapeInfo&gt;&lt;uuid val=&quot;{8A9AD249-C53B-4603-8290-087B47682CDF}&quot;/&gt;&lt;isInvalidForFieldText val=&quot;0&quot;/&gt;&lt;Image&gt;&lt;filename val=&quot;C:\Users\sanmi\Documents\My Adobe Presentations\ece552-MemoryECCIO\data\asimages\{8A9AD249-C53B-4603-8290-087B47682CDF}.png&quot;/&gt;&lt;left val=&quot;143&quot;/&gt;&lt;top val=&quot;89&quot;/&gt;&lt;width val=&quot;384&quot;/&gt;&lt;height val=&quot;446&quot;/&gt;&lt;hasText val=&quot;1&quot;/&gt;&lt;/Image&gt;&lt;/ThreeDShapeInfo&gt;"/>
</p:tagLst>
</file>

<file path=ppt/tags/tag336.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 name="PPSNARRATION" val="32,564884097,C:\Users\sanmi\GoogleDrive\UWMdrive\Courses\ECE552\ece552-lec14_MemoryECCIO_pptx\Media.ppcx"/>
</p:tagLst>
</file>

<file path=ppt/tags/tag3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8F9C1A0A-07B5-4BC7-8318-0FB6C73D681A}_3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5&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77A546E-85AC-4C21-884B-237FF20326F1}_32.png&quot;/&gt;&lt;left val=&quot;24&quot;/&gt;&lt;top val=&quot;119&quot;/&gt;&lt;width val=&quot;659&quot;/&gt;&lt;height val=&quot;363&quot;/&gt;&lt;hasText val=&quot;1&quot;/&gt;&lt;/Image&gt;&lt;/ThreeDShapeInfo&gt;"/>
  <p:tag name="PRESENTER_SHAPETEXTINFO" val="&lt;ShapeTextInfo&gt;&lt;TableIndex row=&quot;-1&quot; col=&quot;-1&quot;&gt;&lt;linesCount val=&quot;5&quot;/&gt;&lt;lineCharCount val=&quot;16&quot;/&gt;&lt;lineCharCount val=&quot;12&quot;/&gt;&lt;lineCharCount val=&quot;8&quot;/&gt;&lt;lineCharCount val=&quot;5&quot;/&gt;&lt;lineCharCount val=&quot;7&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1206FC7-EEE1-4F8F-8F9E-67E9692A3B6E}_3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40.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 name="PPSNARRATION" val="33,564884097,C:\Users\sanmi\GoogleDrive\UWMdrive\Courses\ECE552\ece552-lec14_MemoryECCIO_pptx\Media.ppcx"/>
</p:tagLst>
</file>

<file path=ppt/tags/tag3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56E1CC2-21DF-4F9A-B2D9-349F15C3CBAF}_3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5&quot;/&gt;&lt;/TableIndex&gt;&lt;/ShapeTextInfo&gt;"/>
</p:tagLst>
</file>

<file path=ppt/tags/tag3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1A14862-65D0-4E28-BE36-C897D2F851F2}_33.png&quot;/&gt;&lt;left val=&quot;27&quot;/&gt;&lt;top val=&quot;120&quot;/&gt;&lt;width val=&quot;657&quot;/&gt;&lt;height val=&quot;362&quot;/&gt;&lt;hasText val=&quot;1&quot;/&gt;&lt;/Image&gt;&lt;/ThreeDShapeInfo&gt;"/>
  <p:tag name="PRESENTER_SHAPETEXTINFO" val="&lt;ShapeTextInfo&gt;&lt;TableIndex row=&quot;-1&quot; col=&quot;-1&quot;&gt;&lt;linesCount val=&quot;8&quot;/&gt;&lt;lineCharCount val=&quot;27&quot;/&gt;&lt;lineCharCount val=&quot;56&quot;/&gt;&lt;lineCharCount val=&quot;53&quot;/&gt;&lt;lineCharCount val=&quot;35&quot;/&gt;&lt;lineCharCount val=&quot;23&quot;/&gt;&lt;lineCharCount val=&quot;37&quot;/&gt;&lt;lineCharCount val=&quot;14&quot;/&gt;&lt;lineCharCount val=&quot;9&quot;/&gt;&lt;/TableIndex&gt;&lt;/ShapeTextInfo&gt;"/>
</p:tagLst>
</file>

<file path=ppt/tags/tag3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55BD5AD-BC98-4391-9348-703797134D1A}_3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44.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 name="PPSNARRATION" val="34,564884097,C:\Users\sanmi\GoogleDrive\UWMdrive\Courses\ECE552\ece552-lec14_MemoryECCIO_pptx\Media.ppcx"/>
</p:tagLst>
</file>

<file path=ppt/tags/tag3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1C6FACC-D924-4A79-9EAC-70D6080F4066}_3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3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74E30F7-2CF0-4138-97EB-020F41E75036}_34.png&quot;/&gt;&lt;left val=&quot;13&quot;/&gt;&lt;top val=&quot;336&quot;/&gt;&lt;width val=&quot;337&quot;/&gt;&lt;height val=&quot;185&quot;/&gt;&lt;hasText val=&quot;1&quot;/&gt;&lt;/Image&gt;&lt;/ThreeDShapeInfo&gt;"/>
  <p:tag name="PRESENTER_SHAPETEXTINFO" val="&lt;ShapeTextInfo&gt;&lt;TableIndex row=&quot;-1&quot; col=&quot;-1&quot;&gt;&lt;linesCount val=&quot;4&quot;/&gt;&lt;lineCharCount val=&quot;17&quot;/&gt;&lt;lineCharCount val=&quot;23&quot;/&gt;&lt;lineCharCount val=&quot;1&quot;/&gt;&lt;lineCharCount val=&quot;26&quot;/&gt;&lt;/TableIndex&gt;&lt;/ShapeTextInfo&gt;"/>
</p:tagLst>
</file>

<file path=ppt/tags/tag3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8070FE-19CE-4D37-87E7-02582AA58BCC}_3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48.xml><?xml version="1.0" encoding="utf-8"?>
<p:tagLst xmlns:a="http://schemas.openxmlformats.org/drawingml/2006/main" xmlns:r="http://schemas.openxmlformats.org/officeDocument/2006/relationships" xmlns:p="http://schemas.openxmlformats.org/presentationml/2006/main">
  <p:tag name="MMPROD_SUBSTITUTION_ID" val="{EBA1DCC2-ABC1-460B-9459-F6B395ACDC7D}"/>
  <p:tag name="PRESENTER_SHAPEINFO" val="&lt;ThreeDShapeInfo&gt;&lt;uuid val=&quot;{0E3A2AA6-69E5-4B43-B69B-FD53F3D314CD}&quot;/&gt;&lt;isInvalidForFieldText val=&quot;0&quot;/&gt;&lt;Image&gt;&lt;filename val=&quot;C:\Users\sanmi\Documents\My Adobe Presentations\ece552-MemoryECCIO\data\asimages\{0E3A2AA6-69E5-4B43-B69B-FD53F3D314CD}.png&quot;/&gt;&lt;left val=&quot;65&quot;/&gt;&lt;top val=&quot;125&quot;/&gt;&lt;width val=&quot;594&quot;/&gt;&lt;height val=&quot;197&quot;/&gt;&lt;hasText val=&quot;1&quot;/&gt;&lt;/Image&gt;&lt;/ThreeDShapeInfo&gt;"/>
</p:tagLst>
</file>

<file path=ppt/tags/tag3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6264C34-7881-4BD5-B5FD-C99B8D13CC69}_34.png&quot;/&gt;&lt;left val=&quot;29&quot;/&gt;&lt;top val=&quot;178&quot;/&gt;&lt;width val=&quot;108&quot;/&gt;&lt;height val=&quot;31&quot;/&gt;&lt;hasText val=&quot;1&quot;/&gt;&lt;/Image&gt;&lt;/ThreeDShapeInfo&gt;"/>
  <p:tag name="PRESENTER_SHAPETEXTINFO" val="&lt;ShapeTextInfo&gt;&lt;TableIndex row=&quot;-1&quot; col=&quot;-1&quot;&gt;&lt;linesCount val=&quot;1&quot;/&gt;&lt;lineCharCount val=&quot;8&quot;/&gt;&lt;/TableIndex&gt;&lt;/ShapeTextInfo&gt;"/>
</p:tagLst>
</file>

<file path=ppt/tags/tag3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AB9A0E1-A2A8-490A-BC53-FA3C55E9CFC1}_34.png&quot;/&gt;&lt;left val=&quot;349&quot;/&gt;&lt;top val=&quot;336&quot;/&gt;&lt;width val=&quot;366&quot;/&gt;&lt;height val=&quot;185&quot;/&gt;&lt;hasText val=&quot;1&quot;/&gt;&lt;/Image&gt;&lt;/ThreeDShapeInfo&gt;"/>
  <p:tag name="PRESENTER_SHAPETEXTINFO" val="&lt;ShapeTextInfo&gt;&lt;TableIndex row=&quot;-1&quot; col=&quot;-1&quot;&gt;&lt;linesCount val=&quot;4&quot;/&gt;&lt;lineCharCount val=&quot;21&quot;/&gt;&lt;lineCharCount val=&quot;19&quot;/&gt;&lt;lineCharCount val=&quot;23&quot;/&gt;&lt;lineCharCount val=&quot;28&quot;/&gt;&lt;/TableIndex&gt;&lt;/ShapeTextInfo&gt;"/>
</p:tagLst>
</file>

<file path=ppt/tags/tag351.xml><?xml version="1.0" encoding="utf-8"?>
<p:tagLst xmlns:a="http://schemas.openxmlformats.org/drawingml/2006/main" xmlns:r="http://schemas.openxmlformats.org/officeDocument/2006/relationships" xmlns:p="http://schemas.openxmlformats.org/presentationml/2006/main">
  <p:tag name="HTML_SHAPEINFO" val="&lt;SlideThumbPath val=&quot;Slide35.PNG&quot;/&gt;"/>
  <p:tag name="PPSNARRATION" val="35,564884097,C:\Users\sanmi\GoogleDrive\UWMdrive\Courses\ECE552\ece552-lec14_MemoryECCIO_pptx\Media.ppcx"/>
</p:tagLst>
</file>

<file path=ppt/tags/tag3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691D74C-B81D-4A2A-9770-585C62A84ED5}_35.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4693975-7EA0-4D4A-A4F2-CF80C514AA50}_3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3BF029C-5D88-4A46-A204-585932495142}_35.png&quot;/&gt;&lt;left val=&quot;107&quot;/&gt;&lt;top val=&quot;305&quot;/&gt;&lt;width val=&quot;126&quot;/&gt;&lt;height val=&quot;45&quot;/&gt;&lt;hasText val=&quot;1&quot;/&gt;&lt;/Image&gt;&lt;/ThreeDShapeInfo&gt;"/>
  <p:tag name="PRESENTER_SHAPETEXTINFO" val="&lt;ShapeTextInfo&gt;&lt;TableIndex row=&quot;-1&quot; col=&quot;-1&quot;&gt;&lt;linesCount val=&quot;1&quot;/&gt;&lt;lineCharCount val=&quot;10&quot;/&gt;&lt;/TableIndex&gt;&lt;/ShapeTextInfo&gt;"/>
</p:tagLst>
</file>

<file path=ppt/tags/tag3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D36FCDA-5BF5-4578-A976-20D0627C9359}_35.png&quot;/&gt;&lt;left val=&quot;485&quot;/&gt;&lt;top val=&quot;303&quot;/&gt;&lt;width val=&quot;126&quot;/&gt;&lt;height val=&quot;46&quot;/&gt;&lt;hasText val=&quot;1&quot;/&gt;&lt;/Image&gt;&lt;/ThreeDShapeInfo&gt;"/>
  <p:tag name="PRESENTER_SHAPETEXTINFO" val="&lt;ShapeTextInfo&gt;&lt;TableIndex row=&quot;-1&quot; col=&quot;-1&quot;&gt;&lt;linesCount val=&quot;1&quot;/&gt;&lt;lineCharCount val=&quot;10&quot;/&gt;&lt;/TableIndex&gt;&lt;/ShapeTextInfo&gt;"/>
</p:tagLst>
</file>

<file path=ppt/tags/tag3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3B626D3-44B8-49A9-B87D-3511B44D4BDE}_35.png&quot;/&gt;&lt;left val=&quot;169&quot;/&gt;&lt;top val=&quot;395&quot;/&gt;&lt;width val=&quot;26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3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6AF7162-CABD-422B-AB74-0BE1659316B2}_35.png&quot;/&gt;&lt;left val=&quot;119&quot;/&gt;&lt;top val=&quot;467&quot;/&gt;&lt;width val=&quot;354&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3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2A1A34B-0065-4AD2-B2E8-39EA51E74946}_35.png&quot;/&gt;&lt;left val=&quot;461&quot;/&gt;&lt;top val=&quot;395&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3CA6CBA-EC90-4E0F-8931-9767A6DDB463}_35.png&quot;/&gt;&lt;left val=&quot;551&quot;/&gt;&lt;top val=&quot;395&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7BF49DA-671C-4F31-AE84-772EB1E1A94D}_35.png&quot;/&gt;&lt;left val=&quot;641&quot;/&gt;&lt;top val=&quot;395&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010DC79-C3CB-4F21-9DAA-700504A542DC}_35.png&quot;/&gt;&lt;left val=&quot;275&quot;/&gt;&lt;top val=&quot;319&quot;/&gt;&lt;width val=&quot;207&quot;/&gt;&lt;height val=&quot;40&quot;/&gt;&lt;hasText val=&quot;1&quot;/&gt;&lt;/Image&gt;&lt;/ThreeDShapeInfo&gt;"/>
  <p:tag name="PRESENTER_SHAPETEXTINFO" val="&lt;ShapeTextInfo&gt;&lt;TableIndex row=&quot;-1&quot; col=&quot;-1&quot;&gt;&lt;linesCount val=&quot;1&quot;/&gt;&lt;lineCharCount val=&quot;23&quot;/&gt;&lt;/TableIndex&gt;&lt;/ShapeTextInfo&gt;"/>
</p:tagLst>
</file>

<file path=ppt/tags/tag362.xml><?xml version="1.0" encoding="utf-8"?>
<p:tagLst xmlns:a="http://schemas.openxmlformats.org/drawingml/2006/main" xmlns:r="http://schemas.openxmlformats.org/officeDocument/2006/relationships" xmlns:p="http://schemas.openxmlformats.org/presentationml/2006/main">
  <p:tag name="HTML_SHAPEINFO" val="&lt;SlideThumbPath val=&quot;Slide36.PNG&quot;/&gt;"/>
  <p:tag name="PPSNARRATION" val="36,564884097,C:\Users\sanmi\GoogleDrive\UWMdrive\Courses\ECE552\ece552-lec14_MemoryECCIO_pptx\Media.ppcx"/>
</p:tagLst>
</file>

<file path=ppt/tags/tag3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CB88BD4-BBB4-4458-B0B6-EF161E01DE50}_36.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4BB8C99-F3E6-4B2A-957B-1893D7B3BF45}_3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9291B4B-F4D6-4ECF-B9A9-112C88D1B174}_36.png&quot;/&gt;&lt;left val=&quot;107&quot;/&gt;&lt;top val=&quot;305&quot;/&gt;&lt;width val=&quot;126&quot;/&gt;&lt;height val=&quot;45&quot;/&gt;&lt;hasText val=&quot;1&quot;/&gt;&lt;/Image&gt;&lt;/ThreeDShapeInfo&gt;"/>
  <p:tag name="PRESENTER_SHAPETEXTINFO" val="&lt;ShapeTextInfo&gt;&lt;TableIndex row=&quot;-1&quot; col=&quot;-1&quot;&gt;&lt;linesCount val=&quot;1&quot;/&gt;&lt;lineCharCount val=&quot;10&quot;/&gt;&lt;/TableIndex&gt;&lt;/ShapeTextInfo&gt;"/>
</p:tagLst>
</file>

<file path=ppt/tags/tag3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74C3FD2-CE17-4F8F-8073-F25DAD63D793}_36.png&quot;/&gt;&lt;left val=&quot;485&quot;/&gt;&lt;top val=&quot;303&quot;/&gt;&lt;width val=&quot;126&quot;/&gt;&lt;height val=&quot;46&quot;/&gt;&lt;hasText val=&quot;1&quot;/&gt;&lt;/Image&gt;&lt;/ThreeDShapeInfo&gt;"/>
  <p:tag name="PRESENTER_SHAPETEXTINFO" val="&lt;ShapeTextInfo&gt;&lt;TableIndex row=&quot;-1&quot; col=&quot;-1&quot;&gt;&lt;linesCount val=&quot;1&quot;/&gt;&lt;lineCharCount val=&quot;10&quot;/&gt;&lt;/TableIndex&gt;&lt;/ShapeTextInfo&gt;"/>
</p:tagLst>
</file>

<file path=ppt/tags/tag3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77B5619-2A92-4C59-8887-DC18F4551DD5}_36.png&quot;/&gt;&lt;left val=&quot;228&quot;/&gt;&lt;top val=&quot;395&quot;/&gt;&lt;width val=&quot;26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3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59F233B-3887-48A5-A337-228D465D6732}_36.png&quot;/&gt;&lt;left val=&quot;11&quot;/&gt;&lt;top val=&quot;467&quot;/&gt;&lt;width val=&quot;354&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3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A84DD0F-FFE5-4B04-BF6E-6A682658A907}_36.png&quot;/&gt;&lt;left val=&quot;40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312F853-79B5-4BA1-BD3A-6367C75AE3A0}_36.png&quot;/&gt;&lt;left val=&quot;49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E9A91BE-E125-4E66-BAF0-55F5834C615E}_36.png&quot;/&gt;&lt;left val=&quot;587&quot;/&gt;&lt;top val=&quot;467&quot;/&gt;&lt;width val=&quot;60&quot;/&gt;&lt;height val=&quot;45&quot;/&gt;&lt;hasText val=&quot;1&quot;/&gt;&lt;/Image&gt;&lt;/ThreeDShapeInfo&gt;"/>
  <p:tag name="PRESENTER_SHAPETEXTINFO" val="&lt;ShapeTextInfo&gt;&lt;TableIndex row=&quot;-1&quot; col=&quot;-1&quot;&gt;&lt;linesCount val=&quot;1&quot;/&gt;&lt;lineCharCount val=&quot;3&quot;/&gt;&lt;/TableIndex&gt;&lt;/ShapeTextInfo&gt;"/>
</p:tagLst>
</file>

<file path=ppt/tags/tag3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14B469D-98A9-476F-AD1E-DE819CD66F4F}_36.png&quot;/&gt;&lt;left val=&quot;508&quot;/&gt;&lt;top val=&quot;379&quot;/&gt;&lt;width val=&quot;200&quot;/&gt;&lt;height val=&quot;60&quot;/&gt;&lt;hasText val=&quot;1&quot;/&gt;&lt;/Image&gt;&lt;/ThreeDShapeInfo&gt;"/>
  <p:tag name="PRESENTER_SHAPETEXTINFO" val="&lt;ShapeTextInfo&gt;&lt;TableIndex row=&quot;-1&quot; col=&quot;-1&quot;&gt;&lt;linesCount val=&quot;2&quot;/&gt;&lt;lineCharCount val=&quot;24&quot;/&gt;&lt;lineCharCount val=&quot;14&quot;/&gt;&lt;/TableIndex&gt;&lt;/ShapeTextInfo&gt;"/>
</p:tagLst>
</file>

<file path=ppt/tags/tag373.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 name="PPSNARRATION" val="37,564884097,C:\Users\sanmi\GoogleDrive\UWMdrive\Courses\ECE552\ece552-lec14_MemoryECCIO_pptx\Media.ppcx"/>
  <p:tag name="TIMING" val="|37.5|9.4|4.5|2.7|12.7"/>
</p:tagLst>
</file>

<file path=ppt/tags/tag3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6AA1BEC-F51C-4F3C-86D0-1DA76DF4F2A4}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21&quot;/&gt;&lt;/TableIndex&gt;&lt;/ShapeTextInfo&gt;"/>
</p:tagLst>
</file>

<file path=ppt/tags/tag3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B8637ACE-E50B-4E36-92C2-6FB4D3E457A7}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21&quot;/&gt;&lt;/TableIndex&gt;&lt;/ShapeTextInfo&gt;"/>
</p:tagLst>
</file>

<file path=ppt/tags/tag3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7ECC643-AC29-413D-BE35-E56CA81A03F3}_37.png&quot;/&gt;&lt;left val=&quot;31&quot;/&gt;&lt;top val=&quot;105&quot;/&gt;&lt;width val=&quot;677&quot;/&gt;&lt;height val=&quot;140&quot;/&gt;&lt;hasText val=&quot;1&quot;/&gt;&lt;/Image&gt;&lt;/ThreeDShapeInfo&gt;"/>
  <p:tag name="PRESENTER_SHAPETEXTINFO" val="&lt;ShapeTextInfo&gt;&lt;TableIndex row=&quot;-1&quot; col=&quot;-1&quot;&gt;&lt;linesCount val=&quot;3&quot;/&gt;&lt;lineCharCount val=&quot;61&quot;/&gt;&lt;lineCharCount val=&quot;28&quot;/&gt;&lt;lineCharCount val=&quot;15&quot;/&gt;&lt;/TableIndex&gt;&lt;/ShapeTextInfo&gt;"/>
</p:tagLst>
</file>

<file path=ppt/tags/tag3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86A2BBD-4847-45C2-886B-C9DA656428D4}_37.png&quot;/&gt;&lt;left val=&quot;35&quot;/&gt;&lt;top val=&quot;21&quot;/&gt;&lt;width val=&quot;643&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3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A0E346C-20BE-4EA4-B81B-D1C90E0B3A01}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3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351CC506-B314-4536-B989-33A0796C8823}_37.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10719ED-9F30-4827-9505-0496CCC02B73}_37.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4E9A783-4661-4669-9537-4BAE8C3C2954}_37.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559992F2-464C-43D5-A796-34146F1F037F}_37.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83957BF-CADE-47EC-B112-2B8CB3103CC9}_37.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C038F437-A03C-4BA8-8B6E-4AF53231D8B7}_37.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quot;/&gt;&lt;/TableIndex&gt;&lt;TableIndex row=&quot;3&quot; col=&quot;1&quot;&gt;&lt;linesCount val=&quot;1&quot;/&gt;&lt;lineCharCount val=&quot;2&quot;/&gt;&lt;/TableIndex&gt;&lt;TableIndex row=&quot;3&quot; col=&quot;2&quot;&gt;&lt;linesCount val=&quot;1&quot;/&gt;&lt;lineCharCount val=&quot;1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717292FF-502E-4111-BE5B-1D98E97A0FD9}_37.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00A95DF-F5F5-476A-B9A6-3228556E6874}_37.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1B53B863-B0A7-42CF-8DF9-75C6142682FB}_37.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quot;/&gt;&lt;/TableIndex&gt;&lt;TableIndex row=&quot;3&quot; col=&quot;1&quot;&gt;&lt;linesCount val=&quot;1&quot;/&gt;&lt;lineCharCount val=&quot;2&quot;/&gt;&lt;/TableIndex&gt;&lt;TableIndex row=&quot;3&quot; col=&quot;2&quot;&gt;&lt;linesCount val=&quot;1&quot;/&gt;&lt;lineCharCount val=&quot;1&quot;/&gt;&lt;/TableIndex&gt;&lt;TableIndex row=&quot;4&quot; col=&quot;1&quot;&gt;&lt;linesCount val=&quot;1&quot;/&gt;&lt;lineCharCount val=&quot;2&quot;/&gt;&lt;/TableIndex&gt;&lt;TableIndex row=&quot;4&quot; col=&quot;2&quot;&gt;&lt;linesCount val=&quot;1&quot;/&gt;&lt;lineCharCount val=&quot;1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A19FA421-3A43-4694-94F9-AA7F613332DD}_37.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9D81B9C6-AE2E-4D42-B168-9307CE5BF34A}_37.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4DC1C7E-4D09-45E7-AC72-EE3D24559C33}_37.png&quot;/&gt;&lt;left val=&quot;281&quot;/&gt;&lt;top val=&quot;317&quot;/&gt;&lt;width val=&quot;200&quot;/&gt;&lt;height val=&quot;156&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quot;/&gt;&lt;/TableIndex&gt;&lt;TableIndex row=&quot;3&quot; col=&quot;1&quot;&gt;&lt;linesCount val=&quot;1&quot;/&gt;&lt;lineCharCount val=&quot;2&quot;/&gt;&lt;/TableIndex&gt;&lt;TableIndex row=&quot;3&quot; col=&quot;2&quot;&gt;&lt;linesCount val=&quot;1&quot;/&gt;&lt;lineCharCount val=&quot;1&quot;/&gt;&lt;/TableIndex&gt;&lt;TableIndex row=&quot;4&quot; col=&quot;1&quot;&gt;&lt;linesCount val=&quot;1&quot;/&gt;&lt;lineCharCount val=&quot;2&quot;/&gt;&lt;/TableIndex&gt;&lt;TableIndex row=&quot;4&quot; col=&quot;2&quot;&gt;&lt;linesCount val=&quot;1&quot;/&gt;&lt;lineCharCount val=&quot;1&quot;/&gt;&lt;/TableIndex&gt;&lt;TableIndex row=&quot;5&quot; col=&quot;1&quot;&gt;&lt;linesCount val=&quot;1&quot;/&gt;&lt;lineCharCount val=&quot;2&quot;/&gt;&lt;/TableIndex&gt;&lt;TableIndex row=&quot;5&quot; col=&quot;2&quot;&gt;&lt;linesCount val=&quot;1&quot;/&gt;&lt;lineCharCount val=&quot;7&quot;/&gt;&lt;/TableIndex&gt;&lt;/ShapeTextInfo&gt;"/>
</p:tagLst>
</file>

<file path=ppt/tags/tag3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66ED56BF-9347-4042-8862-5F1AA7855901}_37.png&quot;/&gt;&lt;left val=&quot;17&quot;/&gt;&lt;top val=&quot;256&quot;/&gt;&lt;width val=&quot;200&quot;/&gt;&lt;height val=&quot;27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2&quot;/&gt;&lt;/TableIndex&gt;&lt;TableIndex row=&quot;2&quot; col=&quot;1&quot;&gt;&lt;linesCount val=&quot;1&quot;/&gt;&lt;lineCharCount val=&quot;6&quot;/&gt;&lt;/TableIndex&gt;&lt;TableIndex row=&quot;2&quot; col=&quot;2&quot;&gt;&lt;linesCount val=&quot;1&quot;/&gt;&lt;lineCharCount val=&quot;4&quot;/&gt;&lt;/TableIndex&gt;&lt;TableIndex row=&quot;3&quot; col=&quot;1&quot;&gt;&lt;linesCount val=&quot;1&quot;/&gt;&lt;lineCharCount val=&quot;6&quot;/&gt;&lt;/TableIndex&gt;&lt;TableIndex row=&quot;3&quot; col=&quot;2&quot;&gt;&lt;linesCount val=&quot;1&quot;/&gt;&lt;lineCharCount val=&quot;2&quot;/&gt;&lt;/TableIndex&gt;&lt;TableIndex row=&quot;4&quot; col=&quot;1&quot;&gt;&lt;linesCount val=&quot;1&quot;/&gt;&lt;lineCharCount val=&quot;6&quot;/&gt;&lt;/TableIndex&gt;&lt;TableIndex row=&quot;4&quot; col=&quot;2&quot;&gt;&lt;linesCount val=&quot;1&quot;/&gt;&lt;lineCharCount val=&quot;2&quot;/&gt;&lt;/TableIndex&gt;&lt;TableIndex row=&quot;5&quot; col=&quot;1&quot;&gt;&lt;linesCount val=&quot;1&quot;/&gt;&lt;lineCharCount val=&quot;6&quot;/&gt;&lt;/TableIndex&gt;&lt;TableIndex row=&quot;5&quot; col=&quot;2&quot;&gt;&lt;linesCount val=&quot;1&quot;/&gt;&lt;lineCharCount val=&quot;2&quot;/&gt;&lt;/TableIndex&gt;&lt;TableIndex row=&quot;6&quot; col=&quot;1&quot;&gt;&lt;linesCount val=&quot;1&quot;/&gt;&lt;lineCharCount val=&quot;6&quot;/&gt;&lt;/TableIndex&gt;&lt;TableIndex row=&quot;6&quot; col=&quot;2&quot;&gt;&lt;linesCount val=&quot;1&quot;/&gt;&lt;lineCharCount val=&quot;2&quot;/&gt;&lt;/TableIndex&gt;&lt;TableIndex row=&quot;7&quot; col=&quot;1&quot;&gt;&lt;linesCount val=&quot;1&quot;/&gt;&lt;lineCharCount val=&quot;6&quot;/&gt;&lt;/TableIndex&gt;&lt;TableIndex row=&quot;7&quot; col=&quot;2&quot;&gt;&lt;linesCount val=&quot;1&quot;/&gt;&lt;lineCharCount val=&quot;2&quot;/&gt;&lt;/TableIndex&gt;&lt;TableIndex row=&quot;8&quot; col=&quot;1&quot;&gt;&lt;linesCount val=&quot;1&quot;/&gt;&lt;lineCharCount val=&quot;6&quot;/&gt;&lt;/TableIndex&gt;&lt;TableIndex row=&quot;8&quot; col=&quot;2&quot;&gt;&lt;linesCount val=&quot;1&quot;/&gt;&lt;lineCharCount val=&quot;2&quot;/&gt;&lt;/TableIndex&gt;&lt;TableIndex row=&quot;9&quot; col=&quot;1&quot;&gt;&lt;linesCount val=&quot;1&quot;/&gt;&lt;lineCharCount val=&quot;6&quot;/&gt;&lt;/TableIndex&gt;&lt;TableIndex row=&quot;9&quot; col=&quot;2&quot;&gt;&lt;linesCount val=&quot;1&quot;/&gt;&lt;lineCharCount val=&quot;2&quot;/&gt;&lt;/TableIndex&gt;&lt;TableIndex row=&quot;10&quot; col=&quot;1&quot;&gt;&lt;linesCount val=&quot;1&quot;/&gt;&lt;lineCharCount val=&quot;6&quot;/&gt;&lt;/TableIndex&gt;&lt;TableIndex row=&quot;10&quot; col=&quot;2&quot;&gt;&lt;linesCount val=&quot;1&quot;/&gt;&lt;lineCharCount val=&quot;2&quot;/&gt;&lt;/TableIndex&gt;&lt;TableIndex row=&quot;11&quot; col=&quot;1&quot;&gt;&lt;linesCount val=&quot;1&quot;/&gt;&lt;lineCharCount val=&quot;11&quot;/&gt;&lt;/TableIndex&gt;&lt;TableIndex row=&quot;11&quot; col=&quot;2&quot;&gt;&lt;linesCount val=&quot;1&quot;/&gt;&lt;lineCharCount val=&quot;15&quot;/&gt;&lt;/TableIndex&gt;&lt;/ShapeTextInfo&gt;"/>
</p:tagLst>
</file>

<file path=ppt/tags/tag3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F267E588-75DE-434C-9088-620DD954CA62}_37.png&quot;/&gt;&lt;left val=&quot;499&quot;/&gt;&lt;top val=&quot;243&quot;/&gt;&lt;width val=&quot;200&quot;/&gt;&lt;height val=&quot;272&quot;/&gt;&lt;hasText val=&quot;1&quot;/&gt;&lt;/Image&gt;&lt;/ThreeDShapeInfo&gt;"/>
  <p:tag name="PRESENTER_SHAPETEXTINFO" val="&lt;ShapeTextInfo&gt;&lt;TableIndex row=&quot;1&quot; col=&quot;1&quot;&gt;&lt;linesCount val=&quot;1&quot;/&gt;&lt;lineCharCount val=&quot;8&quot;/&gt;&lt;/TableIndex&gt;&lt;TableIndex row=&quot;1&quot; col=&quot;2&quot;&gt;&lt;linesCount val=&quot;1&quot;/&gt;&lt;lineCharCount val=&quot;8&quot;/&gt;&lt;/TableIndex&gt;&lt;TableIndex row=&quot;2&quot; col=&quot;1&quot;&gt;&lt;linesCount val=&quot;1&quot;/&gt;&lt;lineCharCount val=&quot;2&quot;/&gt;&lt;/TableIndex&gt;&lt;TableIndex row=&quot;2&quot; col=&quot;2&quot;&gt;&lt;linesCount val=&quot;1&quot;/&gt;&lt;lineCharCount val=&quot;13&quot;/&gt;&lt;/TableIndex&gt;&lt;TableIndex row=&quot;3&quot; col=&quot;1&quot;&gt;&lt;linesCount val=&quot;1&quot;/&gt;&lt;lineCharCount val=&quot;2&quot;/&gt;&lt;/TableIndex&gt;&lt;TableIndex row=&quot;3&quot; col=&quot;2&quot;&gt;&lt;linesCount val=&quot;1&quot;/&gt;&lt;lineCharCount val=&quot;13&quot;/&gt;&lt;/TableIndex&gt;&lt;TableIndex row=&quot;4&quot; col=&quot;1&quot;&gt;&lt;linesCount val=&quot;1&quot;/&gt;&lt;lineCharCount val=&quot;2&quot;/&gt;&lt;/TableIndex&gt;&lt;TableIndex row=&quot;4&quot; col=&quot;2&quot;&gt;&lt;linesCount val=&quot;1&quot;/&gt;&lt;lineCharCount val=&quot;2&quot;/&gt;&lt;/TableIndex&gt;&lt;TableIndex row=&quot;5&quot; col=&quot;1&quot;&gt;&lt;linesCount val=&quot;1&quot;/&gt;&lt;lineCharCount val=&quot;2&quot;/&gt;&lt;/TableIndex&gt;&lt;TableIndex row=&quot;5&quot; col=&quot;2&quot;&gt;&lt;linesCount val=&quot;1&quot;/&gt;&lt;lineCharCount val=&quot;13&quot;/&gt;&lt;/TableIndex&gt;&lt;TableIndex row=&quot;6&quot; col=&quot;1&quot;&gt;&lt;linesCount val=&quot;1&quot;/&gt;&lt;lineCharCount val=&quot;2&quot;/&gt;&lt;/TableIndex&gt;&lt;TableIndex row=&quot;6&quot; col=&quot;2&quot;&gt;&lt;linesCount val=&quot;1&quot;/&gt;&lt;lineCharCount val=&quot;2&quot;/&gt;&lt;/TableIndex&gt;&lt;TableIndex row=&quot;7&quot; col=&quot;1&quot;&gt;&lt;linesCount val=&quot;1&quot;/&gt;&lt;lineCharCount val=&quot;2&quot;/&gt;&lt;/TableIndex&gt;&lt;TableIndex row=&quot;7&quot; col=&quot;2&quot;&gt;&lt;linesCount val=&quot;1&quot;/&gt;&lt;lineCharCount val=&quot;2&quot;/&gt;&lt;/TableIndex&gt;&lt;TableIndex row=&quot;8&quot; col=&quot;1&quot;&gt;&lt;linesCount val=&quot;1&quot;/&gt;&lt;lineCharCount val=&quot;2&quot;/&gt;&lt;/TableIndex&gt;&lt;TableIndex row=&quot;8&quot; col=&quot;2&quot;&gt;&lt;linesCount val=&quot;1&quot;/&gt;&lt;lineCharCount val=&quot;2&quot;/&gt;&lt;/TableIndex&gt;&lt;TableIndex row=&quot;9&quot; col=&quot;1&quot;&gt;&lt;linesCount val=&quot;1&quot;/&gt;&lt;lineCharCount val=&quot;2&quot;/&gt;&lt;/TableIndex&gt;&lt;TableIndex row=&quot;9&quot; col=&quot;2&quot;&gt;&lt;linesCount val=&quot;1&quot;/&gt;&lt;lineCharCount val=&quot;11&quot;/&gt;&lt;/TableIndex&gt;&lt;/ShapeTextInfo&gt;"/>
</p:tagLst>
</file>

<file path=ppt/tags/tag3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BEB570C-0670-48F9-A9B7-8D6D1768451D}_37.png&quot;/&gt;&lt;left val=&quot;281&quot;/&gt;&lt;top val=&quot;317&quot;/&gt;&lt;width val=&quot;200&quot;/&gt;&lt;height val=&quot;155&quot;/&gt;&lt;hasText val=&quot;1&quot;/&gt;&lt;/Image&gt;&lt;/ThreeDShapeInfo&gt;"/>
  <p:tag name="PRESENTER_SHAPETEXTINFO" val="&lt;ShapeTextInfo&gt;&lt;TableIndex row=&quot;1&quot; col=&quot;1&quot;&gt;&lt;linesCount val=&quot;1&quot;/&gt;&lt;lineCharCount val=&quot;16&quot;/&gt;&lt;/TableIndex&gt;&lt;TableIndex row=&quot;1&quot; col=&quot;2&quot;&gt;&lt;linesCount val=&quot;1&quot;/&gt;&lt;lineCharCount val=&quot;16&quot;/&gt;&lt;/TableIndex&gt;&lt;TableIndex row=&quot;2&quot; col=&quot;1&quot;&gt;&lt;linesCount val=&quot;1&quot;/&gt;&lt;lineCharCount val=&quot;2&quot;/&gt;&lt;/TableIndex&gt;&lt;TableIndex row=&quot;2&quot; col=&quot;2&quot;&gt;&lt;linesCount val=&quot;1&quot;/&gt;&lt;lineCharCount val=&quot;1&quot;/&gt;&lt;/TableIndex&gt;&lt;TableIndex row=&quot;3&quot; col=&quot;1&quot;&gt;&lt;linesCount val=&quot;1&quot;/&gt;&lt;lineCharCount val=&quot;2&quot;/&gt;&lt;/TableIndex&gt;&lt;TableIndex row=&quot;3&quot; col=&quot;2&quot;&gt;&lt;linesCount val=&quot;1&quot;/&gt;&lt;lineCharCount val=&quot;1&quot;/&gt;&lt;/TableIndex&gt;&lt;TableIndex row=&quot;4&quot; col=&quot;1&quot;&gt;&lt;linesCount val=&quot;1&quot;/&gt;&lt;lineCharCount val=&quot;2&quot;/&gt;&lt;/TableIndex&gt;&lt;TableIndex row=&quot;4&quot; col=&quot;2&quot;&gt;&lt;linesCount val=&quot;1&quot;/&gt;&lt;lineCharCount val=&quot;1&quot;/&gt;&lt;/TableIndex&gt;&lt;TableIndex row=&quot;5&quot; col=&quot;1&quot;&gt;&lt;linesCount val=&quot;1&quot;/&gt;&lt;lineCharCount val=&quot;2&quot;/&gt;&lt;/TableIndex&gt;&lt;TableIndex row=&quot;5&quot; col=&quot;2&quot;&gt;&lt;linesCount val=&quot;1&quot;/&gt;&lt;lineCharCount val=&quot;1&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813</TotalTime>
  <Words>3395</Words>
  <Application>Microsoft Macintosh PowerPoint</Application>
  <PresentationFormat>On-screen Show (4:3)</PresentationFormat>
  <Paragraphs>1176</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Courier</vt:lpstr>
      <vt:lpstr>Times New Roman</vt:lpstr>
      <vt:lpstr>Wingdings</vt:lpstr>
      <vt:lpstr>Lecture Notes 552</vt:lpstr>
      <vt:lpstr>ECE/CS 552: Memory, ECC and I/O</vt:lpstr>
      <vt:lpstr>Main Memory</vt:lpstr>
      <vt:lpstr>Main Memory – DRAM </vt:lpstr>
      <vt:lpstr>Main Memory – Access</vt:lpstr>
      <vt:lpstr>Main Memory – Access</vt:lpstr>
      <vt:lpstr>Main Memory – Access</vt:lpstr>
      <vt:lpstr>Main Memory – Access</vt:lpstr>
      <vt:lpstr>Main Memory – Access</vt:lpstr>
      <vt:lpstr>ECC</vt:lpstr>
      <vt:lpstr>ECC</vt:lpstr>
      <vt:lpstr>No ECC</vt:lpstr>
      <vt:lpstr>Single Error Detection (SED)</vt:lpstr>
      <vt:lpstr>Single Error Correction (SECSED)</vt:lpstr>
      <vt:lpstr>SED – Parity</vt:lpstr>
      <vt:lpstr>SECSED – Hamming Code</vt:lpstr>
      <vt:lpstr>SECSED – Hamming(7,4)</vt:lpstr>
      <vt:lpstr>SECSED – Hamming(7,4)</vt:lpstr>
      <vt:lpstr>SECSED – Hamming(7,4)</vt:lpstr>
      <vt:lpstr>SECSED – Hamming(7,4)</vt:lpstr>
      <vt:lpstr>SECDED – Hamming(7,4) + Parity</vt:lpstr>
      <vt:lpstr>SECDED – Hamming(7,4) + Parity</vt:lpstr>
      <vt:lpstr>SECDED – Hamming(7,4) + Parity</vt:lpstr>
      <vt:lpstr>SECDED – Hamming(7,4) + Parity</vt:lpstr>
      <vt:lpstr>Input/Output</vt:lpstr>
      <vt:lpstr>Disk</vt:lpstr>
      <vt:lpstr>Disk – RAID</vt:lpstr>
      <vt:lpstr>Disk – RAID</vt:lpstr>
      <vt:lpstr>Disk – RAID</vt:lpstr>
      <vt:lpstr>Input/Output</vt:lpstr>
      <vt:lpstr>Input/Output</vt:lpstr>
      <vt:lpstr>Buses</vt:lpstr>
      <vt:lpstr>Buses</vt:lpstr>
      <vt:lpstr>Buses</vt:lpstr>
      <vt:lpstr>Buses – Asynchronous</vt:lpstr>
      <vt:lpstr>Input/Output – Caches</vt:lpstr>
      <vt:lpstr>Input/Output – Caches</vt:lpstr>
      <vt:lpstr>Exercise – SECDED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Memory, ECC and IO</dc:title>
  <dc:creator/>
  <cp:lastModifiedBy>Boone Severson</cp:lastModifiedBy>
  <cp:revision>705</cp:revision>
  <cp:lastPrinted>1601-01-01T00:00:00Z</cp:lastPrinted>
  <dcterms:created xsi:type="dcterms:W3CDTF">1601-01-01T00:00:00Z</dcterms:created>
  <dcterms:modified xsi:type="dcterms:W3CDTF">2024-08-29T04:24:11Z</dcterms:modified>
</cp:coreProperties>
</file>