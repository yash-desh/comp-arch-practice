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7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8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9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0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1.xml" ContentType="application/vnd.openxmlformats-officedocument.presentationml.notesSlide+xml"/>
  <Override PartName="/ppt/ink/ink1.xml" ContentType="application/inkml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2.xml" ContentType="application/vnd.openxmlformats-officedocument.presentationml.notesSlide+xml"/>
  <Override PartName="/ppt/ink/ink2.xml" ContentType="application/inkml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3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4.xml" ContentType="application/vnd.openxmlformats-officedocument.presentationml.notesSlide+xml"/>
  <Override PartName="/ppt/ink/ink3.xml" ContentType="application/inkml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5.xml" ContentType="application/vnd.openxmlformats-officedocument.presentationml.notesSlide+xml"/>
  <Override PartName="/ppt/ink/ink4.xml" ContentType="application/inkml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6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17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8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19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20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21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2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5"/>
  </p:notesMasterIdLst>
  <p:handoutMasterIdLst>
    <p:handoutMasterId r:id="rId26"/>
  </p:handoutMasterIdLst>
  <p:sldIdLst>
    <p:sldId id="346" r:id="rId2"/>
    <p:sldId id="326" r:id="rId3"/>
    <p:sldId id="761" r:id="rId4"/>
    <p:sldId id="347" r:id="rId5"/>
    <p:sldId id="744" r:id="rId6"/>
    <p:sldId id="745" r:id="rId7"/>
    <p:sldId id="328" r:id="rId8"/>
    <p:sldId id="329" r:id="rId9"/>
    <p:sldId id="738" r:id="rId10"/>
    <p:sldId id="737" r:id="rId11"/>
    <p:sldId id="746" r:id="rId12"/>
    <p:sldId id="747" r:id="rId13"/>
    <p:sldId id="741" r:id="rId14"/>
    <p:sldId id="750" r:id="rId15"/>
    <p:sldId id="751" r:id="rId16"/>
    <p:sldId id="742" r:id="rId17"/>
    <p:sldId id="743" r:id="rId18"/>
    <p:sldId id="759" r:id="rId19"/>
    <p:sldId id="758" r:id="rId20"/>
    <p:sldId id="748" r:id="rId21"/>
    <p:sldId id="756" r:id="rId22"/>
    <p:sldId id="753" r:id="rId23"/>
    <p:sldId id="760" r:id="rId24"/>
  </p:sldIdLst>
  <p:sldSz cx="9144000" cy="6858000" type="screen4x3"/>
  <p:notesSz cx="6845300" cy="9396413"/>
  <p:custDataLst>
    <p:tags r:id="rId2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5" autoAdjust="0"/>
    <p:restoredTop sz="79590" autoAdjust="0"/>
  </p:normalViewPr>
  <p:slideViewPr>
    <p:cSldViewPr>
      <p:cViewPr varScale="1">
        <p:scale>
          <a:sx n="172" d="100"/>
          <a:sy n="172" d="100"/>
        </p:scale>
        <p:origin x="26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328" y="-90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BF462E3-B006-4321-934E-AFE05A0BD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4ED7E0E-5212-408C-B06A-32C60ADECE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0363B93-D514-44FE-A143-2DCC3B99444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408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C8ACD42-A87D-45F2-A669-D279F50476C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ECEB71A3-EC59-4543-ABF9-F378B1A3DD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8592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76" units="cm"/>
          <inkml:channel name="Y" type="integer" max="2048" units="cm"/>
        </inkml:traceFormat>
        <inkml:channelProperties>
          <inkml:channelProperty channel="X" name="resolution" value="128.43538" units="1/cm"/>
          <inkml:channelProperty channel="Y" name="resolution" value="123.3735" units="1/cm"/>
        </inkml:channelProperties>
      </inkml:inkSource>
      <inkml:timestamp xml:id="ts0" timeString="2014-01-24T16:47:32.020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0,'0'0,"0"0,0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76" units="cm"/>
          <inkml:channel name="Y" type="integer" max="2048" units="cm"/>
        </inkml:traceFormat>
        <inkml:channelProperties>
          <inkml:channelProperty channel="X" name="resolution" value="128.43538" units="1/cm"/>
          <inkml:channelProperty channel="Y" name="resolution" value="123.3735" units="1/cm"/>
        </inkml:channelProperties>
      </inkml:inkSource>
      <inkml:timestamp xml:id="ts0" timeString="2014-01-24T16:47:32.020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0,'0'0,"0"0,0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76" units="cm"/>
          <inkml:channel name="Y" type="integer" max="2048" units="cm"/>
        </inkml:traceFormat>
        <inkml:channelProperties>
          <inkml:channelProperty channel="X" name="resolution" value="128.43538" units="1/cm"/>
          <inkml:channelProperty channel="Y" name="resolution" value="123.3735" units="1/cm"/>
        </inkml:channelProperties>
      </inkml:inkSource>
      <inkml:timestamp xml:id="ts0" timeString="2014-01-24T16:47:32.020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0,'0'0,"0"0,0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76" units="cm"/>
          <inkml:channel name="Y" type="integer" max="2048" units="cm"/>
        </inkml:traceFormat>
        <inkml:channelProperties>
          <inkml:channelProperty channel="X" name="resolution" value="128.43538" units="1/cm"/>
          <inkml:channelProperty channel="Y" name="resolution" value="123.3735" units="1/cm"/>
        </inkml:channelProperties>
      </inkml:inkSource>
      <inkml:timestamp xml:id="ts0" timeString="2014-01-24T16:47:32.020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0,'0'0,"0"0,0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29207F-3104-4AFB-A04D-74A4468B57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FC673D4-F8D7-4929-B0F2-0A81CFE38D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19104974-E074-4447-BF79-846D6CC19A1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BE667A-2198-4F6C-A412-8F46ABE1CC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B98749B-ABA3-462F-98DB-9E9489A6E8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B97316B-DB98-45E5-B7CA-4EC213A16D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B5B0F207-7F00-4985-B46D-7543007A9E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02461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239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316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914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18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6740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675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042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586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2968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145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7583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653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0077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217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79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495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9440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542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790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062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641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278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675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5C9648DA-AAE8-4917-B9FC-8184572D4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3DE07CB5-C99C-444A-BD28-2D62F09D8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F111BEC-5429-4C32-AC69-7102C03A14F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502E335-F5AB-49A0-80CF-0A2FAC4EFCC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9F60A-6720-4EF9-8C12-A764A418459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2ADF9F2-76EF-46C6-8052-C2466D7ED9D5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36945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94F56DB-625A-4168-BF32-DB2C21814CE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CDBBDF-4984-46F7-B6BC-B6A6AC01B0D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F37F583-B9DA-4679-AC61-0435020C3C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5165859-7B18-4E77-9AA4-4EE94ABD8331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5355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8CBD29A-A78F-49CB-991F-EB0DEBD700C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A0E5DB-CA03-4BEB-813A-C7EF833F3F83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EC47-9B13-4CF7-891D-69E525E267EE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0B156-0684-414E-B963-F532861002B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1A9FB-B7B1-41E6-8F9D-376401E2527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077BAFBB-0D8F-4942-B8BC-A60A73FD429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5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tags" Target="../tags/tag69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7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9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2.w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3" Type="http://schemas.openxmlformats.org/officeDocument/2006/relationships/tags" Target="../tags/tag8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9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tags" Target="../tags/tag90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notesSlide" Target="../notesSlides/notesSlide21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1.xml"/><Relationship Id="rId4" Type="http://schemas.openxmlformats.org/officeDocument/2006/relationships/tags" Target="../tags/tag1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7" Type="http://schemas.openxmlformats.org/officeDocument/2006/relationships/notesSlide" Target="../notesSlides/notesSlide22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6.xml"/><Relationship Id="rId4" Type="http://schemas.openxmlformats.org/officeDocument/2006/relationships/tags" Target="../tags/tag1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7" Type="http://schemas.openxmlformats.org/officeDocument/2006/relationships/notesSlide" Target="../notesSlides/notesSlide2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85D4764F-5267-4FC1-AF92-03C7F7F47AE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5717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Floating 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561EA-A79C-4564-B20E-34A5AA822DF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78AEE4-3ADA-41D1-BAD2-6C145053849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Forecast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3F1B7B-9CFC-4121-9F3D-4F3565D718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1"/>
            <a:ext cx="8229600" cy="3429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Floating point representation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Normalization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Biased exponent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FP addition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FP multiplication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FP rounding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DAF4329D-C55E-47DA-BA90-1897BD2EBD3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1B898B0-BC8F-4462-B6C6-C83A0D12B7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78AEE4-3ADA-41D1-BAD2-6C145053849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Floating Point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3F1B7B-9CFC-4121-9F3D-4F3565D718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534400" cy="50291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Why </a:t>
            </a:r>
            <a:r>
              <a:rPr lang="en-US" altLang="en-US" i="1" dirty="0"/>
              <a:t>floating </a:t>
            </a:r>
            <a:r>
              <a:rPr lang="en-US" altLang="en-US" dirty="0"/>
              <a:t>point</a:t>
            </a:r>
            <a:r>
              <a:rPr lang="en-US" altLang="en-US" i="1" dirty="0"/>
              <a:t> </a:t>
            </a:r>
            <a:r>
              <a:rPr lang="en-US" altLang="en-US" dirty="0"/>
              <a:t>representation?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many cases, we want to be able to represent a large </a:t>
            </a:r>
            <a:r>
              <a:rPr lang="en-US" altLang="en-US" b="1" dirty="0"/>
              <a:t>range of values </a:t>
            </a:r>
            <a:r>
              <a:rPr lang="en-US" altLang="en-US" dirty="0"/>
              <a:t>without needing much </a:t>
            </a:r>
            <a:r>
              <a:rPr lang="en-US" altLang="en-US" b="1" dirty="0"/>
              <a:t>precision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e.g., Represent [3 … 1572864] in integer (i.e., </a:t>
            </a:r>
            <a:r>
              <a:rPr lang="en-US" altLang="en-US" i="1" dirty="0"/>
              <a:t>fixed </a:t>
            </a:r>
            <a:r>
              <a:rPr lang="en-US" altLang="en-US" dirty="0"/>
              <a:t>point):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600" dirty="0"/>
              <a:t>[000000000000000000011 … 110000000000000000000]</a:t>
            </a:r>
            <a:endParaRPr lang="en-US" altLang="en-US" sz="2600" baseline="30000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But really that’s just (in </a:t>
            </a:r>
            <a:r>
              <a:rPr lang="en-US" altLang="en-US" i="1" dirty="0"/>
              <a:t>floating</a:t>
            </a:r>
            <a:r>
              <a:rPr lang="en-US" altLang="en-US" dirty="0"/>
              <a:t> point):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[1.1 x 2</a:t>
            </a:r>
            <a:r>
              <a:rPr lang="en-US" altLang="en-US" baseline="30000" dirty="0"/>
              <a:t>1</a:t>
            </a:r>
            <a:r>
              <a:rPr lang="en-US" altLang="en-US" dirty="0"/>
              <a:t> … 1.1 x 2</a:t>
            </a:r>
            <a:r>
              <a:rPr lang="en-US" altLang="en-US" baseline="30000" dirty="0"/>
              <a:t>20</a:t>
            </a:r>
            <a:r>
              <a:rPr lang="en-US" altLang="en-US" dirty="0"/>
              <a:t>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Like scientific notation: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1.337 x 10</a:t>
            </a:r>
            <a:r>
              <a:rPr lang="en-US" altLang="en-US" baseline="30000" dirty="0"/>
              <a:t>-5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DAF4329D-C55E-47DA-BA90-1897BD2EBD3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1B898B0-BC8F-4462-B6C6-C83A0D12B7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79600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BA165A-6076-4E1F-A150-D76D4ED21FD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Floating Point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EBB49D9-6F05-4F71-9969-CA9CDC39824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524000"/>
            <a:ext cx="7772400" cy="2667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Floating point </a:t>
            </a:r>
            <a:r>
              <a:rPr lang="en-US" altLang="en-US" dirty="0"/>
              <a:t>format:</a:t>
            </a:r>
          </a:p>
          <a:p>
            <a:pPr lvl="1" eaLnBrk="1" hangingPunct="1"/>
            <a:r>
              <a:rPr lang="en-US" altLang="en-US" b="1" dirty="0">
                <a:solidFill>
                  <a:schemeClr val="accent4"/>
                </a:solidFill>
              </a:rPr>
              <a:t>S</a:t>
            </a:r>
            <a:r>
              <a:rPr lang="en-US" altLang="en-US" dirty="0"/>
              <a:t>: </a:t>
            </a:r>
            <a:r>
              <a:rPr lang="en-US" altLang="en-US" i="1" dirty="0"/>
              <a:t>sign</a:t>
            </a:r>
            <a:r>
              <a:rPr lang="en-US" altLang="en-US" dirty="0"/>
              <a:t> bit, </a:t>
            </a: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n-US" altLang="en-US" dirty="0"/>
              <a:t>: </a:t>
            </a:r>
            <a:r>
              <a:rPr lang="en-US" altLang="en-US" i="1" dirty="0"/>
              <a:t>exponent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F</a:t>
            </a:r>
            <a:r>
              <a:rPr lang="en-US" altLang="en-US" dirty="0"/>
              <a:t>: </a:t>
            </a:r>
            <a:r>
              <a:rPr lang="en-US" altLang="en-US" i="1" dirty="0"/>
              <a:t>fraction</a:t>
            </a:r>
            <a:r>
              <a:rPr lang="en-US" altLang="en-US" dirty="0"/>
              <a:t> (mantissa)</a:t>
            </a:r>
          </a:p>
          <a:p>
            <a:pPr lvl="1" eaLnBrk="1" hangingPunct="1"/>
            <a:r>
              <a:rPr lang="en-US" altLang="en-US" dirty="0"/>
              <a:t>Value: (-1)</a:t>
            </a:r>
            <a:r>
              <a:rPr lang="en-US" altLang="en-US" b="1" baseline="30000" dirty="0">
                <a:solidFill>
                  <a:schemeClr val="accent4"/>
                </a:solidFill>
              </a:rPr>
              <a:t>S</a:t>
            </a:r>
            <a:r>
              <a:rPr lang="en-US" altLang="en-US" dirty="0"/>
              <a:t> x 1.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F</a:t>
            </a:r>
            <a:r>
              <a:rPr lang="en-US" altLang="en-US" dirty="0"/>
              <a:t> x 2</a:t>
            </a:r>
            <a:r>
              <a:rPr lang="en-US" altLang="en-US" b="1" baseline="30000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e.g., 9.25 in decimal = 1.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00101</a:t>
            </a:r>
            <a:r>
              <a:rPr lang="en-US" altLang="en-US" b="1" dirty="0"/>
              <a:t> </a:t>
            </a:r>
            <a:r>
              <a:rPr lang="en-US" altLang="en-US" dirty="0"/>
              <a:t>x 2</a:t>
            </a:r>
            <a:r>
              <a:rPr lang="en-US" altLang="en-US" b="1" baseline="30000" dirty="0">
                <a:solidFill>
                  <a:schemeClr val="accent3">
                    <a:lumMod val="75000"/>
                  </a:schemeClr>
                </a:solidFill>
              </a:rPr>
              <a:t>3</a:t>
            </a:r>
            <a:r>
              <a:rPr lang="en-US" altLang="en-US" b="1" dirty="0"/>
              <a:t> </a:t>
            </a:r>
            <a:r>
              <a:rPr lang="en-US" altLang="en-US" dirty="0"/>
              <a:t>in binary</a:t>
            </a:r>
          </a:p>
          <a:p>
            <a:pPr lvl="1" eaLnBrk="1" hangingPunct="1"/>
            <a:r>
              <a:rPr lang="en-US" altLang="en-US" dirty="0"/>
              <a:t>Fraction w/implicit 1 is called a </a:t>
            </a:r>
            <a:r>
              <a:rPr lang="en-US" altLang="en-US" i="1" dirty="0"/>
              <a:t>Significand</a:t>
            </a:r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771D412C-96B0-48D7-91C1-715F150635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ED8BE20-72E3-43D4-BA7C-0627E391E0B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199" name="Group 63">
            <a:extLst>
              <a:ext uri="{FF2B5EF4-FFF2-40B4-BE49-F238E27FC236}">
                <a16:creationId xmlns:a16="http://schemas.microsoft.com/office/drawing/2014/main" id="{6EDCBFB4-B5FF-4FA0-81F1-00487FEE2284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5181600" y="1677988"/>
            <a:ext cx="2743200" cy="304800"/>
            <a:chOff x="3120" y="720"/>
            <a:chExt cx="1728" cy="192"/>
          </a:xfrm>
          <a:solidFill>
            <a:schemeClr val="bg1">
              <a:lumMod val="95000"/>
            </a:schemeClr>
          </a:solidFill>
        </p:grpSpPr>
        <p:sp>
          <p:nvSpPr>
            <p:cNvPr id="7200" name="Rectangle 55">
              <a:extLst>
                <a:ext uri="{FF2B5EF4-FFF2-40B4-BE49-F238E27FC236}">
                  <a16:creationId xmlns:a16="http://schemas.microsoft.com/office/drawing/2014/main" id="{02000748-C0CD-4A07-928D-53EA90C0BE80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120" y="720"/>
              <a:ext cx="144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accent4"/>
                  </a:solidFill>
                  <a:latin typeface="+mn-lt"/>
                </a:rPr>
                <a:t>S</a:t>
              </a:r>
            </a:p>
          </p:txBody>
        </p:sp>
        <p:sp>
          <p:nvSpPr>
            <p:cNvPr id="7201" name="Rectangle 56">
              <a:extLst>
                <a:ext uri="{FF2B5EF4-FFF2-40B4-BE49-F238E27FC236}">
                  <a16:creationId xmlns:a16="http://schemas.microsoft.com/office/drawing/2014/main" id="{8B7BE7A6-9A15-4BDC-9855-C33617FC3884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64" y="720"/>
              <a:ext cx="384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accent3">
                      <a:lumMod val="75000"/>
                    </a:schemeClr>
                  </a:solidFill>
                  <a:latin typeface="+mn-lt"/>
                </a:rPr>
                <a:t>E</a:t>
              </a:r>
            </a:p>
          </p:txBody>
        </p:sp>
        <p:sp>
          <p:nvSpPr>
            <p:cNvPr id="7202" name="Rectangle 57">
              <a:extLst>
                <a:ext uri="{FF2B5EF4-FFF2-40B4-BE49-F238E27FC236}">
                  <a16:creationId xmlns:a16="http://schemas.microsoft.com/office/drawing/2014/main" id="{3B3A8A35-4B7A-40A6-9A42-3AE8D8E189FD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48" y="720"/>
              <a:ext cx="1200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accent6">
                      <a:lumMod val="75000"/>
                    </a:schemeClr>
                  </a:solidFill>
                  <a:latin typeface="+mn-lt"/>
                </a:rPr>
                <a:t>F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67C9F5-6D44-40AA-ABC9-D8FB38F13289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867386094"/>
              </p:ext>
            </p:extLst>
          </p:nvPr>
        </p:nvGraphicFramePr>
        <p:xfrm>
          <a:off x="1371600" y="4419600"/>
          <a:ext cx="60960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21842299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2438104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565191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 = 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 = exp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 = fraction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493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0011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066164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D0D090-B76D-4EA4-9567-576DE995DD0F}"/>
              </a:ext>
            </a:extLst>
          </p:cNvPr>
          <p:cNvCxnSpPr>
            <a:cxnSpLocks/>
          </p:cNvCxnSpPr>
          <p:nvPr/>
        </p:nvCxnSpPr>
        <p:spPr>
          <a:xfrm flipH="1" flipV="1">
            <a:off x="5941745" y="5100454"/>
            <a:ext cx="611455" cy="61454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7ED8B5-5C3B-47C0-B3A8-946B40A7D4B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330406" y="5622236"/>
            <a:ext cx="2667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normalized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(implicit/hidden leading 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22201F-9EAA-48E3-901F-3157AAE7D1A2}"/>
              </a:ext>
            </a:extLst>
          </p:cNvPr>
          <p:cNvCxnSpPr>
            <a:cxnSpLocks/>
          </p:cNvCxnSpPr>
          <p:nvPr/>
        </p:nvCxnSpPr>
        <p:spPr>
          <a:xfrm flipV="1">
            <a:off x="3048000" y="5100454"/>
            <a:ext cx="467985" cy="641298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A86E490-6BBD-4785-B214-E2B4C8FBDD4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371600" y="5665458"/>
            <a:ext cx="2667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usually </a:t>
            </a:r>
            <a:r>
              <a:rPr lang="en-US" sz="1600" b="1" i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biased</a:t>
            </a:r>
          </a:p>
          <a:p>
            <a:pPr algn="ctr"/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(discuss later)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81152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BA165A-6076-4E1F-A150-D76D4ED21FD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Floating Point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EBB49D9-6F05-4F71-9969-CA9CDC39824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5240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IEEE754 floating-point standard:</a:t>
            </a:r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771D412C-96B0-48D7-91C1-715F150635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ED8BE20-72E3-43D4-BA7C-0627E391E0B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04886" name="Group 86">
            <a:extLst>
              <a:ext uri="{FF2B5EF4-FFF2-40B4-BE49-F238E27FC236}">
                <a16:creationId xmlns:a16="http://schemas.microsoft.com/office/drawing/2014/main" id="{91727639-E6CF-4941-AE0A-7A0063F1C303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71314525"/>
              </p:ext>
            </p:extLst>
          </p:nvPr>
        </p:nvGraphicFramePr>
        <p:xfrm>
          <a:off x="762000" y="2590800"/>
          <a:ext cx="7467600" cy="1633538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Range*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Single (32-bit) precision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8-bit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23-bit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-126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+127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Double (64-bit) precision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11-bit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52-bit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-1022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+1023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2EE04D4-911E-6BD2-7BF6-A8EC69C0B4EC}"/>
              </a:ext>
            </a:extLst>
          </p:cNvPr>
          <p:cNvSpPr txBox="1"/>
          <p:nvPr/>
        </p:nvSpPr>
        <p:spPr>
          <a:xfrm>
            <a:off x="4568825" y="6096000"/>
            <a:ext cx="3764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*Normalized Numbers Only</a:t>
            </a:r>
            <a:r>
              <a:rPr lang="en-US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54789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78AEE4-3ADA-41D1-BAD2-6C145053849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Normalization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3F1B7B-9CFC-4121-9F3D-4F3565D718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763000" cy="50291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Why </a:t>
            </a:r>
            <a:r>
              <a:rPr lang="en-US" altLang="en-US" i="1" dirty="0"/>
              <a:t>normalize</a:t>
            </a:r>
            <a:r>
              <a:rPr lang="en-US" altLang="en-US" dirty="0"/>
              <a:t>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Otherwise, too many ways to represent 9.25: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1001.01 x 2</a:t>
            </a:r>
            <a:r>
              <a:rPr lang="en-US" altLang="en-US" baseline="30000" dirty="0"/>
              <a:t>0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100.101 x 2</a:t>
            </a:r>
            <a:r>
              <a:rPr lang="en-US" altLang="en-US" baseline="30000" dirty="0"/>
              <a:t>1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10.0101 x 2</a:t>
            </a:r>
            <a:r>
              <a:rPr lang="en-US" altLang="en-US" baseline="30000" dirty="0"/>
              <a:t>2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1.00101 x 2</a:t>
            </a:r>
            <a:r>
              <a:rPr lang="en-US" altLang="en-US" baseline="30000" dirty="0"/>
              <a:t>3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Standard: one leading 1 in front of binary point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1.</a:t>
            </a:r>
            <a:r>
              <a:rPr lang="en-US" altLang="en-US" dirty="0"/>
              <a:t>00101 x 2</a:t>
            </a:r>
            <a:r>
              <a:rPr lang="en-US" altLang="en-US" baseline="30000" dirty="0"/>
              <a:t>3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No need to store leading 1; it is always assumed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dirty="0"/>
              <a:t>Sometimes called the “hidden bit”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DAF4329D-C55E-47DA-BA90-1897BD2EBD3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1B898B0-BC8F-4462-B6C6-C83A0D12B7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630251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203059C6-2A55-416C-83A0-708F9248123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E can be positive or negative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Encoded in </a:t>
            </a:r>
            <a:r>
              <a:rPr lang="en-US" altLang="en-US" i="1" dirty="0"/>
              <a:t>biased</a:t>
            </a:r>
            <a:r>
              <a:rPr lang="en-US" altLang="en-US" dirty="0"/>
              <a:t> (or </a:t>
            </a:r>
            <a:r>
              <a:rPr lang="en-US" altLang="en-US" i="1" dirty="0"/>
              <a:t>excess</a:t>
            </a:r>
            <a:r>
              <a:rPr lang="en-US" altLang="en-US" dirty="0"/>
              <a:t>) notation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Why? To simplify sorting, we want: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dirty="0"/>
              <a:t>	↑ unsigned exponent =&gt; ↑ floating-point value</a:t>
            </a:r>
          </a:p>
        </p:txBody>
      </p:sp>
      <p:sp>
        <p:nvSpPr>
          <p:cNvPr id="9220" name="Slide Number Placeholder 5">
            <a:extLst>
              <a:ext uri="{FF2B5EF4-FFF2-40B4-BE49-F238E27FC236}">
                <a16:creationId xmlns:a16="http://schemas.microsoft.com/office/drawing/2014/main" id="{59CF9DDA-E471-4D9E-B3AE-7317DC65674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F8FE83D3-32DD-4379-A7CF-45D69C78D234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86576A-D6A7-43E7-AD68-F5538C99F33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Biased Exponent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9A43FE-1182-4139-A33D-CA80FC92660C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8221014"/>
              </p:ext>
            </p:extLst>
          </p:nvPr>
        </p:nvGraphicFramePr>
        <p:xfrm>
          <a:off x="1524000" y="5029200"/>
          <a:ext cx="60960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21842299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2438104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565191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 = 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 = exp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 = fraction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493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066164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0BA636B3-A288-4018-A452-BD8BE836670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9600" y="3886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000" b="1" dirty="0"/>
              <a:t>e.g., 1-bit sign, 4-bit exponent </a:t>
            </a:r>
            <a:r>
              <a:rPr lang="en-US" altLang="en-US" sz="2000" b="1" dirty="0">
                <a:solidFill>
                  <a:schemeClr val="accent6">
                    <a:lumMod val="75000"/>
                  </a:schemeClr>
                </a:solidFill>
              </a:rPr>
              <a:t>(with bias 7)</a:t>
            </a:r>
            <a:r>
              <a:rPr lang="en-US" altLang="en-US" sz="2000" b="1" dirty="0"/>
              <a:t>, 5-bit fraction: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000" dirty="0"/>
              <a:t>value = (-1)</a:t>
            </a:r>
            <a:r>
              <a:rPr lang="en-US" altLang="en-US" sz="2000" baseline="30000" dirty="0"/>
              <a:t>S</a:t>
            </a:r>
            <a:r>
              <a:rPr lang="en-US" altLang="en-US" sz="2000" dirty="0"/>
              <a:t> x 1.F x 2</a:t>
            </a:r>
            <a:r>
              <a:rPr lang="en-US" altLang="en-US" sz="2000" b="1" baseline="30000" dirty="0">
                <a:solidFill>
                  <a:schemeClr val="accent6">
                    <a:lumMod val="75000"/>
                  </a:schemeClr>
                </a:solidFill>
              </a:rPr>
              <a:t>(E – 7)</a:t>
            </a:r>
            <a:r>
              <a:rPr lang="en-US" altLang="en-US" sz="2000" dirty="0"/>
              <a:t>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000" dirty="0"/>
              <a:t>9.25 = 1.00101 x 2</a:t>
            </a:r>
            <a:r>
              <a:rPr lang="en-US" altLang="en-US" sz="2000" baseline="30000" dirty="0"/>
              <a:t>3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5">
            <a:extLst>
              <a:ext uri="{FF2B5EF4-FFF2-40B4-BE49-F238E27FC236}">
                <a16:creationId xmlns:a16="http://schemas.microsoft.com/office/drawing/2014/main" id="{D6D45458-2B6E-492A-A4BF-495D23B05BB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82625" y="4953000"/>
            <a:ext cx="77724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Value: (-1)</a:t>
            </a:r>
            <a:r>
              <a:rPr lang="en-US" altLang="en-US" sz="2800" baseline="30000" dirty="0"/>
              <a:t>S</a:t>
            </a:r>
            <a:r>
              <a:rPr lang="en-US" altLang="en-US" sz="2800" dirty="0"/>
              <a:t> x 1.F x 2</a:t>
            </a:r>
            <a:r>
              <a:rPr lang="en-US" altLang="en-US" sz="2800" baseline="30000" dirty="0"/>
              <a:t>(E-bias)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IEEE754 single precision: bias = 127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IEEE754 double precision: bias = 1023</a:t>
            </a:r>
          </a:p>
        </p:txBody>
      </p:sp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EEF08AB2-E511-4896-85E9-DF448F774FA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C3B074B-50D1-4D57-8500-07901DC6D879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07909" name="Group 37">
            <a:extLst>
              <a:ext uri="{FF2B5EF4-FFF2-40B4-BE49-F238E27FC236}">
                <a16:creationId xmlns:a16="http://schemas.microsoft.com/office/drawing/2014/main" id="{672523D3-21CB-4150-B4A8-7A68A50CD875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40579240"/>
              </p:ext>
            </p:extLst>
          </p:nvPr>
        </p:nvGraphicFramePr>
        <p:xfrm>
          <a:off x="1371600" y="1752600"/>
          <a:ext cx="6096000" cy="26035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Exponent 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2’s Complement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 (with bias 127)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-127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1000 0001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 0000*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1000 0010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0000 0001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+127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0111 1111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1111 1110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9CEE9EE-371F-48A5-9296-F6B2F7791682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Biased Exponent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64FCC1-D76F-86E7-757A-9578E88F2C62}"/>
              </a:ext>
            </a:extLst>
          </p:cNvPr>
          <p:cNvSpPr txBox="1"/>
          <p:nvPr/>
        </p:nvSpPr>
        <p:spPr>
          <a:xfrm>
            <a:off x="3657600" y="6268406"/>
            <a:ext cx="4780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* 0 exponent is a subnormal number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IEEE754 Special Cases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284A133F-184E-1843-9004-C5441DB9DDE2}" type="slidenum">
              <a:rPr lang="en-US" sz="2400"/>
              <a:pPr lvl="1"/>
              <a:t>9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212043" name="Group 75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80348579"/>
              </p:ext>
            </p:extLst>
          </p:nvPr>
        </p:nvGraphicFramePr>
        <p:xfrm>
          <a:off x="533400" y="1752600"/>
          <a:ext cx="7924800" cy="3052815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8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54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Single Precision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Double Precision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Value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zero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nonzero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nonzero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tarMath" pitchFamily="2" charset="2"/>
                        </a:rPr>
                        <a:t>denormalized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255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2047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tarMath" pitchFamily="2" charset="2"/>
                        </a:rPr>
                        <a:t>infinity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255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nonzero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2047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nonzero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(Not a Number)</a:t>
                      </a: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953EECE-DAC3-3770-D783-4B98F83C1470}"/>
              </a:ext>
            </a:extLst>
          </p:cNvPr>
          <p:cNvSpPr txBox="1"/>
          <p:nvPr/>
        </p:nvSpPr>
        <p:spPr>
          <a:xfrm>
            <a:off x="443904" y="5486400"/>
            <a:ext cx="8239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n-lt"/>
              </a:rPr>
              <a:t>Explore IEEE 754 @ https://</a:t>
            </a:r>
            <a:r>
              <a:rPr lang="en-US" sz="2000" dirty="0" err="1">
                <a:latin typeface="+mn-lt"/>
              </a:rPr>
              <a:t>www.h-schmidt.net</a:t>
            </a:r>
            <a:r>
              <a:rPr lang="en-US" sz="2000" dirty="0">
                <a:latin typeface="+mn-lt"/>
              </a:rPr>
              <a:t>/</a:t>
            </a:r>
            <a:r>
              <a:rPr lang="en-US" sz="2000" dirty="0" err="1">
                <a:latin typeface="+mn-lt"/>
              </a:rPr>
              <a:t>FloatConverter</a:t>
            </a:r>
            <a:r>
              <a:rPr lang="en-US" sz="2000" dirty="0">
                <a:latin typeface="+mn-lt"/>
              </a:rPr>
              <a:t>/IEEE754.html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38713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FP Overflow/Underflow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FP overflow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Analogous to integer overflow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Result is too big to represent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Means exponent is too big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FP underflow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Result is too small to represent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Means exponent is too small (or too negative)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Both can raise an exception under IEEE754</a:t>
            </a:r>
            <a:r>
              <a:rPr lang="en-US" sz="2400" dirty="0">
                <a:latin typeface="Calibri" charset="0"/>
              </a:rPr>
              <a:t> if enabled</a:t>
            </a:r>
            <a:endParaRPr lang="en-US" sz="2800" dirty="0">
              <a:latin typeface="Calibri" charset="0"/>
            </a:endParaRP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EDE9120C-83A3-8F4B-B7F1-BDE076694B44}" type="slidenum">
              <a:rPr lang="en-US" sz="2400"/>
              <a:pPr lvl="1"/>
              <a:t>10</a:t>
            </a:fld>
            <a:endParaRPr lang="en-US" sz="2400">
              <a:latin typeface="Times New Roman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628523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Addition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Just like adding in scientific notation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First, align points by shifting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Then, add significands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Finally, normalize and round</a:t>
            </a:r>
          </a:p>
          <a:p>
            <a:pPr eaLnBrk="1" hangingPunct="1"/>
            <a:r>
              <a:rPr lang="en-US" dirty="0">
                <a:latin typeface="Calibri" charset="0"/>
              </a:rPr>
              <a:t>e.g., Decimal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37E87FD4-5BB4-A542-B53C-2E049C749757}" type="slidenum">
              <a:rPr lang="en-US" sz="2400"/>
              <a:pPr lvl="1"/>
              <a:t>11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209959" name="Group 39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02737011"/>
              </p:ext>
            </p:extLst>
          </p:nvPr>
        </p:nvGraphicFramePr>
        <p:xfrm>
          <a:off x="3276600" y="3810000"/>
          <a:ext cx="5257800" cy="255998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9.997 x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9.997000 x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4.631 x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0.004631 x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10.001631 x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1.0001631 x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900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/>
              <p14:cNvContentPartPr/>
              <p14:nvPr/>
            </p14:nvContentPartPr>
            <p14:xfrm>
              <a:off x="5349120" y="4926460"/>
              <a:ext cx="360" cy="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/>
            <p:spPr/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6391174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Addition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Just like adding in scientific notation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First, align points by shifting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Then, add significands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Finally, normalize and round</a:t>
            </a:r>
          </a:p>
          <a:p>
            <a:pPr eaLnBrk="1" hangingPunct="1"/>
            <a:r>
              <a:rPr lang="en-US" dirty="0">
                <a:latin typeface="Calibri" charset="0"/>
              </a:rPr>
              <a:t>e.g., Binary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37E87FD4-5BB4-A542-B53C-2E049C749757}" type="slidenum">
              <a:rPr lang="en-US" sz="2400"/>
              <a:pPr lvl="1"/>
              <a:t>12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209959" name="Group 39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187608146"/>
              </p:ext>
            </p:extLst>
          </p:nvPr>
        </p:nvGraphicFramePr>
        <p:xfrm>
          <a:off x="3276600" y="3810000"/>
          <a:ext cx="5257800" cy="255998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1.1100100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0.0110001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10.0010101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1.00010101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900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/>
              <p14:cNvContentPartPr/>
              <p14:nvPr/>
            </p14:nvContentPartPr>
            <p14:xfrm>
              <a:off x="5349120" y="4926460"/>
              <a:ext cx="360" cy="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/>
            <p:spPr/>
          </p:pic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E4A71537-9C7D-4CAF-9165-864833933B55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5800" y="4343400"/>
            <a:ext cx="2057400" cy="43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000" dirty="0"/>
              <a:t>(-1)</a:t>
            </a:r>
            <a:r>
              <a:rPr lang="en-US" altLang="en-US" sz="2000" baseline="30000" dirty="0"/>
              <a:t>S</a:t>
            </a:r>
            <a:r>
              <a:rPr lang="en-US" altLang="en-US" sz="2000" dirty="0"/>
              <a:t> x 1.F x 2</a:t>
            </a:r>
            <a:r>
              <a:rPr lang="en-US" altLang="en-US" sz="2000" baseline="30000" dirty="0"/>
              <a:t>(E – 7)</a:t>
            </a:r>
            <a:endParaRPr lang="en-US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00518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304800" y="381000"/>
            <a:ext cx="2057400" cy="2286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FP Adder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80E619F3-C649-904E-989B-B5EA7C4B66CF}" type="slidenum">
              <a:rPr lang="en-US" sz="2400"/>
              <a:pPr lvl="1"/>
              <a:t>13</a:t>
            </a:fld>
            <a:endParaRPr lang="en-US" sz="2400">
              <a:latin typeface="Times New Roman" charset="0"/>
            </a:endParaRPr>
          </a:p>
        </p:txBody>
      </p:sp>
      <p:pic>
        <p:nvPicPr>
          <p:cNvPr id="15364" name="Picture 4" descr="f0445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06413"/>
            <a:ext cx="6569075" cy="609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DF1991-57BA-E293-E192-379386FA5CD8}"/>
              </a:ext>
            </a:extLst>
          </p:cNvPr>
          <p:cNvSpPr txBox="1"/>
          <p:nvPr/>
        </p:nvSpPr>
        <p:spPr>
          <a:xfrm>
            <a:off x="6553200" y="533400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Fraction</a:t>
            </a:r>
            <a:endParaRPr lang="en-US" sz="20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0B19F-B2EB-A928-8E28-9FF915A1ECF1}"/>
              </a:ext>
            </a:extLst>
          </p:cNvPr>
          <p:cNvSpPr txBox="1"/>
          <p:nvPr/>
        </p:nvSpPr>
        <p:spPr>
          <a:xfrm>
            <a:off x="3429000" y="533400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Fraction</a:t>
            </a:r>
            <a:endParaRPr lang="en-US" sz="20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60E95-EBBA-0C4B-2D9D-FC451B196BF4}"/>
              </a:ext>
            </a:extLst>
          </p:cNvPr>
          <p:cNvSpPr txBox="1"/>
          <p:nvPr/>
        </p:nvSpPr>
        <p:spPr>
          <a:xfrm>
            <a:off x="4876800" y="6293508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Fraction</a:t>
            </a:r>
            <a:endParaRPr lang="en-US" sz="2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024018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Rounding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1"/>
            <a:ext cx="8229600" cy="19812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Rounding is important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Small errors accumulate over billions of ops</a:t>
            </a:r>
          </a:p>
          <a:p>
            <a:pPr eaLnBrk="1" hangingPunct="1"/>
            <a:r>
              <a:rPr lang="en-US" dirty="0">
                <a:latin typeface="Calibri" charset="0"/>
              </a:rPr>
              <a:t>e.g., Using 6-bit adder:</a:t>
            </a:r>
          </a:p>
          <a:p>
            <a:pPr lvl="1" eaLnBrk="1" hangingPunct="1"/>
            <a:r>
              <a:rPr lang="en-US" altLang="en-US" dirty="0"/>
              <a:t>(-1)</a:t>
            </a:r>
            <a:r>
              <a:rPr lang="en-US" altLang="en-US" baseline="30000" dirty="0"/>
              <a:t>S</a:t>
            </a:r>
            <a:r>
              <a:rPr lang="en-US" altLang="en-US" dirty="0"/>
              <a:t> x 1.F x 2</a:t>
            </a:r>
            <a:r>
              <a:rPr lang="en-US" altLang="en-US" baseline="30000" dirty="0"/>
              <a:t>(E – 7)</a:t>
            </a:r>
            <a:endParaRPr lang="en-US" altLang="en-US" dirty="0"/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37E87FD4-5BB4-A542-B53C-2E049C749757}" type="slidenum">
              <a:rPr lang="en-US" sz="2400"/>
              <a:pPr lvl="1"/>
              <a:t>14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209959" name="Group 39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902293681"/>
              </p:ext>
            </p:extLst>
          </p:nvPr>
        </p:nvGraphicFramePr>
        <p:xfrm>
          <a:off x="2133600" y="3977806"/>
          <a:ext cx="5257800" cy="255998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0.01100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10.00101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1.00010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900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/>
              <p14:cNvContentPartPr/>
              <p14:nvPr/>
            </p14:nvContentPartPr>
            <p14:xfrm>
              <a:off x="5349120" y="4926460"/>
              <a:ext cx="360" cy="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/>
            <p:spPr/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AC6173C-CAEA-41B0-A268-3F081A86EA2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486400" y="6227553"/>
            <a:ext cx="2213394" cy="36512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rounding error!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831644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Rounding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1"/>
            <a:ext cx="8686800" cy="19812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Introduce a </a:t>
            </a:r>
            <a:r>
              <a:rPr lang="en-US" i="1" dirty="0">
                <a:latin typeface="Calibri" charset="0"/>
              </a:rPr>
              <a:t>guard bit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Extra bit in significand beyond the least-significant bit</a:t>
            </a:r>
          </a:p>
          <a:p>
            <a:pPr eaLnBrk="1" hangingPunct="1"/>
            <a:r>
              <a:rPr lang="en-US" dirty="0">
                <a:latin typeface="Calibri" charset="0"/>
              </a:rPr>
              <a:t>e.g., Using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" charset="0"/>
              </a:rPr>
              <a:t>7</a:t>
            </a:r>
            <a:r>
              <a:rPr lang="en-US" dirty="0">
                <a:latin typeface="Calibri" charset="0"/>
              </a:rPr>
              <a:t>-bit adder:</a:t>
            </a:r>
          </a:p>
          <a:p>
            <a:pPr lvl="1" eaLnBrk="1" hangingPunct="1"/>
            <a:r>
              <a:rPr lang="en-US" altLang="en-US" dirty="0"/>
              <a:t>(-1)</a:t>
            </a:r>
            <a:r>
              <a:rPr lang="en-US" altLang="en-US" baseline="30000" dirty="0"/>
              <a:t>S</a:t>
            </a:r>
            <a:r>
              <a:rPr lang="en-US" altLang="en-US" dirty="0"/>
              <a:t> x 1.F x 2</a:t>
            </a:r>
            <a:r>
              <a:rPr lang="en-US" altLang="en-US" baseline="30000" dirty="0"/>
              <a:t>(E – 7)</a:t>
            </a:r>
            <a:endParaRPr lang="en-US" altLang="en-US" dirty="0"/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37E87FD4-5BB4-A542-B53C-2E049C749757}" type="slidenum">
              <a:rPr lang="en-US" sz="2400"/>
              <a:pPr lvl="1"/>
              <a:t>15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209959" name="Group 39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14803486"/>
              </p:ext>
            </p:extLst>
          </p:nvPr>
        </p:nvGraphicFramePr>
        <p:xfrm>
          <a:off x="2133600" y="3977806"/>
          <a:ext cx="5257800" cy="255998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1.10001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0.01100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10.00101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1.00010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x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900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/>
              <p14:cNvContentPartPr/>
              <p14:nvPr/>
            </p14:nvContentPartPr>
            <p14:xfrm>
              <a:off x="5349120" y="4926460"/>
              <a:ext cx="360" cy="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/>
            <p:spPr/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2943372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FP Multiplication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 charset="0"/>
              </a:rPr>
              <a:t>Product sign: S</a:t>
            </a:r>
            <a:r>
              <a:rPr lang="en-US" sz="2800" baseline="-25000" dirty="0">
                <a:latin typeface="Calibri" charset="0"/>
              </a:rPr>
              <a:t>P</a:t>
            </a:r>
            <a:r>
              <a:rPr lang="en-US" sz="2800" dirty="0">
                <a:latin typeface="Calibri" charset="0"/>
              </a:rPr>
              <a:t> = S</a:t>
            </a:r>
            <a:r>
              <a:rPr lang="en-US" sz="2800" baseline="-25000" dirty="0">
                <a:latin typeface="Calibri" charset="0"/>
              </a:rPr>
              <a:t>A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xor</a:t>
            </a:r>
            <a:r>
              <a:rPr lang="en-US" sz="2800" dirty="0">
                <a:latin typeface="Calibri" charset="0"/>
              </a:rPr>
              <a:t> S</a:t>
            </a:r>
            <a:r>
              <a:rPr lang="en-US" sz="2800" baseline="-25000" dirty="0">
                <a:latin typeface="Calibri" charset="0"/>
              </a:rPr>
              <a:t>B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 charset="0"/>
              </a:rPr>
              <a:t>Product exponent: E</a:t>
            </a:r>
            <a:r>
              <a:rPr lang="en-US" sz="2800" baseline="-25000" dirty="0">
                <a:latin typeface="Calibri" charset="0"/>
              </a:rPr>
              <a:t>P</a:t>
            </a:r>
            <a:r>
              <a:rPr lang="en-US" sz="2800" dirty="0">
                <a:latin typeface="Calibri" charset="0"/>
              </a:rPr>
              <a:t> = E</a:t>
            </a:r>
            <a:r>
              <a:rPr lang="en-US" sz="2800" baseline="-25000" dirty="0">
                <a:latin typeface="Calibri" charset="0"/>
              </a:rPr>
              <a:t>A</a:t>
            </a:r>
            <a:r>
              <a:rPr lang="en-US" sz="2800" dirty="0">
                <a:latin typeface="Calibri" charset="0"/>
              </a:rPr>
              <a:t> + E</a:t>
            </a:r>
            <a:r>
              <a:rPr lang="en-US" sz="2800" baseline="-25000" dirty="0">
                <a:latin typeface="Calibri" charset="0"/>
              </a:rPr>
              <a:t>B</a:t>
            </a:r>
            <a:r>
              <a:rPr lang="en-US" sz="2800" dirty="0">
                <a:latin typeface="Calibri" charset="0"/>
              </a:rPr>
              <a:t> – bias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 charset="0"/>
              </a:rPr>
              <a:t>Must subtract the bias, since: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 charset="0"/>
              </a:rPr>
              <a:t>A’s exponent = E</a:t>
            </a:r>
            <a:r>
              <a:rPr lang="en-US" sz="2000" baseline="-25000" dirty="0">
                <a:latin typeface="Calibri" charset="0"/>
              </a:rPr>
              <a:t>A</a:t>
            </a:r>
            <a:r>
              <a:rPr lang="en-US" sz="2000" dirty="0">
                <a:latin typeface="Calibri" charset="0"/>
              </a:rPr>
              <a:t> – bias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 charset="0"/>
              </a:rPr>
              <a:t>B’s exponent = E</a:t>
            </a:r>
            <a:r>
              <a:rPr lang="en-US" sz="2000" baseline="-25000" dirty="0">
                <a:latin typeface="Calibri" charset="0"/>
              </a:rPr>
              <a:t>B</a:t>
            </a:r>
            <a:r>
              <a:rPr lang="en-US" sz="2000" dirty="0">
                <a:latin typeface="Calibri" charset="0"/>
              </a:rPr>
              <a:t> – bias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 charset="0"/>
              </a:rPr>
              <a:t>E</a:t>
            </a:r>
            <a:r>
              <a:rPr lang="en-US" sz="2000" baseline="-25000" dirty="0">
                <a:latin typeface="Calibri" charset="0"/>
              </a:rPr>
              <a:t>P</a:t>
            </a:r>
            <a:r>
              <a:rPr lang="en-US" sz="2000" dirty="0">
                <a:latin typeface="Calibri" charset="0"/>
              </a:rPr>
              <a:t> = (A’s exponent + B’s exponent) + bias = E</a:t>
            </a:r>
            <a:r>
              <a:rPr lang="en-US" sz="2000" baseline="-25000" dirty="0">
                <a:latin typeface="Calibri" charset="0"/>
              </a:rPr>
              <a:t>A</a:t>
            </a:r>
            <a:r>
              <a:rPr lang="en-US" sz="2000" dirty="0">
                <a:latin typeface="Calibri" charset="0"/>
              </a:rPr>
              <a:t> + E</a:t>
            </a:r>
            <a:r>
              <a:rPr lang="en-US" sz="2000" baseline="-25000" dirty="0">
                <a:latin typeface="Calibri" charset="0"/>
              </a:rPr>
              <a:t>B</a:t>
            </a:r>
            <a:r>
              <a:rPr lang="en-US" sz="2000" dirty="0">
                <a:latin typeface="Calibri" charset="0"/>
              </a:rPr>
              <a:t> – bias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 charset="0"/>
              </a:rPr>
              <a:t>Product significand: 1.F</a:t>
            </a:r>
            <a:r>
              <a:rPr lang="en-US" sz="2800" baseline="-25000" dirty="0">
                <a:latin typeface="Calibri" charset="0"/>
              </a:rPr>
              <a:t>P</a:t>
            </a:r>
            <a:r>
              <a:rPr lang="en-US" sz="2800" dirty="0">
                <a:latin typeface="Calibri" charset="0"/>
              </a:rPr>
              <a:t> = 1.F</a:t>
            </a:r>
            <a:r>
              <a:rPr lang="en-US" sz="2800" baseline="-25000" dirty="0">
                <a:latin typeface="Calibri" charset="0"/>
              </a:rPr>
              <a:t>A</a:t>
            </a:r>
            <a:r>
              <a:rPr lang="en-US" sz="2800" dirty="0">
                <a:latin typeface="Calibri" charset="0"/>
              </a:rPr>
              <a:t> x 1.F</a:t>
            </a:r>
            <a:r>
              <a:rPr lang="en-US" sz="2800" baseline="-25000" dirty="0">
                <a:latin typeface="Calibri" charset="0"/>
              </a:rPr>
              <a:t>B</a:t>
            </a:r>
            <a:endParaRPr lang="en-US" sz="2800" dirty="0">
              <a:latin typeface="Calibri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 charset="0"/>
              </a:rPr>
              <a:t>Standard integer multiplication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 charset="0"/>
              </a:rPr>
              <a:t>Then renormalize and round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 charset="0"/>
              </a:rPr>
              <a:t>Adjust exponent and significand accordingly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0B9CB6E9-DE38-AF42-A53B-F379360715CE}" type="slidenum">
              <a:rPr lang="en-US" sz="2400"/>
              <a:pPr lvl="1"/>
              <a:t>16</a:t>
            </a:fld>
            <a:endParaRPr lang="en-US" sz="2400">
              <a:latin typeface="Times New Roman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384479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FP Multiplication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dirty="0">
                <a:latin typeface="Calibri" charset="0"/>
              </a:rPr>
              <a:t>Compute S</a:t>
            </a:r>
            <a:r>
              <a:rPr lang="en-US" baseline="-25000" dirty="0">
                <a:latin typeface="Calibri" charset="0"/>
              </a:rPr>
              <a:t>P</a:t>
            </a:r>
            <a:r>
              <a:rPr lang="en-US" dirty="0">
                <a:latin typeface="Calibri" charset="0"/>
              </a:rPr>
              <a:t>, E</a:t>
            </a:r>
            <a:r>
              <a:rPr lang="en-US" baseline="-25000" dirty="0">
                <a:latin typeface="Calibri" charset="0"/>
              </a:rPr>
              <a:t>P</a:t>
            </a:r>
            <a:r>
              <a:rPr lang="en-US" dirty="0">
                <a:latin typeface="Calibri" charset="0"/>
              </a:rPr>
              <a:t>, 1.F</a:t>
            </a:r>
            <a:r>
              <a:rPr lang="en-US" baseline="-25000" dirty="0">
                <a:latin typeface="Calibri" charset="0"/>
              </a:rPr>
              <a:t>P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dirty="0">
                <a:latin typeface="Calibri" charset="0"/>
              </a:rPr>
              <a:t>Normalize incrementally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Shift left/right by 1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dirty="0">
                <a:latin typeface="Calibri" charset="0"/>
              </a:rPr>
              <a:t>Check for overflow/underflow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dirty="0">
                <a:latin typeface="Calibri" charset="0"/>
              </a:rPr>
              <a:t>Round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dirty="0">
                <a:latin typeface="Calibri" charset="0"/>
              </a:rPr>
              <a:t>If not normalized yet, back to Step 2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DB52EA9C-3544-8840-89FC-48EC4EE7A5A2}" type="slidenum">
              <a:rPr lang="en-US" sz="2400"/>
              <a:pPr lvl="1"/>
              <a:t>17</a:t>
            </a:fld>
            <a:endParaRPr lang="en-US" sz="2400">
              <a:latin typeface="Times New Roman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020286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Multiplication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1143001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e.g., A = 1.11001 x 2</a:t>
            </a:r>
            <a:r>
              <a:rPr lang="en-US" sz="2800" baseline="30000" dirty="0">
                <a:latin typeface="Calibri" charset="0"/>
              </a:rPr>
              <a:t>3=10-7</a:t>
            </a:r>
            <a:r>
              <a:rPr lang="en-US" sz="2800" dirty="0">
                <a:latin typeface="Calibri" charset="0"/>
              </a:rPr>
              <a:t>, B = 1.10010 x 2</a:t>
            </a:r>
            <a:r>
              <a:rPr lang="en-US" sz="2800" baseline="30000" dirty="0">
                <a:latin typeface="Calibri" charset="0"/>
              </a:rPr>
              <a:t>1=8-7</a:t>
            </a:r>
          </a:p>
          <a:p>
            <a:pPr lvl="1" eaLnBrk="1" hangingPunct="1"/>
            <a:r>
              <a:rPr lang="pt-BR" sz="2400" dirty="0">
                <a:latin typeface="Calibri" charset="0"/>
              </a:rPr>
              <a:t>(-1)</a:t>
            </a:r>
            <a:r>
              <a:rPr lang="pt-BR" sz="2400" baseline="30000" dirty="0">
                <a:latin typeface="Calibri" charset="0"/>
              </a:rPr>
              <a:t>S</a:t>
            </a:r>
            <a:r>
              <a:rPr lang="pt-BR" sz="2400" dirty="0">
                <a:latin typeface="Calibri" charset="0"/>
              </a:rPr>
              <a:t> </a:t>
            </a:r>
            <a:r>
              <a:rPr lang="pt-BR" sz="2400" dirty="0" err="1">
                <a:latin typeface="Calibri" charset="0"/>
              </a:rPr>
              <a:t>x</a:t>
            </a:r>
            <a:r>
              <a:rPr lang="pt-BR" sz="2400" dirty="0">
                <a:latin typeface="Calibri" charset="0"/>
              </a:rPr>
              <a:t> 1.F x 2</a:t>
            </a:r>
            <a:r>
              <a:rPr lang="pt-BR" sz="2400" baseline="30000" dirty="0">
                <a:latin typeface="Calibri" charset="0"/>
              </a:rPr>
              <a:t>(E – 7)</a:t>
            </a:r>
            <a:endParaRPr lang="en-US" sz="2400" baseline="30000" dirty="0">
              <a:latin typeface="Calibri" charset="0"/>
            </a:endParaRPr>
          </a:p>
          <a:p>
            <a:pPr lvl="1" eaLnBrk="1" hangingPunct="1"/>
            <a:r>
              <a:rPr lang="en-US" sz="2400" b="1" dirty="0">
                <a:solidFill>
                  <a:schemeClr val="accent4"/>
                </a:solidFill>
                <a:latin typeface="Calibri" charset="0"/>
              </a:rPr>
              <a:t>Guard</a:t>
            </a:r>
            <a:r>
              <a:rPr lang="en-US" sz="2400" dirty="0">
                <a:latin typeface="Calibri" charset="0"/>
              </a:rPr>
              <a:t> bit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7577C52F-68B1-5744-BCD9-604D9E103D14}" type="slidenum">
              <a:rPr lang="en-US" sz="2400"/>
              <a:pPr lvl="1"/>
              <a:t>18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417CCABE-7CE3-4DCD-B147-9EF58348BDB7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82803320"/>
              </p:ext>
            </p:extLst>
          </p:nvPr>
        </p:nvGraphicFramePr>
        <p:xfrm>
          <a:off x="228600" y="3352800"/>
          <a:ext cx="8763000" cy="255998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57896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608249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020849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840350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90616177"/>
                    </a:ext>
                  </a:extLst>
                </a:gridCol>
              </a:tblGrid>
              <a:tr h="511997"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 × B = P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8236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37315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10.1100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7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00010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1.01100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5=12-7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1.0110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5=12-7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2113361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Multiplication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1143001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e.g., A = 1.01001 x 2</a:t>
            </a:r>
            <a:r>
              <a:rPr lang="en-US" sz="2800" baseline="30000" dirty="0">
                <a:latin typeface="Calibri" charset="0"/>
              </a:rPr>
              <a:t>3=10-7</a:t>
            </a:r>
            <a:r>
              <a:rPr lang="en-US" sz="2800" dirty="0">
                <a:latin typeface="Calibri" charset="0"/>
              </a:rPr>
              <a:t>, B = 1.10001 x 2</a:t>
            </a:r>
            <a:r>
              <a:rPr lang="en-US" sz="2800" baseline="30000" dirty="0">
                <a:latin typeface="Calibri" charset="0"/>
              </a:rPr>
              <a:t>1=8-7</a:t>
            </a:r>
          </a:p>
          <a:p>
            <a:pPr lvl="1" eaLnBrk="1" hangingPunct="1"/>
            <a:r>
              <a:rPr lang="pt-BR" sz="2400" dirty="0">
                <a:latin typeface="Calibri" charset="0"/>
              </a:rPr>
              <a:t>(-1)</a:t>
            </a:r>
            <a:r>
              <a:rPr lang="pt-BR" sz="2400" baseline="30000" dirty="0">
                <a:latin typeface="Calibri" charset="0"/>
              </a:rPr>
              <a:t>S</a:t>
            </a:r>
            <a:r>
              <a:rPr lang="pt-BR" sz="2400" dirty="0">
                <a:latin typeface="Calibri" charset="0"/>
              </a:rPr>
              <a:t> </a:t>
            </a:r>
            <a:r>
              <a:rPr lang="pt-BR" sz="2400" dirty="0" err="1">
                <a:latin typeface="Calibri" charset="0"/>
              </a:rPr>
              <a:t>x</a:t>
            </a:r>
            <a:r>
              <a:rPr lang="pt-BR" sz="2400" dirty="0">
                <a:latin typeface="Calibri" charset="0"/>
              </a:rPr>
              <a:t> 1.F x 2</a:t>
            </a:r>
            <a:r>
              <a:rPr lang="pt-BR" sz="2400" baseline="30000" dirty="0">
                <a:latin typeface="Calibri" charset="0"/>
              </a:rPr>
              <a:t>(E – 7)</a:t>
            </a:r>
            <a:endParaRPr lang="en-US" sz="2400" baseline="30000" dirty="0">
              <a:latin typeface="Calibri" charset="0"/>
            </a:endParaRPr>
          </a:p>
          <a:p>
            <a:pPr lvl="1" eaLnBrk="1" hangingPunct="1"/>
            <a:r>
              <a:rPr lang="en-US" sz="2400" b="1" dirty="0">
                <a:solidFill>
                  <a:schemeClr val="accent4"/>
                </a:solidFill>
                <a:latin typeface="Calibri" charset="0"/>
              </a:rPr>
              <a:t>Guard</a:t>
            </a:r>
            <a:r>
              <a:rPr lang="en-US" sz="2400" dirty="0">
                <a:latin typeface="Calibri" charset="0"/>
              </a:rPr>
              <a:t> bit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7577C52F-68B1-5744-BCD9-604D9E103D14}" type="slidenum">
              <a:rPr lang="en-US" sz="2400"/>
              <a:pPr lvl="1"/>
              <a:t>19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417CCABE-7CE3-4DCD-B147-9EF58348BDB7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750654546"/>
              </p:ext>
            </p:extLst>
          </p:nvPr>
        </p:nvGraphicFramePr>
        <p:xfrm>
          <a:off x="228600" y="3352800"/>
          <a:ext cx="8763000" cy="255998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57896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608249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020849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840350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90616177"/>
                    </a:ext>
                  </a:extLst>
                </a:gridCol>
              </a:tblGrid>
              <a:tr h="511997"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 × B = P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8236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37315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1.01001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11000</a:t>
                      </a:r>
                      <a:endParaRPr kumimoji="0" lang="en-US" sz="1700" b="1" i="0" u="none" strike="sng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Group 39">
            <a:extLst>
              <a:ext uri="{FF2B5EF4-FFF2-40B4-BE49-F238E27FC236}">
                <a16:creationId xmlns:a16="http://schemas.microsoft.com/office/drawing/2014/main" id="{7748F6E9-982B-4DD1-B0C8-B3F4AA642D88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28600" y="3352800"/>
          <a:ext cx="8763000" cy="255998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57896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608249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020849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840350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90616177"/>
                    </a:ext>
                  </a:extLst>
                </a:gridCol>
              </a:tblGrid>
              <a:tr h="511997"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 × B = P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8236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37315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1.01001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11000</a:t>
                      </a:r>
                      <a:endParaRPr kumimoji="0" lang="en-US" sz="1700" b="1" i="0" u="none" strike="sng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9D97641-1DB5-4352-B288-B5CE8346F99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267200" y="5867400"/>
            <a:ext cx="4270794" cy="36512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rounding error! (no bits left to round with)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63666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Rounding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pPr eaLnBrk="1" hangingPunct="1"/>
            <a:r>
              <a:rPr lang="en-US" sz="2800" i="1" dirty="0">
                <a:latin typeface="Calibri" charset="0"/>
              </a:rPr>
              <a:t>Round</a:t>
            </a:r>
            <a:r>
              <a:rPr lang="en-US" sz="2800" dirty="0">
                <a:latin typeface="Calibri" charset="0"/>
              </a:rPr>
              <a:t> bit: Extra guard bit for FP multiplication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Multiplication of significands may result in a leading 0 bit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Thus the guard bit can end up as the least significant bit of F</a:t>
            </a:r>
            <a:r>
              <a:rPr lang="en-US" sz="2400" baseline="-25000" dirty="0">
                <a:latin typeface="Calibri" charset="0"/>
              </a:rPr>
              <a:t>P</a:t>
            </a:r>
          </a:p>
          <a:p>
            <a:pPr eaLnBrk="1" hangingPunct="1"/>
            <a:r>
              <a:rPr lang="en-US" sz="2800" i="1" dirty="0">
                <a:latin typeface="Calibri" charset="0"/>
              </a:rPr>
              <a:t>Sticky</a:t>
            </a:r>
            <a:r>
              <a:rPr lang="en-US" sz="2800" dirty="0">
                <a:latin typeface="Calibri" charset="0"/>
              </a:rPr>
              <a:t> bit: Final guard bit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Gets set to 1 if any bits that are shifted right during normalization are 1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Effectively, logical OR of all dropped bits</a:t>
            </a:r>
          </a:p>
          <a:p>
            <a:pPr lvl="1" eaLnBrk="1" hangingPunct="1"/>
            <a:r>
              <a:rPr lang="en-US" sz="2400" dirty="0">
                <a:latin typeface="Calibri" charset="0"/>
              </a:rPr>
              <a:t>Differentiates between 1.1 and 1.100000000001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7577C52F-68B1-5744-BCD9-604D9E103D14}" type="slidenum">
              <a:rPr lang="en-US" sz="2400"/>
              <a:pPr lvl="1"/>
              <a:t>20</a:t>
            </a:fld>
            <a:endParaRPr lang="en-US" sz="2400">
              <a:latin typeface="Times New Roman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58048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FP Rounding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1143001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e.g., A = 1.01001 x 2</a:t>
            </a:r>
            <a:r>
              <a:rPr lang="en-US" sz="2800" baseline="30000" dirty="0">
                <a:latin typeface="Calibri" charset="0"/>
              </a:rPr>
              <a:t>3=10-7</a:t>
            </a:r>
            <a:r>
              <a:rPr lang="en-US" sz="2800" dirty="0">
                <a:latin typeface="Calibri" charset="0"/>
              </a:rPr>
              <a:t>, B = 1.10001 x 2</a:t>
            </a:r>
            <a:r>
              <a:rPr lang="en-US" sz="2800" baseline="30000" dirty="0">
                <a:latin typeface="Calibri" charset="0"/>
              </a:rPr>
              <a:t>1=8-7</a:t>
            </a:r>
          </a:p>
          <a:p>
            <a:pPr lvl="1" eaLnBrk="1" hangingPunct="1"/>
            <a:r>
              <a:rPr lang="pt-BR" sz="2400" dirty="0">
                <a:latin typeface="Calibri" charset="0"/>
              </a:rPr>
              <a:t>(-1)</a:t>
            </a:r>
            <a:r>
              <a:rPr lang="pt-BR" sz="2400" baseline="30000" dirty="0">
                <a:latin typeface="Calibri" charset="0"/>
              </a:rPr>
              <a:t>S</a:t>
            </a:r>
            <a:r>
              <a:rPr lang="pt-BR" sz="2400" dirty="0">
                <a:latin typeface="Calibri" charset="0"/>
              </a:rPr>
              <a:t> </a:t>
            </a:r>
            <a:r>
              <a:rPr lang="pt-BR" sz="2400" dirty="0" err="1">
                <a:latin typeface="Calibri" charset="0"/>
              </a:rPr>
              <a:t>x</a:t>
            </a:r>
            <a:r>
              <a:rPr lang="pt-BR" sz="2400" dirty="0">
                <a:latin typeface="Calibri" charset="0"/>
              </a:rPr>
              <a:t> 1.F x 2</a:t>
            </a:r>
            <a:r>
              <a:rPr lang="pt-BR" sz="2400" baseline="30000" dirty="0">
                <a:latin typeface="Calibri" charset="0"/>
              </a:rPr>
              <a:t>(E – 7)</a:t>
            </a:r>
            <a:endParaRPr lang="en-US" sz="2400" baseline="30000" dirty="0">
              <a:latin typeface="Calibri" charset="0"/>
            </a:endParaRPr>
          </a:p>
          <a:p>
            <a:pPr lvl="1" eaLnBrk="1" hangingPunct="1"/>
            <a:r>
              <a:rPr lang="en-US" sz="2400" b="1" dirty="0">
                <a:solidFill>
                  <a:schemeClr val="accent4"/>
                </a:solidFill>
                <a:latin typeface="Calibri" charset="0"/>
              </a:rPr>
              <a:t>Guard</a:t>
            </a:r>
            <a:r>
              <a:rPr lang="en-US" sz="2400" dirty="0">
                <a:latin typeface="Calibri" charset="0"/>
              </a:rPr>
              <a:t> bit,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alibri" charset="0"/>
              </a:rPr>
              <a:t>round</a:t>
            </a:r>
            <a:r>
              <a:rPr lang="en-US" sz="2400" dirty="0">
                <a:latin typeface="Calibri" charset="0"/>
              </a:rPr>
              <a:t> bit,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libri" charset="0"/>
              </a:rPr>
              <a:t>sticky</a:t>
            </a:r>
            <a:r>
              <a:rPr lang="en-US" sz="2400" dirty="0">
                <a:latin typeface="Calibri" charset="0"/>
              </a:rPr>
              <a:t> bit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7577C52F-68B1-5744-BCD9-604D9E103D14}" type="slidenum">
              <a:rPr lang="en-US" sz="2400"/>
              <a:pPr lvl="1"/>
              <a:t>21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417CCABE-7CE3-4DCD-B147-9EF58348BDB7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28600" y="3352800"/>
          <a:ext cx="8763000" cy="307198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57896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608249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020849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840350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90616177"/>
                    </a:ext>
                  </a:extLst>
                </a:gridCol>
              </a:tblGrid>
              <a:tr h="511997"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 × B = P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8236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37315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1.01001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7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  <a:endParaRPr kumimoji="0" lang="en-US" sz="1700" b="1" i="0" u="none" strike="sng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Sticky bit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958392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1.1111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8114028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Exercise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1143001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e.g., A = 1.11001 x 2</a:t>
            </a:r>
            <a:r>
              <a:rPr lang="en-US" sz="2800" baseline="30000" dirty="0">
                <a:latin typeface="Calibri" charset="0"/>
              </a:rPr>
              <a:t>3=10-7</a:t>
            </a:r>
            <a:r>
              <a:rPr lang="en-US" sz="2800" dirty="0">
                <a:latin typeface="Calibri" charset="0"/>
              </a:rPr>
              <a:t>, B = 1.10010 x 2</a:t>
            </a:r>
            <a:r>
              <a:rPr lang="en-US" sz="2800" baseline="30000" dirty="0">
                <a:latin typeface="Calibri" charset="0"/>
              </a:rPr>
              <a:t>1=8-7</a:t>
            </a:r>
          </a:p>
          <a:p>
            <a:pPr lvl="1" eaLnBrk="1" hangingPunct="1"/>
            <a:r>
              <a:rPr lang="pt-BR" sz="2400" dirty="0">
                <a:latin typeface="Calibri" charset="0"/>
              </a:rPr>
              <a:t>(-1)</a:t>
            </a:r>
            <a:r>
              <a:rPr lang="pt-BR" sz="2400" baseline="30000" dirty="0">
                <a:latin typeface="Calibri" charset="0"/>
              </a:rPr>
              <a:t>S</a:t>
            </a:r>
            <a:r>
              <a:rPr lang="pt-BR" sz="2400" dirty="0">
                <a:latin typeface="Calibri" charset="0"/>
              </a:rPr>
              <a:t> </a:t>
            </a:r>
            <a:r>
              <a:rPr lang="pt-BR" sz="2400" dirty="0" err="1">
                <a:latin typeface="Calibri" charset="0"/>
              </a:rPr>
              <a:t>x</a:t>
            </a:r>
            <a:r>
              <a:rPr lang="pt-BR" sz="2400" dirty="0">
                <a:latin typeface="Calibri" charset="0"/>
              </a:rPr>
              <a:t> 1.F x 2</a:t>
            </a:r>
            <a:r>
              <a:rPr lang="pt-BR" sz="2400" baseline="30000" dirty="0">
                <a:latin typeface="Calibri" charset="0"/>
              </a:rPr>
              <a:t>(E – 7)</a:t>
            </a:r>
            <a:endParaRPr lang="en-US" sz="2400" baseline="30000" dirty="0">
              <a:latin typeface="Calibri" charset="0"/>
            </a:endParaRPr>
          </a:p>
          <a:p>
            <a:pPr lvl="1" eaLnBrk="1" hangingPunct="1"/>
            <a:r>
              <a:rPr lang="en-US" sz="2400" b="1" dirty="0">
                <a:solidFill>
                  <a:schemeClr val="accent4"/>
                </a:solidFill>
                <a:latin typeface="Calibri" charset="0"/>
              </a:rPr>
              <a:t>Guard</a:t>
            </a:r>
            <a:r>
              <a:rPr lang="en-US" sz="2400" dirty="0">
                <a:latin typeface="Calibri" charset="0"/>
              </a:rPr>
              <a:t> bit,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alibri" charset="0"/>
              </a:rPr>
              <a:t>round</a:t>
            </a:r>
            <a:r>
              <a:rPr lang="en-US" sz="2400" dirty="0">
                <a:latin typeface="Calibri" charset="0"/>
              </a:rPr>
              <a:t> bit,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libri" charset="0"/>
              </a:rPr>
              <a:t>sticky</a:t>
            </a:r>
            <a:r>
              <a:rPr lang="en-US" sz="2400" dirty="0">
                <a:latin typeface="Calibri" charset="0"/>
              </a:rPr>
              <a:t> bit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7577C52F-68B1-5744-BCD9-604D9E103D14}" type="slidenum">
              <a:rPr lang="en-US" sz="2400"/>
              <a:pPr lvl="1"/>
              <a:t>22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417CCABE-7CE3-4DCD-B147-9EF58348BDB7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81986576"/>
              </p:ext>
            </p:extLst>
          </p:nvPr>
        </p:nvGraphicFramePr>
        <p:xfrm>
          <a:off x="228600" y="3352800"/>
          <a:ext cx="8763000" cy="307198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57896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608249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020849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840350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90616177"/>
                    </a:ext>
                  </a:extLst>
                </a:gridCol>
              </a:tblGrid>
              <a:tr h="511997"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 × B = P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8236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37315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Sticky bit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958392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7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714716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Exercise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1143001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e.g., A = 1.11001 x 2</a:t>
            </a:r>
            <a:r>
              <a:rPr lang="en-US" sz="2800" baseline="30000" dirty="0">
                <a:latin typeface="Calibri" charset="0"/>
              </a:rPr>
              <a:t>3=10-7</a:t>
            </a:r>
            <a:r>
              <a:rPr lang="en-US" sz="2800" dirty="0">
                <a:latin typeface="Calibri" charset="0"/>
              </a:rPr>
              <a:t>, B = 1.10010 x 2</a:t>
            </a:r>
            <a:r>
              <a:rPr lang="en-US" sz="2800" baseline="30000" dirty="0">
                <a:latin typeface="Calibri" charset="0"/>
              </a:rPr>
              <a:t>1=8-7</a:t>
            </a:r>
          </a:p>
          <a:p>
            <a:pPr lvl="1" eaLnBrk="1" hangingPunct="1"/>
            <a:r>
              <a:rPr lang="pt-BR" sz="2400" dirty="0">
                <a:latin typeface="Calibri" charset="0"/>
              </a:rPr>
              <a:t>(-1)</a:t>
            </a:r>
            <a:r>
              <a:rPr lang="pt-BR" sz="2400" baseline="30000" dirty="0">
                <a:latin typeface="Calibri" charset="0"/>
              </a:rPr>
              <a:t>S</a:t>
            </a:r>
            <a:r>
              <a:rPr lang="pt-BR" sz="2400" dirty="0">
                <a:latin typeface="Calibri" charset="0"/>
              </a:rPr>
              <a:t> </a:t>
            </a:r>
            <a:r>
              <a:rPr lang="pt-BR" sz="2400" dirty="0" err="1">
                <a:latin typeface="Calibri" charset="0"/>
              </a:rPr>
              <a:t>x</a:t>
            </a:r>
            <a:r>
              <a:rPr lang="pt-BR" sz="2400" dirty="0">
                <a:latin typeface="Calibri" charset="0"/>
              </a:rPr>
              <a:t> 1.F x 2</a:t>
            </a:r>
            <a:r>
              <a:rPr lang="pt-BR" sz="2400" baseline="30000" dirty="0">
                <a:latin typeface="Calibri" charset="0"/>
              </a:rPr>
              <a:t>(E – 7)</a:t>
            </a:r>
            <a:endParaRPr lang="en-US" sz="2400" baseline="30000" dirty="0">
              <a:latin typeface="Calibri" charset="0"/>
            </a:endParaRPr>
          </a:p>
          <a:p>
            <a:pPr lvl="1" eaLnBrk="1" hangingPunct="1"/>
            <a:r>
              <a:rPr lang="en-US" sz="2400" b="1" dirty="0">
                <a:solidFill>
                  <a:schemeClr val="accent4"/>
                </a:solidFill>
                <a:latin typeface="Calibri" charset="0"/>
              </a:rPr>
              <a:t>Guard</a:t>
            </a:r>
            <a:r>
              <a:rPr lang="en-US" sz="2400" dirty="0">
                <a:latin typeface="Calibri" charset="0"/>
              </a:rPr>
              <a:t> bit,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alibri" charset="0"/>
              </a:rPr>
              <a:t>round</a:t>
            </a:r>
            <a:r>
              <a:rPr lang="en-US" sz="2400" dirty="0">
                <a:latin typeface="Calibri" charset="0"/>
              </a:rPr>
              <a:t> bit,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libri" charset="0"/>
              </a:rPr>
              <a:t>sticky</a:t>
            </a:r>
            <a:r>
              <a:rPr lang="en-US" sz="2400" dirty="0">
                <a:latin typeface="Calibri" charset="0"/>
              </a:rPr>
              <a:t> bit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457200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lvl="1"/>
            <a:fld id="{7577C52F-68B1-5744-BCD9-604D9E103D14}" type="slidenum">
              <a:rPr lang="en-US" sz="2400"/>
              <a:pPr lvl="1"/>
              <a:t>23</a:t>
            </a:fld>
            <a:endParaRPr lang="en-US" sz="2400">
              <a:latin typeface="Times New Roman" charset="0"/>
            </a:endParaRPr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417CCABE-7CE3-4DCD-B147-9EF58348BDB7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28600" y="3352800"/>
          <a:ext cx="8763000" cy="307198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57896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608249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020849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840350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90616177"/>
                    </a:ext>
                  </a:extLst>
                </a:gridCol>
              </a:tblGrid>
              <a:tr h="511997"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 × B = P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82363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exponent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37315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1.11001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3=10-7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1.10010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1=8-7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10.1100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0010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Sticky bit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10.1100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4=11-7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958392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Normalize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1.01100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5=12-7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97"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Round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1.0110</a:t>
                      </a: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7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5=12-7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0909958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property id=&quot;20141&quot; value=&quot;ECE/CS 552 - Floating Point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FloatingPoint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0035&quot;&gt;&lt;property id=&quot;20148&quot; value=&quot;5&quot;/&gt;&lt;property id=&quot;20300&quot; value=&quot;Slide 2 - &amp;quot;Forecast&amp;quot;&quot;/&gt;&lt;property id=&quot;20307&quot; value=&quot;326&quot;/&gt;&lt;property id=&quot;20309&quot; value=&quot;-1&quot;/&gt;&lt;/object&gt;&lt;object type=&quot;3&quot; unique_id=&quot;10037&quot;&gt;&lt;property id=&quot;20148&quot; value=&quot;5&quot;/&gt;&lt;property id=&quot;20300&quot; value=&quot;Slide 7 - &amp;quot;Biased Exponent&amp;quot;&quot;/&gt;&lt;property id=&quot;20307&quot; value=&quot;328&quot;/&gt;&lt;property id=&quot;20309&quot; value=&quot;-1&quot;/&gt;&lt;/object&gt;&lt;object type=&quot;3&quot; unique_id=&quot;10038&quot;&gt;&lt;property id=&quot;20148&quot; value=&quot;5&quot;/&gt;&lt;property id=&quot;20300&quot; value=&quot;Slide 8 - &amp;quot;Biased Exponent&amp;quot;&quot;/&gt;&lt;property id=&quot;20307&quot; value=&quot;329&quot;/&gt;&lt;property id=&quot;20309&quot; value=&quot;-1&quot;/&gt;&lt;/object&gt;&lt;object type=&quot;3&quot; unique_id=&quot;11456&quot;&gt;&lt;property id=&quot;20148&quot; value=&quot;5&quot;/&gt;&lt;property id=&quot;20300&quot; value=&quot;Slide 1 - &amp;quot;ECE/CS 552: Floating Point&amp;quot;&quot;/&gt;&lt;property id=&quot;20307&quot; value=&quot;346&quot;/&gt;&lt;property id=&quot;20309&quot; value=&quot;-1&quot;/&gt;&lt;/object&gt;&lt;object type=&quot;3&quot; unique_id=&quot;21083&quot;&gt;&lt;property id=&quot;20148&quot; value=&quot;5&quot;/&gt;&lt;property id=&quot;20300&quot; value=&quot;Slide 4 - &amp;quot;Floating Point&amp;quot;&quot;/&gt;&lt;property id=&quot;20307&quot; value=&quot;347&quot;/&gt;&lt;property id=&quot;20309&quot; value=&quot;-1&quot;/&gt;&lt;/object&gt;&lt;object type=&quot;3&quot; unique_id=&quot;21089&quot;&gt;&lt;property id=&quot;20148&quot; value=&quot;5&quot;/&gt;&lt;property id=&quot;20300&quot; value=&quot;Slide 10 - &amp;quot;FP Overflow/Underflow&amp;quot;&quot;/&gt;&lt;property id=&quot;20307&quot; value=&quot;737&quot;/&gt;&lt;property id=&quot;20309&quot; value=&quot;-1&quot;/&gt;&lt;/object&gt;&lt;object type=&quot;3&quot; unique_id=&quot;21090&quot;&gt;&lt;property id=&quot;20148&quot; value=&quot;5&quot;/&gt;&lt;property id=&quot;20300&quot; value=&quot;Slide 9 - &amp;quot;IEEE754 Special Cases&amp;quot;&quot;/&gt;&lt;property id=&quot;20307&quot; value=&quot;738&quot;/&gt;&lt;property id=&quot;20309&quot; value=&quot;-1&quot;/&gt;&lt;/object&gt;&lt;object type=&quot;3&quot; unique_id=&quot;21093&quot;&gt;&lt;property id=&quot;20148&quot; value=&quot;5&quot;/&gt;&lt;property id=&quot;20300&quot; value=&quot;Slide 13 - &amp;quot;FP Adder&amp;quot;&quot;/&gt;&lt;property id=&quot;20307&quot; value=&quot;741&quot;/&gt;&lt;property id=&quot;20309&quot; value=&quot;-1&quot;/&gt;&lt;/object&gt;&lt;object type=&quot;3&quot; unique_id=&quot;21094&quot;&gt;&lt;property id=&quot;20148&quot; value=&quot;5&quot;/&gt;&lt;property id=&quot;20300&quot; value=&quot;Slide 16 - &amp;quot;FP Multiplication&amp;quot;&quot;/&gt;&lt;property id=&quot;20307&quot; value=&quot;742&quot;/&gt;&lt;property id=&quot;20309&quot; value=&quot;-1&quot;/&gt;&lt;/object&gt;&lt;object type=&quot;3&quot; unique_id=&quot;21095&quot;&gt;&lt;property id=&quot;20148&quot; value=&quot;5&quot;/&gt;&lt;property id=&quot;20300&quot; value=&quot;Slide 17 - &amp;quot;FP Multiplication&amp;quot;&quot;/&gt;&lt;property id=&quot;20307&quot; value=&quot;743&quot;/&gt;&lt;property id=&quot;20309&quot; value=&quot;-1&quot;/&gt;&lt;/object&gt;&lt;object type=&quot;3&quot; unique_id=&quot;21624&quot;&gt;&lt;property id=&quot;20148&quot; value=&quot;5&quot;/&gt;&lt;property id=&quot;20300&quot; value=&quot;Slide 5 - &amp;quot;Floating Point&amp;quot;&quot;/&gt;&lt;property id=&quot;20307&quot; value=&quot;744&quot;/&gt;&lt;property id=&quot;20309&quot; value=&quot;-1&quot;/&gt;&lt;/object&gt;&lt;object type=&quot;3&quot; unique_id=&quot;21950&quot;&gt;&lt;property id=&quot;20148&quot; value=&quot;5&quot;/&gt;&lt;property id=&quot;20300&quot; value=&quot;Slide 6 - &amp;quot;Normalization&amp;quot;&quot;/&gt;&lt;property id=&quot;20307&quot; value=&quot;745&quot;/&gt;&lt;property id=&quot;20309&quot; value=&quot;-1&quot;/&gt;&lt;/object&gt;&lt;object type=&quot;3&quot; unique_id=&quot;22425&quot;&gt;&lt;property id=&quot;20148&quot; value=&quot;5&quot;/&gt;&lt;property id=&quot;20300&quot; value=&quot;Slide 11 - &amp;quot;FP Addition&amp;quot;&quot;/&gt;&lt;property id=&quot;20307&quot; value=&quot;746&quot;/&gt;&lt;property id=&quot;20309&quot; value=&quot;-1&quot;/&gt;&lt;/object&gt;&lt;object type=&quot;3&quot; unique_id=&quot;22657&quot;&gt;&lt;property id=&quot;20148&quot; value=&quot;5&quot;/&gt;&lt;property id=&quot;20300&quot; value=&quot;Slide 12 - &amp;quot;FP Addition&amp;quot;&quot;/&gt;&lt;property id=&quot;20307&quot; value=&quot;747&quot;/&gt;&lt;property id=&quot;20309&quot; value=&quot;-1&quot;/&gt;&lt;/object&gt;&lt;object type=&quot;3&quot; unique_id=&quot;22892&quot;&gt;&lt;property id=&quot;20148&quot; value=&quot;5&quot;/&gt;&lt;property id=&quot;20300&quot; value=&quot;Slide 20 - &amp;quot;FP Rounding&amp;quot;&quot;/&gt;&lt;property id=&quot;20307&quot; value=&quot;748&quot;/&gt;&lt;property id=&quot;20309&quot; value=&quot;-1&quot;/&gt;&lt;/object&gt;&lt;object type=&quot;3&quot; unique_id=&quot;23025&quot;&gt;&lt;property id=&quot;20148&quot; value=&quot;5&quot;/&gt;&lt;property id=&quot;20300&quot; value=&quot;Slide 14 - &amp;quot;FP Rounding&amp;quot;&quot;/&gt;&lt;property id=&quot;20307&quot; value=&quot;750&quot;/&gt;&lt;property id=&quot;20309&quot; value=&quot;-1&quot;/&gt;&lt;/object&gt;&lt;object type=&quot;3&quot; unique_id=&quot;23243&quot;&gt;&lt;property id=&quot;20148&quot; value=&quot;5&quot;/&gt;&lt;property id=&quot;20300&quot; value=&quot;Slide 15 - &amp;quot;FP Rounding&amp;quot;&quot;/&gt;&lt;property id=&quot;20307&quot; value=&quot;751&quot;/&gt;&lt;property id=&quot;20309&quot; value=&quot;-1&quot;/&gt;&lt;/object&gt;&lt;object type=&quot;3&quot; unique_id=&quot;23674&quot;&gt;&lt;property id=&quot;20148&quot; value=&quot;5&quot;/&gt;&lt;property id=&quot;20300&quot; value=&quot;Slide 22 - &amp;quot;Exercise&amp;quot;&quot;/&gt;&lt;property id=&quot;20307&quot; value=&quot;753&quot;/&gt;&lt;property id=&quot;20309&quot; value=&quot;-1&quot;/&gt;&lt;/object&gt;&lt;object type=&quot;3&quot; unique_id=&quot;24131&quot;&gt;&lt;property id=&quot;20148&quot; value=&quot;5&quot;/&gt;&lt;property id=&quot;20300&quot; value=&quot;Slide 21 - &amp;quot;FP Rounding&amp;quot;&quot;/&gt;&lt;property id=&quot;20307&quot; value=&quot;756&quot;/&gt;&lt;property id=&quot;20309&quot; value=&quot;-1&quot;/&gt;&lt;/object&gt;&lt;object type=&quot;3&quot; unique_id=&quot;24262&quot;&gt;&lt;property id=&quot;20148&quot; value=&quot;5&quot;/&gt;&lt;property id=&quot;20300&quot; value=&quot;Slide 18 - &amp;quot;FP Multiplication&amp;quot;&quot;/&gt;&lt;property id=&quot;20307&quot; value=&quot;759&quot;/&gt;&lt;property id=&quot;20309&quot; value=&quot;-1&quot;/&gt;&lt;/object&gt;&lt;object type=&quot;3&quot; unique_id=&quot;24263&quot;&gt;&lt;property id=&quot;20148&quot; value=&quot;5&quot;/&gt;&lt;property id=&quot;20300&quot; value=&quot;Slide 19 - &amp;quot;FP Multiplication&amp;quot;&quot;/&gt;&lt;property id=&quot;20307&quot; value=&quot;758&quot;/&gt;&lt;property id=&quot;20309&quot; value=&quot;-1&quot;/&gt;&lt;/object&gt;&lt;object type=&quot;3&quot; unique_id=&quot;24454&quot;&gt;&lt;property id=&quot;20148&quot; value=&quot;5&quot;/&gt;&lt;property id=&quot;20300&quot; value=&quot;Slide 23 - &amp;quot;Exercise&amp;quot;&quot;/&gt;&lt;property id=&quot;20307&quot; value=&quot;760&quot;/&gt;&lt;property id=&quot;20309&quot; value=&quot;-1&quot;/&gt;&lt;/object&gt;&lt;object type=&quot;3&quot; unique_id=&quot;24542&quot;&gt;&lt;property id=&quot;20148&quot; value=&quot;5&quot;/&gt;&lt;property id=&quot;20300&quot; value=&quot;Slide 3 - &amp;quot;Floating Point&amp;quot;&quot;/&gt;&lt;property id=&quot;20307&quot; value=&quot;761&quot;/&gt;&lt;property id=&quot;20309&quot; value=&quot;-1&quot;/&gt;&lt;/object&gt;&lt;/object&gt;&lt;object type=&quot;10&quot; unique_id=&quot;13261&quot;&gt;&lt;object type=&quot;11&quot; unique_id=&quot;13262&quot;&gt;&lt;property id=&quot;20180&quot; value=&quot;0&quot;/&gt;&lt;property id=&quot;20181&quot; value=&quot;1&quot;/&gt;&lt;property id=&quot;20183&quot; value=&quot;1&quot;/&gt;&lt;/object&gt;&lt;object type=&quot;12&quot; unique_id=&quot;25694&quot;&gt;&lt;/object&gt;&lt;/object&gt;&lt;object type=&quot;4&quot; unique_id=&quot;13263&quot;&gt;&lt;/object&gt;&lt;/object&gt;&lt;/database&gt;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442097947,C:\Users\sanmi\GoogleDrive\UWMdrive\Courses\ECE552\ece552-lec21_FloatingPoint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53A8688-368E-4AD6-84CD-1454F950D4A8}_1.png&quot;/&gt;&lt;left val=&quot;35&quot;/&gt;&lt;top val=&quot;201&quot;/&gt;&lt;width val=&quot;648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4BE3E68-7225-46DA-91C0-ADEB785C2ED8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442097947,C:\Users\sanmi\GoogleDrive\UWMdrive\Courses\ECE552\ece552-lec21_FloatingPoint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1B5CE7E-3DBA-4BC7-A3A8-05C95C721D01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42F0A1C0-60A4-40A9-A781-DEE909AB494C}_2.png&quot;/&gt;&lt;left val=&quot;24&quot;/&gt;&lt;top val=&quot;112&quot;/&gt;&lt;width val=&quot;659&quot;/&gt;&lt;height val=&quot;283&quot;/&gt;&lt;hasText val=&quot;1&quot;/&gt;&lt;/Image&gt;&lt;/ThreeDShapeInfo&gt;"/>
  <p:tag name="PRESENTER_SHAPETEXTINFO" val="&lt;ShapeTextInfo&gt;&lt;TableIndex row=&quot;-1&quot; col=&quot;-1&quot;&gt;&lt;linesCount val=&quot;6&quot;/&gt;&lt;lineCharCount val=&quot;30&quot;/&gt;&lt;lineCharCount val=&quot;14&quot;/&gt;&lt;lineCharCount val=&quot;16&quot;/&gt;&lt;lineCharCount val=&quot;12&quot;/&gt;&lt;lineCharCount val=&quot;18&quot;/&gt;&lt;lineCharCount val=&quot;11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7DF9328C-C793-46A1-88F4-CB4079C9DE3F}_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442097947,C:\Users\sanmi\GoogleDrive\UWMdrive\Courses\ECE552\ece552-lec21_FloatingPoint_pptx\Media.ppcx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7950347-DE7A-4866-B253-DC51601005F5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61795747-771F-4AF2-B3BE-2730EA51D91C}_3.png&quot;/&gt;&lt;left val=&quot;24&quot;/&gt;&lt;top val=&quot;112&quot;/&gt;&lt;width val=&quot;683&quot;/&gt;&lt;height val=&quot;416&quot;/&gt;&lt;hasText val=&quot;1&quot;/&gt;&lt;/Image&gt;&lt;/ThreeDShapeInfo&gt;"/>
  <p:tag name="PRESENTER_SHAPETEXTINFO" val="&lt;ShapeTextInfo&gt;&lt;TableIndex row=&quot;-1&quot; col=&quot;-1&quot;&gt;&lt;linesCount val=&quot;11&quot;/&gt;&lt;lineCharCount val=&quot;35&quot;/&gt;&lt;lineCharCount val=&quot;49&quot;/&gt;&lt;lineCharCount val=&quot;43&quot;/&gt;&lt;lineCharCount val=&quot;10&quot;/&gt;&lt;lineCharCount val=&quot;48&quot;/&gt;&lt;lineCharCount val=&quot;14&quot;/&gt;&lt;lineCharCount val=&quot;48&quot;/&gt;&lt;lineCharCount val=&quot;44&quot;/&gt;&lt;lineCharCount val=&quot;23&quot;/&gt;&lt;lineCharCount val=&quot;26&quot;/&gt;&lt;lineCharCount val=&quot;1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DB438FA-10E7-467A-862E-AE7FADAC1183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442097947,C:\Users\sanmi\GoogleDrive\UWMdrive\Courses\ECE552\ece552-lec21_FloatingPoint_pptx\Media.ppcx"/>
  <p:tag name="TIMING" val="|50.2|14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21B8A99-FE4C-4B26-B5B5-215795939A5E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ADDC536-5824-449A-9B6A-C17800B4E843}_4.png&quot;/&gt;&lt;left val=&quot;42&quot;/&gt;&lt;top val=&quot;113&quot;/&gt;&lt;width val=&quot;623&quot;/&gt;&lt;height val=&quot;3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45&quot;/&gt;&lt;lineCharCount val=&quot;19&quot;/&gt;&lt;lineCharCount val=&quot;22&quot;/&gt;&lt;lineCharCount val=&quot;46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A9C9208-006B-49BB-AFF9-284BFBCB68EC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4D1AD33-4046-40E1-A0D7-2BBAF2C1CE30}_4.png&quot;/&gt;&lt;left val=&quot;395&quot;/&gt;&lt;top val=&quot;122&quot;/&gt;&lt;width val=&quot;229&quot;/&gt;&lt;height val=&quot;51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46EAE8E-E320-41BE-AE7A-8CF13591C5A4}_4.png&quot;/&gt;&lt;left val=&quot;119&quot;/&gt;&lt;top val=&quot;345&quot;/&gt;&lt;width val=&quot;482&quot;/&gt;&lt;height val=&quot;68&quot;/&gt;&lt;hasText val=&quot;1&quot;/&gt;&lt;/Image&gt;&lt;/ThreeDShapeInfo&gt;"/>
  <p:tag name="PRESENTER_SHAPETEXTINFO" val="&lt;ShapeTextInfo&gt;&lt;TableIndex row=&quot;1&quot; col=&quot;1&quot;&gt;&lt;linesCount val=&quot;1&quot;/&gt;&lt;lineCharCount val=&quot;8&quot;/&gt;&lt;/TableIndex&gt;&lt;TableIndex row=&quot;1&quot; col=&quot;2&quot;&gt;&lt;linesCount val=&quot;1&quot;/&gt;&lt;lineCharCount val=&quot;7&quot;/&gt;&lt;/TableIndex&gt;&lt;TableIndex row=&quot;1&quot; col=&quot;3&quot;&gt;&lt;linesCount val=&quot;1&quot;/&gt;&lt;lineCharCount val=&quot;15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5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736B4AD-7714-426C-8023-7AB8968FD97E}_4.png&quot;/&gt;&lt;left val=&quot;431&quot;/&gt;&lt;top val=&quot;440&quot;/&gt;&lt;width val=&quot;210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27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4C17EA9-8014-4AE6-A29F-70ACAEE99390}_4.png&quot;/&gt;&lt;left val=&quot;119&quot;/&gt;&lt;top val=&quot;443&quot;/&gt;&lt;width val=&quot;210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5&quot;/&gt;&lt;lineCharCount val=&quot;15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442097947,C:\Users\sanmi\GoogleDrive\UWMdrive\Courses\ECE552\ece552-lec21_FloatingPoint_pptx\Media.ppcx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B764CC8-5FF9-4B52-B8D6-CAD4A60152CE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3D98AB4-D4D2-430C-92FE-7297E70C1A6D}_5.png&quot;/&gt;&lt;left val=&quot;42&quot;/&gt;&lt;top val=&quot;113&quot;/&gt;&lt;width val=&quot;623&quot;/&gt;&lt;height val=&quot;366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5155313-D8C7-4154-9601-86AC5E8487B8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417C260-83AF-4879-A115-345EAA1EEE7C}_5.png&quot;/&gt;&lt;left val=&quot;54&quot;/&gt;&lt;top val=&quot;198&quot;/&gt;&lt;width val=&quot;596&quot;/&gt;&lt;height val=&quot;13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5&quot;/&gt;&lt;/TableIndex&gt;&lt;TableIndex row=&quot;2&quot; col=&quot;1&quot;&gt;&lt;linesCount val=&quot;1&quot;/&gt;&lt;lineCharCount val=&quot;25&quot;/&gt;&lt;/TableIndex&gt;&lt;TableIndex row=&quot;2&quot; col=&quot;2&quot;&gt;&lt;linesCount val=&quot;1&quot;/&gt;&lt;lineCharCount val=&quot;5&quot;/&gt;&lt;/TableIndex&gt;&lt;TableIndex row=&quot;2&quot; col=&quot;3&quot;&gt;&lt;linesCount val=&quot;1&quot;/&gt;&lt;lineCharCount val=&quot;6&quot;/&gt;&lt;/TableIndex&gt;&lt;TableIndex row=&quot;2&quot; col=&quot;4&quot;&gt;&lt;linesCount val=&quot;1&quot;/&gt;&lt;lineCharCount val=&quot;7&quot;/&gt;&lt;/TableIndex&gt;&lt;TableIndex row=&quot;3&quot; col=&quot;1&quot;&gt;&lt;linesCount val=&quot;1&quot;/&gt;&lt;lineCharCount val=&quot;25&quot;/&gt;&lt;/TableIndex&gt;&lt;TableIndex row=&quot;3&quot; col=&quot;2&quot;&gt;&lt;linesCount val=&quot;1&quot;/&gt;&lt;lineCharCount val=&quot;6&quot;/&gt;&lt;/TableIndex&gt;&lt;TableIndex row=&quot;3&quot; col=&quot;3&quot;&gt;&lt;linesCount val=&quot;1&quot;/&gt;&lt;lineCharCount val=&quot;6&quot;/&gt;&lt;/TableIndex&gt;&lt;TableIndex row=&quot;3&quot; col=&quot;4&quot;&gt;&lt;linesCount val=&quot;1&quot;/&gt;&lt;lineCharCount val=&quot;8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442097947,C:\Users\sanmi\GoogleDrive\UWMdrive\Courses\ECE552\ece552-lec21_FloatingPoint_pptx\Media.ppcx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A6630C9-51B3-4A20-99D9-C8C5FEBE44E8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2D388E5-CDD6-4C83-9FDD-30EB52860252}_6.png&quot;/&gt;&lt;left val=&quot;24&quot;/&gt;&lt;top val=&quot;112&quot;/&gt;&lt;width val=&quot;701&quot;/&gt;&lt;height val=&quot;409&quot;/&gt;&lt;hasText val=&quot;1&quot;/&gt;&lt;/Image&gt;&lt;/ThreeDShapeInfo&gt;"/>
  <p:tag name="PRESENTER_SHAPETEXTINFO" val="&lt;ShapeTextInfo&gt;&lt;TableIndex row=&quot;-1&quot; col=&quot;-1&quot;&gt;&lt;linesCount val=&quot;8&quot;/&gt;&lt;lineCharCount val=&quot;15&quot;/&gt;&lt;lineCharCount val=&quot;44&quot;/&gt;&lt;lineCharCount val=&quot;13&quot;/&gt;&lt;lineCharCount val=&quot;13&quot;/&gt;&lt;lineCharCount val=&quot;13&quot;/&gt;&lt;lineCharCount val=&quot;13&quot;/&gt;&lt;lineCharCount val=&quot;49&quot;/&gt;&lt;lineCharCount val=&quot;12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0F74895-BB61-40CE-92F9-20DDBF916BBA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442097947,C:\Users\sanmi\GoogleDrive\UWMdrive\Courses\ECE552\ece552-lec21_FloatingPoint_pptx\Media.ppcx"/>
  <p:tag name="TIMING" val="|40.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B0DDA79-EBFF-4102-8E35-4D0636777740}_7.png&quot;/&gt;&lt;left val=&quot;24&quot;/&gt;&lt;top val=&quot;112&quot;/&gt;&lt;width val=&quot;659&quot;/&gt;&lt;height val=&quot;370&quot;/&gt;&lt;hasText val=&quot;1&quot;/&gt;&lt;/Image&gt;&lt;/ThreeDShapeInfo&gt;"/>
  <p:tag name="PRESENTER_SHAPETEXTINFO" val="&lt;ShapeTextInfo&gt;&lt;TableIndex row=&quot;-1&quot; col=&quot;-1&quot;&gt;&lt;linesCount val=&quot;4&quot;/&gt;&lt;lineCharCount val=&quot;30&quot;/&gt;&lt;lineCharCount val=&quot;39&quot;/&gt;&lt;lineCharCount val=&quot;35&quot;/&gt;&lt;lineCharCount val=&quot;46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0AC32B5-CB8B-4E7C-B0B4-9CC6E4543E38}_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4CE9B2A3-123E-4E0F-9BA2-ECAC94A1ED43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F9080B65-4890-418C-9BAB-CAB2A22786DB}_7.png&quot;/&gt;&lt;left val=&quot;119&quot;/&gt;&lt;top val=&quot;393&quot;/&gt;&lt;width val=&quot;482&quot;/&gt;&lt;height val=&quot;68&quot;/&gt;&lt;hasText val=&quot;1&quot;/&gt;&lt;/Image&gt;&lt;/ThreeDShapeInfo&gt;"/>
  <p:tag name="PRESENTER_SHAPETEXTINFO" val="&lt;ShapeTextInfo&gt;&lt;TableIndex row=&quot;1&quot; col=&quot;1&quot;&gt;&lt;linesCount val=&quot;1&quot;/&gt;&lt;lineCharCount val=&quot;8&quot;/&gt;&lt;/TableIndex&gt;&lt;TableIndex row=&quot;1&quot; col=&quot;2&quot;&gt;&lt;linesCount val=&quot;1&quot;/&gt;&lt;lineCharCount val=&quot;7&quot;/&gt;&lt;/TableIndex&gt;&lt;TableIndex row=&quot;1&quot; col=&quot;3&quot;&gt;&lt;linesCount val=&quot;1&quot;/&gt;&lt;lineCharCount val=&quot;15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5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FEFC01D-38D0-4D8D-9476-CFA8A08A1FAF}_7.png&quot;/&gt;&lt;left val=&quot;42&quot;/&gt;&lt;top val=&quot;298&quot;/&gt;&lt;width val=&quot;653&quot;/&gt;&lt;height val=&quot;91&quot;/&gt;&lt;hasText val=&quot;1&quot;/&gt;&lt;/Image&gt;&lt;/ThreeDShapeInfo&gt;"/>
  <p:tag name="PRESENTER_SHAPETEXTINFO" val="&lt;ShapeTextInfo&gt;&lt;TableIndex row=&quot;-1&quot; col=&quot;-1&quot;&gt;&lt;linesCount val=&quot;3&quot;/&gt;&lt;lineCharCount val=&quot;67&quot;/&gt;&lt;lineCharCount val=&quot;30&quot;/&gt;&lt;lineCharCount val=&quot;19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442097947,C:\Users\sanmi\GoogleDrive\UWMdrive\Courses\ECE552\ece552-lec21_FloatingPoint_pptx\Media.ppcx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F344B4D9-8BFB-491A-B8B5-C1BE6C4611A5}_8.png&quot;/&gt;&lt;left val=&quot;44&quot;/&gt;&lt;top val=&quot;378&quot;/&gt;&lt;width val=&quot;621&quot;/&gt;&lt;height val=&quot;120&quot;/&gt;&lt;hasText val=&quot;1&quot;/&gt;&lt;/Image&gt;&lt;/ThreeDShapeInfo&gt;"/>
  <p:tag name="PRESENTER_SHAPETEXTINFO" val="&lt;ShapeTextInfo&gt;&lt;TableIndex row=&quot;-1&quot; col=&quot;-1&quot;&gt;&lt;linesCount val=&quot;3&quot;/&gt;&lt;lineCharCount val=&quot;29&quot;/&gt;&lt;lineCharCount val=&quot;37&quot;/&gt;&lt;lineCharCount val=&quot;37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57CBDEB-70BB-4FF7-BFFC-9239385D9C65}_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92A0EA3-EAA4-49E7-AF1C-7BAC16F7DCD5}_8.png&quot;/&gt;&lt;left val=&quot;97&quot;/&gt;&lt;top val=&quot;132&quot;/&gt;&lt;width val=&quot;492&quot;/&gt;&lt;height val=&quot;220&quot;/&gt;&lt;hasText val=&quot;1&quot;/&gt;&lt;/Image&gt;&lt;/ThreeDShapeInfo&gt;"/>
  <p:tag name="PRESENTER_SHAPETEXTINFO" val="&lt;ShapeTextInfo&gt;&lt;TableIndex row=&quot;1&quot; col=&quot;1&quot;&gt;&lt;linesCount val=&quot;1&quot;/&gt;&lt;lineCharCount val=&quot;14&quot;/&gt;&lt;/TableIndex&gt;&lt;TableIndex row=&quot;1&quot; col=&quot;2&quot;&gt;&lt;linesCount val=&quot;1&quot;/&gt;&lt;lineCharCount val=&quot;14&quot;/&gt;&lt;/TableIndex&gt;&lt;TableIndex row=&quot;1&quot; col=&quot;3&quot;&gt;&lt;linesCount val=&quot;1&quot;/&gt;&lt;lineCharCount val=&quot;17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9&quot;/&gt;&lt;/TableIndex&gt;&lt;TableIndex row=&quot;2&quot; col=&quot;3&quot;&gt;&lt;linesCount val=&quot;1&quot;/&gt;&lt;lineCharCount val=&quot;9&quot;/&gt;&lt;/TableIndex&gt;&lt;TableIndex row=&quot;3&quot; col=&quot;1&quot;&gt;&lt;linesCount val=&quot;1&quot;/&gt;&lt;lineCharCount val=&quot;4&quot;/&gt;&lt;/TableIndex&gt;&lt;TableIndex row=&quot;3&quot; col=&quot;2&quot;&gt;&lt;linesCount val=&quot;1&quot;/&gt;&lt;lineCharCount val=&quot;9&quot;/&gt;&lt;/TableIndex&gt;&lt;TableIndex row=&quot;3&quot; col=&quot;3&quot;&gt;&lt;linesCount val=&quot;1&quot;/&gt;&lt;lineCharCount val=&quot;9&quot;/&gt;&lt;/TableIndex&gt;&lt;TableIndex row=&quot;4&quot; col=&quot;1&quot;&gt;&lt;linesCount val=&quot;1&quot;/&gt;&lt;lineCharCount val=&quot;1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1&quot;/&gt;&lt;/TableIndex&gt;&lt;TableIndex row=&quot;5&quot; col=&quot;1&quot;&gt;&lt;linesCount val=&quot;1&quot;/&gt;&lt;lineCharCount val=&quot;4&quot;/&gt;&lt;/TableIndex&gt;&lt;TableIndex row=&quot;5&quot; col=&quot;2&quot;&gt;&lt;linesCount val=&quot;1&quot;/&gt;&lt;lineCharCount val=&quot;9&quot;/&gt;&lt;/TableIndex&gt;&lt;TableIndex row=&quot;5&quot; col=&quot;3&quot;&gt;&lt;linesCount val=&quot;1&quot;/&gt;&lt;lineCharCount val=&quot;9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01BB775-BB03-4DB2-A28A-3E4D57CBEF3D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442097947,C:\Users\sanmi\GoogleDrive\UWMdrive\Courses\ECE552\ece552-lec21_FloatingPoint_pptx\Media.ppcx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D14796F-7881-47D3-8974-50E75BF5E466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20106F9-6951-4CF8-8813-64BD999C09B0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4CBB3559-2DBF-4C4D-B006-77271267F832}_9.png&quot;/&gt;&lt;left val=&quot;41&quot;/&gt;&lt;top val=&quot;137&quot;/&gt;&lt;width val=&quot;626&quot;/&gt;&lt;height val=&quot;250&quot;/&gt;&lt;hasText val=&quot;1&quot;/&gt;&lt;/Image&gt;&lt;/ThreeDShapeInfo&gt;"/>
  <p:tag name="PRESENTER_SHAPETEXTINFO" val="&lt;ShapeTextInfo&gt;&lt;TableIndex row=&quot;1&quot; col=&quot;1&quot;&gt;&lt;linesCount val=&quot;1&quot;/&gt;&lt;lineCharCount val=&quot;16&quot;/&gt;&lt;/TableIndex&gt;&lt;TableIndex row=&quot;1&quot; col=&quot;2&quot;&gt;&lt;linesCount val=&quot;1&quot;/&gt;&lt;lineCharCount val=&quot;16&quot;/&gt;&lt;/TableIndex&gt;&lt;TableIndex row=&quot;1&quot; col=&quot;3&quot;&gt;&lt;linesCount val=&quot;1&quot;/&gt;&lt;lineCharCount val=&quot;16&quot;/&gt;&lt;/TableIndex&gt;&lt;TableIndex row=&quot;1&quot; col=&quot;4&quot;&gt;&lt;linesCount val=&quot;1&quot;/&gt;&lt;lineCharCount val=&quot;16&quot;/&gt;&lt;/TableIndex&gt;&lt;TableIndex row=&quot;1&quot; col=&quot;5&quot;&gt;&lt;linesCount val=&quot;1&quot;/&gt;&lt;lineCharCount val=&quot;5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5&quot;/&gt;&lt;/TableIndex&gt;&lt;TableIndex row=&quot;3&quot; col=&quot;1&quot;&gt;&lt;linesCount val=&quot;1&quot;/&gt;&lt;lineCharCount val=&quot;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1&quot;/&gt;&lt;lineCharCount val=&quot;4&quot;/&gt;&lt;/TableIndex&gt;&lt;TableIndex row=&quot;4&quot; col=&quot;1&quot;&gt;&lt;linesCount val=&quot;1&quot;/&gt;&lt;lineCharCount val=&quot;1&quot;/&gt;&lt;/TableIndex&gt;&lt;TableIndex row=&quot;4&quot; col=&quot;2&quot;&gt;&lt;linesCount val=&quot;1&quot;/&gt;&lt;lineCharCount val=&quot;7&quot;/&gt;&lt;/TableIndex&gt;&lt;TableIndex row=&quot;4&quot; col=&quot;3&quot;&gt;&lt;linesCount val=&quot;1&quot;/&gt;&lt;lineCharCount val=&quot;1&quot;/&gt;&lt;/TableIndex&gt;&lt;TableIndex row=&quot;4&quot; col=&quot;4&quot;&gt;&lt;linesCount val=&quot;1&quot;/&gt;&lt;lineCharCount val=&quot;7&quot;/&gt;&lt;/TableIndex&gt;&lt;TableIndex row=&quot;4&quot; col=&quot;5&quot;&gt;&lt;linesCount val=&quot;1&quot;/&gt;&lt;lineCharCount val=&quot;1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1&quot;/&gt;&lt;/TableIndex&gt;&lt;TableIndex row=&quot;5&quot; col=&quot;3&quot;&gt;&lt;linesCount val=&quot;1&quot;/&gt;&lt;lineCharCount val=&quot;4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8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7&quot;/&gt;&lt;/TableIndex&gt;&lt;TableIndex row=&quot;6&quot; col=&quot;3&quot;&gt;&lt;linesCount val=&quot;1&quot;/&gt;&lt;lineCharCount val=&quot;4&quot;/&gt;&lt;/TableIndex&gt;&lt;TableIndex row=&quot;6&quot; col=&quot;4&quot;&gt;&lt;linesCount val=&quot;1&quot;/&gt;&lt;lineCharCount val=&quot;7&quot;/&gt;&lt;/TableIndex&gt;&lt;TableIndex row=&quot;6&quot; col=&quot;5&quot;&gt;&lt;linesCount val=&quot;2&quot;/&gt;&lt;lineCharCount val=&quot;11&quot;/&gt;&lt;lineCharCount val=&quot;7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442097947,C:\Users\sanmi\GoogleDrive\UWMdrive\Courses\ECE552\ece552-lec21_FloatingPoint_pptx\Media.ppcx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A41E000-3A37-4266-81B8-165870750C86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A11C470-8381-464C-B037-F7835E23362E}_10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12&quot;/&gt;&lt;lineCharCount val=&quot;30&quot;/&gt;&lt;lineCharCount val=&quot;31&quot;/&gt;&lt;lineCharCount val=&quot;26&quot;/&gt;&lt;lineCharCount val=&quot;13&quot;/&gt;&lt;lineCharCount val=&quot;33&quot;/&gt;&lt;lineCharCount val=&quot;46&quot;/&gt;&lt;lineCharCount val=&quot;41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FFB9ADA-51B4-4F0B-AB4C-AC328E274A6B}_1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442097947,C:\Users\sanmi\GoogleDrive\UWMdrive\Courses\ECE552\ece552-lec21_FloatingPoint_pptx\Media.ppcx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F75AEE9D-99A3-4410-A3B8-01D378050945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829EB0E-0043-4895-90D8-04A4882A4FA0}_11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5&quot;/&gt;&lt;lineCharCount val=&quot;40&quot;/&gt;&lt;lineCharCount val=&quot;32&quot;/&gt;&lt;lineCharCount val=&quot;23&quot;/&gt;&lt;lineCharCount val=&quot;29&quot;/&gt;&lt;lineCharCount val=&quot;13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FEE6F335-0901-446C-8A33-E28EF1A6463A}_1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33C80AC-57B4-463D-8E39-E51E3D9F5F34}_11.png&quot;/&gt;&lt;left val=&quot;257&quot;/&gt;&lt;top val=&quot;294&quot;/&gt;&lt;width val=&quot;416&quot;/&gt;&lt;height val=&quot;208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14&quot;/&gt;&lt;/TableIndex&gt;&lt;TableIndex row=&quot;2&quot; col=&quot;1&quot;&gt;&lt;linesCount val=&quot;1&quot;/&gt;&lt;lineCharCount val=&quot;12&quot;/&gt;&lt;/TableIndex&gt;&lt;TableIndex row=&quot;2&quot; col=&quot;2&quot;&gt;&lt;linesCount val=&quot;1&quot;/&gt;&lt;lineCharCount val=&quot;14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15&quot;/&gt;&lt;/TableIndex&gt;&lt;TableIndex row=&quot;4&quot; col=&quot;1&quot;&gt;&lt;linesCount val=&quot;1&quot;/&gt;&lt;lineCharCount val=&quot;10&quot;/&gt;&lt;/TableIndex&gt;&lt;TableIndex row=&quot;4&quot; col=&quot;2&quot;&gt;&lt;linesCount val=&quot;1&quot;/&gt;&lt;lineCharCount val=&quot;15&quot;/&gt;&lt;/TableIndex&gt;&lt;TableIndex row=&quot;5&quot; col=&quot;1&quot;&gt;&lt;linesCount val=&quot;1&quot;/&gt;&lt;lineCharCount val=&quot;5&quot;/&gt;&lt;/TableIndex&gt;&lt;TableIndex row=&quot;5&quot; col=&quot;2&quot;&gt;&lt;linesCount val=&quot;1&quot;/&gt;&lt;lineCharCount val=&quot;11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442097947,C:\Users\sanmi\GoogleDrive\UWMdrive\Courses\ECE552\ece552-lec21_FloatingPoint_pptx\Media.ppcx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8A9DB44-E89A-486F-9E8D-80B2A86FEB13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29CEB1B9-BDF9-423E-B703-9DF82858E83C}_12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5&quot;/&gt;&lt;lineCharCount val=&quot;40&quot;/&gt;&lt;lineCharCount val=&quot;32&quot;/&gt;&lt;lineCharCount val=&quot;23&quot;/&gt;&lt;lineCharCount val=&quot;29&quot;/&gt;&lt;lineCharCount val=&quot;12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03113A48-670E-4D17-8786-1643859E33C8}_1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7468E34-2D8D-4474-98D0-03BA00404175}_12.png&quot;/&gt;&lt;left val=&quot;257&quot;/&gt;&lt;top val=&quot;297&quot;/&gt;&lt;width val=&quot;416&quot;/&gt;&lt;height val=&quot;206&quot;/&gt;&lt;hasText val=&quot;1&quot;/&gt;&lt;/Image&gt;&lt;/ThreeDShapeInfo&gt;"/>
  <p:tag name="PRESENTER_SHAPETEXTINFO" val="&lt;ShapeTextInfo&gt;&lt;TableIndex row=&quot;1&quot; col=&quot;1&quot;&gt;&lt;linesCount val=&quot;1&quot;/&gt;&lt;lineCharCount val=&quot;17&quot;/&gt;&lt;/TableIndex&gt;&lt;TableIndex row=&quot;1&quot; col=&quot;2&quot;&gt;&lt;linesCount val=&quot;1&quot;/&gt;&lt;lineCharCount val=&quot;14&quot;/&gt;&lt;/TableIndex&gt;&lt;TableIndex row=&quot;2&quot; col=&quot;1&quot;&gt;&lt;linesCount val=&quot;1&quot;/&gt;&lt;lineCharCount val=&quot;16&quot;/&gt;&lt;/TableIndex&gt;&lt;TableIndex row=&quot;2&quot; col=&quot;2&quot;&gt;&lt;linesCount val=&quot;1&quot;/&gt;&lt;lineCharCount val=&quot;14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15&quot;/&gt;&lt;/TableIndex&gt;&lt;TableIndex row=&quot;4&quot; col=&quot;1&quot;&gt;&lt;linesCount val=&quot;1&quot;/&gt;&lt;lineCharCount val=&quot;10&quot;/&gt;&lt;/TableIndex&gt;&lt;TableIndex row=&quot;4&quot; col=&quot;2&quot;&gt;&lt;linesCount val=&quot;1&quot;/&gt;&lt;lineCharCount val=&quot;20&quot;/&gt;&lt;/TableIndex&gt;&lt;TableIndex row=&quot;5&quot; col=&quot;1&quot;&gt;&lt;linesCount val=&quot;1&quot;/&gt;&lt;lineCharCount val=&quot;5&quot;/&gt;&lt;/TableIndex&gt;&lt;TableIndex row=&quot;5&quot; col=&quot;2&quot;&gt;&lt;linesCount val=&quot;1&quot;/&gt;&lt;lineCharCount val=&quot;17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BFBF2DB-37D7-4967-9EB3-5976D5143934}_12.png&quot;/&gt;&lt;left val=&quot;60&quot;/&gt;&lt;top val=&quot;334&quot;/&gt;&lt;width val=&quot;15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442097947,C:\Users\sanmi\GoogleDrive\UWMdrive\Courses\ECE552\ece552-lec21_FloatingPoint_pptx\Media.ppcx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62C3687-C177-44D8-8ACA-7B65FBE20407}_13.png&quot;/&gt;&lt;left val=&quot;23&quot;/&gt;&lt;top val=&quot;29&quot;/&gt;&lt;width val=&quot;162&quot;/&gt;&lt;height val=&quot;180&quot;/&gt;&lt;hasText val=&quot;1&quot;/&gt;&lt;/Image&gt;&lt;/ThreeDShapeInfo&gt;"/>
  <p:tag name="PRESENTER_SHAPETEXTINFO" val="&lt;ShapeTextInfo&gt;&lt;TableIndex row=&quot;-1&quot; col=&quot;-1&quot;&gt;&lt;linesCount val=&quot;2&quot;/&gt;&lt;lineCharCount val=&quot;3&quot;/&gt;&lt;lineCharCount val=&quot;5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3400A22D-F9E7-47EE-B195-493E3C7B3FB6}_1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C1456608-C258-48DC-BFD6-0A41DC6F2738}"/>
  <p:tag name="PRESENTER_SHAPEINFO" val="&lt;ThreeDShapeInfo&gt;&lt;uuid val=&quot;{1E042933-7992-4420-AA32-8007F5539F72}&quot;/&gt;&lt;isInvalidForFieldText val=&quot;0&quot;/&gt;&lt;Image&gt;&lt;filename val=&quot;C:\Users\sanmi\Documents\My Adobe Presentations\ece552-FloatingPoint\data\asimages\{1E042933-7992-4420-AA32-8007F5539F72}.png&quot;/&gt;&lt;left val=&quot;155&quot;/&gt;&lt;top val=&quot;39&quot;/&gt;&lt;width val=&quot;518&quot;/&gt;&lt;height val=&quot;481&quot;/&gt;&lt;hasText val=&quot;1&quot;/&gt;&lt;/Image&gt;&lt;/ThreeDShape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442097947,C:\Users\sanmi\GoogleDrive\UWMdrive\Courses\ECE552\ece552-lec21_FloatingPoint_pptx\Media.ppcx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D01D5AE-0F4A-44C5-A84B-62F3CC712AFF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237F74D-1C54-454F-8362-9630EFE351B5}_14.png&quot;/&gt;&lt;left val=&quot;24&quot;/&gt;&lt;top val=&quot;119&quot;/&gt;&lt;width val=&quot;659&quot;/&gt;&lt;height val=&quot;192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45&quot;/&gt;&lt;lineCharCount val=&quot;25&quot;/&gt;&lt;lineCharCount val=&quot;20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4A98F2A9-C3C7-4224-9228-D99DAB2241A4}_1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0E02D8C-86E7-487C-A442-420791077AFA}_14.png&quot;/&gt;&lt;left val=&quot;167&quot;/&gt;&lt;top val=&quot;310&quot;/&gt;&lt;width val=&quot;416&quot;/&gt;&lt;height val=&quot;206&quot;/&gt;&lt;hasText val=&quot;1&quot;/&gt;&lt;/Image&gt;&lt;/ThreeDShapeInfo&gt;"/>
  <p:tag name="PRESENTER_SHAPETEXTINFO" val="&lt;ShapeTextInfo&gt;&lt;TableIndex row=&quot;1&quot; col=&quot;1&quot;&gt;&lt;linesCount val=&quot;1&quot;/&gt;&lt;lineCharCount val=&quot;17&quot;/&gt;&lt;/TableIndex&gt;&lt;TableIndex row=&quot;1&quot; col=&quot;2&quot;&gt;&lt;linesCount val=&quot;1&quot;/&gt;&lt;lineCharCount val=&quot;14&quot;/&gt;&lt;/TableIndex&gt;&lt;TableIndex row=&quot;2&quot; col=&quot;1&quot;&gt;&lt;linesCount val=&quot;1&quot;/&gt;&lt;lineCharCount val=&quot;16&quot;/&gt;&lt;/TableIndex&gt;&lt;TableIndex row=&quot;2&quot; col=&quot;2&quot;&gt;&lt;linesCount val=&quot;1&quot;/&gt;&lt;lineCharCount val=&quot;14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15&quot;/&gt;&lt;/TableIndex&gt;&lt;TableIndex row=&quot;4&quot; col=&quot;1&quot;&gt;&lt;linesCount val=&quot;1&quot;/&gt;&lt;lineCharCount val=&quot;10&quot;/&gt;&lt;/TableIndex&gt;&lt;TableIndex row=&quot;4&quot; col=&quot;2&quot;&gt;&lt;linesCount val=&quot;1&quot;/&gt;&lt;lineCharCount val=&quot;20&quot;/&gt;&lt;/TableIndex&gt;&lt;TableIndex row=&quot;5&quot; col=&quot;1&quot;&gt;&lt;linesCount val=&quot;1&quot;/&gt;&lt;lineCharCount val=&quot;5&quot;/&gt;&lt;/TableIndex&gt;&lt;TableIndex row=&quot;5&quot; col=&quot;2&quot;&gt;&lt;linesCount val=&quot;1&quot;/&gt;&lt;lineCharCount val=&quot;17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671B41E-168B-4E49-9EE8-07CB08A62190}_14.png&quot;/&gt;&lt;left val=&quot;431&quot;/&gt;&lt;top val=&quot;489&quot;/&gt;&lt;width val=&quot;175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442097947,C:\Users\sanmi\GoogleDrive\UWMdrive\Courses\ECE552\ece552-lec21_FloatingPoint_pptx\Media.ppcx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57E66A4D-9730-4DB7-9536-9259C8C1ED4A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5C30A082-1F2B-4CE3-B148-BEB6937C58E0}_15.png&quot;/&gt;&lt;left val=&quot;24&quot;/&gt;&lt;top val=&quot;119&quot;/&gt;&lt;width val=&quot;700&quot;/&gt;&lt;height val=&quot;192&quot;/&gt;&lt;hasText val=&quot;1&quot;/&gt;&lt;/Image&gt;&lt;/ThreeDShapeInfo&gt;"/>
  <p:tag name="PRESENTER_SHAPETEXTINFO" val="&lt;ShapeTextInfo&gt;&lt;TableIndex row=&quot;-1&quot; col=&quot;-1&quot;&gt;&lt;linesCount val=&quot;4&quot;/&gt;&lt;lineCharCount val=&quot;22&quot;/&gt;&lt;lineCharCount val=&quot;58&quot;/&gt;&lt;lineCharCount val=&quot;25&quot;/&gt;&lt;lineCharCount val=&quot;20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66388BC-7B7D-4C45-BFAF-881D06758F54}_1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00FC5E2E-4512-4396-9C8D-CD26BC50D985}_15.png&quot;/&gt;&lt;left val=&quot;167&quot;/&gt;&lt;top val=&quot;310&quot;/&gt;&lt;width val=&quot;416&quot;/&gt;&lt;height val=&quot;206&quot;/&gt;&lt;hasText val=&quot;1&quot;/&gt;&lt;/Image&gt;&lt;/ThreeDShapeInfo&gt;"/>
  <p:tag name="PRESENTER_SHAPETEXTINFO" val="&lt;ShapeTextInfo&gt;&lt;TableIndex row=&quot;1&quot; col=&quot;1&quot;&gt;&lt;linesCount val=&quot;1&quot;/&gt;&lt;lineCharCount val=&quot;17&quot;/&gt;&lt;/TableIndex&gt;&lt;TableIndex row=&quot;1&quot; col=&quot;2&quot;&gt;&lt;linesCount val=&quot;1&quot;/&gt;&lt;lineCharCount val=&quot;14&quot;/&gt;&lt;/TableIndex&gt;&lt;TableIndex row=&quot;2&quot; col=&quot;1&quot;&gt;&lt;linesCount val=&quot;1&quot;/&gt;&lt;lineCharCount val=&quot;16&quot;/&gt;&lt;/TableIndex&gt;&lt;TableIndex row=&quot;2&quot; col=&quot;2&quot;&gt;&lt;linesCount val=&quot;1&quot;/&gt;&lt;lineCharCount val=&quot;14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15&quot;/&gt;&lt;/TableIndex&gt;&lt;TableIndex row=&quot;4&quot; col=&quot;1&quot;&gt;&lt;linesCount val=&quot;1&quot;/&gt;&lt;lineCharCount val=&quot;10&quot;/&gt;&lt;/TableIndex&gt;&lt;TableIndex row=&quot;4&quot; col=&quot;2&quot;&gt;&lt;linesCount val=&quot;1&quot;/&gt;&lt;lineCharCount val=&quot;20&quot;/&gt;&lt;/TableIndex&gt;&lt;TableIndex row=&quot;5&quot; col=&quot;1&quot;&gt;&lt;linesCount val=&quot;1&quot;/&gt;&lt;lineCharCount val=&quot;5&quot;/&gt;&lt;/TableIndex&gt;&lt;TableIndex row=&quot;5&quot; col=&quot;2&quot;&gt;&lt;linesCount val=&quot;1&quot;/&gt;&lt;lineCharCount val=&quot;17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442097947,C:\Users\sanmi\GoogleDrive\UWMdrive\Courses\ECE552\ece552-lec21_FloatingPoint_pptx\Media.ppcx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3EFF56E8-E4AF-4502-B60F-497070A69D5C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46BA3DA-AA36-4578-B0FF-BB82E8198726}_16.png&quot;/&gt;&lt;left val=&quot;27&quot;/&gt;&lt;top val=&quot;114&quot;/&gt;&lt;width val=&quot;657&quot;/&gt;&lt;height val=&quot;368&quot;/&gt;&lt;hasText val=&quot;1&quot;/&gt;&lt;/Image&gt;&lt;/ThreeDShapeInfo&gt;"/>
  <p:tag name="PRESENTER_SHAPETEXTINFO" val="&lt;ShapeTextInfo&gt;&lt;TableIndex row=&quot;-1&quot; col=&quot;-1&quot;&gt;&lt;linesCount val=&quot;10&quot;/&gt;&lt;lineCharCount val=&quot;29&quot;/&gt;&lt;lineCharCount val=&quot;38&quot;/&gt;&lt;lineCharCount val=&quot;31&quot;/&gt;&lt;lineCharCount val=&quot;25&quot;/&gt;&lt;lineCharCount val=&quot;25&quot;/&gt;&lt;lineCharCount val=&quot;59&quot;/&gt;&lt;lineCharCount val=&quot;34&quot;/&gt;&lt;lineCharCount val=&quot;32&quot;/&gt;&lt;lineCharCount val=&quot;27&quot;/&gt;&lt;lineCharCount val=&quot;43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F4BE484B-0C97-4FFE-BC3B-5E9EA2B49B79}_1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442097947,C:\Users\sanmi\GoogleDrive\UWMdrive\Courses\ECE552\ece552-lec21_FloatingPoint_pptx\Media.ppcx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8AC0F9C-210E-4645-84D7-C189F2C9F7FD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A528827-04A5-4D7F-A83A-B6912BA34085}_17.png&quot;/&gt;&lt;left val=&quot;23&quot;/&gt;&lt;top val=&quot;118&quot;/&gt;&lt;width val=&quot;661&quot;/&gt;&lt;height val=&quot;364&quot;/&gt;&lt;hasText val=&quot;1&quot;/&gt;&lt;/Image&gt;&lt;/ThreeDShapeInfo&gt;"/>
  <p:tag name="PRESENTER_SHAPETEXTINFO" val="&lt;ShapeTextInfo&gt;&lt;TableIndex row=&quot;-1&quot; col=&quot;-1&quot;&gt;&lt;linesCount val=&quot;6&quot;/&gt;&lt;lineCharCount val=&quot;19&quot;/&gt;&lt;lineCharCount val=&quot;24&quot;/&gt;&lt;lineCharCount val=&quot;22&quot;/&gt;&lt;lineCharCount val=&quot;29&quot;/&gt;&lt;lineCharCount val=&quot;6&quot;/&gt;&lt;lineCharCount val=&quot;37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610C40AA-81EF-40BD-B995-B73631350D5C}_1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442097947,C:\Users\sanmi\GoogleDrive\UWMdrive\Courses\ECE552\ece552-lec21_FloatingPoint_pptx\Media.ppcx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2775135C-9B54-4DF9-9756-C8086019ED29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02E8857-1579-438C-A28B-BD56B257D9FC}_18.png&quot;/&gt;&lt;left val=&quot;27&quot;/&gt;&lt;top val=&quot;120&quot;/&gt;&lt;width val=&quot;687&quot;/&gt;&lt;height val=&quot;126&quot;/&gt;&lt;hasText val=&quot;1&quot;/&gt;&lt;/Image&gt;&lt;/ThreeDShapeInfo&gt;"/>
  <p:tag name="PRESENTER_SHAPETEXTINFO" val="&lt;ShapeTextInfo&gt;&lt;TableIndex row=&quot;-1&quot; col=&quot;-1&quot;&gt;&lt;linesCount val=&quot;3&quot;/&gt;&lt;lineCharCount val=&quot;50&quot;/&gt;&lt;lineCharCount val=&quot;21&quot;/&gt;&lt;lineCharCount val=&quot;9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977CE09-62FF-4019-8A10-8E1B0CF1FEFB}_1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1F13996-7DF1-4580-A5D7-A666D6354C76}_18.png&quot;/&gt;&lt;left val=&quot;17&quot;/&gt;&lt;top val=&quot;263&quot;/&gt;&lt;width val=&quot;693&quot;/&gt;&lt;height val=&quot;20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9&quot;/&gt;&lt;/TableIndex&gt;&lt;TableIndex row=&quot;1&quot; col=&quot;6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8&quot;/&gt;&lt;/TableIndex&gt;&lt;TableIndex row=&quot;2&quot; col=&quot;3&quot;&gt;&lt;linesCount val=&quot;1&quot;/&gt;&lt;lineCharCount val=&quot;11&quot;/&gt;&lt;/TableIndex&gt;&lt;TableIndex row=&quot;2&quot; col=&quot;4&quot;&gt;&lt;linesCount val=&quot;1&quot;/&gt;&lt;lineCharCount val=&quot;8&quot;/&gt;&lt;/TableIndex&gt;&lt;TableIndex row=&quot;2&quot; col=&quot;5&quot;&gt;&lt;linesCount val=&quot;1&quot;/&gt;&lt;lineCharCount val=&quot;11&quot;/&gt;&lt;/TableIndex&gt;&lt;TableIndex row=&quot;2&quot; col=&quot;6&quot;&gt;&lt;linesCount val=&quot;1&quot;/&gt;&lt;lineCharCount val=&quot;8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7&quot;/&gt;&lt;/TableIndex&gt;&lt;TableIndex row=&quot;3&quot; col=&quot;3&quot;&gt;&lt;linesCount val=&quot;1&quot;/&gt;&lt;lineCharCount val=&quot;7&quot;/&gt;&lt;/TableIndex&gt;&lt;TableIndex row=&quot;3&quot; col=&quot;4&quot;&gt;&lt;linesCount val=&quot;1&quot;/&gt;&lt;lineCharCount val=&quot;6&quot;/&gt;&lt;/TableIndex&gt;&lt;TableIndex row=&quot;3&quot; col=&quot;5&quot;&gt;&lt;linesCount val=&quot;1&quot;/&gt;&lt;lineCharCount val=&quot;13&quot;/&gt;&lt;/TableIndex&gt;&lt;TableIndex row=&quot;3&quot; col=&quot;6&quot;&gt;&lt;linesCount val=&quot;1&quot;/&gt;&lt;lineCharCount val=&quot;7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9&quot;/&gt;&lt;/TableIndex&gt;&lt;TableIndex row=&quot;4&quot; col=&quot;5&quot;&gt;&lt;linesCount val=&quot;1&quot;/&gt;&lt;lineCharCount val=&quot;8&quot;/&gt;&lt;/TableIndex&gt;&lt;TableIndex row=&quot;4&quot; col=&quot;6&quot;&gt;&lt;linesCount val=&quot;1&quot;/&gt;&lt;lineCharCount val=&quot;7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1&quot;/&gt;&lt;lineCharCount val=&quot;5&quot;/&gt;&lt;/TableIndex&gt;&lt;TableIndex row=&quot;5&quot; col=&quot;5&quot;&gt;&lt;linesCount val=&quot;1&quot;/&gt;&lt;lineCharCount val=&quot;7&quot;/&gt;&lt;/TableIndex&gt;&lt;TableIndex row=&quot;5&quot; col=&quot;6&quot;&gt;&lt;linesCount val=&quot;1&quot;/&gt;&lt;lineCharCount val=&quot;7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442097947,C:\Users\sanmi\GoogleDrive\UWMdrive\Courses\ECE552\ece552-lec21_FloatingPoint_pptx\Media.ppcx"/>
  <p:tag name="TIMING" val="|24.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D933796-E4CB-47DE-B8E1-359668986660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C926E33-5757-4EF9-A53C-CEE08A29B216}_19.png&quot;/&gt;&lt;left val=&quot;27&quot;/&gt;&lt;top val=&quot;120&quot;/&gt;&lt;width val=&quot;687&quot;/&gt;&lt;height val=&quot;126&quot;/&gt;&lt;hasText val=&quot;1&quot;/&gt;&lt;/Image&gt;&lt;/ThreeDShapeInfo&gt;"/>
  <p:tag name="PRESENTER_SHAPETEXTINFO" val="&lt;ShapeTextInfo&gt;&lt;TableIndex row=&quot;-1&quot; col=&quot;-1&quot;&gt;&lt;linesCount val=&quot;3&quot;/&gt;&lt;lineCharCount val=&quot;50&quot;/&gt;&lt;lineCharCount val=&quot;21&quot;/&gt;&lt;lineCharCount val=&quot;9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4910CE12-5AE6-4A4A-95CB-F112E809F40D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B087057-520A-4BC0-A8B8-F99CB5F37D7C}_19.png&quot;/&gt;&lt;left val=&quot;17&quot;/&gt;&lt;top val=&quot;263&quot;/&gt;&lt;width val=&quot;693&quot;/&gt;&lt;height val=&quot;20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9&quot;/&gt;&lt;/TableIndex&gt;&lt;TableIndex row=&quot;1&quot; col=&quot;6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8&quot;/&gt;&lt;/TableIndex&gt;&lt;TableIndex row=&quot;2&quot; col=&quot;3&quot;&gt;&lt;linesCount val=&quot;1&quot;/&gt;&lt;lineCharCount val=&quot;11&quot;/&gt;&lt;/TableIndex&gt;&lt;TableIndex row=&quot;2&quot; col=&quot;4&quot;&gt;&lt;linesCount val=&quot;1&quot;/&gt;&lt;lineCharCount val=&quot;8&quot;/&gt;&lt;/TableIndex&gt;&lt;TableIndex row=&quot;2&quot; col=&quot;5&quot;&gt;&lt;linesCount val=&quot;1&quot;/&gt;&lt;lineCharCount val=&quot;11&quot;/&gt;&lt;/TableIndex&gt;&lt;TableIndex row=&quot;2&quot; col=&quot;6&quot;&gt;&lt;linesCount val=&quot;1&quot;/&gt;&lt;lineCharCount val=&quot;8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7&quot;/&gt;&lt;/TableIndex&gt;&lt;TableIndex row=&quot;3&quot; col=&quot;3&quot;&gt;&lt;linesCount val=&quot;1&quot;/&gt;&lt;lineCharCount val=&quot;7&quot;/&gt;&lt;/TableIndex&gt;&lt;TableIndex row=&quot;3&quot; col=&quot;4&quot;&gt;&lt;linesCount val=&quot;1&quot;/&gt;&lt;lineCharCount val=&quot;6&quot;/&gt;&lt;/TableIndex&gt;&lt;TableIndex row=&quot;3&quot; col=&quot;5&quot;&gt;&lt;linesCount val=&quot;1&quot;/&gt;&lt;lineCharCount val=&quot;13&quot;/&gt;&lt;/TableIndex&gt;&lt;TableIndex row=&quot;3&quot; col=&quot;6&quot;&gt;&lt;linesCount val=&quot;1&quot;/&gt;&lt;lineCharCount val=&quot;7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9&quot;/&gt;&lt;/TableIndex&gt;&lt;TableIndex row=&quot;4&quot; col=&quot;5&quot;&gt;&lt;linesCount val=&quot;1&quot;/&gt;&lt;lineCharCount val=&quot;7&quot;/&gt;&lt;/TableIndex&gt;&lt;TableIndex row=&quot;4&quot; col=&quot;6&quot;&gt;&lt;linesCount val=&quot;1&quot;/&gt;&lt;lineCharCount val=&quot;7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1&quot;/&gt;&lt;lineCharCount val=&quot;5&quot;/&gt;&lt;/TableIndex&gt;&lt;TableIndex row=&quot;5&quot; col=&quot;5&quot;&gt;&lt;linesCount val=&quot;1&quot;/&gt;&lt;lineCharCount val=&quot;7&quot;/&gt;&lt;/TableIndex&gt;&lt;TableIndex row=&quot;5&quot; col=&quot;6&quot;&gt;&lt;linesCount val=&quot;1&quot;/&gt;&lt;lineCharCount val=&quot;7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317FED2D-E86E-4EDB-9FA2-0D4A7D57DE8F}_19.png&quot;/&gt;&lt;left val=&quot;17&quot;/&gt;&lt;top val=&quot;263&quot;/&gt;&lt;width val=&quot;693&quot;/&gt;&lt;height val=&quot;20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9&quot;/&gt;&lt;/TableIndex&gt;&lt;TableIndex row=&quot;1&quot; col=&quot;6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8&quot;/&gt;&lt;/TableIndex&gt;&lt;TableIndex row=&quot;2&quot; col=&quot;3&quot;&gt;&lt;linesCount val=&quot;1&quot;/&gt;&lt;lineCharCount val=&quot;11&quot;/&gt;&lt;/TableIndex&gt;&lt;TableIndex row=&quot;2&quot; col=&quot;4&quot;&gt;&lt;linesCount val=&quot;1&quot;/&gt;&lt;lineCharCount val=&quot;8&quot;/&gt;&lt;/TableIndex&gt;&lt;TableIndex row=&quot;2&quot; col=&quot;5&quot;&gt;&lt;linesCount val=&quot;1&quot;/&gt;&lt;lineCharCount val=&quot;11&quot;/&gt;&lt;/TableIndex&gt;&lt;TableIndex row=&quot;2&quot; col=&quot;6&quot;&gt;&lt;linesCount val=&quot;1&quot;/&gt;&lt;lineCharCount val=&quot;8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7&quot;/&gt;&lt;/TableIndex&gt;&lt;TableIndex row=&quot;3&quot; col=&quot;3&quot;&gt;&lt;linesCount val=&quot;1&quot;/&gt;&lt;lineCharCount val=&quot;7&quot;/&gt;&lt;/TableIndex&gt;&lt;TableIndex row=&quot;3&quot; col=&quot;4&quot;&gt;&lt;linesCount val=&quot;1&quot;/&gt;&lt;lineCharCount val=&quot;6&quot;/&gt;&lt;/TableIndex&gt;&lt;TableIndex row=&quot;3&quot; col=&quot;5&quot;&gt;&lt;linesCount val=&quot;1&quot;/&gt;&lt;lineCharCount val=&quot;13&quot;/&gt;&lt;/TableIndex&gt;&lt;TableIndex row=&quot;3&quot; col=&quot;6&quot;&gt;&lt;linesCount val=&quot;1&quot;/&gt;&lt;lineCharCount val=&quot;7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9&quot;/&gt;&lt;/TableIndex&gt;&lt;TableIndex row=&quot;4&quot; col=&quot;5&quot;&gt;&lt;linesCount val=&quot;1&quot;/&gt;&lt;lineCharCount val=&quot;7&quot;/&gt;&lt;/TableIndex&gt;&lt;TableIndex row=&quot;4&quot; col=&quot;6&quot;&gt;&lt;linesCount val=&quot;1&quot;/&gt;&lt;lineCharCount val=&quot;7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1&quot;/&gt;&lt;lineCharCount val=&quot;5&quot;/&gt;&lt;/TableIndex&gt;&lt;TableIndex row=&quot;5&quot; col=&quot;5&quot;&gt;&lt;linesCount val=&quot;1&quot;/&gt;&lt;lineCharCount val=&quot;7&quot;/&gt;&lt;/TableIndex&gt;&lt;TableIndex row=&quot;5&quot; col=&quot;6&quot;&gt;&lt;linesCount val=&quot;1&quot;/&gt;&lt;lineCharCount val=&quot;7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61AAB427-EF4B-4363-8FC4-6BEC12C1749C}_19.png&quot;/&gt;&lt;left val=&quot;335&quot;/&gt;&lt;top val=&quot;461&quot;/&gt;&lt;width val=&quot;337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44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442097947,C:\Users\sanmi\GoogleDrive\UWMdrive\Courses\ECE552\ece552-lec21_FloatingPoint_pptx\Media.ppcx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7FA29DCE-E5FC-4C76-BDC8-A974FF3959BF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07355EA1-98EC-4367-B4C8-3E71DE2BD379}_20.png&quot;/&gt;&lt;left val=&quot;27&quot;/&gt;&lt;top val=&quot;120&quot;/&gt;&lt;width val=&quot;68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9&quot;/&gt;&lt;lineCharCount val=&quot;61&quot;/&gt;&lt;lineCharCount val=&quot;65&quot;/&gt;&lt;lineCharCount val=&quot;28&quot;/&gt;&lt;lineCharCount val=&quot;56&quot;/&gt;&lt;lineCharCount val=&quot;20&quot;/&gt;&lt;lineCharCount val=&quot;44&quot;/&gt;&lt;lineCharCount val=&quot;45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F21F4EDE-7FE3-4D26-8284-060ADDC18FB1}_2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442097947,C:\Users\sanmi\GoogleDrive\UWMdrive\Courses\ECE552\ece552-lec21_FloatingPoint_pptx\Media.ppcx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42AF24E7-AE91-4F8F-AC8F-FF06249770B5}_2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6B37E64-3AEE-42E2-BAF8-43E02103BAC1}_21.png&quot;/&gt;&lt;left val=&quot;27&quot;/&gt;&lt;top val=&quot;120&quot;/&gt;&lt;width val=&quot;687&quot;/&gt;&lt;height val=&quot;126&quot;/&gt;&lt;hasText val=&quot;1&quot;/&gt;&lt;/Image&gt;&lt;/ThreeDShapeInfo&gt;"/>
  <p:tag name="PRESENTER_SHAPETEXTINFO" val="&lt;ShapeTextInfo&gt;&lt;TableIndex row=&quot;-1&quot; col=&quot;-1&quot;&gt;&lt;linesCount val=&quot;3&quot;/&gt;&lt;lineCharCount val=&quot;50&quot;/&gt;&lt;lineCharCount val=&quot;21&quot;/&gt;&lt;lineCharCount val=&quot;32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9EC82BE-F0C0-44AC-95B0-5D72DC30BBEA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DD51E07-295B-4A40-8C46-8A1488EAD330}_21.png&quot;/&gt;&lt;left val=&quot;17&quot;/&gt;&lt;top val=&quot;263&quot;/&gt;&lt;width val=&quot;693&quot;/&gt;&lt;height val=&quot;24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9&quot;/&gt;&lt;/TableIndex&gt;&lt;TableIndex row=&quot;1&quot; col=&quot;6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8&quot;/&gt;&lt;/TableIndex&gt;&lt;TableIndex row=&quot;2&quot; col=&quot;3&quot;&gt;&lt;linesCount val=&quot;1&quot;/&gt;&lt;lineCharCount val=&quot;11&quot;/&gt;&lt;/TableIndex&gt;&lt;TableIndex row=&quot;2&quot; col=&quot;4&quot;&gt;&lt;linesCount val=&quot;1&quot;/&gt;&lt;lineCharCount val=&quot;8&quot;/&gt;&lt;/TableIndex&gt;&lt;TableIndex row=&quot;2&quot; col=&quot;5&quot;&gt;&lt;linesCount val=&quot;1&quot;/&gt;&lt;lineCharCount val=&quot;11&quot;/&gt;&lt;/TableIndex&gt;&lt;TableIndex row=&quot;2&quot; col=&quot;6&quot;&gt;&lt;linesCount val=&quot;1&quot;/&gt;&lt;lineCharCount val=&quot;8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7&quot;/&gt;&lt;/TableIndex&gt;&lt;TableIndex row=&quot;3&quot; col=&quot;3&quot;&gt;&lt;linesCount val=&quot;1&quot;/&gt;&lt;lineCharCount val=&quot;7&quot;/&gt;&lt;/TableIndex&gt;&lt;TableIndex row=&quot;3&quot; col=&quot;4&quot;&gt;&lt;linesCount val=&quot;1&quot;/&gt;&lt;lineCharCount val=&quot;6&quot;/&gt;&lt;/TableIndex&gt;&lt;TableIndex row=&quot;3&quot; col=&quot;5&quot;&gt;&lt;linesCount val=&quot;1&quot;/&gt;&lt;lineCharCount val=&quot;13&quot;/&gt;&lt;/TableIndex&gt;&lt;TableIndex row=&quot;3&quot; col=&quot;6&quot;&gt;&lt;linesCount val=&quot;1&quot;/&gt;&lt;lineCharCount val=&quot;7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0&quot;/&gt;&lt;/TableIndex&gt;&lt;TableIndex row=&quot;4&quot; col=&quot;5&quot;&gt;&lt;linesCount val=&quot;1&quot;/&gt;&lt;lineCharCount val=&quot;10&quot;/&gt;&lt;/TableIndex&gt;&lt;TableIndex row=&quot;4&quot; col=&quot;6&quot;&gt;&lt;linesCount val=&quot;1&quot;/&gt;&lt;lineCharCount val=&quot;7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1&quot;/&gt;&lt;lineCharCount val=&quot;9&quot;/&gt;&lt;/TableIndex&gt;&lt;TableIndex row=&quot;5&quot; col=&quot;5&quot;&gt;&lt;linesCount val=&quot;1&quot;/&gt;&lt;lineCharCount val=&quot;9&quot;/&gt;&lt;/TableIndex&gt;&lt;TableIndex row=&quot;5&quot; col=&quot;6&quot;&gt;&lt;linesCount val=&quot;1&quot;/&gt;&lt;lineCharCount val=&quot;7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1&quot;/&gt;&lt;lineCharCount val=&quot;5&quot;/&gt;&lt;/TableIndex&gt;&lt;TableIndex row=&quot;6&quot; col=&quot;5&quot;&gt;&lt;linesCount val=&quot;1&quot;/&gt;&lt;lineCharCount val=&quot;7&quot;/&gt;&lt;/TableIndex&gt;&lt;TableIndex row=&quot;6&quot; col=&quot;6&quot;&gt;&lt;linesCount val=&quot;1&quot;/&gt;&lt;lineCharCount val=&quot;7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442097947,C:\Users\sanmi\GoogleDrive\UWMdrive\Courses\ECE552\ece552-lec21_FloatingPoint_pptx\Media.ppcx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31DB585-DB4A-40CB-862D-C9251B14DB7C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6137FB0D-0A3A-4B9F-A4D4-1AF356B6DA9E}_22.png&quot;/&gt;&lt;left val=&quot;27&quot;/&gt;&lt;top val=&quot;120&quot;/&gt;&lt;width val=&quot;687&quot;/&gt;&lt;height val=&quot;126&quot;/&gt;&lt;hasText val=&quot;1&quot;/&gt;&lt;/Image&gt;&lt;/ThreeDShapeInfo&gt;"/>
  <p:tag name="PRESENTER_SHAPETEXTINFO" val="&lt;ShapeTextInfo&gt;&lt;TableIndex row=&quot;-1&quot; col=&quot;-1&quot;&gt;&lt;linesCount val=&quot;3&quot;/&gt;&lt;lineCharCount val=&quot;50&quot;/&gt;&lt;lineCharCount val=&quot;21&quot;/&gt;&lt;lineCharCount val=&quot;32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C410149-021A-4373-A899-A6CBA7D43986}_2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2E6F0462-424F-4113-944C-83DBCD8FF13E}_22.png&quot;/&gt;&lt;left val=&quot;17&quot;/&gt;&lt;top val=&quot;263&quot;/&gt;&lt;width val=&quot;693&quot;/&gt;&lt;height val=&quot;24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9&quot;/&gt;&lt;/TableIndex&gt;&lt;TableIndex row=&quot;1&quot; col=&quot;6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8&quot;/&gt;&lt;/TableIndex&gt;&lt;TableIndex row=&quot;2&quot; col=&quot;3&quot;&gt;&lt;linesCount val=&quot;1&quot;/&gt;&lt;lineCharCount val=&quot;11&quot;/&gt;&lt;/TableIndex&gt;&lt;TableIndex row=&quot;2&quot; col=&quot;4&quot;&gt;&lt;linesCount val=&quot;1&quot;/&gt;&lt;lineCharCount val=&quot;8&quot;/&gt;&lt;/TableIndex&gt;&lt;TableIndex row=&quot;2&quot; col=&quot;5&quot;&gt;&lt;linesCount val=&quot;1&quot;/&gt;&lt;lineCharCount val=&quot;11&quot;/&gt;&lt;/TableIndex&gt;&lt;TableIndex row=&quot;2&quot; col=&quot;6&quot;&gt;&lt;linesCount val=&quot;1&quot;/&gt;&lt;lineCharCount val=&quot;8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7&quot;/&gt;&lt;/TableIndex&gt;&lt;TableIndex row=&quot;3&quot; col=&quot;3&quot;&gt;&lt;linesCount val=&quot;1&quot;/&gt;&lt;lineCharCount val=&quot;7&quot;/&gt;&lt;/TableIndex&gt;&lt;TableIndex row=&quot;3&quot; col=&quot;4&quot;&gt;&lt;linesCount val=&quot;1&quot;/&gt;&lt;lineCharCount val=&quot;6&quot;/&gt;&lt;/TableIndex&gt;&lt;TableIndex row=&quot;3&quot; col=&quot;5&quot;&gt;&lt;linesCount val=&quot;0&quot;/&gt;&lt;/TableIndex&gt;&lt;TableIndex row=&quot;3&quot; col=&quot;6&quot;&gt;&lt;linesCount val=&quot;0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0&quot;/&gt;&lt;/TableIndex&gt;&lt;TableIndex row=&quot;4&quot; col=&quot;5&quot;&gt;&lt;linesCount val=&quot;0&quot;/&gt;&lt;/TableIndex&gt;&lt;TableIndex row=&quot;4&quot; col=&quot;6&quot;&gt;&lt;linesCount val=&quot;0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1&quot;/&gt;&lt;lineCharCount val=&quot;9&quot;/&gt;&lt;/TableIndex&gt;&lt;TableIndex row=&quot;5&quot; col=&quot;5&quot;&gt;&lt;linesCount val=&quot;0&quot;/&gt;&lt;/TableIndex&gt;&lt;TableIndex row=&quot;5&quot; col=&quot;6&quot;&gt;&lt;linesCount val=&quot;0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1&quot;/&gt;&lt;lineCharCount val=&quot;5&quot;/&gt;&lt;/TableIndex&gt;&lt;TableIndex row=&quot;6&quot; col=&quot;5&quot;&gt;&lt;linesCount val=&quot;0&quot;/&gt;&lt;/TableIndex&gt;&lt;TableIndex row=&quot;6&quot; col=&quot;6&quot;&gt;&lt;linesCount val=&quot;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  <p:tag name="PPSNARRATION" val="23,442097947,C:\Users\sanmi\GoogleDrive\UWMdrive\Courses\ECE552\ece552-lec21_FloatingPoint_pptx\Media.ppcx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4933E00-28B7-43FC-AD2F-704B4648BE07}_2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CA2D4F6-8D58-4CEC-A205-7B994CAD27F3}_23.png&quot;/&gt;&lt;left val=&quot;27&quot;/&gt;&lt;top val=&quot;120&quot;/&gt;&lt;width val=&quot;687&quot;/&gt;&lt;height val=&quot;126&quot;/&gt;&lt;hasText val=&quot;1&quot;/&gt;&lt;/Image&gt;&lt;/ThreeDShapeInfo&gt;"/>
  <p:tag name="PRESENTER_SHAPETEXTINFO" val="&lt;ShapeTextInfo&gt;&lt;TableIndex row=&quot;-1&quot; col=&quot;-1&quot;&gt;&lt;linesCount val=&quot;3&quot;/&gt;&lt;lineCharCount val=&quot;50&quot;/&gt;&lt;lineCharCount val=&quot;21&quot;/&gt;&lt;lineCharCount val=&quot;32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6230F2ED-8392-42C5-8F27-D230BFF2D207}_2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6DC07541-C409-46A2-ABA3-F960C4D8FB0A}_23.png&quot;/&gt;&lt;left val=&quot;17&quot;/&gt;&lt;top val=&quot;263&quot;/&gt;&lt;width val=&quot;693&quot;/&gt;&lt;height val=&quot;24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9&quot;/&gt;&lt;/TableIndex&gt;&lt;TableIndex row=&quot;1&quot; col=&quot;6&quot;&gt;&lt;linesCount val=&quot;1&quot;/&gt;&lt;lineCharCount val=&quot;9&quot;/&gt;&lt;/TableIndex&gt;&lt;TableIndex row=&quot;2&quot; col=&quot;1&quot;&gt;&lt;linesCount val=&quot;1&quot;/&gt;&lt;lineCharCount val=&quot;11&quot;/&gt;&lt;/TableIndex&gt;&lt;TableIndex row=&quot;2&quot; col=&quot;2&quot;&gt;&lt;linesCount val=&quot;1&quot;/&gt;&lt;lineCharCount val=&quot;8&quot;/&gt;&lt;/TableIndex&gt;&lt;TableIndex row=&quot;2&quot; col=&quot;3&quot;&gt;&lt;linesCount val=&quot;1&quot;/&gt;&lt;lineCharCount val=&quot;11&quot;/&gt;&lt;/TableIndex&gt;&lt;TableIndex row=&quot;2&quot; col=&quot;4&quot;&gt;&lt;linesCount val=&quot;1&quot;/&gt;&lt;lineCharCount val=&quot;8&quot;/&gt;&lt;/TableIndex&gt;&lt;TableIndex row=&quot;2&quot; col=&quot;5&quot;&gt;&lt;linesCount val=&quot;1&quot;/&gt;&lt;lineCharCount val=&quot;11&quot;/&gt;&lt;/TableIndex&gt;&lt;TableIndex row=&quot;2&quot; col=&quot;6&quot;&gt;&lt;linesCount val=&quot;1&quot;/&gt;&lt;lineCharCount val=&quot;8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7&quot;/&gt;&lt;/TableIndex&gt;&lt;TableIndex row=&quot;3&quot; col=&quot;3&quot;&gt;&lt;linesCount val=&quot;1&quot;/&gt;&lt;lineCharCount val=&quot;7&quot;/&gt;&lt;/TableIndex&gt;&lt;TableIndex row=&quot;3&quot; col=&quot;4&quot;&gt;&lt;linesCount val=&quot;1&quot;/&gt;&lt;lineCharCount val=&quot;6&quot;/&gt;&lt;/TableIndex&gt;&lt;TableIndex row=&quot;3&quot; col=&quot;5&quot;&gt;&lt;linesCount val=&quot;1&quot;/&gt;&lt;lineCharCount val=&quot;13&quot;/&gt;&lt;/TableIndex&gt;&lt;TableIndex row=&quot;3&quot; col=&quot;6&quot;&gt;&lt;linesCount val=&quot;1&quot;/&gt;&lt;lineCharCount val=&quot;7&quot;/&gt;&lt;/TableIndex&gt;&lt;TableIndex row=&quot;4&quot; col=&quot;1&quot;&gt;&lt;linesCount val=&quot;0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0&quot;/&gt;&lt;/TableIndex&gt;&lt;TableIndex row=&quot;4&quot; col=&quot;5&quot;&gt;&lt;linesCount val=&quot;1&quot;/&gt;&lt;lineCharCount val=&quot;10&quot;/&gt;&lt;/TableIndex&gt;&lt;TableIndex row=&quot;4&quot; col=&quot;6&quot;&gt;&lt;linesCount val=&quot;1&quot;/&gt;&lt;lineCharCount val=&quot;7&quot;/&gt;&lt;/TableIndex&gt;&lt;TableIndex row=&quot;5&quot; col=&quot;1&quot;&gt;&lt;linesCount val=&quot;0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1&quot;/&gt;&lt;lineCharCount val=&quot;9&quot;/&gt;&lt;/TableIndex&gt;&lt;TableIndex row=&quot;5&quot; col=&quot;5&quot;&gt;&lt;linesCount val=&quot;1&quot;/&gt;&lt;lineCharCount val=&quot;10&quot;/&gt;&lt;/TableIndex&gt;&lt;TableIndex row=&quot;5&quot; col=&quot;6&quot;&gt;&lt;linesCount val=&quot;1&quot;/&gt;&lt;lineCharCount val=&quot;7&quot;/&gt;&lt;/TableIndex&gt;&lt;TableIndex row=&quot;6&quot; col=&quot;1&quot;&gt;&lt;linesCount val=&quot;0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1&quot;/&gt;&lt;lineCharCount val=&quot;5&quot;/&gt;&lt;/TableIndex&gt;&lt;TableIndex row=&quot;6&quot; col=&quot;5&quot;&gt;&lt;linesCount val=&quot;1&quot;/&gt;&lt;lineCharCount val=&quot;7&quot;/&gt;&lt;/TableIndex&gt;&lt;TableIndex row=&quot;6&quot; col=&quot;6&quot;&gt;&lt;linesCount val=&quot;1&quot;/&gt;&lt;lineCharCount val=&quot;7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1642</TotalTime>
  <Words>1388</Words>
  <Application>Microsoft Macintosh PowerPoint</Application>
  <PresentationFormat>On-screen Show (4:3)</PresentationFormat>
  <Paragraphs>424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Tahoma</vt:lpstr>
      <vt:lpstr>Times New Roman</vt:lpstr>
      <vt:lpstr>Wingdings</vt:lpstr>
      <vt:lpstr>Lecture Notes 552</vt:lpstr>
      <vt:lpstr>ECE/CS 552: Floating Point</vt:lpstr>
      <vt:lpstr>Forecast</vt:lpstr>
      <vt:lpstr>Floating Point</vt:lpstr>
      <vt:lpstr>Floating Point</vt:lpstr>
      <vt:lpstr>Floating Point</vt:lpstr>
      <vt:lpstr>Normalization</vt:lpstr>
      <vt:lpstr>Biased Exponent</vt:lpstr>
      <vt:lpstr>Biased Exponent</vt:lpstr>
      <vt:lpstr>IEEE754 Special Cases</vt:lpstr>
      <vt:lpstr>FP Overflow/Underflow</vt:lpstr>
      <vt:lpstr>FP Addition</vt:lpstr>
      <vt:lpstr>FP Addition</vt:lpstr>
      <vt:lpstr>FP Adder</vt:lpstr>
      <vt:lpstr>FP Rounding</vt:lpstr>
      <vt:lpstr>FP Rounding</vt:lpstr>
      <vt:lpstr>FP Multiplication</vt:lpstr>
      <vt:lpstr>FP Multiplication</vt:lpstr>
      <vt:lpstr>FP Multiplication</vt:lpstr>
      <vt:lpstr>FP Multiplication</vt:lpstr>
      <vt:lpstr>FP Rounding</vt:lpstr>
      <vt:lpstr>FP Rounding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Floating Point</dc:title>
  <dc:creator/>
  <cp:lastModifiedBy>Boone Severson</cp:lastModifiedBy>
  <cp:revision>452</cp:revision>
  <cp:lastPrinted>1601-01-01T00:00:00Z</cp:lastPrinted>
  <dcterms:created xsi:type="dcterms:W3CDTF">1601-01-01T00:00:00Z</dcterms:created>
  <dcterms:modified xsi:type="dcterms:W3CDTF">2024-08-29T04:27:15Z</dcterms:modified>
</cp:coreProperties>
</file>