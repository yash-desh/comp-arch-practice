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3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4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5.xml" ContentType="application/vnd.openxmlformats-officedocument.presentationml.notesSlide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6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8" r:id="rId1"/>
  </p:sldMasterIdLst>
  <p:notesMasterIdLst>
    <p:notesMasterId r:id="rId9"/>
  </p:notesMasterIdLst>
  <p:handoutMasterIdLst>
    <p:handoutMasterId r:id="rId10"/>
  </p:handoutMasterIdLst>
  <p:sldIdLst>
    <p:sldId id="508" r:id="rId2"/>
    <p:sldId id="710" r:id="rId3"/>
    <p:sldId id="711" r:id="rId4"/>
    <p:sldId id="734" r:id="rId5"/>
    <p:sldId id="747" r:id="rId6"/>
    <p:sldId id="729" r:id="rId7"/>
    <p:sldId id="662" r:id="rId8"/>
  </p:sldIdLst>
  <p:sldSz cx="9144000" cy="6858000" type="screen4x3"/>
  <p:notesSz cx="6845300" cy="9396413"/>
  <p:custDataLst>
    <p:tags r:id="rId1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FF3300"/>
    <a:srgbClr val="000000"/>
    <a:srgbClr val="006600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 autoAdjust="0"/>
    <p:restoredTop sz="86531" autoAdjust="0"/>
  </p:normalViewPr>
  <p:slideViewPr>
    <p:cSldViewPr>
      <p:cViewPr varScale="1">
        <p:scale>
          <a:sx n="110" d="100"/>
          <a:sy n="110" d="100"/>
        </p:scale>
        <p:origin x="213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36"/>
    </p:cViewPr>
  </p:sorterViewPr>
  <p:notesViewPr>
    <p:cSldViewPr>
      <p:cViewPr varScale="1">
        <p:scale>
          <a:sx n="75" d="100"/>
          <a:sy n="75" d="100"/>
        </p:scale>
        <p:origin x="-1416" y="-96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one Severson" userId="1d942a2b-e0b5-491a-b49e-d500fa0ad426" providerId="ADAL" clId="{4FD7F275-865D-BE48-958D-E5D94AB00565}"/>
    <pc:docChg chg="modSld">
      <pc:chgData name="Boone Severson" userId="1d942a2b-e0b5-491a-b49e-d500fa0ad426" providerId="ADAL" clId="{4FD7F275-865D-BE48-958D-E5D94AB00565}" dt="2024-10-29T05:03:58.581" v="53" actId="20577"/>
      <pc:docMkLst>
        <pc:docMk/>
      </pc:docMkLst>
      <pc:sldChg chg="modSp mod">
        <pc:chgData name="Boone Severson" userId="1d942a2b-e0b5-491a-b49e-d500fa0ad426" providerId="ADAL" clId="{4FD7F275-865D-BE48-958D-E5D94AB00565}" dt="2024-10-29T05:03:58.581" v="53" actId="20577"/>
        <pc:sldMkLst>
          <pc:docMk/>
          <pc:sldMk cId="0" sldId="508"/>
        </pc:sldMkLst>
        <pc:spChg chg="mod">
          <ac:chgData name="Boone Severson" userId="1d942a2b-e0b5-491a-b49e-d500fa0ad426" providerId="ADAL" clId="{4FD7F275-865D-BE48-958D-E5D94AB00565}" dt="2024-10-29T05:03:58.581" v="53" actId="20577"/>
          <ac:spMkLst>
            <pc:docMk/>
            <pc:sldMk cId="0" sldId="508"/>
            <ac:spMk id="3" creationId="{F0DF9377-1361-4555-9AF6-6E957C3B90C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265A1D1-E02A-4C7C-A26E-3B72CC3DFE4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36186A0-BA54-4798-AF4A-931661C4599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DC7F4BFC-FEC0-4811-A648-47247991DC1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/>
            </a:lvl1pPr>
          </a:lstStyle>
          <a:p>
            <a:pPr>
              <a:defRPr/>
            </a:pPr>
            <a:r>
              <a:rPr lang="en-US"/>
              <a:t>ECE/CS 552: Introduction To Computer Architecture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1B82212A-5CD5-4303-B5F0-8F435E2E8DA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 smtClean="0"/>
            </a:lvl1pPr>
          </a:lstStyle>
          <a:p>
            <a:pPr>
              <a:defRPr/>
            </a:pPr>
            <a:fld id="{6C41ABF2-B580-4648-8F17-B7174DD7CD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2D836EF-8AC7-41F9-B5D0-0DA1A9D825E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4CE16B0C-DDEC-44EE-8D3D-2EB3F53B891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DDE18D93-9A93-45A1-AEA7-369D36FD601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74738" y="704850"/>
            <a:ext cx="4697412" cy="35226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D727E3FB-32B0-44DD-8A12-749334A5DB8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66384353-C0EC-4A93-8CC5-952CD52580F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06A17750-20F3-41D3-8CFF-A6C37F575B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 smtClean="0"/>
            </a:lvl1pPr>
          </a:lstStyle>
          <a:p>
            <a:pPr>
              <a:defRPr/>
            </a:pPr>
            <a:fld id="{43577E0A-36EE-4C5A-B143-8076ACCFAD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3577E0A-36EE-4C5A-B143-8076ACCFAD20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3709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3577E0A-36EE-4C5A-B143-8076ACCFAD20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4357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3577E0A-36EE-4C5A-B143-8076ACCFAD20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3236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3577E0A-36EE-4C5A-B143-8076ACCFAD20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1522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3577E0A-36EE-4C5A-B143-8076ACCFAD20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4544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3577E0A-36EE-4C5A-B143-8076ACCFAD20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9247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3577E0A-36EE-4C5A-B143-8076ACCFAD20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629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>
            <a:extLst>
              <a:ext uri="{FF2B5EF4-FFF2-40B4-BE49-F238E27FC236}">
                <a16:creationId xmlns:a16="http://schemas.microsoft.com/office/drawing/2014/main" id="{5EE89BE7-8323-4318-9AB9-E7A8E3566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>
            <a:extLst>
              <a:ext uri="{FF2B5EF4-FFF2-40B4-BE49-F238E27FC236}">
                <a16:creationId xmlns:a16="http://schemas.microsoft.com/office/drawing/2014/main" id="{150B25E2-39D9-4F59-8B05-EFFB1B176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B6DA99E-8349-4C4A-B374-9C4E185C80D3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03A25AF-F97B-4F7B-967D-813F0A1AAC13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Hill, Lipasti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FC658A8-3A31-4CB0-BAE2-CA2FAD9DA95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 smtClean="0"/>
            </a:lvl2pPr>
          </a:lstStyle>
          <a:p>
            <a:pPr lvl="1">
              <a:defRPr/>
            </a:pPr>
            <a:fld id="{1F285AF4-0B46-48F1-8B83-A0F620BDFCC6}" type="slidenum">
              <a:rPr lang="en-US" altLang="en-US"/>
              <a:pPr lvl="1"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068883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E0A88A1-6D76-4FB4-A4D2-1A67C525DB89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D648097-5928-49AE-A44B-FC48F925DED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Hill, Lipasti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3AA1FCD-544A-4B62-9C0D-32A49F92AFC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 sz="1400" smtClean="0"/>
            </a:lvl2pPr>
          </a:lstStyle>
          <a:p>
            <a:pPr lvl="1">
              <a:defRPr/>
            </a:pPr>
            <a:fld id="{0831C007-5AA1-4C47-955B-DD23833C3AF5}" type="slidenum">
              <a:rPr lang="en-US" altLang="en-US"/>
              <a:pPr lvl="1"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405641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F5278BA-1E35-4BC4-BF23-D84C98BB1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4D5D7D5-70C8-42EB-AB2D-F3C6BCB9B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Hill, Lipasti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DB0CA07-943C-41DB-B4DC-C3EF32A02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616649BF-80F5-4EB8-8719-755DB09E0362}" type="slidenum">
              <a:rPr lang="en-US" altLang="en-US"/>
              <a:pPr lvl="1"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5372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625" y="609600"/>
            <a:ext cx="8080375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2625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5025" y="1981200"/>
            <a:ext cx="3810000" cy="4114800"/>
          </a:xfrm>
        </p:spPr>
        <p:txBody>
          <a:bodyPr/>
          <a:lstStyle/>
          <a:p>
            <a:pPr lvl="0"/>
            <a:r>
              <a:rPr lang="en-US" noProof="0"/>
              <a:t>Click icon to add clip art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47A700F-2DFE-46A7-A5B7-6063E2AB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2B393B3-580F-4CF9-B308-1AC16FEFC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Hill, Lipasti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B02111-9F4F-48E5-A947-3C3A6333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D491F779-F8AA-4D49-A708-A8884C6ED3C7}" type="slidenum">
              <a:rPr lang="en-US" altLang="en-US"/>
              <a:pPr lvl="1"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3609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4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10" Type="http://schemas.openxmlformats.org/officeDocument/2006/relationships/tags" Target="../tags/tag6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4236D43-C05A-4E1E-B06C-38A6BD0B917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FA32B47-E041-4EB6-999C-8E99AFF3D48A}"/>
              </a:ext>
            </a:extLst>
          </p:cNvPr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2D67B-0FAE-42FA-85D0-6E87896F28D2}"/>
              </a:ext>
            </a:extLst>
          </p:cNvPr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9169F-9B0A-4A21-BF71-C252D1B4C8E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© Hill, Lipasti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FDA4B-7157-4323-98FC-BB1B505EC304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2pPr lvl="1" algn="r" eaLnBrk="1" hangingPunct="1">
              <a:defRPr smtClean="0">
                <a:latin typeface="Calibri" panose="020F0502020204030204" pitchFamily="34" charset="0"/>
              </a:defRPr>
            </a:lvl2pPr>
          </a:lstStyle>
          <a:p>
            <a:pPr lvl="1">
              <a:defRPr/>
            </a:pPr>
            <a:fld id="{04C44D9C-287F-4E2F-8D85-A8F87AC95E32}" type="slidenum">
              <a:rPr lang="en-US" altLang="en-US"/>
              <a:pPr lvl="1"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3" r:id="rId3"/>
    <p:sldLayoutId id="2147483764" r:id="rId4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13" Type="http://schemas.openxmlformats.org/officeDocument/2006/relationships/tags" Target="../tags/tag36.xml"/><Relationship Id="rId18" Type="http://schemas.openxmlformats.org/officeDocument/2006/relationships/tags" Target="../tags/tag41.xml"/><Relationship Id="rId26" Type="http://schemas.openxmlformats.org/officeDocument/2006/relationships/slideLayout" Target="../slideLayouts/slideLayout2.xml"/><Relationship Id="rId3" Type="http://schemas.openxmlformats.org/officeDocument/2006/relationships/tags" Target="../tags/tag26.xml"/><Relationship Id="rId21" Type="http://schemas.openxmlformats.org/officeDocument/2006/relationships/tags" Target="../tags/tag44.xml"/><Relationship Id="rId7" Type="http://schemas.openxmlformats.org/officeDocument/2006/relationships/tags" Target="../tags/tag30.xml"/><Relationship Id="rId12" Type="http://schemas.openxmlformats.org/officeDocument/2006/relationships/tags" Target="../tags/tag35.xml"/><Relationship Id="rId17" Type="http://schemas.openxmlformats.org/officeDocument/2006/relationships/tags" Target="../tags/tag40.xml"/><Relationship Id="rId25" Type="http://schemas.openxmlformats.org/officeDocument/2006/relationships/tags" Target="../tags/tag48.xml"/><Relationship Id="rId2" Type="http://schemas.openxmlformats.org/officeDocument/2006/relationships/tags" Target="../tags/tag25.xml"/><Relationship Id="rId16" Type="http://schemas.openxmlformats.org/officeDocument/2006/relationships/tags" Target="../tags/tag39.xml"/><Relationship Id="rId20" Type="http://schemas.openxmlformats.org/officeDocument/2006/relationships/tags" Target="../tags/tag43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tags" Target="../tags/tag34.xml"/><Relationship Id="rId24" Type="http://schemas.openxmlformats.org/officeDocument/2006/relationships/tags" Target="../tags/tag47.xml"/><Relationship Id="rId5" Type="http://schemas.openxmlformats.org/officeDocument/2006/relationships/tags" Target="../tags/tag28.xml"/><Relationship Id="rId15" Type="http://schemas.openxmlformats.org/officeDocument/2006/relationships/tags" Target="../tags/tag38.xml"/><Relationship Id="rId23" Type="http://schemas.openxmlformats.org/officeDocument/2006/relationships/tags" Target="../tags/tag46.xml"/><Relationship Id="rId10" Type="http://schemas.openxmlformats.org/officeDocument/2006/relationships/tags" Target="../tags/tag33.xml"/><Relationship Id="rId19" Type="http://schemas.openxmlformats.org/officeDocument/2006/relationships/tags" Target="../tags/tag42.xml"/><Relationship Id="rId4" Type="http://schemas.openxmlformats.org/officeDocument/2006/relationships/tags" Target="../tags/tag27.xml"/><Relationship Id="rId9" Type="http://schemas.openxmlformats.org/officeDocument/2006/relationships/tags" Target="../tags/tag32.xml"/><Relationship Id="rId14" Type="http://schemas.openxmlformats.org/officeDocument/2006/relationships/tags" Target="../tags/tag37.xml"/><Relationship Id="rId22" Type="http://schemas.openxmlformats.org/officeDocument/2006/relationships/tags" Target="../tags/tag45.xml"/><Relationship Id="rId2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13" Type="http://schemas.openxmlformats.org/officeDocument/2006/relationships/tags" Target="../tags/tag61.xml"/><Relationship Id="rId18" Type="http://schemas.openxmlformats.org/officeDocument/2006/relationships/tags" Target="../tags/tag66.xml"/><Relationship Id="rId26" Type="http://schemas.openxmlformats.org/officeDocument/2006/relationships/tags" Target="../tags/tag74.xml"/><Relationship Id="rId3" Type="http://schemas.openxmlformats.org/officeDocument/2006/relationships/tags" Target="../tags/tag51.xml"/><Relationship Id="rId21" Type="http://schemas.openxmlformats.org/officeDocument/2006/relationships/tags" Target="../tags/tag69.xml"/><Relationship Id="rId7" Type="http://schemas.openxmlformats.org/officeDocument/2006/relationships/tags" Target="../tags/tag55.xml"/><Relationship Id="rId12" Type="http://schemas.openxmlformats.org/officeDocument/2006/relationships/tags" Target="../tags/tag60.xml"/><Relationship Id="rId17" Type="http://schemas.openxmlformats.org/officeDocument/2006/relationships/tags" Target="../tags/tag65.xml"/><Relationship Id="rId25" Type="http://schemas.openxmlformats.org/officeDocument/2006/relationships/tags" Target="../tags/tag73.xml"/><Relationship Id="rId2" Type="http://schemas.openxmlformats.org/officeDocument/2006/relationships/tags" Target="../tags/tag50.xml"/><Relationship Id="rId16" Type="http://schemas.openxmlformats.org/officeDocument/2006/relationships/tags" Target="../tags/tag64.xml"/><Relationship Id="rId20" Type="http://schemas.openxmlformats.org/officeDocument/2006/relationships/tags" Target="../tags/tag68.xml"/><Relationship Id="rId29" Type="http://schemas.openxmlformats.org/officeDocument/2006/relationships/notesSlide" Target="../notesSlides/notesSlide4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tags" Target="../tags/tag59.xml"/><Relationship Id="rId24" Type="http://schemas.openxmlformats.org/officeDocument/2006/relationships/tags" Target="../tags/tag72.xml"/><Relationship Id="rId5" Type="http://schemas.openxmlformats.org/officeDocument/2006/relationships/tags" Target="../tags/tag53.xml"/><Relationship Id="rId15" Type="http://schemas.openxmlformats.org/officeDocument/2006/relationships/tags" Target="../tags/tag63.xml"/><Relationship Id="rId23" Type="http://schemas.openxmlformats.org/officeDocument/2006/relationships/tags" Target="../tags/tag71.xml"/><Relationship Id="rId28" Type="http://schemas.openxmlformats.org/officeDocument/2006/relationships/slideLayout" Target="../slideLayouts/slideLayout2.xml"/><Relationship Id="rId10" Type="http://schemas.openxmlformats.org/officeDocument/2006/relationships/tags" Target="../tags/tag58.xml"/><Relationship Id="rId19" Type="http://schemas.openxmlformats.org/officeDocument/2006/relationships/tags" Target="../tags/tag67.xml"/><Relationship Id="rId4" Type="http://schemas.openxmlformats.org/officeDocument/2006/relationships/tags" Target="../tags/tag52.xml"/><Relationship Id="rId9" Type="http://schemas.openxmlformats.org/officeDocument/2006/relationships/tags" Target="../tags/tag57.xml"/><Relationship Id="rId14" Type="http://schemas.openxmlformats.org/officeDocument/2006/relationships/tags" Target="../tags/tag62.xml"/><Relationship Id="rId22" Type="http://schemas.openxmlformats.org/officeDocument/2006/relationships/tags" Target="../tags/tag70.xml"/><Relationship Id="rId27" Type="http://schemas.openxmlformats.org/officeDocument/2006/relationships/tags" Target="../tags/tag7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13" Type="http://schemas.openxmlformats.org/officeDocument/2006/relationships/tags" Target="../tags/tag88.xml"/><Relationship Id="rId18" Type="http://schemas.openxmlformats.org/officeDocument/2006/relationships/tags" Target="../tags/tag93.xml"/><Relationship Id="rId26" Type="http://schemas.openxmlformats.org/officeDocument/2006/relationships/tags" Target="../tags/tag101.xml"/><Relationship Id="rId3" Type="http://schemas.openxmlformats.org/officeDocument/2006/relationships/tags" Target="../tags/tag78.xml"/><Relationship Id="rId21" Type="http://schemas.openxmlformats.org/officeDocument/2006/relationships/tags" Target="../tags/tag96.xml"/><Relationship Id="rId7" Type="http://schemas.openxmlformats.org/officeDocument/2006/relationships/tags" Target="../tags/tag82.xml"/><Relationship Id="rId12" Type="http://schemas.openxmlformats.org/officeDocument/2006/relationships/tags" Target="../tags/tag87.xml"/><Relationship Id="rId17" Type="http://schemas.openxmlformats.org/officeDocument/2006/relationships/tags" Target="../tags/tag92.xml"/><Relationship Id="rId25" Type="http://schemas.openxmlformats.org/officeDocument/2006/relationships/tags" Target="../tags/tag100.xml"/><Relationship Id="rId2" Type="http://schemas.openxmlformats.org/officeDocument/2006/relationships/tags" Target="../tags/tag77.xml"/><Relationship Id="rId16" Type="http://schemas.openxmlformats.org/officeDocument/2006/relationships/tags" Target="../tags/tag91.xml"/><Relationship Id="rId20" Type="http://schemas.openxmlformats.org/officeDocument/2006/relationships/tags" Target="../tags/tag95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tags" Target="../tags/tag86.xml"/><Relationship Id="rId24" Type="http://schemas.openxmlformats.org/officeDocument/2006/relationships/tags" Target="../tags/tag99.xml"/><Relationship Id="rId5" Type="http://schemas.openxmlformats.org/officeDocument/2006/relationships/tags" Target="../tags/tag80.xml"/><Relationship Id="rId15" Type="http://schemas.openxmlformats.org/officeDocument/2006/relationships/tags" Target="../tags/tag90.xml"/><Relationship Id="rId23" Type="http://schemas.openxmlformats.org/officeDocument/2006/relationships/tags" Target="../tags/tag98.xml"/><Relationship Id="rId28" Type="http://schemas.openxmlformats.org/officeDocument/2006/relationships/notesSlide" Target="../notesSlides/notesSlide5.xml"/><Relationship Id="rId10" Type="http://schemas.openxmlformats.org/officeDocument/2006/relationships/tags" Target="../tags/tag85.xml"/><Relationship Id="rId19" Type="http://schemas.openxmlformats.org/officeDocument/2006/relationships/tags" Target="../tags/tag94.xml"/><Relationship Id="rId4" Type="http://schemas.openxmlformats.org/officeDocument/2006/relationships/tags" Target="../tags/tag79.xml"/><Relationship Id="rId9" Type="http://schemas.openxmlformats.org/officeDocument/2006/relationships/tags" Target="../tags/tag84.xml"/><Relationship Id="rId14" Type="http://schemas.openxmlformats.org/officeDocument/2006/relationships/tags" Target="../tags/tag89.xml"/><Relationship Id="rId22" Type="http://schemas.openxmlformats.org/officeDocument/2006/relationships/tags" Target="../tags/tag97.xml"/><Relationship Id="rId27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FAEC3731-8914-466C-A561-03A7EF2CEA18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57200" y="2495550"/>
            <a:ext cx="8229600" cy="1238250"/>
          </a:xfrm>
        </p:spPr>
        <p:txBody>
          <a:bodyPr/>
          <a:lstStyle/>
          <a:p>
            <a:pPr eaLnBrk="1" hangingPunct="1"/>
            <a:r>
              <a:rPr lang="en-US" altLang="en-US" dirty="0"/>
              <a:t>ECE/CS 552: Cache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DF9377-1361-4555-9AF6-6E957C3B90C0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Boone Severson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Lecture notes based in part on slides created by Joshua San Miguel, Mikko </a:t>
            </a:r>
            <a:r>
              <a:rPr lang="en-US" sz="2200" dirty="0" err="1"/>
              <a:t>Lipasti</a:t>
            </a:r>
            <a:r>
              <a:rPr lang="en-US" sz="2200" dirty="0"/>
              <a:t>, Mark Hill, David Wood, Guri Sohi, John Shen and Jim Smith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 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Caches – Associativity</a:t>
            </a:r>
          </a:p>
        </p:txBody>
      </p:sp>
      <p:sp>
        <p:nvSpPr>
          <p:cNvPr id="39939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1FB1ABF9-092F-4400-BE51-E623110639E1}" type="slidenum">
              <a:rPr lang="en-US" altLang="en-US"/>
              <a:pPr lvl="1" eaLnBrk="1" hangingPunct="1"/>
              <a:t>2</a:t>
            </a:fld>
            <a:endParaRPr lang="en-US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AE4C810-0D73-45DE-8A43-E652A2557973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4"/>
            </p:custDataLst>
          </p:nvPr>
        </p:nvSpPr>
        <p:spPr>
          <a:xfrm>
            <a:off x="457200" y="1600200"/>
            <a:ext cx="83058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b="1" dirty="0"/>
              <a:t>Set-associativity: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Cache </a:t>
            </a:r>
            <a:r>
              <a:rPr lang="en-US" altLang="en-US" sz="2400" i="1" dirty="0"/>
              <a:t>way</a:t>
            </a:r>
            <a:r>
              <a:rPr lang="en-US" altLang="en-US" sz="2400" dirty="0"/>
              <a:t>: one possible storage location that a given block can be placed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Cache </a:t>
            </a:r>
            <a:r>
              <a:rPr lang="en-US" altLang="en-US" sz="2400" i="1" dirty="0"/>
              <a:t>set</a:t>
            </a:r>
            <a:r>
              <a:rPr lang="en-US" altLang="en-US" sz="2400" dirty="0"/>
              <a:t>: group of ways for a given block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b="1" dirty="0"/>
              <a:t>N-way set-associative </a:t>
            </a:r>
            <a:r>
              <a:rPr lang="en-US" altLang="en-US" sz="2000" dirty="0"/>
              <a:t>cache: every block has exactly N locations (ways) where it can be placed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b="1" dirty="0"/>
              <a:t>Direct-mapped </a:t>
            </a:r>
            <a:r>
              <a:rPr lang="en-US" altLang="en-US" sz="2000" dirty="0"/>
              <a:t>cache: N = 1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b="1" dirty="0"/>
              <a:t>Fully-associative</a:t>
            </a:r>
            <a:r>
              <a:rPr lang="en-US" altLang="en-US" sz="2000" dirty="0"/>
              <a:t> cache: N = total number of blocks in cache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703700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Caches – Associativity</a:t>
            </a:r>
          </a:p>
        </p:txBody>
      </p:sp>
      <p:sp>
        <p:nvSpPr>
          <p:cNvPr id="39939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1FB1ABF9-092F-4400-BE51-E623110639E1}" type="slidenum">
              <a:rPr lang="en-US" altLang="en-US"/>
              <a:pPr lvl="1" eaLnBrk="1" hangingPunct="1"/>
              <a:t>3</a:t>
            </a:fld>
            <a:endParaRPr lang="en-US" alt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45BE81F-7E63-42E4-A768-6A2DBF6438D0}"/>
              </a:ext>
            </a:extLst>
          </p:cNvPr>
          <p:cNvCxnSpPr/>
          <p:nvPr/>
        </p:nvCxnSpPr>
        <p:spPr>
          <a:xfrm>
            <a:off x="1371600" y="4141694"/>
            <a:ext cx="13716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013A05E-2BC7-4EE8-AE54-477FEED93E54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706663406"/>
              </p:ext>
            </p:extLst>
          </p:nvPr>
        </p:nvGraphicFramePr>
        <p:xfrm>
          <a:off x="2743200" y="2846294"/>
          <a:ext cx="5710645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74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tag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tag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alibri"/>
                        </a:rPr>
                        <a:t>● ● ●</a:t>
                      </a:r>
                      <a:endParaRPr lang="en-US" b="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alibri"/>
                        </a:rPr>
                        <a:t>● ● ●</a:t>
                      </a:r>
                      <a:endParaRPr lang="en-US" b="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(X)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rapezoid 7">
            <a:extLst>
              <a:ext uri="{FF2B5EF4-FFF2-40B4-BE49-F238E27FC236}">
                <a16:creationId xmlns:a16="http://schemas.microsoft.com/office/drawing/2014/main" id="{7D55239E-209F-495A-8B42-1E271C042D7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flipV="1">
            <a:off x="6477000" y="5410200"/>
            <a:ext cx="2514600" cy="365760"/>
          </a:xfrm>
          <a:prstGeom prst="trapezoid">
            <a:avLst>
              <a:gd name="adj" fmla="val 86212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BEEB579-362A-4A16-AE30-59E1934ACA3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617720" y="5311602"/>
            <a:ext cx="411480" cy="411480"/>
          </a:xfrm>
          <a:prstGeom prst="ellipse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=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894139C-8958-40DA-96C5-7E7E1362CDE8}"/>
              </a:ext>
            </a:extLst>
          </p:cNvPr>
          <p:cNvCxnSpPr/>
          <p:nvPr/>
        </p:nvCxnSpPr>
        <p:spPr>
          <a:xfrm>
            <a:off x="5029200" y="5540202"/>
            <a:ext cx="146304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44F9E8-ABB5-4920-A616-85AF243C4DC1}"/>
              </a:ext>
            </a:extLst>
          </p:cNvPr>
          <p:cNvCxnSpPr/>
          <p:nvPr/>
        </p:nvCxnSpPr>
        <p:spPr>
          <a:xfrm rot="5400000">
            <a:off x="4251960" y="4705574"/>
            <a:ext cx="109728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49A967-7F07-4B1E-B62B-888B49868097}"/>
              </a:ext>
            </a:extLst>
          </p:cNvPr>
          <p:cNvCxnSpPr/>
          <p:nvPr/>
        </p:nvCxnSpPr>
        <p:spPr>
          <a:xfrm rot="5400000">
            <a:off x="7970520" y="4797014"/>
            <a:ext cx="128016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5C35EAF-D1F2-4395-9584-B890290FB6C0}"/>
              </a:ext>
            </a:extLst>
          </p:cNvPr>
          <p:cNvCxnSpPr/>
          <p:nvPr/>
        </p:nvCxnSpPr>
        <p:spPr>
          <a:xfrm rot="5400000">
            <a:off x="7604760" y="5867400"/>
            <a:ext cx="18288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4DC620-9FB7-455C-A54B-B17860249AC7}"/>
              </a:ext>
            </a:extLst>
          </p:cNvPr>
          <p:cNvCxnSpPr/>
          <p:nvPr/>
        </p:nvCxnSpPr>
        <p:spPr>
          <a:xfrm>
            <a:off x="4648200" y="4141694"/>
            <a:ext cx="164592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17CC8B1-6719-4FF5-BC73-524EACF45DF9}"/>
              </a:ext>
            </a:extLst>
          </p:cNvPr>
          <p:cNvCxnSpPr/>
          <p:nvPr/>
        </p:nvCxnSpPr>
        <p:spPr>
          <a:xfrm>
            <a:off x="8458200" y="4141694"/>
            <a:ext cx="164592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5E07A49-B957-459E-82B7-6E8E8DBCDFC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514600" y="2465295"/>
            <a:ext cx="9906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way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41C48D-44BD-475B-B436-7456F73B414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886200" y="2465295"/>
            <a:ext cx="9906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way N-1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5298D5-D95E-4743-BC73-CC367136799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791200" y="2465295"/>
            <a:ext cx="9906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way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795696-7743-4BEA-8FE2-36D4269F382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543800" y="2465295"/>
            <a:ext cx="9906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way N-1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44DC6D-E8F7-4AD8-B663-AB8F1ACC712A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736352" y="5211499"/>
            <a:ext cx="10668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hit?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3554DD-1D82-42D6-A8F7-6C72CFDE8D44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304800" y="1474695"/>
            <a:ext cx="20574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address X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F20B0A6-5147-4BF4-B83F-D6A1A3CBAA4C}"/>
              </a:ext>
            </a:extLst>
          </p:cNvPr>
          <p:cNvCxnSpPr/>
          <p:nvPr/>
        </p:nvCxnSpPr>
        <p:spPr>
          <a:xfrm flipV="1">
            <a:off x="1371599" y="4267200"/>
            <a:ext cx="1" cy="123444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AFD8470-1C89-4B1B-8891-D34FEADA59A1}"/>
              </a:ext>
            </a:extLst>
          </p:cNvPr>
          <p:cNvCxnSpPr/>
          <p:nvPr/>
        </p:nvCxnSpPr>
        <p:spPr>
          <a:xfrm>
            <a:off x="1341120" y="5513294"/>
            <a:ext cx="18288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4CFF512-2322-4974-8FF9-EC78E1A189C5}"/>
              </a:ext>
            </a:extLst>
          </p:cNvPr>
          <p:cNvCxnSpPr/>
          <p:nvPr/>
        </p:nvCxnSpPr>
        <p:spPr>
          <a:xfrm rot="5400000">
            <a:off x="548639" y="3059654"/>
            <a:ext cx="164592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DB65478-A7FD-4752-B35A-FE15BADCBA16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7162800" y="6423198"/>
            <a:ext cx="10668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71B42F-939D-4840-ADF4-38EEF9D46DCE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066800" y="5132295"/>
            <a:ext cx="10668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tag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906976-B199-4CE3-A6BE-841BAF2729FA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752600" y="3848563"/>
            <a:ext cx="10668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set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3723D23-00D9-4EEE-BCFC-EA0193BA23DB}"/>
              </a:ext>
            </a:extLst>
          </p:cNvPr>
          <p:cNvGraphicFramePr>
            <a:graphicFrameLocks noGrp="1"/>
          </p:cNvGraphicFramePr>
          <p:nvPr>
            <p:custDataLst>
              <p:tags r:id="rId16"/>
            </p:custDataLst>
          </p:nvPr>
        </p:nvGraphicFramePr>
        <p:xfrm>
          <a:off x="304800" y="1865854"/>
          <a:ext cx="2057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physical address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54C0972A-6FB6-4BD1-A2A7-279661143F1A}"/>
              </a:ext>
            </a:extLst>
          </p:cNvPr>
          <p:cNvGraphicFramePr>
            <a:graphicFrameLocks noGrp="1"/>
          </p:cNvGraphicFramePr>
          <p:nvPr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456187662"/>
              </p:ext>
            </p:extLst>
          </p:nvPr>
        </p:nvGraphicFramePr>
        <p:xfrm>
          <a:off x="5609215" y="1762760"/>
          <a:ext cx="2932611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85828">
                  <a:extLst>
                    <a:ext uri="{9D8B030D-6E8A-4147-A177-3AD203B41FA5}">
                      <a16:colId xmlns:a16="http://schemas.microsoft.com/office/drawing/2014/main" val="1797276752"/>
                    </a:ext>
                  </a:extLst>
                </a:gridCol>
                <a:gridCol w="690296">
                  <a:extLst>
                    <a:ext uri="{9D8B030D-6E8A-4147-A177-3AD203B41FA5}">
                      <a16:colId xmlns:a16="http://schemas.microsoft.com/office/drawing/2014/main" val="3840450956"/>
                    </a:ext>
                  </a:extLst>
                </a:gridCol>
                <a:gridCol w="756487">
                  <a:extLst>
                    <a:ext uri="{9D8B030D-6E8A-4147-A177-3AD203B41FA5}">
                      <a16:colId xmlns:a16="http://schemas.microsoft.com/office/drawing/2014/main" val="41022955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tag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set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offset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99299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AD250D8B-E519-4A72-BF23-F80DDE35AC3F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5181600" y="1392528"/>
            <a:ext cx="3360226" cy="57863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sz="2000" b="1" dirty="0">
                <a:latin typeface="+mn-lt"/>
              </a:rPr>
              <a:t>Standard hash function: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79A27B7-866F-4D2D-8BCC-C737D362167D}"/>
              </a:ext>
            </a:extLst>
          </p:cNvPr>
          <p:cNvCxnSpPr/>
          <p:nvPr/>
        </p:nvCxnSpPr>
        <p:spPr>
          <a:xfrm rot="5400000">
            <a:off x="2880360" y="4709160"/>
            <a:ext cx="109728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5D2773F-F3F7-44B5-884D-8B184D0DB4BA}"/>
              </a:ext>
            </a:extLst>
          </p:cNvPr>
          <p:cNvCxnSpPr/>
          <p:nvPr/>
        </p:nvCxnSpPr>
        <p:spPr>
          <a:xfrm>
            <a:off x="3276600" y="4145280"/>
            <a:ext cx="164592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A5569DC-1A1A-47AB-9B3F-4F628586BB37}"/>
              </a:ext>
            </a:extLst>
          </p:cNvPr>
          <p:cNvCxnSpPr/>
          <p:nvPr/>
        </p:nvCxnSpPr>
        <p:spPr>
          <a:xfrm rot="5400000">
            <a:off x="6217920" y="4770120"/>
            <a:ext cx="128016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21A3F71-2F44-498D-A591-A652E8CA6DA4}"/>
              </a:ext>
            </a:extLst>
          </p:cNvPr>
          <p:cNvCxnSpPr/>
          <p:nvPr/>
        </p:nvCxnSpPr>
        <p:spPr>
          <a:xfrm>
            <a:off x="6705600" y="4114800"/>
            <a:ext cx="164592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9EAAD497-4CC8-401F-BCFF-B4E9F6E4EBD5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3200400" y="5303520"/>
            <a:ext cx="411480" cy="411480"/>
          </a:xfrm>
          <a:prstGeom prst="ellipse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=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05919CF-DCAD-4367-A303-2474982B217D}"/>
              </a:ext>
            </a:extLst>
          </p:cNvPr>
          <p:cNvCxnSpPr/>
          <p:nvPr/>
        </p:nvCxnSpPr>
        <p:spPr>
          <a:xfrm>
            <a:off x="3627120" y="5513294"/>
            <a:ext cx="100584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D3EDF16-DBB0-48EF-89B0-6B6502E66405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3352800" y="5202239"/>
            <a:ext cx="10668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hit?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4CBFDBE-E879-40B0-9DF6-38417B1FB570}"/>
              </a:ext>
            </a:extLst>
          </p:cNvPr>
          <p:cNvGrpSpPr/>
          <p:nvPr>
            <p:custDataLst>
              <p:tags r:id="rId21"/>
            </p:custDataLst>
          </p:nvPr>
        </p:nvGrpSpPr>
        <p:grpSpPr>
          <a:xfrm>
            <a:off x="7391400" y="5950123"/>
            <a:ext cx="609600" cy="396875"/>
            <a:chOff x="8153400" y="5794108"/>
            <a:chExt cx="609600" cy="396875"/>
          </a:xfrm>
        </p:grpSpPr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F8158F62-36FC-4621-A9A8-82083B14B091}"/>
                </a:ext>
              </a:extLst>
            </p:cNvPr>
            <p:cNvSpPr>
              <a:spLocks/>
            </p:cNvSpPr>
            <p:nvPr>
              <p:custDataLst>
                <p:tags r:id="rId24"/>
              </p:custDataLst>
            </p:nvPr>
          </p:nvSpPr>
          <p:spPr bwMode="auto">
            <a:xfrm>
              <a:off x="8153400" y="5824270"/>
              <a:ext cx="609600" cy="304800"/>
            </a:xfrm>
            <a:custGeom>
              <a:avLst/>
              <a:gdLst>
                <a:gd name="T0" fmla="*/ 2147483646 w 384"/>
                <a:gd name="T1" fmla="*/ 0 h 192"/>
                <a:gd name="T2" fmla="*/ 0 w 384"/>
                <a:gd name="T3" fmla="*/ 2147483646 h 192"/>
                <a:gd name="T4" fmla="*/ 2147483646 w 384"/>
                <a:gd name="T5" fmla="*/ 2147483646 h 192"/>
                <a:gd name="T6" fmla="*/ 2147483646 w 384"/>
                <a:gd name="T7" fmla="*/ 0 h 192"/>
                <a:gd name="T8" fmla="*/ 2147483646 w 384"/>
                <a:gd name="T9" fmla="*/ 0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4"/>
                <a:gd name="T16" fmla="*/ 0 h 192"/>
                <a:gd name="T17" fmla="*/ 384 w 384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4" h="192">
                  <a:moveTo>
                    <a:pt x="96" y="0"/>
                  </a:moveTo>
                  <a:lnTo>
                    <a:pt x="0" y="192"/>
                  </a:lnTo>
                  <a:lnTo>
                    <a:pt x="288" y="192"/>
                  </a:lnTo>
                  <a:lnTo>
                    <a:pt x="384" y="0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Text Box 9">
              <a:extLst>
                <a:ext uri="{FF2B5EF4-FFF2-40B4-BE49-F238E27FC236}">
                  <a16:creationId xmlns:a16="http://schemas.microsoft.com/office/drawing/2014/main" id="{11ABB66B-0CB6-45AD-B9EE-4ABA7010C630}"/>
                </a:ext>
              </a:extLst>
            </p:cNvPr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8215313" y="5794108"/>
              <a:ext cx="48101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30305"/>
                </a:buClr>
                <a:buChar char="•"/>
                <a:defRPr sz="24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30305"/>
                </a:buClr>
                <a:buChar char="•"/>
                <a:defRPr sz="20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030305"/>
                </a:buClr>
                <a:buChar char="•"/>
                <a:defRPr sz="20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30305"/>
                </a:buClr>
                <a:buChar char="•"/>
                <a:defRPr sz="20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30305"/>
                </a:buClr>
                <a:buChar char="•"/>
                <a:defRPr sz="20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30305"/>
                </a:buClr>
                <a:buChar char="•"/>
                <a:defRPr sz="20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30305"/>
                </a:buClr>
                <a:buChar char="•"/>
                <a:defRPr sz="20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30305"/>
                </a:buClr>
                <a:buChar char="•"/>
                <a:defRPr sz="20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30305"/>
                </a:buClr>
                <a:buChar char="•"/>
                <a:defRPr sz="20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dirty="0">
                  <a:solidFill>
                    <a:srgbClr val="000000"/>
                  </a:solidFill>
                  <a:latin typeface="Arial" panose="020B0604020202020204" pitchFamily="34" charset="0"/>
                </a:rPr>
                <a:t>&lt;&lt;</a:t>
              </a:r>
              <a:endParaRPr lang="en-US" altLang="en-US" sz="18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90C0CAC-7309-4C2F-B5FD-A436FC0B61ED}"/>
              </a:ext>
            </a:extLst>
          </p:cNvPr>
          <p:cNvCxnSpPr/>
          <p:nvPr/>
        </p:nvCxnSpPr>
        <p:spPr>
          <a:xfrm rot="5400000">
            <a:off x="7604760" y="6407958"/>
            <a:ext cx="18288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C9BB4D2-398E-4BA5-B45D-74FC87AF271E}"/>
              </a:ext>
            </a:extLst>
          </p:cNvPr>
          <p:cNvCxnSpPr/>
          <p:nvPr/>
        </p:nvCxnSpPr>
        <p:spPr>
          <a:xfrm>
            <a:off x="518160" y="6096000"/>
            <a:ext cx="694944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63875AD-60C6-47F5-956B-3F8AF6A0DE4B}"/>
              </a:ext>
            </a:extLst>
          </p:cNvPr>
          <p:cNvCxnSpPr/>
          <p:nvPr/>
        </p:nvCxnSpPr>
        <p:spPr>
          <a:xfrm flipV="1">
            <a:off x="541148" y="4191000"/>
            <a:ext cx="1" cy="192024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587E0B9-D0C6-4BEB-BBBE-C2939F1FC832}"/>
              </a:ext>
            </a:extLst>
          </p:cNvPr>
          <p:cNvCxnSpPr/>
          <p:nvPr/>
        </p:nvCxnSpPr>
        <p:spPr>
          <a:xfrm>
            <a:off x="541150" y="4191000"/>
            <a:ext cx="822960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89626A9-C5FB-4FC1-9B19-25349B453A6D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266699" y="5726668"/>
            <a:ext cx="179069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block offset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8C01E9-6765-4A72-B779-3980D3EC081A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838200" y="3886186"/>
            <a:ext cx="1066800" cy="560308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dirty="0">
                <a:latin typeface="+mn-lt"/>
              </a:rPr>
              <a:t>hash function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100198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Caches – Associativity</a:t>
            </a:r>
          </a:p>
        </p:txBody>
      </p:sp>
      <p:sp>
        <p:nvSpPr>
          <p:cNvPr id="39939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1FB1ABF9-092F-4400-BE51-E623110639E1}" type="slidenum">
              <a:rPr lang="en-US" altLang="en-US"/>
              <a:pPr lvl="1" eaLnBrk="1" hangingPunct="1"/>
              <a:t>4</a:t>
            </a:fld>
            <a:endParaRPr lang="en-US" alt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45BE81F-7E63-42E4-A768-6A2DBF6438D0}"/>
              </a:ext>
            </a:extLst>
          </p:cNvPr>
          <p:cNvCxnSpPr/>
          <p:nvPr/>
        </p:nvCxnSpPr>
        <p:spPr>
          <a:xfrm>
            <a:off x="1371600" y="4141694"/>
            <a:ext cx="13716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013A05E-2BC7-4EE8-AE54-477FEED93E54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2743200" y="2846294"/>
          <a:ext cx="5710645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74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tag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tag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alibri"/>
                        </a:rPr>
                        <a:t>● ● ●</a:t>
                      </a:r>
                      <a:endParaRPr lang="en-US" b="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alibri"/>
                        </a:rPr>
                        <a:t>● ● ●</a:t>
                      </a:r>
                      <a:endParaRPr lang="en-US" b="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(X)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rapezoid 7">
            <a:extLst>
              <a:ext uri="{FF2B5EF4-FFF2-40B4-BE49-F238E27FC236}">
                <a16:creationId xmlns:a16="http://schemas.microsoft.com/office/drawing/2014/main" id="{7D55239E-209F-495A-8B42-1E271C042D7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flipV="1">
            <a:off x="6477000" y="5410200"/>
            <a:ext cx="2514600" cy="365760"/>
          </a:xfrm>
          <a:prstGeom prst="trapezoid">
            <a:avLst>
              <a:gd name="adj" fmla="val 86212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BEEB579-362A-4A16-AE30-59E1934ACA3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617720" y="5311602"/>
            <a:ext cx="411480" cy="411480"/>
          </a:xfrm>
          <a:prstGeom prst="ellipse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=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894139C-8958-40DA-96C5-7E7E1362CDE8}"/>
              </a:ext>
            </a:extLst>
          </p:cNvPr>
          <p:cNvCxnSpPr/>
          <p:nvPr/>
        </p:nvCxnSpPr>
        <p:spPr>
          <a:xfrm>
            <a:off x="5029200" y="5540202"/>
            <a:ext cx="146304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44F9E8-ABB5-4920-A616-85AF243C4DC1}"/>
              </a:ext>
            </a:extLst>
          </p:cNvPr>
          <p:cNvCxnSpPr/>
          <p:nvPr/>
        </p:nvCxnSpPr>
        <p:spPr>
          <a:xfrm rot="5400000">
            <a:off x="4251960" y="4705574"/>
            <a:ext cx="109728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49A967-7F07-4B1E-B62B-888B49868097}"/>
              </a:ext>
            </a:extLst>
          </p:cNvPr>
          <p:cNvCxnSpPr/>
          <p:nvPr/>
        </p:nvCxnSpPr>
        <p:spPr>
          <a:xfrm rot="5400000">
            <a:off x="7970520" y="4797014"/>
            <a:ext cx="128016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5C35EAF-D1F2-4395-9584-B890290FB6C0}"/>
              </a:ext>
            </a:extLst>
          </p:cNvPr>
          <p:cNvCxnSpPr/>
          <p:nvPr/>
        </p:nvCxnSpPr>
        <p:spPr>
          <a:xfrm rot="5400000">
            <a:off x="7604760" y="5867400"/>
            <a:ext cx="18288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4DC620-9FB7-455C-A54B-B17860249AC7}"/>
              </a:ext>
            </a:extLst>
          </p:cNvPr>
          <p:cNvCxnSpPr/>
          <p:nvPr/>
        </p:nvCxnSpPr>
        <p:spPr>
          <a:xfrm>
            <a:off x="4648200" y="4141694"/>
            <a:ext cx="164592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17CC8B1-6719-4FF5-BC73-524EACF45DF9}"/>
              </a:ext>
            </a:extLst>
          </p:cNvPr>
          <p:cNvCxnSpPr/>
          <p:nvPr/>
        </p:nvCxnSpPr>
        <p:spPr>
          <a:xfrm>
            <a:off x="8458200" y="4141694"/>
            <a:ext cx="164592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5E07A49-B957-459E-82B7-6E8E8DBCDFC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514600" y="2465295"/>
            <a:ext cx="9906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way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41C48D-44BD-475B-B436-7456F73B414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886200" y="2465295"/>
            <a:ext cx="9906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way N-1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5298D5-D95E-4743-BC73-CC367136799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791200" y="2465295"/>
            <a:ext cx="9906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way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795696-7743-4BEA-8FE2-36D4269F382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543800" y="2465295"/>
            <a:ext cx="9906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way N-1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44DC6D-E8F7-4AD8-B663-AB8F1ACC712A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736352" y="5211499"/>
            <a:ext cx="10668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hit?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3554DD-1D82-42D6-A8F7-6C72CFDE8D44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304800" y="1474695"/>
            <a:ext cx="20574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address X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F20B0A6-5147-4BF4-B83F-D6A1A3CBAA4C}"/>
              </a:ext>
            </a:extLst>
          </p:cNvPr>
          <p:cNvCxnSpPr/>
          <p:nvPr/>
        </p:nvCxnSpPr>
        <p:spPr>
          <a:xfrm flipV="1">
            <a:off x="1371599" y="4267200"/>
            <a:ext cx="1" cy="123444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AFD8470-1C89-4B1B-8891-D34FEADA59A1}"/>
              </a:ext>
            </a:extLst>
          </p:cNvPr>
          <p:cNvCxnSpPr/>
          <p:nvPr/>
        </p:nvCxnSpPr>
        <p:spPr>
          <a:xfrm>
            <a:off x="1341120" y="5513294"/>
            <a:ext cx="18288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4CFF512-2322-4974-8FF9-EC78E1A189C5}"/>
              </a:ext>
            </a:extLst>
          </p:cNvPr>
          <p:cNvCxnSpPr/>
          <p:nvPr/>
        </p:nvCxnSpPr>
        <p:spPr>
          <a:xfrm rot="5400000">
            <a:off x="548639" y="3059654"/>
            <a:ext cx="164592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DB65478-A7FD-4752-B35A-FE15BADCBA16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7162800" y="6423198"/>
            <a:ext cx="10668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71B42F-939D-4840-ADF4-38EEF9D46DCE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066800" y="5132295"/>
            <a:ext cx="10668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tag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906976-B199-4CE3-A6BE-841BAF2729FA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752600" y="3848563"/>
            <a:ext cx="10668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set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3723D23-00D9-4EEE-BCFC-EA0193BA23DB}"/>
              </a:ext>
            </a:extLst>
          </p:cNvPr>
          <p:cNvGraphicFramePr>
            <a:graphicFrameLocks noGrp="1"/>
          </p:cNvGraphicFramePr>
          <p:nvPr>
            <p:custDataLst>
              <p:tags r:id="rId16"/>
            </p:custDataLst>
          </p:nvPr>
        </p:nvGraphicFramePr>
        <p:xfrm>
          <a:off x="304800" y="1865854"/>
          <a:ext cx="2057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physical address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54C0972A-6FB6-4BD1-A2A7-279661143F1A}"/>
              </a:ext>
            </a:extLst>
          </p:cNvPr>
          <p:cNvGraphicFramePr>
            <a:graphicFrameLocks noGrp="1"/>
          </p:cNvGraphicFramePr>
          <p:nvPr>
            <p:custDataLst>
              <p:tags r:id="rId17"/>
            </p:custDataLst>
          </p:nvPr>
        </p:nvGraphicFramePr>
        <p:xfrm>
          <a:off x="5609215" y="1762760"/>
          <a:ext cx="2932611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85828">
                  <a:extLst>
                    <a:ext uri="{9D8B030D-6E8A-4147-A177-3AD203B41FA5}">
                      <a16:colId xmlns:a16="http://schemas.microsoft.com/office/drawing/2014/main" val="1797276752"/>
                    </a:ext>
                  </a:extLst>
                </a:gridCol>
                <a:gridCol w="690296">
                  <a:extLst>
                    <a:ext uri="{9D8B030D-6E8A-4147-A177-3AD203B41FA5}">
                      <a16:colId xmlns:a16="http://schemas.microsoft.com/office/drawing/2014/main" val="3840450956"/>
                    </a:ext>
                  </a:extLst>
                </a:gridCol>
                <a:gridCol w="756487">
                  <a:extLst>
                    <a:ext uri="{9D8B030D-6E8A-4147-A177-3AD203B41FA5}">
                      <a16:colId xmlns:a16="http://schemas.microsoft.com/office/drawing/2014/main" val="41022955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tag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set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offset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99299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AD250D8B-E519-4A72-BF23-F80DDE35AC3F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5181600" y="1392528"/>
            <a:ext cx="3360226" cy="57863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sz="2000" b="1" dirty="0">
                <a:latin typeface="+mn-lt"/>
              </a:rPr>
              <a:t>Standard hash function: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79A27B7-866F-4D2D-8BCC-C737D362167D}"/>
              </a:ext>
            </a:extLst>
          </p:cNvPr>
          <p:cNvCxnSpPr/>
          <p:nvPr/>
        </p:nvCxnSpPr>
        <p:spPr>
          <a:xfrm rot="5400000">
            <a:off x="2880360" y="4709160"/>
            <a:ext cx="109728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5D2773F-F3F7-44B5-884D-8B184D0DB4BA}"/>
              </a:ext>
            </a:extLst>
          </p:cNvPr>
          <p:cNvCxnSpPr/>
          <p:nvPr/>
        </p:nvCxnSpPr>
        <p:spPr>
          <a:xfrm>
            <a:off x="3276600" y="4145280"/>
            <a:ext cx="164592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A5569DC-1A1A-47AB-9B3F-4F628586BB37}"/>
              </a:ext>
            </a:extLst>
          </p:cNvPr>
          <p:cNvCxnSpPr/>
          <p:nvPr/>
        </p:nvCxnSpPr>
        <p:spPr>
          <a:xfrm rot="5400000">
            <a:off x="6217920" y="4770120"/>
            <a:ext cx="128016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21A3F71-2F44-498D-A591-A652E8CA6DA4}"/>
              </a:ext>
            </a:extLst>
          </p:cNvPr>
          <p:cNvCxnSpPr/>
          <p:nvPr/>
        </p:nvCxnSpPr>
        <p:spPr>
          <a:xfrm>
            <a:off x="6705600" y="4114800"/>
            <a:ext cx="164592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9EAAD497-4CC8-401F-BCFF-B4E9F6E4EBD5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3200400" y="5303520"/>
            <a:ext cx="411480" cy="411480"/>
          </a:xfrm>
          <a:prstGeom prst="ellipse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=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05919CF-DCAD-4367-A303-2474982B217D}"/>
              </a:ext>
            </a:extLst>
          </p:cNvPr>
          <p:cNvCxnSpPr/>
          <p:nvPr/>
        </p:nvCxnSpPr>
        <p:spPr>
          <a:xfrm>
            <a:off x="3627120" y="5513294"/>
            <a:ext cx="100584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D3EDF16-DBB0-48EF-89B0-6B6502E66405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3352800" y="5202239"/>
            <a:ext cx="10668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hit?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4CBFDBE-E879-40B0-9DF6-38417B1FB570}"/>
              </a:ext>
            </a:extLst>
          </p:cNvPr>
          <p:cNvGrpSpPr/>
          <p:nvPr>
            <p:custDataLst>
              <p:tags r:id="rId21"/>
            </p:custDataLst>
          </p:nvPr>
        </p:nvGrpSpPr>
        <p:grpSpPr>
          <a:xfrm>
            <a:off x="7391400" y="5950123"/>
            <a:ext cx="609600" cy="396875"/>
            <a:chOff x="8153400" y="5794108"/>
            <a:chExt cx="609600" cy="396875"/>
          </a:xfrm>
        </p:grpSpPr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F8158F62-36FC-4621-A9A8-82083B14B091}"/>
                </a:ext>
              </a:extLst>
            </p:cNvPr>
            <p:cNvSpPr>
              <a:spLocks/>
            </p:cNvSpPr>
            <p:nvPr>
              <p:custDataLst>
                <p:tags r:id="rId26"/>
              </p:custDataLst>
            </p:nvPr>
          </p:nvSpPr>
          <p:spPr bwMode="auto">
            <a:xfrm>
              <a:off x="8153400" y="5824270"/>
              <a:ext cx="609600" cy="304800"/>
            </a:xfrm>
            <a:custGeom>
              <a:avLst/>
              <a:gdLst>
                <a:gd name="T0" fmla="*/ 2147483646 w 384"/>
                <a:gd name="T1" fmla="*/ 0 h 192"/>
                <a:gd name="T2" fmla="*/ 0 w 384"/>
                <a:gd name="T3" fmla="*/ 2147483646 h 192"/>
                <a:gd name="T4" fmla="*/ 2147483646 w 384"/>
                <a:gd name="T5" fmla="*/ 2147483646 h 192"/>
                <a:gd name="T6" fmla="*/ 2147483646 w 384"/>
                <a:gd name="T7" fmla="*/ 0 h 192"/>
                <a:gd name="T8" fmla="*/ 2147483646 w 384"/>
                <a:gd name="T9" fmla="*/ 0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4"/>
                <a:gd name="T16" fmla="*/ 0 h 192"/>
                <a:gd name="T17" fmla="*/ 384 w 384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4" h="192">
                  <a:moveTo>
                    <a:pt x="96" y="0"/>
                  </a:moveTo>
                  <a:lnTo>
                    <a:pt x="0" y="192"/>
                  </a:lnTo>
                  <a:lnTo>
                    <a:pt x="288" y="192"/>
                  </a:lnTo>
                  <a:lnTo>
                    <a:pt x="384" y="0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Text Box 9">
              <a:extLst>
                <a:ext uri="{FF2B5EF4-FFF2-40B4-BE49-F238E27FC236}">
                  <a16:creationId xmlns:a16="http://schemas.microsoft.com/office/drawing/2014/main" id="{11ABB66B-0CB6-45AD-B9EE-4ABA7010C630}"/>
                </a:ext>
              </a:extLst>
            </p:cNvPr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8215313" y="5794108"/>
              <a:ext cx="48101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30305"/>
                </a:buClr>
                <a:buChar char="•"/>
                <a:defRPr sz="24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30305"/>
                </a:buClr>
                <a:buChar char="•"/>
                <a:defRPr sz="20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030305"/>
                </a:buClr>
                <a:buChar char="•"/>
                <a:defRPr sz="20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30305"/>
                </a:buClr>
                <a:buChar char="•"/>
                <a:defRPr sz="20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30305"/>
                </a:buClr>
                <a:buChar char="•"/>
                <a:defRPr sz="20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30305"/>
                </a:buClr>
                <a:buChar char="•"/>
                <a:defRPr sz="20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30305"/>
                </a:buClr>
                <a:buChar char="•"/>
                <a:defRPr sz="20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30305"/>
                </a:buClr>
                <a:buChar char="•"/>
                <a:defRPr sz="20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30305"/>
                </a:buClr>
                <a:buChar char="•"/>
                <a:defRPr sz="20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dirty="0">
                  <a:solidFill>
                    <a:srgbClr val="000000"/>
                  </a:solidFill>
                  <a:latin typeface="Arial" panose="020B0604020202020204" pitchFamily="34" charset="0"/>
                </a:rPr>
                <a:t>&lt;&lt;</a:t>
              </a:r>
              <a:endParaRPr lang="en-US" altLang="en-US" sz="18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90C0CAC-7309-4C2F-B5FD-A436FC0B61ED}"/>
              </a:ext>
            </a:extLst>
          </p:cNvPr>
          <p:cNvCxnSpPr/>
          <p:nvPr/>
        </p:nvCxnSpPr>
        <p:spPr>
          <a:xfrm rot="5400000">
            <a:off x="7604760" y="6407958"/>
            <a:ext cx="18288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C9BB4D2-398E-4BA5-B45D-74FC87AF271E}"/>
              </a:ext>
            </a:extLst>
          </p:cNvPr>
          <p:cNvCxnSpPr/>
          <p:nvPr/>
        </p:nvCxnSpPr>
        <p:spPr>
          <a:xfrm>
            <a:off x="518160" y="6096000"/>
            <a:ext cx="694944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63875AD-60C6-47F5-956B-3F8AF6A0DE4B}"/>
              </a:ext>
            </a:extLst>
          </p:cNvPr>
          <p:cNvCxnSpPr/>
          <p:nvPr/>
        </p:nvCxnSpPr>
        <p:spPr>
          <a:xfrm flipV="1">
            <a:off x="541148" y="4191000"/>
            <a:ext cx="1" cy="192024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587E0B9-D0C6-4BEB-BBBE-C2939F1FC832}"/>
              </a:ext>
            </a:extLst>
          </p:cNvPr>
          <p:cNvCxnSpPr/>
          <p:nvPr/>
        </p:nvCxnSpPr>
        <p:spPr>
          <a:xfrm>
            <a:off x="541150" y="4191000"/>
            <a:ext cx="822960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89626A9-C5FB-4FC1-9B19-25349B453A6D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266699" y="5726668"/>
            <a:ext cx="179069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block offset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8C01E9-6765-4A72-B779-3980D3EC081A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838200" y="3886186"/>
            <a:ext cx="1066800" cy="560308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dirty="0">
                <a:latin typeface="+mn-lt"/>
              </a:rPr>
              <a:t>hash function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5F4DEAD-FA83-4F14-866F-D27D87B9008B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0" y="5211499"/>
            <a:ext cx="9143997" cy="1630929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6E4592B-0351-43CD-87F1-D1D4550E3BF9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381000" y="5257800"/>
            <a:ext cx="8496301" cy="118631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400" dirty="0">
                <a:latin typeface="+mn-lt"/>
              </a:rPr>
              <a:t>e.g., Given 32-bit addresses and 64B blocks, what is the minimum number of tag bits needed in a 16-way associative 128KB cache?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(128KB / 64B per block = 2048 blocks) / 16 ways per set = 128 sets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32 bits – log(64B per block) – log(128 sets) = 19 tag bits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01457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Caches – Associativity</a:t>
            </a:r>
          </a:p>
        </p:txBody>
      </p:sp>
      <p:sp>
        <p:nvSpPr>
          <p:cNvPr id="39939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1FB1ABF9-092F-4400-BE51-E623110639E1}" type="slidenum">
              <a:rPr lang="en-US" altLang="en-US"/>
              <a:pPr lvl="1" eaLnBrk="1" hangingPunct="1"/>
              <a:t>5</a:t>
            </a:fld>
            <a:endParaRPr lang="en-US" alt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45BE81F-7E63-42E4-A768-6A2DBF6438D0}"/>
              </a:ext>
            </a:extLst>
          </p:cNvPr>
          <p:cNvCxnSpPr/>
          <p:nvPr/>
        </p:nvCxnSpPr>
        <p:spPr>
          <a:xfrm>
            <a:off x="1371600" y="4141694"/>
            <a:ext cx="13716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013A05E-2BC7-4EE8-AE54-477FEED93E54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2743200" y="2846294"/>
          <a:ext cx="5710645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74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tag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tag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alibri"/>
                        </a:rPr>
                        <a:t>● ● ●</a:t>
                      </a:r>
                      <a:endParaRPr lang="en-US" b="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alibri"/>
                        </a:rPr>
                        <a:t>● ● ●</a:t>
                      </a:r>
                      <a:endParaRPr lang="en-US" b="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(X)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rapezoid 7">
            <a:extLst>
              <a:ext uri="{FF2B5EF4-FFF2-40B4-BE49-F238E27FC236}">
                <a16:creationId xmlns:a16="http://schemas.microsoft.com/office/drawing/2014/main" id="{7D55239E-209F-495A-8B42-1E271C042D7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flipV="1">
            <a:off x="6477000" y="5410200"/>
            <a:ext cx="2514600" cy="365760"/>
          </a:xfrm>
          <a:prstGeom prst="trapezoid">
            <a:avLst>
              <a:gd name="adj" fmla="val 86212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BEEB579-362A-4A16-AE30-59E1934ACA3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617720" y="5311602"/>
            <a:ext cx="411480" cy="411480"/>
          </a:xfrm>
          <a:prstGeom prst="ellipse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=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894139C-8958-40DA-96C5-7E7E1362CDE8}"/>
              </a:ext>
            </a:extLst>
          </p:cNvPr>
          <p:cNvCxnSpPr/>
          <p:nvPr/>
        </p:nvCxnSpPr>
        <p:spPr>
          <a:xfrm>
            <a:off x="5029200" y="5540202"/>
            <a:ext cx="146304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44F9E8-ABB5-4920-A616-85AF243C4DC1}"/>
              </a:ext>
            </a:extLst>
          </p:cNvPr>
          <p:cNvCxnSpPr/>
          <p:nvPr/>
        </p:nvCxnSpPr>
        <p:spPr>
          <a:xfrm rot="5400000">
            <a:off x="4251960" y="4705574"/>
            <a:ext cx="109728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49A967-7F07-4B1E-B62B-888B49868097}"/>
              </a:ext>
            </a:extLst>
          </p:cNvPr>
          <p:cNvCxnSpPr/>
          <p:nvPr/>
        </p:nvCxnSpPr>
        <p:spPr>
          <a:xfrm rot="5400000">
            <a:off x="7970520" y="4797014"/>
            <a:ext cx="128016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5C35EAF-D1F2-4395-9584-B890290FB6C0}"/>
              </a:ext>
            </a:extLst>
          </p:cNvPr>
          <p:cNvCxnSpPr/>
          <p:nvPr/>
        </p:nvCxnSpPr>
        <p:spPr>
          <a:xfrm rot="5400000">
            <a:off x="7604760" y="5867400"/>
            <a:ext cx="18288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4DC620-9FB7-455C-A54B-B17860249AC7}"/>
              </a:ext>
            </a:extLst>
          </p:cNvPr>
          <p:cNvCxnSpPr/>
          <p:nvPr/>
        </p:nvCxnSpPr>
        <p:spPr>
          <a:xfrm>
            <a:off x="4648200" y="4141694"/>
            <a:ext cx="164592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17CC8B1-6719-4FF5-BC73-524EACF45DF9}"/>
              </a:ext>
            </a:extLst>
          </p:cNvPr>
          <p:cNvCxnSpPr/>
          <p:nvPr/>
        </p:nvCxnSpPr>
        <p:spPr>
          <a:xfrm>
            <a:off x="8458200" y="4141694"/>
            <a:ext cx="164592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5E07A49-B957-459E-82B7-6E8E8DBCDFC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514600" y="2465295"/>
            <a:ext cx="9906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way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41C48D-44BD-475B-B436-7456F73B414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886200" y="2465295"/>
            <a:ext cx="9906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way N-1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5298D5-D95E-4743-BC73-CC367136799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791200" y="2465295"/>
            <a:ext cx="9906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way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795696-7743-4BEA-8FE2-36D4269F382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543800" y="2465295"/>
            <a:ext cx="9906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way N-1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44DC6D-E8F7-4AD8-B663-AB8F1ACC712A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736352" y="5211499"/>
            <a:ext cx="10668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hit?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3554DD-1D82-42D6-A8F7-6C72CFDE8D44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304800" y="1474695"/>
            <a:ext cx="20574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address X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F20B0A6-5147-4BF4-B83F-D6A1A3CBAA4C}"/>
              </a:ext>
            </a:extLst>
          </p:cNvPr>
          <p:cNvCxnSpPr/>
          <p:nvPr/>
        </p:nvCxnSpPr>
        <p:spPr>
          <a:xfrm flipV="1">
            <a:off x="1371599" y="4267200"/>
            <a:ext cx="1" cy="123444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AFD8470-1C89-4B1B-8891-D34FEADA59A1}"/>
              </a:ext>
            </a:extLst>
          </p:cNvPr>
          <p:cNvCxnSpPr/>
          <p:nvPr/>
        </p:nvCxnSpPr>
        <p:spPr>
          <a:xfrm>
            <a:off x="1341120" y="5513294"/>
            <a:ext cx="18288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4CFF512-2322-4974-8FF9-EC78E1A189C5}"/>
              </a:ext>
            </a:extLst>
          </p:cNvPr>
          <p:cNvCxnSpPr/>
          <p:nvPr/>
        </p:nvCxnSpPr>
        <p:spPr>
          <a:xfrm rot="5400000">
            <a:off x="548639" y="3059654"/>
            <a:ext cx="164592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DB65478-A7FD-4752-B35A-FE15BADCBA16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7162800" y="6423198"/>
            <a:ext cx="10668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71B42F-939D-4840-ADF4-38EEF9D46DCE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066800" y="5132295"/>
            <a:ext cx="10668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tag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906976-B199-4CE3-A6BE-841BAF2729FA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752600" y="3848563"/>
            <a:ext cx="10668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set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3723D23-00D9-4EEE-BCFC-EA0193BA23DB}"/>
              </a:ext>
            </a:extLst>
          </p:cNvPr>
          <p:cNvGraphicFramePr>
            <a:graphicFrameLocks noGrp="1"/>
          </p:cNvGraphicFramePr>
          <p:nvPr>
            <p:custDataLst>
              <p:tags r:id="rId16"/>
            </p:custDataLst>
          </p:nvPr>
        </p:nvGraphicFramePr>
        <p:xfrm>
          <a:off x="304800" y="1865854"/>
          <a:ext cx="2057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physical address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54C0972A-6FB6-4BD1-A2A7-279661143F1A}"/>
              </a:ext>
            </a:extLst>
          </p:cNvPr>
          <p:cNvGraphicFramePr>
            <a:graphicFrameLocks noGrp="1"/>
          </p:cNvGraphicFramePr>
          <p:nvPr>
            <p:custDataLst>
              <p:tags r:id="rId17"/>
            </p:custDataLst>
          </p:nvPr>
        </p:nvGraphicFramePr>
        <p:xfrm>
          <a:off x="5609215" y="1762760"/>
          <a:ext cx="2932611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85828">
                  <a:extLst>
                    <a:ext uri="{9D8B030D-6E8A-4147-A177-3AD203B41FA5}">
                      <a16:colId xmlns:a16="http://schemas.microsoft.com/office/drawing/2014/main" val="1797276752"/>
                    </a:ext>
                  </a:extLst>
                </a:gridCol>
                <a:gridCol w="690296">
                  <a:extLst>
                    <a:ext uri="{9D8B030D-6E8A-4147-A177-3AD203B41FA5}">
                      <a16:colId xmlns:a16="http://schemas.microsoft.com/office/drawing/2014/main" val="3840450956"/>
                    </a:ext>
                  </a:extLst>
                </a:gridCol>
                <a:gridCol w="756487">
                  <a:extLst>
                    <a:ext uri="{9D8B030D-6E8A-4147-A177-3AD203B41FA5}">
                      <a16:colId xmlns:a16="http://schemas.microsoft.com/office/drawing/2014/main" val="41022955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tag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set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offset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99299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AD250D8B-E519-4A72-BF23-F80DDE35AC3F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5181600" y="1392528"/>
            <a:ext cx="3360226" cy="57863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sz="2000" b="1" dirty="0">
                <a:latin typeface="+mn-lt"/>
              </a:rPr>
              <a:t>Standard hash function: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79A27B7-866F-4D2D-8BCC-C737D362167D}"/>
              </a:ext>
            </a:extLst>
          </p:cNvPr>
          <p:cNvCxnSpPr/>
          <p:nvPr/>
        </p:nvCxnSpPr>
        <p:spPr>
          <a:xfrm rot="5400000">
            <a:off x="2880360" y="4709160"/>
            <a:ext cx="109728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5D2773F-F3F7-44B5-884D-8B184D0DB4BA}"/>
              </a:ext>
            </a:extLst>
          </p:cNvPr>
          <p:cNvCxnSpPr/>
          <p:nvPr/>
        </p:nvCxnSpPr>
        <p:spPr>
          <a:xfrm>
            <a:off x="3276600" y="4145280"/>
            <a:ext cx="164592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A5569DC-1A1A-47AB-9B3F-4F628586BB37}"/>
              </a:ext>
            </a:extLst>
          </p:cNvPr>
          <p:cNvCxnSpPr/>
          <p:nvPr/>
        </p:nvCxnSpPr>
        <p:spPr>
          <a:xfrm rot="5400000">
            <a:off x="6217920" y="4770120"/>
            <a:ext cx="128016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21A3F71-2F44-498D-A591-A652E8CA6DA4}"/>
              </a:ext>
            </a:extLst>
          </p:cNvPr>
          <p:cNvCxnSpPr/>
          <p:nvPr/>
        </p:nvCxnSpPr>
        <p:spPr>
          <a:xfrm>
            <a:off x="6705600" y="4114800"/>
            <a:ext cx="164592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9EAAD497-4CC8-401F-BCFF-B4E9F6E4EBD5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3200400" y="5303520"/>
            <a:ext cx="411480" cy="411480"/>
          </a:xfrm>
          <a:prstGeom prst="ellipse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=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05919CF-DCAD-4367-A303-2474982B217D}"/>
              </a:ext>
            </a:extLst>
          </p:cNvPr>
          <p:cNvCxnSpPr/>
          <p:nvPr/>
        </p:nvCxnSpPr>
        <p:spPr>
          <a:xfrm>
            <a:off x="3627120" y="5513294"/>
            <a:ext cx="100584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D3EDF16-DBB0-48EF-89B0-6B6502E66405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3352800" y="5202239"/>
            <a:ext cx="10668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hit?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4CBFDBE-E879-40B0-9DF6-38417B1FB570}"/>
              </a:ext>
            </a:extLst>
          </p:cNvPr>
          <p:cNvGrpSpPr/>
          <p:nvPr>
            <p:custDataLst>
              <p:tags r:id="rId21"/>
            </p:custDataLst>
          </p:nvPr>
        </p:nvGrpSpPr>
        <p:grpSpPr>
          <a:xfrm>
            <a:off x="7391400" y="5950123"/>
            <a:ext cx="609600" cy="396875"/>
            <a:chOff x="8153400" y="5794108"/>
            <a:chExt cx="609600" cy="396875"/>
          </a:xfrm>
        </p:grpSpPr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F8158F62-36FC-4621-A9A8-82083B14B091}"/>
                </a:ext>
              </a:extLst>
            </p:cNvPr>
            <p:cNvSpPr>
              <a:spLocks/>
            </p:cNvSpPr>
            <p:nvPr>
              <p:custDataLst>
                <p:tags r:id="rId25"/>
              </p:custDataLst>
            </p:nvPr>
          </p:nvSpPr>
          <p:spPr bwMode="auto">
            <a:xfrm>
              <a:off x="8153400" y="5824270"/>
              <a:ext cx="609600" cy="304800"/>
            </a:xfrm>
            <a:custGeom>
              <a:avLst/>
              <a:gdLst>
                <a:gd name="T0" fmla="*/ 2147483646 w 384"/>
                <a:gd name="T1" fmla="*/ 0 h 192"/>
                <a:gd name="T2" fmla="*/ 0 w 384"/>
                <a:gd name="T3" fmla="*/ 2147483646 h 192"/>
                <a:gd name="T4" fmla="*/ 2147483646 w 384"/>
                <a:gd name="T5" fmla="*/ 2147483646 h 192"/>
                <a:gd name="T6" fmla="*/ 2147483646 w 384"/>
                <a:gd name="T7" fmla="*/ 0 h 192"/>
                <a:gd name="T8" fmla="*/ 2147483646 w 384"/>
                <a:gd name="T9" fmla="*/ 0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4"/>
                <a:gd name="T16" fmla="*/ 0 h 192"/>
                <a:gd name="T17" fmla="*/ 384 w 384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4" h="192">
                  <a:moveTo>
                    <a:pt x="96" y="0"/>
                  </a:moveTo>
                  <a:lnTo>
                    <a:pt x="0" y="192"/>
                  </a:lnTo>
                  <a:lnTo>
                    <a:pt x="288" y="192"/>
                  </a:lnTo>
                  <a:lnTo>
                    <a:pt x="384" y="0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Text Box 9">
              <a:extLst>
                <a:ext uri="{FF2B5EF4-FFF2-40B4-BE49-F238E27FC236}">
                  <a16:creationId xmlns:a16="http://schemas.microsoft.com/office/drawing/2014/main" id="{11ABB66B-0CB6-45AD-B9EE-4ABA7010C630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8215313" y="5794108"/>
              <a:ext cx="48101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30305"/>
                </a:buClr>
                <a:buChar char="•"/>
                <a:defRPr sz="24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30305"/>
                </a:buClr>
                <a:buChar char="•"/>
                <a:defRPr sz="20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030305"/>
                </a:buClr>
                <a:buChar char="•"/>
                <a:defRPr sz="20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30305"/>
                </a:buClr>
                <a:buChar char="•"/>
                <a:defRPr sz="20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30305"/>
                </a:buClr>
                <a:buChar char="•"/>
                <a:defRPr sz="20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30305"/>
                </a:buClr>
                <a:buChar char="•"/>
                <a:defRPr sz="20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30305"/>
                </a:buClr>
                <a:buChar char="•"/>
                <a:defRPr sz="20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30305"/>
                </a:buClr>
                <a:buChar char="•"/>
                <a:defRPr sz="20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30305"/>
                </a:buClr>
                <a:buChar char="•"/>
                <a:defRPr sz="2000">
                  <a:solidFill>
                    <a:srgbClr val="030305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dirty="0">
                  <a:solidFill>
                    <a:srgbClr val="000000"/>
                  </a:solidFill>
                  <a:latin typeface="Arial" panose="020B0604020202020204" pitchFamily="34" charset="0"/>
                </a:rPr>
                <a:t>&lt;&lt;</a:t>
              </a:r>
              <a:endParaRPr lang="en-US" altLang="en-US" sz="18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90C0CAC-7309-4C2F-B5FD-A436FC0B61ED}"/>
              </a:ext>
            </a:extLst>
          </p:cNvPr>
          <p:cNvCxnSpPr/>
          <p:nvPr/>
        </p:nvCxnSpPr>
        <p:spPr>
          <a:xfrm rot="5400000">
            <a:off x="7604760" y="6407958"/>
            <a:ext cx="18288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C9BB4D2-398E-4BA5-B45D-74FC87AF271E}"/>
              </a:ext>
            </a:extLst>
          </p:cNvPr>
          <p:cNvCxnSpPr/>
          <p:nvPr/>
        </p:nvCxnSpPr>
        <p:spPr>
          <a:xfrm>
            <a:off x="518160" y="6096000"/>
            <a:ext cx="694944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63875AD-60C6-47F5-956B-3F8AF6A0DE4B}"/>
              </a:ext>
            </a:extLst>
          </p:cNvPr>
          <p:cNvCxnSpPr/>
          <p:nvPr/>
        </p:nvCxnSpPr>
        <p:spPr>
          <a:xfrm flipV="1">
            <a:off x="541148" y="4191000"/>
            <a:ext cx="1" cy="192024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587E0B9-D0C6-4BEB-BBBE-C2939F1FC832}"/>
              </a:ext>
            </a:extLst>
          </p:cNvPr>
          <p:cNvCxnSpPr/>
          <p:nvPr/>
        </p:nvCxnSpPr>
        <p:spPr>
          <a:xfrm>
            <a:off x="541150" y="4191000"/>
            <a:ext cx="822960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89626A9-C5FB-4FC1-9B19-25349B453A6D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266699" y="5726668"/>
            <a:ext cx="179069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block offset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8C01E9-6765-4A72-B779-3980D3EC081A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838200" y="3886186"/>
            <a:ext cx="1066800" cy="560308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dirty="0">
                <a:latin typeface="+mn-lt"/>
              </a:rPr>
              <a:t>hash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AB4729-DCEE-A212-CCFD-4315C6615F2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2128732" y="2044806"/>
            <a:ext cx="40450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if the tag is too small?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FBE2E6F-8CD3-FD91-6269-CE6CAB9D1690}"/>
              </a:ext>
            </a:extLst>
          </p:cNvPr>
          <p:cNvSpPr/>
          <p:nvPr/>
        </p:nvSpPr>
        <p:spPr>
          <a:xfrm>
            <a:off x="5760720" y="1747926"/>
            <a:ext cx="1228721" cy="414282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409461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Caches – Replacement</a:t>
            </a:r>
          </a:p>
        </p:txBody>
      </p:sp>
      <p:sp>
        <p:nvSpPr>
          <p:cNvPr id="39939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1FB1ABF9-092F-4400-BE51-E623110639E1}" type="slidenum">
              <a:rPr lang="en-US" altLang="en-US"/>
              <a:pPr lvl="1" eaLnBrk="1" hangingPunct="1"/>
              <a:t>6</a:t>
            </a:fld>
            <a:endParaRPr lang="en-US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AE4C810-0D73-45DE-8A43-E652A2557973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4"/>
            </p:custDataLst>
          </p:nvPr>
        </p:nvSpPr>
        <p:spPr>
          <a:xfrm>
            <a:off x="457200" y="1600200"/>
            <a:ext cx="85344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Direct-mapped cache: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Straightforward, evict current block at set index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Set-associative cache: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b="1" dirty="0" err="1"/>
              <a:t>Belady’s</a:t>
            </a:r>
            <a:r>
              <a:rPr lang="en-US" altLang="en-US" sz="2400" dirty="0"/>
              <a:t>: Evict block that will be used furthest in future; unachievable optimum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b="1" dirty="0"/>
              <a:t>FIFO (first-in-first-out)</a:t>
            </a:r>
            <a:r>
              <a:rPr lang="en-US" altLang="en-US" sz="2400" dirty="0"/>
              <a:t>: Track age using simple timestamps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b="1" dirty="0"/>
              <a:t>LRU (least recently used)</a:t>
            </a:r>
            <a:r>
              <a:rPr lang="en-US" altLang="en-US" sz="2400" dirty="0"/>
              <a:t>: Maintain stack of last access; complex at high associativity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b="1" dirty="0"/>
              <a:t>NMRU (not most recently used)</a:t>
            </a:r>
            <a:r>
              <a:rPr lang="en-US" altLang="en-US" sz="2400" dirty="0"/>
              <a:t>: Just track the most recently used; randomly evict any of the other blocks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577469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Cache Misses</a:t>
            </a:r>
          </a:p>
        </p:txBody>
      </p:sp>
      <p:sp>
        <p:nvSpPr>
          <p:cNvPr id="39939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1FB1ABF9-092F-4400-BE51-E623110639E1}" type="slidenum">
              <a:rPr lang="en-US" altLang="en-US"/>
              <a:pPr lvl="1" eaLnBrk="1" hangingPunct="1"/>
              <a:t>7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445131-F7EB-430C-BCAB-B5B4E008F85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26930" y="1414732"/>
            <a:ext cx="8312270" cy="513846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800" b="1" dirty="0">
                <a:latin typeface="+mn-lt"/>
              </a:rPr>
              <a:t>Compulsory (Cold) Miss:</a:t>
            </a:r>
          </a:p>
          <a:p>
            <a:r>
              <a:rPr lang="en-US" sz="2800" dirty="0">
                <a:latin typeface="+mn-lt"/>
              </a:rPr>
              <a:t>Program’s first ever access to a given block of memory.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+mn-lt"/>
              </a:rPr>
              <a:t>If infinite-size cache, every miss is a cold miss.</a:t>
            </a:r>
          </a:p>
          <a:p>
            <a:endParaRPr lang="en-US" sz="2000" dirty="0">
              <a:latin typeface="+mn-lt"/>
            </a:endParaRPr>
          </a:p>
          <a:p>
            <a:r>
              <a:rPr lang="en-US" sz="2800" b="1" dirty="0">
                <a:latin typeface="+mn-lt"/>
              </a:rPr>
              <a:t>Capacity Miss:</a:t>
            </a:r>
          </a:p>
          <a:p>
            <a:r>
              <a:rPr lang="en-US" sz="2800" dirty="0">
                <a:latin typeface="+mn-lt"/>
              </a:rPr>
              <a:t>Program’s memory footprint exceeds cache capacity.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+mn-lt"/>
              </a:rPr>
              <a:t>If fully-associative finite cache, every miss that isn’t the first access (i.e., isn’t a cold miss) is a capacity miss.</a:t>
            </a:r>
          </a:p>
          <a:p>
            <a:endParaRPr lang="en-US" sz="2000" dirty="0">
              <a:latin typeface="+mn-lt"/>
            </a:endParaRPr>
          </a:p>
          <a:p>
            <a:r>
              <a:rPr lang="en-US" sz="2800" b="1" dirty="0">
                <a:latin typeface="+mn-lt"/>
              </a:rPr>
              <a:t>Conflict Miss:</a:t>
            </a:r>
          </a:p>
          <a:p>
            <a:r>
              <a:rPr lang="en-US" sz="2800" dirty="0">
                <a:latin typeface="+mn-lt"/>
              </a:rPr>
              <a:t>Placement restrictions cause useful blocks to be evicted.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+mn-lt"/>
              </a:rPr>
              <a:t>Conflict misses only occur when a block can only be placed on a subset of the cache.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6396038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MMPROD_UIPERSISTENCEDATA" val="MMPROD_UIPERSISTENCEDATA"/>
  <p:tag name="MMPROD_THEME_BG_IMAGE" val=""/>
  <p:tag name="MMPROD_TAG_VCONFIG" val="PD94bWwgdmVyc2lvbj0iMS4wIj8+DQo8Y29uZmlndXJhdGlvbj4NCgk8YnJhbmRpbmc+DQoJCTx1aWZvbnQgbmFtZT0iRk9OVF9OT1RFU19URVhUIiB2YWx1ZT0iVmVyZGFuYSw5LGZhbHNlLGZhbHNlLGZhbHNlIi8+DQoJPC9icmFuZGluZz4NCgk8Y29sb3JzPg0KCQk8dWljb2xvciBuYW1lPSJwcmltYXJ5IiB2YWx1ZT0iMHg2Rjg0ODgiLz4NCgkJPHVpY29sb3IgbmFtZT0iZ2xvdyIgdmFsdWU9IjB4NjA5NzczIi8+DQoJCTx1aWNvbG9yIG5hbWU9InRleHQiIHZhbHVlPSIweEZGRkZGRiIvPg0KCQk8dWljb2xvciBuYW1lPSJsaWdodCIgdmFsdWU9IjB4NEU1RDYwIi8+DQoJCTx1aWNvbG9yIG5hbWU9InNoYWRvdyIgdmFsdWU9IjB4MDAwMDAwIi8+DQoJCTx1aWNvbG9yIG5hbWU9ImJhY2tncm91bmQiIHZhbHVlPSIweDcyNzk3MSIvPg0KCTwvY29sb3JzPg0KCTxsYXlvdXQ+DQoJCTx1aXNob3cgbmFtZT0icHJlc2VudGF0aW9udGl0bGUiIHZhbHVlPSJ0cnVlIi8+PHVpc2hvdyBuYW1lPSJwcmVzZW50ZXJwaG90byIgdmFsdWU9InRydWUiLz48dWlzaG93IG5hbWU9InByZXNlbnRlcm5hbWUiIHZhbHVlPSJ0cnVlIi8+PHVpc2hvdyBuYW1lPSJwcmVzZW50ZXJ0aXRsZSIgdmFsdWU9InRydWUiLz48dWlzaG93IG5hbWU9InByZXNlbnRlcmVtYWlsIiB2YWx1ZT0idHJ1ZSIvPjx1aXNob3cgbmFtZT0icHJlc2VudGVyYmlvIiB2YWx1ZT0idHJ1ZSIvPjx1aXNob3cgbmFtZT0iY29tcGFueWxvZ28iIHZhbHVlPSJ0cnVlIi8+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+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+PHVpc2hvdyBuYW1lPSJ2aWV3Y2hhbmdlIiB2YWx1ZT0idHJ1ZSIvPjx1aXNob3cgbmFtZT0iYWx3YXlzU2NydW5jaCIgdmFsdWU9ImZhbHNlIi8+PHVpc2hvdyBuYW1lPSJpbml0aWFsZGlzcGxheW1vZGVpc25vcm1hbCIgdmFsdWU9InRydWUiLz48dWlyZXBsYWNlIG5hbWU9ImxvZ28iIHZhbHVlPSIiLz48dWlyZXBsYWNlIG5hbWU9ImJnaW1hZ2UiIHZhbHVlPSIiLz48dWlyZXBsYWNlIG5hbWU9ImluaXRpYWx0YWIiIHZhbHVlPSJvdXRsaW5lIi8+PHVpc2hvdyBuYW1lPSJjY3RleHRoaWdobGlnaHRpbmciIHZhbHVlPSJ0cnVlIi8+DQoJPC9sYXlvdXQ+DQoJPHByZWxvYWRlcj48c2V0Qm9vbCBuYW1lPSJkaXNhYmxlQXNzZXRQcmVsb2FkZXIiIHZhbHVlPSJ0cnVlIi8+PC9wcmVsb2FkZXI+PGxhbmd1YWdlIGlkPSJlb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x1aXRleHQgbmFtZT0iQ09VUlNFX1NUQVRVUyIgdmFsdWU9Ik1vZHVsZSBTdGF0dXMiLz4NCgkJPHVpdGV4dCBuYW1lPSJQQVNTRURfU1RSSU5HIiB2YWx1ZT0iUGFzc2VkIi8+DQoJCTx1aXRleHQgbmFtZT0iRkFJTEVEX1NUUklORyIgdmFsdWU9IkZhaWxlZCIvPg0KCQk8IS0tcXVpeiBwb2QgYW5kIG1lc3NhZ2UgYm94IHRleHRz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+DQoJCTx1aXRleHQgbmFtZT0iUVVJWlBPRF9RVUlaX1BBU1NTQ09SRSIgdmFsdWU9IlBhc3NpbmcgU2NvcmU6Ii8+DQoJCTx1aXRleHQgbmFtZT0iUVVJWlBPRF9RVUlaX01BWFNDT1JFIiB2YWx1ZT0iTWF4IFNjb3JlOiIvPg0KCQk8dWl0ZXh0IG5hbWU9IlFVSVpQT0RfUVVFU0FUTVBUX1NUUiIgdmFsdWU9IkF0dGVtcHQ6ICVuIG9mICV0Ii8+DQoJCTx1aXRleHQgbmFtZT0iUVVJWlBPRF9RVUVTVFlQRV9TVFIiIHZhbHVlPSJUeXBlOiAlcyIvPg0KCQk8dWl0ZXh0IG5hbWU9IlFVSVpQT0RfUVVFU1RZUEVfR1JEIiB2YWx1ZT0iR3JhZGVkIi8+DQoJCTx1aXRleHQgbmFtZT0iUVVJWlBPRF9RVUVTVFlQRV9TVlkiIHZhbHVlPSJTdXJ2ZXkiLz4NCgkJPHVpdGV4dCBuYW1lPSJRVUlaUE9EX1FVSVpBVE1QVF9JTkYiIHZhbHVlPSJJbmZpbml0ZSIvPg0KCQk8dWl0ZXh0IG5hbWU9IlFVSVpQT0RfUVVFU0FUTVBUX0lORiIgdmFsdWU9IkluZmluaXRlIi8+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TaG93IHNpZGViYXIgdG8gcGFydGljaXBhbnRzIi8+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/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+DQoJCTx1aXRleHQgbmFtZT0iQ09MTEFCX0xPQ0FMX1BMQVlCQUNLQlROIiB2YWx1ZT0i2YXZiNin2YHZgiIvPg0KCQk8IS0tIHN1YnN0aXR1dGlvbjogJW4gPT0gc2xpZGUgbnVtYmVyIC0tPg0KCQk8IS0tIHN1YnN0aXR1dGlvbjogJXQgPT0gdG90YWwgc2xpZGUgY291bnQgLS0+DQoJCTx1aXRleHQgbmFtZT0iU0NSVUJCQVJTVEFUVVNfU0xJREVJTkZPIiB2YWx1ZT0i2LTYsdmK2K3YqSAlbiAvICV0IHwgIi8+DQoJCTx1aXRleHQgbmFtZT0iU0NSVUJCQVJTVEFUVVNfU1RPUFBFRCIgdmFsdWU9ItmF2KrZiNmC2YEiLz4NCgkJPHVpdGV4dCBuYW1lPSJTQ1JVQkJBUlNUQVRVU19QTEFZSU5HIiB2YWx1ZT0i2YLZitivINin2YTYqti02LrZitmEIi8+DQoJCTx1aXRleHQgbmFtZT0iU0NSVUJCQVJTVEFUVVNfTk9BVURJTyIgdmFsdWU9ItmE2Kcg2YrZiNis2K8g2LXZiNiqIi8+DQoJCTx1aXRleHQgbmFtZT0iU0NSVUJCQVJTVEFUVVNfVklEUExBWUlORyIgdmFsdWU9Itin2YTZgdmK2K/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+DQoJCTwhLS0gc3Vic3RpdHV0aW9uOiAlcyA9PSBzZWNvbmRzIHJlbWFpbmluZyAtLT4NCgkJPHVpdGV4dCBuYW1lPSJFTEFQU0VEIiB2YWx1ZT0iJW0g2K/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+DQoJCTx1aXRleHQgbmFtZT0iVEFCX1FVSVoiIHZhbHVlPSLZhdiz2KfYqNmC2KkiLz4NCgkJPHVpdGV4dCBuYW1lPSJUQUJfT1VUTElORSIgdmFsdWU9ItmF2K7Yt9i3Ii8+DQoJCTx1aXRleHQgbmFtZT0iVEFCX1RIVU1CIiB2YWx1ZT0i2YXYtdi62ZHYsdipIi8+DQoJCTx1aXRleHQgbmFtZT0iVEFCX05PVEVTIiB2YWx1ZT0i2YXZhNin2K3YuNin2KoiLz4NCgkJPHVpdGV4dCBuYW1lPSJUQUJfU0VBUkNIIiB2YWx1ZT0i2KjYrdirIi8+DQoJCTx1aXRleHQgbmFtZT0iU0xJREVfSEVBRElORyIgdmFsdWU9Iti52YbZiNin2YYg2KfZhNi02LHZitit2KkgIi8+DQoJCTx1aXRleHQgbmFtZT0iRFVSQVRJT05fSEVBRElORyIgdmFsdWU9ItmF2K/YqSIvPg0KCQk8dWl0ZXh0IG5hbWU9IlNFQVJDSF9IRUFESU5HIiB2YWx1ZT0iOtin2YTYqNit2Ksg2LnZhiDZhti1Ii8+DQoJCTx1aXRleHQgbmFtZT0iVEhVTUJfSEVBRElORyIgdmFsdWU9Iti02LHZitit2KkiLz4NCgkJPHVpdGV4dCBuYW1lPSJUSFVNQl9JTkZPIiB2YWx1ZT0i2LnZhtmI2KfZhi/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+DQoJCTx1aXRleHQgbmFtZT0iQ09VUlNFX1NUQVRVUyIgdmFsdWU9Itit2KfZhNipINin2YTZiNit2K/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/Ysdis2Kkg2KfZhNmF2LPYrNmE2KkiLz4NCgkJPHVpdGV4dCBuYW1lPSJRVUlaUE9EX1FVSVpfUEFTU1NDT1JFIiB2YWx1ZT0iOtiv2LHYrNipINin2YTZhtis2KfYrSIvPg0KCQk8dWl0ZXh0IG5hbWU9IlFVSVpQT0RfUVVJWl9NQVhTQ09SRSIgdmFsdWU9IjrYp9mE2K/Ysdis2Kkg2KfZhNmC2LXZiNmJIi8+DQoJCTx1aXRleHQgbmFtZT0iUVVJWlBPRF9RVUVTQVRNUFRfU1RSIiB2YWx1ZT0i2KfZhNmF2K3Yp9mI2YTYqSAlbiDZhdmGICV0Ii8+DQoJCTx1aXRleHQgbmFtZT0iUVVJWlBPRF9RVUVTVFlQRV9TVFIiIHZhbHVlPSLYp9mE2YbZiNi5OiAlcyIvPg0KCQk8dWl0ZXh0IG5hbWU9IlFVSVpQT0RfUVVFU1RZUEVfR1JEIiB2YWx1ZT0i2KrZhSDYqti12K3Zitit2YciLz4NCgkJPHVpdGV4dCBuYW1lPSJRVUlaUE9EX1FVRVNUWVBFX1NWWSIgdmFsdWU9Itin2LPYqti32YTYp9i5Ii8+DQoJCTx1aXRleHQgbmFtZT0iUVVJWlBPRF9RVUlaQVRNUFRfSU5GIiB2YWx1ZT0i2YTYpyDZhtmH2KfYptmKIi8+DQoJCTx1aXRleHQgbmFtZT0iUVVJWlBPRF9RVUVTQVRNUFRfSU5GIiB2YWx1ZT0i2YTYpyDZhtmH2KfYptmKIi8+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/ZitmIINmE2KrZhtiy2YrZhCDYo9it2K/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+DQoJCTx1aXRleHQgbmFtZT0iTVVURSIgdmFsdWU9Iti12KfZhdiqIi8+DQoJCTx1aXRleHQgbmFtZT0iRE9DV1JBUF9USVRMRSIgdmFsdWU9Itin2YTZhdmE2YHYp9iqINin2YTZhdix2YHZgtipINmB2YogUHJlc2VudGVyIi8+DQoJCTx1aXRleHQgbmFtZT0iRE9DV1JBUF9NU0ciIHZhbHVlPSLYp9mE2K3Zgdi4INmB2Yog2KzZh9in2LIg2KfZhNmD2YXYqNmK2YjYqtixIi8+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+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+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+S7mOODleOCoeOCpOODq+itpuWRiiIvPg0KCQk8dWl0ZXh0IG5hbWU9IkFUVEFDSE1FTlRfUFJFVklFV19XQVJOSU5HTVNHIiB2YWx1ZT0i5re75LuY44OV44Kh44Kk44Or44Gv44OX44Os44OT44Ol44O844Oi44O844OJ44Gn44Gv6ZaL44GN44G+44Gb44KT44CC44OR44OW44Oq44OD44K344Ol44KS5L2/55So44GX44Gm57WQ5p6c44KS6KGo56S644GX44Gm44GP44Gg44GV44GE44CCIi8+DQoJCTx1aXRleHQgbmFtZT0iQ09MTEFCX0xPQ0FMX1BMQVlCQUNLX01TRyIgdmFsdWU9IuOCs+ODs+ODhuODs+ODhOOBr+ODreODvOOCq+ODq+OBp+WGjeeUn+OBleOCjOOBpuOBhOOBvuOBmeOAguOBk+OBruODouODvOODieOBp+OBr+WFseWQjOS9nOalreOBp+OBjeOBvuOBm+OCk+OAgiIvPg0KCQk8dWl0ZXh0IG5hbWU9IkNPTExBQl9MT0NBTF9QTEFZQkFDS19USVRMRSIgdmFsdWU9IuODreODvOOCq+ODq+WGjeeUnyIvPg0KCQk8dWl0ZXh0IG5hbWU9IkNPTExBQl9MT0NBTF9QTEFZQkFDS0JUTiIgdmFsdWU9Ik9LIi8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x1aXRleHQgbmFtZT0iQ09VUlNFX1NUQVRVUyIgdmFsdWU9IuODouOCuOODpeODvOODq+OCueODhuODvOOCv+OCuSIvPg0KCQk8dWl0ZXh0IG5hbWU9IlBBU1NFRF9TVFJJTkciIHZhbHVlPSLlkIjmoLwiLz4NCgkJPHVpdGV4dCBuYW1lPSJGQUlMRURfU1RSSU5HIiB2YWx1ZT0i5LiN5ZCI5qC8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+ZIOyekeyXheydhCDsiJjtlontlaAg7IiYIOyXhuyKteuLiOuLpC4iLz4NCgkJPHVpdGV4dCBuYW1lPSJDT0xMQUJfTE9DQUxfUExBWUJBQ0tfVElUTEUiIHZhbHVlPSLroZzsu6wg7J6s7IOdIi8+DQoJCTx1aXRleHQgbmFtZT0iQ09MTEFCX0xPQ0FMX1BMQVlCQUNLQlROIiB2YWx1ZT0i7ZmV7J24Ii8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+DQoJCTx1aXRleHQgbmFtZT0iQ09MTEFCX0xPQ0FMX1BMQVlCQUNLQlROIiB2YWx1ZT0iT2siLz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+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x1aXRleHQgbmFtZT0iQ09VUlNFX1NUQVRVUyIgdmFsdWU9IlN0YXR1cyBkbyBtw7NkdWxvIi8+DQoJCTx1aXRleHQgbmFtZT0iUEFTU0VEX1NUUklORyIgdmFsdWU9IkFwcm92YWRvIi8+DQoJCTx1aXRleHQgbmFtZT0iRkFJTEVEX1NUUklORyIgdmFsdWU9IlJlcHJvdmFkby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+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+DQoJCTx1aXRleHQgbmFtZT0iQ09MTEFCX0xPQ0FMX1BMQVlCQUNLX01TRyIgdmFsdWU9IkNvbnRlbnQgaXMgYmVpbmcgcGxheWVkIGxvY2FsbHkuXG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+DQoJCTx1aXRleHQgbmFtZT0iQ09MTEFCX0xPQ0FMX1BMQVlCQUNLX1RJVExFIiB2YWx1ZT0iTG9jYWwgUGxheWJhY2siLz4NCgkJPHVpdGV4dCBuYW1lPSJDT0xMQUJfTE9DQUxfUExBWUJBQ0tCVE4iIHZhbHVlPSJPayIv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JPGxhbmd1YWdlIGlkPSJ0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x1aXRleHQgbmFtZT0iVU5OQU1FRFNMSURFVElUTEUiIHZhbHVlPSJTbGF5dCAlbiIvPg0KCQk8IS0tIHN1YnN0aXR1dGlvbjogJW4gPT0gc2xpZGUgbnVtYmVyIC0tPg0KCQk8IS0tIHN1YnN0aXR1dGlvbjogJXQgPT0gdG90YWwgc2xpZGUgY291bnQgLS0+DQoJCTx1aXRleHQgbmFtZT0iU0NSVUJCQVJTVEFUVVNfU0xJREVJTkZPIiB2YWx1ZT0iU2xheXQgJW4gLyAldCB8ICIvPg0KCQk8dWl0ZXh0IG5hbWU9IlNDUlVCQkFSU1RBVFVTX1NUT1BQRUQiIHZhbHVlPSJEdXJkdXJ1bGR1Ii8+DQoJCTx1aXRleHQgbmFtZT0iU0NSVUJCQVJTVEFUVVNfUExBWUlORyIgdmFsdWU9Ik95bmF0xLFsxLF5b3IiLz4NCgkJPHVpdGV4dCBuYW1lPSJTQ1JVQkJBUlNUQVRVU19OT0FVRElPIiB2YWx1ZT0iU2VzIFlvayIvPg0KCQk8dWl0ZXh0IG5hbWU9IlNDUlVCQkFSU1RBVFVTX1ZJRFBMQVlJTkciIHZhbHVlPSJWaWRlbyBPeW5hdMSxbMSxeW9yIi8+DQoJCTx1aXRleHQgbmFtZT0iU0NSVUJCQVJTVEFUVVNfTE9BRElORyIgdmFsdWU9IlnDvGtsZW5peW9yIi8+DQoJCTx1aXRleHQgbmFtZT0iU0NSVUJCQVJTVEFUVVNfQlVGRkVSSU5HIiB2YWx1ZT0iQXJhYmVsbGXEn2UgQWzEsW7EsXlvciIvPg0KCQk8dWl0ZXh0IG5hbWU9IlNDUlVCQkFSU1RBVFVTX1FVRVNUSU9OIiB2YWx1ZT0iU29ydXl1IFlhbsSxdGxhIi8+DQoJCTx1aXRleHQgbmFtZT0iU0NSVUJCQVJTVEFUVVNfUkVWSUVXUVVJWiIgdmFsdWU9IlPEsW5hdiDEsG5jZWxlbml5b3IiLz4NCgkJPCEtLSBzdWJzdGl0dXRpb246ICVtID09IG1pbnV0ZXMgcmVtYWluaW5nIC0tPg0KCQk8IS0tIHN1YnN0aXR1dGlvbjogJXMgPT0gc2Vjb25kcyByZW1haW5pbmcgLS0+DQoJCTx1aXRleHQgbmFtZT0iRUxBUFNFRCIgdmFsdWU9IiVtIERha2lrYSAlcyBTYW5peWUgS2FsZMSxIi8+DQoJCTx1aXRleHQgbmFtZT0iTk9URk9VTkQiIHZhbHVlPSJIZXJoYW5naSBCaXIgxZ5leSBCdWx1bm1hZMSxIi8+DQoJCTx1aXRleHQgbmFtZT0iQVRUQUNITUVOVFMiIHZhbHVlPSJFa2xlci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sSwcnRpYmF0Ii8+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  <p:tag name="MMPROD_UIDATA" val="&lt;database version=&quot;11.0&quot;&gt;&lt;object type=&quot;1&quot; unique_id=&quot;10001&quot;&gt;&lt;property id=&quot;20141&quot; value=&quot;ECE/CS 552 - Cache Performance&quot;/&gt;&lt;property id=&quot;20144&quot; value=&quot;0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1&quot;/&gt;&lt;property id=&quot;20183&quot; value=&quot;1&quot;/&gt;&lt;property id=&quot;20184&quot; value=&quot;7&quot;/&gt;&lt;property id=&quot;20193&quot; value=&quot;-1&quot;/&gt;&lt;property id=&quot;20224&quot; value=&quot;C:\Users\sanmi\Documents\My Adobe Presentations\ece552-CachePerformance&quot;/&gt;&lt;property id=&quot;20250&quot; value=&quot;0&quot;/&gt;&lt;property id=&quot;20251&quot; value=&quot;0&quot;/&gt;&lt;property id=&quot;20259&quot; value=&quot;0&quot;/&gt;&lt;property id=&quot;20263&quot; value=&quot;2&quot;/&gt;&lt;property id=&quot;20264&quot; value=&quot;1&quot;/&gt;&lt;property id=&quot;20519&quot; value=&quot;0&quot;/&gt;&lt;property id=&quot;20700&quot; value=&quot;0&quot;/&gt;&lt;object type=&quot;2&quot; unique_id=&quot;10313&quot;&gt;&lt;object type=&quot;3&quot; unique_id=&quot;19005&quot;&gt;&lt;property id=&quot;20148&quot; value=&quot;5&quot;/&gt;&lt;property id=&quot;20300&quot; value=&quot;Slide 1 - &amp;quot;ECE/CS 552: Cache Performance&amp;quot;&quot;/&gt;&lt;property id=&quot;20307&quot; value=&quot;508&quot;/&gt;&lt;property id=&quot;20309&quot; value=&quot;-1&quot;/&gt;&lt;/object&gt;&lt;object type=&quot;3&quot; unique_id=&quot;23100&quot;&gt;&lt;property id=&quot;20148&quot; value=&quot;5&quot;/&gt;&lt;property id=&quot;20300&quot; value=&quot;Slide 2 - &amp;quot;Caches – Placement&amp;quot;&quot;/&gt;&lt;property id=&quot;20307&quot; value=&quot;710&quot;/&gt;&lt;property id=&quot;20309&quot; value=&quot;-1&quot;/&gt;&lt;/object&gt;&lt;object type=&quot;3&quot; unique_id=&quot;23101&quot;&gt;&lt;property id=&quot;20148&quot; value=&quot;5&quot;/&gt;&lt;property id=&quot;20300&quot; value=&quot;Slide 3 - &amp;quot;Caches – Placement&amp;quot;&quot;/&gt;&lt;property id=&quot;20307&quot; value=&quot;711&quot;/&gt;&lt;property id=&quot;20309&quot; value=&quot;-1&quot;/&gt;&lt;/object&gt;&lt;object type=&quot;3&quot; unique_id=&quot;172580&quot;&gt;&lt;property id=&quot;20148&quot; value=&quot;5&quot;/&gt;&lt;property id=&quot;20300&quot; value=&quot;Slide 4 - &amp;quot;Caches – Placement&amp;quot;&quot;/&gt;&lt;property id=&quot;20307&quot; value=&quot;734&quot;/&gt;&lt;property id=&quot;20309&quot; value=&quot;-1&quot;/&gt;&lt;/object&gt;&lt;object type=&quot;3&quot; unique_id=&quot;176821&quot;&gt;&lt;property id=&quot;20148&quot; value=&quot;5&quot;/&gt;&lt;property id=&quot;20300&quot; value=&quot;Slide 5 - &amp;quot;Caches – Placement&amp;quot;&quot;/&gt;&lt;property id=&quot;20307&quot; value=&quot;746&quot;/&gt;&lt;property id=&quot;20309&quot; value=&quot;-1&quot;/&gt;&lt;/object&gt;&lt;object type=&quot;3&quot; unique_id=&quot;182860&quot;&gt;&lt;property id=&quot;20148&quot; value=&quot;5&quot;/&gt;&lt;property id=&quot;20300&quot; value=&quot;Slide 6 - &amp;quot;Announcements&amp;quot;&quot;/&gt;&lt;property id=&quot;20307&quot; value=&quot;753&quot;/&gt;&lt;/object&gt;&lt;/object&gt;&lt;object type=&quot;8&quot; unique_id=&quot;10391&quot;&gt;&lt;/object&gt;&lt;object type=&quot;10&quot; unique_id=&quot;19165&quot;&gt;&lt;object type=&quot;11&quot; unique_id=&quot;19166&quot;&gt;&lt;property id=&quot;20180&quot; value=&quot;0&quot;/&gt;&lt;property id=&quot;20181&quot; value=&quot;1&quot;/&gt;&lt;property id=&quot;20183&quot; value=&quot;1&quot;/&gt;&lt;/object&gt;&lt;object type=&quot;12&quot; unique_id=&quot;181272&quot;&gt;&lt;/object&gt;&lt;/object&gt;&lt;object type=&quot;4&quot; unique_id=&quot;19167&quot;&gt;&lt;/object&gt;&lt;/object&gt;&lt;/database&gt;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.PNG&quot;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9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02147B34-D9E8-45B0-8AFC-ED24FE1FF5D4}_1.png&quot;/&gt;&lt;left val=&quot;35&quot;/&gt;&lt;top val=&quot;195&quot;/&gt;&lt;width val=&quot;648&quot;/&gt;&lt;height val=&quot;102&quot;/&gt;&lt;hasText val=&quot;1&quot;/&gt;&lt;/Image&gt;&lt;/ThreeDShape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6&quot;/&gt;&lt;lineCharCount val=&quot;24&quot;/&gt;&lt;lineCharCount val=&quot;1&quot;/&gt;&lt;lineCharCount val=&quot;55&quot;/&gt;&lt;lineCharCount val=&quot;53&quot;/&gt;&lt;lineCharCount val=&quot;14&quot;/&gt;&lt;lineCharCount val=&quot;3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0EF9E00B-92DC-4482-876F-C926F2BC2E6C}_1.png&quot;/&gt;&lt;left val=&quot;103&quot;/&gt;&lt;top val=&quot;302&quot;/&gt;&lt;width val=&quot;512&quot;/&gt;&lt;height val=&quot;163&quot;/&gt;&lt;hasText val=&quot;1&quot;/&gt;&lt;/Image&gt;&lt;/ThreeDShape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4.PNG&quot;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8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9FF64E33-1078-46F0-BCBE-4E1C5DD113E9}_4.png&quot;/&gt;&lt;left val=&quot;35&quot;/&gt;&lt;top val=&quot;21&quot;/&gt;&lt;width val=&quot;588&quot;/&gt;&lt;height val=&quot;98&quot;/&gt;&lt;hasText val=&quot;1&quot;/&gt;&lt;/Image&gt;&lt;/ThreeDShape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149F980E-CEDB-4113-AEE7-29EB341CA621}_4.png&quot;/&gt;&lt;left val=&quot;599&quot;/&gt;&lt;top val=&quot;500&quot;/&gt;&lt;width val=&quot;84&quot;/&gt;&lt;height val=&quot;29&quot;/&gt;&lt;hasText val=&quot;1&quot;/&gt;&lt;/Image&gt;&lt;/ThreeDShape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1&quot;/&gt;&lt;lineCharCount val=&quot;51&quot;/&gt;&lt;lineCharCount val=&quot;54&quot;/&gt;&lt;lineCharCount val=&quot;11&quot;/&gt;&lt;lineCharCount val=&quot;19&quot;/&gt;&lt;lineCharCount val=&quot;60&quot;/&gt;&lt;lineCharCount val=&quot;14&quot;/&gt;&lt;lineCharCount val=&quot;43&quot;/&gt;&lt;lineCharCount val=&quot;72&quot;/&gt;&lt;lineCharCount val=&quot;23&quot;/&gt;&lt;lineCharCount val=&quot;27&quot;/&gt;&lt;lineCharCount val=&quot;60&quot;/&gt;&lt;/TableIndex&gt;&lt;/ShapeTextInfo&gt;"/>
  <p:tag name="HTML_SHAPEINFO" val="&lt;TextEffect&gt;&lt;Image&gt;&lt;filename val=&quot;C:\Users\sanmi\Documents\My Adobe Presentations\ece552-CachePerformance\data\asimages\{5DD303F5-7CB7-4993-85B1-E34E621F536B}_1.png_crop.png&quot;/&gt;&lt;left val=&quot;44&quot;/&gt;&lt;top val=&quot;130&quot;/&gt;&lt;width val=&quot;645&quot;/&gt;&lt;height val=&quot;73&quot;/&gt;&lt;hasText val=&quot;1&quot;/&gt;&lt;paraId val=&quot;1&quot;/&gt;&lt;/Image&gt;&lt;Image&gt;&lt;filename val=&quot;C:\Users\sanmi\Documents\My Adobe Presentations\ece552-CachePerformance\data\asimages\{7F919762-7840-4677-883A-E055E30F3C08}_1.png_crop.png&quot;/&gt;&lt;left val=&quot;44&quot;/&gt;&lt;top val=&quot;218&quot;/&gt;&lt;width val=&quot;220&quot;/&gt;&lt;height val=&quot;23&quot;/&gt;&lt;hasText val=&quot;1&quot;/&gt;&lt;paraId val=&quot;2&quot;/&gt;&lt;/Image&gt;&lt;Image&gt;&lt;filename val=&quot;C:\Users\sanmi\Documents\My Adobe Presentations\ece552-CachePerformance\data\asimages\{D4C325E9-28F0-435F-BDF9-89A10786E408}_1.png_crop.png&quot;/&gt;&lt;left val=&quot;78&quot;/&gt;&lt;top val=&quot;250&quot;/&gt;&lt;width val=&quot;598&quot;/&gt;&lt;height val=&quot;44&quot;/&gt;&lt;hasText val=&quot;1&quot;/&gt;&lt;paraId val=&quot;3&quot;/&gt;&lt;/Image&gt;&lt;Image&gt;&lt;filename val=&quot;C:\Users\sanmi\Documents\My Adobe Presentations\ece552-CachePerformance\data\asimages\{4EBD9DD0-2C0B-4687-9A06-BD9F607B61DE}_1.png_crop.png&quot;/&gt;&lt;left val=&quot;78&quot;/&gt;&lt;top val=&quot;302&quot;/&gt;&lt;width val=&quot;427&quot;/&gt;&lt;height val=&quot;20&quot;/&gt;&lt;hasText val=&quot;1&quot;/&gt;&lt;paraId val=&quot;4&quot;/&gt;&lt;/Image&gt;&lt;Image&gt;&lt;filename val=&quot;C:\Users\sanmi\Documents\My Adobe Presentations\ece552-CachePerformance\data\asimages\{5A5CF479-925E-46ED-BF65-AC97D0A21D44}_1.png_crop.png&quot;/&gt;&lt;left val=&quot;115&quot;/&gt;&lt;top val=&quot;331&quot;/&gt;&lt;width val=&quot;593&quot;/&gt;&lt;height val=&quot;39&quot;/&gt;&lt;hasText val=&quot;1&quot;/&gt;&lt;paraId val=&quot;5&quot;/&gt;&lt;/Image&gt;&lt;Image&gt;&lt;filename val=&quot;C:\Users\sanmi\Documents\My Adobe Presentations\ece552-CachePerformance\data\asimages\{9FBB8A75-019C-432B-B434-063AE484D56E}_1.png_crop.png&quot;/&gt;&lt;left val=&quot;115&quot;/&gt;&lt;top val=&quot;379&quot;/&gt;&lt;width val=&quot;243&quot;/&gt;&lt;height val=&quot;17&quot;/&gt;&lt;hasText val=&quot;1&quot;/&gt;&lt;paraId val=&quot;6&quot;/&gt;&lt;/Image&gt;&lt;Image&gt;&lt;filename val=&quot;C:\Users\sanmi\Documents\My Adobe Presentations\ece552-CachePerformance\data\asimages\{58874F63-DE8A-4A13-8C83-3D0CFE7C04EB}_1.png_crop.png&quot;/&gt;&lt;left val=&quot;115&quot;/&gt;&lt;top val=&quot;406&quot;/&gt;&lt;width val=&quot;499&quot;/&gt;&lt;height val=&quot;17&quot;/&gt;&lt;hasText val=&quot;1&quot;/&gt;&lt;paraId val=&quot;7&quot;/&gt;&lt;/Image&gt;&lt;/TextEffect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5.PNG&quot;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8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5BFDB09F-E4CC-4017-80B1-3AC989A04483}_5.png&quot;/&gt;&lt;left val=&quot;35&quot;/&gt;&lt;top val=&quot;21&quot;/&gt;&lt;width val=&quot;588&quot;/&gt;&lt;height val=&quot;98&quot;/&gt;&lt;hasText val=&quot;1&quot;/&gt;&lt;/Image&gt;&lt;/ThreeDShape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C57772E3-B6A6-42D0-B928-60503C530C76}_5.png&quot;/&gt;&lt;left val=&quot;599&quot;/&gt;&lt;top val=&quot;500&quot;/&gt;&lt;width val=&quot;84&quot;/&gt;&lt;height val=&quot;29&quot;/&gt;&lt;hasText val=&quot;1&quot;/&gt;&lt;/Image&gt;&lt;/ThreeDShape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1&quot; col=&quot;1&quot;&gt;&lt;linesCount val=&quot;1&quot;/&gt;&lt;lineCharCount val=&quot;3&quot;/&gt;&lt;/TableIndex&gt;&lt;TableIndex row=&quot;1&quot; col=&quot;2&quot;&gt;&lt;linesCount val=&quot;0&quot;/&gt;&lt;/TableIndex&gt;&lt;TableIndex row=&quot;1&quot; col=&quot;3&quot;&gt;&lt;linesCount val=&quot;1&quot;/&gt;&lt;lineCharCount val=&quot;3&quot;/&gt;&lt;/TableIndex&gt;&lt;TableIndex row=&quot;1&quot; col=&quot;4&quot;&gt;&lt;linesCount val=&quot;0&quot;/&gt;&lt;/TableIndex&gt;&lt;TableIndex row=&quot;1&quot; col=&quot;5&quot;&gt;&lt;linesCount val=&quot;1&quot;/&gt;&lt;lineCharCount val=&quot;4&quot;/&gt;&lt;/TableIndex&gt;&lt;TableIndex row=&quot;1&quot; col=&quot;6&quot;&gt;&lt;linesCount val=&quot;0&quot;/&gt;&lt;/TableIndex&gt;&lt;TableIndex row=&quot;1&quot; col=&quot;7&quot;&gt;&lt;linesCount val=&quot;1&quot;/&gt;&lt;lineCharCount val=&quot;4&quot;/&gt;&lt;/TableIndex&gt;&lt;TableIndex row=&quot;2&quot; col=&quot;1&quot;&gt;&lt;linesCount val=&quot;0&quot;/&gt;&lt;/TableIndex&gt;&lt;TableIndex row=&quot;2&quot; col=&quot;2&quot;&gt;&lt;linesCount val=&quot;1&quot;/&gt;&lt;lineCharCount val=&quot;5&quot;/&gt;&lt;/TableIndex&gt;&lt;TableIndex row=&quot;2&quot; col=&quot;3&quot;&gt;&lt;linesCount val=&quot;0&quot;/&gt;&lt;/TableIndex&gt;&lt;TableIndex row=&quot;2&quot; col=&quot;4&quot;&gt;&lt;linesCount val=&quot;0&quot;/&gt;&lt;/TableIndex&gt;&lt;TableIndex row=&quot;2&quot; col=&quot;5&quot;&gt;&lt;linesCount val=&quot;0&quot;/&gt;&lt;/TableIndex&gt;&lt;TableIndex row=&quot;2&quot; col=&quot;6&quot;&gt;&lt;linesCount val=&quot;1&quot;/&gt;&lt;lineCharCount val=&quot;5&quot;/&gt;&lt;/TableIndex&gt;&lt;TableIndex row=&quot;2&quot; col=&quot;7&quot;&gt;&lt;linesCount val=&quot;0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0&quot;/&gt;&lt;/TableIndex&gt;&lt;TableIndex row=&quot;3&quot; col=&quot;6&quot;&gt;&lt;linesCount val=&quot;0&quot;/&gt;&lt;/TableIndex&gt;&lt;TableIndex row=&quot;3&quot; col=&quot;7&quot;&gt;&lt;linesCount val=&quot;0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1&quot;/&gt;&lt;lineCharCount val=&quot;1&quot;/&gt;&lt;/TableIndex&gt;&lt;TableIndex row=&quot;4&quot; col=&quot;4&quot;&gt;&lt;linesCount val=&quot;0&quot;/&gt;&lt;/TableIndex&gt;&lt;TableIndex row=&quot;4&quot; col=&quot;5&quot;&gt;&lt;linesCount val=&quot;0&quot;/&gt;&lt;/TableIndex&gt;&lt;TableIndex row=&quot;4&quot; col=&quot;6&quot;&gt;&lt;linesCount val=&quot;0&quot;/&gt;&lt;/TableIndex&gt;&lt;TableIndex row=&quot;4&quot; col=&quot;7&quot;&gt;&lt;linesCount val=&quot;1&quot;/&gt;&lt;lineCharCount val=&quot;3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0&quot;/&gt;&lt;/TableIndex&gt;&lt;TableIndex row=&quot;5&quot; col=&quot;6&quot;&gt;&lt;linesCount val=&quot;0&quot;/&gt;&lt;/TableIndex&gt;&lt;TableIndex row=&quot;5&quot; col=&quot;7&quot;&gt;&lt;linesCount val=&quot;0&quot;/&gt;&lt;/TableIndex&gt;&lt;TableIndex row=&quot;6&quot; col=&quot;1&quot;&gt;&lt;linesCount val=&quot;0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0&quot;/&gt;&lt;/TableIndex&gt;&lt;TableIndex row=&quot;6&quot; col=&quot;7&quot;&gt;&lt;linesCount val=&quot;0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6AA7482A-D7D5-482C-8528-DE407961EB8A}_5.png&quot;/&gt;&lt;left val=&quot;214&quot;/&gt;&lt;top val=&quot;222&quot;/&gt;&lt;width val=&quot;454&quot;/&gt;&lt;height val=&quot;180&quot;/&gt;&lt;hasText val=&quot;1&quot;/&gt;&lt;/Image&gt;&lt;/ThreeDShape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919DD393-E1BD-4E59-ADBE-BB69BE1982A8}_5.png&quot;/&gt;&lt;left val=&quot;351&quot;/&gt;&lt;top val=&quot;405&quot;/&gt;&lt;width val=&quot;55&quot;/&gt;&lt;height val=&quot;68&quot;/&gt;&lt;hasText val=&quot;1&quot;/&gt;&lt;/Image&gt;&lt;/ThreeDShape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66151094-E53B-4C6C-93CF-5ABDA0743168}_5.png&quot;/&gt;&lt;left val=&quot;197&quot;/&gt;&lt;top val=&quot;191&quot;/&gt;&lt;width val=&quot;78&quot;/&gt;&lt;height val=&quot;39&quot;/&gt;&lt;hasText val=&quot;1&quot;/&gt;&lt;/Image&gt;&lt;/ThreeDShape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7886C929-BEFD-476A-A77D-54ED721E496D}_5.png&quot;/&gt;&lt;left val=&quot;303&quot;/&gt;&lt;top val=&quot;191&quot;/&gt;&lt;width val=&quot;82&quot;/&gt;&lt;height val=&quot;39&quot;/&gt;&lt;hasText val=&quot;1&quot;/&gt;&lt;/Image&gt;&lt;/ThreeDShape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FCF9A148-D830-4907-9D89-13C366385EB3}_5.png&quot;/&gt;&lt;left val=&quot;455&quot;/&gt;&lt;top val=&quot;191&quot;/&gt;&lt;width val=&quot;78&quot;/&gt;&lt;height val=&quot;39&quot;/&gt;&lt;hasText val=&quot;1&quot;/&gt;&lt;/Image&gt;&lt;/ThreeDShape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5042D4EB-B79D-41E2-8795-6ABFDEF520D9}_5.png&quot;/&gt;&lt;left val=&quot;591&quot;/&gt;&lt;top val=&quot;191&quot;/&gt;&lt;width val=&quot;82&quot;/&gt;&lt;height val=&quot;39&quot;/&gt;&lt;hasText val=&quot;1&quot;/&gt;&lt;/Image&gt;&lt;/ThreeDShape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A99EC83D-745E-48AA-AD70-4E9F12A051FD}_5.png&quot;/&gt;&lt;left val=&quot;372&quot;/&gt;&lt;top val=&quot;408&quot;/&gt;&lt;width val=&quot;85&quot;/&gt;&lt;height val=&quot;39&quot;/&gt;&lt;hasText val=&quot;1&quot;/&gt;&lt;/Image&gt;&lt;/ThreeDShape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9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8CC6251A-6213-4327-B177-0956E7BBC1BB}_5.png&quot;/&gt;&lt;left val=&quot;23&quot;/&gt;&lt;top val=&quot;113&quot;/&gt;&lt;width val=&quot;162&quot;/&gt;&lt;height val=&quot;39&quot;/&gt;&lt;hasText val=&quot;1&quot;/&gt;&lt;/Image&gt;&lt;/ThreeDShape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1FB972C9-DC72-42EC-8C66-BDD1338AAE16}_5.png&quot;/&gt;&lt;left val=&quot;563&quot;/&gt;&lt;top val=&quot;503&quot;/&gt;&lt;width val=&quot;84&quot;/&gt;&lt;height val=&quot;39&quot;/&gt;&lt;hasText val=&quot;1&quot;/&gt;&lt;/Image&gt;&lt;/ThreeDShape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E5EE38A4-FB32-44E7-91E2-57460A499F24}_5.png&quot;/&gt;&lt;left val=&quot;83&quot;/&gt;&lt;top val=&quot;401&quot;/&gt;&lt;width val=&quot;84&quot;/&gt;&lt;height val=&quot;39&quot;/&gt;&lt;hasText val=&quot;1&quot;/&gt;&lt;/Image&gt;&lt;/ThreeDShape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22CF9829-E254-478A-8B6B-CA21999B7C06}_5.png&quot;/&gt;&lt;left val=&quot;137&quot;/&gt;&lt;top val=&quot;300&quot;/&gt;&lt;width val=&quot;84&quot;/&gt;&lt;height val=&quot;39&quot;/&gt;&lt;hasText val=&quot;1&quot;/&gt;&lt;/Image&gt;&lt;/ThreeDShape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1&quot; col=&quot;1&quot;&gt;&lt;linesCount val=&quot;1&quot;/&gt;&lt;lineCharCount val=&quot;16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47ABBEEE-9E67-48FA-9D8D-C8935F94D0F2}_5.png&quot;/&gt;&lt;left val=&quot;22&quot;/&gt;&lt;top val=&quot;144&quot;/&gt;&lt;width val=&quot;166&quot;/&gt;&lt;height val=&quot;39&quot;/&gt;&lt;hasText val=&quot;1&quot;/&gt;&lt;/Image&gt;&lt;/ThreeDShapeInfo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1&quot; col=&quot;1&quot;&gt;&lt;linesCount val=&quot;1&quot;/&gt;&lt;lineCharCount val=&quot;3&quot;/&gt;&lt;/TableIndex&gt;&lt;TableIndex row=&quot;1&quot; col=&quot;2&quot;&gt;&lt;linesCount val=&quot;1&quot;/&gt;&lt;lineCharCount val=&quot;3&quot;/&gt;&lt;/TableIndex&gt;&lt;TableIndex row=&quot;1&quot; col=&quot;3&quot;&gt;&lt;linesCount val=&quot;1&quot;/&gt;&lt;lineCharCount val=&quot;6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B480AE93-0140-4A3B-B432-88630C74C479}_5.png&quot;/&gt;&lt;left val=&quot;440&quot;/&gt;&lt;top val=&quot;136&quot;/&gt;&lt;width val=&quot;235&quot;/&gt;&lt;height val=&quot;39&quot;/&gt;&lt;hasText val=&quot;1&quot;/&gt;&lt;/Image&gt;&lt;/ThreeDShape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3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198ADE9A-AB17-400E-922A-ABAF722D6D45}_5.png&quot;/&gt;&lt;left val=&quot;407&quot;/&gt;&lt;top val=&quot;106&quot;/&gt;&lt;width val=&quot;265&quot;/&gt;&lt;height val=&quot;49&quot;/&gt;&lt;hasText val=&quot;1&quot;/&gt;&lt;/Image&gt;&lt;/ThreeDShape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0647F511-2E45-4A32-A6DD-0F5067A7D27E}_5.png&quot;/&gt;&lt;left val=&quot;240&quot;/&gt;&lt;top val=&quot;404&quot;/&gt;&lt;width val=&quot;55&quot;/&gt;&lt;height val=&quot;68&quot;/&gt;&lt;hasText val=&quot;1&quot;/&gt;&lt;/Image&gt;&lt;/ThreeDShapeInfo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FBA309B5-8C73-4F0E-BD61-FC40B4466E70}_5.png&quot;/&gt;&lt;left val=&quot;263&quot;/&gt;&lt;top val=&quot;407&quot;/&gt;&lt;width val=&quot;84&quot;/&gt;&lt;height val=&quot;39&quot;/&gt;&lt;hasText val=&quot;1&quot;/&gt;&lt;/Image&gt;&lt;/ThreeDShape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92D6559-62D9-44BF-A60D-5F26476A59C9}&quot;/&gt;&lt;isInvalidForFieldText val=&quot;0&quot;/&gt;&lt;Image&gt;&lt;filename val=&quot;C:\Users\sanmi\Documents\My Adobe Presentations\ece552-CachePerformance\data\asimages\{E92D6559-62D9-44BF-A60D-5F26476A59C9}_5.png&quot;/&gt;&lt;left val=&quot;580&quot;/&gt;&lt;top val=&quot;465&quot;/&gt;&lt;width val=&quot;51&quot;/&gt;&lt;height val=&quot;43&quot;/&gt;&lt;hasText val=&quot;1&quot;/&gt;&lt;/Image&gt;&lt;/ThreeDShape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2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05D8272D-065F-4809-8656-B89F3388CE3A}_5.png&quot;/&gt;&lt;left val=&quot;20&quot;/&gt;&lt;top val=&quot;448&quot;/&gt;&lt;width val=&quot;141&quot;/&gt;&lt;height val=&quot;38&quot;/&gt;&lt;hasText val=&quot;1&quot;/&gt;&lt;/Image&gt;&lt;/ThreeDShape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5&quot;/&gt;&lt;lineCharCount val=&quot;8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F47CB979-77FF-4948-8DA2-73A89A56E520}_5.png&quot;/&gt;&lt;left val=&quot;65&quot;/&gt;&lt;top val=&quot;300&quot;/&gt;&lt;width val=&quot;84&quot;/&gt;&lt;height val=&quot;60&quot;/&gt;&lt;hasText val=&quot;1&quot;/&gt;&lt;/Image&gt;&lt;/ThreeDShape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8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E9B2B02D-B08B-46A5-9054-F4C13F666F71}_6.png&quot;/&gt;&lt;left val=&quot;35&quot;/&gt;&lt;top val=&quot;21&quot;/&gt;&lt;width val=&quot;588&quot;/&gt;&lt;height val=&quot;98&quot;/&gt;&lt;hasText val=&quot;1&quot;/&gt;&lt;/Image&gt;&lt;/ThreeDShape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FE59D0E1-8B65-43F2-89E2-4E2EBD726EEE}_6.png&quot;/&gt;&lt;left val=&quot;599&quot;/&gt;&lt;top val=&quot;500&quot;/&gt;&lt;width val=&quot;84&quot;/&gt;&lt;height val=&quot;29&quot;/&gt;&lt;hasText val=&quot;1&quot;/&gt;&lt;/Image&gt;&lt;/ThreeDShape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1&quot; col=&quot;1&quot;&gt;&lt;linesCount val=&quot;1&quot;/&gt;&lt;lineCharCount val=&quot;3&quot;/&gt;&lt;/TableIndex&gt;&lt;TableIndex row=&quot;1&quot; col=&quot;2&quot;&gt;&lt;linesCount val=&quot;0&quot;/&gt;&lt;/TableIndex&gt;&lt;TableIndex row=&quot;1&quot; col=&quot;3&quot;&gt;&lt;linesCount val=&quot;1&quot;/&gt;&lt;lineCharCount val=&quot;3&quot;/&gt;&lt;/TableIndex&gt;&lt;TableIndex row=&quot;1&quot; col=&quot;4&quot;&gt;&lt;linesCount val=&quot;0&quot;/&gt;&lt;/TableIndex&gt;&lt;TableIndex row=&quot;1&quot; col=&quot;5&quot;&gt;&lt;linesCount val=&quot;1&quot;/&gt;&lt;lineCharCount val=&quot;4&quot;/&gt;&lt;/TableIndex&gt;&lt;TableIndex row=&quot;1&quot; col=&quot;6&quot;&gt;&lt;linesCount val=&quot;0&quot;/&gt;&lt;/TableIndex&gt;&lt;TableIndex row=&quot;1&quot; col=&quot;7&quot;&gt;&lt;linesCount val=&quot;1&quot;/&gt;&lt;lineCharCount val=&quot;4&quot;/&gt;&lt;/TableIndex&gt;&lt;TableIndex row=&quot;2&quot; col=&quot;1&quot;&gt;&lt;linesCount val=&quot;0&quot;/&gt;&lt;/TableIndex&gt;&lt;TableIndex row=&quot;2&quot; col=&quot;2&quot;&gt;&lt;linesCount val=&quot;1&quot;/&gt;&lt;lineCharCount val=&quot;5&quot;/&gt;&lt;/TableIndex&gt;&lt;TableIndex row=&quot;2&quot; col=&quot;3&quot;&gt;&lt;linesCount val=&quot;0&quot;/&gt;&lt;/TableIndex&gt;&lt;TableIndex row=&quot;2&quot; col=&quot;4&quot;&gt;&lt;linesCount val=&quot;0&quot;/&gt;&lt;/TableIndex&gt;&lt;TableIndex row=&quot;2&quot; col=&quot;5&quot;&gt;&lt;linesCount val=&quot;0&quot;/&gt;&lt;/TableIndex&gt;&lt;TableIndex row=&quot;2&quot; col=&quot;6&quot;&gt;&lt;linesCount val=&quot;1&quot;/&gt;&lt;lineCharCount val=&quot;5&quot;/&gt;&lt;/TableIndex&gt;&lt;TableIndex row=&quot;2&quot; col=&quot;7&quot;&gt;&lt;linesCount val=&quot;0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0&quot;/&gt;&lt;/TableIndex&gt;&lt;TableIndex row=&quot;3&quot; col=&quot;6&quot;&gt;&lt;linesCount val=&quot;0&quot;/&gt;&lt;/TableIndex&gt;&lt;TableIndex row=&quot;3&quot; col=&quot;7&quot;&gt;&lt;linesCount val=&quot;0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1&quot;/&gt;&lt;lineCharCount val=&quot;1&quot;/&gt;&lt;/TableIndex&gt;&lt;TableIndex row=&quot;4&quot; col=&quot;4&quot;&gt;&lt;linesCount val=&quot;0&quot;/&gt;&lt;/TableIndex&gt;&lt;TableIndex row=&quot;4&quot; col=&quot;5&quot;&gt;&lt;linesCount val=&quot;0&quot;/&gt;&lt;/TableIndex&gt;&lt;TableIndex row=&quot;4&quot; col=&quot;6&quot;&gt;&lt;linesCount val=&quot;0&quot;/&gt;&lt;/TableIndex&gt;&lt;TableIndex row=&quot;4&quot; col=&quot;7&quot;&gt;&lt;linesCount val=&quot;1&quot;/&gt;&lt;lineCharCount val=&quot;3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0&quot;/&gt;&lt;/TableIndex&gt;&lt;TableIndex row=&quot;5&quot; col=&quot;6&quot;&gt;&lt;linesCount val=&quot;0&quot;/&gt;&lt;/TableIndex&gt;&lt;TableIndex row=&quot;5&quot; col=&quot;7&quot;&gt;&lt;linesCount val=&quot;0&quot;/&gt;&lt;/TableIndex&gt;&lt;TableIndex row=&quot;6&quot; col=&quot;1&quot;&gt;&lt;linesCount val=&quot;0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0&quot;/&gt;&lt;/TableIndex&gt;&lt;TableIndex row=&quot;6&quot; col=&quot;7&quot;&gt;&lt;linesCount val=&quot;0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545B9070-053E-42E0-83AF-D935E14B4DD3}_6.png&quot;/&gt;&lt;left val=&quot;214&quot;/&gt;&lt;top val=&quot;222&quot;/&gt;&lt;width val=&quot;454&quot;/&gt;&lt;height val=&quot;180&quot;/&gt;&lt;hasText val=&quot;1&quot;/&gt;&lt;/Image&gt;&lt;/ThreeDShapeInfo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CBBA9DF3-6A9D-49E3-83EF-8D42314EE998}_6.png&quot;/&gt;&lt;left val=&quot;351&quot;/&gt;&lt;top val=&quot;405&quot;/&gt;&lt;width val=&quot;55&quot;/&gt;&lt;height val=&quot;68&quot;/&gt;&lt;hasText val=&quot;1&quot;/&gt;&lt;/Image&gt;&lt;/ThreeDShapeInfo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EEDE506F-AE20-41BC-8B0C-3373773131B7}_6.png&quot;/&gt;&lt;left val=&quot;197&quot;/&gt;&lt;top val=&quot;191&quot;/&gt;&lt;width val=&quot;78&quot;/&gt;&lt;height val=&quot;39&quot;/&gt;&lt;hasText val=&quot;1&quot;/&gt;&lt;/Image&gt;&lt;/ThreeDShape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13625234-2863-4DB0-94FC-9477D9AAE46A}_6.png&quot;/&gt;&lt;left val=&quot;303&quot;/&gt;&lt;top val=&quot;191&quot;/&gt;&lt;width val=&quot;82&quot;/&gt;&lt;height val=&quot;39&quot;/&gt;&lt;hasText val=&quot;1&quot;/&gt;&lt;/Image&gt;&lt;/ThreeDShapeInfo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209E0DAF-CA24-4163-8C9C-9CD120509E77}_6.png&quot;/&gt;&lt;left val=&quot;455&quot;/&gt;&lt;top val=&quot;191&quot;/&gt;&lt;width val=&quot;78&quot;/&gt;&lt;height val=&quot;39&quot;/&gt;&lt;hasText val=&quot;1&quot;/&gt;&lt;/Image&gt;&lt;/ThreeDShape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F769C74A-2124-476E-9FCA-49450F669490}_6.png&quot;/&gt;&lt;left val=&quot;591&quot;/&gt;&lt;top val=&quot;191&quot;/&gt;&lt;width val=&quot;82&quot;/&gt;&lt;height val=&quot;39&quot;/&gt;&lt;hasText val=&quot;1&quot;/&gt;&lt;/Image&gt;&lt;/ThreeDShapeInfo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6928C425-4E4D-47F3-83F2-1B9E95AAA472}_6.png&quot;/&gt;&lt;left val=&quot;372&quot;/&gt;&lt;top val=&quot;408&quot;/&gt;&lt;width val=&quot;85&quot;/&gt;&lt;height val=&quot;39&quot;/&gt;&lt;hasText val=&quot;1&quot;/&gt;&lt;/Image&gt;&lt;/ThreeDShapeInfo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9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2C247EF4-9D76-427E-8FF4-EED6E123723B}_6.png&quot;/&gt;&lt;left val=&quot;23&quot;/&gt;&lt;top val=&quot;113&quot;/&gt;&lt;width val=&quot;162&quot;/&gt;&lt;height val=&quot;39&quot;/&gt;&lt;hasText val=&quot;1&quot;/&gt;&lt;/Image&gt;&lt;/ThreeDShapeInfo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AC738BD6-4683-4C86-B6E7-85064B9E16E3}_6.png&quot;/&gt;&lt;left val=&quot;563&quot;/&gt;&lt;top val=&quot;503&quot;/&gt;&lt;width val=&quot;84&quot;/&gt;&lt;height val=&quot;39&quot;/&gt;&lt;hasText val=&quot;1&quot;/&gt;&lt;/Image&gt;&lt;/ThreeDShapeInfo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9A83AAD5-F4D5-4D28-9188-F734C345C537}_6.png&quot;/&gt;&lt;left val=&quot;83&quot;/&gt;&lt;top val=&quot;401&quot;/&gt;&lt;width val=&quot;84&quot;/&gt;&lt;height val=&quot;39&quot;/&gt;&lt;hasText val=&quot;1&quot;/&gt;&lt;/Image&gt;&lt;/ThreeDShapeInfo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F8499B5C-474B-4AD8-896B-E8C9DCEF6F7E}_6.png&quot;/&gt;&lt;left val=&quot;137&quot;/&gt;&lt;top val=&quot;300&quot;/&gt;&lt;width val=&quot;84&quot;/&gt;&lt;height val=&quot;39&quot;/&gt;&lt;hasText val=&quot;1&quot;/&gt;&lt;/Image&gt;&lt;/ThreeDShapeInfo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1&quot; col=&quot;1&quot;&gt;&lt;linesCount val=&quot;1&quot;/&gt;&lt;lineCharCount val=&quot;16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8DFFB729-A08B-4B02-9880-95DBA022327B}_6.png&quot;/&gt;&lt;left val=&quot;22&quot;/&gt;&lt;top val=&quot;144&quot;/&gt;&lt;width val=&quot;166&quot;/&gt;&lt;height val=&quot;39&quot;/&gt;&lt;hasText val=&quot;1&quot;/&gt;&lt;/Image&gt;&lt;/ThreeDShapeInfo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1&quot; col=&quot;1&quot;&gt;&lt;linesCount val=&quot;1&quot;/&gt;&lt;lineCharCount val=&quot;3&quot;/&gt;&lt;/TableIndex&gt;&lt;TableIndex row=&quot;1&quot; col=&quot;2&quot;&gt;&lt;linesCount val=&quot;1&quot;/&gt;&lt;lineCharCount val=&quot;3&quot;/&gt;&lt;/TableIndex&gt;&lt;TableIndex row=&quot;1&quot; col=&quot;3&quot;&gt;&lt;linesCount val=&quot;1&quot;/&gt;&lt;lineCharCount val=&quot;6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86B6DA0D-8A99-454F-AFFF-421DD486D63C}_6.png&quot;/&gt;&lt;left val=&quot;440&quot;/&gt;&lt;top val=&quot;136&quot;/&gt;&lt;width val=&quot;235&quot;/&gt;&lt;height val=&quot;39&quot;/&gt;&lt;hasText val=&quot;1&quot;/&gt;&lt;/Image&gt;&lt;/ThreeDShapeInfo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3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B8C04F88-1FDC-4000-A17D-2FB92A2649B2}_6.png&quot;/&gt;&lt;left val=&quot;407&quot;/&gt;&lt;top val=&quot;106&quot;/&gt;&lt;width val=&quot;265&quot;/&gt;&lt;height val=&quot;49&quot;/&gt;&lt;hasText val=&quot;1&quot;/&gt;&lt;/Image&gt;&lt;/ThreeDShapeInfo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EA3A8311-5283-463D-9C9A-E581CDEA8587}_6.png&quot;/&gt;&lt;left val=&quot;240&quot;/&gt;&lt;top val=&quot;404&quot;/&gt;&lt;width val=&quot;55&quot;/&gt;&lt;height val=&quot;68&quot;/&gt;&lt;hasText val=&quot;1&quot;/&gt;&lt;/Image&gt;&lt;/ThreeDShapeInfo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48F8D81C-7261-4D51-ADA4-86E7E1E27EBE}_6.png&quot;/&gt;&lt;left val=&quot;263&quot;/&gt;&lt;top val=&quot;407&quot;/&gt;&lt;width val=&quot;84&quot;/&gt;&lt;height val=&quot;39&quot;/&gt;&lt;hasText val=&quot;1&quot;/&gt;&lt;/Image&gt;&lt;/ThreeDShapeInfo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F534AA4-BA51-452C-901F-0566ADAF8CEB}&quot;/&gt;&lt;isInvalidForFieldText val=&quot;0&quot;/&gt;&lt;Image&gt;&lt;filename val=&quot;C:\Users\sanmi\Documents\My Adobe Presentations\ece552-CachePerformance\data\asimages\{EF534AA4-BA51-452C-901F-0566ADAF8CEB}_6.png&quot;/&gt;&lt;left val=&quot;580&quot;/&gt;&lt;top val=&quot;465&quot;/&gt;&lt;width val=&quot;51&quot;/&gt;&lt;height val=&quot;43&quot;/&gt;&lt;hasText val=&quot;1&quot;/&gt;&lt;/Image&gt;&lt;/ThreeDShapeInfo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2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401928E0-6E58-480B-B185-CE6AD3AD4755}_6.png&quot;/&gt;&lt;left val=&quot;20&quot;/&gt;&lt;top val=&quot;448&quot;/&gt;&lt;width val=&quot;141&quot;/&gt;&lt;height val=&quot;38&quot;/&gt;&lt;hasText val=&quot;1&quot;/&gt;&lt;/Image&gt;&lt;/ThreeDShapeInfo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5&quot;/&gt;&lt;lineCharCount val=&quot;8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9A16AA70-D17F-4D8F-9BC0-04D2356294A6}_6.png&quot;/&gt;&lt;left val=&quot;65&quot;/&gt;&lt;top val=&quot;300&quot;/&gt;&lt;width val=&quot;84&quot;/&gt;&lt;height val=&quot;60&quot;/&gt;&lt;hasText val=&quot;1&quot;/&gt;&lt;/Image&gt;&lt;/ThreeDShapeInfo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4&quot;/&gt;&lt;lineCharCount val=&quot;65&quot;/&gt;&lt;lineCharCount val=&quot;63&quot;/&gt;&lt;lineCharCount val=&quot;45&quot;/&gt;&lt;lineCharCount val=&quot;58&quot;/&gt;&lt;/TableIndex&gt;&lt;/ShapeTextInfo&gt;"/>
  <p:tag name="HTML_SHAPEINFO" val="&lt;TextEffect&gt;&lt;Image&gt;&lt;filename val=&quot;C:\Users\sanmi\Documents\My Adobe Presentations\ece552-CachePerformance\data\asimages\{D0824FB0-8851-43D5-8AEE-17FDF5FB6269}_1.png_crop.png&quot;/&gt;&lt;left val=&quot;38&quot;/&gt;&lt;top val=&quot;423&quot;/&gt;&lt;width val=&quot;635&quot;/&gt;&lt;height val=&quot;49&quot;/&gt;&lt;hasText val=&quot;1&quot;/&gt;&lt;paraId val=&quot;1&quot;/&gt;&lt;/Image&gt;&lt;Image&gt;&lt;filename val=&quot;C:\Users\sanmi\Documents\My Adobe Presentations\ece552-CachePerformance\data\asimages\{CB3ED6C1-845B-4BA9-AC75-1ABCAEAF0201}_1.png_crop.png&quot;/&gt;&lt;left val=&quot;38&quot;/&gt;&lt;top val=&quot;479&quot;/&gt;&lt;width val=&quot;392&quot;/&gt;&lt;height val=&quot;18&quot;/&gt;&lt;hasText val=&quot;1&quot;/&gt;&lt;paraId val=&quot;2&quot;/&gt;&lt;/Image&gt;&lt;Image&gt;&lt;filename val=&quot;C:\Users\sanmi\Documents\My Adobe Presentations\ece552-CachePerformance\data\asimages\{BE0C222F-BCAF-4BAC-90F7-6888C4E3C35A}_1.png_crop.png&quot;/&gt;&lt;left val=&quot;38&quot;/&gt;&lt;top val=&quot;503&quot;/&gt;&lt;width val=&quot;481&quot;/&gt;&lt;height val=&quot;18&quot;/&gt;&lt;hasText val=&quot;1&quot;/&gt;&lt;paraId val=&quot;3&quot;/&gt;&lt;/Image&gt;&lt;/TextEffect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5.PNG&quot;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8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5BFDB09F-E4CC-4017-80B1-3AC989A04483}_5.png&quot;/&gt;&lt;left val=&quot;35&quot;/&gt;&lt;top val=&quot;21&quot;/&gt;&lt;width val=&quot;588&quot;/&gt;&lt;height val=&quot;98&quot;/&gt;&lt;hasText val=&quot;1&quot;/&gt;&lt;/Image&gt;&lt;/ThreeDShapeInfo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C57772E3-B6A6-42D0-B928-60503C530C76}_5.png&quot;/&gt;&lt;left val=&quot;599&quot;/&gt;&lt;top val=&quot;500&quot;/&gt;&lt;width val=&quot;84&quot;/&gt;&lt;height val=&quot;29&quot;/&gt;&lt;hasText val=&quot;1&quot;/&gt;&lt;/Image&gt;&lt;/ThreeDShapeInfo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1&quot; col=&quot;1&quot;&gt;&lt;linesCount val=&quot;1&quot;/&gt;&lt;lineCharCount val=&quot;3&quot;/&gt;&lt;/TableIndex&gt;&lt;TableIndex row=&quot;1&quot; col=&quot;2&quot;&gt;&lt;linesCount val=&quot;0&quot;/&gt;&lt;/TableIndex&gt;&lt;TableIndex row=&quot;1&quot; col=&quot;3&quot;&gt;&lt;linesCount val=&quot;1&quot;/&gt;&lt;lineCharCount val=&quot;3&quot;/&gt;&lt;/TableIndex&gt;&lt;TableIndex row=&quot;1&quot; col=&quot;4&quot;&gt;&lt;linesCount val=&quot;0&quot;/&gt;&lt;/TableIndex&gt;&lt;TableIndex row=&quot;1&quot; col=&quot;5&quot;&gt;&lt;linesCount val=&quot;1&quot;/&gt;&lt;lineCharCount val=&quot;4&quot;/&gt;&lt;/TableIndex&gt;&lt;TableIndex row=&quot;1&quot; col=&quot;6&quot;&gt;&lt;linesCount val=&quot;0&quot;/&gt;&lt;/TableIndex&gt;&lt;TableIndex row=&quot;1&quot; col=&quot;7&quot;&gt;&lt;linesCount val=&quot;1&quot;/&gt;&lt;lineCharCount val=&quot;4&quot;/&gt;&lt;/TableIndex&gt;&lt;TableIndex row=&quot;2&quot; col=&quot;1&quot;&gt;&lt;linesCount val=&quot;0&quot;/&gt;&lt;/TableIndex&gt;&lt;TableIndex row=&quot;2&quot; col=&quot;2&quot;&gt;&lt;linesCount val=&quot;1&quot;/&gt;&lt;lineCharCount val=&quot;5&quot;/&gt;&lt;/TableIndex&gt;&lt;TableIndex row=&quot;2&quot; col=&quot;3&quot;&gt;&lt;linesCount val=&quot;0&quot;/&gt;&lt;/TableIndex&gt;&lt;TableIndex row=&quot;2&quot; col=&quot;4&quot;&gt;&lt;linesCount val=&quot;0&quot;/&gt;&lt;/TableIndex&gt;&lt;TableIndex row=&quot;2&quot; col=&quot;5&quot;&gt;&lt;linesCount val=&quot;0&quot;/&gt;&lt;/TableIndex&gt;&lt;TableIndex row=&quot;2&quot; col=&quot;6&quot;&gt;&lt;linesCount val=&quot;1&quot;/&gt;&lt;lineCharCount val=&quot;5&quot;/&gt;&lt;/TableIndex&gt;&lt;TableIndex row=&quot;2&quot; col=&quot;7&quot;&gt;&lt;linesCount val=&quot;0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0&quot;/&gt;&lt;/TableIndex&gt;&lt;TableIndex row=&quot;3&quot; col=&quot;6&quot;&gt;&lt;linesCount val=&quot;0&quot;/&gt;&lt;/TableIndex&gt;&lt;TableIndex row=&quot;3&quot; col=&quot;7&quot;&gt;&lt;linesCount val=&quot;0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1&quot;/&gt;&lt;lineCharCount val=&quot;1&quot;/&gt;&lt;/TableIndex&gt;&lt;TableIndex row=&quot;4&quot; col=&quot;4&quot;&gt;&lt;linesCount val=&quot;0&quot;/&gt;&lt;/TableIndex&gt;&lt;TableIndex row=&quot;4&quot; col=&quot;5&quot;&gt;&lt;linesCount val=&quot;0&quot;/&gt;&lt;/TableIndex&gt;&lt;TableIndex row=&quot;4&quot; col=&quot;6&quot;&gt;&lt;linesCount val=&quot;0&quot;/&gt;&lt;/TableIndex&gt;&lt;TableIndex row=&quot;4&quot; col=&quot;7&quot;&gt;&lt;linesCount val=&quot;1&quot;/&gt;&lt;lineCharCount val=&quot;3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0&quot;/&gt;&lt;/TableIndex&gt;&lt;TableIndex row=&quot;5&quot; col=&quot;6&quot;&gt;&lt;linesCount val=&quot;0&quot;/&gt;&lt;/TableIndex&gt;&lt;TableIndex row=&quot;5&quot; col=&quot;7&quot;&gt;&lt;linesCount val=&quot;0&quot;/&gt;&lt;/TableIndex&gt;&lt;TableIndex row=&quot;6&quot; col=&quot;1&quot;&gt;&lt;linesCount val=&quot;0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0&quot;/&gt;&lt;/TableIndex&gt;&lt;TableIndex row=&quot;6&quot; col=&quot;7&quot;&gt;&lt;linesCount val=&quot;0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6AA7482A-D7D5-482C-8528-DE407961EB8A}_5.png&quot;/&gt;&lt;left val=&quot;214&quot;/&gt;&lt;top val=&quot;222&quot;/&gt;&lt;width val=&quot;454&quot;/&gt;&lt;height val=&quot;180&quot;/&gt;&lt;hasText val=&quot;1&quot;/&gt;&lt;/Image&gt;&lt;/ThreeDShapeInfo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919DD393-E1BD-4E59-ADBE-BB69BE1982A8}_5.png&quot;/&gt;&lt;left val=&quot;351&quot;/&gt;&lt;top val=&quot;405&quot;/&gt;&lt;width val=&quot;55&quot;/&gt;&lt;height val=&quot;68&quot;/&gt;&lt;hasText val=&quot;1&quot;/&gt;&lt;/Image&gt;&lt;/ThreeDShapeInfo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66151094-E53B-4C6C-93CF-5ABDA0743168}_5.png&quot;/&gt;&lt;left val=&quot;197&quot;/&gt;&lt;top val=&quot;191&quot;/&gt;&lt;width val=&quot;78&quot;/&gt;&lt;height val=&quot;39&quot;/&gt;&lt;hasText val=&quot;1&quot;/&gt;&lt;/Image&gt;&lt;/ThreeDShapeInfo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7886C929-BEFD-476A-A77D-54ED721E496D}_5.png&quot;/&gt;&lt;left val=&quot;303&quot;/&gt;&lt;top val=&quot;191&quot;/&gt;&lt;width val=&quot;82&quot;/&gt;&lt;height val=&quot;39&quot;/&gt;&lt;hasText val=&quot;1&quot;/&gt;&lt;/Image&gt;&lt;/ThreeDShapeInfo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FCF9A148-D830-4907-9D89-13C366385EB3}_5.png&quot;/&gt;&lt;left val=&quot;455&quot;/&gt;&lt;top val=&quot;191&quot;/&gt;&lt;width val=&quot;78&quot;/&gt;&lt;height val=&quot;39&quot;/&gt;&lt;hasText val=&quot;1&quot;/&gt;&lt;/Image&gt;&lt;/ThreeDShapeInfo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5042D4EB-B79D-41E2-8795-6ABFDEF520D9}_5.png&quot;/&gt;&lt;left val=&quot;591&quot;/&gt;&lt;top val=&quot;191&quot;/&gt;&lt;width val=&quot;82&quot;/&gt;&lt;height val=&quot;39&quot;/&gt;&lt;hasText val=&quot;1&quot;/&gt;&lt;/Image&gt;&lt;/ThreeDShapeInfo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A99EC83D-745E-48AA-AD70-4E9F12A051FD}_5.png&quot;/&gt;&lt;left val=&quot;372&quot;/&gt;&lt;top val=&quot;408&quot;/&gt;&lt;width val=&quot;85&quot;/&gt;&lt;height val=&quot;39&quot;/&gt;&lt;hasText val=&quot;1&quot;/&gt;&lt;/Image&gt;&lt;/ThreeDShapeInfo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9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8CC6251A-6213-4327-B177-0956E7BBC1BB}_5.png&quot;/&gt;&lt;left val=&quot;23&quot;/&gt;&lt;top val=&quot;113&quot;/&gt;&lt;width val=&quot;162&quot;/&gt;&lt;height val=&quot;39&quot;/&gt;&lt;hasText val=&quot;1&quot;/&gt;&lt;/Image&gt;&lt;/ThreeDShapeInfo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1FB972C9-DC72-42EC-8C66-BDD1338AAE16}_5.png&quot;/&gt;&lt;left val=&quot;563&quot;/&gt;&lt;top val=&quot;503&quot;/&gt;&lt;width val=&quot;84&quot;/&gt;&lt;height val=&quot;39&quot;/&gt;&lt;hasText val=&quot;1&quot;/&gt;&lt;/Image&gt;&lt;/ThreeDShapeInfo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E5EE38A4-FB32-44E7-91E2-57460A499F24}_5.png&quot;/&gt;&lt;left val=&quot;83&quot;/&gt;&lt;top val=&quot;401&quot;/&gt;&lt;width val=&quot;84&quot;/&gt;&lt;height val=&quot;39&quot;/&gt;&lt;hasText val=&quot;1&quot;/&gt;&lt;/Image&gt;&lt;/ThreeDShapeInfo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22CF9829-E254-478A-8B6B-CA21999B7C06}_5.png&quot;/&gt;&lt;left val=&quot;137&quot;/&gt;&lt;top val=&quot;300&quot;/&gt;&lt;width val=&quot;84&quot;/&gt;&lt;height val=&quot;39&quot;/&gt;&lt;hasText val=&quot;1&quot;/&gt;&lt;/Image&gt;&lt;/ThreeDShapeInfo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1&quot; col=&quot;1&quot;&gt;&lt;linesCount val=&quot;1&quot;/&gt;&lt;lineCharCount val=&quot;16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47ABBEEE-9E67-48FA-9D8D-C8935F94D0F2}_5.png&quot;/&gt;&lt;left val=&quot;22&quot;/&gt;&lt;top val=&quot;144&quot;/&gt;&lt;width val=&quot;166&quot;/&gt;&lt;height val=&quot;39&quot;/&gt;&lt;hasText val=&quot;1&quot;/&gt;&lt;/Image&gt;&lt;/ThreeDShapeInfo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1&quot; col=&quot;1&quot;&gt;&lt;linesCount val=&quot;1&quot;/&gt;&lt;lineCharCount val=&quot;3&quot;/&gt;&lt;/TableIndex&gt;&lt;TableIndex row=&quot;1&quot; col=&quot;2&quot;&gt;&lt;linesCount val=&quot;1&quot;/&gt;&lt;lineCharCount val=&quot;3&quot;/&gt;&lt;/TableIndex&gt;&lt;TableIndex row=&quot;1&quot; col=&quot;3&quot;&gt;&lt;linesCount val=&quot;1&quot;/&gt;&lt;lineCharCount val=&quot;6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B480AE93-0140-4A3B-B432-88630C74C479}_5.png&quot;/&gt;&lt;left val=&quot;440&quot;/&gt;&lt;top val=&quot;136&quot;/&gt;&lt;width val=&quot;235&quot;/&gt;&lt;height val=&quot;39&quot;/&gt;&lt;hasText val=&quot;1&quot;/&gt;&lt;/Image&gt;&lt;/ThreeDShapeInfo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3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198ADE9A-AB17-400E-922A-ABAF722D6D45}_5.png&quot;/&gt;&lt;left val=&quot;407&quot;/&gt;&lt;top val=&quot;106&quot;/&gt;&lt;width val=&quot;265&quot;/&gt;&lt;height val=&quot;49&quot;/&gt;&lt;hasText val=&quot;1&quot;/&gt;&lt;/Image&gt;&lt;/ThreeDShapeInfo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0647F511-2E45-4A32-A6DD-0F5067A7D27E}_5.png&quot;/&gt;&lt;left val=&quot;240&quot;/&gt;&lt;top val=&quot;404&quot;/&gt;&lt;width val=&quot;55&quot;/&gt;&lt;height val=&quot;68&quot;/&gt;&lt;hasText val=&quot;1&quot;/&gt;&lt;/Image&gt;&lt;/ThreeDShapeInfo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FBA309B5-8C73-4F0E-BD61-FC40B4466E70}_5.png&quot;/&gt;&lt;left val=&quot;263&quot;/&gt;&lt;top val=&quot;407&quot;/&gt;&lt;width val=&quot;84&quot;/&gt;&lt;height val=&quot;39&quot;/&gt;&lt;hasText val=&quot;1&quot;/&gt;&lt;/Image&gt;&lt;/ThreeDShapeInfo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92D6559-62D9-44BF-A60D-5F26476A59C9}&quot;/&gt;&lt;isInvalidForFieldText val=&quot;0&quot;/&gt;&lt;Image&gt;&lt;filename val=&quot;C:\Users\sanmi\Documents\My Adobe Presentations\ece552-CachePerformance\data\asimages\{E92D6559-62D9-44BF-A60D-5F26476A59C9}_5.png&quot;/&gt;&lt;left val=&quot;580&quot;/&gt;&lt;top val=&quot;465&quot;/&gt;&lt;width val=&quot;51&quot;/&gt;&lt;height val=&quot;43&quot;/&gt;&lt;hasText val=&quot;1&quot;/&gt;&lt;/Image&gt;&lt;/ThreeDShapeInfo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2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05D8272D-065F-4809-8656-B89F3388CE3A}_5.png&quot;/&gt;&lt;left val=&quot;20&quot;/&gt;&lt;top val=&quot;448&quot;/&gt;&lt;width val=&quot;141&quot;/&gt;&lt;height val=&quot;38&quot;/&gt;&lt;hasText val=&quot;1&quot;/&gt;&lt;/Image&gt;&lt;/ThreeDShapeInfo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5&quot;/&gt;&lt;lineCharCount val=&quot;8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F47CB979-77FF-4948-8DA2-73A89A56E520}_5.png&quot;/&gt;&lt;left val=&quot;65&quot;/&gt;&lt;top val=&quot;300&quot;/&gt;&lt;width val=&quot;84&quot;/&gt;&lt;height val=&quot;60&quot;/&gt;&lt;hasText val=&quot;1&quot;/&gt;&lt;/Image&gt;&lt;/ThreeDShapeInfo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acheConcepts\data\asimages\{F34E5F59-2362-4098-9D11-B6912A66122D}_21.png&quot;/&gt;&lt;left val=&quot;321&quot;/&gt;&lt;top val=&quot;203&quot;/&gt;&lt;width val=&quot;153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8.PNG&quot;/&gt;"/>
  <p:tag name="PPSNARRATION" val="8,1963322378,C:\Users\sanmi\GoogleDrive\UWMdrive\Courses\ECE552\ece552-lec12_CachePerformance_pptx\Media.ppcx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0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AFFE552E-82C6-4A75-8C86-D23A02310DFD}_8.png&quot;/&gt;&lt;left val=&quot;35&quot;/&gt;&lt;top val=&quot;21&quot;/&gt;&lt;width val=&quot;588&quot;/&gt;&lt;height val=&quot;98&quot;/&gt;&lt;hasText val=&quot;1&quot;/&gt;&lt;/Image&gt;&lt;/ThreeDShapeInfo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EEF4D462-E0F2-4D98-993D-8E56CF3BFD1C}_8.png&quot;/&gt;&lt;left val=&quot;599&quot;/&gt;&lt;top val=&quot;500&quot;/&gt;&lt;width val=&quot;84&quot;/&gt;&lt;height val=&quot;29&quot;/&gt;&lt;hasText val=&quot;1&quot;/&gt;&lt;/Image&gt;&lt;/ThreeDShapeInfo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2&quot;/&gt;&lt;lineCharCount val=&quot;58&quot;/&gt;&lt;lineCharCount val=&quot;44&quot;/&gt;&lt;lineCharCount val=&quot;21&quot;/&gt;&lt;lineCharCount val=&quot;50&quot;/&gt;&lt;lineCharCount val=&quot;23&quot;/&gt;&lt;lineCharCount val=&quot;60&quot;/&gt;&lt;lineCharCount val=&quot;21&quot;/&gt;&lt;lineCharCount val=&quot;61&quot;/&gt;&lt;lineCharCount val=&quot;58&quot;/&gt;&lt;lineCharCount val=&quot;30&quot;/&gt;&lt;lineCharCount val=&quot;60&quot;/&gt;&lt;lineCharCount val=&quot;44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49C944A0-0FCE-4D2D-965B-C91D18822EE8}_8.png&quot;/&gt;&lt;left val=&quot;27&quot;/&gt;&lt;top val=&quot;114&quot;/&gt;&lt;width val=&quot;689&quot;/&gt;&lt;height val=&quot;387&quot;/&gt;&lt;hasText val=&quot;1&quot;/&gt;&lt;/Image&gt;&lt;/ThreeDShapeInfo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7.PNG&quot;/&gt;"/>
  <p:tag name="PPSNARRATION" val="17,1963322378,C:\Users\sanmi\GoogleDrive\UWMdrive\Courses\ECE552\ece552-lec12_CachePerformance_pptx\Media.ppcx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2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2948B992-59E7-452D-9C17-332C8B8F4CF8}_17.png&quot;/&gt;&lt;left val=&quot;35&quot;/&gt;&lt;top val=&quot;21&quot;/&gt;&lt;width val=&quot;588&quot;/&gt;&lt;height val=&quot;98&quot;/&gt;&lt;hasText val=&quot;1&quot;/&gt;&lt;/Image&gt;&lt;/ThreeDShapeInfo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CachePerformance\data\asimages\{C4BD12F4-8706-40EA-941B-56DBDF6B405D}_17.png&quot;/&gt;&lt;left val=&quot;599&quot;/&gt;&lt;top val=&quot;500&quot;/&gt;&lt;width val=&quot;84&quot;/&gt;&lt;height val=&quot;29&quot;/&gt;&lt;hasText val=&quot;1&quot;/&gt;&lt;/Image&gt;&lt;/ThreeDShapeInfo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3&quot;/&gt;&lt;lineCharCount val=&quot;24&quot;/&gt;&lt;lineCharCount val=&quot;56&quot;/&gt;&lt;lineCharCount val=&quot;51&quot;/&gt;&lt;lineCharCount val=&quot;1&quot;/&gt;&lt;lineCharCount val=&quot;15&quot;/&gt;&lt;lineCharCount val=&quot;51&quot;/&gt;&lt;lineCharCount val=&quot;67&quot;/&gt;&lt;lineCharCount val=&quot;53&quot;/&gt;&lt;lineCharCount val=&quot;1&quot;/&gt;&lt;lineCharCount val=&quot;15&quot;/&gt;&lt;lineCharCount val=&quot;58&quot;/&gt;&lt;lineCharCount val=&quot;62&quot;/&gt;&lt;lineCharCount val=&quot;22&quot;/&gt;&lt;/TableIndex&gt;&lt;/ShapeTextInfo&gt;"/>
  <p:tag name="HTML_SHAPEINFO" val="&lt;TextEffect&gt;&lt;Image&gt;&lt;filename val=&quot;C:\Users\sanmi\Documents\My Adobe Presentations\ece552-CachePerformance\data\asimages\{71E6F375-4B92-4912-AA88-9C54E4C36DE1}_1.png_crop.png&quot;/&gt;&lt;left val=&quot;49&quot;/&gt;&lt;top val=&quot;120&quot;/&gt;&lt;width val=&quot;280&quot;/&gt;&lt;height val=&quot;24&quot;/&gt;&lt;hasText val=&quot;1&quot;/&gt;&lt;paraId val=&quot;1&quot;/&gt;&lt;/Image&gt;&lt;Image&gt;&lt;filename val=&quot;C:\Users\sanmi\Documents\My Adobe Presentations\ece552-CachePerformance\data\asimages\{E82BA4DB-CF52-422D-9016-A493E7296AE8}_1.png_crop.png&quot;/&gt;&lt;left val=&quot;50&quot;/&gt;&lt;top val=&quot;154&quot;/&gt;&lt;width val=&quot;616&quot;/&gt;&lt;height val=&quot;24&quot;/&gt;&lt;hasText val=&quot;1&quot;/&gt;&lt;paraId val=&quot;2&quot;/&gt;&lt;/Image&gt;&lt;Image&gt;&lt;filename val=&quot;C:\Users\sanmi\Documents\My Adobe Presentations\ece552-CachePerformance\data\asimages\{FEA37FD7-4852-4556-8A48-D493C0F87C75}_1.png_crop.png&quot;/&gt;&lt;left val=&quot;50&quot;/&gt;&lt;top val=&quot;186&quot;/&gt;&lt;width val=&quot;476&quot;/&gt;&lt;height val=&quot;21&quot;/&gt;&lt;hasText val=&quot;1&quot;/&gt;&lt;paraId val=&quot;3&quot;/&gt;&lt;/Image&gt;&lt;Image&gt;&lt;filename val=&quot;C:\Users\sanmi\Documents\My Adobe Presentations\ece552-CachePerformance\data\asimages\{F8EC3F4C-3434-4A7B-951C-4ADB1ADC5F38}_1.png_crop.png&quot;/&gt;&lt;left val=&quot;696&quot;/&gt;&lt;top val=&quot;515&quot;/&gt;&lt;width val=&quot;0&quot;/&gt;&lt;height val=&quot;0&quot;/&gt;&lt;hasText val=&quot;1&quot;/&gt;&lt;paraId val=&quot;4&quot;/&gt;&lt;/Image&gt;&lt;Image&gt;&lt;filename val=&quot;C:\Users\sanmi\Documents\My Adobe Presentations\ece552-CachePerformance\data\asimages\{EC7808FC-656F-4FA3-A5F9-1094F4E3961B}_1.png_crop.png&quot;/&gt;&lt;left val=&quot;49&quot;/&gt;&lt;top val=&quot;241&quot;/&gt;&lt;width val=&quot;164&quot;/&gt;&lt;height val=&quot;23&quot;/&gt;&lt;hasText val=&quot;1&quot;/&gt;&lt;paraId val=&quot;5&quot;/&gt;&lt;/Image&gt;&lt;Image&gt;&lt;filename val=&quot;C:\Users\sanmi\Documents\My Adobe Presentations\ece552-CachePerformance\data\asimages\{80F792E4-E36D-4809-A798-CBBE05202EA1}_1.png_crop.png&quot;/&gt;&lt;left val=&quot;50&quot;/&gt;&lt;top val=&quot;274&quot;/&gt;&lt;width val=&quot;592&quot;/&gt;&lt;height val=&quot;24&quot;/&gt;&lt;hasText val=&quot;1&quot;/&gt;&lt;paraId val=&quot;6&quot;/&gt;&lt;/Image&gt;&lt;Image&gt;&lt;filename val=&quot;C:\Users\sanmi\Documents\My Adobe Presentations\ece552-CachePerformance\data\asimages\{471B7942-5980-4BB5-9EF7-279018AD1FC2}_1.png_crop.png&quot;/&gt;&lt;left val=&quot;50&quot;/&gt;&lt;top val=&quot;306&quot;/&gt;&lt;width val=&quot;612&quot;/&gt;&lt;height val=&quot;50&quot;/&gt;&lt;hasText val=&quot;1&quot;/&gt;&lt;paraId val=&quot;7&quot;/&gt;&lt;/Image&gt;&lt;Image&gt;&lt;filename val=&quot;C:\Users\sanmi\Documents\My Adobe Presentations\ece552-CachePerformance\data\asimages\{DD626CF5-EBAD-4805-8B61-5CD2DB80994F}_1.png_crop.png&quot;/&gt;&lt;left val=&quot;696&quot;/&gt;&lt;top val=&quot;515&quot;/&gt;&lt;width val=&quot;0&quot;/&gt;&lt;height val=&quot;0&quot;/&gt;&lt;hasText val=&quot;1&quot;/&gt;&lt;paraId val=&quot;8&quot;/&gt;&lt;/Image&gt;&lt;Image&gt;&lt;filename val=&quot;C:\Users\sanmi\Documents\My Adobe Presentations\ece552-CachePerformance\data\asimages\{EF3FC061-B43E-4382-855C-0ADB7402FA47}_1.png_crop.png&quot;/&gt;&lt;left val=&quot;49&quot;/&gt;&lt;top val=&quot;390&quot;/&gt;&lt;width val=&quot;154&quot;/&gt;&lt;height val=&quot;19&quot;/&gt;&lt;hasText val=&quot;1&quot;/&gt;&lt;paraId val=&quot;9&quot;/&gt;&lt;/Image&gt;&lt;Image&gt;&lt;filename val=&quot;C:\Users\sanmi\Documents\My Adobe Presentations\ece552-CachePerformance\data\asimages\{3F694F2C-E5BF-4CE3-B68F-34BB7E33C735}_1.png_crop.png&quot;/&gt;&lt;left val=&quot;50&quot;/&gt;&lt;top val=&quot;423&quot;/&gt;&lt;width val=&quot;634&quot;/&gt;&lt;height val=&quot;19&quot;/&gt;&lt;hasText val=&quot;1&quot;/&gt;&lt;paraId val=&quot;10&quot;/&gt;&lt;/Image&gt;&lt;Image&gt;&lt;filename val=&quot;C:\Users\sanmi\Documents\My Adobe Presentations\ece552-CachePerformance\data\asimages\{14CEF861-756D-48C7-A6FC-B62A2B837411}_1.png_crop.png&quot;/&gt;&lt;left val=&quot;50&quot;/&gt;&lt;top val=&quot;455&quot;/&gt;&lt;width val=&quot;634&quot;/&gt;&lt;height val=&quot;46&quot;/&gt;&lt;hasText val=&quot;1&quot;/&gt;&lt;paraId val=&quot;11&quot;/&gt;&lt;/Image&gt;&lt;/TextEffect&gt;"/>
</p:tagLst>
</file>

<file path=ppt/theme/theme1.xml><?xml version="1.0" encoding="utf-8"?>
<a:theme xmlns:a="http://schemas.openxmlformats.org/drawingml/2006/main" name="Lecture Notes 5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Notes 552</Template>
  <TotalTime>0</TotalTime>
  <Words>513</Words>
  <Application>Microsoft Macintosh PowerPoint</Application>
  <PresentationFormat>On-screen Show (4:3)</PresentationFormat>
  <Paragraphs>136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Times New Roman</vt:lpstr>
      <vt:lpstr>Wingdings</vt:lpstr>
      <vt:lpstr>Lecture Notes 552</vt:lpstr>
      <vt:lpstr>ECE/CS 552: Cache Performance</vt:lpstr>
      <vt:lpstr>Caches – Associativity</vt:lpstr>
      <vt:lpstr>Caches – Associativity</vt:lpstr>
      <vt:lpstr>Caches – Associativity</vt:lpstr>
      <vt:lpstr>Caches – Associativity</vt:lpstr>
      <vt:lpstr>Caches – Replacement</vt:lpstr>
      <vt:lpstr>Cache Misses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552: Cache Performance</dc:title>
  <dc:creator/>
  <cp:lastModifiedBy>Boone Severson</cp:lastModifiedBy>
  <cp:revision>894</cp:revision>
  <cp:lastPrinted>1601-01-01T00:00:00Z</cp:lastPrinted>
  <dcterms:created xsi:type="dcterms:W3CDTF">1601-01-01T00:00:00Z</dcterms:created>
  <dcterms:modified xsi:type="dcterms:W3CDTF">2024-10-29T05:04:02Z</dcterms:modified>
</cp:coreProperties>
</file>