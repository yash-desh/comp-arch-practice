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5.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6.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7.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8.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notesSlides/notesSlide9.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10.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11.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notesSlides/notesSlide12.xml" ContentType="application/vnd.openxmlformats-officedocument.presentationml.notesSlide+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13.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14.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15.xml" ContentType="application/vnd.openxmlformats-officedocument.presentationml.notesSlide+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16.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notesSlides/notesSlide17.xml" ContentType="application/vnd.openxmlformats-officedocument.presentationml.notesSlide+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18.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notesSlides/notesSlide19.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20.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notesSlides/notesSlide21.xml" ContentType="application/vnd.openxmlformats-officedocument.presentationml.notesSlide+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notesSlides/notesSlide22.xml" ContentType="application/vnd.openxmlformats-officedocument.presentationml.notesSlid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23.xml" ContentType="application/vnd.openxmlformats-officedocument.presentationml.notesSlide+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notesSlides/notesSlide24.xml" ContentType="application/vnd.openxmlformats-officedocument.presentationml.notesSlid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notesSlides/notesSlide25.xml" ContentType="application/vnd.openxmlformats-officedocument.presentationml.notesSlide+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notesSlides/notesSlide26.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29"/>
  </p:notesMasterIdLst>
  <p:handoutMasterIdLst>
    <p:handoutMasterId r:id="rId30"/>
  </p:handoutMasterIdLst>
  <p:sldIdLst>
    <p:sldId id="508" r:id="rId2"/>
    <p:sldId id="664" r:id="rId3"/>
    <p:sldId id="709" r:id="rId4"/>
    <p:sldId id="710" r:id="rId5"/>
    <p:sldId id="711" r:id="rId6"/>
    <p:sldId id="734" r:id="rId7"/>
    <p:sldId id="746" r:id="rId8"/>
    <p:sldId id="729" r:id="rId9"/>
    <p:sldId id="735" r:id="rId10"/>
    <p:sldId id="742" r:id="rId11"/>
    <p:sldId id="743" r:id="rId12"/>
    <p:sldId id="660" r:id="rId13"/>
    <p:sldId id="748" r:id="rId14"/>
    <p:sldId id="750" r:id="rId15"/>
    <p:sldId id="751" r:id="rId16"/>
    <p:sldId id="752" r:id="rId17"/>
    <p:sldId id="662" r:id="rId18"/>
    <p:sldId id="744" r:id="rId19"/>
    <p:sldId id="745" r:id="rId20"/>
    <p:sldId id="687" r:id="rId21"/>
    <p:sldId id="666" r:id="rId22"/>
    <p:sldId id="668" r:id="rId23"/>
    <p:sldId id="671" r:id="rId24"/>
    <p:sldId id="673" r:id="rId25"/>
    <p:sldId id="675" r:id="rId26"/>
    <p:sldId id="676" r:id="rId27"/>
    <p:sldId id="692" r:id="rId28"/>
  </p:sldIdLst>
  <p:sldSz cx="9144000" cy="6858000" type="screen4x3"/>
  <p:notesSz cx="6845300" cy="9396413"/>
  <p:custDataLst>
    <p:tags r:id="rId31"/>
  </p:custDataLst>
  <p:defaultTex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11" autoAdjust="0"/>
    <p:restoredTop sz="68845" autoAdjust="0"/>
  </p:normalViewPr>
  <p:slideViewPr>
    <p:cSldViewPr>
      <p:cViewPr varScale="1">
        <p:scale>
          <a:sx n="152" d="100"/>
          <a:sy n="152" d="100"/>
        </p:scale>
        <p:origin x="3616" y="184"/>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70" d="100"/>
        <a:sy n="170" d="100"/>
      </p:scale>
      <p:origin x="0" y="0"/>
    </p:cViewPr>
  </p:notesTextViewPr>
  <p:sorterViewPr>
    <p:cViewPr>
      <p:scale>
        <a:sx n="66" d="100"/>
        <a:sy n="66" d="100"/>
      </p:scale>
      <p:origin x="0" y="2736"/>
    </p:cViewPr>
  </p:sorterViewPr>
  <p:notesViewPr>
    <p:cSldViewPr>
      <p:cViewPr varScale="1">
        <p:scale>
          <a:sx n="75" d="100"/>
          <a:sy n="75" d="100"/>
        </p:scale>
        <p:origin x="-1416" y="-96"/>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265A1D1-E02A-4C7C-A26E-3B72CC3DFE43}"/>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5363" name="Rectangle 3">
            <a:extLst>
              <a:ext uri="{FF2B5EF4-FFF2-40B4-BE49-F238E27FC236}">
                <a16:creationId xmlns:a16="http://schemas.microsoft.com/office/drawing/2014/main" id="{B36186A0-BA54-4798-AF4A-931661C45993}"/>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15364" name="Rectangle 4">
            <a:extLst>
              <a:ext uri="{FF2B5EF4-FFF2-40B4-BE49-F238E27FC236}">
                <a16:creationId xmlns:a16="http://schemas.microsoft.com/office/drawing/2014/main" id="{DC7F4BFC-FEC0-4811-A648-47247991DC11}"/>
              </a:ext>
            </a:extLst>
          </p:cNvPr>
          <p:cNvSpPr>
            <a:spLocks noGrp="1" noChangeArrowheads="1"/>
          </p:cNvSpPr>
          <p:nvPr>
            <p:ph type="ftr" sz="quarter" idx="2"/>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1B82212A-5CD5-4303-B5F0-8F435E2E8DAA}"/>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smtClean="0"/>
            </a:lvl1pPr>
          </a:lstStyle>
          <a:p>
            <a:pPr>
              <a:defRPr/>
            </a:pPr>
            <a:fld id="{6C41ABF2-B580-4648-8F17-B7174DD7CD7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2D836EF-8AC7-41F9-B5D0-0DA1A9D825E5}"/>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7411" name="Rectangle 3">
            <a:extLst>
              <a:ext uri="{FF2B5EF4-FFF2-40B4-BE49-F238E27FC236}">
                <a16:creationId xmlns:a16="http://schemas.microsoft.com/office/drawing/2014/main" id="{4CE16B0C-DDEC-44EE-8D3D-2EB3F53B8914}"/>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4100" name="Rectangle 4">
            <a:extLst>
              <a:ext uri="{FF2B5EF4-FFF2-40B4-BE49-F238E27FC236}">
                <a16:creationId xmlns:a16="http://schemas.microsoft.com/office/drawing/2014/main" id="{DDE18D93-9A93-45A1-AEA7-369D36FD6010}"/>
              </a:ext>
            </a:extLst>
          </p:cNvPr>
          <p:cNvSpPr>
            <a:spLocks noGrp="1" noRot="1" noChangeAspect="1" noChangeArrowheads="1" noTextEdit="1"/>
          </p:cNvSpPr>
          <p:nvPr>
            <p:ph type="sldImg" idx="2"/>
          </p:nvPr>
        </p:nvSpPr>
        <p:spPr bwMode="auto">
          <a:xfrm>
            <a:off x="1074738" y="704850"/>
            <a:ext cx="4697412" cy="3522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D727E3FB-32B0-44DD-8A12-749334A5DB82}"/>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66384353-C0EC-4A93-8CC5-952CD52580F7}"/>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endParaRPr lang="en-US"/>
          </a:p>
        </p:txBody>
      </p:sp>
      <p:sp>
        <p:nvSpPr>
          <p:cNvPr id="17415" name="Rectangle 7">
            <a:extLst>
              <a:ext uri="{FF2B5EF4-FFF2-40B4-BE49-F238E27FC236}">
                <a16:creationId xmlns:a16="http://schemas.microsoft.com/office/drawing/2014/main" id="{06A17750-20F3-41D3-8CFF-A6C37F575BF1}"/>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smtClean="0"/>
            </a:lvl1pPr>
          </a:lstStyle>
          <a:p>
            <a:pPr>
              <a:defRPr/>
            </a:pPr>
            <a:fld id="{43577E0A-36EE-4C5A-B143-8076ACCFAD2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a:t>
            </a:fld>
            <a:endParaRPr lang="en-US" altLang="en-US"/>
          </a:p>
        </p:txBody>
      </p:sp>
    </p:spTree>
    <p:extLst>
      <p:ext uri="{BB962C8B-B14F-4D97-AF65-F5344CB8AC3E}">
        <p14:creationId xmlns:p14="http://schemas.microsoft.com/office/powerpoint/2010/main" val="953709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a:t>
            </a:fld>
            <a:endParaRPr lang="en-US" altLang="en-US"/>
          </a:p>
        </p:txBody>
      </p:sp>
    </p:spTree>
    <p:extLst>
      <p:ext uri="{BB962C8B-B14F-4D97-AF65-F5344CB8AC3E}">
        <p14:creationId xmlns:p14="http://schemas.microsoft.com/office/powerpoint/2010/main" val="247637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a:t>
            </a:fld>
            <a:endParaRPr lang="en-US" altLang="en-US"/>
          </a:p>
        </p:txBody>
      </p:sp>
    </p:spTree>
    <p:extLst>
      <p:ext uri="{BB962C8B-B14F-4D97-AF65-F5344CB8AC3E}">
        <p14:creationId xmlns:p14="http://schemas.microsoft.com/office/powerpoint/2010/main" val="3191443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4</a:t>
            </a:fld>
            <a:endParaRPr lang="en-US" altLang="en-US"/>
          </a:p>
        </p:txBody>
      </p:sp>
    </p:spTree>
    <p:extLst>
      <p:ext uri="{BB962C8B-B14F-4D97-AF65-F5344CB8AC3E}">
        <p14:creationId xmlns:p14="http://schemas.microsoft.com/office/powerpoint/2010/main" val="40343577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5</a:t>
            </a:fld>
            <a:endParaRPr lang="en-US" altLang="en-US"/>
          </a:p>
        </p:txBody>
      </p:sp>
    </p:spTree>
    <p:extLst>
      <p:ext uri="{BB962C8B-B14F-4D97-AF65-F5344CB8AC3E}">
        <p14:creationId xmlns:p14="http://schemas.microsoft.com/office/powerpoint/2010/main" val="2403236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6</a:t>
            </a:fld>
            <a:endParaRPr lang="en-US" altLang="en-US"/>
          </a:p>
        </p:txBody>
      </p:sp>
    </p:spTree>
    <p:extLst>
      <p:ext uri="{BB962C8B-B14F-4D97-AF65-F5344CB8AC3E}">
        <p14:creationId xmlns:p14="http://schemas.microsoft.com/office/powerpoint/2010/main" val="3911522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7</a:t>
            </a:fld>
            <a:endParaRPr lang="en-US" altLang="en-US"/>
          </a:p>
        </p:txBody>
      </p:sp>
    </p:spTree>
    <p:extLst>
      <p:ext uri="{BB962C8B-B14F-4D97-AF65-F5344CB8AC3E}">
        <p14:creationId xmlns:p14="http://schemas.microsoft.com/office/powerpoint/2010/main" val="2217342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8</a:t>
            </a:fld>
            <a:endParaRPr lang="en-US" altLang="en-US"/>
          </a:p>
        </p:txBody>
      </p:sp>
    </p:spTree>
    <p:extLst>
      <p:ext uri="{BB962C8B-B14F-4D97-AF65-F5344CB8AC3E}">
        <p14:creationId xmlns:p14="http://schemas.microsoft.com/office/powerpoint/2010/main" val="4159247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9</a:t>
            </a:fld>
            <a:endParaRPr lang="en-US" altLang="en-US"/>
          </a:p>
        </p:txBody>
      </p:sp>
    </p:spTree>
    <p:extLst>
      <p:ext uri="{BB962C8B-B14F-4D97-AF65-F5344CB8AC3E}">
        <p14:creationId xmlns:p14="http://schemas.microsoft.com/office/powerpoint/2010/main" val="1529432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10</a:t>
            </a:fld>
            <a:endParaRPr lang="en-US" altLang="en-US"/>
          </a:p>
        </p:txBody>
      </p:sp>
    </p:spTree>
    <p:extLst>
      <p:ext uri="{BB962C8B-B14F-4D97-AF65-F5344CB8AC3E}">
        <p14:creationId xmlns:p14="http://schemas.microsoft.com/office/powerpoint/2010/main" val="1814430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11</a:t>
            </a:fld>
            <a:endParaRPr lang="en-US" altLang="en-US"/>
          </a:p>
        </p:txBody>
      </p:sp>
    </p:spTree>
    <p:extLst>
      <p:ext uri="{BB962C8B-B14F-4D97-AF65-F5344CB8AC3E}">
        <p14:creationId xmlns:p14="http://schemas.microsoft.com/office/powerpoint/2010/main" val="2601205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12</a:t>
            </a:fld>
            <a:endParaRPr lang="en-US" altLang="en-US"/>
          </a:p>
        </p:txBody>
      </p:sp>
    </p:spTree>
    <p:extLst>
      <p:ext uri="{BB962C8B-B14F-4D97-AF65-F5344CB8AC3E}">
        <p14:creationId xmlns:p14="http://schemas.microsoft.com/office/powerpoint/2010/main" val="1408935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13</a:t>
            </a:fld>
            <a:endParaRPr lang="en-US" altLang="en-US"/>
          </a:p>
        </p:txBody>
      </p:sp>
    </p:spTree>
    <p:extLst>
      <p:ext uri="{BB962C8B-B14F-4D97-AF65-F5344CB8AC3E}">
        <p14:creationId xmlns:p14="http://schemas.microsoft.com/office/powerpoint/2010/main" val="17683149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14</a:t>
            </a:fld>
            <a:endParaRPr lang="en-US" altLang="en-US"/>
          </a:p>
        </p:txBody>
      </p:sp>
    </p:spTree>
    <p:extLst>
      <p:ext uri="{BB962C8B-B14F-4D97-AF65-F5344CB8AC3E}">
        <p14:creationId xmlns:p14="http://schemas.microsoft.com/office/powerpoint/2010/main" val="2203516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15</a:t>
            </a:fld>
            <a:endParaRPr lang="en-US" altLang="en-US"/>
          </a:p>
        </p:txBody>
      </p:sp>
    </p:spTree>
    <p:extLst>
      <p:ext uri="{BB962C8B-B14F-4D97-AF65-F5344CB8AC3E}">
        <p14:creationId xmlns:p14="http://schemas.microsoft.com/office/powerpoint/2010/main" val="687176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16</a:t>
            </a:fld>
            <a:endParaRPr lang="en-US" altLang="en-US"/>
          </a:p>
        </p:txBody>
      </p:sp>
    </p:spTree>
    <p:extLst>
      <p:ext uri="{BB962C8B-B14F-4D97-AF65-F5344CB8AC3E}">
        <p14:creationId xmlns:p14="http://schemas.microsoft.com/office/powerpoint/2010/main" val="12353740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17</a:t>
            </a:fld>
            <a:endParaRPr lang="en-US" altLang="en-US"/>
          </a:p>
        </p:txBody>
      </p:sp>
    </p:spTree>
    <p:extLst>
      <p:ext uri="{BB962C8B-B14F-4D97-AF65-F5344CB8AC3E}">
        <p14:creationId xmlns:p14="http://schemas.microsoft.com/office/powerpoint/2010/main" val="169629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18</a:t>
            </a:fld>
            <a:endParaRPr lang="en-US" altLang="en-US"/>
          </a:p>
        </p:txBody>
      </p:sp>
    </p:spTree>
    <p:extLst>
      <p:ext uri="{BB962C8B-B14F-4D97-AF65-F5344CB8AC3E}">
        <p14:creationId xmlns:p14="http://schemas.microsoft.com/office/powerpoint/2010/main" val="3185887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19</a:t>
            </a:fld>
            <a:endParaRPr lang="en-US" altLang="en-US"/>
          </a:p>
        </p:txBody>
      </p:sp>
    </p:spTree>
    <p:extLst>
      <p:ext uri="{BB962C8B-B14F-4D97-AF65-F5344CB8AC3E}">
        <p14:creationId xmlns:p14="http://schemas.microsoft.com/office/powerpoint/2010/main" val="8667570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20</a:t>
            </a:fld>
            <a:endParaRPr lang="en-US" altLang="en-US"/>
          </a:p>
        </p:txBody>
      </p:sp>
    </p:spTree>
    <p:extLst>
      <p:ext uri="{BB962C8B-B14F-4D97-AF65-F5344CB8AC3E}">
        <p14:creationId xmlns:p14="http://schemas.microsoft.com/office/powerpoint/2010/main" val="4031549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21</a:t>
            </a:fld>
            <a:endParaRPr lang="en-US" altLang="en-US"/>
          </a:p>
        </p:txBody>
      </p:sp>
    </p:spTree>
    <p:extLst>
      <p:ext uri="{BB962C8B-B14F-4D97-AF65-F5344CB8AC3E}">
        <p14:creationId xmlns:p14="http://schemas.microsoft.com/office/powerpoint/2010/main" val="33603112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22</a:t>
            </a:fld>
            <a:endParaRPr lang="en-US" altLang="en-US"/>
          </a:p>
        </p:txBody>
      </p:sp>
    </p:spTree>
    <p:extLst>
      <p:ext uri="{BB962C8B-B14F-4D97-AF65-F5344CB8AC3E}">
        <p14:creationId xmlns:p14="http://schemas.microsoft.com/office/powerpoint/2010/main" val="1262378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23</a:t>
            </a:fld>
            <a:endParaRPr lang="en-US" altLang="en-US"/>
          </a:p>
        </p:txBody>
      </p:sp>
    </p:spTree>
    <p:extLst>
      <p:ext uri="{BB962C8B-B14F-4D97-AF65-F5344CB8AC3E}">
        <p14:creationId xmlns:p14="http://schemas.microsoft.com/office/powerpoint/2010/main" val="2617488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24</a:t>
            </a:fld>
            <a:endParaRPr lang="en-US" altLang="en-US"/>
          </a:p>
        </p:txBody>
      </p:sp>
    </p:spTree>
    <p:extLst>
      <p:ext uri="{BB962C8B-B14F-4D97-AF65-F5344CB8AC3E}">
        <p14:creationId xmlns:p14="http://schemas.microsoft.com/office/powerpoint/2010/main" val="2943186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25</a:t>
            </a:fld>
            <a:endParaRPr lang="en-US" altLang="en-US"/>
          </a:p>
        </p:txBody>
      </p:sp>
    </p:spTree>
    <p:extLst>
      <p:ext uri="{BB962C8B-B14F-4D97-AF65-F5344CB8AC3E}">
        <p14:creationId xmlns:p14="http://schemas.microsoft.com/office/powerpoint/2010/main" val="747415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26</a:t>
            </a:fld>
            <a:endParaRPr lang="en-US" altLang="en-US"/>
          </a:p>
        </p:txBody>
      </p:sp>
    </p:spTree>
    <p:extLst>
      <p:ext uri="{BB962C8B-B14F-4D97-AF65-F5344CB8AC3E}">
        <p14:creationId xmlns:p14="http://schemas.microsoft.com/office/powerpoint/2010/main" val="8289310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27</a:t>
            </a:fld>
            <a:endParaRPr lang="en-US" altLang="en-US"/>
          </a:p>
        </p:txBody>
      </p:sp>
    </p:spTree>
    <p:extLst>
      <p:ext uri="{BB962C8B-B14F-4D97-AF65-F5344CB8AC3E}">
        <p14:creationId xmlns:p14="http://schemas.microsoft.com/office/powerpoint/2010/main" val="39637468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5EE89BE7-8323-4318-9AB9-E7A8E35666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150B25E2-39D9-4F59-8B05-EFFB1B1760E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3B6DA99E-8349-4C4A-B374-9C4E185C80D3}"/>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C03A25AF-F97B-4F7B-967D-813F0A1AAC13}"/>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1FC658A8-3A31-4CB0-BAE2-CA2FAD9DA955}"/>
              </a:ext>
            </a:extLst>
          </p:cNvPr>
          <p:cNvSpPr>
            <a:spLocks noGrp="1"/>
          </p:cNvSpPr>
          <p:nvPr>
            <p:ph type="sldNum" sz="quarter" idx="12"/>
            <p:custDataLst>
              <p:tags r:id="rId5"/>
            </p:custDataLst>
          </p:nvPr>
        </p:nvSpPr>
        <p:spPr/>
        <p:txBody>
          <a:bodyPr/>
          <a:lstStyle>
            <a:lvl2pPr lvl="1">
              <a:defRPr smtClean="0"/>
            </a:lvl2pPr>
          </a:lstStyle>
          <a:p>
            <a:pPr lvl="1">
              <a:defRPr/>
            </a:pPr>
            <a:fld id="{1F285AF4-0B46-48F1-8B83-A0F620BDFCC6}" type="slidenum">
              <a:rPr lang="en-US" altLang="en-US"/>
              <a:pPr lvl="1">
                <a:defRPr/>
              </a:pPr>
              <a:t>‹#›</a:t>
            </a:fld>
            <a:endParaRPr lang="en-US" altLang="en-US"/>
          </a:p>
        </p:txBody>
      </p:sp>
    </p:spTree>
    <p:extLst>
      <p:ext uri="{BB962C8B-B14F-4D97-AF65-F5344CB8AC3E}">
        <p14:creationId xmlns:p14="http://schemas.microsoft.com/office/powerpoint/2010/main" val="373068883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5E0A88A1-6D76-4FB4-A4D2-1A67C525DB89}"/>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8D648097-5928-49AE-A44B-FC48F925DED4}"/>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C3AA1FCD-544A-4B62-9C0D-32A49F92AFCF}"/>
              </a:ext>
            </a:extLst>
          </p:cNvPr>
          <p:cNvSpPr>
            <a:spLocks noGrp="1"/>
          </p:cNvSpPr>
          <p:nvPr>
            <p:ph type="sldNum" sz="quarter" idx="12"/>
            <p:custDataLst>
              <p:tags r:id="rId5"/>
            </p:custDataLst>
          </p:nvPr>
        </p:nvSpPr>
        <p:spPr/>
        <p:txBody>
          <a:bodyPr/>
          <a:lstStyle>
            <a:lvl2pPr lvl="1">
              <a:defRPr sz="1400" smtClean="0"/>
            </a:lvl2pPr>
          </a:lstStyle>
          <a:p>
            <a:pPr lvl="1">
              <a:defRPr/>
            </a:pPr>
            <a:fld id="{0831C007-5AA1-4C47-955B-DD23833C3AF5}" type="slidenum">
              <a:rPr lang="en-US" altLang="en-US"/>
              <a:pPr lvl="1">
                <a:defRPr/>
              </a:pPr>
              <a:t>‹#›</a:t>
            </a:fld>
            <a:endParaRPr lang="en-US" altLang="en-US"/>
          </a:p>
        </p:txBody>
      </p:sp>
    </p:spTree>
    <p:extLst>
      <p:ext uri="{BB962C8B-B14F-4D97-AF65-F5344CB8AC3E}">
        <p14:creationId xmlns:p14="http://schemas.microsoft.com/office/powerpoint/2010/main" val="162405641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F5278BA-1E35-4BC4-BF23-D84C98BB1940}"/>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A4D5D7D5-70C8-42EB-AB2D-F3C6BCB9BD5E}"/>
              </a:ext>
            </a:extLst>
          </p:cNvPr>
          <p:cNvSpPr>
            <a:spLocks noGrp="1"/>
          </p:cNvSpPr>
          <p:nvPr>
            <p:ph type="ftr" sz="quarter" idx="11"/>
          </p:nvPr>
        </p:nvSpPr>
        <p:spPr/>
        <p:txBody>
          <a:bodyPr/>
          <a:lstStyle>
            <a:lvl1pPr>
              <a:defRPr/>
            </a:lvl1pPr>
          </a:lstStyle>
          <a:p>
            <a:pPr>
              <a:defRPr/>
            </a:pPr>
            <a:r>
              <a:rPr lang="en-US"/>
              <a:t>© Hill, Lipasti</a:t>
            </a:r>
          </a:p>
        </p:txBody>
      </p:sp>
      <p:sp>
        <p:nvSpPr>
          <p:cNvPr id="5" name="Slide Number Placeholder 5">
            <a:extLst>
              <a:ext uri="{FF2B5EF4-FFF2-40B4-BE49-F238E27FC236}">
                <a16:creationId xmlns:a16="http://schemas.microsoft.com/office/drawing/2014/main" id="{4DB0CA07-943C-41DB-B4DC-C3EF32A02EF9}"/>
              </a:ext>
            </a:extLst>
          </p:cNvPr>
          <p:cNvSpPr>
            <a:spLocks noGrp="1"/>
          </p:cNvSpPr>
          <p:nvPr>
            <p:ph type="sldNum" sz="quarter" idx="12"/>
          </p:nvPr>
        </p:nvSpPr>
        <p:spPr/>
        <p:txBody>
          <a:bodyPr/>
          <a:lstStyle>
            <a:lvl2pPr lvl="1">
              <a:defRPr/>
            </a:lvl2pPr>
          </a:lstStyle>
          <a:p>
            <a:pPr lvl="1">
              <a:defRPr/>
            </a:pPr>
            <a:fld id="{616649BF-80F5-4EB8-8719-755DB09E0362}" type="slidenum">
              <a:rPr lang="en-US" altLang="en-US"/>
              <a:pPr lvl="1">
                <a:defRPr/>
              </a:pPr>
              <a:t>‹#›</a:t>
            </a:fld>
            <a:endParaRPr lang="en-US" altLang="en-US"/>
          </a:p>
        </p:txBody>
      </p:sp>
    </p:spTree>
    <p:extLst>
      <p:ext uri="{BB962C8B-B14F-4D97-AF65-F5344CB8AC3E}">
        <p14:creationId xmlns:p14="http://schemas.microsoft.com/office/powerpoint/2010/main" val="2255372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C47A700F-2DFE-46A7-A5B7-6063E2ABB5CD}"/>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2B393B3-580F-4CF9-B308-1AC16FEFC240}"/>
              </a:ext>
            </a:extLst>
          </p:cNvPr>
          <p:cNvSpPr>
            <a:spLocks noGrp="1"/>
          </p:cNvSpPr>
          <p:nvPr>
            <p:ph type="ftr" sz="quarter" idx="11"/>
          </p:nvPr>
        </p:nvSpPr>
        <p:spPr/>
        <p:txBody>
          <a:bodyPr/>
          <a:lstStyle>
            <a:lvl1pPr>
              <a:defRPr/>
            </a:lvl1pPr>
          </a:lstStyle>
          <a:p>
            <a:pPr>
              <a:defRPr/>
            </a:pPr>
            <a:r>
              <a:rPr lang="en-US"/>
              <a:t>© Hill, Lipasti</a:t>
            </a:r>
          </a:p>
        </p:txBody>
      </p:sp>
      <p:sp>
        <p:nvSpPr>
          <p:cNvPr id="7" name="Slide Number Placeholder 5">
            <a:extLst>
              <a:ext uri="{FF2B5EF4-FFF2-40B4-BE49-F238E27FC236}">
                <a16:creationId xmlns:a16="http://schemas.microsoft.com/office/drawing/2014/main" id="{97B02111-9F4F-48E5-A947-3C3A6333BAA2}"/>
              </a:ext>
            </a:extLst>
          </p:cNvPr>
          <p:cNvSpPr>
            <a:spLocks noGrp="1"/>
          </p:cNvSpPr>
          <p:nvPr>
            <p:ph type="sldNum" sz="quarter" idx="12"/>
          </p:nvPr>
        </p:nvSpPr>
        <p:spPr/>
        <p:txBody>
          <a:bodyPr/>
          <a:lstStyle>
            <a:lvl2pPr lvl="1">
              <a:defRPr/>
            </a:lvl2pPr>
          </a:lstStyle>
          <a:p>
            <a:pPr lvl="1">
              <a:defRPr/>
            </a:pPr>
            <a:fld id="{D491F779-F8AA-4D49-A708-A8884C6ED3C7}" type="slidenum">
              <a:rPr lang="en-US" altLang="en-US"/>
              <a:pPr lvl="1">
                <a:defRPr/>
              </a:pPr>
              <a:t>‹#›</a:t>
            </a:fld>
            <a:endParaRPr lang="en-US" altLang="en-US"/>
          </a:p>
        </p:txBody>
      </p:sp>
    </p:spTree>
    <p:extLst>
      <p:ext uri="{BB962C8B-B14F-4D97-AF65-F5344CB8AC3E}">
        <p14:creationId xmlns:p14="http://schemas.microsoft.com/office/powerpoint/2010/main" val="3413609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4236D43-C05A-4E1E-B06C-38A6BD0B917E}"/>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FA32B47-E041-4EB6-999C-8E99AFF3D48A}"/>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C72D67B-0FAE-42FA-85D0-6E87896F28D2}"/>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D249169F-9B0A-4A21-BF71-C252D1B4C8E2}"/>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Times New Roman" pitchFamily="18" charset="0"/>
              </a:defRPr>
            </a:lvl1pPr>
          </a:lstStyle>
          <a:p>
            <a:pPr>
              <a:defRPr/>
            </a:pPr>
            <a:r>
              <a:rPr lang="en-US"/>
              <a:t>© Hill, Lipasti</a:t>
            </a:r>
          </a:p>
        </p:txBody>
      </p:sp>
      <p:sp>
        <p:nvSpPr>
          <p:cNvPr id="6" name="Slide Number Placeholder 5">
            <a:extLst>
              <a:ext uri="{FF2B5EF4-FFF2-40B4-BE49-F238E27FC236}">
                <a16:creationId xmlns:a16="http://schemas.microsoft.com/office/drawing/2014/main" id="{C6EFDA4B-7157-4323-98FC-BB1B505EC304}"/>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eaLnBrk="1" hangingPunct="1">
              <a:defRPr smtClean="0">
                <a:latin typeface="Calibri" panose="020F0502020204030204" pitchFamily="34" charset="0"/>
              </a:defRPr>
            </a:lvl2pPr>
          </a:lstStyle>
          <a:p>
            <a:pPr lvl="1">
              <a:defRPr/>
            </a:pPr>
            <a:fld id="{04C44D9C-287F-4E2F-8D85-A8F87AC95E32}" type="slidenum">
              <a:rPr lang="en-US" altLang="en-US"/>
              <a:pPr lvl="1">
                <a:defRPr/>
              </a:pPr>
              <a:t>‹#›</a:t>
            </a:fld>
            <a:endParaRPr lang="en-US" altLang="en-US"/>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3" r:id="rId3"/>
    <p:sldLayoutId id="2147483764"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10" Type="http://schemas.openxmlformats.org/officeDocument/2006/relationships/image" Target="../media/image2.jpeg"/><Relationship Id="rId4" Type="http://schemas.openxmlformats.org/officeDocument/2006/relationships/tags" Target="../tags/tag2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34.xml"/></Relationships>
</file>

<file path=ppt/slides/_rels/slide5.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tags" Target="../tags/tag52.xml"/><Relationship Id="rId26" Type="http://schemas.openxmlformats.org/officeDocument/2006/relationships/slideLayout" Target="../slideLayouts/slideLayout2.xml"/><Relationship Id="rId3" Type="http://schemas.openxmlformats.org/officeDocument/2006/relationships/tags" Target="../tags/tag37.xml"/><Relationship Id="rId21" Type="http://schemas.openxmlformats.org/officeDocument/2006/relationships/tags" Target="../tags/tag55.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5" Type="http://schemas.openxmlformats.org/officeDocument/2006/relationships/tags" Target="../tags/tag59.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tags" Target="../tags/tag54.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24" Type="http://schemas.openxmlformats.org/officeDocument/2006/relationships/tags" Target="../tags/tag58.xml"/><Relationship Id="rId5" Type="http://schemas.openxmlformats.org/officeDocument/2006/relationships/tags" Target="../tags/tag39.xml"/><Relationship Id="rId15" Type="http://schemas.openxmlformats.org/officeDocument/2006/relationships/tags" Target="../tags/tag49.xml"/><Relationship Id="rId23" Type="http://schemas.openxmlformats.org/officeDocument/2006/relationships/tags" Target="../tags/tag57.xml"/><Relationship Id="rId10" Type="http://schemas.openxmlformats.org/officeDocument/2006/relationships/tags" Target="../tags/tag44.xml"/><Relationship Id="rId19" Type="http://schemas.openxmlformats.org/officeDocument/2006/relationships/tags" Target="../tags/tag53.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 Id="rId22" Type="http://schemas.openxmlformats.org/officeDocument/2006/relationships/tags" Target="../tags/tag56.xml"/><Relationship Id="rId2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tags" Target="../tags/tag72.xml"/><Relationship Id="rId18" Type="http://schemas.openxmlformats.org/officeDocument/2006/relationships/tags" Target="../tags/tag77.xml"/><Relationship Id="rId26" Type="http://schemas.openxmlformats.org/officeDocument/2006/relationships/tags" Target="../tags/tag85.xml"/><Relationship Id="rId3" Type="http://schemas.openxmlformats.org/officeDocument/2006/relationships/tags" Target="../tags/tag62.xml"/><Relationship Id="rId21" Type="http://schemas.openxmlformats.org/officeDocument/2006/relationships/tags" Target="../tags/tag80.xml"/><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tags" Target="../tags/tag76.xml"/><Relationship Id="rId25" Type="http://schemas.openxmlformats.org/officeDocument/2006/relationships/tags" Target="../tags/tag84.xml"/><Relationship Id="rId2" Type="http://schemas.openxmlformats.org/officeDocument/2006/relationships/tags" Target="../tags/tag61.xml"/><Relationship Id="rId16" Type="http://schemas.openxmlformats.org/officeDocument/2006/relationships/tags" Target="../tags/tag75.xml"/><Relationship Id="rId20" Type="http://schemas.openxmlformats.org/officeDocument/2006/relationships/tags" Target="../tags/tag79.xml"/><Relationship Id="rId29" Type="http://schemas.openxmlformats.org/officeDocument/2006/relationships/notesSlide" Target="../notesSlides/notesSlide6.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24" Type="http://schemas.openxmlformats.org/officeDocument/2006/relationships/tags" Target="../tags/tag83.xml"/><Relationship Id="rId5" Type="http://schemas.openxmlformats.org/officeDocument/2006/relationships/tags" Target="../tags/tag64.xml"/><Relationship Id="rId15" Type="http://schemas.openxmlformats.org/officeDocument/2006/relationships/tags" Target="../tags/tag74.xml"/><Relationship Id="rId23" Type="http://schemas.openxmlformats.org/officeDocument/2006/relationships/tags" Target="../tags/tag82.xml"/><Relationship Id="rId28" Type="http://schemas.openxmlformats.org/officeDocument/2006/relationships/slideLayout" Target="../slideLayouts/slideLayout2.xml"/><Relationship Id="rId10" Type="http://schemas.openxmlformats.org/officeDocument/2006/relationships/tags" Target="../tags/tag69.xml"/><Relationship Id="rId19" Type="http://schemas.openxmlformats.org/officeDocument/2006/relationships/tags" Target="../tags/tag78.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tags" Target="../tags/tag81.xml"/><Relationship Id="rId27" Type="http://schemas.openxmlformats.org/officeDocument/2006/relationships/tags" Target="../tags/tag86.xml"/></Relationships>
</file>

<file path=ppt/slides/_rels/slide7.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26" Type="http://schemas.openxmlformats.org/officeDocument/2006/relationships/tags" Target="../tags/tag112.xml"/><Relationship Id="rId3" Type="http://schemas.openxmlformats.org/officeDocument/2006/relationships/tags" Target="../tags/tag89.xml"/><Relationship Id="rId21" Type="http://schemas.openxmlformats.org/officeDocument/2006/relationships/tags" Target="../tags/tag107.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5" Type="http://schemas.openxmlformats.org/officeDocument/2006/relationships/tags" Target="../tags/tag111.xml"/><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tags" Target="../tags/tag106.xml"/><Relationship Id="rId29" Type="http://schemas.openxmlformats.org/officeDocument/2006/relationships/notesSlide" Target="../notesSlides/notesSlide7.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24" Type="http://schemas.openxmlformats.org/officeDocument/2006/relationships/tags" Target="../tags/tag110.xml"/><Relationship Id="rId5" Type="http://schemas.openxmlformats.org/officeDocument/2006/relationships/tags" Target="../tags/tag91.xml"/><Relationship Id="rId15" Type="http://schemas.openxmlformats.org/officeDocument/2006/relationships/tags" Target="../tags/tag101.xml"/><Relationship Id="rId23" Type="http://schemas.openxmlformats.org/officeDocument/2006/relationships/tags" Target="../tags/tag109.xml"/><Relationship Id="rId28" Type="http://schemas.openxmlformats.org/officeDocument/2006/relationships/slideLayout" Target="../slideLayouts/slideLayout2.xml"/><Relationship Id="rId10" Type="http://schemas.openxmlformats.org/officeDocument/2006/relationships/tags" Target="../tags/tag96.xml"/><Relationship Id="rId19" Type="http://schemas.openxmlformats.org/officeDocument/2006/relationships/tags" Target="../tags/tag105.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 Id="rId22" Type="http://schemas.openxmlformats.org/officeDocument/2006/relationships/tags" Target="../tags/tag108.xml"/><Relationship Id="rId27" Type="http://schemas.openxmlformats.org/officeDocument/2006/relationships/tags" Target="../tags/tag113.xml"/></Relationships>
</file>

<file path=ppt/slides/_rels/slide8.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117.xml"/></Relationships>
</file>

<file path=ppt/slides/_rels/slide9.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18" Type="http://schemas.openxmlformats.org/officeDocument/2006/relationships/tags" Target="../tags/tag135.xml"/><Relationship Id="rId26" Type="http://schemas.openxmlformats.org/officeDocument/2006/relationships/tags" Target="../tags/tag143.xml"/><Relationship Id="rId3" Type="http://schemas.openxmlformats.org/officeDocument/2006/relationships/tags" Target="../tags/tag120.xml"/><Relationship Id="rId21" Type="http://schemas.openxmlformats.org/officeDocument/2006/relationships/tags" Target="../tags/tag138.xml"/><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tags" Target="../tags/tag134.xml"/><Relationship Id="rId25" Type="http://schemas.openxmlformats.org/officeDocument/2006/relationships/tags" Target="../tags/tag142.xml"/><Relationship Id="rId2" Type="http://schemas.openxmlformats.org/officeDocument/2006/relationships/tags" Target="../tags/tag119.xml"/><Relationship Id="rId16" Type="http://schemas.openxmlformats.org/officeDocument/2006/relationships/tags" Target="../tags/tag133.xml"/><Relationship Id="rId20" Type="http://schemas.openxmlformats.org/officeDocument/2006/relationships/tags" Target="../tags/tag137.xml"/><Relationship Id="rId29" Type="http://schemas.openxmlformats.org/officeDocument/2006/relationships/notesSlide" Target="../notesSlides/notesSlide9.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24" Type="http://schemas.openxmlformats.org/officeDocument/2006/relationships/tags" Target="../tags/tag141.xml"/><Relationship Id="rId5" Type="http://schemas.openxmlformats.org/officeDocument/2006/relationships/tags" Target="../tags/tag122.xml"/><Relationship Id="rId15" Type="http://schemas.openxmlformats.org/officeDocument/2006/relationships/tags" Target="../tags/tag132.xml"/><Relationship Id="rId23" Type="http://schemas.openxmlformats.org/officeDocument/2006/relationships/tags" Target="../tags/tag140.xml"/><Relationship Id="rId28" Type="http://schemas.openxmlformats.org/officeDocument/2006/relationships/slideLayout" Target="../slideLayouts/slideLayout2.xml"/><Relationship Id="rId10" Type="http://schemas.openxmlformats.org/officeDocument/2006/relationships/tags" Target="../tags/tag127.xml"/><Relationship Id="rId19" Type="http://schemas.openxmlformats.org/officeDocument/2006/relationships/tags" Target="../tags/tag136.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 Id="rId22" Type="http://schemas.openxmlformats.org/officeDocument/2006/relationships/tags" Target="../tags/tag139.xml"/><Relationship Id="rId27" Type="http://schemas.openxmlformats.org/officeDocument/2006/relationships/tags" Target="../tags/tag144.xml"/></Relationships>
</file>

<file path=ppt/slides/_rels/slide10.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tags" Target="../tags/tag157.xml"/><Relationship Id="rId18" Type="http://schemas.openxmlformats.org/officeDocument/2006/relationships/tags" Target="../tags/tag162.xml"/><Relationship Id="rId26" Type="http://schemas.openxmlformats.org/officeDocument/2006/relationships/slideLayout" Target="../slideLayouts/slideLayout2.xml"/><Relationship Id="rId3" Type="http://schemas.openxmlformats.org/officeDocument/2006/relationships/tags" Target="../tags/tag147.xml"/><Relationship Id="rId21" Type="http://schemas.openxmlformats.org/officeDocument/2006/relationships/tags" Target="../tags/tag165.xml"/><Relationship Id="rId7" Type="http://schemas.openxmlformats.org/officeDocument/2006/relationships/tags" Target="../tags/tag151.xml"/><Relationship Id="rId12" Type="http://schemas.openxmlformats.org/officeDocument/2006/relationships/tags" Target="../tags/tag156.xml"/><Relationship Id="rId17" Type="http://schemas.openxmlformats.org/officeDocument/2006/relationships/tags" Target="../tags/tag161.xml"/><Relationship Id="rId25" Type="http://schemas.openxmlformats.org/officeDocument/2006/relationships/tags" Target="../tags/tag169.xml"/><Relationship Id="rId2" Type="http://schemas.openxmlformats.org/officeDocument/2006/relationships/tags" Target="../tags/tag146.xml"/><Relationship Id="rId16" Type="http://schemas.openxmlformats.org/officeDocument/2006/relationships/tags" Target="../tags/tag160.xml"/><Relationship Id="rId20" Type="http://schemas.openxmlformats.org/officeDocument/2006/relationships/tags" Target="../tags/tag164.xml"/><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24" Type="http://schemas.openxmlformats.org/officeDocument/2006/relationships/tags" Target="../tags/tag168.xml"/><Relationship Id="rId5" Type="http://schemas.openxmlformats.org/officeDocument/2006/relationships/tags" Target="../tags/tag149.xml"/><Relationship Id="rId15" Type="http://schemas.openxmlformats.org/officeDocument/2006/relationships/tags" Target="../tags/tag159.xml"/><Relationship Id="rId23" Type="http://schemas.openxmlformats.org/officeDocument/2006/relationships/tags" Target="../tags/tag167.xml"/><Relationship Id="rId10" Type="http://schemas.openxmlformats.org/officeDocument/2006/relationships/tags" Target="../tags/tag154.xml"/><Relationship Id="rId19" Type="http://schemas.openxmlformats.org/officeDocument/2006/relationships/tags" Target="../tags/tag163.xml"/><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tags" Target="../tags/tag158.xml"/><Relationship Id="rId22" Type="http://schemas.openxmlformats.org/officeDocument/2006/relationships/tags" Target="../tags/tag166.xml"/><Relationship Id="rId2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tags" Target="../tags/tag177.xml"/><Relationship Id="rId13" Type="http://schemas.openxmlformats.org/officeDocument/2006/relationships/tags" Target="../tags/tag182.xml"/><Relationship Id="rId18" Type="http://schemas.openxmlformats.org/officeDocument/2006/relationships/tags" Target="../tags/tag187.xml"/><Relationship Id="rId26" Type="http://schemas.openxmlformats.org/officeDocument/2006/relationships/tags" Target="../tags/tag195.xml"/><Relationship Id="rId3" Type="http://schemas.openxmlformats.org/officeDocument/2006/relationships/tags" Target="../tags/tag172.xml"/><Relationship Id="rId21" Type="http://schemas.openxmlformats.org/officeDocument/2006/relationships/tags" Target="../tags/tag190.xml"/><Relationship Id="rId7" Type="http://schemas.openxmlformats.org/officeDocument/2006/relationships/tags" Target="../tags/tag176.xml"/><Relationship Id="rId12" Type="http://schemas.openxmlformats.org/officeDocument/2006/relationships/tags" Target="../tags/tag181.xml"/><Relationship Id="rId17" Type="http://schemas.openxmlformats.org/officeDocument/2006/relationships/tags" Target="../tags/tag186.xml"/><Relationship Id="rId25" Type="http://schemas.openxmlformats.org/officeDocument/2006/relationships/tags" Target="../tags/tag194.xml"/><Relationship Id="rId2" Type="http://schemas.openxmlformats.org/officeDocument/2006/relationships/tags" Target="../tags/tag171.xml"/><Relationship Id="rId16" Type="http://schemas.openxmlformats.org/officeDocument/2006/relationships/tags" Target="../tags/tag185.xml"/><Relationship Id="rId20" Type="http://schemas.openxmlformats.org/officeDocument/2006/relationships/tags" Target="../tags/tag189.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tags" Target="../tags/tag180.xml"/><Relationship Id="rId24" Type="http://schemas.openxmlformats.org/officeDocument/2006/relationships/tags" Target="../tags/tag193.xml"/><Relationship Id="rId5" Type="http://schemas.openxmlformats.org/officeDocument/2006/relationships/tags" Target="../tags/tag174.xml"/><Relationship Id="rId15" Type="http://schemas.openxmlformats.org/officeDocument/2006/relationships/tags" Target="../tags/tag184.xml"/><Relationship Id="rId23" Type="http://schemas.openxmlformats.org/officeDocument/2006/relationships/tags" Target="../tags/tag192.xml"/><Relationship Id="rId28" Type="http://schemas.openxmlformats.org/officeDocument/2006/relationships/notesSlide" Target="../notesSlides/notesSlide11.xml"/><Relationship Id="rId10" Type="http://schemas.openxmlformats.org/officeDocument/2006/relationships/tags" Target="../tags/tag179.xml"/><Relationship Id="rId19" Type="http://schemas.openxmlformats.org/officeDocument/2006/relationships/tags" Target="../tags/tag188.xml"/><Relationship Id="rId4" Type="http://schemas.openxmlformats.org/officeDocument/2006/relationships/tags" Target="../tags/tag173.xml"/><Relationship Id="rId9" Type="http://schemas.openxmlformats.org/officeDocument/2006/relationships/tags" Target="../tags/tag178.xml"/><Relationship Id="rId14" Type="http://schemas.openxmlformats.org/officeDocument/2006/relationships/tags" Target="../tags/tag183.xml"/><Relationship Id="rId22" Type="http://schemas.openxmlformats.org/officeDocument/2006/relationships/tags" Target="../tags/tag191.xml"/><Relationship Id="rId27"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199.xml"/></Relationships>
</file>

<file path=ppt/slides/_rels/slide13.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203.xml"/></Relationships>
</file>

<file path=ppt/slides/_rels/slide14.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207.xml"/></Relationships>
</file>

<file path=ppt/slides/_rels/slide15.xml.rels><?xml version="1.0" encoding="UTF-8" standalone="yes"?>
<Relationships xmlns="http://schemas.openxmlformats.org/package/2006/relationships"><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211.xml"/></Relationships>
</file>

<file path=ppt/slides/_rels/slide16.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215.xml"/></Relationships>
</file>

<file path=ppt/slides/_rels/slide17.xml.rels><?xml version="1.0" encoding="UTF-8" standalone="yes"?>
<Relationships xmlns="http://schemas.openxmlformats.org/package/2006/relationships"><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219.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222.xml"/><Relationship Id="rId7" Type="http://schemas.openxmlformats.org/officeDocument/2006/relationships/notesSlide" Target="../notesSlides/notesSlide18.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slideLayout" Target="../slideLayouts/slideLayout2.xml"/><Relationship Id="rId5" Type="http://schemas.openxmlformats.org/officeDocument/2006/relationships/tags" Target="../tags/tag224.xml"/><Relationship Id="rId4" Type="http://schemas.openxmlformats.org/officeDocument/2006/relationships/tags" Target="../tags/tag223.xml"/><Relationship Id="rId9" Type="http://schemas.openxmlformats.org/officeDocument/2006/relationships/image" Target="../media/image3.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227.xml"/><Relationship Id="rId7" Type="http://schemas.openxmlformats.org/officeDocument/2006/relationships/notesSlide" Target="../notesSlides/notesSlide19.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slideLayout" Target="../slideLayouts/slideLayout2.xml"/><Relationship Id="rId5" Type="http://schemas.openxmlformats.org/officeDocument/2006/relationships/tags" Target="../tags/tag229.xml"/><Relationship Id="rId4" Type="http://schemas.openxmlformats.org/officeDocument/2006/relationships/tags" Target="../tags/tag228.xml"/><Relationship Id="rId9" Type="http://schemas.openxmlformats.org/officeDocument/2006/relationships/image" Target="../media/image4.emf"/></Relationships>
</file>

<file path=ppt/slides/_rels/slide20.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233.xml"/></Relationships>
</file>

<file path=ppt/slides/_rels/slide21.xml.rels><?xml version="1.0" encoding="UTF-8" standalone="yes"?>
<Relationships xmlns="http://schemas.openxmlformats.org/package/2006/relationships"><Relationship Id="rId3" Type="http://schemas.openxmlformats.org/officeDocument/2006/relationships/tags" Target="../tags/tag236.xml"/><Relationship Id="rId7" Type="http://schemas.openxmlformats.org/officeDocument/2006/relationships/notesSlide" Target="../notesSlides/notesSlide21.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slideLayout" Target="../slideLayouts/slideLayout2.xml"/><Relationship Id="rId5" Type="http://schemas.openxmlformats.org/officeDocument/2006/relationships/tags" Target="../tags/tag238.xml"/><Relationship Id="rId4" Type="http://schemas.openxmlformats.org/officeDocument/2006/relationships/tags" Target="../tags/tag237.xml"/></Relationships>
</file>

<file path=ppt/slides/_rels/slide22.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5" Type="http://schemas.openxmlformats.org/officeDocument/2006/relationships/tags" Target="../tags/tag243.xml"/><Relationship Id="rId10" Type="http://schemas.openxmlformats.org/officeDocument/2006/relationships/notesSlide" Target="../notesSlides/notesSlide22.xml"/><Relationship Id="rId4" Type="http://schemas.openxmlformats.org/officeDocument/2006/relationships/tags" Target="../tags/tag242.xml"/><Relationship Id="rId9"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249.xml"/><Relationship Id="rId7" Type="http://schemas.openxmlformats.org/officeDocument/2006/relationships/notesSlide" Target="../notesSlides/notesSlide23.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slideLayout" Target="../slideLayouts/slideLayout2.xml"/><Relationship Id="rId5" Type="http://schemas.openxmlformats.org/officeDocument/2006/relationships/tags" Target="../tags/tag251.xml"/><Relationship Id="rId4" Type="http://schemas.openxmlformats.org/officeDocument/2006/relationships/tags" Target="../tags/tag250.xml"/></Relationships>
</file>

<file path=ppt/slides/_rels/slide24.xml.rels><?xml version="1.0" encoding="UTF-8" standalone="yes"?>
<Relationships xmlns="http://schemas.openxmlformats.org/package/2006/relationships"><Relationship Id="rId8" Type="http://schemas.openxmlformats.org/officeDocument/2006/relationships/tags" Target="../tags/tag259.xml"/><Relationship Id="rId3" Type="http://schemas.openxmlformats.org/officeDocument/2006/relationships/tags" Target="../tags/tag254.xml"/><Relationship Id="rId7" Type="http://schemas.openxmlformats.org/officeDocument/2006/relationships/tags" Target="../tags/tag258.xml"/><Relationship Id="rId2" Type="http://schemas.openxmlformats.org/officeDocument/2006/relationships/tags" Target="../tags/tag253.xml"/><Relationship Id="rId1" Type="http://schemas.openxmlformats.org/officeDocument/2006/relationships/tags" Target="../tags/tag252.xml"/><Relationship Id="rId6" Type="http://schemas.openxmlformats.org/officeDocument/2006/relationships/tags" Target="../tags/tag257.xml"/><Relationship Id="rId11" Type="http://schemas.openxmlformats.org/officeDocument/2006/relationships/notesSlide" Target="../notesSlides/notesSlide24.xml"/><Relationship Id="rId5" Type="http://schemas.openxmlformats.org/officeDocument/2006/relationships/tags" Target="../tags/tag256.xml"/><Relationship Id="rId10" Type="http://schemas.openxmlformats.org/officeDocument/2006/relationships/slideLayout" Target="../slideLayouts/slideLayout2.xml"/><Relationship Id="rId4" Type="http://schemas.openxmlformats.org/officeDocument/2006/relationships/tags" Target="../tags/tag255.xml"/><Relationship Id="rId9" Type="http://schemas.openxmlformats.org/officeDocument/2006/relationships/tags" Target="../tags/tag260.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3" Type="http://schemas.openxmlformats.org/officeDocument/2006/relationships/tags" Target="../tags/tag263.xml"/><Relationship Id="rId7" Type="http://schemas.openxmlformats.org/officeDocument/2006/relationships/slideLayout" Target="../slideLayouts/slideLayout2.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s>
</file>

<file path=ppt/slides/_rels/slide26.xml.rels><?xml version="1.0" encoding="UTF-8" standalone="yes"?>
<Relationships xmlns="http://schemas.openxmlformats.org/package/2006/relationships"><Relationship Id="rId3" Type="http://schemas.openxmlformats.org/officeDocument/2006/relationships/tags" Target="../tags/tag269.xml"/><Relationship Id="rId7" Type="http://schemas.openxmlformats.org/officeDocument/2006/relationships/notesSlide" Target="../notesSlides/notesSlide26.xml"/><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slideLayout" Target="../slideLayouts/slideLayout2.xml"/><Relationship Id="rId5" Type="http://schemas.openxmlformats.org/officeDocument/2006/relationships/tags" Target="../tags/tag271.xml"/><Relationship Id="rId4" Type="http://schemas.openxmlformats.org/officeDocument/2006/relationships/tags" Target="../tags/tag270.xml"/></Relationships>
</file>

<file path=ppt/slides/_rels/slide27.xml.rels><?xml version="1.0" encoding="UTF-8" standalone="yes"?>
<Relationships xmlns="http://schemas.openxmlformats.org/package/2006/relationships"><Relationship Id="rId8" Type="http://schemas.openxmlformats.org/officeDocument/2006/relationships/tags" Target="../tags/tag279.xml"/><Relationship Id="rId3" Type="http://schemas.openxmlformats.org/officeDocument/2006/relationships/tags" Target="../tags/tag274.xml"/><Relationship Id="rId7" Type="http://schemas.openxmlformats.org/officeDocument/2006/relationships/tags" Target="../tags/tag278.xml"/><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tags" Target="../tags/tag277.xml"/><Relationship Id="rId5" Type="http://schemas.openxmlformats.org/officeDocument/2006/relationships/tags" Target="../tags/tag276.xml"/><Relationship Id="rId10" Type="http://schemas.openxmlformats.org/officeDocument/2006/relationships/notesSlide" Target="../notesSlides/notesSlide27.xml"/><Relationship Id="rId4" Type="http://schemas.openxmlformats.org/officeDocument/2006/relationships/tags" Target="../tags/tag275.xml"/><Relationship Id="rId9"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FAEC3731-8914-466C-A561-03A7EF2CEA18}"/>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dirty="0"/>
              <a:t>ECE/CS 552: Cache Performance</a:t>
            </a:r>
          </a:p>
        </p:txBody>
      </p:sp>
      <p:sp>
        <p:nvSpPr>
          <p:cNvPr id="3" name="Subtitle 2">
            <a:extLst>
              <a:ext uri="{FF2B5EF4-FFF2-40B4-BE49-F238E27FC236}">
                <a16:creationId xmlns:a16="http://schemas.microsoft.com/office/drawing/2014/main" id="{F0DF9377-1361-4555-9AF6-6E957C3B90C0}"/>
              </a:ext>
            </a:extLst>
          </p:cNvPr>
          <p:cNvSpPr>
            <a:spLocks noGrp="1"/>
          </p:cNvSpPr>
          <p:nvPr>
            <p:ph type="subTitle" idx="1"/>
            <p:custDataLst>
              <p:tags r:id="rId3"/>
            </p:custDataLst>
          </p:nvPr>
        </p:nvSpPr>
        <p:spPr>
          <a:xfrm>
            <a:off x="1371600" y="3886200"/>
            <a:ext cx="6400800" cy="1752600"/>
          </a:xfrm>
        </p:spPr>
        <p:txBody>
          <a:bodyPr>
            <a:noAutofit/>
          </a:bodyPr>
          <a:lstStyle/>
          <a:p>
            <a:pPr eaLnBrk="1" hangingPunct="1">
              <a:buFont typeface="Arial" charset="0"/>
              <a:buNone/>
              <a:defRPr/>
            </a:pPr>
            <a:r>
              <a:rPr lang="en-US" sz="2200" dirty="0"/>
              <a:t>Boone Severson</a:t>
            </a:r>
          </a:p>
          <a:p>
            <a:pPr eaLnBrk="1" hangingPunct="1">
              <a:buFont typeface="Arial" charset="0"/>
              <a:buNone/>
              <a:defRPr/>
            </a:pPr>
            <a:endParaRPr lang="en-US" sz="2200" dirty="0"/>
          </a:p>
          <a:p>
            <a:pPr eaLnBrk="1" hangingPunct="1">
              <a:buFont typeface="Arial" charset="0"/>
              <a:buNone/>
              <a:defRPr/>
            </a:pPr>
            <a:r>
              <a:rPr lang="en-US" sz="2200" dirty="0"/>
              <a:t>Lecture notes based in part on slides created by Joshua San Miguel, </a:t>
            </a:r>
            <a:r>
              <a:rPr lang="en-US" sz="2200" dirty="0" err="1"/>
              <a:t>Mikko</a:t>
            </a:r>
            <a:r>
              <a:rPr lang="en-US" sz="2200" dirty="0"/>
              <a:t> </a:t>
            </a:r>
            <a:r>
              <a:rPr lang="en-US" sz="2200" dirty="0" err="1"/>
              <a:t>Lipasti</a:t>
            </a:r>
            <a:r>
              <a:rPr lang="en-US" sz="2200" dirty="0"/>
              <a:t>, Mark Hill, David Wood, </a:t>
            </a:r>
            <a:r>
              <a:rPr lang="en-US" sz="2200" dirty="0" err="1"/>
              <a:t>Guri</a:t>
            </a:r>
            <a:r>
              <a:rPr lang="en-US" sz="2200" dirty="0"/>
              <a:t> Sohi, John Shen and Jim Smith</a:t>
            </a:r>
          </a:p>
          <a:p>
            <a:pPr eaLnBrk="1" hangingPunct="1">
              <a:buFont typeface="Arial" charset="0"/>
              <a:buNone/>
              <a:defRPr/>
            </a:pPr>
            <a:r>
              <a:rPr lang="en-US" sz="2200" dirty="0"/>
              <a:t>  </a:t>
            </a:r>
          </a:p>
          <a:p>
            <a:pPr eaLnBrk="1" hangingPunct="1">
              <a:buFont typeface="Arial" charset="0"/>
              <a:buNone/>
              <a:defRPr/>
            </a:pPr>
            <a:endParaRPr lang="en-US" sz="2200" dirty="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371260" y="5760720"/>
            <a:ext cx="3657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Cache Hierarchy (e.g., 2-level)</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4"/>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5"/>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6"/>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unified I/D L2 cache</a:t>
            </a:r>
          </a:p>
        </p:txBody>
      </p: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59436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3092015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a:t>
            </a:fld>
            <a:endParaRPr lang="en-US" altLang="en-US"/>
          </a:p>
        </p:txBody>
      </p:sp>
      <p:sp>
        <p:nvSpPr>
          <p:cNvPr id="25" name="TextBox 24">
            <a:extLst>
              <a:ext uri="{FF2B5EF4-FFF2-40B4-BE49-F238E27FC236}">
                <a16:creationId xmlns:a16="http://schemas.microsoft.com/office/drawing/2014/main" id="{BA2E1052-7F6A-461A-BD5C-E9E8F6FE17F8}"/>
              </a:ext>
            </a:extLst>
          </p:cNvPr>
          <p:cNvSpPr txBox="1"/>
          <p:nvPr>
            <p:custDataLst>
              <p:tags r:id="rId4"/>
            </p:custDataLst>
          </p:nvPr>
        </p:nvSpPr>
        <p:spPr>
          <a:xfrm>
            <a:off x="526930" y="1414732"/>
            <a:ext cx="8236070" cy="5037826"/>
          </a:xfrm>
          <a:prstGeom prst="rect">
            <a:avLst/>
          </a:prstGeom>
          <a:noFill/>
        </p:spPr>
        <p:txBody>
          <a:bodyPr wrap="square" rtlCol="0" anchor="t">
            <a:noAutofit/>
          </a:bodyPr>
          <a:lstStyle/>
          <a:p>
            <a:r>
              <a:rPr lang="en-US" sz="2800" b="1" dirty="0">
                <a:latin typeface="+mn-lt"/>
              </a:rPr>
              <a:t>Placement:</a:t>
            </a:r>
          </a:p>
          <a:p>
            <a:r>
              <a:rPr lang="en-US" sz="2800" dirty="0">
                <a:latin typeface="+mn-lt"/>
              </a:rPr>
              <a:t>Where can a block of memory go?</a:t>
            </a:r>
          </a:p>
          <a:p>
            <a:endParaRPr lang="en-US" sz="2800" dirty="0">
              <a:latin typeface="+mn-lt"/>
            </a:endParaRPr>
          </a:p>
          <a:p>
            <a:r>
              <a:rPr lang="en-US" sz="2800" b="1" dirty="0">
                <a:latin typeface="+mn-lt"/>
              </a:rPr>
              <a:t>Replacement:</a:t>
            </a:r>
          </a:p>
          <a:p>
            <a:r>
              <a:rPr lang="en-US" sz="2800" dirty="0">
                <a:latin typeface="+mn-lt"/>
              </a:rPr>
              <a:t>How do we make space for new blocks?</a:t>
            </a:r>
          </a:p>
          <a:p>
            <a:endParaRPr lang="en-US" sz="2800" dirty="0">
              <a:latin typeface="+mn-lt"/>
            </a:endParaRPr>
          </a:p>
          <a:p>
            <a:r>
              <a:rPr lang="en-US" sz="2800" b="1" dirty="0">
                <a:latin typeface="+mn-lt"/>
              </a:rPr>
              <a:t>Write Policy:</a:t>
            </a:r>
          </a:p>
          <a:p>
            <a:r>
              <a:rPr lang="en-US" sz="2800" dirty="0">
                <a:latin typeface="+mn-lt"/>
              </a:rPr>
              <a:t>How do we propagate modifications to memory?</a:t>
            </a:r>
          </a:p>
        </p:txBody>
      </p:sp>
    </p:spTree>
    <p:custDataLst>
      <p:tags r:id="rId1"/>
    </p:custDataLst>
    <p:extLst>
      <p:ext uri="{BB962C8B-B14F-4D97-AF65-F5344CB8AC3E}">
        <p14:creationId xmlns:p14="http://schemas.microsoft.com/office/powerpoint/2010/main" val="148449583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a:t>
            </a:fld>
            <a:endParaRPr lang="en-US" altLang="en-US"/>
          </a:p>
        </p:txBody>
      </p:sp>
      <p:sp>
        <p:nvSpPr>
          <p:cNvPr id="6" name="Rectangle 3">
            <a:extLst>
              <a:ext uri="{FF2B5EF4-FFF2-40B4-BE49-F238E27FC236}">
                <a16:creationId xmlns:a16="http://schemas.microsoft.com/office/drawing/2014/main" id="{AAE4C810-0D73-45DE-8A43-E652A2557973}"/>
              </a:ext>
            </a:extLst>
          </p:cNvPr>
          <p:cNvSpPr>
            <a:spLocks noGrp="1" noChangeArrowheads="1"/>
          </p:cNvSpPr>
          <p:nvPr>
            <p:ph idx="1"/>
            <p:custDataLst>
              <p:tags r:id="rId4"/>
            </p:custDataLst>
          </p:nvPr>
        </p:nvSpPr>
        <p:spPr>
          <a:xfrm>
            <a:off x="457200" y="1600200"/>
            <a:ext cx="8686800" cy="4525963"/>
          </a:xfrm>
        </p:spPr>
        <p:txBody>
          <a:bodyPr/>
          <a:lstStyle/>
          <a:p>
            <a:pPr eaLnBrk="1" hangingPunct="1">
              <a:lnSpc>
                <a:spcPct val="80000"/>
              </a:lnSpc>
            </a:pPr>
            <a:r>
              <a:rPr lang="en-US" altLang="en-US" sz="2800" dirty="0"/>
              <a:t>Since memory address range exceeds cache capacity, map memory addresses into finite set of cache storage locations.</a:t>
            </a:r>
          </a:p>
          <a:p>
            <a:pPr eaLnBrk="1" hangingPunct="1">
              <a:lnSpc>
                <a:spcPct val="80000"/>
              </a:lnSpc>
            </a:pPr>
            <a:r>
              <a:rPr lang="en-US" altLang="en-US" sz="2800" b="1" dirty="0"/>
              <a:t>Set-associativity:</a:t>
            </a:r>
          </a:p>
          <a:p>
            <a:pPr lvl="1" eaLnBrk="1" hangingPunct="1">
              <a:lnSpc>
                <a:spcPct val="80000"/>
              </a:lnSpc>
            </a:pPr>
            <a:r>
              <a:rPr lang="en-US" altLang="en-US" sz="2400" dirty="0"/>
              <a:t>Cache </a:t>
            </a:r>
            <a:r>
              <a:rPr lang="en-US" altLang="en-US" sz="2400" i="1" dirty="0"/>
              <a:t>way</a:t>
            </a:r>
            <a:r>
              <a:rPr lang="en-US" altLang="en-US" sz="2400" dirty="0"/>
              <a:t>: one possible storage location that a given block can be placed</a:t>
            </a:r>
          </a:p>
          <a:p>
            <a:pPr lvl="1" eaLnBrk="1" hangingPunct="1">
              <a:lnSpc>
                <a:spcPct val="80000"/>
              </a:lnSpc>
            </a:pPr>
            <a:r>
              <a:rPr lang="en-US" altLang="en-US" sz="2400" dirty="0"/>
              <a:t>Cache </a:t>
            </a:r>
            <a:r>
              <a:rPr lang="en-US" altLang="en-US" sz="2400" i="1" dirty="0"/>
              <a:t>set</a:t>
            </a:r>
            <a:r>
              <a:rPr lang="en-US" altLang="en-US" sz="2400" dirty="0"/>
              <a:t>: group of ways for a given block</a:t>
            </a:r>
          </a:p>
          <a:p>
            <a:pPr lvl="2" eaLnBrk="1" hangingPunct="1">
              <a:lnSpc>
                <a:spcPct val="90000"/>
              </a:lnSpc>
            </a:pPr>
            <a:r>
              <a:rPr lang="en-US" altLang="en-US" sz="2000" b="1" dirty="0"/>
              <a:t>N-way set-associative </a:t>
            </a:r>
            <a:r>
              <a:rPr lang="en-US" altLang="en-US" sz="2000" dirty="0"/>
              <a:t>cache: every block has exactly N locations (ways) where it can be placed</a:t>
            </a:r>
          </a:p>
          <a:p>
            <a:pPr lvl="2" eaLnBrk="1" hangingPunct="1">
              <a:lnSpc>
                <a:spcPct val="90000"/>
              </a:lnSpc>
            </a:pPr>
            <a:r>
              <a:rPr lang="en-US" altLang="en-US" sz="2000" b="1" dirty="0"/>
              <a:t>Direct-mapped </a:t>
            </a:r>
            <a:r>
              <a:rPr lang="en-US" altLang="en-US" sz="2000" dirty="0"/>
              <a:t>cache: N = 1</a:t>
            </a:r>
          </a:p>
          <a:p>
            <a:pPr lvl="2" eaLnBrk="1" hangingPunct="1">
              <a:lnSpc>
                <a:spcPct val="90000"/>
              </a:lnSpc>
            </a:pPr>
            <a:r>
              <a:rPr lang="en-US" altLang="en-US" sz="2000" b="1" dirty="0"/>
              <a:t>Fully-associative</a:t>
            </a:r>
            <a:r>
              <a:rPr lang="en-US" altLang="en-US" sz="2000" dirty="0"/>
              <a:t> cache: N = total number of blocks in cache</a:t>
            </a:r>
          </a:p>
        </p:txBody>
      </p:sp>
    </p:spTree>
    <p:custDataLst>
      <p:tags r:id="rId1"/>
    </p:custDataLst>
    <p:extLst>
      <p:ext uri="{BB962C8B-B14F-4D97-AF65-F5344CB8AC3E}">
        <p14:creationId xmlns:p14="http://schemas.microsoft.com/office/powerpoint/2010/main" val="1197037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5</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custDataLst>
              <p:tags r:id="rId4"/>
            </p:custDataLst>
            <p:extLst>
              <p:ext uri="{D42A27DB-BD31-4B8C-83A1-F6EECF244321}">
                <p14:modId xmlns:p14="http://schemas.microsoft.com/office/powerpoint/2010/main" val="3706663406"/>
              </p:ext>
            </p:extLst>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custDataLst>
              <p:tags r:id="rId5"/>
            </p:custDataLst>
          </p:nvPr>
        </p:nvSpPr>
        <p:spPr>
          <a:xfrm flipV="1">
            <a:off x="6477000" y="5410200"/>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custDataLst>
              <p:tags r:id="rId6"/>
            </p:custDataLst>
          </p:nvPr>
        </p:nvSpPr>
        <p:spPr>
          <a:xfrm>
            <a:off x="4617720" y="5311602"/>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604760" y="5867400"/>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custDataLst>
              <p:tags r:id="rId7"/>
            </p:custDataLst>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custDataLst>
              <p:tags r:id="rId8"/>
            </p:custDataLst>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custDataLst>
              <p:tags r:id="rId9"/>
            </p:custDataLst>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custDataLst>
              <p:tags r:id="rId10"/>
            </p:custDataLst>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custDataLst>
              <p:tags r:id="rId11"/>
            </p:custDataLst>
          </p:nvPr>
        </p:nvSpPr>
        <p:spPr>
          <a:xfrm>
            <a:off x="4736352" y="5211499"/>
            <a:ext cx="1066800" cy="369332"/>
          </a:xfrm>
          <a:prstGeom prst="rect">
            <a:avLst/>
          </a:prstGeom>
          <a:noFill/>
        </p:spPr>
        <p:txBody>
          <a:bodyPr wrap="square" rtlCol="0" anchor="ctr">
            <a:spAutoFit/>
          </a:bodyPr>
          <a:lstStyle/>
          <a:p>
            <a:pPr algn="ctr"/>
            <a:r>
              <a:rPr lang="en-US" sz="1800" dirty="0">
                <a:latin typeface="+mn-lt"/>
              </a:rPr>
              <a:t>hit?</a:t>
            </a:r>
          </a:p>
        </p:txBody>
      </p:sp>
      <p:sp>
        <p:nvSpPr>
          <p:cNvPr id="21" name="TextBox 20">
            <a:extLst>
              <a:ext uri="{FF2B5EF4-FFF2-40B4-BE49-F238E27FC236}">
                <a16:creationId xmlns:a16="http://schemas.microsoft.com/office/drawing/2014/main" id="{D23554DD-1D82-42D6-A8F7-6C72CFDE8D44}"/>
              </a:ext>
            </a:extLst>
          </p:cNvPr>
          <p:cNvSpPr txBox="1"/>
          <p:nvPr>
            <p:custDataLst>
              <p:tags r:id="rId12"/>
            </p:custDataLst>
          </p:nvPr>
        </p:nvSpPr>
        <p:spPr>
          <a:xfrm>
            <a:off x="304800" y="1474695"/>
            <a:ext cx="2057400" cy="369332"/>
          </a:xfrm>
          <a:prstGeom prst="rect">
            <a:avLst/>
          </a:prstGeom>
          <a:noFill/>
        </p:spPr>
        <p:txBody>
          <a:bodyPr wrap="square" rtlCol="0" anchor="ctr">
            <a:spAutoFit/>
          </a:bodyPr>
          <a:lstStyle/>
          <a:p>
            <a:pPr algn="ctr"/>
            <a:r>
              <a:rPr lang="en-US" sz="1800" b="1" dirty="0">
                <a:solidFill>
                  <a:schemeClr val="accent6">
                    <a:lumMod val="75000"/>
                  </a:schemeClr>
                </a:solidFill>
                <a:latin typeface="+mn-lt"/>
              </a:rPr>
              <a:t>address X</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1371599" y="4267200"/>
            <a:ext cx="1" cy="12344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p:nvPr/>
        </p:nvCxnSpPr>
        <p:spPr>
          <a:xfrm>
            <a:off x="1341120" y="5513294"/>
            <a:ext cx="18288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548639" y="3059654"/>
            <a:ext cx="16459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custDataLst>
              <p:tags r:id="rId13"/>
            </p:custDataLst>
          </p:nvPr>
        </p:nvSpPr>
        <p:spPr>
          <a:xfrm>
            <a:off x="7162800" y="6423198"/>
            <a:ext cx="1066800" cy="369332"/>
          </a:xfrm>
          <a:prstGeom prst="rect">
            <a:avLst/>
          </a:prstGeom>
          <a:noFill/>
        </p:spPr>
        <p:txBody>
          <a:bodyPr wrap="square" rtlCol="0" anchor="ctr">
            <a:spAutoFit/>
          </a:bodyPr>
          <a:lstStyle/>
          <a:p>
            <a:pPr algn="ctr"/>
            <a:r>
              <a:rPr lang="en-US" sz="1800" dirty="0">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custDataLst>
              <p:tags r:id="rId14"/>
            </p:custDataLst>
          </p:nvPr>
        </p:nvSpPr>
        <p:spPr>
          <a:xfrm>
            <a:off x="10668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custDataLst>
              <p:tags r:id="rId15"/>
            </p:custDataLst>
          </p:nvPr>
        </p:nvSpPr>
        <p:spPr>
          <a:xfrm>
            <a:off x="1752600" y="3848563"/>
            <a:ext cx="1066800" cy="369332"/>
          </a:xfrm>
          <a:prstGeom prst="rect">
            <a:avLst/>
          </a:prstGeom>
          <a:noFill/>
        </p:spPr>
        <p:txBody>
          <a:bodyPr wrap="square" rtlCol="0" anchor="ctr">
            <a:spAutoFit/>
          </a:bodyPr>
          <a:lstStyle/>
          <a:p>
            <a:pPr algn="ctr"/>
            <a:r>
              <a:rPr lang="en-US" sz="1800" dirty="0">
                <a:latin typeface="+mn-lt"/>
              </a:rPr>
              <a:t>set</a:t>
            </a:r>
          </a:p>
        </p:txBody>
      </p:sp>
      <p:graphicFrame>
        <p:nvGraphicFramePr>
          <p:cNvPr id="30" name="Table 29">
            <a:extLst>
              <a:ext uri="{FF2B5EF4-FFF2-40B4-BE49-F238E27FC236}">
                <a16:creationId xmlns:a16="http://schemas.microsoft.com/office/drawing/2014/main" id="{03723D23-00D9-4EEE-BCFC-EA0193BA23DB}"/>
              </a:ext>
            </a:extLst>
          </p:cNvPr>
          <p:cNvGraphicFramePr>
            <a:graphicFrameLocks noGrp="1"/>
          </p:cNvGraphicFramePr>
          <p:nvPr>
            <p:custDataLst>
              <p:tags r:id="rId16"/>
            </p:custDataLst>
          </p:nvPr>
        </p:nvGraphicFramePr>
        <p:xfrm>
          <a:off x="304800" y="1865854"/>
          <a:ext cx="2057400" cy="3708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1" name="Table 30">
            <a:extLst>
              <a:ext uri="{FF2B5EF4-FFF2-40B4-BE49-F238E27FC236}">
                <a16:creationId xmlns:a16="http://schemas.microsoft.com/office/drawing/2014/main" id="{54C0972A-6FB6-4BD1-A2A7-279661143F1A}"/>
              </a:ext>
            </a:extLst>
          </p:cNvPr>
          <p:cNvGraphicFramePr>
            <a:graphicFrameLocks noGrp="1"/>
          </p:cNvGraphicFramePr>
          <p:nvPr>
            <p:custDataLst>
              <p:tags r:id="rId17"/>
            </p:custDataLst>
            <p:extLst>
              <p:ext uri="{D42A27DB-BD31-4B8C-83A1-F6EECF244321}">
                <p14:modId xmlns:p14="http://schemas.microsoft.com/office/powerpoint/2010/main" val="456187662"/>
              </p:ext>
            </p:extLst>
          </p:nvPr>
        </p:nvGraphicFramePr>
        <p:xfrm>
          <a:off x="5609215" y="1762760"/>
          <a:ext cx="2932611" cy="370840"/>
        </p:xfrm>
        <a:graphic>
          <a:graphicData uri="http://schemas.openxmlformats.org/drawingml/2006/table">
            <a:tbl>
              <a:tblPr bandRow="1">
                <a:tableStyleId>{5C22544A-7EE6-4342-B048-85BDC9FD1C3A}</a:tableStyleId>
              </a:tblPr>
              <a:tblGrid>
                <a:gridCol w="1485828">
                  <a:extLst>
                    <a:ext uri="{9D8B030D-6E8A-4147-A177-3AD203B41FA5}">
                      <a16:colId xmlns:a16="http://schemas.microsoft.com/office/drawing/2014/main" val="1797276752"/>
                    </a:ext>
                  </a:extLst>
                </a:gridCol>
                <a:gridCol w="690296">
                  <a:extLst>
                    <a:ext uri="{9D8B030D-6E8A-4147-A177-3AD203B41FA5}">
                      <a16:colId xmlns:a16="http://schemas.microsoft.com/office/drawing/2014/main" val="3840450956"/>
                    </a:ext>
                  </a:extLst>
                </a:gridCol>
                <a:gridCol w="756487">
                  <a:extLst>
                    <a:ext uri="{9D8B030D-6E8A-4147-A177-3AD203B41FA5}">
                      <a16:colId xmlns:a16="http://schemas.microsoft.com/office/drawing/2014/main" val="4102295519"/>
                    </a:ext>
                  </a:extLst>
                </a:gridCol>
              </a:tblGrid>
              <a:tr h="370840">
                <a:tc>
                  <a:txBody>
                    <a:bodyPr/>
                    <a:lstStyle/>
                    <a:p>
                      <a:pPr algn="ctr"/>
                      <a:r>
                        <a:rPr lang="en-US" b="1" dirty="0"/>
                        <a:t>tag</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set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offset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0992992"/>
                  </a:ext>
                </a:extLst>
              </a:tr>
            </a:tbl>
          </a:graphicData>
        </a:graphic>
      </p:graphicFrame>
      <p:sp>
        <p:nvSpPr>
          <p:cNvPr id="33" name="TextBox 32">
            <a:extLst>
              <a:ext uri="{FF2B5EF4-FFF2-40B4-BE49-F238E27FC236}">
                <a16:creationId xmlns:a16="http://schemas.microsoft.com/office/drawing/2014/main" id="{AD250D8B-E519-4A72-BF23-F80DDE35AC3F}"/>
              </a:ext>
            </a:extLst>
          </p:cNvPr>
          <p:cNvSpPr txBox="1"/>
          <p:nvPr>
            <p:custDataLst>
              <p:tags r:id="rId18"/>
            </p:custDataLst>
          </p:nvPr>
        </p:nvSpPr>
        <p:spPr>
          <a:xfrm>
            <a:off x="5181600" y="1392528"/>
            <a:ext cx="3360226" cy="578637"/>
          </a:xfrm>
          <a:prstGeom prst="rect">
            <a:avLst/>
          </a:prstGeom>
          <a:noFill/>
        </p:spPr>
        <p:txBody>
          <a:bodyPr wrap="square" rtlCol="0" anchor="t">
            <a:noAutofit/>
          </a:bodyPr>
          <a:lstStyle/>
          <a:p>
            <a:pPr algn="ctr"/>
            <a:r>
              <a:rPr lang="en-US" sz="2000" b="1" dirty="0">
                <a:latin typeface="+mn-lt"/>
              </a:rPr>
              <a:t>Standard hash function:</a:t>
            </a:r>
          </a:p>
        </p:txBody>
      </p:sp>
      <p:cxnSp>
        <p:nvCxnSpPr>
          <p:cNvPr id="32" name="Straight Arrow Connector 31">
            <a:extLst>
              <a:ext uri="{FF2B5EF4-FFF2-40B4-BE49-F238E27FC236}">
                <a16:creationId xmlns:a16="http://schemas.microsoft.com/office/drawing/2014/main" id="{679A27B7-866F-4D2D-8BCC-C737D362167D}"/>
              </a:ext>
            </a:extLst>
          </p:cNvPr>
          <p:cNvCxnSpPr/>
          <p:nvPr/>
        </p:nvCxnSpPr>
        <p:spPr>
          <a:xfrm rot="5400000">
            <a:off x="2880360" y="4709160"/>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5D2773F-F3F7-44B5-884D-8B184D0DB4BA}"/>
              </a:ext>
            </a:extLst>
          </p:cNvPr>
          <p:cNvCxnSpPr/>
          <p:nvPr/>
        </p:nvCxnSpPr>
        <p:spPr>
          <a:xfrm>
            <a:off x="3276600" y="414528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A5569DC-1A1A-47AB-9B3F-4F628586BB37}"/>
              </a:ext>
            </a:extLst>
          </p:cNvPr>
          <p:cNvCxnSpPr/>
          <p:nvPr/>
        </p:nvCxnSpPr>
        <p:spPr>
          <a:xfrm rot="5400000">
            <a:off x="6217920" y="4770120"/>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21A3F71-2F44-498D-A591-A652E8CA6DA4}"/>
              </a:ext>
            </a:extLst>
          </p:cNvPr>
          <p:cNvCxnSpPr/>
          <p:nvPr/>
        </p:nvCxnSpPr>
        <p:spPr>
          <a:xfrm>
            <a:off x="6705600" y="411480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9EAAD497-4CC8-401F-BCFF-B4E9F6E4EBD5}"/>
              </a:ext>
            </a:extLst>
          </p:cNvPr>
          <p:cNvSpPr/>
          <p:nvPr>
            <p:custDataLst>
              <p:tags r:id="rId19"/>
            </p:custDataLst>
          </p:nvPr>
        </p:nvSpPr>
        <p:spPr>
          <a:xfrm>
            <a:off x="3200400" y="5303520"/>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38" name="Straight Arrow Connector 37">
            <a:extLst>
              <a:ext uri="{FF2B5EF4-FFF2-40B4-BE49-F238E27FC236}">
                <a16:creationId xmlns:a16="http://schemas.microsoft.com/office/drawing/2014/main" id="{505919CF-DCAD-4367-A303-2474982B217D}"/>
              </a:ext>
            </a:extLst>
          </p:cNvPr>
          <p:cNvCxnSpPr/>
          <p:nvPr/>
        </p:nvCxnSpPr>
        <p:spPr>
          <a:xfrm>
            <a:off x="3627120" y="5513294"/>
            <a:ext cx="10058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D3EDF16-DBB0-48EF-89B0-6B6502E66405}"/>
              </a:ext>
            </a:extLst>
          </p:cNvPr>
          <p:cNvSpPr txBox="1"/>
          <p:nvPr>
            <p:custDataLst>
              <p:tags r:id="rId20"/>
            </p:custDataLst>
          </p:nvPr>
        </p:nvSpPr>
        <p:spPr>
          <a:xfrm>
            <a:off x="3352800" y="5202239"/>
            <a:ext cx="1066800" cy="369332"/>
          </a:xfrm>
          <a:prstGeom prst="rect">
            <a:avLst/>
          </a:prstGeom>
          <a:noFill/>
        </p:spPr>
        <p:txBody>
          <a:bodyPr wrap="square" rtlCol="0" anchor="ctr">
            <a:spAutoFit/>
          </a:bodyPr>
          <a:lstStyle/>
          <a:p>
            <a:pPr algn="ctr"/>
            <a:r>
              <a:rPr lang="en-US" sz="1800" dirty="0">
                <a:latin typeface="+mn-lt"/>
              </a:rPr>
              <a:t>hit?</a:t>
            </a:r>
          </a:p>
        </p:txBody>
      </p:sp>
      <p:grpSp>
        <p:nvGrpSpPr>
          <p:cNvPr id="2" name="Group 1">
            <a:extLst>
              <a:ext uri="{FF2B5EF4-FFF2-40B4-BE49-F238E27FC236}">
                <a16:creationId xmlns:a16="http://schemas.microsoft.com/office/drawing/2014/main" id="{D4CBFDBE-E879-40B0-9DF6-38417B1FB570}"/>
              </a:ext>
            </a:extLst>
          </p:cNvPr>
          <p:cNvGrpSpPr/>
          <p:nvPr>
            <p:custDataLst>
              <p:tags r:id="rId21"/>
            </p:custDataLst>
          </p:nvPr>
        </p:nvGrpSpPr>
        <p:grpSpPr>
          <a:xfrm>
            <a:off x="7391400" y="5950123"/>
            <a:ext cx="609600" cy="396875"/>
            <a:chOff x="8153400" y="5794108"/>
            <a:chExt cx="609600" cy="396875"/>
          </a:xfrm>
        </p:grpSpPr>
        <p:sp>
          <p:nvSpPr>
            <p:cNvPr id="41" name="Freeform 8">
              <a:extLst>
                <a:ext uri="{FF2B5EF4-FFF2-40B4-BE49-F238E27FC236}">
                  <a16:creationId xmlns:a16="http://schemas.microsoft.com/office/drawing/2014/main" id="{F8158F62-36FC-4621-A9A8-82083B14B091}"/>
                </a:ext>
              </a:extLst>
            </p:cNvPr>
            <p:cNvSpPr>
              <a:spLocks/>
            </p:cNvSpPr>
            <p:nvPr>
              <p:custDataLst>
                <p:tags r:id="rId24"/>
              </p:custDataLst>
            </p:nvPr>
          </p:nvSpPr>
          <p:spPr bwMode="auto">
            <a:xfrm>
              <a:off x="8153400" y="582427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bg1"/>
            </a:solidFill>
            <a:ln w="28575">
              <a:solidFill>
                <a:srgbClr val="000000"/>
              </a:solidFill>
              <a:round/>
              <a:headEnd/>
              <a:tailEnd/>
            </a:ln>
          </p:spPr>
          <p:txBody>
            <a:bodyPr wrap="none" anchor="ctr"/>
            <a:lstStyle/>
            <a:p>
              <a:endParaRPr lang="en-US"/>
            </a:p>
          </p:txBody>
        </p:sp>
        <p:sp>
          <p:nvSpPr>
            <p:cNvPr id="42" name="Text Box 9">
              <a:extLst>
                <a:ext uri="{FF2B5EF4-FFF2-40B4-BE49-F238E27FC236}">
                  <a16:creationId xmlns:a16="http://schemas.microsoft.com/office/drawing/2014/main" id="{11ABB66B-0CB6-45AD-B9EE-4ABA7010C630}"/>
                </a:ext>
              </a:extLst>
            </p:cNvPr>
            <p:cNvSpPr txBox="1">
              <a:spLocks noChangeArrowheads="1"/>
            </p:cNvSpPr>
            <p:nvPr>
              <p:custDataLst>
                <p:tags r:id="rId25"/>
              </p:custDataLst>
            </p:nvPr>
          </p:nvSpPr>
          <p:spPr bwMode="auto">
            <a:xfrm>
              <a:off x="8215313" y="579410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rgbClr val="000000"/>
                  </a:solidFill>
                  <a:latin typeface="Arial" panose="020B0604020202020204" pitchFamily="34" charset="0"/>
                </a:rPr>
                <a:t>&lt;&lt;</a:t>
              </a:r>
              <a:endParaRPr lang="en-US" altLang="en-US" sz="1800" dirty="0">
                <a:solidFill>
                  <a:srgbClr val="000000"/>
                </a:solidFill>
                <a:latin typeface="Arial" panose="020B0604020202020204" pitchFamily="34" charset="0"/>
              </a:endParaRPr>
            </a:p>
          </p:txBody>
        </p:sp>
      </p:grpSp>
      <p:cxnSp>
        <p:nvCxnSpPr>
          <p:cNvPr id="43" name="Straight Arrow Connector 42">
            <a:extLst>
              <a:ext uri="{FF2B5EF4-FFF2-40B4-BE49-F238E27FC236}">
                <a16:creationId xmlns:a16="http://schemas.microsoft.com/office/drawing/2014/main" id="{C90C0CAC-7309-4C2F-B5FD-A436FC0B61ED}"/>
              </a:ext>
            </a:extLst>
          </p:cNvPr>
          <p:cNvCxnSpPr/>
          <p:nvPr/>
        </p:nvCxnSpPr>
        <p:spPr>
          <a:xfrm rot="5400000">
            <a:off x="7604760" y="6407958"/>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C9BB4D2-398E-4BA5-B45D-74FC87AF271E}"/>
              </a:ext>
            </a:extLst>
          </p:cNvPr>
          <p:cNvCxnSpPr/>
          <p:nvPr/>
        </p:nvCxnSpPr>
        <p:spPr>
          <a:xfrm>
            <a:off x="518160" y="6096000"/>
            <a:ext cx="69494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63875AD-60C6-47F5-956B-3F8AF6A0DE4B}"/>
              </a:ext>
            </a:extLst>
          </p:cNvPr>
          <p:cNvCxnSpPr/>
          <p:nvPr/>
        </p:nvCxnSpPr>
        <p:spPr>
          <a:xfrm flipV="1">
            <a:off x="541148" y="4191000"/>
            <a:ext cx="1" cy="19202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587E0B9-D0C6-4BEB-BBBE-C2939F1FC832}"/>
              </a:ext>
            </a:extLst>
          </p:cNvPr>
          <p:cNvCxnSpPr/>
          <p:nvPr/>
        </p:nvCxnSpPr>
        <p:spPr>
          <a:xfrm>
            <a:off x="541150" y="4191000"/>
            <a:ext cx="822960"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89626A9-C5FB-4FC1-9B19-25349B453A6D}"/>
              </a:ext>
            </a:extLst>
          </p:cNvPr>
          <p:cNvSpPr txBox="1"/>
          <p:nvPr>
            <p:custDataLst>
              <p:tags r:id="rId22"/>
            </p:custDataLst>
          </p:nvPr>
        </p:nvSpPr>
        <p:spPr>
          <a:xfrm>
            <a:off x="266699" y="5726668"/>
            <a:ext cx="1790699" cy="369332"/>
          </a:xfrm>
          <a:prstGeom prst="rect">
            <a:avLst/>
          </a:prstGeom>
          <a:noFill/>
        </p:spPr>
        <p:txBody>
          <a:bodyPr wrap="square" rtlCol="0" anchor="ctr">
            <a:spAutoFit/>
          </a:bodyPr>
          <a:lstStyle/>
          <a:p>
            <a:pPr algn="ctr"/>
            <a:r>
              <a:rPr lang="en-US" sz="1800" dirty="0">
                <a:latin typeface="+mn-lt"/>
              </a:rPr>
              <a:t>block offset</a:t>
            </a:r>
          </a:p>
        </p:txBody>
      </p:sp>
      <p:sp>
        <p:nvSpPr>
          <p:cNvPr id="22" name="TextBox 21">
            <a:extLst>
              <a:ext uri="{FF2B5EF4-FFF2-40B4-BE49-F238E27FC236}">
                <a16:creationId xmlns:a16="http://schemas.microsoft.com/office/drawing/2014/main" id="{128C01E9-6765-4A72-B779-3980D3EC081A}"/>
              </a:ext>
            </a:extLst>
          </p:cNvPr>
          <p:cNvSpPr txBox="1"/>
          <p:nvPr>
            <p:custDataLst>
              <p:tags r:id="rId23"/>
            </p:custDataLst>
          </p:nvPr>
        </p:nvSpPr>
        <p:spPr>
          <a:xfrm>
            <a:off x="838200" y="3886186"/>
            <a:ext cx="1066800" cy="560308"/>
          </a:xfrm>
          <a:prstGeom prst="rect">
            <a:avLst/>
          </a:prstGeom>
          <a:solidFill>
            <a:schemeClr val="bg1"/>
          </a:solidFill>
          <a:ln w="25400">
            <a:solidFill>
              <a:schemeClr val="tx1"/>
            </a:solidFill>
          </a:ln>
        </p:spPr>
        <p:txBody>
          <a:bodyPr wrap="square" rtlCol="0" anchor="ctr">
            <a:noAutofit/>
          </a:bodyPr>
          <a:lstStyle/>
          <a:p>
            <a:pPr algn="ctr"/>
            <a:r>
              <a:rPr lang="en-US" sz="1800" dirty="0">
                <a:latin typeface="+mn-lt"/>
              </a:rPr>
              <a:t>hash function</a:t>
            </a:r>
          </a:p>
        </p:txBody>
      </p:sp>
    </p:spTree>
    <p:custDataLst>
      <p:tags r:id="rId1"/>
    </p:custDataLst>
    <p:extLst>
      <p:ext uri="{BB962C8B-B14F-4D97-AF65-F5344CB8AC3E}">
        <p14:creationId xmlns:p14="http://schemas.microsoft.com/office/powerpoint/2010/main" val="66100198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6</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custDataLst>
              <p:tags r:id="rId4"/>
            </p:custDataLst>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custDataLst>
              <p:tags r:id="rId5"/>
            </p:custDataLst>
          </p:nvPr>
        </p:nvSpPr>
        <p:spPr>
          <a:xfrm flipV="1">
            <a:off x="6477000" y="5410200"/>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custDataLst>
              <p:tags r:id="rId6"/>
            </p:custDataLst>
          </p:nvPr>
        </p:nvSpPr>
        <p:spPr>
          <a:xfrm>
            <a:off x="4617720" y="5311602"/>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604760" y="5867400"/>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custDataLst>
              <p:tags r:id="rId7"/>
            </p:custDataLst>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custDataLst>
              <p:tags r:id="rId8"/>
            </p:custDataLst>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custDataLst>
              <p:tags r:id="rId9"/>
            </p:custDataLst>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custDataLst>
              <p:tags r:id="rId10"/>
            </p:custDataLst>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custDataLst>
              <p:tags r:id="rId11"/>
            </p:custDataLst>
          </p:nvPr>
        </p:nvSpPr>
        <p:spPr>
          <a:xfrm>
            <a:off x="4736352" y="5211499"/>
            <a:ext cx="1066800" cy="369332"/>
          </a:xfrm>
          <a:prstGeom prst="rect">
            <a:avLst/>
          </a:prstGeom>
          <a:noFill/>
        </p:spPr>
        <p:txBody>
          <a:bodyPr wrap="square" rtlCol="0" anchor="ctr">
            <a:spAutoFit/>
          </a:bodyPr>
          <a:lstStyle/>
          <a:p>
            <a:pPr algn="ctr"/>
            <a:r>
              <a:rPr lang="en-US" sz="1800" dirty="0">
                <a:latin typeface="+mn-lt"/>
              </a:rPr>
              <a:t>hit?</a:t>
            </a:r>
          </a:p>
        </p:txBody>
      </p:sp>
      <p:sp>
        <p:nvSpPr>
          <p:cNvPr id="21" name="TextBox 20">
            <a:extLst>
              <a:ext uri="{FF2B5EF4-FFF2-40B4-BE49-F238E27FC236}">
                <a16:creationId xmlns:a16="http://schemas.microsoft.com/office/drawing/2014/main" id="{D23554DD-1D82-42D6-A8F7-6C72CFDE8D44}"/>
              </a:ext>
            </a:extLst>
          </p:cNvPr>
          <p:cNvSpPr txBox="1"/>
          <p:nvPr>
            <p:custDataLst>
              <p:tags r:id="rId12"/>
            </p:custDataLst>
          </p:nvPr>
        </p:nvSpPr>
        <p:spPr>
          <a:xfrm>
            <a:off x="304800" y="1474695"/>
            <a:ext cx="2057400" cy="369332"/>
          </a:xfrm>
          <a:prstGeom prst="rect">
            <a:avLst/>
          </a:prstGeom>
          <a:noFill/>
        </p:spPr>
        <p:txBody>
          <a:bodyPr wrap="square" rtlCol="0" anchor="ctr">
            <a:spAutoFit/>
          </a:bodyPr>
          <a:lstStyle/>
          <a:p>
            <a:pPr algn="ctr"/>
            <a:r>
              <a:rPr lang="en-US" sz="1800" b="1" dirty="0">
                <a:solidFill>
                  <a:schemeClr val="accent6">
                    <a:lumMod val="75000"/>
                  </a:schemeClr>
                </a:solidFill>
                <a:latin typeface="+mn-lt"/>
              </a:rPr>
              <a:t>address X</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1371599" y="4267200"/>
            <a:ext cx="1" cy="12344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p:nvPr/>
        </p:nvCxnSpPr>
        <p:spPr>
          <a:xfrm>
            <a:off x="1341120" y="5513294"/>
            <a:ext cx="18288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548639" y="3059654"/>
            <a:ext cx="16459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custDataLst>
              <p:tags r:id="rId13"/>
            </p:custDataLst>
          </p:nvPr>
        </p:nvSpPr>
        <p:spPr>
          <a:xfrm>
            <a:off x="7162800" y="6423198"/>
            <a:ext cx="1066800" cy="369332"/>
          </a:xfrm>
          <a:prstGeom prst="rect">
            <a:avLst/>
          </a:prstGeom>
          <a:noFill/>
        </p:spPr>
        <p:txBody>
          <a:bodyPr wrap="square" rtlCol="0" anchor="ctr">
            <a:spAutoFit/>
          </a:bodyPr>
          <a:lstStyle/>
          <a:p>
            <a:pPr algn="ctr"/>
            <a:r>
              <a:rPr lang="en-US" sz="1800" dirty="0">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custDataLst>
              <p:tags r:id="rId14"/>
            </p:custDataLst>
          </p:nvPr>
        </p:nvSpPr>
        <p:spPr>
          <a:xfrm>
            <a:off x="10668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custDataLst>
              <p:tags r:id="rId15"/>
            </p:custDataLst>
          </p:nvPr>
        </p:nvSpPr>
        <p:spPr>
          <a:xfrm>
            <a:off x="1752600" y="3848563"/>
            <a:ext cx="1066800" cy="369332"/>
          </a:xfrm>
          <a:prstGeom prst="rect">
            <a:avLst/>
          </a:prstGeom>
          <a:noFill/>
        </p:spPr>
        <p:txBody>
          <a:bodyPr wrap="square" rtlCol="0" anchor="ctr">
            <a:spAutoFit/>
          </a:bodyPr>
          <a:lstStyle/>
          <a:p>
            <a:pPr algn="ctr"/>
            <a:r>
              <a:rPr lang="en-US" sz="1800" dirty="0">
                <a:latin typeface="+mn-lt"/>
              </a:rPr>
              <a:t>set</a:t>
            </a:r>
          </a:p>
        </p:txBody>
      </p:sp>
      <p:graphicFrame>
        <p:nvGraphicFramePr>
          <p:cNvPr id="30" name="Table 29">
            <a:extLst>
              <a:ext uri="{FF2B5EF4-FFF2-40B4-BE49-F238E27FC236}">
                <a16:creationId xmlns:a16="http://schemas.microsoft.com/office/drawing/2014/main" id="{03723D23-00D9-4EEE-BCFC-EA0193BA23DB}"/>
              </a:ext>
            </a:extLst>
          </p:cNvPr>
          <p:cNvGraphicFramePr>
            <a:graphicFrameLocks noGrp="1"/>
          </p:cNvGraphicFramePr>
          <p:nvPr>
            <p:custDataLst>
              <p:tags r:id="rId16"/>
            </p:custDataLst>
          </p:nvPr>
        </p:nvGraphicFramePr>
        <p:xfrm>
          <a:off x="304800" y="1865854"/>
          <a:ext cx="2057400" cy="3708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1" name="Table 30">
            <a:extLst>
              <a:ext uri="{FF2B5EF4-FFF2-40B4-BE49-F238E27FC236}">
                <a16:creationId xmlns:a16="http://schemas.microsoft.com/office/drawing/2014/main" id="{54C0972A-6FB6-4BD1-A2A7-279661143F1A}"/>
              </a:ext>
            </a:extLst>
          </p:cNvPr>
          <p:cNvGraphicFramePr>
            <a:graphicFrameLocks noGrp="1"/>
          </p:cNvGraphicFramePr>
          <p:nvPr>
            <p:custDataLst>
              <p:tags r:id="rId17"/>
            </p:custDataLst>
          </p:nvPr>
        </p:nvGraphicFramePr>
        <p:xfrm>
          <a:off x="5609215" y="1762760"/>
          <a:ext cx="2932611" cy="370840"/>
        </p:xfrm>
        <a:graphic>
          <a:graphicData uri="http://schemas.openxmlformats.org/drawingml/2006/table">
            <a:tbl>
              <a:tblPr bandRow="1">
                <a:tableStyleId>{5C22544A-7EE6-4342-B048-85BDC9FD1C3A}</a:tableStyleId>
              </a:tblPr>
              <a:tblGrid>
                <a:gridCol w="1485828">
                  <a:extLst>
                    <a:ext uri="{9D8B030D-6E8A-4147-A177-3AD203B41FA5}">
                      <a16:colId xmlns:a16="http://schemas.microsoft.com/office/drawing/2014/main" val="1797276752"/>
                    </a:ext>
                  </a:extLst>
                </a:gridCol>
                <a:gridCol w="690296">
                  <a:extLst>
                    <a:ext uri="{9D8B030D-6E8A-4147-A177-3AD203B41FA5}">
                      <a16:colId xmlns:a16="http://schemas.microsoft.com/office/drawing/2014/main" val="3840450956"/>
                    </a:ext>
                  </a:extLst>
                </a:gridCol>
                <a:gridCol w="756487">
                  <a:extLst>
                    <a:ext uri="{9D8B030D-6E8A-4147-A177-3AD203B41FA5}">
                      <a16:colId xmlns:a16="http://schemas.microsoft.com/office/drawing/2014/main" val="4102295519"/>
                    </a:ext>
                  </a:extLst>
                </a:gridCol>
              </a:tblGrid>
              <a:tr h="370840">
                <a:tc>
                  <a:txBody>
                    <a:bodyPr/>
                    <a:lstStyle/>
                    <a:p>
                      <a:pPr algn="ctr"/>
                      <a:r>
                        <a:rPr lang="en-US" b="1" dirty="0"/>
                        <a:t>tag</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set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offset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0992992"/>
                  </a:ext>
                </a:extLst>
              </a:tr>
            </a:tbl>
          </a:graphicData>
        </a:graphic>
      </p:graphicFrame>
      <p:sp>
        <p:nvSpPr>
          <p:cNvPr id="33" name="TextBox 32">
            <a:extLst>
              <a:ext uri="{FF2B5EF4-FFF2-40B4-BE49-F238E27FC236}">
                <a16:creationId xmlns:a16="http://schemas.microsoft.com/office/drawing/2014/main" id="{AD250D8B-E519-4A72-BF23-F80DDE35AC3F}"/>
              </a:ext>
            </a:extLst>
          </p:cNvPr>
          <p:cNvSpPr txBox="1"/>
          <p:nvPr>
            <p:custDataLst>
              <p:tags r:id="rId18"/>
            </p:custDataLst>
          </p:nvPr>
        </p:nvSpPr>
        <p:spPr>
          <a:xfrm>
            <a:off x="5181600" y="1392528"/>
            <a:ext cx="3360226" cy="578637"/>
          </a:xfrm>
          <a:prstGeom prst="rect">
            <a:avLst/>
          </a:prstGeom>
          <a:noFill/>
        </p:spPr>
        <p:txBody>
          <a:bodyPr wrap="square" rtlCol="0" anchor="t">
            <a:noAutofit/>
          </a:bodyPr>
          <a:lstStyle/>
          <a:p>
            <a:pPr algn="ctr"/>
            <a:r>
              <a:rPr lang="en-US" sz="2000" b="1" dirty="0">
                <a:latin typeface="+mn-lt"/>
              </a:rPr>
              <a:t>Standard hash function:</a:t>
            </a:r>
          </a:p>
        </p:txBody>
      </p:sp>
      <p:cxnSp>
        <p:nvCxnSpPr>
          <p:cNvPr id="32" name="Straight Arrow Connector 31">
            <a:extLst>
              <a:ext uri="{FF2B5EF4-FFF2-40B4-BE49-F238E27FC236}">
                <a16:creationId xmlns:a16="http://schemas.microsoft.com/office/drawing/2014/main" id="{679A27B7-866F-4D2D-8BCC-C737D362167D}"/>
              </a:ext>
            </a:extLst>
          </p:cNvPr>
          <p:cNvCxnSpPr/>
          <p:nvPr/>
        </p:nvCxnSpPr>
        <p:spPr>
          <a:xfrm rot="5400000">
            <a:off x="2880360" y="4709160"/>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5D2773F-F3F7-44B5-884D-8B184D0DB4BA}"/>
              </a:ext>
            </a:extLst>
          </p:cNvPr>
          <p:cNvCxnSpPr/>
          <p:nvPr/>
        </p:nvCxnSpPr>
        <p:spPr>
          <a:xfrm>
            <a:off x="3276600" y="414528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A5569DC-1A1A-47AB-9B3F-4F628586BB37}"/>
              </a:ext>
            </a:extLst>
          </p:cNvPr>
          <p:cNvCxnSpPr/>
          <p:nvPr/>
        </p:nvCxnSpPr>
        <p:spPr>
          <a:xfrm rot="5400000">
            <a:off x="6217920" y="4770120"/>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21A3F71-2F44-498D-A591-A652E8CA6DA4}"/>
              </a:ext>
            </a:extLst>
          </p:cNvPr>
          <p:cNvCxnSpPr/>
          <p:nvPr/>
        </p:nvCxnSpPr>
        <p:spPr>
          <a:xfrm>
            <a:off x="6705600" y="411480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9EAAD497-4CC8-401F-BCFF-B4E9F6E4EBD5}"/>
              </a:ext>
            </a:extLst>
          </p:cNvPr>
          <p:cNvSpPr/>
          <p:nvPr>
            <p:custDataLst>
              <p:tags r:id="rId19"/>
            </p:custDataLst>
          </p:nvPr>
        </p:nvSpPr>
        <p:spPr>
          <a:xfrm>
            <a:off x="3200400" y="5303520"/>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38" name="Straight Arrow Connector 37">
            <a:extLst>
              <a:ext uri="{FF2B5EF4-FFF2-40B4-BE49-F238E27FC236}">
                <a16:creationId xmlns:a16="http://schemas.microsoft.com/office/drawing/2014/main" id="{505919CF-DCAD-4367-A303-2474982B217D}"/>
              </a:ext>
            </a:extLst>
          </p:cNvPr>
          <p:cNvCxnSpPr/>
          <p:nvPr/>
        </p:nvCxnSpPr>
        <p:spPr>
          <a:xfrm>
            <a:off x="3627120" y="5513294"/>
            <a:ext cx="10058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D3EDF16-DBB0-48EF-89B0-6B6502E66405}"/>
              </a:ext>
            </a:extLst>
          </p:cNvPr>
          <p:cNvSpPr txBox="1"/>
          <p:nvPr>
            <p:custDataLst>
              <p:tags r:id="rId20"/>
            </p:custDataLst>
          </p:nvPr>
        </p:nvSpPr>
        <p:spPr>
          <a:xfrm>
            <a:off x="3352800" y="5202239"/>
            <a:ext cx="1066800" cy="369332"/>
          </a:xfrm>
          <a:prstGeom prst="rect">
            <a:avLst/>
          </a:prstGeom>
          <a:noFill/>
        </p:spPr>
        <p:txBody>
          <a:bodyPr wrap="square" rtlCol="0" anchor="ctr">
            <a:spAutoFit/>
          </a:bodyPr>
          <a:lstStyle/>
          <a:p>
            <a:pPr algn="ctr"/>
            <a:r>
              <a:rPr lang="en-US" sz="1800" dirty="0">
                <a:latin typeface="+mn-lt"/>
              </a:rPr>
              <a:t>hit?</a:t>
            </a:r>
          </a:p>
        </p:txBody>
      </p:sp>
      <p:grpSp>
        <p:nvGrpSpPr>
          <p:cNvPr id="2" name="Group 1">
            <a:extLst>
              <a:ext uri="{FF2B5EF4-FFF2-40B4-BE49-F238E27FC236}">
                <a16:creationId xmlns:a16="http://schemas.microsoft.com/office/drawing/2014/main" id="{D4CBFDBE-E879-40B0-9DF6-38417B1FB570}"/>
              </a:ext>
            </a:extLst>
          </p:cNvPr>
          <p:cNvGrpSpPr/>
          <p:nvPr>
            <p:custDataLst>
              <p:tags r:id="rId21"/>
            </p:custDataLst>
          </p:nvPr>
        </p:nvGrpSpPr>
        <p:grpSpPr>
          <a:xfrm>
            <a:off x="7391400" y="5950123"/>
            <a:ext cx="609600" cy="396875"/>
            <a:chOff x="8153400" y="5794108"/>
            <a:chExt cx="609600" cy="396875"/>
          </a:xfrm>
        </p:grpSpPr>
        <p:sp>
          <p:nvSpPr>
            <p:cNvPr id="41" name="Freeform 8">
              <a:extLst>
                <a:ext uri="{FF2B5EF4-FFF2-40B4-BE49-F238E27FC236}">
                  <a16:creationId xmlns:a16="http://schemas.microsoft.com/office/drawing/2014/main" id="{F8158F62-36FC-4621-A9A8-82083B14B091}"/>
                </a:ext>
              </a:extLst>
            </p:cNvPr>
            <p:cNvSpPr>
              <a:spLocks/>
            </p:cNvSpPr>
            <p:nvPr>
              <p:custDataLst>
                <p:tags r:id="rId26"/>
              </p:custDataLst>
            </p:nvPr>
          </p:nvSpPr>
          <p:spPr bwMode="auto">
            <a:xfrm>
              <a:off x="8153400" y="582427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bg1"/>
            </a:solidFill>
            <a:ln w="28575">
              <a:solidFill>
                <a:srgbClr val="000000"/>
              </a:solidFill>
              <a:round/>
              <a:headEnd/>
              <a:tailEnd/>
            </a:ln>
          </p:spPr>
          <p:txBody>
            <a:bodyPr wrap="none" anchor="ctr"/>
            <a:lstStyle/>
            <a:p>
              <a:endParaRPr lang="en-US"/>
            </a:p>
          </p:txBody>
        </p:sp>
        <p:sp>
          <p:nvSpPr>
            <p:cNvPr id="42" name="Text Box 9">
              <a:extLst>
                <a:ext uri="{FF2B5EF4-FFF2-40B4-BE49-F238E27FC236}">
                  <a16:creationId xmlns:a16="http://schemas.microsoft.com/office/drawing/2014/main" id="{11ABB66B-0CB6-45AD-B9EE-4ABA7010C630}"/>
                </a:ext>
              </a:extLst>
            </p:cNvPr>
            <p:cNvSpPr txBox="1">
              <a:spLocks noChangeArrowheads="1"/>
            </p:cNvSpPr>
            <p:nvPr>
              <p:custDataLst>
                <p:tags r:id="rId27"/>
              </p:custDataLst>
            </p:nvPr>
          </p:nvSpPr>
          <p:spPr bwMode="auto">
            <a:xfrm>
              <a:off x="8215313" y="579410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rgbClr val="000000"/>
                  </a:solidFill>
                  <a:latin typeface="Arial" panose="020B0604020202020204" pitchFamily="34" charset="0"/>
                </a:rPr>
                <a:t>&lt;&lt;</a:t>
              </a:r>
              <a:endParaRPr lang="en-US" altLang="en-US" sz="1800" dirty="0">
                <a:solidFill>
                  <a:srgbClr val="000000"/>
                </a:solidFill>
                <a:latin typeface="Arial" panose="020B0604020202020204" pitchFamily="34" charset="0"/>
              </a:endParaRPr>
            </a:p>
          </p:txBody>
        </p:sp>
      </p:grpSp>
      <p:cxnSp>
        <p:nvCxnSpPr>
          <p:cNvPr id="43" name="Straight Arrow Connector 42">
            <a:extLst>
              <a:ext uri="{FF2B5EF4-FFF2-40B4-BE49-F238E27FC236}">
                <a16:creationId xmlns:a16="http://schemas.microsoft.com/office/drawing/2014/main" id="{C90C0CAC-7309-4C2F-B5FD-A436FC0B61ED}"/>
              </a:ext>
            </a:extLst>
          </p:cNvPr>
          <p:cNvCxnSpPr/>
          <p:nvPr/>
        </p:nvCxnSpPr>
        <p:spPr>
          <a:xfrm rot="5400000">
            <a:off x="7604760" y="6407958"/>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C9BB4D2-398E-4BA5-B45D-74FC87AF271E}"/>
              </a:ext>
            </a:extLst>
          </p:cNvPr>
          <p:cNvCxnSpPr/>
          <p:nvPr/>
        </p:nvCxnSpPr>
        <p:spPr>
          <a:xfrm>
            <a:off x="518160" y="6096000"/>
            <a:ext cx="69494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63875AD-60C6-47F5-956B-3F8AF6A0DE4B}"/>
              </a:ext>
            </a:extLst>
          </p:cNvPr>
          <p:cNvCxnSpPr/>
          <p:nvPr/>
        </p:nvCxnSpPr>
        <p:spPr>
          <a:xfrm flipV="1">
            <a:off x="541148" y="4191000"/>
            <a:ext cx="1" cy="19202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587E0B9-D0C6-4BEB-BBBE-C2939F1FC832}"/>
              </a:ext>
            </a:extLst>
          </p:cNvPr>
          <p:cNvCxnSpPr/>
          <p:nvPr/>
        </p:nvCxnSpPr>
        <p:spPr>
          <a:xfrm>
            <a:off x="541150" y="4191000"/>
            <a:ext cx="822960"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89626A9-C5FB-4FC1-9B19-25349B453A6D}"/>
              </a:ext>
            </a:extLst>
          </p:cNvPr>
          <p:cNvSpPr txBox="1"/>
          <p:nvPr>
            <p:custDataLst>
              <p:tags r:id="rId22"/>
            </p:custDataLst>
          </p:nvPr>
        </p:nvSpPr>
        <p:spPr>
          <a:xfrm>
            <a:off x="266699" y="5726668"/>
            <a:ext cx="1790699" cy="369332"/>
          </a:xfrm>
          <a:prstGeom prst="rect">
            <a:avLst/>
          </a:prstGeom>
          <a:noFill/>
        </p:spPr>
        <p:txBody>
          <a:bodyPr wrap="square" rtlCol="0" anchor="ctr">
            <a:spAutoFit/>
          </a:bodyPr>
          <a:lstStyle/>
          <a:p>
            <a:pPr algn="ctr"/>
            <a:r>
              <a:rPr lang="en-US" sz="1800" dirty="0">
                <a:latin typeface="+mn-lt"/>
              </a:rPr>
              <a:t>block offset</a:t>
            </a:r>
          </a:p>
        </p:txBody>
      </p:sp>
      <p:sp>
        <p:nvSpPr>
          <p:cNvPr id="22" name="TextBox 21">
            <a:extLst>
              <a:ext uri="{FF2B5EF4-FFF2-40B4-BE49-F238E27FC236}">
                <a16:creationId xmlns:a16="http://schemas.microsoft.com/office/drawing/2014/main" id="{128C01E9-6765-4A72-B779-3980D3EC081A}"/>
              </a:ext>
            </a:extLst>
          </p:cNvPr>
          <p:cNvSpPr txBox="1"/>
          <p:nvPr>
            <p:custDataLst>
              <p:tags r:id="rId23"/>
            </p:custDataLst>
          </p:nvPr>
        </p:nvSpPr>
        <p:spPr>
          <a:xfrm>
            <a:off x="838200" y="3886186"/>
            <a:ext cx="1066800" cy="560308"/>
          </a:xfrm>
          <a:prstGeom prst="rect">
            <a:avLst/>
          </a:prstGeom>
          <a:solidFill>
            <a:schemeClr val="bg1"/>
          </a:solidFill>
          <a:ln w="25400">
            <a:solidFill>
              <a:schemeClr val="tx1"/>
            </a:solidFill>
          </a:ln>
        </p:spPr>
        <p:txBody>
          <a:bodyPr wrap="square" rtlCol="0" anchor="ctr">
            <a:noAutofit/>
          </a:bodyPr>
          <a:lstStyle/>
          <a:p>
            <a:pPr algn="ctr"/>
            <a:r>
              <a:rPr lang="en-US" sz="1800" dirty="0">
                <a:latin typeface="+mn-lt"/>
              </a:rPr>
              <a:t>hash function</a:t>
            </a:r>
          </a:p>
        </p:txBody>
      </p:sp>
      <p:sp>
        <p:nvSpPr>
          <p:cNvPr id="48" name="Rectangle 47">
            <a:extLst>
              <a:ext uri="{FF2B5EF4-FFF2-40B4-BE49-F238E27FC236}">
                <a16:creationId xmlns:a16="http://schemas.microsoft.com/office/drawing/2014/main" id="{85F4DEAD-FA83-4F14-866F-D27D87B9008B}"/>
              </a:ext>
            </a:extLst>
          </p:cNvPr>
          <p:cNvSpPr/>
          <p:nvPr>
            <p:custDataLst>
              <p:tags r:id="rId24"/>
            </p:custDataLst>
          </p:nvPr>
        </p:nvSpPr>
        <p:spPr>
          <a:xfrm>
            <a:off x="0" y="5211499"/>
            <a:ext cx="9143997" cy="1630929"/>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56E4592B-0351-43CD-87F1-D1D4550E3BF9}"/>
              </a:ext>
            </a:extLst>
          </p:cNvPr>
          <p:cNvSpPr txBox="1"/>
          <p:nvPr>
            <p:custDataLst>
              <p:tags r:id="rId25"/>
            </p:custDataLst>
          </p:nvPr>
        </p:nvSpPr>
        <p:spPr>
          <a:xfrm>
            <a:off x="381000" y="5257800"/>
            <a:ext cx="8496301" cy="1186319"/>
          </a:xfrm>
          <a:prstGeom prst="rect">
            <a:avLst/>
          </a:prstGeom>
          <a:noFill/>
        </p:spPr>
        <p:txBody>
          <a:bodyPr wrap="square" rtlCol="0" anchor="t">
            <a:noAutofit/>
          </a:bodyPr>
          <a:lstStyle/>
          <a:p>
            <a:r>
              <a:rPr lang="en-US" sz="2400" dirty="0">
                <a:latin typeface="+mn-lt"/>
              </a:rPr>
              <a:t>e.g., Given 32-bit addresses and 64B blocks, what is the minimum number of tag bits needed in a 16-way associative 128KB cache?</a:t>
            </a:r>
          </a:p>
          <a:p>
            <a:pPr marL="457200" indent="-457200">
              <a:buFont typeface="Wingdings" panose="05000000000000000000" pitchFamily="2" charset="2"/>
              <a:buChar char="Ø"/>
            </a:pPr>
            <a:r>
              <a:rPr lang="en-US" sz="2000" dirty="0">
                <a:latin typeface="+mn-lt"/>
              </a:rPr>
              <a:t>(128KB / 64B per block) / 16 ways = 128 sets</a:t>
            </a:r>
          </a:p>
          <a:p>
            <a:pPr marL="457200" indent="-457200">
              <a:buFont typeface="Wingdings" panose="05000000000000000000" pitchFamily="2" charset="2"/>
              <a:buChar char="Ø"/>
            </a:pPr>
            <a:r>
              <a:rPr lang="en-US" sz="2000" dirty="0">
                <a:latin typeface="+mn-lt"/>
              </a:rPr>
              <a:t>32 bits – log(64B per block) – log(128 sets) = 19 tag bits</a:t>
            </a:r>
          </a:p>
        </p:txBody>
      </p:sp>
    </p:spTree>
    <p:custDataLst>
      <p:tags r:id="rId1"/>
    </p:custDataLst>
    <p:extLst>
      <p:ext uri="{BB962C8B-B14F-4D97-AF65-F5344CB8AC3E}">
        <p14:creationId xmlns:p14="http://schemas.microsoft.com/office/powerpoint/2010/main" val="16301457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7</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custDataLst>
              <p:tags r:id="rId4"/>
            </p:custDataLst>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custDataLst>
              <p:tags r:id="rId5"/>
            </p:custDataLst>
          </p:nvPr>
        </p:nvSpPr>
        <p:spPr>
          <a:xfrm flipV="1">
            <a:off x="6477000" y="5410200"/>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custDataLst>
              <p:tags r:id="rId6"/>
            </p:custDataLst>
          </p:nvPr>
        </p:nvSpPr>
        <p:spPr>
          <a:xfrm>
            <a:off x="4617720" y="5311602"/>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604760" y="5867400"/>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custDataLst>
              <p:tags r:id="rId7"/>
            </p:custDataLst>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custDataLst>
              <p:tags r:id="rId8"/>
            </p:custDataLst>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custDataLst>
              <p:tags r:id="rId9"/>
            </p:custDataLst>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custDataLst>
              <p:tags r:id="rId10"/>
            </p:custDataLst>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custDataLst>
              <p:tags r:id="rId11"/>
            </p:custDataLst>
          </p:nvPr>
        </p:nvSpPr>
        <p:spPr>
          <a:xfrm>
            <a:off x="4736352" y="5211499"/>
            <a:ext cx="1066800" cy="369332"/>
          </a:xfrm>
          <a:prstGeom prst="rect">
            <a:avLst/>
          </a:prstGeom>
          <a:noFill/>
        </p:spPr>
        <p:txBody>
          <a:bodyPr wrap="square" rtlCol="0" anchor="ctr">
            <a:spAutoFit/>
          </a:bodyPr>
          <a:lstStyle/>
          <a:p>
            <a:pPr algn="ctr"/>
            <a:r>
              <a:rPr lang="en-US" sz="1800" dirty="0">
                <a:latin typeface="+mn-lt"/>
              </a:rPr>
              <a:t>hit?</a:t>
            </a:r>
          </a:p>
        </p:txBody>
      </p:sp>
      <p:sp>
        <p:nvSpPr>
          <p:cNvPr id="21" name="TextBox 20">
            <a:extLst>
              <a:ext uri="{FF2B5EF4-FFF2-40B4-BE49-F238E27FC236}">
                <a16:creationId xmlns:a16="http://schemas.microsoft.com/office/drawing/2014/main" id="{D23554DD-1D82-42D6-A8F7-6C72CFDE8D44}"/>
              </a:ext>
            </a:extLst>
          </p:cNvPr>
          <p:cNvSpPr txBox="1"/>
          <p:nvPr>
            <p:custDataLst>
              <p:tags r:id="rId12"/>
            </p:custDataLst>
          </p:nvPr>
        </p:nvSpPr>
        <p:spPr>
          <a:xfrm>
            <a:off x="304800" y="1474695"/>
            <a:ext cx="2057400" cy="369332"/>
          </a:xfrm>
          <a:prstGeom prst="rect">
            <a:avLst/>
          </a:prstGeom>
          <a:noFill/>
        </p:spPr>
        <p:txBody>
          <a:bodyPr wrap="square" rtlCol="0" anchor="ctr">
            <a:spAutoFit/>
          </a:bodyPr>
          <a:lstStyle/>
          <a:p>
            <a:pPr algn="ctr"/>
            <a:r>
              <a:rPr lang="en-US" sz="1800" b="1" dirty="0">
                <a:solidFill>
                  <a:schemeClr val="accent6">
                    <a:lumMod val="75000"/>
                  </a:schemeClr>
                </a:solidFill>
                <a:latin typeface="+mn-lt"/>
              </a:rPr>
              <a:t>address X</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1371599" y="4267200"/>
            <a:ext cx="1" cy="12344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p:nvPr/>
        </p:nvCxnSpPr>
        <p:spPr>
          <a:xfrm>
            <a:off x="1341120" y="5513294"/>
            <a:ext cx="18288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548639" y="3059654"/>
            <a:ext cx="16459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custDataLst>
              <p:tags r:id="rId13"/>
            </p:custDataLst>
          </p:nvPr>
        </p:nvSpPr>
        <p:spPr>
          <a:xfrm>
            <a:off x="7162800" y="6423198"/>
            <a:ext cx="1066800" cy="369332"/>
          </a:xfrm>
          <a:prstGeom prst="rect">
            <a:avLst/>
          </a:prstGeom>
          <a:noFill/>
        </p:spPr>
        <p:txBody>
          <a:bodyPr wrap="square" rtlCol="0" anchor="ctr">
            <a:spAutoFit/>
          </a:bodyPr>
          <a:lstStyle/>
          <a:p>
            <a:pPr algn="ctr"/>
            <a:r>
              <a:rPr lang="en-US" sz="1800" dirty="0">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custDataLst>
              <p:tags r:id="rId14"/>
            </p:custDataLst>
          </p:nvPr>
        </p:nvSpPr>
        <p:spPr>
          <a:xfrm>
            <a:off x="10668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custDataLst>
              <p:tags r:id="rId15"/>
            </p:custDataLst>
          </p:nvPr>
        </p:nvSpPr>
        <p:spPr>
          <a:xfrm>
            <a:off x="1752600" y="3848563"/>
            <a:ext cx="1066800" cy="369332"/>
          </a:xfrm>
          <a:prstGeom prst="rect">
            <a:avLst/>
          </a:prstGeom>
          <a:noFill/>
        </p:spPr>
        <p:txBody>
          <a:bodyPr wrap="square" rtlCol="0" anchor="ctr">
            <a:spAutoFit/>
          </a:bodyPr>
          <a:lstStyle/>
          <a:p>
            <a:pPr algn="ctr"/>
            <a:r>
              <a:rPr lang="en-US" sz="1800" dirty="0">
                <a:latin typeface="+mn-lt"/>
              </a:rPr>
              <a:t>set</a:t>
            </a:r>
          </a:p>
        </p:txBody>
      </p:sp>
      <p:graphicFrame>
        <p:nvGraphicFramePr>
          <p:cNvPr id="30" name="Table 29">
            <a:extLst>
              <a:ext uri="{FF2B5EF4-FFF2-40B4-BE49-F238E27FC236}">
                <a16:creationId xmlns:a16="http://schemas.microsoft.com/office/drawing/2014/main" id="{03723D23-00D9-4EEE-BCFC-EA0193BA23DB}"/>
              </a:ext>
            </a:extLst>
          </p:cNvPr>
          <p:cNvGraphicFramePr>
            <a:graphicFrameLocks noGrp="1"/>
          </p:cNvGraphicFramePr>
          <p:nvPr>
            <p:custDataLst>
              <p:tags r:id="rId16"/>
            </p:custDataLst>
          </p:nvPr>
        </p:nvGraphicFramePr>
        <p:xfrm>
          <a:off x="304800" y="1865854"/>
          <a:ext cx="2057400" cy="3708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31" name="Table 30">
            <a:extLst>
              <a:ext uri="{FF2B5EF4-FFF2-40B4-BE49-F238E27FC236}">
                <a16:creationId xmlns:a16="http://schemas.microsoft.com/office/drawing/2014/main" id="{54C0972A-6FB6-4BD1-A2A7-279661143F1A}"/>
              </a:ext>
            </a:extLst>
          </p:cNvPr>
          <p:cNvGraphicFramePr>
            <a:graphicFrameLocks noGrp="1"/>
          </p:cNvGraphicFramePr>
          <p:nvPr>
            <p:custDataLst>
              <p:tags r:id="rId17"/>
            </p:custDataLst>
          </p:nvPr>
        </p:nvGraphicFramePr>
        <p:xfrm>
          <a:off x="5609215" y="1762760"/>
          <a:ext cx="2932611" cy="370840"/>
        </p:xfrm>
        <a:graphic>
          <a:graphicData uri="http://schemas.openxmlformats.org/drawingml/2006/table">
            <a:tbl>
              <a:tblPr bandRow="1">
                <a:tableStyleId>{5C22544A-7EE6-4342-B048-85BDC9FD1C3A}</a:tableStyleId>
              </a:tblPr>
              <a:tblGrid>
                <a:gridCol w="1485828">
                  <a:extLst>
                    <a:ext uri="{9D8B030D-6E8A-4147-A177-3AD203B41FA5}">
                      <a16:colId xmlns:a16="http://schemas.microsoft.com/office/drawing/2014/main" val="1797276752"/>
                    </a:ext>
                  </a:extLst>
                </a:gridCol>
                <a:gridCol w="690296">
                  <a:extLst>
                    <a:ext uri="{9D8B030D-6E8A-4147-A177-3AD203B41FA5}">
                      <a16:colId xmlns:a16="http://schemas.microsoft.com/office/drawing/2014/main" val="3840450956"/>
                    </a:ext>
                  </a:extLst>
                </a:gridCol>
                <a:gridCol w="756487">
                  <a:extLst>
                    <a:ext uri="{9D8B030D-6E8A-4147-A177-3AD203B41FA5}">
                      <a16:colId xmlns:a16="http://schemas.microsoft.com/office/drawing/2014/main" val="4102295519"/>
                    </a:ext>
                  </a:extLst>
                </a:gridCol>
              </a:tblGrid>
              <a:tr h="370840">
                <a:tc>
                  <a:txBody>
                    <a:bodyPr/>
                    <a:lstStyle/>
                    <a:p>
                      <a:pPr algn="ctr"/>
                      <a:r>
                        <a:rPr lang="en-US" b="1" dirty="0"/>
                        <a:t>tag</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set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offset</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0992992"/>
                  </a:ext>
                </a:extLst>
              </a:tr>
            </a:tbl>
          </a:graphicData>
        </a:graphic>
      </p:graphicFrame>
      <p:sp>
        <p:nvSpPr>
          <p:cNvPr id="33" name="TextBox 32">
            <a:extLst>
              <a:ext uri="{FF2B5EF4-FFF2-40B4-BE49-F238E27FC236}">
                <a16:creationId xmlns:a16="http://schemas.microsoft.com/office/drawing/2014/main" id="{AD250D8B-E519-4A72-BF23-F80DDE35AC3F}"/>
              </a:ext>
            </a:extLst>
          </p:cNvPr>
          <p:cNvSpPr txBox="1"/>
          <p:nvPr>
            <p:custDataLst>
              <p:tags r:id="rId18"/>
            </p:custDataLst>
          </p:nvPr>
        </p:nvSpPr>
        <p:spPr>
          <a:xfrm>
            <a:off x="5181600" y="1392528"/>
            <a:ext cx="3360226" cy="578637"/>
          </a:xfrm>
          <a:prstGeom prst="rect">
            <a:avLst/>
          </a:prstGeom>
          <a:noFill/>
        </p:spPr>
        <p:txBody>
          <a:bodyPr wrap="square" rtlCol="0" anchor="t">
            <a:noAutofit/>
          </a:bodyPr>
          <a:lstStyle/>
          <a:p>
            <a:pPr algn="ctr"/>
            <a:r>
              <a:rPr lang="en-US" sz="2000" b="1" dirty="0">
                <a:latin typeface="+mn-lt"/>
              </a:rPr>
              <a:t>Standard hash function:</a:t>
            </a:r>
          </a:p>
        </p:txBody>
      </p:sp>
      <p:cxnSp>
        <p:nvCxnSpPr>
          <p:cNvPr id="32" name="Straight Arrow Connector 31">
            <a:extLst>
              <a:ext uri="{FF2B5EF4-FFF2-40B4-BE49-F238E27FC236}">
                <a16:creationId xmlns:a16="http://schemas.microsoft.com/office/drawing/2014/main" id="{679A27B7-866F-4D2D-8BCC-C737D362167D}"/>
              </a:ext>
            </a:extLst>
          </p:cNvPr>
          <p:cNvCxnSpPr/>
          <p:nvPr/>
        </p:nvCxnSpPr>
        <p:spPr>
          <a:xfrm rot="5400000">
            <a:off x="2880360" y="4709160"/>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5D2773F-F3F7-44B5-884D-8B184D0DB4BA}"/>
              </a:ext>
            </a:extLst>
          </p:cNvPr>
          <p:cNvCxnSpPr/>
          <p:nvPr/>
        </p:nvCxnSpPr>
        <p:spPr>
          <a:xfrm>
            <a:off x="3276600" y="414528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A5569DC-1A1A-47AB-9B3F-4F628586BB37}"/>
              </a:ext>
            </a:extLst>
          </p:cNvPr>
          <p:cNvCxnSpPr/>
          <p:nvPr/>
        </p:nvCxnSpPr>
        <p:spPr>
          <a:xfrm rot="5400000">
            <a:off x="6217920" y="4770120"/>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21A3F71-2F44-498D-A591-A652E8CA6DA4}"/>
              </a:ext>
            </a:extLst>
          </p:cNvPr>
          <p:cNvCxnSpPr/>
          <p:nvPr/>
        </p:nvCxnSpPr>
        <p:spPr>
          <a:xfrm>
            <a:off x="6705600" y="411480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9EAAD497-4CC8-401F-BCFF-B4E9F6E4EBD5}"/>
              </a:ext>
            </a:extLst>
          </p:cNvPr>
          <p:cNvSpPr/>
          <p:nvPr>
            <p:custDataLst>
              <p:tags r:id="rId19"/>
            </p:custDataLst>
          </p:nvPr>
        </p:nvSpPr>
        <p:spPr>
          <a:xfrm>
            <a:off x="3200400" y="5303520"/>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38" name="Straight Arrow Connector 37">
            <a:extLst>
              <a:ext uri="{FF2B5EF4-FFF2-40B4-BE49-F238E27FC236}">
                <a16:creationId xmlns:a16="http://schemas.microsoft.com/office/drawing/2014/main" id="{505919CF-DCAD-4367-A303-2474982B217D}"/>
              </a:ext>
            </a:extLst>
          </p:cNvPr>
          <p:cNvCxnSpPr/>
          <p:nvPr/>
        </p:nvCxnSpPr>
        <p:spPr>
          <a:xfrm>
            <a:off x="3627120" y="5513294"/>
            <a:ext cx="10058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D3EDF16-DBB0-48EF-89B0-6B6502E66405}"/>
              </a:ext>
            </a:extLst>
          </p:cNvPr>
          <p:cNvSpPr txBox="1"/>
          <p:nvPr>
            <p:custDataLst>
              <p:tags r:id="rId20"/>
            </p:custDataLst>
          </p:nvPr>
        </p:nvSpPr>
        <p:spPr>
          <a:xfrm>
            <a:off x="3352800" y="5202239"/>
            <a:ext cx="1066800" cy="369332"/>
          </a:xfrm>
          <a:prstGeom prst="rect">
            <a:avLst/>
          </a:prstGeom>
          <a:noFill/>
        </p:spPr>
        <p:txBody>
          <a:bodyPr wrap="square" rtlCol="0" anchor="ctr">
            <a:spAutoFit/>
          </a:bodyPr>
          <a:lstStyle/>
          <a:p>
            <a:pPr algn="ctr"/>
            <a:r>
              <a:rPr lang="en-US" sz="1800" dirty="0">
                <a:latin typeface="+mn-lt"/>
              </a:rPr>
              <a:t>hit?</a:t>
            </a:r>
          </a:p>
        </p:txBody>
      </p:sp>
      <p:grpSp>
        <p:nvGrpSpPr>
          <p:cNvPr id="2" name="Group 1">
            <a:extLst>
              <a:ext uri="{FF2B5EF4-FFF2-40B4-BE49-F238E27FC236}">
                <a16:creationId xmlns:a16="http://schemas.microsoft.com/office/drawing/2014/main" id="{D4CBFDBE-E879-40B0-9DF6-38417B1FB570}"/>
              </a:ext>
            </a:extLst>
          </p:cNvPr>
          <p:cNvGrpSpPr/>
          <p:nvPr>
            <p:custDataLst>
              <p:tags r:id="rId21"/>
            </p:custDataLst>
          </p:nvPr>
        </p:nvGrpSpPr>
        <p:grpSpPr>
          <a:xfrm>
            <a:off x="7391400" y="5950123"/>
            <a:ext cx="609600" cy="396875"/>
            <a:chOff x="8153400" y="5794108"/>
            <a:chExt cx="609600" cy="396875"/>
          </a:xfrm>
        </p:grpSpPr>
        <p:sp>
          <p:nvSpPr>
            <p:cNvPr id="41" name="Freeform 8">
              <a:extLst>
                <a:ext uri="{FF2B5EF4-FFF2-40B4-BE49-F238E27FC236}">
                  <a16:creationId xmlns:a16="http://schemas.microsoft.com/office/drawing/2014/main" id="{F8158F62-36FC-4621-A9A8-82083B14B091}"/>
                </a:ext>
              </a:extLst>
            </p:cNvPr>
            <p:cNvSpPr>
              <a:spLocks/>
            </p:cNvSpPr>
            <p:nvPr>
              <p:custDataLst>
                <p:tags r:id="rId26"/>
              </p:custDataLst>
            </p:nvPr>
          </p:nvSpPr>
          <p:spPr bwMode="auto">
            <a:xfrm>
              <a:off x="8153400" y="582427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bg1"/>
            </a:solidFill>
            <a:ln w="28575">
              <a:solidFill>
                <a:srgbClr val="000000"/>
              </a:solidFill>
              <a:round/>
              <a:headEnd/>
              <a:tailEnd/>
            </a:ln>
          </p:spPr>
          <p:txBody>
            <a:bodyPr wrap="none" anchor="ctr"/>
            <a:lstStyle/>
            <a:p>
              <a:endParaRPr lang="en-US"/>
            </a:p>
          </p:txBody>
        </p:sp>
        <p:sp>
          <p:nvSpPr>
            <p:cNvPr id="42" name="Text Box 9">
              <a:extLst>
                <a:ext uri="{FF2B5EF4-FFF2-40B4-BE49-F238E27FC236}">
                  <a16:creationId xmlns:a16="http://schemas.microsoft.com/office/drawing/2014/main" id="{11ABB66B-0CB6-45AD-B9EE-4ABA7010C630}"/>
                </a:ext>
              </a:extLst>
            </p:cNvPr>
            <p:cNvSpPr txBox="1">
              <a:spLocks noChangeArrowheads="1"/>
            </p:cNvSpPr>
            <p:nvPr>
              <p:custDataLst>
                <p:tags r:id="rId27"/>
              </p:custDataLst>
            </p:nvPr>
          </p:nvSpPr>
          <p:spPr bwMode="auto">
            <a:xfrm>
              <a:off x="8215313" y="579410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rgbClr val="000000"/>
                  </a:solidFill>
                  <a:latin typeface="Arial" panose="020B0604020202020204" pitchFamily="34" charset="0"/>
                </a:rPr>
                <a:t>&lt;&lt;</a:t>
              </a:r>
              <a:endParaRPr lang="en-US" altLang="en-US" sz="1800" dirty="0">
                <a:solidFill>
                  <a:srgbClr val="000000"/>
                </a:solidFill>
                <a:latin typeface="Arial" panose="020B0604020202020204" pitchFamily="34" charset="0"/>
              </a:endParaRPr>
            </a:p>
          </p:txBody>
        </p:sp>
      </p:grpSp>
      <p:cxnSp>
        <p:nvCxnSpPr>
          <p:cNvPr id="43" name="Straight Arrow Connector 42">
            <a:extLst>
              <a:ext uri="{FF2B5EF4-FFF2-40B4-BE49-F238E27FC236}">
                <a16:creationId xmlns:a16="http://schemas.microsoft.com/office/drawing/2014/main" id="{C90C0CAC-7309-4C2F-B5FD-A436FC0B61ED}"/>
              </a:ext>
            </a:extLst>
          </p:cNvPr>
          <p:cNvCxnSpPr/>
          <p:nvPr/>
        </p:nvCxnSpPr>
        <p:spPr>
          <a:xfrm rot="5400000">
            <a:off x="7604760" y="6407958"/>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C9BB4D2-398E-4BA5-B45D-74FC87AF271E}"/>
              </a:ext>
            </a:extLst>
          </p:cNvPr>
          <p:cNvCxnSpPr/>
          <p:nvPr/>
        </p:nvCxnSpPr>
        <p:spPr>
          <a:xfrm>
            <a:off x="518160" y="6096000"/>
            <a:ext cx="69494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63875AD-60C6-47F5-956B-3F8AF6A0DE4B}"/>
              </a:ext>
            </a:extLst>
          </p:cNvPr>
          <p:cNvCxnSpPr/>
          <p:nvPr/>
        </p:nvCxnSpPr>
        <p:spPr>
          <a:xfrm flipV="1">
            <a:off x="541148" y="4191000"/>
            <a:ext cx="1" cy="19202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587E0B9-D0C6-4BEB-BBBE-C2939F1FC832}"/>
              </a:ext>
            </a:extLst>
          </p:cNvPr>
          <p:cNvCxnSpPr/>
          <p:nvPr/>
        </p:nvCxnSpPr>
        <p:spPr>
          <a:xfrm>
            <a:off x="541150" y="4191000"/>
            <a:ext cx="822960"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89626A9-C5FB-4FC1-9B19-25349B453A6D}"/>
              </a:ext>
            </a:extLst>
          </p:cNvPr>
          <p:cNvSpPr txBox="1"/>
          <p:nvPr>
            <p:custDataLst>
              <p:tags r:id="rId22"/>
            </p:custDataLst>
          </p:nvPr>
        </p:nvSpPr>
        <p:spPr>
          <a:xfrm>
            <a:off x="266699" y="5726668"/>
            <a:ext cx="1790699" cy="369332"/>
          </a:xfrm>
          <a:prstGeom prst="rect">
            <a:avLst/>
          </a:prstGeom>
          <a:noFill/>
        </p:spPr>
        <p:txBody>
          <a:bodyPr wrap="square" rtlCol="0" anchor="ctr">
            <a:spAutoFit/>
          </a:bodyPr>
          <a:lstStyle/>
          <a:p>
            <a:pPr algn="ctr"/>
            <a:r>
              <a:rPr lang="en-US" sz="1800" dirty="0">
                <a:latin typeface="+mn-lt"/>
              </a:rPr>
              <a:t>block offset</a:t>
            </a:r>
          </a:p>
        </p:txBody>
      </p:sp>
      <p:sp>
        <p:nvSpPr>
          <p:cNvPr id="22" name="TextBox 21">
            <a:extLst>
              <a:ext uri="{FF2B5EF4-FFF2-40B4-BE49-F238E27FC236}">
                <a16:creationId xmlns:a16="http://schemas.microsoft.com/office/drawing/2014/main" id="{128C01E9-6765-4A72-B779-3980D3EC081A}"/>
              </a:ext>
            </a:extLst>
          </p:cNvPr>
          <p:cNvSpPr txBox="1"/>
          <p:nvPr>
            <p:custDataLst>
              <p:tags r:id="rId23"/>
            </p:custDataLst>
          </p:nvPr>
        </p:nvSpPr>
        <p:spPr>
          <a:xfrm>
            <a:off x="838200" y="3886186"/>
            <a:ext cx="1066800" cy="560308"/>
          </a:xfrm>
          <a:prstGeom prst="rect">
            <a:avLst/>
          </a:prstGeom>
          <a:solidFill>
            <a:schemeClr val="bg1"/>
          </a:solidFill>
          <a:ln w="25400">
            <a:solidFill>
              <a:schemeClr val="tx1"/>
            </a:solidFill>
          </a:ln>
        </p:spPr>
        <p:txBody>
          <a:bodyPr wrap="square" rtlCol="0" anchor="ctr">
            <a:noAutofit/>
          </a:bodyPr>
          <a:lstStyle/>
          <a:p>
            <a:pPr algn="ctr"/>
            <a:r>
              <a:rPr lang="en-US" sz="1800" dirty="0">
                <a:latin typeface="+mn-lt"/>
              </a:rPr>
              <a:t>hash function</a:t>
            </a:r>
          </a:p>
        </p:txBody>
      </p:sp>
      <p:sp>
        <p:nvSpPr>
          <p:cNvPr id="50" name="Rectangle 49">
            <a:extLst>
              <a:ext uri="{FF2B5EF4-FFF2-40B4-BE49-F238E27FC236}">
                <a16:creationId xmlns:a16="http://schemas.microsoft.com/office/drawing/2014/main" id="{54D69B07-B84D-4F8C-AFE7-E107EBA96E6A}"/>
              </a:ext>
            </a:extLst>
          </p:cNvPr>
          <p:cNvSpPr/>
          <p:nvPr>
            <p:custDataLst>
              <p:tags r:id="rId24"/>
            </p:custDataLst>
          </p:nvPr>
        </p:nvSpPr>
        <p:spPr>
          <a:xfrm>
            <a:off x="0" y="5211499"/>
            <a:ext cx="9143997" cy="1630929"/>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4A4659E0-02F5-4634-84E5-BA7278CF041A}"/>
              </a:ext>
            </a:extLst>
          </p:cNvPr>
          <p:cNvSpPr txBox="1"/>
          <p:nvPr>
            <p:custDataLst>
              <p:tags r:id="rId25"/>
            </p:custDataLst>
          </p:nvPr>
        </p:nvSpPr>
        <p:spPr>
          <a:xfrm>
            <a:off x="339665" y="5334000"/>
            <a:ext cx="8464670" cy="1333380"/>
          </a:xfrm>
          <a:prstGeom prst="rect">
            <a:avLst/>
          </a:prstGeom>
          <a:noFill/>
        </p:spPr>
        <p:txBody>
          <a:bodyPr wrap="square" rtlCol="0" anchor="t">
            <a:noAutofit/>
          </a:bodyPr>
          <a:lstStyle/>
          <a:p>
            <a:r>
              <a:rPr lang="en-US" sz="2800" dirty="0">
                <a:latin typeface="+mn-lt"/>
              </a:rPr>
              <a:t>Hash function requirements:</a:t>
            </a:r>
          </a:p>
          <a:p>
            <a:r>
              <a:rPr lang="en-US" sz="2400" dirty="0">
                <a:latin typeface="+mn-lt"/>
              </a:rPr>
              <a:t>1) A block must not be in multiple locations in the cache at once</a:t>
            </a:r>
          </a:p>
          <a:p>
            <a:r>
              <a:rPr lang="en-US" sz="2400" dirty="0">
                <a:latin typeface="+mn-lt"/>
              </a:rPr>
              <a:t>2) A block must not be confused with a different block</a:t>
            </a:r>
            <a:endParaRPr lang="en-US" sz="2000" dirty="0">
              <a:latin typeface="+mn-lt"/>
            </a:endParaRPr>
          </a:p>
        </p:txBody>
      </p:sp>
    </p:spTree>
    <p:custDataLst>
      <p:tags r:id="rId1"/>
    </p:custDataLst>
    <p:extLst>
      <p:ext uri="{BB962C8B-B14F-4D97-AF65-F5344CB8AC3E}">
        <p14:creationId xmlns:p14="http://schemas.microsoft.com/office/powerpoint/2010/main" val="94441895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Replacement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8</a:t>
            </a:fld>
            <a:endParaRPr lang="en-US" altLang="en-US"/>
          </a:p>
        </p:txBody>
      </p:sp>
      <p:sp>
        <p:nvSpPr>
          <p:cNvPr id="6" name="Rectangle 3">
            <a:extLst>
              <a:ext uri="{FF2B5EF4-FFF2-40B4-BE49-F238E27FC236}">
                <a16:creationId xmlns:a16="http://schemas.microsoft.com/office/drawing/2014/main" id="{AAE4C810-0D73-45DE-8A43-E652A2557973}"/>
              </a:ext>
            </a:extLst>
          </p:cNvPr>
          <p:cNvSpPr>
            <a:spLocks noGrp="1" noChangeArrowheads="1"/>
          </p:cNvSpPr>
          <p:nvPr>
            <p:ph idx="1"/>
            <p:custDataLst>
              <p:tags r:id="rId4"/>
            </p:custDataLst>
          </p:nvPr>
        </p:nvSpPr>
        <p:spPr>
          <a:xfrm>
            <a:off x="457200" y="1600200"/>
            <a:ext cx="8534400" cy="4525963"/>
          </a:xfrm>
        </p:spPr>
        <p:txBody>
          <a:bodyPr/>
          <a:lstStyle/>
          <a:p>
            <a:pPr eaLnBrk="1" hangingPunct="1">
              <a:lnSpc>
                <a:spcPct val="80000"/>
              </a:lnSpc>
            </a:pPr>
            <a:r>
              <a:rPr lang="en-US" altLang="en-US" sz="2800" dirty="0"/>
              <a:t>Since cache capacity is finite, may need to </a:t>
            </a:r>
            <a:r>
              <a:rPr lang="en-US" altLang="en-US" sz="2800" i="1" dirty="0"/>
              <a:t>evict</a:t>
            </a:r>
            <a:r>
              <a:rPr lang="en-US" altLang="en-US" sz="2800" dirty="0"/>
              <a:t> a block in the cache to make space for another one.</a:t>
            </a:r>
          </a:p>
          <a:p>
            <a:pPr eaLnBrk="1" hangingPunct="1">
              <a:lnSpc>
                <a:spcPct val="80000"/>
              </a:lnSpc>
            </a:pPr>
            <a:r>
              <a:rPr lang="en-US" altLang="en-US" sz="2800" dirty="0"/>
              <a:t>Direct-mapped cache:</a:t>
            </a:r>
          </a:p>
          <a:p>
            <a:pPr lvl="1" eaLnBrk="1" hangingPunct="1">
              <a:lnSpc>
                <a:spcPct val="90000"/>
              </a:lnSpc>
            </a:pPr>
            <a:r>
              <a:rPr lang="en-US" altLang="en-US" sz="2400" dirty="0"/>
              <a:t>Straightforward, evict current block at set index</a:t>
            </a:r>
          </a:p>
          <a:p>
            <a:pPr eaLnBrk="1" hangingPunct="1">
              <a:lnSpc>
                <a:spcPct val="80000"/>
              </a:lnSpc>
            </a:pPr>
            <a:r>
              <a:rPr lang="en-US" altLang="en-US" sz="2800" dirty="0"/>
              <a:t>Set-associative cache:</a:t>
            </a:r>
          </a:p>
          <a:p>
            <a:pPr lvl="1" eaLnBrk="1" hangingPunct="1">
              <a:lnSpc>
                <a:spcPct val="90000"/>
              </a:lnSpc>
            </a:pPr>
            <a:r>
              <a:rPr lang="en-US" altLang="en-US" sz="2400" b="1" dirty="0" err="1"/>
              <a:t>Belady’s</a:t>
            </a:r>
            <a:r>
              <a:rPr lang="en-US" altLang="en-US" sz="2400" dirty="0"/>
              <a:t>: Evict block that will be used furthest in future; unachievable optimum</a:t>
            </a:r>
          </a:p>
          <a:p>
            <a:pPr lvl="1" eaLnBrk="1" hangingPunct="1">
              <a:lnSpc>
                <a:spcPct val="90000"/>
              </a:lnSpc>
            </a:pPr>
            <a:r>
              <a:rPr lang="en-US" altLang="en-US" sz="2400" b="1" dirty="0"/>
              <a:t>FIFO (first-in-first-out)</a:t>
            </a:r>
            <a:r>
              <a:rPr lang="en-US" altLang="en-US" sz="2400" dirty="0"/>
              <a:t>: Track age using simple timestamps</a:t>
            </a:r>
          </a:p>
          <a:p>
            <a:pPr lvl="1" eaLnBrk="1" hangingPunct="1">
              <a:lnSpc>
                <a:spcPct val="90000"/>
              </a:lnSpc>
            </a:pPr>
            <a:r>
              <a:rPr lang="en-US" altLang="en-US" sz="2400" b="1" dirty="0"/>
              <a:t>LRU (least recently used)</a:t>
            </a:r>
            <a:r>
              <a:rPr lang="en-US" altLang="en-US" sz="2400" dirty="0"/>
              <a:t>: Maintain stack of last access; complex at high associativity</a:t>
            </a:r>
          </a:p>
          <a:p>
            <a:pPr lvl="1" eaLnBrk="1" hangingPunct="1">
              <a:lnSpc>
                <a:spcPct val="90000"/>
              </a:lnSpc>
            </a:pPr>
            <a:r>
              <a:rPr lang="en-US" altLang="en-US" sz="2400" b="1" dirty="0"/>
              <a:t>NMRU (not most recently used)</a:t>
            </a:r>
            <a:r>
              <a:rPr lang="en-US" altLang="en-US" sz="2400" dirty="0"/>
              <a:t>: Just track the most recently used; randomly evict any of the other blocks</a:t>
            </a:r>
          </a:p>
        </p:txBody>
      </p:sp>
    </p:spTree>
    <p:custDataLst>
      <p:tags r:id="rId1"/>
    </p:custDataLst>
    <p:extLst>
      <p:ext uri="{BB962C8B-B14F-4D97-AF65-F5344CB8AC3E}">
        <p14:creationId xmlns:p14="http://schemas.microsoft.com/office/powerpoint/2010/main" val="75577469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1F94656-551D-47D5-B06A-9EBD8B8FF783}"/>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Caches – Replacement</a:t>
            </a:r>
          </a:p>
        </p:txBody>
      </p:sp>
      <p:sp>
        <p:nvSpPr>
          <p:cNvPr id="26627" name="Rectangle 29">
            <a:extLst>
              <a:ext uri="{FF2B5EF4-FFF2-40B4-BE49-F238E27FC236}">
                <a16:creationId xmlns:a16="http://schemas.microsoft.com/office/drawing/2014/main" id="{4DA7AF1B-1B64-4128-942D-C27638CD60BC}"/>
              </a:ext>
            </a:extLst>
          </p:cNvPr>
          <p:cNvSpPr>
            <a:spLocks noGrp="1" noChangeArrowheads="1"/>
          </p:cNvSpPr>
          <p:nvPr>
            <p:ph idx="1"/>
            <p:custDataLst>
              <p:tags r:id="rId3"/>
            </p:custDataLst>
          </p:nvPr>
        </p:nvSpPr>
        <p:spPr>
          <a:xfrm>
            <a:off x="304800" y="1524000"/>
            <a:ext cx="6096000" cy="1981200"/>
          </a:xfrm>
        </p:spPr>
        <p:txBody>
          <a:bodyPr/>
          <a:lstStyle/>
          <a:p>
            <a:pPr eaLnBrk="1" hangingPunct="1">
              <a:lnSpc>
                <a:spcPct val="80000"/>
              </a:lnSpc>
            </a:pPr>
            <a:r>
              <a:rPr lang="en-US" altLang="en-US" sz="2800" dirty="0"/>
              <a:t>e.g., 32B 2-way associative cache:</a:t>
            </a:r>
          </a:p>
          <a:p>
            <a:pPr lvl="1" eaLnBrk="1" hangingPunct="1">
              <a:lnSpc>
                <a:spcPct val="90000"/>
              </a:lnSpc>
            </a:pPr>
            <a:r>
              <a:rPr lang="en-US" altLang="en-US" sz="2400" dirty="0"/>
              <a:t>4B blocks, write-back, write-allocate, LRU</a:t>
            </a:r>
          </a:p>
          <a:p>
            <a:pPr lvl="1" eaLnBrk="1" hangingPunct="1">
              <a:lnSpc>
                <a:spcPct val="90000"/>
              </a:lnSpc>
            </a:pPr>
            <a:r>
              <a:rPr lang="en-US" altLang="en-US" sz="2400" dirty="0"/>
              <a:t>6-bit memory addresses</a:t>
            </a:r>
          </a:p>
          <a:p>
            <a:pPr lvl="1" eaLnBrk="1" hangingPunct="1">
              <a:lnSpc>
                <a:spcPct val="90000"/>
              </a:lnSpc>
            </a:pPr>
            <a:r>
              <a:rPr lang="en-US" altLang="en-US" sz="2400" dirty="0"/>
              <a:t>{2-bit tag, 2-bit set, 2-bit offset}</a:t>
            </a:r>
          </a:p>
          <a:p>
            <a:pPr lvl="1" eaLnBrk="1" hangingPunct="1">
              <a:lnSpc>
                <a:spcPct val="90000"/>
              </a:lnSpc>
            </a:pPr>
            <a:r>
              <a:rPr lang="en-US" altLang="en-US" sz="2400" dirty="0"/>
              <a:t>Assume initially empty</a:t>
            </a:r>
          </a:p>
        </p:txBody>
      </p:sp>
      <p:graphicFrame>
        <p:nvGraphicFramePr>
          <p:cNvPr id="387075" name="Group 3">
            <a:extLst>
              <a:ext uri="{FF2B5EF4-FFF2-40B4-BE49-F238E27FC236}">
                <a16:creationId xmlns:a16="http://schemas.microsoft.com/office/drawing/2014/main" id="{3A33B099-C5A4-4B8D-A7EA-BE858477C45D}"/>
              </a:ext>
            </a:extLst>
          </p:cNvPr>
          <p:cNvGraphicFramePr>
            <a:graphicFrameLocks noGrp="1"/>
          </p:cNvGraphicFramePr>
          <p:nvPr>
            <p:custDataLst>
              <p:tags r:id="rId4"/>
            </p:custDataLst>
            <p:extLst>
              <p:ext uri="{D42A27DB-BD31-4B8C-83A1-F6EECF244321}">
                <p14:modId xmlns:p14="http://schemas.microsoft.com/office/powerpoint/2010/main" val="452562156"/>
              </p:ext>
            </p:extLst>
          </p:nvPr>
        </p:nvGraphicFramePr>
        <p:xfrm>
          <a:off x="6553200" y="1524000"/>
          <a:ext cx="2286000" cy="3524250"/>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70485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Tag0</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Tag1</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LRU</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70485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rgbClr val="006600"/>
                        </a:solidFill>
                        <a:effectLst/>
                        <a:latin typeface="Tahoma"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rgbClr val="006600"/>
                        </a:solidFill>
                        <a:effectLst/>
                        <a:latin typeface="Tahoma"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rgbClr val="006600"/>
                        </a:solidFill>
                        <a:effectLst/>
                        <a:latin typeface="Tahoma"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0485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rgbClr val="006600"/>
                        </a:solidFill>
                        <a:effectLst/>
                        <a:latin typeface="Tahoma"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0485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a:ln>
                          <a:noFill/>
                        </a:ln>
                        <a:solidFill>
                          <a:srgbClr val="FF3300"/>
                        </a:solidFill>
                        <a:effectLst/>
                        <a:latin typeface="Tahoma"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70485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a:ln>
                          <a:noFill/>
                        </a:ln>
                        <a:solidFill>
                          <a:srgbClr val="006600"/>
                        </a:solidFill>
                        <a:effectLst/>
                        <a:latin typeface="Tahoma"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a:ln>
                          <a:noFill/>
                        </a:ln>
                        <a:solidFill>
                          <a:schemeClr val="tx1"/>
                        </a:solidFill>
                        <a:effectLst/>
                        <a:latin typeface="Tahoma" charset="0"/>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2000" b="0" i="0" u="none" strike="noStrike" cap="none" normalizeH="0" baseline="0" dirty="0">
                        <a:ln>
                          <a:noFill/>
                        </a:ln>
                        <a:solidFill>
                          <a:schemeClr val="tx1"/>
                        </a:solidFill>
                        <a:effectLst/>
                        <a:latin typeface="Tahoma"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87102" name="Group 30">
            <a:extLst>
              <a:ext uri="{FF2B5EF4-FFF2-40B4-BE49-F238E27FC236}">
                <a16:creationId xmlns:a16="http://schemas.microsoft.com/office/drawing/2014/main" id="{CC6CF907-C339-45AE-8C1E-2A67A1FAB043}"/>
              </a:ext>
            </a:extLst>
          </p:cNvPr>
          <p:cNvGraphicFramePr>
            <a:graphicFrameLocks noGrp="1"/>
          </p:cNvGraphicFramePr>
          <p:nvPr>
            <p:custDataLst>
              <p:tags r:id="rId5"/>
            </p:custDataLst>
            <p:extLst>
              <p:ext uri="{D42A27DB-BD31-4B8C-83A1-F6EECF244321}">
                <p14:modId xmlns:p14="http://schemas.microsoft.com/office/powerpoint/2010/main" val="117883773"/>
              </p:ext>
            </p:extLst>
          </p:nvPr>
        </p:nvGraphicFramePr>
        <p:xfrm>
          <a:off x="609600" y="3581400"/>
          <a:ext cx="5181600" cy="2925808"/>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0x2A</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0x2B</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0x3C</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11</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3</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3"/>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0x20</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0x33</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0x11</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01</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01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Miss, Evict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6"/>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Store 0x29</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01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Hit, Dirty</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26701" name="Text Box 77">
            <a:extLst>
              <a:ext uri="{FF2B5EF4-FFF2-40B4-BE49-F238E27FC236}">
                <a16:creationId xmlns:a16="http://schemas.microsoft.com/office/drawing/2014/main" id="{62C1062D-5C28-4D71-B139-A7C093B46F27}"/>
              </a:ext>
            </a:extLst>
          </p:cNvPr>
          <p:cNvSpPr txBox="1">
            <a:spLocks noChangeArrowheads="1"/>
          </p:cNvSpPr>
          <p:nvPr>
            <p:custDataLst>
              <p:tags r:id="rId6"/>
            </p:custDataLst>
          </p:nvPr>
        </p:nvSpPr>
        <p:spPr bwMode="auto">
          <a:xfrm>
            <a:off x="6553200" y="1143000"/>
            <a:ext cx="18299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dirty="0">
                <a:latin typeface="Tahoma" panose="020B0604030504040204" pitchFamily="34" charset="0"/>
              </a:rPr>
              <a:t>Tag Array (Binary)</a:t>
            </a:r>
          </a:p>
        </p:txBody>
      </p:sp>
      <p:sp>
        <p:nvSpPr>
          <p:cNvPr id="2" name="Slide Number Placeholder 1">
            <a:extLst>
              <a:ext uri="{FF2B5EF4-FFF2-40B4-BE49-F238E27FC236}">
                <a16:creationId xmlns:a16="http://schemas.microsoft.com/office/drawing/2014/main" id="{FC93DD10-1A3F-4887-8C4E-A952C666A4FE}"/>
              </a:ext>
            </a:extLst>
          </p:cNvPr>
          <p:cNvSpPr>
            <a:spLocks noGrp="1"/>
          </p:cNvSpPr>
          <p:nvPr>
            <p:ph type="sldNum" sz="quarter" idx="12"/>
            <p:custDataLst>
              <p:tags r:id="rId7"/>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9F2C92D9-17A7-4E7F-9AEF-2FE5C27992D5}" type="slidenum">
              <a:rPr lang="en-US" altLang="en-US" sz="1400">
                <a:latin typeface="Calibri" panose="020F0502020204030204" pitchFamily="34" charset="0"/>
              </a:rPr>
              <a:pPr lvl="1" eaLnBrk="1" hangingPunct="1"/>
              <a:t>9</a:t>
            </a:fld>
            <a:endParaRPr lang="en-US" altLang="en-US" sz="1400">
              <a:latin typeface="Calibri" panose="020F0502020204030204" pitchFamily="34" charset="0"/>
            </a:endParaRPr>
          </a:p>
        </p:txBody>
      </p:sp>
      <p:sp>
        <p:nvSpPr>
          <p:cNvPr id="8" name="TextBox 7">
            <a:extLst>
              <a:ext uri="{FF2B5EF4-FFF2-40B4-BE49-F238E27FC236}">
                <a16:creationId xmlns:a16="http://schemas.microsoft.com/office/drawing/2014/main" id="{45F13D56-7495-4CEF-A2CE-DF01CFF96604}"/>
              </a:ext>
            </a:extLst>
          </p:cNvPr>
          <p:cNvSpPr txBox="1"/>
          <p:nvPr>
            <p:custDataLst>
              <p:tags r:id="rId8"/>
            </p:custDataLst>
          </p:nvPr>
        </p:nvSpPr>
        <p:spPr>
          <a:xfrm>
            <a:off x="6629400" y="3733800"/>
            <a:ext cx="533400" cy="461665"/>
          </a:xfrm>
          <a:prstGeom prst="rect">
            <a:avLst/>
          </a:prstGeom>
          <a:noFill/>
        </p:spPr>
        <p:txBody>
          <a:bodyPr wrap="square" rtlCol="0" anchor="ctr">
            <a:spAutoFit/>
          </a:bodyPr>
          <a:lstStyle/>
          <a:p>
            <a:pPr algn="ctr"/>
            <a:r>
              <a:rPr lang="en-US" sz="2400" dirty="0">
                <a:latin typeface="+mn-lt"/>
              </a:rPr>
              <a:t>10</a:t>
            </a:r>
          </a:p>
        </p:txBody>
      </p:sp>
      <p:graphicFrame>
        <p:nvGraphicFramePr>
          <p:cNvPr id="10" name="Group 30">
            <a:extLst>
              <a:ext uri="{FF2B5EF4-FFF2-40B4-BE49-F238E27FC236}">
                <a16:creationId xmlns:a16="http://schemas.microsoft.com/office/drawing/2014/main" id="{253FD9AF-2695-4D7E-BE2F-C0CEE976FE26}"/>
              </a:ext>
            </a:extLst>
          </p:cNvPr>
          <p:cNvGraphicFramePr>
            <a:graphicFrameLocks noGrp="1"/>
          </p:cNvGraphicFramePr>
          <p:nvPr>
            <p:custDataLst>
              <p:tags r:id="rId9"/>
            </p:custDataLst>
            <p:extLst>
              <p:ext uri="{D42A27DB-BD31-4B8C-83A1-F6EECF244321}">
                <p14:modId xmlns:p14="http://schemas.microsoft.com/office/powerpoint/2010/main" val="2735257328"/>
              </p:ext>
            </p:extLst>
          </p:nvPr>
        </p:nvGraphicFramePr>
        <p:xfrm>
          <a:off x="609600" y="3581400"/>
          <a:ext cx="5181600" cy="2560082"/>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0x2A</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0x2B</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0x3C</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11</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3</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3"/>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0x20</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0x33</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0x11</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01</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01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Miss, Evict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graphicFrame>
        <p:nvGraphicFramePr>
          <p:cNvPr id="11" name="Group 30">
            <a:extLst>
              <a:ext uri="{FF2B5EF4-FFF2-40B4-BE49-F238E27FC236}">
                <a16:creationId xmlns:a16="http://schemas.microsoft.com/office/drawing/2014/main" id="{C856A8D9-D9A6-4E1B-A62E-13B6F423B124}"/>
              </a:ext>
            </a:extLst>
          </p:cNvPr>
          <p:cNvGraphicFramePr>
            <a:graphicFrameLocks noGrp="1"/>
          </p:cNvGraphicFramePr>
          <p:nvPr>
            <p:custDataLst>
              <p:tags r:id="rId10"/>
            </p:custDataLst>
            <p:extLst>
              <p:ext uri="{D42A27DB-BD31-4B8C-83A1-F6EECF244321}">
                <p14:modId xmlns:p14="http://schemas.microsoft.com/office/powerpoint/2010/main" val="712565430"/>
              </p:ext>
            </p:extLst>
          </p:nvPr>
        </p:nvGraphicFramePr>
        <p:xfrm>
          <a:off x="609600" y="3581400"/>
          <a:ext cx="5181600" cy="2194356"/>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0x2A</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0x2B</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0x3C</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11</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3</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3"/>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0x20</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0x33</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12" name="Group 30">
            <a:extLst>
              <a:ext uri="{FF2B5EF4-FFF2-40B4-BE49-F238E27FC236}">
                <a16:creationId xmlns:a16="http://schemas.microsoft.com/office/drawing/2014/main" id="{0B2657D3-74C8-4E65-AA2E-074D6CD794F4}"/>
              </a:ext>
            </a:extLst>
          </p:cNvPr>
          <p:cNvGraphicFramePr>
            <a:graphicFrameLocks noGrp="1"/>
          </p:cNvGraphicFramePr>
          <p:nvPr>
            <p:custDataLst>
              <p:tags r:id="rId11"/>
            </p:custDataLst>
            <p:extLst>
              <p:ext uri="{D42A27DB-BD31-4B8C-83A1-F6EECF244321}">
                <p14:modId xmlns:p14="http://schemas.microsoft.com/office/powerpoint/2010/main" val="2669123621"/>
              </p:ext>
            </p:extLst>
          </p:nvPr>
        </p:nvGraphicFramePr>
        <p:xfrm>
          <a:off x="609600" y="3581400"/>
          <a:ext cx="5181600" cy="1828630"/>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0x2A</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0x2B</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0x3C</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11</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3</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3"/>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0x20</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00</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Group 30">
            <a:extLst>
              <a:ext uri="{FF2B5EF4-FFF2-40B4-BE49-F238E27FC236}">
                <a16:creationId xmlns:a16="http://schemas.microsoft.com/office/drawing/2014/main" id="{008A9016-5389-49ED-BEA2-1B1A8FB9A326}"/>
              </a:ext>
            </a:extLst>
          </p:cNvPr>
          <p:cNvGraphicFramePr>
            <a:graphicFrameLocks noGrp="1"/>
          </p:cNvGraphicFramePr>
          <p:nvPr>
            <p:custDataLst>
              <p:tags r:id="rId12"/>
            </p:custDataLst>
            <p:extLst>
              <p:ext uri="{D42A27DB-BD31-4B8C-83A1-F6EECF244321}">
                <p14:modId xmlns:p14="http://schemas.microsoft.com/office/powerpoint/2010/main" val="4234937884"/>
              </p:ext>
            </p:extLst>
          </p:nvPr>
        </p:nvGraphicFramePr>
        <p:xfrm>
          <a:off x="609600" y="3581400"/>
          <a:ext cx="5181600" cy="1462904"/>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0x2A</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0x2B</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0x3C</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11</a:t>
                      </a:r>
                      <a:r>
                        <a:rPr kumimoji="0" lang="en-US" sz="2000" b="0" i="0" u="none" strike="noStrike" cap="none" normalizeH="0" baseline="0">
                          <a:ln>
                            <a:noFill/>
                          </a:ln>
                          <a:solidFill>
                            <a:srgbClr val="FF3300"/>
                          </a:solidFill>
                          <a:effectLst/>
                          <a:latin typeface="Tahoma" charset="0"/>
                        </a:rPr>
                        <a:t>11</a:t>
                      </a:r>
                      <a:r>
                        <a:rPr kumimoji="0" lang="en-US" sz="2000" b="0" i="0" u="none" strike="noStrike" cap="none" normalizeH="0" baseline="0">
                          <a:ln>
                            <a:noFill/>
                          </a:ln>
                          <a:solidFill>
                            <a:schemeClr val="tx1"/>
                          </a:solidFill>
                          <a:effectLst/>
                          <a:latin typeface="Tahoma" charset="0"/>
                        </a:rPr>
                        <a:t>00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3</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14" name="Group 30">
            <a:extLst>
              <a:ext uri="{FF2B5EF4-FFF2-40B4-BE49-F238E27FC236}">
                <a16:creationId xmlns:a16="http://schemas.microsoft.com/office/drawing/2014/main" id="{17C4699E-DA67-4473-AD0D-46DE37FCD248}"/>
              </a:ext>
            </a:extLst>
          </p:cNvPr>
          <p:cNvGraphicFramePr>
            <a:graphicFrameLocks noGrp="1"/>
          </p:cNvGraphicFramePr>
          <p:nvPr>
            <p:custDataLst>
              <p:tags r:id="rId13"/>
            </p:custDataLst>
            <p:extLst>
              <p:ext uri="{D42A27DB-BD31-4B8C-83A1-F6EECF244321}">
                <p14:modId xmlns:p14="http://schemas.microsoft.com/office/powerpoint/2010/main" val="1737186898"/>
              </p:ext>
            </p:extLst>
          </p:nvPr>
        </p:nvGraphicFramePr>
        <p:xfrm>
          <a:off x="609600" y="3581400"/>
          <a:ext cx="5181600" cy="1097178"/>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0x2A</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0x2B</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11</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Hit</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5" name="Group 30">
            <a:extLst>
              <a:ext uri="{FF2B5EF4-FFF2-40B4-BE49-F238E27FC236}">
                <a16:creationId xmlns:a16="http://schemas.microsoft.com/office/drawing/2014/main" id="{20967C07-F655-4B17-A79F-A6787FDA6ED1}"/>
              </a:ext>
            </a:extLst>
          </p:cNvPr>
          <p:cNvGraphicFramePr>
            <a:graphicFrameLocks noGrp="1"/>
          </p:cNvGraphicFramePr>
          <p:nvPr>
            <p:custDataLst>
              <p:tags r:id="rId14"/>
            </p:custDataLst>
            <p:extLst>
              <p:ext uri="{D42A27DB-BD31-4B8C-83A1-F6EECF244321}">
                <p14:modId xmlns:p14="http://schemas.microsoft.com/office/powerpoint/2010/main" val="707059007"/>
              </p:ext>
            </p:extLst>
          </p:nvPr>
        </p:nvGraphicFramePr>
        <p:xfrm>
          <a:off x="609600" y="3581400"/>
          <a:ext cx="5181600" cy="731452"/>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Load 0x2A</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rgbClr val="006600"/>
                          </a:solidFill>
                          <a:effectLst/>
                          <a:latin typeface="Tahoma" charset="0"/>
                        </a:rPr>
                        <a:t>10</a:t>
                      </a:r>
                      <a:r>
                        <a:rPr kumimoji="0" lang="en-US" sz="2000" b="0" i="0" u="none" strike="noStrike" cap="none" normalizeH="0" baseline="0">
                          <a:ln>
                            <a:noFill/>
                          </a:ln>
                          <a:solidFill>
                            <a:srgbClr val="FF3300"/>
                          </a:solidFill>
                          <a:effectLst/>
                          <a:latin typeface="Tahoma" charset="0"/>
                        </a:rPr>
                        <a:t>10</a:t>
                      </a:r>
                      <a:r>
                        <a:rPr kumimoji="0" lang="en-US" sz="2000" b="0" i="0" u="none" strike="noStrike" cap="none" normalizeH="0" baseline="0">
                          <a:ln>
                            <a:noFill/>
                          </a:ln>
                          <a:solidFill>
                            <a:schemeClr val="tx1"/>
                          </a:solidFill>
                          <a:effectLst/>
                          <a:latin typeface="Tahoma" charset="0"/>
                        </a:rPr>
                        <a:t>10</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2</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6" name="Group 30">
            <a:extLst>
              <a:ext uri="{FF2B5EF4-FFF2-40B4-BE49-F238E27FC236}">
                <a16:creationId xmlns:a16="http://schemas.microsoft.com/office/drawing/2014/main" id="{B57BC533-D0D2-4C60-8F06-FA6F65964F23}"/>
              </a:ext>
            </a:extLst>
          </p:cNvPr>
          <p:cNvGraphicFramePr>
            <a:graphicFrameLocks noGrp="1"/>
          </p:cNvGraphicFramePr>
          <p:nvPr>
            <p:custDataLst>
              <p:tags r:id="rId15"/>
            </p:custDataLst>
            <p:extLst>
              <p:ext uri="{D42A27DB-BD31-4B8C-83A1-F6EECF244321}">
                <p14:modId xmlns:p14="http://schemas.microsoft.com/office/powerpoint/2010/main" val="2268320168"/>
              </p:ext>
            </p:extLst>
          </p:nvPr>
        </p:nvGraphicFramePr>
        <p:xfrm>
          <a:off x="609600" y="3581400"/>
          <a:ext cx="5181600" cy="365726"/>
        </p:xfrm>
        <a:graphic>
          <a:graphicData uri="http://schemas.openxmlformats.org/drawingml/2006/table">
            <a:tbl>
              <a:tblPr/>
              <a:tblGrid>
                <a:gridCol w="13970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6572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Request</a:t>
                      </a:r>
                    </a:p>
                  </a:txBody>
                  <a:tcPr marT="45703" marB="45703"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a:ln>
                            <a:noFill/>
                          </a:ln>
                          <a:solidFill>
                            <a:schemeClr val="tx1"/>
                          </a:solidFill>
                          <a:effectLst/>
                          <a:latin typeface="Tahoma" charset="0"/>
                        </a:rPr>
                        <a:t>Binary</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Set</a:t>
                      </a:r>
                    </a:p>
                  </a:txBody>
                  <a:tcPr marT="45703" marB="45703"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Tahoma" charset="0"/>
                        </a:rPr>
                        <a:t>Hit/Miss</a:t>
                      </a:r>
                    </a:p>
                  </a:txBody>
                  <a:tcPr marT="45703" marB="45703"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17" name="TextBox 16">
            <a:extLst>
              <a:ext uri="{FF2B5EF4-FFF2-40B4-BE49-F238E27FC236}">
                <a16:creationId xmlns:a16="http://schemas.microsoft.com/office/drawing/2014/main" id="{E1271714-89F2-4E1A-AFD8-26DEE08C2553}"/>
              </a:ext>
            </a:extLst>
          </p:cNvPr>
          <p:cNvSpPr txBox="1"/>
          <p:nvPr>
            <p:custDataLst>
              <p:tags r:id="rId16"/>
            </p:custDataLst>
          </p:nvPr>
        </p:nvSpPr>
        <p:spPr>
          <a:xfrm>
            <a:off x="8116424" y="2349916"/>
            <a:ext cx="646575" cy="461665"/>
          </a:xfrm>
          <a:prstGeom prst="rect">
            <a:avLst/>
          </a:prstGeom>
          <a:solidFill>
            <a:schemeClr val="bg1"/>
          </a:solidFill>
        </p:spPr>
        <p:txBody>
          <a:bodyPr wrap="square" rtlCol="0" anchor="ctr">
            <a:spAutoFit/>
          </a:bodyPr>
          <a:lstStyle/>
          <a:p>
            <a:pPr algn="ctr"/>
            <a:r>
              <a:rPr lang="en-US" sz="2400" dirty="0">
                <a:latin typeface="+mn-lt"/>
              </a:rPr>
              <a:t>0</a:t>
            </a:r>
          </a:p>
        </p:txBody>
      </p:sp>
      <p:sp>
        <p:nvSpPr>
          <p:cNvPr id="18" name="TextBox 17">
            <a:extLst>
              <a:ext uri="{FF2B5EF4-FFF2-40B4-BE49-F238E27FC236}">
                <a16:creationId xmlns:a16="http://schemas.microsoft.com/office/drawing/2014/main" id="{D39EF209-E17F-4B5C-8CDC-FE35D52803AF}"/>
              </a:ext>
            </a:extLst>
          </p:cNvPr>
          <p:cNvSpPr txBox="1"/>
          <p:nvPr>
            <p:custDataLst>
              <p:tags r:id="rId17"/>
            </p:custDataLst>
          </p:nvPr>
        </p:nvSpPr>
        <p:spPr>
          <a:xfrm>
            <a:off x="8116424" y="3055292"/>
            <a:ext cx="646575" cy="461665"/>
          </a:xfrm>
          <a:prstGeom prst="rect">
            <a:avLst/>
          </a:prstGeom>
          <a:solidFill>
            <a:schemeClr val="bg1"/>
          </a:solidFill>
        </p:spPr>
        <p:txBody>
          <a:bodyPr wrap="square" rtlCol="0" anchor="ctr">
            <a:spAutoFit/>
          </a:bodyPr>
          <a:lstStyle/>
          <a:p>
            <a:pPr algn="ctr"/>
            <a:r>
              <a:rPr lang="en-US" sz="2400" dirty="0">
                <a:latin typeface="+mn-lt"/>
              </a:rPr>
              <a:t>0</a:t>
            </a:r>
          </a:p>
        </p:txBody>
      </p:sp>
      <p:sp>
        <p:nvSpPr>
          <p:cNvPr id="19" name="TextBox 18">
            <a:extLst>
              <a:ext uri="{FF2B5EF4-FFF2-40B4-BE49-F238E27FC236}">
                <a16:creationId xmlns:a16="http://schemas.microsoft.com/office/drawing/2014/main" id="{24F4830C-9B81-458C-9AE0-DAACA9E7CCC0}"/>
              </a:ext>
            </a:extLst>
          </p:cNvPr>
          <p:cNvSpPr txBox="1"/>
          <p:nvPr>
            <p:custDataLst>
              <p:tags r:id="rId18"/>
            </p:custDataLst>
          </p:nvPr>
        </p:nvSpPr>
        <p:spPr>
          <a:xfrm>
            <a:off x="8116425" y="3716293"/>
            <a:ext cx="646575" cy="461665"/>
          </a:xfrm>
          <a:prstGeom prst="rect">
            <a:avLst/>
          </a:prstGeom>
          <a:solidFill>
            <a:schemeClr val="bg1"/>
          </a:solidFill>
        </p:spPr>
        <p:txBody>
          <a:bodyPr wrap="square" rtlCol="0" anchor="ctr">
            <a:spAutoFit/>
          </a:bodyPr>
          <a:lstStyle/>
          <a:p>
            <a:pPr algn="ctr"/>
            <a:r>
              <a:rPr lang="en-US" sz="2400" dirty="0">
                <a:latin typeface="+mn-lt"/>
              </a:rPr>
              <a:t>0</a:t>
            </a:r>
          </a:p>
        </p:txBody>
      </p:sp>
      <p:sp>
        <p:nvSpPr>
          <p:cNvPr id="20" name="TextBox 19">
            <a:extLst>
              <a:ext uri="{FF2B5EF4-FFF2-40B4-BE49-F238E27FC236}">
                <a16:creationId xmlns:a16="http://schemas.microsoft.com/office/drawing/2014/main" id="{4BB8F54D-9621-4BE9-BB72-E1E00A11D977}"/>
              </a:ext>
            </a:extLst>
          </p:cNvPr>
          <p:cNvSpPr txBox="1"/>
          <p:nvPr>
            <p:custDataLst>
              <p:tags r:id="rId19"/>
            </p:custDataLst>
          </p:nvPr>
        </p:nvSpPr>
        <p:spPr>
          <a:xfrm>
            <a:off x="8116425" y="4447745"/>
            <a:ext cx="646575" cy="461665"/>
          </a:xfrm>
          <a:prstGeom prst="rect">
            <a:avLst/>
          </a:prstGeom>
          <a:solidFill>
            <a:schemeClr val="bg1"/>
          </a:solidFill>
        </p:spPr>
        <p:txBody>
          <a:bodyPr wrap="square" rtlCol="0" anchor="ctr">
            <a:spAutoFit/>
          </a:bodyPr>
          <a:lstStyle/>
          <a:p>
            <a:pPr algn="ctr"/>
            <a:r>
              <a:rPr lang="en-US" sz="2400" dirty="0">
                <a:latin typeface="+mn-lt"/>
              </a:rPr>
              <a:t>0</a:t>
            </a:r>
          </a:p>
        </p:txBody>
      </p:sp>
      <p:sp>
        <p:nvSpPr>
          <p:cNvPr id="21" name="TextBox 20">
            <a:extLst>
              <a:ext uri="{FF2B5EF4-FFF2-40B4-BE49-F238E27FC236}">
                <a16:creationId xmlns:a16="http://schemas.microsoft.com/office/drawing/2014/main" id="{6EC63BC0-F43A-453D-8086-36372733FD47}"/>
              </a:ext>
            </a:extLst>
          </p:cNvPr>
          <p:cNvSpPr txBox="1"/>
          <p:nvPr>
            <p:custDataLst>
              <p:tags r:id="rId20"/>
            </p:custDataLst>
          </p:nvPr>
        </p:nvSpPr>
        <p:spPr>
          <a:xfrm>
            <a:off x="8116425" y="3716293"/>
            <a:ext cx="646575" cy="461665"/>
          </a:xfrm>
          <a:prstGeom prst="rect">
            <a:avLst/>
          </a:prstGeom>
          <a:solidFill>
            <a:schemeClr val="bg1"/>
          </a:solidFill>
        </p:spPr>
        <p:txBody>
          <a:bodyPr wrap="square" rtlCol="0" anchor="ctr">
            <a:spAutoFit/>
          </a:bodyPr>
          <a:lstStyle/>
          <a:p>
            <a:pPr algn="ctr"/>
            <a:r>
              <a:rPr lang="en-US" sz="2400" dirty="0">
                <a:latin typeface="+mn-lt"/>
              </a:rPr>
              <a:t>1</a:t>
            </a:r>
          </a:p>
        </p:txBody>
      </p:sp>
      <p:sp>
        <p:nvSpPr>
          <p:cNvPr id="22" name="TextBox 21">
            <a:extLst>
              <a:ext uri="{FF2B5EF4-FFF2-40B4-BE49-F238E27FC236}">
                <a16:creationId xmlns:a16="http://schemas.microsoft.com/office/drawing/2014/main" id="{DAEAD2FB-0D6E-4897-87FC-3B296806B903}"/>
              </a:ext>
            </a:extLst>
          </p:cNvPr>
          <p:cNvSpPr txBox="1"/>
          <p:nvPr>
            <p:custDataLst>
              <p:tags r:id="rId21"/>
            </p:custDataLst>
          </p:nvPr>
        </p:nvSpPr>
        <p:spPr>
          <a:xfrm>
            <a:off x="6629400" y="4447745"/>
            <a:ext cx="533400" cy="461665"/>
          </a:xfrm>
          <a:prstGeom prst="rect">
            <a:avLst/>
          </a:prstGeom>
          <a:noFill/>
        </p:spPr>
        <p:txBody>
          <a:bodyPr wrap="square" rtlCol="0" anchor="ctr">
            <a:spAutoFit/>
          </a:bodyPr>
          <a:lstStyle/>
          <a:p>
            <a:pPr algn="ctr"/>
            <a:r>
              <a:rPr lang="en-US" sz="2400" dirty="0">
                <a:latin typeface="+mn-lt"/>
              </a:rPr>
              <a:t>11</a:t>
            </a:r>
          </a:p>
        </p:txBody>
      </p:sp>
      <p:sp>
        <p:nvSpPr>
          <p:cNvPr id="23" name="TextBox 22">
            <a:extLst>
              <a:ext uri="{FF2B5EF4-FFF2-40B4-BE49-F238E27FC236}">
                <a16:creationId xmlns:a16="http://schemas.microsoft.com/office/drawing/2014/main" id="{11E325AF-142C-48D6-A99A-6C4EAA2BB18F}"/>
              </a:ext>
            </a:extLst>
          </p:cNvPr>
          <p:cNvSpPr txBox="1"/>
          <p:nvPr>
            <p:custDataLst>
              <p:tags r:id="rId22"/>
            </p:custDataLst>
          </p:nvPr>
        </p:nvSpPr>
        <p:spPr>
          <a:xfrm>
            <a:off x="8116425" y="4447745"/>
            <a:ext cx="646575" cy="461665"/>
          </a:xfrm>
          <a:prstGeom prst="rect">
            <a:avLst/>
          </a:prstGeom>
          <a:solidFill>
            <a:schemeClr val="bg1"/>
          </a:solidFill>
        </p:spPr>
        <p:txBody>
          <a:bodyPr wrap="square" rtlCol="0" anchor="ctr">
            <a:spAutoFit/>
          </a:bodyPr>
          <a:lstStyle/>
          <a:p>
            <a:pPr algn="ctr"/>
            <a:r>
              <a:rPr lang="en-US" sz="2400" dirty="0">
                <a:latin typeface="+mn-lt"/>
              </a:rPr>
              <a:t>1</a:t>
            </a:r>
          </a:p>
        </p:txBody>
      </p:sp>
      <p:sp>
        <p:nvSpPr>
          <p:cNvPr id="24" name="TextBox 23">
            <a:extLst>
              <a:ext uri="{FF2B5EF4-FFF2-40B4-BE49-F238E27FC236}">
                <a16:creationId xmlns:a16="http://schemas.microsoft.com/office/drawing/2014/main" id="{2CC7114B-7D58-44F4-AC5F-332DA6FC41F0}"/>
              </a:ext>
            </a:extLst>
          </p:cNvPr>
          <p:cNvSpPr txBox="1"/>
          <p:nvPr>
            <p:custDataLst>
              <p:tags r:id="rId23"/>
            </p:custDataLst>
          </p:nvPr>
        </p:nvSpPr>
        <p:spPr>
          <a:xfrm>
            <a:off x="6629400" y="2349915"/>
            <a:ext cx="533400" cy="461665"/>
          </a:xfrm>
          <a:prstGeom prst="rect">
            <a:avLst/>
          </a:prstGeom>
          <a:noFill/>
        </p:spPr>
        <p:txBody>
          <a:bodyPr wrap="square" rtlCol="0" anchor="ctr">
            <a:spAutoFit/>
          </a:bodyPr>
          <a:lstStyle/>
          <a:p>
            <a:pPr algn="ctr"/>
            <a:r>
              <a:rPr lang="en-US" sz="2400" dirty="0">
                <a:latin typeface="+mn-lt"/>
              </a:rPr>
              <a:t>10</a:t>
            </a:r>
          </a:p>
        </p:txBody>
      </p:sp>
      <p:sp>
        <p:nvSpPr>
          <p:cNvPr id="25" name="TextBox 24">
            <a:extLst>
              <a:ext uri="{FF2B5EF4-FFF2-40B4-BE49-F238E27FC236}">
                <a16:creationId xmlns:a16="http://schemas.microsoft.com/office/drawing/2014/main" id="{E8415935-4BF8-4BDC-B723-BE22D9DEC2F6}"/>
              </a:ext>
            </a:extLst>
          </p:cNvPr>
          <p:cNvSpPr txBox="1"/>
          <p:nvPr>
            <p:custDataLst>
              <p:tags r:id="rId24"/>
            </p:custDataLst>
          </p:nvPr>
        </p:nvSpPr>
        <p:spPr>
          <a:xfrm>
            <a:off x="8116423" y="2349914"/>
            <a:ext cx="646575" cy="461665"/>
          </a:xfrm>
          <a:prstGeom prst="rect">
            <a:avLst/>
          </a:prstGeom>
          <a:solidFill>
            <a:schemeClr val="bg1"/>
          </a:solidFill>
        </p:spPr>
        <p:txBody>
          <a:bodyPr wrap="square" rtlCol="0" anchor="ctr">
            <a:spAutoFit/>
          </a:bodyPr>
          <a:lstStyle/>
          <a:p>
            <a:pPr algn="ctr"/>
            <a:r>
              <a:rPr lang="en-US" sz="2400" dirty="0">
                <a:latin typeface="+mn-lt"/>
              </a:rPr>
              <a:t>1</a:t>
            </a:r>
          </a:p>
        </p:txBody>
      </p:sp>
      <p:sp>
        <p:nvSpPr>
          <p:cNvPr id="26" name="TextBox 25">
            <a:extLst>
              <a:ext uri="{FF2B5EF4-FFF2-40B4-BE49-F238E27FC236}">
                <a16:creationId xmlns:a16="http://schemas.microsoft.com/office/drawing/2014/main" id="{99FE1E46-25C7-478A-8A07-CB46C0D3B0A2}"/>
              </a:ext>
            </a:extLst>
          </p:cNvPr>
          <p:cNvSpPr txBox="1"/>
          <p:nvPr>
            <p:custDataLst>
              <p:tags r:id="rId25"/>
            </p:custDataLst>
          </p:nvPr>
        </p:nvSpPr>
        <p:spPr>
          <a:xfrm>
            <a:off x="7404347" y="2349913"/>
            <a:ext cx="533400" cy="461665"/>
          </a:xfrm>
          <a:prstGeom prst="rect">
            <a:avLst/>
          </a:prstGeom>
          <a:noFill/>
        </p:spPr>
        <p:txBody>
          <a:bodyPr wrap="square" rtlCol="0" anchor="ctr">
            <a:spAutoFit/>
          </a:bodyPr>
          <a:lstStyle/>
          <a:p>
            <a:pPr algn="ctr"/>
            <a:r>
              <a:rPr lang="en-US" sz="2400" dirty="0">
                <a:latin typeface="+mn-lt"/>
              </a:rPr>
              <a:t>11</a:t>
            </a:r>
          </a:p>
        </p:txBody>
      </p:sp>
      <p:sp>
        <p:nvSpPr>
          <p:cNvPr id="27" name="TextBox 26">
            <a:extLst>
              <a:ext uri="{FF2B5EF4-FFF2-40B4-BE49-F238E27FC236}">
                <a16:creationId xmlns:a16="http://schemas.microsoft.com/office/drawing/2014/main" id="{8298ED0F-C86E-41A8-A944-23B5CDF6E826}"/>
              </a:ext>
            </a:extLst>
          </p:cNvPr>
          <p:cNvSpPr txBox="1"/>
          <p:nvPr>
            <p:custDataLst>
              <p:tags r:id="rId26"/>
            </p:custDataLst>
          </p:nvPr>
        </p:nvSpPr>
        <p:spPr>
          <a:xfrm>
            <a:off x="6629400" y="2349915"/>
            <a:ext cx="533400" cy="461665"/>
          </a:xfrm>
          <a:prstGeom prst="rect">
            <a:avLst/>
          </a:prstGeom>
          <a:solidFill>
            <a:schemeClr val="bg1"/>
          </a:solidFill>
        </p:spPr>
        <p:txBody>
          <a:bodyPr wrap="square" rtlCol="0" anchor="ctr">
            <a:spAutoFit/>
          </a:bodyPr>
          <a:lstStyle/>
          <a:p>
            <a:pPr algn="ctr"/>
            <a:r>
              <a:rPr lang="en-US" sz="2400" dirty="0">
                <a:latin typeface="+mn-lt"/>
              </a:rPr>
              <a:t>01</a:t>
            </a:r>
          </a:p>
        </p:txBody>
      </p:sp>
      <p:sp>
        <p:nvSpPr>
          <p:cNvPr id="28" name="TextBox 27">
            <a:extLst>
              <a:ext uri="{FF2B5EF4-FFF2-40B4-BE49-F238E27FC236}">
                <a16:creationId xmlns:a16="http://schemas.microsoft.com/office/drawing/2014/main" id="{1AC81869-FDC5-4D5A-A1AD-9012A00EEEA0}"/>
              </a:ext>
            </a:extLst>
          </p:cNvPr>
          <p:cNvSpPr txBox="1"/>
          <p:nvPr>
            <p:custDataLst>
              <p:tags r:id="rId27"/>
            </p:custDataLst>
          </p:nvPr>
        </p:nvSpPr>
        <p:spPr>
          <a:xfrm>
            <a:off x="6926843" y="3735566"/>
            <a:ext cx="533400" cy="461665"/>
          </a:xfrm>
          <a:prstGeom prst="rect">
            <a:avLst/>
          </a:prstGeom>
          <a:noFill/>
        </p:spPr>
        <p:txBody>
          <a:bodyPr wrap="square" rtlCol="0" anchor="ctr">
            <a:spAutoFit/>
          </a:bodyPr>
          <a:lstStyle/>
          <a:p>
            <a:pPr algn="ctr"/>
            <a:r>
              <a:rPr lang="en-US" sz="2400" dirty="0">
                <a:latin typeface="+mn-lt"/>
              </a:rPr>
              <a:t>d</a:t>
            </a:r>
          </a:p>
        </p:txBody>
      </p:sp>
    </p:spTree>
    <p:custDataLst>
      <p:tags r:id="rId1"/>
    </p:custDataLst>
    <p:extLst>
      <p:ext uri="{BB962C8B-B14F-4D97-AF65-F5344CB8AC3E}">
        <p14:creationId xmlns:p14="http://schemas.microsoft.com/office/powerpoint/2010/main" val="30210258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13"/>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2"/>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2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11"/>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2"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38710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animBg="1"/>
      <p:bldP spid="22" grpId="0"/>
      <p:bldP spid="23" grpId="0" animBg="1"/>
      <p:bldP spid="24" grpId="0"/>
      <p:bldP spid="25" grpId="0" animBg="1"/>
      <p:bldP spid="25" grpId="1" animBg="1"/>
      <p:bldP spid="25" grpId="2" animBg="1"/>
      <p:bldP spid="26" grpId="0"/>
      <p:bldP spid="27" grpId="0" animBg="1"/>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Replacement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10</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141694"/>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custDataLst>
              <p:tags r:id="rId4"/>
            </p:custDataLst>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custDataLst>
              <p:tags r:id="rId5"/>
            </p:custDataLst>
          </p:nvPr>
        </p:nvSpPr>
        <p:spPr>
          <a:xfrm flipV="1">
            <a:off x="6477000" y="5410200"/>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custDataLst>
              <p:tags r:id="rId6"/>
            </p:custDataLst>
          </p:nvPr>
        </p:nvSpPr>
        <p:spPr>
          <a:xfrm>
            <a:off x="4617720" y="5311602"/>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604760" y="5867400"/>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custDataLst>
              <p:tags r:id="rId7"/>
            </p:custDataLst>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custDataLst>
              <p:tags r:id="rId8"/>
            </p:custDataLst>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custDataLst>
              <p:tags r:id="rId9"/>
            </p:custDataLst>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custDataLst>
              <p:tags r:id="rId10"/>
            </p:custDataLst>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custDataLst>
              <p:tags r:id="rId11"/>
            </p:custDataLst>
          </p:nvPr>
        </p:nvSpPr>
        <p:spPr>
          <a:xfrm>
            <a:off x="4736352" y="5211499"/>
            <a:ext cx="1066800" cy="369332"/>
          </a:xfrm>
          <a:prstGeom prst="rect">
            <a:avLst/>
          </a:prstGeom>
          <a:noFill/>
        </p:spPr>
        <p:txBody>
          <a:bodyPr wrap="square" rtlCol="0" anchor="ctr">
            <a:spAutoFit/>
          </a:bodyPr>
          <a:lstStyle/>
          <a:p>
            <a:pPr algn="ctr"/>
            <a:r>
              <a:rPr lang="en-US" sz="1800" dirty="0">
                <a:latin typeface="+mn-lt"/>
              </a:rPr>
              <a:t>hit?</a:t>
            </a:r>
          </a:p>
        </p:txBody>
      </p:sp>
      <p:sp>
        <p:nvSpPr>
          <p:cNvPr id="21" name="TextBox 20">
            <a:extLst>
              <a:ext uri="{FF2B5EF4-FFF2-40B4-BE49-F238E27FC236}">
                <a16:creationId xmlns:a16="http://schemas.microsoft.com/office/drawing/2014/main" id="{D23554DD-1D82-42D6-A8F7-6C72CFDE8D44}"/>
              </a:ext>
            </a:extLst>
          </p:cNvPr>
          <p:cNvSpPr txBox="1"/>
          <p:nvPr>
            <p:custDataLst>
              <p:tags r:id="rId12"/>
            </p:custDataLst>
          </p:nvPr>
        </p:nvSpPr>
        <p:spPr>
          <a:xfrm>
            <a:off x="304800" y="1474695"/>
            <a:ext cx="2057400" cy="369332"/>
          </a:xfrm>
          <a:prstGeom prst="rect">
            <a:avLst/>
          </a:prstGeom>
          <a:noFill/>
        </p:spPr>
        <p:txBody>
          <a:bodyPr wrap="square" rtlCol="0" anchor="ctr">
            <a:spAutoFit/>
          </a:bodyPr>
          <a:lstStyle/>
          <a:p>
            <a:pPr algn="ctr"/>
            <a:r>
              <a:rPr lang="en-US" sz="1800" b="1" dirty="0">
                <a:solidFill>
                  <a:schemeClr val="accent6">
                    <a:lumMod val="75000"/>
                  </a:schemeClr>
                </a:solidFill>
                <a:latin typeface="+mn-lt"/>
              </a:rPr>
              <a:t>address X</a:t>
            </a:r>
          </a:p>
        </p:txBody>
      </p:sp>
      <p:cxnSp>
        <p:nvCxnSpPr>
          <p:cNvPr id="23" name="Straight Arrow Connector 22">
            <a:extLst>
              <a:ext uri="{FF2B5EF4-FFF2-40B4-BE49-F238E27FC236}">
                <a16:creationId xmlns:a16="http://schemas.microsoft.com/office/drawing/2014/main" id="{EF20B0A6-5147-4BF4-B83F-D6A1A3CBAA4C}"/>
              </a:ext>
            </a:extLst>
          </p:cNvPr>
          <p:cNvCxnSpPr/>
          <p:nvPr/>
        </p:nvCxnSpPr>
        <p:spPr>
          <a:xfrm flipV="1">
            <a:off x="1371599" y="4267200"/>
            <a:ext cx="1" cy="12344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AFD8470-1C89-4B1B-8891-D34FEADA59A1}"/>
              </a:ext>
            </a:extLst>
          </p:cNvPr>
          <p:cNvCxnSpPr/>
          <p:nvPr/>
        </p:nvCxnSpPr>
        <p:spPr>
          <a:xfrm>
            <a:off x="1341120" y="5513294"/>
            <a:ext cx="18288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548639" y="3059654"/>
            <a:ext cx="16459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custDataLst>
              <p:tags r:id="rId13"/>
            </p:custDataLst>
          </p:nvPr>
        </p:nvSpPr>
        <p:spPr>
          <a:xfrm>
            <a:off x="7162800" y="6423198"/>
            <a:ext cx="1066800" cy="369332"/>
          </a:xfrm>
          <a:prstGeom prst="rect">
            <a:avLst/>
          </a:prstGeom>
          <a:noFill/>
        </p:spPr>
        <p:txBody>
          <a:bodyPr wrap="square" rtlCol="0" anchor="ctr">
            <a:spAutoFit/>
          </a:bodyPr>
          <a:lstStyle/>
          <a:p>
            <a:pPr algn="ctr"/>
            <a:r>
              <a:rPr lang="en-US" sz="1800" dirty="0">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custDataLst>
              <p:tags r:id="rId14"/>
            </p:custDataLst>
          </p:nvPr>
        </p:nvSpPr>
        <p:spPr>
          <a:xfrm>
            <a:off x="1066800" y="5132295"/>
            <a:ext cx="1066800" cy="369332"/>
          </a:xfrm>
          <a:prstGeom prst="rect">
            <a:avLst/>
          </a:prstGeom>
          <a:noFill/>
        </p:spPr>
        <p:txBody>
          <a:bodyPr wrap="square" rtlCol="0" anchor="ctr">
            <a:spAutoFit/>
          </a:bodyPr>
          <a:lstStyle/>
          <a:p>
            <a:pPr algn="ctr"/>
            <a:r>
              <a:rPr lang="en-US" sz="1800" dirty="0">
                <a:latin typeface="+mn-lt"/>
              </a:rPr>
              <a:t>tag</a:t>
            </a:r>
          </a:p>
        </p:txBody>
      </p:sp>
      <p:sp>
        <p:nvSpPr>
          <p:cNvPr id="29" name="TextBox 28">
            <a:extLst>
              <a:ext uri="{FF2B5EF4-FFF2-40B4-BE49-F238E27FC236}">
                <a16:creationId xmlns:a16="http://schemas.microsoft.com/office/drawing/2014/main" id="{AB906976-B199-4CE3-A6BE-841BAF2729FA}"/>
              </a:ext>
            </a:extLst>
          </p:cNvPr>
          <p:cNvSpPr txBox="1"/>
          <p:nvPr>
            <p:custDataLst>
              <p:tags r:id="rId15"/>
            </p:custDataLst>
          </p:nvPr>
        </p:nvSpPr>
        <p:spPr>
          <a:xfrm>
            <a:off x="1752600" y="3848563"/>
            <a:ext cx="1066800" cy="369332"/>
          </a:xfrm>
          <a:prstGeom prst="rect">
            <a:avLst/>
          </a:prstGeom>
          <a:noFill/>
        </p:spPr>
        <p:txBody>
          <a:bodyPr wrap="square" rtlCol="0" anchor="ctr">
            <a:spAutoFit/>
          </a:bodyPr>
          <a:lstStyle/>
          <a:p>
            <a:pPr algn="ctr"/>
            <a:r>
              <a:rPr lang="en-US" sz="1800" dirty="0">
                <a:latin typeface="+mn-lt"/>
              </a:rPr>
              <a:t>set</a:t>
            </a:r>
          </a:p>
        </p:txBody>
      </p:sp>
      <p:graphicFrame>
        <p:nvGraphicFramePr>
          <p:cNvPr id="30" name="Table 29">
            <a:extLst>
              <a:ext uri="{FF2B5EF4-FFF2-40B4-BE49-F238E27FC236}">
                <a16:creationId xmlns:a16="http://schemas.microsoft.com/office/drawing/2014/main" id="{03723D23-00D9-4EEE-BCFC-EA0193BA23DB}"/>
              </a:ext>
            </a:extLst>
          </p:cNvPr>
          <p:cNvGraphicFramePr>
            <a:graphicFrameLocks noGrp="1"/>
          </p:cNvGraphicFramePr>
          <p:nvPr>
            <p:custDataLst>
              <p:tags r:id="rId16"/>
            </p:custDataLst>
          </p:nvPr>
        </p:nvGraphicFramePr>
        <p:xfrm>
          <a:off x="304800" y="1865854"/>
          <a:ext cx="2057400" cy="3708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32" name="Straight Arrow Connector 31">
            <a:extLst>
              <a:ext uri="{FF2B5EF4-FFF2-40B4-BE49-F238E27FC236}">
                <a16:creationId xmlns:a16="http://schemas.microsoft.com/office/drawing/2014/main" id="{679A27B7-866F-4D2D-8BCC-C737D362167D}"/>
              </a:ext>
            </a:extLst>
          </p:cNvPr>
          <p:cNvCxnSpPr/>
          <p:nvPr/>
        </p:nvCxnSpPr>
        <p:spPr>
          <a:xfrm rot="5400000">
            <a:off x="2880360" y="4709160"/>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5D2773F-F3F7-44B5-884D-8B184D0DB4BA}"/>
              </a:ext>
            </a:extLst>
          </p:cNvPr>
          <p:cNvCxnSpPr/>
          <p:nvPr/>
        </p:nvCxnSpPr>
        <p:spPr>
          <a:xfrm>
            <a:off x="3276600" y="414528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A5569DC-1A1A-47AB-9B3F-4F628586BB37}"/>
              </a:ext>
            </a:extLst>
          </p:cNvPr>
          <p:cNvCxnSpPr/>
          <p:nvPr/>
        </p:nvCxnSpPr>
        <p:spPr>
          <a:xfrm rot="5400000">
            <a:off x="6217920" y="4770120"/>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21A3F71-2F44-498D-A591-A652E8CA6DA4}"/>
              </a:ext>
            </a:extLst>
          </p:cNvPr>
          <p:cNvCxnSpPr/>
          <p:nvPr/>
        </p:nvCxnSpPr>
        <p:spPr>
          <a:xfrm>
            <a:off x="6705600" y="411480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9EAAD497-4CC8-401F-BCFF-B4E9F6E4EBD5}"/>
              </a:ext>
            </a:extLst>
          </p:cNvPr>
          <p:cNvSpPr/>
          <p:nvPr>
            <p:custDataLst>
              <p:tags r:id="rId17"/>
            </p:custDataLst>
          </p:nvPr>
        </p:nvSpPr>
        <p:spPr>
          <a:xfrm>
            <a:off x="3200400" y="5303520"/>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38" name="Straight Arrow Connector 37">
            <a:extLst>
              <a:ext uri="{FF2B5EF4-FFF2-40B4-BE49-F238E27FC236}">
                <a16:creationId xmlns:a16="http://schemas.microsoft.com/office/drawing/2014/main" id="{505919CF-DCAD-4367-A303-2474982B217D}"/>
              </a:ext>
            </a:extLst>
          </p:cNvPr>
          <p:cNvCxnSpPr/>
          <p:nvPr/>
        </p:nvCxnSpPr>
        <p:spPr>
          <a:xfrm>
            <a:off x="3627120" y="5513294"/>
            <a:ext cx="10058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D3EDF16-DBB0-48EF-89B0-6B6502E66405}"/>
              </a:ext>
            </a:extLst>
          </p:cNvPr>
          <p:cNvSpPr txBox="1"/>
          <p:nvPr>
            <p:custDataLst>
              <p:tags r:id="rId18"/>
            </p:custDataLst>
          </p:nvPr>
        </p:nvSpPr>
        <p:spPr>
          <a:xfrm>
            <a:off x="3352800" y="5202239"/>
            <a:ext cx="1066800" cy="369332"/>
          </a:xfrm>
          <a:prstGeom prst="rect">
            <a:avLst/>
          </a:prstGeom>
          <a:noFill/>
        </p:spPr>
        <p:txBody>
          <a:bodyPr wrap="square" rtlCol="0" anchor="ctr">
            <a:spAutoFit/>
          </a:bodyPr>
          <a:lstStyle/>
          <a:p>
            <a:pPr algn="ctr"/>
            <a:r>
              <a:rPr lang="en-US" sz="1800" dirty="0">
                <a:latin typeface="+mn-lt"/>
              </a:rPr>
              <a:t>hit?</a:t>
            </a:r>
          </a:p>
        </p:txBody>
      </p:sp>
      <p:grpSp>
        <p:nvGrpSpPr>
          <p:cNvPr id="2" name="Group 1">
            <a:extLst>
              <a:ext uri="{FF2B5EF4-FFF2-40B4-BE49-F238E27FC236}">
                <a16:creationId xmlns:a16="http://schemas.microsoft.com/office/drawing/2014/main" id="{D4CBFDBE-E879-40B0-9DF6-38417B1FB570}"/>
              </a:ext>
            </a:extLst>
          </p:cNvPr>
          <p:cNvGrpSpPr/>
          <p:nvPr>
            <p:custDataLst>
              <p:tags r:id="rId19"/>
            </p:custDataLst>
          </p:nvPr>
        </p:nvGrpSpPr>
        <p:grpSpPr>
          <a:xfrm>
            <a:off x="7391400" y="5950123"/>
            <a:ext cx="609600" cy="396875"/>
            <a:chOff x="8153400" y="5794108"/>
            <a:chExt cx="609600" cy="396875"/>
          </a:xfrm>
        </p:grpSpPr>
        <p:sp>
          <p:nvSpPr>
            <p:cNvPr id="41" name="Freeform 8">
              <a:extLst>
                <a:ext uri="{FF2B5EF4-FFF2-40B4-BE49-F238E27FC236}">
                  <a16:creationId xmlns:a16="http://schemas.microsoft.com/office/drawing/2014/main" id="{F8158F62-36FC-4621-A9A8-82083B14B091}"/>
                </a:ext>
              </a:extLst>
            </p:cNvPr>
            <p:cNvSpPr>
              <a:spLocks/>
            </p:cNvSpPr>
            <p:nvPr>
              <p:custDataLst>
                <p:tags r:id="rId24"/>
              </p:custDataLst>
            </p:nvPr>
          </p:nvSpPr>
          <p:spPr bwMode="auto">
            <a:xfrm>
              <a:off x="8153400" y="582427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bg1"/>
            </a:solidFill>
            <a:ln w="28575">
              <a:solidFill>
                <a:srgbClr val="000000"/>
              </a:solidFill>
              <a:round/>
              <a:headEnd/>
              <a:tailEnd/>
            </a:ln>
          </p:spPr>
          <p:txBody>
            <a:bodyPr wrap="none" anchor="ctr"/>
            <a:lstStyle/>
            <a:p>
              <a:endParaRPr lang="en-US"/>
            </a:p>
          </p:txBody>
        </p:sp>
        <p:sp>
          <p:nvSpPr>
            <p:cNvPr id="42" name="Text Box 9">
              <a:extLst>
                <a:ext uri="{FF2B5EF4-FFF2-40B4-BE49-F238E27FC236}">
                  <a16:creationId xmlns:a16="http://schemas.microsoft.com/office/drawing/2014/main" id="{11ABB66B-0CB6-45AD-B9EE-4ABA7010C630}"/>
                </a:ext>
              </a:extLst>
            </p:cNvPr>
            <p:cNvSpPr txBox="1">
              <a:spLocks noChangeArrowheads="1"/>
            </p:cNvSpPr>
            <p:nvPr>
              <p:custDataLst>
                <p:tags r:id="rId25"/>
              </p:custDataLst>
            </p:nvPr>
          </p:nvSpPr>
          <p:spPr bwMode="auto">
            <a:xfrm>
              <a:off x="8215313" y="579410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rgbClr val="000000"/>
                  </a:solidFill>
                  <a:latin typeface="Arial" panose="020B0604020202020204" pitchFamily="34" charset="0"/>
                </a:rPr>
                <a:t>&lt;&lt;</a:t>
              </a:r>
              <a:endParaRPr lang="en-US" altLang="en-US" sz="1800" dirty="0">
                <a:solidFill>
                  <a:srgbClr val="000000"/>
                </a:solidFill>
                <a:latin typeface="Arial" panose="020B0604020202020204" pitchFamily="34" charset="0"/>
              </a:endParaRPr>
            </a:p>
          </p:txBody>
        </p:sp>
      </p:grpSp>
      <p:cxnSp>
        <p:nvCxnSpPr>
          <p:cNvPr id="43" name="Straight Arrow Connector 42">
            <a:extLst>
              <a:ext uri="{FF2B5EF4-FFF2-40B4-BE49-F238E27FC236}">
                <a16:creationId xmlns:a16="http://schemas.microsoft.com/office/drawing/2014/main" id="{C90C0CAC-7309-4C2F-B5FD-A436FC0B61ED}"/>
              </a:ext>
            </a:extLst>
          </p:cNvPr>
          <p:cNvCxnSpPr/>
          <p:nvPr/>
        </p:nvCxnSpPr>
        <p:spPr>
          <a:xfrm rot="5400000">
            <a:off x="7604760" y="6407958"/>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C9BB4D2-398E-4BA5-B45D-74FC87AF271E}"/>
              </a:ext>
            </a:extLst>
          </p:cNvPr>
          <p:cNvCxnSpPr/>
          <p:nvPr/>
        </p:nvCxnSpPr>
        <p:spPr>
          <a:xfrm>
            <a:off x="518160" y="6096000"/>
            <a:ext cx="69494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63875AD-60C6-47F5-956B-3F8AF6A0DE4B}"/>
              </a:ext>
            </a:extLst>
          </p:cNvPr>
          <p:cNvCxnSpPr/>
          <p:nvPr/>
        </p:nvCxnSpPr>
        <p:spPr>
          <a:xfrm flipV="1">
            <a:off x="541148" y="4191000"/>
            <a:ext cx="1" cy="192024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587E0B9-D0C6-4BEB-BBBE-C2939F1FC832}"/>
              </a:ext>
            </a:extLst>
          </p:cNvPr>
          <p:cNvCxnSpPr/>
          <p:nvPr/>
        </p:nvCxnSpPr>
        <p:spPr>
          <a:xfrm>
            <a:off x="541150" y="4191000"/>
            <a:ext cx="822960"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89626A9-C5FB-4FC1-9B19-25349B453A6D}"/>
              </a:ext>
            </a:extLst>
          </p:cNvPr>
          <p:cNvSpPr txBox="1"/>
          <p:nvPr>
            <p:custDataLst>
              <p:tags r:id="rId20"/>
            </p:custDataLst>
          </p:nvPr>
        </p:nvSpPr>
        <p:spPr>
          <a:xfrm>
            <a:off x="266699" y="5726668"/>
            <a:ext cx="1790699" cy="369332"/>
          </a:xfrm>
          <a:prstGeom prst="rect">
            <a:avLst/>
          </a:prstGeom>
          <a:noFill/>
        </p:spPr>
        <p:txBody>
          <a:bodyPr wrap="square" rtlCol="0" anchor="ctr">
            <a:spAutoFit/>
          </a:bodyPr>
          <a:lstStyle/>
          <a:p>
            <a:pPr algn="ctr"/>
            <a:r>
              <a:rPr lang="en-US" sz="1800" dirty="0">
                <a:latin typeface="+mn-lt"/>
              </a:rPr>
              <a:t>block offset</a:t>
            </a:r>
          </a:p>
        </p:txBody>
      </p:sp>
      <p:sp>
        <p:nvSpPr>
          <p:cNvPr id="22" name="TextBox 21">
            <a:extLst>
              <a:ext uri="{FF2B5EF4-FFF2-40B4-BE49-F238E27FC236}">
                <a16:creationId xmlns:a16="http://schemas.microsoft.com/office/drawing/2014/main" id="{128C01E9-6765-4A72-B779-3980D3EC081A}"/>
              </a:ext>
            </a:extLst>
          </p:cNvPr>
          <p:cNvSpPr txBox="1"/>
          <p:nvPr>
            <p:custDataLst>
              <p:tags r:id="rId21"/>
            </p:custDataLst>
          </p:nvPr>
        </p:nvSpPr>
        <p:spPr>
          <a:xfrm>
            <a:off x="838200" y="3886186"/>
            <a:ext cx="1066800" cy="560308"/>
          </a:xfrm>
          <a:prstGeom prst="rect">
            <a:avLst/>
          </a:prstGeom>
          <a:solidFill>
            <a:schemeClr val="bg1"/>
          </a:solidFill>
          <a:ln w="25400">
            <a:solidFill>
              <a:schemeClr val="tx1"/>
            </a:solidFill>
          </a:ln>
        </p:spPr>
        <p:txBody>
          <a:bodyPr wrap="square" rtlCol="0" anchor="ctr">
            <a:noAutofit/>
          </a:bodyPr>
          <a:lstStyle/>
          <a:p>
            <a:pPr algn="ctr"/>
            <a:r>
              <a:rPr lang="en-US" sz="1800" dirty="0">
                <a:latin typeface="+mn-lt"/>
              </a:rPr>
              <a:t>hash function</a:t>
            </a:r>
          </a:p>
        </p:txBody>
      </p:sp>
      <p:sp>
        <p:nvSpPr>
          <p:cNvPr id="48" name="Rectangle: Rounded Corners 47">
            <a:extLst>
              <a:ext uri="{FF2B5EF4-FFF2-40B4-BE49-F238E27FC236}">
                <a16:creationId xmlns:a16="http://schemas.microsoft.com/office/drawing/2014/main" id="{9BE0158C-EBA5-4304-86F7-3B932F870EE6}"/>
              </a:ext>
            </a:extLst>
          </p:cNvPr>
          <p:cNvSpPr/>
          <p:nvPr>
            <p:custDataLst>
              <p:tags r:id="rId22"/>
            </p:custDataLst>
          </p:nvPr>
        </p:nvSpPr>
        <p:spPr>
          <a:xfrm>
            <a:off x="2704353" y="3848562"/>
            <a:ext cx="2020047" cy="560308"/>
          </a:xfrm>
          <a:prstGeom prst="roundRect">
            <a:avLst/>
          </a:prstGeom>
          <a:noFill/>
          <a:ln w="50800">
            <a:solidFill>
              <a:schemeClr val="accent6">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B3418A8-DDF9-4A1F-AE96-A8320D8A95BE}"/>
              </a:ext>
            </a:extLst>
          </p:cNvPr>
          <p:cNvSpPr txBox="1"/>
          <p:nvPr>
            <p:custDataLst>
              <p:tags r:id="rId23"/>
            </p:custDataLst>
          </p:nvPr>
        </p:nvSpPr>
        <p:spPr>
          <a:xfrm>
            <a:off x="324770" y="6257602"/>
            <a:ext cx="2514600" cy="560717"/>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if associativity is low, lots of cache thrashing</a:t>
            </a:r>
          </a:p>
        </p:txBody>
      </p:sp>
      <p:cxnSp>
        <p:nvCxnSpPr>
          <p:cNvPr id="50" name="Straight Connector 49">
            <a:extLst>
              <a:ext uri="{FF2B5EF4-FFF2-40B4-BE49-F238E27FC236}">
                <a16:creationId xmlns:a16="http://schemas.microsoft.com/office/drawing/2014/main" id="{0FD36DA6-AB57-48F4-B006-C3FB5F6E564D}"/>
              </a:ext>
            </a:extLst>
          </p:cNvPr>
          <p:cNvCxnSpPr>
            <a:cxnSpLocks/>
          </p:cNvCxnSpPr>
          <p:nvPr/>
        </p:nvCxnSpPr>
        <p:spPr>
          <a:xfrm flipH="1">
            <a:off x="2158104" y="4397203"/>
            <a:ext cx="1080401" cy="1887882"/>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75978994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Skewed-Associative Caches</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11</a:t>
            </a:fld>
            <a:endParaRPr lang="en-US" altLang="en-US"/>
          </a:p>
        </p:txBody>
      </p:sp>
      <p:cxnSp>
        <p:nvCxnSpPr>
          <p:cNvPr id="6" name="Straight Arrow Connector 5">
            <a:extLst>
              <a:ext uri="{FF2B5EF4-FFF2-40B4-BE49-F238E27FC236}">
                <a16:creationId xmlns:a16="http://schemas.microsoft.com/office/drawing/2014/main" id="{C45BE81F-7E63-42E4-A768-6A2DBF6438D0}"/>
              </a:ext>
            </a:extLst>
          </p:cNvPr>
          <p:cNvCxnSpPr/>
          <p:nvPr/>
        </p:nvCxnSpPr>
        <p:spPr>
          <a:xfrm>
            <a:off x="1371600" y="4876800"/>
            <a:ext cx="1371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013A05E-2BC7-4EE8-AE54-477FEED93E54}"/>
              </a:ext>
            </a:extLst>
          </p:cNvPr>
          <p:cNvGraphicFramePr>
            <a:graphicFrameLocks noGrp="1"/>
          </p:cNvGraphicFramePr>
          <p:nvPr>
            <p:custDataLst>
              <p:tags r:id="rId4"/>
            </p:custDataLst>
            <p:extLst>
              <p:ext uri="{D42A27DB-BD31-4B8C-83A1-F6EECF244321}">
                <p14:modId xmlns:p14="http://schemas.microsoft.com/office/powerpoint/2010/main" val="3834574701"/>
              </p:ext>
            </p:extLst>
          </p:nvPr>
        </p:nvGraphicFramePr>
        <p:xfrm>
          <a:off x="2743200" y="2846294"/>
          <a:ext cx="5710645" cy="2225040"/>
        </p:xfrm>
        <a:graphic>
          <a:graphicData uri="http://schemas.openxmlformats.org/drawingml/2006/table">
            <a:tbl>
              <a:tblPr bandRow="1">
                <a:tableStyleId>{5C22544A-7EE6-4342-B048-85BDC9FD1C3A}</a:tableStyleId>
              </a:tblPr>
              <a:tblGrid>
                <a:gridCol w="533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4286">
                  <a:extLst>
                    <a:ext uri="{9D8B030D-6E8A-4147-A177-3AD203B41FA5}">
                      <a16:colId xmlns:a16="http://schemas.microsoft.com/office/drawing/2014/main" val="20002"/>
                    </a:ext>
                  </a:extLst>
                </a:gridCol>
                <a:gridCol w="1197428">
                  <a:extLst>
                    <a:ext uri="{9D8B030D-6E8A-4147-A177-3AD203B41FA5}">
                      <a16:colId xmlns:a16="http://schemas.microsoft.com/office/drawing/2014/main" val="20003"/>
                    </a:ext>
                  </a:extLst>
                </a:gridCol>
                <a:gridCol w="870857">
                  <a:extLst>
                    <a:ext uri="{9D8B030D-6E8A-4147-A177-3AD203B41FA5}">
                      <a16:colId xmlns:a16="http://schemas.microsoft.com/office/drawing/2014/main" val="20004"/>
                    </a:ext>
                  </a:extLst>
                </a:gridCol>
                <a:gridCol w="870857">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0840">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tag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data</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r>
                        <a:rPr lang="en-US" b="0" dirty="0">
                          <a:latin typeface="+mn-lt"/>
                          <a:cs typeface="Calibri"/>
                        </a:rPr>
                        <a:t>● ● ●</a:t>
                      </a:r>
                      <a:endParaRPr lang="en-US" b="0"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t>(X)</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003"/>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370840">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dirty="0"/>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bl>
          </a:graphicData>
        </a:graphic>
      </p:graphicFrame>
      <p:sp>
        <p:nvSpPr>
          <p:cNvPr id="8" name="Trapezoid 7">
            <a:extLst>
              <a:ext uri="{FF2B5EF4-FFF2-40B4-BE49-F238E27FC236}">
                <a16:creationId xmlns:a16="http://schemas.microsoft.com/office/drawing/2014/main" id="{7D55239E-209F-495A-8B42-1E271C042D73}"/>
              </a:ext>
            </a:extLst>
          </p:cNvPr>
          <p:cNvSpPr/>
          <p:nvPr>
            <p:custDataLst>
              <p:tags r:id="rId5"/>
            </p:custDataLst>
          </p:nvPr>
        </p:nvSpPr>
        <p:spPr>
          <a:xfrm flipV="1">
            <a:off x="6477000" y="5410200"/>
            <a:ext cx="2514600" cy="365760"/>
          </a:xfrm>
          <a:prstGeom prst="trapezoid">
            <a:avLst>
              <a:gd name="adj" fmla="val 86212"/>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BEEB579-362A-4A16-AE30-59E1934ACA39}"/>
              </a:ext>
            </a:extLst>
          </p:cNvPr>
          <p:cNvSpPr/>
          <p:nvPr>
            <p:custDataLst>
              <p:tags r:id="rId6"/>
            </p:custDataLst>
          </p:nvPr>
        </p:nvSpPr>
        <p:spPr>
          <a:xfrm>
            <a:off x="4617720" y="5311602"/>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10" name="Straight Arrow Connector 9">
            <a:extLst>
              <a:ext uri="{FF2B5EF4-FFF2-40B4-BE49-F238E27FC236}">
                <a16:creationId xmlns:a16="http://schemas.microsoft.com/office/drawing/2014/main" id="{A894139C-8958-40DA-96C5-7E7E1362CDE8}"/>
              </a:ext>
            </a:extLst>
          </p:cNvPr>
          <p:cNvCxnSpPr/>
          <p:nvPr/>
        </p:nvCxnSpPr>
        <p:spPr>
          <a:xfrm>
            <a:off x="5029200" y="5540202"/>
            <a:ext cx="14630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C44F9E8-ABB5-4920-A616-85AF243C4DC1}"/>
              </a:ext>
            </a:extLst>
          </p:cNvPr>
          <p:cNvCxnSpPr/>
          <p:nvPr/>
        </p:nvCxnSpPr>
        <p:spPr>
          <a:xfrm rot="5400000">
            <a:off x="4251960" y="4705574"/>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C49A967-7F07-4B1E-B62B-888B49868097}"/>
              </a:ext>
            </a:extLst>
          </p:cNvPr>
          <p:cNvCxnSpPr/>
          <p:nvPr/>
        </p:nvCxnSpPr>
        <p:spPr>
          <a:xfrm rot="5400000">
            <a:off x="7970520" y="4797014"/>
            <a:ext cx="12801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5C35EAF-D1F2-4395-9584-B890290FB6C0}"/>
              </a:ext>
            </a:extLst>
          </p:cNvPr>
          <p:cNvCxnSpPr/>
          <p:nvPr/>
        </p:nvCxnSpPr>
        <p:spPr>
          <a:xfrm rot="5400000">
            <a:off x="7604760" y="5867400"/>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94DC620-9FB7-455C-A54B-B17860249AC7}"/>
              </a:ext>
            </a:extLst>
          </p:cNvPr>
          <p:cNvCxnSpPr/>
          <p:nvPr/>
        </p:nvCxnSpPr>
        <p:spPr>
          <a:xfrm>
            <a:off x="464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7CC8B1-6719-4FF5-BC73-524EACF45DF9}"/>
              </a:ext>
            </a:extLst>
          </p:cNvPr>
          <p:cNvCxnSpPr/>
          <p:nvPr/>
        </p:nvCxnSpPr>
        <p:spPr>
          <a:xfrm>
            <a:off x="8458200" y="4141694"/>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5E07A49-B957-459E-82B7-6E8E8DBCDFC0}"/>
              </a:ext>
            </a:extLst>
          </p:cNvPr>
          <p:cNvSpPr txBox="1"/>
          <p:nvPr>
            <p:custDataLst>
              <p:tags r:id="rId7"/>
            </p:custDataLst>
          </p:nvPr>
        </p:nvSpPr>
        <p:spPr>
          <a:xfrm>
            <a:off x="25146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7" name="TextBox 16">
            <a:extLst>
              <a:ext uri="{FF2B5EF4-FFF2-40B4-BE49-F238E27FC236}">
                <a16:creationId xmlns:a16="http://schemas.microsoft.com/office/drawing/2014/main" id="{6341C48D-44BD-475B-B436-7456F73B4146}"/>
              </a:ext>
            </a:extLst>
          </p:cNvPr>
          <p:cNvSpPr txBox="1"/>
          <p:nvPr>
            <p:custDataLst>
              <p:tags r:id="rId8"/>
            </p:custDataLst>
          </p:nvPr>
        </p:nvSpPr>
        <p:spPr>
          <a:xfrm>
            <a:off x="38862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18" name="TextBox 17">
            <a:extLst>
              <a:ext uri="{FF2B5EF4-FFF2-40B4-BE49-F238E27FC236}">
                <a16:creationId xmlns:a16="http://schemas.microsoft.com/office/drawing/2014/main" id="{BE5298D5-D95E-4743-BC73-CC3671367998}"/>
              </a:ext>
            </a:extLst>
          </p:cNvPr>
          <p:cNvSpPr txBox="1"/>
          <p:nvPr>
            <p:custDataLst>
              <p:tags r:id="rId9"/>
            </p:custDataLst>
          </p:nvPr>
        </p:nvSpPr>
        <p:spPr>
          <a:xfrm>
            <a:off x="5791200" y="2465295"/>
            <a:ext cx="990600" cy="369332"/>
          </a:xfrm>
          <a:prstGeom prst="rect">
            <a:avLst/>
          </a:prstGeom>
          <a:noFill/>
        </p:spPr>
        <p:txBody>
          <a:bodyPr wrap="square" rtlCol="0" anchor="ctr">
            <a:spAutoFit/>
          </a:bodyPr>
          <a:lstStyle/>
          <a:p>
            <a:pPr algn="ctr"/>
            <a:r>
              <a:rPr lang="en-US" sz="1800" dirty="0">
                <a:latin typeface="+mn-lt"/>
              </a:rPr>
              <a:t>way 0</a:t>
            </a:r>
          </a:p>
        </p:txBody>
      </p:sp>
      <p:sp>
        <p:nvSpPr>
          <p:cNvPr id="19" name="TextBox 18">
            <a:extLst>
              <a:ext uri="{FF2B5EF4-FFF2-40B4-BE49-F238E27FC236}">
                <a16:creationId xmlns:a16="http://schemas.microsoft.com/office/drawing/2014/main" id="{AB795696-7743-4BEA-8FE2-36D4269F3825}"/>
              </a:ext>
            </a:extLst>
          </p:cNvPr>
          <p:cNvSpPr txBox="1"/>
          <p:nvPr>
            <p:custDataLst>
              <p:tags r:id="rId10"/>
            </p:custDataLst>
          </p:nvPr>
        </p:nvSpPr>
        <p:spPr>
          <a:xfrm>
            <a:off x="7543800" y="2465295"/>
            <a:ext cx="990600" cy="369332"/>
          </a:xfrm>
          <a:prstGeom prst="rect">
            <a:avLst/>
          </a:prstGeom>
          <a:noFill/>
        </p:spPr>
        <p:txBody>
          <a:bodyPr wrap="square" rtlCol="0" anchor="ctr">
            <a:spAutoFit/>
          </a:bodyPr>
          <a:lstStyle/>
          <a:p>
            <a:pPr algn="ctr"/>
            <a:r>
              <a:rPr lang="en-US" sz="1800" dirty="0">
                <a:latin typeface="+mn-lt"/>
              </a:rPr>
              <a:t>way N-1</a:t>
            </a:r>
          </a:p>
        </p:txBody>
      </p:sp>
      <p:sp>
        <p:nvSpPr>
          <p:cNvPr id="20" name="TextBox 19">
            <a:extLst>
              <a:ext uri="{FF2B5EF4-FFF2-40B4-BE49-F238E27FC236}">
                <a16:creationId xmlns:a16="http://schemas.microsoft.com/office/drawing/2014/main" id="{AE44DC6D-E8F7-4AD8-B663-AB8F1ACC712A}"/>
              </a:ext>
            </a:extLst>
          </p:cNvPr>
          <p:cNvSpPr txBox="1"/>
          <p:nvPr>
            <p:custDataLst>
              <p:tags r:id="rId11"/>
            </p:custDataLst>
          </p:nvPr>
        </p:nvSpPr>
        <p:spPr>
          <a:xfrm>
            <a:off x="4736352" y="5211499"/>
            <a:ext cx="1066800" cy="369332"/>
          </a:xfrm>
          <a:prstGeom prst="rect">
            <a:avLst/>
          </a:prstGeom>
          <a:noFill/>
        </p:spPr>
        <p:txBody>
          <a:bodyPr wrap="square" rtlCol="0" anchor="ctr">
            <a:spAutoFit/>
          </a:bodyPr>
          <a:lstStyle/>
          <a:p>
            <a:pPr algn="ctr"/>
            <a:r>
              <a:rPr lang="en-US" sz="1800" dirty="0">
                <a:latin typeface="+mn-lt"/>
              </a:rPr>
              <a:t>hit?</a:t>
            </a:r>
          </a:p>
        </p:txBody>
      </p:sp>
      <p:sp>
        <p:nvSpPr>
          <p:cNvPr id="21" name="TextBox 20">
            <a:extLst>
              <a:ext uri="{FF2B5EF4-FFF2-40B4-BE49-F238E27FC236}">
                <a16:creationId xmlns:a16="http://schemas.microsoft.com/office/drawing/2014/main" id="{D23554DD-1D82-42D6-A8F7-6C72CFDE8D44}"/>
              </a:ext>
            </a:extLst>
          </p:cNvPr>
          <p:cNvSpPr txBox="1"/>
          <p:nvPr>
            <p:custDataLst>
              <p:tags r:id="rId12"/>
            </p:custDataLst>
          </p:nvPr>
        </p:nvSpPr>
        <p:spPr>
          <a:xfrm>
            <a:off x="304800" y="1474695"/>
            <a:ext cx="2057400" cy="369332"/>
          </a:xfrm>
          <a:prstGeom prst="rect">
            <a:avLst/>
          </a:prstGeom>
          <a:noFill/>
        </p:spPr>
        <p:txBody>
          <a:bodyPr wrap="square" rtlCol="0" anchor="ctr">
            <a:spAutoFit/>
          </a:bodyPr>
          <a:lstStyle/>
          <a:p>
            <a:pPr algn="ctr"/>
            <a:r>
              <a:rPr lang="en-US" sz="1800" b="1" dirty="0">
                <a:solidFill>
                  <a:schemeClr val="accent6">
                    <a:lumMod val="75000"/>
                  </a:schemeClr>
                </a:solidFill>
                <a:latin typeface="+mn-lt"/>
              </a:rPr>
              <a:t>address X</a:t>
            </a:r>
          </a:p>
        </p:txBody>
      </p:sp>
      <p:cxnSp>
        <p:nvCxnSpPr>
          <p:cNvPr id="24" name="Straight Arrow Connector 23">
            <a:extLst>
              <a:ext uri="{FF2B5EF4-FFF2-40B4-BE49-F238E27FC236}">
                <a16:creationId xmlns:a16="http://schemas.microsoft.com/office/drawing/2014/main" id="{BAFD8470-1C89-4B1B-8891-D34FEADA59A1}"/>
              </a:ext>
            </a:extLst>
          </p:cNvPr>
          <p:cNvCxnSpPr/>
          <p:nvPr/>
        </p:nvCxnSpPr>
        <p:spPr>
          <a:xfrm>
            <a:off x="533400" y="5513294"/>
            <a:ext cx="265176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4CFF512-2322-4974-8FF9-EC78E1A189C5}"/>
              </a:ext>
            </a:extLst>
          </p:cNvPr>
          <p:cNvCxnSpPr/>
          <p:nvPr/>
        </p:nvCxnSpPr>
        <p:spPr>
          <a:xfrm rot="5400000">
            <a:off x="182879" y="3425414"/>
            <a:ext cx="23774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DB65478-A7FD-4752-B35A-FE15BADCBA16}"/>
              </a:ext>
            </a:extLst>
          </p:cNvPr>
          <p:cNvSpPr txBox="1"/>
          <p:nvPr>
            <p:custDataLst>
              <p:tags r:id="rId13"/>
            </p:custDataLst>
          </p:nvPr>
        </p:nvSpPr>
        <p:spPr>
          <a:xfrm>
            <a:off x="7162800" y="6423198"/>
            <a:ext cx="1066800" cy="369332"/>
          </a:xfrm>
          <a:prstGeom prst="rect">
            <a:avLst/>
          </a:prstGeom>
          <a:noFill/>
        </p:spPr>
        <p:txBody>
          <a:bodyPr wrap="square" rtlCol="0" anchor="ctr">
            <a:spAutoFit/>
          </a:bodyPr>
          <a:lstStyle/>
          <a:p>
            <a:pPr algn="ctr"/>
            <a:r>
              <a:rPr lang="en-US" sz="1800" dirty="0">
                <a:latin typeface="+mn-lt"/>
              </a:rPr>
              <a:t>data</a:t>
            </a:r>
          </a:p>
        </p:txBody>
      </p:sp>
      <p:sp>
        <p:nvSpPr>
          <p:cNvPr id="28" name="TextBox 27">
            <a:extLst>
              <a:ext uri="{FF2B5EF4-FFF2-40B4-BE49-F238E27FC236}">
                <a16:creationId xmlns:a16="http://schemas.microsoft.com/office/drawing/2014/main" id="{8071B42F-939D-4840-ADF4-38EEF9D46DCE}"/>
              </a:ext>
            </a:extLst>
          </p:cNvPr>
          <p:cNvSpPr txBox="1"/>
          <p:nvPr>
            <p:custDataLst>
              <p:tags r:id="rId14"/>
            </p:custDataLst>
          </p:nvPr>
        </p:nvSpPr>
        <p:spPr>
          <a:xfrm>
            <a:off x="228600" y="5132295"/>
            <a:ext cx="1066800" cy="369332"/>
          </a:xfrm>
          <a:prstGeom prst="rect">
            <a:avLst/>
          </a:prstGeom>
          <a:noFill/>
        </p:spPr>
        <p:txBody>
          <a:bodyPr wrap="square" rtlCol="0" anchor="ctr">
            <a:spAutoFit/>
          </a:bodyPr>
          <a:lstStyle/>
          <a:p>
            <a:pPr algn="ctr"/>
            <a:r>
              <a:rPr lang="en-US" sz="1800" dirty="0">
                <a:latin typeface="+mn-lt"/>
              </a:rPr>
              <a:t>tag</a:t>
            </a:r>
          </a:p>
        </p:txBody>
      </p:sp>
      <p:cxnSp>
        <p:nvCxnSpPr>
          <p:cNvPr id="32" name="Straight Arrow Connector 31">
            <a:extLst>
              <a:ext uri="{FF2B5EF4-FFF2-40B4-BE49-F238E27FC236}">
                <a16:creationId xmlns:a16="http://schemas.microsoft.com/office/drawing/2014/main" id="{679A27B7-866F-4D2D-8BCC-C737D362167D}"/>
              </a:ext>
            </a:extLst>
          </p:cNvPr>
          <p:cNvCxnSpPr/>
          <p:nvPr/>
        </p:nvCxnSpPr>
        <p:spPr>
          <a:xfrm rot="5400000">
            <a:off x="2880360" y="4709160"/>
            <a:ext cx="10972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5D2773F-F3F7-44B5-884D-8B184D0DB4BA}"/>
              </a:ext>
            </a:extLst>
          </p:cNvPr>
          <p:cNvCxnSpPr/>
          <p:nvPr/>
        </p:nvCxnSpPr>
        <p:spPr>
          <a:xfrm>
            <a:off x="3276600" y="414528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A5569DC-1A1A-47AB-9B3F-4F628586BB37}"/>
              </a:ext>
            </a:extLst>
          </p:cNvPr>
          <p:cNvCxnSpPr/>
          <p:nvPr/>
        </p:nvCxnSpPr>
        <p:spPr>
          <a:xfrm rot="5400000">
            <a:off x="6606540" y="5143500"/>
            <a:ext cx="50292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21A3F71-2F44-498D-A591-A652E8CA6DA4}"/>
              </a:ext>
            </a:extLst>
          </p:cNvPr>
          <p:cNvCxnSpPr/>
          <p:nvPr/>
        </p:nvCxnSpPr>
        <p:spPr>
          <a:xfrm>
            <a:off x="6705600" y="4876800"/>
            <a:ext cx="164592"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9EAAD497-4CC8-401F-BCFF-B4E9F6E4EBD5}"/>
              </a:ext>
            </a:extLst>
          </p:cNvPr>
          <p:cNvSpPr/>
          <p:nvPr>
            <p:custDataLst>
              <p:tags r:id="rId15"/>
            </p:custDataLst>
          </p:nvPr>
        </p:nvSpPr>
        <p:spPr>
          <a:xfrm>
            <a:off x="3200400" y="5303520"/>
            <a:ext cx="411480" cy="411480"/>
          </a:xfrm>
          <a:prstGeom prst="ellipse">
            <a:avLst/>
          </a:prstGeom>
          <a:solidFill>
            <a:schemeClr val="bg1"/>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a:t>
            </a:r>
          </a:p>
        </p:txBody>
      </p:sp>
      <p:cxnSp>
        <p:nvCxnSpPr>
          <p:cNvPr id="38" name="Straight Arrow Connector 37">
            <a:extLst>
              <a:ext uri="{FF2B5EF4-FFF2-40B4-BE49-F238E27FC236}">
                <a16:creationId xmlns:a16="http://schemas.microsoft.com/office/drawing/2014/main" id="{505919CF-DCAD-4367-A303-2474982B217D}"/>
              </a:ext>
            </a:extLst>
          </p:cNvPr>
          <p:cNvCxnSpPr/>
          <p:nvPr/>
        </p:nvCxnSpPr>
        <p:spPr>
          <a:xfrm>
            <a:off x="3627120" y="5513294"/>
            <a:ext cx="10058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D3EDF16-DBB0-48EF-89B0-6B6502E66405}"/>
              </a:ext>
            </a:extLst>
          </p:cNvPr>
          <p:cNvSpPr txBox="1"/>
          <p:nvPr>
            <p:custDataLst>
              <p:tags r:id="rId16"/>
            </p:custDataLst>
          </p:nvPr>
        </p:nvSpPr>
        <p:spPr>
          <a:xfrm>
            <a:off x="3352800" y="5202239"/>
            <a:ext cx="1066800" cy="369332"/>
          </a:xfrm>
          <a:prstGeom prst="rect">
            <a:avLst/>
          </a:prstGeom>
          <a:noFill/>
        </p:spPr>
        <p:txBody>
          <a:bodyPr wrap="square" rtlCol="0" anchor="ctr">
            <a:spAutoFit/>
          </a:bodyPr>
          <a:lstStyle/>
          <a:p>
            <a:pPr algn="ctr"/>
            <a:r>
              <a:rPr lang="en-US" sz="1800" dirty="0">
                <a:latin typeface="+mn-lt"/>
              </a:rPr>
              <a:t>hit?</a:t>
            </a:r>
          </a:p>
        </p:txBody>
      </p:sp>
      <p:grpSp>
        <p:nvGrpSpPr>
          <p:cNvPr id="2" name="Group 1">
            <a:extLst>
              <a:ext uri="{FF2B5EF4-FFF2-40B4-BE49-F238E27FC236}">
                <a16:creationId xmlns:a16="http://schemas.microsoft.com/office/drawing/2014/main" id="{D4CBFDBE-E879-40B0-9DF6-38417B1FB570}"/>
              </a:ext>
            </a:extLst>
          </p:cNvPr>
          <p:cNvGrpSpPr/>
          <p:nvPr>
            <p:custDataLst>
              <p:tags r:id="rId17"/>
            </p:custDataLst>
          </p:nvPr>
        </p:nvGrpSpPr>
        <p:grpSpPr>
          <a:xfrm>
            <a:off x="7391400" y="5950123"/>
            <a:ext cx="609600" cy="396875"/>
            <a:chOff x="8153400" y="5794108"/>
            <a:chExt cx="609600" cy="396875"/>
          </a:xfrm>
        </p:grpSpPr>
        <p:sp>
          <p:nvSpPr>
            <p:cNvPr id="41" name="Freeform 8">
              <a:extLst>
                <a:ext uri="{FF2B5EF4-FFF2-40B4-BE49-F238E27FC236}">
                  <a16:creationId xmlns:a16="http://schemas.microsoft.com/office/drawing/2014/main" id="{F8158F62-36FC-4621-A9A8-82083B14B091}"/>
                </a:ext>
              </a:extLst>
            </p:cNvPr>
            <p:cNvSpPr>
              <a:spLocks/>
            </p:cNvSpPr>
            <p:nvPr>
              <p:custDataLst>
                <p:tags r:id="rId25"/>
              </p:custDataLst>
            </p:nvPr>
          </p:nvSpPr>
          <p:spPr bwMode="auto">
            <a:xfrm>
              <a:off x="8153400" y="582427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bg1"/>
            </a:solidFill>
            <a:ln w="28575">
              <a:solidFill>
                <a:srgbClr val="000000"/>
              </a:solidFill>
              <a:round/>
              <a:headEnd/>
              <a:tailEnd/>
            </a:ln>
          </p:spPr>
          <p:txBody>
            <a:bodyPr wrap="none" anchor="ctr"/>
            <a:lstStyle/>
            <a:p>
              <a:endParaRPr lang="en-US"/>
            </a:p>
          </p:txBody>
        </p:sp>
        <p:sp>
          <p:nvSpPr>
            <p:cNvPr id="42" name="Text Box 9">
              <a:extLst>
                <a:ext uri="{FF2B5EF4-FFF2-40B4-BE49-F238E27FC236}">
                  <a16:creationId xmlns:a16="http://schemas.microsoft.com/office/drawing/2014/main" id="{11ABB66B-0CB6-45AD-B9EE-4ABA7010C630}"/>
                </a:ext>
              </a:extLst>
            </p:cNvPr>
            <p:cNvSpPr txBox="1">
              <a:spLocks noChangeArrowheads="1"/>
            </p:cNvSpPr>
            <p:nvPr>
              <p:custDataLst>
                <p:tags r:id="rId26"/>
              </p:custDataLst>
            </p:nvPr>
          </p:nvSpPr>
          <p:spPr bwMode="auto">
            <a:xfrm>
              <a:off x="8215313" y="579410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rgbClr val="000000"/>
                  </a:solidFill>
                  <a:latin typeface="Arial" panose="020B0604020202020204" pitchFamily="34" charset="0"/>
                </a:rPr>
                <a:t>&lt;&lt;</a:t>
              </a:r>
              <a:endParaRPr lang="en-US" altLang="en-US" sz="1800" dirty="0">
                <a:solidFill>
                  <a:srgbClr val="000000"/>
                </a:solidFill>
                <a:latin typeface="Arial" panose="020B0604020202020204" pitchFamily="34" charset="0"/>
              </a:endParaRPr>
            </a:p>
          </p:txBody>
        </p:sp>
      </p:grpSp>
      <p:cxnSp>
        <p:nvCxnSpPr>
          <p:cNvPr id="43" name="Straight Arrow Connector 42">
            <a:extLst>
              <a:ext uri="{FF2B5EF4-FFF2-40B4-BE49-F238E27FC236}">
                <a16:creationId xmlns:a16="http://schemas.microsoft.com/office/drawing/2014/main" id="{C90C0CAC-7309-4C2F-B5FD-A436FC0B61ED}"/>
              </a:ext>
            </a:extLst>
          </p:cNvPr>
          <p:cNvCxnSpPr/>
          <p:nvPr/>
        </p:nvCxnSpPr>
        <p:spPr>
          <a:xfrm rot="5400000">
            <a:off x="7604760" y="6407958"/>
            <a:ext cx="18288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C9BB4D2-398E-4BA5-B45D-74FC87AF271E}"/>
              </a:ext>
            </a:extLst>
          </p:cNvPr>
          <p:cNvCxnSpPr/>
          <p:nvPr/>
        </p:nvCxnSpPr>
        <p:spPr>
          <a:xfrm>
            <a:off x="518160" y="6096000"/>
            <a:ext cx="694944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63875AD-60C6-47F5-956B-3F8AF6A0DE4B}"/>
              </a:ext>
            </a:extLst>
          </p:cNvPr>
          <p:cNvCxnSpPr/>
          <p:nvPr/>
        </p:nvCxnSpPr>
        <p:spPr>
          <a:xfrm flipV="1">
            <a:off x="541148" y="2590800"/>
            <a:ext cx="1" cy="349300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587E0B9-D0C6-4BEB-BBBE-C2939F1FC832}"/>
              </a:ext>
            </a:extLst>
          </p:cNvPr>
          <p:cNvCxnSpPr/>
          <p:nvPr/>
        </p:nvCxnSpPr>
        <p:spPr>
          <a:xfrm>
            <a:off x="541150" y="2590800"/>
            <a:ext cx="822960"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89626A9-C5FB-4FC1-9B19-25349B453A6D}"/>
              </a:ext>
            </a:extLst>
          </p:cNvPr>
          <p:cNvSpPr txBox="1"/>
          <p:nvPr>
            <p:custDataLst>
              <p:tags r:id="rId18"/>
            </p:custDataLst>
          </p:nvPr>
        </p:nvSpPr>
        <p:spPr>
          <a:xfrm>
            <a:off x="266699" y="5726668"/>
            <a:ext cx="1790699" cy="369332"/>
          </a:xfrm>
          <a:prstGeom prst="rect">
            <a:avLst/>
          </a:prstGeom>
          <a:noFill/>
        </p:spPr>
        <p:txBody>
          <a:bodyPr wrap="square" rtlCol="0" anchor="ctr">
            <a:spAutoFit/>
          </a:bodyPr>
          <a:lstStyle/>
          <a:p>
            <a:pPr algn="ctr"/>
            <a:r>
              <a:rPr lang="en-US" sz="1800" dirty="0">
                <a:latin typeface="+mn-lt"/>
              </a:rPr>
              <a:t>block offset</a:t>
            </a:r>
          </a:p>
        </p:txBody>
      </p:sp>
      <p:sp>
        <p:nvSpPr>
          <p:cNvPr id="22" name="TextBox 21">
            <a:extLst>
              <a:ext uri="{FF2B5EF4-FFF2-40B4-BE49-F238E27FC236}">
                <a16:creationId xmlns:a16="http://schemas.microsoft.com/office/drawing/2014/main" id="{128C01E9-6765-4A72-B779-3980D3EC081A}"/>
              </a:ext>
            </a:extLst>
          </p:cNvPr>
          <p:cNvSpPr txBox="1"/>
          <p:nvPr>
            <p:custDataLst>
              <p:tags r:id="rId19"/>
            </p:custDataLst>
          </p:nvPr>
        </p:nvSpPr>
        <p:spPr>
          <a:xfrm>
            <a:off x="838200" y="4621292"/>
            <a:ext cx="1066800" cy="560308"/>
          </a:xfrm>
          <a:prstGeom prst="rect">
            <a:avLst/>
          </a:prstGeom>
          <a:solidFill>
            <a:schemeClr val="bg1"/>
          </a:solidFill>
          <a:ln w="25400">
            <a:solidFill>
              <a:schemeClr val="tx1"/>
            </a:solidFill>
          </a:ln>
        </p:spPr>
        <p:txBody>
          <a:bodyPr wrap="square" rtlCol="0" anchor="ctr">
            <a:noAutofit/>
          </a:bodyPr>
          <a:lstStyle/>
          <a:p>
            <a:pPr algn="ctr"/>
            <a:r>
              <a:rPr lang="en-US" sz="1800" dirty="0">
                <a:latin typeface="+mn-lt"/>
              </a:rPr>
              <a:t>hash function</a:t>
            </a:r>
          </a:p>
        </p:txBody>
      </p:sp>
      <p:cxnSp>
        <p:nvCxnSpPr>
          <p:cNvPr id="51" name="Straight Arrow Connector 50">
            <a:extLst>
              <a:ext uri="{FF2B5EF4-FFF2-40B4-BE49-F238E27FC236}">
                <a16:creationId xmlns:a16="http://schemas.microsoft.com/office/drawing/2014/main" id="{F811B353-2827-42D5-ADD8-7BB150B46C4F}"/>
              </a:ext>
            </a:extLst>
          </p:cNvPr>
          <p:cNvCxnSpPr>
            <a:cxnSpLocks/>
          </p:cNvCxnSpPr>
          <p:nvPr/>
        </p:nvCxnSpPr>
        <p:spPr>
          <a:xfrm>
            <a:off x="3650130" y="2199360"/>
            <a:ext cx="0" cy="1975834"/>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797A6D9-8E4D-4022-B939-2FB1B62D6343}"/>
              </a:ext>
            </a:extLst>
          </p:cNvPr>
          <p:cNvCxnSpPr>
            <a:cxnSpLocks/>
          </p:cNvCxnSpPr>
          <p:nvPr/>
        </p:nvCxnSpPr>
        <p:spPr>
          <a:xfrm>
            <a:off x="3650130" y="4165788"/>
            <a:ext cx="42432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CFBCB32-F6DA-4742-BF1D-7F396FA6DC70}"/>
              </a:ext>
            </a:extLst>
          </p:cNvPr>
          <p:cNvCxnSpPr>
            <a:cxnSpLocks/>
          </p:cNvCxnSpPr>
          <p:nvPr/>
        </p:nvCxnSpPr>
        <p:spPr>
          <a:xfrm>
            <a:off x="1219200" y="2049071"/>
            <a:ext cx="1876611"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AEE9760D-1B1D-44C6-8BA1-BE62E3875A91}"/>
              </a:ext>
            </a:extLst>
          </p:cNvPr>
          <p:cNvSpPr txBox="1"/>
          <p:nvPr>
            <p:custDataLst>
              <p:tags r:id="rId20"/>
            </p:custDataLst>
          </p:nvPr>
        </p:nvSpPr>
        <p:spPr>
          <a:xfrm>
            <a:off x="3116730" y="1752600"/>
            <a:ext cx="1066800" cy="560308"/>
          </a:xfrm>
          <a:prstGeom prst="rect">
            <a:avLst/>
          </a:prstGeom>
          <a:solidFill>
            <a:schemeClr val="bg1"/>
          </a:solidFill>
          <a:ln w="25400">
            <a:solidFill>
              <a:schemeClr val="tx1"/>
            </a:solidFill>
          </a:ln>
        </p:spPr>
        <p:txBody>
          <a:bodyPr wrap="square" rtlCol="0" anchor="ctr">
            <a:noAutofit/>
          </a:bodyPr>
          <a:lstStyle/>
          <a:p>
            <a:pPr algn="ctr"/>
            <a:r>
              <a:rPr lang="en-US" sz="1800" dirty="0">
                <a:latin typeface="+mn-lt"/>
              </a:rPr>
              <a:t>hash function</a:t>
            </a:r>
          </a:p>
        </p:txBody>
      </p:sp>
      <p:graphicFrame>
        <p:nvGraphicFramePr>
          <p:cNvPr id="30" name="Table 29">
            <a:extLst>
              <a:ext uri="{FF2B5EF4-FFF2-40B4-BE49-F238E27FC236}">
                <a16:creationId xmlns:a16="http://schemas.microsoft.com/office/drawing/2014/main" id="{03723D23-00D9-4EEE-BCFC-EA0193BA23DB}"/>
              </a:ext>
            </a:extLst>
          </p:cNvPr>
          <p:cNvGraphicFramePr>
            <a:graphicFrameLocks noGrp="1"/>
          </p:cNvGraphicFramePr>
          <p:nvPr>
            <p:custDataLst>
              <p:tags r:id="rId21"/>
            </p:custDataLst>
          </p:nvPr>
        </p:nvGraphicFramePr>
        <p:xfrm>
          <a:off x="304800" y="1865854"/>
          <a:ext cx="2057400" cy="37084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tblGrid>
              <a:tr h="370840">
                <a:tc>
                  <a:txBody>
                    <a:bodyPr/>
                    <a:lstStyle/>
                    <a:p>
                      <a:pPr algn="ctr"/>
                      <a:r>
                        <a:rPr lang="en-US" b="0" dirty="0">
                          <a:solidFill>
                            <a:schemeClr val="tx1"/>
                          </a:solidFill>
                        </a:rPr>
                        <a:t>physical address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55" name="TextBox 54">
            <a:extLst>
              <a:ext uri="{FF2B5EF4-FFF2-40B4-BE49-F238E27FC236}">
                <a16:creationId xmlns:a16="http://schemas.microsoft.com/office/drawing/2014/main" id="{FA3198D9-C254-4B9B-94A7-39A8CD591E57}"/>
              </a:ext>
            </a:extLst>
          </p:cNvPr>
          <p:cNvSpPr txBox="1"/>
          <p:nvPr>
            <p:custDataLst>
              <p:tags r:id="rId22"/>
            </p:custDataLst>
          </p:nvPr>
        </p:nvSpPr>
        <p:spPr>
          <a:xfrm>
            <a:off x="324769" y="6248400"/>
            <a:ext cx="4171029" cy="560717"/>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spreads out the likelihood of collisions</a:t>
            </a:r>
          </a:p>
        </p:txBody>
      </p:sp>
      <p:sp>
        <p:nvSpPr>
          <p:cNvPr id="48" name="Rectangle 47">
            <a:extLst>
              <a:ext uri="{FF2B5EF4-FFF2-40B4-BE49-F238E27FC236}">
                <a16:creationId xmlns:a16="http://schemas.microsoft.com/office/drawing/2014/main" id="{F2DE6335-C362-4B61-A238-0A838F0DEA8F}"/>
              </a:ext>
            </a:extLst>
          </p:cNvPr>
          <p:cNvSpPr/>
          <p:nvPr>
            <p:custDataLst>
              <p:tags r:id="rId23"/>
            </p:custDataLst>
          </p:nvPr>
        </p:nvSpPr>
        <p:spPr>
          <a:xfrm>
            <a:off x="0" y="3592767"/>
            <a:ext cx="9143996" cy="3216345"/>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49" name="TextBox 48">
            <a:extLst>
              <a:ext uri="{FF2B5EF4-FFF2-40B4-BE49-F238E27FC236}">
                <a16:creationId xmlns:a16="http://schemas.microsoft.com/office/drawing/2014/main" id="{7759DAD0-4A9D-43B9-A7B3-C5D307F920E6}"/>
              </a:ext>
            </a:extLst>
          </p:cNvPr>
          <p:cNvSpPr txBox="1"/>
          <p:nvPr>
            <p:custDataLst>
              <p:tags r:id="rId24"/>
            </p:custDataLst>
          </p:nvPr>
        </p:nvSpPr>
        <p:spPr>
          <a:xfrm>
            <a:off x="0" y="3886200"/>
            <a:ext cx="9144000" cy="2677656"/>
          </a:xfrm>
          <a:prstGeom prst="rect">
            <a:avLst/>
          </a:prstGeom>
          <a:noFill/>
        </p:spPr>
        <p:txBody>
          <a:bodyPr wrap="square" rtlCol="0" anchor="t">
            <a:spAutoFit/>
          </a:bodyPr>
          <a:lstStyle/>
          <a:p>
            <a:pPr algn="ctr"/>
            <a:r>
              <a:rPr lang="en-US" sz="2400" b="1" dirty="0">
                <a:solidFill>
                  <a:schemeClr val="accent6">
                    <a:lumMod val="75000"/>
                  </a:schemeClr>
                </a:solidFill>
                <a:latin typeface="+mn-lt"/>
              </a:rPr>
              <a:t>An analogy:</a:t>
            </a:r>
          </a:p>
          <a:p>
            <a:pPr algn="ctr"/>
            <a:r>
              <a:rPr lang="en-US" sz="2400" dirty="0">
                <a:solidFill>
                  <a:schemeClr val="accent6">
                    <a:lumMod val="75000"/>
                  </a:schemeClr>
                </a:solidFill>
                <a:latin typeface="+mn-lt"/>
              </a:rPr>
              <a:t>Tightly packed course schedule.</a:t>
            </a:r>
          </a:p>
          <a:p>
            <a:pPr algn="ctr"/>
            <a:r>
              <a:rPr lang="en-US" sz="2400" dirty="0">
                <a:solidFill>
                  <a:schemeClr val="accent6">
                    <a:lumMod val="75000"/>
                  </a:schemeClr>
                </a:solidFill>
                <a:latin typeface="+mn-lt"/>
              </a:rPr>
              <a:t>Discussion sessions for two courses collide at MWF 1pm-2:15pm.</a:t>
            </a:r>
          </a:p>
          <a:p>
            <a:pPr algn="ctr"/>
            <a:endParaRPr lang="en-US" sz="2400" dirty="0">
              <a:solidFill>
                <a:schemeClr val="accent6">
                  <a:lumMod val="75000"/>
                </a:schemeClr>
              </a:solidFill>
              <a:latin typeface="+mn-lt"/>
            </a:endParaRPr>
          </a:p>
          <a:p>
            <a:pPr algn="ctr"/>
            <a:r>
              <a:rPr lang="en-US" sz="2400" dirty="0">
                <a:solidFill>
                  <a:schemeClr val="accent6">
                    <a:lumMod val="75000"/>
                  </a:schemeClr>
                </a:solidFill>
                <a:latin typeface="+mn-lt"/>
              </a:rPr>
              <a:t>With skewed schedule, courses get:</a:t>
            </a:r>
          </a:p>
          <a:p>
            <a:pPr algn="ctr"/>
            <a:r>
              <a:rPr lang="en-US" sz="2400" dirty="0">
                <a:solidFill>
                  <a:schemeClr val="accent6">
                    <a:lumMod val="75000"/>
                  </a:schemeClr>
                </a:solidFill>
                <a:latin typeface="+mn-lt"/>
              </a:rPr>
              <a:t>1) M 1pm, W 3pm, F 10am</a:t>
            </a:r>
          </a:p>
          <a:p>
            <a:pPr algn="ctr"/>
            <a:r>
              <a:rPr lang="en-US" sz="2400" dirty="0">
                <a:solidFill>
                  <a:schemeClr val="accent6">
                    <a:lumMod val="75000"/>
                  </a:schemeClr>
                </a:solidFill>
                <a:latin typeface="+mn-lt"/>
              </a:rPr>
              <a:t>2) M 1pm, W 11am, F 4pm</a:t>
            </a:r>
          </a:p>
        </p:txBody>
      </p:sp>
    </p:spTree>
    <p:custDataLst>
      <p:tags r:id="rId1"/>
    </p:custDataLst>
    <p:extLst>
      <p:ext uri="{BB962C8B-B14F-4D97-AF65-F5344CB8AC3E}">
        <p14:creationId xmlns:p14="http://schemas.microsoft.com/office/powerpoint/2010/main" val="22294954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Performance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12</a:t>
            </a:fld>
            <a:endParaRPr lang="en-US" altLang="en-US"/>
          </a:p>
        </p:txBody>
      </p:sp>
      <p:sp>
        <p:nvSpPr>
          <p:cNvPr id="10" name="Rectangle 3">
            <a:extLst>
              <a:ext uri="{FF2B5EF4-FFF2-40B4-BE49-F238E27FC236}">
                <a16:creationId xmlns:a16="http://schemas.microsoft.com/office/drawing/2014/main" id="{DCD5AEEA-6B19-4AC1-8569-7BF8F13F6A48}"/>
              </a:ext>
            </a:extLst>
          </p:cNvPr>
          <p:cNvSpPr>
            <a:spLocks noGrp="1" noChangeArrowheads="1"/>
          </p:cNvSpPr>
          <p:nvPr>
            <p:ph idx="1"/>
            <p:custDataLst>
              <p:tags r:id="rId4"/>
            </p:custDataLst>
          </p:nvPr>
        </p:nvSpPr>
        <p:spPr>
          <a:xfrm>
            <a:off x="457200" y="1600200"/>
            <a:ext cx="8229600" cy="4525963"/>
          </a:xfrm>
        </p:spPr>
        <p:txBody>
          <a:bodyPr/>
          <a:lstStyle/>
          <a:p>
            <a:pPr marL="0" indent="0" eaLnBrk="1" hangingPunct="1">
              <a:lnSpc>
                <a:spcPct val="80000"/>
              </a:lnSpc>
              <a:buNone/>
            </a:pPr>
            <a:r>
              <a:rPr lang="en-US" altLang="en-US" dirty="0"/>
              <a:t>Cache miss rate:</a:t>
            </a:r>
          </a:p>
          <a:p>
            <a:pPr eaLnBrk="1" hangingPunct="1">
              <a:lnSpc>
                <a:spcPct val="80000"/>
              </a:lnSpc>
            </a:pPr>
            <a:r>
              <a:rPr lang="en-US" altLang="en-US" sz="2800" b="1" dirty="0"/>
              <a:t>Local</a:t>
            </a:r>
            <a:r>
              <a:rPr lang="en-US" altLang="en-US" sz="2800" dirty="0"/>
              <a:t>: Percentage of accesses to cache that are misses (e.g., 10% miss rate)</a:t>
            </a:r>
          </a:p>
          <a:p>
            <a:pPr lvl="1" eaLnBrk="1" hangingPunct="1">
              <a:lnSpc>
                <a:spcPct val="80000"/>
              </a:lnSpc>
            </a:pPr>
            <a:r>
              <a:rPr lang="en-US" altLang="en-US" sz="2400" dirty="0"/>
              <a:t>Local hit rate = 100% - local miss rate</a:t>
            </a:r>
          </a:p>
          <a:p>
            <a:pPr marL="457200" lvl="1" indent="0" eaLnBrk="1" hangingPunct="1">
              <a:lnSpc>
                <a:spcPct val="80000"/>
              </a:lnSpc>
              <a:buNone/>
            </a:pPr>
            <a:endParaRPr lang="en-US" altLang="en-US" sz="2400" dirty="0"/>
          </a:p>
          <a:p>
            <a:pPr eaLnBrk="1" hangingPunct="1">
              <a:lnSpc>
                <a:spcPct val="80000"/>
              </a:lnSpc>
            </a:pPr>
            <a:r>
              <a:rPr lang="en-US" altLang="en-US" sz="2800" b="1" dirty="0"/>
              <a:t>Global</a:t>
            </a:r>
            <a:r>
              <a:rPr lang="en-US" altLang="en-US" sz="2800" dirty="0"/>
              <a:t>: Misses per instruction (e.g., 1 MPKI = 1 miss per 1000 instructions)</a:t>
            </a:r>
          </a:p>
          <a:p>
            <a:pPr lvl="1" eaLnBrk="1" hangingPunct="1">
              <a:lnSpc>
                <a:spcPct val="80000"/>
              </a:lnSpc>
            </a:pPr>
            <a:r>
              <a:rPr lang="en-US" altLang="en-US" sz="2400" dirty="0"/>
              <a:t>Or conversely, instructions per miss</a:t>
            </a:r>
          </a:p>
        </p:txBody>
      </p:sp>
    </p:spTree>
    <p:custDataLst>
      <p:tags r:id="rId1"/>
    </p:custDataLst>
    <p:extLst>
      <p:ext uri="{BB962C8B-B14F-4D97-AF65-F5344CB8AC3E}">
        <p14:creationId xmlns:p14="http://schemas.microsoft.com/office/powerpoint/2010/main" val="208314466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Performance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13</a:t>
            </a:fld>
            <a:endParaRPr lang="en-US" altLang="en-US"/>
          </a:p>
        </p:txBody>
      </p:sp>
      <p:sp>
        <p:nvSpPr>
          <p:cNvPr id="10" name="Rectangle 3">
            <a:extLst>
              <a:ext uri="{FF2B5EF4-FFF2-40B4-BE49-F238E27FC236}">
                <a16:creationId xmlns:a16="http://schemas.microsoft.com/office/drawing/2014/main" id="{DCD5AEEA-6B19-4AC1-8569-7BF8F13F6A48}"/>
              </a:ext>
            </a:extLst>
          </p:cNvPr>
          <p:cNvSpPr>
            <a:spLocks noGrp="1" noChangeArrowheads="1"/>
          </p:cNvSpPr>
          <p:nvPr>
            <p:ph idx="1"/>
            <p:custDataLst>
              <p:tags r:id="rId4"/>
            </p:custDataLst>
          </p:nvPr>
        </p:nvSpPr>
        <p:spPr>
          <a:xfrm>
            <a:off x="457200" y="1600200"/>
            <a:ext cx="8229600" cy="4525963"/>
          </a:xfrm>
        </p:spPr>
        <p:txBody>
          <a:bodyPr/>
          <a:lstStyle/>
          <a:p>
            <a:pPr marL="0" indent="0" eaLnBrk="1" hangingPunct="1">
              <a:lnSpc>
                <a:spcPct val="80000"/>
              </a:lnSpc>
              <a:buNone/>
            </a:pPr>
            <a:r>
              <a:rPr lang="en-US" altLang="en-US" dirty="0"/>
              <a:t>Cache miss rate:</a:t>
            </a:r>
          </a:p>
          <a:p>
            <a:pPr eaLnBrk="1" hangingPunct="1">
              <a:lnSpc>
                <a:spcPct val="80000"/>
              </a:lnSpc>
            </a:pPr>
            <a:r>
              <a:rPr lang="en-US" altLang="en-US" sz="2800" dirty="0"/>
              <a:t>e.g., If one L1 miss per 30 instructions and the L1 local miss rate is 10%, what fraction of instructions in the program are a load or a store?</a:t>
            </a:r>
          </a:p>
          <a:p>
            <a:pPr lvl="1" eaLnBrk="1" hangingPunct="1">
              <a:lnSpc>
                <a:spcPct val="80000"/>
              </a:lnSpc>
            </a:pPr>
            <a:r>
              <a:rPr lang="en-US" altLang="en-US" sz="2400" b="1" dirty="0"/>
              <a:t>1/30 = f × 1/10, thus f = 1/3</a:t>
            </a:r>
          </a:p>
          <a:p>
            <a:pPr marL="457200" lvl="1" indent="0" eaLnBrk="1" hangingPunct="1">
              <a:lnSpc>
                <a:spcPct val="80000"/>
              </a:lnSpc>
              <a:buNone/>
            </a:pPr>
            <a:endParaRPr lang="en-US" altLang="en-US" sz="2400" dirty="0"/>
          </a:p>
          <a:p>
            <a:pPr eaLnBrk="1" hangingPunct="1">
              <a:lnSpc>
                <a:spcPct val="80000"/>
              </a:lnSpc>
            </a:pPr>
            <a:r>
              <a:rPr lang="en-US" altLang="en-US" sz="2800" dirty="0"/>
              <a:t>e.g., If one L1 miss per 20 instructions and one L2 miss per 80 instructions, what is the local miss rate of the L2 cache?</a:t>
            </a:r>
          </a:p>
          <a:p>
            <a:pPr lvl="1" eaLnBrk="1" hangingPunct="1">
              <a:lnSpc>
                <a:spcPct val="80000"/>
              </a:lnSpc>
            </a:pPr>
            <a:r>
              <a:rPr lang="en-US" altLang="en-US" sz="2400" b="1" dirty="0"/>
              <a:t>1/80 = m × 1/20, thus m = 25%</a:t>
            </a:r>
          </a:p>
        </p:txBody>
      </p:sp>
    </p:spTree>
    <p:custDataLst>
      <p:tags r:id="rId1"/>
    </p:custDataLst>
    <p:extLst>
      <p:ext uri="{BB962C8B-B14F-4D97-AF65-F5344CB8AC3E}">
        <p14:creationId xmlns:p14="http://schemas.microsoft.com/office/powerpoint/2010/main" val="1818690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Performance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14</a:t>
            </a:fld>
            <a:endParaRPr lang="en-US" altLang="en-US"/>
          </a:p>
        </p:txBody>
      </p:sp>
      <p:sp>
        <p:nvSpPr>
          <p:cNvPr id="10" name="Rectangle 3">
            <a:extLst>
              <a:ext uri="{FF2B5EF4-FFF2-40B4-BE49-F238E27FC236}">
                <a16:creationId xmlns:a16="http://schemas.microsoft.com/office/drawing/2014/main" id="{DCD5AEEA-6B19-4AC1-8569-7BF8F13F6A48}"/>
              </a:ext>
            </a:extLst>
          </p:cNvPr>
          <p:cNvSpPr>
            <a:spLocks noGrp="1" noChangeArrowheads="1"/>
          </p:cNvSpPr>
          <p:nvPr>
            <p:ph idx="1"/>
            <p:custDataLst>
              <p:tags r:id="rId4"/>
            </p:custDataLst>
          </p:nvPr>
        </p:nvSpPr>
        <p:spPr>
          <a:xfrm>
            <a:off x="457200" y="1600200"/>
            <a:ext cx="8229600" cy="5121275"/>
          </a:xfrm>
        </p:spPr>
        <p:txBody>
          <a:bodyPr/>
          <a:lstStyle/>
          <a:p>
            <a:pPr marL="0" indent="0" eaLnBrk="1" hangingPunct="1">
              <a:lnSpc>
                <a:spcPct val="80000"/>
              </a:lnSpc>
              <a:buNone/>
            </a:pPr>
            <a:r>
              <a:rPr lang="en-US" altLang="en-US" sz="2800" b="1" dirty="0"/>
              <a:t>Average memory access time (AMAT)</a:t>
            </a:r>
            <a:r>
              <a:rPr lang="en-US" altLang="en-US" sz="2800" dirty="0"/>
              <a:t>: Average time it takes (in cycles) between when the processor issues a request (to the cache/memory hierarchy) for an address and when it is received by the processor.</a:t>
            </a:r>
          </a:p>
          <a:p>
            <a:pPr eaLnBrk="1" hangingPunct="1">
              <a:lnSpc>
                <a:spcPct val="80000"/>
              </a:lnSpc>
            </a:pPr>
            <a:r>
              <a:rPr lang="en-US" altLang="en-US" sz="2400" dirty="0"/>
              <a:t>e.g., L1 cache with access latency t</a:t>
            </a:r>
            <a:r>
              <a:rPr lang="en-US" altLang="en-US" sz="2400" baseline="-25000" dirty="0"/>
              <a:t>L1</a:t>
            </a:r>
            <a:r>
              <a:rPr lang="en-US" altLang="en-US" sz="2400" dirty="0"/>
              <a:t> (in cycles) and local miss rate %miss</a:t>
            </a:r>
            <a:r>
              <a:rPr lang="en-US" altLang="en-US" sz="2400" baseline="-25000" dirty="0"/>
              <a:t>L1</a:t>
            </a:r>
            <a:r>
              <a:rPr lang="en-US" altLang="en-US" sz="2400" dirty="0"/>
              <a:t>:</a:t>
            </a:r>
          </a:p>
          <a:p>
            <a:pPr lvl="1" eaLnBrk="1" hangingPunct="1">
              <a:lnSpc>
                <a:spcPct val="80000"/>
              </a:lnSpc>
            </a:pPr>
            <a:r>
              <a:rPr lang="en-US" altLang="en-US" sz="2000" dirty="0"/>
              <a:t>AMAT = t</a:t>
            </a:r>
            <a:r>
              <a:rPr lang="en-US" altLang="en-US" sz="2000" baseline="-25000" dirty="0"/>
              <a:t>L1</a:t>
            </a:r>
            <a:r>
              <a:rPr lang="en-US" altLang="en-US" sz="2000" dirty="0"/>
              <a:t> + %miss</a:t>
            </a:r>
            <a:r>
              <a:rPr lang="en-US" altLang="en-US" sz="2000" baseline="-25000" dirty="0"/>
              <a:t>L1</a:t>
            </a:r>
            <a:r>
              <a:rPr lang="en-US" altLang="en-US" sz="2000" dirty="0"/>
              <a:t> × </a:t>
            </a:r>
            <a:r>
              <a:rPr lang="en-US" altLang="en-US" sz="2000" dirty="0" err="1"/>
              <a:t>t</a:t>
            </a:r>
            <a:r>
              <a:rPr lang="en-US" altLang="en-US" sz="2000" baseline="-25000" dirty="0" err="1"/>
              <a:t>MEM</a:t>
            </a:r>
            <a:endParaRPr lang="en-US" altLang="en-US" sz="2000" baseline="-25000" dirty="0"/>
          </a:p>
          <a:p>
            <a:pPr lvl="1" eaLnBrk="1" hangingPunct="1">
              <a:lnSpc>
                <a:spcPct val="80000"/>
              </a:lnSpc>
            </a:pPr>
            <a:r>
              <a:rPr lang="en-US" altLang="en-US" sz="2000" dirty="0"/>
              <a:t>Usually, t</a:t>
            </a:r>
            <a:r>
              <a:rPr lang="en-US" altLang="en-US" sz="2000" baseline="-25000" dirty="0"/>
              <a:t>L1</a:t>
            </a:r>
            <a:r>
              <a:rPr lang="en-US" altLang="en-US" sz="2000" dirty="0"/>
              <a:t> = 1 cycle</a:t>
            </a:r>
            <a:endParaRPr lang="en-US" altLang="en-US" sz="2000" baseline="-25000" dirty="0"/>
          </a:p>
          <a:p>
            <a:pPr marL="457200" lvl="1" indent="0" eaLnBrk="1" hangingPunct="1">
              <a:lnSpc>
                <a:spcPct val="80000"/>
              </a:lnSpc>
              <a:buNone/>
            </a:pPr>
            <a:endParaRPr lang="en-US" altLang="en-US" sz="2000" dirty="0"/>
          </a:p>
          <a:p>
            <a:pPr eaLnBrk="1" hangingPunct="1">
              <a:lnSpc>
                <a:spcPct val="80000"/>
              </a:lnSpc>
            </a:pPr>
            <a:r>
              <a:rPr lang="en-US" altLang="en-US" sz="2400" dirty="0"/>
              <a:t>e.g., L1 cache + L2 cache:</a:t>
            </a:r>
          </a:p>
          <a:p>
            <a:pPr lvl="1" eaLnBrk="1" hangingPunct="1">
              <a:lnSpc>
                <a:spcPct val="80000"/>
              </a:lnSpc>
            </a:pPr>
            <a:r>
              <a:rPr lang="en-US" altLang="en-US" sz="2000" dirty="0"/>
              <a:t>AMAT = t</a:t>
            </a:r>
            <a:r>
              <a:rPr lang="en-US" altLang="en-US" sz="2000" baseline="-25000" dirty="0"/>
              <a:t>L1</a:t>
            </a:r>
            <a:r>
              <a:rPr lang="en-US" altLang="en-US" sz="2000" dirty="0"/>
              <a:t> + %miss</a:t>
            </a:r>
            <a:r>
              <a:rPr lang="en-US" altLang="en-US" sz="2000" baseline="-25000" dirty="0"/>
              <a:t>L1</a:t>
            </a:r>
            <a:r>
              <a:rPr lang="en-US" altLang="en-US" sz="2000" dirty="0"/>
              <a:t> × (t</a:t>
            </a:r>
            <a:r>
              <a:rPr lang="en-US" altLang="en-US" sz="2000" baseline="-25000" dirty="0"/>
              <a:t>L2</a:t>
            </a:r>
            <a:r>
              <a:rPr lang="en-US" altLang="en-US" sz="2000" dirty="0"/>
              <a:t> + %miss</a:t>
            </a:r>
            <a:r>
              <a:rPr lang="en-US" altLang="en-US" sz="2000" baseline="-25000" dirty="0"/>
              <a:t>L2</a:t>
            </a:r>
            <a:r>
              <a:rPr lang="en-US" altLang="en-US" sz="2000" dirty="0"/>
              <a:t> × </a:t>
            </a:r>
            <a:r>
              <a:rPr lang="en-US" altLang="en-US" sz="2000" dirty="0" err="1"/>
              <a:t>t</a:t>
            </a:r>
            <a:r>
              <a:rPr lang="en-US" altLang="en-US" sz="2000" baseline="-25000" dirty="0" err="1"/>
              <a:t>MEM</a:t>
            </a:r>
            <a:r>
              <a:rPr lang="en-US" altLang="en-US" sz="2000" dirty="0"/>
              <a:t>)</a:t>
            </a:r>
          </a:p>
          <a:p>
            <a:pPr marL="457200" lvl="1" indent="0" eaLnBrk="1" hangingPunct="1">
              <a:lnSpc>
                <a:spcPct val="80000"/>
              </a:lnSpc>
              <a:buNone/>
            </a:pPr>
            <a:endParaRPr lang="en-US" altLang="en-US" sz="2000" dirty="0"/>
          </a:p>
          <a:p>
            <a:pPr eaLnBrk="1" hangingPunct="1">
              <a:lnSpc>
                <a:spcPct val="80000"/>
              </a:lnSpc>
            </a:pPr>
            <a:r>
              <a:rPr lang="en-US" altLang="en-US" sz="2400" dirty="0"/>
              <a:t>Apply recursively to N-level cache hierarchy:</a:t>
            </a:r>
          </a:p>
          <a:p>
            <a:pPr lvl="1" eaLnBrk="1" hangingPunct="1">
              <a:lnSpc>
                <a:spcPct val="80000"/>
              </a:lnSpc>
            </a:pPr>
            <a:r>
              <a:rPr lang="en-US" altLang="en-US" sz="2000" dirty="0"/>
              <a:t>AMAT = t</a:t>
            </a:r>
            <a:r>
              <a:rPr lang="en-US" altLang="en-US" sz="2000" baseline="-25000" dirty="0"/>
              <a:t>L1</a:t>
            </a:r>
            <a:r>
              <a:rPr lang="en-US" altLang="en-US" sz="2000" dirty="0"/>
              <a:t> + %miss</a:t>
            </a:r>
            <a:r>
              <a:rPr lang="en-US" altLang="en-US" sz="2000" baseline="-25000" dirty="0"/>
              <a:t>L1</a:t>
            </a:r>
            <a:r>
              <a:rPr lang="en-US" altLang="en-US" sz="2000" dirty="0"/>
              <a:t> × (t</a:t>
            </a:r>
            <a:r>
              <a:rPr lang="en-US" altLang="en-US" sz="2000" baseline="-25000" dirty="0"/>
              <a:t>L2</a:t>
            </a:r>
            <a:r>
              <a:rPr lang="en-US" altLang="en-US" sz="2000" dirty="0"/>
              <a:t> + %miss</a:t>
            </a:r>
            <a:r>
              <a:rPr lang="en-US" altLang="en-US" sz="2000" baseline="-25000" dirty="0"/>
              <a:t>L2</a:t>
            </a:r>
            <a:r>
              <a:rPr lang="en-US" altLang="en-US" sz="2000" dirty="0"/>
              <a:t> × … (</a:t>
            </a:r>
            <a:r>
              <a:rPr lang="en-US" altLang="en-US" sz="2000" dirty="0" err="1"/>
              <a:t>t</a:t>
            </a:r>
            <a:r>
              <a:rPr lang="en-US" altLang="en-US" sz="2000" baseline="-25000" dirty="0" err="1"/>
              <a:t>LN</a:t>
            </a:r>
            <a:r>
              <a:rPr lang="en-US" altLang="en-US" sz="2000" dirty="0"/>
              <a:t> + %</a:t>
            </a:r>
            <a:r>
              <a:rPr lang="en-US" altLang="en-US" sz="2000" dirty="0" err="1"/>
              <a:t>miss</a:t>
            </a:r>
            <a:r>
              <a:rPr lang="en-US" altLang="en-US" sz="2000" baseline="-25000" dirty="0" err="1"/>
              <a:t>LN</a:t>
            </a:r>
            <a:r>
              <a:rPr lang="en-US" altLang="en-US" sz="2000" dirty="0"/>
              <a:t> × </a:t>
            </a:r>
            <a:r>
              <a:rPr lang="en-US" altLang="en-US" sz="2000" dirty="0" err="1"/>
              <a:t>t</a:t>
            </a:r>
            <a:r>
              <a:rPr lang="en-US" altLang="en-US" sz="2000" baseline="-25000" dirty="0" err="1"/>
              <a:t>MEM</a:t>
            </a:r>
            <a:r>
              <a:rPr lang="en-US" altLang="en-US" sz="2000" dirty="0"/>
              <a:t>))</a:t>
            </a:r>
          </a:p>
        </p:txBody>
      </p:sp>
    </p:spTree>
    <p:custDataLst>
      <p:tags r:id="rId1"/>
    </p:custDataLst>
    <p:extLst>
      <p:ext uri="{BB962C8B-B14F-4D97-AF65-F5344CB8AC3E}">
        <p14:creationId xmlns:p14="http://schemas.microsoft.com/office/powerpoint/2010/main" val="40405122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Performance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15</a:t>
            </a:fld>
            <a:endParaRPr lang="en-US" altLang="en-US"/>
          </a:p>
        </p:txBody>
      </p:sp>
      <p:sp>
        <p:nvSpPr>
          <p:cNvPr id="10" name="Rectangle 3">
            <a:extLst>
              <a:ext uri="{FF2B5EF4-FFF2-40B4-BE49-F238E27FC236}">
                <a16:creationId xmlns:a16="http://schemas.microsoft.com/office/drawing/2014/main" id="{DCD5AEEA-6B19-4AC1-8569-7BF8F13F6A48}"/>
              </a:ext>
            </a:extLst>
          </p:cNvPr>
          <p:cNvSpPr>
            <a:spLocks noGrp="1" noChangeArrowheads="1"/>
          </p:cNvSpPr>
          <p:nvPr>
            <p:ph idx="1"/>
            <p:custDataLst>
              <p:tags r:id="rId4"/>
            </p:custDataLst>
          </p:nvPr>
        </p:nvSpPr>
        <p:spPr>
          <a:xfrm>
            <a:off x="457200" y="1600200"/>
            <a:ext cx="8229600" cy="4525963"/>
          </a:xfrm>
        </p:spPr>
        <p:txBody>
          <a:bodyPr/>
          <a:lstStyle/>
          <a:p>
            <a:pPr marL="0" indent="0" eaLnBrk="1" hangingPunct="1">
              <a:lnSpc>
                <a:spcPct val="80000"/>
              </a:lnSpc>
              <a:buNone/>
            </a:pPr>
            <a:r>
              <a:rPr lang="en-US" altLang="en-US" dirty="0"/>
              <a:t>e.g., Assume a 1-cycle L1 with 5% miss rate, a 10-cycle L2 with 20% miss rate and a 50-cycle main memory. How much higher is AMAT if we were to remove the L2?</a:t>
            </a:r>
          </a:p>
          <a:p>
            <a:pPr eaLnBrk="1" hangingPunct="1">
              <a:lnSpc>
                <a:spcPct val="80000"/>
              </a:lnSpc>
            </a:pPr>
            <a:r>
              <a:rPr lang="en-US" altLang="en-US" sz="2800" dirty="0"/>
              <a:t>AMAT, with L2 = 1 + 5% × (10 + 20% × 50) = 2 cycles</a:t>
            </a:r>
          </a:p>
          <a:p>
            <a:pPr eaLnBrk="1" hangingPunct="1">
              <a:lnSpc>
                <a:spcPct val="80000"/>
              </a:lnSpc>
            </a:pPr>
            <a:r>
              <a:rPr lang="en-US" altLang="en-US" sz="2800" dirty="0"/>
              <a:t>AMAT, without L2 = 1 + 5% × 50 = 3.5 cycles</a:t>
            </a:r>
          </a:p>
          <a:p>
            <a:pPr lvl="1" eaLnBrk="1" hangingPunct="1">
              <a:lnSpc>
                <a:spcPct val="80000"/>
              </a:lnSpc>
            </a:pPr>
            <a:r>
              <a:rPr lang="en-US" altLang="en-US" sz="2400" b="1" dirty="0"/>
              <a:t>1.75x higher without the L2</a:t>
            </a:r>
          </a:p>
        </p:txBody>
      </p:sp>
    </p:spTree>
    <p:custDataLst>
      <p:tags r:id="rId1"/>
    </p:custDataLst>
    <p:extLst>
      <p:ext uri="{BB962C8B-B14F-4D97-AF65-F5344CB8AC3E}">
        <p14:creationId xmlns:p14="http://schemas.microsoft.com/office/powerpoint/2010/main" val="12859943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Performance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16</a:t>
            </a:fld>
            <a:endParaRPr lang="en-US" altLang="en-US"/>
          </a:p>
        </p:txBody>
      </p:sp>
      <p:sp>
        <p:nvSpPr>
          <p:cNvPr id="10" name="Rectangle 3">
            <a:extLst>
              <a:ext uri="{FF2B5EF4-FFF2-40B4-BE49-F238E27FC236}">
                <a16:creationId xmlns:a16="http://schemas.microsoft.com/office/drawing/2014/main" id="{DCD5AEEA-6B19-4AC1-8569-7BF8F13F6A48}"/>
              </a:ext>
            </a:extLst>
          </p:cNvPr>
          <p:cNvSpPr>
            <a:spLocks noGrp="1" noChangeArrowheads="1"/>
          </p:cNvSpPr>
          <p:nvPr>
            <p:ph idx="1"/>
            <p:custDataLst>
              <p:tags r:id="rId4"/>
            </p:custDataLst>
          </p:nvPr>
        </p:nvSpPr>
        <p:spPr>
          <a:xfrm>
            <a:off x="457200" y="1600200"/>
            <a:ext cx="8229600" cy="5257800"/>
          </a:xfrm>
        </p:spPr>
        <p:txBody>
          <a:bodyPr/>
          <a:lstStyle/>
          <a:p>
            <a:pPr marL="0" indent="0" eaLnBrk="1" hangingPunct="1">
              <a:lnSpc>
                <a:spcPct val="80000"/>
              </a:lnSpc>
              <a:buNone/>
            </a:pPr>
            <a:r>
              <a:rPr lang="en-US" altLang="en-US" dirty="0"/>
              <a:t>What happens on a cache miss?</a:t>
            </a:r>
          </a:p>
          <a:p>
            <a:pPr eaLnBrk="1" hangingPunct="1">
              <a:lnSpc>
                <a:spcPct val="80000"/>
              </a:lnSpc>
            </a:pPr>
            <a:r>
              <a:rPr lang="en-US" altLang="en-US" sz="2800" dirty="0"/>
              <a:t>Stall, with five-stage pipeline</a:t>
            </a:r>
          </a:p>
          <a:p>
            <a:pPr marL="0" indent="0" eaLnBrk="1" hangingPunct="1">
              <a:lnSpc>
                <a:spcPct val="80000"/>
              </a:lnSpc>
              <a:buNone/>
            </a:pPr>
            <a:endParaRPr lang="en-US" altLang="en-US" dirty="0"/>
          </a:p>
          <a:p>
            <a:pPr marL="0" indent="0" eaLnBrk="1" hangingPunct="1">
              <a:lnSpc>
                <a:spcPct val="80000"/>
              </a:lnSpc>
              <a:buNone/>
            </a:pPr>
            <a:r>
              <a:rPr lang="en-US" altLang="en-US" dirty="0"/>
              <a:t>e.g., Assume pipelined processor (base CPI = 1) running program with 30% loads/stores:</a:t>
            </a:r>
          </a:p>
          <a:p>
            <a:pPr eaLnBrk="1" hangingPunct="1">
              <a:lnSpc>
                <a:spcPct val="80000"/>
              </a:lnSpc>
            </a:pPr>
            <a:r>
              <a:rPr lang="en-US" altLang="en-US" sz="2800" dirty="0"/>
              <a:t>A base CPI of 1 implies t</a:t>
            </a:r>
            <a:r>
              <a:rPr lang="en-US" altLang="en-US" sz="2800" baseline="-25000" dirty="0"/>
              <a:t>L1</a:t>
            </a:r>
            <a:r>
              <a:rPr lang="en-US" altLang="en-US" sz="2800" dirty="0"/>
              <a:t> = 1 cycle</a:t>
            </a:r>
            <a:endParaRPr lang="en-US" altLang="en-US" sz="2400" dirty="0"/>
          </a:p>
          <a:p>
            <a:pPr eaLnBrk="1" hangingPunct="1">
              <a:lnSpc>
                <a:spcPct val="80000"/>
              </a:lnSpc>
            </a:pPr>
            <a:r>
              <a:rPr lang="en-US" altLang="en-US" sz="2800" dirty="0"/>
              <a:t>If L1-I miss rate is 2%, L1-D miss rate is 10%, and main memory delay is 10 cycles, what is average CPI?</a:t>
            </a:r>
          </a:p>
          <a:p>
            <a:pPr lvl="1" eaLnBrk="1" hangingPunct="1">
              <a:lnSpc>
                <a:spcPct val="80000"/>
              </a:lnSpc>
            </a:pPr>
            <a:r>
              <a:rPr lang="en-US" altLang="en-US" sz="2400" b="1" dirty="0"/>
              <a:t>penalty</a:t>
            </a:r>
            <a:r>
              <a:rPr lang="en-US" altLang="en-US" sz="2400" b="1" baseline="-25000" dirty="0"/>
              <a:t>L1D</a:t>
            </a:r>
            <a:r>
              <a:rPr lang="en-US" altLang="en-US" sz="2400" b="1" dirty="0"/>
              <a:t> = 30% × %miss</a:t>
            </a:r>
            <a:r>
              <a:rPr lang="en-US" altLang="en-US" sz="2400" b="1" baseline="-25000" dirty="0"/>
              <a:t>L1D</a:t>
            </a:r>
            <a:r>
              <a:rPr lang="en-US" altLang="en-US" sz="2400" b="1" dirty="0"/>
              <a:t> × </a:t>
            </a:r>
            <a:r>
              <a:rPr lang="en-US" altLang="en-US" sz="2400" b="1" dirty="0" err="1"/>
              <a:t>t</a:t>
            </a:r>
            <a:r>
              <a:rPr lang="en-US" altLang="en-US" sz="2400" b="1" baseline="-25000" dirty="0" err="1"/>
              <a:t>MEM</a:t>
            </a:r>
            <a:r>
              <a:rPr lang="en-US" altLang="en-US" sz="2400" b="1" dirty="0"/>
              <a:t> = 0.3 cycles per </a:t>
            </a:r>
            <a:r>
              <a:rPr lang="en-US" altLang="en-US" sz="2400" b="1" dirty="0" err="1"/>
              <a:t>insn</a:t>
            </a:r>
            <a:endParaRPr lang="en-US" altLang="en-US" sz="2400" b="1" dirty="0"/>
          </a:p>
          <a:p>
            <a:pPr lvl="1" eaLnBrk="1" hangingPunct="1">
              <a:lnSpc>
                <a:spcPct val="80000"/>
              </a:lnSpc>
            </a:pPr>
            <a:r>
              <a:rPr lang="en-US" altLang="en-US" sz="2400" b="1" dirty="0"/>
              <a:t>penalty</a:t>
            </a:r>
            <a:r>
              <a:rPr lang="en-US" altLang="en-US" sz="2400" b="1" baseline="-25000" dirty="0"/>
              <a:t>L1I</a:t>
            </a:r>
            <a:r>
              <a:rPr lang="en-US" altLang="en-US" sz="2400" b="1" dirty="0"/>
              <a:t> = %miss</a:t>
            </a:r>
            <a:r>
              <a:rPr lang="en-US" altLang="en-US" sz="2400" b="1" baseline="-25000" dirty="0"/>
              <a:t>L1I</a:t>
            </a:r>
            <a:r>
              <a:rPr lang="en-US" altLang="en-US" sz="2400" b="1" dirty="0"/>
              <a:t> × </a:t>
            </a:r>
            <a:r>
              <a:rPr lang="en-US" altLang="en-US" sz="2400" b="1" dirty="0" err="1"/>
              <a:t>t</a:t>
            </a:r>
            <a:r>
              <a:rPr lang="en-US" altLang="en-US" sz="2400" b="1" baseline="-25000" dirty="0" err="1"/>
              <a:t>MEM</a:t>
            </a:r>
            <a:r>
              <a:rPr lang="en-US" altLang="en-US" sz="2400" b="1" dirty="0"/>
              <a:t> = 0.2 cycles per </a:t>
            </a:r>
            <a:r>
              <a:rPr lang="en-US" altLang="en-US" sz="2400" b="1" dirty="0" err="1"/>
              <a:t>insn</a:t>
            </a:r>
            <a:endParaRPr lang="en-US" altLang="en-US" sz="2400" b="1" dirty="0"/>
          </a:p>
          <a:p>
            <a:pPr lvl="1" eaLnBrk="1" hangingPunct="1">
              <a:lnSpc>
                <a:spcPct val="80000"/>
              </a:lnSpc>
            </a:pPr>
            <a:r>
              <a:rPr lang="en-US" altLang="en-US" sz="2400" b="1" dirty="0"/>
              <a:t>average CPI = </a:t>
            </a:r>
            <a:r>
              <a:rPr lang="en-US" altLang="en-US" sz="2400" b="1" dirty="0" err="1"/>
              <a:t>CPI</a:t>
            </a:r>
            <a:r>
              <a:rPr lang="en-US" altLang="en-US" sz="2400" b="1" baseline="-25000" dirty="0" err="1"/>
              <a:t>base</a:t>
            </a:r>
            <a:r>
              <a:rPr lang="en-US" altLang="en-US" sz="2400" b="1" dirty="0"/>
              <a:t> + penalty</a:t>
            </a:r>
            <a:r>
              <a:rPr lang="en-US" altLang="en-US" sz="2400" b="1" baseline="-25000" dirty="0"/>
              <a:t>L1I</a:t>
            </a:r>
            <a:r>
              <a:rPr lang="en-US" altLang="en-US" sz="2400" b="1" dirty="0"/>
              <a:t> + penalty</a:t>
            </a:r>
            <a:r>
              <a:rPr lang="en-US" altLang="en-US" sz="2400" b="1" baseline="-25000" dirty="0"/>
              <a:t>L1D</a:t>
            </a:r>
            <a:r>
              <a:rPr lang="en-US" altLang="en-US" sz="2400" b="1" dirty="0"/>
              <a:t> = 1.5</a:t>
            </a:r>
          </a:p>
          <a:p>
            <a:pPr lvl="1" eaLnBrk="1" hangingPunct="1">
              <a:lnSpc>
                <a:spcPct val="80000"/>
              </a:lnSpc>
            </a:pPr>
            <a:endParaRPr lang="en-US" altLang="en-US" sz="2400" dirty="0"/>
          </a:p>
        </p:txBody>
      </p:sp>
    </p:spTree>
    <p:custDataLst>
      <p:tags r:id="rId1"/>
    </p:custDataLst>
    <p:extLst>
      <p:ext uri="{BB962C8B-B14F-4D97-AF65-F5344CB8AC3E}">
        <p14:creationId xmlns:p14="http://schemas.microsoft.com/office/powerpoint/2010/main" val="29552849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Misses</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17</a:t>
            </a:fld>
            <a:endParaRPr lang="en-US" altLang="en-US"/>
          </a:p>
        </p:txBody>
      </p:sp>
      <p:sp>
        <p:nvSpPr>
          <p:cNvPr id="6" name="TextBox 5">
            <a:extLst>
              <a:ext uri="{FF2B5EF4-FFF2-40B4-BE49-F238E27FC236}">
                <a16:creationId xmlns:a16="http://schemas.microsoft.com/office/drawing/2014/main" id="{F8445131-F7EB-430C-BCAB-B5B4E008F85A}"/>
              </a:ext>
            </a:extLst>
          </p:cNvPr>
          <p:cNvSpPr txBox="1"/>
          <p:nvPr>
            <p:custDataLst>
              <p:tags r:id="rId4"/>
            </p:custDataLst>
          </p:nvPr>
        </p:nvSpPr>
        <p:spPr>
          <a:xfrm>
            <a:off x="526930" y="1414732"/>
            <a:ext cx="8312270" cy="5138468"/>
          </a:xfrm>
          <a:prstGeom prst="rect">
            <a:avLst/>
          </a:prstGeom>
          <a:noFill/>
        </p:spPr>
        <p:txBody>
          <a:bodyPr wrap="square" rtlCol="0" anchor="t">
            <a:noAutofit/>
          </a:bodyPr>
          <a:lstStyle/>
          <a:p>
            <a:r>
              <a:rPr lang="en-US" sz="2800" b="1" dirty="0">
                <a:latin typeface="+mn-lt"/>
              </a:rPr>
              <a:t>Compulsory (Cold) Miss:</a:t>
            </a:r>
          </a:p>
          <a:p>
            <a:r>
              <a:rPr lang="en-US" sz="2800" dirty="0">
                <a:latin typeface="+mn-lt"/>
              </a:rPr>
              <a:t>Program’s first ever access to a given block of memory.</a:t>
            </a:r>
          </a:p>
          <a:p>
            <a:pPr marL="457200" indent="-457200">
              <a:buFont typeface="Wingdings" panose="05000000000000000000" pitchFamily="2" charset="2"/>
              <a:buChar char="Ø"/>
            </a:pPr>
            <a:r>
              <a:rPr lang="en-US" sz="2400" dirty="0">
                <a:latin typeface="+mn-lt"/>
              </a:rPr>
              <a:t>If infinite-size cache, every miss is a cold miss.</a:t>
            </a:r>
          </a:p>
          <a:p>
            <a:endParaRPr lang="en-US" sz="2000" dirty="0">
              <a:latin typeface="+mn-lt"/>
            </a:endParaRPr>
          </a:p>
          <a:p>
            <a:r>
              <a:rPr lang="en-US" sz="2800" b="1" dirty="0">
                <a:latin typeface="+mn-lt"/>
              </a:rPr>
              <a:t>Capacity Miss:</a:t>
            </a:r>
          </a:p>
          <a:p>
            <a:r>
              <a:rPr lang="en-US" sz="2800" dirty="0">
                <a:latin typeface="+mn-lt"/>
              </a:rPr>
              <a:t>Program’s memory footprint exceeds cache capacity.</a:t>
            </a:r>
          </a:p>
          <a:p>
            <a:pPr marL="457200" indent="-457200">
              <a:buFont typeface="Wingdings" panose="05000000000000000000" pitchFamily="2" charset="2"/>
              <a:buChar char="Ø"/>
            </a:pPr>
            <a:r>
              <a:rPr lang="en-US" sz="2400" dirty="0">
                <a:latin typeface="+mn-lt"/>
              </a:rPr>
              <a:t>If fully-associative finite cache, every miss that isn’t the first access (i.e., isn’t a cold miss) is a capacity miss.</a:t>
            </a:r>
          </a:p>
          <a:p>
            <a:endParaRPr lang="en-US" sz="2000" dirty="0">
              <a:latin typeface="+mn-lt"/>
            </a:endParaRPr>
          </a:p>
          <a:p>
            <a:r>
              <a:rPr lang="en-US" sz="2800" b="1" dirty="0">
                <a:latin typeface="+mn-lt"/>
              </a:rPr>
              <a:t>Conflict Miss:</a:t>
            </a:r>
          </a:p>
          <a:p>
            <a:r>
              <a:rPr lang="en-US" sz="2800" dirty="0">
                <a:latin typeface="+mn-lt"/>
              </a:rPr>
              <a:t>Placement restrictions cause useful blocks to be evicted.</a:t>
            </a:r>
          </a:p>
          <a:p>
            <a:pPr marL="457200" indent="-457200">
              <a:buFont typeface="Wingdings" panose="05000000000000000000" pitchFamily="2" charset="2"/>
              <a:buChar char="Ø"/>
            </a:pPr>
            <a:r>
              <a:rPr lang="en-US" sz="2400" dirty="0">
                <a:latin typeface="+mn-lt"/>
              </a:rPr>
              <a:t>Conflict misses only occur when a block can only be placed on a subset of the cache.</a:t>
            </a:r>
          </a:p>
        </p:txBody>
      </p:sp>
    </p:spTree>
    <p:custDataLst>
      <p:tags r:id="rId1"/>
    </p:custDataLst>
    <p:extLst>
      <p:ext uri="{BB962C8B-B14F-4D97-AF65-F5344CB8AC3E}">
        <p14:creationId xmlns:p14="http://schemas.microsoft.com/office/powerpoint/2010/main" val="7463960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EF135CF-78BD-4E55-9C6F-E72066C534F8}"/>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Misses</a:t>
            </a:r>
          </a:p>
        </p:txBody>
      </p:sp>
      <p:sp>
        <p:nvSpPr>
          <p:cNvPr id="18435" name="Rectangle 5">
            <a:extLst>
              <a:ext uri="{FF2B5EF4-FFF2-40B4-BE49-F238E27FC236}">
                <a16:creationId xmlns:a16="http://schemas.microsoft.com/office/drawing/2014/main" id="{F1596628-8A7F-4C4D-B8BB-EB5D52CCA7B4}"/>
              </a:ext>
            </a:extLst>
          </p:cNvPr>
          <p:cNvSpPr>
            <a:spLocks noGrp="1" noChangeArrowheads="1"/>
          </p:cNvSpPr>
          <p:nvPr>
            <p:ph idx="1"/>
            <p:custDataLst>
              <p:tags r:id="rId3"/>
            </p:custDataLst>
          </p:nvPr>
        </p:nvSpPr>
        <p:spPr>
          <a:xfrm>
            <a:off x="685800" y="5257800"/>
            <a:ext cx="7772400" cy="1219200"/>
          </a:xfrm>
        </p:spPr>
        <p:txBody>
          <a:bodyPr/>
          <a:lstStyle/>
          <a:p>
            <a:pPr eaLnBrk="1" hangingPunct="1">
              <a:lnSpc>
                <a:spcPct val="80000"/>
              </a:lnSpc>
            </a:pPr>
            <a:r>
              <a:rPr lang="en-US" altLang="en-US" sz="2800" dirty="0"/>
              <a:t>Vary capacity and associativity</a:t>
            </a:r>
          </a:p>
          <a:p>
            <a:pPr lvl="1" eaLnBrk="1" hangingPunct="1">
              <a:lnSpc>
                <a:spcPct val="90000"/>
              </a:lnSpc>
            </a:pPr>
            <a:r>
              <a:rPr lang="en-US" altLang="en-US" sz="2400" dirty="0"/>
              <a:t>Compulsory misses are constant</a:t>
            </a:r>
          </a:p>
          <a:p>
            <a:pPr lvl="1" eaLnBrk="1" hangingPunct="1">
              <a:lnSpc>
                <a:spcPct val="90000"/>
              </a:lnSpc>
            </a:pPr>
            <a:r>
              <a:rPr lang="en-US" altLang="en-US" sz="2400" dirty="0"/>
              <a:t>For fixed capacity, conflict misses ↓ as associativity ↑</a:t>
            </a:r>
          </a:p>
        </p:txBody>
      </p:sp>
      <p:sp>
        <p:nvSpPr>
          <p:cNvPr id="18436" name="Slide Number Placeholder 5">
            <a:extLst>
              <a:ext uri="{FF2B5EF4-FFF2-40B4-BE49-F238E27FC236}">
                <a16:creationId xmlns:a16="http://schemas.microsoft.com/office/drawing/2014/main" id="{E2EF7616-CE04-4EE6-846E-4EBE926AB8EA}"/>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7C846B0D-4FF4-4FF3-8BE6-6FD8A227C724}" type="slidenum">
              <a:rPr lang="en-US" altLang="en-US" sz="1400"/>
              <a:pPr lvl="1" eaLnBrk="1" hangingPunct="1">
                <a:spcBef>
                  <a:spcPct val="0"/>
                </a:spcBef>
                <a:buFontTx/>
                <a:buNone/>
              </a:pPr>
              <a:t>18</a:t>
            </a:fld>
            <a:endParaRPr lang="en-US" altLang="en-US" sz="1400">
              <a:latin typeface="Times New Roman" panose="02020603050405020304" pitchFamily="18" charset="0"/>
            </a:endParaRPr>
          </a:p>
        </p:txBody>
      </p:sp>
      <p:graphicFrame>
        <p:nvGraphicFramePr>
          <p:cNvPr id="6" name="Object 4">
            <a:extLst>
              <a:ext uri="{FF2B5EF4-FFF2-40B4-BE49-F238E27FC236}">
                <a16:creationId xmlns:a16="http://schemas.microsoft.com/office/drawing/2014/main" id="{92772E42-9544-4BE1-8FE9-48B28285812F}"/>
              </a:ext>
            </a:extLst>
          </p:cNvPr>
          <p:cNvGraphicFramePr>
            <a:graphicFrameLocks noChangeAspect="1"/>
          </p:cNvGraphicFramePr>
          <p:nvPr>
            <p:custDataLst>
              <p:tags r:id="rId5"/>
            </p:custDataLst>
          </p:nvPr>
        </p:nvGraphicFramePr>
        <p:xfrm>
          <a:off x="533400" y="1371600"/>
          <a:ext cx="8001000" cy="4067175"/>
        </p:xfrm>
        <a:graphic>
          <a:graphicData uri="http://schemas.openxmlformats.org/presentationml/2006/ole">
            <mc:AlternateContent xmlns:mc="http://schemas.openxmlformats.org/markup-compatibility/2006">
              <mc:Choice xmlns:v="urn:schemas-microsoft-com:vml" Requires="v">
                <p:oleObj name="Chart" r:id="rId8" imgW="6096000" imgH="4067243" progId="MSGraph.Chart.8">
                  <p:embed followColorScheme="full"/>
                </p:oleObj>
              </mc:Choice>
              <mc:Fallback>
                <p:oleObj name="Chart" r:id="rId8" imgW="6096000" imgH="4067243" progId="MSGraph.Chart.8">
                  <p:embed followColorScheme="full"/>
                  <p:pic>
                    <p:nvPicPr>
                      <p:cNvPr id="18437" name="Object 4">
                        <a:extLst>
                          <a:ext uri="{FF2B5EF4-FFF2-40B4-BE49-F238E27FC236}">
                            <a16:creationId xmlns:a16="http://schemas.microsoft.com/office/drawing/2014/main" id="{6D3D78B9-0C28-4236-B94A-8CEECCF077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1371600"/>
                        <a:ext cx="8001000" cy="406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113434281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405C965-FCCF-4DB6-A6ED-DC3ECE10CC87}"/>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 Misses</a:t>
            </a:r>
          </a:p>
        </p:txBody>
      </p:sp>
      <p:sp>
        <p:nvSpPr>
          <p:cNvPr id="19459" name="Rectangle 4">
            <a:extLst>
              <a:ext uri="{FF2B5EF4-FFF2-40B4-BE49-F238E27FC236}">
                <a16:creationId xmlns:a16="http://schemas.microsoft.com/office/drawing/2014/main" id="{DEEAF65B-2F2B-4EFB-9D87-15929A127766}"/>
              </a:ext>
            </a:extLst>
          </p:cNvPr>
          <p:cNvSpPr>
            <a:spLocks noGrp="1" noChangeArrowheads="1"/>
          </p:cNvSpPr>
          <p:nvPr>
            <p:ph idx="1"/>
            <p:custDataLst>
              <p:tags r:id="rId3"/>
            </p:custDataLst>
          </p:nvPr>
        </p:nvSpPr>
        <p:spPr>
          <a:xfrm>
            <a:off x="685800" y="5257800"/>
            <a:ext cx="8382000" cy="1219200"/>
          </a:xfrm>
        </p:spPr>
        <p:txBody>
          <a:bodyPr/>
          <a:lstStyle/>
          <a:p>
            <a:pPr eaLnBrk="1" hangingPunct="1">
              <a:lnSpc>
                <a:spcPct val="80000"/>
              </a:lnSpc>
            </a:pPr>
            <a:r>
              <a:rPr lang="en-US" altLang="en-US" sz="2800" dirty="0"/>
              <a:t>Vary capacity and block size</a:t>
            </a:r>
          </a:p>
          <a:p>
            <a:pPr lvl="1" eaLnBrk="1" hangingPunct="1">
              <a:lnSpc>
                <a:spcPct val="90000"/>
              </a:lnSpc>
            </a:pPr>
            <a:r>
              <a:rPr lang="en-US" altLang="en-US" sz="2400" dirty="0"/>
              <a:t>For fixed capacity, compulsory misses ↓ as block size ↑</a:t>
            </a:r>
          </a:p>
          <a:p>
            <a:pPr lvl="1" eaLnBrk="1" hangingPunct="1">
              <a:lnSpc>
                <a:spcPct val="90000"/>
              </a:lnSpc>
            </a:pPr>
            <a:r>
              <a:rPr lang="en-US" altLang="en-US" sz="2400" dirty="0"/>
              <a:t>Capacity and conflict misses can increase with larger blocks</a:t>
            </a:r>
          </a:p>
        </p:txBody>
      </p:sp>
      <p:sp>
        <p:nvSpPr>
          <p:cNvPr id="19460" name="Slide Number Placeholder 5">
            <a:extLst>
              <a:ext uri="{FF2B5EF4-FFF2-40B4-BE49-F238E27FC236}">
                <a16:creationId xmlns:a16="http://schemas.microsoft.com/office/drawing/2014/main" id="{417B3C06-A695-4EA3-A14F-5BA99F52B670}"/>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5E4C6EF-AEAE-451F-8F49-897AB7CEE00C}" type="slidenum">
              <a:rPr lang="en-US" altLang="en-US" sz="1400"/>
              <a:pPr lvl="1" eaLnBrk="1" hangingPunct="1">
                <a:spcBef>
                  <a:spcPct val="0"/>
                </a:spcBef>
                <a:buFontTx/>
                <a:buNone/>
              </a:pPr>
              <a:t>19</a:t>
            </a:fld>
            <a:endParaRPr lang="en-US" altLang="en-US" sz="1400">
              <a:latin typeface="Times New Roman" panose="02020603050405020304" pitchFamily="18" charset="0"/>
            </a:endParaRPr>
          </a:p>
        </p:txBody>
      </p:sp>
      <p:graphicFrame>
        <p:nvGraphicFramePr>
          <p:cNvPr id="6" name="Object 3">
            <a:extLst>
              <a:ext uri="{FF2B5EF4-FFF2-40B4-BE49-F238E27FC236}">
                <a16:creationId xmlns:a16="http://schemas.microsoft.com/office/drawing/2014/main" id="{0C8C7A95-E3FE-40CE-B3BA-6E4126A5D319}"/>
              </a:ext>
            </a:extLst>
          </p:cNvPr>
          <p:cNvGraphicFramePr>
            <a:graphicFrameLocks noChangeAspect="1"/>
          </p:cNvGraphicFramePr>
          <p:nvPr>
            <p:custDataLst>
              <p:tags r:id="rId5"/>
            </p:custDataLst>
          </p:nvPr>
        </p:nvGraphicFramePr>
        <p:xfrm>
          <a:off x="533400" y="1295400"/>
          <a:ext cx="8001000" cy="4067175"/>
        </p:xfrm>
        <a:graphic>
          <a:graphicData uri="http://schemas.openxmlformats.org/presentationml/2006/ole">
            <mc:AlternateContent xmlns:mc="http://schemas.openxmlformats.org/markup-compatibility/2006">
              <mc:Choice xmlns:v="urn:schemas-microsoft-com:vml" Requires="v">
                <p:oleObj name="Chart" r:id="rId8" imgW="6096000" imgH="4067243" progId="MSGraph.Chart.8">
                  <p:embed followColorScheme="full"/>
                </p:oleObj>
              </mc:Choice>
              <mc:Fallback>
                <p:oleObj name="Chart" r:id="rId8" imgW="6096000" imgH="4067243" progId="MSGraph.Chart.8">
                  <p:embed followColorScheme="full"/>
                  <p:pic>
                    <p:nvPicPr>
                      <p:cNvPr id="19461" name="Object 3">
                        <a:extLst>
                          <a:ext uri="{FF2B5EF4-FFF2-40B4-BE49-F238E27FC236}">
                            <a16:creationId xmlns:a16="http://schemas.microsoft.com/office/drawing/2014/main" id="{14519421-8573-4469-A94E-6860397E5E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1295400"/>
                        <a:ext cx="8001000" cy="406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extLst>
      <p:ext uri="{BB962C8B-B14F-4D97-AF65-F5344CB8AC3E}">
        <p14:creationId xmlns:p14="http://schemas.microsoft.com/office/powerpoint/2010/main" val="175887977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 Misses</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20</a:t>
            </a:fld>
            <a:endParaRPr lang="en-US" altLang="en-US"/>
          </a:p>
        </p:txBody>
      </p:sp>
      <p:sp>
        <p:nvSpPr>
          <p:cNvPr id="6" name="TextBox 5">
            <a:extLst>
              <a:ext uri="{FF2B5EF4-FFF2-40B4-BE49-F238E27FC236}">
                <a16:creationId xmlns:a16="http://schemas.microsoft.com/office/drawing/2014/main" id="{F8445131-F7EB-430C-BCAB-B5B4E008F85A}"/>
              </a:ext>
            </a:extLst>
          </p:cNvPr>
          <p:cNvSpPr txBox="1"/>
          <p:nvPr>
            <p:custDataLst>
              <p:tags r:id="rId4"/>
            </p:custDataLst>
          </p:nvPr>
        </p:nvSpPr>
        <p:spPr>
          <a:xfrm>
            <a:off x="526930" y="1414732"/>
            <a:ext cx="8312270" cy="5138468"/>
          </a:xfrm>
          <a:prstGeom prst="rect">
            <a:avLst/>
          </a:prstGeom>
          <a:noFill/>
        </p:spPr>
        <p:txBody>
          <a:bodyPr wrap="square" rtlCol="0" anchor="t">
            <a:noAutofit/>
          </a:bodyPr>
          <a:lstStyle/>
          <a:p>
            <a:r>
              <a:rPr lang="en-US" sz="2800" b="1" dirty="0">
                <a:latin typeface="+mn-lt"/>
              </a:rPr>
              <a:t>Reduce capacity misses?</a:t>
            </a:r>
          </a:p>
          <a:p>
            <a:pPr marL="457200" indent="-457200">
              <a:buFont typeface="Wingdings" panose="05000000000000000000" pitchFamily="2" charset="2"/>
              <a:buChar char="Ø"/>
            </a:pPr>
            <a:r>
              <a:rPr lang="en-US" sz="2800" dirty="0">
                <a:latin typeface="+mn-lt"/>
              </a:rPr>
              <a:t>Increase cache size</a:t>
            </a:r>
          </a:p>
          <a:p>
            <a:pPr marL="457200" indent="-457200">
              <a:buFont typeface="Wingdings" panose="05000000000000000000" pitchFamily="2" charset="2"/>
              <a:buChar char="Ø"/>
            </a:pPr>
            <a:r>
              <a:rPr lang="en-US" sz="2800" dirty="0">
                <a:latin typeface="+mn-lt"/>
              </a:rPr>
              <a:t>Increase program temporal locality</a:t>
            </a:r>
          </a:p>
          <a:p>
            <a:endParaRPr lang="en-US" sz="1600" dirty="0">
              <a:latin typeface="+mn-lt"/>
            </a:endParaRPr>
          </a:p>
          <a:p>
            <a:r>
              <a:rPr lang="en-US" sz="2800" b="1" dirty="0">
                <a:latin typeface="+mn-lt"/>
              </a:rPr>
              <a:t>Reduce conflict misses?</a:t>
            </a:r>
          </a:p>
          <a:p>
            <a:pPr marL="457200" indent="-457200">
              <a:buFont typeface="Wingdings" panose="05000000000000000000" pitchFamily="2" charset="2"/>
              <a:buChar char="Ø"/>
            </a:pPr>
            <a:r>
              <a:rPr lang="en-US" sz="2800" dirty="0">
                <a:latin typeface="+mn-lt"/>
              </a:rPr>
              <a:t>Increase associativity</a:t>
            </a:r>
          </a:p>
          <a:p>
            <a:pPr marL="457200" indent="-457200">
              <a:buFont typeface="Wingdings" panose="05000000000000000000" pitchFamily="2" charset="2"/>
              <a:buChar char="Ø"/>
            </a:pPr>
            <a:r>
              <a:rPr lang="en-US" sz="2800" dirty="0">
                <a:latin typeface="+mn-lt"/>
              </a:rPr>
              <a:t>Improve replacement policy</a:t>
            </a:r>
          </a:p>
          <a:p>
            <a:pPr marL="457200" indent="-457200">
              <a:buFont typeface="Wingdings" panose="05000000000000000000" pitchFamily="2" charset="2"/>
              <a:buChar char="Ø"/>
            </a:pPr>
            <a:r>
              <a:rPr lang="en-US" sz="2800" dirty="0">
                <a:latin typeface="+mn-lt"/>
              </a:rPr>
              <a:t>Improve hash function</a:t>
            </a:r>
          </a:p>
          <a:p>
            <a:endParaRPr lang="en-US" sz="1600" dirty="0">
              <a:latin typeface="+mn-lt"/>
            </a:endParaRPr>
          </a:p>
          <a:p>
            <a:r>
              <a:rPr lang="en-US" sz="2800" b="1" dirty="0">
                <a:latin typeface="+mn-lt"/>
              </a:rPr>
              <a:t>Reduce cold misses?</a:t>
            </a:r>
          </a:p>
          <a:p>
            <a:pPr marL="457200" indent="-457200">
              <a:buFont typeface="Wingdings" panose="05000000000000000000" pitchFamily="2" charset="2"/>
              <a:buChar char="Ø"/>
            </a:pPr>
            <a:r>
              <a:rPr lang="en-US" sz="2800" dirty="0">
                <a:latin typeface="+mn-lt"/>
              </a:rPr>
              <a:t>Increase block size</a:t>
            </a:r>
          </a:p>
          <a:p>
            <a:pPr marL="457200" indent="-457200">
              <a:buFont typeface="Wingdings" panose="05000000000000000000" pitchFamily="2" charset="2"/>
              <a:buChar char="Ø"/>
            </a:pPr>
            <a:r>
              <a:rPr lang="en-US" sz="2800" dirty="0">
                <a:latin typeface="+mn-lt"/>
              </a:rPr>
              <a:t>Increase program spatial locality</a:t>
            </a:r>
          </a:p>
          <a:p>
            <a:pPr marL="457200" indent="-457200">
              <a:buFont typeface="Wingdings" panose="05000000000000000000" pitchFamily="2" charset="2"/>
              <a:buChar char="Ø"/>
            </a:pPr>
            <a:r>
              <a:rPr lang="en-US" sz="2800" dirty="0">
                <a:latin typeface="+mn-lt"/>
              </a:rPr>
              <a:t>Implement prefetching</a:t>
            </a:r>
          </a:p>
          <a:p>
            <a:endParaRPr lang="en-US" sz="2800" dirty="0">
              <a:latin typeface="+mn-lt"/>
            </a:endParaRPr>
          </a:p>
        </p:txBody>
      </p:sp>
    </p:spTree>
    <p:custDataLst>
      <p:tags r:id="rId1"/>
    </p:custDataLst>
    <p:extLst>
      <p:ext uri="{BB962C8B-B14F-4D97-AF65-F5344CB8AC3E}">
        <p14:creationId xmlns:p14="http://schemas.microsoft.com/office/powerpoint/2010/main" val="3618760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21</a:t>
            </a:fld>
            <a:endParaRPr lang="en-US" altLang="en-US"/>
          </a:p>
        </p:txBody>
      </p:sp>
      <p:sp>
        <p:nvSpPr>
          <p:cNvPr id="5" name="TextBox 4">
            <a:extLst>
              <a:ext uri="{FF2B5EF4-FFF2-40B4-BE49-F238E27FC236}">
                <a16:creationId xmlns:a16="http://schemas.microsoft.com/office/drawing/2014/main" id="{62A98DE9-62EB-464F-98DF-34E814917FF3}"/>
              </a:ext>
            </a:extLst>
          </p:cNvPr>
          <p:cNvSpPr txBox="1"/>
          <p:nvPr>
            <p:custDataLst>
              <p:tags r:id="rId4"/>
            </p:custDataLst>
          </p:nvPr>
        </p:nvSpPr>
        <p:spPr>
          <a:xfrm>
            <a:off x="526930" y="1414732"/>
            <a:ext cx="8464670" cy="918170"/>
          </a:xfrm>
          <a:prstGeom prst="rect">
            <a:avLst/>
          </a:prstGeom>
          <a:noFill/>
        </p:spPr>
        <p:txBody>
          <a:bodyPr wrap="square" rtlCol="0" anchor="t">
            <a:noAutofit/>
          </a:bodyPr>
          <a:lstStyle/>
          <a:p>
            <a:r>
              <a:rPr lang="en-US" sz="2800" dirty="0">
                <a:latin typeface="+mn-lt"/>
              </a:rPr>
              <a:t>Assume 4KB fully-associative data cache with 64B blocks and LRU replacement. How many </a:t>
            </a:r>
            <a:r>
              <a:rPr lang="en-US" sz="2800" b="1" dirty="0">
                <a:latin typeface="+mn-lt"/>
              </a:rPr>
              <a:t>cold</a:t>
            </a:r>
            <a:r>
              <a:rPr lang="en-US" sz="2800" dirty="0">
                <a:latin typeface="+mn-lt"/>
              </a:rPr>
              <a:t> misses?</a:t>
            </a:r>
            <a:endParaRPr lang="en-US" sz="2400" dirty="0">
              <a:latin typeface="+mn-lt"/>
            </a:endParaRPr>
          </a:p>
        </p:txBody>
      </p:sp>
      <p:sp>
        <p:nvSpPr>
          <p:cNvPr id="7" name="TextBox 6">
            <a:extLst>
              <a:ext uri="{FF2B5EF4-FFF2-40B4-BE49-F238E27FC236}">
                <a16:creationId xmlns:a16="http://schemas.microsoft.com/office/drawing/2014/main" id="{59FF04F0-BA21-4180-9B8D-D2E6C17C45C3}"/>
              </a:ext>
            </a:extLst>
          </p:cNvPr>
          <p:cNvSpPr txBox="1"/>
          <p:nvPr>
            <p:custDataLst>
              <p:tags r:id="rId5"/>
            </p:custDataLst>
          </p:nvPr>
        </p:nvSpPr>
        <p:spPr>
          <a:xfrm>
            <a:off x="526930" y="2667000"/>
            <a:ext cx="8312270" cy="1821527"/>
          </a:xfrm>
          <a:prstGeom prst="rect">
            <a:avLst/>
          </a:prstGeom>
          <a:noFill/>
        </p:spPr>
        <p:txBody>
          <a:bodyPr wrap="square" rtlCol="0" anchor="t">
            <a:noAutofit/>
          </a:bodyPr>
          <a:lstStyle/>
          <a:p>
            <a:r>
              <a:rPr lang="en-US" sz="2400" dirty="0">
                <a:latin typeface="Courier New" panose="02070309020205020404" pitchFamily="49" charset="0"/>
                <a:cs typeface="Courier New" panose="02070309020205020404" pitchFamily="49" charset="0"/>
              </a:rPr>
              <a:t>int A[32768]; // base address 0x1000</a:t>
            </a:r>
          </a:p>
          <a:p>
            <a:r>
              <a:rPr lang="en-US" sz="2400" dirty="0">
                <a:latin typeface="Courier New" panose="02070309020205020404" pitchFamily="49" charset="0"/>
                <a:cs typeface="Courier New" panose="02070309020205020404" pitchFamily="49" charset="0"/>
              </a:rPr>
              <a:t>for (int n = 0; n &lt; 3; n++)</a:t>
            </a:r>
          </a:p>
          <a:p>
            <a:r>
              <a:rPr lang="en-US" sz="2400" dirty="0">
                <a:latin typeface="Courier New" panose="02070309020205020404" pitchFamily="49" charset="0"/>
                <a:cs typeface="Courier New" panose="02070309020205020404" pitchFamily="49" charset="0"/>
              </a:rPr>
              <a:t>    for (int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0;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&lt; 32768;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        ... =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117471502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22</a:t>
            </a:fld>
            <a:endParaRPr lang="en-US" altLang="en-US"/>
          </a:p>
        </p:txBody>
      </p:sp>
      <p:sp>
        <p:nvSpPr>
          <p:cNvPr id="5" name="TextBox 4">
            <a:extLst>
              <a:ext uri="{FF2B5EF4-FFF2-40B4-BE49-F238E27FC236}">
                <a16:creationId xmlns:a16="http://schemas.microsoft.com/office/drawing/2014/main" id="{62A98DE9-62EB-464F-98DF-34E814917FF3}"/>
              </a:ext>
            </a:extLst>
          </p:cNvPr>
          <p:cNvSpPr txBox="1"/>
          <p:nvPr>
            <p:custDataLst>
              <p:tags r:id="rId4"/>
            </p:custDataLst>
          </p:nvPr>
        </p:nvSpPr>
        <p:spPr>
          <a:xfrm>
            <a:off x="526930" y="1414732"/>
            <a:ext cx="8464670" cy="918170"/>
          </a:xfrm>
          <a:prstGeom prst="rect">
            <a:avLst/>
          </a:prstGeom>
          <a:noFill/>
        </p:spPr>
        <p:txBody>
          <a:bodyPr wrap="square" rtlCol="0" anchor="t">
            <a:noAutofit/>
          </a:bodyPr>
          <a:lstStyle/>
          <a:p>
            <a:r>
              <a:rPr lang="en-US" sz="2800" dirty="0">
                <a:latin typeface="+mn-lt"/>
              </a:rPr>
              <a:t>Assume 4KB fully-associative data cache with 64B blocks and LRU replacement. How many </a:t>
            </a:r>
            <a:r>
              <a:rPr lang="en-US" sz="2800" b="1" dirty="0">
                <a:latin typeface="+mn-lt"/>
              </a:rPr>
              <a:t>cold</a:t>
            </a:r>
            <a:r>
              <a:rPr lang="en-US" sz="2800" dirty="0">
                <a:latin typeface="+mn-lt"/>
              </a:rPr>
              <a:t> misses?</a:t>
            </a:r>
            <a:endParaRPr lang="en-US" sz="2400" dirty="0">
              <a:latin typeface="+mn-lt"/>
            </a:endParaRPr>
          </a:p>
        </p:txBody>
      </p:sp>
      <p:sp>
        <p:nvSpPr>
          <p:cNvPr id="7" name="TextBox 6">
            <a:extLst>
              <a:ext uri="{FF2B5EF4-FFF2-40B4-BE49-F238E27FC236}">
                <a16:creationId xmlns:a16="http://schemas.microsoft.com/office/drawing/2014/main" id="{59FF04F0-BA21-4180-9B8D-D2E6C17C45C3}"/>
              </a:ext>
            </a:extLst>
          </p:cNvPr>
          <p:cNvSpPr txBox="1"/>
          <p:nvPr>
            <p:custDataLst>
              <p:tags r:id="rId5"/>
            </p:custDataLst>
          </p:nvPr>
        </p:nvSpPr>
        <p:spPr>
          <a:xfrm>
            <a:off x="526930" y="2667000"/>
            <a:ext cx="8312270" cy="1821527"/>
          </a:xfrm>
          <a:prstGeom prst="rect">
            <a:avLst/>
          </a:prstGeom>
          <a:noFill/>
        </p:spPr>
        <p:txBody>
          <a:bodyPr wrap="square" rtlCol="0" anchor="t">
            <a:noAutofit/>
          </a:bodyPr>
          <a:lstStyle/>
          <a:p>
            <a:r>
              <a:rPr lang="en-US" sz="2400" dirty="0">
                <a:latin typeface="Courier New" panose="02070309020205020404" pitchFamily="49" charset="0"/>
                <a:cs typeface="Courier New" panose="02070309020205020404" pitchFamily="49" charset="0"/>
              </a:rPr>
              <a:t>int A[32768]; // base address 0x1000</a:t>
            </a:r>
          </a:p>
          <a:p>
            <a:r>
              <a:rPr lang="en-US" sz="2400" dirty="0">
                <a:latin typeface="Courier New" panose="02070309020205020404" pitchFamily="49" charset="0"/>
                <a:cs typeface="Courier New" panose="02070309020205020404" pitchFamily="49" charset="0"/>
              </a:rPr>
              <a:t>for (int n = 0; n &lt; 3; n++)</a:t>
            </a:r>
          </a:p>
          <a:p>
            <a:r>
              <a:rPr lang="en-US" sz="2400" dirty="0">
                <a:latin typeface="Courier New" panose="02070309020205020404" pitchFamily="49" charset="0"/>
                <a:cs typeface="Courier New" panose="02070309020205020404" pitchFamily="49" charset="0"/>
              </a:rPr>
              <a:t>    for (int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0;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&lt; 32768;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        ... =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graphicFrame>
        <p:nvGraphicFramePr>
          <p:cNvPr id="2" name="Table 1">
            <a:extLst>
              <a:ext uri="{FF2B5EF4-FFF2-40B4-BE49-F238E27FC236}">
                <a16:creationId xmlns:a16="http://schemas.microsoft.com/office/drawing/2014/main" id="{5FE076B4-6BD0-47DC-9396-08A7DE3B8ED5}"/>
              </a:ext>
            </a:extLst>
          </p:cNvPr>
          <p:cNvGraphicFramePr>
            <a:graphicFrameLocks noGrp="1"/>
          </p:cNvGraphicFramePr>
          <p:nvPr>
            <p:custDataLst>
              <p:tags r:id="rId6"/>
            </p:custDataLst>
            <p:extLst>
              <p:ext uri="{D42A27DB-BD31-4B8C-83A1-F6EECF244321}">
                <p14:modId xmlns:p14="http://schemas.microsoft.com/office/powerpoint/2010/main" val="152758491"/>
              </p:ext>
            </p:extLst>
          </p:nvPr>
        </p:nvGraphicFramePr>
        <p:xfrm>
          <a:off x="114300" y="4241800"/>
          <a:ext cx="8915400" cy="741680"/>
        </p:xfrm>
        <a:graphic>
          <a:graphicData uri="http://schemas.openxmlformats.org/drawingml/2006/table">
            <a:tbl>
              <a:tblPr firstRow="1" bandRow="1">
                <a:tableStyleId>{5C22544A-7EE6-4342-B048-85BDC9FD1C3A}</a:tableStyleId>
              </a:tblPr>
              <a:tblGrid>
                <a:gridCol w="1306567">
                  <a:extLst>
                    <a:ext uri="{9D8B030D-6E8A-4147-A177-3AD203B41FA5}">
                      <a16:colId xmlns:a16="http://schemas.microsoft.com/office/drawing/2014/main" val="866513356"/>
                    </a:ext>
                  </a:extLst>
                </a:gridCol>
                <a:gridCol w="7608833">
                  <a:extLst>
                    <a:ext uri="{9D8B030D-6E8A-4147-A177-3AD203B41FA5}">
                      <a16:colId xmlns:a16="http://schemas.microsoft.com/office/drawing/2014/main" val="3792165177"/>
                    </a:ext>
                  </a:extLst>
                </a:gridCol>
              </a:tblGrid>
              <a:tr h="370840">
                <a:tc>
                  <a:txBody>
                    <a:bodyPr/>
                    <a:lstStyle/>
                    <a:p>
                      <a:pPr algn="ctr"/>
                      <a:r>
                        <a:rPr lang="en-US" sz="1600" b="1" dirty="0">
                          <a:solidFill>
                            <a:schemeClr val="tx1"/>
                          </a:solidFill>
                        </a:rPr>
                        <a:t>misses (n=0)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b="1" dirty="0">
                          <a:solidFill>
                            <a:schemeClr val="tx1"/>
                          </a:solidFill>
                        </a:rPr>
                        <a:t>hits (n=0)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6991405"/>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 A[2] A[3] A[4] A[5] A[6] A[7] A[8] A[9] A[10] A[11] A[12] A[13] A[14] A[15]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96133568"/>
                  </a:ext>
                </a:extLst>
              </a:tr>
            </a:tbl>
          </a:graphicData>
        </a:graphic>
      </p:graphicFrame>
      <p:sp>
        <p:nvSpPr>
          <p:cNvPr id="8" name="TextBox 7">
            <a:extLst>
              <a:ext uri="{FF2B5EF4-FFF2-40B4-BE49-F238E27FC236}">
                <a16:creationId xmlns:a16="http://schemas.microsoft.com/office/drawing/2014/main" id="{732C0B73-8564-4D4A-8033-B6EE3D8401D5}"/>
              </a:ext>
            </a:extLst>
          </p:cNvPr>
          <p:cNvSpPr txBox="1"/>
          <p:nvPr>
            <p:custDataLst>
              <p:tags r:id="rId7"/>
            </p:custDataLst>
          </p:nvPr>
        </p:nvSpPr>
        <p:spPr>
          <a:xfrm>
            <a:off x="339665" y="6172200"/>
            <a:ext cx="8464670" cy="685800"/>
          </a:xfrm>
          <a:prstGeom prst="rect">
            <a:avLst/>
          </a:prstGeom>
          <a:solidFill>
            <a:schemeClr val="bg1"/>
          </a:solidFill>
        </p:spPr>
        <p:txBody>
          <a:bodyPr wrap="square" rtlCol="0" anchor="t">
            <a:noAutofit/>
          </a:bodyPr>
          <a:lstStyle/>
          <a:p>
            <a:pPr algn="ctr"/>
            <a:r>
              <a:rPr lang="en-US" sz="2800" b="1" dirty="0">
                <a:solidFill>
                  <a:schemeClr val="accent6">
                    <a:lumMod val="75000"/>
                  </a:schemeClr>
                </a:solidFill>
                <a:latin typeface="+mn-lt"/>
              </a:rPr>
              <a:t>cold misses = 32768 / (64B / 4B per int) = 2048</a:t>
            </a:r>
            <a:endParaRPr lang="en-US" sz="2400" b="1" dirty="0">
              <a:solidFill>
                <a:schemeClr val="accent6">
                  <a:lumMod val="75000"/>
                </a:schemeClr>
              </a:solidFill>
              <a:latin typeface="+mn-lt"/>
            </a:endParaRPr>
          </a:p>
        </p:txBody>
      </p:sp>
      <p:graphicFrame>
        <p:nvGraphicFramePr>
          <p:cNvPr id="9" name="Table 8">
            <a:extLst>
              <a:ext uri="{FF2B5EF4-FFF2-40B4-BE49-F238E27FC236}">
                <a16:creationId xmlns:a16="http://schemas.microsoft.com/office/drawing/2014/main" id="{6E26B41C-6242-4FDD-BBA5-A3F27D64074C}"/>
              </a:ext>
            </a:extLst>
          </p:cNvPr>
          <p:cNvGraphicFramePr>
            <a:graphicFrameLocks noGrp="1"/>
          </p:cNvGraphicFramePr>
          <p:nvPr>
            <p:custDataLst>
              <p:tags r:id="rId8"/>
            </p:custDataLst>
            <p:extLst>
              <p:ext uri="{D42A27DB-BD31-4B8C-83A1-F6EECF244321}">
                <p14:modId xmlns:p14="http://schemas.microsoft.com/office/powerpoint/2010/main" val="3807910798"/>
              </p:ext>
            </p:extLst>
          </p:nvPr>
        </p:nvGraphicFramePr>
        <p:xfrm>
          <a:off x="114300" y="4241800"/>
          <a:ext cx="8915400" cy="1854200"/>
        </p:xfrm>
        <a:graphic>
          <a:graphicData uri="http://schemas.openxmlformats.org/drawingml/2006/table">
            <a:tbl>
              <a:tblPr firstRow="1" bandRow="1">
                <a:tableStyleId>{5C22544A-7EE6-4342-B048-85BDC9FD1C3A}</a:tableStyleId>
              </a:tblPr>
              <a:tblGrid>
                <a:gridCol w="1306567">
                  <a:extLst>
                    <a:ext uri="{9D8B030D-6E8A-4147-A177-3AD203B41FA5}">
                      <a16:colId xmlns:a16="http://schemas.microsoft.com/office/drawing/2014/main" val="866513356"/>
                    </a:ext>
                  </a:extLst>
                </a:gridCol>
                <a:gridCol w="7608833">
                  <a:extLst>
                    <a:ext uri="{9D8B030D-6E8A-4147-A177-3AD203B41FA5}">
                      <a16:colId xmlns:a16="http://schemas.microsoft.com/office/drawing/2014/main" val="3792165177"/>
                    </a:ext>
                  </a:extLst>
                </a:gridCol>
              </a:tblGrid>
              <a:tr h="370840">
                <a:tc>
                  <a:txBody>
                    <a:bodyPr/>
                    <a:lstStyle/>
                    <a:p>
                      <a:pPr algn="ctr"/>
                      <a:r>
                        <a:rPr lang="en-US" sz="1600" b="1" dirty="0">
                          <a:solidFill>
                            <a:schemeClr val="tx1"/>
                          </a:solidFill>
                        </a:rPr>
                        <a:t>misses (n=0)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b="1" dirty="0">
                          <a:solidFill>
                            <a:schemeClr val="tx1"/>
                          </a:solidFill>
                        </a:rPr>
                        <a:t>hits (n=0)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6991405"/>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 A[2] A[3] A[4] A[5] A[6] A[7] A[8] A[9] A[10] A[11] A[12] A[13] A[14] A[15]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96133568"/>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A[17] A[18] A[19] A[20] ... A[28] A[29] A[30] A[31]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80411173"/>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A[33] A[34] A[35] A[36] ... A[44] A[45] A[46] A[47]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22183116"/>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06532463"/>
                  </a:ext>
                </a:extLst>
              </a:tr>
            </a:tbl>
          </a:graphicData>
        </a:graphic>
      </p:graphicFrame>
    </p:spTree>
    <p:custDataLst>
      <p:tags r:id="rId1"/>
    </p:custDataLst>
    <p:extLst>
      <p:ext uri="{BB962C8B-B14F-4D97-AF65-F5344CB8AC3E}">
        <p14:creationId xmlns:p14="http://schemas.microsoft.com/office/powerpoint/2010/main" val="19421527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23</a:t>
            </a:fld>
            <a:endParaRPr lang="en-US" altLang="en-US"/>
          </a:p>
        </p:txBody>
      </p:sp>
      <p:sp>
        <p:nvSpPr>
          <p:cNvPr id="5" name="TextBox 4">
            <a:extLst>
              <a:ext uri="{FF2B5EF4-FFF2-40B4-BE49-F238E27FC236}">
                <a16:creationId xmlns:a16="http://schemas.microsoft.com/office/drawing/2014/main" id="{62A98DE9-62EB-464F-98DF-34E814917FF3}"/>
              </a:ext>
            </a:extLst>
          </p:cNvPr>
          <p:cNvSpPr txBox="1"/>
          <p:nvPr>
            <p:custDataLst>
              <p:tags r:id="rId4"/>
            </p:custDataLst>
          </p:nvPr>
        </p:nvSpPr>
        <p:spPr>
          <a:xfrm>
            <a:off x="526930" y="1414732"/>
            <a:ext cx="8464670" cy="918170"/>
          </a:xfrm>
          <a:prstGeom prst="rect">
            <a:avLst/>
          </a:prstGeom>
          <a:noFill/>
        </p:spPr>
        <p:txBody>
          <a:bodyPr wrap="square" rtlCol="0" anchor="t">
            <a:noAutofit/>
          </a:bodyPr>
          <a:lstStyle/>
          <a:p>
            <a:r>
              <a:rPr lang="en-US" sz="2800" dirty="0">
                <a:latin typeface="+mn-lt"/>
              </a:rPr>
              <a:t>Assume 4KB fully-associative data cache with 64B blocks and LRU replacement. How many </a:t>
            </a:r>
            <a:r>
              <a:rPr lang="en-US" sz="2800" b="1" dirty="0">
                <a:latin typeface="+mn-lt"/>
              </a:rPr>
              <a:t>capacity</a:t>
            </a:r>
            <a:r>
              <a:rPr lang="en-US" sz="2800" dirty="0">
                <a:latin typeface="+mn-lt"/>
              </a:rPr>
              <a:t> misses?</a:t>
            </a:r>
            <a:endParaRPr lang="en-US" sz="2400" dirty="0">
              <a:latin typeface="+mn-lt"/>
            </a:endParaRPr>
          </a:p>
        </p:txBody>
      </p:sp>
      <p:sp>
        <p:nvSpPr>
          <p:cNvPr id="7" name="TextBox 6">
            <a:extLst>
              <a:ext uri="{FF2B5EF4-FFF2-40B4-BE49-F238E27FC236}">
                <a16:creationId xmlns:a16="http://schemas.microsoft.com/office/drawing/2014/main" id="{59FF04F0-BA21-4180-9B8D-D2E6C17C45C3}"/>
              </a:ext>
            </a:extLst>
          </p:cNvPr>
          <p:cNvSpPr txBox="1"/>
          <p:nvPr>
            <p:custDataLst>
              <p:tags r:id="rId5"/>
            </p:custDataLst>
          </p:nvPr>
        </p:nvSpPr>
        <p:spPr>
          <a:xfrm>
            <a:off x="526930" y="2667000"/>
            <a:ext cx="8312270" cy="1821527"/>
          </a:xfrm>
          <a:prstGeom prst="rect">
            <a:avLst/>
          </a:prstGeom>
          <a:noFill/>
        </p:spPr>
        <p:txBody>
          <a:bodyPr wrap="square" rtlCol="0" anchor="t">
            <a:noAutofit/>
          </a:bodyPr>
          <a:lstStyle/>
          <a:p>
            <a:r>
              <a:rPr lang="en-US" sz="2400" dirty="0">
                <a:latin typeface="Courier New" panose="02070309020205020404" pitchFamily="49" charset="0"/>
                <a:cs typeface="Courier New" panose="02070309020205020404" pitchFamily="49" charset="0"/>
              </a:rPr>
              <a:t>int A[32768]; // base address 0x1000</a:t>
            </a:r>
          </a:p>
          <a:p>
            <a:r>
              <a:rPr lang="en-US" sz="2400" dirty="0">
                <a:latin typeface="Courier New" panose="02070309020205020404" pitchFamily="49" charset="0"/>
                <a:cs typeface="Courier New" panose="02070309020205020404" pitchFamily="49" charset="0"/>
              </a:rPr>
              <a:t>for (int n = 0; n &lt; 3; n++)</a:t>
            </a:r>
          </a:p>
          <a:p>
            <a:r>
              <a:rPr lang="en-US" sz="2400" dirty="0">
                <a:latin typeface="Courier New" panose="02070309020205020404" pitchFamily="49" charset="0"/>
                <a:cs typeface="Courier New" panose="02070309020205020404" pitchFamily="49" charset="0"/>
              </a:rPr>
              <a:t>    for (int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0;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&lt; 32768;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        ... =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188306887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24</a:t>
            </a:fld>
            <a:endParaRPr lang="en-US" altLang="en-US"/>
          </a:p>
        </p:txBody>
      </p:sp>
      <p:sp>
        <p:nvSpPr>
          <p:cNvPr id="5" name="TextBox 4">
            <a:extLst>
              <a:ext uri="{FF2B5EF4-FFF2-40B4-BE49-F238E27FC236}">
                <a16:creationId xmlns:a16="http://schemas.microsoft.com/office/drawing/2014/main" id="{62A98DE9-62EB-464F-98DF-34E814917FF3}"/>
              </a:ext>
            </a:extLst>
          </p:cNvPr>
          <p:cNvSpPr txBox="1"/>
          <p:nvPr>
            <p:custDataLst>
              <p:tags r:id="rId4"/>
            </p:custDataLst>
          </p:nvPr>
        </p:nvSpPr>
        <p:spPr>
          <a:xfrm>
            <a:off x="526930" y="1414732"/>
            <a:ext cx="8464670" cy="918170"/>
          </a:xfrm>
          <a:prstGeom prst="rect">
            <a:avLst/>
          </a:prstGeom>
          <a:noFill/>
        </p:spPr>
        <p:txBody>
          <a:bodyPr wrap="square" rtlCol="0" anchor="t">
            <a:noAutofit/>
          </a:bodyPr>
          <a:lstStyle/>
          <a:p>
            <a:r>
              <a:rPr lang="en-US" sz="2800" dirty="0">
                <a:latin typeface="+mn-lt"/>
              </a:rPr>
              <a:t>Assume 4KB fully-associative data cache with 64B blocks and LRU replacement. How many </a:t>
            </a:r>
            <a:r>
              <a:rPr lang="en-US" sz="2800" b="1" dirty="0">
                <a:latin typeface="+mn-lt"/>
              </a:rPr>
              <a:t>capacity</a:t>
            </a:r>
            <a:r>
              <a:rPr lang="en-US" sz="2800" dirty="0">
                <a:latin typeface="+mn-lt"/>
              </a:rPr>
              <a:t> misses?</a:t>
            </a:r>
            <a:endParaRPr lang="en-US" sz="2400" dirty="0">
              <a:latin typeface="+mn-lt"/>
            </a:endParaRPr>
          </a:p>
        </p:txBody>
      </p:sp>
      <p:sp>
        <p:nvSpPr>
          <p:cNvPr id="7" name="TextBox 6">
            <a:extLst>
              <a:ext uri="{FF2B5EF4-FFF2-40B4-BE49-F238E27FC236}">
                <a16:creationId xmlns:a16="http://schemas.microsoft.com/office/drawing/2014/main" id="{59FF04F0-BA21-4180-9B8D-D2E6C17C45C3}"/>
              </a:ext>
            </a:extLst>
          </p:cNvPr>
          <p:cNvSpPr txBox="1"/>
          <p:nvPr>
            <p:custDataLst>
              <p:tags r:id="rId5"/>
            </p:custDataLst>
          </p:nvPr>
        </p:nvSpPr>
        <p:spPr>
          <a:xfrm>
            <a:off x="526930" y="2667000"/>
            <a:ext cx="8312270" cy="1821527"/>
          </a:xfrm>
          <a:prstGeom prst="rect">
            <a:avLst/>
          </a:prstGeom>
          <a:noFill/>
        </p:spPr>
        <p:txBody>
          <a:bodyPr wrap="square" rtlCol="0" anchor="t">
            <a:noAutofit/>
          </a:bodyPr>
          <a:lstStyle/>
          <a:p>
            <a:r>
              <a:rPr lang="en-US" sz="2400" dirty="0">
                <a:latin typeface="Courier New" panose="02070309020205020404" pitchFamily="49" charset="0"/>
                <a:cs typeface="Courier New" panose="02070309020205020404" pitchFamily="49" charset="0"/>
              </a:rPr>
              <a:t>int A[32768]; // base address 0x1000</a:t>
            </a:r>
          </a:p>
          <a:p>
            <a:r>
              <a:rPr lang="en-US" sz="2400" dirty="0">
                <a:latin typeface="Courier New" panose="02070309020205020404" pitchFamily="49" charset="0"/>
                <a:cs typeface="Courier New" panose="02070309020205020404" pitchFamily="49" charset="0"/>
              </a:rPr>
              <a:t>for (int n = 0; n &lt; 3; n++)</a:t>
            </a:r>
          </a:p>
          <a:p>
            <a:r>
              <a:rPr lang="en-US" sz="2400" dirty="0">
                <a:latin typeface="Courier New" panose="02070309020205020404" pitchFamily="49" charset="0"/>
                <a:cs typeface="Courier New" panose="02070309020205020404" pitchFamily="49" charset="0"/>
              </a:rPr>
              <a:t>    for (int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0;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&lt; 32768;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        ... =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6A2AA901-8BDC-4675-B69D-3B5C27A03F5F}"/>
              </a:ext>
            </a:extLst>
          </p:cNvPr>
          <p:cNvSpPr txBox="1"/>
          <p:nvPr>
            <p:custDataLst>
              <p:tags r:id="rId6"/>
            </p:custDataLst>
          </p:nvPr>
        </p:nvSpPr>
        <p:spPr>
          <a:xfrm>
            <a:off x="339665" y="6172200"/>
            <a:ext cx="8464670" cy="685800"/>
          </a:xfrm>
          <a:prstGeom prst="rect">
            <a:avLst/>
          </a:prstGeom>
          <a:noFill/>
        </p:spPr>
        <p:txBody>
          <a:bodyPr wrap="square" rtlCol="0" anchor="t">
            <a:noAutofit/>
          </a:bodyPr>
          <a:lstStyle/>
          <a:p>
            <a:pPr algn="ctr"/>
            <a:r>
              <a:rPr lang="en-US" sz="2800" b="1" dirty="0">
                <a:solidFill>
                  <a:schemeClr val="accent6">
                    <a:lumMod val="75000"/>
                  </a:schemeClr>
                </a:solidFill>
                <a:latin typeface="+mn-lt"/>
              </a:rPr>
              <a:t>capacity misses = 2048 (when n=1) …</a:t>
            </a:r>
            <a:endParaRPr lang="en-US" sz="2400" b="1" dirty="0">
              <a:solidFill>
                <a:schemeClr val="accent6">
                  <a:lumMod val="75000"/>
                </a:schemeClr>
              </a:solidFill>
              <a:latin typeface="+mn-lt"/>
            </a:endParaRPr>
          </a:p>
        </p:txBody>
      </p:sp>
      <p:graphicFrame>
        <p:nvGraphicFramePr>
          <p:cNvPr id="2" name="Table 1">
            <a:extLst>
              <a:ext uri="{FF2B5EF4-FFF2-40B4-BE49-F238E27FC236}">
                <a16:creationId xmlns:a16="http://schemas.microsoft.com/office/drawing/2014/main" id="{5FE076B4-6BD0-47DC-9396-08A7DE3B8ED5}"/>
              </a:ext>
            </a:extLst>
          </p:cNvPr>
          <p:cNvGraphicFramePr>
            <a:graphicFrameLocks noGrp="1"/>
          </p:cNvGraphicFramePr>
          <p:nvPr>
            <p:custDataLst>
              <p:tags r:id="rId7"/>
            </p:custDataLst>
          </p:nvPr>
        </p:nvGraphicFramePr>
        <p:xfrm>
          <a:off x="114300" y="4241800"/>
          <a:ext cx="8915400" cy="1854200"/>
        </p:xfrm>
        <a:graphic>
          <a:graphicData uri="http://schemas.openxmlformats.org/drawingml/2006/table">
            <a:tbl>
              <a:tblPr firstRow="1" bandRow="1">
                <a:tableStyleId>{5C22544A-7EE6-4342-B048-85BDC9FD1C3A}</a:tableStyleId>
              </a:tblPr>
              <a:tblGrid>
                <a:gridCol w="1306567">
                  <a:extLst>
                    <a:ext uri="{9D8B030D-6E8A-4147-A177-3AD203B41FA5}">
                      <a16:colId xmlns:a16="http://schemas.microsoft.com/office/drawing/2014/main" val="866513356"/>
                    </a:ext>
                  </a:extLst>
                </a:gridCol>
                <a:gridCol w="7608833">
                  <a:extLst>
                    <a:ext uri="{9D8B030D-6E8A-4147-A177-3AD203B41FA5}">
                      <a16:colId xmlns:a16="http://schemas.microsoft.com/office/drawing/2014/main" val="3792165177"/>
                    </a:ext>
                  </a:extLst>
                </a:gridCol>
              </a:tblGrid>
              <a:tr h="370840">
                <a:tc>
                  <a:txBody>
                    <a:bodyPr/>
                    <a:lstStyle/>
                    <a:p>
                      <a:pPr algn="ctr"/>
                      <a:r>
                        <a:rPr lang="en-US" sz="1600" b="1" dirty="0">
                          <a:solidFill>
                            <a:schemeClr val="tx1"/>
                          </a:solidFill>
                        </a:rPr>
                        <a:t>misses (n=1)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b="1" dirty="0">
                          <a:solidFill>
                            <a:schemeClr val="tx1"/>
                          </a:solidFill>
                        </a:rPr>
                        <a:t>hits (n=1)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6991405"/>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 A[2] A[3] A[4] A[5] A[6] A[7] A[8] A[9] A[10] A[11] A[12] A[13] A[14] A[15]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96133568"/>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A[17] A[18] A[19] A[20] ... A[28] A[29] A[30] A[31]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80411173"/>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A[33] A[34] A[35] A[36] ... A[44] A[45] A[46] A[47]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22183116"/>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06532463"/>
                  </a:ext>
                </a:extLst>
              </a:tr>
            </a:tbl>
          </a:graphicData>
        </a:graphic>
      </p:graphicFrame>
      <p:sp>
        <p:nvSpPr>
          <p:cNvPr id="8" name="TextBox 7">
            <a:extLst>
              <a:ext uri="{FF2B5EF4-FFF2-40B4-BE49-F238E27FC236}">
                <a16:creationId xmlns:a16="http://schemas.microsoft.com/office/drawing/2014/main" id="{93276700-E4C0-43C7-A080-DF1B7CDC7C03}"/>
              </a:ext>
            </a:extLst>
          </p:cNvPr>
          <p:cNvSpPr txBox="1"/>
          <p:nvPr>
            <p:custDataLst>
              <p:tags r:id="rId8"/>
            </p:custDataLst>
          </p:nvPr>
        </p:nvSpPr>
        <p:spPr>
          <a:xfrm>
            <a:off x="339665" y="6172200"/>
            <a:ext cx="8464670" cy="685800"/>
          </a:xfrm>
          <a:prstGeom prst="rect">
            <a:avLst/>
          </a:prstGeom>
          <a:solidFill>
            <a:schemeClr val="bg1"/>
          </a:solidFill>
        </p:spPr>
        <p:txBody>
          <a:bodyPr wrap="square" rtlCol="0" anchor="t">
            <a:noAutofit/>
          </a:bodyPr>
          <a:lstStyle/>
          <a:p>
            <a:pPr algn="ctr"/>
            <a:r>
              <a:rPr lang="en-US" sz="2800" b="1" dirty="0">
                <a:solidFill>
                  <a:schemeClr val="accent6">
                    <a:lumMod val="75000"/>
                  </a:schemeClr>
                </a:solidFill>
                <a:latin typeface="+mn-lt"/>
              </a:rPr>
              <a:t>capacity misses = 2048 (when n=1) + 2048 (when n=2)</a:t>
            </a:r>
            <a:endParaRPr lang="en-US" sz="2400" b="1" dirty="0">
              <a:solidFill>
                <a:schemeClr val="accent6">
                  <a:lumMod val="75000"/>
                </a:schemeClr>
              </a:solidFill>
              <a:latin typeface="+mn-lt"/>
            </a:endParaRPr>
          </a:p>
        </p:txBody>
      </p:sp>
      <p:graphicFrame>
        <p:nvGraphicFramePr>
          <p:cNvPr id="9" name="Table 8">
            <a:extLst>
              <a:ext uri="{FF2B5EF4-FFF2-40B4-BE49-F238E27FC236}">
                <a16:creationId xmlns:a16="http://schemas.microsoft.com/office/drawing/2014/main" id="{CD3DC9F3-7FB6-453B-90AA-244285A8501D}"/>
              </a:ext>
            </a:extLst>
          </p:cNvPr>
          <p:cNvGraphicFramePr>
            <a:graphicFrameLocks noGrp="1"/>
          </p:cNvGraphicFramePr>
          <p:nvPr>
            <p:custDataLst>
              <p:tags r:id="rId9"/>
            </p:custDataLst>
            <p:extLst>
              <p:ext uri="{D42A27DB-BD31-4B8C-83A1-F6EECF244321}">
                <p14:modId xmlns:p14="http://schemas.microsoft.com/office/powerpoint/2010/main" val="4205853522"/>
              </p:ext>
            </p:extLst>
          </p:nvPr>
        </p:nvGraphicFramePr>
        <p:xfrm>
          <a:off x="114300" y="4241800"/>
          <a:ext cx="8915400" cy="1854200"/>
        </p:xfrm>
        <a:graphic>
          <a:graphicData uri="http://schemas.openxmlformats.org/drawingml/2006/table">
            <a:tbl>
              <a:tblPr firstRow="1" bandRow="1">
                <a:tableStyleId>{5C22544A-7EE6-4342-B048-85BDC9FD1C3A}</a:tableStyleId>
              </a:tblPr>
              <a:tblGrid>
                <a:gridCol w="1306567">
                  <a:extLst>
                    <a:ext uri="{9D8B030D-6E8A-4147-A177-3AD203B41FA5}">
                      <a16:colId xmlns:a16="http://schemas.microsoft.com/office/drawing/2014/main" val="866513356"/>
                    </a:ext>
                  </a:extLst>
                </a:gridCol>
                <a:gridCol w="7608833">
                  <a:extLst>
                    <a:ext uri="{9D8B030D-6E8A-4147-A177-3AD203B41FA5}">
                      <a16:colId xmlns:a16="http://schemas.microsoft.com/office/drawing/2014/main" val="3792165177"/>
                    </a:ext>
                  </a:extLst>
                </a:gridCol>
              </a:tblGrid>
              <a:tr h="370840">
                <a:tc>
                  <a:txBody>
                    <a:bodyPr/>
                    <a:lstStyle/>
                    <a:p>
                      <a:pPr algn="ctr"/>
                      <a:r>
                        <a:rPr lang="en-US" sz="1600" b="1" dirty="0">
                          <a:solidFill>
                            <a:schemeClr val="tx1"/>
                          </a:solidFill>
                        </a:rPr>
                        <a:t>misses (n=2)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b="1" dirty="0">
                          <a:solidFill>
                            <a:schemeClr val="tx1"/>
                          </a:solidFill>
                        </a:rPr>
                        <a:t>hits (n=2)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6991405"/>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 A[2] A[3] A[4] A[5] A[6] A[7] A[8] A[9] A[10] A[11] A[12] A[13] A[14] A[15]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96133568"/>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A[17] A[18] A[19] A[20] ... A[28] A[29] A[30] A[31]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80411173"/>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A[33] A[34] A[35] A[36] ... A[44] A[45] A[46] A[47]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22183116"/>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06532463"/>
                  </a:ext>
                </a:extLst>
              </a:tr>
            </a:tbl>
          </a:graphicData>
        </a:graphic>
      </p:graphicFrame>
    </p:spTree>
    <p:custDataLst>
      <p:tags r:id="rId1"/>
    </p:custDataLst>
    <p:extLst>
      <p:ext uri="{BB962C8B-B14F-4D97-AF65-F5344CB8AC3E}">
        <p14:creationId xmlns:p14="http://schemas.microsoft.com/office/powerpoint/2010/main" val="14388373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25</a:t>
            </a:fld>
            <a:endParaRPr lang="en-US" altLang="en-US"/>
          </a:p>
        </p:txBody>
      </p:sp>
      <p:sp>
        <p:nvSpPr>
          <p:cNvPr id="5" name="TextBox 4">
            <a:extLst>
              <a:ext uri="{FF2B5EF4-FFF2-40B4-BE49-F238E27FC236}">
                <a16:creationId xmlns:a16="http://schemas.microsoft.com/office/drawing/2014/main" id="{62A98DE9-62EB-464F-98DF-34E814917FF3}"/>
              </a:ext>
            </a:extLst>
          </p:cNvPr>
          <p:cNvSpPr txBox="1"/>
          <p:nvPr>
            <p:custDataLst>
              <p:tags r:id="rId4"/>
            </p:custDataLst>
          </p:nvPr>
        </p:nvSpPr>
        <p:spPr>
          <a:xfrm>
            <a:off x="526930" y="1414732"/>
            <a:ext cx="8464670" cy="918170"/>
          </a:xfrm>
          <a:prstGeom prst="rect">
            <a:avLst/>
          </a:prstGeom>
          <a:noFill/>
        </p:spPr>
        <p:txBody>
          <a:bodyPr wrap="square" rtlCol="0" anchor="t">
            <a:noAutofit/>
          </a:bodyPr>
          <a:lstStyle/>
          <a:p>
            <a:r>
              <a:rPr lang="en-US" sz="2800" dirty="0">
                <a:latin typeface="+mn-lt"/>
              </a:rPr>
              <a:t>Assume 4KB fully-associative data cache with 64B blocks and LRU replacement. How many </a:t>
            </a:r>
            <a:r>
              <a:rPr lang="en-US" sz="2800" b="1" dirty="0">
                <a:latin typeface="+mn-lt"/>
              </a:rPr>
              <a:t>total</a:t>
            </a:r>
            <a:r>
              <a:rPr lang="en-US" sz="2800" dirty="0">
                <a:latin typeface="+mn-lt"/>
              </a:rPr>
              <a:t> misses?</a:t>
            </a:r>
            <a:endParaRPr lang="en-US" sz="2400" dirty="0">
              <a:latin typeface="+mn-lt"/>
            </a:endParaRPr>
          </a:p>
        </p:txBody>
      </p:sp>
      <p:sp>
        <p:nvSpPr>
          <p:cNvPr id="7" name="TextBox 6">
            <a:extLst>
              <a:ext uri="{FF2B5EF4-FFF2-40B4-BE49-F238E27FC236}">
                <a16:creationId xmlns:a16="http://schemas.microsoft.com/office/drawing/2014/main" id="{59FF04F0-BA21-4180-9B8D-D2E6C17C45C3}"/>
              </a:ext>
            </a:extLst>
          </p:cNvPr>
          <p:cNvSpPr txBox="1"/>
          <p:nvPr>
            <p:custDataLst>
              <p:tags r:id="rId5"/>
            </p:custDataLst>
          </p:nvPr>
        </p:nvSpPr>
        <p:spPr>
          <a:xfrm>
            <a:off x="526930" y="2667000"/>
            <a:ext cx="8312270" cy="1821527"/>
          </a:xfrm>
          <a:prstGeom prst="rect">
            <a:avLst/>
          </a:prstGeom>
          <a:noFill/>
        </p:spPr>
        <p:txBody>
          <a:bodyPr wrap="square" rtlCol="0" anchor="t">
            <a:noAutofit/>
          </a:bodyPr>
          <a:lstStyle/>
          <a:p>
            <a:r>
              <a:rPr lang="en-US" sz="2400" dirty="0">
                <a:latin typeface="Courier New" panose="02070309020205020404" pitchFamily="49" charset="0"/>
                <a:cs typeface="Courier New" panose="02070309020205020404" pitchFamily="49" charset="0"/>
              </a:rPr>
              <a:t>int A[32768]; // base address 0x1000</a:t>
            </a:r>
          </a:p>
          <a:p>
            <a:r>
              <a:rPr lang="en-US" sz="2400" dirty="0">
                <a:latin typeface="Courier New" panose="02070309020205020404" pitchFamily="49" charset="0"/>
                <a:cs typeface="Courier New" panose="02070309020205020404" pitchFamily="49" charset="0"/>
              </a:rPr>
              <a:t>for (int n = 0; n &lt; 3; n++)</a:t>
            </a:r>
          </a:p>
          <a:p>
            <a:r>
              <a:rPr lang="en-US" sz="2400" dirty="0">
                <a:latin typeface="Courier New" panose="02070309020205020404" pitchFamily="49" charset="0"/>
                <a:cs typeface="Courier New" panose="02070309020205020404" pitchFamily="49" charset="0"/>
              </a:rPr>
              <a:t>    for (int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0;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&lt; 32768;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        ... =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6A2AA901-8BDC-4675-B69D-3B5C27A03F5F}"/>
              </a:ext>
            </a:extLst>
          </p:cNvPr>
          <p:cNvSpPr txBox="1"/>
          <p:nvPr>
            <p:custDataLst>
              <p:tags r:id="rId6"/>
            </p:custDataLst>
          </p:nvPr>
        </p:nvSpPr>
        <p:spPr>
          <a:xfrm>
            <a:off x="339665" y="4876800"/>
            <a:ext cx="8464670" cy="685800"/>
          </a:xfrm>
          <a:prstGeom prst="rect">
            <a:avLst/>
          </a:prstGeom>
          <a:noFill/>
        </p:spPr>
        <p:txBody>
          <a:bodyPr wrap="square" rtlCol="0" anchor="t">
            <a:noAutofit/>
          </a:bodyPr>
          <a:lstStyle/>
          <a:p>
            <a:pPr algn="ctr"/>
            <a:r>
              <a:rPr lang="en-US" sz="2800" b="1" dirty="0">
                <a:solidFill>
                  <a:schemeClr val="accent6">
                    <a:lumMod val="75000"/>
                  </a:schemeClr>
                </a:solidFill>
                <a:latin typeface="+mn-lt"/>
              </a:rPr>
              <a:t>total misses = cold misses + capacity misses = 6144</a:t>
            </a:r>
            <a:endParaRPr lang="en-US" sz="2400" b="1" dirty="0">
              <a:solidFill>
                <a:schemeClr val="accent6">
                  <a:lumMod val="75000"/>
                </a:schemeClr>
              </a:solidFill>
              <a:latin typeface="+mn-lt"/>
            </a:endParaRPr>
          </a:p>
        </p:txBody>
      </p:sp>
    </p:spTree>
    <p:custDataLst>
      <p:tags r:id="rId1"/>
    </p:custDataLst>
    <p:extLst>
      <p:ext uri="{BB962C8B-B14F-4D97-AF65-F5344CB8AC3E}">
        <p14:creationId xmlns:p14="http://schemas.microsoft.com/office/powerpoint/2010/main" val="29120291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26</a:t>
            </a:fld>
            <a:endParaRPr lang="en-US" altLang="en-US"/>
          </a:p>
        </p:txBody>
      </p:sp>
      <p:sp>
        <p:nvSpPr>
          <p:cNvPr id="5" name="TextBox 4">
            <a:extLst>
              <a:ext uri="{FF2B5EF4-FFF2-40B4-BE49-F238E27FC236}">
                <a16:creationId xmlns:a16="http://schemas.microsoft.com/office/drawing/2014/main" id="{62A98DE9-62EB-464F-98DF-34E814917FF3}"/>
              </a:ext>
            </a:extLst>
          </p:cNvPr>
          <p:cNvSpPr txBox="1"/>
          <p:nvPr>
            <p:custDataLst>
              <p:tags r:id="rId4"/>
            </p:custDataLst>
          </p:nvPr>
        </p:nvSpPr>
        <p:spPr>
          <a:xfrm>
            <a:off x="526930" y="1414732"/>
            <a:ext cx="8464670" cy="918170"/>
          </a:xfrm>
          <a:prstGeom prst="rect">
            <a:avLst/>
          </a:prstGeom>
          <a:noFill/>
        </p:spPr>
        <p:txBody>
          <a:bodyPr wrap="square" rtlCol="0" anchor="t">
            <a:noAutofit/>
          </a:bodyPr>
          <a:lstStyle/>
          <a:p>
            <a:r>
              <a:rPr lang="en-US" sz="2800" dirty="0">
                <a:latin typeface="+mn-lt"/>
              </a:rPr>
              <a:t>Assume 4KB fully-associative data cache with 64B blocks and LRU replacement. </a:t>
            </a:r>
            <a:r>
              <a:rPr lang="en-US" sz="2800" b="1" dirty="0">
                <a:latin typeface="+mn-lt"/>
              </a:rPr>
              <a:t>Now how many total misses?</a:t>
            </a:r>
            <a:endParaRPr lang="en-US" sz="2400" b="1" dirty="0">
              <a:latin typeface="+mn-lt"/>
            </a:endParaRPr>
          </a:p>
        </p:txBody>
      </p:sp>
      <p:sp>
        <p:nvSpPr>
          <p:cNvPr id="7" name="TextBox 6">
            <a:extLst>
              <a:ext uri="{FF2B5EF4-FFF2-40B4-BE49-F238E27FC236}">
                <a16:creationId xmlns:a16="http://schemas.microsoft.com/office/drawing/2014/main" id="{59FF04F0-BA21-4180-9B8D-D2E6C17C45C3}"/>
              </a:ext>
            </a:extLst>
          </p:cNvPr>
          <p:cNvSpPr txBox="1"/>
          <p:nvPr>
            <p:custDataLst>
              <p:tags r:id="rId5"/>
            </p:custDataLst>
          </p:nvPr>
        </p:nvSpPr>
        <p:spPr>
          <a:xfrm>
            <a:off x="526930" y="2667000"/>
            <a:ext cx="8312270" cy="1821527"/>
          </a:xfrm>
          <a:prstGeom prst="rect">
            <a:avLst/>
          </a:prstGeom>
          <a:noFill/>
        </p:spPr>
        <p:txBody>
          <a:bodyPr wrap="square" rtlCol="0" anchor="t">
            <a:noAutofit/>
          </a:bodyPr>
          <a:lstStyle/>
          <a:p>
            <a:r>
              <a:rPr lang="en-US" sz="2400" dirty="0">
                <a:latin typeface="Courier New" panose="02070309020205020404" pitchFamily="49" charset="0"/>
                <a:cs typeface="Courier New" panose="02070309020205020404" pitchFamily="49" charset="0"/>
              </a:rPr>
              <a:t>int A[32768]; // base address 0x1000</a:t>
            </a:r>
          </a:p>
          <a:p>
            <a:r>
              <a:rPr lang="en-US" sz="2400" dirty="0">
                <a:latin typeface="Courier New" panose="02070309020205020404" pitchFamily="49" charset="0"/>
                <a:cs typeface="Courier New" panose="02070309020205020404" pitchFamily="49" charset="0"/>
              </a:rPr>
              <a:t>for (int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0;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&lt; 32768;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for (int n = 0; n &lt; 3; n++)</a:t>
            </a:r>
          </a:p>
          <a:p>
            <a:r>
              <a:rPr lang="en-US" sz="2400" dirty="0">
                <a:latin typeface="Courier New" panose="02070309020205020404" pitchFamily="49" charset="0"/>
                <a:cs typeface="Courier New" panose="02070309020205020404" pitchFamily="49" charset="0"/>
              </a:rPr>
              <a:t>        ... =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23924393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27</a:t>
            </a:fld>
            <a:endParaRPr lang="en-US" altLang="en-US"/>
          </a:p>
        </p:txBody>
      </p:sp>
      <p:sp>
        <p:nvSpPr>
          <p:cNvPr id="5" name="TextBox 4">
            <a:extLst>
              <a:ext uri="{FF2B5EF4-FFF2-40B4-BE49-F238E27FC236}">
                <a16:creationId xmlns:a16="http://schemas.microsoft.com/office/drawing/2014/main" id="{62A98DE9-62EB-464F-98DF-34E814917FF3}"/>
              </a:ext>
            </a:extLst>
          </p:cNvPr>
          <p:cNvSpPr txBox="1"/>
          <p:nvPr>
            <p:custDataLst>
              <p:tags r:id="rId4"/>
            </p:custDataLst>
          </p:nvPr>
        </p:nvSpPr>
        <p:spPr>
          <a:xfrm>
            <a:off x="526930" y="1414732"/>
            <a:ext cx="8464670" cy="918170"/>
          </a:xfrm>
          <a:prstGeom prst="rect">
            <a:avLst/>
          </a:prstGeom>
          <a:noFill/>
        </p:spPr>
        <p:txBody>
          <a:bodyPr wrap="square" rtlCol="0" anchor="t">
            <a:noAutofit/>
          </a:bodyPr>
          <a:lstStyle/>
          <a:p>
            <a:r>
              <a:rPr lang="en-US" sz="2800" dirty="0">
                <a:latin typeface="+mn-lt"/>
              </a:rPr>
              <a:t>Assume 4KB fully-associative data cache with 64B blocks and LRU replacement. </a:t>
            </a:r>
            <a:r>
              <a:rPr lang="en-US" sz="2800" b="1" dirty="0">
                <a:latin typeface="+mn-lt"/>
              </a:rPr>
              <a:t>Now how many total misses?</a:t>
            </a:r>
            <a:endParaRPr lang="en-US" sz="2400" b="1" dirty="0">
              <a:latin typeface="+mn-lt"/>
            </a:endParaRPr>
          </a:p>
        </p:txBody>
      </p:sp>
      <p:sp>
        <p:nvSpPr>
          <p:cNvPr id="7" name="TextBox 6">
            <a:extLst>
              <a:ext uri="{FF2B5EF4-FFF2-40B4-BE49-F238E27FC236}">
                <a16:creationId xmlns:a16="http://schemas.microsoft.com/office/drawing/2014/main" id="{59FF04F0-BA21-4180-9B8D-D2E6C17C45C3}"/>
              </a:ext>
            </a:extLst>
          </p:cNvPr>
          <p:cNvSpPr txBox="1"/>
          <p:nvPr>
            <p:custDataLst>
              <p:tags r:id="rId5"/>
            </p:custDataLst>
          </p:nvPr>
        </p:nvSpPr>
        <p:spPr>
          <a:xfrm>
            <a:off x="526930" y="2667000"/>
            <a:ext cx="8312270" cy="1821527"/>
          </a:xfrm>
          <a:prstGeom prst="rect">
            <a:avLst/>
          </a:prstGeom>
          <a:noFill/>
        </p:spPr>
        <p:txBody>
          <a:bodyPr wrap="square" rtlCol="0" anchor="t">
            <a:noAutofit/>
          </a:bodyPr>
          <a:lstStyle/>
          <a:p>
            <a:r>
              <a:rPr lang="en-US" sz="2400" dirty="0">
                <a:latin typeface="Courier New" panose="02070309020205020404" pitchFamily="49" charset="0"/>
                <a:cs typeface="Courier New" panose="02070309020205020404" pitchFamily="49" charset="0"/>
              </a:rPr>
              <a:t>int A[32768]; // base address 0x1000</a:t>
            </a:r>
          </a:p>
          <a:p>
            <a:r>
              <a:rPr lang="en-US" sz="2400" dirty="0">
                <a:latin typeface="Courier New" panose="02070309020205020404" pitchFamily="49" charset="0"/>
                <a:cs typeface="Courier New" panose="02070309020205020404" pitchFamily="49" charset="0"/>
              </a:rPr>
              <a:t>for (int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0;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&lt; 32768;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p>
          <a:p>
            <a:r>
              <a:rPr lang="en-US" sz="2400" dirty="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for (int n = 0; n &lt; 3; n++)</a:t>
            </a:r>
          </a:p>
          <a:p>
            <a:r>
              <a:rPr lang="en-US" sz="2400" dirty="0">
                <a:latin typeface="Courier New" panose="02070309020205020404" pitchFamily="49" charset="0"/>
                <a:cs typeface="Courier New" panose="02070309020205020404" pitchFamily="49" charset="0"/>
              </a:rPr>
              <a:t>        ... = A[</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endParaRPr lang="en-US" sz="200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6A2AA901-8BDC-4675-B69D-3B5C27A03F5F}"/>
              </a:ext>
            </a:extLst>
          </p:cNvPr>
          <p:cNvSpPr txBox="1"/>
          <p:nvPr>
            <p:custDataLst>
              <p:tags r:id="rId6"/>
            </p:custDataLst>
          </p:nvPr>
        </p:nvSpPr>
        <p:spPr>
          <a:xfrm>
            <a:off x="339665" y="5791199"/>
            <a:ext cx="8464670" cy="930275"/>
          </a:xfrm>
          <a:prstGeom prst="rect">
            <a:avLst/>
          </a:prstGeom>
          <a:noFill/>
        </p:spPr>
        <p:txBody>
          <a:bodyPr wrap="square" rtlCol="0" anchor="t">
            <a:noAutofit/>
          </a:bodyPr>
          <a:lstStyle/>
          <a:p>
            <a:pPr algn="ctr"/>
            <a:r>
              <a:rPr lang="en-US" sz="2800" b="1" dirty="0">
                <a:solidFill>
                  <a:schemeClr val="accent6">
                    <a:lumMod val="75000"/>
                  </a:schemeClr>
                </a:solidFill>
                <a:latin typeface="+mn-lt"/>
              </a:rPr>
              <a:t>total misses = 3 × 32768 / (3 × 64B / 4B per int) = 2048</a:t>
            </a:r>
          </a:p>
          <a:p>
            <a:pPr algn="ctr"/>
            <a:r>
              <a:rPr lang="en-US" sz="2800" b="1" dirty="0">
                <a:solidFill>
                  <a:schemeClr val="accent6">
                    <a:lumMod val="75000"/>
                  </a:schemeClr>
                </a:solidFill>
                <a:latin typeface="+mn-lt"/>
              </a:rPr>
              <a:t>(in other words, eliminated capacity misses)</a:t>
            </a:r>
            <a:endParaRPr lang="en-US" sz="2400" b="1" dirty="0">
              <a:solidFill>
                <a:schemeClr val="accent6">
                  <a:lumMod val="75000"/>
                </a:schemeClr>
              </a:solidFill>
              <a:latin typeface="+mn-lt"/>
            </a:endParaRPr>
          </a:p>
        </p:txBody>
      </p:sp>
      <p:graphicFrame>
        <p:nvGraphicFramePr>
          <p:cNvPr id="2" name="Table 1">
            <a:extLst>
              <a:ext uri="{FF2B5EF4-FFF2-40B4-BE49-F238E27FC236}">
                <a16:creationId xmlns:a16="http://schemas.microsoft.com/office/drawing/2014/main" id="{5FE076B4-6BD0-47DC-9396-08A7DE3B8ED5}"/>
              </a:ext>
            </a:extLst>
          </p:cNvPr>
          <p:cNvGraphicFramePr>
            <a:graphicFrameLocks noGrp="1"/>
          </p:cNvGraphicFramePr>
          <p:nvPr>
            <p:custDataLst>
              <p:tags r:id="rId7"/>
            </p:custDataLst>
          </p:nvPr>
        </p:nvGraphicFramePr>
        <p:xfrm>
          <a:off x="114300" y="4419600"/>
          <a:ext cx="8915400" cy="1336040"/>
        </p:xfrm>
        <a:graphic>
          <a:graphicData uri="http://schemas.openxmlformats.org/drawingml/2006/table">
            <a:tbl>
              <a:tblPr firstRow="1" bandRow="1">
                <a:tableStyleId>{5C22544A-7EE6-4342-B048-85BDC9FD1C3A}</a:tableStyleId>
              </a:tblPr>
              <a:tblGrid>
                <a:gridCol w="1306567">
                  <a:extLst>
                    <a:ext uri="{9D8B030D-6E8A-4147-A177-3AD203B41FA5}">
                      <a16:colId xmlns:a16="http://schemas.microsoft.com/office/drawing/2014/main" val="866513356"/>
                    </a:ext>
                  </a:extLst>
                </a:gridCol>
                <a:gridCol w="7608833">
                  <a:extLst>
                    <a:ext uri="{9D8B030D-6E8A-4147-A177-3AD203B41FA5}">
                      <a16:colId xmlns:a16="http://schemas.microsoft.com/office/drawing/2014/main" val="3792165177"/>
                    </a:ext>
                  </a:extLst>
                </a:gridCol>
              </a:tblGrid>
              <a:tr h="370840">
                <a:tc>
                  <a:txBody>
                    <a:bodyPr/>
                    <a:lstStyle/>
                    <a:p>
                      <a:pPr algn="ctr"/>
                      <a:r>
                        <a:rPr lang="en-US" sz="1600" b="1" dirty="0">
                          <a:solidFill>
                            <a:schemeClr val="tx1"/>
                          </a:solidFill>
                        </a:rPr>
                        <a:t>misses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600" b="1" dirty="0">
                          <a:solidFill>
                            <a:schemeClr val="tx1"/>
                          </a:solidFill>
                        </a:rPr>
                        <a:t>hits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6991405"/>
                  </a:ext>
                </a:extLst>
              </a:tr>
              <a:tr h="370840">
                <a:tc>
                  <a:txBody>
                    <a:bodyPr/>
                    <a:lstStyle/>
                    <a:p>
                      <a:pPr algn="ctr"/>
                      <a:r>
                        <a:rPr lang="en-US" sz="1100" b="1" dirty="0">
                          <a:solidFill>
                            <a:schemeClr val="tx1"/>
                          </a:solidFill>
                          <a:latin typeface="Courier New" panose="02070309020205020404" pitchFamily="49" charset="0"/>
                          <a:cs typeface="Courier New" panose="02070309020205020404" pitchFamily="49" charset="0"/>
                        </a:rPr>
                        <a:t>A[0]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a:r>
                        <a:rPr lang="en-US" sz="1100" b="1" dirty="0">
                          <a:solidFill>
                            <a:schemeClr val="tx1"/>
                          </a:solidFill>
                          <a:latin typeface="Courier New" panose="02070309020205020404" pitchFamily="49" charset="0"/>
                          <a:cs typeface="Courier New" panose="02070309020205020404" pitchFamily="49" charset="0"/>
                        </a:rPr>
                        <a:t>A[1] A[2] A[3] A[4] A[5] A[6] A[7] A[8] A[9] A[10] A[11] A[12] A[13] A[14] A[15]</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Courier New" panose="02070309020205020404" pitchFamily="49" charset="0"/>
                          <a:cs typeface="Courier New" panose="02070309020205020404" pitchFamily="49" charset="0"/>
                        </a:rPr>
                        <a:t>A[0] A[1] A[2] A[3] A[4] A[5] A[6] A[7] A[8] A[9] A[10] A[11] A[12] A[13] A[14] A[15]</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Courier New" panose="02070309020205020404" pitchFamily="49" charset="0"/>
                          <a:cs typeface="Courier New" panose="02070309020205020404" pitchFamily="49" charset="0"/>
                        </a:rPr>
                        <a:t>A[0] A[1] A[2] A[3] A[4] A[5] A[6] A[7] A[8] A[9] A[10] A[11] A[12] A[13] A[14] A[15]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96133568"/>
                  </a:ext>
                </a:extLst>
              </a:tr>
              <a:tr h="370840">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200" b="1" dirty="0">
                          <a:solidFill>
                            <a:schemeClr val="tx1"/>
                          </a:solidFill>
                          <a:latin typeface="Courier New" panose="02070309020205020404" pitchFamily="49" charset="0"/>
                          <a:cs typeface="Courier New" panose="020703090202050204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06532463"/>
                  </a:ext>
                </a:extLst>
              </a:tr>
            </a:tbl>
          </a:graphicData>
        </a:graphic>
      </p:graphicFrame>
      <p:sp>
        <p:nvSpPr>
          <p:cNvPr id="8" name="TextBox 7">
            <a:extLst>
              <a:ext uri="{FF2B5EF4-FFF2-40B4-BE49-F238E27FC236}">
                <a16:creationId xmlns:a16="http://schemas.microsoft.com/office/drawing/2014/main" id="{DD3DCDFF-3CAC-4EFE-86B9-F1E12E1F2FA7}"/>
              </a:ext>
            </a:extLst>
          </p:cNvPr>
          <p:cNvSpPr txBox="1"/>
          <p:nvPr>
            <p:custDataLst>
              <p:tags r:id="rId8"/>
            </p:custDataLst>
          </p:nvPr>
        </p:nvSpPr>
        <p:spPr>
          <a:xfrm>
            <a:off x="6137557" y="3833507"/>
            <a:ext cx="2964885" cy="560717"/>
          </a:xfrm>
          <a:prstGeom prst="rect">
            <a:avLst/>
          </a:prstGeom>
          <a:noFill/>
        </p:spPr>
        <p:txBody>
          <a:bodyPr wrap="square" rtlCol="0" anchor="ctr">
            <a:noAutofit/>
          </a:bodyPr>
          <a:lstStyle/>
          <a:p>
            <a:pPr algn="ctr"/>
            <a:r>
              <a:rPr lang="en-US" sz="1800" b="1" dirty="0">
                <a:solidFill>
                  <a:schemeClr val="accent6">
                    <a:lumMod val="75000"/>
                  </a:schemeClr>
                </a:solidFill>
                <a:latin typeface="+mn-lt"/>
              </a:rPr>
              <a:t>improves temporal locality</a:t>
            </a:r>
          </a:p>
        </p:txBody>
      </p:sp>
      <p:cxnSp>
        <p:nvCxnSpPr>
          <p:cNvPr id="9" name="Straight Connector 8">
            <a:extLst>
              <a:ext uri="{FF2B5EF4-FFF2-40B4-BE49-F238E27FC236}">
                <a16:creationId xmlns:a16="http://schemas.microsoft.com/office/drawing/2014/main" id="{FB000236-3E2C-4939-A36F-8BC36E68D83A}"/>
              </a:ext>
            </a:extLst>
          </p:cNvPr>
          <p:cNvCxnSpPr>
            <a:cxnSpLocks/>
          </p:cNvCxnSpPr>
          <p:nvPr/>
        </p:nvCxnSpPr>
        <p:spPr>
          <a:xfrm flipH="1" flipV="1">
            <a:off x="6248400" y="3733800"/>
            <a:ext cx="304800" cy="286085"/>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0942933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PERSISTENCEDATA" val="MMPROD_UIPERSISTENCEDATA"/>
  <p:tag name="MMPROD_THEME_BG_IMAGE" val=""/>
  <p:tag name="MMPROD_UIDATA" val="&lt;database version=&quot;11.0&quot;&gt;&lt;object type=&quot;1&quot; unique_id=&quot;10001&quot;&gt;&lt;property id=&quot;20141&quot; value=&quot;ECE/CS 552 - Cache Performance&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CachePerformance&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313&quot;&gt;&lt;object type=&quot;3&quot; unique_id=&quot;19005&quot;&gt;&lt;property id=&quot;20148&quot; value=&quot;5&quot;/&gt;&lt;property id=&quot;20300&quot; value=&quot;Slide 1 - &amp;quot;ECE/CS 552: Cache Performance&amp;quot;&quot;/&gt;&lt;property id=&quot;20307&quot; value=&quot;508&quot;/&gt;&lt;property id=&quot;20309&quot; value=&quot;-1&quot;/&gt;&lt;/object&gt;&lt;object type=&quot;3&quot; unique_id=&quot;19188&quot;&gt;&lt;property id=&quot;20148&quot; value=&quot;5&quot;/&gt;&lt;property id=&quot;20300&quot; value=&quot;Slide 2 - &amp;quot;Cache Hierarchy (e.g., 2-level)&amp;quot;&quot;/&gt;&lt;property id=&quot;20307&quot; value=&quot;664&quot;/&gt;&lt;property id=&quot;20309&quot; value=&quot;-1&quot;/&gt;&lt;/object&gt;&lt;object type=&quot;3&quot; unique_id=&quot;19191&quot;&gt;&lt;property id=&quot;20148&quot; value=&quot;5&quot;/&gt;&lt;property id=&quot;20300&quot; value=&quot;Slide 12 - &amp;quot;Cache Performance&amp;quot;&quot;/&gt;&lt;property id=&quot;20307&quot; value=&quot;660&quot;/&gt;&lt;property id=&quot;20309&quot; value=&quot;-1&quot;/&gt;&lt;/object&gt;&lt;object type=&quot;3&quot; unique_id=&quot;19194&quot;&gt;&lt;property id=&quot;20148&quot; value=&quot;5&quot;/&gt;&lt;property id=&quot;20300&quot; value=&quot;Slide 17 - &amp;quot;Cache Misses&amp;quot;&quot;/&gt;&lt;property id=&quot;20307&quot; value=&quot;662&quot;/&gt;&lt;property id=&quot;20309&quot; value=&quot;-1&quot;/&gt;&lt;/object&gt;&lt;object type=&quot;3&quot; unique_id=&quot;19195&quot;&gt;&lt;property id=&quot;20148&quot; value=&quot;5&quot;/&gt;&lt;property id=&quot;20300&quot; value=&quot;Slide 21 - &amp;quot;Exercise&amp;quot;&quot;/&gt;&lt;property id=&quot;20307&quot; value=&quot;666&quot;/&gt;&lt;property id=&quot;20309&quot; value=&quot;-1&quot;/&gt;&lt;/object&gt;&lt;object type=&quot;3&quot; unique_id=&quot;19196&quot;&gt;&lt;property id=&quot;20148&quot; value=&quot;5&quot;/&gt;&lt;property id=&quot;20300&quot; value=&quot;Slide 22 - &amp;quot;Exercise&amp;quot;&quot;/&gt;&lt;property id=&quot;20307&quot; value=&quot;668&quot;/&gt;&lt;property id=&quot;20309&quot; value=&quot;-1&quot;/&gt;&lt;/object&gt;&lt;object type=&quot;3&quot; unique_id=&quot;19199&quot;&gt;&lt;property id=&quot;20148&quot; value=&quot;5&quot;/&gt;&lt;property id=&quot;20300&quot; value=&quot;Slide 23 - &amp;quot;Exercise&amp;quot;&quot;/&gt;&lt;property id=&quot;20307&quot; value=&quot;671&quot;/&gt;&lt;property id=&quot;20309&quot; value=&quot;-1&quot;/&gt;&lt;/object&gt;&lt;object type=&quot;3&quot; unique_id=&quot;19200&quot;&gt;&lt;property id=&quot;20148&quot; value=&quot;5&quot;/&gt;&lt;property id=&quot;20300&quot; value=&quot;Slide 24 - &amp;quot;Exercise&amp;quot;&quot;/&gt;&lt;property id=&quot;20307&quot; value=&quot;673&quot;/&gt;&lt;property id=&quot;20309&quot; value=&quot;-1&quot;/&gt;&lt;/object&gt;&lt;object type=&quot;3&quot; unique_id=&quot;19203&quot;&gt;&lt;property id=&quot;20148&quot; value=&quot;5&quot;/&gt;&lt;property id=&quot;20300&quot; value=&quot;Slide 25 - &amp;quot;Exercise&amp;quot;&quot;/&gt;&lt;property id=&quot;20307&quot; value=&quot;675&quot;/&gt;&lt;property id=&quot;20309&quot; value=&quot;-1&quot;/&gt;&lt;/object&gt;&lt;object type=&quot;3&quot; unique_id=&quot;19204&quot;&gt;&lt;property id=&quot;20148&quot; value=&quot;5&quot;/&gt;&lt;property id=&quot;20300&quot; value=&quot;Slide 26 - &amp;quot;Exercise&amp;quot;&quot;/&gt;&lt;property id=&quot;20307&quot; value=&quot;676&quot;/&gt;&lt;property id=&quot;20309&quot; value=&quot;-1&quot;/&gt;&lt;/object&gt;&lt;object type=&quot;3&quot; unique_id=&quot;19208&quot;&gt;&lt;property id=&quot;20148&quot; value=&quot;5&quot;/&gt;&lt;property id=&quot;20300&quot; value=&quot;Slide 27 - &amp;quot;Exercise&amp;quot;&quot;/&gt;&lt;property id=&quot;20307&quot; value=&quot;692&quot;/&gt;&lt;property id=&quot;20309&quot; value=&quot;-1&quot;/&gt;&lt;/object&gt;&lt;object type=&quot;3&quot; unique_id=&quot;19215&quot;&gt;&lt;property id=&quot;20148&quot; value=&quot;5&quot;/&gt;&lt;property id=&quot;20300&quot; value=&quot;Slide 20 - &amp;quot;Cache Misses&amp;quot;&quot;/&gt;&lt;property id=&quot;20307&quot; value=&quot;687&quot;/&gt;&lt;property id=&quot;20309&quot; value=&quot;-1&quot;/&gt;&lt;/object&gt;&lt;object type=&quot;3&quot; unique_id=&quot;23099&quot;&gt;&lt;property id=&quot;20148&quot; value=&quot;5&quot;/&gt;&lt;property id=&quot;20300&quot; value=&quot;Slide 3 - &amp;quot;Caches&amp;quot;&quot;/&gt;&lt;property id=&quot;20307&quot; value=&quot;709&quot;/&gt;&lt;property id=&quot;20309&quot; value=&quot;-1&quot;/&gt;&lt;/object&gt;&lt;object type=&quot;3&quot; unique_id=&quot;23100&quot;&gt;&lt;property id=&quot;20148&quot; value=&quot;5&quot;/&gt;&lt;property id=&quot;20300&quot; value=&quot;Slide 4 - &amp;quot;Caches – Placement&amp;quot;&quot;/&gt;&lt;property id=&quot;20307&quot; value=&quot;710&quot;/&gt;&lt;property id=&quot;20309&quot; value=&quot;-1&quot;/&gt;&lt;/object&gt;&lt;object type=&quot;3&quot; unique_id=&quot;23101&quot;&gt;&lt;property id=&quot;20148&quot; value=&quot;5&quot;/&gt;&lt;property id=&quot;20300&quot; value=&quot;Slide 5 - &amp;quot;Caches – Placement&amp;quot;&quot;/&gt;&lt;property id=&quot;20307&quot; value=&quot;711&quot;/&gt;&lt;property id=&quot;20309&quot; value=&quot;-1&quot;/&gt;&lt;/object&gt;&lt;object type=&quot;3&quot; unique_id=&quot;164915&quot;&gt;&lt;property id=&quot;20148&quot; value=&quot;5&quot;/&gt;&lt;property id=&quot;20300&quot; value=&quot;Slide 8 - &amp;quot;Caches – Replacement&amp;quot;&quot;/&gt;&lt;property id=&quot;20307&quot; value=&quot;729&quot;/&gt;&lt;property id=&quot;20309&quot; value=&quot;-1&quot;/&gt;&lt;/object&gt;&lt;object type=&quot;3&quot; unique_id=&quot;172580&quot;&gt;&lt;property id=&quot;20148&quot; value=&quot;5&quot;/&gt;&lt;property id=&quot;20300&quot; value=&quot;Slide 6 - &amp;quot;Caches – Placement&amp;quot;&quot;/&gt;&lt;property id=&quot;20307&quot; value=&quot;734&quot;/&gt;&lt;property id=&quot;20309&quot; value=&quot;-1&quot;/&gt;&lt;/object&gt;&lt;object type=&quot;3&quot; unique_id=&quot;172867&quot;&gt;&lt;property id=&quot;20148&quot; value=&quot;5&quot;/&gt;&lt;property id=&quot;20300&quot; value=&quot;Slide 9 - &amp;quot;Caches – Replacement&amp;quot;&quot;/&gt;&lt;property id=&quot;20307&quot; value=&quot;735&quot;/&gt;&lt;property id=&quot;20309&quot; value=&quot;-1&quot;/&gt;&lt;/object&gt;&lt;object type=&quot;3&quot; unique_id=&quot;175028&quot;&gt;&lt;property id=&quot;20148&quot; value=&quot;5&quot;/&gt;&lt;property id=&quot;20300&quot; value=&quot;Slide 10 - &amp;quot;Caches – Replacement&amp;quot;&quot;/&gt;&lt;property id=&quot;20307&quot; value=&quot;742&quot;/&gt;&lt;property id=&quot;20309&quot; value=&quot;-1&quot;/&gt;&lt;/object&gt;&lt;object type=&quot;3&quot; unique_id=&quot;175194&quot;&gt;&lt;property id=&quot;20148&quot; value=&quot;5&quot;/&gt;&lt;property id=&quot;20300&quot; value=&quot;Slide 11 - &amp;quot;Skewed-Associative Caches&amp;quot;&quot;/&gt;&lt;property id=&quot;20307&quot; value=&quot;743&quot;/&gt;&lt;property id=&quot;20309&quot; value=&quot;-1&quot;/&gt;&lt;/object&gt;&lt;object type=&quot;3&quot; unique_id=&quot;176167&quot;&gt;&lt;property id=&quot;20148&quot; value=&quot;5&quot;/&gt;&lt;property id=&quot;20300&quot; value=&quot;Slide 18 - &amp;quot;Cache Misses&amp;quot;&quot;/&gt;&lt;property id=&quot;20307&quot; value=&quot;744&quot;/&gt;&lt;property id=&quot;20309&quot; value=&quot;-1&quot;/&gt;&lt;/object&gt;&lt;object type=&quot;3&quot; unique_id=&quot;176168&quot;&gt;&lt;property id=&quot;20148&quot; value=&quot;5&quot;/&gt;&lt;property id=&quot;20300&quot; value=&quot;Slide 19 - &amp;quot;Cache Misses&amp;quot;&quot;/&gt;&lt;property id=&quot;20307&quot; value=&quot;745&quot;/&gt;&lt;property id=&quot;20309&quot; value=&quot;-1&quot;/&gt;&lt;/object&gt;&lt;object type=&quot;3&quot; unique_id=&quot;176821&quot;&gt;&lt;property id=&quot;20148&quot; value=&quot;5&quot;/&gt;&lt;property id=&quot;20300&quot; value=&quot;Slide 7 - &amp;quot;Caches – Placement&amp;quot;&quot;/&gt;&lt;property id=&quot;20307&quot; value=&quot;746&quot;/&gt;&lt;property id=&quot;20309&quot; value=&quot;-1&quot;/&gt;&lt;/object&gt;&lt;object type=&quot;3&quot; unique_id=&quot;177475&quot;&gt;&lt;property id=&quot;20148&quot; value=&quot;5&quot;/&gt;&lt;property id=&quot;20300&quot; value=&quot;Slide 13 - &amp;quot;Cache Performance&amp;quot;&quot;/&gt;&lt;property id=&quot;20307&quot; value=&quot;748&quot;/&gt;&lt;property id=&quot;20309&quot; value=&quot;-1&quot;/&gt;&lt;/object&gt;&lt;object type=&quot;3&quot; unique_id=&quot;177747&quot;&gt;&lt;property id=&quot;20148&quot; value=&quot;5&quot;/&gt;&lt;property id=&quot;20300&quot; value=&quot;Slide 14 - &amp;quot;Cache Performance&amp;quot;&quot;/&gt;&lt;property id=&quot;20307&quot; value=&quot;750&quot;/&gt;&lt;property id=&quot;20309&quot; value=&quot;-1&quot;/&gt;&lt;/object&gt;&lt;object type=&quot;3&quot; unique_id=&quot;178329&quot;&gt;&lt;property id=&quot;20148&quot; value=&quot;5&quot;/&gt;&lt;property id=&quot;20300&quot; value=&quot;Slide 15 - &amp;quot;Cache Performance&amp;quot;&quot;/&gt;&lt;property id=&quot;20307&quot; value=&quot;751&quot;/&gt;&lt;property id=&quot;20309&quot; value=&quot;-1&quot;/&gt;&lt;/object&gt;&lt;object type=&quot;3&quot; unique_id=&quot;178547&quot;&gt;&lt;property id=&quot;20148&quot; value=&quot;5&quot;/&gt;&lt;property id=&quot;20300&quot; value=&quot;Slide 16 - &amp;quot;Cache Performance&amp;quot;&quot;/&gt;&lt;property id=&quot;20307&quot; value=&quot;752&quot;/&gt;&lt;property id=&quot;20309&quot; value=&quot;-1&quot;/&gt;&lt;/object&gt;&lt;/object&gt;&lt;object type=&quot;8&quot; unique_id=&quot;10391&quot;&gt;&lt;/object&gt;&lt;object type=&quot;10&quot; unique_id=&quot;19165&quot;&gt;&lt;object type=&quot;11&quot; unique_id=&quot;19166&quot;&gt;&lt;property id=&quot;20180&quot; value=&quot;0&quot;/&gt;&lt;property id=&quot;20181&quot; value=&quot;1&quot;/&gt;&lt;property id=&quot;20183&quot; value=&quot;1&quot;/&gt;&lt;/object&gt;&lt;object type=&quot;12&quot; unique_id=&quot;181272&quot;&gt;&lt;/object&gt;&lt;/object&gt;&lt;object type=&quot;4&quot; unique_id=&quot;19167&quot;&gt;&lt;/object&gt;&lt;/object&gt;&lt;/database&gt;"/>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1963322378,C:\Users\sanmi\GoogleDrive\UWMdrive\Courses\ECE552\ece552-lec12_CachePerformance_pptx\Media.ppcx"/>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 name="HTML_SHAPEINFO" val="&lt;ThreeDShapeInfo&gt;&lt;uuid val=&quot;&quot;/&gt;&lt;isInvalidForFieldText val=&quot;0&quot;/&gt;&lt;Image&gt;&lt;filename val=&quot;C:\Users\sanmi\Documents\My Adobe Presentations\ece552-CachePerformance\data\asimages\{02147B34-D9E8-45B0-8AFC-ED24FE1FF5D4}_1.png&quot;/&gt;&lt;left val=&quot;35&quot;/&gt;&lt;top val=&quot;195&quot;/&gt;&lt;width val=&quot;648&quot;/&gt;&lt;height val=&quot;102&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4&quot;/&gt;&lt;lineCharCount val=&quot;1&quot;/&gt;&lt;lineCharCount val=&quot;55&quot;/&gt;&lt;lineCharCount val=&quot;53&quot;/&gt;&lt;lineCharCount val=&quot;14&quot;/&gt;&lt;lineCharCount val=&quot;3&quot;/&gt;&lt;/TableIndex&gt;&lt;/ShapeTextInfo&gt;"/>
  <p:tag name="HTML_SHAPEINFO" val="&lt;ThreeDShapeInfo&gt;&lt;uuid val=&quot;&quot;/&gt;&lt;isInvalidForFieldText val=&quot;0&quot;/&gt;&lt;Image&gt;&lt;filename val=&quot;C:\Users\sanmi\Documents\My Adobe Presentations\ece552-CachePerformance\data\asimages\{0EF9E00B-92DC-4482-876F-C926F2BC2E6C}_1.png&quot;/&gt;&lt;left val=&quot;103&quot;/&gt;&lt;top val=&quot;302&quot;/&gt;&lt;width val=&quot;512&quot;/&gt;&lt;height val=&quot;163&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1963322378,C:\Users\sanmi\GoogleDrive\UWMdrive\Courses\ECE552\ece552-lec12_CachePerformance_pptx\Media.ppcx"/>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 name="HTML_SHAPEINFO" val="&lt;ThreeDShapeInfo&gt;&lt;uuid val=&quot;&quot;/&gt;&lt;isInvalidForFieldText val=&quot;0&quot;/&gt;&lt;Image&gt;&lt;filename val=&quot;C:\Users\sanmi\Documents\My Adobe Presentations\ece552-CachePerformance\data\asimages\{98E5A097-ED62-4956-9A4C-9663031ECF23}_2.png&quot;/&gt;&lt;left val=&quot;35&quot;/&gt;&lt;top val=&quot;21&quot;/&gt;&lt;width val=&quot;612&quot;/&gt;&lt;height val=&quot;98&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D26CFDC0-F44B-4400-AAD4-6F50E3107F98}_2.png&quot;/&gt;&lt;left val=&quot;599&quot;/&gt;&lt;top val=&quot;500&quot;/&gt;&lt;width val=&quot;86&quot;/&gt;&lt;height val=&quot;32&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CachePerformance\data\asimages\{7E263975-60C6-480E-8C8D-978D40F2CB17}_2.png&quot;/&gt;&lt;left val=&quot;107&quot;/&gt;&lt;top val=&quot;305&quot;/&gt;&lt;width val=&quot;126&quot;/&gt;&lt;height val=&quot;45&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HTML_SHAPEINFO" val="&lt;ThreeDShapeInfo&gt;&lt;uuid val=&quot;&quot;/&gt;&lt;isInvalidForFieldText val=&quot;0&quot;/&gt;&lt;Image&gt;&lt;filename val=&quot;C:\Users\sanmi\Documents\My Adobe Presentations\ece552-CachePerformance\data\asimages\{4628C086-0B5D-4B59-9570-24C310851249}_2.png&quot;/&gt;&lt;left val=&quot;485&quot;/&gt;&lt;top val=&quot;303&quot;/&gt;&lt;width val=&quot;126&quot;/&gt;&lt;height val=&quot;46&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CachePerformance\data\asimages\{8E403BE3-A7A9-4E9B-A148-A8F1ED13C26E}_2.png&quot;/&gt;&lt;left val=&quot;228&quot;/&gt;&lt;top val=&quot;395&quot;/&gt;&lt;width val=&quot;263&quot;/&gt;&lt;height val=&quot;45&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HTML_SHAPEINFO" val="&lt;ThreeDShapeInfo&gt;&lt;uuid val=&quot;&quot;/&gt;&lt;isInvalidForFieldText val=&quot;0&quot;/&gt;&lt;Image&gt;&lt;filename val=&quot;C:\Users\sanmi\Documents\My Adobe Presentations\ece552-CachePerformance\data\asimages\{C598D54B-F8C9-43FA-AA81-9B8CFD41494D}_2.png&quot;/&gt;&lt;left val=&quot;135&quot;/&gt;&lt;top val=&quot;467&quot;/&gt;&lt;width val=&quot;448&quot;/&gt;&lt;height val=&quot;45&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1963322378,C:\Users\sanmi\GoogleDrive\UWMdrive\Courses\ECE552\ece552-lec12_CachePerformance_pptx\Media.ppcx"/>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quot;/&gt;&lt;isInvalidForFieldText val=&quot;0&quot;/&gt;&lt;Image&gt;&lt;filename val=&quot;C:\Users\sanmi\Documents\My Adobe Presentations\ece552-CachePerformance\data\asimages\{5F47683B-D551-4C00-9EB4-B96E0DC83259}_3.png&quot;/&gt;&lt;left val=&quot;35&quot;/&gt;&lt;top val=&quot;21&quot;/&gt;&lt;width val=&quot;588&quot;/&gt;&lt;height val=&quot;98&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8C88B6C7-ABD8-439B-81C8-FE5080CC0063}_3.png&quot;/&gt;&lt;left val=&quot;599&quot;/&gt;&lt;top val=&quot;500&quot;/&gt;&lt;width val=&quot;84&quot;/&gt;&lt;height val=&quot;29&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11&quot;/&gt;&lt;lineCharCount val=&quot;32&quot;/&gt;&lt;lineCharCount val=&quot;1&quot;/&gt;&lt;lineCharCount val=&quot;13&quot;/&gt;&lt;lineCharCount val=&quot;37&quot;/&gt;&lt;lineCharCount val=&quot;1&quot;/&gt;&lt;lineCharCount val=&quot;14&quot;/&gt;&lt;lineCharCount val=&quot;44&quot;/&gt;&lt;/TableIndex&gt;&lt;/ShapeTextInfo&gt;"/>
  <p:tag name="HTML_SHAPEINFO" val="&lt;ThreeDShapeInfo&gt;&lt;uuid val=&quot;&quot;/&gt;&lt;isInvalidForFieldText val=&quot;0&quot;/&gt;&lt;Image&gt;&lt;filename val=&quot;C:\Users\sanmi\Documents\My Adobe Presentations\ece552-CachePerformance\data\asimages\{4032A7CC-F4D9-42D6-8484-83A1A3B6E334}_3.png&quot;/&gt;&lt;left val=&quot;31&quot;/&gt;&lt;top val=&quot;105&quot;/&gt;&lt;width val=&quot;659&quot;/&gt;&lt;height val=&quot;402&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1963322378,C:\Users\sanmi\GoogleDrive\UWMdrive\Courses\ECE552\ece552-lec12_CachePerformance_pptx\Media.ppcx"/>
  <p:tag name="TIMING" val="|41"/>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Documents\My Adobe Presentations\ece552-CachePerformance\data\asimages\{9FF64E33-1078-46F0-BCBE-4E1C5DD113E9}_4.png&quot;/&gt;&lt;left val=&quot;35&quot;/&gt;&lt;top val=&quot;21&quot;/&gt;&lt;width val=&quot;588&quot;/&gt;&lt;height val=&quot;98&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149F980E-CEDB-4113-AEE7-29EB341CA621}_4.png&quot;/&gt;&lt;left val=&quot;599&quot;/&gt;&lt;top val=&quot;500&quot;/&gt;&lt;width val=&quot;84&quot;/&gt;&lt;height val=&quot;29&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51&quot;/&gt;&lt;lineCharCount val=&quot;54&quot;/&gt;&lt;lineCharCount val=&quot;11&quot;/&gt;&lt;lineCharCount val=&quot;19&quot;/&gt;&lt;lineCharCount val=&quot;60&quot;/&gt;&lt;lineCharCount val=&quot;14&quot;/&gt;&lt;lineCharCount val=&quot;43&quot;/&gt;&lt;lineCharCount val=&quot;72&quot;/&gt;&lt;lineCharCount val=&quot;23&quot;/&gt;&lt;lineCharCount val=&quot;27&quot;/&gt;&lt;lineCharCount val=&quot;60&quot;/&gt;&lt;/TableIndex&gt;&lt;/ShapeTextInfo&gt;"/>
  <p:tag name="HTML_SHAPEINFO" val="&lt;TextEffect&gt;&lt;Image&gt;&lt;filename val=&quot;C:\Users\sanmi\Documents\My Adobe Presentations\ece552-CachePerformance\data\asimages\{5DD303F5-7CB7-4993-85B1-E34E621F536B}_1.png_crop.png&quot;/&gt;&lt;left val=&quot;44&quot;/&gt;&lt;top val=&quot;130&quot;/&gt;&lt;width val=&quot;645&quot;/&gt;&lt;height val=&quot;73&quot;/&gt;&lt;hasText val=&quot;1&quot;/&gt;&lt;paraId val=&quot;1&quot;/&gt;&lt;/Image&gt;&lt;Image&gt;&lt;filename val=&quot;C:\Users\sanmi\Documents\My Adobe Presentations\ece552-CachePerformance\data\asimages\{7F919762-7840-4677-883A-E055E30F3C08}_1.png_crop.png&quot;/&gt;&lt;left val=&quot;44&quot;/&gt;&lt;top val=&quot;218&quot;/&gt;&lt;width val=&quot;220&quot;/&gt;&lt;height val=&quot;23&quot;/&gt;&lt;hasText val=&quot;1&quot;/&gt;&lt;paraId val=&quot;2&quot;/&gt;&lt;/Image&gt;&lt;Image&gt;&lt;filename val=&quot;C:\Users\sanmi\Documents\My Adobe Presentations\ece552-CachePerformance\data\asimages\{D4C325E9-28F0-435F-BDF9-89A10786E408}_1.png_crop.png&quot;/&gt;&lt;left val=&quot;78&quot;/&gt;&lt;top val=&quot;250&quot;/&gt;&lt;width val=&quot;598&quot;/&gt;&lt;height val=&quot;44&quot;/&gt;&lt;hasText val=&quot;1&quot;/&gt;&lt;paraId val=&quot;3&quot;/&gt;&lt;/Image&gt;&lt;Image&gt;&lt;filename val=&quot;C:\Users\sanmi\Documents\My Adobe Presentations\ece552-CachePerformance\data\asimages\{4EBD9DD0-2C0B-4687-9A06-BD9F607B61DE}_1.png_crop.png&quot;/&gt;&lt;left val=&quot;78&quot;/&gt;&lt;top val=&quot;302&quot;/&gt;&lt;width val=&quot;427&quot;/&gt;&lt;height val=&quot;20&quot;/&gt;&lt;hasText val=&quot;1&quot;/&gt;&lt;paraId val=&quot;4&quot;/&gt;&lt;/Image&gt;&lt;Image&gt;&lt;filename val=&quot;C:\Users\sanmi\Documents\My Adobe Presentations\ece552-CachePerformance\data\asimages\{5A5CF479-925E-46ED-BF65-AC97D0A21D44}_1.png_crop.png&quot;/&gt;&lt;left val=&quot;115&quot;/&gt;&lt;top val=&quot;331&quot;/&gt;&lt;width val=&quot;593&quot;/&gt;&lt;height val=&quot;39&quot;/&gt;&lt;hasText val=&quot;1&quot;/&gt;&lt;paraId val=&quot;5&quot;/&gt;&lt;/Image&gt;&lt;Image&gt;&lt;filename val=&quot;C:\Users\sanmi\Documents\My Adobe Presentations\ece552-CachePerformance\data\asimages\{9FBB8A75-019C-432B-B434-063AE484D56E}_1.png_crop.png&quot;/&gt;&lt;left val=&quot;115&quot;/&gt;&lt;top val=&quot;379&quot;/&gt;&lt;width val=&quot;243&quot;/&gt;&lt;height val=&quot;17&quot;/&gt;&lt;hasText val=&quot;1&quot;/&gt;&lt;paraId val=&quot;6&quot;/&gt;&lt;/Image&gt;&lt;Image&gt;&lt;filename val=&quot;C:\Users\sanmi\Documents\My Adobe Presentations\ece552-CachePerformance\data\asimages\{58874F63-DE8A-4A13-8C83-3D0CFE7C04EB}_1.png_crop.png&quot;/&gt;&lt;left val=&quot;115&quot;/&gt;&lt;top val=&quot;406&quot;/&gt;&lt;width val=&quot;499&quot;/&gt;&lt;height val=&quot;17&quot;/&gt;&lt;hasText val=&quot;1&quot;/&gt;&lt;paraId val=&quot;7&quot;/&gt;&lt;/Image&gt;&lt;/TextEffect&gt;"/>
</p:tagLst>
</file>

<file path=ppt/tags/tag35.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1963322378,C:\Users\sanmi\GoogleDrive\UWMdrive\Courses\ECE552\ece552-lec12_CachePerformance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Documents\My Adobe Presentations\ece552-CachePerformance\data\asimages\{5BFDB09F-E4CC-4017-80B1-3AC989A04483}_5.png&quot;/&gt;&lt;left val=&quot;35&quot;/&gt;&lt;top val=&quot;21&quot;/&gt;&lt;width val=&quot;588&quot;/&gt;&lt;height val=&quot;98&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C57772E3-B6A6-42D0-B928-60503C530C76}_5.png&quot;/&gt;&lt;left val=&quot;599&quot;/&gt;&lt;top val=&quot;500&quot;/&gt;&lt;width val=&quot;84&quot;/&gt;&lt;height val=&quot;29&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0&quot;/&gt;&lt;/TableIndex&gt;&lt;TableIndex row=&quot;1&quot; col=&quot;3&quot;&gt;&lt;linesCount val=&quot;1&quot;/&gt;&lt;lineCharCount val=&quot;3&quot;/&gt;&lt;/TableIndex&gt;&lt;TableIndex row=&quot;1&quot; col=&quot;4&quot;&gt;&lt;linesCount val=&quot;0&quot;/&gt;&lt;/TableIndex&gt;&lt;TableIndex row=&quot;1&quot; col=&quot;5&quot;&gt;&lt;linesCount val=&quot;1&quot;/&gt;&lt;lineCharCount val=&quot;4&quot;/&gt;&lt;/TableIndex&gt;&lt;TableIndex row=&quot;1&quot; col=&quot;6&quot;&gt;&lt;linesCount val=&quot;0&quot;/&gt;&lt;/TableIndex&gt;&lt;TableIndex row=&quot;1&quot; col=&quot;7&quot;&gt;&lt;linesCount val=&quot;1&quot;/&gt;&lt;lineCharCount val=&quot;4&quot;/&gt;&lt;/TableIndex&gt;&lt;TableIndex row=&quot;2&quot; col=&quot;1&quot;&gt;&lt;linesCount val=&quot;0&quot;/&gt;&lt;/TableIndex&gt;&lt;TableIndex row=&quot;2&quot; col=&quot;2&quot;&gt;&lt;linesCount val=&quot;1&quot;/&gt;&lt;lineCharCount val=&quot;5&quot;/&gt;&lt;/TableIndex&gt;&lt;TableIndex row=&quot;2&quot; col=&quot;3&quot;&gt;&lt;linesCount val=&quot;0&quot;/&gt;&lt;/TableIndex&gt;&lt;TableIndex row=&quot;2&quot; col=&quot;4&quot;&gt;&lt;linesCount val=&quot;0&quot;/&gt;&lt;/TableIndex&gt;&lt;TableIndex row=&quot;2&quot; col=&quot;5&quot;&gt;&lt;linesCount val=&quot;0&quot;/&gt;&lt;/TableIndex&gt;&lt;TableIndex row=&quot;2&quot; col=&quot;6&quot;&gt;&lt;linesCount val=&quot;1&quot;/&gt;&lt;lineCharCount val=&quot;5&quot;/&gt;&lt;/TableIndex&gt;&lt;TableIndex row=&quot;2&quot; col=&quot;7&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4&quot; col=&quot;1&quot;&gt;&lt;linesCount val=&quot;0&quot;/&gt;&lt;/TableIndex&gt;&lt;TableIndex row=&quot;4&quot; col=&quot;2&quot;&gt;&lt;linesCount val=&quot;0&quot;/&gt;&lt;/TableIndex&gt;&lt;TableIndex row=&quot;4&quot; col=&quot;3&quot;&gt;&lt;linesCount val=&quot;1&quot;/&gt;&lt;lineCharCount val=&quot;1&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1&quot;/&gt;&lt;lineCharCount val=&quot;3&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ShapeTextInfo&gt;"/>
  <p:tag name="HTML_SHAPEINFO" val="&lt;ThreeDShapeInfo&gt;&lt;uuid val=&quot;&quot;/&gt;&lt;isInvalidForFieldText val=&quot;0&quot;/&gt;&lt;Image&gt;&lt;filename val=&quot;C:\Users\sanmi\Documents\My Adobe Presentations\ece552-CachePerformance\data\asimages\{6AA7482A-D7D5-482C-8528-DE407961EB8A}_5.png&quot;/&gt;&lt;left val=&quot;214&quot;/&gt;&lt;top val=&quot;222&quot;/&gt;&lt;width val=&quot;454&quot;/&gt;&lt;height val=&quot;18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919DD393-E1BD-4E59-ADBE-BB69BE1982A8}_5.png&quot;/&gt;&lt;left val=&quot;351&quot;/&gt;&lt;top val=&quot;405&quot;/&gt;&lt;width val=&quot;55&quot;/&gt;&lt;height val=&quot;68&quot;/&gt;&lt;hasText val=&quot;1&quot;/&gt;&lt;/Image&gt;&lt;/ThreeDShape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66151094-E53B-4C6C-93CF-5ABDA0743168}_5.png&quot;/&gt;&lt;left val=&quot;197&quot;/&gt;&lt;top val=&quot;191&quot;/&gt;&lt;width val=&quot;78&quot;/&gt;&lt;height val=&quot;39&quot;/&gt;&lt;hasText val=&quot;1&quot;/&gt;&lt;/Image&gt;&lt;/ThreeDShape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7886C929-BEFD-476A-A77D-54ED721E496D}_5.png&quot;/&gt;&lt;left val=&quot;303&quot;/&gt;&lt;top val=&quot;191&quot;/&gt;&lt;width val=&quot;82&quot;/&gt;&lt;height val=&quot;39&quot;/&gt;&lt;hasText val=&quot;1&quot;/&gt;&lt;/Image&gt;&lt;/ThreeDShape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FCF9A148-D830-4907-9D89-13C366385EB3}_5.png&quot;/&gt;&lt;left val=&quot;455&quot;/&gt;&lt;top val=&quot;191&quot;/&gt;&lt;width val=&quot;78&quot;/&gt;&lt;height val=&quot;39&quot;/&gt;&lt;hasText val=&quot;1&quot;/&gt;&lt;/Image&gt;&lt;/ThreeDShape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5042D4EB-B79D-41E2-8795-6ABFDEF520D9}_5.png&quot;/&gt;&lt;left val=&quot;591&quot;/&gt;&lt;top val=&quot;191&quot;/&gt;&lt;width val=&quot;82&quot;/&gt;&lt;height val=&quot;39&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A99EC83D-745E-48AA-AD70-4E9F12A051FD}_5.png&quot;/&gt;&lt;left val=&quot;372&quot;/&gt;&lt;top val=&quot;408&quot;/&gt;&lt;width val=&quot;85&quot;/&gt;&lt;height val=&quot;39&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CachePerformance\data\asimages\{8CC6251A-6213-4327-B177-0956E7BBC1BB}_5.png&quot;/&gt;&lt;left val=&quot;23&quot;/&gt;&lt;top val=&quot;113&quot;/&gt;&lt;width val=&quot;162&quot;/&gt;&lt;height val=&quot;39&quot;/&gt;&lt;hasText val=&quot;1&quot;/&gt;&lt;/Image&gt;&lt;/ThreeDShape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1FB972C9-DC72-42EC-8C66-BDD1338AAE16}_5.png&quot;/&gt;&lt;left val=&quot;563&quot;/&gt;&lt;top val=&quot;503&quot;/&gt;&lt;width val=&quot;84&quot;/&gt;&lt;height val=&quot;39&quot;/&gt;&lt;hasText val=&quot;1&quot;/&gt;&lt;/Image&gt;&lt;/ThreeDShape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E5EE38A4-FB32-44E7-91E2-57460A499F24}_5.png&quot;/&gt;&lt;left val=&quot;83&quot;/&gt;&lt;top val=&quot;401&quot;/&gt;&lt;width val=&quot;84&quot;/&gt;&lt;height val=&quot;39&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22CF9829-E254-478A-8B6B-CA21999B7C06}_5.png&quot;/&gt;&lt;left val=&quot;137&quot;/&gt;&lt;top val=&quot;300&quot;/&gt;&lt;width val=&quot;84&quot;/&gt;&lt;height val=&quot;39&quot;/&gt;&lt;hasText val=&quot;1&quot;/&gt;&lt;/Image&gt;&lt;/ThreeDShape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CachePerformance\data\asimages\{47ABBEEE-9E67-48FA-9D8D-C8935F94D0F2}_5.png&quot;/&gt;&lt;left val=&quot;22&quot;/&gt;&lt;top val=&quot;144&quot;/&gt;&lt;width val=&quot;166&quot;/&gt;&lt;height val=&quot;39&quot;/&gt;&lt;hasText val=&quot;1&quot;/&gt;&lt;/Image&gt;&lt;/ThreeDShape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3&quot;/&gt;&lt;/TableIndex&gt;&lt;TableIndex row=&quot;1&quot; col=&quot;3&quot;&gt;&lt;linesCount val=&quot;1&quot;/&gt;&lt;lineCharCount val=&quot;6&quot;/&gt;&lt;/TableIndex&gt;&lt;/ShapeTextInfo&gt;"/>
  <p:tag name="HTML_SHAPEINFO" val="&lt;ThreeDShapeInfo&gt;&lt;uuid val=&quot;&quot;/&gt;&lt;isInvalidForFieldText val=&quot;0&quot;/&gt;&lt;Image&gt;&lt;filename val=&quot;C:\Users\sanmi\Documents\My Adobe Presentations\ece552-CachePerformance\data\asimages\{B480AE93-0140-4A3B-B432-88630C74C479}_5.png&quot;/&gt;&lt;left val=&quot;440&quot;/&gt;&lt;top val=&quot;136&quot;/&gt;&lt;width val=&quot;235&quot;/&gt;&lt;height val=&quot;39&quot;/&gt;&lt;hasText val=&quot;1&quot;/&gt;&lt;/Image&gt;&lt;/ThreeDShape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CachePerformance\data\asimages\{198ADE9A-AB17-400E-922A-ABAF722D6D45}_5.png&quot;/&gt;&lt;left val=&quot;407&quot;/&gt;&lt;top val=&quot;106&quot;/&gt;&lt;width val=&quot;265&quot;/&gt;&lt;height val=&quot;49&quot;/&gt;&lt;hasText val=&quot;1&quot;/&gt;&lt;/Image&gt;&lt;/ThreeDShape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0647F511-2E45-4A32-A6DD-0F5067A7D27E}_5.png&quot;/&gt;&lt;left val=&quot;240&quot;/&gt;&lt;top val=&quot;404&quot;/&gt;&lt;width val=&quot;55&quot;/&gt;&lt;height val=&quot;68&quot;/&gt;&lt;hasText val=&quot;1&quot;/&gt;&lt;/Image&gt;&lt;/ThreeDShape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FBA309B5-8C73-4F0E-BD61-FC40B4466E70}_5.png&quot;/&gt;&lt;left val=&quot;263&quot;/&gt;&lt;top val=&quot;407&quot;/&gt;&lt;width val=&quot;84&quot;/&gt;&lt;height val=&quot;39&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INFO" val="&lt;ThreeDShapeInfo&gt;&lt;uuid val=&quot;{E92D6559-62D9-44BF-A60D-5F26476A59C9}&quot;/&gt;&lt;isInvalidForFieldText val=&quot;0&quot;/&gt;&lt;Image&gt;&lt;filename val=&quot;C:\Users\sanmi\Documents\My Adobe Presentations\ece552-CachePerformance\data\asimages\{E92D6559-62D9-44BF-A60D-5F26476A59C9}_5.png&quot;/&gt;&lt;left val=&quot;580&quot;/&gt;&lt;top val=&quot;465&quot;/&gt;&lt;width val=&quot;51&quot;/&gt;&lt;height val=&quot;43&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05D8272D-065F-4809-8656-B89F3388CE3A}_5.png&quot;/&gt;&lt;left val=&quot;20&quot;/&gt;&lt;top val=&quot;448&quot;/&gt;&lt;width val=&quot;141&quot;/&gt;&lt;height val=&quot;38&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8&quot;/&gt;&lt;/TableIndex&gt;&lt;/ShapeTextInfo&gt;"/>
  <p:tag name="HTML_SHAPEINFO" val="&lt;ThreeDShapeInfo&gt;&lt;uuid val=&quot;&quot;/&gt;&lt;isInvalidForFieldText val=&quot;0&quot;/&gt;&lt;Image&gt;&lt;filename val=&quot;C:\Users\sanmi\Documents\My Adobe Presentations\ece552-CachePerformance\data\asimages\{F47CB979-77FF-4948-8DA2-73A89A56E520}_5.png&quot;/&gt;&lt;left val=&quot;65&quot;/&gt;&lt;top val=&quot;300&quot;/&gt;&lt;width val=&quot;84&quot;/&gt;&lt;height val=&quot;60&quot;/&gt;&lt;hasText val=&quot;1&quot;/&gt;&lt;/Image&gt;&lt;/ThreeDShape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1963322378,C:\Users\sanmi\GoogleDrive\UWMdrive\Courses\ECE552\ece552-lec12_CachePerformance_pptx\Media.ppcx"/>
  <p:tag name="TIMING" val="|21.3|24.3"/>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Documents\My Adobe Presentations\ece552-CachePerformance\data\asimages\{E9B2B02D-B08B-46A5-9054-F4C13F666F71}_6.png&quot;/&gt;&lt;left val=&quot;35&quot;/&gt;&lt;top val=&quot;21&quot;/&gt;&lt;width val=&quot;588&quot;/&gt;&lt;height val=&quot;98&quot;/&gt;&lt;hasText val=&quot;1&quot;/&gt;&lt;/Image&gt;&lt;/ThreeDShape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FE59D0E1-8B65-43F2-89E2-4E2EBD726EEE}_6.png&quot;/&gt;&lt;left val=&quot;599&quot;/&gt;&lt;top val=&quot;500&quot;/&gt;&lt;width val=&quot;84&quot;/&gt;&lt;height val=&quot;29&quot;/&gt;&lt;hasText val=&quot;1&quot;/&gt;&lt;/Image&gt;&lt;/ThreeDShape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0&quot;/&gt;&lt;/TableIndex&gt;&lt;TableIndex row=&quot;1&quot; col=&quot;3&quot;&gt;&lt;linesCount val=&quot;1&quot;/&gt;&lt;lineCharCount val=&quot;3&quot;/&gt;&lt;/TableIndex&gt;&lt;TableIndex row=&quot;1&quot; col=&quot;4&quot;&gt;&lt;linesCount val=&quot;0&quot;/&gt;&lt;/TableIndex&gt;&lt;TableIndex row=&quot;1&quot; col=&quot;5&quot;&gt;&lt;linesCount val=&quot;1&quot;/&gt;&lt;lineCharCount val=&quot;4&quot;/&gt;&lt;/TableIndex&gt;&lt;TableIndex row=&quot;1&quot; col=&quot;6&quot;&gt;&lt;linesCount val=&quot;0&quot;/&gt;&lt;/TableIndex&gt;&lt;TableIndex row=&quot;1&quot; col=&quot;7&quot;&gt;&lt;linesCount val=&quot;1&quot;/&gt;&lt;lineCharCount val=&quot;4&quot;/&gt;&lt;/TableIndex&gt;&lt;TableIndex row=&quot;2&quot; col=&quot;1&quot;&gt;&lt;linesCount val=&quot;0&quot;/&gt;&lt;/TableIndex&gt;&lt;TableIndex row=&quot;2&quot; col=&quot;2&quot;&gt;&lt;linesCount val=&quot;1&quot;/&gt;&lt;lineCharCount val=&quot;5&quot;/&gt;&lt;/TableIndex&gt;&lt;TableIndex row=&quot;2&quot; col=&quot;3&quot;&gt;&lt;linesCount val=&quot;0&quot;/&gt;&lt;/TableIndex&gt;&lt;TableIndex row=&quot;2&quot; col=&quot;4&quot;&gt;&lt;linesCount val=&quot;0&quot;/&gt;&lt;/TableIndex&gt;&lt;TableIndex row=&quot;2&quot; col=&quot;5&quot;&gt;&lt;linesCount val=&quot;0&quot;/&gt;&lt;/TableIndex&gt;&lt;TableIndex row=&quot;2&quot; col=&quot;6&quot;&gt;&lt;linesCount val=&quot;1&quot;/&gt;&lt;lineCharCount val=&quot;5&quot;/&gt;&lt;/TableIndex&gt;&lt;TableIndex row=&quot;2&quot; col=&quot;7&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4&quot; col=&quot;1&quot;&gt;&lt;linesCount val=&quot;0&quot;/&gt;&lt;/TableIndex&gt;&lt;TableIndex row=&quot;4&quot; col=&quot;2&quot;&gt;&lt;linesCount val=&quot;0&quot;/&gt;&lt;/TableIndex&gt;&lt;TableIndex row=&quot;4&quot; col=&quot;3&quot;&gt;&lt;linesCount val=&quot;1&quot;/&gt;&lt;lineCharCount val=&quot;1&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1&quot;/&gt;&lt;lineCharCount val=&quot;3&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ShapeTextInfo&gt;"/>
  <p:tag name="HTML_SHAPEINFO" val="&lt;ThreeDShapeInfo&gt;&lt;uuid val=&quot;&quot;/&gt;&lt;isInvalidForFieldText val=&quot;0&quot;/&gt;&lt;Image&gt;&lt;filename val=&quot;C:\Users\sanmi\Documents\My Adobe Presentations\ece552-CachePerformance\data\asimages\{545B9070-053E-42E0-83AF-D935E14B4DD3}_6.png&quot;/&gt;&lt;left val=&quot;214&quot;/&gt;&lt;top val=&quot;222&quot;/&gt;&lt;width val=&quot;454&quot;/&gt;&lt;height val=&quot;180&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CBBA9DF3-6A9D-49E3-83EF-8D42314EE998}_6.png&quot;/&gt;&lt;left val=&quot;351&quot;/&gt;&lt;top val=&quot;405&quot;/&gt;&lt;width val=&quot;55&quot;/&gt;&lt;height val=&quot;68&quot;/&gt;&lt;hasText val=&quot;1&quot;/&gt;&lt;/Image&gt;&lt;/ThreeDShape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EEDE506F-AE20-41BC-8B0C-3373773131B7}_6.png&quot;/&gt;&lt;left val=&quot;197&quot;/&gt;&lt;top val=&quot;191&quot;/&gt;&lt;width val=&quot;78&quot;/&gt;&lt;height val=&quot;39&quot;/&gt;&lt;hasText val=&quot;1&quot;/&gt;&lt;/Image&gt;&lt;/ThreeDShape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13625234-2863-4DB0-94FC-9477D9AAE46A}_6.png&quot;/&gt;&lt;left val=&quot;303&quot;/&gt;&lt;top val=&quot;191&quot;/&gt;&lt;width val=&quot;82&quot;/&gt;&lt;height val=&quot;39&quot;/&gt;&lt;hasText val=&quot;1&quot;/&gt;&lt;/Image&gt;&lt;/ThreeDShape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209E0DAF-CA24-4163-8C9C-9CD120509E77}_6.png&quot;/&gt;&lt;left val=&quot;455&quot;/&gt;&lt;top val=&quot;191&quot;/&gt;&lt;width val=&quot;78&quot;/&gt;&lt;height val=&quot;39&quot;/&gt;&lt;hasText val=&quot;1&quot;/&gt;&lt;/Image&gt;&lt;/ThreeDShape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F769C74A-2124-476E-9FCA-49450F669490}_6.png&quot;/&gt;&lt;left val=&quot;591&quot;/&gt;&lt;top val=&quot;191&quot;/&gt;&lt;width val=&quot;82&quot;/&gt;&lt;height val=&quot;39&quot;/&gt;&lt;hasText val=&quot;1&quot;/&gt;&lt;/Image&gt;&lt;/ThreeDShape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6928C425-4E4D-47F3-83F2-1B9E95AAA472}_6.png&quot;/&gt;&lt;left val=&quot;372&quot;/&gt;&lt;top val=&quot;408&quot;/&gt;&lt;width val=&quot;85&quot;/&gt;&lt;height val=&quot;39&quot;/&gt;&lt;hasText val=&quot;1&quot;/&gt;&lt;/Image&gt;&lt;/ThreeDShape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CachePerformance\data\asimages\{2C247EF4-9D76-427E-8FF4-EED6E123723B}_6.png&quot;/&gt;&lt;left val=&quot;23&quot;/&gt;&lt;top val=&quot;113&quot;/&gt;&lt;width val=&quot;162&quot;/&gt;&lt;height val=&quot;39&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AC738BD6-4683-4C86-B6E7-85064B9E16E3}_6.png&quot;/&gt;&lt;left val=&quot;563&quot;/&gt;&lt;top val=&quot;503&quot;/&gt;&lt;width val=&quot;84&quot;/&gt;&lt;height val=&quot;39&quot;/&gt;&lt;hasText val=&quot;1&quot;/&gt;&lt;/Image&gt;&lt;/ThreeDShape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9A83AAD5-F4D5-4D28-9188-F734C345C537}_6.png&quot;/&gt;&lt;left val=&quot;83&quot;/&gt;&lt;top val=&quot;401&quot;/&gt;&lt;width val=&quot;84&quot;/&gt;&lt;height val=&quot;39&quot;/&gt;&lt;hasText val=&quot;1&quot;/&gt;&lt;/Image&gt;&lt;/ThreeDShape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F8499B5C-474B-4AD8-896B-E8C9DCEF6F7E}_6.png&quot;/&gt;&lt;left val=&quot;137&quot;/&gt;&lt;top val=&quot;300&quot;/&gt;&lt;width val=&quot;84&quot;/&gt;&lt;height val=&quot;39&quot;/&gt;&lt;hasText val=&quot;1&quot;/&gt;&lt;/Image&gt;&lt;/ThreeDShape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CachePerformance\data\asimages\{8DFFB729-A08B-4B02-9880-95DBA022327B}_6.png&quot;/&gt;&lt;left val=&quot;22&quot;/&gt;&lt;top val=&quot;144&quot;/&gt;&lt;width val=&quot;166&quot;/&gt;&lt;height val=&quot;39&quot;/&gt;&lt;hasText val=&quot;1&quot;/&gt;&lt;/Image&gt;&lt;/ThreeDShape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3&quot;/&gt;&lt;/TableIndex&gt;&lt;TableIndex row=&quot;1&quot; col=&quot;3&quot;&gt;&lt;linesCount val=&quot;1&quot;/&gt;&lt;lineCharCount val=&quot;6&quot;/&gt;&lt;/TableIndex&gt;&lt;/ShapeTextInfo&gt;"/>
  <p:tag name="HTML_SHAPEINFO" val="&lt;ThreeDShapeInfo&gt;&lt;uuid val=&quot;&quot;/&gt;&lt;isInvalidForFieldText val=&quot;0&quot;/&gt;&lt;Image&gt;&lt;filename val=&quot;C:\Users\sanmi\Documents\My Adobe Presentations\ece552-CachePerformance\data\asimages\{86B6DA0D-8A99-454F-AFFF-421DD486D63C}_6.png&quot;/&gt;&lt;left val=&quot;440&quot;/&gt;&lt;top val=&quot;136&quot;/&gt;&lt;width val=&quot;235&quot;/&gt;&lt;height val=&quot;39&quot;/&gt;&lt;hasText val=&quot;1&quot;/&gt;&lt;/Image&gt;&lt;/ThreeDShape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CachePerformance\data\asimages\{B8C04F88-1FDC-4000-A17D-2FB92A2649B2}_6.png&quot;/&gt;&lt;left val=&quot;407&quot;/&gt;&lt;top val=&quot;106&quot;/&gt;&lt;width val=&quot;265&quot;/&gt;&lt;height val=&quot;49&quot;/&gt;&lt;hasText val=&quot;1&quot;/&gt;&lt;/Image&gt;&lt;/ThreeDShape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EA3A8311-5283-463D-9C9A-E581CDEA8587}_6.png&quot;/&gt;&lt;left val=&quot;240&quot;/&gt;&lt;top val=&quot;404&quot;/&gt;&lt;width val=&quot;55&quot;/&gt;&lt;height val=&quot;68&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48F8D81C-7261-4D51-ADA4-86E7E1E27EBE}_6.png&quot;/&gt;&lt;left val=&quot;263&quot;/&gt;&lt;top val=&quot;407&quot;/&gt;&lt;width val=&quot;84&quot;/&gt;&lt;height val=&quot;39&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EF534AA4-BA51-452C-901F-0566ADAF8CEB}&quot;/&gt;&lt;isInvalidForFieldText val=&quot;0&quot;/&gt;&lt;Image&gt;&lt;filename val=&quot;C:\Users\sanmi\Documents\My Adobe Presentations\ece552-CachePerformance\data\asimages\{EF534AA4-BA51-452C-901F-0566ADAF8CEB}_6.png&quot;/&gt;&lt;left val=&quot;580&quot;/&gt;&lt;top val=&quot;465&quot;/&gt;&lt;width val=&quot;51&quot;/&gt;&lt;height val=&quot;43&quot;/&gt;&lt;hasText val=&quot;1&quot;/&gt;&lt;/Image&gt;&lt;/ThreeDShape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401928E0-6E58-480B-B185-CE6AD3AD4755}_6.png&quot;/&gt;&lt;left val=&quot;20&quot;/&gt;&lt;top val=&quot;448&quot;/&gt;&lt;width val=&quot;141&quot;/&gt;&lt;height val=&quot;38&quot;/&gt;&lt;hasText val=&quot;1&quot;/&gt;&lt;/Image&gt;&lt;/ThreeDShape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8&quot;/&gt;&lt;/TableIndex&gt;&lt;/ShapeTextInfo&gt;"/>
  <p:tag name="HTML_SHAPEINFO" val="&lt;ThreeDShapeInfo&gt;&lt;uuid val=&quot;&quot;/&gt;&lt;isInvalidForFieldText val=&quot;0&quot;/&gt;&lt;Image&gt;&lt;filename val=&quot;C:\Users\sanmi\Documents\My Adobe Presentations\ece552-CachePerformance\data\asimages\{9A16AA70-D17F-4D8F-9BC0-04D2356294A6}_6.png&quot;/&gt;&lt;left val=&quot;65&quot;/&gt;&lt;top val=&quot;300&quot;/&gt;&lt;width val=&quot;84&quot;/&gt;&lt;height val=&quot;60&quot;/&gt;&lt;hasText val=&quot;1&quot;/&gt;&lt;/Image&gt;&lt;/ThreeDShape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65&quot;/&gt;&lt;lineCharCount val=&quot;63&quot;/&gt;&lt;lineCharCount val=&quot;45&quot;/&gt;&lt;lineCharCount val=&quot;58&quot;/&gt;&lt;/TableIndex&gt;&lt;/ShapeTextInfo&gt;"/>
  <p:tag name="HTML_SHAPEINFO" val="&lt;TextEffect&gt;&lt;Image&gt;&lt;filename val=&quot;C:\Users\sanmi\Documents\My Adobe Presentations\ece552-CachePerformance\data\asimages\{D0824FB0-8851-43D5-8AEE-17FDF5FB6269}_1.png_crop.png&quot;/&gt;&lt;left val=&quot;38&quot;/&gt;&lt;top val=&quot;423&quot;/&gt;&lt;width val=&quot;635&quot;/&gt;&lt;height val=&quot;49&quot;/&gt;&lt;hasText val=&quot;1&quot;/&gt;&lt;paraId val=&quot;1&quot;/&gt;&lt;/Image&gt;&lt;Image&gt;&lt;filename val=&quot;C:\Users\sanmi\Documents\My Adobe Presentations\ece552-CachePerformance\data\asimages\{CB3ED6C1-845B-4BA9-AC75-1ABCAEAF0201}_1.png_crop.png&quot;/&gt;&lt;left val=&quot;38&quot;/&gt;&lt;top val=&quot;479&quot;/&gt;&lt;width val=&quot;392&quot;/&gt;&lt;height val=&quot;18&quot;/&gt;&lt;hasText val=&quot;1&quot;/&gt;&lt;paraId val=&quot;2&quot;/&gt;&lt;/Image&gt;&lt;Image&gt;&lt;filename val=&quot;C:\Users\sanmi\Documents\My Adobe Presentations\ece552-CachePerformance\data\asimages\{BE0C222F-BCAF-4BAC-90F7-6888C4E3C35A}_1.png_crop.png&quot;/&gt;&lt;left val=&quot;38&quot;/&gt;&lt;top val=&quot;503&quot;/&gt;&lt;width val=&quot;481&quot;/&gt;&lt;height val=&quot;18&quot;/&gt;&lt;hasText val=&quot;1&quot;/&gt;&lt;paraId val=&quot;3&quot;/&gt;&lt;/Image&gt;&lt;/TextEffect&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1963322378,C:\Users\sanmi\GoogleDrive\UWMdrive\Courses\ECE552\ece552-lec12_CachePerformance_pptx\Media.ppcx"/>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Documents\My Adobe Presentations\ece552-CachePerformance\data\asimages\{7E950BFB-3CFC-4C11-83E4-6246CD90846D}_7.png&quot;/&gt;&lt;left val=&quot;35&quot;/&gt;&lt;top val=&quot;21&quot;/&gt;&lt;width val=&quot;588&quot;/&gt;&lt;height val=&quot;98&quot;/&gt;&lt;hasText val=&quot;1&quot;/&gt;&lt;/Image&gt;&lt;/ThreeDShape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6EDC99C8-69B6-48CE-8A12-057B43178AEB}_7.png&quot;/&gt;&lt;left val=&quot;599&quot;/&gt;&lt;top val=&quot;500&quot;/&gt;&lt;width val=&quot;84&quot;/&gt;&lt;height val=&quot;29&quot;/&gt;&lt;hasText val=&quot;1&quot;/&gt;&lt;/Image&gt;&lt;/ThreeDShape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0&quot;/&gt;&lt;/TableIndex&gt;&lt;TableIndex row=&quot;1&quot; col=&quot;3&quot;&gt;&lt;linesCount val=&quot;1&quot;/&gt;&lt;lineCharCount val=&quot;3&quot;/&gt;&lt;/TableIndex&gt;&lt;TableIndex row=&quot;1&quot; col=&quot;4&quot;&gt;&lt;linesCount val=&quot;0&quot;/&gt;&lt;/TableIndex&gt;&lt;TableIndex row=&quot;1&quot; col=&quot;5&quot;&gt;&lt;linesCount val=&quot;1&quot;/&gt;&lt;lineCharCount val=&quot;4&quot;/&gt;&lt;/TableIndex&gt;&lt;TableIndex row=&quot;1&quot; col=&quot;6&quot;&gt;&lt;linesCount val=&quot;0&quot;/&gt;&lt;/TableIndex&gt;&lt;TableIndex row=&quot;1&quot; col=&quot;7&quot;&gt;&lt;linesCount val=&quot;1&quot;/&gt;&lt;lineCharCount val=&quot;4&quot;/&gt;&lt;/TableIndex&gt;&lt;TableIndex row=&quot;2&quot; col=&quot;1&quot;&gt;&lt;linesCount val=&quot;0&quot;/&gt;&lt;/TableIndex&gt;&lt;TableIndex row=&quot;2&quot; col=&quot;2&quot;&gt;&lt;linesCount val=&quot;1&quot;/&gt;&lt;lineCharCount val=&quot;5&quot;/&gt;&lt;/TableIndex&gt;&lt;TableIndex row=&quot;2&quot; col=&quot;3&quot;&gt;&lt;linesCount val=&quot;0&quot;/&gt;&lt;/TableIndex&gt;&lt;TableIndex row=&quot;2&quot; col=&quot;4&quot;&gt;&lt;linesCount val=&quot;0&quot;/&gt;&lt;/TableIndex&gt;&lt;TableIndex row=&quot;2&quot; col=&quot;5&quot;&gt;&lt;linesCount val=&quot;0&quot;/&gt;&lt;/TableIndex&gt;&lt;TableIndex row=&quot;2&quot; col=&quot;6&quot;&gt;&lt;linesCount val=&quot;1&quot;/&gt;&lt;lineCharCount val=&quot;5&quot;/&gt;&lt;/TableIndex&gt;&lt;TableIndex row=&quot;2&quot; col=&quot;7&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4&quot; col=&quot;1&quot;&gt;&lt;linesCount val=&quot;0&quot;/&gt;&lt;/TableIndex&gt;&lt;TableIndex row=&quot;4&quot; col=&quot;2&quot;&gt;&lt;linesCount val=&quot;0&quot;/&gt;&lt;/TableIndex&gt;&lt;TableIndex row=&quot;4&quot; col=&quot;3&quot;&gt;&lt;linesCount val=&quot;1&quot;/&gt;&lt;lineCharCount val=&quot;1&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1&quot;/&gt;&lt;lineCharCount val=&quot;3&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ShapeTextInfo&gt;"/>
  <p:tag name="HTML_SHAPEINFO" val="&lt;ThreeDShapeInfo&gt;&lt;uuid val=&quot;&quot;/&gt;&lt;isInvalidForFieldText val=&quot;0&quot;/&gt;&lt;Image&gt;&lt;filename val=&quot;C:\Users\sanmi\Documents\My Adobe Presentations\ece552-CachePerformance\data\asimages\{AFCC2E73-55EC-488B-96C9-6BADE6AC5F61}_7.png&quot;/&gt;&lt;left val=&quot;214&quot;/&gt;&lt;top val=&quot;222&quot;/&gt;&lt;width val=&quot;454&quot;/&gt;&lt;height val=&quot;180&quot;/&gt;&lt;hasText val=&quot;1&quot;/&gt;&lt;/Image&gt;&lt;/ThreeDShape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08FB2528-BB7D-4509-96EE-F83F49B579A9}_7.png&quot;/&gt;&lt;left val=&quot;351&quot;/&gt;&lt;top val=&quot;405&quot;/&gt;&lt;width val=&quot;55&quot;/&gt;&lt;height val=&quot;68&quot;/&gt;&lt;hasText val=&quot;1&quot;/&gt;&lt;/Image&gt;&lt;/ThreeDShape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D95F774A-7754-43F5-A52B-59BA590905E7}_7.png&quot;/&gt;&lt;left val=&quot;197&quot;/&gt;&lt;top val=&quot;191&quot;/&gt;&lt;width val=&quot;78&quot;/&gt;&lt;height val=&quot;39&quot;/&gt;&lt;hasText val=&quot;1&quot;/&gt;&lt;/Image&gt;&lt;/ThreeDShape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31FB4AF5-03EB-494E-8F72-2DFA4E6B2259}_7.png&quot;/&gt;&lt;left val=&quot;303&quot;/&gt;&lt;top val=&quot;191&quot;/&gt;&lt;width val=&quot;82&quot;/&gt;&lt;height val=&quot;39&quot;/&gt;&lt;hasText val=&quot;1&quot;/&gt;&lt;/Image&gt;&lt;/ThreeDShape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1A326F19-46BF-4E14-967A-C430A817F388}_7.png&quot;/&gt;&lt;left val=&quot;455&quot;/&gt;&lt;top val=&quot;191&quot;/&gt;&lt;width val=&quot;78&quot;/&gt;&lt;height val=&quot;39&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6CB57E90-2D2D-47D5-958A-1E05B0865245}_7.png&quot;/&gt;&lt;left val=&quot;591&quot;/&gt;&lt;top val=&quot;191&quot;/&gt;&lt;width val=&quot;82&quot;/&gt;&lt;height val=&quot;39&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037F7008-9E2C-433A-A902-4265995CD58E}_7.png&quot;/&gt;&lt;left val=&quot;372&quot;/&gt;&lt;top val=&quot;408&quot;/&gt;&lt;width val=&quot;85&quot;/&gt;&lt;height val=&quot;39&quot;/&gt;&lt;hasText val=&quot;1&quot;/&gt;&lt;/Image&gt;&lt;/ThreeDShape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CachePerformance\data\asimages\{2ECD647E-BF9A-4802-905F-E69DC23494EE}_7.png&quot;/&gt;&lt;left val=&quot;23&quot;/&gt;&lt;top val=&quot;113&quot;/&gt;&lt;width val=&quot;162&quot;/&gt;&lt;height val=&quot;39&quot;/&gt;&lt;hasText val=&quot;1&quot;/&gt;&lt;/Image&gt;&lt;/ThreeDShape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0083172E-92FC-4EAC-8154-16CD7641A540}_7.png&quot;/&gt;&lt;left val=&quot;563&quot;/&gt;&lt;top val=&quot;503&quot;/&gt;&lt;width val=&quot;84&quot;/&gt;&lt;height val=&quot;39&quot;/&gt;&lt;hasText val=&quot;1&quot;/&gt;&lt;/Image&gt;&lt;/ThreeDShape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8C9F281C-92A2-4CC1-BFC1-6B3D1C6FCC90}_7.png&quot;/&gt;&lt;left val=&quot;83&quot;/&gt;&lt;top val=&quot;401&quot;/&gt;&lt;width val=&quot;84&quot;/&gt;&lt;height val=&quot;39&quot;/&gt;&lt;hasText val=&quot;1&quot;/&gt;&lt;/Image&gt;&lt;/ThreeDShape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929E0A54-EE88-4412-B21E-49AE1452E839}_7.png&quot;/&gt;&lt;left val=&quot;137&quot;/&gt;&lt;top val=&quot;300&quot;/&gt;&lt;width val=&quot;84&quot;/&gt;&lt;height val=&quot;39&quot;/&gt;&lt;hasText val=&quot;1&quot;/&gt;&lt;/Image&gt;&lt;/ThreeDShape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CachePerformance\data\asimages\{1717EA66-5201-479E-A138-2C36A7BA52D8}_7.png&quot;/&gt;&lt;left val=&quot;22&quot;/&gt;&lt;top val=&quot;144&quot;/&gt;&lt;width val=&quot;166&quot;/&gt;&lt;height val=&quot;39&quot;/&gt;&lt;hasText val=&quot;1&quot;/&gt;&lt;/Image&gt;&lt;/ThreeDShape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1&quot;/&gt;&lt;lineCharCount val=&quot;3&quot;/&gt;&lt;/TableIndex&gt;&lt;TableIndex row=&quot;1&quot; col=&quot;3&quot;&gt;&lt;linesCount val=&quot;1&quot;/&gt;&lt;lineCharCount val=&quot;6&quot;/&gt;&lt;/TableIndex&gt;&lt;/ShapeTextInfo&gt;"/>
  <p:tag name="HTML_SHAPEINFO" val="&lt;ThreeDShapeInfo&gt;&lt;uuid val=&quot;&quot;/&gt;&lt;isInvalidForFieldText val=&quot;0&quot;/&gt;&lt;Image&gt;&lt;filename val=&quot;C:\Users\sanmi\Documents\My Adobe Presentations\ece552-CachePerformance\data\asimages\{4DC262CD-E197-4445-B12E-0686DE2F79F9}_7.png&quot;/&gt;&lt;left val=&quot;440&quot;/&gt;&lt;top val=&quot;136&quot;/&gt;&lt;width val=&quot;235&quot;/&gt;&lt;height val=&quot;39&quot;/&gt;&lt;hasText val=&quot;1&quot;/&gt;&lt;/Image&gt;&lt;/ThreeDShape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3&quot;/&gt;&lt;/TableIndex&gt;&lt;/ShapeTextInfo&gt;"/>
  <p:tag name="HTML_SHAPEINFO" val="&lt;ThreeDShapeInfo&gt;&lt;uuid val=&quot;&quot;/&gt;&lt;isInvalidForFieldText val=&quot;0&quot;/&gt;&lt;Image&gt;&lt;filename val=&quot;C:\Users\sanmi\Documents\My Adobe Presentations\ece552-CachePerformance\data\asimages\{6FCC4ED5-2774-4360-9952-58B5CF9D45B5}_7.png&quot;/&gt;&lt;left val=&quot;407&quot;/&gt;&lt;top val=&quot;106&quot;/&gt;&lt;width val=&quot;265&quot;/&gt;&lt;height val=&quot;49&quot;/&gt;&lt;hasText val=&quot;1&quot;/&gt;&lt;/Image&gt;&lt;/ThreeDShape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67467B4A-EEFA-4AD1-9BC0-DD2C0003FE0F}_7.png&quot;/&gt;&lt;left val=&quot;240&quot;/&gt;&lt;top val=&quot;404&quot;/&gt;&lt;width val=&quot;55&quot;/&gt;&lt;height val=&quot;68&quot;/&gt;&lt;hasText val=&quot;1&quot;/&gt;&lt;/Image&gt;&lt;/ThreeDShape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AB5DECF3-5AD5-4134-ACC9-095E59A491D6}_7.png&quot;/&gt;&lt;left val=&quot;263&quot;/&gt;&lt;top val=&quot;407&quot;/&gt;&lt;width val=&quot;84&quot;/&gt;&lt;height val=&quot;39&quot;/&gt;&lt;hasText val=&quot;1&quot;/&gt;&lt;/Image&gt;&lt;/ThreeDShapeInfo&gt;"/>
</p:tagLst>
</file>

<file path=ppt/tags/tag107.xml><?xml version="1.0" encoding="utf-8"?>
<p:tagLst xmlns:a="http://schemas.openxmlformats.org/drawingml/2006/main" xmlns:r="http://schemas.openxmlformats.org/officeDocument/2006/relationships" xmlns:p="http://schemas.openxmlformats.org/presentationml/2006/main">
  <p:tag name="PRESENTER_SHAPEINFO" val="&lt;ThreeDShapeInfo&gt;&lt;uuid val=&quot;{60C1CEBC-447D-41FE-913E-B5AE50E9C19B}&quot;/&gt;&lt;isInvalidForFieldText val=&quot;0&quot;/&gt;&lt;Image&gt;&lt;filename val=&quot;C:\Users\sanmi\Documents\My Adobe Presentations\ece552-CachePerformance\data\asimages\{60C1CEBC-447D-41FE-913E-B5AE50E9C19B}_7.png&quot;/&gt;&lt;left val=&quot;580&quot;/&gt;&lt;top val=&quot;465&quot;/&gt;&lt;width val=&quot;51&quot;/&gt;&lt;height val=&quot;43&quot;/&gt;&lt;hasText val=&quot;1&quot;/&gt;&lt;/Image&gt;&lt;/ThreeDShape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2F8E1783-79D4-4602-A5C8-35BDA3ABC284}_7.png&quot;/&gt;&lt;left val=&quot;20&quot;/&gt;&lt;top val=&quot;448&quot;/&gt;&lt;width val=&quot;141&quot;/&gt;&lt;height val=&quot;38&quot;/&gt;&lt;hasText val=&quot;1&quot;/&gt;&lt;/Image&gt;&lt;/ThreeDShape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8&quot;/&gt;&lt;/TableIndex&gt;&lt;/ShapeTextInfo&gt;"/>
  <p:tag name="HTML_SHAPEINFO" val="&lt;ThreeDShapeInfo&gt;&lt;uuid val=&quot;&quot;/&gt;&lt;isInvalidForFieldText val=&quot;0&quot;/&gt;&lt;Image&gt;&lt;filename val=&quot;C:\Users\sanmi\Documents\My Adobe Presentations\ece552-CachePerformance\data\asimages\{70A256F1-9BB3-4C6E-B585-2677833CEFAC}_7.png&quot;/&gt;&lt;left val=&quot;65&quot;/&gt;&lt;top val=&quot;300&quot;/&gt;&lt;width val=&quot;84&quot;/&gt;&lt;height val=&quot;60&quot;/&gt;&lt;hasText val=&quot;1&quot;/&gt;&lt;/Image&gt;&lt;/ThreeDShape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28&quot;/&gt;&lt;lineCharCount val=&quot;66&quot;/&gt;&lt;lineCharCount val=&quot;54&quot;/&gt;&lt;/TableIndex&gt;&lt;/ShapeTextInfo&gt;"/>
  <p:tag name="HTML_SHAPEINFO" val="&lt;ThreeDShapeInfo&gt;&lt;uuid val=&quot;&quot;/&gt;&lt;isInvalidForFieldText val=&quot;0&quot;/&gt;&lt;Image&gt;&lt;filename val=&quot;C:\Users\sanmi\Documents\My Adobe Presentations\ece552-CachePerformance\data\asimages\{4709349A-5327-4F94-A813-733555541160}_7.png&quot;/&gt;&lt;left val=&quot;16&quot;/&gt;&lt;top val=&quot;414&quot;/&gt;&lt;width val=&quot;677&quot;/&gt;&lt;height val=&quot;115&quot;/&gt;&lt;hasText val=&quot;1&quot;/&gt;&lt;/Image&gt;&lt;/ThreeDShape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1963322378,C:\Users\sanmi\GoogleDrive\UWMdrive\Courses\ECE552\ece552-lec12_CachePerformance_pptx\Media.ppcx"/>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CachePerformance\data\asimages\{AFFE552E-82C6-4A75-8C86-D23A02310DFD}_8.png&quot;/&gt;&lt;left val=&quot;35&quot;/&gt;&lt;top val=&quot;21&quot;/&gt;&lt;width val=&quot;588&quot;/&gt;&lt;height val=&quot;98&quot;/&gt;&lt;hasText val=&quot;1&quot;/&gt;&lt;/Image&gt;&lt;/ThreeDShape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EEF4D462-E0F2-4D98-993D-8E56CF3BFD1C}_8.png&quot;/&gt;&lt;left val=&quot;599&quot;/&gt;&lt;top val=&quot;500&quot;/&gt;&lt;width val=&quot;84&quot;/&gt;&lt;height val=&quot;29&quot;/&gt;&lt;hasText val=&quot;1&quot;/&gt;&lt;/Image&gt;&lt;/ThreeDShape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58&quot;/&gt;&lt;lineCharCount val=&quot;44&quot;/&gt;&lt;lineCharCount val=&quot;21&quot;/&gt;&lt;lineCharCount val=&quot;50&quot;/&gt;&lt;lineCharCount val=&quot;23&quot;/&gt;&lt;lineCharCount val=&quot;60&quot;/&gt;&lt;lineCharCount val=&quot;21&quot;/&gt;&lt;lineCharCount val=&quot;61&quot;/&gt;&lt;lineCharCount val=&quot;58&quot;/&gt;&lt;lineCharCount val=&quot;30&quot;/&gt;&lt;lineCharCount val=&quot;60&quot;/&gt;&lt;lineCharCount val=&quot;44&quot;/&gt;&lt;/TableIndex&gt;&lt;/ShapeTextInfo&gt;"/>
  <p:tag name="HTML_SHAPEINFO" val="&lt;ThreeDShapeInfo&gt;&lt;uuid val=&quot;&quot;/&gt;&lt;isInvalidForFieldText val=&quot;0&quot;/&gt;&lt;Image&gt;&lt;filename val=&quot;C:\Users\sanmi\Documents\My Adobe Presentations\ece552-CachePerformance\data\asimages\{49C944A0-0FCE-4D2D-965B-C91D18822EE8}_8.png&quot;/&gt;&lt;left val=&quot;27&quot;/&gt;&lt;top val=&quot;114&quot;/&gt;&lt;width val=&quot;689&quot;/&gt;&lt;height val=&quot;387&quot;/&gt;&lt;hasText val=&quot;1&quot;/&gt;&lt;/Image&gt;&lt;/ThreeDShape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1963322378,C:\Users\sanmi\GoogleDrive\UWMdrive\Courses\ECE552\ece552-lec12_CachePerformance_pptx\Media.ppcx"/>
  <p:tag name="TIMING" val="|30.6|33.7|9.7|11|5|15.9|17.4"/>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CachePerformance\data\asimages\{08C542A9-F0ED-4B17-87E0-84722C832AD1}_9.png&quot;/&gt;&lt;left val=&quot;35&quot;/&gt;&lt;top val=&quot;21&quot;/&gt;&lt;width val=&quot;588&quot;/&gt;&lt;height val=&quot;98&quot;/&gt;&lt;hasText val=&quot;1&quot;/&gt;&lt;/Image&gt;&lt;/ThreeDShape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5&quot;/&gt;&lt;lineCharCount val=&quot;43&quot;/&gt;&lt;lineCharCount val=&quot;23&quot;/&gt;&lt;lineCharCount val=&quot;37&quot;/&gt;&lt;lineCharCount val=&quot;22&quot;/&gt;&lt;/TableIndex&gt;&lt;/ShapeTextInfo&gt;"/>
  <p:tag name="HTML_SHAPEINFO" val="&lt;ThreeDShapeInfo&gt;&lt;uuid val=&quot;&quot;/&gt;&lt;isInvalidForFieldText val=&quot;0&quot;/&gt;&lt;Image&gt;&lt;filename val=&quot;C:\Users\sanmi\Documents\My Adobe Presentations\ece552-CachePerformance\data\asimages\{4CE3CE14-7A63-4321-9E29-E3165A9157DB}_9.png&quot;/&gt;&lt;left val=&quot;15&quot;/&gt;&lt;top val=&quot;108&quot;/&gt;&lt;width val=&quot;491&quot;/&gt;&lt;height val=&quot;183&quot;/&gt;&lt;hasText val=&quot;1&quot;/&gt;&lt;/Image&gt;&lt;/ThreeDShape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TableIndex row=&quot;1&quot; col=&quot;2&quot;&gt;&lt;linesCount val=&quot;1&quot;/&gt;&lt;lineCharCount val=&quot;4&quot;/&gt;&lt;/TableIndex&gt;&lt;TableIndex row=&quot;1&quot; col=&quot;3&quot;&gt;&lt;linesCount val=&quot;1&quot;/&gt;&lt;lineCharCount val=&quot;3&quot;/&gt;&lt;/TableIndex&gt;&lt;TableIndex row=&quot;2&quot; col=&quot;1&quot;&gt;&lt;linesCount val=&quot;0&quot;/&gt;&lt;/TableIndex&gt;&lt;TableIndex row=&quot;2&quot; col=&quot;2&quot;&gt;&lt;linesCount val=&quot;0&quot;/&gt;&lt;/TableIndex&gt;&lt;TableIndex row=&quot;2&quot; col=&quot;3&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4&quot; col=&quot;1&quot;&gt;&lt;linesCount val=&quot;0&quot;/&gt;&lt;/TableIndex&gt;&lt;TableIndex row=&quot;4&quot; col=&quot;2&quot;&gt;&lt;linesCount val=&quot;0&quot;/&gt;&lt;/TableIndex&gt;&lt;TableIndex row=&quot;4&quot; col=&quot;3&quot;&gt;&lt;linesCount val=&quot;0&quot;/&gt;&lt;/TableIndex&gt;&lt;TableIndex row=&quot;5&quot; col=&quot;1&quot;&gt;&lt;linesCount val=&quot;0&quot;/&gt;&lt;/TableIndex&gt;&lt;TableIndex row=&quot;5&quot; col=&quot;2&quot;&gt;&lt;linesCount val=&quot;0&quot;/&gt;&lt;/TableIndex&gt;&lt;TableIndex row=&quot;5&quot; col=&quot;3&quot;&gt;&lt;linesCount val=&quot;0&quot;/&gt;&lt;/TableIndex&gt;&lt;/ShapeTextInfo&gt;"/>
  <p:tag name="HTML_SHAPEINFO" val="&lt;ThreeDShapeInfo&gt;&lt;uuid val=&quot;&quot;/&gt;&lt;isInvalidForFieldText val=&quot;0&quot;/&gt;&lt;Image&gt;&lt;filename val=&quot;C:\Users\sanmi\Documents\My Adobe Presentations\ece552-CachePerformance\data\asimages\{4F53BBA8-D308-4BEB-BAED-A5F8424B493A}_9.png&quot;/&gt;&lt;left val=&quot;510&quot;/&gt;&lt;top val=&quot;114&quot;/&gt;&lt;width val=&quot;188&quot;/&gt;&lt;height val=&quot;285&quot;/&gt;&lt;hasText val=&quot;1&quot;/&gt;&lt;/Image&gt;&lt;/ThreeDShape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6&quot;/&gt;&lt;/TableIndex&gt;&lt;TableIndex row=&quot;2&quot; col=&quot;3&quot;&gt;&lt;linesCount val=&quot;1&quot;/&gt;&lt;lineCharCount val=&quot;1&quot;/&gt;&lt;/TableIndex&gt;&lt;TableIndex row=&quot;2&quot; col=&quot;4&quot;&gt;&lt;linesCount val=&quot;1&quot;/&gt;&lt;lineCharCount val=&quot;4&quot;/&gt;&lt;/TableIndex&gt;&lt;TableIndex row=&quot;3&quot; col=&quot;1&quot;&gt;&lt;linesCount val=&quot;1&quot;/&gt;&lt;lineCharCount val=&quot;9&quot;/&gt;&lt;/TableIndex&gt;&lt;TableIndex row=&quot;3&quot; col=&quot;2&quot;&gt;&lt;linesCount val=&quot;1&quot;/&gt;&lt;lineCharCount val=&quot;6&quot;/&gt;&lt;/TableIndex&gt;&lt;TableIndex row=&quot;3&quot; col=&quot;3&quot;&gt;&lt;linesCount val=&quot;1&quot;/&gt;&lt;lineCharCount val=&quot;1&quot;/&gt;&lt;/TableIndex&gt;&lt;TableIndex row=&quot;3&quot; col=&quot;4&quot;&gt;&lt;linesCount val=&quot;1&quot;/&gt;&lt;lineCharCount val=&quot;3&quot;/&gt;&lt;/TableIndex&gt;&lt;TableIndex row=&quot;4&quot; col=&quot;1&quot;&gt;&lt;linesCount val=&quot;1&quot;/&gt;&lt;lineCharCount val=&quot;9&quot;/&gt;&lt;/TableIndex&gt;&lt;TableIndex row=&quot;4&quot; col=&quot;2&quot;&gt;&lt;linesCount val=&quot;1&quot;/&gt;&lt;lineCharCount val=&quot;6&quot;/&gt;&lt;/TableIndex&gt;&lt;TableIndex row=&quot;4&quot; col=&quot;3&quot;&gt;&lt;linesCount val=&quot;1&quot;/&gt;&lt;lineCharCount val=&quot;1&quot;/&gt;&lt;/TableIndex&gt;&lt;TableIndex row=&quot;4&quot; col=&quot;4&quot;&gt;&lt;linesCount val=&quot;1&quot;/&gt;&lt;lineCharCount val=&quot;4&quot;/&gt;&lt;/TableIndex&gt;&lt;TableIndex row=&quot;5&quot; col=&quot;1&quot;&gt;&lt;linesCount val=&quot;1&quot;/&gt;&lt;lineCharCount val=&quot;9&quot;/&gt;&lt;/TableIndex&gt;&lt;TableIndex row=&quot;5&quot; col=&quot;2&quot;&gt;&lt;linesCount val=&quot;1&quot;/&gt;&lt;lineCharCount val=&quot;6&quot;/&gt;&lt;/TableIndex&gt;&lt;TableIndex row=&quot;5&quot; col=&quot;3&quot;&gt;&lt;linesCount val=&quot;1&quot;/&gt;&lt;lineCharCount val=&quot;1&quot;/&gt;&lt;/TableIndex&gt;&lt;TableIndex row=&quot;5&quot; col=&quot;4&quot;&gt;&lt;linesCount val=&quot;1&quot;/&gt;&lt;lineCharCount val=&quot;4&quot;/&gt;&lt;/TableIndex&gt;&lt;TableIndex row=&quot;6&quot; col=&quot;1&quot;&gt;&lt;linesCount val=&quot;1&quot;/&gt;&lt;lineCharCount val=&quot;9&quot;/&gt;&lt;/TableIndex&gt;&lt;TableIndex row=&quot;6&quot; col=&quot;2&quot;&gt;&lt;linesCount val=&quot;1&quot;/&gt;&lt;lineCharCount val=&quot;6&quot;/&gt;&lt;/TableIndex&gt;&lt;TableIndex row=&quot;6&quot; col=&quot;3&quot;&gt;&lt;linesCount val=&quot;1&quot;/&gt;&lt;lineCharCount val=&quot;1&quot;/&gt;&lt;/TableIndex&gt;&lt;TableIndex row=&quot;6&quot; col=&quot;4&quot;&gt;&lt;linesCount val=&quot;1&quot;/&gt;&lt;lineCharCount val=&quot;4&quot;/&gt;&lt;/TableIndex&gt;&lt;TableIndex row=&quot;7&quot; col=&quot;1&quot;&gt;&lt;linesCount val=&quot;1&quot;/&gt;&lt;lineCharCount val=&quot;9&quot;/&gt;&lt;/TableIndex&gt;&lt;TableIndex row=&quot;7&quot; col=&quot;2&quot;&gt;&lt;linesCount val=&quot;1&quot;/&gt;&lt;lineCharCount val=&quot;6&quot;/&gt;&lt;/TableIndex&gt;&lt;TableIndex row=&quot;7&quot; col=&quot;3&quot;&gt;&lt;linesCount val=&quot;1&quot;/&gt;&lt;lineCharCount val=&quot;1&quot;/&gt;&lt;/TableIndex&gt;&lt;TableIndex row=&quot;7&quot; col=&quot;4&quot;&gt;&lt;linesCount val=&quot;1&quot;/&gt;&lt;lineCharCount val=&quot;11&quot;/&gt;&lt;/TableIndex&gt;&lt;TableIndex row=&quot;8&quot; col=&quot;1&quot;&gt;&lt;linesCount val=&quot;1&quot;/&gt;&lt;lineCharCount val=&quot;10&quot;/&gt;&lt;/TableIndex&gt;&lt;TableIndex row=&quot;8&quot; col=&quot;2&quot;&gt;&lt;linesCount val=&quot;1&quot;/&gt;&lt;lineCharCount val=&quot;6&quot;/&gt;&lt;/TableIndex&gt;&lt;TableIndex row=&quot;8&quot; col=&quot;3&quot;&gt;&lt;linesCount val=&quot;1&quot;/&gt;&lt;lineCharCount val=&quot;1&quot;/&gt;&lt;/TableIndex&gt;&lt;TableIndex row=&quot;8&quot; col=&quot;4&quot;&gt;&lt;linesCount val=&quot;1&quot;/&gt;&lt;lineCharCount val=&quot;10&quot;/&gt;&lt;/TableIndex&gt;&lt;/ShapeTextInfo&gt;"/>
  <p:tag name="HTML_SHAPEINFO" val="&lt;ThreeDShapeInfo&gt;&lt;uuid val=&quot;&quot;/&gt;&lt;isInvalidForFieldText val=&quot;0&quot;/&gt;&lt;Image&gt;&lt;filename val=&quot;C:\Users\sanmi\Documents\My Adobe Presentations\ece552-CachePerformance\data\asimages\{DA04325E-CCCB-4B14-B834-129C600E226D}_9.png&quot;/&gt;&lt;left val=&quot;42&quot;/&gt;&lt;top val=&quot;276&quot;/&gt;&lt;width val=&quot;417&quot;/&gt;&lt;height val=&quot;244&quot;/&gt;&lt;hasText val=&quot;1&quot;/&gt;&lt;/Image&gt;&lt;/ThreeDShape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8&quot;/&gt;&lt;/TableIndex&gt;&lt;/ShapeTextInfo&gt;"/>
  <p:tag name="HTML_SHAPEINFO" val="&lt;ThreeDShapeInfo&gt;&lt;uuid val=&quot;&quot;/&gt;&lt;isInvalidForFieldText val=&quot;0&quot;/&gt;&lt;Image&gt;&lt;filename val=&quot;C:\Users\sanmi\Documents\My Adobe Presentations\ece552-CachePerformance\data\asimages\{A8D52125-16F2-45BC-97BB-6788684B51A7}_9.png&quot;/&gt;&lt;left val=&quot;513&quot;/&gt;&lt;top val=&quot;88&quot;/&gt;&lt;width val=&quot;148&quot;/&gt;&lt;height val=&quot;34&quot;/&gt;&lt;hasText val=&quot;1&quot;/&gt;&lt;/Image&gt;&lt;/ThreeDShape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2130A0F9-5EF0-4357-8176-A4A6E43AA689}_9.png&quot;/&gt;&lt;left val=&quot;599&quot;/&gt;&lt;top val=&quot;500&quot;/&gt;&lt;width val=&quot;86&quot;/&gt;&lt;height val=&quot;32&quot;/&gt;&lt;hasText val=&quot;1&quot;/&gt;&lt;/Image&gt;&lt;/ThreeDShape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BD4512E9-A15C-45D0-B8A5-0D5EFD534B31}_9.png&quot;/&gt;&lt;left val=&quot;516&quot;/&gt;&lt;top val=&quot;290&quot;/&gt;&lt;width val=&quot;54&quot;/&gt;&lt;height val=&quot;51&quot;/&gt;&lt;hasText val=&quot;1&quot;/&gt;&lt;/Image&gt;&lt;/ThreeDShape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6&quot;/&gt;&lt;/TableIndex&gt;&lt;TableIndex row=&quot;2&quot; col=&quot;3&quot;&gt;&lt;linesCount val=&quot;1&quot;/&gt;&lt;lineCharCount val=&quot;1&quot;/&gt;&lt;/TableIndex&gt;&lt;TableIndex row=&quot;2&quot; col=&quot;4&quot;&gt;&lt;linesCount val=&quot;1&quot;/&gt;&lt;lineCharCount val=&quot;4&quot;/&gt;&lt;/TableIndex&gt;&lt;TableIndex row=&quot;3&quot; col=&quot;1&quot;&gt;&lt;linesCount val=&quot;1&quot;/&gt;&lt;lineCharCount val=&quot;9&quot;/&gt;&lt;/TableIndex&gt;&lt;TableIndex row=&quot;3&quot; col=&quot;2&quot;&gt;&lt;linesCount val=&quot;1&quot;/&gt;&lt;lineCharCount val=&quot;6&quot;/&gt;&lt;/TableIndex&gt;&lt;TableIndex row=&quot;3&quot; col=&quot;3&quot;&gt;&lt;linesCount val=&quot;1&quot;/&gt;&lt;lineCharCount val=&quot;1&quot;/&gt;&lt;/TableIndex&gt;&lt;TableIndex row=&quot;3&quot; col=&quot;4&quot;&gt;&lt;linesCount val=&quot;1&quot;/&gt;&lt;lineCharCount val=&quot;3&quot;/&gt;&lt;/TableIndex&gt;&lt;TableIndex row=&quot;4&quot; col=&quot;1&quot;&gt;&lt;linesCount val=&quot;1&quot;/&gt;&lt;lineCharCount val=&quot;9&quot;/&gt;&lt;/TableIndex&gt;&lt;TableIndex row=&quot;4&quot; col=&quot;2&quot;&gt;&lt;linesCount val=&quot;1&quot;/&gt;&lt;lineCharCount val=&quot;6&quot;/&gt;&lt;/TableIndex&gt;&lt;TableIndex row=&quot;4&quot; col=&quot;3&quot;&gt;&lt;linesCount val=&quot;1&quot;/&gt;&lt;lineCharCount val=&quot;1&quot;/&gt;&lt;/TableIndex&gt;&lt;TableIndex row=&quot;4&quot; col=&quot;4&quot;&gt;&lt;linesCount val=&quot;1&quot;/&gt;&lt;lineCharCount val=&quot;4&quot;/&gt;&lt;/TableIndex&gt;&lt;TableIndex row=&quot;5&quot; col=&quot;1&quot;&gt;&lt;linesCount val=&quot;1&quot;/&gt;&lt;lineCharCount val=&quot;9&quot;/&gt;&lt;/TableIndex&gt;&lt;TableIndex row=&quot;5&quot; col=&quot;2&quot;&gt;&lt;linesCount val=&quot;1&quot;/&gt;&lt;lineCharCount val=&quot;6&quot;/&gt;&lt;/TableIndex&gt;&lt;TableIndex row=&quot;5&quot; col=&quot;3&quot;&gt;&lt;linesCount val=&quot;1&quot;/&gt;&lt;lineCharCount val=&quot;1&quot;/&gt;&lt;/TableIndex&gt;&lt;TableIndex row=&quot;5&quot; col=&quot;4&quot;&gt;&lt;linesCount val=&quot;1&quot;/&gt;&lt;lineCharCount val=&quot;4&quot;/&gt;&lt;/TableIndex&gt;&lt;TableIndex row=&quot;6&quot; col=&quot;1&quot;&gt;&lt;linesCount val=&quot;1&quot;/&gt;&lt;lineCharCount val=&quot;9&quot;/&gt;&lt;/TableIndex&gt;&lt;TableIndex row=&quot;6&quot; col=&quot;2&quot;&gt;&lt;linesCount val=&quot;1&quot;/&gt;&lt;lineCharCount val=&quot;6&quot;/&gt;&lt;/TableIndex&gt;&lt;TableIndex row=&quot;6&quot; col=&quot;3&quot;&gt;&lt;linesCount val=&quot;1&quot;/&gt;&lt;lineCharCount val=&quot;1&quot;/&gt;&lt;/TableIndex&gt;&lt;TableIndex row=&quot;6&quot; col=&quot;4&quot;&gt;&lt;linesCount val=&quot;1&quot;/&gt;&lt;lineCharCount val=&quot;4&quot;/&gt;&lt;/TableIndex&gt;&lt;TableIndex row=&quot;7&quot; col=&quot;1&quot;&gt;&lt;linesCount val=&quot;1&quot;/&gt;&lt;lineCharCount val=&quot;9&quot;/&gt;&lt;/TableIndex&gt;&lt;TableIndex row=&quot;7&quot; col=&quot;2&quot;&gt;&lt;linesCount val=&quot;1&quot;/&gt;&lt;lineCharCount val=&quot;6&quot;/&gt;&lt;/TableIndex&gt;&lt;TableIndex row=&quot;7&quot; col=&quot;3&quot;&gt;&lt;linesCount val=&quot;1&quot;/&gt;&lt;lineCharCount val=&quot;1&quot;/&gt;&lt;/TableIndex&gt;&lt;TableIndex row=&quot;7&quot; col=&quot;4&quot;&gt;&lt;linesCount val=&quot;1&quot;/&gt;&lt;lineCharCount val=&quot;11&quot;/&gt;&lt;/TableIndex&gt;&lt;/ShapeTextInfo&gt;"/>
  <p:tag name="HTML_SHAPEINFO" val="&lt;ThreeDShapeInfo&gt;&lt;uuid val=&quot;&quot;/&gt;&lt;isInvalidForFieldText val=&quot;0&quot;/&gt;&lt;Image&gt;&lt;filename val=&quot;C:\Users\sanmi\Documents\My Adobe Presentations\ece552-CachePerformance\data\asimages\{7CDEE25B-9B84-4C86-96A2-3502337D72F4}_9.png&quot;/&gt;&lt;left val=&quot;42&quot;/&gt;&lt;top val=&quot;276&quot;/&gt;&lt;width val=&quot;417&quot;/&gt;&lt;height val=&quot;216&quot;/&gt;&lt;hasText val=&quot;1&quot;/&gt;&lt;/Image&gt;&lt;/ThreeDShape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6&quot;/&gt;&lt;/TableIndex&gt;&lt;TableIndex row=&quot;2&quot; col=&quot;3&quot;&gt;&lt;linesCount val=&quot;1&quot;/&gt;&lt;lineCharCount val=&quot;1&quot;/&gt;&lt;/TableIndex&gt;&lt;TableIndex row=&quot;2&quot; col=&quot;4&quot;&gt;&lt;linesCount val=&quot;1&quot;/&gt;&lt;lineCharCount val=&quot;4&quot;/&gt;&lt;/TableIndex&gt;&lt;TableIndex row=&quot;3&quot; col=&quot;1&quot;&gt;&lt;linesCount val=&quot;1&quot;/&gt;&lt;lineCharCount val=&quot;9&quot;/&gt;&lt;/TableIndex&gt;&lt;TableIndex row=&quot;3&quot; col=&quot;2&quot;&gt;&lt;linesCount val=&quot;1&quot;/&gt;&lt;lineCharCount val=&quot;6&quot;/&gt;&lt;/TableIndex&gt;&lt;TableIndex row=&quot;3&quot; col=&quot;3&quot;&gt;&lt;linesCount val=&quot;1&quot;/&gt;&lt;lineCharCount val=&quot;1&quot;/&gt;&lt;/TableIndex&gt;&lt;TableIndex row=&quot;3&quot; col=&quot;4&quot;&gt;&lt;linesCount val=&quot;1&quot;/&gt;&lt;lineCharCount val=&quot;3&quot;/&gt;&lt;/TableIndex&gt;&lt;TableIndex row=&quot;4&quot; col=&quot;1&quot;&gt;&lt;linesCount val=&quot;1&quot;/&gt;&lt;lineCharCount val=&quot;9&quot;/&gt;&lt;/TableIndex&gt;&lt;TableIndex row=&quot;4&quot; col=&quot;2&quot;&gt;&lt;linesCount val=&quot;1&quot;/&gt;&lt;lineCharCount val=&quot;6&quot;/&gt;&lt;/TableIndex&gt;&lt;TableIndex row=&quot;4&quot; col=&quot;3&quot;&gt;&lt;linesCount val=&quot;1&quot;/&gt;&lt;lineCharCount val=&quot;1&quot;/&gt;&lt;/TableIndex&gt;&lt;TableIndex row=&quot;4&quot; col=&quot;4&quot;&gt;&lt;linesCount val=&quot;1&quot;/&gt;&lt;lineCharCount val=&quot;4&quot;/&gt;&lt;/TableIndex&gt;&lt;TableIndex row=&quot;5&quot; col=&quot;1&quot;&gt;&lt;linesCount val=&quot;1&quot;/&gt;&lt;lineCharCount val=&quot;9&quot;/&gt;&lt;/TableIndex&gt;&lt;TableIndex row=&quot;5&quot; col=&quot;2&quot;&gt;&lt;linesCount val=&quot;1&quot;/&gt;&lt;lineCharCount val=&quot;6&quot;/&gt;&lt;/TableIndex&gt;&lt;TableIndex row=&quot;5&quot; col=&quot;3&quot;&gt;&lt;linesCount val=&quot;1&quot;/&gt;&lt;lineCharCount val=&quot;1&quot;/&gt;&lt;/TableIndex&gt;&lt;TableIndex row=&quot;5&quot; col=&quot;4&quot;&gt;&lt;linesCount val=&quot;1&quot;/&gt;&lt;lineCharCount val=&quot;4&quot;/&gt;&lt;/TableIndex&gt;&lt;TableIndex row=&quot;6&quot; col=&quot;1&quot;&gt;&lt;linesCount val=&quot;1&quot;/&gt;&lt;lineCharCount val=&quot;9&quot;/&gt;&lt;/TableIndex&gt;&lt;TableIndex row=&quot;6&quot; col=&quot;2&quot;&gt;&lt;linesCount val=&quot;1&quot;/&gt;&lt;lineCharCount val=&quot;6&quot;/&gt;&lt;/TableIndex&gt;&lt;TableIndex row=&quot;6&quot; col=&quot;3&quot;&gt;&lt;linesCount val=&quot;1&quot;/&gt;&lt;lineCharCount val=&quot;1&quot;/&gt;&lt;/TableIndex&gt;&lt;TableIndex row=&quot;6&quot; col=&quot;4&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FD2343F3-F729-4443-807B-2FF6F9A90715}_9.png&quot;/&gt;&lt;left val=&quot;42&quot;/&gt;&lt;top val=&quot;276&quot;/&gt;&lt;width val=&quot;416&quot;/&gt;&lt;height val=&quot;187&quot;/&gt;&lt;hasText val=&quot;1&quot;/&gt;&lt;/Image&gt;&lt;/ThreeDShape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6&quot;/&gt;&lt;/TableIndex&gt;&lt;TableIndex row=&quot;2&quot; col=&quot;3&quot;&gt;&lt;linesCount val=&quot;1&quot;/&gt;&lt;lineCharCount val=&quot;1&quot;/&gt;&lt;/TableIndex&gt;&lt;TableIndex row=&quot;2&quot; col=&quot;4&quot;&gt;&lt;linesCount val=&quot;1&quot;/&gt;&lt;lineCharCount val=&quot;4&quot;/&gt;&lt;/TableIndex&gt;&lt;TableIndex row=&quot;3&quot; col=&quot;1&quot;&gt;&lt;linesCount val=&quot;1&quot;/&gt;&lt;lineCharCount val=&quot;9&quot;/&gt;&lt;/TableIndex&gt;&lt;TableIndex row=&quot;3&quot; col=&quot;2&quot;&gt;&lt;linesCount val=&quot;1&quot;/&gt;&lt;lineCharCount val=&quot;6&quot;/&gt;&lt;/TableIndex&gt;&lt;TableIndex row=&quot;3&quot; col=&quot;3&quot;&gt;&lt;linesCount val=&quot;1&quot;/&gt;&lt;lineCharCount val=&quot;1&quot;/&gt;&lt;/TableIndex&gt;&lt;TableIndex row=&quot;3&quot; col=&quot;4&quot;&gt;&lt;linesCount val=&quot;1&quot;/&gt;&lt;lineCharCount val=&quot;3&quot;/&gt;&lt;/TableIndex&gt;&lt;TableIndex row=&quot;4&quot; col=&quot;1&quot;&gt;&lt;linesCount val=&quot;1&quot;/&gt;&lt;lineCharCount val=&quot;9&quot;/&gt;&lt;/TableIndex&gt;&lt;TableIndex row=&quot;4&quot; col=&quot;2&quot;&gt;&lt;linesCount val=&quot;1&quot;/&gt;&lt;lineCharCount val=&quot;6&quot;/&gt;&lt;/TableIndex&gt;&lt;TableIndex row=&quot;4&quot; col=&quot;3&quot;&gt;&lt;linesCount val=&quot;1&quot;/&gt;&lt;lineCharCount val=&quot;1&quot;/&gt;&lt;/TableIndex&gt;&lt;TableIndex row=&quot;4&quot; col=&quot;4&quot;&gt;&lt;linesCount val=&quot;1&quot;/&gt;&lt;lineCharCount val=&quot;4&quot;/&gt;&lt;/TableIndex&gt;&lt;TableIndex row=&quot;5&quot; col=&quot;1&quot;&gt;&lt;linesCount val=&quot;1&quot;/&gt;&lt;lineCharCount val=&quot;9&quot;/&gt;&lt;/TableIndex&gt;&lt;TableIndex row=&quot;5&quot; col=&quot;2&quot;&gt;&lt;linesCount val=&quot;1&quot;/&gt;&lt;lineCharCount val=&quot;6&quot;/&gt;&lt;/TableIndex&gt;&lt;TableIndex row=&quot;5&quot; col=&quot;3&quot;&gt;&lt;linesCount val=&quot;1&quot;/&gt;&lt;lineCharCount val=&quot;1&quot;/&gt;&lt;/TableIndex&gt;&lt;TableIndex row=&quot;5&quot; col=&quot;4&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D45D4197-1F2C-4FBE-A0A5-83085FE123F9}_9.png&quot;/&gt;&lt;left val=&quot;42&quot;/&gt;&lt;top val=&quot;276&quot;/&gt;&lt;width val=&quot;416&quot;/&gt;&lt;height val=&quot;158&quot;/&gt;&lt;hasText val=&quot;1&quot;/&gt;&lt;/Image&gt;&lt;/ThreeDShape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6&quot;/&gt;&lt;/TableIndex&gt;&lt;TableIndex row=&quot;2&quot; col=&quot;3&quot;&gt;&lt;linesCount val=&quot;1&quot;/&gt;&lt;lineCharCount val=&quot;1&quot;/&gt;&lt;/TableIndex&gt;&lt;TableIndex row=&quot;2&quot; col=&quot;4&quot;&gt;&lt;linesCount val=&quot;1&quot;/&gt;&lt;lineCharCount val=&quot;4&quot;/&gt;&lt;/TableIndex&gt;&lt;TableIndex row=&quot;3&quot; col=&quot;1&quot;&gt;&lt;linesCount val=&quot;1&quot;/&gt;&lt;lineCharCount val=&quot;9&quot;/&gt;&lt;/TableIndex&gt;&lt;TableIndex row=&quot;3&quot; col=&quot;2&quot;&gt;&lt;linesCount val=&quot;1&quot;/&gt;&lt;lineCharCount val=&quot;6&quot;/&gt;&lt;/TableIndex&gt;&lt;TableIndex row=&quot;3&quot; col=&quot;3&quot;&gt;&lt;linesCount val=&quot;1&quot;/&gt;&lt;lineCharCount val=&quot;1&quot;/&gt;&lt;/TableIndex&gt;&lt;TableIndex row=&quot;3&quot; col=&quot;4&quot;&gt;&lt;linesCount val=&quot;1&quot;/&gt;&lt;lineCharCount val=&quot;3&quot;/&gt;&lt;/TableIndex&gt;&lt;TableIndex row=&quot;4&quot; col=&quot;1&quot;&gt;&lt;linesCount val=&quot;1&quot;/&gt;&lt;lineCharCount val=&quot;9&quot;/&gt;&lt;/TableIndex&gt;&lt;TableIndex row=&quot;4&quot; col=&quot;2&quot;&gt;&lt;linesCount val=&quot;1&quot;/&gt;&lt;lineCharCount val=&quot;6&quot;/&gt;&lt;/TableIndex&gt;&lt;TableIndex row=&quot;4&quot; col=&quot;3&quot;&gt;&lt;linesCount val=&quot;1&quot;/&gt;&lt;lineCharCount val=&quot;1&quot;/&gt;&lt;/TableIndex&gt;&lt;TableIndex row=&quot;4&quot; col=&quot;4&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CCCFBA71-FD60-48D5-9F72-DBD146F73B49}_9.png&quot;/&gt;&lt;left val=&quot;42&quot;/&gt;&lt;top val=&quot;276&quot;/&gt;&lt;width val=&quot;416&quot;/&gt;&lt;height val=&quot;129&quot;/&gt;&lt;hasText val=&quot;1&quot;/&gt;&lt;/Image&gt;&lt;/ThreeDShape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6&quot;/&gt;&lt;/TableIndex&gt;&lt;TableIndex row=&quot;2&quot; col=&quot;3&quot;&gt;&lt;linesCount val=&quot;1&quot;/&gt;&lt;lineCharCount val=&quot;1&quot;/&gt;&lt;/TableIndex&gt;&lt;TableIndex row=&quot;2&quot; col=&quot;4&quot;&gt;&lt;linesCount val=&quot;1&quot;/&gt;&lt;lineCharCount val=&quot;4&quot;/&gt;&lt;/TableIndex&gt;&lt;TableIndex row=&quot;3&quot; col=&quot;1&quot;&gt;&lt;linesCount val=&quot;1&quot;/&gt;&lt;lineCharCount val=&quot;9&quot;/&gt;&lt;/TableIndex&gt;&lt;TableIndex row=&quot;3&quot; col=&quot;2&quot;&gt;&lt;linesCount val=&quot;1&quot;/&gt;&lt;lineCharCount val=&quot;6&quot;/&gt;&lt;/TableIndex&gt;&lt;TableIndex row=&quot;3&quot; col=&quot;3&quot;&gt;&lt;linesCount val=&quot;1&quot;/&gt;&lt;lineCharCount val=&quot;1&quot;/&gt;&lt;/TableIndex&gt;&lt;TableIndex row=&quot;3&quot; col=&quot;4&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2CEDA66B-B062-45BB-8EFC-9FA74439FA75}_9.png&quot;/&gt;&lt;left val=&quot;42&quot;/&gt;&lt;top val=&quot;276&quot;/&gt;&lt;width val=&quot;416&quot;/&gt;&lt;height val=&quot;100&quot;/&gt;&lt;hasText val=&quot;1&quot;/&gt;&lt;/Image&gt;&lt;/ThreeDShape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6&quot;/&gt;&lt;/TableIndex&gt;&lt;TableIndex row=&quot;2&quot; col=&quot;3&quot;&gt;&lt;linesCount val=&quot;1&quot;/&gt;&lt;lineCharCount val=&quot;1&quot;/&gt;&lt;/TableIndex&gt;&lt;TableIndex row=&quot;2&quot; col=&quot;4&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8D57FEC5-7A24-4000-B19C-1DBA26EA861E}_9.png&quot;/&gt;&lt;left val=&quot;42&quot;/&gt;&lt;top val=&quot;276&quot;/&gt;&lt;width val=&quot;416&quot;/&gt;&lt;height val=&quot;72&quot;/&gt;&lt;hasText val=&quot;1&quot;/&gt;&lt;/Image&gt;&lt;/ThreeDShape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TableIndex row=&quot;1&quot; col=&quot;2&quot;&gt;&lt;linesCount val=&quot;1&quot;/&gt;&lt;lineCharCount val=&quot;6&quot;/&gt;&lt;/TableIndex&gt;&lt;TableIndex row=&quot;1&quot; col=&quot;3&quot;&gt;&lt;linesCount val=&quot;1&quot;/&gt;&lt;lineCharCount val=&quot;3&quot;/&gt;&lt;/TableIndex&gt;&lt;TableIndex row=&quot;1&quot; col=&quot;4&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E9BF66A1-55C8-4D90-B557-B98FE0A43C52}_9.png&quot;/&gt;&lt;left val=&quot;42&quot;/&gt;&lt;top val=&quot;276&quot;/&gt;&lt;width val=&quot;416&quot;/&gt;&lt;height val=&quot;43&quot;/&gt;&lt;hasText val=&quot;1&quot;/&gt;&lt;/Image&gt;&lt;/ThreeDShape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D12AF965-684F-479F-BD26-A914F084D6A4}_9.png&quot;/&gt;&lt;left val=&quot;638&quot;/&gt;&lt;top val=&quot;181&quot;/&gt;&lt;width val=&quot;51&quot;/&gt;&lt;height val=&quot;51&quot;/&gt;&lt;hasText val=&quot;1&quot;/&gt;&lt;/Image&gt;&lt;/ThreeDShape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F07F60A7-4E3D-4404-8D3C-7EE50818FCE9}_9.png&quot;/&gt;&lt;left val=&quot;638&quot;/&gt;&lt;top val=&quot;236&quot;/&gt;&lt;width val=&quot;51&quot;/&gt;&lt;height val=&quot;51&quot;/&gt;&lt;hasText val=&quot;1&quot;/&gt;&lt;/Image&gt;&lt;/ThreeDShape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089F8B44-51A5-4A76-9ACF-F9AFC982420A}_9.png&quot;/&gt;&lt;left val=&quot;638&quot;/&gt;&lt;top val=&quot;288&quot;/&gt;&lt;width val=&quot;51&quot;/&gt;&lt;height val=&quot;51&quot;/&gt;&lt;hasText val=&quot;1&quot;/&gt;&lt;/Image&gt;&lt;/ThreeDShape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0EC08E6F-2661-4438-88D9-C26718B4D5D4}_9.png&quot;/&gt;&lt;left val=&quot;638&quot;/&gt;&lt;top val=&quot;346&quot;/&gt;&lt;width val=&quot;51&quot;/&gt;&lt;height val=&quot;51&quot;/&gt;&lt;hasText val=&quot;1&quot;/&gt;&lt;/Image&gt;&lt;/ThreeDShape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956F6FBE-A38F-4172-BD46-C556DE618CFD}_9.png&quot;/&gt;&lt;left val=&quot;638&quot;/&gt;&lt;top val=&quot;288&quot;/&gt;&lt;width val=&quot;51&quot;/&gt;&lt;height val=&quot;51&quot;/&gt;&lt;hasText val=&quot;1&quot;/&gt;&lt;/Image&gt;&lt;/ThreeDShape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CE4C8DCE-7C84-47C5-A628-A0A981931073}_9.png&quot;/&gt;&lt;left val=&quot;516&quot;/&gt;&lt;top val=&quot;346&quot;/&gt;&lt;width val=&quot;54&quot;/&gt;&lt;height val=&quot;51&quot;/&gt;&lt;hasText val=&quot;1&quot;/&gt;&lt;/Image&gt;&lt;/ThreeDShape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5B7E86D7-76B0-4631-B1AA-001EC461E9E9}_9.png&quot;/&gt;&lt;left val=&quot;638&quot;/&gt;&lt;top val=&quot;346&quot;/&gt;&lt;width val=&quot;51&quot;/&gt;&lt;height val=&quot;51&quot;/&gt;&lt;hasText val=&quot;1&quot;/&gt;&lt;/Image&gt;&lt;/ThreeDShape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562D6428-5619-40F8-AC4C-F99AD46ACFF0}_9.png&quot;/&gt;&lt;left val=&quot;516&quot;/&gt;&lt;top val=&quot;181&quot;/&gt;&lt;width val=&quot;54&quot;/&gt;&lt;height val=&quot;51&quot;/&gt;&lt;hasText val=&quot;1&quot;/&gt;&lt;/Image&gt;&lt;/ThreeDShape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9213B827-56E5-4439-A9C8-5F4C479C0247}_9.png&quot;/&gt;&lt;left val=&quot;638&quot;/&gt;&lt;top val=&quot;181&quot;/&gt;&lt;width val=&quot;51&quot;/&gt;&lt;height val=&quot;51&quot;/&gt;&lt;hasText val=&quot;1&quot;/&gt;&lt;/Image&gt;&lt;/ThreeDShape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75D4EDF2-F445-47D2-813C-C9185C08A562}_9.png&quot;/&gt;&lt;left val=&quot;576&quot;/&gt;&lt;top val=&quot;181&quot;/&gt;&lt;width val=&quot;54&quot;/&gt;&lt;height val=&quot;51&quot;/&gt;&lt;hasText val=&quot;1&quot;/&gt;&lt;/Image&gt;&lt;/ThreeDShape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CD72BE65-411D-4DAC-9ED2-8A70CF1DD1B8}_9.png&quot;/&gt;&lt;left val=&quot;516&quot;/&gt;&lt;top val=&quot;181&quot;/&gt;&lt;width val=&quot;54&quot;/&gt;&lt;height val=&quot;51&quot;/&gt;&lt;hasText val=&quot;1&quot;/&gt;&lt;/Image&gt;&lt;/ThreeDShape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9A99D095-2CFE-4790-A395-84C8A27487C0}_9.png&quot;/&gt;&lt;left val=&quot;544&quot;/&gt;&lt;top val=&quot;290&quot;/&gt;&lt;width val=&quot;42&quot;/&gt;&lt;height val=&quot;51&quot;/&gt;&lt;hasText val=&quot;1&quot;/&gt;&lt;/Image&gt;&lt;/ThreeDShapeInfo&gt;"/>
</p:tagLst>
</file>

<file path=ppt/tags/tag145.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1963322378,C:\Users\sanmi\GoogleDrive\UWMdrive\Courses\ECE552\ece552-lec12_CachePerformance_pptx\Media.ppcx"/>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quot;/&gt;&lt;isInvalidForFieldText val=&quot;0&quot;/&gt;&lt;Image&gt;&lt;filename val=&quot;C:\Users\sanmi\Documents\My Adobe Presentations\ece552-CachePerformance\data\asimages\{2D585E3C-BC86-4214-848C-A231D6DA8E84}_10.png&quot;/&gt;&lt;left val=&quot;35&quot;/&gt;&lt;top val=&quot;21&quot;/&gt;&lt;width val=&quot;588&quot;/&gt;&lt;height val=&quot;98&quot;/&gt;&lt;hasText val=&quot;1&quot;/&gt;&lt;/Image&gt;&lt;/ThreeDShape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D2FC0191-199B-4F7C-8F99-21FF0F98B273}_10.png&quot;/&gt;&lt;left val=&quot;599&quot;/&gt;&lt;top val=&quot;500&quot;/&gt;&lt;width val=&quot;84&quot;/&gt;&lt;height val=&quot;29&quot;/&gt;&lt;hasText val=&quot;1&quot;/&gt;&lt;/Image&gt;&lt;/ThreeDShape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0&quot;/&gt;&lt;/TableIndex&gt;&lt;TableIndex row=&quot;1&quot; col=&quot;3&quot;&gt;&lt;linesCount val=&quot;1&quot;/&gt;&lt;lineCharCount val=&quot;3&quot;/&gt;&lt;/TableIndex&gt;&lt;TableIndex row=&quot;1&quot; col=&quot;4&quot;&gt;&lt;linesCount val=&quot;0&quot;/&gt;&lt;/TableIndex&gt;&lt;TableIndex row=&quot;1&quot; col=&quot;5&quot;&gt;&lt;linesCount val=&quot;1&quot;/&gt;&lt;lineCharCount val=&quot;4&quot;/&gt;&lt;/TableIndex&gt;&lt;TableIndex row=&quot;1&quot; col=&quot;6&quot;&gt;&lt;linesCount val=&quot;0&quot;/&gt;&lt;/TableIndex&gt;&lt;TableIndex row=&quot;1&quot; col=&quot;7&quot;&gt;&lt;linesCount val=&quot;1&quot;/&gt;&lt;lineCharCount val=&quot;4&quot;/&gt;&lt;/TableIndex&gt;&lt;TableIndex row=&quot;2&quot; col=&quot;1&quot;&gt;&lt;linesCount val=&quot;0&quot;/&gt;&lt;/TableIndex&gt;&lt;TableIndex row=&quot;2&quot; col=&quot;2&quot;&gt;&lt;linesCount val=&quot;1&quot;/&gt;&lt;lineCharCount val=&quot;5&quot;/&gt;&lt;/TableIndex&gt;&lt;TableIndex row=&quot;2&quot; col=&quot;3&quot;&gt;&lt;linesCount val=&quot;0&quot;/&gt;&lt;/TableIndex&gt;&lt;TableIndex row=&quot;2&quot; col=&quot;4&quot;&gt;&lt;linesCount val=&quot;0&quot;/&gt;&lt;/TableIndex&gt;&lt;TableIndex row=&quot;2&quot; col=&quot;5&quot;&gt;&lt;linesCount val=&quot;0&quot;/&gt;&lt;/TableIndex&gt;&lt;TableIndex row=&quot;2&quot; col=&quot;6&quot;&gt;&lt;linesCount val=&quot;1&quot;/&gt;&lt;lineCharCount val=&quot;5&quot;/&gt;&lt;/TableIndex&gt;&lt;TableIndex row=&quot;2&quot; col=&quot;7&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4&quot; col=&quot;1&quot;&gt;&lt;linesCount val=&quot;0&quot;/&gt;&lt;/TableIndex&gt;&lt;TableIndex row=&quot;4&quot; col=&quot;2&quot;&gt;&lt;linesCount val=&quot;0&quot;/&gt;&lt;/TableIndex&gt;&lt;TableIndex row=&quot;4&quot; col=&quot;3&quot;&gt;&lt;linesCount val=&quot;1&quot;/&gt;&lt;lineCharCount val=&quot;1&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1&quot;/&gt;&lt;lineCharCount val=&quot;3&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ShapeTextInfo&gt;"/>
  <p:tag name="HTML_SHAPEINFO" val="&lt;ThreeDShapeInfo&gt;&lt;uuid val=&quot;&quot;/&gt;&lt;isInvalidForFieldText val=&quot;0&quot;/&gt;&lt;Image&gt;&lt;filename val=&quot;C:\Users\sanmi\Documents\My Adobe Presentations\ece552-CachePerformance\data\asimages\{9C124662-F8A9-4B0C-B74C-9682476A67C8}_10.png&quot;/&gt;&lt;left val=&quot;214&quot;/&gt;&lt;top val=&quot;222&quot;/&gt;&lt;width val=&quot;454&quot;/&gt;&lt;height val=&quot;180&quot;/&gt;&lt;hasText val=&quot;1&quot;/&gt;&lt;/Image&gt;&lt;/ThreeDShape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C8F7C6A0-DDF4-4C06-B1CF-F073A59A73C9}_10.png&quot;/&gt;&lt;left val=&quot;351&quot;/&gt;&lt;top val=&quot;405&quot;/&gt;&lt;width val=&quot;55&quot;/&gt;&lt;height val=&quot;68&quot;/&gt;&lt;hasText val=&quot;1&quot;/&gt;&lt;/Image&gt;&lt;/ThreeDShape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E2C88A72-DB94-48B0-8158-11B6EF76511C}_10.png&quot;/&gt;&lt;left val=&quot;197&quot;/&gt;&lt;top val=&quot;191&quot;/&gt;&lt;width val=&quot;78&quot;/&gt;&lt;height val=&quot;39&quot;/&gt;&lt;hasText val=&quot;1&quot;/&gt;&lt;/Image&gt;&lt;/ThreeDShape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7281A5CF-4657-45A8-85D7-69E93B35EC12}_10.png&quot;/&gt;&lt;left val=&quot;303&quot;/&gt;&lt;top val=&quot;191&quot;/&gt;&lt;width val=&quot;82&quot;/&gt;&lt;height val=&quot;39&quot;/&gt;&lt;hasText val=&quot;1&quot;/&gt;&lt;/Image&gt;&lt;/ThreeDShape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1A2A8F43-B587-4010-A5F7-B1235548AC8D}_10.png&quot;/&gt;&lt;left val=&quot;455&quot;/&gt;&lt;top val=&quot;191&quot;/&gt;&lt;width val=&quot;78&quot;/&gt;&lt;height val=&quot;39&quot;/&gt;&lt;hasText val=&quot;1&quot;/&gt;&lt;/Image&gt;&lt;/ThreeDShape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2A7DF100-F68E-4305-93B2-81AE2B29EAB9}_10.png&quot;/&gt;&lt;left val=&quot;591&quot;/&gt;&lt;top val=&quot;191&quot;/&gt;&lt;width val=&quot;82&quot;/&gt;&lt;height val=&quot;39&quot;/&gt;&lt;hasText val=&quot;1&quot;/&gt;&lt;/Image&gt;&lt;/ThreeDShape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6FDBD476-32E2-4866-A35E-9AD616D08F82}_10.png&quot;/&gt;&lt;left val=&quot;372&quot;/&gt;&lt;top val=&quot;408&quot;/&gt;&lt;width val=&quot;85&quot;/&gt;&lt;height val=&quot;39&quot;/&gt;&lt;hasText val=&quot;1&quot;/&gt;&lt;/Image&gt;&lt;/ThreeDShape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CachePerformance\data\asimages\{B27D61FF-7CC2-4AC5-868B-5430B477290A}_10.png&quot;/&gt;&lt;left val=&quot;23&quot;/&gt;&lt;top val=&quot;113&quot;/&gt;&lt;width val=&quot;162&quot;/&gt;&lt;height val=&quot;39&quot;/&gt;&lt;hasText val=&quot;1&quot;/&gt;&lt;/Image&gt;&lt;/ThreeDShape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35006D3F-07D6-4859-A16A-2A65995D0A83}_10.png&quot;/&gt;&lt;left val=&quot;563&quot;/&gt;&lt;top val=&quot;503&quot;/&gt;&lt;width val=&quot;84&quot;/&gt;&lt;height val=&quot;39&quot;/&gt;&lt;hasText val=&quot;1&quot;/&gt;&lt;/Image&gt;&lt;/ThreeDShape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9B55835D-506D-4AE4-9770-D2BC46FB58C1}_10.png&quot;/&gt;&lt;left val=&quot;83&quot;/&gt;&lt;top val=&quot;401&quot;/&gt;&lt;width val=&quot;84&quot;/&gt;&lt;height val=&quot;39&quot;/&gt;&lt;hasText val=&quot;1&quot;/&gt;&lt;/Image&gt;&lt;/ThreeDShapeInfo&gt;"/>
</p:tagLst>
</file>

<file path=ppt/tags/tag1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78F71E69-D919-4F60-84CF-5F8E671ACF1D}_10.png&quot;/&gt;&lt;left val=&quot;137&quot;/&gt;&lt;top val=&quot;300&quot;/&gt;&lt;width val=&quot;84&quot;/&gt;&lt;height val=&quot;39&quot;/&gt;&lt;hasText val=&quot;1&quot;/&gt;&lt;/Image&gt;&lt;/ThreeDShapeInfo&gt;"/>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CachePerformance\data\asimages\{F7325976-E67E-4575-AA48-917E65EFAEB4}_10.png&quot;/&gt;&lt;left val=&quot;22&quot;/&gt;&lt;top val=&quot;144&quot;/&gt;&lt;width val=&quot;166&quot;/&gt;&lt;height val=&quot;39&quot;/&gt;&lt;hasText val=&quot;1&quot;/&gt;&lt;/Image&gt;&lt;/ThreeDShape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86909B60-9CF4-4F0D-B419-9CC38E025E0B}_10.png&quot;/&gt;&lt;left val=&quot;240&quot;/&gt;&lt;top val=&quot;404&quot;/&gt;&lt;width val=&quot;55&quot;/&gt;&lt;height val=&quot;68&quot;/&gt;&lt;hasText val=&quot;1&quot;/&gt;&lt;/Image&gt;&lt;/ThreeDShapeInfo&gt;"/>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7E7CA9ED-140B-4631-9D5D-34732B46FA81}_10.png&quot;/&gt;&lt;left val=&quot;263&quot;/&gt;&lt;top val=&quot;407&quot;/&gt;&lt;width val=&quot;84&quot;/&gt;&lt;height val=&quot;39&quot;/&gt;&lt;hasText val=&quot;1&quot;/&gt;&lt;/Image&gt;&lt;/ThreeDShapeInfo&gt;"/>
</p:tagLst>
</file>

<file path=ppt/tags/tag163.xml><?xml version="1.0" encoding="utf-8"?>
<p:tagLst xmlns:a="http://schemas.openxmlformats.org/drawingml/2006/main" xmlns:r="http://schemas.openxmlformats.org/officeDocument/2006/relationships" xmlns:p="http://schemas.openxmlformats.org/presentationml/2006/main">
  <p:tag name="PRESENTER_SHAPEINFO" val="&lt;ThreeDShapeInfo&gt;&lt;uuid val=&quot;{A612F64E-7EF5-4DA1-BF38-096A721D8913}&quot;/&gt;&lt;isInvalidForFieldText val=&quot;0&quot;/&gt;&lt;Image&gt;&lt;filename val=&quot;C:\Users\sanmi\Documents\My Adobe Presentations\ece552-CachePerformance\data\asimages\{A612F64E-7EF5-4DA1-BF38-096A721D8913}_10.png&quot;/&gt;&lt;left val=&quot;580&quot;/&gt;&lt;top val=&quot;465&quot;/&gt;&lt;width val=&quot;51&quot;/&gt;&lt;height val=&quot;43&quot;/&gt;&lt;hasText val=&quot;1&quot;/&gt;&lt;/Image&gt;&lt;/ThreeDShape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4F1BE0AD-7B0F-483B-B8F5-566DE4995EA9}_10.png&quot;/&gt;&lt;left val=&quot;20&quot;/&gt;&lt;top val=&quot;448&quot;/&gt;&lt;width val=&quot;141&quot;/&gt;&lt;height val=&quot;38&quot;/&gt;&lt;hasText val=&quot;1&quot;/&gt;&lt;/Image&gt;&lt;/ThreeDShape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8&quot;/&gt;&lt;/TableIndex&gt;&lt;/ShapeTextInfo&gt;"/>
  <p:tag name="HTML_SHAPEINFO" val="&lt;ThreeDShapeInfo&gt;&lt;uuid val=&quot;&quot;/&gt;&lt;isInvalidForFieldText val=&quot;0&quot;/&gt;&lt;Image&gt;&lt;filename val=&quot;C:\Users\sanmi\Documents\My Adobe Presentations\ece552-CachePerformance\data\asimages\{B0381B5F-181F-4001-9752-2C8A56E1BA10}_10.png&quot;/&gt;&lt;left val=&quot;65&quot;/&gt;&lt;top val=&quot;300&quot;/&gt;&lt;width val=&quot;84&quot;/&gt;&lt;height val=&quot;60&quot;/&gt;&lt;hasText val=&quot;1&quot;/&gt;&lt;/Image&gt;&lt;/ThreeDShape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5&quot;/&gt;&lt;lineCharCount val=&quot;23&quot;/&gt;&lt;/TableIndex&gt;&lt;/ShapeTextInfo&gt;"/>
  <p:tag name="HTML_SHAPEINFO" val="&lt;ThreeDShapeInfo&gt;&lt;uuid val=&quot;&quot;/&gt;&lt;isInvalidForFieldText val=&quot;0&quot;/&gt;&lt;Image&gt;&lt;filename val=&quot;C:\Users\sanmi\Documents\My Adobe Presentations\ece552-CachePerformance\data\asimages\{D00FD923-0535-406D-99FA-12491E2C9436}_10.png&quot;/&gt;&lt;left val=&quot;25&quot;/&gt;&lt;top val=&quot;487&quot;/&gt;&lt;width val=&quot;199&quot;/&gt;&lt;height val=&quot;60&quot;/&gt;&lt;hasText val=&quot;1&quot;/&gt;&lt;/Image&gt;&lt;/ThreeDShape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1963322378,C:\Users\sanmi\GoogleDrive\UWMdrive\Courses\ECE552\ece552-lec12_CachePerformance_pptx\Media.ppcx"/>
  <p:tag name="TIMING" val="|30"/>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 name="HTML_SHAPEINFO" val="&lt;ThreeDShapeInfo&gt;&lt;uuid val=&quot;&quot;/&gt;&lt;isInvalidForFieldText val=&quot;0&quot;/&gt;&lt;Image&gt;&lt;filename val=&quot;C:\Users\sanmi\Documents\My Adobe Presentations\ece552-CachePerformance\data\asimages\{CB88DF64-D190-4E31-9AFC-E35EE8DA196E}_11.png&quot;/&gt;&lt;left val=&quot;35&quot;/&gt;&lt;top val=&quot;21&quot;/&gt;&lt;width val=&quot;588&quot;/&gt;&lt;height val=&quot;98&quot;/&gt;&lt;hasText val=&quot;1&quot;/&gt;&lt;/Image&gt;&lt;/ThreeDShape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BC74BDA2-4993-462C-9CFA-708E67FEF7E7}_11.png&quot;/&gt;&lt;left val=&quot;599&quot;/&gt;&lt;top val=&quot;500&quot;/&gt;&lt;width val=&quot;84&quot;/&gt;&lt;height val=&quot;29&quot;/&gt;&lt;hasText val=&quot;1&quot;/&gt;&lt;/Image&gt;&lt;/ThreeDShape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TableIndex row=&quot;1&quot; col=&quot;2&quot;&gt;&lt;linesCount val=&quot;0&quot;/&gt;&lt;/TableIndex&gt;&lt;TableIndex row=&quot;1&quot; col=&quot;3&quot;&gt;&lt;linesCount val=&quot;1&quot;/&gt;&lt;lineCharCount val=&quot;3&quot;/&gt;&lt;/TableIndex&gt;&lt;TableIndex row=&quot;1&quot; col=&quot;4&quot;&gt;&lt;linesCount val=&quot;0&quot;/&gt;&lt;/TableIndex&gt;&lt;TableIndex row=&quot;1&quot; col=&quot;5&quot;&gt;&lt;linesCount val=&quot;1&quot;/&gt;&lt;lineCharCount val=&quot;4&quot;/&gt;&lt;/TableIndex&gt;&lt;TableIndex row=&quot;1&quot; col=&quot;6&quot;&gt;&lt;linesCount val=&quot;0&quot;/&gt;&lt;/TableIndex&gt;&lt;TableIndex row=&quot;1&quot; col=&quot;7&quot;&gt;&lt;linesCount val=&quot;1&quot;/&gt;&lt;lineCharCount val=&quot;4&quot;/&gt;&lt;/TableIndex&gt;&lt;TableIndex row=&quot;2&quot; col=&quot;1&quot;&gt;&lt;linesCount val=&quot;0&quot;/&gt;&lt;/TableIndex&gt;&lt;TableIndex row=&quot;2&quot; col=&quot;2&quot;&gt;&lt;linesCount val=&quot;1&quot;/&gt;&lt;lineCharCount val=&quot;5&quot;/&gt;&lt;/TableIndex&gt;&lt;TableIndex row=&quot;2&quot; col=&quot;3&quot;&gt;&lt;linesCount val=&quot;0&quot;/&gt;&lt;/TableIndex&gt;&lt;TableIndex row=&quot;2&quot; col=&quot;4&quot;&gt;&lt;linesCount val=&quot;0&quot;/&gt;&lt;/TableIndex&gt;&lt;TableIndex row=&quot;2&quot; col=&quot;5&quot;&gt;&lt;linesCount val=&quot;0&quot;/&gt;&lt;/TableIndex&gt;&lt;TableIndex row=&quot;2&quot; col=&quot;6&quot;&gt;&lt;linesCount val=&quot;1&quot;/&gt;&lt;lineCharCount val=&quot;5&quot;/&gt;&lt;/TableIndex&gt;&lt;TableIndex row=&quot;2&quot; col=&quot;7&quot;&gt;&lt;linesCount val=&quot;0&quot;/&gt;&lt;/TableIndex&gt;&lt;TableIndex row=&quot;3&quot; col=&quot;1&quot;&gt;&lt;linesCount val=&quot;0&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0&quot;/&gt;&lt;/TableIndex&gt;&lt;TableIndex row=&quot;4&quot; col=&quot;1&quot;&gt;&lt;linesCount val=&quot;0&quot;/&gt;&lt;/TableIndex&gt;&lt;TableIndex row=&quot;4&quot; col=&quot;2&quot;&gt;&lt;linesCount val=&quot;0&quot;/&gt;&lt;/TableIndex&gt;&lt;TableIndex row=&quot;4&quot; col=&quot;3&quot;&gt;&lt;linesCount val=&quot;1&quot;/&gt;&lt;lineCharCount val=&quot;1&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1&quot;/&gt;&lt;lineCharCount val=&quot;3&quot;/&gt;&lt;/TableIndex&gt;&lt;TableIndex row=&quot;5&quot; col=&quot;1&quot;&gt;&lt;linesCount val=&quot;0&quot;/&gt;&lt;/TableIndex&gt;&lt;TableIndex row=&quot;5&quot; col=&quot;2&quot;&gt;&lt;linesCount val=&quot;0&quot;/&gt;&lt;/TableIndex&gt;&lt;TableIndex row=&quot;5&quot; col=&quot;3&quot;&gt;&lt;linesCount val=&quot;0&quot;/&gt;&lt;/TableIndex&gt;&lt;TableIndex row=&quot;5&quot; col=&quot;4&quot;&gt;&lt;linesCount val=&quot;0&quot;/&gt;&lt;/TableIndex&gt;&lt;TableIndex row=&quot;5&quot; col=&quot;5&quot;&gt;&lt;linesCount val=&quot;0&quot;/&gt;&lt;/TableIndex&gt;&lt;TableIndex row=&quot;5&quot; col=&quot;6&quot;&gt;&lt;linesCount val=&quot;0&quot;/&gt;&lt;/TableIndex&gt;&lt;TableIndex row=&quot;5&quot; col=&quot;7&quot;&gt;&lt;linesCount val=&quot;0&quot;/&gt;&lt;/TableIndex&gt;&lt;TableIndex row=&quot;6&quot; col=&quot;1&quot;&gt;&lt;linesCount val=&quot;0&quot;/&gt;&lt;/TableIndex&gt;&lt;TableIndex row=&quot;6&quot; col=&quot;2&quot;&gt;&lt;linesCount val=&quot;0&quot;/&gt;&lt;/TableIndex&gt;&lt;TableIndex row=&quot;6&quot; col=&quot;3&quot;&gt;&lt;linesCount val=&quot;0&quot;/&gt;&lt;/TableIndex&gt;&lt;TableIndex row=&quot;6&quot; col=&quot;4&quot;&gt;&lt;linesCount val=&quot;0&quot;/&gt;&lt;/TableIndex&gt;&lt;TableIndex row=&quot;6&quot; col=&quot;5&quot;&gt;&lt;linesCount val=&quot;0&quot;/&gt;&lt;/TableIndex&gt;&lt;TableIndex row=&quot;6&quot; col=&quot;6&quot;&gt;&lt;linesCount val=&quot;0&quot;/&gt;&lt;/TableIndex&gt;&lt;TableIndex row=&quot;6&quot; col=&quot;7&quot;&gt;&lt;linesCount val=&quot;0&quot;/&gt;&lt;/TableIndex&gt;&lt;/ShapeTextInfo&gt;"/>
  <p:tag name="HTML_SHAPEINFO" val="&lt;ThreeDShapeInfo&gt;&lt;uuid val=&quot;&quot;/&gt;&lt;isInvalidForFieldText val=&quot;0&quot;/&gt;&lt;Image&gt;&lt;filename val=&quot;C:\Users\sanmi\Documents\My Adobe Presentations\ece552-CachePerformance\data\asimages\{B853FA02-9E32-4F2B-8CE1-7C76F5CC4D43}_11.png&quot;/&gt;&lt;left val=&quot;214&quot;/&gt;&lt;top val=&quot;222&quot;/&gt;&lt;width val=&quot;454&quot;/&gt;&lt;height val=&quot;180&quot;/&gt;&lt;hasText val=&quot;1&quot;/&gt;&lt;/Image&gt;&lt;/ThreeDShape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509ACC01-A4F6-4C38-9C86-58782EC502ED}_11.png&quot;/&gt;&lt;left val=&quot;351&quot;/&gt;&lt;top val=&quot;405&quot;/&gt;&lt;width val=&quot;55&quot;/&gt;&lt;height val=&quot;68&quot;/&gt;&lt;hasText val=&quot;1&quot;/&gt;&lt;/Image&gt;&lt;/ThreeDShape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8F31728D-476E-4738-8AB1-99D644200FDC}_11.png&quot;/&gt;&lt;left val=&quot;197&quot;/&gt;&lt;top val=&quot;191&quot;/&gt;&lt;width val=&quot;78&quot;/&gt;&lt;height val=&quot;39&quot;/&gt;&lt;hasText val=&quot;1&quot;/&gt;&lt;/Image&gt;&lt;/ThreeDShape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2A0F9A0F-AE16-4ED1-9031-76E1B906D1E4}_11.png&quot;/&gt;&lt;left val=&quot;303&quot;/&gt;&lt;top val=&quot;191&quot;/&gt;&lt;width val=&quot;82&quot;/&gt;&lt;height val=&quot;39&quot;/&gt;&lt;hasText val=&quot;1&quot;/&gt;&lt;/Image&gt;&lt;/ThreeDShape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ShapeTextInfo&gt;"/>
  <p:tag name="HTML_SHAPEINFO" val="&lt;ThreeDShapeInfo&gt;&lt;uuid val=&quot;&quot;/&gt;&lt;isInvalidForFieldText val=&quot;0&quot;/&gt;&lt;Image&gt;&lt;filename val=&quot;C:\Users\sanmi\Documents\My Adobe Presentations\ece552-CachePerformance\data\asimages\{AC6F9ED5-4DD8-4317-8831-68CFBA072F9D}_11.png&quot;/&gt;&lt;left val=&quot;455&quot;/&gt;&lt;top val=&quot;191&quot;/&gt;&lt;width val=&quot;78&quot;/&gt;&lt;height val=&quot;39&quot;/&gt;&lt;hasText val=&quot;1&quot;/&gt;&lt;/Image&gt;&lt;/ThreeDShape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quot;/&gt;&lt;/TableIndex&gt;&lt;/ShapeTextInfo&gt;"/>
  <p:tag name="HTML_SHAPEINFO" val="&lt;ThreeDShapeInfo&gt;&lt;uuid val=&quot;&quot;/&gt;&lt;isInvalidForFieldText val=&quot;0&quot;/&gt;&lt;Image&gt;&lt;filename val=&quot;C:\Users\sanmi\Documents\My Adobe Presentations\ece552-CachePerformance\data\asimages\{EF9E711C-A6E2-445A-8E57-DB5B9834E986}_11.png&quot;/&gt;&lt;left val=&quot;591&quot;/&gt;&lt;top val=&quot;191&quot;/&gt;&lt;width val=&quot;82&quot;/&gt;&lt;height val=&quot;39&quot;/&gt;&lt;hasText val=&quot;1&quot;/&gt;&lt;/Image&gt;&lt;/ThreeDShape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89388D0E-0372-4917-82E0-9C5EE2127FB5}_11.png&quot;/&gt;&lt;left val=&quot;372&quot;/&gt;&lt;top val=&quot;408&quot;/&gt;&lt;width val=&quot;85&quot;/&gt;&lt;height val=&quot;39&quot;/&gt;&lt;hasText val=&quot;1&quot;/&gt;&lt;/Image&gt;&lt;/ThreeDShape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ShapeTextInfo&gt;"/>
  <p:tag name="HTML_SHAPEINFO" val="&lt;ThreeDShapeInfo&gt;&lt;uuid val=&quot;&quot;/&gt;&lt;isInvalidForFieldText val=&quot;0&quot;/&gt;&lt;Image&gt;&lt;filename val=&quot;C:\Users\sanmi\Documents\My Adobe Presentations\ece552-CachePerformance\data\asimages\{B65CC3FF-ADE7-4068-A5A6-6479CCF50658}_11.png&quot;/&gt;&lt;left val=&quot;23&quot;/&gt;&lt;top val=&quot;113&quot;/&gt;&lt;width val=&quot;162&quot;/&gt;&lt;height val=&quot;39&quot;/&gt;&lt;hasText val=&quot;1&quot;/&gt;&lt;/Image&gt;&lt;/ThreeDShape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C6E08A0D-F290-4CB4-BD79-41C361DD7347}_11.png&quot;/&gt;&lt;left val=&quot;563&quot;/&gt;&lt;top val=&quot;503&quot;/&gt;&lt;width val=&quot;84&quot;/&gt;&lt;height val=&quot;39&quot;/&gt;&lt;hasText val=&quot;1&quot;/&gt;&lt;/Image&gt;&lt;/ThreeDShape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141223F2-9905-40BD-8DDB-9CE65B0FB891}_11.png&quot;/&gt;&lt;left val=&quot;17&quot;/&gt;&lt;top val=&quot;401&quot;/&gt;&lt;width val=&quot;84&quot;/&gt;&lt;height val=&quot;39&quot;/&gt;&lt;hasText val=&quot;1&quot;/&gt;&lt;/Image&gt;&lt;/ThreeDShape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 name="HTML_SHAPEINFO" val="&lt;ThreeDShapeInfo&gt;&lt;uuid val=&quot;&quot;/&gt;&lt;isInvalidForFieldText val=&quot;0&quot;/&gt;&lt;Image&gt;&lt;filename val=&quot;C:\Users\sanmi\Documents\My Adobe Presentations\ece552-CachePerformance\data\asimages\{ED03ECBF-97A0-4582-B1B0-9D8A0D0C8553}_11.png&quot;/&gt;&lt;left val=&quot;240&quot;/&gt;&lt;top val=&quot;404&quot;/&gt;&lt;width val=&quot;55&quot;/&gt;&lt;height val=&quot;68&quot;/&gt;&lt;hasText val=&quot;1&quot;/&gt;&lt;/Image&gt;&lt;/ThreeDShape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 name="HTML_SHAPEINFO" val="&lt;ThreeDShapeInfo&gt;&lt;uuid val=&quot;&quot;/&gt;&lt;isInvalidForFieldText val=&quot;0&quot;/&gt;&lt;Image&gt;&lt;filename val=&quot;C:\Users\sanmi\Documents\My Adobe Presentations\ece552-CachePerformance\data\asimages\{0C08AFD7-94C1-44A3-976A-B6C14C247FDD}_11.png&quot;/&gt;&lt;left val=&quot;263&quot;/&gt;&lt;top val=&quot;407&quot;/&gt;&lt;width val=&quot;84&quot;/&gt;&lt;height val=&quot;39&quot;/&gt;&lt;hasText val=&quot;1&quot;/&gt;&lt;/Image&gt;&lt;/ThreeDShapeInfo&gt;"/>
</p:tagLst>
</file>

<file path=ppt/tags/tag1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C95C9F46-DBBB-4886-B32F-2F5D2D1769A3}&quot;/&gt;&lt;isInvalidForFieldText val=&quot;0&quot;/&gt;&lt;Image&gt;&lt;filename val=&quot;C:\Users\sanmi\Documents\My Adobe Presentations\ece552-CachePerformance\data\asimages\{C95C9F46-DBBB-4886-B32F-2F5D2D1769A3}_11.png&quot;/&gt;&lt;left val=&quot;580&quot;/&gt;&lt;top val=&quot;465&quot;/&gt;&lt;width val=&quot;51&quot;/&gt;&lt;height val=&quot;43&quot;/&gt;&lt;hasText val=&quot;1&quot;/&gt;&lt;/Image&gt;&lt;/ThreeDShape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6A404B9F-593C-49E4-9E61-2E28F51E7401}_11.png&quot;/&gt;&lt;left val=&quot;20&quot;/&gt;&lt;top val=&quot;448&quot;/&gt;&lt;width val=&quot;141&quot;/&gt;&lt;height val=&quot;38&quot;/&gt;&lt;hasText val=&quot;1&quot;/&gt;&lt;/Image&gt;&lt;/ThreeDShape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8&quot;/&gt;&lt;/TableIndex&gt;&lt;/ShapeTextInfo&gt;"/>
  <p:tag name="HTML_SHAPEINFO" val="&lt;ThreeDShapeInfo&gt;&lt;uuid val=&quot;&quot;/&gt;&lt;isInvalidForFieldText val=&quot;0&quot;/&gt;&lt;Image&gt;&lt;filename val=&quot;C:\Users\sanmi\Documents\My Adobe Presentations\ece552-CachePerformance\data\asimages\{21560819-8C49-4368-B9AF-04F130918C25}_11.png&quot;/&gt;&lt;left val=&quot;65&quot;/&gt;&lt;top val=&quot;358&quot;/&gt;&lt;width val=&quot;84&quot;/&gt;&lt;height val=&quot;60&quot;/&gt;&lt;hasText val=&quot;1&quot;/&gt;&lt;/Image&gt;&lt;/ThreeDShape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8&quot;/&gt;&lt;/TableIndex&gt;&lt;/ShapeTextInfo&gt;"/>
  <p:tag name="HTML_SHAPEINFO" val="&lt;ThreeDShapeInfo&gt;&lt;uuid val=&quot;&quot;/&gt;&lt;isInvalidForFieldText val=&quot;0&quot;/&gt;&lt;Image&gt;&lt;filename val=&quot;C:\Users\sanmi\Documents\My Adobe Presentations\ece552-CachePerformance\data\asimages\{E08648DE-9886-418D-851A-9F00845CD589}_11.png&quot;/&gt;&lt;left val=&quot;244&quot;/&gt;&lt;top val=&quot;132&quot;/&gt;&lt;width val=&quot;84&quot;/&gt;&lt;height val=&quot;60&quot;/&gt;&lt;hasText val=&quot;1&quot;/&gt;&lt;/Image&gt;&lt;/ThreeDShape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6&quot;/&gt;&lt;/TableIndex&gt;&lt;/ShapeTextInfo&gt;"/>
  <p:tag name="HTML_SHAPEINFO" val="&lt;ThreeDShapeInfo&gt;&lt;uuid val=&quot;&quot;/&gt;&lt;isInvalidForFieldText val=&quot;0&quot;/&gt;&lt;Image&gt;&lt;filename val=&quot;C:\Users\sanmi\Documents\My Adobe Presentations\ece552-CachePerformance\data\asimages\{9C7F7700-5319-4081-91A4-EF7165EA71AC}_11.png&quot;/&gt;&lt;left val=&quot;22&quot;/&gt;&lt;top val=&quot;144&quot;/&gt;&lt;width val=&quot;166&quot;/&gt;&lt;height val=&quot;39&quot;/&gt;&lt;hasText val=&quot;1&quot;/&gt;&lt;/Image&gt;&lt;/ThreeDShape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0&quot;/&gt;&lt;/TableIndex&gt;&lt;/ShapeTextInfo&gt;"/>
  <p:tag name="HTML_SHAPEINFO" val="&lt;ThreeDShapeInfo&gt;&lt;uuid val=&quot;&quot;/&gt;&lt;isInvalidForFieldText val=&quot;0&quot;/&gt;&lt;Image&gt;&lt;filename val=&quot;C:\Users\sanmi\Documents\My Adobe Presentations\ece552-CachePerformance\data\asimages\{C6D0D2B0-F380-402D-A6BA-C421910C4D9A}_11.png&quot;/&gt;&lt;left val=&quot;25&quot;/&gt;&lt;top val=&quot;491&quot;/&gt;&lt;width val=&quot;329&quot;/&gt;&lt;height val=&quot;45&quot;/&gt;&lt;hasText val=&quot;1&quot;/&gt;&lt;/Image&gt;&lt;/ThreeDShape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12&quot;/&gt;&lt;lineCharCount val=&quot;32&quot;/&gt;&lt;lineCharCount val=&quot;63&quot;/&gt;&lt;lineCharCount val=&quot;1&quot;/&gt;&lt;lineCharCount val=&quot;35&quot;/&gt;&lt;lineCharCount val=&quot;24&quot;/&gt;&lt;lineCharCount val=&quot;23&quot;/&gt;&lt;/TableIndex&gt;&lt;/ShapeTextInfo&gt;"/>
  <p:tag name="HTML_SHAPEINFO" val="&lt;ThreeDShapeInfo&gt;&lt;uuid val=&quot;&quot;/&gt;&lt;isInvalidForFieldText val=&quot;0&quot;/&gt;&lt;Image&gt;&lt;filename val=&quot;C:\Users\sanmi\Documents\My Adobe Presentations\ece552-CachePerformance\data\asimages\{02B8C2A5-4FF7-4E1B-AB38-841945DFA48E}_11.png&quot;/&gt;&lt;left val=&quot;0&quot;/&gt;&lt;top val=&quot;302&quot;/&gt;&lt;width val=&quot;720&quot;/&gt;&lt;height val=&quot;224&quot;/&gt;&lt;hasText val=&quot;1&quot;/&gt;&lt;/Image&gt;&lt;/ThreeDShape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1963322378,C:\Users\sanmi\GoogleDrive\UWMdrive\Courses\ECE552\ece552-lec12_CachePerformance_pptx\Media.ppcx"/>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HTML_SHAPEINFO" val="&lt;ThreeDShapeInfo&gt;&lt;uuid val=&quot;&quot;/&gt;&lt;isInvalidForFieldText val=&quot;0&quot;/&gt;&lt;Image&gt;&lt;filename val=&quot;C:\Users\sanmi\Documents\My Adobe Presentations\ece552-CachePerformance\data\asimages\{60CF6B14-7D91-43F0-9026-3EC64FF78F36}_12.png&quot;/&gt;&lt;left val=&quot;35&quot;/&gt;&lt;top val=&quot;21&quot;/&gt;&lt;width val=&quot;588&quot;/&gt;&lt;height val=&quot;98&quot;/&gt;&lt;hasText val=&quot;1&quot;/&gt;&lt;/Image&gt;&lt;/ThreeDShape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DF3FCF3C-5FD1-4A83-ACD9-190DCBFD98F8}_12.png&quot;/&gt;&lt;left val=&quot;599&quot;/&gt;&lt;top val=&quot;500&quot;/&gt;&lt;width val=&quot;84&quot;/&gt;&lt;height val=&quot;29&quot;/&gt;&lt;hasText val=&quot;1&quot;/&gt;&lt;/Image&gt;&lt;/ThreeDShapeInfo&gt;"/>
</p:tagLst>
</file>

<file path=ppt/tags/tag1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17&quot;/&gt;&lt;lineCharCount val=&quot;48&quot;/&gt;&lt;lineCharCount val=&quot;29&quot;/&gt;&lt;lineCharCount val=&quot;40&quot;/&gt;&lt;lineCharCount val=&quot;1&quot;/&gt;&lt;lineCharCount val=&quot;54&quot;/&gt;&lt;lineCharCount val=&quot;23&quot;/&gt;&lt;lineCharCount val=&quot;36&quot;/&gt;&lt;/TableIndex&gt;&lt;/ShapeTextInfo&gt;"/>
  <p:tag name="HTML_SHAPEINFO" val="&lt;ThreeDShapeInfo&gt;&lt;uuid val=&quot;&quot;/&gt;&lt;isInvalidForFieldText val=&quot;0&quot;/&gt;&lt;Image&gt;&lt;filename val=&quot;C:\Users\sanmi\Documents\My Adobe Presentations\ece552-CachePerformance\data\asimages\{C38D1E41-EFE5-4186-A253-6183ABAA6C14}_12.png&quot;/&gt;&lt;left val=&quot;23&quot;/&gt;&lt;top val=&quot;112&quot;/&gt;&lt;width val=&quot;660&quot;/&gt;&lt;height val=&quot;370&quot;/&gt;&lt;hasText val=&quot;1&quot;/&gt;&lt;/Image&gt;&lt;/ThreeDShapeInfo&gt;"/>
</p:tagLst>
</file>

<file path=ppt/tags/tag200.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1963322378,C:\Users\sanmi\GoogleDrive\UWMdrive\Courses\ECE552\ece552-lec12_CachePerformance_pptx\Media.ppcx"/>
  <p:tag name="TIMING" val="|30.2"/>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HTML_SHAPEINFO" val="&lt;ThreeDShapeInfo&gt;&lt;uuid val=&quot;&quot;/&gt;&lt;isInvalidForFieldText val=&quot;0&quot;/&gt;&lt;Image&gt;&lt;filename val=&quot;C:\Users\sanmi\Documents\My Adobe Presentations\ece552-CachePerformance\data\asimages\{36ECD084-9754-4439-8BEA-FA042B09F4FE}_13.png&quot;/&gt;&lt;left val=&quot;35&quot;/&gt;&lt;top val=&quot;21&quot;/&gt;&lt;width val=&quot;588&quot;/&gt;&lt;height val=&quot;98&quot;/&gt;&lt;hasText val=&quot;1&quot;/&gt;&lt;/Image&gt;&lt;/ThreeDShape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24313941-982A-45E9-82F8-7167750F4BCE}_13.png&quot;/&gt;&lt;left val=&quot;599&quot;/&gt;&lt;top val=&quot;500&quot;/&gt;&lt;width val=&quot;84&quot;/&gt;&lt;height val=&quot;29&quot;/&gt;&lt;hasText val=&quot;1&quot;/&gt;&lt;/Image&gt;&lt;/ThreeDShape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17&quot;/&gt;&lt;lineCharCount val=&quot;52&quot;/&gt;&lt;lineCharCount val=&quot;57&quot;/&gt;&lt;lineCharCount val=&quot;35&quot;/&gt;&lt;lineCharCount val=&quot;30&quot;/&gt;&lt;lineCharCount val=&quot;1&quot;/&gt;&lt;lineCharCount val=&quot;52&quot;/&gt;&lt;lineCharCount val=&quot;54&quot;/&gt;&lt;lineCharCount val=&quot;17&quot;/&gt;&lt;lineCharCount val=&quot;29&quot;/&gt;&lt;/TableIndex&gt;&lt;/ShapeTextInfo&gt;"/>
  <p:tag name="HTML_SHAPEINFO" val="&lt;TextEffect&gt;&lt;Image&gt;&lt;filename val=&quot;C:\Users\sanmi\Documents\My Adobe Presentations\ece552-CachePerformance\data\asimages\{0F276B70-FF60-4B0E-9AFA-2BE3C9949A2E}_1.png_crop.png&quot;/&gt;&lt;left val=&quot;44&quot;/&gt;&lt;top val=&quot;130&quot;/&gt;&lt;width val=&quot;207&quot;/&gt;&lt;height val=&quot;22&quot;/&gt;&lt;hasText val=&quot;1&quot;/&gt;&lt;paraId val=&quot;1&quot;/&gt;&lt;/Image&gt;&lt;Image&gt;&lt;filename val=&quot;C:\Users\sanmi\Documents\My Adobe Presentations\ece552-CachePerformance\data\asimages\{4D3509D1-E9E4-4B05-99DB-7CE303D0EF7A}_1.png_crop.png&quot;/&gt;&lt;left val=&quot;44&quot;/&gt;&lt;top val=&quot;167&quot;/&gt;&lt;width val=&quot;626&quot;/&gt;&lt;height val=&quot;78&quot;/&gt;&lt;hasText val=&quot;1&quot;/&gt;&lt;paraId val=&quot;2&quot;/&gt;&lt;/Image&gt;&lt;Image&gt;&lt;filename val=&quot;C:\Users\sanmi\Documents\My Adobe Presentations\ece552-CachePerformance\data\asimages\{21E5EE35-53E0-4832-A2F5-51787C601F40}_1.png_crop.png&quot;/&gt;&lt;left val=&quot;78&quot;/&gt;&lt;top val=&quot;253&quot;/&gt;&lt;width val=&quot;293&quot;/&gt;&lt;height val=&quot;21&quot;/&gt;&lt;hasText val=&quot;1&quot;/&gt;&lt;paraId val=&quot;3&quot;/&gt;&lt;/Image&gt;&lt;Image&gt;&lt;filename val=&quot;C:\Users\sanmi\Documents\My Adobe Presentations\ece552-CachePerformance\data\asimages\{698F8DC2-B17F-43A9-AEF6-1C2835645CD1}_1.png_crop.png&quot;/&gt;&lt;left val=&quot;683&quot;/&gt;&lt;top val=&quot;482&quot;/&gt;&lt;width val=&quot;0&quot;/&gt;&lt;height val=&quot;0&quot;/&gt;&lt;hasText val=&quot;1&quot;/&gt;&lt;paraId val=&quot;4&quot;/&gt;&lt;/Image&gt;&lt;Image&gt;&lt;filename val=&quot;C:\Users\sanmi\Documents\My Adobe Presentations\ece552-CachePerformance\data\asimages\{1008E9E4-663C-4FC8-A4F1-AB7A6BCDF65B}_1.png_crop.png&quot;/&gt;&lt;left val=&quot;44&quot;/&gt;&lt;top val=&quot;312&quot;/&gt;&lt;width val=&quot;601&quot;/&gt;&lt;height val=&quot;73&quot;/&gt;&lt;hasText val=&quot;1&quot;/&gt;&lt;paraId val=&quot;5&quot;/&gt;&lt;/Image&gt;&lt;Image&gt;&lt;filename val=&quot;C:\Users\sanmi\Documents\My Adobe Presentations\ece552-CachePerformance\data\asimages\{D01CB90F-BC1E-4D40-984D-C2A5A4A4AC05}_1.png_crop.png&quot;/&gt;&lt;left val=&quot;78&quot;/&gt;&lt;top val=&quot;398&quot;/&gt;&lt;width val=&quot;325&quot;/&gt;&lt;height val=&quot;21&quot;/&gt;&lt;hasText val=&quot;1&quot;/&gt;&lt;paraId val=&quot;6&quot;/&gt;&lt;/Image&gt;&lt;/TextEffect&gt;"/>
</p:tagLst>
</file>

<file path=ppt/tags/tag204.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1963322378,C:\Users\sanmi\GoogleDrive\UWMdrive\Courses\ECE552\ece552-lec12_CachePerformance_pptx\Media.ppcx"/>
  <p:tag name="TIMING" val="|51|14.2"/>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HTML_SHAPEINFO" val="&lt;ThreeDShapeInfo&gt;&lt;uuid val=&quot;&quot;/&gt;&lt;isInvalidForFieldText val=&quot;0&quot;/&gt;&lt;Image&gt;&lt;filename val=&quot;C:\Users\sanmi\Documents\My Adobe Presentations\ece552-CachePerformance\data\asimages\{FE8285FB-29D3-4F05-A56B-21DE32E0997C}_14.png&quot;/&gt;&lt;left val=&quot;35&quot;/&gt;&lt;top val=&quot;21&quot;/&gt;&lt;width val=&quot;588&quot;/&gt;&lt;height val=&quot;98&quot;/&gt;&lt;hasText val=&quot;1&quot;/&gt;&lt;/Image&gt;&lt;/ThreeDShape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F2EE2CE7-FC9F-4579-B2CC-58CF133F0595}_14.png&quot;/&gt;&lt;left val=&quot;599&quot;/&gt;&lt;top val=&quot;500&quot;/&gt;&lt;width val=&quot;84&quot;/&gt;&lt;height val=&quot;29&quot;/&gt;&lt;hasText val=&quot;1&quot;/&gt;&lt;/Image&gt;&lt;/ThreeDShape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4&quot;/&gt;&lt;lineCharCount val=&quot;51&quot;/&gt;&lt;lineCharCount val=&quot;54&quot;/&gt;&lt;lineCharCount val=&quot;47&quot;/&gt;&lt;lineCharCount val=&quot;50&quot;/&gt;&lt;lineCharCount val=&quot;66&quot;/&gt;&lt;lineCharCount val=&quot;14&quot;/&gt;&lt;lineCharCount val=&quot;28&quot;/&gt;&lt;lineCharCount val=&quot;23&quot;/&gt;&lt;lineCharCount val=&quot;1&quot;/&gt;&lt;lineCharCount val=&quot;27&quot;/&gt;&lt;lineCharCount val=&quot;46&quot;/&gt;&lt;lineCharCount val=&quot;1&quot;/&gt;&lt;lineCharCount val=&quot;46&quot;/&gt;&lt;lineCharCount val=&quot;65&quot;/&gt;&lt;/TableIndex&gt;&lt;/ShapeTextInfo&gt;"/>
  <p:tag name="HTML_SHAPEINFO" val="&lt;TextEffect&gt;&lt;Image&gt;&lt;filename val=&quot;C:\Users\sanmi\Documents\My Adobe Presentations\ece552-CachePerformance\data\asimages\{FB122FBC-49F0-43CC-8FCC-4D213A0894B2}_1.png_crop.png&quot;/&gt;&lt;left val=&quot;42&quot;/&gt;&lt;top val=&quot;129&quot;/&gt;&lt;width val=&quot;616&quot;/&gt;&lt;height val=&quot;105&quot;/&gt;&lt;hasText val=&quot;1&quot;/&gt;&lt;paraId val=&quot;1&quot;/&gt;&lt;/Image&gt;&lt;Image&gt;&lt;filename val=&quot;C:\Users\sanmi\Documents\My Adobe Presentations\ece552-CachePerformance\data\asimages\{A4262A2C-B57E-48D3-9A0B-A34DEB12F690}_1.png_crop.png&quot;/&gt;&lt;left val=&quot;44&quot;/&gt;&lt;top val=&quot;243&quot;/&gt;&lt;width val=&quot;618&quot;/&gt;&lt;height val=&quot;45&quot;/&gt;&lt;hasText val=&quot;1&quot;/&gt;&lt;paraId val=&quot;2&quot;/&gt;&lt;/Image&gt;&lt;Image&gt;&lt;filename val=&quot;C:\Users\sanmi\Documents\My Adobe Presentations\ece552-CachePerformance\data\asimages\{7C2E847C-8FB1-45BD-8132-88B4573568B9}_1.png_crop.png&quot;/&gt;&lt;left val=&quot;78&quot;/&gt;&lt;top val=&quot;295&quot;/&gt;&lt;width val=&quot;245&quot;/&gt;&lt;height val=&quot;18&quot;/&gt;&lt;hasText val=&quot;1&quot;/&gt;&lt;paraId val=&quot;3&quot;/&gt;&lt;/Image&gt;&lt;Image&gt;&lt;filename val=&quot;C:\Users\sanmi\Documents\My Adobe Presentations\ece552-CachePerformance\data\asimages\{5E004BFF-22FA-4602-ACE4-7C25E3AC3F67}_1.png_crop.png&quot;/&gt;&lt;left val=&quot;78&quot;/&gt;&lt;top val=&quot;318&quot;/&gt;&lt;width val=&quot;182&quot;/&gt;&lt;height val=&quot;18&quot;/&gt;&lt;hasText val=&quot;1&quot;/&gt;&lt;paraId val=&quot;4&quot;/&gt;&lt;/Image&gt;&lt;Image&gt;&lt;filename val=&quot;C:\Users\sanmi\Documents\My Adobe Presentations\ece552-CachePerformance\data\asimages\{35A6028E-C765-41E6-B6D6-968561BE72B9}_1.png_crop.png&quot;/&gt;&lt;left val=&quot;683&quot;/&gt;&lt;top val=&quot;529&quot;/&gt;&lt;width val=&quot;0&quot;/&gt;&lt;height val=&quot;0&quot;/&gt;&lt;hasText val=&quot;1&quot;/&gt;&lt;paraId val=&quot;5&quot;/&gt;&lt;/Image&gt;&lt;Image&gt;&lt;filename val=&quot;C:\Users\sanmi\Documents\My Adobe Presentations\ece552-CachePerformance\data\asimages\{BF3C1354-45E7-436F-B79B-6380CE4CCD65}_1.png_crop.png&quot;/&gt;&lt;left val=&quot;44&quot;/&gt;&lt;top val=&quot;367&quot;/&gt;&lt;width val=&quot;268&quot;/&gt;&lt;height val=&quot;20&quot;/&gt;&lt;hasText val=&quot;1&quot;/&gt;&lt;paraId val=&quot;6&quot;/&gt;&lt;/Image&gt;&lt;Image&gt;&lt;filename val=&quot;C:\Users\sanmi\Documents\My Adobe Presentations\ece552-CachePerformance\data\asimages\{079D0DB0-F98B-4705-9BB2-944F3033A403}_1.png_crop.png&quot;/&gt;&lt;left val=&quot;78&quot;/&gt;&lt;top val=&quot;394&quot;/&gt;&lt;width val=&quot;377&quot;/&gt;&lt;height val=&quot;19&quot;/&gt;&lt;hasText val=&quot;1&quot;/&gt;&lt;paraId val=&quot;7&quot;/&gt;&lt;/Image&gt;&lt;Image&gt;&lt;filename val=&quot;C:\Users\sanmi\Documents\My Adobe Presentations\ece552-CachePerformance\data\asimages\{5DC58358-AC07-458A-B0CA-279184368A4F}_1.png_crop.png&quot;/&gt;&lt;left val=&quot;683&quot;/&gt;&lt;top val=&quot;529&quot;/&gt;&lt;width val=&quot;0&quot;/&gt;&lt;height val=&quot;0&quot;/&gt;&lt;hasText val=&quot;1&quot;/&gt;&lt;paraId val=&quot;8&quot;/&gt;&lt;/Image&gt;&lt;Image&gt;&lt;filename val=&quot;C:\Users\sanmi\Documents\My Adobe Presentations\ece552-CachePerformance\data\asimages\{EB868E3F-4016-4133-AE95-2B316C45DFF8}_1.png_crop.png&quot;/&gt;&lt;left val=&quot;44&quot;/&gt;&lt;top val=&quot;444&quot;/&gt;&lt;width val=&quot;453&quot;/&gt;&lt;height val=&quot;20&quot;/&gt;&lt;hasText val=&quot;1&quot;/&gt;&lt;paraId val=&quot;9&quot;/&gt;&lt;/Image&gt;&lt;Image&gt;&lt;filename val=&quot;C:\Users\sanmi\Documents\My Adobe Presentations\ece552-CachePerformance\data\asimages\{A56DEA18-DFC6-4A99-A9CB-59FB95A5B833}_1.png_crop.png&quot;/&gt;&lt;left val=&quot;78&quot;/&gt;&lt;top val=&quot;471&quot;/&gt;&lt;width val=&quot;531&quot;/&gt;&lt;height val=&quot;19&quot;/&gt;&lt;hasText val=&quot;1&quot;/&gt;&lt;paraId val=&quot;10&quot;/&gt;&lt;/Image&gt;&lt;/TextEffect&gt;"/>
</p:tagLst>
</file>

<file path=ppt/tags/tag208.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1963322378,C:\Users\sanmi\GoogleDrive\UWMdrive\Courses\ECE552\ece552-lec12_CachePerformance_pptx\Media.ppcx"/>
  <p:tag name="TIMING" val="|34.7|24.9"/>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HTML_SHAPEINFO" val="&lt;ThreeDShapeInfo&gt;&lt;uuid val=&quot;&quot;/&gt;&lt;isInvalidForFieldText val=&quot;0&quot;/&gt;&lt;Image&gt;&lt;filename val=&quot;C:\Users\sanmi\Documents\My Adobe Presentations\ece552-CachePerformance\data\asimages\{65895179-D577-4907-884D-80AEC8BBE477}_15.png&quot;/&gt;&lt;left val=&quot;35&quot;/&gt;&lt;top val=&quot;21&quot;/&gt;&lt;width val=&quot;588&quot;/&gt;&lt;height val=&quot;98&quot;/&gt;&lt;hasText val=&quot;1&quot;/&gt;&lt;/Image&gt;&lt;/ThreeDShape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D2025FBA-F0E0-45CF-B2CD-DED9C44DBC63}_15.png&quot;/&gt;&lt;left val=&quot;599&quot;/&gt;&lt;top val=&quot;500&quot;/&gt;&lt;width val=&quot;84&quot;/&gt;&lt;height val=&quot;29&quot;/&gt;&lt;hasText val=&quot;1&quot;/&gt;&lt;/Image&gt;&lt;/ThreeDShape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47&quot;/&gt;&lt;lineCharCount val=&quot;46&quot;/&gt;&lt;lineCharCount val=&quot;43&quot;/&gt;&lt;lineCharCount val=&quot;23&quot;/&gt;&lt;lineCharCount val=&quot;52&quot;/&gt;&lt;lineCharCount val=&quot;44&quot;/&gt;&lt;lineCharCount val=&quot;32&quot;/&gt;&lt;/TableIndex&gt;&lt;/ShapeTextInfo&gt;"/>
  <p:tag name="HTML_SHAPEINFO" val="&lt;TextEffect&gt;&lt;Image&gt;&lt;filename val=&quot;C:\Users\sanmi\Documents\My Adobe Presentations\ece552-CachePerformance\data\asimages\{A7E02CD9-9A1D-467A-81C1-52BFC6A63991}_1.png_crop.png&quot;/&gt;&lt;left val=&quot;43&quot;/&gt;&lt;top val=&quot;130&quot;/&gt;&lt;width val=&quot;605&quot;/&gt;&lt;height val=&quot;114&quot;/&gt;&lt;hasText val=&quot;1&quot;/&gt;&lt;paraId val=&quot;1&quot;/&gt;&lt;/Image&gt;&lt;Image&gt;&lt;filename val=&quot;C:\Users\sanmi\Documents\My Adobe Presentations\ece552-CachePerformance\data\asimages\{C8F42B10-29CF-4473-A9DC-7683B6BDE982}_1.png_crop.png&quot;/&gt;&lt;left val=&quot;44&quot;/&gt;&lt;top val=&quot;259&quot;/&gt;&lt;width val=&quot;605&quot;/&gt;&lt;height val=&quot;24&quot;/&gt;&lt;hasText val=&quot;1&quot;/&gt;&lt;paraId val=&quot;2&quot;/&gt;&lt;/Image&gt;&lt;Image&gt;&lt;filename val=&quot;C:\Users\sanmi\Documents\My Adobe Presentations\ece552-CachePerformance\data\asimages\{CBFF297F-1F1F-43A9-B2B4-274AFD17579E}_1.png_crop.png&quot;/&gt;&lt;left val=&quot;44&quot;/&gt;&lt;top val=&quot;293&quot;/&gt;&lt;width val=&quot;518&quot;/&gt;&lt;height val=&quot;24&quot;/&gt;&lt;hasText val=&quot;1&quot;/&gt;&lt;paraId val=&quot;3&quot;/&gt;&lt;/Image&gt;&lt;Image&gt;&lt;filename val=&quot;C:\Users\sanmi\Documents\My Adobe Presentations\ece552-CachePerformance\data\asimages\{C305B77F-9ABD-4189-9181-7DE5C2DC7C86}_1.png_crop.png&quot;/&gt;&lt;left val=&quot;78&quot;/&gt;&lt;top val=&quot;326&quot;/&gt;&lt;width val=&quot;347&quot;/&gt;&lt;height val=&quot;20&quot;/&gt;&lt;hasText val=&quot;1&quot;/&gt;&lt;paraId val=&quot;4&quot;/&gt;&lt;/Image&gt;&lt;/TextEffect&gt;"/>
</p:tagLst>
</file>

<file path=ppt/tags/tag212.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1963322378,C:\Users\sanmi\GoogleDrive\UWMdrive\Courses\ECE552\ece552-lec12_CachePerformance_pptx\Media.ppcx"/>
  <p:tag name="TIMING" val="|85.4|21.6|15.9"/>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HTML_SHAPEINFO" val="&lt;ThreeDShapeInfo&gt;&lt;uuid val=&quot;&quot;/&gt;&lt;isInvalidForFieldText val=&quot;0&quot;/&gt;&lt;Image&gt;&lt;filename val=&quot;C:\Users\sanmi\Documents\My Adobe Presentations\ece552-CachePerformance\data\asimages\{50D9AB77-B283-470E-BE62-4DFB7E802D8A}_16.png&quot;/&gt;&lt;left val=&quot;35&quot;/&gt;&lt;top val=&quot;21&quot;/&gt;&lt;width val=&quot;588&quot;/&gt;&lt;height val=&quot;98&quot;/&gt;&lt;hasText val=&quot;1&quot;/&gt;&lt;/Image&gt;&lt;/ThreeDShape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3B68DA0C-B3A0-46AC-894F-F0AB54211C26}_16.png&quot;/&gt;&lt;left val=&quot;599&quot;/&gt;&lt;top val=&quot;500&quot;/&gt;&lt;width val=&quot;84&quot;/&gt;&lt;height val=&quot;29&quot;/&gt;&lt;hasText val=&quot;1&quot;/&gt;&lt;/Image&gt;&lt;/ThreeDShape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30&quot;/&gt;&lt;lineCharCount val=&quot;32&quot;/&gt;&lt;lineCharCount val=&quot;1&quot;/&gt;&lt;lineCharCount val=&quot;48&quot;/&gt;&lt;lineCharCount val=&quot;39&quot;/&gt;&lt;lineCharCount val=&quot;38&quot;/&gt;&lt;lineCharCount val=&quot;52&quot;/&gt;&lt;lineCharCount val=&quot;53&quot;/&gt;&lt;lineCharCount val=&quot;57&quot;/&gt;&lt;lineCharCount val=&quot;51&quot;/&gt;&lt;lineCharCount val=&quot;54&quot;/&gt;&lt;/TableIndex&gt;&lt;/ShapeTextInfo&gt;"/>
  <p:tag name="HTML_SHAPEINFO" val="&lt;TextEffect&gt;&lt;Image&gt;&lt;filename val=&quot;C:\Users\sanmi\Documents\My Adobe Presentations\ece552-CachePerformance\data\asimages\{8CB05302-6F7F-4C05-9CBC-B2B09FD70F9B}_1.png_crop.png&quot;/&gt;&lt;left val=&quot;43&quot;/&gt;&lt;top val=&quot;130&quot;/&gt;&lt;width val=&quot;413&quot;/&gt;&lt;height val=&quot;27&quot;/&gt;&lt;hasText val=&quot;1&quot;/&gt;&lt;paraId val=&quot;1&quot;/&gt;&lt;/Image&gt;&lt;Image&gt;&lt;filename val=&quot;C:\Users\sanmi\Documents\My Adobe Presentations\ece552-CachePerformance\data\asimages\{A9406695-051C-463E-9B2A-5ABA58C2F72B}_1.png_crop.png&quot;/&gt;&lt;left val=&quot;44&quot;/&gt;&lt;top val=&quot;167&quot;/&gt;&lt;width val=&quot;349&quot;/&gt;&lt;height val=&quot;24&quot;/&gt;&lt;hasText val=&quot;1&quot;/&gt;&lt;paraId val=&quot;2&quot;/&gt;&lt;/Image&gt;&lt;Image&gt;&lt;filename val=&quot;C:\Users\sanmi\Documents\My Adobe Presentations\ece552-CachePerformance\data\asimages\{1BDB2545-C8CE-4214-BCD7-4A606497D593}_1.png_crop.png&quot;/&gt;&lt;left val=&quot;683&quot;/&gt;&lt;top val=&quot;539&quot;/&gt;&lt;width val=&quot;0&quot;/&gt;&lt;height val=&quot;0&quot;/&gt;&lt;hasText val=&quot;1&quot;/&gt;&lt;paraId val=&quot;3&quot;/&gt;&lt;/Image&gt;&lt;Image&gt;&lt;filename val=&quot;C:\Users\sanmi\Documents\My Adobe Presentations\ece552-CachePerformance\data\asimages\{3DC364B9-CEB6-495A-8ACF-117CC5BF9267}_1.png_crop.png&quot;/&gt;&lt;left val=&quot;44&quot;/&gt;&lt;top val=&quot;240&quot;/&gt;&lt;width val=&quot;607&quot;/&gt;&lt;height val=&quot;58&quot;/&gt;&lt;hasText val=&quot;1&quot;/&gt;&lt;paraId val=&quot;4&quot;/&gt;&lt;/Image&gt;&lt;Image&gt;&lt;filename val=&quot;C:\Users\sanmi\Documents\My Adobe Presentations\ece552-CachePerformance\data\asimages\{5D2DCFCD-76ED-4DF6-AEFE-30FF1BECF814}_1.png_crop.png&quot;/&gt;&lt;left val=&quot;44&quot;/&gt;&lt;top val=&quot;308&quot;/&gt;&lt;width val=&quot;417&quot;/&gt;&lt;height val=&quot;26&quot;/&gt;&lt;hasText val=&quot;1&quot;/&gt;&lt;paraId val=&quot;5&quot;/&gt;&lt;/Image&gt;&lt;Image&gt;&lt;filename val=&quot;C:\Users\sanmi\Documents\My Adobe Presentations\ece552-CachePerformance\data\asimages\{AD036283-88BC-4500-9DD6-23AA39CADDB6}_1.png_crop.png&quot;/&gt;&lt;left val=&quot;44&quot;/&gt;&lt;top val=&quot;342&quot;/&gt;&lt;width val=&quot;627&quot;/&gt;&lt;height val=&quot;51&quot;/&gt;&lt;hasText val=&quot;1&quot;/&gt;&lt;paraId val=&quot;6&quot;/&gt;&lt;/Image&gt;&lt;Image&gt;&lt;filename val=&quot;C:\Users\sanmi\Documents\My Adobe Presentations\ece552-CachePerformance\data\asimages\{A3668C66-280E-420B-91FE-C288FCE85AD3}_1.png_crop.png&quot;/&gt;&lt;left val=&quot;78&quot;/&gt;&lt;top val=&quot;401&quot;/&gt;&lt;width val=&quot;565&quot;/&gt;&lt;height val=&quot;22&quot;/&gt;&lt;hasText val=&quot;1&quot;/&gt;&lt;paraId val=&quot;7&quot;/&gt;&lt;/Image&gt;&lt;Image&gt;&lt;filename val=&quot;C:\Users\sanmi\Documents\My Adobe Presentations\ece552-CachePerformance\data\asimages\{E4DA1935-A0BA-4E95-9553-63D156FCD043}_1.png_crop.png&quot;/&gt;&lt;left val=&quot;78&quot;/&gt;&lt;top val=&quot;430&quot;/&gt;&lt;width val=&quot;489&quot;/&gt;&lt;height val=&quot;22&quot;/&gt;&lt;hasText val=&quot;1&quot;/&gt;&lt;paraId val=&quot;8&quot;/&gt;&lt;/Image&gt;&lt;Image&gt;&lt;filename val=&quot;C:\Users\sanmi\Documents\My Adobe Presentations\ece552-CachePerformance\data\asimages\{99BDD7F3-C7DF-4CFA-A4AF-387F7660303F}_1.png_crop.png&quot;/&gt;&lt;left val=&quot;78&quot;/&gt;&lt;top val=&quot;459&quot;/&gt;&lt;width val=&quot;516&quot;/&gt;&lt;height val=&quot;22&quot;/&gt;&lt;hasText val=&quot;1&quot;/&gt;&lt;paraId val=&quot;9&quot;/&gt;&lt;/Image&gt;&lt;/TextEffect&gt;"/>
</p:tagLst>
</file>

<file path=ppt/tags/tag216.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1963322378,C:\Users\sanmi\GoogleDrive\UWMdrive\Courses\ECE552\ece552-lec12_CachePerformance_pptx\Media.ppcx"/>
  <p:tag name="TIMING" val="|68"/>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2948B992-59E7-452D-9C17-332C8B8F4CF8}_17.png&quot;/&gt;&lt;left val=&quot;35&quot;/&gt;&lt;top val=&quot;21&quot;/&gt;&lt;width val=&quot;588&quot;/&gt;&lt;height val=&quot;98&quot;/&gt;&lt;hasText val=&quot;1&quot;/&gt;&lt;/Image&gt;&lt;/ThreeDShapeInfo&gt;"/>
</p:tagLst>
</file>

<file path=ppt/tags/tag2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C4BD12F4-8706-40EA-941B-56DBDF6B405D}_17.png&quot;/&gt;&lt;left val=&quot;599&quot;/&gt;&lt;top val=&quot;500&quot;/&gt;&lt;width val=&quot;84&quot;/&gt;&lt;height val=&quot;29&quot;/&gt;&lt;hasText val=&quot;1&quot;/&gt;&lt;/Image&gt;&lt;/ThreeDShape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24&quot;/&gt;&lt;lineCharCount val=&quot;56&quot;/&gt;&lt;lineCharCount val=&quot;51&quot;/&gt;&lt;lineCharCount val=&quot;1&quot;/&gt;&lt;lineCharCount val=&quot;15&quot;/&gt;&lt;lineCharCount val=&quot;51&quot;/&gt;&lt;lineCharCount val=&quot;67&quot;/&gt;&lt;lineCharCount val=&quot;53&quot;/&gt;&lt;lineCharCount val=&quot;1&quot;/&gt;&lt;lineCharCount val=&quot;15&quot;/&gt;&lt;lineCharCount val=&quot;58&quot;/&gt;&lt;lineCharCount val=&quot;62&quot;/&gt;&lt;lineCharCount val=&quot;22&quot;/&gt;&lt;/TableIndex&gt;&lt;/ShapeTextInfo&gt;"/>
  <p:tag name="HTML_SHAPEINFO" val="&lt;TextEffect&gt;&lt;Image&gt;&lt;filename val=&quot;C:\Users\sanmi\Documents\My Adobe Presentations\ece552-CachePerformance\data\asimages\{71E6F375-4B92-4912-AA88-9C54E4C36DE1}_1.png_crop.png&quot;/&gt;&lt;left val=&quot;49&quot;/&gt;&lt;top val=&quot;120&quot;/&gt;&lt;width val=&quot;280&quot;/&gt;&lt;height val=&quot;24&quot;/&gt;&lt;hasText val=&quot;1&quot;/&gt;&lt;paraId val=&quot;1&quot;/&gt;&lt;/Image&gt;&lt;Image&gt;&lt;filename val=&quot;C:\Users\sanmi\Documents\My Adobe Presentations\ece552-CachePerformance\data\asimages\{E82BA4DB-CF52-422D-9016-A493E7296AE8}_1.png_crop.png&quot;/&gt;&lt;left val=&quot;50&quot;/&gt;&lt;top val=&quot;154&quot;/&gt;&lt;width val=&quot;616&quot;/&gt;&lt;height val=&quot;24&quot;/&gt;&lt;hasText val=&quot;1&quot;/&gt;&lt;paraId val=&quot;2&quot;/&gt;&lt;/Image&gt;&lt;Image&gt;&lt;filename val=&quot;C:\Users\sanmi\Documents\My Adobe Presentations\ece552-CachePerformance\data\asimages\{FEA37FD7-4852-4556-8A48-D493C0F87C75}_1.png_crop.png&quot;/&gt;&lt;left val=&quot;50&quot;/&gt;&lt;top val=&quot;186&quot;/&gt;&lt;width val=&quot;476&quot;/&gt;&lt;height val=&quot;21&quot;/&gt;&lt;hasText val=&quot;1&quot;/&gt;&lt;paraId val=&quot;3&quot;/&gt;&lt;/Image&gt;&lt;Image&gt;&lt;filename val=&quot;C:\Users\sanmi\Documents\My Adobe Presentations\ece552-CachePerformance\data\asimages\{F8EC3F4C-3434-4A7B-951C-4ADB1ADC5F38}_1.png_crop.png&quot;/&gt;&lt;left val=&quot;696&quot;/&gt;&lt;top val=&quot;515&quot;/&gt;&lt;width val=&quot;0&quot;/&gt;&lt;height val=&quot;0&quot;/&gt;&lt;hasText val=&quot;1&quot;/&gt;&lt;paraId val=&quot;4&quot;/&gt;&lt;/Image&gt;&lt;Image&gt;&lt;filename val=&quot;C:\Users\sanmi\Documents\My Adobe Presentations\ece552-CachePerformance\data\asimages\{EC7808FC-656F-4FA3-A5F9-1094F4E3961B}_1.png_crop.png&quot;/&gt;&lt;left val=&quot;49&quot;/&gt;&lt;top val=&quot;241&quot;/&gt;&lt;width val=&quot;164&quot;/&gt;&lt;height val=&quot;23&quot;/&gt;&lt;hasText val=&quot;1&quot;/&gt;&lt;paraId val=&quot;5&quot;/&gt;&lt;/Image&gt;&lt;Image&gt;&lt;filename val=&quot;C:\Users\sanmi\Documents\My Adobe Presentations\ece552-CachePerformance\data\asimages\{80F792E4-E36D-4809-A798-CBBE05202EA1}_1.png_crop.png&quot;/&gt;&lt;left val=&quot;50&quot;/&gt;&lt;top val=&quot;274&quot;/&gt;&lt;width val=&quot;592&quot;/&gt;&lt;height val=&quot;24&quot;/&gt;&lt;hasText val=&quot;1&quot;/&gt;&lt;paraId val=&quot;6&quot;/&gt;&lt;/Image&gt;&lt;Image&gt;&lt;filename val=&quot;C:\Users\sanmi\Documents\My Adobe Presentations\ece552-CachePerformance\data\asimages\{471B7942-5980-4BB5-9EF7-279018AD1FC2}_1.png_crop.png&quot;/&gt;&lt;left val=&quot;50&quot;/&gt;&lt;top val=&quot;306&quot;/&gt;&lt;width val=&quot;612&quot;/&gt;&lt;height val=&quot;50&quot;/&gt;&lt;hasText val=&quot;1&quot;/&gt;&lt;paraId val=&quot;7&quot;/&gt;&lt;/Image&gt;&lt;Image&gt;&lt;filename val=&quot;C:\Users\sanmi\Documents\My Adobe Presentations\ece552-CachePerformance\data\asimages\{DD626CF5-EBAD-4805-8B61-5CD2DB80994F}_1.png_crop.png&quot;/&gt;&lt;left val=&quot;696&quot;/&gt;&lt;top val=&quot;515&quot;/&gt;&lt;width val=&quot;0&quot;/&gt;&lt;height val=&quot;0&quot;/&gt;&lt;hasText val=&quot;1&quot;/&gt;&lt;paraId val=&quot;8&quot;/&gt;&lt;/Image&gt;&lt;Image&gt;&lt;filename val=&quot;C:\Users\sanmi\Documents\My Adobe Presentations\ece552-CachePerformance\data\asimages\{EF3FC061-B43E-4382-855C-0ADB7402FA47}_1.png_crop.png&quot;/&gt;&lt;left val=&quot;49&quot;/&gt;&lt;top val=&quot;390&quot;/&gt;&lt;width val=&quot;154&quot;/&gt;&lt;height val=&quot;19&quot;/&gt;&lt;hasText val=&quot;1&quot;/&gt;&lt;paraId val=&quot;9&quot;/&gt;&lt;/Image&gt;&lt;Image&gt;&lt;filename val=&quot;C:\Users\sanmi\Documents\My Adobe Presentations\ece552-CachePerformance\data\asimages\{3F694F2C-E5BF-4CE3-B68F-34BB7E33C735}_1.png_crop.png&quot;/&gt;&lt;left val=&quot;50&quot;/&gt;&lt;top val=&quot;423&quot;/&gt;&lt;width val=&quot;634&quot;/&gt;&lt;height val=&quot;19&quot;/&gt;&lt;hasText val=&quot;1&quot;/&gt;&lt;paraId val=&quot;10&quot;/&gt;&lt;/Image&gt;&lt;Image&gt;&lt;filename val=&quot;C:\Users\sanmi\Documents\My Adobe Presentations\ece552-CachePerformance\data\asimages\{14CEF861-756D-48C7-A6FC-B62A2B837411}_1.png_crop.png&quot;/&gt;&lt;left val=&quot;50&quot;/&gt;&lt;top val=&quot;455&quot;/&gt;&lt;width val=&quot;634&quot;/&gt;&lt;height val=&quot;46&quot;/&gt;&lt;hasText val=&quot;1&quot;/&gt;&lt;paraId val=&quot;11&quot;/&gt;&lt;/Image&gt;&lt;/TextEffect&gt;"/>
</p:tagLst>
</file>

<file path=ppt/tags/tag220.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1963322378,C:\Users\sanmi\GoogleDrive\UWMdrive\Courses\ECE552\ece552-lec12_CachePerformance_pptx\Media.ppcx"/>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A5CB562E-27B4-4AE5-991C-C8C7EA453DC4}_18.png&quot;/&gt;&lt;left val=&quot;35&quot;/&gt;&lt;top val=&quot;21&quot;/&gt;&lt;width val=&quot;588&quot;/&gt;&lt;height val=&quot;98&quot;/&gt;&lt;hasText val=&quot;1&quot;/&gt;&lt;/Image&gt;&lt;/ThreeDShape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2&quot;/&gt;&lt;lineCharCount val=&quot;31&quot;/&gt;&lt;lineCharCount val=&quot;56&quot;/&gt;&lt;/TableIndex&gt;&lt;/ShapeTextInfo&gt;"/>
  <p:tag name="HTML_SHAPEINFO" val="&lt;ThreeDShapeInfo&gt;&lt;uuid val=&quot;&quot;/&gt;&lt;isInvalidForFieldText val=&quot;0&quot;/&gt;&lt;Image&gt;&lt;filename val=&quot;C:\Users\sanmi\Documents\My Adobe Presentations\ece552-CachePerformance\data\asimages\{5B5A4990-D8AB-465E-BD7E-40E796D69C8A}_18.png&quot;/&gt;&lt;left val=&quot;45&quot;/&gt;&lt;top val=&quot;402&quot;/&gt;&lt;width val=&quot;621&quot;/&gt;&lt;height val=&quot;120&quot;/&gt;&lt;hasText val=&quot;1&quot;/&gt;&lt;/Image&gt;&lt;/ThreeDShapeInfo&gt;"/>
</p:tagLst>
</file>

<file path=ppt/tags/tag2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420DED40-FCF5-4144-B2ED-A39B0BB668B8}_18.png&quot;/&gt;&lt;left val=&quot;599&quot;/&gt;&lt;top val=&quot;500&quot;/&gt;&lt;width val=&quot;86&quot;/&gt;&lt;height val=&quot;32&quot;/&gt;&lt;hasText val=&quot;1&quot;/&gt;&lt;/Image&gt;&lt;/ThreeDShapeInfo&gt;"/>
</p:tagLst>
</file>

<file path=ppt/tags/tag224.xml><?xml version="1.0" encoding="utf-8"?>
<p:tagLst xmlns:a="http://schemas.openxmlformats.org/drawingml/2006/main" xmlns:r="http://schemas.openxmlformats.org/officeDocument/2006/relationships" xmlns:p="http://schemas.openxmlformats.org/presentationml/2006/main">
  <p:tag name="MMPROD_SUBSTITUTION_ID" val="{AE913D23-EE41-4605-8FB6-93C2232213FD}"/>
  <p:tag name="PRESENTER_SHAPEINFO" val="&lt;ThreeDShapeInfo&gt;&lt;uuid val=&quot;{9D51CEC9-19B5-4C82-991D-965075D9D71B}&quot;/&gt;&lt;isInvalidForFieldText val=&quot;0&quot;/&gt;&lt;Image&gt;&lt;filename val=&quot;C:\Users\sanmi\Documents\My Adobe Presentations\ece552-CachePerformance\data\asimages\{9D51CEC9-19B5-4C82-991D-965075D9D71B}_18.png&quot;/&gt;&lt;left val=&quot;41&quot;/&gt;&lt;top val=&quot;107&quot;/&gt;&lt;width val=&quot;630&quot;/&gt;&lt;height val=&quot;321&quot;/&gt;&lt;hasText val=&quot;1&quot;/&gt;&lt;/Image&gt;&lt;/ThreeDShapeInfo&gt;"/>
</p:tagLst>
</file>

<file path=ppt/tags/tag225.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1963322378,C:\Users\sanmi\GoogleDrive\UWMdrive\Courses\ECE552\ece552-lec12_CachePerformance_pptx\Media.ppcx"/>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6E83483A-D854-45C8-B32B-1A2542174A55}_19.png&quot;/&gt;&lt;left val=&quot;35&quot;/&gt;&lt;top val=&quot;21&quot;/&gt;&lt;width val=&quot;588&quot;/&gt;&lt;height val=&quot;98&quot;/&gt;&lt;hasText val=&quot;1&quot;/&gt;&lt;/Image&gt;&lt;/ThreeDShapeInfo&gt;"/>
</p:tagLst>
</file>

<file path=ppt/tags/tag2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29&quot;/&gt;&lt;lineCharCount val=&quot;56&quot;/&gt;&lt;lineCharCount val=&quot;60&quot;/&gt;&lt;/TableIndex&gt;&lt;/ShapeTextInfo&gt;"/>
  <p:tag name="HTML_SHAPEINFO" val="&lt;ThreeDShapeInfo&gt;&lt;uuid val=&quot;&quot;/&gt;&lt;isInvalidForFieldText val=&quot;0&quot;/&gt;&lt;Image&gt;&lt;filename val=&quot;C:\Users\sanmi\Documents\My Adobe Presentations\ece552-CachePerformance\data\asimages\{6D83A1CF-5E2A-4DC8-AC56-26E9A73A0FA8}_19.png&quot;/&gt;&lt;left val=&quot;45&quot;/&gt;&lt;top val=&quot;402&quot;/&gt;&lt;width val=&quot;669&quot;/&gt;&lt;height val=&quot;120&quot;/&gt;&lt;hasText val=&quot;1&quot;/&gt;&lt;/Image&gt;&lt;/ThreeDShapeInfo&gt;"/>
</p:tagLst>
</file>

<file path=ppt/tags/tag2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5EE38481-8E64-4A4A-8164-5DBA92F677CD}_19.png&quot;/&gt;&lt;left val=&quot;599&quot;/&gt;&lt;top val=&quot;500&quot;/&gt;&lt;width val=&quot;86&quot;/&gt;&lt;height val=&quot;32&quot;/&gt;&lt;hasText val=&quot;1&quot;/&gt;&lt;/Image&gt;&lt;/ThreeDShapeInfo&gt;"/>
</p:tagLst>
</file>

<file path=ppt/tags/tag229.xml><?xml version="1.0" encoding="utf-8"?>
<p:tagLst xmlns:a="http://schemas.openxmlformats.org/drawingml/2006/main" xmlns:r="http://schemas.openxmlformats.org/officeDocument/2006/relationships" xmlns:p="http://schemas.openxmlformats.org/presentationml/2006/main">
  <p:tag name="MMPROD_SUBSTITUTION_ID" val="{AF0BA849-9EDB-46D8-9AB8-B043B82C8F91}"/>
  <p:tag name="PRESENTER_SHAPEINFO" val="&lt;ThreeDShapeInfo&gt;&lt;uuid val=&quot;{2E768B05-6EBE-4C63-85A4-19959F084712}&quot;/&gt;&lt;isInvalidForFieldText val=&quot;0&quot;/&gt;&lt;Image&gt;&lt;filename val=&quot;C:\Users\sanmi\Documents\My Adobe Presentations\ece552-CachePerformance\data\asimages\{2E768B05-6EBE-4C63-85A4-19959F084712}_19.png&quot;/&gt;&lt;left val=&quot;41&quot;/&gt;&lt;top val=&quot;101&quot;/&gt;&lt;width val=&quot;630&quot;/&gt;&lt;height val=&quot;321&quot;/&gt;&lt;hasText val=&quot;1&quot;/&gt;&lt;/Image&gt;&lt;/ThreeDShapeInfo&gt;"/>
</p:tagLst>
</file>

<file path=ppt/tags/tag230.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1963322378,C:\Users\sanmi\GoogleDrive\UWMdrive\Courses\ECE552\ece552-lec12_CachePerformance_pptx\Media.ppcx"/>
</p:tagLst>
</file>

<file path=ppt/tags/tag2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HTML_SHAPEINFO" val="&lt;ThreeDShapeInfo&gt;&lt;uuid val=&quot;&quot;/&gt;&lt;isInvalidForFieldText val=&quot;0&quot;/&gt;&lt;Image&gt;&lt;filename val=&quot;C:\Users\sanmi\Documents\My Adobe Presentations\ece552-CachePerformance\data\asimages\{A12CDF3F-799B-485A-8D02-0F6E5305EA18}_20.png&quot;/&gt;&lt;left val=&quot;35&quot;/&gt;&lt;top val=&quot;21&quot;/&gt;&lt;width val=&quot;588&quot;/&gt;&lt;height val=&quot;98&quot;/&gt;&lt;hasText val=&quot;1&quot;/&gt;&lt;/Image&gt;&lt;/ThreeDShape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12D32CE1-16DD-4A4C-A8CF-0B28945A7A24}_20.png&quot;/&gt;&lt;left val=&quot;599&quot;/&gt;&lt;top val=&quot;500&quot;/&gt;&lt;width val=&quot;84&quot;/&gt;&lt;height val=&quot;29&quot;/&gt;&lt;hasText val=&quot;1&quot;/&gt;&lt;/Image&gt;&lt;/ThreeDShapeInfo&gt;"/>
</p:tagLst>
</file>

<file path=ppt/tags/tag2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24&quot;/&gt;&lt;lineCharCount val=&quot;20&quot;/&gt;&lt;lineCharCount val=&quot;35&quot;/&gt;&lt;lineCharCount val=&quot;1&quot;/&gt;&lt;lineCharCount val=&quot;24&quot;/&gt;&lt;lineCharCount val=&quot;23&quot;/&gt;&lt;lineCharCount val=&quot;27&quot;/&gt;&lt;lineCharCount val=&quot;22&quot;/&gt;&lt;lineCharCount val=&quot;1&quot;/&gt;&lt;lineCharCount val=&quot;20&quot;/&gt;&lt;lineCharCount val=&quot;20&quot;/&gt;&lt;lineCharCount val=&quot;34&quot;/&gt;&lt;lineCharCount val=&quot;22&quot;/&gt;&lt;/TableIndex&gt;&lt;/ShapeTextInfo&gt;"/>
  <p:tag name="HTML_SHAPEINFO" val="&lt;ThreeDShapeInfo&gt;&lt;uuid val=&quot;&quot;/&gt;&lt;isInvalidForFieldText val=&quot;0&quot;/&gt;&lt;Image&gt;&lt;filename val=&quot;C:\Users\sanmi\Documents\My Adobe Presentations\ece552-CachePerformance\data\asimages\{15A103C8-49D7-419A-9C5A-D5419A6CA5FC}_20.png&quot;/&gt;&lt;left val=&quot;31&quot;/&gt;&lt;top val=&quot;105&quot;/&gt;&lt;width val=&quot;665&quot;/&gt;&lt;height val=&quot;434&quot;/&gt;&lt;hasText val=&quot;1&quot;/&gt;&lt;/Image&gt;&lt;/ThreeDShapeInfo&gt;"/>
</p:tagLst>
</file>

<file path=ppt/tags/tag234.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1963322378,C:\Users\sanmi\GoogleDrive\UWMdrive\Courses\ECE552\ece552-lec12_CachePerformance_pptx\Media.ppcx"/>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698358AA-A33B-4729-A725-2B1AD1611D38}_21.png&quot;/&gt;&lt;left val=&quot;35&quot;/&gt;&lt;top val=&quot;21&quot;/&gt;&lt;width val=&quot;588&quot;/&gt;&lt;height val=&quot;98&quot;/&gt;&lt;hasText val=&quot;1&quot;/&gt;&lt;/Image&gt;&lt;/ThreeDShapeInfo&gt;"/>
</p:tagLst>
</file>

<file path=ppt/tags/tag2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C562A362-9279-4A11-A56A-A7CD454027CC}_21.png&quot;/&gt;&lt;left val=&quot;599&quot;/&gt;&lt;top val=&quot;500&quot;/&gt;&lt;width val=&quot;84&quot;/&gt;&lt;height val=&quot;29&quot;/&gt;&lt;hasText val=&quot;1&quot;/&gt;&lt;/Image&gt;&lt;/ThreeDShapeInfo&gt;"/>
</p:tagLst>
</file>

<file path=ppt/tags/tag2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6&quot;/&gt;&lt;lineCharCount val=&quot;42&quot;/&gt;&lt;/TableIndex&gt;&lt;/ShapeTextInfo&gt;"/>
  <p:tag name="HTML_SHAPEINFO" val="&lt;ThreeDShapeInfo&gt;&lt;uuid val=&quot;&quot;/&gt;&lt;isInvalidForFieldText val=&quot;0&quot;/&gt;&lt;Image&gt;&lt;filename val=&quot;C:\Users\sanmi\Documents\My Adobe Presentations\ece552-CachePerformance\data\asimages\{05C591F0-7CF6-40A9-9653-44690D80BA0D}_21.png&quot;/&gt;&lt;left val=&quot;31&quot;/&gt;&lt;top val=&quot;105&quot;/&gt;&lt;width val=&quot;681&quot;/&gt;&lt;height val=&quot;93&quot;/&gt;&lt;hasText val=&quot;1&quot;/&gt;&lt;/Image&gt;&lt;/ThreeDShapeInfo&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28&quot;/&gt;&lt;lineCharCount val=&quot;36&quot;/&gt;&lt;lineCharCount val=&quot;19&quot;/&gt;&lt;/TableIndex&gt;&lt;/ShapeTextInfo&gt;"/>
  <p:tag name="HTML_SHAPEINFO" val="&lt;ThreeDShapeInfo&gt;&lt;uuid val=&quot;&quot;/&gt;&lt;isInvalidForFieldText val=&quot;0&quot;/&gt;&lt;Image&gt;&lt;filename val=&quot;C:\Users\sanmi\Documents\My Adobe Presentations\ece552-CachePerformance\data\asimages\{EDB6F664-0B99-45F6-AA3E-48C697D117BD}_21.png&quot;/&gt;&lt;left val=&quot;33&quot;/&gt;&lt;top val=&quot;205&quot;/&gt;&lt;width val=&quot;662&quot;/&gt;&lt;height val=&quot;147&quot;/&gt;&lt;hasText val=&quot;1&quot;/&gt;&lt;/Image&gt;&lt;/ThreeDShapeInfo&gt;"/>
</p:tagLst>
</file>

<file path=ppt/tags/tag239.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1963322378,C:\Users\sanmi\GoogleDrive\UWMdrive\Courses\ECE552\ece552-lec12_CachePerformance_pptx\Media.ppcx"/>
  <p:tag name="TIMING" val="|37.5"/>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F50BED18-E0FF-40C5-9308-E9060D5A63EC}_22.png&quot;/&gt;&lt;left val=&quot;35&quot;/&gt;&lt;top val=&quot;21&quot;/&gt;&lt;width val=&quot;588&quot;/&gt;&lt;height val=&quot;98&quot;/&gt;&lt;hasText val=&quot;1&quot;/&gt;&lt;/Image&gt;&lt;/ThreeDShape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B423E826-DDC4-453B-983E-37740249DEFD}_22.png&quot;/&gt;&lt;left val=&quot;599&quot;/&gt;&lt;top val=&quot;500&quot;/&gt;&lt;width val=&quot;84&quot;/&gt;&lt;height val=&quot;29&quot;/&gt;&lt;hasText val=&quot;1&quot;/&gt;&lt;/Image&gt;&lt;/ThreeDShape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6&quot;/&gt;&lt;lineCharCount val=&quot;42&quot;/&gt;&lt;/TableIndex&gt;&lt;/ShapeTextInfo&gt;"/>
  <p:tag name="HTML_SHAPEINFO" val="&lt;ThreeDShapeInfo&gt;&lt;uuid val=&quot;&quot;/&gt;&lt;isInvalidForFieldText val=&quot;0&quot;/&gt;&lt;Image&gt;&lt;filename val=&quot;C:\Users\sanmi\Documents\My Adobe Presentations\ece552-CachePerformance\data\asimages\{7F0817F4-83BC-484A-A23C-B1EDF67F92B7}_22.png&quot;/&gt;&lt;left val=&quot;31&quot;/&gt;&lt;top val=&quot;105&quot;/&gt;&lt;width val=&quot;681&quot;/&gt;&lt;height val=&quot;93&quot;/&gt;&lt;hasText val=&quot;1&quot;/&gt;&lt;/Image&gt;&lt;/ThreeDShapeInfo&gt;"/>
</p:tagLst>
</file>

<file path=ppt/tags/tag2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28&quot;/&gt;&lt;lineCharCount val=&quot;36&quot;/&gt;&lt;lineCharCount val=&quot;19&quot;/&gt;&lt;/TableIndex&gt;&lt;/ShapeTextInfo&gt;"/>
  <p:tag name="HTML_SHAPEINFO" val="&lt;ThreeDShapeInfo&gt;&lt;uuid val=&quot;&quot;/&gt;&lt;isInvalidForFieldText val=&quot;0&quot;/&gt;&lt;Image&gt;&lt;filename val=&quot;C:\Users\sanmi\Documents\My Adobe Presentations\ece552-CachePerformance\data\asimages\{7949290E-214E-433B-8963-09EE3A389922}_22.png&quot;/&gt;&lt;left val=&quot;33&quot;/&gt;&lt;top val=&quot;205&quot;/&gt;&lt;width val=&quot;662&quot;/&gt;&lt;height val=&quot;147&quot;/&gt;&lt;hasText val=&quot;1&quot;/&gt;&lt;/Image&gt;&lt;/ThreeDShapeInfo&gt;"/>
</p:tagLst>
</file>

<file path=ppt/tags/tag2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0&quot;/&gt;&lt;/TableIndex&gt;&lt;TableIndex row=&quot;2&quot; col=&quot;1&quot;&gt;&lt;linesCount val=&quot;1&quot;/&gt;&lt;lineCharCount val=&quot;4&quot;/&gt;&lt;/TableIndex&gt;&lt;TableIndex row=&quot;2&quot; col=&quot;2&quot;&gt;&lt;linesCount val=&quot;1&quot;/&gt;&lt;lineCharCount val=&quot;80&quot;/&gt;&lt;/TableIndex&gt;&lt;/ShapeTextInfo&gt;"/>
  <p:tag name="HTML_SHAPEINFO" val="&lt;ThreeDShapeInfo&gt;&lt;uuid val=&quot;&quot;/&gt;&lt;isInvalidForFieldText val=&quot;0&quot;/&gt;&lt;Image&gt;&lt;filename val=&quot;C:\Users\sanmi\Documents\My Adobe Presentations\ece552-CachePerformance\data\asimages\{EF164BBD-C7E1-411B-8441-9C94CF951310}_22.png&quot;/&gt;&lt;left val=&quot;8&quot;/&gt;&lt;top val=&quot;333&quot;/&gt;&lt;width val=&quot;704&quot;/&gt;&lt;height val=&quot;60&quot;/&gt;&lt;hasText val=&quot;1&quot;/&gt;&lt;/Image&gt;&lt;/ThreeDShapeInfo&gt;"/>
</p:tagLst>
</file>

<file path=ppt/tags/tag2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 name="HTML_SHAPEINFO" val="&lt;ThreeDShapeInfo&gt;&lt;uuid val=&quot;&quot;/&gt;&lt;isInvalidForFieldText val=&quot;0&quot;/&gt;&lt;Image&gt;&lt;filename val=&quot;C:\Users\sanmi\Documents\My Adobe Presentations\ece552-CachePerformance\data\asimages\{80AD34CB-13A5-4873-ADF2-8CBC59568768}_22.png&quot;/&gt;&lt;left val=&quot;26&quot;/&gt;&lt;top val=&quot;480&quot;/&gt;&lt;width val=&quot;667&quot;/&gt;&lt;height val=&quot;60&quot;/&gt;&lt;hasText val=&quot;1&quot;/&gt;&lt;/Image&gt;&lt;/ThreeDShapeInfo&gt;"/>
</p:tagLst>
</file>

<file path=ppt/tags/tag2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0&quot;/&gt;&lt;/TableIndex&gt;&lt;TableIndex row=&quot;2&quot; col=&quot;1&quot;&gt;&lt;linesCount val=&quot;1&quot;/&gt;&lt;lineCharCount val=&quot;4&quot;/&gt;&lt;/TableIndex&gt;&lt;TableIndex row=&quot;2&quot; col=&quot;2&quot;&gt;&lt;linesCount val=&quot;1&quot;/&gt;&lt;lineCharCount val=&quot;80&quot;/&gt;&lt;/TableIndex&gt;&lt;TableIndex row=&quot;3&quot; col=&quot;1&quot;&gt;&lt;linesCount val=&quot;1&quot;/&gt;&lt;lineCharCount val=&quot;5&quot;/&gt;&lt;/TableIndex&gt;&lt;TableIndex row=&quot;3&quot; col=&quot;2&quot;&gt;&lt;linesCount val=&quot;1&quot;/&gt;&lt;lineCharCount val=&quot;51&quot;/&gt;&lt;/TableIndex&gt;&lt;TableIndex row=&quot;4&quot; col=&quot;1&quot;&gt;&lt;linesCount val=&quot;1&quot;/&gt;&lt;lineCharCount val=&quot;5&quot;/&gt;&lt;/TableIndex&gt;&lt;TableIndex row=&quot;4&quot; col=&quot;2&quot;&gt;&lt;linesCount val=&quot;1&quot;/&gt;&lt;lineCharCount val=&quot;51&quot;/&gt;&lt;/TableIndex&gt;&lt;TableIndex row=&quot;5&quot; col=&quot;1&quot;&gt;&lt;linesCount val=&quot;1&quot;/&gt;&lt;lineCharCount val=&quot;3&quot;/&gt;&lt;/TableIndex&gt;&lt;TableIndex row=&quot;5&quot; col=&quot;2&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1F93A9BE-4D82-40CD-B6F9-BB8AE5048EF3}_22.png&quot;/&gt;&lt;left val=&quot;8&quot;/&gt;&lt;top val=&quot;333&quot;/&gt;&lt;width val=&quot;704&quot;/&gt;&lt;height val=&quot;148&quot;/&gt;&lt;hasText val=&quot;1&quot;/&gt;&lt;/Image&gt;&lt;/ThreeDShapeInfo&gt;"/>
</p:tagLst>
</file>

<file path=ppt/tags/tag247.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1963322378,C:\Users\sanmi\GoogleDrive\UWMdrive\Courses\ECE552\ece552-lec12_CachePerformance_pptx\Media.ppcx"/>
</p:tagLst>
</file>

<file path=ppt/tags/tag2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85072C90-E0FF-4078-9D12-580D7EA19DC1}_23.png&quot;/&gt;&lt;left val=&quot;35&quot;/&gt;&lt;top val=&quot;21&quot;/&gt;&lt;width val=&quot;588&quot;/&gt;&lt;height val=&quot;98&quot;/&gt;&lt;hasText val=&quot;1&quot;/&gt;&lt;/Image&gt;&lt;/ThreeDShapeInfo&gt;"/>
</p:tagLst>
</file>

<file path=ppt/tags/tag2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FDF66CCC-F536-457C-BC3B-7056DF47812B}_23.png&quot;/&gt;&lt;left val=&quot;599&quot;/&gt;&lt;top val=&quot;500&quot;/&gt;&lt;width val=&quot;84&quot;/&gt;&lt;height val=&quot;29&quot;/&gt;&lt;hasText val=&quot;1&quot;/&gt;&lt;/Image&gt;&lt;/ThreeDShapeInfo&gt;"/>
</p:tagLst>
</file>

<file path=ppt/tags/tag2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6&quot;/&gt;&lt;lineCharCount val=&quot;46&quot;/&gt;&lt;/TableIndex&gt;&lt;/ShapeTextInfo&gt;"/>
  <p:tag name="HTML_SHAPEINFO" val="&lt;ThreeDShapeInfo&gt;&lt;uuid val=&quot;&quot;/&gt;&lt;isInvalidForFieldText val=&quot;0&quot;/&gt;&lt;Image&gt;&lt;filename val=&quot;C:\Users\sanmi\Documents\My Adobe Presentations\ece552-CachePerformance\data\asimages\{B16AC199-6BC7-4EEE-8641-2983F618A3DF}_23.png&quot;/&gt;&lt;left val=&quot;31&quot;/&gt;&lt;top val=&quot;105&quot;/&gt;&lt;width val=&quot;681&quot;/&gt;&lt;height val=&quot;93&quot;/&gt;&lt;hasText val=&quot;1&quot;/&gt;&lt;/Image&gt;&lt;/ThreeDShapeInfo&gt;"/>
</p:tagLst>
</file>

<file path=ppt/tags/tag2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28&quot;/&gt;&lt;lineCharCount val=&quot;36&quot;/&gt;&lt;lineCharCount val=&quot;19&quot;/&gt;&lt;/TableIndex&gt;&lt;/ShapeTextInfo&gt;"/>
  <p:tag name="HTML_SHAPEINFO" val="&lt;ThreeDShapeInfo&gt;&lt;uuid val=&quot;&quot;/&gt;&lt;isInvalidForFieldText val=&quot;0&quot;/&gt;&lt;Image&gt;&lt;filename val=&quot;C:\Users\sanmi\Documents\My Adobe Presentations\ece552-CachePerformance\data\asimages\{0B5F75A1-9F02-4FDB-8D5F-0D6B25C8FA2A}_23.png&quot;/&gt;&lt;left val=&quot;33&quot;/&gt;&lt;top val=&quot;205&quot;/&gt;&lt;width val=&quot;662&quot;/&gt;&lt;height val=&quot;147&quot;/&gt;&lt;hasText val=&quot;1&quot;/&gt;&lt;/Image&gt;&lt;/ThreeDShapeInfo&gt;"/>
</p:tagLst>
</file>

<file path=ppt/tags/tag252.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1963322378,C:\Users\sanmi\GoogleDrive\UWMdrive\Courses\ECE552\ece552-lec12_CachePerformance_pptx\Media.ppcx"/>
  <p:tag name="TIMING" val="|40.8"/>
</p:tagLst>
</file>

<file path=ppt/tags/tag2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D40B6545-BFAB-4772-8528-657B91650991}_24.png&quot;/&gt;&lt;left val=&quot;35&quot;/&gt;&lt;top val=&quot;21&quot;/&gt;&lt;width val=&quot;588&quot;/&gt;&lt;height val=&quot;98&quot;/&gt;&lt;hasText val=&quot;1&quot;/&gt;&lt;/Image&gt;&lt;/ThreeDShapeInfo&gt;"/>
</p:tagLst>
</file>

<file path=ppt/tags/tag2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24B672E0-0ED9-41E9-A092-405200E711CA}_24.png&quot;/&gt;&lt;left val=&quot;599&quot;/&gt;&lt;top val=&quot;500&quot;/&gt;&lt;width val=&quot;84&quot;/&gt;&lt;height val=&quot;29&quot;/&gt;&lt;hasText val=&quot;1&quot;/&gt;&lt;/Image&gt;&lt;/ThreeDShapeInfo&gt;"/>
</p:tagLst>
</file>

<file path=ppt/tags/tag2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6&quot;/&gt;&lt;lineCharCount val=&quot;46&quot;/&gt;&lt;/TableIndex&gt;&lt;/ShapeTextInfo&gt;"/>
  <p:tag name="HTML_SHAPEINFO" val="&lt;ThreeDShapeInfo&gt;&lt;uuid val=&quot;&quot;/&gt;&lt;isInvalidForFieldText val=&quot;0&quot;/&gt;&lt;Image&gt;&lt;filename val=&quot;C:\Users\sanmi\Documents\My Adobe Presentations\ece552-CachePerformance\data\asimages\{875EE0BE-C9F3-468E-AD7F-B1C2D3F1D003}_24.png&quot;/&gt;&lt;left val=&quot;31&quot;/&gt;&lt;top val=&quot;105&quot;/&gt;&lt;width val=&quot;681&quot;/&gt;&lt;height val=&quot;93&quot;/&gt;&lt;hasText val=&quot;1&quot;/&gt;&lt;/Image&gt;&lt;/ThreeDShapeInfo&gt;"/>
</p:tagLst>
</file>

<file path=ppt/tags/tag2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28&quot;/&gt;&lt;lineCharCount val=&quot;36&quot;/&gt;&lt;lineCharCount val=&quot;19&quot;/&gt;&lt;/TableIndex&gt;&lt;/ShapeTextInfo&gt;"/>
  <p:tag name="HTML_SHAPEINFO" val="&lt;ThreeDShapeInfo&gt;&lt;uuid val=&quot;&quot;/&gt;&lt;isInvalidForFieldText val=&quot;0&quot;/&gt;&lt;Image&gt;&lt;filename val=&quot;C:\Users\sanmi\Documents\My Adobe Presentations\ece552-CachePerformance\data\asimages\{F76D090F-2B29-41B0-B520-85AE10B25686}_24.png&quot;/&gt;&lt;left val=&quot;33&quot;/&gt;&lt;top val=&quot;205&quot;/&gt;&lt;width val=&quot;662&quot;/&gt;&lt;height val=&quot;147&quot;/&gt;&lt;hasText val=&quot;1&quot;/&gt;&lt;/Image&gt;&lt;/ThreeDShapeInfo&gt;"/>
</p:tagLst>
</file>

<file path=ppt/tags/tag2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 name="HTML_SHAPEINFO" val="&lt;ThreeDShapeInfo&gt;&lt;uuid val=&quot;&quot;/&gt;&lt;isInvalidForFieldText val=&quot;0&quot;/&gt;&lt;Image&gt;&lt;filename val=&quot;C:\Users\sanmi\Documents\My Adobe Presentations\ece552-CachePerformance\data\asimages\{88C97EDA-DF4D-4E73-962F-6F0F4E221B64}_24.png&quot;/&gt;&lt;left val=&quot;26&quot;/&gt;&lt;top val=&quot;480&quot;/&gt;&lt;width val=&quot;667&quot;/&gt;&lt;height val=&quot;60&quot;/&gt;&lt;hasText val=&quot;1&quot;/&gt;&lt;/Image&gt;&lt;/ThreeDShapeInfo&gt;"/>
</p:tagLst>
</file>

<file path=ppt/tags/tag2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0&quot;/&gt;&lt;/TableIndex&gt;&lt;TableIndex row=&quot;2&quot; col=&quot;1&quot;&gt;&lt;linesCount val=&quot;1&quot;/&gt;&lt;lineCharCount val=&quot;4&quot;/&gt;&lt;/TableIndex&gt;&lt;TableIndex row=&quot;2&quot; col=&quot;2&quot;&gt;&lt;linesCount val=&quot;1&quot;/&gt;&lt;lineCharCount val=&quot;80&quot;/&gt;&lt;/TableIndex&gt;&lt;TableIndex row=&quot;3&quot; col=&quot;1&quot;&gt;&lt;linesCount val=&quot;1&quot;/&gt;&lt;lineCharCount val=&quot;5&quot;/&gt;&lt;/TableIndex&gt;&lt;TableIndex row=&quot;3&quot; col=&quot;2&quot;&gt;&lt;linesCount val=&quot;1&quot;/&gt;&lt;lineCharCount val=&quot;51&quot;/&gt;&lt;/TableIndex&gt;&lt;TableIndex row=&quot;4&quot; col=&quot;1&quot;&gt;&lt;linesCount val=&quot;1&quot;/&gt;&lt;lineCharCount val=&quot;5&quot;/&gt;&lt;/TableIndex&gt;&lt;TableIndex row=&quot;4&quot; col=&quot;2&quot;&gt;&lt;linesCount val=&quot;1&quot;/&gt;&lt;lineCharCount val=&quot;51&quot;/&gt;&lt;/TableIndex&gt;&lt;TableIndex row=&quot;5&quot; col=&quot;1&quot;&gt;&lt;linesCount val=&quot;1&quot;/&gt;&lt;lineCharCount val=&quot;3&quot;/&gt;&lt;/TableIndex&gt;&lt;TableIndex row=&quot;5&quot; col=&quot;2&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8E19D0F9-3218-4506-B37C-4D0390CEC238}_24.png&quot;/&gt;&lt;left val=&quot;8&quot;/&gt;&lt;top val=&quot;333&quot;/&gt;&lt;width val=&quot;704&quot;/&gt;&lt;height val=&quot;148&quot;/&gt;&lt;hasText val=&quot;1&quot;/&gt;&lt;/Image&gt;&lt;/ThreeDShapeInfo&gt;"/>
</p:tagLst>
</file>

<file path=ppt/tags/tag2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HTML_SHAPEINFO" val="&lt;ThreeDShapeInfo&gt;&lt;uuid val=&quot;&quot;/&gt;&lt;isInvalidForFieldText val=&quot;0&quot;/&gt;&lt;Image&gt;&lt;filename val=&quot;C:\Users\sanmi\Documents\My Adobe Presentations\ece552-CachePerformance\data\asimages\{366666D6-7CEA-4C54-A284-C43656EF83EC}_24.png&quot;/&gt;&lt;left val=&quot;26&quot;/&gt;&lt;top val=&quot;480&quot;/&gt;&lt;width val=&quot;667&quot;/&gt;&lt;height val=&quot;60&quot;/&gt;&lt;hasText val=&quot;1&quot;/&gt;&lt;/Image&gt;&lt;/ThreeDShapeInfo&gt;"/>
</p:tagLst>
</file>

<file path=ppt/tags/tag2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TableIndex row=&quot;1&quot; col=&quot;2&quot;&gt;&lt;linesCount val=&quot;1&quot;/&gt;&lt;lineCharCount val=&quot;10&quot;/&gt;&lt;/TableIndex&gt;&lt;TableIndex row=&quot;2&quot; col=&quot;1&quot;&gt;&lt;linesCount val=&quot;1&quot;/&gt;&lt;lineCharCount val=&quot;4&quot;/&gt;&lt;/TableIndex&gt;&lt;TableIndex row=&quot;2&quot; col=&quot;2&quot;&gt;&lt;linesCount val=&quot;1&quot;/&gt;&lt;lineCharCount val=&quot;80&quot;/&gt;&lt;/TableIndex&gt;&lt;TableIndex row=&quot;3&quot; col=&quot;1&quot;&gt;&lt;linesCount val=&quot;1&quot;/&gt;&lt;lineCharCount val=&quot;5&quot;/&gt;&lt;/TableIndex&gt;&lt;TableIndex row=&quot;3&quot; col=&quot;2&quot;&gt;&lt;linesCount val=&quot;1&quot;/&gt;&lt;lineCharCount val=&quot;51&quot;/&gt;&lt;/TableIndex&gt;&lt;TableIndex row=&quot;4&quot; col=&quot;1&quot;&gt;&lt;linesCount val=&quot;1&quot;/&gt;&lt;lineCharCount val=&quot;5&quot;/&gt;&lt;/TableIndex&gt;&lt;TableIndex row=&quot;4&quot; col=&quot;2&quot;&gt;&lt;linesCount val=&quot;1&quot;/&gt;&lt;lineCharCount val=&quot;51&quot;/&gt;&lt;/TableIndex&gt;&lt;TableIndex row=&quot;5&quot; col=&quot;1&quot;&gt;&lt;linesCount val=&quot;1&quot;/&gt;&lt;lineCharCount val=&quot;3&quot;/&gt;&lt;/TableIndex&gt;&lt;TableIndex row=&quot;5&quot; col=&quot;2&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9088A7AE-62FC-4949-8C14-51DFD99205B3}_24.png&quot;/&gt;&lt;left val=&quot;8&quot;/&gt;&lt;top val=&quot;333&quot;/&gt;&lt;width val=&quot;704&quot;/&gt;&lt;height val=&quot;148&quot;/&gt;&lt;hasText val=&quot;1&quot;/&gt;&lt;/Image&gt;&lt;/ThreeDShapeInfo&gt;"/>
</p:tagLst>
</file>

<file path=ppt/tags/tag261.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1963322378,C:\Users\sanmi\GoogleDrive\UWMdrive\Courses\ECE552\ece552-lec12_CachePerformance_pptx\Media.ppcx"/>
</p:tagLst>
</file>

<file path=ppt/tags/tag2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470A57D4-6095-4795-9956-81539872B5E0}_25.png&quot;/&gt;&lt;left val=&quot;35&quot;/&gt;&lt;top val=&quot;21&quot;/&gt;&lt;width val=&quot;588&quot;/&gt;&lt;height val=&quot;98&quot;/&gt;&lt;hasText val=&quot;1&quot;/&gt;&lt;/Image&gt;&lt;/ThreeDShapeInfo&gt;"/>
</p:tagLst>
</file>

<file path=ppt/tags/tag2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E6FBC9DB-652D-42E1-A6B9-9C6E7561E2A0}_25.png&quot;/&gt;&lt;left val=&quot;599&quot;/&gt;&lt;top val=&quot;500&quot;/&gt;&lt;width val=&quot;84&quot;/&gt;&lt;height val=&quot;29&quot;/&gt;&lt;hasText val=&quot;1&quot;/&gt;&lt;/Image&gt;&lt;/ThreeDShapeInfo&gt;"/>
</p:tagLst>
</file>

<file path=ppt/tags/tag2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6&quot;/&gt;&lt;lineCharCount val=&quot;43&quot;/&gt;&lt;/TableIndex&gt;&lt;/ShapeTextInfo&gt;"/>
  <p:tag name="HTML_SHAPEINFO" val="&lt;ThreeDShapeInfo&gt;&lt;uuid val=&quot;&quot;/&gt;&lt;isInvalidForFieldText val=&quot;0&quot;/&gt;&lt;Image&gt;&lt;filename val=&quot;C:\Users\sanmi\Documents\My Adobe Presentations\ece552-CachePerformance\data\asimages\{07EC2D85-B878-4D2F-B270-95A62939B765}_25.png&quot;/&gt;&lt;left val=&quot;31&quot;/&gt;&lt;top val=&quot;105&quot;/&gt;&lt;width val=&quot;681&quot;/&gt;&lt;height val=&quot;93&quot;/&gt;&lt;hasText val=&quot;1&quot;/&gt;&lt;/Image&gt;&lt;/ThreeDShapeInfo&gt;"/>
</p:tagLst>
</file>

<file path=ppt/tags/tag2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28&quot;/&gt;&lt;lineCharCount val=&quot;36&quot;/&gt;&lt;lineCharCount val=&quot;19&quot;/&gt;&lt;/TableIndex&gt;&lt;/ShapeTextInfo&gt;"/>
  <p:tag name="HTML_SHAPEINFO" val="&lt;ThreeDShapeInfo&gt;&lt;uuid val=&quot;&quot;/&gt;&lt;isInvalidForFieldText val=&quot;0&quot;/&gt;&lt;Image&gt;&lt;filename val=&quot;C:\Users\sanmi\Documents\My Adobe Presentations\ece552-CachePerformance\data\asimages\{89F0840A-5E22-4652-9D36-8A2F59114C5F}_25.png&quot;/&gt;&lt;left val=&quot;33&quot;/&gt;&lt;top val=&quot;205&quot;/&gt;&lt;width val=&quot;662&quot;/&gt;&lt;height val=&quot;147&quot;/&gt;&lt;hasText val=&quot;1&quot;/&gt;&lt;/Image&gt;&lt;/ThreeDShapeInfo&gt;"/>
</p:tagLst>
</file>

<file path=ppt/tags/tag2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HTML_SHAPEINFO" val="&lt;ThreeDShapeInfo&gt;&lt;uuid val=&quot;&quot;/&gt;&lt;isInvalidForFieldText val=&quot;0&quot;/&gt;&lt;Image&gt;&lt;filename val=&quot;C:\Users\sanmi\Documents\My Adobe Presentations\ece552-CachePerformance\data\asimages\{F7A8E983-2001-4668-8399-7CC8C4FF9418}_25.png&quot;/&gt;&lt;left val=&quot;26&quot;/&gt;&lt;top val=&quot;378&quot;/&gt;&lt;width val=&quot;667&quot;/&gt;&lt;height val=&quot;60&quot;/&gt;&lt;hasText val=&quot;1&quot;/&gt;&lt;/Image&gt;&lt;/ThreeDShapeInfo&gt;"/>
</p:tagLst>
</file>

<file path=ppt/tags/tag267.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1963322378,C:\Users\sanmi\GoogleDrive\UWMdrive\Courses\ECE552\ece552-lec12_CachePerformance_pptx\Media.ppcx"/>
</p:tagLst>
</file>

<file path=ppt/tags/tag2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670BCD13-0E26-43E0-AADF-19AD6AA82CB8}_26.png&quot;/&gt;&lt;left val=&quot;35&quot;/&gt;&lt;top val=&quot;21&quot;/&gt;&lt;width val=&quot;588&quot;/&gt;&lt;height val=&quot;98&quot;/&gt;&lt;hasText val=&quot;1&quot;/&gt;&lt;/Image&gt;&lt;/ThreeDShapeInfo&gt;"/>
</p:tagLst>
</file>

<file path=ppt/tags/tag2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EB5D6F79-E1DA-483A-85EC-207FF2E93E47}_26.png&quot;/&gt;&lt;left val=&quot;599&quot;/&gt;&lt;top val=&quot;500&quot;/&gt;&lt;width val=&quot;84&quot;/&gt;&lt;height val=&quot;29&quot;/&gt;&lt;hasText val=&quot;1&quot;/&gt;&lt;/Image&gt;&lt;/ThreeDShapeInfo&gt;"/>
</p:tagLst>
</file>

<file path=ppt/tags/tag2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6&quot;/&gt;&lt;lineCharCount val=&quot;47&quot;/&gt;&lt;/TableIndex&gt;&lt;/ShapeTextInfo&gt;"/>
  <p:tag name="HTML_SHAPEINFO" val="&lt;ThreeDShapeInfo&gt;&lt;uuid val=&quot;&quot;/&gt;&lt;isInvalidForFieldText val=&quot;0&quot;/&gt;&lt;Image&gt;&lt;filename val=&quot;C:\Users\sanmi\Documents\My Adobe Presentations\ece552-CachePerformance\data\asimages\{C842B342-497C-4B61-AA00-574CA903D9BA}_26.png&quot;/&gt;&lt;left val=&quot;31&quot;/&gt;&lt;top val=&quot;105&quot;/&gt;&lt;width val=&quot;681&quot;/&gt;&lt;height val=&quot;93&quot;/&gt;&lt;hasText val=&quot;1&quot;/&gt;&lt;/Image&gt;&lt;/ThreeDShapeInfo&gt;"/>
</p:tagLst>
</file>

<file path=ppt/tags/tag2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32&quot;/&gt;&lt;lineCharCount val=&quot;32&quot;/&gt;&lt;lineCharCount val=&quot;19&quot;/&gt;&lt;/TableIndex&gt;&lt;/ShapeTextInfo&gt;"/>
  <p:tag name="HTML_SHAPEINFO" val="&lt;ThreeDShapeInfo&gt;&lt;uuid val=&quot;&quot;/&gt;&lt;isInvalidForFieldText val=&quot;0&quot;/&gt;&lt;Image&gt;&lt;filename val=&quot;C:\Users\sanmi\Documents\My Adobe Presentations\ece552-CachePerformance\data\asimages\{D85EE4A9-7C13-4277-95B5-4F0A91E25474}_26.png&quot;/&gt;&lt;left val=&quot;33&quot;/&gt;&lt;top val=&quot;205&quot;/&gt;&lt;width val=&quot;662&quot;/&gt;&lt;height val=&quot;147&quot;/&gt;&lt;hasText val=&quot;1&quot;/&gt;&lt;/Image&gt;&lt;/ThreeDShapeInfo&gt;"/>
</p:tagLst>
</file>

<file path=ppt/tags/tag272.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27,1963322378,C:\Users\sanmi\GoogleDrive\UWMdrive\Courses\ECE552\ece552-lec12_CachePerformance_pptx\Media.ppcx"/>
  <p:tag name="TIMING" val="|30"/>
</p:tagLst>
</file>

<file path=ppt/tags/tag2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HTML_SHAPEINFO" val="&lt;ThreeDShapeInfo&gt;&lt;uuid val=&quot;&quot;/&gt;&lt;isInvalidForFieldText val=&quot;0&quot;/&gt;&lt;Image&gt;&lt;filename val=&quot;C:\Users\sanmi\Documents\My Adobe Presentations\ece552-CachePerformance\data\asimages\{05528947-4C54-4578-A4A6-4E3DF9A7BF71}_27.png&quot;/&gt;&lt;left val=&quot;35&quot;/&gt;&lt;top val=&quot;21&quot;/&gt;&lt;width val=&quot;588&quot;/&gt;&lt;height val=&quot;98&quot;/&gt;&lt;hasText val=&quot;1&quot;/&gt;&lt;/Image&gt;&lt;/ThreeDShapeInfo&gt;"/>
</p:tagLst>
</file>

<file path=ppt/tags/tag2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 name="HTML_SHAPEINFO" val="&lt;ThreeDShapeInfo&gt;&lt;uuid val=&quot;&quot;/&gt;&lt;isInvalidForFieldText val=&quot;0&quot;/&gt;&lt;Image&gt;&lt;filename val=&quot;C:\Users\sanmi\Documents\My Adobe Presentations\ece552-CachePerformance\data\asimages\{CE867493-DD22-431E-ACC0-A50D24A9E8BC}_27.png&quot;/&gt;&lt;left val=&quot;599&quot;/&gt;&lt;top val=&quot;500&quot;/&gt;&lt;width val=&quot;84&quot;/&gt;&lt;height val=&quot;29&quot;/&gt;&lt;hasText val=&quot;1&quot;/&gt;&lt;/Image&gt;&lt;/ThreeDShapeInfo&gt;"/>
</p:tagLst>
</file>

<file path=ppt/tags/tag2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6&quot;/&gt;&lt;lineCharCount val=&quot;47&quot;/&gt;&lt;/TableIndex&gt;&lt;/ShapeTextInfo&gt;"/>
  <p:tag name="HTML_SHAPEINFO" val="&lt;ThreeDShapeInfo&gt;&lt;uuid val=&quot;&quot;/&gt;&lt;isInvalidForFieldText val=&quot;0&quot;/&gt;&lt;Image&gt;&lt;filename val=&quot;C:\Users\sanmi\Documents\My Adobe Presentations\ece552-CachePerformance\data\asimages\{AB49F5C6-E3BE-467C-A5F5-C2F079A5B48B}_27.png&quot;/&gt;&lt;left val=&quot;31&quot;/&gt;&lt;top val=&quot;105&quot;/&gt;&lt;width val=&quot;681&quot;/&gt;&lt;height val=&quot;93&quot;/&gt;&lt;hasText val=&quot;1&quot;/&gt;&lt;/Image&gt;&lt;/ThreeDShapeInfo&gt;"/>
</p:tagLst>
</file>

<file path=ppt/tags/tag2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7&quot;/&gt;&lt;lineCharCount val=&quot;32&quot;/&gt;&lt;lineCharCount val=&quot;32&quot;/&gt;&lt;lineCharCount val=&quot;19&quot;/&gt;&lt;/TableIndex&gt;&lt;/ShapeTextInfo&gt;"/>
  <p:tag name="HTML_SHAPEINFO" val="&lt;ThreeDShapeInfo&gt;&lt;uuid val=&quot;&quot;/&gt;&lt;isInvalidForFieldText val=&quot;0&quot;/&gt;&lt;Image&gt;&lt;filename val=&quot;C:\Users\sanmi\Documents\My Adobe Presentations\ece552-CachePerformance\data\asimages\{2A419063-EBB9-42AC-9BD6-2D8CA2EFE52D}_27.png&quot;/&gt;&lt;left val=&quot;33&quot;/&gt;&lt;top val=&quot;205&quot;/&gt;&lt;width val=&quot;662&quot;/&gt;&lt;height val=&quot;147&quot;/&gt;&lt;hasText val=&quot;1&quot;/&gt;&lt;/Image&gt;&lt;/ThreeDShapeInfo&gt;"/>
</p:tagLst>
</file>

<file path=ppt/tags/tag2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7&quot;/&gt;&lt;lineCharCount val=&quot;44&quot;/&gt;&lt;/TableIndex&gt;&lt;/ShapeTextInfo&gt;"/>
  <p:tag name="HTML_SHAPEINFO" val="&lt;TextEffect&gt;&lt;Image&gt;&lt;filename val=&quot;C:\Users\sanmi\Documents\My Adobe Presentations\ece552-CachePerformance\data\asimages\{81D7B0AC-8820-4D31-89A1-60A23EFEDE1E}_1.png_crop.png&quot;/&gt;&lt;left val=&quot;47&quot;/&gt;&lt;top val=&quot;465&quot;/&gt;&lt;width val=&quot;625&quot;/&gt;&lt;height val=&quot;25&quot;/&gt;&lt;hasText val=&quot;1&quot;/&gt;&lt;paraId val=&quot;1&quot;/&gt;&lt;/Image&gt;&lt;Image&gt;&lt;filename val=&quot;C:\Users\sanmi\Documents\My Adobe Presentations\ece552-CachePerformance\data\asimages\{E33E21A0-9D22-425F-BDB6-60A8B4202A06}_1.png_crop.png&quot;/&gt;&lt;left val=&quot;105&quot;/&gt;&lt;top val=&quot;499&quot;/&gt;&lt;width val=&quot;509&quot;/&gt;&lt;height val=&quot;24&quot;/&gt;&lt;hasText val=&quot;1&quot;/&gt;&lt;paraId val=&quot;2&quot;/&gt;&lt;/Image&gt;&lt;/TextEffect&gt;"/>
</p:tagLst>
</file>

<file path=ppt/tags/tag2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TableIndex row=&quot;1&quot; col=&quot;2&quot;&gt;&lt;linesCount val=&quot;1&quot;/&gt;&lt;lineCharCount val=&quot;4&quot;/&gt;&lt;/TableIndex&gt;&lt;TableIndex row=&quot;2&quot; col=&quot;1&quot;&gt;&lt;linesCount val=&quot;1&quot;/&gt;&lt;lineCharCount val=&quot;4&quot;/&gt;&lt;/TableIndex&gt;&lt;TableIndex row=&quot;2&quot; col=&quot;2&quot;&gt;&lt;linesCount val=&quot;3&quot;/&gt;&lt;lineCharCount val=&quot;81&quot;/&gt;&lt;lineCharCount val=&quot;86&quot;/&gt;&lt;lineCharCount val=&quot;85&quot;/&gt;&lt;/TableIndex&gt;&lt;TableIndex row=&quot;3&quot; col=&quot;1&quot;&gt;&lt;linesCount val=&quot;1&quot;/&gt;&lt;lineCharCount val=&quot;3&quot;/&gt;&lt;/TableIndex&gt;&lt;TableIndex row=&quot;3&quot; col=&quot;2&quot;&gt;&lt;linesCount val=&quot;1&quot;/&gt;&lt;lineCharCount val=&quot;3&quot;/&gt;&lt;/TableIndex&gt;&lt;/ShapeTextInfo&gt;"/>
  <p:tag name="HTML_SHAPEINFO" val="&lt;ThreeDShapeInfo&gt;&lt;uuid val=&quot;&quot;/&gt;&lt;isInvalidForFieldText val=&quot;0&quot;/&gt;&lt;Image&gt;&lt;filename val=&quot;C:\Users\sanmi\Documents\My Adobe Presentations\ece552-CachePerformance\data\asimages\{9765E352-A302-44EC-B42D-78FC830FB2A8}_27.png&quot;/&gt;&lt;left val=&quot;8&quot;/&gt;&lt;top val=&quot;347&quot;/&gt;&lt;width val=&quot;704&quot;/&gt;&lt;height val=&quot;107&quot;/&gt;&lt;hasText val=&quot;1&quot;/&gt;&lt;/Image&gt;&lt;/ThreeDShapeInfo&gt;"/>
</p:tagLst>
</file>

<file path=ppt/tags/tag2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 name="HTML_SHAPEINFO" val="&lt;ThreeDShapeInfo&gt;&lt;uuid val=&quot;&quot;/&gt;&lt;isInvalidForFieldText val=&quot;0&quot;/&gt;&lt;Image&gt;&lt;filename val=&quot;C:\Users\sanmi\Documents\My Adobe Presentations\ece552-CachePerformance\data\asimages\{8DD1ECA2-E8CA-4BB7-8EDC-B55C5F5B890B}_27.png&quot;/&gt;&lt;left val=&quot;482&quot;/&gt;&lt;top val=&quot;301&quot;/&gt;&lt;width val=&quot;234&quot;/&gt;&lt;height val=&quot;45&quot;/&gt;&lt;hasText val=&quot;1&quot;/&gt;&lt;/Image&gt;&lt;/ThreeDShape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2653</TotalTime>
  <Words>2863</Words>
  <Application>Microsoft Macintosh PowerPoint</Application>
  <PresentationFormat>On-screen Show (4:3)</PresentationFormat>
  <Paragraphs>573</Paragraphs>
  <Slides>27</Slides>
  <Notes>27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5" baseType="lpstr">
      <vt:lpstr>Arial</vt:lpstr>
      <vt:lpstr>Calibri</vt:lpstr>
      <vt:lpstr>Courier New</vt:lpstr>
      <vt:lpstr>Tahoma</vt:lpstr>
      <vt:lpstr>Times New Roman</vt:lpstr>
      <vt:lpstr>Wingdings</vt:lpstr>
      <vt:lpstr>Lecture Notes 552</vt:lpstr>
      <vt:lpstr>Chart</vt:lpstr>
      <vt:lpstr>ECE/CS 552: Cache Performance</vt:lpstr>
      <vt:lpstr>Cache Hierarchy (e.g., 2-level)</vt:lpstr>
      <vt:lpstr>Caches</vt:lpstr>
      <vt:lpstr>Caches – Placement</vt:lpstr>
      <vt:lpstr>Caches – Placement</vt:lpstr>
      <vt:lpstr>Caches – Placement</vt:lpstr>
      <vt:lpstr>Caches – Placement</vt:lpstr>
      <vt:lpstr>Caches – Replacement</vt:lpstr>
      <vt:lpstr>Caches – Replacement</vt:lpstr>
      <vt:lpstr>Caches – Replacement</vt:lpstr>
      <vt:lpstr>Skewed-Associative Caches</vt:lpstr>
      <vt:lpstr>Cache Performance</vt:lpstr>
      <vt:lpstr>Cache Performance</vt:lpstr>
      <vt:lpstr>Cache Performance</vt:lpstr>
      <vt:lpstr>Cache Performance</vt:lpstr>
      <vt:lpstr>Cache Performance</vt:lpstr>
      <vt:lpstr>Cache Misses</vt:lpstr>
      <vt:lpstr>Cache Misses</vt:lpstr>
      <vt:lpstr>Cache Misses</vt:lpstr>
      <vt:lpstr>Cache Misses</vt:lpstr>
      <vt:lpstr>Exercise</vt:lpstr>
      <vt:lpstr>Exercise</vt:lpstr>
      <vt:lpstr>Exercise</vt:lpstr>
      <vt:lpstr>Exercise</vt:lpstr>
      <vt:lpstr>Exercise</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Cache Performance</dc:title>
  <dc:creator/>
  <cp:lastModifiedBy>Boone Severson</cp:lastModifiedBy>
  <cp:revision>884</cp:revision>
  <cp:lastPrinted>1601-01-01T00:00:00Z</cp:lastPrinted>
  <dcterms:created xsi:type="dcterms:W3CDTF">1601-01-01T00:00:00Z</dcterms:created>
  <dcterms:modified xsi:type="dcterms:W3CDTF">2024-08-29T04:23:21Z</dcterms:modified>
</cp:coreProperties>
</file>