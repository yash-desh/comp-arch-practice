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5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6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6" r:id="rId1"/>
  </p:sldMasterIdLst>
  <p:notesMasterIdLst>
    <p:notesMasterId r:id="rId9"/>
  </p:notesMasterIdLst>
  <p:handoutMasterIdLst>
    <p:handoutMasterId r:id="rId10"/>
  </p:handoutMasterIdLst>
  <p:sldIdLst>
    <p:sldId id="367" r:id="rId2"/>
    <p:sldId id="348" r:id="rId3"/>
    <p:sldId id="368" r:id="rId4"/>
    <p:sldId id="360" r:id="rId5"/>
    <p:sldId id="364" r:id="rId6"/>
    <p:sldId id="365" r:id="rId7"/>
    <p:sldId id="366" r:id="rId8"/>
  </p:sldIdLst>
  <p:sldSz cx="9144000" cy="6858000" type="screen4x3"/>
  <p:notesSz cx="7004050" cy="9290050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6">
          <p15:clr>
            <a:srgbClr val="A4A3A4"/>
          </p15:clr>
        </p15:guide>
        <p15:guide id="2" pos="220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00000"/>
    <a:srgbClr val="006600"/>
    <a:srgbClr val="FF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65" autoAdjust="0"/>
  </p:normalViewPr>
  <p:slideViewPr>
    <p:cSldViewPr>
      <p:cViewPr varScale="1">
        <p:scale>
          <a:sx n="120" d="100"/>
          <a:sy n="120" d="100"/>
        </p:scale>
        <p:origin x="73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7"/>
    </p:cViewPr>
  </p:sorterViewPr>
  <p:notesViewPr>
    <p:cSldViewPr>
      <p:cViewPr varScale="1">
        <p:scale>
          <a:sx n="65" d="100"/>
          <a:sy n="65" d="100"/>
        </p:scale>
        <p:origin x="2565" y="60"/>
      </p:cViewPr>
      <p:guideLst>
        <p:guide orient="horz" pos="2926"/>
        <p:guide pos="220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5300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8750" y="0"/>
            <a:ext cx="3035300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4913"/>
            <a:ext cx="3657600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8750" y="8824913"/>
            <a:ext cx="3035300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3CB1B8AE-5CBD-4264-8A1D-E89D3DEB1E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949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5300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8750" y="0"/>
            <a:ext cx="3035300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9513" y="696913"/>
            <a:ext cx="4645025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3250"/>
            <a:ext cx="5137150" cy="4179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4913"/>
            <a:ext cx="3035300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8750" y="8824913"/>
            <a:ext cx="3035300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B862AF6C-1AE5-4399-86D2-69862224E9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22329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233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408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AF6C-1AE5-4399-86D2-69862224E9F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5457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0358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162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0571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4738" y="704850"/>
            <a:ext cx="4695825" cy="3522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E8B02-4736-417B-B842-A69D10654308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1564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82AA85B-1F6C-46DA-A011-F304FE3F68F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122271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548A9C6-7E71-4447-B3A6-378EB0C1BF9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807870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 2000 Mark Hill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D7111E3A-CC32-435B-9C4D-5D27629589D6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3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4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4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628021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Arithmetic Logic Units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40386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</a:t>
            </a:r>
            <a:r>
              <a:rPr lang="en-US" sz="2200" dirty="0" err="1"/>
              <a:t>Mikko</a:t>
            </a:r>
            <a:r>
              <a:rPr lang="en-US" sz="2200" dirty="0"/>
              <a:t> </a:t>
            </a:r>
            <a:r>
              <a:rPr lang="en-US" sz="2200" dirty="0" err="1"/>
              <a:t>Lipasti</a:t>
            </a:r>
            <a:r>
              <a:rPr lang="en-US" sz="2200" dirty="0"/>
              <a:t>, Mark Hill, David Wood, </a:t>
            </a:r>
            <a:r>
              <a:rPr lang="en-US" sz="2200" dirty="0" err="1"/>
              <a:t>Guri</a:t>
            </a:r>
            <a:r>
              <a:rPr lang="en-US" sz="2200" dirty="0"/>
              <a:t>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Datatypes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09600" y="1523999"/>
            <a:ext cx="8382000" cy="51974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32-bit word: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31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30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… 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3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 b</a:t>
            </a:r>
            <a:r>
              <a:rPr lang="en-US" altLang="en-US" sz="2800" baseline="-250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Recall: n bits enables 2</a:t>
            </a:r>
            <a:r>
              <a:rPr lang="en-US" altLang="en-US" sz="2400" baseline="30000" dirty="0"/>
              <a:t>n</a:t>
            </a:r>
            <a:r>
              <a:rPr lang="en-US" altLang="en-US" sz="2400" dirty="0"/>
              <a:t> unique combinations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No inherent meaning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In isolation, all bits in registers and memory are just arbitrary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Instructions define datatypes by how they use the bits</a:t>
            </a:r>
          </a:p>
          <a:p>
            <a:pPr eaLnBrk="1" hangingPunct="1">
              <a:lnSpc>
                <a:spcPct val="80000"/>
              </a:lnSpc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For example: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If [$t0] = 10101101001010000000000000000000, then: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$t0 may contain an integer value: -1389887488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$t0 may contain an unsigned integer value: 2905079808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$t0 may contain a memory address: 0xAD280000</a:t>
            </a:r>
          </a:p>
          <a:p>
            <a:pPr lvl="1" eaLnBrk="1" hangingPunct="1">
              <a:lnSpc>
                <a:spcPct val="80000"/>
              </a:lnSpc>
            </a:pPr>
            <a:r>
              <a:rPr lang="fr-FR" altLang="en-US" sz="2400" dirty="0"/>
              <a:t>$t0 may contain a machine instruction: sw $t0, 0($t1)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79EAAF0F-E26C-402D-BDC6-AFF7E83F4DD9}" type="slidenum">
              <a:rPr lang="en-US" altLang="en-US">
                <a:latin typeface="Calibri" panose="020F0502020204030204" pitchFamily="34" charset="0"/>
              </a:rPr>
              <a:pPr lvl="1"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85708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E10D569-0B84-4191-A447-4ED78E6F881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Signed Integers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9B4083A-ADF4-43F1-B469-67FF6308BD4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Consider a signed 8-bit number</a:t>
            </a:r>
          </a:p>
          <a:p>
            <a:pPr marL="457200" lvl="1" indent="0" eaLnBrk="1" hangingPunct="1">
              <a:buNone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-b</a:t>
            </a:r>
            <a:r>
              <a:rPr lang="en-US" altLang="en-US" baseline="-25000" dirty="0">
                <a:solidFill>
                  <a:schemeClr val="accent6">
                    <a:lumMod val="75000"/>
                  </a:schemeClr>
                </a:solidFill>
              </a:rPr>
              <a:t>7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US" dirty="0"/>
              <a:t>x 2</a:t>
            </a:r>
            <a:r>
              <a:rPr lang="en-US" altLang="en-US" baseline="30000" dirty="0"/>
              <a:t>7</a:t>
            </a:r>
            <a:r>
              <a:rPr lang="en-US" altLang="en-US" dirty="0"/>
              <a:t> + … b</a:t>
            </a:r>
            <a:r>
              <a:rPr lang="en-US" altLang="en-US" baseline="-25000" dirty="0"/>
              <a:t>1</a:t>
            </a:r>
            <a:r>
              <a:rPr lang="en-US" altLang="en-US" dirty="0"/>
              <a:t> x 2</a:t>
            </a:r>
            <a:r>
              <a:rPr lang="en-US" altLang="en-US" baseline="30000" dirty="0"/>
              <a:t>1</a:t>
            </a:r>
            <a:r>
              <a:rPr lang="en-US" altLang="en-US" dirty="0"/>
              <a:t> + b</a:t>
            </a:r>
            <a:r>
              <a:rPr lang="en-US" altLang="en-US" baseline="-25000" dirty="0"/>
              <a:t>0</a:t>
            </a:r>
            <a:r>
              <a:rPr lang="en-US" altLang="en-US" dirty="0"/>
              <a:t> x 2</a:t>
            </a:r>
            <a:r>
              <a:rPr lang="en-US" altLang="en-US" baseline="30000" dirty="0"/>
              <a:t>0</a:t>
            </a:r>
          </a:p>
          <a:p>
            <a:pPr marL="514350" indent="-457200" eaLnBrk="1" hangingPunct="1"/>
            <a:r>
              <a:rPr lang="en-US" altLang="en-US" dirty="0"/>
              <a:t>11000001</a:t>
            </a:r>
          </a:p>
          <a:p>
            <a:pPr marL="457200" lvl="1" indent="0" eaLnBrk="1" hangingPunct="1">
              <a:buNone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-2</a:t>
            </a:r>
            <a:r>
              <a:rPr lang="en-US" altLang="en-US" baseline="30000" dirty="0">
                <a:solidFill>
                  <a:schemeClr val="accent6">
                    <a:lumMod val="75000"/>
                  </a:schemeClr>
                </a:solidFill>
              </a:rPr>
              <a:t>7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US" dirty="0"/>
              <a:t>+ 2</a:t>
            </a:r>
            <a:r>
              <a:rPr lang="en-US" altLang="en-US" baseline="30000" dirty="0"/>
              <a:t>6</a:t>
            </a:r>
            <a:r>
              <a:rPr lang="en-US" altLang="en-US" dirty="0"/>
              <a:t> + 2</a:t>
            </a:r>
            <a:r>
              <a:rPr lang="en-US" altLang="en-US" baseline="30000" dirty="0"/>
              <a:t>0</a:t>
            </a:r>
            <a:r>
              <a:rPr lang="en-US" altLang="en-US" dirty="0"/>
              <a:t> =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-128 </a:t>
            </a:r>
            <a:r>
              <a:rPr lang="en-US" altLang="en-US" dirty="0"/>
              <a:t>+ 64 + 1 = -63</a:t>
            </a:r>
            <a:endParaRPr lang="en-US" altLang="en-US" baseline="30000" dirty="0"/>
          </a:p>
          <a:p>
            <a:pPr marL="514350" indent="-457200" eaLnBrk="1" hangingPunct="1"/>
            <a:r>
              <a:rPr lang="en-US" altLang="en-US" dirty="0"/>
              <a:t>11101010</a:t>
            </a:r>
          </a:p>
          <a:p>
            <a:pPr marL="457200" lvl="1" indent="0" eaLnBrk="1" hangingPunct="1">
              <a:buNone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-2</a:t>
            </a:r>
            <a:r>
              <a:rPr lang="en-US" altLang="en-US" baseline="30000" dirty="0">
                <a:solidFill>
                  <a:schemeClr val="accent6">
                    <a:lumMod val="75000"/>
                  </a:schemeClr>
                </a:solidFill>
              </a:rPr>
              <a:t>7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US" dirty="0"/>
              <a:t>+ 2</a:t>
            </a:r>
            <a:r>
              <a:rPr lang="en-US" altLang="en-US" baseline="30000" dirty="0"/>
              <a:t>6 </a:t>
            </a:r>
            <a:r>
              <a:rPr lang="en-US" altLang="en-US" dirty="0"/>
              <a:t>+ 2</a:t>
            </a:r>
            <a:r>
              <a:rPr lang="en-US" altLang="en-US" baseline="30000" dirty="0"/>
              <a:t>5</a:t>
            </a:r>
            <a:r>
              <a:rPr lang="en-US" altLang="en-US" dirty="0"/>
              <a:t> + 2</a:t>
            </a:r>
            <a:r>
              <a:rPr lang="en-US" altLang="en-US" baseline="30000" dirty="0"/>
              <a:t>3 </a:t>
            </a:r>
            <a:r>
              <a:rPr lang="en-US" altLang="en-US" dirty="0"/>
              <a:t>+ 2</a:t>
            </a:r>
            <a:r>
              <a:rPr lang="en-US" altLang="en-US" baseline="30000" dirty="0"/>
              <a:t>1</a:t>
            </a:r>
            <a:r>
              <a:rPr lang="en-US" altLang="en-US" dirty="0"/>
              <a:t> =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-128 </a:t>
            </a:r>
            <a:r>
              <a:rPr lang="en-US" altLang="en-US" dirty="0"/>
              <a:t>+ 64 + 32 + 8 + 2 = -22</a:t>
            </a:r>
            <a:endParaRPr lang="en-US" altLang="en-US" baseline="30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1629CF-6766-4F92-A6E0-A1E76CE6416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fld id="{9CC09E01-3551-4759-B836-736BF003C984}" type="slidenum">
              <a:rPr lang="en-US" altLang="en-US">
                <a:latin typeface="Calibri" panose="020F0502020204030204" pitchFamily="34" charset="0"/>
              </a:rPr>
              <a:pPr lvl="1"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08630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4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221992"/>
            <a:ext cx="36657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nor	$t0, $t0, $zero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$t0,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49580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14098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5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221992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nor	$t0, $t0, $zero		# [$t0] = ~[$t0] …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$t0, 1		# … + 1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601198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6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221992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nor	$t0, $t0, $zero		# [$t0] = ~[$t0] …</a:t>
            </a:r>
          </a:p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dirty="0" err="1">
                <a:latin typeface="+mn-lt"/>
              </a:rPr>
              <a:t>addi</a:t>
            </a:r>
            <a:r>
              <a:rPr lang="en-US" dirty="0">
                <a:latin typeface="+mn-lt"/>
              </a:rPr>
              <a:t>	$t0, $t0, 1		# … + 1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49580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Negates integer in $t0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Reduce the number of instructions executed?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81296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990840"/>
          </a:xfrm>
        </p:spPr>
        <p:txBody>
          <a:bodyPr/>
          <a:lstStyle/>
          <a:p>
            <a:r>
              <a:rPr lang="en-US" dirty="0"/>
              <a:t>Exercise – MIPS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37961" y="1371600"/>
            <a:ext cx="8229600" cy="83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does this assembly code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 lvl="1"/>
            <a:fld id="{217407CB-AE38-450A-8258-626CEFFEE7BF}" type="slidenum">
              <a:rPr lang="en-US" altLang="en-US" smtClean="0"/>
              <a:pPr lvl="1"/>
              <a:t>7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C8DE9-1244-4D3B-8455-07FFC050A3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0556" y="2221992"/>
            <a:ext cx="85072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tabLst>
                <a:tab pos="463550" algn="l"/>
                <a:tab pos="914400" algn="l"/>
                <a:tab pos="1657350" algn="l"/>
                <a:tab pos="2292350" algn="l"/>
              </a:tabLst>
            </a:pPr>
            <a:r>
              <a:rPr lang="en-US" dirty="0">
                <a:latin typeface="+mn-lt"/>
              </a:rPr>
              <a:t>		</a:t>
            </a:r>
            <a:r>
              <a:rPr lang="en-US" b="1" dirty="0">
                <a:latin typeface="+mn-lt"/>
              </a:rPr>
              <a:t>sub	$t0, $zero, $t0		# [$t0] = 0 – [$t0]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FE739B-C4BE-4EFC-8777-E976064D612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37961" y="4495800"/>
            <a:ext cx="8229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Negates integer in $t0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Reduce the number of instructions executed?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521707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Arithmetic Logic Units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f2019-ALUs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0935&quot;&gt;&lt;property id=&quot;20148&quot; value=&quot;5&quot;/&gt;&lt;property id=&quot;20300&quot; value=&quot;Slide 1 - &amp;quot;ECE/CS 552: Arithmetic Logic Units&amp;quot;&quot;/&gt;&lt;property id=&quot;20307&quot; value=&quot;297&quot;/&gt;&lt;property id=&quot;20309&quot; value=&quot;-1&quot;/&gt;&lt;/object&gt;&lt;object type=&quot;3&quot; unique_id=&quot;149059&quot;&gt;&lt;property id=&quot;20148&quot; value=&quot;5&quot;/&gt;&lt;property id=&quot;20300&quot; value=&quot;Slide 2 - &amp;quot;Background&amp;quot;&quot;/&gt;&lt;property id=&quot;20307&quot; value=&quot;348&quot;/&gt;&lt;property id=&quot;20309&quot; value=&quot;-1&quot;/&gt;&lt;/object&gt;&lt;object type=&quot;3&quot; unique_id=&quot;157999&quot;&gt;&lt;property id=&quot;20148&quot; value=&quot;5&quot;/&gt;&lt;property id=&quot;20300&quot; value=&quot;Slide 3 - &amp;quot;Exercise – MIPS Assembly&amp;quot;&quot;/&gt;&lt;property id=&quot;20307&quot; value=&quot;360&quot;/&gt;&lt;/object&gt;&lt;object type=&quot;3&quot; unique_id=&quot;158003&quot;&gt;&lt;property id=&quot;20148&quot; value=&quot;5&quot;/&gt;&lt;property id=&quot;20300&quot; value=&quot;Slide 4 - &amp;quot;Exercise – MIPS Assembly&amp;quot;&quot;/&gt;&lt;property id=&quot;20307&quot; value=&quot;364&quot;/&gt;&lt;/object&gt;&lt;object type=&quot;3&quot; unique_id=&quot;158004&quot;&gt;&lt;property id=&quot;20148&quot; value=&quot;5&quot;/&gt;&lt;property id=&quot;20300&quot; value=&quot;Slide 5 - &amp;quot;Exercise – MIPS Assembly&amp;quot;&quot;/&gt;&lt;property id=&quot;20307&quot; value=&quot;365&quot;/&gt;&lt;/object&gt;&lt;object type=&quot;3&quot; unique_id=&quot;158005&quot;&gt;&lt;property id=&quot;20148&quot; value=&quot;5&quot;/&gt;&lt;property id=&quot;20300&quot; value=&quot;Slide 6 - &amp;quot;Exercise – MIPS Assembly&amp;quot;&quot;/&gt;&lt;property id=&quot;20307&quot; value=&quot;366&quot;/&gt;&lt;/object&gt;&lt;object type=&quot;3&quot; unique_id=&quot;158404&quot;&gt;&lt;property id=&quot;20148&quot; value=&quot;5&quot;/&gt;&lt;property id=&quot;20300&quot; value=&quot;Slide 7 - &amp;quot;Announcements&amp;quot;&quot;/&gt;&lt;property id=&quot;20307&quot; value=&quot;367&quot;/&gt;&lt;/object&gt;&lt;/object&gt;&lt;object type=&quot;10&quot; unique_id=&quot;11245&quot;&gt;&lt;object type=&quot;11&quot; unique_id=&quot;11246&quot;&gt;&lt;property id=&quot;20180&quot; value=&quot;0&quot;/&gt;&lt;property id=&quot;20181&quot; value=&quot;1&quot;/&gt;&lt;property id=&quot;20183&quot; value=&quot;1&quot;/&gt;&lt;/object&gt;&lt;object type=&quot;12&quot; unique_id=&quot;152982&quot;&gt;&lt;/object&gt;&lt;/object&gt;&lt;object type=&quot;4&quot; unique_id=&quot;11247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1605642603,C:\Users\sanmi\GoogleDrive\UWMdrive\Courses\ECE552\ece552-lec05_ALUs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58515EC0-A9D1-494B-BD2F-22285E1D6EE7}_1.png&quot;/&gt;&lt;left val=&quot;23&quot;/&gt;&lt;top val=&quot;206&quot;/&gt;&lt;width val=&quot;672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4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783D623A-20AD-45D3-8220-ADEE67CED9BE}_1.png&quot;/&gt;&lt;left val=&quot;103&quot;/&gt;&lt;top val=&quot;314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8987AEC4-3BD5-4902-81AF-77953EB6689D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ALUs\data\asimages\{5AAD543F-8B58-46A6-95C9-557A8B247D0D}_1.png_crop.png&quot;/&gt;&lt;left val=&quot;56&quot;/&gt;&lt;top val=&quot;124&quot;/&gt;&lt;width val=&quot;393&quot;/&gt;&lt;height val=&quot;26&quot;/&gt;&lt;hasText val=&quot;1&quot;/&gt;&lt;paraId val=&quot;1&quot;/&gt;&lt;/Image&gt;&lt;Image&gt;&lt;filename val=&quot;C:\Users\sanmi\Documents\My Adobe Presentations\ece552f2019-ALUs\data\asimages\{007779E1-A26C-4481-A752-5B51F657B8C5}_1.png_crop.png&quot;/&gt;&lt;left val=&quot;90&quot;/&gt;&lt;top val=&quot;156&quot;/&gt;&lt;width val=&quot;461&quot;/&gt;&lt;height val=&quot;20&quot;/&gt;&lt;hasText val=&quot;1&quot;/&gt;&lt;paraId val=&quot;2&quot;/&gt;&lt;/Image&gt;&lt;Image&gt;&lt;filename val=&quot;C:\Users\sanmi\Documents\My Adobe Presentations\ece552f2019-ALUs\data\asimages\{4053CA33-C247-4AC8-BC53-DBF9EAD87E10}_1.png_crop.png&quot;/&gt;&lt;left val=&quot;56&quot;/&gt;&lt;top val=&quot;186&quot;/&gt;&lt;width val=&quot;266&quot;/&gt;&lt;height val=&quot;24&quot;/&gt;&lt;hasText val=&quot;1&quot;/&gt;&lt;paraId val=&quot;3&quot;/&gt;&lt;/Image&gt;&lt;Image&gt;&lt;filename val=&quot;C:\Users\sanmi\Documents\My Adobe Presentations\ece552f2019-ALUs\data\asimages\{C7C9EB96-B028-4135-B55F-9928F57A4C16}_1.png_crop.png&quot;/&gt;&lt;left val=&quot;90&quot;/&gt;&lt;top val=&quot;219&quot;/&gt;&lt;width val=&quot;522&quot;/&gt;&lt;height val=&quot;44&quot;/&gt;&lt;hasText val=&quot;1&quot;/&gt;&lt;paraId val=&quot;4&quot;/&gt;&lt;/Image&gt;&lt;Image&gt;&lt;filename val=&quot;C:\Users\sanmi\Documents\My Adobe Presentations\ece552f2019-ALUs\data\asimages\{35B3409D-2433-4F0D-ABAC-E6782EE24DBD}_1.png_crop.png&quot;/&gt;&lt;left val=&quot;90&quot;/&gt;&lt;top val=&quot;271&quot;/&gt;&lt;width val=&quot;548&quot;/&gt;&lt;height val=&quot;20&quot;/&gt;&lt;hasText val=&quot;1&quot;/&gt;&lt;paraId val=&quot;5&quot;/&gt;&lt;/Image&gt;&lt;Image&gt;&lt;filename val=&quot;C:\Users\sanmi\Documents\My Adobe Presentations\ece552f2019-ALUs\data\asimages\{8F662D40-D73F-4D60-8C63-AA372ADA527C}_1.png_crop.png&quot;/&gt;&lt;left val=&quot;707&quot;/&gt;&lt;top val=&quot;529&quot;/&gt;&lt;width val=&quot;0&quot;/&gt;&lt;height val=&quot;0&quot;/&gt;&lt;hasText val=&quot;1&quot;/&gt;&lt;paraId val=&quot;6&quot;/&gt;&lt;/Image&gt;&lt;Image&gt;&lt;filename val=&quot;C:\Users\sanmi\Documents\My Adobe Presentations\ece552f2019-ALUs\data\asimages\{A124298C-6569-48A4-917C-0E4D37355318}_1.png_crop.png&quot;/&gt;&lt;left val=&quot;56&quot;/&gt;&lt;top val=&quot;317&quot;/&gt;&lt;width val=&quot;142&quot;/&gt;&lt;height val=&quot;24&quot;/&gt;&lt;hasText val=&quot;1&quot;/&gt;&lt;paraId val=&quot;7&quot;/&gt;&lt;/Image&gt;&lt;Image&gt;&lt;filename val=&quot;C:\Users\sanmi\Documents\My Adobe Presentations\ece552f2019-ALUs\data\asimages\{223D2E17-ED13-443E-A1A0-DDF278FE1DA7}_1.png_crop.png&quot;/&gt;&lt;left val=&quot;56&quot;/&gt;&lt;top val=&quot;349&quot;/&gt;&lt;width val=&quot;629&quot;/&gt;&lt;height val=&quot;25&quot;/&gt;&lt;hasText val=&quot;1&quot;/&gt;&lt;paraId val=&quot;8&quot;/&gt;&lt;/Image&gt;&lt;Image&gt;&lt;filename val=&quot;C:\Users\sanmi\Documents\My Adobe Presentations\ece552f2019-ALUs\data\asimages\{5C714986-6803-46F7-84F6-FEBED3A9C9F1}_1.png_crop.png&quot;/&gt;&lt;left val=&quot;90&quot;/&gt;&lt;top val=&quot;382&quot;/&gt;&lt;width val=&quot;479&quot;/&gt;&lt;height val=&quot;22&quot;/&gt;&lt;hasText val=&quot;1&quot;/&gt;&lt;paraId val=&quot;9&quot;/&gt;&lt;/Image&gt;&lt;Image&gt;&lt;filename val=&quot;C:\Users\sanmi\Documents\My Adobe Presentations\ece552f2019-ALUs\data\asimages\{B9E7E681-1E31-4708-80B9-BBEF99EB8422}_1.png_crop.png&quot;/&gt;&lt;left val=&quot;90&quot;/&gt;&lt;top val=&quot;411&quot;/&gt;&lt;width val=&quot;566&quot;/&gt;&lt;height val=&quot;22&quot;/&gt;&lt;hasText val=&quot;1&quot;/&gt;&lt;paraId val=&quot;10&quot;/&gt;&lt;/Image&gt;&lt;Image&gt;&lt;filename val=&quot;C:\Users\sanmi\Documents\My Adobe Presentations\ece552f2019-ALUs\data\asimages\{A0D75898-B5C8-4DCA-872A-59D0DC95FA27}_1.png_crop.png&quot;/&gt;&lt;left val=&quot;90&quot;/&gt;&lt;top val=&quot;440&quot;/&gt;&lt;width val=&quot;499&quot;/&gt;&lt;height val=&quot;22&quot;/&gt;&lt;hasText val=&quot;1&quot;/&gt;&lt;paraId val=&quot;11&quot;/&gt;&lt;/Image&gt;&lt;Image&gt;&lt;filename val=&quot;C:\Users\sanmi\Documents\My Adobe Presentations\ece552f2019-ALUs\data\asimages\{09A7E789-C53D-4B11-BCFC-53E0098735A0}_1.png_crop.png&quot;/&gt;&lt;left val=&quot;90&quot;/&gt;&lt;top val=&quot;469&quot;/&gt;&lt;width val=&quot;539&quot;/&gt;&lt;height val=&quot;22&quot;/&gt;&lt;hasText val=&quot;1&quot;/&gt;&lt;paraId val=&quot;12&quot;/&gt;&lt;/Image&gt;&lt;Image&gt;&lt;filename val=&quot;C:\Users\sanmi\Documents\My Adobe Presentations\ece552f2019-ALUs\data\asimages\{26E7A484-CE61-4236-A3F6-B7F89D8378A9}_1.png_crop.png&quot;/&gt;&lt;left val=&quot;127&quot;/&gt;&lt;top val=&quot;498&quot;/&gt;&lt;width val=&quot;385&quot;/&gt;&lt;height val=&quot;14&quot;/&gt;&lt;hasText val=&quot;1&quot;/&gt;&lt;paraId val=&quot;13&quot;/&gt;&lt;/Image&gt;&lt;/TextEffect&gt;"/>
  <p:tag name="PRESENTER_SHAPETEXTINFO" val="&lt;ShapeTextInfo&gt;&lt;TableIndex row=&quot;-1&quot; col=&quot;-1&quot;&gt;&lt;linesCount val=&quot;14&quot;/&gt;&lt;lineCharCount val=&quot;35&quot;/&gt;&lt;lineCharCount val=&quot;46&quot;/&gt;&lt;lineCharCount val=&quot;20&quot;/&gt;&lt;lineCharCount val=&quot;56&quot;/&gt;&lt;lineCharCount val=&quot;10&quot;/&gt;&lt;lineCharCount val=&quot;55&quot;/&gt;&lt;lineCharCount val=&quot;1&quot;/&gt;&lt;lineCharCount val=&quot;13&quot;/&gt;&lt;lineCharCount val=&quot;51&quot;/&gt;&lt;lineCharCount val=&quot;46&quot;/&gt;&lt;lineCharCount val=&quot;54&quot;/&gt;&lt;lineCharCount val=&quot;45&quot;/&gt;&lt;lineCharCount val=&quot;54&quot;/&gt;&lt;lineCharCount val=&quot;44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90A9B30E-A9E0-44C0-87A1-B1A42DB7263A}_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605642603,C:\Users\sanmi\GoogleDrive\UWMdrive\Courses\ECE552\ece552-lec05_ALUs_pptx\Media.ppcx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49DDE1C-98DB-4302-9246-5C9EF29A01F1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AA493B0C-3B82-4EFD-BEC8-E5F9F567C3FC}_6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7&quot;/&gt;&lt;lineCharCount val=&quot;15&quot;/&gt;&lt;lineCharCount val=&quot;45&quot;/&gt;&lt;lineCharCount val=&quot;38&quot;/&gt;&lt;lineCharCount val=&quot;48&quot;/&gt;&lt;lineCharCount val=&quot;18&quot;/&gt;&lt;lineCharCount val=&quot;33&quot;/&gt;&lt;lineCharCount val=&quot;36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ALUs\data\asimages\{62D529E5-2CAB-4281-B4D7-46E38CB56E13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F2F861F6-EFB0-4A4E-90C2-802BD1B0A45E}_19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E232316B-D830-410B-94B7-72021AA8088F}_19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E5D9A1A9-8BED-4479-921C-0B8B6FE1CCCD}_1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E6C39F44-E359-4680-882B-9459AD497CF2}_19.png&quot;/&gt;&lt;left val=&quot;43&quot;/&gt;&lt;top val=&quot;170&quot;/&gt;&lt;width val=&quot;294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17&quot;/&gt;&lt;lineCharCount val=&quot;22&quot;/&gt;&lt;lineCharCount val=&quot;19&quot;/&gt;&lt;lineCharCount val=&quot;16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22B1FD70-0B09-4F0E-8B27-EBE12C2F1331}_21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CFEFDF59-4E2B-4CC0-9EAB-9EE349A076F4}_21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3BD5FEA1-132B-4268-8F89-E7FA7654D4F7}_2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F371696F-5098-4982-A174-D9403EB16CD3}_21.png&quot;/&gt;&lt;left val=&quot;43&quot;/&gt;&lt;top val=&quot;170&quot;/&gt;&lt;width val=&quot;294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17&quot;/&gt;&lt;lineCharCount val=&quot;22&quot;/&gt;&lt;lineCharCount val=&quot;19&quot;/&gt;&lt;lineCharCount val=&quot;16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22B1FD70-0B09-4F0E-8B27-EBE12C2F1331}_21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CFEFDF59-4E2B-4CC0-9EAB-9EE349A076F4}_21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3BD5FEA1-132B-4268-8F89-E7FA7654D4F7}_2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F371696F-5098-4982-A174-D9403EB16CD3}_21.png&quot;/&gt;&lt;left val=&quot;43&quot;/&gt;&lt;top val=&quot;170&quot;/&gt;&lt;width val=&quot;294&quot;/&gt;&lt;height val=&quot;137&quot;/&gt;&lt;hasText val=&quot;1&quot;/&gt;&lt;/Image&gt;&lt;/ThreeDShapeInfo&gt;"/>
  <p:tag name="PRESENTER_SHAPETEXTINFO" val="&lt;ShapeTextInfo&gt;&lt;TableIndex row=&quot;-1&quot; col=&quot;-1&quot;&gt;&lt;linesCount val=&quot;4&quot;/&gt;&lt;lineCharCount val=&quot;17&quot;/&gt;&lt;lineCharCount val=&quot;22&quot;/&gt;&lt;lineCharCount val=&quot;19&quot;/&gt;&lt;lineCharCount val=&quot;16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C4CC210D-0689-4FCB-B688-FBA9900DB885}_21.png&quot;/&gt;&lt;left val=&quot;21&quot;/&gt;&lt;top val=&quot;347&quot;/&gt;&lt;width val=&quot;665&quot;/&gt;&lt;height val=&quot;153&quot;/&gt;&lt;hasText val=&quot;1&quot;/&gt;&lt;/Image&gt;&lt;/ThreeDShapeInfo&gt;"/>
  <p:tag name="PRESENTER_SHAPETEXTINFO" val="&lt;ShapeTextInfo&gt;&lt;TableIndex row=&quot;-1&quot; col=&quot;-1&quot;&gt;&lt;linesCount val=&quot;3&quot;/&gt;&lt;lineCharCount val=&quot;47&quot;/&gt;&lt;lineCharCount val=&quot;1&quot;/&gt;&lt;lineCharCount val=&quot;43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2.PNG&quot;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1EE7E364-1D5C-4CB3-9AB5-2CA2E5EFC984}_22.png&quot;/&gt;&lt;left val=&quot;35&quot;/&gt;&lt;top val=&quot;20&quot;/&gt;&lt;width val=&quot;588&quot;/&gt;&lt;height val=&quot;93&quot;/&gt;&lt;hasText val=&quot;1&quot;/&gt;&lt;/Image&gt;&lt;/ThreeDShapeInfo&gt;"/>
  <p:tag name="PRESENTER_SHAPETEXTINFO" val="&lt;ShapeTextInfo&gt;&lt;TableIndex row=&quot;-1&quot; col=&quot;-1&quot;&gt;&lt;linesCount val=&quot;1&quot;/&gt;&lt;lineCharCount val=&quot;24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ABECF786-996E-4F63-9C2E-0715DB91D77C}_22.png&quot;/&gt;&lt;left val=&quot;21&quot;/&gt;&lt;top val=&quot;101&quot;/&gt;&lt;width val=&quot;661&quot;/&gt;&lt;height val=&quot;72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FF2401A9-CAD5-4767-AA58-7B5DEE7894FA}_2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E151AD3E-0218-4B39-8F65-17B1A6A1EFEB}_22.png&quot;/&gt;&lt;left val=&quot;43&quot;/&gt;&lt;top val=&quot;170&quot;/&gt;&lt;width val=&quot;295&quot;/&gt;&lt;height val=&quot;109&quot;/&gt;&lt;hasText val=&quot;1&quot;/&gt;&lt;/Image&gt;&lt;/ThreeDShapeInfo&gt;"/>
  <p:tag name="PRESENTER_SHAPETEXTINFO" val="&lt;ShapeTextInfo&gt;&lt;TableIndex row=&quot;-1&quot; col=&quot;-1&quot;&gt;&lt;linesCount val=&quot;3&quot;/&gt;&lt;lineCharCount val=&quot;17&quot;/&gt;&lt;lineCharCount val=&quot;22&quot;/&gt;&lt;lineCharCount val=&quot;16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ISABasics\data\asimages\{82CB6257-7039-4187-A02C-015EBB488271}_22.png&quot;/&gt;&lt;left val=&quot;21&quot;/&gt;&lt;top val=&quot;347&quot;/&gt;&lt;width val=&quot;665&quot;/&gt;&lt;height val=&quot;153&quot;/&gt;&lt;hasText val=&quot;1&quot;/&gt;&lt;/Image&gt;&lt;/ThreeDShapeInfo&gt;"/>
  <p:tag name="PRESENTER_SHAPETEXTINFO" val="&lt;ShapeTextInfo&gt;&lt;TableIndex row=&quot;-1&quot; col=&quot;-1&quot;&gt;&lt;linesCount val=&quot;3&quot;/&gt;&lt;lineCharCount val=&quot;47&quot;/&gt;&lt;lineCharCount val=&quot;1&quot;/&gt;&lt;lineCharCount val=&quot;43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1701</TotalTime>
  <Words>411</Words>
  <Application>Microsoft Macintosh PowerPoint</Application>
  <PresentationFormat>On-screen Show (4:3)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Lecture Notes 552</vt:lpstr>
      <vt:lpstr>ECE/CS 552: Arithmetic Logic Units</vt:lpstr>
      <vt:lpstr>Datatypes</vt:lpstr>
      <vt:lpstr>Signed Integers</vt:lpstr>
      <vt:lpstr>Exercise – MIPS Assembly</vt:lpstr>
      <vt:lpstr>Exercise – MIPS Assembly</vt:lpstr>
      <vt:lpstr>Exercise – MIPS Assembly</vt:lpstr>
      <vt:lpstr>Exercise – MIPS Assembly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ALUs</dc:title>
  <dc:creator/>
  <cp:lastModifiedBy>Boone Severson</cp:lastModifiedBy>
  <cp:revision>504</cp:revision>
  <cp:lastPrinted>1601-01-01T00:00:00Z</cp:lastPrinted>
  <dcterms:created xsi:type="dcterms:W3CDTF">1601-01-01T00:00:00Z</dcterms:created>
  <dcterms:modified xsi:type="dcterms:W3CDTF">2024-09-01T22:54:50Z</dcterms:modified>
</cp:coreProperties>
</file>