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2.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3.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4.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notesSlides/notesSlide5.xml" ContentType="application/vnd.openxmlformats-officedocument.presentationml.notesSlid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6.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notesSlides/notesSlide7.xml" ContentType="application/vnd.openxmlformats-officedocument.presentationml.notesSlide+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8.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9.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notesSlides/notesSlide10.xml" ContentType="application/vnd.openxmlformats-officedocument.presentationml.notesSlide+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notesSlides/notesSlide11.xml" ContentType="application/vnd.openxmlformats-officedocument.presentationml.notesSlid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14"/>
  </p:notesMasterIdLst>
  <p:handoutMasterIdLst>
    <p:handoutMasterId r:id="rId15"/>
  </p:handoutMasterIdLst>
  <p:sldIdLst>
    <p:sldId id="495" r:id="rId2"/>
    <p:sldId id="527" r:id="rId3"/>
    <p:sldId id="565" r:id="rId4"/>
    <p:sldId id="574" r:id="rId5"/>
    <p:sldId id="582" r:id="rId6"/>
    <p:sldId id="573" r:id="rId7"/>
    <p:sldId id="576" r:id="rId8"/>
    <p:sldId id="577" r:id="rId9"/>
    <p:sldId id="578" r:id="rId10"/>
    <p:sldId id="579" r:id="rId11"/>
    <p:sldId id="580" r:id="rId12"/>
    <p:sldId id="581" r:id="rId13"/>
  </p:sldIdLst>
  <p:sldSz cx="9144000" cy="6858000" type="screen4x3"/>
  <p:notesSz cx="6845300" cy="9396413"/>
  <p:custDataLst>
    <p:tags r:id="rId16"/>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6D1408-A5FF-5C4F-9EB6-A8F3869C77C4}" v="8" dt="2024-09-26T01:30:36.5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658"/>
  </p:normalViewPr>
  <p:slideViewPr>
    <p:cSldViewPr>
      <p:cViewPr varScale="1">
        <p:scale>
          <a:sx n="120" d="100"/>
          <a:sy n="120" d="100"/>
        </p:scale>
        <p:origin x="1944" y="184"/>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0" d="100"/>
          <a:sy n="120" d="100"/>
        </p:scale>
        <p:origin x="5046" y="108"/>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5/10/relationships/revisionInfo" Target="revisionInfo.xml"/></Relationships>
</file>

<file path=ppt/_rels/viewProps.xml.rels><?xml version="1.0" encoding="UTF-8" standalone="yes"?>
<Relationships xmlns="http://schemas.openxmlformats.org/package/2006/relationships"><Relationship Id="rId3" Type="http://schemas.openxmlformats.org/officeDocument/2006/relationships/slide" Target="slides/slide8.xml"/><Relationship Id="rId7" Type="http://schemas.openxmlformats.org/officeDocument/2006/relationships/slide" Target="slides/slide12.xml"/><Relationship Id="rId2" Type="http://schemas.openxmlformats.org/officeDocument/2006/relationships/slide" Target="slides/slide7.xml"/><Relationship Id="rId1" Type="http://schemas.openxmlformats.org/officeDocument/2006/relationships/slide" Target="slides/slide6.xml"/><Relationship Id="rId6" Type="http://schemas.openxmlformats.org/officeDocument/2006/relationships/slide" Target="slides/slide11.xml"/><Relationship Id="rId5" Type="http://schemas.openxmlformats.org/officeDocument/2006/relationships/slide" Target="slides/slide10.xml"/><Relationship Id="rId4" Type="http://schemas.openxmlformats.org/officeDocument/2006/relationships/slide" Target="slides/slide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one Severson" userId="1d942a2b-e0b5-491a-b49e-d500fa0ad426" providerId="ADAL" clId="{F86D1408-A5FF-5C4F-9EB6-A8F3869C77C4}"/>
    <pc:docChg chg="custSel modSld">
      <pc:chgData name="Boone Severson" userId="1d942a2b-e0b5-491a-b49e-d500fa0ad426" providerId="ADAL" clId="{F86D1408-A5FF-5C4F-9EB6-A8F3869C77C4}" dt="2024-09-26T01:31:33.538" v="62" actId="404"/>
      <pc:docMkLst>
        <pc:docMk/>
      </pc:docMkLst>
      <pc:sldChg chg="modSp mod">
        <pc:chgData name="Boone Severson" userId="1d942a2b-e0b5-491a-b49e-d500fa0ad426" providerId="ADAL" clId="{F86D1408-A5FF-5C4F-9EB6-A8F3869C77C4}" dt="2024-09-26T01:27:56.232" v="35" actId="20577"/>
        <pc:sldMkLst>
          <pc:docMk/>
          <pc:sldMk cId="2392838502" sldId="495"/>
        </pc:sldMkLst>
        <pc:spChg chg="mod">
          <ac:chgData name="Boone Severson" userId="1d942a2b-e0b5-491a-b49e-d500fa0ad426" providerId="ADAL" clId="{F86D1408-A5FF-5C4F-9EB6-A8F3869C77C4}" dt="2024-09-26T01:27:56.232" v="35" actId="20577"/>
          <ac:spMkLst>
            <pc:docMk/>
            <pc:sldMk cId="2392838502" sldId="495"/>
            <ac:spMk id="3" creationId="{00000000-0000-0000-0000-000000000000}"/>
          </ac:spMkLst>
        </pc:spChg>
      </pc:sldChg>
      <pc:sldChg chg="modSp mod">
        <pc:chgData name="Boone Severson" userId="1d942a2b-e0b5-491a-b49e-d500fa0ad426" providerId="ADAL" clId="{F86D1408-A5FF-5C4F-9EB6-A8F3869C77C4}" dt="2024-09-26T01:29:25.141" v="48" actId="403"/>
        <pc:sldMkLst>
          <pc:docMk/>
          <pc:sldMk cId="68870820" sldId="565"/>
        </pc:sldMkLst>
        <pc:graphicFrameChg chg="mod modGraphic">
          <ac:chgData name="Boone Severson" userId="1d942a2b-e0b5-491a-b49e-d500fa0ad426" providerId="ADAL" clId="{F86D1408-A5FF-5C4F-9EB6-A8F3869C77C4}" dt="2024-09-26T01:29:25.141" v="48" actId="403"/>
          <ac:graphicFrameMkLst>
            <pc:docMk/>
            <pc:sldMk cId="68870820" sldId="565"/>
            <ac:graphicFrameMk id="10" creationId="{07D4737C-F356-4FC9-AC16-0B017743A997}"/>
          </ac:graphicFrameMkLst>
        </pc:graphicFrameChg>
      </pc:sldChg>
      <pc:sldChg chg="modSp mod">
        <pc:chgData name="Boone Severson" userId="1d942a2b-e0b5-491a-b49e-d500fa0ad426" providerId="ADAL" clId="{F86D1408-A5FF-5C4F-9EB6-A8F3869C77C4}" dt="2024-09-26T01:31:33.538" v="62" actId="404"/>
        <pc:sldMkLst>
          <pc:docMk/>
          <pc:sldMk cId="3230925717" sldId="582"/>
        </pc:sldMkLst>
        <pc:graphicFrameChg chg="mod modGraphic">
          <ac:chgData name="Boone Severson" userId="1d942a2b-e0b5-491a-b49e-d500fa0ad426" providerId="ADAL" clId="{F86D1408-A5FF-5C4F-9EB6-A8F3869C77C4}" dt="2024-09-26T01:31:33.538" v="62" actId="404"/>
          <ac:graphicFrameMkLst>
            <pc:docMk/>
            <pc:sldMk cId="3230925717" sldId="582"/>
            <ac:graphicFrameMk id="7" creationId="{612D0E06-1F2D-495F-A7DD-45E79ADBF46B}"/>
          </ac:graphicFrameMkLst>
        </pc:graphicFrameChg>
        <pc:graphicFrameChg chg="mod modGraphic">
          <ac:chgData name="Boone Severson" userId="1d942a2b-e0b5-491a-b49e-d500fa0ad426" providerId="ADAL" clId="{F86D1408-A5FF-5C4F-9EB6-A8F3869C77C4}" dt="2024-09-26T01:31:19.883" v="59" actId="255"/>
          <ac:graphicFrameMkLst>
            <pc:docMk/>
            <pc:sldMk cId="3230925717" sldId="582"/>
            <ac:graphicFrameMk id="10" creationId="{07D4737C-F356-4FC9-AC16-0B017743A997}"/>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a:t>
            </a:fld>
            <a:endParaRPr lang="en-US" altLang="en-US"/>
          </a:p>
        </p:txBody>
      </p:sp>
    </p:spTree>
    <p:extLst>
      <p:ext uri="{BB962C8B-B14F-4D97-AF65-F5344CB8AC3E}">
        <p14:creationId xmlns:p14="http://schemas.microsoft.com/office/powerpoint/2010/main" val="512552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3667068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a:t>
            </a:fld>
            <a:endParaRPr lang="en-US" altLang="en-US"/>
          </a:p>
        </p:txBody>
      </p:sp>
    </p:spTree>
    <p:extLst>
      <p:ext uri="{BB962C8B-B14F-4D97-AF65-F5344CB8AC3E}">
        <p14:creationId xmlns:p14="http://schemas.microsoft.com/office/powerpoint/2010/main" val="384382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a:t>
            </a:fld>
            <a:endParaRPr lang="en-US" altLang="en-US"/>
          </a:p>
        </p:txBody>
      </p:sp>
    </p:spTree>
    <p:extLst>
      <p:ext uri="{BB962C8B-B14F-4D97-AF65-F5344CB8AC3E}">
        <p14:creationId xmlns:p14="http://schemas.microsoft.com/office/powerpoint/2010/main" val="20073634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5</a:t>
            </a:fld>
            <a:endParaRPr lang="en-US" altLang="en-US"/>
          </a:p>
        </p:txBody>
      </p:sp>
    </p:spTree>
    <p:extLst>
      <p:ext uri="{BB962C8B-B14F-4D97-AF65-F5344CB8AC3E}">
        <p14:creationId xmlns:p14="http://schemas.microsoft.com/office/powerpoint/2010/main" val="21346295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3600652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7</a:t>
            </a:fld>
            <a:endParaRPr lang="en-US" altLang="en-US"/>
          </a:p>
        </p:txBody>
      </p:sp>
    </p:spTree>
    <p:extLst>
      <p:ext uri="{BB962C8B-B14F-4D97-AF65-F5344CB8AC3E}">
        <p14:creationId xmlns:p14="http://schemas.microsoft.com/office/powerpoint/2010/main" val="20961137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8</a:t>
            </a:fld>
            <a:endParaRPr lang="en-US" altLang="en-US"/>
          </a:p>
        </p:txBody>
      </p:sp>
    </p:spTree>
    <p:extLst>
      <p:ext uri="{BB962C8B-B14F-4D97-AF65-F5344CB8AC3E}">
        <p14:creationId xmlns:p14="http://schemas.microsoft.com/office/powerpoint/2010/main" val="3449016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9</a:t>
            </a:fld>
            <a:endParaRPr lang="en-US" altLang="en-US"/>
          </a:p>
        </p:txBody>
      </p:sp>
    </p:spTree>
    <p:extLst>
      <p:ext uri="{BB962C8B-B14F-4D97-AF65-F5344CB8AC3E}">
        <p14:creationId xmlns:p14="http://schemas.microsoft.com/office/powerpoint/2010/main" val="29192643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10</a:t>
            </a:fld>
            <a:endParaRPr lang="en-US" altLang="en-US"/>
          </a:p>
        </p:txBody>
      </p:sp>
    </p:spTree>
    <p:extLst>
      <p:ext uri="{BB962C8B-B14F-4D97-AF65-F5344CB8AC3E}">
        <p14:creationId xmlns:p14="http://schemas.microsoft.com/office/powerpoint/2010/main" val="23928968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11</a:t>
            </a:fld>
            <a:endParaRPr lang="en-US" altLang="en-US"/>
          </a:p>
        </p:txBody>
      </p:sp>
    </p:spTree>
    <p:extLst>
      <p:ext uri="{BB962C8B-B14F-4D97-AF65-F5344CB8AC3E}">
        <p14:creationId xmlns:p14="http://schemas.microsoft.com/office/powerpoint/2010/main" val="3523230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12</a:t>
            </a:fld>
            <a:endParaRPr lang="en-US" altLang="en-US"/>
          </a:p>
        </p:txBody>
      </p:sp>
    </p:spTree>
    <p:extLst>
      <p:ext uri="{BB962C8B-B14F-4D97-AF65-F5344CB8AC3E}">
        <p14:creationId xmlns:p14="http://schemas.microsoft.com/office/powerpoint/2010/main" val="40390849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p:cNvSpPr>
            <a:spLocks noGrp="1"/>
          </p:cNvSpPr>
          <p:nvPr>
            <p:ph type="ftr" sz="quarter" idx="3"/>
            <p:custDataLst>
              <p:tags r:id="rId7"/>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Shen, Lipasti</a:t>
            </a:r>
          </a:p>
        </p:txBody>
      </p:sp>
      <p:sp>
        <p:nvSpPr>
          <p:cNvPr id="6" name="Slide Number Placeholder 5"/>
          <p:cNvSpPr>
            <a:spLocks noGrp="1"/>
          </p:cNvSpPr>
          <p:nvPr>
            <p:ph type="sldNum" sz="quarter" idx="4"/>
            <p:custDataLst>
              <p:tags r:id="rId8"/>
            </p:custDataLst>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2.emf"/><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notesSlide" Target="../notesSlides/notesSlide3.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2.xml"/><Relationship Id="rId5" Type="http://schemas.openxmlformats.org/officeDocument/2006/relationships/tags" Target="../tags/tag27.xml"/><Relationship Id="rId4" Type="http://schemas.openxmlformats.org/officeDocument/2006/relationships/tags" Target="../tags/tag26.xml"/></Relationships>
</file>

<file path=ppt/slides/_rels/slide4.xml.rels><?xml version="1.0" encoding="UTF-8" standalone="yes"?>
<Relationships xmlns="http://schemas.openxmlformats.org/package/2006/relationships"><Relationship Id="rId13" Type="http://schemas.openxmlformats.org/officeDocument/2006/relationships/tags" Target="../tags/tag40.xml"/><Relationship Id="rId18" Type="http://schemas.openxmlformats.org/officeDocument/2006/relationships/tags" Target="../tags/tag45.xml"/><Relationship Id="rId26" Type="http://schemas.openxmlformats.org/officeDocument/2006/relationships/tags" Target="../tags/tag53.xml"/><Relationship Id="rId39" Type="http://schemas.openxmlformats.org/officeDocument/2006/relationships/tags" Target="../tags/tag66.xml"/><Relationship Id="rId21" Type="http://schemas.openxmlformats.org/officeDocument/2006/relationships/tags" Target="../tags/tag48.xml"/><Relationship Id="rId34" Type="http://schemas.openxmlformats.org/officeDocument/2006/relationships/tags" Target="../tags/tag61.xml"/><Relationship Id="rId42" Type="http://schemas.openxmlformats.org/officeDocument/2006/relationships/tags" Target="../tags/tag69.xml"/><Relationship Id="rId7" Type="http://schemas.openxmlformats.org/officeDocument/2006/relationships/tags" Target="../tags/tag34.xml"/><Relationship Id="rId2" Type="http://schemas.openxmlformats.org/officeDocument/2006/relationships/tags" Target="../tags/tag29.xml"/><Relationship Id="rId16" Type="http://schemas.openxmlformats.org/officeDocument/2006/relationships/tags" Target="../tags/tag43.xml"/><Relationship Id="rId29" Type="http://schemas.openxmlformats.org/officeDocument/2006/relationships/tags" Target="../tags/tag56.xml"/><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24" Type="http://schemas.openxmlformats.org/officeDocument/2006/relationships/tags" Target="../tags/tag51.xml"/><Relationship Id="rId32" Type="http://schemas.openxmlformats.org/officeDocument/2006/relationships/tags" Target="../tags/tag59.xml"/><Relationship Id="rId37" Type="http://schemas.openxmlformats.org/officeDocument/2006/relationships/tags" Target="../tags/tag64.xml"/><Relationship Id="rId40" Type="http://schemas.openxmlformats.org/officeDocument/2006/relationships/tags" Target="../tags/tag67.xml"/><Relationship Id="rId45" Type="http://schemas.openxmlformats.org/officeDocument/2006/relationships/image" Target="../media/image3.jpeg"/><Relationship Id="rId5" Type="http://schemas.openxmlformats.org/officeDocument/2006/relationships/tags" Target="../tags/tag32.xml"/><Relationship Id="rId15" Type="http://schemas.openxmlformats.org/officeDocument/2006/relationships/tags" Target="../tags/tag42.xml"/><Relationship Id="rId23" Type="http://schemas.openxmlformats.org/officeDocument/2006/relationships/tags" Target="../tags/tag50.xml"/><Relationship Id="rId28" Type="http://schemas.openxmlformats.org/officeDocument/2006/relationships/tags" Target="../tags/tag55.xml"/><Relationship Id="rId36" Type="http://schemas.openxmlformats.org/officeDocument/2006/relationships/tags" Target="../tags/tag63.xml"/><Relationship Id="rId10" Type="http://schemas.openxmlformats.org/officeDocument/2006/relationships/tags" Target="../tags/tag37.xml"/><Relationship Id="rId19" Type="http://schemas.openxmlformats.org/officeDocument/2006/relationships/tags" Target="../tags/tag46.xml"/><Relationship Id="rId31" Type="http://schemas.openxmlformats.org/officeDocument/2006/relationships/tags" Target="../tags/tag58.xml"/><Relationship Id="rId44" Type="http://schemas.openxmlformats.org/officeDocument/2006/relationships/notesSlide" Target="../notesSlides/notesSlide4.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 Id="rId22" Type="http://schemas.openxmlformats.org/officeDocument/2006/relationships/tags" Target="../tags/tag49.xml"/><Relationship Id="rId27" Type="http://schemas.openxmlformats.org/officeDocument/2006/relationships/tags" Target="../tags/tag54.xml"/><Relationship Id="rId30" Type="http://schemas.openxmlformats.org/officeDocument/2006/relationships/tags" Target="../tags/tag57.xml"/><Relationship Id="rId35" Type="http://schemas.openxmlformats.org/officeDocument/2006/relationships/tags" Target="../tags/tag62.xml"/><Relationship Id="rId43" Type="http://schemas.openxmlformats.org/officeDocument/2006/relationships/slideLayout" Target="../slideLayouts/slideLayout2.xml"/><Relationship Id="rId8" Type="http://schemas.openxmlformats.org/officeDocument/2006/relationships/tags" Target="../tags/tag35.xml"/><Relationship Id="rId3" Type="http://schemas.openxmlformats.org/officeDocument/2006/relationships/tags" Target="../tags/tag30.xml"/><Relationship Id="rId12" Type="http://schemas.openxmlformats.org/officeDocument/2006/relationships/tags" Target="../tags/tag39.xml"/><Relationship Id="rId17" Type="http://schemas.openxmlformats.org/officeDocument/2006/relationships/tags" Target="../tags/tag44.xml"/><Relationship Id="rId25" Type="http://schemas.openxmlformats.org/officeDocument/2006/relationships/tags" Target="../tags/tag52.xml"/><Relationship Id="rId33" Type="http://schemas.openxmlformats.org/officeDocument/2006/relationships/tags" Target="../tags/tag60.xml"/><Relationship Id="rId38" Type="http://schemas.openxmlformats.org/officeDocument/2006/relationships/tags" Target="../tags/tag65.xml"/><Relationship Id="rId20" Type="http://schemas.openxmlformats.org/officeDocument/2006/relationships/tags" Target="../tags/tag47.xml"/><Relationship Id="rId41" Type="http://schemas.openxmlformats.org/officeDocument/2006/relationships/tags" Target="../tags/tag68.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2.xml"/><Relationship Id="rId7" Type="http://schemas.openxmlformats.org/officeDocument/2006/relationships/tags" Target="../tags/tag76.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tags" Target="../tags/tag75.xml"/><Relationship Id="rId5" Type="http://schemas.openxmlformats.org/officeDocument/2006/relationships/tags" Target="../tags/tag74.xml"/><Relationship Id="rId4" Type="http://schemas.openxmlformats.org/officeDocument/2006/relationships/tags" Target="../tags/tag7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4.wmf"/><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image" Target="../media/image4.wmf"/><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3.xml"/></Relationships>
</file>

<file path=ppt/slides/_rels/slide8.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image" Target="../media/image4.wmf"/><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87.xml"/></Relationships>
</file>

<file path=ppt/slides/_rels/slide9.xml.rels><?xml version="1.0" encoding="UTF-8" standalone="yes"?>
<Relationships xmlns="http://schemas.openxmlformats.org/package/2006/relationships"><Relationship Id="rId3" Type="http://schemas.openxmlformats.org/officeDocument/2006/relationships/tags" Target="../tags/tag90.xml"/><Relationship Id="rId7" Type="http://schemas.openxmlformats.org/officeDocument/2006/relationships/image" Target="../media/image4.wmf"/><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notesSlide" Target="../notesSlides/notesSlide9.xml"/><Relationship Id="rId5" Type="http://schemas.openxmlformats.org/officeDocument/2006/relationships/slideLayout" Target="../slideLayouts/slideLayout2.xml"/><Relationship Id="rId4" Type="http://schemas.openxmlformats.org/officeDocument/2006/relationships/tags" Target="../tags/tag91.xml"/></Relationships>
</file>

<file path=ppt/slides/_rels/slide10.xml.rels><?xml version="1.0" encoding="UTF-8" standalone="yes"?>
<Relationships xmlns="http://schemas.openxmlformats.org/package/2006/relationships"><Relationship Id="rId3" Type="http://schemas.openxmlformats.org/officeDocument/2006/relationships/tags" Target="../tags/tag94.xml"/><Relationship Id="rId7" Type="http://schemas.openxmlformats.org/officeDocument/2006/relationships/image" Target="../media/image4.wmf"/><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95.xml"/></Relationships>
</file>

<file path=ppt/slides/_rels/slide11.xml.rels><?xml version="1.0" encoding="UTF-8" standalone="yes"?>
<Relationships xmlns="http://schemas.openxmlformats.org/package/2006/relationships"><Relationship Id="rId3" Type="http://schemas.openxmlformats.org/officeDocument/2006/relationships/tags" Target="../tags/tag98.xml"/><Relationship Id="rId7" Type="http://schemas.openxmlformats.org/officeDocument/2006/relationships/image" Target="../media/image4.w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notesSlide" Target="../notesSlides/notesSlide11.xml"/><Relationship Id="rId5" Type="http://schemas.openxmlformats.org/officeDocument/2006/relationships/slideLayout" Target="../slideLayouts/slideLayout2.xml"/><Relationship Id="rId4" Type="http://schemas.openxmlformats.org/officeDocument/2006/relationships/tags" Target="../tags/tag99.xml"/></Relationships>
</file>

<file path=ppt/slides/_rels/slide12.xml.rels><?xml version="1.0" encoding="UTF-8" standalone="yes"?>
<Relationships xmlns="http://schemas.openxmlformats.org/package/2006/relationships"><Relationship Id="rId3" Type="http://schemas.openxmlformats.org/officeDocument/2006/relationships/tags" Target="../tags/tag102.xml"/><Relationship Id="rId7" Type="http://schemas.openxmlformats.org/officeDocument/2006/relationships/image" Target="../media/image4.wmf"/><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10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362200"/>
            <a:ext cx="8229600" cy="1524000"/>
          </a:xfrm>
        </p:spPr>
        <p:txBody>
          <a:bodyPr/>
          <a:lstStyle/>
          <a:p>
            <a:pPr eaLnBrk="1" hangingPunct="1"/>
            <a:r>
              <a:rPr lang="en-US" altLang="en-US" dirty="0"/>
              <a:t>ECE/CS 552: Pipelining</a:t>
            </a:r>
          </a:p>
        </p:txBody>
      </p:sp>
      <p:sp>
        <p:nvSpPr>
          <p:cNvPr id="3" name="Subtitle 2"/>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a:t>
            </a:r>
            <a:r>
              <a:rPr lang="en-US" dirty="0" err="1"/>
              <a:t>Mikko</a:t>
            </a:r>
            <a:r>
              <a:rPr lang="en-US" dirty="0"/>
              <a:t> </a:t>
            </a:r>
            <a:r>
              <a:rPr lang="en-US" dirty="0" err="1"/>
              <a:t>Lipasti</a:t>
            </a:r>
            <a:r>
              <a:rPr lang="en-US" dirty="0"/>
              <a:t>, Mark Hill and John Shen</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Multi-Cycle Processor</a:t>
            </a:r>
          </a:p>
        </p:txBody>
      </p:sp>
      <p:pic>
        <p:nvPicPr>
          <p:cNvPr id="2" name="Picture 1">
            <a:extLst>
              <a:ext uri="{FF2B5EF4-FFF2-40B4-BE49-F238E27FC236}">
                <a16:creationId xmlns:a16="http://schemas.microsoft.com/office/drawing/2014/main" id="{66369DCC-5E4F-453B-A6B9-E67D7E92D88D}"/>
              </a:ext>
            </a:extLst>
          </p:cNvPr>
          <p:cNvPicPr>
            <a:picLocks noChangeAspect="1"/>
          </p:cNvPicPr>
          <p:nvPr>
            <p:custDataLst>
              <p:tags r:id="rId3"/>
            </p:custDataLst>
          </p:nvPr>
        </p:nvPicPr>
        <p:blipFill>
          <a:blip r:embed="rId6"/>
          <a:stretch>
            <a:fillRect/>
          </a:stretch>
        </p:blipFill>
        <p:spPr>
          <a:xfrm>
            <a:off x="952500" y="1359234"/>
            <a:ext cx="7239000" cy="5117766"/>
          </a:xfrm>
          <a:prstGeom prst="rect">
            <a:avLst/>
          </a:prstGeom>
        </p:spPr>
      </p:pic>
    </p:spTree>
    <p:custDataLst>
      <p:tags r:id="rId1"/>
    </p:custDataLst>
    <p:extLst>
      <p:ext uri="{BB962C8B-B14F-4D97-AF65-F5344CB8AC3E}">
        <p14:creationId xmlns:p14="http://schemas.microsoft.com/office/powerpoint/2010/main" val="88247814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sp>
        <p:nvSpPr>
          <p:cNvPr id="2056" name="Rectangle 3"/>
          <p:cNvSpPr>
            <a:spLocks noGrp="1" noChangeArrowheads="1"/>
          </p:cNvSpPr>
          <p:nvPr>
            <p:ph idx="1"/>
            <p:custDataLst>
              <p:tags r:id="rId3"/>
            </p:custDataLst>
          </p:nvPr>
        </p:nvSpPr>
        <p:spPr>
          <a:xfrm>
            <a:off x="682625" y="1600200"/>
            <a:ext cx="8385175" cy="1676400"/>
          </a:xfrm>
        </p:spPr>
        <p:txBody>
          <a:bodyPr/>
          <a:lstStyle/>
          <a:p>
            <a:pPr>
              <a:lnSpc>
                <a:spcPct val="80000"/>
              </a:lnSpc>
            </a:pPr>
            <a:r>
              <a:rPr lang="en-US" altLang="en-US" sz="2800" dirty="0"/>
              <a:t>Multi-cycle implementation:</a:t>
            </a:r>
          </a:p>
          <a:p>
            <a:pPr lvl="1">
              <a:lnSpc>
                <a:spcPct val="90000"/>
              </a:lnSpc>
            </a:pPr>
            <a:r>
              <a:rPr lang="en-US" altLang="en-US" sz="2400" dirty="0"/>
              <a:t>Clock period = max{T</a:t>
            </a:r>
            <a:r>
              <a:rPr lang="en-US" altLang="en-US" sz="2400" baseline="-25000" dirty="0"/>
              <a:t>F</a:t>
            </a:r>
            <a:r>
              <a:rPr lang="en-US" altLang="en-US" sz="2400" dirty="0"/>
              <a:t>, T</a:t>
            </a:r>
            <a:r>
              <a:rPr lang="en-US" altLang="en-US" sz="2400" baseline="-25000" dirty="0"/>
              <a:t>D</a:t>
            </a:r>
            <a:r>
              <a:rPr lang="en-US" altLang="en-US" sz="2400" dirty="0"/>
              <a:t>, T</a:t>
            </a:r>
            <a:r>
              <a:rPr lang="en-US" altLang="en-US" sz="2400" baseline="-25000" dirty="0"/>
              <a:t>X</a:t>
            </a:r>
            <a:r>
              <a:rPr lang="en-US" altLang="en-US" sz="2400" dirty="0"/>
              <a:t>, T</a:t>
            </a:r>
            <a:r>
              <a:rPr lang="en-US" altLang="en-US" sz="2400" baseline="-25000" dirty="0"/>
              <a:t>M</a:t>
            </a:r>
            <a:r>
              <a:rPr lang="en-US" altLang="en-US" sz="2400" dirty="0"/>
              <a:t>, T</a:t>
            </a:r>
            <a:r>
              <a:rPr lang="en-US" altLang="en-US" sz="2400" baseline="-25000" dirty="0"/>
              <a:t>W</a:t>
            </a:r>
            <a:r>
              <a:rPr lang="en-US" altLang="en-US" sz="2400" dirty="0"/>
              <a:t>} ≥ T/5</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3</a:t>
            </a:fld>
            <a:endParaRPr lang="en-US" altLang="en-US"/>
          </a:p>
        </p:txBody>
      </p:sp>
      <p:graphicFrame>
        <p:nvGraphicFramePr>
          <p:cNvPr id="10" name="Group 4">
            <a:extLst>
              <a:ext uri="{FF2B5EF4-FFF2-40B4-BE49-F238E27FC236}">
                <a16:creationId xmlns:a16="http://schemas.microsoft.com/office/drawing/2014/main" id="{07D4737C-F356-4FC9-AC16-0B017743A997}"/>
              </a:ext>
            </a:extLst>
          </p:cNvPr>
          <p:cNvGraphicFramePr>
            <a:graphicFrameLocks noGrp="1"/>
          </p:cNvGraphicFramePr>
          <p:nvPr>
            <p:custDataLst>
              <p:tags r:id="rId5"/>
            </p:custDataLst>
            <p:extLst>
              <p:ext uri="{D42A27DB-BD31-4B8C-83A1-F6EECF244321}">
                <p14:modId xmlns:p14="http://schemas.microsoft.com/office/powerpoint/2010/main" val="2216813055"/>
              </p:ext>
            </p:extLst>
          </p:nvPr>
        </p:nvGraphicFramePr>
        <p:xfrm>
          <a:off x="533400" y="2514600"/>
          <a:ext cx="8226001" cy="1547430"/>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                        </a:t>
                      </a:r>
                      <a:r>
                        <a:rPr kumimoji="0" lang="en-US" sz="1600" b="1" i="0" u="none" strike="noStrike" cap="none" normalizeH="0" baseline="0" dirty="0">
                          <a:ln>
                            <a:noFill/>
                          </a:ln>
                          <a:solidFill>
                            <a:schemeClr val="tx1"/>
                          </a:solidFill>
                          <a:effectLst/>
                          <a:latin typeface="Times New Roman" pitchFamily="18" charset="0"/>
                        </a:rPr>
                        <a:t>Cycle</a:t>
                      </a:r>
                      <a:br>
                        <a:rPr kumimoji="0" lang="en-US" sz="1600" b="1" i="0" u="none" strike="noStrike" cap="none" normalizeH="0" baseline="0" dirty="0">
                          <a:ln>
                            <a:noFill/>
                          </a:ln>
                          <a:solidFill>
                            <a:schemeClr val="tx1"/>
                          </a:solidFill>
                          <a:effectLst/>
                          <a:latin typeface="Times New Roman" pitchFamily="18" charset="0"/>
                        </a:rPr>
                      </a:br>
                      <a:r>
                        <a:rPr kumimoji="0" lang="en-US" sz="1600" b="1" i="0" u="none" strike="noStrike" cap="none" normalizeH="0" baseline="0" dirty="0" err="1">
                          <a:ln>
                            <a:noFill/>
                          </a:ln>
                          <a:solidFill>
                            <a:schemeClr val="tx1"/>
                          </a:solidFill>
                          <a:effectLst/>
                          <a:latin typeface="Times New Roman" pitchFamily="18" charset="0"/>
                        </a:rPr>
                        <a:t>Instns</a:t>
                      </a:r>
                      <a:endParaRPr kumimoji="0" lang="en-US" sz="1200" b="1"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lw</a:t>
                      </a:r>
                      <a:r>
                        <a:rPr kumimoji="0" lang="en-US" sz="1600" b="0" i="0" u="none" strike="noStrike" cap="none" normalizeH="0" baseline="0" dirty="0">
                          <a:ln>
                            <a:noFill/>
                          </a:ln>
                          <a:solidFill>
                            <a:schemeClr val="tx1"/>
                          </a:solidFill>
                          <a:effectLst/>
                          <a:latin typeface="Times New Roman" pitchFamily="18" charset="0"/>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beq</a:t>
                      </a:r>
                      <a:r>
                        <a:rPr kumimoji="0" lang="en-US" sz="1600" b="0" i="0" u="none" strike="noStrike" cap="none" normalizeH="0" baseline="0" dirty="0">
                          <a:ln>
                            <a:noFill/>
                          </a:ln>
                          <a:solidFill>
                            <a:schemeClr val="tx1"/>
                          </a:solidFill>
                          <a:effectLst/>
                          <a:latin typeface="Times New Roman" pitchFamily="18" charset="0"/>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Times New Roman" pitchFamily="18" charset="0"/>
                        </a:rPr>
                        <a:t>sw</a:t>
                      </a:r>
                      <a:r>
                        <a:rPr kumimoji="0" lang="en-US" sz="1600" b="0" i="0" u="none" strike="noStrike" cap="none" normalizeH="0" baseline="0" dirty="0">
                          <a:ln>
                            <a:noFill/>
                          </a:ln>
                          <a:solidFill>
                            <a:schemeClr val="tx1"/>
                          </a:solidFill>
                          <a:effectLst/>
                          <a:latin typeface="Times New Roman" pitchFamily="18" charset="0"/>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6887082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4</a:t>
            </a:fld>
            <a:endParaRPr lang="en-US" altLang="en-US"/>
          </a:p>
        </p:txBody>
      </p:sp>
      <p:grpSp>
        <p:nvGrpSpPr>
          <p:cNvPr id="2" name="Group 1">
            <a:extLst>
              <a:ext uri="{FF2B5EF4-FFF2-40B4-BE49-F238E27FC236}">
                <a16:creationId xmlns:a16="http://schemas.microsoft.com/office/drawing/2014/main" id="{E688FAA1-C605-4F8A-A50D-3F8A8A05D788}"/>
              </a:ext>
            </a:extLst>
          </p:cNvPr>
          <p:cNvGrpSpPr/>
          <p:nvPr>
            <p:custDataLst>
              <p:tags r:id="rId4"/>
            </p:custDataLst>
          </p:nvPr>
        </p:nvGrpSpPr>
        <p:grpSpPr>
          <a:xfrm>
            <a:off x="0" y="5253135"/>
            <a:ext cx="1476022" cy="461865"/>
            <a:chOff x="0" y="5253135"/>
            <a:chExt cx="1476022" cy="461865"/>
          </a:xfrm>
        </p:grpSpPr>
        <p:sp>
          <p:nvSpPr>
            <p:cNvPr id="3" name="Rectangle: Rounded Corners 2">
              <a:extLst>
                <a:ext uri="{FF2B5EF4-FFF2-40B4-BE49-F238E27FC236}">
                  <a16:creationId xmlns:a16="http://schemas.microsoft.com/office/drawing/2014/main" id="{BEF59B89-EBCE-456D-90EA-B50EFE973927}"/>
                </a:ext>
              </a:extLst>
            </p:cNvPr>
            <p:cNvSpPr/>
            <p:nvPr>
              <p:custDataLst>
                <p:tags r:id="rId40"/>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sp>
          <p:nvSpPr>
            <p:cNvPr id="52" name="Rectangle: Rounded Corners 51">
              <a:extLst>
                <a:ext uri="{FF2B5EF4-FFF2-40B4-BE49-F238E27FC236}">
                  <a16:creationId xmlns:a16="http://schemas.microsoft.com/office/drawing/2014/main" id="{B1E3F7D4-BA85-4BF9-8D75-BBC22DACAD86}"/>
                </a:ext>
              </a:extLst>
            </p:cNvPr>
            <p:cNvSpPr/>
            <p:nvPr>
              <p:custDataLst>
                <p:tags r:id="rId41"/>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53" name="Rectangle: Rounded Corners 52">
              <a:extLst>
                <a:ext uri="{FF2B5EF4-FFF2-40B4-BE49-F238E27FC236}">
                  <a16:creationId xmlns:a16="http://schemas.microsoft.com/office/drawing/2014/main" id="{A3BF5270-A335-4A76-8C30-CEC5A3BEFFAE}"/>
                </a:ext>
              </a:extLst>
            </p:cNvPr>
            <p:cNvSpPr/>
            <p:nvPr>
              <p:custDataLst>
                <p:tags r:id="rId42"/>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grpSp>
      <p:pic>
        <p:nvPicPr>
          <p:cNvPr id="25602" name="Picture 2" descr="The datapath is broken into 5 stages. The IF, or instruction fetch stage, consists of the instruction memory and the hardware needed to determine the next instruction. The ID, or instruction decode / register file read stage, consists of the register file. The EX, or execute / address calculation stage consists of an adder, an ALU, and the hardware needed to route the appropriate inputs to each component. The MEM, or memory access stage, consists of the data memory. The WB, or write back stage, consists of a mux which selects the correct value (if any) to write back into the register file.">
            <a:extLst>
              <a:ext uri="{FF2B5EF4-FFF2-40B4-BE49-F238E27FC236}">
                <a16:creationId xmlns:a16="http://schemas.microsoft.com/office/drawing/2014/main" id="{FE232652-E4CA-4B1D-B1BA-1C0B72D74D2C}"/>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600200" y="1219200"/>
            <a:ext cx="6858000" cy="3810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BD0B6B4D-726C-4E64-B0EF-426955C3647A}"/>
              </a:ext>
            </a:extLst>
          </p:cNvPr>
          <p:cNvGrpSpPr/>
          <p:nvPr>
            <p:custDataLst>
              <p:tags r:id="rId5"/>
            </p:custDataLst>
          </p:nvPr>
        </p:nvGrpSpPr>
        <p:grpSpPr>
          <a:xfrm>
            <a:off x="0" y="4648200"/>
            <a:ext cx="3076222" cy="1066800"/>
            <a:chOff x="0" y="4648200"/>
            <a:chExt cx="3076222" cy="1066800"/>
          </a:xfrm>
        </p:grpSpPr>
        <p:sp>
          <p:nvSpPr>
            <p:cNvPr id="10" name="Rectangle: Rounded Corners 9">
              <a:extLst>
                <a:ext uri="{FF2B5EF4-FFF2-40B4-BE49-F238E27FC236}">
                  <a16:creationId xmlns:a16="http://schemas.microsoft.com/office/drawing/2014/main" id="{9E5BD6EF-435A-438B-9B3D-AB9AE96AFCFE}"/>
                </a:ext>
              </a:extLst>
            </p:cNvPr>
            <p:cNvSpPr/>
            <p:nvPr>
              <p:custDataLst>
                <p:tags r:id="rId36"/>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11" name="Rectangle: Rounded Corners 10">
              <a:extLst>
                <a:ext uri="{FF2B5EF4-FFF2-40B4-BE49-F238E27FC236}">
                  <a16:creationId xmlns:a16="http://schemas.microsoft.com/office/drawing/2014/main" id="{B9598F9B-C748-4C02-A99E-8F34F026D46A}"/>
                </a:ext>
              </a:extLst>
            </p:cNvPr>
            <p:cNvSpPr/>
            <p:nvPr>
              <p:custDataLst>
                <p:tags r:id="rId37"/>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12" name="Rectangle: Rounded Corners 11">
              <a:extLst>
                <a:ext uri="{FF2B5EF4-FFF2-40B4-BE49-F238E27FC236}">
                  <a16:creationId xmlns:a16="http://schemas.microsoft.com/office/drawing/2014/main" id="{2D20F3B3-E200-4951-A5C2-9BF2584E4183}"/>
                </a:ext>
              </a:extLst>
            </p:cNvPr>
            <p:cNvSpPr/>
            <p:nvPr>
              <p:custDataLst>
                <p:tags r:id="rId38"/>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13" name="Rectangle: Rounded Corners 12">
              <a:extLst>
                <a:ext uri="{FF2B5EF4-FFF2-40B4-BE49-F238E27FC236}">
                  <a16:creationId xmlns:a16="http://schemas.microsoft.com/office/drawing/2014/main" id="{19106480-E3D7-4925-810A-E61C8C4E2D89}"/>
                </a:ext>
              </a:extLst>
            </p:cNvPr>
            <p:cNvSpPr/>
            <p:nvPr>
              <p:custDataLst>
                <p:tags r:id="rId39"/>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14" name="Group 13">
            <a:extLst>
              <a:ext uri="{FF2B5EF4-FFF2-40B4-BE49-F238E27FC236}">
                <a16:creationId xmlns:a16="http://schemas.microsoft.com/office/drawing/2014/main" id="{0DCD188F-514E-418F-A34C-3AB7194E0F98}"/>
              </a:ext>
            </a:extLst>
          </p:cNvPr>
          <p:cNvGrpSpPr/>
          <p:nvPr>
            <p:custDataLst>
              <p:tags r:id="rId6"/>
            </p:custDataLst>
          </p:nvPr>
        </p:nvGrpSpPr>
        <p:grpSpPr>
          <a:xfrm>
            <a:off x="0" y="4648200"/>
            <a:ext cx="4552244" cy="1066800"/>
            <a:chOff x="0" y="4648200"/>
            <a:chExt cx="4552244" cy="1066800"/>
          </a:xfrm>
        </p:grpSpPr>
        <p:sp>
          <p:nvSpPr>
            <p:cNvPr id="15" name="Rectangle: Rounded Corners 14">
              <a:extLst>
                <a:ext uri="{FF2B5EF4-FFF2-40B4-BE49-F238E27FC236}">
                  <a16:creationId xmlns:a16="http://schemas.microsoft.com/office/drawing/2014/main" id="{20AF2181-EFC6-4927-89D3-D182A0EB0FA7}"/>
                </a:ext>
              </a:extLst>
            </p:cNvPr>
            <p:cNvSpPr/>
            <p:nvPr>
              <p:custDataLst>
                <p:tags r:id="rId31"/>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16" name="Rectangle: Rounded Corners 15">
              <a:extLst>
                <a:ext uri="{FF2B5EF4-FFF2-40B4-BE49-F238E27FC236}">
                  <a16:creationId xmlns:a16="http://schemas.microsoft.com/office/drawing/2014/main" id="{68DAF243-2224-49AA-B842-2D3EA933340E}"/>
                </a:ext>
              </a:extLst>
            </p:cNvPr>
            <p:cNvSpPr/>
            <p:nvPr>
              <p:custDataLst>
                <p:tags r:id="rId32"/>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17" name="Rectangle: Rounded Corners 16">
              <a:extLst>
                <a:ext uri="{FF2B5EF4-FFF2-40B4-BE49-F238E27FC236}">
                  <a16:creationId xmlns:a16="http://schemas.microsoft.com/office/drawing/2014/main" id="{ED0FC7B9-360F-48BA-9BA9-4632BAEE037B}"/>
                </a:ext>
              </a:extLst>
            </p:cNvPr>
            <p:cNvSpPr/>
            <p:nvPr>
              <p:custDataLst>
                <p:tags r:id="rId33"/>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18" name="Rectangle: Rounded Corners 17">
              <a:extLst>
                <a:ext uri="{FF2B5EF4-FFF2-40B4-BE49-F238E27FC236}">
                  <a16:creationId xmlns:a16="http://schemas.microsoft.com/office/drawing/2014/main" id="{82B3643F-C997-4496-84FB-4D437F6320FF}"/>
                </a:ext>
              </a:extLst>
            </p:cNvPr>
            <p:cNvSpPr/>
            <p:nvPr>
              <p:custDataLst>
                <p:tags r:id="rId34"/>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19" name="Rectangle: Rounded Corners 18">
              <a:extLst>
                <a:ext uri="{FF2B5EF4-FFF2-40B4-BE49-F238E27FC236}">
                  <a16:creationId xmlns:a16="http://schemas.microsoft.com/office/drawing/2014/main" id="{5C319CCF-93B6-48CD-A236-456340AB87BB}"/>
                </a:ext>
              </a:extLst>
            </p:cNvPr>
            <p:cNvSpPr/>
            <p:nvPr>
              <p:custDataLst>
                <p:tags r:id="rId35"/>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20" name="Group 19">
            <a:extLst>
              <a:ext uri="{FF2B5EF4-FFF2-40B4-BE49-F238E27FC236}">
                <a16:creationId xmlns:a16="http://schemas.microsoft.com/office/drawing/2014/main" id="{6444A906-B072-402C-ABF8-B057EF05FABC}"/>
              </a:ext>
            </a:extLst>
          </p:cNvPr>
          <p:cNvGrpSpPr/>
          <p:nvPr>
            <p:custDataLst>
              <p:tags r:id="rId7"/>
            </p:custDataLst>
          </p:nvPr>
        </p:nvGrpSpPr>
        <p:grpSpPr>
          <a:xfrm>
            <a:off x="0" y="4648200"/>
            <a:ext cx="5867400" cy="1066800"/>
            <a:chOff x="0" y="4648200"/>
            <a:chExt cx="5867400" cy="1066800"/>
          </a:xfrm>
        </p:grpSpPr>
        <p:sp>
          <p:nvSpPr>
            <p:cNvPr id="21" name="Rectangle: Rounded Corners 20">
              <a:extLst>
                <a:ext uri="{FF2B5EF4-FFF2-40B4-BE49-F238E27FC236}">
                  <a16:creationId xmlns:a16="http://schemas.microsoft.com/office/drawing/2014/main" id="{962832FA-28D7-4F37-9B11-E1C5FE8E7CB2}"/>
                </a:ext>
              </a:extLst>
            </p:cNvPr>
            <p:cNvSpPr/>
            <p:nvPr>
              <p:custDataLst>
                <p:tags r:id="rId25"/>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22" name="Rectangle: Rounded Corners 21">
              <a:extLst>
                <a:ext uri="{FF2B5EF4-FFF2-40B4-BE49-F238E27FC236}">
                  <a16:creationId xmlns:a16="http://schemas.microsoft.com/office/drawing/2014/main" id="{19D4C9E2-4617-4FC6-8092-BE379C8A0B6B}"/>
                </a:ext>
              </a:extLst>
            </p:cNvPr>
            <p:cNvSpPr/>
            <p:nvPr>
              <p:custDataLst>
                <p:tags r:id="rId26"/>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23" name="Rectangle: Rounded Corners 22">
              <a:extLst>
                <a:ext uri="{FF2B5EF4-FFF2-40B4-BE49-F238E27FC236}">
                  <a16:creationId xmlns:a16="http://schemas.microsoft.com/office/drawing/2014/main" id="{A684189C-CF49-4FE7-8D2F-5DA479790A20}"/>
                </a:ext>
              </a:extLst>
            </p:cNvPr>
            <p:cNvSpPr/>
            <p:nvPr>
              <p:custDataLst>
                <p:tags r:id="rId27"/>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24" name="Rectangle: Rounded Corners 23">
              <a:extLst>
                <a:ext uri="{FF2B5EF4-FFF2-40B4-BE49-F238E27FC236}">
                  <a16:creationId xmlns:a16="http://schemas.microsoft.com/office/drawing/2014/main" id="{EE210D5B-2842-4305-9741-4BE5F86F6B03}"/>
                </a:ext>
              </a:extLst>
            </p:cNvPr>
            <p:cNvSpPr/>
            <p:nvPr>
              <p:custDataLst>
                <p:tags r:id="rId28"/>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25" name="Rectangle: Rounded Corners 24">
              <a:extLst>
                <a:ext uri="{FF2B5EF4-FFF2-40B4-BE49-F238E27FC236}">
                  <a16:creationId xmlns:a16="http://schemas.microsoft.com/office/drawing/2014/main" id="{6B6FBE67-2826-4F12-BC78-18CE1B34DEC3}"/>
                </a:ext>
              </a:extLst>
            </p:cNvPr>
            <p:cNvSpPr/>
            <p:nvPr>
              <p:custDataLst>
                <p:tags r:id="rId29"/>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26" name="Rectangle: Rounded Corners 25">
              <a:extLst>
                <a:ext uri="{FF2B5EF4-FFF2-40B4-BE49-F238E27FC236}">
                  <a16:creationId xmlns:a16="http://schemas.microsoft.com/office/drawing/2014/main" id="{CD65EF67-1DAB-49B1-8620-98A72D921F2B}"/>
                </a:ext>
              </a:extLst>
            </p:cNvPr>
            <p:cNvSpPr/>
            <p:nvPr>
              <p:custDataLst>
                <p:tags r:id="rId30"/>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27" name="Group 26">
            <a:extLst>
              <a:ext uri="{FF2B5EF4-FFF2-40B4-BE49-F238E27FC236}">
                <a16:creationId xmlns:a16="http://schemas.microsoft.com/office/drawing/2014/main" id="{FD959CDE-6BC5-44EA-A0FC-CB49AD88854A}"/>
              </a:ext>
            </a:extLst>
          </p:cNvPr>
          <p:cNvGrpSpPr/>
          <p:nvPr>
            <p:custDataLst>
              <p:tags r:id="rId8"/>
            </p:custDataLst>
          </p:nvPr>
        </p:nvGrpSpPr>
        <p:grpSpPr>
          <a:xfrm>
            <a:off x="0" y="4648200"/>
            <a:ext cx="7239000" cy="1066800"/>
            <a:chOff x="0" y="4648200"/>
            <a:chExt cx="7239000" cy="1066800"/>
          </a:xfrm>
        </p:grpSpPr>
        <p:sp>
          <p:nvSpPr>
            <p:cNvPr id="28" name="Rectangle: Rounded Corners 27">
              <a:extLst>
                <a:ext uri="{FF2B5EF4-FFF2-40B4-BE49-F238E27FC236}">
                  <a16:creationId xmlns:a16="http://schemas.microsoft.com/office/drawing/2014/main" id="{F750460D-F79A-4B6E-B748-5DD703446F81}"/>
                </a:ext>
              </a:extLst>
            </p:cNvPr>
            <p:cNvSpPr/>
            <p:nvPr>
              <p:custDataLst>
                <p:tags r:id="rId18"/>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29" name="Rectangle: Rounded Corners 28">
              <a:extLst>
                <a:ext uri="{FF2B5EF4-FFF2-40B4-BE49-F238E27FC236}">
                  <a16:creationId xmlns:a16="http://schemas.microsoft.com/office/drawing/2014/main" id="{3C362A1A-E002-477A-A2ED-B51673145428}"/>
                </a:ext>
              </a:extLst>
            </p:cNvPr>
            <p:cNvSpPr/>
            <p:nvPr>
              <p:custDataLst>
                <p:tags r:id="rId19"/>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30" name="Rectangle: Rounded Corners 29">
              <a:extLst>
                <a:ext uri="{FF2B5EF4-FFF2-40B4-BE49-F238E27FC236}">
                  <a16:creationId xmlns:a16="http://schemas.microsoft.com/office/drawing/2014/main" id="{E0BBB5A0-4FCF-4C90-86F6-5AE364BF4BEA}"/>
                </a:ext>
              </a:extLst>
            </p:cNvPr>
            <p:cNvSpPr/>
            <p:nvPr>
              <p:custDataLst>
                <p:tags r:id="rId20"/>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I7</a:t>
              </a:r>
            </a:p>
          </p:txBody>
        </p:sp>
        <p:sp>
          <p:nvSpPr>
            <p:cNvPr id="31" name="Rectangle: Rounded Corners 30">
              <a:extLst>
                <a:ext uri="{FF2B5EF4-FFF2-40B4-BE49-F238E27FC236}">
                  <a16:creationId xmlns:a16="http://schemas.microsoft.com/office/drawing/2014/main" id="{A975E7CE-746C-441E-9CFE-C594D7E971FD}"/>
                </a:ext>
              </a:extLst>
            </p:cNvPr>
            <p:cNvSpPr/>
            <p:nvPr>
              <p:custDataLst>
                <p:tags r:id="rId21"/>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32" name="Rectangle: Rounded Corners 31">
              <a:extLst>
                <a:ext uri="{FF2B5EF4-FFF2-40B4-BE49-F238E27FC236}">
                  <a16:creationId xmlns:a16="http://schemas.microsoft.com/office/drawing/2014/main" id="{68342500-30E1-40C0-B74D-3F78685A3B3C}"/>
                </a:ext>
              </a:extLst>
            </p:cNvPr>
            <p:cNvSpPr/>
            <p:nvPr>
              <p:custDataLst>
                <p:tags r:id="rId22"/>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33" name="Rectangle: Rounded Corners 32">
              <a:extLst>
                <a:ext uri="{FF2B5EF4-FFF2-40B4-BE49-F238E27FC236}">
                  <a16:creationId xmlns:a16="http://schemas.microsoft.com/office/drawing/2014/main" id="{BC5FD724-D487-4782-A5EA-82EF5EB5EF3E}"/>
                </a:ext>
              </a:extLst>
            </p:cNvPr>
            <p:cNvSpPr/>
            <p:nvPr>
              <p:custDataLst>
                <p:tags r:id="rId23"/>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34" name="Rectangle: Rounded Corners 33">
              <a:extLst>
                <a:ext uri="{FF2B5EF4-FFF2-40B4-BE49-F238E27FC236}">
                  <a16:creationId xmlns:a16="http://schemas.microsoft.com/office/drawing/2014/main" id="{6CFE8E68-662E-4D5F-A145-0142DA10208C}"/>
                </a:ext>
              </a:extLst>
            </p:cNvPr>
            <p:cNvSpPr/>
            <p:nvPr>
              <p:custDataLst>
                <p:tags r:id="rId24"/>
              </p:custDataLst>
            </p:nvPr>
          </p:nvSpPr>
          <p:spPr>
            <a:xfrm>
              <a:off x="67535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35" name="Group 34">
            <a:extLst>
              <a:ext uri="{FF2B5EF4-FFF2-40B4-BE49-F238E27FC236}">
                <a16:creationId xmlns:a16="http://schemas.microsoft.com/office/drawing/2014/main" id="{D99134B6-C7F3-4F7B-A806-ECA730609B81}"/>
              </a:ext>
            </a:extLst>
          </p:cNvPr>
          <p:cNvGrpSpPr/>
          <p:nvPr>
            <p:custDataLst>
              <p:tags r:id="rId9"/>
            </p:custDataLst>
          </p:nvPr>
        </p:nvGrpSpPr>
        <p:grpSpPr>
          <a:xfrm>
            <a:off x="0" y="4648200"/>
            <a:ext cx="8591939" cy="1066800"/>
            <a:chOff x="0" y="4648200"/>
            <a:chExt cx="8591939" cy="1066800"/>
          </a:xfrm>
        </p:grpSpPr>
        <p:sp>
          <p:nvSpPr>
            <p:cNvPr id="36" name="Rectangle: Rounded Corners 35">
              <a:extLst>
                <a:ext uri="{FF2B5EF4-FFF2-40B4-BE49-F238E27FC236}">
                  <a16:creationId xmlns:a16="http://schemas.microsoft.com/office/drawing/2014/main" id="{07F98CCE-4795-4953-BC70-5E872B160298}"/>
                </a:ext>
              </a:extLst>
            </p:cNvPr>
            <p:cNvSpPr/>
            <p:nvPr>
              <p:custDataLst>
                <p:tags r:id="rId10"/>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37" name="Rectangle: Rounded Corners 36">
              <a:extLst>
                <a:ext uri="{FF2B5EF4-FFF2-40B4-BE49-F238E27FC236}">
                  <a16:creationId xmlns:a16="http://schemas.microsoft.com/office/drawing/2014/main" id="{826EBD8D-21DB-4665-8ECD-7A060EBECF67}"/>
                </a:ext>
              </a:extLst>
            </p:cNvPr>
            <p:cNvSpPr/>
            <p:nvPr>
              <p:custDataLst>
                <p:tags r:id="rId11"/>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I7</a:t>
              </a:r>
            </a:p>
          </p:txBody>
        </p:sp>
        <p:sp>
          <p:nvSpPr>
            <p:cNvPr id="38" name="Rectangle: Rounded Corners 37">
              <a:extLst>
                <a:ext uri="{FF2B5EF4-FFF2-40B4-BE49-F238E27FC236}">
                  <a16:creationId xmlns:a16="http://schemas.microsoft.com/office/drawing/2014/main" id="{3225A099-917C-4EB5-A094-A7CC67ACC6FA}"/>
                </a:ext>
              </a:extLst>
            </p:cNvPr>
            <p:cNvSpPr/>
            <p:nvPr>
              <p:custDataLst>
                <p:tags r:id="rId12"/>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I8</a:t>
              </a:r>
            </a:p>
          </p:txBody>
        </p:sp>
        <p:sp>
          <p:nvSpPr>
            <p:cNvPr id="39" name="Rectangle: Rounded Corners 38">
              <a:extLst>
                <a:ext uri="{FF2B5EF4-FFF2-40B4-BE49-F238E27FC236}">
                  <a16:creationId xmlns:a16="http://schemas.microsoft.com/office/drawing/2014/main" id="{B53EC27B-AC48-48CA-9688-85EBCAF3DD83}"/>
                </a:ext>
              </a:extLst>
            </p:cNvPr>
            <p:cNvSpPr/>
            <p:nvPr>
              <p:custDataLst>
                <p:tags r:id="rId13"/>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40" name="Rectangle: Rounded Corners 39">
              <a:extLst>
                <a:ext uri="{FF2B5EF4-FFF2-40B4-BE49-F238E27FC236}">
                  <a16:creationId xmlns:a16="http://schemas.microsoft.com/office/drawing/2014/main" id="{3CA37197-C4CA-4707-A1EC-0E131A1EB26F}"/>
                </a:ext>
              </a:extLst>
            </p:cNvPr>
            <p:cNvSpPr/>
            <p:nvPr>
              <p:custDataLst>
                <p:tags r:id="rId14"/>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41" name="Rectangle: Rounded Corners 40">
              <a:extLst>
                <a:ext uri="{FF2B5EF4-FFF2-40B4-BE49-F238E27FC236}">
                  <a16:creationId xmlns:a16="http://schemas.microsoft.com/office/drawing/2014/main" id="{690A4DA4-62E7-43CF-86F5-20ED1721BAC3}"/>
                </a:ext>
              </a:extLst>
            </p:cNvPr>
            <p:cNvSpPr/>
            <p:nvPr>
              <p:custDataLst>
                <p:tags r:id="rId15"/>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42" name="Rectangle: Rounded Corners 41">
              <a:extLst>
                <a:ext uri="{FF2B5EF4-FFF2-40B4-BE49-F238E27FC236}">
                  <a16:creationId xmlns:a16="http://schemas.microsoft.com/office/drawing/2014/main" id="{24314DF8-93A6-4340-8C6F-42AD16B6FC13}"/>
                </a:ext>
              </a:extLst>
            </p:cNvPr>
            <p:cNvSpPr/>
            <p:nvPr>
              <p:custDataLst>
                <p:tags r:id="rId16"/>
              </p:custDataLst>
            </p:nvPr>
          </p:nvSpPr>
          <p:spPr>
            <a:xfrm>
              <a:off x="67535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43" name="Rectangle: Rounded Corners 42">
              <a:extLst>
                <a:ext uri="{FF2B5EF4-FFF2-40B4-BE49-F238E27FC236}">
                  <a16:creationId xmlns:a16="http://schemas.microsoft.com/office/drawing/2014/main" id="{5FF84C74-8D03-4EDB-B9A9-86DD10F59FE4}"/>
                </a:ext>
              </a:extLst>
            </p:cNvPr>
            <p:cNvSpPr/>
            <p:nvPr>
              <p:custDataLst>
                <p:tags r:id="rId17"/>
              </p:custDataLst>
            </p:nvPr>
          </p:nvSpPr>
          <p:spPr>
            <a:xfrm>
              <a:off x="8106517"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spTree>
    <p:custDataLst>
      <p:tags r:id="rId1"/>
    </p:custDataLst>
    <p:extLst>
      <p:ext uri="{BB962C8B-B14F-4D97-AF65-F5344CB8AC3E}">
        <p14:creationId xmlns:p14="http://schemas.microsoft.com/office/powerpoint/2010/main" val="12452749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20"/>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7"/>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2056" name="Rectangle 3"/>
          <p:cNvSpPr>
            <a:spLocks noGrp="1" noChangeArrowheads="1"/>
          </p:cNvSpPr>
          <p:nvPr>
            <p:ph idx="1"/>
            <p:custDataLst>
              <p:tags r:id="rId3"/>
            </p:custDataLst>
          </p:nvPr>
        </p:nvSpPr>
        <p:spPr>
          <a:xfrm>
            <a:off x="682625" y="1600200"/>
            <a:ext cx="8385175" cy="1676400"/>
          </a:xfrm>
        </p:spPr>
        <p:txBody>
          <a:bodyPr/>
          <a:lstStyle/>
          <a:p>
            <a:pPr>
              <a:lnSpc>
                <a:spcPct val="80000"/>
              </a:lnSpc>
            </a:pPr>
            <a:r>
              <a:rPr lang="en-US" altLang="en-US" sz="2800" dirty="0"/>
              <a:t>Multi-cycle implementation:</a:t>
            </a:r>
          </a:p>
          <a:p>
            <a:pPr lvl="1">
              <a:lnSpc>
                <a:spcPct val="90000"/>
              </a:lnSpc>
            </a:pPr>
            <a:r>
              <a:rPr lang="en-US" altLang="en-US" sz="2400" dirty="0"/>
              <a:t>Clock period = max{T</a:t>
            </a:r>
            <a:r>
              <a:rPr lang="en-US" altLang="en-US" sz="2400" baseline="-25000" dirty="0"/>
              <a:t>F</a:t>
            </a:r>
            <a:r>
              <a:rPr lang="en-US" altLang="en-US" sz="2400" dirty="0"/>
              <a:t>, T</a:t>
            </a:r>
            <a:r>
              <a:rPr lang="en-US" altLang="en-US" sz="2400" baseline="-25000" dirty="0"/>
              <a:t>D</a:t>
            </a:r>
            <a:r>
              <a:rPr lang="en-US" altLang="en-US" sz="2400" dirty="0"/>
              <a:t>, T</a:t>
            </a:r>
            <a:r>
              <a:rPr lang="en-US" altLang="en-US" sz="2400" baseline="-25000" dirty="0"/>
              <a:t>X</a:t>
            </a:r>
            <a:r>
              <a:rPr lang="en-US" altLang="en-US" sz="2400" dirty="0"/>
              <a:t>, T</a:t>
            </a:r>
            <a:r>
              <a:rPr lang="en-US" altLang="en-US" sz="2400" baseline="-25000" dirty="0"/>
              <a:t>M</a:t>
            </a:r>
            <a:r>
              <a:rPr lang="en-US" altLang="en-US" sz="2400" dirty="0"/>
              <a:t>, T</a:t>
            </a:r>
            <a:r>
              <a:rPr lang="en-US" altLang="en-US" sz="2400" baseline="-25000" dirty="0"/>
              <a:t>W</a:t>
            </a:r>
            <a:r>
              <a:rPr lang="en-US" altLang="en-US" sz="2400" dirty="0"/>
              <a:t>} ≥ T/5</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5</a:t>
            </a:fld>
            <a:endParaRPr lang="en-US" altLang="en-US"/>
          </a:p>
        </p:txBody>
      </p:sp>
      <p:sp>
        <p:nvSpPr>
          <p:cNvPr id="5" name="Rectangle 3">
            <a:extLst>
              <a:ext uri="{FF2B5EF4-FFF2-40B4-BE49-F238E27FC236}">
                <a16:creationId xmlns:a16="http://schemas.microsoft.com/office/drawing/2014/main" id="{66F949BD-8D5C-4C6F-93F0-B378D93BD283}"/>
              </a:ext>
            </a:extLst>
          </p:cNvPr>
          <p:cNvSpPr txBox="1">
            <a:spLocks noChangeArrowheads="1"/>
          </p:cNvSpPr>
          <p:nvPr>
            <p:custDataLst>
              <p:tags r:id="rId5"/>
            </p:custDataLst>
          </p:nvPr>
        </p:nvSpPr>
        <p:spPr bwMode="auto">
          <a:xfrm>
            <a:off x="685800" y="4038600"/>
            <a:ext cx="8385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pPr>
            <a:r>
              <a:rPr lang="en-US" altLang="en-US" sz="2800" b="1" dirty="0"/>
              <a:t>Pipelining:</a:t>
            </a:r>
          </a:p>
          <a:p>
            <a:pPr lvl="1">
              <a:lnSpc>
                <a:spcPct val="90000"/>
              </a:lnSpc>
            </a:pPr>
            <a:r>
              <a:rPr lang="en-US" altLang="en-US" sz="2400" dirty="0"/>
              <a:t>IPC of single-cycle implementation</a:t>
            </a:r>
          </a:p>
          <a:p>
            <a:pPr lvl="1">
              <a:lnSpc>
                <a:spcPct val="90000"/>
              </a:lnSpc>
            </a:pPr>
            <a:r>
              <a:rPr lang="en-US" altLang="en-US" sz="2400" dirty="0"/>
              <a:t>Clock period of multi-cycle implementation</a:t>
            </a:r>
          </a:p>
        </p:txBody>
      </p:sp>
      <p:graphicFrame>
        <p:nvGraphicFramePr>
          <p:cNvPr id="7" name="Group 4">
            <a:extLst>
              <a:ext uri="{FF2B5EF4-FFF2-40B4-BE49-F238E27FC236}">
                <a16:creationId xmlns:a16="http://schemas.microsoft.com/office/drawing/2014/main" id="{612D0E06-1F2D-495F-A7DD-45E79ADBF46B}"/>
              </a:ext>
            </a:extLst>
          </p:cNvPr>
          <p:cNvGraphicFramePr>
            <a:graphicFrameLocks noGrp="1"/>
          </p:cNvGraphicFramePr>
          <p:nvPr>
            <p:custDataLst>
              <p:tags r:id="rId6"/>
            </p:custDataLst>
            <p:extLst>
              <p:ext uri="{D42A27DB-BD31-4B8C-83A1-F6EECF244321}">
                <p14:modId xmlns:p14="http://schemas.microsoft.com/office/powerpoint/2010/main" val="2179444493"/>
              </p:ext>
            </p:extLst>
          </p:nvPr>
        </p:nvGraphicFramePr>
        <p:xfrm>
          <a:off x="526930" y="5334000"/>
          <a:ext cx="8226001" cy="1437702"/>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                        Cycle</a:t>
                      </a:r>
                      <a:br>
                        <a:rPr kumimoji="0" lang="en-US" sz="1200" b="1" i="0" u="none" strike="noStrike" cap="none" normalizeH="0" baseline="0" dirty="0">
                          <a:ln>
                            <a:noFill/>
                          </a:ln>
                          <a:solidFill>
                            <a:schemeClr val="tx1"/>
                          </a:solidFill>
                          <a:effectLst/>
                          <a:latin typeface="Times New Roman" pitchFamily="18" charset="0"/>
                        </a:rPr>
                      </a:br>
                      <a:r>
                        <a:rPr kumimoji="0" lang="en-US" sz="1200" b="1" i="0" u="none" strike="noStrike" cap="none" normalizeH="0" baseline="0" dirty="0" err="1">
                          <a:ln>
                            <a:noFill/>
                          </a:ln>
                          <a:solidFill>
                            <a:schemeClr val="tx1"/>
                          </a:solidFill>
                          <a:effectLst/>
                          <a:latin typeface="Times New Roman" pitchFamily="18" charset="0"/>
                        </a:rPr>
                        <a:t>Instns</a:t>
                      </a:r>
                      <a:endParaRPr kumimoji="0" lang="en-US" sz="1200" b="1"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Times New Roman" pitchFamily="18" charset="0"/>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lw</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beq</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sw</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graphicFrame>
        <p:nvGraphicFramePr>
          <p:cNvPr id="10" name="Group 4">
            <a:extLst>
              <a:ext uri="{FF2B5EF4-FFF2-40B4-BE49-F238E27FC236}">
                <a16:creationId xmlns:a16="http://schemas.microsoft.com/office/drawing/2014/main" id="{07D4737C-F356-4FC9-AC16-0B017743A997}"/>
              </a:ext>
            </a:extLst>
          </p:cNvPr>
          <p:cNvGraphicFramePr>
            <a:graphicFrameLocks noGrp="1"/>
          </p:cNvGraphicFramePr>
          <p:nvPr>
            <p:custDataLst>
              <p:tags r:id="rId7"/>
            </p:custDataLst>
            <p:extLst>
              <p:ext uri="{D42A27DB-BD31-4B8C-83A1-F6EECF244321}">
                <p14:modId xmlns:p14="http://schemas.microsoft.com/office/powerpoint/2010/main" val="2845493594"/>
              </p:ext>
            </p:extLst>
          </p:nvPr>
        </p:nvGraphicFramePr>
        <p:xfrm>
          <a:off x="533400" y="2514600"/>
          <a:ext cx="8226001" cy="1437702"/>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                        Cycle</a:t>
                      </a:r>
                      <a:br>
                        <a:rPr kumimoji="0" lang="en-US" sz="1200" b="1" i="0" u="none" strike="noStrike" cap="none" normalizeH="0" baseline="0" dirty="0">
                          <a:ln>
                            <a:noFill/>
                          </a:ln>
                          <a:solidFill>
                            <a:schemeClr val="tx1"/>
                          </a:solidFill>
                          <a:effectLst/>
                          <a:latin typeface="Times New Roman" pitchFamily="18" charset="0"/>
                        </a:rPr>
                      </a:br>
                      <a:r>
                        <a:rPr kumimoji="0" lang="en-US" sz="1200" b="1" i="0" u="none" strike="noStrike" cap="none" normalizeH="0" baseline="0" dirty="0" err="1">
                          <a:ln>
                            <a:noFill/>
                          </a:ln>
                          <a:solidFill>
                            <a:schemeClr val="tx1"/>
                          </a:solidFill>
                          <a:effectLst/>
                          <a:latin typeface="Times New Roman" pitchFamily="18" charset="0"/>
                        </a:rPr>
                        <a:t>Instns</a:t>
                      </a:r>
                      <a:endParaRPr kumimoji="0" lang="en-US" sz="1200" b="1" i="0" u="none" strike="noStrike" cap="none" normalizeH="0" baseline="0" dirty="0">
                        <a:ln>
                          <a:noFill/>
                        </a:ln>
                        <a:solidFill>
                          <a:schemeClr val="tx1"/>
                        </a:solidFill>
                        <a:effectLst/>
                        <a:latin typeface="Times New Roman" pitchFamily="18" charset="0"/>
                      </a:endParaRP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1" i="0" u="none" strike="noStrike" cap="none" normalizeH="0" baseline="0" dirty="0">
                          <a:ln>
                            <a:noFill/>
                          </a:ln>
                          <a:solidFill>
                            <a:schemeClr val="tx1"/>
                          </a:solidFill>
                          <a:effectLst/>
                          <a:latin typeface="Times New Roman" pitchFamily="18" charset="0"/>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lw</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beq</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200" b="0" i="0" u="none" strike="noStrike" cap="none" normalizeH="0" baseline="0" dirty="0" err="1">
                          <a:ln>
                            <a:noFill/>
                          </a:ln>
                          <a:solidFill>
                            <a:schemeClr val="tx1"/>
                          </a:solidFill>
                          <a:effectLst/>
                          <a:latin typeface="Consolas" panose="020B0609020204030204" pitchFamily="49" charset="0"/>
                          <a:cs typeface="Consolas" panose="020B0609020204030204" pitchFamily="49" charset="0"/>
                        </a:rPr>
                        <a:t>sw</a:t>
                      </a:r>
                      <a:r>
                        <a:rPr kumimoji="0" lang="en-US" sz="1200" b="0" i="0" u="none" strike="noStrike" cap="none" normalizeH="0" baseline="0" dirty="0">
                          <a:ln>
                            <a:noFill/>
                          </a:ln>
                          <a:solidFill>
                            <a:schemeClr val="tx1"/>
                          </a:solidFill>
                          <a:effectLst/>
                          <a:latin typeface="Consolas" panose="020B0609020204030204" pitchFamily="49" charset="0"/>
                          <a:cs typeface="Consolas" panose="020B0609020204030204" pitchFamily="49" charset="0"/>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32309257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Pipelining</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723900" y="1401729"/>
            <a:ext cx="7696200" cy="5227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70694663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0C33EB02-48F3-4BCD-9BAD-4414AA83D729}"/>
              </a:ext>
            </a:extLst>
          </p:cNvPr>
          <p:cNvSpPr>
            <a:spLocks noGrp="1" noChangeArrowheads="1"/>
          </p:cNvSpPr>
          <p:nvPr>
            <p:ph idx="1"/>
            <p:custDataLst>
              <p:tags r:id="rId4"/>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RegWrite</a:t>
            </a:r>
            <a:r>
              <a:rPr lang="en-US" altLang="en-US" sz="2400" dirty="0"/>
              <a:t> come from EX/MEM instead?</a:t>
            </a:r>
          </a:p>
        </p:txBody>
      </p:sp>
      <p:cxnSp>
        <p:nvCxnSpPr>
          <p:cNvPr id="3" name="Straight Connector 2">
            <a:extLst>
              <a:ext uri="{FF2B5EF4-FFF2-40B4-BE49-F238E27FC236}">
                <a16:creationId xmlns:a16="http://schemas.microsoft.com/office/drawing/2014/main" id="{46E99363-7362-4338-9327-72B2AC387F5E}"/>
              </a:ext>
            </a:extLst>
          </p:cNvPr>
          <p:cNvCxnSpPr/>
          <p:nvPr/>
        </p:nvCxnSpPr>
        <p:spPr>
          <a:xfrm>
            <a:off x="3581400" y="2057400"/>
            <a:ext cx="44958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F2D7D66-429D-4AA8-A6BF-631A9FE3DAA7}"/>
              </a:ext>
            </a:extLst>
          </p:cNvPr>
          <p:cNvCxnSpPr>
            <a:cxnSpLocks/>
          </p:cNvCxnSpPr>
          <p:nvPr/>
        </p:nvCxnSpPr>
        <p:spPr>
          <a:xfrm>
            <a:off x="7924800" y="2895600"/>
            <a:ext cx="152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AFD0AF-A10C-4229-AD55-5D2C7B812C09}"/>
              </a:ext>
            </a:extLst>
          </p:cNvPr>
          <p:cNvCxnSpPr>
            <a:cxnSpLocks/>
          </p:cNvCxnSpPr>
          <p:nvPr/>
        </p:nvCxnSpPr>
        <p:spPr>
          <a:xfrm>
            <a:off x="8077200" y="2057400"/>
            <a:ext cx="0" cy="838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9C3A5C6-BB59-4DF6-BAB2-7E5120250003}"/>
              </a:ext>
            </a:extLst>
          </p:cNvPr>
          <p:cNvCxnSpPr>
            <a:cxnSpLocks/>
          </p:cNvCxnSpPr>
          <p:nvPr/>
        </p:nvCxnSpPr>
        <p:spPr>
          <a:xfrm>
            <a:off x="3581400" y="2057400"/>
            <a:ext cx="0" cy="1905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0158668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a:extLst>
              <a:ext uri="{FF2B5EF4-FFF2-40B4-BE49-F238E27FC236}">
                <a16:creationId xmlns:a16="http://schemas.microsoft.com/office/drawing/2014/main" id="{DD927120-404E-4793-8D76-680B62CBD856}"/>
              </a:ext>
            </a:extLst>
          </p:cNvPr>
          <p:cNvSpPr>
            <a:spLocks noGrp="1" noChangeArrowheads="1"/>
          </p:cNvSpPr>
          <p:nvPr>
            <p:ph idx="1"/>
            <p:custDataLst>
              <p:tags r:id="rId2"/>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RegWrite</a:t>
            </a:r>
            <a:r>
              <a:rPr lang="en-US" altLang="en-US" sz="2400" dirty="0"/>
              <a:t> come from EX/MEM instead?</a:t>
            </a:r>
          </a:p>
        </p:txBody>
      </p:sp>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4"/>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46E99363-7362-4338-9327-72B2AC387F5E}"/>
              </a:ext>
            </a:extLst>
          </p:cNvPr>
          <p:cNvCxnSpPr/>
          <p:nvPr/>
        </p:nvCxnSpPr>
        <p:spPr>
          <a:xfrm>
            <a:off x="3581400" y="2057400"/>
            <a:ext cx="44958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F2D7D66-429D-4AA8-A6BF-631A9FE3DAA7}"/>
              </a:ext>
            </a:extLst>
          </p:cNvPr>
          <p:cNvCxnSpPr>
            <a:cxnSpLocks/>
          </p:cNvCxnSpPr>
          <p:nvPr/>
        </p:nvCxnSpPr>
        <p:spPr>
          <a:xfrm>
            <a:off x="7924800" y="2895600"/>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AFD0AF-A10C-4229-AD55-5D2C7B812C09}"/>
              </a:ext>
            </a:extLst>
          </p:cNvPr>
          <p:cNvCxnSpPr>
            <a:cxnSpLocks/>
          </p:cNvCxnSpPr>
          <p:nvPr/>
        </p:nvCxnSpPr>
        <p:spPr>
          <a:xfrm>
            <a:off x="8077200" y="2057400"/>
            <a:ext cx="0" cy="838200"/>
          </a:xfrm>
          <a:prstGeom prst="line">
            <a:avLst/>
          </a:prstGeom>
          <a:ln w="603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9C3A5C6-BB59-4DF6-BAB2-7E5120250003}"/>
              </a:ext>
            </a:extLst>
          </p:cNvPr>
          <p:cNvCxnSpPr>
            <a:cxnSpLocks/>
          </p:cNvCxnSpPr>
          <p:nvPr/>
        </p:nvCxnSpPr>
        <p:spPr>
          <a:xfrm>
            <a:off x="3581400" y="2057400"/>
            <a:ext cx="0" cy="1905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C3117B-B618-48A5-93EE-6075D32F6FD8}"/>
              </a:ext>
            </a:extLst>
          </p:cNvPr>
          <p:cNvCxnSpPr>
            <a:cxnSpLocks/>
          </p:cNvCxnSpPr>
          <p:nvPr/>
        </p:nvCxnSpPr>
        <p:spPr>
          <a:xfrm>
            <a:off x="3581400" y="2071396"/>
            <a:ext cx="2819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406A44-A5D8-4CA7-A319-7BA4C4A4CE9A}"/>
              </a:ext>
            </a:extLst>
          </p:cNvPr>
          <p:cNvCxnSpPr>
            <a:cxnSpLocks/>
          </p:cNvCxnSpPr>
          <p:nvPr/>
        </p:nvCxnSpPr>
        <p:spPr>
          <a:xfrm>
            <a:off x="6172200" y="2895600"/>
            <a:ext cx="228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2307BB7-1E78-4AC1-ACF1-ABB6E3CD6E64}"/>
              </a:ext>
            </a:extLst>
          </p:cNvPr>
          <p:cNvCxnSpPr>
            <a:cxnSpLocks/>
          </p:cNvCxnSpPr>
          <p:nvPr/>
        </p:nvCxnSpPr>
        <p:spPr>
          <a:xfrm>
            <a:off x="6400800" y="2057400"/>
            <a:ext cx="0" cy="838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04262832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3">
            <a:extLst>
              <a:ext uri="{FF2B5EF4-FFF2-40B4-BE49-F238E27FC236}">
                <a16:creationId xmlns:a16="http://schemas.microsoft.com/office/drawing/2014/main" id="{DD927120-404E-4793-8D76-680B62CBD856}"/>
              </a:ext>
            </a:extLst>
          </p:cNvPr>
          <p:cNvSpPr>
            <a:spLocks noGrp="1" noChangeArrowheads="1"/>
          </p:cNvSpPr>
          <p:nvPr>
            <p:ph idx="1"/>
            <p:custDataLst>
              <p:tags r:id="rId2"/>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RegWrite</a:t>
            </a:r>
            <a:r>
              <a:rPr lang="en-US" altLang="en-US" sz="2400" dirty="0"/>
              <a:t> come from EX/MEM instead? </a:t>
            </a:r>
            <a:r>
              <a:rPr lang="en-US" altLang="en-US" sz="2400" b="1" dirty="0">
                <a:solidFill>
                  <a:schemeClr val="accent6">
                    <a:lumMod val="75000"/>
                  </a:schemeClr>
                </a:solidFill>
              </a:rPr>
              <a:t>No</a:t>
            </a:r>
          </a:p>
        </p:txBody>
      </p:sp>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4"/>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46E99363-7362-4338-9327-72B2AC387F5E}"/>
              </a:ext>
            </a:extLst>
          </p:cNvPr>
          <p:cNvCxnSpPr/>
          <p:nvPr/>
        </p:nvCxnSpPr>
        <p:spPr>
          <a:xfrm>
            <a:off x="3581400" y="2057400"/>
            <a:ext cx="44958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F2D7D66-429D-4AA8-A6BF-631A9FE3DAA7}"/>
              </a:ext>
            </a:extLst>
          </p:cNvPr>
          <p:cNvCxnSpPr>
            <a:cxnSpLocks/>
          </p:cNvCxnSpPr>
          <p:nvPr/>
        </p:nvCxnSpPr>
        <p:spPr>
          <a:xfrm>
            <a:off x="7924800" y="2895600"/>
            <a:ext cx="152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CAFD0AF-A10C-4229-AD55-5D2C7B812C09}"/>
              </a:ext>
            </a:extLst>
          </p:cNvPr>
          <p:cNvCxnSpPr>
            <a:cxnSpLocks/>
          </p:cNvCxnSpPr>
          <p:nvPr/>
        </p:nvCxnSpPr>
        <p:spPr>
          <a:xfrm>
            <a:off x="8077200" y="2057400"/>
            <a:ext cx="0" cy="838200"/>
          </a:xfrm>
          <a:prstGeom prst="line">
            <a:avLst/>
          </a:prstGeom>
          <a:ln w="603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9C3A5C6-BB59-4DF6-BAB2-7E5120250003}"/>
              </a:ext>
            </a:extLst>
          </p:cNvPr>
          <p:cNvCxnSpPr>
            <a:cxnSpLocks/>
          </p:cNvCxnSpPr>
          <p:nvPr/>
        </p:nvCxnSpPr>
        <p:spPr>
          <a:xfrm>
            <a:off x="3581400" y="2057400"/>
            <a:ext cx="0" cy="19050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AC3117B-B618-48A5-93EE-6075D32F6FD8}"/>
              </a:ext>
            </a:extLst>
          </p:cNvPr>
          <p:cNvCxnSpPr>
            <a:cxnSpLocks/>
          </p:cNvCxnSpPr>
          <p:nvPr/>
        </p:nvCxnSpPr>
        <p:spPr>
          <a:xfrm>
            <a:off x="3581400" y="2071396"/>
            <a:ext cx="28194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406A44-A5D8-4CA7-A319-7BA4C4A4CE9A}"/>
              </a:ext>
            </a:extLst>
          </p:cNvPr>
          <p:cNvCxnSpPr>
            <a:cxnSpLocks/>
          </p:cNvCxnSpPr>
          <p:nvPr/>
        </p:nvCxnSpPr>
        <p:spPr>
          <a:xfrm>
            <a:off x="6172200" y="2895600"/>
            <a:ext cx="228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2307BB7-1E78-4AC1-ACF1-ABB6E3CD6E64}"/>
              </a:ext>
            </a:extLst>
          </p:cNvPr>
          <p:cNvCxnSpPr>
            <a:cxnSpLocks/>
          </p:cNvCxnSpPr>
          <p:nvPr/>
        </p:nvCxnSpPr>
        <p:spPr>
          <a:xfrm>
            <a:off x="6400800" y="2057400"/>
            <a:ext cx="0" cy="83820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3987354"/>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0C33EB02-48F3-4BCD-9BAD-4414AA83D729}"/>
              </a:ext>
            </a:extLst>
          </p:cNvPr>
          <p:cNvSpPr>
            <a:spLocks noGrp="1" noChangeArrowheads="1"/>
          </p:cNvSpPr>
          <p:nvPr>
            <p:ph idx="1"/>
            <p:custDataLst>
              <p:tags r:id="rId4"/>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RegDst</a:t>
            </a:r>
            <a:r>
              <a:rPr lang="en-US" altLang="en-US" sz="2400" dirty="0"/>
              <a:t> mux come after EX/MEM instead?</a:t>
            </a:r>
          </a:p>
        </p:txBody>
      </p:sp>
      <p:sp>
        <p:nvSpPr>
          <p:cNvPr id="5" name="Rectangle: Rounded Corners 4">
            <a:extLst>
              <a:ext uri="{FF2B5EF4-FFF2-40B4-BE49-F238E27FC236}">
                <a16:creationId xmlns:a16="http://schemas.microsoft.com/office/drawing/2014/main" id="{55E261AE-CD34-4287-9A02-4726037931F1}"/>
              </a:ext>
            </a:extLst>
          </p:cNvPr>
          <p:cNvSpPr/>
          <p:nvPr/>
        </p:nvSpPr>
        <p:spPr>
          <a:xfrm>
            <a:off x="4724400" y="5791200"/>
            <a:ext cx="152400" cy="533400"/>
          </a:xfrm>
          <a:prstGeom prst="roundRect">
            <a:avLst>
              <a:gd name="adj" fmla="val 50000"/>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1B60F212-E945-4790-A2B1-7E633D442AD2}"/>
              </a:ext>
            </a:extLst>
          </p:cNvPr>
          <p:cNvCxnSpPr>
            <a:cxnSpLocks/>
          </p:cNvCxnSpPr>
          <p:nvPr/>
        </p:nvCxnSpPr>
        <p:spPr>
          <a:xfrm>
            <a:off x="4800600" y="6400800"/>
            <a:ext cx="990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5F0474-561D-47EE-890C-B5F696A51064}"/>
              </a:ext>
            </a:extLst>
          </p:cNvPr>
          <p:cNvCxnSpPr>
            <a:cxnSpLocks/>
            <a:stCxn id="5" idx="2"/>
          </p:cNvCxnSpPr>
          <p:nvPr/>
        </p:nvCxnSpPr>
        <p:spPr>
          <a:xfrm>
            <a:off x="4800600" y="6324600"/>
            <a:ext cx="3110" cy="839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7967A2F-FBCD-417E-BB89-D72EBE6AB9A4}"/>
              </a:ext>
            </a:extLst>
          </p:cNvPr>
          <p:cNvCxnSpPr>
            <a:cxnSpLocks/>
          </p:cNvCxnSpPr>
          <p:nvPr/>
        </p:nvCxnSpPr>
        <p:spPr>
          <a:xfrm>
            <a:off x="5777204" y="2898711"/>
            <a:ext cx="13996" cy="3509865"/>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5AA595F-3CDD-4D8C-9828-3858A08AF4B8}"/>
              </a:ext>
            </a:extLst>
          </p:cNvPr>
          <p:cNvCxnSpPr>
            <a:cxnSpLocks/>
          </p:cNvCxnSpPr>
          <p:nvPr/>
        </p:nvCxnSpPr>
        <p:spPr>
          <a:xfrm>
            <a:off x="4419600" y="2895600"/>
            <a:ext cx="137160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4899012"/>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0C33EB02-48F3-4BCD-9BAD-4414AA83D729}"/>
              </a:ext>
            </a:extLst>
          </p:cNvPr>
          <p:cNvSpPr>
            <a:spLocks noGrp="1" noChangeArrowheads="1"/>
          </p:cNvSpPr>
          <p:nvPr>
            <p:ph idx="1"/>
            <p:custDataLst>
              <p:tags r:id="rId4"/>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RegDst</a:t>
            </a:r>
            <a:r>
              <a:rPr lang="en-US" altLang="en-US" sz="2400" dirty="0"/>
              <a:t> mux come after EX/MEM instead?</a:t>
            </a:r>
          </a:p>
        </p:txBody>
      </p:sp>
      <p:cxnSp>
        <p:nvCxnSpPr>
          <p:cNvPr id="11" name="Straight Connector 10">
            <a:extLst>
              <a:ext uri="{FF2B5EF4-FFF2-40B4-BE49-F238E27FC236}">
                <a16:creationId xmlns:a16="http://schemas.microsoft.com/office/drawing/2014/main" id="{A1145B34-27C0-47B8-A862-459045FDF246}"/>
              </a:ext>
            </a:extLst>
          </p:cNvPr>
          <p:cNvCxnSpPr>
            <a:cxnSpLocks/>
          </p:cNvCxnSpPr>
          <p:nvPr/>
        </p:nvCxnSpPr>
        <p:spPr>
          <a:xfrm>
            <a:off x="6172200" y="2987351"/>
            <a:ext cx="62709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60F212-E945-4790-A2B1-7E633D442AD2}"/>
              </a:ext>
            </a:extLst>
          </p:cNvPr>
          <p:cNvCxnSpPr>
            <a:cxnSpLocks/>
          </p:cNvCxnSpPr>
          <p:nvPr/>
        </p:nvCxnSpPr>
        <p:spPr>
          <a:xfrm>
            <a:off x="6521903" y="6408576"/>
            <a:ext cx="2703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5F0474-561D-47EE-890C-B5F696A51064}"/>
              </a:ext>
            </a:extLst>
          </p:cNvPr>
          <p:cNvCxnSpPr>
            <a:cxnSpLocks/>
            <a:stCxn id="5" idx="2"/>
          </p:cNvCxnSpPr>
          <p:nvPr/>
        </p:nvCxnSpPr>
        <p:spPr>
          <a:xfrm>
            <a:off x="6521903" y="6324600"/>
            <a:ext cx="3110" cy="839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7967A2F-FBCD-417E-BB89-D72EBE6AB9A4}"/>
              </a:ext>
            </a:extLst>
          </p:cNvPr>
          <p:cNvCxnSpPr>
            <a:cxnSpLocks/>
          </p:cNvCxnSpPr>
          <p:nvPr/>
        </p:nvCxnSpPr>
        <p:spPr>
          <a:xfrm>
            <a:off x="6792297" y="2971800"/>
            <a:ext cx="6998" cy="34367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F9BFFD8-5BA6-4717-A413-C0044C25FFD8}"/>
              </a:ext>
            </a:extLst>
          </p:cNvPr>
          <p:cNvSpPr/>
          <p:nvPr/>
        </p:nvSpPr>
        <p:spPr>
          <a:xfrm>
            <a:off x="4454590" y="5715000"/>
            <a:ext cx="498410" cy="693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334101-98FD-4E1F-B8E2-390E8FDD1779}"/>
              </a:ext>
            </a:extLst>
          </p:cNvPr>
          <p:cNvSpPr/>
          <p:nvPr/>
        </p:nvSpPr>
        <p:spPr>
          <a:xfrm>
            <a:off x="4800600" y="5964434"/>
            <a:ext cx="1218422" cy="475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36DE0E6-EB44-46DA-AE8D-6CE4A31DB7E5}"/>
              </a:ext>
            </a:extLst>
          </p:cNvPr>
          <p:cNvSpPr/>
          <p:nvPr/>
        </p:nvSpPr>
        <p:spPr>
          <a:xfrm>
            <a:off x="6251510" y="5894606"/>
            <a:ext cx="184863" cy="475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5E261AE-CD34-4287-9A02-4726037931F1}"/>
              </a:ext>
            </a:extLst>
          </p:cNvPr>
          <p:cNvSpPr/>
          <p:nvPr/>
        </p:nvSpPr>
        <p:spPr>
          <a:xfrm>
            <a:off x="6445703" y="5791200"/>
            <a:ext cx="152400" cy="533400"/>
          </a:xfrm>
          <a:prstGeom prst="roundRect">
            <a:avLst>
              <a:gd name="adj" fmla="val 50000"/>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9FF0255-FD86-4A8B-AAD0-49D41E2DFC28}"/>
              </a:ext>
            </a:extLst>
          </p:cNvPr>
          <p:cNvCxnSpPr/>
          <p:nvPr/>
        </p:nvCxnSpPr>
        <p:spPr>
          <a:xfrm>
            <a:off x="4419600" y="5867400"/>
            <a:ext cx="1599422"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DE958B9-D8FE-4367-8584-09F649D00A7D}"/>
              </a:ext>
            </a:extLst>
          </p:cNvPr>
          <p:cNvCxnSpPr/>
          <p:nvPr/>
        </p:nvCxnSpPr>
        <p:spPr>
          <a:xfrm>
            <a:off x="4419600" y="6248400"/>
            <a:ext cx="1599422"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5CEEEED-D2EA-41B3-A5F9-4E547E58E228}"/>
              </a:ext>
            </a:extLst>
          </p:cNvPr>
          <p:cNvCxnSpPr/>
          <p:nvPr/>
        </p:nvCxnSpPr>
        <p:spPr>
          <a:xfrm>
            <a:off x="6172200" y="5867400"/>
            <a:ext cx="274320"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93789E-7699-4298-AA74-30728B62FB14}"/>
              </a:ext>
            </a:extLst>
          </p:cNvPr>
          <p:cNvCxnSpPr/>
          <p:nvPr/>
        </p:nvCxnSpPr>
        <p:spPr>
          <a:xfrm>
            <a:off x="6172200" y="6248400"/>
            <a:ext cx="274320"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25195177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Exercise</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723900" y="1752600"/>
            <a:ext cx="76962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0C33EB02-48F3-4BCD-9BAD-4414AA83D729}"/>
              </a:ext>
            </a:extLst>
          </p:cNvPr>
          <p:cNvSpPr>
            <a:spLocks noGrp="1" noChangeArrowheads="1"/>
          </p:cNvSpPr>
          <p:nvPr>
            <p:ph idx="1"/>
            <p:custDataLst>
              <p:tags r:id="rId4"/>
            </p:custDataLst>
          </p:nvPr>
        </p:nvSpPr>
        <p:spPr>
          <a:xfrm>
            <a:off x="682625" y="1295400"/>
            <a:ext cx="8385175" cy="1676400"/>
          </a:xfrm>
        </p:spPr>
        <p:txBody>
          <a:bodyPr/>
          <a:lstStyle/>
          <a:p>
            <a:pPr marL="0" indent="0">
              <a:lnSpc>
                <a:spcPct val="80000"/>
              </a:lnSpc>
              <a:buNone/>
            </a:pPr>
            <a:r>
              <a:rPr lang="en-US" altLang="en-US" sz="2400" dirty="0"/>
              <a:t>Can </a:t>
            </a:r>
            <a:r>
              <a:rPr lang="en-US" altLang="en-US" sz="2400" dirty="0" err="1"/>
              <a:t>RegDst</a:t>
            </a:r>
            <a:r>
              <a:rPr lang="en-US" altLang="en-US" sz="2400" dirty="0"/>
              <a:t> mux come after EX/MEM instead? </a:t>
            </a:r>
            <a:r>
              <a:rPr lang="en-US" altLang="en-US" sz="2400" b="1" dirty="0">
                <a:solidFill>
                  <a:schemeClr val="accent6">
                    <a:lumMod val="75000"/>
                  </a:schemeClr>
                </a:solidFill>
              </a:rPr>
              <a:t>Yes</a:t>
            </a:r>
          </a:p>
        </p:txBody>
      </p:sp>
      <p:cxnSp>
        <p:nvCxnSpPr>
          <p:cNvPr id="11" name="Straight Connector 10">
            <a:extLst>
              <a:ext uri="{FF2B5EF4-FFF2-40B4-BE49-F238E27FC236}">
                <a16:creationId xmlns:a16="http://schemas.microsoft.com/office/drawing/2014/main" id="{A1145B34-27C0-47B8-A862-459045FDF246}"/>
              </a:ext>
            </a:extLst>
          </p:cNvPr>
          <p:cNvCxnSpPr>
            <a:cxnSpLocks/>
          </p:cNvCxnSpPr>
          <p:nvPr/>
        </p:nvCxnSpPr>
        <p:spPr>
          <a:xfrm>
            <a:off x="6172200" y="2987351"/>
            <a:ext cx="62709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B60F212-E945-4790-A2B1-7E633D442AD2}"/>
              </a:ext>
            </a:extLst>
          </p:cNvPr>
          <p:cNvCxnSpPr>
            <a:cxnSpLocks/>
          </p:cNvCxnSpPr>
          <p:nvPr/>
        </p:nvCxnSpPr>
        <p:spPr>
          <a:xfrm>
            <a:off x="6521903" y="6408576"/>
            <a:ext cx="27039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35F0474-561D-47EE-890C-B5F696A51064}"/>
              </a:ext>
            </a:extLst>
          </p:cNvPr>
          <p:cNvCxnSpPr>
            <a:cxnSpLocks/>
            <a:stCxn id="5" idx="2"/>
          </p:cNvCxnSpPr>
          <p:nvPr/>
        </p:nvCxnSpPr>
        <p:spPr>
          <a:xfrm>
            <a:off x="6521903" y="6324600"/>
            <a:ext cx="3110" cy="839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7967A2F-FBCD-417E-BB89-D72EBE6AB9A4}"/>
              </a:ext>
            </a:extLst>
          </p:cNvPr>
          <p:cNvCxnSpPr>
            <a:cxnSpLocks/>
          </p:cNvCxnSpPr>
          <p:nvPr/>
        </p:nvCxnSpPr>
        <p:spPr>
          <a:xfrm>
            <a:off x="6792297" y="2971800"/>
            <a:ext cx="6998" cy="3436776"/>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7F9BFFD8-5BA6-4717-A413-C0044C25FFD8}"/>
              </a:ext>
            </a:extLst>
          </p:cNvPr>
          <p:cNvSpPr/>
          <p:nvPr/>
        </p:nvSpPr>
        <p:spPr>
          <a:xfrm>
            <a:off x="4454590" y="5715000"/>
            <a:ext cx="498410" cy="693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334101-98FD-4E1F-B8E2-390E8FDD1779}"/>
              </a:ext>
            </a:extLst>
          </p:cNvPr>
          <p:cNvSpPr/>
          <p:nvPr/>
        </p:nvSpPr>
        <p:spPr>
          <a:xfrm>
            <a:off x="4800600" y="5964434"/>
            <a:ext cx="1218422" cy="475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36DE0E6-EB44-46DA-AE8D-6CE4A31DB7E5}"/>
              </a:ext>
            </a:extLst>
          </p:cNvPr>
          <p:cNvSpPr/>
          <p:nvPr/>
        </p:nvSpPr>
        <p:spPr>
          <a:xfrm>
            <a:off x="6251510" y="5894606"/>
            <a:ext cx="184863" cy="475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55E261AE-CD34-4287-9A02-4726037931F1}"/>
              </a:ext>
            </a:extLst>
          </p:cNvPr>
          <p:cNvSpPr/>
          <p:nvPr/>
        </p:nvSpPr>
        <p:spPr>
          <a:xfrm>
            <a:off x="6445703" y="5791200"/>
            <a:ext cx="152400" cy="533400"/>
          </a:xfrm>
          <a:prstGeom prst="roundRect">
            <a:avLst>
              <a:gd name="adj" fmla="val 50000"/>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9FF0255-FD86-4A8B-AAD0-49D41E2DFC28}"/>
              </a:ext>
            </a:extLst>
          </p:cNvPr>
          <p:cNvCxnSpPr/>
          <p:nvPr/>
        </p:nvCxnSpPr>
        <p:spPr>
          <a:xfrm>
            <a:off x="4419600" y="5867400"/>
            <a:ext cx="1599422"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DE958B9-D8FE-4367-8584-09F649D00A7D}"/>
              </a:ext>
            </a:extLst>
          </p:cNvPr>
          <p:cNvCxnSpPr/>
          <p:nvPr/>
        </p:nvCxnSpPr>
        <p:spPr>
          <a:xfrm>
            <a:off x="4419600" y="6248400"/>
            <a:ext cx="1599422"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5CEEEED-D2EA-41B3-A5F9-4E547E58E228}"/>
              </a:ext>
            </a:extLst>
          </p:cNvPr>
          <p:cNvCxnSpPr/>
          <p:nvPr/>
        </p:nvCxnSpPr>
        <p:spPr>
          <a:xfrm>
            <a:off x="6172200" y="5867400"/>
            <a:ext cx="274320"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93789E-7699-4298-AA74-30728B62FB14}"/>
              </a:ext>
            </a:extLst>
          </p:cNvPr>
          <p:cNvCxnSpPr/>
          <p:nvPr/>
        </p:nvCxnSpPr>
        <p:spPr>
          <a:xfrm>
            <a:off x="6172200" y="6248400"/>
            <a:ext cx="274320" cy="0"/>
          </a:xfrm>
          <a:prstGeom prst="straightConnector1">
            <a:avLst/>
          </a:prstGeom>
          <a:ln w="19050">
            <a:solidFill>
              <a:schemeClr val="tx1"/>
            </a:solidFill>
            <a:tailEnd type="triangle" w="sm" len="sm"/>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235059088"/>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1.0&quot;&gt;&lt;object type=&quot;1&quot; unique_id=&quot;10001&quot;&gt;&lt;property id=&quot;20141&quot; value=&quot;ECE/CS 552 - Pipelining&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f2019-Pipelining&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6988&quot;&gt;&lt;property id=&quot;20148&quot; value=&quot;5&quot;/&gt;&lt;property id=&quot;20300&quot; value=&quot;Slide 1 - &amp;quot;ECE/CS 552: Pipelining&amp;quot;&quot;/&gt;&lt;property id=&quot;20307&quot; value=&quot;495&quot;/&gt;&lt;property id=&quot;20309&quot; value=&quot;-1&quot;/&gt;&lt;/object&gt;&lt;object type=&quot;3&quot; unique_id=&quot;148396&quot;&gt;&lt;property id=&quot;20148&quot; value=&quot;5&quot;/&gt;&lt;property id=&quot;20300&quot; value=&quot;Slide 2 - &amp;quot;Forecast&amp;quot;&quot;/&gt;&lt;property id=&quot;20307&quot; value=&quot;505&quot;/&gt;&lt;property id=&quot;20309&quot; value=&quot;-1&quot;/&gt;&lt;/object&gt;&lt;object type=&quot;3&quot; unique_id=&quot;149802&quot;&gt;&lt;property id=&quot;20148&quot; value=&quot;5&quot;/&gt;&lt;property id=&quot;20300&quot; value=&quot;Slide 3 - &amp;quot;Multi-Cycle Processor&amp;quot;&quot;/&gt;&lt;property id=&quot;20307&quot; value=&quot;527&quot;/&gt;&lt;property id=&quot;20309&quot; value=&quot;-1&quot;/&gt;&lt;/object&gt;&lt;object type=&quot;3&quot; unique_id=&quot;151612&quot;&gt;&lt;property id=&quot;20148&quot; value=&quot;5&quot;/&gt;&lt;property id=&quot;20300&quot; value=&quot;Slide 12 - &amp;quot;Pipelining&amp;quot;&quot;/&gt;&lt;property id=&quot;20307&quot; value=&quot;529&quot;/&gt;&lt;property id=&quot;20309&quot; value=&quot;-1&quot;/&gt;&lt;/object&gt;&lt;object type=&quot;3&quot; unique_id=&quot;151618&quot;&gt;&lt;property id=&quot;20148&quot; value=&quot;5&quot;/&gt;&lt;property id=&quot;20300&quot; value=&quot;Slide 13 - &amp;quot;Pipelining&amp;quot;&quot;/&gt;&lt;property id=&quot;20307&quot; value=&quot;535&quot;/&gt;&lt;property id=&quot;20309&quot; value=&quot;-1&quot;/&gt;&lt;/object&gt;&lt;object type=&quot;3&quot; unique_id=&quot;151637&quot;&gt;&lt;property id=&quot;20148&quot; value=&quot;5&quot;/&gt;&lt;property id=&quot;20300&quot; value=&quot;Slide 23 - &amp;quot;Exercise&amp;quot;&quot;/&gt;&lt;property id=&quot;20307&quot; value=&quot;554&quot;/&gt;&lt;property id=&quot;20309&quot; value=&quot;-1&quot;/&gt;&lt;/object&gt;&lt;object type=&quot;3&quot; unique_id=&quot;152146&quot;&gt;&lt;property id=&quot;20148&quot; value=&quot;5&quot;/&gt;&lt;property id=&quot;20300&quot; value=&quot;Slide 9 - &amp;quot;Multi-Cycle Processor&amp;quot;&quot;/&gt;&lt;property id=&quot;20307&quot; value=&quot;559&quot;/&gt;&lt;property id=&quot;20309&quot; value=&quot;-1&quot;/&gt;&lt;/object&gt;&lt;object type=&quot;3&quot; unique_id=&quot;153452&quot;&gt;&lt;property id=&quot;20148&quot; value=&quot;5&quot;/&gt;&lt;property id=&quot;20300&quot; value=&quot;Slide 4 - &amp;quot;Multi-Cycle Processor&amp;quot;&quot;/&gt;&lt;property id=&quot;20307&quot; value=&quot;560&quot;/&gt;&lt;property id=&quot;20309&quot; value=&quot;-1&quot;/&gt;&lt;/object&gt;&lt;object type=&quot;3&quot; unique_id=&quot;153651&quot;&gt;&lt;property id=&quot;20148&quot; value=&quot;5&quot;/&gt;&lt;property id=&quot;20300&quot; value=&quot;Slide 10 - &amp;quot;Can We Do Better?&amp;quot;&quot;/&gt;&lt;property id=&quot;20307&quot; value=&quot;564&quot;/&gt;&lt;property id=&quot;20309&quot; value=&quot;-1&quot;/&gt;&lt;/object&gt;&lt;object type=&quot;3&quot; unique_id=&quot;153853&quot;&gt;&lt;property id=&quot;20148&quot; value=&quot;5&quot;/&gt;&lt;property id=&quot;20300&quot; value=&quot;Slide 11 - &amp;quot;Pipelining&amp;quot;&quot;/&gt;&lt;property id=&quot;20307&quot; value=&quot;565&quot;/&gt;&lt;property id=&quot;20309&quot; value=&quot;-1&quot;/&gt;&lt;/object&gt;&lt;object type=&quot;3&quot; unique_id=&quot;154732&quot;&gt;&lt;property id=&quot;20148&quot; value=&quot;5&quot;/&gt;&lt;property id=&quot;20300&quot; value=&quot;Slide 15 - &amp;quot;Pipelining Idealisms&amp;quot;&quot;/&gt;&lt;property id=&quot;20307&quot; value=&quot;566&quot;/&gt;&lt;property id=&quot;20309&quot; value=&quot;-1&quot;/&gt;&lt;/object&gt;&lt;object type=&quot;3&quot; unique_id=&quot;155039&quot;&gt;&lt;property id=&quot;20148&quot; value=&quot;5&quot;/&gt;&lt;property id=&quot;20300&quot; value=&quot;Slide 16 - &amp;quot;Pipelining Challenges&amp;quot;&quot;/&gt;&lt;property id=&quot;20307&quot; value=&quot;567&quot;/&gt;&lt;property id=&quot;20309&quot; value=&quot;-1&quot;/&gt;&lt;/object&gt;&lt;object type=&quot;3&quot; unique_id=&quot;155145&quot;&gt;&lt;property id=&quot;20148&quot; value=&quot;5&quot;/&gt;&lt;property id=&quot;20300&quot; value=&quot;Slide 17 - &amp;quot;Pipelined Data Path&amp;quot;&quot;/&gt;&lt;property id=&quot;20307&quot; value=&quot;568&quot;/&gt;&lt;property id=&quot;20309&quot; value=&quot;-1&quot;/&gt;&lt;/object&gt;&lt;object type=&quot;3&quot; unique_id=&quot;155506&quot;&gt;&lt;property id=&quot;20148&quot; value=&quot;5&quot;/&gt;&lt;property id=&quot;20300&quot; value=&quot;Slide 18 - &amp;quot;Pipelined Data Path&amp;quot;&quot;/&gt;&lt;property id=&quot;20307&quot; value=&quot;569&quot;/&gt;&lt;property id=&quot;20309&quot; value=&quot;-1&quot;/&gt;&lt;/object&gt;&lt;object type=&quot;3&quot; unique_id=&quot;155507&quot;&gt;&lt;property id=&quot;20148&quot; value=&quot;5&quot;/&gt;&lt;property id=&quot;20300&quot; value=&quot;Slide 20 - &amp;quot;Pipelined Data Path&amp;quot;&quot;/&gt;&lt;property id=&quot;20307&quot; value=&quot;570&quot;/&gt;&lt;property id=&quot;20309&quot; value=&quot;-1&quot;/&gt;&lt;/object&gt;&lt;object type=&quot;3&quot; unique_id=&quot;155622&quot;&gt;&lt;property id=&quot;20148&quot; value=&quot;5&quot;/&gt;&lt;property id=&quot;20300&quot; value=&quot;Slide 19 - &amp;quot;Pipelined Data Path&amp;quot;&quot;/&gt;&lt;property id=&quot;20307&quot; value=&quot;571&quot;/&gt;&lt;property id=&quot;20309&quot; value=&quot;-1&quot;/&gt;&lt;/object&gt;&lt;object type=&quot;3&quot; unique_id=&quot;156364&quot;&gt;&lt;property id=&quot;20148&quot; value=&quot;5&quot;/&gt;&lt;property id=&quot;20300&quot; value=&quot;Slide 21 - &amp;quot;Pipelined Control&amp;quot;&quot;/&gt;&lt;property id=&quot;20307&quot; value=&quot;572&quot;/&gt;&lt;property id=&quot;20309&quot; value=&quot;-1&quot;/&gt;&lt;/object&gt;&lt;object type=&quot;3&quot; unique_id=&quot;156485&quot;&gt;&lt;property id=&quot;20148&quot; value=&quot;5&quot;/&gt;&lt;property id=&quot;20300&quot; value=&quot;Slide 22 - &amp;quot;All Together&amp;quot;&quot;/&gt;&lt;property id=&quot;20307&quot; value=&quot;573&quot;/&gt;&lt;property id=&quot;20309&quot; value=&quot;-1&quot;/&gt;&lt;/object&gt;&lt;object type=&quot;3&quot; unique_id=&quot;156814&quot;&gt;&lt;property id=&quot;20148&quot; value=&quot;5&quot;/&gt;&lt;property id=&quot;20300&quot; value=&quot;Slide 14 - &amp;quot;Pipelining&amp;quot;&quot;/&gt;&lt;property id=&quot;20307&quot; value=&quot;574&quot;/&gt;&lt;property id=&quot;20309&quot; value=&quot;-1&quot;/&gt;&lt;/object&gt;&lt;object type=&quot;3&quot; unique_id=&quot;157187&quot;&gt;&lt;property id=&quot;20148&quot; value=&quot;5&quot;/&gt;&lt;property id=&quot;20300&quot; value=&quot;Slide 24 - &amp;quot;Exercise&amp;quot;&quot;/&gt;&lt;property id=&quot;20307&quot; value=&quot;575&quot;/&gt;&lt;property id=&quot;20309&quot; value=&quot;-1&quot;/&gt;&lt;/object&gt;&lt;object type=&quot;3&quot; unique_id=&quot;157995&quot;&gt;&lt;property id=&quot;20148&quot; value=&quot;5&quot;/&gt;&lt;property id=&quot;20300&quot; value=&quot;Slide 5 - &amp;quot;Multi-Cycle Processor&amp;quot;&quot;/&gt;&lt;property id=&quot;20307&quot; value=&quot;579&quot;/&gt;&lt;property id=&quot;20309&quot; value=&quot;-1&quot;/&gt;&lt;/object&gt;&lt;object type=&quot;3&quot; unique_id=&quot;157996&quot;&gt;&lt;property id=&quot;20148&quot; value=&quot;5&quot;/&gt;&lt;property id=&quot;20300&quot; value=&quot;Slide 6 - &amp;quot;Multi-Cycle Processor&amp;quot;&quot;/&gt;&lt;property id=&quot;20307&quot; value=&quot;578&quot;/&gt;&lt;property id=&quot;20309&quot; value=&quot;-1&quot;/&gt;&lt;/object&gt;&lt;object type=&quot;3&quot; unique_id=&quot;157997&quot;&gt;&lt;property id=&quot;20148&quot; value=&quot;5&quot;/&gt;&lt;property id=&quot;20300&quot; value=&quot;Slide 7 - &amp;quot;Multi-Cycle Processor&amp;quot;&quot;/&gt;&lt;property id=&quot;20307&quot; value=&quot;577&quot;/&gt;&lt;property id=&quot;20309&quot; value=&quot;-1&quot;/&gt;&lt;/object&gt;&lt;object type=&quot;3&quot; unique_id=&quot;157998&quot;&gt;&lt;property id=&quot;20148&quot; value=&quot;5&quot;/&gt;&lt;property id=&quot;20300&quot; value=&quot;Slide 8 - &amp;quot;Multi-Cycle Processor&amp;quot;&quot;/&gt;&lt;property id=&quot;20307&quot; value=&quot;576&quot;/&gt;&lt;property id=&quot;20309&quot; value=&quot;-1&quot;/&gt;&lt;/object&gt;&lt;/object&gt;&lt;object type=&quot;8&quot; unique_id=&quot;10130&quot;&gt;&lt;/object&gt;&lt;object type=&quot;10&quot; unique_id=&quot;158052&quot;&gt;&lt;object type=&quot;11&quot; unique_id=&quot;158053&quot;&gt;&lt;property id=&quot;20180&quot; value=&quot;0&quot;/&gt;&lt;property id=&quot;20181&quot; value=&quot;1&quot;/&gt;&lt;property id=&quot;20183&quot; value=&quot;1&quot;/&gt;&lt;/object&gt;&lt;object type=&quot;12&quot; unique_id=&quot;158055&quot;&gt;&lt;/object&gt;&lt;/object&gt;&lt;object type=&quot;4&quot; unique_id=&quot;158054&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530098864,C:\Users\sanmi\GoogleDrive\UWMdrive\Courses\ECE552\ece552-lec08_Pipelining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D2C485B-C1D3-4F11-9F50-B503653B300C}_1.png&quot;/&gt;&lt;left val=&quot;35&quot;/&gt;&lt;top val=&quot;185&quot;/&gt;&lt;width val=&quot;648&quot;/&gt;&lt;height val=&quot;120&quot;/&gt;&lt;hasText val=&quot;1&quot;/&gt;&lt;/Image&gt;&lt;/ThreeDShapeInfo&gt;"/>
  <p:tag name="PRESENTER_SHAPETEXTINFO" val="&lt;ShapeTextInfo&gt;&lt;TableIndex row=&quot;-1&quot; col=&quot;-1&quot;&gt;&lt;linesCount val=&quot;1&quot;/&gt;&lt;lineCharCount val=&quot;22&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5BE3FAB-A049-4066-9379-BE5C621F16B3}_1.png&quot;/&gt;&lt;left val=&quot;103&quot;/&gt;&lt;top val=&quot;297&quot;/&gt;&lt;width val=&quot;512&quot;/&gt;&lt;height val=&quot;146&quot;/&gt;&lt;hasText val=&quot;1&quot;/&gt;&lt;/Image&gt;&lt;/ThreeDShapeInfo&gt;"/>
  <p:tag name="PRESENTER_SHAPETEXTINFO" val="&lt;ShapeTextInfo&gt;&lt;TableIndex row=&quot;-1&quot; col=&quot;-1&quot;&gt;&lt;linesCount val=&quot;5&quot;/&gt;&lt;lineCharCount val=&quot;24&quot;/&gt;&lt;lineCharCount val=&quot;1&quot;/&gt;&lt;lineCharCount val=&quot;55&quot;/&gt;&lt;lineCharCount val=&quot;33&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530098864,C:\Users\sanmi\GoogleDrive\UWMdrive\Courses\ECE552\ece552-lec08_Pipelining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935E0A62-5DB2-44DC-869A-E33E9B402471}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INFO" val="&lt;ThreeDShapeInfo&gt;&lt;uuid val=&quot;{140C0BED-5D89-4ABF-A40C-537E4540587B}&quot;/&gt;&lt;isInvalidForFieldText val=&quot;0&quot;/&gt;&lt;Image&gt;&lt;filename val=&quot;C:\Users\sanmi\Documents\My Adobe Presentations\ece552f2019-Pipelining\data\asimages\{140C0BED-5D89-4ABF-A40C-537E4540587B}.png&quot;/&gt;&lt;left val=&quot;74&quot;/&gt;&lt;top val=&quot;106&quot;/&gt;&lt;width val=&quot;570&quot;/&gt;&lt;height val=&quot;403&quot;/&gt;&lt;hasText val=&quot;1&quot;/&gt;&lt;/Image&gt;&lt;/ThreeDShape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530098864,C:\Users\sanmi\GoogleDrive\UWMdrive\Courses\ECE552\ece552-lec08_Pipelining_pptx\Media.ppcx"/>
</p:tagLst>
</file>

<file path=ppt/tags/tag2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C18861A-4856-43E0-A1A7-5ED85B3B6B6C}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11750CF-E997-4358-A486-783194946101}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55E98EA-FF1A-442A-A47B-29F6BB3AE96E}_11.png&quot;/&gt;&lt;left val=&quot;39&quot;/&gt;&lt;top val=&quot;194&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0&quot;/&gt;&lt;/TableIndex&gt;&lt;TableIndex row=&quot;4&quot; col=&quot;16&quot;&gt;&lt;linesCount val=&quot;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530098864,C:\Users\sanmi\GoogleDrive\UWMdrive\Courses\ECE552\ece552-lec08_Pipelining_pptx\Media.ppcx"/>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75D2A1B-D479-4C90-9D27-BFBED0E16429}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C5742A4A-D85B-4DDB-92D3-37D2FDDD5698}_1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22F9B21-50D7-43BF-92E7-7EDDCB9B4090}_14.png&quot;/&gt;&lt;left val=&quot;0&quot;/&gt;&lt;top val=&quot;413&quot;/&gt;&lt;width val=&quot;117&quot;/&gt;&lt;height val=&quot;38&quot;/&gt;&lt;hasText val=&quot;1&quot;/&gt;&lt;/Image&gt;&lt;/ThreeDShape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6459FFA-BE42-4EBB-809F-131479655E92}_14.png&quot;/&gt;&lt;left val=&quot;0&quot;/&gt;&lt;top val=&quot;365&quot;/&gt;&lt;width val=&quot;243&quot;/&gt;&lt;height val=&quot;86&quot;/&gt;&lt;hasText val=&quot;1&quot;/&gt;&lt;/Image&gt;&lt;/ThreeDShape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EAC8111-0912-44EC-8606-2A1A9A2BDC41}_14.png&quot;/&gt;&lt;left val=&quot;0&quot;/&gt;&lt;top val=&quot;365&quot;/&gt;&lt;width val=&quot;359&quot;/&gt;&lt;height val=&quot;86&quot;/&gt;&lt;hasText val=&quot;1&quot;/&gt;&lt;/Image&gt;&lt;/ThreeDShapeInfo&gt;"/>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E20E49D-3F0A-4B70-9462-45EFEE473A13}_14.png&quot;/&gt;&lt;left val=&quot;0&quot;/&gt;&lt;top val=&quot;365&quot;/&gt;&lt;width val=&quot;463&quot;/&gt;&lt;height val=&quot;86&quot;/&gt;&lt;hasText val=&quot;1&quot;/&gt;&lt;/Image&gt;&lt;/ThreeDShape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867EEC2-B3B5-4B70-8CB7-B9E03E80973E}_14.png&quot;/&gt;&lt;left val=&quot;0&quot;/&gt;&lt;top val=&quot;365&quot;/&gt;&lt;width val=&quot;571&quot;/&gt;&lt;height val=&quot;86&quot;/&gt;&lt;hasText val=&quot;1&quot;/&gt;&lt;/Image&gt;&lt;/ThreeDShape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38B854D-7737-446E-A271-46ED62AA7D3A}_14.png&quot;/&gt;&lt;left val=&quot;0&quot;/&gt;&lt;top val=&quot;365&quot;/&gt;&lt;width val=&quot;678&quot;/&gt;&lt;height val=&quot;86&quot;/&gt;&lt;hasText val=&quot;1&quot;/&gt;&lt;/Image&gt;&lt;/ThreeDShape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530098864,C:\Users\sanmi\GoogleDrive\UWMdrive\Courses\ECE552\ece552-lec08_Pipelining_pptx\Media.ppcx"/>
</p:tagLst>
</file>

<file path=ppt/tags/tag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C18861A-4856-43E0-A1A7-5ED85B3B6B6C}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11750CF-E997-4358-A486-783194946101}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711EF62-BE85-4792-87B3-CA7E65B00DB2}_11.png&quot;/&gt;&lt;left val=&quot;45&quot;/&gt;&lt;top val=&quot;306&quot;/&gt;&lt;width val=&quot;669&quot;/&gt;&lt;height val=&quot;174&quot;/&gt;&lt;hasText val=&quot;1&quot;/&gt;&lt;/Image&gt;&lt;/ThreeDShapeInfo&gt;"/>
  <p:tag name="PRESENTER_SHAPETEXTINFO" val="&lt;ShapeTextInfo&gt;&lt;TableIndex row=&quot;-1&quot; col=&quot;-1&quot;&gt;&lt;linesCount val=&quot;3&quot;/&gt;&lt;lineCharCount val=&quot;12&quot;/&gt;&lt;lineCharCount val=&quot;35&quot;/&gt;&lt;lineCharCount val=&quot;42&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663B39E-DBD7-49B8-A1A5-87F35E0D370F}_11.png&quot;/&gt;&lt;left val=&quot;38&quot;/&gt;&lt;top val=&quot;416&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55E98EA-FF1A-442A-A47B-29F6BB3AE96E}_11.png&quot;/&gt;&lt;left val=&quot;39&quot;/&gt;&lt;top val=&quot;194&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0&quot;/&gt;&lt;/TableIndex&gt;&lt;TableIndex row=&quot;4&quot; col=&quot;16&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7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8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8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8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8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88.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8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92.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1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10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479</TotalTime>
  <Words>372</Words>
  <Application>Microsoft Macintosh PowerPoint</Application>
  <PresentationFormat>On-screen Show (4:3)</PresentationFormat>
  <Paragraphs>175</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Consolas</vt:lpstr>
      <vt:lpstr>Courier New</vt:lpstr>
      <vt:lpstr>Times New Roman</vt:lpstr>
      <vt:lpstr>Wingdings</vt:lpstr>
      <vt:lpstr>Lecture Notes 552</vt:lpstr>
      <vt:lpstr>ECE/CS 552: Pipelining</vt:lpstr>
      <vt:lpstr>Multi-Cycle Processor</vt:lpstr>
      <vt:lpstr>Multi-Cycle Processor</vt:lpstr>
      <vt:lpstr>Pipelining</vt:lpstr>
      <vt:lpstr>Pipelining</vt:lpstr>
      <vt:lpstr>Pipelining</vt:lpstr>
      <vt:lpstr>Exercise</vt:lpstr>
      <vt:lpstr>Exercise</vt:lpstr>
      <vt:lpstr>Exercise</vt:lpstr>
      <vt:lpstr>Exercise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Pipelining</dc:title>
  <dc:creator/>
  <cp:lastModifiedBy>Boone Severson</cp:lastModifiedBy>
  <cp:revision>442</cp:revision>
  <cp:lastPrinted>1601-01-01T00:00:00Z</cp:lastPrinted>
  <dcterms:created xsi:type="dcterms:W3CDTF">1601-01-01T00:00:00Z</dcterms:created>
  <dcterms:modified xsi:type="dcterms:W3CDTF">2024-09-26T01:31:37Z</dcterms:modified>
</cp:coreProperties>
</file>