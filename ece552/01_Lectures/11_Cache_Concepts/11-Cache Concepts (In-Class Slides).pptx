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3.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4.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5.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8" r:id="rId1"/>
  </p:sldMasterIdLst>
  <p:notesMasterIdLst>
    <p:notesMasterId r:id="rId8"/>
  </p:notesMasterIdLst>
  <p:handoutMasterIdLst>
    <p:handoutMasterId r:id="rId9"/>
  </p:handoutMasterIdLst>
  <p:sldIdLst>
    <p:sldId id="508" r:id="rId2"/>
    <p:sldId id="647" r:id="rId3"/>
    <p:sldId id="722" r:id="rId4"/>
    <p:sldId id="723" r:id="rId5"/>
    <p:sldId id="724" r:id="rId6"/>
    <p:sldId id="726" r:id="rId7"/>
  </p:sldIdLst>
  <p:sldSz cx="9144000" cy="6858000" type="screen4x3"/>
  <p:notesSz cx="6845300" cy="9396413"/>
  <p:custDataLst>
    <p:tags r:id="rId10"/>
  </p:custDataLst>
  <p:defaultTex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59">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86531" autoAdjust="0"/>
  </p:normalViewPr>
  <p:slideViewPr>
    <p:cSldViewPr>
      <p:cViewPr varScale="1">
        <p:scale>
          <a:sx n="110" d="100"/>
          <a:sy n="110" d="100"/>
        </p:scale>
        <p:origin x="2224"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736"/>
    </p:cViewPr>
  </p:sorterViewPr>
  <p:notesViewPr>
    <p:cSldViewPr>
      <p:cViewPr varScale="1">
        <p:scale>
          <a:sx n="75" d="100"/>
          <a:sy n="75" d="100"/>
        </p:scale>
        <p:origin x="-1416" y="-96"/>
      </p:cViewPr>
      <p:guideLst>
        <p:guide orient="horz" pos="2959"/>
        <p:guide pos="215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one Severson" userId="1d942a2b-e0b5-491a-b49e-d500fa0ad426" providerId="ADAL" clId="{DC32E8BF-4A2B-8D46-B35F-4FFCE99D9F31}"/>
    <pc:docChg chg="modSld">
      <pc:chgData name="Boone Severson" userId="1d942a2b-e0b5-491a-b49e-d500fa0ad426" providerId="ADAL" clId="{DC32E8BF-4A2B-8D46-B35F-4FFCE99D9F31}" dt="2024-10-17T01:57:59.465" v="98" actId="20577"/>
      <pc:docMkLst>
        <pc:docMk/>
      </pc:docMkLst>
      <pc:sldChg chg="modSp mod">
        <pc:chgData name="Boone Severson" userId="1d942a2b-e0b5-491a-b49e-d500fa0ad426" providerId="ADAL" clId="{DC32E8BF-4A2B-8D46-B35F-4FFCE99D9F31}" dt="2024-09-26T04:09:42.823" v="25" actId="20577"/>
        <pc:sldMkLst>
          <pc:docMk/>
          <pc:sldMk cId="0" sldId="508"/>
        </pc:sldMkLst>
        <pc:spChg chg="mod">
          <ac:chgData name="Boone Severson" userId="1d942a2b-e0b5-491a-b49e-d500fa0ad426" providerId="ADAL" clId="{DC32E8BF-4A2B-8D46-B35F-4FFCE99D9F31}" dt="2024-09-26T04:09:42.823" v="25" actId="20577"/>
          <ac:spMkLst>
            <pc:docMk/>
            <pc:sldMk cId="0" sldId="508"/>
            <ac:spMk id="3" creationId="{F0DF9377-1361-4555-9AF6-6E957C3B90C0}"/>
          </ac:spMkLst>
        </pc:spChg>
      </pc:sldChg>
      <pc:sldChg chg="modSp mod">
        <pc:chgData name="Boone Severson" userId="1d942a2b-e0b5-491a-b49e-d500fa0ad426" providerId="ADAL" clId="{DC32E8BF-4A2B-8D46-B35F-4FFCE99D9F31}" dt="2024-10-17T01:57:59.465" v="98" actId="20577"/>
        <pc:sldMkLst>
          <pc:docMk/>
          <pc:sldMk cId="3752741187" sldId="647"/>
        </pc:sldMkLst>
        <pc:spChg chg="mod">
          <ac:chgData name="Boone Severson" userId="1d942a2b-e0b5-491a-b49e-d500fa0ad426" providerId="ADAL" clId="{DC32E8BF-4A2B-8D46-B35F-4FFCE99D9F31}" dt="2024-10-17T01:57:59.465" v="98" actId="20577"/>
          <ac:spMkLst>
            <pc:docMk/>
            <pc:sldMk cId="3752741187" sldId="647"/>
            <ac:spMk id="9219" creationId="{86B2681B-653A-4C3E-9623-0EF5A9ADD07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265A1D1-E02A-4C7C-A26E-3B72CC3DFE43}"/>
              </a:ext>
            </a:extLst>
          </p:cNvPr>
          <p:cNvSpPr>
            <a:spLocks noGrp="1" noChangeArrowheads="1"/>
          </p:cNvSpPr>
          <p:nvPr>
            <p:ph type="hdr" sz="quarter"/>
          </p:nvPr>
        </p:nvSpPr>
        <p:spPr bwMode="auto">
          <a:xfrm>
            <a:off x="0" y="0"/>
            <a:ext cx="2967038"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defTabSz="931863" eaLnBrk="0" hangingPunct="0">
              <a:defRPr sz="1200"/>
            </a:lvl1pPr>
          </a:lstStyle>
          <a:p>
            <a:pPr>
              <a:defRPr/>
            </a:pPr>
            <a:endParaRPr lang="en-US"/>
          </a:p>
        </p:txBody>
      </p:sp>
      <p:sp>
        <p:nvSpPr>
          <p:cNvPr id="15363" name="Rectangle 3">
            <a:extLst>
              <a:ext uri="{FF2B5EF4-FFF2-40B4-BE49-F238E27FC236}">
                <a16:creationId xmlns:a16="http://schemas.microsoft.com/office/drawing/2014/main" id="{B36186A0-BA54-4798-AF4A-931661C45993}"/>
              </a:ext>
            </a:extLst>
          </p:cNvPr>
          <p:cNvSpPr>
            <a:spLocks noGrp="1" noChangeArrowheads="1"/>
          </p:cNvSpPr>
          <p:nvPr>
            <p:ph type="dt" sz="quarter" idx="1"/>
          </p:nvPr>
        </p:nvSpPr>
        <p:spPr bwMode="auto">
          <a:xfrm>
            <a:off x="3878263" y="0"/>
            <a:ext cx="2967037"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algn="r" defTabSz="931863" eaLnBrk="0" hangingPunct="0">
              <a:defRPr sz="1200"/>
            </a:lvl1pPr>
          </a:lstStyle>
          <a:p>
            <a:pPr>
              <a:defRPr/>
            </a:pPr>
            <a:endParaRPr lang="en-US"/>
          </a:p>
        </p:txBody>
      </p:sp>
      <p:sp>
        <p:nvSpPr>
          <p:cNvPr id="15364" name="Rectangle 4">
            <a:extLst>
              <a:ext uri="{FF2B5EF4-FFF2-40B4-BE49-F238E27FC236}">
                <a16:creationId xmlns:a16="http://schemas.microsoft.com/office/drawing/2014/main" id="{DC7F4BFC-FEC0-4811-A648-47247991DC11}"/>
              </a:ext>
            </a:extLst>
          </p:cNvPr>
          <p:cNvSpPr>
            <a:spLocks noGrp="1" noChangeArrowheads="1"/>
          </p:cNvSpPr>
          <p:nvPr>
            <p:ph type="ftr" sz="quarter" idx="2"/>
          </p:nvPr>
        </p:nvSpPr>
        <p:spPr bwMode="auto">
          <a:xfrm>
            <a:off x="0" y="8926513"/>
            <a:ext cx="2967038"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defTabSz="931863" eaLnBrk="0" hangingPunct="0">
              <a:defRPr sz="1200"/>
            </a:lvl1pPr>
          </a:lstStyle>
          <a:p>
            <a:pPr>
              <a:defRPr/>
            </a:pPr>
            <a:r>
              <a:rPr lang="en-US"/>
              <a:t>ECE/CS 552: Introduction To Computer Architecture</a:t>
            </a:r>
          </a:p>
        </p:txBody>
      </p:sp>
      <p:sp>
        <p:nvSpPr>
          <p:cNvPr id="15365" name="Rectangle 5">
            <a:extLst>
              <a:ext uri="{FF2B5EF4-FFF2-40B4-BE49-F238E27FC236}">
                <a16:creationId xmlns:a16="http://schemas.microsoft.com/office/drawing/2014/main" id="{1B82212A-5CD5-4303-B5F0-8F435E2E8DAA}"/>
              </a:ext>
            </a:extLst>
          </p:cNvPr>
          <p:cNvSpPr>
            <a:spLocks noGrp="1" noChangeArrowheads="1"/>
          </p:cNvSpPr>
          <p:nvPr>
            <p:ph type="sldNum" sz="quarter" idx="3"/>
          </p:nvPr>
        </p:nvSpPr>
        <p:spPr bwMode="auto">
          <a:xfrm>
            <a:off x="3878263" y="8926513"/>
            <a:ext cx="2967037"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algn="r" defTabSz="931863" eaLnBrk="0" hangingPunct="0">
              <a:defRPr sz="1200" smtClean="0"/>
            </a:lvl1pPr>
          </a:lstStyle>
          <a:p>
            <a:pPr>
              <a:defRPr/>
            </a:pPr>
            <a:fld id="{6C41ABF2-B580-4648-8F17-B7174DD7CD75}"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F2D836EF-8AC7-41F9-B5D0-0DA1A9D825E5}"/>
              </a:ext>
            </a:extLst>
          </p:cNvPr>
          <p:cNvSpPr>
            <a:spLocks noGrp="1" noChangeArrowheads="1"/>
          </p:cNvSpPr>
          <p:nvPr>
            <p:ph type="hdr" sz="quarter"/>
          </p:nvPr>
        </p:nvSpPr>
        <p:spPr bwMode="auto">
          <a:xfrm>
            <a:off x="0" y="0"/>
            <a:ext cx="2967038"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defTabSz="931863" eaLnBrk="0" hangingPunct="0">
              <a:defRPr sz="1200"/>
            </a:lvl1pPr>
          </a:lstStyle>
          <a:p>
            <a:pPr>
              <a:defRPr/>
            </a:pPr>
            <a:endParaRPr lang="en-US"/>
          </a:p>
        </p:txBody>
      </p:sp>
      <p:sp>
        <p:nvSpPr>
          <p:cNvPr id="17411" name="Rectangle 3">
            <a:extLst>
              <a:ext uri="{FF2B5EF4-FFF2-40B4-BE49-F238E27FC236}">
                <a16:creationId xmlns:a16="http://schemas.microsoft.com/office/drawing/2014/main" id="{4CE16B0C-DDEC-44EE-8D3D-2EB3F53B8914}"/>
              </a:ext>
            </a:extLst>
          </p:cNvPr>
          <p:cNvSpPr>
            <a:spLocks noGrp="1" noChangeArrowheads="1"/>
          </p:cNvSpPr>
          <p:nvPr>
            <p:ph type="dt" idx="1"/>
          </p:nvPr>
        </p:nvSpPr>
        <p:spPr bwMode="auto">
          <a:xfrm>
            <a:off x="3878263" y="0"/>
            <a:ext cx="2967037"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algn="r" defTabSz="931863" eaLnBrk="0" hangingPunct="0">
              <a:defRPr sz="1200"/>
            </a:lvl1pPr>
          </a:lstStyle>
          <a:p>
            <a:pPr>
              <a:defRPr/>
            </a:pPr>
            <a:endParaRPr lang="en-US"/>
          </a:p>
        </p:txBody>
      </p:sp>
      <p:sp>
        <p:nvSpPr>
          <p:cNvPr id="4100" name="Rectangle 4">
            <a:extLst>
              <a:ext uri="{FF2B5EF4-FFF2-40B4-BE49-F238E27FC236}">
                <a16:creationId xmlns:a16="http://schemas.microsoft.com/office/drawing/2014/main" id="{DDE18D93-9A93-45A1-AEA7-369D36FD6010}"/>
              </a:ext>
            </a:extLst>
          </p:cNvPr>
          <p:cNvSpPr>
            <a:spLocks noGrp="1" noRot="1" noChangeAspect="1" noChangeArrowheads="1" noTextEdit="1"/>
          </p:cNvSpPr>
          <p:nvPr>
            <p:ph type="sldImg" idx="2"/>
          </p:nvPr>
        </p:nvSpPr>
        <p:spPr bwMode="auto">
          <a:xfrm>
            <a:off x="1074738" y="704850"/>
            <a:ext cx="4697412" cy="35226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a:extLst>
              <a:ext uri="{FF2B5EF4-FFF2-40B4-BE49-F238E27FC236}">
                <a16:creationId xmlns:a16="http://schemas.microsoft.com/office/drawing/2014/main" id="{D727E3FB-32B0-44DD-8A12-749334A5DB82}"/>
              </a:ext>
            </a:extLst>
          </p:cNvPr>
          <p:cNvSpPr>
            <a:spLocks noGrp="1" noChangeArrowheads="1"/>
          </p:cNvSpPr>
          <p:nvPr>
            <p:ph type="body" sz="quarter" idx="3"/>
          </p:nvPr>
        </p:nvSpPr>
        <p:spPr bwMode="auto">
          <a:xfrm>
            <a:off x="912813" y="4464050"/>
            <a:ext cx="5019675" cy="4227513"/>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a:extLst>
              <a:ext uri="{FF2B5EF4-FFF2-40B4-BE49-F238E27FC236}">
                <a16:creationId xmlns:a16="http://schemas.microsoft.com/office/drawing/2014/main" id="{66384353-C0EC-4A93-8CC5-952CD52580F7}"/>
              </a:ext>
            </a:extLst>
          </p:cNvPr>
          <p:cNvSpPr>
            <a:spLocks noGrp="1" noChangeArrowheads="1"/>
          </p:cNvSpPr>
          <p:nvPr>
            <p:ph type="ftr" sz="quarter" idx="4"/>
          </p:nvPr>
        </p:nvSpPr>
        <p:spPr bwMode="auto">
          <a:xfrm>
            <a:off x="0" y="8926513"/>
            <a:ext cx="2967038"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defTabSz="931863" eaLnBrk="0" hangingPunct="0">
              <a:defRPr sz="1200"/>
            </a:lvl1pPr>
          </a:lstStyle>
          <a:p>
            <a:pPr>
              <a:defRPr/>
            </a:pPr>
            <a:endParaRPr lang="en-US"/>
          </a:p>
        </p:txBody>
      </p:sp>
      <p:sp>
        <p:nvSpPr>
          <p:cNvPr id="17415" name="Rectangle 7">
            <a:extLst>
              <a:ext uri="{FF2B5EF4-FFF2-40B4-BE49-F238E27FC236}">
                <a16:creationId xmlns:a16="http://schemas.microsoft.com/office/drawing/2014/main" id="{06A17750-20F3-41D3-8CFF-A6C37F575BF1}"/>
              </a:ext>
            </a:extLst>
          </p:cNvPr>
          <p:cNvSpPr>
            <a:spLocks noGrp="1" noChangeArrowheads="1"/>
          </p:cNvSpPr>
          <p:nvPr>
            <p:ph type="sldNum" sz="quarter" idx="5"/>
          </p:nvPr>
        </p:nvSpPr>
        <p:spPr bwMode="auto">
          <a:xfrm>
            <a:off x="3878263" y="8926513"/>
            <a:ext cx="2967037"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algn="r" defTabSz="931863" eaLnBrk="0" hangingPunct="0">
              <a:defRPr sz="1200" smtClean="0"/>
            </a:lvl1pPr>
          </a:lstStyle>
          <a:p>
            <a:pPr>
              <a:defRPr/>
            </a:pPr>
            <a:fld id="{43577E0A-36EE-4C5A-B143-8076ACCFAD2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a:t>
            </a:fld>
            <a:endParaRPr lang="en-US" altLang="en-US"/>
          </a:p>
        </p:txBody>
      </p:sp>
    </p:spTree>
    <p:extLst>
      <p:ext uri="{BB962C8B-B14F-4D97-AF65-F5344CB8AC3E}">
        <p14:creationId xmlns:p14="http://schemas.microsoft.com/office/powerpoint/2010/main" val="3986855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a:t>
            </a:fld>
            <a:endParaRPr lang="en-US" altLang="en-US"/>
          </a:p>
        </p:txBody>
      </p:sp>
    </p:spTree>
    <p:extLst>
      <p:ext uri="{BB962C8B-B14F-4D97-AF65-F5344CB8AC3E}">
        <p14:creationId xmlns:p14="http://schemas.microsoft.com/office/powerpoint/2010/main" val="3588425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3</a:t>
            </a:fld>
            <a:endParaRPr lang="en-US" altLang="en-US"/>
          </a:p>
        </p:txBody>
      </p:sp>
    </p:spTree>
    <p:extLst>
      <p:ext uri="{BB962C8B-B14F-4D97-AF65-F5344CB8AC3E}">
        <p14:creationId xmlns:p14="http://schemas.microsoft.com/office/powerpoint/2010/main" val="2320768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4</a:t>
            </a:fld>
            <a:endParaRPr lang="en-US" altLang="en-US"/>
          </a:p>
        </p:txBody>
      </p:sp>
    </p:spTree>
    <p:extLst>
      <p:ext uri="{BB962C8B-B14F-4D97-AF65-F5344CB8AC3E}">
        <p14:creationId xmlns:p14="http://schemas.microsoft.com/office/powerpoint/2010/main" val="1462105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5</a:t>
            </a:fld>
            <a:endParaRPr lang="en-US" altLang="en-US"/>
          </a:p>
        </p:txBody>
      </p:sp>
    </p:spTree>
    <p:extLst>
      <p:ext uri="{BB962C8B-B14F-4D97-AF65-F5344CB8AC3E}">
        <p14:creationId xmlns:p14="http://schemas.microsoft.com/office/powerpoint/2010/main" val="169889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6</a:t>
            </a:fld>
            <a:endParaRPr lang="en-US" altLang="en-US"/>
          </a:p>
        </p:txBody>
      </p:sp>
    </p:spTree>
    <p:extLst>
      <p:ext uri="{BB962C8B-B14F-4D97-AF65-F5344CB8AC3E}">
        <p14:creationId xmlns:p14="http://schemas.microsoft.com/office/powerpoint/2010/main" val="27811043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LOGO_200">
            <a:extLst>
              <a:ext uri="{FF2B5EF4-FFF2-40B4-BE49-F238E27FC236}">
                <a16:creationId xmlns:a16="http://schemas.microsoft.com/office/drawing/2014/main" id="{5EE89BE7-8323-4318-9AB9-E7A8E35666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LOGO_200">
            <a:extLst>
              <a:ext uri="{FF2B5EF4-FFF2-40B4-BE49-F238E27FC236}">
                <a16:creationId xmlns:a16="http://schemas.microsoft.com/office/drawing/2014/main" id="{150B25E2-39D9-4F59-8B05-EFFB1B1760E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Date Placeholder 3">
            <a:extLst>
              <a:ext uri="{FF2B5EF4-FFF2-40B4-BE49-F238E27FC236}">
                <a16:creationId xmlns:a16="http://schemas.microsoft.com/office/drawing/2014/main" id="{3B6DA99E-8349-4C4A-B374-9C4E185C80D3}"/>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C03A25AF-F97B-4F7B-967D-813F0A1AAC13}"/>
              </a:ext>
            </a:extLst>
          </p:cNvPr>
          <p:cNvSpPr>
            <a:spLocks noGrp="1"/>
          </p:cNvSpPr>
          <p:nvPr>
            <p:ph type="ftr" sz="quarter" idx="11"/>
            <p:custDataLst>
              <p:tags r:id="rId4"/>
            </p:custDataLst>
          </p:nvPr>
        </p:nvSpPr>
        <p:spPr/>
        <p:txBody>
          <a:bodyPr/>
          <a:lstStyle>
            <a:lvl1pPr>
              <a:defRPr/>
            </a:lvl1pPr>
          </a:lstStyle>
          <a:p>
            <a:pPr>
              <a:defRPr/>
            </a:pPr>
            <a:r>
              <a:rPr lang="en-US"/>
              <a:t>© Hill, Lipasti</a:t>
            </a:r>
          </a:p>
        </p:txBody>
      </p:sp>
      <p:sp>
        <p:nvSpPr>
          <p:cNvPr id="8" name="Slide Number Placeholder 5">
            <a:extLst>
              <a:ext uri="{FF2B5EF4-FFF2-40B4-BE49-F238E27FC236}">
                <a16:creationId xmlns:a16="http://schemas.microsoft.com/office/drawing/2014/main" id="{1FC658A8-3A31-4CB0-BAE2-CA2FAD9DA955}"/>
              </a:ext>
            </a:extLst>
          </p:cNvPr>
          <p:cNvSpPr>
            <a:spLocks noGrp="1"/>
          </p:cNvSpPr>
          <p:nvPr>
            <p:ph type="sldNum" sz="quarter" idx="12"/>
            <p:custDataLst>
              <p:tags r:id="rId5"/>
            </p:custDataLst>
          </p:nvPr>
        </p:nvSpPr>
        <p:spPr/>
        <p:txBody>
          <a:bodyPr/>
          <a:lstStyle>
            <a:lvl2pPr lvl="1">
              <a:defRPr smtClean="0"/>
            </a:lvl2pPr>
          </a:lstStyle>
          <a:p>
            <a:pPr lvl="1">
              <a:defRPr/>
            </a:pPr>
            <a:fld id="{1F285AF4-0B46-48F1-8B83-A0F620BDFCC6}" type="slidenum">
              <a:rPr lang="en-US" altLang="en-US"/>
              <a:pPr lvl="1">
                <a:defRPr/>
              </a:pPr>
              <a:t>‹#›</a:t>
            </a:fld>
            <a:endParaRPr lang="en-US" altLang="en-US"/>
          </a:p>
        </p:txBody>
      </p:sp>
    </p:spTree>
    <p:extLst>
      <p:ext uri="{BB962C8B-B14F-4D97-AF65-F5344CB8AC3E}">
        <p14:creationId xmlns:p14="http://schemas.microsoft.com/office/powerpoint/2010/main" val="373068883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5E0A88A1-6D76-4FB4-A4D2-1A67C525DB89}"/>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8D648097-5928-49AE-A44B-FC48F925DED4}"/>
              </a:ext>
            </a:extLst>
          </p:cNvPr>
          <p:cNvSpPr>
            <a:spLocks noGrp="1"/>
          </p:cNvSpPr>
          <p:nvPr>
            <p:ph type="ftr" sz="quarter" idx="11"/>
            <p:custDataLst>
              <p:tags r:id="rId4"/>
            </p:custDataLst>
          </p:nvPr>
        </p:nvSpPr>
        <p:spPr/>
        <p:txBody>
          <a:bodyPr/>
          <a:lstStyle>
            <a:lvl1pPr>
              <a:defRPr/>
            </a:lvl1pPr>
          </a:lstStyle>
          <a:p>
            <a:pPr>
              <a:defRPr/>
            </a:pPr>
            <a:r>
              <a:rPr lang="en-US"/>
              <a:t>© Hill, Lipasti</a:t>
            </a:r>
          </a:p>
        </p:txBody>
      </p:sp>
      <p:sp>
        <p:nvSpPr>
          <p:cNvPr id="8" name="Slide Number Placeholder 5">
            <a:extLst>
              <a:ext uri="{FF2B5EF4-FFF2-40B4-BE49-F238E27FC236}">
                <a16:creationId xmlns:a16="http://schemas.microsoft.com/office/drawing/2014/main" id="{C3AA1FCD-544A-4B62-9C0D-32A49F92AFCF}"/>
              </a:ext>
            </a:extLst>
          </p:cNvPr>
          <p:cNvSpPr>
            <a:spLocks noGrp="1"/>
          </p:cNvSpPr>
          <p:nvPr>
            <p:ph type="sldNum" sz="quarter" idx="12"/>
            <p:custDataLst>
              <p:tags r:id="rId5"/>
            </p:custDataLst>
          </p:nvPr>
        </p:nvSpPr>
        <p:spPr/>
        <p:txBody>
          <a:bodyPr/>
          <a:lstStyle>
            <a:lvl2pPr lvl="1">
              <a:defRPr sz="1400" smtClean="0"/>
            </a:lvl2pPr>
          </a:lstStyle>
          <a:p>
            <a:pPr lvl="1">
              <a:defRPr/>
            </a:pPr>
            <a:fld id="{0831C007-5AA1-4C47-955B-DD23833C3AF5}" type="slidenum">
              <a:rPr lang="en-US" altLang="en-US"/>
              <a:pPr lvl="1">
                <a:defRPr/>
              </a:pPr>
              <a:t>‹#›</a:t>
            </a:fld>
            <a:endParaRPr lang="en-US" altLang="en-US"/>
          </a:p>
        </p:txBody>
      </p:sp>
    </p:spTree>
    <p:extLst>
      <p:ext uri="{BB962C8B-B14F-4D97-AF65-F5344CB8AC3E}">
        <p14:creationId xmlns:p14="http://schemas.microsoft.com/office/powerpoint/2010/main" val="162405641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0F5278BA-1E35-4BC4-BF23-D84C98BB1940}"/>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A4D5D7D5-70C8-42EB-AB2D-F3C6BCB9BD5E}"/>
              </a:ext>
            </a:extLst>
          </p:cNvPr>
          <p:cNvSpPr>
            <a:spLocks noGrp="1"/>
          </p:cNvSpPr>
          <p:nvPr>
            <p:ph type="ftr" sz="quarter" idx="11"/>
          </p:nvPr>
        </p:nvSpPr>
        <p:spPr/>
        <p:txBody>
          <a:bodyPr/>
          <a:lstStyle>
            <a:lvl1pPr>
              <a:defRPr/>
            </a:lvl1pPr>
          </a:lstStyle>
          <a:p>
            <a:pPr>
              <a:defRPr/>
            </a:pPr>
            <a:r>
              <a:rPr lang="en-US"/>
              <a:t>© Hill, Lipasti</a:t>
            </a:r>
          </a:p>
        </p:txBody>
      </p:sp>
      <p:sp>
        <p:nvSpPr>
          <p:cNvPr id="5" name="Slide Number Placeholder 5">
            <a:extLst>
              <a:ext uri="{FF2B5EF4-FFF2-40B4-BE49-F238E27FC236}">
                <a16:creationId xmlns:a16="http://schemas.microsoft.com/office/drawing/2014/main" id="{4DB0CA07-943C-41DB-B4DC-C3EF32A02EF9}"/>
              </a:ext>
            </a:extLst>
          </p:cNvPr>
          <p:cNvSpPr>
            <a:spLocks noGrp="1"/>
          </p:cNvSpPr>
          <p:nvPr>
            <p:ph type="sldNum" sz="quarter" idx="12"/>
          </p:nvPr>
        </p:nvSpPr>
        <p:spPr/>
        <p:txBody>
          <a:bodyPr/>
          <a:lstStyle>
            <a:lvl2pPr lvl="1">
              <a:defRPr/>
            </a:lvl2pPr>
          </a:lstStyle>
          <a:p>
            <a:pPr lvl="1">
              <a:defRPr/>
            </a:pPr>
            <a:fld id="{616649BF-80F5-4EB8-8719-755DB09E0362}" type="slidenum">
              <a:rPr lang="en-US" altLang="en-US"/>
              <a:pPr lvl="1">
                <a:defRPr/>
              </a:pPr>
              <a:t>‹#›</a:t>
            </a:fld>
            <a:endParaRPr lang="en-US" altLang="en-US"/>
          </a:p>
        </p:txBody>
      </p:sp>
    </p:spTree>
    <p:extLst>
      <p:ext uri="{BB962C8B-B14F-4D97-AF65-F5344CB8AC3E}">
        <p14:creationId xmlns:p14="http://schemas.microsoft.com/office/powerpoint/2010/main" val="2255372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2625" y="609600"/>
            <a:ext cx="8080375" cy="1143000"/>
          </a:xfrm>
        </p:spPr>
        <p:txBody>
          <a:bodyPr/>
          <a:lstStyle/>
          <a:p>
            <a:r>
              <a:rPr lang="en-US"/>
              <a:t>Click to edit Master title style</a:t>
            </a:r>
          </a:p>
        </p:txBody>
      </p:sp>
      <p:sp>
        <p:nvSpPr>
          <p:cNvPr id="3" name="Text Placeholder 2"/>
          <p:cNvSpPr>
            <a:spLocks noGrp="1"/>
          </p:cNvSpPr>
          <p:nvPr>
            <p:ph type="body" sz="half" idx="1"/>
          </p:nvPr>
        </p:nvSpPr>
        <p:spPr>
          <a:xfrm>
            <a:off x="682625"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5025" y="1981200"/>
            <a:ext cx="3810000" cy="4114800"/>
          </a:xfrm>
        </p:spPr>
        <p:txBody>
          <a:bodyPr/>
          <a:lstStyle/>
          <a:p>
            <a:pPr lvl="0"/>
            <a:r>
              <a:rPr lang="en-US" noProof="0"/>
              <a:t>Click icon to add clip art</a:t>
            </a:r>
          </a:p>
        </p:txBody>
      </p:sp>
      <p:sp>
        <p:nvSpPr>
          <p:cNvPr id="5" name="Date Placeholder 3">
            <a:extLst>
              <a:ext uri="{FF2B5EF4-FFF2-40B4-BE49-F238E27FC236}">
                <a16:creationId xmlns:a16="http://schemas.microsoft.com/office/drawing/2014/main" id="{C47A700F-2DFE-46A7-A5B7-6063E2ABB5CD}"/>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A2B393B3-580F-4CF9-B308-1AC16FEFC240}"/>
              </a:ext>
            </a:extLst>
          </p:cNvPr>
          <p:cNvSpPr>
            <a:spLocks noGrp="1"/>
          </p:cNvSpPr>
          <p:nvPr>
            <p:ph type="ftr" sz="quarter" idx="11"/>
          </p:nvPr>
        </p:nvSpPr>
        <p:spPr/>
        <p:txBody>
          <a:bodyPr/>
          <a:lstStyle>
            <a:lvl1pPr>
              <a:defRPr/>
            </a:lvl1pPr>
          </a:lstStyle>
          <a:p>
            <a:pPr>
              <a:defRPr/>
            </a:pPr>
            <a:r>
              <a:rPr lang="en-US"/>
              <a:t>© Hill, Lipasti</a:t>
            </a:r>
          </a:p>
        </p:txBody>
      </p:sp>
      <p:sp>
        <p:nvSpPr>
          <p:cNvPr id="7" name="Slide Number Placeholder 5">
            <a:extLst>
              <a:ext uri="{FF2B5EF4-FFF2-40B4-BE49-F238E27FC236}">
                <a16:creationId xmlns:a16="http://schemas.microsoft.com/office/drawing/2014/main" id="{97B02111-9F4F-48E5-A947-3C3A6333BAA2}"/>
              </a:ext>
            </a:extLst>
          </p:cNvPr>
          <p:cNvSpPr>
            <a:spLocks noGrp="1"/>
          </p:cNvSpPr>
          <p:nvPr>
            <p:ph type="sldNum" sz="quarter" idx="12"/>
          </p:nvPr>
        </p:nvSpPr>
        <p:spPr/>
        <p:txBody>
          <a:bodyPr/>
          <a:lstStyle>
            <a:lvl2pPr lvl="1">
              <a:defRPr/>
            </a:lvl2pPr>
          </a:lstStyle>
          <a:p>
            <a:pPr lvl="1">
              <a:defRPr/>
            </a:pPr>
            <a:fld id="{D491F779-F8AA-4D49-A708-A8884C6ED3C7}" type="slidenum">
              <a:rPr lang="en-US" altLang="en-US"/>
              <a:pPr lvl="1">
                <a:defRPr/>
              </a:pPr>
              <a:t>‹#›</a:t>
            </a:fld>
            <a:endParaRPr lang="en-US" altLang="en-US"/>
          </a:p>
        </p:txBody>
      </p:sp>
    </p:spTree>
    <p:extLst>
      <p:ext uri="{BB962C8B-B14F-4D97-AF65-F5344CB8AC3E}">
        <p14:creationId xmlns:p14="http://schemas.microsoft.com/office/powerpoint/2010/main" val="3413609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10"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4236D43-C05A-4E1E-B06C-38A6BD0B917E}"/>
              </a:ext>
            </a:extLst>
          </p:cNvPr>
          <p:cNvSpPr>
            <a:spLocks noGrp="1"/>
          </p:cNvSpPr>
          <p:nvPr>
            <p:ph type="title"/>
            <p:custDataLst>
              <p:tags r:id="rId6"/>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7FA32B47-E041-4EB6-999C-8E99AFF3D48A}"/>
              </a:ext>
            </a:extLst>
          </p:cNvPr>
          <p:cNvSpPr>
            <a:spLocks noGrp="1"/>
          </p:cNvSpPr>
          <p:nvPr>
            <p:ph type="body" idx="1"/>
            <p:custDataLst>
              <p:tags r:id="rId7"/>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BC72D67B-0FAE-42FA-85D0-6E87896F28D2}"/>
              </a:ext>
            </a:extLst>
          </p:cNvPr>
          <p:cNvSpPr>
            <a:spLocks noGrp="1"/>
          </p:cNvSpPr>
          <p:nvPr>
            <p:ph type="dt" sz="half" idx="2"/>
            <p:custDataLst>
              <p:tags r:id="rId8"/>
            </p:custDataLst>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Times New Roman" pitchFamily="18" charset="0"/>
              </a:defRPr>
            </a:lvl1pPr>
          </a:lstStyle>
          <a:p>
            <a:pPr>
              <a:defRPr/>
            </a:pPr>
            <a:endParaRPr lang="en-US"/>
          </a:p>
        </p:txBody>
      </p:sp>
      <p:sp>
        <p:nvSpPr>
          <p:cNvPr id="5" name="Footer Placeholder 4">
            <a:extLst>
              <a:ext uri="{FF2B5EF4-FFF2-40B4-BE49-F238E27FC236}">
                <a16:creationId xmlns:a16="http://schemas.microsoft.com/office/drawing/2014/main" id="{D249169F-9B0A-4A21-BF71-C252D1B4C8E2}"/>
              </a:ext>
            </a:extLst>
          </p:cNvPr>
          <p:cNvSpPr>
            <a:spLocks noGrp="1"/>
          </p:cNvSpPr>
          <p:nvPr>
            <p:ph type="ftr" sz="quarter" idx="3"/>
            <p:custDataLst>
              <p:tags r:id="rId9"/>
            </p:custDataLst>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Times New Roman" pitchFamily="18" charset="0"/>
              </a:defRPr>
            </a:lvl1pPr>
          </a:lstStyle>
          <a:p>
            <a:pPr>
              <a:defRPr/>
            </a:pPr>
            <a:r>
              <a:rPr lang="en-US"/>
              <a:t>© Hill, Lipasti</a:t>
            </a:r>
          </a:p>
        </p:txBody>
      </p:sp>
      <p:sp>
        <p:nvSpPr>
          <p:cNvPr id="6" name="Slide Number Placeholder 5">
            <a:extLst>
              <a:ext uri="{FF2B5EF4-FFF2-40B4-BE49-F238E27FC236}">
                <a16:creationId xmlns:a16="http://schemas.microsoft.com/office/drawing/2014/main" id="{C6EFDA4B-7157-4323-98FC-BB1B505EC304}"/>
              </a:ext>
            </a:extLst>
          </p:cNvPr>
          <p:cNvSpPr>
            <a:spLocks noGrp="1"/>
          </p:cNvSpPr>
          <p:nvPr>
            <p:ph type="sldNum" sz="quarter" idx="4"/>
            <p:custDataLst>
              <p:tags r:id="rId10"/>
            </p:custDataLst>
          </p:nvPr>
        </p:nvSpPr>
        <p:spPr>
          <a:xfrm>
            <a:off x="7620000" y="6356350"/>
            <a:ext cx="1066800" cy="365125"/>
          </a:xfrm>
          <a:prstGeom prst="rect">
            <a:avLst/>
          </a:prstGeom>
        </p:spPr>
        <p:txBody>
          <a:bodyPr vert="horz" wrap="square" lIns="91440" tIns="45720" rIns="91440" bIns="45720" numCol="1" anchor="ctr" anchorCtr="0" compatLnSpc="1">
            <a:prstTxWarp prst="textNoShape">
              <a:avLst/>
            </a:prstTxWarp>
          </a:bodyPr>
          <a:lstStyle>
            <a:lvl2pPr lvl="1" algn="r" eaLnBrk="1" hangingPunct="1">
              <a:defRPr smtClean="0">
                <a:latin typeface="Calibri" panose="020F0502020204030204" pitchFamily="34" charset="0"/>
              </a:defRPr>
            </a:lvl2pPr>
          </a:lstStyle>
          <a:p>
            <a:pPr lvl="1">
              <a:defRPr/>
            </a:pPr>
            <a:fld id="{04C44D9C-287F-4E2F-8D85-A8F87AC95E32}" type="slidenum">
              <a:rPr lang="en-US" altLang="en-US"/>
              <a:pPr lvl="1">
                <a:defRPr/>
              </a:pPr>
              <a:t>‹#›</a:t>
            </a:fld>
            <a:endParaRPr lang="en-US" altLang="en-US"/>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 id="2147483763" r:id="rId3"/>
    <p:sldLayoutId id="2147483764" r:id="rId4"/>
  </p:sldLayoutIdLst>
  <p:transition/>
  <p:hf hdr="0" ftr="0" dt="0"/>
  <p:txStyles>
    <p:titleStyle>
      <a:lvl1pPr algn="ctr" rtl="0" eaLnBrk="0" fontAlgn="base" hangingPunct="0">
        <a:spcBef>
          <a:spcPct val="0"/>
        </a:spcBef>
        <a:spcAft>
          <a:spcPct val="0"/>
        </a:spcAft>
        <a:defRPr sz="4400" b="0" i="0" u="none"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b="0" i="0" u="none"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image" Target="../media/image2.jpeg"/><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notesSlide" Target="../notesSlides/notesSlide3.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slideLayout" Target="../slideLayouts/slideLayout2.xml"/><Relationship Id="rId5" Type="http://schemas.openxmlformats.org/officeDocument/2006/relationships/tags" Target="../tags/tag27.xml"/><Relationship Id="rId10" Type="http://schemas.openxmlformats.org/officeDocument/2006/relationships/tags" Target="../tags/tag32.xml"/><Relationship Id="rId4" Type="http://schemas.openxmlformats.org/officeDocument/2006/relationships/tags" Target="../tags/tag26.xml"/><Relationship Id="rId9" Type="http://schemas.openxmlformats.org/officeDocument/2006/relationships/tags" Target="../tags/tag31.xml"/></Relationships>
</file>

<file path=ppt/slides/_rels/slide4.xml.rels><?xml version="1.0" encoding="UTF-8" standalone="yes"?>
<Relationships xmlns="http://schemas.openxmlformats.org/package/2006/relationships"><Relationship Id="rId8" Type="http://schemas.openxmlformats.org/officeDocument/2006/relationships/tags" Target="../tags/tag40.xml"/><Relationship Id="rId3" Type="http://schemas.openxmlformats.org/officeDocument/2006/relationships/tags" Target="../tags/tag35.xml"/><Relationship Id="rId7" Type="http://schemas.openxmlformats.org/officeDocument/2006/relationships/tags" Target="../tags/tag39.xml"/><Relationship Id="rId12" Type="http://schemas.openxmlformats.org/officeDocument/2006/relationships/image" Target="../media/image2.jpe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notesSlide" Target="../notesSlides/notesSlide4.xml"/><Relationship Id="rId5" Type="http://schemas.openxmlformats.org/officeDocument/2006/relationships/tags" Target="../tags/tag37.xml"/><Relationship Id="rId10" Type="http://schemas.openxmlformats.org/officeDocument/2006/relationships/slideLayout" Target="../slideLayouts/slideLayout2.xml"/><Relationship Id="rId4" Type="http://schemas.openxmlformats.org/officeDocument/2006/relationships/tags" Target="../tags/tag36.xml"/><Relationship Id="rId9" Type="http://schemas.openxmlformats.org/officeDocument/2006/relationships/tags" Target="../tags/tag41.xml"/></Relationships>
</file>

<file path=ppt/slides/_rels/slide5.xml.rels><?xml version="1.0" encoding="UTF-8" standalone="yes"?>
<Relationships xmlns="http://schemas.openxmlformats.org/package/2006/relationships"><Relationship Id="rId13" Type="http://schemas.openxmlformats.org/officeDocument/2006/relationships/tags" Target="../tags/tag54.xml"/><Relationship Id="rId18" Type="http://schemas.openxmlformats.org/officeDocument/2006/relationships/tags" Target="../tags/tag59.xml"/><Relationship Id="rId26" Type="http://schemas.openxmlformats.org/officeDocument/2006/relationships/tags" Target="../tags/tag67.xml"/><Relationship Id="rId39" Type="http://schemas.openxmlformats.org/officeDocument/2006/relationships/tags" Target="../tags/tag80.xml"/><Relationship Id="rId21" Type="http://schemas.openxmlformats.org/officeDocument/2006/relationships/tags" Target="../tags/tag62.xml"/><Relationship Id="rId34" Type="http://schemas.openxmlformats.org/officeDocument/2006/relationships/tags" Target="../tags/tag75.xml"/><Relationship Id="rId42" Type="http://schemas.openxmlformats.org/officeDocument/2006/relationships/tags" Target="../tags/tag83.xml"/><Relationship Id="rId47" Type="http://schemas.openxmlformats.org/officeDocument/2006/relationships/tags" Target="../tags/tag88.xml"/><Relationship Id="rId50" Type="http://schemas.openxmlformats.org/officeDocument/2006/relationships/tags" Target="../tags/tag91.xml"/><Relationship Id="rId55" Type="http://schemas.openxmlformats.org/officeDocument/2006/relationships/tags" Target="../tags/tag96.xml"/><Relationship Id="rId7" Type="http://schemas.openxmlformats.org/officeDocument/2006/relationships/tags" Target="../tags/tag48.xml"/><Relationship Id="rId2" Type="http://schemas.openxmlformats.org/officeDocument/2006/relationships/tags" Target="../tags/tag43.xml"/><Relationship Id="rId16" Type="http://schemas.openxmlformats.org/officeDocument/2006/relationships/tags" Target="../tags/tag57.xml"/><Relationship Id="rId29" Type="http://schemas.openxmlformats.org/officeDocument/2006/relationships/tags" Target="../tags/tag70.xml"/><Relationship Id="rId11" Type="http://schemas.openxmlformats.org/officeDocument/2006/relationships/tags" Target="../tags/tag52.xml"/><Relationship Id="rId24" Type="http://schemas.openxmlformats.org/officeDocument/2006/relationships/tags" Target="../tags/tag65.xml"/><Relationship Id="rId32" Type="http://schemas.openxmlformats.org/officeDocument/2006/relationships/tags" Target="../tags/tag73.xml"/><Relationship Id="rId37" Type="http://schemas.openxmlformats.org/officeDocument/2006/relationships/tags" Target="../tags/tag78.xml"/><Relationship Id="rId40" Type="http://schemas.openxmlformats.org/officeDocument/2006/relationships/tags" Target="../tags/tag81.xml"/><Relationship Id="rId45" Type="http://schemas.openxmlformats.org/officeDocument/2006/relationships/tags" Target="../tags/tag86.xml"/><Relationship Id="rId53" Type="http://schemas.openxmlformats.org/officeDocument/2006/relationships/tags" Target="../tags/tag94.xml"/><Relationship Id="rId58" Type="http://schemas.openxmlformats.org/officeDocument/2006/relationships/tags" Target="../tags/tag99.xml"/><Relationship Id="rId5" Type="http://schemas.openxmlformats.org/officeDocument/2006/relationships/tags" Target="../tags/tag46.xml"/><Relationship Id="rId61" Type="http://schemas.openxmlformats.org/officeDocument/2006/relationships/slideLayout" Target="../slideLayouts/slideLayout2.xml"/><Relationship Id="rId19" Type="http://schemas.openxmlformats.org/officeDocument/2006/relationships/tags" Target="../tags/tag60.xml"/><Relationship Id="rId14" Type="http://schemas.openxmlformats.org/officeDocument/2006/relationships/tags" Target="../tags/tag55.xml"/><Relationship Id="rId22" Type="http://schemas.openxmlformats.org/officeDocument/2006/relationships/tags" Target="../tags/tag63.xml"/><Relationship Id="rId27" Type="http://schemas.openxmlformats.org/officeDocument/2006/relationships/tags" Target="../tags/tag68.xml"/><Relationship Id="rId30" Type="http://schemas.openxmlformats.org/officeDocument/2006/relationships/tags" Target="../tags/tag71.xml"/><Relationship Id="rId35" Type="http://schemas.openxmlformats.org/officeDocument/2006/relationships/tags" Target="../tags/tag76.xml"/><Relationship Id="rId43" Type="http://schemas.openxmlformats.org/officeDocument/2006/relationships/tags" Target="../tags/tag84.xml"/><Relationship Id="rId48" Type="http://schemas.openxmlformats.org/officeDocument/2006/relationships/tags" Target="../tags/tag89.xml"/><Relationship Id="rId56" Type="http://schemas.openxmlformats.org/officeDocument/2006/relationships/tags" Target="../tags/tag97.xml"/><Relationship Id="rId8" Type="http://schemas.openxmlformats.org/officeDocument/2006/relationships/tags" Target="../tags/tag49.xml"/><Relationship Id="rId51" Type="http://schemas.openxmlformats.org/officeDocument/2006/relationships/tags" Target="../tags/tag92.xml"/><Relationship Id="rId3" Type="http://schemas.openxmlformats.org/officeDocument/2006/relationships/tags" Target="../tags/tag44.xml"/><Relationship Id="rId12" Type="http://schemas.openxmlformats.org/officeDocument/2006/relationships/tags" Target="../tags/tag53.xml"/><Relationship Id="rId17" Type="http://schemas.openxmlformats.org/officeDocument/2006/relationships/tags" Target="../tags/tag58.xml"/><Relationship Id="rId25" Type="http://schemas.openxmlformats.org/officeDocument/2006/relationships/tags" Target="../tags/tag66.xml"/><Relationship Id="rId33" Type="http://schemas.openxmlformats.org/officeDocument/2006/relationships/tags" Target="../tags/tag74.xml"/><Relationship Id="rId38" Type="http://schemas.openxmlformats.org/officeDocument/2006/relationships/tags" Target="../tags/tag79.xml"/><Relationship Id="rId46" Type="http://schemas.openxmlformats.org/officeDocument/2006/relationships/tags" Target="../tags/tag87.xml"/><Relationship Id="rId59" Type="http://schemas.openxmlformats.org/officeDocument/2006/relationships/tags" Target="../tags/tag100.xml"/><Relationship Id="rId20" Type="http://schemas.openxmlformats.org/officeDocument/2006/relationships/tags" Target="../tags/tag61.xml"/><Relationship Id="rId41" Type="http://schemas.openxmlformats.org/officeDocument/2006/relationships/tags" Target="../tags/tag82.xml"/><Relationship Id="rId54" Type="http://schemas.openxmlformats.org/officeDocument/2006/relationships/tags" Target="../tags/tag95.xml"/><Relationship Id="rId62" Type="http://schemas.openxmlformats.org/officeDocument/2006/relationships/notesSlide" Target="../notesSlides/notesSlide5.xml"/><Relationship Id="rId1" Type="http://schemas.openxmlformats.org/officeDocument/2006/relationships/tags" Target="../tags/tag42.xml"/><Relationship Id="rId6" Type="http://schemas.openxmlformats.org/officeDocument/2006/relationships/tags" Target="../tags/tag47.xml"/><Relationship Id="rId15" Type="http://schemas.openxmlformats.org/officeDocument/2006/relationships/tags" Target="../tags/tag56.xml"/><Relationship Id="rId23" Type="http://schemas.openxmlformats.org/officeDocument/2006/relationships/tags" Target="../tags/tag64.xml"/><Relationship Id="rId28" Type="http://schemas.openxmlformats.org/officeDocument/2006/relationships/tags" Target="../tags/tag69.xml"/><Relationship Id="rId36" Type="http://schemas.openxmlformats.org/officeDocument/2006/relationships/tags" Target="../tags/tag77.xml"/><Relationship Id="rId49" Type="http://schemas.openxmlformats.org/officeDocument/2006/relationships/tags" Target="../tags/tag90.xml"/><Relationship Id="rId57" Type="http://schemas.openxmlformats.org/officeDocument/2006/relationships/tags" Target="../tags/tag98.xml"/><Relationship Id="rId10" Type="http://schemas.openxmlformats.org/officeDocument/2006/relationships/tags" Target="../tags/tag51.xml"/><Relationship Id="rId31" Type="http://schemas.openxmlformats.org/officeDocument/2006/relationships/tags" Target="../tags/tag72.xml"/><Relationship Id="rId44" Type="http://schemas.openxmlformats.org/officeDocument/2006/relationships/tags" Target="../tags/tag85.xml"/><Relationship Id="rId52" Type="http://schemas.openxmlformats.org/officeDocument/2006/relationships/tags" Target="../tags/tag93.xml"/><Relationship Id="rId60" Type="http://schemas.openxmlformats.org/officeDocument/2006/relationships/tags" Target="../tags/tag101.xml"/><Relationship Id="rId4" Type="http://schemas.openxmlformats.org/officeDocument/2006/relationships/tags" Target="../tags/tag45.xml"/><Relationship Id="rId9" Type="http://schemas.openxmlformats.org/officeDocument/2006/relationships/tags" Target="../tags/tag50.xml"/></Relationships>
</file>

<file path=ppt/slides/_rels/slide6.xml.rels><?xml version="1.0" encoding="UTF-8" standalone="yes"?>
<Relationships xmlns="http://schemas.openxmlformats.org/package/2006/relationships"><Relationship Id="rId26" Type="http://schemas.openxmlformats.org/officeDocument/2006/relationships/tags" Target="../tags/tag127.xml"/><Relationship Id="rId21" Type="http://schemas.openxmlformats.org/officeDocument/2006/relationships/tags" Target="../tags/tag122.xml"/><Relationship Id="rId34" Type="http://schemas.openxmlformats.org/officeDocument/2006/relationships/tags" Target="../tags/tag135.xml"/><Relationship Id="rId42" Type="http://schemas.openxmlformats.org/officeDocument/2006/relationships/tags" Target="../tags/tag143.xml"/><Relationship Id="rId47" Type="http://schemas.openxmlformats.org/officeDocument/2006/relationships/tags" Target="../tags/tag148.xml"/><Relationship Id="rId50" Type="http://schemas.openxmlformats.org/officeDocument/2006/relationships/tags" Target="../tags/tag151.xml"/><Relationship Id="rId55" Type="http://schemas.openxmlformats.org/officeDocument/2006/relationships/tags" Target="../tags/tag156.xml"/><Relationship Id="rId63" Type="http://schemas.openxmlformats.org/officeDocument/2006/relationships/tags" Target="../tags/tag164.xml"/><Relationship Id="rId68" Type="http://schemas.openxmlformats.org/officeDocument/2006/relationships/notesSlide" Target="../notesSlides/notesSlide6.xml"/><Relationship Id="rId7" Type="http://schemas.openxmlformats.org/officeDocument/2006/relationships/tags" Target="../tags/tag108.xml"/><Relationship Id="rId2" Type="http://schemas.openxmlformats.org/officeDocument/2006/relationships/tags" Target="../tags/tag103.xml"/><Relationship Id="rId16" Type="http://schemas.openxmlformats.org/officeDocument/2006/relationships/tags" Target="../tags/tag117.xml"/><Relationship Id="rId29" Type="http://schemas.openxmlformats.org/officeDocument/2006/relationships/tags" Target="../tags/tag130.xml"/><Relationship Id="rId11" Type="http://schemas.openxmlformats.org/officeDocument/2006/relationships/tags" Target="../tags/tag112.xml"/><Relationship Id="rId24" Type="http://schemas.openxmlformats.org/officeDocument/2006/relationships/tags" Target="../tags/tag125.xml"/><Relationship Id="rId32" Type="http://schemas.openxmlformats.org/officeDocument/2006/relationships/tags" Target="../tags/tag133.xml"/><Relationship Id="rId37" Type="http://schemas.openxmlformats.org/officeDocument/2006/relationships/tags" Target="../tags/tag138.xml"/><Relationship Id="rId40" Type="http://schemas.openxmlformats.org/officeDocument/2006/relationships/tags" Target="../tags/tag141.xml"/><Relationship Id="rId45" Type="http://schemas.openxmlformats.org/officeDocument/2006/relationships/tags" Target="../tags/tag146.xml"/><Relationship Id="rId53" Type="http://schemas.openxmlformats.org/officeDocument/2006/relationships/tags" Target="../tags/tag154.xml"/><Relationship Id="rId58" Type="http://schemas.openxmlformats.org/officeDocument/2006/relationships/tags" Target="../tags/tag159.xml"/><Relationship Id="rId66" Type="http://schemas.openxmlformats.org/officeDocument/2006/relationships/tags" Target="../tags/tag167.xml"/><Relationship Id="rId5" Type="http://schemas.openxmlformats.org/officeDocument/2006/relationships/tags" Target="../tags/tag106.xml"/><Relationship Id="rId61" Type="http://schemas.openxmlformats.org/officeDocument/2006/relationships/tags" Target="../tags/tag162.xml"/><Relationship Id="rId19" Type="http://schemas.openxmlformats.org/officeDocument/2006/relationships/tags" Target="../tags/tag120.xml"/><Relationship Id="rId14" Type="http://schemas.openxmlformats.org/officeDocument/2006/relationships/tags" Target="../tags/tag115.xml"/><Relationship Id="rId22" Type="http://schemas.openxmlformats.org/officeDocument/2006/relationships/tags" Target="../tags/tag123.xml"/><Relationship Id="rId27" Type="http://schemas.openxmlformats.org/officeDocument/2006/relationships/tags" Target="../tags/tag128.xml"/><Relationship Id="rId30" Type="http://schemas.openxmlformats.org/officeDocument/2006/relationships/tags" Target="../tags/tag131.xml"/><Relationship Id="rId35" Type="http://schemas.openxmlformats.org/officeDocument/2006/relationships/tags" Target="../tags/tag136.xml"/><Relationship Id="rId43" Type="http://schemas.openxmlformats.org/officeDocument/2006/relationships/tags" Target="../tags/tag144.xml"/><Relationship Id="rId48" Type="http://schemas.openxmlformats.org/officeDocument/2006/relationships/tags" Target="../tags/tag149.xml"/><Relationship Id="rId56" Type="http://schemas.openxmlformats.org/officeDocument/2006/relationships/tags" Target="../tags/tag157.xml"/><Relationship Id="rId64" Type="http://schemas.openxmlformats.org/officeDocument/2006/relationships/tags" Target="../tags/tag165.xml"/><Relationship Id="rId8" Type="http://schemas.openxmlformats.org/officeDocument/2006/relationships/tags" Target="../tags/tag109.xml"/><Relationship Id="rId51" Type="http://schemas.openxmlformats.org/officeDocument/2006/relationships/tags" Target="../tags/tag152.xml"/><Relationship Id="rId3" Type="http://schemas.openxmlformats.org/officeDocument/2006/relationships/tags" Target="../tags/tag104.xml"/><Relationship Id="rId12" Type="http://schemas.openxmlformats.org/officeDocument/2006/relationships/tags" Target="../tags/tag113.xml"/><Relationship Id="rId17" Type="http://schemas.openxmlformats.org/officeDocument/2006/relationships/tags" Target="../tags/tag118.xml"/><Relationship Id="rId25" Type="http://schemas.openxmlformats.org/officeDocument/2006/relationships/tags" Target="../tags/tag126.xml"/><Relationship Id="rId33" Type="http://schemas.openxmlformats.org/officeDocument/2006/relationships/tags" Target="../tags/tag134.xml"/><Relationship Id="rId38" Type="http://schemas.openxmlformats.org/officeDocument/2006/relationships/tags" Target="../tags/tag139.xml"/><Relationship Id="rId46" Type="http://schemas.openxmlformats.org/officeDocument/2006/relationships/tags" Target="../tags/tag147.xml"/><Relationship Id="rId59" Type="http://schemas.openxmlformats.org/officeDocument/2006/relationships/tags" Target="../tags/tag160.xml"/><Relationship Id="rId67" Type="http://schemas.openxmlformats.org/officeDocument/2006/relationships/slideLayout" Target="../slideLayouts/slideLayout2.xml"/><Relationship Id="rId20" Type="http://schemas.openxmlformats.org/officeDocument/2006/relationships/tags" Target="../tags/tag121.xml"/><Relationship Id="rId41" Type="http://schemas.openxmlformats.org/officeDocument/2006/relationships/tags" Target="../tags/tag142.xml"/><Relationship Id="rId54" Type="http://schemas.openxmlformats.org/officeDocument/2006/relationships/tags" Target="../tags/tag155.xml"/><Relationship Id="rId62" Type="http://schemas.openxmlformats.org/officeDocument/2006/relationships/tags" Target="../tags/tag163.xml"/><Relationship Id="rId1" Type="http://schemas.openxmlformats.org/officeDocument/2006/relationships/tags" Target="../tags/tag102.xml"/><Relationship Id="rId6" Type="http://schemas.openxmlformats.org/officeDocument/2006/relationships/tags" Target="../tags/tag107.xml"/><Relationship Id="rId15" Type="http://schemas.openxmlformats.org/officeDocument/2006/relationships/tags" Target="../tags/tag116.xml"/><Relationship Id="rId23" Type="http://schemas.openxmlformats.org/officeDocument/2006/relationships/tags" Target="../tags/tag124.xml"/><Relationship Id="rId28" Type="http://schemas.openxmlformats.org/officeDocument/2006/relationships/tags" Target="../tags/tag129.xml"/><Relationship Id="rId36" Type="http://schemas.openxmlformats.org/officeDocument/2006/relationships/tags" Target="../tags/tag137.xml"/><Relationship Id="rId49" Type="http://schemas.openxmlformats.org/officeDocument/2006/relationships/tags" Target="../tags/tag150.xml"/><Relationship Id="rId57" Type="http://schemas.openxmlformats.org/officeDocument/2006/relationships/tags" Target="../tags/tag158.xml"/><Relationship Id="rId10" Type="http://schemas.openxmlformats.org/officeDocument/2006/relationships/tags" Target="../tags/tag111.xml"/><Relationship Id="rId31" Type="http://schemas.openxmlformats.org/officeDocument/2006/relationships/tags" Target="../tags/tag132.xml"/><Relationship Id="rId44" Type="http://schemas.openxmlformats.org/officeDocument/2006/relationships/tags" Target="../tags/tag145.xml"/><Relationship Id="rId52" Type="http://schemas.openxmlformats.org/officeDocument/2006/relationships/tags" Target="../tags/tag153.xml"/><Relationship Id="rId60" Type="http://schemas.openxmlformats.org/officeDocument/2006/relationships/tags" Target="../tags/tag161.xml"/><Relationship Id="rId65" Type="http://schemas.openxmlformats.org/officeDocument/2006/relationships/tags" Target="../tags/tag166.xml"/><Relationship Id="rId4" Type="http://schemas.openxmlformats.org/officeDocument/2006/relationships/tags" Target="../tags/tag105.xml"/><Relationship Id="rId9" Type="http://schemas.openxmlformats.org/officeDocument/2006/relationships/tags" Target="../tags/tag110.xml"/><Relationship Id="rId13" Type="http://schemas.openxmlformats.org/officeDocument/2006/relationships/tags" Target="../tags/tag114.xml"/><Relationship Id="rId18" Type="http://schemas.openxmlformats.org/officeDocument/2006/relationships/tags" Target="../tags/tag119.xml"/><Relationship Id="rId39" Type="http://schemas.openxmlformats.org/officeDocument/2006/relationships/tags" Target="../tags/tag1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FAEC3731-8914-466C-A561-03A7EF2CEA18}"/>
              </a:ext>
            </a:extLst>
          </p:cNvPr>
          <p:cNvSpPr>
            <a:spLocks noGrp="1"/>
          </p:cNvSpPr>
          <p:nvPr>
            <p:ph type="ctrTitle"/>
            <p:custDataLst>
              <p:tags r:id="rId2"/>
            </p:custDataLst>
          </p:nvPr>
        </p:nvSpPr>
        <p:spPr>
          <a:xfrm>
            <a:off x="457200" y="2495550"/>
            <a:ext cx="8229600" cy="1238250"/>
          </a:xfrm>
        </p:spPr>
        <p:txBody>
          <a:bodyPr/>
          <a:lstStyle/>
          <a:p>
            <a:pPr eaLnBrk="1" hangingPunct="1"/>
            <a:r>
              <a:rPr lang="en-US" altLang="en-US" dirty="0"/>
              <a:t>ECE/CS 552: Cache Concepts</a:t>
            </a:r>
          </a:p>
        </p:txBody>
      </p:sp>
      <p:sp>
        <p:nvSpPr>
          <p:cNvPr id="3" name="Subtitle 2">
            <a:extLst>
              <a:ext uri="{FF2B5EF4-FFF2-40B4-BE49-F238E27FC236}">
                <a16:creationId xmlns:a16="http://schemas.microsoft.com/office/drawing/2014/main" id="{F0DF9377-1361-4555-9AF6-6E957C3B90C0}"/>
              </a:ext>
            </a:extLst>
          </p:cNvPr>
          <p:cNvSpPr>
            <a:spLocks noGrp="1"/>
          </p:cNvSpPr>
          <p:nvPr>
            <p:ph type="subTitle" idx="1"/>
            <p:custDataLst>
              <p:tags r:id="rId3"/>
            </p:custDataLst>
          </p:nvPr>
        </p:nvSpPr>
        <p:spPr>
          <a:xfrm>
            <a:off x="1371600" y="3886200"/>
            <a:ext cx="6400800" cy="1752600"/>
          </a:xfrm>
        </p:spPr>
        <p:txBody>
          <a:bodyPr>
            <a:noAutofit/>
          </a:bodyPr>
          <a:lstStyle/>
          <a:p>
            <a:pPr eaLnBrk="1" hangingPunct="1">
              <a:buFont typeface="Arial" charset="0"/>
              <a:buNone/>
              <a:defRPr/>
            </a:pPr>
            <a:r>
              <a:rPr lang="en-US" sz="2200" dirty="0"/>
              <a:t>Boone Severson </a:t>
            </a:r>
          </a:p>
          <a:p>
            <a:pPr eaLnBrk="1" hangingPunct="1">
              <a:buFont typeface="Arial" charset="0"/>
              <a:buNone/>
              <a:defRPr/>
            </a:pPr>
            <a:endParaRPr lang="en-US" sz="2200" dirty="0"/>
          </a:p>
          <a:p>
            <a:pPr eaLnBrk="1" hangingPunct="1">
              <a:buFont typeface="Arial" charset="0"/>
              <a:buNone/>
              <a:defRPr/>
            </a:pPr>
            <a:r>
              <a:rPr lang="en-US" sz="2200" dirty="0"/>
              <a:t>Lecture notes based in part on slides created by Joshua San Miguel, </a:t>
            </a:r>
            <a:r>
              <a:rPr lang="en-US" sz="2200" dirty="0" err="1"/>
              <a:t>Mikko</a:t>
            </a:r>
            <a:r>
              <a:rPr lang="en-US" sz="2200" dirty="0"/>
              <a:t> </a:t>
            </a:r>
            <a:r>
              <a:rPr lang="en-US" sz="2200" dirty="0" err="1"/>
              <a:t>Lipasti</a:t>
            </a:r>
            <a:r>
              <a:rPr lang="en-US" sz="2200" dirty="0"/>
              <a:t>, Mark Hill, David Wood, </a:t>
            </a:r>
            <a:r>
              <a:rPr lang="en-US" sz="2200" dirty="0" err="1"/>
              <a:t>Guri</a:t>
            </a:r>
            <a:r>
              <a:rPr lang="en-US" sz="2200" dirty="0"/>
              <a:t> Sohi, John Shen and Jim Smith</a:t>
            </a:r>
          </a:p>
          <a:p>
            <a:pPr eaLnBrk="1" hangingPunct="1">
              <a:buFont typeface="Arial" charset="0"/>
              <a:buNone/>
              <a:defRPr/>
            </a:pPr>
            <a:r>
              <a:rPr lang="en-US" sz="2200" dirty="0"/>
              <a:t>  </a:t>
            </a:r>
          </a:p>
          <a:p>
            <a:pPr eaLnBrk="1" hangingPunct="1">
              <a:buFont typeface="Arial" charset="0"/>
              <a:buNone/>
              <a:defRPr/>
            </a:pPr>
            <a:endParaRPr lang="en-US" sz="2200" dirty="0"/>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Announcements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3"/>
            </p:custDataLst>
          </p:nvPr>
        </p:nvSpPr>
        <p:spPr>
          <a:xfrm>
            <a:off x="457200" y="1447800"/>
            <a:ext cx="8686800" cy="4876800"/>
          </a:xfrm>
        </p:spPr>
        <p:txBody>
          <a:bodyPr/>
          <a:lstStyle/>
          <a:p>
            <a:pPr eaLnBrk="1" hangingPunct="1"/>
            <a:r>
              <a:rPr lang="en-US" altLang="en-US" sz="2800" dirty="0"/>
              <a:t>Project Phase 1 Due October 21</a:t>
            </a:r>
          </a:p>
          <a:p>
            <a:pPr lvl="1"/>
            <a:r>
              <a:rPr lang="en-US" altLang="en-US" sz="2400" dirty="0"/>
              <a:t>Follow all ISA rules carefully</a:t>
            </a:r>
          </a:p>
          <a:p>
            <a:pPr lvl="1"/>
            <a:r>
              <a:rPr lang="en-US" altLang="en-US" sz="2400" dirty="0"/>
              <a:t>Follow submission rules carefully</a:t>
            </a:r>
          </a:p>
          <a:p>
            <a:pPr lvl="2"/>
            <a:r>
              <a:rPr lang="en-US" altLang="en-US" sz="2000" dirty="0"/>
              <a:t>Use </a:t>
            </a:r>
            <a:r>
              <a:rPr lang="en-US" altLang="en-US" sz="2000" dirty="0" err="1"/>
              <a:t>Vcheck</a:t>
            </a:r>
            <a:r>
              <a:rPr lang="en-US" altLang="en-US" sz="2000" dirty="0"/>
              <a:t>!</a:t>
            </a:r>
          </a:p>
          <a:p>
            <a:pPr lvl="2"/>
            <a:r>
              <a:rPr lang="en-US" altLang="en-US" sz="2000" dirty="0"/>
              <a:t>Create more programs if you wish, but test1-3 results are required</a:t>
            </a:r>
          </a:p>
          <a:p>
            <a:pPr eaLnBrk="1" hangingPunct="1"/>
            <a:r>
              <a:rPr lang="en-US" altLang="en-US" sz="2800" dirty="0"/>
              <a:t>Midterm next week: Thursday 10/24 </a:t>
            </a:r>
            <a:r>
              <a:rPr lang="en-US" altLang="en-US" sz="2800" i="1" dirty="0"/>
              <a:t>during class</a:t>
            </a:r>
          </a:p>
          <a:p>
            <a:pPr lvl="1"/>
            <a:r>
              <a:rPr lang="en-US" altLang="en-US" sz="2400" dirty="0"/>
              <a:t>Midterm review in-class Wednesday 10/22</a:t>
            </a:r>
          </a:p>
          <a:p>
            <a:pPr lvl="1"/>
            <a:r>
              <a:rPr lang="en-US" altLang="en-US" sz="2400"/>
              <a:t>Covers </a:t>
            </a:r>
            <a:r>
              <a:rPr lang="en-US" altLang="en-US" sz="2400" dirty="0"/>
              <a:t>material through this class</a:t>
            </a:r>
          </a:p>
        </p:txBody>
      </p:sp>
    </p:spTree>
    <p:custDataLst>
      <p:tags r:id="rId1"/>
    </p:custDataLst>
    <p:extLst>
      <p:ext uri="{BB962C8B-B14F-4D97-AF65-F5344CB8AC3E}">
        <p14:creationId xmlns:p14="http://schemas.microsoft.com/office/powerpoint/2010/main" val="375274118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dirty="0"/>
              <a:t>Memory Hierarchy</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3</a:t>
            </a:fld>
            <a:endParaRPr lang="en-US" altLang="en-US" sz="1400"/>
          </a:p>
        </p:txBody>
      </p:sp>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71563" y="3977481"/>
            <a:ext cx="7000875" cy="2465766"/>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0068BA21-76E4-4C6C-9766-C348672BD8CD}"/>
              </a:ext>
            </a:extLst>
          </p:cNvPr>
          <p:cNvCxnSpPr>
            <a:cxnSpLocks/>
          </p:cNvCxnSpPr>
          <p:nvPr/>
        </p:nvCxnSpPr>
        <p:spPr>
          <a:xfrm flipH="1" flipV="1">
            <a:off x="4648200" y="3429000"/>
            <a:ext cx="2057400" cy="1600200"/>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A3FCEB4-4829-402D-90F6-84A10F8B404F}"/>
              </a:ext>
            </a:extLst>
          </p:cNvPr>
          <p:cNvCxnSpPr>
            <a:cxnSpLocks/>
          </p:cNvCxnSpPr>
          <p:nvPr/>
        </p:nvCxnSpPr>
        <p:spPr>
          <a:xfrm flipV="1">
            <a:off x="7162800" y="3505200"/>
            <a:ext cx="1828800" cy="1524000"/>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Rounded Rectangle 26" descr=" 27">
            <a:extLst>
              <a:ext uri="{FF2B5EF4-FFF2-40B4-BE49-F238E27FC236}">
                <a16:creationId xmlns:a16="http://schemas.microsoft.com/office/drawing/2014/main" id="{38B91264-F153-4B57-A6AC-43331971E68C}"/>
              </a:ext>
            </a:extLst>
          </p:cNvPr>
          <p:cNvSpPr/>
          <p:nvPr>
            <p:custDataLst>
              <p:tags r:id="rId4"/>
            </p:custDataLst>
          </p:nvPr>
        </p:nvSpPr>
        <p:spPr>
          <a:xfrm>
            <a:off x="4800601" y="1329153"/>
            <a:ext cx="4191000" cy="1421883"/>
          </a:xfrm>
          <a:prstGeom prst="round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800" b="1" dirty="0">
                <a:solidFill>
                  <a:schemeClr val="tx1"/>
                </a:solidFill>
              </a:rPr>
              <a:t>main memory (off-chip DRAM)</a:t>
            </a:r>
          </a:p>
        </p:txBody>
      </p:sp>
      <p:cxnSp>
        <p:nvCxnSpPr>
          <p:cNvPr id="13" name="Straight Connector 12" descr=" 28">
            <a:extLst>
              <a:ext uri="{FF2B5EF4-FFF2-40B4-BE49-F238E27FC236}">
                <a16:creationId xmlns:a16="http://schemas.microsoft.com/office/drawing/2014/main" id="{210E6152-E3C7-46B3-9448-D7806EB681A8}"/>
              </a:ext>
            </a:extLst>
          </p:cNvPr>
          <p:cNvCxnSpPr>
            <a:cxnSpLocks/>
          </p:cNvCxnSpPr>
          <p:nvPr/>
        </p:nvCxnSpPr>
        <p:spPr>
          <a:xfrm>
            <a:off x="6920537" y="2751036"/>
            <a:ext cx="0" cy="822960"/>
          </a:xfrm>
          <a:prstGeom prst="line">
            <a:avLst/>
          </a:prstGeom>
          <a:ln w="2540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4" name="Rounded Rectangle 18" descr=" 9">
            <a:extLst>
              <a:ext uri="{FF2B5EF4-FFF2-40B4-BE49-F238E27FC236}">
                <a16:creationId xmlns:a16="http://schemas.microsoft.com/office/drawing/2014/main" id="{E3F2EFDA-B757-43E4-8B32-CB60B3D28497}"/>
              </a:ext>
            </a:extLst>
          </p:cNvPr>
          <p:cNvSpPr/>
          <p:nvPr>
            <p:custDataLst>
              <p:tags r:id="rId5"/>
            </p:custDataLst>
          </p:nvPr>
        </p:nvSpPr>
        <p:spPr>
          <a:xfrm>
            <a:off x="5663241" y="3581400"/>
            <a:ext cx="2490159" cy="609600"/>
          </a:xfrm>
          <a:prstGeom prst="round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800" b="1" dirty="0">
                <a:solidFill>
                  <a:schemeClr val="tx1"/>
                </a:solidFill>
              </a:rPr>
              <a:t>cache (on-chip SRAM)</a:t>
            </a:r>
          </a:p>
        </p:txBody>
      </p:sp>
      <p:sp>
        <p:nvSpPr>
          <p:cNvPr id="17" name="Rectangle 3">
            <a:extLst>
              <a:ext uri="{FF2B5EF4-FFF2-40B4-BE49-F238E27FC236}">
                <a16:creationId xmlns:a16="http://schemas.microsoft.com/office/drawing/2014/main" id="{34174BA9-66EF-4319-901D-75D775446A0F}"/>
              </a:ext>
            </a:extLst>
          </p:cNvPr>
          <p:cNvSpPr>
            <a:spLocks noGrp="1" noChangeArrowheads="1"/>
          </p:cNvSpPr>
          <p:nvPr>
            <p:ph idx="1"/>
            <p:custDataLst>
              <p:tags r:id="rId6"/>
            </p:custDataLst>
          </p:nvPr>
        </p:nvSpPr>
        <p:spPr>
          <a:xfrm>
            <a:off x="457201" y="1371600"/>
            <a:ext cx="4392272" cy="2819400"/>
          </a:xfrm>
        </p:spPr>
        <p:txBody>
          <a:bodyPr/>
          <a:lstStyle/>
          <a:p>
            <a:pPr marL="0" indent="0" eaLnBrk="1" hangingPunct="1">
              <a:buNone/>
            </a:pPr>
            <a:r>
              <a:rPr lang="en-US" altLang="en-US" sz="2400" i="1" dirty="0"/>
              <a:t>Cache</a:t>
            </a:r>
            <a:r>
              <a:rPr lang="en-US" altLang="en-US" sz="2400" dirty="0"/>
              <a:t> holds recently accessed multi-byte (e.g., 64B) </a:t>
            </a:r>
            <a:r>
              <a:rPr lang="en-US" altLang="en-US" sz="2400" i="1" dirty="0"/>
              <a:t>blocks</a:t>
            </a:r>
            <a:r>
              <a:rPr lang="en-US" altLang="en-US" sz="2400" dirty="0"/>
              <a:t> from memory for faster access</a:t>
            </a:r>
          </a:p>
          <a:p>
            <a:pPr eaLnBrk="1" hangingPunct="1"/>
            <a:r>
              <a:rPr lang="en-US" altLang="en-US" sz="2000" dirty="0"/>
              <a:t>Leverages </a:t>
            </a:r>
            <a:r>
              <a:rPr lang="en-US" altLang="en-US" sz="2000" i="1" dirty="0"/>
              <a:t>reuse</a:t>
            </a:r>
          </a:p>
          <a:p>
            <a:pPr eaLnBrk="1" hangingPunct="1"/>
            <a:r>
              <a:rPr lang="en-US" altLang="en-US" sz="2000" dirty="0"/>
              <a:t>Cache </a:t>
            </a:r>
            <a:r>
              <a:rPr lang="en-US" altLang="en-US" sz="2000" i="1" dirty="0"/>
              <a:t>miss</a:t>
            </a:r>
            <a:r>
              <a:rPr lang="en-US" altLang="en-US" sz="2000" dirty="0"/>
              <a:t>, if not in cache, else </a:t>
            </a:r>
            <a:r>
              <a:rPr lang="en-US" altLang="en-US" sz="2000" i="1" dirty="0"/>
              <a:t>hit</a:t>
            </a:r>
          </a:p>
        </p:txBody>
      </p:sp>
      <p:sp>
        <p:nvSpPr>
          <p:cNvPr id="12" name="TextBox 11">
            <a:extLst>
              <a:ext uri="{FF2B5EF4-FFF2-40B4-BE49-F238E27FC236}">
                <a16:creationId xmlns:a16="http://schemas.microsoft.com/office/drawing/2014/main" id="{30142E18-882D-467A-8A9A-928C63A5672C}"/>
              </a:ext>
            </a:extLst>
          </p:cNvPr>
          <p:cNvSpPr txBox="1"/>
          <p:nvPr>
            <p:custDataLst>
              <p:tags r:id="rId7"/>
            </p:custDataLst>
          </p:nvPr>
        </p:nvSpPr>
        <p:spPr>
          <a:xfrm>
            <a:off x="6180629" y="4158883"/>
            <a:ext cx="1507143" cy="338554"/>
          </a:xfrm>
          <a:prstGeom prst="rect">
            <a:avLst/>
          </a:prstGeom>
          <a:noFill/>
        </p:spPr>
        <p:txBody>
          <a:bodyPr wrap="none" rtlCol="0">
            <a:spAutoFit/>
          </a:bodyPr>
          <a:lstStyle/>
          <a:p>
            <a:pPr algn="ctr"/>
            <a:r>
              <a:rPr lang="en-US" sz="1600" b="1" dirty="0">
                <a:solidFill>
                  <a:schemeClr val="accent6">
                    <a:lumMod val="75000"/>
                  </a:schemeClr>
                </a:solidFill>
                <a:latin typeface="+mn-lt"/>
              </a:rPr>
              <a:t>(1) </a:t>
            </a:r>
            <a:r>
              <a:rPr lang="en-US" sz="1600" b="1" dirty="0" err="1">
                <a:solidFill>
                  <a:schemeClr val="accent6">
                    <a:lumMod val="75000"/>
                  </a:schemeClr>
                </a:solidFill>
                <a:latin typeface="+mn-lt"/>
              </a:rPr>
              <a:t>lw</a:t>
            </a:r>
            <a:r>
              <a:rPr lang="en-US" sz="1600" b="1" dirty="0">
                <a:solidFill>
                  <a:schemeClr val="accent6">
                    <a:lumMod val="75000"/>
                  </a:schemeClr>
                </a:solidFill>
                <a:latin typeface="+mn-lt"/>
              </a:rPr>
              <a:t> $t0, 4000</a:t>
            </a:r>
          </a:p>
        </p:txBody>
      </p:sp>
      <p:sp>
        <p:nvSpPr>
          <p:cNvPr id="16" name="TextBox 15">
            <a:extLst>
              <a:ext uri="{FF2B5EF4-FFF2-40B4-BE49-F238E27FC236}">
                <a16:creationId xmlns:a16="http://schemas.microsoft.com/office/drawing/2014/main" id="{AEA666E4-3EF4-4036-AFF6-E208AC190888}"/>
              </a:ext>
            </a:extLst>
          </p:cNvPr>
          <p:cNvSpPr txBox="1"/>
          <p:nvPr>
            <p:custDataLst>
              <p:tags r:id="rId8"/>
            </p:custDataLst>
          </p:nvPr>
        </p:nvSpPr>
        <p:spPr>
          <a:xfrm>
            <a:off x="5280759" y="2136656"/>
            <a:ext cx="3255122" cy="584775"/>
          </a:xfrm>
          <a:prstGeom prst="rect">
            <a:avLst/>
          </a:prstGeom>
          <a:noFill/>
        </p:spPr>
        <p:txBody>
          <a:bodyPr wrap="none" rtlCol="0">
            <a:spAutoFit/>
          </a:bodyPr>
          <a:lstStyle/>
          <a:p>
            <a:pPr algn="ctr"/>
            <a:r>
              <a:rPr lang="en-US" sz="1600" b="1" dirty="0">
                <a:solidFill>
                  <a:schemeClr val="accent6">
                    <a:lumMod val="75000"/>
                  </a:schemeClr>
                </a:solidFill>
                <a:latin typeface="+mn-lt"/>
              </a:rPr>
              <a:t>(3) if not in cache, fetch (4000-4063)</a:t>
            </a:r>
          </a:p>
          <a:p>
            <a:pPr algn="ctr"/>
            <a:r>
              <a:rPr lang="en-US" sz="1600" b="1" dirty="0">
                <a:solidFill>
                  <a:schemeClr val="accent6">
                    <a:lumMod val="75000"/>
                  </a:schemeClr>
                </a:solidFill>
                <a:latin typeface="+mn-lt"/>
              </a:rPr>
              <a:t>from memory into cache</a:t>
            </a:r>
          </a:p>
        </p:txBody>
      </p:sp>
      <p:sp>
        <p:nvSpPr>
          <p:cNvPr id="18" name="TextBox 17">
            <a:extLst>
              <a:ext uri="{FF2B5EF4-FFF2-40B4-BE49-F238E27FC236}">
                <a16:creationId xmlns:a16="http://schemas.microsoft.com/office/drawing/2014/main" id="{6770DB45-74CB-464F-B9D8-96EDCEE7403B}"/>
              </a:ext>
            </a:extLst>
          </p:cNvPr>
          <p:cNvSpPr txBox="1"/>
          <p:nvPr>
            <p:custDataLst>
              <p:tags r:id="rId9"/>
            </p:custDataLst>
          </p:nvPr>
        </p:nvSpPr>
        <p:spPr>
          <a:xfrm>
            <a:off x="2590800" y="3429000"/>
            <a:ext cx="2046843" cy="338554"/>
          </a:xfrm>
          <a:prstGeom prst="rect">
            <a:avLst/>
          </a:prstGeom>
          <a:noFill/>
        </p:spPr>
        <p:txBody>
          <a:bodyPr wrap="none" rtlCol="0">
            <a:spAutoFit/>
          </a:bodyPr>
          <a:lstStyle/>
          <a:p>
            <a:r>
              <a:rPr lang="en-US" sz="1600" b="1" dirty="0">
                <a:solidFill>
                  <a:schemeClr val="accent6">
                    <a:lumMod val="75000"/>
                  </a:schemeClr>
                </a:solidFill>
                <a:latin typeface="+mn-lt"/>
              </a:rPr>
              <a:t>(2) cache lookup 4000</a:t>
            </a:r>
          </a:p>
        </p:txBody>
      </p:sp>
      <p:sp>
        <p:nvSpPr>
          <p:cNvPr id="19" name="TextBox 18">
            <a:extLst>
              <a:ext uri="{FF2B5EF4-FFF2-40B4-BE49-F238E27FC236}">
                <a16:creationId xmlns:a16="http://schemas.microsoft.com/office/drawing/2014/main" id="{5AFF4373-B0D7-4EEE-AC9D-482FBDCF3732}"/>
              </a:ext>
            </a:extLst>
          </p:cNvPr>
          <p:cNvSpPr txBox="1"/>
          <p:nvPr>
            <p:custDataLst>
              <p:tags r:id="rId10"/>
            </p:custDataLst>
          </p:nvPr>
        </p:nvSpPr>
        <p:spPr>
          <a:xfrm>
            <a:off x="7543800" y="4867327"/>
            <a:ext cx="1617751" cy="338554"/>
          </a:xfrm>
          <a:prstGeom prst="rect">
            <a:avLst/>
          </a:prstGeom>
          <a:noFill/>
        </p:spPr>
        <p:txBody>
          <a:bodyPr wrap="none" rtlCol="0">
            <a:spAutoFit/>
          </a:bodyPr>
          <a:lstStyle/>
          <a:p>
            <a:pPr algn="ctr"/>
            <a:r>
              <a:rPr lang="en-US" sz="1600" b="1" dirty="0">
                <a:solidFill>
                  <a:schemeClr val="accent6">
                    <a:lumMod val="75000"/>
                  </a:schemeClr>
                </a:solidFill>
                <a:latin typeface="+mn-lt"/>
              </a:rPr>
              <a:t>(4) [$t0] = (4000)</a:t>
            </a:r>
          </a:p>
        </p:txBody>
      </p:sp>
    </p:spTree>
    <p:custDataLst>
      <p:tags r:id="rId1"/>
    </p:custDataLst>
    <p:extLst>
      <p:ext uri="{BB962C8B-B14F-4D97-AF65-F5344CB8AC3E}">
        <p14:creationId xmlns:p14="http://schemas.microsoft.com/office/powerpoint/2010/main" val="15487207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8"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dirty="0"/>
              <a:t>Memory Hierarchy</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4</a:t>
            </a:fld>
            <a:endParaRPr lang="en-US" altLang="en-US" sz="1400"/>
          </a:p>
        </p:txBody>
      </p:sp>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71563" y="3977481"/>
            <a:ext cx="7000875" cy="2465766"/>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0068BA21-76E4-4C6C-9766-C348672BD8CD}"/>
              </a:ext>
            </a:extLst>
          </p:cNvPr>
          <p:cNvCxnSpPr>
            <a:cxnSpLocks/>
          </p:cNvCxnSpPr>
          <p:nvPr/>
        </p:nvCxnSpPr>
        <p:spPr>
          <a:xfrm flipH="1" flipV="1">
            <a:off x="4648200" y="3429000"/>
            <a:ext cx="2057400" cy="1600200"/>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A3FCEB4-4829-402D-90F6-84A10F8B404F}"/>
              </a:ext>
            </a:extLst>
          </p:cNvPr>
          <p:cNvCxnSpPr>
            <a:cxnSpLocks/>
          </p:cNvCxnSpPr>
          <p:nvPr/>
        </p:nvCxnSpPr>
        <p:spPr>
          <a:xfrm flipV="1">
            <a:off x="7162800" y="3505200"/>
            <a:ext cx="1828800" cy="1524000"/>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Rounded Rectangle 26" descr=" 27">
            <a:extLst>
              <a:ext uri="{FF2B5EF4-FFF2-40B4-BE49-F238E27FC236}">
                <a16:creationId xmlns:a16="http://schemas.microsoft.com/office/drawing/2014/main" id="{38B91264-F153-4B57-A6AC-43331971E68C}"/>
              </a:ext>
            </a:extLst>
          </p:cNvPr>
          <p:cNvSpPr/>
          <p:nvPr>
            <p:custDataLst>
              <p:tags r:id="rId4"/>
            </p:custDataLst>
          </p:nvPr>
        </p:nvSpPr>
        <p:spPr>
          <a:xfrm>
            <a:off x="4800601" y="1329153"/>
            <a:ext cx="4191000" cy="1421883"/>
          </a:xfrm>
          <a:prstGeom prst="round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800" b="1" dirty="0">
                <a:solidFill>
                  <a:schemeClr val="tx1"/>
                </a:solidFill>
              </a:rPr>
              <a:t>main memory (off-chip DRAM)</a:t>
            </a:r>
          </a:p>
        </p:txBody>
      </p:sp>
      <p:cxnSp>
        <p:nvCxnSpPr>
          <p:cNvPr id="13" name="Straight Connector 12" descr=" 28">
            <a:extLst>
              <a:ext uri="{FF2B5EF4-FFF2-40B4-BE49-F238E27FC236}">
                <a16:creationId xmlns:a16="http://schemas.microsoft.com/office/drawing/2014/main" id="{210E6152-E3C7-46B3-9448-D7806EB681A8}"/>
              </a:ext>
            </a:extLst>
          </p:cNvPr>
          <p:cNvCxnSpPr>
            <a:cxnSpLocks/>
          </p:cNvCxnSpPr>
          <p:nvPr/>
        </p:nvCxnSpPr>
        <p:spPr>
          <a:xfrm>
            <a:off x="6920537" y="2751036"/>
            <a:ext cx="0" cy="822960"/>
          </a:xfrm>
          <a:prstGeom prst="line">
            <a:avLst/>
          </a:prstGeom>
          <a:ln w="2540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4" name="Rounded Rectangle 18" descr=" 9">
            <a:extLst>
              <a:ext uri="{FF2B5EF4-FFF2-40B4-BE49-F238E27FC236}">
                <a16:creationId xmlns:a16="http://schemas.microsoft.com/office/drawing/2014/main" id="{E3F2EFDA-B757-43E4-8B32-CB60B3D28497}"/>
              </a:ext>
            </a:extLst>
          </p:cNvPr>
          <p:cNvSpPr/>
          <p:nvPr>
            <p:custDataLst>
              <p:tags r:id="rId5"/>
            </p:custDataLst>
          </p:nvPr>
        </p:nvSpPr>
        <p:spPr>
          <a:xfrm>
            <a:off x="5663241" y="3581400"/>
            <a:ext cx="2490159" cy="609600"/>
          </a:xfrm>
          <a:prstGeom prst="round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800" b="1" dirty="0">
                <a:solidFill>
                  <a:schemeClr val="tx1"/>
                </a:solidFill>
              </a:rPr>
              <a:t>cache (on-chip SRAM)</a:t>
            </a:r>
          </a:p>
        </p:txBody>
      </p:sp>
      <p:sp>
        <p:nvSpPr>
          <p:cNvPr id="17" name="Rectangle 3">
            <a:extLst>
              <a:ext uri="{FF2B5EF4-FFF2-40B4-BE49-F238E27FC236}">
                <a16:creationId xmlns:a16="http://schemas.microsoft.com/office/drawing/2014/main" id="{34174BA9-66EF-4319-901D-75D775446A0F}"/>
              </a:ext>
            </a:extLst>
          </p:cNvPr>
          <p:cNvSpPr>
            <a:spLocks noGrp="1" noChangeArrowheads="1"/>
          </p:cNvSpPr>
          <p:nvPr>
            <p:ph idx="1"/>
            <p:custDataLst>
              <p:tags r:id="rId6"/>
            </p:custDataLst>
          </p:nvPr>
        </p:nvSpPr>
        <p:spPr>
          <a:xfrm>
            <a:off x="457201" y="1371600"/>
            <a:ext cx="4392272" cy="2819400"/>
          </a:xfrm>
        </p:spPr>
        <p:txBody>
          <a:bodyPr/>
          <a:lstStyle/>
          <a:p>
            <a:pPr marL="0" indent="0" eaLnBrk="1" hangingPunct="1">
              <a:buNone/>
            </a:pPr>
            <a:r>
              <a:rPr lang="en-US" altLang="en-US" sz="2400" i="1" dirty="0"/>
              <a:t>Cache</a:t>
            </a:r>
            <a:r>
              <a:rPr lang="en-US" altLang="en-US" sz="2400" dirty="0"/>
              <a:t> holds recently accessed multi-byte (e.g., 64B) </a:t>
            </a:r>
            <a:r>
              <a:rPr lang="en-US" altLang="en-US" sz="2400" i="1" dirty="0"/>
              <a:t>blocks</a:t>
            </a:r>
            <a:r>
              <a:rPr lang="en-US" altLang="en-US" sz="2400" dirty="0"/>
              <a:t> from memory for faster access</a:t>
            </a:r>
          </a:p>
          <a:p>
            <a:pPr eaLnBrk="1" hangingPunct="1"/>
            <a:r>
              <a:rPr lang="en-US" altLang="en-US" sz="2000" dirty="0"/>
              <a:t>Leverages </a:t>
            </a:r>
            <a:r>
              <a:rPr lang="en-US" altLang="en-US" sz="2000" i="1" dirty="0"/>
              <a:t>reuse</a:t>
            </a:r>
          </a:p>
          <a:p>
            <a:pPr eaLnBrk="1" hangingPunct="1"/>
            <a:r>
              <a:rPr lang="en-US" altLang="en-US" sz="2000" dirty="0"/>
              <a:t>Cache </a:t>
            </a:r>
            <a:r>
              <a:rPr lang="en-US" altLang="en-US" sz="2000" i="1" dirty="0"/>
              <a:t>miss</a:t>
            </a:r>
            <a:r>
              <a:rPr lang="en-US" altLang="en-US" sz="2000" dirty="0"/>
              <a:t>, if not in cache, else </a:t>
            </a:r>
            <a:r>
              <a:rPr lang="en-US" altLang="en-US" sz="2000" i="1" dirty="0"/>
              <a:t>hit</a:t>
            </a:r>
          </a:p>
        </p:txBody>
      </p:sp>
      <p:sp>
        <p:nvSpPr>
          <p:cNvPr id="12" name="TextBox 11">
            <a:extLst>
              <a:ext uri="{FF2B5EF4-FFF2-40B4-BE49-F238E27FC236}">
                <a16:creationId xmlns:a16="http://schemas.microsoft.com/office/drawing/2014/main" id="{30142E18-882D-467A-8A9A-928C63A5672C}"/>
              </a:ext>
            </a:extLst>
          </p:cNvPr>
          <p:cNvSpPr txBox="1"/>
          <p:nvPr>
            <p:custDataLst>
              <p:tags r:id="rId7"/>
            </p:custDataLst>
          </p:nvPr>
        </p:nvSpPr>
        <p:spPr>
          <a:xfrm>
            <a:off x="6189056" y="4157246"/>
            <a:ext cx="1507144" cy="338554"/>
          </a:xfrm>
          <a:prstGeom prst="rect">
            <a:avLst/>
          </a:prstGeom>
          <a:noFill/>
        </p:spPr>
        <p:txBody>
          <a:bodyPr wrap="none" rtlCol="0">
            <a:spAutoFit/>
          </a:bodyPr>
          <a:lstStyle/>
          <a:p>
            <a:pPr algn="ctr"/>
            <a:r>
              <a:rPr lang="en-US" sz="1600" b="1" dirty="0">
                <a:solidFill>
                  <a:schemeClr val="accent6">
                    <a:lumMod val="75000"/>
                  </a:schemeClr>
                </a:solidFill>
                <a:latin typeface="+mn-lt"/>
              </a:rPr>
              <a:t>(1) </a:t>
            </a:r>
            <a:r>
              <a:rPr lang="en-US" sz="1600" b="1" dirty="0" err="1">
                <a:solidFill>
                  <a:schemeClr val="accent6">
                    <a:lumMod val="75000"/>
                  </a:schemeClr>
                </a:solidFill>
                <a:latin typeface="+mn-lt"/>
              </a:rPr>
              <a:t>lw</a:t>
            </a:r>
            <a:r>
              <a:rPr lang="en-US" sz="1600" b="1" dirty="0">
                <a:solidFill>
                  <a:schemeClr val="accent6">
                    <a:lumMod val="75000"/>
                  </a:schemeClr>
                </a:solidFill>
                <a:latin typeface="+mn-lt"/>
              </a:rPr>
              <a:t> $t1, 4032</a:t>
            </a:r>
          </a:p>
        </p:txBody>
      </p:sp>
      <p:sp>
        <p:nvSpPr>
          <p:cNvPr id="15" name="TextBox 14">
            <a:extLst>
              <a:ext uri="{FF2B5EF4-FFF2-40B4-BE49-F238E27FC236}">
                <a16:creationId xmlns:a16="http://schemas.microsoft.com/office/drawing/2014/main" id="{C91CEC33-9C61-4263-B6A3-E1FA406A6B9B}"/>
              </a:ext>
            </a:extLst>
          </p:cNvPr>
          <p:cNvSpPr txBox="1"/>
          <p:nvPr>
            <p:custDataLst>
              <p:tags r:id="rId8"/>
            </p:custDataLst>
          </p:nvPr>
        </p:nvSpPr>
        <p:spPr>
          <a:xfrm>
            <a:off x="2590800" y="3651864"/>
            <a:ext cx="2377061" cy="338554"/>
          </a:xfrm>
          <a:prstGeom prst="rect">
            <a:avLst/>
          </a:prstGeom>
          <a:noFill/>
        </p:spPr>
        <p:txBody>
          <a:bodyPr wrap="none" rtlCol="0">
            <a:spAutoFit/>
          </a:bodyPr>
          <a:lstStyle/>
          <a:p>
            <a:r>
              <a:rPr lang="en-US" sz="1600" b="1" dirty="0">
                <a:solidFill>
                  <a:schemeClr val="accent6">
                    <a:lumMod val="75000"/>
                  </a:schemeClr>
                </a:solidFill>
                <a:latin typeface="+mn-lt"/>
              </a:rPr>
              <a:t>(2) cache lookup 4032, hit</a:t>
            </a:r>
          </a:p>
        </p:txBody>
      </p:sp>
      <p:sp>
        <p:nvSpPr>
          <p:cNvPr id="19" name="TextBox 18">
            <a:extLst>
              <a:ext uri="{FF2B5EF4-FFF2-40B4-BE49-F238E27FC236}">
                <a16:creationId xmlns:a16="http://schemas.microsoft.com/office/drawing/2014/main" id="{5AFF4373-B0D7-4EEE-AC9D-482FBDCF3732}"/>
              </a:ext>
            </a:extLst>
          </p:cNvPr>
          <p:cNvSpPr txBox="1"/>
          <p:nvPr>
            <p:custDataLst>
              <p:tags r:id="rId9"/>
            </p:custDataLst>
          </p:nvPr>
        </p:nvSpPr>
        <p:spPr>
          <a:xfrm>
            <a:off x="7543800" y="4867327"/>
            <a:ext cx="1617751" cy="338554"/>
          </a:xfrm>
          <a:prstGeom prst="rect">
            <a:avLst/>
          </a:prstGeom>
          <a:noFill/>
        </p:spPr>
        <p:txBody>
          <a:bodyPr wrap="none" rtlCol="0">
            <a:spAutoFit/>
          </a:bodyPr>
          <a:lstStyle/>
          <a:p>
            <a:pPr algn="ctr"/>
            <a:r>
              <a:rPr lang="en-US" sz="1600" b="1" dirty="0">
                <a:solidFill>
                  <a:schemeClr val="accent6">
                    <a:lumMod val="75000"/>
                  </a:schemeClr>
                </a:solidFill>
                <a:latin typeface="+mn-lt"/>
              </a:rPr>
              <a:t>(3) [$t1] = (4032)</a:t>
            </a:r>
          </a:p>
        </p:txBody>
      </p:sp>
    </p:spTree>
    <p:custDataLst>
      <p:tags r:id="rId1"/>
    </p:custDataLst>
    <p:extLst>
      <p:ext uri="{BB962C8B-B14F-4D97-AF65-F5344CB8AC3E}">
        <p14:creationId xmlns:p14="http://schemas.microsoft.com/office/powerpoint/2010/main" val="3769751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Caches – Placement</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5</a:t>
            </a:fld>
            <a:endParaRPr lang="en-US" altLang="en-US"/>
          </a:p>
        </p:txBody>
      </p:sp>
      <p:sp>
        <p:nvSpPr>
          <p:cNvPr id="5" name="TextBox 4">
            <a:extLst>
              <a:ext uri="{FF2B5EF4-FFF2-40B4-BE49-F238E27FC236}">
                <a16:creationId xmlns:a16="http://schemas.microsoft.com/office/drawing/2014/main" id="{E9EC2BE8-AE6F-479F-8F9F-2279BF9DD410}"/>
              </a:ext>
            </a:extLst>
          </p:cNvPr>
          <p:cNvSpPr txBox="1"/>
          <p:nvPr>
            <p:custDataLst>
              <p:tags r:id="rId4"/>
            </p:custDataLst>
          </p:nvPr>
        </p:nvSpPr>
        <p:spPr>
          <a:xfrm>
            <a:off x="526930" y="1414732"/>
            <a:ext cx="8388470" cy="1052532"/>
          </a:xfrm>
          <a:prstGeom prst="rect">
            <a:avLst/>
          </a:prstGeom>
          <a:noFill/>
        </p:spPr>
        <p:txBody>
          <a:bodyPr wrap="square" rtlCol="0" anchor="t">
            <a:noAutofit/>
          </a:bodyPr>
          <a:lstStyle/>
          <a:p>
            <a:r>
              <a:rPr lang="en-US" sz="2800" dirty="0">
                <a:latin typeface="+mn-lt"/>
              </a:rPr>
              <a:t>Memory address = { tag, index, block offset }</a:t>
            </a:r>
          </a:p>
          <a:p>
            <a:pPr marL="457200" indent="-457200">
              <a:buFont typeface="Arial" panose="020B0604020202020204" pitchFamily="34" charset="0"/>
              <a:buChar char="•"/>
            </a:pPr>
            <a:r>
              <a:rPr lang="en-US" sz="2400" dirty="0">
                <a:latin typeface="+mn-lt"/>
              </a:rPr>
              <a:t>e.g., 256B cache capacity (can hold four 64B blocks)</a:t>
            </a:r>
            <a:endParaRPr lang="en-US" sz="2000" dirty="0">
              <a:latin typeface="+mn-lt"/>
            </a:endParaRPr>
          </a:p>
        </p:txBody>
      </p:sp>
      <p:sp>
        <p:nvSpPr>
          <p:cNvPr id="9" name="Text Box 7">
            <a:extLst>
              <a:ext uri="{FF2B5EF4-FFF2-40B4-BE49-F238E27FC236}">
                <a16:creationId xmlns:a16="http://schemas.microsoft.com/office/drawing/2014/main" id="{CB0D281A-AEB7-4BE0-BE7A-B23F84B62664}"/>
              </a:ext>
            </a:extLst>
          </p:cNvPr>
          <p:cNvSpPr txBox="1">
            <a:spLocks noChangeArrowheads="1"/>
          </p:cNvSpPr>
          <p:nvPr>
            <p:custDataLst>
              <p:tags r:id="rId5"/>
            </p:custDataLst>
          </p:nvPr>
        </p:nvSpPr>
        <p:spPr bwMode="auto">
          <a:xfrm>
            <a:off x="6233826" y="6477000"/>
            <a:ext cx="13099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dirty="0">
                <a:solidFill>
                  <a:schemeClr val="tx1"/>
                </a:solidFill>
                <a:latin typeface="Arial" panose="020B0604020202020204" pitchFamily="34" charset="0"/>
              </a:rPr>
              <a:t>data word</a:t>
            </a:r>
          </a:p>
        </p:txBody>
      </p:sp>
      <p:sp>
        <p:nvSpPr>
          <p:cNvPr id="10" name="Freeform 8">
            <a:extLst>
              <a:ext uri="{FF2B5EF4-FFF2-40B4-BE49-F238E27FC236}">
                <a16:creationId xmlns:a16="http://schemas.microsoft.com/office/drawing/2014/main" id="{6631B068-328E-45A7-B915-D8DBE153E173}"/>
              </a:ext>
            </a:extLst>
          </p:cNvPr>
          <p:cNvSpPr>
            <a:spLocks/>
          </p:cNvSpPr>
          <p:nvPr>
            <p:custDataLst>
              <p:tags r:id="rId6"/>
            </p:custDataLst>
          </p:nvPr>
        </p:nvSpPr>
        <p:spPr bwMode="auto">
          <a:xfrm>
            <a:off x="6553200" y="5759450"/>
            <a:ext cx="609600" cy="304800"/>
          </a:xfrm>
          <a:custGeom>
            <a:avLst/>
            <a:gdLst>
              <a:gd name="T0" fmla="*/ 2147483646 w 384"/>
              <a:gd name="T1" fmla="*/ 0 h 192"/>
              <a:gd name="T2" fmla="*/ 0 w 384"/>
              <a:gd name="T3" fmla="*/ 2147483646 h 192"/>
              <a:gd name="T4" fmla="*/ 2147483646 w 384"/>
              <a:gd name="T5" fmla="*/ 2147483646 h 192"/>
              <a:gd name="T6" fmla="*/ 2147483646 w 384"/>
              <a:gd name="T7" fmla="*/ 0 h 192"/>
              <a:gd name="T8" fmla="*/ 2147483646 w 384"/>
              <a:gd name="T9" fmla="*/ 0 h 192"/>
              <a:gd name="T10" fmla="*/ 0 60000 65536"/>
              <a:gd name="T11" fmla="*/ 0 60000 65536"/>
              <a:gd name="T12" fmla="*/ 0 60000 65536"/>
              <a:gd name="T13" fmla="*/ 0 60000 65536"/>
              <a:gd name="T14" fmla="*/ 0 60000 65536"/>
              <a:gd name="T15" fmla="*/ 0 w 384"/>
              <a:gd name="T16" fmla="*/ 0 h 192"/>
              <a:gd name="T17" fmla="*/ 384 w 384"/>
              <a:gd name="T18" fmla="*/ 192 h 192"/>
            </a:gdLst>
            <a:ahLst/>
            <a:cxnLst>
              <a:cxn ang="T10">
                <a:pos x="T0" y="T1"/>
              </a:cxn>
              <a:cxn ang="T11">
                <a:pos x="T2" y="T3"/>
              </a:cxn>
              <a:cxn ang="T12">
                <a:pos x="T4" y="T5"/>
              </a:cxn>
              <a:cxn ang="T13">
                <a:pos x="T6" y="T7"/>
              </a:cxn>
              <a:cxn ang="T14">
                <a:pos x="T8" y="T9"/>
              </a:cxn>
            </a:cxnLst>
            <a:rect l="T15" t="T16" r="T17" b="T18"/>
            <a:pathLst>
              <a:path w="384" h="192">
                <a:moveTo>
                  <a:pt x="96" y="0"/>
                </a:moveTo>
                <a:lnTo>
                  <a:pt x="0" y="192"/>
                </a:lnTo>
                <a:lnTo>
                  <a:pt x="288" y="192"/>
                </a:lnTo>
                <a:lnTo>
                  <a:pt x="384" y="0"/>
                </a:lnTo>
                <a:lnTo>
                  <a:pt x="96" y="0"/>
                </a:lnTo>
                <a:close/>
              </a:path>
            </a:pathLst>
          </a:custGeom>
          <a:solidFill>
            <a:schemeClr val="accent5">
              <a:lumMod val="40000"/>
              <a:lumOff val="60000"/>
            </a:schemeClr>
          </a:solidFill>
          <a:ln w="28575">
            <a:solidFill>
              <a:srgbClr val="000000"/>
            </a:solidFill>
            <a:round/>
            <a:headEnd/>
            <a:tailEnd/>
          </a:ln>
        </p:spPr>
        <p:txBody>
          <a:bodyPr wrap="none" anchor="ctr"/>
          <a:lstStyle/>
          <a:p>
            <a:endParaRPr lang="en-US"/>
          </a:p>
        </p:txBody>
      </p:sp>
      <p:sp>
        <p:nvSpPr>
          <p:cNvPr id="11" name="Text Box 9">
            <a:extLst>
              <a:ext uri="{FF2B5EF4-FFF2-40B4-BE49-F238E27FC236}">
                <a16:creationId xmlns:a16="http://schemas.microsoft.com/office/drawing/2014/main" id="{457C09B0-0177-47AC-8258-D03BE8076724}"/>
              </a:ext>
            </a:extLst>
          </p:cNvPr>
          <p:cNvSpPr txBox="1">
            <a:spLocks noChangeArrowheads="1"/>
          </p:cNvSpPr>
          <p:nvPr>
            <p:custDataLst>
              <p:tags r:id="rId7"/>
            </p:custDataLst>
          </p:nvPr>
        </p:nvSpPr>
        <p:spPr bwMode="auto">
          <a:xfrm>
            <a:off x="6615113" y="5729288"/>
            <a:ext cx="481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dirty="0">
                <a:solidFill>
                  <a:srgbClr val="000000"/>
                </a:solidFill>
                <a:latin typeface="Arial" panose="020B0604020202020204" pitchFamily="34" charset="0"/>
              </a:rPr>
              <a:t>&lt;&lt;</a:t>
            </a:r>
            <a:endParaRPr lang="en-US" altLang="en-US" sz="1800" dirty="0">
              <a:solidFill>
                <a:srgbClr val="000000"/>
              </a:solidFill>
              <a:latin typeface="Arial" panose="020B0604020202020204" pitchFamily="34" charset="0"/>
            </a:endParaRPr>
          </a:p>
        </p:txBody>
      </p:sp>
      <p:sp>
        <p:nvSpPr>
          <p:cNvPr id="12" name="Line 10">
            <a:extLst>
              <a:ext uri="{FF2B5EF4-FFF2-40B4-BE49-F238E27FC236}">
                <a16:creationId xmlns:a16="http://schemas.microsoft.com/office/drawing/2014/main" id="{A2483CB9-1089-4775-A921-5CD0CBA72118}"/>
              </a:ext>
            </a:extLst>
          </p:cNvPr>
          <p:cNvSpPr>
            <a:spLocks noChangeShapeType="1"/>
          </p:cNvSpPr>
          <p:nvPr>
            <p:custDataLst>
              <p:tags r:id="rId8"/>
            </p:custDataLst>
          </p:nvPr>
        </p:nvSpPr>
        <p:spPr bwMode="auto">
          <a:xfrm>
            <a:off x="6865938" y="6080125"/>
            <a:ext cx="0" cy="51752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1">
            <a:extLst>
              <a:ext uri="{FF2B5EF4-FFF2-40B4-BE49-F238E27FC236}">
                <a16:creationId xmlns:a16="http://schemas.microsoft.com/office/drawing/2014/main" id="{38DAF782-9B2D-4275-BB1D-25D5126C522B}"/>
              </a:ext>
            </a:extLst>
          </p:cNvPr>
          <p:cNvSpPr>
            <a:spLocks noChangeShapeType="1"/>
          </p:cNvSpPr>
          <p:nvPr>
            <p:custDataLst>
              <p:tags r:id="rId9"/>
            </p:custDataLst>
          </p:nvPr>
        </p:nvSpPr>
        <p:spPr bwMode="auto">
          <a:xfrm flipV="1">
            <a:off x="1143000" y="5927725"/>
            <a:ext cx="5472113" cy="0"/>
          </a:xfrm>
          <a:prstGeom prst="line">
            <a:avLst/>
          </a:prstGeom>
          <a:noFill/>
          <a:ln w="28575">
            <a:solidFill>
              <a:srgbClr val="000000"/>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 name="Rectangle 17">
            <a:extLst>
              <a:ext uri="{FF2B5EF4-FFF2-40B4-BE49-F238E27FC236}">
                <a16:creationId xmlns:a16="http://schemas.microsoft.com/office/drawing/2014/main" id="{FDA0860A-29B0-45EF-8C02-A4BF6197CAF8}"/>
              </a:ext>
            </a:extLst>
          </p:cNvPr>
          <p:cNvSpPr>
            <a:spLocks noChangeArrowheads="1"/>
          </p:cNvSpPr>
          <p:nvPr>
            <p:custDataLst>
              <p:tags r:id="rId10"/>
            </p:custDataLst>
          </p:nvPr>
        </p:nvSpPr>
        <p:spPr bwMode="auto">
          <a:xfrm>
            <a:off x="5638799" y="34734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400">
              <a:solidFill>
                <a:srgbClr val="000000"/>
              </a:solidFill>
              <a:latin typeface="Arial" panose="020B0604020202020204" pitchFamily="34" charset="0"/>
            </a:endParaRPr>
          </a:p>
        </p:txBody>
      </p:sp>
      <p:sp>
        <p:nvSpPr>
          <p:cNvPr id="19" name="Rectangle 18">
            <a:extLst>
              <a:ext uri="{FF2B5EF4-FFF2-40B4-BE49-F238E27FC236}">
                <a16:creationId xmlns:a16="http://schemas.microsoft.com/office/drawing/2014/main" id="{809F360C-5AE0-42BA-AEEC-90E40B682ED8}"/>
              </a:ext>
            </a:extLst>
          </p:cNvPr>
          <p:cNvSpPr>
            <a:spLocks noChangeArrowheads="1"/>
          </p:cNvSpPr>
          <p:nvPr>
            <p:custDataLst>
              <p:tags r:id="rId11"/>
            </p:custDataLst>
          </p:nvPr>
        </p:nvSpPr>
        <p:spPr bwMode="auto">
          <a:xfrm>
            <a:off x="5638799" y="37782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b="1" dirty="0">
              <a:solidFill>
                <a:srgbClr val="000000"/>
              </a:solidFill>
              <a:latin typeface="Arial" panose="020B0604020202020204" pitchFamily="34" charset="0"/>
            </a:endParaRPr>
          </a:p>
        </p:txBody>
      </p:sp>
      <p:sp>
        <p:nvSpPr>
          <p:cNvPr id="20" name="Rectangle 19">
            <a:extLst>
              <a:ext uri="{FF2B5EF4-FFF2-40B4-BE49-F238E27FC236}">
                <a16:creationId xmlns:a16="http://schemas.microsoft.com/office/drawing/2014/main" id="{C292BE68-3505-42DE-B209-FAEE1C8C0D79}"/>
              </a:ext>
            </a:extLst>
          </p:cNvPr>
          <p:cNvSpPr>
            <a:spLocks noChangeArrowheads="1"/>
          </p:cNvSpPr>
          <p:nvPr>
            <p:custDataLst>
              <p:tags r:id="rId12"/>
            </p:custDataLst>
          </p:nvPr>
        </p:nvSpPr>
        <p:spPr bwMode="auto">
          <a:xfrm>
            <a:off x="5638799" y="43878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400">
              <a:solidFill>
                <a:srgbClr val="000000"/>
              </a:solidFill>
              <a:latin typeface="Arial" panose="020B0604020202020204" pitchFamily="34" charset="0"/>
            </a:endParaRPr>
          </a:p>
        </p:txBody>
      </p:sp>
      <p:sp>
        <p:nvSpPr>
          <p:cNvPr id="21" name="Rectangle 20">
            <a:extLst>
              <a:ext uri="{FF2B5EF4-FFF2-40B4-BE49-F238E27FC236}">
                <a16:creationId xmlns:a16="http://schemas.microsoft.com/office/drawing/2014/main" id="{8377E898-036A-4695-81A7-8D8515E971C6}"/>
              </a:ext>
            </a:extLst>
          </p:cNvPr>
          <p:cNvSpPr>
            <a:spLocks noChangeArrowheads="1"/>
          </p:cNvSpPr>
          <p:nvPr>
            <p:custDataLst>
              <p:tags r:id="rId13"/>
            </p:custDataLst>
          </p:nvPr>
        </p:nvSpPr>
        <p:spPr bwMode="auto">
          <a:xfrm>
            <a:off x="5638799" y="40830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a:solidFill>
                <a:srgbClr val="000000"/>
              </a:solidFill>
              <a:latin typeface="Arial" panose="020B0604020202020204" pitchFamily="34" charset="0"/>
            </a:endParaRPr>
          </a:p>
        </p:txBody>
      </p:sp>
      <p:sp>
        <p:nvSpPr>
          <p:cNvPr id="22" name="Rectangle 21">
            <a:extLst>
              <a:ext uri="{FF2B5EF4-FFF2-40B4-BE49-F238E27FC236}">
                <a16:creationId xmlns:a16="http://schemas.microsoft.com/office/drawing/2014/main" id="{FC828AD5-28E8-49A2-8498-9A483299A828}"/>
              </a:ext>
            </a:extLst>
          </p:cNvPr>
          <p:cNvSpPr>
            <a:spLocks noChangeArrowheads="1"/>
          </p:cNvSpPr>
          <p:nvPr>
            <p:custDataLst>
              <p:tags r:id="rId14"/>
            </p:custDataLst>
          </p:nvPr>
        </p:nvSpPr>
        <p:spPr bwMode="auto">
          <a:xfrm>
            <a:off x="3352800" y="34734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400">
              <a:solidFill>
                <a:srgbClr val="000000"/>
              </a:solidFill>
              <a:latin typeface="Arial" panose="020B0604020202020204" pitchFamily="34" charset="0"/>
            </a:endParaRPr>
          </a:p>
        </p:txBody>
      </p:sp>
      <p:sp>
        <p:nvSpPr>
          <p:cNvPr id="23" name="Rectangle 22">
            <a:extLst>
              <a:ext uri="{FF2B5EF4-FFF2-40B4-BE49-F238E27FC236}">
                <a16:creationId xmlns:a16="http://schemas.microsoft.com/office/drawing/2014/main" id="{BEEA400F-EED3-468F-BBE1-5FB439BEDAC9}"/>
              </a:ext>
            </a:extLst>
          </p:cNvPr>
          <p:cNvSpPr>
            <a:spLocks noChangeArrowheads="1"/>
          </p:cNvSpPr>
          <p:nvPr>
            <p:custDataLst>
              <p:tags r:id="rId15"/>
            </p:custDataLst>
          </p:nvPr>
        </p:nvSpPr>
        <p:spPr bwMode="auto">
          <a:xfrm>
            <a:off x="3352800" y="37782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b="1" dirty="0">
              <a:solidFill>
                <a:srgbClr val="000000"/>
              </a:solidFill>
              <a:latin typeface="Arial" panose="020B0604020202020204" pitchFamily="34" charset="0"/>
            </a:endParaRPr>
          </a:p>
        </p:txBody>
      </p:sp>
      <p:sp>
        <p:nvSpPr>
          <p:cNvPr id="24" name="Rectangle 23">
            <a:extLst>
              <a:ext uri="{FF2B5EF4-FFF2-40B4-BE49-F238E27FC236}">
                <a16:creationId xmlns:a16="http://schemas.microsoft.com/office/drawing/2014/main" id="{1758F168-7E48-4413-AA3F-DCA1E967F5F1}"/>
              </a:ext>
            </a:extLst>
          </p:cNvPr>
          <p:cNvSpPr>
            <a:spLocks noChangeArrowheads="1"/>
          </p:cNvSpPr>
          <p:nvPr>
            <p:custDataLst>
              <p:tags r:id="rId16"/>
            </p:custDataLst>
          </p:nvPr>
        </p:nvSpPr>
        <p:spPr bwMode="auto">
          <a:xfrm>
            <a:off x="3352800" y="43878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400">
              <a:solidFill>
                <a:srgbClr val="000000"/>
              </a:solidFill>
              <a:latin typeface="Arial" panose="020B0604020202020204" pitchFamily="34" charset="0"/>
            </a:endParaRPr>
          </a:p>
        </p:txBody>
      </p:sp>
      <p:sp>
        <p:nvSpPr>
          <p:cNvPr id="25" name="Rectangle 24">
            <a:extLst>
              <a:ext uri="{FF2B5EF4-FFF2-40B4-BE49-F238E27FC236}">
                <a16:creationId xmlns:a16="http://schemas.microsoft.com/office/drawing/2014/main" id="{016C9141-6F13-409B-8A96-762011F2E9FE}"/>
              </a:ext>
            </a:extLst>
          </p:cNvPr>
          <p:cNvSpPr>
            <a:spLocks noChangeArrowheads="1"/>
          </p:cNvSpPr>
          <p:nvPr>
            <p:custDataLst>
              <p:tags r:id="rId17"/>
            </p:custDataLst>
          </p:nvPr>
        </p:nvSpPr>
        <p:spPr bwMode="auto">
          <a:xfrm>
            <a:off x="3352800" y="40830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a:solidFill>
                <a:srgbClr val="000000"/>
              </a:solidFill>
              <a:latin typeface="Arial" panose="020B0604020202020204" pitchFamily="34" charset="0"/>
            </a:endParaRPr>
          </a:p>
        </p:txBody>
      </p:sp>
      <p:sp>
        <p:nvSpPr>
          <p:cNvPr id="26" name="Line 24">
            <a:extLst>
              <a:ext uri="{FF2B5EF4-FFF2-40B4-BE49-F238E27FC236}">
                <a16:creationId xmlns:a16="http://schemas.microsoft.com/office/drawing/2014/main" id="{BA6D80A7-8F8C-494D-974D-4E2AC5AED495}"/>
              </a:ext>
            </a:extLst>
          </p:cNvPr>
          <p:cNvSpPr>
            <a:spLocks noChangeShapeType="1"/>
          </p:cNvSpPr>
          <p:nvPr>
            <p:custDataLst>
              <p:tags r:id="rId18"/>
            </p:custDataLst>
          </p:nvPr>
        </p:nvSpPr>
        <p:spPr bwMode="auto">
          <a:xfrm>
            <a:off x="6865938" y="5302250"/>
            <a:ext cx="0" cy="4572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5">
            <a:extLst>
              <a:ext uri="{FF2B5EF4-FFF2-40B4-BE49-F238E27FC236}">
                <a16:creationId xmlns:a16="http://schemas.microsoft.com/office/drawing/2014/main" id="{38134F07-7AF2-4194-93CA-3BF9FA89989E}"/>
              </a:ext>
            </a:extLst>
          </p:cNvPr>
          <p:cNvSpPr>
            <a:spLocks noChangeShapeType="1"/>
          </p:cNvSpPr>
          <p:nvPr>
            <p:custDataLst>
              <p:tags r:id="rId19"/>
            </p:custDataLst>
          </p:nvPr>
        </p:nvSpPr>
        <p:spPr bwMode="auto">
          <a:xfrm flipV="1">
            <a:off x="4251960" y="5302250"/>
            <a:ext cx="146304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 name="AutoShape 38">
            <a:extLst>
              <a:ext uri="{FF2B5EF4-FFF2-40B4-BE49-F238E27FC236}">
                <a16:creationId xmlns:a16="http://schemas.microsoft.com/office/drawing/2014/main" id="{D5F199AC-8DBF-4D45-ABEA-A91AB71129A2}"/>
              </a:ext>
            </a:extLst>
          </p:cNvPr>
          <p:cNvSpPr>
            <a:spLocks noChangeArrowheads="1"/>
          </p:cNvSpPr>
          <p:nvPr>
            <p:custDataLst>
              <p:tags r:id="rId20"/>
            </p:custDataLst>
          </p:nvPr>
        </p:nvSpPr>
        <p:spPr bwMode="auto">
          <a:xfrm>
            <a:off x="3718560" y="5149850"/>
            <a:ext cx="548640" cy="304800"/>
          </a:xfrm>
          <a:prstGeom prst="flowChartTerminator">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2000">
                <a:solidFill>
                  <a:srgbClr val="000000"/>
                </a:solidFill>
                <a:latin typeface="Arial" panose="020B0604020202020204" pitchFamily="34" charset="0"/>
              </a:rPr>
              <a:t>=</a:t>
            </a:r>
          </a:p>
        </p:txBody>
      </p:sp>
      <p:sp>
        <p:nvSpPr>
          <p:cNvPr id="41" name="Line 39">
            <a:extLst>
              <a:ext uri="{FF2B5EF4-FFF2-40B4-BE49-F238E27FC236}">
                <a16:creationId xmlns:a16="http://schemas.microsoft.com/office/drawing/2014/main" id="{2B83041B-77CA-45A4-A7E4-FCED2F1FC711}"/>
              </a:ext>
            </a:extLst>
          </p:cNvPr>
          <p:cNvSpPr>
            <a:spLocks noChangeShapeType="1"/>
          </p:cNvSpPr>
          <p:nvPr>
            <p:custDataLst>
              <p:tags r:id="rId21"/>
            </p:custDataLst>
          </p:nvPr>
        </p:nvSpPr>
        <p:spPr bwMode="auto">
          <a:xfrm>
            <a:off x="4038600" y="4692650"/>
            <a:ext cx="0" cy="4572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42">
            <a:extLst>
              <a:ext uri="{FF2B5EF4-FFF2-40B4-BE49-F238E27FC236}">
                <a16:creationId xmlns:a16="http://schemas.microsoft.com/office/drawing/2014/main" id="{6F48C698-B243-4D2F-A49F-0BB6ACFC8BA1}"/>
              </a:ext>
            </a:extLst>
          </p:cNvPr>
          <p:cNvSpPr>
            <a:spLocks noChangeShapeType="1"/>
          </p:cNvSpPr>
          <p:nvPr>
            <p:custDataLst>
              <p:tags r:id="rId22"/>
            </p:custDataLst>
          </p:nvPr>
        </p:nvSpPr>
        <p:spPr bwMode="auto">
          <a:xfrm>
            <a:off x="3046413" y="36258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43">
            <a:extLst>
              <a:ext uri="{FF2B5EF4-FFF2-40B4-BE49-F238E27FC236}">
                <a16:creationId xmlns:a16="http://schemas.microsoft.com/office/drawing/2014/main" id="{4BE17ECF-F04D-41D6-8AAB-A68C6EEB2E2A}"/>
              </a:ext>
            </a:extLst>
          </p:cNvPr>
          <p:cNvSpPr>
            <a:spLocks noChangeShapeType="1"/>
          </p:cNvSpPr>
          <p:nvPr>
            <p:custDataLst>
              <p:tags r:id="rId23"/>
            </p:custDataLst>
          </p:nvPr>
        </p:nvSpPr>
        <p:spPr bwMode="auto">
          <a:xfrm>
            <a:off x="3046413" y="39306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44">
            <a:extLst>
              <a:ext uri="{FF2B5EF4-FFF2-40B4-BE49-F238E27FC236}">
                <a16:creationId xmlns:a16="http://schemas.microsoft.com/office/drawing/2014/main" id="{1EA30915-C6BF-4E82-9924-D93D14B16409}"/>
              </a:ext>
            </a:extLst>
          </p:cNvPr>
          <p:cNvSpPr>
            <a:spLocks noChangeShapeType="1"/>
          </p:cNvSpPr>
          <p:nvPr>
            <p:custDataLst>
              <p:tags r:id="rId24"/>
            </p:custDataLst>
          </p:nvPr>
        </p:nvSpPr>
        <p:spPr bwMode="auto">
          <a:xfrm>
            <a:off x="3046413" y="42354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 name="Freeform 45">
            <a:extLst>
              <a:ext uri="{FF2B5EF4-FFF2-40B4-BE49-F238E27FC236}">
                <a16:creationId xmlns:a16="http://schemas.microsoft.com/office/drawing/2014/main" id="{98AAAA89-3F96-4D57-8082-2C76925A7E88}"/>
              </a:ext>
            </a:extLst>
          </p:cNvPr>
          <p:cNvSpPr>
            <a:spLocks/>
          </p:cNvSpPr>
          <p:nvPr>
            <p:custDataLst>
              <p:tags r:id="rId25"/>
            </p:custDataLst>
          </p:nvPr>
        </p:nvSpPr>
        <p:spPr bwMode="auto">
          <a:xfrm flipH="1">
            <a:off x="3048000" y="3473450"/>
            <a:ext cx="152400" cy="1219200"/>
          </a:xfrm>
          <a:custGeom>
            <a:avLst/>
            <a:gdLst>
              <a:gd name="T0" fmla="*/ 0 w 192"/>
              <a:gd name="T1" fmla="*/ 0 h 2496"/>
              <a:gd name="T2" fmla="*/ 0 w 192"/>
              <a:gd name="T3" fmla="*/ 2147483646 h 2496"/>
              <a:gd name="T4" fmla="*/ 2147483646 w 192"/>
              <a:gd name="T5" fmla="*/ 2147483646 h 2496"/>
              <a:gd name="T6" fmla="*/ 2147483646 w 192"/>
              <a:gd name="T7" fmla="*/ 2147483646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chemeClr val="accent3">
              <a:lumMod val="40000"/>
              <a:lumOff val="60000"/>
            </a:schemeClr>
          </a:solidFill>
          <a:ln w="28575">
            <a:solidFill>
              <a:srgbClr val="000000"/>
            </a:solidFill>
            <a:round/>
            <a:headEnd/>
            <a:tailEnd/>
          </a:ln>
        </p:spPr>
        <p:txBody>
          <a:bodyPr wrap="none" anchor="ctr"/>
          <a:lstStyle/>
          <a:p>
            <a:endParaRPr lang="en-US"/>
          </a:p>
        </p:txBody>
      </p:sp>
      <p:sp>
        <p:nvSpPr>
          <p:cNvPr id="48" name="Line 46">
            <a:extLst>
              <a:ext uri="{FF2B5EF4-FFF2-40B4-BE49-F238E27FC236}">
                <a16:creationId xmlns:a16="http://schemas.microsoft.com/office/drawing/2014/main" id="{8CBBFFAA-9E7A-45DB-B878-5E370136A6D6}"/>
              </a:ext>
            </a:extLst>
          </p:cNvPr>
          <p:cNvSpPr>
            <a:spLocks noChangeShapeType="1"/>
          </p:cNvSpPr>
          <p:nvPr>
            <p:custDataLst>
              <p:tags r:id="rId26"/>
            </p:custDataLst>
          </p:nvPr>
        </p:nvSpPr>
        <p:spPr bwMode="auto">
          <a:xfrm>
            <a:off x="3194050" y="42354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 name="Line 47">
            <a:extLst>
              <a:ext uri="{FF2B5EF4-FFF2-40B4-BE49-F238E27FC236}">
                <a16:creationId xmlns:a16="http://schemas.microsoft.com/office/drawing/2014/main" id="{9C19AF6E-0C5B-46EE-8595-59541AA85A7A}"/>
              </a:ext>
            </a:extLst>
          </p:cNvPr>
          <p:cNvSpPr>
            <a:spLocks noChangeShapeType="1"/>
          </p:cNvSpPr>
          <p:nvPr>
            <p:custDataLst>
              <p:tags r:id="rId27"/>
            </p:custDataLst>
          </p:nvPr>
        </p:nvSpPr>
        <p:spPr bwMode="auto">
          <a:xfrm>
            <a:off x="3200400" y="39306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 name="Line 48">
            <a:extLst>
              <a:ext uri="{FF2B5EF4-FFF2-40B4-BE49-F238E27FC236}">
                <a16:creationId xmlns:a16="http://schemas.microsoft.com/office/drawing/2014/main" id="{31C63BF1-D1BA-4D0B-9DB5-E01F0C69DE82}"/>
              </a:ext>
            </a:extLst>
          </p:cNvPr>
          <p:cNvSpPr>
            <a:spLocks noChangeShapeType="1"/>
          </p:cNvSpPr>
          <p:nvPr>
            <p:custDataLst>
              <p:tags r:id="rId28"/>
            </p:custDataLst>
          </p:nvPr>
        </p:nvSpPr>
        <p:spPr bwMode="auto">
          <a:xfrm>
            <a:off x="3200400" y="36258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49">
            <a:extLst>
              <a:ext uri="{FF2B5EF4-FFF2-40B4-BE49-F238E27FC236}">
                <a16:creationId xmlns:a16="http://schemas.microsoft.com/office/drawing/2014/main" id="{CC7BF552-16E0-437D-9955-32C61B27C92F}"/>
              </a:ext>
            </a:extLst>
          </p:cNvPr>
          <p:cNvSpPr>
            <a:spLocks noChangeShapeType="1"/>
          </p:cNvSpPr>
          <p:nvPr>
            <p:custDataLst>
              <p:tags r:id="rId29"/>
            </p:custDataLst>
          </p:nvPr>
        </p:nvSpPr>
        <p:spPr bwMode="auto">
          <a:xfrm>
            <a:off x="3200400" y="45402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 name="Line 59">
            <a:extLst>
              <a:ext uri="{FF2B5EF4-FFF2-40B4-BE49-F238E27FC236}">
                <a16:creationId xmlns:a16="http://schemas.microsoft.com/office/drawing/2014/main" id="{C22EB220-A81D-4CBD-92CF-F358B0AF7792}"/>
              </a:ext>
            </a:extLst>
          </p:cNvPr>
          <p:cNvSpPr>
            <a:spLocks noChangeShapeType="1"/>
          </p:cNvSpPr>
          <p:nvPr>
            <p:custDataLst>
              <p:tags r:id="rId30"/>
            </p:custDataLst>
          </p:nvPr>
        </p:nvSpPr>
        <p:spPr bwMode="auto">
          <a:xfrm>
            <a:off x="5337175" y="36258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2" name="Line 60">
            <a:extLst>
              <a:ext uri="{FF2B5EF4-FFF2-40B4-BE49-F238E27FC236}">
                <a16:creationId xmlns:a16="http://schemas.microsoft.com/office/drawing/2014/main" id="{9C28FBF7-C176-4E82-8CD4-07D22D205509}"/>
              </a:ext>
            </a:extLst>
          </p:cNvPr>
          <p:cNvSpPr>
            <a:spLocks noChangeShapeType="1"/>
          </p:cNvSpPr>
          <p:nvPr>
            <p:custDataLst>
              <p:tags r:id="rId31"/>
            </p:custDataLst>
          </p:nvPr>
        </p:nvSpPr>
        <p:spPr bwMode="auto">
          <a:xfrm>
            <a:off x="5337175" y="39306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3" name="Line 61">
            <a:extLst>
              <a:ext uri="{FF2B5EF4-FFF2-40B4-BE49-F238E27FC236}">
                <a16:creationId xmlns:a16="http://schemas.microsoft.com/office/drawing/2014/main" id="{AD2440E9-98FA-4622-B161-2F4D480745D1}"/>
              </a:ext>
            </a:extLst>
          </p:cNvPr>
          <p:cNvSpPr>
            <a:spLocks noChangeShapeType="1"/>
          </p:cNvSpPr>
          <p:nvPr>
            <p:custDataLst>
              <p:tags r:id="rId32"/>
            </p:custDataLst>
          </p:nvPr>
        </p:nvSpPr>
        <p:spPr bwMode="auto">
          <a:xfrm>
            <a:off x="5337175" y="42354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4" name="Freeform 62">
            <a:extLst>
              <a:ext uri="{FF2B5EF4-FFF2-40B4-BE49-F238E27FC236}">
                <a16:creationId xmlns:a16="http://schemas.microsoft.com/office/drawing/2014/main" id="{BB1836E8-2F3F-4EC3-82A3-1EFB9CA5F975}"/>
              </a:ext>
            </a:extLst>
          </p:cNvPr>
          <p:cNvSpPr>
            <a:spLocks/>
          </p:cNvSpPr>
          <p:nvPr>
            <p:custDataLst>
              <p:tags r:id="rId33"/>
            </p:custDataLst>
          </p:nvPr>
        </p:nvSpPr>
        <p:spPr bwMode="auto">
          <a:xfrm flipH="1">
            <a:off x="5338763" y="3473450"/>
            <a:ext cx="152400" cy="1219200"/>
          </a:xfrm>
          <a:custGeom>
            <a:avLst/>
            <a:gdLst>
              <a:gd name="T0" fmla="*/ 0 w 192"/>
              <a:gd name="T1" fmla="*/ 0 h 2496"/>
              <a:gd name="T2" fmla="*/ 0 w 192"/>
              <a:gd name="T3" fmla="*/ 2147483646 h 2496"/>
              <a:gd name="T4" fmla="*/ 2147483646 w 192"/>
              <a:gd name="T5" fmla="*/ 2147483646 h 2496"/>
              <a:gd name="T6" fmla="*/ 2147483646 w 192"/>
              <a:gd name="T7" fmla="*/ 2147483646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chemeClr val="accent3">
              <a:lumMod val="40000"/>
              <a:lumOff val="60000"/>
            </a:schemeClr>
          </a:solidFill>
          <a:ln w="28575">
            <a:solidFill>
              <a:srgbClr val="000000"/>
            </a:solidFill>
            <a:round/>
            <a:headEnd/>
            <a:tailEnd/>
          </a:ln>
        </p:spPr>
        <p:txBody>
          <a:bodyPr wrap="none" anchor="ctr"/>
          <a:lstStyle/>
          <a:p>
            <a:endParaRPr lang="en-US"/>
          </a:p>
        </p:txBody>
      </p:sp>
      <p:sp>
        <p:nvSpPr>
          <p:cNvPr id="65" name="Line 63">
            <a:extLst>
              <a:ext uri="{FF2B5EF4-FFF2-40B4-BE49-F238E27FC236}">
                <a16:creationId xmlns:a16="http://schemas.microsoft.com/office/drawing/2014/main" id="{F876BB7A-187B-4E36-8694-A66BFBE07348}"/>
              </a:ext>
            </a:extLst>
          </p:cNvPr>
          <p:cNvSpPr>
            <a:spLocks noChangeShapeType="1"/>
          </p:cNvSpPr>
          <p:nvPr>
            <p:custDataLst>
              <p:tags r:id="rId34"/>
            </p:custDataLst>
          </p:nvPr>
        </p:nvSpPr>
        <p:spPr bwMode="auto">
          <a:xfrm>
            <a:off x="5484813" y="42354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6" name="Line 64">
            <a:extLst>
              <a:ext uri="{FF2B5EF4-FFF2-40B4-BE49-F238E27FC236}">
                <a16:creationId xmlns:a16="http://schemas.microsoft.com/office/drawing/2014/main" id="{7BF9AF9B-FF4B-4FE8-B324-3AD22CACC8DC}"/>
              </a:ext>
            </a:extLst>
          </p:cNvPr>
          <p:cNvSpPr>
            <a:spLocks noChangeShapeType="1"/>
          </p:cNvSpPr>
          <p:nvPr>
            <p:custDataLst>
              <p:tags r:id="rId35"/>
            </p:custDataLst>
          </p:nvPr>
        </p:nvSpPr>
        <p:spPr bwMode="auto">
          <a:xfrm>
            <a:off x="5491163" y="39306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7" name="Line 65">
            <a:extLst>
              <a:ext uri="{FF2B5EF4-FFF2-40B4-BE49-F238E27FC236}">
                <a16:creationId xmlns:a16="http://schemas.microsoft.com/office/drawing/2014/main" id="{F76CC7F0-A00D-4B1C-95C9-1B95BF7EED3A}"/>
              </a:ext>
            </a:extLst>
          </p:cNvPr>
          <p:cNvSpPr>
            <a:spLocks noChangeShapeType="1"/>
          </p:cNvSpPr>
          <p:nvPr>
            <p:custDataLst>
              <p:tags r:id="rId36"/>
            </p:custDataLst>
          </p:nvPr>
        </p:nvSpPr>
        <p:spPr bwMode="auto">
          <a:xfrm>
            <a:off x="5491163" y="36258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8" name="Line 66">
            <a:extLst>
              <a:ext uri="{FF2B5EF4-FFF2-40B4-BE49-F238E27FC236}">
                <a16:creationId xmlns:a16="http://schemas.microsoft.com/office/drawing/2014/main" id="{B226C52D-61E7-47B9-876B-ABA31DF72333}"/>
              </a:ext>
            </a:extLst>
          </p:cNvPr>
          <p:cNvSpPr>
            <a:spLocks noChangeShapeType="1"/>
          </p:cNvSpPr>
          <p:nvPr>
            <p:custDataLst>
              <p:tags r:id="rId37"/>
            </p:custDataLst>
          </p:nvPr>
        </p:nvSpPr>
        <p:spPr bwMode="auto">
          <a:xfrm>
            <a:off x="5491163" y="45402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9" name="Rectangle 68">
            <a:extLst>
              <a:ext uri="{FF2B5EF4-FFF2-40B4-BE49-F238E27FC236}">
                <a16:creationId xmlns:a16="http://schemas.microsoft.com/office/drawing/2014/main" id="{6EC20907-9242-4438-88FC-64A27AF45B4B}"/>
              </a:ext>
            </a:extLst>
          </p:cNvPr>
          <p:cNvSpPr>
            <a:spLocks noChangeArrowheads="1"/>
          </p:cNvSpPr>
          <p:nvPr>
            <p:custDataLst>
              <p:tags r:id="rId38"/>
            </p:custDataLst>
          </p:nvPr>
        </p:nvSpPr>
        <p:spPr bwMode="auto">
          <a:xfrm>
            <a:off x="3338513" y="2635250"/>
            <a:ext cx="922337" cy="304800"/>
          </a:xfrm>
          <a:prstGeom prst="rect">
            <a:avLst/>
          </a:prstGeom>
          <a:solidFill>
            <a:schemeClr val="accent5">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1200" dirty="0">
                <a:solidFill>
                  <a:srgbClr val="000000"/>
                </a:solidFill>
                <a:latin typeface="Arial" panose="020B0604020202020204" pitchFamily="34" charset="0"/>
              </a:rPr>
              <a:t>6-bit offset</a:t>
            </a:r>
          </a:p>
        </p:txBody>
      </p:sp>
      <p:sp>
        <p:nvSpPr>
          <p:cNvPr id="70" name="Rectangle 69">
            <a:extLst>
              <a:ext uri="{FF2B5EF4-FFF2-40B4-BE49-F238E27FC236}">
                <a16:creationId xmlns:a16="http://schemas.microsoft.com/office/drawing/2014/main" id="{F24D4EAA-715B-4391-902F-1F827F36C938}"/>
              </a:ext>
            </a:extLst>
          </p:cNvPr>
          <p:cNvSpPr>
            <a:spLocks noChangeArrowheads="1"/>
          </p:cNvSpPr>
          <p:nvPr>
            <p:custDataLst>
              <p:tags r:id="rId39"/>
            </p:custDataLst>
          </p:nvPr>
        </p:nvSpPr>
        <p:spPr bwMode="auto">
          <a:xfrm>
            <a:off x="1371600" y="2635250"/>
            <a:ext cx="106045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1200" dirty="0">
                <a:solidFill>
                  <a:srgbClr val="000000"/>
                </a:solidFill>
                <a:latin typeface="Arial" panose="020B0604020202020204" pitchFamily="34" charset="0"/>
              </a:rPr>
              <a:t>24-bit tag</a:t>
            </a:r>
            <a:endParaRPr lang="en-US" altLang="en-US" sz="1000" dirty="0">
              <a:solidFill>
                <a:schemeClr val="accent1"/>
              </a:solidFill>
              <a:latin typeface="Arial" panose="020B0604020202020204" pitchFamily="34" charset="0"/>
            </a:endParaRPr>
          </a:p>
        </p:txBody>
      </p:sp>
      <p:sp>
        <p:nvSpPr>
          <p:cNvPr id="71" name="Rectangle 70">
            <a:extLst>
              <a:ext uri="{FF2B5EF4-FFF2-40B4-BE49-F238E27FC236}">
                <a16:creationId xmlns:a16="http://schemas.microsoft.com/office/drawing/2014/main" id="{4B227EA0-FD52-4F3B-84E6-44AD3A047AFF}"/>
              </a:ext>
            </a:extLst>
          </p:cNvPr>
          <p:cNvSpPr>
            <a:spLocks noChangeArrowheads="1"/>
          </p:cNvSpPr>
          <p:nvPr>
            <p:custDataLst>
              <p:tags r:id="rId40"/>
            </p:custDataLst>
          </p:nvPr>
        </p:nvSpPr>
        <p:spPr bwMode="auto">
          <a:xfrm>
            <a:off x="2432050" y="2635250"/>
            <a:ext cx="914400" cy="304800"/>
          </a:xfrm>
          <a:prstGeom prst="rect">
            <a:avLst/>
          </a:prstGeom>
          <a:solidFill>
            <a:schemeClr val="accent3">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1200">
                <a:solidFill>
                  <a:srgbClr val="000000"/>
                </a:solidFill>
                <a:latin typeface="Arial" panose="020B0604020202020204" pitchFamily="34" charset="0"/>
              </a:rPr>
              <a:t>2-bit index</a:t>
            </a:r>
          </a:p>
        </p:txBody>
      </p:sp>
      <p:sp>
        <p:nvSpPr>
          <p:cNvPr id="72" name="AutoShape 70">
            <a:extLst>
              <a:ext uri="{FF2B5EF4-FFF2-40B4-BE49-F238E27FC236}">
                <a16:creationId xmlns:a16="http://schemas.microsoft.com/office/drawing/2014/main" id="{55116F2C-8BBD-4EEF-B899-DBEFD43F5583}"/>
              </a:ext>
            </a:extLst>
          </p:cNvPr>
          <p:cNvSpPr>
            <a:spLocks noChangeArrowheads="1"/>
          </p:cNvSpPr>
          <p:nvPr>
            <p:custDataLst>
              <p:tags r:id="rId41"/>
            </p:custDataLst>
          </p:nvPr>
        </p:nvSpPr>
        <p:spPr bwMode="auto">
          <a:xfrm rot="5400000" flipH="1" flipV="1">
            <a:off x="1181100" y="2597150"/>
            <a:ext cx="304800" cy="381000"/>
          </a:xfrm>
          <a:prstGeom prst="flowChartDocument">
            <a:avLst/>
          </a:prstGeom>
          <a:solidFill>
            <a:schemeClr val="bg1"/>
          </a:solidFill>
          <a:ln w="28575">
            <a:solidFill>
              <a:schemeClr val="bg1"/>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800">
              <a:solidFill>
                <a:schemeClr val="accent1"/>
              </a:solidFill>
              <a:latin typeface="Arial" panose="020B0604020202020204" pitchFamily="34" charset="0"/>
            </a:endParaRPr>
          </a:p>
        </p:txBody>
      </p:sp>
      <p:sp>
        <p:nvSpPr>
          <p:cNvPr id="73" name="Freeform 71">
            <a:extLst>
              <a:ext uri="{FF2B5EF4-FFF2-40B4-BE49-F238E27FC236}">
                <a16:creationId xmlns:a16="http://schemas.microsoft.com/office/drawing/2014/main" id="{E1CF307A-0E66-442A-BE93-E42EF343854E}"/>
              </a:ext>
            </a:extLst>
          </p:cNvPr>
          <p:cNvSpPr>
            <a:spLocks/>
          </p:cNvSpPr>
          <p:nvPr>
            <p:custDataLst>
              <p:tags r:id="rId42"/>
            </p:custDataLst>
          </p:nvPr>
        </p:nvSpPr>
        <p:spPr bwMode="auto">
          <a:xfrm flipV="1">
            <a:off x="2749550" y="2940050"/>
            <a:ext cx="296863" cy="1196975"/>
          </a:xfrm>
          <a:custGeom>
            <a:avLst/>
            <a:gdLst>
              <a:gd name="T0" fmla="*/ 0 w 144"/>
              <a:gd name="T1" fmla="*/ 2147483646 h 2016"/>
              <a:gd name="T2" fmla="*/ 0 w 144"/>
              <a:gd name="T3" fmla="*/ 0 h 2016"/>
              <a:gd name="T4" fmla="*/ 2147483646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4" name="Freeform 72">
            <a:extLst>
              <a:ext uri="{FF2B5EF4-FFF2-40B4-BE49-F238E27FC236}">
                <a16:creationId xmlns:a16="http://schemas.microsoft.com/office/drawing/2014/main" id="{8BFF498B-C679-4CF3-ADE4-7DA1A8A683D6}"/>
              </a:ext>
            </a:extLst>
          </p:cNvPr>
          <p:cNvSpPr>
            <a:spLocks/>
          </p:cNvSpPr>
          <p:nvPr>
            <p:custDataLst>
              <p:tags r:id="rId43"/>
            </p:custDataLst>
          </p:nvPr>
        </p:nvSpPr>
        <p:spPr bwMode="auto">
          <a:xfrm flipV="1">
            <a:off x="5113338" y="3168650"/>
            <a:ext cx="225425" cy="968375"/>
          </a:xfrm>
          <a:custGeom>
            <a:avLst/>
            <a:gdLst>
              <a:gd name="T0" fmla="*/ 0 w 144"/>
              <a:gd name="T1" fmla="*/ 2147483646 h 2016"/>
              <a:gd name="T2" fmla="*/ 0 w 144"/>
              <a:gd name="T3" fmla="*/ 0 h 2016"/>
              <a:gd name="T4" fmla="*/ 2147483646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5" name="Line 73">
            <a:extLst>
              <a:ext uri="{FF2B5EF4-FFF2-40B4-BE49-F238E27FC236}">
                <a16:creationId xmlns:a16="http://schemas.microsoft.com/office/drawing/2014/main" id="{5B76B998-0D4B-472C-B995-D3B924FCA0A0}"/>
              </a:ext>
            </a:extLst>
          </p:cNvPr>
          <p:cNvSpPr>
            <a:spLocks noChangeShapeType="1"/>
          </p:cNvSpPr>
          <p:nvPr>
            <p:custDataLst>
              <p:tags r:id="rId44"/>
            </p:custDataLst>
          </p:nvPr>
        </p:nvSpPr>
        <p:spPr bwMode="auto">
          <a:xfrm flipH="1">
            <a:off x="2749550" y="3168650"/>
            <a:ext cx="23637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 name="Line 74">
            <a:extLst>
              <a:ext uri="{FF2B5EF4-FFF2-40B4-BE49-F238E27FC236}">
                <a16:creationId xmlns:a16="http://schemas.microsoft.com/office/drawing/2014/main" id="{45C66407-D791-495C-B938-801998A0C907}"/>
              </a:ext>
            </a:extLst>
          </p:cNvPr>
          <p:cNvSpPr>
            <a:spLocks noChangeShapeType="1"/>
          </p:cNvSpPr>
          <p:nvPr>
            <p:custDataLst>
              <p:tags r:id="rId45"/>
            </p:custDataLst>
          </p:nvPr>
        </p:nvSpPr>
        <p:spPr bwMode="auto">
          <a:xfrm>
            <a:off x="6858000" y="4692650"/>
            <a:ext cx="0" cy="5334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0" name="Freeform 78">
            <a:extLst>
              <a:ext uri="{FF2B5EF4-FFF2-40B4-BE49-F238E27FC236}">
                <a16:creationId xmlns:a16="http://schemas.microsoft.com/office/drawing/2014/main" id="{1F7BEAEC-98CB-4298-BC2B-7EF635036FEC}"/>
              </a:ext>
            </a:extLst>
          </p:cNvPr>
          <p:cNvSpPr>
            <a:spLocks/>
          </p:cNvSpPr>
          <p:nvPr>
            <p:custDataLst>
              <p:tags r:id="rId46"/>
            </p:custDataLst>
          </p:nvPr>
        </p:nvSpPr>
        <p:spPr bwMode="auto">
          <a:xfrm rot="16200000" flipH="1">
            <a:off x="6784182" y="4090193"/>
            <a:ext cx="152400" cy="2424113"/>
          </a:xfrm>
          <a:custGeom>
            <a:avLst/>
            <a:gdLst>
              <a:gd name="T0" fmla="*/ 0 w 192"/>
              <a:gd name="T1" fmla="*/ 0 h 2496"/>
              <a:gd name="T2" fmla="*/ 0 w 192"/>
              <a:gd name="T3" fmla="*/ 2147483646 h 2496"/>
              <a:gd name="T4" fmla="*/ 2147483646 w 192"/>
              <a:gd name="T5" fmla="*/ 2147483646 h 2496"/>
              <a:gd name="T6" fmla="*/ 2147483646 w 192"/>
              <a:gd name="T7" fmla="*/ 2147483646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chemeClr val="bg1">
              <a:lumMod val="95000"/>
            </a:schemeClr>
          </a:solidFill>
          <a:ln w="28575">
            <a:solidFill>
              <a:srgbClr val="000000"/>
            </a:solidFill>
            <a:round/>
            <a:headEnd/>
            <a:tailEnd/>
          </a:ln>
        </p:spPr>
        <p:txBody>
          <a:bodyPr wrap="none" anchor="ctr"/>
          <a:lstStyle/>
          <a:p>
            <a:endParaRPr lang="en-US"/>
          </a:p>
        </p:txBody>
      </p:sp>
      <p:sp>
        <p:nvSpPr>
          <p:cNvPr id="81" name="Freeform 79">
            <a:extLst>
              <a:ext uri="{FF2B5EF4-FFF2-40B4-BE49-F238E27FC236}">
                <a16:creationId xmlns:a16="http://schemas.microsoft.com/office/drawing/2014/main" id="{4423B444-1D98-4BD7-B4FD-730D2AC92A09}"/>
              </a:ext>
            </a:extLst>
          </p:cNvPr>
          <p:cNvSpPr>
            <a:spLocks/>
          </p:cNvSpPr>
          <p:nvPr>
            <p:custDataLst>
              <p:tags r:id="rId47"/>
            </p:custDataLst>
          </p:nvPr>
        </p:nvSpPr>
        <p:spPr bwMode="auto">
          <a:xfrm flipV="1">
            <a:off x="2133600" y="2940050"/>
            <a:ext cx="296863" cy="1905000"/>
          </a:xfrm>
          <a:custGeom>
            <a:avLst/>
            <a:gdLst>
              <a:gd name="T0" fmla="*/ 0 w 144"/>
              <a:gd name="T1" fmla="*/ 2147483646 h 2016"/>
              <a:gd name="T2" fmla="*/ 0 w 144"/>
              <a:gd name="T3" fmla="*/ 0 h 2016"/>
              <a:gd name="T4" fmla="*/ 2147483646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 name="Freeform 80">
            <a:extLst>
              <a:ext uri="{FF2B5EF4-FFF2-40B4-BE49-F238E27FC236}">
                <a16:creationId xmlns:a16="http://schemas.microsoft.com/office/drawing/2014/main" id="{BF1F2583-3C62-436A-9D4D-1D13F42BC7C5}"/>
              </a:ext>
            </a:extLst>
          </p:cNvPr>
          <p:cNvSpPr>
            <a:spLocks/>
          </p:cNvSpPr>
          <p:nvPr>
            <p:custDataLst>
              <p:tags r:id="rId48"/>
            </p:custDataLst>
          </p:nvPr>
        </p:nvSpPr>
        <p:spPr bwMode="auto">
          <a:xfrm>
            <a:off x="2133600" y="4845050"/>
            <a:ext cx="1771646" cy="304800"/>
          </a:xfrm>
          <a:custGeom>
            <a:avLst/>
            <a:gdLst>
              <a:gd name="T0" fmla="*/ 0 w 864"/>
              <a:gd name="T1" fmla="*/ 0 h 192"/>
              <a:gd name="T2" fmla="*/ 2147483646 w 864"/>
              <a:gd name="T3" fmla="*/ 0 h 192"/>
              <a:gd name="T4" fmla="*/ 2147483646 w 864"/>
              <a:gd name="T5" fmla="*/ 2147483646 h 192"/>
              <a:gd name="T6" fmla="*/ 0 60000 65536"/>
              <a:gd name="T7" fmla="*/ 0 60000 65536"/>
              <a:gd name="T8" fmla="*/ 0 60000 65536"/>
              <a:gd name="T9" fmla="*/ 0 w 864"/>
              <a:gd name="T10" fmla="*/ 0 h 192"/>
              <a:gd name="T11" fmla="*/ 864 w 864"/>
              <a:gd name="T12" fmla="*/ 192 h 192"/>
            </a:gdLst>
            <a:ahLst/>
            <a:cxnLst>
              <a:cxn ang="T6">
                <a:pos x="T0" y="T1"/>
              </a:cxn>
              <a:cxn ang="T7">
                <a:pos x="T2" y="T3"/>
              </a:cxn>
              <a:cxn ang="T8">
                <a:pos x="T4" y="T5"/>
              </a:cxn>
            </a:cxnLst>
            <a:rect l="T9" t="T10" r="T11" b="T12"/>
            <a:pathLst>
              <a:path w="864" h="192">
                <a:moveTo>
                  <a:pt x="0" y="0"/>
                </a:moveTo>
                <a:lnTo>
                  <a:pt x="864" y="0"/>
                </a:lnTo>
                <a:lnTo>
                  <a:pt x="864" y="192"/>
                </a:lnTo>
              </a:path>
            </a:pathLst>
          </a:custGeom>
          <a:noFill/>
          <a:ln w="28575">
            <a:solidFill>
              <a:srgbClr val="000000"/>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7" name="Text Box 85">
            <a:extLst>
              <a:ext uri="{FF2B5EF4-FFF2-40B4-BE49-F238E27FC236}">
                <a16:creationId xmlns:a16="http://schemas.microsoft.com/office/drawing/2014/main" id="{CADA3D2E-04B7-4684-A53B-9C409B495F16}"/>
              </a:ext>
            </a:extLst>
          </p:cNvPr>
          <p:cNvSpPr txBox="1">
            <a:spLocks noChangeArrowheads="1"/>
          </p:cNvSpPr>
          <p:nvPr>
            <p:custDataLst>
              <p:tags r:id="rId49"/>
            </p:custDataLst>
          </p:nvPr>
        </p:nvSpPr>
        <p:spPr bwMode="auto">
          <a:xfrm>
            <a:off x="4267200" y="4967288"/>
            <a:ext cx="5565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1800" dirty="0">
                <a:solidFill>
                  <a:schemeClr val="tx1"/>
                </a:solidFill>
                <a:latin typeface="Arial" panose="020B0604020202020204" pitchFamily="34" charset="0"/>
              </a:rPr>
              <a:t>hit?</a:t>
            </a:r>
          </a:p>
        </p:txBody>
      </p:sp>
      <p:sp>
        <p:nvSpPr>
          <p:cNvPr id="88" name="Line 86">
            <a:extLst>
              <a:ext uri="{FF2B5EF4-FFF2-40B4-BE49-F238E27FC236}">
                <a16:creationId xmlns:a16="http://schemas.microsoft.com/office/drawing/2014/main" id="{C911E212-E9E4-4909-99CE-8B613E8B50BC}"/>
              </a:ext>
            </a:extLst>
          </p:cNvPr>
          <p:cNvSpPr>
            <a:spLocks noChangeShapeType="1"/>
          </p:cNvSpPr>
          <p:nvPr>
            <p:custDataLst>
              <p:tags r:id="rId50"/>
            </p:custDataLst>
          </p:nvPr>
        </p:nvSpPr>
        <p:spPr bwMode="auto">
          <a:xfrm flipV="1">
            <a:off x="3886200" y="2514600"/>
            <a:ext cx="0" cy="1206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9" name="Line 87">
            <a:extLst>
              <a:ext uri="{FF2B5EF4-FFF2-40B4-BE49-F238E27FC236}">
                <a16:creationId xmlns:a16="http://schemas.microsoft.com/office/drawing/2014/main" id="{2852B17D-CAA3-4BC0-8B01-AF8BFF82C91B}"/>
              </a:ext>
            </a:extLst>
          </p:cNvPr>
          <p:cNvSpPr>
            <a:spLocks noChangeShapeType="1"/>
          </p:cNvSpPr>
          <p:nvPr>
            <p:custDataLst>
              <p:tags r:id="rId51"/>
            </p:custDataLst>
          </p:nvPr>
        </p:nvSpPr>
        <p:spPr bwMode="auto">
          <a:xfrm>
            <a:off x="1143000" y="2514600"/>
            <a:ext cx="0" cy="34131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 name="Line 88">
            <a:extLst>
              <a:ext uri="{FF2B5EF4-FFF2-40B4-BE49-F238E27FC236}">
                <a16:creationId xmlns:a16="http://schemas.microsoft.com/office/drawing/2014/main" id="{711C98C0-37FC-4B3A-BDED-5402813FA191}"/>
              </a:ext>
            </a:extLst>
          </p:cNvPr>
          <p:cNvSpPr>
            <a:spLocks noChangeShapeType="1"/>
          </p:cNvSpPr>
          <p:nvPr>
            <p:custDataLst>
              <p:tags r:id="rId52"/>
            </p:custDataLst>
          </p:nvPr>
        </p:nvSpPr>
        <p:spPr bwMode="auto">
          <a:xfrm flipV="1">
            <a:off x="1143000" y="2514600"/>
            <a:ext cx="27432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1" name="Text Box 84">
            <a:extLst>
              <a:ext uri="{FF2B5EF4-FFF2-40B4-BE49-F238E27FC236}">
                <a16:creationId xmlns:a16="http://schemas.microsoft.com/office/drawing/2014/main" id="{1C7964E2-8864-4560-AB68-DAFDF047AA6C}"/>
              </a:ext>
            </a:extLst>
          </p:cNvPr>
          <p:cNvSpPr txBox="1">
            <a:spLocks noChangeArrowheads="1"/>
          </p:cNvSpPr>
          <p:nvPr>
            <p:custDataLst>
              <p:tags r:id="rId53"/>
            </p:custDataLst>
          </p:nvPr>
        </p:nvSpPr>
        <p:spPr bwMode="auto">
          <a:xfrm>
            <a:off x="6248400" y="3134281"/>
            <a:ext cx="12234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1800" dirty="0">
                <a:solidFill>
                  <a:schemeClr val="tx1"/>
                </a:solidFill>
                <a:latin typeface="Arial" panose="020B0604020202020204" pitchFamily="34" charset="0"/>
              </a:rPr>
              <a:t>data array</a:t>
            </a:r>
          </a:p>
        </p:txBody>
      </p:sp>
      <p:sp>
        <p:nvSpPr>
          <p:cNvPr id="92" name="Text Box 84">
            <a:extLst>
              <a:ext uri="{FF2B5EF4-FFF2-40B4-BE49-F238E27FC236}">
                <a16:creationId xmlns:a16="http://schemas.microsoft.com/office/drawing/2014/main" id="{4371BB7E-FECE-4BCA-8358-7D72DFCA381C}"/>
              </a:ext>
            </a:extLst>
          </p:cNvPr>
          <p:cNvSpPr txBox="1">
            <a:spLocks noChangeArrowheads="1"/>
          </p:cNvSpPr>
          <p:nvPr>
            <p:custDataLst>
              <p:tags r:id="rId54"/>
            </p:custDataLst>
          </p:nvPr>
        </p:nvSpPr>
        <p:spPr bwMode="auto">
          <a:xfrm>
            <a:off x="3412902" y="3134281"/>
            <a:ext cx="10951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1800" dirty="0">
                <a:solidFill>
                  <a:schemeClr val="tx1"/>
                </a:solidFill>
                <a:latin typeface="Arial" panose="020B0604020202020204" pitchFamily="34" charset="0"/>
              </a:rPr>
              <a:t>tag array</a:t>
            </a:r>
          </a:p>
        </p:txBody>
      </p:sp>
      <p:sp>
        <p:nvSpPr>
          <p:cNvPr id="97" name="Text Box 7">
            <a:extLst>
              <a:ext uri="{FF2B5EF4-FFF2-40B4-BE49-F238E27FC236}">
                <a16:creationId xmlns:a16="http://schemas.microsoft.com/office/drawing/2014/main" id="{204AA918-A38B-4475-8DF9-8262E5C1D6BC}"/>
              </a:ext>
            </a:extLst>
          </p:cNvPr>
          <p:cNvSpPr txBox="1">
            <a:spLocks noChangeArrowheads="1"/>
          </p:cNvSpPr>
          <p:nvPr>
            <p:custDataLst>
              <p:tags r:id="rId55"/>
            </p:custDataLst>
          </p:nvPr>
        </p:nvSpPr>
        <p:spPr bwMode="auto">
          <a:xfrm>
            <a:off x="6858000" y="4648200"/>
            <a:ext cx="13532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dirty="0">
                <a:solidFill>
                  <a:schemeClr val="tx1"/>
                </a:solidFill>
                <a:latin typeface="Arial" panose="020B0604020202020204" pitchFamily="34" charset="0"/>
              </a:rPr>
              <a:t>data block</a:t>
            </a:r>
          </a:p>
        </p:txBody>
      </p:sp>
      <p:sp>
        <p:nvSpPr>
          <p:cNvPr id="98" name="TextBox 97">
            <a:extLst>
              <a:ext uri="{FF2B5EF4-FFF2-40B4-BE49-F238E27FC236}">
                <a16:creationId xmlns:a16="http://schemas.microsoft.com/office/drawing/2014/main" id="{1F78E9C8-883A-4671-BC1A-99E067C82346}"/>
              </a:ext>
            </a:extLst>
          </p:cNvPr>
          <p:cNvSpPr txBox="1"/>
          <p:nvPr>
            <p:custDataLst>
              <p:tags r:id="rId56"/>
            </p:custDataLst>
          </p:nvPr>
        </p:nvSpPr>
        <p:spPr>
          <a:xfrm>
            <a:off x="4083653" y="2601497"/>
            <a:ext cx="1936147" cy="338554"/>
          </a:xfrm>
          <a:prstGeom prst="rect">
            <a:avLst/>
          </a:prstGeom>
          <a:noFill/>
        </p:spPr>
        <p:txBody>
          <a:bodyPr wrap="square" rtlCol="0">
            <a:spAutoFit/>
          </a:bodyPr>
          <a:lstStyle/>
          <a:p>
            <a:pPr algn="ctr"/>
            <a:r>
              <a:rPr lang="en-US" sz="1600" b="1" dirty="0">
                <a:solidFill>
                  <a:schemeClr val="accent6">
                    <a:lumMod val="75000"/>
                  </a:schemeClr>
                </a:solidFill>
                <a:latin typeface="Calibri" panose="020F0502020204030204" pitchFamily="34" charset="0"/>
                <a:cs typeface="Calibri" panose="020F0502020204030204" pitchFamily="34" charset="0"/>
              </a:rPr>
              <a:t>e.g., 0x1000F348</a:t>
            </a:r>
          </a:p>
        </p:txBody>
      </p:sp>
      <p:sp>
        <p:nvSpPr>
          <p:cNvPr id="99" name="TextBox 98">
            <a:extLst>
              <a:ext uri="{FF2B5EF4-FFF2-40B4-BE49-F238E27FC236}">
                <a16:creationId xmlns:a16="http://schemas.microsoft.com/office/drawing/2014/main" id="{30F3A1D2-AB3E-4879-AF32-EB11A19FCCA3}"/>
              </a:ext>
            </a:extLst>
          </p:cNvPr>
          <p:cNvSpPr txBox="1"/>
          <p:nvPr>
            <p:custDataLst>
              <p:tags r:id="rId57"/>
            </p:custDataLst>
          </p:nvPr>
        </p:nvSpPr>
        <p:spPr>
          <a:xfrm>
            <a:off x="1111854" y="5590172"/>
            <a:ext cx="640746" cy="338554"/>
          </a:xfrm>
          <a:prstGeom prst="rect">
            <a:avLst/>
          </a:prstGeom>
          <a:noFill/>
        </p:spPr>
        <p:txBody>
          <a:bodyPr wrap="square" rtlCol="0">
            <a:spAutoFit/>
          </a:bodyPr>
          <a:lstStyle/>
          <a:p>
            <a:pPr algn="ctr"/>
            <a:r>
              <a:rPr lang="en-US" sz="1600" b="1" dirty="0">
                <a:solidFill>
                  <a:schemeClr val="accent6">
                    <a:lumMod val="75000"/>
                  </a:schemeClr>
                </a:solidFill>
                <a:latin typeface="Calibri" panose="020F0502020204030204" pitchFamily="34" charset="0"/>
                <a:cs typeface="Calibri" panose="020F0502020204030204" pitchFamily="34" charset="0"/>
              </a:rPr>
              <a:t>0x08</a:t>
            </a:r>
          </a:p>
        </p:txBody>
      </p:sp>
      <p:sp>
        <p:nvSpPr>
          <p:cNvPr id="100" name="TextBox 99">
            <a:extLst>
              <a:ext uri="{FF2B5EF4-FFF2-40B4-BE49-F238E27FC236}">
                <a16:creationId xmlns:a16="http://schemas.microsoft.com/office/drawing/2014/main" id="{BCE87392-EA7E-4B36-8C24-E82461F0712E}"/>
              </a:ext>
            </a:extLst>
          </p:cNvPr>
          <p:cNvSpPr txBox="1"/>
          <p:nvPr>
            <p:custDataLst>
              <p:tags r:id="rId58"/>
            </p:custDataLst>
          </p:nvPr>
        </p:nvSpPr>
        <p:spPr>
          <a:xfrm>
            <a:off x="2308384" y="3757280"/>
            <a:ext cx="511016" cy="338554"/>
          </a:xfrm>
          <a:prstGeom prst="rect">
            <a:avLst/>
          </a:prstGeom>
          <a:noFill/>
        </p:spPr>
        <p:txBody>
          <a:bodyPr wrap="square" rtlCol="0">
            <a:spAutoFit/>
          </a:bodyPr>
          <a:lstStyle/>
          <a:p>
            <a:pPr algn="ctr"/>
            <a:r>
              <a:rPr lang="en-US" sz="1600" b="1" dirty="0">
                <a:solidFill>
                  <a:schemeClr val="accent6">
                    <a:lumMod val="75000"/>
                  </a:schemeClr>
                </a:solidFill>
                <a:latin typeface="Calibri" panose="020F0502020204030204" pitchFamily="34" charset="0"/>
                <a:cs typeface="Calibri" panose="020F0502020204030204" pitchFamily="34" charset="0"/>
              </a:rPr>
              <a:t>0x1</a:t>
            </a:r>
          </a:p>
        </p:txBody>
      </p:sp>
      <p:sp>
        <p:nvSpPr>
          <p:cNvPr id="101" name="TextBox 100">
            <a:extLst>
              <a:ext uri="{FF2B5EF4-FFF2-40B4-BE49-F238E27FC236}">
                <a16:creationId xmlns:a16="http://schemas.microsoft.com/office/drawing/2014/main" id="{C167540B-1059-4DD3-9BEE-C667966F45FD}"/>
              </a:ext>
            </a:extLst>
          </p:cNvPr>
          <p:cNvSpPr txBox="1"/>
          <p:nvPr>
            <p:custDataLst>
              <p:tags r:id="rId59"/>
            </p:custDataLst>
          </p:nvPr>
        </p:nvSpPr>
        <p:spPr>
          <a:xfrm>
            <a:off x="5602540" y="3781723"/>
            <a:ext cx="2438399" cy="307777"/>
          </a:xfrm>
          <a:prstGeom prst="rect">
            <a:avLst/>
          </a:prstGeom>
          <a:noFill/>
        </p:spPr>
        <p:txBody>
          <a:bodyPr wrap="square" rtlCol="0">
            <a:spAutoFit/>
          </a:bodyPr>
          <a:lstStyle/>
          <a:p>
            <a:pPr algn="ctr"/>
            <a:r>
              <a:rPr lang="en-US" sz="1400" b="1" dirty="0">
                <a:solidFill>
                  <a:schemeClr val="accent6">
                    <a:lumMod val="75000"/>
                  </a:schemeClr>
                </a:solidFill>
                <a:latin typeface="Calibri" panose="020F0502020204030204" pitchFamily="34" charset="0"/>
                <a:cs typeface="Calibri" panose="020F0502020204030204" pitchFamily="34" charset="0"/>
              </a:rPr>
              <a:t>(0x1000F340 – 0x1000F37F)</a:t>
            </a:r>
          </a:p>
        </p:txBody>
      </p:sp>
      <p:sp>
        <p:nvSpPr>
          <p:cNvPr id="102" name="TextBox 101">
            <a:extLst>
              <a:ext uri="{FF2B5EF4-FFF2-40B4-BE49-F238E27FC236}">
                <a16:creationId xmlns:a16="http://schemas.microsoft.com/office/drawing/2014/main" id="{17AAA943-1195-4B8C-96C0-DBC4C7A78D42}"/>
              </a:ext>
            </a:extLst>
          </p:cNvPr>
          <p:cNvSpPr txBox="1"/>
          <p:nvPr>
            <p:custDataLst>
              <p:tags r:id="rId60"/>
            </p:custDataLst>
          </p:nvPr>
        </p:nvSpPr>
        <p:spPr>
          <a:xfrm>
            <a:off x="3328671" y="3790354"/>
            <a:ext cx="1212850" cy="307777"/>
          </a:xfrm>
          <a:prstGeom prst="rect">
            <a:avLst/>
          </a:prstGeom>
          <a:noFill/>
        </p:spPr>
        <p:txBody>
          <a:bodyPr wrap="square" rtlCol="0">
            <a:spAutoFit/>
          </a:bodyPr>
          <a:lstStyle/>
          <a:p>
            <a:pPr algn="ctr"/>
            <a:r>
              <a:rPr lang="en-US" sz="1400" b="1" dirty="0">
                <a:solidFill>
                  <a:schemeClr val="accent6">
                    <a:lumMod val="75000"/>
                  </a:schemeClr>
                </a:solidFill>
                <a:latin typeface="Calibri" panose="020F0502020204030204" pitchFamily="34" charset="0"/>
                <a:cs typeface="Calibri" panose="020F0502020204030204" pitchFamily="34" charset="0"/>
              </a:rPr>
              <a:t>0x1000F3</a:t>
            </a:r>
          </a:p>
        </p:txBody>
      </p:sp>
    </p:spTree>
    <p:custDataLst>
      <p:tags r:id="rId1"/>
    </p:custDataLst>
    <p:extLst>
      <p:ext uri="{BB962C8B-B14F-4D97-AF65-F5344CB8AC3E}">
        <p14:creationId xmlns:p14="http://schemas.microsoft.com/office/powerpoint/2010/main" val="20315003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P spid="99" grpId="0"/>
      <p:bldP spid="100" grpId="0"/>
      <p:bldP spid="101" grpId="0"/>
      <p:bldP spid="10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DA0860A-29B0-45EF-8C02-A4BF6197CAF8}"/>
              </a:ext>
            </a:extLst>
          </p:cNvPr>
          <p:cNvSpPr>
            <a:spLocks noChangeArrowheads="1"/>
          </p:cNvSpPr>
          <p:nvPr>
            <p:custDataLst>
              <p:tags r:id="rId2"/>
            </p:custDataLst>
          </p:nvPr>
        </p:nvSpPr>
        <p:spPr bwMode="auto">
          <a:xfrm>
            <a:off x="5638799" y="34734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400">
              <a:solidFill>
                <a:srgbClr val="000000"/>
              </a:solidFill>
              <a:latin typeface="Arial" panose="020B0604020202020204" pitchFamily="34" charset="0"/>
            </a:endParaRPr>
          </a:p>
        </p:txBody>
      </p:sp>
      <p:sp>
        <p:nvSpPr>
          <p:cNvPr id="19" name="Rectangle 18">
            <a:extLst>
              <a:ext uri="{FF2B5EF4-FFF2-40B4-BE49-F238E27FC236}">
                <a16:creationId xmlns:a16="http://schemas.microsoft.com/office/drawing/2014/main" id="{809F360C-5AE0-42BA-AEEC-90E40B682ED8}"/>
              </a:ext>
            </a:extLst>
          </p:cNvPr>
          <p:cNvSpPr>
            <a:spLocks noChangeArrowheads="1"/>
          </p:cNvSpPr>
          <p:nvPr>
            <p:custDataLst>
              <p:tags r:id="rId3"/>
            </p:custDataLst>
          </p:nvPr>
        </p:nvSpPr>
        <p:spPr bwMode="auto">
          <a:xfrm>
            <a:off x="5638799" y="37782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b="1" dirty="0">
              <a:solidFill>
                <a:srgbClr val="000000"/>
              </a:solidFill>
              <a:latin typeface="Arial" panose="020B0604020202020204" pitchFamily="34" charset="0"/>
            </a:endParaRPr>
          </a:p>
        </p:txBody>
      </p:sp>
      <p:sp>
        <p:nvSpPr>
          <p:cNvPr id="61" name="Line 59">
            <a:extLst>
              <a:ext uri="{FF2B5EF4-FFF2-40B4-BE49-F238E27FC236}">
                <a16:creationId xmlns:a16="http://schemas.microsoft.com/office/drawing/2014/main" id="{C22EB220-A81D-4CBD-92CF-F358B0AF7792}"/>
              </a:ext>
            </a:extLst>
          </p:cNvPr>
          <p:cNvSpPr>
            <a:spLocks noChangeShapeType="1"/>
          </p:cNvSpPr>
          <p:nvPr>
            <p:custDataLst>
              <p:tags r:id="rId4"/>
            </p:custDataLst>
          </p:nvPr>
        </p:nvSpPr>
        <p:spPr bwMode="auto">
          <a:xfrm>
            <a:off x="5337175" y="36258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2" name="Line 60">
            <a:extLst>
              <a:ext uri="{FF2B5EF4-FFF2-40B4-BE49-F238E27FC236}">
                <a16:creationId xmlns:a16="http://schemas.microsoft.com/office/drawing/2014/main" id="{9C28FBF7-C176-4E82-8CD4-07D22D205509}"/>
              </a:ext>
            </a:extLst>
          </p:cNvPr>
          <p:cNvSpPr>
            <a:spLocks noChangeShapeType="1"/>
          </p:cNvSpPr>
          <p:nvPr>
            <p:custDataLst>
              <p:tags r:id="rId5"/>
            </p:custDataLst>
          </p:nvPr>
        </p:nvSpPr>
        <p:spPr bwMode="auto">
          <a:xfrm>
            <a:off x="5337175" y="39306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3" name="Line 61">
            <a:extLst>
              <a:ext uri="{FF2B5EF4-FFF2-40B4-BE49-F238E27FC236}">
                <a16:creationId xmlns:a16="http://schemas.microsoft.com/office/drawing/2014/main" id="{AD2440E9-98FA-4622-B161-2F4D480745D1}"/>
              </a:ext>
            </a:extLst>
          </p:cNvPr>
          <p:cNvSpPr>
            <a:spLocks noChangeShapeType="1"/>
          </p:cNvSpPr>
          <p:nvPr>
            <p:custDataLst>
              <p:tags r:id="rId6"/>
            </p:custDataLst>
          </p:nvPr>
        </p:nvSpPr>
        <p:spPr bwMode="auto">
          <a:xfrm>
            <a:off x="5337175" y="42354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5" name="Line 63">
            <a:extLst>
              <a:ext uri="{FF2B5EF4-FFF2-40B4-BE49-F238E27FC236}">
                <a16:creationId xmlns:a16="http://schemas.microsoft.com/office/drawing/2014/main" id="{F876BB7A-187B-4E36-8694-A66BFBE07348}"/>
              </a:ext>
            </a:extLst>
          </p:cNvPr>
          <p:cNvSpPr>
            <a:spLocks noChangeShapeType="1"/>
          </p:cNvSpPr>
          <p:nvPr>
            <p:custDataLst>
              <p:tags r:id="rId7"/>
            </p:custDataLst>
          </p:nvPr>
        </p:nvSpPr>
        <p:spPr bwMode="auto">
          <a:xfrm>
            <a:off x="5484813" y="42354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6" name="Line 64">
            <a:extLst>
              <a:ext uri="{FF2B5EF4-FFF2-40B4-BE49-F238E27FC236}">
                <a16:creationId xmlns:a16="http://schemas.microsoft.com/office/drawing/2014/main" id="{7BF9AF9B-FF4B-4FE8-B324-3AD22CACC8DC}"/>
              </a:ext>
            </a:extLst>
          </p:cNvPr>
          <p:cNvSpPr>
            <a:spLocks noChangeShapeType="1"/>
          </p:cNvSpPr>
          <p:nvPr>
            <p:custDataLst>
              <p:tags r:id="rId8"/>
            </p:custDataLst>
          </p:nvPr>
        </p:nvSpPr>
        <p:spPr bwMode="auto">
          <a:xfrm>
            <a:off x="5491163" y="39306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7" name="Line 65">
            <a:extLst>
              <a:ext uri="{FF2B5EF4-FFF2-40B4-BE49-F238E27FC236}">
                <a16:creationId xmlns:a16="http://schemas.microsoft.com/office/drawing/2014/main" id="{F76CC7F0-A00D-4B1C-95C9-1B95BF7EED3A}"/>
              </a:ext>
            </a:extLst>
          </p:cNvPr>
          <p:cNvSpPr>
            <a:spLocks noChangeShapeType="1"/>
          </p:cNvSpPr>
          <p:nvPr>
            <p:custDataLst>
              <p:tags r:id="rId9"/>
            </p:custDataLst>
          </p:nvPr>
        </p:nvSpPr>
        <p:spPr bwMode="auto">
          <a:xfrm>
            <a:off x="5491163" y="36258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1" name="TextBox 100">
            <a:extLst>
              <a:ext uri="{FF2B5EF4-FFF2-40B4-BE49-F238E27FC236}">
                <a16:creationId xmlns:a16="http://schemas.microsoft.com/office/drawing/2014/main" id="{C167540B-1059-4DD3-9BEE-C667966F45FD}"/>
              </a:ext>
            </a:extLst>
          </p:cNvPr>
          <p:cNvSpPr txBox="1"/>
          <p:nvPr>
            <p:custDataLst>
              <p:tags r:id="rId10"/>
            </p:custDataLst>
          </p:nvPr>
        </p:nvSpPr>
        <p:spPr>
          <a:xfrm>
            <a:off x="5602540" y="3781723"/>
            <a:ext cx="2438399" cy="307777"/>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(0x1000F340 – 0x1000F37F)</a:t>
            </a:r>
          </a:p>
        </p:txBody>
      </p:sp>
      <p:sp>
        <p:nvSpPr>
          <p:cNvPr id="39940" name="Rectangle 2"/>
          <p:cNvSpPr>
            <a:spLocks noGrp="1" noChangeArrowheads="1"/>
          </p:cNvSpPr>
          <p:nvPr>
            <p:ph type="title"/>
            <p:custDataLst>
              <p:tags r:id="rId11"/>
            </p:custDataLst>
          </p:nvPr>
        </p:nvSpPr>
        <p:spPr>
          <a:xfrm>
            <a:off x="457200" y="274638"/>
            <a:ext cx="7467600" cy="1143000"/>
          </a:xfrm>
        </p:spPr>
        <p:txBody>
          <a:bodyPr/>
          <a:lstStyle/>
          <a:p>
            <a:r>
              <a:rPr lang="en-US" altLang="en-US" dirty="0"/>
              <a:t>Caches – Replacement</a:t>
            </a:r>
          </a:p>
        </p:txBody>
      </p:sp>
      <p:sp>
        <p:nvSpPr>
          <p:cNvPr id="39939" name="Slide Number Placeholder 5"/>
          <p:cNvSpPr>
            <a:spLocks noGrp="1"/>
          </p:cNvSpPr>
          <p:nvPr>
            <p:ph type="sldNum" sz="quarter" idx="12"/>
            <p:custDataLst>
              <p:tags r:id="rId1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6</a:t>
            </a:fld>
            <a:endParaRPr lang="en-US" altLang="en-US"/>
          </a:p>
        </p:txBody>
      </p:sp>
      <p:sp>
        <p:nvSpPr>
          <p:cNvPr id="5" name="TextBox 4">
            <a:extLst>
              <a:ext uri="{FF2B5EF4-FFF2-40B4-BE49-F238E27FC236}">
                <a16:creationId xmlns:a16="http://schemas.microsoft.com/office/drawing/2014/main" id="{E9EC2BE8-AE6F-479F-8F9F-2279BF9DD410}"/>
              </a:ext>
            </a:extLst>
          </p:cNvPr>
          <p:cNvSpPr txBox="1"/>
          <p:nvPr>
            <p:custDataLst>
              <p:tags r:id="rId13"/>
            </p:custDataLst>
          </p:nvPr>
        </p:nvSpPr>
        <p:spPr>
          <a:xfrm>
            <a:off x="526930" y="1414732"/>
            <a:ext cx="8388470" cy="1052532"/>
          </a:xfrm>
          <a:prstGeom prst="rect">
            <a:avLst/>
          </a:prstGeom>
          <a:noFill/>
        </p:spPr>
        <p:txBody>
          <a:bodyPr wrap="square" rtlCol="0" anchor="t">
            <a:noAutofit/>
          </a:bodyPr>
          <a:lstStyle/>
          <a:p>
            <a:r>
              <a:rPr lang="en-US" sz="2800" dirty="0">
                <a:latin typeface="+mn-lt"/>
              </a:rPr>
              <a:t>Memory address = { tag, index, block offset }</a:t>
            </a:r>
          </a:p>
          <a:p>
            <a:pPr marL="457200" indent="-457200">
              <a:buFont typeface="Arial" panose="020B0604020202020204" pitchFamily="34" charset="0"/>
              <a:buChar char="•"/>
            </a:pPr>
            <a:r>
              <a:rPr lang="en-US" sz="2400" dirty="0">
                <a:latin typeface="+mn-lt"/>
              </a:rPr>
              <a:t>e.g., 256B cache capacity (can hold four 64B blocks)</a:t>
            </a:r>
            <a:endParaRPr lang="en-US" sz="2000" dirty="0">
              <a:latin typeface="+mn-lt"/>
            </a:endParaRPr>
          </a:p>
        </p:txBody>
      </p:sp>
      <p:sp>
        <p:nvSpPr>
          <p:cNvPr id="9" name="Text Box 7">
            <a:extLst>
              <a:ext uri="{FF2B5EF4-FFF2-40B4-BE49-F238E27FC236}">
                <a16:creationId xmlns:a16="http://schemas.microsoft.com/office/drawing/2014/main" id="{CB0D281A-AEB7-4BE0-BE7A-B23F84B62664}"/>
              </a:ext>
            </a:extLst>
          </p:cNvPr>
          <p:cNvSpPr txBox="1">
            <a:spLocks noChangeArrowheads="1"/>
          </p:cNvSpPr>
          <p:nvPr>
            <p:custDataLst>
              <p:tags r:id="rId14"/>
            </p:custDataLst>
          </p:nvPr>
        </p:nvSpPr>
        <p:spPr bwMode="auto">
          <a:xfrm>
            <a:off x="6233826" y="6477000"/>
            <a:ext cx="13099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dirty="0">
                <a:solidFill>
                  <a:schemeClr val="tx1"/>
                </a:solidFill>
                <a:latin typeface="Arial" panose="020B0604020202020204" pitchFamily="34" charset="0"/>
              </a:rPr>
              <a:t>data word</a:t>
            </a:r>
          </a:p>
        </p:txBody>
      </p:sp>
      <p:sp>
        <p:nvSpPr>
          <p:cNvPr id="10" name="Freeform 8">
            <a:extLst>
              <a:ext uri="{FF2B5EF4-FFF2-40B4-BE49-F238E27FC236}">
                <a16:creationId xmlns:a16="http://schemas.microsoft.com/office/drawing/2014/main" id="{6631B068-328E-45A7-B915-D8DBE153E173}"/>
              </a:ext>
            </a:extLst>
          </p:cNvPr>
          <p:cNvSpPr>
            <a:spLocks/>
          </p:cNvSpPr>
          <p:nvPr>
            <p:custDataLst>
              <p:tags r:id="rId15"/>
            </p:custDataLst>
          </p:nvPr>
        </p:nvSpPr>
        <p:spPr bwMode="auto">
          <a:xfrm>
            <a:off x="6553200" y="5759450"/>
            <a:ext cx="609600" cy="304800"/>
          </a:xfrm>
          <a:custGeom>
            <a:avLst/>
            <a:gdLst>
              <a:gd name="T0" fmla="*/ 2147483646 w 384"/>
              <a:gd name="T1" fmla="*/ 0 h 192"/>
              <a:gd name="T2" fmla="*/ 0 w 384"/>
              <a:gd name="T3" fmla="*/ 2147483646 h 192"/>
              <a:gd name="T4" fmla="*/ 2147483646 w 384"/>
              <a:gd name="T5" fmla="*/ 2147483646 h 192"/>
              <a:gd name="T6" fmla="*/ 2147483646 w 384"/>
              <a:gd name="T7" fmla="*/ 0 h 192"/>
              <a:gd name="T8" fmla="*/ 2147483646 w 384"/>
              <a:gd name="T9" fmla="*/ 0 h 192"/>
              <a:gd name="T10" fmla="*/ 0 60000 65536"/>
              <a:gd name="T11" fmla="*/ 0 60000 65536"/>
              <a:gd name="T12" fmla="*/ 0 60000 65536"/>
              <a:gd name="T13" fmla="*/ 0 60000 65536"/>
              <a:gd name="T14" fmla="*/ 0 60000 65536"/>
              <a:gd name="T15" fmla="*/ 0 w 384"/>
              <a:gd name="T16" fmla="*/ 0 h 192"/>
              <a:gd name="T17" fmla="*/ 384 w 384"/>
              <a:gd name="T18" fmla="*/ 192 h 192"/>
            </a:gdLst>
            <a:ahLst/>
            <a:cxnLst>
              <a:cxn ang="T10">
                <a:pos x="T0" y="T1"/>
              </a:cxn>
              <a:cxn ang="T11">
                <a:pos x="T2" y="T3"/>
              </a:cxn>
              <a:cxn ang="T12">
                <a:pos x="T4" y="T5"/>
              </a:cxn>
              <a:cxn ang="T13">
                <a:pos x="T6" y="T7"/>
              </a:cxn>
              <a:cxn ang="T14">
                <a:pos x="T8" y="T9"/>
              </a:cxn>
            </a:cxnLst>
            <a:rect l="T15" t="T16" r="T17" b="T18"/>
            <a:pathLst>
              <a:path w="384" h="192">
                <a:moveTo>
                  <a:pt x="96" y="0"/>
                </a:moveTo>
                <a:lnTo>
                  <a:pt x="0" y="192"/>
                </a:lnTo>
                <a:lnTo>
                  <a:pt x="288" y="192"/>
                </a:lnTo>
                <a:lnTo>
                  <a:pt x="384" y="0"/>
                </a:lnTo>
                <a:lnTo>
                  <a:pt x="96" y="0"/>
                </a:lnTo>
                <a:close/>
              </a:path>
            </a:pathLst>
          </a:custGeom>
          <a:solidFill>
            <a:schemeClr val="accent5">
              <a:lumMod val="40000"/>
              <a:lumOff val="60000"/>
            </a:schemeClr>
          </a:solidFill>
          <a:ln w="28575">
            <a:solidFill>
              <a:srgbClr val="000000"/>
            </a:solidFill>
            <a:round/>
            <a:headEnd/>
            <a:tailEnd/>
          </a:ln>
        </p:spPr>
        <p:txBody>
          <a:bodyPr wrap="none" anchor="ctr"/>
          <a:lstStyle/>
          <a:p>
            <a:endParaRPr lang="en-US"/>
          </a:p>
        </p:txBody>
      </p:sp>
      <p:sp>
        <p:nvSpPr>
          <p:cNvPr id="11" name="Text Box 9">
            <a:extLst>
              <a:ext uri="{FF2B5EF4-FFF2-40B4-BE49-F238E27FC236}">
                <a16:creationId xmlns:a16="http://schemas.microsoft.com/office/drawing/2014/main" id="{457C09B0-0177-47AC-8258-D03BE8076724}"/>
              </a:ext>
            </a:extLst>
          </p:cNvPr>
          <p:cNvSpPr txBox="1">
            <a:spLocks noChangeArrowheads="1"/>
          </p:cNvSpPr>
          <p:nvPr>
            <p:custDataLst>
              <p:tags r:id="rId16"/>
            </p:custDataLst>
          </p:nvPr>
        </p:nvSpPr>
        <p:spPr bwMode="auto">
          <a:xfrm>
            <a:off x="6615113" y="5729288"/>
            <a:ext cx="481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a:solidFill>
                  <a:srgbClr val="000000"/>
                </a:solidFill>
                <a:latin typeface="Arial" panose="020B0604020202020204" pitchFamily="34" charset="0"/>
              </a:rPr>
              <a:t>&lt;&lt;</a:t>
            </a:r>
            <a:endParaRPr lang="en-US" altLang="en-US" sz="1800">
              <a:solidFill>
                <a:srgbClr val="000000"/>
              </a:solidFill>
              <a:latin typeface="Arial" panose="020B0604020202020204" pitchFamily="34" charset="0"/>
            </a:endParaRPr>
          </a:p>
        </p:txBody>
      </p:sp>
      <p:sp>
        <p:nvSpPr>
          <p:cNvPr id="12" name="Line 10">
            <a:extLst>
              <a:ext uri="{FF2B5EF4-FFF2-40B4-BE49-F238E27FC236}">
                <a16:creationId xmlns:a16="http://schemas.microsoft.com/office/drawing/2014/main" id="{A2483CB9-1089-4775-A921-5CD0CBA72118}"/>
              </a:ext>
            </a:extLst>
          </p:cNvPr>
          <p:cNvSpPr>
            <a:spLocks noChangeShapeType="1"/>
          </p:cNvSpPr>
          <p:nvPr>
            <p:custDataLst>
              <p:tags r:id="rId17"/>
            </p:custDataLst>
          </p:nvPr>
        </p:nvSpPr>
        <p:spPr bwMode="auto">
          <a:xfrm>
            <a:off x="6865938" y="6080125"/>
            <a:ext cx="0" cy="51752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1">
            <a:extLst>
              <a:ext uri="{FF2B5EF4-FFF2-40B4-BE49-F238E27FC236}">
                <a16:creationId xmlns:a16="http://schemas.microsoft.com/office/drawing/2014/main" id="{38DAF782-9B2D-4275-BB1D-25D5126C522B}"/>
              </a:ext>
            </a:extLst>
          </p:cNvPr>
          <p:cNvSpPr>
            <a:spLocks noChangeShapeType="1"/>
          </p:cNvSpPr>
          <p:nvPr>
            <p:custDataLst>
              <p:tags r:id="rId18"/>
            </p:custDataLst>
          </p:nvPr>
        </p:nvSpPr>
        <p:spPr bwMode="auto">
          <a:xfrm flipV="1">
            <a:off x="1143000" y="5927725"/>
            <a:ext cx="5472113" cy="0"/>
          </a:xfrm>
          <a:prstGeom prst="line">
            <a:avLst/>
          </a:prstGeom>
          <a:noFill/>
          <a:ln w="28575">
            <a:solidFill>
              <a:srgbClr val="000000"/>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 name="Rectangle 19">
            <a:extLst>
              <a:ext uri="{FF2B5EF4-FFF2-40B4-BE49-F238E27FC236}">
                <a16:creationId xmlns:a16="http://schemas.microsoft.com/office/drawing/2014/main" id="{C292BE68-3505-42DE-B209-FAEE1C8C0D79}"/>
              </a:ext>
            </a:extLst>
          </p:cNvPr>
          <p:cNvSpPr>
            <a:spLocks noChangeArrowheads="1"/>
          </p:cNvSpPr>
          <p:nvPr>
            <p:custDataLst>
              <p:tags r:id="rId19"/>
            </p:custDataLst>
          </p:nvPr>
        </p:nvSpPr>
        <p:spPr bwMode="auto">
          <a:xfrm>
            <a:off x="5638799" y="43878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400">
              <a:solidFill>
                <a:srgbClr val="000000"/>
              </a:solidFill>
              <a:latin typeface="Arial" panose="020B0604020202020204" pitchFamily="34" charset="0"/>
            </a:endParaRPr>
          </a:p>
        </p:txBody>
      </p:sp>
      <p:sp>
        <p:nvSpPr>
          <p:cNvPr id="21" name="Rectangle 20">
            <a:extLst>
              <a:ext uri="{FF2B5EF4-FFF2-40B4-BE49-F238E27FC236}">
                <a16:creationId xmlns:a16="http://schemas.microsoft.com/office/drawing/2014/main" id="{8377E898-036A-4695-81A7-8D8515E971C6}"/>
              </a:ext>
            </a:extLst>
          </p:cNvPr>
          <p:cNvSpPr>
            <a:spLocks noChangeArrowheads="1"/>
          </p:cNvSpPr>
          <p:nvPr>
            <p:custDataLst>
              <p:tags r:id="rId20"/>
            </p:custDataLst>
          </p:nvPr>
        </p:nvSpPr>
        <p:spPr bwMode="auto">
          <a:xfrm>
            <a:off x="5638799" y="40830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a:solidFill>
                <a:srgbClr val="000000"/>
              </a:solidFill>
              <a:latin typeface="Arial" panose="020B0604020202020204" pitchFamily="34" charset="0"/>
            </a:endParaRPr>
          </a:p>
        </p:txBody>
      </p:sp>
      <p:sp>
        <p:nvSpPr>
          <p:cNvPr id="22" name="Rectangle 21">
            <a:extLst>
              <a:ext uri="{FF2B5EF4-FFF2-40B4-BE49-F238E27FC236}">
                <a16:creationId xmlns:a16="http://schemas.microsoft.com/office/drawing/2014/main" id="{FC828AD5-28E8-49A2-8498-9A483299A828}"/>
              </a:ext>
            </a:extLst>
          </p:cNvPr>
          <p:cNvSpPr>
            <a:spLocks noChangeArrowheads="1"/>
          </p:cNvSpPr>
          <p:nvPr>
            <p:custDataLst>
              <p:tags r:id="rId21"/>
            </p:custDataLst>
          </p:nvPr>
        </p:nvSpPr>
        <p:spPr bwMode="auto">
          <a:xfrm>
            <a:off x="3352800" y="34734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400">
              <a:solidFill>
                <a:srgbClr val="000000"/>
              </a:solidFill>
              <a:latin typeface="Arial" panose="020B0604020202020204" pitchFamily="34" charset="0"/>
            </a:endParaRPr>
          </a:p>
        </p:txBody>
      </p:sp>
      <p:sp>
        <p:nvSpPr>
          <p:cNvPr id="23" name="Rectangle 22">
            <a:extLst>
              <a:ext uri="{FF2B5EF4-FFF2-40B4-BE49-F238E27FC236}">
                <a16:creationId xmlns:a16="http://schemas.microsoft.com/office/drawing/2014/main" id="{BEEA400F-EED3-468F-BBE1-5FB439BEDAC9}"/>
              </a:ext>
            </a:extLst>
          </p:cNvPr>
          <p:cNvSpPr>
            <a:spLocks noChangeArrowheads="1"/>
          </p:cNvSpPr>
          <p:nvPr>
            <p:custDataLst>
              <p:tags r:id="rId22"/>
            </p:custDataLst>
          </p:nvPr>
        </p:nvSpPr>
        <p:spPr bwMode="auto">
          <a:xfrm>
            <a:off x="3352800" y="37782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b="1" dirty="0">
              <a:solidFill>
                <a:srgbClr val="000000"/>
              </a:solidFill>
              <a:latin typeface="Arial" panose="020B0604020202020204" pitchFamily="34" charset="0"/>
            </a:endParaRPr>
          </a:p>
        </p:txBody>
      </p:sp>
      <p:sp>
        <p:nvSpPr>
          <p:cNvPr id="24" name="Rectangle 23">
            <a:extLst>
              <a:ext uri="{FF2B5EF4-FFF2-40B4-BE49-F238E27FC236}">
                <a16:creationId xmlns:a16="http://schemas.microsoft.com/office/drawing/2014/main" id="{1758F168-7E48-4413-AA3F-DCA1E967F5F1}"/>
              </a:ext>
            </a:extLst>
          </p:cNvPr>
          <p:cNvSpPr>
            <a:spLocks noChangeArrowheads="1"/>
          </p:cNvSpPr>
          <p:nvPr>
            <p:custDataLst>
              <p:tags r:id="rId23"/>
            </p:custDataLst>
          </p:nvPr>
        </p:nvSpPr>
        <p:spPr bwMode="auto">
          <a:xfrm>
            <a:off x="3352800" y="43878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400">
              <a:solidFill>
                <a:srgbClr val="000000"/>
              </a:solidFill>
              <a:latin typeface="Arial" panose="020B0604020202020204" pitchFamily="34" charset="0"/>
            </a:endParaRPr>
          </a:p>
        </p:txBody>
      </p:sp>
      <p:sp>
        <p:nvSpPr>
          <p:cNvPr id="25" name="Rectangle 24">
            <a:extLst>
              <a:ext uri="{FF2B5EF4-FFF2-40B4-BE49-F238E27FC236}">
                <a16:creationId xmlns:a16="http://schemas.microsoft.com/office/drawing/2014/main" id="{016C9141-6F13-409B-8A96-762011F2E9FE}"/>
              </a:ext>
            </a:extLst>
          </p:cNvPr>
          <p:cNvSpPr>
            <a:spLocks noChangeArrowheads="1"/>
          </p:cNvSpPr>
          <p:nvPr>
            <p:custDataLst>
              <p:tags r:id="rId24"/>
            </p:custDataLst>
          </p:nvPr>
        </p:nvSpPr>
        <p:spPr bwMode="auto">
          <a:xfrm>
            <a:off x="3352800" y="40830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a:solidFill>
                <a:srgbClr val="000000"/>
              </a:solidFill>
              <a:latin typeface="Arial" panose="020B0604020202020204" pitchFamily="34" charset="0"/>
            </a:endParaRPr>
          </a:p>
        </p:txBody>
      </p:sp>
      <p:sp>
        <p:nvSpPr>
          <p:cNvPr id="26" name="Line 24">
            <a:extLst>
              <a:ext uri="{FF2B5EF4-FFF2-40B4-BE49-F238E27FC236}">
                <a16:creationId xmlns:a16="http://schemas.microsoft.com/office/drawing/2014/main" id="{BA6D80A7-8F8C-494D-974D-4E2AC5AED495}"/>
              </a:ext>
            </a:extLst>
          </p:cNvPr>
          <p:cNvSpPr>
            <a:spLocks noChangeShapeType="1"/>
          </p:cNvSpPr>
          <p:nvPr>
            <p:custDataLst>
              <p:tags r:id="rId25"/>
            </p:custDataLst>
          </p:nvPr>
        </p:nvSpPr>
        <p:spPr bwMode="auto">
          <a:xfrm>
            <a:off x="6865938" y="5302250"/>
            <a:ext cx="0" cy="4572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5">
            <a:extLst>
              <a:ext uri="{FF2B5EF4-FFF2-40B4-BE49-F238E27FC236}">
                <a16:creationId xmlns:a16="http://schemas.microsoft.com/office/drawing/2014/main" id="{38134F07-7AF2-4194-93CA-3BF9FA89989E}"/>
              </a:ext>
            </a:extLst>
          </p:cNvPr>
          <p:cNvSpPr>
            <a:spLocks noChangeShapeType="1"/>
          </p:cNvSpPr>
          <p:nvPr>
            <p:custDataLst>
              <p:tags r:id="rId26"/>
            </p:custDataLst>
          </p:nvPr>
        </p:nvSpPr>
        <p:spPr bwMode="auto">
          <a:xfrm flipV="1">
            <a:off x="4251960" y="5302250"/>
            <a:ext cx="146304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 name="AutoShape 38">
            <a:extLst>
              <a:ext uri="{FF2B5EF4-FFF2-40B4-BE49-F238E27FC236}">
                <a16:creationId xmlns:a16="http://schemas.microsoft.com/office/drawing/2014/main" id="{D5F199AC-8DBF-4D45-ABEA-A91AB71129A2}"/>
              </a:ext>
            </a:extLst>
          </p:cNvPr>
          <p:cNvSpPr>
            <a:spLocks noChangeArrowheads="1"/>
          </p:cNvSpPr>
          <p:nvPr>
            <p:custDataLst>
              <p:tags r:id="rId27"/>
            </p:custDataLst>
          </p:nvPr>
        </p:nvSpPr>
        <p:spPr bwMode="auto">
          <a:xfrm>
            <a:off x="3718560" y="5149850"/>
            <a:ext cx="548640" cy="304800"/>
          </a:xfrm>
          <a:prstGeom prst="flowChartTerminator">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2000">
                <a:solidFill>
                  <a:srgbClr val="000000"/>
                </a:solidFill>
                <a:latin typeface="Arial" panose="020B0604020202020204" pitchFamily="34" charset="0"/>
              </a:rPr>
              <a:t>=</a:t>
            </a:r>
          </a:p>
        </p:txBody>
      </p:sp>
      <p:sp>
        <p:nvSpPr>
          <p:cNvPr id="41" name="Line 39">
            <a:extLst>
              <a:ext uri="{FF2B5EF4-FFF2-40B4-BE49-F238E27FC236}">
                <a16:creationId xmlns:a16="http://schemas.microsoft.com/office/drawing/2014/main" id="{2B83041B-77CA-45A4-A7E4-FCED2F1FC711}"/>
              </a:ext>
            </a:extLst>
          </p:cNvPr>
          <p:cNvSpPr>
            <a:spLocks noChangeShapeType="1"/>
          </p:cNvSpPr>
          <p:nvPr>
            <p:custDataLst>
              <p:tags r:id="rId28"/>
            </p:custDataLst>
          </p:nvPr>
        </p:nvSpPr>
        <p:spPr bwMode="auto">
          <a:xfrm>
            <a:off x="4038600" y="4692650"/>
            <a:ext cx="0" cy="4572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42">
            <a:extLst>
              <a:ext uri="{FF2B5EF4-FFF2-40B4-BE49-F238E27FC236}">
                <a16:creationId xmlns:a16="http://schemas.microsoft.com/office/drawing/2014/main" id="{6F48C698-B243-4D2F-A49F-0BB6ACFC8BA1}"/>
              </a:ext>
            </a:extLst>
          </p:cNvPr>
          <p:cNvSpPr>
            <a:spLocks noChangeShapeType="1"/>
          </p:cNvSpPr>
          <p:nvPr>
            <p:custDataLst>
              <p:tags r:id="rId29"/>
            </p:custDataLst>
          </p:nvPr>
        </p:nvSpPr>
        <p:spPr bwMode="auto">
          <a:xfrm>
            <a:off x="3046413" y="36258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43">
            <a:extLst>
              <a:ext uri="{FF2B5EF4-FFF2-40B4-BE49-F238E27FC236}">
                <a16:creationId xmlns:a16="http://schemas.microsoft.com/office/drawing/2014/main" id="{4BE17ECF-F04D-41D6-8AAB-A68C6EEB2E2A}"/>
              </a:ext>
            </a:extLst>
          </p:cNvPr>
          <p:cNvSpPr>
            <a:spLocks noChangeShapeType="1"/>
          </p:cNvSpPr>
          <p:nvPr>
            <p:custDataLst>
              <p:tags r:id="rId30"/>
            </p:custDataLst>
          </p:nvPr>
        </p:nvSpPr>
        <p:spPr bwMode="auto">
          <a:xfrm>
            <a:off x="3046413" y="39306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44">
            <a:extLst>
              <a:ext uri="{FF2B5EF4-FFF2-40B4-BE49-F238E27FC236}">
                <a16:creationId xmlns:a16="http://schemas.microsoft.com/office/drawing/2014/main" id="{1EA30915-C6BF-4E82-9924-D93D14B16409}"/>
              </a:ext>
            </a:extLst>
          </p:cNvPr>
          <p:cNvSpPr>
            <a:spLocks noChangeShapeType="1"/>
          </p:cNvSpPr>
          <p:nvPr>
            <p:custDataLst>
              <p:tags r:id="rId31"/>
            </p:custDataLst>
          </p:nvPr>
        </p:nvSpPr>
        <p:spPr bwMode="auto">
          <a:xfrm>
            <a:off x="3046413" y="42354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 name="Freeform 45">
            <a:extLst>
              <a:ext uri="{FF2B5EF4-FFF2-40B4-BE49-F238E27FC236}">
                <a16:creationId xmlns:a16="http://schemas.microsoft.com/office/drawing/2014/main" id="{98AAAA89-3F96-4D57-8082-2C76925A7E88}"/>
              </a:ext>
            </a:extLst>
          </p:cNvPr>
          <p:cNvSpPr>
            <a:spLocks/>
          </p:cNvSpPr>
          <p:nvPr>
            <p:custDataLst>
              <p:tags r:id="rId32"/>
            </p:custDataLst>
          </p:nvPr>
        </p:nvSpPr>
        <p:spPr bwMode="auto">
          <a:xfrm flipH="1">
            <a:off x="3048000" y="3473450"/>
            <a:ext cx="152400" cy="1219200"/>
          </a:xfrm>
          <a:custGeom>
            <a:avLst/>
            <a:gdLst>
              <a:gd name="T0" fmla="*/ 0 w 192"/>
              <a:gd name="T1" fmla="*/ 0 h 2496"/>
              <a:gd name="T2" fmla="*/ 0 w 192"/>
              <a:gd name="T3" fmla="*/ 2147483646 h 2496"/>
              <a:gd name="T4" fmla="*/ 2147483646 w 192"/>
              <a:gd name="T5" fmla="*/ 2147483646 h 2496"/>
              <a:gd name="T6" fmla="*/ 2147483646 w 192"/>
              <a:gd name="T7" fmla="*/ 2147483646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chemeClr val="accent3">
              <a:lumMod val="40000"/>
              <a:lumOff val="60000"/>
            </a:schemeClr>
          </a:solidFill>
          <a:ln w="28575">
            <a:solidFill>
              <a:srgbClr val="000000"/>
            </a:solidFill>
            <a:round/>
            <a:headEnd/>
            <a:tailEnd/>
          </a:ln>
        </p:spPr>
        <p:txBody>
          <a:bodyPr wrap="none" anchor="ctr"/>
          <a:lstStyle/>
          <a:p>
            <a:endParaRPr lang="en-US"/>
          </a:p>
        </p:txBody>
      </p:sp>
      <p:sp>
        <p:nvSpPr>
          <p:cNvPr id="48" name="Line 46">
            <a:extLst>
              <a:ext uri="{FF2B5EF4-FFF2-40B4-BE49-F238E27FC236}">
                <a16:creationId xmlns:a16="http://schemas.microsoft.com/office/drawing/2014/main" id="{8CBBFFAA-9E7A-45DB-B878-5E370136A6D6}"/>
              </a:ext>
            </a:extLst>
          </p:cNvPr>
          <p:cNvSpPr>
            <a:spLocks noChangeShapeType="1"/>
          </p:cNvSpPr>
          <p:nvPr>
            <p:custDataLst>
              <p:tags r:id="rId33"/>
            </p:custDataLst>
          </p:nvPr>
        </p:nvSpPr>
        <p:spPr bwMode="auto">
          <a:xfrm>
            <a:off x="3194050" y="42354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 name="Line 47">
            <a:extLst>
              <a:ext uri="{FF2B5EF4-FFF2-40B4-BE49-F238E27FC236}">
                <a16:creationId xmlns:a16="http://schemas.microsoft.com/office/drawing/2014/main" id="{9C19AF6E-0C5B-46EE-8595-59541AA85A7A}"/>
              </a:ext>
            </a:extLst>
          </p:cNvPr>
          <p:cNvSpPr>
            <a:spLocks noChangeShapeType="1"/>
          </p:cNvSpPr>
          <p:nvPr>
            <p:custDataLst>
              <p:tags r:id="rId34"/>
            </p:custDataLst>
          </p:nvPr>
        </p:nvSpPr>
        <p:spPr bwMode="auto">
          <a:xfrm>
            <a:off x="3200400" y="39306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 name="Line 48">
            <a:extLst>
              <a:ext uri="{FF2B5EF4-FFF2-40B4-BE49-F238E27FC236}">
                <a16:creationId xmlns:a16="http://schemas.microsoft.com/office/drawing/2014/main" id="{31C63BF1-D1BA-4D0B-9DB5-E01F0C69DE82}"/>
              </a:ext>
            </a:extLst>
          </p:cNvPr>
          <p:cNvSpPr>
            <a:spLocks noChangeShapeType="1"/>
          </p:cNvSpPr>
          <p:nvPr>
            <p:custDataLst>
              <p:tags r:id="rId35"/>
            </p:custDataLst>
          </p:nvPr>
        </p:nvSpPr>
        <p:spPr bwMode="auto">
          <a:xfrm>
            <a:off x="3200400" y="36258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49">
            <a:extLst>
              <a:ext uri="{FF2B5EF4-FFF2-40B4-BE49-F238E27FC236}">
                <a16:creationId xmlns:a16="http://schemas.microsoft.com/office/drawing/2014/main" id="{CC7BF552-16E0-437D-9955-32C61B27C92F}"/>
              </a:ext>
            </a:extLst>
          </p:cNvPr>
          <p:cNvSpPr>
            <a:spLocks noChangeShapeType="1"/>
          </p:cNvSpPr>
          <p:nvPr>
            <p:custDataLst>
              <p:tags r:id="rId36"/>
            </p:custDataLst>
          </p:nvPr>
        </p:nvSpPr>
        <p:spPr bwMode="auto">
          <a:xfrm>
            <a:off x="3200400" y="45402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4" name="Freeform 62">
            <a:extLst>
              <a:ext uri="{FF2B5EF4-FFF2-40B4-BE49-F238E27FC236}">
                <a16:creationId xmlns:a16="http://schemas.microsoft.com/office/drawing/2014/main" id="{BB1836E8-2F3F-4EC3-82A3-1EFB9CA5F975}"/>
              </a:ext>
            </a:extLst>
          </p:cNvPr>
          <p:cNvSpPr>
            <a:spLocks/>
          </p:cNvSpPr>
          <p:nvPr>
            <p:custDataLst>
              <p:tags r:id="rId37"/>
            </p:custDataLst>
          </p:nvPr>
        </p:nvSpPr>
        <p:spPr bwMode="auto">
          <a:xfrm flipH="1">
            <a:off x="5338763" y="3473450"/>
            <a:ext cx="152400" cy="1219200"/>
          </a:xfrm>
          <a:custGeom>
            <a:avLst/>
            <a:gdLst>
              <a:gd name="T0" fmla="*/ 0 w 192"/>
              <a:gd name="T1" fmla="*/ 0 h 2496"/>
              <a:gd name="T2" fmla="*/ 0 w 192"/>
              <a:gd name="T3" fmla="*/ 2147483646 h 2496"/>
              <a:gd name="T4" fmla="*/ 2147483646 w 192"/>
              <a:gd name="T5" fmla="*/ 2147483646 h 2496"/>
              <a:gd name="T6" fmla="*/ 2147483646 w 192"/>
              <a:gd name="T7" fmla="*/ 2147483646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chemeClr val="accent3">
              <a:lumMod val="40000"/>
              <a:lumOff val="60000"/>
            </a:schemeClr>
          </a:solidFill>
          <a:ln w="28575">
            <a:solidFill>
              <a:srgbClr val="000000"/>
            </a:solidFill>
            <a:round/>
            <a:headEnd/>
            <a:tailEnd/>
          </a:ln>
        </p:spPr>
        <p:txBody>
          <a:bodyPr wrap="none" anchor="ctr"/>
          <a:lstStyle/>
          <a:p>
            <a:endParaRPr lang="en-US"/>
          </a:p>
        </p:txBody>
      </p:sp>
      <p:sp>
        <p:nvSpPr>
          <p:cNvPr id="68" name="Line 66">
            <a:extLst>
              <a:ext uri="{FF2B5EF4-FFF2-40B4-BE49-F238E27FC236}">
                <a16:creationId xmlns:a16="http://schemas.microsoft.com/office/drawing/2014/main" id="{B226C52D-61E7-47B9-876B-ABA31DF72333}"/>
              </a:ext>
            </a:extLst>
          </p:cNvPr>
          <p:cNvSpPr>
            <a:spLocks noChangeShapeType="1"/>
          </p:cNvSpPr>
          <p:nvPr>
            <p:custDataLst>
              <p:tags r:id="rId38"/>
            </p:custDataLst>
          </p:nvPr>
        </p:nvSpPr>
        <p:spPr bwMode="auto">
          <a:xfrm>
            <a:off x="5491163" y="45402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9" name="Rectangle 68">
            <a:extLst>
              <a:ext uri="{FF2B5EF4-FFF2-40B4-BE49-F238E27FC236}">
                <a16:creationId xmlns:a16="http://schemas.microsoft.com/office/drawing/2014/main" id="{6EC20907-9242-4438-88FC-64A27AF45B4B}"/>
              </a:ext>
            </a:extLst>
          </p:cNvPr>
          <p:cNvSpPr>
            <a:spLocks noChangeArrowheads="1"/>
          </p:cNvSpPr>
          <p:nvPr>
            <p:custDataLst>
              <p:tags r:id="rId39"/>
            </p:custDataLst>
          </p:nvPr>
        </p:nvSpPr>
        <p:spPr bwMode="auto">
          <a:xfrm>
            <a:off x="3338513" y="2635250"/>
            <a:ext cx="922337" cy="304800"/>
          </a:xfrm>
          <a:prstGeom prst="rect">
            <a:avLst/>
          </a:prstGeom>
          <a:solidFill>
            <a:schemeClr val="accent5">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1200" dirty="0">
                <a:solidFill>
                  <a:srgbClr val="000000"/>
                </a:solidFill>
                <a:latin typeface="Arial" panose="020B0604020202020204" pitchFamily="34" charset="0"/>
              </a:rPr>
              <a:t>6-bit offset</a:t>
            </a:r>
          </a:p>
        </p:txBody>
      </p:sp>
      <p:sp>
        <p:nvSpPr>
          <p:cNvPr id="70" name="Rectangle 69">
            <a:extLst>
              <a:ext uri="{FF2B5EF4-FFF2-40B4-BE49-F238E27FC236}">
                <a16:creationId xmlns:a16="http://schemas.microsoft.com/office/drawing/2014/main" id="{F24D4EAA-715B-4391-902F-1F827F36C938}"/>
              </a:ext>
            </a:extLst>
          </p:cNvPr>
          <p:cNvSpPr>
            <a:spLocks noChangeArrowheads="1"/>
          </p:cNvSpPr>
          <p:nvPr>
            <p:custDataLst>
              <p:tags r:id="rId40"/>
            </p:custDataLst>
          </p:nvPr>
        </p:nvSpPr>
        <p:spPr bwMode="auto">
          <a:xfrm>
            <a:off x="1371600" y="2635250"/>
            <a:ext cx="106045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1200" dirty="0">
                <a:solidFill>
                  <a:srgbClr val="000000"/>
                </a:solidFill>
                <a:latin typeface="Arial" panose="020B0604020202020204" pitchFamily="34" charset="0"/>
              </a:rPr>
              <a:t>24-bit tag</a:t>
            </a:r>
            <a:endParaRPr lang="en-US" altLang="en-US" sz="1000" dirty="0">
              <a:solidFill>
                <a:schemeClr val="accent1"/>
              </a:solidFill>
              <a:latin typeface="Arial" panose="020B0604020202020204" pitchFamily="34" charset="0"/>
            </a:endParaRPr>
          </a:p>
        </p:txBody>
      </p:sp>
      <p:sp>
        <p:nvSpPr>
          <p:cNvPr id="71" name="Rectangle 70">
            <a:extLst>
              <a:ext uri="{FF2B5EF4-FFF2-40B4-BE49-F238E27FC236}">
                <a16:creationId xmlns:a16="http://schemas.microsoft.com/office/drawing/2014/main" id="{4B227EA0-FD52-4F3B-84E6-44AD3A047AFF}"/>
              </a:ext>
            </a:extLst>
          </p:cNvPr>
          <p:cNvSpPr>
            <a:spLocks noChangeArrowheads="1"/>
          </p:cNvSpPr>
          <p:nvPr>
            <p:custDataLst>
              <p:tags r:id="rId41"/>
            </p:custDataLst>
          </p:nvPr>
        </p:nvSpPr>
        <p:spPr bwMode="auto">
          <a:xfrm>
            <a:off x="2432050" y="2635250"/>
            <a:ext cx="914400" cy="304800"/>
          </a:xfrm>
          <a:prstGeom prst="rect">
            <a:avLst/>
          </a:prstGeom>
          <a:solidFill>
            <a:schemeClr val="accent3">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1200">
                <a:solidFill>
                  <a:srgbClr val="000000"/>
                </a:solidFill>
                <a:latin typeface="Arial" panose="020B0604020202020204" pitchFamily="34" charset="0"/>
              </a:rPr>
              <a:t>2-bit index</a:t>
            </a:r>
          </a:p>
        </p:txBody>
      </p:sp>
      <p:sp>
        <p:nvSpPr>
          <p:cNvPr id="72" name="AutoShape 70">
            <a:extLst>
              <a:ext uri="{FF2B5EF4-FFF2-40B4-BE49-F238E27FC236}">
                <a16:creationId xmlns:a16="http://schemas.microsoft.com/office/drawing/2014/main" id="{55116F2C-8BBD-4EEF-B899-DBEFD43F5583}"/>
              </a:ext>
            </a:extLst>
          </p:cNvPr>
          <p:cNvSpPr>
            <a:spLocks noChangeArrowheads="1"/>
          </p:cNvSpPr>
          <p:nvPr>
            <p:custDataLst>
              <p:tags r:id="rId42"/>
            </p:custDataLst>
          </p:nvPr>
        </p:nvSpPr>
        <p:spPr bwMode="auto">
          <a:xfrm rot="5400000" flipH="1" flipV="1">
            <a:off x="1181100" y="2597150"/>
            <a:ext cx="304800" cy="381000"/>
          </a:xfrm>
          <a:prstGeom prst="flowChartDocument">
            <a:avLst/>
          </a:prstGeom>
          <a:solidFill>
            <a:schemeClr val="bg1"/>
          </a:solidFill>
          <a:ln w="28575">
            <a:solidFill>
              <a:schemeClr val="bg1"/>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800">
              <a:solidFill>
                <a:schemeClr val="accent1"/>
              </a:solidFill>
              <a:latin typeface="Arial" panose="020B0604020202020204" pitchFamily="34" charset="0"/>
            </a:endParaRPr>
          </a:p>
        </p:txBody>
      </p:sp>
      <p:sp>
        <p:nvSpPr>
          <p:cNvPr id="73" name="Freeform 71">
            <a:extLst>
              <a:ext uri="{FF2B5EF4-FFF2-40B4-BE49-F238E27FC236}">
                <a16:creationId xmlns:a16="http://schemas.microsoft.com/office/drawing/2014/main" id="{E1CF307A-0E66-442A-BE93-E42EF343854E}"/>
              </a:ext>
            </a:extLst>
          </p:cNvPr>
          <p:cNvSpPr>
            <a:spLocks/>
          </p:cNvSpPr>
          <p:nvPr>
            <p:custDataLst>
              <p:tags r:id="rId43"/>
            </p:custDataLst>
          </p:nvPr>
        </p:nvSpPr>
        <p:spPr bwMode="auto">
          <a:xfrm flipV="1">
            <a:off x="2749550" y="2940050"/>
            <a:ext cx="296863" cy="1196975"/>
          </a:xfrm>
          <a:custGeom>
            <a:avLst/>
            <a:gdLst>
              <a:gd name="T0" fmla="*/ 0 w 144"/>
              <a:gd name="T1" fmla="*/ 2147483646 h 2016"/>
              <a:gd name="T2" fmla="*/ 0 w 144"/>
              <a:gd name="T3" fmla="*/ 0 h 2016"/>
              <a:gd name="T4" fmla="*/ 2147483646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4" name="Freeform 72">
            <a:extLst>
              <a:ext uri="{FF2B5EF4-FFF2-40B4-BE49-F238E27FC236}">
                <a16:creationId xmlns:a16="http://schemas.microsoft.com/office/drawing/2014/main" id="{8BFF498B-C679-4CF3-ADE4-7DA1A8A683D6}"/>
              </a:ext>
            </a:extLst>
          </p:cNvPr>
          <p:cNvSpPr>
            <a:spLocks/>
          </p:cNvSpPr>
          <p:nvPr>
            <p:custDataLst>
              <p:tags r:id="rId44"/>
            </p:custDataLst>
          </p:nvPr>
        </p:nvSpPr>
        <p:spPr bwMode="auto">
          <a:xfrm flipV="1">
            <a:off x="5113338" y="3168650"/>
            <a:ext cx="225425" cy="968375"/>
          </a:xfrm>
          <a:custGeom>
            <a:avLst/>
            <a:gdLst>
              <a:gd name="T0" fmla="*/ 0 w 144"/>
              <a:gd name="T1" fmla="*/ 2147483646 h 2016"/>
              <a:gd name="T2" fmla="*/ 0 w 144"/>
              <a:gd name="T3" fmla="*/ 0 h 2016"/>
              <a:gd name="T4" fmla="*/ 2147483646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5" name="Line 73">
            <a:extLst>
              <a:ext uri="{FF2B5EF4-FFF2-40B4-BE49-F238E27FC236}">
                <a16:creationId xmlns:a16="http://schemas.microsoft.com/office/drawing/2014/main" id="{5B76B998-0D4B-472C-B995-D3B924FCA0A0}"/>
              </a:ext>
            </a:extLst>
          </p:cNvPr>
          <p:cNvSpPr>
            <a:spLocks noChangeShapeType="1"/>
          </p:cNvSpPr>
          <p:nvPr>
            <p:custDataLst>
              <p:tags r:id="rId45"/>
            </p:custDataLst>
          </p:nvPr>
        </p:nvSpPr>
        <p:spPr bwMode="auto">
          <a:xfrm flipH="1">
            <a:off x="2749550" y="3168650"/>
            <a:ext cx="23637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 name="Line 74">
            <a:extLst>
              <a:ext uri="{FF2B5EF4-FFF2-40B4-BE49-F238E27FC236}">
                <a16:creationId xmlns:a16="http://schemas.microsoft.com/office/drawing/2014/main" id="{45C66407-D791-495C-B938-801998A0C907}"/>
              </a:ext>
            </a:extLst>
          </p:cNvPr>
          <p:cNvSpPr>
            <a:spLocks noChangeShapeType="1"/>
          </p:cNvSpPr>
          <p:nvPr>
            <p:custDataLst>
              <p:tags r:id="rId46"/>
            </p:custDataLst>
          </p:nvPr>
        </p:nvSpPr>
        <p:spPr bwMode="auto">
          <a:xfrm>
            <a:off x="6858000" y="4692650"/>
            <a:ext cx="0" cy="5334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0" name="Freeform 78">
            <a:extLst>
              <a:ext uri="{FF2B5EF4-FFF2-40B4-BE49-F238E27FC236}">
                <a16:creationId xmlns:a16="http://schemas.microsoft.com/office/drawing/2014/main" id="{1F7BEAEC-98CB-4298-BC2B-7EF635036FEC}"/>
              </a:ext>
            </a:extLst>
          </p:cNvPr>
          <p:cNvSpPr>
            <a:spLocks/>
          </p:cNvSpPr>
          <p:nvPr>
            <p:custDataLst>
              <p:tags r:id="rId47"/>
            </p:custDataLst>
          </p:nvPr>
        </p:nvSpPr>
        <p:spPr bwMode="auto">
          <a:xfrm rot="16200000" flipH="1">
            <a:off x="6784182" y="4090193"/>
            <a:ext cx="152400" cy="2424113"/>
          </a:xfrm>
          <a:custGeom>
            <a:avLst/>
            <a:gdLst>
              <a:gd name="T0" fmla="*/ 0 w 192"/>
              <a:gd name="T1" fmla="*/ 0 h 2496"/>
              <a:gd name="T2" fmla="*/ 0 w 192"/>
              <a:gd name="T3" fmla="*/ 2147483646 h 2496"/>
              <a:gd name="T4" fmla="*/ 2147483646 w 192"/>
              <a:gd name="T5" fmla="*/ 2147483646 h 2496"/>
              <a:gd name="T6" fmla="*/ 2147483646 w 192"/>
              <a:gd name="T7" fmla="*/ 2147483646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chemeClr val="bg1">
              <a:lumMod val="95000"/>
            </a:schemeClr>
          </a:solidFill>
          <a:ln w="28575">
            <a:solidFill>
              <a:srgbClr val="000000"/>
            </a:solidFill>
            <a:round/>
            <a:headEnd/>
            <a:tailEnd/>
          </a:ln>
        </p:spPr>
        <p:txBody>
          <a:bodyPr wrap="none" anchor="ctr"/>
          <a:lstStyle/>
          <a:p>
            <a:endParaRPr lang="en-US"/>
          </a:p>
        </p:txBody>
      </p:sp>
      <p:sp>
        <p:nvSpPr>
          <p:cNvPr id="81" name="Freeform 79">
            <a:extLst>
              <a:ext uri="{FF2B5EF4-FFF2-40B4-BE49-F238E27FC236}">
                <a16:creationId xmlns:a16="http://schemas.microsoft.com/office/drawing/2014/main" id="{4423B444-1D98-4BD7-B4FD-730D2AC92A09}"/>
              </a:ext>
            </a:extLst>
          </p:cNvPr>
          <p:cNvSpPr>
            <a:spLocks/>
          </p:cNvSpPr>
          <p:nvPr>
            <p:custDataLst>
              <p:tags r:id="rId48"/>
            </p:custDataLst>
          </p:nvPr>
        </p:nvSpPr>
        <p:spPr bwMode="auto">
          <a:xfrm flipV="1">
            <a:off x="2133600" y="2940050"/>
            <a:ext cx="296863" cy="1905000"/>
          </a:xfrm>
          <a:custGeom>
            <a:avLst/>
            <a:gdLst>
              <a:gd name="T0" fmla="*/ 0 w 144"/>
              <a:gd name="T1" fmla="*/ 2147483646 h 2016"/>
              <a:gd name="T2" fmla="*/ 0 w 144"/>
              <a:gd name="T3" fmla="*/ 0 h 2016"/>
              <a:gd name="T4" fmla="*/ 2147483646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 name="Freeform 80">
            <a:extLst>
              <a:ext uri="{FF2B5EF4-FFF2-40B4-BE49-F238E27FC236}">
                <a16:creationId xmlns:a16="http://schemas.microsoft.com/office/drawing/2014/main" id="{BF1F2583-3C62-436A-9D4D-1D13F42BC7C5}"/>
              </a:ext>
            </a:extLst>
          </p:cNvPr>
          <p:cNvSpPr>
            <a:spLocks/>
          </p:cNvSpPr>
          <p:nvPr>
            <p:custDataLst>
              <p:tags r:id="rId49"/>
            </p:custDataLst>
          </p:nvPr>
        </p:nvSpPr>
        <p:spPr bwMode="auto">
          <a:xfrm>
            <a:off x="2133600" y="4845050"/>
            <a:ext cx="1771646" cy="304800"/>
          </a:xfrm>
          <a:custGeom>
            <a:avLst/>
            <a:gdLst>
              <a:gd name="T0" fmla="*/ 0 w 864"/>
              <a:gd name="T1" fmla="*/ 0 h 192"/>
              <a:gd name="T2" fmla="*/ 2147483646 w 864"/>
              <a:gd name="T3" fmla="*/ 0 h 192"/>
              <a:gd name="T4" fmla="*/ 2147483646 w 864"/>
              <a:gd name="T5" fmla="*/ 2147483646 h 192"/>
              <a:gd name="T6" fmla="*/ 0 60000 65536"/>
              <a:gd name="T7" fmla="*/ 0 60000 65536"/>
              <a:gd name="T8" fmla="*/ 0 60000 65536"/>
              <a:gd name="T9" fmla="*/ 0 w 864"/>
              <a:gd name="T10" fmla="*/ 0 h 192"/>
              <a:gd name="T11" fmla="*/ 864 w 864"/>
              <a:gd name="T12" fmla="*/ 192 h 192"/>
            </a:gdLst>
            <a:ahLst/>
            <a:cxnLst>
              <a:cxn ang="T6">
                <a:pos x="T0" y="T1"/>
              </a:cxn>
              <a:cxn ang="T7">
                <a:pos x="T2" y="T3"/>
              </a:cxn>
              <a:cxn ang="T8">
                <a:pos x="T4" y="T5"/>
              </a:cxn>
            </a:cxnLst>
            <a:rect l="T9" t="T10" r="T11" b="T12"/>
            <a:pathLst>
              <a:path w="864" h="192">
                <a:moveTo>
                  <a:pt x="0" y="0"/>
                </a:moveTo>
                <a:lnTo>
                  <a:pt x="864" y="0"/>
                </a:lnTo>
                <a:lnTo>
                  <a:pt x="864" y="192"/>
                </a:lnTo>
              </a:path>
            </a:pathLst>
          </a:custGeom>
          <a:noFill/>
          <a:ln w="28575">
            <a:solidFill>
              <a:srgbClr val="000000"/>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7" name="Text Box 85">
            <a:extLst>
              <a:ext uri="{FF2B5EF4-FFF2-40B4-BE49-F238E27FC236}">
                <a16:creationId xmlns:a16="http://schemas.microsoft.com/office/drawing/2014/main" id="{CADA3D2E-04B7-4684-A53B-9C409B495F16}"/>
              </a:ext>
            </a:extLst>
          </p:cNvPr>
          <p:cNvSpPr txBox="1">
            <a:spLocks noChangeArrowheads="1"/>
          </p:cNvSpPr>
          <p:nvPr>
            <p:custDataLst>
              <p:tags r:id="rId50"/>
            </p:custDataLst>
          </p:nvPr>
        </p:nvSpPr>
        <p:spPr bwMode="auto">
          <a:xfrm>
            <a:off x="4267200" y="4967288"/>
            <a:ext cx="5565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1800" dirty="0">
                <a:solidFill>
                  <a:schemeClr val="tx1"/>
                </a:solidFill>
                <a:latin typeface="Arial" panose="020B0604020202020204" pitchFamily="34" charset="0"/>
              </a:rPr>
              <a:t>hit?</a:t>
            </a:r>
          </a:p>
        </p:txBody>
      </p:sp>
      <p:sp>
        <p:nvSpPr>
          <p:cNvPr id="88" name="Line 86">
            <a:extLst>
              <a:ext uri="{FF2B5EF4-FFF2-40B4-BE49-F238E27FC236}">
                <a16:creationId xmlns:a16="http://schemas.microsoft.com/office/drawing/2014/main" id="{C911E212-E9E4-4909-99CE-8B613E8B50BC}"/>
              </a:ext>
            </a:extLst>
          </p:cNvPr>
          <p:cNvSpPr>
            <a:spLocks noChangeShapeType="1"/>
          </p:cNvSpPr>
          <p:nvPr>
            <p:custDataLst>
              <p:tags r:id="rId51"/>
            </p:custDataLst>
          </p:nvPr>
        </p:nvSpPr>
        <p:spPr bwMode="auto">
          <a:xfrm flipV="1">
            <a:off x="3886200" y="2514600"/>
            <a:ext cx="0" cy="1206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9" name="Line 87">
            <a:extLst>
              <a:ext uri="{FF2B5EF4-FFF2-40B4-BE49-F238E27FC236}">
                <a16:creationId xmlns:a16="http://schemas.microsoft.com/office/drawing/2014/main" id="{2852B17D-CAA3-4BC0-8B01-AF8BFF82C91B}"/>
              </a:ext>
            </a:extLst>
          </p:cNvPr>
          <p:cNvSpPr>
            <a:spLocks noChangeShapeType="1"/>
          </p:cNvSpPr>
          <p:nvPr>
            <p:custDataLst>
              <p:tags r:id="rId52"/>
            </p:custDataLst>
          </p:nvPr>
        </p:nvSpPr>
        <p:spPr bwMode="auto">
          <a:xfrm>
            <a:off x="1143000" y="2514600"/>
            <a:ext cx="0" cy="34131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 name="Line 88">
            <a:extLst>
              <a:ext uri="{FF2B5EF4-FFF2-40B4-BE49-F238E27FC236}">
                <a16:creationId xmlns:a16="http://schemas.microsoft.com/office/drawing/2014/main" id="{711C98C0-37FC-4B3A-BDED-5402813FA191}"/>
              </a:ext>
            </a:extLst>
          </p:cNvPr>
          <p:cNvSpPr>
            <a:spLocks noChangeShapeType="1"/>
          </p:cNvSpPr>
          <p:nvPr>
            <p:custDataLst>
              <p:tags r:id="rId53"/>
            </p:custDataLst>
          </p:nvPr>
        </p:nvSpPr>
        <p:spPr bwMode="auto">
          <a:xfrm flipV="1">
            <a:off x="1143000" y="2514600"/>
            <a:ext cx="27432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1" name="Text Box 84">
            <a:extLst>
              <a:ext uri="{FF2B5EF4-FFF2-40B4-BE49-F238E27FC236}">
                <a16:creationId xmlns:a16="http://schemas.microsoft.com/office/drawing/2014/main" id="{1C7964E2-8864-4560-AB68-DAFDF047AA6C}"/>
              </a:ext>
            </a:extLst>
          </p:cNvPr>
          <p:cNvSpPr txBox="1">
            <a:spLocks noChangeArrowheads="1"/>
          </p:cNvSpPr>
          <p:nvPr>
            <p:custDataLst>
              <p:tags r:id="rId54"/>
            </p:custDataLst>
          </p:nvPr>
        </p:nvSpPr>
        <p:spPr bwMode="auto">
          <a:xfrm>
            <a:off x="6248400" y="3134281"/>
            <a:ext cx="12234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1800" dirty="0">
                <a:solidFill>
                  <a:schemeClr val="tx1"/>
                </a:solidFill>
                <a:latin typeface="Arial" panose="020B0604020202020204" pitchFamily="34" charset="0"/>
              </a:rPr>
              <a:t>data array</a:t>
            </a:r>
          </a:p>
        </p:txBody>
      </p:sp>
      <p:sp>
        <p:nvSpPr>
          <p:cNvPr id="92" name="Text Box 84">
            <a:extLst>
              <a:ext uri="{FF2B5EF4-FFF2-40B4-BE49-F238E27FC236}">
                <a16:creationId xmlns:a16="http://schemas.microsoft.com/office/drawing/2014/main" id="{4371BB7E-FECE-4BCA-8358-7D72DFCA381C}"/>
              </a:ext>
            </a:extLst>
          </p:cNvPr>
          <p:cNvSpPr txBox="1">
            <a:spLocks noChangeArrowheads="1"/>
          </p:cNvSpPr>
          <p:nvPr>
            <p:custDataLst>
              <p:tags r:id="rId55"/>
            </p:custDataLst>
          </p:nvPr>
        </p:nvSpPr>
        <p:spPr bwMode="auto">
          <a:xfrm>
            <a:off x="3412902" y="3134281"/>
            <a:ext cx="10951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1800" dirty="0">
                <a:solidFill>
                  <a:schemeClr val="tx1"/>
                </a:solidFill>
                <a:latin typeface="Arial" panose="020B0604020202020204" pitchFamily="34" charset="0"/>
              </a:rPr>
              <a:t>tag array</a:t>
            </a:r>
          </a:p>
        </p:txBody>
      </p:sp>
      <p:sp>
        <p:nvSpPr>
          <p:cNvPr id="97" name="Text Box 7">
            <a:extLst>
              <a:ext uri="{FF2B5EF4-FFF2-40B4-BE49-F238E27FC236}">
                <a16:creationId xmlns:a16="http://schemas.microsoft.com/office/drawing/2014/main" id="{204AA918-A38B-4475-8DF9-8262E5C1D6BC}"/>
              </a:ext>
            </a:extLst>
          </p:cNvPr>
          <p:cNvSpPr txBox="1">
            <a:spLocks noChangeArrowheads="1"/>
          </p:cNvSpPr>
          <p:nvPr>
            <p:custDataLst>
              <p:tags r:id="rId56"/>
            </p:custDataLst>
          </p:nvPr>
        </p:nvSpPr>
        <p:spPr bwMode="auto">
          <a:xfrm>
            <a:off x="6858000" y="4648200"/>
            <a:ext cx="13532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dirty="0">
                <a:solidFill>
                  <a:schemeClr val="tx1"/>
                </a:solidFill>
                <a:latin typeface="Arial" panose="020B0604020202020204" pitchFamily="34" charset="0"/>
              </a:rPr>
              <a:t>data block</a:t>
            </a:r>
          </a:p>
        </p:txBody>
      </p:sp>
      <p:sp>
        <p:nvSpPr>
          <p:cNvPr id="98" name="TextBox 97">
            <a:extLst>
              <a:ext uri="{FF2B5EF4-FFF2-40B4-BE49-F238E27FC236}">
                <a16:creationId xmlns:a16="http://schemas.microsoft.com/office/drawing/2014/main" id="{1F78E9C8-883A-4671-BC1A-99E067C82346}"/>
              </a:ext>
            </a:extLst>
          </p:cNvPr>
          <p:cNvSpPr txBox="1"/>
          <p:nvPr>
            <p:custDataLst>
              <p:tags r:id="rId57"/>
            </p:custDataLst>
          </p:nvPr>
        </p:nvSpPr>
        <p:spPr>
          <a:xfrm>
            <a:off x="4083653" y="2601497"/>
            <a:ext cx="1936147" cy="338554"/>
          </a:xfrm>
          <a:prstGeom prst="rect">
            <a:avLst/>
          </a:prstGeom>
          <a:noFill/>
        </p:spPr>
        <p:txBody>
          <a:bodyPr wrap="square" rtlCol="0">
            <a:spAutoFit/>
          </a:bodyPr>
          <a:lstStyle/>
          <a:p>
            <a:pPr algn="ctr"/>
            <a:r>
              <a:rPr lang="en-US" sz="1600" b="1" dirty="0">
                <a:solidFill>
                  <a:schemeClr val="accent6">
                    <a:lumMod val="75000"/>
                  </a:schemeClr>
                </a:solidFill>
                <a:latin typeface="Calibri" panose="020F0502020204030204" pitchFamily="34" charset="0"/>
                <a:cs typeface="Calibri" panose="020F0502020204030204" pitchFamily="34" charset="0"/>
              </a:rPr>
              <a:t>e.g., 0xA060BB70</a:t>
            </a:r>
          </a:p>
        </p:txBody>
      </p:sp>
      <p:sp>
        <p:nvSpPr>
          <p:cNvPr id="99" name="TextBox 98">
            <a:extLst>
              <a:ext uri="{FF2B5EF4-FFF2-40B4-BE49-F238E27FC236}">
                <a16:creationId xmlns:a16="http://schemas.microsoft.com/office/drawing/2014/main" id="{30F3A1D2-AB3E-4879-AF32-EB11A19FCCA3}"/>
              </a:ext>
            </a:extLst>
          </p:cNvPr>
          <p:cNvSpPr txBox="1"/>
          <p:nvPr>
            <p:custDataLst>
              <p:tags r:id="rId58"/>
            </p:custDataLst>
          </p:nvPr>
        </p:nvSpPr>
        <p:spPr>
          <a:xfrm>
            <a:off x="1111854" y="5590172"/>
            <a:ext cx="640746" cy="338554"/>
          </a:xfrm>
          <a:prstGeom prst="rect">
            <a:avLst/>
          </a:prstGeom>
          <a:noFill/>
        </p:spPr>
        <p:txBody>
          <a:bodyPr wrap="square" rtlCol="0">
            <a:spAutoFit/>
          </a:bodyPr>
          <a:lstStyle/>
          <a:p>
            <a:pPr algn="ctr"/>
            <a:r>
              <a:rPr lang="en-US" sz="1600" b="1" dirty="0">
                <a:solidFill>
                  <a:schemeClr val="accent6">
                    <a:lumMod val="75000"/>
                  </a:schemeClr>
                </a:solidFill>
                <a:latin typeface="Calibri" panose="020F0502020204030204" pitchFamily="34" charset="0"/>
                <a:cs typeface="Calibri" panose="020F0502020204030204" pitchFamily="34" charset="0"/>
              </a:rPr>
              <a:t>0x30</a:t>
            </a:r>
          </a:p>
        </p:txBody>
      </p:sp>
      <p:sp>
        <p:nvSpPr>
          <p:cNvPr id="100" name="TextBox 99">
            <a:extLst>
              <a:ext uri="{FF2B5EF4-FFF2-40B4-BE49-F238E27FC236}">
                <a16:creationId xmlns:a16="http://schemas.microsoft.com/office/drawing/2014/main" id="{BCE87392-EA7E-4B36-8C24-E82461F0712E}"/>
              </a:ext>
            </a:extLst>
          </p:cNvPr>
          <p:cNvSpPr txBox="1"/>
          <p:nvPr>
            <p:custDataLst>
              <p:tags r:id="rId59"/>
            </p:custDataLst>
          </p:nvPr>
        </p:nvSpPr>
        <p:spPr>
          <a:xfrm>
            <a:off x="2308384" y="3757280"/>
            <a:ext cx="511016" cy="338554"/>
          </a:xfrm>
          <a:prstGeom prst="rect">
            <a:avLst/>
          </a:prstGeom>
          <a:noFill/>
        </p:spPr>
        <p:txBody>
          <a:bodyPr wrap="square" rtlCol="0">
            <a:spAutoFit/>
          </a:bodyPr>
          <a:lstStyle/>
          <a:p>
            <a:pPr algn="ctr"/>
            <a:r>
              <a:rPr lang="en-US" sz="1600" b="1" dirty="0">
                <a:solidFill>
                  <a:schemeClr val="accent6">
                    <a:lumMod val="75000"/>
                  </a:schemeClr>
                </a:solidFill>
                <a:latin typeface="Calibri" panose="020F0502020204030204" pitchFamily="34" charset="0"/>
                <a:cs typeface="Calibri" panose="020F0502020204030204" pitchFamily="34" charset="0"/>
              </a:rPr>
              <a:t>0x1</a:t>
            </a:r>
          </a:p>
        </p:txBody>
      </p:sp>
      <p:sp>
        <p:nvSpPr>
          <p:cNvPr id="102" name="TextBox 101">
            <a:extLst>
              <a:ext uri="{FF2B5EF4-FFF2-40B4-BE49-F238E27FC236}">
                <a16:creationId xmlns:a16="http://schemas.microsoft.com/office/drawing/2014/main" id="{17AAA943-1195-4B8C-96C0-DBC4C7A78D42}"/>
              </a:ext>
            </a:extLst>
          </p:cNvPr>
          <p:cNvSpPr txBox="1"/>
          <p:nvPr>
            <p:custDataLst>
              <p:tags r:id="rId60"/>
            </p:custDataLst>
          </p:nvPr>
        </p:nvSpPr>
        <p:spPr>
          <a:xfrm>
            <a:off x="3328671" y="3790354"/>
            <a:ext cx="1212850" cy="307777"/>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0x1000F3</a:t>
            </a:r>
          </a:p>
        </p:txBody>
      </p:sp>
      <p:sp>
        <p:nvSpPr>
          <p:cNvPr id="107" name="TextBox 106">
            <a:extLst>
              <a:ext uri="{FF2B5EF4-FFF2-40B4-BE49-F238E27FC236}">
                <a16:creationId xmlns:a16="http://schemas.microsoft.com/office/drawing/2014/main" id="{93E49348-F78B-4C01-B38E-D520AA5E7D96}"/>
              </a:ext>
            </a:extLst>
          </p:cNvPr>
          <p:cNvSpPr txBox="1"/>
          <p:nvPr>
            <p:custDataLst>
              <p:tags r:id="rId61"/>
            </p:custDataLst>
          </p:nvPr>
        </p:nvSpPr>
        <p:spPr>
          <a:xfrm>
            <a:off x="3672535" y="5407611"/>
            <a:ext cx="640746" cy="338554"/>
          </a:xfrm>
          <a:prstGeom prst="rect">
            <a:avLst/>
          </a:prstGeom>
          <a:noFill/>
        </p:spPr>
        <p:txBody>
          <a:bodyPr wrap="square" rtlCol="0">
            <a:spAutoFit/>
          </a:bodyPr>
          <a:lstStyle/>
          <a:p>
            <a:pPr algn="ctr"/>
            <a:r>
              <a:rPr lang="en-US" sz="1600" b="1" dirty="0">
                <a:solidFill>
                  <a:schemeClr val="accent6">
                    <a:lumMod val="75000"/>
                  </a:schemeClr>
                </a:solidFill>
                <a:latin typeface="Calibri" panose="020F0502020204030204" pitchFamily="34" charset="0"/>
                <a:cs typeface="Calibri" panose="020F0502020204030204" pitchFamily="34" charset="0"/>
              </a:rPr>
              <a:t>MISS</a:t>
            </a:r>
          </a:p>
        </p:txBody>
      </p:sp>
      <p:grpSp>
        <p:nvGrpSpPr>
          <p:cNvPr id="85" name="Group 84">
            <a:extLst>
              <a:ext uri="{FF2B5EF4-FFF2-40B4-BE49-F238E27FC236}">
                <a16:creationId xmlns:a16="http://schemas.microsoft.com/office/drawing/2014/main" id="{E0779C4E-FB94-443A-8550-E66E7B9CE43E}"/>
              </a:ext>
            </a:extLst>
          </p:cNvPr>
          <p:cNvGrpSpPr/>
          <p:nvPr>
            <p:custDataLst>
              <p:tags r:id="rId62"/>
            </p:custDataLst>
          </p:nvPr>
        </p:nvGrpSpPr>
        <p:grpSpPr>
          <a:xfrm>
            <a:off x="3328671" y="3778250"/>
            <a:ext cx="4712268" cy="319881"/>
            <a:chOff x="3328671" y="3778250"/>
            <a:chExt cx="4712268" cy="319881"/>
          </a:xfrm>
        </p:grpSpPr>
        <p:sp>
          <p:nvSpPr>
            <p:cNvPr id="103" name="Rectangle 102">
              <a:extLst>
                <a:ext uri="{FF2B5EF4-FFF2-40B4-BE49-F238E27FC236}">
                  <a16:creationId xmlns:a16="http://schemas.microsoft.com/office/drawing/2014/main" id="{AAB218A7-52F3-4156-B451-681775E7539D}"/>
                </a:ext>
              </a:extLst>
            </p:cNvPr>
            <p:cNvSpPr>
              <a:spLocks noChangeArrowheads="1"/>
            </p:cNvSpPr>
            <p:nvPr>
              <p:custDataLst>
                <p:tags r:id="rId63"/>
              </p:custDataLst>
            </p:nvPr>
          </p:nvSpPr>
          <p:spPr bwMode="auto">
            <a:xfrm>
              <a:off x="5638799" y="37782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b="1" dirty="0">
                <a:solidFill>
                  <a:srgbClr val="000000"/>
                </a:solidFill>
                <a:latin typeface="Arial" panose="020B0604020202020204" pitchFamily="34" charset="0"/>
              </a:endParaRPr>
            </a:p>
          </p:txBody>
        </p:sp>
        <p:sp>
          <p:nvSpPr>
            <p:cNvPr id="104" name="Rectangle 103">
              <a:extLst>
                <a:ext uri="{FF2B5EF4-FFF2-40B4-BE49-F238E27FC236}">
                  <a16:creationId xmlns:a16="http://schemas.microsoft.com/office/drawing/2014/main" id="{5D0C08DB-CCA3-4A41-A3B1-57E248E94830}"/>
                </a:ext>
              </a:extLst>
            </p:cNvPr>
            <p:cNvSpPr>
              <a:spLocks noChangeArrowheads="1"/>
            </p:cNvSpPr>
            <p:nvPr>
              <p:custDataLst>
                <p:tags r:id="rId64"/>
              </p:custDataLst>
            </p:nvPr>
          </p:nvSpPr>
          <p:spPr bwMode="auto">
            <a:xfrm>
              <a:off x="3352800" y="37782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b="1" dirty="0">
                <a:solidFill>
                  <a:srgbClr val="000000"/>
                </a:solidFill>
                <a:latin typeface="Arial" panose="020B0604020202020204" pitchFamily="34" charset="0"/>
              </a:endParaRPr>
            </a:p>
          </p:txBody>
        </p:sp>
        <p:sp>
          <p:nvSpPr>
            <p:cNvPr id="105" name="TextBox 104">
              <a:extLst>
                <a:ext uri="{FF2B5EF4-FFF2-40B4-BE49-F238E27FC236}">
                  <a16:creationId xmlns:a16="http://schemas.microsoft.com/office/drawing/2014/main" id="{9331250B-B10E-4371-AB67-CE786BD7812A}"/>
                </a:ext>
              </a:extLst>
            </p:cNvPr>
            <p:cNvSpPr txBox="1"/>
            <p:nvPr>
              <p:custDataLst>
                <p:tags r:id="rId65"/>
              </p:custDataLst>
            </p:nvPr>
          </p:nvSpPr>
          <p:spPr>
            <a:xfrm>
              <a:off x="5602540" y="3781723"/>
              <a:ext cx="2438399" cy="307777"/>
            </a:xfrm>
            <a:prstGeom prst="rect">
              <a:avLst/>
            </a:prstGeom>
            <a:noFill/>
            <a:ln/>
          </p:spPr>
          <p:txBody>
            <a:bodyPr wrap="square" rtlCol="0">
              <a:spAutoFit/>
            </a:bodyPr>
            <a:lstStyle/>
            <a:p>
              <a:pPr algn="ctr"/>
              <a:r>
                <a:rPr lang="en-US" sz="1400" b="1" dirty="0">
                  <a:solidFill>
                    <a:schemeClr val="accent6">
                      <a:lumMod val="75000"/>
                    </a:schemeClr>
                  </a:solidFill>
                  <a:latin typeface="Calibri" panose="020F0502020204030204" pitchFamily="34" charset="0"/>
                  <a:cs typeface="Calibri" panose="020F0502020204030204" pitchFamily="34" charset="0"/>
                </a:rPr>
                <a:t>(0xA060BB40 – 0xA060BB7F)</a:t>
              </a:r>
            </a:p>
          </p:txBody>
        </p:sp>
        <p:sp>
          <p:nvSpPr>
            <p:cNvPr id="106" name="TextBox 105">
              <a:extLst>
                <a:ext uri="{FF2B5EF4-FFF2-40B4-BE49-F238E27FC236}">
                  <a16:creationId xmlns:a16="http://schemas.microsoft.com/office/drawing/2014/main" id="{20962D03-24A3-411C-8399-C4B9102C02B9}"/>
                </a:ext>
              </a:extLst>
            </p:cNvPr>
            <p:cNvSpPr txBox="1"/>
            <p:nvPr>
              <p:custDataLst>
                <p:tags r:id="rId66"/>
              </p:custDataLst>
            </p:nvPr>
          </p:nvSpPr>
          <p:spPr>
            <a:xfrm>
              <a:off x="3328671" y="3790354"/>
              <a:ext cx="1212850" cy="307777"/>
            </a:xfrm>
            <a:prstGeom prst="rect">
              <a:avLst/>
            </a:prstGeom>
            <a:noFill/>
            <a:ln/>
          </p:spPr>
          <p:txBody>
            <a:bodyPr wrap="square" rtlCol="0">
              <a:spAutoFit/>
            </a:bodyPr>
            <a:lstStyle/>
            <a:p>
              <a:pPr algn="ctr"/>
              <a:r>
                <a:rPr lang="en-US" sz="1400" b="1" dirty="0">
                  <a:solidFill>
                    <a:schemeClr val="accent6">
                      <a:lumMod val="75000"/>
                    </a:schemeClr>
                  </a:solidFill>
                  <a:latin typeface="Calibri" panose="020F0502020204030204" pitchFamily="34" charset="0"/>
                  <a:cs typeface="Calibri" panose="020F0502020204030204" pitchFamily="34" charset="0"/>
                </a:rPr>
                <a:t>0xA060BB</a:t>
              </a:r>
            </a:p>
          </p:txBody>
        </p:sp>
      </p:grpSp>
    </p:spTree>
    <p:custDataLst>
      <p:tags r:id="rId1"/>
    </p:custDataLst>
    <p:extLst>
      <p:ext uri="{BB962C8B-B14F-4D97-AF65-F5344CB8AC3E}">
        <p14:creationId xmlns:p14="http://schemas.microsoft.com/office/powerpoint/2010/main" val="16125780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P spid="99" grpId="0"/>
      <p:bldP spid="100" grpId="0"/>
      <p:bldP spid="107" grpId="0"/>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0"/>
  <p:tag name="MMPROD_UIPERSISTENCEDATA" val="MMPROD_UIPERSISTENCEDATA"/>
  <p:tag name="MMPROD_THEME_BG_IMAGE" val=""/>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MMPROD_UIDATA" val="&lt;database version=&quot;11.0&quot;&gt;&lt;object type=&quot;1&quot; unique_id=&quot;10001&quot;&gt;&lt;property id=&quot;20141&quot; value=&quot;ECE/CS 552 - Cache Concepts&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4&quot; value=&quot;C:\Users\sanmi\Documents\My Adobe Presentations\ece552-CacheConcepts&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2&quot; unique_id=&quot;10313&quot;&gt;&lt;object type=&quot;3&quot; unique_id=&quot;19005&quot;&gt;&lt;property id=&quot;20148&quot; value=&quot;5&quot;/&gt;&lt;property id=&quot;20300&quot; value=&quot;Slide 1 - &amp;quot;ECE/CS 552: Cache Concepts&amp;quot;&quot;/&gt;&lt;property id=&quot;20307&quot; value=&quot;508&quot;/&gt;&lt;property id=&quot;20309&quot; value=&quot;-1&quot;/&gt;&lt;/object&gt;&lt;object type=&quot;3&quot; unique_id=&quot;22131&quot;&gt;&lt;property id=&quot;20148&quot; value=&quot;5&quot;/&gt;&lt;property id=&quot;20300&quot; value=&quot;Slide 2 - &amp;quot;Memory Hierarchy&amp;quot;&quot;/&gt;&lt;property id=&quot;20307&quot; value=&quot;707&quot;/&gt;&lt;property id=&quot;20309&quot; value=&quot;-1&quot;/&gt;&lt;/object&gt;&lt;object type=&quot;3&quot; unique_id=&quot;24780&quot;&gt;&lt;property id=&quot;20148&quot; value=&quot;5&quot;/&gt;&lt;property id=&quot;20300&quot; value=&quot;Slide 3 - &amp;quot;Memory Hierarchy&amp;quot;&quot;/&gt;&lt;property id=&quot;20307&quot; value=&quot;722&quot;/&gt;&lt;property id=&quot;20309&quot; value=&quot;-1&quot;/&gt;&lt;/object&gt;&lt;object type=&quot;3&quot; unique_id=&quot;25694&quot;&gt;&lt;property id=&quot;20148&quot; value=&quot;5&quot;/&gt;&lt;property id=&quot;20300&quot; value=&quot;Slide 4 - &amp;quot;Memory Hierarchy&amp;quot;&quot;/&gt;&lt;property id=&quot;20307&quot; value=&quot;723&quot;/&gt;&lt;property id=&quot;20309&quot; value=&quot;-1&quot;/&gt;&lt;/object&gt;&lt;object type=&quot;3&quot; unique_id=&quot;160430&quot;&gt;&lt;property id=&quot;20148&quot; value=&quot;5&quot;/&gt;&lt;property id=&quot;20300&quot; value=&quot;Slide 5 - &amp;quot;Caches – Placement&amp;quot;&quot;/&gt;&lt;property id=&quot;20307&quot; value=&quot;724&quot;/&gt;&lt;property id=&quot;20309&quot; value=&quot;-1&quot;/&gt;&lt;/object&gt;&lt;object type=&quot;3&quot; unique_id=&quot;162887&quot;&gt;&lt;property id=&quot;20148&quot; value=&quot;5&quot;/&gt;&lt;property id=&quot;20300&quot; value=&quot;Slide 6 - &amp;quot;Caches – Replacement&amp;quot;&quot;/&gt;&lt;property id=&quot;20307&quot; value=&quot;726&quot;/&gt;&lt;property id=&quot;20309&quot; value=&quot;-1&quot;/&gt;&lt;/object&gt;&lt;object type=&quot;3&quot; unique_id=&quot;171442&quot;&gt;&lt;property id=&quot;20148&quot; value=&quot;5&quot;/&gt;&lt;property id=&quot;20300&quot; value=&quot;Slide 7 - &amp;quot;Exercise&amp;quot;&quot;/&gt;&lt;property id=&quot;20307&quot; value=&quot;727&quot;/&gt;&lt;/object&gt;&lt;/object&gt;&lt;object type=&quot;8&quot; unique_id=&quot;10391&quot;&gt;&lt;/object&gt;&lt;object type=&quot;10&quot; unique_id=&quot;19165&quot;&gt;&lt;object type=&quot;11&quot; unique_id=&quot;19166&quot;&gt;&lt;property id=&quot;20180&quot; value=&quot;0&quot;/&gt;&lt;property id=&quot;20181&quot; value=&quot;1&quot;/&gt;&lt;property id=&quot;20183&quot; value=&quot;1&quot;/&gt;&lt;/object&gt;&lt;object type=&quot;12&quot; unique_id=&quot;171345&quot;&gt;&lt;/object&gt;&lt;/object&gt;&lt;object type=&quot;4&quot; unique_id=&quot;19167&quo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Lst>
</file>

<file path=ppt/tags/tag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432D29E-C5A9-40F1-A84C-0ACF162CB9C3}_1.png&quot;/&gt;&lt;left val=&quot;35&quot;/&gt;&lt;top val=&quot;195&quot;/&gt;&lt;width val=&quot;648&quot;/&gt;&lt;height val=&quot;102&quot;/&gt;&lt;hasText val=&quot;1&quot;/&gt;&lt;/Image&gt;&lt;/ThreeDShapeInfo&gt;"/>
  <p:tag name="PRESENTER_SHAPETEXTINFO" val="&lt;ShapeTextInfo&gt;&lt;TableIndex row=&quot;-1&quot; col=&quot;-1&quot;&gt;&lt;linesCount val=&quot;1&quot;/&gt;&lt;lineCharCount val=&quot;26&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DCD4D9B4-DA73-4253-922E-E590356119D4}_1.png&quot;/&gt;&lt;left val=&quot;103&quot;/&gt;&lt;top val=&quot;302&quot;/&gt;&lt;width val=&quot;512&quot;/&gt;&lt;height val=&quot;163&quot;/&gt;&lt;hasText val=&quot;1&quot;/&gt;&lt;/Image&gt;&lt;/ThreeDShapeInfo&gt;"/>
  <p:tag name="PRESENTER_SHAPETEXTINFO" val="&lt;ShapeTextInfo&gt;&lt;TableIndex row=&quot;-1&quot; col=&quot;-1&quot;&gt;&lt;linesCount val=&quot;6&quot;/&gt;&lt;lineCharCount val=&quot;24&quot;/&gt;&lt;lineCharCount val=&quot;1&quot;/&gt;&lt;lineCharCount val=&quot;55&quot;/&gt;&lt;lineCharCount val=&quot;53&quot;/&gt;&lt;lineCharCount val=&quot;14&quot;/&gt;&lt;lineCharCount val=&quot;3&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Lst>
</file>

<file path=ppt/tags/tag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8634392-5302-4986-BF70-548812BF03B3}_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5&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ControlHazards\data\asimages\{66382427-6577-4915-A22B-0FA080B8F6CC}_1.png_crop.png&quot;/&gt;&lt;left val=&quot;44&quot;/&gt;&lt;top val=&quot;124&quot;/&gt;&lt;width val=&quot;396&quot;/&gt;&lt;height val=&quot;19&quot;/&gt;&lt;hasText val=&quot;1&quot;/&gt;&lt;paraId val=&quot;1&quot;/&gt;&lt;/Image&gt;&lt;Image&gt;&lt;filename val=&quot;C:\Users\sanmi\Documents\My Adobe Presentations\ece552f2019-ControlHazards\data\asimages\{CB4AAE27-3544-4C50-B6A1-076E59C5E508}_1.png_crop.png&quot;/&gt;&lt;left val=&quot;78&quot;/&gt;&lt;top val=&quot;162&quot;/&gt;&lt;width val=&quot;590&quot;/&gt;&lt;height val=&quot;21&quot;/&gt;&lt;hasText val=&quot;1&quot;/&gt;&lt;paraId val=&quot;2&quot;/&gt;&lt;/Image&gt;&lt;Image&gt;&lt;filename val=&quot;C:\Users\sanmi\Documents\My Adobe Presentations\ece552f2019-ControlHazards\data\asimages\{B7EDC820-905B-4D5C-AC09-DF3EF177A80D}_1.png_crop.png&quot;/&gt;&lt;left val=&quot;78&quot;/&gt;&lt;top val=&quot;196&quot;/&gt;&lt;width val=&quot;523&quot;/&gt;&lt;height val=&quot;21&quot;/&gt;&lt;hasText val=&quot;1&quot;/&gt;&lt;paraId val=&quot;3&quot;/&gt;&lt;/Image&gt;&lt;/TextEffect&gt;"/>
  <p:tag name="PRESENTER_SHAPETEXTINFO" val="&lt;ShapeTextInfo&gt;&lt;TableIndex row=&quot;-1&quot; col=&quot;-1&quot;&gt;&lt;linesCount val=&quot;3&quot;/&gt;&lt;lineCharCount val=&quot;35&quot;/&gt;&lt;lineCharCount val=&quot;57&quot;/&gt;&lt;lineCharCount val=&quot;55&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HTML_SHAPEINFO" val="&lt;SlideThumbPath val=&quot;Slide10.PNG&quot;/&gt;"/>
</p:tagLst>
</file>

<file path=ppt/tags/tag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5B173BC-007C-4271-9947-EF841C55E01B}_1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6&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51768BE1-1C57-4CFD-94C8-855462C8066D}_10.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EEB8776-70ED-4EDE-96F4-E10D0F9C056D}_10.png&quot;/&gt;&lt;left val=&quot;377&quot;/&gt;&lt;top val=&quot;104&quot;/&gt;&lt;width val=&quot;330&quot;/&gt;&lt;height val=&quot;112&quot;/&gt;&lt;hasText val=&quot;1&quot;/&gt;&lt;/Image&gt;&lt;/ThreeDShapeInfo&gt;"/>
  <p:tag name="PRESENTER_SHAPETEXTINFO" val="&lt;ShapeTextInfo&gt;&lt;TableIndex row=&quot;-1&quot; col=&quot;-1&quot;&gt;&lt;linesCount val=&quot;1&quot;/&gt;&lt;lineCharCount val=&quot;27&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12E7AEE-ACDD-463A-969C-B19C91DECAB1}_10.png&quot;/&gt;&lt;left val=&quot;445&quot;/&gt;&lt;top val=&quot;281&quot;/&gt;&lt;width val=&quot;197&quot;/&gt;&lt;height val=&quot;48&quot;/&gt;&lt;hasText val=&quot;1&quot;/&gt;&lt;/Image&gt;&lt;/ThreeDShapeInfo&gt;"/>
  <p:tag name="PRESENTER_SHAPETEXTINFO" val="&lt;ShapeTextInfo&gt;&lt;TableIndex row=&quot;-1&quot; col=&quot;-1&quot;&gt;&lt;linesCount val=&quot;1&quot;/&gt;&lt;lineCharCount val=&quot;2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CacheConcepts\data\asimages\{23066FC0-7A90-43F0-908A-C4B4CCCF9203}_1.png_crop.png&quot;/&gt;&lt;left val=&quot;43&quot;/&gt;&lt;top val=&quot;117&quot;/&gt;&lt;width val=&quot;319&quot;/&gt;&lt;height val=&quot;78&quot;/&gt;&lt;hasText val=&quot;1&quot;/&gt;&lt;paraId val=&quot;1&quot;/&gt;&lt;/Image&gt;&lt;Image&gt;&lt;filename val=&quot;C:\Users\sanmi\Documents\My Adobe Presentations\ece552-CacheConcepts\data\asimages\{7B726E7B-9D52-4BE7-BA2A-FB8AF1EF91AA}_1.png_crop.png&quot;/&gt;&lt;left val=&quot;43&quot;/&gt;&lt;top val=&quot;207&quot;/&gt;&lt;width val=&quot;195&quot;/&gt;&lt;height val=&quot;17&quot;/&gt;&lt;hasText val=&quot;1&quot;/&gt;&lt;paraId val=&quot;2&quot;/&gt;&lt;/Image&gt;&lt;Image&gt;&lt;filename val=&quot;C:\Users\sanmi\Documents\My Adobe Presentations\ece552-CacheConcepts\data\asimages\{190591ED-0657-41B5-AB82-1F89FE78C3AE}_1.png_crop.png&quot;/&gt;&lt;left val=&quot;43&quot;/&gt;&lt;top val=&quot;236&quot;/&gt;&lt;width val=&quot;307&quot;/&gt;&lt;height val=&quot;16&quot;/&gt;&lt;hasText val=&quot;1&quot;/&gt;&lt;paraId val=&quot;3&quot;/&gt;&lt;/Image&gt;&lt;/TextEffect&gt;"/>
  <p:tag name="PRESENTER_SHAPETEXTINFO" val="&lt;ShapeTextInfo&gt;&lt;TableIndex row=&quot;-1&quot; col=&quot;-1&quot;&gt;&lt;linesCount val=&quot;5&quot;/&gt;&lt;lineCharCount val=&quot;30&quot;/&gt;&lt;lineCharCount val=&quot;35&quot;/&gt;&lt;lineCharCount val=&quot;30&quot;/&gt;&lt;lineCharCount val=&quot;21&quot;/&gt;&lt;lineCharCount val=&quot;37&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4D3F1725-ED92-4DD7-A355-D1EB71F6C9CD}_10.png&quot;/&gt;&lt;left val=&quot;70&quot;/&gt;&lt;top val=&quot;485&quot;/&gt;&lt;width val=&quot;123&quot;/&gt;&lt;height val=&quot;34&quot;/&gt;&lt;hasText val=&quot;1&quot;/&gt;&lt;/Image&gt;&lt;/ThreeDShapeInfo&gt;"/>
  <p:tag name="PRESENTER_SHAPETEXTINFO" val="&lt;ShapeTextInfo&gt;&lt;TableIndex row=&quot;-1&quot; col=&quot;-1&quot;&gt;&lt;linesCount val=&quot;1&quot;/&gt;&lt;lineCharCount val=&quot;16&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A386249-8952-4096-850F-478747D8E590}_10.png&quot;/&gt;&lt;left val=&quot;414&quot;/&gt;&lt;top val=&quot;166&quot;/&gt;&lt;width val=&quot;259&quot;/&gt;&lt;height val=&quot;53&quot;/&gt;&lt;hasText val=&quot;1&quot;/&gt;&lt;/Image&gt;&lt;/ThreeDShapeInfo&gt;"/>
  <p:tag name="PRESENTER_SHAPETEXTINFO" val="&lt;ShapeTextInfo&gt;&lt;TableIndex row=&quot;-1&quot; col=&quot;-1&quot;&gt;&lt;linesCount val=&quot;2&quot;/&gt;&lt;lineCharCount val=&quot;39&quot;/&gt;&lt;lineCharCount val=&quot;22&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C2E01E1-D371-494E-A34F-D95345AEC050}_10.png&quot;/&gt;&lt;left val=&quot;201&quot;/&gt;&lt;top val=&quot;268&quot;/&gt;&lt;width val=&quot;165&quot;/&gt;&lt;height val=&quot;34&quot;/&gt;&lt;hasText val=&quot;1&quot;/&gt;&lt;/Image&gt;&lt;/ThreeDShapeInfo&gt;"/>
  <p:tag name="PRESENTER_SHAPETEXTINFO" val="&lt;ShapeTextInfo&gt;&lt;TableIndex row=&quot;-1&quot; col=&quot;-1&quot;&gt;&lt;linesCount val=&quot;1&quot;/&gt;&lt;lineCharCount val=&quot;21&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BE69C8B-C2E4-49B9-827B-7D16EEB2C08A}_10.png&quot;/&gt;&lt;left val=&quot;591&quot;/&gt;&lt;top val=&quot;381&quot;/&gt;&lt;width val=&quot;132&quot;/&gt;&lt;height val=&quot;34&quot;/&gt;&lt;hasText val=&quot;1&quot;/&gt;&lt;/Image&gt;&lt;/ThreeDShapeInfo&gt;"/>
  <p:tag name="PRESENTER_SHAPETEXTINFO" val="&lt;ShapeTextInfo&gt;&lt;TableIndex row=&quot;-1&quot; col=&quot;-1&quot;&gt;&lt;linesCount val=&quot;1&quot;/&gt;&lt;lineCharCount val=&quot;18&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HTML_SHAPEINFO" val="&lt;SlideThumbPath val=&quot;Slide11.PNG&quot;/&gt;"/>
</p:tagLst>
</file>

<file path=ppt/tags/tag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5877B149-EE2F-4354-AD1C-13A4C76230A6}_1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6&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481E139-8728-48FF-9D8A-53C87528E56F}_11.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996DB4FC-6548-473F-9351-38B07E4EBB39}_11.png&quot;/&gt;&lt;left val=&quot;377&quot;/&gt;&lt;top val=&quot;104&quot;/&gt;&lt;width val=&quot;330&quot;/&gt;&lt;height val=&quot;112&quot;/&gt;&lt;hasText val=&quot;1&quot;/&gt;&lt;/Image&gt;&lt;/ThreeDShapeInfo&gt;"/>
  <p:tag name="PRESENTER_SHAPETEXTINFO" val="&lt;ShapeTextInfo&gt;&lt;TableIndex row=&quot;-1&quot; col=&quot;-1&quot;&gt;&lt;linesCount val=&quot;1&quot;/&gt;&lt;lineCharCount val=&quot;27&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2ACEC03-06EA-40CD-A51F-CF0D75636A8B}_11.png&quot;/&gt;&lt;left val=&quot;445&quot;/&gt;&lt;top val=&quot;281&quot;/&gt;&lt;width val=&quot;197&quot;/&gt;&lt;height val=&quot;48&quot;/&gt;&lt;hasText val=&quot;1&quot;/&gt;&lt;/Image&gt;&lt;/ThreeDShapeInfo&gt;"/>
  <p:tag name="PRESENTER_SHAPETEXTINFO" val="&lt;ShapeTextInfo&gt;&lt;TableIndex row=&quot;-1&quot; col=&quot;-1&quot;&gt;&lt;linesCount val=&quot;1&quot;/&gt;&lt;lineCharCount val=&quot;20&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FF9AC993-88D4-4C14-B3D6-9A4D64BFC4E0}_11.png&quot;/&gt;&lt;left val=&quot;28&quot;/&gt;&lt;top val=&quot;104&quot;/&gt;&lt;width val=&quot;354&quot;/&gt;&lt;height val=&quot;226&quot;/&gt;&lt;hasText val=&quot;1&quot;/&gt;&lt;/Image&gt;&lt;/ThreeDShapeInfo&gt;"/>
  <p:tag name="PRESENTER_SHAPETEXTINFO" val="&lt;ShapeTextInfo&gt;&lt;TableIndex row=&quot;-1&quot; col=&quot;-1&quot;&gt;&lt;linesCount val=&quot;5&quot;/&gt;&lt;lineCharCount val=&quot;30&quot;/&gt;&lt;lineCharCount val=&quot;35&quot;/&gt;&lt;lineCharCount val=&quot;30&quot;/&gt;&lt;lineCharCount val=&quot;21&quot;/&gt;&lt;lineCharCount val=&quot;37&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342728D-FF79-4AD8-A88F-AD670C32BAE6}_11.png&quot;/&gt;&lt;left val=&quot;70&quot;/&gt;&lt;top val=&quot;485&quot;/&gt;&lt;width val=&quot;123&quot;/&gt;&lt;height val=&quot;34&quot;/&gt;&lt;hasText val=&quot;1&quot;/&gt;&lt;/Image&gt;&lt;/ThreeDShapeInfo&gt;"/>
  <p:tag name="PRESENTER_SHAPETEXTINFO" val="&lt;ShapeTextInfo&gt;&lt;TableIndex row=&quot;-1&quot; col=&quot;-1&quot;&gt;&lt;linesCount val=&quot;1&quot;/&gt;&lt;lineCharCount val=&quot;16&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C2F237F-6A8B-400A-A353-3C381614B07B}_11.png&quot;/&gt;&lt;left val=&quot;201&quot;/&gt;&lt;top val=&quot;285&quot;/&gt;&lt;width val=&quot;191&quot;/&gt;&lt;height val=&quot;34&quot;/&gt;&lt;hasText val=&quot;1&quot;/&gt;&lt;/Image&gt;&lt;/ThreeDShapeInfo&gt;"/>
  <p:tag name="PRESENTER_SHAPETEXTINFO" val="&lt;ShapeTextInfo&gt;&lt;TableIndex row=&quot;-1&quot; col=&quot;-1&quot;&gt;&lt;linesCount val=&quot;1&quot;/&gt;&lt;lineCharCount val=&quot;26&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397E173E-AD5F-425B-8B73-AA0A4583D580}_11.png&quot;/&gt;&lt;left val=&quot;591&quot;/&gt;&lt;top val=&quot;381&quot;/&gt;&lt;width val=&quot;132&quot;/&gt;&lt;height val=&quot;34&quot;/&gt;&lt;hasText val=&quot;1&quot;/&gt;&lt;/Image&gt;&lt;/ThreeDShapeInfo&gt;"/>
  <p:tag name="PRESENTER_SHAPETEXTINFO" val="&lt;ShapeTextInfo&gt;&lt;TableIndex row=&quot;-1&quot; col=&quot;-1&quot;&gt;&lt;linesCount val=&quot;1&quot;/&gt;&lt;lineCharCount val=&quot;18&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HTML_SHAPEINFO" val="&lt;SlideThumbPath val=&quot;Slide19.PNG&quot;/&gt;"/>
</p:tagLst>
</file>

<file path=ppt/tags/tag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D6062825-79C6-4586-BEAE-95F44AB0AD8D}_1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8&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98A5B719-4167-411E-BEE5-78515A035702}_19.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96220C0-4775-4355-A98C-EDD1C06CC27D}_19.png&quot;/&gt;&lt;left val=&quot;31&quot;/&gt;&lt;top val=&quot;105&quot;/&gt;&lt;width val=&quot;671&quot;/&gt;&lt;height val=&quot;88&quot;/&gt;&lt;hasText val=&quot;1&quot;/&gt;&lt;/Image&gt;&lt;/ThreeDShapeInfo&gt;"/>
  <p:tag name="PRESENTER_SHAPETEXTINFO" val="&lt;ShapeTextInfo&gt;&lt;TableIndex row=&quot;-1&quot; col=&quot;-1&quot;&gt;&lt;linesCount val=&quot;2&quot;/&gt;&lt;lineCharCount val=&quot;46&quot;/&gt;&lt;lineCharCount val=&quot;52&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AA9DF5DD-6A23-4262-B166-2EEE976F52EB}_19.png&quot;/&gt;&lt;left val=&quot;485&quot;/&gt;&lt;top val=&quot;507&quot;/&gt;&lt;width val=&quot;112&quot;/&gt;&lt;height val=&quot;43&quot;/&gt;&lt;hasText val=&quot;1&quot;/&gt;&lt;/Image&gt;&lt;/ThreeDShapeInfo&gt;"/>
  <p:tag name="PRESENTER_SHAPETEXTINFO" val="&lt;ShapeTextInfo&gt;&lt;TableIndex row=&quot;-1&quot; col=&quot;-1&quot;&gt;&lt;linesCount val=&quot;1&quot;/&gt;&lt;lineCharCount val=&quot;9&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HTML_AUTOSHAPE_INFO" val="&lt;ThreeDShapeInfo&gt;&lt;uuid val=&quot;{650CE8F5-E89A-42DC-8EBE-87D81F06E4CA}&quot;/&gt;&lt;isInvalidForFieldText val=&quot;1&quot;/&gt;&lt;Image&gt;&lt;filename val=&quot;C:\Users\sanmi\Documents\My Adobe Presentations\ece552-CacheConcepts\data\asimages\{650CE8F5-E89A-42DC-8EBE-87D81F06E4CA}_19_S.png&quot;/&gt;&lt;left val=&quot;514&quot;/&gt;&lt;top val=&quot;451&quot;/&gt;&lt;width val=&quot;51&quot;/&gt;&lt;height val=&quot;27&quot;/&gt;&lt;hasText val=&quot;0&quot;/&gt;&lt;/Image&gt;&lt;Image&gt;&lt;filename val=&quot;C:\Users\sanmi\Documents\My Adobe Presentations\ece552-CacheConcepts\data\asimages\{650CE8F5-E89A-42DC-8EBE-87D81F06E4CA}_19_T.png&quot;/&gt;&lt;left val=&quot;515&quot;/&gt;&lt;top val=&quot;453&quot;/&gt;&lt;width val=&quot;48&quot;/&gt;&lt;height val=&quot;24&quot;/&gt;&lt;hasText val=&quot;1&quot;/&gt;&lt;/Image&gt;&lt;/ThreeDShapeInfo&gt;"/>
  <p:tag name="PRESENTER_SHAPETEXTINFO" val="&lt;ShapeTextInfo&gt;&lt;TableIndex row=&quot;-1&quot; col=&quot;-1&quot;&gt;&lt;linesCount val=&quot;0&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ED2637A3-7605-4AAD-9B31-E57AEA4531AE}_19.png&quot;/&gt;&lt;left val=&quot;515&quot;/&gt;&lt;top val=&quot;448&quot;/&gt;&lt;width val=&quot;48&quot;/&gt;&lt;height val=&quot;43&quot;/&gt;&lt;hasText val=&quot;1&quot;/&gt;&lt;/Image&gt;&lt;/ThreeDShapeInfo&gt;"/>
  <p:tag name="PRESENTER_SHAPETEXTINFO" val="&lt;ShapeTextInfo&gt;&lt;TableIndex row=&quot;-1&quot; col=&quot;-1&quot;&gt;&lt;linesCount val=&quot;1&quot;/&gt;&lt;lineCharCount val=&quot;2&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919CB36-6EBC-4AE4-841A-AA6374D668D9}_19.png&quot;/&gt;&lt;left val=&quot;292&quot;/&gt;&lt;top val=&quot;399&quot;/&gt;&lt;width val=&quot;44&quot;/&gt;&lt;height val=&quot;42&quot;/&gt;&lt;hasText val=&quot;1&quot;/&gt;&lt;/Image&gt;&lt;/ThreeDShapeInfo&gt;"/>
  <p:tag name="PRESENTER_SHAPETEXTINFO" val="&lt;ShapeTextInfo&gt;&lt;TableIndex row=&quot;-1&quot; col=&quot;-1&quot;&gt;&lt;linesCount val=&quot;1&quot;/&gt;&lt;lineCharCount val=&quot;1&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HTML_AUTOSHAPE_INFO" val="&lt;ThreeDShapeInfo&gt;&lt;uuid val=&quot;{84E2E2A7-0BA7-4911-A9AB-E7F18C71B429}&quot;/&gt;&lt;isInvalidForFieldText val=&quot;1&quot;/&gt;&lt;Image&gt;&lt;filename val=&quot;C:\Users\sanmi\Documents\My Adobe Presentations\ece552-CacheConcepts\data\asimages\{84E2E2A7-0BA7-4911-A9AB-E7F18C71B429}_19_S.png&quot;/&gt;&lt;left val=&quot;238&quot;/&gt;&lt;top val=&quot;271&quot;/&gt;&lt;width val=&quot;15&quot;/&gt;&lt;height val=&quot;99&quot;/&gt;&lt;hasText val=&quot;0&quot;/&gt;&lt;/Image&gt;&lt;Image&gt;&lt;filename val=&quot;C:\Users\sanmi\Documents\My Adobe Presentations\ece552-CacheConcepts\data\asimages\{84E2E2A7-0BA7-4911-A9AB-E7F18C71B429}_19_T.png&quot;/&gt;&lt;left val=&quot;239&quot;/&gt;&lt;top val=&quot;273&quot;/&gt;&lt;width val=&quot;12&quot;/&gt;&lt;height val=&quot;96&quot;/&gt;&lt;hasText val=&quot;1&quot;/&gt;&lt;/Image&gt;&lt;/ThreeDShapeInfo&gt;"/>
  <p:tag name="PRESENTER_SHAPETEXTINFO" val="&lt;ShapeTextInfo&gt;&lt;TableIndex row=&quot;-1&quot; col=&quot;-1&quot;&gt;&lt;linesCount val=&quot;0&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HTML_AUTOSHAPE_INFO" val="&lt;ThreeDShapeInfo&gt;&lt;uuid val=&quot;{BC545B1A-BFF9-4C03-93AE-674C0666B158}&quot;/&gt;&lt;isInvalidForFieldText val=&quot;1&quot;/&gt;&lt;Image&gt;&lt;filename val=&quot;C:\Users\sanmi\Documents\My Adobe Presentations\ece552-CacheConcepts\data\asimages\{BC545B1A-BFF9-4C03-93AE-674C0666B158}_19_S.png&quot;/&gt;&lt;left val=&quot;418&quot;/&gt;&lt;top val=&quot;271&quot;/&gt;&lt;width val=&quot;15&quot;/&gt;&lt;height val=&quot;99&quot;/&gt;&lt;hasText val=&quot;0&quot;/&gt;&lt;/Image&gt;&lt;Image&gt;&lt;filename val=&quot;C:\Users\sanmi\Documents\My Adobe Presentations\ece552-CacheConcepts\data\asimages\{BC545B1A-BFF9-4C03-93AE-674C0666B158}_19_T.png&quot;/&gt;&lt;left val=&quot;419&quot;/&gt;&lt;top val=&quot;273&quot;/&gt;&lt;width val=&quot;12&quot;/&gt;&lt;height val=&quot;96&quot;/&gt;&lt;hasText val=&quot;1&quot;/&gt;&lt;/Image&gt;&lt;/ThreeDShapeInfo&gt;"/>
  <p:tag name="PRESENTER_SHAPETEXTINFO" val="&lt;ShapeTextInfo&gt;&lt;TableIndex row=&quot;-1&quot; col=&quot;-1&quot;&gt;&lt;linesCount val=&quot;0&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699D802-0468-4021-BF72-A587844250C4}_19.png&quot;/&gt;&lt;left val=&quot;262&quot;/&gt;&lt;top val=&quot;207&quot;/&gt;&lt;width val=&quot;73&quot;/&gt;&lt;height val=&quot;27&quot;/&gt;&lt;hasText val=&quot;1&quot;/&gt;&lt;/Image&gt;&lt;/ThreeDShapeInfo&gt;"/>
  <p:tag name="PRESENTER_SHAPETEXTINFO" val="&lt;ShapeTextInfo&gt;&lt;TableIndex row=&quot;-1&quot; col=&quot;-1&quot;&gt;&lt;linesCount val=&quot;1&quot;/&gt;&lt;lineCharCount val=&quot;12&quot;/&gt;&lt;/TableIndex&gt;&lt;/ShapeTextInfo&gt;"/>
</p:tagLst>
</file>

<file path=ppt/tags/tag8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9D28D3F5-3F64-499F-B9F1-73268AEFF86D}_19.png&quot;/&gt;&lt;left val=&quot;107&quot;/&gt;&lt;top val=&quot;207&quot;/&gt;&lt;width val=&quot;84&quot;/&gt;&lt;height val=&quot;27&quot;/&gt;&lt;hasText val=&quot;1&quot;/&gt;&lt;/Image&gt;&lt;/ThreeDShapeInfo&gt;"/>
  <p:tag name="PRESENTER_SHAPETEXTINFO" val="&lt;ShapeTextInfo&gt;&lt;TableIndex row=&quot;-1&quot; col=&quot;-1&quot;&gt;&lt;linesCount val=&quot;1&quot;/&gt;&lt;lineCharCount val=&quot;10&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41984FB-9CBB-47AE-AE93-DFED9FBA51DB}_19.png&quot;/&gt;&lt;left val=&quot;191&quot;/&gt;&lt;top val=&quot;207&quot;/&gt;&lt;width val=&quot;72&quot;/&gt;&lt;height val=&quot;27&quot;/&gt;&lt;hasText val=&quot;1&quot;/&gt;&lt;/Image&gt;&lt;/ThreeDShapeInfo&gt;"/>
  <p:tag name="PRESENTER_SHAPETEXTINFO" val="&lt;ShapeTextInfo&gt;&lt;TableIndex row=&quot;-1&quot; col=&quot;-1&quot;&gt;&lt;linesCount val=&quot;1&quot;/&gt;&lt;lineCharCount val=&quot;11&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HTML_AUTOSHAPE_INFO" val="&lt;ThreeDShapeInfo&gt;&lt;uuid val=&quot;{C53072AA-4C40-4690-832A-EC0BBA8787C4}&quot;/&gt;&lt;isInvalidForFieldText val=&quot;1&quot;/&gt;&lt;Image&gt;&lt;filename val=&quot;C:\Users\sanmi\Documents\My Adobe Presentations\ece552-CacheConcepts\data\asimages\{C53072AA-4C40-4690-832A-EC0BBA8787C4}_19_S.png&quot;/&gt;&lt;left val=&quot;214&quot;/&gt;&lt;top val=&quot;231&quot;/&gt;&lt;width val=&quot;35&quot;/&gt;&lt;height val=&quot;105&quot;/&gt;&lt;hasText val=&quot;0&quot;/&gt;&lt;/Image&gt;&lt;Image&gt;&lt;filename val=&quot;C:\Users\sanmi\Documents\My Adobe Presentations\ece552-CacheConcepts\data\asimages\{C53072AA-4C40-4690-832A-EC0BBA8787C4}_19_T.png&quot;/&gt;&lt;left val=&quot;216&quot;/&gt;&lt;top val=&quot;231&quot;/&gt;&lt;width val=&quot;24&quot;/&gt;&lt;height val=&quot;95&quot;/&gt;&lt;hasText val=&quot;1&quot;/&gt;&lt;/Image&gt;&lt;/ThreeDShapeInfo&gt;"/>
  <p:tag name="PRESENTER_SHAPETEXTINFO" val="&lt;ShapeTextInfo&gt;&lt;TableIndex row=&quot;-1&quot; col=&quot;-1&quot;&gt;&lt;linesCount val=&quot;0&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HTML_AUTOSHAPE_INFO" val="&lt;ThreeDShapeInfo&gt;&lt;uuid val=&quot;{7056EF19-FB32-4BDE-AE49-4F7023A8415D}&quot;/&gt;&lt;isInvalidForFieldText val=&quot;1&quot;/&gt;&lt;Image&gt;&lt;filename val=&quot;C:\Users\sanmi\Documents\My Adobe Presentations\ece552-CacheConcepts\data\asimages\{7056EF19-FB32-4BDE-AE49-4F7023A8415D}_19_S.png&quot;/&gt;&lt;left val=&quot;401&quot;/&gt;&lt;top val=&quot;249&quot;/&gt;&lt;width val=&quot;30&quot;/&gt;&lt;height val=&quot;87&quot;/&gt;&lt;hasText val=&quot;0&quot;/&gt;&lt;/Image&gt;&lt;Image&gt;&lt;filename val=&quot;C:\Users\sanmi\Documents\My Adobe Presentations\ece552-CacheConcepts\data\asimages\{7056EF19-FB32-4BDE-AE49-4F7023A8415D}_19_T.png&quot;/&gt;&lt;left val=&quot;402&quot;/&gt;&lt;top val=&quot;249&quot;/&gt;&lt;width val=&quot;18&quot;/&gt;&lt;height val=&quot;77&quot;/&gt;&lt;hasText val=&quot;1&quot;/&gt;&lt;/Image&gt;&lt;/ThreeDShapeInfo&gt;"/>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HTML_AUTOSHAPE_INFO" val="&lt;ThreeDShapeInfo&gt;&lt;uuid val=&quot;{5A9B7D97-58F0-450A-92D4-A90F14883DAA}&quot;/&gt;&lt;isInvalidForFieldText val=&quot;1&quot;/&gt;&lt;Image&gt;&lt;filename val=&quot;C:\Users\sanmi\Documents\My Adobe Presentations\ece552-CacheConcepts\data\asimages\{5A9B7D97-58F0-450A-92D4-A90F14883DAA}_19_S.png&quot;/&gt;&lt;left val=&quot;443&quot;/&gt;&lt;top val=&quot;409&quot;/&gt;&lt;width val=&quot;194&quot;/&gt;&lt;height val=&quot;15&quot;/&gt;&lt;hasText val=&quot;0&quot;/&gt;&lt;/Image&gt;&lt;Image&gt;&lt;filename val=&quot;C:\Users\sanmi\Documents\My Adobe Presentations\ece552-CacheConcepts\data\asimages\{5A9B7D97-58F0-450A-92D4-A90F14883DAA}_19_T.png&quot;/&gt;&lt;left val=&quot;444&quot;/&gt;&lt;top val=&quot;411&quot;/&gt;&lt;width val=&quot;191&quot;/&gt;&lt;height val=&quot;12&quot;/&gt;&lt;hasText val=&quot;1&quot;/&gt;&lt;/Image&gt;&lt;/ThreeDShapeInfo&gt;"/>
  <p:tag name="PRESENTER_SHAPETEXTINFO" val="&lt;ShapeTextInfo&gt;&lt;TableIndex row=&quot;-1&quot; col=&quot;-1&quot;&gt;&lt;linesCount val=&quot;0&quot;/&gt;&lt;/TableIndex&gt;&lt;/ShapeTextInfo&gt;"/>
</p:tagLst>
</file>

<file path=ppt/tags/tag88.xml><?xml version="1.0" encoding="utf-8"?>
<p:tagLst xmlns:a="http://schemas.openxmlformats.org/drawingml/2006/main" xmlns:r="http://schemas.openxmlformats.org/officeDocument/2006/relationships" xmlns:p="http://schemas.openxmlformats.org/presentationml/2006/main">
  <p:tag name="HTML_AUTOSHAPE_INFO" val="&lt;ThreeDShapeInfo&gt;&lt;uuid val=&quot;{ADDB90D5-3501-42CB-ACBF-740EE301E2A3}&quot;/&gt;&lt;isInvalidForFieldText val=&quot;1&quot;/&gt;&lt;Image&gt;&lt;filename val=&quot;C:\Users\sanmi\Documents\My Adobe Presentations\ece552-CacheConcepts\data\asimages\{ADDB90D5-3501-42CB-ACBF-740EE301E2A3}_19_S.png&quot;/&gt;&lt;left val=&quot;166&quot;/&gt;&lt;top val=&quot;231&quot;/&gt;&lt;width val=&quot;25&quot;/&gt;&lt;height val=&quot;152&quot;/&gt;&lt;hasText val=&quot;0&quot;/&gt;&lt;/Image&gt;&lt;Image&gt;&lt;filename val=&quot;C:\Users\sanmi\Documents\My Adobe Presentations\ece552-CacheConcepts\data\asimages\{ADDB90D5-3501-42CB-ACBF-740EE301E2A3}_19_T.png&quot;/&gt;&lt;left val=&quot;167&quot;/&gt;&lt;top val=&quot;231&quot;/&gt;&lt;width val=&quot;24&quot;/&gt;&lt;height val=&quot;150&quot;/&gt;&lt;hasText val=&quot;1&quot;/&gt;&lt;/Image&gt;&lt;/ThreeDShapeInfo&gt;"/>
  <p:tag name="PRESENTER_SHAPETEXTINFO" val="&lt;ShapeTextInfo&gt;&lt;TableIndex row=&quot;-1&quot; col=&quot;-1&quot;&gt;&lt;linesCount val=&quot;0&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HTML_AUTOSHAPE_INFO" val="&lt;ThreeDShapeInfo&gt;&lt;uuid val=&quot;{C61D92EF-B871-4EB6-A421-1EC41EAC3EBE}&quot;/&gt;&lt;isInvalidForFieldText val=&quot;1&quot;/&gt;&lt;Image&gt;&lt;filename val=&quot;C:\Users\sanmi\Documents\My Adobe Presentations\ece552-CacheConcepts\data\asimages\{C61D92EF-B871-4EB6-A421-1EC41EAC3EBE}_19_S.png&quot;/&gt;&lt;left val=&quot;167&quot;/&gt;&lt;top val=&quot;379&quot;/&gt;&lt;width val=&quot;150&quot;/&gt;&lt;height val=&quot;36&quot;/&gt;&lt;hasText val=&quot;0&quot;/&gt;&lt;/Image&gt;&lt;Image&gt;&lt;filename val=&quot;C:\Users\sanmi\Documents\My Adobe Presentations\ece552-CacheConcepts\data\asimages\{C61D92EF-B871-4EB6-A421-1EC41EAC3EBE}_19_T.png&quot;/&gt;&lt;left val=&quot;167&quot;/&gt;&lt;top val=&quot;381&quot;/&gt;&lt;width val=&quot;140&quot;/&gt;&lt;height val=&quot;24&quot;/&gt;&lt;hasText val=&quot;1&quot;/&gt;&lt;/Image&gt;&lt;/ThreeDShapeInfo&gt;"/>
  <p:tag name="PRESENTER_SHAPETEXTINFO" val="&lt;ShapeTextInfo&gt;&lt;TableIndex row=&quot;-1&quot; col=&quot;-1&quot;&gt;&lt;linesCount val=&quot;0&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EA271A3-8855-47DF-91D2-BF7EAAD8672A}_19.png&quot;/&gt;&lt;left val=&quot;331&quot;/&gt;&lt;top val=&quot;388&quot;/&gt;&lt;width val=&quot;51&quot;/&gt;&lt;height val=&quot;39&quot;/&gt;&lt;hasText val=&quot;1&quot;/&gt;&lt;/Image&gt;&lt;/ThreeDShapeInfo&gt;"/>
  <p:tag name="PRESENTER_SHAPETEXTINFO" val="&lt;ShapeTextInfo&gt;&lt;TableIndex row=&quot;-1&quot; col=&quot;-1&quot;&gt;&lt;linesCount val=&quot;1&quot;/&gt;&lt;lineCharCount val=&quot;4&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0B527F9-9A8E-4E3C-85DE-5B3CE6D45724}_19.png&quot;/&gt;&lt;left val=&quot;487&quot;/&gt;&lt;top val=&quot;244&quot;/&gt;&lt;width val=&quot;103&quot;/&gt;&lt;height val=&quot;39&quot;/&gt;&lt;hasText val=&quot;1&quot;/&gt;&lt;/Image&gt;&lt;/ThreeDShapeInfo&gt;"/>
  <p:tag name="PRESENTER_SHAPETEXTINFO" val="&lt;ShapeTextInfo&gt;&lt;TableIndex row=&quot;-1&quot; col=&quot;-1&quot;&gt;&lt;linesCount val=&quot;1&quot;/&gt;&lt;lineCharCount val=&quot;10&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A64E8A26-A601-403B-AB02-8E46C3388DE3}_19.png&quot;/&gt;&lt;left val=&quot;264&quot;/&gt;&lt;top val=&quot;244&quot;/&gt;&lt;width val=&quot;93&quot;/&gt;&lt;height val=&quot;39&quot;/&gt;&lt;hasText val=&quot;1&quot;/&gt;&lt;/Image&gt;&lt;/ThreeDShapeInfo&gt;"/>
  <p:tag name="PRESENTER_SHAPETEXTINFO" val="&lt;ShapeTextInfo&gt;&lt;TableIndex row=&quot;-1&quot; col=&quot;-1&quot;&gt;&lt;linesCount val=&quot;1&quot;/&gt;&lt;lineCharCount val=&quot;9&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E8B56C8-F346-47EC-90D8-7CE013749ACE}_19.png&quot;/&gt;&lt;left val=&quot;534&quot;/&gt;&lt;top val=&quot;363&quot;/&gt;&lt;width val=&quot;116&quot;/&gt;&lt;height val=&quot;43&quot;/&gt;&lt;hasText val=&quot;1&quot;/&gt;&lt;/Image&gt;&lt;/ThreeDShapeInfo&gt;"/>
  <p:tag name="PRESENTER_SHAPETEXTINFO" val="&lt;ShapeTextInfo&gt;&lt;TableIndex row=&quot;-1&quot; col=&quot;-1&quot;&gt;&lt;linesCount val=&quot;1&quot;/&gt;&lt;lineCharCount val=&quot;10&quot;/&gt;&lt;/TableIndex&gt;&lt;/ShapeTextInfo&gt;"/>
</p:tagLst>
</file>

<file path=ppt/tags/tag9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93C9015-40ED-459B-97C8-54F7697B672D}_19.png&quot;/&gt;&lt;left val=&quot;321&quot;/&gt;&lt;top val=&quot;203&quot;/&gt;&lt;width val=&quot;153&quot;/&gt;&lt;height val=&quot;34&quot;/&gt;&lt;hasText val=&quot;1&quot;/&gt;&lt;/Image&gt;&lt;/ThreeDShapeInfo&gt;"/>
  <p:tag name="PRESENTER_SHAPETEXTINFO" val="&lt;ShapeTextInfo&gt;&lt;TableIndex row=&quot;-1&quot; col=&quot;-1&quot;&gt;&lt;linesCount val=&quot;1&quot;/&gt;&lt;lineCharCount val=&quot;16&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62AA454-E4B1-4313-874C-1E9E3B6DD9DF}_19.png&quot;/&gt;&lt;left val=&quot;86&quot;/&gt;&lt;top val=&quot;438&quot;/&gt;&lt;width val=&quot;52&quot;/&gt;&lt;height val=&quot;34&quot;/&gt;&lt;hasText val=&quot;1&quot;/&gt;&lt;/Image&gt;&lt;/ThreeDShapeInfo&gt;"/>
  <p:tag name="PRESENTER_SHAPETEXTINFO" val="&lt;ShapeTextInfo&gt;&lt;TableIndex row=&quot;-1&quot; col=&quot;-1&quot;&gt;&lt;linesCount val=&quot;1&quot;/&gt;&lt;lineCharCount val=&quot;4&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4FC9687-E08D-4688-AD52-D32FA66C91EC}_19.png&quot;/&gt;&lt;left val=&quot;179&quot;/&gt;&lt;top val=&quot;294&quot;/&gt;&lt;width val=&quot;44&quot;/&gt;&lt;height val=&quot;34&quot;/&gt;&lt;hasText val=&quot;1&quot;/&gt;&lt;/Image&gt;&lt;/ThreeDShapeInfo&gt;"/>
  <p:tag name="PRESENTER_SHAPETEXTINFO" val="&lt;ShapeTextInfo&gt;&lt;TableIndex row=&quot;-1&quot; col=&quot;-1&quot;&gt;&lt;linesCount val=&quot;1&quot;/&gt;&lt;lineCharCount val=&quot;3&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86D824D-72F0-4D96-B942-657A48ABFB37}_19.png&quot;/&gt;&lt;left val=&quot;440&quot;/&gt;&lt;top val=&quot;296&quot;/&gt;&lt;width val=&quot;192&quot;/&gt;&lt;height val=&quot;30&quot;/&gt;&lt;hasText val=&quot;1&quot;/&gt;&lt;/Image&gt;&lt;/ThreeDShapeInfo&gt;"/>
  <p:tag name="PRESENTER_SHAPETEXTINFO" val="&lt;ShapeTextInfo&gt;&lt;TableIndex row=&quot;-1&quot; col=&quot;-1&quot;&gt;&lt;linesCount val=&quot;1&quot;/&gt;&lt;lineCharCount val=&quot;25&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0B8A4443-AE76-4C9F-9CE8-DB1355CD5A94}_19.png&quot;/&gt;&lt;left val=&quot;261&quot;/&gt;&lt;top val=&quot;297&quot;/&gt;&lt;width val=&quot;96&quot;/&gt;&lt;height val=&quot;30&quot;/&gt;&lt;hasText val=&quot;1&quot;/&gt;&lt;/Image&gt;&lt;/ThreeDShapeInfo&gt;"/>
  <p:tag name="PRESENTER_SHAPETEXTINFO" val="&lt;ShapeTextInfo&gt;&lt;TableIndex row=&quot;-1&quot; col=&quot;-1&quot;&gt;&lt;linesCount val=&quot;1&quot;/&gt;&lt;lineCharCount val=&quot;8&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HTML_SHAPEINFO" val="&lt;SlideThumbPath val=&quot;Slide21.PNG&quot;/&gt;"/>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DD7CD883-C16B-4AE3-89CC-942F51581A09}_21.png&quot;/&gt;&lt;left val=&quot;440&quot;/&gt;&lt;top val=&quot;296&quot;/&gt;&lt;width val=&quot;192&quot;/&gt;&lt;height val=&quot;30&quot;/&gt;&lt;hasText val=&quot;1&quot;/&gt;&lt;/Image&gt;&lt;/ThreeDShapeInfo&gt;"/>
  <p:tag name="PRESENTER_SHAPETEXTINFO" val="&lt;ShapeTextInfo&gt;&lt;TableIndex row=&quot;-1&quot; col=&quot;-1&quot;&gt;&lt;linesCount val=&quot;1&quot;/&gt;&lt;lineCharCount val=&quot;25&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9E68916D-EB8A-4359-8B85-E2DA04765956}_2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0&quot;/&gt;&lt;/TableIndex&gt;&lt;/ShapeTextInfo&gt;"/>
</p:tagLst>
</file>

<file path=ppt/tags/tag11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B68288A7-2429-4F5B-A4E9-880F5FB9BE7B}_21.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5FE561B9-F45C-44F6-9274-B7D1C42BD580}_21.png&quot;/&gt;&lt;left val=&quot;31&quot;/&gt;&lt;top val=&quot;105&quot;/&gt;&lt;width val=&quot;671&quot;/&gt;&lt;height val=&quot;88&quot;/&gt;&lt;hasText val=&quot;1&quot;/&gt;&lt;/Image&gt;&lt;/ThreeDShapeInfo&gt;"/>
  <p:tag name="PRESENTER_SHAPETEXTINFO" val="&lt;ShapeTextInfo&gt;&lt;TableIndex row=&quot;-1&quot; col=&quot;-1&quot;&gt;&lt;linesCount val=&quot;2&quot;/&gt;&lt;lineCharCount val=&quot;46&quot;/&gt;&lt;lineCharCount val=&quot;52&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52211295-2CEE-46A2-B424-0000C30DB5E7}_21.png&quot;/&gt;&lt;left val=&quot;485&quot;/&gt;&lt;top val=&quot;507&quot;/&gt;&lt;width val=&quot;112&quot;/&gt;&lt;height val=&quot;43&quot;/&gt;&lt;hasText val=&quot;1&quot;/&gt;&lt;/Image&gt;&lt;/ThreeDShapeInfo&gt;"/>
  <p:tag name="PRESENTER_SHAPETEXTINFO" val="&lt;ShapeTextInfo&gt;&lt;TableIndex row=&quot;-1&quot; col=&quot;-1&quot;&gt;&lt;linesCount val=&quot;1&quot;/&gt;&lt;lineCharCount val=&quot;9&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HTML_AUTOSHAPE_INFO" val="&lt;ThreeDShapeInfo&gt;&lt;uuid val=&quot;{E626B78F-FD27-4414-A1F4-6E0CA253B54C}&quot;/&gt;&lt;isInvalidForFieldText val=&quot;1&quot;/&gt;&lt;Image&gt;&lt;filename val=&quot;C:\Users\sanmi\Documents\My Adobe Presentations\ece552-CacheConcepts\data\asimages\{E626B78F-FD27-4414-A1F4-6E0CA253B54C}_21_S.png&quot;/&gt;&lt;left val=&quot;514&quot;/&gt;&lt;top val=&quot;451&quot;/&gt;&lt;width val=&quot;51&quot;/&gt;&lt;height val=&quot;27&quot;/&gt;&lt;hasText val=&quot;0&quot;/&gt;&lt;/Image&gt;&lt;Image&gt;&lt;filename val=&quot;C:\Users\sanmi\Documents\My Adobe Presentations\ece552-CacheConcepts\data\asimages\{E626B78F-FD27-4414-A1F4-6E0CA253B54C}_21_T.png&quot;/&gt;&lt;left val=&quot;515&quot;/&gt;&lt;top val=&quot;453&quot;/&gt;&lt;width val=&quot;48&quot;/&gt;&lt;height val=&quot;24&quot;/&gt;&lt;hasText val=&quot;1&quot;/&gt;&lt;/Image&gt;&lt;/ThreeDShapeInfo&gt;"/>
  <p:tag name="PRESENTER_SHAPETEXTINFO" val="&lt;ShapeTextInfo&gt;&lt;TableIndex row=&quot;-1&quot; col=&quot;-1&quot;&gt;&lt;linesCount val=&quot;0&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B3C499D-1D1A-4BCD-9318-D106DE810582}_21.png&quot;/&gt;&lt;left val=&quot;515&quot;/&gt;&lt;top val=&quot;448&quot;/&gt;&lt;width val=&quot;48&quot;/&gt;&lt;height val=&quot;43&quot;/&gt;&lt;hasText val=&quot;1&quot;/&gt;&lt;/Image&gt;&lt;/ThreeDShapeInfo&gt;"/>
  <p:tag name="PRESENTER_SHAPETEXTINFO" val="&lt;ShapeTextInfo&gt;&lt;TableIndex row=&quot;-1&quot; col=&quot;-1&quot;&gt;&lt;linesCount val=&quot;1&quot;/&gt;&lt;lineCharCount val=&quot;2&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DF58710D-605E-4980-9BB7-B6C3D9D32344}_21.png&quot;/&gt;&lt;left val=&quot;292&quot;/&gt;&lt;top val=&quot;399&quot;/&gt;&lt;width val=&quot;44&quot;/&gt;&lt;height val=&quot;42&quot;/&gt;&lt;hasText val=&quot;1&quot;/&gt;&lt;/Image&gt;&lt;/ThreeDShapeInfo&gt;"/>
  <p:tag name="PRESENTER_SHAPETEXTINFO" val="&lt;ShapeTextInfo&gt;&lt;TableIndex row=&quot;-1&quot; col=&quot;-1&quot;&gt;&lt;linesCount val=&quot;1&quot;/&gt;&lt;lineCharCount val=&quot;1&quot;/&gt;&lt;/TableIndex&gt;&lt;/ShapeTextInfo&gt;"/>
</p:tagLst>
</file>

<file path=ppt/tags/tag1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3.xml><?xml version="1.0" encoding="utf-8"?>
<p:tagLst xmlns:a="http://schemas.openxmlformats.org/drawingml/2006/main" xmlns:r="http://schemas.openxmlformats.org/officeDocument/2006/relationships" xmlns:p="http://schemas.openxmlformats.org/presentationml/2006/main">
  <p:tag name="HTML_AUTOSHAPE_INFO" val="&lt;ThreeDShapeInfo&gt;&lt;uuid val=&quot;{A5AB3364-5290-4E4F-B9E3-ECE6D453BB7C}&quot;/&gt;&lt;isInvalidForFieldText val=&quot;1&quot;/&gt;&lt;Image&gt;&lt;filename val=&quot;C:\Users\sanmi\Documents\My Adobe Presentations\ece552-CacheConcepts\data\asimages\{A5AB3364-5290-4E4F-B9E3-ECE6D453BB7C}_21_S.png&quot;/&gt;&lt;left val=&quot;238&quot;/&gt;&lt;top val=&quot;271&quot;/&gt;&lt;width val=&quot;15&quot;/&gt;&lt;height val=&quot;99&quot;/&gt;&lt;hasText val=&quot;0&quot;/&gt;&lt;/Image&gt;&lt;Image&gt;&lt;filename val=&quot;C:\Users\sanmi\Documents\My Adobe Presentations\ece552-CacheConcepts\data\asimages\{A5AB3364-5290-4E4F-B9E3-ECE6D453BB7C}_21_T.png&quot;/&gt;&lt;left val=&quot;239&quot;/&gt;&lt;top val=&quot;273&quot;/&gt;&lt;width val=&quot;12&quot;/&gt;&lt;height val=&quot;96&quot;/&gt;&lt;hasText val=&quot;1&quot;/&gt;&lt;/Image&gt;&lt;/ThreeDShapeInfo&gt;"/>
  <p:tag name="PRESENTER_SHAPETEXTINFO" val="&lt;ShapeTextInfo&gt;&lt;TableIndex row=&quot;-1&quot; col=&quot;-1&quot;&gt;&lt;linesCount val=&quot;0&quot;/&gt;&lt;/TableIndex&gt;&lt;/ShapeTextInfo&gt;"/>
</p:tagLst>
</file>

<file path=ppt/tags/tag1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8.xml><?xml version="1.0" encoding="utf-8"?>
<p:tagLst xmlns:a="http://schemas.openxmlformats.org/drawingml/2006/main" xmlns:r="http://schemas.openxmlformats.org/officeDocument/2006/relationships" xmlns:p="http://schemas.openxmlformats.org/presentationml/2006/main">
  <p:tag name="HTML_AUTOSHAPE_INFO" val="&lt;ThreeDShapeInfo&gt;&lt;uuid val=&quot;{11B0F4A7-5436-47CB-B66D-A805EEA89A3B}&quot;/&gt;&lt;isInvalidForFieldText val=&quot;1&quot;/&gt;&lt;Image&gt;&lt;filename val=&quot;C:\Users\sanmi\Documents\My Adobe Presentations\ece552-CacheConcepts\data\asimages\{11B0F4A7-5436-47CB-B66D-A805EEA89A3B}_21_S.png&quot;/&gt;&lt;left val=&quot;418&quot;/&gt;&lt;top val=&quot;271&quot;/&gt;&lt;width val=&quot;15&quot;/&gt;&lt;height val=&quot;99&quot;/&gt;&lt;hasText val=&quot;0&quot;/&gt;&lt;/Image&gt;&lt;Image&gt;&lt;filename val=&quot;C:\Users\sanmi\Documents\My Adobe Presentations\ece552-CacheConcepts\data\asimages\{11B0F4A7-5436-47CB-B66D-A805EEA89A3B}_21_T.png&quot;/&gt;&lt;left val=&quot;419&quot;/&gt;&lt;top val=&quot;273&quot;/&gt;&lt;width val=&quot;12&quot;/&gt;&lt;height val=&quot;96&quot;/&gt;&lt;hasText val=&quot;1&quot;/&gt;&lt;/Image&gt;&lt;/ThreeDShapeInfo&gt;"/>
  <p:tag name="PRESENTER_SHAPETEXTINFO" val="&lt;ShapeTextInfo&gt;&lt;TableIndex row=&quot;-1&quot; col=&quot;-1&quot;&gt;&lt;linesCount val=&quot;0&quot;/&gt;&lt;/TableIndex&gt;&lt;/ShapeTextInfo&gt;"/>
</p:tagLst>
</file>

<file path=ppt/tags/tag1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42D588EA-EBCC-479C-B5A7-FB62364FC6D0}_21.png&quot;/&gt;&lt;left val=&quot;262&quot;/&gt;&lt;top val=&quot;207&quot;/&gt;&lt;width val=&quot;73&quot;/&gt;&lt;height val=&quot;27&quot;/&gt;&lt;hasText val=&quot;1&quot;/&gt;&lt;/Image&gt;&lt;/ThreeDShapeInfo&gt;"/>
  <p:tag name="PRESENTER_SHAPETEXTINFO" val="&lt;ShapeTextInfo&gt;&lt;TableIndex row=&quot;-1&quot; col=&quot;-1&quot;&gt;&lt;linesCount val=&quot;1&quot;/&gt;&lt;lineCharCount val=&quot;12&quot;/&gt;&lt;/TableIndex&gt;&lt;/ShapeTextInfo&gt;"/>
</p:tagLst>
</file>

<file path=ppt/tags/tag1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A7D7B5BA-513D-4B05-B476-E9152B8FBAB8}_21.png&quot;/&gt;&lt;left val=&quot;107&quot;/&gt;&lt;top val=&quot;207&quot;/&gt;&lt;width val=&quot;84&quot;/&gt;&lt;height val=&quot;27&quot;/&gt;&lt;hasText val=&quot;1&quot;/&gt;&lt;/Image&gt;&lt;/ThreeDShapeInfo&gt;"/>
  <p:tag name="PRESENTER_SHAPETEXTINFO" val="&lt;ShapeTextInfo&gt;&lt;TableIndex row=&quot;-1&quot; col=&quot;-1&quot;&gt;&lt;linesCount val=&quot;1&quot;/&gt;&lt;lineCharCount val=&quot;10&quot;/&gt;&lt;/TableIndex&gt;&lt;/ShapeTextInfo&gt;"/>
</p:tagLst>
</file>

<file path=ppt/tags/tag1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08CE818-FB63-4C01-9C2A-22BE1B54693B}_21.png&quot;/&gt;&lt;left val=&quot;191&quot;/&gt;&lt;top val=&quot;207&quot;/&gt;&lt;width val=&quot;72&quot;/&gt;&lt;height val=&quot;27&quot;/&gt;&lt;hasText val=&quot;1&quot;/&gt;&lt;/Image&gt;&lt;/ThreeDShapeInfo&gt;"/>
  <p:tag name="PRESENTER_SHAPETEXTINFO" val="&lt;ShapeTextInfo&gt;&lt;TableIndex row=&quot;-1&quot; col=&quot;-1&quot;&gt;&lt;linesCount val=&quot;1&quot;/&gt;&lt;lineCharCount val=&quot;11&quot;/&gt;&lt;/TableIndex&gt;&lt;/ShapeTextInfo&gt;"/>
</p:tagLst>
</file>

<file path=ppt/tags/tag1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4.xml><?xml version="1.0" encoding="utf-8"?>
<p:tagLst xmlns:a="http://schemas.openxmlformats.org/drawingml/2006/main" xmlns:r="http://schemas.openxmlformats.org/officeDocument/2006/relationships" xmlns:p="http://schemas.openxmlformats.org/presentationml/2006/main">
  <p:tag name="HTML_AUTOSHAPE_INFO" val="&lt;ThreeDShapeInfo&gt;&lt;uuid val=&quot;{1EC9CE6C-857E-4E3D-B508-3F559C93FB54}&quot;/&gt;&lt;isInvalidForFieldText val=&quot;1&quot;/&gt;&lt;Image&gt;&lt;filename val=&quot;C:\Users\sanmi\Documents\My Adobe Presentations\ece552-CacheConcepts\data\asimages\{1EC9CE6C-857E-4E3D-B508-3F559C93FB54}_21_S.png&quot;/&gt;&lt;left val=&quot;214&quot;/&gt;&lt;top val=&quot;231&quot;/&gt;&lt;width val=&quot;35&quot;/&gt;&lt;height val=&quot;105&quot;/&gt;&lt;hasText val=&quot;0&quot;/&gt;&lt;/Image&gt;&lt;Image&gt;&lt;filename val=&quot;C:\Users\sanmi\Documents\My Adobe Presentations\ece552-CacheConcepts\data\asimages\{1EC9CE6C-857E-4E3D-B508-3F559C93FB54}_21_T.png&quot;/&gt;&lt;left val=&quot;216&quot;/&gt;&lt;top val=&quot;231&quot;/&gt;&lt;width val=&quot;24&quot;/&gt;&lt;height val=&quot;95&quot;/&gt;&lt;hasText val=&quot;1&quot;/&gt;&lt;/Image&gt;&lt;/ThreeDShapeInfo&gt;"/>
  <p:tag name="PRESENTER_SHAPETEXTINFO" val="&lt;ShapeTextInfo&gt;&lt;TableIndex row=&quot;-1&quot; col=&quot;-1&quot;&gt;&lt;linesCount val=&quot;0&quot;/&gt;&lt;/TableIndex&gt;&lt;/ShapeTextInfo&gt;"/>
</p:tagLst>
</file>

<file path=ppt/tags/tag145.xml><?xml version="1.0" encoding="utf-8"?>
<p:tagLst xmlns:a="http://schemas.openxmlformats.org/drawingml/2006/main" xmlns:r="http://schemas.openxmlformats.org/officeDocument/2006/relationships" xmlns:p="http://schemas.openxmlformats.org/presentationml/2006/main">
  <p:tag name="HTML_AUTOSHAPE_INFO" val="&lt;ThreeDShapeInfo&gt;&lt;uuid val=&quot;{B2F64B4D-A3E2-44AA-9DA0-0EFF76A4C95A}&quot;/&gt;&lt;isInvalidForFieldText val=&quot;1&quot;/&gt;&lt;Image&gt;&lt;filename val=&quot;C:\Users\sanmi\Documents\My Adobe Presentations\ece552-CacheConcepts\data\asimages\{B2F64B4D-A3E2-44AA-9DA0-0EFF76A4C95A}_21_S.png&quot;/&gt;&lt;left val=&quot;401&quot;/&gt;&lt;top val=&quot;249&quot;/&gt;&lt;width val=&quot;30&quot;/&gt;&lt;height val=&quot;87&quot;/&gt;&lt;hasText val=&quot;0&quot;/&gt;&lt;/Image&gt;&lt;Image&gt;&lt;filename val=&quot;C:\Users\sanmi\Documents\My Adobe Presentations\ece552-CacheConcepts\data\asimages\{B2F64B4D-A3E2-44AA-9DA0-0EFF76A4C95A}_21_T.png&quot;/&gt;&lt;left val=&quot;402&quot;/&gt;&lt;top val=&quot;249&quot;/&gt;&lt;width val=&quot;18&quot;/&gt;&lt;height val=&quot;77&quot;/&gt;&lt;hasText val=&quot;1&quot;/&gt;&lt;/Image&gt;&lt;/ThreeDShapeInfo&gt;"/>
  <p:tag name="PRESENTER_SHAPETEXTINFO" val="&lt;ShapeTextInfo&gt;&lt;TableIndex row=&quot;-1&quot; col=&quot;-1&quot;&gt;&lt;linesCount val=&quot;0&quot;/&gt;&lt;/TableIndex&gt;&lt;/ShapeTextInfo&gt;"/>
</p:tagLst>
</file>

<file path=ppt/tags/tag1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8.xml><?xml version="1.0" encoding="utf-8"?>
<p:tagLst xmlns:a="http://schemas.openxmlformats.org/drawingml/2006/main" xmlns:r="http://schemas.openxmlformats.org/officeDocument/2006/relationships" xmlns:p="http://schemas.openxmlformats.org/presentationml/2006/main">
  <p:tag name="HTML_AUTOSHAPE_INFO" val="&lt;ThreeDShapeInfo&gt;&lt;uuid val=&quot;{BDF46D0B-0613-42C4-B802-8411FCE3A92C}&quot;/&gt;&lt;isInvalidForFieldText val=&quot;1&quot;/&gt;&lt;Image&gt;&lt;filename val=&quot;C:\Users\sanmi\Documents\My Adobe Presentations\ece552-CacheConcepts\data\asimages\{BDF46D0B-0613-42C4-B802-8411FCE3A92C}_21_S.png&quot;/&gt;&lt;left val=&quot;443&quot;/&gt;&lt;top val=&quot;409&quot;/&gt;&lt;width val=&quot;194&quot;/&gt;&lt;height val=&quot;15&quot;/&gt;&lt;hasText val=&quot;0&quot;/&gt;&lt;/Image&gt;&lt;Image&gt;&lt;filename val=&quot;C:\Users\sanmi\Documents\My Adobe Presentations\ece552-CacheConcepts\data\asimages\{BDF46D0B-0613-42C4-B802-8411FCE3A92C}_21_T.png&quot;/&gt;&lt;left val=&quot;444&quot;/&gt;&lt;top val=&quot;411&quot;/&gt;&lt;width val=&quot;191&quot;/&gt;&lt;height val=&quot;12&quot;/&gt;&lt;hasText val=&quot;1&quot;/&gt;&lt;/Image&gt;&lt;/ThreeDShapeInfo&gt;"/>
  <p:tag name="PRESENTER_SHAPETEXTINFO" val="&lt;ShapeTextInfo&gt;&lt;TableIndex row=&quot;-1&quot; col=&quot;-1&quot;&gt;&lt;linesCount val=&quot;0&quot;/&gt;&lt;/TableIndex&gt;&lt;/ShapeTextInfo&gt;"/>
</p:tagLst>
</file>

<file path=ppt/tags/tag149.xml><?xml version="1.0" encoding="utf-8"?>
<p:tagLst xmlns:a="http://schemas.openxmlformats.org/drawingml/2006/main" xmlns:r="http://schemas.openxmlformats.org/officeDocument/2006/relationships" xmlns:p="http://schemas.openxmlformats.org/presentationml/2006/main">
  <p:tag name="HTML_AUTOSHAPE_INFO" val="&lt;ThreeDShapeInfo&gt;&lt;uuid val=&quot;{E1B1A649-4393-4DF4-9B75-26E93EC95822}&quot;/&gt;&lt;isInvalidForFieldText val=&quot;1&quot;/&gt;&lt;Image&gt;&lt;filename val=&quot;C:\Users\sanmi\Documents\My Adobe Presentations\ece552-CacheConcepts\data\asimages\{E1B1A649-4393-4DF4-9B75-26E93EC95822}_21_S.png&quot;/&gt;&lt;left val=&quot;166&quot;/&gt;&lt;top val=&quot;231&quot;/&gt;&lt;width val=&quot;25&quot;/&gt;&lt;height val=&quot;152&quot;/&gt;&lt;hasText val=&quot;0&quot;/&gt;&lt;/Image&gt;&lt;Image&gt;&lt;filename val=&quot;C:\Users\sanmi\Documents\My Adobe Presentations\ece552-CacheConcepts\data\asimages\{E1B1A649-4393-4DF4-9B75-26E93EC95822}_21_T.png&quot;/&gt;&lt;left val=&quot;167&quot;/&gt;&lt;top val=&quot;231&quot;/&gt;&lt;width val=&quot;24&quot;/&gt;&lt;height val=&quot;150&quot;/&gt;&lt;hasText val=&quot;1&quot;/&gt;&lt;/Image&gt;&lt;/ThreeDShapeInfo&gt;"/>
  <p:tag name="PRESENTER_SHAPETEXTINFO" val="&lt;ShapeTextInfo&gt;&lt;TableIndex row=&quot;-1&quot; col=&quot;-1&quot;&gt;&lt;linesCount val=&quot;0&quot;/&gt;&lt;/TableIndex&gt;&lt;/ShapeTextInfo&gt;"/>
</p:tagLst>
</file>

<file path=ppt/tags/tag150.xml><?xml version="1.0" encoding="utf-8"?>
<p:tagLst xmlns:a="http://schemas.openxmlformats.org/drawingml/2006/main" xmlns:r="http://schemas.openxmlformats.org/officeDocument/2006/relationships" xmlns:p="http://schemas.openxmlformats.org/presentationml/2006/main">
  <p:tag name="HTML_AUTOSHAPE_INFO" val="&lt;ThreeDShapeInfo&gt;&lt;uuid val=&quot;{098BC453-5B47-40E2-A7AF-108CC2081FD1}&quot;/&gt;&lt;isInvalidForFieldText val=&quot;1&quot;/&gt;&lt;Image&gt;&lt;filename val=&quot;C:\Users\sanmi\Documents\My Adobe Presentations\ece552-CacheConcepts\data\asimages\{098BC453-5B47-40E2-A7AF-108CC2081FD1}_21_S.png&quot;/&gt;&lt;left val=&quot;167&quot;/&gt;&lt;top val=&quot;379&quot;/&gt;&lt;width val=&quot;150&quot;/&gt;&lt;height val=&quot;36&quot;/&gt;&lt;hasText val=&quot;0&quot;/&gt;&lt;/Image&gt;&lt;Image&gt;&lt;filename val=&quot;C:\Users\sanmi\Documents\My Adobe Presentations\ece552-CacheConcepts\data\asimages\{098BC453-5B47-40E2-A7AF-108CC2081FD1}_21_T.png&quot;/&gt;&lt;left val=&quot;167&quot;/&gt;&lt;top val=&quot;381&quot;/&gt;&lt;width val=&quot;140&quot;/&gt;&lt;height val=&quot;24&quot;/&gt;&lt;hasText val=&quot;1&quot;/&gt;&lt;/Image&gt;&lt;/ThreeDShapeInfo&gt;"/>
  <p:tag name="PRESENTER_SHAPETEXTINFO" val="&lt;ShapeTextInfo&gt;&lt;TableIndex row=&quot;-1&quot; col=&quot;-1&quot;&gt;&lt;linesCount val=&quot;0&quot;/&gt;&lt;/TableIndex&gt;&lt;/ShapeTextInfo&gt;"/>
</p:tagLst>
</file>

<file path=ppt/tags/tag15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4B9ACDF-5F62-45A8-912F-983EB7DBE304}_21.png&quot;/&gt;&lt;left val=&quot;331&quot;/&gt;&lt;top val=&quot;388&quot;/&gt;&lt;width val=&quot;51&quot;/&gt;&lt;height val=&quot;39&quot;/&gt;&lt;hasText val=&quot;1&quot;/&gt;&lt;/Image&gt;&lt;/ThreeDShapeInfo&gt;"/>
  <p:tag name="PRESENTER_SHAPETEXTINFO" val="&lt;ShapeTextInfo&gt;&lt;TableIndex row=&quot;-1&quot; col=&quot;-1&quot;&gt;&lt;linesCount val=&quot;1&quot;/&gt;&lt;lineCharCount val=&quot;4&quot;/&gt;&lt;/TableIndex&gt;&lt;/ShapeTextInfo&gt;"/>
</p:tagLst>
</file>

<file path=ppt/tags/tag1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331B9C26-EA09-464F-954E-4292E35581BA}_21.png&quot;/&gt;&lt;left val=&quot;487&quot;/&gt;&lt;top val=&quot;244&quot;/&gt;&lt;width val=&quot;103&quot;/&gt;&lt;height val=&quot;39&quot;/&gt;&lt;hasText val=&quot;1&quot;/&gt;&lt;/Image&gt;&lt;/ThreeDShapeInfo&gt;"/>
  <p:tag name="PRESENTER_SHAPETEXTINFO" val="&lt;ShapeTextInfo&gt;&lt;TableIndex row=&quot;-1&quot; col=&quot;-1&quot;&gt;&lt;linesCount val=&quot;1&quot;/&gt;&lt;lineCharCount val=&quot;10&quot;/&gt;&lt;/TableIndex&gt;&lt;/ShapeTextInfo&gt;"/>
</p:tagLst>
</file>

<file path=ppt/tags/tag1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0C903A2-FD65-43AC-A2F5-7B52A8298F37}_21.png&quot;/&gt;&lt;left val=&quot;264&quot;/&gt;&lt;top val=&quot;244&quot;/&gt;&lt;width val=&quot;93&quot;/&gt;&lt;height val=&quot;39&quot;/&gt;&lt;hasText val=&quot;1&quot;/&gt;&lt;/Image&gt;&lt;/ThreeDShapeInfo&gt;"/>
  <p:tag name="PRESENTER_SHAPETEXTINFO" val="&lt;ShapeTextInfo&gt;&lt;TableIndex row=&quot;-1&quot; col=&quot;-1&quot;&gt;&lt;linesCount val=&quot;1&quot;/&gt;&lt;lineCharCount val=&quot;9&quot;/&gt;&lt;/TableIndex&gt;&lt;/ShapeTextInfo&gt;"/>
</p:tagLst>
</file>

<file path=ppt/tags/tag1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3EFEBDA-C24D-40F2-880E-35DE4A8CB97E}_21.png&quot;/&gt;&lt;left val=&quot;534&quot;/&gt;&lt;top val=&quot;363&quot;/&gt;&lt;width val=&quot;116&quot;/&gt;&lt;height val=&quot;43&quot;/&gt;&lt;hasText val=&quot;1&quot;/&gt;&lt;/Image&gt;&lt;/ThreeDShapeInfo&gt;"/>
  <p:tag name="PRESENTER_SHAPETEXTINFO" val="&lt;ShapeTextInfo&gt;&lt;TableIndex row=&quot;-1&quot; col=&quot;-1&quot;&gt;&lt;linesCount val=&quot;1&quot;/&gt;&lt;lineCharCount val=&quot;10&quot;/&gt;&lt;/TableIndex&gt;&lt;/ShapeTextInfo&gt;"/>
</p:tagLst>
</file>

<file path=ppt/tags/tag1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F34E5F59-2362-4098-9D11-B6912A66122D}_21.png&quot;/&gt;&lt;left val=&quot;321&quot;/&gt;&lt;top val=&quot;203&quot;/&gt;&lt;width val=&quot;153&quot;/&gt;&lt;height val=&quot;34&quot;/&gt;&lt;hasText val=&quot;1&quot;/&gt;&lt;/Image&gt;&lt;/ThreeDShapeInfo&gt;"/>
  <p:tag name="PRESENTER_SHAPETEXTINFO" val="&lt;ShapeTextInfo&gt;&lt;TableIndex row=&quot;-1&quot; col=&quot;-1&quot;&gt;&lt;linesCount val=&quot;1&quot;/&gt;&lt;lineCharCount val=&quot;16&quot;/&gt;&lt;/TableIndex&gt;&lt;/ShapeTextInfo&gt;"/>
</p:tagLst>
</file>

<file path=ppt/tags/tag15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41AC4B0-4F32-45F9-A65D-8B3C9C1FE83A}_21.png&quot;/&gt;&lt;left val=&quot;86&quot;/&gt;&lt;top val=&quot;438&quot;/&gt;&lt;width val=&quot;52&quot;/&gt;&lt;height val=&quot;34&quot;/&gt;&lt;hasText val=&quot;1&quot;/&gt;&lt;/Image&gt;&lt;/ThreeDShapeInfo&gt;"/>
  <p:tag name="PRESENTER_SHAPETEXTINFO" val="&lt;ShapeTextInfo&gt;&lt;TableIndex row=&quot;-1&quot; col=&quot;-1&quot;&gt;&lt;linesCount val=&quot;1&quot;/&gt;&lt;lineCharCount val=&quot;4&quot;/&gt;&lt;/TableIndex&gt;&lt;/ShapeTextInfo&gt;"/>
</p:tagLst>
</file>

<file path=ppt/tags/tag1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E461188-6229-4991-B0AF-0C3EBE49B0C9}_21.png&quot;/&gt;&lt;left val=&quot;179&quot;/&gt;&lt;top val=&quot;294&quot;/&gt;&lt;width val=&quot;44&quot;/&gt;&lt;height val=&quot;34&quot;/&gt;&lt;hasText val=&quot;1&quot;/&gt;&lt;/Image&gt;&lt;/ThreeDShapeInfo&gt;"/>
  <p:tag name="PRESENTER_SHAPETEXTINFO" val="&lt;ShapeTextInfo&gt;&lt;TableIndex row=&quot;-1&quot; col=&quot;-1&quot;&gt;&lt;linesCount val=&quot;1&quot;/&gt;&lt;lineCharCount val=&quot;3&quot;/&gt;&lt;/TableIndex&gt;&lt;/ShapeTextInfo&gt;"/>
</p:tagLst>
</file>

<file path=ppt/tags/tag1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3F48D0B7-008B-412C-8FBA-2D374AFDD255}_21.png&quot;/&gt;&lt;left val=&quot;261&quot;/&gt;&lt;top val=&quot;297&quot;/&gt;&lt;width val=&quot;96&quot;/&gt;&lt;height val=&quot;30&quot;/&gt;&lt;hasText val=&quot;1&quot;/&gt;&lt;/Image&gt;&lt;/ThreeDShapeInfo&gt;"/>
  <p:tag name="PRESENTER_SHAPETEXTINFO" val="&lt;ShapeTextInfo&gt;&lt;TableIndex row=&quot;-1&quot; col=&quot;-1&quot;&gt;&lt;linesCount val=&quot;1&quot;/&gt;&lt;lineCharCount val=&quot;8&quot;/&gt;&lt;/TableIndex&gt;&lt;/ShapeTextInfo&gt;"/>
</p:tagLst>
</file>

<file path=ppt/tags/tag1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E07BBE5-125F-47A7-8D8B-0B021CB18C74}_21.png&quot;/&gt;&lt;left val=&quot;287&quot;/&gt;&lt;top val=&quot;423&quot;/&gt;&lt;width val=&quot;53&quot;/&gt;&lt;height val=&quot;34&quot;/&gt;&lt;hasText val=&quot;1&quot;/&gt;&lt;/Image&gt;&lt;/ThreeDShapeInfo&gt;"/>
  <p:tag name="PRESENTER_SHAPETEXTINFO" val="&lt;ShapeTextInfo&gt;&lt;TableIndex row=&quot;-1&quot; col=&quot;-1&quot;&gt;&lt;linesCount val=&quot;1&quot;/&gt;&lt;lineCharCount val=&quot;4&quot;/&gt;&lt;/TableIndex&gt;&lt;/ShapeTextInfo&gt;"/>
</p:tagLst>
</file>

<file path=ppt/tags/tag1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3DF90C5C-E463-4008-8A69-50681CBF7444}_21.png&quot;/&gt;&lt;left val=&quot;261&quot;/&gt;&lt;top val=&quot;296&quot;/&gt;&lt;width val=&quot;372&quot;/&gt;&lt;height val=&quot;31&quot;/&gt;&lt;hasText val=&quot;1&quot;/&gt;&lt;/Image&gt;&lt;/ThreeDShapeInfo&gt;"/>
</p:tagLst>
</file>

<file path=ppt/tags/tag1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5&quot;/&gt;&lt;/TableIndex&gt;&lt;/ShapeTextInfo&gt;"/>
</p:tagLst>
</file>

<file path=ppt/tags/tag1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2</TotalTime>
  <Words>376</Words>
  <Application>Microsoft Macintosh PowerPoint</Application>
  <PresentationFormat>On-screen Show (4:3)</PresentationFormat>
  <Paragraphs>83</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Times New Roman</vt:lpstr>
      <vt:lpstr>Lecture Notes 552</vt:lpstr>
      <vt:lpstr>ECE/CS 552: Cache Concepts</vt:lpstr>
      <vt:lpstr>Announcements</vt:lpstr>
      <vt:lpstr>Memory Hierarchy</vt:lpstr>
      <vt:lpstr>Memory Hierarchy</vt:lpstr>
      <vt:lpstr>Caches – Placement</vt:lpstr>
      <vt:lpstr>Caches – Replacement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Cache Concepts</dc:title>
  <dc:creator/>
  <cp:lastModifiedBy>Boone Severson</cp:lastModifiedBy>
  <cp:revision>803</cp:revision>
  <cp:lastPrinted>1601-01-01T00:00:00Z</cp:lastPrinted>
  <dcterms:created xsi:type="dcterms:W3CDTF">1601-01-01T00:00:00Z</dcterms:created>
  <dcterms:modified xsi:type="dcterms:W3CDTF">2024-10-17T01:58:09Z</dcterms:modified>
</cp:coreProperties>
</file>