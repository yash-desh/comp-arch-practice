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4.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5.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6.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7.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notesSlides/notesSlide8.xml" ContentType="application/vnd.openxmlformats-officedocument.presentationml.notesSlide+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9.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10.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1.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2.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13.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notesSlides/notesSlide14.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notesSlides/notesSlide15.xml" ContentType="application/vnd.openxmlformats-officedocument.presentationml.notesSlide+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16.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17.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notesSlides/notesSlide18.xml" ContentType="application/vnd.openxmlformats-officedocument.presentationml.notesSlid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notesSlides/notesSlide19.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20.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21.xml" ContentType="application/vnd.openxmlformats-officedocument.presentationml.notesSlid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notesSlides/notesSlide22.xml" ContentType="application/vnd.openxmlformats-officedocument.presentationml.notesSlide+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notesSlides/notesSlide23.xml" ContentType="application/vnd.openxmlformats-officedocument.presentationml.notesSlide+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24.xml" ContentType="application/vnd.openxmlformats-officedocument.presentationml.notesSlide+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notesSlides/notesSlide25.xml" ContentType="application/vnd.openxmlformats-officedocument.presentationml.notesSlide+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8" r:id="rId1"/>
  </p:sldMasterIdLst>
  <p:notesMasterIdLst>
    <p:notesMasterId r:id="rId43"/>
  </p:notesMasterIdLst>
  <p:handoutMasterIdLst>
    <p:handoutMasterId r:id="rId44"/>
  </p:handoutMasterIdLst>
  <p:sldIdLst>
    <p:sldId id="508" r:id="rId2"/>
    <p:sldId id="464" r:id="rId3"/>
    <p:sldId id="697" r:id="rId4"/>
    <p:sldId id="739" r:id="rId5"/>
    <p:sldId id="740" r:id="rId6"/>
    <p:sldId id="698" r:id="rId7"/>
    <p:sldId id="699" r:id="rId8"/>
    <p:sldId id="741" r:id="rId9"/>
    <p:sldId id="742" r:id="rId10"/>
    <p:sldId id="700" r:id="rId11"/>
    <p:sldId id="743" r:id="rId12"/>
    <p:sldId id="705" r:id="rId13"/>
    <p:sldId id="744" r:id="rId14"/>
    <p:sldId id="510" r:id="rId15"/>
    <p:sldId id="745" r:id="rId16"/>
    <p:sldId id="706" r:id="rId17"/>
    <p:sldId id="749" r:id="rId18"/>
    <p:sldId id="722" r:id="rId19"/>
    <p:sldId id="746" r:id="rId20"/>
    <p:sldId id="723" r:id="rId21"/>
    <p:sldId id="754" r:id="rId22"/>
    <p:sldId id="707" r:id="rId23"/>
    <p:sldId id="748" r:id="rId24"/>
    <p:sldId id="728" r:id="rId25"/>
    <p:sldId id="750" r:id="rId26"/>
    <p:sldId id="708" r:id="rId27"/>
    <p:sldId id="751" r:id="rId28"/>
    <p:sldId id="641" r:id="rId29"/>
    <p:sldId id="731" r:id="rId30"/>
    <p:sldId id="752" r:id="rId31"/>
    <p:sldId id="709" r:id="rId32"/>
    <p:sldId id="710" r:id="rId33"/>
    <p:sldId id="753" r:id="rId34"/>
    <p:sldId id="724" r:id="rId35"/>
    <p:sldId id="729" r:id="rId36"/>
    <p:sldId id="726" r:id="rId37"/>
    <p:sldId id="727" r:id="rId38"/>
    <p:sldId id="738" r:id="rId39"/>
    <p:sldId id="737" r:id="rId40"/>
    <p:sldId id="735" r:id="rId41"/>
    <p:sldId id="736" r:id="rId42"/>
  </p:sldIdLst>
  <p:sldSz cx="9144000" cy="6858000" type="screen4x3"/>
  <p:notesSz cx="6845300" cy="9396413"/>
  <p:custDataLst>
    <p:tags r:id="rId45"/>
  </p:custDataLst>
  <p:defaultTextStyle>
    <a:defPPr>
      <a:defRPr lang="en-US"/>
    </a:defPPr>
    <a:lvl1pPr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9">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83" autoAdjust="0"/>
    <p:restoredTop sz="83565" autoAdjust="0"/>
  </p:normalViewPr>
  <p:slideViewPr>
    <p:cSldViewPr>
      <p:cViewPr varScale="1">
        <p:scale>
          <a:sx n="71" d="100"/>
          <a:sy n="71" d="100"/>
        </p:scale>
        <p:origin x="1838" y="5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70" d="100"/>
        <a:sy n="170" d="100"/>
      </p:scale>
      <p:origin x="0" y="0"/>
    </p:cViewPr>
  </p:notesTextViewPr>
  <p:sorterViewPr>
    <p:cViewPr>
      <p:scale>
        <a:sx n="66" d="100"/>
        <a:sy n="66" d="100"/>
      </p:scale>
      <p:origin x="0" y="2736"/>
    </p:cViewPr>
  </p:sorterViewPr>
  <p:notesViewPr>
    <p:cSldViewPr>
      <p:cViewPr varScale="1">
        <p:scale>
          <a:sx n="75" d="100"/>
          <a:sy n="75" d="100"/>
        </p:scale>
        <p:origin x="-1416" y="-96"/>
      </p:cViewPr>
      <p:guideLst>
        <p:guide orient="horz" pos="2959"/>
        <p:guide pos="215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slide" Target="slides/slide6.xml"/><Relationship Id="rId1" Type="http://schemas.openxmlformats.org/officeDocument/2006/relationships/slide" Target="slides/slide3.xml"/><Relationship Id="rId4"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C265A1D1-E02A-4C7C-A26E-3B72CC3DFE43}"/>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5363" name="Rectangle 3">
            <a:extLst>
              <a:ext uri="{FF2B5EF4-FFF2-40B4-BE49-F238E27FC236}">
                <a16:creationId xmlns:a16="http://schemas.microsoft.com/office/drawing/2014/main" id="{B36186A0-BA54-4798-AF4A-931661C45993}"/>
              </a:ext>
            </a:extLst>
          </p:cNvPr>
          <p:cNvSpPr>
            <a:spLocks noGrp="1" noChangeArrowheads="1"/>
          </p:cNvSpPr>
          <p:nvPr>
            <p:ph type="dt" sz="quarter"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15364" name="Rectangle 4">
            <a:extLst>
              <a:ext uri="{FF2B5EF4-FFF2-40B4-BE49-F238E27FC236}">
                <a16:creationId xmlns:a16="http://schemas.microsoft.com/office/drawing/2014/main" id="{DC7F4BFC-FEC0-4811-A648-47247991DC11}"/>
              </a:ext>
            </a:extLst>
          </p:cNvPr>
          <p:cNvSpPr>
            <a:spLocks noGrp="1" noChangeArrowheads="1"/>
          </p:cNvSpPr>
          <p:nvPr>
            <p:ph type="ftr" sz="quarter" idx="2"/>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r>
              <a:rPr lang="en-US"/>
              <a:t>ECE/CS 552: Introduction To Computer Architecture</a:t>
            </a:r>
          </a:p>
        </p:txBody>
      </p:sp>
      <p:sp>
        <p:nvSpPr>
          <p:cNvPr id="15365" name="Rectangle 5">
            <a:extLst>
              <a:ext uri="{FF2B5EF4-FFF2-40B4-BE49-F238E27FC236}">
                <a16:creationId xmlns:a16="http://schemas.microsoft.com/office/drawing/2014/main" id="{1B82212A-5CD5-4303-B5F0-8F435E2E8DAA}"/>
              </a:ext>
            </a:extLst>
          </p:cNvPr>
          <p:cNvSpPr>
            <a:spLocks noGrp="1" noChangeArrowheads="1"/>
          </p:cNvSpPr>
          <p:nvPr>
            <p:ph type="sldNum" sz="quarter" idx="3"/>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smtClean="0"/>
            </a:lvl1pPr>
          </a:lstStyle>
          <a:p>
            <a:pPr>
              <a:defRPr/>
            </a:pPr>
            <a:fld id="{6C41ABF2-B580-4648-8F17-B7174DD7CD7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2D836EF-8AC7-41F9-B5D0-0DA1A9D825E5}"/>
              </a:ext>
            </a:extLst>
          </p:cNvPr>
          <p:cNvSpPr>
            <a:spLocks noGrp="1" noChangeArrowheads="1"/>
          </p:cNvSpPr>
          <p:nvPr>
            <p:ph type="hdr" sz="quarter"/>
          </p:nvPr>
        </p:nvSpPr>
        <p:spPr bwMode="auto">
          <a:xfrm>
            <a:off x="0" y="0"/>
            <a:ext cx="2967038"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defTabSz="931863" eaLnBrk="0" hangingPunct="0">
              <a:defRPr sz="1200"/>
            </a:lvl1pPr>
          </a:lstStyle>
          <a:p>
            <a:pPr>
              <a:defRPr/>
            </a:pPr>
            <a:endParaRPr lang="en-US"/>
          </a:p>
        </p:txBody>
      </p:sp>
      <p:sp>
        <p:nvSpPr>
          <p:cNvPr id="17411" name="Rectangle 3">
            <a:extLst>
              <a:ext uri="{FF2B5EF4-FFF2-40B4-BE49-F238E27FC236}">
                <a16:creationId xmlns:a16="http://schemas.microsoft.com/office/drawing/2014/main" id="{4CE16B0C-DDEC-44EE-8D3D-2EB3F53B8914}"/>
              </a:ext>
            </a:extLst>
          </p:cNvPr>
          <p:cNvSpPr>
            <a:spLocks noGrp="1" noChangeArrowheads="1"/>
          </p:cNvSpPr>
          <p:nvPr>
            <p:ph type="dt" idx="1"/>
          </p:nvPr>
        </p:nvSpPr>
        <p:spPr bwMode="auto">
          <a:xfrm>
            <a:off x="3878263" y="0"/>
            <a:ext cx="2967037" cy="469900"/>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lvl1pPr algn="r" defTabSz="931863" eaLnBrk="0" hangingPunct="0">
              <a:defRPr sz="1200"/>
            </a:lvl1pPr>
          </a:lstStyle>
          <a:p>
            <a:pPr>
              <a:defRPr/>
            </a:pPr>
            <a:endParaRPr lang="en-US"/>
          </a:p>
        </p:txBody>
      </p:sp>
      <p:sp>
        <p:nvSpPr>
          <p:cNvPr id="4100" name="Rectangle 4">
            <a:extLst>
              <a:ext uri="{FF2B5EF4-FFF2-40B4-BE49-F238E27FC236}">
                <a16:creationId xmlns:a16="http://schemas.microsoft.com/office/drawing/2014/main" id="{DDE18D93-9A93-45A1-AEA7-369D36FD6010}"/>
              </a:ext>
            </a:extLst>
          </p:cNvPr>
          <p:cNvSpPr>
            <a:spLocks noGrp="1" noRot="1" noChangeAspect="1" noChangeArrowheads="1" noTextEdit="1"/>
          </p:cNvSpPr>
          <p:nvPr>
            <p:ph type="sldImg" idx="2"/>
          </p:nvPr>
        </p:nvSpPr>
        <p:spPr bwMode="auto">
          <a:xfrm>
            <a:off x="1074738" y="704850"/>
            <a:ext cx="4697412" cy="35226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a:extLst>
              <a:ext uri="{FF2B5EF4-FFF2-40B4-BE49-F238E27FC236}">
                <a16:creationId xmlns:a16="http://schemas.microsoft.com/office/drawing/2014/main" id="{D727E3FB-32B0-44DD-8A12-749334A5DB82}"/>
              </a:ext>
            </a:extLst>
          </p:cNvPr>
          <p:cNvSpPr>
            <a:spLocks noGrp="1" noChangeArrowheads="1"/>
          </p:cNvSpPr>
          <p:nvPr>
            <p:ph type="body" sz="quarter" idx="3"/>
          </p:nvPr>
        </p:nvSpPr>
        <p:spPr bwMode="auto">
          <a:xfrm>
            <a:off x="912813" y="4464050"/>
            <a:ext cx="5019675" cy="4227513"/>
          </a:xfrm>
          <a:prstGeom prst="rect">
            <a:avLst/>
          </a:prstGeom>
          <a:noFill/>
          <a:ln w="12700">
            <a:noFill/>
            <a:miter lim="800000"/>
            <a:headEnd type="none" w="sm" len="sm"/>
            <a:tailEnd type="none" w="sm" len="sm"/>
          </a:ln>
          <a:effectLst/>
        </p:spPr>
        <p:txBody>
          <a:bodyPr vert="horz" wrap="square" lIns="93172" tIns="46586" rIns="93172" bIns="4658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a:extLst>
              <a:ext uri="{FF2B5EF4-FFF2-40B4-BE49-F238E27FC236}">
                <a16:creationId xmlns:a16="http://schemas.microsoft.com/office/drawing/2014/main" id="{66384353-C0EC-4A93-8CC5-952CD52580F7}"/>
              </a:ext>
            </a:extLst>
          </p:cNvPr>
          <p:cNvSpPr>
            <a:spLocks noGrp="1" noChangeArrowheads="1"/>
          </p:cNvSpPr>
          <p:nvPr>
            <p:ph type="ftr" sz="quarter" idx="4"/>
          </p:nvPr>
        </p:nvSpPr>
        <p:spPr bwMode="auto">
          <a:xfrm>
            <a:off x="0" y="8926513"/>
            <a:ext cx="2967038"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defTabSz="931863" eaLnBrk="0" hangingPunct="0">
              <a:defRPr sz="1200"/>
            </a:lvl1pPr>
          </a:lstStyle>
          <a:p>
            <a:pPr>
              <a:defRPr/>
            </a:pPr>
            <a:endParaRPr lang="en-US"/>
          </a:p>
        </p:txBody>
      </p:sp>
      <p:sp>
        <p:nvSpPr>
          <p:cNvPr id="17415" name="Rectangle 7">
            <a:extLst>
              <a:ext uri="{FF2B5EF4-FFF2-40B4-BE49-F238E27FC236}">
                <a16:creationId xmlns:a16="http://schemas.microsoft.com/office/drawing/2014/main" id="{06A17750-20F3-41D3-8CFF-A6C37F575BF1}"/>
              </a:ext>
            </a:extLst>
          </p:cNvPr>
          <p:cNvSpPr>
            <a:spLocks noGrp="1" noChangeArrowheads="1"/>
          </p:cNvSpPr>
          <p:nvPr>
            <p:ph type="sldNum" sz="quarter" idx="5"/>
          </p:nvPr>
        </p:nvSpPr>
        <p:spPr bwMode="auto">
          <a:xfrm>
            <a:off x="3878263" y="8926513"/>
            <a:ext cx="2967037" cy="469900"/>
          </a:xfrm>
          <a:prstGeom prst="rect">
            <a:avLst/>
          </a:prstGeom>
          <a:noFill/>
          <a:ln w="12700">
            <a:noFill/>
            <a:miter lim="800000"/>
            <a:headEnd type="none" w="sm" len="sm"/>
            <a:tailEnd type="none" w="sm" len="sm"/>
          </a:ln>
          <a:effectLst/>
        </p:spPr>
        <p:txBody>
          <a:bodyPr vert="horz" wrap="square" lIns="93172" tIns="46586" rIns="93172" bIns="46586" numCol="1" anchor="b" anchorCtr="0" compatLnSpc="1">
            <a:prstTxWarp prst="textNoShape">
              <a:avLst/>
            </a:prstTxWarp>
          </a:bodyPr>
          <a:lstStyle>
            <a:lvl1pPr algn="r" defTabSz="931863" eaLnBrk="0" hangingPunct="0">
              <a:defRPr sz="1200" smtClean="0"/>
            </a:lvl1pPr>
          </a:lstStyle>
          <a:p>
            <a:pPr>
              <a:defRPr/>
            </a:pPr>
            <a:fld id="{43577E0A-36EE-4C5A-B143-8076ACCFAD2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a:t>
            </a:fld>
            <a:endParaRPr lang="en-US" altLang="en-US"/>
          </a:p>
        </p:txBody>
      </p:sp>
    </p:spTree>
    <p:extLst>
      <p:ext uri="{BB962C8B-B14F-4D97-AF65-F5344CB8AC3E}">
        <p14:creationId xmlns:p14="http://schemas.microsoft.com/office/powerpoint/2010/main" val="3986855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a:t>
            </a:fld>
            <a:endParaRPr lang="en-US" altLang="en-US"/>
          </a:p>
        </p:txBody>
      </p:sp>
    </p:spTree>
    <p:extLst>
      <p:ext uri="{BB962C8B-B14F-4D97-AF65-F5344CB8AC3E}">
        <p14:creationId xmlns:p14="http://schemas.microsoft.com/office/powerpoint/2010/main" val="1422362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a:t>
            </a:fld>
            <a:endParaRPr lang="en-US" altLang="en-US"/>
          </a:p>
        </p:txBody>
      </p:sp>
    </p:spTree>
    <p:extLst>
      <p:ext uri="{BB962C8B-B14F-4D97-AF65-F5344CB8AC3E}">
        <p14:creationId xmlns:p14="http://schemas.microsoft.com/office/powerpoint/2010/main" val="22706155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6</a:t>
            </a:fld>
            <a:endParaRPr lang="en-US" altLang="en-US"/>
          </a:p>
        </p:txBody>
      </p:sp>
    </p:spTree>
    <p:extLst>
      <p:ext uri="{BB962C8B-B14F-4D97-AF65-F5344CB8AC3E}">
        <p14:creationId xmlns:p14="http://schemas.microsoft.com/office/powerpoint/2010/main" val="603119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7</a:t>
            </a:fld>
            <a:endParaRPr lang="en-US" altLang="en-US"/>
          </a:p>
        </p:txBody>
      </p:sp>
    </p:spTree>
    <p:extLst>
      <p:ext uri="{BB962C8B-B14F-4D97-AF65-F5344CB8AC3E}">
        <p14:creationId xmlns:p14="http://schemas.microsoft.com/office/powerpoint/2010/main" val="10295655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10</a:t>
            </a:fld>
            <a:endParaRPr lang="en-US" altLang="en-US"/>
          </a:p>
        </p:txBody>
      </p:sp>
    </p:spTree>
    <p:extLst>
      <p:ext uri="{BB962C8B-B14F-4D97-AF65-F5344CB8AC3E}">
        <p14:creationId xmlns:p14="http://schemas.microsoft.com/office/powerpoint/2010/main" val="3954602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12</a:t>
            </a:fld>
            <a:endParaRPr lang="en-US" altLang="en-US"/>
          </a:p>
        </p:txBody>
      </p:sp>
    </p:spTree>
    <p:extLst>
      <p:ext uri="{BB962C8B-B14F-4D97-AF65-F5344CB8AC3E}">
        <p14:creationId xmlns:p14="http://schemas.microsoft.com/office/powerpoint/2010/main" val="3958806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14</a:t>
            </a:fld>
            <a:endParaRPr lang="en-US" altLang="en-US"/>
          </a:p>
        </p:txBody>
      </p:sp>
    </p:spTree>
    <p:extLst>
      <p:ext uri="{BB962C8B-B14F-4D97-AF65-F5344CB8AC3E}">
        <p14:creationId xmlns:p14="http://schemas.microsoft.com/office/powerpoint/2010/main" val="9309478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16</a:t>
            </a:fld>
            <a:endParaRPr lang="en-US" altLang="en-US"/>
          </a:p>
        </p:txBody>
      </p:sp>
    </p:spTree>
    <p:extLst>
      <p:ext uri="{BB962C8B-B14F-4D97-AF65-F5344CB8AC3E}">
        <p14:creationId xmlns:p14="http://schemas.microsoft.com/office/powerpoint/2010/main" val="4252593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18</a:t>
            </a:fld>
            <a:endParaRPr lang="en-US" altLang="en-US"/>
          </a:p>
        </p:txBody>
      </p:sp>
    </p:spTree>
    <p:extLst>
      <p:ext uri="{BB962C8B-B14F-4D97-AF65-F5344CB8AC3E}">
        <p14:creationId xmlns:p14="http://schemas.microsoft.com/office/powerpoint/2010/main" val="2320768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20</a:t>
            </a:fld>
            <a:endParaRPr lang="en-US" altLang="en-US"/>
          </a:p>
        </p:txBody>
      </p:sp>
    </p:spTree>
    <p:extLst>
      <p:ext uri="{BB962C8B-B14F-4D97-AF65-F5344CB8AC3E}">
        <p14:creationId xmlns:p14="http://schemas.microsoft.com/office/powerpoint/2010/main" val="1462105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22</a:t>
            </a:fld>
            <a:endParaRPr lang="en-US" altLang="en-US"/>
          </a:p>
        </p:txBody>
      </p:sp>
    </p:spTree>
    <p:extLst>
      <p:ext uri="{BB962C8B-B14F-4D97-AF65-F5344CB8AC3E}">
        <p14:creationId xmlns:p14="http://schemas.microsoft.com/office/powerpoint/2010/main" val="20930004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24</a:t>
            </a:fld>
            <a:endParaRPr lang="en-US" altLang="en-US"/>
          </a:p>
        </p:txBody>
      </p:sp>
    </p:spTree>
    <p:extLst>
      <p:ext uri="{BB962C8B-B14F-4D97-AF65-F5344CB8AC3E}">
        <p14:creationId xmlns:p14="http://schemas.microsoft.com/office/powerpoint/2010/main" val="2515208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26</a:t>
            </a:fld>
            <a:endParaRPr lang="en-US" altLang="en-US"/>
          </a:p>
        </p:txBody>
      </p:sp>
    </p:spTree>
    <p:extLst>
      <p:ext uri="{BB962C8B-B14F-4D97-AF65-F5344CB8AC3E}">
        <p14:creationId xmlns:p14="http://schemas.microsoft.com/office/powerpoint/2010/main" val="3105464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28</a:t>
            </a:fld>
            <a:endParaRPr lang="en-US" altLang="en-US"/>
          </a:p>
        </p:txBody>
      </p:sp>
    </p:spTree>
    <p:extLst>
      <p:ext uri="{BB962C8B-B14F-4D97-AF65-F5344CB8AC3E}">
        <p14:creationId xmlns:p14="http://schemas.microsoft.com/office/powerpoint/2010/main" val="26058859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29</a:t>
            </a:fld>
            <a:endParaRPr lang="en-US" altLang="en-US"/>
          </a:p>
        </p:txBody>
      </p:sp>
    </p:spTree>
    <p:extLst>
      <p:ext uri="{BB962C8B-B14F-4D97-AF65-F5344CB8AC3E}">
        <p14:creationId xmlns:p14="http://schemas.microsoft.com/office/powerpoint/2010/main" val="3105130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31</a:t>
            </a:fld>
            <a:endParaRPr lang="en-US" altLang="en-US"/>
          </a:p>
        </p:txBody>
      </p:sp>
    </p:spTree>
    <p:extLst>
      <p:ext uri="{BB962C8B-B14F-4D97-AF65-F5344CB8AC3E}">
        <p14:creationId xmlns:p14="http://schemas.microsoft.com/office/powerpoint/2010/main" val="12427095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32</a:t>
            </a:fld>
            <a:endParaRPr lang="en-US" altLang="en-US"/>
          </a:p>
        </p:txBody>
      </p:sp>
    </p:spTree>
    <p:extLst>
      <p:ext uri="{BB962C8B-B14F-4D97-AF65-F5344CB8AC3E}">
        <p14:creationId xmlns:p14="http://schemas.microsoft.com/office/powerpoint/2010/main" val="2529708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34</a:t>
            </a:fld>
            <a:endParaRPr lang="en-US" altLang="en-US"/>
          </a:p>
        </p:txBody>
      </p:sp>
    </p:spTree>
    <p:extLst>
      <p:ext uri="{BB962C8B-B14F-4D97-AF65-F5344CB8AC3E}">
        <p14:creationId xmlns:p14="http://schemas.microsoft.com/office/powerpoint/2010/main" val="1698892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35</a:t>
            </a:fld>
            <a:endParaRPr lang="en-US" altLang="en-US"/>
          </a:p>
        </p:txBody>
      </p:sp>
    </p:spTree>
    <p:extLst>
      <p:ext uri="{BB962C8B-B14F-4D97-AF65-F5344CB8AC3E}">
        <p14:creationId xmlns:p14="http://schemas.microsoft.com/office/powerpoint/2010/main" val="28488315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36</a:t>
            </a:fld>
            <a:endParaRPr lang="en-US" altLang="en-US"/>
          </a:p>
        </p:txBody>
      </p:sp>
    </p:spTree>
    <p:extLst>
      <p:ext uri="{BB962C8B-B14F-4D97-AF65-F5344CB8AC3E}">
        <p14:creationId xmlns:p14="http://schemas.microsoft.com/office/powerpoint/2010/main" val="27811043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37</a:t>
            </a:fld>
            <a:endParaRPr lang="en-US" altLang="en-US"/>
          </a:p>
        </p:txBody>
      </p:sp>
    </p:spTree>
    <p:extLst>
      <p:ext uri="{BB962C8B-B14F-4D97-AF65-F5344CB8AC3E}">
        <p14:creationId xmlns:p14="http://schemas.microsoft.com/office/powerpoint/2010/main" val="35089036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38</a:t>
            </a:fld>
            <a:endParaRPr lang="en-US" altLang="en-US"/>
          </a:p>
        </p:txBody>
      </p:sp>
    </p:spTree>
    <p:extLst>
      <p:ext uri="{BB962C8B-B14F-4D97-AF65-F5344CB8AC3E}">
        <p14:creationId xmlns:p14="http://schemas.microsoft.com/office/powerpoint/2010/main" val="3444780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39</a:t>
            </a:fld>
            <a:endParaRPr lang="en-US" altLang="en-US"/>
          </a:p>
        </p:txBody>
      </p:sp>
    </p:spTree>
    <p:extLst>
      <p:ext uri="{BB962C8B-B14F-4D97-AF65-F5344CB8AC3E}">
        <p14:creationId xmlns:p14="http://schemas.microsoft.com/office/powerpoint/2010/main" val="15778406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40</a:t>
            </a:fld>
            <a:endParaRPr lang="en-US" altLang="en-US"/>
          </a:p>
        </p:txBody>
      </p:sp>
    </p:spTree>
    <p:extLst>
      <p:ext uri="{BB962C8B-B14F-4D97-AF65-F5344CB8AC3E}">
        <p14:creationId xmlns:p14="http://schemas.microsoft.com/office/powerpoint/2010/main" val="7161443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43577E0A-36EE-4C5A-B143-8076ACCFAD20}" type="slidenum">
              <a:rPr lang="en-US" altLang="en-US" smtClean="0"/>
              <a:pPr>
                <a:defRPr/>
              </a:pPr>
              <a:t>41</a:t>
            </a:fld>
            <a:endParaRPr lang="en-US" altLang="en-US"/>
          </a:p>
        </p:txBody>
      </p:sp>
    </p:spTree>
    <p:extLst>
      <p:ext uri="{BB962C8B-B14F-4D97-AF65-F5344CB8AC3E}">
        <p14:creationId xmlns:p14="http://schemas.microsoft.com/office/powerpoint/2010/main" val="150481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descr="LOGO_200">
            <a:extLst>
              <a:ext uri="{FF2B5EF4-FFF2-40B4-BE49-F238E27FC236}">
                <a16:creationId xmlns:a16="http://schemas.microsoft.com/office/drawing/2014/main" id="{5EE89BE7-8323-4318-9AB9-E7A8E35666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LOGO_200">
            <a:extLst>
              <a:ext uri="{FF2B5EF4-FFF2-40B4-BE49-F238E27FC236}">
                <a16:creationId xmlns:a16="http://schemas.microsoft.com/office/drawing/2014/main" id="{150B25E2-39D9-4F59-8B05-EFFB1B1760E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76600" y="228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Date Placeholder 3">
            <a:extLst>
              <a:ext uri="{FF2B5EF4-FFF2-40B4-BE49-F238E27FC236}">
                <a16:creationId xmlns:a16="http://schemas.microsoft.com/office/drawing/2014/main" id="{3B6DA99E-8349-4C4A-B374-9C4E185C80D3}"/>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C03A25AF-F97B-4F7B-967D-813F0A1AAC13}"/>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1FC658A8-3A31-4CB0-BAE2-CA2FAD9DA955}"/>
              </a:ext>
            </a:extLst>
          </p:cNvPr>
          <p:cNvSpPr>
            <a:spLocks noGrp="1"/>
          </p:cNvSpPr>
          <p:nvPr>
            <p:ph type="sldNum" sz="quarter" idx="12"/>
            <p:custDataLst>
              <p:tags r:id="rId5"/>
            </p:custDataLst>
          </p:nvPr>
        </p:nvSpPr>
        <p:spPr/>
        <p:txBody>
          <a:bodyPr/>
          <a:lstStyle>
            <a:lvl2pPr lvl="1">
              <a:defRPr smtClean="0"/>
            </a:lvl2pPr>
          </a:lstStyle>
          <a:p>
            <a:pPr lvl="1">
              <a:defRPr/>
            </a:pPr>
            <a:fld id="{1F285AF4-0B46-48F1-8B83-A0F620BDFCC6}" type="slidenum">
              <a:rPr lang="en-US" altLang="en-US"/>
              <a:pPr lvl="1">
                <a:defRPr/>
              </a:pPr>
              <a:t>‹#›</a:t>
            </a:fld>
            <a:endParaRPr lang="en-US" altLang="en-US"/>
          </a:p>
        </p:txBody>
      </p:sp>
    </p:spTree>
    <p:extLst>
      <p:ext uri="{BB962C8B-B14F-4D97-AF65-F5344CB8AC3E}">
        <p14:creationId xmlns:p14="http://schemas.microsoft.com/office/powerpoint/2010/main" val="373068883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a:extLst>
              <a:ext uri="{FF2B5EF4-FFF2-40B4-BE49-F238E27FC236}">
                <a16:creationId xmlns:a16="http://schemas.microsoft.com/office/drawing/2014/main" id="{5E0A88A1-6D76-4FB4-A4D2-1A67C525DB89}"/>
              </a:ext>
            </a:extLst>
          </p:cNvPr>
          <p:cNvSpPr>
            <a:spLocks noGrp="1"/>
          </p:cNvSpPr>
          <p:nvPr>
            <p:ph type="dt" sz="half" idx="10"/>
            <p:custDataLst>
              <p:tags r:id="rId3"/>
            </p:custDataLst>
          </p:nvPr>
        </p:nvSpPr>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8D648097-5928-49AE-A44B-FC48F925DED4}"/>
              </a:ext>
            </a:extLst>
          </p:cNvPr>
          <p:cNvSpPr>
            <a:spLocks noGrp="1"/>
          </p:cNvSpPr>
          <p:nvPr>
            <p:ph type="ftr" sz="quarter" idx="11"/>
            <p:custDataLst>
              <p:tags r:id="rId4"/>
            </p:custDataLst>
          </p:nvPr>
        </p:nvSpPr>
        <p:spPr/>
        <p:txBody>
          <a:bodyPr/>
          <a:lstStyle>
            <a:lvl1pPr>
              <a:defRPr/>
            </a:lvl1pPr>
          </a:lstStyle>
          <a:p>
            <a:pPr>
              <a:defRPr/>
            </a:pPr>
            <a:r>
              <a:rPr lang="en-US"/>
              <a:t>© Hill, Lipasti</a:t>
            </a:r>
          </a:p>
        </p:txBody>
      </p:sp>
      <p:sp>
        <p:nvSpPr>
          <p:cNvPr id="8" name="Slide Number Placeholder 5">
            <a:extLst>
              <a:ext uri="{FF2B5EF4-FFF2-40B4-BE49-F238E27FC236}">
                <a16:creationId xmlns:a16="http://schemas.microsoft.com/office/drawing/2014/main" id="{C3AA1FCD-544A-4B62-9C0D-32A49F92AFCF}"/>
              </a:ext>
            </a:extLst>
          </p:cNvPr>
          <p:cNvSpPr>
            <a:spLocks noGrp="1"/>
          </p:cNvSpPr>
          <p:nvPr>
            <p:ph type="sldNum" sz="quarter" idx="12"/>
            <p:custDataLst>
              <p:tags r:id="rId5"/>
            </p:custDataLst>
          </p:nvPr>
        </p:nvSpPr>
        <p:spPr/>
        <p:txBody>
          <a:bodyPr/>
          <a:lstStyle>
            <a:lvl2pPr lvl="1">
              <a:defRPr sz="1400" smtClean="0"/>
            </a:lvl2pPr>
          </a:lstStyle>
          <a:p>
            <a:pPr lvl="1">
              <a:defRPr/>
            </a:pPr>
            <a:fld id="{0831C007-5AA1-4C47-955B-DD23833C3AF5}" type="slidenum">
              <a:rPr lang="en-US" altLang="en-US"/>
              <a:pPr lvl="1">
                <a:defRPr/>
              </a:pPr>
              <a:t>‹#›</a:t>
            </a:fld>
            <a:endParaRPr lang="en-US" altLang="en-US"/>
          </a:p>
        </p:txBody>
      </p:sp>
    </p:spTree>
    <p:extLst>
      <p:ext uri="{BB962C8B-B14F-4D97-AF65-F5344CB8AC3E}">
        <p14:creationId xmlns:p14="http://schemas.microsoft.com/office/powerpoint/2010/main" val="162405641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0F5278BA-1E35-4BC4-BF23-D84C98BB1940}"/>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A4D5D7D5-70C8-42EB-AB2D-F3C6BCB9BD5E}"/>
              </a:ext>
            </a:extLst>
          </p:cNvPr>
          <p:cNvSpPr>
            <a:spLocks noGrp="1"/>
          </p:cNvSpPr>
          <p:nvPr>
            <p:ph type="ftr" sz="quarter" idx="11"/>
          </p:nvPr>
        </p:nvSpPr>
        <p:spPr/>
        <p:txBody>
          <a:bodyPr/>
          <a:lstStyle>
            <a:lvl1pPr>
              <a:defRPr/>
            </a:lvl1pPr>
          </a:lstStyle>
          <a:p>
            <a:pPr>
              <a:defRPr/>
            </a:pPr>
            <a:r>
              <a:rPr lang="en-US"/>
              <a:t>© Hill, Lipasti</a:t>
            </a:r>
          </a:p>
        </p:txBody>
      </p:sp>
      <p:sp>
        <p:nvSpPr>
          <p:cNvPr id="5" name="Slide Number Placeholder 5">
            <a:extLst>
              <a:ext uri="{FF2B5EF4-FFF2-40B4-BE49-F238E27FC236}">
                <a16:creationId xmlns:a16="http://schemas.microsoft.com/office/drawing/2014/main" id="{4DB0CA07-943C-41DB-B4DC-C3EF32A02EF9}"/>
              </a:ext>
            </a:extLst>
          </p:cNvPr>
          <p:cNvSpPr>
            <a:spLocks noGrp="1"/>
          </p:cNvSpPr>
          <p:nvPr>
            <p:ph type="sldNum" sz="quarter" idx="12"/>
          </p:nvPr>
        </p:nvSpPr>
        <p:spPr/>
        <p:txBody>
          <a:bodyPr/>
          <a:lstStyle>
            <a:lvl2pPr lvl="1">
              <a:defRPr/>
            </a:lvl2pPr>
          </a:lstStyle>
          <a:p>
            <a:pPr lvl="1">
              <a:defRPr/>
            </a:pPr>
            <a:fld id="{616649BF-80F5-4EB8-8719-755DB09E0362}" type="slidenum">
              <a:rPr lang="en-US" altLang="en-US"/>
              <a:pPr lvl="1">
                <a:defRPr/>
              </a:pPr>
              <a:t>‹#›</a:t>
            </a:fld>
            <a:endParaRPr lang="en-US" altLang="en-US"/>
          </a:p>
        </p:txBody>
      </p:sp>
    </p:spTree>
    <p:extLst>
      <p:ext uri="{BB962C8B-B14F-4D97-AF65-F5344CB8AC3E}">
        <p14:creationId xmlns:p14="http://schemas.microsoft.com/office/powerpoint/2010/main" val="2255372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2625" y="609600"/>
            <a:ext cx="8080375" cy="1143000"/>
          </a:xfrm>
        </p:spPr>
        <p:txBody>
          <a:bodyPr/>
          <a:lstStyle/>
          <a:p>
            <a:r>
              <a:rPr lang="en-US"/>
              <a:t>Click to edit Master title style</a:t>
            </a:r>
          </a:p>
        </p:txBody>
      </p:sp>
      <p:sp>
        <p:nvSpPr>
          <p:cNvPr id="3" name="Text Placeholder 2"/>
          <p:cNvSpPr>
            <a:spLocks noGrp="1"/>
          </p:cNvSpPr>
          <p:nvPr>
            <p:ph type="body" sz="half" idx="1"/>
          </p:nvPr>
        </p:nvSpPr>
        <p:spPr>
          <a:xfrm>
            <a:off x="682625"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5025" y="1981200"/>
            <a:ext cx="3810000" cy="4114800"/>
          </a:xfrm>
        </p:spPr>
        <p:txBody>
          <a:bodyPr/>
          <a:lstStyle/>
          <a:p>
            <a:pPr lvl="0"/>
            <a:r>
              <a:rPr lang="en-US" noProof="0"/>
              <a:t>Click icon to add clip art</a:t>
            </a:r>
          </a:p>
        </p:txBody>
      </p:sp>
      <p:sp>
        <p:nvSpPr>
          <p:cNvPr id="5" name="Date Placeholder 3">
            <a:extLst>
              <a:ext uri="{FF2B5EF4-FFF2-40B4-BE49-F238E27FC236}">
                <a16:creationId xmlns:a16="http://schemas.microsoft.com/office/drawing/2014/main" id="{C47A700F-2DFE-46A7-A5B7-6063E2ABB5CD}"/>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A2B393B3-580F-4CF9-B308-1AC16FEFC240}"/>
              </a:ext>
            </a:extLst>
          </p:cNvPr>
          <p:cNvSpPr>
            <a:spLocks noGrp="1"/>
          </p:cNvSpPr>
          <p:nvPr>
            <p:ph type="ftr" sz="quarter" idx="11"/>
          </p:nvPr>
        </p:nvSpPr>
        <p:spPr/>
        <p:txBody>
          <a:bodyPr/>
          <a:lstStyle>
            <a:lvl1pPr>
              <a:defRPr/>
            </a:lvl1pPr>
          </a:lstStyle>
          <a:p>
            <a:pPr>
              <a:defRPr/>
            </a:pPr>
            <a:r>
              <a:rPr lang="en-US"/>
              <a:t>© Hill, Lipasti</a:t>
            </a:r>
          </a:p>
        </p:txBody>
      </p:sp>
      <p:sp>
        <p:nvSpPr>
          <p:cNvPr id="7" name="Slide Number Placeholder 5">
            <a:extLst>
              <a:ext uri="{FF2B5EF4-FFF2-40B4-BE49-F238E27FC236}">
                <a16:creationId xmlns:a16="http://schemas.microsoft.com/office/drawing/2014/main" id="{97B02111-9F4F-48E5-A947-3C3A6333BAA2}"/>
              </a:ext>
            </a:extLst>
          </p:cNvPr>
          <p:cNvSpPr>
            <a:spLocks noGrp="1"/>
          </p:cNvSpPr>
          <p:nvPr>
            <p:ph type="sldNum" sz="quarter" idx="12"/>
          </p:nvPr>
        </p:nvSpPr>
        <p:spPr/>
        <p:txBody>
          <a:bodyPr/>
          <a:lstStyle>
            <a:lvl2pPr lvl="1">
              <a:defRPr/>
            </a:lvl2pPr>
          </a:lstStyle>
          <a:p>
            <a:pPr lvl="1">
              <a:defRPr/>
            </a:pPr>
            <a:fld id="{D491F779-F8AA-4D49-A708-A8884C6ED3C7}" type="slidenum">
              <a:rPr lang="en-US" altLang="en-US"/>
              <a:pPr lvl="1">
                <a:defRPr/>
              </a:pPr>
              <a:t>‹#›</a:t>
            </a:fld>
            <a:endParaRPr lang="en-US" altLang="en-US"/>
          </a:p>
        </p:txBody>
      </p:sp>
    </p:spTree>
    <p:extLst>
      <p:ext uri="{BB962C8B-B14F-4D97-AF65-F5344CB8AC3E}">
        <p14:creationId xmlns:p14="http://schemas.microsoft.com/office/powerpoint/2010/main" val="34136090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10" Type="http://schemas.openxmlformats.org/officeDocument/2006/relationships/tags" Target="../tags/tag6.xml"/><Relationship Id="rId4" Type="http://schemas.openxmlformats.org/officeDocument/2006/relationships/slideLayout" Target="../slideLayouts/slideLayout4.xml"/><Relationship Id="rId9"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4236D43-C05A-4E1E-B06C-38A6BD0B917E}"/>
              </a:ext>
            </a:extLst>
          </p:cNvPr>
          <p:cNvSpPr>
            <a:spLocks noGrp="1"/>
          </p:cNvSpPr>
          <p:nvPr>
            <p:ph type="title"/>
            <p:custDataLst>
              <p:tags r:id="rId6"/>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FA32B47-E041-4EB6-999C-8E99AFF3D48A}"/>
              </a:ext>
            </a:extLst>
          </p:cNvPr>
          <p:cNvSpPr>
            <a:spLocks noGrp="1"/>
          </p:cNvSpPr>
          <p:nvPr>
            <p:ph type="body" idx="1"/>
            <p:custDataLst>
              <p:tags r:id="rId7"/>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BC72D67B-0FAE-42FA-85D0-6E87896F28D2}"/>
              </a:ext>
            </a:extLst>
          </p:cNvPr>
          <p:cNvSpPr>
            <a:spLocks noGrp="1"/>
          </p:cNvSpPr>
          <p:nvPr>
            <p:ph type="dt" sz="half" idx="2"/>
            <p:custDataLst>
              <p:tags r:id="rId8"/>
            </p:custDataLst>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Times New Roman" pitchFamily="18" charset="0"/>
              </a:defRPr>
            </a:lvl1pPr>
          </a:lstStyle>
          <a:p>
            <a:pPr>
              <a:defRPr/>
            </a:pPr>
            <a:endParaRPr lang="en-US"/>
          </a:p>
        </p:txBody>
      </p:sp>
      <p:sp>
        <p:nvSpPr>
          <p:cNvPr id="5" name="Footer Placeholder 4">
            <a:extLst>
              <a:ext uri="{FF2B5EF4-FFF2-40B4-BE49-F238E27FC236}">
                <a16:creationId xmlns:a16="http://schemas.microsoft.com/office/drawing/2014/main" id="{D249169F-9B0A-4A21-BF71-C252D1B4C8E2}"/>
              </a:ext>
            </a:extLst>
          </p:cNvPr>
          <p:cNvSpPr>
            <a:spLocks noGrp="1"/>
          </p:cNvSpPr>
          <p:nvPr>
            <p:ph type="ftr" sz="quarter" idx="3"/>
            <p:custDataLst>
              <p:tags r:id="rId9"/>
            </p:custDataLst>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Times New Roman" pitchFamily="18" charset="0"/>
              </a:defRPr>
            </a:lvl1pPr>
          </a:lstStyle>
          <a:p>
            <a:pPr>
              <a:defRPr/>
            </a:pPr>
            <a:r>
              <a:rPr lang="en-US"/>
              <a:t>© Hill, Lipasti</a:t>
            </a:r>
          </a:p>
        </p:txBody>
      </p:sp>
      <p:sp>
        <p:nvSpPr>
          <p:cNvPr id="6" name="Slide Number Placeholder 5">
            <a:extLst>
              <a:ext uri="{FF2B5EF4-FFF2-40B4-BE49-F238E27FC236}">
                <a16:creationId xmlns:a16="http://schemas.microsoft.com/office/drawing/2014/main" id="{C6EFDA4B-7157-4323-98FC-BB1B505EC304}"/>
              </a:ext>
            </a:extLst>
          </p:cNvPr>
          <p:cNvSpPr>
            <a:spLocks noGrp="1"/>
          </p:cNvSpPr>
          <p:nvPr>
            <p:ph type="sldNum" sz="quarter" idx="4"/>
            <p:custDataLst>
              <p:tags r:id="rId10"/>
            </p:custDataLst>
          </p:nvPr>
        </p:nvSpPr>
        <p:spPr>
          <a:xfrm>
            <a:off x="7620000" y="6356350"/>
            <a:ext cx="1066800" cy="365125"/>
          </a:xfrm>
          <a:prstGeom prst="rect">
            <a:avLst/>
          </a:prstGeom>
        </p:spPr>
        <p:txBody>
          <a:bodyPr vert="horz" wrap="square" lIns="91440" tIns="45720" rIns="91440" bIns="45720" numCol="1" anchor="ctr" anchorCtr="0" compatLnSpc="1">
            <a:prstTxWarp prst="textNoShape">
              <a:avLst/>
            </a:prstTxWarp>
          </a:bodyPr>
          <a:lstStyle>
            <a:lvl2pPr lvl="1" algn="r" eaLnBrk="1" hangingPunct="1">
              <a:defRPr smtClean="0">
                <a:latin typeface="Calibri" panose="020F0502020204030204" pitchFamily="34" charset="0"/>
              </a:defRPr>
            </a:lvl2pPr>
          </a:lstStyle>
          <a:p>
            <a:pPr lvl="1">
              <a:defRPr/>
            </a:pPr>
            <a:fld id="{04C44D9C-287F-4E2F-8D85-A8F87AC95E32}" type="slidenum">
              <a:rPr lang="en-US" altLang="en-US"/>
              <a:pPr lvl="1">
                <a:defRPr/>
              </a:pPr>
              <a:t>‹#›</a:t>
            </a:fld>
            <a:endParaRPr lang="en-US" altLang="en-US"/>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3" r:id="rId3"/>
    <p:sldLayoutId id="2147483764" r:id="rId4"/>
  </p:sldLayoutIdLst>
  <p:transition/>
  <p:hf hdr="0" ftr="0" dt="0"/>
  <p:txStyles>
    <p:titleStyle>
      <a:lvl1pPr algn="ctr" rtl="0" eaLnBrk="0" fontAlgn="base" hangingPunct="0">
        <a:spcBef>
          <a:spcPct val="0"/>
        </a:spcBef>
        <a:spcAft>
          <a:spcPct val="0"/>
        </a:spcAft>
        <a:defRPr sz="4400" b="0" i="0" u="none"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b="0" i="0" u="none"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2.jpe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3" Type="http://schemas.openxmlformats.org/officeDocument/2006/relationships/tags" Target="../tags/tag40.xml"/><Relationship Id="rId18" Type="http://schemas.openxmlformats.org/officeDocument/2006/relationships/tags" Target="../tags/tag45.xml"/><Relationship Id="rId26" Type="http://schemas.openxmlformats.org/officeDocument/2006/relationships/tags" Target="../tags/tag53.xml"/><Relationship Id="rId3" Type="http://schemas.openxmlformats.org/officeDocument/2006/relationships/tags" Target="../tags/tag30.xml"/><Relationship Id="rId21" Type="http://schemas.openxmlformats.org/officeDocument/2006/relationships/tags" Target="../tags/tag48.xml"/><Relationship Id="rId34" Type="http://schemas.openxmlformats.org/officeDocument/2006/relationships/image" Target="../media/image3.wmf"/><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5" Type="http://schemas.openxmlformats.org/officeDocument/2006/relationships/tags" Target="../tags/tag52.xml"/><Relationship Id="rId33" Type="http://schemas.openxmlformats.org/officeDocument/2006/relationships/notesSlide" Target="../notesSlides/notesSlide4.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tags" Target="../tags/tag47.xml"/><Relationship Id="rId29" Type="http://schemas.openxmlformats.org/officeDocument/2006/relationships/tags" Target="../tags/tag56.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tags" Target="../tags/tag51.xml"/><Relationship Id="rId32" Type="http://schemas.openxmlformats.org/officeDocument/2006/relationships/slideLayout" Target="../slideLayouts/slideLayout2.xml"/><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tags" Target="../tags/tag50.xml"/><Relationship Id="rId28" Type="http://schemas.openxmlformats.org/officeDocument/2006/relationships/tags" Target="../tags/tag55.xml"/><Relationship Id="rId10" Type="http://schemas.openxmlformats.org/officeDocument/2006/relationships/tags" Target="../tags/tag37.xml"/><Relationship Id="rId19" Type="http://schemas.openxmlformats.org/officeDocument/2006/relationships/tags" Target="../tags/tag46.xml"/><Relationship Id="rId31" Type="http://schemas.openxmlformats.org/officeDocument/2006/relationships/tags" Target="../tags/tag58.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tags" Target="../tags/tag49.xml"/><Relationship Id="rId27" Type="http://schemas.openxmlformats.org/officeDocument/2006/relationships/tags" Target="../tags/tag54.xml"/><Relationship Id="rId30" Type="http://schemas.openxmlformats.org/officeDocument/2006/relationships/tags" Target="../tags/tag57.xml"/><Relationship Id="rId8" Type="http://schemas.openxmlformats.org/officeDocument/2006/relationships/tags" Target="../tags/tag35.xml"/></Relationships>
</file>

<file path=ppt/slides/_rels/slide7.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3" Type="http://schemas.openxmlformats.org/officeDocument/2006/relationships/tags" Target="../tags/tag61.xml"/><Relationship Id="rId7" Type="http://schemas.openxmlformats.org/officeDocument/2006/relationships/tags" Target="../tags/tag65.xml"/><Relationship Id="rId12" Type="http://schemas.openxmlformats.org/officeDocument/2006/relationships/tags" Target="../tags/tag70.xml"/><Relationship Id="rId2" Type="http://schemas.openxmlformats.org/officeDocument/2006/relationships/tags" Target="../tags/tag60.xml"/><Relationship Id="rId16" Type="http://schemas.openxmlformats.org/officeDocument/2006/relationships/notesSlide" Target="../notesSlides/notesSlide5.xml"/><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5" Type="http://schemas.openxmlformats.org/officeDocument/2006/relationships/tags" Target="../tags/tag63.xml"/><Relationship Id="rId15" Type="http://schemas.openxmlformats.org/officeDocument/2006/relationships/slideLayout" Target="../slideLayouts/slideLayout2.xml"/><Relationship Id="rId10" Type="http://schemas.openxmlformats.org/officeDocument/2006/relationships/tags" Target="../tags/tag68.xml"/><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7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8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88.xml"/><Relationship Id="rId13" Type="http://schemas.openxmlformats.org/officeDocument/2006/relationships/tags" Target="../tags/tag93.xml"/><Relationship Id="rId3" Type="http://schemas.openxmlformats.org/officeDocument/2006/relationships/tags" Target="../tags/tag83.xml"/><Relationship Id="rId7" Type="http://schemas.openxmlformats.org/officeDocument/2006/relationships/tags" Target="../tags/tag87.xml"/><Relationship Id="rId12" Type="http://schemas.openxmlformats.org/officeDocument/2006/relationships/tags" Target="../tags/tag92.xml"/><Relationship Id="rId2" Type="http://schemas.openxmlformats.org/officeDocument/2006/relationships/tags" Target="../tags/tag82.xml"/><Relationship Id="rId1" Type="http://schemas.openxmlformats.org/officeDocument/2006/relationships/tags" Target="../tags/tag81.xml"/><Relationship Id="rId6" Type="http://schemas.openxmlformats.org/officeDocument/2006/relationships/tags" Target="../tags/tag86.xml"/><Relationship Id="rId11" Type="http://schemas.openxmlformats.org/officeDocument/2006/relationships/tags" Target="../tags/tag91.xml"/><Relationship Id="rId5" Type="http://schemas.openxmlformats.org/officeDocument/2006/relationships/tags" Target="../tags/tag85.xml"/><Relationship Id="rId15" Type="http://schemas.openxmlformats.org/officeDocument/2006/relationships/notesSlide" Target="../notesSlides/notesSlide8.xml"/><Relationship Id="rId10" Type="http://schemas.openxmlformats.org/officeDocument/2006/relationships/tags" Target="../tags/tag90.xml"/><Relationship Id="rId4" Type="http://schemas.openxmlformats.org/officeDocument/2006/relationships/tags" Target="../tags/tag84.xml"/><Relationship Id="rId9" Type="http://schemas.openxmlformats.org/officeDocument/2006/relationships/tags" Target="../tags/tag89.xml"/><Relationship Id="rId1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9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notesSlide" Target="../notesSlides/notesSlide10.xml"/><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0" Type="http://schemas.openxmlformats.org/officeDocument/2006/relationships/tags" Target="../tags/tag107.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image" Target="../media/image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tags" Target="../tags/tag116.xml"/><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image" Target="../media/image2.jpeg"/><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notesSlide" Target="../notesSlides/notesSlide11.xml"/><Relationship Id="rId5" Type="http://schemas.openxmlformats.org/officeDocument/2006/relationships/tags" Target="../tags/tag113.xml"/><Relationship Id="rId10" Type="http://schemas.openxmlformats.org/officeDocument/2006/relationships/slideLayout" Target="../slideLayouts/slideLayout2.xml"/><Relationship Id="rId4" Type="http://schemas.openxmlformats.org/officeDocument/2006/relationships/tags" Target="../tags/tag112.xml"/><Relationship Id="rId9" Type="http://schemas.openxmlformats.org/officeDocument/2006/relationships/tags" Target="../tags/tag1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tags" Target="../tags/tag125.xml"/><Relationship Id="rId13" Type="http://schemas.openxmlformats.org/officeDocument/2006/relationships/tags" Target="../tags/tag130.xml"/><Relationship Id="rId3" Type="http://schemas.openxmlformats.org/officeDocument/2006/relationships/tags" Target="../tags/tag120.xml"/><Relationship Id="rId7" Type="http://schemas.openxmlformats.org/officeDocument/2006/relationships/tags" Target="../tags/tag124.xml"/><Relationship Id="rId12" Type="http://schemas.openxmlformats.org/officeDocument/2006/relationships/tags" Target="../tags/tag129.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11" Type="http://schemas.openxmlformats.org/officeDocument/2006/relationships/tags" Target="../tags/tag128.xml"/><Relationship Id="rId5" Type="http://schemas.openxmlformats.org/officeDocument/2006/relationships/tags" Target="../tags/tag122.xml"/><Relationship Id="rId15" Type="http://schemas.openxmlformats.org/officeDocument/2006/relationships/notesSlide" Target="../notesSlides/notesSlide12.xml"/><Relationship Id="rId10" Type="http://schemas.openxmlformats.org/officeDocument/2006/relationships/tags" Target="../tags/tag127.xml"/><Relationship Id="rId4" Type="http://schemas.openxmlformats.org/officeDocument/2006/relationships/tags" Target="../tags/tag121.xml"/><Relationship Id="rId9" Type="http://schemas.openxmlformats.org/officeDocument/2006/relationships/tags" Target="../tags/tag126.xml"/><Relationship Id="rId1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notesSlide" Target="../notesSlides/notesSlide13.xml"/><Relationship Id="rId5" Type="http://schemas.openxmlformats.org/officeDocument/2006/relationships/slideLayout" Target="../slideLayouts/slideLayout2.xml"/><Relationship Id="rId4" Type="http://schemas.openxmlformats.org/officeDocument/2006/relationships/tags" Target="../tags/tag1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3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tags" Target="../tags/tag151.xml"/><Relationship Id="rId18" Type="http://schemas.openxmlformats.org/officeDocument/2006/relationships/tags" Target="../tags/tag156.xml"/><Relationship Id="rId3" Type="http://schemas.openxmlformats.org/officeDocument/2006/relationships/tags" Target="../tags/tag141.xml"/><Relationship Id="rId21" Type="http://schemas.openxmlformats.org/officeDocument/2006/relationships/notesSlide" Target="../notesSlides/notesSlide15.xml"/><Relationship Id="rId7" Type="http://schemas.openxmlformats.org/officeDocument/2006/relationships/tags" Target="../tags/tag145.xml"/><Relationship Id="rId12" Type="http://schemas.openxmlformats.org/officeDocument/2006/relationships/tags" Target="../tags/tag150.xml"/><Relationship Id="rId17" Type="http://schemas.openxmlformats.org/officeDocument/2006/relationships/tags" Target="../tags/tag155.xml"/><Relationship Id="rId2" Type="http://schemas.openxmlformats.org/officeDocument/2006/relationships/tags" Target="../tags/tag140.xml"/><Relationship Id="rId16" Type="http://schemas.openxmlformats.org/officeDocument/2006/relationships/tags" Target="../tags/tag154.xml"/><Relationship Id="rId20" Type="http://schemas.openxmlformats.org/officeDocument/2006/relationships/slideLayout" Target="../slideLayouts/slideLayout2.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tags" Target="../tags/tag149.xml"/><Relationship Id="rId5" Type="http://schemas.openxmlformats.org/officeDocument/2006/relationships/tags" Target="../tags/tag143.xml"/><Relationship Id="rId15" Type="http://schemas.openxmlformats.org/officeDocument/2006/relationships/tags" Target="../tags/tag153.xml"/><Relationship Id="rId10" Type="http://schemas.openxmlformats.org/officeDocument/2006/relationships/tags" Target="../tags/tag148.xml"/><Relationship Id="rId19" Type="http://schemas.openxmlformats.org/officeDocument/2006/relationships/tags" Target="../tags/tag157.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tags" Target="../tags/tag152.xml"/></Relationships>
</file>

<file path=ppt/slides/_rels/slide29.xml.rels><?xml version="1.0" encoding="UTF-8" standalone="yes"?>
<Relationships xmlns="http://schemas.openxmlformats.org/package/2006/relationships"><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notesSlide" Target="../notesSlides/notesSlide16.xml"/><Relationship Id="rId5" Type="http://schemas.openxmlformats.org/officeDocument/2006/relationships/slideLayout" Target="../slideLayouts/slideLayout2.xml"/><Relationship Id="rId4" Type="http://schemas.openxmlformats.org/officeDocument/2006/relationships/tags" Target="../tags/tag16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tags" Target="../tags/tag165.xml"/></Relationships>
</file>

<file path=ppt/slides/_rels/slide32.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16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3" Type="http://schemas.openxmlformats.org/officeDocument/2006/relationships/tags" Target="../tags/tag182.xml"/><Relationship Id="rId18" Type="http://schemas.openxmlformats.org/officeDocument/2006/relationships/tags" Target="../tags/tag187.xml"/><Relationship Id="rId26" Type="http://schemas.openxmlformats.org/officeDocument/2006/relationships/tags" Target="../tags/tag195.xml"/><Relationship Id="rId39" Type="http://schemas.openxmlformats.org/officeDocument/2006/relationships/tags" Target="../tags/tag208.xml"/><Relationship Id="rId21" Type="http://schemas.openxmlformats.org/officeDocument/2006/relationships/tags" Target="../tags/tag190.xml"/><Relationship Id="rId34" Type="http://schemas.openxmlformats.org/officeDocument/2006/relationships/tags" Target="../tags/tag203.xml"/><Relationship Id="rId42" Type="http://schemas.openxmlformats.org/officeDocument/2006/relationships/tags" Target="../tags/tag211.xml"/><Relationship Id="rId47" Type="http://schemas.openxmlformats.org/officeDocument/2006/relationships/tags" Target="../tags/tag216.xml"/><Relationship Id="rId50" Type="http://schemas.openxmlformats.org/officeDocument/2006/relationships/tags" Target="../tags/tag219.xml"/><Relationship Id="rId55" Type="http://schemas.openxmlformats.org/officeDocument/2006/relationships/tags" Target="../tags/tag224.xml"/><Relationship Id="rId7" Type="http://schemas.openxmlformats.org/officeDocument/2006/relationships/tags" Target="../tags/tag176.xml"/><Relationship Id="rId2" Type="http://schemas.openxmlformats.org/officeDocument/2006/relationships/tags" Target="../tags/tag171.xml"/><Relationship Id="rId16" Type="http://schemas.openxmlformats.org/officeDocument/2006/relationships/tags" Target="../tags/tag185.xml"/><Relationship Id="rId29" Type="http://schemas.openxmlformats.org/officeDocument/2006/relationships/tags" Target="../tags/tag198.xml"/><Relationship Id="rId11" Type="http://schemas.openxmlformats.org/officeDocument/2006/relationships/tags" Target="../tags/tag180.xml"/><Relationship Id="rId24" Type="http://schemas.openxmlformats.org/officeDocument/2006/relationships/tags" Target="../tags/tag193.xml"/><Relationship Id="rId32" Type="http://schemas.openxmlformats.org/officeDocument/2006/relationships/tags" Target="../tags/tag201.xml"/><Relationship Id="rId37" Type="http://schemas.openxmlformats.org/officeDocument/2006/relationships/tags" Target="../tags/tag206.xml"/><Relationship Id="rId40" Type="http://schemas.openxmlformats.org/officeDocument/2006/relationships/tags" Target="../tags/tag209.xml"/><Relationship Id="rId45" Type="http://schemas.openxmlformats.org/officeDocument/2006/relationships/tags" Target="../tags/tag214.xml"/><Relationship Id="rId53" Type="http://schemas.openxmlformats.org/officeDocument/2006/relationships/tags" Target="../tags/tag222.xml"/><Relationship Id="rId58" Type="http://schemas.openxmlformats.org/officeDocument/2006/relationships/tags" Target="../tags/tag227.xml"/><Relationship Id="rId5" Type="http://schemas.openxmlformats.org/officeDocument/2006/relationships/tags" Target="../tags/tag174.xml"/><Relationship Id="rId61" Type="http://schemas.openxmlformats.org/officeDocument/2006/relationships/slideLayout" Target="../slideLayouts/slideLayout2.xml"/><Relationship Id="rId19" Type="http://schemas.openxmlformats.org/officeDocument/2006/relationships/tags" Target="../tags/tag188.xml"/><Relationship Id="rId14" Type="http://schemas.openxmlformats.org/officeDocument/2006/relationships/tags" Target="../tags/tag183.xml"/><Relationship Id="rId22" Type="http://schemas.openxmlformats.org/officeDocument/2006/relationships/tags" Target="../tags/tag191.xml"/><Relationship Id="rId27" Type="http://schemas.openxmlformats.org/officeDocument/2006/relationships/tags" Target="../tags/tag196.xml"/><Relationship Id="rId30" Type="http://schemas.openxmlformats.org/officeDocument/2006/relationships/tags" Target="../tags/tag199.xml"/><Relationship Id="rId35" Type="http://schemas.openxmlformats.org/officeDocument/2006/relationships/tags" Target="../tags/tag204.xml"/><Relationship Id="rId43" Type="http://schemas.openxmlformats.org/officeDocument/2006/relationships/tags" Target="../tags/tag212.xml"/><Relationship Id="rId48" Type="http://schemas.openxmlformats.org/officeDocument/2006/relationships/tags" Target="../tags/tag217.xml"/><Relationship Id="rId56" Type="http://schemas.openxmlformats.org/officeDocument/2006/relationships/tags" Target="../tags/tag225.xml"/><Relationship Id="rId8" Type="http://schemas.openxmlformats.org/officeDocument/2006/relationships/tags" Target="../tags/tag177.xml"/><Relationship Id="rId51" Type="http://schemas.openxmlformats.org/officeDocument/2006/relationships/tags" Target="../tags/tag220.xml"/><Relationship Id="rId3" Type="http://schemas.openxmlformats.org/officeDocument/2006/relationships/tags" Target="../tags/tag172.xml"/><Relationship Id="rId12" Type="http://schemas.openxmlformats.org/officeDocument/2006/relationships/tags" Target="../tags/tag181.xml"/><Relationship Id="rId17" Type="http://schemas.openxmlformats.org/officeDocument/2006/relationships/tags" Target="../tags/tag186.xml"/><Relationship Id="rId25" Type="http://schemas.openxmlformats.org/officeDocument/2006/relationships/tags" Target="../tags/tag194.xml"/><Relationship Id="rId33" Type="http://schemas.openxmlformats.org/officeDocument/2006/relationships/tags" Target="../tags/tag202.xml"/><Relationship Id="rId38" Type="http://schemas.openxmlformats.org/officeDocument/2006/relationships/tags" Target="../tags/tag207.xml"/><Relationship Id="rId46" Type="http://schemas.openxmlformats.org/officeDocument/2006/relationships/tags" Target="../tags/tag215.xml"/><Relationship Id="rId59" Type="http://schemas.openxmlformats.org/officeDocument/2006/relationships/tags" Target="../tags/tag228.xml"/><Relationship Id="rId20" Type="http://schemas.openxmlformats.org/officeDocument/2006/relationships/tags" Target="../tags/tag189.xml"/><Relationship Id="rId41" Type="http://schemas.openxmlformats.org/officeDocument/2006/relationships/tags" Target="../tags/tag210.xml"/><Relationship Id="rId54" Type="http://schemas.openxmlformats.org/officeDocument/2006/relationships/tags" Target="../tags/tag223.xml"/><Relationship Id="rId62" Type="http://schemas.openxmlformats.org/officeDocument/2006/relationships/notesSlide" Target="../notesSlides/notesSlide19.xml"/><Relationship Id="rId1" Type="http://schemas.openxmlformats.org/officeDocument/2006/relationships/tags" Target="../tags/tag170.xml"/><Relationship Id="rId6" Type="http://schemas.openxmlformats.org/officeDocument/2006/relationships/tags" Target="../tags/tag175.xml"/><Relationship Id="rId15" Type="http://schemas.openxmlformats.org/officeDocument/2006/relationships/tags" Target="../tags/tag184.xml"/><Relationship Id="rId23" Type="http://schemas.openxmlformats.org/officeDocument/2006/relationships/tags" Target="../tags/tag192.xml"/><Relationship Id="rId28" Type="http://schemas.openxmlformats.org/officeDocument/2006/relationships/tags" Target="../tags/tag197.xml"/><Relationship Id="rId36" Type="http://schemas.openxmlformats.org/officeDocument/2006/relationships/tags" Target="../tags/tag205.xml"/><Relationship Id="rId49" Type="http://schemas.openxmlformats.org/officeDocument/2006/relationships/tags" Target="../tags/tag218.xml"/><Relationship Id="rId57" Type="http://schemas.openxmlformats.org/officeDocument/2006/relationships/tags" Target="../tags/tag226.xml"/><Relationship Id="rId10" Type="http://schemas.openxmlformats.org/officeDocument/2006/relationships/tags" Target="../tags/tag179.xml"/><Relationship Id="rId31" Type="http://schemas.openxmlformats.org/officeDocument/2006/relationships/tags" Target="../tags/tag200.xml"/><Relationship Id="rId44" Type="http://schemas.openxmlformats.org/officeDocument/2006/relationships/tags" Target="../tags/tag213.xml"/><Relationship Id="rId52" Type="http://schemas.openxmlformats.org/officeDocument/2006/relationships/tags" Target="../tags/tag221.xml"/><Relationship Id="rId60" Type="http://schemas.openxmlformats.org/officeDocument/2006/relationships/tags" Target="../tags/tag229.xml"/><Relationship Id="rId4" Type="http://schemas.openxmlformats.org/officeDocument/2006/relationships/tags" Target="../tags/tag173.xml"/><Relationship Id="rId9" Type="http://schemas.openxmlformats.org/officeDocument/2006/relationships/tags" Target="../tags/tag178.xml"/></Relationships>
</file>

<file path=ppt/slides/_rels/slide35.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233.xml"/></Relationships>
</file>

<file path=ppt/slides/_rels/slide36.xml.rels><?xml version="1.0" encoding="UTF-8" standalone="yes"?>
<Relationships xmlns="http://schemas.openxmlformats.org/package/2006/relationships"><Relationship Id="rId26" Type="http://schemas.openxmlformats.org/officeDocument/2006/relationships/tags" Target="../tags/tag259.xml"/><Relationship Id="rId21" Type="http://schemas.openxmlformats.org/officeDocument/2006/relationships/tags" Target="../tags/tag254.xml"/><Relationship Id="rId34" Type="http://schemas.openxmlformats.org/officeDocument/2006/relationships/tags" Target="../tags/tag267.xml"/><Relationship Id="rId42" Type="http://schemas.openxmlformats.org/officeDocument/2006/relationships/tags" Target="../tags/tag275.xml"/><Relationship Id="rId47" Type="http://schemas.openxmlformats.org/officeDocument/2006/relationships/tags" Target="../tags/tag280.xml"/><Relationship Id="rId50" Type="http://schemas.openxmlformats.org/officeDocument/2006/relationships/tags" Target="../tags/tag283.xml"/><Relationship Id="rId55" Type="http://schemas.openxmlformats.org/officeDocument/2006/relationships/tags" Target="../tags/tag288.xml"/><Relationship Id="rId63" Type="http://schemas.openxmlformats.org/officeDocument/2006/relationships/tags" Target="../tags/tag296.xml"/><Relationship Id="rId68" Type="http://schemas.openxmlformats.org/officeDocument/2006/relationships/notesSlide" Target="../notesSlides/notesSlide21.xml"/><Relationship Id="rId7" Type="http://schemas.openxmlformats.org/officeDocument/2006/relationships/tags" Target="../tags/tag240.xml"/><Relationship Id="rId2" Type="http://schemas.openxmlformats.org/officeDocument/2006/relationships/tags" Target="../tags/tag235.xml"/><Relationship Id="rId16" Type="http://schemas.openxmlformats.org/officeDocument/2006/relationships/tags" Target="../tags/tag249.xml"/><Relationship Id="rId29" Type="http://schemas.openxmlformats.org/officeDocument/2006/relationships/tags" Target="../tags/tag262.xml"/><Relationship Id="rId11" Type="http://schemas.openxmlformats.org/officeDocument/2006/relationships/tags" Target="../tags/tag244.xml"/><Relationship Id="rId24" Type="http://schemas.openxmlformats.org/officeDocument/2006/relationships/tags" Target="../tags/tag257.xml"/><Relationship Id="rId32" Type="http://schemas.openxmlformats.org/officeDocument/2006/relationships/tags" Target="../tags/tag265.xml"/><Relationship Id="rId37" Type="http://schemas.openxmlformats.org/officeDocument/2006/relationships/tags" Target="../tags/tag270.xml"/><Relationship Id="rId40" Type="http://schemas.openxmlformats.org/officeDocument/2006/relationships/tags" Target="../tags/tag273.xml"/><Relationship Id="rId45" Type="http://schemas.openxmlformats.org/officeDocument/2006/relationships/tags" Target="../tags/tag278.xml"/><Relationship Id="rId53" Type="http://schemas.openxmlformats.org/officeDocument/2006/relationships/tags" Target="../tags/tag286.xml"/><Relationship Id="rId58" Type="http://schemas.openxmlformats.org/officeDocument/2006/relationships/tags" Target="../tags/tag291.xml"/><Relationship Id="rId66" Type="http://schemas.openxmlformats.org/officeDocument/2006/relationships/tags" Target="../tags/tag299.xml"/><Relationship Id="rId5" Type="http://schemas.openxmlformats.org/officeDocument/2006/relationships/tags" Target="../tags/tag238.xml"/><Relationship Id="rId61" Type="http://schemas.openxmlformats.org/officeDocument/2006/relationships/tags" Target="../tags/tag294.xml"/><Relationship Id="rId19" Type="http://schemas.openxmlformats.org/officeDocument/2006/relationships/tags" Target="../tags/tag252.xml"/><Relationship Id="rId14" Type="http://schemas.openxmlformats.org/officeDocument/2006/relationships/tags" Target="../tags/tag247.xml"/><Relationship Id="rId22" Type="http://schemas.openxmlformats.org/officeDocument/2006/relationships/tags" Target="../tags/tag255.xml"/><Relationship Id="rId27" Type="http://schemas.openxmlformats.org/officeDocument/2006/relationships/tags" Target="../tags/tag260.xml"/><Relationship Id="rId30" Type="http://schemas.openxmlformats.org/officeDocument/2006/relationships/tags" Target="../tags/tag263.xml"/><Relationship Id="rId35" Type="http://schemas.openxmlformats.org/officeDocument/2006/relationships/tags" Target="../tags/tag268.xml"/><Relationship Id="rId43" Type="http://schemas.openxmlformats.org/officeDocument/2006/relationships/tags" Target="../tags/tag276.xml"/><Relationship Id="rId48" Type="http://schemas.openxmlformats.org/officeDocument/2006/relationships/tags" Target="../tags/tag281.xml"/><Relationship Id="rId56" Type="http://schemas.openxmlformats.org/officeDocument/2006/relationships/tags" Target="../tags/tag289.xml"/><Relationship Id="rId64" Type="http://schemas.openxmlformats.org/officeDocument/2006/relationships/tags" Target="../tags/tag297.xml"/><Relationship Id="rId8" Type="http://schemas.openxmlformats.org/officeDocument/2006/relationships/tags" Target="../tags/tag241.xml"/><Relationship Id="rId51" Type="http://schemas.openxmlformats.org/officeDocument/2006/relationships/tags" Target="../tags/tag284.xml"/><Relationship Id="rId3" Type="http://schemas.openxmlformats.org/officeDocument/2006/relationships/tags" Target="../tags/tag236.xml"/><Relationship Id="rId12" Type="http://schemas.openxmlformats.org/officeDocument/2006/relationships/tags" Target="../tags/tag245.xml"/><Relationship Id="rId17" Type="http://schemas.openxmlformats.org/officeDocument/2006/relationships/tags" Target="../tags/tag250.xml"/><Relationship Id="rId25" Type="http://schemas.openxmlformats.org/officeDocument/2006/relationships/tags" Target="../tags/tag258.xml"/><Relationship Id="rId33" Type="http://schemas.openxmlformats.org/officeDocument/2006/relationships/tags" Target="../tags/tag266.xml"/><Relationship Id="rId38" Type="http://schemas.openxmlformats.org/officeDocument/2006/relationships/tags" Target="../tags/tag271.xml"/><Relationship Id="rId46" Type="http://schemas.openxmlformats.org/officeDocument/2006/relationships/tags" Target="../tags/tag279.xml"/><Relationship Id="rId59" Type="http://schemas.openxmlformats.org/officeDocument/2006/relationships/tags" Target="../tags/tag292.xml"/><Relationship Id="rId67" Type="http://schemas.openxmlformats.org/officeDocument/2006/relationships/slideLayout" Target="../slideLayouts/slideLayout2.xml"/><Relationship Id="rId20" Type="http://schemas.openxmlformats.org/officeDocument/2006/relationships/tags" Target="../tags/tag253.xml"/><Relationship Id="rId41" Type="http://schemas.openxmlformats.org/officeDocument/2006/relationships/tags" Target="../tags/tag274.xml"/><Relationship Id="rId54" Type="http://schemas.openxmlformats.org/officeDocument/2006/relationships/tags" Target="../tags/tag287.xml"/><Relationship Id="rId62" Type="http://schemas.openxmlformats.org/officeDocument/2006/relationships/tags" Target="../tags/tag295.xml"/><Relationship Id="rId1" Type="http://schemas.openxmlformats.org/officeDocument/2006/relationships/tags" Target="../tags/tag234.xml"/><Relationship Id="rId6" Type="http://schemas.openxmlformats.org/officeDocument/2006/relationships/tags" Target="../tags/tag239.xml"/><Relationship Id="rId15" Type="http://schemas.openxmlformats.org/officeDocument/2006/relationships/tags" Target="../tags/tag248.xml"/><Relationship Id="rId23" Type="http://schemas.openxmlformats.org/officeDocument/2006/relationships/tags" Target="../tags/tag256.xml"/><Relationship Id="rId28" Type="http://schemas.openxmlformats.org/officeDocument/2006/relationships/tags" Target="../tags/tag261.xml"/><Relationship Id="rId36" Type="http://schemas.openxmlformats.org/officeDocument/2006/relationships/tags" Target="../tags/tag269.xml"/><Relationship Id="rId49" Type="http://schemas.openxmlformats.org/officeDocument/2006/relationships/tags" Target="../tags/tag282.xml"/><Relationship Id="rId57" Type="http://schemas.openxmlformats.org/officeDocument/2006/relationships/tags" Target="../tags/tag290.xml"/><Relationship Id="rId10" Type="http://schemas.openxmlformats.org/officeDocument/2006/relationships/tags" Target="../tags/tag243.xml"/><Relationship Id="rId31" Type="http://schemas.openxmlformats.org/officeDocument/2006/relationships/tags" Target="../tags/tag264.xml"/><Relationship Id="rId44" Type="http://schemas.openxmlformats.org/officeDocument/2006/relationships/tags" Target="../tags/tag277.xml"/><Relationship Id="rId52" Type="http://schemas.openxmlformats.org/officeDocument/2006/relationships/tags" Target="../tags/tag285.xml"/><Relationship Id="rId60" Type="http://schemas.openxmlformats.org/officeDocument/2006/relationships/tags" Target="../tags/tag293.xml"/><Relationship Id="rId65" Type="http://schemas.openxmlformats.org/officeDocument/2006/relationships/tags" Target="../tags/tag298.xml"/><Relationship Id="rId4" Type="http://schemas.openxmlformats.org/officeDocument/2006/relationships/tags" Target="../tags/tag237.xml"/><Relationship Id="rId9" Type="http://schemas.openxmlformats.org/officeDocument/2006/relationships/tags" Target="../tags/tag242.xml"/><Relationship Id="rId13" Type="http://schemas.openxmlformats.org/officeDocument/2006/relationships/tags" Target="../tags/tag246.xml"/><Relationship Id="rId18" Type="http://schemas.openxmlformats.org/officeDocument/2006/relationships/tags" Target="../tags/tag251.xml"/><Relationship Id="rId39" Type="http://schemas.openxmlformats.org/officeDocument/2006/relationships/tags" Target="../tags/tag272.xml"/></Relationships>
</file>

<file path=ppt/slides/_rels/slide37.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6" Type="http://schemas.openxmlformats.org/officeDocument/2006/relationships/notesSlide" Target="../notesSlides/notesSlide22.xml"/><Relationship Id="rId5" Type="http://schemas.openxmlformats.org/officeDocument/2006/relationships/slideLayout" Target="../slideLayouts/slideLayout2.xml"/><Relationship Id="rId4" Type="http://schemas.openxmlformats.org/officeDocument/2006/relationships/tags" Target="../tags/tag303.xml"/></Relationships>
</file>

<file path=ppt/slides/_rels/slide38.xml.rels><?xml version="1.0" encoding="UTF-8" standalone="yes"?>
<Relationships xmlns="http://schemas.openxmlformats.org/package/2006/relationships"><Relationship Id="rId8" Type="http://schemas.openxmlformats.org/officeDocument/2006/relationships/tags" Target="../tags/tag311.xml"/><Relationship Id="rId13" Type="http://schemas.openxmlformats.org/officeDocument/2006/relationships/tags" Target="../tags/tag316.xml"/><Relationship Id="rId18" Type="http://schemas.openxmlformats.org/officeDocument/2006/relationships/slideLayout" Target="../slideLayouts/slideLayout2.xml"/><Relationship Id="rId3" Type="http://schemas.openxmlformats.org/officeDocument/2006/relationships/tags" Target="../tags/tag306.xml"/><Relationship Id="rId7" Type="http://schemas.openxmlformats.org/officeDocument/2006/relationships/tags" Target="../tags/tag310.xml"/><Relationship Id="rId12" Type="http://schemas.openxmlformats.org/officeDocument/2006/relationships/tags" Target="../tags/tag315.xml"/><Relationship Id="rId17" Type="http://schemas.openxmlformats.org/officeDocument/2006/relationships/tags" Target="../tags/tag320.xml"/><Relationship Id="rId2" Type="http://schemas.openxmlformats.org/officeDocument/2006/relationships/tags" Target="../tags/tag305.xml"/><Relationship Id="rId16" Type="http://schemas.openxmlformats.org/officeDocument/2006/relationships/tags" Target="../tags/tag319.xml"/><Relationship Id="rId1" Type="http://schemas.openxmlformats.org/officeDocument/2006/relationships/tags" Target="../tags/tag304.xml"/><Relationship Id="rId6" Type="http://schemas.openxmlformats.org/officeDocument/2006/relationships/tags" Target="../tags/tag309.xml"/><Relationship Id="rId11" Type="http://schemas.openxmlformats.org/officeDocument/2006/relationships/tags" Target="../tags/tag314.xml"/><Relationship Id="rId5" Type="http://schemas.openxmlformats.org/officeDocument/2006/relationships/tags" Target="../tags/tag308.xml"/><Relationship Id="rId15" Type="http://schemas.openxmlformats.org/officeDocument/2006/relationships/tags" Target="../tags/tag318.xml"/><Relationship Id="rId10" Type="http://schemas.openxmlformats.org/officeDocument/2006/relationships/tags" Target="../tags/tag313.xml"/><Relationship Id="rId19" Type="http://schemas.openxmlformats.org/officeDocument/2006/relationships/notesSlide" Target="../notesSlides/notesSlide23.xml"/><Relationship Id="rId4" Type="http://schemas.openxmlformats.org/officeDocument/2006/relationships/tags" Target="../tags/tag307.xml"/><Relationship Id="rId9" Type="http://schemas.openxmlformats.org/officeDocument/2006/relationships/tags" Target="../tags/tag312.xml"/><Relationship Id="rId14" Type="http://schemas.openxmlformats.org/officeDocument/2006/relationships/tags" Target="../tags/tag317.xml"/></Relationships>
</file>

<file path=ppt/slides/_rels/slide39.xml.rels><?xml version="1.0" encoding="UTF-8" standalone="yes"?>
<Relationships xmlns="http://schemas.openxmlformats.org/package/2006/relationships"><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notesSlide" Target="../notesSlides/notesSlide24.xml"/><Relationship Id="rId5" Type="http://schemas.openxmlformats.org/officeDocument/2006/relationships/slideLayout" Target="../slideLayouts/slideLayout2.xml"/><Relationship Id="rId4" Type="http://schemas.openxmlformats.org/officeDocument/2006/relationships/tags" Target="../tags/tag324.xml"/></Relationships>
</file>

<file path=ppt/slides/_rels/slide40.xml.rels><?xml version="1.0" encoding="UTF-8" standalone="yes"?>
<Relationships xmlns="http://schemas.openxmlformats.org/package/2006/relationships"><Relationship Id="rId8" Type="http://schemas.openxmlformats.org/officeDocument/2006/relationships/tags" Target="../tags/tag332.xml"/><Relationship Id="rId3" Type="http://schemas.openxmlformats.org/officeDocument/2006/relationships/tags" Target="../tags/tag327.xml"/><Relationship Id="rId7" Type="http://schemas.openxmlformats.org/officeDocument/2006/relationships/tags" Target="../tags/tag331.xml"/><Relationship Id="rId2" Type="http://schemas.openxmlformats.org/officeDocument/2006/relationships/tags" Target="../tags/tag326.xml"/><Relationship Id="rId1" Type="http://schemas.openxmlformats.org/officeDocument/2006/relationships/tags" Target="../tags/tag325.xml"/><Relationship Id="rId6" Type="http://schemas.openxmlformats.org/officeDocument/2006/relationships/tags" Target="../tags/tag330.xml"/><Relationship Id="rId5" Type="http://schemas.openxmlformats.org/officeDocument/2006/relationships/tags" Target="../tags/tag329.xml"/><Relationship Id="rId10" Type="http://schemas.openxmlformats.org/officeDocument/2006/relationships/notesSlide" Target="../notesSlides/notesSlide25.xml"/><Relationship Id="rId4" Type="http://schemas.openxmlformats.org/officeDocument/2006/relationships/tags" Target="../tags/tag328.xml"/><Relationship Id="rId9"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tags" Target="../tags/tag340.xml"/><Relationship Id="rId13" Type="http://schemas.openxmlformats.org/officeDocument/2006/relationships/notesSlide" Target="../notesSlides/notesSlide26.xml"/><Relationship Id="rId3" Type="http://schemas.openxmlformats.org/officeDocument/2006/relationships/tags" Target="../tags/tag335.xml"/><Relationship Id="rId7" Type="http://schemas.openxmlformats.org/officeDocument/2006/relationships/tags" Target="../tags/tag339.xml"/><Relationship Id="rId12" Type="http://schemas.openxmlformats.org/officeDocument/2006/relationships/slideLayout" Target="../slideLayouts/slideLayout2.xml"/><Relationship Id="rId2" Type="http://schemas.openxmlformats.org/officeDocument/2006/relationships/tags" Target="../tags/tag334.xml"/><Relationship Id="rId1" Type="http://schemas.openxmlformats.org/officeDocument/2006/relationships/tags" Target="../tags/tag333.xml"/><Relationship Id="rId6" Type="http://schemas.openxmlformats.org/officeDocument/2006/relationships/tags" Target="../tags/tag338.xml"/><Relationship Id="rId11" Type="http://schemas.openxmlformats.org/officeDocument/2006/relationships/tags" Target="../tags/tag343.xml"/><Relationship Id="rId5" Type="http://schemas.openxmlformats.org/officeDocument/2006/relationships/tags" Target="../tags/tag337.xml"/><Relationship Id="rId10" Type="http://schemas.openxmlformats.org/officeDocument/2006/relationships/tags" Target="../tags/tag342.xml"/><Relationship Id="rId4" Type="http://schemas.openxmlformats.org/officeDocument/2006/relationships/tags" Target="../tags/tag336.xml"/><Relationship Id="rId9" Type="http://schemas.openxmlformats.org/officeDocument/2006/relationships/tags" Target="../tags/tag3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FAEC3731-8914-466C-A561-03A7EF2CEA18}"/>
              </a:ext>
            </a:extLst>
          </p:cNvPr>
          <p:cNvSpPr>
            <a:spLocks noGrp="1"/>
          </p:cNvSpPr>
          <p:nvPr>
            <p:ph type="ctrTitle"/>
            <p:custDataLst>
              <p:tags r:id="rId2"/>
            </p:custDataLst>
          </p:nvPr>
        </p:nvSpPr>
        <p:spPr>
          <a:xfrm>
            <a:off x="457200" y="2495550"/>
            <a:ext cx="8229600" cy="1238250"/>
          </a:xfrm>
        </p:spPr>
        <p:txBody>
          <a:bodyPr/>
          <a:lstStyle/>
          <a:p>
            <a:pPr eaLnBrk="1" hangingPunct="1"/>
            <a:r>
              <a:rPr lang="en-US" altLang="en-US" dirty="0"/>
              <a:t>ECE/CS 552: Cache Concepts</a:t>
            </a:r>
          </a:p>
        </p:txBody>
      </p:sp>
      <p:sp>
        <p:nvSpPr>
          <p:cNvPr id="3" name="Subtitle 2">
            <a:extLst>
              <a:ext uri="{FF2B5EF4-FFF2-40B4-BE49-F238E27FC236}">
                <a16:creationId xmlns:a16="http://schemas.microsoft.com/office/drawing/2014/main" id="{F0DF9377-1361-4555-9AF6-6E957C3B90C0}"/>
              </a:ext>
            </a:extLst>
          </p:cNvPr>
          <p:cNvSpPr>
            <a:spLocks noGrp="1"/>
          </p:cNvSpPr>
          <p:nvPr>
            <p:ph type="subTitle" idx="1"/>
            <p:custDataLst>
              <p:tags r:id="rId3"/>
            </p:custDataLst>
          </p:nvPr>
        </p:nvSpPr>
        <p:spPr>
          <a:xfrm>
            <a:off x="1371600" y="3886200"/>
            <a:ext cx="6400800" cy="1752600"/>
          </a:xfrm>
        </p:spPr>
        <p:txBody>
          <a:bodyPr>
            <a:noAutofit/>
          </a:bodyPr>
          <a:lstStyle/>
          <a:p>
            <a:pPr eaLnBrk="1" hangingPunct="1">
              <a:buFont typeface="Arial" charset="0"/>
              <a:buNone/>
              <a:defRPr/>
            </a:pPr>
            <a:r>
              <a:rPr lang="en-US" sz="2200" dirty="0"/>
              <a:t>Boone Severson</a:t>
            </a:r>
          </a:p>
          <a:p>
            <a:pPr eaLnBrk="1" hangingPunct="1">
              <a:buFont typeface="Arial" charset="0"/>
              <a:buNone/>
              <a:defRPr/>
            </a:pPr>
            <a:endParaRPr lang="en-US" sz="2200" dirty="0"/>
          </a:p>
          <a:p>
            <a:pPr eaLnBrk="1" hangingPunct="1">
              <a:buFont typeface="Arial" charset="0"/>
              <a:buNone/>
              <a:defRPr/>
            </a:pPr>
            <a:r>
              <a:rPr lang="en-US" sz="2200" dirty="0"/>
              <a:t>Lecture notes based in part on slides created by Joshua San Miguel, </a:t>
            </a:r>
            <a:r>
              <a:rPr lang="en-US" sz="2200" dirty="0" err="1"/>
              <a:t>Mikko</a:t>
            </a:r>
            <a:r>
              <a:rPr lang="en-US" sz="2200" dirty="0"/>
              <a:t> </a:t>
            </a:r>
            <a:r>
              <a:rPr lang="en-US" sz="2200" dirty="0" err="1"/>
              <a:t>Lipasti</a:t>
            </a:r>
            <a:r>
              <a:rPr lang="en-US" sz="2200" dirty="0"/>
              <a:t>, Mark Hill, David Wood, </a:t>
            </a:r>
            <a:r>
              <a:rPr lang="en-US" sz="2200" dirty="0" err="1"/>
              <a:t>Guri</a:t>
            </a:r>
            <a:r>
              <a:rPr lang="en-US" sz="2200" dirty="0"/>
              <a:t> Sohi, John Shen and Jim Smith</a:t>
            </a:r>
          </a:p>
          <a:p>
            <a:pPr eaLnBrk="1" hangingPunct="1">
              <a:buFont typeface="Arial" charset="0"/>
              <a:buNone/>
              <a:defRPr/>
            </a:pPr>
            <a:r>
              <a:rPr lang="en-US" sz="2200" dirty="0"/>
              <a:t>  </a:t>
            </a:r>
          </a:p>
          <a:p>
            <a:pPr eaLnBrk="1" hangingPunct="1">
              <a:buFont typeface="Arial" charset="0"/>
              <a:buNone/>
              <a:defRPr/>
            </a:pPr>
            <a:endParaRPr lang="en-US" sz="2200" dirty="0"/>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Memory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1563" y="3977481"/>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068BA21-76E4-4C6C-9766-C348672BD8CD}"/>
              </a:ext>
            </a:extLst>
          </p:cNvPr>
          <p:cNvCxnSpPr>
            <a:cxnSpLocks/>
          </p:cNvCxnSpPr>
          <p:nvPr/>
        </p:nvCxnSpPr>
        <p:spPr>
          <a:xfrm flipH="1" flipV="1">
            <a:off x="914400" y="3200400"/>
            <a:ext cx="5791200" cy="18288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A3FCEB4-4829-402D-90F6-84A10F8B404F}"/>
              </a:ext>
            </a:extLst>
          </p:cNvPr>
          <p:cNvCxnSpPr>
            <a:cxnSpLocks/>
          </p:cNvCxnSpPr>
          <p:nvPr/>
        </p:nvCxnSpPr>
        <p:spPr>
          <a:xfrm flipV="1">
            <a:off x="7162800" y="3200400"/>
            <a:ext cx="1295400" cy="18288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 name="Rectangle 3">
            <a:extLst>
              <a:ext uri="{FF2B5EF4-FFF2-40B4-BE49-F238E27FC236}">
                <a16:creationId xmlns:a16="http://schemas.microsoft.com/office/drawing/2014/main" id="{89422794-A9D0-4910-BDB8-B3B7FC6C4F2C}"/>
              </a:ext>
            </a:extLst>
          </p:cNvPr>
          <p:cNvSpPr>
            <a:spLocks noGrp="1" noChangeArrowheads="1"/>
          </p:cNvSpPr>
          <p:nvPr>
            <p:ph idx="1"/>
            <p:custDataLst>
              <p:tags r:id="rId4"/>
            </p:custDataLst>
          </p:nvPr>
        </p:nvSpPr>
        <p:spPr>
          <a:xfrm>
            <a:off x="1595269" y="2194719"/>
            <a:ext cx="6591300" cy="2392362"/>
          </a:xfrm>
        </p:spPr>
        <p:txBody>
          <a:bodyPr/>
          <a:lstStyle/>
          <a:p>
            <a:pPr marL="0" indent="0" algn="ctr">
              <a:lnSpc>
                <a:spcPct val="80000"/>
              </a:lnSpc>
              <a:buNone/>
            </a:pPr>
            <a:r>
              <a:rPr lang="en-US" altLang="en-US" sz="2000" b="1" dirty="0">
                <a:solidFill>
                  <a:schemeClr val="accent6">
                    <a:lumMod val="75000"/>
                  </a:schemeClr>
                </a:solidFill>
                <a:latin typeface="Courier New" panose="02070309020205020404" pitchFamily="49" charset="0"/>
                <a:cs typeface="Courier New" panose="02070309020205020404" pitchFamily="49" charset="0"/>
              </a:rPr>
              <a:t>011001001001010110100110101011111110001010101001011100100101010101010101001010101010110100001010110010001011110100101010010010100001101001010010100100010010101001010010110010101010010100010010101010111000000010101011101010101011110100100010110100110101001010101001010101010010011100101010010101</a:t>
            </a:r>
          </a:p>
        </p:txBody>
      </p:sp>
      <p:sp>
        <p:nvSpPr>
          <p:cNvPr id="2" name="TextBox 1">
            <a:extLst>
              <a:ext uri="{FF2B5EF4-FFF2-40B4-BE49-F238E27FC236}">
                <a16:creationId xmlns:a16="http://schemas.microsoft.com/office/drawing/2014/main" id="{B1C4866A-B54A-8297-B7B2-F6F7156889E9}"/>
              </a:ext>
            </a:extLst>
          </p:cNvPr>
          <p:cNvSpPr txBox="1"/>
          <p:nvPr/>
        </p:nvSpPr>
        <p:spPr>
          <a:xfrm>
            <a:off x="914400" y="1247744"/>
            <a:ext cx="7158038" cy="1077218"/>
          </a:xfrm>
          <a:prstGeom prst="rect">
            <a:avLst/>
          </a:prstGeom>
          <a:noFill/>
        </p:spPr>
        <p:txBody>
          <a:bodyPr wrap="square" rtlCol="0">
            <a:spAutoFit/>
          </a:bodyPr>
          <a:lstStyle/>
          <a:p>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Data is just an ocean of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unlabeled</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ones and zeros that our program can load and store. This method of storing these bits has evolved over the decades, but the fundamentals remain. </a:t>
            </a:r>
          </a:p>
          <a:p>
            <a:endParaRPr lang="en-IN" dirty="0"/>
          </a:p>
        </p:txBody>
      </p:sp>
    </p:spTree>
    <p:custDataLst>
      <p:tags r:id="rId1"/>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0BCD225-5891-479B-AF89-38A3DFD776CB}"/>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Types of Memory</a:t>
            </a:r>
          </a:p>
        </p:txBody>
      </p:sp>
      <p:graphicFrame>
        <p:nvGraphicFramePr>
          <p:cNvPr id="350285" name="Group 77">
            <a:extLst>
              <a:ext uri="{FF2B5EF4-FFF2-40B4-BE49-F238E27FC236}">
                <a16:creationId xmlns:a16="http://schemas.microsoft.com/office/drawing/2014/main" id="{D4589A1E-3187-4BB9-A191-52C6138247DA}"/>
              </a:ext>
            </a:extLst>
          </p:cNvPr>
          <p:cNvGraphicFramePr>
            <a:graphicFrameLocks noGrp="1"/>
          </p:cNvGraphicFramePr>
          <p:nvPr>
            <p:custDataLst>
              <p:tags r:id="rId3"/>
            </p:custDataLst>
            <p:extLst>
              <p:ext uri="{D42A27DB-BD31-4B8C-83A1-F6EECF244321}">
                <p14:modId xmlns:p14="http://schemas.microsoft.com/office/powerpoint/2010/main" val="1429221072"/>
              </p:ext>
            </p:extLst>
          </p:nvPr>
        </p:nvGraphicFramePr>
        <p:xfrm>
          <a:off x="685800" y="1981198"/>
          <a:ext cx="8001002" cy="3276602"/>
        </p:xfrm>
        <a:graphic>
          <a:graphicData uri="http://schemas.openxmlformats.org/drawingml/2006/table">
            <a:tbl>
              <a:tblPr/>
              <a:tblGrid>
                <a:gridCol w="2694215">
                  <a:extLst>
                    <a:ext uri="{9D8B030D-6E8A-4147-A177-3AD203B41FA5}">
                      <a16:colId xmlns:a16="http://schemas.microsoft.com/office/drawing/2014/main" val="20000"/>
                    </a:ext>
                  </a:extLst>
                </a:gridCol>
                <a:gridCol w="2367643">
                  <a:extLst>
                    <a:ext uri="{9D8B030D-6E8A-4147-A177-3AD203B41FA5}">
                      <a16:colId xmlns:a16="http://schemas.microsoft.com/office/drawing/2014/main" val="20001"/>
                    </a:ext>
                  </a:extLst>
                </a:gridCol>
                <a:gridCol w="1469572">
                  <a:extLst>
                    <a:ext uri="{9D8B030D-6E8A-4147-A177-3AD203B41FA5}">
                      <a16:colId xmlns:a16="http://schemas.microsoft.com/office/drawing/2014/main" val="20002"/>
                    </a:ext>
                  </a:extLst>
                </a:gridCol>
                <a:gridCol w="1469572">
                  <a:extLst>
                    <a:ext uri="{9D8B030D-6E8A-4147-A177-3AD203B41FA5}">
                      <a16:colId xmlns:a16="http://schemas.microsoft.com/office/drawing/2014/main" val="20003"/>
                    </a:ext>
                  </a:extLst>
                </a:gridCol>
              </a:tblGrid>
              <a:tr h="60960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Type</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Size</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Speed</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Cost/bit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bg1">
                        <a:lumMod val="95000"/>
                      </a:schemeClr>
                    </a:solidFill>
                  </a:tcPr>
                </a:tc>
                <a:extLst>
                  <a:ext uri="{0D108BD9-81ED-4DB2-BD59-A6C34878D82A}">
                    <a16:rowId xmlns:a16="http://schemas.microsoft.com/office/drawing/2014/main" val="10000"/>
                  </a:ext>
                </a:extLst>
              </a:tr>
              <a:tr h="661988">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Registers</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&lt; 1KiB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&lt; 1ns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5881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On-chip SRAM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8KiB – 300MiB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&lt; 20ns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687388">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Off-chip DRAM</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64MiB – 1TiB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&lt; 100ns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658813">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Disk</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32GB – 1PB</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a:ln>
                            <a:noFill/>
                          </a:ln>
                          <a:solidFill>
                            <a:schemeClr val="tx1"/>
                          </a:solidFill>
                          <a:effectLst/>
                          <a:latin typeface="+mn-lt"/>
                        </a:rPr>
                        <a:t>&lt; 20ms</a:t>
                      </a:r>
                    </a:p>
                  </a:txBody>
                  <a:tcP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800" b="0" i="0" u="none" strike="noStrike" cap="none" normalizeH="0" baseline="0" dirty="0">
                          <a:ln>
                            <a:noFill/>
                          </a:ln>
                          <a:solidFill>
                            <a:schemeClr val="tx1"/>
                          </a:solidFill>
                          <a:effectLst/>
                          <a:latin typeface="+mn-lt"/>
                        </a:rPr>
                        <a:t>$</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 name="Slide Number Placeholder 1">
            <a:extLst>
              <a:ext uri="{FF2B5EF4-FFF2-40B4-BE49-F238E27FC236}">
                <a16:creationId xmlns:a16="http://schemas.microsoft.com/office/drawing/2014/main" id="{7889E312-C3B0-4777-9CA9-8163BEE31F78}"/>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0F089E1A-4B1C-4EFC-922D-8B039A08EA26}" type="slidenum">
              <a:rPr lang="en-US" altLang="en-US" sz="1400">
                <a:latin typeface="Calibri" panose="020F0502020204030204" pitchFamily="34" charset="0"/>
              </a:rPr>
              <a:pPr lvl="1" eaLnBrk="1" hangingPunct="1"/>
              <a:t>3</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407828310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311170-99CA-3C87-3C30-5654C9065EAF}"/>
              </a:ext>
            </a:extLst>
          </p:cNvPr>
          <p:cNvSpPr>
            <a:spLocks noGrp="1"/>
          </p:cNvSpPr>
          <p:nvPr>
            <p:ph idx="1"/>
          </p:nvPr>
        </p:nvSpPr>
        <p:spPr>
          <a:xfrm>
            <a:off x="457200" y="457200"/>
            <a:ext cx="8229600" cy="589915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Overview of Memory Types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Our modern computers have many types of memories. The table summarizes the four general categories and gives you a sense of the differences in size, speed, and cost per bit.</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On-Chip Registers and SRAM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on-chip registers are small, blazing fast, but the cost is high. SRAM is the acronym for static random access memory, which is used for structures like caches. Static means that once you write a value, the SRAM holds it as long as the chip is powered up.</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SRAM Characteristics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They are larger but slower than registers. Their size and speed are connected; the larger or more dense they get, the slower they get because wires get longer, and decode logic grows. SRAM sizes on processors continue to grow for reasons we’ll explain in a bit.</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Dynamic RAM (DRAM)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DRAM or dynamic random access memory. The dynamic means that values are held in capacitors that leak their charge until they either get to be refreshed or they become zero.</a:t>
            </a:r>
          </a:p>
          <a:p>
            <a:pPr marL="0" indent="0">
              <a:buNone/>
            </a:pPr>
            <a:endParaRPr lang="en-IN" dirty="0"/>
          </a:p>
        </p:txBody>
      </p:sp>
      <p:sp>
        <p:nvSpPr>
          <p:cNvPr id="4" name="Slide Number Placeholder 3">
            <a:extLst>
              <a:ext uri="{FF2B5EF4-FFF2-40B4-BE49-F238E27FC236}">
                <a16:creationId xmlns:a16="http://schemas.microsoft.com/office/drawing/2014/main" id="{27770302-6A71-1ECD-4087-3B1ACBC72DF6}"/>
              </a:ext>
            </a:extLst>
          </p:cNvPr>
          <p:cNvSpPr>
            <a:spLocks noGrp="1"/>
          </p:cNvSpPr>
          <p:nvPr>
            <p:ph type="sldNum" sz="quarter" idx="12"/>
          </p:nvPr>
        </p:nvSpPr>
        <p:spPr/>
        <p:txBody>
          <a:bodyPr/>
          <a:lstStyle/>
          <a:p>
            <a:pPr lvl="1">
              <a:defRPr/>
            </a:pPr>
            <a:fld id="{0831C007-5AA1-4C47-955B-DD23833C3AF5}" type="slidenum">
              <a:rPr lang="en-US" altLang="en-US" smtClean="0"/>
              <a:pPr lvl="1">
                <a:defRPr/>
              </a:pPr>
              <a:t>4</a:t>
            </a:fld>
            <a:endParaRPr lang="en-US" altLang="en-US"/>
          </a:p>
        </p:txBody>
      </p:sp>
    </p:spTree>
    <p:extLst>
      <p:ext uri="{BB962C8B-B14F-4D97-AF65-F5344CB8AC3E}">
        <p14:creationId xmlns:p14="http://schemas.microsoft.com/office/powerpoint/2010/main" val="39537666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5F5ED-A38A-3C04-8AC6-11FC2848FF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0FE3A-4543-25A7-1D4F-C71CEE530C11}"/>
              </a:ext>
            </a:extLst>
          </p:cNvPr>
          <p:cNvSpPr>
            <a:spLocks noGrp="1"/>
          </p:cNvSpPr>
          <p:nvPr>
            <p:ph idx="1"/>
          </p:nvPr>
        </p:nvSpPr>
        <p:spPr>
          <a:xfrm>
            <a:off x="457200" y="457200"/>
            <a:ext cx="8229600" cy="589915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Main Memory and HBM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DRAM memory has been our main memory that stores almost all the program data in GPUs and ML accelerators. HBM or high bandwidth memory lives inside the multi-die package and consists of layers of DRAM silicon stacked to make a cube.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DRAM in Apple Silicon</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Apple silicon also puts DRAM inside the package, but generally, the largest and least expensive DRAM lives off the package and is connected via board traces to the processor.</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Disk Storage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Disk today consists either of spinning disk-shaped platters that hold magnetic charges or solid-state flash chips. This technology is inexpensive per bit and has capacities that can store all of your files reliably.</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Speed of Disk Storage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However, relative to the other storage, they’re slow. You’ll feel the speed when you launch large applications such as program data and graphics that are read from disk and put into DRAM.</a:t>
            </a:r>
          </a:p>
          <a:p>
            <a:pPr marL="0" indent="0">
              <a:buNone/>
            </a:pPr>
            <a:endParaRPr lang="en-IN" dirty="0"/>
          </a:p>
        </p:txBody>
      </p:sp>
      <p:sp>
        <p:nvSpPr>
          <p:cNvPr id="4" name="Slide Number Placeholder 3">
            <a:extLst>
              <a:ext uri="{FF2B5EF4-FFF2-40B4-BE49-F238E27FC236}">
                <a16:creationId xmlns:a16="http://schemas.microsoft.com/office/drawing/2014/main" id="{E94D5C2A-DE53-EC3D-F410-97ACE9887719}"/>
              </a:ext>
            </a:extLst>
          </p:cNvPr>
          <p:cNvSpPr>
            <a:spLocks noGrp="1"/>
          </p:cNvSpPr>
          <p:nvPr>
            <p:ph type="sldNum" sz="quarter" idx="12"/>
          </p:nvPr>
        </p:nvSpPr>
        <p:spPr/>
        <p:txBody>
          <a:bodyPr/>
          <a:lstStyle/>
          <a:p>
            <a:pPr lvl="1">
              <a:defRPr/>
            </a:pPr>
            <a:fld id="{0831C007-5AA1-4C47-955B-DD23833C3AF5}" type="slidenum">
              <a:rPr lang="en-US" altLang="en-US" smtClean="0"/>
              <a:pPr lvl="1">
                <a:defRPr/>
              </a:pPr>
              <a:t>5</a:t>
            </a:fld>
            <a:endParaRPr lang="en-US" altLang="en-US"/>
          </a:p>
        </p:txBody>
      </p:sp>
    </p:spTree>
    <p:extLst>
      <p:ext uri="{BB962C8B-B14F-4D97-AF65-F5344CB8AC3E}">
        <p14:creationId xmlns:p14="http://schemas.microsoft.com/office/powerpoint/2010/main" val="306089500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66EE5F-6AC9-4163-98C1-C35DEAEED879}"/>
              </a:ext>
            </a:extLst>
          </p:cNvPr>
          <p:cNvSpPr>
            <a:spLocks noGrp="1"/>
          </p:cNvSpPr>
          <p:nvPr>
            <p:ph type="sldNum" sz="quarter" idx="12"/>
            <p:custDataLst>
              <p:tags r:id="rId2"/>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99CF9956-BA16-43F2-AC09-FF70A164EBBB}" type="slidenum">
              <a:rPr lang="en-US" altLang="en-US" sz="1400">
                <a:latin typeface="Calibri" panose="020F0502020204030204" pitchFamily="34" charset="0"/>
              </a:rPr>
              <a:pPr lvl="1" eaLnBrk="1" hangingPunct="1"/>
              <a:t>6</a:t>
            </a:fld>
            <a:endParaRPr lang="en-US" altLang="en-US" sz="1400">
              <a:latin typeface="Calibri" panose="020F0502020204030204" pitchFamily="34" charset="0"/>
            </a:endParaRPr>
          </a:p>
        </p:txBody>
      </p:sp>
      <p:pic>
        <p:nvPicPr>
          <p:cNvPr id="43" name="Picture 1029" descr="rfdff">
            <a:extLst>
              <a:ext uri="{FF2B5EF4-FFF2-40B4-BE49-F238E27FC236}">
                <a16:creationId xmlns:a16="http://schemas.microsoft.com/office/drawing/2014/main" id="{207A6530-001A-412D-9540-9660F994B7F0}"/>
              </a:ext>
            </a:extLst>
          </p:cNvPr>
          <p:cNvPicPr>
            <a:picLocks noChangeAspect="1" noChangeArrowheads="1"/>
          </p:cNvPicPr>
          <p:nvPr>
            <p:custDataLst>
              <p:tags r:id="rId3"/>
            </p:custDataLst>
          </p:nvPr>
        </p:nvPicPr>
        <p:blipFill rotWithShape="1">
          <a:blip r:embed="rId34">
            <a:extLst>
              <a:ext uri="{28A0092B-C50C-407E-A947-70E740481C1C}">
                <a14:useLocalDpi xmlns:a14="http://schemas.microsoft.com/office/drawing/2010/main" val="0"/>
              </a:ext>
            </a:extLst>
          </a:blip>
          <a:srcRect t="2568" b="6285"/>
          <a:stretch/>
        </p:blipFill>
        <p:spPr bwMode="auto">
          <a:xfrm>
            <a:off x="1828800" y="971940"/>
            <a:ext cx="6934200" cy="5410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 name="Rectangle 43">
            <a:extLst>
              <a:ext uri="{FF2B5EF4-FFF2-40B4-BE49-F238E27FC236}">
                <a16:creationId xmlns:a16="http://schemas.microsoft.com/office/drawing/2014/main" id="{0CF6E766-AD20-45DD-B2FF-E3239DFC741C}"/>
              </a:ext>
            </a:extLst>
          </p:cNvPr>
          <p:cNvSpPr/>
          <p:nvPr>
            <p:custDataLst>
              <p:tags r:id="rId4"/>
            </p:custDataLst>
          </p:nvPr>
        </p:nvSpPr>
        <p:spPr>
          <a:xfrm>
            <a:off x="7391400" y="1200541"/>
            <a:ext cx="914400" cy="6858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6A4D3233-44E5-4F2D-B3F1-60F3C698E16A}"/>
              </a:ext>
            </a:extLst>
          </p:cNvPr>
          <p:cNvSpPr txBox="1"/>
          <p:nvPr>
            <p:custDataLst>
              <p:tags r:id="rId5"/>
            </p:custDataLst>
          </p:nvPr>
        </p:nvSpPr>
        <p:spPr>
          <a:xfrm>
            <a:off x="7450734" y="1124341"/>
            <a:ext cx="397866" cy="338554"/>
          </a:xfrm>
          <a:prstGeom prst="rect">
            <a:avLst/>
          </a:prstGeom>
          <a:noFill/>
        </p:spPr>
        <p:txBody>
          <a:bodyPr wrap="none" rtlCol="0">
            <a:spAutoFit/>
          </a:bodyPr>
          <a:lstStyle/>
          <a:p>
            <a:pPr algn="ctr"/>
            <a:r>
              <a:rPr lang="en-US" sz="1600" b="1" dirty="0" err="1">
                <a:latin typeface="+mn-lt"/>
              </a:rPr>
              <a:t>en</a:t>
            </a:r>
            <a:endParaRPr lang="en-US" sz="1600" b="1" dirty="0">
              <a:latin typeface="+mn-lt"/>
            </a:endParaRPr>
          </a:p>
        </p:txBody>
      </p:sp>
      <p:sp>
        <p:nvSpPr>
          <p:cNvPr id="46" name="TextBox 45">
            <a:extLst>
              <a:ext uri="{FF2B5EF4-FFF2-40B4-BE49-F238E27FC236}">
                <a16:creationId xmlns:a16="http://schemas.microsoft.com/office/drawing/2014/main" id="{D7A36D8B-72E8-4BA6-B9DC-25AAD5153E79}"/>
              </a:ext>
            </a:extLst>
          </p:cNvPr>
          <p:cNvSpPr txBox="1"/>
          <p:nvPr>
            <p:custDataLst>
              <p:tags r:id="rId6"/>
            </p:custDataLst>
          </p:nvPr>
        </p:nvSpPr>
        <p:spPr>
          <a:xfrm>
            <a:off x="7887596" y="1124341"/>
            <a:ext cx="314509" cy="338554"/>
          </a:xfrm>
          <a:prstGeom prst="rect">
            <a:avLst/>
          </a:prstGeom>
          <a:noFill/>
        </p:spPr>
        <p:txBody>
          <a:bodyPr wrap="none" rtlCol="0">
            <a:spAutoFit/>
          </a:bodyPr>
          <a:lstStyle/>
          <a:p>
            <a:pPr algn="ctr"/>
            <a:r>
              <a:rPr lang="en-US" sz="1600" b="1" dirty="0">
                <a:latin typeface="+mn-lt"/>
              </a:rPr>
              <a:t>D</a:t>
            </a:r>
          </a:p>
        </p:txBody>
      </p:sp>
      <p:sp>
        <p:nvSpPr>
          <p:cNvPr id="47" name="TextBox 46">
            <a:extLst>
              <a:ext uri="{FF2B5EF4-FFF2-40B4-BE49-F238E27FC236}">
                <a16:creationId xmlns:a16="http://schemas.microsoft.com/office/drawing/2014/main" id="{BEE2ABC0-FA32-4F71-B70F-B713DB068256}"/>
              </a:ext>
            </a:extLst>
          </p:cNvPr>
          <p:cNvSpPr txBox="1"/>
          <p:nvPr>
            <p:custDataLst>
              <p:tags r:id="rId7"/>
            </p:custDataLst>
          </p:nvPr>
        </p:nvSpPr>
        <p:spPr>
          <a:xfrm>
            <a:off x="7696200" y="1598418"/>
            <a:ext cx="325731" cy="338554"/>
          </a:xfrm>
          <a:prstGeom prst="rect">
            <a:avLst/>
          </a:prstGeom>
          <a:noFill/>
        </p:spPr>
        <p:txBody>
          <a:bodyPr wrap="none" rtlCol="0">
            <a:spAutoFit/>
          </a:bodyPr>
          <a:lstStyle/>
          <a:p>
            <a:pPr algn="ctr"/>
            <a:r>
              <a:rPr lang="en-US" sz="1600" b="1" dirty="0">
                <a:latin typeface="+mn-lt"/>
              </a:rPr>
              <a:t>Q</a:t>
            </a:r>
          </a:p>
        </p:txBody>
      </p:sp>
      <p:sp>
        <p:nvSpPr>
          <p:cNvPr id="48" name="TextBox 47">
            <a:extLst>
              <a:ext uri="{FF2B5EF4-FFF2-40B4-BE49-F238E27FC236}">
                <a16:creationId xmlns:a16="http://schemas.microsoft.com/office/drawing/2014/main" id="{0B8CAFD7-52B2-4F67-A661-36259662C529}"/>
              </a:ext>
            </a:extLst>
          </p:cNvPr>
          <p:cNvSpPr txBox="1"/>
          <p:nvPr>
            <p:custDataLst>
              <p:tags r:id="rId8"/>
            </p:custDataLst>
          </p:nvPr>
        </p:nvSpPr>
        <p:spPr>
          <a:xfrm>
            <a:off x="1167400" y="2766987"/>
            <a:ext cx="1322799" cy="338554"/>
          </a:xfrm>
          <a:prstGeom prst="rect">
            <a:avLst/>
          </a:prstGeom>
          <a:solidFill>
            <a:schemeClr val="bg1"/>
          </a:solidFill>
        </p:spPr>
        <p:txBody>
          <a:bodyPr wrap="none" rtlCol="0">
            <a:spAutoFit/>
          </a:bodyPr>
          <a:lstStyle/>
          <a:p>
            <a:pPr algn="ctr"/>
            <a:r>
              <a:rPr lang="en-US" sz="1600" b="1" dirty="0">
                <a:latin typeface="+mn-lt"/>
              </a:rPr>
              <a:t>write register</a:t>
            </a:r>
          </a:p>
        </p:txBody>
      </p:sp>
      <p:sp>
        <p:nvSpPr>
          <p:cNvPr id="49" name="TextBox 48">
            <a:extLst>
              <a:ext uri="{FF2B5EF4-FFF2-40B4-BE49-F238E27FC236}">
                <a16:creationId xmlns:a16="http://schemas.microsoft.com/office/drawing/2014/main" id="{5067729A-51D0-4826-8681-1A060DB2E034}"/>
              </a:ext>
            </a:extLst>
          </p:cNvPr>
          <p:cNvSpPr txBox="1"/>
          <p:nvPr>
            <p:custDataLst>
              <p:tags r:id="rId9"/>
            </p:custDataLst>
          </p:nvPr>
        </p:nvSpPr>
        <p:spPr>
          <a:xfrm>
            <a:off x="1066800" y="3923272"/>
            <a:ext cx="1412759" cy="338554"/>
          </a:xfrm>
          <a:prstGeom prst="rect">
            <a:avLst/>
          </a:prstGeom>
          <a:solidFill>
            <a:schemeClr val="bg1"/>
          </a:solidFill>
        </p:spPr>
        <p:txBody>
          <a:bodyPr wrap="none" rtlCol="0">
            <a:spAutoFit/>
          </a:bodyPr>
          <a:lstStyle/>
          <a:p>
            <a:pPr algn="ctr"/>
            <a:r>
              <a:rPr lang="en-US" sz="1600" b="1" dirty="0">
                <a:latin typeface="+mn-lt"/>
              </a:rPr>
              <a:t>read register 1</a:t>
            </a:r>
          </a:p>
        </p:txBody>
      </p:sp>
      <p:sp>
        <p:nvSpPr>
          <p:cNvPr id="50" name="TextBox 49">
            <a:extLst>
              <a:ext uri="{FF2B5EF4-FFF2-40B4-BE49-F238E27FC236}">
                <a16:creationId xmlns:a16="http://schemas.microsoft.com/office/drawing/2014/main" id="{1CDF8290-5A84-4CBD-B4B2-275D0CDBD404}"/>
              </a:ext>
            </a:extLst>
          </p:cNvPr>
          <p:cNvSpPr txBox="1"/>
          <p:nvPr>
            <p:custDataLst>
              <p:tags r:id="rId10"/>
            </p:custDataLst>
          </p:nvPr>
        </p:nvSpPr>
        <p:spPr>
          <a:xfrm>
            <a:off x="1066799" y="5052987"/>
            <a:ext cx="1412759" cy="338554"/>
          </a:xfrm>
          <a:prstGeom prst="rect">
            <a:avLst/>
          </a:prstGeom>
          <a:solidFill>
            <a:schemeClr val="bg1"/>
          </a:solidFill>
        </p:spPr>
        <p:txBody>
          <a:bodyPr wrap="none" rtlCol="0">
            <a:spAutoFit/>
          </a:bodyPr>
          <a:lstStyle/>
          <a:p>
            <a:pPr algn="ctr"/>
            <a:r>
              <a:rPr lang="en-US" sz="1600" b="1" dirty="0">
                <a:latin typeface="+mn-lt"/>
              </a:rPr>
              <a:t>read register 2</a:t>
            </a:r>
          </a:p>
        </p:txBody>
      </p:sp>
      <p:sp>
        <p:nvSpPr>
          <p:cNvPr id="51" name="TextBox 50">
            <a:extLst>
              <a:ext uri="{FF2B5EF4-FFF2-40B4-BE49-F238E27FC236}">
                <a16:creationId xmlns:a16="http://schemas.microsoft.com/office/drawing/2014/main" id="{B5DF52EE-9414-46E7-A826-CED6721234E4}"/>
              </a:ext>
            </a:extLst>
          </p:cNvPr>
          <p:cNvSpPr txBox="1"/>
          <p:nvPr>
            <p:custDataLst>
              <p:tags r:id="rId11"/>
            </p:custDataLst>
          </p:nvPr>
        </p:nvSpPr>
        <p:spPr>
          <a:xfrm>
            <a:off x="5867400" y="2311601"/>
            <a:ext cx="1447800" cy="584775"/>
          </a:xfrm>
          <a:prstGeom prst="rect">
            <a:avLst/>
          </a:prstGeom>
          <a:solidFill>
            <a:schemeClr val="bg1"/>
          </a:solidFill>
        </p:spPr>
        <p:txBody>
          <a:bodyPr wrap="square" rtlCol="0">
            <a:spAutoFit/>
          </a:bodyPr>
          <a:lstStyle/>
          <a:p>
            <a:pPr algn="ctr"/>
            <a:r>
              <a:rPr lang="en-US" sz="1600" b="1" dirty="0">
                <a:latin typeface="+mn-lt"/>
              </a:rPr>
              <a:t>write data</a:t>
            </a:r>
          </a:p>
          <a:p>
            <a:pPr algn="ctr"/>
            <a:r>
              <a:rPr lang="en-US" sz="1600" b="1" dirty="0" err="1">
                <a:latin typeface="+mn-lt"/>
              </a:rPr>
              <a:t>bitline</a:t>
            </a:r>
            <a:endParaRPr lang="en-US" sz="1600" b="1" dirty="0">
              <a:latin typeface="+mn-lt"/>
            </a:endParaRPr>
          </a:p>
        </p:txBody>
      </p:sp>
      <p:sp>
        <p:nvSpPr>
          <p:cNvPr id="52" name="TextBox 51">
            <a:extLst>
              <a:ext uri="{FF2B5EF4-FFF2-40B4-BE49-F238E27FC236}">
                <a16:creationId xmlns:a16="http://schemas.microsoft.com/office/drawing/2014/main" id="{693D0C7E-EA4E-4FF9-84A0-2F8CCA364AAF}"/>
              </a:ext>
            </a:extLst>
          </p:cNvPr>
          <p:cNvSpPr txBox="1"/>
          <p:nvPr>
            <p:custDataLst>
              <p:tags r:id="rId12"/>
            </p:custDataLst>
          </p:nvPr>
        </p:nvSpPr>
        <p:spPr>
          <a:xfrm>
            <a:off x="5365220" y="6175778"/>
            <a:ext cx="1146661" cy="584775"/>
          </a:xfrm>
          <a:prstGeom prst="rect">
            <a:avLst/>
          </a:prstGeom>
          <a:solidFill>
            <a:schemeClr val="bg1"/>
          </a:solidFill>
        </p:spPr>
        <p:txBody>
          <a:bodyPr wrap="none" rtlCol="0">
            <a:spAutoFit/>
          </a:bodyPr>
          <a:lstStyle/>
          <a:p>
            <a:pPr algn="ctr"/>
            <a:r>
              <a:rPr lang="en-US" sz="1600" b="1" dirty="0">
                <a:latin typeface="+mn-lt"/>
              </a:rPr>
              <a:t>read data 1</a:t>
            </a:r>
          </a:p>
          <a:p>
            <a:pPr algn="ctr"/>
            <a:r>
              <a:rPr lang="en-US" sz="1600" b="1" dirty="0" err="1">
                <a:latin typeface="+mn-lt"/>
              </a:rPr>
              <a:t>bitline</a:t>
            </a:r>
            <a:endParaRPr lang="en-US" sz="1600" b="1" dirty="0">
              <a:latin typeface="+mn-lt"/>
            </a:endParaRPr>
          </a:p>
        </p:txBody>
      </p:sp>
      <p:sp>
        <p:nvSpPr>
          <p:cNvPr id="53" name="TextBox 52">
            <a:extLst>
              <a:ext uri="{FF2B5EF4-FFF2-40B4-BE49-F238E27FC236}">
                <a16:creationId xmlns:a16="http://schemas.microsoft.com/office/drawing/2014/main" id="{3A41BF84-994C-4BDD-8EB7-11399CA7147D}"/>
              </a:ext>
            </a:extLst>
          </p:cNvPr>
          <p:cNvSpPr txBox="1"/>
          <p:nvPr>
            <p:custDataLst>
              <p:tags r:id="rId13"/>
            </p:custDataLst>
          </p:nvPr>
        </p:nvSpPr>
        <p:spPr>
          <a:xfrm>
            <a:off x="6492205" y="6172200"/>
            <a:ext cx="1146661" cy="584775"/>
          </a:xfrm>
          <a:prstGeom prst="rect">
            <a:avLst/>
          </a:prstGeom>
          <a:solidFill>
            <a:schemeClr val="bg1"/>
          </a:solidFill>
        </p:spPr>
        <p:txBody>
          <a:bodyPr wrap="none" rtlCol="0">
            <a:spAutoFit/>
          </a:bodyPr>
          <a:lstStyle/>
          <a:p>
            <a:pPr algn="ctr"/>
            <a:r>
              <a:rPr lang="en-US" sz="1600" b="1" dirty="0">
                <a:latin typeface="+mn-lt"/>
              </a:rPr>
              <a:t>read data 2</a:t>
            </a:r>
          </a:p>
          <a:p>
            <a:pPr algn="ctr"/>
            <a:r>
              <a:rPr lang="en-US" sz="1600" b="1" dirty="0" err="1">
                <a:latin typeface="+mn-lt"/>
              </a:rPr>
              <a:t>bitline</a:t>
            </a:r>
            <a:endParaRPr lang="en-US" sz="1600" b="1" dirty="0">
              <a:latin typeface="+mn-lt"/>
            </a:endParaRPr>
          </a:p>
        </p:txBody>
      </p:sp>
      <p:sp>
        <p:nvSpPr>
          <p:cNvPr id="54" name="TextBox 53">
            <a:extLst>
              <a:ext uri="{FF2B5EF4-FFF2-40B4-BE49-F238E27FC236}">
                <a16:creationId xmlns:a16="http://schemas.microsoft.com/office/drawing/2014/main" id="{8BBD9547-F5A9-4B2E-BBEA-68FC518A6EB3}"/>
              </a:ext>
            </a:extLst>
          </p:cNvPr>
          <p:cNvSpPr txBox="1"/>
          <p:nvPr>
            <p:custDataLst>
              <p:tags r:id="rId14"/>
            </p:custDataLst>
          </p:nvPr>
        </p:nvSpPr>
        <p:spPr>
          <a:xfrm>
            <a:off x="2895601" y="2559238"/>
            <a:ext cx="838200" cy="1079703"/>
          </a:xfrm>
          <a:prstGeom prst="rect">
            <a:avLst/>
          </a:prstGeom>
          <a:solidFill>
            <a:schemeClr val="bg1"/>
          </a:solidFill>
          <a:ln>
            <a:solidFill>
              <a:schemeClr val="tx1"/>
            </a:solidFill>
          </a:ln>
        </p:spPr>
        <p:txBody>
          <a:bodyPr wrap="square" rtlCol="0" anchor="ctr">
            <a:noAutofit/>
          </a:bodyPr>
          <a:lstStyle/>
          <a:p>
            <a:pPr algn="ctr"/>
            <a:r>
              <a:rPr lang="en-US" sz="1400" b="1" dirty="0">
                <a:latin typeface="+mn-lt"/>
              </a:rPr>
              <a:t>one-hot</a:t>
            </a:r>
          </a:p>
          <a:p>
            <a:pPr algn="ctr"/>
            <a:r>
              <a:rPr lang="en-US" sz="1400" b="1" dirty="0">
                <a:latin typeface="+mn-lt"/>
              </a:rPr>
              <a:t>decoder</a:t>
            </a:r>
          </a:p>
        </p:txBody>
      </p:sp>
      <p:sp>
        <p:nvSpPr>
          <p:cNvPr id="55" name="TextBox 54">
            <a:extLst>
              <a:ext uri="{FF2B5EF4-FFF2-40B4-BE49-F238E27FC236}">
                <a16:creationId xmlns:a16="http://schemas.microsoft.com/office/drawing/2014/main" id="{C309D2F4-DE25-4C7F-BC45-6CDF7A954559}"/>
              </a:ext>
            </a:extLst>
          </p:cNvPr>
          <p:cNvSpPr txBox="1"/>
          <p:nvPr>
            <p:custDataLst>
              <p:tags r:id="rId15"/>
            </p:custDataLst>
          </p:nvPr>
        </p:nvSpPr>
        <p:spPr>
          <a:xfrm>
            <a:off x="2895601" y="3721974"/>
            <a:ext cx="838200" cy="1079703"/>
          </a:xfrm>
          <a:prstGeom prst="rect">
            <a:avLst/>
          </a:prstGeom>
          <a:solidFill>
            <a:schemeClr val="bg1"/>
          </a:solidFill>
          <a:ln>
            <a:solidFill>
              <a:schemeClr val="tx1"/>
            </a:solidFill>
          </a:ln>
        </p:spPr>
        <p:txBody>
          <a:bodyPr wrap="square" rtlCol="0" anchor="ctr">
            <a:noAutofit/>
          </a:bodyPr>
          <a:lstStyle/>
          <a:p>
            <a:pPr algn="ctr"/>
            <a:r>
              <a:rPr lang="en-US" sz="1400" b="1" dirty="0">
                <a:latin typeface="+mn-lt"/>
              </a:rPr>
              <a:t>one-hot</a:t>
            </a:r>
          </a:p>
          <a:p>
            <a:pPr algn="ctr"/>
            <a:r>
              <a:rPr lang="en-US" sz="1400" b="1" dirty="0">
                <a:latin typeface="+mn-lt"/>
              </a:rPr>
              <a:t>decoder</a:t>
            </a:r>
          </a:p>
        </p:txBody>
      </p:sp>
      <p:sp>
        <p:nvSpPr>
          <p:cNvPr id="56" name="TextBox 55">
            <a:extLst>
              <a:ext uri="{FF2B5EF4-FFF2-40B4-BE49-F238E27FC236}">
                <a16:creationId xmlns:a16="http://schemas.microsoft.com/office/drawing/2014/main" id="{7427C1DB-7165-48D8-8F50-D0E87F0EE80B}"/>
              </a:ext>
            </a:extLst>
          </p:cNvPr>
          <p:cNvSpPr txBox="1"/>
          <p:nvPr>
            <p:custDataLst>
              <p:tags r:id="rId16"/>
            </p:custDataLst>
          </p:nvPr>
        </p:nvSpPr>
        <p:spPr>
          <a:xfrm>
            <a:off x="2895601" y="4885867"/>
            <a:ext cx="838200" cy="1079703"/>
          </a:xfrm>
          <a:prstGeom prst="rect">
            <a:avLst/>
          </a:prstGeom>
          <a:solidFill>
            <a:schemeClr val="bg1"/>
          </a:solidFill>
          <a:ln>
            <a:solidFill>
              <a:schemeClr val="tx1"/>
            </a:solidFill>
          </a:ln>
        </p:spPr>
        <p:txBody>
          <a:bodyPr wrap="square" rtlCol="0" anchor="ctr">
            <a:noAutofit/>
          </a:bodyPr>
          <a:lstStyle/>
          <a:p>
            <a:pPr algn="ctr"/>
            <a:r>
              <a:rPr lang="en-US" sz="1400" b="1" dirty="0">
                <a:latin typeface="+mn-lt"/>
              </a:rPr>
              <a:t>one-hot</a:t>
            </a:r>
          </a:p>
          <a:p>
            <a:pPr algn="ctr"/>
            <a:r>
              <a:rPr lang="en-US" sz="1400" b="1" dirty="0">
                <a:latin typeface="+mn-lt"/>
              </a:rPr>
              <a:t>decoder</a:t>
            </a:r>
          </a:p>
        </p:txBody>
      </p:sp>
      <p:sp>
        <p:nvSpPr>
          <p:cNvPr id="57" name="TextBox 56">
            <a:extLst>
              <a:ext uri="{FF2B5EF4-FFF2-40B4-BE49-F238E27FC236}">
                <a16:creationId xmlns:a16="http://schemas.microsoft.com/office/drawing/2014/main" id="{7879F4B2-AD14-4144-B2E2-17107BBA0E1A}"/>
              </a:ext>
            </a:extLst>
          </p:cNvPr>
          <p:cNvSpPr txBox="1"/>
          <p:nvPr>
            <p:custDataLst>
              <p:tags r:id="rId17"/>
            </p:custDataLst>
          </p:nvPr>
        </p:nvSpPr>
        <p:spPr>
          <a:xfrm>
            <a:off x="4572000" y="4214787"/>
            <a:ext cx="503664" cy="338554"/>
          </a:xfrm>
          <a:prstGeom prst="rect">
            <a:avLst/>
          </a:prstGeom>
          <a:solidFill>
            <a:schemeClr val="bg1"/>
          </a:solidFill>
        </p:spPr>
        <p:txBody>
          <a:bodyPr wrap="none" rtlCol="0">
            <a:spAutoFit/>
          </a:bodyPr>
          <a:lstStyle/>
          <a:p>
            <a:pPr algn="ctr"/>
            <a:r>
              <a:rPr lang="en-US" sz="1600" b="1" dirty="0">
                <a:latin typeface="+mn-lt"/>
              </a:rPr>
              <a:t>DFF</a:t>
            </a:r>
          </a:p>
        </p:txBody>
      </p:sp>
      <p:sp>
        <p:nvSpPr>
          <p:cNvPr id="58" name="TextBox 57">
            <a:extLst>
              <a:ext uri="{FF2B5EF4-FFF2-40B4-BE49-F238E27FC236}">
                <a16:creationId xmlns:a16="http://schemas.microsoft.com/office/drawing/2014/main" id="{F878466F-E6E0-47AE-BBAB-FEE03203291F}"/>
              </a:ext>
            </a:extLst>
          </p:cNvPr>
          <p:cNvSpPr txBox="1"/>
          <p:nvPr>
            <p:custDataLst>
              <p:tags r:id="rId18"/>
            </p:custDataLst>
          </p:nvPr>
        </p:nvSpPr>
        <p:spPr>
          <a:xfrm>
            <a:off x="6248400" y="4214787"/>
            <a:ext cx="503664" cy="338554"/>
          </a:xfrm>
          <a:prstGeom prst="rect">
            <a:avLst/>
          </a:prstGeom>
          <a:solidFill>
            <a:schemeClr val="bg1"/>
          </a:solidFill>
        </p:spPr>
        <p:txBody>
          <a:bodyPr wrap="none" rtlCol="0">
            <a:spAutoFit/>
          </a:bodyPr>
          <a:lstStyle/>
          <a:p>
            <a:pPr algn="ctr"/>
            <a:r>
              <a:rPr lang="en-US" sz="1600" b="1" dirty="0">
                <a:latin typeface="+mn-lt"/>
              </a:rPr>
              <a:t>DFF</a:t>
            </a:r>
          </a:p>
        </p:txBody>
      </p:sp>
      <p:sp>
        <p:nvSpPr>
          <p:cNvPr id="59" name="TextBox 58">
            <a:extLst>
              <a:ext uri="{FF2B5EF4-FFF2-40B4-BE49-F238E27FC236}">
                <a16:creationId xmlns:a16="http://schemas.microsoft.com/office/drawing/2014/main" id="{A8C41B17-9626-4917-B4C6-FB5D433CFA8C}"/>
              </a:ext>
            </a:extLst>
          </p:cNvPr>
          <p:cNvSpPr txBox="1"/>
          <p:nvPr>
            <p:custDataLst>
              <p:tags r:id="rId19"/>
            </p:custDataLst>
          </p:nvPr>
        </p:nvSpPr>
        <p:spPr>
          <a:xfrm>
            <a:off x="7908985" y="4214787"/>
            <a:ext cx="503664" cy="338554"/>
          </a:xfrm>
          <a:prstGeom prst="rect">
            <a:avLst/>
          </a:prstGeom>
          <a:solidFill>
            <a:schemeClr val="bg1"/>
          </a:solidFill>
        </p:spPr>
        <p:txBody>
          <a:bodyPr wrap="none" rtlCol="0">
            <a:spAutoFit/>
          </a:bodyPr>
          <a:lstStyle/>
          <a:p>
            <a:pPr algn="ctr"/>
            <a:r>
              <a:rPr lang="en-US" sz="1600" b="1" dirty="0">
                <a:latin typeface="+mn-lt"/>
              </a:rPr>
              <a:t>DFF</a:t>
            </a:r>
          </a:p>
        </p:txBody>
      </p:sp>
      <p:sp>
        <p:nvSpPr>
          <p:cNvPr id="60" name="Rectangle 3">
            <a:extLst>
              <a:ext uri="{FF2B5EF4-FFF2-40B4-BE49-F238E27FC236}">
                <a16:creationId xmlns:a16="http://schemas.microsoft.com/office/drawing/2014/main" id="{A34A35A1-59C2-454A-806E-C62F507C308B}"/>
              </a:ext>
            </a:extLst>
          </p:cNvPr>
          <p:cNvSpPr>
            <a:spLocks noGrp="1" noChangeArrowheads="1"/>
          </p:cNvSpPr>
          <p:nvPr>
            <p:ph idx="1"/>
            <p:custDataLst>
              <p:tags r:id="rId20"/>
            </p:custDataLst>
          </p:nvPr>
        </p:nvSpPr>
        <p:spPr>
          <a:xfrm>
            <a:off x="457200" y="1600200"/>
            <a:ext cx="8229600" cy="4525963"/>
          </a:xfrm>
        </p:spPr>
        <p:txBody>
          <a:bodyPr/>
          <a:lstStyle/>
          <a:p>
            <a:pPr eaLnBrk="1" hangingPunct="1"/>
            <a:r>
              <a:rPr lang="en-US" altLang="en-US" sz="2800" dirty="0"/>
              <a:t>2 read ports, 1 write port</a:t>
            </a:r>
            <a:endParaRPr lang="en-US" altLang="en-US" sz="2400" dirty="0"/>
          </a:p>
        </p:txBody>
      </p:sp>
      <p:sp>
        <p:nvSpPr>
          <p:cNvPr id="61" name="TextBox 60">
            <a:extLst>
              <a:ext uri="{FF2B5EF4-FFF2-40B4-BE49-F238E27FC236}">
                <a16:creationId xmlns:a16="http://schemas.microsoft.com/office/drawing/2014/main" id="{93EF4C33-BB11-4F6A-9FA2-C56580D4101B}"/>
              </a:ext>
            </a:extLst>
          </p:cNvPr>
          <p:cNvSpPr txBox="1"/>
          <p:nvPr>
            <p:custDataLst>
              <p:tags r:id="rId21"/>
            </p:custDataLst>
          </p:nvPr>
        </p:nvSpPr>
        <p:spPr>
          <a:xfrm>
            <a:off x="7027362" y="2160979"/>
            <a:ext cx="362600" cy="338554"/>
          </a:xfrm>
          <a:prstGeom prst="rect">
            <a:avLst/>
          </a:prstGeom>
          <a:noFill/>
        </p:spPr>
        <p:txBody>
          <a:bodyPr wrap="none" rtlCol="0">
            <a:spAutoFit/>
          </a:bodyPr>
          <a:lstStyle/>
          <a:p>
            <a:pPr algn="ctr"/>
            <a:r>
              <a:rPr lang="en-US" sz="1600" b="1" dirty="0">
                <a:latin typeface="+mn-lt"/>
              </a:rPr>
              <a:t>r1</a:t>
            </a:r>
          </a:p>
        </p:txBody>
      </p:sp>
      <p:sp>
        <p:nvSpPr>
          <p:cNvPr id="62" name="TextBox 61">
            <a:extLst>
              <a:ext uri="{FF2B5EF4-FFF2-40B4-BE49-F238E27FC236}">
                <a16:creationId xmlns:a16="http://schemas.microsoft.com/office/drawing/2014/main" id="{8E5A43CC-0FFB-41E3-8513-C122B0424637}"/>
              </a:ext>
            </a:extLst>
          </p:cNvPr>
          <p:cNvSpPr txBox="1"/>
          <p:nvPr>
            <p:custDataLst>
              <p:tags r:id="rId22"/>
            </p:custDataLst>
          </p:nvPr>
        </p:nvSpPr>
        <p:spPr>
          <a:xfrm>
            <a:off x="7027362" y="2462187"/>
            <a:ext cx="362600" cy="338554"/>
          </a:xfrm>
          <a:prstGeom prst="rect">
            <a:avLst/>
          </a:prstGeom>
          <a:noFill/>
        </p:spPr>
        <p:txBody>
          <a:bodyPr wrap="none" rtlCol="0">
            <a:spAutoFit/>
          </a:bodyPr>
          <a:lstStyle/>
          <a:p>
            <a:pPr algn="ctr"/>
            <a:r>
              <a:rPr lang="en-US" sz="1600" b="1" dirty="0">
                <a:latin typeface="+mn-lt"/>
              </a:rPr>
              <a:t>r2</a:t>
            </a:r>
          </a:p>
        </p:txBody>
      </p:sp>
      <p:sp>
        <p:nvSpPr>
          <p:cNvPr id="63" name="TextBox 62">
            <a:extLst>
              <a:ext uri="{FF2B5EF4-FFF2-40B4-BE49-F238E27FC236}">
                <a16:creationId xmlns:a16="http://schemas.microsoft.com/office/drawing/2014/main" id="{8E41142B-66F4-4DAC-921D-0EA289C4F93C}"/>
              </a:ext>
            </a:extLst>
          </p:cNvPr>
          <p:cNvSpPr txBox="1"/>
          <p:nvPr>
            <p:custDataLst>
              <p:tags r:id="rId23"/>
            </p:custDataLst>
          </p:nvPr>
        </p:nvSpPr>
        <p:spPr>
          <a:xfrm>
            <a:off x="4636144" y="3807581"/>
            <a:ext cx="393056" cy="338554"/>
          </a:xfrm>
          <a:prstGeom prst="rect">
            <a:avLst/>
          </a:prstGeom>
          <a:solidFill>
            <a:schemeClr val="bg1"/>
          </a:solidFill>
        </p:spPr>
        <p:txBody>
          <a:bodyPr wrap="none" rtlCol="0">
            <a:spAutoFit/>
          </a:bodyPr>
          <a:lstStyle/>
          <a:p>
            <a:pPr algn="ctr"/>
            <a:r>
              <a:rPr lang="en-US" sz="1600" b="1" dirty="0">
                <a:latin typeface="+mn-lt"/>
              </a:rPr>
              <a:t>31</a:t>
            </a:r>
          </a:p>
        </p:txBody>
      </p:sp>
      <p:sp>
        <p:nvSpPr>
          <p:cNvPr id="64" name="TextBox 63">
            <a:extLst>
              <a:ext uri="{FF2B5EF4-FFF2-40B4-BE49-F238E27FC236}">
                <a16:creationId xmlns:a16="http://schemas.microsoft.com/office/drawing/2014/main" id="{61EAB025-DE48-42A2-8554-D6271F3D097F}"/>
              </a:ext>
            </a:extLst>
          </p:cNvPr>
          <p:cNvSpPr txBox="1"/>
          <p:nvPr>
            <p:custDataLst>
              <p:tags r:id="rId24"/>
            </p:custDataLst>
          </p:nvPr>
        </p:nvSpPr>
        <p:spPr>
          <a:xfrm>
            <a:off x="8548387" y="4214787"/>
            <a:ext cx="393056" cy="338554"/>
          </a:xfrm>
          <a:prstGeom prst="rect">
            <a:avLst/>
          </a:prstGeom>
          <a:solidFill>
            <a:schemeClr val="bg1"/>
          </a:solidFill>
        </p:spPr>
        <p:txBody>
          <a:bodyPr wrap="none" rtlCol="0">
            <a:spAutoFit/>
          </a:bodyPr>
          <a:lstStyle/>
          <a:p>
            <a:pPr algn="ctr"/>
            <a:r>
              <a:rPr lang="en-US" sz="1600" b="1" dirty="0">
                <a:latin typeface="+mn-lt"/>
              </a:rPr>
              <a:t>31</a:t>
            </a:r>
          </a:p>
        </p:txBody>
      </p:sp>
      <p:sp>
        <p:nvSpPr>
          <p:cNvPr id="65" name="TextBox 64">
            <a:extLst>
              <a:ext uri="{FF2B5EF4-FFF2-40B4-BE49-F238E27FC236}">
                <a16:creationId xmlns:a16="http://schemas.microsoft.com/office/drawing/2014/main" id="{91C527E6-8F92-4055-B3E8-6E9AF7E5E3B7}"/>
              </a:ext>
            </a:extLst>
          </p:cNvPr>
          <p:cNvSpPr txBox="1"/>
          <p:nvPr>
            <p:custDataLst>
              <p:tags r:id="rId25"/>
            </p:custDataLst>
          </p:nvPr>
        </p:nvSpPr>
        <p:spPr>
          <a:xfrm>
            <a:off x="8042121" y="3798994"/>
            <a:ext cx="288861" cy="338554"/>
          </a:xfrm>
          <a:prstGeom prst="rect">
            <a:avLst/>
          </a:prstGeom>
          <a:solidFill>
            <a:schemeClr val="bg1"/>
          </a:solidFill>
        </p:spPr>
        <p:txBody>
          <a:bodyPr wrap="none" rtlCol="0">
            <a:spAutoFit/>
          </a:bodyPr>
          <a:lstStyle/>
          <a:p>
            <a:pPr algn="ctr"/>
            <a:r>
              <a:rPr lang="en-US" sz="1600" b="1" dirty="0">
                <a:latin typeface="+mn-lt"/>
              </a:rPr>
              <a:t>0</a:t>
            </a:r>
          </a:p>
        </p:txBody>
      </p:sp>
      <p:sp>
        <p:nvSpPr>
          <p:cNvPr id="66" name="TextBox 65">
            <a:extLst>
              <a:ext uri="{FF2B5EF4-FFF2-40B4-BE49-F238E27FC236}">
                <a16:creationId xmlns:a16="http://schemas.microsoft.com/office/drawing/2014/main" id="{027F359E-A0EC-4BF3-8C74-FC678E896460}"/>
              </a:ext>
            </a:extLst>
          </p:cNvPr>
          <p:cNvSpPr txBox="1"/>
          <p:nvPr>
            <p:custDataLst>
              <p:tags r:id="rId26"/>
            </p:custDataLst>
          </p:nvPr>
        </p:nvSpPr>
        <p:spPr>
          <a:xfrm>
            <a:off x="8618569" y="5547506"/>
            <a:ext cx="288861" cy="338554"/>
          </a:xfrm>
          <a:prstGeom prst="rect">
            <a:avLst/>
          </a:prstGeom>
          <a:solidFill>
            <a:schemeClr val="bg1"/>
          </a:solidFill>
        </p:spPr>
        <p:txBody>
          <a:bodyPr wrap="none" rtlCol="0">
            <a:spAutoFit/>
          </a:bodyPr>
          <a:lstStyle/>
          <a:p>
            <a:pPr algn="ctr"/>
            <a:r>
              <a:rPr lang="en-US" sz="1600" b="1" dirty="0">
                <a:latin typeface="+mn-lt"/>
              </a:rPr>
              <a:t>0</a:t>
            </a:r>
          </a:p>
        </p:txBody>
      </p:sp>
      <p:sp>
        <p:nvSpPr>
          <p:cNvPr id="67" name="TextBox 66">
            <a:extLst>
              <a:ext uri="{FF2B5EF4-FFF2-40B4-BE49-F238E27FC236}">
                <a16:creationId xmlns:a16="http://schemas.microsoft.com/office/drawing/2014/main" id="{4D344AA4-85C6-4902-81FA-685221D8C7E7}"/>
              </a:ext>
            </a:extLst>
          </p:cNvPr>
          <p:cNvSpPr txBox="1"/>
          <p:nvPr>
            <p:custDataLst>
              <p:tags r:id="rId27"/>
            </p:custDataLst>
          </p:nvPr>
        </p:nvSpPr>
        <p:spPr>
          <a:xfrm>
            <a:off x="2333998" y="3167390"/>
            <a:ext cx="256802" cy="261610"/>
          </a:xfrm>
          <a:prstGeom prst="rect">
            <a:avLst/>
          </a:prstGeom>
          <a:solidFill>
            <a:schemeClr val="bg1"/>
          </a:solidFill>
        </p:spPr>
        <p:txBody>
          <a:bodyPr wrap="none" rtlCol="0">
            <a:spAutoFit/>
          </a:bodyPr>
          <a:lstStyle/>
          <a:p>
            <a:pPr algn="ctr"/>
            <a:r>
              <a:rPr lang="en-US" sz="1100" b="1" dirty="0">
                <a:latin typeface="+mn-lt"/>
              </a:rPr>
              <a:t>5</a:t>
            </a:r>
          </a:p>
        </p:txBody>
      </p:sp>
      <p:sp>
        <p:nvSpPr>
          <p:cNvPr id="68" name="TextBox 67">
            <a:extLst>
              <a:ext uri="{FF2B5EF4-FFF2-40B4-BE49-F238E27FC236}">
                <a16:creationId xmlns:a16="http://schemas.microsoft.com/office/drawing/2014/main" id="{3B24D467-A5C7-46F7-AC10-0835917EA21F}"/>
              </a:ext>
            </a:extLst>
          </p:cNvPr>
          <p:cNvSpPr txBox="1"/>
          <p:nvPr>
            <p:custDataLst>
              <p:tags r:id="rId28"/>
            </p:custDataLst>
          </p:nvPr>
        </p:nvSpPr>
        <p:spPr>
          <a:xfrm>
            <a:off x="2333998" y="4310390"/>
            <a:ext cx="256802" cy="261610"/>
          </a:xfrm>
          <a:prstGeom prst="rect">
            <a:avLst/>
          </a:prstGeom>
          <a:solidFill>
            <a:schemeClr val="bg1"/>
          </a:solidFill>
        </p:spPr>
        <p:txBody>
          <a:bodyPr wrap="none" rtlCol="0">
            <a:spAutoFit/>
          </a:bodyPr>
          <a:lstStyle/>
          <a:p>
            <a:pPr algn="ctr"/>
            <a:r>
              <a:rPr lang="en-US" sz="1100" b="1" dirty="0">
                <a:latin typeface="+mn-lt"/>
              </a:rPr>
              <a:t>5</a:t>
            </a:r>
          </a:p>
        </p:txBody>
      </p:sp>
      <p:sp>
        <p:nvSpPr>
          <p:cNvPr id="69" name="TextBox 68">
            <a:extLst>
              <a:ext uri="{FF2B5EF4-FFF2-40B4-BE49-F238E27FC236}">
                <a16:creationId xmlns:a16="http://schemas.microsoft.com/office/drawing/2014/main" id="{D2423FA2-83B9-4C4B-8E06-56A211AAC4F0}"/>
              </a:ext>
            </a:extLst>
          </p:cNvPr>
          <p:cNvSpPr txBox="1"/>
          <p:nvPr>
            <p:custDataLst>
              <p:tags r:id="rId29"/>
            </p:custDataLst>
          </p:nvPr>
        </p:nvSpPr>
        <p:spPr>
          <a:xfrm>
            <a:off x="2333998" y="5453390"/>
            <a:ext cx="256802" cy="261610"/>
          </a:xfrm>
          <a:prstGeom prst="rect">
            <a:avLst/>
          </a:prstGeom>
          <a:solidFill>
            <a:schemeClr val="bg1"/>
          </a:solidFill>
        </p:spPr>
        <p:txBody>
          <a:bodyPr wrap="none" rtlCol="0">
            <a:spAutoFit/>
          </a:bodyPr>
          <a:lstStyle/>
          <a:p>
            <a:pPr algn="ctr"/>
            <a:r>
              <a:rPr lang="en-US" sz="1100" b="1" dirty="0">
                <a:latin typeface="+mn-lt"/>
              </a:rPr>
              <a:t>5</a:t>
            </a:r>
          </a:p>
        </p:txBody>
      </p:sp>
      <p:sp>
        <p:nvSpPr>
          <p:cNvPr id="70" name="TextBox 69">
            <a:extLst>
              <a:ext uri="{FF2B5EF4-FFF2-40B4-BE49-F238E27FC236}">
                <a16:creationId xmlns:a16="http://schemas.microsoft.com/office/drawing/2014/main" id="{C9B7880F-A9EE-47D9-AA5F-02E0A4BE150A}"/>
              </a:ext>
            </a:extLst>
          </p:cNvPr>
          <p:cNvSpPr txBox="1"/>
          <p:nvPr>
            <p:custDataLst>
              <p:tags r:id="rId30"/>
            </p:custDataLst>
          </p:nvPr>
        </p:nvSpPr>
        <p:spPr>
          <a:xfrm>
            <a:off x="3657600" y="4004846"/>
            <a:ext cx="940257" cy="338554"/>
          </a:xfrm>
          <a:prstGeom prst="rect">
            <a:avLst/>
          </a:prstGeom>
          <a:noFill/>
        </p:spPr>
        <p:txBody>
          <a:bodyPr wrap="none" rtlCol="0">
            <a:spAutoFit/>
          </a:bodyPr>
          <a:lstStyle/>
          <a:p>
            <a:pPr algn="ctr"/>
            <a:r>
              <a:rPr lang="en-US" sz="1600" b="1" dirty="0" err="1">
                <a:latin typeface="+mn-lt"/>
              </a:rPr>
              <a:t>wordline</a:t>
            </a:r>
            <a:endParaRPr lang="en-US" sz="1600" b="1" dirty="0">
              <a:latin typeface="+mn-lt"/>
            </a:endParaRPr>
          </a:p>
        </p:txBody>
      </p:sp>
      <p:sp>
        <p:nvSpPr>
          <p:cNvPr id="8195" name="Rectangle 2">
            <a:extLst>
              <a:ext uri="{FF2B5EF4-FFF2-40B4-BE49-F238E27FC236}">
                <a16:creationId xmlns:a16="http://schemas.microsoft.com/office/drawing/2014/main" id="{FE1EBFE1-5A4C-40BF-A3D2-84C90BC7604C}"/>
              </a:ext>
            </a:extLst>
          </p:cNvPr>
          <p:cNvSpPr>
            <a:spLocks noGrp="1" noChangeArrowheads="1"/>
          </p:cNvSpPr>
          <p:nvPr>
            <p:ph type="title"/>
            <p:custDataLst>
              <p:tags r:id="rId31"/>
            </p:custDataLst>
          </p:nvPr>
        </p:nvSpPr>
        <p:spPr>
          <a:xfrm>
            <a:off x="457200" y="274638"/>
            <a:ext cx="7467600" cy="1143000"/>
          </a:xfrm>
        </p:spPr>
        <p:txBody>
          <a:bodyPr/>
          <a:lstStyle/>
          <a:p>
            <a:pPr eaLnBrk="1" hangingPunct="1"/>
            <a:r>
              <a:rPr lang="en-US" altLang="en-US" dirty="0"/>
              <a:t>Technology – Registers</a:t>
            </a:r>
          </a:p>
        </p:txBody>
      </p:sp>
      <p:sp>
        <p:nvSpPr>
          <p:cNvPr id="3" name="TextBox 2">
            <a:extLst>
              <a:ext uri="{FF2B5EF4-FFF2-40B4-BE49-F238E27FC236}">
                <a16:creationId xmlns:a16="http://schemas.microsoft.com/office/drawing/2014/main" id="{0664BE14-3D54-31DC-E193-A8221D974E13}"/>
              </a:ext>
            </a:extLst>
          </p:cNvPr>
          <p:cNvSpPr txBox="1"/>
          <p:nvPr/>
        </p:nvSpPr>
        <p:spPr>
          <a:xfrm>
            <a:off x="369839" y="1190145"/>
            <a:ext cx="7136757" cy="677108"/>
          </a:xfrm>
          <a:prstGeom prst="rect">
            <a:avLst/>
          </a:prstGeom>
          <a:noFill/>
        </p:spPr>
        <p:txBody>
          <a:bodyPr wrap="square" rtlCol="0">
            <a:spAutoFit/>
          </a:bodyPr>
          <a:lstStyle/>
          <a:p>
            <a:r>
              <a:rPr lang="en-IN" sz="1400" kern="100" dirty="0">
                <a:effectLst/>
                <a:latin typeface="Calibri" panose="020F0502020204030204" pitchFamily="34" charset="0"/>
                <a:ea typeface="Calibri" panose="020F0502020204030204" pitchFamily="34" charset="0"/>
                <a:cs typeface="Times New Roman" panose="02020603050405020304" pitchFamily="18" charset="0"/>
              </a:rPr>
              <a:t>Register files has two read ports and one write port and has 32 registers that are each 32 bits wide</a:t>
            </a:r>
            <a:r>
              <a:rPr lang="en-IN" sz="10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Tree>
    <p:custDataLst>
      <p:tags r:id="rId1"/>
    </p:custDataLst>
    <p:extLst>
      <p:ext uri="{BB962C8B-B14F-4D97-AF65-F5344CB8AC3E}">
        <p14:creationId xmlns:p14="http://schemas.microsoft.com/office/powerpoint/2010/main" val="143446341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56703F0B-5B33-40A2-AE24-417758F744E2}"/>
              </a:ext>
            </a:extLst>
          </p:cNvPr>
          <p:cNvCxnSpPr>
            <a:cxnSpLocks/>
          </p:cNvCxnSpPr>
          <p:nvPr/>
        </p:nvCxnSpPr>
        <p:spPr>
          <a:xfrm rot="5400000">
            <a:off x="1277852" y="5334000"/>
            <a:ext cx="109728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882396E-58FA-45A1-B213-4845EA31F6C7}"/>
              </a:ext>
            </a:extLst>
          </p:cNvPr>
          <p:cNvCxnSpPr>
            <a:cxnSpLocks/>
          </p:cNvCxnSpPr>
          <p:nvPr/>
        </p:nvCxnSpPr>
        <p:spPr>
          <a:xfrm rot="5400000">
            <a:off x="7808192" y="5334000"/>
            <a:ext cx="1097280" cy="0"/>
          </a:xfrm>
          <a:prstGeom prst="line">
            <a:avLst/>
          </a:prstGeom>
          <a:ln w="25400">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EC72ADB-E6EE-4F7A-8289-391F512A6186}"/>
              </a:ext>
            </a:extLst>
          </p:cNvPr>
          <p:cNvGrpSpPr/>
          <p:nvPr/>
        </p:nvGrpSpPr>
        <p:grpSpPr>
          <a:xfrm>
            <a:off x="1826492" y="2914649"/>
            <a:ext cx="6507480" cy="350520"/>
            <a:chOff x="1341120" y="3429000"/>
            <a:chExt cx="6507480" cy="350520"/>
          </a:xfrm>
        </p:grpSpPr>
        <p:cxnSp>
          <p:nvCxnSpPr>
            <p:cNvPr id="26" name="Straight Connector 25">
              <a:extLst>
                <a:ext uri="{FF2B5EF4-FFF2-40B4-BE49-F238E27FC236}">
                  <a16:creationId xmlns:a16="http://schemas.microsoft.com/office/drawing/2014/main" id="{805D429D-2ACF-413C-92C8-A865F23795B7}"/>
                </a:ext>
              </a:extLst>
            </p:cNvPr>
            <p:cNvCxnSpPr/>
            <p:nvPr/>
          </p:nvCxnSpPr>
          <p:spPr>
            <a:xfrm>
              <a:off x="2499360" y="3429000"/>
              <a:ext cx="42062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0018A2EB-AA4F-479E-9A73-3343C1D684CD}"/>
                </a:ext>
              </a:extLst>
            </p:cNvPr>
            <p:cNvGrpSpPr/>
            <p:nvPr/>
          </p:nvGrpSpPr>
          <p:grpSpPr>
            <a:xfrm>
              <a:off x="6675120" y="3429000"/>
              <a:ext cx="563880" cy="350520"/>
              <a:chOff x="6690360" y="3230880"/>
              <a:chExt cx="563880" cy="350520"/>
            </a:xfrm>
          </p:grpSpPr>
          <p:cxnSp>
            <p:nvCxnSpPr>
              <p:cNvPr id="9" name="Straight Connector 8">
                <a:extLst>
                  <a:ext uri="{FF2B5EF4-FFF2-40B4-BE49-F238E27FC236}">
                    <a16:creationId xmlns:a16="http://schemas.microsoft.com/office/drawing/2014/main" id="{429C6A92-58D8-42B4-BBB8-582B38BC43CC}"/>
                  </a:ext>
                </a:extLst>
              </p:cNvPr>
              <p:cNvCxnSpPr/>
              <p:nvPr/>
            </p:nvCxnSpPr>
            <p:spPr>
              <a:xfrm>
                <a:off x="6690360" y="3505200"/>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4183F05-EB63-403A-B6B7-4EE2BD92A53B}"/>
                  </a:ext>
                </a:extLst>
              </p:cNvPr>
              <p:cNvCxnSpPr>
                <a:cxnSpLocks/>
              </p:cNvCxnSpPr>
              <p:nvPr/>
            </p:nvCxnSpPr>
            <p:spPr>
              <a:xfrm rot="5400000">
                <a:off x="6568440" y="336804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5941873-4F0D-467E-9F22-F00805279485}"/>
                  </a:ext>
                </a:extLst>
              </p:cNvPr>
              <p:cNvCxnSpPr>
                <a:cxnSpLocks/>
              </p:cNvCxnSpPr>
              <p:nvPr/>
            </p:nvCxnSpPr>
            <p:spPr>
              <a:xfrm rot="5400000">
                <a:off x="7101840" y="336804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46CE6D0-C778-4F6F-8639-7B2D25BAC9CB}"/>
                  </a:ext>
                </a:extLst>
              </p:cNvPr>
              <p:cNvCxnSpPr/>
              <p:nvPr/>
            </p:nvCxnSpPr>
            <p:spPr>
              <a:xfrm>
                <a:off x="6705600" y="3581400"/>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0CE86C2E-17C7-4FD8-9CA5-2BC2E5647A88}"/>
                </a:ext>
              </a:extLst>
            </p:cNvPr>
            <p:cNvGrpSpPr/>
            <p:nvPr/>
          </p:nvGrpSpPr>
          <p:grpSpPr>
            <a:xfrm>
              <a:off x="1965960" y="3429000"/>
              <a:ext cx="563880" cy="350520"/>
              <a:chOff x="6690360" y="3230880"/>
              <a:chExt cx="563880" cy="350520"/>
            </a:xfrm>
          </p:grpSpPr>
          <p:cxnSp>
            <p:nvCxnSpPr>
              <p:cNvPr id="29" name="Straight Connector 28">
                <a:extLst>
                  <a:ext uri="{FF2B5EF4-FFF2-40B4-BE49-F238E27FC236}">
                    <a16:creationId xmlns:a16="http://schemas.microsoft.com/office/drawing/2014/main" id="{18687EB0-1A29-4EF6-B89C-FE6961CB039B}"/>
                  </a:ext>
                </a:extLst>
              </p:cNvPr>
              <p:cNvCxnSpPr/>
              <p:nvPr/>
            </p:nvCxnSpPr>
            <p:spPr>
              <a:xfrm>
                <a:off x="6690360" y="3505200"/>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E165448-671C-484C-A268-C2F85FF568F2}"/>
                  </a:ext>
                </a:extLst>
              </p:cNvPr>
              <p:cNvCxnSpPr>
                <a:cxnSpLocks/>
              </p:cNvCxnSpPr>
              <p:nvPr/>
            </p:nvCxnSpPr>
            <p:spPr>
              <a:xfrm rot="5400000">
                <a:off x="6568440" y="336804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5FB7722-C3F5-417D-A043-BA78EB2C5D85}"/>
                  </a:ext>
                </a:extLst>
              </p:cNvPr>
              <p:cNvCxnSpPr>
                <a:cxnSpLocks/>
              </p:cNvCxnSpPr>
              <p:nvPr/>
            </p:nvCxnSpPr>
            <p:spPr>
              <a:xfrm rot="5400000">
                <a:off x="7101840" y="3368040"/>
                <a:ext cx="2743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E74A049-56E6-44D4-B9CC-0DA2E7EED01D}"/>
                  </a:ext>
                </a:extLst>
              </p:cNvPr>
              <p:cNvCxnSpPr/>
              <p:nvPr/>
            </p:nvCxnSpPr>
            <p:spPr>
              <a:xfrm>
                <a:off x="6705600" y="3581400"/>
                <a:ext cx="54864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a:extLst>
                <a:ext uri="{FF2B5EF4-FFF2-40B4-BE49-F238E27FC236}">
                  <a16:creationId xmlns:a16="http://schemas.microsoft.com/office/drawing/2014/main" id="{FE09ADBA-DB5E-485F-A34D-F9A208E5E0E2}"/>
                </a:ext>
              </a:extLst>
            </p:cNvPr>
            <p:cNvCxnSpPr/>
            <p:nvPr/>
          </p:nvCxnSpPr>
          <p:spPr>
            <a:xfrm>
              <a:off x="1341120" y="342900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91D884E-75C9-4435-BE50-24EBC38EE07C}"/>
                </a:ext>
              </a:extLst>
            </p:cNvPr>
            <p:cNvCxnSpPr/>
            <p:nvPr/>
          </p:nvCxnSpPr>
          <p:spPr>
            <a:xfrm>
              <a:off x="7208520" y="3429000"/>
              <a:ext cx="64008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DBEE2338-16A4-44F2-9B28-1A52921F7971}"/>
              </a:ext>
            </a:extLst>
          </p:cNvPr>
          <p:cNvSpPr/>
          <p:nvPr>
            <p:custDataLst>
              <p:tags r:id="rId2"/>
            </p:custDataLst>
          </p:nvPr>
        </p:nvSpPr>
        <p:spPr>
          <a:xfrm>
            <a:off x="3899132" y="2381249"/>
            <a:ext cx="2362200" cy="116205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8" name="Rectangle 2">
            <a:extLst>
              <a:ext uri="{FF2B5EF4-FFF2-40B4-BE49-F238E27FC236}">
                <a16:creationId xmlns:a16="http://schemas.microsoft.com/office/drawing/2014/main" id="{E50CD964-72AC-4CF4-B358-7233B76517B7}"/>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a:t>Technology – SRAM</a:t>
            </a:r>
          </a:p>
        </p:txBody>
      </p:sp>
      <p:sp>
        <p:nvSpPr>
          <p:cNvPr id="2" name="Slide Number Placeholder 1">
            <a:extLst>
              <a:ext uri="{FF2B5EF4-FFF2-40B4-BE49-F238E27FC236}">
                <a16:creationId xmlns:a16="http://schemas.microsoft.com/office/drawing/2014/main" id="{3A398F73-CFFB-4AE9-A7B2-0CC22E759150}"/>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4AE55244-69BE-4817-A889-2E6D9EB879BF}" type="slidenum">
              <a:rPr lang="en-US" altLang="en-US" sz="1400">
                <a:latin typeface="Calibri" panose="020F0502020204030204" pitchFamily="34" charset="0"/>
              </a:rPr>
              <a:pPr lvl="1" eaLnBrk="1" hangingPunct="1"/>
              <a:t>7</a:t>
            </a:fld>
            <a:endParaRPr lang="en-US" altLang="en-US" sz="1400">
              <a:latin typeface="Calibri" panose="020F0502020204030204" pitchFamily="34" charset="0"/>
            </a:endParaRPr>
          </a:p>
        </p:txBody>
      </p:sp>
      <p:grpSp>
        <p:nvGrpSpPr>
          <p:cNvPr id="6" name="Group 5">
            <a:extLst>
              <a:ext uri="{FF2B5EF4-FFF2-40B4-BE49-F238E27FC236}">
                <a16:creationId xmlns:a16="http://schemas.microsoft.com/office/drawing/2014/main" id="{E642E2AD-48CF-4311-BB64-4C4741405761}"/>
              </a:ext>
            </a:extLst>
          </p:cNvPr>
          <p:cNvGrpSpPr/>
          <p:nvPr/>
        </p:nvGrpSpPr>
        <p:grpSpPr>
          <a:xfrm>
            <a:off x="4738041" y="2057400"/>
            <a:ext cx="684382" cy="647700"/>
            <a:chOff x="3276600" y="2895600"/>
            <a:chExt cx="684382" cy="647700"/>
          </a:xfrm>
        </p:grpSpPr>
        <p:sp>
          <p:nvSpPr>
            <p:cNvPr id="3" name="Isosceles Triangle 2">
              <a:extLst>
                <a:ext uri="{FF2B5EF4-FFF2-40B4-BE49-F238E27FC236}">
                  <a16:creationId xmlns:a16="http://schemas.microsoft.com/office/drawing/2014/main" id="{E553DC68-B8CC-4DF1-B2F2-986D879E234D}"/>
                </a:ext>
              </a:extLst>
            </p:cNvPr>
            <p:cNvSpPr/>
            <p:nvPr>
              <p:custDataLst>
                <p:tags r:id="rId13"/>
              </p:custDataLst>
            </p:nvPr>
          </p:nvSpPr>
          <p:spPr>
            <a:xfrm rot="5400000">
              <a:off x="3238500" y="2933700"/>
              <a:ext cx="647700" cy="5715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6F2664B8-2936-4051-BB16-05F3C1B87BE5}"/>
                </a:ext>
              </a:extLst>
            </p:cNvPr>
            <p:cNvSpPr/>
            <p:nvPr>
              <p:custDataLst>
                <p:tags r:id="rId14"/>
              </p:custDataLst>
            </p:nvPr>
          </p:nvSpPr>
          <p:spPr>
            <a:xfrm>
              <a:off x="3851254" y="3166872"/>
              <a:ext cx="109728" cy="10972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9DBA4833-5940-4DF8-8229-BF6F202C2B74}"/>
              </a:ext>
            </a:extLst>
          </p:cNvPr>
          <p:cNvGrpSpPr/>
          <p:nvPr/>
        </p:nvGrpSpPr>
        <p:grpSpPr>
          <a:xfrm flipH="1">
            <a:off x="4738041" y="3219449"/>
            <a:ext cx="684382" cy="647700"/>
            <a:chOff x="3276600" y="2895600"/>
            <a:chExt cx="684382" cy="647700"/>
          </a:xfrm>
        </p:grpSpPr>
        <p:sp>
          <p:nvSpPr>
            <p:cNvPr id="15" name="Isosceles Triangle 14">
              <a:extLst>
                <a:ext uri="{FF2B5EF4-FFF2-40B4-BE49-F238E27FC236}">
                  <a16:creationId xmlns:a16="http://schemas.microsoft.com/office/drawing/2014/main" id="{DFDC6DC8-D0F5-48F1-BC94-21EEAFA5A71E}"/>
                </a:ext>
              </a:extLst>
            </p:cNvPr>
            <p:cNvSpPr/>
            <p:nvPr>
              <p:custDataLst>
                <p:tags r:id="rId11"/>
              </p:custDataLst>
            </p:nvPr>
          </p:nvSpPr>
          <p:spPr>
            <a:xfrm rot="5400000">
              <a:off x="3238500" y="2933700"/>
              <a:ext cx="647700" cy="571500"/>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778665B-918E-4FCB-98A4-85BEB692BBBE}"/>
                </a:ext>
              </a:extLst>
            </p:cNvPr>
            <p:cNvSpPr/>
            <p:nvPr>
              <p:custDataLst>
                <p:tags r:id="rId12"/>
              </p:custDataLst>
            </p:nvPr>
          </p:nvSpPr>
          <p:spPr>
            <a:xfrm>
              <a:off x="3851254" y="3166872"/>
              <a:ext cx="109728" cy="10972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1" name="Straight Connector 40">
            <a:extLst>
              <a:ext uri="{FF2B5EF4-FFF2-40B4-BE49-F238E27FC236}">
                <a16:creationId xmlns:a16="http://schemas.microsoft.com/office/drawing/2014/main" id="{18B8AF06-832E-481B-8188-DCD6002B0302}"/>
              </a:ext>
            </a:extLst>
          </p:cNvPr>
          <p:cNvCxnSpPr>
            <a:cxnSpLocks/>
          </p:cNvCxnSpPr>
          <p:nvPr/>
        </p:nvCxnSpPr>
        <p:spPr>
          <a:xfrm rot="5400000">
            <a:off x="226292" y="3261360"/>
            <a:ext cx="32004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AEC10E8-3F8C-47A4-9BA8-E73D6C0C842B}"/>
              </a:ext>
            </a:extLst>
          </p:cNvPr>
          <p:cNvCxnSpPr/>
          <p:nvPr/>
        </p:nvCxnSpPr>
        <p:spPr>
          <a:xfrm>
            <a:off x="609600" y="4210049"/>
            <a:ext cx="8229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DBF4B-141C-4FEE-9C33-5FF4408AC4A0}"/>
              </a:ext>
            </a:extLst>
          </p:cNvPr>
          <p:cNvCxnSpPr>
            <a:cxnSpLocks/>
          </p:cNvCxnSpPr>
          <p:nvPr/>
        </p:nvCxnSpPr>
        <p:spPr>
          <a:xfrm rot="5400000">
            <a:off x="6756632" y="3261360"/>
            <a:ext cx="32004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4F401436-1AD5-4D93-8DF4-5EDAD68DEE5A}"/>
              </a:ext>
            </a:extLst>
          </p:cNvPr>
          <p:cNvCxnSpPr>
            <a:cxnSpLocks/>
          </p:cNvCxnSpPr>
          <p:nvPr/>
        </p:nvCxnSpPr>
        <p:spPr>
          <a:xfrm rot="5400000">
            <a:off x="2237972" y="3745229"/>
            <a:ext cx="960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784B2C7F-59EC-4BE2-A939-D3F4E8682965}"/>
              </a:ext>
            </a:extLst>
          </p:cNvPr>
          <p:cNvCxnSpPr>
            <a:cxnSpLocks/>
          </p:cNvCxnSpPr>
          <p:nvPr/>
        </p:nvCxnSpPr>
        <p:spPr>
          <a:xfrm rot="5400000">
            <a:off x="6962372" y="3729989"/>
            <a:ext cx="96012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C031783B-D47F-4506-AAAC-34DB86598F2E}"/>
              </a:ext>
            </a:extLst>
          </p:cNvPr>
          <p:cNvSpPr txBox="1"/>
          <p:nvPr>
            <p:custDataLst>
              <p:tags r:id="rId5"/>
            </p:custDataLst>
          </p:nvPr>
        </p:nvSpPr>
        <p:spPr>
          <a:xfrm>
            <a:off x="736143" y="3905249"/>
            <a:ext cx="940257" cy="338554"/>
          </a:xfrm>
          <a:prstGeom prst="rect">
            <a:avLst/>
          </a:prstGeom>
          <a:noFill/>
        </p:spPr>
        <p:txBody>
          <a:bodyPr wrap="none" rtlCol="0">
            <a:spAutoFit/>
          </a:bodyPr>
          <a:lstStyle/>
          <a:p>
            <a:pPr algn="ctr"/>
            <a:r>
              <a:rPr lang="en-US" sz="1600" b="1" dirty="0" err="1">
                <a:latin typeface="+mn-lt"/>
              </a:rPr>
              <a:t>wordline</a:t>
            </a:r>
            <a:endParaRPr lang="en-US" sz="1600" b="1" dirty="0">
              <a:latin typeface="+mn-lt"/>
            </a:endParaRPr>
          </a:p>
        </p:txBody>
      </p:sp>
      <p:sp>
        <p:nvSpPr>
          <p:cNvPr id="47" name="TextBox 46">
            <a:extLst>
              <a:ext uri="{FF2B5EF4-FFF2-40B4-BE49-F238E27FC236}">
                <a16:creationId xmlns:a16="http://schemas.microsoft.com/office/drawing/2014/main" id="{7C7DBC3A-925F-48D4-814A-539E42212B48}"/>
              </a:ext>
            </a:extLst>
          </p:cNvPr>
          <p:cNvSpPr txBox="1"/>
          <p:nvPr>
            <p:custDataLst>
              <p:tags r:id="rId6"/>
            </p:custDataLst>
          </p:nvPr>
        </p:nvSpPr>
        <p:spPr>
          <a:xfrm>
            <a:off x="7628748" y="5257800"/>
            <a:ext cx="728084" cy="338554"/>
          </a:xfrm>
          <a:prstGeom prst="rect">
            <a:avLst/>
          </a:prstGeom>
          <a:noFill/>
        </p:spPr>
        <p:txBody>
          <a:bodyPr wrap="none" rtlCol="0">
            <a:spAutoFit/>
          </a:bodyPr>
          <a:lstStyle/>
          <a:p>
            <a:r>
              <a:rPr lang="en-US" sz="1600" b="1" dirty="0" err="1">
                <a:latin typeface="+mn-lt"/>
              </a:rPr>
              <a:t>bitline</a:t>
            </a:r>
            <a:endParaRPr lang="en-US" sz="1600" b="1" dirty="0">
              <a:latin typeface="+mn-lt"/>
            </a:endParaRPr>
          </a:p>
        </p:txBody>
      </p:sp>
      <p:sp>
        <p:nvSpPr>
          <p:cNvPr id="48" name="TextBox 47">
            <a:extLst>
              <a:ext uri="{FF2B5EF4-FFF2-40B4-BE49-F238E27FC236}">
                <a16:creationId xmlns:a16="http://schemas.microsoft.com/office/drawing/2014/main" id="{A0A63B79-274E-461F-95DB-7900C1CA7AB1}"/>
              </a:ext>
            </a:extLst>
          </p:cNvPr>
          <p:cNvSpPr txBox="1"/>
          <p:nvPr>
            <p:custDataLst>
              <p:tags r:id="rId7"/>
            </p:custDataLst>
          </p:nvPr>
        </p:nvSpPr>
        <p:spPr>
          <a:xfrm>
            <a:off x="1803631" y="5271086"/>
            <a:ext cx="728084" cy="338554"/>
          </a:xfrm>
          <a:prstGeom prst="rect">
            <a:avLst/>
          </a:prstGeom>
          <a:noFill/>
        </p:spPr>
        <p:txBody>
          <a:bodyPr wrap="none" rtlCol="0">
            <a:spAutoFit/>
          </a:bodyPr>
          <a:lstStyle/>
          <a:p>
            <a:r>
              <a:rPr lang="en-US" sz="1600" b="1" dirty="0" err="1">
                <a:latin typeface="+mn-lt"/>
              </a:rPr>
              <a:t>bitline</a:t>
            </a:r>
            <a:endParaRPr lang="en-US" sz="1600" b="1" dirty="0">
              <a:latin typeface="+mn-lt"/>
            </a:endParaRPr>
          </a:p>
        </p:txBody>
      </p:sp>
      <p:cxnSp>
        <p:nvCxnSpPr>
          <p:cNvPr id="49" name="Straight Connector 48">
            <a:extLst>
              <a:ext uri="{FF2B5EF4-FFF2-40B4-BE49-F238E27FC236}">
                <a16:creationId xmlns:a16="http://schemas.microsoft.com/office/drawing/2014/main" id="{39F38303-F0EC-434E-B42B-D3E9EE9EF254}"/>
              </a:ext>
            </a:extLst>
          </p:cNvPr>
          <p:cNvCxnSpPr/>
          <p:nvPr/>
        </p:nvCxnSpPr>
        <p:spPr>
          <a:xfrm>
            <a:off x="1879831" y="5304840"/>
            <a:ext cx="54864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083215EB-F985-4C8F-A562-8652452F6C1C}"/>
              </a:ext>
            </a:extLst>
          </p:cNvPr>
          <p:cNvSpPr txBox="1"/>
          <p:nvPr>
            <p:custDataLst>
              <p:tags r:id="rId8"/>
            </p:custDataLst>
          </p:nvPr>
        </p:nvSpPr>
        <p:spPr>
          <a:xfrm>
            <a:off x="1626065" y="5829563"/>
            <a:ext cx="6908335" cy="338554"/>
          </a:xfrm>
          <a:prstGeom prst="rect">
            <a:avLst/>
          </a:prstGeom>
          <a:solidFill>
            <a:schemeClr val="bg1">
              <a:lumMod val="95000"/>
            </a:schemeClr>
          </a:solidFill>
          <a:ln w="19050">
            <a:solidFill>
              <a:schemeClr val="tx1"/>
            </a:solidFill>
          </a:ln>
        </p:spPr>
        <p:txBody>
          <a:bodyPr wrap="square" rtlCol="0">
            <a:spAutoFit/>
          </a:bodyPr>
          <a:lstStyle/>
          <a:p>
            <a:pPr algn="ctr"/>
            <a:r>
              <a:rPr lang="en-US" sz="1600" b="1" dirty="0">
                <a:latin typeface="+mn-lt"/>
              </a:rPr>
              <a:t>differential sense amplifier</a:t>
            </a:r>
          </a:p>
        </p:txBody>
      </p:sp>
      <p:sp>
        <p:nvSpPr>
          <p:cNvPr id="53" name="TextBox 52">
            <a:extLst>
              <a:ext uri="{FF2B5EF4-FFF2-40B4-BE49-F238E27FC236}">
                <a16:creationId xmlns:a16="http://schemas.microsoft.com/office/drawing/2014/main" id="{F4A5375F-6B2F-4295-994E-2C6939C17D0F}"/>
              </a:ext>
            </a:extLst>
          </p:cNvPr>
          <p:cNvSpPr txBox="1"/>
          <p:nvPr>
            <p:custDataLst>
              <p:tags r:id="rId9"/>
            </p:custDataLst>
          </p:nvPr>
        </p:nvSpPr>
        <p:spPr>
          <a:xfrm rot="16200000">
            <a:off x="-1241956" y="3656394"/>
            <a:ext cx="3536542" cy="338554"/>
          </a:xfrm>
          <a:prstGeom prst="rect">
            <a:avLst/>
          </a:prstGeom>
          <a:solidFill>
            <a:schemeClr val="bg1">
              <a:lumMod val="95000"/>
            </a:schemeClr>
          </a:solidFill>
          <a:ln w="19050">
            <a:solidFill>
              <a:schemeClr val="tx1"/>
            </a:solidFill>
          </a:ln>
        </p:spPr>
        <p:txBody>
          <a:bodyPr wrap="square" rtlCol="0">
            <a:spAutoFit/>
          </a:bodyPr>
          <a:lstStyle/>
          <a:p>
            <a:pPr algn="ctr"/>
            <a:r>
              <a:rPr lang="en-US" sz="1600" b="1" dirty="0">
                <a:latin typeface="+mn-lt"/>
              </a:rPr>
              <a:t>decoder</a:t>
            </a:r>
          </a:p>
        </p:txBody>
      </p:sp>
      <p:sp>
        <p:nvSpPr>
          <p:cNvPr id="40" name="TextBox 39">
            <a:extLst>
              <a:ext uri="{FF2B5EF4-FFF2-40B4-BE49-F238E27FC236}">
                <a16:creationId xmlns:a16="http://schemas.microsoft.com/office/drawing/2014/main" id="{0C9AFE85-55E9-4DEB-8399-84B96D3C1FB0}"/>
              </a:ext>
            </a:extLst>
          </p:cNvPr>
          <p:cNvSpPr txBox="1"/>
          <p:nvPr>
            <p:custDataLst>
              <p:tags r:id="rId10"/>
            </p:custDataLst>
          </p:nvPr>
        </p:nvSpPr>
        <p:spPr>
          <a:xfrm>
            <a:off x="4343400" y="2785646"/>
            <a:ext cx="1481496" cy="338554"/>
          </a:xfrm>
          <a:prstGeom prst="rect">
            <a:avLst/>
          </a:prstGeom>
          <a:noFill/>
        </p:spPr>
        <p:txBody>
          <a:bodyPr wrap="none" rtlCol="0">
            <a:spAutoFit/>
          </a:bodyPr>
          <a:lstStyle/>
          <a:p>
            <a:pPr algn="ctr"/>
            <a:r>
              <a:rPr lang="en-US" sz="1600" b="1" dirty="0">
                <a:latin typeface="+mn-lt"/>
              </a:rPr>
              <a:t>1-bit SRAM cell</a:t>
            </a:r>
          </a:p>
        </p:txBody>
      </p:sp>
    </p:spTree>
    <p:custDataLst>
      <p:tags r:id="rId1"/>
    </p:custDataLst>
    <p:extLst>
      <p:ext uri="{BB962C8B-B14F-4D97-AF65-F5344CB8AC3E}">
        <p14:creationId xmlns:p14="http://schemas.microsoft.com/office/powerpoint/2010/main" val="29099183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51D3A8-AEC3-8973-D63F-89D262373BBB}"/>
              </a:ext>
            </a:extLst>
          </p:cNvPr>
          <p:cNvSpPr>
            <a:spLocks noGrp="1"/>
          </p:cNvSpPr>
          <p:nvPr>
            <p:ph idx="1"/>
          </p:nvPr>
        </p:nvSpPr>
        <p:spPr>
          <a:xfrm>
            <a:off x="457200" y="457200"/>
            <a:ext cx="8229600" cy="589915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SRAM Technology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SRAM technology is conceptually very similar to register files, but instead of a flip-flop storing each bit, it uses a level-sensitive latch to hold data.</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SRAM Cell Structure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this simplified diagram, the cross-coupled inverters are actually two CMOS transistors, making this the classic six-transistor or 6T SRAM cell.</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Array Structure of SRAM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These cells are built into an array with a one-hot address decoder to choose the word line, which activates the word or row of the array by turning on the pass transistors or transmission gates.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Reading and Writing in SRAM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complement column bit lines are used to write or read from the corresponding bit position. When writing, the drive strength of the new value flowing down the top is enough to upset the latch and change its value.</a:t>
            </a:r>
          </a:p>
          <a:p>
            <a:pPr marL="0" indent="0">
              <a:lnSpc>
                <a:spcPct val="107000"/>
              </a:lnSpc>
              <a:spcAft>
                <a:spcPts val="800"/>
              </a:spcAft>
              <a:buNone/>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BA3FE716-0C27-2443-7311-C1B1E79B326E}"/>
              </a:ext>
            </a:extLst>
          </p:cNvPr>
          <p:cNvSpPr>
            <a:spLocks noGrp="1"/>
          </p:cNvSpPr>
          <p:nvPr>
            <p:ph type="sldNum" sz="quarter" idx="12"/>
          </p:nvPr>
        </p:nvSpPr>
        <p:spPr/>
        <p:txBody>
          <a:bodyPr/>
          <a:lstStyle/>
          <a:p>
            <a:pPr lvl="1">
              <a:defRPr/>
            </a:pPr>
            <a:fld id="{0831C007-5AA1-4C47-955B-DD23833C3AF5}" type="slidenum">
              <a:rPr lang="en-US" altLang="en-US" smtClean="0"/>
              <a:pPr lvl="1">
                <a:defRPr/>
              </a:pPr>
              <a:t>8</a:t>
            </a:fld>
            <a:endParaRPr lang="en-US" altLang="en-US"/>
          </a:p>
        </p:txBody>
      </p:sp>
    </p:spTree>
    <p:extLst>
      <p:ext uri="{BB962C8B-B14F-4D97-AF65-F5344CB8AC3E}">
        <p14:creationId xmlns:p14="http://schemas.microsoft.com/office/powerpoint/2010/main" val="218682379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59D0F-7999-3995-382E-3D458592A5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F1CDF4-671B-54ED-2141-88153CF17F1F}"/>
              </a:ext>
            </a:extLst>
          </p:cNvPr>
          <p:cNvSpPr>
            <a:spLocks noGrp="1"/>
          </p:cNvSpPr>
          <p:nvPr>
            <p:ph idx="1"/>
          </p:nvPr>
        </p:nvSpPr>
        <p:spPr>
          <a:xfrm>
            <a:off x="457200" y="533400"/>
            <a:ext cx="8229600" cy="582295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Reading Large SRAM Arrays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When reading large SRAM arrays, the bit line and complement bit line pass their values down to the bottom, where their voltage level has decreased substantially due to resistance.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Sense Amplifiers in SRAM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They can’t simply be read at normal logic levels, so these SRAMs will get a differential sense amplifier. A sense amp amplifies small voltage perturbations back to the appropriate logic level.</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Low-Cost SRAM Devices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low-cost SRAM devices, we typically have one bit line per bit, so ground is the reference. For high-performance SRAM both the true and complement value are sent down, leveraging the voltage swings to quickly determine logic values.</a:t>
            </a:r>
          </a:p>
          <a:p>
            <a:pPr marL="0" indent="0">
              <a:buNone/>
            </a:pPr>
            <a:endParaRPr lang="en-IN" dirty="0"/>
          </a:p>
        </p:txBody>
      </p:sp>
      <p:sp>
        <p:nvSpPr>
          <p:cNvPr id="4" name="Slide Number Placeholder 3">
            <a:extLst>
              <a:ext uri="{FF2B5EF4-FFF2-40B4-BE49-F238E27FC236}">
                <a16:creationId xmlns:a16="http://schemas.microsoft.com/office/drawing/2014/main" id="{5B09F397-EC3D-DCA1-8BE0-30702B379968}"/>
              </a:ext>
            </a:extLst>
          </p:cNvPr>
          <p:cNvSpPr>
            <a:spLocks noGrp="1"/>
          </p:cNvSpPr>
          <p:nvPr>
            <p:ph type="sldNum" sz="quarter" idx="12"/>
          </p:nvPr>
        </p:nvSpPr>
        <p:spPr/>
        <p:txBody>
          <a:bodyPr/>
          <a:lstStyle/>
          <a:p>
            <a:pPr lvl="1">
              <a:defRPr/>
            </a:pPr>
            <a:fld id="{0831C007-5AA1-4C47-955B-DD23833C3AF5}" type="slidenum">
              <a:rPr lang="en-US" altLang="en-US" smtClean="0"/>
              <a:pPr lvl="1">
                <a:defRPr/>
              </a:pPr>
              <a:t>9</a:t>
            </a:fld>
            <a:endParaRPr lang="en-US" altLang="en-US"/>
          </a:p>
        </p:txBody>
      </p:sp>
    </p:spTree>
    <p:extLst>
      <p:ext uri="{BB962C8B-B14F-4D97-AF65-F5344CB8AC3E}">
        <p14:creationId xmlns:p14="http://schemas.microsoft.com/office/powerpoint/2010/main" val="161901687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EBFD7AB-CA8F-4B30-AA6E-28F2D33F6781}"/>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Technology – DRAM</a:t>
            </a:r>
          </a:p>
        </p:txBody>
      </p:sp>
      <p:sp>
        <p:nvSpPr>
          <p:cNvPr id="11267" name="Rectangle 3">
            <a:extLst>
              <a:ext uri="{FF2B5EF4-FFF2-40B4-BE49-F238E27FC236}">
                <a16:creationId xmlns:a16="http://schemas.microsoft.com/office/drawing/2014/main" id="{9068D01B-10AB-416F-ACA8-FE7C99652B68}"/>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sz="2800" dirty="0"/>
              <a:t>Logically similar to SRAM</a:t>
            </a:r>
          </a:p>
          <a:p>
            <a:pPr eaLnBrk="1" hangingPunct="1">
              <a:lnSpc>
                <a:spcPct val="80000"/>
              </a:lnSpc>
            </a:pPr>
            <a:r>
              <a:rPr lang="en-US" altLang="en-US" sz="2800" dirty="0"/>
              <a:t>Commodity DRAM chips</a:t>
            </a:r>
          </a:p>
          <a:p>
            <a:pPr lvl="1" eaLnBrk="1" hangingPunct="1">
              <a:lnSpc>
                <a:spcPct val="80000"/>
              </a:lnSpc>
            </a:pPr>
            <a:r>
              <a:rPr lang="en-US" altLang="en-US" sz="2400" dirty="0"/>
              <a:t>e.g., 1Gb per chip</a:t>
            </a:r>
          </a:p>
          <a:p>
            <a:pPr lvl="1" eaLnBrk="1" hangingPunct="1">
              <a:lnSpc>
                <a:spcPct val="80000"/>
              </a:lnSpc>
            </a:pPr>
            <a:r>
              <a:rPr lang="en-US" altLang="en-US" sz="2400" dirty="0"/>
              <a:t>Standardized address/data/control interfaces</a:t>
            </a:r>
          </a:p>
          <a:p>
            <a:pPr eaLnBrk="1" hangingPunct="1">
              <a:lnSpc>
                <a:spcPct val="80000"/>
              </a:lnSpc>
            </a:pPr>
            <a:r>
              <a:rPr lang="en-US" altLang="en-US" sz="2800" dirty="0"/>
              <a:t>Very dense</a:t>
            </a:r>
          </a:p>
          <a:p>
            <a:pPr lvl="1" eaLnBrk="1" hangingPunct="1">
              <a:lnSpc>
                <a:spcPct val="80000"/>
              </a:lnSpc>
            </a:pPr>
            <a:r>
              <a:rPr lang="en-US" altLang="en-US" sz="2400" dirty="0"/>
              <a:t>Bit stored in capacitor</a:t>
            </a:r>
          </a:p>
          <a:p>
            <a:pPr lvl="2" eaLnBrk="1" hangingPunct="1">
              <a:lnSpc>
                <a:spcPct val="90000"/>
              </a:lnSpc>
            </a:pPr>
            <a:r>
              <a:rPr lang="en-US" altLang="en-US" sz="2000" dirty="0"/>
              <a:t>Decays over time: must </a:t>
            </a:r>
            <a:r>
              <a:rPr lang="en-US" altLang="en-US" sz="2000" i="1" dirty="0"/>
              <a:t>refresh</a:t>
            </a:r>
          </a:p>
          <a:p>
            <a:pPr lvl="2" eaLnBrk="1" hangingPunct="1">
              <a:lnSpc>
                <a:spcPct val="90000"/>
              </a:lnSpc>
            </a:pPr>
            <a:r>
              <a:rPr lang="en-US" altLang="en-US" sz="2000" dirty="0"/>
              <a:t>Destructive read: must rewrite on read</a:t>
            </a:r>
          </a:p>
          <a:p>
            <a:pPr eaLnBrk="1" hangingPunct="1">
              <a:lnSpc>
                <a:spcPct val="80000"/>
              </a:lnSpc>
            </a:pPr>
            <a:r>
              <a:rPr lang="en-US" altLang="en-US" sz="2800" dirty="0"/>
              <a:t>Density improving significantly over time</a:t>
            </a:r>
          </a:p>
          <a:p>
            <a:pPr eaLnBrk="1" hangingPunct="1">
              <a:lnSpc>
                <a:spcPct val="80000"/>
              </a:lnSpc>
            </a:pPr>
            <a:r>
              <a:rPr lang="en-US" altLang="en-US" sz="2800" dirty="0"/>
              <a:t>Latency barely improving</a:t>
            </a:r>
          </a:p>
        </p:txBody>
      </p:sp>
      <p:sp>
        <p:nvSpPr>
          <p:cNvPr id="2" name="Slide Number Placeholder 1">
            <a:extLst>
              <a:ext uri="{FF2B5EF4-FFF2-40B4-BE49-F238E27FC236}">
                <a16:creationId xmlns:a16="http://schemas.microsoft.com/office/drawing/2014/main" id="{8468EB1F-305B-4EAF-93AF-8FAA4DD4E3A5}"/>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FE59E99D-74FB-4990-B964-E4FA4CA5263F}" type="slidenum">
              <a:rPr lang="en-US" altLang="en-US" sz="1400">
                <a:latin typeface="Calibri" panose="020F0502020204030204" pitchFamily="34" charset="0"/>
              </a:rPr>
              <a:pPr lvl="1" eaLnBrk="1" hangingPunct="1"/>
              <a:t>10</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369884101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E7FA3-0299-0063-7F3B-B745E18A23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A0455-F30F-F5F4-DAC7-6EEDAC659E43}"/>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Introduction to DRAM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DRAM</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technology is logically similar to SRAM in addressing. Commodity DRAM chips are very inexpensive, with typical capacities of 1 Gb per chip.</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Characteristics of DRAM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They come with standardized data, address, control, interfaces and are very dense, requiring minimal logic per bit cell—just a transistor that provides access via the word line.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 Storage in DRAM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data itself is stored as a charge in the capacitor, making up the one transistor, one capacitor (1T1C) element. The capacitor means charge decay occurs over time due to leakage and must be periodically refreshed by reading them out and by writing them back in.</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DRAM Refresh Mechanism</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decay necessitates periodic refreshing by reading them out and back in. While DRAM density has increased for cost reasons, latency has barely improved compared to the speed increase in computation logic.</a:t>
            </a:r>
          </a:p>
          <a:p>
            <a:pPr marL="0" indent="0">
              <a:buNone/>
            </a:pPr>
            <a:endParaRPr lang="en-IN" dirty="0"/>
          </a:p>
        </p:txBody>
      </p:sp>
      <p:sp>
        <p:nvSpPr>
          <p:cNvPr id="4" name="Slide Number Placeholder 3">
            <a:extLst>
              <a:ext uri="{FF2B5EF4-FFF2-40B4-BE49-F238E27FC236}">
                <a16:creationId xmlns:a16="http://schemas.microsoft.com/office/drawing/2014/main" id="{60E12FE9-A509-3DEC-FCA5-563FBC4ACCE0}"/>
              </a:ext>
            </a:extLst>
          </p:cNvPr>
          <p:cNvSpPr>
            <a:spLocks noGrp="1"/>
          </p:cNvSpPr>
          <p:nvPr>
            <p:ph type="sldNum" sz="quarter" idx="12"/>
          </p:nvPr>
        </p:nvSpPr>
        <p:spPr/>
        <p:txBody>
          <a:bodyPr/>
          <a:lstStyle/>
          <a:p>
            <a:pPr lvl="1">
              <a:defRPr/>
            </a:pPr>
            <a:fld id="{0831C007-5AA1-4C47-955B-DD23833C3AF5}" type="slidenum">
              <a:rPr lang="en-US" altLang="en-US" smtClean="0"/>
              <a:pPr lvl="1">
                <a:defRPr/>
              </a:pPr>
              <a:t>11</a:t>
            </a:fld>
            <a:endParaRPr lang="en-US" altLang="en-US"/>
          </a:p>
        </p:txBody>
      </p:sp>
    </p:spTree>
    <p:extLst>
      <p:ext uri="{BB962C8B-B14F-4D97-AF65-F5344CB8AC3E}">
        <p14:creationId xmlns:p14="http://schemas.microsoft.com/office/powerpoint/2010/main" val="331884439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3980568-A596-4381-A5CE-561B970C0C35}"/>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Memory Requirements</a:t>
            </a:r>
          </a:p>
        </p:txBody>
      </p:sp>
      <p:sp>
        <p:nvSpPr>
          <p:cNvPr id="17411" name="Rectangle 3">
            <a:extLst>
              <a:ext uri="{FF2B5EF4-FFF2-40B4-BE49-F238E27FC236}">
                <a16:creationId xmlns:a16="http://schemas.microsoft.com/office/drawing/2014/main" id="{756E7E59-6B56-4088-B109-53A3D15C6F4D}"/>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sz="2800" dirty="0"/>
              <a:t>Need lots of bandwidth</a:t>
            </a:r>
          </a:p>
          <a:p>
            <a:pPr lvl="1" eaLnBrk="1" hangingPunct="1">
              <a:lnSpc>
                <a:spcPct val="80000"/>
              </a:lnSpc>
            </a:pPr>
            <a:r>
              <a:rPr lang="en-US" altLang="en-US" sz="2400" dirty="0"/>
              <a:t>e.g., 1 IPC, 1 GHz</a:t>
            </a:r>
          </a:p>
          <a:p>
            <a:pPr lvl="1" eaLnBrk="1" hangingPunct="1">
              <a:lnSpc>
                <a:spcPct val="80000"/>
              </a:lnSpc>
            </a:pPr>
            <a:r>
              <a:rPr lang="en-US" altLang="en-US" sz="2400" dirty="0"/>
              <a:t>40% D-mem </a:t>
            </a:r>
            <a:r>
              <a:rPr lang="en-US" altLang="en-US" sz="2400" dirty="0" err="1"/>
              <a:t>insns</a:t>
            </a:r>
            <a:r>
              <a:rPr lang="en-US" altLang="en-US" sz="2400" dirty="0"/>
              <a:t> × 4B per D-mem </a:t>
            </a:r>
            <a:r>
              <a:rPr lang="en-US" altLang="en-US" sz="2400" dirty="0" err="1"/>
              <a:t>insn</a:t>
            </a:r>
            <a:endParaRPr lang="en-US" altLang="en-US" sz="2400" dirty="0"/>
          </a:p>
          <a:p>
            <a:pPr lvl="1" eaLnBrk="1" hangingPunct="1">
              <a:lnSpc>
                <a:spcPct val="80000"/>
              </a:lnSpc>
            </a:pPr>
            <a:r>
              <a:rPr lang="en-US" altLang="en-US" sz="2400" dirty="0"/>
              <a:t>100% </a:t>
            </a:r>
            <a:r>
              <a:rPr lang="en-US" altLang="en-US" sz="2400" dirty="0" err="1"/>
              <a:t>insns</a:t>
            </a:r>
            <a:r>
              <a:rPr lang="en-US" altLang="en-US" sz="2400" dirty="0"/>
              <a:t> × 4B per I-mem fetch</a:t>
            </a:r>
          </a:p>
          <a:p>
            <a:pPr lvl="1" eaLnBrk="1" hangingPunct="1">
              <a:lnSpc>
                <a:spcPct val="80000"/>
              </a:lnSpc>
            </a:pPr>
            <a:r>
              <a:rPr lang="en-US" altLang="en-US" sz="2400" dirty="0"/>
              <a:t>Thus required bandwidth = 5.6 GiB/s</a:t>
            </a:r>
            <a:endParaRPr lang="en-US" altLang="en-US" sz="2800" dirty="0"/>
          </a:p>
          <a:p>
            <a:pPr eaLnBrk="1" hangingPunct="1">
              <a:lnSpc>
                <a:spcPct val="80000"/>
              </a:lnSpc>
            </a:pPr>
            <a:r>
              <a:rPr lang="en-US" altLang="en-US" sz="2800" dirty="0"/>
              <a:t>Need lots of storage</a:t>
            </a:r>
          </a:p>
          <a:p>
            <a:pPr lvl="1" eaLnBrk="1" hangingPunct="1">
              <a:lnSpc>
                <a:spcPct val="90000"/>
              </a:lnSpc>
            </a:pPr>
            <a:r>
              <a:rPr lang="en-US" altLang="en-US" sz="2400" dirty="0"/>
              <a:t>Ranging from 64MiB to multiple TiB</a:t>
            </a:r>
          </a:p>
          <a:p>
            <a:pPr eaLnBrk="1" hangingPunct="1">
              <a:lnSpc>
                <a:spcPct val="80000"/>
              </a:lnSpc>
            </a:pPr>
            <a:r>
              <a:rPr lang="en-US" altLang="en-US" sz="2800" dirty="0"/>
              <a:t>Must be cheap per bit</a:t>
            </a:r>
          </a:p>
          <a:p>
            <a:pPr eaLnBrk="1" hangingPunct="1">
              <a:lnSpc>
                <a:spcPct val="80000"/>
              </a:lnSpc>
            </a:pPr>
            <a:r>
              <a:rPr lang="en-US" altLang="en-US" sz="2800" dirty="0"/>
              <a:t>These requirements seem incompatible</a:t>
            </a:r>
          </a:p>
        </p:txBody>
      </p:sp>
      <p:sp>
        <p:nvSpPr>
          <p:cNvPr id="2" name="Slide Number Placeholder 1">
            <a:extLst>
              <a:ext uri="{FF2B5EF4-FFF2-40B4-BE49-F238E27FC236}">
                <a16:creationId xmlns:a16="http://schemas.microsoft.com/office/drawing/2014/main" id="{212E8D9F-A37B-4AD2-AB01-07908F82BBCE}"/>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49EA34BC-7E76-44F4-8B79-E1F805681BDE}" type="slidenum">
              <a:rPr lang="en-US" altLang="en-US" sz="1400">
                <a:latin typeface="Calibri" panose="020F0502020204030204" pitchFamily="34" charset="0"/>
              </a:rPr>
              <a:pPr lvl="1" eaLnBrk="1" hangingPunct="1"/>
              <a:t>12</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3651104358"/>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E77E1-478F-9463-43A7-57A789B73D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C1EA45-BB41-1DBA-22DE-C58228AC1FCE}"/>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Memory Requirements for Processors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So, what are the memory requirements imposed by our processor and important applications? We need lots of bandwidth, lots of storage, and we need to ensure it’s affordable.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Bandwidth Calculation</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Assuming a processor with one IPC running at 1 GHz, if 40% of our instructions access data memory, and all instructions need to fetch from I-MEM, we need 5.6 gigabytes per second of bandwidth to keep our processor from blocking.</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Storage Needs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Even mobile applications require dozens of megabytes, while high-performance servers will hold multiple terabytes of memory.</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Cost Considerations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we need a per bit cost at a minimum. These requirements seem incompatible at first glance.</a:t>
            </a:r>
          </a:p>
          <a:p>
            <a:pPr>
              <a:lnSpc>
                <a:spcPct val="107000"/>
              </a:lnSpc>
              <a:spcAft>
                <a:spcPts val="800"/>
              </a:spcAft>
            </a:pPr>
            <a:r>
              <a:rPr lang="en-IN" sz="1800" kern="100" dirty="0">
                <a:latin typeface="Calibri" panose="020F0502020204030204" pitchFamily="34" charset="0"/>
                <a:ea typeface="Calibri" panose="020F0502020204030204" pitchFamily="34" charset="0"/>
                <a:cs typeface="Times New Roman" panose="02020603050405020304" pitchFamily="18" charset="0"/>
              </a:rPr>
              <a:t>What can we do?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F24872DB-6D99-3DA4-F6A6-9FB3B537F493}"/>
              </a:ext>
            </a:extLst>
          </p:cNvPr>
          <p:cNvSpPr>
            <a:spLocks noGrp="1"/>
          </p:cNvSpPr>
          <p:nvPr>
            <p:ph type="sldNum" sz="quarter" idx="12"/>
          </p:nvPr>
        </p:nvSpPr>
        <p:spPr/>
        <p:txBody>
          <a:bodyPr/>
          <a:lstStyle/>
          <a:p>
            <a:pPr lvl="1">
              <a:defRPr/>
            </a:pPr>
            <a:fld id="{0831C007-5AA1-4C47-955B-DD23833C3AF5}" type="slidenum">
              <a:rPr lang="en-US" altLang="en-US" smtClean="0"/>
              <a:pPr lvl="1">
                <a:defRPr/>
              </a:pPr>
              <a:t>13</a:t>
            </a:fld>
            <a:endParaRPr lang="en-US" altLang="en-US"/>
          </a:p>
        </p:txBody>
      </p:sp>
    </p:spTree>
    <p:extLst>
      <p:ext uri="{BB962C8B-B14F-4D97-AF65-F5344CB8AC3E}">
        <p14:creationId xmlns:p14="http://schemas.microsoft.com/office/powerpoint/2010/main" val="6565539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A3B28CD-9540-4659-9535-C4C98F4DC293}"/>
              </a:ext>
            </a:extLst>
          </p:cNvPr>
          <p:cNvSpPr>
            <a:spLocks noGrp="1"/>
          </p:cNvSpPr>
          <p:nvPr>
            <p:ph type="title"/>
            <p:custDataLst>
              <p:tags r:id="rId2"/>
            </p:custDataLst>
          </p:nvPr>
        </p:nvSpPr>
        <p:spPr>
          <a:xfrm>
            <a:off x="615875" y="136525"/>
            <a:ext cx="7467600" cy="1016005"/>
          </a:xfrm>
        </p:spPr>
        <p:txBody>
          <a:bodyPr/>
          <a:lstStyle/>
          <a:p>
            <a:pPr eaLnBrk="1" hangingPunct="1"/>
            <a:r>
              <a:rPr lang="en-US" altLang="en-US" dirty="0"/>
              <a:t>Memory Hierarchy</a:t>
            </a:r>
          </a:p>
        </p:txBody>
      </p:sp>
      <p:sp>
        <p:nvSpPr>
          <p:cNvPr id="18435" name="AutoShape 4">
            <a:extLst>
              <a:ext uri="{FF2B5EF4-FFF2-40B4-BE49-F238E27FC236}">
                <a16:creationId xmlns:a16="http://schemas.microsoft.com/office/drawing/2014/main" id="{E5B30A3B-FBB4-4507-9D5E-35FE5ED81D80}"/>
              </a:ext>
            </a:extLst>
          </p:cNvPr>
          <p:cNvSpPr>
            <a:spLocks noChangeArrowheads="1"/>
          </p:cNvSpPr>
          <p:nvPr>
            <p:custDataLst>
              <p:tags r:id="rId3"/>
            </p:custDataLst>
          </p:nvPr>
        </p:nvSpPr>
        <p:spPr bwMode="auto">
          <a:xfrm>
            <a:off x="1219200" y="1828800"/>
            <a:ext cx="6858000" cy="4114800"/>
          </a:xfrm>
          <a:prstGeom prst="triangle">
            <a:avLst>
              <a:gd name="adj" fmla="val 50000"/>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000">
              <a:latin typeface="Times New Roman" panose="02020603050405020304" pitchFamily="18" charset="0"/>
            </a:endParaRPr>
          </a:p>
        </p:txBody>
      </p:sp>
      <p:sp>
        <p:nvSpPr>
          <p:cNvPr id="18436" name="Line 7">
            <a:extLst>
              <a:ext uri="{FF2B5EF4-FFF2-40B4-BE49-F238E27FC236}">
                <a16:creationId xmlns:a16="http://schemas.microsoft.com/office/drawing/2014/main" id="{4E3FB027-867B-4DEC-A157-C993EA844336}"/>
              </a:ext>
            </a:extLst>
          </p:cNvPr>
          <p:cNvSpPr>
            <a:spLocks noChangeShapeType="1"/>
          </p:cNvSpPr>
          <p:nvPr>
            <p:custDataLst>
              <p:tags r:id="rId4"/>
            </p:custDataLst>
          </p:nvPr>
        </p:nvSpPr>
        <p:spPr bwMode="auto">
          <a:xfrm>
            <a:off x="3657600" y="3048000"/>
            <a:ext cx="201168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438" name="Line 9">
            <a:extLst>
              <a:ext uri="{FF2B5EF4-FFF2-40B4-BE49-F238E27FC236}">
                <a16:creationId xmlns:a16="http://schemas.microsoft.com/office/drawing/2014/main" id="{1147AE4C-9FA0-4370-9E74-FC8C02560D2F}"/>
              </a:ext>
            </a:extLst>
          </p:cNvPr>
          <p:cNvSpPr>
            <a:spLocks noChangeShapeType="1"/>
          </p:cNvSpPr>
          <p:nvPr>
            <p:custDataLst>
              <p:tags r:id="rId5"/>
            </p:custDataLst>
          </p:nvPr>
        </p:nvSpPr>
        <p:spPr bwMode="auto">
          <a:xfrm>
            <a:off x="2788920" y="4038600"/>
            <a:ext cx="3657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439" name="Line 10">
            <a:extLst>
              <a:ext uri="{FF2B5EF4-FFF2-40B4-BE49-F238E27FC236}">
                <a16:creationId xmlns:a16="http://schemas.microsoft.com/office/drawing/2014/main" id="{920F32D6-7715-4CB8-B876-3814585A89E8}"/>
              </a:ext>
            </a:extLst>
          </p:cNvPr>
          <p:cNvSpPr>
            <a:spLocks noChangeShapeType="1"/>
          </p:cNvSpPr>
          <p:nvPr>
            <p:custDataLst>
              <p:tags r:id="rId6"/>
            </p:custDataLst>
          </p:nvPr>
        </p:nvSpPr>
        <p:spPr bwMode="auto">
          <a:xfrm>
            <a:off x="1981200" y="5029200"/>
            <a:ext cx="530352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8440" name="Text Box 12">
            <a:extLst>
              <a:ext uri="{FF2B5EF4-FFF2-40B4-BE49-F238E27FC236}">
                <a16:creationId xmlns:a16="http://schemas.microsoft.com/office/drawing/2014/main" id="{1509ABA6-BBC9-4501-89D7-2BD2B5D55744}"/>
              </a:ext>
            </a:extLst>
          </p:cNvPr>
          <p:cNvSpPr txBox="1">
            <a:spLocks noChangeArrowheads="1"/>
          </p:cNvSpPr>
          <p:nvPr>
            <p:custDataLst>
              <p:tags r:id="rId7"/>
            </p:custDataLst>
          </p:nvPr>
        </p:nvSpPr>
        <p:spPr bwMode="auto">
          <a:xfrm>
            <a:off x="4122738" y="2406650"/>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Registers</a:t>
            </a:r>
          </a:p>
        </p:txBody>
      </p:sp>
      <p:sp>
        <p:nvSpPr>
          <p:cNvPr id="18441" name="Text Box 13">
            <a:extLst>
              <a:ext uri="{FF2B5EF4-FFF2-40B4-BE49-F238E27FC236}">
                <a16:creationId xmlns:a16="http://schemas.microsoft.com/office/drawing/2014/main" id="{F140A7EE-2D6B-4BD1-8941-7D83327FA1AA}"/>
              </a:ext>
            </a:extLst>
          </p:cNvPr>
          <p:cNvSpPr txBox="1">
            <a:spLocks noChangeArrowheads="1"/>
          </p:cNvSpPr>
          <p:nvPr>
            <p:custDataLst>
              <p:tags r:id="rId8"/>
            </p:custDataLst>
          </p:nvPr>
        </p:nvSpPr>
        <p:spPr bwMode="auto">
          <a:xfrm>
            <a:off x="3733800" y="3429000"/>
            <a:ext cx="17525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On-Chip SRAM</a:t>
            </a:r>
          </a:p>
        </p:txBody>
      </p:sp>
      <p:sp>
        <p:nvSpPr>
          <p:cNvPr id="18443" name="Text Box 15">
            <a:extLst>
              <a:ext uri="{FF2B5EF4-FFF2-40B4-BE49-F238E27FC236}">
                <a16:creationId xmlns:a16="http://schemas.microsoft.com/office/drawing/2014/main" id="{897EB0AB-6B06-4AF6-8FCF-65B8FC907034}"/>
              </a:ext>
            </a:extLst>
          </p:cNvPr>
          <p:cNvSpPr txBox="1">
            <a:spLocks noChangeArrowheads="1"/>
          </p:cNvSpPr>
          <p:nvPr>
            <p:custDataLst>
              <p:tags r:id="rId9"/>
            </p:custDataLst>
          </p:nvPr>
        </p:nvSpPr>
        <p:spPr bwMode="auto">
          <a:xfrm>
            <a:off x="3816785" y="4419600"/>
            <a:ext cx="15390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Off-Chip DRAM</a:t>
            </a:r>
          </a:p>
        </p:txBody>
      </p:sp>
      <p:sp>
        <p:nvSpPr>
          <p:cNvPr id="18444" name="Text Box 16">
            <a:extLst>
              <a:ext uri="{FF2B5EF4-FFF2-40B4-BE49-F238E27FC236}">
                <a16:creationId xmlns:a16="http://schemas.microsoft.com/office/drawing/2014/main" id="{96375AAD-C6FB-4285-A853-563463F54D4E}"/>
              </a:ext>
            </a:extLst>
          </p:cNvPr>
          <p:cNvSpPr txBox="1">
            <a:spLocks noChangeArrowheads="1"/>
          </p:cNvSpPr>
          <p:nvPr>
            <p:custDataLst>
              <p:tags r:id="rId10"/>
            </p:custDataLst>
          </p:nvPr>
        </p:nvSpPr>
        <p:spPr bwMode="auto">
          <a:xfrm>
            <a:off x="4114800" y="5334000"/>
            <a:ext cx="9429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Disk</a:t>
            </a:r>
          </a:p>
        </p:txBody>
      </p:sp>
      <p:sp>
        <p:nvSpPr>
          <p:cNvPr id="18445" name="AutoShape 17">
            <a:extLst>
              <a:ext uri="{FF2B5EF4-FFF2-40B4-BE49-F238E27FC236}">
                <a16:creationId xmlns:a16="http://schemas.microsoft.com/office/drawing/2014/main" id="{16C1F91F-901B-4496-9105-A29AC9E239D9}"/>
              </a:ext>
            </a:extLst>
          </p:cNvPr>
          <p:cNvSpPr>
            <a:spLocks noChangeArrowheads="1"/>
          </p:cNvSpPr>
          <p:nvPr>
            <p:custDataLst>
              <p:tags r:id="rId11"/>
            </p:custDataLst>
          </p:nvPr>
        </p:nvSpPr>
        <p:spPr bwMode="auto">
          <a:xfrm flipV="1">
            <a:off x="609600" y="2057400"/>
            <a:ext cx="990600" cy="3429000"/>
          </a:xfrm>
          <a:prstGeom prst="upArrow">
            <a:avLst>
              <a:gd name="adj1" fmla="val 50000"/>
              <a:gd name="adj2" fmla="val 86538"/>
            </a:avLst>
          </a:prstGeom>
          <a:solidFill>
            <a:srgbClr val="FFCC00"/>
          </a:solidFill>
          <a:ln w="12700">
            <a:solidFill>
              <a:schemeClr val="tx1"/>
            </a:solidFill>
            <a:miter lim="800000"/>
            <a:headEnd type="none" w="sm" len="sm"/>
            <a:tailEnd type="none" w="sm" len="sm"/>
          </a:ln>
        </p:spPr>
        <p:txBody>
          <a:bodyPr vert="eaVert"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latin typeface="Tahoma" panose="020B0604030504040204" pitchFamily="34" charset="0"/>
              </a:rPr>
              <a:t>CAPACITY</a:t>
            </a:r>
          </a:p>
        </p:txBody>
      </p:sp>
      <p:sp>
        <p:nvSpPr>
          <p:cNvPr id="18446" name="AutoShape 18">
            <a:extLst>
              <a:ext uri="{FF2B5EF4-FFF2-40B4-BE49-F238E27FC236}">
                <a16:creationId xmlns:a16="http://schemas.microsoft.com/office/drawing/2014/main" id="{65CA2FBE-A413-4F74-BEED-79FE0F581DC7}"/>
              </a:ext>
            </a:extLst>
          </p:cNvPr>
          <p:cNvSpPr>
            <a:spLocks noChangeArrowheads="1"/>
          </p:cNvSpPr>
          <p:nvPr>
            <p:custDataLst>
              <p:tags r:id="rId12"/>
            </p:custDataLst>
          </p:nvPr>
        </p:nvSpPr>
        <p:spPr bwMode="auto">
          <a:xfrm flipV="1">
            <a:off x="7620000" y="2057400"/>
            <a:ext cx="990600" cy="3429000"/>
          </a:xfrm>
          <a:prstGeom prst="downArrow">
            <a:avLst>
              <a:gd name="adj1" fmla="val 50000"/>
              <a:gd name="adj2" fmla="val 86538"/>
            </a:avLst>
          </a:prstGeom>
          <a:solidFill>
            <a:srgbClr val="FFCC00"/>
          </a:solidFill>
          <a:ln w="12700">
            <a:solidFill>
              <a:schemeClr val="tx1"/>
            </a:solidFill>
            <a:miter lim="800000"/>
            <a:headEnd type="none" w="sm" len="sm"/>
            <a:tailEnd type="none" w="sm" len="sm"/>
          </a:ln>
        </p:spPr>
        <p:txBody>
          <a:bodyPr vert="eaVert"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latin typeface="Tahoma" panose="020B0604030504040204" pitchFamily="34" charset="0"/>
              </a:rPr>
              <a:t>SPEED and COST</a:t>
            </a:r>
          </a:p>
        </p:txBody>
      </p:sp>
      <p:sp>
        <p:nvSpPr>
          <p:cNvPr id="18447" name="Slide Number Placeholder 1">
            <a:extLst>
              <a:ext uri="{FF2B5EF4-FFF2-40B4-BE49-F238E27FC236}">
                <a16:creationId xmlns:a16="http://schemas.microsoft.com/office/drawing/2014/main" id="{209AB2E0-C402-4FF6-9441-14DF7F598769}"/>
              </a:ext>
            </a:extLst>
          </p:cNvPr>
          <p:cNvSpPr>
            <a:spLocks noGrp="1" noChangeArrowheads="1"/>
          </p:cNvSpPr>
          <p:nvPr>
            <p:ph type="sldNum" sz="quarter" idx="12"/>
            <p:custDataLst>
              <p:tags r:id="rId1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1432472D-C559-4CDE-A860-3970FFE2EE05}" type="slidenum">
              <a:rPr lang="en-US" altLang="en-US" sz="1400"/>
              <a:pPr lvl="1">
                <a:spcBef>
                  <a:spcPct val="0"/>
                </a:spcBef>
                <a:buFontTx/>
                <a:buNone/>
              </a:pPr>
              <a:t>14</a:t>
            </a:fld>
            <a:endParaRPr lang="en-US" altLang="en-US" sz="1400"/>
          </a:p>
        </p:txBody>
      </p:sp>
    </p:spTree>
    <p:custDataLst>
      <p:tags r:id="rId1"/>
    </p:custDataLst>
    <p:extLst>
      <p:ext uri="{BB962C8B-B14F-4D97-AF65-F5344CB8AC3E}">
        <p14:creationId xmlns:p14="http://schemas.microsoft.com/office/powerpoint/2010/main" val="301934053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1F20-CEC7-2603-81C0-E11651DB06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7EA1F-FB29-48DC-827A-4C5A0524150F}"/>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Memory Hierarchy Solution</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general solution is to form a memory hierarchy. You do this in your everyday life: registers are like front pockets – easily accessible and only fit what you need right now, On-Chip SRAM is your backpack – hold your laptop, books but takes a few extra seconds to open up, and off-chip DRAM is your apartment – which keeps all your books and clothes. Disk is the storage at the basement of the building. </a:t>
            </a:r>
            <a:endParaRPr lang="en-IN" sz="1800" b="1"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 Access and Cost</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idea is that not all bits are created equal. We have lots of data we could access, but much of it is accessed less frequently. Different memory technologies offer trade-offs in speed, capacity, and cost. Registers and SRAM are more expensive but having small amount of them can really help speed up the accesses to critical data that we use often while the rest of the data can reside in DRAM or Disk. </a:t>
            </a:r>
          </a:p>
          <a:p>
            <a:pPr marL="0" indent="0">
              <a:buNone/>
            </a:pPr>
            <a:endParaRPr lang="en-IN" dirty="0"/>
          </a:p>
        </p:txBody>
      </p:sp>
      <p:sp>
        <p:nvSpPr>
          <p:cNvPr id="4" name="Slide Number Placeholder 3">
            <a:extLst>
              <a:ext uri="{FF2B5EF4-FFF2-40B4-BE49-F238E27FC236}">
                <a16:creationId xmlns:a16="http://schemas.microsoft.com/office/drawing/2014/main" id="{833DEB40-2A1D-4C26-598E-52C9A41BE81D}"/>
              </a:ext>
            </a:extLst>
          </p:cNvPr>
          <p:cNvSpPr>
            <a:spLocks noGrp="1"/>
          </p:cNvSpPr>
          <p:nvPr>
            <p:ph type="sldNum" sz="quarter" idx="12"/>
          </p:nvPr>
        </p:nvSpPr>
        <p:spPr/>
        <p:txBody>
          <a:bodyPr/>
          <a:lstStyle/>
          <a:p>
            <a:pPr lvl="1">
              <a:defRPr/>
            </a:pPr>
            <a:fld id="{0831C007-5AA1-4C47-955B-DD23833C3AF5}" type="slidenum">
              <a:rPr lang="en-US" altLang="en-US" smtClean="0"/>
              <a:pPr lvl="1">
                <a:defRPr/>
              </a:pPr>
              <a:t>15</a:t>
            </a:fld>
            <a:endParaRPr lang="en-US" altLang="en-US"/>
          </a:p>
        </p:txBody>
      </p:sp>
    </p:spTree>
    <p:extLst>
      <p:ext uri="{BB962C8B-B14F-4D97-AF65-F5344CB8AC3E}">
        <p14:creationId xmlns:p14="http://schemas.microsoft.com/office/powerpoint/2010/main" val="93692283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8CC5C645-5514-4805-B5CA-A54D9E168A63}"/>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18435" name="Rectangle 3">
            <a:extLst>
              <a:ext uri="{FF2B5EF4-FFF2-40B4-BE49-F238E27FC236}">
                <a16:creationId xmlns:a16="http://schemas.microsoft.com/office/drawing/2014/main" id="{62A9E62F-1F08-42AD-A7C3-3EF2B4B59A01}"/>
              </a:ext>
            </a:extLst>
          </p:cNvPr>
          <p:cNvSpPr>
            <a:spLocks noGrp="1" noChangeArrowheads="1"/>
          </p:cNvSpPr>
          <p:nvPr>
            <p:ph idx="1"/>
            <p:custDataLst>
              <p:tags r:id="rId3"/>
            </p:custDataLst>
          </p:nvPr>
        </p:nvSpPr>
        <p:spPr>
          <a:xfrm>
            <a:off x="457200" y="1600200"/>
            <a:ext cx="8229600" cy="4525963"/>
          </a:xfrm>
        </p:spPr>
        <p:txBody>
          <a:bodyPr/>
          <a:lstStyle/>
          <a:p>
            <a:pPr marL="0" indent="0" eaLnBrk="1" hangingPunct="1">
              <a:lnSpc>
                <a:spcPct val="80000"/>
              </a:lnSpc>
              <a:buNone/>
            </a:pPr>
            <a:r>
              <a:rPr lang="en-US" altLang="en-US" dirty="0"/>
              <a:t>Why memory hierarchy?</a:t>
            </a:r>
          </a:p>
          <a:p>
            <a:pPr eaLnBrk="1" hangingPunct="1">
              <a:lnSpc>
                <a:spcPct val="80000"/>
              </a:lnSpc>
            </a:pPr>
            <a:r>
              <a:rPr lang="en-US" altLang="en-US" sz="2800" dirty="0"/>
              <a:t>Fast and small memories</a:t>
            </a:r>
          </a:p>
          <a:p>
            <a:pPr lvl="1" eaLnBrk="1" hangingPunct="1">
              <a:lnSpc>
                <a:spcPct val="80000"/>
              </a:lnSpc>
            </a:pPr>
            <a:r>
              <a:rPr lang="en-US" altLang="en-US" sz="2400" dirty="0"/>
              <a:t>Quick access (fast cycle time), expensive</a:t>
            </a:r>
          </a:p>
          <a:p>
            <a:pPr lvl="1" eaLnBrk="1" hangingPunct="1">
              <a:lnSpc>
                <a:spcPct val="80000"/>
              </a:lnSpc>
            </a:pPr>
            <a:r>
              <a:rPr lang="en-US" altLang="en-US" sz="2400" dirty="0"/>
              <a:t>For data that the program uses often</a:t>
            </a:r>
          </a:p>
          <a:p>
            <a:pPr eaLnBrk="1" hangingPunct="1">
              <a:lnSpc>
                <a:spcPct val="80000"/>
              </a:lnSpc>
            </a:pPr>
            <a:r>
              <a:rPr lang="en-US" altLang="en-US" sz="2800" dirty="0"/>
              <a:t>Slow and large memories</a:t>
            </a:r>
          </a:p>
          <a:p>
            <a:pPr lvl="1" eaLnBrk="1" hangingPunct="1">
              <a:lnSpc>
                <a:spcPct val="80000"/>
              </a:lnSpc>
            </a:pPr>
            <a:r>
              <a:rPr lang="en-US" altLang="en-US" sz="2400" dirty="0"/>
              <a:t>High capacity, cheap</a:t>
            </a:r>
          </a:p>
          <a:p>
            <a:pPr lvl="1" eaLnBrk="1" hangingPunct="1">
              <a:lnSpc>
                <a:spcPct val="80000"/>
              </a:lnSpc>
            </a:pPr>
            <a:r>
              <a:rPr lang="en-US" altLang="en-US" sz="2400" dirty="0"/>
              <a:t>For the rest of the program data</a:t>
            </a:r>
          </a:p>
          <a:p>
            <a:pPr eaLnBrk="1" hangingPunct="1">
              <a:lnSpc>
                <a:spcPct val="80000"/>
              </a:lnSpc>
            </a:pPr>
            <a:r>
              <a:rPr lang="en-US" altLang="en-US" sz="2800" b="1" dirty="0">
                <a:solidFill>
                  <a:schemeClr val="accent6">
                    <a:lumMod val="75000"/>
                  </a:schemeClr>
                </a:solidFill>
              </a:rPr>
              <a:t>Together</a:t>
            </a:r>
            <a:r>
              <a:rPr lang="en-US" altLang="en-US" sz="2800" dirty="0">
                <a:solidFill>
                  <a:schemeClr val="accent6">
                    <a:lumMod val="75000"/>
                  </a:schemeClr>
                </a:solidFill>
              </a:rPr>
              <a:t>: provide appearance of large, fast memory with cost of cheap, slow memory</a:t>
            </a:r>
          </a:p>
        </p:txBody>
      </p:sp>
      <p:sp>
        <p:nvSpPr>
          <p:cNvPr id="2" name="Slide Number Placeholder 1">
            <a:extLst>
              <a:ext uri="{FF2B5EF4-FFF2-40B4-BE49-F238E27FC236}">
                <a16:creationId xmlns:a16="http://schemas.microsoft.com/office/drawing/2014/main" id="{74443C8E-6EA8-4F30-B275-5B49D60A7EF4}"/>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2CD867C5-3AAA-4930-BBA4-29BC7F05BF4D}" type="slidenum">
              <a:rPr lang="en-US" altLang="en-US" sz="1400">
                <a:latin typeface="Calibri" panose="020F0502020204030204" pitchFamily="34" charset="0"/>
              </a:rPr>
              <a:pPr lvl="1" eaLnBrk="1" hangingPunct="1"/>
              <a:t>16</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10542943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972C0-FFA9-7194-AF65-61B16B5926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9294F6-8E1F-334B-ED85-5747D5409B62}"/>
              </a:ext>
            </a:extLst>
          </p:cNvPr>
          <p:cNvSpPr>
            <a:spLocks noGrp="1"/>
          </p:cNvSpPr>
          <p:nvPr>
            <p:ph idx="1"/>
          </p:nvPr>
        </p:nvSpPr>
        <p:spPr>
          <a:xfrm>
            <a:off x="457200" y="304800"/>
            <a:ext cx="8229600" cy="6248400"/>
          </a:xfrm>
        </p:spPr>
        <p:txBody>
          <a:bodyPr/>
          <a:lstStyle/>
          <a:p>
            <a:pPr>
              <a:lnSpc>
                <a:spcPct val="107000"/>
              </a:lnSpc>
              <a:spcAft>
                <a:spcPts val="800"/>
              </a:spcAft>
            </a:pPr>
            <a:r>
              <a:rPr lang="en-GB" dirty="0">
                <a:solidFill>
                  <a:srgbClr val="111827"/>
                </a:solidFill>
                <a:latin typeface="Calibri" panose="020F0502020204030204" pitchFamily="34" charset="0"/>
                <a:ea typeface="Calibri" panose="020F0502020204030204" pitchFamily="34" charset="0"/>
                <a:cs typeface="Calibri" panose="020F0502020204030204" pitchFamily="34" charset="0"/>
              </a:rPr>
              <a:t>S</a:t>
            </a:r>
            <a:r>
              <a:rPr lang="en-GB" b="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o why a memory hierarchy because the heterogeneity of memory Technologies works very well with the heterogeneity of the data that our programs access fast memories are expensive but we can dedicate a small amount of them for storing data that we expect to use often, while slow memories are much cheaper and more dense which is what works to store the rest of our data taken together. This hierarchy appears to be a large fast memory with roughly the cost of slow memory.</a:t>
            </a:r>
            <a:endParaRPr lang="en-IN"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316FCF3-91C8-1775-C445-644A6D18B742}"/>
              </a:ext>
            </a:extLst>
          </p:cNvPr>
          <p:cNvSpPr>
            <a:spLocks noGrp="1"/>
          </p:cNvSpPr>
          <p:nvPr>
            <p:ph type="sldNum" sz="quarter" idx="12"/>
          </p:nvPr>
        </p:nvSpPr>
        <p:spPr/>
        <p:txBody>
          <a:bodyPr/>
          <a:lstStyle/>
          <a:p>
            <a:pPr lvl="1">
              <a:defRPr/>
            </a:pPr>
            <a:fld id="{0831C007-5AA1-4C47-955B-DD23833C3AF5}" type="slidenum">
              <a:rPr lang="en-US" altLang="en-US" smtClean="0"/>
              <a:pPr lvl="1">
                <a:defRPr/>
              </a:pPr>
              <a:t>17</a:t>
            </a:fld>
            <a:endParaRPr lang="en-US" altLang="en-US"/>
          </a:p>
        </p:txBody>
      </p:sp>
    </p:spTree>
    <p:extLst>
      <p:ext uri="{BB962C8B-B14F-4D97-AF65-F5344CB8AC3E}">
        <p14:creationId xmlns:p14="http://schemas.microsoft.com/office/powerpoint/2010/main" val="157348684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18</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1563" y="3977481"/>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068BA21-76E4-4C6C-9766-C348672BD8CD}"/>
              </a:ext>
            </a:extLst>
          </p:cNvPr>
          <p:cNvCxnSpPr>
            <a:cxnSpLocks/>
          </p:cNvCxnSpPr>
          <p:nvPr/>
        </p:nvCxnSpPr>
        <p:spPr>
          <a:xfrm flipH="1" flipV="1">
            <a:off x="4648200" y="3429000"/>
            <a:ext cx="2057400" cy="16002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A3FCEB4-4829-402D-90F6-84A10F8B404F}"/>
              </a:ext>
            </a:extLst>
          </p:cNvPr>
          <p:cNvCxnSpPr>
            <a:cxnSpLocks/>
          </p:cNvCxnSpPr>
          <p:nvPr/>
        </p:nvCxnSpPr>
        <p:spPr>
          <a:xfrm flipV="1">
            <a:off x="7162800" y="3505200"/>
            <a:ext cx="1828800" cy="15240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ounded Rectangle 26" descr=" 27">
            <a:extLst>
              <a:ext uri="{FF2B5EF4-FFF2-40B4-BE49-F238E27FC236}">
                <a16:creationId xmlns:a16="http://schemas.microsoft.com/office/drawing/2014/main" id="{38B91264-F153-4B57-A6AC-43331971E68C}"/>
              </a:ext>
            </a:extLst>
          </p:cNvPr>
          <p:cNvSpPr/>
          <p:nvPr>
            <p:custDataLst>
              <p:tags r:id="rId4"/>
            </p:custDataLst>
          </p:nvPr>
        </p:nvSpPr>
        <p:spPr>
          <a:xfrm>
            <a:off x="4800601" y="1329153"/>
            <a:ext cx="4191000" cy="1421883"/>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main memory (off-chip DRAM)</a:t>
            </a:r>
          </a:p>
        </p:txBody>
      </p:sp>
      <p:cxnSp>
        <p:nvCxnSpPr>
          <p:cNvPr id="13" name="Straight Connector 12" descr=" 28">
            <a:extLst>
              <a:ext uri="{FF2B5EF4-FFF2-40B4-BE49-F238E27FC236}">
                <a16:creationId xmlns:a16="http://schemas.microsoft.com/office/drawing/2014/main" id="{210E6152-E3C7-46B3-9448-D7806EB681A8}"/>
              </a:ext>
            </a:extLst>
          </p:cNvPr>
          <p:cNvCxnSpPr>
            <a:cxnSpLocks/>
          </p:cNvCxnSpPr>
          <p:nvPr/>
        </p:nvCxnSpPr>
        <p:spPr>
          <a:xfrm>
            <a:off x="6920537" y="2751036"/>
            <a:ext cx="0" cy="822960"/>
          </a:xfrm>
          <a:prstGeom prst="line">
            <a:avLst/>
          </a:prstGeom>
          <a:ln w="254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4" name="Rounded Rectangle 18" descr=" 9">
            <a:extLst>
              <a:ext uri="{FF2B5EF4-FFF2-40B4-BE49-F238E27FC236}">
                <a16:creationId xmlns:a16="http://schemas.microsoft.com/office/drawing/2014/main" id="{E3F2EFDA-B757-43E4-8B32-CB60B3D28497}"/>
              </a:ext>
            </a:extLst>
          </p:cNvPr>
          <p:cNvSpPr/>
          <p:nvPr>
            <p:custDataLst>
              <p:tags r:id="rId5"/>
            </p:custDataLst>
          </p:nvPr>
        </p:nvSpPr>
        <p:spPr>
          <a:xfrm>
            <a:off x="5663241" y="3581400"/>
            <a:ext cx="2490159" cy="609600"/>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cache (on-chip SRAM)</a:t>
            </a:r>
          </a:p>
        </p:txBody>
      </p:sp>
      <p:sp>
        <p:nvSpPr>
          <p:cNvPr id="17" name="Rectangle 3">
            <a:extLst>
              <a:ext uri="{FF2B5EF4-FFF2-40B4-BE49-F238E27FC236}">
                <a16:creationId xmlns:a16="http://schemas.microsoft.com/office/drawing/2014/main" id="{34174BA9-66EF-4319-901D-75D775446A0F}"/>
              </a:ext>
            </a:extLst>
          </p:cNvPr>
          <p:cNvSpPr>
            <a:spLocks noGrp="1" noChangeArrowheads="1"/>
          </p:cNvSpPr>
          <p:nvPr>
            <p:ph idx="1"/>
            <p:custDataLst>
              <p:tags r:id="rId6"/>
            </p:custDataLst>
          </p:nvPr>
        </p:nvSpPr>
        <p:spPr>
          <a:xfrm>
            <a:off x="457201" y="1371600"/>
            <a:ext cx="4392272" cy="2819400"/>
          </a:xfrm>
        </p:spPr>
        <p:txBody>
          <a:bodyPr/>
          <a:lstStyle/>
          <a:p>
            <a:pPr marL="0" indent="0" eaLnBrk="1" hangingPunct="1">
              <a:buNone/>
            </a:pPr>
            <a:r>
              <a:rPr lang="en-US" altLang="en-US" sz="2400" i="1" dirty="0"/>
              <a:t>Cache</a:t>
            </a:r>
            <a:r>
              <a:rPr lang="en-US" altLang="en-US" sz="2400" dirty="0"/>
              <a:t> holds recently accessed multi-byte (e.g., 64B) data </a:t>
            </a:r>
            <a:r>
              <a:rPr lang="en-US" altLang="en-US" sz="2400" i="1" dirty="0"/>
              <a:t>blocks</a:t>
            </a:r>
            <a:r>
              <a:rPr lang="en-US" altLang="en-US" sz="2400" dirty="0"/>
              <a:t> from memory for faster access</a:t>
            </a:r>
          </a:p>
          <a:p>
            <a:pPr eaLnBrk="1" hangingPunct="1"/>
            <a:r>
              <a:rPr lang="en-US" altLang="en-US" sz="2000" dirty="0"/>
              <a:t>Leverages data </a:t>
            </a:r>
            <a:r>
              <a:rPr lang="en-US" altLang="en-US" sz="2000" i="1" dirty="0"/>
              <a:t>reuse</a:t>
            </a:r>
          </a:p>
          <a:p>
            <a:pPr eaLnBrk="1" hangingPunct="1"/>
            <a:r>
              <a:rPr lang="en-US" altLang="en-US" sz="2000" dirty="0"/>
              <a:t>Cache </a:t>
            </a:r>
            <a:r>
              <a:rPr lang="en-US" altLang="en-US" sz="2000" i="1" dirty="0"/>
              <a:t>miss</a:t>
            </a:r>
            <a:r>
              <a:rPr lang="en-US" altLang="en-US" sz="2000" dirty="0"/>
              <a:t>, if not in cache, else </a:t>
            </a:r>
            <a:r>
              <a:rPr lang="en-US" altLang="en-US" sz="2000" i="1" dirty="0"/>
              <a:t>hit</a:t>
            </a:r>
          </a:p>
        </p:txBody>
      </p:sp>
      <p:sp>
        <p:nvSpPr>
          <p:cNvPr id="12" name="TextBox 11">
            <a:extLst>
              <a:ext uri="{FF2B5EF4-FFF2-40B4-BE49-F238E27FC236}">
                <a16:creationId xmlns:a16="http://schemas.microsoft.com/office/drawing/2014/main" id="{30142E18-882D-467A-8A9A-928C63A5672C}"/>
              </a:ext>
            </a:extLst>
          </p:cNvPr>
          <p:cNvSpPr txBox="1"/>
          <p:nvPr>
            <p:custDataLst>
              <p:tags r:id="rId7"/>
            </p:custDataLst>
          </p:nvPr>
        </p:nvSpPr>
        <p:spPr>
          <a:xfrm>
            <a:off x="931257" y="6188271"/>
            <a:ext cx="1507143" cy="338554"/>
          </a:xfrm>
          <a:prstGeom prst="rect">
            <a:avLst/>
          </a:prstGeom>
          <a:noFill/>
        </p:spPr>
        <p:txBody>
          <a:bodyPr wrap="none" rtlCol="0">
            <a:spAutoFit/>
          </a:bodyPr>
          <a:lstStyle/>
          <a:p>
            <a:pPr algn="ctr"/>
            <a:r>
              <a:rPr lang="en-US" sz="1600" b="1" dirty="0">
                <a:solidFill>
                  <a:schemeClr val="accent6">
                    <a:lumMod val="75000"/>
                  </a:schemeClr>
                </a:solidFill>
                <a:latin typeface="+mn-lt"/>
              </a:rPr>
              <a:t>(1) </a:t>
            </a:r>
            <a:r>
              <a:rPr lang="en-US" sz="1600" b="1" dirty="0" err="1">
                <a:solidFill>
                  <a:schemeClr val="accent6">
                    <a:lumMod val="75000"/>
                  </a:schemeClr>
                </a:solidFill>
                <a:latin typeface="+mn-lt"/>
              </a:rPr>
              <a:t>lw</a:t>
            </a:r>
            <a:r>
              <a:rPr lang="en-US" sz="1600" b="1" dirty="0">
                <a:solidFill>
                  <a:schemeClr val="accent6">
                    <a:lumMod val="75000"/>
                  </a:schemeClr>
                </a:solidFill>
                <a:latin typeface="+mn-lt"/>
              </a:rPr>
              <a:t> $t0, 4000</a:t>
            </a:r>
          </a:p>
        </p:txBody>
      </p:sp>
      <p:sp>
        <p:nvSpPr>
          <p:cNvPr id="15" name="TextBox 14">
            <a:extLst>
              <a:ext uri="{FF2B5EF4-FFF2-40B4-BE49-F238E27FC236}">
                <a16:creationId xmlns:a16="http://schemas.microsoft.com/office/drawing/2014/main" id="{C91CEC33-9C61-4263-B6A3-E1FA406A6B9B}"/>
              </a:ext>
            </a:extLst>
          </p:cNvPr>
          <p:cNvSpPr txBox="1"/>
          <p:nvPr>
            <p:custDataLst>
              <p:tags r:id="rId8"/>
            </p:custDataLst>
          </p:nvPr>
        </p:nvSpPr>
        <p:spPr>
          <a:xfrm>
            <a:off x="2590800" y="3651864"/>
            <a:ext cx="2549865" cy="338554"/>
          </a:xfrm>
          <a:prstGeom prst="rect">
            <a:avLst/>
          </a:prstGeom>
          <a:noFill/>
        </p:spPr>
        <p:txBody>
          <a:bodyPr wrap="none" rtlCol="0">
            <a:spAutoFit/>
          </a:bodyPr>
          <a:lstStyle/>
          <a:p>
            <a:r>
              <a:rPr lang="en-US" sz="1600" b="1" dirty="0">
                <a:solidFill>
                  <a:schemeClr val="accent6">
                    <a:lumMod val="75000"/>
                  </a:schemeClr>
                </a:solidFill>
                <a:latin typeface="+mn-lt"/>
              </a:rPr>
              <a:t>(4) cache lookup 4000 again</a:t>
            </a:r>
          </a:p>
        </p:txBody>
      </p:sp>
      <p:sp>
        <p:nvSpPr>
          <p:cNvPr id="16" name="TextBox 15">
            <a:extLst>
              <a:ext uri="{FF2B5EF4-FFF2-40B4-BE49-F238E27FC236}">
                <a16:creationId xmlns:a16="http://schemas.microsoft.com/office/drawing/2014/main" id="{AEA666E4-3EF4-4036-AFF6-E208AC190888}"/>
              </a:ext>
            </a:extLst>
          </p:cNvPr>
          <p:cNvSpPr txBox="1"/>
          <p:nvPr>
            <p:custDataLst>
              <p:tags r:id="rId9"/>
            </p:custDataLst>
          </p:nvPr>
        </p:nvSpPr>
        <p:spPr>
          <a:xfrm>
            <a:off x="5280759" y="2136656"/>
            <a:ext cx="3255122" cy="584775"/>
          </a:xfrm>
          <a:prstGeom prst="rect">
            <a:avLst/>
          </a:prstGeom>
          <a:noFill/>
        </p:spPr>
        <p:txBody>
          <a:bodyPr wrap="none" rtlCol="0">
            <a:spAutoFit/>
          </a:bodyPr>
          <a:lstStyle/>
          <a:p>
            <a:pPr algn="ctr"/>
            <a:r>
              <a:rPr lang="en-US" sz="1600" b="1" dirty="0">
                <a:solidFill>
                  <a:schemeClr val="accent6">
                    <a:lumMod val="75000"/>
                  </a:schemeClr>
                </a:solidFill>
                <a:latin typeface="+mn-lt"/>
              </a:rPr>
              <a:t>(3) if not in cache, fetch (4000-4063)</a:t>
            </a:r>
          </a:p>
          <a:p>
            <a:pPr algn="ctr"/>
            <a:r>
              <a:rPr lang="en-US" sz="1600" b="1" dirty="0">
                <a:solidFill>
                  <a:schemeClr val="accent6">
                    <a:lumMod val="75000"/>
                  </a:schemeClr>
                </a:solidFill>
                <a:latin typeface="+mn-lt"/>
              </a:rPr>
              <a:t>from memory into cache</a:t>
            </a:r>
          </a:p>
        </p:txBody>
      </p:sp>
      <p:sp>
        <p:nvSpPr>
          <p:cNvPr id="18" name="TextBox 17">
            <a:extLst>
              <a:ext uri="{FF2B5EF4-FFF2-40B4-BE49-F238E27FC236}">
                <a16:creationId xmlns:a16="http://schemas.microsoft.com/office/drawing/2014/main" id="{6770DB45-74CB-464F-B9D8-96EDCEE7403B}"/>
              </a:ext>
            </a:extLst>
          </p:cNvPr>
          <p:cNvSpPr txBox="1"/>
          <p:nvPr>
            <p:custDataLst>
              <p:tags r:id="rId10"/>
            </p:custDataLst>
          </p:nvPr>
        </p:nvSpPr>
        <p:spPr>
          <a:xfrm>
            <a:off x="2590800" y="3429000"/>
            <a:ext cx="2046843" cy="338554"/>
          </a:xfrm>
          <a:prstGeom prst="rect">
            <a:avLst/>
          </a:prstGeom>
          <a:noFill/>
        </p:spPr>
        <p:txBody>
          <a:bodyPr wrap="none" rtlCol="0">
            <a:spAutoFit/>
          </a:bodyPr>
          <a:lstStyle/>
          <a:p>
            <a:r>
              <a:rPr lang="en-US" sz="1600" b="1" dirty="0">
                <a:solidFill>
                  <a:schemeClr val="accent6">
                    <a:lumMod val="75000"/>
                  </a:schemeClr>
                </a:solidFill>
                <a:latin typeface="+mn-lt"/>
              </a:rPr>
              <a:t>(2) cache lookup 4000</a:t>
            </a:r>
          </a:p>
        </p:txBody>
      </p:sp>
      <p:sp>
        <p:nvSpPr>
          <p:cNvPr id="19" name="TextBox 18">
            <a:extLst>
              <a:ext uri="{FF2B5EF4-FFF2-40B4-BE49-F238E27FC236}">
                <a16:creationId xmlns:a16="http://schemas.microsoft.com/office/drawing/2014/main" id="{5AFF4373-B0D7-4EEE-AC9D-482FBDCF3732}"/>
              </a:ext>
            </a:extLst>
          </p:cNvPr>
          <p:cNvSpPr txBox="1"/>
          <p:nvPr>
            <p:custDataLst>
              <p:tags r:id="rId11"/>
            </p:custDataLst>
          </p:nvPr>
        </p:nvSpPr>
        <p:spPr>
          <a:xfrm>
            <a:off x="7543800" y="4867327"/>
            <a:ext cx="1617752" cy="338554"/>
          </a:xfrm>
          <a:prstGeom prst="rect">
            <a:avLst/>
          </a:prstGeom>
          <a:noFill/>
        </p:spPr>
        <p:txBody>
          <a:bodyPr wrap="none" rtlCol="0">
            <a:spAutoFit/>
          </a:bodyPr>
          <a:lstStyle/>
          <a:p>
            <a:pPr algn="ctr"/>
            <a:r>
              <a:rPr lang="en-US" sz="1600" b="1" dirty="0">
                <a:solidFill>
                  <a:schemeClr val="accent6">
                    <a:lumMod val="75000"/>
                  </a:schemeClr>
                </a:solidFill>
                <a:latin typeface="+mn-lt"/>
              </a:rPr>
              <a:t>(5) [$t0] = (4000)</a:t>
            </a:r>
          </a:p>
        </p:txBody>
      </p:sp>
    </p:spTree>
    <p:custDataLst>
      <p:tags r:id="rId1"/>
    </p:custDataLst>
    <p:extLst>
      <p:ext uri="{BB962C8B-B14F-4D97-AF65-F5344CB8AC3E}">
        <p14:creationId xmlns:p14="http://schemas.microsoft.com/office/powerpoint/2010/main" val="15487207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6" grpId="0"/>
      <p:bldP spid="18" grpId="0"/>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8D64-D3B1-EBC8-0C4A-F922BF59EDE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6C105B-6577-FE9D-19BA-56FD5FAC2783}"/>
              </a:ext>
            </a:extLst>
          </p:cNvPr>
          <p:cNvSpPr>
            <a:spLocks noGrp="1"/>
          </p:cNvSpPr>
          <p:nvPr>
            <p:ph idx="1"/>
          </p:nvPr>
        </p:nvSpPr>
        <p:spPr>
          <a:xfrm>
            <a:off x="473336" y="117699"/>
            <a:ext cx="8229600" cy="6553200"/>
          </a:xfrm>
        </p:spPr>
        <p:txBody>
          <a:bodyPr/>
          <a:lstStyle/>
          <a:p>
            <a:pPr>
              <a:lnSpc>
                <a:spcPct val="107000"/>
              </a:lnSpc>
              <a:spcAft>
                <a:spcPts val="800"/>
              </a:spcAft>
            </a:pPr>
            <a:r>
              <a:rPr lang="en-IN" sz="1700" b="1" kern="100" dirty="0">
                <a:effectLst/>
                <a:latin typeface="Calibri" panose="020F0502020204030204" pitchFamily="34" charset="0"/>
                <a:ea typeface="Calibri" panose="020F0502020204030204" pitchFamily="34" charset="0"/>
                <a:cs typeface="Times New Roman" panose="02020603050405020304" pitchFamily="18" charset="0"/>
              </a:rPr>
              <a:t>Cache Implementation</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Here we start our implementation of the memory hierarchy of our processor with a cache. On-chip caches are typically built using SRAM and sit between the register file and main DRAM memory.</a:t>
            </a:r>
          </a:p>
          <a:p>
            <a:pPr>
              <a:lnSpc>
                <a:spcPct val="107000"/>
              </a:lnSpc>
              <a:spcAft>
                <a:spcPts val="800"/>
              </a:spcAft>
            </a:pPr>
            <a:r>
              <a:rPr lang="en-IN" sz="1700" b="1" kern="100" dirty="0">
                <a:effectLst/>
                <a:latin typeface="Calibri" panose="020F0502020204030204" pitchFamily="34" charset="0"/>
                <a:ea typeface="Calibri" panose="020F0502020204030204" pitchFamily="34" charset="0"/>
                <a:cs typeface="Times New Roman" panose="02020603050405020304" pitchFamily="18" charset="0"/>
              </a:rPr>
              <a:t>Cache Functionality</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The cache aims to hold recently accessed data  stored in the form of multi-byte blocks, often 64 bytes in size. So now Cache blocks and cache lines are used synonymously.</a:t>
            </a:r>
          </a:p>
          <a:p>
            <a:pPr>
              <a:lnSpc>
                <a:spcPct val="107000"/>
              </a:lnSpc>
              <a:spcAft>
                <a:spcPts val="800"/>
              </a:spcAft>
            </a:pPr>
            <a:r>
              <a:rPr lang="en-IN" sz="1700" b="1" kern="100" dirty="0">
                <a:effectLst/>
                <a:latin typeface="Calibri" panose="020F0502020204030204" pitchFamily="34" charset="0"/>
                <a:ea typeface="Calibri" panose="020F0502020204030204" pitchFamily="34" charset="0"/>
                <a:cs typeface="Times New Roman" panose="02020603050405020304" pitchFamily="18" charset="0"/>
              </a:rPr>
              <a:t>Cache Lookup Process</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Caches leverage data reuse. They often offers faster access than main memory so it </a:t>
            </a:r>
            <a:r>
              <a:rPr lang="en-IN" sz="1700" kern="100" dirty="0" err="1">
                <a:effectLst/>
                <a:latin typeface="Calibri" panose="020F0502020204030204" pitchFamily="34" charset="0"/>
                <a:ea typeface="Calibri" panose="020F0502020204030204" pitchFamily="34" charset="0"/>
                <a:cs typeface="Times New Roman" panose="02020603050405020304" pitchFamily="18" charset="0"/>
              </a:rPr>
              <a:t>behooves</a:t>
            </a: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 us to reserve cash storage for data we expect to use a lot. When a load or store instruction hits the memory stage, we perform a lookup in the cache. If the data at address 4000 is in the cache, it’s a cache hit.</a:t>
            </a:r>
          </a:p>
          <a:p>
            <a:pPr>
              <a:lnSpc>
                <a:spcPct val="107000"/>
              </a:lnSpc>
              <a:spcAft>
                <a:spcPts val="800"/>
              </a:spcAft>
            </a:pPr>
            <a:r>
              <a:rPr lang="en-IN" sz="1700" b="1" kern="100" dirty="0">
                <a:effectLst/>
                <a:latin typeface="Calibri" panose="020F0502020204030204" pitchFamily="34" charset="0"/>
                <a:ea typeface="Calibri" panose="020F0502020204030204" pitchFamily="34" charset="0"/>
                <a:cs typeface="Times New Roman" panose="02020603050405020304" pitchFamily="18" charset="0"/>
              </a:rPr>
              <a:t>Cache Miss Handling</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If not, it’s a cache miss, and we go to main memory to fetch it. We don’t just fetch 4 bytes; we fetch the 64-byte cache line at address 4000 or byte 4000 through 4063.</a:t>
            </a:r>
          </a:p>
          <a:p>
            <a:pPr>
              <a:lnSpc>
                <a:spcPct val="107000"/>
              </a:lnSpc>
              <a:spcAft>
                <a:spcPts val="800"/>
              </a:spcAft>
            </a:pPr>
            <a:r>
              <a:rPr lang="en-IN" sz="1700" b="1" kern="100" dirty="0">
                <a:effectLst/>
                <a:latin typeface="Calibri" panose="020F0502020204030204" pitchFamily="34" charset="0"/>
                <a:ea typeface="Calibri" panose="020F0502020204030204" pitchFamily="34" charset="0"/>
                <a:cs typeface="Times New Roman" panose="02020603050405020304" pitchFamily="18" charset="0"/>
              </a:rPr>
              <a:t>Writing Cache Data</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This cache line is written into the cache, and we replay the lookup, allowing us to read out the four bytes at address 4000 and put it into register t0 during  the write back stage. </a:t>
            </a:r>
          </a:p>
          <a:p>
            <a:pPr marL="0" indent="0">
              <a:buNone/>
            </a:pPr>
            <a:endParaRPr lang="en-IN" dirty="0"/>
          </a:p>
        </p:txBody>
      </p:sp>
      <p:sp>
        <p:nvSpPr>
          <p:cNvPr id="4" name="Slide Number Placeholder 3">
            <a:extLst>
              <a:ext uri="{FF2B5EF4-FFF2-40B4-BE49-F238E27FC236}">
                <a16:creationId xmlns:a16="http://schemas.microsoft.com/office/drawing/2014/main" id="{08CD6BE1-E79A-6521-0E91-0D140A593575}"/>
              </a:ext>
            </a:extLst>
          </p:cNvPr>
          <p:cNvSpPr>
            <a:spLocks noGrp="1"/>
          </p:cNvSpPr>
          <p:nvPr>
            <p:ph type="sldNum" sz="quarter" idx="12"/>
          </p:nvPr>
        </p:nvSpPr>
        <p:spPr/>
        <p:txBody>
          <a:bodyPr/>
          <a:lstStyle/>
          <a:p>
            <a:pPr lvl="1">
              <a:defRPr/>
            </a:pPr>
            <a:fld id="{0831C007-5AA1-4C47-955B-DD23833C3AF5}" type="slidenum">
              <a:rPr lang="en-US" altLang="en-US" smtClean="0"/>
              <a:pPr lvl="1">
                <a:defRPr/>
              </a:pPr>
              <a:t>19</a:t>
            </a:fld>
            <a:endParaRPr lang="en-US" altLang="en-US"/>
          </a:p>
        </p:txBody>
      </p:sp>
    </p:spTree>
    <p:extLst>
      <p:ext uri="{BB962C8B-B14F-4D97-AF65-F5344CB8AC3E}">
        <p14:creationId xmlns:p14="http://schemas.microsoft.com/office/powerpoint/2010/main" val="178508438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0F2D9CF4-0499-494F-BD5C-CD0370CAD9EC}"/>
              </a:ext>
            </a:extLst>
          </p:cNvPr>
          <p:cNvSpPr>
            <a:spLocks noGrp="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7172" name="Slide Number Placeholder 1">
            <a:extLst>
              <a:ext uri="{FF2B5EF4-FFF2-40B4-BE49-F238E27FC236}">
                <a16:creationId xmlns:a16="http://schemas.microsoft.com/office/drawing/2014/main" id="{AF650905-CD6A-4E22-8527-A92B86F5B11B}"/>
              </a:ext>
            </a:extLst>
          </p:cNvPr>
          <p:cNvSpPr>
            <a:spLocks noGrp="1" noChangeArrowheads="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ct val="0"/>
              </a:spcBef>
              <a:buFontTx/>
              <a:buNone/>
            </a:pPr>
            <a:fld id="{C25E0FD2-F670-4010-94F9-09ADC4179CDE}" type="slidenum">
              <a:rPr lang="en-US" altLang="en-US" sz="1400"/>
              <a:pPr lvl="1">
                <a:spcBef>
                  <a:spcPct val="0"/>
                </a:spcBef>
                <a:buFontTx/>
                <a:buNone/>
              </a:pPr>
              <a:t>20</a:t>
            </a:fld>
            <a:endParaRPr lang="en-US" altLang="en-US" sz="1400"/>
          </a:p>
        </p:txBody>
      </p:sp>
      <p:pic>
        <p:nvPicPr>
          <p:cNvPr id="7" name="Picture 2" descr="Final evolved datapath with control signals and hardware highlighted in blue. There is a multiplexor on the left side of the figure that chooses the input to the PC. The inputs of the multiplexor are from two adders. One adder computes PC + 4 and the other computes PC + result of a shift left 2 unit. The output of the PC is an input to Instruction memory. The outputs of the adder that computes PC + 4 and Instruction memory are inputs to IF/ID. One output of IF/ID is an input to the adder that computes PC + result of a Shift left 2 unit. Outputs of IF/ID are inputs to the Hazard detection unit, the Control unit, an adder that computes PC + result of a Shift left 2 unit, the Registers unit, a Sign-extend unit, and ID/EX. An output of the Hazard detection unit is an input to the PC and another output is an input to IF/ID. The outputs of the Registers unit and the Sign-extend unit are inputs to ID/EX. The outputs of the Registers unit are also inputs to a unit labeled =. An output of the Control unit is an input to a multiplexor that selects the WB, M, and EX values of ID/EX. Another output of the Control unit is an input to IF/ID. The WB value of ID/EX is an input to the WB of MEM/WB. The M value is an input to the Hazard detection unit and the M of MEM/WB. Two outputs of ID/EX are inputs to a multiplexor that selects an input to MEM/WB. Two other outputs of ID/EX are inputs to the forwarding unit. Two outputs of ID/EX are inputs to two multiplexors. The outputs of the two multiplexors are inputs to the ALU. The select lines of the two multiplexors come from the forwarding unit. The output of one of the multiplexors and the output of the ALU are inputs to MEM/WB. The WB value of MEM/WB is an input to the Forwarding unit and WB of EX/MEM. One output of MEM/WB is an input to Data memory. Another output of MEM/WB is an input to Data memory, the multiplexors that select the ALU inputs, and EX/MEM. Another output of MEM/WB is an input to EX/MEM and the forwarding unit. The WB value of EX/MEM goes to IF/ID and the forwarding unit. Another output of EX/MEM is an input to the forwarding unit and the Registers unit. Two other outputs of EX/MEM are inputs to a multiplexor that selects an input to the Registers unit and an input to the multiplexors that select the ALU inputs.">
            <a:extLst>
              <a:ext uri="{FF2B5EF4-FFF2-40B4-BE49-F238E27FC236}">
                <a16:creationId xmlns:a16="http://schemas.microsoft.com/office/drawing/2014/main" id="{F711CB0D-C0D7-4562-B7DA-D2D7B5AFD0B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71563" y="3977481"/>
            <a:ext cx="7000875" cy="246576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068BA21-76E4-4C6C-9766-C348672BD8CD}"/>
              </a:ext>
            </a:extLst>
          </p:cNvPr>
          <p:cNvCxnSpPr>
            <a:cxnSpLocks/>
          </p:cNvCxnSpPr>
          <p:nvPr/>
        </p:nvCxnSpPr>
        <p:spPr>
          <a:xfrm flipH="1" flipV="1">
            <a:off x="4648200" y="3429000"/>
            <a:ext cx="2057400" cy="16002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A3FCEB4-4829-402D-90F6-84A10F8B404F}"/>
              </a:ext>
            </a:extLst>
          </p:cNvPr>
          <p:cNvCxnSpPr>
            <a:cxnSpLocks/>
          </p:cNvCxnSpPr>
          <p:nvPr/>
        </p:nvCxnSpPr>
        <p:spPr>
          <a:xfrm flipV="1">
            <a:off x="7162800" y="3505200"/>
            <a:ext cx="1828800" cy="1524000"/>
          </a:xfrm>
          <a:prstGeom prst="line">
            <a:avLst/>
          </a:prstGeom>
          <a:ln w="25400">
            <a:solidFill>
              <a:schemeClr val="accent6">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Rounded Rectangle 26" descr=" 27">
            <a:extLst>
              <a:ext uri="{FF2B5EF4-FFF2-40B4-BE49-F238E27FC236}">
                <a16:creationId xmlns:a16="http://schemas.microsoft.com/office/drawing/2014/main" id="{38B91264-F153-4B57-A6AC-43331971E68C}"/>
              </a:ext>
            </a:extLst>
          </p:cNvPr>
          <p:cNvSpPr/>
          <p:nvPr>
            <p:custDataLst>
              <p:tags r:id="rId4"/>
            </p:custDataLst>
          </p:nvPr>
        </p:nvSpPr>
        <p:spPr>
          <a:xfrm>
            <a:off x="4800601" y="1329153"/>
            <a:ext cx="4191000" cy="1421883"/>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main memory (off-chip DRAM)</a:t>
            </a:r>
          </a:p>
        </p:txBody>
      </p:sp>
      <p:cxnSp>
        <p:nvCxnSpPr>
          <p:cNvPr id="13" name="Straight Connector 12" descr=" 28">
            <a:extLst>
              <a:ext uri="{FF2B5EF4-FFF2-40B4-BE49-F238E27FC236}">
                <a16:creationId xmlns:a16="http://schemas.microsoft.com/office/drawing/2014/main" id="{210E6152-E3C7-46B3-9448-D7806EB681A8}"/>
              </a:ext>
            </a:extLst>
          </p:cNvPr>
          <p:cNvCxnSpPr>
            <a:cxnSpLocks/>
          </p:cNvCxnSpPr>
          <p:nvPr/>
        </p:nvCxnSpPr>
        <p:spPr>
          <a:xfrm>
            <a:off x="6920537" y="2751036"/>
            <a:ext cx="0" cy="822960"/>
          </a:xfrm>
          <a:prstGeom prst="line">
            <a:avLst/>
          </a:prstGeom>
          <a:ln w="25400">
            <a:solidFill>
              <a:schemeClr val="tx1"/>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4" name="Rounded Rectangle 18" descr=" 9">
            <a:extLst>
              <a:ext uri="{FF2B5EF4-FFF2-40B4-BE49-F238E27FC236}">
                <a16:creationId xmlns:a16="http://schemas.microsoft.com/office/drawing/2014/main" id="{E3F2EFDA-B757-43E4-8B32-CB60B3D28497}"/>
              </a:ext>
            </a:extLst>
          </p:cNvPr>
          <p:cNvSpPr/>
          <p:nvPr>
            <p:custDataLst>
              <p:tags r:id="rId5"/>
            </p:custDataLst>
          </p:nvPr>
        </p:nvSpPr>
        <p:spPr>
          <a:xfrm>
            <a:off x="5663241" y="3581400"/>
            <a:ext cx="2490159" cy="609600"/>
          </a:xfrm>
          <a:prstGeom prst="roundRect">
            <a:avLst/>
          </a:prstGeom>
          <a:solidFill>
            <a:schemeClr val="accent6">
              <a:lumMod val="40000"/>
              <a:lumOff val="60000"/>
            </a:schemeClr>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sz="1800" b="1" dirty="0">
                <a:solidFill>
                  <a:schemeClr val="tx1"/>
                </a:solidFill>
              </a:rPr>
              <a:t>cache (on-chip SRAM)</a:t>
            </a:r>
          </a:p>
        </p:txBody>
      </p:sp>
      <p:sp>
        <p:nvSpPr>
          <p:cNvPr id="17" name="Rectangle 3">
            <a:extLst>
              <a:ext uri="{FF2B5EF4-FFF2-40B4-BE49-F238E27FC236}">
                <a16:creationId xmlns:a16="http://schemas.microsoft.com/office/drawing/2014/main" id="{34174BA9-66EF-4319-901D-75D775446A0F}"/>
              </a:ext>
            </a:extLst>
          </p:cNvPr>
          <p:cNvSpPr>
            <a:spLocks noGrp="1" noChangeArrowheads="1"/>
          </p:cNvSpPr>
          <p:nvPr>
            <p:ph idx="1"/>
            <p:custDataLst>
              <p:tags r:id="rId6"/>
            </p:custDataLst>
          </p:nvPr>
        </p:nvSpPr>
        <p:spPr>
          <a:xfrm>
            <a:off x="457201" y="1371600"/>
            <a:ext cx="4392272" cy="2819400"/>
          </a:xfrm>
        </p:spPr>
        <p:txBody>
          <a:bodyPr/>
          <a:lstStyle/>
          <a:p>
            <a:pPr marL="0" indent="0" eaLnBrk="1" hangingPunct="1">
              <a:buNone/>
            </a:pPr>
            <a:r>
              <a:rPr lang="en-US" altLang="en-US" sz="2400" i="1" dirty="0"/>
              <a:t>Cache</a:t>
            </a:r>
            <a:r>
              <a:rPr lang="en-US" altLang="en-US" sz="2400" dirty="0"/>
              <a:t> holds recently accessed multi-byte (e.g., 64B) data </a:t>
            </a:r>
            <a:r>
              <a:rPr lang="en-US" altLang="en-US" sz="2400" i="1" dirty="0"/>
              <a:t>blocks</a:t>
            </a:r>
            <a:r>
              <a:rPr lang="en-US" altLang="en-US" sz="2400" dirty="0"/>
              <a:t> from memory for faster access</a:t>
            </a:r>
          </a:p>
          <a:p>
            <a:pPr eaLnBrk="1" hangingPunct="1"/>
            <a:r>
              <a:rPr lang="en-US" altLang="en-US" sz="2000" dirty="0"/>
              <a:t>Leverages data </a:t>
            </a:r>
            <a:r>
              <a:rPr lang="en-US" altLang="en-US" sz="2000" i="1" dirty="0"/>
              <a:t>reuse</a:t>
            </a:r>
          </a:p>
          <a:p>
            <a:pPr eaLnBrk="1" hangingPunct="1"/>
            <a:r>
              <a:rPr lang="en-US" altLang="en-US" sz="2000" dirty="0"/>
              <a:t>Cache </a:t>
            </a:r>
            <a:r>
              <a:rPr lang="en-US" altLang="en-US" sz="2000" i="1" dirty="0"/>
              <a:t>miss</a:t>
            </a:r>
            <a:r>
              <a:rPr lang="en-US" altLang="en-US" sz="2000" dirty="0"/>
              <a:t>, if not in cache, else </a:t>
            </a:r>
            <a:r>
              <a:rPr lang="en-US" altLang="en-US" sz="2000" i="1" dirty="0"/>
              <a:t>hit</a:t>
            </a:r>
          </a:p>
        </p:txBody>
      </p:sp>
      <p:sp>
        <p:nvSpPr>
          <p:cNvPr id="12" name="TextBox 11">
            <a:extLst>
              <a:ext uri="{FF2B5EF4-FFF2-40B4-BE49-F238E27FC236}">
                <a16:creationId xmlns:a16="http://schemas.microsoft.com/office/drawing/2014/main" id="{30142E18-882D-467A-8A9A-928C63A5672C}"/>
              </a:ext>
            </a:extLst>
          </p:cNvPr>
          <p:cNvSpPr txBox="1"/>
          <p:nvPr>
            <p:custDataLst>
              <p:tags r:id="rId7"/>
            </p:custDataLst>
          </p:nvPr>
        </p:nvSpPr>
        <p:spPr>
          <a:xfrm>
            <a:off x="931256" y="6188271"/>
            <a:ext cx="1507144" cy="338554"/>
          </a:xfrm>
          <a:prstGeom prst="rect">
            <a:avLst/>
          </a:prstGeom>
          <a:noFill/>
        </p:spPr>
        <p:txBody>
          <a:bodyPr wrap="none" rtlCol="0">
            <a:spAutoFit/>
          </a:bodyPr>
          <a:lstStyle/>
          <a:p>
            <a:pPr algn="ctr"/>
            <a:r>
              <a:rPr lang="en-US" sz="1600" b="1" dirty="0">
                <a:solidFill>
                  <a:schemeClr val="accent6">
                    <a:lumMod val="75000"/>
                  </a:schemeClr>
                </a:solidFill>
                <a:latin typeface="+mn-lt"/>
              </a:rPr>
              <a:t>(1) </a:t>
            </a:r>
            <a:r>
              <a:rPr lang="en-US" sz="1600" b="1" dirty="0" err="1">
                <a:solidFill>
                  <a:schemeClr val="accent6">
                    <a:lumMod val="75000"/>
                  </a:schemeClr>
                </a:solidFill>
                <a:latin typeface="+mn-lt"/>
              </a:rPr>
              <a:t>lw</a:t>
            </a:r>
            <a:r>
              <a:rPr lang="en-US" sz="1600" b="1" dirty="0">
                <a:solidFill>
                  <a:schemeClr val="accent6">
                    <a:lumMod val="75000"/>
                  </a:schemeClr>
                </a:solidFill>
                <a:latin typeface="+mn-lt"/>
              </a:rPr>
              <a:t> $t1, 4032</a:t>
            </a:r>
          </a:p>
        </p:txBody>
      </p:sp>
      <p:sp>
        <p:nvSpPr>
          <p:cNvPr id="15" name="TextBox 14">
            <a:extLst>
              <a:ext uri="{FF2B5EF4-FFF2-40B4-BE49-F238E27FC236}">
                <a16:creationId xmlns:a16="http://schemas.microsoft.com/office/drawing/2014/main" id="{C91CEC33-9C61-4263-B6A3-E1FA406A6B9B}"/>
              </a:ext>
            </a:extLst>
          </p:cNvPr>
          <p:cNvSpPr txBox="1"/>
          <p:nvPr>
            <p:custDataLst>
              <p:tags r:id="rId8"/>
            </p:custDataLst>
          </p:nvPr>
        </p:nvSpPr>
        <p:spPr>
          <a:xfrm>
            <a:off x="2590800" y="3651864"/>
            <a:ext cx="2377061" cy="338554"/>
          </a:xfrm>
          <a:prstGeom prst="rect">
            <a:avLst/>
          </a:prstGeom>
          <a:noFill/>
        </p:spPr>
        <p:txBody>
          <a:bodyPr wrap="none" rtlCol="0">
            <a:spAutoFit/>
          </a:bodyPr>
          <a:lstStyle/>
          <a:p>
            <a:r>
              <a:rPr lang="en-US" sz="1600" b="1" dirty="0">
                <a:solidFill>
                  <a:schemeClr val="accent6">
                    <a:lumMod val="75000"/>
                  </a:schemeClr>
                </a:solidFill>
                <a:latin typeface="+mn-lt"/>
              </a:rPr>
              <a:t>(2) cache lookup 4032, hit</a:t>
            </a:r>
          </a:p>
        </p:txBody>
      </p:sp>
      <p:sp>
        <p:nvSpPr>
          <p:cNvPr id="19" name="TextBox 18">
            <a:extLst>
              <a:ext uri="{FF2B5EF4-FFF2-40B4-BE49-F238E27FC236}">
                <a16:creationId xmlns:a16="http://schemas.microsoft.com/office/drawing/2014/main" id="{5AFF4373-B0D7-4EEE-AC9D-482FBDCF3732}"/>
              </a:ext>
            </a:extLst>
          </p:cNvPr>
          <p:cNvSpPr txBox="1"/>
          <p:nvPr>
            <p:custDataLst>
              <p:tags r:id="rId9"/>
            </p:custDataLst>
          </p:nvPr>
        </p:nvSpPr>
        <p:spPr>
          <a:xfrm>
            <a:off x="7543800" y="4867327"/>
            <a:ext cx="1617751" cy="338554"/>
          </a:xfrm>
          <a:prstGeom prst="rect">
            <a:avLst/>
          </a:prstGeom>
          <a:noFill/>
        </p:spPr>
        <p:txBody>
          <a:bodyPr wrap="none" rtlCol="0">
            <a:spAutoFit/>
          </a:bodyPr>
          <a:lstStyle/>
          <a:p>
            <a:pPr algn="ctr"/>
            <a:r>
              <a:rPr lang="en-US" sz="1600" b="1" dirty="0">
                <a:solidFill>
                  <a:schemeClr val="accent6">
                    <a:lumMod val="75000"/>
                  </a:schemeClr>
                </a:solidFill>
                <a:latin typeface="+mn-lt"/>
              </a:rPr>
              <a:t>(3) [$t1] = (4032)</a:t>
            </a:r>
          </a:p>
        </p:txBody>
      </p:sp>
    </p:spTree>
    <p:custDataLst>
      <p:tags r:id="rId1"/>
    </p:custDataLst>
    <p:extLst>
      <p:ext uri="{BB962C8B-B14F-4D97-AF65-F5344CB8AC3E}">
        <p14:creationId xmlns:p14="http://schemas.microsoft.com/office/powerpoint/2010/main" val="3769751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75B8B-7CE1-6A71-2154-58BC26FFDF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6E6223-C63B-B3E3-21AD-8146740B523C}"/>
              </a:ext>
            </a:extLst>
          </p:cNvPr>
          <p:cNvSpPr>
            <a:spLocks noGrp="1"/>
          </p:cNvSpPr>
          <p:nvPr>
            <p:ph idx="1"/>
          </p:nvPr>
        </p:nvSpPr>
        <p:spPr>
          <a:xfrm>
            <a:off x="473336" y="117699"/>
            <a:ext cx="8229600" cy="6553200"/>
          </a:xfrm>
        </p:spPr>
        <p:txBody>
          <a:bodyPr/>
          <a:lstStyle/>
          <a:p>
            <a:pPr>
              <a:lnSpc>
                <a:spcPct val="107000"/>
              </a:lnSpc>
              <a:spcAft>
                <a:spcPts val="800"/>
              </a:spcAft>
            </a:pPr>
            <a:r>
              <a:rPr lang="en-IN" sz="1700" b="1" kern="100" dirty="0">
                <a:effectLst/>
                <a:latin typeface="Calibri" panose="020F0502020204030204" pitchFamily="34" charset="0"/>
                <a:ea typeface="Calibri" panose="020F0502020204030204" pitchFamily="34" charset="0"/>
                <a:cs typeface="Times New Roman" panose="02020603050405020304" pitchFamily="18" charset="0"/>
              </a:rPr>
              <a:t>Subsequent Load Instruction</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r>
              <a:rPr lang="en-IN" sz="1700" kern="100" dirty="0">
                <a:effectLst/>
                <a:latin typeface="Calibri" panose="020F0502020204030204" pitchFamily="34" charset="0"/>
                <a:ea typeface="Calibri" panose="020F0502020204030204" pitchFamily="34" charset="0"/>
                <a:cs typeface="Times New Roman" panose="02020603050405020304" pitchFamily="18" charset="0"/>
              </a:rPr>
              <a:t>If another load instruction reads address 432, we check the cache. This word exists in the cache because it’s within the 64-byte block fetched earlier, allowing immediate delivery to the register file in one cycle </a:t>
            </a:r>
          </a:p>
          <a:p>
            <a:pPr marL="0" indent="0">
              <a:buNone/>
            </a:pPr>
            <a:endParaRPr lang="en-IN" dirty="0"/>
          </a:p>
        </p:txBody>
      </p:sp>
      <p:sp>
        <p:nvSpPr>
          <p:cNvPr id="4" name="Slide Number Placeholder 3">
            <a:extLst>
              <a:ext uri="{FF2B5EF4-FFF2-40B4-BE49-F238E27FC236}">
                <a16:creationId xmlns:a16="http://schemas.microsoft.com/office/drawing/2014/main" id="{3E4C4C40-067D-1108-B5A3-02EEC79B03DD}"/>
              </a:ext>
            </a:extLst>
          </p:cNvPr>
          <p:cNvSpPr>
            <a:spLocks noGrp="1"/>
          </p:cNvSpPr>
          <p:nvPr>
            <p:ph type="sldNum" sz="quarter" idx="12"/>
          </p:nvPr>
        </p:nvSpPr>
        <p:spPr/>
        <p:txBody>
          <a:bodyPr/>
          <a:lstStyle/>
          <a:p>
            <a:pPr lvl="1">
              <a:defRPr/>
            </a:pPr>
            <a:fld id="{0831C007-5AA1-4C47-955B-DD23833C3AF5}" type="slidenum">
              <a:rPr lang="en-US" altLang="en-US" smtClean="0"/>
              <a:pPr lvl="1">
                <a:defRPr/>
              </a:pPr>
              <a:t>21</a:t>
            </a:fld>
            <a:endParaRPr lang="en-US" altLang="en-US"/>
          </a:p>
        </p:txBody>
      </p:sp>
    </p:spTree>
    <p:extLst>
      <p:ext uri="{BB962C8B-B14F-4D97-AF65-F5344CB8AC3E}">
        <p14:creationId xmlns:p14="http://schemas.microsoft.com/office/powerpoint/2010/main" val="131108211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A2790D9-C496-4784-8F99-80BC1EAE5C49}"/>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19459" name="Rectangle 3">
            <a:extLst>
              <a:ext uri="{FF2B5EF4-FFF2-40B4-BE49-F238E27FC236}">
                <a16:creationId xmlns:a16="http://schemas.microsoft.com/office/drawing/2014/main" id="{CD78AA74-71C8-43E8-BDAC-6059588A59D1}"/>
              </a:ext>
            </a:extLst>
          </p:cNvPr>
          <p:cNvSpPr>
            <a:spLocks noGrp="1" noChangeArrowheads="1"/>
          </p:cNvSpPr>
          <p:nvPr>
            <p:ph idx="1"/>
            <p:custDataLst>
              <p:tags r:id="rId3"/>
            </p:custDataLst>
          </p:nvPr>
        </p:nvSpPr>
        <p:spPr>
          <a:xfrm>
            <a:off x="4406900" y="1600200"/>
            <a:ext cx="4660900" cy="4525963"/>
          </a:xfrm>
        </p:spPr>
        <p:txBody>
          <a:bodyPr/>
          <a:lstStyle/>
          <a:p>
            <a:pPr eaLnBrk="1" hangingPunct="1">
              <a:lnSpc>
                <a:spcPct val="80000"/>
              </a:lnSpc>
            </a:pPr>
            <a:r>
              <a:rPr lang="en-US" altLang="en-US" i="1" dirty="0"/>
              <a:t>Unified</a:t>
            </a:r>
            <a:r>
              <a:rPr lang="en-US" altLang="en-US" dirty="0"/>
              <a:t> cache:</a:t>
            </a:r>
          </a:p>
          <a:p>
            <a:pPr lvl="1" eaLnBrk="1" hangingPunct="1">
              <a:lnSpc>
                <a:spcPct val="90000"/>
              </a:lnSpc>
            </a:pPr>
            <a:r>
              <a:rPr lang="en-US" altLang="en-US" dirty="0"/>
              <a:t>Contains both </a:t>
            </a:r>
            <a:r>
              <a:rPr lang="en-US" altLang="en-US" dirty="0" err="1"/>
              <a:t>insns</a:t>
            </a:r>
            <a:r>
              <a:rPr lang="en-US" altLang="en-US" dirty="0"/>
              <a:t> and data</a:t>
            </a:r>
          </a:p>
          <a:p>
            <a:pPr lvl="1" eaLnBrk="1" hangingPunct="1">
              <a:lnSpc>
                <a:spcPct val="90000"/>
              </a:lnSpc>
            </a:pPr>
            <a:r>
              <a:rPr lang="en-US" altLang="en-US" dirty="0"/>
              <a:t>Main memory is usually unified</a:t>
            </a:r>
          </a:p>
          <a:p>
            <a:pPr eaLnBrk="1" hangingPunct="1">
              <a:lnSpc>
                <a:spcPct val="80000"/>
              </a:lnSpc>
            </a:pPr>
            <a:r>
              <a:rPr lang="en-US" altLang="en-US" dirty="0"/>
              <a:t>Inclusive vs. exclusive L2:</a:t>
            </a:r>
          </a:p>
          <a:p>
            <a:pPr lvl="1" eaLnBrk="1" hangingPunct="1">
              <a:lnSpc>
                <a:spcPct val="90000"/>
              </a:lnSpc>
            </a:pPr>
            <a:r>
              <a:rPr lang="en-US" altLang="en-US" i="1" dirty="0"/>
              <a:t>Inclusive</a:t>
            </a:r>
            <a:r>
              <a:rPr lang="en-US" altLang="en-US" dirty="0"/>
              <a:t>: a block X in L1 must also be in L2</a:t>
            </a:r>
          </a:p>
          <a:p>
            <a:pPr lvl="1" eaLnBrk="1" hangingPunct="1">
              <a:lnSpc>
                <a:spcPct val="90000"/>
              </a:lnSpc>
            </a:pPr>
            <a:r>
              <a:rPr lang="en-US" altLang="en-US" i="1" dirty="0"/>
              <a:t>Exclusive</a:t>
            </a:r>
            <a:r>
              <a:rPr lang="en-US" altLang="en-US" dirty="0"/>
              <a:t>: a block X in L1 must not be in L2</a:t>
            </a:r>
          </a:p>
        </p:txBody>
      </p:sp>
      <p:sp>
        <p:nvSpPr>
          <p:cNvPr id="2" name="Slide Number Placeholder 1">
            <a:extLst>
              <a:ext uri="{FF2B5EF4-FFF2-40B4-BE49-F238E27FC236}">
                <a16:creationId xmlns:a16="http://schemas.microsoft.com/office/drawing/2014/main" id="{22230079-9470-41AB-8D9C-D1B2DC277673}"/>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98B693DE-EAD0-4657-A4E5-7E75B552DB7E}" type="slidenum">
              <a:rPr lang="en-US" altLang="en-US" sz="1400">
                <a:latin typeface="Calibri" panose="020F0502020204030204" pitchFamily="34" charset="0"/>
              </a:rPr>
              <a:pPr lvl="1" eaLnBrk="1" hangingPunct="1"/>
              <a:t>22</a:t>
            </a:fld>
            <a:endParaRPr lang="en-US" altLang="en-US" sz="1400">
              <a:latin typeface="Calibri" panose="020F0502020204030204" pitchFamily="34" charset="0"/>
            </a:endParaRPr>
          </a:p>
        </p:txBody>
      </p:sp>
      <p:sp>
        <p:nvSpPr>
          <p:cNvPr id="5" name="Oval 4">
            <a:extLst>
              <a:ext uri="{FF2B5EF4-FFF2-40B4-BE49-F238E27FC236}">
                <a16:creationId xmlns:a16="http://schemas.microsoft.com/office/drawing/2014/main" id="{C95FDE68-3063-4B64-A8B1-E80D4C2FE8CA}"/>
              </a:ext>
            </a:extLst>
          </p:cNvPr>
          <p:cNvSpPr>
            <a:spLocks noChangeArrowheads="1"/>
          </p:cNvSpPr>
          <p:nvPr>
            <p:custDataLst>
              <p:tags r:id="rId5"/>
            </p:custDataLst>
          </p:nvPr>
        </p:nvSpPr>
        <p:spPr bwMode="auto">
          <a:xfrm>
            <a:off x="1630362" y="5791200"/>
            <a:ext cx="1223963" cy="685800"/>
          </a:xfrm>
          <a:prstGeom prst="ellipse">
            <a:avLst/>
          </a:prstGeom>
          <a:solidFill>
            <a:schemeClr val="bg1">
              <a:lumMod val="95000"/>
            </a:schemeClr>
          </a:solidFill>
          <a:ln w="12700">
            <a:solidFill>
              <a:schemeClr val="tx1"/>
            </a:solidFill>
            <a:round/>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Processor</a:t>
            </a:r>
          </a:p>
        </p:txBody>
      </p:sp>
      <p:sp>
        <p:nvSpPr>
          <p:cNvPr id="6" name="Rectangle 5">
            <a:extLst>
              <a:ext uri="{FF2B5EF4-FFF2-40B4-BE49-F238E27FC236}">
                <a16:creationId xmlns:a16="http://schemas.microsoft.com/office/drawing/2014/main" id="{28C7A42D-6BCF-40AE-AC6E-84C126155113}"/>
              </a:ext>
            </a:extLst>
          </p:cNvPr>
          <p:cNvSpPr>
            <a:spLocks noChangeArrowheads="1"/>
          </p:cNvSpPr>
          <p:nvPr>
            <p:custDataLst>
              <p:tags r:id="rId6"/>
            </p:custDataLst>
          </p:nvPr>
        </p:nvSpPr>
        <p:spPr bwMode="auto">
          <a:xfrm>
            <a:off x="1441450" y="5029200"/>
            <a:ext cx="1600200" cy="381000"/>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I &amp; D L1 Cache</a:t>
            </a:r>
          </a:p>
        </p:txBody>
      </p:sp>
      <p:sp>
        <p:nvSpPr>
          <p:cNvPr id="7" name="Rectangle 6">
            <a:extLst>
              <a:ext uri="{FF2B5EF4-FFF2-40B4-BE49-F238E27FC236}">
                <a16:creationId xmlns:a16="http://schemas.microsoft.com/office/drawing/2014/main" id="{80D2CE7D-F10C-44CF-A5EF-FB0A11878DA1}"/>
              </a:ext>
            </a:extLst>
          </p:cNvPr>
          <p:cNvSpPr>
            <a:spLocks noChangeArrowheads="1"/>
          </p:cNvSpPr>
          <p:nvPr>
            <p:custDataLst>
              <p:tags r:id="rId7"/>
            </p:custDataLst>
          </p:nvPr>
        </p:nvSpPr>
        <p:spPr bwMode="auto">
          <a:xfrm>
            <a:off x="876300" y="4114800"/>
            <a:ext cx="2730500" cy="457200"/>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dirty="0">
                <a:latin typeface="Tahoma" panose="020B0604030504040204" pitchFamily="34" charset="0"/>
              </a:rPr>
              <a:t>Unified L2 Cache</a:t>
            </a:r>
          </a:p>
        </p:txBody>
      </p:sp>
      <p:sp>
        <p:nvSpPr>
          <p:cNvPr id="8" name="Rectangle 7">
            <a:extLst>
              <a:ext uri="{FF2B5EF4-FFF2-40B4-BE49-F238E27FC236}">
                <a16:creationId xmlns:a16="http://schemas.microsoft.com/office/drawing/2014/main" id="{84822E5C-70FF-45F6-86D1-D27660491537}"/>
              </a:ext>
            </a:extLst>
          </p:cNvPr>
          <p:cNvSpPr>
            <a:spLocks noChangeArrowheads="1"/>
          </p:cNvSpPr>
          <p:nvPr>
            <p:custDataLst>
              <p:tags r:id="rId8"/>
            </p:custDataLst>
          </p:nvPr>
        </p:nvSpPr>
        <p:spPr bwMode="auto">
          <a:xfrm>
            <a:off x="76200" y="3200400"/>
            <a:ext cx="4330700" cy="457200"/>
          </a:xfrm>
          <a:prstGeom prst="rect">
            <a:avLst/>
          </a:prstGeom>
          <a:solidFill>
            <a:schemeClr val="bg1">
              <a:lumMod val="95000"/>
            </a:schemeClr>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Main Memory</a:t>
            </a:r>
          </a:p>
        </p:txBody>
      </p:sp>
      <p:sp>
        <p:nvSpPr>
          <p:cNvPr id="9" name="AutoShape 8">
            <a:extLst>
              <a:ext uri="{FF2B5EF4-FFF2-40B4-BE49-F238E27FC236}">
                <a16:creationId xmlns:a16="http://schemas.microsoft.com/office/drawing/2014/main" id="{5FBF0138-8A32-426B-8456-DA5A5301E54B}"/>
              </a:ext>
            </a:extLst>
          </p:cNvPr>
          <p:cNvSpPr>
            <a:spLocks noChangeArrowheads="1"/>
          </p:cNvSpPr>
          <p:nvPr>
            <p:custDataLst>
              <p:tags r:id="rId9"/>
            </p:custDataLst>
          </p:nvPr>
        </p:nvSpPr>
        <p:spPr bwMode="auto">
          <a:xfrm>
            <a:off x="1535112" y="1676400"/>
            <a:ext cx="1412875" cy="1143000"/>
          </a:xfrm>
          <a:prstGeom prst="can">
            <a:avLst>
              <a:gd name="adj" fmla="val 25000"/>
            </a:avLst>
          </a:prstGeom>
          <a:solidFill>
            <a:schemeClr val="bg1">
              <a:lumMod val="95000"/>
            </a:schemeClr>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600">
                <a:latin typeface="Tahoma" panose="020B0604030504040204" pitchFamily="34" charset="0"/>
              </a:rPr>
              <a:t>Disk</a:t>
            </a:r>
          </a:p>
        </p:txBody>
      </p:sp>
      <p:sp>
        <p:nvSpPr>
          <p:cNvPr id="10" name="AutoShape 17">
            <a:extLst>
              <a:ext uri="{FF2B5EF4-FFF2-40B4-BE49-F238E27FC236}">
                <a16:creationId xmlns:a16="http://schemas.microsoft.com/office/drawing/2014/main" id="{83A7252A-C09B-4C5D-A7D1-D222B873E386}"/>
              </a:ext>
            </a:extLst>
          </p:cNvPr>
          <p:cNvSpPr>
            <a:spLocks noChangeArrowheads="1"/>
          </p:cNvSpPr>
          <p:nvPr>
            <p:custDataLst>
              <p:tags r:id="rId10"/>
            </p:custDataLst>
          </p:nvPr>
        </p:nvSpPr>
        <p:spPr bwMode="auto">
          <a:xfrm flipV="1">
            <a:off x="2161857" y="5410200"/>
            <a:ext cx="182880" cy="381000"/>
          </a:xfrm>
          <a:prstGeom prst="upDownArrow">
            <a:avLst>
              <a:gd name="adj1" fmla="val 50000"/>
              <a:gd name="adj2" fmla="val 20000"/>
            </a:avLst>
          </a:prstGeom>
          <a:solidFill>
            <a:schemeClr val="tx1"/>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11" name="AutoShape 18">
            <a:extLst>
              <a:ext uri="{FF2B5EF4-FFF2-40B4-BE49-F238E27FC236}">
                <a16:creationId xmlns:a16="http://schemas.microsoft.com/office/drawing/2014/main" id="{A74E2495-D916-4DFA-B212-8150D625DAE3}"/>
              </a:ext>
            </a:extLst>
          </p:cNvPr>
          <p:cNvSpPr>
            <a:spLocks noChangeArrowheads="1"/>
          </p:cNvSpPr>
          <p:nvPr>
            <p:custDataLst>
              <p:tags r:id="rId11"/>
            </p:custDataLst>
          </p:nvPr>
        </p:nvSpPr>
        <p:spPr bwMode="auto">
          <a:xfrm flipV="1">
            <a:off x="2161857" y="4572000"/>
            <a:ext cx="182880" cy="457200"/>
          </a:xfrm>
          <a:prstGeom prst="upDownArrow">
            <a:avLst>
              <a:gd name="adj1" fmla="val 50000"/>
              <a:gd name="adj2" fmla="val 24000"/>
            </a:avLst>
          </a:prstGeom>
          <a:solidFill>
            <a:schemeClr val="tx1"/>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
        <p:nvSpPr>
          <p:cNvPr id="12" name="AutoShape 19">
            <a:extLst>
              <a:ext uri="{FF2B5EF4-FFF2-40B4-BE49-F238E27FC236}">
                <a16:creationId xmlns:a16="http://schemas.microsoft.com/office/drawing/2014/main" id="{5F0825A9-413C-4E7A-B379-13EA76AABB71}"/>
              </a:ext>
            </a:extLst>
          </p:cNvPr>
          <p:cNvSpPr>
            <a:spLocks noChangeArrowheads="1"/>
          </p:cNvSpPr>
          <p:nvPr>
            <p:custDataLst>
              <p:tags r:id="rId12"/>
            </p:custDataLst>
          </p:nvPr>
        </p:nvSpPr>
        <p:spPr bwMode="auto">
          <a:xfrm flipV="1">
            <a:off x="2161857" y="3657600"/>
            <a:ext cx="182880" cy="457200"/>
          </a:xfrm>
          <a:prstGeom prst="upDownArrow">
            <a:avLst>
              <a:gd name="adj1" fmla="val 50000"/>
              <a:gd name="adj2" fmla="val 24000"/>
            </a:avLst>
          </a:prstGeom>
          <a:solidFill>
            <a:schemeClr val="tx1"/>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000">
              <a:latin typeface="Times New Roman" panose="02020603050405020304" pitchFamily="18" charset="0"/>
            </a:endParaRPr>
          </a:p>
        </p:txBody>
      </p:sp>
      <p:sp>
        <p:nvSpPr>
          <p:cNvPr id="13" name="AutoShape 20">
            <a:extLst>
              <a:ext uri="{FF2B5EF4-FFF2-40B4-BE49-F238E27FC236}">
                <a16:creationId xmlns:a16="http://schemas.microsoft.com/office/drawing/2014/main" id="{EF53D966-1C22-47F0-9E1E-AE2A4E21F2E7}"/>
              </a:ext>
            </a:extLst>
          </p:cNvPr>
          <p:cNvSpPr>
            <a:spLocks noChangeArrowheads="1"/>
          </p:cNvSpPr>
          <p:nvPr>
            <p:custDataLst>
              <p:tags r:id="rId13"/>
            </p:custDataLst>
          </p:nvPr>
        </p:nvSpPr>
        <p:spPr bwMode="auto">
          <a:xfrm flipV="1">
            <a:off x="2161857" y="2819400"/>
            <a:ext cx="182880" cy="381000"/>
          </a:xfrm>
          <a:prstGeom prst="upDownArrow">
            <a:avLst>
              <a:gd name="adj1" fmla="val 50000"/>
              <a:gd name="adj2" fmla="val 20000"/>
            </a:avLst>
          </a:prstGeom>
          <a:solidFill>
            <a:schemeClr val="tx1"/>
          </a:solidFill>
          <a:ln w="12700">
            <a:solidFill>
              <a:schemeClr val="tx1"/>
            </a:solidFill>
            <a:miter lim="800000"/>
            <a:headEnd type="none" w="sm" len="sm"/>
            <a:tailEnd type="none" w="sm" len="sm"/>
          </a:ln>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000">
              <a:latin typeface="Times New Roman" panose="02020603050405020304" pitchFamily="18" charset="0"/>
            </a:endParaRPr>
          </a:p>
        </p:txBody>
      </p:sp>
    </p:spTree>
    <p:custDataLst>
      <p:tags r:id="rId1"/>
    </p:custDataLst>
    <p:extLst>
      <p:ext uri="{BB962C8B-B14F-4D97-AF65-F5344CB8AC3E}">
        <p14:creationId xmlns:p14="http://schemas.microsoft.com/office/powerpoint/2010/main" val="8948534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3D3A2-684E-4185-3951-07E8F45515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CD8BAC-41A9-8BC8-8F90-09BF330C00E4}"/>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Programming for Cache Efficiency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Programmers looking for optimal performance should ensure that blocks of related data, like structs, are tightly packed and cache line aligned to maximize cache use.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Multi-Level Cache Structure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modern memory hierarchy consists of multiple levels of on-chip caches. The first level cache (L1) is closest to the processor, sized for speed, and typically split into instruction and data caches.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Upper-Level Caches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Upper-level caches like L2 are often unified, storing blocks from both instruction and data memory. Main memory is usually unified as well.</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Cache Inclusivity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Upper-level caches can be inclusive or exclusive. An inclusive L2 cache contains a superset of L1 blocks, while an exclusive L2 cache ensures that no block is in both caches simultaneously.</a:t>
            </a:r>
          </a:p>
          <a:p>
            <a:pPr marL="0" indent="0">
              <a:buNone/>
            </a:pPr>
            <a:endParaRPr lang="en-IN" dirty="0"/>
          </a:p>
        </p:txBody>
      </p:sp>
      <p:sp>
        <p:nvSpPr>
          <p:cNvPr id="4" name="Slide Number Placeholder 3">
            <a:extLst>
              <a:ext uri="{FF2B5EF4-FFF2-40B4-BE49-F238E27FC236}">
                <a16:creationId xmlns:a16="http://schemas.microsoft.com/office/drawing/2014/main" id="{B4DC70F8-17BD-1B6A-B2FE-A8AE6225C63A}"/>
              </a:ext>
            </a:extLst>
          </p:cNvPr>
          <p:cNvSpPr>
            <a:spLocks noGrp="1"/>
          </p:cNvSpPr>
          <p:nvPr>
            <p:ph type="sldNum" sz="quarter" idx="12"/>
          </p:nvPr>
        </p:nvSpPr>
        <p:spPr/>
        <p:txBody>
          <a:bodyPr/>
          <a:lstStyle/>
          <a:p>
            <a:pPr lvl="1">
              <a:defRPr/>
            </a:pPr>
            <a:fld id="{0831C007-5AA1-4C47-955B-DD23833C3AF5}" type="slidenum">
              <a:rPr lang="en-US" altLang="en-US" smtClean="0"/>
              <a:pPr lvl="1">
                <a:defRPr/>
              </a:pPr>
              <a:t>23</a:t>
            </a:fld>
            <a:endParaRPr lang="en-US" altLang="en-US"/>
          </a:p>
        </p:txBody>
      </p:sp>
    </p:spTree>
    <p:extLst>
      <p:ext uri="{BB962C8B-B14F-4D97-AF65-F5344CB8AC3E}">
        <p14:creationId xmlns:p14="http://schemas.microsoft.com/office/powerpoint/2010/main" val="311685829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A2790D9-C496-4784-8F99-80BC1EAE5C49}"/>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Memory Hierarchy</a:t>
            </a:r>
          </a:p>
        </p:txBody>
      </p:sp>
      <p:sp>
        <p:nvSpPr>
          <p:cNvPr id="19459" name="Rectangle 3">
            <a:extLst>
              <a:ext uri="{FF2B5EF4-FFF2-40B4-BE49-F238E27FC236}">
                <a16:creationId xmlns:a16="http://schemas.microsoft.com/office/drawing/2014/main" id="{CD78AA74-71C8-43E8-BDAC-6059588A59D1}"/>
              </a:ext>
            </a:extLst>
          </p:cNvPr>
          <p:cNvSpPr>
            <a:spLocks noGrp="1" noChangeArrowheads="1"/>
          </p:cNvSpPr>
          <p:nvPr>
            <p:ph idx="1"/>
            <p:custDataLst>
              <p:tags r:id="rId3"/>
            </p:custDataLst>
          </p:nvPr>
        </p:nvSpPr>
        <p:spPr>
          <a:xfrm>
            <a:off x="457200" y="1600200"/>
            <a:ext cx="8534400" cy="4525963"/>
          </a:xfrm>
        </p:spPr>
        <p:txBody>
          <a:bodyPr/>
          <a:lstStyle/>
          <a:p>
            <a:pPr eaLnBrk="1" hangingPunct="1">
              <a:lnSpc>
                <a:spcPct val="80000"/>
              </a:lnSpc>
            </a:pPr>
            <a:r>
              <a:rPr lang="en-US" altLang="en-US" dirty="0"/>
              <a:t>Data locality (i.e., reuse):</a:t>
            </a:r>
          </a:p>
          <a:p>
            <a:pPr lvl="1" eaLnBrk="1" hangingPunct="1">
              <a:lnSpc>
                <a:spcPct val="90000"/>
              </a:lnSpc>
            </a:pPr>
            <a:r>
              <a:rPr lang="en-US" altLang="en-US" i="1" dirty="0"/>
              <a:t>Temporal</a:t>
            </a:r>
            <a:r>
              <a:rPr lang="en-US" altLang="en-US" dirty="0"/>
              <a:t> locality</a:t>
            </a:r>
          </a:p>
          <a:p>
            <a:pPr lvl="2" eaLnBrk="1" hangingPunct="1">
              <a:lnSpc>
                <a:spcPct val="90000"/>
              </a:lnSpc>
            </a:pPr>
            <a:r>
              <a:rPr lang="en-US" altLang="en-US" dirty="0"/>
              <a:t>Programs access same memory location repeatedly</a:t>
            </a:r>
          </a:p>
          <a:p>
            <a:pPr lvl="1" eaLnBrk="1" hangingPunct="1">
              <a:lnSpc>
                <a:spcPct val="90000"/>
              </a:lnSpc>
            </a:pPr>
            <a:r>
              <a:rPr lang="en-US" altLang="en-US" i="1" dirty="0"/>
              <a:t>Spatial</a:t>
            </a:r>
            <a:r>
              <a:rPr lang="en-US" altLang="en-US" dirty="0"/>
              <a:t> locality</a:t>
            </a:r>
          </a:p>
          <a:p>
            <a:pPr lvl="2" eaLnBrk="1" hangingPunct="1">
              <a:lnSpc>
                <a:spcPct val="90000"/>
              </a:lnSpc>
            </a:pPr>
            <a:r>
              <a:rPr lang="en-US" altLang="en-US" dirty="0"/>
              <a:t>Programs access nearby locations around the same time</a:t>
            </a:r>
          </a:p>
          <a:p>
            <a:pPr eaLnBrk="1" hangingPunct="1">
              <a:lnSpc>
                <a:spcPct val="80000"/>
              </a:lnSpc>
            </a:pPr>
            <a:r>
              <a:rPr lang="en-US" altLang="en-US" dirty="0"/>
              <a:t>Empirically observed</a:t>
            </a:r>
          </a:p>
          <a:p>
            <a:pPr lvl="1" eaLnBrk="1" hangingPunct="1">
              <a:lnSpc>
                <a:spcPct val="90000"/>
              </a:lnSpc>
            </a:pPr>
            <a:r>
              <a:rPr lang="en-US" altLang="en-US" dirty="0"/>
              <a:t>Significant!</a:t>
            </a:r>
          </a:p>
          <a:p>
            <a:pPr lvl="1" eaLnBrk="1" hangingPunct="1">
              <a:lnSpc>
                <a:spcPct val="90000"/>
              </a:lnSpc>
            </a:pPr>
            <a:r>
              <a:rPr lang="en-US" altLang="en-US" dirty="0"/>
              <a:t>Even small 8KB cache often satisfies &gt;90% of accesses to a multi-MB dataset</a:t>
            </a:r>
          </a:p>
        </p:txBody>
      </p:sp>
      <p:sp>
        <p:nvSpPr>
          <p:cNvPr id="2" name="Slide Number Placeholder 1">
            <a:extLst>
              <a:ext uri="{FF2B5EF4-FFF2-40B4-BE49-F238E27FC236}">
                <a16:creationId xmlns:a16="http://schemas.microsoft.com/office/drawing/2014/main" id="{22230079-9470-41AB-8D9C-D1B2DC277673}"/>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98B693DE-EAD0-4657-A4E5-7E75B552DB7E}" type="slidenum">
              <a:rPr lang="en-US" altLang="en-US" sz="1400">
                <a:latin typeface="Calibri" panose="020F0502020204030204" pitchFamily="34" charset="0"/>
              </a:rPr>
              <a:pPr lvl="1" eaLnBrk="1" hangingPunct="1"/>
              <a:t>24</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32421015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12144-C7A1-CF36-32A0-89F6DD1FCA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EA3D22-42EA-4D30-2FA9-444B5F63912E}"/>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 Locality Concepts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main idea for caches is data locality or reuse. There are two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flavors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temporal and spatial. Temporal locality means applications frequently access the same data over time.</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Spatial Locality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Spatial locality refers to accessing nearby memory locations. These localities are common in most programs due to the nature of information processing.</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Small Cache Efficiency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Even a small cache of 8 kilobytes can satisfy over 90% of all accesses in a multi-terabyte dataset.</a:t>
            </a:r>
          </a:p>
          <a:p>
            <a:pPr marL="0" indent="0">
              <a:buNone/>
            </a:pPr>
            <a:endParaRPr lang="en-IN" dirty="0"/>
          </a:p>
        </p:txBody>
      </p:sp>
      <p:sp>
        <p:nvSpPr>
          <p:cNvPr id="4" name="Slide Number Placeholder 3">
            <a:extLst>
              <a:ext uri="{FF2B5EF4-FFF2-40B4-BE49-F238E27FC236}">
                <a16:creationId xmlns:a16="http://schemas.microsoft.com/office/drawing/2014/main" id="{872645C5-8F0C-BECF-E4E3-D64B0F63AC11}"/>
              </a:ext>
            </a:extLst>
          </p:cNvPr>
          <p:cNvSpPr>
            <a:spLocks noGrp="1"/>
          </p:cNvSpPr>
          <p:nvPr>
            <p:ph type="sldNum" sz="quarter" idx="12"/>
          </p:nvPr>
        </p:nvSpPr>
        <p:spPr/>
        <p:txBody>
          <a:bodyPr/>
          <a:lstStyle/>
          <a:p>
            <a:pPr lvl="1">
              <a:defRPr/>
            </a:pPr>
            <a:fld id="{0831C007-5AA1-4C47-955B-DD23833C3AF5}" type="slidenum">
              <a:rPr lang="en-US" altLang="en-US" smtClean="0"/>
              <a:pPr lvl="1">
                <a:defRPr/>
              </a:pPr>
              <a:t>25</a:t>
            </a:fld>
            <a:endParaRPr lang="en-US" altLang="en-US"/>
          </a:p>
        </p:txBody>
      </p:sp>
    </p:spTree>
    <p:extLst>
      <p:ext uri="{BB962C8B-B14F-4D97-AF65-F5344CB8AC3E}">
        <p14:creationId xmlns:p14="http://schemas.microsoft.com/office/powerpoint/2010/main" val="351465313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8DC41C69-38A4-4E94-9219-74BAA33D51AB}"/>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Why Locality?</a:t>
            </a:r>
          </a:p>
        </p:txBody>
      </p:sp>
      <p:sp>
        <p:nvSpPr>
          <p:cNvPr id="20483" name="Rectangle 3">
            <a:extLst>
              <a:ext uri="{FF2B5EF4-FFF2-40B4-BE49-F238E27FC236}">
                <a16:creationId xmlns:a16="http://schemas.microsoft.com/office/drawing/2014/main" id="{DDBAE4EA-CED8-4588-99E3-05CA619C5487}"/>
              </a:ext>
            </a:extLst>
          </p:cNvPr>
          <p:cNvSpPr>
            <a:spLocks noGrp="1" noChangeArrowheads="1"/>
          </p:cNvSpPr>
          <p:nvPr>
            <p:ph idx="1"/>
            <p:custDataLst>
              <p:tags r:id="rId3"/>
            </p:custDataLst>
          </p:nvPr>
        </p:nvSpPr>
        <p:spPr>
          <a:xfrm>
            <a:off x="457200" y="1600200"/>
            <a:ext cx="8229600" cy="4525963"/>
          </a:xfrm>
        </p:spPr>
        <p:txBody>
          <a:bodyPr/>
          <a:lstStyle/>
          <a:p>
            <a:pPr eaLnBrk="1" hangingPunct="1">
              <a:lnSpc>
                <a:spcPct val="80000"/>
              </a:lnSpc>
            </a:pPr>
            <a:r>
              <a:rPr lang="en-US" altLang="en-US" sz="2800" dirty="0"/>
              <a:t>Analogy:</a:t>
            </a:r>
          </a:p>
          <a:p>
            <a:pPr lvl="1" eaLnBrk="1" hangingPunct="1">
              <a:lnSpc>
                <a:spcPct val="90000"/>
              </a:lnSpc>
            </a:pPr>
            <a:r>
              <a:rPr lang="en-US" altLang="en-US" sz="2400" dirty="0"/>
              <a:t>Library/bookstore (disk)</a:t>
            </a:r>
          </a:p>
          <a:p>
            <a:pPr lvl="1" eaLnBrk="1" hangingPunct="1">
              <a:lnSpc>
                <a:spcPct val="90000"/>
              </a:lnSpc>
            </a:pPr>
            <a:r>
              <a:rPr lang="en-US" altLang="en-US" sz="2400" dirty="0"/>
              <a:t>Bookshelf (main memory)</a:t>
            </a:r>
          </a:p>
          <a:p>
            <a:pPr lvl="1" eaLnBrk="1" hangingPunct="1">
              <a:lnSpc>
                <a:spcPct val="90000"/>
              </a:lnSpc>
            </a:pPr>
            <a:r>
              <a:rPr lang="en-US" altLang="en-US" sz="2400" dirty="0"/>
              <a:t>Stack of books on desk (cache)</a:t>
            </a:r>
          </a:p>
          <a:p>
            <a:pPr lvl="1" eaLnBrk="1" hangingPunct="1">
              <a:lnSpc>
                <a:spcPct val="90000"/>
              </a:lnSpc>
            </a:pPr>
            <a:r>
              <a:rPr lang="en-US" altLang="en-US" sz="2400" dirty="0"/>
              <a:t>Opened book on desk (register)</a:t>
            </a:r>
          </a:p>
          <a:p>
            <a:pPr eaLnBrk="1" hangingPunct="1">
              <a:lnSpc>
                <a:spcPct val="80000"/>
              </a:lnSpc>
            </a:pPr>
            <a:r>
              <a:rPr lang="en-US" altLang="en-US" sz="2800" dirty="0"/>
              <a:t>Likelihood of:</a:t>
            </a:r>
          </a:p>
          <a:p>
            <a:pPr lvl="1" eaLnBrk="1" hangingPunct="1">
              <a:lnSpc>
                <a:spcPct val="90000"/>
              </a:lnSpc>
            </a:pPr>
            <a:r>
              <a:rPr lang="en-US" altLang="en-US" sz="2400" dirty="0"/>
              <a:t>Referring to same book or chapter again?</a:t>
            </a:r>
          </a:p>
          <a:p>
            <a:pPr lvl="2" eaLnBrk="1" hangingPunct="1">
              <a:lnSpc>
                <a:spcPct val="90000"/>
              </a:lnSpc>
            </a:pPr>
            <a:r>
              <a:rPr lang="en-US" altLang="en-US" sz="2000" dirty="0"/>
              <a:t>Probability decays over time</a:t>
            </a:r>
          </a:p>
          <a:p>
            <a:pPr lvl="2" eaLnBrk="1" hangingPunct="1">
              <a:lnSpc>
                <a:spcPct val="90000"/>
              </a:lnSpc>
            </a:pPr>
            <a:r>
              <a:rPr lang="en-US" altLang="en-US" sz="2000" dirty="0"/>
              <a:t>Book moves to bottom of stack, then bookshelf, then library</a:t>
            </a:r>
          </a:p>
          <a:p>
            <a:pPr lvl="1" eaLnBrk="1" hangingPunct="1">
              <a:lnSpc>
                <a:spcPct val="90000"/>
              </a:lnSpc>
            </a:pPr>
            <a:r>
              <a:rPr lang="en-US" altLang="en-US" sz="2400" dirty="0"/>
              <a:t>Referring to chapter n+1 if looking at chapter n?</a:t>
            </a:r>
          </a:p>
          <a:p>
            <a:pPr eaLnBrk="1" hangingPunct="1">
              <a:lnSpc>
                <a:spcPct val="80000"/>
              </a:lnSpc>
            </a:pPr>
            <a:endParaRPr lang="en-US" altLang="en-US" sz="2800" dirty="0"/>
          </a:p>
        </p:txBody>
      </p:sp>
      <p:sp>
        <p:nvSpPr>
          <p:cNvPr id="2" name="Slide Number Placeholder 1">
            <a:extLst>
              <a:ext uri="{FF2B5EF4-FFF2-40B4-BE49-F238E27FC236}">
                <a16:creationId xmlns:a16="http://schemas.microsoft.com/office/drawing/2014/main" id="{CF16AC1A-69EB-43D0-B593-BC89927493E2}"/>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D2180E6B-D7D8-4C56-9925-129FB6D74CEE}" type="slidenum">
              <a:rPr lang="en-US" altLang="en-US" sz="1400">
                <a:latin typeface="Calibri" panose="020F0502020204030204" pitchFamily="34" charset="0"/>
              </a:rPr>
              <a:pPr lvl="1" eaLnBrk="1" hangingPunct="1"/>
              <a:t>26</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58696947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A963D-BBA8-A3C0-8E47-6EAB8154A2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A23451-4088-1749-24A5-9E89DE6F05C2}"/>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Book Storage Analogy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To illustrate locality, consider how you store books. While all books can be found in a library, you keep those needed for your major on a shelf, like your working set, with frequently accessed ones on your desk.</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Locality in Action</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As you study, you repeatedly access the same books (temporal locality) and frequently move to the next chapter (spatial locality).</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Array Access Patterns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a program using nested loops, temporal locality exists in each row, while spatial locality appears across iterations as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neighboring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elements are accessed.</a:t>
            </a:r>
          </a:p>
          <a:p>
            <a:pPr marL="0" indent="0">
              <a:buNone/>
            </a:pPr>
            <a:endParaRPr lang="en-IN" dirty="0"/>
          </a:p>
        </p:txBody>
      </p:sp>
      <p:sp>
        <p:nvSpPr>
          <p:cNvPr id="4" name="Slide Number Placeholder 3">
            <a:extLst>
              <a:ext uri="{FF2B5EF4-FFF2-40B4-BE49-F238E27FC236}">
                <a16:creationId xmlns:a16="http://schemas.microsoft.com/office/drawing/2014/main" id="{804B1154-9938-3B6C-D630-B9D9E3D957C2}"/>
              </a:ext>
            </a:extLst>
          </p:cNvPr>
          <p:cNvSpPr>
            <a:spLocks noGrp="1"/>
          </p:cNvSpPr>
          <p:nvPr>
            <p:ph type="sldNum" sz="quarter" idx="12"/>
          </p:nvPr>
        </p:nvSpPr>
        <p:spPr/>
        <p:txBody>
          <a:bodyPr/>
          <a:lstStyle/>
          <a:p>
            <a:pPr lvl="1">
              <a:defRPr/>
            </a:pPr>
            <a:fld id="{0831C007-5AA1-4C47-955B-DD23833C3AF5}" type="slidenum">
              <a:rPr lang="en-US" altLang="en-US" smtClean="0"/>
              <a:pPr lvl="1">
                <a:defRPr/>
              </a:pPr>
              <a:t>27</a:t>
            </a:fld>
            <a:endParaRPr lang="en-US" altLang="en-US"/>
          </a:p>
        </p:txBody>
      </p:sp>
    </p:spTree>
    <p:extLst>
      <p:ext uri="{BB962C8B-B14F-4D97-AF65-F5344CB8AC3E}">
        <p14:creationId xmlns:p14="http://schemas.microsoft.com/office/powerpoint/2010/main" val="76198849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Locality</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28</a:t>
            </a:fld>
            <a:endParaRPr lang="en-US" altLang="en-US"/>
          </a:p>
        </p:txBody>
      </p:sp>
      <p:graphicFrame>
        <p:nvGraphicFramePr>
          <p:cNvPr id="4" name="Table 3">
            <a:extLst>
              <a:ext uri="{FF2B5EF4-FFF2-40B4-BE49-F238E27FC236}">
                <a16:creationId xmlns:a16="http://schemas.microsoft.com/office/drawing/2014/main" id="{22C88FCA-296C-400F-9BD5-272F5B5980D3}"/>
              </a:ext>
            </a:extLst>
          </p:cNvPr>
          <p:cNvGraphicFramePr>
            <a:graphicFrameLocks noGrp="1"/>
          </p:cNvGraphicFramePr>
          <p:nvPr>
            <p:custDataLst>
              <p:tags r:id="rId4"/>
            </p:custDataLst>
          </p:nvPr>
        </p:nvGraphicFramePr>
        <p:xfrm>
          <a:off x="2095500" y="3510280"/>
          <a:ext cx="4953000" cy="2966720"/>
        </p:xfrm>
        <a:graphic>
          <a:graphicData uri="http://schemas.openxmlformats.org/drawingml/2006/table">
            <a:tbl>
              <a:tblPr firstRow="1" bandRow="1">
                <a:tableStyleId>{5C22544A-7EE6-4342-B048-85BDC9FD1C3A}</a:tableStyleId>
              </a:tblPr>
              <a:tblGrid>
                <a:gridCol w="1238250">
                  <a:extLst>
                    <a:ext uri="{9D8B030D-6E8A-4147-A177-3AD203B41FA5}">
                      <a16:colId xmlns:a16="http://schemas.microsoft.com/office/drawing/2014/main" val="620702644"/>
                    </a:ext>
                  </a:extLst>
                </a:gridCol>
                <a:gridCol w="1238250">
                  <a:extLst>
                    <a:ext uri="{9D8B030D-6E8A-4147-A177-3AD203B41FA5}">
                      <a16:colId xmlns:a16="http://schemas.microsoft.com/office/drawing/2014/main" val="2882790322"/>
                    </a:ext>
                  </a:extLst>
                </a:gridCol>
                <a:gridCol w="1238250">
                  <a:extLst>
                    <a:ext uri="{9D8B030D-6E8A-4147-A177-3AD203B41FA5}">
                      <a16:colId xmlns:a16="http://schemas.microsoft.com/office/drawing/2014/main" val="12832564"/>
                    </a:ext>
                  </a:extLst>
                </a:gridCol>
                <a:gridCol w="1238250">
                  <a:extLst>
                    <a:ext uri="{9D8B030D-6E8A-4147-A177-3AD203B41FA5}">
                      <a16:colId xmlns:a16="http://schemas.microsoft.com/office/drawing/2014/main" val="3666510150"/>
                    </a:ext>
                  </a:extLst>
                </a:gridCol>
              </a:tblGrid>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5413065"/>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32974311"/>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59639797"/>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0557642"/>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28538348"/>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20493055"/>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4183071"/>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54009469"/>
                  </a:ext>
                </a:extLst>
              </a:tr>
            </a:tbl>
          </a:graphicData>
        </a:graphic>
      </p:graphicFrame>
      <p:cxnSp>
        <p:nvCxnSpPr>
          <p:cNvPr id="7" name="Straight Arrow Connector 6">
            <a:extLst>
              <a:ext uri="{FF2B5EF4-FFF2-40B4-BE49-F238E27FC236}">
                <a16:creationId xmlns:a16="http://schemas.microsoft.com/office/drawing/2014/main" id="{850CA828-AC72-40E4-B48F-6646427E0431}"/>
              </a:ext>
            </a:extLst>
          </p:cNvPr>
          <p:cNvCxnSpPr/>
          <p:nvPr/>
        </p:nvCxnSpPr>
        <p:spPr>
          <a:xfrm>
            <a:off x="1905000" y="3358099"/>
            <a:ext cx="0" cy="31089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F42030B-C394-4DE6-9CD5-AC1101EA0EDF}"/>
              </a:ext>
            </a:extLst>
          </p:cNvPr>
          <p:cNvSpPr txBox="1"/>
          <p:nvPr>
            <p:custDataLst>
              <p:tags r:id="rId5"/>
            </p:custDataLst>
          </p:nvPr>
        </p:nvSpPr>
        <p:spPr>
          <a:xfrm>
            <a:off x="1219199" y="3276601"/>
            <a:ext cx="685801" cy="338554"/>
          </a:xfrm>
          <a:prstGeom prst="rect">
            <a:avLst/>
          </a:prstGeom>
          <a:noFill/>
        </p:spPr>
        <p:txBody>
          <a:bodyPr wrap="square" rtlCol="0">
            <a:spAutoFit/>
          </a:bodyPr>
          <a:lstStyle/>
          <a:p>
            <a:pPr algn="ctr"/>
            <a:r>
              <a:rPr lang="en-US" sz="1600" b="1" dirty="0" err="1">
                <a:latin typeface="Calibri" panose="020F0502020204030204" pitchFamily="34" charset="0"/>
                <a:cs typeface="Calibri" panose="020F0502020204030204" pitchFamily="34" charset="0"/>
              </a:rPr>
              <a:t>i</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iters</a:t>
            </a:r>
            <a:endParaRPr lang="en-US" sz="1600" b="1" dirty="0">
              <a:latin typeface="Calibri" panose="020F0502020204030204" pitchFamily="34" charset="0"/>
              <a:cs typeface="Calibri" panose="020F0502020204030204" pitchFamily="34" charset="0"/>
            </a:endParaRPr>
          </a:p>
        </p:txBody>
      </p:sp>
      <p:cxnSp>
        <p:nvCxnSpPr>
          <p:cNvPr id="12" name="Straight Arrow Connector 11">
            <a:extLst>
              <a:ext uri="{FF2B5EF4-FFF2-40B4-BE49-F238E27FC236}">
                <a16:creationId xmlns:a16="http://schemas.microsoft.com/office/drawing/2014/main" id="{DBF91157-D626-45FA-88AA-F311150EB958}"/>
              </a:ext>
            </a:extLst>
          </p:cNvPr>
          <p:cNvCxnSpPr>
            <a:cxnSpLocks/>
          </p:cNvCxnSpPr>
          <p:nvPr/>
        </p:nvCxnSpPr>
        <p:spPr>
          <a:xfrm rot="16200000">
            <a:off x="4465320" y="797779"/>
            <a:ext cx="0" cy="512064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4A6E3E5-AB81-4BC2-9222-F8FB861CA6DC}"/>
              </a:ext>
            </a:extLst>
          </p:cNvPr>
          <p:cNvSpPr txBox="1"/>
          <p:nvPr>
            <p:custDataLst>
              <p:tags r:id="rId6"/>
            </p:custDataLst>
          </p:nvPr>
        </p:nvSpPr>
        <p:spPr>
          <a:xfrm>
            <a:off x="1979096" y="3036642"/>
            <a:ext cx="685801"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j </a:t>
            </a:r>
            <a:r>
              <a:rPr lang="en-US" sz="1600" b="1" dirty="0" err="1">
                <a:latin typeface="Calibri" panose="020F0502020204030204" pitchFamily="34" charset="0"/>
                <a:cs typeface="Calibri" panose="020F0502020204030204" pitchFamily="34" charset="0"/>
              </a:rPr>
              <a:t>iters</a:t>
            </a:r>
            <a:endParaRPr lang="en-US" sz="1600" b="1" dirty="0">
              <a:latin typeface="Calibri" panose="020F0502020204030204" pitchFamily="34" charset="0"/>
              <a:cs typeface="Calibri" panose="020F0502020204030204" pitchFamily="34" charset="0"/>
            </a:endParaRPr>
          </a:p>
        </p:txBody>
      </p:sp>
      <p:sp>
        <p:nvSpPr>
          <p:cNvPr id="9" name="Arc 8">
            <a:extLst>
              <a:ext uri="{FF2B5EF4-FFF2-40B4-BE49-F238E27FC236}">
                <a16:creationId xmlns:a16="http://schemas.microsoft.com/office/drawing/2014/main" id="{D8818363-FEB8-49B3-9384-FCB8C64AA7C1}"/>
              </a:ext>
            </a:extLst>
          </p:cNvPr>
          <p:cNvSpPr/>
          <p:nvPr>
            <p:custDataLst>
              <p:tags r:id="rId7"/>
            </p:custDataLst>
          </p:nvPr>
        </p:nvSpPr>
        <p:spPr>
          <a:xfrm>
            <a:off x="6857607" y="3691575"/>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Arc 16">
            <a:extLst>
              <a:ext uri="{FF2B5EF4-FFF2-40B4-BE49-F238E27FC236}">
                <a16:creationId xmlns:a16="http://schemas.microsoft.com/office/drawing/2014/main" id="{936297B8-BD7E-44B2-A606-7BFE8A8204A5}"/>
              </a:ext>
            </a:extLst>
          </p:cNvPr>
          <p:cNvSpPr/>
          <p:nvPr>
            <p:custDataLst>
              <p:tags r:id="rId8"/>
            </p:custDataLst>
          </p:nvPr>
        </p:nvSpPr>
        <p:spPr>
          <a:xfrm>
            <a:off x="6877050" y="4066221"/>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Arc 17">
            <a:extLst>
              <a:ext uri="{FF2B5EF4-FFF2-40B4-BE49-F238E27FC236}">
                <a16:creationId xmlns:a16="http://schemas.microsoft.com/office/drawing/2014/main" id="{E21E6478-7C88-42A0-96DD-9BC866CC3866}"/>
              </a:ext>
            </a:extLst>
          </p:cNvPr>
          <p:cNvSpPr/>
          <p:nvPr>
            <p:custDataLst>
              <p:tags r:id="rId9"/>
            </p:custDataLst>
          </p:nvPr>
        </p:nvSpPr>
        <p:spPr>
          <a:xfrm>
            <a:off x="6877050" y="4440867"/>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Arc 18">
            <a:extLst>
              <a:ext uri="{FF2B5EF4-FFF2-40B4-BE49-F238E27FC236}">
                <a16:creationId xmlns:a16="http://schemas.microsoft.com/office/drawing/2014/main" id="{F2D04EE5-A1AB-43BB-84BE-E0A31B144047}"/>
              </a:ext>
            </a:extLst>
          </p:cNvPr>
          <p:cNvSpPr/>
          <p:nvPr>
            <p:custDataLst>
              <p:tags r:id="rId10"/>
            </p:custDataLst>
          </p:nvPr>
        </p:nvSpPr>
        <p:spPr>
          <a:xfrm>
            <a:off x="6858000" y="4815513"/>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Arc 19">
            <a:extLst>
              <a:ext uri="{FF2B5EF4-FFF2-40B4-BE49-F238E27FC236}">
                <a16:creationId xmlns:a16="http://schemas.microsoft.com/office/drawing/2014/main" id="{A55BEE16-95AA-4408-A9AF-73DB4D17FADE}"/>
              </a:ext>
            </a:extLst>
          </p:cNvPr>
          <p:cNvSpPr/>
          <p:nvPr>
            <p:custDataLst>
              <p:tags r:id="rId11"/>
            </p:custDataLst>
          </p:nvPr>
        </p:nvSpPr>
        <p:spPr>
          <a:xfrm>
            <a:off x="6858000" y="5190159"/>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Arc 20">
            <a:extLst>
              <a:ext uri="{FF2B5EF4-FFF2-40B4-BE49-F238E27FC236}">
                <a16:creationId xmlns:a16="http://schemas.microsoft.com/office/drawing/2014/main" id="{C4D45AEE-3CC2-4AE1-8252-FB922E4090EB}"/>
              </a:ext>
            </a:extLst>
          </p:cNvPr>
          <p:cNvSpPr/>
          <p:nvPr>
            <p:custDataLst>
              <p:tags r:id="rId12"/>
            </p:custDataLst>
          </p:nvPr>
        </p:nvSpPr>
        <p:spPr>
          <a:xfrm>
            <a:off x="6877443" y="5564805"/>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Arc 21">
            <a:extLst>
              <a:ext uri="{FF2B5EF4-FFF2-40B4-BE49-F238E27FC236}">
                <a16:creationId xmlns:a16="http://schemas.microsoft.com/office/drawing/2014/main" id="{D582E294-188F-4797-B7C3-498E49551682}"/>
              </a:ext>
            </a:extLst>
          </p:cNvPr>
          <p:cNvSpPr/>
          <p:nvPr>
            <p:custDataLst>
              <p:tags r:id="rId13"/>
            </p:custDataLst>
          </p:nvPr>
        </p:nvSpPr>
        <p:spPr>
          <a:xfrm>
            <a:off x="6858000" y="5939451"/>
            <a:ext cx="361950" cy="347025"/>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Arc 22">
            <a:extLst>
              <a:ext uri="{FF2B5EF4-FFF2-40B4-BE49-F238E27FC236}">
                <a16:creationId xmlns:a16="http://schemas.microsoft.com/office/drawing/2014/main" id="{BFA4FF70-8125-4984-B305-AF7976687AE8}"/>
              </a:ext>
            </a:extLst>
          </p:cNvPr>
          <p:cNvSpPr/>
          <p:nvPr>
            <p:custDataLst>
              <p:tags r:id="rId14"/>
            </p:custDataLst>
          </p:nvPr>
        </p:nvSpPr>
        <p:spPr>
          <a:xfrm rot="16200000">
            <a:off x="3166707" y="2858308"/>
            <a:ext cx="365760" cy="1280160"/>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Arc 23">
            <a:extLst>
              <a:ext uri="{FF2B5EF4-FFF2-40B4-BE49-F238E27FC236}">
                <a16:creationId xmlns:a16="http://schemas.microsoft.com/office/drawing/2014/main" id="{F711DB68-4AEC-46A8-B8C5-2406E8C4556F}"/>
              </a:ext>
            </a:extLst>
          </p:cNvPr>
          <p:cNvSpPr/>
          <p:nvPr>
            <p:custDataLst>
              <p:tags r:id="rId15"/>
            </p:custDataLst>
          </p:nvPr>
        </p:nvSpPr>
        <p:spPr>
          <a:xfrm rot="16200000">
            <a:off x="4419600" y="2838865"/>
            <a:ext cx="365760" cy="1280160"/>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Arc 25">
            <a:extLst>
              <a:ext uri="{FF2B5EF4-FFF2-40B4-BE49-F238E27FC236}">
                <a16:creationId xmlns:a16="http://schemas.microsoft.com/office/drawing/2014/main" id="{CEED6C60-6764-45FC-B50C-14164245EDC6}"/>
              </a:ext>
            </a:extLst>
          </p:cNvPr>
          <p:cNvSpPr/>
          <p:nvPr>
            <p:custDataLst>
              <p:tags r:id="rId16"/>
            </p:custDataLst>
          </p:nvPr>
        </p:nvSpPr>
        <p:spPr>
          <a:xfrm rot="16200000">
            <a:off x="5654040" y="2857915"/>
            <a:ext cx="365760" cy="1280160"/>
          </a:xfrm>
          <a:prstGeom prst="arc">
            <a:avLst>
              <a:gd name="adj1" fmla="val 16200000"/>
              <a:gd name="adj2" fmla="val 5564213"/>
            </a:avLst>
          </a:prstGeom>
          <a:ln w="38100">
            <a:solidFill>
              <a:schemeClr val="accent6">
                <a:lumMod val="75000"/>
              </a:schemeClr>
            </a:solidFill>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a:extLst>
              <a:ext uri="{FF2B5EF4-FFF2-40B4-BE49-F238E27FC236}">
                <a16:creationId xmlns:a16="http://schemas.microsoft.com/office/drawing/2014/main" id="{BD7A1AC4-5CA5-46C7-92D3-4E581F7C3440}"/>
              </a:ext>
            </a:extLst>
          </p:cNvPr>
          <p:cNvSpPr txBox="1"/>
          <p:nvPr>
            <p:custDataLst>
              <p:tags r:id="rId17"/>
            </p:custDataLst>
          </p:nvPr>
        </p:nvSpPr>
        <p:spPr>
          <a:xfrm>
            <a:off x="3642372" y="2966839"/>
            <a:ext cx="1859255"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temporal locality</a:t>
            </a:r>
          </a:p>
        </p:txBody>
      </p:sp>
      <p:sp>
        <p:nvSpPr>
          <p:cNvPr id="29" name="TextBox 28">
            <a:extLst>
              <a:ext uri="{FF2B5EF4-FFF2-40B4-BE49-F238E27FC236}">
                <a16:creationId xmlns:a16="http://schemas.microsoft.com/office/drawing/2014/main" id="{BBE78E40-CBE3-4BEB-85A4-FE19CC4A71BB}"/>
              </a:ext>
            </a:extLst>
          </p:cNvPr>
          <p:cNvSpPr txBox="1"/>
          <p:nvPr>
            <p:custDataLst>
              <p:tags r:id="rId18"/>
            </p:custDataLst>
          </p:nvPr>
        </p:nvSpPr>
        <p:spPr>
          <a:xfrm>
            <a:off x="6979945" y="4843046"/>
            <a:ext cx="1859255"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spatial locality</a:t>
            </a:r>
          </a:p>
        </p:txBody>
      </p:sp>
      <p:sp>
        <p:nvSpPr>
          <p:cNvPr id="25" name="Rectangle 3">
            <a:extLst>
              <a:ext uri="{FF2B5EF4-FFF2-40B4-BE49-F238E27FC236}">
                <a16:creationId xmlns:a16="http://schemas.microsoft.com/office/drawing/2014/main" id="{62FD4F80-49AC-45FE-ACAB-C835A840B48A}"/>
              </a:ext>
            </a:extLst>
          </p:cNvPr>
          <p:cNvSpPr txBox="1">
            <a:spLocks noChangeArrowheads="1"/>
          </p:cNvSpPr>
          <p:nvPr>
            <p:custDataLst>
              <p:tags r:id="rId19"/>
            </p:custDataLst>
          </p:nvPr>
        </p:nvSpPr>
        <p:spPr bwMode="auto">
          <a:xfrm>
            <a:off x="457200" y="144780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000" b="1" dirty="0" err="1">
                <a:latin typeface="Courier New" panose="02070309020205020404" pitchFamily="49" charset="0"/>
                <a:cs typeface="Courier New" panose="02070309020205020404" pitchFamily="49" charset="0"/>
              </a:rPr>
              <a:t>int</a:t>
            </a:r>
            <a:r>
              <a:rPr lang="en-US" altLang="en-US" sz="2000" b="1" dirty="0">
                <a:latin typeface="Courier New" panose="02070309020205020404" pitchFamily="49" charset="0"/>
                <a:cs typeface="Courier New" panose="02070309020205020404" pitchFamily="49" charset="0"/>
              </a:rPr>
              <a:t> A[N];</a:t>
            </a:r>
          </a:p>
          <a:p>
            <a:pPr marL="0" indent="0">
              <a:buFont typeface="Arial" charset="0"/>
              <a:buNone/>
            </a:pPr>
            <a:r>
              <a:rPr lang="en-US" altLang="en-US" sz="2000" b="1" dirty="0">
                <a:latin typeface="Courier New" panose="02070309020205020404" pitchFamily="49" charset="0"/>
                <a:cs typeface="Courier New" panose="02070309020205020404" pitchFamily="49" charset="0"/>
              </a:rPr>
              <a:t>for (int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 0;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&lt; N;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a:t>
            </a:r>
          </a:p>
          <a:p>
            <a:pPr marL="0" indent="0">
              <a:buNone/>
            </a:pPr>
            <a:r>
              <a:rPr lang="en-US" altLang="en-US" sz="2000" b="1" dirty="0">
                <a:latin typeface="Courier New" panose="02070309020205020404" pitchFamily="49" charset="0"/>
                <a:cs typeface="Courier New" panose="02070309020205020404" pitchFamily="49" charset="0"/>
              </a:rPr>
              <a:t>    for (int j = 0; j &lt; 4; </a:t>
            </a:r>
            <a:r>
              <a:rPr lang="en-US" altLang="en-US" sz="2000" b="1" dirty="0" err="1">
                <a:latin typeface="Courier New" panose="02070309020205020404" pitchFamily="49" charset="0"/>
                <a:cs typeface="Courier New" panose="02070309020205020404" pitchFamily="49" charset="0"/>
              </a:rPr>
              <a:t>j++</a:t>
            </a:r>
            <a:r>
              <a:rPr lang="en-US" altLang="en-US" sz="2000" b="1" dirty="0">
                <a:latin typeface="Courier New" panose="02070309020205020404" pitchFamily="49" charset="0"/>
                <a:cs typeface="Courier New" panose="02070309020205020404" pitchFamily="49" charset="0"/>
              </a:rPr>
              <a:t>)</a:t>
            </a:r>
          </a:p>
          <a:p>
            <a:pPr marL="0" indent="0">
              <a:buFont typeface="Arial" charset="0"/>
              <a:buNone/>
            </a:pPr>
            <a:r>
              <a:rPr lang="en-US" altLang="en-US" sz="2000" b="1" dirty="0">
                <a:latin typeface="Courier New" panose="02070309020205020404" pitchFamily="49" charset="0"/>
                <a:cs typeface="Courier New" panose="02070309020205020404" pitchFamily="49" charset="0"/>
              </a:rPr>
              <a:t>        … = A[</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a:t>
            </a:r>
          </a:p>
        </p:txBody>
      </p:sp>
    </p:spTree>
    <p:custDataLst>
      <p:tags r:id="rId1"/>
    </p:custDataLst>
    <p:extLst>
      <p:ext uri="{BB962C8B-B14F-4D97-AF65-F5344CB8AC3E}">
        <p14:creationId xmlns:p14="http://schemas.microsoft.com/office/powerpoint/2010/main" val="17125019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P spid="18" grpId="0" animBg="1"/>
      <p:bldP spid="19" grpId="0" animBg="1"/>
      <p:bldP spid="20" grpId="0" animBg="1"/>
      <p:bldP spid="21" grpId="0" animBg="1"/>
      <p:bldP spid="22" grpId="0" animBg="1"/>
      <p:bldP spid="23" grpId="0" animBg="1"/>
      <p:bldP spid="24" grpId="0" animBg="1"/>
      <p:bldP spid="26" grpId="0" animBg="1"/>
      <p:bldP spid="28" grpId="0"/>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A2790D9-C496-4784-8F99-80BC1EAE5C49}"/>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Caches</a:t>
            </a:r>
          </a:p>
        </p:txBody>
      </p:sp>
      <p:sp>
        <p:nvSpPr>
          <p:cNvPr id="19459" name="Rectangle 3">
            <a:extLst>
              <a:ext uri="{FF2B5EF4-FFF2-40B4-BE49-F238E27FC236}">
                <a16:creationId xmlns:a16="http://schemas.microsoft.com/office/drawing/2014/main" id="{CD78AA74-71C8-43E8-BDAC-6059588A59D1}"/>
              </a:ext>
            </a:extLst>
          </p:cNvPr>
          <p:cNvSpPr>
            <a:spLocks noGrp="1" noChangeArrowheads="1"/>
          </p:cNvSpPr>
          <p:nvPr>
            <p:ph idx="1"/>
            <p:custDataLst>
              <p:tags r:id="rId3"/>
            </p:custDataLst>
          </p:nvPr>
        </p:nvSpPr>
        <p:spPr>
          <a:xfrm>
            <a:off x="457200" y="1600200"/>
            <a:ext cx="8534400" cy="4525963"/>
          </a:xfrm>
        </p:spPr>
        <p:txBody>
          <a:bodyPr/>
          <a:lstStyle/>
          <a:p>
            <a:pPr marL="0" indent="0" eaLnBrk="1" hangingPunct="1">
              <a:lnSpc>
                <a:spcPct val="80000"/>
              </a:lnSpc>
              <a:buNone/>
            </a:pPr>
            <a:r>
              <a:rPr lang="en-US" altLang="en-US" dirty="0"/>
              <a:t>Cache architecture consists of:</a:t>
            </a:r>
          </a:p>
          <a:p>
            <a:pPr eaLnBrk="1" hangingPunct="1">
              <a:lnSpc>
                <a:spcPct val="80000"/>
              </a:lnSpc>
            </a:pPr>
            <a:r>
              <a:rPr lang="en-US" altLang="en-US" sz="2800" i="1" dirty="0"/>
              <a:t>Data array</a:t>
            </a:r>
            <a:r>
              <a:rPr lang="en-US" altLang="en-US" sz="2800" dirty="0"/>
              <a:t>: Array of multi-byte blocks of memory contents</a:t>
            </a:r>
          </a:p>
          <a:p>
            <a:pPr eaLnBrk="1" hangingPunct="1">
              <a:lnSpc>
                <a:spcPct val="80000"/>
              </a:lnSpc>
            </a:pPr>
            <a:r>
              <a:rPr lang="en-US" altLang="en-US" sz="2800" i="1" dirty="0"/>
              <a:t>Tag array</a:t>
            </a:r>
            <a:r>
              <a:rPr lang="en-US" altLang="en-US" sz="2800" dirty="0"/>
              <a:t>: Array of tags (i.e., specific address bits) that uniquely identify each block</a:t>
            </a:r>
          </a:p>
          <a:p>
            <a:pPr lvl="1" eaLnBrk="1" hangingPunct="1">
              <a:lnSpc>
                <a:spcPct val="80000"/>
              </a:lnSpc>
            </a:pPr>
            <a:r>
              <a:rPr lang="en-US" altLang="en-US" sz="2400" dirty="0"/>
              <a:t>Also contains metadata:</a:t>
            </a:r>
          </a:p>
          <a:p>
            <a:pPr lvl="2" eaLnBrk="1" hangingPunct="1">
              <a:lnSpc>
                <a:spcPct val="80000"/>
              </a:lnSpc>
            </a:pPr>
            <a:r>
              <a:rPr lang="en-US" altLang="en-US" sz="2000" i="1" dirty="0"/>
              <a:t>Valid</a:t>
            </a:r>
            <a:r>
              <a:rPr lang="en-US" altLang="en-US" sz="2000" dirty="0"/>
              <a:t> bit: specifies that cache location is actually occupied</a:t>
            </a:r>
          </a:p>
          <a:p>
            <a:pPr lvl="2" eaLnBrk="1" hangingPunct="1">
              <a:lnSpc>
                <a:spcPct val="80000"/>
              </a:lnSpc>
            </a:pPr>
            <a:r>
              <a:rPr lang="en-US" altLang="en-US" sz="2000" i="1" dirty="0"/>
              <a:t>Dirty</a:t>
            </a:r>
            <a:r>
              <a:rPr lang="en-US" altLang="en-US" sz="2000" dirty="0"/>
              <a:t> bit: specifies that cache block is modified and needs to be written back to memory (discuss later)</a:t>
            </a:r>
          </a:p>
          <a:p>
            <a:pPr lvl="2" eaLnBrk="1" hangingPunct="1">
              <a:lnSpc>
                <a:spcPct val="80000"/>
              </a:lnSpc>
            </a:pPr>
            <a:r>
              <a:rPr lang="en-US" altLang="en-US" sz="2000" i="1" dirty="0"/>
              <a:t>Replacement</a:t>
            </a:r>
            <a:r>
              <a:rPr lang="en-US" altLang="en-US" sz="2000" dirty="0"/>
              <a:t> bits: specify ranking of blocks that are likely to be used again (discuss later)</a:t>
            </a:r>
          </a:p>
        </p:txBody>
      </p:sp>
      <p:sp>
        <p:nvSpPr>
          <p:cNvPr id="2" name="Slide Number Placeholder 1">
            <a:extLst>
              <a:ext uri="{FF2B5EF4-FFF2-40B4-BE49-F238E27FC236}">
                <a16:creationId xmlns:a16="http://schemas.microsoft.com/office/drawing/2014/main" id="{22230079-9470-41AB-8D9C-D1B2DC277673}"/>
              </a:ext>
            </a:extLst>
          </p:cNvPr>
          <p:cNvSpPr>
            <a:spLocks noGrp="1"/>
          </p:cNvSpPr>
          <p:nvPr>
            <p:ph type="sldNum" sz="quarter" idx="12"/>
            <p:custDataLst>
              <p:tags r:id="rId4"/>
            </p:custDataLst>
          </p:nvPr>
        </p:nvSpPr>
        <p:spPr>
          <a:xfrm>
            <a:off x="7620000" y="6356350"/>
            <a:ext cx="1066800" cy="365125"/>
          </a:xfrm>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98B693DE-EAD0-4657-A4E5-7E75B552DB7E}" type="slidenum">
              <a:rPr lang="en-US" altLang="en-US" sz="1400">
                <a:latin typeface="Calibri" panose="020F0502020204030204" pitchFamily="34" charset="0"/>
              </a:rPr>
              <a:pPr lvl="1" eaLnBrk="1" hangingPunct="1"/>
              <a:t>29</a:t>
            </a:fld>
            <a:endParaRPr lang="en-US" altLang="en-US" sz="1400">
              <a:latin typeface="Calibri" panose="020F0502020204030204" pitchFamily="34" charset="0"/>
            </a:endParaRPr>
          </a:p>
        </p:txBody>
      </p:sp>
    </p:spTree>
    <p:custDataLst>
      <p:tags r:id="rId1"/>
    </p:custDataLst>
    <p:extLst>
      <p:ext uri="{BB962C8B-B14F-4D97-AF65-F5344CB8AC3E}">
        <p14:creationId xmlns:p14="http://schemas.microsoft.com/office/powerpoint/2010/main" val="384066140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76D36-4766-C4D1-2883-FFBFBFF2CB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9E5811-A6E6-3908-AFD3-38561FF3A0FD}"/>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Cache Architecture Overview</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Cache architecture consists of two key structures: a data array that holds cache line blocks and a tag array that stores tags for corresponding data blocks.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Tags and Metadata</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 tag is a unique identifier for each block, containing a valid bit, a dirty bit, and replacement bits for ranking based on reuse likelihood.</a:t>
            </a:r>
          </a:p>
          <a:p>
            <a:pPr marL="0" indent="0">
              <a:buNone/>
            </a:pPr>
            <a:endParaRPr lang="en-IN" dirty="0"/>
          </a:p>
        </p:txBody>
      </p:sp>
      <p:sp>
        <p:nvSpPr>
          <p:cNvPr id="4" name="Slide Number Placeholder 3">
            <a:extLst>
              <a:ext uri="{FF2B5EF4-FFF2-40B4-BE49-F238E27FC236}">
                <a16:creationId xmlns:a16="http://schemas.microsoft.com/office/drawing/2014/main" id="{27057020-221A-7F69-728D-E1834427A2AC}"/>
              </a:ext>
            </a:extLst>
          </p:cNvPr>
          <p:cNvSpPr>
            <a:spLocks noGrp="1"/>
          </p:cNvSpPr>
          <p:nvPr>
            <p:ph type="sldNum" sz="quarter" idx="12"/>
          </p:nvPr>
        </p:nvSpPr>
        <p:spPr/>
        <p:txBody>
          <a:bodyPr/>
          <a:lstStyle/>
          <a:p>
            <a:pPr lvl="1">
              <a:defRPr/>
            </a:pPr>
            <a:fld id="{0831C007-5AA1-4C47-955B-DD23833C3AF5}" type="slidenum">
              <a:rPr lang="en-US" altLang="en-US" smtClean="0"/>
              <a:pPr lvl="1">
                <a:defRPr/>
              </a:pPr>
              <a:t>30</a:t>
            </a:fld>
            <a:endParaRPr lang="en-US" altLang="en-US"/>
          </a:p>
        </p:txBody>
      </p:sp>
    </p:spTree>
    <p:extLst>
      <p:ext uri="{BB962C8B-B14F-4D97-AF65-F5344CB8AC3E}">
        <p14:creationId xmlns:p14="http://schemas.microsoft.com/office/powerpoint/2010/main" val="2313367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31</a:t>
            </a:fld>
            <a:endParaRPr lang="en-US" altLang="en-US"/>
          </a:p>
        </p:txBody>
      </p:sp>
      <p:sp>
        <p:nvSpPr>
          <p:cNvPr id="25" name="TextBox 24">
            <a:extLst>
              <a:ext uri="{FF2B5EF4-FFF2-40B4-BE49-F238E27FC236}">
                <a16:creationId xmlns:a16="http://schemas.microsoft.com/office/drawing/2014/main" id="{BA2E1052-7F6A-461A-BD5C-E9E8F6FE17F8}"/>
              </a:ext>
            </a:extLst>
          </p:cNvPr>
          <p:cNvSpPr txBox="1"/>
          <p:nvPr>
            <p:custDataLst>
              <p:tags r:id="rId4"/>
            </p:custDataLst>
          </p:nvPr>
        </p:nvSpPr>
        <p:spPr>
          <a:xfrm>
            <a:off x="526930" y="1414732"/>
            <a:ext cx="8236070" cy="5037826"/>
          </a:xfrm>
          <a:prstGeom prst="rect">
            <a:avLst/>
          </a:prstGeom>
          <a:noFill/>
        </p:spPr>
        <p:txBody>
          <a:bodyPr wrap="square" rtlCol="0" anchor="t">
            <a:noAutofit/>
          </a:bodyPr>
          <a:lstStyle/>
          <a:p>
            <a:r>
              <a:rPr lang="en-US" sz="2800" b="1" dirty="0">
                <a:latin typeface="+mn-lt"/>
              </a:rPr>
              <a:t>Placement:</a:t>
            </a:r>
          </a:p>
          <a:p>
            <a:r>
              <a:rPr lang="en-US" sz="2800" dirty="0">
                <a:latin typeface="+mn-lt"/>
              </a:rPr>
              <a:t>Where can a block of memory go?</a:t>
            </a:r>
          </a:p>
          <a:p>
            <a:endParaRPr lang="en-US" sz="2800" dirty="0">
              <a:latin typeface="+mn-lt"/>
            </a:endParaRPr>
          </a:p>
          <a:p>
            <a:r>
              <a:rPr lang="en-US" sz="2800" b="1" dirty="0">
                <a:latin typeface="+mn-lt"/>
              </a:rPr>
              <a:t>Replacement:</a:t>
            </a:r>
          </a:p>
          <a:p>
            <a:r>
              <a:rPr lang="en-US" sz="2800" dirty="0">
                <a:latin typeface="+mn-lt"/>
              </a:rPr>
              <a:t>How do we make space for new blocks?</a:t>
            </a:r>
          </a:p>
          <a:p>
            <a:endParaRPr lang="en-US" sz="2800" dirty="0">
              <a:latin typeface="+mn-lt"/>
            </a:endParaRPr>
          </a:p>
          <a:p>
            <a:r>
              <a:rPr lang="en-US" sz="2800" b="1" dirty="0">
                <a:latin typeface="+mn-lt"/>
              </a:rPr>
              <a:t>Write Policy:</a:t>
            </a:r>
          </a:p>
          <a:p>
            <a:r>
              <a:rPr lang="en-US" sz="2800" dirty="0">
                <a:latin typeface="+mn-lt"/>
              </a:rPr>
              <a:t>How do we propagate modifications to memory?</a:t>
            </a:r>
          </a:p>
          <a:p>
            <a:endParaRPr lang="en-US" sz="2800" dirty="0">
              <a:latin typeface="+mn-lt"/>
            </a:endParaRPr>
          </a:p>
          <a:p>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Cache Design Considerations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Key design considerations for building a cache include placement (where to store blocks), replacement (how to make space for new blocks), and write policy (how to propagate modifications).</a:t>
            </a:r>
          </a:p>
          <a:p>
            <a:endParaRPr lang="en-US" sz="2800" dirty="0">
              <a:latin typeface="+mn-lt"/>
            </a:endParaRPr>
          </a:p>
        </p:txBody>
      </p:sp>
    </p:spTree>
    <p:custDataLst>
      <p:tags r:id="rId1"/>
    </p:custDataLst>
    <p:extLst>
      <p:ext uri="{BB962C8B-B14F-4D97-AF65-F5344CB8AC3E}">
        <p14:creationId xmlns:p14="http://schemas.microsoft.com/office/powerpoint/2010/main" val="148449583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32</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4"/>
            </p:custDataLst>
          </p:nvPr>
        </p:nvSpPr>
        <p:spPr>
          <a:xfrm>
            <a:off x="457200" y="1600200"/>
            <a:ext cx="8534400" cy="4525963"/>
          </a:xfrm>
        </p:spPr>
        <p:txBody>
          <a:bodyPr/>
          <a:lstStyle/>
          <a:p>
            <a:pPr eaLnBrk="1" hangingPunct="1">
              <a:lnSpc>
                <a:spcPct val="80000"/>
              </a:lnSpc>
            </a:pPr>
            <a:r>
              <a:rPr lang="en-US" altLang="en-US" dirty="0"/>
              <a:t>Since memory address range exceeds cache capacity, map memory addresses into finite set of cache storage locations.</a:t>
            </a:r>
          </a:p>
          <a:p>
            <a:pPr eaLnBrk="1" hangingPunct="1">
              <a:lnSpc>
                <a:spcPct val="80000"/>
              </a:lnSpc>
            </a:pPr>
            <a:r>
              <a:rPr lang="en-US" altLang="en-US" i="1" dirty="0"/>
              <a:t>Direct-mapped</a:t>
            </a:r>
            <a:r>
              <a:rPr lang="en-US" altLang="en-US" dirty="0"/>
              <a:t> cache:</a:t>
            </a:r>
          </a:p>
          <a:p>
            <a:pPr lvl="1" eaLnBrk="1" hangingPunct="1">
              <a:lnSpc>
                <a:spcPct val="90000"/>
              </a:lnSpc>
            </a:pPr>
            <a:r>
              <a:rPr lang="en-US" altLang="en-US" dirty="0"/>
              <a:t>Each memory address maps to a single location (</a:t>
            </a:r>
            <a:r>
              <a:rPr lang="en-US" altLang="en-US" i="1" dirty="0"/>
              <a:t>index</a:t>
            </a:r>
            <a:r>
              <a:rPr lang="en-US" altLang="en-US" dirty="0"/>
              <a:t>) in the cache</a:t>
            </a:r>
          </a:p>
          <a:p>
            <a:pPr lvl="1" eaLnBrk="1" hangingPunct="1">
              <a:lnSpc>
                <a:spcPct val="90000"/>
              </a:lnSpc>
            </a:pPr>
            <a:r>
              <a:rPr lang="en-US" altLang="en-US" dirty="0"/>
              <a:t>Will discuss </a:t>
            </a:r>
            <a:r>
              <a:rPr lang="en-US" altLang="en-US" i="1" dirty="0"/>
              <a:t>set-associative</a:t>
            </a:r>
            <a:r>
              <a:rPr lang="en-US" altLang="en-US" dirty="0"/>
              <a:t> caches later</a:t>
            </a:r>
          </a:p>
        </p:txBody>
      </p:sp>
    </p:spTree>
    <p:custDataLst>
      <p:tags r:id="rId1"/>
    </p:custDataLst>
    <p:extLst>
      <p:ext uri="{BB962C8B-B14F-4D97-AF65-F5344CB8AC3E}">
        <p14:creationId xmlns:p14="http://schemas.microsoft.com/office/powerpoint/2010/main" val="119703700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7F045-40EA-1F26-09A7-063092DACD7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F5012D-A0AF-0D76-4994-516DD035A645}"/>
              </a:ext>
            </a:extLst>
          </p:cNvPr>
          <p:cNvSpPr>
            <a:spLocks noGrp="1"/>
          </p:cNvSpPr>
          <p:nvPr>
            <p:ph idx="1"/>
          </p:nvPr>
        </p:nvSpPr>
        <p:spPr>
          <a:xfrm>
            <a:off x="457200" y="304800"/>
            <a:ext cx="8229600" cy="6248400"/>
          </a:xfrm>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Direct Mapped Cache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goal of cache placement is to map memory addresses to finite cache locations. Direct-mapped caches allow only one place for a block based on memory address.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Cache Indexing Scheme</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standard indexing scheme splits the memory address into tag bits, index bits, and block offset bits.</a:t>
            </a:r>
          </a:p>
          <a:p>
            <a:pPr marL="0" indent="0">
              <a:buNone/>
            </a:pPr>
            <a:endParaRPr lang="en-IN" dirty="0"/>
          </a:p>
        </p:txBody>
      </p:sp>
      <p:sp>
        <p:nvSpPr>
          <p:cNvPr id="4" name="Slide Number Placeholder 3">
            <a:extLst>
              <a:ext uri="{FF2B5EF4-FFF2-40B4-BE49-F238E27FC236}">
                <a16:creationId xmlns:a16="http://schemas.microsoft.com/office/drawing/2014/main" id="{EED7936F-8120-3FD4-4015-CFA779DA7ACD}"/>
              </a:ext>
            </a:extLst>
          </p:cNvPr>
          <p:cNvSpPr>
            <a:spLocks noGrp="1"/>
          </p:cNvSpPr>
          <p:nvPr>
            <p:ph type="sldNum" sz="quarter" idx="12"/>
          </p:nvPr>
        </p:nvSpPr>
        <p:spPr/>
        <p:txBody>
          <a:bodyPr/>
          <a:lstStyle/>
          <a:p>
            <a:pPr lvl="1">
              <a:defRPr/>
            </a:pPr>
            <a:fld id="{0831C007-5AA1-4C47-955B-DD23833C3AF5}" type="slidenum">
              <a:rPr lang="en-US" altLang="en-US" smtClean="0"/>
              <a:pPr lvl="1">
                <a:defRPr/>
              </a:pPr>
              <a:t>33</a:t>
            </a:fld>
            <a:endParaRPr lang="en-US" altLang="en-US"/>
          </a:p>
        </p:txBody>
      </p:sp>
    </p:spTree>
    <p:extLst>
      <p:ext uri="{BB962C8B-B14F-4D97-AF65-F5344CB8AC3E}">
        <p14:creationId xmlns:p14="http://schemas.microsoft.com/office/powerpoint/2010/main" val="367610453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34</a:t>
            </a:fld>
            <a:endParaRPr lang="en-US" altLang="en-US"/>
          </a:p>
        </p:txBody>
      </p:sp>
      <p:sp>
        <p:nvSpPr>
          <p:cNvPr id="5" name="TextBox 4">
            <a:extLst>
              <a:ext uri="{FF2B5EF4-FFF2-40B4-BE49-F238E27FC236}">
                <a16:creationId xmlns:a16="http://schemas.microsoft.com/office/drawing/2014/main" id="{E9EC2BE8-AE6F-479F-8F9F-2279BF9DD410}"/>
              </a:ext>
            </a:extLst>
          </p:cNvPr>
          <p:cNvSpPr txBox="1"/>
          <p:nvPr>
            <p:custDataLst>
              <p:tags r:id="rId4"/>
            </p:custDataLst>
          </p:nvPr>
        </p:nvSpPr>
        <p:spPr>
          <a:xfrm>
            <a:off x="526930" y="1414732"/>
            <a:ext cx="8388470" cy="1052532"/>
          </a:xfrm>
          <a:prstGeom prst="rect">
            <a:avLst/>
          </a:prstGeom>
          <a:noFill/>
        </p:spPr>
        <p:txBody>
          <a:bodyPr wrap="square" rtlCol="0" anchor="t">
            <a:noAutofit/>
          </a:bodyPr>
          <a:lstStyle/>
          <a:p>
            <a:r>
              <a:rPr lang="en-US" sz="2800" dirty="0">
                <a:latin typeface="+mn-lt"/>
              </a:rPr>
              <a:t>Memory address = { tag, index, block offset }</a:t>
            </a:r>
          </a:p>
          <a:p>
            <a:pPr marL="457200" indent="-457200">
              <a:buFont typeface="Arial" panose="020B0604020202020204" pitchFamily="34" charset="0"/>
              <a:buChar char="•"/>
            </a:pPr>
            <a:r>
              <a:rPr lang="en-US" sz="2400" dirty="0">
                <a:latin typeface="+mn-lt"/>
              </a:rPr>
              <a:t>e.g., 256B cache capacity (can hold four 64B blocks)</a:t>
            </a:r>
            <a:endParaRPr lang="en-US" sz="2000" dirty="0">
              <a:latin typeface="+mn-lt"/>
            </a:endParaRPr>
          </a:p>
        </p:txBody>
      </p:sp>
      <p:sp>
        <p:nvSpPr>
          <p:cNvPr id="9" name="Text Box 7">
            <a:extLst>
              <a:ext uri="{FF2B5EF4-FFF2-40B4-BE49-F238E27FC236}">
                <a16:creationId xmlns:a16="http://schemas.microsoft.com/office/drawing/2014/main" id="{CB0D281A-AEB7-4BE0-BE7A-B23F84B62664}"/>
              </a:ext>
            </a:extLst>
          </p:cNvPr>
          <p:cNvSpPr txBox="1">
            <a:spLocks noChangeArrowheads="1"/>
          </p:cNvSpPr>
          <p:nvPr>
            <p:custDataLst>
              <p:tags r:id="rId5"/>
            </p:custDataLst>
          </p:nvPr>
        </p:nvSpPr>
        <p:spPr bwMode="auto">
          <a:xfrm>
            <a:off x="6233826" y="6477000"/>
            <a:ext cx="1309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word</a:t>
            </a:r>
          </a:p>
        </p:txBody>
      </p:sp>
      <p:sp>
        <p:nvSpPr>
          <p:cNvPr id="10" name="Freeform 8">
            <a:extLst>
              <a:ext uri="{FF2B5EF4-FFF2-40B4-BE49-F238E27FC236}">
                <a16:creationId xmlns:a16="http://schemas.microsoft.com/office/drawing/2014/main" id="{6631B068-328E-45A7-B915-D8DBE153E173}"/>
              </a:ext>
            </a:extLst>
          </p:cNvPr>
          <p:cNvSpPr>
            <a:spLocks/>
          </p:cNvSpPr>
          <p:nvPr>
            <p:custDataLst>
              <p:tags r:id="rId6"/>
            </p:custDataLst>
          </p:nvPr>
        </p:nvSpPr>
        <p:spPr bwMode="auto">
          <a:xfrm>
            <a:off x="6553200" y="575945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accent5">
              <a:lumMod val="40000"/>
              <a:lumOff val="60000"/>
            </a:schemeClr>
          </a:solidFill>
          <a:ln w="28575">
            <a:solidFill>
              <a:srgbClr val="000000"/>
            </a:solidFill>
            <a:round/>
            <a:headEnd/>
            <a:tailEnd/>
          </a:ln>
        </p:spPr>
        <p:txBody>
          <a:bodyPr wrap="none" anchor="ctr"/>
          <a:lstStyle/>
          <a:p>
            <a:endParaRPr lang="en-US"/>
          </a:p>
        </p:txBody>
      </p:sp>
      <p:sp>
        <p:nvSpPr>
          <p:cNvPr id="11" name="Text Box 9">
            <a:extLst>
              <a:ext uri="{FF2B5EF4-FFF2-40B4-BE49-F238E27FC236}">
                <a16:creationId xmlns:a16="http://schemas.microsoft.com/office/drawing/2014/main" id="{457C09B0-0177-47AC-8258-D03BE8076724}"/>
              </a:ext>
            </a:extLst>
          </p:cNvPr>
          <p:cNvSpPr txBox="1">
            <a:spLocks noChangeArrowheads="1"/>
          </p:cNvSpPr>
          <p:nvPr>
            <p:custDataLst>
              <p:tags r:id="rId7"/>
            </p:custDataLst>
          </p:nvPr>
        </p:nvSpPr>
        <p:spPr bwMode="auto">
          <a:xfrm>
            <a:off x="6615113" y="572928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a:solidFill>
                  <a:srgbClr val="000000"/>
                </a:solidFill>
                <a:latin typeface="Arial" panose="020B0604020202020204" pitchFamily="34" charset="0"/>
              </a:rPr>
              <a:t>&lt;&lt;</a:t>
            </a:r>
            <a:endParaRPr lang="en-US" altLang="en-US" sz="1800">
              <a:solidFill>
                <a:srgbClr val="000000"/>
              </a:solidFill>
              <a:latin typeface="Arial" panose="020B0604020202020204" pitchFamily="34" charset="0"/>
            </a:endParaRPr>
          </a:p>
        </p:txBody>
      </p:sp>
      <p:sp>
        <p:nvSpPr>
          <p:cNvPr id="12" name="Line 10">
            <a:extLst>
              <a:ext uri="{FF2B5EF4-FFF2-40B4-BE49-F238E27FC236}">
                <a16:creationId xmlns:a16="http://schemas.microsoft.com/office/drawing/2014/main" id="{A2483CB9-1089-4775-A921-5CD0CBA72118}"/>
              </a:ext>
            </a:extLst>
          </p:cNvPr>
          <p:cNvSpPr>
            <a:spLocks noChangeShapeType="1"/>
          </p:cNvSpPr>
          <p:nvPr>
            <p:custDataLst>
              <p:tags r:id="rId8"/>
            </p:custDataLst>
          </p:nvPr>
        </p:nvSpPr>
        <p:spPr bwMode="auto">
          <a:xfrm>
            <a:off x="6865938" y="6080125"/>
            <a:ext cx="0" cy="5175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a:extLst>
              <a:ext uri="{FF2B5EF4-FFF2-40B4-BE49-F238E27FC236}">
                <a16:creationId xmlns:a16="http://schemas.microsoft.com/office/drawing/2014/main" id="{38DAF782-9B2D-4275-BB1D-25D5126C522B}"/>
              </a:ext>
            </a:extLst>
          </p:cNvPr>
          <p:cNvSpPr>
            <a:spLocks noChangeShapeType="1"/>
          </p:cNvSpPr>
          <p:nvPr>
            <p:custDataLst>
              <p:tags r:id="rId9"/>
            </p:custDataLst>
          </p:nvPr>
        </p:nvSpPr>
        <p:spPr bwMode="auto">
          <a:xfrm flipV="1">
            <a:off x="1143000" y="5927725"/>
            <a:ext cx="5472113"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Rectangle 17">
            <a:extLst>
              <a:ext uri="{FF2B5EF4-FFF2-40B4-BE49-F238E27FC236}">
                <a16:creationId xmlns:a16="http://schemas.microsoft.com/office/drawing/2014/main" id="{FDA0860A-29B0-45EF-8C02-A4BF6197CAF8}"/>
              </a:ext>
            </a:extLst>
          </p:cNvPr>
          <p:cNvSpPr>
            <a:spLocks noChangeArrowheads="1"/>
          </p:cNvSpPr>
          <p:nvPr>
            <p:custDataLst>
              <p:tags r:id="rId10"/>
            </p:custDataLst>
          </p:nvPr>
        </p:nvSpPr>
        <p:spPr bwMode="auto">
          <a:xfrm>
            <a:off x="5638799" y="34734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19" name="Rectangle 18">
            <a:extLst>
              <a:ext uri="{FF2B5EF4-FFF2-40B4-BE49-F238E27FC236}">
                <a16:creationId xmlns:a16="http://schemas.microsoft.com/office/drawing/2014/main" id="{809F360C-5AE0-42BA-AEEC-90E40B682ED8}"/>
              </a:ext>
            </a:extLst>
          </p:cNvPr>
          <p:cNvSpPr>
            <a:spLocks noChangeArrowheads="1"/>
          </p:cNvSpPr>
          <p:nvPr>
            <p:custDataLst>
              <p:tags r:id="rId11"/>
            </p:custDataLst>
          </p:nvPr>
        </p:nvSpPr>
        <p:spPr bwMode="auto">
          <a:xfrm>
            <a:off x="5638799" y="37782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20" name="Rectangle 19">
            <a:extLst>
              <a:ext uri="{FF2B5EF4-FFF2-40B4-BE49-F238E27FC236}">
                <a16:creationId xmlns:a16="http://schemas.microsoft.com/office/drawing/2014/main" id="{C292BE68-3505-42DE-B209-FAEE1C8C0D79}"/>
              </a:ext>
            </a:extLst>
          </p:cNvPr>
          <p:cNvSpPr>
            <a:spLocks noChangeArrowheads="1"/>
          </p:cNvSpPr>
          <p:nvPr>
            <p:custDataLst>
              <p:tags r:id="rId12"/>
            </p:custDataLst>
          </p:nvPr>
        </p:nvSpPr>
        <p:spPr bwMode="auto">
          <a:xfrm>
            <a:off x="5638799" y="43878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1" name="Rectangle 20">
            <a:extLst>
              <a:ext uri="{FF2B5EF4-FFF2-40B4-BE49-F238E27FC236}">
                <a16:creationId xmlns:a16="http://schemas.microsoft.com/office/drawing/2014/main" id="{8377E898-036A-4695-81A7-8D8515E971C6}"/>
              </a:ext>
            </a:extLst>
          </p:cNvPr>
          <p:cNvSpPr>
            <a:spLocks noChangeArrowheads="1"/>
          </p:cNvSpPr>
          <p:nvPr>
            <p:custDataLst>
              <p:tags r:id="rId13"/>
            </p:custDataLst>
          </p:nvPr>
        </p:nvSpPr>
        <p:spPr bwMode="auto">
          <a:xfrm>
            <a:off x="5638799" y="40830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2" name="Rectangle 21">
            <a:extLst>
              <a:ext uri="{FF2B5EF4-FFF2-40B4-BE49-F238E27FC236}">
                <a16:creationId xmlns:a16="http://schemas.microsoft.com/office/drawing/2014/main" id="{FC828AD5-28E8-49A2-8498-9A483299A828}"/>
              </a:ext>
            </a:extLst>
          </p:cNvPr>
          <p:cNvSpPr>
            <a:spLocks noChangeArrowheads="1"/>
          </p:cNvSpPr>
          <p:nvPr>
            <p:custDataLst>
              <p:tags r:id="rId14"/>
            </p:custDataLst>
          </p:nvPr>
        </p:nvSpPr>
        <p:spPr bwMode="auto">
          <a:xfrm>
            <a:off x="3352800" y="34734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3" name="Rectangle 22">
            <a:extLst>
              <a:ext uri="{FF2B5EF4-FFF2-40B4-BE49-F238E27FC236}">
                <a16:creationId xmlns:a16="http://schemas.microsoft.com/office/drawing/2014/main" id="{BEEA400F-EED3-468F-BBE1-5FB439BEDAC9}"/>
              </a:ext>
            </a:extLst>
          </p:cNvPr>
          <p:cNvSpPr>
            <a:spLocks noChangeArrowheads="1"/>
          </p:cNvSpPr>
          <p:nvPr>
            <p:custDataLst>
              <p:tags r:id="rId15"/>
            </p:custDataLst>
          </p:nvPr>
        </p:nvSpPr>
        <p:spPr bwMode="auto">
          <a:xfrm>
            <a:off x="3352800" y="37782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24" name="Rectangle 23">
            <a:extLst>
              <a:ext uri="{FF2B5EF4-FFF2-40B4-BE49-F238E27FC236}">
                <a16:creationId xmlns:a16="http://schemas.microsoft.com/office/drawing/2014/main" id="{1758F168-7E48-4413-AA3F-DCA1E967F5F1}"/>
              </a:ext>
            </a:extLst>
          </p:cNvPr>
          <p:cNvSpPr>
            <a:spLocks noChangeArrowheads="1"/>
          </p:cNvSpPr>
          <p:nvPr>
            <p:custDataLst>
              <p:tags r:id="rId16"/>
            </p:custDataLst>
          </p:nvPr>
        </p:nvSpPr>
        <p:spPr bwMode="auto">
          <a:xfrm>
            <a:off x="3352800" y="43878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5" name="Rectangle 24">
            <a:extLst>
              <a:ext uri="{FF2B5EF4-FFF2-40B4-BE49-F238E27FC236}">
                <a16:creationId xmlns:a16="http://schemas.microsoft.com/office/drawing/2014/main" id="{016C9141-6F13-409B-8A96-762011F2E9FE}"/>
              </a:ext>
            </a:extLst>
          </p:cNvPr>
          <p:cNvSpPr>
            <a:spLocks noChangeArrowheads="1"/>
          </p:cNvSpPr>
          <p:nvPr>
            <p:custDataLst>
              <p:tags r:id="rId17"/>
            </p:custDataLst>
          </p:nvPr>
        </p:nvSpPr>
        <p:spPr bwMode="auto">
          <a:xfrm>
            <a:off x="3352800" y="40830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6" name="Line 24">
            <a:extLst>
              <a:ext uri="{FF2B5EF4-FFF2-40B4-BE49-F238E27FC236}">
                <a16:creationId xmlns:a16="http://schemas.microsoft.com/office/drawing/2014/main" id="{BA6D80A7-8F8C-494D-974D-4E2AC5AED495}"/>
              </a:ext>
            </a:extLst>
          </p:cNvPr>
          <p:cNvSpPr>
            <a:spLocks noChangeShapeType="1"/>
          </p:cNvSpPr>
          <p:nvPr>
            <p:custDataLst>
              <p:tags r:id="rId18"/>
            </p:custDataLst>
          </p:nvPr>
        </p:nvSpPr>
        <p:spPr bwMode="auto">
          <a:xfrm>
            <a:off x="6865938" y="53022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38134F07-7AF2-4194-93CA-3BF9FA89989E}"/>
              </a:ext>
            </a:extLst>
          </p:cNvPr>
          <p:cNvSpPr>
            <a:spLocks noChangeShapeType="1"/>
          </p:cNvSpPr>
          <p:nvPr>
            <p:custDataLst>
              <p:tags r:id="rId19"/>
            </p:custDataLst>
          </p:nvPr>
        </p:nvSpPr>
        <p:spPr bwMode="auto">
          <a:xfrm flipV="1">
            <a:off x="4251960" y="5302250"/>
            <a:ext cx="146304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 name="AutoShape 38">
            <a:extLst>
              <a:ext uri="{FF2B5EF4-FFF2-40B4-BE49-F238E27FC236}">
                <a16:creationId xmlns:a16="http://schemas.microsoft.com/office/drawing/2014/main" id="{D5F199AC-8DBF-4D45-ABEA-A91AB71129A2}"/>
              </a:ext>
            </a:extLst>
          </p:cNvPr>
          <p:cNvSpPr>
            <a:spLocks noChangeArrowheads="1"/>
          </p:cNvSpPr>
          <p:nvPr>
            <p:custDataLst>
              <p:tags r:id="rId20"/>
            </p:custDataLst>
          </p:nvPr>
        </p:nvSpPr>
        <p:spPr bwMode="auto">
          <a:xfrm>
            <a:off x="3718560" y="5149850"/>
            <a:ext cx="548640" cy="304800"/>
          </a:xfrm>
          <a:prstGeom prst="flowChartTerminator">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2000">
                <a:solidFill>
                  <a:srgbClr val="000000"/>
                </a:solidFill>
                <a:latin typeface="Arial" panose="020B0604020202020204" pitchFamily="34" charset="0"/>
              </a:rPr>
              <a:t>=</a:t>
            </a:r>
          </a:p>
        </p:txBody>
      </p:sp>
      <p:sp>
        <p:nvSpPr>
          <p:cNvPr id="41" name="Line 39">
            <a:extLst>
              <a:ext uri="{FF2B5EF4-FFF2-40B4-BE49-F238E27FC236}">
                <a16:creationId xmlns:a16="http://schemas.microsoft.com/office/drawing/2014/main" id="{2B83041B-77CA-45A4-A7E4-FCED2F1FC711}"/>
              </a:ext>
            </a:extLst>
          </p:cNvPr>
          <p:cNvSpPr>
            <a:spLocks noChangeShapeType="1"/>
          </p:cNvSpPr>
          <p:nvPr>
            <p:custDataLst>
              <p:tags r:id="rId21"/>
            </p:custDataLst>
          </p:nvPr>
        </p:nvSpPr>
        <p:spPr bwMode="auto">
          <a:xfrm>
            <a:off x="4038600" y="46926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6F48C698-B243-4D2F-A49F-0BB6ACFC8BA1}"/>
              </a:ext>
            </a:extLst>
          </p:cNvPr>
          <p:cNvSpPr>
            <a:spLocks noChangeShapeType="1"/>
          </p:cNvSpPr>
          <p:nvPr>
            <p:custDataLst>
              <p:tags r:id="rId22"/>
            </p:custDataLst>
          </p:nvPr>
        </p:nvSpPr>
        <p:spPr bwMode="auto">
          <a:xfrm>
            <a:off x="3046413"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3">
            <a:extLst>
              <a:ext uri="{FF2B5EF4-FFF2-40B4-BE49-F238E27FC236}">
                <a16:creationId xmlns:a16="http://schemas.microsoft.com/office/drawing/2014/main" id="{4BE17ECF-F04D-41D6-8AAB-A68C6EEB2E2A}"/>
              </a:ext>
            </a:extLst>
          </p:cNvPr>
          <p:cNvSpPr>
            <a:spLocks noChangeShapeType="1"/>
          </p:cNvSpPr>
          <p:nvPr>
            <p:custDataLst>
              <p:tags r:id="rId23"/>
            </p:custDataLst>
          </p:nvPr>
        </p:nvSpPr>
        <p:spPr bwMode="auto">
          <a:xfrm>
            <a:off x="3046413"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1EA30915-C6BF-4E82-9924-D93D14B16409}"/>
              </a:ext>
            </a:extLst>
          </p:cNvPr>
          <p:cNvSpPr>
            <a:spLocks noChangeShapeType="1"/>
          </p:cNvSpPr>
          <p:nvPr>
            <p:custDataLst>
              <p:tags r:id="rId24"/>
            </p:custDataLst>
          </p:nvPr>
        </p:nvSpPr>
        <p:spPr bwMode="auto">
          <a:xfrm>
            <a:off x="3046413"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Freeform 45">
            <a:extLst>
              <a:ext uri="{FF2B5EF4-FFF2-40B4-BE49-F238E27FC236}">
                <a16:creationId xmlns:a16="http://schemas.microsoft.com/office/drawing/2014/main" id="{98AAAA89-3F96-4D57-8082-2C76925A7E88}"/>
              </a:ext>
            </a:extLst>
          </p:cNvPr>
          <p:cNvSpPr>
            <a:spLocks/>
          </p:cNvSpPr>
          <p:nvPr>
            <p:custDataLst>
              <p:tags r:id="rId25"/>
            </p:custDataLst>
          </p:nvPr>
        </p:nvSpPr>
        <p:spPr bwMode="auto">
          <a:xfrm flipH="1">
            <a:off x="3048000"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48" name="Line 46">
            <a:extLst>
              <a:ext uri="{FF2B5EF4-FFF2-40B4-BE49-F238E27FC236}">
                <a16:creationId xmlns:a16="http://schemas.microsoft.com/office/drawing/2014/main" id="{8CBBFFAA-9E7A-45DB-B878-5E370136A6D6}"/>
              </a:ext>
            </a:extLst>
          </p:cNvPr>
          <p:cNvSpPr>
            <a:spLocks noChangeShapeType="1"/>
          </p:cNvSpPr>
          <p:nvPr>
            <p:custDataLst>
              <p:tags r:id="rId26"/>
            </p:custDataLst>
          </p:nvPr>
        </p:nvSpPr>
        <p:spPr bwMode="auto">
          <a:xfrm>
            <a:off x="3194050"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47">
            <a:extLst>
              <a:ext uri="{FF2B5EF4-FFF2-40B4-BE49-F238E27FC236}">
                <a16:creationId xmlns:a16="http://schemas.microsoft.com/office/drawing/2014/main" id="{9C19AF6E-0C5B-46EE-8595-59541AA85A7A}"/>
              </a:ext>
            </a:extLst>
          </p:cNvPr>
          <p:cNvSpPr>
            <a:spLocks noChangeShapeType="1"/>
          </p:cNvSpPr>
          <p:nvPr>
            <p:custDataLst>
              <p:tags r:id="rId27"/>
            </p:custDataLst>
          </p:nvPr>
        </p:nvSpPr>
        <p:spPr bwMode="auto">
          <a:xfrm>
            <a:off x="3200400"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48">
            <a:extLst>
              <a:ext uri="{FF2B5EF4-FFF2-40B4-BE49-F238E27FC236}">
                <a16:creationId xmlns:a16="http://schemas.microsoft.com/office/drawing/2014/main" id="{31C63BF1-D1BA-4D0B-9DB5-E01F0C69DE82}"/>
              </a:ext>
            </a:extLst>
          </p:cNvPr>
          <p:cNvSpPr>
            <a:spLocks noChangeShapeType="1"/>
          </p:cNvSpPr>
          <p:nvPr>
            <p:custDataLst>
              <p:tags r:id="rId28"/>
            </p:custDataLst>
          </p:nvPr>
        </p:nvSpPr>
        <p:spPr bwMode="auto">
          <a:xfrm>
            <a:off x="3200400"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49">
            <a:extLst>
              <a:ext uri="{FF2B5EF4-FFF2-40B4-BE49-F238E27FC236}">
                <a16:creationId xmlns:a16="http://schemas.microsoft.com/office/drawing/2014/main" id="{CC7BF552-16E0-437D-9955-32C61B27C92F}"/>
              </a:ext>
            </a:extLst>
          </p:cNvPr>
          <p:cNvSpPr>
            <a:spLocks noChangeShapeType="1"/>
          </p:cNvSpPr>
          <p:nvPr>
            <p:custDataLst>
              <p:tags r:id="rId29"/>
            </p:custDataLst>
          </p:nvPr>
        </p:nvSpPr>
        <p:spPr bwMode="auto">
          <a:xfrm>
            <a:off x="3200400"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59">
            <a:extLst>
              <a:ext uri="{FF2B5EF4-FFF2-40B4-BE49-F238E27FC236}">
                <a16:creationId xmlns:a16="http://schemas.microsoft.com/office/drawing/2014/main" id="{C22EB220-A81D-4CBD-92CF-F358B0AF7792}"/>
              </a:ext>
            </a:extLst>
          </p:cNvPr>
          <p:cNvSpPr>
            <a:spLocks noChangeShapeType="1"/>
          </p:cNvSpPr>
          <p:nvPr>
            <p:custDataLst>
              <p:tags r:id="rId30"/>
            </p:custDataLst>
          </p:nvPr>
        </p:nvSpPr>
        <p:spPr bwMode="auto">
          <a:xfrm>
            <a:off x="5337175"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0">
            <a:extLst>
              <a:ext uri="{FF2B5EF4-FFF2-40B4-BE49-F238E27FC236}">
                <a16:creationId xmlns:a16="http://schemas.microsoft.com/office/drawing/2014/main" id="{9C28FBF7-C176-4E82-8CD4-07D22D205509}"/>
              </a:ext>
            </a:extLst>
          </p:cNvPr>
          <p:cNvSpPr>
            <a:spLocks noChangeShapeType="1"/>
          </p:cNvSpPr>
          <p:nvPr>
            <p:custDataLst>
              <p:tags r:id="rId31"/>
            </p:custDataLst>
          </p:nvPr>
        </p:nvSpPr>
        <p:spPr bwMode="auto">
          <a:xfrm>
            <a:off x="5337175"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1">
            <a:extLst>
              <a:ext uri="{FF2B5EF4-FFF2-40B4-BE49-F238E27FC236}">
                <a16:creationId xmlns:a16="http://schemas.microsoft.com/office/drawing/2014/main" id="{AD2440E9-98FA-4622-B161-2F4D480745D1}"/>
              </a:ext>
            </a:extLst>
          </p:cNvPr>
          <p:cNvSpPr>
            <a:spLocks noChangeShapeType="1"/>
          </p:cNvSpPr>
          <p:nvPr>
            <p:custDataLst>
              <p:tags r:id="rId32"/>
            </p:custDataLst>
          </p:nvPr>
        </p:nvSpPr>
        <p:spPr bwMode="auto">
          <a:xfrm>
            <a:off x="5337175"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Freeform 62">
            <a:extLst>
              <a:ext uri="{FF2B5EF4-FFF2-40B4-BE49-F238E27FC236}">
                <a16:creationId xmlns:a16="http://schemas.microsoft.com/office/drawing/2014/main" id="{BB1836E8-2F3F-4EC3-82A3-1EFB9CA5F975}"/>
              </a:ext>
            </a:extLst>
          </p:cNvPr>
          <p:cNvSpPr>
            <a:spLocks/>
          </p:cNvSpPr>
          <p:nvPr>
            <p:custDataLst>
              <p:tags r:id="rId33"/>
            </p:custDataLst>
          </p:nvPr>
        </p:nvSpPr>
        <p:spPr bwMode="auto">
          <a:xfrm flipH="1">
            <a:off x="5338763"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65" name="Line 63">
            <a:extLst>
              <a:ext uri="{FF2B5EF4-FFF2-40B4-BE49-F238E27FC236}">
                <a16:creationId xmlns:a16="http://schemas.microsoft.com/office/drawing/2014/main" id="{F876BB7A-187B-4E36-8694-A66BFBE07348}"/>
              </a:ext>
            </a:extLst>
          </p:cNvPr>
          <p:cNvSpPr>
            <a:spLocks noChangeShapeType="1"/>
          </p:cNvSpPr>
          <p:nvPr>
            <p:custDataLst>
              <p:tags r:id="rId34"/>
            </p:custDataLst>
          </p:nvPr>
        </p:nvSpPr>
        <p:spPr bwMode="auto">
          <a:xfrm>
            <a:off x="5484813"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4">
            <a:extLst>
              <a:ext uri="{FF2B5EF4-FFF2-40B4-BE49-F238E27FC236}">
                <a16:creationId xmlns:a16="http://schemas.microsoft.com/office/drawing/2014/main" id="{7BF9AF9B-FF4B-4FE8-B324-3AD22CACC8DC}"/>
              </a:ext>
            </a:extLst>
          </p:cNvPr>
          <p:cNvSpPr>
            <a:spLocks noChangeShapeType="1"/>
          </p:cNvSpPr>
          <p:nvPr>
            <p:custDataLst>
              <p:tags r:id="rId35"/>
            </p:custDataLst>
          </p:nvPr>
        </p:nvSpPr>
        <p:spPr bwMode="auto">
          <a:xfrm>
            <a:off x="5491163"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65">
            <a:extLst>
              <a:ext uri="{FF2B5EF4-FFF2-40B4-BE49-F238E27FC236}">
                <a16:creationId xmlns:a16="http://schemas.microsoft.com/office/drawing/2014/main" id="{F76CC7F0-A00D-4B1C-95C9-1B95BF7EED3A}"/>
              </a:ext>
            </a:extLst>
          </p:cNvPr>
          <p:cNvSpPr>
            <a:spLocks noChangeShapeType="1"/>
          </p:cNvSpPr>
          <p:nvPr>
            <p:custDataLst>
              <p:tags r:id="rId36"/>
            </p:custDataLst>
          </p:nvPr>
        </p:nvSpPr>
        <p:spPr bwMode="auto">
          <a:xfrm>
            <a:off x="5491163"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8" name="Line 66">
            <a:extLst>
              <a:ext uri="{FF2B5EF4-FFF2-40B4-BE49-F238E27FC236}">
                <a16:creationId xmlns:a16="http://schemas.microsoft.com/office/drawing/2014/main" id="{B226C52D-61E7-47B9-876B-ABA31DF72333}"/>
              </a:ext>
            </a:extLst>
          </p:cNvPr>
          <p:cNvSpPr>
            <a:spLocks noChangeShapeType="1"/>
          </p:cNvSpPr>
          <p:nvPr>
            <p:custDataLst>
              <p:tags r:id="rId37"/>
            </p:custDataLst>
          </p:nvPr>
        </p:nvSpPr>
        <p:spPr bwMode="auto">
          <a:xfrm>
            <a:off x="5491163"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9" name="Rectangle 68">
            <a:extLst>
              <a:ext uri="{FF2B5EF4-FFF2-40B4-BE49-F238E27FC236}">
                <a16:creationId xmlns:a16="http://schemas.microsoft.com/office/drawing/2014/main" id="{6EC20907-9242-4438-88FC-64A27AF45B4B}"/>
              </a:ext>
            </a:extLst>
          </p:cNvPr>
          <p:cNvSpPr>
            <a:spLocks noChangeArrowheads="1"/>
          </p:cNvSpPr>
          <p:nvPr>
            <p:custDataLst>
              <p:tags r:id="rId38"/>
            </p:custDataLst>
          </p:nvPr>
        </p:nvSpPr>
        <p:spPr bwMode="auto">
          <a:xfrm>
            <a:off x="3338513" y="2635250"/>
            <a:ext cx="922337" cy="304800"/>
          </a:xfrm>
          <a:prstGeom prst="rect">
            <a:avLst/>
          </a:prstGeom>
          <a:solidFill>
            <a:schemeClr val="accent5">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6-bit offset</a:t>
            </a:r>
          </a:p>
        </p:txBody>
      </p:sp>
      <p:sp>
        <p:nvSpPr>
          <p:cNvPr id="70" name="Rectangle 69">
            <a:extLst>
              <a:ext uri="{FF2B5EF4-FFF2-40B4-BE49-F238E27FC236}">
                <a16:creationId xmlns:a16="http://schemas.microsoft.com/office/drawing/2014/main" id="{F24D4EAA-715B-4391-902F-1F827F36C938}"/>
              </a:ext>
            </a:extLst>
          </p:cNvPr>
          <p:cNvSpPr>
            <a:spLocks noChangeArrowheads="1"/>
          </p:cNvSpPr>
          <p:nvPr>
            <p:custDataLst>
              <p:tags r:id="rId39"/>
            </p:custDataLst>
          </p:nvPr>
        </p:nvSpPr>
        <p:spPr bwMode="auto">
          <a:xfrm>
            <a:off x="1371600" y="2635250"/>
            <a:ext cx="106045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24-bit tag</a:t>
            </a:r>
            <a:endParaRPr lang="en-US" altLang="en-US" sz="1000" dirty="0">
              <a:solidFill>
                <a:schemeClr val="accent1"/>
              </a:solidFill>
              <a:latin typeface="Arial" panose="020B0604020202020204" pitchFamily="34" charset="0"/>
            </a:endParaRPr>
          </a:p>
        </p:txBody>
      </p:sp>
      <p:sp>
        <p:nvSpPr>
          <p:cNvPr id="71" name="Rectangle 70">
            <a:extLst>
              <a:ext uri="{FF2B5EF4-FFF2-40B4-BE49-F238E27FC236}">
                <a16:creationId xmlns:a16="http://schemas.microsoft.com/office/drawing/2014/main" id="{4B227EA0-FD52-4F3B-84E6-44AD3A047AFF}"/>
              </a:ext>
            </a:extLst>
          </p:cNvPr>
          <p:cNvSpPr>
            <a:spLocks noChangeArrowheads="1"/>
          </p:cNvSpPr>
          <p:nvPr>
            <p:custDataLst>
              <p:tags r:id="rId40"/>
            </p:custDataLst>
          </p:nvPr>
        </p:nvSpPr>
        <p:spPr bwMode="auto">
          <a:xfrm>
            <a:off x="2432050" y="2635250"/>
            <a:ext cx="914400" cy="304800"/>
          </a:xfrm>
          <a:prstGeom prst="rect">
            <a:avLst/>
          </a:prstGeom>
          <a:solidFill>
            <a:schemeClr val="accent3">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a:solidFill>
                  <a:srgbClr val="000000"/>
                </a:solidFill>
                <a:latin typeface="Arial" panose="020B0604020202020204" pitchFamily="34" charset="0"/>
              </a:rPr>
              <a:t>2-bit index</a:t>
            </a:r>
          </a:p>
        </p:txBody>
      </p:sp>
      <p:sp>
        <p:nvSpPr>
          <p:cNvPr id="72" name="AutoShape 70">
            <a:extLst>
              <a:ext uri="{FF2B5EF4-FFF2-40B4-BE49-F238E27FC236}">
                <a16:creationId xmlns:a16="http://schemas.microsoft.com/office/drawing/2014/main" id="{55116F2C-8BBD-4EEF-B899-DBEFD43F5583}"/>
              </a:ext>
            </a:extLst>
          </p:cNvPr>
          <p:cNvSpPr>
            <a:spLocks noChangeArrowheads="1"/>
          </p:cNvSpPr>
          <p:nvPr>
            <p:custDataLst>
              <p:tags r:id="rId41"/>
            </p:custDataLst>
          </p:nvPr>
        </p:nvSpPr>
        <p:spPr bwMode="auto">
          <a:xfrm rot="5400000" flipH="1" flipV="1">
            <a:off x="1181100" y="2597150"/>
            <a:ext cx="304800" cy="381000"/>
          </a:xfrm>
          <a:prstGeom prst="flowChartDocument">
            <a:avLst/>
          </a:prstGeom>
          <a:solidFill>
            <a:schemeClr val="bg1"/>
          </a:solidFill>
          <a:ln w="28575">
            <a:solidFill>
              <a:schemeClr val="bg1"/>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3" name="Freeform 71">
            <a:extLst>
              <a:ext uri="{FF2B5EF4-FFF2-40B4-BE49-F238E27FC236}">
                <a16:creationId xmlns:a16="http://schemas.microsoft.com/office/drawing/2014/main" id="{E1CF307A-0E66-442A-BE93-E42EF343854E}"/>
              </a:ext>
            </a:extLst>
          </p:cNvPr>
          <p:cNvSpPr>
            <a:spLocks/>
          </p:cNvSpPr>
          <p:nvPr>
            <p:custDataLst>
              <p:tags r:id="rId42"/>
            </p:custDataLst>
          </p:nvPr>
        </p:nvSpPr>
        <p:spPr bwMode="auto">
          <a:xfrm flipV="1">
            <a:off x="2749550" y="2940050"/>
            <a:ext cx="296863" cy="11969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Freeform 72">
            <a:extLst>
              <a:ext uri="{FF2B5EF4-FFF2-40B4-BE49-F238E27FC236}">
                <a16:creationId xmlns:a16="http://schemas.microsoft.com/office/drawing/2014/main" id="{8BFF498B-C679-4CF3-ADE4-7DA1A8A683D6}"/>
              </a:ext>
            </a:extLst>
          </p:cNvPr>
          <p:cNvSpPr>
            <a:spLocks/>
          </p:cNvSpPr>
          <p:nvPr>
            <p:custDataLst>
              <p:tags r:id="rId43"/>
            </p:custDataLst>
          </p:nvPr>
        </p:nvSpPr>
        <p:spPr bwMode="auto">
          <a:xfrm flipV="1">
            <a:off x="5113338" y="3168650"/>
            <a:ext cx="225425" cy="9683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Line 73">
            <a:extLst>
              <a:ext uri="{FF2B5EF4-FFF2-40B4-BE49-F238E27FC236}">
                <a16:creationId xmlns:a16="http://schemas.microsoft.com/office/drawing/2014/main" id="{5B76B998-0D4B-472C-B995-D3B924FCA0A0}"/>
              </a:ext>
            </a:extLst>
          </p:cNvPr>
          <p:cNvSpPr>
            <a:spLocks noChangeShapeType="1"/>
          </p:cNvSpPr>
          <p:nvPr>
            <p:custDataLst>
              <p:tags r:id="rId44"/>
            </p:custDataLst>
          </p:nvPr>
        </p:nvSpPr>
        <p:spPr bwMode="auto">
          <a:xfrm flipH="1">
            <a:off x="2749550" y="3168650"/>
            <a:ext cx="23637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74">
            <a:extLst>
              <a:ext uri="{FF2B5EF4-FFF2-40B4-BE49-F238E27FC236}">
                <a16:creationId xmlns:a16="http://schemas.microsoft.com/office/drawing/2014/main" id="{45C66407-D791-495C-B938-801998A0C907}"/>
              </a:ext>
            </a:extLst>
          </p:cNvPr>
          <p:cNvSpPr>
            <a:spLocks noChangeShapeType="1"/>
          </p:cNvSpPr>
          <p:nvPr>
            <p:custDataLst>
              <p:tags r:id="rId45"/>
            </p:custDataLst>
          </p:nvPr>
        </p:nvSpPr>
        <p:spPr bwMode="auto">
          <a:xfrm>
            <a:off x="6858000" y="4692650"/>
            <a:ext cx="0" cy="533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 name="Freeform 78">
            <a:extLst>
              <a:ext uri="{FF2B5EF4-FFF2-40B4-BE49-F238E27FC236}">
                <a16:creationId xmlns:a16="http://schemas.microsoft.com/office/drawing/2014/main" id="{1F7BEAEC-98CB-4298-BC2B-7EF635036FEC}"/>
              </a:ext>
            </a:extLst>
          </p:cNvPr>
          <p:cNvSpPr>
            <a:spLocks/>
          </p:cNvSpPr>
          <p:nvPr>
            <p:custDataLst>
              <p:tags r:id="rId46"/>
            </p:custDataLst>
          </p:nvPr>
        </p:nvSpPr>
        <p:spPr bwMode="auto">
          <a:xfrm rot="16200000" flipH="1">
            <a:off x="6784182" y="4090193"/>
            <a:ext cx="152400" cy="2424113"/>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bg1">
              <a:lumMod val="95000"/>
            </a:schemeClr>
          </a:solidFill>
          <a:ln w="28575">
            <a:solidFill>
              <a:srgbClr val="000000"/>
            </a:solidFill>
            <a:round/>
            <a:headEnd/>
            <a:tailEnd/>
          </a:ln>
        </p:spPr>
        <p:txBody>
          <a:bodyPr wrap="none" anchor="ctr"/>
          <a:lstStyle/>
          <a:p>
            <a:endParaRPr lang="en-US"/>
          </a:p>
        </p:txBody>
      </p:sp>
      <p:sp>
        <p:nvSpPr>
          <p:cNvPr id="81" name="Freeform 79">
            <a:extLst>
              <a:ext uri="{FF2B5EF4-FFF2-40B4-BE49-F238E27FC236}">
                <a16:creationId xmlns:a16="http://schemas.microsoft.com/office/drawing/2014/main" id="{4423B444-1D98-4BD7-B4FD-730D2AC92A09}"/>
              </a:ext>
            </a:extLst>
          </p:cNvPr>
          <p:cNvSpPr>
            <a:spLocks/>
          </p:cNvSpPr>
          <p:nvPr>
            <p:custDataLst>
              <p:tags r:id="rId47"/>
            </p:custDataLst>
          </p:nvPr>
        </p:nvSpPr>
        <p:spPr bwMode="auto">
          <a:xfrm flipV="1">
            <a:off x="2133600" y="2940050"/>
            <a:ext cx="296863" cy="1905000"/>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Freeform 80">
            <a:extLst>
              <a:ext uri="{FF2B5EF4-FFF2-40B4-BE49-F238E27FC236}">
                <a16:creationId xmlns:a16="http://schemas.microsoft.com/office/drawing/2014/main" id="{BF1F2583-3C62-436A-9D4D-1D13F42BC7C5}"/>
              </a:ext>
            </a:extLst>
          </p:cNvPr>
          <p:cNvSpPr>
            <a:spLocks/>
          </p:cNvSpPr>
          <p:nvPr>
            <p:custDataLst>
              <p:tags r:id="rId48"/>
            </p:custDataLst>
          </p:nvPr>
        </p:nvSpPr>
        <p:spPr bwMode="auto">
          <a:xfrm>
            <a:off x="2133600" y="4845050"/>
            <a:ext cx="1771646" cy="304800"/>
          </a:xfrm>
          <a:custGeom>
            <a:avLst/>
            <a:gdLst>
              <a:gd name="T0" fmla="*/ 0 w 864"/>
              <a:gd name="T1" fmla="*/ 0 h 192"/>
              <a:gd name="T2" fmla="*/ 2147483646 w 864"/>
              <a:gd name="T3" fmla="*/ 0 h 192"/>
              <a:gd name="T4" fmla="*/ 2147483646 w 864"/>
              <a:gd name="T5" fmla="*/ 2147483646 h 192"/>
              <a:gd name="T6" fmla="*/ 0 60000 65536"/>
              <a:gd name="T7" fmla="*/ 0 60000 65536"/>
              <a:gd name="T8" fmla="*/ 0 60000 65536"/>
              <a:gd name="T9" fmla="*/ 0 w 864"/>
              <a:gd name="T10" fmla="*/ 0 h 192"/>
              <a:gd name="T11" fmla="*/ 864 w 864"/>
              <a:gd name="T12" fmla="*/ 192 h 192"/>
            </a:gdLst>
            <a:ahLst/>
            <a:cxnLst>
              <a:cxn ang="T6">
                <a:pos x="T0" y="T1"/>
              </a:cxn>
              <a:cxn ang="T7">
                <a:pos x="T2" y="T3"/>
              </a:cxn>
              <a:cxn ang="T8">
                <a:pos x="T4" y="T5"/>
              </a:cxn>
            </a:cxnLst>
            <a:rect l="T9" t="T10" r="T11" b="T12"/>
            <a:pathLst>
              <a:path w="864" h="192">
                <a:moveTo>
                  <a:pt x="0" y="0"/>
                </a:moveTo>
                <a:lnTo>
                  <a:pt x="864" y="0"/>
                </a:lnTo>
                <a:lnTo>
                  <a:pt x="864" y="192"/>
                </a:lnTo>
              </a:path>
            </a:pathLst>
          </a:custGeom>
          <a:noFill/>
          <a:ln w="28575">
            <a:solidFill>
              <a:srgbClr val="000000"/>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Text Box 85">
            <a:extLst>
              <a:ext uri="{FF2B5EF4-FFF2-40B4-BE49-F238E27FC236}">
                <a16:creationId xmlns:a16="http://schemas.microsoft.com/office/drawing/2014/main" id="{CADA3D2E-04B7-4684-A53B-9C409B495F16}"/>
              </a:ext>
            </a:extLst>
          </p:cNvPr>
          <p:cNvSpPr txBox="1">
            <a:spLocks noChangeArrowheads="1"/>
          </p:cNvSpPr>
          <p:nvPr>
            <p:custDataLst>
              <p:tags r:id="rId49"/>
            </p:custDataLst>
          </p:nvPr>
        </p:nvSpPr>
        <p:spPr bwMode="auto">
          <a:xfrm>
            <a:off x="4267200" y="4967288"/>
            <a:ext cx="5565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hit?</a:t>
            </a:r>
          </a:p>
        </p:txBody>
      </p:sp>
      <p:sp>
        <p:nvSpPr>
          <p:cNvPr id="88" name="Line 86">
            <a:extLst>
              <a:ext uri="{FF2B5EF4-FFF2-40B4-BE49-F238E27FC236}">
                <a16:creationId xmlns:a16="http://schemas.microsoft.com/office/drawing/2014/main" id="{C911E212-E9E4-4909-99CE-8B613E8B50BC}"/>
              </a:ext>
            </a:extLst>
          </p:cNvPr>
          <p:cNvSpPr>
            <a:spLocks noChangeShapeType="1"/>
          </p:cNvSpPr>
          <p:nvPr>
            <p:custDataLst>
              <p:tags r:id="rId50"/>
            </p:custDataLst>
          </p:nvPr>
        </p:nvSpPr>
        <p:spPr bwMode="auto">
          <a:xfrm flipV="1">
            <a:off x="3886200" y="2514600"/>
            <a:ext cx="0" cy="1206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 name="Line 87">
            <a:extLst>
              <a:ext uri="{FF2B5EF4-FFF2-40B4-BE49-F238E27FC236}">
                <a16:creationId xmlns:a16="http://schemas.microsoft.com/office/drawing/2014/main" id="{2852B17D-CAA3-4BC0-8B01-AF8BFF82C91B}"/>
              </a:ext>
            </a:extLst>
          </p:cNvPr>
          <p:cNvSpPr>
            <a:spLocks noChangeShapeType="1"/>
          </p:cNvSpPr>
          <p:nvPr>
            <p:custDataLst>
              <p:tags r:id="rId51"/>
            </p:custDataLst>
          </p:nvPr>
        </p:nvSpPr>
        <p:spPr bwMode="auto">
          <a:xfrm>
            <a:off x="1143000" y="2514600"/>
            <a:ext cx="0" cy="34131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 name="Line 88">
            <a:extLst>
              <a:ext uri="{FF2B5EF4-FFF2-40B4-BE49-F238E27FC236}">
                <a16:creationId xmlns:a16="http://schemas.microsoft.com/office/drawing/2014/main" id="{711C98C0-37FC-4B3A-BDED-5402813FA191}"/>
              </a:ext>
            </a:extLst>
          </p:cNvPr>
          <p:cNvSpPr>
            <a:spLocks noChangeShapeType="1"/>
          </p:cNvSpPr>
          <p:nvPr>
            <p:custDataLst>
              <p:tags r:id="rId52"/>
            </p:custDataLst>
          </p:nvPr>
        </p:nvSpPr>
        <p:spPr bwMode="auto">
          <a:xfrm flipV="1">
            <a:off x="1143000" y="2514600"/>
            <a:ext cx="2743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1" name="Text Box 84">
            <a:extLst>
              <a:ext uri="{FF2B5EF4-FFF2-40B4-BE49-F238E27FC236}">
                <a16:creationId xmlns:a16="http://schemas.microsoft.com/office/drawing/2014/main" id="{1C7964E2-8864-4560-AB68-DAFDF047AA6C}"/>
              </a:ext>
            </a:extLst>
          </p:cNvPr>
          <p:cNvSpPr txBox="1">
            <a:spLocks noChangeArrowheads="1"/>
          </p:cNvSpPr>
          <p:nvPr>
            <p:custDataLst>
              <p:tags r:id="rId53"/>
            </p:custDataLst>
          </p:nvPr>
        </p:nvSpPr>
        <p:spPr bwMode="auto">
          <a:xfrm>
            <a:off x="6248400" y="3134281"/>
            <a:ext cx="12234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data array</a:t>
            </a:r>
          </a:p>
        </p:txBody>
      </p:sp>
      <p:sp>
        <p:nvSpPr>
          <p:cNvPr id="92" name="Text Box 84">
            <a:extLst>
              <a:ext uri="{FF2B5EF4-FFF2-40B4-BE49-F238E27FC236}">
                <a16:creationId xmlns:a16="http://schemas.microsoft.com/office/drawing/2014/main" id="{4371BB7E-FECE-4BCA-8358-7D72DFCA381C}"/>
              </a:ext>
            </a:extLst>
          </p:cNvPr>
          <p:cNvSpPr txBox="1">
            <a:spLocks noChangeArrowheads="1"/>
          </p:cNvSpPr>
          <p:nvPr>
            <p:custDataLst>
              <p:tags r:id="rId54"/>
            </p:custDataLst>
          </p:nvPr>
        </p:nvSpPr>
        <p:spPr bwMode="auto">
          <a:xfrm>
            <a:off x="3412902" y="3134281"/>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tag array</a:t>
            </a:r>
          </a:p>
        </p:txBody>
      </p:sp>
      <p:sp>
        <p:nvSpPr>
          <p:cNvPr id="97" name="Text Box 7">
            <a:extLst>
              <a:ext uri="{FF2B5EF4-FFF2-40B4-BE49-F238E27FC236}">
                <a16:creationId xmlns:a16="http://schemas.microsoft.com/office/drawing/2014/main" id="{204AA918-A38B-4475-8DF9-8262E5C1D6BC}"/>
              </a:ext>
            </a:extLst>
          </p:cNvPr>
          <p:cNvSpPr txBox="1">
            <a:spLocks noChangeArrowheads="1"/>
          </p:cNvSpPr>
          <p:nvPr>
            <p:custDataLst>
              <p:tags r:id="rId55"/>
            </p:custDataLst>
          </p:nvPr>
        </p:nvSpPr>
        <p:spPr bwMode="auto">
          <a:xfrm>
            <a:off x="6858000" y="4648200"/>
            <a:ext cx="1353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block</a:t>
            </a:r>
          </a:p>
        </p:txBody>
      </p:sp>
      <p:sp>
        <p:nvSpPr>
          <p:cNvPr id="98" name="TextBox 97">
            <a:extLst>
              <a:ext uri="{FF2B5EF4-FFF2-40B4-BE49-F238E27FC236}">
                <a16:creationId xmlns:a16="http://schemas.microsoft.com/office/drawing/2014/main" id="{1F78E9C8-883A-4671-BC1A-99E067C82346}"/>
              </a:ext>
            </a:extLst>
          </p:cNvPr>
          <p:cNvSpPr txBox="1"/>
          <p:nvPr>
            <p:custDataLst>
              <p:tags r:id="rId56"/>
            </p:custDataLst>
          </p:nvPr>
        </p:nvSpPr>
        <p:spPr>
          <a:xfrm>
            <a:off x="4083653" y="2601497"/>
            <a:ext cx="1936147"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e.g., 0x1000F348</a:t>
            </a:r>
          </a:p>
        </p:txBody>
      </p:sp>
      <p:sp>
        <p:nvSpPr>
          <p:cNvPr id="99" name="TextBox 98">
            <a:extLst>
              <a:ext uri="{FF2B5EF4-FFF2-40B4-BE49-F238E27FC236}">
                <a16:creationId xmlns:a16="http://schemas.microsoft.com/office/drawing/2014/main" id="{30F3A1D2-AB3E-4879-AF32-EB11A19FCCA3}"/>
              </a:ext>
            </a:extLst>
          </p:cNvPr>
          <p:cNvSpPr txBox="1"/>
          <p:nvPr>
            <p:custDataLst>
              <p:tags r:id="rId57"/>
            </p:custDataLst>
          </p:nvPr>
        </p:nvSpPr>
        <p:spPr>
          <a:xfrm>
            <a:off x="1111854" y="5590172"/>
            <a:ext cx="64074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0x08</a:t>
            </a:r>
          </a:p>
        </p:txBody>
      </p:sp>
      <p:sp>
        <p:nvSpPr>
          <p:cNvPr id="100" name="TextBox 99">
            <a:extLst>
              <a:ext uri="{FF2B5EF4-FFF2-40B4-BE49-F238E27FC236}">
                <a16:creationId xmlns:a16="http://schemas.microsoft.com/office/drawing/2014/main" id="{BCE87392-EA7E-4B36-8C24-E82461F0712E}"/>
              </a:ext>
            </a:extLst>
          </p:cNvPr>
          <p:cNvSpPr txBox="1"/>
          <p:nvPr>
            <p:custDataLst>
              <p:tags r:id="rId58"/>
            </p:custDataLst>
          </p:nvPr>
        </p:nvSpPr>
        <p:spPr>
          <a:xfrm>
            <a:off x="2308384" y="3757280"/>
            <a:ext cx="51101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0x1</a:t>
            </a:r>
          </a:p>
        </p:txBody>
      </p:sp>
      <p:sp>
        <p:nvSpPr>
          <p:cNvPr id="101" name="TextBox 100">
            <a:extLst>
              <a:ext uri="{FF2B5EF4-FFF2-40B4-BE49-F238E27FC236}">
                <a16:creationId xmlns:a16="http://schemas.microsoft.com/office/drawing/2014/main" id="{C167540B-1059-4DD3-9BEE-C667966F45FD}"/>
              </a:ext>
            </a:extLst>
          </p:cNvPr>
          <p:cNvSpPr txBox="1"/>
          <p:nvPr>
            <p:custDataLst>
              <p:tags r:id="rId59"/>
            </p:custDataLst>
          </p:nvPr>
        </p:nvSpPr>
        <p:spPr>
          <a:xfrm>
            <a:off x="5602540" y="3781723"/>
            <a:ext cx="2438399" cy="307777"/>
          </a:xfrm>
          <a:prstGeom prst="rect">
            <a:avLst/>
          </a:prstGeom>
          <a:noFill/>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(0x1000F340 – 0x1000F37F)</a:t>
            </a:r>
          </a:p>
        </p:txBody>
      </p:sp>
      <p:sp>
        <p:nvSpPr>
          <p:cNvPr id="102" name="TextBox 101">
            <a:extLst>
              <a:ext uri="{FF2B5EF4-FFF2-40B4-BE49-F238E27FC236}">
                <a16:creationId xmlns:a16="http://schemas.microsoft.com/office/drawing/2014/main" id="{17AAA943-1195-4B8C-96C0-DBC4C7A78D42}"/>
              </a:ext>
            </a:extLst>
          </p:cNvPr>
          <p:cNvSpPr txBox="1"/>
          <p:nvPr>
            <p:custDataLst>
              <p:tags r:id="rId60"/>
            </p:custDataLst>
          </p:nvPr>
        </p:nvSpPr>
        <p:spPr>
          <a:xfrm>
            <a:off x="3328671" y="3790354"/>
            <a:ext cx="1212850" cy="307777"/>
          </a:xfrm>
          <a:prstGeom prst="rect">
            <a:avLst/>
          </a:prstGeom>
          <a:noFill/>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0x1000F3</a:t>
            </a:r>
          </a:p>
        </p:txBody>
      </p:sp>
    </p:spTree>
    <p:custDataLst>
      <p:tags r:id="rId1"/>
    </p:custDataLst>
    <p:extLst>
      <p:ext uri="{BB962C8B-B14F-4D97-AF65-F5344CB8AC3E}">
        <p14:creationId xmlns:p14="http://schemas.microsoft.com/office/powerpoint/2010/main" val="203150032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9" grpId="0"/>
      <p:bldP spid="100" grpId="0"/>
      <p:bldP spid="101" grpId="0"/>
      <p:bldP spid="10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Replacement</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35</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4"/>
            </p:custDataLst>
          </p:nvPr>
        </p:nvSpPr>
        <p:spPr>
          <a:xfrm>
            <a:off x="457200" y="1600200"/>
            <a:ext cx="8534400" cy="4525963"/>
          </a:xfrm>
        </p:spPr>
        <p:txBody>
          <a:bodyPr/>
          <a:lstStyle/>
          <a:p>
            <a:pPr eaLnBrk="1" hangingPunct="1">
              <a:lnSpc>
                <a:spcPct val="80000"/>
              </a:lnSpc>
            </a:pPr>
            <a:r>
              <a:rPr lang="en-US" altLang="en-US" dirty="0"/>
              <a:t>Since cache capacity is finite, may need to </a:t>
            </a:r>
            <a:r>
              <a:rPr lang="en-US" altLang="en-US" i="1" dirty="0"/>
              <a:t>evict</a:t>
            </a:r>
            <a:r>
              <a:rPr lang="en-US" altLang="en-US" dirty="0"/>
              <a:t> a block in the cache to make space for another one.</a:t>
            </a:r>
          </a:p>
          <a:p>
            <a:pPr eaLnBrk="1" hangingPunct="1">
              <a:lnSpc>
                <a:spcPct val="80000"/>
              </a:lnSpc>
            </a:pPr>
            <a:r>
              <a:rPr lang="en-US" altLang="en-US" dirty="0"/>
              <a:t>Direct-mapped cache:</a:t>
            </a:r>
          </a:p>
          <a:p>
            <a:pPr lvl="1" eaLnBrk="1" hangingPunct="1">
              <a:lnSpc>
                <a:spcPct val="90000"/>
              </a:lnSpc>
            </a:pPr>
            <a:r>
              <a:rPr lang="en-US" altLang="en-US" dirty="0"/>
              <a:t>Straightforward, evict current block at index</a:t>
            </a:r>
          </a:p>
        </p:txBody>
      </p:sp>
    </p:spTree>
    <p:custDataLst>
      <p:tags r:id="rId1"/>
    </p:custDataLst>
    <p:extLst>
      <p:ext uri="{BB962C8B-B14F-4D97-AF65-F5344CB8AC3E}">
        <p14:creationId xmlns:p14="http://schemas.microsoft.com/office/powerpoint/2010/main" val="75577469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FDA0860A-29B0-45EF-8C02-A4BF6197CAF8}"/>
              </a:ext>
            </a:extLst>
          </p:cNvPr>
          <p:cNvSpPr>
            <a:spLocks noChangeArrowheads="1"/>
          </p:cNvSpPr>
          <p:nvPr>
            <p:custDataLst>
              <p:tags r:id="rId2"/>
            </p:custDataLst>
          </p:nvPr>
        </p:nvSpPr>
        <p:spPr bwMode="auto">
          <a:xfrm>
            <a:off x="5638799" y="34734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19" name="Rectangle 18">
            <a:extLst>
              <a:ext uri="{FF2B5EF4-FFF2-40B4-BE49-F238E27FC236}">
                <a16:creationId xmlns:a16="http://schemas.microsoft.com/office/drawing/2014/main" id="{809F360C-5AE0-42BA-AEEC-90E40B682ED8}"/>
              </a:ext>
            </a:extLst>
          </p:cNvPr>
          <p:cNvSpPr>
            <a:spLocks noChangeArrowheads="1"/>
          </p:cNvSpPr>
          <p:nvPr>
            <p:custDataLst>
              <p:tags r:id="rId3"/>
            </p:custDataLst>
          </p:nvPr>
        </p:nvSpPr>
        <p:spPr bwMode="auto">
          <a:xfrm>
            <a:off x="5638799" y="37782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61" name="Line 59">
            <a:extLst>
              <a:ext uri="{FF2B5EF4-FFF2-40B4-BE49-F238E27FC236}">
                <a16:creationId xmlns:a16="http://schemas.microsoft.com/office/drawing/2014/main" id="{C22EB220-A81D-4CBD-92CF-F358B0AF7792}"/>
              </a:ext>
            </a:extLst>
          </p:cNvPr>
          <p:cNvSpPr>
            <a:spLocks noChangeShapeType="1"/>
          </p:cNvSpPr>
          <p:nvPr>
            <p:custDataLst>
              <p:tags r:id="rId4"/>
            </p:custDataLst>
          </p:nvPr>
        </p:nvSpPr>
        <p:spPr bwMode="auto">
          <a:xfrm>
            <a:off x="5337175"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0">
            <a:extLst>
              <a:ext uri="{FF2B5EF4-FFF2-40B4-BE49-F238E27FC236}">
                <a16:creationId xmlns:a16="http://schemas.microsoft.com/office/drawing/2014/main" id="{9C28FBF7-C176-4E82-8CD4-07D22D205509}"/>
              </a:ext>
            </a:extLst>
          </p:cNvPr>
          <p:cNvSpPr>
            <a:spLocks noChangeShapeType="1"/>
          </p:cNvSpPr>
          <p:nvPr>
            <p:custDataLst>
              <p:tags r:id="rId5"/>
            </p:custDataLst>
          </p:nvPr>
        </p:nvSpPr>
        <p:spPr bwMode="auto">
          <a:xfrm>
            <a:off x="5337175"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1">
            <a:extLst>
              <a:ext uri="{FF2B5EF4-FFF2-40B4-BE49-F238E27FC236}">
                <a16:creationId xmlns:a16="http://schemas.microsoft.com/office/drawing/2014/main" id="{AD2440E9-98FA-4622-B161-2F4D480745D1}"/>
              </a:ext>
            </a:extLst>
          </p:cNvPr>
          <p:cNvSpPr>
            <a:spLocks noChangeShapeType="1"/>
          </p:cNvSpPr>
          <p:nvPr>
            <p:custDataLst>
              <p:tags r:id="rId6"/>
            </p:custDataLst>
          </p:nvPr>
        </p:nvSpPr>
        <p:spPr bwMode="auto">
          <a:xfrm>
            <a:off x="5337175"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63">
            <a:extLst>
              <a:ext uri="{FF2B5EF4-FFF2-40B4-BE49-F238E27FC236}">
                <a16:creationId xmlns:a16="http://schemas.microsoft.com/office/drawing/2014/main" id="{F876BB7A-187B-4E36-8694-A66BFBE07348}"/>
              </a:ext>
            </a:extLst>
          </p:cNvPr>
          <p:cNvSpPr>
            <a:spLocks noChangeShapeType="1"/>
          </p:cNvSpPr>
          <p:nvPr>
            <p:custDataLst>
              <p:tags r:id="rId7"/>
            </p:custDataLst>
          </p:nvPr>
        </p:nvSpPr>
        <p:spPr bwMode="auto">
          <a:xfrm>
            <a:off x="5484813"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4">
            <a:extLst>
              <a:ext uri="{FF2B5EF4-FFF2-40B4-BE49-F238E27FC236}">
                <a16:creationId xmlns:a16="http://schemas.microsoft.com/office/drawing/2014/main" id="{7BF9AF9B-FF4B-4FE8-B324-3AD22CACC8DC}"/>
              </a:ext>
            </a:extLst>
          </p:cNvPr>
          <p:cNvSpPr>
            <a:spLocks noChangeShapeType="1"/>
          </p:cNvSpPr>
          <p:nvPr>
            <p:custDataLst>
              <p:tags r:id="rId8"/>
            </p:custDataLst>
          </p:nvPr>
        </p:nvSpPr>
        <p:spPr bwMode="auto">
          <a:xfrm>
            <a:off x="5491163"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 name="Line 65">
            <a:extLst>
              <a:ext uri="{FF2B5EF4-FFF2-40B4-BE49-F238E27FC236}">
                <a16:creationId xmlns:a16="http://schemas.microsoft.com/office/drawing/2014/main" id="{F76CC7F0-A00D-4B1C-95C9-1B95BF7EED3A}"/>
              </a:ext>
            </a:extLst>
          </p:cNvPr>
          <p:cNvSpPr>
            <a:spLocks noChangeShapeType="1"/>
          </p:cNvSpPr>
          <p:nvPr>
            <p:custDataLst>
              <p:tags r:id="rId9"/>
            </p:custDataLst>
          </p:nvPr>
        </p:nvSpPr>
        <p:spPr bwMode="auto">
          <a:xfrm>
            <a:off x="5491163"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1" name="TextBox 100">
            <a:extLst>
              <a:ext uri="{FF2B5EF4-FFF2-40B4-BE49-F238E27FC236}">
                <a16:creationId xmlns:a16="http://schemas.microsoft.com/office/drawing/2014/main" id="{C167540B-1059-4DD3-9BEE-C667966F45FD}"/>
              </a:ext>
            </a:extLst>
          </p:cNvPr>
          <p:cNvSpPr txBox="1"/>
          <p:nvPr>
            <p:custDataLst>
              <p:tags r:id="rId10"/>
            </p:custDataLst>
          </p:nvPr>
        </p:nvSpPr>
        <p:spPr>
          <a:xfrm>
            <a:off x="5602540" y="3781723"/>
            <a:ext cx="2438399"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(0x1000F340 – 0x1000F37F)</a:t>
            </a:r>
          </a:p>
        </p:txBody>
      </p:sp>
      <p:sp>
        <p:nvSpPr>
          <p:cNvPr id="39940" name="Rectangle 2"/>
          <p:cNvSpPr>
            <a:spLocks noGrp="1" noChangeArrowheads="1"/>
          </p:cNvSpPr>
          <p:nvPr>
            <p:ph type="title"/>
            <p:custDataLst>
              <p:tags r:id="rId11"/>
            </p:custDataLst>
          </p:nvPr>
        </p:nvSpPr>
        <p:spPr>
          <a:xfrm>
            <a:off x="457200" y="274638"/>
            <a:ext cx="7467600" cy="1143000"/>
          </a:xfrm>
        </p:spPr>
        <p:txBody>
          <a:bodyPr/>
          <a:lstStyle/>
          <a:p>
            <a:r>
              <a:rPr lang="en-US" altLang="en-US" dirty="0"/>
              <a:t>Caches – Replacement</a:t>
            </a:r>
          </a:p>
        </p:txBody>
      </p:sp>
      <p:sp>
        <p:nvSpPr>
          <p:cNvPr id="39939" name="Slide Number Placeholder 5"/>
          <p:cNvSpPr>
            <a:spLocks noGrp="1"/>
          </p:cNvSpPr>
          <p:nvPr>
            <p:ph type="sldNum" sz="quarter" idx="12"/>
            <p:custDataLst>
              <p:tags r:id="rId12"/>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36</a:t>
            </a:fld>
            <a:endParaRPr lang="en-US" altLang="en-US"/>
          </a:p>
        </p:txBody>
      </p:sp>
      <p:sp>
        <p:nvSpPr>
          <p:cNvPr id="5" name="TextBox 4">
            <a:extLst>
              <a:ext uri="{FF2B5EF4-FFF2-40B4-BE49-F238E27FC236}">
                <a16:creationId xmlns:a16="http://schemas.microsoft.com/office/drawing/2014/main" id="{E9EC2BE8-AE6F-479F-8F9F-2279BF9DD410}"/>
              </a:ext>
            </a:extLst>
          </p:cNvPr>
          <p:cNvSpPr txBox="1"/>
          <p:nvPr>
            <p:custDataLst>
              <p:tags r:id="rId13"/>
            </p:custDataLst>
          </p:nvPr>
        </p:nvSpPr>
        <p:spPr>
          <a:xfrm>
            <a:off x="526930" y="1414732"/>
            <a:ext cx="8388470" cy="1052532"/>
          </a:xfrm>
          <a:prstGeom prst="rect">
            <a:avLst/>
          </a:prstGeom>
          <a:noFill/>
        </p:spPr>
        <p:txBody>
          <a:bodyPr wrap="square" rtlCol="0" anchor="t">
            <a:noAutofit/>
          </a:bodyPr>
          <a:lstStyle/>
          <a:p>
            <a:r>
              <a:rPr lang="en-US" sz="2800" dirty="0">
                <a:latin typeface="+mn-lt"/>
              </a:rPr>
              <a:t>Memory address = { tag, index, block offset }</a:t>
            </a:r>
          </a:p>
          <a:p>
            <a:pPr marL="457200" indent="-457200">
              <a:buFont typeface="Arial" panose="020B0604020202020204" pitchFamily="34" charset="0"/>
              <a:buChar char="•"/>
            </a:pPr>
            <a:r>
              <a:rPr lang="en-US" sz="2400" dirty="0">
                <a:latin typeface="+mn-lt"/>
              </a:rPr>
              <a:t>e.g., 256B cache capacity (can hold four 64B blocks)</a:t>
            </a:r>
            <a:endParaRPr lang="en-US" sz="2000" dirty="0">
              <a:latin typeface="+mn-lt"/>
            </a:endParaRPr>
          </a:p>
        </p:txBody>
      </p:sp>
      <p:sp>
        <p:nvSpPr>
          <p:cNvPr id="9" name="Text Box 7">
            <a:extLst>
              <a:ext uri="{FF2B5EF4-FFF2-40B4-BE49-F238E27FC236}">
                <a16:creationId xmlns:a16="http://schemas.microsoft.com/office/drawing/2014/main" id="{CB0D281A-AEB7-4BE0-BE7A-B23F84B62664}"/>
              </a:ext>
            </a:extLst>
          </p:cNvPr>
          <p:cNvSpPr txBox="1">
            <a:spLocks noChangeArrowheads="1"/>
          </p:cNvSpPr>
          <p:nvPr>
            <p:custDataLst>
              <p:tags r:id="rId14"/>
            </p:custDataLst>
          </p:nvPr>
        </p:nvSpPr>
        <p:spPr bwMode="auto">
          <a:xfrm>
            <a:off x="6233826" y="6477000"/>
            <a:ext cx="13099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word</a:t>
            </a:r>
          </a:p>
        </p:txBody>
      </p:sp>
      <p:sp>
        <p:nvSpPr>
          <p:cNvPr id="10" name="Freeform 8">
            <a:extLst>
              <a:ext uri="{FF2B5EF4-FFF2-40B4-BE49-F238E27FC236}">
                <a16:creationId xmlns:a16="http://schemas.microsoft.com/office/drawing/2014/main" id="{6631B068-328E-45A7-B915-D8DBE153E173}"/>
              </a:ext>
            </a:extLst>
          </p:cNvPr>
          <p:cNvSpPr>
            <a:spLocks/>
          </p:cNvSpPr>
          <p:nvPr>
            <p:custDataLst>
              <p:tags r:id="rId15"/>
            </p:custDataLst>
          </p:nvPr>
        </p:nvSpPr>
        <p:spPr bwMode="auto">
          <a:xfrm>
            <a:off x="6553200" y="5759450"/>
            <a:ext cx="609600" cy="304800"/>
          </a:xfrm>
          <a:custGeom>
            <a:avLst/>
            <a:gdLst>
              <a:gd name="T0" fmla="*/ 2147483646 w 384"/>
              <a:gd name="T1" fmla="*/ 0 h 192"/>
              <a:gd name="T2" fmla="*/ 0 w 384"/>
              <a:gd name="T3" fmla="*/ 2147483646 h 192"/>
              <a:gd name="T4" fmla="*/ 2147483646 w 384"/>
              <a:gd name="T5" fmla="*/ 2147483646 h 192"/>
              <a:gd name="T6" fmla="*/ 2147483646 w 384"/>
              <a:gd name="T7" fmla="*/ 0 h 192"/>
              <a:gd name="T8" fmla="*/ 2147483646 w 384"/>
              <a:gd name="T9" fmla="*/ 0 h 192"/>
              <a:gd name="T10" fmla="*/ 0 60000 65536"/>
              <a:gd name="T11" fmla="*/ 0 60000 65536"/>
              <a:gd name="T12" fmla="*/ 0 60000 65536"/>
              <a:gd name="T13" fmla="*/ 0 60000 65536"/>
              <a:gd name="T14" fmla="*/ 0 60000 65536"/>
              <a:gd name="T15" fmla="*/ 0 w 384"/>
              <a:gd name="T16" fmla="*/ 0 h 192"/>
              <a:gd name="T17" fmla="*/ 384 w 384"/>
              <a:gd name="T18" fmla="*/ 192 h 192"/>
            </a:gdLst>
            <a:ahLst/>
            <a:cxnLst>
              <a:cxn ang="T10">
                <a:pos x="T0" y="T1"/>
              </a:cxn>
              <a:cxn ang="T11">
                <a:pos x="T2" y="T3"/>
              </a:cxn>
              <a:cxn ang="T12">
                <a:pos x="T4" y="T5"/>
              </a:cxn>
              <a:cxn ang="T13">
                <a:pos x="T6" y="T7"/>
              </a:cxn>
              <a:cxn ang="T14">
                <a:pos x="T8" y="T9"/>
              </a:cxn>
            </a:cxnLst>
            <a:rect l="T15" t="T16" r="T17" b="T18"/>
            <a:pathLst>
              <a:path w="384" h="192">
                <a:moveTo>
                  <a:pt x="96" y="0"/>
                </a:moveTo>
                <a:lnTo>
                  <a:pt x="0" y="192"/>
                </a:lnTo>
                <a:lnTo>
                  <a:pt x="288" y="192"/>
                </a:lnTo>
                <a:lnTo>
                  <a:pt x="384" y="0"/>
                </a:lnTo>
                <a:lnTo>
                  <a:pt x="96" y="0"/>
                </a:lnTo>
                <a:close/>
              </a:path>
            </a:pathLst>
          </a:custGeom>
          <a:solidFill>
            <a:schemeClr val="accent5">
              <a:lumMod val="40000"/>
              <a:lumOff val="60000"/>
            </a:schemeClr>
          </a:solidFill>
          <a:ln w="28575">
            <a:solidFill>
              <a:srgbClr val="000000"/>
            </a:solidFill>
            <a:round/>
            <a:headEnd/>
            <a:tailEnd/>
          </a:ln>
        </p:spPr>
        <p:txBody>
          <a:bodyPr wrap="none" anchor="ctr"/>
          <a:lstStyle/>
          <a:p>
            <a:endParaRPr lang="en-US"/>
          </a:p>
        </p:txBody>
      </p:sp>
      <p:sp>
        <p:nvSpPr>
          <p:cNvPr id="11" name="Text Box 9">
            <a:extLst>
              <a:ext uri="{FF2B5EF4-FFF2-40B4-BE49-F238E27FC236}">
                <a16:creationId xmlns:a16="http://schemas.microsoft.com/office/drawing/2014/main" id="{457C09B0-0177-47AC-8258-D03BE8076724}"/>
              </a:ext>
            </a:extLst>
          </p:cNvPr>
          <p:cNvSpPr txBox="1">
            <a:spLocks noChangeArrowheads="1"/>
          </p:cNvSpPr>
          <p:nvPr>
            <p:custDataLst>
              <p:tags r:id="rId16"/>
            </p:custDataLst>
          </p:nvPr>
        </p:nvSpPr>
        <p:spPr bwMode="auto">
          <a:xfrm>
            <a:off x="6615113" y="5729288"/>
            <a:ext cx="4810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a:solidFill>
                  <a:srgbClr val="000000"/>
                </a:solidFill>
                <a:latin typeface="Arial" panose="020B0604020202020204" pitchFamily="34" charset="0"/>
              </a:rPr>
              <a:t>&lt;&lt;</a:t>
            </a:r>
            <a:endParaRPr lang="en-US" altLang="en-US" sz="1800">
              <a:solidFill>
                <a:srgbClr val="000000"/>
              </a:solidFill>
              <a:latin typeface="Arial" panose="020B0604020202020204" pitchFamily="34" charset="0"/>
            </a:endParaRPr>
          </a:p>
        </p:txBody>
      </p:sp>
      <p:sp>
        <p:nvSpPr>
          <p:cNvPr id="12" name="Line 10">
            <a:extLst>
              <a:ext uri="{FF2B5EF4-FFF2-40B4-BE49-F238E27FC236}">
                <a16:creationId xmlns:a16="http://schemas.microsoft.com/office/drawing/2014/main" id="{A2483CB9-1089-4775-A921-5CD0CBA72118}"/>
              </a:ext>
            </a:extLst>
          </p:cNvPr>
          <p:cNvSpPr>
            <a:spLocks noChangeShapeType="1"/>
          </p:cNvSpPr>
          <p:nvPr>
            <p:custDataLst>
              <p:tags r:id="rId17"/>
            </p:custDataLst>
          </p:nvPr>
        </p:nvSpPr>
        <p:spPr bwMode="auto">
          <a:xfrm>
            <a:off x="6865938" y="6080125"/>
            <a:ext cx="0" cy="517525"/>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11">
            <a:extLst>
              <a:ext uri="{FF2B5EF4-FFF2-40B4-BE49-F238E27FC236}">
                <a16:creationId xmlns:a16="http://schemas.microsoft.com/office/drawing/2014/main" id="{38DAF782-9B2D-4275-BB1D-25D5126C522B}"/>
              </a:ext>
            </a:extLst>
          </p:cNvPr>
          <p:cNvSpPr>
            <a:spLocks noChangeShapeType="1"/>
          </p:cNvSpPr>
          <p:nvPr>
            <p:custDataLst>
              <p:tags r:id="rId18"/>
            </p:custDataLst>
          </p:nvPr>
        </p:nvSpPr>
        <p:spPr bwMode="auto">
          <a:xfrm flipV="1">
            <a:off x="1143000" y="5927725"/>
            <a:ext cx="5472113" cy="0"/>
          </a:xfrm>
          <a:prstGeom prst="line">
            <a:avLst/>
          </a:prstGeom>
          <a:noFill/>
          <a:ln w="28575">
            <a:solidFill>
              <a:srgbClr val="000000"/>
            </a:solidFill>
            <a:round/>
            <a:headEnd/>
            <a:tailEnd type="arrow"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Rectangle 19">
            <a:extLst>
              <a:ext uri="{FF2B5EF4-FFF2-40B4-BE49-F238E27FC236}">
                <a16:creationId xmlns:a16="http://schemas.microsoft.com/office/drawing/2014/main" id="{C292BE68-3505-42DE-B209-FAEE1C8C0D79}"/>
              </a:ext>
            </a:extLst>
          </p:cNvPr>
          <p:cNvSpPr>
            <a:spLocks noChangeArrowheads="1"/>
          </p:cNvSpPr>
          <p:nvPr>
            <p:custDataLst>
              <p:tags r:id="rId19"/>
            </p:custDataLst>
          </p:nvPr>
        </p:nvSpPr>
        <p:spPr bwMode="auto">
          <a:xfrm>
            <a:off x="5638799" y="43878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1" name="Rectangle 20">
            <a:extLst>
              <a:ext uri="{FF2B5EF4-FFF2-40B4-BE49-F238E27FC236}">
                <a16:creationId xmlns:a16="http://schemas.microsoft.com/office/drawing/2014/main" id="{8377E898-036A-4695-81A7-8D8515E971C6}"/>
              </a:ext>
            </a:extLst>
          </p:cNvPr>
          <p:cNvSpPr>
            <a:spLocks noChangeArrowheads="1"/>
          </p:cNvSpPr>
          <p:nvPr>
            <p:custDataLst>
              <p:tags r:id="rId20"/>
            </p:custDataLst>
          </p:nvPr>
        </p:nvSpPr>
        <p:spPr bwMode="auto">
          <a:xfrm>
            <a:off x="5638799" y="40830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2" name="Rectangle 21">
            <a:extLst>
              <a:ext uri="{FF2B5EF4-FFF2-40B4-BE49-F238E27FC236}">
                <a16:creationId xmlns:a16="http://schemas.microsoft.com/office/drawing/2014/main" id="{FC828AD5-28E8-49A2-8498-9A483299A828}"/>
              </a:ext>
            </a:extLst>
          </p:cNvPr>
          <p:cNvSpPr>
            <a:spLocks noChangeArrowheads="1"/>
          </p:cNvSpPr>
          <p:nvPr>
            <p:custDataLst>
              <p:tags r:id="rId21"/>
            </p:custDataLst>
          </p:nvPr>
        </p:nvSpPr>
        <p:spPr bwMode="auto">
          <a:xfrm>
            <a:off x="3352800" y="34734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3" name="Rectangle 22">
            <a:extLst>
              <a:ext uri="{FF2B5EF4-FFF2-40B4-BE49-F238E27FC236}">
                <a16:creationId xmlns:a16="http://schemas.microsoft.com/office/drawing/2014/main" id="{BEEA400F-EED3-468F-BBE1-5FB439BEDAC9}"/>
              </a:ext>
            </a:extLst>
          </p:cNvPr>
          <p:cNvSpPr>
            <a:spLocks noChangeArrowheads="1"/>
          </p:cNvSpPr>
          <p:nvPr>
            <p:custDataLst>
              <p:tags r:id="rId22"/>
            </p:custDataLst>
          </p:nvPr>
        </p:nvSpPr>
        <p:spPr bwMode="auto">
          <a:xfrm>
            <a:off x="3352800" y="37782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24" name="Rectangle 23">
            <a:extLst>
              <a:ext uri="{FF2B5EF4-FFF2-40B4-BE49-F238E27FC236}">
                <a16:creationId xmlns:a16="http://schemas.microsoft.com/office/drawing/2014/main" id="{1758F168-7E48-4413-AA3F-DCA1E967F5F1}"/>
              </a:ext>
            </a:extLst>
          </p:cNvPr>
          <p:cNvSpPr>
            <a:spLocks noChangeArrowheads="1"/>
          </p:cNvSpPr>
          <p:nvPr>
            <p:custDataLst>
              <p:tags r:id="rId23"/>
            </p:custDataLst>
          </p:nvPr>
        </p:nvSpPr>
        <p:spPr bwMode="auto">
          <a:xfrm>
            <a:off x="3352800" y="43878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400">
              <a:solidFill>
                <a:srgbClr val="000000"/>
              </a:solidFill>
              <a:latin typeface="Arial" panose="020B0604020202020204" pitchFamily="34" charset="0"/>
            </a:endParaRPr>
          </a:p>
        </p:txBody>
      </p:sp>
      <p:sp>
        <p:nvSpPr>
          <p:cNvPr id="25" name="Rectangle 24">
            <a:extLst>
              <a:ext uri="{FF2B5EF4-FFF2-40B4-BE49-F238E27FC236}">
                <a16:creationId xmlns:a16="http://schemas.microsoft.com/office/drawing/2014/main" id="{016C9141-6F13-409B-8A96-762011F2E9FE}"/>
              </a:ext>
            </a:extLst>
          </p:cNvPr>
          <p:cNvSpPr>
            <a:spLocks noChangeArrowheads="1"/>
          </p:cNvSpPr>
          <p:nvPr>
            <p:custDataLst>
              <p:tags r:id="rId24"/>
            </p:custDataLst>
          </p:nvPr>
        </p:nvSpPr>
        <p:spPr bwMode="auto">
          <a:xfrm>
            <a:off x="3352800" y="40830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a:solidFill>
                <a:srgbClr val="000000"/>
              </a:solidFill>
              <a:latin typeface="Arial" panose="020B0604020202020204" pitchFamily="34" charset="0"/>
            </a:endParaRPr>
          </a:p>
        </p:txBody>
      </p:sp>
      <p:sp>
        <p:nvSpPr>
          <p:cNvPr id="26" name="Line 24">
            <a:extLst>
              <a:ext uri="{FF2B5EF4-FFF2-40B4-BE49-F238E27FC236}">
                <a16:creationId xmlns:a16="http://schemas.microsoft.com/office/drawing/2014/main" id="{BA6D80A7-8F8C-494D-974D-4E2AC5AED495}"/>
              </a:ext>
            </a:extLst>
          </p:cNvPr>
          <p:cNvSpPr>
            <a:spLocks noChangeShapeType="1"/>
          </p:cNvSpPr>
          <p:nvPr>
            <p:custDataLst>
              <p:tags r:id="rId25"/>
            </p:custDataLst>
          </p:nvPr>
        </p:nvSpPr>
        <p:spPr bwMode="auto">
          <a:xfrm>
            <a:off x="6865938" y="53022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25">
            <a:extLst>
              <a:ext uri="{FF2B5EF4-FFF2-40B4-BE49-F238E27FC236}">
                <a16:creationId xmlns:a16="http://schemas.microsoft.com/office/drawing/2014/main" id="{38134F07-7AF2-4194-93CA-3BF9FA89989E}"/>
              </a:ext>
            </a:extLst>
          </p:cNvPr>
          <p:cNvSpPr>
            <a:spLocks noChangeShapeType="1"/>
          </p:cNvSpPr>
          <p:nvPr>
            <p:custDataLst>
              <p:tags r:id="rId26"/>
            </p:custDataLst>
          </p:nvPr>
        </p:nvSpPr>
        <p:spPr bwMode="auto">
          <a:xfrm flipV="1">
            <a:off x="4251960" y="5302250"/>
            <a:ext cx="146304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0" name="AutoShape 38">
            <a:extLst>
              <a:ext uri="{FF2B5EF4-FFF2-40B4-BE49-F238E27FC236}">
                <a16:creationId xmlns:a16="http://schemas.microsoft.com/office/drawing/2014/main" id="{D5F199AC-8DBF-4D45-ABEA-A91AB71129A2}"/>
              </a:ext>
            </a:extLst>
          </p:cNvPr>
          <p:cNvSpPr>
            <a:spLocks noChangeArrowheads="1"/>
          </p:cNvSpPr>
          <p:nvPr>
            <p:custDataLst>
              <p:tags r:id="rId27"/>
            </p:custDataLst>
          </p:nvPr>
        </p:nvSpPr>
        <p:spPr bwMode="auto">
          <a:xfrm>
            <a:off x="3718560" y="5149850"/>
            <a:ext cx="548640" cy="304800"/>
          </a:xfrm>
          <a:prstGeom prst="flowChartTerminator">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2000">
                <a:solidFill>
                  <a:srgbClr val="000000"/>
                </a:solidFill>
                <a:latin typeface="Arial" panose="020B0604020202020204" pitchFamily="34" charset="0"/>
              </a:rPr>
              <a:t>=</a:t>
            </a:r>
          </a:p>
        </p:txBody>
      </p:sp>
      <p:sp>
        <p:nvSpPr>
          <p:cNvPr id="41" name="Line 39">
            <a:extLst>
              <a:ext uri="{FF2B5EF4-FFF2-40B4-BE49-F238E27FC236}">
                <a16:creationId xmlns:a16="http://schemas.microsoft.com/office/drawing/2014/main" id="{2B83041B-77CA-45A4-A7E4-FCED2F1FC711}"/>
              </a:ext>
            </a:extLst>
          </p:cNvPr>
          <p:cNvSpPr>
            <a:spLocks noChangeShapeType="1"/>
          </p:cNvSpPr>
          <p:nvPr>
            <p:custDataLst>
              <p:tags r:id="rId28"/>
            </p:custDataLst>
          </p:nvPr>
        </p:nvSpPr>
        <p:spPr bwMode="auto">
          <a:xfrm>
            <a:off x="4038600" y="4692650"/>
            <a:ext cx="0" cy="4572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42">
            <a:extLst>
              <a:ext uri="{FF2B5EF4-FFF2-40B4-BE49-F238E27FC236}">
                <a16:creationId xmlns:a16="http://schemas.microsoft.com/office/drawing/2014/main" id="{6F48C698-B243-4D2F-A49F-0BB6ACFC8BA1}"/>
              </a:ext>
            </a:extLst>
          </p:cNvPr>
          <p:cNvSpPr>
            <a:spLocks noChangeShapeType="1"/>
          </p:cNvSpPr>
          <p:nvPr>
            <p:custDataLst>
              <p:tags r:id="rId29"/>
            </p:custDataLst>
          </p:nvPr>
        </p:nvSpPr>
        <p:spPr bwMode="auto">
          <a:xfrm>
            <a:off x="3046413" y="36258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5" name="Line 43">
            <a:extLst>
              <a:ext uri="{FF2B5EF4-FFF2-40B4-BE49-F238E27FC236}">
                <a16:creationId xmlns:a16="http://schemas.microsoft.com/office/drawing/2014/main" id="{4BE17ECF-F04D-41D6-8AAB-A68C6EEB2E2A}"/>
              </a:ext>
            </a:extLst>
          </p:cNvPr>
          <p:cNvSpPr>
            <a:spLocks noChangeShapeType="1"/>
          </p:cNvSpPr>
          <p:nvPr>
            <p:custDataLst>
              <p:tags r:id="rId30"/>
            </p:custDataLst>
          </p:nvPr>
        </p:nvSpPr>
        <p:spPr bwMode="auto">
          <a:xfrm>
            <a:off x="3046413" y="39306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6" name="Line 44">
            <a:extLst>
              <a:ext uri="{FF2B5EF4-FFF2-40B4-BE49-F238E27FC236}">
                <a16:creationId xmlns:a16="http://schemas.microsoft.com/office/drawing/2014/main" id="{1EA30915-C6BF-4E82-9924-D93D14B16409}"/>
              </a:ext>
            </a:extLst>
          </p:cNvPr>
          <p:cNvSpPr>
            <a:spLocks noChangeShapeType="1"/>
          </p:cNvSpPr>
          <p:nvPr>
            <p:custDataLst>
              <p:tags r:id="rId31"/>
            </p:custDataLst>
          </p:nvPr>
        </p:nvSpPr>
        <p:spPr bwMode="auto">
          <a:xfrm>
            <a:off x="3046413" y="4235450"/>
            <a:ext cx="3048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7" name="Freeform 45">
            <a:extLst>
              <a:ext uri="{FF2B5EF4-FFF2-40B4-BE49-F238E27FC236}">
                <a16:creationId xmlns:a16="http://schemas.microsoft.com/office/drawing/2014/main" id="{98AAAA89-3F96-4D57-8082-2C76925A7E88}"/>
              </a:ext>
            </a:extLst>
          </p:cNvPr>
          <p:cNvSpPr>
            <a:spLocks/>
          </p:cNvSpPr>
          <p:nvPr>
            <p:custDataLst>
              <p:tags r:id="rId32"/>
            </p:custDataLst>
          </p:nvPr>
        </p:nvSpPr>
        <p:spPr bwMode="auto">
          <a:xfrm flipH="1">
            <a:off x="3048000"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48" name="Line 46">
            <a:extLst>
              <a:ext uri="{FF2B5EF4-FFF2-40B4-BE49-F238E27FC236}">
                <a16:creationId xmlns:a16="http://schemas.microsoft.com/office/drawing/2014/main" id="{8CBBFFAA-9E7A-45DB-B878-5E370136A6D6}"/>
              </a:ext>
            </a:extLst>
          </p:cNvPr>
          <p:cNvSpPr>
            <a:spLocks noChangeShapeType="1"/>
          </p:cNvSpPr>
          <p:nvPr>
            <p:custDataLst>
              <p:tags r:id="rId33"/>
            </p:custDataLst>
          </p:nvPr>
        </p:nvSpPr>
        <p:spPr bwMode="auto">
          <a:xfrm>
            <a:off x="3194050" y="42354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49" name="Line 47">
            <a:extLst>
              <a:ext uri="{FF2B5EF4-FFF2-40B4-BE49-F238E27FC236}">
                <a16:creationId xmlns:a16="http://schemas.microsoft.com/office/drawing/2014/main" id="{9C19AF6E-0C5B-46EE-8595-59541AA85A7A}"/>
              </a:ext>
            </a:extLst>
          </p:cNvPr>
          <p:cNvSpPr>
            <a:spLocks noChangeShapeType="1"/>
          </p:cNvSpPr>
          <p:nvPr>
            <p:custDataLst>
              <p:tags r:id="rId34"/>
            </p:custDataLst>
          </p:nvPr>
        </p:nvSpPr>
        <p:spPr bwMode="auto">
          <a:xfrm>
            <a:off x="3200400" y="39306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0" name="Line 48">
            <a:extLst>
              <a:ext uri="{FF2B5EF4-FFF2-40B4-BE49-F238E27FC236}">
                <a16:creationId xmlns:a16="http://schemas.microsoft.com/office/drawing/2014/main" id="{31C63BF1-D1BA-4D0B-9DB5-E01F0C69DE82}"/>
              </a:ext>
            </a:extLst>
          </p:cNvPr>
          <p:cNvSpPr>
            <a:spLocks noChangeShapeType="1"/>
          </p:cNvSpPr>
          <p:nvPr>
            <p:custDataLst>
              <p:tags r:id="rId35"/>
            </p:custDataLst>
          </p:nvPr>
        </p:nvSpPr>
        <p:spPr bwMode="auto">
          <a:xfrm>
            <a:off x="3200400" y="36258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51" name="Line 49">
            <a:extLst>
              <a:ext uri="{FF2B5EF4-FFF2-40B4-BE49-F238E27FC236}">
                <a16:creationId xmlns:a16="http://schemas.microsoft.com/office/drawing/2014/main" id="{CC7BF552-16E0-437D-9955-32C61B27C92F}"/>
              </a:ext>
            </a:extLst>
          </p:cNvPr>
          <p:cNvSpPr>
            <a:spLocks noChangeShapeType="1"/>
          </p:cNvSpPr>
          <p:nvPr>
            <p:custDataLst>
              <p:tags r:id="rId36"/>
            </p:custDataLst>
          </p:nvPr>
        </p:nvSpPr>
        <p:spPr bwMode="auto">
          <a:xfrm>
            <a:off x="3200400"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4" name="Freeform 62">
            <a:extLst>
              <a:ext uri="{FF2B5EF4-FFF2-40B4-BE49-F238E27FC236}">
                <a16:creationId xmlns:a16="http://schemas.microsoft.com/office/drawing/2014/main" id="{BB1836E8-2F3F-4EC3-82A3-1EFB9CA5F975}"/>
              </a:ext>
            </a:extLst>
          </p:cNvPr>
          <p:cNvSpPr>
            <a:spLocks/>
          </p:cNvSpPr>
          <p:nvPr>
            <p:custDataLst>
              <p:tags r:id="rId37"/>
            </p:custDataLst>
          </p:nvPr>
        </p:nvSpPr>
        <p:spPr bwMode="auto">
          <a:xfrm flipH="1">
            <a:off x="5338763" y="3473450"/>
            <a:ext cx="152400" cy="1219200"/>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accent3">
              <a:lumMod val="40000"/>
              <a:lumOff val="60000"/>
            </a:schemeClr>
          </a:solidFill>
          <a:ln w="28575">
            <a:solidFill>
              <a:srgbClr val="000000"/>
            </a:solidFill>
            <a:round/>
            <a:headEnd/>
            <a:tailEnd/>
          </a:ln>
        </p:spPr>
        <p:txBody>
          <a:bodyPr wrap="none" anchor="ctr"/>
          <a:lstStyle/>
          <a:p>
            <a:endParaRPr lang="en-US"/>
          </a:p>
        </p:txBody>
      </p:sp>
      <p:sp>
        <p:nvSpPr>
          <p:cNvPr id="68" name="Line 66">
            <a:extLst>
              <a:ext uri="{FF2B5EF4-FFF2-40B4-BE49-F238E27FC236}">
                <a16:creationId xmlns:a16="http://schemas.microsoft.com/office/drawing/2014/main" id="{B226C52D-61E7-47B9-876B-ABA31DF72333}"/>
              </a:ext>
            </a:extLst>
          </p:cNvPr>
          <p:cNvSpPr>
            <a:spLocks noChangeShapeType="1"/>
          </p:cNvSpPr>
          <p:nvPr>
            <p:custDataLst>
              <p:tags r:id="rId38"/>
            </p:custDataLst>
          </p:nvPr>
        </p:nvSpPr>
        <p:spPr bwMode="auto">
          <a:xfrm>
            <a:off x="5491163" y="4540250"/>
            <a:ext cx="152400" cy="0"/>
          </a:xfrm>
          <a:prstGeom prst="line">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9" name="Rectangle 68">
            <a:extLst>
              <a:ext uri="{FF2B5EF4-FFF2-40B4-BE49-F238E27FC236}">
                <a16:creationId xmlns:a16="http://schemas.microsoft.com/office/drawing/2014/main" id="{6EC20907-9242-4438-88FC-64A27AF45B4B}"/>
              </a:ext>
            </a:extLst>
          </p:cNvPr>
          <p:cNvSpPr>
            <a:spLocks noChangeArrowheads="1"/>
          </p:cNvSpPr>
          <p:nvPr>
            <p:custDataLst>
              <p:tags r:id="rId39"/>
            </p:custDataLst>
          </p:nvPr>
        </p:nvSpPr>
        <p:spPr bwMode="auto">
          <a:xfrm>
            <a:off x="3338513" y="2635250"/>
            <a:ext cx="922337" cy="304800"/>
          </a:xfrm>
          <a:prstGeom prst="rect">
            <a:avLst/>
          </a:prstGeom>
          <a:solidFill>
            <a:schemeClr val="accent5">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6-bit offset</a:t>
            </a:r>
          </a:p>
        </p:txBody>
      </p:sp>
      <p:sp>
        <p:nvSpPr>
          <p:cNvPr id="70" name="Rectangle 69">
            <a:extLst>
              <a:ext uri="{FF2B5EF4-FFF2-40B4-BE49-F238E27FC236}">
                <a16:creationId xmlns:a16="http://schemas.microsoft.com/office/drawing/2014/main" id="{F24D4EAA-715B-4391-902F-1F827F36C938}"/>
              </a:ext>
            </a:extLst>
          </p:cNvPr>
          <p:cNvSpPr>
            <a:spLocks noChangeArrowheads="1"/>
          </p:cNvSpPr>
          <p:nvPr>
            <p:custDataLst>
              <p:tags r:id="rId40"/>
            </p:custDataLst>
          </p:nvPr>
        </p:nvSpPr>
        <p:spPr bwMode="auto">
          <a:xfrm>
            <a:off x="1371600" y="2635250"/>
            <a:ext cx="106045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dirty="0">
                <a:solidFill>
                  <a:srgbClr val="000000"/>
                </a:solidFill>
                <a:latin typeface="Arial" panose="020B0604020202020204" pitchFamily="34" charset="0"/>
              </a:rPr>
              <a:t>24-bit tag</a:t>
            </a:r>
            <a:endParaRPr lang="en-US" altLang="en-US" sz="1000" dirty="0">
              <a:solidFill>
                <a:schemeClr val="accent1"/>
              </a:solidFill>
              <a:latin typeface="Arial" panose="020B0604020202020204" pitchFamily="34" charset="0"/>
            </a:endParaRPr>
          </a:p>
        </p:txBody>
      </p:sp>
      <p:sp>
        <p:nvSpPr>
          <p:cNvPr id="71" name="Rectangle 70">
            <a:extLst>
              <a:ext uri="{FF2B5EF4-FFF2-40B4-BE49-F238E27FC236}">
                <a16:creationId xmlns:a16="http://schemas.microsoft.com/office/drawing/2014/main" id="{4B227EA0-FD52-4F3B-84E6-44AD3A047AFF}"/>
              </a:ext>
            </a:extLst>
          </p:cNvPr>
          <p:cNvSpPr>
            <a:spLocks noChangeArrowheads="1"/>
          </p:cNvSpPr>
          <p:nvPr>
            <p:custDataLst>
              <p:tags r:id="rId41"/>
            </p:custDataLst>
          </p:nvPr>
        </p:nvSpPr>
        <p:spPr bwMode="auto">
          <a:xfrm>
            <a:off x="2432050" y="2635250"/>
            <a:ext cx="914400" cy="304800"/>
          </a:xfrm>
          <a:prstGeom prst="rect">
            <a:avLst/>
          </a:prstGeom>
          <a:solidFill>
            <a:schemeClr val="accent3">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200">
                <a:solidFill>
                  <a:srgbClr val="000000"/>
                </a:solidFill>
                <a:latin typeface="Arial" panose="020B0604020202020204" pitchFamily="34" charset="0"/>
              </a:rPr>
              <a:t>2-bit index</a:t>
            </a:r>
          </a:p>
        </p:txBody>
      </p:sp>
      <p:sp>
        <p:nvSpPr>
          <p:cNvPr id="72" name="AutoShape 70">
            <a:extLst>
              <a:ext uri="{FF2B5EF4-FFF2-40B4-BE49-F238E27FC236}">
                <a16:creationId xmlns:a16="http://schemas.microsoft.com/office/drawing/2014/main" id="{55116F2C-8BBD-4EEF-B899-DBEFD43F5583}"/>
              </a:ext>
            </a:extLst>
          </p:cNvPr>
          <p:cNvSpPr>
            <a:spLocks noChangeArrowheads="1"/>
          </p:cNvSpPr>
          <p:nvPr>
            <p:custDataLst>
              <p:tags r:id="rId42"/>
            </p:custDataLst>
          </p:nvPr>
        </p:nvSpPr>
        <p:spPr bwMode="auto">
          <a:xfrm rot="5400000" flipH="1" flipV="1">
            <a:off x="1181100" y="2597150"/>
            <a:ext cx="304800" cy="381000"/>
          </a:xfrm>
          <a:prstGeom prst="flowChartDocument">
            <a:avLst/>
          </a:prstGeom>
          <a:solidFill>
            <a:schemeClr val="bg1"/>
          </a:solidFill>
          <a:ln w="28575">
            <a:solidFill>
              <a:schemeClr val="bg1"/>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800">
              <a:solidFill>
                <a:schemeClr val="accent1"/>
              </a:solidFill>
              <a:latin typeface="Arial" panose="020B0604020202020204" pitchFamily="34" charset="0"/>
            </a:endParaRPr>
          </a:p>
        </p:txBody>
      </p:sp>
      <p:sp>
        <p:nvSpPr>
          <p:cNvPr id="73" name="Freeform 71">
            <a:extLst>
              <a:ext uri="{FF2B5EF4-FFF2-40B4-BE49-F238E27FC236}">
                <a16:creationId xmlns:a16="http://schemas.microsoft.com/office/drawing/2014/main" id="{E1CF307A-0E66-442A-BE93-E42EF343854E}"/>
              </a:ext>
            </a:extLst>
          </p:cNvPr>
          <p:cNvSpPr>
            <a:spLocks/>
          </p:cNvSpPr>
          <p:nvPr>
            <p:custDataLst>
              <p:tags r:id="rId43"/>
            </p:custDataLst>
          </p:nvPr>
        </p:nvSpPr>
        <p:spPr bwMode="auto">
          <a:xfrm flipV="1">
            <a:off x="2749550" y="2940050"/>
            <a:ext cx="296863" cy="11969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4" name="Freeform 72">
            <a:extLst>
              <a:ext uri="{FF2B5EF4-FFF2-40B4-BE49-F238E27FC236}">
                <a16:creationId xmlns:a16="http://schemas.microsoft.com/office/drawing/2014/main" id="{8BFF498B-C679-4CF3-ADE4-7DA1A8A683D6}"/>
              </a:ext>
            </a:extLst>
          </p:cNvPr>
          <p:cNvSpPr>
            <a:spLocks/>
          </p:cNvSpPr>
          <p:nvPr>
            <p:custDataLst>
              <p:tags r:id="rId44"/>
            </p:custDataLst>
          </p:nvPr>
        </p:nvSpPr>
        <p:spPr bwMode="auto">
          <a:xfrm flipV="1">
            <a:off x="5113338" y="3168650"/>
            <a:ext cx="225425" cy="968375"/>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75" name="Line 73">
            <a:extLst>
              <a:ext uri="{FF2B5EF4-FFF2-40B4-BE49-F238E27FC236}">
                <a16:creationId xmlns:a16="http://schemas.microsoft.com/office/drawing/2014/main" id="{5B76B998-0D4B-472C-B995-D3B924FCA0A0}"/>
              </a:ext>
            </a:extLst>
          </p:cNvPr>
          <p:cNvSpPr>
            <a:spLocks noChangeShapeType="1"/>
          </p:cNvSpPr>
          <p:nvPr>
            <p:custDataLst>
              <p:tags r:id="rId45"/>
            </p:custDataLst>
          </p:nvPr>
        </p:nvSpPr>
        <p:spPr bwMode="auto">
          <a:xfrm flipH="1">
            <a:off x="2749550" y="3168650"/>
            <a:ext cx="23637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 name="Line 74">
            <a:extLst>
              <a:ext uri="{FF2B5EF4-FFF2-40B4-BE49-F238E27FC236}">
                <a16:creationId xmlns:a16="http://schemas.microsoft.com/office/drawing/2014/main" id="{45C66407-D791-495C-B938-801998A0C907}"/>
              </a:ext>
            </a:extLst>
          </p:cNvPr>
          <p:cNvSpPr>
            <a:spLocks noChangeShapeType="1"/>
          </p:cNvSpPr>
          <p:nvPr>
            <p:custDataLst>
              <p:tags r:id="rId46"/>
            </p:custDataLst>
          </p:nvPr>
        </p:nvSpPr>
        <p:spPr bwMode="auto">
          <a:xfrm>
            <a:off x="6858000" y="4692650"/>
            <a:ext cx="0" cy="53340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80" name="Freeform 78">
            <a:extLst>
              <a:ext uri="{FF2B5EF4-FFF2-40B4-BE49-F238E27FC236}">
                <a16:creationId xmlns:a16="http://schemas.microsoft.com/office/drawing/2014/main" id="{1F7BEAEC-98CB-4298-BC2B-7EF635036FEC}"/>
              </a:ext>
            </a:extLst>
          </p:cNvPr>
          <p:cNvSpPr>
            <a:spLocks/>
          </p:cNvSpPr>
          <p:nvPr>
            <p:custDataLst>
              <p:tags r:id="rId47"/>
            </p:custDataLst>
          </p:nvPr>
        </p:nvSpPr>
        <p:spPr bwMode="auto">
          <a:xfrm rot="16200000" flipH="1">
            <a:off x="6784182" y="4090193"/>
            <a:ext cx="152400" cy="2424113"/>
          </a:xfrm>
          <a:custGeom>
            <a:avLst/>
            <a:gdLst>
              <a:gd name="T0" fmla="*/ 0 w 192"/>
              <a:gd name="T1" fmla="*/ 0 h 2496"/>
              <a:gd name="T2" fmla="*/ 0 w 192"/>
              <a:gd name="T3" fmla="*/ 2147483646 h 2496"/>
              <a:gd name="T4" fmla="*/ 2147483646 w 192"/>
              <a:gd name="T5" fmla="*/ 2147483646 h 2496"/>
              <a:gd name="T6" fmla="*/ 2147483646 w 192"/>
              <a:gd name="T7" fmla="*/ 2147483646 h 2496"/>
              <a:gd name="T8" fmla="*/ 0 w 192"/>
              <a:gd name="T9" fmla="*/ 0 h 2496"/>
              <a:gd name="T10" fmla="*/ 0 60000 65536"/>
              <a:gd name="T11" fmla="*/ 0 60000 65536"/>
              <a:gd name="T12" fmla="*/ 0 60000 65536"/>
              <a:gd name="T13" fmla="*/ 0 60000 65536"/>
              <a:gd name="T14" fmla="*/ 0 60000 65536"/>
              <a:gd name="T15" fmla="*/ 0 w 192"/>
              <a:gd name="T16" fmla="*/ 0 h 2496"/>
              <a:gd name="T17" fmla="*/ 192 w 192"/>
              <a:gd name="T18" fmla="*/ 2496 h 2496"/>
            </a:gdLst>
            <a:ahLst/>
            <a:cxnLst>
              <a:cxn ang="T10">
                <a:pos x="T0" y="T1"/>
              </a:cxn>
              <a:cxn ang="T11">
                <a:pos x="T2" y="T3"/>
              </a:cxn>
              <a:cxn ang="T12">
                <a:pos x="T4" y="T5"/>
              </a:cxn>
              <a:cxn ang="T13">
                <a:pos x="T6" y="T7"/>
              </a:cxn>
              <a:cxn ang="T14">
                <a:pos x="T8" y="T9"/>
              </a:cxn>
            </a:cxnLst>
            <a:rect l="T15" t="T16" r="T17" b="T18"/>
            <a:pathLst>
              <a:path w="192" h="2496">
                <a:moveTo>
                  <a:pt x="0" y="0"/>
                </a:moveTo>
                <a:lnTo>
                  <a:pt x="0" y="2496"/>
                </a:lnTo>
                <a:lnTo>
                  <a:pt x="192" y="2304"/>
                </a:lnTo>
                <a:lnTo>
                  <a:pt x="192" y="192"/>
                </a:lnTo>
                <a:lnTo>
                  <a:pt x="0" y="0"/>
                </a:lnTo>
                <a:close/>
              </a:path>
            </a:pathLst>
          </a:custGeom>
          <a:solidFill>
            <a:schemeClr val="bg1">
              <a:lumMod val="95000"/>
            </a:schemeClr>
          </a:solidFill>
          <a:ln w="28575">
            <a:solidFill>
              <a:srgbClr val="000000"/>
            </a:solidFill>
            <a:round/>
            <a:headEnd/>
            <a:tailEnd/>
          </a:ln>
        </p:spPr>
        <p:txBody>
          <a:bodyPr wrap="none" anchor="ctr"/>
          <a:lstStyle/>
          <a:p>
            <a:endParaRPr lang="en-US"/>
          </a:p>
        </p:txBody>
      </p:sp>
      <p:sp>
        <p:nvSpPr>
          <p:cNvPr id="81" name="Freeform 79">
            <a:extLst>
              <a:ext uri="{FF2B5EF4-FFF2-40B4-BE49-F238E27FC236}">
                <a16:creationId xmlns:a16="http://schemas.microsoft.com/office/drawing/2014/main" id="{4423B444-1D98-4BD7-B4FD-730D2AC92A09}"/>
              </a:ext>
            </a:extLst>
          </p:cNvPr>
          <p:cNvSpPr>
            <a:spLocks/>
          </p:cNvSpPr>
          <p:nvPr>
            <p:custDataLst>
              <p:tags r:id="rId48"/>
            </p:custDataLst>
          </p:nvPr>
        </p:nvSpPr>
        <p:spPr bwMode="auto">
          <a:xfrm flipV="1">
            <a:off x="2133600" y="2940050"/>
            <a:ext cx="296863" cy="1905000"/>
          </a:xfrm>
          <a:custGeom>
            <a:avLst/>
            <a:gdLst>
              <a:gd name="T0" fmla="*/ 0 w 144"/>
              <a:gd name="T1" fmla="*/ 2147483646 h 2016"/>
              <a:gd name="T2" fmla="*/ 0 w 144"/>
              <a:gd name="T3" fmla="*/ 0 h 2016"/>
              <a:gd name="T4" fmla="*/ 2147483646 w 144"/>
              <a:gd name="T5" fmla="*/ 0 h 2016"/>
              <a:gd name="T6" fmla="*/ 0 60000 65536"/>
              <a:gd name="T7" fmla="*/ 0 60000 65536"/>
              <a:gd name="T8" fmla="*/ 0 60000 65536"/>
              <a:gd name="T9" fmla="*/ 0 w 144"/>
              <a:gd name="T10" fmla="*/ 0 h 2016"/>
              <a:gd name="T11" fmla="*/ 144 w 144"/>
              <a:gd name="T12" fmla="*/ 2016 h 2016"/>
            </a:gdLst>
            <a:ahLst/>
            <a:cxnLst>
              <a:cxn ang="T6">
                <a:pos x="T0" y="T1"/>
              </a:cxn>
              <a:cxn ang="T7">
                <a:pos x="T2" y="T3"/>
              </a:cxn>
              <a:cxn ang="T8">
                <a:pos x="T4" y="T5"/>
              </a:cxn>
            </a:cxnLst>
            <a:rect l="T9" t="T10" r="T11" b="T12"/>
            <a:pathLst>
              <a:path w="144" h="2016">
                <a:moveTo>
                  <a:pt x="0" y="2016"/>
                </a:moveTo>
                <a:lnTo>
                  <a:pt x="0" y="0"/>
                </a:lnTo>
                <a:lnTo>
                  <a:pt x="144" y="0"/>
                </a:ln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 name="Freeform 80">
            <a:extLst>
              <a:ext uri="{FF2B5EF4-FFF2-40B4-BE49-F238E27FC236}">
                <a16:creationId xmlns:a16="http://schemas.microsoft.com/office/drawing/2014/main" id="{BF1F2583-3C62-436A-9D4D-1D13F42BC7C5}"/>
              </a:ext>
            </a:extLst>
          </p:cNvPr>
          <p:cNvSpPr>
            <a:spLocks/>
          </p:cNvSpPr>
          <p:nvPr>
            <p:custDataLst>
              <p:tags r:id="rId49"/>
            </p:custDataLst>
          </p:nvPr>
        </p:nvSpPr>
        <p:spPr bwMode="auto">
          <a:xfrm>
            <a:off x="2133600" y="4845050"/>
            <a:ext cx="1771646" cy="304800"/>
          </a:xfrm>
          <a:custGeom>
            <a:avLst/>
            <a:gdLst>
              <a:gd name="T0" fmla="*/ 0 w 864"/>
              <a:gd name="T1" fmla="*/ 0 h 192"/>
              <a:gd name="T2" fmla="*/ 2147483646 w 864"/>
              <a:gd name="T3" fmla="*/ 0 h 192"/>
              <a:gd name="T4" fmla="*/ 2147483646 w 864"/>
              <a:gd name="T5" fmla="*/ 2147483646 h 192"/>
              <a:gd name="T6" fmla="*/ 0 60000 65536"/>
              <a:gd name="T7" fmla="*/ 0 60000 65536"/>
              <a:gd name="T8" fmla="*/ 0 60000 65536"/>
              <a:gd name="T9" fmla="*/ 0 w 864"/>
              <a:gd name="T10" fmla="*/ 0 h 192"/>
              <a:gd name="T11" fmla="*/ 864 w 864"/>
              <a:gd name="T12" fmla="*/ 192 h 192"/>
            </a:gdLst>
            <a:ahLst/>
            <a:cxnLst>
              <a:cxn ang="T6">
                <a:pos x="T0" y="T1"/>
              </a:cxn>
              <a:cxn ang="T7">
                <a:pos x="T2" y="T3"/>
              </a:cxn>
              <a:cxn ang="T8">
                <a:pos x="T4" y="T5"/>
              </a:cxn>
            </a:cxnLst>
            <a:rect l="T9" t="T10" r="T11" b="T12"/>
            <a:pathLst>
              <a:path w="864" h="192">
                <a:moveTo>
                  <a:pt x="0" y="0"/>
                </a:moveTo>
                <a:lnTo>
                  <a:pt x="864" y="0"/>
                </a:lnTo>
                <a:lnTo>
                  <a:pt x="864" y="192"/>
                </a:lnTo>
              </a:path>
            </a:pathLst>
          </a:custGeom>
          <a:noFill/>
          <a:ln w="28575">
            <a:solidFill>
              <a:srgbClr val="000000"/>
            </a:solidFill>
            <a:round/>
            <a:headEnd type="none" w="sm" len="sm"/>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7" name="Text Box 85">
            <a:extLst>
              <a:ext uri="{FF2B5EF4-FFF2-40B4-BE49-F238E27FC236}">
                <a16:creationId xmlns:a16="http://schemas.microsoft.com/office/drawing/2014/main" id="{CADA3D2E-04B7-4684-A53B-9C409B495F16}"/>
              </a:ext>
            </a:extLst>
          </p:cNvPr>
          <p:cNvSpPr txBox="1">
            <a:spLocks noChangeArrowheads="1"/>
          </p:cNvSpPr>
          <p:nvPr>
            <p:custDataLst>
              <p:tags r:id="rId50"/>
            </p:custDataLst>
          </p:nvPr>
        </p:nvSpPr>
        <p:spPr bwMode="auto">
          <a:xfrm>
            <a:off x="4267200" y="4967288"/>
            <a:ext cx="5565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hit?</a:t>
            </a:r>
          </a:p>
        </p:txBody>
      </p:sp>
      <p:sp>
        <p:nvSpPr>
          <p:cNvPr id="88" name="Line 86">
            <a:extLst>
              <a:ext uri="{FF2B5EF4-FFF2-40B4-BE49-F238E27FC236}">
                <a16:creationId xmlns:a16="http://schemas.microsoft.com/office/drawing/2014/main" id="{C911E212-E9E4-4909-99CE-8B613E8B50BC}"/>
              </a:ext>
            </a:extLst>
          </p:cNvPr>
          <p:cNvSpPr>
            <a:spLocks noChangeShapeType="1"/>
          </p:cNvSpPr>
          <p:nvPr>
            <p:custDataLst>
              <p:tags r:id="rId51"/>
            </p:custDataLst>
          </p:nvPr>
        </p:nvSpPr>
        <p:spPr bwMode="auto">
          <a:xfrm flipV="1">
            <a:off x="3886200" y="2514600"/>
            <a:ext cx="0" cy="12065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 name="Line 87">
            <a:extLst>
              <a:ext uri="{FF2B5EF4-FFF2-40B4-BE49-F238E27FC236}">
                <a16:creationId xmlns:a16="http://schemas.microsoft.com/office/drawing/2014/main" id="{2852B17D-CAA3-4BC0-8B01-AF8BFF82C91B}"/>
              </a:ext>
            </a:extLst>
          </p:cNvPr>
          <p:cNvSpPr>
            <a:spLocks noChangeShapeType="1"/>
          </p:cNvSpPr>
          <p:nvPr>
            <p:custDataLst>
              <p:tags r:id="rId52"/>
            </p:custDataLst>
          </p:nvPr>
        </p:nvSpPr>
        <p:spPr bwMode="auto">
          <a:xfrm>
            <a:off x="1143000" y="2514600"/>
            <a:ext cx="0" cy="341312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0" name="Line 88">
            <a:extLst>
              <a:ext uri="{FF2B5EF4-FFF2-40B4-BE49-F238E27FC236}">
                <a16:creationId xmlns:a16="http://schemas.microsoft.com/office/drawing/2014/main" id="{711C98C0-37FC-4B3A-BDED-5402813FA191}"/>
              </a:ext>
            </a:extLst>
          </p:cNvPr>
          <p:cNvSpPr>
            <a:spLocks noChangeShapeType="1"/>
          </p:cNvSpPr>
          <p:nvPr>
            <p:custDataLst>
              <p:tags r:id="rId53"/>
            </p:custDataLst>
          </p:nvPr>
        </p:nvSpPr>
        <p:spPr bwMode="auto">
          <a:xfrm flipV="1">
            <a:off x="1143000" y="2514600"/>
            <a:ext cx="2743200"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1" name="Text Box 84">
            <a:extLst>
              <a:ext uri="{FF2B5EF4-FFF2-40B4-BE49-F238E27FC236}">
                <a16:creationId xmlns:a16="http://schemas.microsoft.com/office/drawing/2014/main" id="{1C7964E2-8864-4560-AB68-DAFDF047AA6C}"/>
              </a:ext>
            </a:extLst>
          </p:cNvPr>
          <p:cNvSpPr txBox="1">
            <a:spLocks noChangeArrowheads="1"/>
          </p:cNvSpPr>
          <p:nvPr>
            <p:custDataLst>
              <p:tags r:id="rId54"/>
            </p:custDataLst>
          </p:nvPr>
        </p:nvSpPr>
        <p:spPr bwMode="auto">
          <a:xfrm>
            <a:off x="6248400" y="3134281"/>
            <a:ext cx="12234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data array</a:t>
            </a:r>
          </a:p>
        </p:txBody>
      </p:sp>
      <p:sp>
        <p:nvSpPr>
          <p:cNvPr id="92" name="Text Box 84">
            <a:extLst>
              <a:ext uri="{FF2B5EF4-FFF2-40B4-BE49-F238E27FC236}">
                <a16:creationId xmlns:a16="http://schemas.microsoft.com/office/drawing/2014/main" id="{4371BB7E-FECE-4BCA-8358-7D72DFCA381C}"/>
              </a:ext>
            </a:extLst>
          </p:cNvPr>
          <p:cNvSpPr txBox="1">
            <a:spLocks noChangeArrowheads="1"/>
          </p:cNvSpPr>
          <p:nvPr>
            <p:custDataLst>
              <p:tags r:id="rId55"/>
            </p:custDataLst>
          </p:nvPr>
        </p:nvSpPr>
        <p:spPr bwMode="auto">
          <a:xfrm>
            <a:off x="3412902" y="3134281"/>
            <a:ext cx="109517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1800" dirty="0">
                <a:solidFill>
                  <a:schemeClr val="tx1"/>
                </a:solidFill>
                <a:latin typeface="Arial" panose="020B0604020202020204" pitchFamily="34" charset="0"/>
              </a:rPr>
              <a:t>tag array</a:t>
            </a:r>
          </a:p>
        </p:txBody>
      </p:sp>
      <p:sp>
        <p:nvSpPr>
          <p:cNvPr id="97" name="Text Box 7">
            <a:extLst>
              <a:ext uri="{FF2B5EF4-FFF2-40B4-BE49-F238E27FC236}">
                <a16:creationId xmlns:a16="http://schemas.microsoft.com/office/drawing/2014/main" id="{204AA918-A38B-4475-8DF9-8262E5C1D6BC}"/>
              </a:ext>
            </a:extLst>
          </p:cNvPr>
          <p:cNvSpPr txBox="1">
            <a:spLocks noChangeArrowheads="1"/>
          </p:cNvSpPr>
          <p:nvPr>
            <p:custDataLst>
              <p:tags r:id="rId56"/>
            </p:custDataLst>
          </p:nvPr>
        </p:nvSpPr>
        <p:spPr bwMode="auto">
          <a:xfrm>
            <a:off x="6858000" y="4648200"/>
            <a:ext cx="135325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spcBef>
                <a:spcPct val="0"/>
              </a:spcBef>
              <a:buClrTx/>
              <a:buFontTx/>
              <a:buNone/>
            </a:pPr>
            <a:r>
              <a:rPr lang="en-US" altLang="en-US" sz="2000" dirty="0">
                <a:solidFill>
                  <a:schemeClr val="tx1"/>
                </a:solidFill>
                <a:latin typeface="Arial" panose="020B0604020202020204" pitchFamily="34" charset="0"/>
              </a:rPr>
              <a:t>data block</a:t>
            </a:r>
          </a:p>
        </p:txBody>
      </p:sp>
      <p:sp>
        <p:nvSpPr>
          <p:cNvPr id="98" name="TextBox 97">
            <a:extLst>
              <a:ext uri="{FF2B5EF4-FFF2-40B4-BE49-F238E27FC236}">
                <a16:creationId xmlns:a16="http://schemas.microsoft.com/office/drawing/2014/main" id="{1F78E9C8-883A-4671-BC1A-99E067C82346}"/>
              </a:ext>
            </a:extLst>
          </p:cNvPr>
          <p:cNvSpPr txBox="1"/>
          <p:nvPr>
            <p:custDataLst>
              <p:tags r:id="rId57"/>
            </p:custDataLst>
          </p:nvPr>
        </p:nvSpPr>
        <p:spPr>
          <a:xfrm>
            <a:off x="4083653" y="2601497"/>
            <a:ext cx="1936147"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e.g., 0xA060BB70</a:t>
            </a:r>
          </a:p>
        </p:txBody>
      </p:sp>
      <p:sp>
        <p:nvSpPr>
          <p:cNvPr id="99" name="TextBox 98">
            <a:extLst>
              <a:ext uri="{FF2B5EF4-FFF2-40B4-BE49-F238E27FC236}">
                <a16:creationId xmlns:a16="http://schemas.microsoft.com/office/drawing/2014/main" id="{30F3A1D2-AB3E-4879-AF32-EB11A19FCCA3}"/>
              </a:ext>
            </a:extLst>
          </p:cNvPr>
          <p:cNvSpPr txBox="1"/>
          <p:nvPr>
            <p:custDataLst>
              <p:tags r:id="rId58"/>
            </p:custDataLst>
          </p:nvPr>
        </p:nvSpPr>
        <p:spPr>
          <a:xfrm>
            <a:off x="1111854" y="5590172"/>
            <a:ext cx="64074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0x30</a:t>
            </a:r>
          </a:p>
        </p:txBody>
      </p:sp>
      <p:sp>
        <p:nvSpPr>
          <p:cNvPr id="100" name="TextBox 99">
            <a:extLst>
              <a:ext uri="{FF2B5EF4-FFF2-40B4-BE49-F238E27FC236}">
                <a16:creationId xmlns:a16="http://schemas.microsoft.com/office/drawing/2014/main" id="{BCE87392-EA7E-4B36-8C24-E82461F0712E}"/>
              </a:ext>
            </a:extLst>
          </p:cNvPr>
          <p:cNvSpPr txBox="1"/>
          <p:nvPr>
            <p:custDataLst>
              <p:tags r:id="rId59"/>
            </p:custDataLst>
          </p:nvPr>
        </p:nvSpPr>
        <p:spPr>
          <a:xfrm>
            <a:off x="2308384" y="3757280"/>
            <a:ext cx="51101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0x1</a:t>
            </a:r>
          </a:p>
        </p:txBody>
      </p:sp>
      <p:sp>
        <p:nvSpPr>
          <p:cNvPr id="102" name="TextBox 101">
            <a:extLst>
              <a:ext uri="{FF2B5EF4-FFF2-40B4-BE49-F238E27FC236}">
                <a16:creationId xmlns:a16="http://schemas.microsoft.com/office/drawing/2014/main" id="{17AAA943-1195-4B8C-96C0-DBC4C7A78D42}"/>
              </a:ext>
            </a:extLst>
          </p:cNvPr>
          <p:cNvSpPr txBox="1"/>
          <p:nvPr>
            <p:custDataLst>
              <p:tags r:id="rId60"/>
            </p:custDataLst>
          </p:nvPr>
        </p:nvSpPr>
        <p:spPr>
          <a:xfrm>
            <a:off x="3328671" y="3790354"/>
            <a:ext cx="1212850" cy="307777"/>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0x1000F3</a:t>
            </a:r>
          </a:p>
        </p:txBody>
      </p:sp>
      <p:sp>
        <p:nvSpPr>
          <p:cNvPr id="107" name="TextBox 106">
            <a:extLst>
              <a:ext uri="{FF2B5EF4-FFF2-40B4-BE49-F238E27FC236}">
                <a16:creationId xmlns:a16="http://schemas.microsoft.com/office/drawing/2014/main" id="{93E49348-F78B-4C01-B38E-D520AA5E7D96}"/>
              </a:ext>
            </a:extLst>
          </p:cNvPr>
          <p:cNvSpPr txBox="1"/>
          <p:nvPr>
            <p:custDataLst>
              <p:tags r:id="rId61"/>
            </p:custDataLst>
          </p:nvPr>
        </p:nvSpPr>
        <p:spPr>
          <a:xfrm>
            <a:off x="3672535" y="5407611"/>
            <a:ext cx="640746" cy="338554"/>
          </a:xfrm>
          <a:prstGeom prst="rect">
            <a:avLst/>
          </a:prstGeom>
          <a:noFill/>
        </p:spPr>
        <p:txBody>
          <a:bodyPr wrap="square" rtlCol="0">
            <a:spAutoFit/>
          </a:bodyPr>
          <a:lstStyle/>
          <a:p>
            <a:pPr algn="ctr"/>
            <a:r>
              <a:rPr lang="en-US" sz="1600" b="1" dirty="0">
                <a:solidFill>
                  <a:schemeClr val="accent6">
                    <a:lumMod val="75000"/>
                  </a:schemeClr>
                </a:solidFill>
                <a:latin typeface="Calibri" panose="020F0502020204030204" pitchFamily="34" charset="0"/>
                <a:cs typeface="Calibri" panose="020F0502020204030204" pitchFamily="34" charset="0"/>
              </a:rPr>
              <a:t>MISS</a:t>
            </a:r>
          </a:p>
        </p:txBody>
      </p:sp>
      <p:grpSp>
        <p:nvGrpSpPr>
          <p:cNvPr id="85" name="Group 84">
            <a:extLst>
              <a:ext uri="{FF2B5EF4-FFF2-40B4-BE49-F238E27FC236}">
                <a16:creationId xmlns:a16="http://schemas.microsoft.com/office/drawing/2014/main" id="{E0779C4E-FB94-443A-8550-E66E7B9CE43E}"/>
              </a:ext>
            </a:extLst>
          </p:cNvPr>
          <p:cNvGrpSpPr/>
          <p:nvPr>
            <p:custDataLst>
              <p:tags r:id="rId62"/>
            </p:custDataLst>
          </p:nvPr>
        </p:nvGrpSpPr>
        <p:grpSpPr>
          <a:xfrm>
            <a:off x="3328671" y="3778250"/>
            <a:ext cx="4712268" cy="319881"/>
            <a:chOff x="3328671" y="3778250"/>
            <a:chExt cx="4712268" cy="319881"/>
          </a:xfrm>
        </p:grpSpPr>
        <p:sp>
          <p:nvSpPr>
            <p:cNvPr id="103" name="Rectangle 102">
              <a:extLst>
                <a:ext uri="{FF2B5EF4-FFF2-40B4-BE49-F238E27FC236}">
                  <a16:creationId xmlns:a16="http://schemas.microsoft.com/office/drawing/2014/main" id="{AAB218A7-52F3-4156-B451-681775E7539D}"/>
                </a:ext>
              </a:extLst>
            </p:cNvPr>
            <p:cNvSpPr>
              <a:spLocks noChangeArrowheads="1"/>
            </p:cNvSpPr>
            <p:nvPr>
              <p:custDataLst>
                <p:tags r:id="rId63"/>
              </p:custDataLst>
            </p:nvPr>
          </p:nvSpPr>
          <p:spPr bwMode="auto">
            <a:xfrm>
              <a:off x="5638799" y="3778250"/>
              <a:ext cx="2362191"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104" name="Rectangle 103">
              <a:extLst>
                <a:ext uri="{FF2B5EF4-FFF2-40B4-BE49-F238E27FC236}">
                  <a16:creationId xmlns:a16="http://schemas.microsoft.com/office/drawing/2014/main" id="{5D0C08DB-CCA3-4A41-A3B1-57E248E94830}"/>
                </a:ext>
              </a:extLst>
            </p:cNvPr>
            <p:cNvSpPr>
              <a:spLocks noChangeArrowheads="1"/>
            </p:cNvSpPr>
            <p:nvPr>
              <p:custDataLst>
                <p:tags r:id="rId64"/>
              </p:custDataLst>
            </p:nvPr>
          </p:nvSpPr>
          <p:spPr bwMode="auto">
            <a:xfrm>
              <a:off x="3352800" y="3778250"/>
              <a:ext cx="1188720" cy="304800"/>
            </a:xfrm>
            <a:prstGeom prst="rect">
              <a:avLst/>
            </a:prstGeom>
            <a:solidFill>
              <a:schemeClr val="accent6">
                <a:lumMod val="40000"/>
                <a:lumOff val="60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endParaRPr lang="en-US" altLang="en-US" sz="1200" b="1" dirty="0">
                <a:solidFill>
                  <a:srgbClr val="000000"/>
                </a:solidFill>
                <a:latin typeface="Arial" panose="020B0604020202020204" pitchFamily="34" charset="0"/>
              </a:endParaRPr>
            </a:p>
          </p:txBody>
        </p:sp>
        <p:sp>
          <p:nvSpPr>
            <p:cNvPr id="105" name="TextBox 104">
              <a:extLst>
                <a:ext uri="{FF2B5EF4-FFF2-40B4-BE49-F238E27FC236}">
                  <a16:creationId xmlns:a16="http://schemas.microsoft.com/office/drawing/2014/main" id="{9331250B-B10E-4371-AB67-CE786BD7812A}"/>
                </a:ext>
              </a:extLst>
            </p:cNvPr>
            <p:cNvSpPr txBox="1"/>
            <p:nvPr>
              <p:custDataLst>
                <p:tags r:id="rId65"/>
              </p:custDataLst>
            </p:nvPr>
          </p:nvSpPr>
          <p:spPr>
            <a:xfrm>
              <a:off x="5602540" y="3781723"/>
              <a:ext cx="2438399" cy="307777"/>
            </a:xfrm>
            <a:prstGeom prst="rect">
              <a:avLst/>
            </a:prstGeom>
            <a:noFill/>
            <a:ln/>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(0xA060BB40 – 0xA060BB7F)</a:t>
              </a:r>
            </a:p>
          </p:txBody>
        </p:sp>
        <p:sp>
          <p:nvSpPr>
            <p:cNvPr id="106" name="TextBox 105">
              <a:extLst>
                <a:ext uri="{FF2B5EF4-FFF2-40B4-BE49-F238E27FC236}">
                  <a16:creationId xmlns:a16="http://schemas.microsoft.com/office/drawing/2014/main" id="{20962D03-24A3-411C-8399-C4B9102C02B9}"/>
                </a:ext>
              </a:extLst>
            </p:cNvPr>
            <p:cNvSpPr txBox="1"/>
            <p:nvPr>
              <p:custDataLst>
                <p:tags r:id="rId66"/>
              </p:custDataLst>
            </p:nvPr>
          </p:nvSpPr>
          <p:spPr>
            <a:xfrm>
              <a:off x="3328671" y="3790354"/>
              <a:ext cx="1212850" cy="307777"/>
            </a:xfrm>
            <a:prstGeom prst="rect">
              <a:avLst/>
            </a:prstGeom>
            <a:noFill/>
            <a:ln/>
          </p:spPr>
          <p:txBody>
            <a:bodyPr wrap="square" rtlCol="0">
              <a:spAutoFit/>
            </a:bodyPr>
            <a:lstStyle/>
            <a:p>
              <a:pPr algn="ctr"/>
              <a:r>
                <a:rPr lang="en-US" sz="1400" b="1" dirty="0">
                  <a:solidFill>
                    <a:schemeClr val="accent6">
                      <a:lumMod val="75000"/>
                    </a:schemeClr>
                  </a:solidFill>
                  <a:latin typeface="Calibri" panose="020F0502020204030204" pitchFamily="34" charset="0"/>
                  <a:cs typeface="Calibri" panose="020F0502020204030204" pitchFamily="34" charset="0"/>
                </a:rPr>
                <a:t>0xA060BB</a:t>
              </a:r>
            </a:p>
          </p:txBody>
        </p:sp>
      </p:grpSp>
    </p:spTree>
    <p:custDataLst>
      <p:tags r:id="rId1"/>
    </p:custDataLst>
    <p:extLst>
      <p:ext uri="{BB962C8B-B14F-4D97-AF65-F5344CB8AC3E}">
        <p14:creationId xmlns:p14="http://schemas.microsoft.com/office/powerpoint/2010/main" val="161257803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9" grpId="0"/>
      <p:bldP spid="100" grpId="0"/>
      <p:bldP spid="10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Caches – Write Policy</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37</a:t>
            </a:fld>
            <a:endParaRPr lang="en-US" altLang="en-US"/>
          </a:p>
        </p:txBody>
      </p:sp>
      <p:sp>
        <p:nvSpPr>
          <p:cNvPr id="5" name="TextBox 4">
            <a:extLst>
              <a:ext uri="{FF2B5EF4-FFF2-40B4-BE49-F238E27FC236}">
                <a16:creationId xmlns:a16="http://schemas.microsoft.com/office/drawing/2014/main" id="{8E65AECA-23C4-4F28-A9E8-CD46DE560E68}"/>
              </a:ext>
            </a:extLst>
          </p:cNvPr>
          <p:cNvSpPr txBox="1"/>
          <p:nvPr>
            <p:custDataLst>
              <p:tags r:id="rId4"/>
            </p:custDataLst>
          </p:nvPr>
        </p:nvSpPr>
        <p:spPr>
          <a:xfrm>
            <a:off x="526930" y="1414732"/>
            <a:ext cx="8464670" cy="5037826"/>
          </a:xfrm>
          <a:prstGeom prst="rect">
            <a:avLst/>
          </a:prstGeom>
          <a:noFill/>
        </p:spPr>
        <p:txBody>
          <a:bodyPr wrap="square" rtlCol="0" anchor="t">
            <a:noAutofit/>
          </a:bodyPr>
          <a:lstStyle/>
          <a:p>
            <a:r>
              <a:rPr lang="en-US" sz="2800" dirty="0">
                <a:latin typeface="+mn-lt"/>
              </a:rPr>
              <a:t>Since multiple copies of a block can exist in the memory hierarchy, correctly propagate any modified values to the next level.</a:t>
            </a:r>
          </a:p>
          <a:p>
            <a:endParaRPr lang="en-US" sz="2800" b="1" dirty="0">
              <a:latin typeface="+mn-lt"/>
            </a:endParaRPr>
          </a:p>
          <a:p>
            <a:r>
              <a:rPr lang="en-US" sz="2400" b="1" dirty="0">
                <a:latin typeface="+mn-lt"/>
              </a:rPr>
              <a:t>Write-Allocate: </a:t>
            </a:r>
            <a:r>
              <a:rPr lang="en-US" sz="2400" dirty="0">
                <a:latin typeface="+mn-lt"/>
              </a:rPr>
              <a:t>Upon a store, insert the block (and its modifications) in the cache.</a:t>
            </a:r>
          </a:p>
          <a:p>
            <a:r>
              <a:rPr lang="en-US" sz="2400" b="1" dirty="0">
                <a:latin typeface="+mn-lt"/>
              </a:rPr>
              <a:t>Write-No-Allocate: </a:t>
            </a:r>
            <a:r>
              <a:rPr lang="en-US" sz="2400" dirty="0">
                <a:latin typeface="+mn-lt"/>
              </a:rPr>
              <a:t>Upon a store, don’t occupy cache space for the block.</a:t>
            </a:r>
          </a:p>
          <a:p>
            <a:endParaRPr lang="en-US" sz="2400" b="1" dirty="0">
              <a:latin typeface="+mn-lt"/>
            </a:endParaRPr>
          </a:p>
          <a:p>
            <a:r>
              <a:rPr lang="en-US" sz="2400" b="1" dirty="0">
                <a:latin typeface="+mn-lt"/>
              </a:rPr>
              <a:t>Write-Through: </a:t>
            </a:r>
            <a:r>
              <a:rPr lang="en-US" sz="2400" dirty="0">
                <a:latin typeface="+mn-lt"/>
              </a:rPr>
              <a:t>Propagate modifications directly to the next level on every store (typically with write-no-allocate).</a:t>
            </a:r>
          </a:p>
          <a:p>
            <a:r>
              <a:rPr lang="en-US" sz="2400" b="1" dirty="0">
                <a:latin typeface="+mn-lt"/>
              </a:rPr>
              <a:t>Write-Back: </a:t>
            </a:r>
            <a:r>
              <a:rPr lang="en-US" sz="2400" dirty="0">
                <a:latin typeface="+mn-lt"/>
              </a:rPr>
              <a:t>Propagate modifications to the next level on eviction (typically with write-allocate). Requires </a:t>
            </a:r>
            <a:r>
              <a:rPr lang="en-US" sz="2400" i="1" dirty="0">
                <a:latin typeface="+mn-lt"/>
              </a:rPr>
              <a:t>dirty</a:t>
            </a:r>
            <a:r>
              <a:rPr lang="en-US" sz="2400" dirty="0">
                <a:latin typeface="+mn-lt"/>
              </a:rPr>
              <a:t> (i.e., modified) bit.</a:t>
            </a:r>
          </a:p>
        </p:txBody>
      </p:sp>
    </p:spTree>
    <p:custDataLst>
      <p:tags r:id="rId1"/>
    </p:custDataLst>
    <p:extLst>
      <p:ext uri="{BB962C8B-B14F-4D97-AF65-F5344CB8AC3E}">
        <p14:creationId xmlns:p14="http://schemas.microsoft.com/office/powerpoint/2010/main" val="14928119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4">
            <a:extLst>
              <a:ext uri="{FF2B5EF4-FFF2-40B4-BE49-F238E27FC236}">
                <a16:creationId xmlns:a16="http://schemas.microsoft.com/office/drawing/2014/main" id="{C8F3FFF1-76F7-4A36-81AC-32AB610276F2}"/>
              </a:ext>
            </a:extLst>
          </p:cNvPr>
          <p:cNvGraphicFramePr>
            <a:graphicFrameLocks noGrp="1"/>
          </p:cNvGraphicFramePr>
          <p:nvPr>
            <p:custDataLst>
              <p:tags r:id="rId2"/>
            </p:custDataLst>
          </p:nvPr>
        </p:nvGraphicFramePr>
        <p:xfrm>
          <a:off x="609600" y="2935496"/>
          <a:ext cx="7971850" cy="3687838"/>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1" i="0" u="none" strike="noStrike" cap="none" normalizeH="0" baseline="0">
                        <a:ln>
                          <a:noFill/>
                        </a:ln>
                        <a:solidFill>
                          <a:srgbClr val="FF0909"/>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0110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a:t>
                      </a:r>
                      <a:r>
                        <a:rPr kumimoji="0" lang="en-US" sz="1600" b="0" i="0" u="none" strike="noStrike" cap="none" normalizeH="0" baseline="0">
                          <a:ln>
                            <a:noFill/>
                          </a:ln>
                          <a:solidFill>
                            <a:srgbClr val="000000"/>
                          </a:solidFill>
                          <a:effectLst/>
                          <a:latin typeface="Tahoma" pitchFamily="31" charset="0"/>
                          <a:ea typeface="ＭＳ Ｐゴシック" pitchFamily="31" charset="-128"/>
                        </a:rPr>
                        <a:t>1010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0100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1000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1010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0030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dirty="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10"/>
                  </a:ext>
                </a:extLst>
              </a:tr>
            </a:tbl>
          </a:graphicData>
        </a:graphic>
      </p:graphicFrame>
      <p:graphicFrame>
        <p:nvGraphicFramePr>
          <p:cNvPr id="19" name="Group 4">
            <a:extLst>
              <a:ext uri="{FF2B5EF4-FFF2-40B4-BE49-F238E27FC236}">
                <a16:creationId xmlns:a16="http://schemas.microsoft.com/office/drawing/2014/main" id="{E17B8C18-A38C-4DA3-AD3F-B24E92926716}"/>
              </a:ext>
            </a:extLst>
          </p:cNvPr>
          <p:cNvGraphicFramePr>
            <a:graphicFrameLocks noGrp="1"/>
          </p:cNvGraphicFramePr>
          <p:nvPr>
            <p:custDataLst>
              <p:tags r:id="rId3"/>
            </p:custDataLst>
            <p:extLst>
              <p:ext uri="{D42A27DB-BD31-4B8C-83A1-F6EECF244321}">
                <p14:modId xmlns:p14="http://schemas.microsoft.com/office/powerpoint/2010/main" val="66668279"/>
              </p:ext>
            </p:extLst>
          </p:nvPr>
        </p:nvGraphicFramePr>
        <p:xfrm>
          <a:off x="609600" y="2935496"/>
          <a:ext cx="7971850" cy="3352580"/>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1" i="0" u="none" strike="noStrike" cap="none" normalizeH="0" baseline="0">
                        <a:ln>
                          <a:noFill/>
                        </a:ln>
                        <a:solidFill>
                          <a:srgbClr val="FF0909"/>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0110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a:t>
                      </a:r>
                      <a:r>
                        <a:rPr kumimoji="0" lang="en-US" sz="1600" b="0" i="0" u="none" strike="noStrike" cap="none" normalizeH="0" baseline="0">
                          <a:ln>
                            <a:noFill/>
                          </a:ln>
                          <a:solidFill>
                            <a:srgbClr val="000000"/>
                          </a:solidFill>
                          <a:effectLst/>
                          <a:latin typeface="Tahoma" pitchFamily="31" charset="0"/>
                          <a:ea typeface="ＭＳ Ｐゴシック" pitchFamily="31" charset="-128"/>
                        </a:rPr>
                        <a:t>1010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0100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9"/>
                  </a:ext>
                </a:extLst>
              </a:tr>
            </a:tbl>
          </a:graphicData>
        </a:graphic>
      </p:graphicFrame>
      <p:graphicFrame>
        <p:nvGraphicFramePr>
          <p:cNvPr id="20" name="Group 4">
            <a:extLst>
              <a:ext uri="{FF2B5EF4-FFF2-40B4-BE49-F238E27FC236}">
                <a16:creationId xmlns:a16="http://schemas.microsoft.com/office/drawing/2014/main" id="{328A13F6-7F4D-45A2-A4D1-EEA8D7DD50EE}"/>
              </a:ext>
            </a:extLst>
          </p:cNvPr>
          <p:cNvGraphicFramePr>
            <a:graphicFrameLocks noGrp="1"/>
          </p:cNvGraphicFramePr>
          <p:nvPr>
            <p:custDataLst>
              <p:tags r:id="rId4"/>
            </p:custDataLst>
            <p:extLst>
              <p:ext uri="{D42A27DB-BD31-4B8C-83A1-F6EECF244321}">
                <p14:modId xmlns:p14="http://schemas.microsoft.com/office/powerpoint/2010/main" val="3629963545"/>
              </p:ext>
            </p:extLst>
          </p:nvPr>
        </p:nvGraphicFramePr>
        <p:xfrm>
          <a:off x="609600" y="2935496"/>
          <a:ext cx="7971850" cy="3017322"/>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1" i="0" u="none" strike="noStrike" cap="none" normalizeH="0" baseline="0">
                        <a:ln>
                          <a:noFill/>
                        </a:ln>
                        <a:solidFill>
                          <a:srgbClr val="FF0909"/>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0110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8"/>
                  </a:ext>
                </a:extLst>
              </a:tr>
            </a:tbl>
          </a:graphicData>
        </a:graphic>
      </p:graphicFrame>
      <p:graphicFrame>
        <p:nvGraphicFramePr>
          <p:cNvPr id="21" name="Group 4">
            <a:extLst>
              <a:ext uri="{FF2B5EF4-FFF2-40B4-BE49-F238E27FC236}">
                <a16:creationId xmlns:a16="http://schemas.microsoft.com/office/drawing/2014/main" id="{38B39DF3-2ED1-4A40-AD49-B6FFDEEAAE27}"/>
              </a:ext>
            </a:extLst>
          </p:cNvPr>
          <p:cNvGraphicFramePr>
            <a:graphicFrameLocks noGrp="1"/>
          </p:cNvGraphicFramePr>
          <p:nvPr>
            <p:custDataLst>
              <p:tags r:id="rId5"/>
            </p:custDataLst>
            <p:extLst>
              <p:ext uri="{D42A27DB-BD31-4B8C-83A1-F6EECF244321}">
                <p14:modId xmlns:p14="http://schemas.microsoft.com/office/powerpoint/2010/main" val="3099470215"/>
              </p:ext>
            </p:extLst>
          </p:nvPr>
        </p:nvGraphicFramePr>
        <p:xfrm>
          <a:off x="609600" y="2935496"/>
          <a:ext cx="7971850" cy="2682064"/>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1" i="0" u="none" strike="noStrike" cap="none" normalizeH="0" baseline="0">
                        <a:ln>
                          <a:noFill/>
                        </a:ln>
                        <a:solidFill>
                          <a:srgbClr val="FF0909"/>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0030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0110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7"/>
                  </a:ext>
                </a:extLst>
              </a:tr>
            </a:tbl>
          </a:graphicData>
        </a:graphic>
      </p:graphicFrame>
      <p:graphicFrame>
        <p:nvGraphicFramePr>
          <p:cNvPr id="22" name="Group 4">
            <a:extLst>
              <a:ext uri="{FF2B5EF4-FFF2-40B4-BE49-F238E27FC236}">
                <a16:creationId xmlns:a16="http://schemas.microsoft.com/office/drawing/2014/main" id="{69A55473-267A-481B-91C6-80242D63BF35}"/>
              </a:ext>
            </a:extLst>
          </p:cNvPr>
          <p:cNvGraphicFramePr>
            <a:graphicFrameLocks noGrp="1"/>
          </p:cNvGraphicFramePr>
          <p:nvPr>
            <p:custDataLst>
              <p:tags r:id="rId6"/>
            </p:custDataLst>
            <p:extLst>
              <p:ext uri="{D42A27DB-BD31-4B8C-83A1-F6EECF244321}">
                <p14:modId xmlns:p14="http://schemas.microsoft.com/office/powerpoint/2010/main" val="294688455"/>
              </p:ext>
            </p:extLst>
          </p:nvPr>
        </p:nvGraphicFramePr>
        <p:xfrm>
          <a:off x="609600" y="2935496"/>
          <a:ext cx="7971850" cy="2346806"/>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1" i="0" u="none" strike="noStrike" cap="none" normalizeH="0" baseline="0">
                        <a:ln>
                          <a:noFill/>
                        </a:ln>
                        <a:solidFill>
                          <a:srgbClr val="FF0909"/>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dirty="0">
                          <a:ln>
                            <a:noFill/>
                          </a:ln>
                          <a:solidFill>
                            <a:srgbClr val="FF0909"/>
                          </a:solidFill>
                          <a:effectLst/>
                          <a:latin typeface="Tahoma" pitchFamily="31" charset="0"/>
                          <a:ea typeface="ＭＳ Ｐゴシック" pitchFamily="31" charset="-128"/>
                        </a:rPr>
                        <a:t>0020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dirty="0">
                          <a:ln>
                            <a:noFill/>
                          </a:ln>
                          <a:solidFill>
                            <a:srgbClr val="000000"/>
                          </a:solidFill>
                          <a:effectLst/>
                          <a:latin typeface="Tahoma" pitchFamily="31" charset="0"/>
                          <a:ea typeface="ＭＳ Ｐゴシック" pitchFamily="31" charset="-128"/>
                        </a:rPr>
                        <a:t>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graphicFrame>
        <p:nvGraphicFramePr>
          <p:cNvPr id="23" name="Group 4">
            <a:extLst>
              <a:ext uri="{FF2B5EF4-FFF2-40B4-BE49-F238E27FC236}">
                <a16:creationId xmlns:a16="http://schemas.microsoft.com/office/drawing/2014/main" id="{C7CEDAC7-F2C8-44B9-BB53-8D41787EF59B}"/>
              </a:ext>
            </a:extLst>
          </p:cNvPr>
          <p:cNvGraphicFramePr>
            <a:graphicFrameLocks noGrp="1"/>
          </p:cNvGraphicFramePr>
          <p:nvPr>
            <p:custDataLst>
              <p:tags r:id="rId7"/>
            </p:custDataLst>
            <p:extLst>
              <p:ext uri="{D42A27DB-BD31-4B8C-83A1-F6EECF244321}">
                <p14:modId xmlns:p14="http://schemas.microsoft.com/office/powerpoint/2010/main" val="2925329421"/>
              </p:ext>
            </p:extLst>
          </p:nvPr>
        </p:nvGraphicFramePr>
        <p:xfrm>
          <a:off x="609600" y="2935496"/>
          <a:ext cx="7971850" cy="2011548"/>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2100,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1" i="0" u="none" strike="noStrike" cap="none" normalizeH="0" baseline="0">
                        <a:ln>
                          <a:noFill/>
                        </a:ln>
                        <a:solidFill>
                          <a:srgbClr val="FF0909"/>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graphicFrame>
        <p:nvGraphicFramePr>
          <p:cNvPr id="24" name="Group 4">
            <a:extLst>
              <a:ext uri="{FF2B5EF4-FFF2-40B4-BE49-F238E27FC236}">
                <a16:creationId xmlns:a16="http://schemas.microsoft.com/office/drawing/2014/main" id="{FB6C4DB4-E4DF-4507-8F31-5D2914B42470}"/>
              </a:ext>
            </a:extLst>
          </p:cNvPr>
          <p:cNvGraphicFramePr>
            <a:graphicFrameLocks noGrp="1"/>
          </p:cNvGraphicFramePr>
          <p:nvPr>
            <p:custDataLst>
              <p:tags r:id="rId8"/>
            </p:custDataLst>
            <p:extLst>
              <p:ext uri="{D42A27DB-BD31-4B8C-83A1-F6EECF244321}">
                <p14:modId xmlns:p14="http://schemas.microsoft.com/office/powerpoint/2010/main" val="2352209188"/>
              </p:ext>
            </p:extLst>
          </p:nvPr>
        </p:nvGraphicFramePr>
        <p:xfrm>
          <a:off x="609600" y="2935496"/>
          <a:ext cx="7971850" cy="1676290"/>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2100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0110, 0120, </a:t>
                      </a:r>
                      <a:r>
                        <a:rPr kumimoji="0" lang="en-US" sz="1600" b="0" i="0" u="none" strike="noStrike" cap="none" normalizeH="0" baseline="0">
                          <a:ln>
                            <a:noFill/>
                          </a:ln>
                          <a:solidFill>
                            <a:srgbClr val="000000"/>
                          </a:solidFill>
                          <a:effectLst/>
                          <a:latin typeface="Tahoma" pitchFamily="31" charset="0"/>
                          <a:ea typeface="ＭＳ Ｐゴシック" pitchFamily="31" charset="-128"/>
                        </a:rPr>
                        <a:t>0130</a:t>
                      </a:r>
                      <a:endParaRPr kumimoji="0" lang="en-US" sz="1600" b="0" i="0" u="none" strike="noStrike" cap="none" normalizeH="0" baseline="0">
                        <a:ln>
                          <a:noFill/>
                        </a:ln>
                        <a:solidFill>
                          <a:srgbClr val="030305"/>
                        </a:solidFill>
                        <a:effectLst/>
                        <a:latin typeface="Tahoma" pitchFamily="31" charset="0"/>
                        <a:ea typeface="ＭＳ Ｐゴシック" pitchFamily="31" charset="-128"/>
                      </a:endParaRP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0012</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Hit</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aphicFrame>
        <p:nvGraphicFramePr>
          <p:cNvPr id="25" name="Group 4">
            <a:extLst>
              <a:ext uri="{FF2B5EF4-FFF2-40B4-BE49-F238E27FC236}">
                <a16:creationId xmlns:a16="http://schemas.microsoft.com/office/drawing/2014/main" id="{76C326D0-B2F0-4C4D-B1FD-7D1C6E5FAA8A}"/>
              </a:ext>
            </a:extLst>
          </p:cNvPr>
          <p:cNvGraphicFramePr>
            <a:graphicFrameLocks noGrp="1"/>
          </p:cNvGraphicFramePr>
          <p:nvPr>
            <p:custDataLst>
              <p:tags r:id="rId9"/>
            </p:custDataLst>
            <p:extLst>
              <p:ext uri="{D42A27DB-BD31-4B8C-83A1-F6EECF244321}">
                <p14:modId xmlns:p14="http://schemas.microsoft.com/office/powerpoint/2010/main" val="4244685760"/>
              </p:ext>
            </p:extLst>
          </p:nvPr>
        </p:nvGraphicFramePr>
        <p:xfrm>
          <a:off x="609600" y="2935496"/>
          <a:ext cx="7971850" cy="1341032"/>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0" i="0" u="none" strike="noStrike" cap="none" normalizeH="0" baseline="0">
                          <a:ln>
                            <a:noFill/>
                          </a:ln>
                          <a:solidFill>
                            <a:srgbClr val="000000"/>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3030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2100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26" name="Group 4">
            <a:extLst>
              <a:ext uri="{FF2B5EF4-FFF2-40B4-BE49-F238E27FC236}">
                <a16:creationId xmlns:a16="http://schemas.microsoft.com/office/drawing/2014/main" id="{5D66EF49-7ECF-4D87-949C-8F3EB0051955}"/>
              </a:ext>
            </a:extLst>
          </p:cNvPr>
          <p:cNvGraphicFramePr>
            <a:graphicFrameLocks noGrp="1"/>
          </p:cNvGraphicFramePr>
          <p:nvPr>
            <p:custDataLst>
              <p:tags r:id="rId10"/>
            </p:custDataLst>
            <p:extLst>
              <p:ext uri="{D42A27DB-BD31-4B8C-83A1-F6EECF244321}">
                <p14:modId xmlns:p14="http://schemas.microsoft.com/office/powerpoint/2010/main" val="1921312114"/>
              </p:ext>
            </p:extLst>
          </p:nvPr>
        </p:nvGraphicFramePr>
        <p:xfrm>
          <a:off x="609600" y="2935496"/>
          <a:ext cx="7971850" cy="1005774"/>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a:t>
                      </a:r>
                      <a:r>
                        <a:rPr kumimoji="0" lang="en-US" sz="1600" b="1" i="0" u="none" strike="noStrike" cap="none" normalizeH="0" baseline="0">
                          <a:ln>
                            <a:noFill/>
                          </a:ln>
                          <a:solidFill>
                            <a:srgbClr val="FF0909"/>
                          </a:solidFill>
                          <a:effectLst/>
                          <a:latin typeface="Tahoma" pitchFamily="31" charset="0"/>
                          <a:ea typeface="ＭＳ Ｐゴシック" pitchFamily="31" charset="-128"/>
                        </a:rPr>
                        <a:t>3020</a:t>
                      </a:r>
                      <a:r>
                        <a:rPr kumimoji="0" lang="en-US" sz="1600" b="0" i="0" u="none" strike="noStrike" cap="none" normalizeH="0" baseline="0">
                          <a:ln>
                            <a:noFill/>
                          </a:ln>
                          <a:solidFill>
                            <a:srgbClr val="030305"/>
                          </a:solidFill>
                          <a:effectLst/>
                          <a:latin typeface="Tahoma" pitchFamily="31" charset="0"/>
                          <a:ea typeface="ＭＳ Ｐゴシック" pitchFamily="31" charset="-128"/>
                        </a:rPr>
                        <a:t>,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3030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graphicFrame>
        <p:nvGraphicFramePr>
          <p:cNvPr id="27" name="Group 4">
            <a:extLst>
              <a:ext uri="{FF2B5EF4-FFF2-40B4-BE49-F238E27FC236}">
                <a16:creationId xmlns:a16="http://schemas.microsoft.com/office/drawing/2014/main" id="{D08AA685-6318-4108-80D0-A6BAF2A8A2D5}"/>
              </a:ext>
            </a:extLst>
          </p:cNvPr>
          <p:cNvGraphicFramePr>
            <a:graphicFrameLocks noGrp="1"/>
          </p:cNvGraphicFramePr>
          <p:nvPr>
            <p:custDataLst>
              <p:tags r:id="rId11"/>
            </p:custDataLst>
            <p:extLst>
              <p:ext uri="{D42A27DB-BD31-4B8C-83A1-F6EECF244321}">
                <p14:modId xmlns:p14="http://schemas.microsoft.com/office/powerpoint/2010/main" val="3745684065"/>
              </p:ext>
            </p:extLst>
          </p:nvPr>
        </p:nvGraphicFramePr>
        <p:xfrm>
          <a:off x="609600" y="2935496"/>
          <a:ext cx="7971850" cy="670516"/>
        </p:xfrm>
        <a:graphic>
          <a:graphicData uri="http://schemas.openxmlformats.org/drawingml/2006/table">
            <a:tbl>
              <a:tblPr/>
              <a:tblGrid>
                <a:gridCol w="5326839">
                  <a:extLst>
                    <a:ext uri="{9D8B030D-6E8A-4147-A177-3AD203B41FA5}">
                      <a16:colId xmlns:a16="http://schemas.microsoft.com/office/drawing/2014/main" val="20000"/>
                    </a:ext>
                  </a:extLst>
                </a:gridCol>
                <a:gridCol w="1362395">
                  <a:extLst>
                    <a:ext uri="{9D8B030D-6E8A-4147-A177-3AD203B41FA5}">
                      <a16:colId xmlns:a16="http://schemas.microsoft.com/office/drawing/2014/main" val="20001"/>
                    </a:ext>
                  </a:extLst>
                </a:gridCol>
                <a:gridCol w="1282616">
                  <a:extLst>
                    <a:ext uri="{9D8B030D-6E8A-4147-A177-3AD203B41FA5}">
                      <a16:colId xmlns:a16="http://schemas.microsoft.com/office/drawing/2014/main" val="20002"/>
                    </a:ext>
                  </a:extLst>
                </a:gridCol>
              </a:tblGrid>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Cache Contents (index 0 -&gt; index 7)</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Request</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1" i="0" u="none" strike="noStrike" cap="none" normalizeH="0" baseline="0" dirty="0">
                          <a:ln>
                            <a:noFill/>
                          </a:ln>
                          <a:solidFill>
                            <a:srgbClr val="030305"/>
                          </a:solidFill>
                          <a:effectLst/>
                          <a:latin typeface="Tahoma" pitchFamily="31" charset="0"/>
                          <a:ea typeface="ＭＳ Ｐゴシック" pitchFamily="31" charset="-128"/>
                        </a:rPr>
                        <a:t>Outcome</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35251">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a:ln>
                            <a:noFill/>
                          </a:ln>
                          <a:solidFill>
                            <a:srgbClr val="030305"/>
                          </a:solidFill>
                          <a:effectLst/>
                          <a:latin typeface="Tahoma" pitchFamily="31" charset="0"/>
                          <a:ea typeface="ＭＳ Ｐゴシック" pitchFamily="31" charset="-128"/>
                        </a:rPr>
                        <a:t>0000, 0010, 0020, 0030, 0100, 0110, 0120, 0130</a:t>
                      </a:r>
                    </a:p>
                  </a:txBody>
                  <a:tcPr marT="45709" marB="45709"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3020</a:t>
                      </a:r>
                    </a:p>
                  </a:txBody>
                  <a:tcPr marT="45709" marB="45709"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00000"/>
                        </a:lnSpc>
                        <a:spcBef>
                          <a:spcPct val="20000"/>
                        </a:spcBef>
                        <a:spcAft>
                          <a:spcPct val="0"/>
                        </a:spcAft>
                        <a:buClr>
                          <a:srgbClr val="030305"/>
                        </a:buClr>
                        <a:buSzTx/>
                        <a:buFontTx/>
                        <a:buNone/>
                        <a:tabLst/>
                      </a:pPr>
                      <a:r>
                        <a:rPr kumimoji="0" lang="en-US" sz="1600" b="0" i="0" u="none" strike="noStrike" cap="none" normalizeH="0" baseline="0" dirty="0">
                          <a:ln>
                            <a:noFill/>
                          </a:ln>
                          <a:solidFill>
                            <a:srgbClr val="030305"/>
                          </a:solidFill>
                          <a:effectLst/>
                          <a:latin typeface="Tahoma" pitchFamily="31" charset="0"/>
                          <a:ea typeface="ＭＳ Ｐゴシック" pitchFamily="31" charset="-128"/>
                        </a:rPr>
                        <a:t>Miss</a:t>
                      </a:r>
                    </a:p>
                  </a:txBody>
                  <a:tcPr marT="45709" marB="45709"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39940" name="Rectangle 2"/>
          <p:cNvSpPr>
            <a:spLocks noGrp="1" noChangeArrowheads="1"/>
          </p:cNvSpPr>
          <p:nvPr>
            <p:ph type="title"/>
            <p:custDataLst>
              <p:tags r:id="rId12"/>
            </p:custDataLst>
          </p:nvPr>
        </p:nvSpPr>
        <p:spPr>
          <a:xfrm>
            <a:off x="457200" y="274638"/>
            <a:ext cx="7467600" cy="1143000"/>
          </a:xfrm>
        </p:spPr>
        <p:txBody>
          <a:bodyPr/>
          <a:lstStyle/>
          <a:p>
            <a:r>
              <a:rPr lang="en-US" altLang="en-US" dirty="0"/>
              <a:t>Caches – Example</a:t>
            </a:r>
          </a:p>
        </p:txBody>
      </p:sp>
      <p:sp>
        <p:nvSpPr>
          <p:cNvPr id="39939" name="Slide Number Placeholder 5"/>
          <p:cNvSpPr>
            <a:spLocks noGrp="1"/>
          </p:cNvSpPr>
          <p:nvPr>
            <p:ph type="sldNum" sz="quarter" idx="12"/>
            <p:custDataLst>
              <p:tags r:id="rId1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38</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14"/>
            </p:custDataLst>
          </p:nvPr>
        </p:nvSpPr>
        <p:spPr>
          <a:xfrm>
            <a:off x="457200" y="1600201"/>
            <a:ext cx="8534400" cy="1371600"/>
          </a:xfrm>
        </p:spPr>
        <p:txBody>
          <a:bodyPr/>
          <a:lstStyle/>
          <a:p>
            <a:pPr eaLnBrk="1" hangingPunct="1">
              <a:lnSpc>
                <a:spcPct val="80000"/>
              </a:lnSpc>
            </a:pPr>
            <a:r>
              <a:rPr lang="en-US" altLang="en-US" dirty="0"/>
              <a:t>e.g., Given 8-bit memory addresses, 32B cache with 4B blocks</a:t>
            </a:r>
          </a:p>
          <a:p>
            <a:pPr lvl="1" eaLnBrk="1" hangingPunct="1">
              <a:lnSpc>
                <a:spcPct val="80000"/>
              </a:lnSpc>
            </a:pPr>
            <a:r>
              <a:rPr lang="en-US" altLang="en-US" dirty="0"/>
              <a:t>Memory addresses shown in base 4</a:t>
            </a:r>
          </a:p>
        </p:txBody>
      </p:sp>
      <p:sp>
        <p:nvSpPr>
          <p:cNvPr id="7" name="Rectangle 54">
            <a:extLst>
              <a:ext uri="{FF2B5EF4-FFF2-40B4-BE49-F238E27FC236}">
                <a16:creationId xmlns:a16="http://schemas.microsoft.com/office/drawing/2014/main" id="{0647FCB1-DCFF-4327-BD38-D3D5C2235B64}"/>
              </a:ext>
            </a:extLst>
          </p:cNvPr>
          <p:cNvSpPr>
            <a:spLocks noChangeArrowheads="1"/>
          </p:cNvSpPr>
          <p:nvPr>
            <p:custDataLst>
              <p:tags r:id="rId15"/>
            </p:custDataLst>
          </p:nvPr>
        </p:nvSpPr>
        <p:spPr bwMode="auto">
          <a:xfrm>
            <a:off x="7923213" y="2057400"/>
            <a:ext cx="687387"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400" dirty="0">
                <a:solidFill>
                  <a:srgbClr val="000000"/>
                </a:solidFill>
                <a:latin typeface="Arial" panose="020B0604020202020204" pitchFamily="34" charset="0"/>
              </a:rPr>
              <a:t>2 bits</a:t>
            </a:r>
          </a:p>
        </p:txBody>
      </p:sp>
      <p:sp>
        <p:nvSpPr>
          <p:cNvPr id="8" name="Rectangle 55">
            <a:extLst>
              <a:ext uri="{FF2B5EF4-FFF2-40B4-BE49-F238E27FC236}">
                <a16:creationId xmlns:a16="http://schemas.microsoft.com/office/drawing/2014/main" id="{A7857E32-DBCE-45BC-A3C1-C05BE41A3926}"/>
              </a:ext>
            </a:extLst>
          </p:cNvPr>
          <p:cNvSpPr>
            <a:spLocks noChangeArrowheads="1"/>
          </p:cNvSpPr>
          <p:nvPr>
            <p:custDataLst>
              <p:tags r:id="rId16"/>
            </p:custDataLst>
          </p:nvPr>
        </p:nvSpPr>
        <p:spPr bwMode="auto">
          <a:xfrm>
            <a:off x="3733800" y="2057400"/>
            <a:ext cx="2665413"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400" b="1">
                <a:solidFill>
                  <a:srgbClr val="000000"/>
                </a:solidFill>
                <a:latin typeface="Arial" panose="020B0604020202020204" pitchFamily="34" charset="0"/>
              </a:rPr>
              <a:t>tag</a:t>
            </a:r>
            <a:r>
              <a:rPr lang="en-US" altLang="en-US" sz="1400" b="1">
                <a:solidFill>
                  <a:schemeClr val="bg1"/>
                </a:solidFill>
                <a:latin typeface="Arial" panose="020B0604020202020204" pitchFamily="34" charset="0"/>
              </a:rPr>
              <a:t> </a:t>
            </a:r>
            <a:r>
              <a:rPr lang="en-US" altLang="en-US" sz="1400">
                <a:solidFill>
                  <a:srgbClr val="000000"/>
                </a:solidFill>
                <a:latin typeface="Arial" panose="020B0604020202020204" pitchFamily="34" charset="0"/>
              </a:rPr>
              <a:t>(3 bits)</a:t>
            </a:r>
          </a:p>
        </p:txBody>
      </p:sp>
      <p:sp>
        <p:nvSpPr>
          <p:cNvPr id="9" name="Rectangle 56">
            <a:extLst>
              <a:ext uri="{FF2B5EF4-FFF2-40B4-BE49-F238E27FC236}">
                <a16:creationId xmlns:a16="http://schemas.microsoft.com/office/drawing/2014/main" id="{8183AF12-2917-49BA-9630-DBDC5D1ACC8D}"/>
              </a:ext>
            </a:extLst>
          </p:cNvPr>
          <p:cNvSpPr>
            <a:spLocks noChangeArrowheads="1"/>
          </p:cNvSpPr>
          <p:nvPr>
            <p:custDataLst>
              <p:tags r:id="rId17"/>
            </p:custDataLst>
          </p:nvPr>
        </p:nvSpPr>
        <p:spPr bwMode="auto">
          <a:xfrm>
            <a:off x="6399213" y="2057400"/>
            <a:ext cx="1524000" cy="304800"/>
          </a:xfrm>
          <a:prstGeom prst="rect">
            <a:avLst/>
          </a:prstGeom>
          <a:solidFill>
            <a:schemeClr val="bg1">
              <a:lumMod val="95000"/>
            </a:schemeClr>
          </a:solidFill>
          <a:ln w="28575">
            <a:solidFill>
              <a:srgbClr val="000000"/>
            </a:solidFill>
            <a:miter lim="800000"/>
            <a:headEnd/>
            <a:tailEnd/>
          </a:ln>
        </p:spPr>
        <p:txBody>
          <a:bodyPr wrap="none" anchor="ctr"/>
          <a:lstStyle>
            <a:lvl1pPr>
              <a:spcBef>
                <a:spcPct val="20000"/>
              </a:spcBef>
              <a:buClr>
                <a:srgbClr val="030305"/>
              </a:buClr>
              <a:buChar char="•"/>
              <a:defRPr sz="2400">
                <a:solidFill>
                  <a:srgbClr val="030305"/>
                </a:solidFill>
                <a:latin typeface="Tahoma" panose="020B0604030504040204" pitchFamily="34" charset="0"/>
                <a:ea typeface="ＭＳ Ｐゴシック" panose="020B0600070205080204" pitchFamily="34" charset="-128"/>
              </a:defRPr>
            </a:lvl1pPr>
            <a:lvl2pPr marL="742950" indent="-28575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2pPr>
            <a:lvl3pPr marL="11430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3pPr>
            <a:lvl4pPr marL="16002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4pPr>
            <a:lvl5pPr marL="2057400" indent="-228600">
              <a:spcBef>
                <a:spcPct val="20000"/>
              </a:spcBef>
              <a:buClr>
                <a:srgbClr val="030305"/>
              </a:buClr>
              <a:buChar char="•"/>
              <a:defRPr sz="2000">
                <a:solidFill>
                  <a:srgbClr val="030305"/>
                </a:solidFill>
                <a:latin typeface="Tahoma" panose="020B0604030504040204" pitchFamily="34" charset="0"/>
                <a:ea typeface="ＭＳ Ｐゴシック" panose="020B0600070205080204" pitchFamily="34" charset="-128"/>
              </a:defRPr>
            </a:lvl5pPr>
            <a:lvl6pPr marL="25146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6pPr>
            <a:lvl7pPr marL="29718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7pPr>
            <a:lvl8pPr marL="34290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8pPr>
            <a:lvl9pPr marL="3886200" indent="-228600" eaLnBrk="0" fontAlgn="base" hangingPunct="0">
              <a:spcBef>
                <a:spcPct val="20000"/>
              </a:spcBef>
              <a:spcAft>
                <a:spcPct val="0"/>
              </a:spcAft>
              <a:buClr>
                <a:srgbClr val="030305"/>
              </a:buClr>
              <a:buChar char="•"/>
              <a:defRPr sz="2000">
                <a:solidFill>
                  <a:srgbClr val="030305"/>
                </a:solidFill>
                <a:latin typeface="Tahoma" panose="020B0604030504040204" pitchFamily="34" charset="0"/>
                <a:ea typeface="ＭＳ Ｐゴシック" panose="020B0600070205080204" pitchFamily="34" charset="-128"/>
              </a:defRPr>
            </a:lvl9pPr>
          </a:lstStyle>
          <a:p>
            <a:pPr algn="ctr">
              <a:spcBef>
                <a:spcPct val="0"/>
              </a:spcBef>
              <a:buClrTx/>
              <a:buFontTx/>
              <a:buNone/>
            </a:pPr>
            <a:r>
              <a:rPr lang="en-US" altLang="en-US" sz="1400" b="1">
                <a:solidFill>
                  <a:srgbClr val="000000"/>
                </a:solidFill>
                <a:latin typeface="Arial" panose="020B0604020202020204" pitchFamily="34" charset="0"/>
              </a:rPr>
              <a:t>index</a:t>
            </a:r>
            <a:r>
              <a:rPr lang="en-US" altLang="en-US" sz="1400" b="1">
                <a:solidFill>
                  <a:srgbClr val="FF0909"/>
                </a:solidFill>
                <a:latin typeface="Arial" panose="020B0604020202020204" pitchFamily="34" charset="0"/>
              </a:rPr>
              <a:t> </a:t>
            </a:r>
            <a:r>
              <a:rPr lang="en-US" altLang="en-US" sz="1400">
                <a:solidFill>
                  <a:srgbClr val="000000"/>
                </a:solidFill>
                <a:latin typeface="Arial" panose="020B0604020202020204" pitchFamily="34" charset="0"/>
              </a:rPr>
              <a:t>(3 bits)</a:t>
            </a:r>
          </a:p>
        </p:txBody>
      </p:sp>
    </p:spTree>
    <p:custDataLst>
      <p:tags r:id="rId1"/>
    </p:custDataLst>
    <p:extLst>
      <p:ext uri="{BB962C8B-B14F-4D97-AF65-F5344CB8AC3E}">
        <p14:creationId xmlns:p14="http://schemas.microsoft.com/office/powerpoint/2010/main" val="37002722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39</a:t>
            </a:fld>
            <a:endParaRPr lang="en-US" altLang="en-US"/>
          </a:p>
        </p:txBody>
      </p:sp>
      <p:sp>
        <p:nvSpPr>
          <p:cNvPr id="6" name="Rectangle 3">
            <a:extLst>
              <a:ext uri="{FF2B5EF4-FFF2-40B4-BE49-F238E27FC236}">
                <a16:creationId xmlns:a16="http://schemas.microsoft.com/office/drawing/2014/main" id="{AAE4C810-0D73-45DE-8A43-E652A2557973}"/>
              </a:ext>
            </a:extLst>
          </p:cNvPr>
          <p:cNvSpPr>
            <a:spLocks noGrp="1" noChangeArrowheads="1"/>
          </p:cNvSpPr>
          <p:nvPr>
            <p:ph idx="1"/>
            <p:custDataLst>
              <p:tags r:id="rId4"/>
            </p:custDataLst>
          </p:nvPr>
        </p:nvSpPr>
        <p:spPr>
          <a:xfrm>
            <a:off x="457200" y="1600200"/>
            <a:ext cx="8534400" cy="4525963"/>
          </a:xfrm>
        </p:spPr>
        <p:txBody>
          <a:bodyPr/>
          <a:lstStyle/>
          <a:p>
            <a:pPr eaLnBrk="1" hangingPunct="1">
              <a:lnSpc>
                <a:spcPct val="80000"/>
              </a:lnSpc>
            </a:pPr>
            <a:r>
              <a:rPr lang="en-US" altLang="en-US" dirty="0"/>
              <a:t>Given 32-bit memory addresses and 128-byte cache blocks, what is the minimum number of tag bits needed in a 64KB direct-mapped cache?</a:t>
            </a:r>
          </a:p>
          <a:p>
            <a:pPr lvl="1" eaLnBrk="1" hangingPunct="1">
              <a:lnSpc>
                <a:spcPct val="90000"/>
              </a:lnSpc>
            </a:pPr>
            <a:r>
              <a:rPr lang="en-US" altLang="en-US" b="1" dirty="0"/>
              <a:t>64KB / 128B = 512 blocks in the cache</a:t>
            </a:r>
          </a:p>
          <a:p>
            <a:pPr lvl="1" eaLnBrk="1" hangingPunct="1">
              <a:lnSpc>
                <a:spcPct val="90000"/>
              </a:lnSpc>
            </a:pPr>
            <a:r>
              <a:rPr lang="en-US" altLang="en-US" b="1" dirty="0"/>
              <a:t>32 bits – log(512 blocks) – log(128B per block)</a:t>
            </a:r>
          </a:p>
          <a:p>
            <a:pPr lvl="1" eaLnBrk="1" hangingPunct="1">
              <a:lnSpc>
                <a:spcPct val="90000"/>
              </a:lnSpc>
            </a:pPr>
            <a:r>
              <a:rPr lang="en-US" altLang="en-US" b="1" dirty="0"/>
              <a:t>Thus 16 tag bits</a:t>
            </a:r>
          </a:p>
        </p:txBody>
      </p:sp>
    </p:spTree>
    <p:custDataLst>
      <p:tags r:id="rId1"/>
    </p:custDataLst>
    <p:extLst>
      <p:ext uri="{BB962C8B-B14F-4D97-AF65-F5344CB8AC3E}">
        <p14:creationId xmlns:p14="http://schemas.microsoft.com/office/powerpoint/2010/main" val="64377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40</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custDataLst>
              <p:tags r:id="rId4"/>
            </p:custDataLst>
          </p:nvPr>
        </p:nvSpPr>
        <p:spPr bwMode="auto">
          <a:xfrm>
            <a:off x="457200" y="144780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000" b="1" dirty="0" err="1">
                <a:latin typeface="Courier New" panose="02070309020205020404" pitchFamily="49" charset="0"/>
                <a:cs typeface="Courier New" panose="02070309020205020404" pitchFamily="49" charset="0"/>
              </a:rPr>
              <a:t>int</a:t>
            </a:r>
            <a:r>
              <a:rPr lang="en-US" altLang="en-US" sz="2000" b="1" dirty="0">
                <a:latin typeface="Courier New" panose="02070309020205020404" pitchFamily="49" charset="0"/>
                <a:cs typeface="Courier New" panose="02070309020205020404" pitchFamily="49" charset="0"/>
              </a:rPr>
              <a:t> A[256]; // &amp;A[0] = 4000</a:t>
            </a:r>
          </a:p>
          <a:p>
            <a:pPr marL="0" indent="0">
              <a:buFont typeface="Arial" charset="0"/>
              <a:buNone/>
            </a:pPr>
            <a:r>
              <a:rPr lang="en-US" altLang="en-US" sz="2000" b="1" dirty="0">
                <a:latin typeface="Courier New" panose="02070309020205020404" pitchFamily="49" charset="0"/>
                <a:cs typeface="Courier New" panose="02070309020205020404" pitchFamily="49" charset="0"/>
              </a:rPr>
              <a:t>for (int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 0;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&lt; 256;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a:t>
            </a:r>
          </a:p>
          <a:p>
            <a:pPr marL="0" indent="0">
              <a:buNone/>
            </a:pPr>
            <a:r>
              <a:rPr lang="en-US" altLang="en-US" sz="2000" b="1" dirty="0">
                <a:latin typeface="Courier New" panose="02070309020205020404" pitchFamily="49" charset="0"/>
                <a:cs typeface="Courier New" panose="02070309020205020404" pitchFamily="49" charset="0"/>
              </a:rPr>
              <a:t>    for (int j = 0; j &lt; 4; </a:t>
            </a:r>
            <a:r>
              <a:rPr lang="en-US" altLang="en-US" sz="2000" b="1" dirty="0" err="1">
                <a:latin typeface="Courier New" panose="02070309020205020404" pitchFamily="49" charset="0"/>
                <a:cs typeface="Courier New" panose="02070309020205020404" pitchFamily="49" charset="0"/>
              </a:rPr>
              <a:t>j++</a:t>
            </a:r>
            <a:r>
              <a:rPr lang="en-US" altLang="en-US" sz="2000" b="1" dirty="0">
                <a:latin typeface="Courier New" panose="02070309020205020404" pitchFamily="49" charset="0"/>
                <a:cs typeface="Courier New" panose="02070309020205020404" pitchFamily="49" charset="0"/>
              </a:rPr>
              <a:t>)</a:t>
            </a:r>
          </a:p>
          <a:p>
            <a:pPr marL="0" indent="0">
              <a:buFont typeface="Arial" charset="0"/>
              <a:buNone/>
            </a:pPr>
            <a:r>
              <a:rPr lang="en-US" altLang="en-US" sz="2000" b="1" dirty="0">
                <a:latin typeface="Courier New" panose="02070309020205020404" pitchFamily="49" charset="0"/>
                <a:cs typeface="Courier New" panose="02070309020205020404" pitchFamily="49" charset="0"/>
              </a:rPr>
              <a:t>        … = A[</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a:t>
            </a:r>
          </a:p>
        </p:txBody>
      </p:sp>
      <p:graphicFrame>
        <p:nvGraphicFramePr>
          <p:cNvPr id="4" name="Table 3">
            <a:extLst>
              <a:ext uri="{FF2B5EF4-FFF2-40B4-BE49-F238E27FC236}">
                <a16:creationId xmlns:a16="http://schemas.microsoft.com/office/drawing/2014/main" id="{22C88FCA-296C-400F-9BD5-272F5B5980D3}"/>
              </a:ext>
            </a:extLst>
          </p:cNvPr>
          <p:cNvGraphicFramePr>
            <a:graphicFrameLocks noGrp="1"/>
          </p:cNvGraphicFramePr>
          <p:nvPr>
            <p:custDataLst>
              <p:tags r:id="rId5"/>
            </p:custDataLst>
          </p:nvPr>
        </p:nvGraphicFramePr>
        <p:xfrm>
          <a:off x="2095500" y="3510280"/>
          <a:ext cx="4953000" cy="2966720"/>
        </p:xfrm>
        <a:graphic>
          <a:graphicData uri="http://schemas.openxmlformats.org/drawingml/2006/table">
            <a:tbl>
              <a:tblPr firstRow="1" bandRow="1">
                <a:tableStyleId>{5C22544A-7EE6-4342-B048-85BDC9FD1C3A}</a:tableStyleId>
              </a:tblPr>
              <a:tblGrid>
                <a:gridCol w="1238250">
                  <a:extLst>
                    <a:ext uri="{9D8B030D-6E8A-4147-A177-3AD203B41FA5}">
                      <a16:colId xmlns:a16="http://schemas.microsoft.com/office/drawing/2014/main" val="620702644"/>
                    </a:ext>
                  </a:extLst>
                </a:gridCol>
                <a:gridCol w="1238250">
                  <a:extLst>
                    <a:ext uri="{9D8B030D-6E8A-4147-A177-3AD203B41FA5}">
                      <a16:colId xmlns:a16="http://schemas.microsoft.com/office/drawing/2014/main" val="2882790322"/>
                    </a:ext>
                  </a:extLst>
                </a:gridCol>
                <a:gridCol w="1238250">
                  <a:extLst>
                    <a:ext uri="{9D8B030D-6E8A-4147-A177-3AD203B41FA5}">
                      <a16:colId xmlns:a16="http://schemas.microsoft.com/office/drawing/2014/main" val="12832564"/>
                    </a:ext>
                  </a:extLst>
                </a:gridCol>
                <a:gridCol w="1238250">
                  <a:extLst>
                    <a:ext uri="{9D8B030D-6E8A-4147-A177-3AD203B41FA5}">
                      <a16:colId xmlns:a16="http://schemas.microsoft.com/office/drawing/2014/main" val="3666510150"/>
                    </a:ext>
                  </a:extLst>
                </a:gridCol>
              </a:tblGrid>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5413065"/>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832974311"/>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359639797"/>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10557642"/>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828538348"/>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320493055"/>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4183071"/>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254009469"/>
                  </a:ext>
                </a:extLst>
              </a:tr>
            </a:tbl>
          </a:graphicData>
        </a:graphic>
      </p:graphicFrame>
      <p:cxnSp>
        <p:nvCxnSpPr>
          <p:cNvPr id="7" name="Straight Arrow Connector 6">
            <a:extLst>
              <a:ext uri="{FF2B5EF4-FFF2-40B4-BE49-F238E27FC236}">
                <a16:creationId xmlns:a16="http://schemas.microsoft.com/office/drawing/2014/main" id="{850CA828-AC72-40E4-B48F-6646427E0431}"/>
              </a:ext>
            </a:extLst>
          </p:cNvPr>
          <p:cNvCxnSpPr/>
          <p:nvPr/>
        </p:nvCxnSpPr>
        <p:spPr>
          <a:xfrm>
            <a:off x="1905000" y="3358099"/>
            <a:ext cx="0" cy="31089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F42030B-C394-4DE6-9CD5-AC1101EA0EDF}"/>
              </a:ext>
            </a:extLst>
          </p:cNvPr>
          <p:cNvSpPr txBox="1"/>
          <p:nvPr>
            <p:custDataLst>
              <p:tags r:id="rId6"/>
            </p:custDataLst>
          </p:nvPr>
        </p:nvSpPr>
        <p:spPr>
          <a:xfrm>
            <a:off x="1219199" y="3276601"/>
            <a:ext cx="685801" cy="338554"/>
          </a:xfrm>
          <a:prstGeom prst="rect">
            <a:avLst/>
          </a:prstGeom>
          <a:noFill/>
        </p:spPr>
        <p:txBody>
          <a:bodyPr wrap="square" rtlCol="0">
            <a:spAutoFit/>
          </a:bodyPr>
          <a:lstStyle/>
          <a:p>
            <a:pPr algn="ctr"/>
            <a:r>
              <a:rPr lang="en-US" sz="1600" b="1" dirty="0" err="1">
                <a:latin typeface="Calibri" panose="020F0502020204030204" pitchFamily="34" charset="0"/>
                <a:cs typeface="Calibri" panose="020F0502020204030204" pitchFamily="34" charset="0"/>
              </a:rPr>
              <a:t>i</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iters</a:t>
            </a:r>
            <a:endParaRPr lang="en-US" sz="1600" b="1" dirty="0">
              <a:latin typeface="Calibri" panose="020F0502020204030204" pitchFamily="34" charset="0"/>
              <a:cs typeface="Calibri" panose="020F0502020204030204" pitchFamily="34" charset="0"/>
            </a:endParaRPr>
          </a:p>
        </p:txBody>
      </p:sp>
      <p:cxnSp>
        <p:nvCxnSpPr>
          <p:cNvPr id="12" name="Straight Arrow Connector 11">
            <a:extLst>
              <a:ext uri="{FF2B5EF4-FFF2-40B4-BE49-F238E27FC236}">
                <a16:creationId xmlns:a16="http://schemas.microsoft.com/office/drawing/2014/main" id="{DBF91157-D626-45FA-88AA-F311150EB958}"/>
              </a:ext>
            </a:extLst>
          </p:cNvPr>
          <p:cNvCxnSpPr>
            <a:cxnSpLocks/>
          </p:cNvCxnSpPr>
          <p:nvPr/>
        </p:nvCxnSpPr>
        <p:spPr>
          <a:xfrm rot="16200000">
            <a:off x="4465320" y="797779"/>
            <a:ext cx="0" cy="512064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4A6E3E5-AB81-4BC2-9222-F8FB861CA6DC}"/>
              </a:ext>
            </a:extLst>
          </p:cNvPr>
          <p:cNvSpPr txBox="1"/>
          <p:nvPr>
            <p:custDataLst>
              <p:tags r:id="rId7"/>
            </p:custDataLst>
          </p:nvPr>
        </p:nvSpPr>
        <p:spPr>
          <a:xfrm>
            <a:off x="1979096" y="3036642"/>
            <a:ext cx="685801"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j </a:t>
            </a:r>
            <a:r>
              <a:rPr lang="en-US" sz="1600" b="1" dirty="0" err="1">
                <a:latin typeface="Calibri" panose="020F0502020204030204" pitchFamily="34" charset="0"/>
                <a:cs typeface="Calibri" panose="020F0502020204030204" pitchFamily="34" charset="0"/>
              </a:rPr>
              <a:t>iters</a:t>
            </a:r>
            <a:endParaRPr lang="en-US" sz="1600" b="1" dirty="0">
              <a:latin typeface="Calibri" panose="020F0502020204030204" pitchFamily="34" charset="0"/>
              <a:cs typeface="Calibri" panose="020F0502020204030204" pitchFamily="34" charset="0"/>
            </a:endParaRPr>
          </a:p>
        </p:txBody>
      </p:sp>
      <p:sp>
        <p:nvSpPr>
          <p:cNvPr id="25" name="Rectangle 3">
            <a:extLst>
              <a:ext uri="{FF2B5EF4-FFF2-40B4-BE49-F238E27FC236}">
                <a16:creationId xmlns:a16="http://schemas.microsoft.com/office/drawing/2014/main" id="{4B56EEE2-D429-4247-A399-01A12433B113}"/>
              </a:ext>
            </a:extLst>
          </p:cNvPr>
          <p:cNvSpPr>
            <a:spLocks noGrp="1" noChangeArrowheads="1"/>
          </p:cNvSpPr>
          <p:nvPr>
            <p:ph idx="1"/>
            <p:custDataLst>
              <p:tags r:id="rId8"/>
            </p:custDataLst>
          </p:nvPr>
        </p:nvSpPr>
        <p:spPr>
          <a:xfrm>
            <a:off x="5334000" y="1447801"/>
            <a:ext cx="3886199" cy="2133599"/>
          </a:xfrm>
        </p:spPr>
        <p:txBody>
          <a:bodyPr/>
          <a:lstStyle/>
          <a:p>
            <a:pPr marL="0" indent="0" eaLnBrk="1" hangingPunct="1">
              <a:lnSpc>
                <a:spcPct val="80000"/>
              </a:lnSpc>
              <a:buNone/>
            </a:pPr>
            <a:r>
              <a:rPr lang="en-US" altLang="en-US" sz="2800" dirty="0"/>
              <a:t>Given 16-byte blocks, how many cache hits due to spatial locality?</a:t>
            </a:r>
          </a:p>
        </p:txBody>
      </p:sp>
    </p:spTree>
    <p:custDataLst>
      <p:tags r:id="rId1"/>
    </p:custDataLst>
    <p:extLst>
      <p:ext uri="{BB962C8B-B14F-4D97-AF65-F5344CB8AC3E}">
        <p14:creationId xmlns:p14="http://schemas.microsoft.com/office/powerpoint/2010/main" val="330829449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41</a:t>
            </a:fld>
            <a:endParaRPr lang="en-US" altLang="en-US"/>
          </a:p>
        </p:txBody>
      </p:sp>
      <p:sp>
        <p:nvSpPr>
          <p:cNvPr id="6" name="Rectangle 3">
            <a:extLst>
              <a:ext uri="{FF2B5EF4-FFF2-40B4-BE49-F238E27FC236}">
                <a16:creationId xmlns:a16="http://schemas.microsoft.com/office/drawing/2014/main" id="{11E3DC0C-D0BD-4FC3-B4D7-5CFD4A467781}"/>
              </a:ext>
            </a:extLst>
          </p:cNvPr>
          <p:cNvSpPr txBox="1">
            <a:spLocks noChangeArrowheads="1"/>
          </p:cNvSpPr>
          <p:nvPr>
            <p:custDataLst>
              <p:tags r:id="rId4"/>
            </p:custDataLst>
          </p:nvPr>
        </p:nvSpPr>
        <p:spPr bwMode="auto">
          <a:xfrm>
            <a:off x="457200" y="1447800"/>
            <a:ext cx="82296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US" altLang="en-US" sz="2000" b="1" dirty="0" err="1">
                <a:latin typeface="Courier New" panose="02070309020205020404" pitchFamily="49" charset="0"/>
                <a:cs typeface="Courier New" panose="02070309020205020404" pitchFamily="49" charset="0"/>
              </a:rPr>
              <a:t>int</a:t>
            </a:r>
            <a:r>
              <a:rPr lang="en-US" altLang="en-US" sz="2000" b="1" dirty="0">
                <a:latin typeface="Courier New" panose="02070309020205020404" pitchFamily="49" charset="0"/>
                <a:cs typeface="Courier New" panose="02070309020205020404" pitchFamily="49" charset="0"/>
              </a:rPr>
              <a:t> A[256]; // &amp;A[0] = 4000</a:t>
            </a:r>
          </a:p>
          <a:p>
            <a:pPr marL="0" indent="0">
              <a:buFont typeface="Arial" charset="0"/>
              <a:buNone/>
            </a:pPr>
            <a:r>
              <a:rPr lang="en-US" altLang="en-US" sz="2000" b="1" dirty="0">
                <a:latin typeface="Courier New" panose="02070309020205020404" pitchFamily="49" charset="0"/>
                <a:cs typeface="Courier New" panose="02070309020205020404" pitchFamily="49" charset="0"/>
              </a:rPr>
              <a:t>for (int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 0;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 &lt; 256; </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a:t>
            </a:r>
          </a:p>
          <a:p>
            <a:pPr marL="0" indent="0">
              <a:buNone/>
            </a:pPr>
            <a:r>
              <a:rPr lang="en-US" altLang="en-US" sz="2000" b="1" dirty="0">
                <a:latin typeface="Courier New" panose="02070309020205020404" pitchFamily="49" charset="0"/>
                <a:cs typeface="Courier New" panose="02070309020205020404" pitchFamily="49" charset="0"/>
              </a:rPr>
              <a:t>    for (int j = 0; j &lt; 4; </a:t>
            </a:r>
            <a:r>
              <a:rPr lang="en-US" altLang="en-US" sz="2000" b="1" dirty="0" err="1">
                <a:latin typeface="Courier New" panose="02070309020205020404" pitchFamily="49" charset="0"/>
                <a:cs typeface="Courier New" panose="02070309020205020404" pitchFamily="49" charset="0"/>
              </a:rPr>
              <a:t>j++</a:t>
            </a:r>
            <a:r>
              <a:rPr lang="en-US" altLang="en-US" sz="2000" b="1" dirty="0">
                <a:latin typeface="Courier New" panose="02070309020205020404" pitchFamily="49" charset="0"/>
                <a:cs typeface="Courier New" panose="02070309020205020404" pitchFamily="49" charset="0"/>
              </a:rPr>
              <a:t>)</a:t>
            </a:r>
          </a:p>
          <a:p>
            <a:pPr marL="0" indent="0">
              <a:buFont typeface="Arial" charset="0"/>
              <a:buNone/>
            </a:pPr>
            <a:r>
              <a:rPr lang="en-US" altLang="en-US" sz="2000" b="1" dirty="0">
                <a:latin typeface="Courier New" panose="02070309020205020404" pitchFamily="49" charset="0"/>
                <a:cs typeface="Courier New" panose="02070309020205020404" pitchFamily="49" charset="0"/>
              </a:rPr>
              <a:t>        … = A[</a:t>
            </a:r>
            <a:r>
              <a:rPr lang="en-US" altLang="en-US" sz="2000" b="1" dirty="0" err="1">
                <a:latin typeface="Courier New" panose="02070309020205020404" pitchFamily="49" charset="0"/>
                <a:cs typeface="Courier New" panose="02070309020205020404" pitchFamily="49" charset="0"/>
              </a:rPr>
              <a:t>i</a:t>
            </a:r>
            <a:r>
              <a:rPr lang="en-US" altLang="en-US" sz="2000" b="1" dirty="0">
                <a:latin typeface="Courier New" panose="02070309020205020404" pitchFamily="49" charset="0"/>
                <a:cs typeface="Courier New" panose="02070309020205020404" pitchFamily="49" charset="0"/>
              </a:rPr>
              <a:t>];</a:t>
            </a:r>
          </a:p>
        </p:txBody>
      </p:sp>
      <p:graphicFrame>
        <p:nvGraphicFramePr>
          <p:cNvPr id="4" name="Table 3">
            <a:extLst>
              <a:ext uri="{FF2B5EF4-FFF2-40B4-BE49-F238E27FC236}">
                <a16:creationId xmlns:a16="http://schemas.microsoft.com/office/drawing/2014/main" id="{22C88FCA-296C-400F-9BD5-272F5B5980D3}"/>
              </a:ext>
            </a:extLst>
          </p:cNvPr>
          <p:cNvGraphicFramePr>
            <a:graphicFrameLocks noGrp="1"/>
          </p:cNvGraphicFramePr>
          <p:nvPr>
            <p:custDataLst>
              <p:tags r:id="rId5"/>
            </p:custDataLst>
            <p:extLst>
              <p:ext uri="{D42A27DB-BD31-4B8C-83A1-F6EECF244321}">
                <p14:modId xmlns:p14="http://schemas.microsoft.com/office/powerpoint/2010/main" val="323646210"/>
              </p:ext>
            </p:extLst>
          </p:nvPr>
        </p:nvGraphicFramePr>
        <p:xfrm>
          <a:off x="2095500" y="3510280"/>
          <a:ext cx="4953000" cy="2966720"/>
        </p:xfrm>
        <a:graphic>
          <a:graphicData uri="http://schemas.openxmlformats.org/drawingml/2006/table">
            <a:tbl>
              <a:tblPr firstRow="1" bandRow="1">
                <a:tableStyleId>{5C22544A-7EE6-4342-B048-85BDC9FD1C3A}</a:tableStyleId>
              </a:tblPr>
              <a:tblGrid>
                <a:gridCol w="1238250">
                  <a:extLst>
                    <a:ext uri="{9D8B030D-6E8A-4147-A177-3AD203B41FA5}">
                      <a16:colId xmlns:a16="http://schemas.microsoft.com/office/drawing/2014/main" val="620702644"/>
                    </a:ext>
                  </a:extLst>
                </a:gridCol>
                <a:gridCol w="1238250">
                  <a:extLst>
                    <a:ext uri="{9D8B030D-6E8A-4147-A177-3AD203B41FA5}">
                      <a16:colId xmlns:a16="http://schemas.microsoft.com/office/drawing/2014/main" val="2882790322"/>
                    </a:ext>
                  </a:extLst>
                </a:gridCol>
                <a:gridCol w="1238250">
                  <a:extLst>
                    <a:ext uri="{9D8B030D-6E8A-4147-A177-3AD203B41FA5}">
                      <a16:colId xmlns:a16="http://schemas.microsoft.com/office/drawing/2014/main" val="12832564"/>
                    </a:ext>
                  </a:extLst>
                </a:gridCol>
                <a:gridCol w="1238250">
                  <a:extLst>
                    <a:ext uri="{9D8B030D-6E8A-4147-A177-3AD203B41FA5}">
                      <a16:colId xmlns:a16="http://schemas.microsoft.com/office/drawing/2014/main" val="3666510150"/>
                    </a:ext>
                  </a:extLst>
                </a:gridCol>
              </a:tblGrid>
              <a:tr h="370840">
                <a:tc>
                  <a:txBody>
                    <a:bodyPr/>
                    <a:lstStyle/>
                    <a:p>
                      <a:pPr algn="ctr"/>
                      <a:r>
                        <a:rPr lang="en-US" b="1" dirty="0">
                          <a:solidFill>
                            <a:schemeClr val="bg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95413065"/>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832974311"/>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359639797"/>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10557642"/>
                  </a:ext>
                </a:extLst>
              </a:tr>
              <a:tr h="370840">
                <a:tc>
                  <a:txBody>
                    <a:bodyPr/>
                    <a:lstStyle/>
                    <a:p>
                      <a:pPr algn="ctr"/>
                      <a:r>
                        <a:rPr lang="en-US" b="1" dirty="0">
                          <a:solidFill>
                            <a:schemeClr val="bg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828538348"/>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1320493055"/>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384183071"/>
                  </a:ext>
                </a:extLst>
              </a:tr>
              <a:tr h="370840">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tc>
                  <a:txBody>
                    <a:bodyPr/>
                    <a:lstStyle/>
                    <a:p>
                      <a:pPr algn="ctr"/>
                      <a:r>
                        <a:rPr lang="en-US" b="1" dirty="0">
                          <a:solidFill>
                            <a:schemeClr val="tx1"/>
                          </a:solidFill>
                          <a:latin typeface="Courier New" panose="02070309020205020404" pitchFamily="49" charset="0"/>
                          <a:cs typeface="Courier New" panose="02070309020205020404" pitchFamily="49" charset="0"/>
                        </a:rPr>
                        <a:t>A[7]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2254009469"/>
                  </a:ext>
                </a:extLst>
              </a:tr>
            </a:tbl>
          </a:graphicData>
        </a:graphic>
      </p:graphicFrame>
      <p:cxnSp>
        <p:nvCxnSpPr>
          <p:cNvPr id="7" name="Straight Arrow Connector 6">
            <a:extLst>
              <a:ext uri="{FF2B5EF4-FFF2-40B4-BE49-F238E27FC236}">
                <a16:creationId xmlns:a16="http://schemas.microsoft.com/office/drawing/2014/main" id="{850CA828-AC72-40E4-B48F-6646427E0431}"/>
              </a:ext>
            </a:extLst>
          </p:cNvPr>
          <p:cNvCxnSpPr/>
          <p:nvPr/>
        </p:nvCxnSpPr>
        <p:spPr>
          <a:xfrm>
            <a:off x="1905000" y="3358099"/>
            <a:ext cx="0" cy="310896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F42030B-C394-4DE6-9CD5-AC1101EA0EDF}"/>
              </a:ext>
            </a:extLst>
          </p:cNvPr>
          <p:cNvSpPr txBox="1"/>
          <p:nvPr>
            <p:custDataLst>
              <p:tags r:id="rId6"/>
            </p:custDataLst>
          </p:nvPr>
        </p:nvSpPr>
        <p:spPr>
          <a:xfrm>
            <a:off x="1219199" y="3276601"/>
            <a:ext cx="685801" cy="338554"/>
          </a:xfrm>
          <a:prstGeom prst="rect">
            <a:avLst/>
          </a:prstGeom>
          <a:noFill/>
        </p:spPr>
        <p:txBody>
          <a:bodyPr wrap="square" rtlCol="0">
            <a:spAutoFit/>
          </a:bodyPr>
          <a:lstStyle/>
          <a:p>
            <a:pPr algn="ctr"/>
            <a:r>
              <a:rPr lang="en-US" sz="1600" b="1" dirty="0" err="1">
                <a:latin typeface="Calibri" panose="020F0502020204030204" pitchFamily="34" charset="0"/>
                <a:cs typeface="Calibri" panose="020F0502020204030204" pitchFamily="34" charset="0"/>
              </a:rPr>
              <a:t>i</a:t>
            </a:r>
            <a:r>
              <a:rPr lang="en-US" sz="1600" b="1" dirty="0">
                <a:latin typeface="Calibri" panose="020F0502020204030204" pitchFamily="34" charset="0"/>
                <a:cs typeface="Calibri" panose="020F0502020204030204" pitchFamily="34" charset="0"/>
              </a:rPr>
              <a:t> </a:t>
            </a:r>
            <a:r>
              <a:rPr lang="en-US" sz="1600" b="1" dirty="0" err="1">
                <a:latin typeface="Calibri" panose="020F0502020204030204" pitchFamily="34" charset="0"/>
                <a:cs typeface="Calibri" panose="020F0502020204030204" pitchFamily="34" charset="0"/>
              </a:rPr>
              <a:t>iters</a:t>
            </a:r>
            <a:endParaRPr lang="en-US" sz="1600" b="1" dirty="0">
              <a:latin typeface="Calibri" panose="020F0502020204030204" pitchFamily="34" charset="0"/>
              <a:cs typeface="Calibri" panose="020F0502020204030204" pitchFamily="34" charset="0"/>
            </a:endParaRPr>
          </a:p>
        </p:txBody>
      </p:sp>
      <p:cxnSp>
        <p:nvCxnSpPr>
          <p:cNvPr id="12" name="Straight Arrow Connector 11">
            <a:extLst>
              <a:ext uri="{FF2B5EF4-FFF2-40B4-BE49-F238E27FC236}">
                <a16:creationId xmlns:a16="http://schemas.microsoft.com/office/drawing/2014/main" id="{DBF91157-D626-45FA-88AA-F311150EB958}"/>
              </a:ext>
            </a:extLst>
          </p:cNvPr>
          <p:cNvCxnSpPr>
            <a:cxnSpLocks/>
          </p:cNvCxnSpPr>
          <p:nvPr/>
        </p:nvCxnSpPr>
        <p:spPr>
          <a:xfrm rot="16200000">
            <a:off x="4465320" y="797779"/>
            <a:ext cx="0" cy="512064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4A6E3E5-AB81-4BC2-9222-F8FB861CA6DC}"/>
              </a:ext>
            </a:extLst>
          </p:cNvPr>
          <p:cNvSpPr txBox="1"/>
          <p:nvPr>
            <p:custDataLst>
              <p:tags r:id="rId7"/>
            </p:custDataLst>
          </p:nvPr>
        </p:nvSpPr>
        <p:spPr>
          <a:xfrm>
            <a:off x="1979096" y="3036642"/>
            <a:ext cx="685801" cy="338554"/>
          </a:xfrm>
          <a:prstGeom prst="rect">
            <a:avLst/>
          </a:prstGeom>
          <a:noFill/>
        </p:spPr>
        <p:txBody>
          <a:bodyPr wrap="square" rtlCol="0">
            <a:spAutoFit/>
          </a:bodyPr>
          <a:lstStyle/>
          <a:p>
            <a:pPr algn="ctr"/>
            <a:r>
              <a:rPr lang="en-US" sz="1600" b="1" dirty="0">
                <a:latin typeface="Calibri" panose="020F0502020204030204" pitchFamily="34" charset="0"/>
                <a:cs typeface="Calibri" panose="020F0502020204030204" pitchFamily="34" charset="0"/>
              </a:rPr>
              <a:t>j </a:t>
            </a:r>
            <a:r>
              <a:rPr lang="en-US" sz="1600" b="1" dirty="0" err="1">
                <a:latin typeface="Calibri" panose="020F0502020204030204" pitchFamily="34" charset="0"/>
                <a:cs typeface="Calibri" panose="020F0502020204030204" pitchFamily="34" charset="0"/>
              </a:rPr>
              <a:t>iters</a:t>
            </a:r>
            <a:endParaRPr lang="en-US" sz="1600" b="1" dirty="0">
              <a:latin typeface="Calibri" panose="020F0502020204030204" pitchFamily="34" charset="0"/>
              <a:cs typeface="Calibri" panose="020F0502020204030204" pitchFamily="34" charset="0"/>
            </a:endParaRPr>
          </a:p>
        </p:txBody>
      </p:sp>
      <p:sp>
        <p:nvSpPr>
          <p:cNvPr id="25" name="Rectangle 3">
            <a:extLst>
              <a:ext uri="{FF2B5EF4-FFF2-40B4-BE49-F238E27FC236}">
                <a16:creationId xmlns:a16="http://schemas.microsoft.com/office/drawing/2014/main" id="{4B56EEE2-D429-4247-A399-01A12433B113}"/>
              </a:ext>
            </a:extLst>
          </p:cNvPr>
          <p:cNvSpPr>
            <a:spLocks noGrp="1" noChangeArrowheads="1"/>
          </p:cNvSpPr>
          <p:nvPr>
            <p:ph idx="1"/>
            <p:custDataLst>
              <p:tags r:id="rId8"/>
            </p:custDataLst>
          </p:nvPr>
        </p:nvSpPr>
        <p:spPr>
          <a:xfrm>
            <a:off x="5334000" y="1447801"/>
            <a:ext cx="3886199" cy="2133599"/>
          </a:xfrm>
        </p:spPr>
        <p:txBody>
          <a:bodyPr/>
          <a:lstStyle/>
          <a:p>
            <a:pPr marL="0" indent="0" eaLnBrk="1" hangingPunct="1">
              <a:lnSpc>
                <a:spcPct val="80000"/>
              </a:lnSpc>
              <a:buNone/>
            </a:pPr>
            <a:r>
              <a:rPr lang="en-US" altLang="en-US" sz="2800" dirty="0"/>
              <a:t>Given 16-byte blocks, how many cache hits due to spatial locality?</a:t>
            </a:r>
          </a:p>
          <a:p>
            <a:pPr marL="0" indent="0" eaLnBrk="1" hangingPunct="1">
              <a:lnSpc>
                <a:spcPct val="80000"/>
              </a:lnSpc>
              <a:buNone/>
            </a:pPr>
            <a:r>
              <a:rPr lang="en-US" altLang="en-US" sz="2800" b="1" dirty="0">
                <a:solidFill>
                  <a:schemeClr val="accent6">
                    <a:lumMod val="75000"/>
                  </a:schemeClr>
                </a:solidFill>
              </a:rPr>
              <a:t>3 × 64 = 192 hits</a:t>
            </a:r>
          </a:p>
        </p:txBody>
      </p:sp>
      <p:graphicFrame>
        <p:nvGraphicFramePr>
          <p:cNvPr id="14" name="Table 13">
            <a:extLst>
              <a:ext uri="{FF2B5EF4-FFF2-40B4-BE49-F238E27FC236}">
                <a16:creationId xmlns:a16="http://schemas.microsoft.com/office/drawing/2014/main" id="{467F0E16-7922-4106-96FD-D00DD5115683}"/>
              </a:ext>
            </a:extLst>
          </p:cNvPr>
          <p:cNvGraphicFramePr>
            <a:graphicFrameLocks noGrp="1"/>
          </p:cNvGraphicFramePr>
          <p:nvPr>
            <p:custDataLst>
              <p:tags r:id="rId9"/>
            </p:custDataLst>
            <p:extLst>
              <p:ext uri="{D42A27DB-BD31-4B8C-83A1-F6EECF244321}">
                <p14:modId xmlns:p14="http://schemas.microsoft.com/office/powerpoint/2010/main" val="3605972895"/>
              </p:ext>
            </p:extLst>
          </p:nvPr>
        </p:nvGraphicFramePr>
        <p:xfrm>
          <a:off x="7467600" y="4699327"/>
          <a:ext cx="1371600" cy="3708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666510150"/>
                    </a:ext>
                  </a:extLst>
                </a:gridCol>
              </a:tblGrid>
              <a:tr h="370840">
                <a:tc>
                  <a:txBody>
                    <a:bodyPr/>
                    <a:lstStyle/>
                    <a:p>
                      <a:pPr algn="ctr"/>
                      <a:r>
                        <a:rPr lang="en-US" sz="1400" b="1" dirty="0">
                          <a:solidFill>
                            <a:schemeClr val="tx1"/>
                          </a:solidFill>
                          <a:latin typeface="+mn-lt"/>
                          <a:cs typeface="Courier New" panose="02070309020205020404" pitchFamily="49" charset="0"/>
                        </a:rPr>
                        <a:t>hit (temporal)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40000"/>
                        <a:lumOff val="60000"/>
                      </a:schemeClr>
                    </a:solidFill>
                  </a:tcPr>
                </a:tc>
                <a:extLst>
                  <a:ext uri="{0D108BD9-81ED-4DB2-BD59-A6C34878D82A}">
                    <a16:rowId xmlns:a16="http://schemas.microsoft.com/office/drawing/2014/main" val="95413065"/>
                  </a:ext>
                </a:extLst>
              </a:tr>
            </a:tbl>
          </a:graphicData>
        </a:graphic>
      </p:graphicFrame>
      <p:graphicFrame>
        <p:nvGraphicFramePr>
          <p:cNvPr id="15" name="Table 14">
            <a:extLst>
              <a:ext uri="{FF2B5EF4-FFF2-40B4-BE49-F238E27FC236}">
                <a16:creationId xmlns:a16="http://schemas.microsoft.com/office/drawing/2014/main" id="{34372A7A-4076-49F1-98FB-6E61DF2D9560}"/>
              </a:ext>
            </a:extLst>
          </p:cNvPr>
          <p:cNvGraphicFramePr>
            <a:graphicFrameLocks noGrp="1"/>
          </p:cNvGraphicFramePr>
          <p:nvPr>
            <p:custDataLst>
              <p:tags r:id="rId10"/>
            </p:custDataLst>
            <p:extLst>
              <p:ext uri="{D42A27DB-BD31-4B8C-83A1-F6EECF244321}">
                <p14:modId xmlns:p14="http://schemas.microsoft.com/office/powerpoint/2010/main" val="1566560310"/>
              </p:ext>
            </p:extLst>
          </p:nvPr>
        </p:nvGraphicFramePr>
        <p:xfrm>
          <a:off x="7467600" y="5344160"/>
          <a:ext cx="1371600" cy="3708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666510150"/>
                    </a:ext>
                  </a:extLst>
                </a:gridCol>
              </a:tblGrid>
              <a:tr h="370840">
                <a:tc>
                  <a:txBody>
                    <a:bodyPr/>
                    <a:lstStyle/>
                    <a:p>
                      <a:pPr algn="ctr"/>
                      <a:r>
                        <a:rPr lang="en-US" sz="1400" b="1" dirty="0">
                          <a:solidFill>
                            <a:schemeClr val="tx1"/>
                          </a:solidFill>
                          <a:latin typeface="+mn-lt"/>
                          <a:cs typeface="Courier New" panose="02070309020205020404" pitchFamily="49" charset="0"/>
                        </a:rPr>
                        <a:t>hit (spatial)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95413065"/>
                  </a:ext>
                </a:extLst>
              </a:tr>
            </a:tbl>
          </a:graphicData>
        </a:graphic>
      </p:graphicFrame>
      <p:graphicFrame>
        <p:nvGraphicFramePr>
          <p:cNvPr id="16" name="Table 15">
            <a:extLst>
              <a:ext uri="{FF2B5EF4-FFF2-40B4-BE49-F238E27FC236}">
                <a16:creationId xmlns:a16="http://schemas.microsoft.com/office/drawing/2014/main" id="{641C1B6F-A09E-43CB-83D1-5AD2A513D12E}"/>
              </a:ext>
            </a:extLst>
          </p:cNvPr>
          <p:cNvGraphicFramePr>
            <a:graphicFrameLocks noGrp="1"/>
          </p:cNvGraphicFramePr>
          <p:nvPr>
            <p:custDataLst>
              <p:tags r:id="rId11"/>
            </p:custDataLst>
            <p:extLst>
              <p:ext uri="{D42A27DB-BD31-4B8C-83A1-F6EECF244321}">
                <p14:modId xmlns:p14="http://schemas.microsoft.com/office/powerpoint/2010/main" val="261497416"/>
              </p:ext>
            </p:extLst>
          </p:nvPr>
        </p:nvGraphicFramePr>
        <p:xfrm>
          <a:off x="7467600" y="4048760"/>
          <a:ext cx="1371600" cy="37084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3666510150"/>
                    </a:ext>
                  </a:extLst>
                </a:gridCol>
              </a:tblGrid>
              <a:tr h="370840">
                <a:tc>
                  <a:txBody>
                    <a:bodyPr/>
                    <a:lstStyle/>
                    <a:p>
                      <a:pPr algn="ctr"/>
                      <a:r>
                        <a:rPr lang="en-US" sz="1400" b="1" dirty="0">
                          <a:solidFill>
                            <a:schemeClr val="bg1"/>
                          </a:solidFill>
                          <a:latin typeface="+mn-lt"/>
                          <a:cs typeface="Courier New" panose="02070309020205020404" pitchFamily="49" charset="0"/>
                        </a:rPr>
                        <a:t>miss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95413065"/>
                  </a:ext>
                </a:extLst>
              </a:tr>
            </a:tbl>
          </a:graphicData>
        </a:graphic>
      </p:graphicFrame>
    </p:spTree>
    <p:custDataLst>
      <p:tags r:id="rId1"/>
    </p:custDataLst>
    <p:extLst>
      <p:ext uri="{BB962C8B-B14F-4D97-AF65-F5344CB8AC3E}">
        <p14:creationId xmlns:p14="http://schemas.microsoft.com/office/powerpoint/2010/main" val="40790043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PERSISTENCEDATA" val="MMPROD_UIPERSISTENCEDATA"/>
  <p:tag name="MMPROD_THEME_BG_IMAGE" val=""/>
  <p:tag name="MMPROD_UIDATA" val="&lt;database version=&quot;11.0&quot;&gt;&lt;object type=&quot;1&quot; unique_id=&quot;10001&quot;&gt;&lt;property id=&quot;20141&quot; value=&quot;ECE/CS 552 - Cache Concepts&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CacheConcepts&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313&quot;&gt;&lt;object type=&quot;3&quot; unique_id=&quot;10315&quot;&gt;&lt;property id=&quot;20148&quot; value=&quot;5&quot;/&gt;&lt;property id=&quot;20300&quot; value=&quot;Slide 2 - &amp;quot;Memory&amp;quot;&quot;/&gt;&lt;property id=&quot;20307&quot; value=&quot;464&quot;/&gt;&lt;property id=&quot;20309&quot; value=&quot;-1&quot;/&gt;&lt;/object&gt;&lt;object type=&quot;3&quot; unique_id=&quot;19005&quot;&gt;&lt;property id=&quot;20148&quot; value=&quot;5&quot;/&gt;&lt;property id=&quot;20300&quot; value=&quot;Slide 1 - &amp;quot;ECE/CS 552: Cache Concepts&amp;quot;&quot;/&gt;&lt;property id=&quot;20307&quot; value=&quot;508&quot;/&gt;&lt;property id=&quot;20309&quot; value=&quot;-1&quot;/&gt;&lt;/object&gt;&lt;object type=&quot;3&quot; unique_id=&quot;19168&quot;&gt;&lt;property id=&quot;20148&quot; value=&quot;5&quot;/&gt;&lt;property id=&quot;20300&quot; value=&quot;Slide 8 - &amp;quot;Memory Hierarchy&amp;quot;&quot;/&gt;&lt;property id=&quot;20307&quot; value=&quot;510&quot;/&gt;&lt;property id=&quot;20309&quot; value=&quot;-1&quot;/&gt;&lt;/object&gt;&lt;object type=&quot;3&quot; unique_id=&quot;19173&quot;&gt;&lt;property id=&quot;20148&quot; value=&quot;5&quot;/&gt;&lt;property id=&quot;20300&quot; value=&quot;Slide 15 - &amp;quot;Locality&amp;quot;&quot;/&gt;&lt;property id=&quot;20307&quot; value=&quot;641&quot;/&gt;&lt;property id=&quot;20309&quot; value=&quot;-1&quot;/&gt;&lt;/object&gt;&lt;object type=&quot;3&quot; unique_id=&quot;19671&quot;&gt;&lt;property id=&quot;20148&quot; value=&quot;5&quot;/&gt;&lt;property id=&quot;20300&quot; value=&quot;Slide 3 - &amp;quot;Types of Memory&amp;quot;&quot;/&gt;&lt;property id=&quot;20307&quot; value=&quot;697&quot;/&gt;&lt;property id=&quot;20309&quot; value=&quot;-1&quot;/&gt;&lt;/object&gt;&lt;object type=&quot;3&quot; unique_id=&quot;19672&quot;&gt;&lt;property id=&quot;20148&quot; value=&quot;5&quot;/&gt;&lt;property id=&quot;20300&quot; value=&quot;Slide 4 - &amp;quot;Technology – Registers&amp;quot;&quot;/&gt;&lt;property id=&quot;20307&quot; value=&quot;698&quot;/&gt;&lt;property id=&quot;20309&quot; value=&quot;-1&quot;/&gt;&lt;/object&gt;&lt;object type=&quot;3&quot; unique_id=&quot;19673&quot;&gt;&lt;property id=&quot;20148&quot; value=&quot;5&quot;/&gt;&lt;property id=&quot;20300&quot; value=&quot;Slide 5 - &amp;quot;Technology – SRAM&amp;quot;&quot;/&gt;&lt;property id=&quot;20307&quot; value=&quot;699&quot;/&gt;&lt;property id=&quot;20309&quot; value=&quot;-1&quot;/&gt;&lt;/object&gt;&lt;object type=&quot;3&quot; unique_id=&quot;21474&quot;&gt;&lt;property id=&quot;20148&quot; value=&quot;5&quot;/&gt;&lt;property id=&quot;20300&quot; value=&quot;Slide 6 - &amp;quot;Technology – DRAM&amp;quot;&quot;/&gt;&lt;property id=&quot;20307&quot; value=&quot;700&quot;/&gt;&lt;property id=&quot;20309&quot; value=&quot;-1&quot;/&gt;&lt;/object&gt;&lt;object type=&quot;3&quot; unique_id=&quot;22129&quot;&gt;&lt;property id=&quot;20148&quot; value=&quot;5&quot;/&gt;&lt;property id=&quot;20300&quot; value=&quot;Slide 7 - &amp;quot;Memory Requirements&amp;quot;&quot;/&gt;&lt;property id=&quot;20307&quot; value=&quot;705&quot;/&gt;&lt;property id=&quot;20309&quot; value=&quot;-1&quot;/&gt;&lt;/object&gt;&lt;object type=&quot;3&quot; unique_id=&quot;22130&quot;&gt;&lt;property id=&quot;20148&quot; value=&quot;5&quot;/&gt;&lt;property id=&quot;20300&quot; value=&quot;Slide 9 - &amp;quot;Memory Hierarchy&amp;quot;&quot;/&gt;&lt;property id=&quot;20307&quot; value=&quot;706&quot;/&gt;&lt;property id=&quot;20309&quot; value=&quot;-1&quot;/&gt;&lt;/object&gt;&lt;object type=&quot;3&quot; unique_id=&quot;22131&quot;&gt;&lt;property id=&quot;20148&quot; value=&quot;5&quot;/&gt;&lt;property id=&quot;20300&quot; value=&quot;Slide 12 - &amp;quot;Memory Hierarchy&amp;quot;&quot;/&gt;&lt;property id=&quot;20307&quot; value=&quot;707&quot;/&gt;&lt;property id=&quot;20309&quot; value=&quot;-1&quot;/&gt;&lt;/object&gt;&lt;object type=&quot;3&quot; unique_id=&quot;22132&quot;&gt;&lt;property id=&quot;20148&quot; value=&quot;5&quot;/&gt;&lt;property id=&quot;20300&quot; value=&quot;Slide 14 - &amp;quot;Why Locality?&amp;quot;&quot;/&gt;&lt;property id=&quot;20307&quot; value=&quot;708&quot;/&gt;&lt;property id=&quot;20309&quot; value=&quot;-1&quot;/&gt;&lt;/object&gt;&lt;object type=&quot;3&quot; unique_id=&quot;23099&quot;&gt;&lt;property id=&quot;20148&quot; value=&quot;5&quot;/&gt;&lt;property id=&quot;20300&quot; value=&quot;Slide 17 - &amp;quot;Caches&amp;quot;&quot;/&gt;&lt;property id=&quot;20307&quot; value=&quot;709&quot;/&gt;&lt;property id=&quot;20309&quot; value=&quot;-1&quot;/&gt;&lt;/object&gt;&lt;object type=&quot;3&quot; unique_id=&quot;23100&quot;&gt;&lt;property id=&quot;20148&quot; value=&quot;5&quot;/&gt;&lt;property id=&quot;20300&quot; value=&quot;Slide 18 - &amp;quot;Caches – Placement&amp;quot;&quot;/&gt;&lt;property id=&quot;20307&quot; value=&quot;710&quot;/&gt;&lt;property id=&quot;20309&quot; value=&quot;-1&quot;/&gt;&lt;/object&gt;&lt;object type=&quot;3&quot; unique_id=&quot;24780&quot;&gt;&lt;property id=&quot;20148&quot; value=&quot;5&quot;/&gt;&lt;property id=&quot;20300&quot; value=&quot;Slide 10 - &amp;quot;Memory Hierarchy&amp;quot;&quot;/&gt;&lt;property id=&quot;20307&quot; value=&quot;722&quot;/&gt;&lt;property id=&quot;20309&quot; value=&quot;-1&quot;/&gt;&lt;/object&gt;&lt;object type=&quot;3&quot; unique_id=&quot;25694&quot;&gt;&lt;property id=&quot;20148&quot; value=&quot;5&quot;/&gt;&lt;property id=&quot;20300&quot; value=&quot;Slide 11 - &amp;quot;Memory Hierarchy&amp;quot;&quot;/&gt;&lt;property id=&quot;20307&quot; value=&quot;723&quot;/&gt;&lt;property id=&quot;20309&quot; value=&quot;-1&quot;/&gt;&lt;/object&gt;&lt;object type=&quot;3&quot; unique_id=&quot;160430&quot;&gt;&lt;property id=&quot;20148&quot; value=&quot;5&quot;/&gt;&lt;property id=&quot;20300&quot; value=&quot;Slide 19 - &amp;quot;Caches – Placement&amp;quot;&quot;/&gt;&lt;property id=&quot;20307&quot; value=&quot;724&quot;/&gt;&lt;property id=&quot;20309&quot; value=&quot;-1&quot;/&gt;&lt;/object&gt;&lt;object type=&quot;3&quot; unique_id=&quot;162887&quot;&gt;&lt;property id=&quot;20148&quot; value=&quot;5&quot;/&gt;&lt;property id=&quot;20300&quot; value=&quot;Slide 21 - &amp;quot;Caches – Replacement&amp;quot;&quot;/&gt;&lt;property id=&quot;20307&quot; value=&quot;726&quot;/&gt;&lt;property id=&quot;20309&quot; value=&quot;-1&quot;/&gt;&lt;/object&gt;&lt;object type=&quot;3&quot; unique_id=&quot;163609&quot;&gt;&lt;property id=&quot;20148&quot; value=&quot;5&quot;/&gt;&lt;property id=&quot;20300&quot; value=&quot;Slide 22 - &amp;quot;Caches – Write Policy&amp;quot;&quot;/&gt;&lt;property id=&quot;20307&quot; value=&quot;727&quot;/&gt;&lt;property id=&quot;20309&quot; value=&quot;-1&quot;/&gt;&lt;/object&gt;&lt;object type=&quot;3&quot; unique_id=&quot;163934&quot;&gt;&lt;property id=&quot;20148&quot; value=&quot;5&quot;/&gt;&lt;property id=&quot;20300&quot; value=&quot;Slide 13 - &amp;quot;Memory Hierarchy&amp;quot;&quot;/&gt;&lt;property id=&quot;20307&quot; value=&quot;728&quot;/&gt;&lt;property id=&quot;20309&quot; value=&quot;-1&quot;/&gt;&lt;/object&gt;&lt;object type=&quot;3&quot; unique_id=&quot;164915&quot;&gt;&lt;property id=&quot;20148&quot; value=&quot;5&quot;/&gt;&lt;property id=&quot;20300&quot; value=&quot;Slide 20 - &amp;quot;Caches – Replacement&amp;quot;&quot;/&gt;&lt;property id=&quot;20307&quot; value=&quot;729&quot;/&gt;&lt;property id=&quot;20309&quot; value=&quot;-1&quot;/&gt;&lt;/object&gt;&lt;object type=&quot;3&quot; unique_id=&quot;165408&quot;&gt;&lt;property id=&quot;20148&quot; value=&quot;5&quot;/&gt;&lt;property id=&quot;20300&quot; value=&quot;Slide 16 - &amp;quot;Caches&amp;quot;&quot;/&gt;&lt;property id=&quot;20307&quot; value=&quot;731&quot;/&gt;&lt;property id=&quot;20309&quot; value=&quot;-1&quot;/&gt;&lt;/object&gt;&lt;object type=&quot;3&quot; unique_id=&quot;167070&quot;&gt;&lt;property id=&quot;20148&quot; value=&quot;5&quot;/&gt;&lt;property id=&quot;20300&quot; value=&quot;Slide 25 - &amp;quot;Exercise&amp;quot;&quot;/&gt;&lt;property id=&quot;20307&quot; value=&quot;735&quot;/&gt;&lt;property id=&quot;20309&quot; value=&quot;-1&quot;/&gt;&lt;/object&gt;&lt;object type=&quot;3&quot; unique_id=&quot;167412&quot;&gt;&lt;property id=&quot;20148&quot; value=&quot;5&quot;/&gt;&lt;property id=&quot;20300&quot; value=&quot;Slide 26 - &amp;quot;Exercise&amp;quot;&quot;/&gt;&lt;property id=&quot;20307&quot; value=&quot;736&quot;/&gt;&lt;property id=&quot;20309&quot; value=&quot;-1&quot;/&gt;&lt;/object&gt;&lt;object type=&quot;3&quot; unique_id=&quot;167723&quot;&gt;&lt;property id=&quot;20148&quot; value=&quot;5&quot;/&gt;&lt;property id=&quot;20300&quot; value=&quot;Slide 24 - &amp;quot;Exercise&amp;quot;&quot;/&gt;&lt;property id=&quot;20307&quot; value=&quot;737&quot;/&gt;&lt;property id=&quot;20309&quot; value=&quot;-1&quot;/&gt;&lt;/object&gt;&lt;object type=&quot;3&quot; unique_id=&quot;169015&quot;&gt;&lt;property id=&quot;20148&quot; value=&quot;5&quot;/&gt;&lt;property id=&quot;20300&quot; value=&quot;Slide 23 - &amp;quot;Caches – Example&amp;quot;&quot;/&gt;&lt;property id=&quot;20307&quot; value=&quot;738&quot;/&gt;&lt;property id=&quot;20309&quot; value=&quot;-1&quot;/&gt;&lt;/object&gt;&lt;/object&gt;&lt;object type=&quot;8&quot; unique_id=&quot;10391&quot;&gt;&lt;/object&gt;&lt;object type=&quot;10&quot; unique_id=&quot;19165&quot;&gt;&lt;object type=&quot;11&quot; unique_id=&quot;19166&quot;&gt;&lt;property id=&quot;20180&quot; value=&quot;0&quot;/&gt;&lt;property id=&quot;20181&quot; value=&quot;1&quot;/&gt;&lt;property id=&quot;20183&quot; value=&quot;1&quot;/&gt;&lt;/object&gt;&lt;object type=&quot;12&quot; unique_id=&quot;171345&quot;&gt;&lt;/object&gt;&lt;/object&gt;&lt;object type=&quot;4&quot; unique_id=&quot;19167&quot;&gt;&lt;/object&gt;&lt;/object&gt;&lt;/database&gt;"/>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1622838099,C:\Users\sanmi\GoogleDrive\UWMdrive\Courses\ECE552\ece552-lec11_CacheConcepts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32D29E-C5A9-40F1-A84C-0ACF162CB9C3}_1.png&quot;/&gt;&lt;left val=&quot;35&quot;/&gt;&lt;top val=&quot;195&quot;/&gt;&lt;width val=&quot;648&quot;/&gt;&lt;height val=&quot;102&quot;/&gt;&lt;hasText val=&quot;1&quot;/&gt;&lt;/Image&gt;&lt;/ThreeDShapeInfo&gt;"/>
  <p:tag name="PRESENTER_SHAPETEXTINFO" val="&lt;ShapeTextInfo&gt;&lt;TableIndex row=&quot;-1&quot; col=&quot;-1&quot;&gt;&lt;linesCount val=&quot;1&quot;/&gt;&lt;lineCharCount val=&quot;26&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CD4D9B4-DA73-4253-922E-E590356119D4}_1.png&quot;/&gt;&lt;left val=&quot;103&quot;/&gt;&lt;top val=&quot;302&quot;/&gt;&lt;width val=&quot;512&quot;/&gt;&lt;height val=&quot;163&quot;/&gt;&lt;hasText val=&quot;1&quot;/&gt;&lt;/Image&gt;&lt;/ThreeDShapeInfo&gt;"/>
  <p:tag name="PRESENTER_SHAPETEXTINFO" val="&lt;ShapeTextInfo&gt;&lt;TableIndex row=&quot;-1&quot; col=&quot;-1&quot;&gt;&lt;linesCount val=&quot;6&quot;/&gt;&lt;lineCharCount val=&quot;24&quot;/&gt;&lt;lineCharCount val=&quot;1&quot;/&gt;&lt;lineCharCount val=&quot;55&quot;/&gt;&lt;lineCharCount val=&quot;53&quot;/&gt;&lt;lineCharCount val=&quot;14&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1622838099,C:\Users\sanmi\GoogleDrive\UWMdrive\Courses\ECE552\ece552-lec11_CacheConcepts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D54AB59-3CBC-483D-827D-24741652CEB0}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6&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216B6DA-9EDA-49BD-BF09-112BECDE19CA}_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0A00DD9-421A-4342-918E-8460F86B7073}_2.png&quot;/&gt;&lt;left val=&quot;126&quot;/&gt;&lt;top val=&quot;126&quot;/&gt;&lt;width val=&quot;529&quot;/&gt;&lt;height val=&quot;195&quot;/&gt;&lt;hasText val=&quot;1&quot;/&gt;&lt;/Image&gt;&lt;/ThreeDShapeInfo&gt;"/>
  <p:tag name="PRESENTER_SHAPETEXTINFO" val="&lt;ShapeTextInfo&gt;&lt;TableIndex row=&quot;-1&quot; col=&quot;-1&quot;&gt;&lt;linesCount val=&quot;7&quot;/&gt;&lt;lineCharCount val=&quot;42&quot;/&gt;&lt;lineCharCount val=&quot;42&quot;/&gt;&lt;lineCharCount val=&quot;42&quot;/&gt;&lt;lineCharCount val=&quot;42&quot;/&gt;&lt;lineCharCount val=&quot;42&quot;/&gt;&lt;lineCharCount val=&quot;42&quot;/&gt;&lt;lineCharCount val=&quot;42&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1622838099,C:\Users\sanmi\GoogleDrive\UWMdrive\Courses\ECE552\ece552-lec11_CacheConcepts_pptx\Media.ppcx"/>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2ECBEB6-730E-480B-8C39-13E36EEFF739}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5&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9D3D059-7144-49D0-B8C7-2C70652C6648}_3.png&quot;/&gt;&lt;left val=&quot;67&quot;/&gt;&lt;top val=&quot;147&quot;/&gt;&lt;width val=&quot;605&quot;/&gt;&lt;height val=&quot;269&quot;/&gt;&lt;hasText val=&quot;1&quot;/&gt;&lt;/Image&gt;&lt;/ThreeDShapeInfo&gt;"/>
  <p:tag name="PRESENTER_SHAPETEXTINFO" val="&lt;ShapeTextInfo&gt;&lt;TableIndex row=&quot;1&quot; col=&quot;1&quot;&gt;&lt;linesCount val=&quot;1&quot;/&gt;&lt;lineCharCount val=&quot;4&quot;/&gt;&lt;/TableIndex&gt;&lt;TableIndex row=&quot;1&quot; col=&quot;2&quot;&gt;&lt;linesCount val=&quot;1&quot;/&gt;&lt;lineCharCount val=&quot;4&quot;/&gt;&lt;/TableIndex&gt;&lt;TableIndex row=&quot;1&quot; col=&quot;3&quot;&gt;&lt;linesCount val=&quot;1&quot;/&gt;&lt;lineCharCount val=&quot;5&quot;/&gt;&lt;/TableIndex&gt;&lt;TableIndex row=&quot;1&quot; col=&quot;4&quot;&gt;&lt;linesCount val=&quot;1&quot;/&gt;&lt;lineCharCount val=&quot;8&quot;/&gt;&lt;/TableIndex&gt;&lt;TableIndex row=&quot;2&quot; col=&quot;1&quot;&gt;&lt;linesCount val=&quot;1&quot;/&gt;&lt;lineCharCount val=&quot;9&quot;/&gt;&lt;/TableIndex&gt;&lt;TableIndex row=&quot;2&quot; col=&quot;2&quot;&gt;&lt;linesCount val=&quot;1&quot;/&gt;&lt;lineCharCount val=&quot;5&quot;/&gt;&lt;/TableIndex&gt;&lt;TableIndex row=&quot;2&quot; col=&quot;3&quot;&gt;&lt;linesCount val=&quot;1&quot;/&gt;&lt;lineCharCount val=&quot;5&quot;/&gt;&lt;/TableIndex&gt;&lt;TableIndex row=&quot;2&quot; col=&quot;4&quot;&gt;&lt;linesCount val=&quot;1&quot;/&gt;&lt;lineCharCount val=&quot;4&quot;/&gt;&lt;/TableIndex&gt;&lt;TableIndex row=&quot;3&quot; col=&quot;1&quot;&gt;&lt;linesCount val=&quot;1&quot;/&gt;&lt;lineCharCount val=&quot;12&quot;/&gt;&lt;/TableIndex&gt;&lt;TableIndex row=&quot;3&quot; col=&quot;2&quot;&gt;&lt;linesCount val=&quot;1&quot;/&gt;&lt;lineCharCount val=&quot;9&quot;/&gt;&lt;/TableIndex&gt;&lt;TableIndex row=&quot;3&quot; col=&quot;3&quot;&gt;&lt;linesCount val=&quot;1&quot;/&gt;&lt;lineCharCount val=&quot;6&quot;/&gt;&lt;/TableIndex&gt;&lt;TableIndex row=&quot;3&quot; col=&quot;4&quot;&gt;&lt;linesCount val=&quot;1&quot;/&gt;&lt;lineCharCount val=&quot;3&quot;/&gt;&lt;/TableIndex&gt;&lt;TableIndex row=&quot;4&quot; col=&quot;1&quot;&gt;&lt;linesCount val=&quot;1&quot;/&gt;&lt;lineCharCount val=&quot;13&quot;/&gt;&lt;/TableIndex&gt;&lt;TableIndex row=&quot;4&quot; col=&quot;2&quot;&gt;&lt;linesCount val=&quot;1&quot;/&gt;&lt;lineCharCount val=&quot;10&quot;/&gt;&lt;/TableIndex&gt;&lt;TableIndex row=&quot;4&quot; col=&quot;3&quot;&gt;&lt;linesCount val=&quot;1&quot;/&gt;&lt;lineCharCount val=&quot;7&quot;/&gt;&lt;/TableIndex&gt;&lt;TableIndex row=&quot;4&quot; col=&quot;4&quot;&gt;&lt;linesCount val=&quot;1&quot;/&gt;&lt;lineCharCount val=&quot;2&quot;/&gt;&lt;/TableIndex&gt;&lt;TableIndex row=&quot;5&quot; col=&quot;1&quot;&gt;&lt;linesCount val=&quot;1&quot;/&gt;&lt;lineCharCount val=&quot;4&quot;/&gt;&lt;/TableIndex&gt;&lt;TableIndex row=&quot;5&quot; col=&quot;2&quot;&gt;&lt;linesCount val=&quot;1&quot;/&gt;&lt;lineCharCount val=&quot;10&quot;/&gt;&lt;/TableIndex&gt;&lt;TableIndex row=&quot;5&quot; col=&quot;3&quot;&gt;&lt;linesCount val=&quot;1&quot;/&gt;&lt;lineCharCount val=&quot;6&quot;/&gt;&lt;/TableIndex&gt;&lt;TableIndex row=&quot;5&quot; col=&quot;4&quot;&gt;&lt;linesCount val=&quot;1&quot;/&gt;&lt;lineCharCount val=&quot;1&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3F69B87-E483-4D5E-A30D-1E381909B4FA}_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1622838099,C:\Users\sanmi\GoogleDrive\UWMdrive\Courses\ECE552\ece552-lec11_CacheConcepts_pptx\Media.ppcx"/>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A9B6B43-2F01-449F-BFB5-68E8691A078E}_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INFO" val="&lt;ThreeDShapeInfo&gt;&lt;uuid val=&quot;{E02EC794-7B76-4F28-990D-1D7EF91D0237}&quot;/&gt;&lt;isInvalidForFieldText val=&quot;0&quot;/&gt;&lt;Image&gt;&lt;filename val=&quot;C:\Users\sanmi\Documents\My Adobe Presentations\ece552-CacheConcepts\data\asimages\{E02EC794-7B76-4F28-990D-1D7EF91D0237}.png&quot;/&gt;&lt;left val=&quot;143&quot;/&gt;&lt;top val=&quot;75&quot;/&gt;&lt;width val=&quot;546&quot;/&gt;&lt;height val=&quot;427&quot;/&gt;&lt;hasText val=&quot;1&quot;/&gt;&lt;/Image&gt;&lt;/ThreeDShape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88F0620-6D01-40B8-82DA-176C5F4332B9}_4.png&quot;/&gt;&lt;left val=&quot;583&quot;/&gt;&lt;top val=&quot;86&quot;/&gt;&lt;width val=&quot;36&quot;/&gt;&lt;height val=&quot;34&quot;/&gt;&lt;hasText val=&quot;1&quot;/&gt;&lt;/Image&gt;&lt;/ThreeDShapeInfo&gt;"/>
  <p:tag name="PRESENTER_SHAPETEXTINFO" val="&lt;ShapeTextInfo&gt;&lt;TableIndex row=&quot;-1&quot; col=&quot;-1&quot;&gt;&lt;linesCount val=&quot;1&quot;/&gt;&lt;lineCharCount val=&quot;2&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87D3A3D-59F7-4C71-B9E6-F7A4D7F41806}_4.png&quot;/&gt;&lt;left val=&quot;618&quot;/&gt;&lt;top val=&quot;86&quot;/&gt;&lt;width val=&quot;30&quot;/&gt;&lt;height val=&quot;34&quot;/&gt;&lt;hasText val=&quot;1&quot;/&gt;&lt;/Image&gt;&lt;/ThreeDShapeInfo&gt;"/>
  <p:tag name="PRESENTER_SHAPETEXTINFO" val="&lt;ShapeTextInfo&gt;&lt;TableIndex row=&quot;-1&quot; col=&quot;-1&quot;&gt;&lt;linesCount val=&quot;1&quot;/&gt;&lt;lineCharCount val=&quot;1&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9317517-BEE6-4F3A-87DF-EC87135AB01A}_4.png&quot;/&gt;&lt;left val=&quot;603&quot;/&gt;&lt;top val=&quot;124&quot;/&gt;&lt;width val=&quot;31&quot;/&gt;&lt;height val=&quot;34&quot;/&gt;&lt;hasText val=&quot;1&quot;/&gt;&lt;/Image&gt;&lt;/ThreeDShapeInfo&gt;"/>
  <p:tag name="PRESENTER_SHAPETEXTINFO" val="&lt;ShapeTextInfo&gt;&lt;TableIndex row=&quot;-1&quot; col=&quot;-1&quot;&gt;&lt;linesCount val=&quot;1&quot;/&gt;&lt;lineCharCount val=&quot;1&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85B51E0-9971-4761-8105-34032A4BC976}_4.png&quot;/&gt;&lt;left val=&quot;89&quot;/&gt;&lt;top val=&quot;216&quot;/&gt;&lt;width val=&quot;108&quot;/&gt;&lt;height val=&quot;34&quot;/&gt;&lt;hasText val=&quot;1&quot;/&gt;&lt;/Image&gt;&lt;/ThreeDShapeInfo&gt;"/>
  <p:tag name="PRESENTER_SHAPETEXTINFO" val="&lt;ShapeTextInfo&gt;&lt;TableIndex row=&quot;-1&quot; col=&quot;-1&quot;&gt;&lt;linesCount val=&quot;1&quot;/&gt;&lt;lineCharCount val=&quot;14&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757847F-692C-4A11-B162-097B1AF449AC}_4.png&quot;/&gt;&lt;left val=&quot;81&quot;/&gt;&lt;top val=&quot;307&quot;/&gt;&lt;width val=&quot;116&quot;/&gt;&lt;height val=&quot;34&quot;/&gt;&lt;hasText val=&quot;1&quot;/&gt;&lt;/Image&gt;&lt;/ThreeDShapeInfo&gt;"/>
  <p:tag name="PRESENTER_SHAPETEXTINFO" val="&lt;ShapeTextInfo&gt;&lt;TableIndex row=&quot;-1&quot; col=&quot;-1&quot;&gt;&lt;linesCount val=&quot;1&quot;/&gt;&lt;lineCharCount val=&quot;15&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E6C4CC9-C971-41C5-ADC7-E1E752B0DD01}_4.png&quot;/&gt;&lt;left val=&quot;81&quot;/&gt;&lt;top val=&quot;396&quot;/&gt;&lt;width val=&quot;116&quot;/&gt;&lt;height val=&quot;34&quot;/&gt;&lt;hasText val=&quot;1&quot;/&gt;&lt;/Image&gt;&lt;/ThreeDShapeInfo&gt;"/>
  <p:tag name="PRESENTER_SHAPETEXTINFO" val="&lt;ShapeTextInfo&gt;&lt;TableIndex row=&quot;-1&quot; col=&quot;-1&quot;&gt;&lt;linesCount val=&quot;1&quot;/&gt;&lt;lineCharCount val=&quot;15&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F86BA62-DAC6-4E2B-92B6-E76BAF3B155E}_4.png&quot;/&gt;&lt;left val=&quot;461&quot;/&gt;&lt;top val=&quot;180&quot;/&gt;&lt;width val=&quot;114&quot;/&gt;&lt;height val=&quot;53&quot;/&gt;&lt;hasText val=&quot;1&quot;/&gt;&lt;/Image&gt;&lt;/ThreeDShapeInfo&gt;"/>
  <p:tag name="PRESENTER_SHAPETEXTINFO" val="&lt;ShapeTextInfo&gt;&lt;TableIndex row=&quot;-1&quot; col=&quot;-1&quot;&gt;&lt;linesCount val=&quot;2&quot;/&gt;&lt;lineCharCount val=&quot;11&quot;/&gt;&lt;lineCharCount val=&quot;7&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6EA7B07-97D1-4D29-BC61-C540B2C28423}_4.png&quot;/&gt;&lt;left val=&quot;419&quot;/&gt;&lt;top val=&quot;484&quot;/&gt;&lt;width val=&quot;95&quot;/&gt;&lt;height val=&quot;54&quot;/&gt;&lt;hasText val=&quot;1&quot;/&gt;&lt;/Image&gt;&lt;/ThreeDShapeInfo&gt;"/>
  <p:tag name="PRESENTER_SHAPETEXTINFO" val="&lt;ShapeTextInfo&gt;&lt;TableIndex row=&quot;-1&quot; col=&quot;-1&quot;&gt;&lt;linesCount val=&quot;2&quot;/&gt;&lt;lineCharCount val=&quot;12&quot;/&gt;&lt;lineCharCount val=&quot;7&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DD5C9B7-BBA1-47F1-88F1-E8E24C07D55A}_4.png&quot;/&gt;&lt;left val=&quot;508&quot;/&gt;&lt;top val=&quot;484&quot;/&gt;&lt;width val=&quot;95&quot;/&gt;&lt;height val=&quot;53&quot;/&gt;&lt;hasText val=&quot;1&quot;/&gt;&lt;/Image&gt;&lt;/ThreeDShapeInfo&gt;"/>
  <p:tag name="PRESENTER_SHAPETEXTINFO" val="&lt;ShapeTextInfo&gt;&lt;TableIndex row=&quot;-1&quot; col=&quot;-1&quot;&gt;&lt;linesCount val=&quot;2&quot;/&gt;&lt;lineCharCount val=&quot;12&quot;/&gt;&lt;lineCharCount val=&quot;7&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A7E787F-9EB6-4F85-868E-E571A5E09480}_4.png&quot;/&gt;&lt;left val=&quot;227&quot;/&gt;&lt;top val=&quot;201&quot;/&gt;&lt;width val=&quot;66&quot;/&gt;&lt;height val=&quot;86&quot;/&gt;&lt;hasText val=&quot;1&quot;/&gt;&lt;/Image&gt;&lt;/ThreeDShapeInfo&gt;"/>
  <p:tag name="PRESENTER_SHAPETEXTINFO" val="&lt;ShapeTextInfo&gt;&lt;TableIndex row=&quot;-1&quot; col=&quot;-1&quot;&gt;&lt;linesCount val=&quot;2&quot;/&gt;&lt;lineCharCount val=&quot;8&quot;/&gt;&lt;lineCharCount val=&quot;7&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E3AF213-716C-4D4F-B535-A1B1040F7A28}_4.png&quot;/&gt;&lt;left val=&quot;227&quot;/&gt;&lt;top val=&quot;292&quot;/&gt;&lt;width val=&quot;66&quot;/&gt;&lt;height val=&quot;85&quot;/&gt;&lt;hasText val=&quot;1&quot;/&gt;&lt;/Image&gt;&lt;/ThreeDShapeInfo&gt;"/>
  <p:tag name="PRESENTER_SHAPETEXTINFO" val="&lt;ShapeTextInfo&gt;&lt;TableIndex row=&quot;-1&quot; col=&quot;-1&quot;&gt;&lt;linesCount val=&quot;2&quot;/&gt;&lt;lineCharCount val=&quot;8&quot;/&gt;&lt;lineCharCount val=&quot;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B5F0AE9-7BB8-40DF-BF51-F5B31A73C3D7}_4.png&quot;/&gt;&lt;left val=&quot;227&quot;/&gt;&lt;top val=&quot;384&quot;/&gt;&lt;width val=&quot;66&quot;/&gt;&lt;height val=&quot;86&quot;/&gt;&lt;hasText val=&quot;1&quot;/&gt;&lt;/Image&gt;&lt;/ThreeDShapeInfo&gt;"/>
  <p:tag name="PRESENTER_SHAPETEXTINFO" val="&lt;ShapeTextInfo&gt;&lt;TableIndex row=&quot;-1&quot; col=&quot;-1&quot;&gt;&lt;linesCount val=&quot;2&quot;/&gt;&lt;lineCharCount val=&quot;8&quot;/&gt;&lt;lineCharCount val=&quot;7&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DD0B508-F46B-4F60-8F12-79F26BA2A4B1}_4.png&quot;/&gt;&lt;left val=&quot;357&quot;/&gt;&lt;top val=&quot;330&quot;/&gt;&lt;width val=&quot;45&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458FF32-8F32-4C9E-84C1-FC049B1FBF13}_4.png&quot;/&gt;&lt;left val=&quot;489&quot;/&gt;&lt;top val=&quot;330&quot;/&gt;&lt;width val=&quot;45&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E2226AF-F4A3-4C2F-9C50-9158EDA37DE9}_4.png&quot;/&gt;&lt;left val=&quot;619&quot;/&gt;&lt;top val=&quot;330&quot;/&gt;&lt;width val=&quot;45&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8E8042-BCEA-4C1C-8E43-5A76A53E2C60}_4.png&quot;/&gt;&lt;left val=&quot;27&quot;/&gt;&lt;top val=&quot;120&quot;/&gt;&lt;width val=&quot;657&quot;/&gt;&lt;height val=&quot;362&quot;/&gt;&lt;hasText val=&quot;1&quot;/&gt;&lt;/Image&gt;&lt;/ThreeDShapeInfo&gt;"/>
  <p:tag name="PRESENTER_SHAPETEXTINFO" val="&lt;ShapeTextInfo&gt;&lt;TableIndex row=&quot;-1&quot; col=&quot;-1&quot;&gt;&lt;linesCount val=&quot;1&quot;/&gt;&lt;lineCharCount val=&quot;26&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0337D92-5AED-4BEF-A482-81623CD8D766}_4.png&quot;/&gt;&lt;left val=&quot;550&quot;/&gt;&lt;top val=&quot;168&quot;/&gt;&lt;width val=&quot;34&quot;/&gt;&lt;height val=&quot;34&quot;/&gt;&lt;hasText val=&quot;1&quot;/&gt;&lt;/Image&gt;&lt;/ThreeDShapeInfo&gt;"/>
  <p:tag name="PRESENTER_SHAPETEXTINFO" val="&lt;ShapeTextInfo&gt;&lt;TableIndex row=&quot;-1&quot; col=&quot;-1&quot;&gt;&lt;linesCount val=&quot;1&quot;/&gt;&lt;lineCharCount val=&quot;2&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2A905CC-0DAB-4138-A5B1-B5D8168370BC}_4.png&quot;/&gt;&lt;left val=&quot;550&quot;/&gt;&lt;top val=&quot;192&quot;/&gt;&lt;width val=&quot;34&quot;/&gt;&lt;height val=&quot;34&quot;/&gt;&lt;hasText val=&quot;1&quot;/&gt;&lt;/Image&gt;&lt;/ThreeDShapeInfo&gt;"/>
  <p:tag name="PRESENTER_SHAPETEXTINFO" val="&lt;ShapeTextInfo&gt;&lt;TableIndex row=&quot;-1&quot; col=&quot;-1&quot;&gt;&lt;linesCount val=&quot;1&quot;/&gt;&lt;lineCharCount val=&quot;2&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BC05771-008E-46E9-B0E0-1A37E8C15CB1}_4.png&quot;/&gt;&lt;left val=&quot;362&quot;/&gt;&lt;top val=&quot;297&quot;/&gt;&lt;width val=&quot;36&quot;/&gt;&lt;height val=&quot;34&quot;/&gt;&lt;hasText val=&quot;1&quot;/&gt;&lt;/Image&gt;&lt;/ThreeDShapeInfo&gt;"/>
  <p:tag name="PRESENTER_SHAPETEXTINFO" val="&lt;ShapeTextInfo&gt;&lt;TableIndex row=&quot;-1&quot; col=&quot;-1&quot;&gt;&lt;linesCount val=&quot;1&quot;/&gt;&lt;lineCharCount val=&quot;2&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C439867-4301-4234-8BDE-78CECA9C430C}_4.png&quot;/&gt;&lt;left val=&quot;670&quot;/&gt;&lt;top val=&quot;330&quot;/&gt;&lt;width val=&quot;36&quot;/&gt;&lt;height val=&quot;34&quot;/&gt;&lt;hasText val=&quot;1&quot;/&gt;&lt;/Image&gt;&lt;/ThreeDShapeInfo&gt;"/>
  <p:tag name="PRESENTER_SHAPETEXTINFO" val="&lt;ShapeTextInfo&gt;&lt;TableIndex row=&quot;-1&quot; col=&quot;-1&quot;&gt;&lt;linesCount val=&quot;1&quot;/&gt;&lt;lineCharCount val=&quot;2&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5560BC9-BF0A-42D2-85DF-B93F6649F860}_4.png&quot;/&gt;&lt;left val=&quot;630&quot;/&gt;&lt;top val=&quot;297&quot;/&gt;&lt;width val=&quot;28&quot;/&gt;&lt;height val=&quot;34&quot;/&gt;&lt;hasText val=&quot;1&quot;/&gt;&lt;/Image&gt;&lt;/ThreeDShapeInfo&gt;"/>
  <p:tag name="PRESENTER_SHAPETEXTINFO" val="&lt;ShapeTextInfo&gt;&lt;TableIndex row=&quot;-1&quot; col=&quot;-1&quot;&gt;&lt;linesCount val=&quot;1&quot;/&gt;&lt;lineCharCount val=&quot;1&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50DC9CD-08D7-404E-9268-2C9F17FCF25C}_4.png&quot;/&gt;&lt;left val=&quot;675&quot;/&gt;&lt;top val=&quot;435&quot;/&gt;&lt;width val=&quot;28&quot;/&gt;&lt;height val=&quot;34&quot;/&gt;&lt;hasText val=&quot;1&quot;/&gt;&lt;/Image&gt;&lt;/ThreeDShapeInfo&gt;"/>
  <p:tag name="PRESENTER_SHAPETEXTINFO" val="&lt;ShapeTextInfo&gt;&lt;TableIndex row=&quot;-1&quot; col=&quot;-1&quot;&gt;&lt;linesCount val=&quot;1&quot;/&gt;&lt;lineCharCount val=&quot;1&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07BFB52-8E00-4143-9187-0D5830549B7B}_4.png&quot;/&gt;&lt;left val=&quot;183&quot;/&gt;&lt;top val=&quot;248&quot;/&gt;&lt;width val=&quot;21&quot;/&gt;&lt;height val=&quot;24&quot;/&gt;&lt;hasText val=&quot;1&quot;/&gt;&lt;/Image&gt;&lt;/ThreeDShapeInfo&gt;"/>
  <p:tag name="PRESENTER_SHAPETEXTINFO" val="&lt;ShapeTextInfo&gt;&lt;TableIndex row=&quot;-1&quot; col=&quot;-1&quot;&gt;&lt;linesCount val=&quot;1&quot;/&gt;&lt;lineCharCount val=&quot;1&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D54454D-BCB6-4732-907F-94656B11A280}_4.png&quot;/&gt;&lt;left val=&quot;183&quot;/&gt;&lt;top val=&quot;338&quot;/&gt;&lt;width val=&quot;21&quot;/&gt;&lt;height val=&quot;24&quot;/&gt;&lt;hasText val=&quot;1&quot;/&gt;&lt;/Image&gt;&lt;/ThreeDShapeInfo&gt;"/>
  <p:tag name="PRESENTER_SHAPETEXTINFO" val="&lt;ShapeTextInfo&gt;&lt;TableIndex row=&quot;-1&quot; col=&quot;-1&quot;&gt;&lt;linesCount val=&quot;1&quot;/&gt;&lt;lineCharCount val=&quot;1&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CE1C076-0817-4752-AD32-F3EA0E058093}_4.png&quot;/&gt;&lt;left val=&quot;183&quot;/&gt;&lt;top val=&quot;428&quot;/&gt;&lt;width val=&quot;21&quot;/&gt;&lt;height val=&quot;24&quot;/&gt;&lt;hasText val=&quot;1&quot;/&gt;&lt;/Image&gt;&lt;/ThreeDShapeInfo&gt;"/>
  <p:tag name="PRESENTER_SHAPETEXTINFO" val="&lt;ShapeTextInfo&gt;&lt;TableIndex row=&quot;-1&quot; col=&quot;-1&quot;&gt;&lt;linesCount val=&quot;1&quot;/&gt;&lt;lineCharCount val=&quot;1&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DE2F8BE-06C9-4DD6-8CD4-8116ECB2612D}_4.png&quot;/&gt;&lt;left val=&quot;285&quot;/&gt;&lt;top val=&quot;313&quot;/&gt;&lt;width val=&quot;79&quot;/&gt;&lt;height val=&quot;34&quot;/&gt;&lt;hasText val=&quot;1&quot;/&gt;&lt;/Image&gt;&lt;/ThreeDShapeInfo&gt;"/>
  <p:tag name="PRESENTER_SHAPETEXTINFO" val="&lt;ShapeTextInfo&gt;&lt;TableIndex row=&quot;-1&quot; col=&quot;-1&quot;&gt;&lt;linesCount val=&quot;1&quot;/&gt;&lt;lineCharCount val=&quot;8&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9204F1B-1377-489A-AC57-FC3EFEC71076}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2&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1622838099,C:\Users\sanmi\GoogleDrive\UWMdrive\Courses\ECE552\ece552-lec11_CacheConcepts_pptx\Media.ppcx"/>
  <p:tag name="TIMING" val="|63.2"/>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618E427-BAFE-400C-BE8D-7626480D707D}_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1E6B3F4-1992-4FC3-9E2E-E261415721C8}_5.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C8AB442-4902-4308-B3E1-156AF90487A1}_5.png&quot;/&gt;&lt;left val=&quot;55&quot;/&gt;&lt;top val=&quot;305&quot;/&gt;&lt;width val=&quot;79&quot;/&gt;&lt;height val=&quot;34&quot;/&gt;&lt;hasText val=&quot;1&quot;/&gt;&lt;/Image&gt;&lt;/ThreeDShapeInfo&gt;"/>
  <p:tag name="PRESENTER_SHAPETEXTINFO" val="&lt;ShapeTextInfo&gt;&lt;TableIndex row=&quot;-1&quot; col=&quot;-1&quot;&gt;&lt;linesCount val=&quot;1&quot;/&gt;&lt;lineCharCount val=&quot;8&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4373959-577D-4D11-AF40-918C62319D3C}_5.png&quot;/&gt;&lt;left val=&quot;597&quot;/&gt;&lt;top val=&quot;412&quot;/&gt;&lt;width val=&quot;62&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8F774D0-4EE5-4FBE-BD60-E9EC761C0DCD}_5.png&quot;/&gt;&lt;left val=&quot;138&quot;/&gt;&lt;top val=&quot;413&quot;/&gt;&lt;width val=&quot;62&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2F05746-A882-429E-B32F-8B7C881823A3}_5.png&quot;/&gt;&lt;left val=&quot;127&quot;/&gt;&lt;top val=&quot;457&quot;/&gt;&lt;width val=&quot;544&quot;/&gt;&lt;height val=&quot;34&quot;/&gt;&lt;hasText val=&quot;1&quot;/&gt;&lt;/Image&gt;&lt;/ThreeDShapeInfo&gt;"/>
  <p:tag name="PRESENTER_SHAPETEXTINFO" val="&lt;ShapeTextInfo&gt;&lt;TableIndex row=&quot;-1&quot; col=&quot;-1&quot;&gt;&lt;linesCount val=&quot;1&quot;/&gt;&lt;lineCharCount val=&quot;28&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2C051A2-1536-4350-92B8-FDC6E34B55A0}_5.png&quot;/&gt;&lt;left val=&quot;-98&quot;/&gt;&lt;top val=&quot;286&quot;/&gt;&lt;width val=&quot;279&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97787C9-FE0E-4202-B090-16169F01D7AF}_5.png&quot;/&gt;&lt;left val=&quot;339&quot;/&gt;&lt;top val=&quot;217&quot;/&gt;&lt;width val=&quot;121&quot;/&gt;&lt;height val=&quot;34&quot;/&gt;&lt;hasText val=&quot;1&quot;/&gt;&lt;/Image&gt;&lt;/ThreeDShapeInfo&gt;"/>
  <p:tag name="PRESENTER_SHAPETEXTINFO" val="&lt;ShapeTextInfo&gt;&lt;TableIndex row=&quot;-1&quot; col=&quot;-1&quot;&gt;&lt;linesCount val=&quot;1&quot;/&gt;&lt;lineCharCount val=&quot;15&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1622838099,C:\Users\sanmi\GoogleDrive\UWMdrive\Courses\ECE552\ece552-lec11_CacheConcepts_pptx\Media.ppcx"/>
</p:tagLst>
</file>

<file path=ppt/tags/tag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D596AD8-F3B9-4B15-BA02-B73C1B7FC708}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6E0CFCE-90D8-4CB7-8604-DEA2D39E4E97}_6.png&quot;/&gt;&lt;left val=&quot;27&quot;/&gt;&lt;top val=&quot;114&quot;/&gt;&lt;width val=&quot;657&quot;/&gt;&lt;height val=&quot;368&quot;/&gt;&lt;hasText val=&quot;1&quot;/&gt;&lt;/Image&gt;&lt;/ThreeDShapeInfo&gt;"/>
  <p:tag name="PRESENTER_SHAPETEXTINFO" val="&lt;ShapeTextInfo&gt;&lt;TableIndex row=&quot;-1&quot; col=&quot;-1&quot;&gt;&lt;linesCount val=&quot;10&quot;/&gt;&lt;lineCharCount val=&quot;26&quot;/&gt;&lt;lineCharCount val=&quot;21&quot;/&gt;&lt;lineCharCount val=&quot;19&quot;/&gt;&lt;lineCharCount val=&quot;45&quot;/&gt;&lt;lineCharCount val=&quot;11&quot;/&gt;&lt;lineCharCount val=&quot;24&quot;/&gt;&lt;lineCharCount val=&quot;31&quot;/&gt;&lt;lineCharCount val=&quot;39&quot;/&gt;&lt;lineCharCount val=&quot;42&quot;/&gt;&lt;lineCharCount val=&quot;24&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764A3F8-B49F-4EF1-8B82-E2BB649CD99F}_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1622838099,C:\Users\sanmi\GoogleDrive\UWMdrive\Courses\ECE552\ece552-lec11_CacheConcepts_pptx\Media.ppcx"/>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AEEE148-275B-49D3-B3E3-A9199A7216B5}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4255A08-1E9B-4805-B1BD-FEA8A7D5FA95}_7.png&quot;/&gt;&lt;left val=&quot;27&quot;/&gt;&lt;top val=&quot;114&quot;/&gt;&lt;width val=&quot;657&quot;/&gt;&lt;height val=&quot;368&quot;/&gt;&lt;hasText val=&quot;1&quot;/&gt;&lt;/Image&gt;&lt;/ThreeDShapeInfo&gt;"/>
  <p:tag name="PRESENTER_SHAPETEXTINFO" val="&lt;ShapeTextInfo&gt;&lt;TableIndex row=&quot;-1&quot; col=&quot;-1&quot;&gt;&lt;linesCount val=&quot;9&quot;/&gt;&lt;lineCharCount val=&quot;23&quot;/&gt;&lt;lineCharCount val=&quot;19&quot;/&gt;&lt;lineCharCount val=&quot;36&quot;/&gt;&lt;lineCharCount val=&quot;32&quot;/&gt;&lt;lineCharCount val=&quot;35&quot;/&gt;&lt;lineCharCount val=&quot;21&quot;/&gt;&lt;lineCharCount val=&quot;33&quot;/&gt;&lt;lineCharCount val=&quot;22&quot;/&gt;&lt;lineCharCount val=&quot;36&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E6A6E62B-74C7-42E2-8883-36976179A1EF}_7.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1622838099,C:\Users\sanmi\GoogleDrive\UWMdrive\Courses\ECE552\ece552-lec11_CacheConcepts_pptx\Media.ppcx"/>
</p:tagLst>
</file>

<file path=ppt/tags/tag8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A23A185-7533-4D93-B377-DFBD141A970E}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23575F8-768B-4E3B-B157-5FE146CEC619}_8.png&quot;/&gt;&lt;left val=&quot;321&quot;/&gt;&lt;top val=&quot;187&quot;/&gt;&lt;width val=&quot;84&quot;/&gt;&lt;height val=&quot;34&quot;/&gt;&lt;hasText val=&quot;1&quot;/&gt;&lt;/Image&gt;&lt;/ThreeDShapeInfo&gt;"/>
  <p:tag name="PRESENTER_SHAPETEXTINFO" val="&lt;ShapeTextInfo&gt;&lt;TableIndex row=&quot;-1&quot; col=&quot;-1&quot;&gt;&lt;linesCount val=&quot;1&quot;/&gt;&lt;lineCharCount val=&quot;9&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BC7CAA3-7F87-4A0D-8EAA-16A172467B04}_8.png&quot;/&gt;&lt;left val=&quot;293&quot;/&gt;&lt;top val=&quot;268&quot;/&gt;&lt;width val=&quot;138&quot;/&gt;&lt;height val=&quot;34&quot;/&gt;&lt;hasText val=&quot;1&quot;/&gt;&lt;/Image&gt;&lt;/ThreeDShapeInfo&gt;"/>
  <p:tag name="PRESENTER_SHAPETEXTINFO" val="&lt;ShapeTextInfo&gt;&lt;TableIndex row=&quot;-1&quot; col=&quot;-1&quot;&gt;&lt;linesCount val=&quot;1&quot;/&gt;&lt;lineCharCount val=&quot;12&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33F6C48-5D8C-4A91-B6E8-DCDFF15DA31A}_8.png&quot;/&gt;&lt;left val=&quot;298&quot;/&gt;&lt;top val=&quot;346&quot;/&gt;&lt;width val=&quot;126&quot;/&gt;&lt;height val=&quot;34&quot;/&gt;&lt;hasText val=&quot;1&quot;/&gt;&lt;/Image&gt;&lt;/ThreeDShapeInfo&gt;"/>
  <p:tag name="PRESENTER_SHAPETEXTINFO" val="&lt;ShapeTextInfo&gt;&lt;TableIndex row=&quot;-1&quot; col=&quot;-1&quot;&gt;&lt;linesCount val=&quot;1&quot;/&gt;&lt;lineCharCount val=&quot;13&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26CC8E7-2EED-44DC-9DB8-84E0ECAF7FAC}_8.png&quot;/&gt;&lt;left val=&quot;323&quot;/&gt;&lt;top val=&quot;418&quot;/&gt;&lt;width val=&quot;75&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INFO" val="&lt;ThreeDShapeInfo&gt;&lt;uuid val=&quot;{569E015C-9093-42CD-83C2-42C0C403BC78}&quot;/&gt;&lt;isInvalidForFieldText val=&quot;0&quot;/&gt;&lt;Image&gt;&lt;filename val=&quot;C:\Users\sanmi\Documents\My Adobe Presentations\ece552-CacheConcepts\data\asimages\{569E015C-9093-42CD-83C2-42C0C403BC78}_8.png&quot;/&gt;&lt;left val=&quot;46&quot;/&gt;&lt;top val=&quot;161&quot;/&gt;&lt;width val=&quot;80&quot;/&gt;&lt;height val=&quot;272&quot;/&gt;&lt;hasText val=&quot;1&quot;/&gt;&lt;/Image&gt;&lt;/ThreeDShapeInfo&gt;"/>
  <p:tag name="PRESENTER_SHAPETEXTINFO" val="&lt;ShapeTextInfo&gt;&lt;TableIndex row=&quot;-1&quot; col=&quot;-1&quot;&gt;&lt;linesCount val=&quot;1&quot;/&gt;&lt;lineCharCount val=&quot;8&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INFO" val="&lt;ThreeDShapeInfo&gt;&lt;uuid val=&quot;{5756ABE2-267B-49B0-AAAF-F825802FB4E3}&quot;/&gt;&lt;isInvalidForFieldText val=&quot;0&quot;/&gt;&lt;Image&gt;&lt;filename val=&quot;C:\Users\sanmi\Documents\My Adobe Presentations\ece552-CacheConcepts\data\asimages\{5756ABE2-267B-49B0-AAAF-F825802FB4E3}_8.png&quot;/&gt;&lt;left val=&quot;598&quot;/&gt;&lt;top val=&quot;160&quot;/&gt;&lt;width val=&quot;80&quot;/&gt;&lt;height val=&quot;272&quot;/&gt;&lt;hasText val=&quot;1&quot;/&gt;&lt;/Image&gt;&lt;/ThreeDShapeInfo&gt;"/>
  <p:tag name="PRESENTER_SHAPETEXTINFO" val="&lt;ShapeTextInfo&gt;&lt;TableIndex row=&quot;-1&quot; col=&quot;-1&quot;&gt;&lt;linesCount val=&quot;1&quot;/&gt;&lt;lineCharCount val=&quot;14&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6365DF2-168A-45C1-B69F-FDA78A8A85EA}_8.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1622838099,C:\Users\sanmi\GoogleDrive\UWMdrive\Courses\ECE552\ece552-lec11_CacheConcepts_pptx\Media.ppcx"/>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96D3AAD-5E6F-417C-B11D-F9D129C44CF9}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63B2B20-87B9-443C-BB22-2DBBBC9D74DA}_9.png&quot;/&gt;&lt;left val=&quot;23&quot;/&gt;&lt;top val=&quot;112&quot;/&gt;&lt;width val=&quot;661&quot;/&gt;&lt;height val=&quot;370&quot;/&gt;&lt;hasText val=&quot;1&quot;/&gt;&lt;/Image&gt;&lt;/ThreeDShapeInfo&gt;"/>
  <p:tag name="PRESENTER_SHAPETEXTINFO" val="&lt;ShapeTextInfo&gt;&lt;TableIndex row=&quot;-1&quot; col=&quot;-1&quot;&gt;&lt;linesCount val=&quot;9&quot;/&gt;&lt;lineCharCount val=&quot;22&quot;/&gt;&lt;lineCharCount val=&quot;24&quot;/&gt;&lt;lineCharCount val=&quot;42&quot;/&gt;&lt;lineCharCount val=&quot;37&quot;/&gt;&lt;lineCharCount val=&quot;24&quot;/&gt;&lt;lineCharCount val=&quot;21&quot;/&gt;&lt;lineCharCount val=&quot;33&quot;/&gt;&lt;lineCharCount val=&quot;51&quot;/&gt;&lt;lineCharCount val=&quot;31&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2F1F89C-4822-4DCF-A72D-50396DB07E65}_9.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1&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1622838099,C:\Users\sanmi\GoogleDrive\UWMdrive\Courses\ECE552\ece552-lec11_CacheConcepts_pptx\Media.ppcx"/>
  <p:tag name="TIMING" val="|40.7|7|12.3|15.5|7.9"/>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5B173BC-007C-4271-9947-EF841C55E01B}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1768BE1-1C57-4CFD-94C8-855462C8066D}_10.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EEB8776-70ED-4EDE-96F4-E10D0F9C056D}_10.png&quot;/&gt;&lt;left val=&quot;377&quot;/&gt;&lt;top val=&quot;104&quot;/&gt;&lt;width val=&quot;330&quot;/&gt;&lt;height val=&quot;112&quot;/&gt;&lt;hasText val=&quot;1&quot;/&gt;&lt;/Image&gt;&lt;/ThreeDShapeInfo&gt;"/>
  <p:tag name="PRESENTER_SHAPETEXTINFO" val="&lt;ShapeTextInfo&gt;&lt;TableIndex row=&quot;-1&quot; col=&quot;-1&quot;&gt;&lt;linesCount val=&quot;1&quot;/&gt;&lt;lineCharCount val=&quot;27&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12E7AEE-ACDD-463A-969C-B19C91DECAB1}_10.png&quot;/&gt;&lt;left val=&quot;445&quot;/&gt;&lt;top val=&quot;281&quot;/&gt;&lt;width val=&quot;197&quot;/&gt;&lt;height val=&quot;48&quot;/&gt;&lt;hasText val=&quot;1&quot;/&gt;&lt;/Image&gt;&lt;/ThreeDShapeInfo&gt;"/>
  <p:tag name="PRESENTER_SHAPETEXTINFO" val="&lt;ShapeTextInfo&gt;&lt;TableIndex row=&quot;-1&quot; col=&quot;-1&quot;&gt;&lt;linesCount val=&quot;1&quot;/&gt;&lt;lineCharCount val=&quot;2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CacheConcepts\data\asimages\{23066FC0-7A90-43F0-908A-C4B4CCCF9203}_1.png_crop.png&quot;/&gt;&lt;left val=&quot;43&quot;/&gt;&lt;top val=&quot;117&quot;/&gt;&lt;width val=&quot;319&quot;/&gt;&lt;height val=&quot;78&quot;/&gt;&lt;hasText val=&quot;1&quot;/&gt;&lt;paraId val=&quot;1&quot;/&gt;&lt;/Image&gt;&lt;Image&gt;&lt;filename val=&quot;C:\Users\sanmi\Documents\My Adobe Presentations\ece552-CacheConcepts\data\asimages\{7B726E7B-9D52-4BE7-BA2A-FB8AF1EF91AA}_1.png_crop.png&quot;/&gt;&lt;left val=&quot;43&quot;/&gt;&lt;top val=&quot;207&quot;/&gt;&lt;width val=&quot;195&quot;/&gt;&lt;height val=&quot;17&quot;/&gt;&lt;hasText val=&quot;1&quot;/&gt;&lt;paraId val=&quot;2&quot;/&gt;&lt;/Image&gt;&lt;Image&gt;&lt;filename val=&quot;C:\Users\sanmi\Documents\My Adobe Presentations\ece552-CacheConcepts\data\asimages\{190591ED-0657-41B5-AB82-1F89FE78C3AE}_1.png_crop.png&quot;/&gt;&lt;left val=&quot;43&quot;/&gt;&lt;top val=&quot;236&quot;/&gt;&lt;width val=&quot;307&quot;/&gt;&lt;height val=&quot;16&quot;/&gt;&lt;hasText val=&quot;1&quot;/&gt;&lt;paraId val=&quot;3&quot;/&gt;&lt;/Image&gt;&lt;/TextEffect&gt;"/>
  <p:tag name="PRESENTER_SHAPETEXTINFO" val="&lt;ShapeTextInfo&gt;&lt;TableIndex row=&quot;-1&quot; col=&quot;-1&quot;&gt;&lt;linesCount val=&quot;5&quot;/&gt;&lt;lineCharCount val=&quot;30&quot;/&gt;&lt;lineCharCount val=&quot;35&quot;/&gt;&lt;lineCharCount val=&quot;30&quot;/&gt;&lt;lineCharCount val=&quot;21&quot;/&gt;&lt;lineCharCount val=&quot;37&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D3F1725-ED92-4DD7-A355-D1EB71F6C9CD}_10.png&quot;/&gt;&lt;left val=&quot;70&quot;/&gt;&lt;top val=&quot;485&quot;/&gt;&lt;width val=&quot;12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A20B022-B0D4-4768-B6D8-B58E9B8988B4}_10.png&quot;/&gt;&lt;left val=&quot;201&quot;/&gt;&lt;top val=&quot;285&quot;/&gt;&lt;width val=&quot;204&quot;/&gt;&lt;height val=&quot;34&quot;/&gt;&lt;hasText val=&quot;1&quot;/&gt;&lt;/Image&gt;&lt;/ThreeDShapeInfo&gt;"/>
  <p:tag name="PRESENTER_SHAPETEXTINFO" val="&lt;ShapeTextInfo&gt;&lt;TableIndex row=&quot;-1&quot; col=&quot;-1&quot;&gt;&lt;linesCount val=&quot;1&quot;/&gt;&lt;lineCharCount val=&quot;27&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A386249-8952-4096-850F-478747D8E590}_10.png&quot;/&gt;&lt;left val=&quot;414&quot;/&gt;&lt;top val=&quot;166&quot;/&gt;&lt;width val=&quot;259&quot;/&gt;&lt;height val=&quot;53&quot;/&gt;&lt;hasText val=&quot;1&quot;/&gt;&lt;/Image&gt;&lt;/ThreeDShapeInfo&gt;"/>
  <p:tag name="PRESENTER_SHAPETEXTINFO" val="&lt;ShapeTextInfo&gt;&lt;TableIndex row=&quot;-1&quot; col=&quot;-1&quot;&gt;&lt;linesCount val=&quot;2&quot;/&gt;&lt;lineCharCount val=&quot;39&quot;/&gt;&lt;lineCharCount val=&quot;22&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C2E01E1-D371-494E-A34F-D95345AEC050}_10.png&quot;/&gt;&lt;left val=&quot;201&quot;/&gt;&lt;top val=&quot;268&quot;/&gt;&lt;width val=&quot;165&quot;/&gt;&lt;height val=&quot;34&quot;/&gt;&lt;hasText val=&quot;1&quot;/&gt;&lt;/Image&gt;&lt;/ThreeDShapeInfo&gt;"/>
  <p:tag name="PRESENTER_SHAPETEXTINFO" val="&lt;ShapeTextInfo&gt;&lt;TableIndex row=&quot;-1&quot; col=&quot;-1&quot;&gt;&lt;linesCount val=&quot;1&quot;/&gt;&lt;lineCharCount val=&quot;21&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BE69C8B-C2E4-49B9-827B-7D16EEB2C08A}_10.png&quot;/&gt;&lt;left val=&quot;591&quot;/&gt;&lt;top val=&quot;381&quot;/&gt;&lt;width val=&quot;132&quot;/&gt;&lt;height val=&quot;34&quot;/&gt;&lt;hasText val=&quot;1&quot;/&gt;&lt;/Image&gt;&lt;/ThreeDShapeInfo&gt;"/>
  <p:tag name="PRESENTER_SHAPETEXTINFO" val="&lt;ShapeTextInfo&gt;&lt;TableIndex row=&quot;-1&quot; col=&quot;-1&quot;&gt;&lt;linesCount val=&quot;1&quot;/&gt;&lt;lineCharCount val=&quot;18&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1622838099,C:\Users\sanmi\GoogleDrive\UWMdrive\Courses\ECE552\ece552-lec11_CacheConcepts_pptx\Media.ppcx"/>
  <p:tag name="TIMING" val="|7.1|17.3"/>
</p:tagLst>
</file>

<file path=ppt/tags/tag1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877B149-EE2F-4354-AD1C-13A4C76230A6}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481E139-8728-48FF-9D8A-53C87528E56F}_11.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96DB4FC-6548-473F-9351-38B07E4EBB39}_11.png&quot;/&gt;&lt;left val=&quot;377&quot;/&gt;&lt;top val=&quot;104&quot;/&gt;&lt;width val=&quot;330&quot;/&gt;&lt;height val=&quot;112&quot;/&gt;&lt;hasText val=&quot;1&quot;/&gt;&lt;/Image&gt;&lt;/ThreeDShapeInfo&gt;"/>
  <p:tag name="PRESENTER_SHAPETEXTINFO" val="&lt;ShapeTextInfo&gt;&lt;TableIndex row=&quot;-1&quot; col=&quot;-1&quot;&gt;&lt;linesCount val=&quot;1&quot;/&gt;&lt;lineCharCount val=&quot;27&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2ACEC03-06EA-40CD-A51F-CF0D75636A8B}_11.png&quot;/&gt;&lt;left val=&quot;445&quot;/&gt;&lt;top val=&quot;281&quot;/&gt;&lt;width val=&quot;197&quot;/&gt;&lt;height val=&quot;48&quot;/&gt;&lt;hasText val=&quot;1&quot;/&gt;&lt;/Image&gt;&lt;/ThreeDShapeInfo&gt;"/>
  <p:tag name="PRESENTER_SHAPETEXTINFO" val="&lt;ShapeTextInfo&gt;&lt;TableIndex row=&quot;-1&quot; col=&quot;-1&quot;&gt;&lt;linesCount val=&quot;1&quot;/&gt;&lt;lineCharCount val=&quot;2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F9AC993-88D4-4C14-B3D6-9A4D64BFC4E0}_11.png&quot;/&gt;&lt;left val=&quot;28&quot;/&gt;&lt;top val=&quot;104&quot;/&gt;&lt;width val=&quot;354&quot;/&gt;&lt;height val=&quot;226&quot;/&gt;&lt;hasText val=&quot;1&quot;/&gt;&lt;/Image&gt;&lt;/ThreeDShapeInfo&gt;"/>
  <p:tag name="PRESENTER_SHAPETEXTINFO" val="&lt;ShapeTextInfo&gt;&lt;TableIndex row=&quot;-1&quot; col=&quot;-1&quot;&gt;&lt;linesCount val=&quot;5&quot;/&gt;&lt;lineCharCount val=&quot;30&quot;/&gt;&lt;lineCharCount val=&quot;35&quot;/&gt;&lt;lineCharCount val=&quot;30&quot;/&gt;&lt;lineCharCount val=&quot;21&quot;/&gt;&lt;lineCharCount val=&quot;37&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342728D-FF79-4AD8-A88F-AD670C32BAE6}_11.png&quot;/&gt;&lt;left val=&quot;70&quot;/&gt;&lt;top val=&quot;485&quot;/&gt;&lt;width val=&quot;12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C2F237F-6A8B-400A-A353-3C381614B07B}_11.png&quot;/&gt;&lt;left val=&quot;201&quot;/&gt;&lt;top val=&quot;285&quot;/&gt;&lt;width val=&quot;191&quot;/&gt;&lt;height val=&quot;34&quot;/&gt;&lt;hasText val=&quot;1&quot;/&gt;&lt;/Image&gt;&lt;/ThreeDShapeInfo&gt;"/>
  <p:tag name="PRESENTER_SHAPETEXTINFO" val="&lt;ShapeTextInfo&gt;&lt;TableIndex row=&quot;-1&quot; col=&quot;-1&quot;&gt;&lt;linesCount val=&quot;1&quot;/&gt;&lt;lineCharCount val=&quot;26&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97E173E-AD5F-425B-8B73-AA0A4583D580}_11.png&quot;/&gt;&lt;left val=&quot;591&quot;/&gt;&lt;top val=&quot;381&quot;/&gt;&lt;width val=&quot;132&quot;/&gt;&lt;height val=&quot;34&quot;/&gt;&lt;hasText val=&quot;1&quot;/&gt;&lt;/Image&gt;&lt;/ThreeDShapeInfo&gt;"/>
  <p:tag name="PRESENTER_SHAPETEXTINFO" val="&lt;ShapeTextInfo&gt;&lt;TableIndex row=&quot;-1&quot; col=&quot;-1&quot;&gt;&lt;linesCount val=&quot;1&quot;/&gt;&lt;lineCharCount val=&quot;18&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1622838099,C:\Users\sanmi\GoogleDrive\UWMdrive\Courses\ECE552\ece552-lec11_CacheConcepts_pptx\Media.ppcx"/>
</p:tagLst>
</file>

<file path=ppt/tags/tag1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671D6BC-73BB-40C7-944A-971E619F8F93}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37866F6-6A64-4D31-AFE3-C9D0E4A308FA}_12.png&quot;/&gt;&lt;left val=&quot;335&quot;/&gt;&lt;top val=&quot;112&quot;/&gt;&lt;width val=&quot;389&quot;/&gt;&lt;height val=&quot;372&quot;/&gt;&lt;hasText val=&quot;1&quot;/&gt;&lt;/Image&gt;&lt;/ThreeDShapeInfo&gt;"/>
  <p:tag name="PRESENTER_SHAPETEXTINFO" val="&lt;ShapeTextInfo&gt;&lt;TableIndex row=&quot;-1&quot; col=&quot;-1&quot;&gt;&lt;linesCount val=&quot;10&quot;/&gt;&lt;lineCharCount val=&quot;15&quot;/&gt;&lt;lineCharCount val=&quot;24&quot;/&gt;&lt;lineCharCount val=&quot;5&quot;/&gt;&lt;lineCharCount val=&quot;23&quot;/&gt;&lt;lineCharCount val=&quot;8&quot;/&gt;&lt;lineCharCount val=&quot;28&quot;/&gt;&lt;lineCharCount val=&quot;27&quot;/&gt;&lt;lineCharCount val=&quot;19&quot;/&gt;&lt;lineCharCount val=&quot;27&quot;/&gt;&lt;lineCharCount val=&quot;17&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7D9A70A-2FA1-4D6D-B246-D113A5743269}_12.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F92C2D1-F9F6-4433-9FD2-60B9BDA776FA}_12.png&quot;/&gt;&lt;left val=&quot;127&quot;/&gt;&lt;top val=&quot;455&quot;/&gt;&lt;width val=&quot;97&quot;/&gt;&lt;height val=&quot;54&quot;/&gt;&lt;hasText val=&quot;1&quot;/&gt;&lt;/Image&gt;&lt;/ThreeDShapeInfo&gt;"/>
  <p:tag name="PRESENTER_SHAPETEXTINFO" val="&lt;ShapeTextInfo&gt;&lt;TableIndex row=&quot;-1&quot; col=&quot;-1&quot;&gt;&lt;linesCount val=&quot;1&quot;/&gt;&lt;lineCharCount val=&quot;9&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2D25864-761E-4C76-9449-7F5E4AE90A09}_12.png&quot;/&gt;&lt;left val=&quot;112&quot;/&gt;&lt;top val=&quot;395&quot;/&gt;&lt;width val=&quot;127&quot;/&gt;&lt;height val=&quot;35&quot;/&gt;&lt;hasText val=&quot;1&quot;/&gt;&lt;/Image&gt;&lt;/ThreeDShapeInfo&gt;"/>
  <p:tag name="PRESENTER_SHAPETEXTINFO" val="&lt;ShapeTextInfo&gt;&lt;TableIndex row=&quot;-1&quot; col=&quot;-1&quot;&gt;&lt;linesCount val=&quot;1&quot;/&gt;&lt;lineCharCount val=&quot;14&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924FDC6-E85D-41ED-94FA-D20B51184974}_12.png&quot;/&gt;&lt;left val=&quot;68&quot;/&gt;&lt;top val=&quot;323&quot;/&gt;&lt;width val=&quot;216&quot;/&gt;&lt;height val=&quot;38&quot;/&gt;&lt;hasText val=&quot;1&quot;/&gt;&lt;/Image&gt;&lt;/ThreeDShapeInfo&gt;"/>
  <p:tag name="PRESENTER_SHAPETEXTINFO" val="&lt;ShapeTextInfo&gt;&lt;TableIndex row=&quot;-1&quot; col=&quot;-1&quot;&gt;&lt;linesCount val=&quot;1&quot;/&gt;&lt;lineCharCount val=&quot;16&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CC4C4BB-1277-4A3D-B8EE-6CAE81450A44}_12.png&quot;/&gt;&lt;left val=&quot;5&quot;/&gt;&lt;top val=&quot;251&quot;/&gt;&lt;width val=&quot;342&quot;/&gt;&lt;height val=&quot;38&quot;/&gt;&lt;hasText val=&quot;1&quot;/&gt;&lt;/Image&gt;&lt;/ThreeDShapeInfo&gt;"/>
  <p:tag name="PRESENTER_SHAPETEXTINFO" val="&lt;ShapeTextInfo&gt;&lt;TableIndex row=&quot;-1&quot; col=&quot;-1&quot;&gt;&lt;linesCount val=&quot;1&quot;/&gt;&lt;lineCharCount val=&quot;11&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1984EC4-FEA2-402D-AD51-5A15275AFB09}_12.png&quot;/&gt;&lt;left val=&quot;120&quot;/&gt;&lt;top val=&quot;131&quot;/&gt;&lt;width val=&quot;112&quot;/&gt;&lt;height val=&quot;90&quot;/&gt;&lt;hasText val=&quot;1&quot;/&gt;&lt;/Image&gt;&lt;/ThreeDShapeInfo&gt;"/>
  <p:tag name="PRESENTER_SHAPETEXTINFO" val="&lt;ShapeTextInfo&gt;&lt;TableIndex row=&quot;-1&quot; col=&quot;-1&quot;&gt;&lt;linesCount val=&quot;1&quot;/&gt;&lt;lineCharCount val=&quot;4&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1622838099,C:\Users\sanmi\GoogleDrive\UWMdrive\Courses\ECE552\ece552-lec11_CacheConcepts_pptx\Media.ppcx"/>
</p:tagLst>
</file>

<file path=ppt/tags/tag1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8F10A2A-C7B8-4941-8AFD-26927A6D3B28}_1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C51E1E4-E20B-406F-8C96-ABC94008310F}_13.png&quot;/&gt;&lt;left val=&quot;24&quot;/&gt;&lt;top val=&quot;112&quot;/&gt;&lt;width val=&quot;683&quot;/&gt;&lt;height val=&quot;370&quot;/&gt;&lt;hasText val=&quot;1&quot;/&gt;&lt;/Image&gt;&lt;/ThreeDShapeInfo&gt;"/>
  <p:tag name="PRESENTER_SHAPETEXTINFO" val="&lt;ShapeTextInfo&gt;&lt;TableIndex row=&quot;-1&quot; col=&quot;-1&quot;&gt;&lt;linesCount val=&quot;9&quot;/&gt;&lt;lineCharCount val=&quot;29&quot;/&gt;&lt;lineCharCount val=&quot;18&quot;/&gt;&lt;lineCharCount val=&quot;48&quot;/&gt;&lt;lineCharCount val=&quot;17&quot;/&gt;&lt;lineCharCount val=&quot;54&quot;/&gt;&lt;lineCharCount val=&quot;21&quot;/&gt;&lt;lineCharCount val=&quot;13&quot;/&gt;&lt;lineCharCount val=&quot;45&quot;/&gt;&lt;lineCharCount val=&quot;3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358F3EC-CA09-4664-B07F-AD7BF701BEE1}_13.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1622838099,C:\Users\sanmi\GoogleDrive\UWMdrive\Courses\ECE552\ece552-lec11_CacheConcepts_pptx\Media.ppcx"/>
</p:tagLst>
</file>

<file path=ppt/tags/tag1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0D1257D-82DD-4D74-A3EC-1FEBD71DCCAB}_1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3&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7DAFF5E-64BE-4B34-835B-BC6280F7DC8F}_14.png&quot;/&gt;&lt;left val=&quot;27&quot;/&gt;&lt;top val=&quot;114&quot;/&gt;&lt;width val=&quot;657&quot;/&gt;&lt;height val=&quot;368&quot;/&gt;&lt;hasText val=&quot;1&quot;/&gt;&lt;/Image&gt;&lt;/ThreeDShapeInfo&gt;"/>
  <p:tag name="PRESENTER_SHAPETEXTINFO" val="&lt;ShapeTextInfo&gt;&lt;TableIndex row=&quot;-1&quot; col=&quot;-1&quot;&gt;&lt;linesCount val=&quot;10&quot;/&gt;&lt;lineCharCount val=&quot;9&quot;/&gt;&lt;lineCharCount val=&quot;25&quot;/&gt;&lt;lineCharCount val=&quot;24&quot;/&gt;&lt;lineCharCount val=&quot;31&quot;/&gt;&lt;lineCharCount val=&quot;31&quot;/&gt;&lt;lineCharCount val=&quot;15&quot;/&gt;&lt;lineCharCount val=&quot;41&quot;/&gt;&lt;lineCharCount val=&quot;29&quot;/&gt;&lt;lineCharCount val=&quot;60&quot;/&gt;&lt;lineCharCount val=&quot;5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2FFD217-7992-4760-8D04-0693C9809EE7}_14.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1622838099,C:\Users\sanmi\GoogleDrive\UWMdrive\Courses\ECE552\ece552-lec11_CacheConcepts_pptx\Media.ppcx"/>
  <p:tag name="TIMING" val="|16.5|11.7"/>
</p:tagLst>
</file>

<file path=ppt/tags/tag1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11A705E-29F1-4C77-8007-3C84B8E8CE0F}_1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75C401A-0680-4041-93D0-4BD03104101A}_1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82FEF26-88D8-4430-B8A4-ACB472282A6A}_15.png&quot;/&gt;&lt;left val=&quot;164&quot;/&gt;&lt;top val=&quot;274&quot;/&gt;&lt;width val=&quot;392&quot;/&gt;&lt;height val=&quot;243&quot;/&gt;&lt;hasText val=&quot;1&quot;/&gt;&lt;/Image&gt;&lt;/ThreeDShapeInfo&gt;"/>
  <p:tag name="PRESENTER_SHAPETEXTINFO" val="&lt;ShapeTextInfo&gt;&lt;TableIndex row=&quot;1&quot; col=&quot;1&quot;&gt;&lt;linesCount val=&quot;1&quot;/&gt;&lt;lineCharCount val=&quot;4&quot;/&gt;&lt;/TableIndex&gt;&lt;TableIndex row=&quot;1&quot; col=&quot;2&quot;&gt;&lt;linesCount val=&quot;1&quot;/&gt;&lt;lineCharCount val=&quot;4&quot;/&gt;&lt;/TableIndex&gt;&lt;TableIndex row=&quot;1&quot; col=&quot;3&quot;&gt;&lt;linesCount val=&quot;1&quot;/&gt;&lt;lineCharCount val=&quot;4&quot;/&gt;&lt;/TableIndex&gt;&lt;TableIndex row=&quot;1&quot; col=&quot;4&quot;&gt;&lt;linesCount val=&quot;1&quot;/&gt;&lt;lineCharCount val=&quot;4&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4&quot;/&gt;&lt;/TableIndex&gt;&lt;TableIndex row=&quot;2&quot; col=&quot;4&quot;&gt;&lt;linesCount val=&quot;1&quot;/&gt;&lt;lineCharCount val=&quot;4&quot;/&gt;&lt;/TableIndex&gt;&lt;TableIndex row=&quot;3&quot; col=&quot;1&quot;&gt;&lt;linesCount val=&quot;1&quot;/&gt;&lt;lineCharCount val=&quot;4&quot;/&gt;&lt;/TableIndex&gt;&lt;TableIndex row=&quot;3&quot; col=&quot;2&quot;&gt;&lt;linesCount val=&quot;1&quot;/&gt;&lt;lineCharCount val=&quot;4&quot;/&gt;&lt;/TableIndex&gt;&lt;TableIndex row=&quot;3&quot; col=&quot;3&quot;&gt;&lt;linesCount val=&quot;1&quot;/&gt;&lt;lineCharCount val=&quot;4&quot;/&gt;&lt;/TableIndex&gt;&lt;TableIndex row=&quot;3&quot; col=&quot;4&quot;&gt;&lt;linesCount val=&quot;1&quot;/&gt;&lt;lineCharCount val=&quot;4&quot;/&gt;&lt;/TableIndex&gt;&lt;TableIndex row=&quot;4&quot; col=&quot;1&quot;&gt;&lt;linesCount val=&quot;1&quot;/&gt;&lt;lineCharCount val=&quot;4&quot;/&gt;&lt;/TableIndex&gt;&lt;TableIndex row=&quot;4&quot; col=&quot;2&quot;&gt;&lt;linesCount val=&quot;1&quot;/&gt;&lt;lineCharCount val=&quot;4&quot;/&gt;&lt;/TableIndex&gt;&lt;TableIndex row=&quot;4&quot; col=&quot;3&quot;&gt;&lt;linesCount val=&quot;1&quot;/&gt;&lt;lineCharCount val=&quot;4&quot;/&gt;&lt;/TableIndex&gt;&lt;TableIndex row=&quot;4&quot; col=&quot;4&quot;&gt;&lt;linesCount val=&quot;1&quot;/&gt;&lt;lineCharCount val=&quot;4&quot;/&gt;&lt;/TableIndex&gt;&lt;TableIndex row=&quot;5&quot; col=&quot;1&quot;&gt;&lt;linesCount val=&quot;1&quot;/&gt;&lt;lineCharCount val=&quot;4&quot;/&gt;&lt;/TableIndex&gt;&lt;TableIndex row=&quot;5&quot; col=&quot;2&quot;&gt;&lt;linesCount val=&quot;1&quot;/&gt;&lt;lineCharCount val=&quot;4&quot;/&gt;&lt;/TableIndex&gt;&lt;TableIndex row=&quot;5&quot; col=&quot;3&quot;&gt;&lt;linesCount val=&quot;1&quot;/&gt;&lt;lineCharCount val=&quot;4&quot;/&gt;&lt;/TableIndex&gt;&lt;TableIndex row=&quot;5&quot; col=&quot;4&quot;&gt;&lt;linesCount val=&quot;1&quot;/&gt;&lt;lineCharCount val=&quot;4&quot;/&gt;&lt;/TableIndex&gt;&lt;TableIndex row=&quot;6&quot; col=&quot;1&quot;&gt;&lt;linesCount val=&quot;1&quot;/&gt;&lt;lineCharCount val=&quot;4&quot;/&gt;&lt;/TableIndex&gt;&lt;TableIndex row=&quot;6&quot; col=&quot;2&quot;&gt;&lt;linesCount val=&quot;1&quot;/&gt;&lt;lineCharCount val=&quot;4&quot;/&gt;&lt;/TableIndex&gt;&lt;TableIndex row=&quot;6&quot; col=&quot;3&quot;&gt;&lt;linesCount val=&quot;1&quot;/&gt;&lt;lineCharCount val=&quot;4&quot;/&gt;&lt;/TableIndex&gt;&lt;TableIndex row=&quot;6&quot; col=&quot;4&quot;&gt;&lt;linesCount val=&quot;1&quot;/&gt;&lt;lineCharCount val=&quot;4&quot;/&gt;&lt;/TableIndex&gt;&lt;TableIndex row=&quot;7&quot; col=&quot;1&quot;&gt;&lt;linesCount val=&quot;1&quot;/&gt;&lt;lineCharCount val=&quot;4&quot;/&gt;&lt;/TableIndex&gt;&lt;TableIndex row=&quot;7&quot; col=&quot;2&quot;&gt;&lt;linesCount val=&quot;1&quot;/&gt;&lt;lineCharCount val=&quot;4&quot;/&gt;&lt;/TableIndex&gt;&lt;TableIndex row=&quot;7&quot; col=&quot;3&quot;&gt;&lt;linesCount val=&quot;1&quot;/&gt;&lt;lineCharCount val=&quot;4&quot;/&gt;&lt;/TableIndex&gt;&lt;TableIndex row=&quot;7&quot; col=&quot;4&quot;&gt;&lt;linesCount val=&quot;1&quot;/&gt;&lt;lineCharCount val=&quot;4&quot;/&gt;&lt;/TableIndex&gt;&lt;TableIndex row=&quot;8&quot; col=&quot;1&quot;&gt;&lt;linesCount val=&quot;1&quot;/&gt;&lt;lineCharCount val=&quot;4&quot;/&gt;&lt;/TableIndex&gt;&lt;TableIndex row=&quot;8&quot; col=&quot;2&quot;&gt;&lt;linesCount val=&quot;1&quot;/&gt;&lt;lineCharCount val=&quot;4&quot;/&gt;&lt;/TableIndex&gt;&lt;TableIndex row=&quot;8&quot; col=&quot;3&quot;&gt;&lt;linesCount val=&quot;1&quot;/&gt;&lt;lineCharCount val=&quot;4&quot;/&gt;&lt;/TableIndex&gt;&lt;TableIndex row=&quot;8&quot; col=&quot;4&quot;&gt;&lt;linesCount val=&quot;1&quot;/&gt;&lt;lineCharCount val=&quot;4&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A3B70C6-8283-4E90-830A-BF2278D15480}_15.png&quot;/&gt;&lt;left val=&quot;94&quot;/&gt;&lt;top val=&quot;256&quot;/&gt;&lt;width val=&quot;56&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92120BE-2334-44F1-8243-8E854795A382}_15.png&quot;/&gt;&lt;left val=&quot;154&quot;/&gt;&lt;top val=&quot;237&quot;/&gt;&lt;width val=&quot;57&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70746D9-9CEC-402D-AD00-D54046DDBB1F}_15.png&quot;/&gt;&lt;left val=&quot;286&quot;/&gt;&lt;top val=&quot;231&quot;/&gt;&lt;width val=&quot;147&quot;/&gt;&lt;height val=&quot;34&quot;/&gt;&lt;hasText val=&quot;1&quot;/&gt;&lt;/Image&gt;&lt;/ThreeDShapeInfo&gt;"/>
  <p:tag name="PRESENTER_SHAPETEXTINFO" val="&lt;ShapeTextInfo&gt;&lt;TableIndex row=&quot;-1&quot; col=&quot;-1&quot;&gt;&lt;linesCount val=&quot;1&quot;/&gt;&lt;lineCharCount val=&quot;17&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61B2BED-4C37-44A8-8627-016C56CFD72B}_15.png&quot;/&gt;&lt;left val=&quot;549&quot;/&gt;&lt;top val=&quot;379&quot;/&gt;&lt;width val=&quot;147&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E6A5D979-462F-4FB1-86A4-892252AF494D}_15.png&quot;/&gt;&lt;left val=&quot;30&quot;/&gt;&lt;top val=&quot;111&quot;/&gt;&lt;width val=&quot;653&quot;/&gt;&lt;height val=&quot;129&quot;/&gt;&lt;hasText val=&quot;1&quot;/&gt;&lt;/Image&gt;&lt;/ThreeDShapeInfo&gt;"/>
  <p:tag name="PRESENTER_SHAPETEXTINFO" val="&lt;ShapeTextInfo&gt;&lt;TableIndex row=&quot;-1&quot; col=&quot;-1&quot;&gt;&lt;linesCount val=&quot;4&quot;/&gt;&lt;lineCharCount val=&quot;10&quot;/&gt;&lt;lineCharCount val=&quot;28&quot;/&gt;&lt;lineCharCount val=&quot;32&quot;/&gt;&lt;lineCharCount val=&quot;17&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1622838099,C:\Users\sanmi\GoogleDrive\UWMdrive\Courses\ECE552\ece552-lec11_CacheConcepts_pptx\Media.ppcx"/>
</p:tagLst>
</file>

<file path=ppt/tags/tag1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46117C0-3A42-428A-8AB8-21D46E68949F}_1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6&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B5DF469-9657-467A-8F97-067E0BB2A3B0}_16.png&quot;/&gt;&lt;left val=&quot;23&quot;/&gt;&lt;top val=&quot;112&quot;/&gt;&lt;width val=&quot;685&quot;/&gt;&lt;height val=&quot;370&quot;/&gt;&lt;hasText val=&quot;1&quot;/&gt;&lt;/Image&gt;&lt;/ThreeDShapeInfo&gt;"/>
  <p:tag name="PRESENTER_SHAPETEXTINFO" val="&lt;ShapeTextInfo&gt;&lt;TableIndex row=&quot;-1&quot; col=&quot;-1&quot;&gt;&lt;linesCount val=&quot;11&quot;/&gt;&lt;lineCharCount val=&quot;32&quot;/&gt;&lt;lineCharCount val=&quot;49&quot;/&gt;&lt;lineCharCount val=&quot;9&quot;/&gt;&lt;lineCharCount val=&quot;60&quot;/&gt;&lt;lineCharCount val=&quot;29&quot;/&gt;&lt;lineCharCount val=&quot;24&quot;/&gt;&lt;lineCharCount val=&quot;62&quot;/&gt;&lt;lineCharCount val=&quot;66&quot;/&gt;&lt;lineCharCount val=&quot;39&quot;/&gt;&lt;lineCharCount val=&quot;71&quot;/&gt;&lt;lineCharCount val=&quot;21&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4441ED1-27B9-461A-AB7C-B3C0D1D6F0D7}_16.png&quot;/&gt;&lt;left val=&quot;599&quot;/&gt;&lt;top val=&quot;500&quot;/&gt;&lt;width val=&quot;86&quot;/&gt;&lt;height val=&quot;32&quot;/&gt;&lt;hasText val=&quot;1&quot;/&gt;&lt;/Image&gt;&lt;/ThreeDShapeInfo&gt;"/>
  <p:tag name="PRESENTER_SHAPETEXTINFO" val="&lt;ShapeTextInfo&gt;&lt;TableIndex row=&quot;-1&quot; col=&quot;-1&quot;&gt;&lt;linesCount val=&quot;1&quot;/&gt;&lt;lineCharCount val=&quot;2&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1622838099,C:\Users\sanmi\GoogleDrive\UWMdrive\Courses\ECE552\ece552-lec11_CacheConcepts_pptx\Media.ppcx"/>
</p:tagLst>
</file>

<file path=ppt/tags/tag1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0C06CB5-A4E0-4C68-9FFF-0A197281D32F}_1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6&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4E179CA-0620-4083-9259-51318320997F}_17.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50C48A9-3220-457C-82BD-18B09616B84B}_17.png&quot;/&gt;&lt;left val=&quot;31&quot;/&gt;&lt;top val=&quot;105&quot;/&gt;&lt;width val=&quot;659&quot;/&gt;&lt;height val=&quot;402&quot;/&gt;&lt;hasText val=&quot;1&quot;/&gt;&lt;/Image&gt;&lt;/ThreeDShapeInfo&gt;"/>
  <p:tag name="PRESENTER_SHAPETEXTINFO" val="&lt;ShapeTextInfo&gt;&lt;TableIndex row=&quot;-1&quot; col=&quot;-1&quot;&gt;&lt;linesCount val=&quot;8&quot;/&gt;&lt;lineCharCount val=&quot;11&quot;/&gt;&lt;lineCharCount val=&quot;32&quot;/&gt;&lt;lineCharCount val=&quot;1&quot;/&gt;&lt;lineCharCount val=&quot;13&quot;/&gt;&lt;lineCharCount val=&quot;37&quot;/&gt;&lt;lineCharCount val=&quot;1&quot;/&gt;&lt;lineCharCount val=&quot;14&quot;/&gt;&lt;lineCharCount val=&quot;44&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1622838099,C:\Users\sanmi\GoogleDrive\UWMdrive\Courses\ECE552\ece552-lec11_CacheConcepts_pptx\Media.ppcx"/>
</p:tagLst>
</file>

<file path=ppt/tags/tag16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0C0D478-CD19-491F-A8A9-162FE9A39418}_1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8DDD175-A7C0-41C5-86B3-95A9165A14E5}_18.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BED9929-EAD4-4011-B3B8-D53EBFF887DC}_18.png&quot;/&gt;&lt;left val=&quot;24&quot;/&gt;&lt;top val=&quot;112&quot;/&gt;&lt;width val=&quot;683&quot;/&gt;&lt;height val=&quot;370&quot;/&gt;&lt;hasText val=&quot;1&quot;/&gt;&lt;/Image&gt;&lt;/ThreeDShapeInfo&gt;"/>
  <p:tag name="PRESENTER_SHAPETEXTINFO" val="&lt;ShapeTextInfo&gt;&lt;TableIndex row=&quot;-1&quot; col=&quot;-1&quot;&gt;&lt;linesCount val=&quot;7&quot;/&gt;&lt;lineCharCount val=&quot;41&quot;/&gt;&lt;lineCharCount val=&quot;47&quot;/&gt;&lt;lineCharCount val=&quot;28&quot;/&gt;&lt;lineCharCount val=&quot;21&quot;/&gt;&lt;lineCharCount val=&quot;46&quot;/&gt;&lt;lineCharCount val=&quot;21&quot;/&gt;&lt;lineCharCount val=&quot;41&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1622838099,C:\Users\sanmi\GoogleDrive\UWMdrive\Courses\ECE552\ece552-lec11_CacheConcepts_pptx\Media.ppcx"/>
  <p:tag name="TIMING" val="|54.6"/>
</p:tagLst>
</file>

<file path=ppt/tags/tag1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6062825-79C6-4586-BEAE-95F44AB0AD8D}_1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8&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8A5B719-4167-411E-BEE5-78515A035702}_1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96220C0-4775-4355-A98C-EDD1C06CC27D}_19.png&quot;/&gt;&lt;left val=&quot;31&quot;/&gt;&lt;top val=&quot;105&quot;/&gt;&lt;width val=&quot;671&quot;/&gt;&lt;height val=&quot;88&quot;/&gt;&lt;hasText val=&quot;1&quot;/&gt;&lt;/Image&gt;&lt;/ThreeDShapeInfo&gt;"/>
  <p:tag name="PRESENTER_SHAPETEXTINFO" val="&lt;ShapeTextInfo&gt;&lt;TableIndex row=&quot;-1&quot; col=&quot;-1&quot;&gt;&lt;linesCount val=&quot;2&quot;/&gt;&lt;lineCharCount val=&quot;46&quot;/&gt;&lt;lineCharCount val=&quot;52&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A9DF5DD-6A23-4262-B166-2EEE976F52EB}_19.png&quot;/&gt;&lt;left val=&quot;485&quot;/&gt;&lt;top val=&quot;507&quot;/&gt;&lt;width val=&quot;112&quot;/&gt;&lt;height val=&quot;43&quot;/&gt;&lt;hasText val=&quot;1&quot;/&gt;&lt;/Image&gt;&lt;/ThreeDShapeInfo&gt;"/>
  <p:tag name="PRESENTER_SHAPETEXTINFO" val="&lt;ShapeTextInfo&gt;&lt;TableIndex row=&quot;-1&quot; col=&quot;-1&quot;&gt;&lt;linesCount val=&quot;1&quot;/&gt;&lt;lineCharCount val=&quot;9&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HTML_AUTOSHAPE_INFO" val="&lt;ThreeDShapeInfo&gt;&lt;uuid val=&quot;{650CE8F5-E89A-42DC-8EBE-87D81F06E4CA}&quot;/&gt;&lt;isInvalidForFieldText val=&quot;1&quot;/&gt;&lt;Image&gt;&lt;filename val=&quot;C:\Users\sanmi\Documents\My Adobe Presentations\ece552-CacheConcepts\data\asimages\{650CE8F5-E89A-42DC-8EBE-87D81F06E4CA}_19_S.png&quot;/&gt;&lt;left val=&quot;514&quot;/&gt;&lt;top val=&quot;451&quot;/&gt;&lt;width val=&quot;51&quot;/&gt;&lt;height val=&quot;27&quot;/&gt;&lt;hasText val=&quot;0&quot;/&gt;&lt;/Image&gt;&lt;Image&gt;&lt;filename val=&quot;C:\Users\sanmi\Documents\My Adobe Presentations\ece552-CacheConcepts\data\asimages\{650CE8F5-E89A-42DC-8EBE-87D81F06E4CA}_19_T.png&quot;/&gt;&lt;left val=&quot;515&quot;/&gt;&lt;top val=&quot;453&quot;/&gt;&lt;width val=&quot;48&quot;/&gt;&lt;height val=&quot;24&quot;/&gt;&lt;hasText val=&quot;1&quot;/&gt;&lt;/Image&gt;&lt;/ThreeDShapeInfo&gt;"/>
  <p:tag name="PRESENTER_SHAPETEXTINFO" val="&lt;ShapeTextInfo&gt;&lt;TableIndex row=&quot;-1&quot; col=&quot;-1&quot;&gt;&lt;linesCount val=&quot;0&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ED2637A3-7605-4AAD-9B31-E57AEA4531AE}_19.png&quot;/&gt;&lt;left val=&quot;515&quot;/&gt;&lt;top val=&quot;448&quot;/&gt;&lt;width val=&quot;48&quot;/&gt;&lt;height val=&quot;43&quot;/&gt;&lt;hasText val=&quot;1&quot;/&gt;&lt;/Image&gt;&lt;/ThreeDShapeInfo&gt;"/>
  <p:tag name="PRESENTER_SHAPETEXTINFO" val="&lt;ShapeTextInfo&gt;&lt;TableIndex row=&quot;-1&quot; col=&quot;-1&quot;&gt;&lt;linesCount val=&quot;1&quot;/&gt;&lt;lineCharCount val=&quot;2&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919CB36-6EBC-4AE4-841A-AA6374D668D9}_19.png&quot;/&gt;&lt;left val=&quot;292&quot;/&gt;&lt;top val=&quot;399&quot;/&gt;&lt;width val=&quot;44&quot;/&gt;&lt;height val=&quot;42&quot;/&gt;&lt;hasText val=&quot;1&quot;/&gt;&lt;/Image&gt;&lt;/ThreeDShapeInfo&gt;"/>
  <p:tag name="PRESENTER_SHAPETEXTINFO" val="&lt;ShapeTextInfo&gt;&lt;TableIndex row=&quot;-1&quot; col=&quot;-1&quot;&gt;&lt;linesCount val=&quot;1&quot;/&gt;&lt;lineCharCount val=&quot;1&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4.xml><?xml version="1.0" encoding="utf-8"?>
<p:tagLst xmlns:a="http://schemas.openxmlformats.org/drawingml/2006/main" xmlns:r="http://schemas.openxmlformats.org/officeDocument/2006/relationships" xmlns:p="http://schemas.openxmlformats.org/presentationml/2006/main">
  <p:tag name="HTML_AUTOSHAPE_INFO" val="&lt;ThreeDShapeInfo&gt;&lt;uuid val=&quot;{84E2E2A7-0BA7-4911-A9AB-E7F18C71B429}&quot;/&gt;&lt;isInvalidForFieldText val=&quot;1&quot;/&gt;&lt;Image&gt;&lt;filename val=&quot;C:\Users\sanmi\Documents\My Adobe Presentations\ece552-CacheConcepts\data\asimages\{84E2E2A7-0BA7-4911-A9AB-E7F18C71B429}_19_S.png&quot;/&gt;&lt;left val=&quot;238&quot;/&gt;&lt;top val=&quot;271&quot;/&gt;&lt;width val=&quot;15&quot;/&gt;&lt;height val=&quot;99&quot;/&gt;&lt;hasText val=&quot;0&quot;/&gt;&lt;/Image&gt;&lt;Image&gt;&lt;filename val=&quot;C:\Users\sanmi\Documents\My Adobe Presentations\ece552-CacheConcepts\data\asimages\{84E2E2A7-0BA7-4911-A9AB-E7F18C71B429}_19_T.png&quot;/&gt;&lt;left val=&quot;23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2.xml><?xml version="1.0" encoding="utf-8"?>
<p:tagLst xmlns:a="http://schemas.openxmlformats.org/drawingml/2006/main" xmlns:r="http://schemas.openxmlformats.org/officeDocument/2006/relationships" xmlns:p="http://schemas.openxmlformats.org/presentationml/2006/main">
  <p:tag name="HTML_AUTOSHAPE_INFO" val="&lt;ThreeDShapeInfo&gt;&lt;uuid val=&quot;{BC545B1A-BFF9-4C03-93AE-674C0666B158}&quot;/&gt;&lt;isInvalidForFieldText val=&quot;1&quot;/&gt;&lt;Image&gt;&lt;filename val=&quot;C:\Users\sanmi\Documents\My Adobe Presentations\ece552-CacheConcepts\data\asimages\{BC545B1A-BFF9-4C03-93AE-674C0666B158}_19_S.png&quot;/&gt;&lt;left val=&quot;418&quot;/&gt;&lt;top val=&quot;271&quot;/&gt;&lt;width val=&quot;15&quot;/&gt;&lt;height val=&quot;99&quot;/&gt;&lt;hasText val=&quot;0&quot;/&gt;&lt;/Image&gt;&lt;Image&gt;&lt;filename val=&quot;C:\Users\sanmi\Documents\My Adobe Presentations\ece552-CacheConcepts\data\asimages\{BC545B1A-BFF9-4C03-93AE-674C0666B158}_19_T.png&quot;/&gt;&lt;left val=&quot;41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699D802-0468-4021-BF72-A587844250C4}_19.png&quot;/&gt;&lt;left val=&quot;262&quot;/&gt;&lt;top val=&quot;207&quot;/&gt;&lt;width val=&quot;73&quot;/&gt;&lt;height val=&quot;27&quot;/&gt;&lt;hasText val=&quot;1&quot;/&gt;&lt;/Image&gt;&lt;/ThreeDShapeInfo&gt;"/>
  <p:tag name="PRESENTER_SHAPETEXTINFO" val="&lt;ShapeTextInfo&gt;&lt;TableIndex row=&quot;-1&quot; col=&quot;-1&quot;&gt;&lt;linesCount val=&quot;1&quot;/&gt;&lt;lineCharCount val=&quot;12&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D28D3F5-3F64-499F-B9F1-73268AEFF86D}_19.png&quot;/&gt;&lt;left val=&quot;107&quot;/&gt;&lt;top val=&quot;207&quot;/&gt;&lt;width val=&quot;84&quot;/&gt;&lt;height val=&quot;27&quot;/&gt;&lt;hasText val=&quot;1&quot;/&gt;&lt;/Image&gt;&lt;/ThreeDShapeInfo&gt;"/>
  <p:tag name="PRESENTER_SHAPETEXTINFO" val="&lt;ShapeTextInfo&gt;&lt;TableIndex row=&quot;-1&quot; col=&quot;-1&quot;&gt;&lt;linesCount val=&quot;1&quot;/&gt;&lt;lineCharCount val=&quot;10&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41984FB-9CBB-47AE-AE93-DFED9FBA51DB}_19.png&quot;/&gt;&lt;left val=&quot;191&quot;/&gt;&lt;top val=&quot;207&quot;/&gt;&lt;width val=&quot;72&quot;/&gt;&lt;height val=&quot;27&quot;/&gt;&lt;hasText val=&quot;1&quot;/&gt;&lt;/Image&gt;&lt;/ThreeDShapeInfo&gt;"/>
  <p:tag name="PRESENTER_SHAPETEXTINFO" val="&lt;ShapeTextInfo&gt;&lt;TableIndex row=&quot;-1&quot; col=&quot;-1&quot;&gt;&lt;linesCount val=&quot;1&quot;/&gt;&lt;lineCharCount val=&quot;11&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HTML_AUTOSHAPE_INFO" val="&lt;ThreeDShapeInfo&gt;&lt;uuid val=&quot;{C53072AA-4C40-4690-832A-EC0BBA8787C4}&quot;/&gt;&lt;isInvalidForFieldText val=&quot;1&quot;/&gt;&lt;Image&gt;&lt;filename val=&quot;C:\Users\sanmi\Documents\My Adobe Presentations\ece552-CacheConcepts\data\asimages\{C53072AA-4C40-4690-832A-EC0BBA8787C4}_19_S.png&quot;/&gt;&lt;left val=&quot;214&quot;/&gt;&lt;top val=&quot;231&quot;/&gt;&lt;width val=&quot;35&quot;/&gt;&lt;height val=&quot;105&quot;/&gt;&lt;hasText val=&quot;0&quot;/&gt;&lt;/Image&gt;&lt;Image&gt;&lt;filename val=&quot;C:\Users\sanmi\Documents\My Adobe Presentations\ece552-CacheConcepts\data\asimages\{C53072AA-4C40-4690-832A-EC0BBA8787C4}_19_T.png&quot;/&gt;&lt;left val=&quot;216&quot;/&gt;&lt;top val=&quot;231&quot;/&gt;&lt;width val=&quot;24&quot;/&gt;&lt;height val=&quot;95&quot;/&gt;&lt;hasText val=&quot;1&quot;/&gt;&lt;/Image&gt;&lt;/ThreeDShapeInfo&gt;"/>
  <p:tag name="PRESENTER_SHAPETEXTINFO" val="&lt;ShapeTextInfo&gt;&lt;TableIndex row=&quot;-1&quot; col=&quot;-1&quot;&gt;&lt;linesCount val=&quot;0&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HTML_AUTOSHAPE_INFO" val="&lt;ThreeDShapeInfo&gt;&lt;uuid val=&quot;{7056EF19-FB32-4BDE-AE49-4F7023A8415D}&quot;/&gt;&lt;isInvalidForFieldText val=&quot;1&quot;/&gt;&lt;Image&gt;&lt;filename val=&quot;C:\Users\sanmi\Documents\My Adobe Presentations\ece552-CacheConcepts\data\asimages\{7056EF19-FB32-4BDE-AE49-4F7023A8415D}_19_S.png&quot;/&gt;&lt;left val=&quot;401&quot;/&gt;&lt;top val=&quot;249&quot;/&gt;&lt;width val=&quot;30&quot;/&gt;&lt;height val=&quot;87&quot;/&gt;&lt;hasText val=&quot;0&quot;/&gt;&lt;/Image&gt;&lt;Image&gt;&lt;filename val=&quot;C:\Users\sanmi\Documents\My Adobe Presentations\ece552-CacheConcepts\data\asimages\{7056EF19-FB32-4BDE-AE49-4F7023A8415D}_19_T.png&quot;/&gt;&lt;left val=&quot;402&quot;/&gt;&lt;top val=&quot;249&quot;/&gt;&lt;width val=&quot;18&quot;/&gt;&lt;height val=&quot;77&quot;/&gt;&lt;hasText val=&quot;1&quot;/&gt;&lt;/Image&gt;&lt;/ThreeDShapeInfo&gt;"/>
  <p:tag name="PRESENTER_SHAPETEXTINFO" val="&lt;ShapeTextInfo&gt;&lt;TableIndex row=&quot;-1&quot; col=&quot;-1&quot;&gt;&lt;linesCount val=&quot;0&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HTML_AUTOSHAPE_INFO" val="&lt;ThreeDShapeInfo&gt;&lt;uuid val=&quot;{5A9B7D97-58F0-450A-92D4-A90F14883DAA}&quot;/&gt;&lt;isInvalidForFieldText val=&quot;1&quot;/&gt;&lt;Image&gt;&lt;filename val=&quot;C:\Users\sanmi\Documents\My Adobe Presentations\ece552-CacheConcepts\data\asimages\{5A9B7D97-58F0-450A-92D4-A90F14883DAA}_19_S.png&quot;/&gt;&lt;left val=&quot;443&quot;/&gt;&lt;top val=&quot;409&quot;/&gt;&lt;width val=&quot;194&quot;/&gt;&lt;height val=&quot;15&quot;/&gt;&lt;hasText val=&quot;0&quot;/&gt;&lt;/Image&gt;&lt;Image&gt;&lt;filename val=&quot;C:\Users\sanmi\Documents\My Adobe Presentations\ece552-CacheConcepts\data\asimages\{5A9B7D97-58F0-450A-92D4-A90F14883DAA}_19_T.png&quot;/&gt;&lt;left val=&quot;444&quot;/&gt;&lt;top val=&quot;411&quot;/&gt;&lt;width val=&quot;191&quot;/&gt;&lt;height val=&quot;12&quot;/&gt;&lt;hasText val=&quot;1&quot;/&gt;&lt;/Image&gt;&lt;/ThreeDShapeInfo&gt;"/>
  <p:tag name="PRESENTER_SHAPETEXTINFO" val="&lt;ShapeTextInfo&gt;&lt;TableIndex row=&quot;-1&quot; col=&quot;-1&quot;&gt;&lt;linesCount val=&quot;0&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HTML_AUTOSHAPE_INFO" val="&lt;ThreeDShapeInfo&gt;&lt;uuid val=&quot;{ADDB90D5-3501-42CB-ACBF-740EE301E2A3}&quot;/&gt;&lt;isInvalidForFieldText val=&quot;1&quot;/&gt;&lt;Image&gt;&lt;filename val=&quot;C:\Users\sanmi\Documents\My Adobe Presentations\ece552-CacheConcepts\data\asimages\{ADDB90D5-3501-42CB-ACBF-740EE301E2A3}_19_S.png&quot;/&gt;&lt;left val=&quot;166&quot;/&gt;&lt;top val=&quot;231&quot;/&gt;&lt;width val=&quot;25&quot;/&gt;&lt;height val=&quot;152&quot;/&gt;&lt;hasText val=&quot;0&quot;/&gt;&lt;/Image&gt;&lt;Image&gt;&lt;filename val=&quot;C:\Users\sanmi\Documents\My Adobe Presentations\ece552-CacheConcepts\data\asimages\{ADDB90D5-3501-42CB-ACBF-740EE301E2A3}_19_T.png&quot;/&gt;&lt;left val=&quot;167&quot;/&gt;&lt;top val=&quot;231&quot;/&gt;&lt;width val=&quot;24&quot;/&gt;&lt;height val=&quot;150&quot;/&gt;&lt;hasText val=&quot;1&quot;/&gt;&lt;/Image&gt;&lt;/ThreeDShapeInfo&gt;"/>
  <p:tag name="PRESENTER_SHAPETEXTINFO" val="&lt;ShapeTextInfo&gt;&lt;TableIndex row=&quot;-1&quot; col=&quot;-1&quot;&gt;&lt;linesCount val=&quot;0&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HTML_AUTOSHAPE_INFO" val="&lt;ThreeDShapeInfo&gt;&lt;uuid val=&quot;{C61D92EF-B871-4EB6-A421-1EC41EAC3EBE}&quot;/&gt;&lt;isInvalidForFieldText val=&quot;1&quot;/&gt;&lt;Image&gt;&lt;filename val=&quot;C:\Users\sanmi\Documents\My Adobe Presentations\ece552-CacheConcepts\data\asimages\{C61D92EF-B871-4EB6-A421-1EC41EAC3EBE}_19_S.png&quot;/&gt;&lt;left val=&quot;167&quot;/&gt;&lt;top val=&quot;379&quot;/&gt;&lt;width val=&quot;150&quot;/&gt;&lt;height val=&quot;36&quot;/&gt;&lt;hasText val=&quot;0&quot;/&gt;&lt;/Image&gt;&lt;Image&gt;&lt;filename val=&quot;C:\Users\sanmi\Documents\My Adobe Presentations\ece552-CacheConcepts\data\asimages\{C61D92EF-B871-4EB6-A421-1EC41EAC3EBE}_19_T.png&quot;/&gt;&lt;left val=&quot;167&quot;/&gt;&lt;top val=&quot;381&quot;/&gt;&lt;width val=&quot;140&quot;/&gt;&lt;height val=&quot;24&quot;/&gt;&lt;hasText val=&quot;1&quot;/&gt;&lt;/Image&gt;&lt;/ThreeDShapeInfo&gt;"/>
  <p:tag name="PRESENTER_SHAPETEXTINFO" val="&lt;ShapeTextInfo&gt;&lt;TableIndex row=&quot;-1&quot; col=&quot;-1&quot;&gt;&lt;linesCount val=&quot;0&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EA271A3-8855-47DF-91D2-BF7EAAD8672A}_19.png&quot;/&gt;&lt;left val=&quot;331&quot;/&gt;&lt;top val=&quot;388&quot;/&gt;&lt;width val=&quot;51&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0B527F9-9A8E-4E3C-85DE-5B3CE6D45724}_19.png&quot;/&gt;&lt;left val=&quot;487&quot;/&gt;&lt;top val=&quot;244&quot;/&gt;&lt;width val=&quot;103&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64E8A26-A601-403B-AB02-8E46C3388DE3}_19.png&quot;/&gt;&lt;left val=&quot;264&quot;/&gt;&lt;top val=&quot;244&quot;/&gt;&lt;width val=&quot;93&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E8B56C8-F346-47EC-90D8-7CE013749ACE}_19.png&quot;/&gt;&lt;left val=&quot;534&quot;/&gt;&lt;top val=&quot;363&quot;/&gt;&lt;width val=&quot;116&quot;/&gt;&lt;height val=&quot;43&quot;/&gt;&lt;hasText val=&quot;1&quot;/&gt;&lt;/Image&gt;&lt;/ThreeDShapeInfo&gt;"/>
  <p:tag name="PRESENTER_SHAPETEXTINFO" val="&lt;ShapeTextInfo&gt;&lt;TableIndex row=&quot;-1&quot; col=&quot;-1&quot;&gt;&lt;linesCount val=&quot;1&quot;/&gt;&lt;lineCharCount val=&quot;10&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93C9015-40ED-459B-97C8-54F7697B672D}_19.png&quot;/&gt;&lt;left val=&quot;321&quot;/&gt;&lt;top val=&quot;203&quot;/&gt;&lt;width val=&quot;15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62AA454-E4B1-4313-874C-1E9E3B6DD9DF}_19.png&quot;/&gt;&lt;left val=&quot;86&quot;/&gt;&lt;top val=&quot;438&quot;/&gt;&lt;width val=&quot;52&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FC9687-E08D-4688-AD52-D32FA66C91EC}_19.png&quot;/&gt;&lt;left val=&quot;179&quot;/&gt;&lt;top val=&quot;294&quot;/&gt;&lt;width val=&quot;44&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86D824D-72F0-4D96-B942-657A48ABFB37}_19.png&quot;/&gt;&lt;left val=&quot;440&quot;/&gt;&lt;top val=&quot;296&quot;/&gt;&lt;width val=&quot;192&quot;/&gt;&lt;height val=&quot;30&quot;/&gt;&lt;hasText val=&quot;1&quot;/&gt;&lt;/Image&gt;&lt;/ThreeDShapeInfo&gt;"/>
  <p:tag name="PRESENTER_SHAPETEXTINFO" val="&lt;ShapeTextInfo&gt;&lt;TableIndex row=&quot;-1&quot; col=&quot;-1&quot;&gt;&lt;linesCount val=&quot;1&quot;/&gt;&lt;lineCharCount val=&quot;25&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B8A4443-AE76-4C9F-9CE8-DB1355CD5A94}_19.png&quot;/&gt;&lt;left val=&quot;261&quot;/&gt;&lt;top val=&quot;297&quot;/&gt;&lt;width val=&quot;96&quot;/&gt;&lt;height val=&quot;30&quot;/&gt;&lt;hasText val=&quot;1&quot;/&gt;&lt;/Image&gt;&lt;/ThreeDShapeInfo&gt;"/>
  <p:tag name="PRESENTER_SHAPETEXTINFO" val="&lt;ShapeTextInfo&gt;&lt;TableIndex row=&quot;-1&quot; col=&quot;-1&quot;&gt;&lt;linesCount val=&quot;1&quot;/&gt;&lt;lineCharCount val=&quot;8&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1622838099,C:\Users\sanmi\GoogleDrive\UWMdrive\Courses\ECE552\ece552-lec11_CacheConcepts_pptx\Media.ppcx"/>
</p:tagLst>
</file>

<file path=ppt/tags/tag2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E2319F6-0340-4F79-A5E6-5AE3A9AA0D6D}_2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42CA898-6AEC-431C-A69C-11F5B65D1507}_2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44AC7D4-BE0C-4451-80AD-4D9FD1A448ED}_20.png&quot;/&gt;&lt;left val=&quot;24&quot;/&gt;&lt;top val=&quot;112&quot;/&gt;&lt;width val=&quot;683&quot;/&gt;&lt;height val=&quot;370&quot;/&gt;&lt;hasText val=&quot;1&quot;/&gt;&lt;/Image&gt;&lt;/ThreeDShapeInfo&gt;"/>
  <p:tag name="PRESENTER_SHAPETEXTINFO" val="&lt;ShapeTextInfo&gt;&lt;TableIndex row=&quot;-1&quot; col=&quot;-1&quot;&gt;&lt;linesCount val=&quot;5&quot;/&gt;&lt;lineCharCount val=&quot;50&quot;/&gt;&lt;lineCharCount val=&quot;47&quot;/&gt;&lt;lineCharCount val=&quot;5&quot;/&gt;&lt;lineCharCount val=&quot;21&quot;/&gt;&lt;lineCharCount val=&quot;45&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1622838099,C:\Users\sanmi\GoogleDrive\UWMdrive\Courses\ECE552\ece552-lec11_CacheConcepts_pptx\Media.ppcx"/>
  <p:tag name="TIMING" val="|5.5|12|14.4|9"/>
</p:tagLst>
</file>

<file path=ppt/tags/tag2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D7CD883-C16B-4AE3-89CC-942F51581A09}_21.png&quot;/&gt;&lt;left val=&quot;440&quot;/&gt;&lt;top val=&quot;296&quot;/&gt;&lt;width val=&quot;192&quot;/&gt;&lt;height val=&quot;30&quot;/&gt;&lt;hasText val=&quot;1&quot;/&gt;&lt;/Image&gt;&lt;/ThreeDShapeInfo&gt;"/>
  <p:tag name="PRESENTER_SHAPETEXTINFO" val="&lt;ShapeTextInfo&gt;&lt;TableIndex row=&quot;-1&quot; col=&quot;-1&quot;&gt;&lt;linesCount val=&quot;1&quot;/&gt;&lt;lineCharCount val=&quot;25&quot;/&gt;&lt;/TableIndex&gt;&lt;/ShapeTextInfo&gt;"/>
</p:tagLst>
</file>

<file path=ppt/tags/tag2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E68916D-EB8A-4359-8B85-E2DA04765956}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2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68288A7-2429-4F5B-A4E9-880F5FB9BE7B}_2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FE561B9-F45C-44F6-9274-B7D1C42BD580}_21.png&quot;/&gt;&lt;left val=&quot;31&quot;/&gt;&lt;top val=&quot;105&quot;/&gt;&lt;width val=&quot;671&quot;/&gt;&lt;height val=&quot;88&quot;/&gt;&lt;hasText val=&quot;1&quot;/&gt;&lt;/Image&gt;&lt;/ThreeDShapeInfo&gt;"/>
  <p:tag name="PRESENTER_SHAPETEXTINFO" val="&lt;ShapeTextInfo&gt;&lt;TableIndex row=&quot;-1&quot; col=&quot;-1&quot;&gt;&lt;linesCount val=&quot;2&quot;/&gt;&lt;lineCharCount val=&quot;46&quot;/&gt;&lt;lineCharCount val=&quot;52&quot;/&gt;&lt;/TableIndex&gt;&lt;/ShapeTextInfo&gt;"/>
</p:tagLst>
</file>

<file path=ppt/tags/tag2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2211295-2CEE-46A2-B424-0000C30DB5E7}_21.png&quot;/&gt;&lt;left val=&quot;485&quot;/&gt;&lt;top val=&quot;507&quot;/&gt;&lt;width val=&quot;112&quot;/&gt;&lt;height val=&quot;43&quot;/&gt;&lt;hasText val=&quot;1&quot;/&gt;&lt;/Image&gt;&lt;/ThreeDShapeInfo&gt;"/>
  <p:tag name="PRESENTER_SHAPETEXTINFO" val="&lt;ShapeTextInfo&gt;&lt;TableIndex row=&quot;-1&quot; col=&quot;-1&quot;&gt;&lt;linesCount val=&quot;1&quot;/&gt;&lt;lineCharCount val=&quot;9&quot;/&gt;&lt;/TableIndex&gt;&lt;/ShapeTextInfo&gt;"/>
</p:tagLst>
</file>

<file path=ppt/tags/tag248.xml><?xml version="1.0" encoding="utf-8"?>
<p:tagLst xmlns:a="http://schemas.openxmlformats.org/drawingml/2006/main" xmlns:r="http://schemas.openxmlformats.org/officeDocument/2006/relationships" xmlns:p="http://schemas.openxmlformats.org/presentationml/2006/main">
  <p:tag name="HTML_AUTOSHAPE_INFO" val="&lt;ThreeDShapeInfo&gt;&lt;uuid val=&quot;{E626B78F-FD27-4414-A1F4-6E0CA253B54C}&quot;/&gt;&lt;isInvalidForFieldText val=&quot;1&quot;/&gt;&lt;Image&gt;&lt;filename val=&quot;C:\Users\sanmi\Documents\My Adobe Presentations\ece552-CacheConcepts\data\asimages\{E626B78F-FD27-4414-A1F4-6E0CA253B54C}_21_S.png&quot;/&gt;&lt;left val=&quot;514&quot;/&gt;&lt;top val=&quot;451&quot;/&gt;&lt;width val=&quot;51&quot;/&gt;&lt;height val=&quot;27&quot;/&gt;&lt;hasText val=&quot;0&quot;/&gt;&lt;/Image&gt;&lt;Image&gt;&lt;filename val=&quot;C:\Users\sanmi\Documents\My Adobe Presentations\ece552-CacheConcepts\data\asimages\{E626B78F-FD27-4414-A1F4-6E0CA253B54C}_21_T.png&quot;/&gt;&lt;left val=&quot;515&quot;/&gt;&lt;top val=&quot;453&quot;/&gt;&lt;width val=&quot;48&quot;/&gt;&lt;height val=&quot;24&quot;/&gt;&lt;hasText val=&quot;1&quot;/&gt;&lt;/Image&gt;&lt;/ThreeDShapeInfo&gt;"/>
  <p:tag name="PRESENTER_SHAPETEXTINFO" val="&lt;ShapeTextInfo&gt;&lt;TableIndex row=&quot;-1&quot; col=&quot;-1&quot;&gt;&lt;linesCount val=&quot;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B3C499D-1D1A-4BCD-9318-D106DE810582}_21.png&quot;/&gt;&lt;left val=&quot;515&quot;/&gt;&lt;top val=&quot;448&quot;/&gt;&lt;width val=&quot;48&quot;/&gt;&lt;height val=&quot;43&quot;/&gt;&lt;hasText val=&quot;1&quot;/&gt;&lt;/Image&gt;&lt;/ThreeDShapeInfo&gt;"/>
  <p:tag name="PRESENTER_SHAPETEXTINFO" val="&lt;ShapeTextInfo&gt;&lt;TableIndex row=&quot;-1&quot; col=&quot;-1&quot;&gt;&lt;linesCount val=&quot;1&quot;/&gt;&lt;lineCharCount val=&quot;2&quot;/&gt;&lt;/TableIndex&gt;&lt;/ShapeTextInfo&gt;"/>
</p:tagLst>
</file>

<file path=ppt/tags/tag2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DF58710D-605E-4980-9BB7-B6C3D9D32344}_21.png&quot;/&gt;&lt;left val=&quot;292&quot;/&gt;&lt;top val=&quot;399&quot;/&gt;&lt;width val=&quot;44&quot;/&gt;&lt;height val=&quot;42&quot;/&gt;&lt;hasText val=&quot;1&quot;/&gt;&lt;/Image&gt;&lt;/ThreeDShapeInfo&gt;"/>
  <p:tag name="PRESENTER_SHAPETEXTINFO" val="&lt;ShapeTextInfo&gt;&lt;TableIndex row=&quot;-1&quot; col=&quot;-1&quot;&gt;&lt;linesCount val=&quot;1&quot;/&gt;&lt;lineCharCount val=&quot;1&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5.xml><?xml version="1.0" encoding="utf-8"?>
<p:tagLst xmlns:a="http://schemas.openxmlformats.org/drawingml/2006/main" xmlns:r="http://schemas.openxmlformats.org/officeDocument/2006/relationships" xmlns:p="http://schemas.openxmlformats.org/presentationml/2006/main">
  <p:tag name="HTML_AUTOSHAPE_INFO" val="&lt;ThreeDShapeInfo&gt;&lt;uuid val=&quot;{A5AB3364-5290-4E4F-B9E3-ECE6D453BB7C}&quot;/&gt;&lt;isInvalidForFieldText val=&quot;1&quot;/&gt;&lt;Image&gt;&lt;filename val=&quot;C:\Users\sanmi\Documents\My Adobe Presentations\ece552-CacheConcepts\data\asimages\{A5AB3364-5290-4E4F-B9E3-ECE6D453BB7C}_21_S.png&quot;/&gt;&lt;left val=&quot;238&quot;/&gt;&lt;top val=&quot;271&quot;/&gt;&lt;width val=&quot;15&quot;/&gt;&lt;height val=&quot;99&quot;/&gt;&lt;hasText val=&quot;0&quot;/&gt;&lt;/Image&gt;&lt;Image&gt;&lt;filename val=&quot;C:\Users\sanmi\Documents\My Adobe Presentations\ece552-CacheConcepts\data\asimages\{A5AB3364-5290-4E4F-B9E3-ECE6D453BB7C}_21_T.png&quot;/&gt;&lt;left val=&quot;23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0.xml><?xml version="1.0" encoding="utf-8"?>
<p:tagLst xmlns:a="http://schemas.openxmlformats.org/drawingml/2006/main" xmlns:r="http://schemas.openxmlformats.org/officeDocument/2006/relationships" xmlns:p="http://schemas.openxmlformats.org/presentationml/2006/main">
  <p:tag name="HTML_AUTOSHAPE_INFO" val="&lt;ThreeDShapeInfo&gt;&lt;uuid val=&quot;{11B0F4A7-5436-47CB-B66D-A805EEA89A3B}&quot;/&gt;&lt;isInvalidForFieldText val=&quot;1&quot;/&gt;&lt;Image&gt;&lt;filename val=&quot;C:\Users\sanmi\Documents\My Adobe Presentations\ece552-CacheConcepts\data\asimages\{11B0F4A7-5436-47CB-B66D-A805EEA89A3B}_21_S.png&quot;/&gt;&lt;left val=&quot;418&quot;/&gt;&lt;top val=&quot;271&quot;/&gt;&lt;width val=&quot;15&quot;/&gt;&lt;height val=&quot;99&quot;/&gt;&lt;hasText val=&quot;0&quot;/&gt;&lt;/Image&gt;&lt;Image&gt;&lt;filename val=&quot;C:\Users\sanmi\Documents\My Adobe Presentations\ece552-CacheConcepts\data\asimages\{11B0F4A7-5436-47CB-B66D-A805EEA89A3B}_21_T.png&quot;/&gt;&lt;left val=&quot;419&quot;/&gt;&lt;top val=&quot;273&quot;/&gt;&lt;width val=&quot;12&quot;/&gt;&lt;height val=&quot;96&quot;/&gt;&lt;hasText val=&quot;1&quot;/&gt;&lt;/Image&gt;&lt;/ThreeDShapeInfo&gt;"/>
  <p:tag name="PRESENTER_SHAPETEXTINFO" val="&lt;ShapeTextInfo&gt;&lt;TableIndex row=&quot;-1&quot; col=&quot;-1&quot;&gt;&lt;linesCount val=&quot;0&quot;/&gt;&lt;/TableIndex&gt;&lt;/ShapeTextInfo&gt;"/>
</p:tagLst>
</file>

<file path=ppt/tags/tag2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2D588EA-EBCC-479C-B5A7-FB62364FC6D0}_21.png&quot;/&gt;&lt;left val=&quot;262&quot;/&gt;&lt;top val=&quot;207&quot;/&gt;&lt;width val=&quot;73&quot;/&gt;&lt;height val=&quot;27&quot;/&gt;&lt;hasText val=&quot;1&quot;/&gt;&lt;/Image&gt;&lt;/ThreeDShapeInfo&gt;"/>
  <p:tag name="PRESENTER_SHAPETEXTINFO" val="&lt;ShapeTextInfo&gt;&lt;TableIndex row=&quot;-1&quot; col=&quot;-1&quot;&gt;&lt;linesCount val=&quot;1&quot;/&gt;&lt;lineCharCount val=&quot;12&quot;/&gt;&lt;/TableIndex&gt;&lt;/ShapeTextInfo&gt;"/>
</p:tagLst>
</file>

<file path=ppt/tags/tag2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A7D7B5BA-513D-4B05-B476-E9152B8FBAB8}_21.png&quot;/&gt;&lt;left val=&quot;107&quot;/&gt;&lt;top val=&quot;207&quot;/&gt;&lt;width val=&quot;84&quot;/&gt;&lt;height val=&quot;27&quot;/&gt;&lt;hasText val=&quot;1&quot;/&gt;&lt;/Image&gt;&lt;/ThreeDShapeInfo&gt;"/>
  <p:tag name="PRESENTER_SHAPETEXTINFO" val="&lt;ShapeTextInfo&gt;&lt;TableIndex row=&quot;-1&quot; col=&quot;-1&quot;&gt;&lt;linesCount val=&quot;1&quot;/&gt;&lt;lineCharCount val=&quot;10&quot;/&gt;&lt;/TableIndex&gt;&lt;/ShapeTextInfo&gt;"/>
</p:tagLst>
</file>

<file path=ppt/tags/tag2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08CE818-FB63-4C01-9C2A-22BE1B54693B}_21.png&quot;/&gt;&lt;left val=&quot;191&quot;/&gt;&lt;top val=&quot;207&quot;/&gt;&lt;width val=&quot;72&quot;/&gt;&lt;height val=&quot;27&quot;/&gt;&lt;hasText val=&quot;1&quot;/&gt;&lt;/Image&gt;&lt;/ThreeDShapeInfo&gt;"/>
  <p:tag name="PRESENTER_SHAPETEXTINFO" val="&lt;ShapeTextInfo&gt;&lt;TableIndex row=&quot;-1&quot; col=&quot;-1&quot;&gt;&lt;linesCount val=&quot;1&quot;/&gt;&lt;lineCharCount val=&quot;11&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HTML_AUTOSHAPE_INFO" val="&lt;ThreeDShapeInfo&gt;&lt;uuid val=&quot;{1EC9CE6C-857E-4E3D-B508-3F559C93FB54}&quot;/&gt;&lt;isInvalidForFieldText val=&quot;1&quot;/&gt;&lt;Image&gt;&lt;filename val=&quot;C:\Users\sanmi\Documents\My Adobe Presentations\ece552-CacheConcepts\data\asimages\{1EC9CE6C-857E-4E3D-B508-3F559C93FB54}_21_S.png&quot;/&gt;&lt;left val=&quot;214&quot;/&gt;&lt;top val=&quot;231&quot;/&gt;&lt;width val=&quot;35&quot;/&gt;&lt;height val=&quot;105&quot;/&gt;&lt;hasText val=&quot;0&quot;/&gt;&lt;/Image&gt;&lt;Image&gt;&lt;filename val=&quot;C:\Users\sanmi\Documents\My Adobe Presentations\ece552-CacheConcepts\data\asimages\{1EC9CE6C-857E-4E3D-B508-3F559C93FB54}_21_T.png&quot;/&gt;&lt;left val=&quot;216&quot;/&gt;&lt;top val=&quot;231&quot;/&gt;&lt;width val=&quot;24&quot;/&gt;&lt;height val=&quot;95&quot;/&gt;&lt;hasText val=&quot;1&quot;/&gt;&lt;/Image&gt;&lt;/ThreeDShapeInfo&gt;"/>
  <p:tag name="PRESENTER_SHAPETEXTINFO" val="&lt;ShapeTextInfo&gt;&lt;TableIndex row=&quot;-1&quot; col=&quot;-1&quot;&gt;&lt;linesCount val=&quot;0&quot;/&gt;&lt;/TableIndex&gt;&lt;/ShapeTextInfo&gt;"/>
</p:tagLst>
</file>

<file path=ppt/tags/tag277.xml><?xml version="1.0" encoding="utf-8"?>
<p:tagLst xmlns:a="http://schemas.openxmlformats.org/drawingml/2006/main" xmlns:r="http://schemas.openxmlformats.org/officeDocument/2006/relationships" xmlns:p="http://schemas.openxmlformats.org/presentationml/2006/main">
  <p:tag name="HTML_AUTOSHAPE_INFO" val="&lt;ThreeDShapeInfo&gt;&lt;uuid val=&quot;{B2F64B4D-A3E2-44AA-9DA0-0EFF76A4C95A}&quot;/&gt;&lt;isInvalidForFieldText val=&quot;1&quot;/&gt;&lt;Image&gt;&lt;filename val=&quot;C:\Users\sanmi\Documents\My Adobe Presentations\ece552-CacheConcepts\data\asimages\{B2F64B4D-A3E2-44AA-9DA0-0EFF76A4C95A}_21_S.png&quot;/&gt;&lt;left val=&quot;401&quot;/&gt;&lt;top val=&quot;249&quot;/&gt;&lt;width val=&quot;30&quot;/&gt;&lt;height val=&quot;87&quot;/&gt;&lt;hasText val=&quot;0&quot;/&gt;&lt;/Image&gt;&lt;Image&gt;&lt;filename val=&quot;C:\Users\sanmi\Documents\My Adobe Presentations\ece552-CacheConcepts\data\asimages\{B2F64B4D-A3E2-44AA-9DA0-0EFF76A4C95A}_21_T.png&quot;/&gt;&lt;left val=&quot;402&quot;/&gt;&lt;top val=&quot;249&quot;/&gt;&lt;width val=&quot;18&quot;/&gt;&lt;height val=&quot;77&quot;/&gt;&lt;hasText val=&quot;1&quot;/&gt;&lt;/Image&gt;&lt;/ThreeDShapeInfo&gt;"/>
  <p:tag name="PRESENTER_SHAPETEXTINFO" val="&lt;ShapeTextInfo&gt;&lt;TableIndex row=&quot;-1&quot; col=&quot;-1&quot;&gt;&lt;linesCount val=&quot;0&quot;/&gt;&lt;/TableIndex&gt;&lt;/ShapeTextInfo&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0.xml><?xml version="1.0" encoding="utf-8"?>
<p:tagLst xmlns:a="http://schemas.openxmlformats.org/drawingml/2006/main" xmlns:r="http://schemas.openxmlformats.org/officeDocument/2006/relationships" xmlns:p="http://schemas.openxmlformats.org/presentationml/2006/main">
  <p:tag name="HTML_AUTOSHAPE_INFO" val="&lt;ThreeDShapeInfo&gt;&lt;uuid val=&quot;{BDF46D0B-0613-42C4-B802-8411FCE3A92C}&quot;/&gt;&lt;isInvalidForFieldText val=&quot;1&quot;/&gt;&lt;Image&gt;&lt;filename val=&quot;C:\Users\sanmi\Documents\My Adobe Presentations\ece552-CacheConcepts\data\asimages\{BDF46D0B-0613-42C4-B802-8411FCE3A92C}_21_S.png&quot;/&gt;&lt;left val=&quot;443&quot;/&gt;&lt;top val=&quot;409&quot;/&gt;&lt;width val=&quot;194&quot;/&gt;&lt;height val=&quot;15&quot;/&gt;&lt;hasText val=&quot;0&quot;/&gt;&lt;/Image&gt;&lt;Image&gt;&lt;filename val=&quot;C:\Users\sanmi\Documents\My Adobe Presentations\ece552-CacheConcepts\data\asimages\{BDF46D0B-0613-42C4-B802-8411FCE3A92C}_21_T.png&quot;/&gt;&lt;left val=&quot;444&quot;/&gt;&lt;top val=&quot;411&quot;/&gt;&lt;width val=&quot;191&quot;/&gt;&lt;height val=&quot;12&quot;/&gt;&lt;hasText val=&quot;1&quot;/&gt;&lt;/Image&gt;&lt;/ThreeDShapeInfo&gt;"/>
  <p:tag name="PRESENTER_SHAPETEXTINFO" val="&lt;ShapeTextInfo&gt;&lt;TableIndex row=&quot;-1&quot; col=&quot;-1&quot;&gt;&lt;linesCount val=&quot;0&quot;/&gt;&lt;/TableIndex&gt;&lt;/ShapeTextInfo&gt;"/>
</p:tagLst>
</file>

<file path=ppt/tags/tag281.xml><?xml version="1.0" encoding="utf-8"?>
<p:tagLst xmlns:a="http://schemas.openxmlformats.org/drawingml/2006/main" xmlns:r="http://schemas.openxmlformats.org/officeDocument/2006/relationships" xmlns:p="http://schemas.openxmlformats.org/presentationml/2006/main">
  <p:tag name="HTML_AUTOSHAPE_INFO" val="&lt;ThreeDShapeInfo&gt;&lt;uuid val=&quot;{E1B1A649-4393-4DF4-9B75-26E93EC95822}&quot;/&gt;&lt;isInvalidForFieldText val=&quot;1&quot;/&gt;&lt;Image&gt;&lt;filename val=&quot;C:\Users\sanmi\Documents\My Adobe Presentations\ece552-CacheConcepts\data\asimages\{E1B1A649-4393-4DF4-9B75-26E93EC95822}_21_S.png&quot;/&gt;&lt;left val=&quot;166&quot;/&gt;&lt;top val=&quot;231&quot;/&gt;&lt;width val=&quot;25&quot;/&gt;&lt;height val=&quot;152&quot;/&gt;&lt;hasText val=&quot;0&quot;/&gt;&lt;/Image&gt;&lt;Image&gt;&lt;filename val=&quot;C:\Users\sanmi\Documents\My Adobe Presentations\ece552-CacheConcepts\data\asimages\{E1B1A649-4393-4DF4-9B75-26E93EC95822}_21_T.png&quot;/&gt;&lt;left val=&quot;167&quot;/&gt;&lt;top val=&quot;231&quot;/&gt;&lt;width val=&quot;24&quot;/&gt;&lt;height val=&quot;150&quot;/&gt;&lt;hasText val=&quot;1&quot;/&gt;&lt;/Image&gt;&lt;/ThreeDShapeInfo&gt;"/>
  <p:tag name="PRESENTER_SHAPETEXTINFO" val="&lt;ShapeTextInfo&gt;&lt;TableIndex row=&quot;-1&quot; col=&quot;-1&quot;&gt;&lt;linesCount val=&quot;0&quot;/&gt;&lt;/TableIndex&gt;&lt;/ShapeTextInfo&gt;"/>
</p:tagLst>
</file>

<file path=ppt/tags/tag282.xml><?xml version="1.0" encoding="utf-8"?>
<p:tagLst xmlns:a="http://schemas.openxmlformats.org/drawingml/2006/main" xmlns:r="http://schemas.openxmlformats.org/officeDocument/2006/relationships" xmlns:p="http://schemas.openxmlformats.org/presentationml/2006/main">
  <p:tag name="HTML_AUTOSHAPE_INFO" val="&lt;ThreeDShapeInfo&gt;&lt;uuid val=&quot;{098BC453-5B47-40E2-A7AF-108CC2081FD1}&quot;/&gt;&lt;isInvalidForFieldText val=&quot;1&quot;/&gt;&lt;Image&gt;&lt;filename val=&quot;C:\Users\sanmi\Documents\My Adobe Presentations\ece552-CacheConcepts\data\asimages\{098BC453-5B47-40E2-A7AF-108CC2081FD1}_21_S.png&quot;/&gt;&lt;left val=&quot;167&quot;/&gt;&lt;top val=&quot;379&quot;/&gt;&lt;width val=&quot;150&quot;/&gt;&lt;height val=&quot;36&quot;/&gt;&lt;hasText val=&quot;0&quot;/&gt;&lt;/Image&gt;&lt;Image&gt;&lt;filename val=&quot;C:\Users\sanmi\Documents\My Adobe Presentations\ece552-CacheConcepts\data\asimages\{098BC453-5B47-40E2-A7AF-108CC2081FD1}_21_T.png&quot;/&gt;&lt;left val=&quot;167&quot;/&gt;&lt;top val=&quot;381&quot;/&gt;&lt;width val=&quot;140&quot;/&gt;&lt;height val=&quot;24&quot;/&gt;&lt;hasText val=&quot;1&quot;/&gt;&lt;/Image&gt;&lt;/ThreeDShapeInfo&gt;"/>
  <p:tag name="PRESENTER_SHAPETEXTINFO" val="&lt;ShapeTextInfo&gt;&lt;TableIndex row=&quot;-1&quot; col=&quot;-1&quot;&gt;&lt;linesCount val=&quot;0&quot;/&gt;&lt;/TableIndex&gt;&lt;/ShapeTextInfo&gt;"/>
</p:tagLst>
</file>

<file path=ppt/tags/tag2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4B9ACDF-5F62-45A8-912F-983EB7DBE304}_21.png&quot;/&gt;&lt;left val=&quot;331&quot;/&gt;&lt;top val=&quot;388&quot;/&gt;&lt;width val=&quot;51&quot;/&gt;&lt;height val=&quot;39&quot;/&gt;&lt;hasText val=&quot;1&quot;/&gt;&lt;/Image&gt;&lt;/ThreeDShapeInfo&gt;"/>
  <p:tag name="PRESENTER_SHAPETEXTINFO" val="&lt;ShapeTextInfo&gt;&lt;TableIndex row=&quot;-1&quot; col=&quot;-1&quot;&gt;&lt;linesCount val=&quot;1&quot;/&gt;&lt;lineCharCount val=&quot;4&quot;/&gt;&lt;/TableIndex&gt;&lt;/ShapeTextInfo&gt;"/>
</p:tagLst>
</file>

<file path=ppt/tags/tag2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8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31B9C26-EA09-464F-954E-4292E35581BA}_21.png&quot;/&gt;&lt;left val=&quot;487&quot;/&gt;&lt;top val=&quot;244&quot;/&gt;&lt;width val=&quot;103&quot;/&gt;&lt;height val=&quot;39&quot;/&gt;&lt;hasText val=&quot;1&quot;/&gt;&lt;/Image&gt;&lt;/ThreeDShapeInfo&gt;"/>
  <p:tag name="PRESENTER_SHAPETEXTINFO" val="&lt;ShapeTextInfo&gt;&lt;TableIndex row=&quot;-1&quot; col=&quot;-1&quot;&gt;&lt;linesCount val=&quot;1&quot;/&gt;&lt;lineCharCount val=&quot;10&quot;/&gt;&lt;/TableIndex&gt;&lt;/ShapeTextInfo&gt;"/>
</p:tagLst>
</file>

<file path=ppt/tags/tag28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0C903A2-FD65-43AC-A2F5-7B52A8298F37}_21.png&quot;/&gt;&lt;left val=&quot;264&quot;/&gt;&lt;top val=&quot;244&quot;/&gt;&lt;width val=&quot;93&quot;/&gt;&lt;height val=&quot;39&quot;/&gt;&lt;hasText val=&quot;1&quot;/&gt;&lt;/Image&gt;&lt;/ThreeDShapeInfo&gt;"/>
  <p:tag name="PRESENTER_SHAPETEXTINFO" val="&lt;ShapeTextInfo&gt;&lt;TableIndex row=&quot;-1&quot; col=&quot;-1&quot;&gt;&lt;linesCount val=&quot;1&quot;/&gt;&lt;lineCharCount val=&quot;9&quot;/&gt;&lt;/TableIndex&gt;&lt;/ShapeTextInfo&gt;"/>
</p:tagLst>
</file>

<file path=ppt/tags/tag2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3EFEBDA-C24D-40F2-880E-35DE4A8CB97E}_21.png&quot;/&gt;&lt;left val=&quot;534&quot;/&gt;&lt;top val=&quot;363&quot;/&gt;&lt;width val=&quot;116&quot;/&gt;&lt;height val=&quot;43&quot;/&gt;&lt;hasText val=&quot;1&quot;/&gt;&lt;/Image&gt;&lt;/ThreeDShapeInfo&gt;"/>
  <p:tag name="PRESENTER_SHAPETEXTINFO" val="&lt;ShapeTextInfo&gt;&lt;TableIndex row=&quot;-1&quot; col=&quot;-1&quot;&gt;&lt;linesCount val=&quot;1&quot;/&gt;&lt;lineCharCount val=&quot;10&quot;/&gt;&lt;/TableIndex&gt;&lt;/ShapeTextInfo&gt;"/>
</p:tagLst>
</file>

<file path=ppt/tags/tag2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34E5F59-2362-4098-9D11-B6912A66122D}_21.png&quot;/&gt;&lt;left val=&quot;321&quot;/&gt;&lt;top val=&quot;203&quot;/&gt;&lt;width val=&quot;153&quot;/&gt;&lt;height val=&quot;34&quot;/&gt;&lt;hasText val=&quot;1&quot;/&gt;&lt;/Image&gt;&lt;/ThreeDShapeInfo&gt;"/>
  <p:tag name="PRESENTER_SHAPETEXTINFO" val="&lt;ShapeTextInfo&gt;&lt;TableIndex row=&quot;-1&quot; col=&quot;-1&quot;&gt;&lt;linesCount val=&quot;1&quot;/&gt;&lt;lineCharCount val=&quot;16&quot;/&gt;&lt;/TableIndex&gt;&lt;/ShapeTextInfo&gt;"/>
</p:tagLst>
</file>

<file path=ppt/tags/tag2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41AC4B0-4F32-45F9-A65D-8B3C9C1FE83A}_21.png&quot;/&gt;&lt;left val=&quot;86&quot;/&gt;&lt;top val=&quot;438&quot;/&gt;&lt;width val=&quot;52&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2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E461188-6229-4991-B0AF-0C3EBE49B0C9}_21.png&quot;/&gt;&lt;left val=&quot;179&quot;/&gt;&lt;top val=&quot;294&quot;/&gt;&lt;width val=&quot;44&quot;/&gt;&lt;height val=&quot;34&quot;/&gt;&lt;hasText val=&quot;1&quot;/&gt;&lt;/Image&gt;&lt;/ThreeDShapeInfo&gt;"/>
  <p:tag name="PRESENTER_SHAPETEXTINFO" val="&lt;ShapeTextInfo&gt;&lt;TableIndex row=&quot;-1&quot; col=&quot;-1&quot;&gt;&lt;linesCount val=&quot;1&quot;/&gt;&lt;lineCharCount val=&quot;3&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F48D0B7-008B-412C-8FBA-2D374AFDD255}_21.png&quot;/&gt;&lt;left val=&quot;261&quot;/&gt;&lt;top val=&quot;297&quot;/&gt;&lt;width val=&quot;96&quot;/&gt;&lt;height val=&quot;30&quot;/&gt;&lt;hasText val=&quot;1&quot;/&gt;&lt;/Image&gt;&lt;/ThreeDShapeInfo&gt;"/>
  <p:tag name="PRESENTER_SHAPETEXTINFO" val="&lt;ShapeTextInfo&gt;&lt;TableIndex row=&quot;-1&quot; col=&quot;-1&quot;&gt;&lt;linesCount val=&quot;1&quot;/&gt;&lt;lineCharCount val=&quot;8&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E07BBE5-125F-47A7-8D8B-0B021CB18C74}_21.png&quot;/&gt;&lt;left val=&quot;287&quot;/&gt;&lt;top val=&quot;423&quot;/&gt;&lt;width val=&quot;53&quot;/&gt;&lt;height val=&quot;34&quot;/&gt;&lt;hasText val=&quot;1&quot;/&gt;&lt;/Image&gt;&lt;/ThreeDShapeInfo&gt;"/>
  <p:tag name="PRESENTER_SHAPETEXTINFO" val="&lt;ShapeTextInfo&gt;&lt;TableIndex row=&quot;-1&quot; col=&quot;-1&quot;&gt;&lt;linesCount val=&quot;1&quot;/&gt;&lt;lineCharCount val=&quot;4&quot;/&gt;&lt;/TableIndex&gt;&lt;/ShapeTextInfo&gt;"/>
</p:tagLst>
</file>

<file path=ppt/tags/tag2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DF90C5C-E463-4008-8A69-50681CBF7444}_21.png&quot;/&gt;&lt;left val=&quot;261&quot;/&gt;&lt;top val=&quot;296&quot;/&gt;&lt;width val=&quot;372&quot;/&gt;&lt;height val=&quot;31&quot;/&gt;&lt;hasText val=&quot;1&quot;/&gt;&lt;/Image&gt;&lt;/ThreeDShapeInfo&gt;"/>
</p:tagLst>
</file>

<file path=ppt/tags/tag2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5&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1622838099,C:\Users\sanmi\GoogleDrive\UWMdrive\Courses\ECE552\ece552-lec11_CacheConcepts_pptx\Media.ppcx"/>
</p:tagLst>
</file>

<file path=ppt/tags/tag3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CDBEEC0-1AF6-41BD-AEB0-529B191CD371}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30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72D33FB-F787-46C8-9E1B-F467C6389B3D}_2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8F0D5D9-D162-46FC-BB4F-C93FCE044D95}_22.png&quot;/&gt;&lt;left val=&quot;31&quot;/&gt;&lt;top val=&quot;105&quot;/&gt;&lt;width val=&quot;687&quot;/&gt;&lt;height val=&quot;417&quot;/&gt;&lt;hasText val=&quot;1&quot;/&gt;&lt;/Image&gt;&lt;/ThreeDShapeInfo&gt;"/>
  <p:tag name="PRESENTER_SHAPETEXTINFO" val="&lt;ShapeTextInfo&gt;&lt;TableIndex row=&quot;-1&quot; col=&quot;-1&quot;&gt;&lt;linesCount val=&quot;13&quot;/&gt;&lt;lineCharCount val=&quot;57&quot;/&gt;&lt;lineCharCount val=&quot;58&quot;/&gt;&lt;lineCharCount val=&quot;12&quot;/&gt;&lt;lineCharCount val=&quot;1&quot;/&gt;&lt;lineCharCount val=&quot;56&quot;/&gt;&lt;lineCharCount val=&quot;29&quot;/&gt;&lt;lineCharCount val=&quot;66&quot;/&gt;&lt;lineCharCount val=&quot;7&quot;/&gt;&lt;lineCharCount val=&quot;1&quot;/&gt;&lt;lineCharCount val=&quot;66&quot;/&gt;&lt;lineCharCount val=&quot;51&quot;/&gt;&lt;lineCharCount val=&quot;66&quot;/&gt;&lt;lineCharCount val=&quot;69&quot;/&gt;&lt;/TableIndex&gt;&lt;/ShapeTextInfo&gt;"/>
</p:tagLst>
</file>

<file path=ppt/tags/tag304.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1622838099,C:\Users\sanmi\GoogleDrive\UWMdrive\Courses\ECE552\ece552-lec11_CacheConcepts_pptx\Media.ppcx"/>
  <p:tag name="TIMING" val="|44.1|22.5|7.9|17.4|9.1|9.2|11|7.1|8.5"/>
</p:tagLst>
</file>

<file path=ppt/tags/tag30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64BC978-914D-49D4-9BEC-2B721313FB02}_23.png&quot;/&gt;&lt;left val=&quot;45&quot;/&gt;&lt;top val=&quot;229&quot;/&gt;&lt;width val=&quot;633&quot;/&gt;&lt;height val=&quot;298&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TableIndex row=&quot;6&quot; col=&quot;1&quot;&gt;&lt;linesCount val=&quot;1&quot;/&gt;&lt;lineCharCount val=&quot;46&quot;/&gt;&lt;/TableIndex&gt;&lt;TableIndex row=&quot;6&quot; col=&quot;2&quot;&gt;&lt;linesCount val=&quot;1&quot;/&gt;&lt;lineCharCount val=&quot;4&quot;/&gt;&lt;/TableIndex&gt;&lt;TableIndex row=&quot;6&quot; col=&quot;3&quot;&gt;&lt;linesCount val=&quot;1&quot;/&gt;&lt;lineCharCount val=&quot;4&quot;/&gt;&lt;/TableIndex&gt;&lt;TableIndex row=&quot;7&quot; col=&quot;1&quot;&gt;&lt;linesCount val=&quot;1&quot;/&gt;&lt;lineCharCount val=&quot;46&quot;/&gt;&lt;/TableIndex&gt;&lt;TableIndex row=&quot;7&quot; col=&quot;2&quot;&gt;&lt;linesCount val=&quot;1&quot;/&gt;&lt;lineCharCount val=&quot;4&quot;/&gt;&lt;/TableIndex&gt;&lt;TableIndex row=&quot;7&quot; col=&quot;3&quot;&gt;&lt;linesCount val=&quot;1&quot;/&gt;&lt;lineCharCount val=&quot;4&quot;/&gt;&lt;/TableIndex&gt;&lt;TableIndex row=&quot;8&quot; col=&quot;1&quot;&gt;&lt;linesCount val=&quot;1&quot;/&gt;&lt;lineCharCount val=&quot;46&quot;/&gt;&lt;/TableIndex&gt;&lt;TableIndex row=&quot;8&quot; col=&quot;2&quot;&gt;&lt;linesCount val=&quot;1&quot;/&gt;&lt;lineCharCount val=&quot;4&quot;/&gt;&lt;/TableIndex&gt;&lt;TableIndex row=&quot;8&quot; col=&quot;3&quot;&gt;&lt;linesCount val=&quot;1&quot;/&gt;&lt;lineCharCount val=&quot;3&quot;/&gt;&lt;/TableIndex&gt;&lt;TableIndex row=&quot;9&quot; col=&quot;1&quot;&gt;&lt;linesCount val=&quot;1&quot;/&gt;&lt;lineCharCount val=&quot;46&quot;/&gt;&lt;/TableIndex&gt;&lt;TableIndex row=&quot;9&quot; col=&quot;2&quot;&gt;&lt;linesCount val=&quot;1&quot;/&gt;&lt;lineCharCount val=&quot;4&quot;/&gt;&lt;/TableIndex&gt;&lt;TableIndex row=&quot;9&quot; col=&quot;3&quot;&gt;&lt;linesCount val=&quot;1&quot;/&gt;&lt;lineCharCount val=&quot;4&quot;/&gt;&lt;/TableIndex&gt;&lt;TableIndex row=&quot;10&quot; col=&quot;1&quot;&gt;&lt;linesCount val=&quot;1&quot;/&gt;&lt;lineCharCount val=&quot;46&quot;/&gt;&lt;/TableIndex&gt;&lt;TableIndex row=&quot;10&quot; col=&quot;2&quot;&gt;&lt;linesCount val=&quot;1&quot;/&gt;&lt;lineCharCount val=&quot;4&quot;/&gt;&lt;/TableIndex&gt;&lt;TableIndex row=&quot;10&quot; col=&quot;3&quot;&gt;&lt;linesCount val=&quot;1&quot;/&gt;&lt;lineCharCount val=&quot;4&quot;/&gt;&lt;/TableIndex&gt;&lt;TableIndex row=&quot;11&quot; col=&quot;1&quot;&gt;&lt;linesCount val=&quot;1&quot;/&gt;&lt;lineCharCount val=&quot;46&quot;/&gt;&lt;/TableIndex&gt;&lt;TableIndex row=&quot;11&quot; col=&quot;2&quot;&gt;&lt;linesCount val=&quot;1&quot;/&gt;&lt;lineCharCount val=&quot;4&quot;/&gt;&lt;/TableIndex&gt;&lt;TableIndex row=&quot;11&quot; col=&quot;3&quot;&gt;&lt;linesCount val=&quot;1&quot;/&gt;&lt;lineCharCount val=&quot;4&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790B1EE-1544-4AEB-9D6B-44AA778CCBB6}_23.png&quot;/&gt;&lt;left val=&quot;45&quot;/&gt;&lt;top val=&quot;229&quot;/&gt;&lt;width val=&quot;633&quot;/&gt;&lt;height val=&quot;272&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TableIndex row=&quot;6&quot; col=&quot;1&quot;&gt;&lt;linesCount val=&quot;1&quot;/&gt;&lt;lineCharCount val=&quot;46&quot;/&gt;&lt;/TableIndex&gt;&lt;TableIndex row=&quot;6&quot; col=&quot;2&quot;&gt;&lt;linesCount val=&quot;1&quot;/&gt;&lt;lineCharCount val=&quot;4&quot;/&gt;&lt;/TableIndex&gt;&lt;TableIndex row=&quot;6&quot; col=&quot;3&quot;&gt;&lt;linesCount val=&quot;1&quot;/&gt;&lt;lineCharCount val=&quot;4&quot;/&gt;&lt;/TableIndex&gt;&lt;TableIndex row=&quot;7&quot; col=&quot;1&quot;&gt;&lt;linesCount val=&quot;1&quot;/&gt;&lt;lineCharCount val=&quot;46&quot;/&gt;&lt;/TableIndex&gt;&lt;TableIndex row=&quot;7&quot; col=&quot;2&quot;&gt;&lt;linesCount val=&quot;1&quot;/&gt;&lt;lineCharCount val=&quot;4&quot;/&gt;&lt;/TableIndex&gt;&lt;TableIndex row=&quot;7&quot; col=&quot;3&quot;&gt;&lt;linesCount val=&quot;1&quot;/&gt;&lt;lineCharCount val=&quot;4&quot;/&gt;&lt;/TableIndex&gt;&lt;TableIndex row=&quot;8&quot; col=&quot;1&quot;&gt;&lt;linesCount val=&quot;1&quot;/&gt;&lt;lineCharCount val=&quot;46&quot;/&gt;&lt;/TableIndex&gt;&lt;TableIndex row=&quot;8&quot; col=&quot;2&quot;&gt;&lt;linesCount val=&quot;1&quot;/&gt;&lt;lineCharCount val=&quot;4&quot;/&gt;&lt;/TableIndex&gt;&lt;TableIndex row=&quot;8&quot; col=&quot;3&quot;&gt;&lt;linesCount val=&quot;1&quot;/&gt;&lt;lineCharCount val=&quot;3&quot;/&gt;&lt;/TableIndex&gt;&lt;TableIndex row=&quot;9&quot; col=&quot;1&quot;&gt;&lt;linesCount val=&quot;1&quot;/&gt;&lt;lineCharCount val=&quot;46&quot;/&gt;&lt;/TableIndex&gt;&lt;TableIndex row=&quot;9&quot; col=&quot;2&quot;&gt;&lt;linesCount val=&quot;1&quot;/&gt;&lt;lineCharCount val=&quot;4&quot;/&gt;&lt;/TableIndex&gt;&lt;TableIndex row=&quot;9&quot; col=&quot;3&quot;&gt;&lt;linesCount val=&quot;1&quot;/&gt;&lt;lineCharCount val=&quot;4&quot;/&gt;&lt;/TableIndex&gt;&lt;TableIndex row=&quot;10&quot; col=&quot;1&quot;&gt;&lt;linesCount val=&quot;1&quot;/&gt;&lt;lineCharCount val=&quot;46&quot;/&gt;&lt;/TableIndex&gt;&lt;TableIndex row=&quot;10&quot; col=&quot;2&quot;&gt;&lt;linesCount val=&quot;1&quot;/&gt;&lt;lineCharCount val=&quot;4&quot;/&gt;&lt;/TableIndex&gt;&lt;TableIndex row=&quot;10&quot; col=&quot;3&quot;&gt;&lt;linesCount val=&quot;1&quot;/&gt;&lt;lineCharCount val=&quot;4&quot;/&gt;&lt;/TableIndex&gt;&lt;/ShapeTextInfo&gt;"/>
</p:tagLst>
</file>

<file path=ppt/tags/tag3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37F3864-8BAD-4587-B4F6-6B29F0677375}_23.png&quot;/&gt;&lt;left val=&quot;45&quot;/&gt;&lt;top val=&quot;229&quot;/&gt;&lt;width val=&quot;633&quot;/&gt;&lt;height val=&quot;246&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TableIndex row=&quot;6&quot; col=&quot;1&quot;&gt;&lt;linesCount val=&quot;1&quot;/&gt;&lt;lineCharCount val=&quot;46&quot;/&gt;&lt;/TableIndex&gt;&lt;TableIndex row=&quot;6&quot; col=&quot;2&quot;&gt;&lt;linesCount val=&quot;1&quot;/&gt;&lt;lineCharCount val=&quot;4&quot;/&gt;&lt;/TableIndex&gt;&lt;TableIndex row=&quot;6&quot; col=&quot;3&quot;&gt;&lt;linesCount val=&quot;1&quot;/&gt;&lt;lineCharCount val=&quot;4&quot;/&gt;&lt;/TableIndex&gt;&lt;TableIndex row=&quot;7&quot; col=&quot;1&quot;&gt;&lt;linesCount val=&quot;1&quot;/&gt;&lt;lineCharCount val=&quot;46&quot;/&gt;&lt;/TableIndex&gt;&lt;TableIndex row=&quot;7&quot; col=&quot;2&quot;&gt;&lt;linesCount val=&quot;1&quot;/&gt;&lt;lineCharCount val=&quot;4&quot;/&gt;&lt;/TableIndex&gt;&lt;TableIndex row=&quot;7&quot; col=&quot;3&quot;&gt;&lt;linesCount val=&quot;1&quot;/&gt;&lt;lineCharCount val=&quot;4&quot;/&gt;&lt;/TableIndex&gt;&lt;TableIndex row=&quot;8&quot; col=&quot;1&quot;&gt;&lt;linesCount val=&quot;1&quot;/&gt;&lt;lineCharCount val=&quot;46&quot;/&gt;&lt;/TableIndex&gt;&lt;TableIndex row=&quot;8&quot; col=&quot;2&quot;&gt;&lt;linesCount val=&quot;1&quot;/&gt;&lt;lineCharCount val=&quot;4&quot;/&gt;&lt;/TableIndex&gt;&lt;TableIndex row=&quot;8&quot; col=&quot;3&quot;&gt;&lt;linesCount val=&quot;1&quot;/&gt;&lt;lineCharCount val=&quot;3&quot;/&gt;&lt;/TableIndex&gt;&lt;TableIndex row=&quot;9&quot; col=&quot;1&quot;&gt;&lt;linesCount val=&quot;1&quot;/&gt;&lt;lineCharCount val=&quot;46&quot;/&gt;&lt;/TableIndex&gt;&lt;TableIndex row=&quot;9&quot; col=&quot;2&quot;&gt;&lt;linesCount val=&quot;1&quot;/&gt;&lt;lineCharCount val=&quot;4&quot;/&gt;&lt;/TableIndex&gt;&lt;TableIndex row=&quot;9&quot; col=&quot;3&quot;&gt;&lt;linesCount val=&quot;1&quot;/&gt;&lt;lineCharCount val=&quot;4&quot;/&gt;&lt;/TableIndex&gt;&lt;/ShapeTextInfo&gt;"/>
</p:tagLst>
</file>

<file path=ppt/tags/tag3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2C016CE-FEE5-4C35-9077-1266EDA8A8DC}_23.png&quot;/&gt;&lt;left val=&quot;45&quot;/&gt;&lt;top val=&quot;229&quot;/&gt;&lt;width val=&quot;633&quot;/&gt;&lt;height val=&quot;219&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TableIndex row=&quot;6&quot; col=&quot;1&quot;&gt;&lt;linesCount val=&quot;1&quot;/&gt;&lt;lineCharCount val=&quot;46&quot;/&gt;&lt;/TableIndex&gt;&lt;TableIndex row=&quot;6&quot; col=&quot;2&quot;&gt;&lt;linesCount val=&quot;1&quot;/&gt;&lt;lineCharCount val=&quot;4&quot;/&gt;&lt;/TableIndex&gt;&lt;TableIndex row=&quot;6&quot; col=&quot;3&quot;&gt;&lt;linesCount val=&quot;1&quot;/&gt;&lt;lineCharCount val=&quot;4&quot;/&gt;&lt;/TableIndex&gt;&lt;TableIndex row=&quot;7&quot; col=&quot;1&quot;&gt;&lt;linesCount val=&quot;1&quot;/&gt;&lt;lineCharCount val=&quot;46&quot;/&gt;&lt;/TableIndex&gt;&lt;TableIndex row=&quot;7&quot; col=&quot;2&quot;&gt;&lt;linesCount val=&quot;1&quot;/&gt;&lt;lineCharCount val=&quot;4&quot;/&gt;&lt;/TableIndex&gt;&lt;TableIndex row=&quot;7&quot; col=&quot;3&quot;&gt;&lt;linesCount val=&quot;1&quot;/&gt;&lt;lineCharCount val=&quot;4&quot;/&gt;&lt;/TableIndex&gt;&lt;TableIndex row=&quot;8&quot; col=&quot;1&quot;&gt;&lt;linesCount val=&quot;1&quot;/&gt;&lt;lineCharCount val=&quot;46&quot;/&gt;&lt;/TableIndex&gt;&lt;TableIndex row=&quot;8&quot; col=&quot;2&quot;&gt;&lt;linesCount val=&quot;1&quot;/&gt;&lt;lineCharCount val=&quot;4&quot;/&gt;&lt;/TableIndex&gt;&lt;TableIndex row=&quot;8&quot; col=&quot;3&quot;&gt;&lt;linesCount val=&quot;1&quot;/&gt;&lt;lineCharCount val=&quot;3&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047BE8E-1E21-4270-A50F-FC08AA4F8DF3}_23.png&quot;/&gt;&lt;left val=&quot;45&quot;/&gt;&lt;top val=&quot;229&quot;/&gt;&lt;width val=&quot;633&quot;/&gt;&lt;height val=&quot;193&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TableIndex row=&quot;6&quot; col=&quot;1&quot;&gt;&lt;linesCount val=&quot;1&quot;/&gt;&lt;lineCharCount val=&quot;46&quot;/&gt;&lt;/TableIndex&gt;&lt;TableIndex row=&quot;6&quot; col=&quot;2&quot;&gt;&lt;linesCount val=&quot;1&quot;/&gt;&lt;lineCharCount val=&quot;4&quot;/&gt;&lt;/TableIndex&gt;&lt;TableIndex row=&quot;6&quot; col=&quot;3&quot;&gt;&lt;linesCount val=&quot;1&quot;/&gt;&lt;lineCharCount val=&quot;4&quot;/&gt;&lt;/TableIndex&gt;&lt;TableIndex row=&quot;7&quot; col=&quot;1&quot;&gt;&lt;linesCount val=&quot;1&quot;/&gt;&lt;lineCharCount val=&quot;46&quot;/&gt;&lt;/TableIndex&gt;&lt;TableIndex row=&quot;7&quot; col=&quot;2&quot;&gt;&lt;linesCount val=&quot;1&quot;/&gt;&lt;lineCharCount val=&quot;4&quot;/&gt;&lt;/TableIndex&gt;&lt;TableIndex row=&quot;7&quot; col=&quot;3&quot;&gt;&lt;linesCount val=&quot;1&quot;/&gt;&lt;lineCharCount val=&quot;4&quot;/&gt;&lt;/TableIndex&gt;&lt;/ShapeTextInfo&gt;"/>
</p:tagLst>
</file>

<file path=ppt/tags/tag31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58DC860-F066-4D1F-91E6-FA928A965088}_23.png&quot;/&gt;&lt;left val=&quot;45&quot;/&gt;&lt;top val=&quot;229&quot;/&gt;&lt;width val=&quot;633&quot;/&gt;&lt;height val=&quot;166&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TableIndex row=&quot;6&quot; col=&quot;1&quot;&gt;&lt;linesCount val=&quot;1&quot;/&gt;&lt;lineCharCount val=&quot;46&quot;/&gt;&lt;/TableIndex&gt;&lt;TableIndex row=&quot;6&quot; col=&quot;2&quot;&gt;&lt;linesCount val=&quot;1&quot;/&gt;&lt;lineCharCount val=&quot;4&quot;/&gt;&lt;/TableIndex&gt;&lt;TableIndex row=&quot;6&quot; col=&quot;3&quot;&gt;&lt;linesCount val=&quot;1&quot;/&gt;&lt;lineCharCount val=&quot;4&quot;/&gt;&lt;/TableIndex&gt;&lt;/ShapeTextInfo&gt;"/>
</p:tagLst>
</file>

<file path=ppt/tags/tag3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7A7BF6A-FA06-4C45-911B-15D1E1832A2C}_23.png&quot;/&gt;&lt;left val=&quot;45&quot;/&gt;&lt;top val=&quot;229&quot;/&gt;&lt;width val=&quot;633&quot;/&gt;&lt;height val=&quot;140&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TableIndex row=&quot;5&quot; col=&quot;1&quot;&gt;&lt;linesCount val=&quot;1&quot;/&gt;&lt;lineCharCount val=&quot;46&quot;/&gt;&lt;/TableIndex&gt;&lt;TableIndex row=&quot;5&quot; col=&quot;2&quot;&gt;&lt;linesCount val=&quot;1&quot;/&gt;&lt;lineCharCount val=&quot;4&quot;/&gt;&lt;/TableIndex&gt;&lt;TableIndex row=&quot;5&quot; col=&quot;3&quot;&gt;&lt;linesCount val=&quot;1&quot;/&gt;&lt;lineCharCount val=&quot;3&quot;/&gt;&lt;/TableIndex&gt;&lt;/ShapeTextInfo&gt;"/>
</p:tagLst>
</file>

<file path=ppt/tags/tag31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F47CA59-B4BD-4FC8-987F-5DC3964481B7}_23.png&quot;/&gt;&lt;left val=&quot;45&quot;/&gt;&lt;top val=&quot;229&quot;/&gt;&lt;width val=&quot;633&quot;/&gt;&lt;height val=&quot;114&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TableIndex row=&quot;4&quot; col=&quot;1&quot;&gt;&lt;linesCount val=&quot;1&quot;/&gt;&lt;lineCharCount val=&quot;46&quot;/&gt;&lt;/TableIndex&gt;&lt;TableIndex row=&quot;4&quot; col=&quot;2&quot;&gt;&lt;linesCount val=&quot;1&quot;/&gt;&lt;lineCharCount val=&quot;4&quot;/&gt;&lt;/TableIndex&gt;&lt;TableIndex row=&quot;4&quot; col=&quot;3&quot;&gt;&lt;linesCount val=&quot;1&quot;/&gt;&lt;lineCharCount val=&quot;4&quot;/&gt;&lt;/TableIndex&gt;&lt;/ShapeTextInfo&gt;"/>
</p:tagLst>
</file>

<file path=ppt/tags/tag31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A8E8C1F-02A0-4DE2-A257-3488B76D3CDB}_23.png&quot;/&gt;&lt;left val=&quot;45&quot;/&gt;&lt;top val=&quot;229&quot;/&gt;&lt;width val=&quot;633&quot;/&gt;&lt;height val=&quot;87&quot;/&gt;&lt;hasText val=&quot;1&quot;/&gt;&lt;/Image&gt;&lt;/ThreeDShapeInfo&gt;"/>
  <p:tag name="PRESENTER_SHAPETEXTINFO" val="&lt;ShapeTextInfo&gt;&lt;TableIndex row=&quot;1&quot; col=&quot;1&quot;&gt;&lt;linesCount val=&quot;1&quot;/&gt;&lt;lineCharCount val=&quot;14&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TableIndex row=&quot;3&quot; col=&quot;1&quot;&gt;&lt;linesCount val=&quot;1&quot;/&gt;&lt;lineCharCount val=&quot;46&quot;/&gt;&lt;/TableIndex&gt;&lt;TableIndex row=&quot;3&quot; col=&quot;2&quot;&gt;&lt;linesCount val=&quot;1&quot;/&gt;&lt;lineCharCount val=&quot;4&quot;/&gt;&lt;/TableIndex&gt;&lt;TableIndex row=&quot;3&quot; col=&quot;3&quot;&gt;&lt;linesCount val=&quot;1&quot;/&gt;&lt;lineCharCount val=&quot;4&quot;/&gt;&lt;/TableIndex&gt;&lt;/ShapeTextInfo&gt;"/>
</p:tagLst>
</file>

<file path=ppt/tags/tag3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0938A586-B396-4040-A5BF-B911963C8B37}_23.png&quot;/&gt;&lt;left val=&quot;45&quot;/&gt;&lt;top val=&quot;229&quot;/&gt;&lt;width val=&quot;633&quot;/&gt;&lt;height val=&quot;61&quot;/&gt;&lt;hasText val=&quot;1&quot;/&gt;&lt;/Image&gt;&lt;/ThreeDShapeInfo&gt;"/>
  <p:tag name="PRESENTER_SHAPETEXTINFO" val="&lt;ShapeTextInfo&gt;&lt;TableIndex row=&quot;1&quot; col=&quot;1&quot;&gt;&lt;linesCount val=&quot;1&quot;/&gt;&lt;lineCharCount val=&quot;35&quot;/&gt;&lt;/TableIndex&gt;&lt;TableIndex row=&quot;1&quot; col=&quot;2&quot;&gt;&lt;linesCount val=&quot;1&quot;/&gt;&lt;lineCharCount val=&quot;7&quot;/&gt;&lt;/TableIndex&gt;&lt;TableIndex row=&quot;1&quot; col=&quot;3&quot;&gt;&lt;linesCount val=&quot;1&quot;/&gt;&lt;lineCharCount val=&quot;7&quot;/&gt;&lt;/TableIndex&gt;&lt;TableIndex row=&quot;2&quot; col=&quot;1&quot;&gt;&lt;linesCount val=&quot;1&quot;/&gt;&lt;lineCharCount val=&quot;46&quot;/&gt;&lt;/TableIndex&gt;&lt;TableIndex row=&quot;2&quot; col=&quot;2&quot;&gt;&lt;linesCount val=&quot;1&quot;/&gt;&lt;lineCharCount val=&quot;4&quot;/&gt;&lt;/TableIndex&gt;&lt;TableIndex row=&quot;2&quot; col=&quot;3&quot;&gt;&lt;linesCount val=&quot;1&quot;/&gt;&lt;lineCharCount val=&quot;4&quot;/&gt;&lt;/TableIndex&gt;&lt;/ShapeTextInfo&gt;"/>
</p:tagLst>
</file>

<file path=ppt/tags/tag31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2566A3D-3855-40BF-98C8-6151C4544A63}_2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6&quot;/&gt;&lt;/TableIndex&gt;&lt;/ShapeTextInfo&gt;"/>
</p:tagLst>
</file>

<file path=ppt/tags/tag3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46805CE-0C79-4D51-8251-600FB891B943}_2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FE64A24-F9F4-4CBC-800D-2F019B78A615}_23.png&quot;/&gt;&lt;left val=&quot;24&quot;/&gt;&lt;top val=&quot;112&quot;/&gt;&lt;width val=&quot;683&quot;/&gt;&lt;height val=&quot;130&quot;/&gt;&lt;hasText val=&quot;1&quot;/&gt;&lt;/Image&gt;&lt;/ThreeDShapeInfo&gt;"/>
  <p:tag name="PRESENTER_SHAPETEXTINFO" val="&lt;ShapeTextInfo&gt;&lt;TableIndex row=&quot;-1&quot; col=&quot;-1&quot;&gt;&lt;linesCount val=&quot;3&quot;/&gt;&lt;lineCharCount val=&quot;46&quot;/&gt;&lt;lineCharCount val=&quot;15&quot;/&gt;&lt;lineCharCount val=&quot;32&quot;/&gt;&lt;/TableIndex&gt;&lt;/ShapeTextInfo&gt;"/>
</p:tagLst>
</file>

<file path=ppt/tags/tag3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93CEEA94-9F5B-471B-850D-76EDEAB5E311}_23.png&quot;/&gt;&lt;left val=&quot;623&quot;/&gt;&lt;top val=&quot;161&quot;/&gt;&lt;width val=&quot;55&quot;/&gt;&lt;height val=&quot;30&quot;/&gt;&lt;hasText val=&quot;1&quot;/&gt;&lt;/Image&gt;&lt;/ThreeDShapeInfo&gt;"/>
  <p:tag name="PRESENTER_SHAPETEXTINFO" val="&lt;ShapeTextInfo&gt;&lt;TableIndex row=&quot;-1&quot; col=&quot;-1&quot;&gt;&lt;linesCount val=&quot;1&quot;/&gt;&lt;lineCharCount val=&quot;6&quot;/&gt;&lt;/TableIndex&gt;&lt;/ShapeTextInfo&gt;"/>
</p:tagLst>
</file>

<file path=ppt/tags/tag3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18B226A5-D228-4928-B0CB-69BDD415DA3B}_23.png&quot;/&gt;&lt;left val=&quot;293&quot;/&gt;&lt;top val=&quot;161&quot;/&gt;&lt;width val=&quot;210&quot;/&gt;&lt;height val=&quot;30&quot;/&gt;&lt;hasText val=&quot;1&quot;/&gt;&lt;/Image&gt;&lt;/ThreeDShapeInfo&gt;"/>
  <p:tag name="PRESENTER_SHAPETEXTINFO" val="&lt;ShapeTextInfo&gt;&lt;TableIndex row=&quot;-1&quot; col=&quot;-1&quot;&gt;&lt;linesCount val=&quot;1&quot;/&gt;&lt;lineCharCount val=&quot;12&quot;/&gt;&lt;/TableIndex&gt;&lt;/ShapeTextInfo&gt;"/>
</p:tagLst>
</file>

<file path=ppt/tags/tag3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5DB004D8-973B-4FAB-8394-EBD19E05CEDB}_23.png&quot;/&gt;&lt;left val=&quot;503&quot;/&gt;&lt;top val=&quot;161&quot;/&gt;&lt;width val=&quot;120&quot;/&gt;&lt;height val=&quot;30&quot;/&gt;&lt;hasText val=&quot;1&quot;/&gt;&lt;/Image&gt;&lt;/ThreeDShapeInfo&gt;"/>
  <p:tag name="PRESENTER_SHAPETEXTINFO" val="&lt;ShapeTextInfo&gt;&lt;TableIndex row=&quot;-1&quot; col=&quot;-1&quot;&gt;&lt;linesCount val=&quot;1&quot;/&gt;&lt;lineCharCount val=&quot;14&quot;/&gt;&lt;/TableIndex&gt;&lt;/ShapeTextInfo&gt;"/>
</p:tagLst>
</file>

<file path=ppt/tags/tag321.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1622838099,C:\Users\sanmi\GoogleDrive\UWMdrive\Courses\ECE552\ece552-lec11_CacheConcepts_pptx\Media.ppcx"/>
  <p:tag name="TIMING" val="|33.2|24.7|14.9"/>
</p:tagLst>
</file>

<file path=ppt/tags/tag3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DEA934E-F62B-492E-B532-837AF3A60D80}_2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DEBA5B5-342E-40ED-A50D-0310758D7AD0}_2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24.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CacheConcepts\data\asimages\{334C6F18-C5F9-4FDC-878E-85E9100569E3}_1.png_crop.png&quot;/&gt;&lt;left val=&quot;44&quot;/&gt;&lt;top val=&quot;130&quot;/&gt;&lt;width val=&quot;649&quot;/&gt;&lt;height val=&quot;89&quot;/&gt;&lt;hasText val=&quot;1&quot;/&gt;&lt;paraId val=&quot;1&quot;/&gt;&lt;/Image&gt;&lt;Image&gt;&lt;filename val=&quot;C:\Users\sanmi\Documents\My Adobe Presentations\ece552-CacheConcepts\data\asimages\{D3EB3081-8E48-409A-B988-07AA70EF8D95}_1.png_crop.png&quot;/&gt;&lt;left val=&quot;78&quot;/&gt;&lt;top val=&quot;230&quot;/&gt;&lt;width val=&quot;459&quot;/&gt;&lt;height val=&quot;24&quot;/&gt;&lt;hasText val=&quot;1&quot;/&gt;&lt;paraId val=&quot;2&quot;/&gt;&lt;/Image&gt;&lt;Image&gt;&lt;filename val=&quot;C:\Users\sanmi\Documents\My Adobe Presentations\ece552-CacheConcepts\data\asimages\{74B9D7CC-25FA-4D60-8D6C-57B3374E962E}_1.png_crop.png&quot;/&gt;&lt;left val=&quot;78&quot;/&gt;&lt;top val=&quot;268&quot;/&gt;&lt;width val=&quot;552&quot;/&gt;&lt;height val=&quot;24&quot;/&gt;&lt;hasText val=&quot;1&quot;/&gt;&lt;paraId val=&quot;3&quot;/&gt;&lt;/Image&gt;&lt;Image&gt;&lt;filename val=&quot;C:\Users\sanmi\Documents\My Adobe Presentations\ece552-CacheConcepts\data\asimages\{86C30B58-5BBA-4540-8FD5-40B6FC0BBA08}_1.png_crop.png&quot;/&gt;&lt;left val=&quot;78&quot;/&gt;&lt;top val=&quot;306&quot;/&gt;&lt;width val=&quot;203&quot;/&gt;&lt;height val=&quot;24&quot;/&gt;&lt;hasText val=&quot;1&quot;/&gt;&lt;paraId val=&quot;4&quot;/&gt;&lt;/Image&gt;&lt;/TextEffect&gt;"/>
  <p:tag name="PRESENTER_SHAPETEXTINFO" val="&lt;ShapeTextInfo&gt;&lt;TableIndex row=&quot;-1&quot; col=&quot;-1&quot;&gt;&lt;linesCount val=&quot;6&quot;/&gt;&lt;lineCharCount val=&quot;43&quot;/&gt;&lt;lineCharCount val=&quot;44&quot;/&gt;&lt;lineCharCount val=&quot;47&quot;/&gt;&lt;lineCharCount val=&quot;38&quot;/&gt;&lt;lineCharCount val=&quot;48&quot;/&gt;&lt;lineCharCount val=&quot;16&quot;/&gt;&lt;/TableIndex&gt;&lt;/ShapeTextInfo&gt;"/>
</p:tagLst>
</file>

<file path=ppt/tags/tag325.xml><?xml version="1.0" encoding="utf-8"?>
<p:tagLst xmlns:a="http://schemas.openxmlformats.org/drawingml/2006/main" xmlns:r="http://schemas.openxmlformats.org/officeDocument/2006/relationships" xmlns:p="http://schemas.openxmlformats.org/presentationml/2006/main">
  <p:tag name="HTML_SHAPEINFO" val="&lt;SlideThumbPath val=&quot;Slide25.PNG&quot;/&gt;"/>
  <p:tag name="PPSNARRATION" val="25,1622838099,C:\Users\sanmi\GoogleDrive\UWMdrive\Courses\ECE552\ece552-lec11_CacheConcepts_pptx\Media.ppcx"/>
</p:tagLst>
</file>

<file path=ppt/tags/tag3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80D71BE-468D-4FB0-A9EE-30F4D2C045A6}_2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C5BC5457-100B-4BC4-BC4B-E93EFC0C9480}_25.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4640C170-4695-4B9B-9A7C-C348A5116B4C}_25.png&quot;/&gt;&lt;left val=&quot;30&quot;/&gt;&lt;top val=&quot;111&quot;/&gt;&lt;width val=&quot;653&quot;/&gt;&lt;height val=&quot;129&quot;/&gt;&lt;hasText val=&quot;1&quot;/&gt;&lt;/Image&gt;&lt;/ThreeDShapeInfo&gt;"/>
  <p:tag name="PRESENTER_SHAPETEXTINFO" val="&lt;ShapeTextInfo&gt;&lt;TableIndex row=&quot;-1&quot; col=&quot;-1&quot;&gt;&lt;linesCount val=&quot;4&quot;/&gt;&lt;lineCharCount val=&quot;28&quot;/&gt;&lt;lineCharCount val=&quot;30&quot;/&gt;&lt;lineCharCount val=&quot;32&quot;/&gt;&lt;lineCharCount val=&quot;17&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B0828C04-69D9-4BBE-AE1E-835D59917ACE}_25.png&quot;/&gt;&lt;left val=&quot;164&quot;/&gt;&lt;top val=&quot;274&quot;/&gt;&lt;width val=&quot;392&quot;/&gt;&lt;height val=&quot;243&quot;/&gt;&lt;hasText val=&quot;1&quot;/&gt;&lt;/Image&gt;&lt;/ThreeDShapeInfo&gt;"/>
  <p:tag name="PRESENTER_SHAPETEXTINFO" val="&lt;ShapeTextInfo&gt;&lt;TableIndex row=&quot;1&quot; col=&quot;1&quot;&gt;&lt;linesCount val=&quot;1&quot;/&gt;&lt;lineCharCount val=&quot;4&quot;/&gt;&lt;/TableIndex&gt;&lt;TableIndex row=&quot;1&quot; col=&quot;2&quot;&gt;&lt;linesCount val=&quot;1&quot;/&gt;&lt;lineCharCount val=&quot;4&quot;/&gt;&lt;/TableIndex&gt;&lt;TableIndex row=&quot;1&quot; col=&quot;3&quot;&gt;&lt;linesCount val=&quot;1&quot;/&gt;&lt;lineCharCount val=&quot;4&quot;/&gt;&lt;/TableIndex&gt;&lt;TableIndex row=&quot;1&quot; col=&quot;4&quot;&gt;&lt;linesCount val=&quot;1&quot;/&gt;&lt;lineCharCount val=&quot;4&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4&quot;/&gt;&lt;/TableIndex&gt;&lt;TableIndex row=&quot;2&quot; col=&quot;4&quot;&gt;&lt;linesCount val=&quot;1&quot;/&gt;&lt;lineCharCount val=&quot;4&quot;/&gt;&lt;/TableIndex&gt;&lt;TableIndex row=&quot;3&quot; col=&quot;1&quot;&gt;&lt;linesCount val=&quot;1&quot;/&gt;&lt;lineCharCount val=&quot;4&quot;/&gt;&lt;/TableIndex&gt;&lt;TableIndex row=&quot;3&quot; col=&quot;2&quot;&gt;&lt;linesCount val=&quot;1&quot;/&gt;&lt;lineCharCount val=&quot;4&quot;/&gt;&lt;/TableIndex&gt;&lt;TableIndex row=&quot;3&quot; col=&quot;3&quot;&gt;&lt;linesCount val=&quot;1&quot;/&gt;&lt;lineCharCount val=&quot;4&quot;/&gt;&lt;/TableIndex&gt;&lt;TableIndex row=&quot;3&quot; col=&quot;4&quot;&gt;&lt;linesCount val=&quot;1&quot;/&gt;&lt;lineCharCount val=&quot;4&quot;/&gt;&lt;/TableIndex&gt;&lt;TableIndex row=&quot;4&quot; col=&quot;1&quot;&gt;&lt;linesCount val=&quot;1&quot;/&gt;&lt;lineCharCount val=&quot;4&quot;/&gt;&lt;/TableIndex&gt;&lt;TableIndex row=&quot;4&quot; col=&quot;2&quot;&gt;&lt;linesCount val=&quot;1&quot;/&gt;&lt;lineCharCount val=&quot;4&quot;/&gt;&lt;/TableIndex&gt;&lt;TableIndex row=&quot;4&quot; col=&quot;3&quot;&gt;&lt;linesCount val=&quot;1&quot;/&gt;&lt;lineCharCount val=&quot;4&quot;/&gt;&lt;/TableIndex&gt;&lt;TableIndex row=&quot;4&quot; col=&quot;4&quot;&gt;&lt;linesCount val=&quot;1&quot;/&gt;&lt;lineCharCount val=&quot;4&quot;/&gt;&lt;/TableIndex&gt;&lt;TableIndex row=&quot;5&quot; col=&quot;1&quot;&gt;&lt;linesCount val=&quot;1&quot;/&gt;&lt;lineCharCount val=&quot;4&quot;/&gt;&lt;/TableIndex&gt;&lt;TableIndex row=&quot;5&quot; col=&quot;2&quot;&gt;&lt;linesCount val=&quot;1&quot;/&gt;&lt;lineCharCount val=&quot;4&quot;/&gt;&lt;/TableIndex&gt;&lt;TableIndex row=&quot;5&quot; col=&quot;3&quot;&gt;&lt;linesCount val=&quot;1&quot;/&gt;&lt;lineCharCount val=&quot;4&quot;/&gt;&lt;/TableIndex&gt;&lt;TableIndex row=&quot;5&quot; col=&quot;4&quot;&gt;&lt;linesCount val=&quot;1&quot;/&gt;&lt;lineCharCount val=&quot;4&quot;/&gt;&lt;/TableIndex&gt;&lt;TableIndex row=&quot;6&quot; col=&quot;1&quot;&gt;&lt;linesCount val=&quot;1&quot;/&gt;&lt;lineCharCount val=&quot;4&quot;/&gt;&lt;/TableIndex&gt;&lt;TableIndex row=&quot;6&quot; col=&quot;2&quot;&gt;&lt;linesCount val=&quot;1&quot;/&gt;&lt;lineCharCount val=&quot;4&quot;/&gt;&lt;/TableIndex&gt;&lt;TableIndex row=&quot;6&quot; col=&quot;3&quot;&gt;&lt;linesCount val=&quot;1&quot;/&gt;&lt;lineCharCount val=&quot;4&quot;/&gt;&lt;/TableIndex&gt;&lt;TableIndex row=&quot;6&quot; col=&quot;4&quot;&gt;&lt;linesCount val=&quot;1&quot;/&gt;&lt;lineCharCount val=&quot;4&quot;/&gt;&lt;/TableIndex&gt;&lt;TableIndex row=&quot;7&quot; col=&quot;1&quot;&gt;&lt;linesCount val=&quot;1&quot;/&gt;&lt;lineCharCount val=&quot;4&quot;/&gt;&lt;/TableIndex&gt;&lt;TableIndex row=&quot;7&quot; col=&quot;2&quot;&gt;&lt;linesCount val=&quot;1&quot;/&gt;&lt;lineCharCount val=&quot;4&quot;/&gt;&lt;/TableIndex&gt;&lt;TableIndex row=&quot;7&quot; col=&quot;3&quot;&gt;&lt;linesCount val=&quot;1&quot;/&gt;&lt;lineCharCount val=&quot;4&quot;/&gt;&lt;/TableIndex&gt;&lt;TableIndex row=&quot;7&quot; col=&quot;4&quot;&gt;&lt;linesCount val=&quot;1&quot;/&gt;&lt;lineCharCount val=&quot;4&quot;/&gt;&lt;/TableIndex&gt;&lt;TableIndex row=&quot;8&quot; col=&quot;1&quot;&gt;&lt;linesCount val=&quot;1&quot;/&gt;&lt;lineCharCount val=&quot;4&quot;/&gt;&lt;/TableIndex&gt;&lt;TableIndex row=&quot;8&quot; col=&quot;2&quot;&gt;&lt;linesCount val=&quot;1&quot;/&gt;&lt;lineCharCount val=&quot;4&quot;/&gt;&lt;/TableIndex&gt;&lt;TableIndex row=&quot;8&quot; col=&quot;3&quot;&gt;&lt;linesCount val=&quot;1&quot;/&gt;&lt;lineCharCount val=&quot;4&quot;/&gt;&lt;/TableIndex&gt;&lt;TableIndex row=&quot;8&quot; col=&quot;4&quot;&gt;&lt;linesCount val=&quot;1&quot;/&gt;&lt;lineCharCount val=&quot;4&quot;/&gt;&lt;/TableIndex&gt;&lt;/ShapeTextInfo&gt;"/>
</p:tagLst>
</file>

<file path=ppt/tags/tag3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297BC52B-3CA2-41B8-B9AA-94AE15FB6CF1}_25.png&quot;/&gt;&lt;left val=&quot;94&quot;/&gt;&lt;top val=&quot;256&quot;/&gt;&lt;width val=&quot;56&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3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65D81F87-9C1B-444C-A2E1-51A8661549CF}_25.png&quot;/&gt;&lt;left val=&quot;154&quot;/&gt;&lt;top val=&quot;237&quot;/&gt;&lt;width val=&quot;57&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3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80FB6FB3-CE5A-4372-A801-274B87538F21}_25.png&quot;/&gt;&lt;left val=&quot;409&quot;/&gt;&lt;top val=&quot;102&quot;/&gt;&lt;width val=&quot;328&quot;/&gt;&lt;height val=&quot;180&quot;/&gt;&lt;hasText val=&quot;1&quot;/&gt;&lt;/Image&gt;&lt;/ThreeDShapeInfo&gt;"/>
  <p:tag name="PRESENTER_SHAPETEXTINFO" val="&lt;ShapeTextInfo&gt;&lt;TableIndex row=&quot;-1&quot; col=&quot;-1&quot;&gt;&lt;linesCount val=&quot;3&quot;/&gt;&lt;lineCharCount val=&quot;22&quot;/&gt;&lt;lineCharCount val=&quot;24&quot;/&gt;&lt;lineCharCount val=&quot;20&quot;/&gt;&lt;/TableIndex&gt;&lt;/ShapeTextInfo&gt;"/>
</p:tagLst>
</file>

<file path=ppt/tags/tag333.xml><?xml version="1.0" encoding="utf-8"?>
<p:tagLst xmlns:a="http://schemas.openxmlformats.org/drawingml/2006/main" xmlns:r="http://schemas.openxmlformats.org/officeDocument/2006/relationships" xmlns:p="http://schemas.openxmlformats.org/presentationml/2006/main">
  <p:tag name="HTML_SHAPEINFO" val="&lt;SlideThumbPath val=&quot;Slide26.PNG&quot;/&gt;"/>
  <p:tag name="PPSNARRATION" val="26,1622838099,C:\Users\sanmi\GoogleDrive\UWMdrive\Courses\ECE552\ece552-lec11_CacheConcepts_pptx\Media.ppcx"/>
  <p:tag name="TIMING" val="|53.4"/>
</p:tagLst>
</file>

<file path=ppt/tags/tag3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5348E92-E93F-458A-AFDD-DDEEB021A817}_2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EE279FA-576E-40E4-A94A-7E2A5DA3FB91}_26.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CFF6587-9936-4EDD-85C7-E8682F34DAAB}_26.png&quot;/&gt;&lt;left val=&quot;30&quot;/&gt;&lt;top val=&quot;111&quot;/&gt;&lt;width val=&quot;653&quot;/&gt;&lt;height val=&quot;129&quot;/&gt;&lt;hasText val=&quot;1&quot;/&gt;&lt;/Image&gt;&lt;/ThreeDShapeInfo&gt;"/>
  <p:tag name="PRESENTER_SHAPETEXTINFO" val="&lt;ShapeTextInfo&gt;&lt;TableIndex row=&quot;-1&quot; col=&quot;-1&quot;&gt;&lt;linesCount val=&quot;4&quot;/&gt;&lt;lineCharCount val=&quot;28&quot;/&gt;&lt;lineCharCount val=&quot;30&quot;/&gt;&lt;lineCharCount val=&quot;32&quot;/&gt;&lt;lineCharCount val=&quot;17&quot;/&gt;&lt;/TableIndex&gt;&lt;/ShapeTextInfo&gt;"/>
</p:tagLst>
</file>

<file path=ppt/tags/tag3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EC182426-ACC9-4983-8603-30AE2A2B58C4}_26.png&quot;/&gt;&lt;left val=&quot;164&quot;/&gt;&lt;top val=&quot;274&quot;/&gt;&lt;width val=&quot;392&quot;/&gt;&lt;height val=&quot;243&quot;/&gt;&lt;hasText val=&quot;1&quot;/&gt;&lt;/Image&gt;&lt;/ThreeDShapeInfo&gt;"/>
  <p:tag name="PRESENTER_SHAPETEXTINFO" val="&lt;ShapeTextInfo&gt;&lt;TableIndex row=&quot;1&quot; col=&quot;1&quot;&gt;&lt;linesCount val=&quot;1&quot;/&gt;&lt;lineCharCount val=&quot;4&quot;/&gt;&lt;/TableIndex&gt;&lt;TableIndex row=&quot;1&quot; col=&quot;2&quot;&gt;&lt;linesCount val=&quot;1&quot;/&gt;&lt;lineCharCount val=&quot;4&quot;/&gt;&lt;/TableIndex&gt;&lt;TableIndex row=&quot;1&quot; col=&quot;3&quot;&gt;&lt;linesCount val=&quot;1&quot;/&gt;&lt;lineCharCount val=&quot;4&quot;/&gt;&lt;/TableIndex&gt;&lt;TableIndex row=&quot;1&quot; col=&quot;4&quot;&gt;&lt;linesCount val=&quot;1&quot;/&gt;&lt;lineCharCount val=&quot;4&quot;/&gt;&lt;/TableIndex&gt;&lt;TableIndex row=&quot;2&quot; col=&quot;1&quot;&gt;&lt;linesCount val=&quot;1&quot;/&gt;&lt;lineCharCount val=&quot;4&quot;/&gt;&lt;/TableIndex&gt;&lt;TableIndex row=&quot;2&quot; col=&quot;2&quot;&gt;&lt;linesCount val=&quot;1&quot;/&gt;&lt;lineCharCount val=&quot;4&quot;/&gt;&lt;/TableIndex&gt;&lt;TableIndex row=&quot;2&quot; col=&quot;3&quot;&gt;&lt;linesCount val=&quot;1&quot;/&gt;&lt;lineCharCount val=&quot;4&quot;/&gt;&lt;/TableIndex&gt;&lt;TableIndex row=&quot;2&quot; col=&quot;4&quot;&gt;&lt;linesCount val=&quot;1&quot;/&gt;&lt;lineCharCount val=&quot;4&quot;/&gt;&lt;/TableIndex&gt;&lt;TableIndex row=&quot;3&quot; col=&quot;1&quot;&gt;&lt;linesCount val=&quot;1&quot;/&gt;&lt;lineCharCount val=&quot;4&quot;/&gt;&lt;/TableIndex&gt;&lt;TableIndex row=&quot;3&quot; col=&quot;2&quot;&gt;&lt;linesCount val=&quot;1&quot;/&gt;&lt;lineCharCount val=&quot;4&quot;/&gt;&lt;/TableIndex&gt;&lt;TableIndex row=&quot;3&quot; col=&quot;3&quot;&gt;&lt;linesCount val=&quot;1&quot;/&gt;&lt;lineCharCount val=&quot;4&quot;/&gt;&lt;/TableIndex&gt;&lt;TableIndex row=&quot;3&quot; col=&quot;4&quot;&gt;&lt;linesCount val=&quot;1&quot;/&gt;&lt;lineCharCount val=&quot;4&quot;/&gt;&lt;/TableIndex&gt;&lt;TableIndex row=&quot;4&quot; col=&quot;1&quot;&gt;&lt;linesCount val=&quot;1&quot;/&gt;&lt;lineCharCount val=&quot;4&quot;/&gt;&lt;/TableIndex&gt;&lt;TableIndex row=&quot;4&quot; col=&quot;2&quot;&gt;&lt;linesCount val=&quot;1&quot;/&gt;&lt;lineCharCount val=&quot;4&quot;/&gt;&lt;/TableIndex&gt;&lt;TableIndex row=&quot;4&quot; col=&quot;3&quot;&gt;&lt;linesCount val=&quot;1&quot;/&gt;&lt;lineCharCount val=&quot;4&quot;/&gt;&lt;/TableIndex&gt;&lt;TableIndex row=&quot;4&quot; col=&quot;4&quot;&gt;&lt;linesCount val=&quot;1&quot;/&gt;&lt;lineCharCount val=&quot;4&quot;/&gt;&lt;/TableIndex&gt;&lt;TableIndex row=&quot;5&quot; col=&quot;1&quot;&gt;&lt;linesCount val=&quot;1&quot;/&gt;&lt;lineCharCount val=&quot;4&quot;/&gt;&lt;/TableIndex&gt;&lt;TableIndex row=&quot;5&quot; col=&quot;2&quot;&gt;&lt;linesCount val=&quot;1&quot;/&gt;&lt;lineCharCount val=&quot;4&quot;/&gt;&lt;/TableIndex&gt;&lt;TableIndex row=&quot;5&quot; col=&quot;3&quot;&gt;&lt;linesCount val=&quot;1&quot;/&gt;&lt;lineCharCount val=&quot;4&quot;/&gt;&lt;/TableIndex&gt;&lt;TableIndex row=&quot;5&quot; col=&quot;4&quot;&gt;&lt;linesCount val=&quot;1&quot;/&gt;&lt;lineCharCount val=&quot;4&quot;/&gt;&lt;/TableIndex&gt;&lt;TableIndex row=&quot;6&quot; col=&quot;1&quot;&gt;&lt;linesCount val=&quot;1&quot;/&gt;&lt;lineCharCount val=&quot;4&quot;/&gt;&lt;/TableIndex&gt;&lt;TableIndex row=&quot;6&quot; col=&quot;2&quot;&gt;&lt;linesCount val=&quot;1&quot;/&gt;&lt;lineCharCount val=&quot;4&quot;/&gt;&lt;/TableIndex&gt;&lt;TableIndex row=&quot;6&quot; col=&quot;3&quot;&gt;&lt;linesCount val=&quot;1&quot;/&gt;&lt;lineCharCount val=&quot;4&quot;/&gt;&lt;/TableIndex&gt;&lt;TableIndex row=&quot;6&quot; col=&quot;4&quot;&gt;&lt;linesCount val=&quot;1&quot;/&gt;&lt;lineCharCount val=&quot;4&quot;/&gt;&lt;/TableIndex&gt;&lt;TableIndex row=&quot;7&quot; col=&quot;1&quot;&gt;&lt;linesCount val=&quot;1&quot;/&gt;&lt;lineCharCount val=&quot;4&quot;/&gt;&lt;/TableIndex&gt;&lt;TableIndex row=&quot;7&quot; col=&quot;2&quot;&gt;&lt;linesCount val=&quot;1&quot;/&gt;&lt;lineCharCount val=&quot;4&quot;/&gt;&lt;/TableIndex&gt;&lt;TableIndex row=&quot;7&quot; col=&quot;3&quot;&gt;&lt;linesCount val=&quot;1&quot;/&gt;&lt;lineCharCount val=&quot;4&quot;/&gt;&lt;/TableIndex&gt;&lt;TableIndex row=&quot;7&quot; col=&quot;4&quot;&gt;&lt;linesCount val=&quot;1&quot;/&gt;&lt;lineCharCount val=&quot;4&quot;/&gt;&lt;/TableIndex&gt;&lt;TableIndex row=&quot;8&quot; col=&quot;1&quot;&gt;&lt;linesCount val=&quot;1&quot;/&gt;&lt;lineCharCount val=&quot;4&quot;/&gt;&lt;/TableIndex&gt;&lt;TableIndex row=&quot;8&quot; col=&quot;2&quot;&gt;&lt;linesCount val=&quot;1&quot;/&gt;&lt;lineCharCount val=&quot;4&quot;/&gt;&lt;/TableIndex&gt;&lt;TableIndex row=&quot;8&quot; col=&quot;3&quot;&gt;&lt;linesCount val=&quot;1&quot;/&gt;&lt;lineCharCount val=&quot;4&quot;/&gt;&lt;/TableIndex&gt;&lt;TableIndex row=&quot;8&quot; col=&quot;4&quot;&gt;&lt;linesCount val=&quot;1&quot;/&gt;&lt;lineCharCount val=&quot;4&quot;/&gt;&lt;/TableIndex&gt;&lt;/ShapeTextInfo&gt;"/>
</p:tagLst>
</file>

<file path=ppt/tags/tag3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BD5A825-5D81-4AC1-9AD7-2E727C8CA929}_26.png&quot;/&gt;&lt;left val=&quot;94&quot;/&gt;&lt;top val=&quot;256&quot;/&gt;&lt;width val=&quot;56&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3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700D0B3B-E3E3-457E-8A11-E61317AFC02A}_26.png&quot;/&gt;&lt;left val=&quot;154&quot;/&gt;&lt;top val=&quot;237&quot;/&gt;&lt;width val=&quot;57&quot;/&gt;&lt;height val=&quot;34&quot;/&gt;&lt;hasText val=&quot;1&quot;/&gt;&lt;/Image&gt;&lt;/ThreeDShapeInfo&gt;"/>
  <p:tag name="PRESENTER_SHAPETEXTINFO" val="&lt;ShapeTextInfo&gt;&lt;TableIndex row=&quot;-1&quot; col=&quot;-1&quot;&gt;&lt;linesCount val=&quot;1&quot;/&gt;&lt;lineCharCount val=&quot;7&quot;/&gt;&lt;/TableIndex&gt;&lt;/ShapeTextInfo&gt;"/>
</p:tagLst>
</file>

<file path=ppt/tags/tag340.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CacheConcepts\data\asimages\{C5085800-C668-4903-959F-A42715B2A39F}_1.png_crop.png&quot;/&gt;&lt;left val=&quot;426&quot;/&gt;&lt;top val=&quot;118&quot;/&gt;&lt;width val=&quot;286&quot;/&gt;&lt;height val=&quot;78&quot;/&gt;&lt;hasText val=&quot;1&quot;/&gt;&lt;paraId val=&quot;1&quot;/&gt;&lt;/Image&gt;&lt;Image&gt;&lt;filename val=&quot;C:\Users\sanmi\Documents\My Adobe Presentations\ece552-CacheConcepts\data\asimages\{69F97CA3-CD58-4D11-9CD9-208473811A72}_1.png_crop.png&quot;/&gt;&lt;left val=&quot;427&quot;/&gt;&lt;top val=&quot;205&quot;/&gt;&lt;width val=&quot;186&quot;/&gt;&lt;height val=&quot;19&quot;/&gt;&lt;hasText val=&quot;1&quot;/&gt;&lt;paraId val=&quot;2&quot;/&gt;&lt;/Image&gt;&lt;/TextEffect&gt;"/>
  <p:tag name="PRESENTER_SHAPETEXTINFO" val="&lt;ShapeTextInfo&gt;&lt;TableIndex row=&quot;-1&quot; col=&quot;-1&quot;&gt;&lt;linesCount val=&quot;4&quot;/&gt;&lt;lineCharCount val=&quot;22&quot;/&gt;&lt;lineCharCount val=&quot;24&quot;/&gt;&lt;lineCharCount val=&quot;21&quot;/&gt;&lt;lineCharCount val=&quot;17&quot;/&gt;&lt;/TableIndex&gt;&lt;/ShapeTextInfo&gt;"/>
</p:tagLst>
</file>

<file path=ppt/tags/tag3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F878A96B-4ED6-4424-9B4E-D98E655CF478}_26.png&quot;/&gt;&lt;left val=&quot;587&quot;/&gt;&lt;top val=&quot;369&quot;/&gt;&lt;width val=&quot;110&quot;/&gt;&lt;height val=&quot;32&quot;/&gt;&lt;hasText val=&quot;1&quot;/&gt;&lt;/Image&gt;&lt;/ThreeDShapeInfo&gt;"/>
  <p:tag name="PRESENTER_SHAPETEXTINFO" val="&lt;ShapeTextInfo&gt;&lt;TableIndex row=&quot;1&quot; col=&quot;1&quot;&gt;&lt;linesCount val=&quot;1&quot;/&gt;&lt;lineCharCount val=&quot;14&quot;/&gt;&lt;/TableIndex&gt;&lt;/ShapeTextInfo&gt;"/>
</p:tagLst>
</file>

<file path=ppt/tags/tag34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35992306-5BFA-4147-AC5A-B28E7734E348}_26.png&quot;/&gt;&lt;left val=&quot;587&quot;/&gt;&lt;top val=&quot;419&quot;/&gt;&lt;width val=&quot;110&quot;/&gt;&lt;height val=&quot;32&quot;/&gt;&lt;hasText val=&quot;1&quot;/&gt;&lt;/Image&gt;&lt;/ThreeDShapeInfo&gt;"/>
  <p:tag name="PRESENTER_SHAPETEXTINFO" val="&lt;ShapeTextInfo&gt;&lt;TableIndex row=&quot;1&quot; col=&quot;1&quot;&gt;&lt;linesCount val=&quot;1&quot;/&gt;&lt;lineCharCount val=&quot;13&quot;/&gt;&lt;/TableIndex&gt;&lt;/ShapeTextInfo&gt;"/>
</p:tagLst>
</file>

<file path=ppt/tags/tag3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CacheConcepts\data\asimages\{ECA3D102-8934-4749-8BE2-B2AB984E2AD1}_26.png&quot;/&gt;&lt;left val=&quot;587&quot;/&gt;&lt;top val=&quot;317&quot;/&gt;&lt;width val=&quot;110&quot;/&gt;&lt;height val=&quot;32&quot;/&gt;&lt;hasText val=&quot;1&quot;/&gt;&lt;/Image&gt;&lt;/ThreeDShapeInfo&gt;"/>
  <p:tag name="PRESENTER_SHAPETEXTINFO" val="&lt;ShapeTextInfo&gt;&lt;TableIndex row=&quot;1&quot; col=&quot;1&quot;&gt;&lt;linesCount val=&quot;1&quot;/&gt;&lt;lineCharCount val=&quot;4&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4245</TotalTime>
  <Words>4805</Words>
  <Application>Microsoft Office PowerPoint</Application>
  <PresentationFormat>On-screen Show (4:3)</PresentationFormat>
  <Paragraphs>679</Paragraphs>
  <Slides>41</Slides>
  <Notes>26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Courier New</vt:lpstr>
      <vt:lpstr>Tahoma</vt:lpstr>
      <vt:lpstr>Times New Roman</vt:lpstr>
      <vt:lpstr>Wingdings</vt:lpstr>
      <vt:lpstr>Lecture Notes 552</vt:lpstr>
      <vt:lpstr>ECE/CS 552: Cache Concepts</vt:lpstr>
      <vt:lpstr>Memory</vt:lpstr>
      <vt:lpstr>Types of Memory</vt:lpstr>
      <vt:lpstr>PowerPoint Presentation</vt:lpstr>
      <vt:lpstr>PowerPoint Presentation</vt:lpstr>
      <vt:lpstr>Technology – Registers</vt:lpstr>
      <vt:lpstr>Technology – SRAM</vt:lpstr>
      <vt:lpstr>PowerPoint Presentation</vt:lpstr>
      <vt:lpstr>PowerPoint Presentation</vt:lpstr>
      <vt:lpstr>Technology – DRAM</vt:lpstr>
      <vt:lpstr>PowerPoint Presentation</vt:lpstr>
      <vt:lpstr>Memory Requirements</vt:lpstr>
      <vt:lpstr>PowerPoint Presentation</vt:lpstr>
      <vt:lpstr>Memory Hierarchy</vt:lpstr>
      <vt:lpstr>PowerPoint Presentation</vt:lpstr>
      <vt:lpstr>Memory Hierarchy</vt:lpstr>
      <vt:lpstr>PowerPoint Presentation</vt:lpstr>
      <vt:lpstr>Memory Hierarchy</vt:lpstr>
      <vt:lpstr>PowerPoint Presentation</vt:lpstr>
      <vt:lpstr>Memory Hierarchy</vt:lpstr>
      <vt:lpstr>PowerPoint Presentation</vt:lpstr>
      <vt:lpstr>Memory Hierarchy</vt:lpstr>
      <vt:lpstr>PowerPoint Presentation</vt:lpstr>
      <vt:lpstr>Memory Hierarchy</vt:lpstr>
      <vt:lpstr>PowerPoint Presentation</vt:lpstr>
      <vt:lpstr>Why Locality?</vt:lpstr>
      <vt:lpstr>PowerPoint Presentation</vt:lpstr>
      <vt:lpstr>Locality</vt:lpstr>
      <vt:lpstr>Caches</vt:lpstr>
      <vt:lpstr>PowerPoint Presentation</vt:lpstr>
      <vt:lpstr>Caches</vt:lpstr>
      <vt:lpstr>Caches – Placement</vt:lpstr>
      <vt:lpstr>PowerPoint Presentation</vt:lpstr>
      <vt:lpstr>Caches – Placement</vt:lpstr>
      <vt:lpstr>Caches – Replacement</vt:lpstr>
      <vt:lpstr>Caches – Replacement</vt:lpstr>
      <vt:lpstr>Caches – Write Policy</vt:lpstr>
      <vt:lpstr>Caches – Example</vt:lpstr>
      <vt:lpstr>Exercise</vt:lpstr>
      <vt:lpstr>Exercise</vt:lpstr>
      <vt:lpstr>Exercise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Cache Concepts</dc:title>
  <dc:creator/>
  <cp:lastModifiedBy>Shraddha Singh</cp:lastModifiedBy>
  <cp:revision>811</cp:revision>
  <cp:lastPrinted>1601-01-01T00:00:00Z</cp:lastPrinted>
  <dcterms:created xsi:type="dcterms:W3CDTF">1601-01-01T00:00:00Z</dcterms:created>
  <dcterms:modified xsi:type="dcterms:W3CDTF">2024-12-16T00:01:14Z</dcterms:modified>
</cp:coreProperties>
</file>