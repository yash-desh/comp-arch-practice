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notesSlides/notesSlide1.xml" ContentType="application/vnd.openxmlformats-officedocument.presentationml.notesSlide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notesSlides/notesSlide2.xml" ContentType="application/vnd.openxmlformats-officedocument.presentationml.notesSlide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notesSlides/notesSlide3.xml" ContentType="application/vnd.openxmlformats-officedocument.presentationml.notesSlide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notesSlides/notesSlide4.xml" ContentType="application/vnd.openxmlformats-officedocument.presentationml.notesSlide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notesSlides/notesSlide5.xml" ContentType="application/vnd.openxmlformats-officedocument.presentationml.notesSlide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notesSlides/notesSlide6.xml" ContentType="application/vnd.openxmlformats-officedocument.presentationml.notesSlide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notesSlides/notesSlide7.xml" ContentType="application/vnd.openxmlformats-officedocument.presentationml.notesSlide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notesSlides/notesSlide8.xml" ContentType="application/vnd.openxmlformats-officedocument.presentationml.notesSlide+xml"/>
  <Override PartName="/ppt/tags/tag179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notesSlides/notesSlide9.xml" ContentType="application/vnd.openxmlformats-officedocument.presentationml.notesSlide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notesSlides/notesSlide10.xml" ContentType="application/vnd.openxmlformats-officedocument.presentationml.notesSlide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notesSlides/notesSlide11.xml" ContentType="application/vnd.openxmlformats-officedocument.presentationml.notesSlide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notesSlides/notesSlide12.xml" ContentType="application/vnd.openxmlformats-officedocument.presentationml.notesSlide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notesSlides/notesSlide13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2" r:id="rId1"/>
  </p:sldMasterIdLst>
  <p:notesMasterIdLst>
    <p:notesMasterId r:id="rId15"/>
  </p:notesMasterIdLst>
  <p:handoutMasterIdLst>
    <p:handoutMasterId r:id="rId16"/>
  </p:handoutMasterIdLst>
  <p:sldIdLst>
    <p:sldId id="540" r:id="rId2"/>
    <p:sldId id="744" r:id="rId3"/>
    <p:sldId id="866" r:id="rId4"/>
    <p:sldId id="865" r:id="rId5"/>
    <p:sldId id="860" r:id="rId6"/>
    <p:sldId id="861" r:id="rId7"/>
    <p:sldId id="863" r:id="rId8"/>
    <p:sldId id="864" r:id="rId9"/>
    <p:sldId id="1004" r:id="rId10"/>
    <p:sldId id="1087" r:id="rId11"/>
    <p:sldId id="1010" r:id="rId12"/>
    <p:sldId id="1078" r:id="rId13"/>
    <p:sldId id="1088" r:id="rId14"/>
  </p:sldIdLst>
  <p:sldSz cx="9144000" cy="6858000" type="screen4x3"/>
  <p:notesSz cx="7010400" cy="9296400"/>
  <p:custDataLst>
    <p:tags r:id="rId17"/>
  </p:custDataLst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10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10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10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10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10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10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6pPr>
    <a:lvl7pPr marL="2743200" algn="l" defTabSz="914400" rtl="0" eaLnBrk="1" latinLnBrk="0" hangingPunct="1">
      <a:defRPr sz="10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7pPr>
    <a:lvl8pPr marL="3200400" algn="l" defTabSz="914400" rtl="0" eaLnBrk="1" latinLnBrk="0" hangingPunct="1">
      <a:defRPr sz="10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8pPr>
    <a:lvl9pPr marL="3657600" algn="l" defTabSz="914400" rtl="0" eaLnBrk="1" latinLnBrk="0" hangingPunct="1">
      <a:defRPr sz="10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27">
          <p15:clr>
            <a:srgbClr val="A4A3A4"/>
          </p15:clr>
        </p15:guide>
        <p15:guide id="2" pos="2208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60066"/>
    <a:srgbClr val="FF3300"/>
    <a:srgbClr val="000000"/>
    <a:srgbClr val="006600"/>
    <a:srgbClr val="FFFF66"/>
    <a:srgbClr val="FFCC00"/>
    <a:srgbClr val="00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 autoAdjust="0"/>
    <p:restoredTop sz="87415" autoAdjust="0"/>
  </p:normalViewPr>
  <p:slideViewPr>
    <p:cSldViewPr>
      <p:cViewPr varScale="1">
        <p:scale>
          <a:sx n="111" d="100"/>
          <a:sy n="111" d="100"/>
        </p:scale>
        <p:origin x="2224" y="20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324"/>
    </p:cViewPr>
  </p:sorterViewPr>
  <p:notesViewPr>
    <p:cSldViewPr>
      <p:cViewPr varScale="1">
        <p:scale>
          <a:sx n="81" d="100"/>
          <a:sy n="81" d="100"/>
        </p:scale>
        <p:origin x="-2328" y="-90"/>
      </p:cViewPr>
      <p:guideLst>
        <p:guide orient="horz" pos="2927"/>
        <p:guide pos="2208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gs" Target="tags/tag1.xml"/><Relationship Id="rId2" Type="http://schemas.openxmlformats.org/officeDocument/2006/relationships/slide" Target="slides/slide1.xml"/><Relationship Id="rId16" Type="http://schemas.openxmlformats.org/officeDocument/2006/relationships/handoutMaster" Target="handoutMasters/handout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oone Severson" userId="1d942a2b-e0b5-491a-b49e-d500fa0ad426" providerId="ADAL" clId="{BBC8F39F-893A-AC46-9E5D-463255C39B04}"/>
    <pc:docChg chg="modSld">
      <pc:chgData name="Boone Severson" userId="1d942a2b-e0b5-491a-b49e-d500fa0ad426" providerId="ADAL" clId="{BBC8F39F-893A-AC46-9E5D-463255C39B04}" dt="2024-11-13T02:15:20.430" v="17" actId="20577"/>
      <pc:docMkLst>
        <pc:docMk/>
      </pc:docMkLst>
      <pc:sldChg chg="modSp mod">
        <pc:chgData name="Boone Severson" userId="1d942a2b-e0b5-491a-b49e-d500fa0ad426" providerId="ADAL" clId="{BBC8F39F-893A-AC46-9E5D-463255C39B04}" dt="2024-11-13T02:15:20.430" v="17" actId="20577"/>
        <pc:sldMkLst>
          <pc:docMk/>
          <pc:sldMk cId="0" sldId="540"/>
        </pc:sldMkLst>
        <pc:spChg chg="mod">
          <ac:chgData name="Boone Severson" userId="1d942a2b-e0b5-491a-b49e-d500fa0ad426" providerId="ADAL" clId="{BBC8F39F-893A-AC46-9E5D-463255C39B04}" dt="2024-11-13T02:15:20.430" v="17" actId="20577"/>
          <ac:spMkLst>
            <pc:docMk/>
            <pc:sldMk cId="0" sldId="540"/>
            <ac:spMk id="3" creationId="{60F7F15D-B052-485D-B6FA-83AEEE3C0BC0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8665FA8B-063C-4D70-BF01-AD0778FA2072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475" cy="463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3541" tIns="46770" rIns="93541" bIns="46770" numCol="1" anchor="t" anchorCtr="0" compatLnSpc="1">
            <a:prstTxWarp prst="textNoShape">
              <a:avLst/>
            </a:prstTxWarp>
          </a:bodyPr>
          <a:lstStyle>
            <a:lvl1pPr defTabSz="935038" eaLnBrk="0" hangingPunct="0">
              <a:defRPr sz="1200"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15363" name="Rectangle 3">
            <a:extLst>
              <a:ext uri="{FF2B5EF4-FFF2-40B4-BE49-F238E27FC236}">
                <a16:creationId xmlns:a16="http://schemas.microsoft.com/office/drawing/2014/main" id="{381FE4E2-881C-4313-87BA-6EB7DC60D8F3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71925" y="0"/>
            <a:ext cx="3038475" cy="463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3541" tIns="46770" rIns="93541" bIns="46770" numCol="1" anchor="t" anchorCtr="0" compatLnSpc="1">
            <a:prstTxWarp prst="textNoShape">
              <a:avLst/>
            </a:prstTxWarp>
          </a:bodyPr>
          <a:lstStyle>
            <a:lvl1pPr algn="r" defTabSz="935038" eaLnBrk="0" hangingPunct="0">
              <a:defRPr sz="1200"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15364" name="Rectangle 4">
            <a:extLst>
              <a:ext uri="{FF2B5EF4-FFF2-40B4-BE49-F238E27FC236}">
                <a16:creationId xmlns:a16="http://schemas.microsoft.com/office/drawing/2014/main" id="{FA8BEDA1-EB4C-4538-9E12-EDCEC5087BCE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32850"/>
            <a:ext cx="3651250" cy="463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3541" tIns="46770" rIns="93541" bIns="46770" numCol="1" anchor="b" anchorCtr="0" compatLnSpc="1">
            <a:prstTxWarp prst="textNoShape">
              <a:avLst/>
            </a:prstTxWarp>
          </a:bodyPr>
          <a:lstStyle>
            <a:lvl1pPr defTabSz="935038" eaLnBrk="0" hangingPunct="0">
              <a:defRPr sz="1200"/>
            </a:lvl1pPr>
          </a:lstStyle>
          <a:p>
            <a:pPr>
              <a:defRPr/>
            </a:pPr>
            <a:r>
              <a:rPr lang="en-US" altLang="en-US"/>
              <a:t>ECE/CS 552: Introduction To Computer Architecture</a:t>
            </a:r>
          </a:p>
        </p:txBody>
      </p:sp>
      <p:sp>
        <p:nvSpPr>
          <p:cNvPr id="15365" name="Rectangle 5">
            <a:extLst>
              <a:ext uri="{FF2B5EF4-FFF2-40B4-BE49-F238E27FC236}">
                <a16:creationId xmlns:a16="http://schemas.microsoft.com/office/drawing/2014/main" id="{7D2229AB-7F22-4EAE-9E68-F8036B5AA73B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71925" y="8832850"/>
            <a:ext cx="3038475" cy="463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3541" tIns="46770" rIns="93541" bIns="46770" numCol="1" anchor="b" anchorCtr="0" compatLnSpc="1">
            <a:prstTxWarp prst="textNoShape">
              <a:avLst/>
            </a:prstTxWarp>
          </a:bodyPr>
          <a:lstStyle>
            <a:lvl1pPr algn="r" defTabSz="935038" eaLnBrk="0" hangingPunct="0">
              <a:defRPr sz="1200"/>
            </a:lvl1pPr>
          </a:lstStyle>
          <a:p>
            <a:fld id="{6E3B70C2-F2C1-4DBA-B664-C5E183E92889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2C869F52-A67D-4BE8-90AA-DC69B48EC09F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475" cy="463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3541" tIns="46770" rIns="93541" bIns="46770" numCol="1" anchor="t" anchorCtr="0" compatLnSpc="1">
            <a:prstTxWarp prst="textNoShape">
              <a:avLst/>
            </a:prstTxWarp>
          </a:bodyPr>
          <a:lstStyle>
            <a:lvl1pPr defTabSz="935038" eaLnBrk="0" hangingPunct="0">
              <a:defRPr sz="1200"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17411" name="Rectangle 3">
            <a:extLst>
              <a:ext uri="{FF2B5EF4-FFF2-40B4-BE49-F238E27FC236}">
                <a16:creationId xmlns:a16="http://schemas.microsoft.com/office/drawing/2014/main" id="{75618605-9DAD-4183-B061-A2735A4755C1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971925" y="0"/>
            <a:ext cx="3038475" cy="463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3541" tIns="46770" rIns="93541" bIns="46770" numCol="1" anchor="t" anchorCtr="0" compatLnSpc="1">
            <a:prstTxWarp prst="textNoShape">
              <a:avLst/>
            </a:prstTxWarp>
          </a:bodyPr>
          <a:lstStyle>
            <a:lvl1pPr algn="r" defTabSz="935038" eaLnBrk="0" hangingPunct="0">
              <a:defRPr sz="1200"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35844" name="Rectangle 4">
            <a:extLst>
              <a:ext uri="{FF2B5EF4-FFF2-40B4-BE49-F238E27FC236}">
                <a16:creationId xmlns:a16="http://schemas.microsoft.com/office/drawing/2014/main" id="{7AC9D20D-EEF7-406F-AA29-994FF2FA17AB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82688" y="698500"/>
            <a:ext cx="4646612" cy="3484563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17413" name="Rectangle 5">
            <a:extLst>
              <a:ext uri="{FF2B5EF4-FFF2-40B4-BE49-F238E27FC236}">
                <a16:creationId xmlns:a16="http://schemas.microsoft.com/office/drawing/2014/main" id="{6117B0A0-5D60-4A6E-806A-319027793467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33450" y="4416425"/>
            <a:ext cx="5143500" cy="4181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3541" tIns="46770" rIns="93541" bIns="4677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noProof="0"/>
              <a:t>Click to edit Master text styles</a:t>
            </a:r>
          </a:p>
          <a:p>
            <a:pPr lvl="1"/>
            <a:r>
              <a:rPr lang="en-US" altLang="en-US" noProof="0"/>
              <a:t>Second level</a:t>
            </a:r>
          </a:p>
          <a:p>
            <a:pPr lvl="2"/>
            <a:r>
              <a:rPr lang="en-US" altLang="en-US" noProof="0"/>
              <a:t>Third level</a:t>
            </a:r>
          </a:p>
          <a:p>
            <a:pPr lvl="3"/>
            <a:r>
              <a:rPr lang="en-US" altLang="en-US" noProof="0"/>
              <a:t>Fourth level</a:t>
            </a:r>
          </a:p>
          <a:p>
            <a:pPr lvl="4"/>
            <a:r>
              <a:rPr lang="en-US" altLang="en-US" noProof="0"/>
              <a:t>Fifth level</a:t>
            </a:r>
          </a:p>
        </p:txBody>
      </p:sp>
      <p:sp>
        <p:nvSpPr>
          <p:cNvPr id="17414" name="Rectangle 6">
            <a:extLst>
              <a:ext uri="{FF2B5EF4-FFF2-40B4-BE49-F238E27FC236}">
                <a16:creationId xmlns:a16="http://schemas.microsoft.com/office/drawing/2014/main" id="{33191D9D-81AA-4235-A278-F824689DF9F1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32850"/>
            <a:ext cx="3038475" cy="463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3541" tIns="46770" rIns="93541" bIns="46770" numCol="1" anchor="b" anchorCtr="0" compatLnSpc="1">
            <a:prstTxWarp prst="textNoShape">
              <a:avLst/>
            </a:prstTxWarp>
          </a:bodyPr>
          <a:lstStyle>
            <a:lvl1pPr defTabSz="935038" eaLnBrk="0" hangingPunct="0">
              <a:defRPr sz="1200"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17415" name="Rectangle 7">
            <a:extLst>
              <a:ext uri="{FF2B5EF4-FFF2-40B4-BE49-F238E27FC236}">
                <a16:creationId xmlns:a16="http://schemas.microsoft.com/office/drawing/2014/main" id="{2071B1B9-83C4-4654-958F-69B2CDDDCE5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71925" y="8832850"/>
            <a:ext cx="3038475" cy="463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3541" tIns="46770" rIns="93541" bIns="46770" numCol="1" anchor="b" anchorCtr="0" compatLnSpc="1">
            <a:prstTxWarp prst="textNoShape">
              <a:avLst/>
            </a:prstTxWarp>
          </a:bodyPr>
          <a:lstStyle>
            <a:lvl1pPr algn="r" defTabSz="935038" eaLnBrk="0" hangingPunct="0">
              <a:defRPr sz="1200"/>
            </a:lvl1pPr>
          </a:lstStyle>
          <a:p>
            <a:fld id="{3412D5C1-D0DC-40F7-BDD3-DD827C056E83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412D5C1-D0DC-40F7-BDD3-DD827C056E83}" type="slidenum">
              <a:rPr lang="en-US" altLang="en-US" smtClean="0"/>
              <a:pPr/>
              <a:t>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8650469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412D5C1-D0DC-40F7-BDD3-DD827C056E83}" type="slidenum">
              <a:rPr lang="en-US" altLang="en-US" smtClean="0"/>
              <a:pPr/>
              <a:t>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8271470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412D5C1-D0DC-40F7-BDD3-DD827C056E83}" type="slidenum">
              <a:rPr lang="en-US" altLang="en-US" smtClean="0"/>
              <a:pPr/>
              <a:t>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1546187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412D5C1-D0DC-40F7-BDD3-DD827C056E83}" type="slidenum">
              <a:rPr lang="en-US" altLang="en-US" smtClean="0"/>
              <a:pPr/>
              <a:t>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9810732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412D5C1-D0DC-40F7-BDD3-DD827C056E83}" type="slidenum">
              <a:rPr lang="en-US" altLang="en-US" smtClean="0"/>
              <a:pPr/>
              <a:t>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198703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412D5C1-D0DC-40F7-BDD3-DD827C056E83}" type="slidenum">
              <a:rPr lang="en-US" altLang="en-US" smtClean="0"/>
              <a:pPr/>
              <a:t>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895314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412D5C1-D0DC-40F7-BDD3-DD827C056E83}" type="slidenum">
              <a:rPr lang="en-US" altLang="en-US" smtClean="0"/>
              <a:pPr/>
              <a:t>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8299267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412D5C1-D0DC-40F7-BDD3-DD827C056E83}" type="slidenum">
              <a:rPr lang="en-US" altLang="en-US" smtClean="0"/>
              <a:pPr/>
              <a:t>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7637527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412D5C1-D0DC-40F7-BDD3-DD827C056E83}" type="slidenum">
              <a:rPr lang="en-US" altLang="en-US" smtClean="0"/>
              <a:pPr/>
              <a:t>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058187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12D5C1-D0DC-40F7-BDD3-DD827C056E83}" type="slidenum">
              <a:rPr lang="en-US" altLang="en-US" smtClean="0"/>
              <a:pPr/>
              <a:t>10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1217032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412D5C1-D0DC-40F7-BDD3-DD827C056E83}" type="slidenum">
              <a:rPr lang="en-US" altLang="en-US" smtClean="0"/>
              <a:pPr/>
              <a:t>11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3213299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412D5C1-D0DC-40F7-BDD3-DD827C056E83}" type="slidenum">
              <a:rPr lang="en-US" altLang="en-US" smtClean="0"/>
              <a:pPr/>
              <a:t>12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5523005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412D5C1-D0DC-40F7-BDD3-DD827C056E83}" type="slidenum">
              <a:rPr lang="en-US" altLang="en-US" smtClean="0"/>
              <a:pPr/>
              <a:t>13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316510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tags" Target="../tags/tag9.xml"/><Relationship Id="rId7" Type="http://schemas.openxmlformats.org/officeDocument/2006/relationships/image" Target="../media/image1.png"/><Relationship Id="rId2" Type="http://schemas.openxmlformats.org/officeDocument/2006/relationships/tags" Target="../tags/tag8.xml"/><Relationship Id="rId1" Type="http://schemas.openxmlformats.org/officeDocument/2006/relationships/tags" Target="../tags/tag7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11.xml"/><Relationship Id="rId4" Type="http://schemas.openxmlformats.org/officeDocument/2006/relationships/tags" Target="../tags/tag10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tags" Target="../tags/tag14.xml"/><Relationship Id="rId2" Type="http://schemas.openxmlformats.org/officeDocument/2006/relationships/tags" Target="../tags/tag13.xml"/><Relationship Id="rId1" Type="http://schemas.openxmlformats.org/officeDocument/2006/relationships/tags" Target="../tags/tag12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16.xml"/><Relationship Id="rId4" Type="http://schemas.openxmlformats.org/officeDocument/2006/relationships/tags" Target="../tags/tag15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6" descr="LOGO_200">
            <a:extLst>
              <a:ext uri="{FF2B5EF4-FFF2-40B4-BE49-F238E27FC236}">
                <a16:creationId xmlns:a16="http://schemas.microsoft.com/office/drawing/2014/main" id="{F8789D68-DF1E-45B3-A6C0-77A5EB0055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76600" y="228600"/>
            <a:ext cx="2286000" cy="228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7" descr="LOGO_200">
            <a:extLst>
              <a:ext uri="{FF2B5EF4-FFF2-40B4-BE49-F238E27FC236}">
                <a16:creationId xmlns:a16="http://schemas.microsoft.com/office/drawing/2014/main" id="{71ED43BD-67BE-440C-9864-F25EBC75E0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76600" y="228600"/>
            <a:ext cx="2286000" cy="228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685800" y="2362200"/>
            <a:ext cx="7772400" cy="123825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77DFC483-F5BF-4539-96D2-E99714B02B7D}"/>
              </a:ext>
            </a:extLst>
          </p:cNvPr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E3CF486E-B4FC-4C96-8CB1-945F4BA1A0D7}"/>
              </a:ext>
            </a:extLst>
          </p:cNvPr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© Hill, Lipasti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55FABDED-DC68-4356-9B69-6A27D6D86E8A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>
            <a:lvl2pPr lvl="1">
              <a:defRPr/>
            </a:lvl2pPr>
          </a:lstStyle>
          <a:p>
            <a:pPr lvl="1"/>
            <a:fld id="{F26D53C3-94B4-4E25-868F-FDCC830F1813}" type="slidenum">
              <a:rPr lang="en-US" altLang="en-US"/>
              <a:pPr lvl="1"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85013153"/>
      </p:ext>
    </p:extLst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F58DF54A-2963-4066-855D-BE4BF006F8C4}"/>
              </a:ext>
            </a:extLst>
          </p:cNvPr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9E82FE2C-A1EE-4380-817A-5988FD0EE0FA}"/>
              </a:ext>
            </a:extLst>
          </p:cNvPr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© Hill, Lipasti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71B472F8-3BEF-4271-B8F6-C8512E515EDC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>
            <a:lvl2pPr lvl="1">
              <a:defRPr sz="1400"/>
            </a:lvl2pPr>
          </a:lstStyle>
          <a:p>
            <a:pPr lvl="1"/>
            <a:fld id="{B7E7A024-158A-42C6-8EE4-794CA031091A}" type="slidenum">
              <a:rPr lang="en-US" altLang="en-US"/>
              <a:pPr lvl="1"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11217084"/>
      </p:ext>
    </p:extLst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B8F5570D-AF20-4116-9732-9EB433FF6E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D5A42796-B95F-4E56-8309-BCB5EAFE3D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© Hill, Lipasti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CAF911B6-C369-49A9-A1C1-DE305D680A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2pPr lvl="1">
              <a:defRPr/>
            </a:lvl2pPr>
          </a:lstStyle>
          <a:p>
            <a:pPr lvl="1"/>
            <a:fld id="{BA02BA93-FC22-4768-97AD-81B6FD26661F}" type="slidenum">
              <a:rPr lang="en-US" altLang="en-US"/>
              <a:pPr lvl="1"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159684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ClipArt">
  <p:cSld name="Title, Text and Clip 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625" y="609600"/>
            <a:ext cx="8080375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82625" y="1981200"/>
            <a:ext cx="381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lipArt Placeholder 3"/>
          <p:cNvSpPr>
            <a:spLocks noGrp="1"/>
          </p:cNvSpPr>
          <p:nvPr>
            <p:ph type="clipArt" sz="half" idx="2"/>
          </p:nvPr>
        </p:nvSpPr>
        <p:spPr>
          <a:xfrm>
            <a:off x="4645025" y="1981200"/>
            <a:ext cx="3810000" cy="4114800"/>
          </a:xfrm>
        </p:spPr>
        <p:txBody>
          <a:bodyPr/>
          <a:lstStyle/>
          <a:p>
            <a:pPr lvl="0"/>
            <a:r>
              <a:rPr lang="en-US" noProof="0"/>
              <a:t>Click icon to add clip art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14203BB7-8619-4698-8C86-AB3895D96A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39F6D0A7-8F5A-4739-98BC-F6AB11F636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© Hill, Lipasti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C92EA5A7-7B44-4C5D-8930-15F48A1978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2pPr lvl="1">
              <a:defRPr/>
            </a:lvl2pPr>
          </a:lstStyle>
          <a:p>
            <a:pPr lvl="1"/>
            <a:fld id="{D58B94F4-A469-442A-A38B-D59DA896557B}" type="slidenum">
              <a:rPr lang="en-US" altLang="en-US"/>
              <a:pPr lvl="1"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728051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ags" Target="../tags/tag4.xml"/><Relationship Id="rId3" Type="http://schemas.openxmlformats.org/officeDocument/2006/relationships/slideLayout" Target="../slideLayouts/slideLayout3.xml"/><Relationship Id="rId7" Type="http://schemas.openxmlformats.org/officeDocument/2006/relationships/tags" Target="../tags/tag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ags" Target="../tags/tag2.xml"/><Relationship Id="rId5" Type="http://schemas.openxmlformats.org/officeDocument/2006/relationships/theme" Target="../theme/theme1.xml"/><Relationship Id="rId10" Type="http://schemas.openxmlformats.org/officeDocument/2006/relationships/tags" Target="../tags/tag6.xml"/><Relationship Id="rId4" Type="http://schemas.openxmlformats.org/officeDocument/2006/relationships/slideLayout" Target="../slideLayouts/slideLayout4.xml"/><Relationship Id="rId9" Type="http://schemas.openxmlformats.org/officeDocument/2006/relationships/tags" Target="../tags/tag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>
            <a:extLst>
              <a:ext uri="{FF2B5EF4-FFF2-40B4-BE49-F238E27FC236}">
                <a16:creationId xmlns:a16="http://schemas.microsoft.com/office/drawing/2014/main" id="{6162EC40-6D83-46D2-84B7-479A8F0D6330}"/>
              </a:ext>
            </a:extLst>
          </p:cNvPr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 bwMode="auto">
          <a:xfrm>
            <a:off x="457200" y="274638"/>
            <a:ext cx="7467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Text Placeholder 2">
            <a:extLst>
              <a:ext uri="{FF2B5EF4-FFF2-40B4-BE49-F238E27FC236}">
                <a16:creationId xmlns:a16="http://schemas.microsoft.com/office/drawing/2014/main" id="{23BDD8D4-E695-492F-9065-EDA1992142BE}"/>
              </a:ext>
            </a:extLst>
          </p:cNvPr>
          <p:cNvSpPr>
            <a:spLocks noGrp="1"/>
          </p:cNvSpPr>
          <p:nvPr>
            <p:ph type="body" idx="1"/>
            <p:custDataLst>
              <p:tags r:id="rId7"/>
            </p:custDataLst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B0FE4E-B9B0-436E-9272-1202EAFD4606}"/>
              </a:ext>
            </a:extLst>
          </p:cNvPr>
          <p:cNvSpPr>
            <a:spLocks noGrp="1"/>
          </p:cNvSpPr>
          <p:nvPr>
            <p:ph type="dt" sz="half" idx="2"/>
            <p:custDataLst>
              <p:tags r:id="rId8"/>
            </p:custDataLst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07D937-A571-46B2-8B29-D8E6557E4123}"/>
              </a:ext>
            </a:extLst>
          </p:cNvPr>
          <p:cNvSpPr>
            <a:spLocks noGrp="1"/>
          </p:cNvSpPr>
          <p:nvPr>
            <p:ph type="ftr" sz="quarter" idx="3"/>
            <p:custDataLst>
              <p:tags r:id="rId9"/>
            </p:custDataLst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Times New Roman" pitchFamily="18" charset="0"/>
              </a:defRPr>
            </a:lvl1pPr>
          </a:lstStyle>
          <a:p>
            <a:pPr>
              <a:defRPr/>
            </a:pPr>
            <a:r>
              <a:rPr lang="en-US" altLang="en-US"/>
              <a:t>© Hill, Lipasti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680E1F-60C3-42F4-9240-6EB48215B9C0}"/>
              </a:ext>
            </a:extLst>
          </p:cNvPr>
          <p:cNvSpPr>
            <a:spLocks noGrp="1"/>
          </p:cNvSpPr>
          <p:nvPr>
            <p:ph type="sldNum" sz="quarter" idx="4"/>
            <p:custDataLst>
              <p:tags r:id="rId10"/>
            </p:custDataLst>
          </p:nvPr>
        </p:nvSpPr>
        <p:spPr>
          <a:xfrm>
            <a:off x="7620000" y="6356350"/>
            <a:ext cx="1066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2pPr lvl="1" algn="r">
              <a:defRPr>
                <a:latin typeface="Calibri" panose="020F0502020204030204" pitchFamily="34" charset="0"/>
              </a:defRPr>
            </a:lvl2pPr>
          </a:lstStyle>
          <a:p>
            <a:pPr lvl="1"/>
            <a:fld id="{7E04EAAA-BCAE-4A81-8F71-B5EE1EE34BC4}" type="slidenum">
              <a:rPr lang="en-US" altLang="en-US"/>
              <a:pPr lvl="1"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  <p:sldLayoutId id="2147483684" r:id="rId2"/>
    <p:sldLayoutId id="2147483681" r:id="rId3"/>
    <p:sldLayoutId id="2147483682" r:id="rId4"/>
  </p:sldLayoutIdLst>
  <p:transition/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b="0" i="0" u="none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b="0" i="0" u="none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tags" Target="../tags/tag19.xml"/><Relationship Id="rId2" Type="http://schemas.openxmlformats.org/officeDocument/2006/relationships/tags" Target="../tags/tag18.xml"/><Relationship Id="rId1" Type="http://schemas.openxmlformats.org/officeDocument/2006/relationships/tags" Target="../tags/tag17.xml"/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tags" Target="../tags/tag27.xml"/><Relationship Id="rId13" Type="http://schemas.openxmlformats.org/officeDocument/2006/relationships/tags" Target="../tags/tag32.xml"/><Relationship Id="rId18" Type="http://schemas.openxmlformats.org/officeDocument/2006/relationships/tags" Target="../tags/tag37.xml"/><Relationship Id="rId3" Type="http://schemas.openxmlformats.org/officeDocument/2006/relationships/tags" Target="../tags/tag22.xml"/><Relationship Id="rId21" Type="http://schemas.openxmlformats.org/officeDocument/2006/relationships/notesSlide" Target="../notesSlides/notesSlide2.xml"/><Relationship Id="rId7" Type="http://schemas.openxmlformats.org/officeDocument/2006/relationships/tags" Target="../tags/tag26.xml"/><Relationship Id="rId12" Type="http://schemas.openxmlformats.org/officeDocument/2006/relationships/tags" Target="../tags/tag31.xml"/><Relationship Id="rId17" Type="http://schemas.openxmlformats.org/officeDocument/2006/relationships/tags" Target="../tags/tag36.xml"/><Relationship Id="rId2" Type="http://schemas.openxmlformats.org/officeDocument/2006/relationships/tags" Target="../tags/tag21.xml"/><Relationship Id="rId16" Type="http://schemas.openxmlformats.org/officeDocument/2006/relationships/tags" Target="../tags/tag35.xml"/><Relationship Id="rId20" Type="http://schemas.openxmlformats.org/officeDocument/2006/relationships/slideLayout" Target="../slideLayouts/slideLayout2.xml"/><Relationship Id="rId1" Type="http://schemas.openxmlformats.org/officeDocument/2006/relationships/tags" Target="../tags/tag20.xml"/><Relationship Id="rId6" Type="http://schemas.openxmlformats.org/officeDocument/2006/relationships/tags" Target="../tags/tag25.xml"/><Relationship Id="rId11" Type="http://schemas.openxmlformats.org/officeDocument/2006/relationships/tags" Target="../tags/tag30.xml"/><Relationship Id="rId5" Type="http://schemas.openxmlformats.org/officeDocument/2006/relationships/tags" Target="../tags/tag24.xml"/><Relationship Id="rId15" Type="http://schemas.openxmlformats.org/officeDocument/2006/relationships/tags" Target="../tags/tag34.xml"/><Relationship Id="rId10" Type="http://schemas.openxmlformats.org/officeDocument/2006/relationships/tags" Target="../tags/tag29.xml"/><Relationship Id="rId19" Type="http://schemas.openxmlformats.org/officeDocument/2006/relationships/tags" Target="../tags/tag38.xml"/><Relationship Id="rId4" Type="http://schemas.openxmlformats.org/officeDocument/2006/relationships/tags" Target="../tags/tag23.xml"/><Relationship Id="rId9" Type="http://schemas.openxmlformats.org/officeDocument/2006/relationships/tags" Target="../tags/tag28.xml"/><Relationship Id="rId14" Type="http://schemas.openxmlformats.org/officeDocument/2006/relationships/tags" Target="../tags/tag33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tags" Target="../tags/tag46.xml"/><Relationship Id="rId13" Type="http://schemas.openxmlformats.org/officeDocument/2006/relationships/tags" Target="../tags/tag51.xml"/><Relationship Id="rId18" Type="http://schemas.openxmlformats.org/officeDocument/2006/relationships/tags" Target="../tags/tag56.xml"/><Relationship Id="rId3" Type="http://schemas.openxmlformats.org/officeDocument/2006/relationships/tags" Target="../tags/tag41.xml"/><Relationship Id="rId21" Type="http://schemas.openxmlformats.org/officeDocument/2006/relationships/slideLayout" Target="../slideLayouts/slideLayout2.xml"/><Relationship Id="rId7" Type="http://schemas.openxmlformats.org/officeDocument/2006/relationships/tags" Target="../tags/tag45.xml"/><Relationship Id="rId12" Type="http://schemas.openxmlformats.org/officeDocument/2006/relationships/tags" Target="../tags/tag50.xml"/><Relationship Id="rId17" Type="http://schemas.openxmlformats.org/officeDocument/2006/relationships/tags" Target="../tags/tag55.xml"/><Relationship Id="rId2" Type="http://schemas.openxmlformats.org/officeDocument/2006/relationships/tags" Target="../tags/tag40.xml"/><Relationship Id="rId16" Type="http://schemas.openxmlformats.org/officeDocument/2006/relationships/tags" Target="../tags/tag54.xml"/><Relationship Id="rId20" Type="http://schemas.openxmlformats.org/officeDocument/2006/relationships/tags" Target="../tags/tag58.xml"/><Relationship Id="rId1" Type="http://schemas.openxmlformats.org/officeDocument/2006/relationships/tags" Target="../tags/tag39.xml"/><Relationship Id="rId6" Type="http://schemas.openxmlformats.org/officeDocument/2006/relationships/tags" Target="../tags/tag44.xml"/><Relationship Id="rId11" Type="http://schemas.openxmlformats.org/officeDocument/2006/relationships/tags" Target="../tags/tag49.xml"/><Relationship Id="rId5" Type="http://schemas.openxmlformats.org/officeDocument/2006/relationships/tags" Target="../tags/tag43.xml"/><Relationship Id="rId15" Type="http://schemas.openxmlformats.org/officeDocument/2006/relationships/tags" Target="../tags/tag53.xml"/><Relationship Id="rId10" Type="http://schemas.openxmlformats.org/officeDocument/2006/relationships/tags" Target="../tags/tag48.xml"/><Relationship Id="rId19" Type="http://schemas.openxmlformats.org/officeDocument/2006/relationships/tags" Target="../tags/tag57.xml"/><Relationship Id="rId4" Type="http://schemas.openxmlformats.org/officeDocument/2006/relationships/tags" Target="../tags/tag42.xml"/><Relationship Id="rId9" Type="http://schemas.openxmlformats.org/officeDocument/2006/relationships/tags" Target="../tags/tag47.xml"/><Relationship Id="rId14" Type="http://schemas.openxmlformats.org/officeDocument/2006/relationships/tags" Target="../tags/tag52.xml"/><Relationship Id="rId2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tags" Target="../tags/tag66.xml"/><Relationship Id="rId13" Type="http://schemas.openxmlformats.org/officeDocument/2006/relationships/tags" Target="../tags/tag71.xml"/><Relationship Id="rId18" Type="http://schemas.openxmlformats.org/officeDocument/2006/relationships/tags" Target="../tags/tag76.xml"/><Relationship Id="rId3" Type="http://schemas.openxmlformats.org/officeDocument/2006/relationships/tags" Target="../tags/tag61.xml"/><Relationship Id="rId21" Type="http://schemas.openxmlformats.org/officeDocument/2006/relationships/tags" Target="../tags/tag79.xml"/><Relationship Id="rId7" Type="http://schemas.openxmlformats.org/officeDocument/2006/relationships/tags" Target="../tags/tag65.xml"/><Relationship Id="rId12" Type="http://schemas.openxmlformats.org/officeDocument/2006/relationships/tags" Target="../tags/tag70.xml"/><Relationship Id="rId17" Type="http://schemas.openxmlformats.org/officeDocument/2006/relationships/tags" Target="../tags/tag75.xml"/><Relationship Id="rId25" Type="http://schemas.openxmlformats.org/officeDocument/2006/relationships/notesSlide" Target="../notesSlides/notesSlide4.xml"/><Relationship Id="rId2" Type="http://schemas.openxmlformats.org/officeDocument/2006/relationships/tags" Target="../tags/tag60.xml"/><Relationship Id="rId16" Type="http://schemas.openxmlformats.org/officeDocument/2006/relationships/tags" Target="../tags/tag74.xml"/><Relationship Id="rId20" Type="http://schemas.openxmlformats.org/officeDocument/2006/relationships/tags" Target="../tags/tag78.xml"/><Relationship Id="rId1" Type="http://schemas.openxmlformats.org/officeDocument/2006/relationships/tags" Target="../tags/tag59.xml"/><Relationship Id="rId6" Type="http://schemas.openxmlformats.org/officeDocument/2006/relationships/tags" Target="../tags/tag64.xml"/><Relationship Id="rId11" Type="http://schemas.openxmlformats.org/officeDocument/2006/relationships/tags" Target="../tags/tag69.xml"/><Relationship Id="rId24" Type="http://schemas.openxmlformats.org/officeDocument/2006/relationships/slideLayout" Target="../slideLayouts/slideLayout2.xml"/><Relationship Id="rId5" Type="http://schemas.openxmlformats.org/officeDocument/2006/relationships/tags" Target="../tags/tag63.xml"/><Relationship Id="rId15" Type="http://schemas.openxmlformats.org/officeDocument/2006/relationships/tags" Target="../tags/tag73.xml"/><Relationship Id="rId23" Type="http://schemas.openxmlformats.org/officeDocument/2006/relationships/tags" Target="../tags/tag81.xml"/><Relationship Id="rId10" Type="http://schemas.openxmlformats.org/officeDocument/2006/relationships/tags" Target="../tags/tag68.xml"/><Relationship Id="rId19" Type="http://schemas.openxmlformats.org/officeDocument/2006/relationships/tags" Target="../tags/tag77.xml"/><Relationship Id="rId4" Type="http://schemas.openxmlformats.org/officeDocument/2006/relationships/tags" Target="../tags/tag62.xml"/><Relationship Id="rId9" Type="http://schemas.openxmlformats.org/officeDocument/2006/relationships/tags" Target="../tags/tag67.xml"/><Relationship Id="rId14" Type="http://schemas.openxmlformats.org/officeDocument/2006/relationships/tags" Target="../tags/tag72.xml"/><Relationship Id="rId22" Type="http://schemas.openxmlformats.org/officeDocument/2006/relationships/tags" Target="../tags/tag80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tags" Target="../tags/tag89.xml"/><Relationship Id="rId13" Type="http://schemas.openxmlformats.org/officeDocument/2006/relationships/tags" Target="../tags/tag94.xml"/><Relationship Id="rId18" Type="http://schemas.openxmlformats.org/officeDocument/2006/relationships/tags" Target="../tags/tag99.xml"/><Relationship Id="rId3" Type="http://schemas.openxmlformats.org/officeDocument/2006/relationships/tags" Target="../tags/tag84.xml"/><Relationship Id="rId21" Type="http://schemas.openxmlformats.org/officeDocument/2006/relationships/tags" Target="../tags/tag102.xml"/><Relationship Id="rId7" Type="http://schemas.openxmlformats.org/officeDocument/2006/relationships/tags" Target="../tags/tag88.xml"/><Relationship Id="rId12" Type="http://schemas.openxmlformats.org/officeDocument/2006/relationships/tags" Target="../tags/tag93.xml"/><Relationship Id="rId17" Type="http://schemas.openxmlformats.org/officeDocument/2006/relationships/tags" Target="../tags/tag98.xml"/><Relationship Id="rId25" Type="http://schemas.openxmlformats.org/officeDocument/2006/relationships/notesSlide" Target="../notesSlides/notesSlide5.xml"/><Relationship Id="rId2" Type="http://schemas.openxmlformats.org/officeDocument/2006/relationships/tags" Target="../tags/tag83.xml"/><Relationship Id="rId16" Type="http://schemas.openxmlformats.org/officeDocument/2006/relationships/tags" Target="../tags/tag97.xml"/><Relationship Id="rId20" Type="http://schemas.openxmlformats.org/officeDocument/2006/relationships/tags" Target="../tags/tag101.xml"/><Relationship Id="rId1" Type="http://schemas.openxmlformats.org/officeDocument/2006/relationships/tags" Target="../tags/tag82.xml"/><Relationship Id="rId6" Type="http://schemas.openxmlformats.org/officeDocument/2006/relationships/tags" Target="../tags/tag87.xml"/><Relationship Id="rId11" Type="http://schemas.openxmlformats.org/officeDocument/2006/relationships/tags" Target="../tags/tag92.xml"/><Relationship Id="rId24" Type="http://schemas.openxmlformats.org/officeDocument/2006/relationships/slideLayout" Target="../slideLayouts/slideLayout2.xml"/><Relationship Id="rId5" Type="http://schemas.openxmlformats.org/officeDocument/2006/relationships/tags" Target="../tags/tag86.xml"/><Relationship Id="rId15" Type="http://schemas.openxmlformats.org/officeDocument/2006/relationships/tags" Target="../tags/tag96.xml"/><Relationship Id="rId23" Type="http://schemas.openxmlformats.org/officeDocument/2006/relationships/tags" Target="../tags/tag104.xml"/><Relationship Id="rId10" Type="http://schemas.openxmlformats.org/officeDocument/2006/relationships/tags" Target="../tags/tag91.xml"/><Relationship Id="rId19" Type="http://schemas.openxmlformats.org/officeDocument/2006/relationships/tags" Target="../tags/tag100.xml"/><Relationship Id="rId4" Type="http://schemas.openxmlformats.org/officeDocument/2006/relationships/tags" Target="../tags/tag85.xml"/><Relationship Id="rId9" Type="http://schemas.openxmlformats.org/officeDocument/2006/relationships/tags" Target="../tags/tag90.xml"/><Relationship Id="rId14" Type="http://schemas.openxmlformats.org/officeDocument/2006/relationships/tags" Target="../tags/tag95.xml"/><Relationship Id="rId22" Type="http://schemas.openxmlformats.org/officeDocument/2006/relationships/tags" Target="../tags/tag103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tags" Target="../tags/tag112.xml"/><Relationship Id="rId13" Type="http://schemas.openxmlformats.org/officeDocument/2006/relationships/tags" Target="../tags/tag117.xml"/><Relationship Id="rId18" Type="http://schemas.openxmlformats.org/officeDocument/2006/relationships/tags" Target="../tags/tag122.xml"/><Relationship Id="rId3" Type="http://schemas.openxmlformats.org/officeDocument/2006/relationships/tags" Target="../tags/tag107.xml"/><Relationship Id="rId21" Type="http://schemas.openxmlformats.org/officeDocument/2006/relationships/tags" Target="../tags/tag125.xml"/><Relationship Id="rId7" Type="http://schemas.openxmlformats.org/officeDocument/2006/relationships/tags" Target="../tags/tag111.xml"/><Relationship Id="rId12" Type="http://schemas.openxmlformats.org/officeDocument/2006/relationships/tags" Target="../tags/tag116.xml"/><Relationship Id="rId17" Type="http://schemas.openxmlformats.org/officeDocument/2006/relationships/tags" Target="../tags/tag121.xml"/><Relationship Id="rId25" Type="http://schemas.openxmlformats.org/officeDocument/2006/relationships/notesSlide" Target="../notesSlides/notesSlide6.xml"/><Relationship Id="rId2" Type="http://schemas.openxmlformats.org/officeDocument/2006/relationships/tags" Target="../tags/tag106.xml"/><Relationship Id="rId16" Type="http://schemas.openxmlformats.org/officeDocument/2006/relationships/tags" Target="../tags/tag120.xml"/><Relationship Id="rId20" Type="http://schemas.openxmlformats.org/officeDocument/2006/relationships/tags" Target="../tags/tag124.xml"/><Relationship Id="rId1" Type="http://schemas.openxmlformats.org/officeDocument/2006/relationships/tags" Target="../tags/tag105.xml"/><Relationship Id="rId6" Type="http://schemas.openxmlformats.org/officeDocument/2006/relationships/tags" Target="../tags/tag110.xml"/><Relationship Id="rId11" Type="http://schemas.openxmlformats.org/officeDocument/2006/relationships/tags" Target="../tags/tag115.xml"/><Relationship Id="rId24" Type="http://schemas.openxmlformats.org/officeDocument/2006/relationships/slideLayout" Target="../slideLayouts/slideLayout2.xml"/><Relationship Id="rId5" Type="http://schemas.openxmlformats.org/officeDocument/2006/relationships/tags" Target="../tags/tag109.xml"/><Relationship Id="rId15" Type="http://schemas.openxmlformats.org/officeDocument/2006/relationships/tags" Target="../tags/tag119.xml"/><Relationship Id="rId23" Type="http://schemas.openxmlformats.org/officeDocument/2006/relationships/tags" Target="../tags/tag127.xml"/><Relationship Id="rId10" Type="http://schemas.openxmlformats.org/officeDocument/2006/relationships/tags" Target="../tags/tag114.xml"/><Relationship Id="rId19" Type="http://schemas.openxmlformats.org/officeDocument/2006/relationships/tags" Target="../tags/tag123.xml"/><Relationship Id="rId4" Type="http://schemas.openxmlformats.org/officeDocument/2006/relationships/tags" Target="../tags/tag108.xml"/><Relationship Id="rId9" Type="http://schemas.openxmlformats.org/officeDocument/2006/relationships/tags" Target="../tags/tag113.xml"/><Relationship Id="rId14" Type="http://schemas.openxmlformats.org/officeDocument/2006/relationships/tags" Target="../tags/tag118.xml"/><Relationship Id="rId22" Type="http://schemas.openxmlformats.org/officeDocument/2006/relationships/tags" Target="../tags/tag126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tags" Target="../tags/tag135.xml"/><Relationship Id="rId13" Type="http://schemas.openxmlformats.org/officeDocument/2006/relationships/tags" Target="../tags/tag140.xml"/><Relationship Id="rId18" Type="http://schemas.openxmlformats.org/officeDocument/2006/relationships/tags" Target="../tags/tag145.xml"/><Relationship Id="rId26" Type="http://schemas.openxmlformats.org/officeDocument/2006/relationships/slideLayout" Target="../slideLayouts/slideLayout2.xml"/><Relationship Id="rId3" Type="http://schemas.openxmlformats.org/officeDocument/2006/relationships/tags" Target="../tags/tag130.xml"/><Relationship Id="rId21" Type="http://schemas.openxmlformats.org/officeDocument/2006/relationships/tags" Target="../tags/tag148.xml"/><Relationship Id="rId7" Type="http://schemas.openxmlformats.org/officeDocument/2006/relationships/tags" Target="../tags/tag134.xml"/><Relationship Id="rId12" Type="http://schemas.openxmlformats.org/officeDocument/2006/relationships/tags" Target="../tags/tag139.xml"/><Relationship Id="rId17" Type="http://schemas.openxmlformats.org/officeDocument/2006/relationships/tags" Target="../tags/tag144.xml"/><Relationship Id="rId25" Type="http://schemas.openxmlformats.org/officeDocument/2006/relationships/tags" Target="../tags/tag152.xml"/><Relationship Id="rId2" Type="http://schemas.openxmlformats.org/officeDocument/2006/relationships/tags" Target="../tags/tag129.xml"/><Relationship Id="rId16" Type="http://schemas.openxmlformats.org/officeDocument/2006/relationships/tags" Target="../tags/tag143.xml"/><Relationship Id="rId20" Type="http://schemas.openxmlformats.org/officeDocument/2006/relationships/tags" Target="../tags/tag147.xml"/><Relationship Id="rId1" Type="http://schemas.openxmlformats.org/officeDocument/2006/relationships/tags" Target="../tags/tag128.xml"/><Relationship Id="rId6" Type="http://schemas.openxmlformats.org/officeDocument/2006/relationships/tags" Target="../tags/tag133.xml"/><Relationship Id="rId11" Type="http://schemas.openxmlformats.org/officeDocument/2006/relationships/tags" Target="../tags/tag138.xml"/><Relationship Id="rId24" Type="http://schemas.openxmlformats.org/officeDocument/2006/relationships/tags" Target="../tags/tag151.xml"/><Relationship Id="rId5" Type="http://schemas.openxmlformats.org/officeDocument/2006/relationships/tags" Target="../tags/tag132.xml"/><Relationship Id="rId15" Type="http://schemas.openxmlformats.org/officeDocument/2006/relationships/tags" Target="../tags/tag142.xml"/><Relationship Id="rId23" Type="http://schemas.openxmlformats.org/officeDocument/2006/relationships/tags" Target="../tags/tag150.xml"/><Relationship Id="rId10" Type="http://schemas.openxmlformats.org/officeDocument/2006/relationships/tags" Target="../tags/tag137.xml"/><Relationship Id="rId19" Type="http://schemas.openxmlformats.org/officeDocument/2006/relationships/tags" Target="../tags/tag146.xml"/><Relationship Id="rId4" Type="http://schemas.openxmlformats.org/officeDocument/2006/relationships/tags" Target="../tags/tag131.xml"/><Relationship Id="rId9" Type="http://schemas.openxmlformats.org/officeDocument/2006/relationships/tags" Target="../tags/tag136.xml"/><Relationship Id="rId14" Type="http://schemas.openxmlformats.org/officeDocument/2006/relationships/tags" Target="../tags/tag141.xml"/><Relationship Id="rId22" Type="http://schemas.openxmlformats.org/officeDocument/2006/relationships/tags" Target="../tags/tag149.xml"/><Relationship Id="rId2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tags" Target="../tags/tag160.xml"/><Relationship Id="rId13" Type="http://schemas.openxmlformats.org/officeDocument/2006/relationships/tags" Target="../tags/tag165.xml"/><Relationship Id="rId18" Type="http://schemas.openxmlformats.org/officeDocument/2006/relationships/tags" Target="../tags/tag170.xml"/><Relationship Id="rId26" Type="http://schemas.openxmlformats.org/officeDocument/2006/relationships/tags" Target="../tags/tag178.xml"/><Relationship Id="rId3" Type="http://schemas.openxmlformats.org/officeDocument/2006/relationships/tags" Target="../tags/tag155.xml"/><Relationship Id="rId21" Type="http://schemas.openxmlformats.org/officeDocument/2006/relationships/tags" Target="../tags/tag173.xml"/><Relationship Id="rId7" Type="http://schemas.openxmlformats.org/officeDocument/2006/relationships/tags" Target="../tags/tag159.xml"/><Relationship Id="rId12" Type="http://schemas.openxmlformats.org/officeDocument/2006/relationships/tags" Target="../tags/tag164.xml"/><Relationship Id="rId17" Type="http://schemas.openxmlformats.org/officeDocument/2006/relationships/tags" Target="../tags/tag169.xml"/><Relationship Id="rId25" Type="http://schemas.openxmlformats.org/officeDocument/2006/relationships/tags" Target="../tags/tag177.xml"/><Relationship Id="rId2" Type="http://schemas.openxmlformats.org/officeDocument/2006/relationships/tags" Target="../tags/tag154.xml"/><Relationship Id="rId16" Type="http://schemas.openxmlformats.org/officeDocument/2006/relationships/tags" Target="../tags/tag168.xml"/><Relationship Id="rId20" Type="http://schemas.openxmlformats.org/officeDocument/2006/relationships/tags" Target="../tags/tag172.xml"/><Relationship Id="rId1" Type="http://schemas.openxmlformats.org/officeDocument/2006/relationships/tags" Target="../tags/tag153.xml"/><Relationship Id="rId6" Type="http://schemas.openxmlformats.org/officeDocument/2006/relationships/tags" Target="../tags/tag158.xml"/><Relationship Id="rId11" Type="http://schemas.openxmlformats.org/officeDocument/2006/relationships/tags" Target="../tags/tag163.xml"/><Relationship Id="rId24" Type="http://schemas.openxmlformats.org/officeDocument/2006/relationships/tags" Target="../tags/tag176.xml"/><Relationship Id="rId5" Type="http://schemas.openxmlformats.org/officeDocument/2006/relationships/tags" Target="../tags/tag157.xml"/><Relationship Id="rId15" Type="http://schemas.openxmlformats.org/officeDocument/2006/relationships/tags" Target="../tags/tag167.xml"/><Relationship Id="rId23" Type="http://schemas.openxmlformats.org/officeDocument/2006/relationships/tags" Target="../tags/tag175.xml"/><Relationship Id="rId28" Type="http://schemas.openxmlformats.org/officeDocument/2006/relationships/notesSlide" Target="../notesSlides/notesSlide8.xml"/><Relationship Id="rId10" Type="http://schemas.openxmlformats.org/officeDocument/2006/relationships/tags" Target="../tags/tag162.xml"/><Relationship Id="rId19" Type="http://schemas.openxmlformats.org/officeDocument/2006/relationships/tags" Target="../tags/tag171.xml"/><Relationship Id="rId4" Type="http://schemas.openxmlformats.org/officeDocument/2006/relationships/tags" Target="../tags/tag156.xml"/><Relationship Id="rId9" Type="http://schemas.openxmlformats.org/officeDocument/2006/relationships/tags" Target="../tags/tag161.xml"/><Relationship Id="rId14" Type="http://schemas.openxmlformats.org/officeDocument/2006/relationships/tags" Target="../tags/tag166.xml"/><Relationship Id="rId22" Type="http://schemas.openxmlformats.org/officeDocument/2006/relationships/tags" Target="../tags/tag174.xml"/><Relationship Id="rId27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tags" Target="../tags/tag181.xml"/><Relationship Id="rId2" Type="http://schemas.openxmlformats.org/officeDocument/2006/relationships/tags" Target="../tags/tag180.xml"/><Relationship Id="rId1" Type="http://schemas.openxmlformats.org/officeDocument/2006/relationships/tags" Target="../tags/tag179.xml"/><Relationship Id="rId6" Type="http://schemas.openxmlformats.org/officeDocument/2006/relationships/notesSlide" Target="../notesSlides/notesSlide9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182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tags" Target="../tags/tag190.xml"/><Relationship Id="rId13" Type="http://schemas.openxmlformats.org/officeDocument/2006/relationships/tags" Target="../tags/tag195.xml"/><Relationship Id="rId18" Type="http://schemas.openxmlformats.org/officeDocument/2006/relationships/image" Target="../media/image2.emf"/><Relationship Id="rId3" Type="http://schemas.openxmlformats.org/officeDocument/2006/relationships/tags" Target="../tags/tag185.xml"/><Relationship Id="rId7" Type="http://schemas.openxmlformats.org/officeDocument/2006/relationships/tags" Target="../tags/tag189.xml"/><Relationship Id="rId12" Type="http://schemas.openxmlformats.org/officeDocument/2006/relationships/tags" Target="../tags/tag194.xml"/><Relationship Id="rId17" Type="http://schemas.openxmlformats.org/officeDocument/2006/relationships/notesSlide" Target="../notesSlides/notesSlide10.xml"/><Relationship Id="rId2" Type="http://schemas.openxmlformats.org/officeDocument/2006/relationships/tags" Target="../tags/tag184.xml"/><Relationship Id="rId16" Type="http://schemas.openxmlformats.org/officeDocument/2006/relationships/slideLayout" Target="../slideLayouts/slideLayout2.xml"/><Relationship Id="rId1" Type="http://schemas.openxmlformats.org/officeDocument/2006/relationships/tags" Target="../tags/tag183.xml"/><Relationship Id="rId6" Type="http://schemas.openxmlformats.org/officeDocument/2006/relationships/tags" Target="../tags/tag188.xml"/><Relationship Id="rId11" Type="http://schemas.openxmlformats.org/officeDocument/2006/relationships/tags" Target="../tags/tag193.xml"/><Relationship Id="rId5" Type="http://schemas.openxmlformats.org/officeDocument/2006/relationships/tags" Target="../tags/tag187.xml"/><Relationship Id="rId15" Type="http://schemas.openxmlformats.org/officeDocument/2006/relationships/tags" Target="../tags/tag197.xml"/><Relationship Id="rId10" Type="http://schemas.openxmlformats.org/officeDocument/2006/relationships/tags" Target="../tags/tag192.xml"/><Relationship Id="rId4" Type="http://schemas.openxmlformats.org/officeDocument/2006/relationships/tags" Target="../tags/tag186.xml"/><Relationship Id="rId9" Type="http://schemas.openxmlformats.org/officeDocument/2006/relationships/tags" Target="../tags/tag191.xml"/><Relationship Id="rId14" Type="http://schemas.openxmlformats.org/officeDocument/2006/relationships/tags" Target="../tags/tag196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3" Type="http://schemas.openxmlformats.org/officeDocument/2006/relationships/tags" Target="../tags/tag200.xml"/><Relationship Id="rId7" Type="http://schemas.openxmlformats.org/officeDocument/2006/relationships/tags" Target="../tags/tag204.xml"/><Relationship Id="rId2" Type="http://schemas.openxmlformats.org/officeDocument/2006/relationships/tags" Target="../tags/tag199.xml"/><Relationship Id="rId1" Type="http://schemas.openxmlformats.org/officeDocument/2006/relationships/tags" Target="../tags/tag198.xml"/><Relationship Id="rId6" Type="http://schemas.openxmlformats.org/officeDocument/2006/relationships/tags" Target="../tags/tag203.xml"/><Relationship Id="rId5" Type="http://schemas.openxmlformats.org/officeDocument/2006/relationships/tags" Target="../tags/tag202.xml"/><Relationship Id="rId4" Type="http://schemas.openxmlformats.org/officeDocument/2006/relationships/tags" Target="../tags/tag201.xml"/><Relationship Id="rId9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tags" Target="../tags/tag212.xml"/><Relationship Id="rId3" Type="http://schemas.openxmlformats.org/officeDocument/2006/relationships/tags" Target="../tags/tag207.xml"/><Relationship Id="rId7" Type="http://schemas.openxmlformats.org/officeDocument/2006/relationships/tags" Target="../tags/tag211.xml"/><Relationship Id="rId12" Type="http://schemas.openxmlformats.org/officeDocument/2006/relationships/notesSlide" Target="../notesSlides/notesSlide12.xml"/><Relationship Id="rId2" Type="http://schemas.openxmlformats.org/officeDocument/2006/relationships/tags" Target="../tags/tag206.xml"/><Relationship Id="rId1" Type="http://schemas.openxmlformats.org/officeDocument/2006/relationships/tags" Target="../tags/tag205.xml"/><Relationship Id="rId6" Type="http://schemas.openxmlformats.org/officeDocument/2006/relationships/tags" Target="../tags/tag210.xml"/><Relationship Id="rId11" Type="http://schemas.openxmlformats.org/officeDocument/2006/relationships/slideLayout" Target="../slideLayouts/slideLayout2.xml"/><Relationship Id="rId5" Type="http://schemas.openxmlformats.org/officeDocument/2006/relationships/tags" Target="../tags/tag209.xml"/><Relationship Id="rId10" Type="http://schemas.openxmlformats.org/officeDocument/2006/relationships/tags" Target="../tags/tag214.xml"/><Relationship Id="rId4" Type="http://schemas.openxmlformats.org/officeDocument/2006/relationships/tags" Target="../tags/tag208.xml"/><Relationship Id="rId9" Type="http://schemas.openxmlformats.org/officeDocument/2006/relationships/tags" Target="../tags/tag213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tags" Target="../tags/tag222.xml"/><Relationship Id="rId13" Type="http://schemas.openxmlformats.org/officeDocument/2006/relationships/notesSlide" Target="../notesSlides/notesSlide13.xml"/><Relationship Id="rId3" Type="http://schemas.openxmlformats.org/officeDocument/2006/relationships/tags" Target="../tags/tag217.xml"/><Relationship Id="rId7" Type="http://schemas.openxmlformats.org/officeDocument/2006/relationships/tags" Target="../tags/tag221.xml"/><Relationship Id="rId12" Type="http://schemas.openxmlformats.org/officeDocument/2006/relationships/slideLayout" Target="../slideLayouts/slideLayout2.xml"/><Relationship Id="rId2" Type="http://schemas.openxmlformats.org/officeDocument/2006/relationships/tags" Target="../tags/tag216.xml"/><Relationship Id="rId1" Type="http://schemas.openxmlformats.org/officeDocument/2006/relationships/tags" Target="../tags/tag215.xml"/><Relationship Id="rId6" Type="http://schemas.openxmlformats.org/officeDocument/2006/relationships/tags" Target="../tags/tag220.xml"/><Relationship Id="rId11" Type="http://schemas.openxmlformats.org/officeDocument/2006/relationships/tags" Target="../tags/tag225.xml"/><Relationship Id="rId5" Type="http://schemas.openxmlformats.org/officeDocument/2006/relationships/tags" Target="../tags/tag219.xml"/><Relationship Id="rId10" Type="http://schemas.openxmlformats.org/officeDocument/2006/relationships/tags" Target="../tags/tag224.xml"/><Relationship Id="rId4" Type="http://schemas.openxmlformats.org/officeDocument/2006/relationships/tags" Target="../tags/tag218.xml"/><Relationship Id="rId9" Type="http://schemas.openxmlformats.org/officeDocument/2006/relationships/tags" Target="../tags/tag2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itle 1">
            <a:extLst>
              <a:ext uri="{FF2B5EF4-FFF2-40B4-BE49-F238E27FC236}">
                <a16:creationId xmlns:a16="http://schemas.microsoft.com/office/drawing/2014/main" id="{F831BF55-F706-4EA0-ADB2-762E59B97EC4}"/>
              </a:ext>
            </a:extLst>
          </p:cNvPr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457200" y="2495550"/>
            <a:ext cx="8229600" cy="1238250"/>
          </a:xfrm>
        </p:spPr>
        <p:txBody>
          <a:bodyPr/>
          <a:lstStyle/>
          <a:p>
            <a:pPr eaLnBrk="1" hangingPunct="1"/>
            <a:r>
              <a:rPr lang="en-US" altLang="en-US" dirty="0"/>
              <a:t>ECE/CS 552: Consistency and SIMD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0F7F15D-B052-485D-B6FA-83AEEE3C0BC0}"/>
              </a:ext>
            </a:extLst>
          </p:cNvPr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371600" y="3886200"/>
            <a:ext cx="6400800" cy="1752600"/>
          </a:xfrm>
        </p:spPr>
        <p:txBody>
          <a:bodyPr>
            <a:noAutofit/>
          </a:bodyPr>
          <a:lstStyle/>
          <a:p>
            <a:pPr eaLnBrk="1" hangingPunct="1">
              <a:buFont typeface="Arial" charset="0"/>
              <a:buNone/>
              <a:defRPr/>
            </a:pPr>
            <a:r>
              <a:rPr lang="en-US" sz="2200" dirty="0"/>
              <a:t>Boone Severson</a:t>
            </a:r>
          </a:p>
          <a:p>
            <a:pPr eaLnBrk="1" hangingPunct="1">
              <a:buFont typeface="Arial" charset="0"/>
              <a:buNone/>
              <a:defRPr/>
            </a:pPr>
            <a:endParaRPr lang="en-US" sz="2200" dirty="0"/>
          </a:p>
          <a:p>
            <a:pPr eaLnBrk="1" hangingPunct="1">
              <a:buFont typeface="Arial" charset="0"/>
              <a:buNone/>
              <a:defRPr/>
            </a:pPr>
            <a:r>
              <a:rPr lang="en-US" sz="2200" dirty="0"/>
              <a:t>Lecture notes based in part on slides created by Joshua San Miguel, Mikko </a:t>
            </a:r>
            <a:r>
              <a:rPr lang="en-US" sz="2200" dirty="0" err="1"/>
              <a:t>Lipasti</a:t>
            </a:r>
            <a:r>
              <a:rPr lang="en-US" sz="2200" dirty="0"/>
              <a:t>, Mark Hill, David Wood, Guri Sohi, John Shen and Jim Smith</a:t>
            </a:r>
          </a:p>
          <a:p>
            <a:pPr eaLnBrk="1" hangingPunct="1">
              <a:buFont typeface="Arial" charset="0"/>
              <a:buNone/>
              <a:defRPr/>
            </a:pPr>
            <a:r>
              <a:rPr lang="en-US" sz="2200" dirty="0"/>
              <a:t>  </a:t>
            </a:r>
          </a:p>
          <a:p>
            <a:pPr eaLnBrk="1" hangingPunct="1">
              <a:buFont typeface="Arial" charset="0"/>
              <a:buNone/>
              <a:defRPr/>
            </a:pPr>
            <a:endParaRPr lang="en-US" sz="2200" dirty="0"/>
          </a:p>
        </p:txBody>
      </p:sp>
    </p:spTree>
    <p:custDataLst>
      <p:tags r:id="rId1"/>
    </p:custData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1" descr=" 15">
            <a:extLst>
              <a:ext uri="{FF2B5EF4-FFF2-40B4-BE49-F238E27FC236}">
                <a16:creationId xmlns:a16="http://schemas.microsoft.com/office/drawing/2014/main" id="{CE3BB417-CEC1-4317-A0F5-A75A0B0D8AC7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2133600" y="4081947"/>
            <a:ext cx="1219200" cy="312738"/>
          </a:xfrm>
          <a:prstGeom prst="rect">
            <a:avLst/>
          </a:prstGeom>
          <a:ln>
            <a:headEnd type="none" w="sm" len="sm"/>
            <a:tailEnd type="none" w="sm" len="sm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/>
            <a:endParaRPr lang="en-US" sz="2400" dirty="0">
              <a:latin typeface="Calibri" pitchFamily="34" charset="0"/>
            </a:endParaRPr>
          </a:p>
        </p:txBody>
      </p:sp>
      <p:sp>
        <p:nvSpPr>
          <p:cNvPr id="2055" name="Rectangle 2"/>
          <p:cNvSpPr>
            <a:spLocks noGrp="1" noChangeArrowheads="1"/>
          </p:cNvSpPr>
          <p:nvPr>
            <p:ph type="title"/>
            <p:custDataLst>
              <p:tags r:id="rId3"/>
            </p:custDataLst>
          </p:nvPr>
        </p:nvSpPr>
        <p:spPr>
          <a:xfrm>
            <a:off x="457200" y="274638"/>
            <a:ext cx="7467600" cy="1143000"/>
          </a:xfrm>
        </p:spPr>
        <p:txBody>
          <a:bodyPr/>
          <a:lstStyle/>
          <a:p>
            <a:r>
              <a:rPr lang="en-US" altLang="en-US" dirty="0"/>
              <a:t>Cache Coherence Problem</a:t>
            </a:r>
          </a:p>
        </p:txBody>
      </p:sp>
      <p:sp>
        <p:nvSpPr>
          <p:cNvPr id="2056" name="Rectangle 3"/>
          <p:cNvSpPr>
            <a:spLocks noGrp="1" noChangeArrowheads="1"/>
          </p:cNvSpPr>
          <p:nvPr>
            <p:ph idx="1"/>
            <p:custDataLst>
              <p:tags r:id="rId4"/>
            </p:custDataLst>
          </p:nvPr>
        </p:nvSpPr>
        <p:spPr>
          <a:xfrm>
            <a:off x="682625" y="1600200"/>
            <a:ext cx="8308975" cy="1295400"/>
          </a:xfrm>
        </p:spPr>
        <p:txBody>
          <a:bodyPr/>
          <a:lstStyle/>
          <a:p>
            <a:pPr marL="0" indent="0">
              <a:lnSpc>
                <a:spcPct val="80000"/>
              </a:lnSpc>
              <a:buNone/>
            </a:pPr>
            <a:r>
              <a:rPr lang="en-US" altLang="en-US" sz="2800" dirty="0"/>
              <a:t>A block X can exist in multiple </a:t>
            </a:r>
            <a:r>
              <a:rPr lang="en-US" altLang="en-US" sz="2800" b="1" dirty="0"/>
              <a:t>private</a:t>
            </a:r>
            <a:r>
              <a:rPr lang="en-US" altLang="en-US" sz="2800" dirty="0"/>
              <a:t> caches at any given moment. If one core modifies X, unless other cores are immediately made aware of this change, the other cores may read the </a:t>
            </a:r>
            <a:r>
              <a:rPr lang="en-US" altLang="en-US" sz="2800" b="1" dirty="0"/>
              <a:t>stale (wrong) </a:t>
            </a:r>
            <a:r>
              <a:rPr lang="en-US" altLang="en-US" sz="2800" dirty="0"/>
              <a:t>contents of X.</a:t>
            </a:r>
          </a:p>
        </p:txBody>
      </p:sp>
      <p:sp>
        <p:nvSpPr>
          <p:cNvPr id="2054" name="Slide Number Placeholder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 bwMode="auto">
          <a:xfrm>
            <a:off x="7620000" y="6356350"/>
            <a:ext cx="106680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 sz="1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eaLnBrk="0" hangingPunct="0">
              <a:defRPr sz="1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1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1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1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lvl="1" eaLnBrk="1" hangingPunct="1"/>
            <a:fld id="{CBC38AAC-2024-4792-9CC7-FB44A3777575}" type="slidenum">
              <a:rPr lang="en-US" altLang="en-US"/>
              <a:pPr lvl="1" eaLnBrk="1" hangingPunct="1"/>
              <a:t>2</a:t>
            </a:fld>
            <a:endParaRPr lang="en-US" altLang="en-US"/>
          </a:p>
        </p:txBody>
      </p:sp>
      <p:sp>
        <p:nvSpPr>
          <p:cNvPr id="5" name="Rectangle 4" descr=" 5">
            <a:extLst>
              <a:ext uri="{FF2B5EF4-FFF2-40B4-BE49-F238E27FC236}">
                <a16:creationId xmlns:a16="http://schemas.microsoft.com/office/drawing/2014/main" id="{EDE355B8-E286-4696-8B42-B19B51166A6E}"/>
              </a:ext>
            </a:extLst>
          </p:cNvPr>
          <p:cNvSpPr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2462806" y="5071802"/>
            <a:ext cx="4041084" cy="376238"/>
          </a:xfrm>
          <a:prstGeom prst="rect">
            <a:avLst/>
          </a:prstGeom>
          <a:ln>
            <a:headEnd type="none" w="sm" len="sm"/>
            <a:tailEnd type="none" w="sm" len="sm"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/>
            <a:r>
              <a:rPr lang="en-US" sz="2400" dirty="0">
                <a:latin typeface="Calibri" pitchFamily="34" charset="0"/>
              </a:rPr>
              <a:t>Bus</a:t>
            </a:r>
          </a:p>
        </p:txBody>
      </p:sp>
      <p:sp>
        <p:nvSpPr>
          <p:cNvPr id="6" name="Rectangle 6" descr=" 6">
            <a:extLst>
              <a:ext uri="{FF2B5EF4-FFF2-40B4-BE49-F238E27FC236}">
                <a16:creationId xmlns:a16="http://schemas.microsoft.com/office/drawing/2014/main" id="{D69625F6-D9BC-4773-B8F3-4888CE62BED5}"/>
              </a:ext>
            </a:extLst>
          </p:cNvPr>
          <p:cNvSpPr>
            <a:spLocks noChangeArrowheads="1"/>
          </p:cNvSpPr>
          <p:nvPr>
            <p:custDataLst>
              <p:tags r:id="rId7"/>
            </p:custDataLst>
          </p:nvPr>
        </p:nvSpPr>
        <p:spPr bwMode="auto">
          <a:xfrm>
            <a:off x="2326341" y="3273165"/>
            <a:ext cx="833719" cy="574675"/>
          </a:xfrm>
          <a:prstGeom prst="rect">
            <a:avLst/>
          </a:prstGeom>
          <a:ln>
            <a:headEnd type="none" w="sm" len="sm"/>
            <a:tailEnd type="none" w="sm" len="sm"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/>
            <a:r>
              <a:rPr lang="en-US" sz="2400" dirty="0">
                <a:latin typeface="Calibri" pitchFamily="34" charset="0"/>
              </a:rPr>
              <a:t>P1</a:t>
            </a:r>
          </a:p>
        </p:txBody>
      </p:sp>
      <p:cxnSp>
        <p:nvCxnSpPr>
          <p:cNvPr id="7" name="AutoShape 9" descr=" 7">
            <a:extLst>
              <a:ext uri="{FF2B5EF4-FFF2-40B4-BE49-F238E27FC236}">
                <a16:creationId xmlns:a16="http://schemas.microsoft.com/office/drawing/2014/main" id="{FB829A3E-4309-4B4E-91AE-79E4B807B46F}"/>
              </a:ext>
            </a:extLst>
          </p:cNvPr>
          <p:cNvCxnSpPr>
            <a:cxnSpLocks noChangeShapeType="1"/>
          </p:cNvCxnSpPr>
          <p:nvPr>
            <p:custDataLst>
              <p:tags r:id="rId8"/>
            </p:custDataLst>
          </p:nvPr>
        </p:nvCxnSpPr>
        <p:spPr bwMode="auto">
          <a:xfrm rot="5400000">
            <a:off x="2634457" y="3973203"/>
            <a:ext cx="217488" cy="1"/>
          </a:xfrm>
          <a:prstGeom prst="bentConnector3">
            <a:avLst>
              <a:gd name="adj1" fmla="val 50000"/>
            </a:avLst>
          </a:prstGeom>
          <a:noFill/>
          <a:ln w="12700">
            <a:solidFill>
              <a:schemeClr val="tx1"/>
            </a:solidFill>
            <a:miter lim="800000"/>
            <a:headEnd type="none" w="sm" len="sm"/>
            <a:tailEnd type="triangle" w="med" len="med"/>
          </a:ln>
        </p:spPr>
      </p:cxnSp>
      <p:sp>
        <p:nvSpPr>
          <p:cNvPr id="8" name="Line 10" descr=" 8">
            <a:extLst>
              <a:ext uri="{FF2B5EF4-FFF2-40B4-BE49-F238E27FC236}">
                <a16:creationId xmlns:a16="http://schemas.microsoft.com/office/drawing/2014/main" id="{3AE748C1-0FFF-4A5E-AD2C-71E099112ABD}"/>
              </a:ext>
            </a:extLst>
          </p:cNvPr>
          <p:cNvSpPr>
            <a:spLocks noChangeShapeType="1"/>
          </p:cNvSpPr>
          <p:nvPr>
            <p:custDataLst>
              <p:tags r:id="rId9"/>
            </p:custDataLst>
          </p:nvPr>
        </p:nvSpPr>
        <p:spPr bwMode="auto">
          <a:xfrm>
            <a:off x="2752165" y="4695005"/>
            <a:ext cx="0" cy="37782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med" len="med"/>
          </a:ln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9" name="Rectangle 14" descr=" 10">
            <a:extLst>
              <a:ext uri="{FF2B5EF4-FFF2-40B4-BE49-F238E27FC236}">
                <a16:creationId xmlns:a16="http://schemas.microsoft.com/office/drawing/2014/main" id="{19C9A5C2-82A6-4618-AEF4-D796B42B9D28}"/>
              </a:ext>
            </a:extLst>
          </p:cNvPr>
          <p:cNvSpPr>
            <a:spLocks noChangeArrowheads="1"/>
          </p:cNvSpPr>
          <p:nvPr>
            <p:custDataLst>
              <p:tags r:id="rId10"/>
            </p:custDataLst>
          </p:nvPr>
        </p:nvSpPr>
        <p:spPr bwMode="auto">
          <a:xfrm>
            <a:off x="5907741" y="3273165"/>
            <a:ext cx="833719" cy="574675"/>
          </a:xfrm>
          <a:prstGeom prst="rect">
            <a:avLst/>
          </a:prstGeom>
          <a:ln>
            <a:headEnd type="none" w="sm" len="sm"/>
            <a:tailEnd type="none" w="sm" len="sm"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/>
            <a:r>
              <a:rPr lang="en-US" sz="2400" dirty="0">
                <a:latin typeface="Calibri" pitchFamily="34" charset="0"/>
              </a:rPr>
              <a:t>P2</a:t>
            </a:r>
          </a:p>
        </p:txBody>
      </p:sp>
      <p:cxnSp>
        <p:nvCxnSpPr>
          <p:cNvPr id="10" name="AutoShape 17" descr=" 11">
            <a:extLst>
              <a:ext uri="{FF2B5EF4-FFF2-40B4-BE49-F238E27FC236}">
                <a16:creationId xmlns:a16="http://schemas.microsoft.com/office/drawing/2014/main" id="{E0521808-8B71-4CD4-9BE9-B6CFFD252860}"/>
              </a:ext>
            </a:extLst>
          </p:cNvPr>
          <p:cNvCxnSpPr>
            <a:cxnSpLocks noChangeShapeType="1"/>
            <a:stCxn id="9" idx="2"/>
            <a:endCxn id="15" idx="0"/>
          </p:cNvCxnSpPr>
          <p:nvPr>
            <p:custDataLst>
              <p:tags r:id="rId11"/>
            </p:custDataLst>
          </p:nvPr>
        </p:nvCxnSpPr>
        <p:spPr bwMode="auto">
          <a:xfrm rot="5400000">
            <a:off x="6210301" y="3962140"/>
            <a:ext cx="228600" cy="1"/>
          </a:xfrm>
          <a:prstGeom prst="bentConnector3">
            <a:avLst>
              <a:gd name="adj1" fmla="val 50000"/>
            </a:avLst>
          </a:prstGeom>
          <a:noFill/>
          <a:ln w="12700">
            <a:solidFill>
              <a:schemeClr val="tx1"/>
            </a:solidFill>
            <a:miter lim="800000"/>
            <a:headEnd type="none" w="sm" len="sm"/>
            <a:tailEnd type="triangle" w="med" len="med"/>
          </a:ln>
        </p:spPr>
      </p:cxnSp>
      <p:sp>
        <p:nvSpPr>
          <p:cNvPr id="11" name="Rectangle 21" descr=" 12">
            <a:extLst>
              <a:ext uri="{FF2B5EF4-FFF2-40B4-BE49-F238E27FC236}">
                <a16:creationId xmlns:a16="http://schemas.microsoft.com/office/drawing/2014/main" id="{33B0E5F3-06D7-4950-A1EE-7474D266FA9B}"/>
              </a:ext>
            </a:extLst>
          </p:cNvPr>
          <p:cNvSpPr>
            <a:spLocks noChangeArrowheads="1"/>
          </p:cNvSpPr>
          <p:nvPr>
            <p:custDataLst>
              <p:tags r:id="rId12"/>
            </p:custDataLst>
          </p:nvPr>
        </p:nvSpPr>
        <p:spPr bwMode="auto">
          <a:xfrm>
            <a:off x="3338278" y="5760778"/>
            <a:ext cx="2290141" cy="312738"/>
          </a:xfrm>
          <a:prstGeom prst="rect">
            <a:avLst/>
          </a:prstGeom>
          <a:ln>
            <a:headEnd type="none" w="sm" len="sm"/>
            <a:tailEnd type="none" w="sm" len="sm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/>
            <a:r>
              <a:rPr lang="en-US" sz="2000" dirty="0">
                <a:latin typeface="Calibri" pitchFamily="34" charset="0"/>
              </a:rPr>
              <a:t>X: 51,40,…</a:t>
            </a:r>
            <a:endParaRPr lang="en-US" sz="2400" dirty="0">
              <a:latin typeface="Calibri" pitchFamily="34" charset="0"/>
            </a:endParaRPr>
          </a:p>
        </p:txBody>
      </p:sp>
      <p:sp>
        <p:nvSpPr>
          <p:cNvPr id="12" name="Line 10" descr=" 13">
            <a:extLst>
              <a:ext uri="{FF2B5EF4-FFF2-40B4-BE49-F238E27FC236}">
                <a16:creationId xmlns:a16="http://schemas.microsoft.com/office/drawing/2014/main" id="{2766B6C8-0F2B-4CBE-B18A-2AA179550756}"/>
              </a:ext>
            </a:extLst>
          </p:cNvPr>
          <p:cNvSpPr>
            <a:spLocks noChangeShapeType="1"/>
          </p:cNvSpPr>
          <p:nvPr>
            <p:custDataLst>
              <p:tags r:id="rId13"/>
            </p:custDataLst>
          </p:nvPr>
        </p:nvSpPr>
        <p:spPr bwMode="auto">
          <a:xfrm>
            <a:off x="6324600" y="4686040"/>
            <a:ext cx="0" cy="37782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med" len="med"/>
          </a:ln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cxnSp>
        <p:nvCxnSpPr>
          <p:cNvPr id="13" name="Straight Arrow Connector 12" descr=" 14">
            <a:extLst>
              <a:ext uri="{FF2B5EF4-FFF2-40B4-BE49-F238E27FC236}">
                <a16:creationId xmlns:a16="http://schemas.microsoft.com/office/drawing/2014/main" id="{942E8D10-FE0C-444F-BA46-F64AB115E845}"/>
              </a:ext>
            </a:extLst>
          </p:cNvPr>
          <p:cNvCxnSpPr>
            <a:stCxn id="5" idx="2"/>
            <a:endCxn id="11" idx="0"/>
          </p:cNvCxnSpPr>
          <p:nvPr/>
        </p:nvCxnSpPr>
        <p:spPr bwMode="auto">
          <a:xfrm rot="16200000" flipH="1">
            <a:off x="4326979" y="5604408"/>
            <a:ext cx="312738" cy="1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15" name="Rectangle 21" descr=" 16">
            <a:extLst>
              <a:ext uri="{FF2B5EF4-FFF2-40B4-BE49-F238E27FC236}">
                <a16:creationId xmlns:a16="http://schemas.microsoft.com/office/drawing/2014/main" id="{31A0AD37-7542-4F47-9814-213E540FEF69}"/>
              </a:ext>
            </a:extLst>
          </p:cNvPr>
          <p:cNvSpPr>
            <a:spLocks noChangeArrowheads="1"/>
          </p:cNvSpPr>
          <p:nvPr>
            <p:custDataLst>
              <p:tags r:id="rId14"/>
            </p:custDataLst>
          </p:nvPr>
        </p:nvSpPr>
        <p:spPr bwMode="auto">
          <a:xfrm>
            <a:off x="5715000" y="4076440"/>
            <a:ext cx="1219200" cy="312738"/>
          </a:xfrm>
          <a:prstGeom prst="rect">
            <a:avLst/>
          </a:prstGeom>
          <a:ln>
            <a:headEnd type="none" w="sm" len="sm"/>
            <a:tailEnd type="none" w="sm" len="sm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/>
            <a:endParaRPr lang="en-US" sz="2400" dirty="0">
              <a:latin typeface="Calibri" pitchFamily="34" charset="0"/>
            </a:endParaRPr>
          </a:p>
        </p:txBody>
      </p:sp>
      <p:sp>
        <p:nvSpPr>
          <p:cNvPr id="16" name="TextBox 15" descr=" 17">
            <a:extLst>
              <a:ext uri="{FF2B5EF4-FFF2-40B4-BE49-F238E27FC236}">
                <a16:creationId xmlns:a16="http://schemas.microsoft.com/office/drawing/2014/main" id="{EA522BB3-BBBD-4687-BCEB-E94B1A0F0D3E}"/>
              </a:ext>
            </a:extLst>
          </p:cNvPr>
          <p:cNvSpPr txBox="1"/>
          <p:nvPr>
            <p:custDataLst>
              <p:tags r:id="rId15"/>
            </p:custDataLst>
          </p:nvPr>
        </p:nvSpPr>
        <p:spPr>
          <a:xfrm>
            <a:off x="5638800" y="6057640"/>
            <a:ext cx="137351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latin typeface="+mn-lt"/>
              </a:rPr>
              <a:t>Main Memory</a:t>
            </a:r>
          </a:p>
        </p:txBody>
      </p:sp>
      <p:sp>
        <p:nvSpPr>
          <p:cNvPr id="17" name="Rectangle 22" descr=" 24">
            <a:extLst>
              <a:ext uri="{FF2B5EF4-FFF2-40B4-BE49-F238E27FC236}">
                <a16:creationId xmlns:a16="http://schemas.microsoft.com/office/drawing/2014/main" id="{A90CB2CB-1A09-4341-A1E3-CBF2F3A75203}"/>
              </a:ext>
            </a:extLst>
          </p:cNvPr>
          <p:cNvSpPr>
            <a:spLocks noChangeArrowheads="1"/>
          </p:cNvSpPr>
          <p:nvPr>
            <p:custDataLst>
              <p:tags r:id="rId16"/>
            </p:custDataLst>
          </p:nvPr>
        </p:nvSpPr>
        <p:spPr bwMode="auto">
          <a:xfrm>
            <a:off x="2133600" y="4381240"/>
            <a:ext cx="1219200" cy="312738"/>
          </a:xfrm>
          <a:prstGeom prst="rect">
            <a:avLst/>
          </a:prstGeom>
          <a:ln>
            <a:headEnd type="none" w="sm" len="sm"/>
            <a:tailEnd type="none" w="sm" len="sm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/>
            <a:endParaRPr lang="en-US" sz="2400" dirty="0">
              <a:latin typeface="Calibri" pitchFamily="34" charset="0"/>
            </a:endParaRPr>
          </a:p>
        </p:txBody>
      </p:sp>
      <p:sp>
        <p:nvSpPr>
          <p:cNvPr id="18" name="Rectangle 22" descr=" 25">
            <a:extLst>
              <a:ext uri="{FF2B5EF4-FFF2-40B4-BE49-F238E27FC236}">
                <a16:creationId xmlns:a16="http://schemas.microsoft.com/office/drawing/2014/main" id="{DF4A33AA-A93B-40BE-AEC9-149E924A2C29}"/>
              </a:ext>
            </a:extLst>
          </p:cNvPr>
          <p:cNvSpPr>
            <a:spLocks noChangeArrowheads="1"/>
          </p:cNvSpPr>
          <p:nvPr>
            <p:custDataLst>
              <p:tags r:id="rId17"/>
            </p:custDataLst>
          </p:nvPr>
        </p:nvSpPr>
        <p:spPr bwMode="auto">
          <a:xfrm>
            <a:off x="5715000" y="4392352"/>
            <a:ext cx="1219200" cy="312738"/>
          </a:xfrm>
          <a:prstGeom prst="rect">
            <a:avLst/>
          </a:prstGeom>
          <a:ln>
            <a:headEnd type="none" w="sm" len="sm"/>
            <a:tailEnd type="none" w="sm" len="sm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/>
            <a:endParaRPr lang="en-US" sz="2400" dirty="0">
              <a:latin typeface="Calibri" pitchFamily="34" charset="0"/>
            </a:endParaRPr>
          </a:p>
        </p:txBody>
      </p:sp>
      <p:sp>
        <p:nvSpPr>
          <p:cNvPr id="19" name="Rectangle 22" descr=" 26">
            <a:extLst>
              <a:ext uri="{FF2B5EF4-FFF2-40B4-BE49-F238E27FC236}">
                <a16:creationId xmlns:a16="http://schemas.microsoft.com/office/drawing/2014/main" id="{7925C335-3B0E-40B4-837E-DE3758F69EB2}"/>
              </a:ext>
            </a:extLst>
          </p:cNvPr>
          <p:cNvSpPr>
            <a:spLocks noChangeArrowheads="1"/>
          </p:cNvSpPr>
          <p:nvPr>
            <p:custDataLst>
              <p:tags r:id="rId18"/>
            </p:custDataLst>
          </p:nvPr>
        </p:nvSpPr>
        <p:spPr bwMode="auto">
          <a:xfrm>
            <a:off x="3338278" y="6076690"/>
            <a:ext cx="2290141" cy="312738"/>
          </a:xfrm>
          <a:prstGeom prst="rect">
            <a:avLst/>
          </a:prstGeom>
          <a:ln>
            <a:headEnd type="none" w="sm" len="sm"/>
            <a:tailEnd type="none" w="sm" len="sm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/>
            <a:endParaRPr lang="en-US" sz="2400" dirty="0">
              <a:latin typeface="Calibri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B5B228C-9941-4C73-BF63-2470C1F9A157}"/>
              </a:ext>
            </a:extLst>
          </p:cNvPr>
          <p:cNvSpPr txBox="1"/>
          <p:nvPr>
            <p:custDataLst>
              <p:tags r:id="rId19"/>
            </p:custDataLst>
          </p:nvPr>
        </p:nvSpPr>
        <p:spPr>
          <a:xfrm>
            <a:off x="-151082" y="4648200"/>
            <a:ext cx="2437082" cy="560717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ctr"/>
            <a:r>
              <a:rPr lang="en-US" sz="1600" dirty="0">
                <a:latin typeface="+mn-lt"/>
              </a:rPr>
              <a:t>assume write-back,</a:t>
            </a:r>
          </a:p>
          <a:p>
            <a:pPr algn="ctr"/>
            <a:r>
              <a:rPr lang="en-US" sz="1600" dirty="0">
                <a:latin typeface="+mn-lt"/>
              </a:rPr>
              <a:t>write-allocate L1 cache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7E1D3498-359D-42B5-B693-E6409DB6E023}"/>
              </a:ext>
            </a:extLst>
          </p:cNvPr>
          <p:cNvCxnSpPr>
            <a:cxnSpLocks/>
          </p:cNvCxnSpPr>
          <p:nvPr/>
        </p:nvCxnSpPr>
        <p:spPr>
          <a:xfrm flipV="1">
            <a:off x="1905000" y="4534586"/>
            <a:ext cx="398493" cy="28840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23361968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1" descr=" 15">
            <a:extLst>
              <a:ext uri="{FF2B5EF4-FFF2-40B4-BE49-F238E27FC236}">
                <a16:creationId xmlns:a16="http://schemas.microsoft.com/office/drawing/2014/main" id="{CE3BB417-CEC1-4317-A0F5-A75A0B0D8AC7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2133600" y="4081947"/>
            <a:ext cx="1219200" cy="312738"/>
          </a:xfrm>
          <a:prstGeom prst="rect">
            <a:avLst/>
          </a:prstGeom>
          <a:ln>
            <a:headEnd type="none" w="sm" len="sm"/>
            <a:tailEnd type="none" w="sm" len="sm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/>
            <a:endParaRPr lang="en-US" sz="2400" dirty="0">
              <a:latin typeface="Calibri" pitchFamily="34" charset="0"/>
            </a:endParaRPr>
          </a:p>
        </p:txBody>
      </p:sp>
      <p:sp>
        <p:nvSpPr>
          <p:cNvPr id="2055" name="Rectangle 2"/>
          <p:cNvSpPr>
            <a:spLocks noGrp="1" noChangeArrowheads="1"/>
          </p:cNvSpPr>
          <p:nvPr>
            <p:ph type="title"/>
            <p:custDataLst>
              <p:tags r:id="rId3"/>
            </p:custDataLst>
          </p:nvPr>
        </p:nvSpPr>
        <p:spPr>
          <a:xfrm>
            <a:off x="457200" y="274638"/>
            <a:ext cx="7467600" cy="1143000"/>
          </a:xfrm>
        </p:spPr>
        <p:txBody>
          <a:bodyPr/>
          <a:lstStyle/>
          <a:p>
            <a:r>
              <a:rPr lang="en-US" altLang="en-US" dirty="0"/>
              <a:t>Cache Coherence Problem</a:t>
            </a:r>
          </a:p>
        </p:txBody>
      </p:sp>
      <p:sp>
        <p:nvSpPr>
          <p:cNvPr id="2056" name="Rectangle 3"/>
          <p:cNvSpPr>
            <a:spLocks noGrp="1" noChangeArrowheads="1"/>
          </p:cNvSpPr>
          <p:nvPr>
            <p:ph idx="1"/>
            <p:custDataLst>
              <p:tags r:id="rId4"/>
            </p:custDataLst>
          </p:nvPr>
        </p:nvSpPr>
        <p:spPr>
          <a:xfrm>
            <a:off x="682625" y="1600200"/>
            <a:ext cx="8308975" cy="1295400"/>
          </a:xfrm>
        </p:spPr>
        <p:txBody>
          <a:bodyPr/>
          <a:lstStyle/>
          <a:p>
            <a:pPr marL="0" indent="0">
              <a:lnSpc>
                <a:spcPct val="80000"/>
              </a:lnSpc>
              <a:buNone/>
            </a:pPr>
            <a:r>
              <a:rPr lang="en-US" altLang="en-US" sz="2800" dirty="0"/>
              <a:t>A block X can exist in multiple </a:t>
            </a:r>
            <a:r>
              <a:rPr lang="en-US" altLang="en-US" sz="2800" b="1" dirty="0"/>
              <a:t>private</a:t>
            </a:r>
            <a:r>
              <a:rPr lang="en-US" altLang="en-US" sz="2800" dirty="0"/>
              <a:t> caches at any given moment. If one core modifies X, unless other cores are immediately made aware of this change, the other cores may read the </a:t>
            </a:r>
            <a:r>
              <a:rPr lang="en-US" altLang="en-US" sz="2800" b="1" dirty="0"/>
              <a:t>stale (wrong) </a:t>
            </a:r>
            <a:r>
              <a:rPr lang="en-US" altLang="en-US" sz="2800" dirty="0"/>
              <a:t>contents of X.</a:t>
            </a:r>
          </a:p>
        </p:txBody>
      </p:sp>
      <p:sp>
        <p:nvSpPr>
          <p:cNvPr id="2054" name="Slide Number Placeholder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 bwMode="auto">
          <a:xfrm>
            <a:off x="7620000" y="6356350"/>
            <a:ext cx="106680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 sz="1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eaLnBrk="0" hangingPunct="0">
              <a:defRPr sz="1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1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1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1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lvl="1" eaLnBrk="1" hangingPunct="1"/>
            <a:fld id="{CBC38AAC-2024-4792-9CC7-FB44A3777575}" type="slidenum">
              <a:rPr lang="en-US" altLang="en-US"/>
              <a:pPr lvl="1" eaLnBrk="1" hangingPunct="1"/>
              <a:t>3</a:t>
            </a:fld>
            <a:endParaRPr lang="en-US" altLang="en-US"/>
          </a:p>
        </p:txBody>
      </p:sp>
      <p:sp>
        <p:nvSpPr>
          <p:cNvPr id="5" name="Rectangle 4" descr=" 5">
            <a:extLst>
              <a:ext uri="{FF2B5EF4-FFF2-40B4-BE49-F238E27FC236}">
                <a16:creationId xmlns:a16="http://schemas.microsoft.com/office/drawing/2014/main" id="{EDE355B8-E286-4696-8B42-B19B51166A6E}"/>
              </a:ext>
            </a:extLst>
          </p:cNvPr>
          <p:cNvSpPr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2462806" y="5071802"/>
            <a:ext cx="4041084" cy="376238"/>
          </a:xfrm>
          <a:prstGeom prst="rect">
            <a:avLst/>
          </a:prstGeom>
          <a:ln>
            <a:headEnd type="none" w="sm" len="sm"/>
            <a:tailEnd type="none" w="sm" len="sm"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/>
            <a:r>
              <a:rPr lang="en-US" sz="2400" dirty="0">
                <a:latin typeface="Calibri" pitchFamily="34" charset="0"/>
              </a:rPr>
              <a:t>Bus</a:t>
            </a:r>
          </a:p>
        </p:txBody>
      </p:sp>
      <p:sp>
        <p:nvSpPr>
          <p:cNvPr id="6" name="Rectangle 6" descr=" 6">
            <a:extLst>
              <a:ext uri="{FF2B5EF4-FFF2-40B4-BE49-F238E27FC236}">
                <a16:creationId xmlns:a16="http://schemas.microsoft.com/office/drawing/2014/main" id="{D69625F6-D9BC-4773-B8F3-4888CE62BED5}"/>
              </a:ext>
            </a:extLst>
          </p:cNvPr>
          <p:cNvSpPr>
            <a:spLocks noChangeArrowheads="1"/>
          </p:cNvSpPr>
          <p:nvPr>
            <p:custDataLst>
              <p:tags r:id="rId7"/>
            </p:custDataLst>
          </p:nvPr>
        </p:nvSpPr>
        <p:spPr bwMode="auto">
          <a:xfrm>
            <a:off x="2326341" y="3273165"/>
            <a:ext cx="833719" cy="574675"/>
          </a:xfrm>
          <a:prstGeom prst="rect">
            <a:avLst/>
          </a:prstGeom>
          <a:ln>
            <a:headEnd type="none" w="sm" len="sm"/>
            <a:tailEnd type="none" w="sm" len="sm"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/>
            <a:r>
              <a:rPr lang="en-US" sz="2400" dirty="0">
                <a:latin typeface="Calibri" pitchFamily="34" charset="0"/>
              </a:rPr>
              <a:t>P1</a:t>
            </a:r>
          </a:p>
        </p:txBody>
      </p:sp>
      <p:cxnSp>
        <p:nvCxnSpPr>
          <p:cNvPr id="7" name="AutoShape 9" descr=" 7">
            <a:extLst>
              <a:ext uri="{FF2B5EF4-FFF2-40B4-BE49-F238E27FC236}">
                <a16:creationId xmlns:a16="http://schemas.microsoft.com/office/drawing/2014/main" id="{FB829A3E-4309-4B4E-91AE-79E4B807B46F}"/>
              </a:ext>
            </a:extLst>
          </p:cNvPr>
          <p:cNvCxnSpPr>
            <a:cxnSpLocks noChangeShapeType="1"/>
          </p:cNvCxnSpPr>
          <p:nvPr>
            <p:custDataLst>
              <p:tags r:id="rId8"/>
            </p:custDataLst>
          </p:nvPr>
        </p:nvCxnSpPr>
        <p:spPr bwMode="auto">
          <a:xfrm rot="5400000">
            <a:off x="2634457" y="3973203"/>
            <a:ext cx="217488" cy="1"/>
          </a:xfrm>
          <a:prstGeom prst="bentConnector3">
            <a:avLst>
              <a:gd name="adj1" fmla="val 50000"/>
            </a:avLst>
          </a:prstGeom>
          <a:noFill/>
          <a:ln w="12700">
            <a:solidFill>
              <a:schemeClr val="tx1"/>
            </a:solidFill>
            <a:miter lim="800000"/>
            <a:headEnd type="none" w="sm" len="sm"/>
            <a:tailEnd type="triangle" w="med" len="med"/>
          </a:ln>
        </p:spPr>
      </p:cxnSp>
      <p:sp>
        <p:nvSpPr>
          <p:cNvPr id="8" name="Line 10" descr=" 8">
            <a:extLst>
              <a:ext uri="{FF2B5EF4-FFF2-40B4-BE49-F238E27FC236}">
                <a16:creationId xmlns:a16="http://schemas.microsoft.com/office/drawing/2014/main" id="{3AE748C1-0FFF-4A5E-AD2C-71E099112ABD}"/>
              </a:ext>
            </a:extLst>
          </p:cNvPr>
          <p:cNvSpPr>
            <a:spLocks noChangeShapeType="1"/>
          </p:cNvSpPr>
          <p:nvPr>
            <p:custDataLst>
              <p:tags r:id="rId9"/>
            </p:custDataLst>
          </p:nvPr>
        </p:nvSpPr>
        <p:spPr bwMode="auto">
          <a:xfrm>
            <a:off x="2752165" y="4695005"/>
            <a:ext cx="0" cy="37782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med" len="med"/>
          </a:ln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9" name="Rectangle 14" descr=" 10">
            <a:extLst>
              <a:ext uri="{FF2B5EF4-FFF2-40B4-BE49-F238E27FC236}">
                <a16:creationId xmlns:a16="http://schemas.microsoft.com/office/drawing/2014/main" id="{19C9A5C2-82A6-4618-AEF4-D796B42B9D28}"/>
              </a:ext>
            </a:extLst>
          </p:cNvPr>
          <p:cNvSpPr>
            <a:spLocks noChangeArrowheads="1"/>
          </p:cNvSpPr>
          <p:nvPr>
            <p:custDataLst>
              <p:tags r:id="rId10"/>
            </p:custDataLst>
          </p:nvPr>
        </p:nvSpPr>
        <p:spPr bwMode="auto">
          <a:xfrm>
            <a:off x="5907741" y="3273165"/>
            <a:ext cx="833719" cy="574675"/>
          </a:xfrm>
          <a:prstGeom prst="rect">
            <a:avLst/>
          </a:prstGeom>
          <a:ln>
            <a:headEnd type="none" w="sm" len="sm"/>
            <a:tailEnd type="none" w="sm" len="sm"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/>
            <a:r>
              <a:rPr lang="en-US" sz="2400" dirty="0">
                <a:latin typeface="Calibri" pitchFamily="34" charset="0"/>
              </a:rPr>
              <a:t>P2</a:t>
            </a:r>
          </a:p>
        </p:txBody>
      </p:sp>
      <p:cxnSp>
        <p:nvCxnSpPr>
          <p:cNvPr id="10" name="AutoShape 17" descr=" 11">
            <a:extLst>
              <a:ext uri="{FF2B5EF4-FFF2-40B4-BE49-F238E27FC236}">
                <a16:creationId xmlns:a16="http://schemas.microsoft.com/office/drawing/2014/main" id="{E0521808-8B71-4CD4-9BE9-B6CFFD252860}"/>
              </a:ext>
            </a:extLst>
          </p:cNvPr>
          <p:cNvCxnSpPr>
            <a:cxnSpLocks noChangeShapeType="1"/>
            <a:stCxn id="9" idx="2"/>
            <a:endCxn id="15" idx="0"/>
          </p:cNvCxnSpPr>
          <p:nvPr>
            <p:custDataLst>
              <p:tags r:id="rId11"/>
            </p:custDataLst>
          </p:nvPr>
        </p:nvCxnSpPr>
        <p:spPr bwMode="auto">
          <a:xfrm rot="5400000">
            <a:off x="6210301" y="3962140"/>
            <a:ext cx="228600" cy="1"/>
          </a:xfrm>
          <a:prstGeom prst="bentConnector3">
            <a:avLst>
              <a:gd name="adj1" fmla="val 50000"/>
            </a:avLst>
          </a:prstGeom>
          <a:noFill/>
          <a:ln w="12700">
            <a:solidFill>
              <a:schemeClr val="tx1"/>
            </a:solidFill>
            <a:miter lim="800000"/>
            <a:headEnd type="none" w="sm" len="sm"/>
            <a:tailEnd type="triangle" w="med" len="med"/>
          </a:ln>
        </p:spPr>
      </p:cxnSp>
      <p:sp>
        <p:nvSpPr>
          <p:cNvPr id="11" name="Rectangle 21" descr=" 12">
            <a:extLst>
              <a:ext uri="{FF2B5EF4-FFF2-40B4-BE49-F238E27FC236}">
                <a16:creationId xmlns:a16="http://schemas.microsoft.com/office/drawing/2014/main" id="{33B0E5F3-06D7-4950-A1EE-7474D266FA9B}"/>
              </a:ext>
            </a:extLst>
          </p:cNvPr>
          <p:cNvSpPr>
            <a:spLocks noChangeArrowheads="1"/>
          </p:cNvSpPr>
          <p:nvPr>
            <p:custDataLst>
              <p:tags r:id="rId12"/>
            </p:custDataLst>
          </p:nvPr>
        </p:nvSpPr>
        <p:spPr bwMode="auto">
          <a:xfrm>
            <a:off x="3338278" y="5760778"/>
            <a:ext cx="2290141" cy="312738"/>
          </a:xfrm>
          <a:prstGeom prst="rect">
            <a:avLst/>
          </a:prstGeom>
          <a:ln>
            <a:headEnd type="none" w="sm" len="sm"/>
            <a:tailEnd type="none" w="sm" len="sm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/>
            <a:r>
              <a:rPr lang="en-US" sz="2000" dirty="0">
                <a:latin typeface="Calibri" pitchFamily="34" charset="0"/>
              </a:rPr>
              <a:t>X: 51,40,…</a:t>
            </a:r>
            <a:endParaRPr lang="en-US" sz="2400" dirty="0">
              <a:latin typeface="Calibri" pitchFamily="34" charset="0"/>
            </a:endParaRPr>
          </a:p>
        </p:txBody>
      </p:sp>
      <p:sp>
        <p:nvSpPr>
          <p:cNvPr id="12" name="Line 10" descr=" 13">
            <a:extLst>
              <a:ext uri="{FF2B5EF4-FFF2-40B4-BE49-F238E27FC236}">
                <a16:creationId xmlns:a16="http://schemas.microsoft.com/office/drawing/2014/main" id="{2766B6C8-0F2B-4CBE-B18A-2AA179550756}"/>
              </a:ext>
            </a:extLst>
          </p:cNvPr>
          <p:cNvSpPr>
            <a:spLocks noChangeShapeType="1"/>
          </p:cNvSpPr>
          <p:nvPr>
            <p:custDataLst>
              <p:tags r:id="rId13"/>
            </p:custDataLst>
          </p:nvPr>
        </p:nvSpPr>
        <p:spPr bwMode="auto">
          <a:xfrm>
            <a:off x="6324600" y="4686040"/>
            <a:ext cx="0" cy="37782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med" len="med"/>
          </a:ln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cxnSp>
        <p:nvCxnSpPr>
          <p:cNvPr id="13" name="Straight Arrow Connector 12" descr=" 14">
            <a:extLst>
              <a:ext uri="{FF2B5EF4-FFF2-40B4-BE49-F238E27FC236}">
                <a16:creationId xmlns:a16="http://schemas.microsoft.com/office/drawing/2014/main" id="{942E8D10-FE0C-444F-BA46-F64AB115E845}"/>
              </a:ext>
            </a:extLst>
          </p:cNvPr>
          <p:cNvCxnSpPr>
            <a:stCxn id="5" idx="2"/>
            <a:endCxn id="11" idx="0"/>
          </p:cNvCxnSpPr>
          <p:nvPr/>
        </p:nvCxnSpPr>
        <p:spPr bwMode="auto">
          <a:xfrm rot="16200000" flipH="1">
            <a:off x="4326979" y="5604408"/>
            <a:ext cx="312738" cy="1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15" name="Rectangle 21" descr=" 16">
            <a:extLst>
              <a:ext uri="{FF2B5EF4-FFF2-40B4-BE49-F238E27FC236}">
                <a16:creationId xmlns:a16="http://schemas.microsoft.com/office/drawing/2014/main" id="{31A0AD37-7542-4F47-9814-213E540FEF69}"/>
              </a:ext>
            </a:extLst>
          </p:cNvPr>
          <p:cNvSpPr>
            <a:spLocks noChangeArrowheads="1"/>
          </p:cNvSpPr>
          <p:nvPr>
            <p:custDataLst>
              <p:tags r:id="rId14"/>
            </p:custDataLst>
          </p:nvPr>
        </p:nvSpPr>
        <p:spPr bwMode="auto">
          <a:xfrm>
            <a:off x="5715000" y="4076440"/>
            <a:ext cx="1219200" cy="312738"/>
          </a:xfrm>
          <a:prstGeom prst="rect">
            <a:avLst/>
          </a:prstGeom>
          <a:ln>
            <a:headEnd type="none" w="sm" len="sm"/>
            <a:tailEnd type="none" w="sm" len="sm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/>
            <a:r>
              <a:rPr lang="en-US" sz="2000" dirty="0">
                <a:latin typeface="Calibri" pitchFamily="34" charset="0"/>
              </a:rPr>
              <a:t>X: 51,40,…</a:t>
            </a:r>
            <a:endParaRPr lang="en-US" sz="2400" dirty="0">
              <a:latin typeface="Calibri" pitchFamily="34" charset="0"/>
            </a:endParaRPr>
          </a:p>
        </p:txBody>
      </p:sp>
      <p:sp>
        <p:nvSpPr>
          <p:cNvPr id="16" name="TextBox 15" descr=" 17">
            <a:extLst>
              <a:ext uri="{FF2B5EF4-FFF2-40B4-BE49-F238E27FC236}">
                <a16:creationId xmlns:a16="http://schemas.microsoft.com/office/drawing/2014/main" id="{EA522BB3-BBBD-4687-BCEB-E94B1A0F0D3E}"/>
              </a:ext>
            </a:extLst>
          </p:cNvPr>
          <p:cNvSpPr txBox="1"/>
          <p:nvPr>
            <p:custDataLst>
              <p:tags r:id="rId15"/>
            </p:custDataLst>
          </p:nvPr>
        </p:nvSpPr>
        <p:spPr>
          <a:xfrm>
            <a:off x="5638800" y="6057640"/>
            <a:ext cx="137351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latin typeface="+mn-lt"/>
              </a:rPr>
              <a:t>Main Memory</a:t>
            </a:r>
          </a:p>
        </p:txBody>
      </p:sp>
      <p:sp>
        <p:nvSpPr>
          <p:cNvPr id="17" name="Rectangle 22" descr=" 24">
            <a:extLst>
              <a:ext uri="{FF2B5EF4-FFF2-40B4-BE49-F238E27FC236}">
                <a16:creationId xmlns:a16="http://schemas.microsoft.com/office/drawing/2014/main" id="{A90CB2CB-1A09-4341-A1E3-CBF2F3A75203}"/>
              </a:ext>
            </a:extLst>
          </p:cNvPr>
          <p:cNvSpPr>
            <a:spLocks noChangeArrowheads="1"/>
          </p:cNvSpPr>
          <p:nvPr>
            <p:custDataLst>
              <p:tags r:id="rId16"/>
            </p:custDataLst>
          </p:nvPr>
        </p:nvSpPr>
        <p:spPr bwMode="auto">
          <a:xfrm>
            <a:off x="2133600" y="4381240"/>
            <a:ext cx="1219200" cy="312738"/>
          </a:xfrm>
          <a:prstGeom prst="rect">
            <a:avLst/>
          </a:prstGeom>
          <a:ln>
            <a:headEnd type="none" w="sm" len="sm"/>
            <a:tailEnd type="none" w="sm" len="sm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/>
            <a:endParaRPr lang="en-US" sz="2400" dirty="0">
              <a:latin typeface="Calibri" pitchFamily="34" charset="0"/>
            </a:endParaRPr>
          </a:p>
        </p:txBody>
      </p:sp>
      <p:sp>
        <p:nvSpPr>
          <p:cNvPr id="18" name="Rectangle 22" descr=" 25">
            <a:extLst>
              <a:ext uri="{FF2B5EF4-FFF2-40B4-BE49-F238E27FC236}">
                <a16:creationId xmlns:a16="http://schemas.microsoft.com/office/drawing/2014/main" id="{DF4A33AA-A93B-40BE-AEC9-149E924A2C29}"/>
              </a:ext>
            </a:extLst>
          </p:cNvPr>
          <p:cNvSpPr>
            <a:spLocks noChangeArrowheads="1"/>
          </p:cNvSpPr>
          <p:nvPr>
            <p:custDataLst>
              <p:tags r:id="rId17"/>
            </p:custDataLst>
          </p:nvPr>
        </p:nvSpPr>
        <p:spPr bwMode="auto">
          <a:xfrm>
            <a:off x="5715000" y="4392352"/>
            <a:ext cx="1219200" cy="312738"/>
          </a:xfrm>
          <a:prstGeom prst="rect">
            <a:avLst/>
          </a:prstGeom>
          <a:ln>
            <a:headEnd type="none" w="sm" len="sm"/>
            <a:tailEnd type="none" w="sm" len="sm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/>
            <a:endParaRPr lang="en-US" sz="2400" dirty="0">
              <a:latin typeface="Calibri" pitchFamily="34" charset="0"/>
            </a:endParaRPr>
          </a:p>
        </p:txBody>
      </p:sp>
      <p:sp>
        <p:nvSpPr>
          <p:cNvPr id="19" name="Rectangle 22" descr=" 26">
            <a:extLst>
              <a:ext uri="{FF2B5EF4-FFF2-40B4-BE49-F238E27FC236}">
                <a16:creationId xmlns:a16="http://schemas.microsoft.com/office/drawing/2014/main" id="{7925C335-3B0E-40B4-837E-DE3758F69EB2}"/>
              </a:ext>
            </a:extLst>
          </p:cNvPr>
          <p:cNvSpPr>
            <a:spLocks noChangeArrowheads="1"/>
          </p:cNvSpPr>
          <p:nvPr>
            <p:custDataLst>
              <p:tags r:id="rId18"/>
            </p:custDataLst>
          </p:nvPr>
        </p:nvSpPr>
        <p:spPr bwMode="auto">
          <a:xfrm>
            <a:off x="3338278" y="6076690"/>
            <a:ext cx="2290141" cy="312738"/>
          </a:xfrm>
          <a:prstGeom prst="rect">
            <a:avLst/>
          </a:prstGeom>
          <a:ln>
            <a:headEnd type="none" w="sm" len="sm"/>
            <a:tailEnd type="none" w="sm" len="sm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/>
            <a:endParaRPr lang="en-US" sz="2400" dirty="0">
              <a:latin typeface="Calibri" pitchFamily="34" charset="0"/>
            </a:endParaRPr>
          </a:p>
        </p:txBody>
      </p:sp>
      <p:sp>
        <p:nvSpPr>
          <p:cNvPr id="20" name="Text Box 11" descr=" 9">
            <a:extLst>
              <a:ext uri="{FF2B5EF4-FFF2-40B4-BE49-F238E27FC236}">
                <a16:creationId xmlns:a16="http://schemas.microsoft.com/office/drawing/2014/main" id="{79F72ADC-1F7B-4F47-8FFC-1DA0B1E8AD0C}"/>
              </a:ext>
            </a:extLst>
          </p:cNvPr>
          <p:cNvSpPr txBox="1">
            <a:spLocks noChangeArrowheads="1"/>
          </p:cNvSpPr>
          <p:nvPr>
            <p:custDataLst>
              <p:tags r:id="rId19"/>
            </p:custDataLst>
          </p:nvPr>
        </p:nvSpPr>
        <p:spPr bwMode="auto">
          <a:xfrm>
            <a:off x="7086600" y="3986706"/>
            <a:ext cx="1806905" cy="40011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r>
              <a:rPr lang="en-US" sz="2000" dirty="0">
                <a:solidFill>
                  <a:srgbClr val="CC0000"/>
                </a:solidFill>
                <a:latin typeface="Calibri" pitchFamily="34" charset="0"/>
              </a:rPr>
              <a:t>1: </a:t>
            </a:r>
            <a:r>
              <a:rPr lang="en-US" sz="2000" dirty="0">
                <a:latin typeface="Calibri" pitchFamily="34" charset="0"/>
              </a:rPr>
              <a:t>Load X[0]=51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B5B228C-9941-4C73-BF63-2470C1F9A157}"/>
              </a:ext>
            </a:extLst>
          </p:cNvPr>
          <p:cNvSpPr txBox="1"/>
          <p:nvPr>
            <p:custDataLst>
              <p:tags r:id="rId20"/>
            </p:custDataLst>
          </p:nvPr>
        </p:nvSpPr>
        <p:spPr>
          <a:xfrm>
            <a:off x="-151082" y="4648200"/>
            <a:ext cx="2437082" cy="560717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ctr"/>
            <a:r>
              <a:rPr lang="en-US" sz="1600" dirty="0">
                <a:latin typeface="+mn-lt"/>
              </a:rPr>
              <a:t>assume write-back,</a:t>
            </a:r>
          </a:p>
          <a:p>
            <a:pPr algn="ctr"/>
            <a:r>
              <a:rPr lang="en-US" sz="1600" dirty="0">
                <a:latin typeface="+mn-lt"/>
              </a:rPr>
              <a:t>write-allocate L1 cache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7E1D3498-359D-42B5-B693-E6409DB6E023}"/>
              </a:ext>
            </a:extLst>
          </p:cNvPr>
          <p:cNvCxnSpPr>
            <a:cxnSpLocks/>
          </p:cNvCxnSpPr>
          <p:nvPr/>
        </p:nvCxnSpPr>
        <p:spPr>
          <a:xfrm flipV="1">
            <a:off x="1905000" y="4534586"/>
            <a:ext cx="398493" cy="28840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28123668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1" descr=" 15">
            <a:extLst>
              <a:ext uri="{FF2B5EF4-FFF2-40B4-BE49-F238E27FC236}">
                <a16:creationId xmlns:a16="http://schemas.microsoft.com/office/drawing/2014/main" id="{CE3BB417-CEC1-4317-A0F5-A75A0B0D8AC7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2133600" y="4081947"/>
            <a:ext cx="1219200" cy="312738"/>
          </a:xfrm>
          <a:prstGeom prst="rect">
            <a:avLst/>
          </a:prstGeom>
          <a:ln>
            <a:headEnd type="none" w="sm" len="sm"/>
            <a:tailEnd type="none" w="sm" len="sm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/>
            <a:r>
              <a:rPr lang="en-US" sz="2000" dirty="0">
                <a:latin typeface="Calibri" pitchFamily="34" charset="0"/>
              </a:rPr>
              <a:t>X: 51,37,…</a:t>
            </a:r>
            <a:endParaRPr lang="en-US" sz="2400" dirty="0">
              <a:latin typeface="Calibri" pitchFamily="34" charset="0"/>
            </a:endParaRPr>
          </a:p>
        </p:txBody>
      </p:sp>
      <p:sp>
        <p:nvSpPr>
          <p:cNvPr id="2055" name="Rectangle 2"/>
          <p:cNvSpPr>
            <a:spLocks noGrp="1" noChangeArrowheads="1"/>
          </p:cNvSpPr>
          <p:nvPr>
            <p:ph type="title"/>
            <p:custDataLst>
              <p:tags r:id="rId3"/>
            </p:custDataLst>
          </p:nvPr>
        </p:nvSpPr>
        <p:spPr>
          <a:xfrm>
            <a:off x="457200" y="274638"/>
            <a:ext cx="7467600" cy="1143000"/>
          </a:xfrm>
        </p:spPr>
        <p:txBody>
          <a:bodyPr/>
          <a:lstStyle/>
          <a:p>
            <a:r>
              <a:rPr lang="en-US" altLang="en-US" dirty="0"/>
              <a:t>Cache Coherence Problem</a:t>
            </a:r>
          </a:p>
        </p:txBody>
      </p:sp>
      <p:sp>
        <p:nvSpPr>
          <p:cNvPr id="2056" name="Rectangle 3"/>
          <p:cNvSpPr>
            <a:spLocks noGrp="1" noChangeArrowheads="1"/>
          </p:cNvSpPr>
          <p:nvPr>
            <p:ph idx="1"/>
            <p:custDataLst>
              <p:tags r:id="rId4"/>
            </p:custDataLst>
          </p:nvPr>
        </p:nvSpPr>
        <p:spPr>
          <a:xfrm>
            <a:off x="682625" y="1600200"/>
            <a:ext cx="8308975" cy="1295400"/>
          </a:xfrm>
        </p:spPr>
        <p:txBody>
          <a:bodyPr/>
          <a:lstStyle/>
          <a:p>
            <a:pPr marL="0" indent="0">
              <a:lnSpc>
                <a:spcPct val="80000"/>
              </a:lnSpc>
              <a:buNone/>
            </a:pPr>
            <a:r>
              <a:rPr lang="en-US" altLang="en-US" sz="2800" dirty="0"/>
              <a:t>A block X can exist in multiple </a:t>
            </a:r>
            <a:r>
              <a:rPr lang="en-US" altLang="en-US" sz="2800" b="1" dirty="0"/>
              <a:t>private</a:t>
            </a:r>
            <a:r>
              <a:rPr lang="en-US" altLang="en-US" sz="2800" dirty="0"/>
              <a:t> caches at any given moment. If one core modifies X, unless other cores are immediately made aware of this change, the other cores may read the </a:t>
            </a:r>
            <a:r>
              <a:rPr lang="en-US" altLang="en-US" sz="2800" b="1" dirty="0"/>
              <a:t>stale (wrong) </a:t>
            </a:r>
            <a:r>
              <a:rPr lang="en-US" altLang="en-US" sz="2800" dirty="0"/>
              <a:t>contents of X.</a:t>
            </a:r>
          </a:p>
        </p:txBody>
      </p:sp>
      <p:sp>
        <p:nvSpPr>
          <p:cNvPr id="2054" name="Slide Number Placeholder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 bwMode="auto">
          <a:xfrm>
            <a:off x="7620000" y="6356350"/>
            <a:ext cx="106680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 sz="1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eaLnBrk="0" hangingPunct="0">
              <a:defRPr sz="1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1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1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1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lvl="1" eaLnBrk="1" hangingPunct="1"/>
            <a:fld id="{CBC38AAC-2024-4792-9CC7-FB44A3777575}" type="slidenum">
              <a:rPr lang="en-US" altLang="en-US"/>
              <a:pPr lvl="1" eaLnBrk="1" hangingPunct="1"/>
              <a:t>4</a:t>
            </a:fld>
            <a:endParaRPr lang="en-US" altLang="en-US"/>
          </a:p>
        </p:txBody>
      </p:sp>
      <p:sp>
        <p:nvSpPr>
          <p:cNvPr id="5" name="Rectangle 4" descr=" 5">
            <a:extLst>
              <a:ext uri="{FF2B5EF4-FFF2-40B4-BE49-F238E27FC236}">
                <a16:creationId xmlns:a16="http://schemas.microsoft.com/office/drawing/2014/main" id="{EDE355B8-E286-4696-8B42-B19B51166A6E}"/>
              </a:ext>
            </a:extLst>
          </p:cNvPr>
          <p:cNvSpPr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2462806" y="5071802"/>
            <a:ext cx="4041084" cy="376238"/>
          </a:xfrm>
          <a:prstGeom prst="rect">
            <a:avLst/>
          </a:prstGeom>
          <a:ln>
            <a:headEnd type="none" w="sm" len="sm"/>
            <a:tailEnd type="none" w="sm" len="sm"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/>
            <a:r>
              <a:rPr lang="en-US" sz="2400" dirty="0">
                <a:latin typeface="Calibri" pitchFamily="34" charset="0"/>
              </a:rPr>
              <a:t>Bus</a:t>
            </a:r>
          </a:p>
        </p:txBody>
      </p:sp>
      <p:sp>
        <p:nvSpPr>
          <p:cNvPr id="6" name="Rectangle 6" descr=" 6">
            <a:extLst>
              <a:ext uri="{FF2B5EF4-FFF2-40B4-BE49-F238E27FC236}">
                <a16:creationId xmlns:a16="http://schemas.microsoft.com/office/drawing/2014/main" id="{D69625F6-D9BC-4773-B8F3-4888CE62BED5}"/>
              </a:ext>
            </a:extLst>
          </p:cNvPr>
          <p:cNvSpPr>
            <a:spLocks noChangeArrowheads="1"/>
          </p:cNvSpPr>
          <p:nvPr>
            <p:custDataLst>
              <p:tags r:id="rId7"/>
            </p:custDataLst>
          </p:nvPr>
        </p:nvSpPr>
        <p:spPr bwMode="auto">
          <a:xfrm>
            <a:off x="2326341" y="3273165"/>
            <a:ext cx="833719" cy="574675"/>
          </a:xfrm>
          <a:prstGeom prst="rect">
            <a:avLst/>
          </a:prstGeom>
          <a:ln>
            <a:headEnd type="none" w="sm" len="sm"/>
            <a:tailEnd type="none" w="sm" len="sm"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/>
            <a:r>
              <a:rPr lang="en-US" sz="2400" dirty="0">
                <a:latin typeface="Calibri" pitchFamily="34" charset="0"/>
              </a:rPr>
              <a:t>P1</a:t>
            </a:r>
          </a:p>
        </p:txBody>
      </p:sp>
      <p:cxnSp>
        <p:nvCxnSpPr>
          <p:cNvPr id="7" name="AutoShape 9" descr=" 7">
            <a:extLst>
              <a:ext uri="{FF2B5EF4-FFF2-40B4-BE49-F238E27FC236}">
                <a16:creationId xmlns:a16="http://schemas.microsoft.com/office/drawing/2014/main" id="{FB829A3E-4309-4B4E-91AE-79E4B807B46F}"/>
              </a:ext>
            </a:extLst>
          </p:cNvPr>
          <p:cNvCxnSpPr>
            <a:cxnSpLocks noChangeShapeType="1"/>
          </p:cNvCxnSpPr>
          <p:nvPr>
            <p:custDataLst>
              <p:tags r:id="rId8"/>
            </p:custDataLst>
          </p:nvPr>
        </p:nvCxnSpPr>
        <p:spPr bwMode="auto">
          <a:xfrm rot="5400000">
            <a:off x="2634457" y="3973203"/>
            <a:ext cx="217488" cy="1"/>
          </a:xfrm>
          <a:prstGeom prst="bentConnector3">
            <a:avLst>
              <a:gd name="adj1" fmla="val 50000"/>
            </a:avLst>
          </a:prstGeom>
          <a:noFill/>
          <a:ln w="12700">
            <a:solidFill>
              <a:schemeClr val="tx1"/>
            </a:solidFill>
            <a:miter lim="800000"/>
            <a:headEnd type="none" w="sm" len="sm"/>
            <a:tailEnd type="triangle" w="med" len="med"/>
          </a:ln>
        </p:spPr>
      </p:cxnSp>
      <p:sp>
        <p:nvSpPr>
          <p:cNvPr id="8" name="Line 10" descr=" 8">
            <a:extLst>
              <a:ext uri="{FF2B5EF4-FFF2-40B4-BE49-F238E27FC236}">
                <a16:creationId xmlns:a16="http://schemas.microsoft.com/office/drawing/2014/main" id="{3AE748C1-0FFF-4A5E-AD2C-71E099112ABD}"/>
              </a:ext>
            </a:extLst>
          </p:cNvPr>
          <p:cNvSpPr>
            <a:spLocks noChangeShapeType="1"/>
          </p:cNvSpPr>
          <p:nvPr>
            <p:custDataLst>
              <p:tags r:id="rId9"/>
            </p:custDataLst>
          </p:nvPr>
        </p:nvSpPr>
        <p:spPr bwMode="auto">
          <a:xfrm>
            <a:off x="2752165" y="4695005"/>
            <a:ext cx="0" cy="37782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med" len="med"/>
          </a:ln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9" name="Rectangle 14" descr=" 10">
            <a:extLst>
              <a:ext uri="{FF2B5EF4-FFF2-40B4-BE49-F238E27FC236}">
                <a16:creationId xmlns:a16="http://schemas.microsoft.com/office/drawing/2014/main" id="{19C9A5C2-82A6-4618-AEF4-D796B42B9D28}"/>
              </a:ext>
            </a:extLst>
          </p:cNvPr>
          <p:cNvSpPr>
            <a:spLocks noChangeArrowheads="1"/>
          </p:cNvSpPr>
          <p:nvPr>
            <p:custDataLst>
              <p:tags r:id="rId10"/>
            </p:custDataLst>
          </p:nvPr>
        </p:nvSpPr>
        <p:spPr bwMode="auto">
          <a:xfrm>
            <a:off x="5907741" y="3273165"/>
            <a:ext cx="833719" cy="574675"/>
          </a:xfrm>
          <a:prstGeom prst="rect">
            <a:avLst/>
          </a:prstGeom>
          <a:ln>
            <a:headEnd type="none" w="sm" len="sm"/>
            <a:tailEnd type="none" w="sm" len="sm"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/>
            <a:r>
              <a:rPr lang="en-US" sz="2400" dirty="0">
                <a:latin typeface="Calibri" pitchFamily="34" charset="0"/>
              </a:rPr>
              <a:t>P2</a:t>
            </a:r>
          </a:p>
        </p:txBody>
      </p:sp>
      <p:cxnSp>
        <p:nvCxnSpPr>
          <p:cNvPr id="10" name="AutoShape 17" descr=" 11">
            <a:extLst>
              <a:ext uri="{FF2B5EF4-FFF2-40B4-BE49-F238E27FC236}">
                <a16:creationId xmlns:a16="http://schemas.microsoft.com/office/drawing/2014/main" id="{E0521808-8B71-4CD4-9BE9-B6CFFD252860}"/>
              </a:ext>
            </a:extLst>
          </p:cNvPr>
          <p:cNvCxnSpPr>
            <a:cxnSpLocks noChangeShapeType="1"/>
            <a:stCxn id="9" idx="2"/>
            <a:endCxn id="15" idx="0"/>
          </p:cNvCxnSpPr>
          <p:nvPr>
            <p:custDataLst>
              <p:tags r:id="rId11"/>
            </p:custDataLst>
          </p:nvPr>
        </p:nvCxnSpPr>
        <p:spPr bwMode="auto">
          <a:xfrm rot="5400000">
            <a:off x="6210301" y="3962140"/>
            <a:ext cx="228600" cy="1"/>
          </a:xfrm>
          <a:prstGeom prst="bentConnector3">
            <a:avLst>
              <a:gd name="adj1" fmla="val 50000"/>
            </a:avLst>
          </a:prstGeom>
          <a:noFill/>
          <a:ln w="12700">
            <a:solidFill>
              <a:schemeClr val="tx1"/>
            </a:solidFill>
            <a:miter lim="800000"/>
            <a:headEnd type="none" w="sm" len="sm"/>
            <a:tailEnd type="triangle" w="med" len="med"/>
          </a:ln>
        </p:spPr>
      </p:cxnSp>
      <p:sp>
        <p:nvSpPr>
          <p:cNvPr id="11" name="Rectangle 21" descr=" 12">
            <a:extLst>
              <a:ext uri="{FF2B5EF4-FFF2-40B4-BE49-F238E27FC236}">
                <a16:creationId xmlns:a16="http://schemas.microsoft.com/office/drawing/2014/main" id="{33B0E5F3-06D7-4950-A1EE-7474D266FA9B}"/>
              </a:ext>
            </a:extLst>
          </p:cNvPr>
          <p:cNvSpPr>
            <a:spLocks noChangeArrowheads="1"/>
          </p:cNvSpPr>
          <p:nvPr>
            <p:custDataLst>
              <p:tags r:id="rId12"/>
            </p:custDataLst>
          </p:nvPr>
        </p:nvSpPr>
        <p:spPr bwMode="auto">
          <a:xfrm>
            <a:off x="3338278" y="5760778"/>
            <a:ext cx="2290141" cy="312738"/>
          </a:xfrm>
          <a:prstGeom prst="rect">
            <a:avLst/>
          </a:prstGeom>
          <a:ln>
            <a:headEnd type="none" w="sm" len="sm"/>
            <a:tailEnd type="none" w="sm" len="sm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/>
            <a:r>
              <a:rPr lang="en-US" sz="2000" dirty="0">
                <a:latin typeface="Calibri" pitchFamily="34" charset="0"/>
              </a:rPr>
              <a:t>X: 51,40,…</a:t>
            </a:r>
          </a:p>
        </p:txBody>
      </p:sp>
      <p:sp>
        <p:nvSpPr>
          <p:cNvPr id="12" name="Line 10" descr=" 13">
            <a:extLst>
              <a:ext uri="{FF2B5EF4-FFF2-40B4-BE49-F238E27FC236}">
                <a16:creationId xmlns:a16="http://schemas.microsoft.com/office/drawing/2014/main" id="{2766B6C8-0F2B-4CBE-B18A-2AA179550756}"/>
              </a:ext>
            </a:extLst>
          </p:cNvPr>
          <p:cNvSpPr>
            <a:spLocks noChangeShapeType="1"/>
          </p:cNvSpPr>
          <p:nvPr>
            <p:custDataLst>
              <p:tags r:id="rId13"/>
            </p:custDataLst>
          </p:nvPr>
        </p:nvSpPr>
        <p:spPr bwMode="auto">
          <a:xfrm>
            <a:off x="6324600" y="4686040"/>
            <a:ext cx="0" cy="37782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med" len="med"/>
          </a:ln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cxnSp>
        <p:nvCxnSpPr>
          <p:cNvPr id="13" name="Straight Arrow Connector 12" descr=" 14">
            <a:extLst>
              <a:ext uri="{FF2B5EF4-FFF2-40B4-BE49-F238E27FC236}">
                <a16:creationId xmlns:a16="http://schemas.microsoft.com/office/drawing/2014/main" id="{942E8D10-FE0C-444F-BA46-F64AB115E845}"/>
              </a:ext>
            </a:extLst>
          </p:cNvPr>
          <p:cNvCxnSpPr>
            <a:stCxn id="5" idx="2"/>
            <a:endCxn id="11" idx="0"/>
          </p:cNvCxnSpPr>
          <p:nvPr/>
        </p:nvCxnSpPr>
        <p:spPr bwMode="auto">
          <a:xfrm rot="16200000" flipH="1">
            <a:off x="4326979" y="5604408"/>
            <a:ext cx="312738" cy="1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15" name="Rectangle 21" descr=" 16">
            <a:extLst>
              <a:ext uri="{FF2B5EF4-FFF2-40B4-BE49-F238E27FC236}">
                <a16:creationId xmlns:a16="http://schemas.microsoft.com/office/drawing/2014/main" id="{31A0AD37-7542-4F47-9814-213E540FEF69}"/>
              </a:ext>
            </a:extLst>
          </p:cNvPr>
          <p:cNvSpPr>
            <a:spLocks noChangeArrowheads="1"/>
          </p:cNvSpPr>
          <p:nvPr>
            <p:custDataLst>
              <p:tags r:id="rId14"/>
            </p:custDataLst>
          </p:nvPr>
        </p:nvSpPr>
        <p:spPr bwMode="auto">
          <a:xfrm>
            <a:off x="5715000" y="4076440"/>
            <a:ext cx="1219200" cy="312738"/>
          </a:xfrm>
          <a:prstGeom prst="rect">
            <a:avLst/>
          </a:prstGeom>
          <a:ln>
            <a:headEnd type="none" w="sm" len="sm"/>
            <a:tailEnd type="none" w="sm" len="sm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/>
            <a:r>
              <a:rPr lang="en-US" sz="2000" dirty="0">
                <a:latin typeface="Calibri" pitchFamily="34" charset="0"/>
              </a:rPr>
              <a:t>X: 51,40,…</a:t>
            </a:r>
            <a:endParaRPr lang="en-US" sz="2400" dirty="0">
              <a:latin typeface="Calibri" pitchFamily="34" charset="0"/>
            </a:endParaRPr>
          </a:p>
        </p:txBody>
      </p:sp>
      <p:sp>
        <p:nvSpPr>
          <p:cNvPr id="16" name="TextBox 15" descr=" 17">
            <a:extLst>
              <a:ext uri="{FF2B5EF4-FFF2-40B4-BE49-F238E27FC236}">
                <a16:creationId xmlns:a16="http://schemas.microsoft.com/office/drawing/2014/main" id="{EA522BB3-BBBD-4687-BCEB-E94B1A0F0D3E}"/>
              </a:ext>
            </a:extLst>
          </p:cNvPr>
          <p:cNvSpPr txBox="1"/>
          <p:nvPr>
            <p:custDataLst>
              <p:tags r:id="rId15"/>
            </p:custDataLst>
          </p:nvPr>
        </p:nvSpPr>
        <p:spPr>
          <a:xfrm>
            <a:off x="5638800" y="6057640"/>
            <a:ext cx="137351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latin typeface="+mn-lt"/>
              </a:rPr>
              <a:t>Main Memory</a:t>
            </a:r>
          </a:p>
        </p:txBody>
      </p:sp>
      <p:sp>
        <p:nvSpPr>
          <p:cNvPr id="17" name="Rectangle 22" descr=" 24">
            <a:extLst>
              <a:ext uri="{FF2B5EF4-FFF2-40B4-BE49-F238E27FC236}">
                <a16:creationId xmlns:a16="http://schemas.microsoft.com/office/drawing/2014/main" id="{A90CB2CB-1A09-4341-A1E3-CBF2F3A75203}"/>
              </a:ext>
            </a:extLst>
          </p:cNvPr>
          <p:cNvSpPr>
            <a:spLocks noChangeArrowheads="1"/>
          </p:cNvSpPr>
          <p:nvPr>
            <p:custDataLst>
              <p:tags r:id="rId16"/>
            </p:custDataLst>
          </p:nvPr>
        </p:nvSpPr>
        <p:spPr bwMode="auto">
          <a:xfrm>
            <a:off x="2133600" y="4381240"/>
            <a:ext cx="1219200" cy="312738"/>
          </a:xfrm>
          <a:prstGeom prst="rect">
            <a:avLst/>
          </a:prstGeom>
          <a:ln>
            <a:headEnd type="none" w="sm" len="sm"/>
            <a:tailEnd type="none" w="sm" len="sm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/>
            <a:endParaRPr lang="en-US" sz="2400" dirty="0">
              <a:latin typeface="Calibri" pitchFamily="34" charset="0"/>
            </a:endParaRPr>
          </a:p>
        </p:txBody>
      </p:sp>
      <p:sp>
        <p:nvSpPr>
          <p:cNvPr id="18" name="Rectangle 22" descr=" 25">
            <a:extLst>
              <a:ext uri="{FF2B5EF4-FFF2-40B4-BE49-F238E27FC236}">
                <a16:creationId xmlns:a16="http://schemas.microsoft.com/office/drawing/2014/main" id="{DF4A33AA-A93B-40BE-AEC9-149E924A2C29}"/>
              </a:ext>
            </a:extLst>
          </p:cNvPr>
          <p:cNvSpPr>
            <a:spLocks noChangeArrowheads="1"/>
          </p:cNvSpPr>
          <p:nvPr>
            <p:custDataLst>
              <p:tags r:id="rId17"/>
            </p:custDataLst>
          </p:nvPr>
        </p:nvSpPr>
        <p:spPr bwMode="auto">
          <a:xfrm>
            <a:off x="5715000" y="4392352"/>
            <a:ext cx="1219200" cy="312738"/>
          </a:xfrm>
          <a:prstGeom prst="rect">
            <a:avLst/>
          </a:prstGeom>
          <a:ln>
            <a:headEnd type="none" w="sm" len="sm"/>
            <a:tailEnd type="none" w="sm" len="sm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/>
            <a:endParaRPr lang="en-US" sz="2400" dirty="0">
              <a:latin typeface="Calibri" pitchFamily="34" charset="0"/>
            </a:endParaRPr>
          </a:p>
        </p:txBody>
      </p:sp>
      <p:sp>
        <p:nvSpPr>
          <p:cNvPr id="19" name="Rectangle 22" descr=" 26">
            <a:extLst>
              <a:ext uri="{FF2B5EF4-FFF2-40B4-BE49-F238E27FC236}">
                <a16:creationId xmlns:a16="http://schemas.microsoft.com/office/drawing/2014/main" id="{7925C335-3B0E-40B4-837E-DE3758F69EB2}"/>
              </a:ext>
            </a:extLst>
          </p:cNvPr>
          <p:cNvSpPr>
            <a:spLocks noChangeArrowheads="1"/>
          </p:cNvSpPr>
          <p:nvPr>
            <p:custDataLst>
              <p:tags r:id="rId18"/>
            </p:custDataLst>
          </p:nvPr>
        </p:nvSpPr>
        <p:spPr bwMode="auto">
          <a:xfrm>
            <a:off x="3338278" y="6076690"/>
            <a:ext cx="2290141" cy="312738"/>
          </a:xfrm>
          <a:prstGeom prst="rect">
            <a:avLst/>
          </a:prstGeom>
          <a:ln>
            <a:headEnd type="none" w="sm" len="sm"/>
            <a:tailEnd type="none" w="sm" len="sm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/>
            <a:endParaRPr lang="en-US" sz="2400" dirty="0">
              <a:latin typeface="Calibri" pitchFamily="34" charset="0"/>
            </a:endParaRPr>
          </a:p>
        </p:txBody>
      </p:sp>
      <p:sp>
        <p:nvSpPr>
          <p:cNvPr id="20" name="Text Box 11" descr=" 9">
            <a:extLst>
              <a:ext uri="{FF2B5EF4-FFF2-40B4-BE49-F238E27FC236}">
                <a16:creationId xmlns:a16="http://schemas.microsoft.com/office/drawing/2014/main" id="{79F72ADC-1F7B-4F47-8FFC-1DA0B1E8AD0C}"/>
              </a:ext>
            </a:extLst>
          </p:cNvPr>
          <p:cNvSpPr txBox="1">
            <a:spLocks noChangeArrowheads="1"/>
          </p:cNvSpPr>
          <p:nvPr>
            <p:custDataLst>
              <p:tags r:id="rId19"/>
            </p:custDataLst>
          </p:nvPr>
        </p:nvSpPr>
        <p:spPr bwMode="auto">
          <a:xfrm>
            <a:off x="7086600" y="3986706"/>
            <a:ext cx="1806905" cy="40011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r>
              <a:rPr lang="en-US" sz="2000" dirty="0">
                <a:solidFill>
                  <a:srgbClr val="CC0000"/>
                </a:solidFill>
                <a:latin typeface="Calibri" pitchFamily="34" charset="0"/>
              </a:rPr>
              <a:t>1: </a:t>
            </a:r>
            <a:r>
              <a:rPr lang="en-US" sz="2000" dirty="0">
                <a:latin typeface="Calibri" pitchFamily="34" charset="0"/>
              </a:rPr>
              <a:t>Load X[0]=51</a:t>
            </a:r>
          </a:p>
        </p:txBody>
      </p:sp>
      <p:sp>
        <p:nvSpPr>
          <p:cNvPr id="21" name="Text Box 11" descr=" 9">
            <a:extLst>
              <a:ext uri="{FF2B5EF4-FFF2-40B4-BE49-F238E27FC236}">
                <a16:creationId xmlns:a16="http://schemas.microsoft.com/office/drawing/2014/main" id="{79294125-0F02-4103-8308-22D5EA6B7D0B}"/>
              </a:ext>
            </a:extLst>
          </p:cNvPr>
          <p:cNvSpPr txBox="1">
            <a:spLocks noChangeArrowheads="1"/>
          </p:cNvSpPr>
          <p:nvPr>
            <p:custDataLst>
              <p:tags r:id="rId20"/>
            </p:custDataLst>
          </p:nvPr>
        </p:nvSpPr>
        <p:spPr bwMode="auto">
          <a:xfrm>
            <a:off x="304800" y="3398808"/>
            <a:ext cx="1858714" cy="40011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r>
              <a:rPr lang="en-US" sz="2000" dirty="0">
                <a:solidFill>
                  <a:srgbClr val="CC0000"/>
                </a:solidFill>
                <a:latin typeface="Calibri" pitchFamily="34" charset="0"/>
              </a:rPr>
              <a:t>2: </a:t>
            </a:r>
            <a:r>
              <a:rPr lang="en-US" sz="2000" dirty="0">
                <a:latin typeface="Calibri" pitchFamily="34" charset="0"/>
              </a:rPr>
              <a:t>Store X[1]=37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B5B228C-9941-4C73-BF63-2470C1F9A157}"/>
              </a:ext>
            </a:extLst>
          </p:cNvPr>
          <p:cNvSpPr txBox="1"/>
          <p:nvPr>
            <p:custDataLst>
              <p:tags r:id="rId21"/>
            </p:custDataLst>
          </p:nvPr>
        </p:nvSpPr>
        <p:spPr>
          <a:xfrm>
            <a:off x="-151082" y="4648200"/>
            <a:ext cx="2437082" cy="560717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ctr"/>
            <a:r>
              <a:rPr lang="en-US" sz="1600" dirty="0">
                <a:latin typeface="+mn-lt"/>
              </a:rPr>
              <a:t>assume write-back,</a:t>
            </a:r>
          </a:p>
          <a:p>
            <a:pPr algn="ctr"/>
            <a:r>
              <a:rPr lang="en-US" sz="1600" dirty="0">
                <a:latin typeface="+mn-lt"/>
              </a:rPr>
              <a:t>write-allocate L1 cache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7E1D3498-359D-42B5-B693-E6409DB6E023}"/>
              </a:ext>
            </a:extLst>
          </p:cNvPr>
          <p:cNvCxnSpPr>
            <a:cxnSpLocks/>
          </p:cNvCxnSpPr>
          <p:nvPr/>
        </p:nvCxnSpPr>
        <p:spPr>
          <a:xfrm flipV="1">
            <a:off x="1905000" y="4534586"/>
            <a:ext cx="398493" cy="28840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1C80FA51-E971-43AA-823E-6F8D03B08493}"/>
              </a:ext>
            </a:extLst>
          </p:cNvPr>
          <p:cNvSpPr txBox="1"/>
          <p:nvPr>
            <p:custDataLst>
              <p:tags r:id="rId22"/>
            </p:custDataLst>
          </p:nvPr>
        </p:nvSpPr>
        <p:spPr>
          <a:xfrm>
            <a:off x="6706918" y="5078083"/>
            <a:ext cx="2437082" cy="560717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ctr"/>
            <a:r>
              <a:rPr lang="en-US" sz="1600" b="1" dirty="0">
                <a:solidFill>
                  <a:schemeClr val="accent6">
                    <a:lumMod val="75000"/>
                  </a:schemeClr>
                </a:solidFill>
                <a:latin typeface="+mn-lt"/>
              </a:rPr>
              <a:t>wrong value!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398F03FC-566C-4ECA-857A-7213A290A3F1}"/>
              </a:ext>
            </a:extLst>
          </p:cNvPr>
          <p:cNvCxnSpPr>
            <a:cxnSpLocks/>
          </p:cNvCxnSpPr>
          <p:nvPr/>
        </p:nvCxnSpPr>
        <p:spPr>
          <a:xfrm flipV="1">
            <a:off x="8001000" y="4726542"/>
            <a:ext cx="650259" cy="531258"/>
          </a:xfrm>
          <a:prstGeom prst="line">
            <a:avLst/>
          </a:prstGeom>
          <a:ln w="3810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 Box 11" descr=" 9">
            <a:extLst>
              <a:ext uri="{FF2B5EF4-FFF2-40B4-BE49-F238E27FC236}">
                <a16:creationId xmlns:a16="http://schemas.microsoft.com/office/drawing/2014/main" id="{1815B68E-21A2-4B6C-8348-3EC31B268C3E}"/>
              </a:ext>
            </a:extLst>
          </p:cNvPr>
          <p:cNvSpPr txBox="1">
            <a:spLocks noChangeArrowheads="1"/>
          </p:cNvSpPr>
          <p:nvPr>
            <p:custDataLst>
              <p:tags r:id="rId23"/>
            </p:custDataLst>
          </p:nvPr>
        </p:nvSpPr>
        <p:spPr bwMode="auto">
          <a:xfrm>
            <a:off x="7086599" y="4325815"/>
            <a:ext cx="1806905" cy="40011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r>
              <a:rPr lang="en-US" sz="2000" dirty="0">
                <a:solidFill>
                  <a:srgbClr val="CC0000"/>
                </a:solidFill>
                <a:latin typeface="Calibri" pitchFamily="34" charset="0"/>
              </a:rPr>
              <a:t>3: </a:t>
            </a:r>
            <a:r>
              <a:rPr lang="en-US" sz="2000" dirty="0">
                <a:latin typeface="Calibri" pitchFamily="34" charset="0"/>
              </a:rPr>
              <a:t>Load X[1]=40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2981902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  <p:bldP spid="26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1" descr=" 15">
            <a:extLst>
              <a:ext uri="{FF2B5EF4-FFF2-40B4-BE49-F238E27FC236}">
                <a16:creationId xmlns:a16="http://schemas.microsoft.com/office/drawing/2014/main" id="{CE3BB417-CEC1-4317-A0F5-A75A0B0D8AC7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2133600" y="4081947"/>
            <a:ext cx="1219200" cy="312738"/>
          </a:xfrm>
          <a:prstGeom prst="rect">
            <a:avLst/>
          </a:prstGeom>
          <a:ln>
            <a:headEnd type="none" w="sm" len="sm"/>
            <a:tailEnd type="none" w="sm" len="sm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/>
            <a:r>
              <a:rPr lang="en-US" sz="2000" dirty="0">
                <a:latin typeface="Calibri" pitchFamily="34" charset="0"/>
              </a:rPr>
              <a:t>X: 51,37,…</a:t>
            </a:r>
            <a:endParaRPr lang="en-US" sz="2400" dirty="0">
              <a:latin typeface="Calibri" pitchFamily="34" charset="0"/>
            </a:endParaRPr>
          </a:p>
        </p:txBody>
      </p:sp>
      <p:sp>
        <p:nvSpPr>
          <p:cNvPr id="2055" name="Rectangle 2"/>
          <p:cNvSpPr>
            <a:spLocks noGrp="1" noChangeArrowheads="1"/>
          </p:cNvSpPr>
          <p:nvPr>
            <p:ph type="title"/>
            <p:custDataLst>
              <p:tags r:id="rId3"/>
            </p:custDataLst>
          </p:nvPr>
        </p:nvSpPr>
        <p:spPr>
          <a:xfrm>
            <a:off x="457200" y="274638"/>
            <a:ext cx="7467600" cy="1143000"/>
          </a:xfrm>
        </p:spPr>
        <p:txBody>
          <a:bodyPr/>
          <a:lstStyle/>
          <a:p>
            <a:r>
              <a:rPr lang="en-US" altLang="en-US" dirty="0"/>
              <a:t>Cache Coherence Problem</a:t>
            </a:r>
          </a:p>
        </p:txBody>
      </p:sp>
      <p:sp>
        <p:nvSpPr>
          <p:cNvPr id="2056" name="Rectangle 3"/>
          <p:cNvSpPr>
            <a:spLocks noGrp="1" noChangeArrowheads="1"/>
          </p:cNvSpPr>
          <p:nvPr>
            <p:ph idx="1"/>
            <p:custDataLst>
              <p:tags r:id="rId4"/>
            </p:custDataLst>
          </p:nvPr>
        </p:nvSpPr>
        <p:spPr>
          <a:xfrm>
            <a:off x="682625" y="1600200"/>
            <a:ext cx="8308975" cy="1295400"/>
          </a:xfrm>
        </p:spPr>
        <p:txBody>
          <a:bodyPr/>
          <a:lstStyle/>
          <a:p>
            <a:pPr marL="0" indent="0">
              <a:lnSpc>
                <a:spcPct val="80000"/>
              </a:lnSpc>
              <a:buNone/>
            </a:pPr>
            <a:r>
              <a:rPr lang="en-US" altLang="en-US" sz="2800" dirty="0"/>
              <a:t>A block X can exist in multiple </a:t>
            </a:r>
            <a:r>
              <a:rPr lang="en-US" altLang="en-US" sz="2800" b="1" dirty="0"/>
              <a:t>private</a:t>
            </a:r>
            <a:r>
              <a:rPr lang="en-US" altLang="en-US" sz="2800" dirty="0"/>
              <a:t> caches at any given moment. If one core modifies X, unless other cores are immediately made aware of this change, the other cores may read the </a:t>
            </a:r>
            <a:r>
              <a:rPr lang="en-US" altLang="en-US" sz="2800" b="1" dirty="0"/>
              <a:t>stale (wrong) </a:t>
            </a:r>
            <a:r>
              <a:rPr lang="en-US" altLang="en-US" sz="2800" dirty="0"/>
              <a:t>contents of X.</a:t>
            </a:r>
          </a:p>
        </p:txBody>
      </p:sp>
      <p:sp>
        <p:nvSpPr>
          <p:cNvPr id="2054" name="Slide Number Placeholder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 bwMode="auto">
          <a:xfrm>
            <a:off x="7620000" y="6356350"/>
            <a:ext cx="106680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 sz="1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eaLnBrk="0" hangingPunct="0">
              <a:defRPr sz="1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1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1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1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lvl="1" eaLnBrk="1" hangingPunct="1"/>
            <a:fld id="{CBC38AAC-2024-4792-9CC7-FB44A3777575}" type="slidenum">
              <a:rPr lang="en-US" altLang="en-US"/>
              <a:pPr lvl="1" eaLnBrk="1" hangingPunct="1"/>
              <a:t>5</a:t>
            </a:fld>
            <a:endParaRPr lang="en-US" altLang="en-US"/>
          </a:p>
        </p:txBody>
      </p:sp>
      <p:sp>
        <p:nvSpPr>
          <p:cNvPr id="5" name="Rectangle 4" descr=" 5">
            <a:extLst>
              <a:ext uri="{FF2B5EF4-FFF2-40B4-BE49-F238E27FC236}">
                <a16:creationId xmlns:a16="http://schemas.microsoft.com/office/drawing/2014/main" id="{EDE355B8-E286-4696-8B42-B19B51166A6E}"/>
              </a:ext>
            </a:extLst>
          </p:cNvPr>
          <p:cNvSpPr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2462806" y="5071802"/>
            <a:ext cx="4041084" cy="376238"/>
          </a:xfrm>
          <a:prstGeom prst="rect">
            <a:avLst/>
          </a:prstGeom>
          <a:ln>
            <a:headEnd type="none" w="sm" len="sm"/>
            <a:tailEnd type="none" w="sm" len="sm"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/>
            <a:r>
              <a:rPr lang="en-US" sz="2400" dirty="0">
                <a:latin typeface="Calibri" pitchFamily="34" charset="0"/>
              </a:rPr>
              <a:t>Bus</a:t>
            </a:r>
          </a:p>
        </p:txBody>
      </p:sp>
      <p:sp>
        <p:nvSpPr>
          <p:cNvPr id="6" name="Rectangle 6" descr=" 6">
            <a:extLst>
              <a:ext uri="{FF2B5EF4-FFF2-40B4-BE49-F238E27FC236}">
                <a16:creationId xmlns:a16="http://schemas.microsoft.com/office/drawing/2014/main" id="{D69625F6-D9BC-4773-B8F3-4888CE62BED5}"/>
              </a:ext>
            </a:extLst>
          </p:cNvPr>
          <p:cNvSpPr>
            <a:spLocks noChangeArrowheads="1"/>
          </p:cNvSpPr>
          <p:nvPr>
            <p:custDataLst>
              <p:tags r:id="rId7"/>
            </p:custDataLst>
          </p:nvPr>
        </p:nvSpPr>
        <p:spPr bwMode="auto">
          <a:xfrm>
            <a:off x="2326341" y="3273165"/>
            <a:ext cx="833719" cy="574675"/>
          </a:xfrm>
          <a:prstGeom prst="rect">
            <a:avLst/>
          </a:prstGeom>
          <a:ln>
            <a:headEnd type="none" w="sm" len="sm"/>
            <a:tailEnd type="none" w="sm" len="sm"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/>
            <a:r>
              <a:rPr lang="en-US" sz="2400" dirty="0">
                <a:latin typeface="Calibri" pitchFamily="34" charset="0"/>
              </a:rPr>
              <a:t>P1</a:t>
            </a:r>
          </a:p>
        </p:txBody>
      </p:sp>
      <p:cxnSp>
        <p:nvCxnSpPr>
          <p:cNvPr id="7" name="AutoShape 9" descr=" 7">
            <a:extLst>
              <a:ext uri="{FF2B5EF4-FFF2-40B4-BE49-F238E27FC236}">
                <a16:creationId xmlns:a16="http://schemas.microsoft.com/office/drawing/2014/main" id="{FB829A3E-4309-4B4E-91AE-79E4B807B46F}"/>
              </a:ext>
            </a:extLst>
          </p:cNvPr>
          <p:cNvCxnSpPr>
            <a:cxnSpLocks noChangeShapeType="1"/>
          </p:cNvCxnSpPr>
          <p:nvPr>
            <p:custDataLst>
              <p:tags r:id="rId8"/>
            </p:custDataLst>
          </p:nvPr>
        </p:nvCxnSpPr>
        <p:spPr bwMode="auto">
          <a:xfrm rot="5400000">
            <a:off x="2634457" y="3973203"/>
            <a:ext cx="217488" cy="1"/>
          </a:xfrm>
          <a:prstGeom prst="bentConnector3">
            <a:avLst>
              <a:gd name="adj1" fmla="val 50000"/>
            </a:avLst>
          </a:prstGeom>
          <a:noFill/>
          <a:ln w="12700">
            <a:solidFill>
              <a:schemeClr val="tx1"/>
            </a:solidFill>
            <a:miter lim="800000"/>
            <a:headEnd type="none" w="sm" len="sm"/>
            <a:tailEnd type="triangle" w="med" len="med"/>
          </a:ln>
        </p:spPr>
      </p:cxnSp>
      <p:sp>
        <p:nvSpPr>
          <p:cNvPr id="8" name="Line 10" descr=" 8">
            <a:extLst>
              <a:ext uri="{FF2B5EF4-FFF2-40B4-BE49-F238E27FC236}">
                <a16:creationId xmlns:a16="http://schemas.microsoft.com/office/drawing/2014/main" id="{3AE748C1-0FFF-4A5E-AD2C-71E099112ABD}"/>
              </a:ext>
            </a:extLst>
          </p:cNvPr>
          <p:cNvSpPr>
            <a:spLocks noChangeShapeType="1"/>
          </p:cNvSpPr>
          <p:nvPr>
            <p:custDataLst>
              <p:tags r:id="rId9"/>
            </p:custDataLst>
          </p:nvPr>
        </p:nvSpPr>
        <p:spPr bwMode="auto">
          <a:xfrm>
            <a:off x="2752165" y="4695005"/>
            <a:ext cx="0" cy="37782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med" len="med"/>
          </a:ln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9" name="Rectangle 14" descr=" 10">
            <a:extLst>
              <a:ext uri="{FF2B5EF4-FFF2-40B4-BE49-F238E27FC236}">
                <a16:creationId xmlns:a16="http://schemas.microsoft.com/office/drawing/2014/main" id="{19C9A5C2-82A6-4618-AEF4-D796B42B9D28}"/>
              </a:ext>
            </a:extLst>
          </p:cNvPr>
          <p:cNvSpPr>
            <a:spLocks noChangeArrowheads="1"/>
          </p:cNvSpPr>
          <p:nvPr>
            <p:custDataLst>
              <p:tags r:id="rId10"/>
            </p:custDataLst>
          </p:nvPr>
        </p:nvSpPr>
        <p:spPr bwMode="auto">
          <a:xfrm>
            <a:off x="5907741" y="3273165"/>
            <a:ext cx="833719" cy="574675"/>
          </a:xfrm>
          <a:prstGeom prst="rect">
            <a:avLst/>
          </a:prstGeom>
          <a:ln>
            <a:headEnd type="none" w="sm" len="sm"/>
            <a:tailEnd type="none" w="sm" len="sm"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/>
            <a:r>
              <a:rPr lang="en-US" sz="2400" dirty="0">
                <a:latin typeface="Calibri" pitchFamily="34" charset="0"/>
              </a:rPr>
              <a:t>P2</a:t>
            </a:r>
          </a:p>
        </p:txBody>
      </p:sp>
      <p:cxnSp>
        <p:nvCxnSpPr>
          <p:cNvPr id="10" name="AutoShape 17" descr=" 11">
            <a:extLst>
              <a:ext uri="{FF2B5EF4-FFF2-40B4-BE49-F238E27FC236}">
                <a16:creationId xmlns:a16="http://schemas.microsoft.com/office/drawing/2014/main" id="{E0521808-8B71-4CD4-9BE9-B6CFFD252860}"/>
              </a:ext>
            </a:extLst>
          </p:cNvPr>
          <p:cNvCxnSpPr>
            <a:cxnSpLocks noChangeShapeType="1"/>
            <a:stCxn id="9" idx="2"/>
            <a:endCxn id="15" idx="0"/>
          </p:cNvCxnSpPr>
          <p:nvPr>
            <p:custDataLst>
              <p:tags r:id="rId11"/>
            </p:custDataLst>
          </p:nvPr>
        </p:nvCxnSpPr>
        <p:spPr bwMode="auto">
          <a:xfrm rot="5400000">
            <a:off x="6210301" y="3962140"/>
            <a:ext cx="228600" cy="1"/>
          </a:xfrm>
          <a:prstGeom prst="bentConnector3">
            <a:avLst>
              <a:gd name="adj1" fmla="val 50000"/>
            </a:avLst>
          </a:prstGeom>
          <a:noFill/>
          <a:ln w="12700">
            <a:solidFill>
              <a:schemeClr val="tx1"/>
            </a:solidFill>
            <a:miter lim="800000"/>
            <a:headEnd type="none" w="sm" len="sm"/>
            <a:tailEnd type="triangle" w="med" len="med"/>
          </a:ln>
        </p:spPr>
      </p:cxnSp>
      <p:sp>
        <p:nvSpPr>
          <p:cNvPr id="11" name="Rectangle 21" descr=" 12">
            <a:extLst>
              <a:ext uri="{FF2B5EF4-FFF2-40B4-BE49-F238E27FC236}">
                <a16:creationId xmlns:a16="http://schemas.microsoft.com/office/drawing/2014/main" id="{33B0E5F3-06D7-4950-A1EE-7474D266FA9B}"/>
              </a:ext>
            </a:extLst>
          </p:cNvPr>
          <p:cNvSpPr>
            <a:spLocks noChangeArrowheads="1"/>
          </p:cNvSpPr>
          <p:nvPr>
            <p:custDataLst>
              <p:tags r:id="rId12"/>
            </p:custDataLst>
          </p:nvPr>
        </p:nvSpPr>
        <p:spPr bwMode="auto">
          <a:xfrm>
            <a:off x="3338278" y="5760778"/>
            <a:ext cx="2290141" cy="312738"/>
          </a:xfrm>
          <a:prstGeom prst="rect">
            <a:avLst/>
          </a:prstGeom>
          <a:ln>
            <a:headEnd type="none" w="sm" len="sm"/>
            <a:tailEnd type="none" w="sm" len="sm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/>
            <a:r>
              <a:rPr lang="en-US" sz="2000" dirty="0">
                <a:latin typeface="Calibri" pitchFamily="34" charset="0"/>
              </a:rPr>
              <a:t>X: 51,40,…</a:t>
            </a:r>
            <a:endParaRPr lang="en-US" sz="2400" dirty="0">
              <a:latin typeface="Calibri" pitchFamily="34" charset="0"/>
            </a:endParaRPr>
          </a:p>
        </p:txBody>
      </p:sp>
      <p:sp>
        <p:nvSpPr>
          <p:cNvPr id="12" name="Line 10" descr=" 13">
            <a:extLst>
              <a:ext uri="{FF2B5EF4-FFF2-40B4-BE49-F238E27FC236}">
                <a16:creationId xmlns:a16="http://schemas.microsoft.com/office/drawing/2014/main" id="{2766B6C8-0F2B-4CBE-B18A-2AA179550756}"/>
              </a:ext>
            </a:extLst>
          </p:cNvPr>
          <p:cNvSpPr>
            <a:spLocks noChangeShapeType="1"/>
          </p:cNvSpPr>
          <p:nvPr>
            <p:custDataLst>
              <p:tags r:id="rId13"/>
            </p:custDataLst>
          </p:nvPr>
        </p:nvSpPr>
        <p:spPr bwMode="auto">
          <a:xfrm>
            <a:off x="6324600" y="4686040"/>
            <a:ext cx="0" cy="37782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med" len="med"/>
          </a:ln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cxnSp>
        <p:nvCxnSpPr>
          <p:cNvPr id="13" name="Straight Arrow Connector 12" descr=" 14">
            <a:extLst>
              <a:ext uri="{FF2B5EF4-FFF2-40B4-BE49-F238E27FC236}">
                <a16:creationId xmlns:a16="http://schemas.microsoft.com/office/drawing/2014/main" id="{942E8D10-FE0C-444F-BA46-F64AB115E845}"/>
              </a:ext>
            </a:extLst>
          </p:cNvPr>
          <p:cNvCxnSpPr>
            <a:stCxn id="5" idx="2"/>
            <a:endCxn id="11" idx="0"/>
          </p:cNvCxnSpPr>
          <p:nvPr/>
        </p:nvCxnSpPr>
        <p:spPr bwMode="auto">
          <a:xfrm rot="16200000" flipH="1">
            <a:off x="4326979" y="5604408"/>
            <a:ext cx="312738" cy="1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15" name="Rectangle 21" descr=" 16">
            <a:extLst>
              <a:ext uri="{FF2B5EF4-FFF2-40B4-BE49-F238E27FC236}">
                <a16:creationId xmlns:a16="http://schemas.microsoft.com/office/drawing/2014/main" id="{31A0AD37-7542-4F47-9814-213E540FEF69}"/>
              </a:ext>
            </a:extLst>
          </p:cNvPr>
          <p:cNvSpPr>
            <a:spLocks noChangeArrowheads="1"/>
          </p:cNvSpPr>
          <p:nvPr>
            <p:custDataLst>
              <p:tags r:id="rId14"/>
            </p:custDataLst>
          </p:nvPr>
        </p:nvSpPr>
        <p:spPr bwMode="auto">
          <a:xfrm>
            <a:off x="5715000" y="4076440"/>
            <a:ext cx="1219200" cy="312738"/>
          </a:xfrm>
          <a:prstGeom prst="rect">
            <a:avLst/>
          </a:prstGeom>
          <a:ln>
            <a:headEnd type="none" w="sm" len="sm"/>
            <a:tailEnd type="none" w="sm" len="sm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/>
            <a:r>
              <a:rPr lang="en-US" sz="2000" dirty="0">
                <a:latin typeface="Calibri" pitchFamily="34" charset="0"/>
              </a:rPr>
              <a:t>X: 51,40,…</a:t>
            </a:r>
            <a:endParaRPr lang="en-US" sz="2400" dirty="0">
              <a:latin typeface="Calibri" pitchFamily="34" charset="0"/>
            </a:endParaRPr>
          </a:p>
        </p:txBody>
      </p:sp>
      <p:sp>
        <p:nvSpPr>
          <p:cNvPr id="16" name="TextBox 15" descr=" 17">
            <a:extLst>
              <a:ext uri="{FF2B5EF4-FFF2-40B4-BE49-F238E27FC236}">
                <a16:creationId xmlns:a16="http://schemas.microsoft.com/office/drawing/2014/main" id="{EA522BB3-BBBD-4687-BCEB-E94B1A0F0D3E}"/>
              </a:ext>
            </a:extLst>
          </p:cNvPr>
          <p:cNvSpPr txBox="1"/>
          <p:nvPr>
            <p:custDataLst>
              <p:tags r:id="rId15"/>
            </p:custDataLst>
          </p:nvPr>
        </p:nvSpPr>
        <p:spPr>
          <a:xfrm>
            <a:off x="5638800" y="6057640"/>
            <a:ext cx="137351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latin typeface="+mn-lt"/>
              </a:rPr>
              <a:t>Main Memory</a:t>
            </a:r>
          </a:p>
        </p:txBody>
      </p:sp>
      <p:sp>
        <p:nvSpPr>
          <p:cNvPr id="17" name="Rectangle 22" descr=" 24">
            <a:extLst>
              <a:ext uri="{FF2B5EF4-FFF2-40B4-BE49-F238E27FC236}">
                <a16:creationId xmlns:a16="http://schemas.microsoft.com/office/drawing/2014/main" id="{A90CB2CB-1A09-4341-A1E3-CBF2F3A75203}"/>
              </a:ext>
            </a:extLst>
          </p:cNvPr>
          <p:cNvSpPr>
            <a:spLocks noChangeArrowheads="1"/>
          </p:cNvSpPr>
          <p:nvPr>
            <p:custDataLst>
              <p:tags r:id="rId16"/>
            </p:custDataLst>
          </p:nvPr>
        </p:nvSpPr>
        <p:spPr bwMode="auto">
          <a:xfrm>
            <a:off x="2133600" y="4381240"/>
            <a:ext cx="1219200" cy="312738"/>
          </a:xfrm>
          <a:prstGeom prst="rect">
            <a:avLst/>
          </a:prstGeom>
          <a:ln>
            <a:headEnd type="none" w="sm" len="sm"/>
            <a:tailEnd type="none" w="sm" len="sm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/>
            <a:endParaRPr lang="en-US" sz="2400" dirty="0">
              <a:latin typeface="Calibri" pitchFamily="34" charset="0"/>
            </a:endParaRPr>
          </a:p>
        </p:txBody>
      </p:sp>
      <p:sp>
        <p:nvSpPr>
          <p:cNvPr id="18" name="Rectangle 22" descr=" 25">
            <a:extLst>
              <a:ext uri="{FF2B5EF4-FFF2-40B4-BE49-F238E27FC236}">
                <a16:creationId xmlns:a16="http://schemas.microsoft.com/office/drawing/2014/main" id="{DF4A33AA-A93B-40BE-AEC9-149E924A2C29}"/>
              </a:ext>
            </a:extLst>
          </p:cNvPr>
          <p:cNvSpPr>
            <a:spLocks noChangeArrowheads="1"/>
          </p:cNvSpPr>
          <p:nvPr>
            <p:custDataLst>
              <p:tags r:id="rId17"/>
            </p:custDataLst>
          </p:nvPr>
        </p:nvSpPr>
        <p:spPr bwMode="auto">
          <a:xfrm>
            <a:off x="5715000" y="4392352"/>
            <a:ext cx="1219200" cy="312738"/>
          </a:xfrm>
          <a:prstGeom prst="rect">
            <a:avLst/>
          </a:prstGeom>
          <a:ln>
            <a:headEnd type="none" w="sm" len="sm"/>
            <a:tailEnd type="none" w="sm" len="sm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/>
            <a:endParaRPr lang="en-US" sz="2400" dirty="0">
              <a:latin typeface="Calibri" pitchFamily="34" charset="0"/>
            </a:endParaRPr>
          </a:p>
        </p:txBody>
      </p:sp>
      <p:sp>
        <p:nvSpPr>
          <p:cNvPr id="19" name="Rectangle 22" descr=" 26">
            <a:extLst>
              <a:ext uri="{FF2B5EF4-FFF2-40B4-BE49-F238E27FC236}">
                <a16:creationId xmlns:a16="http://schemas.microsoft.com/office/drawing/2014/main" id="{7925C335-3B0E-40B4-837E-DE3758F69EB2}"/>
              </a:ext>
            </a:extLst>
          </p:cNvPr>
          <p:cNvSpPr>
            <a:spLocks noChangeArrowheads="1"/>
          </p:cNvSpPr>
          <p:nvPr>
            <p:custDataLst>
              <p:tags r:id="rId18"/>
            </p:custDataLst>
          </p:nvPr>
        </p:nvSpPr>
        <p:spPr bwMode="auto">
          <a:xfrm>
            <a:off x="3338278" y="6076690"/>
            <a:ext cx="2290141" cy="312738"/>
          </a:xfrm>
          <a:prstGeom prst="rect">
            <a:avLst/>
          </a:prstGeom>
          <a:ln>
            <a:headEnd type="none" w="sm" len="sm"/>
            <a:tailEnd type="none" w="sm" len="sm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/>
            <a:endParaRPr lang="en-US" sz="2400" dirty="0">
              <a:latin typeface="Calibri" pitchFamily="34" charset="0"/>
            </a:endParaRPr>
          </a:p>
        </p:txBody>
      </p:sp>
      <p:sp>
        <p:nvSpPr>
          <p:cNvPr id="20" name="Text Box 11" descr=" 9">
            <a:extLst>
              <a:ext uri="{FF2B5EF4-FFF2-40B4-BE49-F238E27FC236}">
                <a16:creationId xmlns:a16="http://schemas.microsoft.com/office/drawing/2014/main" id="{79F72ADC-1F7B-4F47-8FFC-1DA0B1E8AD0C}"/>
              </a:ext>
            </a:extLst>
          </p:cNvPr>
          <p:cNvSpPr txBox="1">
            <a:spLocks noChangeArrowheads="1"/>
          </p:cNvSpPr>
          <p:nvPr>
            <p:custDataLst>
              <p:tags r:id="rId19"/>
            </p:custDataLst>
          </p:nvPr>
        </p:nvSpPr>
        <p:spPr bwMode="auto">
          <a:xfrm>
            <a:off x="7086600" y="3986706"/>
            <a:ext cx="1806905" cy="40011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r>
              <a:rPr lang="en-US" sz="2000" dirty="0">
                <a:solidFill>
                  <a:srgbClr val="CC0000"/>
                </a:solidFill>
                <a:latin typeface="Calibri" pitchFamily="34" charset="0"/>
              </a:rPr>
              <a:t>1: </a:t>
            </a:r>
            <a:r>
              <a:rPr lang="en-US" sz="2000" dirty="0">
                <a:latin typeface="Calibri" pitchFamily="34" charset="0"/>
              </a:rPr>
              <a:t>Load X[0]=51</a:t>
            </a:r>
          </a:p>
        </p:txBody>
      </p:sp>
      <p:sp>
        <p:nvSpPr>
          <p:cNvPr id="21" name="Text Box 11" descr=" 9">
            <a:extLst>
              <a:ext uri="{FF2B5EF4-FFF2-40B4-BE49-F238E27FC236}">
                <a16:creationId xmlns:a16="http://schemas.microsoft.com/office/drawing/2014/main" id="{79294125-0F02-4103-8308-22D5EA6B7D0B}"/>
              </a:ext>
            </a:extLst>
          </p:cNvPr>
          <p:cNvSpPr txBox="1">
            <a:spLocks noChangeArrowheads="1"/>
          </p:cNvSpPr>
          <p:nvPr>
            <p:custDataLst>
              <p:tags r:id="rId20"/>
            </p:custDataLst>
          </p:nvPr>
        </p:nvSpPr>
        <p:spPr bwMode="auto">
          <a:xfrm>
            <a:off x="304800" y="3398808"/>
            <a:ext cx="1858714" cy="40011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r>
              <a:rPr lang="en-US" sz="2000" dirty="0">
                <a:solidFill>
                  <a:srgbClr val="CC0000"/>
                </a:solidFill>
                <a:latin typeface="Calibri" pitchFamily="34" charset="0"/>
              </a:rPr>
              <a:t>2: </a:t>
            </a:r>
            <a:r>
              <a:rPr lang="en-US" sz="2000" dirty="0">
                <a:latin typeface="Calibri" pitchFamily="34" charset="0"/>
              </a:rPr>
              <a:t>Store X[1]=37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B5B228C-9941-4C73-BF63-2470C1F9A157}"/>
              </a:ext>
            </a:extLst>
          </p:cNvPr>
          <p:cNvSpPr txBox="1"/>
          <p:nvPr>
            <p:custDataLst>
              <p:tags r:id="rId21"/>
            </p:custDataLst>
          </p:nvPr>
        </p:nvSpPr>
        <p:spPr>
          <a:xfrm>
            <a:off x="-151082" y="4648200"/>
            <a:ext cx="2437082" cy="560717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ctr"/>
            <a:r>
              <a:rPr lang="en-US" sz="1600" dirty="0">
                <a:latin typeface="+mn-lt"/>
              </a:rPr>
              <a:t>assume write-back,</a:t>
            </a:r>
          </a:p>
          <a:p>
            <a:pPr algn="ctr"/>
            <a:r>
              <a:rPr lang="en-US" sz="1600" dirty="0">
                <a:latin typeface="+mn-lt"/>
              </a:rPr>
              <a:t>write-allocate L1 cache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7E1D3498-359D-42B5-B693-E6409DB6E023}"/>
              </a:ext>
            </a:extLst>
          </p:cNvPr>
          <p:cNvCxnSpPr>
            <a:cxnSpLocks/>
          </p:cNvCxnSpPr>
          <p:nvPr/>
        </p:nvCxnSpPr>
        <p:spPr>
          <a:xfrm flipV="1">
            <a:off x="1905000" y="4534586"/>
            <a:ext cx="398493" cy="28840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 Box 11" descr=" 9">
            <a:extLst>
              <a:ext uri="{FF2B5EF4-FFF2-40B4-BE49-F238E27FC236}">
                <a16:creationId xmlns:a16="http://schemas.microsoft.com/office/drawing/2014/main" id="{1815B68E-21A2-4B6C-8348-3EC31B268C3E}"/>
              </a:ext>
            </a:extLst>
          </p:cNvPr>
          <p:cNvSpPr txBox="1">
            <a:spLocks noChangeArrowheads="1"/>
          </p:cNvSpPr>
          <p:nvPr>
            <p:custDataLst>
              <p:tags r:id="rId22"/>
            </p:custDataLst>
          </p:nvPr>
        </p:nvSpPr>
        <p:spPr bwMode="auto">
          <a:xfrm>
            <a:off x="7086599" y="4325815"/>
            <a:ext cx="1806905" cy="40011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r>
              <a:rPr lang="en-US" sz="2000" dirty="0">
                <a:solidFill>
                  <a:srgbClr val="CC0000"/>
                </a:solidFill>
                <a:latin typeface="Calibri" pitchFamily="34" charset="0"/>
              </a:rPr>
              <a:t>3: </a:t>
            </a:r>
            <a:r>
              <a:rPr lang="en-US" sz="2000" dirty="0">
                <a:latin typeface="Calibri" pitchFamily="34" charset="0"/>
              </a:rPr>
              <a:t>Load X[1]=40</a:t>
            </a:r>
          </a:p>
        </p:txBody>
      </p:sp>
      <p:sp>
        <p:nvSpPr>
          <p:cNvPr id="31" name="Text Box 11" descr=" 9">
            <a:extLst>
              <a:ext uri="{FF2B5EF4-FFF2-40B4-BE49-F238E27FC236}">
                <a16:creationId xmlns:a16="http://schemas.microsoft.com/office/drawing/2014/main" id="{867226A6-DB8E-4524-B41E-DC4AF9C27E16}"/>
              </a:ext>
            </a:extLst>
          </p:cNvPr>
          <p:cNvSpPr txBox="1">
            <a:spLocks noChangeArrowheads="1"/>
          </p:cNvSpPr>
          <p:nvPr>
            <p:custDataLst>
              <p:tags r:id="rId23"/>
            </p:custDataLst>
          </p:nvPr>
        </p:nvSpPr>
        <p:spPr bwMode="auto">
          <a:xfrm>
            <a:off x="304800" y="3708317"/>
            <a:ext cx="1121204" cy="40011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r>
              <a:rPr lang="en-US" sz="2000" dirty="0">
                <a:solidFill>
                  <a:srgbClr val="CC0000"/>
                </a:solidFill>
                <a:latin typeface="Calibri" pitchFamily="34" charset="0"/>
              </a:rPr>
              <a:t>4: </a:t>
            </a:r>
            <a:r>
              <a:rPr lang="en-US" sz="2000" dirty="0">
                <a:latin typeface="Calibri" pitchFamily="34" charset="0"/>
              </a:rPr>
              <a:t>Evict X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6934451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1" descr=" 15">
            <a:extLst>
              <a:ext uri="{FF2B5EF4-FFF2-40B4-BE49-F238E27FC236}">
                <a16:creationId xmlns:a16="http://schemas.microsoft.com/office/drawing/2014/main" id="{CE3BB417-CEC1-4317-A0F5-A75A0B0D8AC7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2133600" y="4081947"/>
            <a:ext cx="1219200" cy="312738"/>
          </a:xfrm>
          <a:prstGeom prst="rect">
            <a:avLst/>
          </a:prstGeom>
          <a:ln>
            <a:headEnd type="none" w="sm" len="sm"/>
            <a:tailEnd type="none" w="sm" len="sm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/>
            <a:r>
              <a:rPr lang="en-US" sz="2400" dirty="0">
                <a:latin typeface="Calibri" pitchFamily="34" charset="0"/>
              </a:rPr>
              <a:t>---</a:t>
            </a:r>
          </a:p>
        </p:txBody>
      </p:sp>
      <p:sp>
        <p:nvSpPr>
          <p:cNvPr id="2055" name="Rectangle 2"/>
          <p:cNvSpPr>
            <a:spLocks noGrp="1" noChangeArrowheads="1"/>
          </p:cNvSpPr>
          <p:nvPr>
            <p:ph type="title"/>
            <p:custDataLst>
              <p:tags r:id="rId3"/>
            </p:custDataLst>
          </p:nvPr>
        </p:nvSpPr>
        <p:spPr>
          <a:xfrm>
            <a:off x="457200" y="274638"/>
            <a:ext cx="7467600" cy="1143000"/>
          </a:xfrm>
        </p:spPr>
        <p:txBody>
          <a:bodyPr/>
          <a:lstStyle/>
          <a:p>
            <a:r>
              <a:rPr lang="en-US" altLang="en-US" dirty="0"/>
              <a:t>Cache Coherence Problem</a:t>
            </a:r>
          </a:p>
        </p:txBody>
      </p:sp>
      <p:sp>
        <p:nvSpPr>
          <p:cNvPr id="2056" name="Rectangle 3"/>
          <p:cNvSpPr>
            <a:spLocks noGrp="1" noChangeArrowheads="1"/>
          </p:cNvSpPr>
          <p:nvPr>
            <p:ph idx="1"/>
            <p:custDataLst>
              <p:tags r:id="rId4"/>
            </p:custDataLst>
          </p:nvPr>
        </p:nvSpPr>
        <p:spPr>
          <a:xfrm>
            <a:off x="682625" y="1600200"/>
            <a:ext cx="8308975" cy="1295400"/>
          </a:xfrm>
        </p:spPr>
        <p:txBody>
          <a:bodyPr/>
          <a:lstStyle/>
          <a:p>
            <a:pPr marL="0" indent="0">
              <a:lnSpc>
                <a:spcPct val="80000"/>
              </a:lnSpc>
              <a:buNone/>
            </a:pPr>
            <a:r>
              <a:rPr lang="en-US" altLang="en-US" sz="2800" dirty="0"/>
              <a:t>A block X can exist in multiple </a:t>
            </a:r>
            <a:r>
              <a:rPr lang="en-US" altLang="en-US" sz="2800" b="1" dirty="0"/>
              <a:t>private</a:t>
            </a:r>
            <a:r>
              <a:rPr lang="en-US" altLang="en-US" sz="2800" dirty="0"/>
              <a:t> caches at any given moment. If one core modifies X, unless other cores are immediately made aware of this change, the other cores may read the </a:t>
            </a:r>
            <a:r>
              <a:rPr lang="en-US" altLang="en-US" sz="2800" b="1" dirty="0"/>
              <a:t>stale (wrong) </a:t>
            </a:r>
            <a:r>
              <a:rPr lang="en-US" altLang="en-US" sz="2800" dirty="0"/>
              <a:t>contents of X.</a:t>
            </a:r>
          </a:p>
        </p:txBody>
      </p:sp>
      <p:sp>
        <p:nvSpPr>
          <p:cNvPr id="2054" name="Slide Number Placeholder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 bwMode="auto">
          <a:xfrm>
            <a:off x="7620000" y="6356350"/>
            <a:ext cx="106680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 sz="1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eaLnBrk="0" hangingPunct="0">
              <a:defRPr sz="1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1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1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1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lvl="1" eaLnBrk="1" hangingPunct="1"/>
            <a:fld id="{CBC38AAC-2024-4792-9CC7-FB44A3777575}" type="slidenum">
              <a:rPr lang="en-US" altLang="en-US"/>
              <a:pPr lvl="1" eaLnBrk="1" hangingPunct="1"/>
              <a:t>6</a:t>
            </a:fld>
            <a:endParaRPr lang="en-US" altLang="en-US"/>
          </a:p>
        </p:txBody>
      </p:sp>
      <p:sp>
        <p:nvSpPr>
          <p:cNvPr id="5" name="Rectangle 4" descr=" 5">
            <a:extLst>
              <a:ext uri="{FF2B5EF4-FFF2-40B4-BE49-F238E27FC236}">
                <a16:creationId xmlns:a16="http://schemas.microsoft.com/office/drawing/2014/main" id="{EDE355B8-E286-4696-8B42-B19B51166A6E}"/>
              </a:ext>
            </a:extLst>
          </p:cNvPr>
          <p:cNvSpPr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2462806" y="5071802"/>
            <a:ext cx="4041084" cy="376238"/>
          </a:xfrm>
          <a:prstGeom prst="rect">
            <a:avLst/>
          </a:prstGeom>
          <a:ln>
            <a:headEnd type="none" w="sm" len="sm"/>
            <a:tailEnd type="none" w="sm" len="sm"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/>
            <a:r>
              <a:rPr lang="en-US" sz="2400" dirty="0">
                <a:latin typeface="Calibri" pitchFamily="34" charset="0"/>
              </a:rPr>
              <a:t>Bus</a:t>
            </a:r>
          </a:p>
        </p:txBody>
      </p:sp>
      <p:sp>
        <p:nvSpPr>
          <p:cNvPr id="6" name="Rectangle 6" descr=" 6">
            <a:extLst>
              <a:ext uri="{FF2B5EF4-FFF2-40B4-BE49-F238E27FC236}">
                <a16:creationId xmlns:a16="http://schemas.microsoft.com/office/drawing/2014/main" id="{D69625F6-D9BC-4773-B8F3-4888CE62BED5}"/>
              </a:ext>
            </a:extLst>
          </p:cNvPr>
          <p:cNvSpPr>
            <a:spLocks noChangeArrowheads="1"/>
          </p:cNvSpPr>
          <p:nvPr>
            <p:custDataLst>
              <p:tags r:id="rId7"/>
            </p:custDataLst>
          </p:nvPr>
        </p:nvSpPr>
        <p:spPr bwMode="auto">
          <a:xfrm>
            <a:off x="2326341" y="3273165"/>
            <a:ext cx="833719" cy="574675"/>
          </a:xfrm>
          <a:prstGeom prst="rect">
            <a:avLst/>
          </a:prstGeom>
          <a:ln>
            <a:headEnd type="none" w="sm" len="sm"/>
            <a:tailEnd type="none" w="sm" len="sm"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/>
            <a:r>
              <a:rPr lang="en-US" sz="2400" dirty="0">
                <a:latin typeface="Calibri" pitchFamily="34" charset="0"/>
              </a:rPr>
              <a:t>P1</a:t>
            </a:r>
          </a:p>
        </p:txBody>
      </p:sp>
      <p:cxnSp>
        <p:nvCxnSpPr>
          <p:cNvPr id="7" name="AutoShape 9" descr=" 7">
            <a:extLst>
              <a:ext uri="{FF2B5EF4-FFF2-40B4-BE49-F238E27FC236}">
                <a16:creationId xmlns:a16="http://schemas.microsoft.com/office/drawing/2014/main" id="{FB829A3E-4309-4B4E-91AE-79E4B807B46F}"/>
              </a:ext>
            </a:extLst>
          </p:cNvPr>
          <p:cNvCxnSpPr>
            <a:cxnSpLocks noChangeShapeType="1"/>
          </p:cNvCxnSpPr>
          <p:nvPr>
            <p:custDataLst>
              <p:tags r:id="rId8"/>
            </p:custDataLst>
          </p:nvPr>
        </p:nvCxnSpPr>
        <p:spPr bwMode="auto">
          <a:xfrm rot="5400000">
            <a:off x="2634457" y="3973203"/>
            <a:ext cx="217488" cy="1"/>
          </a:xfrm>
          <a:prstGeom prst="bentConnector3">
            <a:avLst>
              <a:gd name="adj1" fmla="val 50000"/>
            </a:avLst>
          </a:prstGeom>
          <a:noFill/>
          <a:ln w="12700">
            <a:solidFill>
              <a:schemeClr val="tx1"/>
            </a:solidFill>
            <a:miter lim="800000"/>
            <a:headEnd type="none" w="sm" len="sm"/>
            <a:tailEnd type="triangle" w="med" len="med"/>
          </a:ln>
        </p:spPr>
      </p:cxnSp>
      <p:sp>
        <p:nvSpPr>
          <p:cNvPr id="8" name="Line 10" descr=" 8">
            <a:extLst>
              <a:ext uri="{FF2B5EF4-FFF2-40B4-BE49-F238E27FC236}">
                <a16:creationId xmlns:a16="http://schemas.microsoft.com/office/drawing/2014/main" id="{3AE748C1-0FFF-4A5E-AD2C-71E099112ABD}"/>
              </a:ext>
            </a:extLst>
          </p:cNvPr>
          <p:cNvSpPr>
            <a:spLocks noChangeShapeType="1"/>
          </p:cNvSpPr>
          <p:nvPr>
            <p:custDataLst>
              <p:tags r:id="rId9"/>
            </p:custDataLst>
          </p:nvPr>
        </p:nvSpPr>
        <p:spPr bwMode="auto">
          <a:xfrm>
            <a:off x="2752165" y="4695005"/>
            <a:ext cx="0" cy="37782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med" len="med"/>
          </a:ln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9" name="Rectangle 14" descr=" 10">
            <a:extLst>
              <a:ext uri="{FF2B5EF4-FFF2-40B4-BE49-F238E27FC236}">
                <a16:creationId xmlns:a16="http://schemas.microsoft.com/office/drawing/2014/main" id="{19C9A5C2-82A6-4618-AEF4-D796B42B9D28}"/>
              </a:ext>
            </a:extLst>
          </p:cNvPr>
          <p:cNvSpPr>
            <a:spLocks noChangeArrowheads="1"/>
          </p:cNvSpPr>
          <p:nvPr>
            <p:custDataLst>
              <p:tags r:id="rId10"/>
            </p:custDataLst>
          </p:nvPr>
        </p:nvSpPr>
        <p:spPr bwMode="auto">
          <a:xfrm>
            <a:off x="5907741" y="3273165"/>
            <a:ext cx="833719" cy="574675"/>
          </a:xfrm>
          <a:prstGeom prst="rect">
            <a:avLst/>
          </a:prstGeom>
          <a:ln>
            <a:headEnd type="none" w="sm" len="sm"/>
            <a:tailEnd type="none" w="sm" len="sm"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/>
            <a:r>
              <a:rPr lang="en-US" sz="2400" dirty="0">
                <a:latin typeface="Calibri" pitchFamily="34" charset="0"/>
              </a:rPr>
              <a:t>P2</a:t>
            </a:r>
          </a:p>
        </p:txBody>
      </p:sp>
      <p:cxnSp>
        <p:nvCxnSpPr>
          <p:cNvPr id="10" name="AutoShape 17" descr=" 11">
            <a:extLst>
              <a:ext uri="{FF2B5EF4-FFF2-40B4-BE49-F238E27FC236}">
                <a16:creationId xmlns:a16="http://schemas.microsoft.com/office/drawing/2014/main" id="{E0521808-8B71-4CD4-9BE9-B6CFFD252860}"/>
              </a:ext>
            </a:extLst>
          </p:cNvPr>
          <p:cNvCxnSpPr>
            <a:cxnSpLocks noChangeShapeType="1"/>
            <a:stCxn id="9" idx="2"/>
            <a:endCxn id="15" idx="0"/>
          </p:cNvCxnSpPr>
          <p:nvPr>
            <p:custDataLst>
              <p:tags r:id="rId11"/>
            </p:custDataLst>
          </p:nvPr>
        </p:nvCxnSpPr>
        <p:spPr bwMode="auto">
          <a:xfrm rot="5400000">
            <a:off x="6210301" y="3962140"/>
            <a:ext cx="228600" cy="1"/>
          </a:xfrm>
          <a:prstGeom prst="bentConnector3">
            <a:avLst>
              <a:gd name="adj1" fmla="val 50000"/>
            </a:avLst>
          </a:prstGeom>
          <a:noFill/>
          <a:ln w="12700">
            <a:solidFill>
              <a:schemeClr val="tx1"/>
            </a:solidFill>
            <a:miter lim="800000"/>
            <a:headEnd type="none" w="sm" len="sm"/>
            <a:tailEnd type="triangle" w="med" len="med"/>
          </a:ln>
        </p:spPr>
      </p:cxnSp>
      <p:sp>
        <p:nvSpPr>
          <p:cNvPr id="11" name="Rectangle 21" descr=" 12">
            <a:extLst>
              <a:ext uri="{FF2B5EF4-FFF2-40B4-BE49-F238E27FC236}">
                <a16:creationId xmlns:a16="http://schemas.microsoft.com/office/drawing/2014/main" id="{33B0E5F3-06D7-4950-A1EE-7474D266FA9B}"/>
              </a:ext>
            </a:extLst>
          </p:cNvPr>
          <p:cNvSpPr>
            <a:spLocks noChangeArrowheads="1"/>
          </p:cNvSpPr>
          <p:nvPr>
            <p:custDataLst>
              <p:tags r:id="rId12"/>
            </p:custDataLst>
          </p:nvPr>
        </p:nvSpPr>
        <p:spPr bwMode="auto">
          <a:xfrm>
            <a:off x="3338278" y="5760778"/>
            <a:ext cx="2290141" cy="312738"/>
          </a:xfrm>
          <a:prstGeom prst="rect">
            <a:avLst/>
          </a:prstGeom>
          <a:ln>
            <a:headEnd type="none" w="sm" len="sm"/>
            <a:tailEnd type="none" w="sm" len="sm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/>
            <a:r>
              <a:rPr lang="en-US" sz="2000" b="1" dirty="0">
                <a:latin typeface="Calibri" pitchFamily="34" charset="0"/>
              </a:rPr>
              <a:t>X: 51,37,…</a:t>
            </a:r>
            <a:endParaRPr lang="en-US" sz="2400" b="1" dirty="0">
              <a:latin typeface="Calibri" pitchFamily="34" charset="0"/>
            </a:endParaRPr>
          </a:p>
        </p:txBody>
      </p:sp>
      <p:sp>
        <p:nvSpPr>
          <p:cNvPr id="12" name="Line 10" descr=" 13">
            <a:extLst>
              <a:ext uri="{FF2B5EF4-FFF2-40B4-BE49-F238E27FC236}">
                <a16:creationId xmlns:a16="http://schemas.microsoft.com/office/drawing/2014/main" id="{2766B6C8-0F2B-4CBE-B18A-2AA179550756}"/>
              </a:ext>
            </a:extLst>
          </p:cNvPr>
          <p:cNvSpPr>
            <a:spLocks noChangeShapeType="1"/>
          </p:cNvSpPr>
          <p:nvPr>
            <p:custDataLst>
              <p:tags r:id="rId13"/>
            </p:custDataLst>
          </p:nvPr>
        </p:nvSpPr>
        <p:spPr bwMode="auto">
          <a:xfrm>
            <a:off x="6324600" y="4686040"/>
            <a:ext cx="0" cy="37782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med" len="med"/>
          </a:ln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cxnSp>
        <p:nvCxnSpPr>
          <p:cNvPr id="13" name="Straight Arrow Connector 12" descr=" 14">
            <a:extLst>
              <a:ext uri="{FF2B5EF4-FFF2-40B4-BE49-F238E27FC236}">
                <a16:creationId xmlns:a16="http://schemas.microsoft.com/office/drawing/2014/main" id="{942E8D10-FE0C-444F-BA46-F64AB115E845}"/>
              </a:ext>
            </a:extLst>
          </p:cNvPr>
          <p:cNvCxnSpPr>
            <a:stCxn id="5" idx="2"/>
            <a:endCxn id="11" idx="0"/>
          </p:cNvCxnSpPr>
          <p:nvPr/>
        </p:nvCxnSpPr>
        <p:spPr bwMode="auto">
          <a:xfrm rot="16200000" flipH="1">
            <a:off x="4326979" y="5604408"/>
            <a:ext cx="312738" cy="1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15" name="Rectangle 21" descr=" 16">
            <a:extLst>
              <a:ext uri="{FF2B5EF4-FFF2-40B4-BE49-F238E27FC236}">
                <a16:creationId xmlns:a16="http://schemas.microsoft.com/office/drawing/2014/main" id="{31A0AD37-7542-4F47-9814-213E540FEF69}"/>
              </a:ext>
            </a:extLst>
          </p:cNvPr>
          <p:cNvSpPr>
            <a:spLocks noChangeArrowheads="1"/>
          </p:cNvSpPr>
          <p:nvPr>
            <p:custDataLst>
              <p:tags r:id="rId14"/>
            </p:custDataLst>
          </p:nvPr>
        </p:nvSpPr>
        <p:spPr bwMode="auto">
          <a:xfrm>
            <a:off x="5715000" y="4076440"/>
            <a:ext cx="1219200" cy="312738"/>
          </a:xfrm>
          <a:prstGeom prst="rect">
            <a:avLst/>
          </a:prstGeom>
          <a:ln>
            <a:headEnd type="none" w="sm" len="sm"/>
            <a:tailEnd type="none" w="sm" len="sm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/>
            <a:r>
              <a:rPr lang="en-US" sz="2000" dirty="0">
                <a:latin typeface="Calibri" pitchFamily="34" charset="0"/>
              </a:rPr>
              <a:t>X: 51,40,…</a:t>
            </a:r>
            <a:endParaRPr lang="en-US" sz="2400" dirty="0">
              <a:latin typeface="Calibri" pitchFamily="34" charset="0"/>
            </a:endParaRPr>
          </a:p>
        </p:txBody>
      </p:sp>
      <p:sp>
        <p:nvSpPr>
          <p:cNvPr id="16" name="TextBox 15" descr=" 17">
            <a:extLst>
              <a:ext uri="{FF2B5EF4-FFF2-40B4-BE49-F238E27FC236}">
                <a16:creationId xmlns:a16="http://schemas.microsoft.com/office/drawing/2014/main" id="{EA522BB3-BBBD-4687-BCEB-E94B1A0F0D3E}"/>
              </a:ext>
            </a:extLst>
          </p:cNvPr>
          <p:cNvSpPr txBox="1"/>
          <p:nvPr>
            <p:custDataLst>
              <p:tags r:id="rId15"/>
            </p:custDataLst>
          </p:nvPr>
        </p:nvSpPr>
        <p:spPr>
          <a:xfrm>
            <a:off x="5638800" y="6057640"/>
            <a:ext cx="137351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latin typeface="+mn-lt"/>
              </a:rPr>
              <a:t>Main Memory</a:t>
            </a:r>
          </a:p>
        </p:txBody>
      </p:sp>
      <p:sp>
        <p:nvSpPr>
          <p:cNvPr id="17" name="Rectangle 22" descr=" 24">
            <a:extLst>
              <a:ext uri="{FF2B5EF4-FFF2-40B4-BE49-F238E27FC236}">
                <a16:creationId xmlns:a16="http://schemas.microsoft.com/office/drawing/2014/main" id="{A90CB2CB-1A09-4341-A1E3-CBF2F3A75203}"/>
              </a:ext>
            </a:extLst>
          </p:cNvPr>
          <p:cNvSpPr>
            <a:spLocks noChangeArrowheads="1"/>
          </p:cNvSpPr>
          <p:nvPr>
            <p:custDataLst>
              <p:tags r:id="rId16"/>
            </p:custDataLst>
          </p:nvPr>
        </p:nvSpPr>
        <p:spPr bwMode="auto">
          <a:xfrm>
            <a:off x="2133600" y="4381240"/>
            <a:ext cx="1219200" cy="312738"/>
          </a:xfrm>
          <a:prstGeom prst="rect">
            <a:avLst/>
          </a:prstGeom>
          <a:ln>
            <a:headEnd type="none" w="sm" len="sm"/>
            <a:tailEnd type="none" w="sm" len="sm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/>
            <a:endParaRPr lang="en-US" sz="2400" dirty="0">
              <a:latin typeface="Calibri" pitchFamily="34" charset="0"/>
            </a:endParaRPr>
          </a:p>
        </p:txBody>
      </p:sp>
      <p:sp>
        <p:nvSpPr>
          <p:cNvPr id="18" name="Rectangle 22" descr=" 25">
            <a:extLst>
              <a:ext uri="{FF2B5EF4-FFF2-40B4-BE49-F238E27FC236}">
                <a16:creationId xmlns:a16="http://schemas.microsoft.com/office/drawing/2014/main" id="{DF4A33AA-A93B-40BE-AEC9-149E924A2C29}"/>
              </a:ext>
            </a:extLst>
          </p:cNvPr>
          <p:cNvSpPr>
            <a:spLocks noChangeArrowheads="1"/>
          </p:cNvSpPr>
          <p:nvPr>
            <p:custDataLst>
              <p:tags r:id="rId17"/>
            </p:custDataLst>
          </p:nvPr>
        </p:nvSpPr>
        <p:spPr bwMode="auto">
          <a:xfrm>
            <a:off x="5715000" y="4392352"/>
            <a:ext cx="1219200" cy="312738"/>
          </a:xfrm>
          <a:prstGeom prst="rect">
            <a:avLst/>
          </a:prstGeom>
          <a:ln>
            <a:headEnd type="none" w="sm" len="sm"/>
            <a:tailEnd type="none" w="sm" len="sm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/>
            <a:endParaRPr lang="en-US" sz="2400" dirty="0">
              <a:latin typeface="Calibri" pitchFamily="34" charset="0"/>
            </a:endParaRPr>
          </a:p>
        </p:txBody>
      </p:sp>
      <p:sp>
        <p:nvSpPr>
          <p:cNvPr id="19" name="Rectangle 22" descr=" 26">
            <a:extLst>
              <a:ext uri="{FF2B5EF4-FFF2-40B4-BE49-F238E27FC236}">
                <a16:creationId xmlns:a16="http://schemas.microsoft.com/office/drawing/2014/main" id="{7925C335-3B0E-40B4-837E-DE3758F69EB2}"/>
              </a:ext>
            </a:extLst>
          </p:cNvPr>
          <p:cNvSpPr>
            <a:spLocks noChangeArrowheads="1"/>
          </p:cNvSpPr>
          <p:nvPr>
            <p:custDataLst>
              <p:tags r:id="rId18"/>
            </p:custDataLst>
          </p:nvPr>
        </p:nvSpPr>
        <p:spPr bwMode="auto">
          <a:xfrm>
            <a:off x="3338278" y="6076690"/>
            <a:ext cx="2290141" cy="312738"/>
          </a:xfrm>
          <a:prstGeom prst="rect">
            <a:avLst/>
          </a:prstGeom>
          <a:ln>
            <a:headEnd type="none" w="sm" len="sm"/>
            <a:tailEnd type="none" w="sm" len="sm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/>
            <a:endParaRPr lang="en-US" sz="2400" dirty="0">
              <a:latin typeface="Calibri" pitchFamily="34" charset="0"/>
            </a:endParaRPr>
          </a:p>
        </p:txBody>
      </p:sp>
      <p:sp>
        <p:nvSpPr>
          <p:cNvPr id="20" name="Text Box 11" descr=" 9">
            <a:extLst>
              <a:ext uri="{FF2B5EF4-FFF2-40B4-BE49-F238E27FC236}">
                <a16:creationId xmlns:a16="http://schemas.microsoft.com/office/drawing/2014/main" id="{79F72ADC-1F7B-4F47-8FFC-1DA0B1E8AD0C}"/>
              </a:ext>
            </a:extLst>
          </p:cNvPr>
          <p:cNvSpPr txBox="1">
            <a:spLocks noChangeArrowheads="1"/>
          </p:cNvSpPr>
          <p:nvPr>
            <p:custDataLst>
              <p:tags r:id="rId19"/>
            </p:custDataLst>
          </p:nvPr>
        </p:nvSpPr>
        <p:spPr bwMode="auto">
          <a:xfrm>
            <a:off x="7086600" y="3986706"/>
            <a:ext cx="1806905" cy="40011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r>
              <a:rPr lang="en-US" sz="2000" dirty="0">
                <a:solidFill>
                  <a:srgbClr val="CC0000"/>
                </a:solidFill>
                <a:latin typeface="Calibri" pitchFamily="34" charset="0"/>
              </a:rPr>
              <a:t>1: </a:t>
            </a:r>
            <a:r>
              <a:rPr lang="en-US" sz="2000" dirty="0">
                <a:latin typeface="Calibri" pitchFamily="34" charset="0"/>
              </a:rPr>
              <a:t>Load X[0]=51</a:t>
            </a:r>
          </a:p>
        </p:txBody>
      </p:sp>
      <p:sp>
        <p:nvSpPr>
          <p:cNvPr id="21" name="Text Box 11" descr=" 9">
            <a:extLst>
              <a:ext uri="{FF2B5EF4-FFF2-40B4-BE49-F238E27FC236}">
                <a16:creationId xmlns:a16="http://schemas.microsoft.com/office/drawing/2014/main" id="{79294125-0F02-4103-8308-22D5EA6B7D0B}"/>
              </a:ext>
            </a:extLst>
          </p:cNvPr>
          <p:cNvSpPr txBox="1">
            <a:spLocks noChangeArrowheads="1"/>
          </p:cNvSpPr>
          <p:nvPr>
            <p:custDataLst>
              <p:tags r:id="rId20"/>
            </p:custDataLst>
          </p:nvPr>
        </p:nvSpPr>
        <p:spPr bwMode="auto">
          <a:xfrm>
            <a:off x="304800" y="3398808"/>
            <a:ext cx="1858714" cy="40011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r>
              <a:rPr lang="en-US" sz="2000" dirty="0">
                <a:solidFill>
                  <a:srgbClr val="CC0000"/>
                </a:solidFill>
                <a:latin typeface="Calibri" pitchFamily="34" charset="0"/>
              </a:rPr>
              <a:t>2: </a:t>
            </a:r>
            <a:r>
              <a:rPr lang="en-US" sz="2000" dirty="0">
                <a:latin typeface="Calibri" pitchFamily="34" charset="0"/>
              </a:rPr>
              <a:t>Store X[1]=37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B5B228C-9941-4C73-BF63-2470C1F9A157}"/>
              </a:ext>
            </a:extLst>
          </p:cNvPr>
          <p:cNvSpPr txBox="1"/>
          <p:nvPr>
            <p:custDataLst>
              <p:tags r:id="rId21"/>
            </p:custDataLst>
          </p:nvPr>
        </p:nvSpPr>
        <p:spPr>
          <a:xfrm>
            <a:off x="-151082" y="4648200"/>
            <a:ext cx="2437082" cy="560717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ctr"/>
            <a:r>
              <a:rPr lang="en-US" sz="1600" dirty="0">
                <a:latin typeface="+mn-lt"/>
              </a:rPr>
              <a:t>assume write-back,</a:t>
            </a:r>
          </a:p>
          <a:p>
            <a:pPr algn="ctr"/>
            <a:r>
              <a:rPr lang="en-US" sz="1600" dirty="0">
                <a:latin typeface="+mn-lt"/>
              </a:rPr>
              <a:t>write-allocate L1 cache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7E1D3498-359D-42B5-B693-E6409DB6E023}"/>
              </a:ext>
            </a:extLst>
          </p:cNvPr>
          <p:cNvCxnSpPr>
            <a:cxnSpLocks/>
          </p:cNvCxnSpPr>
          <p:nvPr/>
        </p:nvCxnSpPr>
        <p:spPr>
          <a:xfrm flipV="1">
            <a:off x="1905000" y="4534586"/>
            <a:ext cx="398493" cy="28840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 Box 11" descr=" 9">
            <a:extLst>
              <a:ext uri="{FF2B5EF4-FFF2-40B4-BE49-F238E27FC236}">
                <a16:creationId xmlns:a16="http://schemas.microsoft.com/office/drawing/2014/main" id="{1815B68E-21A2-4B6C-8348-3EC31B268C3E}"/>
              </a:ext>
            </a:extLst>
          </p:cNvPr>
          <p:cNvSpPr txBox="1">
            <a:spLocks noChangeArrowheads="1"/>
          </p:cNvSpPr>
          <p:nvPr>
            <p:custDataLst>
              <p:tags r:id="rId22"/>
            </p:custDataLst>
          </p:nvPr>
        </p:nvSpPr>
        <p:spPr bwMode="auto">
          <a:xfrm>
            <a:off x="7086599" y="4325815"/>
            <a:ext cx="1806905" cy="40011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r>
              <a:rPr lang="en-US" sz="2000" dirty="0">
                <a:solidFill>
                  <a:srgbClr val="CC0000"/>
                </a:solidFill>
                <a:latin typeface="Calibri" pitchFamily="34" charset="0"/>
              </a:rPr>
              <a:t>3: </a:t>
            </a:r>
            <a:r>
              <a:rPr lang="en-US" sz="2000" dirty="0">
                <a:latin typeface="Calibri" pitchFamily="34" charset="0"/>
              </a:rPr>
              <a:t>Load X[1]=40</a:t>
            </a:r>
          </a:p>
        </p:txBody>
      </p:sp>
      <p:sp>
        <p:nvSpPr>
          <p:cNvPr id="31" name="Text Box 11" descr=" 9">
            <a:extLst>
              <a:ext uri="{FF2B5EF4-FFF2-40B4-BE49-F238E27FC236}">
                <a16:creationId xmlns:a16="http://schemas.microsoft.com/office/drawing/2014/main" id="{867226A6-DB8E-4524-B41E-DC4AF9C27E16}"/>
              </a:ext>
            </a:extLst>
          </p:cNvPr>
          <p:cNvSpPr txBox="1">
            <a:spLocks noChangeArrowheads="1"/>
          </p:cNvSpPr>
          <p:nvPr>
            <p:custDataLst>
              <p:tags r:id="rId23"/>
            </p:custDataLst>
          </p:nvPr>
        </p:nvSpPr>
        <p:spPr bwMode="auto">
          <a:xfrm>
            <a:off x="304800" y="3708317"/>
            <a:ext cx="1121204" cy="40011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r>
              <a:rPr lang="en-US" sz="2000" dirty="0">
                <a:solidFill>
                  <a:srgbClr val="CC0000"/>
                </a:solidFill>
                <a:latin typeface="Calibri" pitchFamily="34" charset="0"/>
              </a:rPr>
              <a:t>4: </a:t>
            </a:r>
            <a:r>
              <a:rPr lang="en-US" sz="2000" dirty="0">
                <a:latin typeface="Calibri" pitchFamily="34" charset="0"/>
              </a:rPr>
              <a:t>Evict X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2872842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1" descr=" 15">
            <a:extLst>
              <a:ext uri="{FF2B5EF4-FFF2-40B4-BE49-F238E27FC236}">
                <a16:creationId xmlns:a16="http://schemas.microsoft.com/office/drawing/2014/main" id="{CE3BB417-CEC1-4317-A0F5-A75A0B0D8AC7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2133600" y="4081947"/>
            <a:ext cx="1219200" cy="312738"/>
          </a:xfrm>
          <a:prstGeom prst="rect">
            <a:avLst/>
          </a:prstGeom>
          <a:ln>
            <a:headEnd type="none" w="sm" len="sm"/>
            <a:tailEnd type="none" w="sm" len="sm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/>
            <a:endParaRPr lang="en-US" sz="2400" dirty="0">
              <a:latin typeface="Calibri" pitchFamily="34" charset="0"/>
            </a:endParaRPr>
          </a:p>
        </p:txBody>
      </p:sp>
      <p:sp>
        <p:nvSpPr>
          <p:cNvPr id="2055" name="Rectangle 2"/>
          <p:cNvSpPr>
            <a:spLocks noGrp="1" noChangeArrowheads="1"/>
          </p:cNvSpPr>
          <p:nvPr>
            <p:ph type="title"/>
            <p:custDataLst>
              <p:tags r:id="rId3"/>
            </p:custDataLst>
          </p:nvPr>
        </p:nvSpPr>
        <p:spPr>
          <a:xfrm>
            <a:off x="457200" y="274638"/>
            <a:ext cx="7467600" cy="1143000"/>
          </a:xfrm>
        </p:spPr>
        <p:txBody>
          <a:bodyPr/>
          <a:lstStyle/>
          <a:p>
            <a:r>
              <a:rPr lang="en-US" altLang="en-US" dirty="0"/>
              <a:t>Cache Coherence Problem</a:t>
            </a:r>
          </a:p>
        </p:txBody>
      </p:sp>
      <p:sp>
        <p:nvSpPr>
          <p:cNvPr id="2056" name="Rectangle 3"/>
          <p:cNvSpPr>
            <a:spLocks noGrp="1" noChangeArrowheads="1"/>
          </p:cNvSpPr>
          <p:nvPr>
            <p:ph idx="1"/>
            <p:custDataLst>
              <p:tags r:id="rId4"/>
            </p:custDataLst>
          </p:nvPr>
        </p:nvSpPr>
        <p:spPr>
          <a:xfrm>
            <a:off x="682625" y="1600200"/>
            <a:ext cx="8308975" cy="1295400"/>
          </a:xfrm>
        </p:spPr>
        <p:txBody>
          <a:bodyPr/>
          <a:lstStyle/>
          <a:p>
            <a:pPr marL="0" indent="0">
              <a:lnSpc>
                <a:spcPct val="80000"/>
              </a:lnSpc>
              <a:buNone/>
            </a:pPr>
            <a:r>
              <a:rPr lang="en-US" altLang="en-US" sz="2800" dirty="0"/>
              <a:t>A block X can exist in multiple </a:t>
            </a:r>
            <a:r>
              <a:rPr lang="en-US" altLang="en-US" sz="2800" b="1" dirty="0"/>
              <a:t>private</a:t>
            </a:r>
            <a:r>
              <a:rPr lang="en-US" altLang="en-US" sz="2800" dirty="0"/>
              <a:t> caches at any given moment. If one core modifies X, unless other cores are immediately made aware of this change, the other cores may read the </a:t>
            </a:r>
            <a:r>
              <a:rPr lang="en-US" altLang="en-US" sz="2800" b="1" dirty="0"/>
              <a:t>stale (wrong) </a:t>
            </a:r>
            <a:r>
              <a:rPr lang="en-US" altLang="en-US" sz="2800" dirty="0"/>
              <a:t>contents of X.</a:t>
            </a:r>
          </a:p>
        </p:txBody>
      </p:sp>
      <p:sp>
        <p:nvSpPr>
          <p:cNvPr id="2054" name="Slide Number Placeholder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 bwMode="auto">
          <a:xfrm>
            <a:off x="7620000" y="6356350"/>
            <a:ext cx="106680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 sz="1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eaLnBrk="0" hangingPunct="0">
              <a:defRPr sz="1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1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1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1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lvl="1" eaLnBrk="1" hangingPunct="1"/>
            <a:fld id="{CBC38AAC-2024-4792-9CC7-FB44A3777575}" type="slidenum">
              <a:rPr lang="en-US" altLang="en-US"/>
              <a:pPr lvl="1" eaLnBrk="1" hangingPunct="1"/>
              <a:t>7</a:t>
            </a:fld>
            <a:endParaRPr lang="en-US" altLang="en-US"/>
          </a:p>
        </p:txBody>
      </p:sp>
      <p:sp>
        <p:nvSpPr>
          <p:cNvPr id="5" name="Rectangle 4" descr=" 5">
            <a:extLst>
              <a:ext uri="{FF2B5EF4-FFF2-40B4-BE49-F238E27FC236}">
                <a16:creationId xmlns:a16="http://schemas.microsoft.com/office/drawing/2014/main" id="{EDE355B8-E286-4696-8B42-B19B51166A6E}"/>
              </a:ext>
            </a:extLst>
          </p:cNvPr>
          <p:cNvSpPr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2462806" y="5071802"/>
            <a:ext cx="4041084" cy="376238"/>
          </a:xfrm>
          <a:prstGeom prst="rect">
            <a:avLst/>
          </a:prstGeom>
          <a:ln>
            <a:headEnd type="none" w="sm" len="sm"/>
            <a:tailEnd type="none" w="sm" len="sm"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/>
            <a:r>
              <a:rPr lang="en-US" sz="2400" dirty="0">
                <a:latin typeface="Calibri" pitchFamily="34" charset="0"/>
              </a:rPr>
              <a:t>Bus</a:t>
            </a:r>
          </a:p>
        </p:txBody>
      </p:sp>
      <p:sp>
        <p:nvSpPr>
          <p:cNvPr id="6" name="Rectangle 6" descr=" 6">
            <a:extLst>
              <a:ext uri="{FF2B5EF4-FFF2-40B4-BE49-F238E27FC236}">
                <a16:creationId xmlns:a16="http://schemas.microsoft.com/office/drawing/2014/main" id="{D69625F6-D9BC-4773-B8F3-4888CE62BED5}"/>
              </a:ext>
            </a:extLst>
          </p:cNvPr>
          <p:cNvSpPr>
            <a:spLocks noChangeArrowheads="1"/>
          </p:cNvSpPr>
          <p:nvPr>
            <p:custDataLst>
              <p:tags r:id="rId7"/>
            </p:custDataLst>
          </p:nvPr>
        </p:nvSpPr>
        <p:spPr bwMode="auto">
          <a:xfrm>
            <a:off x="2326341" y="3273165"/>
            <a:ext cx="833719" cy="574675"/>
          </a:xfrm>
          <a:prstGeom prst="rect">
            <a:avLst/>
          </a:prstGeom>
          <a:ln>
            <a:headEnd type="none" w="sm" len="sm"/>
            <a:tailEnd type="none" w="sm" len="sm"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/>
            <a:r>
              <a:rPr lang="en-US" sz="2400" dirty="0">
                <a:latin typeface="Calibri" pitchFamily="34" charset="0"/>
              </a:rPr>
              <a:t>P1</a:t>
            </a:r>
          </a:p>
        </p:txBody>
      </p:sp>
      <p:cxnSp>
        <p:nvCxnSpPr>
          <p:cNvPr id="7" name="AutoShape 9" descr=" 7">
            <a:extLst>
              <a:ext uri="{FF2B5EF4-FFF2-40B4-BE49-F238E27FC236}">
                <a16:creationId xmlns:a16="http://schemas.microsoft.com/office/drawing/2014/main" id="{FB829A3E-4309-4B4E-91AE-79E4B807B46F}"/>
              </a:ext>
            </a:extLst>
          </p:cNvPr>
          <p:cNvCxnSpPr>
            <a:cxnSpLocks noChangeShapeType="1"/>
          </p:cNvCxnSpPr>
          <p:nvPr>
            <p:custDataLst>
              <p:tags r:id="rId8"/>
            </p:custDataLst>
          </p:nvPr>
        </p:nvCxnSpPr>
        <p:spPr bwMode="auto">
          <a:xfrm rot="5400000">
            <a:off x="2634457" y="3973203"/>
            <a:ext cx="217488" cy="1"/>
          </a:xfrm>
          <a:prstGeom prst="bentConnector3">
            <a:avLst>
              <a:gd name="adj1" fmla="val 50000"/>
            </a:avLst>
          </a:prstGeom>
          <a:noFill/>
          <a:ln w="12700">
            <a:solidFill>
              <a:schemeClr val="tx1"/>
            </a:solidFill>
            <a:miter lim="800000"/>
            <a:headEnd type="none" w="sm" len="sm"/>
            <a:tailEnd type="triangle" w="med" len="med"/>
          </a:ln>
        </p:spPr>
      </p:cxnSp>
      <p:sp>
        <p:nvSpPr>
          <p:cNvPr id="8" name="Line 10" descr=" 8">
            <a:extLst>
              <a:ext uri="{FF2B5EF4-FFF2-40B4-BE49-F238E27FC236}">
                <a16:creationId xmlns:a16="http://schemas.microsoft.com/office/drawing/2014/main" id="{3AE748C1-0FFF-4A5E-AD2C-71E099112ABD}"/>
              </a:ext>
            </a:extLst>
          </p:cNvPr>
          <p:cNvSpPr>
            <a:spLocks noChangeShapeType="1"/>
          </p:cNvSpPr>
          <p:nvPr>
            <p:custDataLst>
              <p:tags r:id="rId9"/>
            </p:custDataLst>
          </p:nvPr>
        </p:nvSpPr>
        <p:spPr bwMode="auto">
          <a:xfrm>
            <a:off x="2752165" y="4695005"/>
            <a:ext cx="0" cy="37782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med" len="med"/>
          </a:ln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9" name="Rectangle 14" descr=" 10">
            <a:extLst>
              <a:ext uri="{FF2B5EF4-FFF2-40B4-BE49-F238E27FC236}">
                <a16:creationId xmlns:a16="http://schemas.microsoft.com/office/drawing/2014/main" id="{19C9A5C2-82A6-4618-AEF4-D796B42B9D28}"/>
              </a:ext>
            </a:extLst>
          </p:cNvPr>
          <p:cNvSpPr>
            <a:spLocks noChangeArrowheads="1"/>
          </p:cNvSpPr>
          <p:nvPr>
            <p:custDataLst>
              <p:tags r:id="rId10"/>
            </p:custDataLst>
          </p:nvPr>
        </p:nvSpPr>
        <p:spPr bwMode="auto">
          <a:xfrm>
            <a:off x="5907741" y="3273165"/>
            <a:ext cx="833719" cy="574675"/>
          </a:xfrm>
          <a:prstGeom prst="rect">
            <a:avLst/>
          </a:prstGeom>
          <a:ln>
            <a:headEnd type="none" w="sm" len="sm"/>
            <a:tailEnd type="none" w="sm" len="sm"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/>
            <a:r>
              <a:rPr lang="en-US" sz="2400" dirty="0">
                <a:latin typeface="Calibri" pitchFamily="34" charset="0"/>
              </a:rPr>
              <a:t>P2</a:t>
            </a:r>
          </a:p>
        </p:txBody>
      </p:sp>
      <p:cxnSp>
        <p:nvCxnSpPr>
          <p:cNvPr id="10" name="AutoShape 17" descr=" 11">
            <a:extLst>
              <a:ext uri="{FF2B5EF4-FFF2-40B4-BE49-F238E27FC236}">
                <a16:creationId xmlns:a16="http://schemas.microsoft.com/office/drawing/2014/main" id="{E0521808-8B71-4CD4-9BE9-B6CFFD252860}"/>
              </a:ext>
            </a:extLst>
          </p:cNvPr>
          <p:cNvCxnSpPr>
            <a:cxnSpLocks noChangeShapeType="1"/>
            <a:stCxn id="9" idx="2"/>
            <a:endCxn id="15" idx="0"/>
          </p:cNvCxnSpPr>
          <p:nvPr>
            <p:custDataLst>
              <p:tags r:id="rId11"/>
            </p:custDataLst>
          </p:nvPr>
        </p:nvCxnSpPr>
        <p:spPr bwMode="auto">
          <a:xfrm rot="5400000">
            <a:off x="6210301" y="3962140"/>
            <a:ext cx="228600" cy="1"/>
          </a:xfrm>
          <a:prstGeom prst="bentConnector3">
            <a:avLst>
              <a:gd name="adj1" fmla="val 50000"/>
            </a:avLst>
          </a:prstGeom>
          <a:noFill/>
          <a:ln w="12700">
            <a:solidFill>
              <a:schemeClr val="tx1"/>
            </a:solidFill>
            <a:miter lim="800000"/>
            <a:headEnd type="none" w="sm" len="sm"/>
            <a:tailEnd type="triangle" w="med" len="med"/>
          </a:ln>
        </p:spPr>
      </p:cxnSp>
      <p:sp>
        <p:nvSpPr>
          <p:cNvPr id="11" name="Rectangle 21" descr=" 12">
            <a:extLst>
              <a:ext uri="{FF2B5EF4-FFF2-40B4-BE49-F238E27FC236}">
                <a16:creationId xmlns:a16="http://schemas.microsoft.com/office/drawing/2014/main" id="{33B0E5F3-06D7-4950-A1EE-7474D266FA9B}"/>
              </a:ext>
            </a:extLst>
          </p:cNvPr>
          <p:cNvSpPr>
            <a:spLocks noChangeArrowheads="1"/>
          </p:cNvSpPr>
          <p:nvPr>
            <p:custDataLst>
              <p:tags r:id="rId12"/>
            </p:custDataLst>
          </p:nvPr>
        </p:nvSpPr>
        <p:spPr bwMode="auto">
          <a:xfrm>
            <a:off x="3338278" y="5760778"/>
            <a:ext cx="2290141" cy="312738"/>
          </a:xfrm>
          <a:prstGeom prst="rect">
            <a:avLst/>
          </a:prstGeom>
          <a:ln>
            <a:headEnd type="none" w="sm" len="sm"/>
            <a:tailEnd type="none" w="sm" len="sm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/>
            <a:r>
              <a:rPr lang="en-US" sz="2000" dirty="0">
                <a:latin typeface="Calibri" pitchFamily="34" charset="0"/>
              </a:rPr>
              <a:t>X: 51,37,…</a:t>
            </a:r>
            <a:endParaRPr lang="en-US" sz="2400" dirty="0">
              <a:latin typeface="Calibri" pitchFamily="34" charset="0"/>
            </a:endParaRPr>
          </a:p>
        </p:txBody>
      </p:sp>
      <p:sp>
        <p:nvSpPr>
          <p:cNvPr id="12" name="Line 10" descr=" 13">
            <a:extLst>
              <a:ext uri="{FF2B5EF4-FFF2-40B4-BE49-F238E27FC236}">
                <a16:creationId xmlns:a16="http://schemas.microsoft.com/office/drawing/2014/main" id="{2766B6C8-0F2B-4CBE-B18A-2AA179550756}"/>
              </a:ext>
            </a:extLst>
          </p:cNvPr>
          <p:cNvSpPr>
            <a:spLocks noChangeShapeType="1"/>
          </p:cNvSpPr>
          <p:nvPr>
            <p:custDataLst>
              <p:tags r:id="rId13"/>
            </p:custDataLst>
          </p:nvPr>
        </p:nvSpPr>
        <p:spPr bwMode="auto">
          <a:xfrm>
            <a:off x="6324600" y="4686040"/>
            <a:ext cx="0" cy="37782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med" len="med"/>
          </a:ln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cxnSp>
        <p:nvCxnSpPr>
          <p:cNvPr id="13" name="Straight Arrow Connector 12" descr=" 14">
            <a:extLst>
              <a:ext uri="{FF2B5EF4-FFF2-40B4-BE49-F238E27FC236}">
                <a16:creationId xmlns:a16="http://schemas.microsoft.com/office/drawing/2014/main" id="{942E8D10-FE0C-444F-BA46-F64AB115E845}"/>
              </a:ext>
            </a:extLst>
          </p:cNvPr>
          <p:cNvCxnSpPr>
            <a:stCxn id="5" idx="2"/>
            <a:endCxn id="11" idx="0"/>
          </p:cNvCxnSpPr>
          <p:nvPr/>
        </p:nvCxnSpPr>
        <p:spPr bwMode="auto">
          <a:xfrm rot="16200000" flipH="1">
            <a:off x="4326979" y="5604408"/>
            <a:ext cx="312738" cy="1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15" name="Rectangle 21" descr=" 16">
            <a:extLst>
              <a:ext uri="{FF2B5EF4-FFF2-40B4-BE49-F238E27FC236}">
                <a16:creationId xmlns:a16="http://schemas.microsoft.com/office/drawing/2014/main" id="{31A0AD37-7542-4F47-9814-213E540FEF69}"/>
              </a:ext>
            </a:extLst>
          </p:cNvPr>
          <p:cNvSpPr>
            <a:spLocks noChangeArrowheads="1"/>
          </p:cNvSpPr>
          <p:nvPr>
            <p:custDataLst>
              <p:tags r:id="rId14"/>
            </p:custDataLst>
          </p:nvPr>
        </p:nvSpPr>
        <p:spPr bwMode="auto">
          <a:xfrm>
            <a:off x="5715000" y="4076440"/>
            <a:ext cx="1219200" cy="312738"/>
          </a:xfrm>
          <a:prstGeom prst="rect">
            <a:avLst/>
          </a:prstGeom>
          <a:ln>
            <a:headEnd type="none" w="sm" len="sm"/>
            <a:tailEnd type="none" w="sm" len="sm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/>
            <a:r>
              <a:rPr lang="en-US" sz="2000" dirty="0">
                <a:latin typeface="Calibri" pitchFamily="34" charset="0"/>
              </a:rPr>
              <a:t>X: 22,40,…</a:t>
            </a:r>
            <a:endParaRPr lang="en-US" sz="2400" dirty="0">
              <a:latin typeface="Calibri" pitchFamily="34" charset="0"/>
            </a:endParaRPr>
          </a:p>
        </p:txBody>
      </p:sp>
      <p:sp>
        <p:nvSpPr>
          <p:cNvPr id="16" name="TextBox 15" descr=" 17">
            <a:extLst>
              <a:ext uri="{FF2B5EF4-FFF2-40B4-BE49-F238E27FC236}">
                <a16:creationId xmlns:a16="http://schemas.microsoft.com/office/drawing/2014/main" id="{EA522BB3-BBBD-4687-BCEB-E94B1A0F0D3E}"/>
              </a:ext>
            </a:extLst>
          </p:cNvPr>
          <p:cNvSpPr txBox="1"/>
          <p:nvPr>
            <p:custDataLst>
              <p:tags r:id="rId15"/>
            </p:custDataLst>
          </p:nvPr>
        </p:nvSpPr>
        <p:spPr>
          <a:xfrm>
            <a:off x="5638800" y="6057640"/>
            <a:ext cx="137351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latin typeface="+mn-lt"/>
              </a:rPr>
              <a:t>Main Memory</a:t>
            </a:r>
          </a:p>
        </p:txBody>
      </p:sp>
      <p:sp>
        <p:nvSpPr>
          <p:cNvPr id="17" name="Rectangle 22" descr=" 24">
            <a:extLst>
              <a:ext uri="{FF2B5EF4-FFF2-40B4-BE49-F238E27FC236}">
                <a16:creationId xmlns:a16="http://schemas.microsoft.com/office/drawing/2014/main" id="{A90CB2CB-1A09-4341-A1E3-CBF2F3A75203}"/>
              </a:ext>
            </a:extLst>
          </p:cNvPr>
          <p:cNvSpPr>
            <a:spLocks noChangeArrowheads="1"/>
          </p:cNvSpPr>
          <p:nvPr>
            <p:custDataLst>
              <p:tags r:id="rId16"/>
            </p:custDataLst>
          </p:nvPr>
        </p:nvSpPr>
        <p:spPr bwMode="auto">
          <a:xfrm>
            <a:off x="2133600" y="4381240"/>
            <a:ext cx="1219200" cy="312738"/>
          </a:xfrm>
          <a:prstGeom prst="rect">
            <a:avLst/>
          </a:prstGeom>
          <a:ln>
            <a:headEnd type="none" w="sm" len="sm"/>
            <a:tailEnd type="none" w="sm" len="sm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/>
            <a:endParaRPr lang="en-US" sz="2400" dirty="0">
              <a:latin typeface="Calibri" pitchFamily="34" charset="0"/>
            </a:endParaRPr>
          </a:p>
        </p:txBody>
      </p:sp>
      <p:sp>
        <p:nvSpPr>
          <p:cNvPr id="18" name="Rectangle 22" descr=" 25">
            <a:extLst>
              <a:ext uri="{FF2B5EF4-FFF2-40B4-BE49-F238E27FC236}">
                <a16:creationId xmlns:a16="http://schemas.microsoft.com/office/drawing/2014/main" id="{DF4A33AA-A93B-40BE-AEC9-149E924A2C29}"/>
              </a:ext>
            </a:extLst>
          </p:cNvPr>
          <p:cNvSpPr>
            <a:spLocks noChangeArrowheads="1"/>
          </p:cNvSpPr>
          <p:nvPr>
            <p:custDataLst>
              <p:tags r:id="rId17"/>
            </p:custDataLst>
          </p:nvPr>
        </p:nvSpPr>
        <p:spPr bwMode="auto">
          <a:xfrm>
            <a:off x="5715000" y="4392352"/>
            <a:ext cx="1219200" cy="312738"/>
          </a:xfrm>
          <a:prstGeom prst="rect">
            <a:avLst/>
          </a:prstGeom>
          <a:ln>
            <a:headEnd type="none" w="sm" len="sm"/>
            <a:tailEnd type="none" w="sm" len="sm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/>
            <a:endParaRPr lang="en-US" sz="2400" dirty="0">
              <a:latin typeface="Calibri" pitchFamily="34" charset="0"/>
            </a:endParaRPr>
          </a:p>
        </p:txBody>
      </p:sp>
      <p:sp>
        <p:nvSpPr>
          <p:cNvPr id="19" name="Rectangle 22" descr=" 26">
            <a:extLst>
              <a:ext uri="{FF2B5EF4-FFF2-40B4-BE49-F238E27FC236}">
                <a16:creationId xmlns:a16="http://schemas.microsoft.com/office/drawing/2014/main" id="{7925C335-3B0E-40B4-837E-DE3758F69EB2}"/>
              </a:ext>
            </a:extLst>
          </p:cNvPr>
          <p:cNvSpPr>
            <a:spLocks noChangeArrowheads="1"/>
          </p:cNvSpPr>
          <p:nvPr>
            <p:custDataLst>
              <p:tags r:id="rId18"/>
            </p:custDataLst>
          </p:nvPr>
        </p:nvSpPr>
        <p:spPr bwMode="auto">
          <a:xfrm>
            <a:off x="3338278" y="6076690"/>
            <a:ext cx="2290141" cy="312738"/>
          </a:xfrm>
          <a:prstGeom prst="rect">
            <a:avLst/>
          </a:prstGeom>
          <a:ln>
            <a:headEnd type="none" w="sm" len="sm"/>
            <a:tailEnd type="none" w="sm" len="sm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/>
            <a:endParaRPr lang="en-US" sz="2400" dirty="0">
              <a:latin typeface="Calibri" pitchFamily="34" charset="0"/>
            </a:endParaRPr>
          </a:p>
        </p:txBody>
      </p:sp>
      <p:sp>
        <p:nvSpPr>
          <p:cNvPr id="20" name="Text Box 11" descr=" 9">
            <a:extLst>
              <a:ext uri="{FF2B5EF4-FFF2-40B4-BE49-F238E27FC236}">
                <a16:creationId xmlns:a16="http://schemas.microsoft.com/office/drawing/2014/main" id="{79F72ADC-1F7B-4F47-8FFC-1DA0B1E8AD0C}"/>
              </a:ext>
            </a:extLst>
          </p:cNvPr>
          <p:cNvSpPr txBox="1">
            <a:spLocks noChangeArrowheads="1"/>
          </p:cNvSpPr>
          <p:nvPr>
            <p:custDataLst>
              <p:tags r:id="rId19"/>
            </p:custDataLst>
          </p:nvPr>
        </p:nvSpPr>
        <p:spPr bwMode="auto">
          <a:xfrm>
            <a:off x="7086600" y="3986706"/>
            <a:ext cx="1806905" cy="40011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r>
              <a:rPr lang="en-US" sz="2000" dirty="0">
                <a:solidFill>
                  <a:srgbClr val="CC0000"/>
                </a:solidFill>
                <a:latin typeface="Calibri" pitchFamily="34" charset="0"/>
              </a:rPr>
              <a:t>1: </a:t>
            </a:r>
            <a:r>
              <a:rPr lang="en-US" sz="2000" dirty="0">
                <a:latin typeface="Calibri" pitchFamily="34" charset="0"/>
              </a:rPr>
              <a:t>Load X[0]=51</a:t>
            </a:r>
          </a:p>
        </p:txBody>
      </p:sp>
      <p:sp>
        <p:nvSpPr>
          <p:cNvPr id="21" name="Text Box 11" descr=" 9">
            <a:extLst>
              <a:ext uri="{FF2B5EF4-FFF2-40B4-BE49-F238E27FC236}">
                <a16:creationId xmlns:a16="http://schemas.microsoft.com/office/drawing/2014/main" id="{79294125-0F02-4103-8308-22D5EA6B7D0B}"/>
              </a:ext>
            </a:extLst>
          </p:cNvPr>
          <p:cNvSpPr txBox="1">
            <a:spLocks noChangeArrowheads="1"/>
          </p:cNvSpPr>
          <p:nvPr>
            <p:custDataLst>
              <p:tags r:id="rId20"/>
            </p:custDataLst>
          </p:nvPr>
        </p:nvSpPr>
        <p:spPr bwMode="auto">
          <a:xfrm>
            <a:off x="304800" y="3398808"/>
            <a:ext cx="1858714" cy="40011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r>
              <a:rPr lang="en-US" sz="2000" dirty="0">
                <a:solidFill>
                  <a:srgbClr val="CC0000"/>
                </a:solidFill>
                <a:latin typeface="Calibri" pitchFamily="34" charset="0"/>
              </a:rPr>
              <a:t>2: </a:t>
            </a:r>
            <a:r>
              <a:rPr lang="en-US" sz="2000" dirty="0">
                <a:latin typeface="Calibri" pitchFamily="34" charset="0"/>
              </a:rPr>
              <a:t>Store X[1]=37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B5B228C-9941-4C73-BF63-2470C1F9A157}"/>
              </a:ext>
            </a:extLst>
          </p:cNvPr>
          <p:cNvSpPr txBox="1"/>
          <p:nvPr>
            <p:custDataLst>
              <p:tags r:id="rId21"/>
            </p:custDataLst>
          </p:nvPr>
        </p:nvSpPr>
        <p:spPr>
          <a:xfrm>
            <a:off x="-151082" y="4648200"/>
            <a:ext cx="2437082" cy="560717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ctr"/>
            <a:r>
              <a:rPr lang="en-US" sz="1600" dirty="0">
                <a:latin typeface="+mn-lt"/>
              </a:rPr>
              <a:t>assume write-back,</a:t>
            </a:r>
          </a:p>
          <a:p>
            <a:pPr algn="ctr"/>
            <a:r>
              <a:rPr lang="en-US" sz="1600" dirty="0">
                <a:latin typeface="+mn-lt"/>
              </a:rPr>
              <a:t>write-allocate L1 cache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7E1D3498-359D-42B5-B693-E6409DB6E023}"/>
              </a:ext>
            </a:extLst>
          </p:cNvPr>
          <p:cNvCxnSpPr>
            <a:cxnSpLocks/>
          </p:cNvCxnSpPr>
          <p:nvPr/>
        </p:nvCxnSpPr>
        <p:spPr>
          <a:xfrm flipV="1">
            <a:off x="1905000" y="4534586"/>
            <a:ext cx="398493" cy="28840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 Box 11" descr=" 9">
            <a:extLst>
              <a:ext uri="{FF2B5EF4-FFF2-40B4-BE49-F238E27FC236}">
                <a16:creationId xmlns:a16="http://schemas.microsoft.com/office/drawing/2014/main" id="{1815B68E-21A2-4B6C-8348-3EC31B268C3E}"/>
              </a:ext>
            </a:extLst>
          </p:cNvPr>
          <p:cNvSpPr txBox="1">
            <a:spLocks noChangeArrowheads="1"/>
          </p:cNvSpPr>
          <p:nvPr>
            <p:custDataLst>
              <p:tags r:id="rId22"/>
            </p:custDataLst>
          </p:nvPr>
        </p:nvSpPr>
        <p:spPr bwMode="auto">
          <a:xfrm>
            <a:off x="7086599" y="4325815"/>
            <a:ext cx="1806905" cy="40011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r>
              <a:rPr lang="en-US" sz="2000" dirty="0">
                <a:solidFill>
                  <a:srgbClr val="CC0000"/>
                </a:solidFill>
                <a:latin typeface="Calibri" pitchFamily="34" charset="0"/>
              </a:rPr>
              <a:t>3: </a:t>
            </a:r>
            <a:r>
              <a:rPr lang="en-US" sz="2000" dirty="0">
                <a:latin typeface="Calibri" pitchFamily="34" charset="0"/>
              </a:rPr>
              <a:t>Load X[1]=40</a:t>
            </a:r>
          </a:p>
        </p:txBody>
      </p:sp>
      <p:sp>
        <p:nvSpPr>
          <p:cNvPr id="30" name="Text Box 11" descr=" 9">
            <a:extLst>
              <a:ext uri="{FF2B5EF4-FFF2-40B4-BE49-F238E27FC236}">
                <a16:creationId xmlns:a16="http://schemas.microsoft.com/office/drawing/2014/main" id="{5C007458-4D6C-4ACF-A222-FA733E123953}"/>
              </a:ext>
            </a:extLst>
          </p:cNvPr>
          <p:cNvSpPr txBox="1">
            <a:spLocks noChangeArrowheads="1"/>
          </p:cNvSpPr>
          <p:nvPr>
            <p:custDataLst>
              <p:tags r:id="rId23"/>
            </p:custDataLst>
          </p:nvPr>
        </p:nvSpPr>
        <p:spPr bwMode="auto">
          <a:xfrm>
            <a:off x="7071644" y="4644454"/>
            <a:ext cx="1858714" cy="40011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r>
              <a:rPr lang="en-US" sz="2000" dirty="0">
                <a:solidFill>
                  <a:srgbClr val="CC0000"/>
                </a:solidFill>
                <a:latin typeface="Calibri" pitchFamily="34" charset="0"/>
              </a:rPr>
              <a:t>5: </a:t>
            </a:r>
            <a:r>
              <a:rPr lang="en-US" sz="2000" dirty="0">
                <a:latin typeface="Calibri" pitchFamily="34" charset="0"/>
              </a:rPr>
              <a:t>Store X[0]=22</a:t>
            </a:r>
          </a:p>
        </p:txBody>
      </p:sp>
      <p:sp>
        <p:nvSpPr>
          <p:cNvPr id="31" name="Text Box 11" descr=" 9">
            <a:extLst>
              <a:ext uri="{FF2B5EF4-FFF2-40B4-BE49-F238E27FC236}">
                <a16:creationId xmlns:a16="http://schemas.microsoft.com/office/drawing/2014/main" id="{867226A6-DB8E-4524-B41E-DC4AF9C27E16}"/>
              </a:ext>
            </a:extLst>
          </p:cNvPr>
          <p:cNvSpPr txBox="1">
            <a:spLocks noChangeArrowheads="1"/>
          </p:cNvSpPr>
          <p:nvPr>
            <p:custDataLst>
              <p:tags r:id="rId24"/>
            </p:custDataLst>
          </p:nvPr>
        </p:nvSpPr>
        <p:spPr bwMode="auto">
          <a:xfrm>
            <a:off x="304800" y="3708317"/>
            <a:ext cx="1121204" cy="40011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r>
              <a:rPr lang="en-US" sz="2000" dirty="0">
                <a:solidFill>
                  <a:srgbClr val="CC0000"/>
                </a:solidFill>
                <a:latin typeface="Calibri" pitchFamily="34" charset="0"/>
              </a:rPr>
              <a:t>4: </a:t>
            </a:r>
            <a:r>
              <a:rPr lang="en-US" sz="2000" dirty="0">
                <a:latin typeface="Calibri" pitchFamily="34" charset="0"/>
              </a:rPr>
              <a:t>Evict X</a:t>
            </a:r>
          </a:p>
        </p:txBody>
      </p:sp>
      <p:sp>
        <p:nvSpPr>
          <p:cNvPr id="28" name="Text Box 11" descr=" 9">
            <a:extLst>
              <a:ext uri="{FF2B5EF4-FFF2-40B4-BE49-F238E27FC236}">
                <a16:creationId xmlns:a16="http://schemas.microsoft.com/office/drawing/2014/main" id="{622D90C7-CF0E-4E7E-8DC6-6947D14491B0}"/>
              </a:ext>
            </a:extLst>
          </p:cNvPr>
          <p:cNvSpPr txBox="1">
            <a:spLocks noChangeArrowheads="1"/>
          </p:cNvSpPr>
          <p:nvPr>
            <p:custDataLst>
              <p:tags r:id="rId25"/>
            </p:custDataLst>
          </p:nvPr>
        </p:nvSpPr>
        <p:spPr bwMode="auto">
          <a:xfrm>
            <a:off x="7071644" y="4963093"/>
            <a:ext cx="1121204" cy="40011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r>
              <a:rPr lang="en-US" sz="2000" dirty="0">
                <a:solidFill>
                  <a:srgbClr val="CC0000"/>
                </a:solidFill>
                <a:latin typeface="Calibri" pitchFamily="34" charset="0"/>
              </a:rPr>
              <a:t>6: </a:t>
            </a:r>
            <a:r>
              <a:rPr lang="en-US" sz="2000" dirty="0">
                <a:latin typeface="Calibri" pitchFamily="34" charset="0"/>
              </a:rPr>
              <a:t>Evict X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6716786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1" descr=" 15">
            <a:extLst>
              <a:ext uri="{FF2B5EF4-FFF2-40B4-BE49-F238E27FC236}">
                <a16:creationId xmlns:a16="http://schemas.microsoft.com/office/drawing/2014/main" id="{CE3BB417-CEC1-4317-A0F5-A75A0B0D8AC7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2133600" y="4081947"/>
            <a:ext cx="1219200" cy="312738"/>
          </a:xfrm>
          <a:prstGeom prst="rect">
            <a:avLst/>
          </a:prstGeom>
          <a:ln>
            <a:headEnd type="none" w="sm" len="sm"/>
            <a:tailEnd type="none" w="sm" len="sm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/>
            <a:endParaRPr lang="en-US" sz="2400" dirty="0">
              <a:latin typeface="Calibri" pitchFamily="34" charset="0"/>
            </a:endParaRPr>
          </a:p>
        </p:txBody>
      </p:sp>
      <p:sp>
        <p:nvSpPr>
          <p:cNvPr id="2055" name="Rectangle 2"/>
          <p:cNvSpPr>
            <a:spLocks noGrp="1" noChangeArrowheads="1"/>
          </p:cNvSpPr>
          <p:nvPr>
            <p:ph type="title"/>
            <p:custDataLst>
              <p:tags r:id="rId3"/>
            </p:custDataLst>
          </p:nvPr>
        </p:nvSpPr>
        <p:spPr>
          <a:xfrm>
            <a:off x="457200" y="274638"/>
            <a:ext cx="7467600" cy="1143000"/>
          </a:xfrm>
        </p:spPr>
        <p:txBody>
          <a:bodyPr/>
          <a:lstStyle/>
          <a:p>
            <a:r>
              <a:rPr lang="en-US" altLang="en-US" dirty="0"/>
              <a:t>Cache Coherence Problem</a:t>
            </a:r>
          </a:p>
        </p:txBody>
      </p:sp>
      <p:sp>
        <p:nvSpPr>
          <p:cNvPr id="2056" name="Rectangle 3"/>
          <p:cNvSpPr>
            <a:spLocks noGrp="1" noChangeArrowheads="1"/>
          </p:cNvSpPr>
          <p:nvPr>
            <p:ph idx="1"/>
            <p:custDataLst>
              <p:tags r:id="rId4"/>
            </p:custDataLst>
          </p:nvPr>
        </p:nvSpPr>
        <p:spPr>
          <a:xfrm>
            <a:off x="682625" y="1600200"/>
            <a:ext cx="8308975" cy="1295400"/>
          </a:xfrm>
        </p:spPr>
        <p:txBody>
          <a:bodyPr/>
          <a:lstStyle/>
          <a:p>
            <a:pPr marL="0" indent="0">
              <a:lnSpc>
                <a:spcPct val="80000"/>
              </a:lnSpc>
              <a:buNone/>
            </a:pPr>
            <a:r>
              <a:rPr lang="en-US" altLang="en-US" sz="2800" dirty="0"/>
              <a:t>A block X can exist in multiple </a:t>
            </a:r>
            <a:r>
              <a:rPr lang="en-US" altLang="en-US" sz="2800" b="1" dirty="0"/>
              <a:t>private</a:t>
            </a:r>
            <a:r>
              <a:rPr lang="en-US" altLang="en-US" sz="2800" dirty="0"/>
              <a:t> caches at any given moment. If one core modifies X, unless other cores are immediately made aware of this change, the other cores may read the </a:t>
            </a:r>
            <a:r>
              <a:rPr lang="en-US" altLang="en-US" sz="2800" b="1" dirty="0"/>
              <a:t>stale (wrong) </a:t>
            </a:r>
            <a:r>
              <a:rPr lang="en-US" altLang="en-US" sz="2800" dirty="0"/>
              <a:t>contents of X.</a:t>
            </a:r>
          </a:p>
        </p:txBody>
      </p:sp>
      <p:sp>
        <p:nvSpPr>
          <p:cNvPr id="2054" name="Slide Number Placeholder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 bwMode="auto">
          <a:xfrm>
            <a:off x="7620000" y="6356350"/>
            <a:ext cx="106680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 sz="1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eaLnBrk="0" hangingPunct="0">
              <a:defRPr sz="1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1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1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1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lvl="1" eaLnBrk="1" hangingPunct="1"/>
            <a:fld id="{CBC38AAC-2024-4792-9CC7-FB44A3777575}" type="slidenum">
              <a:rPr lang="en-US" altLang="en-US"/>
              <a:pPr lvl="1" eaLnBrk="1" hangingPunct="1"/>
              <a:t>8</a:t>
            </a:fld>
            <a:endParaRPr lang="en-US" altLang="en-US"/>
          </a:p>
        </p:txBody>
      </p:sp>
      <p:sp>
        <p:nvSpPr>
          <p:cNvPr id="5" name="Rectangle 4" descr=" 5">
            <a:extLst>
              <a:ext uri="{FF2B5EF4-FFF2-40B4-BE49-F238E27FC236}">
                <a16:creationId xmlns:a16="http://schemas.microsoft.com/office/drawing/2014/main" id="{EDE355B8-E286-4696-8B42-B19B51166A6E}"/>
              </a:ext>
            </a:extLst>
          </p:cNvPr>
          <p:cNvSpPr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2462806" y="5071802"/>
            <a:ext cx="4041084" cy="376238"/>
          </a:xfrm>
          <a:prstGeom prst="rect">
            <a:avLst/>
          </a:prstGeom>
          <a:ln>
            <a:headEnd type="none" w="sm" len="sm"/>
            <a:tailEnd type="none" w="sm" len="sm"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/>
            <a:r>
              <a:rPr lang="en-US" sz="2400" dirty="0">
                <a:latin typeface="Calibri" pitchFamily="34" charset="0"/>
              </a:rPr>
              <a:t>Bus</a:t>
            </a:r>
          </a:p>
        </p:txBody>
      </p:sp>
      <p:sp>
        <p:nvSpPr>
          <p:cNvPr id="6" name="Rectangle 6" descr=" 6">
            <a:extLst>
              <a:ext uri="{FF2B5EF4-FFF2-40B4-BE49-F238E27FC236}">
                <a16:creationId xmlns:a16="http://schemas.microsoft.com/office/drawing/2014/main" id="{D69625F6-D9BC-4773-B8F3-4888CE62BED5}"/>
              </a:ext>
            </a:extLst>
          </p:cNvPr>
          <p:cNvSpPr>
            <a:spLocks noChangeArrowheads="1"/>
          </p:cNvSpPr>
          <p:nvPr>
            <p:custDataLst>
              <p:tags r:id="rId7"/>
            </p:custDataLst>
          </p:nvPr>
        </p:nvSpPr>
        <p:spPr bwMode="auto">
          <a:xfrm>
            <a:off x="2326341" y="3273165"/>
            <a:ext cx="833719" cy="574675"/>
          </a:xfrm>
          <a:prstGeom prst="rect">
            <a:avLst/>
          </a:prstGeom>
          <a:ln>
            <a:headEnd type="none" w="sm" len="sm"/>
            <a:tailEnd type="none" w="sm" len="sm"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/>
            <a:r>
              <a:rPr lang="en-US" sz="2400" dirty="0">
                <a:latin typeface="Calibri" pitchFamily="34" charset="0"/>
              </a:rPr>
              <a:t>P1</a:t>
            </a:r>
          </a:p>
        </p:txBody>
      </p:sp>
      <p:cxnSp>
        <p:nvCxnSpPr>
          <p:cNvPr id="7" name="AutoShape 9" descr=" 7">
            <a:extLst>
              <a:ext uri="{FF2B5EF4-FFF2-40B4-BE49-F238E27FC236}">
                <a16:creationId xmlns:a16="http://schemas.microsoft.com/office/drawing/2014/main" id="{FB829A3E-4309-4B4E-91AE-79E4B807B46F}"/>
              </a:ext>
            </a:extLst>
          </p:cNvPr>
          <p:cNvCxnSpPr>
            <a:cxnSpLocks noChangeShapeType="1"/>
          </p:cNvCxnSpPr>
          <p:nvPr>
            <p:custDataLst>
              <p:tags r:id="rId8"/>
            </p:custDataLst>
          </p:nvPr>
        </p:nvCxnSpPr>
        <p:spPr bwMode="auto">
          <a:xfrm rot="5400000">
            <a:off x="2634457" y="3973203"/>
            <a:ext cx="217488" cy="1"/>
          </a:xfrm>
          <a:prstGeom prst="bentConnector3">
            <a:avLst>
              <a:gd name="adj1" fmla="val 50000"/>
            </a:avLst>
          </a:prstGeom>
          <a:noFill/>
          <a:ln w="12700">
            <a:solidFill>
              <a:schemeClr val="tx1"/>
            </a:solidFill>
            <a:miter lim="800000"/>
            <a:headEnd type="none" w="sm" len="sm"/>
            <a:tailEnd type="triangle" w="med" len="med"/>
          </a:ln>
        </p:spPr>
      </p:cxnSp>
      <p:sp>
        <p:nvSpPr>
          <p:cNvPr id="8" name="Line 10" descr=" 8">
            <a:extLst>
              <a:ext uri="{FF2B5EF4-FFF2-40B4-BE49-F238E27FC236}">
                <a16:creationId xmlns:a16="http://schemas.microsoft.com/office/drawing/2014/main" id="{3AE748C1-0FFF-4A5E-AD2C-71E099112ABD}"/>
              </a:ext>
            </a:extLst>
          </p:cNvPr>
          <p:cNvSpPr>
            <a:spLocks noChangeShapeType="1"/>
          </p:cNvSpPr>
          <p:nvPr>
            <p:custDataLst>
              <p:tags r:id="rId9"/>
            </p:custDataLst>
          </p:nvPr>
        </p:nvSpPr>
        <p:spPr bwMode="auto">
          <a:xfrm>
            <a:off x="2752165" y="4695005"/>
            <a:ext cx="0" cy="37782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med" len="med"/>
          </a:ln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9" name="Rectangle 14" descr=" 10">
            <a:extLst>
              <a:ext uri="{FF2B5EF4-FFF2-40B4-BE49-F238E27FC236}">
                <a16:creationId xmlns:a16="http://schemas.microsoft.com/office/drawing/2014/main" id="{19C9A5C2-82A6-4618-AEF4-D796B42B9D28}"/>
              </a:ext>
            </a:extLst>
          </p:cNvPr>
          <p:cNvSpPr>
            <a:spLocks noChangeArrowheads="1"/>
          </p:cNvSpPr>
          <p:nvPr>
            <p:custDataLst>
              <p:tags r:id="rId10"/>
            </p:custDataLst>
          </p:nvPr>
        </p:nvSpPr>
        <p:spPr bwMode="auto">
          <a:xfrm>
            <a:off x="5907741" y="3273165"/>
            <a:ext cx="833719" cy="574675"/>
          </a:xfrm>
          <a:prstGeom prst="rect">
            <a:avLst/>
          </a:prstGeom>
          <a:ln>
            <a:headEnd type="none" w="sm" len="sm"/>
            <a:tailEnd type="none" w="sm" len="sm"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/>
            <a:r>
              <a:rPr lang="en-US" sz="2400" dirty="0">
                <a:latin typeface="Calibri" pitchFamily="34" charset="0"/>
              </a:rPr>
              <a:t>P2</a:t>
            </a:r>
          </a:p>
        </p:txBody>
      </p:sp>
      <p:cxnSp>
        <p:nvCxnSpPr>
          <p:cNvPr id="10" name="AutoShape 17" descr=" 11">
            <a:extLst>
              <a:ext uri="{FF2B5EF4-FFF2-40B4-BE49-F238E27FC236}">
                <a16:creationId xmlns:a16="http://schemas.microsoft.com/office/drawing/2014/main" id="{E0521808-8B71-4CD4-9BE9-B6CFFD252860}"/>
              </a:ext>
            </a:extLst>
          </p:cNvPr>
          <p:cNvCxnSpPr>
            <a:cxnSpLocks noChangeShapeType="1"/>
            <a:stCxn id="9" idx="2"/>
            <a:endCxn id="15" idx="0"/>
          </p:cNvCxnSpPr>
          <p:nvPr>
            <p:custDataLst>
              <p:tags r:id="rId11"/>
            </p:custDataLst>
          </p:nvPr>
        </p:nvCxnSpPr>
        <p:spPr bwMode="auto">
          <a:xfrm rot="5400000">
            <a:off x="6210301" y="3962140"/>
            <a:ext cx="228600" cy="1"/>
          </a:xfrm>
          <a:prstGeom prst="bentConnector3">
            <a:avLst>
              <a:gd name="adj1" fmla="val 50000"/>
            </a:avLst>
          </a:prstGeom>
          <a:noFill/>
          <a:ln w="12700">
            <a:solidFill>
              <a:schemeClr val="tx1"/>
            </a:solidFill>
            <a:miter lim="800000"/>
            <a:headEnd type="none" w="sm" len="sm"/>
            <a:tailEnd type="triangle" w="med" len="med"/>
          </a:ln>
        </p:spPr>
      </p:cxnSp>
      <p:sp>
        <p:nvSpPr>
          <p:cNvPr id="11" name="Rectangle 21" descr=" 12">
            <a:extLst>
              <a:ext uri="{FF2B5EF4-FFF2-40B4-BE49-F238E27FC236}">
                <a16:creationId xmlns:a16="http://schemas.microsoft.com/office/drawing/2014/main" id="{33B0E5F3-06D7-4950-A1EE-7474D266FA9B}"/>
              </a:ext>
            </a:extLst>
          </p:cNvPr>
          <p:cNvSpPr>
            <a:spLocks noChangeArrowheads="1"/>
          </p:cNvSpPr>
          <p:nvPr>
            <p:custDataLst>
              <p:tags r:id="rId12"/>
            </p:custDataLst>
          </p:nvPr>
        </p:nvSpPr>
        <p:spPr bwMode="auto">
          <a:xfrm>
            <a:off x="3338278" y="5760778"/>
            <a:ext cx="2290141" cy="312738"/>
          </a:xfrm>
          <a:prstGeom prst="rect">
            <a:avLst/>
          </a:prstGeom>
          <a:ln>
            <a:headEnd type="none" w="sm" len="sm"/>
            <a:tailEnd type="none" w="sm" len="sm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/>
            <a:r>
              <a:rPr lang="en-US" sz="2000" b="1" dirty="0">
                <a:latin typeface="Calibri" pitchFamily="34" charset="0"/>
              </a:rPr>
              <a:t>X: 22,40,…</a:t>
            </a:r>
            <a:endParaRPr lang="en-US" sz="2400" b="1" dirty="0">
              <a:latin typeface="Calibri" pitchFamily="34" charset="0"/>
            </a:endParaRPr>
          </a:p>
        </p:txBody>
      </p:sp>
      <p:sp>
        <p:nvSpPr>
          <p:cNvPr id="12" name="Line 10" descr=" 13">
            <a:extLst>
              <a:ext uri="{FF2B5EF4-FFF2-40B4-BE49-F238E27FC236}">
                <a16:creationId xmlns:a16="http://schemas.microsoft.com/office/drawing/2014/main" id="{2766B6C8-0F2B-4CBE-B18A-2AA179550756}"/>
              </a:ext>
            </a:extLst>
          </p:cNvPr>
          <p:cNvSpPr>
            <a:spLocks noChangeShapeType="1"/>
          </p:cNvSpPr>
          <p:nvPr>
            <p:custDataLst>
              <p:tags r:id="rId13"/>
            </p:custDataLst>
          </p:nvPr>
        </p:nvSpPr>
        <p:spPr bwMode="auto">
          <a:xfrm>
            <a:off x="6324600" y="4686040"/>
            <a:ext cx="0" cy="37782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med" len="med"/>
          </a:ln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cxnSp>
        <p:nvCxnSpPr>
          <p:cNvPr id="13" name="Straight Arrow Connector 12" descr=" 14">
            <a:extLst>
              <a:ext uri="{FF2B5EF4-FFF2-40B4-BE49-F238E27FC236}">
                <a16:creationId xmlns:a16="http://schemas.microsoft.com/office/drawing/2014/main" id="{942E8D10-FE0C-444F-BA46-F64AB115E845}"/>
              </a:ext>
            </a:extLst>
          </p:cNvPr>
          <p:cNvCxnSpPr>
            <a:stCxn id="5" idx="2"/>
            <a:endCxn id="11" idx="0"/>
          </p:cNvCxnSpPr>
          <p:nvPr/>
        </p:nvCxnSpPr>
        <p:spPr bwMode="auto">
          <a:xfrm rot="16200000" flipH="1">
            <a:off x="4326979" y="5604408"/>
            <a:ext cx="312738" cy="1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15" name="Rectangle 21" descr=" 16">
            <a:extLst>
              <a:ext uri="{FF2B5EF4-FFF2-40B4-BE49-F238E27FC236}">
                <a16:creationId xmlns:a16="http://schemas.microsoft.com/office/drawing/2014/main" id="{31A0AD37-7542-4F47-9814-213E540FEF69}"/>
              </a:ext>
            </a:extLst>
          </p:cNvPr>
          <p:cNvSpPr>
            <a:spLocks noChangeArrowheads="1"/>
          </p:cNvSpPr>
          <p:nvPr>
            <p:custDataLst>
              <p:tags r:id="rId14"/>
            </p:custDataLst>
          </p:nvPr>
        </p:nvSpPr>
        <p:spPr bwMode="auto">
          <a:xfrm>
            <a:off x="5715000" y="4076440"/>
            <a:ext cx="1219200" cy="312738"/>
          </a:xfrm>
          <a:prstGeom prst="rect">
            <a:avLst/>
          </a:prstGeom>
          <a:ln>
            <a:headEnd type="none" w="sm" len="sm"/>
            <a:tailEnd type="none" w="sm" len="sm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/>
            <a:r>
              <a:rPr lang="en-US" sz="2000" dirty="0">
                <a:latin typeface="Calibri" pitchFamily="34" charset="0"/>
              </a:rPr>
              <a:t>---</a:t>
            </a:r>
            <a:endParaRPr lang="en-US" sz="2400" dirty="0">
              <a:latin typeface="Calibri" pitchFamily="34" charset="0"/>
            </a:endParaRPr>
          </a:p>
        </p:txBody>
      </p:sp>
      <p:sp>
        <p:nvSpPr>
          <p:cNvPr id="16" name="TextBox 15" descr=" 17">
            <a:extLst>
              <a:ext uri="{FF2B5EF4-FFF2-40B4-BE49-F238E27FC236}">
                <a16:creationId xmlns:a16="http://schemas.microsoft.com/office/drawing/2014/main" id="{EA522BB3-BBBD-4687-BCEB-E94B1A0F0D3E}"/>
              </a:ext>
            </a:extLst>
          </p:cNvPr>
          <p:cNvSpPr txBox="1"/>
          <p:nvPr>
            <p:custDataLst>
              <p:tags r:id="rId15"/>
            </p:custDataLst>
          </p:nvPr>
        </p:nvSpPr>
        <p:spPr>
          <a:xfrm>
            <a:off x="5638800" y="6057640"/>
            <a:ext cx="137351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latin typeface="+mn-lt"/>
              </a:rPr>
              <a:t>Main Memory</a:t>
            </a:r>
          </a:p>
        </p:txBody>
      </p:sp>
      <p:sp>
        <p:nvSpPr>
          <p:cNvPr id="17" name="Rectangle 22" descr=" 24">
            <a:extLst>
              <a:ext uri="{FF2B5EF4-FFF2-40B4-BE49-F238E27FC236}">
                <a16:creationId xmlns:a16="http://schemas.microsoft.com/office/drawing/2014/main" id="{A90CB2CB-1A09-4341-A1E3-CBF2F3A75203}"/>
              </a:ext>
            </a:extLst>
          </p:cNvPr>
          <p:cNvSpPr>
            <a:spLocks noChangeArrowheads="1"/>
          </p:cNvSpPr>
          <p:nvPr>
            <p:custDataLst>
              <p:tags r:id="rId16"/>
            </p:custDataLst>
          </p:nvPr>
        </p:nvSpPr>
        <p:spPr bwMode="auto">
          <a:xfrm>
            <a:off x="2133600" y="4381240"/>
            <a:ext cx="1219200" cy="312738"/>
          </a:xfrm>
          <a:prstGeom prst="rect">
            <a:avLst/>
          </a:prstGeom>
          <a:ln>
            <a:headEnd type="none" w="sm" len="sm"/>
            <a:tailEnd type="none" w="sm" len="sm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/>
            <a:endParaRPr lang="en-US" sz="2400" dirty="0">
              <a:latin typeface="Calibri" pitchFamily="34" charset="0"/>
            </a:endParaRPr>
          </a:p>
        </p:txBody>
      </p:sp>
      <p:sp>
        <p:nvSpPr>
          <p:cNvPr id="18" name="Rectangle 22" descr=" 25">
            <a:extLst>
              <a:ext uri="{FF2B5EF4-FFF2-40B4-BE49-F238E27FC236}">
                <a16:creationId xmlns:a16="http://schemas.microsoft.com/office/drawing/2014/main" id="{DF4A33AA-A93B-40BE-AEC9-149E924A2C29}"/>
              </a:ext>
            </a:extLst>
          </p:cNvPr>
          <p:cNvSpPr>
            <a:spLocks noChangeArrowheads="1"/>
          </p:cNvSpPr>
          <p:nvPr>
            <p:custDataLst>
              <p:tags r:id="rId17"/>
            </p:custDataLst>
          </p:nvPr>
        </p:nvSpPr>
        <p:spPr bwMode="auto">
          <a:xfrm>
            <a:off x="5715000" y="4392352"/>
            <a:ext cx="1219200" cy="312738"/>
          </a:xfrm>
          <a:prstGeom prst="rect">
            <a:avLst/>
          </a:prstGeom>
          <a:ln>
            <a:headEnd type="none" w="sm" len="sm"/>
            <a:tailEnd type="none" w="sm" len="sm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/>
            <a:endParaRPr lang="en-US" sz="2400" dirty="0">
              <a:latin typeface="Calibri" pitchFamily="34" charset="0"/>
            </a:endParaRPr>
          </a:p>
        </p:txBody>
      </p:sp>
      <p:sp>
        <p:nvSpPr>
          <p:cNvPr id="19" name="Rectangle 22" descr=" 26">
            <a:extLst>
              <a:ext uri="{FF2B5EF4-FFF2-40B4-BE49-F238E27FC236}">
                <a16:creationId xmlns:a16="http://schemas.microsoft.com/office/drawing/2014/main" id="{7925C335-3B0E-40B4-837E-DE3758F69EB2}"/>
              </a:ext>
            </a:extLst>
          </p:cNvPr>
          <p:cNvSpPr>
            <a:spLocks noChangeArrowheads="1"/>
          </p:cNvSpPr>
          <p:nvPr>
            <p:custDataLst>
              <p:tags r:id="rId18"/>
            </p:custDataLst>
          </p:nvPr>
        </p:nvSpPr>
        <p:spPr bwMode="auto">
          <a:xfrm>
            <a:off x="3338278" y="6076690"/>
            <a:ext cx="2290141" cy="312738"/>
          </a:xfrm>
          <a:prstGeom prst="rect">
            <a:avLst/>
          </a:prstGeom>
          <a:ln>
            <a:headEnd type="none" w="sm" len="sm"/>
            <a:tailEnd type="none" w="sm" len="sm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/>
            <a:endParaRPr lang="en-US" sz="2400" dirty="0">
              <a:latin typeface="Calibri" pitchFamily="34" charset="0"/>
            </a:endParaRPr>
          </a:p>
        </p:txBody>
      </p:sp>
      <p:sp>
        <p:nvSpPr>
          <p:cNvPr id="20" name="Text Box 11" descr=" 9">
            <a:extLst>
              <a:ext uri="{FF2B5EF4-FFF2-40B4-BE49-F238E27FC236}">
                <a16:creationId xmlns:a16="http://schemas.microsoft.com/office/drawing/2014/main" id="{79F72ADC-1F7B-4F47-8FFC-1DA0B1E8AD0C}"/>
              </a:ext>
            </a:extLst>
          </p:cNvPr>
          <p:cNvSpPr txBox="1">
            <a:spLocks noChangeArrowheads="1"/>
          </p:cNvSpPr>
          <p:nvPr>
            <p:custDataLst>
              <p:tags r:id="rId19"/>
            </p:custDataLst>
          </p:nvPr>
        </p:nvSpPr>
        <p:spPr bwMode="auto">
          <a:xfrm>
            <a:off x="7086600" y="3986706"/>
            <a:ext cx="1806905" cy="40011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r>
              <a:rPr lang="en-US" sz="2000" dirty="0">
                <a:solidFill>
                  <a:srgbClr val="CC0000"/>
                </a:solidFill>
                <a:latin typeface="Calibri" pitchFamily="34" charset="0"/>
              </a:rPr>
              <a:t>1: </a:t>
            </a:r>
            <a:r>
              <a:rPr lang="en-US" sz="2000" dirty="0">
                <a:latin typeface="Calibri" pitchFamily="34" charset="0"/>
              </a:rPr>
              <a:t>Load X[0]=51</a:t>
            </a:r>
          </a:p>
        </p:txBody>
      </p:sp>
      <p:sp>
        <p:nvSpPr>
          <p:cNvPr id="21" name="Text Box 11" descr=" 9">
            <a:extLst>
              <a:ext uri="{FF2B5EF4-FFF2-40B4-BE49-F238E27FC236}">
                <a16:creationId xmlns:a16="http://schemas.microsoft.com/office/drawing/2014/main" id="{79294125-0F02-4103-8308-22D5EA6B7D0B}"/>
              </a:ext>
            </a:extLst>
          </p:cNvPr>
          <p:cNvSpPr txBox="1">
            <a:spLocks noChangeArrowheads="1"/>
          </p:cNvSpPr>
          <p:nvPr>
            <p:custDataLst>
              <p:tags r:id="rId20"/>
            </p:custDataLst>
          </p:nvPr>
        </p:nvSpPr>
        <p:spPr bwMode="auto">
          <a:xfrm>
            <a:off x="304800" y="3398808"/>
            <a:ext cx="1858714" cy="40011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r>
              <a:rPr lang="en-US" sz="2000" dirty="0">
                <a:solidFill>
                  <a:srgbClr val="CC0000"/>
                </a:solidFill>
                <a:latin typeface="Calibri" pitchFamily="34" charset="0"/>
              </a:rPr>
              <a:t>2: </a:t>
            </a:r>
            <a:r>
              <a:rPr lang="en-US" sz="2000" dirty="0">
                <a:latin typeface="Calibri" pitchFamily="34" charset="0"/>
              </a:rPr>
              <a:t>Store X[1]=37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B5B228C-9941-4C73-BF63-2470C1F9A157}"/>
              </a:ext>
            </a:extLst>
          </p:cNvPr>
          <p:cNvSpPr txBox="1"/>
          <p:nvPr>
            <p:custDataLst>
              <p:tags r:id="rId21"/>
            </p:custDataLst>
          </p:nvPr>
        </p:nvSpPr>
        <p:spPr>
          <a:xfrm>
            <a:off x="-151082" y="4648200"/>
            <a:ext cx="2437082" cy="560717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ctr"/>
            <a:r>
              <a:rPr lang="en-US" sz="1600" dirty="0">
                <a:latin typeface="+mn-lt"/>
              </a:rPr>
              <a:t>assume write-back,</a:t>
            </a:r>
          </a:p>
          <a:p>
            <a:pPr algn="ctr"/>
            <a:r>
              <a:rPr lang="en-US" sz="1600" dirty="0">
                <a:latin typeface="+mn-lt"/>
              </a:rPr>
              <a:t>write-allocate L1 cache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7E1D3498-359D-42B5-B693-E6409DB6E023}"/>
              </a:ext>
            </a:extLst>
          </p:cNvPr>
          <p:cNvCxnSpPr>
            <a:cxnSpLocks/>
          </p:cNvCxnSpPr>
          <p:nvPr/>
        </p:nvCxnSpPr>
        <p:spPr>
          <a:xfrm flipV="1">
            <a:off x="1905000" y="4534586"/>
            <a:ext cx="398493" cy="28840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 Box 11" descr=" 9">
            <a:extLst>
              <a:ext uri="{FF2B5EF4-FFF2-40B4-BE49-F238E27FC236}">
                <a16:creationId xmlns:a16="http://schemas.microsoft.com/office/drawing/2014/main" id="{1815B68E-21A2-4B6C-8348-3EC31B268C3E}"/>
              </a:ext>
            </a:extLst>
          </p:cNvPr>
          <p:cNvSpPr txBox="1">
            <a:spLocks noChangeArrowheads="1"/>
          </p:cNvSpPr>
          <p:nvPr>
            <p:custDataLst>
              <p:tags r:id="rId22"/>
            </p:custDataLst>
          </p:nvPr>
        </p:nvSpPr>
        <p:spPr bwMode="auto">
          <a:xfrm>
            <a:off x="7086599" y="4325815"/>
            <a:ext cx="1806905" cy="40011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r>
              <a:rPr lang="en-US" sz="2000" dirty="0">
                <a:solidFill>
                  <a:srgbClr val="CC0000"/>
                </a:solidFill>
                <a:latin typeface="Calibri" pitchFamily="34" charset="0"/>
              </a:rPr>
              <a:t>3: </a:t>
            </a:r>
            <a:r>
              <a:rPr lang="en-US" sz="2000" dirty="0">
                <a:latin typeface="Calibri" pitchFamily="34" charset="0"/>
              </a:rPr>
              <a:t>Load X[1]=40</a:t>
            </a:r>
          </a:p>
        </p:txBody>
      </p:sp>
      <p:sp>
        <p:nvSpPr>
          <p:cNvPr id="30" name="Text Box 11" descr=" 9">
            <a:extLst>
              <a:ext uri="{FF2B5EF4-FFF2-40B4-BE49-F238E27FC236}">
                <a16:creationId xmlns:a16="http://schemas.microsoft.com/office/drawing/2014/main" id="{5C007458-4D6C-4ACF-A222-FA733E123953}"/>
              </a:ext>
            </a:extLst>
          </p:cNvPr>
          <p:cNvSpPr txBox="1">
            <a:spLocks noChangeArrowheads="1"/>
          </p:cNvSpPr>
          <p:nvPr>
            <p:custDataLst>
              <p:tags r:id="rId23"/>
            </p:custDataLst>
          </p:nvPr>
        </p:nvSpPr>
        <p:spPr bwMode="auto">
          <a:xfrm>
            <a:off x="7071644" y="4644454"/>
            <a:ext cx="1858714" cy="40011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r>
              <a:rPr lang="en-US" sz="2000" dirty="0">
                <a:solidFill>
                  <a:srgbClr val="CC0000"/>
                </a:solidFill>
                <a:latin typeface="Calibri" pitchFamily="34" charset="0"/>
              </a:rPr>
              <a:t>5: </a:t>
            </a:r>
            <a:r>
              <a:rPr lang="en-US" sz="2000" dirty="0">
                <a:latin typeface="Calibri" pitchFamily="34" charset="0"/>
              </a:rPr>
              <a:t>Store X[0]=22</a:t>
            </a:r>
          </a:p>
        </p:txBody>
      </p:sp>
      <p:sp>
        <p:nvSpPr>
          <p:cNvPr id="31" name="Text Box 11" descr=" 9">
            <a:extLst>
              <a:ext uri="{FF2B5EF4-FFF2-40B4-BE49-F238E27FC236}">
                <a16:creationId xmlns:a16="http://schemas.microsoft.com/office/drawing/2014/main" id="{867226A6-DB8E-4524-B41E-DC4AF9C27E16}"/>
              </a:ext>
            </a:extLst>
          </p:cNvPr>
          <p:cNvSpPr txBox="1">
            <a:spLocks noChangeArrowheads="1"/>
          </p:cNvSpPr>
          <p:nvPr>
            <p:custDataLst>
              <p:tags r:id="rId24"/>
            </p:custDataLst>
          </p:nvPr>
        </p:nvSpPr>
        <p:spPr bwMode="auto">
          <a:xfrm>
            <a:off x="304800" y="3708317"/>
            <a:ext cx="1121204" cy="40011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r>
              <a:rPr lang="en-US" sz="2000" dirty="0">
                <a:solidFill>
                  <a:srgbClr val="CC0000"/>
                </a:solidFill>
                <a:latin typeface="Calibri" pitchFamily="34" charset="0"/>
              </a:rPr>
              <a:t>4: </a:t>
            </a:r>
            <a:r>
              <a:rPr lang="en-US" sz="2000" dirty="0">
                <a:latin typeface="Calibri" pitchFamily="34" charset="0"/>
              </a:rPr>
              <a:t>Evict X</a:t>
            </a:r>
          </a:p>
        </p:txBody>
      </p:sp>
      <p:sp>
        <p:nvSpPr>
          <p:cNvPr id="28" name="Text Box 11" descr=" 9">
            <a:extLst>
              <a:ext uri="{FF2B5EF4-FFF2-40B4-BE49-F238E27FC236}">
                <a16:creationId xmlns:a16="http://schemas.microsoft.com/office/drawing/2014/main" id="{622D90C7-CF0E-4E7E-8DC6-6947D14491B0}"/>
              </a:ext>
            </a:extLst>
          </p:cNvPr>
          <p:cNvSpPr txBox="1">
            <a:spLocks noChangeArrowheads="1"/>
          </p:cNvSpPr>
          <p:nvPr>
            <p:custDataLst>
              <p:tags r:id="rId25"/>
            </p:custDataLst>
          </p:nvPr>
        </p:nvSpPr>
        <p:spPr bwMode="auto">
          <a:xfrm>
            <a:off x="7071644" y="4963093"/>
            <a:ext cx="1121204" cy="40011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r>
              <a:rPr lang="en-US" sz="2000" dirty="0">
                <a:solidFill>
                  <a:srgbClr val="CC0000"/>
                </a:solidFill>
                <a:latin typeface="Calibri" pitchFamily="34" charset="0"/>
              </a:rPr>
              <a:t>6: </a:t>
            </a:r>
            <a:r>
              <a:rPr lang="en-US" sz="2000" dirty="0">
                <a:latin typeface="Calibri" pitchFamily="34" charset="0"/>
              </a:rPr>
              <a:t>Evict X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F2E0538-66B0-48F8-98B6-818BDA984475}"/>
              </a:ext>
            </a:extLst>
          </p:cNvPr>
          <p:cNvSpPr txBox="1"/>
          <p:nvPr>
            <p:custDataLst>
              <p:tags r:id="rId26"/>
            </p:custDataLst>
          </p:nvPr>
        </p:nvSpPr>
        <p:spPr>
          <a:xfrm>
            <a:off x="5415856" y="5334000"/>
            <a:ext cx="2437082" cy="560717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ctr"/>
            <a:r>
              <a:rPr lang="en-US" sz="1600" b="1" dirty="0">
                <a:solidFill>
                  <a:schemeClr val="accent6">
                    <a:lumMod val="75000"/>
                  </a:schemeClr>
                </a:solidFill>
                <a:latin typeface="+mn-lt"/>
              </a:rPr>
              <a:t>wrong value of X[1]!</a:t>
            </a:r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381C954B-AF3C-49D2-8358-744E400290AD}"/>
              </a:ext>
            </a:extLst>
          </p:cNvPr>
          <p:cNvCxnSpPr>
            <a:cxnSpLocks/>
          </p:cNvCxnSpPr>
          <p:nvPr/>
        </p:nvCxnSpPr>
        <p:spPr>
          <a:xfrm flipV="1">
            <a:off x="4951014" y="5751583"/>
            <a:ext cx="1131049" cy="151597"/>
          </a:xfrm>
          <a:prstGeom prst="line">
            <a:avLst/>
          </a:prstGeom>
          <a:ln w="3810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4831378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C39307AE-3ED1-42FC-B3CA-2E7E0171E784}"/>
              </a:ext>
            </a:extLst>
          </p:cNvPr>
          <p:cNvSpPr>
            <a:spLocks noGrp="1" noChangeArrowheads="1"/>
          </p:cNvSpPr>
          <p:nvPr>
            <p:ph type="title"/>
            <p:custDataLst>
              <p:tags r:id="rId2"/>
            </p:custDataLst>
          </p:nvPr>
        </p:nvSpPr>
        <p:spPr>
          <a:xfrm>
            <a:off x="457200" y="274638"/>
            <a:ext cx="7467600" cy="1143000"/>
          </a:xfrm>
        </p:spPr>
        <p:txBody>
          <a:bodyPr/>
          <a:lstStyle/>
          <a:p>
            <a:pPr eaLnBrk="1" hangingPunct="1"/>
            <a:r>
              <a:rPr lang="en-US" altLang="en-US" dirty="0"/>
              <a:t>Coherence and Consistency</a:t>
            </a:r>
          </a:p>
        </p:txBody>
      </p:sp>
      <p:sp>
        <p:nvSpPr>
          <p:cNvPr id="5124" name="Slide Number Placeholder 5">
            <a:extLst>
              <a:ext uri="{FF2B5EF4-FFF2-40B4-BE49-F238E27FC236}">
                <a16:creationId xmlns:a16="http://schemas.microsoft.com/office/drawing/2014/main" id="{A1055087-C230-4EE2-AFF5-40A64843586C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 bwMode="auto">
          <a:xfrm>
            <a:off x="7620000" y="6356350"/>
            <a:ext cx="106680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lvl="1" eaLnBrk="1" hangingPunct="1">
              <a:spcBef>
                <a:spcPct val="0"/>
              </a:spcBef>
              <a:buFontTx/>
              <a:buNone/>
            </a:pPr>
            <a:fld id="{53E60991-BA97-453A-8B8F-ABCF2169B25C}" type="slidenum">
              <a:rPr lang="en-US" altLang="en-US" sz="1400"/>
              <a:pPr lvl="1" eaLnBrk="1" hangingPunct="1">
                <a:spcBef>
                  <a:spcPct val="0"/>
                </a:spcBef>
                <a:buFontTx/>
                <a:buNone/>
              </a:pPr>
              <a:t>9</a:t>
            </a:fld>
            <a:endParaRPr lang="en-US" altLang="en-US" sz="1400">
              <a:latin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8DFF956-C999-4D21-8C64-3714BA2F2F6E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526930" y="1414733"/>
            <a:ext cx="8159870" cy="4334632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en-US" sz="2800" b="1" dirty="0">
                <a:latin typeface="+mn-lt"/>
              </a:rPr>
              <a:t>Coherence</a:t>
            </a:r>
            <a:r>
              <a:rPr lang="en-US" sz="2800" dirty="0">
                <a:latin typeface="+mn-lt"/>
              </a:rPr>
              <a:t>: ordering of multiple cores’ reads and writes to </a:t>
            </a:r>
            <a:r>
              <a:rPr lang="en-US" sz="2800" i="1" dirty="0">
                <a:latin typeface="+mn-lt"/>
              </a:rPr>
              <a:t>one</a:t>
            </a:r>
            <a:r>
              <a:rPr lang="en-US" sz="2800" dirty="0">
                <a:latin typeface="+mn-lt"/>
              </a:rPr>
              <a:t> memory location.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>
                <a:latin typeface="+mn-lt"/>
              </a:rPr>
              <a:t>Enforces that accesses to memory location are ordered as if they were performed in some sequential order</a:t>
            </a:r>
            <a:endParaRPr lang="en-US" sz="2000" dirty="0">
              <a:latin typeface="+mn-lt"/>
            </a:endParaRPr>
          </a:p>
          <a:p>
            <a:endParaRPr lang="en-US" sz="2800" dirty="0">
              <a:latin typeface="+mn-lt"/>
            </a:endParaRPr>
          </a:p>
          <a:p>
            <a:r>
              <a:rPr lang="en-US" sz="2800" b="1" dirty="0">
                <a:latin typeface="+mn-lt"/>
              </a:rPr>
              <a:t>Consistency:</a:t>
            </a:r>
            <a:r>
              <a:rPr lang="en-US" sz="2800" dirty="0">
                <a:latin typeface="+mn-lt"/>
              </a:rPr>
              <a:t> ordering of multiple cores’ reads and writes to </a:t>
            </a:r>
            <a:r>
              <a:rPr lang="en-US" sz="2800" i="1" dirty="0">
                <a:latin typeface="+mn-lt"/>
              </a:rPr>
              <a:t>all</a:t>
            </a:r>
            <a:r>
              <a:rPr lang="en-US" sz="2800" dirty="0">
                <a:latin typeface="+mn-lt"/>
              </a:rPr>
              <a:t> memory locations.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b="1" dirty="0">
                <a:latin typeface="+mn-lt"/>
              </a:rPr>
              <a:t>Sequential consistency (SC) model</a:t>
            </a:r>
            <a:r>
              <a:rPr lang="en-US" sz="2400" dirty="0">
                <a:latin typeface="+mn-lt"/>
              </a:rPr>
              <a:t>: Enforces that accesses to all memory locations are ordered as if they were performed in some sequential order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b="1" dirty="0">
                <a:latin typeface="+mn-lt"/>
              </a:rPr>
              <a:t>Relaxed consistency models </a:t>
            </a:r>
            <a:r>
              <a:rPr lang="en-US" sz="2400" dirty="0">
                <a:latin typeface="+mn-lt"/>
              </a:rPr>
              <a:t>exist to improve performance</a:t>
            </a:r>
          </a:p>
          <a:p>
            <a:pPr algn="ctr"/>
            <a:endParaRPr lang="en-US" sz="2800" b="1" i="1" dirty="0">
              <a:latin typeface="+mn-lt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559686942"/>
      </p:ext>
    </p:extLst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C39307AE-3ED1-42FC-B3CA-2E7E0171E784}"/>
              </a:ext>
            </a:extLst>
          </p:cNvPr>
          <p:cNvSpPr>
            <a:spLocks noGrp="1" noChangeArrowheads="1"/>
          </p:cNvSpPr>
          <p:nvPr>
            <p:ph type="title"/>
            <p:custDataLst>
              <p:tags r:id="rId2"/>
            </p:custDataLst>
          </p:nvPr>
        </p:nvSpPr>
        <p:spPr>
          <a:xfrm>
            <a:off x="457200" y="274638"/>
            <a:ext cx="7467600" cy="1143000"/>
          </a:xfrm>
        </p:spPr>
        <p:txBody>
          <a:bodyPr/>
          <a:lstStyle/>
          <a:p>
            <a:pPr eaLnBrk="1" hangingPunct="1"/>
            <a:r>
              <a:rPr lang="en-US" altLang="en-US" dirty="0"/>
              <a:t>Sequential Consistency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1D34E3E-0B43-4055-9E51-081AC1BBE7CF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526930" y="1414732"/>
            <a:ext cx="8312270" cy="4833667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en-US" sz="2800" dirty="0">
                <a:latin typeface="+mn-lt"/>
              </a:rPr>
              <a:t>To achieve sequential consistency, it should appear as if: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00" b="1" dirty="0">
                <a:latin typeface="+mn-lt"/>
              </a:rPr>
              <a:t>Intra-thread program order: </a:t>
            </a:r>
            <a:r>
              <a:rPr lang="en-US" sz="2800" dirty="0">
                <a:latin typeface="+mn-lt"/>
              </a:rPr>
              <a:t>Each individual core’s reads and writes occur in program order.</a:t>
            </a:r>
          </a:p>
          <a:p>
            <a:pPr marL="514350" indent="-514350">
              <a:buFont typeface="+mj-lt"/>
              <a:buAutoNum type="arabicPeriod"/>
            </a:pPr>
            <a:endParaRPr lang="en-US" sz="2800" dirty="0">
              <a:latin typeface="+mn-lt"/>
            </a:endParaRPr>
          </a:p>
          <a:p>
            <a:pPr marL="514350" indent="-514350">
              <a:buFont typeface="+mj-lt"/>
              <a:buAutoNum type="arabicPeriod"/>
            </a:pPr>
            <a:endParaRPr lang="en-US" sz="2800" dirty="0">
              <a:latin typeface="+mn-lt"/>
            </a:endParaRPr>
          </a:p>
          <a:p>
            <a:pPr marL="514350" indent="-514350">
              <a:buFont typeface="+mj-lt"/>
              <a:buAutoNum type="arabicPeriod"/>
            </a:pPr>
            <a:endParaRPr lang="en-US" sz="2800" dirty="0">
              <a:latin typeface="+mn-lt"/>
            </a:endParaRPr>
          </a:p>
          <a:p>
            <a:pPr marL="514350" indent="-514350">
              <a:buFont typeface="+mj-lt"/>
              <a:buAutoNum type="arabicPeriod"/>
            </a:pPr>
            <a:endParaRPr lang="en-US" sz="1200" dirty="0">
              <a:latin typeface="+mn-lt"/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sz="2800" b="1" dirty="0">
                <a:latin typeface="+mn-lt"/>
              </a:rPr>
              <a:t>Inter-thread serialization: </a:t>
            </a:r>
            <a:r>
              <a:rPr lang="en-US" sz="2800" dirty="0">
                <a:latin typeface="+mn-lt"/>
              </a:rPr>
              <a:t>All memory reads and writes from all cores are globally serialized.</a:t>
            </a:r>
          </a:p>
          <a:p>
            <a:endParaRPr lang="en-US" sz="2800" dirty="0">
              <a:latin typeface="+mn-lt"/>
            </a:endParaRPr>
          </a:p>
          <a:p>
            <a:endParaRPr lang="en-US" sz="2800" dirty="0">
              <a:latin typeface="+mn-lt"/>
            </a:endParaRPr>
          </a:p>
          <a:p>
            <a:endParaRPr lang="en-US" sz="2800" dirty="0">
              <a:latin typeface="+mn-lt"/>
            </a:endParaRPr>
          </a:p>
          <a:p>
            <a:endParaRPr lang="en-US" sz="2800" dirty="0">
              <a:latin typeface="+mn-lt"/>
            </a:endParaRPr>
          </a:p>
          <a:p>
            <a:endParaRPr lang="en-US" sz="2800" dirty="0">
              <a:latin typeface="+mn-lt"/>
            </a:endParaRP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56B4B4A0-FEE4-4344-AE4A-742B45092A45}"/>
              </a:ext>
            </a:extLst>
          </p:cNvPr>
          <p:cNvCxnSpPr>
            <a:cxnSpLocks/>
          </p:cNvCxnSpPr>
          <p:nvPr/>
        </p:nvCxnSpPr>
        <p:spPr>
          <a:xfrm flipH="1">
            <a:off x="2301347" y="3124200"/>
            <a:ext cx="1" cy="575656"/>
          </a:xfrm>
          <a:prstGeom prst="straightConnector1">
            <a:avLst/>
          </a:prstGeom>
          <a:ln w="38100">
            <a:solidFill>
              <a:schemeClr val="accent6">
                <a:lumMod val="75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E9783612-3078-4842-905F-5A64683307A3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1295400" y="2743200"/>
            <a:ext cx="2011894" cy="560717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ctr"/>
            <a:r>
              <a:rPr lang="en-US" sz="1800" b="1" dirty="0">
                <a:solidFill>
                  <a:schemeClr val="accent6">
                    <a:lumMod val="75000"/>
                  </a:schemeClr>
                </a:solidFill>
                <a:latin typeface="+mn-lt"/>
              </a:rPr>
              <a:t>load X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616CF61-C00F-4602-8D31-0B578D3B1EFC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1295400" y="3474361"/>
            <a:ext cx="2011894" cy="560717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ctr"/>
            <a:r>
              <a:rPr lang="en-US" sz="1800" b="1" dirty="0">
                <a:solidFill>
                  <a:schemeClr val="accent6">
                    <a:lumMod val="75000"/>
                  </a:schemeClr>
                </a:solidFill>
                <a:latin typeface="+mn-lt"/>
              </a:rPr>
              <a:t>load Y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95DBD5D3-713A-4E5B-ADDD-6FF09FC650EE}"/>
              </a:ext>
            </a:extLst>
          </p:cNvPr>
          <p:cNvCxnSpPr>
            <a:cxnSpLocks/>
          </p:cNvCxnSpPr>
          <p:nvPr/>
        </p:nvCxnSpPr>
        <p:spPr>
          <a:xfrm flipH="1">
            <a:off x="3847374" y="3124200"/>
            <a:ext cx="1" cy="575656"/>
          </a:xfrm>
          <a:prstGeom prst="straightConnector1">
            <a:avLst/>
          </a:prstGeom>
          <a:ln w="38100">
            <a:solidFill>
              <a:schemeClr val="accent6">
                <a:lumMod val="75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A2CF808C-BD3B-4126-AE42-22C419417D9B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2841427" y="2743200"/>
            <a:ext cx="2011894" cy="560717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ctr"/>
            <a:r>
              <a:rPr lang="en-US" sz="1800" b="1" dirty="0">
                <a:solidFill>
                  <a:schemeClr val="accent6">
                    <a:lumMod val="75000"/>
                  </a:schemeClr>
                </a:solidFill>
                <a:latin typeface="+mn-lt"/>
              </a:rPr>
              <a:t>load X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A185C61-86B0-4536-8DFE-1236EA6E6E88}"/>
              </a:ext>
            </a:extLst>
          </p:cNvPr>
          <p:cNvSpPr txBox="1"/>
          <p:nvPr>
            <p:custDataLst>
              <p:tags r:id="rId7"/>
            </p:custDataLst>
          </p:nvPr>
        </p:nvSpPr>
        <p:spPr>
          <a:xfrm>
            <a:off x="2841427" y="3474361"/>
            <a:ext cx="2011894" cy="560717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ctr"/>
            <a:r>
              <a:rPr lang="en-US" sz="1800" b="1" dirty="0">
                <a:solidFill>
                  <a:schemeClr val="accent6">
                    <a:lumMod val="75000"/>
                  </a:schemeClr>
                </a:solidFill>
                <a:latin typeface="+mn-lt"/>
              </a:rPr>
              <a:t>store Y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5DB4C1CD-9285-4CE5-900A-4FFE37ECB51A}"/>
              </a:ext>
            </a:extLst>
          </p:cNvPr>
          <p:cNvCxnSpPr>
            <a:cxnSpLocks/>
          </p:cNvCxnSpPr>
          <p:nvPr/>
        </p:nvCxnSpPr>
        <p:spPr>
          <a:xfrm flipH="1">
            <a:off x="5393402" y="3124200"/>
            <a:ext cx="1" cy="575656"/>
          </a:xfrm>
          <a:prstGeom prst="straightConnector1">
            <a:avLst/>
          </a:prstGeom>
          <a:ln w="38100">
            <a:solidFill>
              <a:schemeClr val="accent6">
                <a:lumMod val="75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21EA3257-10FA-4281-824F-F18E883FF5B4}"/>
              </a:ext>
            </a:extLst>
          </p:cNvPr>
          <p:cNvSpPr txBox="1"/>
          <p:nvPr>
            <p:custDataLst>
              <p:tags r:id="rId8"/>
            </p:custDataLst>
          </p:nvPr>
        </p:nvSpPr>
        <p:spPr>
          <a:xfrm>
            <a:off x="4387455" y="2743200"/>
            <a:ext cx="2011894" cy="560717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ctr"/>
            <a:r>
              <a:rPr lang="en-US" sz="1800" b="1" dirty="0">
                <a:solidFill>
                  <a:schemeClr val="accent6">
                    <a:lumMod val="75000"/>
                  </a:schemeClr>
                </a:solidFill>
                <a:latin typeface="+mn-lt"/>
              </a:rPr>
              <a:t>store X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FB12674-53BA-4CE3-A73E-43DD1059CB21}"/>
              </a:ext>
            </a:extLst>
          </p:cNvPr>
          <p:cNvSpPr txBox="1"/>
          <p:nvPr>
            <p:custDataLst>
              <p:tags r:id="rId9"/>
            </p:custDataLst>
          </p:nvPr>
        </p:nvSpPr>
        <p:spPr>
          <a:xfrm>
            <a:off x="4387455" y="3474361"/>
            <a:ext cx="2011894" cy="560717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ctr"/>
            <a:r>
              <a:rPr lang="en-US" sz="1800" b="1" dirty="0">
                <a:solidFill>
                  <a:schemeClr val="accent6">
                    <a:lumMod val="75000"/>
                  </a:schemeClr>
                </a:solidFill>
                <a:latin typeface="+mn-lt"/>
              </a:rPr>
              <a:t>load Y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F9664419-1E25-461D-9B8A-AAA75AA958B1}"/>
              </a:ext>
            </a:extLst>
          </p:cNvPr>
          <p:cNvCxnSpPr>
            <a:cxnSpLocks/>
          </p:cNvCxnSpPr>
          <p:nvPr/>
        </p:nvCxnSpPr>
        <p:spPr>
          <a:xfrm flipH="1">
            <a:off x="6939429" y="3124200"/>
            <a:ext cx="1" cy="575656"/>
          </a:xfrm>
          <a:prstGeom prst="straightConnector1">
            <a:avLst/>
          </a:prstGeom>
          <a:ln w="38100">
            <a:solidFill>
              <a:schemeClr val="accent6">
                <a:lumMod val="75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ACD8A525-6157-4E02-AA68-F82BF1E9447F}"/>
              </a:ext>
            </a:extLst>
          </p:cNvPr>
          <p:cNvSpPr txBox="1"/>
          <p:nvPr>
            <p:custDataLst>
              <p:tags r:id="rId10"/>
            </p:custDataLst>
          </p:nvPr>
        </p:nvSpPr>
        <p:spPr>
          <a:xfrm>
            <a:off x="5933482" y="2743200"/>
            <a:ext cx="2011894" cy="560717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ctr"/>
            <a:r>
              <a:rPr lang="en-US" sz="1800" b="1" dirty="0">
                <a:solidFill>
                  <a:schemeClr val="accent6">
                    <a:lumMod val="75000"/>
                  </a:schemeClr>
                </a:solidFill>
                <a:latin typeface="+mn-lt"/>
              </a:rPr>
              <a:t>store X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9914A48-213E-4C3C-9AB7-5BB1035CBE24}"/>
              </a:ext>
            </a:extLst>
          </p:cNvPr>
          <p:cNvSpPr txBox="1"/>
          <p:nvPr>
            <p:custDataLst>
              <p:tags r:id="rId11"/>
            </p:custDataLst>
          </p:nvPr>
        </p:nvSpPr>
        <p:spPr>
          <a:xfrm>
            <a:off x="5933482" y="3474361"/>
            <a:ext cx="2011894" cy="560717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ctr"/>
            <a:r>
              <a:rPr lang="en-US" sz="1800" b="1" dirty="0">
                <a:solidFill>
                  <a:schemeClr val="accent6">
                    <a:lumMod val="75000"/>
                  </a:schemeClr>
                </a:solidFill>
                <a:latin typeface="+mn-lt"/>
              </a:rPr>
              <a:t>store Y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485C885F-1EE7-4C34-8118-777F607AF5B7}"/>
              </a:ext>
            </a:extLst>
          </p:cNvPr>
          <p:cNvPicPr>
            <a:picLocks noChangeAspect="1"/>
          </p:cNvPicPr>
          <p:nvPr>
            <p:custDataLst>
              <p:tags r:id="rId12"/>
            </p:custDataLst>
          </p:nvPr>
        </p:nvPicPr>
        <p:blipFill>
          <a:blip r:embed="rId18"/>
          <a:stretch>
            <a:fillRect/>
          </a:stretch>
        </p:blipFill>
        <p:spPr>
          <a:xfrm>
            <a:off x="3189701" y="5181600"/>
            <a:ext cx="2764598" cy="1514899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9F4F751F-954C-4CAF-9C63-FB720B25C855}"/>
              </a:ext>
            </a:extLst>
          </p:cNvPr>
          <p:cNvSpPr txBox="1"/>
          <p:nvPr>
            <p:custDataLst>
              <p:tags r:id="rId13"/>
            </p:custDataLst>
          </p:nvPr>
        </p:nvSpPr>
        <p:spPr>
          <a:xfrm>
            <a:off x="381000" y="5867400"/>
            <a:ext cx="3383494" cy="560717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ctr"/>
            <a:r>
              <a:rPr lang="en-US" sz="1800" b="1" dirty="0">
                <a:solidFill>
                  <a:schemeClr val="accent6">
                    <a:lumMod val="75000"/>
                  </a:schemeClr>
                </a:solidFill>
                <a:latin typeface="+mn-lt"/>
              </a:rPr>
              <a:t>only writes have to be serialized;</a:t>
            </a:r>
          </a:p>
          <a:p>
            <a:pPr algn="ctr"/>
            <a:r>
              <a:rPr lang="en-US" sz="1800" b="1" dirty="0">
                <a:solidFill>
                  <a:schemeClr val="accent6">
                    <a:lumMod val="75000"/>
                  </a:schemeClr>
                </a:solidFill>
                <a:latin typeface="+mn-lt"/>
              </a:rPr>
              <a:t>reads can happen in parallel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876C16D-4446-4EE9-8072-9ACA0B05B012}"/>
              </a:ext>
            </a:extLst>
          </p:cNvPr>
          <p:cNvSpPr txBox="1"/>
          <p:nvPr>
            <p:custDataLst>
              <p:tags r:id="rId14"/>
            </p:custDataLst>
          </p:nvPr>
        </p:nvSpPr>
        <p:spPr>
          <a:xfrm>
            <a:off x="526930" y="4175126"/>
            <a:ext cx="8312270" cy="898524"/>
          </a:xfrm>
          <a:prstGeom prst="rect">
            <a:avLst/>
          </a:prstGeom>
          <a:solidFill>
            <a:schemeClr val="bg1"/>
          </a:solidFill>
        </p:spPr>
        <p:txBody>
          <a:bodyPr wrap="square" rtlCol="0" anchor="t">
            <a:noAutofit/>
          </a:bodyPr>
          <a:lstStyle/>
          <a:p>
            <a:pPr marL="514350" indent="-514350">
              <a:buFont typeface="+mj-lt"/>
              <a:buAutoNum type="arabicPeriod" startAt="2"/>
            </a:pPr>
            <a:r>
              <a:rPr lang="en-US" sz="2800" b="1" dirty="0">
                <a:latin typeface="+mn-lt"/>
              </a:rPr>
              <a:t>Inter-thread write atomicity: </a:t>
            </a:r>
            <a:r>
              <a:rPr lang="en-US" sz="2800" dirty="0">
                <a:latin typeface="+mn-lt"/>
              </a:rPr>
              <a:t>All memory writes are globally serialized and all cores agree on the order.</a:t>
            </a:r>
          </a:p>
          <a:p>
            <a:endParaRPr lang="en-US" sz="2800" dirty="0">
              <a:latin typeface="+mn-lt"/>
            </a:endParaRPr>
          </a:p>
          <a:p>
            <a:endParaRPr lang="en-US" sz="2800" dirty="0">
              <a:latin typeface="+mn-lt"/>
            </a:endParaRPr>
          </a:p>
          <a:p>
            <a:endParaRPr lang="en-US" sz="2800" dirty="0">
              <a:latin typeface="+mn-lt"/>
            </a:endParaRPr>
          </a:p>
          <a:p>
            <a:endParaRPr lang="en-US" sz="2800" dirty="0">
              <a:latin typeface="+mn-lt"/>
            </a:endParaRPr>
          </a:p>
        </p:txBody>
      </p:sp>
      <p:sp>
        <p:nvSpPr>
          <p:cNvPr id="5124" name="Slide Number Placeholder 5">
            <a:extLst>
              <a:ext uri="{FF2B5EF4-FFF2-40B4-BE49-F238E27FC236}">
                <a16:creationId xmlns:a16="http://schemas.microsoft.com/office/drawing/2014/main" id="{A1055087-C230-4EE2-AFF5-40A64843586C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15"/>
            </p:custDataLst>
          </p:nvPr>
        </p:nvSpPr>
        <p:spPr bwMode="auto">
          <a:xfrm>
            <a:off x="7620000" y="6356350"/>
            <a:ext cx="106680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lvl="1" eaLnBrk="1" hangingPunct="1">
              <a:spcBef>
                <a:spcPct val="0"/>
              </a:spcBef>
              <a:buFontTx/>
              <a:buNone/>
            </a:pPr>
            <a:fld id="{53E60991-BA97-453A-8B8F-ABCF2169B25C}" type="slidenum">
              <a:rPr lang="en-US" altLang="en-US" sz="1400"/>
              <a:pPr lvl="1" eaLnBrk="1" hangingPunct="1">
                <a:spcBef>
                  <a:spcPct val="0"/>
                </a:spcBef>
                <a:buFontTx/>
                <a:buNone/>
              </a:pPr>
              <a:t>10</a:t>
            </a:fld>
            <a:endParaRPr lang="en-US" altLang="en-US" sz="1400">
              <a:latin typeface="Times New Roman" panose="02020603050405020304" pitchFamily="18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735583741"/>
      </p:ext>
    </p:extLst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C39307AE-3ED1-42FC-B3CA-2E7E0171E784}"/>
              </a:ext>
            </a:extLst>
          </p:cNvPr>
          <p:cNvSpPr>
            <a:spLocks noGrp="1" noChangeArrowheads="1"/>
          </p:cNvSpPr>
          <p:nvPr>
            <p:ph type="title"/>
            <p:custDataLst>
              <p:tags r:id="rId2"/>
            </p:custDataLst>
          </p:nvPr>
        </p:nvSpPr>
        <p:spPr>
          <a:xfrm>
            <a:off x="457200" y="274638"/>
            <a:ext cx="7467600" cy="1143000"/>
          </a:xfrm>
        </p:spPr>
        <p:txBody>
          <a:bodyPr/>
          <a:lstStyle/>
          <a:p>
            <a:pPr eaLnBrk="1" hangingPunct="1"/>
            <a:r>
              <a:rPr lang="en-US" altLang="en-US" dirty="0"/>
              <a:t>SC Example</a:t>
            </a:r>
          </a:p>
        </p:txBody>
      </p:sp>
      <p:sp>
        <p:nvSpPr>
          <p:cNvPr id="5124" name="Slide Number Placeholder 5">
            <a:extLst>
              <a:ext uri="{FF2B5EF4-FFF2-40B4-BE49-F238E27FC236}">
                <a16:creationId xmlns:a16="http://schemas.microsoft.com/office/drawing/2014/main" id="{A1055087-C230-4EE2-AFF5-40A64843586C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 bwMode="auto">
          <a:xfrm>
            <a:off x="7620000" y="6356350"/>
            <a:ext cx="106680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lvl="1" eaLnBrk="1" hangingPunct="1">
              <a:spcBef>
                <a:spcPct val="0"/>
              </a:spcBef>
              <a:buFontTx/>
              <a:buNone/>
            </a:pPr>
            <a:fld id="{53E60991-BA97-453A-8B8F-ABCF2169B25C}" type="slidenum">
              <a:rPr lang="en-US" altLang="en-US" sz="1400"/>
              <a:pPr lvl="1" eaLnBrk="1" hangingPunct="1">
                <a:spcBef>
                  <a:spcPct val="0"/>
                </a:spcBef>
                <a:buFontTx/>
                <a:buNone/>
              </a:pPr>
              <a:t>11</a:t>
            </a:fld>
            <a:endParaRPr lang="en-US" altLang="en-US" sz="1400">
              <a:latin typeface="Times New Roman" panose="02020603050405020304" pitchFamily="18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9E4C050-8CC7-488D-9D46-58D11831A2A2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4841254" y="4072720"/>
            <a:ext cx="3046997" cy="200537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pt-BR" sz="2400" b="1" dirty="0">
                <a:latin typeface="Inconsolata" panose="00000509000000000000" pitchFamily="49" charset="0"/>
              </a:rPr>
              <a:t>// P2</a:t>
            </a:r>
          </a:p>
          <a:p>
            <a:r>
              <a:rPr lang="pt-BR" sz="2400" dirty="0">
                <a:latin typeface="Inconsolata" panose="00000509000000000000" pitchFamily="49" charset="0"/>
              </a:rPr>
              <a:t>B = *x / 2;</a:t>
            </a:r>
          </a:p>
          <a:p>
            <a:r>
              <a:rPr lang="pt-BR" sz="2400" dirty="0">
                <a:latin typeface="Inconsolata" panose="00000509000000000000" pitchFamily="49" charset="0"/>
              </a:rPr>
              <a:t>...</a:t>
            </a:r>
          </a:p>
          <a:p>
            <a:r>
              <a:rPr lang="pt-BR" sz="2400" dirty="0">
                <a:latin typeface="Inconsolata" panose="00000509000000000000" pitchFamily="49" charset="0"/>
              </a:rPr>
              <a:t>*y = 5;</a:t>
            </a:r>
          </a:p>
          <a:p>
            <a:r>
              <a:rPr lang="pt-BR" sz="2400" dirty="0">
                <a:latin typeface="Inconsolata" panose="00000509000000000000" pitchFamily="49" charset="0"/>
              </a:rPr>
              <a:t>C = *x / 2;</a:t>
            </a:r>
            <a:endParaRPr lang="en-US" sz="2400" dirty="0">
              <a:latin typeface="Inconsolata" panose="00000509000000000000" pitchFamily="49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BA48C77-F341-4C72-B4F6-DCE91D0905EA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2163800" y="4072720"/>
            <a:ext cx="3046997" cy="1495743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pt-BR" sz="2400" b="1" dirty="0">
                <a:latin typeface="Inconsolata" panose="00000509000000000000" pitchFamily="49" charset="0"/>
              </a:rPr>
              <a:t>// P1</a:t>
            </a:r>
          </a:p>
          <a:p>
            <a:r>
              <a:rPr lang="pt-BR" sz="2400" dirty="0">
                <a:latin typeface="Inconsolata" panose="00000509000000000000" pitchFamily="49" charset="0"/>
              </a:rPr>
              <a:t>*x = 8;</a:t>
            </a:r>
          </a:p>
          <a:p>
            <a:r>
              <a:rPr lang="pt-BR" sz="2400" dirty="0">
                <a:latin typeface="Inconsolata" panose="00000509000000000000" pitchFamily="49" charset="0"/>
              </a:rPr>
              <a:t>A = *y;</a:t>
            </a:r>
            <a:endParaRPr lang="en-US" sz="2400" dirty="0">
              <a:latin typeface="Inconsolata" panose="00000509000000000000" pitchFamily="49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09F8B2F-85D7-4A90-9081-C27531815BE7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2163799" y="3038176"/>
            <a:ext cx="3046997" cy="998297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pt-BR" sz="2400" b="1" dirty="0">
                <a:latin typeface="Inconsolata" panose="00000509000000000000" pitchFamily="49" charset="0"/>
              </a:rPr>
              <a:t>// init</a:t>
            </a:r>
          </a:p>
          <a:p>
            <a:r>
              <a:rPr lang="pt-BR" sz="2400" dirty="0">
                <a:latin typeface="Inconsolata" panose="00000509000000000000" pitchFamily="49" charset="0"/>
              </a:rPr>
              <a:t>*x = 0; *y = 0;</a:t>
            </a:r>
            <a:endParaRPr lang="en-US" sz="2400" dirty="0">
              <a:latin typeface="Inconsolata" panose="00000509000000000000" pitchFamily="49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D9CB912-1E93-49AB-A862-D5FC323BE91E}"/>
              </a:ext>
            </a:extLst>
          </p:cNvPr>
          <p:cNvSpPr txBox="1"/>
          <p:nvPr>
            <p:custDataLst>
              <p:tags r:id="rId7"/>
            </p:custDataLst>
          </p:nvPr>
        </p:nvSpPr>
        <p:spPr>
          <a:xfrm>
            <a:off x="526930" y="1414732"/>
            <a:ext cx="8464670" cy="1167103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en-US" sz="3200" b="1" dirty="0">
                <a:latin typeface="+mn-lt"/>
              </a:rPr>
              <a:t>Possible result with SC: (A=0, C=0)?</a:t>
            </a:r>
          </a:p>
          <a:p>
            <a:r>
              <a:rPr lang="en-US" sz="3200" dirty="0">
                <a:latin typeface="+mn-lt"/>
              </a:rPr>
              <a:t>No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714281627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Box 19">
            <a:extLst>
              <a:ext uri="{FF2B5EF4-FFF2-40B4-BE49-F238E27FC236}">
                <a16:creationId xmlns:a16="http://schemas.microsoft.com/office/drawing/2014/main" id="{19E4C050-8CC7-488D-9D46-58D11831A2A2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4841254" y="4072720"/>
            <a:ext cx="3046997" cy="200537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pt-BR" sz="2400" b="1" dirty="0">
                <a:latin typeface="Inconsolata" panose="00000509000000000000" pitchFamily="49" charset="0"/>
              </a:rPr>
              <a:t>// P2</a:t>
            </a:r>
          </a:p>
          <a:p>
            <a:r>
              <a:rPr lang="pt-BR" sz="2400" dirty="0">
                <a:latin typeface="Inconsolata" panose="00000509000000000000" pitchFamily="49" charset="0"/>
              </a:rPr>
              <a:t>B = *x / 2;</a:t>
            </a:r>
          </a:p>
          <a:p>
            <a:r>
              <a:rPr lang="pt-BR" sz="2400" dirty="0">
                <a:latin typeface="Inconsolata" panose="00000509000000000000" pitchFamily="49" charset="0"/>
              </a:rPr>
              <a:t>...</a:t>
            </a:r>
          </a:p>
          <a:p>
            <a:r>
              <a:rPr lang="pt-BR" sz="2400" dirty="0">
                <a:latin typeface="Inconsolata" panose="00000509000000000000" pitchFamily="49" charset="0"/>
              </a:rPr>
              <a:t>*y = 5;</a:t>
            </a:r>
          </a:p>
          <a:p>
            <a:r>
              <a:rPr lang="pt-BR" sz="2400" dirty="0">
                <a:latin typeface="Inconsolata" panose="00000509000000000000" pitchFamily="49" charset="0"/>
              </a:rPr>
              <a:t>C = *x / 2;</a:t>
            </a:r>
            <a:endParaRPr lang="en-US" sz="2400" dirty="0">
              <a:latin typeface="Inconsolata" panose="00000509000000000000" pitchFamily="49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A6A1213-B9C6-4DFA-8FD2-D38BE6F32EB1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4841254" y="4072720"/>
            <a:ext cx="3046997" cy="2005370"/>
          </a:xfrm>
          <a:prstGeom prst="rect">
            <a:avLst/>
          </a:prstGeom>
          <a:solidFill>
            <a:schemeClr val="bg1"/>
          </a:solidFill>
        </p:spPr>
        <p:txBody>
          <a:bodyPr wrap="square" rtlCol="0" anchor="t">
            <a:noAutofit/>
          </a:bodyPr>
          <a:lstStyle/>
          <a:p>
            <a:r>
              <a:rPr lang="pt-BR" sz="2400" b="1" dirty="0">
                <a:latin typeface="Inconsolata" panose="00000509000000000000" pitchFamily="49" charset="0"/>
              </a:rPr>
              <a:t>// P2</a:t>
            </a:r>
          </a:p>
          <a:p>
            <a:r>
              <a:rPr lang="pt-BR" sz="2400" dirty="0">
                <a:latin typeface="Inconsolata" panose="00000509000000000000" pitchFamily="49" charset="0"/>
              </a:rPr>
              <a:t>B = *x / 2;</a:t>
            </a:r>
          </a:p>
          <a:p>
            <a:r>
              <a:rPr lang="pt-BR" sz="2400" dirty="0">
                <a:latin typeface="Inconsolata" panose="00000509000000000000" pitchFamily="49" charset="0"/>
              </a:rPr>
              <a:t>...</a:t>
            </a:r>
          </a:p>
          <a:p>
            <a:r>
              <a:rPr lang="pt-BR" sz="2400" dirty="0">
                <a:latin typeface="Inconsolata" panose="00000509000000000000" pitchFamily="49" charset="0"/>
              </a:rPr>
              <a:t>*y = 5;</a:t>
            </a:r>
          </a:p>
          <a:p>
            <a:r>
              <a:rPr lang="pt-BR" sz="2400" dirty="0">
                <a:latin typeface="Inconsolata" panose="00000509000000000000" pitchFamily="49" charset="0"/>
              </a:rPr>
              <a:t>C = B;</a:t>
            </a:r>
            <a:endParaRPr lang="en-US" sz="2400" dirty="0">
              <a:latin typeface="Inconsolata" panose="00000509000000000000" pitchFamily="49" charset="0"/>
            </a:endParaRPr>
          </a:p>
        </p:txBody>
      </p:sp>
      <p:sp>
        <p:nvSpPr>
          <p:cNvPr id="5122" name="Rectangle 2">
            <a:extLst>
              <a:ext uri="{FF2B5EF4-FFF2-40B4-BE49-F238E27FC236}">
                <a16:creationId xmlns:a16="http://schemas.microsoft.com/office/drawing/2014/main" id="{C39307AE-3ED1-42FC-B3CA-2E7E0171E784}"/>
              </a:ext>
            </a:extLst>
          </p:cNvPr>
          <p:cNvSpPr>
            <a:spLocks noGrp="1" noChangeArrowheads="1"/>
          </p:cNvSpPr>
          <p:nvPr>
            <p:ph type="title"/>
            <p:custDataLst>
              <p:tags r:id="rId4"/>
            </p:custDataLst>
          </p:nvPr>
        </p:nvSpPr>
        <p:spPr>
          <a:xfrm>
            <a:off x="457200" y="274638"/>
            <a:ext cx="7467600" cy="1143000"/>
          </a:xfrm>
        </p:spPr>
        <p:txBody>
          <a:bodyPr/>
          <a:lstStyle/>
          <a:p>
            <a:pPr eaLnBrk="1" hangingPunct="1"/>
            <a:r>
              <a:rPr lang="en-US" altLang="en-US" dirty="0"/>
              <a:t>SC Example</a:t>
            </a:r>
          </a:p>
        </p:txBody>
      </p:sp>
      <p:sp>
        <p:nvSpPr>
          <p:cNvPr id="5124" name="Slide Number Placeholder 5">
            <a:extLst>
              <a:ext uri="{FF2B5EF4-FFF2-40B4-BE49-F238E27FC236}">
                <a16:creationId xmlns:a16="http://schemas.microsoft.com/office/drawing/2014/main" id="{A1055087-C230-4EE2-AFF5-40A64843586C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 bwMode="auto">
          <a:xfrm>
            <a:off x="7620000" y="6356350"/>
            <a:ext cx="106680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lvl="1" eaLnBrk="1" hangingPunct="1">
              <a:spcBef>
                <a:spcPct val="0"/>
              </a:spcBef>
              <a:buFontTx/>
              <a:buNone/>
            </a:pPr>
            <a:fld id="{53E60991-BA97-453A-8B8F-ABCF2169B25C}" type="slidenum">
              <a:rPr lang="en-US" altLang="en-US" sz="1400"/>
              <a:pPr lvl="1" eaLnBrk="1" hangingPunct="1">
                <a:spcBef>
                  <a:spcPct val="0"/>
                </a:spcBef>
                <a:buFontTx/>
                <a:buNone/>
              </a:pPr>
              <a:t>12</a:t>
            </a:fld>
            <a:endParaRPr lang="en-US" altLang="en-US" sz="1400">
              <a:latin typeface="Times New Roman" panose="02020603050405020304" pitchFamily="18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BA48C77-F341-4C72-B4F6-DCE91D0905EA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2163800" y="4072720"/>
            <a:ext cx="3046997" cy="1495743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pt-BR" sz="2400" b="1" dirty="0">
                <a:latin typeface="Inconsolata" panose="00000509000000000000" pitchFamily="49" charset="0"/>
              </a:rPr>
              <a:t>// P1</a:t>
            </a:r>
          </a:p>
          <a:p>
            <a:r>
              <a:rPr lang="pt-BR" sz="2400" dirty="0">
                <a:latin typeface="Inconsolata" panose="00000509000000000000" pitchFamily="49" charset="0"/>
              </a:rPr>
              <a:t>*x = 8;</a:t>
            </a:r>
          </a:p>
          <a:p>
            <a:r>
              <a:rPr lang="pt-BR" sz="2400" dirty="0">
                <a:latin typeface="Inconsolata" panose="00000509000000000000" pitchFamily="49" charset="0"/>
              </a:rPr>
              <a:t>A = *y;</a:t>
            </a:r>
            <a:endParaRPr lang="en-US" sz="2400" dirty="0">
              <a:latin typeface="Inconsolata" panose="00000509000000000000" pitchFamily="49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09F8B2F-85D7-4A90-9081-C27531815BE7}"/>
              </a:ext>
            </a:extLst>
          </p:cNvPr>
          <p:cNvSpPr txBox="1"/>
          <p:nvPr>
            <p:custDataLst>
              <p:tags r:id="rId7"/>
            </p:custDataLst>
          </p:nvPr>
        </p:nvSpPr>
        <p:spPr>
          <a:xfrm>
            <a:off x="2163799" y="3038176"/>
            <a:ext cx="3046997" cy="998297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pt-BR" sz="2400" b="1" dirty="0">
                <a:latin typeface="Inconsolata" panose="00000509000000000000" pitchFamily="49" charset="0"/>
              </a:rPr>
              <a:t>// init</a:t>
            </a:r>
          </a:p>
          <a:p>
            <a:r>
              <a:rPr lang="pt-BR" sz="2400" dirty="0">
                <a:latin typeface="Inconsolata" panose="00000509000000000000" pitchFamily="49" charset="0"/>
              </a:rPr>
              <a:t>*x = 0; *y = 0;</a:t>
            </a:r>
            <a:endParaRPr lang="en-US" sz="2400" dirty="0">
              <a:latin typeface="Inconsolata" panose="00000509000000000000" pitchFamily="49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D9CB912-1E93-49AB-A862-D5FC323BE91E}"/>
              </a:ext>
            </a:extLst>
          </p:cNvPr>
          <p:cNvSpPr txBox="1"/>
          <p:nvPr>
            <p:custDataLst>
              <p:tags r:id="rId8"/>
            </p:custDataLst>
          </p:nvPr>
        </p:nvSpPr>
        <p:spPr>
          <a:xfrm>
            <a:off x="526930" y="1414732"/>
            <a:ext cx="8464670" cy="1167103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en-US" sz="3200" b="1" dirty="0">
                <a:latin typeface="+mn-lt"/>
              </a:rPr>
              <a:t>Possible result with SC: (A=0, C=0)?</a:t>
            </a:r>
          </a:p>
          <a:p>
            <a:r>
              <a:rPr lang="en-US" sz="3200" dirty="0">
                <a:latin typeface="+mn-lt"/>
              </a:rPr>
              <a:t>No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56C56763-4CEF-492A-B2B2-0122BFF7BDC1}"/>
              </a:ext>
            </a:extLst>
          </p:cNvPr>
          <p:cNvCxnSpPr>
            <a:cxnSpLocks/>
          </p:cNvCxnSpPr>
          <p:nvPr/>
        </p:nvCxnSpPr>
        <p:spPr>
          <a:xfrm flipH="1" flipV="1">
            <a:off x="6185189" y="4820591"/>
            <a:ext cx="842457" cy="327531"/>
          </a:xfrm>
          <a:prstGeom prst="line">
            <a:avLst/>
          </a:prstGeom>
          <a:ln w="3810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0EEA7DD-01E1-496B-A476-FF83863B4357}"/>
              </a:ext>
            </a:extLst>
          </p:cNvPr>
          <p:cNvCxnSpPr>
            <a:cxnSpLocks/>
          </p:cNvCxnSpPr>
          <p:nvPr/>
        </p:nvCxnSpPr>
        <p:spPr>
          <a:xfrm flipH="1">
            <a:off x="6185189" y="5319320"/>
            <a:ext cx="934635" cy="324224"/>
          </a:xfrm>
          <a:prstGeom prst="line">
            <a:avLst/>
          </a:prstGeom>
          <a:ln w="3810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28E8CA77-DC01-40B5-8C2D-078427D8E8B1}"/>
              </a:ext>
            </a:extLst>
          </p:cNvPr>
          <p:cNvSpPr txBox="1"/>
          <p:nvPr>
            <p:custDataLst>
              <p:tags r:id="rId9"/>
            </p:custDataLst>
          </p:nvPr>
        </p:nvSpPr>
        <p:spPr>
          <a:xfrm>
            <a:off x="6612168" y="5065989"/>
            <a:ext cx="2103915" cy="720785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ctr"/>
            <a:r>
              <a:rPr lang="en-US" sz="1600" b="1" dirty="0">
                <a:solidFill>
                  <a:schemeClr val="accent6">
                    <a:lumMod val="75000"/>
                  </a:schemeClr>
                </a:solidFill>
                <a:latin typeface="+mn-lt"/>
              </a:rPr>
              <a:t>compiler:</a:t>
            </a:r>
          </a:p>
          <a:p>
            <a:pPr algn="ctr"/>
            <a:r>
              <a:rPr lang="en-US" sz="1600" b="1" dirty="0">
                <a:solidFill>
                  <a:schemeClr val="accent6">
                    <a:lumMod val="75000"/>
                  </a:schemeClr>
                </a:solidFill>
                <a:latin typeface="+mn-lt"/>
              </a:rPr>
              <a:t>common subexpression elimination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E841C45-C0BB-4F0E-A25F-68E04EAD18FC}"/>
              </a:ext>
            </a:extLst>
          </p:cNvPr>
          <p:cNvSpPr txBox="1"/>
          <p:nvPr>
            <p:custDataLst>
              <p:tags r:id="rId10"/>
            </p:custDataLst>
          </p:nvPr>
        </p:nvSpPr>
        <p:spPr>
          <a:xfrm>
            <a:off x="2936497" y="5905232"/>
            <a:ext cx="2509006" cy="560717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ctr"/>
            <a:r>
              <a:rPr lang="en-US" sz="2000" b="1" dirty="0">
                <a:solidFill>
                  <a:schemeClr val="accent6">
                    <a:lumMod val="75000"/>
                  </a:schemeClr>
                </a:solidFill>
                <a:latin typeface="+mn-lt"/>
              </a:rPr>
              <a:t>(A=0, C=0)</a:t>
            </a:r>
          </a:p>
          <a:p>
            <a:pPr algn="ctr"/>
            <a:r>
              <a:rPr lang="en-US" sz="2000" b="1" dirty="0">
                <a:solidFill>
                  <a:schemeClr val="accent6">
                    <a:lumMod val="75000"/>
                  </a:schemeClr>
                </a:solidFill>
                <a:latin typeface="+mn-lt"/>
              </a:rPr>
              <a:t>SC violation!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931518704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2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C39307AE-3ED1-42FC-B3CA-2E7E0171E784}"/>
              </a:ext>
            </a:extLst>
          </p:cNvPr>
          <p:cNvSpPr>
            <a:spLocks noGrp="1" noChangeArrowheads="1"/>
          </p:cNvSpPr>
          <p:nvPr>
            <p:ph type="title"/>
            <p:custDataLst>
              <p:tags r:id="rId2"/>
            </p:custDataLst>
          </p:nvPr>
        </p:nvSpPr>
        <p:spPr>
          <a:xfrm>
            <a:off x="457200" y="274638"/>
            <a:ext cx="7467600" cy="1143000"/>
          </a:xfrm>
        </p:spPr>
        <p:txBody>
          <a:bodyPr/>
          <a:lstStyle/>
          <a:p>
            <a:pPr eaLnBrk="1" hangingPunct="1"/>
            <a:r>
              <a:rPr lang="en-US" altLang="en-US" dirty="0"/>
              <a:t>SC Example</a:t>
            </a:r>
          </a:p>
        </p:txBody>
      </p:sp>
      <p:sp>
        <p:nvSpPr>
          <p:cNvPr id="5124" name="Slide Number Placeholder 5">
            <a:extLst>
              <a:ext uri="{FF2B5EF4-FFF2-40B4-BE49-F238E27FC236}">
                <a16:creationId xmlns:a16="http://schemas.microsoft.com/office/drawing/2014/main" id="{A1055087-C230-4EE2-AFF5-40A64843586C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 bwMode="auto">
          <a:xfrm>
            <a:off x="7620000" y="6356350"/>
            <a:ext cx="106680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lvl="1" eaLnBrk="1" hangingPunct="1">
              <a:spcBef>
                <a:spcPct val="0"/>
              </a:spcBef>
              <a:buFontTx/>
              <a:buNone/>
            </a:pPr>
            <a:fld id="{53E60991-BA97-453A-8B8F-ABCF2169B25C}" type="slidenum">
              <a:rPr lang="en-US" altLang="en-US" sz="1400"/>
              <a:pPr lvl="1" eaLnBrk="1" hangingPunct="1">
                <a:spcBef>
                  <a:spcPct val="0"/>
                </a:spcBef>
                <a:buFontTx/>
                <a:buNone/>
              </a:pPr>
              <a:t>13</a:t>
            </a:fld>
            <a:endParaRPr lang="en-US" altLang="en-US" sz="1400">
              <a:latin typeface="Times New Roman" panose="02020603050405020304" pitchFamily="18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9E4C050-8CC7-488D-9D46-58D11831A2A2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4841254" y="4072720"/>
            <a:ext cx="3046997" cy="200537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pt-BR" sz="2400" b="1" dirty="0">
                <a:latin typeface="Inconsolata" panose="00000509000000000000" pitchFamily="49" charset="0"/>
              </a:rPr>
              <a:t>// P2</a:t>
            </a:r>
          </a:p>
          <a:p>
            <a:r>
              <a:rPr lang="pt-BR" sz="2400" dirty="0">
                <a:latin typeface="Inconsolata" panose="00000509000000000000" pitchFamily="49" charset="0"/>
              </a:rPr>
              <a:t>B = *x * 2;</a:t>
            </a:r>
          </a:p>
          <a:p>
            <a:r>
              <a:rPr lang="pt-BR" sz="2400" dirty="0">
                <a:latin typeface="Inconsolata" panose="00000509000000000000" pitchFamily="49" charset="0"/>
              </a:rPr>
              <a:t>...</a:t>
            </a:r>
          </a:p>
          <a:p>
            <a:r>
              <a:rPr lang="pt-BR" sz="2400" dirty="0">
                <a:latin typeface="Inconsolata" panose="00000509000000000000" pitchFamily="49" charset="0"/>
              </a:rPr>
              <a:t>*y = 5;</a:t>
            </a:r>
          </a:p>
          <a:p>
            <a:r>
              <a:rPr lang="pt-BR" sz="2400" dirty="0">
                <a:latin typeface="Inconsolata" panose="00000509000000000000" pitchFamily="49" charset="0"/>
              </a:rPr>
              <a:t>C = *x * 2;</a:t>
            </a:r>
            <a:endParaRPr lang="en-US" sz="2400" dirty="0">
              <a:latin typeface="Inconsolata" panose="00000509000000000000" pitchFamily="49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BA48C77-F341-4C72-B4F6-DCE91D0905EA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2163800" y="4072720"/>
            <a:ext cx="3046997" cy="1495743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pt-BR" sz="2400" b="1" dirty="0">
                <a:latin typeface="Inconsolata" panose="00000509000000000000" pitchFamily="49" charset="0"/>
              </a:rPr>
              <a:t>// P1</a:t>
            </a:r>
          </a:p>
          <a:p>
            <a:r>
              <a:rPr lang="pt-BR" sz="2400" dirty="0">
                <a:latin typeface="Inconsolata" panose="00000509000000000000" pitchFamily="49" charset="0"/>
              </a:rPr>
              <a:t>*x = 8;</a:t>
            </a:r>
          </a:p>
          <a:p>
            <a:r>
              <a:rPr lang="pt-BR" sz="2400" dirty="0">
                <a:latin typeface="Inconsolata" panose="00000509000000000000" pitchFamily="49" charset="0"/>
              </a:rPr>
              <a:t>A = *y;</a:t>
            </a:r>
            <a:endParaRPr lang="en-US" sz="2400" dirty="0">
              <a:latin typeface="Inconsolata" panose="00000509000000000000" pitchFamily="49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09F8B2F-85D7-4A90-9081-C27531815BE7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2163799" y="3038176"/>
            <a:ext cx="3046997" cy="998297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pt-BR" sz="2400" b="1" dirty="0">
                <a:latin typeface="Inconsolata" panose="00000509000000000000" pitchFamily="49" charset="0"/>
              </a:rPr>
              <a:t>// init</a:t>
            </a:r>
          </a:p>
          <a:p>
            <a:r>
              <a:rPr lang="pt-BR" sz="2400" dirty="0">
                <a:latin typeface="Inconsolata" panose="00000509000000000000" pitchFamily="49" charset="0"/>
              </a:rPr>
              <a:t>*x = 0; *y = 0;</a:t>
            </a:r>
            <a:endParaRPr lang="en-US" sz="2400" dirty="0">
              <a:latin typeface="Inconsolata" panose="00000509000000000000" pitchFamily="49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D9CB912-1E93-49AB-A862-D5FC323BE91E}"/>
              </a:ext>
            </a:extLst>
          </p:cNvPr>
          <p:cNvSpPr txBox="1"/>
          <p:nvPr>
            <p:custDataLst>
              <p:tags r:id="rId7"/>
            </p:custDataLst>
          </p:nvPr>
        </p:nvSpPr>
        <p:spPr>
          <a:xfrm>
            <a:off x="526930" y="1414732"/>
            <a:ext cx="8464670" cy="1167103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en-US" sz="3200" b="1" dirty="0">
                <a:latin typeface="+mn-lt"/>
              </a:rPr>
              <a:t>Possible result with SC: (A=0, C=0)?</a:t>
            </a:r>
          </a:p>
          <a:p>
            <a:r>
              <a:rPr lang="en-US" sz="3200" dirty="0">
                <a:latin typeface="+mn-lt"/>
              </a:rPr>
              <a:t>No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A6A1213-B9C6-4DFA-8FD2-D38BE6F32EB1}"/>
              </a:ext>
            </a:extLst>
          </p:cNvPr>
          <p:cNvSpPr txBox="1"/>
          <p:nvPr>
            <p:custDataLst>
              <p:tags r:id="rId8"/>
            </p:custDataLst>
          </p:nvPr>
        </p:nvSpPr>
        <p:spPr>
          <a:xfrm>
            <a:off x="4841254" y="4072720"/>
            <a:ext cx="3046997" cy="2005370"/>
          </a:xfrm>
          <a:prstGeom prst="rect">
            <a:avLst/>
          </a:prstGeom>
          <a:solidFill>
            <a:schemeClr val="bg1"/>
          </a:solidFill>
        </p:spPr>
        <p:txBody>
          <a:bodyPr wrap="square" rtlCol="0" anchor="t">
            <a:noAutofit/>
          </a:bodyPr>
          <a:lstStyle/>
          <a:p>
            <a:r>
              <a:rPr lang="pt-BR" sz="2400" b="1" dirty="0">
                <a:latin typeface="Inconsolata" panose="00000509000000000000" pitchFamily="49" charset="0"/>
              </a:rPr>
              <a:t>// P2</a:t>
            </a:r>
          </a:p>
          <a:p>
            <a:r>
              <a:rPr lang="pt-BR" sz="2400" dirty="0">
                <a:latin typeface="Inconsolata" panose="00000509000000000000" pitchFamily="49" charset="0"/>
              </a:rPr>
              <a:t>B = *x / 2;</a:t>
            </a:r>
          </a:p>
          <a:p>
            <a:r>
              <a:rPr lang="pt-BR" sz="2400" dirty="0">
                <a:latin typeface="Inconsolata" panose="00000509000000000000" pitchFamily="49" charset="0"/>
              </a:rPr>
              <a:t>...</a:t>
            </a:r>
          </a:p>
          <a:p>
            <a:r>
              <a:rPr lang="pt-BR" sz="2400" dirty="0">
                <a:latin typeface="Inconsolata" panose="00000509000000000000" pitchFamily="49" charset="0"/>
              </a:rPr>
              <a:t>*y = 5;</a:t>
            </a:r>
          </a:p>
          <a:p>
            <a:r>
              <a:rPr lang="pt-BR" sz="2400" dirty="0">
                <a:latin typeface="Inconsolata" panose="00000509000000000000" pitchFamily="49" charset="0"/>
              </a:rPr>
              <a:t>C = *x / 2;</a:t>
            </a:r>
            <a:endParaRPr lang="en-US" sz="2400" dirty="0">
              <a:latin typeface="Inconsolata" panose="00000509000000000000" pitchFamily="49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E841C45-C0BB-4F0E-A25F-68E04EAD18FC}"/>
              </a:ext>
            </a:extLst>
          </p:cNvPr>
          <p:cNvSpPr txBox="1"/>
          <p:nvPr>
            <p:custDataLst>
              <p:tags r:id="rId9"/>
            </p:custDataLst>
          </p:nvPr>
        </p:nvSpPr>
        <p:spPr>
          <a:xfrm>
            <a:off x="2936497" y="5905232"/>
            <a:ext cx="2509006" cy="560717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ctr"/>
            <a:r>
              <a:rPr lang="en-US" sz="2000" b="1" dirty="0">
                <a:solidFill>
                  <a:schemeClr val="accent6">
                    <a:lumMod val="75000"/>
                  </a:schemeClr>
                </a:solidFill>
                <a:latin typeface="+mn-lt"/>
              </a:rPr>
              <a:t>(A=0, C=0)</a:t>
            </a:r>
          </a:p>
          <a:p>
            <a:pPr algn="ctr"/>
            <a:r>
              <a:rPr lang="en-US" sz="2000" b="1" dirty="0">
                <a:solidFill>
                  <a:schemeClr val="accent6">
                    <a:lumMod val="75000"/>
                  </a:schemeClr>
                </a:solidFill>
                <a:latin typeface="+mn-lt"/>
              </a:rPr>
              <a:t>SC violation!</a:t>
            </a:r>
          </a:p>
        </p:txBody>
      </p:sp>
      <p:sp>
        <p:nvSpPr>
          <p:cNvPr id="2" name="Arc 1">
            <a:extLst>
              <a:ext uri="{FF2B5EF4-FFF2-40B4-BE49-F238E27FC236}">
                <a16:creationId xmlns:a16="http://schemas.microsoft.com/office/drawing/2014/main" id="{0F6BA14D-4FC9-47F4-D3C1-0E8D80C75A9E}"/>
              </a:ext>
            </a:extLst>
          </p:cNvPr>
          <p:cNvSpPr/>
          <p:nvPr>
            <p:custDataLst>
              <p:tags r:id="rId10"/>
            </p:custDataLst>
          </p:nvPr>
        </p:nvSpPr>
        <p:spPr>
          <a:xfrm>
            <a:off x="6181537" y="5119420"/>
            <a:ext cx="767350" cy="794777"/>
          </a:xfrm>
          <a:prstGeom prst="arc">
            <a:avLst>
              <a:gd name="adj1" fmla="val 15068521"/>
              <a:gd name="adj2" fmla="val 4737544"/>
            </a:avLst>
          </a:prstGeom>
          <a:ln w="50800">
            <a:solidFill>
              <a:schemeClr val="accent6">
                <a:lumMod val="75000"/>
              </a:schemeClr>
            </a:solidFill>
            <a:headEnd type="triangle" w="lg" len="lg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70A72BC-701E-942E-BD2F-97CA8DA684D0}"/>
              </a:ext>
            </a:extLst>
          </p:cNvPr>
          <p:cNvSpPr txBox="1"/>
          <p:nvPr>
            <p:custDataLst>
              <p:tags r:id="rId11"/>
            </p:custDataLst>
          </p:nvPr>
        </p:nvSpPr>
        <p:spPr>
          <a:xfrm>
            <a:off x="6056215" y="3084844"/>
            <a:ext cx="2782985" cy="877556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ctr"/>
            <a:r>
              <a:rPr lang="en-US" sz="1600" b="1" dirty="0">
                <a:solidFill>
                  <a:schemeClr val="accent6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out-of-order processor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1EE8A484-8D5B-D5B0-DCDA-B561982BB2B7}"/>
              </a:ext>
            </a:extLst>
          </p:cNvPr>
          <p:cNvCxnSpPr>
            <a:cxnSpLocks/>
          </p:cNvCxnSpPr>
          <p:nvPr/>
        </p:nvCxnSpPr>
        <p:spPr>
          <a:xfrm flipH="1">
            <a:off x="6840913" y="3665562"/>
            <a:ext cx="364278" cy="1408056"/>
          </a:xfrm>
          <a:prstGeom prst="line">
            <a:avLst/>
          </a:prstGeom>
          <a:ln w="3810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224439202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2" grpId="0" animBg="1"/>
      <p:bldP spid="3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PROD_NEXTUNIQUEID" val="10013"/>
  <p:tag name="MMPROD_UIPERSISTENCEDATA" val="MMPROD_UIPERSISTENCEDATA"/>
  <p:tag name="MMPROD_THEME_BG_IMAGE" val=""/>
  <p:tag name="MMPROD_TAG_VCONFIG" val="PD94bWwgdmVyc2lvbj0iMS4wIj8+DQo8Y29uZmlndXJhdGlvbj4NCgk8YnJhbmRpbmc+DQoJCTx1aWZvbnQgbmFtZT0iRk9OVF9OT1RFU19URVhUIiB2YWx1ZT0iVmVyZGFuYSw5LGZhbHNlLGZhbHNlLGZhbHNlIi8+DQoJPC9icmFuZGluZz4NCgk8Y29sb3JzPg0KCQk8dWljb2xvciBuYW1lPSJwcmltYXJ5IiB2YWx1ZT0iMHg2Rjg0ODgiLz4NCgkJPHVpY29sb3IgbmFtZT0iZ2xvdyIgdmFsdWU9IjB4NjA5NzczIi8+DQoJCTx1aWNvbG9yIG5hbWU9InRleHQiIHZhbHVlPSIweEZGRkZGRiIvPg0KCQk8dWljb2xvciBuYW1lPSJsaWdodCIgdmFsdWU9IjB4NEU1RDYwIi8+DQoJCTx1aWNvbG9yIG5hbWU9InNoYWRvdyIgdmFsdWU9IjB4MDAwMDAwIi8+DQoJCTx1aWNvbG9yIG5hbWU9ImJhY2tncm91bmQiIHZhbHVlPSIweDcyNzk3MSIvPg0KCTwvY29sb3JzPg0KCTxsYXlvdXQ+DQoJCTx1aXNob3cgbmFtZT0icHJlc2VudGF0aW9udGl0bGUiIHZhbHVlPSJ0cnVlIi8+PHVpc2hvdyBuYW1lPSJwcmVzZW50ZXJwaG90byIgdmFsdWU9InRydWUiLz48dWlzaG93IG5hbWU9InByZXNlbnRlcm5hbWUiIHZhbHVlPSJ0cnVlIi8+PHVpc2hvdyBuYW1lPSJwcmVzZW50ZXJ0aXRsZSIgdmFsdWU9InRydWUiLz48dWlzaG93IG5hbWU9InByZXNlbnRlcmVtYWlsIiB2YWx1ZT0idHJ1ZSIvPjx1aXNob3cgbmFtZT0icHJlc2VudGVyYmlvIiB2YWx1ZT0idHJ1ZSIvPjx1aXNob3cgbmFtZT0iY29tcGFueWxvZ28iIHZhbHVlPSJ0cnVlIi8+PHVpc2hvdyBuYW1lPSJzaWRlYmFyIiB2YWx1ZT0idHJ1ZSIvPjx1aXNob3cgbmFtZT0ib3V0bGluZSIgdmFsdWU9InRydWUiLz48dWlzaG93IG5hbWU9InRodW1ibmFpbCIgdmFsdWU9InRydWUiLz4NCgkJPHVpc2hvdyBuYW1lPSJub3RlcyIgdmFsdWU9InRydWUiLz48dWlzaG93IG5hbWU9InNlYXJjaCIgdmFsdWU9InRydWUiLz48dWlzaG93IG5hbWU9InF1aXoiIHZhbHVlPSJ0cnVlIi8+PHVpc2hvdyBuYW1lPSJhdHRhY2htZW50cyIgdmFsdWU9InRydWUiLz48dWlzaG93IG5hbWU9InV0aWxzIiB2YWx1ZT0idHJ1ZSIvPjx1aXNob3cgbmFtZT0idm9sdW1lIiB2YWx1ZT0idHJ1ZSIvPjx1aXNob3cgbmFtZT0icGxheWJhciIgdmFsdWU9InRydWUiLz48dWlzaG93IG5hbWU9InRhbGtpbmdoZWFkIiB2YWx1ZT0idHJ1ZSIvPjx1aXNob3cgbmFtZT0ic2lkZWJhcm9ucmlnaHQiIHZhbHVlPSJ0cnVlIi8+PHVpc2hvdyBuYW1lPSJ2aWV3Y2hhbmdlIiB2YWx1ZT0idHJ1ZSIvPjx1aXNob3cgbmFtZT0iYWx3YXlzU2NydW5jaCIgdmFsdWU9ImZhbHNlIi8+PHVpc2hvdyBuYW1lPSJpbml0aWFsZGlzcGxheW1vZGVpc25vcm1hbCIgdmFsdWU9InRydWUiLz48dWlyZXBsYWNlIG5hbWU9ImxvZ28iIHZhbHVlPSIiLz48dWlyZXBsYWNlIG5hbWU9ImJnaW1hZ2UiIHZhbHVlPSIiLz48dWlyZXBsYWNlIG5hbWU9ImluaXRpYWx0YWIiIHZhbHVlPSJvdXRsaW5lIi8+PHVpc2hvdyBuYW1lPSJjY3RleHRoaWdobGlnaHRpbmciIHZhbHVlPSJ0cnVlIi8+DQoJPC9sYXlvdXQ+DQoJPHByZWxvYWRlcj48c2V0Qm9vbCBuYW1lPSJkaXNhYmxlQXNzZXRQcmVsb2FkZXIiIHZhbHVlPSJ0cnVlIi8+PC9wcmVsb2FkZXI+PGxhbmd1YWdlIGlkPSJlbiI+DQoJCTwhLS0gZm9ybWF0IGZvciB1aWZvbnQgdmFsdWUgaXMgImZvbnQsc2l6ZSxpc2JvbGQsaXNpdGFsaWMsaXNzaGFkb3dlZCIgLS0+DQoJCTx1aWZvbnQgbmFtZT0iRk9OVF9RVUlaWklORyIgdmFsdWU9IlZlcmRhbmEsOSxmYWxzZSxmYWxzZSxmYWxzZSIvPg0KCQk8dWlmb250IG5hbWU9IkZPTlRfU0NSVUJTVEFUVVMiIHZhbHVlPSJWZXJkYW5hLDksdHJ1ZSxmYWxzZSx0cnVlIi8+DQoJCTx1aWZvbnQgbmFtZT0iRk9OVF9TQ1JVQlRJTUUiIHZhbHVlPSJWZXJkYW5hLDksZmFsc2UsZmFsc2UsdHJ1ZSIvPg0KCQk8dWlmb250IG5hbWU9IkZPTlRfRUxBUFNFRFRJTUUiIHZhbHVlPSJWZXJkYW5hLDksdHJ1ZSxmYWxzZSx0cnVlIi8+DQoJCTx1aWZvbnQgbmFtZT0iRk9OVF9VVElMU01FTlUiIHZhbHVlPSJWZXJkYW5hLDksdHJ1ZSxmYWxzZSxmYWxzZSIvPg0KCQk8dWlmb250IG5hbWU9IkZPTlRfVEFCUyIgdmFsdWU9IlZlcmRhbmEsOSx0cnVlLGZhbHNlLHRydWUiLz4NCgkJPHVpZm9udCBuYW1lPSJGT05UX1BSRVNFTlRBVElPTk5BTUUiIHZhbHVlPSJWZXJkYW5hLDE0LGZhbHNlLGZhbHNlLHRydWUiLz4NCgkJPHVpZm9udCBuYW1lPSJGT05UX1BSRVNFTlRFUk5BTUUiIHZhbHVlPSJWZXJkYW5hLDEwLHRydWUsZmFsc2UsdHJ1ZSIvPg0KCQk8dWlmb250IG5hbWU9IkZPTlRfUFJFU0VOVEVSVElUTEUiIHZhbHVlPSJWZXJkYW5hLDEwLGZhbHNlLGZhbHNlLHRydWUiLz4NCgkJPHVpZm9udCBuYW1lPSJGT05UX0JJT0JUTiIgdmFsdWU9IlZlcmRhbmEsMTAsZmFsc2UsZmFsc2UsdHJ1ZSIvPg0KCQk8dWlmb250IG5hbWU9IkZPTlRfTk9URVMiIHZhbHVlPSJWZXJkYW5hLDExLGZhbHNlLGZhbHNlLGZhbHNlIi8+DQoJCTx1aWZvbnQgbmFtZT0iRk9OVF9PVVRMSU5FIiB2YWx1ZT0iVmVyZGFuYSwxMSxmYWxzZSxmYWxzZSx0cnVlIi8+DQoJCTx1aWZvbnQgbmFtZT0iRk9OVF9TRUFSQ0giIHZhbHVlPSJWZXJkYW5hLDExLGZhbHNlLGZhbHNlLHRydWUiLz4NCgkJPHVpZm9udCBuYW1lPSJGT05UX1RIVU1CIiB2YWx1ZT0iVmVyZGFuYSw5LGZhbHNlLGZhbHNlLHRydWUiLz4NCgkJPHVpZm9udCBuYW1lPSJGT05UX0JJT1dJTiIgdmFsdWU9IlZlcmRhbmEsMTEsZmFsc2UsZmFsc2UsZmFsc2UiLz4NCgkJPHVpZm9udCBuYW1lPSJGT05UX0xJU1RIRUFESU5HIiB2YWx1ZT0iVmVyZGFuYSw5LGZhbHNlLGZhbHNlLGZhbHNlIi8+DQoJCTx1aWZvbnQgbmFtZT0iRk9OVF9XSU5USVRMRSIgdmFsdWU9IlZlcmRhbmEsOSxmYWxzZSxmYWxzZSx0cnVlIi8+DQoJCTx1aWZvbnQgbmFtZT0iRk9OVF9BVFRBQ0hNRU5UUyIgdmFsdWU9IlZlcmRhbmEsMTEsZmFsc2UsZmFsc2UsdHJ1ZSIvPg0KCQk8IS0tcXVpeiBwb2QgYW5kIG1lc3NhZ2UgYm94IHRleHQgZm9udHMtLT4NCgkJPHVpZm9udCBuYW1lPSJGT05UX01TR0JPWF9XSU5USVRMRSIgdmFsdWU9IlZlcmRhbmEsMTEsdHJ1ZSxmYWxzZSx0cnVlIi8+DQoJCTx1aWZvbnQgbmFtZT0iRk9OVF9NU0dCT1hfTVNHIiB2YWx1ZT0iVmVyZGFuYSwxMSxmYWxzZSxmYWxzZSx0cnVlIi8+DQoJCTx1aWZvbnQgbmFtZT0iRk9OVF9NU0dCT1hfT1BUSU9OUyIgdmFsdWU9IlZlcmRhbmEsOSx0cnVlLGZhbHNlLHRydWUiLz4NCgkJPHVpZm9udCBuYW1lPSJGT05UX1FVSVpQT0RfUVVJWl9USVRMRSIgdmFsdWU9IlZlcmRhbmEsMTEsdHJ1ZSxmYWxzZSx0cnVlIi8+DQoJCTx1aWZvbnQgbmFtZT0iRk9OVF9RVUlaUE9EX1FVSVpfQVRURU1QVCIgdmFsdWU9IlZlcmRhbmEsOSxmYWxzZSxmYWxzZSx0cnVlIi8+DQoJCTx1aWZvbnQgbmFtZT0iRk9OVF9RVUlaUE9EX1FVSVpfQVRURU1QVF9WQUxVRSIgdmFsdWU9IlZlcmRhbmEsOSx0cnVlLGZhbHNlLHRydWUiLz4NCgkJPHVpZm9udCBuYW1lPSJGT05UX1FVSVpQT0RfUVVFU1RJT05fU0NPUkUiIHZhbHVlPSJWZXJkYW5hLDksZmFsc2UsZmFsc2UsdHJ1ZSIvPg0KCQk8dWlmb250IG5hbWU9IkZPTlRfUVVJWlBPRF9RVUVTVElPTl9TQ09SRV9WQUxVRSIgdmFsdWU9IlZlcmRhbmEsOSx0cnVlLGZhbHNlLHRydWUiLz4NCgkJPHVpZm9udCBuYW1lPSJGT05UX1FVSVpQT0RfUVVFU1RJT05fQVRURU1QVCIgdmFsdWU9IlZlcmRhbmEsOSxmYWxzZSxmYWxzZSx0cnVlIi8+DQoJCTx1aWZvbnQgbmFtZT0iRk9OVF9RVUlaUE9EX1FVRVNUSU9OX0FUVEVNUFRfVkFMVUUiIHZhbHVlPSJWZXJkYW5hLDksdHJ1ZSxmYWxzZSx0cnVlIi8+DQoJCTx1aWZvbnQgbmFtZT0iRk9OVF9RVUlaUE9EX1FVRVNUSU9OX1RBRyIgdmFsdWU9IlZlcmRhbmEsMTEsdHJ1ZSxmYWxzZSx0cnVlIi8+DQoJCTx1aWZvbnQgbmFtZT0iRk9OVF9RVUlaUE9EX1FVSVpfUVVFU1RJT05fQ09VTlQiIHZhbHVlPSJWZXJkYW5hLDksZmFsc2UsZmFsc2UsdHJ1ZSIvPg0KCQk8dWlmb250IG5hbWU9IkZPTlRfUVVJWlBPRF9RVUlaX1FVRVNUSU9OX0NPVU5UX1ZBTFVFIiB2YWx1ZT0iVmVyZGFuYSw5LHRydWUsZmFsc2UsdHJ1ZSIvPg0KCQk8dWlmb250IG5hbWU9IkZPTlRfUVVJWlBPRF9RVUlaX1FVRVNUSU9OX0FUVEVNUFRFRCIgdmFsdWU9IlZlcmRhbmEsOSxmYWxzZSxmYWxzZSx0cnVlIi8+DQoJCTx1aWZvbnQgbmFtZT0iRk9OVF9RVUlaUE9EX1FVSVpfUVVFU1RJT05fQVRURU1QVEVEX1ZBTFVFIiB2YWx1ZT0iVmVyZGFuYSw5LHRydWUsZmFsc2UsdHJ1ZSIvPg0KCQk8dWlmb250IG5hbWU9IkZPTlRfUVVJWlBPRF9RVUlaX1NDT1JFX1RBRyIgdmFsdWU9IlZlcmRhbmEsMTEsdHJ1ZSxmYWxzZSx0cnVlIi8+DQoJCTx1aWZvbnQgbmFtZT0iRk9OVF9RVUlaUE9EX1FVSVpfU0NPUkUiIHZhbHVlPSJWZXJkYW5hLDksZmFsc2UsZmFsc2UsdHJ1ZSIvPg0KCQk8dWlmb250IG5hbWU9IkZPTlRfUVVJWlBPRF9RVUlaX1NDT1JFX1ZBTFVFIiB2YWx1ZT0iVmVyZGFuYSw5LHRydWUsZmFsc2UsdHJ1ZSIvPg0KCQk8dWlmb250IG5hbWU9IkZPTlRfUVVJWlBPRF9RVUlaX01BWFNDT1JFIiB2YWx1ZT0iVmVyZGFuYSw5LGZhbHNlLGZhbHNlLHRydWUiLz4NCgkJPHVpZm9udCBuYW1lPSJGT05UX1FVSVpQT0RfUVVJWl9NQVhTQ09SRV9WQUxVRSIgdmFsdWU9IlZlcmRhbmEsOSx0cnVlLGZhbHNlLHRydWUiLz4NCgkJPHVpZm9udCBuYW1lPSJGT05UX1FVSVpQT0RfUVVJWl9QQVNTU0NPUkUiIHZhbHVlPSJWZXJkYW5hLDksZmFsc2UsZmFsc2UsdHJ1ZSIvPg0KCQk8dWlmb250IG5hbWU9IkZPTlRfUVVJWlBPRF9RVUlaX1BBU1NTQ09SRV9WQUxVRSIgdmFsdWU9IlZlcmRhbmEsOSx0cnVlLGZhbHNlLHRydWUiLz4NCgkJPCEtLSB1aXRleHQgLS0+DQoJCTwhLS0gc3Vic3RpdHV0aW9uOiAlbiA9PSBzbGlkZSBudW1iZXIgLS0+DQoJCTx1aXRleHQgbmFtZT0iVU5OQU1FRFNMSURFVElUTEUiIHZhbHVlPSJTbGlkZSAlbiIvPg0KCQk8dWl0ZXh0IG5hbWU9IkFUVEFDSE1FTlRfUFJFVklFV19XQVJOSU5HTVNHX1RJVExFU1RSSU5HIiB2YWx1ZT0iQXR0YWNobWVudCBXYXJuaW5nIi8+DQoJCTx1aXRleHQgbmFtZT0iQVRUQUNITUVOVF9QUkVWSUVXX1dBUk5JTkdNU0ciIHZhbHVlPSJBdHRhY2htZW50cyBkbyBub3Qgb3BlbiBpbiBQcmV2aWV3IG1vZGUuIFBsZWFzZSB1c2UgcHVibGlzaCB0byBzZWUgdGhlIHJlc3VsdHMiLz4NCgkJPHVpdGV4dCBuYW1lPSJDT0xMQUJfTE9DQUxfUExBWUJBQ0tfTVNHIiB2YWx1ZT0iQ29udGVudCBpcyBiZWluZyBwbGF5ZWQgbG9jYWxseS4gQ29sbGFib3JhdGlvbiBkb2VzIG5vdCB3b3JrIGluIHRoaXMgbW9kZSIvPg0KCQk8dWl0ZXh0IG5hbWU9IkNPTExBQl9MT0NBTF9QTEFZQkFDS19USVRMRSIgdmFsdWU9IkxvY2FsIFBsYXliYWNrIi8+DQoJCTx1aXRleHQgbmFtZT0iQ09MTEFCX0xPQ0FMX1BMQVlCQUNLQlROIiB2YWx1ZT0iT2siLz4NCgkJPCEtLSBzdWJzdGl0dXRpb246ICVuID09IHNsaWRlIG51bWJlciAtLT4NCgkJPCEtLSBzdWJzdGl0dXRpb246ICV0ID09IHRvdGFsIHNsaWRlIGNvdW50IC0tPg0KCQk8dWl0ZXh0IG5hbWU9IlNDUlVCQkFSU1RBVFVTX1NMSURFSU5GTyIgdmFsdWU9IlNsaWRlICVuIC8gJXQgfCAiLz4NCgkJPHVpdGV4dCBuYW1lPSJTQ1JVQkJBUlNUQVRVU19TVE9QUEVEIiB2YWx1ZT0iU3RvcHBlZCIvPg0KCQk8dWl0ZXh0IG5hbWU9IlNDUlVCQkFSU1RBVFVTX1BMQVlJTkciIHZhbHVlPSJQbGF5aW5nIi8+DQoJCTx1aXRleHQgbmFtZT0iU0NSVUJCQVJTVEFUVVNfTk9BVURJTyIgdmFsdWU9Ik5vIEF1ZGlvIi8+DQoJCTx1aXRleHQgbmFtZT0iU0NSVUJCQVJTVEFUVVNfVklEUExBWUlORyIgdmFsdWU9IlZpZGVvIFBsYXlpbmciLz4NCgkJPHVpdGV4dCBuYW1lPSJTQ1JVQkJBUlNUQVRVU19MT0FESU5HIiB2YWx1ZT0iTG9hZGluZyIvPg0KCQk8dWl0ZXh0IG5hbWU9IlNDUlVCQkFSU1RBVFVTX0JVRkZFUklORyIgdmFsdWU9IkJ1ZmZlcmluZyIvPg0KCQk8dWl0ZXh0IG5hbWU9IlNDUlVCQkFSU1RBVFVTX1FVRVNUSU9OIiB2YWx1ZT0iQW5zd2VyIFF1ZXN0aW9uIi8+DQoJCTx1aXRleHQgbmFtZT0iU0NSVUJCQVJTVEFUVVNfUkVWSUVXUVVJWiIgdmFsdWU9IlJldmlld2luZyBRdWl6Ii8+DQoJCTwhLS0gc3Vic3RpdHV0aW9uOiAlbSA9PSBtaW51dGVzIHJlbWFpbmluZyAtLT4NCgkJPCEtLSBzdWJzdGl0dXRpb246ICVzID09IHNlY29uZHMgcmVtYWluaW5nIC0tPg0KCQk8dWl0ZXh0IG5hbWU9IkVMQVBTRUQiIHZhbHVlPSIlbSBNaW51dGVzICVzIFNlY29uZHMgUmVtYWluaW5nIi8+DQoJCTx1aXRleHQgbmFtZT0iTk9URk9VTkQiIHZhbHVlPSJOb3RoaW5nIEZvdW5kIi8+DQoJCTx1aXRleHQgbmFtZT0iQVRUQUNITUVOVFMiIHZhbHVlPSJBdHRhY2htZW50cyIvPg0KCQk8IS0tIHN1YnN0aXR1dGlvbjogJXAgPT0gY3VycmVudCBzcGVha2VyJ3MgdGl0bGUgLS0+DQoJCTx1aXRleHQgbmFtZT0iQklPV0lOX1RJVExFIiB2YWx1ZT0iQmlvOiAlcCIvPg0KCQk8dWl0ZXh0IG5hbWU9IkJJT0JUTl9USVRMRSIgdmFsdWU9IkJpbyIvPg0KCQk8dWl0ZXh0IG5hbWU9IkRJVklERVJCVE5fVElUTEUiIHZhbHVlPSJ8Ii8+DQoJCTx1aXRleHQgbmFtZT0iQ09OVEFDVEJUTl9USVRMRSIgdmFsdWU9IkNvbnRhY3QiLz4NCgkJPHVpdGV4dCBuYW1lPSJUQUJfUVVJWiIgdmFsdWU9IlF1aXoiLz4NCgkJPHVpdGV4dCBuYW1lPSJUQUJfT1VUTElORSIgdmFsdWU9Ik91dGxpbmUiLz4NCgkJPHVpdGV4dCBuYW1lPSJUQUJfVEhVTUIiIHZhbHVlPSJUaHVtYiIvPg0KCQk8dWl0ZXh0IG5hbWU9IlRBQl9OT1RFUyIgdmFsdWU9Ik5vdGVzIi8+DQoJCTx1aXRleHQgbmFtZT0iVEFCX1NFQVJDSCIgdmFsdWU9IlNlYXJjaCIvPg0KCQk8dWl0ZXh0IG5hbWU9IlNMSURFX0hFQURJTkciIHZhbHVlPSJTbGlkZSBUaXRsZSIvPg0KCQk8dWl0ZXh0IG5hbWU9IkRVUkFUSU9OX0hFQURJTkciIHZhbHVlPSJEdXJhdGlvbiIvPg0KCQk8dWl0ZXh0IG5hbWU9IlNFQVJDSF9IRUFESU5HIiB2YWx1ZT0iU2VhcmNoIGZvciB0ZXh0OiIvPg0KCQk8dWl0ZXh0IG5hbWU9IlRIVU1CX0hFQURJTkciIHZhbHVlPSJTbGlkZSIvPg0KCQk8dWl0ZXh0IG5hbWU9IlRIVU1CX0lORk8iIHZhbHVlPSJTbGlkZSBUaXRsZS9EdXJhdGlvbiIvPg0KCQk8dWl0ZXh0IG5hbWU9IkFUVEFDSE5BTUVfSEVBRElORyIgdmFsdWU9IkZpbGUgTmFtZSIvPg0KCQk8dWl0ZXh0IG5hbWU9IkFUVEFDSFNJWkVfSEVBRElORyIgdmFsdWU9IlNpemUiLz4NCgkJPHVpdGV4dCBuYW1lPSJTTElERV9OT1RFUyIgdmFsdWU9IlNsaWRlIE5vdGVzIi8+DQoJCTx1aXRleHQgbmFtZT0iQ09VUlNFX1NUQVRVUyIgdmFsdWU9Ik1vZHVsZSBTdGF0dXMiLz4NCgkJPHVpdGV4dCBuYW1lPSJQQVNTRURfU1RSSU5HIiB2YWx1ZT0iUGFzc2VkIi8+DQoJCTx1aXRleHQgbmFtZT0iRkFJTEVEX1NUUklORyIgdmFsdWU9IkZhaWxlZCIvPg0KCQk8IS0tcXVpeiBwb2QgYW5kIG1lc3NhZ2UgYm94IHRleHRzLS0+DQoJCTx1aXRleHQgbmFtZT0iQVRUQUNITUVOVF9QUkVWSUVXX1dBUk5JTkdNU0dfVElUTEVTVFJJTkciIHZhbHVlPSJBdHRhY2htZW50IFdhcm5pbmciLz4NCgkJPHVpdGV4dCBuYW1lPSJBVFRBQ0hNRU5UX1BSRVZJRVdfV0FSTklOR01TRyIgdmFsdWU9IkF0dGFjaG1lbnRzIGRvIG5vdCBvcGVuIGluIFByZXZpZXcgbW9kZS4gUGxlYXNlIHVzZSBwdWJsaXNoIHRvIHNlZSB0aGUgcmVzdWx0cyIvPg0KCQk8dWl0ZXh0IG5hbWU9IlFVSVpQT0RfUVVJWl9BVFRFTVBUIiB2YWx1ZT0iUXVpeiBBdHRlbXB0OiIvPg0KCQk8dWl0ZXh0IG5hbWU9IlFVSVpQT0RfUVVJWl9BVFRFTVBUX1ZBTFVFIiB2YWx1ZT0iJW4gb2YgJXQiLz4NCgkJPHVpdGV4dCBuYW1lPSJRVUlaUE9EX1FVSVpfU0NPUkUiIHZhbHVlPSJTY29yZWQ6Ii8+DQoJCTx1aXRleHQgbmFtZT0iUVVJWlBPRF9RVUlaX1BBU1NTQ09SRSIgdmFsdWU9IlBhc3NpbmcgU2NvcmU6Ii8+DQoJCTx1aXRleHQgbmFtZT0iUVVJWlBPRF9RVUlaX01BWFNDT1JFIiB2YWx1ZT0iTWF4IFNjb3JlOiIvPg0KCQk8dWl0ZXh0IG5hbWU9IlFVSVpQT0RfUVVFU0FUTVBUX1NUUiIgdmFsdWU9IkF0dGVtcHQ6ICVuIG9mICV0Ii8+DQoJCTx1aXRleHQgbmFtZT0iUVVJWlBPRF9RVUVTVFlQRV9TVFIiIHZhbHVlPSJUeXBlOiAlcyIvPg0KCQk8dWl0ZXh0IG5hbWU9IlFVSVpQT0RfUVVFU1RZUEVfR1JEIiB2YWx1ZT0iR3JhZGVkIi8+DQoJCTx1aXRleHQgbmFtZT0iUVVJWlBPRF9RVUVTVFlQRV9TVlkiIHZhbHVlPSJTdXJ2ZXkiLz4NCgkJPHVpdGV4dCBuYW1lPSJRVUlaUE9EX1FVSVpBVE1QVF9JTkYiIHZhbHVlPSJJbmZpbml0ZSIvPg0KCQk8dWl0ZXh0IG5hbWU9IlFVSVpQT0RfUVVFU0FUTVBUX0lORiIgdmFsdWU9IkluZmluaXRlIi8+DQoJCTx1aXRleHQgbmFtZT0iV0FSTklOR01TR19ZRVNTVFJJTkciIHZhbHVlPSJZZXMiLz4NCgkJPHVpdGV4dCBuYW1lPSJXQVJOSU5HTVNHX05PU1RSSU5HIiB2YWx1ZT0iTm8iLz4NCgkJPHVpdGV4dCBuYW1lPSJXQVJOSU5HTVNHX1RJVExFU1RSSU5HIiB2YWx1ZT0iUXVpeiBOYXZpZ2F0aW9uIFdhcm5pbmciLz4NCgkJPHVpdGV4dCBuYW1lPSJXQVJOSU5HTVNHX01TR1NUUklORyIgdmFsdWU9IlRoZXJlIGFyZSB1bi1hdHRlbXB0ZWQgcXVlc3Rpb25zIGluIHRoaXMgUXVpei4mI3hBOyYjeEE7Q2xpY2tpbmcgWWVzIHdpbGwgdGFrZSB5b3Ugb3V0IG9mIHRoZSBRdWl6LiBDbGljayBObyB0byBjb250aW51ZSB0aGUgUXVpei4iLz4NCgkJPHVpdGV4dCBuYW1lPSJJTkZPUk1BVElPTl9IMjY0X0ZMQVNIUExBWUVSIiB2YWx1ZT0iVGhlIGN1cnJlbnQgdmVyc2lvbiBvZiBGbGFzaCBQbGF5ZXIgaW5zdGFsbGVkIG9uIHlvdXIgbWFjaGluZSBkb2VzIG5vdCBzdXBwb3J0IHRoaXMgdmlkZW8uIENsaWNrIG9uIHRoZSB2aWRlbyBhcmVhIHRvIGRvd25sb2FkIHRoZSBsYXRlc3QgRmxhc2ggUGxheWVyLiIvPg0KCQk8IS0tIHN1YnN0aXR1dGlvbjogJXAgPT0gcHJlc2VudGF0aW9uIHRpdGxlIC0tPg0KCQk8IS0tIHN1YnN0aXR1dGlvbjogJXMgPT0gc2xpZGUgdGl0bGUgLS0+DQoJCTwhLS0gc3Vic3RpdHV0aW9uOiAlbiA9PSBzbGlkZSBudW1iZXIgLS0+DQoJCTx1aXRleHQgbmFtZT0iQk9PS01BUksiIHZhbHVlPSJBZG9iZSBQcmVzZW50ZXIgLSAlcCIvPg0KCQk8IS0tIHN1YnN0aXR1dGlvbjogJXAgPT0gcHJlc2VudGF0aW9uIHRpdGxlIC0tPg0KCQk8IS0tIHN1YnN0aXR1dGlvbjogJXMgPT0gc2xpZGUgdGl0bGUgLS0+DQoJCTwhLS0gc3Vic3RpdHV0aW9uOiAlbiA9PSBzbGlkZSBudW1iZXIgLS0+DQoJCTx1aXRleHQgbmFtZT0iQk9PS01BUktTTElERSIgdmFsdWU9IkFkb2JlIFByZXNlbnRlciAtICVwICVzIi8+DQoJCTx1aXRleHQgbmFtZT0iU0hPV1NJREVCQVIiIHZhbHVlPSJTaG93IHNpZGViYXIgdG8gcGFydGljaXBhbnRzIi8+DQoJCTx1aXRleHQgbmFtZT0iTVVURSIgdmFsdWU9Ik11dGUiLz4NCgkJPHVpdGV4dCBuYW1lPSJET0NXUkFQX1RJVExFIiB2YWx1ZT0iUHJlc2VudGVyIEZpbGUgQXR0YWNobWVudCIvPg0KCQk8dWl0ZXh0IG5hbWU9IkRPQ1dSQVBfTVNHIiB2YWx1ZT0iU2F2ZSB0byBNeSBDb21wdXRlciIvPg0KCQk8dWl0ZXh0IG5hbWU9IkRPQ1dSQVBfUFJPTVBUIiB2YWx1ZT0iQ2xpY2sgdG8gRG93bmxvYWQiLz4NCgk8L2xhbmd1YWdlPg0KCTxsYW5ndWFnZSBpZD0iYXIiPg0KCQk8IS0tIGZvcm1hdCBmb3IgdWlmb250IHZhbHVlIGlzICJmb250LHNpemUsaXNib2xkLGlzaXRhbGljLGlzc2hhZG93ZWQiIC0tPg0KCQk8dWlmb250IG5hbWU9IkZPTlRfUVVJWlpJTkciIHZhbHVlPSJWZXJkYW5hLDksZmFsc2UsZmFsc2UsZmFsc2UiLz4NCgkJPHVpZm9udCBuYW1lPSJGT05UX1NDUlVCU1RBVFVTIiB2YWx1ZT0iVmVyZGFuYSw5LHRydWUsZmFsc2UsdHJ1ZSIvPg0KCQk8dWlmb250IG5hbWU9IkZPTlRfU0NSVUJUSU1FIiB2YWx1ZT0iVmVyZGFuYSw5LGZhbHNlLGZhbHNlLHRydWUiLz4NCgkJPHVpZm9udCBuYW1lPSJGT05UX0VMQVBTRURUSU1FIiB2YWx1ZT0iVmVyZGFuYSw5LHRydWUsZmFsc2UsdHJ1ZSIvPg0KCQk8dWlmb250IG5hbWU9IkZPTlRfVVRJTFNNRU5VIiB2YWx1ZT0iVmVyZGFuYSw5LHRydWUsZmFsc2UsZmFsc2UiLz4NCgkJPHVpZm9udCBuYW1lPSJGT05UX1RBQlMiIHZhbHVlPSJWZXJkYW5hLDksdHJ1ZSxmYWxzZSx0cnVlIi8+DQoJCTx1aWZvbnQgbmFtZT0iRk9OVF9QUkVTRU5UQVRJT05OQU1FIiB2YWx1ZT0iVmVyZGFuYSwxNCxmYWxzZSxmYWxzZSx0cnVlIi8+DQoJCTx1aWZvbnQgbmFtZT0iRk9OVF9QUkVTRU5URVJOQU1FIiB2YWx1ZT0iVmVyZGFuYSwxMCx0cnVlLGZhbHNlLHRydWUiLz4NCgkJPHVpZm9udCBuYW1lPSJGT05UX1BSRVNFTlRFUlRJVExFIiB2YWx1ZT0iVmVyZGFuYSwxMCxmYWxzZSxmYWxzZSx0cnVlIi8+DQoJCTx1aWZvbnQgbmFtZT0iRk9OVF9CSU9CVE4iIHZhbHVlPSJWZXJkYW5hLDEwLGZhbHNlLGZhbHNlLHRydWUiLz4NCgkJPHVpZm9udCBuYW1lPSJGT05UX05PVEVTIiB2YWx1ZT0iVmVyZGFuYSwxMSxmYWxzZSxmYWxzZSxmYWxzZSIvPg0KCQk8dWlmb250IG5hbWU9IkZPTlRfT1VUTElORSIgdmFsdWU9IlZlcmRhbmEsMTEsZmFsc2UsZmFsc2UsdHJ1ZSIvPg0KCQk8dWlmb250IG5hbWU9IkZPTlRfU0VBUkNIIiB2YWx1ZT0iVmVyZGFuYSwxMSxmYWxzZSxmYWxzZSx0cnVlIi8+DQoJCTx1aWZvbnQgbmFtZT0iRk9OVF9USFVNQiIgdmFsdWU9IlZlcmRhbmEsOSxmYWxzZSxmYWxzZSx0cnVlIi8+DQoJCTx1aWZvbnQgbmFtZT0iRk9OVF9CSU9XSU4iIHZhbHVlPSJWZXJkYW5hLDExLGZhbHNlLGZhbHNlLGZhbHNlIi8+DQoJCTx1aWZvbnQgbmFtZT0iRk9OVF9MSVNUSEVBRElORyIgdmFsdWU9IlZlcmRhbmEsOSxmYWxzZSxmYWxzZSxmYWxzZSIvPg0KCQk8dWlmb250IG5hbWU9IkZPTlRfV0lOVElUTEUiIHZhbHVlPSJWZXJkYW5hLDksZmFsc2UsZmFsc2UsdHJ1ZSIvPg0KCQk8dWlmb250IG5hbWU9IkZPTlRfQVRUQUNITUVOVFMiIHZhbHVlPSJWZXJkYW5hLDExLGZhbHNlLGZhbHNlLHRydWUiLz4NCgkJPCEtLXF1aXogcG9kIGFuZCBtZXNzYWdlIGJveCB0ZXh0IGZvbnRzLS0+DQoJCTx1aWZvbnQgbmFtZT0iRk9OVF9NU0dCT1hfV0lOVElUTEUiIHZhbHVlPSJWZXJkYW5hLDExLHRydWUsZmFsc2UsdHJ1ZSIvPg0KCQk8dWlmb250IG5hbWU9IkZPTlRfTVNHQk9YX01TRyIgdmFsdWU9IlZlcmRhbmEsMTEsZmFsc2UsZmFsc2UsdHJ1ZSIvPg0KCQk8dWlmb250IG5hbWU9IkZPTlRfTVNHQk9YX09QVElPTlMiIHZhbHVlPSJWZXJkYW5hLDksdHJ1ZSxmYWxzZSx0cnVlIi8+DQoJCTx1aWZvbnQgbmFtZT0iRk9OVF9RVUlaUE9EX1FVSVpfVElUTEUiIHZhbHVlPSJWZXJkYW5hLDExLHRydWUsZmFsc2UsdHJ1ZSIvPg0KCQk8dWlmb250IG5hbWU9IkZPTlRfUVVJWlBPRF9RVUlaX0FUVEVNUFQiIHZhbHVlPSJWZXJkYW5hLDksZmFsc2UsZmFsc2UsdHJ1ZSIvPg0KCQk8dWlmb250IG5hbWU9IkZPTlRfUVVJWlBPRF9RVUlaX0FUVEVNUFRfVkFMVUUiIHZhbHVlPSJWZXJkYW5hLDksdHJ1ZSxmYWxzZSx0cnVlIi8+DQoJCTx1aWZvbnQgbmFtZT0iRk9OVF9RVUlaUE9EX1FVRVNUSU9OX1NDT1JFIiB2YWx1ZT0iVmVyZGFuYSw5LGZhbHNlLGZhbHNlLHRydWUiLz4NCgkJPHVpZm9udCBuYW1lPSJGT05UX1FVSVpQT0RfUVVFU1RJT05fU0NPUkVfVkFMVUUiIHZhbHVlPSJWZXJkYW5hLDksdHJ1ZSxmYWxzZSx0cnVlIi8+DQoJCTx1aWZvbnQgbmFtZT0iRk9OVF9RVUlaUE9EX1FVRVNUSU9OX0FUVEVNUFQiIHZhbHVlPSJWZXJkYW5hLDksZmFsc2UsZmFsc2UsdHJ1ZSIvPg0KCQk8dWlmb250IG5hbWU9IkZPTlRfUVVJWlBPRF9RVUVTVElPTl9BVFRFTVBUX1ZBTFVFIiB2YWx1ZT0iVmVyZGFuYSw5LHRydWUsZmFsc2UsdHJ1ZSIvPg0KCQk8dWlmb250IG5hbWU9IkZPTlRfUVVJWlBPRF9RVUVTVElPTl9UQUciIHZhbHVlPSJWZXJkYW5hLDExLHRydWUsZmFsc2UsdHJ1ZSIvPg0KCQk8dWlmb250IG5hbWU9IkZPTlRfUVVJWlBPRF9RVUlaX1FVRVNUSU9OX0NPVU5UIiB2YWx1ZT0iVmVyZGFuYSw5LGZhbHNlLGZhbHNlLHRydWUiLz4NCgkJPHVpZm9udCBuYW1lPSJGT05UX1FVSVpQT0RfUVVJWl9RVUVTVElPTl9DT1VOVF9WQUxVRSIgdmFsdWU9IlZlcmRhbmEsOSx0cnVlLGZhbHNlLHRydWUiLz4NCgkJPHVpZm9udCBuYW1lPSJGT05UX1FVSVpQT0RfUVVJWl9RVUVTVElPTl9BVFRFTVBURUQiIHZhbHVlPSJWZXJkYW5hLDksZmFsc2UsZmFsc2UsdHJ1ZSIvPg0KCQk8dWlmb250IG5hbWU9IkZPTlRfUVVJWlBPRF9RVUlaX1FVRVNUSU9OX0FUVEVNUFRFRF9WQUxVRSIgdmFsdWU9IlZlcmRhbmEsOSx0cnVlLGZhbHNlLHRydWUiLz4NCgkJPHVpZm9udCBuYW1lPSJGT05UX1FVSVpQT0RfUVVJWl9TQ09SRV9UQUciIHZhbHVlPSJWZXJkYW5hLDExLHRydWUsZmFsc2UsdHJ1ZSIvPg0KCQk8dWlmb250IG5hbWU9IkZPTlRfUVVJWlBPRF9RVUlaX1NDT1JFIiB2YWx1ZT0iVmVyZGFuYSw5LGZhbHNlLGZhbHNlLHRydWUiLz4NCgkJPHVpZm9udCBuYW1lPSJGT05UX1FVSVpQT0RfUVVJWl9TQ09SRV9WQUxVRSIgdmFsdWU9IlZlcmRhbmEsOSx0cnVlLGZhbHNlLHRydWUiLz4NCgkJPHVpZm9udCBuYW1lPSJGT05UX1FVSVpQT0RfUVVJWl9NQVhTQ09SRSIgdmFsdWU9IlZlcmRhbmEsOSxmYWxzZSxmYWxzZSx0cnVlIi8+DQoJCTx1aWZvbnQgbmFtZT0iRk9OVF9RVUlaUE9EX1FVSVpfTUFYU0NPUkVfVkFMVUUiIHZhbHVlPSJWZXJkYW5hLDksdHJ1ZSxmYWxzZSx0cnVlIi8+DQoJCTx1aWZvbnQgbmFtZT0iRk9OVF9RVUlaUE9EX1FVSVpfUEFTU1NDT1JFIiB2YWx1ZT0iVmVyZGFuYSw5LGZhbHNlLGZhbHNlLHRydWUiLz4NCgkJPHVpZm9udCBuYW1lPSJGT05UX1FVSVpQT0RfUVVJWl9QQVNTU0NPUkVfVkFMVUUiIHZhbHVlPSJWZXJkYW5hLDksdHJ1ZSxmYWxzZSx0cnVlIi8+DQoJCTwhLS0gdWl0ZXh0IC0tPg0KCQk8IS0tIHN1YnN0aXR1dGlvbjogJW4gPT0gc2xpZGUgbnVtYmVyIC0tPg0KCQk8dWl0ZXh0IG5hbWU9IkFUVEFDSE1FTlRfUFJFVklFV19XQVJOSU5HTVNHX1RJVExFU1RSSU5HIiB2YWx1ZT0i2KrYrdiw2YrYsSDYudmGINin2YTZhdix2YHZgtin2KoiLz4NCgkJPHVpdGV4dCBuYW1lPSJBVFRBQ0hNRU5UX1BSRVZJRVdfV0FSTklOR01TRyIgdmFsdWU9ItmE2Kcg2YrZhdmD2YYg2YHYqtitINin2YTZhdix2YHZgtin2Kog2YHZiiDZhtmF2Lcg2KfZhNmF2LnYp9mK2YbYqS4g2KfZhNix2KzYp9ihINin2LPYqtiu2K/Yp9mFINmG2LTYsSDZhNix2KTZitipINin2YTZhtiq2KfYptisLiIvPg0KCQk8dWl0ZXh0IG5hbWU9IlVOTkFNRURTTElERVRJVExFIiB2YWx1ZT0i2LTYsdmK2K3YqSAlbiIvPg0KCQk8dWl0ZXh0IG5hbWU9IkNPTExBQl9MT0NBTF9QTEFZQkFDS19NU0ciIHZhbHVlPSLZitis2LHZiiDYrdin2YTZitin2Ysg2KrYtNi62YrZhCDYp9mE2YXYrdiq2YjZiSDZhdit2YTZitin2YsuINin2YTYqti52KfZiNmGINmE2Kcg2YrYudmF2YQg2YHZiiDZh9iw2Kcg2KfZhNmI2LbYuS4iLz4NCgkJPHVpdGV4dCBuYW1lPSJDT0xMQUJfTE9DQUxfUExBWUJBQ0tfVElUTEUiIHZhbHVlPSLYqti02LrZitmEINmF2K3ZhNmKIi8+DQoJCTx1aXRleHQgbmFtZT0iQ09MTEFCX0xPQ0FMX1BMQVlCQUNLQlROIiB2YWx1ZT0i2YXZiNin2YHZgiIvPg0KCQk8IS0tIHN1YnN0aXR1dGlvbjogJW4gPT0gc2xpZGUgbnVtYmVyIC0tPg0KCQk8IS0tIHN1YnN0aXR1dGlvbjogJXQgPT0gdG90YWwgc2xpZGUgY291bnQgLS0+DQoJCTx1aXRleHQgbmFtZT0iU0NSVUJCQVJTVEFUVVNfU0xJREVJTkZPIiB2YWx1ZT0i2LTYsdmK2K3YqSAlbiAvICV0IHwgIi8+DQoJCTx1aXRleHQgbmFtZT0iU0NSVUJCQVJTVEFUVVNfU1RPUFBFRCIgdmFsdWU9ItmF2KrZiNmC2YEiLz4NCgkJPHVpdGV4dCBuYW1lPSJTQ1JVQkJBUlNUQVRVU19QTEFZSU5HIiB2YWx1ZT0i2YLZitivINin2YTYqti02LrZitmEIi8+DQoJCTx1aXRleHQgbmFtZT0iU0NSVUJCQVJTVEFUVVNfTk9BVURJTyIgdmFsdWU9ItmE2Kcg2YrZiNis2K8g2LXZiNiqIi8+DQoJCTx1aXRleHQgbmFtZT0iU0NSVUJCQVJTVEFUVVNfVklEUExBWUlORyIgdmFsdWU9Itin2YTZgdmK2K/ZitmIINmC2YrYryDYp9mE2KrYtNi62YrZhCIvPg0KCQk8dWl0ZXh0IG5hbWU9IlNDUlVCQkFSU1RBVFVTX0xPQURJTkciIHZhbHVlPSLZitis2LHZiiDYp9mE2KLZhiDYp9mE2KrYrdmF2YrZhC4uLiIvPg0KCQk8dWl0ZXh0IG5hbWU9IlNDUlVCQkFSU1RBVFVTX0JVRkZFUklORyIgdmFsdWU9ItmK2KzYsdmKINin2YTYotmGINin2YTYqtiu2LLZitmGINin2YTZhdik2YLYqiIvPg0KCQk8dWl0ZXh0IG5hbWU9IlNDUlVCQkFSU1RBVFVTX1FVRVNUSU9OIiB2YWx1ZT0i2KfZhNil2KzYp9io2Kkg2LnZhNmJINin2YTYs9ik2KfZhCIvPg0KCQk8dWl0ZXh0IG5hbWU9IlNDUlVCQkFSU1RBVFVTX1JFVklFV1FVSVoiIHZhbHVlPSLZhdix2KfYrNi52Kkg2KfZhNmF2LPYp9io2YLYqSIvPg0KCQk8IS0tIHN1YnN0aXR1dGlvbjogJW0gPT0gbWludXRlcyByZW1haW5pbmcgLS0+DQoJCTwhLS0gc3Vic3RpdHV0aW9uOiAlcyA9PSBzZWNvbmRzIHJlbWFpbmluZyAtLT4NCgkJPHVpdGV4dCBuYW1lPSJFTEFQU0VEIiB2YWx1ZT0iJW0g2K/Zgtin2KbZgiVzINir2YjYp9mGINmF2KrYqNmC2YrYqSIvPg0KCQk8dWl0ZXh0IG5hbWU9Ik5PVEZPVU5EIiB2YWx1ZT0i2YTZhSDZitmP2LnYq9ixINi52YTZiSDYtNmK2KEiLz4NCgkJPHVpdGV4dCBuYW1lPSJBVFRBQ0hNRU5UUyIgdmFsdWU9Itin2YTZhdix2YHZgtin2KoiLz4NCgkJPCEtLSBzdWJzdGl0dXRpb246ICVwID09IGN1cnJlbnQgc3BlYWtlcidzIHRpdGxlIC0tPg0KCQk8dWl0ZXh0IG5hbWU9IkJJT1dJTl9USVRMRSIgdmFsdWU9Itin2YTYs9mK2LHYqSDYp9mE2LDYp9iq2YrYqTogJXAiLz4NCgkJPHVpdGV4dCBuYW1lPSJCSU9CVE5fVElUTEUiIHZhbHVlPSLYp9mE2LPZitix2Kkg2KfZhNiw2KfYqtmK2KkiLz4NCgkJPHVpdGV4dCBuYW1lPSJESVZJREVSQlROX1RJVExFIiB2YWx1ZT0ifCIvPg0KCQk8dWl0ZXh0IG5hbWU9IkNPTlRBQ1RCVE5fVElUTEUiIHZhbHVlPSLYp9iq2LXYp9mEIi8+DQoJCTx1aXRleHQgbmFtZT0iVEFCX1FVSVoiIHZhbHVlPSLZhdiz2KfYqNmC2KkiLz4NCgkJPHVpdGV4dCBuYW1lPSJUQUJfT1VUTElORSIgdmFsdWU9ItmF2K7Yt9i3Ii8+DQoJCTx1aXRleHQgbmFtZT0iVEFCX1RIVU1CIiB2YWx1ZT0i2YXYtdi62ZHYsdipIi8+DQoJCTx1aXRleHQgbmFtZT0iVEFCX05PVEVTIiB2YWx1ZT0i2YXZhNin2K3YuNin2KoiLz4NCgkJPHVpdGV4dCBuYW1lPSJUQUJfU0VBUkNIIiB2YWx1ZT0i2KjYrdirIi8+DQoJCTx1aXRleHQgbmFtZT0iU0xJREVfSEVBRElORyIgdmFsdWU9Iti52YbZiNin2YYg2KfZhNi02LHZitit2KkgIi8+DQoJCTx1aXRleHQgbmFtZT0iRFVSQVRJT05fSEVBRElORyIgdmFsdWU9ItmF2K/YqSIvPg0KCQk8dWl0ZXh0IG5hbWU9IlNFQVJDSF9IRUFESU5HIiB2YWx1ZT0iOtin2YTYqNit2Ksg2LnZhiDZhti1Ii8+DQoJCTx1aXRleHQgbmFtZT0iVEhVTUJfSEVBRElORyIgdmFsdWU9Iti02LHZitit2KkiLz4NCgkJPHVpdGV4dCBuYW1lPSJUSFVNQl9JTkZPIiB2YWx1ZT0i2LnZhtmI2KfZhi/Zhdiv2Kkg2KfZhNi02LHZitit2KkiLz4NCgkJPHVpdGV4dCBuYW1lPSJBVFRBQ0hOQU1FX0hFQURJTkciIHZhbHVlPSLYp9iz2YUg2KfZhNmF2YTZgSIvPg0KCQk8dWl0ZXh0IG5hbWU9IkFUVEFDSFNJWkVfSEVBRElORyIgdmFsdWU9Itin2YTYrdis2YUiLz4NCgkJPHVpdGV4dCBuYW1lPSJTTElERV9OT1RFUyIgdmFsdWU9ItmF2YTYp9it2LjYp9iqINin2YTYtNix2YrYrdipIi8+DQoJCTx1aXRleHQgbmFtZT0iQ09VUlNFX1NUQVRVUyIgdmFsdWU9Itit2KfZhNipINin2YTZiNit2K/YqSIvPg0KCQk8dWl0ZXh0IG5hbWU9IlBBU1NFRF9TVFJJTkciIHZhbHVlPSLZhtis2KfYrSIvPg0KCQk8dWl0ZXh0IG5hbWU9IkZBSUxFRF9TVFJJTkciIHZhbHVlPSLZgdi02YQiLz4NCgkJPCEtLXF1aXogcG9kIGFuZCBtZXNzYWdlIGJveCB0ZXh0cy0tPg0KCQk8dWl0ZXh0IG5hbWU9IlFVSVpQT0RfUVVJWl9BVFRFTVBUIiB2YWx1ZT0i2LHZgtmFINin2YTZhdit2KfZiNmE2Kkg2YHZiiDYp9mE2YXYs9in2KjZgtipOiIvPg0KCQk8dWl0ZXh0IG5hbWU9IlFVSVpQT0RfUVVJWl9BVFRFTVBUX1ZBTFVFIiB2YWx1ZT0iJW4g2YXZhiAldCIvPg0KCQk8dWl0ZXh0IG5hbWU9IlFVSVpQT0RfUVVJWl9TQ09SRSIgdmFsdWU9IjrYp9mE2K/Ysdis2Kkg2KfZhNmF2LPYrNmE2KkiLz4NCgkJPHVpdGV4dCBuYW1lPSJRVUlaUE9EX1FVSVpfUEFTU1NDT1JFIiB2YWx1ZT0iOtiv2LHYrNipINin2YTZhtis2KfYrSIvPg0KCQk8dWl0ZXh0IG5hbWU9IlFVSVpQT0RfUVVJWl9NQVhTQ09SRSIgdmFsdWU9IjrYp9mE2K/Ysdis2Kkg2KfZhNmC2LXZiNmJIi8+DQoJCTx1aXRleHQgbmFtZT0iUVVJWlBPRF9RVUVTQVRNUFRfU1RSIiB2YWx1ZT0i2KfZhNmF2K3Yp9mI2YTYqSAlbiDZhdmGICV0Ii8+DQoJCTx1aXRleHQgbmFtZT0iUVVJWlBPRF9RVUVTVFlQRV9TVFIiIHZhbHVlPSLYp9mE2YbZiNi5OiAlcyIvPg0KCQk8dWl0ZXh0IG5hbWU9IlFVSVpQT0RfUVVFU1RZUEVfR1JEIiB2YWx1ZT0i2KrZhSDYqti12K3Zitit2YciLz4NCgkJPHVpdGV4dCBuYW1lPSJRVUlaUE9EX1FVRVNUWVBFX1NWWSIgdmFsdWU9Itin2LPYqti32YTYp9i5Ii8+DQoJCTx1aXRleHQgbmFtZT0iUVVJWlBPRF9RVUlaQVRNUFRfSU5GIiB2YWx1ZT0i2YTYpyDZhtmH2KfYptmKIi8+DQoJCTx1aXRleHQgbmFtZT0iUVVJWlBPRF9RVUVTQVRNUFRfSU5GIiB2YWx1ZT0i2YTYpyDZhtmH2KfYptmKIi8+DQoJCTx1aXRleHQgbmFtZT0iV0FSTklOR01TR19ZRVNTVFJJTkciIHZhbHVlPSLZhti52YUiLz4NCgkJPHVpdGV4dCBuYW1lPSJXQVJOSU5HTVNHX05PU1RSSU5HIiB2YWx1ZT0i2YTYpyIvPg0KCQk8dWl0ZXh0IG5hbWU9IldBUk5JTkdNU0dfVElUTEVTVFJJTkciIHZhbHVlPSLYqtit2LDZitixINi52YYg2KfZhNiq2YbZgtmEINmB2Yog2KfZhNmF2LPYp9io2YLYqSIvPg0KCQk8dWl0ZXh0IG5hbWU9IldBUk5JTkdNU0dfTVNHU1RSSU5HIiB2YWx1ZT0i2YfZhtin2YMg2KPYs9im2YTYqSDZhNmFINiq2KrZhSDYp9mE2KXYrNin2KjYqSDYudmE2YrZh9inINmB2Yog2KfZhNmF2LPYp9io2YLYqS4g2KfZhNmG2YLYsSDYudmE2Ykg2YbYudmFINiz2YrYrtix2KzZgyDZhdmGINin2YTZhdiz2KfYqNmC2KkuINin2YbZgtixINmE2Kcg2YTZhdiq2KfYqNi52Kkg2KfZhNmF2LPYp9io2YLYqS4iLz4NCgkJPHVpdGV4dCBuYW1lPSJJTkZPUk1BVElPTl9IMjY0X0ZMQVNIUExBWUVSIiB2YWx1ZT0i2YbYs9iu2KkgRmxhc2ggUGxheWVyICDYp9mE2YXYq9io2KrYqSDYrdin2YTZitin2Ysg2LnZhNmJINis2YfYp9iy2YMg2YTYpyDYqtiv2LnZhSDZh9iw2Kcg2KfZhNmB2YrYr9mK2YguINin2YbZgtixINi52YTZiSDZhdmG2LfZgtipINin2YTZgdmK2K/ZitmIINmE2KrZhtiy2YrZhCDYo9it2K/YqyDZhtiz2K7YqSDZhdmGIEZsYXNoIFBsYXllci4iLz4NCgkJPCEtLSBzdWJzdGl0dXRpb246ICVwID09IHByZXNlbnRhdGlvbiB0aXRsZSAtLT4NCgkJPCEtLSBzdWJzdGl0dXRpb246ICVzID09IHNsaWRlIHRpdGxlIC0tPg0KCQk8IS0tIHN1YnN0aXR1dGlvbjogJW4gPT0gc2xpZGUgbnVtYmVyIC0tPg0KCQk8dWl0ZXh0IG5hbWU9IkJPT0tNQVJLIiB2YWx1ZT0iQWRvYmUgUHJlc2VudGVyIC0gJXAiLz4NCgkJPCEtLSBzdWJzdGl0dXRpb246ICVwID09IHByZXNlbnRhdGlvbiB0aXRsZSAtLT4NCgkJPCEtLSBzdWJzdGl0dXRpb246ICVzID09IHNsaWRlIHRpdGxlIC0tPg0KCQk8IS0tIHN1YnN0aXR1dGlvbjogJW4gPT0gc2xpZGUgbnVtYmVyIC0tPg0KCQk8dWl0ZXh0IG5hbWU9IkJPT0tNQVJLU0xJREUiIHZhbHVlPSJBZG9iZSBQcmVzZW50ZXIgLSAlcCAlcyIvPg0KCQk8dWl0ZXh0IG5hbWU9IlNIT1dTSURFQkFSIiB2YWx1ZT0i2KXYuNmH2KfYsSDYp9mE2LTYsdmK2Lcg2KfZhNis2KfZhtio2Yog2YTZhNmF2LTYp9ix2YPZitmGIi8+DQoJCTx1aXRleHQgbmFtZT0iTVVURSIgdmFsdWU9Iti12KfZhdiqIi8+DQoJCTx1aXRleHQgbmFtZT0iRE9DV1JBUF9USVRMRSIgdmFsdWU9Itin2YTZhdmE2YHYp9iqINin2YTZhdix2YHZgtipINmB2YogUHJlc2VudGVyIi8+DQoJCTx1aXRleHQgbmFtZT0iRE9DV1JBUF9NU0ciIHZhbHVlPSLYp9mE2K3Zgdi4INmB2Yog2KzZh9in2LIg2KfZhNmD2YXYqNmK2YjYqtixIi8+DQoJCTx1aXRleHQgbmFtZT0iRE9DV1JBUF9QUk9NUFQiIHZhbHVlPSLYp9mG2YLYsSDZh9mG2Kcg2YTZhNiq2YbYstmK2YQiLz4NCgk8L2xhbmd1YWdlPg0KCTxsYW5ndWFnZSBpZD0iZGUiPg0KCQk8IS0tIGZvcm1hdCBmb3IgdWlmb250IHZhbHVlIGlzICJmb250LHNpemUsaXNib2xkLGlzaXRhbGljLGlzc2hhZG93ZWQiIC0tPg0KCQk8dWlmb250IG5hbWU9IkZPTlRfUVVJWlpJTkciIHZhbHVlPSJWZXJkYW5hLDksZmFsc2UsZmFsc2UsZmFsc2UiLz4NCgkJPHVpZm9udCBuYW1lPSJGT05UX1NDUlVCU1RBVFVTIiB2YWx1ZT0iVmVyZGFuYSw5LHRydWUsZmFsc2UsdHJ1ZSIvPg0KCQk8dWlmb250IG5hbWU9IkZPTlRfU0NSVUJUSU1FIiB2YWx1ZT0iVmVyZGFuYSw5LGZhbHNlLGZhbHNlLHRydWUiLz4NCgkJPHVpZm9udCBuYW1lPSJGT05UX0VMQVBTRURUSU1FIiB2YWx1ZT0iVmVyZGFuYSw5LHRydWUsZmFsc2UsdHJ1ZSIvPg0KCQk8dWlmb250IG5hbWU9IkZPTlRfVVRJTFNNRU5VIiB2YWx1ZT0iVmVyZGFuYSw5LHRydWUsZmFsc2UsZmFsc2UiLz4NCgkJPHVpZm9udCBuYW1lPSJGT05UX1RBQlMiIHZhbHVlPSJWZXJkYW5hLDksdHJ1ZSxmYWxzZSx0cnVlIi8+DQoJCTx1aWZvbnQgbmFtZT0iRk9OVF9QUkVTRU5UQVRJT05OQU1FIiB2YWx1ZT0iVmVyZGFuYSwxNCxmYWxzZSxmYWxzZSx0cnVlIi8+DQoJCTx1aWZvbnQgbmFtZT0iRk9OVF9QUkVTRU5URVJOQU1FIiB2YWx1ZT0iVmVyZGFuYSwxMCx0cnVlLGZhbHNlLHRydWUiLz4NCgkJPHVpZm9udCBuYW1lPSJGT05UX1BSRVNFTlRFUlRJVExFIiB2YWx1ZT0iVmVyZGFuYSwxMCxmYWxzZSxmYWxzZSx0cnVlIi8+DQoJCTx1aWZvbnQgbmFtZT0iRk9OVF9CSU9CVE4iIHZhbHVlPSJWZXJkYW5hLDEwLGZhbHNlLGZhbHNlLHRydWUiLz4NCgkJPHVpZm9udCBuYW1lPSJGT05UX05PVEVTIiB2YWx1ZT0iVmVyZGFuYSwxMSxmYWxzZSxmYWxzZSxmYWxzZSIvPg0KCQk8dWlmb250IG5hbWU9IkZPTlRfT1VUTElORSIgdmFsdWU9IlZlcmRhbmEsMTEsZmFsc2UsZmFsc2UsdHJ1ZSIvPg0KCQk8dWlmb250IG5hbWU9IkZPTlRfU0VBUkNIIiB2YWx1ZT0iVmVyZGFuYSwxMSxmYWxzZSxmYWxzZSx0cnVlIi8+DQoJCTx1aWZvbnQgbmFtZT0iRk9OVF9USFVNQiIgdmFsdWU9IlZlcmRhbmEsOSxmYWxzZSxmYWxzZSx0cnVlIi8+DQoJCTx1aWZvbnQgbmFtZT0iRk9OVF9CSU9XSU4iIHZhbHVlPSJWZXJkYW5hLDExLGZhbHNlLGZhbHNlLGZhbHNlIi8+DQoJCTx1aWZvbnQgbmFtZT0iRk9OVF9MSVNUSEVBRElORyIgdmFsdWU9IlZlcmRhbmEsOSxmYWxzZSxmYWxzZSxmYWxzZSIvPg0KCQk8dWlmb250IG5hbWU9IkZPTlRfV0lOVElUTEUiIHZhbHVlPSJWZXJkYW5hLDksZmFsc2UsZmFsc2UsdHJ1ZSIvPg0KCQk8dWlmb250IG5hbWU9IkZPTlRfQVRUQUNITUVOVFMiIHZhbHVlPSJWZXJkYW5hLDExLGZhbHNlLGZhbHNlLHRydWUiLz4NCgkJPCEtLXF1aXogcG9kIGFuZCBtZXNzYWdlIGJveCB0ZXh0IGZvbnRzLS0+DQoJCTx1aWZvbnQgbmFtZT0iRk9OVF9NU0dCT1hfV0lOVElUTEUiIHZhbHVlPSJWZXJkYW5hLDExLHRydWUsZmFsc2UsdHJ1ZSIvPg0KCQk8dWlmb250IG5hbWU9IkZPTlRfTVNHQk9YX01TRyIgdmFsdWU9IlZlcmRhbmEsMTEsZmFsc2UsZmFsc2UsdHJ1ZSIvPg0KCQk8dWlmb250IG5hbWU9IkZPTlRfTVNHQk9YX09QVElPTlMiIHZhbHVlPSJWZXJkYW5hLDksdHJ1ZSxmYWxzZSx0cnVlIi8+DQoJCTx1aWZvbnQgbmFtZT0iRk9OVF9RVUlaUE9EX1FVSVpfVElUTEUiIHZhbHVlPSJWZXJkYW5hLDExLHRydWUsZmFsc2UsdHJ1ZSIvPg0KCQk8dWlmb250IG5hbWU9IkZPTlRfUVVJWlBPRF9RVUlaX0FUVEVNUFQiIHZhbHVlPSJWZXJkYW5hLDksZmFsc2UsZmFsc2UsdHJ1ZSIvPg0KCQk8dWlmb250IG5hbWU9IkZPTlRfUVVJWlBPRF9RVUlaX0FUVEVNUFRfVkFMVUUiIHZhbHVlPSJWZXJkYW5hLDksdHJ1ZSxmYWxzZSx0cnVlIi8+DQoJCTx1aWZvbnQgbmFtZT0iRk9OVF9RVUlaUE9EX1FVRVNUSU9OX1NDT1JFIiB2YWx1ZT0iVmVyZGFuYSw5LGZhbHNlLGZhbHNlLHRydWUiLz4NCgkJPHVpZm9udCBuYW1lPSJGT05UX1FVSVpQT0RfUVVFU1RJT05fU0NPUkVfVkFMVUUiIHZhbHVlPSJWZXJkYW5hLDksdHJ1ZSxmYWxzZSx0cnVlIi8+DQoJCTx1aWZvbnQgbmFtZT0iRk9OVF9RVUlaUE9EX1FVRVNUSU9OX0FUVEVNUFQiIHZhbHVlPSJWZXJkYW5hLDksZmFsc2UsZmFsc2UsdHJ1ZSIvPg0KCQk8dWlmb250IG5hbWU9IkZPTlRfUVVJWlBPRF9RVUVTVElPTl9BVFRFTVBUX1ZBTFVFIiB2YWx1ZT0iVmVyZGFuYSw5LHRydWUsZmFsc2UsdHJ1ZSIvPg0KCQk8dWlmb250IG5hbWU9IkZPTlRfUVVJWlBPRF9RVUVTVElPTl9UQUciIHZhbHVlPSJWZXJkYW5hLDExLHRydWUsZmFsc2UsdHJ1ZSIvPg0KCQk8dWlmb250IG5hbWU9IkZPTlRfUVVJWlBPRF9RVUlaX1FVRVNUSU9OX0NPVU5UIiB2YWx1ZT0iVmVyZGFuYSw5LGZhbHNlLGZhbHNlLHRydWUiLz4NCgkJPHVpZm9udCBuYW1lPSJGT05UX1FVSVpQT0RfUVVJWl9RVUVTVElPTl9DT1VOVF9WQUxVRSIgdmFsdWU9IlZlcmRhbmEsOSx0cnVlLGZhbHNlLHRydWUiLz4NCgkJPHVpZm9udCBuYW1lPSJGT05UX1FVSVpQT0RfUVVJWl9RVUVTVElPTl9BVFRFTVBURUQiIHZhbHVlPSJWZXJkYW5hLDksZmFsc2UsZmFsc2UsdHJ1ZSIvPg0KCQk8dWlmb250IG5hbWU9IkZPTlRfUVVJWlBPRF9RVUlaX1FVRVNUSU9OX0FUVEVNUFRFRF9WQUxVRSIgdmFsdWU9IlZlcmRhbmEsOSx0cnVlLGZhbHNlLHRydWUiLz4NCgkJPHVpZm9udCBuYW1lPSJGT05UX1FVSVpQT0RfUVVJWl9TQ09SRV9UQUciIHZhbHVlPSJWZXJkYW5hLDExLHRydWUsZmFsc2UsdHJ1ZSIvPg0KCQk8dWlmb250IG5hbWU9IkZPTlRfUVVJWlBPRF9RVUlaX1NDT1JFIiB2YWx1ZT0iVmVyZGFuYSw5LGZhbHNlLGZhbHNlLHRydWUiLz4NCgkJPHVpZm9udCBuYW1lPSJGT05UX1FVSVpQT0RfUVVJWl9TQ09SRV9WQUxVRSIgdmFsdWU9IlZlcmRhbmEsOSx0cnVlLGZhbHNlLHRydWUiLz4NCgkJPHVpZm9udCBuYW1lPSJGT05UX1FVSVpQT0RfUVVJWl9NQVhTQ09SRSIgdmFsdWU9IlZlcmRhbmEsOSxmYWxzZSxmYWxzZSx0cnVlIi8+DQoJCTx1aWZvbnQgbmFtZT0iRk9OVF9RVUlaUE9EX1FVSVpfTUFYU0NPUkVfVkFMVUUiIHZhbHVlPSJWZXJkYW5hLDksdHJ1ZSxmYWxzZSx0cnVlIi8+DQoJCTx1aWZvbnQgbmFtZT0iRk9OVF9RVUlaUE9EX1FVSVpfUEFTU1NDT1JFIiB2YWx1ZT0iVmVyZGFuYSw5LGZhbHNlLGZhbHNlLHRydWUiLz4NCgkJPHVpZm9udCBuYW1lPSJGT05UX1FVSVpQT0RfUVVJWl9QQVNTU0NPUkVfVkFMVUUiIHZhbHVlPSJWZXJkYW5hLDksdHJ1ZSxmYWxzZSx0cnVlIi8+DQoJCTwhLS0gdWl0ZXh0IC0tPg0KCQk8IS0tIHN1YnN0aXR1dGlvbjogJW4gPT0gc2xpZGUgbnVtYmVyIC0tPg0KCQk8dWl0ZXh0IG5hbWU9IkFUVEFDSE1FTlRfUFJFVklFV19XQVJOSU5HTVNHX1RJVExFU1RSSU5HIiB2YWx1ZT0iV2FybnVuZyBiZWltIMOWZmZuZW4gdm9uIEFubGFnZW4iLz4NCgkJPHVpdGV4dCBuYW1lPSJBVFRBQ0hNRU5UX1BSRVZJRVdfV0FSTklOR01TRyIgdmFsdWU9IkFuaMOkbmdlIGvDtm5uZW4gbmljaHQgaW0gVm9yc2NoYXUtTW9kdXMgZ2XDtmZmbmV0IHdlcmRlbi4gVmVyd2VuZGVuIFNpZSDigJ5WZXLDtmZmZW50bGljaGVu4oCcLCB1bSBkaWUgRXJnZWJuaXNzZSBhbnp1emVpZ2VuLiIvPg0KCQk8dWl0ZXh0IG5hbWU9IkNPTExBQl9MT0NBTF9QTEFZQkFDS19NU0ciIHZhbHVlPSJJbmhhbHQgd2lyZCBsb2thbCBnZXNwaWVsdC4gWnVzYW1tZW5hcmJlaXQgZnVua3Rpb25pZXJ0IGluIGRpZXNlbSBNb2R1cyBuaWNodC4iLz4NCgkJPHVpdGV4dCBuYW1lPSJDT0xMQUJfTE9DQUxfUExBWUJBQ0tfVElUTEUiIHZhbHVlPSJMb2thbGUgV2llZGVyZ2FiZSIvPg0KCQk8dWl0ZXh0IG5hbWU9IkNPTExBQl9MT0NBTF9QTEFZQkFDS0JUTiIgdmFsdWU9Ik9LIi8+DQoJCTx1aXRleHQgbmFtZT0iVU5OQU1FRFNMSURFVElUTEUiIHZhbHVlPSJGb2xpZSAlbiIvPg0KCQk8IS0tIHN1YnN0aXR1dGlvbjogJW4gPT0gc2xpZGUgbnVtYmVyIC0tPg0KCQk8IS0tIHN1YnN0aXR1dGlvbjogJXQgPT0gdG90YWwgc2xpZGUgY291bnQgLS0+DQoJCTx1aXRleHQgbmFtZT0iU0NSVUJCQVJTVEFUVVNfU0xJREVJTkZPIiB2YWx1ZT0iRm9saWUgJW4gLyAldCB8ICIvPg0KCQk8dWl0ZXh0IG5hbWU9IlNDUlVCQkFSU1RBVFVTX1NUT1BQRUQiIHZhbHVlPSJCZWVuZGV0Ii8+DQoJCTx1aXRleHQgbmFtZT0iU0NSVUJCQVJTVEFUVVNfUExBWUlORyIgdmFsdWU9IldpZWRlcmdhYmUiLz4NCgkJPHVpdGV4dCBuYW1lPSJTQ1JVQkJBUlNUQVRVU19OT0FVRElPIiB2YWx1ZT0iS2VpbiBBdWRpbyIvPg0KCQk8dWl0ZXh0IG5hbWU9IlNDUlVCQkFSU1RBVFVTX1ZJRFBMQVlJTkciIHZhbHVlPSJWaWRlbyB3aXJkIGFiZ2VzcGllbHQiLz4NCgkJPHVpdGV4dCBuYW1lPSJTQ1JVQkJBUlNUQVRVU19MT0FESU5HIiB2YWx1ZT0iTGFkZW4iLz4NCgkJPHVpdGV4dCBuYW1lPSJTQ1JVQkJBUlNUQVRVU19CVUZGRVJJTkciIHZhbHVlPSJQdWZmZXJuIi8+DQoJCTx1aXRleHQgbmFtZT0iU0NSVUJCQVJTVEFUVVNfUVVFU1RJT04iIHZhbHVlPSJGcmFnZSBiZWFudHdvcnRlbiIvPg0KCQk8dWl0ZXh0IG5hbWU9IlNDUlVCQkFSU1RBVFVTX1JFVklFV1FVSVoiIHZhbHVlPSJOb2NobWFscyBkdXJjaHNlaGVuIi8+DQoJCTwhLS0gc3Vic3RpdHV0aW9uOiAlbSA9PSBtaW51dGVzIHJlbWFpbmluZyAtLT4NCgkJPCEtLSBzdWJzdGl0dXRpb246ICVzID09IHNlY29uZHMgcmVtYWluaW5nIC0tPg0KCQk8dWl0ZXh0IG5hbWU9IkVMQVBTRUQiIHZhbHVlPSJSZXN0ZGF1ZXI6ICVtIE1pbnV0ZW4gJXMgU2VrdW5kZW4iLz4NCgkJPHVpdGV4dCBuYW1lPSJOT1RGT1VORCIgdmFsdWU9Ik5pY2h0cyBnZWZ1bmRlbiIvPg0KCQk8dWl0ZXh0IG5hbWU9IkFUVEFDSE1FTlRTIiB2YWx1ZT0iQW5sYWdlbiIvPg0KCQk8IS0tIHN1YnN0aXR1dGlvbjogJXAgPT0gY3VycmVudCBzcGVha2VyJ3MgdGl0bGUgLS0+DQoJCTx1aXRleHQgbmFtZT0iQklPV0lOX1RJVExFIiB2YWx1ZT0iU3ByZWNoZXI6ICVwIi8+DQoJCTx1aXRleHQgbmFtZT0iQklPQlROX1RJVExFIiB2YWx1ZT0iU3ByZWNoZXIiLz4NCgkJPHVpdGV4dCBuYW1lPSJESVZJREVSQlROX1RJVExFIiB2YWx1ZT0ifCIvPg0KCQk8dWl0ZXh0IG5hbWU9IkNPTlRBQ1RCVE5fVElUTEUiIHZhbHVlPSJLb250YWt0Ii8+DQoJCTx1aXRleHQgbmFtZT0iVEFCX1FVSVoiIHZhbHVlPSJRdWl6Ii8+DQoJCTx1aXRleHQgbmFtZT0iVEFCX09VVExJTkUiIHZhbHVlPSJTdHJ1a3R1ciIvPg0KCQk8dWl0ZXh0IG5hbWU9IlRBQl9USFVNQiIgdmFsdWU9Ik1pbmlhdHVyIi8+DQoJCTx1aXRleHQgbmFtZT0iVEFCX05PVEVTIiB2YWx1ZT0iTm90aXplbiIvPg0KCQk8dWl0ZXh0IG5hbWU9IlRBQl9TRUFSQ0giIHZhbHVlPSJTdWNoZW4iLz4NCgkJPHVpdGV4dCBuYW1lPSJTTElERV9IRUFESU5HIiB2YWx1ZT0iRm9saWVudGl0ZWwiLz4NCgkJPHVpdGV4dCBuYW1lPSJEVVJBVElPTl9IRUFESU5HIiB2YWx1ZT0iRGF1ZXIiLz4NCgkJPHVpdGV4dCBuYW1lPSJTRUFSQ0hfSEVBRElORyIgdmFsdWU9IlRleHQgc3VjaGVuOiIvPg0KCQk8dWl0ZXh0IG5hbWU9IlRIVU1CX0hFQURJTkciIHZhbHVlPSJGb2xpZSIvPg0KCQk8dWl0ZXh0IG5hbWU9IlRIVU1CX0lORk8iIHZhbHVlPSJGb2xpZW50aXRlbC9EYXVlciIvPg0KCQk8dWl0ZXh0IG5hbWU9IkFUVEFDSE5BTUVfSEVBRElORyIgdmFsdWU9IkRhdGVpbmFtZSIvPg0KCQk8dWl0ZXh0IG5hbWU9IkFUVEFDSFNJWkVfSEVBRElORyIgdmFsdWU9Ikdyw7bDn2UiLz4NCgkJPHVpdGV4dCBuYW1lPSJTTElERV9OT1RFUyIgdmFsdWU9IkZvbGllbm5vdGl6ZW4iLz4NCgkJPHVpdGV4dCBuYW1lPSJDT1VSU0VfU1RBVFVTIiB2YWx1ZT0iTW9kdWxzdGF0dXMiLz4NCgkJPHVpdGV4dCBuYW1lPSJQQVNTRURfU1RSSU5HIiB2YWx1ZT0iRXJmb2xncmVpY2giLz4NCgkJPHVpdGV4dCBuYW1lPSJGQUlMRURfU1RSSU5HIiB2YWx1ZT0iRmVobGdlc2NobGFnZW4iLz4NCgkJPCEtLXF1aXogcG9kIGFuZCBtZXNzYWdlIGJveCB0ZXh0cy0tPg0KCQk8dWl0ZXh0IG5hbWU9IlFVSVpQT0RfUVVJWl9BVFRFTVBUIiB2YWx1ZT0iUXVpenZlcnN1Y2g6Ii8+DQoJCTx1aXRleHQgbmFtZT0iUVVJWlBPRF9RVUlaX0FUVEVNUFRfVkFMVUUiIHZhbHVlPSIlbiB2b24gJXQiLz4NCgkJPHVpdGV4dCBuYW1lPSJRVUlaUE9EX1FVSVpfU0NPUkUiIHZhbHVlPSJFcnJlaWNodDoiLz4NCgkJPHVpdGV4dCBuYW1lPSJRVUlaUE9EX1FVSVpfUEFTU1NDT1JFIiB2YWx1ZT0iTWluZGVzdHB1bmt0emFobDoiLz4NCgkJPHVpdGV4dCBuYW1lPSJRVUlaUE9EX1FVSVpfTUFYU0NPUkUiIHZhbHVlPSJNYXhpbWFsZSBQdW5rdHphaGw6Ii8+DQoJCTx1aXRleHQgbmFtZT0iUVVJWlBPRF9RVUVTQVRNUFRfU1RSIiB2YWx1ZT0iVmVyc3VjaDogJW4gdm9uICV0Ii8+DQoJCTx1aXRleHQgbmFtZT0iUVVJWlBPRF9RVUVTVFlQRV9TVFIiIHZhbHVlPSJUeXA6ICVzIi8+DQoJCTx1aXRleHQgbmFtZT0iUVVJWlBPRF9RVUVTVFlQRV9HUkQiIHZhbHVlPSJCZXdlcnRldCIvPg0KCQk8dWl0ZXh0IG5hbWU9IlFVSVpQT0RfUVVFU1RZUEVfU1ZZIiB2YWx1ZT0iVW1mcmFnZSIvPg0KCQk8dWl0ZXh0IG5hbWU9IlFVSVpQT0RfUVVJWkFUTVBUX0lORiIgdmFsdWU9IlVuZW5kbGljaCIvPg0KCQk8dWl0ZXh0IG5hbWU9IlFVSVpQT0RfUVVFU0FUTVBUX0lORiIgdmFsdWU9IlVuZW5kbGljaCIvPg0KCQk8dWl0ZXh0IG5hbWU9IldBUk5JTkdNU0dfWUVTU1RSSU5HIiB2YWx1ZT0iSmEiLz4NCgkJPHVpdGV4dCBuYW1lPSJXQVJOSU5HTVNHX05PU1RSSU5HIiB2YWx1ZT0iTmVpbiIvPg0KCQk8dWl0ZXh0IG5hbWU9IldBUk5JTkdNU0dfVElUTEVTVFJJTkciIHZhbHVlPSJRdWl6bmF2aWdhdGlvbnN3YXJudW5nIi8+DQoJCTx1aXRleHQgbmFtZT0iV0FSTklOR01TR19NU0dTVFJJTkciIHZhbHVlPSJJbiBkaWVzZW0gUXVpeiBnaWJ0IGVzIHVuYmVhbnR3b3J0ZXRlIEZyYWdlbi4mI3hBOyYjeEE7V2VubiBTaWUgYXVmICZxdW90O0phJnF1b3Q7IGtsaWNrZW4sIHdpcmQgZGFzIFF1aXogYmVlbmRldC4gS2xpY2tlbiBTaWUgYXVmICZxdW90O05laW4mcXVvdDssIHVtIG1pdCBkZW0gUXVpeiBmb3J0enVmYWhyZW4uIi8+DQoJCTx1aXRleHQgbmFtZT0iSU5GT1JNQVRJT05fSDI2NF9GTEFTSFBMQVlFUiIgdmFsdWU9IkRhcyBWaWRlbyB3aXJkIHZvbiBkZXIgbW9tZW50YW4gYXVmIGRpZXNlbSBDb21wdXRlciBpbnN0YWxsaWVydGVuIFZlcnNpb24gdm9uIEZsYXNoIFBsYXllciBuaWNodCB1bnRlcnN0w7x0enQuIEtsaWNrZW4gU2llIGF1ZiBkZW4gVmlkZW9iZXJlaWNoLCB1bSBkaWUgYWt0dWVsbGUgVmVyc2lvbiB2b24gRmxhc2ggUGxheWVyIGhlcnVudGVyenVsYWRlbi4iLz4NCgkJPCEtLSBzdWJzdGl0dXRpb246ICVwID09IHByZXNlbnRhdGlvbiB0aXRsZSAtLT4NCgkJPCEtLSBzdWJzdGl0dXRpb246ICVzID09IHNsaWRlIHRpdGxlIC0tPg0KCQk8IS0tIHN1YnN0aXR1dGlvbjogJW4gPT0gc2xpZGUgbnVtYmVyIC0tPg0KCQk8dWl0ZXh0IG5hbWU9IkJPT0tNQVJLIiB2YWx1ZT0iQWRvYmUgUHJlc2VudGVyIC0gJXAiLz4NCgkJPCEtLSBzdWJzdGl0dXRpb246ICVwID09IHByZXNlbnRhdGlvbiB0aXRsZSAtLT4NCgkJPCEtLSBzdWJzdGl0dXRpb246ICVzID09IHNsaWRlIHRpdGxlIC0tPg0KCQk8IS0tIHN1YnN0aXR1dGlvbjogJW4gPT0gc2xpZGUgbnVtYmVyIC0tPg0KCQk8dWl0ZXh0IG5hbWU9IkJPT0tNQVJLU0xJREUiIHZhbHVlPSJBZG9iZSBQcmVzZW50ZXIgLSAlcCAlcyIvPg0KCQk8dWl0ZXh0IG5hbWU9IlNIT1dTSURFQkFSIiB2YWx1ZT0iRGVuIFRlaWxuZWhtZXJuIGRpZSBTZWl0ZW5sZWlzdGUgYW56ZWlnZW4iLz4NCgkJPHVpdGV4dCBuYW1lPSJNVVRFIiB2YWx1ZT0iQXVzIi8+DQoJCTx1aXRleHQgbmFtZT0iRE9DV1JBUF9USVRMRSIgdmFsdWU9IlByZXNlbnRlci1BbmhhbmciLz4NCgkJPHVpdGV4dCBuYW1lPSJET0NXUkFQX01TRyIgdmFsdWU9IkF1ZiBtZWluZW0gQXJiZWl0c3BsYXR6IHNwZWljaGVybiIvPg0KCQk8dWl0ZXh0IG5hbWU9IkRPQ1dSQVBfUFJPTVBUIiB2YWx1ZT0iWnVtIEhlcnVudGVybGFkZW4ga2xpY2tlbiIvPg0KCTwvbGFuZ3VhZ2U+DQoJPGxhbmd1YWdlIGlkPSJmciI+DQoJCTwhLS0gZm9ybWF0IGZvciB1aWZvbnQgdmFsdWUgaXMgImZvbnQsc2l6ZSxpc2JvbGQsaXNpdGFsaWMsaXNzaGFkb3dlZCIgLS0+DQoJCTx1aWZvbnQgbmFtZT0iRk9OVF9RVUlaWklORyIgdmFsdWU9IlZlcmRhbmEsOSxmYWxzZSxmYWxzZSxmYWxzZSIvPg0KCQk8dWlmb250IG5hbWU9IkZPTlRfU0NSVUJTVEFUVVMiIHZhbHVlPSJWZXJkYW5hLDksdHJ1ZSxmYWxzZSx0cnVlIi8+DQoJCTx1aWZvbnQgbmFtZT0iRk9OVF9TQ1JVQlRJTUUiIHZhbHVlPSJWZXJkYW5hLDksZmFsc2UsZmFsc2UsdHJ1ZSIvPg0KCQk8dWlmb250IG5hbWU9IkZPTlRfRUxBUFNFRFRJTUUiIHZhbHVlPSJWZXJkYW5hLDksdHJ1ZSxmYWxzZSx0cnVlIi8+DQoJCTx1aWZvbnQgbmFtZT0iRk9OVF9VVElMU01FTlUiIHZhbHVlPSJWZXJkYW5hLDksdHJ1ZSxmYWxzZSxmYWxzZSIvPg0KCQk8dWlmb250IG5hbWU9IkZPTlRfVEFCUyIgdmFsdWU9IlZlcmRhbmEsOSx0cnVlLGZhbHNlLHRydWUiLz4NCgkJPHVpZm9udCBuYW1lPSJGT05UX1BSRVNFTlRBVElPTk5BTUUiIHZhbHVlPSJWZXJkYW5hLDE0LGZhbHNlLGZhbHNlLHRydWUiLz4NCgkJPHVpZm9udCBuYW1lPSJGT05UX1BSRVNFTlRFUk5BTUUiIHZhbHVlPSJWZXJkYW5hLDEwLHRydWUsZmFsc2UsdHJ1ZSIvPg0KCQk8dWlmb250IG5hbWU9IkZPTlRfUFJFU0VOVEVSVElUTEUiIHZhbHVlPSJWZXJkYW5hLDEwLGZhbHNlLGZhbHNlLHRydWUiLz4NCgkJPHVpZm9udCBuYW1lPSJGT05UX0JJT0JUTiIgdmFsdWU9IlZlcmRhbmEsMTAsZmFsc2UsZmFsc2UsdHJ1ZSIvPg0KCQk8dWlmb250IG5hbWU9IkZPTlRfTk9URVMiIHZhbHVlPSJWZXJkYW5hLDExLGZhbHNlLGZhbHNlLGZhbHNlIi8+DQoJCTx1aWZvbnQgbmFtZT0iRk9OVF9PVVRMSU5FIiB2YWx1ZT0iVmVyZGFuYSwxMSxmYWxzZSxmYWxzZSx0cnVlIi8+DQoJCTx1aWZvbnQgbmFtZT0iRk9OVF9TRUFSQ0giIHZhbHVlPSJWZXJkYW5hLDExLGZhbHNlLGZhbHNlLHRydWUiLz4NCgkJPHVpZm9udCBuYW1lPSJGT05UX1RIVU1CIiB2YWx1ZT0iVmVyZGFuYSw5LGZhbHNlLGZhbHNlLHRydWUiLz4NCgkJPHVpZm9udCBuYW1lPSJGT05UX0JJT1dJTiIgdmFsdWU9IlZlcmRhbmEsMTEsZmFsc2UsZmFsc2UsZmFsc2UiLz4NCgkJPHVpZm9udCBuYW1lPSJGT05UX0xJU1RIRUFESU5HIiB2YWx1ZT0iVmVyZGFuYSw5LGZhbHNlLGZhbHNlLGZhbHNlIi8+DQoJCTx1aWZvbnQgbmFtZT0iRk9OVF9XSU5USVRMRSIgdmFsdWU9IlZlcmRhbmEsOSxmYWxzZSxmYWxzZSx0cnVlIi8+DQoJCTx1aWZvbnQgbmFtZT0iRk9OVF9BVFRBQ0hNRU5UUyIgdmFsdWU9IlZlcmRhbmEsMTEsZmFsc2UsZmFsc2UsdHJ1ZSIvPg0KCQk8IS0tcXVpeiBwb2QgYW5kIG1lc3NhZ2UgYm94IHRleHQgZm9udHMtLT4NCgkJPHVpZm9udCBuYW1lPSJGT05UX01TR0JPWF9XSU5USVRMRSIgdmFsdWU9IlZlcmRhbmEsMTEsdHJ1ZSxmYWxzZSx0cnVlIi8+DQoJCTx1aWZvbnQgbmFtZT0iRk9OVF9NU0dCT1hfTVNHIiB2YWx1ZT0iVmVyZGFuYSwxMSxmYWxzZSxmYWxzZSx0cnVlIi8+DQoJCTx1aWZvbnQgbmFtZT0iRk9OVF9NU0dCT1hfT1BUSU9OUyIgdmFsdWU9IlZlcmRhbmEsOSx0cnVlLGZhbHNlLHRydWUiLz4NCgkJPHVpZm9udCBuYW1lPSJGT05UX1FVSVpQT0RfUVVJWl9USVRMRSIgdmFsdWU9IlZlcmRhbmEsMTEsdHJ1ZSxmYWxzZSx0cnVlIi8+DQoJCTx1aWZvbnQgbmFtZT0iRk9OVF9RVUlaUE9EX1FVSVpfQVRURU1QVCIgdmFsdWU9IlZlcmRhbmEsOSxmYWxzZSxmYWxzZSx0cnVlIi8+DQoJCTx1aWZvbnQgbmFtZT0iRk9OVF9RVUlaUE9EX1FVSVpfQVRURU1QVF9WQUxVRSIgdmFsdWU9IlZlcmRhbmEsOSx0cnVlLGZhbHNlLHRydWUiLz4NCgkJPHVpZm9udCBuYW1lPSJGT05UX1FVSVpQT0RfUVVFU1RJT05fU0NPUkUiIHZhbHVlPSJWZXJkYW5hLDksZmFsc2UsZmFsc2UsdHJ1ZSIvPg0KCQk8dWlmb250IG5hbWU9IkZPTlRfUVVJWlBPRF9RVUVTVElPTl9TQ09SRV9WQUxVRSIgdmFsdWU9IlZlcmRhbmEsOSx0cnVlLGZhbHNlLHRydWUiLz4NCgkJPHVpZm9udCBuYW1lPSJGT05UX1FVSVpQT0RfUVVFU1RJT05fQVRURU1QVCIgdmFsdWU9IlZlcmRhbmEsOSxmYWxzZSxmYWxzZSx0cnVlIi8+DQoJCTx1aWZvbnQgbmFtZT0iRk9OVF9RVUlaUE9EX1FVRVNUSU9OX0FUVEVNUFRfVkFMVUUiIHZhbHVlPSJWZXJkYW5hLDksdHJ1ZSxmYWxzZSx0cnVlIi8+DQoJCTx1aWZvbnQgbmFtZT0iRk9OVF9RVUlaUE9EX1FVRVNUSU9OX1RBRyIgdmFsdWU9IlZlcmRhbmEsMTEsdHJ1ZSxmYWxzZSx0cnVlIi8+DQoJCTx1aWZvbnQgbmFtZT0iRk9OVF9RVUlaUE9EX1FVSVpfUVVFU1RJT05fQ09VTlQiIHZhbHVlPSJWZXJkYW5hLDksZmFsc2UsZmFsc2UsdHJ1ZSIvPg0KCQk8dWlmb250IG5hbWU9IkZPTlRfUVVJWlBPRF9RVUlaX1FVRVNUSU9OX0NPVU5UX1ZBTFVFIiB2YWx1ZT0iVmVyZGFuYSw5LHRydWUsZmFsc2UsdHJ1ZSIvPg0KCQk8dWlmb250IG5hbWU9IkZPTlRfUVVJWlBPRF9RVUlaX1FVRVNUSU9OX0FUVEVNUFRFRCIgdmFsdWU9IlZlcmRhbmEsOSxmYWxzZSxmYWxzZSx0cnVlIi8+DQoJCTx1aWZvbnQgbmFtZT0iRk9OVF9RVUlaUE9EX1FVSVpfUVVFU1RJT05fQVRURU1QVEVEX1ZBTFVFIiB2YWx1ZT0iVmVyZGFuYSw5LHRydWUsZmFsc2UsdHJ1ZSIvPg0KCQk8dWlmb250IG5hbWU9IkZPTlRfUVVJWlBPRF9RVUlaX1NDT1JFX1RBRyIgdmFsdWU9IlZlcmRhbmEsMTEsdHJ1ZSxmYWxzZSx0cnVlIi8+DQoJCTx1aWZvbnQgbmFtZT0iRk9OVF9RVUlaUE9EX1FVSVpfU0NPUkUiIHZhbHVlPSJWZXJkYW5hLDksZmFsc2UsZmFsc2UsdHJ1ZSIvPg0KCQk8dWlmb250IG5hbWU9IkZPTlRfUVVJWlBPRF9RVUlaX1NDT1JFX1ZBTFVFIiB2YWx1ZT0iVmVyZGFuYSw5LHRydWUsZmFsc2UsdHJ1ZSIvPg0KCQk8dWlmb250IG5hbWU9IkZPTlRfUVVJWlBPRF9RVUlaX01BWFNDT1JFIiB2YWx1ZT0iVmVyZGFuYSw5LGZhbHNlLGZhbHNlLHRydWUiLz4NCgkJPHVpZm9udCBuYW1lPSJGT05UX1FVSVpQT0RfUVVJWl9NQVhTQ09SRV9WQUxVRSIgdmFsdWU9IlZlcmRhbmEsOSx0cnVlLGZhbHNlLHRydWUiLz4NCgkJPHVpZm9udCBuYW1lPSJGT05UX1FVSVpQT0RfUVVJWl9QQVNTU0NPUkUiIHZhbHVlPSJWZXJkYW5hLDksZmFsc2UsZmFsc2UsdHJ1ZSIvPg0KCQk8dWlmb250IG5hbWU9IkZPTlRfUVVJWlBPRF9RVUlaX1BBU1NTQ09SRV9WQUxVRSIgdmFsdWU9IlZlcmRhbmEsOSx0cnVlLGZhbHNlLHRydWUiLz4NCgkJPCEtLSB1aXRleHQgLS0+DQoJCTwhLS0gc3Vic3RpdHV0aW9uOiAlbiA9PSBzbGlkZSBudW1iZXIgLS0+DQoJCTx1aXRleHQgbmFtZT0iQVRUQUNITUVOVF9QUkVWSUVXX1dBUk5JTkdNU0dfVElUTEVTVFJJTkciIHZhbHVlPSJBdmVydGlzc2VtZW50IGNvbmNlcm5hbnQgbGEgcGnDqGNlIGpvaW50ZSIvPg0KCQk8dWl0ZXh0IG5hbWU9IkFUVEFDSE1FTlRfUFJFVklFV19XQVJOSU5HTVNHIiB2YWx1ZT0iTGVzIHBpw6hjZXMgam9pbnRlcyBuZSBwZXV2ZW50IHBhcyDDqnRyZSBvdXZlcnRlcyBlbiBtb2RlIEFwZXLDp3UuIFV0aWxpc2V6IGxhIHB1YmxpY2F0aW9uIHBvdXIgYWZmaWNoZXIgbGVzIHLDqXN1bHRhdHMuIi8+DQoJCTx1aXRleHQgbmFtZT0iQ09MTEFCX0xPQ0FMX1BMQVlCQUNLX01TRyIgdmFsdWU9IkxlIGNvbnRlbnUgZXN0IGx1IGxvY2FsZW1lbnQuIExhIGNvbGxhYm9yYXRpb24gbuKAmWVzdCBwYXMgcHJpc2UgZW4gY2hhcmdlIHBvdXIgY2UgbW9kZS4iLz4NCgkJPHVpdGV4dCBuYW1lPSJDT0xMQUJfTE9DQUxfUExBWUJBQ0tfVElUTEUiIHZhbHVlPSJMZWN0dXJlIGxvY2FsZSIvPg0KCQk8dWl0ZXh0IG5hbWU9IkNPTExBQl9MT0NBTF9QTEFZQkFDS0JUTiIgdmFsdWU9Ik9rIi8+DQoJCTx1aXRleHQgbmFtZT0iVU5OQU1FRFNMSURFVElUTEUiIHZhbHVlPSJEaWFwb3NpdGl2ZSAlbiIvPg0KCQk8IS0tIHN1YnN0aXR1dGlvbjogJW4gPT0gc2xpZGUgbnVtYmVyIC0tPg0KCQk8IS0tIHN1YnN0aXR1dGlvbjogJXQgPT0gdG90YWwgc2xpZGUgY291bnQgLS0+DQoJCTx1aXRleHQgbmFtZT0iU0NSVUJCQVJTVEFUVVNfU0xJREVJTkZPIiB2YWx1ZT0iRGlhcG9zaXRpdmUgJW4gLyAldCB8ICIvPg0KCQk8dWl0ZXh0IG5hbWU9IlNDUlVCQkFSU1RBVFVTX1NUT1BQRUQiIHZhbHVlPSJBcnLDqnTDqWUiLz4NCgkJPHVpdGV4dCBuYW1lPSJTQ1JVQkJBUlNUQVRVU19QTEFZSU5HIiB2YWx1ZT0iTGVjdHVyZSIvPg0KCQk8dWl0ZXh0IG5hbWU9IlNDUlVCQkFSU1RBVFVTX05PQVVESU8iIHZhbHVlPSJQYXMgZGUgc29uIi8+DQoJCTx1aXRleHQgbmFtZT0iU0NSVUJCQVJTVEFUVVNfVklEUExBWUlORyIgdmFsdWU9IkxlY3R1cmUgdmlkw6lvIGVuIGNvdXJzIi8+DQoJCTx1aXRleHQgbmFtZT0iU0NSVUJCQVJTVEFUVVNfTE9BRElORyIgdmFsdWU9IkNoYXJnZW1lbnQgZW4gY291cnMiLz4NCgkJPHVpdGV4dCBuYW1lPSJTQ1JVQkJBUlNUQVRVU19CVUZGRVJJTkciIHZhbHVlPSJNaXNlIGVuIG3DqW1vaXJlIi8+DQoJCTx1aXRleHQgbmFtZT0iU0NSVUJCQVJTVEFUVVNfUVVFU1RJT04iIHZhbHVlPSJSw6lwb25kcmUgw6AgbGEgcXVlc3Rpb24iLz4NCgkJPHVpdGV4dCBuYW1lPSJTQ1JVQkJBUlNUQVRVU19SRVZJRVdRVUlaIiB2YWx1ZT0iUsOpdmlzaW9uIGR1IHF1ZXN0aW9ubmFpcmUiLz4NCgkJPCEtLSBzdWJzdGl0dXRpb246ICVtID09IG1pbnV0ZXMgcmVtYWluaW5nIC0tPg0KCQk8IS0tIHN1YnN0aXR1dGlvbjogJXMgPT0gc2Vjb25kcyByZW1haW5pbmcgLS0+DQoJCTx1aXRleHQgbmFtZT0iRUxBUFNFRCIgdmFsdWU9IiVtIG1pbnV0ZXMgJXMgc2Vjb25kZXMgcmVzdGFudGVzIi8+DQoJCTx1aXRleHQgbmFtZT0iTk9URk9VTkQiIHZhbHVlPSJSaWVuIHRyb3V2w6kiLz4NCgkJPHVpdGV4dCBuYW1lPSJBVFRBQ0hNRU5UUyIgdmFsdWU9IlBpw6hjZXMgam9pbnRlcyIvPg0KCQk8IS0tIHN1YnN0aXR1dGlvbjogJXAgPT0gY3VycmVudCBzcGVha2VyJ3MgdGl0bGUgLS0+DQoJCTx1aXRleHQgbmFtZT0iQklPV0lOX1RJVExFIiB2YWx1ZT0iQmlvIDogJXAiLz4NCgkJPHVpdGV4dCBuYW1lPSJCSU9CVE5fVElUTEUiIHZhbHVlPSJCaW8gOiIvPg0KCQk8dWl0ZXh0IG5hbWU9IkRJVklERVJCVE5fVElUTEUiIHZhbHVlPSJ8Ii8+DQoJCTx1aXRleHQgbmFtZT0iQ09OVEFDVEJUTl9USVRMRSIgdmFsdWU9IkNvbnRhY3QiLz4NCgkJPHVpdGV4dCBuYW1lPSJUQUJfUVVJWiIgdmFsdWU9IlF1aXoiLz4NCgkJPHVpdGV4dCBuYW1lPSJUQUJfT1VUTElORSIgdmFsdWU9IlBsYW4iLz4NCgkJPHVpdGV4dCBuYW1lPSJUQUJfVEhVTUIiIHZhbHVlPSJEaWFwb3MiLz4NCgkJPHVpdGV4dCBuYW1lPSJUQUJfTk9URVMiIHZhbHVlPSJOb3RlcyIvPg0KCQk8dWl0ZXh0IG5hbWU9IlRBQl9TRUFSQ0giIHZhbHVlPSJSZWNoZXJjaGUiLz4NCgkJPHVpdGV4dCBuYW1lPSJTTElERV9IRUFESU5HIiB2YWx1ZT0iVGl0cmUgZGUgbGEgZGlhcG9zaXRpdmUiLz4NCgkJPHVpdGV4dCBuYW1lPSJEVVJBVElPTl9IRUFESU5HIiB2YWx1ZT0iRHVyw6llIi8+DQoJCTx1aXRleHQgbmFtZT0iU0VBUkNIX0hFQURJTkciIHZhbHVlPSJSZWNoZXJjaGUgZGUgdGV4dGUgOiIvPg0KCQk8dWl0ZXh0IG5hbWU9IlRIVU1CX0hFQURJTkciIHZhbHVlPSJEaWFwb3NpdGl2ZSIvPg0KCQk8dWl0ZXh0IG5hbWU9IlRIVU1CX0lORk8iIHZhbHVlPSJUaXRyZS9kdXLDqWUiLz4NCgkJPHVpdGV4dCBuYW1lPSJBVFRBQ0hOQU1FX0hFQURJTkciIHZhbHVlPSJOb20gZGUgZmljaGllciIvPg0KCQk8dWl0ZXh0IG5hbWU9IkFUVEFDSFNJWkVfSEVBRElORyIgdmFsdWU9IlRhaWxsZSIvPg0KCQk8dWl0ZXh0IG5hbWU9IlNMSURFX05PVEVTIiB2YWx1ZT0iQ29tbWVudGFpcmVzIGRlcyBkaWFwb3NpdGl2ZXMiLz4NCgkJPHVpdGV4dCBuYW1lPSJDT1VSU0VfU1RBVFVTIiB2YWx1ZT0iU3RhdHV0IGR1IG1vZHVsZSIvPg0KCQk8dWl0ZXh0IG5hbWU9IlBBU1NFRF9TVFJJTkciIHZhbHVlPSJSw6l1c3NpIi8+DQoJCTx1aXRleHQgbmFtZT0iRkFJTEVEX1NUUklORyIgdmFsdWU9IkVjaG91w6kiLz4NCgkJPCEtLXF1aXogcG9kIGFuZCBtZXNzYWdlIGJveCB0ZXh0cy0tPg0KCQk8dWl0ZXh0IG5hbWU9IlFVSVpQT0RfUVVJWl9BVFRFTVBUIiB2YWx1ZT0iVGVudGF0aXZlIGRlIHF1ZXN0aW9ubmFpcmUgOiIvPg0KCQk8dWl0ZXh0IG5hbWU9IlFVSVpQT0RfUVVJWl9BVFRFTVBUX1ZBTFVFIiB2YWx1ZT0iJW4gc3VyICV0Ii8+DQoJCTx1aXRleHQgbmFtZT0iUVVJWlBPRF9RVUlaX1NDT1JFIiB2YWx1ZT0iTm90ZSBvYnRlbnVlIDoiLz4NCgkJPHVpdGV4dCBuYW1lPSJRVUlaUE9EX1FVSVpfUEFTU1NDT1JFIiB2YWx1ZT0iTm90ZSBkJ2FkbWlzc2liaWxpdMOpwqA6Ii8+DQoJCTx1aXRleHQgbmFtZT0iUVVJWlBPRF9RVUlaX01BWFNDT1JFIiB2YWx1ZT0iTm90ZSBtYXhpbWFsZSA6Ii8+DQoJCTx1aXRleHQgbmFtZT0iUVVJWlBPRF9RVUVTQVRNUFRfU1RSIiB2YWx1ZT0iVGVudGF0aXZlIDogJW4gc3VyICV0Ii8+DQoJCTx1aXRleHQgbmFtZT0iUVVJWlBPRF9RVUVTVFlQRV9TVFIiIHZhbHVlPSJUeXBlOiAlcyIvPg0KCQk8dWl0ZXh0IG5hbWU9IlFVSVpQT0RfUVVFU1RZUEVfR1JEIiB2YWx1ZT0iTm90w6kiLz4NCgkJPHVpdGV4dCBuYW1lPSJRVUlaUE9EX1FVRVNUWVBFX1NWWSIgdmFsdWU9IkVucXXDqnRlIi8+DQoJCTx1aXRleHQgbmFtZT0iUVVJWlBPRF9RVUlaQVRNUFRfSU5GIiB2YWx1ZT0iSWxsaW1pdMOpIi8+DQoJCTx1aXRleHQgbmFtZT0iUVVJWlBPRF9RVUVTQVRNUFRfSU5GIiB2YWx1ZT0iSWxsaW1pdMOpIi8+DQoJCTx1aXRleHQgbmFtZT0iV0FSTklOR01TR19ZRVNTVFJJTkciIHZhbHVlPSJPdWkiLz4NCgkJPHVpdGV4dCBuYW1lPSJXQVJOSU5HTVNHX05PU1RSSU5HIiB2YWx1ZT0iTm9uIi8+DQoJCTx1aXRleHQgbmFtZT0iV0FSTklOR01TR19USVRMRVNUUklORyIgdmFsdWU9IkF2ZXJ0aXNzZW1lbnQgZGUgbmF2aWdhdGlvbiBkdSBxdWVzdGlvbm5haXJlIi8+DQoJCTx1aXRleHQgbmFtZT0iV0FSTklOR01TR19NU0dTVFJJTkciIHZhbHVlPSJWb3VzIG4nYXZleiBwYXMgcsOpcG9uZHUgw6AgY2VydGFpbmVzIHF1ZXN0aW9ucyBkZSBjZSBxdWVzdGlvbm5haXJlLiYjeEE7JiN4QTtTaSB2b3VzIGNsaXF1ZXogc3VyIE91aSwgdm91cyBxdWl0dGVyZXogbGUgcXVlc3Rpb25uYWlyZS4gQ2xpcXVleiBzdXIgTm9uIHBvdXIgY29udGludWVyIGxlIHF1ZXN0aW9ubmFpcmUuIi8+DQoJCTx1aXRleHQgbmFtZT0iSU5GT1JNQVRJT05fSDI2NF9GTEFTSFBMQVlFUiIgdmFsdWU9IkxhIHZlcnNpb24gZGUgRmxhc2ggUGxheWVyIGFjdHVlbGxlbWVudCBpbnN0YWxsw6llIHN1ciB2b3RyZSBtYWNoaW5lIG5lIHByZW5kIHBhcyBlbiBjaGFyZ2UgY2UgdHlwZSBkZSB2aWTDqW8uIENsaXF1ZXogc3VyIGxhIHpvbmUgdmlkw6lvIHBvdXIgdMOpbMOpY2hhcmdlciBsYSBkZXJuacOocmUgdmVyc2lvbiBkZSBGbGFzaCBQbGF5ZXIuIi8+DQoJCTwhLS0gc3Vic3RpdHV0aW9uOiAlcCA9PSBwcmVzZW50YXRpb24gdGl0bGUgLS0+DQoJCTwhLS0gc3Vic3RpdHV0aW9uOiAlcyA9PSBzbGlkZSB0aXRsZSAtLT4NCgkJPCEtLSBzdWJzdGl0dXRpb246ICVuID09IHNsaWRlIG51bWJlciAtLT4NCgkJPHVpdGV4dCBuYW1lPSJCT09LTUFSSyIgdmFsdWU9IkFkb2JlIFByZXNlbnRlciAtICVwIi8+DQoJCTwhLS0gc3Vic3RpdHV0aW9uOiAlcCA9PSBwcmVzZW50YXRpb24gdGl0bGUgLS0+DQoJCTwhLS0gc3Vic3RpdHV0aW9uOiAlcyA9PSBzbGlkZSB0aXRsZSAtLT4NCgkJPCEtLSBzdWJzdGl0dXRpb246ICVuID09IHNsaWRlIG51bWJlciAtLT4NCgkJPHVpdGV4dCBuYW1lPSJCT09LTUFSS1NMSURFIiB2YWx1ZT0iQWRvYmUgUHJlc2VudGVyIC0gJXAgJXMiLz4NCgkJPHVpdGV4dCBuYW1lPSJTSE9XU0lERUJBUiIgdmFsdWU9Ik1vbnRyZXIgbCdlbmNhZHLDqSBhdXggcGFydGljaXBhbnRzIi8+DQoJCTx1aXRleHQgbmFtZT0iTVVURSIgdmFsdWU9Ik11ZXQiLz4NCgkJPHVpdGV4dCBuYW1lPSJET0NXUkFQX1RJVExFIiB2YWx1ZT0iUGnDqGNlIGpvaW50ZSBQcmVzZW50ZXIiLz4NCgkJPHVpdGV4dCBuYW1lPSJET0NXUkFQX01TRyIgdmFsdWU9IkVucmVnaXN0cmVyIHN1ciBtb24gb3JkaW5hdGV1ciIvPg0KCQk8dWl0ZXh0IG5hbWU9IkRPQ1dSQVBfUFJPTVBUIiB2YWx1ZT0iQ2xpcXVlciBwb3VyIHTDqWzDqWNoYXJnZXIiLz4NCgk8L2xhbmd1YWdlPg0KCTxsYW5ndWFnZSBpZD0iamEiPg0KCQk8IS0tIGZvcm1hdCBmb3IgdWlmb250IHZhbHVlIGlzICJmb250LHNpemUsaXNib2xkLGlzaXRhbGljLGlzc2hhZG93ZWQiIC0tPg0KCQk8dWlmb250IG5hbWU9IkZPTlRfUVVJWlpJTkciIHZhbHVlPSJWZXJkYW5hLDksZmFsc2UsZmFsc2UsZmFsc2UiLz4NCgkJPHVpZm9udCBuYW1lPSJGT05UX1NDUlVCU1RBVFVTIiB2YWx1ZT0iVmVyZGFuYSwxMSxmYWxzZSxmYWxzZSx0cnVlIi8+DQoJCTx1aWZvbnQgbmFtZT0iRk9OVF9TQ1JVQlRJTUUiIHZhbHVlPSJWZXJkYW5hLDksZmFsc2UsZmFsc2UsdHJ1ZSIvPg0KCQk8dWlmb250IG5hbWU9IkZPTlRfRUxBUFNFRFRJTUUiIHZhbHVlPSJWZXJkYW5hLDExLHRydWUsZmFsc2UsZmFsc2UiLz4NCgkJPHVpZm9udCBuYW1lPSJGT05UX1VUSUxTTUVOVSIgdmFsdWU9IlZlcmRhbmEsOSx0cnVlLGZhbHNlLGZhbHNlIi8+DQoJCTx1aWZvbnQgbmFtZT0iRk9OVF9UQUJTIiB2YWx1ZT0iVmVyZGFuYSwxMCxmYWxzZSxmYWxzZSxmYWxzZSIvPg0KCQk8dWlmb250IG5hbWU9IkZPTlRfUFJFU0VOVEFUSU9OTkFNRSIgdmFsdWU9IlZlcmRhbmEsMTUsZmFsc2UsZmFsc2UsdHJ1ZSIvPg0KCQk8dWlmb250IG5hbWU9IkZPTlRfUFJFU0VOVEVSTkFNRSIgdmFsdWU9IlZlcmRhbmEsMTUsdHJ1ZSxmYWxzZSx0cnVlIi8+DQoJCTx1aWZvbnQgbmFtZT0iRk9OVF9QUkVTRU5URVJUSVRMRSIgdmFsdWU9IlZlcmRhbmEsMTEsZmFsc2UsZmFsc2UsdHJ1ZSIvPg0KCQk8dWlmb250IG5hbWU9IkZPTlRfQklPQlROIiB2YWx1ZT0iVmVyZGFuYSwxMCxmYWxzZSxmYWxzZSx0cnVlIi8+DQoJCTx1aWZvbnQgbmFtZT0iRk9OVF9OT1RFUyIgdmFsdWU9IlZlcmRhbmEsMTEsZmFsc2UsZmFsc2UsZmFsc2UiLz4NCgkJPHVpZm9udCBuYW1lPSJGT05UX09VVExJTkUiIHZhbHVlPSJWZXJkYW5hLDExLGZhbHNlLGZhbHNlLHRydWUiLz4NCgkJPHVpZm9udCBuYW1lPSJGT05UX1NFQVJDSCIgdmFsdWU9IlZlcmRhbmEsMTEsZmFsc2UsZmFsc2UsdHJ1ZSIvPg0KCQk8dWlmb250IG5hbWU9IkZPTlRfVEhVTUIiIHZhbHVlPSJWZXJkYW5hLDExLGZhbHNlLGZhbHNlLHRydWUiLz4NCgkJPHVpZm9udCBuYW1lPSJGT05UX0JJT1dJTiIgdmFsdWU9IlZlcmRhbmEsMTEsZmFsc2UsZmFsc2UsZmFsc2UiLz4NCgkJPHVpZm9udCBuYW1lPSJGT05UX0xJU1RIRUFESU5HIiB2YWx1ZT0iVmVyZGFuYSwxMSxmYWxzZSxmYWxzZSxmYWxzZSIvPg0KCQk8dWlmb250IG5hbWU9IkZPTlRfV0lOVElUTEUiIHZhbHVlPSJWZXJkYW5hLDExLGZhbHNlLGZhbHNlLHRydWUiLz4NCgkJPHVpZm9udCBuYW1lPSJGT05UX0FUVEFDSE1FTlRTIiB2YWx1ZT0iVmVyZGFuYSwxMSxmYWxzZSxmYWxzZSx0cnVlIi8+DQoJCTwhLS1xdWl6IHBvZCBhbmQgbWVzc2FnZSBib3ggdGV4dCBmb250cy0tPg0KCQk8dWlmb250IG5hbWU9IkZPTlRfTVNHQk9YX1dJTlRJVExFIiB2YWx1ZT0iVmVyZGFuYSwxMSx0cnVlLGZhbHNlLHRydWUiLz4NCgkJPHVpZm9udCBuYW1lPSJGT05UX01TR0JPWF9NU0ciIHZhbHVlPSJWZXJkYW5hLDExLGZhbHNlLGZhbHNlLHRydWUiLz4NCgkJPHVpZm9udCBuYW1lPSJGT05UX01TR0JPWF9PUFRJT05TIiB2YWx1ZT0iVmVyZGFuYSw5LHRydWUsZmFsc2UsdHJ1ZSIvPg0KCQk8dWlmb250IG5hbWU9IkZPTlRfUVVJWlBPRF9RVUlaX1RJVExFIiB2YWx1ZT0iVmVyZGFuYSwxMSx0cnVlLGZhbHNlLHRydWUiLz4NCgkJPHVpZm9udCBuYW1lPSJGT05UX1FVSVpQT0RfUVVJWl9BVFRFTVBUIiB2YWx1ZT0iVmVyZGFuYSw5LGZhbHNlLGZhbHNlLHRydWUiLz4NCgkJPHVpZm9udCBuYW1lPSJGT05UX1FVSVpQT0RfUVVJWl9BVFRFTVBUX1ZBTFVFIiB2YWx1ZT0iVmVyZGFuYSw5LHRydWUsZmFsc2UsdHJ1ZSIvPg0KCQk8dWlmb250IG5hbWU9IkZPTlRfUVVJWlBPRF9RVUVTVElPTl9TQ09SRSIgdmFsdWU9IlZlcmRhbmEsOSxmYWxzZSxmYWxzZSx0cnVlIi8+DQoJCTx1aWZvbnQgbmFtZT0iRk9OVF9RVUlaUE9EX1FVRVNUSU9OX1NDT1JFX1ZBTFVFIiB2YWx1ZT0iVmVyZGFuYSw5LHRydWUsZmFsc2UsdHJ1ZSIvPg0KCQk8dWlmb250IG5hbWU9IkZPTlRfUVVJWlBPRF9RVUVTVElPTl9BVFRFTVBUIiB2YWx1ZT0iVmVyZGFuYSw5LGZhbHNlLGZhbHNlLHRydWUiLz4NCgkJPHVpZm9udCBuYW1lPSJGT05UX1FVSVpQT0RfUVVFU1RJT05fQVRURU1QVF9WQUxVRSIgdmFsdWU9IlZlcmRhbmEsOSx0cnVlLGZhbHNlLHRydWUiLz4NCgkJPHVpZm9udCBuYW1lPSJGT05UX1FVSVpQT0RfUVVFU1RJT05fVEFHIiB2YWx1ZT0iVmVyZGFuYSwxMSx0cnVlLGZhbHNlLHRydWUiLz4NCgkJPHVpZm9udCBuYW1lPSJGT05UX1FVSVpQT0RfUVVJWl9RVUVTVElPTl9DT1VOVCIgdmFsdWU9IlZlcmRhbmEsOSxmYWxzZSxmYWxzZSx0cnVlIi8+DQoJCTx1aWZvbnQgbmFtZT0iRk9OVF9RVUlaUE9EX1FVSVpfUVVFU1RJT05fQ09VTlRfVkFMVUUiIHZhbHVlPSJWZXJkYW5hLDksdHJ1ZSxmYWxzZSx0cnVlIi8+DQoJCTx1aWZvbnQgbmFtZT0iRk9OVF9RVUlaUE9EX1FVSVpfUVVFU1RJT05fQVRURU1QVEVEIiB2YWx1ZT0iVmVyZGFuYSw5LGZhbHNlLGZhbHNlLHRydWUiLz4NCgkJPHVpZm9udCBuYW1lPSJGT05UX1FVSVpQT0RfUVVJWl9RVUVTVElPTl9BVFRFTVBURURfVkFMVUUiIHZhbHVlPSJWZXJkYW5hLDksdHJ1ZSxmYWxzZSx0cnVlIi8+DQoJCTx1aWZvbnQgbmFtZT0iRk9OVF9RVUlaUE9EX1FVSVpfU0NPUkVfVEFHIiB2YWx1ZT0iVmVyZGFuYSwxMSx0cnVlLGZhbHNlLHRydWUiLz4NCgkJPHVpZm9udCBuYW1lPSJGT05UX1FVSVpQT0RfUVVJWl9TQ09SRSIgdmFsdWU9IlZlcmRhbmEsOSxmYWxzZSxmYWxzZSx0cnVlIi8+DQoJCTx1aWZvbnQgbmFtZT0iRk9OVF9RVUlaUE9EX1FVSVpfU0NPUkVfVkFMVUUiIHZhbHVlPSJWZXJkYW5hLDksdHJ1ZSxmYWxzZSx0cnVlIi8+DQoJCTx1aWZvbnQgbmFtZT0iRk9OVF9RVUlaUE9EX1FVSVpfTUFYU0NPUkUiIHZhbHVlPSJWZXJkYW5hLDksZmFsc2UsZmFsc2UsdHJ1ZSIvPg0KCQk8dWlmb250IG5hbWU9IkZPTlRfUVVJWlBPRF9RVUlaX01BWFNDT1JFX1ZBTFVFIiB2YWx1ZT0iVmVyZGFuYSw5LHRydWUsZmFsc2UsdHJ1ZSIvPg0KCQk8dWlmb250IG5hbWU9IkZPTlRfUVVJWlBPRF9RVUlaX1BBU1NTQ09SRSIgdmFsdWU9IlZlcmRhbmEsOSxmYWxzZSxmYWxzZSx0cnVlIi8+DQoJCTx1aWZvbnQgbmFtZT0iRk9OVF9RVUlaUE9EX1FVSVpfUEFTU1NDT1JFX1ZBTFVFIiB2YWx1ZT0iVmVyZGFuYSw5LHRydWUsZmFsc2UsdHJ1ZSIvPg0KCQk8IS0tIHVpdGV4dCAtLT4NCgkJPCEtLSBzdWJzdGl0dXRpb246ICVuID09IHNsaWRlIG51bWJlciAtLT4NCgkJPHVpdGV4dCBuYW1lPSJBVFRBQ0hNRU5UX1BSRVZJRVdfV0FSTklOR01TR19USVRMRVNUUklORyIgdmFsdWU9Iua3u+S7mOODleOCoeOCpOODq+itpuWRiiIvPg0KCQk8dWl0ZXh0IG5hbWU9IkFUVEFDSE1FTlRfUFJFVklFV19XQVJOSU5HTVNHIiB2YWx1ZT0i5re75LuY44OV44Kh44Kk44Or44Gv44OX44Os44OT44Ol44O844Oi44O844OJ44Gn44Gv6ZaL44GN44G+44Gb44KT44CC44OR44OW44Oq44OD44K344Ol44KS5L2/55So44GX44Gm57WQ5p6c44KS6KGo56S644GX44Gm44GP44Gg44GV44GE44CCIi8+DQoJCTx1aXRleHQgbmFtZT0iQ09MTEFCX0xPQ0FMX1BMQVlCQUNLX01TRyIgdmFsdWU9IuOCs+ODs+ODhuODs+ODhOOBr+ODreODvOOCq+ODq+OBp+WGjeeUn+OBleOCjOOBpuOBhOOBvuOBmeOAguOBk+OBruODouODvOODieOBp+OBr+WFseWQjOS9nOalreOBp+OBjeOBvuOBm+OCk+OAgiIvPg0KCQk8dWl0ZXh0IG5hbWU9IkNPTExBQl9MT0NBTF9QTEFZQkFDS19USVRMRSIgdmFsdWU9IuODreODvOOCq+ODq+WGjeeUnyIvPg0KCQk8dWl0ZXh0IG5hbWU9IkNPTExBQl9MT0NBTF9QTEFZQkFDS0JUTiIgdmFsdWU9Ik9LIi8+DQoJCTx1aXRleHQgbmFtZT0iVU5OQU1FRFNMSURFVElUTEUiIHZhbHVlPSLjgrnjg6njgqTjg4kgOiAlbiIvPg0KCQk8IS0tIHN1YnN0aXR1dGlvbjogJW4gPT0gc2xpZGUgbnVtYmVyIC0tPg0KCQk8IS0tIHN1YnN0aXR1dGlvbjogJXQgPT0gdG90YWwgc2xpZGUgY291bnQgLS0+DQoJCTx1aXRleHQgbmFtZT0iU0NSVUJCQVJTVEFUVVNfU0xJREVJTkZPIiB2YWx1ZT0i44K544Op44Kk44OJIDogJW4gLyAldCB8ICIvPg0KCQk8dWl0ZXh0IG5hbWU9IlNDUlVCQkFSU1RBVFVTX1NUT1BQRUQiIHZhbHVlPSLlgZzmraIiLz4NCgkJPHVpdGV4dCBuYW1lPSJTQ1JVQkJBUlNUQVRVU19QTEFZSU5HIiB2YWx1ZT0i5YaN55Sf5LitIi8+DQoJCTx1aXRleHQgbmFtZT0iU0NSVUJCQVJTVEFUVVNfTk9BVURJTyIgdmFsdWU9Iumfs+WjsOOBquOBlyIvPg0KCQk8dWl0ZXh0IG5hbWU9IlNDUlVCQkFSU1RBVFVTX1ZJRFBMQVlJTkciIHZhbHVlPSLjg5Pjg4fjgqrlho3nlJ/kuK0iLz4NCgkJPHVpdGV4dCBuYW1lPSJTQ1JVQkJBUlNUQVRVU19MT0FESU5HIiB2YWx1ZT0i44Ot44O844OJ5LitIi8+DQoJCTx1aXRleHQgbmFtZT0iU0NSVUJCQVJTVEFUVVNfQlVGRkVSSU5HIiB2YWx1ZT0i44OQ44OD44OV44Kh5LitIi8+DQoJCTx1aXRleHQgbmFtZT0iU0NSVUJCQVJTVEFUVVNfUVVFU1RJT04iIHZhbHVlPSLos6rllY/jgavnrZTjgYjjgabkuIvjgZXjgYQiLz4NCgkJPHVpdGV4dCBuYW1lPSJTQ1JVQkJBUlNUQVRVU19SRVZJRVdRVUlaIiB2YWx1ZT0i44Kv44Kk44K644KS44Os44OT44Ol44O844GX44Gm44GE44G+44GZIi8+DQoJCTwhLS0gc3Vic3RpdHV0aW9uOiAlbSA9PSBtaW51dGVzIHJlbWFpbmluZyAtLT4NCgkJPCEtLSBzdWJzdGl0dXRpb246ICVzID09IHNlY29uZHMgcmVtYWluaW5nIC0tPg0KCQk8dWl0ZXh0IG5hbWU9IkVMQVBTRUQiIHZhbHVlPSLmrovjgoogOiAlbSDliIYgJXMg56eSIi8+DQoJCTx1aXRleHQgbmFtZT0iTk9URk9VTkQiIHZhbHVlPSLkvZXjgoLopovjgaTjgYvjgorjgb7jgZvjgpMiLz4NCgkJPHVpdGV4dCBuYW1lPSJBVFRBQ0hNRU5UUyIgdmFsdWU9Iua3u+S7mCIvPg0KCQk8IS0tIHN1YnN0aXR1dGlvbjogJXAgPT0gY3VycmVudCBzcGVha2VyJ3MgdGl0bGUgLS0+DQoJCTx1aXRleHQgbmFtZT0iQklPV0lOX1RJVExFIiB2YWx1ZT0i57WM5q20IDogJXAiLz4NCgkJPHVpdGV4dCBuYW1lPSJCSU9CVE5fVElUTEUiIHZhbHVlPSLntYzmrbQiLz4NCgkJPHVpdGV4dCBuYW1lPSJESVZJREVSQlROX1RJVExFIiB2YWx1ZT0ifCIvPg0KCQk8dWl0ZXh0IG5hbWU9IkNPTlRBQ1RCVE5fVElUTEUiIHZhbHVlPSLjgYrllY/jgYTlkIjjgo/jgZsiLz4NCgkJPHVpdGV4dCBuYW1lPSJUQUJfUVVJWiIgdmFsdWU9IuOCr+OCpOOCuiIvPg0KCQk8dWl0ZXh0IG5hbWU9IlRBQl9PVVRMSU5FIiB2YWx1ZT0i44Ki44Km44OI44Op44Kk44OzIi8+DQoJCTx1aXRleHQgbmFtZT0iVEFCX1RIVU1CIiB2YWx1ZT0i44K144Og44ON44O844OrIi8+DQoJCTx1aXRleHQgbmFtZT0iVEFCX05PVEVTIiB2YWx1ZT0i44OO44O844OIIi8+DQoJCTx1aXRleHQgbmFtZT0iVEFCX1NFQVJDSCIgdmFsdWU9IuaknOe0oiIvPg0KCQk8dWl0ZXh0IG5hbWU9IlNMSURFX0hFQURJTkciIHZhbHVlPSLjgrnjg6njgqTjg4njgr/jgqTjg4jjg6siLz4NCgkJPHVpdGV4dCBuYW1lPSJEVVJBVElPTl9IRUFESU5HIiB2YWx1ZT0i6ZW344GVIi8+DQoJCTx1aXRleHQgbmFtZT0iU0VBUkNIX0hFQURJTkciIHZhbHVlPSLmpJzntKLjgZnjgovjg4bjgq3jgrnjg4ggOiAiLz4NCgkJPHVpdGV4dCBuYW1lPSJUSFVNQl9IRUFESU5HIiB2YWx1ZT0i44K544Op44Kk44OJIi8+DQoJCTx1aXRleHQgbmFtZT0iVEhVTUJfSU5GTyIgdmFsdWU9IuOCueODqeOCpOODieOCv+OCpOODiOODqyAvIOmVt+OBlSIvPg0KCQk8dWl0ZXh0IG5hbWU9IkFUVEFDSE5BTUVfSEVBRElORyIgdmFsdWU9IuODleOCoeOCpOODq+WQjSIvPg0KCQk8dWl0ZXh0IG5hbWU9IkFUVEFDSFNJWkVfSEVBRElORyIgdmFsdWU9IuOCteOCpOOCuiIvPg0KCQk8dWl0ZXh0IG5hbWU9IlNMSURFX05PVEVTIiB2YWx1ZT0i44K544Op44Kk44OJ44OO44O844OIIi8+DQoJCTx1aXRleHQgbmFtZT0iQ09VUlNFX1NUQVRVUyIgdmFsdWU9IuODouOCuOODpeODvOODq+OCueODhuODvOOCv+OCuSIvPg0KCQk8dWl0ZXh0IG5hbWU9IlBBU1NFRF9TVFJJTkciIHZhbHVlPSLlkIjmoLwiLz4NCgkJPHVpdGV4dCBuYW1lPSJGQUlMRURfU1RSSU5HIiB2YWx1ZT0i5LiN5ZCI5qC8Ii8+DQoJCTwhLS1xdWl6IHBvZCBhbmQgbWVzc2FnZSBib3ggdGV4dHMtLT4NCgkJPHVpdGV4dCBuYW1lPSJRVUlaUE9EX1FVSVpfQVRURU1QVCIgdmFsdWU9IuOCr+OCpOOCuuippuihjOWbnuaVsCA6ICIvPg0KCQk8dWl0ZXh0IG5hbWU9IlFVSVpQT0RfUVVJWl9BVFRFTVBUX1ZBTFVFIiB2YWx1ZT0iJW4gLyAldCIvPg0KCQk8dWl0ZXh0IG5hbWU9IlFVSVpQT0RfUVVJWl9TQ09SRSIgdmFsdWU9IuOCueOCs+OCoiA6ICIvPg0KCQk8dWl0ZXh0IG5hbWU9IlFVSVpQT0RfUVVJWl9QQVNTU0NPUkUiIHZhbHVlPSLlkIjmoLzngrkgOiIvPg0KCQk8dWl0ZXh0IG5hbWU9IlFVSVpQT0RfUVVJWl9NQVhTQ09SRSIgdmFsdWU9IuacgOmrmOW+l+eCuSA6ICIvPg0KCQk8dWl0ZXh0IG5hbWU9IlFVSVpQT0RfUVVFU0FUTVBUX1NUUiIgdmFsdWU9IuippuihjOWbnuaVsCA6ICVuIC8gJXQiLz4NCgkJPHVpdGV4dCBuYW1lPSJRVUlaUE9EX1FVRVNUWVBFX1NUUiIgdmFsdWU9IuOCv+OCpOODlyA6ICVzIi8+DQoJCTx1aXRleHQgbmFtZT0iUVVJWlBPRF9RVUVTVFlQRV9HUkQiIHZhbHVlPSLoqZXkvqEiLz4NCgkJPHVpdGV4dCBuYW1lPSJRVUlaUE9EX1FVRVNUWVBFX1NWWSIgdmFsdWU9IuOCouODs+OCseODvOODiCIvPg0KCQk8dWl0ZXh0IG5hbWU9IlFVSVpQT0RfUVVJWkFUTVBUX0lORiIgdmFsdWU9IueEoeWItumZkCIvPg0KCQk8dWl0ZXh0IG5hbWU9IlFVSVpQT0RfUVVFU0FUTVBUX0lORiIgdmFsdWU9IueEoeWItumZkCIvPg0KCQk8dWl0ZXh0IG5hbWU9IldBUk5JTkdNU0dfWUVTU1RSSU5HIiB2YWx1ZT0i44Gv44GEIi8+DQoJCTx1aXRleHQgbmFtZT0iV0FSTklOR01TR19OT1NUUklORyIgdmFsdWU9IuOBhOOBhOOBiCIvPg0KCQk8dWl0ZXh0IG5hbWU9IldBUk5JTkdNU0dfVElUTEVTVFJJTkciIHZhbHVlPSLjgq/jgqTjgrrjga7jg4rjg5PjgrLjg7zjgrfjg6fjg7PjgavplqLjgZnjgovorablkYoiLz4NCgkJPHVpdGV4dCBuYW1lPSJXQVJOSU5HTVNHX01TR1NUUklORyIgdmFsdWU9IuOBk+OBruOCr+OCpOOCuuOBq+OBr+OAgeOBvuOBoOino+etlOOBl+OBpuOBhOOBquOBhOizquWVj+OBjOOBguOCiuOBvuOBmeOAgiYjeEE7JiN4QTsg44Kv44Kk44K644KS57WC5LqG44GZ44KL44Gr44Gv44CB44CM44Gv44GE44CN44KS44Kv44Oq44OD44Kv44GX44G+44GZ44CC44Kv44Kk44K644KS57aa6KGM44GZ44KL44Gr44Gv44CB44CM44GE44GE44GI44CN44KS44Kv44Oq44OD44Kv44GX44G+44GZ44CCIi8+DQoJCTx1aXRleHQgbmFtZT0iSU5GT1JNQVRJT05fSDI2NF9GTEFTSFBMQVlFUiIgdmFsdWU9IuOBiuS9v+OBhOOBruOCs+ODs+ODlOODpeODvOOCv+OBq+ePvuWcqOOCpOODs+OCueODiOODvOODq+OBleOCjOOBpuOBhOOCiyBGbGFzaCBQbGF5ZXIg44Gu44OQ44O844K444On44Oz44Gv44CB44GT44Gu44OT44OH44Kq44KS44K144Od44O844OI44GX44Gm44GE44G+44Gb44KT44CC5pyA5paw44GuIEZsYXNoIFBsYXllciDjgpLjg4Djgqbjg7Pjg63jg7zjg4njgZnjgovjgavjga/jgIHjg5Pjg4fjgqrpoJjln5/jgpLjgq/jg6rjg4Pjgq/jgZfjgabjgY/jgaDjgZXjgYTjgIIiLz4NCgkJPCEtLSBzdWJzdGl0dXRpb246ICVwID09IHByZXNlbnRhdGlvbiB0aXRsZSAtLT4NCgkJPCEtLSBzdWJzdGl0dXRpb246ICVzID09IHNsaWRlIHRpdGxlIC0tPg0KCQk8IS0tIHN1YnN0aXR1dGlvbjogJW4gPT0gc2xpZGUgbnVtYmVyIC0tPg0KCQk8dWl0ZXh0IG5hbWU9IkJPT0tNQVJLIiB2YWx1ZT0iQWRvYmUgUHJlc2VudGVyIC0gJXAiLz4NCgkJPCEtLSBzdWJzdGl0dXRpb246ICVwID09IHByZXNlbnRhdGlvbiB0aXRsZSAtLT4NCgkJPCEtLSBzdWJzdGl0dXRpb246ICVzID09IHNsaWRlIHRpdGxlIC0tPg0KCQk8IS0tIHN1YnN0aXR1dGlvbjogJW4gPT0gc2xpZGUgbnVtYmVyIC0tPg0KCQk8dWl0ZXh0IG5hbWU9IkJPT0tNQVJLU0xJREUiIHZhbHVlPSJBZG9iZSBQcmVzZW50ZXIgLSAlcCAlcyIvPg0KCQk8dWl0ZXh0IG5hbWU9IlNIT1dTSURFQkFSIiB2YWx1ZT0i44K144Kk44OJ44OQ44O844KS5Y+C5Yqg6ICF44Gr6KaL44Gb44KLIi8+DQoJCTx1aXRleHQgbmFtZT0iTVVURSIgdmFsdWU9IuODn+ODpeODvOODiCIvPg0KCQk8dWl0ZXh0IG5hbWU9IkRPQ1dSQVBfVElUTEUiIHZhbHVlPSJQcmVzZW50ZXIg5re75LuY44OV44Kh44Kk44OrIi8+DQoJCTx1aXRleHQgbmFtZT0iRE9DV1JBUF9NU0ciIHZhbHVlPSLjg57jgqTjgrPjg7Pjg5Tjg6Xjg7zjgr/jgavkv53lrZgiLz4NCgkJPHVpdGV4dCBuYW1lPSJET0NXUkFQX1BST01QVCIgdmFsdWU9IuOCr+ODquODg+OCr+OBl+OBpuODgOOCpuODs+ODreODvOODiSIvPg0KCTwvbGFuZ3VhZ2U+DQoJPGxhbmd1YWdlIGlkPSJrbyI+DQoJCTwhLS0gZm9ybWF0IGZvciB1aWZvbnQgdmFsdWUgaXMgImZvbnQsc2l6ZSxpc2JvbGQsaXNpdGFsaWMsaXNzaGFkb3dlZCIgLS0+DQoJCTx1aWZvbnQgbmFtZT0iRk9OVF9RVUlaWklORyIgdmFsdWU9IlZlcmRhbmEsOSxmYWxzZSxmYWxzZSxmYWxzZSIvPg0KCQk8dWlmb250IG5hbWU9IkZPTlRfU0NSVUJTVEFUVVMiIHZhbHVlPSJWZXJkYW5hLDExLGZhbHNlLGZhbHNlLHRydWUiLz4NCgkJPHVpZm9udCBuYW1lPSJGT05UX1NDUlVCVElNRSIgdmFsdWU9IlZlcmRhbmEsOSxmYWxzZSxmYWxzZSx0cnVlIi8+DQoJCTx1aWZvbnQgbmFtZT0iRk9OVF9FTEFQU0VEVElNRSIgdmFsdWU9IlZlcmRhbmEsMTEsdHJ1ZSxmYWxzZSxmYWxzZSIvPg0KCQk8dWlmb250IG5hbWU9IkZPTlRfVVRJTFNNRU5VIiB2YWx1ZT0iVmVyZGFuYSw5LHRydWUsZmFsc2UsZmFsc2UiLz4NCgkJPHVpZm9udCBuYW1lPSJGT05UX1RBQlMiIHZhbHVlPSJWZXJkYW5hLDExLGZhbHNlLGZhbHNlLGZhbHNlIi8+DQoJCTx1aWZvbnQgbmFtZT0iRk9OVF9QUkVTRU5UQVRJT05OQU1FIiB2YWx1ZT0iVmVyZGFuYSwxNSxmYWxzZSxmYWxzZSx0cnVlIi8+DQoJCTx1aWZvbnQgbmFtZT0iRk9OVF9QUkVTRU5URVJOQU1FIiB2YWx1ZT0iVmVyZGFuYSwxNSx0cnVlLGZhbHNlLHRydWUiLz4NCgkJPHVpZm9udCBuYW1lPSJGT05UX1BSRVNFTlRFUlRJVExFIiB2YWx1ZT0iVmVyZGFuYSwxMSxmYWxzZSxmYWxzZSx0cnVlIi8+DQoJCTx1aWZvbnQgbmFtZT0iRk9OVF9CSU9CVE4iIHZhbHVlPSJWZXJkYW5hLDExLGZhbHNlLGZhbHNlLHRydWUiLz4NCgkJPHVpZm9udCBuYW1lPSJGT05UX05PVEVTIiB2YWx1ZT0iVmVyZGFuYSwxMSxmYWxzZSxmYWxzZSxmYWxzZSIvPg0KCQk8dWlmb250IG5hbWU9IkZPTlRfT1VUTElORSIgdmFsdWU9IlZlcmRhbmEsMTEsZmFsc2UsZmFsc2UsdHJ1ZSIvPg0KCQk8dWlmb250IG5hbWU9IkZPTlRfU0VBUkNIIiB2YWx1ZT0iVmVyZGFuYSwxMSxmYWxzZSxmYWxzZSx0cnVlIi8+DQoJCTx1aWZvbnQgbmFtZT0iRk9OVF9USFVNQiIgdmFsdWU9IlZlcmRhbmEsMTEsZmFsc2UsZmFsc2UsdHJ1ZSIvPg0KCQk8dWlmb250IG5hbWU9IkZPTlRfQklPV0lOIiB2YWx1ZT0iVmVyZGFuYSwxMSxmYWxzZSxmYWxzZSxmYWxzZSIvPg0KCQk8dWlmb250IG5hbWU9IkZPTlRfTElTVEhFQURJTkciIHZhbHVlPSJWZXJkYW5hLDExLGZhbHNlLGZhbHNlLGZhbHNlIi8+DQoJCTx1aWZvbnQgbmFtZT0iRk9OVF9XSU5USVRMRSIgdmFsdWU9IlZlcmRhbmEsMTEsZmFsc2UsZmFsc2UsdHJ1ZSIvPg0KCQk8dWlmb250IG5hbWU9IkZPTlRfQVRUQUNITUVOVFMiIHZhbHVlPSJWZXJkYW5hLDExLGZhbHNlLGZhbHNlLHRydWUiLz4NCgkJPCEtLXF1aXogcG9kIGFuZCBtZXNzYWdlIGJveCB0ZXh0IGZvbnRzLS0+DQoJCTx1aWZvbnQgbmFtZT0iRk9OVF9NU0dCT1hfV0lOVElUTEUiIHZhbHVlPSJWZXJkYW5hLDExLHRydWUsZmFsc2UsdHJ1ZSIvPg0KCQk8dWlmb250IG5hbWU9IkZPTlRfTVNHQk9YX01TRyIgdmFsdWU9IlZlcmRhbmEsMTEsZmFsc2UsZmFsc2UsdHJ1ZSIvPg0KCQk8dWlmb250IG5hbWU9IkZPTlRfTVNHQk9YX09QVElPTlMiIHZhbHVlPSJWZXJkYW5hLDksdHJ1ZSxmYWxzZSx0cnVlIi8+DQoJCTx1aWZvbnQgbmFtZT0iRk9OVF9RVUlaUE9EX1FVSVpfVElUTEUiIHZhbHVlPSJWZXJkYW5hLDExLHRydWUsZmFsc2UsdHJ1ZSIvPg0KCQk8dWlmb250IG5hbWU9IkZPTlRfUVVJWlBPRF9RVUlaX0FUVEVNUFQiIHZhbHVlPSJWZXJkYW5hLDksZmFsc2UsZmFsc2UsdHJ1ZSIvPg0KCQk8dWlmb250IG5hbWU9IkZPTlRfUVVJWlBPRF9RVUlaX0FUVEVNUFRfVkFMVUUiIHZhbHVlPSJWZXJkYW5hLDksdHJ1ZSxmYWxzZSx0cnVlIi8+DQoJCTx1aWZvbnQgbmFtZT0iRk9OVF9RVUlaUE9EX1FVRVNUSU9OX1NDT1JFIiB2YWx1ZT0iVmVyZGFuYSw5LGZhbHNlLGZhbHNlLHRydWUiLz4NCgkJPHVpZm9udCBuYW1lPSJGT05UX1FVSVpQT0RfUVVFU1RJT05fU0NPUkVfVkFMVUUiIHZhbHVlPSJWZXJkYW5hLDksdHJ1ZSxmYWxzZSx0cnVlIi8+DQoJCTx1aWZvbnQgbmFtZT0iRk9OVF9RVUlaUE9EX1FVRVNUSU9OX0FUVEVNUFQiIHZhbHVlPSJWZXJkYW5hLDksZmFsc2UsZmFsc2UsdHJ1ZSIvPg0KCQk8dWlmb250IG5hbWU9IkZPTlRfUVVJWlBPRF9RVUVTVElPTl9BVFRFTVBUX1ZBTFVFIiB2YWx1ZT0iVmVyZGFuYSw5LHRydWUsZmFsc2UsdHJ1ZSIvPg0KCQk8dWlmb250IG5hbWU9IkZPTlRfUVVJWlBPRF9RVUVTVElPTl9UQUciIHZhbHVlPSJWZXJkYW5hLDExLHRydWUsZmFsc2UsdHJ1ZSIvPg0KCQk8dWlmb250IG5hbWU9IkZPTlRfUVVJWlBPRF9RVUlaX1FVRVNUSU9OX0NPVU5UIiB2YWx1ZT0iVmVyZGFuYSw5LGZhbHNlLGZhbHNlLHRydWUiLz4NCgkJPHVpZm9udCBuYW1lPSJGT05UX1FVSVpQT0RfUVVJWl9RVUVTVElPTl9DT1VOVF9WQUxVRSIgdmFsdWU9IlZlcmRhbmEsOSx0cnVlLGZhbHNlLHRydWUiLz4NCgkJPHVpZm9udCBuYW1lPSJGT05UX1FVSVpQT0RfUVVJWl9RVUVTVElPTl9BVFRFTVBURUQiIHZhbHVlPSJWZXJkYW5hLDksZmFsc2UsZmFsc2UsdHJ1ZSIvPg0KCQk8dWlmb250IG5hbWU9IkZPTlRfUVVJWlBPRF9RVUlaX1FVRVNUSU9OX0FUVEVNUFRFRF9WQUxVRSIgdmFsdWU9IlZlcmRhbmEsOSx0cnVlLGZhbHNlLHRydWUiLz4NCgkJPHVpZm9udCBuYW1lPSJGT05UX1FVSVpQT0RfUVVJWl9TQ09SRV9UQUciIHZhbHVlPSJWZXJkYW5hLDExLHRydWUsZmFsc2UsdHJ1ZSIvPg0KCQk8dWlmb250IG5hbWU9IkZPTlRfUVVJWlBPRF9RVUlaX1NDT1JFIiB2YWx1ZT0iVmVyZGFuYSw5LGZhbHNlLGZhbHNlLHRydWUiLz4NCgkJPHVpZm9udCBuYW1lPSJGT05UX1FVSVpQT0RfUVVJWl9TQ09SRV9WQUxVRSIgdmFsdWU9IlZlcmRhbmEsOSx0cnVlLGZhbHNlLHRydWUiLz4NCgkJPHVpZm9udCBuYW1lPSJGT05UX1FVSVpQT0RfUVVJWl9NQVhTQ09SRSIgdmFsdWU9IlZlcmRhbmEsOSxmYWxzZSxmYWxzZSx0cnVlIi8+DQoJCTx1aWZvbnQgbmFtZT0iRk9OVF9RVUlaUE9EX1FVSVpfTUFYU0NPUkVfVkFMVUUiIHZhbHVlPSJWZXJkYW5hLDksdHJ1ZSxmYWxzZSx0cnVlIi8+DQoJCTx1aWZvbnQgbmFtZT0iRk9OVF9RVUlaUE9EX1FVSVpfUEFTU1NDT1JFIiB2YWx1ZT0iVmVyZGFuYSw5LGZhbHNlLGZhbHNlLHRydWUiLz4NCgkJPHVpZm9udCBuYW1lPSJGT05UX1FVSVpQT0RfUVVJWl9QQVNTU0NPUkVfVkFMVUUiIHZhbHVlPSJWZXJkYW5hLDksdHJ1ZSxmYWxzZSx0cnVlIi8+DQoJCTwhLS0gdWl0ZXh0IC0tPg0KCQk8IS0tIHN1YnN0aXR1dGlvbjogJW4gPT0gc2xpZGUgbnVtYmVyIC0tPg0KCQk8dWl0ZXh0IG5hbWU9IkFUVEFDSE1FTlRfUFJFVklFV19XQVJOSU5HTVNHX1RJVExFU1RSSU5HIiB2YWx1ZT0i7LKo67aAIO2MjOydvCDqsr3qs6AiLz4NCgkJPHVpdGV4dCBuYW1lPSJBVFRBQ0hNRU5UX1BSRVZJRVdfV0FSTklOR01TRyIgdmFsdWU9IuuvuOumrOuztOq4sCDrqqjrk5zsl5DshJzripQg7LKo67aAIO2MjOydvOydtCDsl7Trpqzsp4Ag7JWK7Iq164uI64ukLiDqsrDqs7zrpbwg67O066Ck66m0IOqyjOyLnCDquLDriqXsnYQg7IKs7Jqp7ZWY7Iut7Iuc7JikLiIvPg0KCQk8dWl0ZXh0IG5hbWU9IkNPTExBQl9MT0NBTF9QTEFZQkFDS19NU0ciIHZhbHVlPSLsvZjthZDtirjqsIAg66Gc7Lus7JeQ7IScIOyerOyDnSDspJHsnoXri4jri6QuIOydtCDrqqjrk5zsl5DshJzripQg6rO164+ZIOyekeyXheydhCDsiJjtlontlaAg7IiYIOyXhuyKteuLiOuLpC4iLz4NCgkJPHVpdGV4dCBuYW1lPSJDT0xMQUJfTE9DQUxfUExBWUJBQ0tfVElUTEUiIHZhbHVlPSLroZzsu6wg7J6s7IOdIi8+DQoJCTx1aXRleHQgbmFtZT0iQ09MTEFCX0xPQ0FMX1BMQVlCQUNLQlROIiB2YWx1ZT0i7ZmV7J24Ii8+DQoJCTx1aXRleHQgbmFtZT0iVU5OQU1FRFNMSURFVElUTEUiIHZhbHVlPSLsiqzrnbzsnbTrk5wgJW4iLz4NCgkJPCEtLSBzdWJzdGl0dXRpb246ICVuID09IHNsaWRlIG51bWJlciAtLT4NCgkJPCEtLSBzdWJzdGl0dXRpb246ICV0ID09IHRvdGFsIHNsaWRlIGNvdW50IC0tPg0KCQk8dWl0ZXh0IG5hbWU9IlNDUlVCQkFSU1RBVFVTX1NMSURFSU5GTyIgdmFsdWU9IuyKrOudvOydtOuTnCAlbiAvICV0IHwgIi8+DQoJCTx1aXRleHQgbmFtZT0iU0NSVUJCQVJTVEFUVVNfU1RPUFBFRCIgdmFsdWU9IuykkeyngOuQqCIvPg0KCQk8dWl0ZXh0IG5hbWU9IlNDUlVCQkFSU1RBVFVTX1BMQVlJTkciIHZhbHVlPSLsnqzsg50iLz4NCgkJPHVpdGV4dCBuYW1lPSJTQ1JVQkJBUlNUQVRVU19OT0FVRElPIiB2YWx1ZT0i7Jik65SU7JikIOyXhuydjCIvPg0KCQk8dWl0ZXh0IG5hbWU9IlNDUlVCQkFSU1RBVFVTX1ZJRFBMQVlJTkciIHZhbHVlPSLruYTrlJTsmKQg7J6s7IOdIOykkSIvPg0KCQk8dWl0ZXh0IG5hbWU9IlNDUlVCQkFSU1RBVFVTX0xPQURJTkciIHZhbHVlPSLroZzrlKkiLz4NCgkJPHVpdGV4dCBuYW1lPSJTQ1JVQkJBUlNUQVRVU19CVUZGRVJJTkciIHZhbHVlPSLrsoTtjbzrp4EiLz4NCgkJPHVpdGV4dCBuYW1lPSJTQ1JVQkJBUlNUQVRVU19RVUVTVElPTiIgdmFsdWU9IuyniOusuOyXkCDri7XtlZjquLAiLz4NCgkJPHVpdGV4dCBuYW1lPSJTQ1JVQkJBUlNUQVRVU19SRVZJRVdRVUlaIiB2YWx1ZT0i7KeI66y4IOuLpOyLnOuztOq4sCIvPg0KCQk8IS0tIHN1YnN0aXR1dGlvbjogJW0gPT0gbWludXRlcyByZW1haW5pbmcgLS0+DQoJCTwhLS0gc3Vic3RpdHV0aW9uOiAlcyA9PSBzZWNvbmRzIHJlbWFpbmluZyAtLT4NCgkJPHVpdGV4dCBuYW1lPSJFTEFQU0VEIiB2YWx1ZT0iJW3rtoQgJXPstIgg64Ko7J2MIi8+DQoJCTx1aXRleHQgbmFtZT0iTk9URk9VTkQiIHZhbHVlPSLsl4bsnYwiLz4NCgkJPHVpdGV4dCBuYW1lPSJBVFRBQ0hNRU5UUyIgdmFsdWU9IuyyqOu2gCDtjIzsnbwiLz4NCgkJPCEtLSBzdWJzdGl0dXRpb246ICVwID09IGN1cnJlbnQgc3BlYWtlcidzIHRpdGxlIC0tPg0KCQk8dWl0ZXh0IG5hbWU9IkJJT1dJTl9USVRMRSIgdmFsdWU9IuqyveugpSDshozqsJw6ICVwIi8+DQoJCTx1aXRleHQgbmFtZT0iQklPQlROX1RJVExFIiB2YWx1ZT0i6rK966ClIOyGjOqwnCIvPg0KCQk8dWl0ZXh0IG5hbWU9IkRJVklERVJCVE5fVElUTEUiIHZhbHVlPSJ8Ii8+DQoJCTx1aXRleHQgbmFtZT0iQ09OVEFDVEJUTl9USVRMRSIgdmFsdWU9IuyXsOudveyymCIvPg0KCQk8dWl0ZXh0IG5hbWU9IlRBQl9RVUlaIiB2YWx1ZT0i7YC07KaIIi8+DQoJCTx1aXRleHQgbmFtZT0iVEFCX09VVExJTkUiIHZhbHVlPSLqsJzsmpQiLz4NCgkJPHVpdGV4dCBuYW1lPSJUQUJfVEhVTUIiIHZhbHVlPSLstpXshoztjJAiLz4NCgkJPHVpdGV4dCBuYW1lPSJUQUJfTk9URVMiIHZhbHVlPSLrhbjtirgiLz4NCgkJPHVpdGV4dCBuYW1lPSJUQUJfU0VBUkNIIiB2YWx1ZT0i6rKA7IOJIi8+DQoJCTx1aXRleHQgbmFtZT0iU0xJREVfSEVBRElORyIgdmFsdWU9IuyKrOudvOydtOuTnCDsoJzrqqkiLz4NCgkJPHVpdGV4dCBuYW1lPSJEVVJBVElPTl9IRUFESU5HIiB2YWx1ZT0i7J6s7IOd7Iuc6rCEIi8+DQoJCTx1aXRleHQgbmFtZT0iU0VBUkNIX0hFQURJTkciIHZhbHVlPSLthY3siqTtirgg6rKA7IOJOiIvPg0KCQk8dWl0ZXh0IG5hbWU9IlRIVU1CX0hFQURJTkciIHZhbHVlPSLsiqzrnbzsnbTrk5wiLz4NCgkJPHVpdGV4dCBuYW1lPSJUSFVNQl9JTkZPIiB2YWx1ZT0i7KCc66qpL+yerOyDneyLnOqwhCIvPg0KCQk8dWl0ZXh0IG5hbWU9IkFUVEFDSE5BTUVfSEVBRElORyIgdmFsdWU9Iu2MjOydvCDsnbTrpoQiLz4NCgkJPHVpdGV4dCBuYW1lPSJBVFRBQ0hTSVpFX0hFQURJTkciIHZhbHVlPSLtgazquLAiLz4NCgkJPHVpdGV4dCBuYW1lPSJTTElERV9OT1RFUyIgdmFsdWU9IuyKrOudvOydtOuTnCDrhbjtirgiLz4NCgkJPHVpdGV4dCBuYW1lPSJDT1VSU0VfU1RBVFVTIiB2YWx1ZT0i66qo65OIIOyDge2DnCIvPg0KCQk8dWl0ZXh0IG5hbWU9IlBBU1NFRF9TVFJJTkciIHZhbHVlPSLtlanqsqkiLz4NCgkJPHVpdGV4dCBuYW1lPSJGQUlMRURfU1RSSU5HIiB2YWx1ZT0i67aI7ZWp6rKpIi8+DQoJCTwhLS1xdWl6IHBvZCBhbmQgbWVzc2FnZSBib3ggdGV4dHMtLT4NCgkJPHVpdGV4dCBuYW1lPSJRVUlaUE9EX1FVSVpfQVRURU1QVCIgdmFsdWU9Iu2AtOymiCDsi5zrj4Qg7Zqf7IiYOiIvPg0KCQk8dWl0ZXh0IG5hbWU9IlFVSVpQT0RfUVVJWl9BVFRFTVBUX1ZBTFVFIiB2YWx1ZT0iJW4vJXQiLz4NCgkJPHVpdGV4dCBuYW1lPSJRVUlaUE9EX1FVSVpfU0NPUkUiIHZhbHVlPSLrk53soJA6Ii8+DQoJCTx1aXRleHQgbmFtZT0iUVVJWlBPRF9RVUlaX1BBU1NTQ09SRSIgdmFsdWU9Iu2GteqzvCDsoJDsiJg6Ii8+DQoJCTx1aXRleHQgbmFtZT0iUVVJWlBPRF9RVUlaX01BWFNDT1JFIiB2YWx1ZT0i7LWc6rOgIOygkOyImDoiLz4NCgkJPHVpdGV4dCBuYW1lPSJRVUlaUE9EX1FVRVNBVE1QVF9TVFIiIHZhbHVlPSLsi5zrj4Qg7Zqf7IiYOiAlbi8ldCIvPg0KCQk8dWl0ZXh0IG5hbWU9IlFVSVpQT0RfUVVFU1RZUEVfU1RSIiB2YWx1ZT0i7Jyg7ZiVOiAlcyIvPg0KCQk8dWl0ZXh0IG5hbWU9IlFVSVpQT0RfUVVFU1RZUEVfR1JEIiB2YWx1ZT0i7KCQ7IiYIOunpOq4sOq4sCDsmYTro4wiLz4NCgkJPHVpdGV4dCBuYW1lPSJRVUlaUE9EX1FVRVNUWVBFX1NWWSIgdmFsdWU9IuyEpOusuCDsobDsgqwiLz4NCgkJPHVpdGV4dCBuYW1lPSJRVUlaUE9EX1FVSVpBVE1QVF9JTkYiIHZhbHVlPSLrrLTtlZwiLz4NCgkJPHVpdGV4dCBuYW1lPSJRVUlaUE9EX1FVRVNBVE1QVF9JTkYiIHZhbHVlPSLrrLTtlZwiLz4NCgkJPHVpdGV4dCBuYW1lPSJXQVJOSU5HTVNHX1lFU1NUUklORyIgdmFsdWU9IuyYiCIvPg0KCQk8dWl0ZXh0IG5hbWU9IldBUk5JTkdNU0dfTk9TVFJJTkciIHZhbHVlPSLslYTri4jsmKQiLz4NCgkJPHVpdGV4dCBuYW1lPSJXQVJOSU5HTVNHX1RJVExFU1RSSU5HIiB2YWx1ZT0i7YC07KaIIOuCtOu5hOqyjOydtOyFmCDqsr3qs6AiLz4NCgkJPHVpdGV4dCBuYW1lPSJXQVJOSU5HTVNHX01TR1NUUklORyIgdmFsdWU9IuydtCDtgLTspojsl5DshJwg7Iuc64+E7ZWY7KeAIOyViuydgCDsp4jrrLjsnbQg7J6I7Iq164uI64ukLiYjeEE7JiN4QTvtgLTspojrpbwg7KKF66OM7ZWY66Ck66m0IFvsmIhd66W8IO2BtOumre2VmOqzoCwg7YC07KaI66W8IOqzhOyGje2VmOugpOuptCBb7JWE64uI7JikXeulvCDtgbTrpq3tlZjsi63si5zsmKQuIi8+DQoJCTx1aXRleHQgbmFtZT0iSU5GT1JNQVRJT05fSDI2NF9GTEFTSFBMQVlFUiIgdmFsdWU9IuyLnOyKpO2FnOyXkCDshKTsuZjrkJjslrQg7J6I64qUIO2YhOyerCDrsoTsoITsnZggRmxhc2ggUGxheWVy64qUIOydtCDruYTrlJTsmKTrpbwg7KeA7JuQ7ZWY7KeAIOyViuyKteuLiOuLpC4g7LWc7IugIEZsYXNoIFBsYXllcuulvCDri6TsmrTroZzrk5ztlZjroKTrqbQg67mE65SU7JikIOyYgeyXreydhCDtgbTrpq3tlZjsi63si5zsmKQuIi8+DQoJCTwhLS0gc3Vic3RpdHV0aW9uOiAlcCA9PSBwcmVzZW50YXRpb24gdGl0bGUgLS0+DQoJCTwhLS0gc3Vic3RpdHV0aW9uOiAlcyA9PSBzbGlkZSB0aXRsZSAtLT4NCgkJPCEtLSBzdWJzdGl0dXRpb246ICVuID09IHNsaWRlIG51bWJlciAtLT4NCgkJPHVpdGV4dCBuYW1lPSJCT09LTUFSSyIgdmFsdWU9IkFkb2JlIFByZXNlbnRlciAtICVwIi8+DQoJCTwhLS0gc3Vic3RpdHV0aW9uOiAlcCA9PSBwcmVzZW50YXRpb24gdGl0bGUgLS0+DQoJCTwhLS0gc3Vic3RpdHV0aW9uOiAlcyA9PSBzbGlkZSB0aXRsZSAtLT4NCgkJPCEtLSBzdWJzdGl0dXRpb246ICVuID09IHNsaWRlIG51bWJlciAtLT4NCgkJPHVpdGV4dCBuYW1lPSJCT09LTUFSS1NMSURFIiB2YWx1ZT0iQWRvYmUgUHJlc2VudGVyIC0gJXAgJXMiLz4NCgkJPHVpdGV4dCBuYW1lPSJTSE9XU0lERUJBUiIgdmFsdWU9IuywuOyXrOyekOyXkOqyjCDshLjroZwg66eJ64yAIOuztOydtOq4sCIvPg0KCQk8dWl0ZXh0IG5hbWU9Ik1VVEUiIHZhbHVlPSLsnYzshozqsbAiLz4NCgkJPHVpdGV4dCBuYW1lPSJET0NXUkFQX1RJVExFIiB2YWx1ZT0iUHJlc2VudGVyIO2MjOydvCDssqjrtoAiLz4NCgkJPHVpdGV4dCBuYW1lPSJET0NXUkFQX01TRyIgdmFsdWU9IuuCtCDsu7Ttk6jthLDsl5Ag7KCA7J6lIi8+DQoJCTx1aXRleHQgbmFtZT0iRE9DV1JBUF9QUk9NUFQiIHZhbHVlPSLtgbTrpq3tlZjsl6wg64uk7Jq066Gc65OcIi8+DQoJPC9sYW5ndWFnZT4NCgk8bGFuZ3VhZ2UgaWQ9ImVzIj4NCgkJPCEtLSBmb3JtYXQgZm9yIHVpZm9udCB2YWx1ZSBpcyAiZm9udCxzaXplLGlzYm9sZCxpc2l0YWxpYyxpc3NoYWRvd2VkIiAtLT4NCgkJPHVpZm9udCBuYW1lPSJGT05UX1FVSVpaSU5HIiB2YWx1ZT0iVmVyZGFuYSw5LGZhbHNlLGZhbHNlLGZhbHNlIi8+DQoJCTx1aWZvbnQgbmFtZT0iRk9OVF9TQ1JVQlNUQVRVUyIgdmFsdWU9IlZlcmRhbmEsOSx0cnVlLGZhbHNlLHRydWUiLz4NCgkJPHVpZm9udCBuYW1lPSJGT05UX1NDUlVCVElNRSIgdmFsdWU9IlZlcmRhbmEsOSxmYWxzZSxmYWxzZSx0cnVlIi8+DQoJCTx1aWZvbnQgbmFtZT0iRk9OVF9FTEFQU0VEVElNRSIgdmFsdWU9IlZlcmRhbmEsOSx0cnVlLGZhbHNlLHRydWUiLz4NCgkJPHVpZm9udCBuYW1lPSJGT05UX1VUSUxTTUVOVSIgdmFsdWU9IlZlcmRhbmEsOSx0cnVlLGZhbHNlLGZhbHNlIi8+DQoJCTx1aWZvbnQgbmFtZT0iRk9OVF9UQUJTIiB2YWx1ZT0iVmVyZGFuYSw5LHRydWUsZmFsc2UsdHJ1ZSIvPg0KCQk8dWlmb250IG5hbWU9IkZPTlRfUFJFU0VOVEFUSU9OTkFNRSIgdmFsdWU9IlZlcmRhbmEsMTQsZmFsc2UsZmFsc2UsdHJ1ZSIvPg0KCQk8dWlmb250IG5hbWU9IkZPTlRfUFJFU0VOVEVSTkFNRSIgdmFsdWU9IlZlcmRhbmEsMTAsdHJ1ZSxmYWxzZSx0cnVlIi8+DQoJCTx1aWZvbnQgbmFtZT0iRk9OVF9QUkVTRU5URVJUSVRMRSIgdmFsdWU9IlZlcmRhbmEsMTAsZmFsc2UsZmFsc2UsdHJ1ZSIvPg0KCQk8dWlmb250IG5hbWU9IkZPTlRfQklPQlROIiB2YWx1ZT0iVmVyZGFuYSwxMCxmYWxzZSxmYWxzZSx0cnVlIi8+DQoJCTx1aWZvbnQgbmFtZT0iRk9OVF9OT1RFUyIgdmFsdWU9IlZlcmRhbmEsMTEsZmFsc2UsZmFsc2UsZmFsc2UiLz4NCgkJPHVpZm9udCBuYW1lPSJGT05UX09VVExJTkUiIHZhbHVlPSJWZXJkYW5hLDExLGZhbHNlLGZhbHNlLHRydWUiLz4NCgkJPHVpZm9udCBuYW1lPSJGT05UX1NFQVJDSCIgdmFsdWU9IlZlcmRhbmEsMTEsZmFsc2UsZmFsc2UsdHJ1ZSIvPg0KCQk8dWlmb250IG5hbWU9IkZPTlRfVEhVTUIiIHZhbHVlPSJWZXJkYW5hLDksZmFsc2UsZmFsc2UsdHJ1ZSIvPg0KCQk8dWlmb250IG5hbWU9IkZPTlRfQklPV0lOIiB2YWx1ZT0iVmVyZGFuYSwxMSxmYWxzZSxmYWxzZSxmYWxzZSIvPg0KCQk8dWlmb250IG5hbWU9IkZPTlRfTElTVEhFQURJTkciIHZhbHVlPSJWZXJkYW5hLDksZmFsc2UsZmFsc2UsZmFsc2UiLz4NCgkJPHVpZm9udCBuYW1lPSJGT05UX1dJTlRJVExFIiB2YWx1ZT0iVmVyZGFuYSw5LGZhbHNlLGZhbHNlLHRydWUiLz4NCgkJPHVpZm9udCBuYW1lPSJGT05UX0FUVEFDSE1FTlRTIiB2YWx1ZT0iVmVyZGFuYSwxMSxmYWxzZSxmYWxzZSx0cnVlIi8+DQoJCTwhLS1xdWl6IHBvZCBhbmQgbWVzc2FnZSBib3ggdGV4dCBmb250cy0tPg0KCQk8dWlmb250IG5hbWU9IkZPTlRfTVNHQk9YX1dJTlRJVExFIiB2YWx1ZT0iVmVyZGFuYSwxMSx0cnVlLGZhbHNlLHRydWUiLz4NCgkJPHVpZm9udCBuYW1lPSJGT05UX01TR0JPWF9NU0ciIHZhbHVlPSJWZXJkYW5hLDExLGZhbHNlLGZhbHNlLHRydWUiLz4NCgkJPHVpZm9udCBuYW1lPSJGT05UX01TR0JPWF9PUFRJT05TIiB2YWx1ZT0iVmVyZGFuYSw5LHRydWUsZmFsc2UsdHJ1ZSIvPg0KCQk8dWlmb250IG5hbWU9IkZPTlRfUVVJWlBPRF9RVUlaX1RJVExFIiB2YWx1ZT0iVmVyZGFuYSwxMSx0cnVlLGZhbHNlLHRydWUiLz4NCgkJPHVpZm9udCBuYW1lPSJGT05UX1FVSVpQT0RfUVVJWl9BVFRFTVBUIiB2YWx1ZT0iVmVyZGFuYSw5LGZhbHNlLGZhbHNlLHRydWUiLz4NCgkJPHVpZm9udCBuYW1lPSJGT05UX1FVSVpQT0RfUVVJWl9BVFRFTVBUX1ZBTFVFIiB2YWx1ZT0iVmVyZGFuYSw5LHRydWUsZmFsc2UsdHJ1ZSIvPg0KCQk8dWlmb250IG5hbWU9IkZPTlRfUVVJWlBPRF9RVUVTVElPTl9TQ09SRSIgdmFsdWU9IlZlcmRhbmEsOSxmYWxzZSxmYWxzZSx0cnVlIi8+DQoJCTx1aWZvbnQgbmFtZT0iRk9OVF9RVUlaUE9EX1FVRVNUSU9OX1NDT1JFX1ZBTFVFIiB2YWx1ZT0iVmVyZGFuYSw5LHRydWUsZmFsc2UsdHJ1ZSIvPg0KCQk8dWlmb250IG5hbWU9IkZPTlRfUVVJWlBPRF9RVUVTVElPTl9BVFRFTVBUIiB2YWx1ZT0iVmVyZGFuYSw5LGZhbHNlLGZhbHNlLHRydWUiLz4NCgkJPHVpZm9udCBuYW1lPSJGT05UX1FVSVpQT0RfUVVFU1RJT05fQVRURU1QVF9WQUxVRSIgdmFsdWU9IlZlcmRhbmEsOSx0cnVlLGZhbHNlLHRydWUiLz4NCgkJPHVpZm9udCBuYW1lPSJGT05UX1FVSVpQT0RfUVVFU1RJT05fVEFHIiB2YWx1ZT0iVmVyZGFuYSwxMSx0cnVlLGZhbHNlLHRydWUiLz4NCgkJPHVpZm9udCBuYW1lPSJGT05UX1FVSVpQT0RfUVVJWl9RVUVTVElPTl9DT1VOVCIgdmFsdWU9IlZlcmRhbmEsOSxmYWxzZSxmYWxzZSx0cnVlIi8+DQoJCTx1aWZvbnQgbmFtZT0iRk9OVF9RVUlaUE9EX1FVSVpfUVVFU1RJT05fQ09VTlRfVkFMVUUiIHZhbHVlPSJWZXJkYW5hLDksdHJ1ZSxmYWxzZSx0cnVlIi8+DQoJCTx1aWZvbnQgbmFtZT0iRk9OVF9RVUlaUE9EX1FVSVpfUVVFU1RJT05fQVRURU1QVEVEIiB2YWx1ZT0iVmVyZGFuYSw5LGZhbHNlLGZhbHNlLHRydWUiLz4NCgkJPHVpZm9udCBuYW1lPSJGT05UX1FVSVpQT0RfUVVJWl9RVUVTVElPTl9BVFRFTVBURURfVkFMVUUiIHZhbHVlPSJWZXJkYW5hLDksdHJ1ZSxmYWxzZSx0cnVlIi8+DQoJCTx1aWZvbnQgbmFtZT0iRk9OVF9RVUlaUE9EX1FVSVpfU0NPUkVfVEFHIiB2YWx1ZT0iVmVyZGFuYSwxMSx0cnVlLGZhbHNlLHRydWUiLz4NCgkJPHVpZm9udCBuYW1lPSJGT05UX1FVSVpQT0RfUVVJWl9TQ09SRSIgdmFsdWU9IlZlcmRhbmEsOSxmYWxzZSxmYWxzZSx0cnVlIi8+DQoJCTx1aWZvbnQgbmFtZT0iRk9OVF9RVUlaUE9EX1FVSVpfU0NPUkVfVkFMVUUiIHZhbHVlPSJWZXJkYW5hLDksdHJ1ZSxmYWxzZSx0cnVlIi8+DQoJCTx1aWZvbnQgbmFtZT0iRk9OVF9RVUlaUE9EX1FVSVpfTUFYU0NPUkUiIHZhbHVlPSJWZXJkYW5hLDksZmFsc2UsZmFsc2UsdHJ1ZSIvPg0KCQk8dWlmb250IG5hbWU9IkZPTlRfUVVJWlBPRF9RVUlaX01BWFNDT1JFX1ZBTFVFIiB2YWx1ZT0iVmVyZGFuYSw5LHRydWUsZmFsc2UsdHJ1ZSIvPg0KCQk8dWlmb250IG5hbWU9IkZPTlRfUVVJWlBPRF9RVUlaX1BBU1NTQ09SRSIgdmFsdWU9IlZlcmRhbmEsOSxmYWxzZSxmYWxzZSx0cnVlIi8+DQoJCTx1aWZvbnQgbmFtZT0iRk9OVF9RVUlaUE9EX1FVSVpfUEFTU1NDT1JFX1ZBTFVFIiB2YWx1ZT0iVmVyZGFuYSw5LHRydWUsZmFsc2UsdHJ1ZSIvPg0KCQk8IS0tIHVpdGV4dCAtLT4NCgkJPCEtLSBzdWJzdGl0dXRpb246ICVuID09IHNsaWRlIG51bWJlciAtLT4NCgkJPHVpdGV4dCBuYW1lPSJBVFRBQ0hNRU5UX1BSRVZJRVdfV0FSTklOR01TR19USVRMRVNUUklORyIgdmFsdWU9IkF2aXNvIGRlIGFyY2hpdm8gYWRqdW50byIvPg0KCQk8dWl0ZXh0IG5hbWU9IkFUVEFDSE1FTlRfUFJFVklFV19XQVJOSU5HTVNHIiB2YWx1ZT0iTm8gZXMgcG9zaWJsZSBhYnJpciBsb3MgYXJjaGl2b3MgYWRqdW50b3MgZW4gZWwgbW9kbyBkZSBwcmV2aXN1YWxpemFjacOzbi4gVXNlIFB1YmxpY2FyIHBhcmEgdmVyIGxvcyByZXN1bHRhZG9zLiIvPg0KCQk8dWl0ZXh0IG5hbWU9IkNPTExBQl9MT0NBTF9QTEFZQkFDS19NU0ciIHZhbHVlPSJFbCBjb250ZW5pZG8gc2UgZXN0w6EgcmVwcm9kdWNpZW5kbyBsb2NhbG1lbnRlLiBMYSBjb2xhYm9yYWNpw7NuIG5vIGZ1bmNpb25hIGVuIGVzdGUgbW9kby4iLz4NCgkJPHVpdGV4dCBuYW1lPSJDT0xMQUJfTE9DQUxfUExBWUJBQ0tfVElUTEUiIHZhbHVlPSJSZXByb2R1Y2Npw7NuIGxvY2FsIi8+DQoJCTx1aXRleHQgbmFtZT0iQ09MTEFCX0xPQ0FMX1BMQVlCQUNLQlROIiB2YWx1ZT0iT2siLz4NCgkJPHVpdGV4dCBuYW1lPSJVTk5BTUVEU0xJREVUSVRMRSIgdmFsdWU9IkRpYXBvc2l0aXZhICVuIi8+DQoJCTwhLS0gc3Vic3RpdHV0aW9uOiAlbiA9PSBzbGlkZSBudW1iZXIgLS0+DQoJCTwhLS0gc3Vic3RpdHV0aW9uOiAldCA9PSB0b3RhbCBzbGlkZSBjb3VudCAtLT4NCgkJPHVpdGV4dCBuYW1lPSJTQ1JVQkJBUlNUQVRVU19TTElERUlORk8iIHZhbHVlPSJEaWFwb3NpdGl2YSAlbiAvICV0IHwgIi8+DQoJCTx1aXRleHQgbmFtZT0iU0NSVUJCQVJTVEFUVVNfU1RPUFBFRCIgdmFsdWU9IkRldGVuaWRhIi8+DQoJCTx1aXRleHQgbmFtZT0iU0NSVUJCQVJTVEFUVVNfUExBWUlORyIgdmFsdWU9IlJlcHJvZHVjaWVuZG8iLz4NCgkJPHVpdGV4dCBuYW1lPSJTQ1JVQkJBUlNUQVRVU19OT0FVRElPIiB2YWx1ZT0iU2luIHNvbmlkbyIvPg0KCQk8dWl0ZXh0IG5hbWU9IlNDUlVCQkFSU1RBVFVTX1ZJRFBMQVlJTkciIHZhbHVlPSJWw61kZW8gZW4gcmVwcm9kLiIvPg0KCQk8dWl0ZXh0IG5hbWU9IlNDUlVCQkFSU1RBVFVTX0xPQURJTkciIHZhbHVlPSJDYXJnYW5kbyIvPg0KCQk8dWl0ZXh0IG5hbWU9IlNDUlVCQkFSU1RBVFVTX0JVRkZFUklORyIgdmFsdWU9IkFsbWFjZW5hbmRvIGVuIGLDumZlciIvPg0KCQk8dWl0ZXh0IG5hbWU9IlNDUlVCQkFSU1RBVFVTX1FVRVNUSU9OIiB2YWx1ZT0iQ29udGVzdGFyIHByZWd1bnRhIi8+DQoJCTx1aXRleHQgbmFtZT0iU0NSVUJCQVJTVEFUVVNfUkVWSUVXUVVJWiIgdmFsdWU9IlJldmlzYW5kbyBwcnVlYmEiLz4NCgkJPCEtLSBzdWJzdGl0dXRpb246ICVtID09IG1pbnV0ZXMgcmVtYWluaW5nIC0tPg0KCQk8IS0tIHN1YnN0aXR1dGlvbjogJXMgPT0gc2Vjb25kcyByZW1haW5pbmcgLS0+DQoJCTx1aXRleHQgbmFtZT0iRUxBUFNFRCIgdmFsdWU9IiVtIG1pbnV0b3MgJXMgc2VndW5kb3MgcmVzdGFudGVzIi8+DQoJCTx1aXRleHQgbmFtZT0iTk9URk9VTkQiIHZhbHVlPSJObyBzZSBoYSBlbmNvbnRyYWRvIG5hZGEiLz4NCgkJPHVpdGV4dCBuYW1lPSJBVFRBQ0hNRU5UUyIgdmFsdWU9IkFyY2hpdm9zIGFkanVudG9zIi8+DQoJCTwhLS0gc3Vic3RpdHV0aW9uOiAlcCA9PSBjdXJyZW50IHNwZWFrZXIncyB0aXRsZSAtLT4NCgkJPHVpdGV4dCBuYW1lPSJCSU9XSU5fVElUTEUiIHZhbHVlPSJCaW9ncmFmw61hOiAlcCIvPg0KCQk8dWl0ZXh0IG5hbWU9IkJJT0JUTl9USVRMRSIgdmFsdWU9IkJpb2dyYWbDrWEiLz4NCgkJPHVpdGV4dCBuYW1lPSJESVZJREVSQlROX1RJVExFIiB2YWx1ZT0ifCIvPg0KCQk8dWl0ZXh0IG5hbWU9IkNPTlRBQ1RCVE5fVElUTEUiIHZhbHVlPSJDb250YWN0byIvPg0KCQk8dWl0ZXh0IG5hbWU9IlRBQl9RVUlaIiB2YWx1ZT0iUHJ1ZWJhIi8+DQoJCTx1aXRleHQgbmFtZT0iVEFCX09VVExJTkUiIHZhbHVlPSJDb250b3JubyIvPg0KCQk8dWl0ZXh0IG5hbWU9IlRBQl9USFVNQiIgdmFsdWU9Ik1pbmlhdC4iLz4NCgkJPHVpdGV4dCBuYW1lPSJUQUJfTk9URVMiIHZhbHVlPSJOb3RhcyIvPg0KCQk8dWl0ZXh0IG5hbWU9IlRBQl9TRUFSQ0giIHZhbHVlPSJCdXNjYXIiLz4NCgkJPHVpdGV4dCBuYW1lPSJTTElERV9IRUFESU5HIiB2YWx1ZT0iVMOtdHVsbyBkZSBkaWFwb3NpdGl2YSIvPg0KCQk8dWl0ZXh0IG5hbWU9IkRVUkFUSU9OX0hFQURJTkciIHZhbHVlPSJEdXJhYy4iLz4NCgkJPHVpdGV4dCBuYW1lPSJTRUFSQ0hfSEVBRElORyIgdmFsdWU9IkJ1c2NhciB0ZXh0bzoiLz4NCgkJPHVpdGV4dCBuYW1lPSJUSFVNQl9IRUFESU5HIiB2YWx1ZT0iRGlhcG9zaXRpdmEiLz4NCgkJPHVpdGV4dCBuYW1lPSJUSFVNQl9JTkZPIiB2YWx1ZT0iRHVyLi9Uw610LiBkaWFwLiIvPg0KCQk8dWl0ZXh0IG5hbWU9IkFUVEFDSE5BTUVfSEVBRElORyIgdmFsdWU9Ik5vbWJyZSBkZSBhcmNoaXZvIi8+DQoJCTx1aXRleHQgbmFtZT0iQVRUQUNIU0laRV9IRUFESU5HIiB2YWx1ZT0iVGFtYcOxbyIvPg0KCQk8dWl0ZXh0IG5hbWU9IlNMSURFX05PVEVTIiB2YWx1ZT0iTm90YXMgZGUgZGlhcG9zaXRpdmEiLz4NCgkJPHVpdGV4dCBuYW1lPSJDT1VSU0VfU1RBVFVTIiB2YWx1ZT0iRXN0YWRvIGRlIG1vZHVsbyIvPg0KCQk8dWl0ZXh0IG5hbWU9IlBBU1NFRF9TVFJJTkciIHZhbHVlPSJBcHJvYmFkbyIvPg0KCQk8dWl0ZXh0IG5hbWU9IkZBSUxFRF9TVFJJTkciIHZhbHVlPSJTdXNwZW5zbyIvPg0KCQk8IS0tcXVpeiBwb2QgYW5kIG1lc3NhZ2UgYm94IHRleHRzLS0+DQoJCTx1aXRleHQgbmFtZT0iUVVJWlBPRF9RVUlaX0FUVEVNUFQiIHZhbHVlPSJJbnRlbnRvIGRlIHBydWViYToiLz4NCgkJPHVpdGV4dCBuYW1lPSJRVUlaUE9EX1FVSVpfQVRURU1QVF9WQUxVRSIgdmFsdWU9IiVuIGRlICV0Ii8+DQoJCTx1aXRleHQgbmFtZT0iUVVJWlBPRF9RVUlaX1NDT1JFIiB2YWx1ZT0iUHVudHVhY2nDs246Ii8+DQoJCTx1aXRleHQgbmFtZT0iUVVJWlBPRF9RVUlaX1BBU1NTQ09SRSIgdmFsdWU9IlB1bnR1YWNpw7NuIHBhcmEgYXByb2JhcjoiLz4NCgkJPHVpdGV4dCBuYW1lPSJRVUlaUE9EX1FVSVpfTUFYU0NPUkUiIHZhbHVlPSJQdW50dWFjacOzbiBtw6F4aW1hOiIvPg0KCQk8dWl0ZXh0IG5hbWU9IlFVSVpQT0RfUVVFU0FUTVBUX1NUUiIgdmFsdWU9IkludGVudG9zOiAlbiBkZSAldCIvPg0KCQk8dWl0ZXh0IG5hbWU9IlFVSVpQT0RfUVVFU1RZUEVfU1RSIiB2YWx1ZT0iVGlwbzogJXMiLz4NCgkJPHVpdGV4dCBuYW1lPSJRVUlaUE9EX1FVRVNUWVBFX0dSRCIgdmFsdWU9IkNvbiBwdW50dWFjacOzbiIvPg0KCQk8dWl0ZXh0IG5hbWU9IlFVSVpQT0RfUVVFU1RZUEVfU1ZZIiB2YWx1ZT0iRW5jdWVzdGEiLz4NCgkJPHVpdGV4dCBuYW1lPSJRVUlaUE9EX1FVSVpBVE1QVF9JTkYiIHZhbHVlPSJJbmZpbml0byIvPg0KCQk8dWl0ZXh0IG5hbWU9IlFVSVpQT0RfUVVFU0FUTVBUX0lORiIgdmFsdWU9IkluZmluaXRvIi8+DQoJCTx1aXRleHQgbmFtZT0iV0FSTklOR01TR19ZRVNTVFJJTkciIHZhbHVlPSJTw60iLz4NCgkJPHVpdGV4dCBuYW1lPSJXQVJOSU5HTVNHX05PU1RSSU5HIiB2YWx1ZT0iTm8iLz4NCgkJPHVpdGV4dCBuYW1lPSJXQVJOSU5HTVNHX1RJVExFU1RSSU5HIiB2YWx1ZT0iQXZpc28gZGUgbmF2ZWdhY2nDs24gZGUgcHJ1ZWJhIi8+DQoJCTx1aXRleHQgbmFtZT0iV0FSTklOR01TR19NU0dTVFJJTkciIHZhbHVlPSJIYXkgcHJlZ3VudGFzIHNpbiBpbnRlbnRvcyBlbiBlc3RhIHBydWViYS4mI3hBOyYjeEE7UGFyYSBzYWxpciBkZSBsYSBwcnVlYmEsIGhhZ2EgY2xpYyBlbiBTw60uIFBhcmEgY29udGludWFyLCBoYWdhIGNsaWMgZW4gTm8uIi8+DQoJCTx1aXRleHQgbmFtZT0iSU5GT1JNQVRJT05fSDI2NF9GTEFTSFBMQVlFUiIgdmFsdWU9IkxhIHZlcnNpw7NuIGFjdHVhbCBkZSBGbGFzaCBQbGF5ZXIgaW5zdGFsYWRhIGVuIGVsIG9yZGVuYWRvciBubyBlcyBjb21wYXRpYmxlIGNvbiBlc3RlIHbDrWRlby4gSGFnYSBjbGljIGVuIGVsIMOhcmVhIGRlIHbDrWRlbyBwYXJhIGRlc2NhcmdhciBsYSDDumx0aW1hIHZlcnNpw7NuIGRlIEZsYXNoIFBsYXllci4iLz4NCgkJPCEtLSBzdWJzdGl0dXRpb246ICVwID09IHByZXNlbnRhdGlvbiB0aXRsZSAtLT4NCgkJPCEtLSBzdWJzdGl0dXRpb246ICVzID09IHNsaWRlIHRpdGxlIC0tPg0KCQk8IS0tIHN1YnN0aXR1dGlvbjogJW4gPT0gc2xpZGUgbnVtYmVyIC0tPg0KCQk8dWl0ZXh0IG5hbWU9IkJPT0tNQVJLIiB2YWx1ZT0iQWRvYmUgUHJlc2VudGVyOiAlcCIvPg0KCQk8IS0tIHN1YnN0aXR1dGlvbjogJXAgPT0gcHJlc2VudGF0aW9uIHRpdGxlIC0tPg0KCQk8IS0tIHN1YnN0aXR1dGlvbjogJXMgPT0gc2xpZGUgdGl0bGUgLS0+DQoJCTwhLS0gc3Vic3RpdHV0aW9uOiAlbiA9PSBzbGlkZSBudW1iZXIgLS0+DQoJCTx1aXRleHQgbmFtZT0iQk9PS01BUktTTElERSIgdmFsdWU9IkFkb2JlIFByZXNlbnRlcjogJXAgJXMiLz4NCgkJPHVpdGV4dCBuYW1lPSJTSE9XU0lERUJBUiIgdmFsdWU9Ik1vc3RyYXIgYmFycmEgbGF0ZXJhbCBhIGxvcyBwYXJ0aWNpcGFudGVzIi8+DQoJCTx1aXRleHQgbmFtZT0iTVVURSIgdmFsdWU9Ik11ZG8iLz4NCgkJPHVpdGV4dCBuYW1lPSJET0NXUkFQX1RJVExFIiB2YWx1ZT0iQXJjaGl2byBhZGp1bnRvIGRlIFByZXNlbnRlciIvPg0KCQk8dWl0ZXh0IG5hbWU9IkRPQ1dSQVBfTVNHIiB2YWx1ZT0iR3VhcmRhciBlbiBNaSBQQyIvPg0KCQk8dWl0ZXh0IG5hbWU9IkRPQ1dSQVBfUFJPTVBUIiB2YWx1ZT0iSGFnYSBjbGljIGVuIERlc2NhcmdhciIvPg0KCTwvbGFuZ3VhZ2U+DQoJPGxhbmd1YWdlIGlkPSJwdCI+DQoJCTwhLS0gZm9ybWF0IGZvciB1aWZvbnQgdmFsdWUgaXMgImZvbnQsc2l6ZSxpc2JvbGQsaXNpdGFsaWMsaXNzaGFkb3dlZCIgLS0+DQoJCTx1aWZvbnQgbmFtZT0iRk9OVF9RVUlaWklORyIgdmFsdWU9IlZlcmRhbmEsOSxmYWxzZSxmYWxzZSxmYWxzZSIvPg0KCQk8dWlmb250IG5hbWU9IkZPTlRfU0NSVUJTVEFUVVMiIHZhbHVlPSJWZXJkYW5hLDksdHJ1ZSxmYWxzZSx0cnVlIi8+DQoJCTx1aWZvbnQgbmFtZT0iRk9OVF9TQ1JVQlRJTUUiIHZhbHVlPSJWZXJkYW5hLDksZmFsc2UsZmFsc2UsdHJ1ZSIvPg0KCQk8dWlmb250IG5hbWU9IkZPTlRfRUxBUFNFRFRJTUUiIHZhbHVlPSJWZXJkYW5hLDksdHJ1ZSxmYWxzZSx0cnVlIi8+DQoJCTx1aWZvbnQgbmFtZT0iRk9OVF9VVElMU01FTlUiIHZhbHVlPSJWZXJkYW5hLDksdHJ1ZSxmYWxzZSxmYWxzZSIvPg0KCQk8dWlmb250IG5hbWU9IkZPTlRfVEFCUyIgdmFsdWU9IlZlcmRhbmEsOSx0cnVlLGZhbHNlLHRydWUiLz4NCgkJPHVpZm9udCBuYW1lPSJGT05UX1BSRVNFTlRBVElPTk5BTUUiIHZhbHVlPSJWZXJkYW5hLDE0LGZhbHNlLGZhbHNlLHRydWUiLz4NCgkJPHVpZm9udCBuYW1lPSJGT05UX1BSRVNFTlRFUk5BTUUiIHZhbHVlPSJWZXJkYW5hLDEwLHRydWUsZmFsc2UsdHJ1ZSIvPg0KCQk8dWlmb250IG5hbWU9IkZPTlRfUFJFU0VOVEVSVElUTEUiIHZhbHVlPSJWZXJkYW5hLDEwLGZhbHNlLGZhbHNlLHRydWUiLz4NCgkJPHVpZm9udCBuYW1lPSJGT05UX0JJT0JUTiIgdmFsdWU9IlZlcmRhbmEsMTAsZmFsc2UsZmFsc2UsdHJ1ZSIvPg0KCQk8dWlmb250IG5hbWU9IkZPTlRfTk9URVMiIHZhbHVlPSJWZXJkYW5hLDExLGZhbHNlLGZhbHNlLGZhbHNlIi8+DQoJCTx1aWZvbnQgbmFtZT0iRk9OVF9PVVRMSU5FIiB2YWx1ZT0iVmVyZGFuYSwxMSxmYWxzZSxmYWxzZSx0cnVlIi8+DQoJCTx1aWZvbnQgbmFtZT0iRk9OVF9TRUFSQ0giIHZhbHVlPSJWZXJkYW5hLDExLGZhbHNlLGZhbHNlLHRydWUiLz4NCgkJPHVpZm9udCBuYW1lPSJGT05UX1RIVU1CIiB2YWx1ZT0iVmVyZGFuYSw5LGZhbHNlLGZhbHNlLHRydWUiLz4NCgkJPHVpZm9udCBuYW1lPSJGT05UX0JJT1dJTiIgdmFsdWU9IlZlcmRhbmEsMTEsZmFsc2UsZmFsc2UsZmFsc2UiLz4NCgkJPHVpZm9udCBuYW1lPSJGT05UX0xJU1RIRUFESU5HIiB2YWx1ZT0iVmVyZGFuYSw5LGZhbHNlLGZhbHNlLGZhbHNlIi8+DQoJCTx1aWZvbnQgbmFtZT0iRk9OVF9XSU5USVRMRSIgdmFsdWU9IlZlcmRhbmEsOSxmYWxzZSxmYWxzZSx0cnVlIi8+DQoJCTx1aWZvbnQgbmFtZT0iRk9OVF9BVFRBQ0hNRU5UUyIgdmFsdWU9IlZlcmRhbmEsMTEsZmFsc2UsZmFsc2UsdHJ1ZSIvPg0KCQk8IS0tcXVpeiBwb2QgYW5kIG1lc3NhZ2UgYm94IHRleHQgZm9udHMtLT4NCgkJPHVpZm9udCBuYW1lPSJGT05UX01TR0JPWF9XSU5USVRMRSIgdmFsdWU9IlZlcmRhbmEsMTEsdHJ1ZSxmYWxzZSx0cnVlIi8+DQoJCTx1aWZvbnQgbmFtZT0iRk9OVF9NU0dCT1hfTVNHIiB2YWx1ZT0iVmVyZGFuYSwxMSxmYWxzZSxmYWxzZSx0cnVlIi8+DQoJCTx1aWZvbnQgbmFtZT0iRk9OVF9NU0dCT1hfT1BUSU9OUyIgdmFsdWU9IlZlcmRhbmEsOSx0cnVlLGZhbHNlLHRydWUiLz4NCgkJPHVpZm9udCBuYW1lPSJGT05UX1FVSVpQT0RfUVVJWl9USVRMRSIgdmFsdWU9IlZlcmRhbmEsMTEsdHJ1ZSxmYWxzZSx0cnVlIi8+DQoJCTx1aWZvbnQgbmFtZT0iRk9OVF9RVUlaUE9EX1FVSVpfQVRURU1QVCIgdmFsdWU9IlZlcmRhbmEsOSxmYWxzZSxmYWxzZSx0cnVlIi8+DQoJCTx1aWZvbnQgbmFtZT0iRk9OVF9RVUlaUE9EX1FVSVpfQVRURU1QVF9WQUxVRSIgdmFsdWU9IlZlcmRhbmEsOSx0cnVlLGZhbHNlLHRydWUiLz4NCgkJPHVpZm9udCBuYW1lPSJGT05UX1FVSVpQT0RfUVVFU1RJT05fU0NPUkUiIHZhbHVlPSJWZXJkYW5hLDksZmFsc2UsZmFsc2UsdHJ1ZSIvPg0KCQk8dWlmb250IG5hbWU9IkZPTlRfUVVJWlBPRF9RVUVTVElPTl9TQ09SRV9WQUxVRSIgdmFsdWU9IlZlcmRhbmEsOSx0cnVlLGZhbHNlLHRydWUiLz4NCgkJPHVpZm9udCBuYW1lPSJGT05UX1FVSVpQT0RfUVVFU1RJT05fQVRURU1QVCIgdmFsdWU9IlZlcmRhbmEsOSxmYWxzZSxmYWxzZSx0cnVlIi8+DQoJCTx1aWZvbnQgbmFtZT0iRk9OVF9RVUlaUE9EX1FVRVNUSU9OX0FUVEVNUFRfVkFMVUUiIHZhbHVlPSJWZXJkYW5hLDksdHJ1ZSxmYWxzZSx0cnVlIi8+DQoJCTx1aWZvbnQgbmFtZT0iRk9OVF9RVUlaUE9EX1FVRVNUSU9OX1RBRyIgdmFsdWU9IlZlcmRhbmEsMTEsdHJ1ZSxmYWxzZSx0cnVlIi8+DQoJCTx1aWZvbnQgbmFtZT0iRk9OVF9RVUlaUE9EX1FVSVpfUVVFU1RJT05fQ09VTlQiIHZhbHVlPSJWZXJkYW5hLDksZmFsc2UsZmFsc2UsdHJ1ZSIvPg0KCQk8dWlmb250IG5hbWU9IkZPTlRfUVVJWlBPRF9RVUlaX1FVRVNUSU9OX0NPVU5UX1ZBTFVFIiB2YWx1ZT0iVmVyZGFuYSw5LHRydWUsZmFsc2UsdHJ1ZSIvPg0KCQk8dWlmb250IG5hbWU9IkZPTlRfUVVJWlBPRF9RVUlaX1FVRVNUSU9OX0FUVEVNUFRFRCIgdmFsdWU9IlZlcmRhbmEsOSxmYWxzZSxmYWxzZSx0cnVlIi8+DQoJCTx1aWZvbnQgbmFtZT0iRk9OVF9RVUlaUE9EX1FVSVpfUVVFU1RJT05fQVRURU1QVEVEX1ZBTFVFIiB2YWx1ZT0iVmVyZGFuYSw5LHRydWUsZmFsc2UsdHJ1ZSIvPg0KCQk8dWlmb250IG5hbWU9IkZPTlRfUVVJWlBPRF9RVUlaX1NDT1JFX1RBRyIgdmFsdWU9IlZlcmRhbmEsMTEsdHJ1ZSxmYWxzZSx0cnVlIi8+DQoJCTx1aWZvbnQgbmFtZT0iRk9OVF9RVUlaUE9EX1FVSVpfU0NPUkUiIHZhbHVlPSJWZXJkYW5hLDksZmFsc2UsZmFsc2UsdHJ1ZSIvPg0KCQk8dWlmb250IG5hbWU9IkZPTlRfUVVJWlBPRF9RVUlaX1NDT1JFX1ZBTFVFIiB2YWx1ZT0iVmVyZGFuYSw5LHRydWUsZmFsc2UsdHJ1ZSIvPg0KCQk8dWlmb250IG5hbWU9IkZPTlRfUVVJWlBPRF9RVUlaX01BWFNDT1JFIiB2YWx1ZT0iVmVyZGFuYSw5LGZhbHNlLGZhbHNlLHRydWUiLz4NCgkJPHVpZm9udCBuYW1lPSJGT05UX1FVSVpQT0RfUVVJWl9NQVhTQ09SRV9WQUxVRSIgdmFsdWU9IlZlcmRhbmEsOSx0cnVlLGZhbHNlLHRydWUiLz4NCgkJPHVpZm9udCBuYW1lPSJGT05UX1FVSVpQT0RfUVVJWl9QQVNTU0NPUkUiIHZhbHVlPSJWZXJkYW5hLDksZmFsc2UsZmFsc2UsdHJ1ZSIvPg0KCQk8dWlmb250IG5hbWU9IkZPTlRfUVVJWlBPRF9RVUlaX1BBU1NTQ09SRV9WQUxVRSIgdmFsdWU9IlZlcmRhbmEsOSx0cnVlLGZhbHNlLHRydWUiLz4NCgkJPCEtLSB1aXRleHQgLS0+DQoJCTwhLS0gc3Vic3RpdHV0aW9uOiAlbiA9PSBzbGlkZSBudW1iZXIgLS0+DQoJCTx1aXRleHQgbmFtZT0iQVRUQUNITUVOVF9QUkVWSUVXX1dBUk5JTkdNU0dfVElUTEVTVFJJTkciIHZhbHVlPSJBdmlzbyBkZSBhbmV4byIvPg0KCQk8dWl0ZXh0IG5hbWU9IkFUVEFDSE1FTlRfUFJFVklFV19XQVJOSU5HTVNHIiB2YWx1ZT0iT3MgYW5leG9zIG7Do28gc8OjbyBhYmVydG9zIG5vIG1vZG8gZGUgVmlzdWFsaXphw6fDo28uIFVzZSBvIGNvbWFuZG8gZGUgcHVibGljYcOnw6NvIHBhcmEgdmVyIG9zIHJlc3VsdGFkb3MuIi8+DQoJCTx1aXRleHQgbmFtZT0iQ09MTEFCX0xPQ0FMX1BMQVlCQUNLX01TRyIgdmFsdWU9Ik8gY29udGXDumRvIGVzdMOhIHNlbmRvIHJlcHJvZHV6aWRvIGxvY2FsbWVudGUuQSBjb2xhYm9yYcOnw6NvIG7Do28gZnVuY2lvbmEgbmVzdGUgbW9kby4iLz4NCgkJPHVpdGV4dCBuYW1lPSJDT0xMQUJfTE9DQUxfUExBWUJBQ0tfVElUTEUiIHZhbHVlPSJSZXByb2R1w6fDo28gbG9jYWwiLz4NCgkJPHVpdGV4dCBuYW1lPSJDT0xMQUJfTE9DQUxfUExBWUJBQ0tCVE4iIHZhbHVlPSJPayIvPg0KCQk8dWl0ZXh0IG5hbWU9IlVOTkFNRURTTElERVRJVExFIiB2YWx1ZT0iU2xpZGUgJW4iLz4NCgkJPCEtLSBzdWJzdGl0dXRpb246ICVuID09IHNsaWRlIG51bWJlciAtLT4NCgkJPCEtLSBzdWJzdGl0dXRpb246ICV0ID09IHRvdGFsIHNsaWRlIGNvdW50IC0tPg0KCQk8dWl0ZXh0IG5hbWU9IlNDUlVCQkFSU1RBVFVTX1NMSURFSU5GTyIgdmFsdWU9IlNsaWRlICVuIC8gJXQgfCAiLz4NCgkJPHVpdGV4dCBuYW1lPSJTQ1JVQkJBUlNUQVRVU19TVE9QUEVEIiB2YWx1ZT0iUGFyYWRvIi8+DQoJCTx1aXRleHQgbmFtZT0iU0NSVUJCQVJTVEFUVVNfUExBWUlORyIgdmFsdWU9IlJlcHJvZHV6aW5kbyIvPg0KCQk8dWl0ZXh0IG5hbWU9IlNDUlVCQkFSU1RBVFVTX05PQVVESU8iIHZhbHVlPSJTZW0gw6F1ZGlvIi8+DQoJCTx1aXRleHQgbmFtZT0iU0NSVUJCQVJTVEFUVVNfVklEUExBWUlORyIgdmFsdWU9IlbDrWRlbyBlbSByZXByb2R1w6fDo28iLz4NCgkJPHVpdGV4dCBuYW1lPSJTQ1JVQkJBUlNUQVRVU19MT0FESU5HIiB2YWx1ZT0iQ2FycmVnYW5kbyIvPg0KCQk8dWl0ZXh0IG5hbWU9IlNDUlVCQkFSU1RBVFVTX0JVRkZFUklORyIgdmFsdWU9IkFybWF6ZW5hbmRvIGVtIGJ1ZmZlciIvPg0KCQk8dWl0ZXh0IG5hbWU9IlNDUlVCQkFSU1RBVFVTX1FVRVNUSU9OIiB2YWx1ZT0iUmVzcG9uZGVyIHBlcmd1bnRhIi8+DQoJCTx1aXRleHQgbmFtZT0iU0NSVUJCQVJTVEFUVVNfUkVWSUVXUVVJWiIgdmFsdWU9IlJldmlzYW5kbyBxdWVzdGlvbsOhcmlvIi8+DQoJCTwhLS0gc3Vic3RpdHV0aW9uOiAlbSA9PSBtaW51dGVzIHJlbWFpbmluZyAtLT4NCgkJPCEtLSBzdWJzdGl0dXRpb246ICVzID09IHNlY29uZHMgcmVtYWluaW5nIC0tPg0KCQk8dWl0ZXh0IG5hbWU9IkVMQVBTRUQiIHZhbHVlPSIlbSBtaW51dG9zICVzIHNlZ3VuZG9zIHJlc3RhbnRlcyIvPg0KCQk8dWl0ZXh0IG5hbWU9Ik5PVEZPVU5EIiB2YWx1ZT0iTmFkYSBlbmNvbnRyYWRvIi8+DQoJCTx1aXRleHQgbmFtZT0iQVRUQUNITUVOVFMiIHZhbHVlPSJBbmV4b3MiLz4NCgkJPCEtLSBzdWJzdGl0dXRpb246ICVwID09IGN1cnJlbnQgc3BlYWtlcidzIHRpdGxlIC0tPg0KCQk8dWl0ZXh0IG5hbWU9IkJJT1dJTl9USVRMRSIgdmFsdWU9IkJpbzogJXAiLz4NCgkJPHVpdGV4dCBuYW1lPSJCSU9CVE5fVElUTEUiIHZhbHVlPSJCaW8iLz4NCgkJPHVpdGV4dCBuYW1lPSJESVZJREVSQlROX1RJVExFIiB2YWx1ZT0ifCIvPg0KCQk8dWl0ZXh0IG5hbWU9IkNPTlRBQ1RCVE5fVElUTEUiIHZhbHVlPSJDb250YXRvIi8+DQoJCTx1aXRleHQgbmFtZT0iVEFCX1FVSVoiIHZhbHVlPSJRdWVzdC4iLz4NCgkJPHVpdGV4dCBuYW1lPSJUQUJfT1VUTElORSIgdmFsdWU9IkVzcXVlbWEiLz4NCgkJPHVpdGV4dCBuYW1lPSJUQUJfVEhVTUIiIHZhbHVlPSJNaW5pIi8+DQoJCTx1aXRleHQgbmFtZT0iVEFCX05PVEVTIiB2YWx1ZT0iTm90YXMiLz4NCgkJPHVpdGV4dCBuYW1lPSJUQUJfU0VBUkNIIiB2YWx1ZT0iQnVzY2EiLz4NCgkJPHVpdGV4dCBuYW1lPSJTTElERV9IRUFESU5HIiB2YWx1ZT0iVMOtdHVsbyBkbyBzbGlkZSIvPg0KCQk8dWl0ZXh0IG5hbWU9IkRVUkFUSU9OX0hFQURJTkciIHZhbHVlPSJEdXJhw6fDo28iLz4NCgkJPHVpdGV4dCBuYW1lPSJTRUFSQ0hfSEVBRElORyIgdmFsdWU9IlByb2N1cmFyIHRleHRvOiIvPg0KCQk8dWl0ZXh0IG5hbWU9IlRIVU1CX0hFQURJTkciIHZhbHVlPSJTbGlkZSIvPg0KCQk8dWl0ZXh0IG5hbWU9IlRIVU1CX0lORk8iIHZhbHVlPSJUw610dWxvL0R1cmHDp8OjbyBkbyBzbGlkZSIvPg0KCQk8dWl0ZXh0IG5hbWU9IkFUVEFDSE5BTUVfSEVBRElORyIgdmFsdWU9Ik5vbWUgZG8gYXJxdWl2byIvPg0KCQk8dWl0ZXh0IG5hbWU9IkFUVEFDSFNJWkVfSEVBRElORyIgdmFsdWU9IlRhbWFuaG8iLz4NCgkJPHVpdGV4dCBuYW1lPSJTTElERV9OT1RFUyIgdmFsdWU9IkFub3Rhw6fDtWVzIGRvIHNsaWRlIi8+DQoJCTx1aXRleHQgbmFtZT0iQ09VUlNFX1NUQVRVUyIgdmFsdWU9IlN0YXR1cyBkbyBtw7NkdWxvIi8+DQoJCTx1aXRleHQgbmFtZT0iUEFTU0VEX1NUUklORyIgdmFsdWU9IkFwcm92YWRvIi8+DQoJCTx1aXRleHQgbmFtZT0iRkFJTEVEX1NUUklORyIgdmFsdWU9IlJlcHJvdmFkbyIvPg0KCQk8IS0tcXVpeiBwb2QgYW5kIG1lc3NhZ2UgYm94IHRleHRzLS0+DQoJCTx1aXRleHQgbmFtZT0iUVVJWlBPRF9RVUlaX0FUVEVNUFQiIHZhbHVlPSJUZW50YXRpdmEgbm8gcXVlc3Rpb27DoXJpbzoiLz4NCgkJPHVpdGV4dCBuYW1lPSJRVUlaUE9EX1FVSVpfQVRURU1QVF9WQUxVRSIgdmFsdWU9IiVuIGRlICV0Ii8+DQoJCTx1aXRleHQgbmFtZT0iUVVJWlBPRF9RVUlaX1NDT1JFIiB2YWx1ZT0iUG9udHVhw6fDo286Ii8+DQoJCTx1aXRleHQgbmFtZT0iUVVJWlBPRF9RVUlaX1BBU1NTQ09SRSIgdmFsdWU9IlBvbnR1YcOnw6NvIGRlIGFwcm92YcOnw6NvOiIvPg0KCQk8dWl0ZXh0IG5hbWU9IlFVSVpQT0RfUVVJWl9NQVhTQ09SRSIgdmFsdWU9IlBvbnR1YcOnw6NvIG3DoXhpbWE6Ii8+DQoJCTx1aXRleHQgbmFtZT0iUVVJWlBPRF9RVUVTQVRNUFRfU1RSIiB2YWx1ZT0iVGVudGF0aXZhOiAlbiBkZSAldCIvPg0KCQk8dWl0ZXh0IG5hbWU9IlFVSVpQT0RfUVVFU1RZUEVfU1RSIiB2YWx1ZT0iVGlwbzogJXMiLz4NCgkJPHVpdGV4dCBuYW1lPSJRVUlaUE9EX1FVRVNUWVBFX0dSRCIgdmFsdWU9IkNsYXNzaWZpY2F0w7NyaWEiLz4NCgkJPHVpdGV4dCBuYW1lPSJRVUlaUE9EX1FVRVNUWVBFX1NWWSIgdmFsdWU9IlBlc3F1aXNhIi8+DQoJCTx1aXRleHQgbmFtZT0iUVVJWlBPRF9RVUlaQVRNUFRfSU5GIiB2YWx1ZT0iSW5maW5pdG8iLz4NCgkJPHVpdGV4dCBuYW1lPSJRVUlaUE9EX1FVRVNBVE1QVF9JTkYiIHZhbHVlPSJJbmZpbml0byIvPg0KCQk8dWl0ZXh0IG5hbWU9IldBUk5JTkdNU0dfWUVTU1RSSU5HIiB2YWx1ZT0iU2ltIi8+DQoJCTx1aXRleHQgbmFtZT0iV0FSTklOR01TR19OT1NUUklORyIgdmFsdWU9Ik7Do28iLz4NCgkJPHVpdGV4dCBuYW1lPSJXQVJOSU5HTVNHX1RJVExFU1RSSU5HIiB2YWx1ZT0iQWxlcnRhIGRlIG5hdmVnYcOnw6NvIGRvIHF1ZXN0aW9uw6FyaW8iLz4NCgkJPHVpdGV4dCBuYW1lPSJXQVJOSU5HTVNHX01TR1NUUklORyIgdmFsdWU9IkV4aXN0ZW0gcGVyZ3VudGFzIHF1ZSBuw6NvIGZvcmFtIHJlc3BvbmRpZGFzIG5lc3RlIHF1ZXN0aW9uw6FyaW8uJiN4QTsmI3hBO0NsaXF1ZSBlbSBTaW0gcGFyYSBzYWlyIGRvIHF1ZXN0aW9uw6FyaW8gb3UgZW0gTsOjbyBzZSBxdWlzZXIgY29udGludWFyLiIvPg0KCQk8dWl0ZXh0IG5hbWU9IklORk9STUFUSU9OX0gyNjRfRkxBU0hQTEFZRVIiIHZhbHVlPSJBIHZlcnPDo28gYXR1YWwgZG8gRmxhc2ggUGxheWVyIGluc3RhbGFkYSBubyBjb21wdXRhZG9yIG7Do28gb2ZlcmVjZSBzdXBvcnRlIGEgZXNzZSB2w61kZW8uIENsaXF1ZSBuYSDDoXJlYSBkbyB2w61kZW8gcGFyYSBiYWl4YXIgYSB2ZXJzw6NvIG1haXMgcmVjZW50ZSBkbyBGbGFzaCBQbGF5ZXIuIi8+DQoJCTwhLS0gc3Vic3RpdHV0aW9uOiAlcCA9PSBwcmVzZW50YXRpb24gdGl0bGUgLS0+DQoJCTwhLS0gc3Vic3RpdHV0aW9uOiAlcyA9PSBzbGlkZSB0aXRsZSAtLT4NCgkJPCEtLSBzdWJzdGl0dXRpb246ICVuID09IHNsaWRlIG51bWJlciAtLT4NCgkJPHVpdGV4dCBuYW1lPSJCT09LTUFSSyIgdmFsdWU9IkFkb2JlIFByZXNlbnRlciAtICVwIi8+DQoJCTwhLS0gc3Vic3RpdHV0aW9uOiAlcCA9PSBwcmVzZW50YXRpb24gdGl0bGUgLS0+DQoJCTwhLS0gc3Vic3RpdHV0aW9uOiAlcyA9PSBzbGlkZSB0aXRsZSAtLT4NCgkJPCEtLSBzdWJzdGl0dXRpb246ICVuID09IHNsaWRlIG51bWJlciAtLT4NCgkJPHVpdGV4dCBuYW1lPSJCT09LTUFSS1NMSURFIiB2YWx1ZT0iQWRvYmUgUHJlc2VudGVyIC0gJXAgJXMiLz4NCgkJPHVpdGV4dCBuYW1lPSJTSE9XU0lERUJBUiIgdmFsdWU9Ik1vc3RyYXIgYmFycmEgbGF0ZXJhbCBhbyBwYXJ0aWNpcGFudGVzIi8+DQoJCTx1aXRleHQgbmFtZT0iTVVURSIgdmFsdWU9Ik11ZG8iLz4NCgkJPHVpdGV4dCBuYW1lPSJET0NXUkFQX1RJVExFIiB2YWx1ZT0iQW5leG8gZGUgYXJxdWl2byBkbyBQcmVzZW50ZXIiLz4NCgkJPHVpdGV4dCBuYW1lPSJET0NXUkFQX01TRyIgdmFsdWU9IlNhbHZhciBlbSBNZXUgY29tcHV0YWRvciIvPg0KCQk8dWl0ZXh0IG5hbWU9IkRPQ1dSQVBfUFJPTVBUIiB2YWx1ZT0iQ2xpcXVlIHBhcmEgYmFpeGFyIi8+DQoJPC9sYW5ndWFnZT4NCgk8bGFuZ3VhZ2UgaWQ9Iml0Ij4NCgkJPCEtLSBmb3JtYXQgZm9yIHVpZm9udCB2YWx1ZSBpcyAiZm9udCxzaXplLGlzYm9sZCxpc2l0YWxpYyxpc3NoYWRvd2VkIiAtLT4NCgkJPHVpZm9udCBuYW1lPSJGT05UX1FVSVpaSU5HIiB2YWx1ZT0iVmVyZGFuYSw5LGZhbHNlLGZhbHNlLGZhbHNlIi8+DQoJCTx1aWZvbnQgbmFtZT0iRk9OVF9TQ1JVQlNUQVRVUyIgdmFsdWU9IlZlcmRhbmEsOSx0cnVlLGZhbHNlLHRydWUiLz4NCgkJPHVpZm9udCBuYW1lPSJGT05UX1NDUlVCVElNRSIgdmFsdWU9IlZlcmRhbmEsOSxmYWxzZSxmYWxzZSx0cnVlIi8+DQoJCTx1aWZvbnQgbmFtZT0iRk9OVF9FTEFQU0VEVElNRSIgdmFsdWU9IlZlcmRhbmEsOSx0cnVlLGZhbHNlLHRydWUiLz4NCgkJPHVpZm9udCBuYW1lPSJGT05UX1VUSUxTTUVOVSIgdmFsdWU9IlZlcmRhbmEsOSx0cnVlLGZhbHNlLGZhbHNlIi8+DQoJCTx1aWZvbnQgbmFtZT0iRk9OVF9UQUJTIiB2YWx1ZT0iVmVyZGFuYSw5LHRydWUsZmFsc2UsdHJ1ZSIvPg0KCQk8dWlmb250IG5hbWU9IkZPTlRfUFJFU0VOVEFUSU9OTkFNRSIgdmFsdWU9IlZlcmRhbmEsMTQsZmFsc2UsZmFsc2UsdHJ1ZSIvPg0KCQk8dWlmb250IG5hbWU9IkZPTlRfUFJFU0VOVEVSTkFNRSIgdmFsdWU9IlZlcmRhbmEsMTAsdHJ1ZSxmYWxzZSx0cnVlIi8+DQoJCTx1aWZvbnQgbmFtZT0iRk9OVF9QUkVTRU5URVJUSVRMRSIgdmFsdWU9IlZlcmRhbmEsMTAsZmFsc2UsZmFsc2UsdHJ1ZSIvPg0KCQk8dWlmb250IG5hbWU9IkZPTlRfQklPQlROIiB2YWx1ZT0iVmVyZGFuYSwxMCxmYWxzZSxmYWxzZSx0cnVlIi8+DQoJCTx1aWZvbnQgbmFtZT0iRk9OVF9OT1RFUyIgdmFsdWU9IlZlcmRhbmEsMTEsZmFsc2UsZmFsc2UsZmFsc2UiLz4NCgkJPHVpZm9udCBuYW1lPSJGT05UX09VVExJTkUiIHZhbHVlPSJWZXJkYW5hLDExLGZhbHNlLGZhbHNlLHRydWUiLz4NCgkJPHVpZm9udCBuYW1lPSJGT05UX1NFQVJDSCIgdmFsdWU9IlZlcmRhbmEsMTEsZmFsc2UsZmFsc2UsdHJ1ZSIvPg0KCQk8dWlmb250IG5hbWU9IkZPTlRfVEhVTUIiIHZhbHVlPSJWZXJkYW5hLDksZmFsc2UsZmFsc2UsdHJ1ZSIvPg0KCQk8dWlmb250IG5hbWU9IkZPTlRfQklPV0lOIiB2YWx1ZT0iVmVyZGFuYSwxMSxmYWxzZSxmYWxzZSxmYWxzZSIvPg0KCQk8dWlmb250IG5hbWU9IkZPTlRfTElTVEhFQURJTkciIHZhbHVlPSJWZXJkYW5hLDksZmFsc2UsZmFsc2UsZmFsc2UiLz4NCgkJPHVpZm9udCBuYW1lPSJGT05UX1dJTlRJVExFIiB2YWx1ZT0iVmVyZGFuYSw5LGZhbHNlLGZhbHNlLHRydWUiLz4NCgkJPHVpZm9udCBuYW1lPSJGT05UX0FUVEFDSE1FTlRTIiB2YWx1ZT0iVmVyZGFuYSwxMSxmYWxzZSxmYWxzZSx0cnVlIi8+DQoJCTwhLS1xdWl6IHBvZCBhbmQgbWVzc2FnZSBib3ggdGV4dCBmb250cy0tPg0KCQk8dWlmb250IG5hbWU9IkZPTlRfTVNHQk9YX1dJTlRJVExFIiB2YWx1ZT0iVmVyZGFuYSwxMSx0cnVlLGZhbHNlLHRydWUiLz4NCgkJPHVpZm9udCBuYW1lPSJGT05UX01TR0JPWF9NU0ciIHZhbHVlPSJWZXJkYW5hLDExLGZhbHNlLGZhbHNlLHRydWUiLz4NCgkJPHVpZm9udCBuYW1lPSJGT05UX01TR0JPWF9PUFRJT05TIiB2YWx1ZT0iVmVyZGFuYSw5LHRydWUsZmFsc2UsdHJ1ZSIvPg0KCQk8dWlmb250IG5hbWU9IkZPTlRfUVVJWlBPRF9RVUlaX1RJVExFIiB2YWx1ZT0iVmVyZGFuYSwxMSx0cnVlLGZhbHNlLHRydWUiLz4NCgkJPHVpZm9udCBuYW1lPSJGT05UX1FVSVpQT0RfUVVJWl9BVFRFTVBUIiB2YWx1ZT0iVmVyZGFuYSw5LGZhbHNlLGZhbHNlLHRydWUiLz4NCgkJPHVpZm9udCBuYW1lPSJGT05UX1FVSVpQT0RfUVVJWl9BVFRFTVBUX1ZBTFVFIiB2YWx1ZT0iVmVyZGFuYSw5LHRydWUsZmFsc2UsdHJ1ZSIvPg0KCQk8dWlmb250IG5hbWU9IkZPTlRfUVVJWlBPRF9RVUVTVElPTl9TQ09SRSIgdmFsdWU9IlZlcmRhbmEsOSxmYWxzZSxmYWxzZSx0cnVlIi8+DQoJCTx1aWZvbnQgbmFtZT0iRk9OVF9RVUlaUE9EX1FVRVNUSU9OX1NDT1JFX1ZBTFVFIiB2YWx1ZT0iVmVyZGFuYSw5LHRydWUsZmFsc2UsdHJ1ZSIvPg0KCQk8dWlmb250IG5hbWU9IkZPTlRfUVVJWlBPRF9RVUVTVElPTl9BVFRFTVBUIiB2YWx1ZT0iVmVyZGFuYSw5LGZhbHNlLGZhbHNlLHRydWUiLz4NCgkJPHVpZm9udCBuYW1lPSJGT05UX1FVSVpQT0RfUVVFU1RJT05fQVRURU1QVF9WQUxVRSIgdmFsdWU9IlZlcmRhbmEsOSx0cnVlLGZhbHNlLHRydWUiLz4NCgkJPHVpZm9udCBuYW1lPSJGT05UX1FVSVpQT0RfUVVFU1RJT05fVEFHIiB2YWx1ZT0iVmVyZGFuYSwxMSx0cnVlLGZhbHNlLHRydWUiLz4NCgkJPHVpZm9udCBuYW1lPSJGT05UX1FVSVpQT0RfUVVJWl9RVUVTVElPTl9DT1VOVCIgdmFsdWU9IlZlcmRhbmEsOSxmYWxzZSxmYWxzZSx0cnVlIi8+DQoJCTx1aWZvbnQgbmFtZT0iRk9OVF9RVUlaUE9EX1FVSVpfUVVFU1RJT05fQ09VTlRfVkFMVUUiIHZhbHVlPSJWZXJkYW5hLDksdHJ1ZSxmYWxzZSx0cnVlIi8+DQoJCTx1aWZvbnQgbmFtZT0iRk9OVF9RVUlaUE9EX1FVSVpfUVVFU1RJT05fQVRURU1QVEVEIiB2YWx1ZT0iVmVyZGFuYSw5LGZhbHNlLGZhbHNlLHRydWUiLz4NCgkJPHVpZm9udCBuYW1lPSJGT05UX1FVSVpQT0RfUVVJWl9RVUVTVElPTl9BVFRFTVBURURfVkFMVUUiIHZhbHVlPSJWZXJkYW5hLDksdHJ1ZSxmYWxzZSx0cnVlIi8+DQoJCTx1aWZvbnQgbmFtZT0iRk9OVF9RVUlaUE9EX1FVSVpfU0NPUkVfVEFHIiB2YWx1ZT0iVmVyZGFuYSwxMSx0cnVlLGZhbHNlLHRydWUiLz4NCgkJPHVpZm9udCBuYW1lPSJGT05UX1FVSVpQT0RfUVVJWl9TQ09SRSIgdmFsdWU9IlZlcmRhbmEsOSxmYWxzZSxmYWxzZSx0cnVlIi8+DQoJCTx1aWZvbnQgbmFtZT0iRk9OVF9RVUlaUE9EX1FVSVpfU0NPUkVfVkFMVUUiIHZhbHVlPSJWZXJkYW5hLDksdHJ1ZSxmYWxzZSx0cnVlIi8+DQoJCTx1aWZvbnQgbmFtZT0iRk9OVF9RVUlaUE9EX1FVSVpfTUFYU0NPUkUiIHZhbHVlPSJWZXJkYW5hLDksZmFsc2UsZmFsc2UsdHJ1ZSIvPg0KCQk8dWlmb250IG5hbWU9IkZPTlRfUVVJWlBPRF9RVUlaX01BWFNDT1JFX1ZBTFVFIiB2YWx1ZT0iVmVyZGFuYSw5LHRydWUsZmFsc2UsdHJ1ZSIvPg0KCQk8dWlmb250IG5hbWU9IkZPTlRfUVVJWlBPRF9RVUlaX1BBU1NTQ09SRSIgdmFsdWU9IlZlcmRhbmEsOSxmYWxzZSxmYWxzZSx0cnVlIi8+DQoJCTx1aWZvbnQgbmFtZT0iRk9OVF9RVUlaUE9EX1FVSVpfUEFTU1NDT1JFX1ZBTFVFIiB2YWx1ZT0iVmVyZGFuYSw5LHRydWUsZmFsc2UsdHJ1ZSIvPg0KCQk8IS0tIHVpdGV4dCAtLT4NCgkJPCEtLSBzdWJzdGl0dXRpb246ICVuID09IHNsaWRlIG51bWJlciAtLT4NCgkJPHVpdGV4dCBuYW1lPSJBVFRBQ0hNRU5UX1BSRVZJRVdfV0FSTklOR01TR19USVRMRVNUUklORyIgdmFsdWU9IkF0dGFjaG1lbnQgV2FybmluZyIvPg0KCQk8dWl0ZXh0IG5hbWU9IkFUVEFDSE1FTlRfUFJFVklFV19XQVJOSU5HTVNHIiB2YWx1ZT0iQXR0YWNobWVudHMgZG8gbm90IG9wZW4gaW4gUHJldmlldyBtb2RlLiBQbGVhc2UgdXNlIHB1Ymxpc2ggdG8gc2VlIHRoZSByZXN1bHRzIi8+DQoJCTx1aXRleHQgbmFtZT0iVU5OQU1FRFNMSURFVElUTEUiIHZhbHVlPSJEaWFwb3NpdGl2YSAlbiIvPg0KCQk8dWl0ZXh0IG5hbWU9IkNPTExBQl9MT0NBTF9QTEFZQkFDS19NU0ciIHZhbHVlPSJDb250ZW50IGlzIGJlaW5nIHBsYXllZCBsb2NhbGx5LlxuIENvbGxhYm9yYXRpb24gZG9lcyBub3Qgd29yayBpbiB0aGlzIG1vZGUiLz4NCgkJPHVpdGV4dCBuYW1lPSJDT0xMQUJfTE9DQUxfUExBWUJBQ0tfVElUTEUiIHZhbHVlPSJMb2NhbCBQbGF5YmFjayIvPg0KCQk8dWl0ZXh0IG5hbWU9IkNPTExBQl9MT0NBTF9QTEFZQkFDS0JUTiIgdmFsdWU9Ik9rIi8+DQoJCTwhLS0gc3Vic3RpdHV0aW9uOiAlbiA9PSBzbGlkZSBudW1iZXIgLS0+DQoJCTwhLS0gc3Vic3RpdHV0aW9uOiAldCA9PSB0b3RhbCBzbGlkZSBjb3VudCAtLT4NCgkJPHVpdGV4dCBuYW1lPSJTQ1JVQkJBUlNUQVRVU19TTElERUlORk8iIHZhbHVlPSJEaWFwb3NpdGl2YSAlbiAvICV0IHwgIi8+DQoJCTx1aXRleHQgbmFtZT0iU0NSVUJCQVJTVEFUVVNfU1RPUFBFRCIgdmFsdWU9IkludGVycm90dG8iLz4NCgkJPHVpdGV4dCBuYW1lPSJTQ1JVQkJBUlNUQVRVU19QTEFZSU5HIiB2YWx1ZT0iUmlwcm9kdXppb25lIi8+DQoJCTx1aXRleHQgbmFtZT0iU0NSVUJCQVJTVEFUVVNfTk9BVURJTyIgdmFsdWU9IkF1ZGlvIGluYXR0LiIvPg0KCQk8dWl0ZXh0IG5hbWU9IlNDUlVCQkFSU1RBVFVTX1ZJRFBMQVlJTkciIHZhbHVlPSJWaWRlbyBpbiByaXByb2R1emlvbmUiLz4NCgkJPHVpdGV4dCBuYW1lPSJTQ1JVQkJBUlNUQVRVU19MT0FESU5HIiB2YWx1ZT0iQ2FyaWNhbWVudG8iLz4NCgkJPHVpdGV4dCBuYW1lPSJTQ1JVQkJBUlNUQVRVU19CVUZGRVJJTkciIHZhbHVlPSJCdWZmZXJpbmciLz4NCgkJPHVpdGV4dCBuYW1lPSJTQ1JVQkJBUlNUQVRVU19RVUVTVElPTiIgdmFsdWU9IlJpc3BvbmRpIGEgZG9tYW5kYSIvPg0KCQk8dWl0ZXh0IG5hbWU9IlNDUlVCQkFSU1RBVFVTX1JFVklFV1FVSVoiIHZhbHVlPSJSZXZpc2lvbmUgZGVsIHF1aXoiLz4NCgkJPCEtLSBzdWJzdGl0dXRpb246ICVtID09IG1pbnV0ZXMgcmVtYWluaW5nIC0tPg0KCQk8IS0tIHN1YnN0aXR1dGlvbjogJXMgPT0gc2Vjb25kcyByZW1haW5pbmcgLS0+DQoJCTx1aXRleHQgbmFtZT0iRUxBUFNFRCIgdmFsdWU9IiVtIE1pbnV0aSAlcyBTZWNvbmRpIHJpbWFuZW50aSIvPg0KCQk8dWl0ZXh0IG5hbWU9Ik5PVEZPVU5EIiB2YWx1ZT0iTmVzc3VuIGVsZW1lbnRvIHRyb3ZhdG8iLz4NCgkJPHVpdGV4dCBuYW1lPSJBVFRBQ0hNRU5UUyIgdmFsdWU9IkFsbGVnYXRpIi8+DQoJCTwhLS0gc3Vic3RpdHV0aW9uOiAlcCA9PSBjdXJyZW50IHNwZWFrZXIncyB0aXRsZSAtLT4NCgkJPHVpdGV4dCBuYW1lPSJCSU9XSU5fVElUTEUiIHZhbHVlPSJCaW86ICVwIi8+DQoJCTx1aXRleHQgbmFtZT0iQklPQlROX1RJVExFIiB2YWx1ZT0iQmlvIi8+DQoJCTx1aXRleHQgbmFtZT0iRElWSURFUkJUTl9USVRMRSIgdmFsdWU9InwiLz4NCgkJPHVpdGV4dCBuYW1lPSJDT05UQUNUQlROX1RJVExFIiB2YWx1ZT0iQ29udC4iLz4NCgkJPHVpdGV4dCBuYW1lPSJUQUJfUVVJWiIgdmFsdWU9IlF1aXoiLz4NCgkJPHVpdGV4dCBuYW1lPSJUQUJfT1VUTElORSIgdmFsdWU9IlN0cnV0dHVyYSIvPg0KCQk8dWl0ZXh0IG5hbWU9IlRBQl9USFVNQiIgdmFsdWU9Ik1pbmlhdHVyZSIvPg0KCQk8dWl0ZXh0IG5hbWU9IlRBQl9OT1RFUyIgdmFsdWU9Ik5vdGUiLz4NCgkJPHVpdGV4dCBuYW1lPSJUQUJfU0VBUkNIIiB2YWx1ZT0iQ2VyY2EiLz4NCgkJPHVpdGV4dCBuYW1lPSJTTElERV9IRUFESU5HIiB2YWx1ZT0iVGl0b2xvIGRpYXBvc2l0aXZhIi8+DQoJCTx1aXRleHQgbmFtZT0iRFVSQVRJT05fSEVBRElORyIgdmFsdWU9IkR1cmF0YSIvPg0KCQk8dWl0ZXh0IG5hbWU9IlNFQVJDSF9IRUFESU5HIiB2YWx1ZT0iQ2VyY2EgdGVzdG86Ii8+DQoJCTx1aXRleHQgbmFtZT0iVEhVTUJfSEVBRElORyIgdmFsdWU9IkRpYXBvc2l0aXZhIi8+DQoJCTx1aXRleHQgbmFtZT0iVEhVTUJfSU5GTyIgdmFsdWU9IlRpdG9sby9UZW1wbyIvPg0KCQk8dWl0ZXh0IG5hbWU9IkFUVEFDSE5BTUVfSEVBRElORyIgdmFsdWU9Ik5vbWUgZmlsZSIvPg0KCQk8dWl0ZXh0IG5hbWU9IkFUVEFDSFNJWkVfSEVBRElORyIgdmFsdWU9IkRpbWVuc2lvbmUiLz4NCgkJPHVpdGV4dCBuYW1lPSJTTElERV9OT1RFUyIgdmFsdWU9Ik5vdGUgZGlhcG9zaXRpdmEiLz4NCgkJPHVpdGV4dCBuYW1lPSJDT1VSU0VfU1RBVFVTIiB2YWx1ZT0iTW9kdWxlIFN0YXR1cyIvPg0KCQk8dWl0ZXh0IG5hbWU9IlBBU1NFRF9TVFJJTkciIHZhbHVlPSJQYXNzZWQiLz4NCgkJPHVpdGV4dCBuYW1lPSJGQUlMRURfU1RSSU5HIiB2YWx1ZT0iRmFpbGVkIi8+DQoJCTwhLS1xdWl6IHBvZCBhbmQgbWVzc2FnZSBib3ggdGV4dHMtLT4NCgkJPHVpdGV4dCBuYW1lPSJRVUlaUE9EX1FVSVpfQVRURU1QVCIgdmFsdWU9IlRlbnRhdGl2byBxdWl6OiIvPg0KCQk8dWl0ZXh0IG5hbWU9IlFVSVpQT0RfUVVJWl9BVFRFTVBUX1ZBTFVFIiB2YWx1ZT0iJW4gZGkgJXQiLz4NCgkJPHVpdGV4dCBuYW1lPSJRVUlaUE9EX1FVSVpfU0NPUkUiIHZhbHVlPSJQdW50ZWdnaW86Ii8+DQoJCTx1aXRleHQgbmFtZT0iUVVJWlBPRF9RVUlaX1BBU1NTQ09SRSIgdmFsdWU9IlB1bnRlZ2dpbyBtaW5pbW86Ii8+DQoJCTx1aXRleHQgbmFtZT0iUVVJWlBPRF9RVUlaX01BWFNDT1JFIiB2YWx1ZT0iUHVudGVnZ2lvIG1hc3NpbW86Ii8+DQoJCTx1aXRleHQgbmFtZT0iUVVJWlBPRF9RVUVTQVRNUFRfU1RSIiB2YWx1ZT0iVGVudGF0aXZvOiAlbiBkaSAldCIvPg0KCQk8dWl0ZXh0IG5hbWU9IlFVSVpQT0RfUVVFU1RZUEVfU1RSIiB2YWx1ZT0iVGlwbzogJXMiLz4NCgkJPHVpdGV4dCBuYW1lPSJRVUlaUE9EX1FVRVNUWVBFX0dSRCIgdmFsdWU9IkNvbiB2YWx1dGF6aW9uZSIvPg0KCQk8dWl0ZXh0IG5hbWU9IlFVSVpQT0RfUVVFU1RZUEVfU1ZZIiB2YWx1ZT0iSW5kYWdpbmUiLz4NCgkJPHVpdGV4dCBuYW1lPSJRVUlaUE9EX1FVSVpBVE1QVF9JTkYiIHZhbHVlPSJJbmZpbml0aSIvPg0KCQk8dWl0ZXh0IG5hbWU9IlFVSVpQT0RfUVVFU0FUTVBUX0lORiIgdmFsdWU9IkluZmluaXRpIi8+DQoJCTx1aXRleHQgbmFtZT0iV0FSTklOR01TR19ZRVNTVFJJTkciIHZhbHVlPSJTw6wiLz4NCgkJPHVpdGV4dCBuYW1lPSJXQVJOSU5HTVNHX05PU1RSSU5HIiB2YWx1ZT0iTm8iLz4NCgkJPHVpdGV4dCBuYW1lPSJXQVJOSU5HTVNHX1RJVExFU1RSSU5HIiB2YWx1ZT0iQXZ2ZXJ0ZW56YSBuYXZpZ2F6aW9uZSBxdWl6Ii8+DQoJCTx1aXRleHQgbmFtZT0iV0FSTklOR01TR19NU0dTVFJJTkciIHZhbHVlPSJPY2NvcnJlIGFuY29yYSByaXNwb25kZXJlIGFkIGFsY3VuZSBkb21hbmRlIGRlbCBxdWl6LiYjeEE7JiN4QTtTZSBmYXRlIGNsaWMgc3UgU8OsLCB1c2NpcmV0ZSBkYWwgcXVpei4gRmF0ZSBjbGljIHN1IE5vIHBlciBjb250aW51YXJlIGlsIHF1aXouIi8+DQoJCTx1aXRleHQgbmFtZT0iSU5GT1JNQVRJT05fSDI2NF9GTEFTSFBMQVlFUiIgdmFsdWU9IkxhIHZlcnNpb25lIGRpIEZsYXNoIFBsYXllciBhdHR1YWxtZW50ZSBpbnN0YWxsYXRhIG5vbiBzdXBwb3J0YSBxdWVzdG8gdmlkZW8uIEZhdGUgY2xpYyBzdWxsJ2FyZWEgZGVsIHZpZGVvIHBlciBzY2FyaWNhcmUgbCd1bHRpbWEgdmVyc2lvbmUgZGkgRmxhc2ggUGxheWVyLiIvPg0KCQk8IS0tIHN1YnN0aXR1dGlvbjogJXAgPT0gcHJlc2VudGF0aW9uIHRpdGxlIC0tPg0KCQk8IS0tIHN1YnN0aXR1dGlvbjogJXMgPT0gc2xpZGUgdGl0bGUgLS0+DQoJCTwhLS0gc3Vic3RpdHV0aW9uOiAlbiA9PSBzbGlkZSBudW1iZXIgLS0+DQoJCTx1aXRleHQgbmFtZT0iQk9PS01BUksiIHZhbHVlPSJBZG9iZSBQcmVzZW50ZXIgLSAlcCIvPg0KCQk8IS0tIHN1YnN0aXR1dGlvbjogJXAgPT0gcHJlc2VudGF0aW9uIHRpdGxlIC0tPg0KCQk8IS0tIHN1YnN0aXR1dGlvbjogJXMgPT0gc2xpZGUgdGl0bGUgLS0+DQoJCTwhLS0gc3Vic3RpdHV0aW9uOiAlbiA9PSBzbGlkZSBudW1iZXIgLS0+DQoJCTx1aXRleHQgbmFtZT0iQk9PS01BUktTTElERSIgdmFsdWU9IkFkb2JlIFByZXNlbnRlciAtICVwICVzIi8+DQoJCTx1aXRleHQgbmFtZT0iU0hPV1NJREVCQVIiIHZhbHVlPSJNb3N0cmEgYmFycmEgbGF0ZXJhbGUgYWkgcGFydGVjaXBhbnRpIi8+DQoJCTx1aXRleHQgbmFtZT0iTVVURSIgdmFsdWU9IkRpc2F0dGl2YSBhdWRpbyIvPg0KCQk8dWl0ZXh0IG5hbWU9IkRPQ1dSQVBfVElUTEUiIHZhbHVlPSJBbGxlZ2F0byBmaWxlIFByZXNlbnRlciIvPg0KCQk8dWl0ZXh0IG5hbWU9IkRPQ1dSQVBfTVNHIiB2YWx1ZT0iU2FsdmEgaW4gUmlzb3JzZSBkZWwgY29tcHV0ZXIiLz4NCgkJPHVpdGV4dCBuYW1lPSJET0NXUkFQX1BST01QVCIgdmFsdWU9IkNsaWMgcGVyIHNjYXJpY2FyZSIvPg0KCTwvbGFuZ3VhZ2U+DQoJPGxhbmd1YWdlIGlkPSJubCI+DQoJCTwhLS0gZm9ybWF0IGZvciB1aWZvbnQgdmFsdWUgaXMgImZvbnQsc2l6ZSxpc2JvbGQsaXNpdGFsaWMsaXNzaGFkb3dlZCIgLS0+DQoJCTx1aWZvbnQgbmFtZT0iRk9OVF9RVUlaWklORyIgdmFsdWU9IlZlcmRhbmEsOSxmYWxzZSxmYWxzZSxmYWxzZSIvPg0KCQk8dWlmb250IG5hbWU9IkZPTlRfU0NSVUJTVEFUVVMiIHZhbHVlPSJWZXJkYW5hLDksdHJ1ZSxmYWxzZSx0cnVlIi8+DQoJCTx1aWZvbnQgbmFtZT0iRk9OVF9TQ1JVQlRJTUUiIHZhbHVlPSJWZXJkYW5hLDksZmFsc2UsZmFsc2UsdHJ1ZSIvPg0KCQk8dWlmb250IG5hbWU9IkZPTlRfRUxBUFNFRFRJTUUiIHZhbHVlPSJWZXJkYW5hLDksdHJ1ZSxmYWxzZSx0cnVlIi8+DQoJCTx1aWZvbnQgbmFtZT0iRk9OVF9VVElMU01FTlUiIHZhbHVlPSJWZXJkYW5hLDksdHJ1ZSxmYWxzZSxmYWxzZSIvPg0KCQk8dWlmb250IG5hbWU9IkZPTlRfVEFCUyIgdmFsdWU9IlZlcmRhbmEsOSx0cnVlLGZhbHNlLHRydWUiLz4NCgkJPHVpZm9udCBuYW1lPSJGT05UX1BSRVNFTlRBVElPTk5BTUUiIHZhbHVlPSJWZXJkYW5hLDE0LGZhbHNlLGZhbHNlLHRydWUiLz4NCgkJPHVpZm9udCBuYW1lPSJGT05UX1BSRVNFTlRFUk5BTUUiIHZhbHVlPSJWZXJkYW5hLDEwLHRydWUsZmFsc2UsdHJ1ZSIvPg0KCQk8dWlmb250IG5hbWU9IkZPTlRfUFJFU0VOVEVSVElUTEUiIHZhbHVlPSJWZXJkYW5hLDEwLGZhbHNlLGZhbHNlLHRydWUiLz4NCgkJPHVpZm9udCBuYW1lPSJGT05UX0JJT0JUTiIgdmFsdWU9IlZlcmRhbmEsMTAsZmFsc2UsZmFsc2UsdHJ1ZSIvPg0KCQk8dWlmb250IG5hbWU9IkZPTlRfTk9URVMiIHZhbHVlPSJWZXJkYW5hLDExLGZhbHNlLGZhbHNlLGZhbHNlIi8+DQoJCTx1aWZvbnQgbmFtZT0iRk9OVF9PVVRMSU5FIiB2YWx1ZT0iVmVyZGFuYSwxMSxmYWxzZSxmYWxzZSx0cnVlIi8+DQoJCTx1aWZvbnQgbmFtZT0iRk9OVF9TRUFSQ0giIHZhbHVlPSJWZXJkYW5hLDExLGZhbHNlLGZhbHNlLHRydWUiLz4NCgkJPHVpZm9udCBuYW1lPSJGT05UX1RIVU1CIiB2YWx1ZT0iVmVyZGFuYSw5LGZhbHNlLGZhbHNlLHRydWUiLz4NCgkJPHVpZm9udCBuYW1lPSJGT05UX0JJT1dJTiIgdmFsdWU9IlZlcmRhbmEsMTEsZmFsc2UsZmFsc2UsZmFsc2UiLz4NCgkJPHVpZm9udCBuYW1lPSJGT05UX0xJU1RIRUFESU5HIiB2YWx1ZT0iVmVyZGFuYSw5LGZhbHNlLGZhbHNlLGZhbHNlIi8+DQoJCTx1aWZvbnQgbmFtZT0iRk9OVF9XSU5USVRMRSIgdmFsdWU9IlZlcmRhbmEsOSxmYWxzZSxmYWxzZSx0cnVlIi8+DQoJCTx1aWZvbnQgbmFtZT0iRk9OVF9BVFRBQ0hNRU5UUyIgdmFsdWU9IlZlcmRhbmEsMTEsZmFsc2UsZmFsc2UsdHJ1ZSIvPg0KCQk8IS0tcXVpeiBwb2QgYW5kIG1lc3NhZ2UgYm94IHRleHQgZm9udHMtLT4NCgkJPHVpZm9udCBuYW1lPSJGT05UX01TR0JPWF9XSU5USVRMRSIgdmFsdWU9IlZlcmRhbmEsMTEsdHJ1ZSxmYWxzZSx0cnVlIi8+DQoJCTx1aWZvbnQgbmFtZT0iRk9OVF9NU0dCT1hfTVNHIiB2YWx1ZT0iVmVyZGFuYSwxMSxmYWxzZSxmYWxzZSx0cnVlIi8+DQoJCTx1aWZvbnQgbmFtZT0iRk9OVF9NU0dCT1hfT1BUSU9OUyIgdmFsdWU9IlZlcmRhbmEsOSx0cnVlLGZhbHNlLHRydWUiLz4NCgkJPHVpZm9udCBuYW1lPSJGT05UX1FVSVpQT0RfUVVJWl9USVRMRSIgdmFsdWU9IlZlcmRhbmEsMTEsdHJ1ZSxmYWxzZSx0cnVlIi8+DQoJCTx1aWZvbnQgbmFtZT0iRk9OVF9RVUlaUE9EX1FVSVpfQVRURU1QVCIgdmFsdWU9IlZlcmRhbmEsOSxmYWxzZSxmYWxzZSx0cnVlIi8+DQoJCTx1aWZvbnQgbmFtZT0iRk9OVF9RVUlaUE9EX1FVSVpfQVRURU1QVF9WQUxVRSIgdmFsdWU9IlZlcmRhbmEsOSx0cnVlLGZhbHNlLHRydWUiLz4NCgkJPHVpZm9udCBuYW1lPSJGT05UX1FVSVpQT0RfUVVFU1RJT05fU0NPUkUiIHZhbHVlPSJWZXJkYW5hLDksZmFsc2UsZmFsc2UsdHJ1ZSIvPg0KCQk8dWlmb250IG5hbWU9IkZPTlRfUVVJWlBPRF9RVUVTVElPTl9TQ09SRV9WQUxVRSIgdmFsdWU9IlZlcmRhbmEsOSx0cnVlLGZhbHNlLHRydWUiLz4NCgkJPHVpZm9udCBuYW1lPSJGT05UX1FVSVpQT0RfUVVFU1RJT05fQVRURU1QVCIgdmFsdWU9IlZlcmRhbmEsOSxmYWxzZSxmYWxzZSx0cnVlIi8+DQoJCTx1aWZvbnQgbmFtZT0iRk9OVF9RVUlaUE9EX1FVRVNUSU9OX0FUVEVNUFRfVkFMVUUiIHZhbHVlPSJWZXJkYW5hLDksdHJ1ZSxmYWxzZSx0cnVlIi8+DQoJCTx1aWZvbnQgbmFtZT0iRk9OVF9RVUlaUE9EX1FVRVNUSU9OX1RBRyIgdmFsdWU9IlZlcmRhbmEsMTEsdHJ1ZSxmYWxzZSx0cnVlIi8+DQoJCTx1aWZvbnQgbmFtZT0iRk9OVF9RVUlaUE9EX1FVSVpfUVVFU1RJT05fQ09VTlQiIHZhbHVlPSJWZXJkYW5hLDksZmFsc2UsZmFsc2UsdHJ1ZSIvPg0KCQk8dWlmb250IG5hbWU9IkZPTlRfUVVJWlBPRF9RVUlaX1FVRVNUSU9OX0NPVU5UX1ZBTFVFIiB2YWx1ZT0iVmVyZGFuYSw5LHRydWUsZmFsc2UsdHJ1ZSIvPg0KCQk8dWlmb250IG5hbWU9IkZPTlRfUVVJWlBPRF9RVUlaX1FVRVNUSU9OX0FUVEVNUFRFRCIgdmFsdWU9IlZlcmRhbmEsOSxmYWxzZSxmYWxzZSx0cnVlIi8+DQoJCTx1aWZvbnQgbmFtZT0iRk9OVF9RVUlaUE9EX1FVSVpfUVVFU1RJT05fQVRURU1QVEVEX1ZBTFVFIiB2YWx1ZT0iVmVyZGFuYSw5LHRydWUsZmFsc2UsdHJ1ZSIvPg0KCQk8dWlmb250IG5hbWU9IkZPTlRfUVVJWlBPRF9RVUlaX1NDT1JFX1RBRyIgdmFsdWU9IlZlcmRhbmEsMTEsdHJ1ZSxmYWxzZSx0cnVlIi8+DQoJCTx1aWZvbnQgbmFtZT0iRk9OVF9RVUlaUE9EX1FVSVpfU0NPUkUiIHZhbHVlPSJWZXJkYW5hLDksZmFsc2UsZmFsc2UsdHJ1ZSIvPg0KCQk8dWlmb250IG5hbWU9IkZPTlRfUVVJWlBPRF9RVUlaX1NDT1JFX1ZBTFVFIiB2YWx1ZT0iVmVyZGFuYSw5LHRydWUsZmFsc2UsdHJ1ZSIvPg0KCQk8dWlmb250IG5hbWU9IkZPTlRfUVVJWlBPRF9RVUlaX01BWFNDT1JFIiB2YWx1ZT0iVmVyZGFuYSw5LGZhbHNlLGZhbHNlLHRydWUiLz4NCgkJPHVpZm9udCBuYW1lPSJGT05UX1FVSVpQT0RfUVVJWl9NQVhTQ09SRV9WQUxVRSIgdmFsdWU9IlZlcmRhbmEsOSx0cnVlLGZhbHNlLHRydWUiLz4NCgkJPHVpZm9udCBuYW1lPSJGT05UX1FVSVpQT0RfUVVJWl9QQVNTU0NPUkUiIHZhbHVlPSJWZXJkYW5hLDksZmFsc2UsZmFsc2UsdHJ1ZSIvPg0KCQk8dWlmb250IG5hbWU9IkZPTlRfUVVJWlBPRF9RVUlaX1BBU1NTQ09SRV9WQUxVRSIgdmFsdWU9IlZlcmRhbmEsOSx0cnVlLGZhbHNlLHRydWUiLz4NCgkJPCEtLSB1aXRleHQgLS0+DQoJCTwhLS0gc3Vic3RpdHV0aW9uOiAlbiA9PSBzbGlkZSBudW1iZXIgLS0+DQoJCTx1aXRleHQgbmFtZT0iQVRUQUNITUVOVF9QUkVWSUVXX1dBUk5JTkdNU0dfVElUTEVTVFJJTkciIHZhbHVlPSJBdHRhY2htZW50IFdhcm5pbmciLz4NCgkJPHVpdGV4dCBuYW1lPSJBVFRBQ0hNRU5UX1BSRVZJRVdfV0FSTklOR01TRyIgdmFsdWU9IkF0dGFjaG1lbnRzIGRvIG5vdCBvcGVuIGluIFByZXZpZXcgbW9kZS4gUGxlYXNlIHVzZSBwdWJsaXNoIHRvIHNlZSB0aGUgcmVzdWx0cyIvPg0KCQk8dWl0ZXh0IG5hbWU9IlVOTkFNRURTTElERVRJVExFIiB2YWx1ZT0iRGlhICVuIi8+DQoJCTx1aXRleHQgbmFtZT0iQ09MTEFCX0xPQ0FMX1BMQVlCQUNLX01TRyIgdmFsdWU9IkNvbnRlbnQgaXMgYmVpbmcgcGxheWVkIGxvY2FsbHkuXG4gQ29sbGFib3JhdGlvbiBkb2VzIG5vdCB3b3JrIGluIHRoaXMgbW9kZSIvPg0KCQk8dWl0ZXh0IG5hbWU9IkNPTExBQl9MT0NBTF9QTEFZQkFDS19USVRMRSIgdmFsdWU9IkxvY2FsIFBsYXliYWNrIi8+DQoJCTx1aXRleHQgbmFtZT0iQ09MTEFCX0xPQ0FMX1BMQVlCQUNLQlROIiB2YWx1ZT0iT2siLz4NCgkJPCEtLSBzdWJzdGl0dXRpb246ICVuID09IHNsaWRlIG51bWJlciAtLT4NCgkJPCEtLSBzdWJzdGl0dXRpb246ICV0ID09IHRvdGFsIHNsaWRlIGNvdW50IC0tPg0KCQk8dWl0ZXh0IG5hbWU9IlNDUlVCQkFSU1RBVFVTX1NMSURFSU5GTyIgdmFsdWU9IkRpYSAlbiAvICV0IHwgIi8+DQoJCTx1aXRleHQgbmFtZT0iU0NSVUJCQVJTVEFUVVNfU1RPUFBFRCIgdmFsdWU9Ikdlc3RvcHQiLz4NCgkJPHVpdGV4dCBuYW1lPSJTQ1JVQkJBUlNUQVRVU19QTEFZSU5HIiB2YWx1ZT0iQWZzcGVsZW4iLz4NCgkJPHVpdGV4dCBuYW1lPSJTQ1JVQkJBUlNUQVRVU19OT0FVRElPIiB2YWx1ZT0iR2VlbiBhdWRpbyIvPg0KCQk8dWl0ZXh0IG5hbWU9IlNDUlVCQkFSU1RBVFVTX1ZJRFBMQVlJTkciIHZhbHVlPSJWaWRlbyBhZnNwZWxlbiIvPg0KCQk8dWl0ZXh0IG5hbWU9IlNDUlVCQkFSU1RBVFVTX0xPQURJTkciIHZhbHVlPSJMYWRlbiIvPg0KCQk8dWl0ZXh0IG5hbWU9IlNDUlVCQkFSU1RBVFVTX0JVRkZFUklORyIgdmFsdWU9IkJ1ZmZlcmVuIi8+DQoJCTx1aXRleHQgbmFtZT0iU0NSVUJCQVJTVEFUVVNfUVVFU1RJT04iIHZhbHVlPSJWcmFhZyBtZXQgYW50d29vcmQiLz4NCgkJPHVpdGV4dCBuYW1lPSJTQ1JVQkJBUlNUQVRVU19SRVZJRVdRVUlaIiB2YWx1ZT0iUXVpeiBjb250cm9sZXJlbiIvPg0KCQk8IS0tIHN1YnN0aXR1dGlvbjogJW0gPT0gbWludXRlcyByZW1haW5pbmcgLS0+DQoJCTwhLS0gc3Vic3RpdHV0aW9uOiAlcyA9PSBzZWNvbmRzIHJlbWFpbmluZyAtLT4NCgkJPHVpdGV4dCBuYW1lPSJFTEFQU0VEIiB2YWx1ZT0iRXIgcmVzdGVyZW4gJW0gbWludXRlbiAlcyBzZWNvbmRlbiIvPg0KCQk8dWl0ZXh0IG5hbWU9Ik5PVEZPVU5EIiB2YWx1ZT0iTmlldHMgZ2V2b25kZW4iLz4NCgkJPHVpdGV4dCBuYW1lPSJBVFRBQ0hNRU5UUyIgdmFsdWU9IkJpamxhZ2VuIi8+DQoJCTwhLS0gc3Vic3RpdHV0aW9uOiAlcCA9PSBjdXJyZW50IHNwZWFrZXIncyB0aXRsZSAtLT4NCgkJPHVpdGV4dCBuYW1lPSJCSU9XSU5fVElUTEUiIHZhbHVlPSJCaW9ncmFmaWU6ICVwIi8+DQoJCTx1aXRleHQgbmFtZT0iQklPQlROX1RJVExFIiB2YWx1ZT0iQmlvZ3JhZmllIi8+DQoJCTx1aXRleHQgbmFtZT0iRElWSURFUkJUTl9USVRMRSIgdmFsdWU9InwiLz4NCgkJPHVpdGV4dCBuYW1lPSJDT05UQUNUQlROX1RJVExFIiB2YWx1ZT0iQ29udGFjdCIvPg0KCQk8dWl0ZXh0IG5hbWU9IlRBQl9RVUlaIiB2YWx1ZT0iUXVpeiIvPg0KCQk8dWl0ZXh0IG5hbWU9IlRBQl9PVVRMSU5FIiB2YWx1ZT0iT3ZlcnppY2h0Ii8+DQoJCTx1aXRleHQgbmFtZT0iVEFCX1RIVU1CIiB2YWx1ZT0iTWluaWF0dXVyIi8+DQoJCTx1aXRleHQgbmFtZT0iVEFCX05PVEVTIiB2YWx1ZT0iTm90aXRpZXMiLz4NCgkJPHVpdGV4dCBuYW1lPSJUQUJfU0VBUkNIIiB2YWx1ZT0iWm9la2VuIi8+DQoJCTx1aXRleHQgbmFtZT0iU0xJREVfSEVBRElORyIgdmFsdWU9IlRpdGVsIHZhbiBkaWEiLz4NCgkJPHVpdGV4dCBuYW1lPSJEVVJBVElPTl9IRUFESU5HIiB2YWx1ZT0iRHV1ciIvPg0KCQk8dWl0ZXh0IG5hbWU9IlNFQVJDSF9IRUFESU5HIiB2YWx1ZT0iWm9la2VuIG5hYXIgdGVrc3Q6Ii8+DQoJCTx1aXRleHQgbmFtZT0iVEhVTUJfSEVBRElORyIgdmFsdWU9IkRpYSIvPg0KCQk8dWl0ZXh0IG5hbWU9IlRIVU1CX0lORk8iIHZhbHVlPSJUaXRlbC9kdXVyIHZhbiBkaWEiLz4NCgkJPHVpdGV4dCBuYW1lPSJBVFRBQ0hOQU1FX0hFQURJTkciIHZhbHVlPSJCZXN0YW5kc25hYW0iLz4NCgkJPHVpdGV4dCBuYW1lPSJBVFRBQ0hTSVpFX0hFQURJTkciIHZhbHVlPSJHcm9vdHRlIi8+DQoJCTx1aXRleHQgbmFtZT0iU0xJREVfTk9URVMiIHZhbHVlPSJEaWFub3RpdGllcyIvPg0KCQk8dWl0ZXh0IG5hbWU9IkNPVVJTRV9TVEFUVVMiIHZhbHVlPSJNb2R1bGUgU3RhdHVzIi8+DQoJCTx1aXRleHQgbmFtZT0iUEFTU0VEX1NUUklORyIgdmFsdWU9IlBhc3NlZCIvPg0KCQk8dWl0ZXh0IG5hbWU9IkZBSUxFRF9TVFJJTkciIHZhbHVlPSJGYWlsZWQiLz4NCgkJPCEtLXF1aXogcG9kIGFuZCBtZXNzYWdlIGJveCB0ZXh0cy0tPg0KCQk8dWl0ZXh0IG5hbWU9IlFVSVpQT0RfUVVJWl9BVFRFTVBUIiB2YWx1ZT0iUXVpenBvZ2luZzoiLz4NCgkJPHVpdGV4dCBuYW1lPSJRVUlaUE9EX1FVSVpfQVRURU1QVF9WQUxVRSIgdmFsdWU9IiVuIHZhbiAldCIvPg0KCQk8dWl0ZXh0IG5hbWU9IlFVSVpQT0RfUVVJWl9TQ09SRSIgdmFsdWU9IkJlaGFhbGRlIHNjb3JlOiIvPg0KCQk8dWl0ZXh0IG5hbWU9IlFVSVpQT0RfUVVJWl9QQVNTU0NPUkUiIHZhbHVlPSJWb2xkb2VuZGUgc2NvcmU6Ii8+DQoJCTx1aXRleHQgbmFtZT0iUVVJWlBPRF9RVUlaX01BWFNDT1JFIiB2YWx1ZT0iTWF4aW1hYWwgaGFhbGJhcmUgc2NvcmU6Ii8+DQoJCTx1aXRleHQgbmFtZT0iUVVJWlBPRF9RVUVTQVRNUFRfU1RSIiB2YWx1ZT0iUG9naW5nOiAlbiB2YW4gJXQiLz4NCgkJPHVpdGV4dCBuYW1lPSJRVUlaUE9EX1FVRVNUWVBFX1NUUiIgdmFsdWU9IlR5cGU6ICVzIi8+DQoJCTx1aXRleHQgbmFtZT0iUVVJWlBPRF9RVUVTVFlQRV9HUkQiIHZhbHVlPSJUZWx0IHZvb3Igc2NvcmUiLz4NCgkJPHVpdGV4dCBuYW1lPSJRVUlaUE9EX1FVRVNUWVBFX1NWWSIgdmFsdWU9IkVucXXDqnRlIi8+DQoJCTx1aXRleHQgbmFtZT0iUVVJWlBPRF9RVUlaQVRNUFRfSU5GIiB2YWx1ZT0iT25iZXBlcmt0Ii8+DQoJCTx1aXRleHQgbmFtZT0iUVVJWlBPRF9RVUVTQVRNUFRfSU5GIiB2YWx1ZT0iT25iZXBlcmt0Ii8+DQoJCTx1aXRleHQgbmFtZT0iV0FSTklOR01TR19ZRVNTVFJJTkciIHZhbHVlPSJKYSIvPg0KCQk8dWl0ZXh0IG5hbWU9IldBUk5JTkdNU0dfTk9TVFJJTkciIHZhbHVlPSJOZWUiLz4NCgkJPHVpdGV4dCBuYW1lPSJXQVJOSU5HTVNHX1RJVExFU1RSSU5HIiB2YWx1ZT0iV2FhcnNjaHV3aW5nIG1ldCBiZXRyZWtraW5nIHRvdCBxdWl6bmF2aWdhdGllIi8+DQoJCTx1aXRleHQgbmFtZT0iV0FSTklOR01TR19NU0dTVFJJTkciIHZhbHVlPSJVIGhlYnQgbmlldCBhbGxlIHZyYWdlbiBpbiBkZXplIHF1aXogYmVhbnR3b29yZC4mI3hBOyYjeEE7S2xpayBvcCBKYSBvbSBkZSBxdWl6IGFmIHRlIHNsdWl0ZW4uIEtsaWsgb3AgTmVlIG9tIGRlIHF1aXogdm9vcnQgdGUgemV0dGVuLiIvPg0KCQk8dWl0ZXh0IG5hbWU9IklORk9STUFUSU9OX0gyNjRfRkxBU0hQTEFZRVIiIHZhbHVlPSJEZXplIHZpZGVvIHdvcmR0IG5pZXQgb25kZXJzdGV1bmQgZG9vciBkZSB2ZXJzaWUgdmFuIEZsYXNoIFBsYXllciBkaWUgbW9tZW50ZWVsIG9wIHV3IGNvbXB1dGVyIGlzIGdlw69uc3RhbGxlZXJkLiBLbGlrIGluIGRlIHZpZGVvIG9tIGRlIG5pZXV3c3RlIEZsYXNoIFBsYXllciB0ZSBkb3dubG9hZGVuLiIvPg0KCQk8IS0tIHN1YnN0aXR1dGlvbjogJXAgPT0gcHJlc2VudGF0aW9uIHRpdGxlIC0tPg0KCQk8IS0tIHN1YnN0aXR1dGlvbjogJXMgPT0gc2xpZGUgdGl0bGUgLS0+DQoJCTwhLS0gc3Vic3RpdHV0aW9uOiAlbiA9PSBzbGlkZSBudW1iZXIgLS0+DQoJCTx1aXRleHQgbmFtZT0iQk9PS01BUksiIHZhbHVlPSJBZG9iZSBQcmVzZW50ZXIgLSAlcCIvPg0KCQk8IS0tIHN1YnN0aXR1dGlvbjogJXAgPT0gcHJlc2VudGF0aW9uIHRpdGxlIC0tPg0KCQk8IS0tIHN1YnN0aXR1dGlvbjogJXMgPT0gc2xpZGUgdGl0bGUgLS0+DQoJCTwhLS0gc3Vic3RpdHV0aW9uOiAlbiA9PSBzbGlkZSBudW1iZXIgLS0+DQoJCTx1aXRleHQgbmFtZT0iQk9PS01BUktTTElERSIgdmFsdWU9IkFkb2JlIFByZXNlbnRlciAtICVwICVzIi8+DQoJCTx1aXRleHQgbmFtZT0iU0hPV1NJREVCQVIiIHZhbHVlPSJaaWpwYW5lZWwgYWFuIGRlZWxuZW1lcnMgd2VlcmdldmVuIi8+DQoJCTx1aXRleHQgbmFtZT0iTVVURSIgdmFsdWU9IkRlbXBlbiIvPg0KCQk8dWl0ZXh0IG5hbWU9IkRPQ1dSQVBfVElUTEUiIHZhbHVlPSJQcmVzZW50ZXItYmVzdGFuZHNiaWpsYWdlIi8+DQoJCTx1aXRleHQgbmFtZT0iRE9DV1JBUF9NU0ciIHZhbHVlPSJPcHNsYWFuIGluIERlemUgY29tcHV0ZXIiLz4NCgkJPHVpdGV4dCBuYW1lPSJET0NXUkFQX1BST01QVCIgdmFsdWU9IktsaWsgb20gdGUgZG93bmxvYWRlbiIvPg0KCTwvbGFuZ3VhZ2U+DQoJPGxhbmd1YWdlIGlkPSJjbiI+DQoJCTwhLS0gZm9ybWF0IGZvciB1aWZvbnQgdmFsdWUgaXMgImZvbnQsc2l6ZSxpc2JvbGQsaXNpdGFsaWMsaXNzaGFkb3dlZCIgLS0+DQoJCTx1aWZvbnQgbmFtZT0iRk9OVF9RVUlaWklORyIgdmFsdWU9IuWui+S9ky0xODAzMCwxMCxmYWxzZSxmYWxzZSxmYWxzZSIvPg0KCQk8dWlmb250IG5hbWU9IkZPTlRfU0NSVUJTVEFUVVMiIHZhbHVlPSLlrovkvZMtMTgwMzAsMTAsdHJ1ZSxmYWxzZSx0cnVlIi8+DQoJCTx1aWZvbnQgbmFtZT0iRk9OVF9TQ1JVQlRJTUUiIHZhbHVlPSLlrovkvZMtMTgwMzAsMTAsZmFsc2UsZmFsc2UsdHJ1ZSIvPg0KCQk8dWlmb250IG5hbWU9IkZPTlRfRUxBUFNFRFRJTUUiIHZhbHVlPSLlrovkvZMtMTgwMzAsMTAsdHJ1ZSxmYWxzZSx0cnVlIi8+DQoJCTx1aWZvbnQgbmFtZT0iRk9OVF9VVElMU01FTlUiIHZhbHVlPSLlrovkvZMtMTgwMzAsMTAsdHJ1ZSxmYWxzZSxmYWxzZSIvPg0KCQk8dWlmb250IG5hbWU9IkZPTlRfVEFCUyIgdmFsdWU9IuWui+S9ky0xODAzMCwxNCx0cnVlLGZhbHNlLHRydWUiLz4NCgkJPHVpZm9udCBuYW1lPSJGT05UX1BSRVNFTlRBVElPTk5BTUUiIHZhbHVlPSLlrovkvZMtMTgwMzAsMTQsZmFsc2UsZmFsc2UsdHJ1ZSIvPg0KCQk8dWlmb250IG5hbWU9IkZPTlRfUFJFU0VOVEVSTkFNRSIgdmFsdWU9IuWui+S9ky0xODAzMCwxNCx0cnVlLGZhbHNlLHRydWUiLz4NCgkJPHVpZm9udCBuYW1lPSJGT05UX1BSRVNFTlRFUlRJVExFIiB2YWx1ZT0i5a6L5L2TLTE4MDMwLDEzLGZhbHNlLGZhbHNlLHRydWUiLz4NCgkJPHVpZm9udCBuYW1lPSJGT05UX0JJT0JUTiIgdmFsdWU9IuWui+S9ky0xODAzMCwxMCxmYWxzZSxmYWxzZSx0cnVlIi8+DQoJCTx1aWZvbnQgbmFtZT0iRk9OVF9OT1RFUyIgdmFsdWU9IuWui+S9ky0xODAzMCwxMixmYWxzZSxmYWxzZSxmYWxzZSIvPg0KCQk8dWlmb250IG5hbWU9IkZPTlRfT1VUTElORSIgdmFsdWU9IuWui+S9ky0xODAzMCwxMixmYWxzZSxmYWxzZSx0cnVlIi8+DQoJCTx1aWZvbnQgbmFtZT0iRk9OVF9TRUFSQ0giIHZhbHVlPSLlrovkvZMtMTgwMzAsMTIsZmFsc2UsZmFsc2UsdHJ1ZSIvPg0KCQk8dWlmb250IG5hbWU9IkZPTlRfVEhVTUIiIHZhbHVlPSLlrovkvZMtMTgwMzAsMTAsZmFsc2UsZmFsc2UsdHJ1ZSIvPg0KCQk8dWlmb250IG5hbWU9IkZPTlRfQklPV0lOIiB2YWx1ZT0i5a6L5L2TLTE4MDMwLDEyLGZhbHNlLGZhbHNlLGZhbHNlIi8+DQoJCTx1aWZvbnQgbmFtZT0iRk9OVF9MSVNUSEVBRElORyIgdmFsdWU9IuWui+S9ky0xODAzMCwxMCxmYWxzZSxmYWxzZSxmYWxzZSIvPg0KCQk8dWlmb250IG5hbWU9IkZPTlRfV0lOVElUTEUiIHZhbHVlPSLlrovkvZMtMTgwMzAsMTAsZmFsc2UsZmFsc2UsdHJ1ZSIvPg0KCQk8dWlmb250IG5hbWU9IkZPTlRfQVRUQUNITUVOVFMiIHZhbHVlPSLlrovkvZMtMTgwMzAsMTIsZmFsc2UsZmFsc2UsdHJ1ZSIvPg0KCQk8IS0tcXVpeiBwb2QgYW5kIG1lc3NhZ2UgYm94IHRleHQgZm9udHMtLT4NCgkJPHVpZm9udCBuYW1lPSJGT05UX01TR0JPWF9XSU5USVRMRSIgdmFsdWU9IuWui+S9ky0xODAzMCwxMix0cnVlLGZhbHNlLHRydWUiLz4NCgkJPHVpZm9udCBuYW1lPSJGT05UX01TR0JPWF9NU0ciIHZhbHVlPSLlrovkvZMtMTgwMzAsMTIsZmFsc2UsZmFsc2UsdHJ1ZSIvPg0KCQk8dWlmb250IG5hbWU9IkZPTlRfTVNHQk9YX09QVElPTlMiIHZhbHVlPSLlrovkvZMtMTgwMzAsMTAsdHJ1ZSxmYWxzZSx0cnVlIi8+DQoJCTx1aWZvbnQgbmFtZT0iRk9OVF9RVUlaUE9EX1FVSVpfVElUTEUiIHZhbHVlPSLlrovkvZMtMTgwMzAsMTIsdHJ1ZSxmYWxzZSx0cnVlIi8+DQoJCTx1aWZvbnQgbmFtZT0iRk9OVF9RVUlaUE9EX1FVSVpfQVRURU1QVCIgdmFsdWU9IuWui+S9ky0xODAzMCwxMCxmYWxzZSxmYWxzZSx0cnVlIi8+DQoJCTx1aWZvbnQgbmFtZT0iRk9OVF9RVUlaUE9EX1FVSVpfQVRURU1QVF9WQUxVRSIgdmFsdWU9IuWui+S9ky0xODAzMCwxMCx0cnVlLGZhbHNlLHRydWUiLz4NCgkJPHVpZm9udCBuYW1lPSJGT05UX1FVSVpQT0RfUVVFU1RJT05fU0NPUkUiIHZhbHVlPSLlrovkvZMtMTgwMzAsMTAsZmFsc2UsZmFsc2UsdHJ1ZSIvPg0KCQk8dWlmb250IG5hbWU9IkZPTlRfUVVJWlBPRF9RVUVTVElPTl9TQ09SRV9WQUxVRSIgdmFsdWU9IuWui+S9ky0xODAzMCwxMCx0cnVlLGZhbHNlLHRydWUiLz4NCgkJPHVpZm9udCBuYW1lPSJGT05UX1FVSVpQT0RfUVVFU1RJT05fQVRURU1QVCIgdmFsdWU9IuWui+S9ky0xODAzMCwxMCxmYWxzZSxmYWxzZSx0cnVlIi8+DQoJCTx1aWZvbnQgbmFtZT0iRk9OVF9RVUlaUE9EX1FVRVNUSU9OX0FUVEVNUFRfVkFMVUUiIHZhbHVlPSLlrovkvZMtMTgwMzAsMTAsdHJ1ZSxmYWxzZSx0cnVlIi8+DQoJCTx1aWZvbnQgbmFtZT0iRk9OVF9RVUlaUE9EX1FVRVNUSU9OX1RBRyIgdmFsdWU9IuWui+S9ky0xODAzMCwxMix0cnVlLGZhbHNlLHRydWUiLz4NCgkJPHVpZm9udCBuYW1lPSJGT05UX1FVSVpQT0RfUVVJWl9RVUVTVElPTl9DT1VOVCIgdmFsdWU9IuWui+S9ky0xODAzMCwxMCxmYWxzZSxmYWxzZSx0cnVlIi8+DQoJCTx1aWZvbnQgbmFtZT0iRk9OVF9RVUlaUE9EX1FVSVpfUVVFU1RJT05fQ09VTlRfVkFMVUUiIHZhbHVlPSLlrovkvZMtMTgwMzAsMTAsdHJ1ZSxmYWxzZSx0cnVlIi8+DQoJCTx1aWZvbnQgbmFtZT0iRk9OVF9RVUlaUE9EX1FVSVpfUVVFU1RJT05fQVRURU1QVEVEIiB2YWx1ZT0i5a6L5L2TLTE4MDMwLDEwLGZhbHNlLGZhbHNlLHRydWUiLz4NCgkJPHVpZm9udCBuYW1lPSJGT05UX1FVSVpQT0RfUVVJWl9RVUVTVElPTl9BVFRFTVBURURfVkFMVUUiIHZhbHVlPSLlrovkvZMtMTgwMzAsMTAsdHJ1ZSxmYWxzZSx0cnVlIi8+DQoJCTx1aWZvbnQgbmFtZT0iRk9OVF9RVUlaUE9EX1FVSVpfU0NPUkVfVEFHIiB2YWx1ZT0i5a6L5L2TLTE4MDMwLDEyLHRydWUsZmFsc2UsdHJ1ZSIvPg0KCQk8dWlmb250IG5hbWU9IkZPTlRfUVVJWlBPRF9RVUlaX1NDT1JFIiB2YWx1ZT0i5a6L5L2TLTE4MDMwLDEwLGZhbHNlLGZhbHNlLHRydWUiLz4NCgkJPHVpZm9udCBuYW1lPSJGT05UX1FVSVpQT0RfUVVJWl9TQ09SRV9WQUxVRSIgdmFsdWU9IuWui+S9ky0xODAzMCwxMCx0cnVlLGZhbHNlLHRydWUiLz4NCgkJPHVpZm9udCBuYW1lPSJGT05UX1FVSVpQT0RfUVVJWl9NQVhTQ09SRSIgdmFsdWU9IuWui+S9ky0xODAzMCwxMCxmYWxzZSxmYWxzZSx0cnVlIi8+DQoJCTx1aWZvbnQgbmFtZT0iRk9OVF9RVUlaUE9EX1FVSVpfTUFYU0NPUkVfVkFMVUUiIHZhbHVlPSLlrovkvZMtMTgwMzAsMTAsdHJ1ZSxmYWxzZSx0cnVlIi8+DQoJCTx1aWZvbnQgbmFtZT0iRk9OVF9RVUlaUE9EX1FVSVpfUEFTU1NDT1JFIiB2YWx1ZT0i5a6L5L2TLTE4MDMwLDEwLGZhbHNlLGZhbHNlLHRydWUiLz4NCgkJPHVpZm9udCBuYW1lPSJGT05UX1FVSVpQT0RfUVVJWl9QQVNTU0NPUkVfVkFMVUUiIHZhbHVlPSLlrovkvZMtMTgwMzAsMTAsdHJ1ZSxmYWxzZSx0cnVlIi8+DQoJCTwhLS0gdWl0ZXh0IC0tPg0KCQk8IS0tIHN1YnN0aXR1dGlvbjogJW4gPT0gc2xpZGUgbnVtYmVyIC0tPg0KCQk8dWl0ZXh0IG5hbWU9IkFUVEFDSE1FTlRfUFJFVklFV19XQVJOSU5HTVNHX1RJVExFU1RSSU5HIiB2YWx1ZT0iQXR0YWNobWVudCBXYXJuaW5nIi8+DQoJCTx1aXRleHQgbmFtZT0iQVRUQUNITUVOVF9QUkVWSUVXX1dBUk5JTkdNU0ciIHZhbHVlPSJBdHRhY2htZW50cyBkbyBub3Qgb3BlbiBpbiBQcmV2aWV3IG1vZGUuIFBsZWFzZSB1c2UgcHVibGlzaCB0byBzZWUgdGhlIHJlc3VsdHMiLz4NCgkJPHVpdGV4dCBuYW1lPSJDT0xMQUJfTE9DQUxfUExBWUJBQ0tfTVNHIiB2YWx1ZT0iQ29udGVudCBpcyBiZWluZyBwbGF5ZWQgbG9jYWxseS5cbiBDb2xsYWJvcmF0aW9uIGRvZXMgbm90IHdvcmsgaW4gdGhpcyBtb2RlIi8+DQoJCTx1aXRleHQgbmFtZT0iQ09MTEFCX0xPQ0FMX1BMQVlCQUNLX1RJVExFIiB2YWx1ZT0iTG9jYWwgUGxheWJhY2siLz4NCgkJPHVpdGV4dCBuYW1lPSJDT0xMQUJfTE9DQUxfUExBWUJBQ0tCVE4iIHZhbHVlPSJPayIvPg0KCQk8dWl0ZXh0IG5hbWU9IlVOTkFNRURTTElERVRJVExFIiB2YWx1ZT0i5bm754Gv54mHICVuIi8+DQoJCTwhLS0gc3Vic3RpdHV0aW9uOiAlbiA9PSBzbGlkZSBudW1iZXIgLS0+DQoJCTwhLS0gc3Vic3RpdHV0aW9uOiAldCA9PSB0b3RhbCBzbGlkZSBjb3VudCAtLT4NCgkJPHVpdGV4dCBuYW1lPSJTQ1JVQkJBUlNUQVRVU19TTElERUlORk8iIHZhbHVlPSLlubvnga/niYcgJW4gLyAldCB8ICIvPg0KCQk8dWl0ZXh0IG5hbWU9IlNDUlVCQkFSU1RBVFVTX1NUT1BQRUQiIHZhbHVlPSLlt7LlgZzmraIiLz4NCgkJPHVpdGV4dCBuYW1lPSJTQ1JVQkJBUlNUQVRVU19QTEFZSU5HIiB2YWx1ZT0i5q2j5Zyo5pKt5pS+Ii8+DQoJCTx1aXRleHQgbmFtZT0iU0NSVUJCQVJTVEFUVVNfTk9BVURJTyIgdmFsdWU9IuaXoOmfs+mikSIvPg0KCQk8dWl0ZXh0IG5hbWU9IlNDUlVCQkFSU1RBVFVTX1ZJRFBMQVlJTkciIHZhbHVlPSLop4bpopHmkq3mlL4iLz4NCgkJPHVpdGV4dCBuYW1lPSJTQ1JVQkJBUlNUQVRVU19MT0FESU5HIiB2YWx1ZT0i5q2j5Zyo6L295YWlIi8+DQoJCTx1aXRleHQgbmFtZT0iU0NSVUJCQVJTVEFUVVNfQlVGRkVSSU5HIiB2YWx1ZT0i5q2j5Zyo6L+b6KGM57yT5Yay5aSE55CGIi8+DQoJCTx1aXRleHQgbmFtZT0iU0NSVUJCQVJTVEFUVVNfUVVFU1RJT04iIHZhbHVlPSLlm57nrZTpl67popgiLz4NCgkJPHVpdGV4dCBuYW1lPSJTQ1JVQkJBUlNUQVRVU19SRVZJRVdRVUlaIiB2YWx1ZT0i5q2j5Zyo5a6h6ZiF5rWL6aqMIi8+DQoJCTwhLS0gc3Vic3RpdHV0aW9uOiAlbSA9PSBtaW51dGVzIHJlbWFpbmluZyAtLT4NCgkJPCEtLSBzdWJzdGl0dXRpb246ICVzID09IHNlY29uZHMgcmVtYWluaW5nIC0tPg0KCQk8dWl0ZXh0IG5hbWU9IkVMQVBTRUQiIHZhbHVlPSLliankvZkgJW0g5YiG6ZKfICVzIOenkiIvPg0KCQk8dWl0ZXh0IG5hbWU9Ik5PVEZPVU5EIiB2YWx1ZT0i5pyq5om+5Yiw5Lu75L2V5YaF5a65Ii8+DQoJCTx1aXRleHQgbmFtZT0iQVRUQUNITUVOVFMiIHZhbHVlPSLpmYTku7YiLz4NCgkJPCEtLSBzdWJzdGl0dXRpb246ICVwID09IGN1cnJlbnQgc3BlYWtlcidzIHRpdGxlIC0tPg0KCQk8dWl0ZXh0IG5hbWU9IkJJT1dJTl9USVRMRSIgdmFsdWU9IuS4quS6uueugOS7izogJXAiLz4NCgkJPHVpdGV4dCBuYW1lPSJCSU9CVE5fVElUTEUiIHZhbHVlPSLkuKrkurrnroDku4siLz4NCgkJPHVpdGV4dCBuYW1lPSJESVZJREVSQlROX1RJVExFIiB2YWx1ZT0ifCIvPg0KCQk8dWl0ZXh0IG5hbWU9IkNPTlRBQ1RCVE5fVElUTEUiIHZhbHVlPSLogZTns7vmlrnlvI8iLz4NCgkJPHVpdGV4dCBuYW1lPSJUQUJfUVVJWiIgdmFsdWU9Iua1i+mqjCIvPg0KCQk8dWl0ZXh0IG5hbWU9IlRBQl9PVVRMSU5FIiB2YWx1ZT0i5aSn57qyIi8+DQoJCTx1aXRleHQgbmFtZT0iVEFCX1RIVU1CIiB2YWx1ZT0i57yp55Wl5Zu+Ii8+DQoJCTx1aXRleHQgbmFtZT0iVEFCX05PVEVTIiB2YWx1ZT0i5aSH5rOoIi8+DQoJCTx1aXRleHQgbmFtZT0iVEFCX1NFQVJDSCIgdmFsdWU9IuaQnOe0oiIvPg0KCQk8dWl0ZXh0IG5hbWU9IlNMSURFX0hFQURJTkciIHZhbHVlPSLlubvnga/niYfmoIfpopgiLz4NCgkJPHVpdGV4dCBuYW1lPSJEVVJBVElPTl9IRUFESU5HIiB2YWx1ZT0i5oyB57ut5pe26Ze0Ii8+DQoJCTx1aXRleHQgbmFtZT0iU0VBUkNIX0hFQURJTkciIHZhbHVlPSLmkJzntKLmlofmnKw6Ii8+DQoJCTx1aXRleHQgbmFtZT0iVEhVTUJfSEVBRElORyIgdmFsdWU9IuW5u+eBr+eJhyIvPg0KCQk8dWl0ZXh0IG5hbWU9IlRIVU1CX0lORk8iIHZhbHVlPSLlubvnga/niYfmoIfpopgv5oyB57ut5pe26Ze0Ii8+DQoJCTx1aXRleHQgbmFtZT0iQVRUQUNITkFNRV9IRUFESU5HIiB2YWx1ZT0i5paH5Lu25ZCNIi8+DQoJCTx1aXRleHQgbmFtZT0iQVRUQUNIU0laRV9IRUFESU5HIiB2YWx1ZT0i5aSn5bCPIi8+DQoJCTx1aXRleHQgbmFtZT0iU0xJREVfTk9URVMiIHZhbHVlPSLlubvnga/niYflpIfms6giLz4NCgkJPHVpdGV4dCBuYW1lPSJDT1VSU0VfU1RBVFVTIiB2YWx1ZT0iTW9kdWxlIFN0YXR1cyIvPg0KCQk8dWl0ZXh0IG5hbWU9IlBBU1NFRF9TVFJJTkciIHZhbHVlPSJQYXNzZWQiLz4NCgkJPHVpdGV4dCBuYW1lPSJGQUlMRURfU1RSSU5HIiB2YWx1ZT0iRmFpbGVkIi8+DQoJCTwhLS1xdWl6IHBvZCBhbmQgbWVzc2FnZSBib3ggdGV4dHMtLT4NCgkJPHVpdGV4dCBuYW1lPSJRVUlaUE9EX1FVSVpfQVRURU1QVCIgdmFsdWU9Iua1i+mqjOWwneivleasoeaVsDoiLz4NCgkJPHVpdGV4dCBuYW1lPSJRVUlaUE9EX1FVSVpfQVRURU1QVF9WQUxVRSIgdmFsdWU9IuesrCAlbiDmrKHvvIzlhbEgJXQg5qyhIi8+DQoJCTx1aXRleHQgbmFtZT0iUVVJWlBPRF9RVUlaX1NDT1JFIiB2YWx1ZT0i5b6X5YiGOiIvPg0KCQk8dWl0ZXh0IG5hbWU9IlFVSVpQT0RfUVVJWl9QQVNTU0NPUkUiIHZhbHVlPSLlj4rmoLzliIbmlbA6Ii8+DQoJCTx1aXRleHQgbmFtZT0iUVVJWlBPRF9RVUlaX01BWFNDT1JFIiB2YWx1ZT0i5pyA6auY5YiG5pWwOiIvPg0KCQk8dWl0ZXh0IG5hbWU9IlFVSVpQT0RfUVVFU0FUTVBUX1NUUiIgdmFsdWU9IuWwneivleasoeaVsDog56ysICVuIOasoe+8jOWFsSAldCDmrKEiLz4NCgkJPHVpdGV4dCBuYW1lPSJRVUlaUE9EX1FVRVNUWVBFX1NUUiIgdmFsdWU9Iuexu+WeizogJXMiLz4NCgkJPHVpdGV4dCBuYW1lPSJRVUlaUE9EX1FVRVNUWVBFX0dSRCIgdmFsdWU9IuivhOe6pyIvPg0KCQk8dWl0ZXh0IG5hbWU9IlFVSVpQT0RfUVVFU1RZUEVfU1ZZIiB2YWx1ZT0i6LCD5p+lIi8+DQoJCTx1aXRleHQgbmFtZT0iUVVJWlBPRF9RVUlaQVRNUFRfSU5GIiB2YWx1ZT0i5peg6ZmQIi8+DQoJCTx1aXRleHQgbmFtZT0iUVVJWlBPRF9RVUVTQVRNUFRfSU5GIiB2YWx1ZT0i5peg6ZmQIi8+DQoJCTx1aXRleHQgbmFtZT0iV0FSTklOR01TR19ZRVNTVFJJTkciIHZhbHVlPSLmmK8iLz4NCgkJPHVpdGV4dCBuYW1lPSJXQVJOSU5HTVNHX05PU1RSSU5HIiB2YWx1ZT0i5ZCmIi8+DQoJCTx1aXRleHQgbmFtZT0iV0FSTklOR01TR19USVRMRVNUUklORyIgdmFsdWU9Iua1i+mqjOWvvOiIquitpuWRiiIvPg0KCQk8dWl0ZXh0IG5hbWU9IldBUk5JTkdNU0dfTVNHU1RSSU5HIiB2YWx1ZT0i5q2k5rWL6aqM5Lit5pyJ5pyq5bCd6K+V5L2c562U55qE6Zeu6aKY44CCJiN4QTsmI3hBO+WNleWHu+KAnOaYr+KAnemAgOWHuuatpOa1i+mqjOOAguWNleWHu+KAnOWQpuKAnee7p+e7rea1i+mqjOOAgiIvPg0KCQk8dWl0ZXh0IG5hbWU9IklORk9STUFUSU9OX0gyNjRfRkxBU0hQTEFZRVIiIHZhbHVlPSLlvZPliY3lronoo4XlnKjmgqjnmoTorqHnrpfmnLrkuIrnmoQgRmxhc2ggUGxheWVyIOeJiOacrOS4jeaUr+aMgeivpeinhumikeOAguWNleWHu+inhumikeWMuuWfn+S4i+i9veacgOaWsOeJiOacrOeahCBGbGFzaCBQbGF5ZXLjgIIiLz4NCgkJPCEtLSBzdWJzdGl0dXRpb246ICVwID09IHByZXNlbnRhdGlvbiB0aXRsZSAtLT4NCgkJPCEtLSBzdWJzdGl0dXRpb246ICVzID09IHNsaWRlIHRpdGxlIC0tPg0KCQk8IS0tIHN1YnN0aXR1dGlvbjogJW4gPT0gc2xpZGUgbnVtYmVyIC0tPg0KCQk8dWl0ZXh0IG5hbWU9IkJPT0tNQVJLIiB2YWx1ZT0iQWRvYmUgUHJlc2VudGVyIC0gJXAiLz4NCgkJPCEtLSBzdWJzdGl0dXRpb246ICVwID09IHByZXNlbnRhdGlvbiB0aXRsZSAtLT4NCgkJPCEtLSBzdWJzdGl0dXRpb246ICVzID09IHNsaWRlIHRpdGxlIC0tPg0KCQk8IS0tIHN1YnN0aXR1dGlvbjogJW4gPT0gc2xpZGUgbnVtYmVyIC0tPg0KCQk8dWl0ZXh0IG5hbWU9IkJPT0tNQVJLU0xJREUiIHZhbHVlPSJBZG9iZSBQcmVzZW50ZXIgLSAlcCAlcyIvPg0KCQk8dWl0ZXh0IG5hbWU9IlNIT1dTSURFQkFSIiB2YWx1ZT0i5ZCR5Y+C5Yqg6ICF5pi+56S65o+Q6KaB5qCPIi8+DQoJCTx1aXRleHQgbmFtZT0iTVVURSIgdmFsdWU9IumdmemfsyIvPg0KCQk8dWl0ZXh0IG5hbWU9IkRPQ1dSQVBfVElUTEUiIHZhbHVlPSJQcmVzZW50ZXIg5paH5Lu26ZmE5Lu2Ii8+DQoJCTx1aXRleHQgbmFtZT0iRE9DV1JBUF9NU0ciIHZhbHVlPSLkv53lrZjliLDmiJHnmoTorqHnrpfmnLoiLz4NCgkJPHVpdGV4dCBuYW1lPSJET0NXUkFQX1BST01QVCIgdmFsdWU9IuWNleWHu+S7peS4i+i9vSIvPg0KCTwvbGFuZ3VhZ2U+DQoJPGxhbmd1YWdlIGlkPSJ0ciI+DQoJCTwhLS0gZm9ybWF0IGZvciB1aWZvbnQgdmFsdWUgaXMgImZvbnQsc2l6ZSxpc2JvbGQsaXNpdGFsaWMsaXNzaGFkb3dlZCIgLS0+DQoJCTx1aWZvbnQgbmFtZT0iRk9OVF9RVUlaWklORyIgdmFsdWU9IlZlcmRhbmEsOSxmYWxzZSxmYWxzZSxmYWxzZSIvPg0KCQk8dWlmb250IG5hbWU9IkZPTlRfU0NSVUJTVEFUVVMiIHZhbHVlPSJWZXJkYW5hLDksdHJ1ZSxmYWxzZSx0cnVlIi8+DQoJCTx1aWZvbnQgbmFtZT0iRk9OVF9TQ1JVQlRJTUUiIHZhbHVlPSJWZXJkYW5hLDksZmFsc2UsZmFsc2UsdHJ1ZSIvPg0KCQk8dWlmb250IG5hbWU9IkZPTlRfRUxBUFNFRFRJTUUiIHZhbHVlPSJWZXJkYW5hLDksdHJ1ZSxmYWxzZSx0cnVlIi8+DQoJCTx1aWZvbnQgbmFtZT0iRk9OVF9VVElMU01FTlUiIHZhbHVlPSJWZXJkYW5hLDksdHJ1ZSxmYWxzZSxmYWxzZSIvPg0KCQk8dWlmb250IG5hbWU9IkZPTlRfVEFCUyIgdmFsdWU9IlZlcmRhbmEsOSx0cnVlLGZhbHNlLHRydWUiLz4NCgkJPHVpZm9udCBuYW1lPSJGT05UX1BSRVNFTlRBVElPTk5BTUUiIHZhbHVlPSJWZXJkYW5hLDE0LGZhbHNlLGZhbHNlLHRydWUiLz4NCgkJPHVpZm9udCBuYW1lPSJGT05UX1BSRVNFTlRFUk5BTUUiIHZhbHVlPSJWZXJkYW5hLDEwLHRydWUsZmFsc2UsdHJ1ZSIvPg0KCQk8dWlmb250IG5hbWU9IkZPTlRfUFJFU0VOVEVSVElUTEUiIHZhbHVlPSJWZXJkYW5hLDEwLGZhbHNlLGZhbHNlLHRydWUiLz4NCgkJPHVpZm9udCBuYW1lPSJGT05UX0JJT0JUTiIgdmFsdWU9IlZlcmRhbmEsMTAsZmFsc2UsZmFsc2UsdHJ1ZSIvPg0KCQk8dWlmb250IG5hbWU9IkZPTlRfTk9URVMiIHZhbHVlPSJWZXJkYW5hLDExLGZhbHNlLGZhbHNlLGZhbHNlIi8+DQoJCTx1aWZvbnQgbmFtZT0iRk9OVF9PVVRMSU5FIiB2YWx1ZT0iVmVyZGFuYSwxMSxmYWxzZSxmYWxzZSx0cnVlIi8+DQoJCTx1aWZvbnQgbmFtZT0iRk9OVF9TRUFSQ0giIHZhbHVlPSJWZXJkYW5hLDExLGZhbHNlLGZhbHNlLHRydWUiLz4NCgkJPHVpZm9udCBuYW1lPSJGT05UX1RIVU1CIiB2YWx1ZT0iVmVyZGFuYSw5LGZhbHNlLGZhbHNlLHRydWUiLz4NCgkJPHVpZm9udCBuYW1lPSJGT05UX0JJT1dJTiIgdmFsdWU9IlZlcmRhbmEsMTEsZmFsc2UsZmFsc2UsZmFsc2UiLz4NCgkJPHVpZm9udCBuYW1lPSJGT05UX0xJU1RIRUFESU5HIiB2YWx1ZT0iVmVyZGFuYSw5LGZhbHNlLGZhbHNlLGZhbHNlIi8+DQoJCTx1aWZvbnQgbmFtZT0iRk9OVF9XSU5USVRMRSIgdmFsdWU9IlZlcmRhbmEsOSxmYWxzZSxmYWxzZSx0cnVlIi8+DQoJCTx1aWZvbnQgbmFtZT0iRk9OVF9BVFRBQ0hNRU5UUyIgdmFsdWU9IlZlcmRhbmEsMTEsZmFsc2UsZmFsc2UsdHJ1ZSIvPg0KCQk8IS0tcXVpeiBwb2QgYW5kIG1lc3NhZ2UgYm94IHRleHQgZm9udHMtLT4NCgkJPHVpZm9udCBuYW1lPSJGT05UX01TR0JPWF9XSU5USVRMRSIgdmFsdWU9IlZlcmRhbmEsMTEsdHJ1ZSxmYWxzZSx0cnVlIi8+DQoJCTx1aWZvbnQgbmFtZT0iRk9OVF9NU0dCT1hfTVNHIiB2YWx1ZT0iVmVyZGFuYSwxMSxmYWxzZSxmYWxzZSx0cnVlIi8+DQoJCTx1aWZvbnQgbmFtZT0iRk9OVF9NU0dCT1hfT1BUSU9OUyIgdmFsdWU9IlZlcmRhbmEsOSx0cnVlLGZhbHNlLHRydWUiLz4NCgkJPHVpZm9udCBuYW1lPSJGT05UX1FVSVpQT0RfUVVJWl9USVRMRSIgdmFsdWU9IlZlcmRhbmEsMTEsdHJ1ZSxmYWxzZSx0cnVlIi8+DQoJCTx1aWZvbnQgbmFtZT0iRk9OVF9RVUlaUE9EX1FVSVpfQVRURU1QVCIgdmFsdWU9IlZlcmRhbmEsOSxmYWxzZSxmYWxzZSx0cnVlIi8+DQoJCTx1aWZvbnQgbmFtZT0iRk9OVF9RVUlaUE9EX1FVSVpfQVRURU1QVF9WQUxVRSIgdmFsdWU9IlZlcmRhbmEsOSx0cnVlLGZhbHNlLHRydWUiLz4NCgkJPHVpZm9udCBuYW1lPSJGT05UX1FVSVpQT0RfUVVFU1RJT05fU0NPUkUiIHZhbHVlPSJWZXJkYW5hLDksZmFsc2UsZmFsc2UsdHJ1ZSIvPg0KCQk8dWlmb250IG5hbWU9IkZPTlRfUVVJWlBPRF9RVUVTVElPTl9TQ09SRV9WQUxVRSIgdmFsdWU9IlZlcmRhbmEsOSx0cnVlLGZhbHNlLHRydWUiLz4NCgkJPHVpZm9udCBuYW1lPSJGT05UX1FVSVpQT0RfUVVFU1RJT05fQVRURU1QVCIgdmFsdWU9IlZlcmRhbmEsOSxmYWxzZSxmYWxzZSx0cnVlIi8+DQoJCTx1aWZvbnQgbmFtZT0iRk9OVF9RVUlaUE9EX1FVRVNUSU9OX0FUVEVNUFRfVkFMVUUiIHZhbHVlPSJWZXJkYW5hLDksdHJ1ZSxmYWxzZSx0cnVlIi8+DQoJCTx1aWZvbnQgbmFtZT0iRk9OVF9RVUlaUE9EX1FVRVNUSU9OX1RBRyIgdmFsdWU9IlZlcmRhbmEsMTEsdHJ1ZSxmYWxzZSx0cnVlIi8+DQoJCTx1aWZvbnQgbmFtZT0iRk9OVF9RVUlaUE9EX1FVSVpfUVVFU1RJT05fQ09VTlQiIHZhbHVlPSJWZXJkYW5hLDksZmFsc2UsZmFsc2UsdHJ1ZSIvPg0KCQk8dWlmb250IG5hbWU9IkZPTlRfUVVJWlBPRF9RVUlaX1FVRVNUSU9OX0NPVU5UX1ZBTFVFIiB2YWx1ZT0iVmVyZGFuYSw5LHRydWUsZmFsc2UsdHJ1ZSIvPg0KCQk8dWlmb250IG5hbWU9IkZPTlRfUVVJWlBPRF9RVUlaX1FVRVNUSU9OX0FUVEVNUFRFRCIgdmFsdWU9IlZlcmRhbmEsOSxmYWxzZSxmYWxzZSx0cnVlIi8+DQoJCTx1aWZvbnQgbmFtZT0iRk9OVF9RVUlaUE9EX1FVSVpfUVVFU1RJT05fQVRURU1QVEVEX1ZBTFVFIiB2YWx1ZT0iVmVyZGFuYSw5LHRydWUsZmFsc2UsdHJ1ZSIvPg0KCQk8dWlmb250IG5hbWU9IkZPTlRfUVVJWlBPRF9RVUlaX1NDT1JFX1RBRyIgdmFsdWU9IlZlcmRhbmEsMTEsdHJ1ZSxmYWxzZSx0cnVlIi8+DQoJCTx1aWZvbnQgbmFtZT0iRk9OVF9RVUlaUE9EX1FVSVpfU0NPUkUiIHZhbHVlPSJWZXJkYW5hLDksZmFsc2UsZmFsc2UsdHJ1ZSIvPg0KCQk8dWlmb250IG5hbWU9IkZPTlRfUVVJWlBPRF9RVUlaX1NDT1JFX1ZBTFVFIiB2YWx1ZT0iVmVyZGFuYSw5LHRydWUsZmFsc2UsdHJ1ZSIvPg0KCQk8dWlmb250IG5hbWU9IkZPTlRfUVVJWlBPRF9RVUlaX01BWFNDT1JFIiB2YWx1ZT0iVmVyZGFuYSw5LGZhbHNlLGZhbHNlLHRydWUiLz4NCgkJPHVpZm9udCBuYW1lPSJGT05UX1FVSVpQT0RfUVVJWl9NQVhTQ09SRV9WQUxVRSIgdmFsdWU9IlZlcmRhbmEsOSx0cnVlLGZhbHNlLHRydWUiLz4NCgkJPHVpZm9udCBuYW1lPSJGT05UX1FVSVpQT0RfUVVJWl9QQVNTU0NPUkUiIHZhbHVlPSJWZXJkYW5hLDksZmFsc2UsZmFsc2UsdHJ1ZSIvPg0KCQk8dWlmb250IG5hbWU9IkZPTlRfUVVJWlBPRF9RVUlaX1BBU1NTQ09SRV9WQUxVRSIgdmFsdWU9IlZlcmRhbmEsOSx0cnVlLGZhbHNlLHRydWUiLz4NCgkJPCEtLSB1aXRleHQgLS0+DQoJCTwhLS0gc3Vic3RpdHV0aW9uOiAlbiA9PSBzbGlkZSBudW1iZXIgLS0+DQoJCTx1aXRleHQgbmFtZT0iQVRUQUNITUVOVF9QUkVWSUVXX1dBUk5JTkdNU0dfVElUTEVTVFJJTkciIHZhbHVlPSJBdHRhY2htZW50IFdhcm5pbmciLz4NCgkJPHVpdGV4dCBuYW1lPSJBVFRBQ0hNRU5UX1BSRVZJRVdfV0FSTklOR01TRyIgdmFsdWU9IkF0dGFjaG1lbnRzIGRvIG5vdCBvcGVuIGluIFByZXZpZXcgbW9kZS4gUGxlYXNlIHVzZSBwdWJsaXNoIHRvIHNlZSB0aGUgcmVzdWx0cyIvPg0KCQk8dWl0ZXh0IG5hbWU9IkNPTExBQl9MT0NBTF9QTEFZQkFDS19NU0ciIHZhbHVlPSJDb250ZW50IGlzIGJlaW5nIHBsYXllZCBsb2NhbGx5LlxuIENvbGxhYm9yYXRpb24gZG9lcyBub3Qgd29yayBpbiB0aGlzIG1vZGUiLz4NCgkJPHVpdGV4dCBuYW1lPSJDT0xMQUJfTE9DQUxfUExBWUJBQ0tfVElUTEUiIHZhbHVlPSJMb2NhbCBQbGF5YmFjayIvPg0KCQk8dWl0ZXh0IG5hbWU9IkNPTExBQl9MT0NBTF9QTEFZQkFDS0JUTiIgdmFsdWU9Ik9rIi8+DQoJCTx1aXRleHQgbmFtZT0iVU5OQU1FRFNMSURFVElUTEUiIHZhbHVlPSJTbGF5dCAlbiIvPg0KCQk8IS0tIHN1YnN0aXR1dGlvbjogJW4gPT0gc2xpZGUgbnVtYmVyIC0tPg0KCQk8IS0tIHN1YnN0aXR1dGlvbjogJXQgPT0gdG90YWwgc2xpZGUgY291bnQgLS0+DQoJCTx1aXRleHQgbmFtZT0iU0NSVUJCQVJTVEFUVVNfU0xJREVJTkZPIiB2YWx1ZT0iU2xheXQgJW4gLyAldCB8ICIvPg0KCQk8dWl0ZXh0IG5hbWU9IlNDUlVCQkFSU1RBVFVTX1NUT1BQRUQiIHZhbHVlPSJEdXJkdXJ1bGR1Ii8+DQoJCTx1aXRleHQgbmFtZT0iU0NSVUJCQVJTVEFUVVNfUExBWUlORyIgdmFsdWU9Ik95bmF0xLFsxLF5b3IiLz4NCgkJPHVpdGV4dCBuYW1lPSJTQ1JVQkJBUlNUQVRVU19OT0FVRElPIiB2YWx1ZT0iU2VzIFlvayIvPg0KCQk8dWl0ZXh0IG5hbWU9IlNDUlVCQkFSU1RBVFVTX1ZJRFBMQVlJTkciIHZhbHVlPSJWaWRlbyBPeW5hdMSxbMSxeW9yIi8+DQoJCTx1aXRleHQgbmFtZT0iU0NSVUJCQVJTVEFUVVNfTE9BRElORyIgdmFsdWU9IlnDvGtsZW5peW9yIi8+DQoJCTx1aXRleHQgbmFtZT0iU0NSVUJCQVJTVEFUVVNfQlVGRkVSSU5HIiB2YWx1ZT0iQXJhYmVsbGXEn2UgQWzEsW7EsXlvciIvPg0KCQk8dWl0ZXh0IG5hbWU9IlNDUlVCQkFSU1RBVFVTX1FVRVNUSU9OIiB2YWx1ZT0iU29ydXl1IFlhbsSxdGxhIi8+DQoJCTx1aXRleHQgbmFtZT0iU0NSVUJCQVJTVEFUVVNfUkVWSUVXUVVJWiIgdmFsdWU9IlPEsW5hdiDEsG5jZWxlbml5b3IiLz4NCgkJPCEtLSBzdWJzdGl0dXRpb246ICVtID09IG1pbnV0ZXMgcmVtYWluaW5nIC0tPg0KCQk8IS0tIHN1YnN0aXR1dGlvbjogJXMgPT0gc2Vjb25kcyByZW1haW5pbmcgLS0+DQoJCTx1aXRleHQgbmFtZT0iRUxBUFNFRCIgdmFsdWU9IiVtIERha2lrYSAlcyBTYW5peWUgS2FsZMSxIi8+DQoJCTx1aXRleHQgbmFtZT0iTk9URk9VTkQiIHZhbHVlPSJIZXJoYW5naSBCaXIgxZ5leSBCdWx1bm1hZMSxIi8+DQoJCTx1aXRleHQgbmFtZT0iQVRUQUNITUVOVFMiIHZhbHVlPSJFa2xlciIvPg0KCQk8IS0tIHN1YnN0aXR1dGlvbjogJXAgPT0gY3VycmVudCBzcGVha2VyJ3MgdGl0bGUgLS0+DQoJCTx1aXRleHQgbmFtZT0iQklPV0lOX1RJVExFIiB2YWx1ZT0iQmlvOiAlcCIvPg0KCQk8dWl0ZXh0IG5hbWU9IkJJT0JUTl9USVRMRSIgdmFsdWU9IkJpbyIvPg0KCQk8dWl0ZXh0IG5hbWU9IkRJVklERVJCVE5fVElUTEUiIHZhbHVlPSJ8Ii8+DQoJCTx1aXRleHQgbmFtZT0iQ09OVEFDVEJUTl9USVRMRSIgdmFsdWU9IsSwcnRpYmF0Ii8+DQoJCTx1aXRleHQgbmFtZT0iVEFCX1FVSVoiIHZhbHVlPSJTxLFuYXYiLz4NCgkJPHVpdGV4dCBuYW1lPSJUQUJfT1VUTElORSIgdmFsdWU9IkFuYSBIYXQiLz4NCgkJPHVpdGV4dCBuYW1lPSJUQUJfVEhVTUIiIHZhbHVlPSJSZXNpbSIvPg0KCQk8dWl0ZXh0IG5hbWU9IlRBQl9OT1RFUyIgdmFsdWU9Ik5vdGxhciIvPg0KCQk8dWl0ZXh0IG5hbWU9IlRBQl9TRUFSQ0giIHZhbHVlPSJBcmEiLz4NCgkJPHVpdGV4dCBuYW1lPSJTTElERV9IRUFESU5HIiB2YWx1ZT0iU2xheXQgQmHFn2zEscSfxLEiLz4NCgkJPHVpdGV4dCBuYW1lPSJEVVJBVElPTl9IRUFESU5HIiB2YWx1ZT0iU8O8cmUiLz4NCgkJPHVpdGV4dCBuYW1lPSJTRUFSQ0hfSEVBRElORyIgdmFsdWU9Ik1ldG5pIGFyYToiLz4NCgkJPHVpdGV4dCBuYW1lPSJUSFVNQl9IRUFESU5HIiB2YWx1ZT0iU2xheXQiLz4NCgkJPHVpdGV4dCBuYW1lPSJUSFVNQl9JTkZPIiB2YWx1ZT0iU2xheXQgQmHFn2zEscSfxLEvU8O8cmVzaSIvPg0KCQk8dWl0ZXh0IG5hbWU9IkFUVEFDSE5BTUVfSEVBRElORyIgdmFsdWU9IkRvc3lhIEFkxLEiLz4NCgkJPHVpdGV4dCBuYW1lPSJBVFRBQ0hTSVpFX0hFQURJTkciIHZhbHVlPSJCb3l1dCIvPg0KCQk8dWl0ZXh0IG5hbWU9IlNMSURFX05PVEVTIiB2YWx1ZT0iU2xheXQgTm90bGFyxLEiLz4NCgkJPHVpdGV4dCBuYW1lPSJDT1VSU0VfU1RBVFVTIiB2YWx1ZT0iTW9kdWxlIFN0YXR1cyIvPg0KCQk8dWl0ZXh0IG5hbWU9IlBBU1NFRF9TVFJJTkciIHZhbHVlPSJQYXNzZWQiLz4NCgkJPHVpdGV4dCBuYW1lPSJGQUlMRURfU1RSSU5HIiB2YWx1ZT0iRmFpbGVkIi8+DQoJCTwhLS1xdWl6IHBvZCBhbmQgbWVzc2FnZSBib3ggdGV4dHMtLT4NCgkJPHVpdGV4dCBuYW1lPSJRVUlaUE9EX1FVSVpfQVRURU1QVCIgdmFsdWU9IlPEsW5hdiBEZW5lbWVzaToiLz4NCgkJPHVpdGV4dCBuYW1lPSJRVUlaUE9EX1FVSVpfQVRURU1QVF9WQUxVRSIgdmFsdWU9IiVuLyV0Ii8+DQoJCTx1aXRleHQgbmFtZT0iUVVJWlBPRF9RVUlaX1NDT1JFIiB2YWx1ZT0iUHVhbjoiLz4NCgkJPHVpdGV4dCBuYW1lPSJRVUlaUE9EX1FVSVpfUEFTU1NDT1JFIiB2YWx1ZT0iR2XDp21lIFB1YW7EsToiLz4NCgkJPHVpdGV4dCBuYW1lPSJRVUlaUE9EX1FVSVpfTUFYU0NPUkUiIHZhbHVlPSJNYWtzaW11bSBQdWFuOiIvPg0KCQk8dWl0ZXh0IG5hbWU9IlFVSVpQT0RfUVVFU0FUTVBUX1NUUiIgdmFsdWU9IkRlbmVtZTogJW4vJXQiLz4NCgkJPHVpdGV4dCBuYW1lPSJRVUlaUE9EX1FVRVNUWVBFX1NUUiIgdmFsdWU9IlTDvHI6ICVzIi8+DQoJCTx1aXRleHQgbmFtZT0iUVVJWlBPRF9RVUVTVFlQRV9HUkQiIHZhbHVlPSJCYXNhbWFrbMSxIi8+DQoJCTx1aXRleHQgbmFtZT0iUVVJWlBPRF9RVUVTVFlQRV9TVlkiIHZhbHVlPSJBbmtldCIvPg0KCQk8dWl0ZXh0IG5hbWU9IlFVSVpQT0RfUVVJWkFUTVBUX0lORiIgdmFsdWU9IlPEsW7EsXJzxLF6Ii8+DQoJCTx1aXRleHQgbmFtZT0iUVVJWlBPRF9RVUVTQVRNUFRfSU5GIiB2YWx1ZT0iU8SxbsSxcnPEsXoiLz4NCgkJPHVpdGV4dCBuYW1lPSJXQVJOSU5HTVNHX1lFU1NUUklORyIgdmFsdWU9IkV2ZXQiLz4NCgkJPHVpdGV4dCBuYW1lPSJXQVJOSU5HTVNHX05PU1RSSU5HIiB2YWx1ZT0iSGF5xLFyIi8+DQoJCTx1aXRleHQgbmFtZT0iV0FSTklOR01TR19USVRMRVNUUklORyIgdmFsdWU9IlPEsW5hdiBHZXppbm1lIFV5YXLEsXPEsSIvPg0KCQk8dWl0ZXh0IG5hbWU9IldBUk5JTkdNU0dfTVNHU1RSSU5HIiB2YWx1ZT0iQnUgU8SxbmF2ZGEgZGVuZW5tZW1pxZ8gc29ydWxhciB2YXIuJiN4QTsmI3hBO0V2ZXQgc2XDp2VuZcSfaW5pIHTEsWtsYXTEsXJzYW7EsXogU8SxbmF2ZGFuIMOnxLFrYWNha3PEsW7EsXouIFPEsW5hdmEgZGV2YW0gZXRtZWsgacOnaW4gSGF5xLFyIHNlw6dlbmXEn2luaSB0xLFrbGF0xLFuLiIvPg0KCQk8dWl0ZXh0IG5hbWU9IklORk9STUFUSU9OX0gyNjRfRkxBU0hQTEFZRVIiIHZhbHVlPSJCaWxnaXNheWFyxLFuxLF6YSB5w7xrbMO8IG9sYW4gZ2XDp2VybGkgRmxhc2ggUGxheWVyIHPDvHLDvG3DvCBidSB2aWRlb3l1IGRlc3Rla2xlbWl5b3IuIEVuIHNvbiBGbGFzaCBQbGF5ZXIgc8O8csO8bcO8bsO8IGluZGlybWVrIGnDp2luIHZpZGVvIGFsYW7EsW7EsSB0xLFrbGF0xLFuLiIvPg0KCQk8IS0tIHN1YnN0aXR1dGlvbjogJXAgPT0gcHJlc2VudGF0aW9uIHRpdGxlIC0tPg0KCQk8IS0tIHN1YnN0aXR1dGlvbjogJXMgPT0gc2xpZGUgdGl0bGUgLS0+DQoJCTwhLS0gc3Vic3RpdHV0aW9uOiAlbiA9PSBzbGlkZSBudW1iZXIgLS0+DQoJCTx1aXRleHQgbmFtZT0iQk9PS01BUksiIHZhbHVlPSJBZG9iZSBQcmVzZW50ZXIgLSAlcCIvPg0KCQk8IS0tIHN1YnN0aXR1dGlvbjogJXAgPT0gcHJlc2VudGF0aW9uIHRpdGxlIC0tPg0KCQk8IS0tIHN1YnN0aXR1dGlvbjogJXMgPT0gc2xpZGUgdGl0bGUgLS0+DQoJCTwhLS0gc3Vic3RpdHV0aW9uOiAlbiA9PSBzbGlkZSBudW1iZXIgLS0+DQoJCTx1aXRleHQgbmFtZT0iQk9PS01BUktTTElERSIgdmFsdWU9IkFkb2JlIFByZXNlbnRlciAtICVwICVzIi8+DQoJCTx1aXRleHQgbmFtZT0iU0hPV1NJREVCQVIiIHZhbHVlPSJLYXTEsWzEsW1jxLFsYXJhIGtlbmFyIMOndWJ1xJ91bnUgZ8O2c3RlciIvPg0KCQk8dWl0ZXh0IG5hbWU9Ik1VVEUiIHZhbHVlPSJTZXNzaXoiLz4NCgkJPHVpdGV4dCBuYW1lPSJET0NXUkFQX1RJVExFIiB2YWx1ZT0iUHJlc2VudGVyIERvc3lhIEVraSIvPg0KCQk8dWl0ZXh0IG5hbWU9IkRPQ1dSQVBfTVNHIiB2YWx1ZT0iQmlsZ2lzYXlhcsSxbWEgS2F5ZGV0Ii8+DQoJCTx1aXRleHQgbmFtZT0iRE9DV1JBUF9QUk9NUFQiIHZhbHVlPSLEsG5kaXJtZWsgacOnaW4gVMSxa2xhdMSxbiIvPg0KCTwvbGFuZ3VhZ2U+DQoJPGxhbmd1YWdlIGlkPSJydSI+DQoJCTwhLS0gZm9ybWF0IGZvciB1aWZvbnQgdmFsdWUgaXMgImZvbnQsc2l6ZSxpc2JvbGQsaXNpdGFsaWMsaXNzaGFkb3dlZCIgLS0+DQoJCTx1aWZvbnQgbmFtZT0iRk9OVF9RVUlaWklORyIgdmFsdWU9IlZlcmRhbmEsOSxmYWxzZSxmYWxzZSxmYWxzZSIvPg0KCQk8dWlmb250IG5hbWU9IkZPTlRfU0NSVUJTVEFUVVMiIHZhbHVlPSJWZXJkYW5hLDksdHJ1ZSxmYWxzZSx0cnVlIi8+DQoJCTx1aWZvbnQgbmFtZT0iRk9OVF9TQ1JVQlRJTUUiIHZhbHVlPSJWZXJkYW5hLDksZmFsc2UsZmFsc2UsdHJ1ZSIvPg0KCQk8dWlmb250IG5hbWU9IkZPTlRfRUxBUFNFRFRJTUUiIHZhbHVlPSJWZXJkYW5hLDksdHJ1ZSxmYWxzZSx0cnVlIi8+DQoJCTx1aWZvbnQgbmFtZT0iRk9OVF9VVElMU01FTlUiIHZhbHVlPSJWZXJkYW5hLDksdHJ1ZSxmYWxzZSxmYWxzZSIvPg0KCQk8dWlmb250IG5hbWU9IkZPTlRfVEFCUyIgdmFsdWU9IlZlcmRhbmEsOSx0cnVlLGZhbHNlLHRydWUiLz4NCgkJPHVpZm9udCBuYW1lPSJGT05UX1BSRVNFTlRBVElPTk5BTUUiIHZhbHVlPSJWZXJkYW5hLDE0LGZhbHNlLGZhbHNlLHRydWUiLz4NCgkJPHVpZm9udCBuYW1lPSJGT05UX1BSRVNFTlRFUk5BTUUiIHZhbHVlPSJWZXJkYW5hLDEwLHRydWUsZmFsc2UsdHJ1ZSIvPg0KCQk8dWlmb250IG5hbWU9IkZPTlRfUFJFU0VOVEVSVElUTEUiIHZhbHVlPSJWZXJkYW5hLDEwLGZhbHNlLGZhbHNlLHRydWUiLz4NCgkJPHVpZm9udCBuYW1lPSJGT05UX0JJT0JUTiIgdmFsdWU9IlZlcmRhbmEsMTAsZmFsc2UsZmFsc2UsdHJ1ZSIvPg0KCQk8dWlmb250IG5hbWU9IkZPTlRfTk9URVMiIHZhbHVlPSJWZXJkYW5hLDExLGZhbHNlLGZhbHNlLGZhbHNlIi8+DQoJCTx1aWZvbnQgbmFtZT0iRk9OVF9PVVRMSU5FIiB2YWx1ZT0iVmVyZGFuYSwxMSxmYWxzZSxmYWxzZSx0cnVlIi8+DQoJCTx1aWZvbnQgbmFtZT0iRk9OVF9TRUFSQ0giIHZhbHVlPSJWZXJkYW5hLDExLGZhbHNlLGZhbHNlLHRydWUiLz4NCgkJPHVpZm9udCBuYW1lPSJGT05UX1RIVU1CIiB2YWx1ZT0iVmVyZGFuYSw5LGZhbHNlLGZhbHNlLHRydWUiLz4NCgkJPHVpZm9udCBuYW1lPSJGT05UX0JJT1dJTiIgdmFsdWU9IlZlcmRhbmEsMTEsZmFsc2UsZmFsc2UsZmFsc2UiLz4NCgkJPHVpZm9udCBuYW1lPSJGT05UX0xJU1RIRUFESU5HIiB2YWx1ZT0iVmVyZGFuYSw5LGZhbHNlLGZhbHNlLGZhbHNlIi8+DQoJCTx1aWZvbnQgbmFtZT0iRk9OVF9XSU5USVRMRSIgdmFsdWU9IlZlcmRhbmEsOSxmYWxzZSxmYWxzZSx0cnVlIi8+DQoJCTx1aWZvbnQgbmFtZT0iRk9OVF9BVFRBQ0hNRU5UUyIgdmFsdWU9IlZlcmRhbmEsMTEsZmFsc2UsZmFsc2UsdHJ1ZSIvPg0KCQk8IS0tcXVpeiBwb2QgYW5kIG1lc3NhZ2UgYm94IHRleHQgZm9udHMtLT4NCgkJPHVpZm9udCBuYW1lPSJGT05UX01TR0JPWF9XSU5USVRMRSIgdmFsdWU9IlZlcmRhbmEsMTEsdHJ1ZSxmYWxzZSx0cnVlIi8+DQoJCTx1aWZvbnQgbmFtZT0iRk9OVF9NU0dCT1hfTVNHIiB2YWx1ZT0iVmVyZGFuYSwxMSxmYWxzZSxmYWxzZSx0cnVlIi8+DQoJCTx1aWZvbnQgbmFtZT0iRk9OVF9NU0dCT1hfT1BUSU9OUyIgdmFsdWU9IlZlcmRhbmEsOSx0cnVlLGZhbHNlLHRydWUiLz4NCgkJPHVpZm9udCBuYW1lPSJGT05UX1FVSVpQT0RfUVVJWl9USVRMRSIgdmFsdWU9IlZlcmRhbmEsMTEsdHJ1ZSxmYWxzZSx0cnVlIi8+DQoJCTx1aWZvbnQgbmFtZT0iRk9OVF9RVUlaUE9EX1FVSVpfQVRURU1QVCIgdmFsdWU9IlZlcmRhbmEsOSxmYWxzZSxmYWxzZSx0cnVlIi8+DQoJCTx1aWZvbnQgbmFtZT0iRk9OVF9RVUlaUE9EX1FVSVpfQVRURU1QVF9WQUxVRSIgdmFsdWU9IlZlcmRhbmEsOSx0cnVlLGZhbHNlLHRydWUiLz4NCgkJPHVpZm9udCBuYW1lPSJGT05UX1FVSVpQT0RfUVVFU1RJT05fU0NPUkUiIHZhbHVlPSJWZXJkYW5hLDksZmFsc2UsZmFsc2UsdHJ1ZSIvPg0KCQk8dWlmb250IG5hbWU9IkZPTlRfUVVJWlBPRF9RVUVTVElPTl9TQ09SRV9WQUxVRSIgdmFsdWU9IlZlcmRhbmEsOSx0cnVlLGZhbHNlLHRydWUiLz4NCgkJPHVpZm9udCBuYW1lPSJGT05UX1FVSVpQT0RfUVVFU1RJT05fQVRURU1QVCIgdmFsdWU9IlZlcmRhbmEsOSxmYWxzZSxmYWxzZSx0cnVlIi8+DQoJCTx1aWZvbnQgbmFtZT0iRk9OVF9RVUlaUE9EX1FVRVNUSU9OX0FUVEVNUFRfVkFMVUUiIHZhbHVlPSJWZXJkYW5hLDksdHJ1ZSxmYWxzZSx0cnVlIi8+DQoJCTx1aWZvbnQgbmFtZT0iRk9OVF9RVUlaUE9EX1FVRVNUSU9OX1RBRyIgdmFsdWU9IlZlcmRhbmEsMTEsdHJ1ZSxmYWxzZSx0cnVlIi8+DQoJCTx1aWZvbnQgbmFtZT0iRk9OVF9RVUlaUE9EX1FVSVpfUVVFU1RJT05fQ09VTlQiIHZhbHVlPSJWZXJkYW5hLDksZmFsc2UsZmFsc2UsdHJ1ZSIvPg0KCQk8dWlmb250IG5hbWU9IkZPTlRfUVVJWlBPRF9RVUlaX1FVRVNUSU9OX0NPVU5UX1ZBTFVFIiB2YWx1ZT0iVmVyZGFuYSw5LHRydWUsZmFsc2UsdHJ1ZSIvPg0KCQk8dWlmb250IG5hbWU9IkZPTlRfUVVJWlBPRF9RVUlaX1FVRVNUSU9OX0FUVEVNUFRFRCIgdmFsdWU9IlZlcmRhbmEsOSxmYWxzZSxmYWxzZSx0cnVlIi8+DQoJCTx1aWZvbnQgbmFtZT0iRk9OVF9RVUlaUE9EX1FVSVpfUVVFU1RJT05fQVRURU1QVEVEX1ZBTFVFIiB2YWx1ZT0iVmVyZGFuYSw5LHRydWUsZmFsc2UsdHJ1ZSIvPg0KCQk8dWlmb250IG5hbWU9IkZPTlRfUVVJWlBPRF9RVUlaX1NDT1JFX1RBRyIgdmFsdWU9IlZlcmRhbmEsMTEsdHJ1ZSxmYWxzZSx0cnVlIi8+DQoJCTx1aWZvbnQgbmFtZT0iRk9OVF9RVUlaUE9EX1FVSVpfU0NPUkUiIHZhbHVlPSJWZXJkYW5hLDksZmFsc2UsZmFsc2UsdHJ1ZSIvPg0KCQk8dWlmb250IG5hbWU9IkZPTlRfUVVJWlBPRF9RVUlaX1NDT1JFX1ZBTFVFIiB2YWx1ZT0iVmVyZGFuYSw5LHRydWUsZmFsc2UsdHJ1ZSIvPg0KCQk8dWlmb250IG5hbWU9IkZPTlRfUVVJWlBPRF9RVUlaX01BWFNDT1JFIiB2YWx1ZT0iVmVyZGFuYSw5LGZhbHNlLGZhbHNlLHRydWUiLz4NCgkJPHVpZm9udCBuYW1lPSJGT05UX1FVSVpQT0RfUVVJWl9NQVhTQ09SRV9WQUxVRSIgdmFsdWU9IlZlcmRhbmEsOSx0cnVlLGZhbHNlLHRydWUiLz4NCgkJPHVpZm9udCBuYW1lPSJGT05UX1FVSVpQT0RfUVVJWl9QQVNTU0NPUkUiIHZhbHVlPSJWZXJkYW5hLDksZmFsc2UsZmFsc2UsdHJ1ZSIvPg0KCQk8dWlmb250IG5hbWU9IkZPTlRfUVVJWlBPRF9RVUlaX1BBU1NTQ09SRV9WQUxVRSIgdmFsdWU9IlZlcmRhbmEsOSx0cnVlLGZhbHNlLHRydWUiLz4NCgkJPCEtLSB1aXRleHQgLS0+DQoJCTwhLS0gc3Vic3RpdHV0aW9uOiAlbiA9PSBzbGlkZSBudW1iZXIgLS0+DQoJCTx1aXRleHQgbmFtZT0iQVRUQUNITUVOVF9QUkVWSUVXX1dBUk5JTkdNU0dfVElUTEVTVFJJTkciIHZhbHVlPSJBdHRhY2htZW50IFdhcm5pbmciLz4NCgkJPHVpdGV4dCBuYW1lPSJBVFRBQ0hNRU5UX1BSRVZJRVdfV0FSTklOR01TRyIgdmFsdWU9IkF0dGFjaG1lbnRzIGRvIG5vdCBvcGVuIGluIFByZXZpZXcgbW9kZS4gUGxlYXNlIHVzZSBwdWJsaXNoIHRvIHNlZSB0aGUgcmVzdWx0cyIvPg0KCQk8dWl0ZXh0IG5hbWU9IlVOTkFNRURTTElERVRJVExFIiB2YWx1ZT0i0KHQu9Cw0LnQtCAlbiIvPg0KCQk8dWl0ZXh0IG5hbWU9IkNPTExBQl9MT0NBTF9QTEFZQkFDS19NU0ciIHZhbHVlPSJDb250ZW50IGlzIGJlaW5nIHBsYXllZCBsb2NhbGx5LlxuIENvbGxhYm9yYXRpb24gZG9lcyBub3Qgd29yayBpbiB0aGlzIG1vZGUiLz4NCgkJPHVpdGV4dCBuYW1lPSJDT0xMQUJfTE9DQUxfUExBWUJBQ0tfVElUTEUiIHZhbHVlPSJMb2NhbCBQbGF5YmFjayIvPg0KCQk8dWl0ZXh0IG5hbWU9IkNPTExBQl9MT0NBTF9QTEFZQkFDS0JUTiIgdmFsdWU9Ik9rIi8+DQoJCTwhLS0gc3Vic3RpdHV0aW9uOiAlbiA9PSBzbGlkZSBudW1iZXIgLS0+DQoJCTwhLS0gc3Vic3RpdHV0aW9uOiAldCA9PSB0b3RhbCBzbGlkZSBjb3VudCAtLT4NCgkJPHVpdGV4dCBuYW1lPSJTQ1JVQkJBUlNUQVRVU19TTElERUlORk8iIHZhbHVlPSLQodC70LDQudC0ICVuIC8gJXQgfCAiLz4NCgkJPHVpdGV4dCBuYW1lPSJTQ1JVQkJBUlNUQVRVU19TVE9QUEVEIiB2YWx1ZT0i0J7RgdGC0LDQvdC+0LLQu9C10L3QviIvPg0KCQk8dWl0ZXh0IG5hbWU9IlNDUlVCQkFSU1RBVFVTX1BMQVlJTkciIHZhbHVlPSLQktC+0YHQv9GA0L7QuNC30LLQtdC00LXQvdC40LUiLz4NCgkJPHVpdGV4dCBuYW1lPSJTQ1JVQkJBUlNUQVRVU19OT0FVRElPIiB2YWx1ZT0i0J3QtdGCINCw0YPQtNC40L4iLz4NCgkJPHVpdGV4dCBuYW1lPSJTQ1JVQkJBUlNUQVRVU19WSURQTEFZSU5HIiB2YWx1ZT0i0JLQvtGB0L/RgNC+0LjQt9Cy0LXQtNC10L3QuNC1INCy0LjQtNC10L4iLz4NCgkJPHVpdGV4dCBuYW1lPSJTQ1JVQkJBUlNUQVRVU19MT0FESU5HIiB2YWx1ZT0i0JfQsNCz0YDRg9C30LrQsCIvPg0KCQk8dWl0ZXh0IG5hbWU9IlNDUlVCQkFSU1RBVFVTX0JVRkZFUklORyIgdmFsdWU9ItCR0YPRhNC10YDQuNC30LDRhtC40Y8iLz4NCgkJPHVpdGV4dCBuYW1lPSJTQ1JVQkJBUlNUQVRVU19RVUVTVElPTiIgdmFsdWU9ItCe0YLQstC10YIg0L3QsCDQstC+0L/RgNC+0YEiLz4NCgkJPHVpdGV4dCBuYW1lPSJTQ1JVQkJBUlNUQVRVU19SRVZJRVdRVUlaIiB2YWx1ZT0i0J7QsdC30L7RgCDQvtC/0YDQvtGB0LAiLz4NCgkJPCEtLSBzdWJzdGl0dXRpb246ICVtID09IG1pbnV0ZXMgcmVtYWluaW5nIC0tPg0KCQk8IS0tIHN1YnN0aXR1dGlvbjogJXMgPT0gc2Vjb25kcyByZW1haW5pbmcgLS0+DQoJCTx1aXRleHQgbmFtZT0iRUxBUFNFRCIgdmFsdWU9ItCe0YHRgtCw0LvQvtGB0YwgJW0g0LzQuNC9LiAlcyDRgSIvPg0KCQk8dWl0ZXh0IG5hbWU9Ik5PVEZPVU5EIiB2YWx1ZT0i0J3QuNGH0LXQs9C+INC90LUg0L3QsNC50LTQtdC90L4iLz4NCgkJPHVpdGV4dCBuYW1lPSJBVFRBQ0hNRU5UUyIgdmFsdWU9ItCS0LvQvtC20LXQvdC40Y8iLz4NCgkJPCEtLSBzdWJzdGl0dXRpb246ICVwID09IGN1cnJlbnQgc3BlYWtlcidzIHRpdGxlIC0tPg0KCQk8dWl0ZXh0IG5hbWU9IkJJT1dJTl9USVRMRSIgdmFsdWU9ItCR0LjQvtCz0YDQsNGE0LjRjzogJXAiLz4NCgkJPHVpdGV4dCBuYW1lPSJCSU9CVE5fVElUTEUiIHZhbHVlPSLQkdC40L7Qs9GA0LDRhNC40Y8iLz4NCgkJPHVpdGV4dCBuYW1lPSJESVZJREVSQlROX1RJVExFIiB2YWx1ZT0ifCIvPg0KCQk8dWl0ZXh0IG5hbWU9IkNPTlRBQ1RCVE5fVElUTEUiIHZhbHVlPSLQmtC+0L3RgtCw0LrRgiIvPg0KCQk8dWl0ZXh0IG5hbWU9IlRBQl9RVUlaIiB2YWx1ZT0i0J7Qv9GA0L7RgSIvPg0KCQk8dWl0ZXh0IG5hbWU9IlRBQl9PVVRMSU5FIiB2YWx1ZT0i0KHRhdC10LzQsCIvPg0KCQk8dWl0ZXh0IG5hbWU9IlRBQl9USFVNQiIgdmFsdWU9ItCR0LXQs9GD0L3QvtC6Ii8+DQoJCTx1aXRleHQgbmFtZT0iVEFCX05PVEVTIiB2YWx1ZT0i0JfQsNC80LXRgtC60LgiLz4NCgkJPHVpdGV4dCBuYW1lPSJUQUJfU0VBUkNIIiB2YWx1ZT0i0J/QvtC40YHQuiIvPg0KCQk8dWl0ZXh0IG5hbWU9IlNMSURFX0hFQURJTkciIHZhbHVlPSLQl9Cw0LPQvtC70L7QstC+0Log0YHQu9Cw0LnQtNCwIi8+DQoJCTx1aXRleHQgbmFtZT0iRFVSQVRJT05fSEVBRElORyIgdmFsdWU9ItCU0LvQuNGCLdGB0YLRjCIvPg0KCQk8dWl0ZXh0IG5hbWU9IlNFQVJDSF9IRUFESU5HIiB2YWx1ZT0i0J/QvtC40YHQuiDRgtC10LrRgdGC0LA6Ii8+DQoJCTx1aXRleHQgbmFtZT0iVEhVTUJfSEVBRElORyIgdmFsdWU9ItCh0LvQsNC50LQiLz4NCgkJPHVpdGV4dCBuYW1lPSJUSFVNQl9JTkZPIiB2YWx1ZT0i0J3QsNC30LLQsNC90LjQtS/QtNC70LjRgi3QvdC+0YHRgtGMIi8+DQoJCTx1aXRleHQgbmFtZT0iQVRUQUNITkFNRV9IRUFESU5HIiB2YWx1ZT0i0JjQvNGPINGE0LDQudC70LAiLz4NCgkJPHVpdGV4dCBuYW1lPSJBVFRBQ0hTSVpFX0hFQURJTkciIHZhbHVlPSLQoNCw0LfQvNC10YAiLz4NCgkJPHVpdGV4dCBuYW1lPSJTTElERV9OT1RFUyIgdmFsdWU9ItCX0LDQvNC10YLQutC4INC6INGB0LvQsNC50LTRgyIvPg0KCQk8dWl0ZXh0IG5hbWU9IkNPVVJTRV9TVEFUVVMiIHZhbHVlPSJNb2R1bGUgU3RhdHVzIi8+DQoJCTx1aXRleHQgbmFtZT0iUEFTU0VEX1NUUklORyIgdmFsdWU9IlBhc3NlZCIvPg0KCQk8dWl0ZXh0IG5hbWU9IkZBSUxFRF9TVFJJTkciIHZhbHVlPSJGYWlsZWQiLz4NCgkJPCEtLXF1aXogcG9kIGFuZCBtZXNzYWdlIGJveCB0ZXh0cy0tPg0KCQk8dWl0ZXh0IG5hbWU9IlFVSVpQT0RfUVVJWl9BVFRFTVBUIiB2YWx1ZT0i0J/QvtC/0YvRgtC60LAg0L/RgNC+0LnRgtC4INC+0L/RgNC+0YE6Ii8+DQoJCTx1aXRleHQgbmFtZT0iUVVJWlBPRF9RVUlaX0FUVEVNUFRfVkFMVUUiIHZhbHVlPSIlbiDQuNC3ICV0Ii8+DQoJCTx1aXRleHQgbmFtZT0iUVVJWlBPRF9RVUlaX1NDT1JFIiB2YWx1ZT0i0J3QsNCx0YDQsNC90L4g0LHQsNC70LvQvtCyOiIvPg0KCQk8dWl0ZXh0IG5hbWU9IlFVSVpQT0RfUVVJWl9QQVNTU0NPUkUiIHZhbHVlPSLQn9GA0L7RhdC+0LTQvdC+0Lkg0YDQtdC30YPQu9GM0YLQsNGCOiIvPg0KCQk8dWl0ZXh0IG5hbWU9IlFVSVpQT0RfUVVJWl9NQVhTQ09SRSIgdmFsdWU9ItCc0LDQutGB0LjQvNCw0LvRjNC90YvQuSDRgNC10LfRg9C70YzRgtCw0YI6Ii8+DQoJCTx1aXRleHQgbmFtZT0iUVVJWlBPRF9RVUVTQVRNUFRfU1RSIiB2YWx1ZT0i0J/QvtC/0YvRgtC60LA6ICVuINC40LcgJXQiLz4NCgkJPHVpdGV4dCBuYW1lPSJRVUlaUE9EX1FVRVNUWVBFX1NUUiIgdmFsdWU9ItCi0LjQvzogJXMiLz4NCgkJPHVpdGV4dCBuYW1lPSJRVUlaUE9EX1FVRVNUWVBFX0dSRCIgdmFsdWU9ItChINC+0YbQtdC90LrQvtC5Ii8+DQoJCTx1aXRleHQgbmFtZT0iUVVJWlBPRF9RVUVTVFlQRV9TVlkiIHZhbHVlPSLQntCx0LfQvtGAIi8+DQoJCTx1aXRleHQgbmFtZT0iUVVJWlBPRF9RVUlaQVRNUFRfSU5GIiB2YWx1ZT0i0JHQvtC70YzRiNC+0LUg0YfQuNGB0LvQviIvPg0KCQk8dWl0ZXh0IG5hbWU9IlFVSVpQT0RfUVVFU0FUTVBUX0lORiIgdmFsdWU9ItCR0L7Qu9GM0YjQvtC1INGH0LjRgdC70L4iLz4NCgkJPHVpdGV4dCBuYW1lPSJXQVJOSU5HTVNHX1lFU1NUUklORyIgdmFsdWU9ItCU0LAiLz4NCgkJPHVpdGV4dCBuYW1lPSJXQVJOSU5HTVNHX05PU1RSSU5HIiB2YWx1ZT0i0J3QtdGCIi8+DQoJCTx1aXRleHQgbmFtZT0iV0FSTklOR01TR19USVRMRVNUUklORyIgdmFsdWU9ItCf0YDQtdC00YPQv9GA0LXQttC00LXQvdC40LUg0L4g0L3QsNCy0LjQs9Cw0YbQuNC4INCyINC+0L/RgNC+0YHQtSIvPg0KCQk8dWl0ZXh0IG5hbWU9IldBUk5JTkdNU0dfTVNHU1RSSU5HIiB2YWx1ZT0i0JIg0L7Qv9GA0L7RgdC1INC+0YHRgtCw0LvQuNGB0Ywg0L3QtdC+0YLQstC10YfQtdC90L3Ri9C1INCy0L7Qv9GA0L7RgdGLLtCd0LDQttCw0YLQuNC1INC60L3QvtC/0LrQuCAmcXVvdDvQlNCwJnF1b3Q7INC/0YDQuNCy0LXQtNC10YIg0Log0LfQsNC60YDRi9GC0LjRjiDQvtC/0YDQvtGB0LAuINCd0LDQttCw0YLQuNC1INC60L3QvtC/0LrQuCAmcXVvdDvQndC10YImcXVvdDsg0L/RgNC+0LTQvtC70LbQuNGCINC+0L/RgNC+0YEuIi8+DQoJCTx1aXRleHQgbmFtZT0iSU5GT1JNQVRJT05fSDI2NF9GTEFTSFBMQVlFUiIgdmFsdWU9ItCi0LXQutGD0YnQsNGPINCy0LXRgNGB0LjRjyDQv9GA0L7QuNCz0YDRi9Cy0LDRgtC10LvRjyBGbGFzaCBQbGF5ZXIsINGD0YHRgtCw0L3QvtCy0LvQtdC90L3QsNGPINC90LAg0Y3RgtC+0Lwg0LrQvtC80L/RjNGO0YLQtdGA0LUsINC90LUg0L/QvtC00LTQtdGA0LbQuNCy0LDQtdGCINGN0YLQviDQstC40LTQtdC+LiDQqdC10LvQutC90LjRgtC1INCyINC+0LHQu9Cw0YHRgtC4INCy0LjQtNC10L4sINGH0YLQvtCx0Ysg0LfQsNCz0YDRg9C30LjRgtGMINC/0L7RgdC70LXQtNC90Y7RjiDQstC10YDRgdC40Y4g0L/RgNC+0LjQs9GA0YvQstCw0YLQtdC70Y8gRmxhc2ggUGxheWVyLiIvPg0KCQk8IS0tIHN1YnN0aXR1dGlvbjogJXAgPT0gcHJlc2VudGF0aW9uIHRpdGxlIC0tPg0KCQk8IS0tIHN1YnN0aXR1dGlvbjogJXMgPT0gc2xpZGUgdGl0bGUgLS0+DQoJCTwhLS0gc3Vic3RpdHV0aW9uOiAlbiA9PSBzbGlkZSBudW1iZXIgLS0+DQoJCTx1aXRleHQgbmFtZT0iQk9PS01BUksiIHZhbHVlPSJBZG9iZSBQcmVzZW50ZXIgLSAlcCIvPg0KCQk8IS0tIHN1YnN0aXR1dGlvbjogJXAgPT0gcHJlc2VudGF0aW9uIHRpdGxlIC0tPg0KCQk8IS0tIHN1YnN0aXR1dGlvbjogJXMgPT0gc2xpZGUgdGl0bGUgLS0+DQoJCTwhLS0gc3Vic3RpdHV0aW9uOiAlbiA9PSBzbGlkZSBudW1iZXIgLS0+DQoJCTx1aXRleHQgbmFtZT0iQk9PS01BUktTTElERSIgdmFsdWU9IkFkb2JlIFByZXNlbnRlciAtICVwICVzIi8+DQoJCTx1aXRleHQgbmFtZT0iU0hPV1NJREVCQVIiIHZhbHVlPSLQn9C+0LrQsNC30YvQstCw0YLRjCDQstGA0LXQt9C60YMg0YPRh9Cw0YHRgtC90LjQutCw0LwiLz4NCgkJPHVpdGV4dCBuYW1lPSJNVVRFIiB2YWx1ZT0i0J7RgtC60LvRjtGH0LjRgtGMINC30LLRg9C6Ii8+DQoJCTx1aXRleHQgbmFtZT0iRE9DV1JBUF9USVRMRSIgdmFsdWU9ItCS0LvQvtC20LXQvdC40LUg0LIg0YTQsNC50LsgQWRvYmUgUHJlc2VudGVyIi8+DQoJCTx1aXRleHQgbmFtZT0iRE9DV1JBUF9NU0ciIHZhbHVlPSLQodC+0YXRgNCw0L3QuNGC0Ywg0LIg0L/QsNC/0LrRgyAmcXVvdDvQnNC+0Lkg0LrQvtC80L/RjNGO0YLQtdGAJnF1b3Q7Ii8+DQoJCTx1aXRleHQgbmFtZT0iRE9DV1JBUF9QUk9NUFQiIHZhbHVlPSLQqdC10LvQutC90YPRgtGMINC00LvRjyDQt9Cw0LPRgNGD0LfQutC4Ii8+DQoJPC9sYW5ndWFnZT4NCjwvY29uZmlndXJhdGlvbj4NCg=="/>
  <p:tag name="MMPROD_UIDATA" val="&lt;database version=&quot;11.0&quot;&gt;&lt;object type=&quot;1&quot; unique_id=&quot;10001&quot;&gt;&lt;property id=&quot;20141&quot; value=&quot;ECE/CS 552 - Consistency and SIMD&quot;/&gt;&lt;property id=&quot;20144&quot; value=&quot;0&quot;/&gt;&lt;property id=&quot;20146&quot; value=&quot;0&quot;/&gt;&lt;property id=&quot;20147&quot; value=&quot;0&quot;/&gt;&lt;property id=&quot;20148&quot; value=&quot;5&quot;/&gt;&lt;property id=&quot;20180&quot; value=&quot;0&quot;/&gt;&lt;property id=&quot;20181&quot; value=&quot;1&quot;/&gt;&lt;property id=&quot;20183&quot; value=&quot;1&quot;/&gt;&lt;property id=&quot;20184&quot; value=&quot;7&quot;/&gt;&lt;property id=&quot;20193&quot; value=&quot;-1&quot;/&gt;&lt;property id=&quot;20224&quot; value=&quot;C:\Users\sanmi\Documents\My Adobe Presentations\ece552-ConsistencySIMD&quot;/&gt;&lt;property id=&quot;20250&quot; value=&quot;0&quot;/&gt;&lt;property id=&quot;20251&quot; value=&quot;0&quot;/&gt;&lt;property id=&quot;20259&quot; value=&quot;0&quot;/&gt;&lt;property id=&quot;20263&quot; value=&quot;2&quot;/&gt;&lt;property id=&quot;20264&quot; value=&quot;1&quot;/&gt;&lt;property id=&quot;20519&quot; value=&quot;0&quot;/&gt;&lt;property id=&quot;20700&quot; value=&quot;0&quot;/&gt;&lt;object type=&quot;2&quot; unique_id=&quot;20554&quot;&gt;&lt;object type=&quot;3&quot; unique_id=&quot;20705&quot;&gt;&lt;property id=&quot;20148&quot; value=&quot;5&quot;/&gt;&lt;property id=&quot;20300&quot; value=&quot;Slide 1 - &amp;quot;ECE/CS 552: Consistency and SIMD&amp;quot;&quot;/&gt;&lt;property id=&quot;20307&quot; value=&quot;540&quot;/&gt;&lt;property id=&quot;20309&quot; value=&quot;-1&quot;/&gt;&lt;/object&gt;&lt;object type=&quot;3&quot; unique_id=&quot;24381&quot;&gt;&lt;property id=&quot;20148&quot; value=&quot;5&quot;/&gt;&lt;property id=&quot;20300&quot; value=&quot;Slide 2 - &amp;quot;Coherence and Consistency&amp;quot;&quot;/&gt;&lt;property id=&quot;20307&quot; value=&quot;1004&quot;/&gt;&lt;property id=&quot;20309&quot; value=&quot;-1&quot;/&gt;&lt;/object&gt;&lt;object type=&quot;3&quot; unique_id=&quot;24390&quot;&gt;&lt;property id=&quot;20148&quot; value=&quot;5&quot;/&gt;&lt;property id=&quot;20300&quot; value=&quot;Slide 4 - &amp;quot;SC Example 2&amp;quot;&quot;/&gt;&lt;property id=&quot;20307&quot; value=&quot;1017&quot;/&gt;&lt;property id=&quot;20309&quot; value=&quot;-1&quot;/&gt;&lt;/object&gt;&lt;object type=&quot;3&quot; unique_id=&quot;24391&quot;&gt;&lt;property id=&quot;20148&quot; value=&quot;5&quot;/&gt;&lt;property id=&quot;20300&quot; value=&quot;Slide 5 - &amp;quot;SC Example 2&amp;quot;&quot;/&gt;&lt;property id=&quot;20307&quot; value=&quot;1018&quot;/&gt;&lt;property id=&quot;20309&quot; value=&quot;-1&quot;/&gt;&lt;/object&gt;&lt;object type=&quot;3&quot; unique_id=&quot;24395&quot;&gt;&lt;property id=&quot;20148&quot; value=&quot;5&quot;/&gt;&lt;property id=&quot;20300&quot; value=&quot;Slide 6 - &amp;quot;SC Example 2&amp;quot;&quot;/&gt;&lt;property id=&quot;20307&quot; value=&quot;1022&quot;/&gt;&lt;property id=&quot;20309&quot; value=&quot;-1&quot;/&gt;&lt;/object&gt;&lt;object type=&quot;3&quot; unique_id=&quot;24399&quot;&gt;&lt;property id=&quot;20148&quot; value=&quot;5&quot;/&gt;&lt;property id=&quot;20300&quot; value=&quot;Slide 7 - &amp;quot;SC Example 3&amp;quot;&quot;/&gt;&lt;property id=&quot;20307&quot; value=&quot;1027&quot;/&gt;&lt;property id=&quot;20309&quot; value=&quot;-1&quot;/&gt;&lt;/object&gt;&lt;object type=&quot;3&quot; unique_id=&quot;43207&quot;&gt;&lt;property id=&quot;20148&quot; value=&quot;5&quot;/&gt;&lt;property id=&quot;20300&quot; value=&quot;Slide 8 - &amp;quot;Memory Fences/Barriers&amp;quot;&quot;/&gt;&lt;property id=&quot;20307&quot; value=&quot;1085&quot;/&gt;&lt;property id=&quot;20309&quot; value=&quot;-1&quot;/&gt;&lt;/object&gt;&lt;object type=&quot;3&quot; unique_id=&quot;43208&quot;&gt;&lt;property id=&quot;20148&quot; value=&quot;5&quot;/&gt;&lt;property id=&quot;20300&quot; value=&quot;Slide 9 - &amp;quot;SC Example 3 – Fences&amp;quot;&quot;/&gt;&lt;property id=&quot;20307&quot; value=&quot;1086&quot;/&gt;&lt;property id=&quot;20309&quot; value=&quot;-1&quot;/&gt;&lt;/object&gt;&lt;object type=&quot;3&quot; unique_id=&quot;46334&quot;&gt;&lt;property id=&quot;20148&quot; value=&quot;5&quot;/&gt;&lt;property id=&quot;20300&quot; value=&quot;Slide 3 - &amp;quot;Sequential Consistency&amp;quot;&quot;/&gt;&lt;property id=&quot;20307&quot; value=&quot;1087&quot;/&gt;&lt;/object&gt;&lt;/object&gt;&lt;object type=&quot;8&quot; unique_id=&quot;20628&quot;&gt;&lt;/object&gt;&lt;object type=&quot;10&quot; unique_id=&quot;21256&quot;&gt;&lt;object type=&quot;11&quot; unique_id=&quot;21257&quot;&gt;&lt;property id=&quot;20180&quot; value=&quot;0&quot;/&gt;&lt;property id=&quot;20181&quot; value=&quot;1&quot;/&gt;&lt;property id=&quot;20183&quot; value=&quot;1&quot;/&gt;&lt;/object&gt;&lt;object type=&quot;12&quot; unique_id=&quot;46206&quot;&gt;&lt;/object&gt;&lt;/object&gt;&lt;object type=&quot;4&quot; unique_id=&quot;21258&quot;&gt;&lt;/object&gt;&lt;/object&gt;&lt;/database&gt;"/>
  <p:tag name="SECTOMILLISECCONVERTED" val="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32&quot;/&gt;&lt;/TableIndex&gt;&lt;/ShapeTextInfo&gt;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5&quot;/&gt;&lt;lineCharCount val=&quot;33&quot;/&gt;&lt;lineCharCount val=&quot;13&quot;/&gt;&lt;lineCharCount val=&quot;12&quot;/&gt;&lt;lineCharCount val=&quot;13&quot;/&gt;&lt;lineCharCount val=&quot;11&quot;/&gt;&lt;/TableIndex&gt;&lt;/ShapeTextInfo&gt;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15&quot;/&gt;&lt;/TableIndex&gt;&lt;/ShapeTextInfo&gt;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3&quot;/&gt;&lt;/TableIndex&gt;&lt;/ShapeTextInfo&gt;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32&quot;/&gt;&lt;/TableIndex&gt;&lt;/ShapeTextInfo&gt;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35&quot;/&gt;&lt;/TableIndex&gt;&lt;/ShapeTextInfo&gt;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15&quot;/&gt;&lt;/TableIndex&gt;&lt;/ShapeTextInfo&gt;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3&quot;/&gt;&lt;/TableIndex&gt;&lt;/ShapeTextInfo&gt;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32&quot;/&gt;&lt;/TableIndex&gt;&lt;/ShapeTextInfo&gt;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5&quot;/&gt;&lt;lineCharCount val=&quot;33&quot;/&gt;&lt;lineCharCount val=&quot;13&quot;/&gt;&lt;lineCharCount val=&quot;12&quot;/&gt;&lt;lineCharCount val=&quot;13&quot;/&gt;&lt;lineCharCount val=&quot;11&quot;/&gt;&lt;/TableIndex&gt;&lt;/ShapeTextInfo&gt;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15&quot;/&gt;&lt;/TableIndex&gt;&lt;/ShapeTextInfo&gt;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3&quot;/&gt;&lt;/TableIndex&gt;&lt;/ShapeTextInfo&gt;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SlideThumbPath val=&quot;Slide1.PNG&quot;/&gt;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ConsistencySIMD\data\asimages\{FDADB875-C38E-41E0-A608-E790B325556B}_1.png&quot;/&gt;&lt;left val=&quot;22&quot;/&gt;&lt;top val=&quot;195&quot;/&gt;&lt;width val=&quot;674&quot;/&gt;&lt;height val=&quot;102&quot;/&gt;&lt;hasText val=&quot;1&quot;/&gt;&lt;/Image&gt;&lt;/ThreeDShapeInfo&gt;"/>
  <p:tag name="PRESENTER_SHAPETEXTINFO" val="&lt;ShapeTextInfo&gt;&lt;TableIndex row=&quot;-1&quot; col=&quot;-1&quot;&gt;&lt;linesCount val=&quot;1&quot;/&gt;&lt;lineCharCount val=&quot;32&quot;/&gt;&lt;/TableIndex&gt;&lt;/ShapeTextInfo&gt;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ConsistencySIMD\data\asimages\{2B1A1147-D38F-4006-BE3A-67E9E0FA107D}_1.png&quot;/&gt;&lt;left val=&quot;103&quot;/&gt;&lt;top val=&quot;302&quot;/&gt;&lt;width val=&quot;512&quot;/&gt;&lt;height val=&quot;163&quot;/&gt;&lt;hasText val=&quot;1&quot;/&gt;&lt;/Image&gt;&lt;/ThreeDShapeInfo&gt;"/>
  <p:tag name="PRESENTER_SHAPETEXTINFO" val="&lt;ShapeTextInfo&gt;&lt;TableIndex row=&quot;-1&quot; col=&quot;-1&quot;&gt;&lt;linesCount val=&quot;6&quot;/&gt;&lt;lineCharCount val=&quot;24&quot;/&gt;&lt;lineCharCount val=&quot;1&quot;/&gt;&lt;lineCharCount val=&quot;55&quot;/&gt;&lt;lineCharCount val=&quot;53&quot;/&gt;&lt;lineCharCount val=&quot;14&quot;/&gt;&lt;lineCharCount val=&quot;3&quot;/&gt;&lt;/TableIndex&gt;&lt;/ShapeTextInfo&gt;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SlideThumbPath val=&quot;Slide7.PNG&quot;/&gt;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F03FDCF0-D667-46E8-AFA3-10A7AD1C2C81}&quot;/&gt;&lt;isInvalidForFieldText val=&quot;0&quot;/&gt;&lt;Image&gt;&lt;filename val=&quot;C:\Users\sanmi\Documents\My Adobe Presentations\ece552-SharedMemoryCoherence\data\asimages\{F03FDCF0-D667-46E8-AFA3-10A7AD1C2C81}_7.png&quot;/&gt;&lt;left val=&quot;163&quot;/&gt;&lt;top val=&quot;313&quot;/&gt;&lt;width val=&quot;104&quot;/&gt;&lt;height val=&quot;49&quot;/&gt;&lt;hasText val=&quot;1&quot;/&gt;&lt;/Image&gt;&lt;/ThreeDShapeInfo&gt;"/>
  <p:tag name="PRESENTER_SHAPETEXTINFO" val="&lt;ShapeTextInfo&gt;&lt;TableIndex row=&quot;-1&quot; col=&quot;-1&quot;&gt;&lt;linesCount val=&quot;1&quot;/&gt;&lt;lineCharCount val=&quot;5&quot;/&gt;&lt;/TableIndex&gt;&lt;/ShapeTextInfo&gt;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SharedMemoryCoherence\data\asimages\{D5DA3169-8C34-4D1A-8C51-7AA012BD3EE5}_7.png&quot;/&gt;&lt;left val=&quot;35&quot;/&gt;&lt;top val=&quot;21&quot;/&gt;&lt;width val=&quot;588&quot;/&gt;&lt;height val=&quot;98&quot;/&gt;&lt;hasText val=&quot;1&quot;/&gt;&lt;/Image&gt;&lt;/ThreeDShapeInfo&gt;"/>
  <p:tag name="PRESENTER_SHAPETEXTINFO" val="&lt;ShapeTextInfo&gt;&lt;TableIndex row=&quot;-1&quot; col=&quot;-1&quot;&gt;&lt;linesCount val=&quot;1&quot;/&gt;&lt;lineCharCount val=&quot;23&quot;/&gt;&lt;/TableIndex&gt;&lt;/ShapeTextInfo&gt;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SharedMemoryCoherence\data\asimages\{8C20E86F-4CF5-47D6-96A2-5E84CD50DFF3}_7.png&quot;/&gt;&lt;left val=&quot;43&quot;/&gt;&lt;top val=&quot;114&quot;/&gt;&lt;width val=&quot;664&quot;/&gt;&lt;height val=&quot;140&quot;/&gt;&lt;hasText val=&quot;1&quot;/&gt;&lt;/Image&gt;&lt;/ThreeDShapeInfo&gt;"/>
  <p:tag name="PRESENTER_SHAPETEXTINFO" val="&lt;ShapeTextInfo&gt;&lt;TableIndex row=&quot;-1&quot; col=&quot;-1&quot;&gt;&lt;linesCount val=&quot;4&quot;/&gt;&lt;lineCharCount val=&quot;54&quot;/&gt;&lt;lineCharCount val=&quot;51&quot;/&gt;&lt;lineCharCount val=&quot;53&quot;/&gt;&lt;lineCharCount val=&quot;53&quot;/&gt;&lt;/TableIndex&gt;&lt;/ShapeTextInfo&gt;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SharedMemoryCoherence\data\asimages\{F3DB0C67-1720-4A22-8529-4BD03325DC58}_7.png&quot;/&gt;&lt;left val=&quot;599&quot;/&gt;&lt;top val=&quot;500&quot;/&gt;&lt;width val=&quot;84&quot;/&gt;&lt;height val=&quot;29&quot;/&gt;&lt;hasText val=&quot;1&quot;/&gt;&lt;/Image&gt;&lt;/ThreeDShapeInfo&gt;"/>
  <p:tag name="PRESENTER_SHAPETEXTINFO" val="&lt;ShapeTextInfo&gt;&lt;TableIndex row=&quot;-1&quot; col=&quot;-1&quot;&gt;&lt;linesCount val=&quot;1&quot;/&gt;&lt;lineCharCount val=&quot;1&quot;/&gt;&lt;/TableIndex&gt;&lt;/ShapeTextInfo&gt;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18264B14-5689-4154-8349-14A13F661494}&quot;/&gt;&lt;isInvalidForFieldText val=&quot;0&quot;/&gt;&lt;Image&gt;&lt;filename val=&quot;C:\Users\sanmi\Documents\My Adobe Presentations\ece552-SharedMemoryCoherence\data\asimages\{18264B14-5689-4154-8349-14A13F661494}_7.png&quot;/&gt;&lt;left val=&quot;189&quot;/&gt;&lt;top val=&quot;390&quot;/&gt;&lt;width val=&quot;326&quot;/&gt;&lt;height val=&quot;57&quot;/&gt;&lt;hasText val=&quot;1&quot;/&gt;&lt;/Image&gt;&lt;/ThreeDShapeInfo&gt;"/>
  <p:tag name="PRESENTER_SHAPETEXTINFO" val="&lt;ShapeTextInfo&gt;&lt;TableIndex row=&quot;-1&quot; col=&quot;-1&quot;&gt;&lt;linesCount val=&quot;1&quot;/&gt;&lt;lineCharCount val=&quot;3&quot;/&gt;&lt;/TableIndex&gt;&lt;/ShapeTextInfo&gt;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F8753212-F35A-4961-A81C-7FB43553CBFC}&quot;/&gt;&lt;isInvalidForFieldText val=&quot;0&quot;/&gt;&lt;Image&gt;&lt;filename val=&quot;C:\Users\sanmi\Documents\My Adobe Presentations\ece552-SharedMemoryCoherence\data\asimages\{F8753212-F35A-4961-A81C-7FB43553CBFC}_7.png&quot;/&gt;&lt;left val=&quot;179&quot;/&gt;&lt;top val=&quot;255&quot;/&gt;&lt;width val=&quot;73&quot;/&gt;&lt;height val=&quot;59&quot;/&gt;&lt;hasText val=&quot;1&quot;/&gt;&lt;/Image&gt;&lt;/ThreeDShapeInfo&gt;"/>
  <p:tag name="PRESENTER_SHAPETEXTINFO" val="&lt;ShapeTextInfo&gt;&lt;TableIndex row=&quot;-1&quot; col=&quot;-1&quot;&gt;&lt;linesCount val=&quot;1&quot;/&gt;&lt;lineCharCount val=&quot;2&quot;/&gt;&lt;/TableIndex&gt;&lt;/ShapeTextInfo&gt;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C1921005-C76F-4266-A619-70A4F01B6FEC}&quot;/&gt;&lt;isInvalidForFieldText val=&quot;0&quot;/&gt;&lt;Image&gt;&lt;filename val=&quot;C:\Users\sanmi\Documents\My Adobe Presentations\ece552-SharedMemoryCoherence\data\asimages\{C1921005-C76F-4266-A619-70A4F01B6FEC}_7.png&quot;/&gt;&lt;left val=&quot;209&quot;/&gt;&lt;top val=&quot;303&quot;/&gt;&lt;width val=&quot;13&quot;/&gt;&lt;height val=&quot;24&quot;/&gt;&lt;hasText val=&quot;1&quot;/&gt;&lt;/Image&gt;&lt;/ThreeDShapeInfo&gt;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B21F032D-2CD1-41F7-B99B-4FB8C9B273EC}&quot;/&gt;&lt;isInvalidForFieldText val=&quot;0&quot;/&gt;&lt;Image&gt;&lt;filename val=&quot;C:\Users\sanmi\Documents\My Adobe Presentations\ece552-SharedMemoryCoherence\data\asimages\{B21F032D-2CD1-41F7-B99B-4FB8C9B273EC}_7.png&quot;/&gt;&lt;left val=&quot;461&quot;/&gt;&lt;top val=&quot;255&quot;/&gt;&lt;width val=&quot;73&quot;/&gt;&lt;height val=&quot;59&quot;/&gt;&lt;hasText val=&quot;1&quot;/&gt;&lt;/Image&gt;&lt;/ThreeDShapeInfo&gt;"/>
  <p:tag name="PRESENTER_SHAPETEXTINFO" val="&lt;ShapeTextInfo&gt;&lt;TableIndex row=&quot;-1&quot; col=&quot;-1&quot;&gt;&lt;linesCount val=&quot;1&quot;/&gt;&lt;lineCharCount val=&quot;2&quot;/&gt;&lt;/TableIndex&gt;&lt;/ShapeTextInfo&gt;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25C12C6D-E019-481D-92FD-6734500B3A2A}&quot;/&gt;&lt;isInvalidForFieldText val=&quot;0&quot;/&gt;&lt;Image&gt;&lt;filename val=&quot;C:\Users\sanmi\Documents\My Adobe Presentations\ece552-SharedMemoryCoherence\data\asimages\{25C12C6D-E019-481D-92FD-6734500B3A2A}_7.png&quot;/&gt;&lt;left val=&quot;491&quot;/&gt;&lt;top val=&quot;302&quot;/&gt;&lt;width val=&quot;13&quot;/&gt;&lt;height val=&quot;25&quot;/&gt;&lt;hasText val=&quot;1&quot;/&gt;&lt;/Image&gt;&lt;/ThreeDShapeInfo&gt;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1CBD259F-AE71-4314-AB70-C1A4E21D0F1B}&quot;/&gt;&lt;isInvalidForFieldText val=&quot;0&quot;/&gt;&lt;Image&gt;&lt;filename val=&quot;C:\Users\sanmi\Documents\My Adobe Presentations\ece552-SharedMemoryCoherence\data\asimages\{1CBD259F-AE71-4314-AB70-C1A4E21D0F1B}_7.png&quot;/&gt;&lt;left val=&quot;258&quot;/&gt;&lt;top val=&quot;445&quot;/&gt;&lt;width val=&quot;188&quot;/&gt;&lt;height val=&quot;49&quot;/&gt;&lt;hasText val=&quot;1&quot;/&gt;&lt;/Image&gt;&lt;/ThreeDShapeInfo&gt;"/>
  <p:tag name="PRESENTER_SHAPETEXTINFO" val="&lt;ShapeTextInfo&gt;&lt;TableIndex row=&quot;-1&quot; col=&quot;-1&quot;&gt;&lt;linesCount val=&quot;1&quot;/&gt;&lt;lineCharCount val=&quot;5&quot;/&gt;&lt;/TableIndex&gt;&lt;/ShapeTextInfo&gt;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DBA05B35-EAD7-4D98-AAD5-6D53B1E1F520}&quot;/&gt;&lt;isInvalidForFieldText val=&quot;0&quot;/&gt;&lt;Image&gt;&lt;filename val=&quot;C:\Users\sanmi\Documents\My Adobe Presentations\ece552-SharedMemoryCoherence\data\asimages\{DBA05B35-EAD7-4D98-AAD5-6D53B1E1F520}_7.png&quot;/&gt;&lt;left val=&quot;445&quot;/&gt;&lt;top val=&quot;313&quot;/&gt;&lt;width val=&quot;104&quot;/&gt;&lt;height val=&quot;49&quot;/&gt;&lt;hasText val=&quot;1&quot;/&gt;&lt;/Image&gt;&lt;/ThreeDShapeInfo&gt;"/>
  <p:tag name="PRESENTER_SHAPETEXTINFO" val="&lt;ShapeTextInfo&gt;&lt;TableIndex row=&quot;-1&quot; col=&quot;-1&quot;&gt;&lt;linesCount val=&quot;1&quot;/&gt;&lt;lineCharCount val=&quot;5&quot;/&gt;&lt;/TableIndex&gt;&lt;/ShapeTextInfo&gt;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SharedMemoryCoherence\data\asimages\{49037015-1635-40EE-81CB-9604A1A2B8C3}_7.png&quot;/&gt;&lt;left val=&quot;441&quot;/&gt;&lt;top val=&quot;475&quot;/&gt;&lt;width val=&quot;113&quot;/&gt;&lt;height val=&quot;34&quot;/&gt;&lt;hasText val=&quot;1&quot;/&gt;&lt;/Image&gt;&lt;/ThreeDShapeInfo&gt;"/>
  <p:tag name="PRESENTER_SHAPETEXTINFO" val="&lt;ShapeTextInfo&gt;&lt;TableIndex row=&quot;-1&quot; col=&quot;-1&quot;&gt;&lt;linesCount val=&quot;1&quot;/&gt;&lt;lineCharCount val=&quot;11&quot;/&gt;&lt;/TableIndex&gt;&lt;/ShapeTextInfo&gt;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CA2DB92B-29AA-43B7-8C2E-1DC680556BFF}&quot;/&gt;&lt;isInvalidForFieldText val=&quot;0&quot;/&gt;&lt;Image&gt;&lt;filename val=&quot;C:\Users\sanmi\Documents\My Adobe Presentations\ece552-SharedMemoryCoherence\data\asimages\{CA2DB92B-29AA-43B7-8C2E-1DC680556BFF}_7.png&quot;/&gt;&lt;left val=&quot;163&quot;/&gt;&lt;top val=&quot;342&quot;/&gt;&lt;width val=&quot;104&quot;/&gt;&lt;height val=&quot;32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3E3DF1DB-E14F-4600-8634-1A2412B4F3F0}&quot;/&gt;&lt;isInvalidForFieldText val=&quot;0&quot;/&gt;&lt;Image&gt;&lt;filename val=&quot;C:\Users\sanmi\Documents\My Adobe Presentations\ece552-SharedMemoryCoherence\data\asimages\{3E3DF1DB-E14F-4600-8634-1A2412B4F3F0}_7.png&quot;/&gt;&lt;left val=&quot;445&quot;/&gt;&lt;top val=&quot;343&quot;/&gt;&lt;width val=&quot;104&quot;/&gt;&lt;height val=&quot;32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8382EE48-43E7-4266-B690-11794324BD02}&quot;/&gt;&lt;isInvalidForFieldText val=&quot;0&quot;/&gt;&lt;Image&gt;&lt;filename val=&quot;C:\Users\sanmi\Documents\My Adobe Presentations\ece552-SharedMemoryCoherence\data\asimages\{8382EE48-43E7-4266-B690-11794324BD02}_7.png&quot;/&gt;&lt;left val=&quot;258&quot;/&gt;&lt;top val=&quot;476&quot;/&gt;&lt;width val=&quot;188&quot;/&gt;&lt;height val=&quot;32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SharedMemoryCoherence\data\asimages\{46FDD5DB-64CB-4E29-8A70-42C965D0F3BB}_7.png&quot;/&gt;&lt;left val=&quot;-12&quot;/&gt;&lt;top val=&quot;363&quot;/&gt;&lt;width val=&quot;192&quot;/&gt;&lt;height val=&quot;54&quot;/&gt;&lt;hasText val=&quot;1&quot;/&gt;&lt;/Image&gt;&lt;/ThreeDShapeInfo&gt;"/>
  <p:tag name="PRESENTER_SHAPETEXTINFO" val="&lt;ShapeTextInfo&gt;&lt;TableIndex row=&quot;-1&quot; col=&quot;-1&quot;&gt;&lt;linesCount val=&quot;2&quot;/&gt;&lt;lineCharCount val=&quot;19&quot;/&gt;&lt;lineCharCount val=&quot;20&quot;/&gt;&lt;/TableIndex&gt;&lt;/ShapeTextInfo&gt;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SlideThumbPath val=&quot;Slide7.PNG&quot;/&gt;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F03FDCF0-D667-46E8-AFA3-10A7AD1C2C81}&quot;/&gt;&lt;isInvalidForFieldText val=&quot;0&quot;/&gt;&lt;Image&gt;&lt;filename val=&quot;C:\Users\sanmi\Documents\My Adobe Presentations\ece552-SharedMemoryCoherence\data\asimages\{F03FDCF0-D667-46E8-AFA3-10A7AD1C2C81}_7.png&quot;/&gt;&lt;left val=&quot;163&quot;/&gt;&lt;top val=&quot;313&quot;/&gt;&lt;width val=&quot;104&quot;/&gt;&lt;height val=&quot;49&quot;/&gt;&lt;hasText val=&quot;1&quot;/&gt;&lt;/Image&gt;&lt;/ThreeDShapeInfo&gt;"/>
  <p:tag name="PRESENTER_SHAPETEXTINFO" val="&lt;ShapeTextInfo&gt;&lt;TableIndex row=&quot;-1&quot; col=&quot;-1&quot;&gt;&lt;linesCount val=&quot;1&quot;/&gt;&lt;lineCharCount val=&quot;5&quot;/&gt;&lt;/TableIndex&gt;&lt;/ShapeTextInfo&gt;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SharedMemoryCoherence\data\asimages\{D5DA3169-8C34-4D1A-8C51-7AA012BD3EE5}_7.png&quot;/&gt;&lt;left val=&quot;35&quot;/&gt;&lt;top val=&quot;21&quot;/&gt;&lt;width val=&quot;588&quot;/&gt;&lt;height val=&quot;98&quot;/&gt;&lt;hasText val=&quot;1&quot;/&gt;&lt;/Image&gt;&lt;/ThreeDShapeInfo&gt;"/>
  <p:tag name="PRESENTER_SHAPETEXTINFO" val="&lt;ShapeTextInfo&gt;&lt;TableIndex row=&quot;-1&quot; col=&quot;-1&quot;&gt;&lt;linesCount val=&quot;1&quot;/&gt;&lt;lineCharCount val=&quot;23&quot;/&gt;&lt;/TableIndex&gt;&lt;/ShapeTextInfo&gt;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SharedMemoryCoherence\data\asimages\{8C20E86F-4CF5-47D6-96A2-5E84CD50DFF3}_7.png&quot;/&gt;&lt;left val=&quot;43&quot;/&gt;&lt;top val=&quot;114&quot;/&gt;&lt;width val=&quot;664&quot;/&gt;&lt;height val=&quot;140&quot;/&gt;&lt;hasText val=&quot;1&quot;/&gt;&lt;/Image&gt;&lt;/ThreeDShapeInfo&gt;"/>
  <p:tag name="PRESENTER_SHAPETEXTINFO" val="&lt;ShapeTextInfo&gt;&lt;TableIndex row=&quot;-1&quot; col=&quot;-1&quot;&gt;&lt;linesCount val=&quot;4&quot;/&gt;&lt;lineCharCount val=&quot;54&quot;/&gt;&lt;lineCharCount val=&quot;51&quot;/&gt;&lt;lineCharCount val=&quot;53&quot;/&gt;&lt;lineCharCount val=&quot;53&quot;/&gt;&lt;/TableIndex&gt;&lt;/ShapeTextInfo&gt;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SharedMemoryCoherence\data\asimages\{F3DB0C67-1720-4A22-8529-4BD03325DC58}_7.png&quot;/&gt;&lt;left val=&quot;599&quot;/&gt;&lt;top val=&quot;500&quot;/&gt;&lt;width val=&quot;84&quot;/&gt;&lt;height val=&quot;29&quot;/&gt;&lt;hasText val=&quot;1&quot;/&gt;&lt;/Image&gt;&lt;/ThreeDShapeInfo&gt;"/>
  <p:tag name="PRESENTER_SHAPETEXTINFO" val="&lt;ShapeTextInfo&gt;&lt;TableIndex row=&quot;-1&quot; col=&quot;-1&quot;&gt;&lt;linesCount val=&quot;1&quot;/&gt;&lt;lineCharCount val=&quot;1&quot;/&gt;&lt;/TableIndex&gt;&lt;/ShapeTextInfo&gt;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18264B14-5689-4154-8349-14A13F661494}&quot;/&gt;&lt;isInvalidForFieldText val=&quot;0&quot;/&gt;&lt;Image&gt;&lt;filename val=&quot;C:\Users\sanmi\Documents\My Adobe Presentations\ece552-SharedMemoryCoherence\data\asimages\{18264B14-5689-4154-8349-14A13F661494}_7.png&quot;/&gt;&lt;left val=&quot;189&quot;/&gt;&lt;top val=&quot;390&quot;/&gt;&lt;width val=&quot;326&quot;/&gt;&lt;height val=&quot;57&quot;/&gt;&lt;hasText val=&quot;1&quot;/&gt;&lt;/Image&gt;&lt;/ThreeDShapeInfo&gt;"/>
  <p:tag name="PRESENTER_SHAPETEXTINFO" val="&lt;ShapeTextInfo&gt;&lt;TableIndex row=&quot;-1&quot; col=&quot;-1&quot;&gt;&lt;linesCount val=&quot;1&quot;/&gt;&lt;lineCharCount val=&quot;3&quot;/&gt;&lt;/TableIndex&gt;&lt;/ShapeTextInfo&gt;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F8753212-F35A-4961-A81C-7FB43553CBFC}&quot;/&gt;&lt;isInvalidForFieldText val=&quot;0&quot;/&gt;&lt;Image&gt;&lt;filename val=&quot;C:\Users\sanmi\Documents\My Adobe Presentations\ece552-SharedMemoryCoherence\data\asimages\{F8753212-F35A-4961-A81C-7FB43553CBFC}_7.png&quot;/&gt;&lt;left val=&quot;179&quot;/&gt;&lt;top val=&quot;255&quot;/&gt;&lt;width val=&quot;73&quot;/&gt;&lt;height val=&quot;59&quot;/&gt;&lt;hasText val=&quot;1&quot;/&gt;&lt;/Image&gt;&lt;/ThreeDShapeInfo&gt;"/>
  <p:tag name="PRESENTER_SHAPETEXTINFO" val="&lt;ShapeTextInfo&gt;&lt;TableIndex row=&quot;-1&quot; col=&quot;-1&quot;&gt;&lt;linesCount val=&quot;1&quot;/&gt;&lt;lineCharCount val=&quot;2&quot;/&gt;&lt;/TableIndex&gt;&lt;/ShapeTextInfo&gt;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C1921005-C76F-4266-A619-70A4F01B6FEC}&quot;/&gt;&lt;isInvalidForFieldText val=&quot;0&quot;/&gt;&lt;Image&gt;&lt;filename val=&quot;C:\Users\sanmi\Documents\My Adobe Presentations\ece552-SharedMemoryCoherence\data\asimages\{C1921005-C76F-4266-A619-70A4F01B6FEC}_7.png&quot;/&gt;&lt;left val=&quot;209&quot;/&gt;&lt;top val=&quot;303&quot;/&gt;&lt;width val=&quot;13&quot;/&gt;&lt;height val=&quot;24&quot;/&gt;&lt;hasText val=&quot;1&quot;/&gt;&lt;/Image&gt;&lt;/ThreeDShapeInfo&gt;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B21F032D-2CD1-41F7-B99B-4FB8C9B273EC}&quot;/&gt;&lt;isInvalidForFieldText val=&quot;0&quot;/&gt;&lt;Image&gt;&lt;filename val=&quot;C:\Users\sanmi\Documents\My Adobe Presentations\ece552-SharedMemoryCoherence\data\asimages\{B21F032D-2CD1-41F7-B99B-4FB8C9B273EC}_7.png&quot;/&gt;&lt;left val=&quot;461&quot;/&gt;&lt;top val=&quot;255&quot;/&gt;&lt;width val=&quot;73&quot;/&gt;&lt;height val=&quot;59&quot;/&gt;&lt;hasText val=&quot;1&quot;/&gt;&lt;/Image&gt;&lt;/ThreeDShapeInfo&gt;"/>
  <p:tag name="PRESENTER_SHAPETEXTINFO" val="&lt;ShapeTextInfo&gt;&lt;TableIndex row=&quot;-1&quot; col=&quot;-1&quot;&gt;&lt;linesCount val=&quot;1&quot;/&gt;&lt;lineCharCount val=&quot;2&quot;/&gt;&lt;/TableIndex&gt;&lt;/ShapeTextInfo&gt;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25C12C6D-E019-481D-92FD-6734500B3A2A}&quot;/&gt;&lt;isInvalidForFieldText val=&quot;0&quot;/&gt;&lt;Image&gt;&lt;filename val=&quot;C:\Users\sanmi\Documents\My Adobe Presentations\ece552-SharedMemoryCoherence\data\asimages\{25C12C6D-E019-481D-92FD-6734500B3A2A}_7.png&quot;/&gt;&lt;left val=&quot;491&quot;/&gt;&lt;top val=&quot;302&quot;/&gt;&lt;width val=&quot;13&quot;/&gt;&lt;height val=&quot;25&quot;/&gt;&lt;hasText val=&quot;1&quot;/&gt;&lt;/Image&gt;&lt;/ThreeDShapeInfo&gt;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1CBD259F-AE71-4314-AB70-C1A4E21D0F1B}&quot;/&gt;&lt;isInvalidForFieldText val=&quot;0&quot;/&gt;&lt;Image&gt;&lt;filename val=&quot;C:\Users\sanmi\Documents\My Adobe Presentations\ece552-SharedMemoryCoherence\data\asimages\{1CBD259F-AE71-4314-AB70-C1A4E21D0F1B}_7.png&quot;/&gt;&lt;left val=&quot;258&quot;/&gt;&lt;top val=&quot;445&quot;/&gt;&lt;width val=&quot;188&quot;/&gt;&lt;height val=&quot;49&quot;/&gt;&lt;hasText val=&quot;1&quot;/&gt;&lt;/Image&gt;&lt;/ThreeDShapeInfo&gt;"/>
  <p:tag name="PRESENTER_SHAPETEXTINFO" val="&lt;ShapeTextInfo&gt;&lt;TableIndex row=&quot;-1&quot; col=&quot;-1&quot;&gt;&lt;linesCount val=&quot;1&quot;/&gt;&lt;lineCharCount val=&quot;5&quot;/&gt;&lt;/TableIndex&gt;&lt;/ShapeTextInfo&gt;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DBA05B35-EAD7-4D98-AAD5-6D53B1E1F520}&quot;/&gt;&lt;isInvalidForFieldText val=&quot;0&quot;/&gt;&lt;Image&gt;&lt;filename val=&quot;C:\Users\sanmi\Documents\My Adobe Presentations\ece552-SharedMemoryCoherence\data\asimages\{DBA05B35-EAD7-4D98-AAD5-6D53B1E1F520}_7.png&quot;/&gt;&lt;left val=&quot;445&quot;/&gt;&lt;top val=&quot;313&quot;/&gt;&lt;width val=&quot;104&quot;/&gt;&lt;height val=&quot;49&quot;/&gt;&lt;hasText val=&quot;1&quot;/&gt;&lt;/Image&gt;&lt;/ThreeDShapeInfo&gt;"/>
  <p:tag name="PRESENTER_SHAPETEXTINFO" val="&lt;ShapeTextInfo&gt;&lt;TableIndex row=&quot;-1&quot; col=&quot;-1&quot;&gt;&lt;linesCount val=&quot;1&quot;/&gt;&lt;lineCharCount val=&quot;5&quot;/&gt;&lt;/TableIndex&gt;&lt;/ShapeTextInfo&gt;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SharedMemoryCoherence\data\asimages\{49037015-1635-40EE-81CB-9604A1A2B8C3}_7.png&quot;/&gt;&lt;left val=&quot;441&quot;/&gt;&lt;top val=&quot;475&quot;/&gt;&lt;width val=&quot;113&quot;/&gt;&lt;height val=&quot;34&quot;/&gt;&lt;hasText val=&quot;1&quot;/&gt;&lt;/Image&gt;&lt;/ThreeDShapeInfo&gt;"/>
  <p:tag name="PRESENTER_SHAPETEXTINFO" val="&lt;ShapeTextInfo&gt;&lt;TableIndex row=&quot;-1&quot; col=&quot;-1&quot;&gt;&lt;linesCount val=&quot;1&quot;/&gt;&lt;lineCharCount val=&quot;11&quot;/&gt;&lt;/TableIndex&gt;&lt;/ShapeTextInfo&gt;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CA2DB92B-29AA-43B7-8C2E-1DC680556BFF}&quot;/&gt;&lt;isInvalidForFieldText val=&quot;0&quot;/&gt;&lt;Image&gt;&lt;filename val=&quot;C:\Users\sanmi\Documents\My Adobe Presentations\ece552-SharedMemoryCoherence\data\asimages\{CA2DB92B-29AA-43B7-8C2E-1DC680556BFF}_7.png&quot;/&gt;&lt;left val=&quot;163&quot;/&gt;&lt;top val=&quot;342&quot;/&gt;&lt;width val=&quot;104&quot;/&gt;&lt;height val=&quot;32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3E3DF1DB-E14F-4600-8634-1A2412B4F3F0}&quot;/&gt;&lt;isInvalidForFieldText val=&quot;0&quot;/&gt;&lt;Image&gt;&lt;filename val=&quot;C:\Users\sanmi\Documents\My Adobe Presentations\ece552-SharedMemoryCoherence\data\asimages\{3E3DF1DB-E14F-4600-8634-1A2412B4F3F0}_7.png&quot;/&gt;&lt;left val=&quot;445&quot;/&gt;&lt;top val=&quot;343&quot;/&gt;&lt;width val=&quot;104&quot;/&gt;&lt;height val=&quot;32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8382EE48-43E7-4266-B690-11794324BD02}&quot;/&gt;&lt;isInvalidForFieldText val=&quot;0&quot;/&gt;&lt;Image&gt;&lt;filename val=&quot;C:\Users\sanmi\Documents\My Adobe Presentations\ece552-SharedMemoryCoherence\data\asimages\{8382EE48-43E7-4266-B690-11794324BD02}_7.png&quot;/&gt;&lt;left val=&quot;258&quot;/&gt;&lt;top val=&quot;476&quot;/&gt;&lt;width val=&quot;188&quot;/&gt;&lt;height val=&quot;32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SharedMemoryCoherence\data\asimages\{1FBB5144-9F69-4C19-A7E4-05B2FE6539DB}_7.png&quot;/&gt;&lt;left val=&quot;552&quot;/&gt;&lt;top val=&quot;311&quot;/&gt;&lt;width val=&quot;136&quot;/&gt;&lt;height val=&quot;43&quot;/&gt;&lt;hasText val=&quot;1&quot;/&gt;&lt;/Image&gt;&lt;/ThreeDShapeInfo&gt;"/>
  <p:tag name="PRESENTER_SHAPETEXTINFO" val="&lt;ShapeTextInfo&gt;&lt;TableIndex row=&quot;-1&quot; col=&quot;-1&quot;&gt;&lt;linesCount val=&quot;1&quot;/&gt;&lt;lineCharCount val=&quot;13&quot;/&gt;&lt;/TableIndex&gt;&lt;/ShapeTextInfo&gt;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SharedMemoryCoherence\data\asimages\{46FDD5DB-64CB-4E29-8A70-42C965D0F3BB}_7.png&quot;/&gt;&lt;left val=&quot;-12&quot;/&gt;&lt;top val=&quot;363&quot;/&gt;&lt;width val=&quot;192&quot;/&gt;&lt;height val=&quot;54&quot;/&gt;&lt;hasText val=&quot;1&quot;/&gt;&lt;/Image&gt;&lt;/ThreeDShapeInfo&gt;"/>
  <p:tag name="PRESENTER_SHAPETEXTINFO" val="&lt;ShapeTextInfo&gt;&lt;TableIndex row=&quot;-1&quot; col=&quot;-1&quot;&gt;&lt;linesCount val=&quot;2&quot;/&gt;&lt;lineCharCount val=&quot;19&quot;/&gt;&lt;lineCharCount val=&quot;20&quot;/&gt;&lt;/TableIndex&gt;&lt;/ShapeTextInfo&gt;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SlideThumbPath val=&quot;Slide7.PNG&quot;/&gt;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F03FDCF0-D667-46E8-AFA3-10A7AD1C2C81}&quot;/&gt;&lt;isInvalidForFieldText val=&quot;0&quot;/&gt;&lt;Image&gt;&lt;filename val=&quot;C:\Users\sanmi\Documents\My Adobe Presentations\ece552-SharedMemoryCoherence\data\asimages\{F03FDCF0-D667-46E8-AFA3-10A7AD1C2C81}_7.png&quot;/&gt;&lt;left val=&quot;163&quot;/&gt;&lt;top val=&quot;313&quot;/&gt;&lt;width val=&quot;104&quot;/&gt;&lt;height val=&quot;49&quot;/&gt;&lt;hasText val=&quot;1&quot;/&gt;&lt;/Image&gt;&lt;/ThreeDShapeInfo&gt;"/>
  <p:tag name="PRESENTER_SHAPETEXTINFO" val="&lt;ShapeTextInfo&gt;&lt;TableIndex row=&quot;-1&quot; col=&quot;-1&quot;&gt;&lt;linesCount val=&quot;1&quot;/&gt;&lt;lineCharCount val=&quot;5&quot;/&gt;&lt;/TableIndex&gt;&lt;/ShapeTextInfo&gt;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SharedMemoryCoherence\data\asimages\{D5DA3169-8C34-4D1A-8C51-7AA012BD3EE5}_7.png&quot;/&gt;&lt;left val=&quot;35&quot;/&gt;&lt;top val=&quot;21&quot;/&gt;&lt;width val=&quot;588&quot;/&gt;&lt;height val=&quot;98&quot;/&gt;&lt;hasText val=&quot;1&quot;/&gt;&lt;/Image&gt;&lt;/ThreeDShapeInfo&gt;"/>
  <p:tag name="PRESENTER_SHAPETEXTINFO" val="&lt;ShapeTextInfo&gt;&lt;TableIndex row=&quot;-1&quot; col=&quot;-1&quot;&gt;&lt;linesCount val=&quot;1&quot;/&gt;&lt;lineCharCount val=&quot;23&quot;/&gt;&lt;/TableIndex&gt;&lt;/ShapeTextInfo&gt;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SharedMemoryCoherence\data\asimages\{8C20E86F-4CF5-47D6-96A2-5E84CD50DFF3}_7.png&quot;/&gt;&lt;left val=&quot;43&quot;/&gt;&lt;top val=&quot;114&quot;/&gt;&lt;width val=&quot;664&quot;/&gt;&lt;height val=&quot;140&quot;/&gt;&lt;hasText val=&quot;1&quot;/&gt;&lt;/Image&gt;&lt;/ThreeDShapeInfo&gt;"/>
  <p:tag name="PRESENTER_SHAPETEXTINFO" val="&lt;ShapeTextInfo&gt;&lt;TableIndex row=&quot;-1&quot; col=&quot;-1&quot;&gt;&lt;linesCount val=&quot;4&quot;/&gt;&lt;lineCharCount val=&quot;54&quot;/&gt;&lt;lineCharCount val=&quot;51&quot;/&gt;&lt;lineCharCount val=&quot;53&quot;/&gt;&lt;lineCharCount val=&quot;53&quot;/&gt;&lt;/TableIndex&gt;&lt;/ShapeTextInfo&gt;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SharedMemoryCoherence\data\asimages\{F3DB0C67-1720-4A22-8529-4BD03325DC58}_7.png&quot;/&gt;&lt;left val=&quot;599&quot;/&gt;&lt;top val=&quot;500&quot;/&gt;&lt;width val=&quot;84&quot;/&gt;&lt;height val=&quot;29&quot;/&gt;&lt;hasText val=&quot;1&quot;/&gt;&lt;/Image&gt;&lt;/ThreeDShapeInfo&gt;"/>
  <p:tag name="PRESENTER_SHAPETEXTINFO" val="&lt;ShapeTextInfo&gt;&lt;TableIndex row=&quot;-1&quot; col=&quot;-1&quot;&gt;&lt;linesCount val=&quot;1&quot;/&gt;&lt;lineCharCount val=&quot;1&quot;/&gt;&lt;/TableIndex&gt;&lt;/ShapeTextInfo&gt;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18264B14-5689-4154-8349-14A13F661494}&quot;/&gt;&lt;isInvalidForFieldText val=&quot;0&quot;/&gt;&lt;Image&gt;&lt;filename val=&quot;C:\Users\sanmi\Documents\My Adobe Presentations\ece552-SharedMemoryCoherence\data\asimages\{18264B14-5689-4154-8349-14A13F661494}_7.png&quot;/&gt;&lt;left val=&quot;189&quot;/&gt;&lt;top val=&quot;390&quot;/&gt;&lt;width val=&quot;326&quot;/&gt;&lt;height val=&quot;57&quot;/&gt;&lt;hasText val=&quot;1&quot;/&gt;&lt;/Image&gt;&lt;/ThreeDShapeInfo&gt;"/>
  <p:tag name="PRESENTER_SHAPETEXTINFO" val="&lt;ShapeTextInfo&gt;&lt;TableIndex row=&quot;-1&quot; col=&quot;-1&quot;&gt;&lt;linesCount val=&quot;1&quot;/&gt;&lt;lineCharCount val=&quot;3&quot;/&gt;&lt;/TableIndex&gt;&lt;/ShapeTextInfo&gt;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F8753212-F35A-4961-A81C-7FB43553CBFC}&quot;/&gt;&lt;isInvalidForFieldText val=&quot;0&quot;/&gt;&lt;Image&gt;&lt;filename val=&quot;C:\Users\sanmi\Documents\My Adobe Presentations\ece552-SharedMemoryCoherence\data\asimages\{F8753212-F35A-4961-A81C-7FB43553CBFC}_7.png&quot;/&gt;&lt;left val=&quot;179&quot;/&gt;&lt;top val=&quot;255&quot;/&gt;&lt;width val=&quot;73&quot;/&gt;&lt;height val=&quot;59&quot;/&gt;&lt;hasText val=&quot;1&quot;/&gt;&lt;/Image&gt;&lt;/ThreeDShapeInfo&gt;"/>
  <p:tag name="PRESENTER_SHAPETEXTINFO" val="&lt;ShapeTextInfo&gt;&lt;TableIndex row=&quot;-1&quot; col=&quot;-1&quot;&gt;&lt;linesCount val=&quot;1&quot;/&gt;&lt;lineCharCount val=&quot;2&quot;/&gt;&lt;/TableIndex&gt;&lt;/ShapeTextInfo&gt;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C1921005-C76F-4266-A619-70A4F01B6FEC}&quot;/&gt;&lt;isInvalidForFieldText val=&quot;0&quot;/&gt;&lt;Image&gt;&lt;filename val=&quot;C:\Users\sanmi\Documents\My Adobe Presentations\ece552-SharedMemoryCoherence\data\asimages\{C1921005-C76F-4266-A619-70A4F01B6FEC}_7.png&quot;/&gt;&lt;left val=&quot;209&quot;/&gt;&lt;top val=&quot;303&quot;/&gt;&lt;width val=&quot;13&quot;/&gt;&lt;height val=&quot;24&quot;/&gt;&lt;hasText val=&quot;1&quot;/&gt;&lt;/Image&gt;&lt;/ThreeDShapeInfo&gt;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B21F032D-2CD1-41F7-B99B-4FB8C9B273EC}&quot;/&gt;&lt;isInvalidForFieldText val=&quot;0&quot;/&gt;&lt;Image&gt;&lt;filename val=&quot;C:\Users\sanmi\Documents\My Adobe Presentations\ece552-SharedMemoryCoherence\data\asimages\{B21F032D-2CD1-41F7-B99B-4FB8C9B273EC}_7.png&quot;/&gt;&lt;left val=&quot;461&quot;/&gt;&lt;top val=&quot;255&quot;/&gt;&lt;width val=&quot;73&quot;/&gt;&lt;height val=&quot;59&quot;/&gt;&lt;hasText val=&quot;1&quot;/&gt;&lt;/Image&gt;&lt;/ThreeDShapeInfo&gt;"/>
  <p:tag name="PRESENTER_SHAPETEXTINFO" val="&lt;ShapeTextInfo&gt;&lt;TableIndex row=&quot;-1&quot; col=&quot;-1&quot;&gt;&lt;linesCount val=&quot;1&quot;/&gt;&lt;lineCharCount val=&quot;2&quot;/&gt;&lt;/TableIndex&gt;&lt;/ShapeTextInfo&gt;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25C12C6D-E019-481D-92FD-6734500B3A2A}&quot;/&gt;&lt;isInvalidForFieldText val=&quot;0&quot;/&gt;&lt;Image&gt;&lt;filename val=&quot;C:\Users\sanmi\Documents\My Adobe Presentations\ece552-SharedMemoryCoherence\data\asimages\{25C12C6D-E019-481D-92FD-6734500B3A2A}_7.png&quot;/&gt;&lt;left val=&quot;491&quot;/&gt;&lt;top val=&quot;302&quot;/&gt;&lt;width val=&quot;13&quot;/&gt;&lt;height val=&quot;25&quot;/&gt;&lt;hasText val=&quot;1&quot;/&gt;&lt;/Image&gt;&lt;/ThreeDShapeInfo&gt;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1CBD259F-AE71-4314-AB70-C1A4E21D0F1B}&quot;/&gt;&lt;isInvalidForFieldText val=&quot;0&quot;/&gt;&lt;Image&gt;&lt;filename val=&quot;C:\Users\sanmi\Documents\My Adobe Presentations\ece552-SharedMemoryCoherence\data\asimages\{1CBD259F-AE71-4314-AB70-C1A4E21D0F1B}_7.png&quot;/&gt;&lt;left val=&quot;258&quot;/&gt;&lt;top val=&quot;445&quot;/&gt;&lt;width val=&quot;188&quot;/&gt;&lt;height val=&quot;49&quot;/&gt;&lt;hasText val=&quot;1&quot;/&gt;&lt;/Image&gt;&lt;/ThreeDShapeInfo&gt;"/>
  <p:tag name="PRESENTER_SHAPETEXTINFO" val="&lt;ShapeTextInfo&gt;&lt;TableIndex row=&quot;-1&quot; col=&quot;-1&quot;&gt;&lt;linesCount val=&quot;1&quot;/&gt;&lt;lineCharCount val=&quot;5&quot;/&gt;&lt;/TableIndex&gt;&lt;/ShapeTextInfo&gt;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DBA05B35-EAD7-4D98-AAD5-6D53B1E1F520}&quot;/&gt;&lt;isInvalidForFieldText val=&quot;0&quot;/&gt;&lt;Image&gt;&lt;filename val=&quot;C:\Users\sanmi\Documents\My Adobe Presentations\ece552-SharedMemoryCoherence\data\asimages\{DBA05B35-EAD7-4D98-AAD5-6D53B1E1F520}_7.png&quot;/&gt;&lt;left val=&quot;445&quot;/&gt;&lt;top val=&quot;313&quot;/&gt;&lt;width val=&quot;104&quot;/&gt;&lt;height val=&quot;49&quot;/&gt;&lt;hasText val=&quot;1&quot;/&gt;&lt;/Image&gt;&lt;/ThreeDShapeInfo&gt;"/>
  <p:tag name="PRESENTER_SHAPETEXTINFO" val="&lt;ShapeTextInfo&gt;&lt;TableIndex row=&quot;-1&quot; col=&quot;-1&quot;&gt;&lt;linesCount val=&quot;1&quot;/&gt;&lt;lineCharCount val=&quot;5&quot;/&gt;&lt;/TableIndex&gt;&lt;/ShapeTextInfo&gt;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SharedMemoryCoherence\data\asimages\{49037015-1635-40EE-81CB-9604A1A2B8C3}_7.png&quot;/&gt;&lt;left val=&quot;441&quot;/&gt;&lt;top val=&quot;475&quot;/&gt;&lt;width val=&quot;113&quot;/&gt;&lt;height val=&quot;34&quot;/&gt;&lt;hasText val=&quot;1&quot;/&gt;&lt;/Image&gt;&lt;/ThreeDShapeInfo&gt;"/>
  <p:tag name="PRESENTER_SHAPETEXTINFO" val="&lt;ShapeTextInfo&gt;&lt;TableIndex row=&quot;-1&quot; col=&quot;-1&quot;&gt;&lt;linesCount val=&quot;1&quot;/&gt;&lt;lineCharCount val=&quot;11&quot;/&gt;&lt;/TableIndex&gt;&lt;/ShapeTextInfo&gt;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CA2DB92B-29AA-43B7-8C2E-1DC680556BFF}&quot;/&gt;&lt;isInvalidForFieldText val=&quot;0&quot;/&gt;&lt;Image&gt;&lt;filename val=&quot;C:\Users\sanmi\Documents\My Adobe Presentations\ece552-SharedMemoryCoherence\data\asimages\{CA2DB92B-29AA-43B7-8C2E-1DC680556BFF}_7.png&quot;/&gt;&lt;left val=&quot;163&quot;/&gt;&lt;top val=&quot;342&quot;/&gt;&lt;width val=&quot;104&quot;/&gt;&lt;height val=&quot;32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3E3DF1DB-E14F-4600-8634-1A2412B4F3F0}&quot;/&gt;&lt;isInvalidForFieldText val=&quot;0&quot;/&gt;&lt;Image&gt;&lt;filename val=&quot;C:\Users\sanmi\Documents\My Adobe Presentations\ece552-SharedMemoryCoherence\data\asimages\{3E3DF1DB-E14F-4600-8634-1A2412B4F3F0}_7.png&quot;/&gt;&lt;left val=&quot;445&quot;/&gt;&lt;top val=&quot;343&quot;/&gt;&lt;width val=&quot;104&quot;/&gt;&lt;height val=&quot;32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8382EE48-43E7-4266-B690-11794324BD02}&quot;/&gt;&lt;isInvalidForFieldText val=&quot;0&quot;/&gt;&lt;Image&gt;&lt;filename val=&quot;C:\Users\sanmi\Documents\My Adobe Presentations\ece552-SharedMemoryCoherence\data\asimages\{8382EE48-43E7-4266-B690-11794324BD02}_7.png&quot;/&gt;&lt;left val=&quot;258&quot;/&gt;&lt;top val=&quot;476&quot;/&gt;&lt;width val=&quot;188&quot;/&gt;&lt;height val=&quot;32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SharedMemoryCoherence\data\asimages\{1FBB5144-9F69-4C19-A7E4-05B2FE6539DB}_7.png&quot;/&gt;&lt;left val=&quot;552&quot;/&gt;&lt;top val=&quot;311&quot;/&gt;&lt;width val=&quot;136&quot;/&gt;&lt;height val=&quot;43&quot;/&gt;&lt;hasText val=&quot;1&quot;/&gt;&lt;/Image&gt;&lt;/ThreeDShapeInfo&gt;"/>
  <p:tag name="PRESENTER_SHAPETEXTINFO" val="&lt;ShapeTextInfo&gt;&lt;TableIndex row=&quot;-1&quot; col=&quot;-1&quot;&gt;&lt;linesCount val=&quot;1&quot;/&gt;&lt;lineCharCount val=&quot;13&quot;/&gt;&lt;/TableIndex&gt;&lt;/ShapeTextInfo&gt;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SharedMemoryCoherence\data\asimages\{90456A36-B5CC-4B5A-9903-A3656D38B57B}_7.png&quot;/&gt;&lt;left val=&quot;30&quot;/&gt;&lt;top val=&quot;264&quot;/&gt;&lt;width val=&quot;140&quot;/&gt;&lt;height val=&quot;43&quot;/&gt;&lt;hasText val=&quot;1&quot;/&gt;&lt;/Image&gt;&lt;/ThreeDShapeInfo&gt;"/>
  <p:tag name="PRESENTER_SHAPETEXTINFO" val="&lt;ShapeTextInfo&gt;&lt;TableIndex row=&quot;-1&quot; col=&quot;-1&quot;&gt;&lt;linesCount val=&quot;1&quot;/&gt;&lt;lineCharCount val=&quot;14&quot;/&gt;&lt;/TableIndex&gt;&lt;/ShapeTextInfo&gt;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SharedMemoryCoherence\data\asimages\{46FDD5DB-64CB-4E29-8A70-42C965D0F3BB}_7.png&quot;/&gt;&lt;left val=&quot;-12&quot;/&gt;&lt;top val=&quot;363&quot;/&gt;&lt;width val=&quot;192&quot;/&gt;&lt;height val=&quot;54&quot;/&gt;&lt;hasText val=&quot;1&quot;/&gt;&lt;/Image&gt;&lt;/ThreeDShapeInfo&gt;"/>
  <p:tag name="PRESENTER_SHAPETEXTINFO" val="&lt;ShapeTextInfo&gt;&lt;TableIndex row=&quot;-1&quot; col=&quot;-1&quot;&gt;&lt;linesCount val=&quot;2&quot;/&gt;&lt;lineCharCount val=&quot;19&quot;/&gt;&lt;lineCharCount val=&quot;20&quot;/&gt;&lt;/TableIndex&gt;&lt;/ShapeTextInfo&gt;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SharedMemoryCoherence\data\asimages\{2D2E595D-72ED-404C-A0B5-317845E9AB17}_7.png&quot;/&gt;&lt;left val=&quot;511&quot;/&gt;&lt;top val=&quot;394&quot;/&gt;&lt;width val=&quot;192&quot;/&gt;&lt;height val=&quot;45&quot;/&gt;&lt;hasText val=&quot;1&quot;/&gt;&lt;/Image&gt;&lt;/ThreeDShapeInfo&gt;"/>
  <p:tag name="PRESENTER_SHAPETEXTINFO" val="&lt;ShapeTextInfo&gt;&lt;TableIndex row=&quot;-1&quot; col=&quot;-1&quot;&gt;&lt;linesCount val=&quot;1&quot;/&gt;&lt;lineCharCount val=&quot;12&quot;/&gt;&lt;/TableIndex&gt;&lt;/ShapeTextInfo&gt;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SharedMemoryCoherence\data\asimages\{5A5948A4-15ED-4097-A966-C4135B42AFCE}_7.png&quot;/&gt;&lt;left val=&quot;552&quot;/&gt;&lt;top val=&quot;337&quot;/&gt;&lt;width val=&quot;136&quot;/&gt;&lt;height val=&quot;43&quot;/&gt;&lt;hasText val=&quot;1&quot;/&gt;&lt;/Image&gt;&lt;/ThreeDShapeInfo&gt;"/>
  <p:tag name="PRESENTER_SHAPETEXTINFO" val="&lt;ShapeTextInfo&gt;&lt;TableIndex row=&quot;-1&quot; col=&quot;-1&quot;&gt;&lt;linesCount val=&quot;1&quot;/&gt;&lt;lineCharCount val=&quot;13&quot;/&gt;&lt;/TableIndex&gt;&lt;/ShapeTextInfo&gt;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SlideThumbPath val=&quot;Slide7.PNG&quot;/&gt;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F03FDCF0-D667-46E8-AFA3-10A7AD1C2C81}&quot;/&gt;&lt;isInvalidForFieldText val=&quot;0&quot;/&gt;&lt;Image&gt;&lt;filename val=&quot;C:\Users\sanmi\Documents\My Adobe Presentations\ece552-SharedMemoryCoherence\data\asimages\{F03FDCF0-D667-46E8-AFA3-10A7AD1C2C81}_7.png&quot;/&gt;&lt;left val=&quot;163&quot;/&gt;&lt;top val=&quot;313&quot;/&gt;&lt;width val=&quot;104&quot;/&gt;&lt;height val=&quot;49&quot;/&gt;&lt;hasText val=&quot;1&quot;/&gt;&lt;/Image&gt;&lt;/ThreeDShapeInfo&gt;"/>
  <p:tag name="PRESENTER_SHAPETEXTINFO" val="&lt;ShapeTextInfo&gt;&lt;TableIndex row=&quot;-1&quot; col=&quot;-1&quot;&gt;&lt;linesCount val=&quot;1&quot;/&gt;&lt;lineCharCount val=&quot;5&quot;/&gt;&lt;/TableIndex&gt;&lt;/ShapeTextInfo&gt;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SharedMemoryCoherence\data\asimages\{D5DA3169-8C34-4D1A-8C51-7AA012BD3EE5}_7.png&quot;/&gt;&lt;left val=&quot;35&quot;/&gt;&lt;top val=&quot;21&quot;/&gt;&lt;width val=&quot;588&quot;/&gt;&lt;height val=&quot;98&quot;/&gt;&lt;hasText val=&quot;1&quot;/&gt;&lt;/Image&gt;&lt;/ThreeDShapeInfo&gt;"/>
  <p:tag name="PRESENTER_SHAPETEXTINFO" val="&lt;ShapeTextInfo&gt;&lt;TableIndex row=&quot;-1&quot; col=&quot;-1&quot;&gt;&lt;linesCount val=&quot;1&quot;/&gt;&lt;lineCharCount val=&quot;23&quot;/&gt;&lt;/TableIndex&gt;&lt;/ShapeTextInfo&gt;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SharedMemoryCoherence\data\asimages\{8C20E86F-4CF5-47D6-96A2-5E84CD50DFF3}_7.png&quot;/&gt;&lt;left val=&quot;43&quot;/&gt;&lt;top val=&quot;114&quot;/&gt;&lt;width val=&quot;664&quot;/&gt;&lt;height val=&quot;140&quot;/&gt;&lt;hasText val=&quot;1&quot;/&gt;&lt;/Image&gt;&lt;/ThreeDShapeInfo&gt;"/>
  <p:tag name="PRESENTER_SHAPETEXTINFO" val="&lt;ShapeTextInfo&gt;&lt;TableIndex row=&quot;-1&quot; col=&quot;-1&quot;&gt;&lt;linesCount val=&quot;4&quot;/&gt;&lt;lineCharCount val=&quot;54&quot;/&gt;&lt;lineCharCount val=&quot;51&quot;/&gt;&lt;lineCharCount val=&quot;53&quot;/&gt;&lt;lineCharCount val=&quot;53&quot;/&gt;&lt;/TableIndex&gt;&lt;/ShapeTextInfo&gt;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SharedMemoryCoherence\data\asimages\{F3DB0C67-1720-4A22-8529-4BD03325DC58}_7.png&quot;/&gt;&lt;left val=&quot;599&quot;/&gt;&lt;top val=&quot;500&quot;/&gt;&lt;width val=&quot;84&quot;/&gt;&lt;height val=&quot;29&quot;/&gt;&lt;hasText val=&quot;1&quot;/&gt;&lt;/Image&gt;&lt;/ThreeDShapeInfo&gt;"/>
  <p:tag name="PRESENTER_SHAPETEXTINFO" val="&lt;ShapeTextInfo&gt;&lt;TableIndex row=&quot;-1&quot; col=&quot;-1&quot;&gt;&lt;linesCount val=&quot;1&quot;/&gt;&lt;lineCharCount val=&quot;1&quot;/&gt;&lt;/TableIndex&gt;&lt;/ShapeTextInfo&gt;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18264B14-5689-4154-8349-14A13F661494}&quot;/&gt;&lt;isInvalidForFieldText val=&quot;0&quot;/&gt;&lt;Image&gt;&lt;filename val=&quot;C:\Users\sanmi\Documents\My Adobe Presentations\ece552-SharedMemoryCoherence\data\asimages\{18264B14-5689-4154-8349-14A13F661494}_7.png&quot;/&gt;&lt;left val=&quot;189&quot;/&gt;&lt;top val=&quot;390&quot;/&gt;&lt;width val=&quot;326&quot;/&gt;&lt;height val=&quot;57&quot;/&gt;&lt;hasText val=&quot;1&quot;/&gt;&lt;/Image&gt;&lt;/ThreeDShapeInfo&gt;"/>
  <p:tag name="PRESENTER_SHAPETEXTINFO" val="&lt;ShapeTextInfo&gt;&lt;TableIndex row=&quot;-1&quot; col=&quot;-1&quot;&gt;&lt;linesCount val=&quot;1&quot;/&gt;&lt;lineCharCount val=&quot;3&quot;/&gt;&lt;/TableIndex&gt;&lt;/ShapeTextInfo&gt;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F8753212-F35A-4961-A81C-7FB43553CBFC}&quot;/&gt;&lt;isInvalidForFieldText val=&quot;0&quot;/&gt;&lt;Image&gt;&lt;filename val=&quot;C:\Users\sanmi\Documents\My Adobe Presentations\ece552-SharedMemoryCoherence\data\asimages\{F8753212-F35A-4961-A81C-7FB43553CBFC}_7.png&quot;/&gt;&lt;left val=&quot;179&quot;/&gt;&lt;top val=&quot;255&quot;/&gt;&lt;width val=&quot;73&quot;/&gt;&lt;height val=&quot;59&quot;/&gt;&lt;hasText val=&quot;1&quot;/&gt;&lt;/Image&gt;&lt;/ThreeDShapeInfo&gt;"/>
  <p:tag name="PRESENTER_SHAPETEXTINFO" val="&lt;ShapeTextInfo&gt;&lt;TableIndex row=&quot;-1&quot; col=&quot;-1&quot;&gt;&lt;linesCount val=&quot;1&quot;/&gt;&lt;lineCharCount val=&quot;2&quot;/&gt;&lt;/TableIndex&gt;&lt;/ShapeTextInfo&gt;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C1921005-C76F-4266-A619-70A4F01B6FEC}&quot;/&gt;&lt;isInvalidForFieldText val=&quot;0&quot;/&gt;&lt;Image&gt;&lt;filename val=&quot;C:\Users\sanmi\Documents\My Adobe Presentations\ece552-SharedMemoryCoherence\data\asimages\{C1921005-C76F-4266-A619-70A4F01B6FEC}_7.png&quot;/&gt;&lt;left val=&quot;209&quot;/&gt;&lt;top val=&quot;303&quot;/&gt;&lt;width val=&quot;13&quot;/&gt;&lt;height val=&quot;24&quot;/&gt;&lt;hasText val=&quot;1&quot;/&gt;&lt;/Image&gt;&lt;/ThreeDShapeInfo&gt;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B21F032D-2CD1-41F7-B99B-4FB8C9B273EC}&quot;/&gt;&lt;isInvalidForFieldText val=&quot;0&quot;/&gt;&lt;Image&gt;&lt;filename val=&quot;C:\Users\sanmi\Documents\My Adobe Presentations\ece552-SharedMemoryCoherence\data\asimages\{B21F032D-2CD1-41F7-B99B-4FB8C9B273EC}_7.png&quot;/&gt;&lt;left val=&quot;461&quot;/&gt;&lt;top val=&quot;255&quot;/&gt;&lt;width val=&quot;73&quot;/&gt;&lt;height val=&quot;59&quot;/&gt;&lt;hasText val=&quot;1&quot;/&gt;&lt;/Image&gt;&lt;/ThreeDShapeInfo&gt;"/>
  <p:tag name="PRESENTER_SHAPETEXTINFO" val="&lt;ShapeTextInfo&gt;&lt;TableIndex row=&quot;-1&quot; col=&quot;-1&quot;&gt;&lt;linesCount val=&quot;1&quot;/&gt;&lt;lineCharCount val=&quot;2&quot;/&gt;&lt;/TableIndex&gt;&lt;/ShapeTextInfo&gt;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25C12C6D-E019-481D-92FD-6734500B3A2A}&quot;/&gt;&lt;isInvalidForFieldText val=&quot;0&quot;/&gt;&lt;Image&gt;&lt;filename val=&quot;C:\Users\sanmi\Documents\My Adobe Presentations\ece552-SharedMemoryCoherence\data\asimages\{25C12C6D-E019-481D-92FD-6734500B3A2A}_7.png&quot;/&gt;&lt;left val=&quot;491&quot;/&gt;&lt;top val=&quot;302&quot;/&gt;&lt;width val=&quot;13&quot;/&gt;&lt;height val=&quot;25&quot;/&gt;&lt;hasText val=&quot;1&quot;/&gt;&lt;/Image&gt;&lt;/ThreeDShapeInfo&gt;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1CBD259F-AE71-4314-AB70-C1A4E21D0F1B}&quot;/&gt;&lt;isInvalidForFieldText val=&quot;0&quot;/&gt;&lt;Image&gt;&lt;filename val=&quot;C:\Users\sanmi\Documents\My Adobe Presentations\ece552-SharedMemoryCoherence\data\asimages\{1CBD259F-AE71-4314-AB70-C1A4E21D0F1B}_7.png&quot;/&gt;&lt;left val=&quot;258&quot;/&gt;&lt;top val=&quot;445&quot;/&gt;&lt;width val=&quot;188&quot;/&gt;&lt;height val=&quot;49&quot;/&gt;&lt;hasText val=&quot;1&quot;/&gt;&lt;/Image&gt;&lt;/ThreeDShapeInfo&gt;"/>
  <p:tag name="PRESENTER_SHAPETEXTINFO" val="&lt;ShapeTextInfo&gt;&lt;TableIndex row=&quot;-1&quot; col=&quot;-1&quot;&gt;&lt;linesCount val=&quot;1&quot;/&gt;&lt;lineCharCount val=&quot;5&quot;/&gt;&lt;/TableIndex&gt;&lt;/ShapeTextInfo&gt;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DBA05B35-EAD7-4D98-AAD5-6D53B1E1F520}&quot;/&gt;&lt;isInvalidForFieldText val=&quot;0&quot;/&gt;&lt;Image&gt;&lt;filename val=&quot;C:\Users\sanmi\Documents\My Adobe Presentations\ece552-SharedMemoryCoherence\data\asimages\{DBA05B35-EAD7-4D98-AAD5-6D53B1E1F520}_7.png&quot;/&gt;&lt;left val=&quot;445&quot;/&gt;&lt;top val=&quot;313&quot;/&gt;&lt;width val=&quot;104&quot;/&gt;&lt;height val=&quot;49&quot;/&gt;&lt;hasText val=&quot;1&quot;/&gt;&lt;/Image&gt;&lt;/ThreeDShapeInfo&gt;"/>
  <p:tag name="PRESENTER_SHAPETEXTINFO" val="&lt;ShapeTextInfo&gt;&lt;TableIndex row=&quot;-1&quot; col=&quot;-1&quot;&gt;&lt;linesCount val=&quot;1&quot;/&gt;&lt;lineCharCount val=&quot;5&quot;/&gt;&lt;/TableIndex&gt;&lt;/ShapeTextInfo&gt;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SharedMemoryCoherence\data\asimages\{49037015-1635-40EE-81CB-9604A1A2B8C3}_7.png&quot;/&gt;&lt;left val=&quot;441&quot;/&gt;&lt;top val=&quot;475&quot;/&gt;&lt;width val=&quot;113&quot;/&gt;&lt;height val=&quot;34&quot;/&gt;&lt;hasText val=&quot;1&quot;/&gt;&lt;/Image&gt;&lt;/ThreeDShapeInfo&gt;"/>
  <p:tag name="PRESENTER_SHAPETEXTINFO" val="&lt;ShapeTextInfo&gt;&lt;TableIndex row=&quot;-1&quot; col=&quot;-1&quot;&gt;&lt;linesCount val=&quot;1&quot;/&gt;&lt;lineCharCount val=&quot;11&quot;/&gt;&lt;/TableIndex&gt;&lt;/ShapeTextInfo&gt;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CA2DB92B-29AA-43B7-8C2E-1DC680556BFF}&quot;/&gt;&lt;isInvalidForFieldText val=&quot;0&quot;/&gt;&lt;Image&gt;&lt;filename val=&quot;C:\Users\sanmi\Documents\My Adobe Presentations\ece552-SharedMemoryCoherence\data\asimages\{CA2DB92B-29AA-43B7-8C2E-1DC680556BFF}_7.png&quot;/&gt;&lt;left val=&quot;163&quot;/&gt;&lt;top val=&quot;342&quot;/&gt;&lt;width val=&quot;104&quot;/&gt;&lt;height val=&quot;32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3E3DF1DB-E14F-4600-8634-1A2412B4F3F0}&quot;/&gt;&lt;isInvalidForFieldText val=&quot;0&quot;/&gt;&lt;Image&gt;&lt;filename val=&quot;C:\Users\sanmi\Documents\My Adobe Presentations\ece552-SharedMemoryCoherence\data\asimages\{3E3DF1DB-E14F-4600-8634-1A2412B4F3F0}_7.png&quot;/&gt;&lt;left val=&quot;445&quot;/&gt;&lt;top val=&quot;343&quot;/&gt;&lt;width val=&quot;104&quot;/&gt;&lt;height val=&quot;32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8382EE48-43E7-4266-B690-11794324BD02}&quot;/&gt;&lt;isInvalidForFieldText val=&quot;0&quot;/&gt;&lt;Image&gt;&lt;filename val=&quot;C:\Users\sanmi\Documents\My Adobe Presentations\ece552-SharedMemoryCoherence\data\asimages\{8382EE48-43E7-4266-B690-11794324BD02}_7.png&quot;/&gt;&lt;left val=&quot;258&quot;/&gt;&lt;top val=&quot;476&quot;/&gt;&lt;width val=&quot;188&quot;/&gt;&lt;height val=&quot;32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SharedMemoryCoherence\data\asimages\{1FBB5144-9F69-4C19-A7E4-05B2FE6539DB}_7.png&quot;/&gt;&lt;left val=&quot;552&quot;/&gt;&lt;top val=&quot;311&quot;/&gt;&lt;width val=&quot;136&quot;/&gt;&lt;height val=&quot;43&quot;/&gt;&lt;hasText val=&quot;1&quot;/&gt;&lt;/Image&gt;&lt;/ThreeDShapeInfo&gt;"/>
  <p:tag name="PRESENTER_SHAPETEXTINFO" val="&lt;ShapeTextInfo&gt;&lt;TableIndex row=&quot;-1&quot; col=&quot;-1&quot;&gt;&lt;linesCount val=&quot;1&quot;/&gt;&lt;lineCharCount val=&quot;13&quot;/&gt;&lt;/TableIndex&gt;&lt;/ShapeTextInfo&gt;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SharedMemoryCoherence\data\asimages\{90456A36-B5CC-4B5A-9903-A3656D38B57B}_7.png&quot;/&gt;&lt;left val=&quot;30&quot;/&gt;&lt;top val=&quot;264&quot;/&gt;&lt;width val=&quot;140&quot;/&gt;&lt;height val=&quot;43&quot;/&gt;&lt;hasText val=&quot;1&quot;/&gt;&lt;/Image&gt;&lt;/ThreeDShapeInfo&gt;"/>
  <p:tag name="PRESENTER_SHAPETEXTINFO" val="&lt;ShapeTextInfo&gt;&lt;TableIndex row=&quot;-1&quot; col=&quot;-1&quot;&gt;&lt;linesCount val=&quot;1&quot;/&gt;&lt;lineCharCount val=&quot;14&quot;/&gt;&lt;/TableIndex&gt;&lt;/ShapeTextInfo&gt;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SharedMemoryCoherence\data\asimages\{46FDD5DB-64CB-4E29-8A70-42C965D0F3BB}_7.png&quot;/&gt;&lt;left val=&quot;-12&quot;/&gt;&lt;top val=&quot;363&quot;/&gt;&lt;width val=&quot;192&quot;/&gt;&lt;height val=&quot;54&quot;/&gt;&lt;hasText val=&quot;1&quot;/&gt;&lt;/Image&gt;&lt;/ThreeDShapeInfo&gt;"/>
  <p:tag name="PRESENTER_SHAPETEXTINFO" val="&lt;ShapeTextInfo&gt;&lt;TableIndex row=&quot;-1&quot; col=&quot;-1&quot;&gt;&lt;linesCount val=&quot;2&quot;/&gt;&lt;lineCharCount val=&quot;19&quot;/&gt;&lt;lineCharCount val=&quot;20&quot;/&gt;&lt;/TableIndex&gt;&lt;/ShapeTextInfo&gt;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SharedMemoryCoherence\data\asimages\{5A5948A4-15ED-4097-A966-C4135B42AFCE}_7.png&quot;/&gt;&lt;left val=&quot;552&quot;/&gt;&lt;top val=&quot;337&quot;/&gt;&lt;width val=&quot;136&quot;/&gt;&lt;height val=&quot;43&quot;/&gt;&lt;hasText val=&quot;1&quot;/&gt;&lt;/Image&gt;&lt;/ThreeDShapeInfo&gt;"/>
  <p:tag name="PRESENTER_SHAPETEXTINFO" val="&lt;ShapeTextInfo&gt;&lt;TableIndex row=&quot;-1&quot; col=&quot;-1&quot;&gt;&lt;linesCount val=&quot;1&quot;/&gt;&lt;lineCharCount val=&quot;13&quot;/&gt;&lt;/TableIndex&gt;&lt;/ShapeTextInfo&gt;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SharedMemoryCoherence\data\asimages\{0D12D6CF-D2DA-4DA3-BC64-DE203926DB2D}_8.png&quot;/&gt;&lt;left val=&quot;30&quot;/&gt;&lt;top val=&quot;288&quot;/&gt;&lt;width val=&quot;104&quot;/&gt;&lt;height val=&quot;43&quot;/&gt;&lt;hasText val=&quot;1&quot;/&gt;&lt;/Image&gt;&lt;/ThreeDShapeInfo&gt;"/>
  <p:tag name="PRESENTER_SHAPETEXTINFO" val="&lt;ShapeTextInfo&gt;&lt;TableIndex row=&quot;-1&quot; col=&quot;-1&quot;&gt;&lt;linesCount val=&quot;1&quot;/&gt;&lt;lineCharCount val=&quot;11&quot;/&gt;&lt;/TableIndex&gt;&lt;/ShapeTextInfo&gt;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SlideThumbPath val=&quot;Slide7.PNG&quot;/&gt;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F03FDCF0-D667-46E8-AFA3-10A7AD1C2C81}&quot;/&gt;&lt;isInvalidForFieldText val=&quot;0&quot;/&gt;&lt;Image&gt;&lt;filename val=&quot;C:\Users\sanmi\Documents\My Adobe Presentations\ece552-SharedMemoryCoherence\data\asimages\{F03FDCF0-D667-46E8-AFA3-10A7AD1C2C81}_7.png&quot;/&gt;&lt;left val=&quot;163&quot;/&gt;&lt;top val=&quot;313&quot;/&gt;&lt;width val=&quot;104&quot;/&gt;&lt;height val=&quot;49&quot;/&gt;&lt;hasText val=&quot;1&quot;/&gt;&lt;/Image&gt;&lt;/ThreeDShapeInfo&gt;"/>
  <p:tag name="PRESENTER_SHAPETEXTINFO" val="&lt;ShapeTextInfo&gt;&lt;TableIndex row=&quot;-1&quot; col=&quot;-1&quot;&gt;&lt;linesCount val=&quot;1&quot;/&gt;&lt;lineCharCount val=&quot;5&quot;/&gt;&lt;/TableIndex&gt;&lt;/ShapeTextInfo&gt;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SharedMemoryCoherence\data\asimages\{D5DA3169-8C34-4D1A-8C51-7AA012BD3EE5}_7.png&quot;/&gt;&lt;left val=&quot;35&quot;/&gt;&lt;top val=&quot;21&quot;/&gt;&lt;width val=&quot;588&quot;/&gt;&lt;height val=&quot;98&quot;/&gt;&lt;hasText val=&quot;1&quot;/&gt;&lt;/Image&gt;&lt;/ThreeDShapeInfo&gt;"/>
  <p:tag name="PRESENTER_SHAPETEXTINFO" val="&lt;ShapeTextInfo&gt;&lt;TableIndex row=&quot;-1&quot; col=&quot;-1&quot;&gt;&lt;linesCount val=&quot;1&quot;/&gt;&lt;lineCharCount val=&quot;23&quot;/&gt;&lt;/TableIndex&gt;&lt;/ShapeTextInfo&gt;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SharedMemoryCoherence\data\asimages\{8C20E86F-4CF5-47D6-96A2-5E84CD50DFF3}_7.png&quot;/&gt;&lt;left val=&quot;43&quot;/&gt;&lt;top val=&quot;114&quot;/&gt;&lt;width val=&quot;664&quot;/&gt;&lt;height val=&quot;140&quot;/&gt;&lt;hasText val=&quot;1&quot;/&gt;&lt;/Image&gt;&lt;/ThreeDShapeInfo&gt;"/>
  <p:tag name="PRESENTER_SHAPETEXTINFO" val="&lt;ShapeTextInfo&gt;&lt;TableIndex row=&quot;-1&quot; col=&quot;-1&quot;&gt;&lt;linesCount val=&quot;4&quot;/&gt;&lt;lineCharCount val=&quot;54&quot;/&gt;&lt;lineCharCount val=&quot;51&quot;/&gt;&lt;lineCharCount val=&quot;53&quot;/&gt;&lt;lineCharCount val=&quot;53&quot;/&gt;&lt;/TableIndex&gt;&lt;/ShapeTextInfo&gt;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SharedMemoryCoherence\data\asimages\{F3DB0C67-1720-4A22-8529-4BD03325DC58}_7.png&quot;/&gt;&lt;left val=&quot;599&quot;/&gt;&lt;top val=&quot;500&quot;/&gt;&lt;width val=&quot;84&quot;/&gt;&lt;height val=&quot;29&quot;/&gt;&lt;hasText val=&quot;1&quot;/&gt;&lt;/Image&gt;&lt;/ThreeDShapeInfo&gt;"/>
  <p:tag name="PRESENTER_SHAPETEXTINFO" val="&lt;ShapeTextInfo&gt;&lt;TableIndex row=&quot;-1&quot; col=&quot;-1&quot;&gt;&lt;linesCount val=&quot;1&quot;/&gt;&lt;lineCharCount val=&quot;1&quot;/&gt;&lt;/TableIndex&gt;&lt;/ShapeTextInfo&gt;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18264B14-5689-4154-8349-14A13F661494}&quot;/&gt;&lt;isInvalidForFieldText val=&quot;0&quot;/&gt;&lt;Image&gt;&lt;filename val=&quot;C:\Users\sanmi\Documents\My Adobe Presentations\ece552-SharedMemoryCoherence\data\asimages\{18264B14-5689-4154-8349-14A13F661494}_7.png&quot;/&gt;&lt;left val=&quot;189&quot;/&gt;&lt;top val=&quot;390&quot;/&gt;&lt;width val=&quot;326&quot;/&gt;&lt;height val=&quot;57&quot;/&gt;&lt;hasText val=&quot;1&quot;/&gt;&lt;/Image&gt;&lt;/ThreeDShapeInfo&gt;"/>
  <p:tag name="PRESENTER_SHAPETEXTINFO" val="&lt;ShapeTextInfo&gt;&lt;TableIndex row=&quot;-1&quot; col=&quot;-1&quot;&gt;&lt;linesCount val=&quot;1&quot;/&gt;&lt;lineCharCount val=&quot;3&quot;/&gt;&lt;/TableIndex&gt;&lt;/ShapeTextInfo&gt;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F8753212-F35A-4961-A81C-7FB43553CBFC}&quot;/&gt;&lt;isInvalidForFieldText val=&quot;0&quot;/&gt;&lt;Image&gt;&lt;filename val=&quot;C:\Users\sanmi\Documents\My Adobe Presentations\ece552-SharedMemoryCoherence\data\asimages\{F8753212-F35A-4961-A81C-7FB43553CBFC}_7.png&quot;/&gt;&lt;left val=&quot;179&quot;/&gt;&lt;top val=&quot;255&quot;/&gt;&lt;width val=&quot;73&quot;/&gt;&lt;height val=&quot;59&quot;/&gt;&lt;hasText val=&quot;1&quot;/&gt;&lt;/Image&gt;&lt;/ThreeDShapeInfo&gt;"/>
  <p:tag name="PRESENTER_SHAPETEXTINFO" val="&lt;ShapeTextInfo&gt;&lt;TableIndex row=&quot;-1&quot; col=&quot;-1&quot;&gt;&lt;linesCount val=&quot;1&quot;/&gt;&lt;lineCharCount val=&quot;2&quot;/&gt;&lt;/TableIndex&gt;&lt;/ShapeTextInfo&gt;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C1921005-C76F-4266-A619-70A4F01B6FEC}&quot;/&gt;&lt;isInvalidForFieldText val=&quot;0&quot;/&gt;&lt;Image&gt;&lt;filename val=&quot;C:\Users\sanmi\Documents\My Adobe Presentations\ece552-SharedMemoryCoherence\data\asimages\{C1921005-C76F-4266-A619-70A4F01B6FEC}_7.png&quot;/&gt;&lt;left val=&quot;209&quot;/&gt;&lt;top val=&quot;303&quot;/&gt;&lt;width val=&quot;13&quot;/&gt;&lt;height val=&quot;24&quot;/&gt;&lt;hasText val=&quot;1&quot;/&gt;&lt;/Image&gt;&lt;/ThreeDShapeInfo&gt;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B21F032D-2CD1-41F7-B99B-4FB8C9B273EC}&quot;/&gt;&lt;isInvalidForFieldText val=&quot;0&quot;/&gt;&lt;Image&gt;&lt;filename val=&quot;C:\Users\sanmi\Documents\My Adobe Presentations\ece552-SharedMemoryCoherence\data\asimages\{B21F032D-2CD1-41F7-B99B-4FB8C9B273EC}_7.png&quot;/&gt;&lt;left val=&quot;461&quot;/&gt;&lt;top val=&quot;255&quot;/&gt;&lt;width val=&quot;73&quot;/&gt;&lt;height val=&quot;59&quot;/&gt;&lt;hasText val=&quot;1&quot;/&gt;&lt;/Image&gt;&lt;/ThreeDShapeInfo&gt;"/>
  <p:tag name="PRESENTER_SHAPETEXTINFO" val="&lt;ShapeTextInfo&gt;&lt;TableIndex row=&quot;-1&quot; col=&quot;-1&quot;&gt;&lt;linesCount val=&quot;1&quot;/&gt;&lt;lineCharCount val=&quot;2&quot;/&gt;&lt;/TableIndex&gt;&lt;/ShapeTextInfo&gt;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25C12C6D-E019-481D-92FD-6734500B3A2A}&quot;/&gt;&lt;isInvalidForFieldText val=&quot;0&quot;/&gt;&lt;Image&gt;&lt;filename val=&quot;C:\Users\sanmi\Documents\My Adobe Presentations\ece552-SharedMemoryCoherence\data\asimages\{25C12C6D-E019-481D-92FD-6734500B3A2A}_7.png&quot;/&gt;&lt;left val=&quot;491&quot;/&gt;&lt;top val=&quot;302&quot;/&gt;&lt;width val=&quot;13&quot;/&gt;&lt;height val=&quot;25&quot;/&gt;&lt;hasText val=&quot;1&quot;/&gt;&lt;/Image&gt;&lt;/ThreeDShapeInfo&gt;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1CBD259F-AE71-4314-AB70-C1A4E21D0F1B}&quot;/&gt;&lt;isInvalidForFieldText val=&quot;0&quot;/&gt;&lt;Image&gt;&lt;filename val=&quot;C:\Users\sanmi\Documents\My Adobe Presentations\ece552-SharedMemoryCoherence\data\asimages\{1CBD259F-AE71-4314-AB70-C1A4E21D0F1B}_7.png&quot;/&gt;&lt;left val=&quot;258&quot;/&gt;&lt;top val=&quot;445&quot;/&gt;&lt;width val=&quot;188&quot;/&gt;&lt;height val=&quot;49&quot;/&gt;&lt;hasText val=&quot;1&quot;/&gt;&lt;/Image&gt;&lt;/ThreeDShapeInfo&gt;"/>
  <p:tag name="PRESENTER_SHAPETEXTINFO" val="&lt;ShapeTextInfo&gt;&lt;TableIndex row=&quot;-1&quot; col=&quot;-1&quot;&gt;&lt;linesCount val=&quot;1&quot;/&gt;&lt;lineCharCount val=&quot;5&quot;/&gt;&lt;/TableIndex&gt;&lt;/ShapeTextInfo&gt;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DBA05B35-EAD7-4D98-AAD5-6D53B1E1F520}&quot;/&gt;&lt;isInvalidForFieldText val=&quot;0&quot;/&gt;&lt;Image&gt;&lt;filename val=&quot;C:\Users\sanmi\Documents\My Adobe Presentations\ece552-SharedMemoryCoherence\data\asimages\{DBA05B35-EAD7-4D98-AAD5-6D53B1E1F520}_7.png&quot;/&gt;&lt;left val=&quot;445&quot;/&gt;&lt;top val=&quot;313&quot;/&gt;&lt;width val=&quot;104&quot;/&gt;&lt;height val=&quot;49&quot;/&gt;&lt;hasText val=&quot;1&quot;/&gt;&lt;/Image&gt;&lt;/ThreeDShapeInfo&gt;"/>
  <p:tag name="PRESENTER_SHAPETEXTINFO" val="&lt;ShapeTextInfo&gt;&lt;TableIndex row=&quot;-1&quot; col=&quot;-1&quot;&gt;&lt;linesCount val=&quot;1&quot;/&gt;&lt;lineCharCount val=&quot;5&quot;/&gt;&lt;/TableIndex&gt;&lt;/ShapeTextInfo&gt;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SharedMemoryCoherence\data\asimages\{49037015-1635-40EE-81CB-9604A1A2B8C3}_7.png&quot;/&gt;&lt;left val=&quot;441&quot;/&gt;&lt;top val=&quot;475&quot;/&gt;&lt;width val=&quot;113&quot;/&gt;&lt;height val=&quot;34&quot;/&gt;&lt;hasText val=&quot;1&quot;/&gt;&lt;/Image&gt;&lt;/ThreeDShapeInfo&gt;"/>
  <p:tag name="PRESENTER_SHAPETEXTINFO" val="&lt;ShapeTextInfo&gt;&lt;TableIndex row=&quot;-1&quot; col=&quot;-1&quot;&gt;&lt;linesCount val=&quot;1&quot;/&gt;&lt;lineCharCount val=&quot;11&quot;/&gt;&lt;/TableIndex&gt;&lt;/ShapeTextInfo&gt;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CA2DB92B-29AA-43B7-8C2E-1DC680556BFF}&quot;/&gt;&lt;isInvalidForFieldText val=&quot;0&quot;/&gt;&lt;Image&gt;&lt;filename val=&quot;C:\Users\sanmi\Documents\My Adobe Presentations\ece552-SharedMemoryCoherence\data\asimages\{CA2DB92B-29AA-43B7-8C2E-1DC680556BFF}_7.png&quot;/&gt;&lt;left val=&quot;163&quot;/&gt;&lt;top val=&quot;342&quot;/&gt;&lt;width val=&quot;104&quot;/&gt;&lt;height val=&quot;32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3E3DF1DB-E14F-4600-8634-1A2412B4F3F0}&quot;/&gt;&lt;isInvalidForFieldText val=&quot;0&quot;/&gt;&lt;Image&gt;&lt;filename val=&quot;C:\Users\sanmi\Documents\My Adobe Presentations\ece552-SharedMemoryCoherence\data\asimages\{3E3DF1DB-E14F-4600-8634-1A2412B4F3F0}_7.png&quot;/&gt;&lt;left val=&quot;445&quot;/&gt;&lt;top val=&quot;343&quot;/&gt;&lt;width val=&quot;104&quot;/&gt;&lt;height val=&quot;32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8382EE48-43E7-4266-B690-11794324BD02}&quot;/&gt;&lt;isInvalidForFieldText val=&quot;0&quot;/&gt;&lt;Image&gt;&lt;filename val=&quot;C:\Users\sanmi\Documents\My Adobe Presentations\ece552-SharedMemoryCoherence\data\asimages\{8382EE48-43E7-4266-B690-11794324BD02}_7.png&quot;/&gt;&lt;left val=&quot;258&quot;/&gt;&lt;top val=&quot;476&quot;/&gt;&lt;width val=&quot;188&quot;/&gt;&lt;height val=&quot;32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SharedMemoryCoherence\data\asimages\{1FBB5144-9F69-4C19-A7E4-05B2FE6539DB}_7.png&quot;/&gt;&lt;left val=&quot;552&quot;/&gt;&lt;top val=&quot;311&quot;/&gt;&lt;width val=&quot;136&quot;/&gt;&lt;height val=&quot;43&quot;/&gt;&lt;hasText val=&quot;1&quot;/&gt;&lt;/Image&gt;&lt;/ThreeDShapeInfo&gt;"/>
  <p:tag name="PRESENTER_SHAPETEXTINFO" val="&lt;ShapeTextInfo&gt;&lt;TableIndex row=&quot;-1&quot; col=&quot;-1&quot;&gt;&lt;linesCount val=&quot;1&quot;/&gt;&lt;lineCharCount val=&quot;13&quot;/&gt;&lt;/TableIndex&gt;&lt;/ShapeTextInfo&gt;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SharedMemoryCoherence\data\asimages\{90456A36-B5CC-4B5A-9903-A3656D38B57B}_7.png&quot;/&gt;&lt;left val=&quot;30&quot;/&gt;&lt;top val=&quot;264&quot;/&gt;&lt;width val=&quot;140&quot;/&gt;&lt;height val=&quot;43&quot;/&gt;&lt;hasText val=&quot;1&quot;/&gt;&lt;/Image&gt;&lt;/ThreeDShapeInfo&gt;"/>
  <p:tag name="PRESENTER_SHAPETEXTINFO" val="&lt;ShapeTextInfo&gt;&lt;TableIndex row=&quot;-1&quot; col=&quot;-1&quot;&gt;&lt;linesCount val=&quot;1&quot;/&gt;&lt;lineCharCount val=&quot;14&quot;/&gt;&lt;/TableIndex&gt;&lt;/ShapeTextInfo&gt;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SharedMemoryCoherence\data\asimages\{46FDD5DB-64CB-4E29-8A70-42C965D0F3BB}_7.png&quot;/&gt;&lt;left val=&quot;-12&quot;/&gt;&lt;top val=&quot;363&quot;/&gt;&lt;width val=&quot;192&quot;/&gt;&lt;height val=&quot;54&quot;/&gt;&lt;hasText val=&quot;1&quot;/&gt;&lt;/Image&gt;&lt;/ThreeDShapeInfo&gt;"/>
  <p:tag name="PRESENTER_SHAPETEXTINFO" val="&lt;ShapeTextInfo&gt;&lt;TableIndex row=&quot;-1&quot; col=&quot;-1&quot;&gt;&lt;linesCount val=&quot;2&quot;/&gt;&lt;lineCharCount val=&quot;19&quot;/&gt;&lt;lineCharCount val=&quot;20&quot;/&gt;&lt;/TableIndex&gt;&lt;/ShapeTextInfo&gt;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SharedMemoryCoherence\data\asimages\{5A5948A4-15ED-4097-A966-C4135B42AFCE}_7.png&quot;/&gt;&lt;left val=&quot;552&quot;/&gt;&lt;top val=&quot;337&quot;/&gt;&lt;width val=&quot;136&quot;/&gt;&lt;height val=&quot;43&quot;/&gt;&lt;hasText val=&quot;1&quot;/&gt;&lt;/Image&gt;&lt;/ThreeDShapeInfo&gt;"/>
  <p:tag name="PRESENTER_SHAPETEXTINFO" val="&lt;ShapeTextInfo&gt;&lt;TableIndex row=&quot;-1&quot; col=&quot;-1&quot;&gt;&lt;linesCount val=&quot;1&quot;/&gt;&lt;lineCharCount val=&quot;13&quot;/&gt;&lt;/TableIndex&gt;&lt;/ShapeTextInfo&gt;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SharedMemoryCoherence\data\asimages\{0D12D6CF-D2DA-4DA3-BC64-DE203926DB2D}_8.png&quot;/&gt;&lt;left val=&quot;30&quot;/&gt;&lt;top val=&quot;288&quot;/&gt;&lt;width val=&quot;104&quot;/&gt;&lt;height val=&quot;43&quot;/&gt;&lt;hasText val=&quot;1&quot;/&gt;&lt;/Image&gt;&lt;/ThreeDShapeInfo&gt;"/>
  <p:tag name="PRESENTER_SHAPETEXTINFO" val="&lt;ShapeTextInfo&gt;&lt;TableIndex row=&quot;-1&quot; col=&quot;-1&quot;&gt;&lt;linesCount val=&quot;1&quot;/&gt;&lt;lineCharCount val=&quot;11&quot;/&gt;&lt;/TableIndex&gt;&lt;/ShapeTextInfo&gt;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SlideThumbPath val=&quot;Slide7.PNG&quot;/&gt;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F03FDCF0-D667-46E8-AFA3-10A7AD1C2C81}&quot;/&gt;&lt;isInvalidForFieldText val=&quot;0&quot;/&gt;&lt;Image&gt;&lt;filename val=&quot;C:\Users\sanmi\Documents\My Adobe Presentations\ece552-SharedMemoryCoherence\data\asimages\{F03FDCF0-D667-46E8-AFA3-10A7AD1C2C81}_7.png&quot;/&gt;&lt;left val=&quot;163&quot;/&gt;&lt;top val=&quot;313&quot;/&gt;&lt;width val=&quot;104&quot;/&gt;&lt;height val=&quot;49&quot;/&gt;&lt;hasText val=&quot;1&quot;/&gt;&lt;/Image&gt;&lt;/ThreeDShapeInfo&gt;"/>
  <p:tag name="PRESENTER_SHAPETEXTINFO" val="&lt;ShapeTextInfo&gt;&lt;TableIndex row=&quot;-1&quot; col=&quot;-1&quot;&gt;&lt;linesCount val=&quot;1&quot;/&gt;&lt;lineCharCount val=&quot;5&quot;/&gt;&lt;/TableIndex&gt;&lt;/ShapeTextInfo&gt;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SharedMemoryCoherence\data\asimages\{D5DA3169-8C34-4D1A-8C51-7AA012BD3EE5}_7.png&quot;/&gt;&lt;left val=&quot;35&quot;/&gt;&lt;top val=&quot;21&quot;/&gt;&lt;width val=&quot;588&quot;/&gt;&lt;height val=&quot;98&quot;/&gt;&lt;hasText val=&quot;1&quot;/&gt;&lt;/Image&gt;&lt;/ThreeDShapeInfo&gt;"/>
  <p:tag name="PRESENTER_SHAPETEXTINFO" val="&lt;ShapeTextInfo&gt;&lt;TableIndex row=&quot;-1&quot; col=&quot;-1&quot;&gt;&lt;linesCount val=&quot;1&quot;/&gt;&lt;lineCharCount val=&quot;23&quot;/&gt;&lt;/TableIndex&gt;&lt;/ShapeTextInfo&gt;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SharedMemoryCoherence\data\asimages\{8C20E86F-4CF5-47D6-96A2-5E84CD50DFF3}_7.png&quot;/&gt;&lt;left val=&quot;43&quot;/&gt;&lt;top val=&quot;114&quot;/&gt;&lt;width val=&quot;664&quot;/&gt;&lt;height val=&quot;140&quot;/&gt;&lt;hasText val=&quot;1&quot;/&gt;&lt;/Image&gt;&lt;/ThreeDShapeInfo&gt;"/>
  <p:tag name="PRESENTER_SHAPETEXTINFO" val="&lt;ShapeTextInfo&gt;&lt;TableIndex row=&quot;-1&quot; col=&quot;-1&quot;&gt;&lt;linesCount val=&quot;4&quot;/&gt;&lt;lineCharCount val=&quot;54&quot;/&gt;&lt;lineCharCount val=&quot;51&quot;/&gt;&lt;lineCharCount val=&quot;53&quot;/&gt;&lt;lineCharCount val=&quot;53&quot;/&gt;&lt;/TableIndex&gt;&lt;/ShapeTextInfo&gt;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SharedMemoryCoherence\data\asimages\{F3DB0C67-1720-4A22-8529-4BD03325DC58}_7.png&quot;/&gt;&lt;left val=&quot;599&quot;/&gt;&lt;top val=&quot;500&quot;/&gt;&lt;width val=&quot;84&quot;/&gt;&lt;height val=&quot;29&quot;/&gt;&lt;hasText val=&quot;1&quot;/&gt;&lt;/Image&gt;&lt;/ThreeDShapeInfo&gt;"/>
  <p:tag name="PRESENTER_SHAPETEXTINFO" val="&lt;ShapeTextInfo&gt;&lt;TableIndex row=&quot;-1&quot; col=&quot;-1&quot;&gt;&lt;linesCount val=&quot;1&quot;/&gt;&lt;lineCharCount val=&quot;1&quot;/&gt;&lt;/TableIndex&gt;&lt;/ShapeTextInfo&gt;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18264B14-5689-4154-8349-14A13F661494}&quot;/&gt;&lt;isInvalidForFieldText val=&quot;0&quot;/&gt;&lt;Image&gt;&lt;filename val=&quot;C:\Users\sanmi\Documents\My Adobe Presentations\ece552-SharedMemoryCoherence\data\asimages\{18264B14-5689-4154-8349-14A13F661494}_7.png&quot;/&gt;&lt;left val=&quot;189&quot;/&gt;&lt;top val=&quot;390&quot;/&gt;&lt;width val=&quot;326&quot;/&gt;&lt;height val=&quot;57&quot;/&gt;&lt;hasText val=&quot;1&quot;/&gt;&lt;/Image&gt;&lt;/ThreeDShapeInfo&gt;"/>
  <p:tag name="PRESENTER_SHAPETEXTINFO" val="&lt;ShapeTextInfo&gt;&lt;TableIndex row=&quot;-1&quot; col=&quot;-1&quot;&gt;&lt;linesCount val=&quot;1&quot;/&gt;&lt;lineCharCount val=&quot;3&quot;/&gt;&lt;/TableIndex&gt;&lt;/ShapeTextInfo&gt;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F8753212-F35A-4961-A81C-7FB43553CBFC}&quot;/&gt;&lt;isInvalidForFieldText val=&quot;0&quot;/&gt;&lt;Image&gt;&lt;filename val=&quot;C:\Users\sanmi\Documents\My Adobe Presentations\ece552-SharedMemoryCoherence\data\asimages\{F8753212-F35A-4961-A81C-7FB43553CBFC}_7.png&quot;/&gt;&lt;left val=&quot;179&quot;/&gt;&lt;top val=&quot;255&quot;/&gt;&lt;width val=&quot;73&quot;/&gt;&lt;height val=&quot;59&quot;/&gt;&lt;hasText val=&quot;1&quot;/&gt;&lt;/Image&gt;&lt;/ThreeDShapeInfo&gt;"/>
  <p:tag name="PRESENTER_SHAPETEXTINFO" val="&lt;ShapeTextInfo&gt;&lt;TableIndex row=&quot;-1&quot; col=&quot;-1&quot;&gt;&lt;linesCount val=&quot;1&quot;/&gt;&lt;lineCharCount val=&quot;2&quot;/&gt;&lt;/TableIndex&gt;&lt;/ShapeTextInfo&gt;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C1921005-C76F-4266-A619-70A4F01B6FEC}&quot;/&gt;&lt;isInvalidForFieldText val=&quot;0&quot;/&gt;&lt;Image&gt;&lt;filename val=&quot;C:\Users\sanmi\Documents\My Adobe Presentations\ece552-SharedMemoryCoherence\data\asimages\{C1921005-C76F-4266-A619-70A4F01B6FEC}_7.png&quot;/&gt;&lt;left val=&quot;209&quot;/&gt;&lt;top val=&quot;303&quot;/&gt;&lt;width val=&quot;13&quot;/&gt;&lt;height val=&quot;24&quot;/&gt;&lt;hasText val=&quot;1&quot;/&gt;&lt;/Image&gt;&lt;/ThreeDShapeInfo&gt;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B21F032D-2CD1-41F7-B99B-4FB8C9B273EC}&quot;/&gt;&lt;isInvalidForFieldText val=&quot;0&quot;/&gt;&lt;Image&gt;&lt;filename val=&quot;C:\Users\sanmi\Documents\My Adobe Presentations\ece552-SharedMemoryCoherence\data\asimages\{B21F032D-2CD1-41F7-B99B-4FB8C9B273EC}_7.png&quot;/&gt;&lt;left val=&quot;461&quot;/&gt;&lt;top val=&quot;255&quot;/&gt;&lt;width val=&quot;73&quot;/&gt;&lt;height val=&quot;59&quot;/&gt;&lt;hasText val=&quot;1&quot;/&gt;&lt;/Image&gt;&lt;/ThreeDShapeInfo&gt;"/>
  <p:tag name="PRESENTER_SHAPETEXTINFO" val="&lt;ShapeTextInfo&gt;&lt;TableIndex row=&quot;-1&quot; col=&quot;-1&quot;&gt;&lt;linesCount val=&quot;1&quot;/&gt;&lt;lineCharCount val=&quot;2&quot;/&gt;&lt;/TableIndex&gt;&lt;/ShapeTextInfo&gt;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25C12C6D-E019-481D-92FD-6734500B3A2A}&quot;/&gt;&lt;isInvalidForFieldText val=&quot;0&quot;/&gt;&lt;Image&gt;&lt;filename val=&quot;C:\Users\sanmi\Documents\My Adobe Presentations\ece552-SharedMemoryCoherence\data\asimages\{25C12C6D-E019-481D-92FD-6734500B3A2A}_7.png&quot;/&gt;&lt;left val=&quot;491&quot;/&gt;&lt;top val=&quot;302&quot;/&gt;&lt;width val=&quot;13&quot;/&gt;&lt;height val=&quot;25&quot;/&gt;&lt;hasText val=&quot;1&quot;/&gt;&lt;/Image&gt;&lt;/ThreeDShapeInfo&gt;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1CBD259F-AE71-4314-AB70-C1A4E21D0F1B}&quot;/&gt;&lt;isInvalidForFieldText val=&quot;0&quot;/&gt;&lt;Image&gt;&lt;filename val=&quot;C:\Users\sanmi\Documents\My Adobe Presentations\ece552-SharedMemoryCoherence\data\asimages\{1CBD259F-AE71-4314-AB70-C1A4E21D0F1B}_7.png&quot;/&gt;&lt;left val=&quot;258&quot;/&gt;&lt;top val=&quot;445&quot;/&gt;&lt;width val=&quot;188&quot;/&gt;&lt;height val=&quot;49&quot;/&gt;&lt;hasText val=&quot;1&quot;/&gt;&lt;/Image&gt;&lt;/ThreeDShapeInfo&gt;"/>
  <p:tag name="PRESENTER_SHAPETEXTINFO" val="&lt;ShapeTextInfo&gt;&lt;TableIndex row=&quot;-1&quot; col=&quot;-1&quot;&gt;&lt;linesCount val=&quot;1&quot;/&gt;&lt;lineCharCount val=&quot;5&quot;/&gt;&lt;/TableIndex&gt;&lt;/ShapeTextInfo&gt;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DBA05B35-EAD7-4D98-AAD5-6D53B1E1F520}&quot;/&gt;&lt;isInvalidForFieldText val=&quot;0&quot;/&gt;&lt;Image&gt;&lt;filename val=&quot;C:\Users\sanmi\Documents\My Adobe Presentations\ece552-SharedMemoryCoherence\data\asimages\{DBA05B35-EAD7-4D98-AAD5-6D53B1E1F520}_7.png&quot;/&gt;&lt;left val=&quot;445&quot;/&gt;&lt;top val=&quot;313&quot;/&gt;&lt;width val=&quot;104&quot;/&gt;&lt;height val=&quot;49&quot;/&gt;&lt;hasText val=&quot;1&quot;/&gt;&lt;/Image&gt;&lt;/ThreeDShapeInfo&gt;"/>
  <p:tag name="PRESENTER_SHAPETEXTINFO" val="&lt;ShapeTextInfo&gt;&lt;TableIndex row=&quot;-1&quot; col=&quot;-1&quot;&gt;&lt;linesCount val=&quot;1&quot;/&gt;&lt;lineCharCount val=&quot;5&quot;/&gt;&lt;/TableIndex&gt;&lt;/ShapeTextInfo&gt;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SharedMemoryCoherence\data\asimages\{49037015-1635-40EE-81CB-9604A1A2B8C3}_7.png&quot;/&gt;&lt;left val=&quot;441&quot;/&gt;&lt;top val=&quot;475&quot;/&gt;&lt;width val=&quot;113&quot;/&gt;&lt;height val=&quot;34&quot;/&gt;&lt;hasText val=&quot;1&quot;/&gt;&lt;/Image&gt;&lt;/ThreeDShapeInfo&gt;"/>
  <p:tag name="PRESENTER_SHAPETEXTINFO" val="&lt;ShapeTextInfo&gt;&lt;TableIndex row=&quot;-1&quot; col=&quot;-1&quot;&gt;&lt;linesCount val=&quot;1&quot;/&gt;&lt;lineCharCount val=&quot;11&quot;/&gt;&lt;/TableIndex&gt;&lt;/ShapeTextInfo&gt;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CA2DB92B-29AA-43B7-8C2E-1DC680556BFF}&quot;/&gt;&lt;isInvalidForFieldText val=&quot;0&quot;/&gt;&lt;Image&gt;&lt;filename val=&quot;C:\Users\sanmi\Documents\My Adobe Presentations\ece552-SharedMemoryCoherence\data\asimages\{CA2DB92B-29AA-43B7-8C2E-1DC680556BFF}_7.png&quot;/&gt;&lt;left val=&quot;163&quot;/&gt;&lt;top val=&quot;342&quot;/&gt;&lt;width val=&quot;104&quot;/&gt;&lt;height val=&quot;32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3E3DF1DB-E14F-4600-8634-1A2412B4F3F0}&quot;/&gt;&lt;isInvalidForFieldText val=&quot;0&quot;/&gt;&lt;Image&gt;&lt;filename val=&quot;C:\Users\sanmi\Documents\My Adobe Presentations\ece552-SharedMemoryCoherence\data\asimages\{3E3DF1DB-E14F-4600-8634-1A2412B4F3F0}_7.png&quot;/&gt;&lt;left val=&quot;445&quot;/&gt;&lt;top val=&quot;343&quot;/&gt;&lt;width val=&quot;104&quot;/&gt;&lt;height val=&quot;32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8382EE48-43E7-4266-B690-11794324BD02}&quot;/&gt;&lt;isInvalidForFieldText val=&quot;0&quot;/&gt;&lt;Image&gt;&lt;filename val=&quot;C:\Users\sanmi\Documents\My Adobe Presentations\ece552-SharedMemoryCoherence\data\asimages\{8382EE48-43E7-4266-B690-11794324BD02}_7.png&quot;/&gt;&lt;left val=&quot;258&quot;/&gt;&lt;top val=&quot;476&quot;/&gt;&lt;width val=&quot;188&quot;/&gt;&lt;height val=&quot;32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SharedMemoryCoherence\data\asimages\{1FBB5144-9F69-4C19-A7E4-05B2FE6539DB}_7.png&quot;/&gt;&lt;left val=&quot;552&quot;/&gt;&lt;top val=&quot;311&quot;/&gt;&lt;width val=&quot;136&quot;/&gt;&lt;height val=&quot;43&quot;/&gt;&lt;hasText val=&quot;1&quot;/&gt;&lt;/Image&gt;&lt;/ThreeDShapeInfo&gt;"/>
  <p:tag name="PRESENTER_SHAPETEXTINFO" val="&lt;ShapeTextInfo&gt;&lt;TableIndex row=&quot;-1&quot; col=&quot;-1&quot;&gt;&lt;linesCount val=&quot;1&quot;/&gt;&lt;lineCharCount val=&quot;13&quot;/&gt;&lt;/TableIndex&gt;&lt;/ShapeTextInfo&gt;"/>
</p:tagLst>
</file>

<file path=ppt/tags/tag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SharedMemoryCoherence\data\asimages\{90456A36-B5CC-4B5A-9903-A3656D38B57B}_7.png&quot;/&gt;&lt;left val=&quot;30&quot;/&gt;&lt;top val=&quot;264&quot;/&gt;&lt;width val=&quot;140&quot;/&gt;&lt;height val=&quot;43&quot;/&gt;&lt;hasText val=&quot;1&quot;/&gt;&lt;/Image&gt;&lt;/ThreeDShapeInfo&gt;"/>
  <p:tag name="PRESENTER_SHAPETEXTINFO" val="&lt;ShapeTextInfo&gt;&lt;TableIndex row=&quot;-1&quot; col=&quot;-1&quot;&gt;&lt;linesCount val=&quot;1&quot;/&gt;&lt;lineCharCount val=&quot;14&quot;/&gt;&lt;/TableIndex&gt;&lt;/ShapeTextInfo&gt;"/>
</p:tagLst>
</file>

<file path=ppt/tags/tag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SharedMemoryCoherence\data\asimages\{46FDD5DB-64CB-4E29-8A70-42C965D0F3BB}_7.png&quot;/&gt;&lt;left val=&quot;-12&quot;/&gt;&lt;top val=&quot;363&quot;/&gt;&lt;width val=&quot;192&quot;/&gt;&lt;height val=&quot;54&quot;/&gt;&lt;hasText val=&quot;1&quot;/&gt;&lt;/Image&gt;&lt;/ThreeDShapeInfo&gt;"/>
  <p:tag name="PRESENTER_SHAPETEXTINFO" val="&lt;ShapeTextInfo&gt;&lt;TableIndex row=&quot;-1&quot; col=&quot;-1&quot;&gt;&lt;linesCount val=&quot;2&quot;/&gt;&lt;lineCharCount val=&quot;19&quot;/&gt;&lt;lineCharCount val=&quot;20&quot;/&gt;&lt;/TableIndex&gt;&lt;/ShapeTextInfo&gt;"/>
</p:tagLst>
</file>

<file path=ppt/tags/tag1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SharedMemoryCoherence\data\asimages\{5A5948A4-15ED-4097-A966-C4135B42AFCE}_7.png&quot;/&gt;&lt;left val=&quot;552&quot;/&gt;&lt;top val=&quot;337&quot;/&gt;&lt;width val=&quot;136&quot;/&gt;&lt;height val=&quot;43&quot;/&gt;&lt;hasText val=&quot;1&quot;/&gt;&lt;/Image&gt;&lt;/ThreeDShapeInfo&gt;"/>
  <p:tag name="PRESENTER_SHAPETEXTINFO" val="&lt;ShapeTextInfo&gt;&lt;TableIndex row=&quot;-1&quot; col=&quot;-1&quot;&gt;&lt;linesCount val=&quot;1&quot;/&gt;&lt;lineCharCount val=&quot;13&quot;/&gt;&lt;/TableIndex&gt;&lt;/ShapeTextInfo&gt;"/>
</p:tagLst>
</file>

<file path=ppt/tags/tag1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SharedMemoryCoherence\data\asimages\{B0EE8591-2417-438F-8BC3-E2E566E0606D}_8.png&quot;/&gt;&lt;left val=&quot;551&quot;/&gt;&lt;top val=&quot;362&quot;/&gt;&lt;width val=&quot;135&quot;/&gt;&lt;height val=&quot;43&quot;/&gt;&lt;hasText val=&quot;1&quot;/&gt;&lt;/Image&gt;&lt;/ThreeDShapeInfo&gt;"/>
  <p:tag name="PRESENTER_SHAPETEXTINFO" val="&lt;ShapeTextInfo&gt;&lt;TableIndex row=&quot;-1&quot; col=&quot;-1&quot;&gt;&lt;linesCount val=&quot;1&quot;/&gt;&lt;lineCharCount val=&quot;13&quot;/&gt;&lt;/TableIndex&gt;&lt;/ShapeTextInfo&gt;"/>
</p:tagLst>
</file>

<file path=ppt/tags/tag1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SharedMemoryCoherence\data\asimages\{0D12D6CF-D2DA-4DA3-BC64-DE203926DB2D}_8.png&quot;/&gt;&lt;left val=&quot;30&quot;/&gt;&lt;top val=&quot;288&quot;/&gt;&lt;width val=&quot;104&quot;/&gt;&lt;height val=&quot;43&quot;/&gt;&lt;hasText val=&quot;1&quot;/&gt;&lt;/Image&gt;&lt;/ThreeDShapeInfo&gt;"/>
  <p:tag name="PRESENTER_SHAPETEXTINFO" val="&lt;ShapeTextInfo&gt;&lt;TableIndex row=&quot;-1&quot; col=&quot;-1&quot;&gt;&lt;linesCount val=&quot;1&quot;/&gt;&lt;lineCharCount val=&quot;11&quot;/&gt;&lt;/TableIndex&gt;&lt;/ShapeTextInfo&gt;"/>
</p:tagLst>
</file>

<file path=ppt/tags/tag1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SharedMemoryCoherence\data\asimages\{B0EE8591-2417-438F-8BC3-E2E566E0606D}_8.png&quot;/&gt;&lt;left val=&quot;551&quot;/&gt;&lt;top val=&quot;362&quot;/&gt;&lt;width val=&quot;135&quot;/&gt;&lt;height val=&quot;43&quot;/&gt;&lt;hasText val=&quot;1&quot;/&gt;&lt;/Image&gt;&lt;/ThreeDShapeInfo&gt;"/>
  <p:tag name="PRESENTER_SHAPETEXTINFO" val="&lt;ShapeTextInfo&gt;&lt;TableIndex row=&quot;-1&quot; col=&quot;-1&quot;&gt;&lt;linesCount val=&quot;1&quot;/&gt;&lt;lineCharCount val=&quot;13&quot;/&gt;&lt;/TableIndex&gt;&lt;/ShapeTextInfo&gt;"/>
</p:tagLst>
</file>

<file path=ppt/tags/tag1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SlideThumbPath val=&quot;Slide7.PNG&quot;/&gt;"/>
</p:tagLst>
</file>

<file path=ppt/tags/tag1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F03FDCF0-D667-46E8-AFA3-10A7AD1C2C81}&quot;/&gt;&lt;isInvalidForFieldText val=&quot;0&quot;/&gt;&lt;Image&gt;&lt;filename val=&quot;C:\Users\sanmi\Documents\My Adobe Presentations\ece552-SharedMemoryCoherence\data\asimages\{F03FDCF0-D667-46E8-AFA3-10A7AD1C2C81}_7.png&quot;/&gt;&lt;left val=&quot;163&quot;/&gt;&lt;top val=&quot;313&quot;/&gt;&lt;width val=&quot;104&quot;/&gt;&lt;height val=&quot;49&quot;/&gt;&lt;hasText val=&quot;1&quot;/&gt;&lt;/Image&gt;&lt;/ThreeDShapeInfo&gt;"/>
  <p:tag name="PRESENTER_SHAPETEXTINFO" val="&lt;ShapeTextInfo&gt;&lt;TableIndex row=&quot;-1&quot; col=&quot;-1&quot;&gt;&lt;linesCount val=&quot;1&quot;/&gt;&lt;lineCharCount val=&quot;5&quot;/&gt;&lt;/TableIndex&gt;&lt;/ShapeTextInfo&gt;"/>
</p:tagLst>
</file>

<file path=ppt/tags/tag1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SharedMemoryCoherence\data\asimages\{D5DA3169-8C34-4D1A-8C51-7AA012BD3EE5}_7.png&quot;/&gt;&lt;left val=&quot;35&quot;/&gt;&lt;top val=&quot;21&quot;/&gt;&lt;width val=&quot;588&quot;/&gt;&lt;height val=&quot;98&quot;/&gt;&lt;hasText val=&quot;1&quot;/&gt;&lt;/Image&gt;&lt;/ThreeDShapeInfo&gt;"/>
  <p:tag name="PRESENTER_SHAPETEXTINFO" val="&lt;ShapeTextInfo&gt;&lt;TableIndex row=&quot;-1&quot; col=&quot;-1&quot;&gt;&lt;linesCount val=&quot;1&quot;/&gt;&lt;lineCharCount val=&quot;23&quot;/&gt;&lt;/TableIndex&gt;&lt;/ShapeTextInfo&gt;"/>
</p:tagLst>
</file>

<file path=ppt/tags/tag1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SharedMemoryCoherence\data\asimages\{8C20E86F-4CF5-47D6-96A2-5E84CD50DFF3}_7.png&quot;/&gt;&lt;left val=&quot;43&quot;/&gt;&lt;top val=&quot;114&quot;/&gt;&lt;width val=&quot;664&quot;/&gt;&lt;height val=&quot;140&quot;/&gt;&lt;hasText val=&quot;1&quot;/&gt;&lt;/Image&gt;&lt;/ThreeDShapeInfo&gt;"/>
  <p:tag name="PRESENTER_SHAPETEXTINFO" val="&lt;ShapeTextInfo&gt;&lt;TableIndex row=&quot;-1&quot; col=&quot;-1&quot;&gt;&lt;linesCount val=&quot;4&quot;/&gt;&lt;lineCharCount val=&quot;54&quot;/&gt;&lt;lineCharCount val=&quot;51&quot;/&gt;&lt;lineCharCount val=&quot;53&quot;/&gt;&lt;lineCharCount val=&quot;53&quot;/&gt;&lt;/TableIndex&gt;&lt;/ShapeTextInfo&gt;"/>
</p:tagLst>
</file>

<file path=ppt/tags/tag1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SharedMemoryCoherence\data\asimages\{F3DB0C67-1720-4A22-8529-4BD03325DC58}_7.png&quot;/&gt;&lt;left val=&quot;599&quot;/&gt;&lt;top val=&quot;500&quot;/&gt;&lt;width val=&quot;84&quot;/&gt;&lt;height val=&quot;29&quot;/&gt;&lt;hasText val=&quot;1&quot;/&gt;&lt;/Image&gt;&lt;/ThreeDShapeInfo&gt;"/>
  <p:tag name="PRESENTER_SHAPETEXTINFO" val="&lt;ShapeTextInfo&gt;&lt;TableIndex row=&quot;-1&quot; col=&quot;-1&quot;&gt;&lt;linesCount val=&quot;1&quot;/&gt;&lt;lineCharCount val=&quot;1&quot;/&gt;&lt;/TableIndex&gt;&lt;/ShapeTextInfo&gt;"/>
</p:tagLst>
</file>

<file path=ppt/tags/tag1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18264B14-5689-4154-8349-14A13F661494}&quot;/&gt;&lt;isInvalidForFieldText val=&quot;0&quot;/&gt;&lt;Image&gt;&lt;filename val=&quot;C:\Users\sanmi\Documents\My Adobe Presentations\ece552-SharedMemoryCoherence\data\asimages\{18264B14-5689-4154-8349-14A13F661494}_7.png&quot;/&gt;&lt;left val=&quot;189&quot;/&gt;&lt;top val=&quot;390&quot;/&gt;&lt;width val=&quot;326&quot;/&gt;&lt;height val=&quot;57&quot;/&gt;&lt;hasText val=&quot;1&quot;/&gt;&lt;/Image&gt;&lt;/ThreeDShapeInfo&gt;"/>
  <p:tag name="PRESENTER_SHAPETEXTINFO" val="&lt;ShapeTextInfo&gt;&lt;TableIndex row=&quot;-1&quot; col=&quot;-1&quot;&gt;&lt;linesCount val=&quot;1&quot;/&gt;&lt;lineCharCount val=&quot;3&quot;/&gt;&lt;/TableIndex&gt;&lt;/ShapeTextInfo&gt;"/>
</p:tagLst>
</file>

<file path=ppt/tags/tag1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F8753212-F35A-4961-A81C-7FB43553CBFC}&quot;/&gt;&lt;isInvalidForFieldText val=&quot;0&quot;/&gt;&lt;Image&gt;&lt;filename val=&quot;C:\Users\sanmi\Documents\My Adobe Presentations\ece552-SharedMemoryCoherence\data\asimages\{F8753212-F35A-4961-A81C-7FB43553CBFC}_7.png&quot;/&gt;&lt;left val=&quot;179&quot;/&gt;&lt;top val=&quot;255&quot;/&gt;&lt;width val=&quot;73&quot;/&gt;&lt;height val=&quot;59&quot;/&gt;&lt;hasText val=&quot;1&quot;/&gt;&lt;/Image&gt;&lt;/ThreeDShapeInfo&gt;"/>
  <p:tag name="PRESENTER_SHAPETEXTINFO" val="&lt;ShapeTextInfo&gt;&lt;TableIndex row=&quot;-1&quot; col=&quot;-1&quot;&gt;&lt;linesCount val=&quot;1&quot;/&gt;&lt;lineCharCount val=&quot;2&quot;/&gt;&lt;/TableIndex&gt;&lt;/ShapeTextInfo&gt;"/>
</p:tagLst>
</file>

<file path=ppt/tags/tag1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C1921005-C76F-4266-A619-70A4F01B6FEC}&quot;/&gt;&lt;isInvalidForFieldText val=&quot;0&quot;/&gt;&lt;Image&gt;&lt;filename val=&quot;C:\Users\sanmi\Documents\My Adobe Presentations\ece552-SharedMemoryCoherence\data\asimages\{C1921005-C76F-4266-A619-70A4F01B6FEC}_7.png&quot;/&gt;&lt;left val=&quot;209&quot;/&gt;&lt;top val=&quot;303&quot;/&gt;&lt;width val=&quot;13&quot;/&gt;&lt;height val=&quot;24&quot;/&gt;&lt;hasText val=&quot;1&quot;/&gt;&lt;/Image&gt;&lt;/ThreeDShapeInfo&gt;"/>
</p:tagLst>
</file>

<file path=ppt/tags/tag1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B21F032D-2CD1-41F7-B99B-4FB8C9B273EC}&quot;/&gt;&lt;isInvalidForFieldText val=&quot;0&quot;/&gt;&lt;Image&gt;&lt;filename val=&quot;C:\Users\sanmi\Documents\My Adobe Presentations\ece552-SharedMemoryCoherence\data\asimages\{B21F032D-2CD1-41F7-B99B-4FB8C9B273EC}_7.png&quot;/&gt;&lt;left val=&quot;461&quot;/&gt;&lt;top val=&quot;255&quot;/&gt;&lt;width val=&quot;73&quot;/&gt;&lt;height val=&quot;59&quot;/&gt;&lt;hasText val=&quot;1&quot;/&gt;&lt;/Image&gt;&lt;/ThreeDShapeInfo&gt;"/>
  <p:tag name="PRESENTER_SHAPETEXTINFO" val="&lt;ShapeTextInfo&gt;&lt;TableIndex row=&quot;-1&quot; col=&quot;-1&quot;&gt;&lt;linesCount val=&quot;1&quot;/&gt;&lt;lineCharCount val=&quot;2&quot;/&gt;&lt;/TableIndex&gt;&lt;/ShapeTextInfo&gt;"/>
</p:tagLst>
</file>

<file path=ppt/tags/tag1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25C12C6D-E019-481D-92FD-6734500B3A2A}&quot;/&gt;&lt;isInvalidForFieldText val=&quot;0&quot;/&gt;&lt;Image&gt;&lt;filename val=&quot;C:\Users\sanmi\Documents\My Adobe Presentations\ece552-SharedMemoryCoherence\data\asimages\{25C12C6D-E019-481D-92FD-6734500B3A2A}_7.png&quot;/&gt;&lt;left val=&quot;491&quot;/&gt;&lt;top val=&quot;302&quot;/&gt;&lt;width val=&quot;13&quot;/&gt;&lt;height val=&quot;25&quot;/&gt;&lt;hasText val=&quot;1&quot;/&gt;&lt;/Image&gt;&lt;/ThreeDShapeInfo&gt;"/>
</p:tagLst>
</file>

<file path=ppt/tags/tag1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1CBD259F-AE71-4314-AB70-C1A4E21D0F1B}&quot;/&gt;&lt;isInvalidForFieldText val=&quot;0&quot;/&gt;&lt;Image&gt;&lt;filename val=&quot;C:\Users\sanmi\Documents\My Adobe Presentations\ece552-SharedMemoryCoherence\data\asimages\{1CBD259F-AE71-4314-AB70-C1A4E21D0F1B}_7.png&quot;/&gt;&lt;left val=&quot;258&quot;/&gt;&lt;top val=&quot;445&quot;/&gt;&lt;width val=&quot;188&quot;/&gt;&lt;height val=&quot;49&quot;/&gt;&lt;hasText val=&quot;1&quot;/&gt;&lt;/Image&gt;&lt;/ThreeDShapeInfo&gt;"/>
  <p:tag name="PRESENTER_SHAPETEXTINFO" val="&lt;ShapeTextInfo&gt;&lt;TableIndex row=&quot;-1&quot; col=&quot;-1&quot;&gt;&lt;linesCount val=&quot;1&quot;/&gt;&lt;lineCharCount val=&quot;5&quot;/&gt;&lt;/TableIndex&gt;&lt;/ShapeTextInfo&gt;"/>
</p:tagLst>
</file>

<file path=ppt/tags/tag1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DBA05B35-EAD7-4D98-AAD5-6D53B1E1F520}&quot;/&gt;&lt;isInvalidForFieldText val=&quot;0&quot;/&gt;&lt;Image&gt;&lt;filename val=&quot;C:\Users\sanmi\Documents\My Adobe Presentations\ece552-SharedMemoryCoherence\data\asimages\{DBA05B35-EAD7-4D98-AAD5-6D53B1E1F520}_7.png&quot;/&gt;&lt;left val=&quot;445&quot;/&gt;&lt;top val=&quot;313&quot;/&gt;&lt;width val=&quot;104&quot;/&gt;&lt;height val=&quot;49&quot;/&gt;&lt;hasText val=&quot;1&quot;/&gt;&lt;/Image&gt;&lt;/ThreeDShapeInfo&gt;"/>
  <p:tag name="PRESENTER_SHAPETEXTINFO" val="&lt;ShapeTextInfo&gt;&lt;TableIndex row=&quot;-1&quot; col=&quot;-1&quot;&gt;&lt;linesCount val=&quot;1&quot;/&gt;&lt;lineCharCount val=&quot;5&quot;/&gt;&lt;/TableIndex&gt;&lt;/ShapeTextInfo&gt;"/>
</p:tagLst>
</file>

<file path=ppt/tags/tag1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SharedMemoryCoherence\data\asimages\{49037015-1635-40EE-81CB-9604A1A2B8C3}_7.png&quot;/&gt;&lt;left val=&quot;441&quot;/&gt;&lt;top val=&quot;475&quot;/&gt;&lt;width val=&quot;113&quot;/&gt;&lt;height val=&quot;34&quot;/&gt;&lt;hasText val=&quot;1&quot;/&gt;&lt;/Image&gt;&lt;/ThreeDShapeInfo&gt;"/>
  <p:tag name="PRESENTER_SHAPETEXTINFO" val="&lt;ShapeTextInfo&gt;&lt;TableIndex row=&quot;-1&quot; col=&quot;-1&quot;&gt;&lt;linesCount val=&quot;1&quot;/&gt;&lt;lineCharCount val=&quot;11&quot;/&gt;&lt;/TableIndex&gt;&lt;/ShapeTextInfo&gt;"/>
</p:tagLst>
</file>

<file path=ppt/tags/tag1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CA2DB92B-29AA-43B7-8C2E-1DC680556BFF}&quot;/&gt;&lt;isInvalidForFieldText val=&quot;0&quot;/&gt;&lt;Image&gt;&lt;filename val=&quot;C:\Users\sanmi\Documents\My Adobe Presentations\ece552-SharedMemoryCoherence\data\asimages\{CA2DB92B-29AA-43B7-8C2E-1DC680556BFF}_7.png&quot;/&gt;&lt;left val=&quot;163&quot;/&gt;&lt;top val=&quot;342&quot;/&gt;&lt;width val=&quot;104&quot;/&gt;&lt;height val=&quot;32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1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3E3DF1DB-E14F-4600-8634-1A2412B4F3F0}&quot;/&gt;&lt;isInvalidForFieldText val=&quot;0&quot;/&gt;&lt;Image&gt;&lt;filename val=&quot;C:\Users\sanmi\Documents\My Adobe Presentations\ece552-SharedMemoryCoherence\data\asimages\{3E3DF1DB-E14F-4600-8634-1A2412B4F3F0}_7.png&quot;/&gt;&lt;left val=&quot;445&quot;/&gt;&lt;top val=&quot;343&quot;/&gt;&lt;width val=&quot;104&quot;/&gt;&lt;height val=&quot;32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1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8382EE48-43E7-4266-B690-11794324BD02}&quot;/&gt;&lt;isInvalidForFieldText val=&quot;0&quot;/&gt;&lt;Image&gt;&lt;filename val=&quot;C:\Users\sanmi\Documents\My Adobe Presentations\ece552-SharedMemoryCoherence\data\asimages\{8382EE48-43E7-4266-B690-11794324BD02}_7.png&quot;/&gt;&lt;left val=&quot;258&quot;/&gt;&lt;top val=&quot;476&quot;/&gt;&lt;width val=&quot;188&quot;/&gt;&lt;height val=&quot;32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1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SharedMemoryCoherence\data\asimages\{1FBB5144-9F69-4C19-A7E4-05B2FE6539DB}_7.png&quot;/&gt;&lt;left val=&quot;552&quot;/&gt;&lt;top val=&quot;311&quot;/&gt;&lt;width val=&quot;136&quot;/&gt;&lt;height val=&quot;43&quot;/&gt;&lt;hasText val=&quot;1&quot;/&gt;&lt;/Image&gt;&lt;/ThreeDShapeInfo&gt;"/>
  <p:tag name="PRESENTER_SHAPETEXTINFO" val="&lt;ShapeTextInfo&gt;&lt;TableIndex row=&quot;-1&quot; col=&quot;-1&quot;&gt;&lt;linesCount val=&quot;1&quot;/&gt;&lt;lineCharCount val=&quot;13&quot;/&gt;&lt;/TableIndex&gt;&lt;/ShapeTextInfo&gt;"/>
</p:tagLst>
</file>

<file path=ppt/tags/tag1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SharedMemoryCoherence\data\asimages\{90456A36-B5CC-4B5A-9903-A3656D38B57B}_7.png&quot;/&gt;&lt;left val=&quot;30&quot;/&gt;&lt;top val=&quot;264&quot;/&gt;&lt;width val=&quot;140&quot;/&gt;&lt;height val=&quot;43&quot;/&gt;&lt;hasText val=&quot;1&quot;/&gt;&lt;/Image&gt;&lt;/ThreeDShapeInfo&gt;"/>
  <p:tag name="PRESENTER_SHAPETEXTINFO" val="&lt;ShapeTextInfo&gt;&lt;TableIndex row=&quot;-1&quot; col=&quot;-1&quot;&gt;&lt;linesCount val=&quot;1&quot;/&gt;&lt;lineCharCount val=&quot;14&quot;/&gt;&lt;/TableIndex&gt;&lt;/ShapeTextInfo&gt;"/>
</p:tagLst>
</file>

<file path=ppt/tags/tag1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SharedMemoryCoherence\data\asimages\{46FDD5DB-64CB-4E29-8A70-42C965D0F3BB}_7.png&quot;/&gt;&lt;left val=&quot;-12&quot;/&gt;&lt;top val=&quot;363&quot;/&gt;&lt;width val=&quot;192&quot;/&gt;&lt;height val=&quot;54&quot;/&gt;&lt;hasText val=&quot;1&quot;/&gt;&lt;/Image&gt;&lt;/ThreeDShapeInfo&gt;"/>
  <p:tag name="PRESENTER_SHAPETEXTINFO" val="&lt;ShapeTextInfo&gt;&lt;TableIndex row=&quot;-1&quot; col=&quot;-1&quot;&gt;&lt;linesCount val=&quot;2&quot;/&gt;&lt;lineCharCount val=&quot;19&quot;/&gt;&lt;lineCharCount val=&quot;20&quot;/&gt;&lt;/TableIndex&gt;&lt;/ShapeTextInfo&gt;"/>
</p:tagLst>
</file>

<file path=ppt/tags/tag1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SharedMemoryCoherence\data\asimages\{5A5948A4-15ED-4097-A966-C4135B42AFCE}_7.png&quot;/&gt;&lt;left val=&quot;552&quot;/&gt;&lt;top val=&quot;337&quot;/&gt;&lt;width val=&quot;136&quot;/&gt;&lt;height val=&quot;43&quot;/&gt;&lt;hasText val=&quot;1&quot;/&gt;&lt;/Image&gt;&lt;/ThreeDShapeInfo&gt;"/>
  <p:tag name="PRESENTER_SHAPETEXTINFO" val="&lt;ShapeTextInfo&gt;&lt;TableIndex row=&quot;-1&quot; col=&quot;-1&quot;&gt;&lt;linesCount val=&quot;1&quot;/&gt;&lt;lineCharCount val=&quot;13&quot;/&gt;&lt;/TableIndex&gt;&lt;/ShapeTextInfo&gt;"/>
</p:tagLst>
</file>

<file path=ppt/tags/tag1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SharedMemoryCoherence\data\asimages\{B0EE8591-2417-438F-8BC3-E2E566E0606D}_8.png&quot;/&gt;&lt;left val=&quot;551&quot;/&gt;&lt;top val=&quot;362&quot;/&gt;&lt;width val=&quot;135&quot;/&gt;&lt;height val=&quot;43&quot;/&gt;&lt;hasText val=&quot;1&quot;/&gt;&lt;/Image&gt;&lt;/ThreeDShapeInfo&gt;"/>
  <p:tag name="PRESENTER_SHAPETEXTINFO" val="&lt;ShapeTextInfo&gt;&lt;TableIndex row=&quot;-1&quot; col=&quot;-1&quot;&gt;&lt;linesCount val=&quot;1&quot;/&gt;&lt;lineCharCount val=&quot;13&quot;/&gt;&lt;/TableIndex&gt;&lt;/ShapeTextInfo&gt;"/>
</p:tagLst>
</file>

<file path=ppt/tags/tag1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SharedMemoryCoherence\data\asimages\{0D12D6CF-D2DA-4DA3-BC64-DE203926DB2D}_8.png&quot;/&gt;&lt;left val=&quot;30&quot;/&gt;&lt;top val=&quot;288&quot;/&gt;&lt;width val=&quot;104&quot;/&gt;&lt;height val=&quot;43&quot;/&gt;&lt;hasText val=&quot;1&quot;/&gt;&lt;/Image&gt;&lt;/ThreeDShapeInfo&gt;"/>
  <p:tag name="PRESENTER_SHAPETEXTINFO" val="&lt;ShapeTextInfo&gt;&lt;TableIndex row=&quot;-1&quot; col=&quot;-1&quot;&gt;&lt;linesCount val=&quot;1&quot;/&gt;&lt;lineCharCount val=&quot;11&quot;/&gt;&lt;/TableIndex&gt;&lt;/ShapeTextInfo&gt;"/>
</p:tagLst>
</file>

<file path=ppt/tags/tag1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SharedMemoryCoherence\data\asimages\{B0EE8591-2417-438F-8BC3-E2E566E0606D}_8.png&quot;/&gt;&lt;left val=&quot;551&quot;/&gt;&lt;top val=&quot;362&quot;/&gt;&lt;width val=&quot;135&quot;/&gt;&lt;height val=&quot;43&quot;/&gt;&lt;hasText val=&quot;1&quot;/&gt;&lt;/Image&gt;&lt;/ThreeDShapeInfo&gt;"/>
  <p:tag name="PRESENTER_SHAPETEXTINFO" val="&lt;ShapeTextInfo&gt;&lt;TableIndex row=&quot;-1&quot; col=&quot;-1&quot;&gt;&lt;linesCount val=&quot;1&quot;/&gt;&lt;lineCharCount val=&quot;13&quot;/&gt;&lt;/TableIndex&gt;&lt;/ShapeTextInfo&gt;"/>
</p:tagLst>
</file>

<file path=ppt/tags/tag1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SharedMemoryCoherence\data\asimages\{FC76722C-2C0A-4AD8-B88C-D9508E7389E1}_8.png&quot;/&gt;&lt;left val=&quot;511&quot;/&gt;&lt;top val=&quot;417&quot;/&gt;&lt;width val=&quot;192&quot;/&gt;&lt;height val=&quot;45&quot;/&gt;&lt;hasText val=&quot;1&quot;/&gt;&lt;/Image&gt;&lt;/ThreeDShapeInfo&gt;"/>
  <p:tag name="PRESENTER_SHAPETEXTINFO" val="&lt;ShapeTextInfo&gt;&lt;TableIndex row=&quot;-1&quot; col=&quot;-1&quot;&gt;&lt;linesCount val=&quot;1&quot;/&gt;&lt;lineCharCount val=&quot;12&quot;/&gt;&lt;/TableIndex&gt;&lt;/ShapeTextInfo&gt;"/>
</p:tagLst>
</file>

<file path=ppt/tags/tag1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SlideThumbPath val=&quot;Slide3.PNG&quot;/&gt;"/>
</p:tagLst>
</file>

<file path=ppt/tags/tag1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ConsistencySIMD\data\asimages\{93F69DB1-6CD6-4650-BD87-F12A75F349EB}_3.png&quot;/&gt;&lt;left val=&quot;35&quot;/&gt;&lt;top val=&quot;21&quot;/&gt;&lt;width val=&quot;588&quot;/&gt;&lt;height val=&quot;98&quot;/&gt;&lt;hasText val=&quot;1&quot;/&gt;&lt;/Image&gt;&lt;/ThreeDShapeInfo&gt;"/>
  <p:tag name="PRESENTER_SHAPETEXTINFO" val="&lt;ShapeTextInfo&gt;&lt;TableIndex row=&quot;-1&quot; col=&quot;-1&quot;&gt;&lt;linesCount val=&quot;1&quot;/&gt;&lt;lineCharCount val=&quot;25&quot;/&gt;&lt;/TableIndex&gt;&lt;/ShapeTextInfo&gt;"/>
</p:tagLst>
</file>

<file path=ppt/tags/tag1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ConsistencySIMD\data\asimages\{7FC716CF-D006-4054-994C-2C1D4CD219DF}_3.png&quot;/&gt;&lt;left val=&quot;599&quot;/&gt;&lt;top val=&quot;500&quot;/&gt;&lt;width val=&quot;86&quot;/&gt;&lt;height val=&quot;32&quot;/&gt;&lt;hasText val=&quot;1&quot;/&gt;&lt;/Image&gt;&lt;/ThreeDShapeInfo&gt;"/>
  <p:tag name="PRESENTER_SHAPETEXTINFO" val="&lt;ShapeTextInfo&gt;&lt;TableIndex row=&quot;-1&quot; col=&quot;-1&quot;&gt;&lt;linesCount val=&quot;1&quot;/&gt;&lt;lineCharCount val=&quot;1&quot;/&gt;&lt;/TableIndex&gt;&lt;/ShapeTextInfo&gt;"/>
</p:tagLst>
</file>

<file path=ppt/tags/tag1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ConsistencySIMD\data\asimages\{59C62E69-017C-45F0-A32C-0700BAC8C0E6}_3.png&quot;/&gt;&lt;left val=&quot;31&quot;/&gt;&lt;top val=&quot;105&quot;/&gt;&lt;width val=&quot;653&quot;/&gt;&lt;height val=&quot;364&quot;/&gt;&lt;hasText val=&quot;1&quot;/&gt;&lt;/Image&gt;&lt;/ThreeDShapeInfo&gt;"/>
  <p:tag name="PRESENTER_SHAPETEXTINFO" val="&lt;ShapeTextInfo&gt;&lt;TableIndex row=&quot;-1&quot; col=&quot;-1&quot;&gt;&lt;linesCount val=&quot;11&quot;/&gt;&lt;lineCharCount val=&quot;49&quot;/&gt;&lt;lineCharCount val=&quot;31&quot;/&gt;&lt;lineCharCount val=&quot;60&quot;/&gt;&lt;lineCharCount val=&quot;45&quot;/&gt;&lt;lineCharCount val=&quot;1&quot;/&gt;&lt;lineCharCount val=&quot;51&quot;/&gt;&lt;lineCharCount val=&quot;32&quot;/&gt;&lt;lineCharCount val=&quot;58&quot;/&gt;&lt;lineCharCount val=&quot;52&quot;/&gt;&lt;lineCharCount val=&quot;35&quot;/&gt;&lt;lineCharCount val=&quot;56&quot;/&gt;&lt;/TableIndex&gt;&lt;/ShapeTextInfo&gt;"/>
</p:tagLst>
</file>

<file path=ppt/tags/tag1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SlideThumbPath val=&quot;Slide14.PNG&quot;/&gt;"/>
</p:tagLst>
</file>

<file path=ppt/tags/tag1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ConsistencySIMD\data\asimages\{BCDBA7A8-B5A2-49F6-8015-5E89224DD66A}_14.png&quot;/&gt;&lt;left val=&quot;35&quot;/&gt;&lt;top val=&quot;21&quot;/&gt;&lt;width val=&quot;588&quot;/&gt;&lt;height val=&quot;98&quot;/&gt;&lt;hasText val=&quot;1&quot;/&gt;&lt;/Image&gt;&lt;/ThreeDShapeInfo&gt;"/>
  <p:tag name="PRESENTER_SHAPETEXTINFO" val="&lt;ShapeTextInfo&gt;&lt;TableIndex row=&quot;-1&quot; col=&quot;-1&quot;&gt;&lt;linesCount val=&quot;1&quot;/&gt;&lt;lineCharCount val=&quot;22&quot;/&gt;&lt;/TableIndex&gt;&lt;/ShapeTextInfo&gt;"/>
</p:tagLst>
</file>

<file path=ppt/tags/tag1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ConsistencySIMD\data\asimages\{37EA167C-B752-416D-A6E7-965D62D2FDDD}_14.png&quot;/&gt;&lt;left val=&quot;31&quot;/&gt;&lt;top val=&quot;105&quot;/&gt;&lt;width val=&quot;673&quot;/&gt;&lt;height val=&quot;386&quot;/&gt;&lt;hasText val=&quot;1&quot;/&gt;&lt;/Image&gt;&lt;/ThreeDShapeInfo&gt;"/>
  <p:tag name="PRESENTER_SHAPETEXTINFO" val="&lt;ShapeTextInfo&gt;&lt;TableIndex row=&quot;-1&quot; col=&quot;-1&quot;&gt;&lt;linesCount val=&quot;13&quot;/&gt;&lt;lineCharCount val=&quot;59&quot;/&gt;&lt;lineCharCount val=&quot;51&quot;/&gt;&lt;lineCharCount val=&quot;41&quot;/&gt;&lt;lineCharCount val=&quot;1&quot;/&gt;&lt;lineCharCount val=&quot;1&quot;/&gt;&lt;lineCharCount val=&quot;1&quot;/&gt;&lt;lineCharCount val=&quot;1&quot;/&gt;&lt;lineCharCount val=&quot;49&quot;/&gt;&lt;lineCharCount val=&quot;47&quot;/&gt;&lt;lineCharCount val=&quot;1&quot;/&gt;&lt;lineCharCount val=&quot;1&quot;/&gt;&lt;lineCharCount val=&quot;1&quot;/&gt;&lt;lineCharCount val=&quot;1&quot;/&gt;&lt;/TableIndex&gt;&lt;/ShapeTextInfo&gt;"/>
</p:tagLst>
</file>

<file path=ppt/tags/tag1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ConsistencySIMD\data\asimages\{E92E1130-7DCE-4A8B-B9F4-E5500D702EA2}_14.png&quot;/&gt;&lt;left val=&quot;101&quot;/&gt;&lt;top val=&quot;215&quot;/&gt;&lt;width val=&quot;159&quot;/&gt;&lt;height val=&quot;45&quot;/&gt;&lt;hasText val=&quot;1&quot;/&gt;&lt;/Image&gt;&lt;/ThreeDShapeInfo&gt;"/>
  <p:tag name="PRESENTER_SHAPETEXTINFO" val="&lt;ShapeTextInfo&gt;&lt;TableIndex row=&quot;-1&quot; col=&quot;-1&quot;&gt;&lt;linesCount val=&quot;1&quot;/&gt;&lt;lineCharCount val=&quot;6&quot;/&gt;&lt;/TableIndex&gt;&lt;/ShapeTextInfo&gt;"/>
</p:tagLst>
</file>

<file path=ppt/tags/tag1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ConsistencySIMD\data\asimages\{0A27A99A-1C2C-4E72-B2B0-D29D35D81CCA}_14.png&quot;/&gt;&lt;left val=&quot;101&quot;/&gt;&lt;top val=&quot;273&quot;/&gt;&lt;width val=&quot;159&quot;/&gt;&lt;height val=&quot;45&quot;/&gt;&lt;hasText val=&quot;1&quot;/&gt;&lt;/Image&gt;&lt;/ThreeDShapeInfo&gt;"/>
  <p:tag name="PRESENTER_SHAPETEXTINFO" val="&lt;ShapeTextInfo&gt;&lt;TableIndex row=&quot;-1&quot; col=&quot;-1&quot;&gt;&lt;linesCount val=&quot;1&quot;/&gt;&lt;lineCharCount val=&quot;6&quot;/&gt;&lt;/TableIndex&gt;&lt;/ShapeTextInfo&gt;"/>
</p:tagLst>
</file>

<file path=ppt/tags/tag1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ConsistencySIMD\data\asimages\{156D7899-F28C-4084-9A7E-3134ABB6860F}_14.png&quot;/&gt;&lt;left val=&quot;223&quot;/&gt;&lt;top val=&quot;215&quot;/&gt;&lt;width val=&quot;159&quot;/&gt;&lt;height val=&quot;45&quot;/&gt;&lt;hasText val=&quot;1&quot;/&gt;&lt;/Image&gt;&lt;/ThreeDShapeInfo&gt;"/>
  <p:tag name="PRESENTER_SHAPETEXTINFO" val="&lt;ShapeTextInfo&gt;&lt;TableIndex row=&quot;-1&quot; col=&quot;-1&quot;&gt;&lt;linesCount val=&quot;1&quot;/&gt;&lt;lineCharCount val=&quot;6&quot;/&gt;&lt;/TableIndex&gt;&lt;/ShapeTextInfo&gt;"/>
</p:tagLst>
</file>

<file path=ppt/tags/tag1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ConsistencySIMD\data\asimages\{841F7C7F-3148-4E19-83D3-D4023EF5BCBD}_14.png&quot;/&gt;&lt;left val=&quot;223&quot;/&gt;&lt;top val=&quot;273&quot;/&gt;&lt;width val=&quot;159&quot;/&gt;&lt;height val=&quot;45&quot;/&gt;&lt;hasText val=&quot;1&quot;/&gt;&lt;/Image&gt;&lt;/ThreeDShapeInfo&gt;"/>
  <p:tag name="PRESENTER_SHAPETEXTINFO" val="&lt;ShapeTextInfo&gt;&lt;TableIndex row=&quot;-1&quot; col=&quot;-1&quot;&gt;&lt;linesCount val=&quot;1&quot;/&gt;&lt;lineCharCount val=&quot;7&quot;/&gt;&lt;/TableIndex&gt;&lt;/ShapeTextInfo&gt;"/>
</p:tagLst>
</file>

<file path=ppt/tags/tag1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ConsistencySIMD\data\asimages\{B21DF838-AB4E-4901-BAF2-89474F253C1A}_14.png&quot;/&gt;&lt;left val=&quot;345&quot;/&gt;&lt;top val=&quot;215&quot;/&gt;&lt;width val=&quot;159&quot;/&gt;&lt;height val=&quot;45&quot;/&gt;&lt;hasText val=&quot;1&quot;/&gt;&lt;/Image&gt;&lt;/ThreeDShapeInfo&gt;"/>
  <p:tag name="PRESENTER_SHAPETEXTINFO" val="&lt;ShapeTextInfo&gt;&lt;TableIndex row=&quot;-1&quot; col=&quot;-1&quot;&gt;&lt;linesCount val=&quot;1&quot;/&gt;&lt;lineCharCount val=&quot;7&quot;/&gt;&lt;/TableIndex&gt;&lt;/ShapeTextInfo&gt;"/>
</p:tagLst>
</file>

<file path=ppt/tags/tag1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ConsistencySIMD\data\asimages\{651BDBC4-FFD7-4869-8B1B-2AA9554D9A8B}_14.png&quot;/&gt;&lt;left val=&quot;345&quot;/&gt;&lt;top val=&quot;273&quot;/&gt;&lt;width val=&quot;159&quot;/&gt;&lt;height val=&quot;45&quot;/&gt;&lt;hasText val=&quot;1&quot;/&gt;&lt;/Image&gt;&lt;/ThreeDShapeInfo&gt;"/>
  <p:tag name="PRESENTER_SHAPETEXTINFO" val="&lt;ShapeTextInfo&gt;&lt;TableIndex row=&quot;-1&quot; col=&quot;-1&quot;&gt;&lt;linesCount val=&quot;1&quot;/&gt;&lt;lineCharCount val=&quot;6&quot;/&gt;&lt;/TableIndex&gt;&lt;/ShapeTextInfo&gt;"/>
</p:tagLst>
</file>

<file path=ppt/tags/tag1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ConsistencySIMD\data\asimages\{BA0D8476-8A72-4DE8-A5BB-A6C33E344BBF}_14.png&quot;/&gt;&lt;left val=&quot;466&quot;/&gt;&lt;top val=&quot;215&quot;/&gt;&lt;width val=&quot;159&quot;/&gt;&lt;height val=&quot;45&quot;/&gt;&lt;hasText val=&quot;1&quot;/&gt;&lt;/Image&gt;&lt;/ThreeDShapeInfo&gt;"/>
  <p:tag name="PRESENTER_SHAPETEXTINFO" val="&lt;ShapeTextInfo&gt;&lt;TableIndex row=&quot;-1&quot; col=&quot;-1&quot;&gt;&lt;linesCount val=&quot;1&quot;/&gt;&lt;lineCharCount val=&quot;7&quot;/&gt;&lt;/TableIndex&gt;&lt;/ShapeTextInfo&gt;"/>
</p:tagLst>
</file>

<file path=ppt/tags/tag1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ConsistencySIMD\data\asimages\{6321AC3E-2D6A-4BD9-9E5B-F97BDE9F021B}_14.png&quot;/&gt;&lt;left val=&quot;466&quot;/&gt;&lt;top val=&quot;273&quot;/&gt;&lt;width val=&quot;159&quot;/&gt;&lt;height val=&quot;45&quot;/&gt;&lt;hasText val=&quot;1&quot;/&gt;&lt;/Image&gt;&lt;/ThreeDShapeInfo&gt;"/>
  <p:tag name="PRESENTER_SHAPETEXTINFO" val="&lt;ShapeTextInfo&gt;&lt;TableIndex row=&quot;-1&quot; col=&quot;-1&quot;&gt;&lt;linesCount val=&quot;1&quot;/&gt;&lt;lineCharCount val=&quot;7&quot;/&gt;&lt;/TableIndex&gt;&lt;/ShapeTextInfo&gt;"/>
</p:tagLst>
</file>

<file path=ppt/tags/tag1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493DB05A-AAE1-4687-AD53-59BE41D62B5B}&quot;/&gt;&lt;isInvalidForFieldText val=&quot;0&quot;/&gt;&lt;Image&gt;&lt;filename val=&quot;C:\Users\sanmi\Documents\My Adobe Presentations\ece552-ConsistencySIMD\data\asimages\{493DB05A-AAE1-4687-AD53-59BE41D62B5B}.png&quot;/&gt;&lt;left val=&quot;250&quot;/&gt;&lt;top val=&quot;407&quot;/&gt;&lt;width val=&quot;218&quot;/&gt;&lt;height val=&quot;120&quot;/&gt;&lt;hasText val=&quot;1&quot;/&gt;&lt;/Image&gt;&lt;/ThreeDShapeInfo&gt;"/>
</p:tagLst>
</file>

<file path=ppt/tags/tag1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ConsistencySIMD\data\asimages\{BA718D79-62D2-4EF0-91D7-56DAB97358E0}_14.png&quot;/&gt;&lt;left val=&quot;29&quot;/&gt;&lt;top val=&quot;456&quot;/&gt;&lt;width val=&quot;267&quot;/&gt;&lt;height val=&quot;60&quot;/&gt;&lt;hasText val=&quot;1&quot;/&gt;&lt;/Image&gt;&lt;/ThreeDShapeInfo&gt;"/>
  <p:tag name="PRESENTER_SHAPETEXTINFO" val="&lt;ShapeTextInfo&gt;&lt;TableIndex row=&quot;-1&quot; col=&quot;-1&quot;&gt;&lt;linesCount val=&quot;2&quot;/&gt;&lt;lineCharCount val=&quot;35&quot;/&gt;&lt;lineCharCount val=&quot;28&quot;/&gt;&lt;/TableIndex&gt;&lt;/ShapeTextInfo&gt;"/>
</p:tagLst>
</file>

<file path=ppt/tags/tag1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ConsistencySIMD\data\asimages\{C6E5DAF6-CC26-498F-AE1D-A173320C0B6B}_14.png&quot;/&gt;&lt;left val=&quot;31&quot;/&gt;&lt;top val=&quot;322&quot;/&gt;&lt;width val=&quot;671&quot;/&gt;&lt;height val=&quot;205&quot;/&gt;&lt;hasText val=&quot;1&quot;/&gt;&lt;/Image&gt;&lt;/ThreeDShapeInfo&gt;"/>
  <p:tag name="PRESENTER_SHAPETEXTINFO" val="&lt;ShapeTextInfo&gt;&lt;TableIndex row=&quot;-1&quot; col=&quot;-1&quot;&gt;&lt;linesCount val=&quot;9&quot;/&gt;&lt;lineCharCount val=&quot;52&quot;/&gt;&lt;lineCharCount val=&quot;54&quot;/&gt;&lt;lineCharCount val=&quot;57&quot;/&gt;&lt;lineCharCount val=&quot;59&quot;/&gt;&lt;lineCharCount val=&quot;18&quot;/&gt;&lt;lineCharCount val=&quot;1&quot;/&gt;&lt;lineCharCount val=&quot;1&quot;/&gt;&lt;lineCharCount val=&quot;1&quot;/&gt;&lt;lineCharCount val=&quot;1&quot;/&gt;&lt;/TableIndex&gt;&lt;/ShapeTextInfo&gt;"/>
</p:tagLst>
</file>

<file path=ppt/tags/tag1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ConsistencySIMD\data\asimages\{21612F29-DBBD-42DF-ACEF-6C12A1AF3A07}_14.png&quot;/&gt;&lt;left val=&quot;599&quot;/&gt;&lt;top val=&quot;500&quot;/&gt;&lt;width val=&quot;86&quot;/&gt;&lt;height val=&quot;32&quot;/&gt;&lt;hasText val=&quot;1&quot;/&gt;&lt;/Image&gt;&lt;/ThreeDShapeInfo&gt;"/>
  <p:tag name="PRESENTER_SHAPETEXTINFO" val="&lt;ShapeTextInfo&gt;&lt;TableIndex row=&quot;-1&quot; col=&quot;-1&quot;&gt;&lt;linesCount val=&quot;1&quot;/&gt;&lt;lineCharCount val=&quot;2&quot;/&gt;&lt;/TableIndex&gt;&lt;/ShapeTextInfo&gt;"/>
</p:tagLst>
</file>

<file path=ppt/tags/tag1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SlideThumbPath val=&quot;Slide5.PNG&quot;/&gt;"/>
  <p:tag name="PPSNARRATION" val="5,1483304229,C:\Users\sanmi\GoogleDrive\UWMdrive\Courses\ECE552\ece552-lec19_ConsistencySIMD_pptx\Media.ppcx"/>
</p:tagLst>
</file>

<file path=ppt/tags/tag1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ConsistencySIMD\data\asimages\{D5647448-E7A7-457B-9298-651267297E84}_5.png&quot;/&gt;&lt;left val=&quot;35&quot;/&gt;&lt;top val=&quot;21&quot;/&gt;&lt;width val=&quot;588&quot;/&gt;&lt;height val=&quot;98&quot;/&gt;&lt;hasText val=&quot;1&quot;/&gt;&lt;/Image&gt;&lt;/ThreeDShapeInfo&gt;"/>
  <p:tag name="PRESENTER_SHAPETEXTINFO" val="&lt;ShapeTextInfo&gt;&lt;TableIndex row=&quot;-1&quot; col=&quot;-1&quot;&gt;&lt;linesCount val=&quot;1&quot;/&gt;&lt;lineCharCount val=&quot;12&quot;/&gt;&lt;/TableIndex&gt;&lt;/ShapeTextInfo&gt;"/>
</p:tagLst>
</file>

<file path=ppt/tags/tag2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ConsistencySIMD\data\asimages\{7D815020-E87A-4160-BB31-F21855EAC724}_5.png&quot;/&gt;&lt;left val=&quot;599&quot;/&gt;&lt;top val=&quot;500&quot;/&gt;&lt;width val=&quot;86&quot;/&gt;&lt;height val=&quot;32&quot;/&gt;&lt;hasText val=&quot;1&quot;/&gt;&lt;/Image&gt;&lt;/ThreeDShapeInfo&gt;"/>
  <p:tag name="PRESENTER_SHAPETEXTINFO" val="&lt;ShapeTextInfo&gt;&lt;TableIndex row=&quot;-1&quot; col=&quot;-1&quot;&gt;&lt;linesCount val=&quot;1&quot;/&gt;&lt;lineCharCount val=&quot;1&quot;/&gt;&lt;/TableIndex&gt;&lt;/ShapeTextInfo&gt;"/>
</p:tagLst>
</file>

<file path=ppt/tags/tag2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ConsistencySIMD\data\asimages\{ADE6845A-8965-41D6-B35E-1E1317E65492}_5.png&quot;/&gt;&lt;left val=&quot;373&quot;/&gt;&lt;top val=&quot;316&quot;/&gt;&lt;width val=&quot;248&quot;/&gt;&lt;height val=&quot;166&quot;/&gt;&lt;hasText val=&quot;1&quot;/&gt;&lt;/Image&gt;&lt;/ThreeDShapeInfo&gt;"/>
  <p:tag name="PRESENTER_SHAPETEXTINFO" val="&lt;ShapeTextInfo&gt;&lt;TableIndex row=&quot;-1&quot; col=&quot;-1&quot;&gt;&lt;linesCount val=&quot;5&quot;/&gt;&lt;lineCharCount val=&quot;6&quot;/&gt;&lt;lineCharCount val=&quot;12&quot;/&gt;&lt;lineCharCount val=&quot;4&quot;/&gt;&lt;lineCharCount val=&quot;8&quot;/&gt;&lt;lineCharCount val=&quot;11&quot;/&gt;&lt;/TableIndex&gt;&lt;/ShapeTextInfo&gt;"/>
</p:tagLst>
</file>

<file path=ppt/tags/tag2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ConsistencySIMD\data\asimages\{AF9B376B-CF0B-4093-AF0C-2CD5988AEAF3}_5.png&quot;/&gt;&lt;left val=&quot;162&quot;/&gt;&lt;top val=&quot;316&quot;/&gt;&lt;width val=&quot;248&quot;/&gt;&lt;height val=&quot;122&quot;/&gt;&lt;hasText val=&quot;1&quot;/&gt;&lt;/Image&gt;&lt;/ThreeDShapeInfo&gt;"/>
  <p:tag name="PRESENTER_SHAPETEXTINFO" val="&lt;ShapeTextInfo&gt;&lt;TableIndex row=&quot;-1&quot; col=&quot;-1&quot;&gt;&lt;linesCount val=&quot;3&quot;/&gt;&lt;lineCharCount val=&quot;6&quot;/&gt;&lt;lineCharCount val=&quot;8&quot;/&gt;&lt;lineCharCount val=&quot;7&quot;/&gt;&lt;/TableIndex&gt;&lt;/ShapeTextInfo&gt;"/>
</p:tagLst>
</file>

<file path=ppt/tags/tag2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ConsistencySIMD\data\asimages\{5203E08E-13D5-4D0E-958F-F5CD8F02A989}_5.png&quot;/&gt;&lt;left val=&quot;162&quot;/&gt;&lt;top val=&quot;235&quot;/&gt;&lt;width val=&quot;248&quot;/&gt;&lt;height val=&quot;83&quot;/&gt;&lt;hasText val=&quot;1&quot;/&gt;&lt;/Image&gt;&lt;/ThreeDShapeInfo&gt;"/>
  <p:tag name="PRESENTER_SHAPETEXTINFO" val="&lt;ShapeTextInfo&gt;&lt;TableIndex row=&quot;-1&quot; col=&quot;-1&quot;&gt;&lt;linesCount val=&quot;2&quot;/&gt;&lt;lineCharCount val=&quot;8&quot;/&gt;&lt;lineCharCount val=&quot;15&quot;/&gt;&lt;/TableIndex&gt;&lt;/ShapeTextInfo&gt;"/>
</p:tagLst>
</file>

<file path=ppt/tags/tag2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extEffect&gt;&lt;Image&gt;&lt;filename val=&quot;C:\Users\sanmi\Documents\My Adobe Presentations\ece552-ConsistencySIMD\data\asimages\{7E29253E-C140-4035-A730-0AC41B76ABFD}_1.png_crop.png&quot;/&gt;&lt;left val=&quot;50&quot;/&gt;&lt;top val=&quot;122&quot;/&gt;&lt;width val=&quot;462&quot;/&gt;&lt;height val=&quot;27&quot;/&gt;&lt;hasText val=&quot;1&quot;/&gt;&lt;paraId val=&quot;1&quot;/&gt;&lt;/Image&gt;&lt;Image&gt;&lt;filename val=&quot;C:\Users\sanmi\Documents\My Adobe Presentations\ece552-ConsistencySIMD\data\asimages\{5CC56164-4386-4685-B2D0-2554465899B4}_1.png_crop.png&quot;/&gt;&lt;left val=&quot;51&quot;/&gt;&lt;top val=&quot;162&quot;/&gt;&lt;width val=&quot;33&quot;/&gt;&lt;height val=&quot;20&quot;/&gt;&lt;hasText val=&quot;1&quot;/&gt;&lt;paraId val=&quot;2&quot;/&gt;&lt;/Image&gt;&lt;/TextEffect&gt;"/>
  <p:tag name="PRESENTER_SHAPETEXTINFO" val="&lt;ShapeTextInfo&gt;&lt;TableIndex row=&quot;-1&quot; col=&quot;-1&quot;&gt;&lt;linesCount val=&quot;2&quot;/&gt;&lt;lineCharCount val=&quot;37&quot;/&gt;&lt;lineCharCount val=&quot;2&quot;/&gt;&lt;/TableIndex&gt;&lt;/ShapeTextInfo&gt;"/>
</p:tagLst>
</file>

<file path=ppt/tags/tag2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SlideThumbPath val=&quot;Slide6.PNG&quot;/&gt;"/>
  <p:tag name="PPSNARRATION" val="6,1483304229,C:\Users\sanmi\GoogleDrive\UWMdrive\Courses\ECE552\ece552-lec19_ConsistencySIMD_pptx\Media.ppcx"/>
</p:tagLst>
</file>

<file path=ppt/tags/tag2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ConsistencySIMD\data\asimages\{C60CD6F1-7E79-4497-9EC6-3DAD6A09A8D3}_6.png&quot;/&gt;&lt;left val=&quot;373&quot;/&gt;&lt;top val=&quot;316&quot;/&gt;&lt;width val=&quot;248&quot;/&gt;&lt;height val=&quot;166&quot;/&gt;&lt;hasText val=&quot;1&quot;/&gt;&lt;/Image&gt;&lt;/ThreeDShapeInfo&gt;"/>
  <p:tag name="PRESENTER_SHAPETEXTINFO" val="&lt;ShapeTextInfo&gt;&lt;TableIndex row=&quot;-1&quot; col=&quot;-1&quot;&gt;&lt;linesCount val=&quot;5&quot;/&gt;&lt;lineCharCount val=&quot;6&quot;/&gt;&lt;lineCharCount val=&quot;12&quot;/&gt;&lt;lineCharCount val=&quot;4&quot;/&gt;&lt;lineCharCount val=&quot;8&quot;/&gt;&lt;lineCharCount val=&quot;11&quot;/&gt;&lt;/TableIndex&gt;&lt;/ShapeTextInfo&gt;"/>
</p:tagLst>
</file>

<file path=ppt/tags/tag2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ConsistencySIMD\data\asimages\{B4E6B6F3-A170-4674-91B6-506A8D50E93E}_6.png&quot;/&gt;&lt;left val=&quot;373&quot;/&gt;&lt;top val=&quot;316&quot;/&gt;&lt;width val=&quot;248&quot;/&gt;&lt;height val=&quot;166&quot;/&gt;&lt;hasText val=&quot;1&quot;/&gt;&lt;/Image&gt;&lt;/ThreeDShapeInfo&gt;"/>
  <p:tag name="PRESENTER_SHAPETEXTINFO" val="&lt;ShapeTextInfo&gt;&lt;TableIndex row=&quot;-1&quot; col=&quot;-1&quot;&gt;&lt;linesCount val=&quot;5&quot;/&gt;&lt;lineCharCount val=&quot;6&quot;/&gt;&lt;lineCharCount val=&quot;12&quot;/&gt;&lt;lineCharCount val=&quot;4&quot;/&gt;&lt;lineCharCount val=&quot;8&quot;/&gt;&lt;lineCharCount val=&quot;6&quot;/&gt;&lt;/TableIndex&gt;&lt;/ShapeTextInfo&gt;"/>
</p:tagLst>
</file>

<file path=ppt/tags/tag2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ConsistencySIMD\data\asimages\{C37E0B01-396A-448F-A33C-314D9CC48E93}_6.png&quot;/&gt;&lt;left val=&quot;35&quot;/&gt;&lt;top val=&quot;21&quot;/&gt;&lt;width val=&quot;588&quot;/&gt;&lt;height val=&quot;98&quot;/&gt;&lt;hasText val=&quot;1&quot;/&gt;&lt;/Image&gt;&lt;/ThreeDShapeInfo&gt;"/>
  <p:tag name="PRESENTER_SHAPETEXTINFO" val="&lt;ShapeTextInfo&gt;&lt;TableIndex row=&quot;-1&quot; col=&quot;-1&quot;&gt;&lt;linesCount val=&quot;1&quot;/&gt;&lt;lineCharCount val=&quot;12&quot;/&gt;&lt;/TableIndex&gt;&lt;/ShapeTextInfo&gt;"/>
</p:tagLst>
</file>

<file path=ppt/tags/tag2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ConsistencySIMD\data\asimages\{F99AB77E-E790-4863-AE9B-DCA90D236566}_6.png&quot;/&gt;&lt;left val=&quot;599&quot;/&gt;&lt;top val=&quot;500&quot;/&gt;&lt;width val=&quot;86&quot;/&gt;&lt;height val=&quot;32&quot;/&gt;&lt;hasText val=&quot;1&quot;/&gt;&lt;/Image&gt;&lt;/ThreeDShapeInfo&gt;"/>
  <p:tag name="PRESENTER_SHAPETEXTINFO" val="&lt;ShapeTextInfo&gt;&lt;TableIndex row=&quot;-1&quot; col=&quot;-1&quot;&gt;&lt;linesCount val=&quot;1&quot;/&gt;&lt;lineCharCount val=&quot;1&quot;/&gt;&lt;/TableIndex&gt;&lt;/ShapeTextInfo&gt;"/>
</p:tagLst>
</file>

<file path=ppt/tags/tag2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ConsistencySIMD\data\asimages\{8BD98E77-5F92-4D1A-AF47-D7C0B33D522F}_6.png&quot;/&gt;&lt;left val=&quot;162&quot;/&gt;&lt;top val=&quot;316&quot;/&gt;&lt;width val=&quot;248&quot;/&gt;&lt;height val=&quot;122&quot;/&gt;&lt;hasText val=&quot;1&quot;/&gt;&lt;/Image&gt;&lt;/ThreeDShapeInfo&gt;"/>
  <p:tag name="PRESENTER_SHAPETEXTINFO" val="&lt;ShapeTextInfo&gt;&lt;TableIndex row=&quot;-1&quot; col=&quot;-1&quot;&gt;&lt;linesCount val=&quot;3&quot;/&gt;&lt;lineCharCount val=&quot;6&quot;/&gt;&lt;lineCharCount val=&quot;8&quot;/&gt;&lt;lineCharCount val=&quot;7&quot;/&gt;&lt;/TableIndex&gt;&lt;/ShapeTextInfo&gt;"/>
</p:tagLst>
</file>

<file path=ppt/tags/tag2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ConsistencySIMD\data\asimages\{2F3772B4-B313-496B-8129-06766489A0D7}_6.png&quot;/&gt;&lt;left val=&quot;162&quot;/&gt;&lt;top val=&quot;235&quot;/&gt;&lt;width val=&quot;248&quot;/&gt;&lt;height val=&quot;83&quot;/&gt;&lt;hasText val=&quot;1&quot;/&gt;&lt;/Image&gt;&lt;/ThreeDShapeInfo&gt;"/>
  <p:tag name="PRESENTER_SHAPETEXTINFO" val="&lt;ShapeTextInfo&gt;&lt;TableIndex row=&quot;-1&quot; col=&quot;-1&quot;&gt;&lt;linesCount val=&quot;2&quot;/&gt;&lt;lineCharCount val=&quot;8&quot;/&gt;&lt;lineCharCount val=&quot;15&quot;/&gt;&lt;/TableIndex&gt;&lt;/ShapeTextInfo&gt;"/>
</p:tagLst>
</file>

<file path=ppt/tags/tag2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ConsistencySIMD\data\asimages\{A831BC44-FD3C-4BF2-9EAA-AD194CD4C76F}_6.png&quot;/&gt;&lt;left val=&quot;29&quot;/&gt;&lt;top val=&quot;105&quot;/&gt;&lt;width val=&quot;679&quot;/&gt;&lt;height val=&quot;106&quot;/&gt;&lt;hasText val=&quot;1&quot;/&gt;&lt;/Image&gt;&lt;/ThreeDShapeInfo&gt;"/>
  <p:tag name="PRESENTER_SHAPETEXTINFO" val="&lt;ShapeTextInfo&gt;&lt;TableIndex row=&quot;-1&quot; col=&quot;-1&quot;&gt;&lt;linesCount val=&quot;2&quot;/&gt;&lt;lineCharCount val=&quot;37&quot;/&gt;&lt;lineCharCount val=&quot;2&quot;/&gt;&lt;/TableIndex&gt;&lt;/ShapeTextInfo&gt;"/>
</p:tagLst>
</file>

<file path=ppt/tags/tag2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ConsistencySIMD\data\asimages\{39531D1E-21F4-4C3A-B4FD-50302BB05B0E}_6.png&quot;/&gt;&lt;left val=&quot;520&quot;/&gt;&lt;top val=&quot;383&quot;/&gt;&lt;width val=&quot;166&quot;/&gt;&lt;height val=&quot;92&quot;/&gt;&lt;hasText val=&quot;1&quot;/&gt;&lt;/Image&gt;&lt;/ThreeDShapeInfo&gt;"/>
  <p:tag name="PRESENTER_SHAPETEXTINFO" val="&lt;ShapeTextInfo&gt;&lt;TableIndex row=&quot;-1&quot; col=&quot;-1&quot;&gt;&lt;linesCount val=&quot;4&quot;/&gt;&lt;lineCharCount val=&quot;10&quot;/&gt;&lt;lineCharCount val=&quot;7&quot;/&gt;&lt;lineCharCount val=&quot;14&quot;/&gt;&lt;lineCharCount val=&quot;11&quot;/&gt;&lt;/TableIndex&gt;&lt;/ShapeTextInfo&gt;"/>
</p:tagLst>
</file>

<file path=ppt/tags/tag2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ConsistencySIMD\data\asimages\{47B44D2B-7FC6-45EF-BADE-3920FF9F896E}_6.png&quot;/&gt;&lt;left val=&quot;230&quot;/&gt;&lt;top val=&quot;456&quot;/&gt;&lt;width val=&quot;198&quot;/&gt;&lt;height val=&quot;67&quot;/&gt;&lt;hasText val=&quot;1&quot;/&gt;&lt;/Image&gt;&lt;/ThreeDShapeInfo&gt;"/>
  <p:tag name="PRESENTER_SHAPETEXTINFO" val="&lt;ShapeTextInfo&gt;&lt;TableIndex row=&quot;-1&quot; col=&quot;-1&quot;&gt;&lt;linesCount val=&quot;2&quot;/&gt;&lt;lineCharCount val=&quot;11&quot;/&gt;&lt;lineCharCount val=&quot;13&quot;/&gt;&lt;/TableIndex&gt;&lt;/ShapeTextInfo&gt;"/>
</p:tagLst>
</file>

<file path=ppt/tags/tag2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SlideThumbPath val=&quot;Slide6.PNG&quot;/&gt;"/>
  <p:tag name="PPSNARRATION" val="6,1483304229,C:\Users\sanmi\GoogleDrive\UWMdrive\Courses\ECE552\ece552-lec19_ConsistencySIMD_pptx\Media.ppcx"/>
</p:tagLst>
</file>

<file path=ppt/tags/tag2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ConsistencySIMD\data\asimages\{C37E0B01-396A-448F-A33C-314D9CC48E93}_6.png&quot;/&gt;&lt;left val=&quot;35&quot;/&gt;&lt;top val=&quot;21&quot;/&gt;&lt;width val=&quot;588&quot;/&gt;&lt;height val=&quot;98&quot;/&gt;&lt;hasText val=&quot;1&quot;/&gt;&lt;/Image&gt;&lt;/ThreeDShapeInfo&gt;"/>
  <p:tag name="PRESENTER_SHAPETEXTINFO" val="&lt;ShapeTextInfo&gt;&lt;TableIndex row=&quot;-1&quot; col=&quot;-1&quot;&gt;&lt;linesCount val=&quot;1&quot;/&gt;&lt;lineCharCount val=&quot;12&quot;/&gt;&lt;/TableIndex&gt;&lt;/ShapeTextInfo&gt;"/>
</p:tagLst>
</file>

<file path=ppt/tags/tag2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ConsistencySIMD\data\asimages\{F99AB77E-E790-4863-AE9B-DCA90D236566}_6.png&quot;/&gt;&lt;left val=&quot;599&quot;/&gt;&lt;top val=&quot;500&quot;/&gt;&lt;width val=&quot;86&quot;/&gt;&lt;height val=&quot;32&quot;/&gt;&lt;hasText val=&quot;1&quot;/&gt;&lt;/Image&gt;&lt;/ThreeDShapeInfo&gt;"/>
  <p:tag name="PRESENTER_SHAPETEXTINFO" val="&lt;ShapeTextInfo&gt;&lt;TableIndex row=&quot;-1&quot; col=&quot;-1&quot;&gt;&lt;linesCount val=&quot;1&quot;/&gt;&lt;lineCharCount val=&quot;1&quot;/&gt;&lt;/TableIndex&gt;&lt;/ShapeTextInfo&gt;"/>
</p:tagLst>
</file>

<file path=ppt/tags/tag2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ConsistencySIMD\data\asimages\{C60CD6F1-7E79-4497-9EC6-3DAD6A09A8D3}_6.png&quot;/&gt;&lt;left val=&quot;373&quot;/&gt;&lt;top val=&quot;316&quot;/&gt;&lt;width val=&quot;248&quot;/&gt;&lt;height val=&quot;166&quot;/&gt;&lt;hasText val=&quot;1&quot;/&gt;&lt;/Image&gt;&lt;/ThreeDShapeInfo&gt;"/>
  <p:tag name="PRESENTER_SHAPETEXTINFO" val="&lt;ShapeTextInfo&gt;&lt;TableIndex row=&quot;-1&quot; col=&quot;-1&quot;&gt;&lt;linesCount val=&quot;5&quot;/&gt;&lt;lineCharCount val=&quot;6&quot;/&gt;&lt;lineCharCount val=&quot;12&quot;/&gt;&lt;lineCharCount val=&quot;4&quot;/&gt;&lt;lineCharCount val=&quot;8&quot;/&gt;&lt;lineCharCount val=&quot;11&quot;/&gt;&lt;/TableIndex&gt;&lt;/ShapeTextInfo&gt;"/>
</p:tagLst>
</file>

<file path=ppt/tags/tag2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ConsistencySIMD\data\asimages\{8BD98E77-5F92-4D1A-AF47-D7C0B33D522F}_6.png&quot;/&gt;&lt;left val=&quot;162&quot;/&gt;&lt;top val=&quot;316&quot;/&gt;&lt;width val=&quot;248&quot;/&gt;&lt;height val=&quot;122&quot;/&gt;&lt;hasText val=&quot;1&quot;/&gt;&lt;/Image&gt;&lt;/ThreeDShapeInfo&gt;"/>
  <p:tag name="PRESENTER_SHAPETEXTINFO" val="&lt;ShapeTextInfo&gt;&lt;TableIndex row=&quot;-1&quot; col=&quot;-1&quot;&gt;&lt;linesCount val=&quot;3&quot;/&gt;&lt;lineCharCount val=&quot;6&quot;/&gt;&lt;lineCharCount val=&quot;8&quot;/&gt;&lt;lineCharCount val=&quot;7&quot;/&gt;&lt;/TableIndex&gt;&lt;/ShapeTextInfo&gt;"/>
</p:tagLst>
</file>

<file path=ppt/tags/tag2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ConsistencySIMD\data\asimages\{2F3772B4-B313-496B-8129-06766489A0D7}_6.png&quot;/&gt;&lt;left val=&quot;162&quot;/&gt;&lt;top val=&quot;235&quot;/&gt;&lt;width val=&quot;248&quot;/&gt;&lt;height val=&quot;83&quot;/&gt;&lt;hasText val=&quot;1&quot;/&gt;&lt;/Image&gt;&lt;/ThreeDShapeInfo&gt;"/>
  <p:tag name="PRESENTER_SHAPETEXTINFO" val="&lt;ShapeTextInfo&gt;&lt;TableIndex row=&quot;-1&quot; col=&quot;-1&quot;&gt;&lt;linesCount val=&quot;2&quot;/&gt;&lt;lineCharCount val=&quot;8&quot;/&gt;&lt;lineCharCount val=&quot;15&quot;/&gt;&lt;/TableIndex&gt;&lt;/ShapeTextInfo&gt;"/>
</p:tagLst>
</file>

<file path=ppt/tags/tag2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ConsistencySIMD\data\asimages\{A831BC44-FD3C-4BF2-9EAA-AD194CD4C76F}_6.png&quot;/&gt;&lt;left val=&quot;29&quot;/&gt;&lt;top val=&quot;105&quot;/&gt;&lt;width val=&quot;679&quot;/&gt;&lt;height val=&quot;106&quot;/&gt;&lt;hasText val=&quot;1&quot;/&gt;&lt;/Image&gt;&lt;/ThreeDShapeInfo&gt;"/>
  <p:tag name="PRESENTER_SHAPETEXTINFO" val="&lt;ShapeTextInfo&gt;&lt;TableIndex row=&quot;-1&quot; col=&quot;-1&quot;&gt;&lt;linesCount val=&quot;2&quot;/&gt;&lt;lineCharCount val=&quot;37&quot;/&gt;&lt;lineCharCount val=&quot;2&quot;/&gt;&lt;/TableIndex&gt;&lt;/ShapeTextInfo&gt;"/>
</p:tagLst>
</file>

<file path=ppt/tags/tag2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ConsistencySIMD\data\asimages\{B4E6B6F3-A170-4674-91B6-506A8D50E93E}_6.png&quot;/&gt;&lt;left val=&quot;373&quot;/&gt;&lt;top val=&quot;316&quot;/&gt;&lt;width val=&quot;248&quot;/&gt;&lt;height val=&quot;166&quot;/&gt;&lt;hasText val=&quot;1&quot;/&gt;&lt;/Image&gt;&lt;/ThreeDShapeInfo&gt;"/>
  <p:tag name="PRESENTER_SHAPETEXTINFO" val="&lt;ShapeTextInfo&gt;&lt;TableIndex row=&quot;-1&quot; col=&quot;-1&quot;&gt;&lt;linesCount val=&quot;5&quot;/&gt;&lt;lineCharCount val=&quot;6&quot;/&gt;&lt;lineCharCount val=&quot;12&quot;/&gt;&lt;lineCharCount val=&quot;4&quot;/&gt;&lt;lineCharCount val=&quot;8&quot;/&gt;&lt;lineCharCount val=&quot;6&quot;/&gt;&lt;/TableIndex&gt;&lt;/ShapeTextInfo&gt;"/>
</p:tagLst>
</file>

<file path=ppt/tags/tag2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ConsistencySIMD\data\asimages\{47B44D2B-7FC6-45EF-BADE-3920FF9F896E}_6.png&quot;/&gt;&lt;left val=&quot;230&quot;/&gt;&lt;top val=&quot;456&quot;/&gt;&lt;width val=&quot;198&quot;/&gt;&lt;height val=&quot;67&quot;/&gt;&lt;hasText val=&quot;1&quot;/&gt;&lt;/Image&gt;&lt;/ThreeDShapeInfo&gt;"/>
  <p:tag name="PRESENTER_SHAPETEXTINFO" val="&lt;ShapeTextInfo&gt;&lt;TableIndex row=&quot;-1&quot; col=&quot;-1&quot;&gt;&lt;linesCount val=&quot;2&quot;/&gt;&lt;lineCharCount val=&quot;11&quot;/&gt;&lt;lineCharCount val=&quot;13&quot;/&gt;&lt;/TableIndex&gt;&lt;/ShapeTextInfo&gt;"/>
</p:tagLst>
</file>

<file path=ppt/tags/tag2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2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ConsistencySIMD\data\asimages\{778812B7-D6D5-44A5-8AA1-8EA2C03BE61B}_10.png&quot;/&gt;&lt;left val=&quot;418&quot;/&gt;&lt;top val=&quot;162&quot;/&gt;&lt;width val=&quot;275&quot;/&gt;&lt;height val=&quot;70&quot;/&gt;&lt;hasText val=&quot;1&quot;/&gt;&lt;/Image&gt;&lt;/ThreeDShapeInfo&gt;"/>
  <p:tag name="PRESENTER_SHAPETEXTINFO" val="&lt;ShapeTextInfo&gt;&lt;TableIndex row=&quot;-1&quot; col=&quot;-1&quot;&gt;&lt;linesCount val=&quot;2&quot;/&gt;&lt;lineCharCount val=&quot;23&quot;/&gt;&lt;lineCharCount val=&quot;22&quot;/&gt;&lt;/TableIndex&gt;&lt;/ShapeTextInfo&gt;"/>
</p:tagLst>
</file>

<file path=ppt/theme/theme1.xml><?xml version="1.0" encoding="utf-8"?>
<a:theme xmlns:a="http://schemas.openxmlformats.org/drawingml/2006/main" name="Lecture Notes 552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Lecture Notes 552</Template>
  <TotalTime>16</TotalTime>
  <Words>1147</Words>
  <Application>Microsoft Macintosh PowerPoint</Application>
  <PresentationFormat>On-screen Show (4:3)</PresentationFormat>
  <Paragraphs>215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Calibri</vt:lpstr>
      <vt:lpstr>Inconsolata</vt:lpstr>
      <vt:lpstr>Times New Roman</vt:lpstr>
      <vt:lpstr>Lecture Notes 552</vt:lpstr>
      <vt:lpstr>ECE/CS 552: Consistency and SIMD</vt:lpstr>
      <vt:lpstr>Cache Coherence Problem</vt:lpstr>
      <vt:lpstr>Cache Coherence Problem</vt:lpstr>
      <vt:lpstr>Cache Coherence Problem</vt:lpstr>
      <vt:lpstr>Cache Coherence Problem</vt:lpstr>
      <vt:lpstr>Cache Coherence Problem</vt:lpstr>
      <vt:lpstr>Cache Coherence Problem</vt:lpstr>
      <vt:lpstr>Cache Coherence Problem</vt:lpstr>
      <vt:lpstr>Coherence and Consistency</vt:lpstr>
      <vt:lpstr>Sequential Consistency</vt:lpstr>
      <vt:lpstr>SC Example</vt:lpstr>
      <vt:lpstr>SC Example</vt:lpstr>
      <vt:lpstr>SC Example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ECE/CS 552: Consistency and SIMD</dc:title>
  <dc:creator/>
  <cp:lastModifiedBy>Boone Severson</cp:lastModifiedBy>
  <cp:revision>522</cp:revision>
  <cp:lastPrinted>1601-01-01T00:00:00Z</cp:lastPrinted>
  <dcterms:created xsi:type="dcterms:W3CDTF">1601-01-01T00:00:00Z</dcterms:created>
  <dcterms:modified xsi:type="dcterms:W3CDTF">2024-11-13T02:15:22Z</dcterms:modified>
</cp:coreProperties>
</file>