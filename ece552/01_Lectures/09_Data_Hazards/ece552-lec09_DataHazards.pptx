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4.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5.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6.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7.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8.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9.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0.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1.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12.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13.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14.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15.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16.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17.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18.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19.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20.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21.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notesSlides/notesSlide22.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notesSlides/notesSlide23.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notesSlides/notesSlide24.xml" ContentType="application/vnd.openxmlformats-officedocument.presentationml.notesSlide+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25.xml" ContentType="application/vnd.openxmlformats-officedocument.presentationml.notesSlide+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notesSlides/notesSlide26.xml" ContentType="application/vnd.openxmlformats-officedocument.presentationml.notesSlide+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27.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notesSlides/notesSlide28.xml" ContentType="application/vnd.openxmlformats-officedocument.presentationml.notesSlide+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notesSlides/notesSlide29.xml" ContentType="application/vnd.openxmlformats-officedocument.presentationml.notesSlide+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notesSlides/notesSlide30.xml" ContentType="application/vnd.openxmlformats-officedocument.presentationml.notesSlide+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notesSlides/notesSlide31.xml" ContentType="application/vnd.openxmlformats-officedocument.presentationml.notesSlide+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notesSlides/notesSlide32.xml" ContentType="application/vnd.openxmlformats-officedocument.presentationml.notesSlide+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notesSlides/notesSlide33.xml" ContentType="application/vnd.openxmlformats-officedocument.presentationml.notesSlide+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notesSlides/notesSlide34.xml" ContentType="application/vnd.openxmlformats-officedocument.presentationml.notesSlide+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notesSlides/notesSlide35.xml" ContentType="application/vnd.openxmlformats-officedocument.presentationml.notesSlide+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notesSlides/notesSlide36.xml" ContentType="application/vnd.openxmlformats-officedocument.presentationml.notesSlide+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notesSlides/notesSlide37.xml" ContentType="application/vnd.openxmlformats-officedocument.presentationml.notesSlide+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notesSlides/notesSlide38.xml" ContentType="application/vnd.openxmlformats-officedocument.presentationml.notesSlide+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notesSlides/notesSlide39.xml" ContentType="application/vnd.openxmlformats-officedocument.presentationml.notesSlide+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0" r:id="rId1"/>
  </p:sldMasterIdLst>
  <p:notesMasterIdLst>
    <p:notesMasterId r:id="rId42"/>
  </p:notesMasterIdLst>
  <p:handoutMasterIdLst>
    <p:handoutMasterId r:id="rId43"/>
  </p:handoutMasterIdLst>
  <p:sldIdLst>
    <p:sldId id="495" r:id="rId2"/>
    <p:sldId id="525" r:id="rId3"/>
    <p:sldId id="505" r:id="rId4"/>
    <p:sldId id="526" r:id="rId5"/>
    <p:sldId id="527" r:id="rId6"/>
    <p:sldId id="528" r:id="rId7"/>
    <p:sldId id="529" r:id="rId8"/>
    <p:sldId id="530" r:id="rId9"/>
    <p:sldId id="506" r:id="rId10"/>
    <p:sldId id="535" r:id="rId11"/>
    <p:sldId id="532" r:id="rId12"/>
    <p:sldId id="534" r:id="rId13"/>
    <p:sldId id="533" r:id="rId14"/>
    <p:sldId id="498" r:id="rId15"/>
    <p:sldId id="536" r:id="rId16"/>
    <p:sldId id="537" r:id="rId17"/>
    <p:sldId id="539" r:id="rId18"/>
    <p:sldId id="538" r:id="rId19"/>
    <p:sldId id="540" r:id="rId20"/>
    <p:sldId id="541" r:id="rId21"/>
    <p:sldId id="542" r:id="rId22"/>
    <p:sldId id="543" r:id="rId23"/>
    <p:sldId id="544" r:id="rId24"/>
    <p:sldId id="545" r:id="rId25"/>
    <p:sldId id="546" r:id="rId26"/>
    <p:sldId id="547" r:id="rId27"/>
    <p:sldId id="548" r:id="rId28"/>
    <p:sldId id="550" r:id="rId29"/>
    <p:sldId id="551" r:id="rId30"/>
    <p:sldId id="552" r:id="rId31"/>
    <p:sldId id="558" r:id="rId32"/>
    <p:sldId id="561" r:id="rId33"/>
    <p:sldId id="563" r:id="rId34"/>
    <p:sldId id="564" r:id="rId35"/>
    <p:sldId id="566" r:id="rId36"/>
    <p:sldId id="568" r:id="rId37"/>
    <p:sldId id="570" r:id="rId38"/>
    <p:sldId id="571" r:id="rId39"/>
    <p:sldId id="573" r:id="rId40"/>
    <p:sldId id="574" r:id="rId41"/>
  </p:sldIdLst>
  <p:sldSz cx="9144000" cy="6858000" type="screen4x3"/>
  <p:notesSz cx="6845300" cy="9396413"/>
  <p:custDataLst>
    <p:tags r:id="rId44"/>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8">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6C0A"/>
    <a:srgbClr val="DBEEF4"/>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82" autoAdjust="0"/>
    <p:restoredTop sz="78488"/>
  </p:normalViewPr>
  <p:slideViewPr>
    <p:cSldViewPr>
      <p:cViewPr varScale="1">
        <p:scale>
          <a:sx n="215" d="100"/>
          <a:sy n="215" d="100"/>
        </p:scale>
        <p:origin x="2856" y="200"/>
      </p:cViewPr>
      <p:guideLst>
        <p:guide orient="horz" pos="2160"/>
        <p:guide pos="2880"/>
      </p:guideLst>
    </p:cSldViewPr>
  </p:slideViewPr>
  <p:outlineViewPr>
    <p:cViewPr>
      <p:scale>
        <a:sx n="33" d="100"/>
        <a:sy n="33" d="100"/>
      </p:scale>
      <p:origin x="0" y="0"/>
    </p:cViewPr>
  </p:outlineViewPr>
  <p:notesTextViewPr>
    <p:cViewPr>
      <p:scale>
        <a:sx n="155" d="100"/>
        <a:sy n="155" d="100"/>
      </p:scale>
      <p:origin x="0" y="0"/>
    </p:cViewPr>
  </p:notesTextViewPr>
  <p:sorterViewPr>
    <p:cViewPr>
      <p:scale>
        <a:sx n="66" d="100"/>
        <a:sy n="66" d="100"/>
      </p:scale>
      <p:origin x="0" y="0"/>
    </p:cViewPr>
  </p:sorterViewPr>
  <p:notesViewPr>
    <p:cSldViewPr>
      <p:cViewPr varScale="1">
        <p:scale>
          <a:sx n="120" d="100"/>
          <a:sy n="120" d="100"/>
        </p:scale>
        <p:origin x="5046" y="108"/>
      </p:cViewPr>
      <p:guideLst>
        <p:guide orient="horz" pos="2958"/>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5363" name="Rectangle 3"/>
          <p:cNvSpPr>
            <a:spLocks noGrp="1" noChangeArrowheads="1"/>
          </p:cNvSpPr>
          <p:nvPr>
            <p:ph type="dt" sz="quarter"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15364" name="Rectangle 4"/>
          <p:cNvSpPr>
            <a:spLocks noGrp="1" noChangeArrowheads="1"/>
          </p:cNvSpPr>
          <p:nvPr>
            <p:ph type="ftr" sz="quarter" idx="2"/>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r>
              <a:rPr lang="en-US"/>
              <a:t>CS/ECE 552: Introduction To Computer Architecture</a:t>
            </a:r>
          </a:p>
        </p:txBody>
      </p:sp>
      <p:sp>
        <p:nvSpPr>
          <p:cNvPr id="15365" name="Rectangle 5"/>
          <p:cNvSpPr>
            <a:spLocks noGrp="1" noChangeArrowheads="1"/>
          </p:cNvSpPr>
          <p:nvPr>
            <p:ph type="sldNum" sz="quarter" idx="3"/>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A83ACFC1-9505-4A40-9977-AABD7496088F}" type="slidenum">
              <a:rPr lang="en-US" altLang="en-US"/>
              <a:pPr/>
              <a:t>‹#›</a:t>
            </a:fld>
            <a:endParaRPr lang="en-US" altLang="en-US"/>
          </a:p>
        </p:txBody>
      </p:sp>
    </p:spTree>
    <p:extLst>
      <p:ext uri="{BB962C8B-B14F-4D97-AF65-F5344CB8AC3E}">
        <p14:creationId xmlns:p14="http://schemas.microsoft.com/office/powerpoint/2010/main" val="2208075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7411" name="Rectangle 3"/>
          <p:cNvSpPr>
            <a:spLocks noGrp="1" noChangeArrowheads="1"/>
          </p:cNvSpPr>
          <p:nvPr>
            <p:ph type="dt"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77828" name="Rectangle 4"/>
          <p:cNvSpPr>
            <a:spLocks noGrp="1" noRot="1" noChangeAspect="1" noChangeArrowheads="1" noTextEdit="1"/>
          </p:cNvSpPr>
          <p:nvPr>
            <p:ph type="sldImg" idx="2"/>
          </p:nvPr>
        </p:nvSpPr>
        <p:spPr bwMode="auto">
          <a:xfrm>
            <a:off x="1074738" y="706438"/>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2813" y="4464050"/>
            <a:ext cx="5019675" cy="4225925"/>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endParaRPr lang="en-US"/>
          </a:p>
        </p:txBody>
      </p:sp>
      <p:sp>
        <p:nvSpPr>
          <p:cNvPr id="17415" name="Rectangle 7"/>
          <p:cNvSpPr>
            <a:spLocks noGrp="1" noChangeArrowheads="1"/>
          </p:cNvSpPr>
          <p:nvPr>
            <p:ph type="sldNum" sz="quarter" idx="5"/>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BD4F155C-6C9D-4ED5-8550-5376FDF284CA}" type="slidenum">
              <a:rPr lang="en-US" altLang="en-US"/>
              <a:pPr/>
              <a:t>‹#›</a:t>
            </a:fld>
            <a:endParaRPr lang="en-US" altLang="en-US"/>
          </a:p>
        </p:txBody>
      </p:sp>
    </p:spTree>
    <p:extLst>
      <p:ext uri="{BB962C8B-B14F-4D97-AF65-F5344CB8AC3E}">
        <p14:creationId xmlns:p14="http://schemas.microsoft.com/office/powerpoint/2010/main" val="23907389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a:t>
            </a:fld>
            <a:endParaRPr lang="en-US" altLang="en-US"/>
          </a:p>
        </p:txBody>
      </p:sp>
    </p:spTree>
    <p:extLst>
      <p:ext uri="{BB962C8B-B14F-4D97-AF65-F5344CB8AC3E}">
        <p14:creationId xmlns:p14="http://schemas.microsoft.com/office/powerpoint/2010/main" val="50399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a:t>
            </a:fld>
            <a:endParaRPr lang="en-US" altLang="en-US"/>
          </a:p>
        </p:txBody>
      </p:sp>
    </p:spTree>
    <p:extLst>
      <p:ext uri="{BB962C8B-B14F-4D97-AF65-F5344CB8AC3E}">
        <p14:creationId xmlns:p14="http://schemas.microsoft.com/office/powerpoint/2010/main" val="812889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a:t>
            </a:fld>
            <a:endParaRPr lang="en-US" altLang="en-US"/>
          </a:p>
        </p:txBody>
      </p:sp>
    </p:spTree>
    <p:extLst>
      <p:ext uri="{BB962C8B-B14F-4D97-AF65-F5344CB8AC3E}">
        <p14:creationId xmlns:p14="http://schemas.microsoft.com/office/powerpoint/2010/main" val="1636532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4</a:t>
            </a:fld>
            <a:endParaRPr lang="en-US" altLang="en-US"/>
          </a:p>
        </p:txBody>
      </p:sp>
    </p:spTree>
    <p:extLst>
      <p:ext uri="{BB962C8B-B14F-4D97-AF65-F5344CB8AC3E}">
        <p14:creationId xmlns:p14="http://schemas.microsoft.com/office/powerpoint/2010/main" val="4161984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5</a:t>
            </a:fld>
            <a:endParaRPr lang="en-US" altLang="en-US"/>
          </a:p>
        </p:txBody>
      </p:sp>
    </p:spTree>
    <p:extLst>
      <p:ext uri="{BB962C8B-B14F-4D97-AF65-F5344CB8AC3E}">
        <p14:creationId xmlns:p14="http://schemas.microsoft.com/office/powerpoint/2010/main" val="2265856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6</a:t>
            </a:fld>
            <a:endParaRPr lang="en-US" altLang="en-US"/>
          </a:p>
        </p:txBody>
      </p:sp>
    </p:spTree>
    <p:extLst>
      <p:ext uri="{BB962C8B-B14F-4D97-AF65-F5344CB8AC3E}">
        <p14:creationId xmlns:p14="http://schemas.microsoft.com/office/powerpoint/2010/main" val="111158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7</a:t>
            </a:fld>
            <a:endParaRPr lang="en-US" altLang="en-US"/>
          </a:p>
        </p:txBody>
      </p:sp>
    </p:spTree>
    <p:extLst>
      <p:ext uri="{BB962C8B-B14F-4D97-AF65-F5344CB8AC3E}">
        <p14:creationId xmlns:p14="http://schemas.microsoft.com/office/powerpoint/2010/main" val="12496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8</a:t>
            </a:fld>
            <a:endParaRPr lang="en-US" altLang="en-US"/>
          </a:p>
        </p:txBody>
      </p:sp>
    </p:spTree>
    <p:extLst>
      <p:ext uri="{BB962C8B-B14F-4D97-AF65-F5344CB8AC3E}">
        <p14:creationId xmlns:p14="http://schemas.microsoft.com/office/powerpoint/2010/main" val="2005102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9</a:t>
            </a:fld>
            <a:endParaRPr lang="en-US" altLang="en-US"/>
          </a:p>
        </p:txBody>
      </p:sp>
    </p:spTree>
    <p:extLst>
      <p:ext uri="{BB962C8B-B14F-4D97-AF65-F5344CB8AC3E}">
        <p14:creationId xmlns:p14="http://schemas.microsoft.com/office/powerpoint/2010/main" val="2457999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10</a:t>
            </a:fld>
            <a:endParaRPr lang="en-US" altLang="en-US"/>
          </a:p>
        </p:txBody>
      </p:sp>
    </p:spTree>
    <p:extLst>
      <p:ext uri="{BB962C8B-B14F-4D97-AF65-F5344CB8AC3E}">
        <p14:creationId xmlns:p14="http://schemas.microsoft.com/office/powerpoint/2010/main" val="1851598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11</a:t>
            </a:fld>
            <a:endParaRPr lang="en-US" altLang="en-US"/>
          </a:p>
        </p:txBody>
      </p:sp>
    </p:spTree>
    <p:extLst>
      <p:ext uri="{BB962C8B-B14F-4D97-AF65-F5344CB8AC3E}">
        <p14:creationId xmlns:p14="http://schemas.microsoft.com/office/powerpoint/2010/main" val="1507185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12</a:t>
            </a:fld>
            <a:endParaRPr lang="en-US" altLang="en-US"/>
          </a:p>
        </p:txBody>
      </p:sp>
    </p:spTree>
    <p:extLst>
      <p:ext uri="{BB962C8B-B14F-4D97-AF65-F5344CB8AC3E}">
        <p14:creationId xmlns:p14="http://schemas.microsoft.com/office/powerpoint/2010/main" val="1223286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13</a:t>
            </a:fld>
            <a:endParaRPr lang="en-US" altLang="en-US"/>
          </a:p>
        </p:txBody>
      </p:sp>
    </p:spTree>
    <p:extLst>
      <p:ext uri="{BB962C8B-B14F-4D97-AF65-F5344CB8AC3E}">
        <p14:creationId xmlns:p14="http://schemas.microsoft.com/office/powerpoint/2010/main" val="195502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14</a:t>
            </a:fld>
            <a:endParaRPr lang="en-US" altLang="en-US"/>
          </a:p>
        </p:txBody>
      </p:sp>
    </p:spTree>
    <p:extLst>
      <p:ext uri="{BB962C8B-B14F-4D97-AF65-F5344CB8AC3E}">
        <p14:creationId xmlns:p14="http://schemas.microsoft.com/office/powerpoint/2010/main" val="3207629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15</a:t>
            </a:fld>
            <a:endParaRPr lang="en-US" altLang="en-US"/>
          </a:p>
        </p:txBody>
      </p:sp>
    </p:spTree>
    <p:extLst>
      <p:ext uri="{BB962C8B-B14F-4D97-AF65-F5344CB8AC3E}">
        <p14:creationId xmlns:p14="http://schemas.microsoft.com/office/powerpoint/2010/main" val="408252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16</a:t>
            </a:fld>
            <a:endParaRPr lang="en-US" altLang="en-US"/>
          </a:p>
        </p:txBody>
      </p:sp>
    </p:spTree>
    <p:extLst>
      <p:ext uri="{BB962C8B-B14F-4D97-AF65-F5344CB8AC3E}">
        <p14:creationId xmlns:p14="http://schemas.microsoft.com/office/powerpoint/2010/main" val="3715452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17</a:t>
            </a:fld>
            <a:endParaRPr lang="en-US" altLang="en-US"/>
          </a:p>
        </p:txBody>
      </p:sp>
    </p:spTree>
    <p:extLst>
      <p:ext uri="{BB962C8B-B14F-4D97-AF65-F5344CB8AC3E}">
        <p14:creationId xmlns:p14="http://schemas.microsoft.com/office/powerpoint/2010/main" val="315402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18</a:t>
            </a:fld>
            <a:endParaRPr lang="en-US" altLang="en-US"/>
          </a:p>
        </p:txBody>
      </p:sp>
    </p:spTree>
    <p:extLst>
      <p:ext uri="{BB962C8B-B14F-4D97-AF65-F5344CB8AC3E}">
        <p14:creationId xmlns:p14="http://schemas.microsoft.com/office/powerpoint/2010/main" val="1761330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19</a:t>
            </a:fld>
            <a:endParaRPr lang="en-US" altLang="en-US"/>
          </a:p>
        </p:txBody>
      </p:sp>
    </p:spTree>
    <p:extLst>
      <p:ext uri="{BB962C8B-B14F-4D97-AF65-F5344CB8AC3E}">
        <p14:creationId xmlns:p14="http://schemas.microsoft.com/office/powerpoint/2010/main" val="3653637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20</a:t>
            </a:fld>
            <a:endParaRPr lang="en-US" altLang="en-US"/>
          </a:p>
        </p:txBody>
      </p:sp>
    </p:spTree>
    <p:extLst>
      <p:ext uri="{BB962C8B-B14F-4D97-AF65-F5344CB8AC3E}">
        <p14:creationId xmlns:p14="http://schemas.microsoft.com/office/powerpoint/2010/main" val="479470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21</a:t>
            </a:fld>
            <a:endParaRPr lang="en-US" altLang="en-US"/>
          </a:p>
        </p:txBody>
      </p:sp>
    </p:spTree>
    <p:extLst>
      <p:ext uri="{BB962C8B-B14F-4D97-AF65-F5344CB8AC3E}">
        <p14:creationId xmlns:p14="http://schemas.microsoft.com/office/powerpoint/2010/main" val="14897282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22</a:t>
            </a:fld>
            <a:endParaRPr lang="en-US" altLang="en-US"/>
          </a:p>
        </p:txBody>
      </p:sp>
    </p:spTree>
    <p:extLst>
      <p:ext uri="{BB962C8B-B14F-4D97-AF65-F5344CB8AC3E}">
        <p14:creationId xmlns:p14="http://schemas.microsoft.com/office/powerpoint/2010/main" val="840523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23</a:t>
            </a:fld>
            <a:endParaRPr lang="en-US" altLang="en-US"/>
          </a:p>
        </p:txBody>
      </p:sp>
    </p:spTree>
    <p:extLst>
      <p:ext uri="{BB962C8B-B14F-4D97-AF65-F5344CB8AC3E}">
        <p14:creationId xmlns:p14="http://schemas.microsoft.com/office/powerpoint/2010/main" val="7327059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24</a:t>
            </a:fld>
            <a:endParaRPr lang="en-US" altLang="en-US"/>
          </a:p>
        </p:txBody>
      </p:sp>
    </p:spTree>
    <p:extLst>
      <p:ext uri="{BB962C8B-B14F-4D97-AF65-F5344CB8AC3E}">
        <p14:creationId xmlns:p14="http://schemas.microsoft.com/office/powerpoint/2010/main" val="21152898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25</a:t>
            </a:fld>
            <a:endParaRPr lang="en-US" altLang="en-US"/>
          </a:p>
        </p:txBody>
      </p:sp>
    </p:spTree>
    <p:extLst>
      <p:ext uri="{BB962C8B-B14F-4D97-AF65-F5344CB8AC3E}">
        <p14:creationId xmlns:p14="http://schemas.microsoft.com/office/powerpoint/2010/main" val="28946622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26</a:t>
            </a:fld>
            <a:endParaRPr lang="en-US" altLang="en-US"/>
          </a:p>
        </p:txBody>
      </p:sp>
    </p:spTree>
    <p:extLst>
      <p:ext uri="{BB962C8B-B14F-4D97-AF65-F5344CB8AC3E}">
        <p14:creationId xmlns:p14="http://schemas.microsoft.com/office/powerpoint/2010/main" val="84007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27</a:t>
            </a:fld>
            <a:endParaRPr lang="en-US" altLang="en-US"/>
          </a:p>
        </p:txBody>
      </p:sp>
    </p:spTree>
    <p:extLst>
      <p:ext uri="{BB962C8B-B14F-4D97-AF65-F5344CB8AC3E}">
        <p14:creationId xmlns:p14="http://schemas.microsoft.com/office/powerpoint/2010/main" val="30160630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28</a:t>
            </a:fld>
            <a:endParaRPr lang="en-US" altLang="en-US"/>
          </a:p>
        </p:txBody>
      </p:sp>
    </p:spTree>
    <p:extLst>
      <p:ext uri="{BB962C8B-B14F-4D97-AF65-F5344CB8AC3E}">
        <p14:creationId xmlns:p14="http://schemas.microsoft.com/office/powerpoint/2010/main" val="17368216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29</a:t>
            </a:fld>
            <a:endParaRPr lang="en-US" altLang="en-US"/>
          </a:p>
        </p:txBody>
      </p:sp>
    </p:spTree>
    <p:extLst>
      <p:ext uri="{BB962C8B-B14F-4D97-AF65-F5344CB8AC3E}">
        <p14:creationId xmlns:p14="http://schemas.microsoft.com/office/powerpoint/2010/main" val="23393604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30</a:t>
            </a:fld>
            <a:endParaRPr lang="en-US" altLang="en-US"/>
          </a:p>
        </p:txBody>
      </p:sp>
    </p:spTree>
    <p:extLst>
      <p:ext uri="{BB962C8B-B14F-4D97-AF65-F5344CB8AC3E}">
        <p14:creationId xmlns:p14="http://schemas.microsoft.com/office/powerpoint/2010/main" val="26339175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31</a:t>
            </a:fld>
            <a:endParaRPr lang="en-US" altLang="en-US"/>
          </a:p>
        </p:txBody>
      </p:sp>
    </p:spTree>
    <p:extLst>
      <p:ext uri="{BB962C8B-B14F-4D97-AF65-F5344CB8AC3E}">
        <p14:creationId xmlns:p14="http://schemas.microsoft.com/office/powerpoint/2010/main" val="12601511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32</a:t>
            </a:fld>
            <a:endParaRPr lang="en-US" altLang="en-US"/>
          </a:p>
        </p:txBody>
      </p:sp>
    </p:spTree>
    <p:extLst>
      <p:ext uri="{BB962C8B-B14F-4D97-AF65-F5344CB8AC3E}">
        <p14:creationId xmlns:p14="http://schemas.microsoft.com/office/powerpoint/2010/main" val="29152672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33</a:t>
            </a:fld>
            <a:endParaRPr lang="en-US" altLang="en-US"/>
          </a:p>
        </p:txBody>
      </p:sp>
    </p:spTree>
    <p:extLst>
      <p:ext uri="{BB962C8B-B14F-4D97-AF65-F5344CB8AC3E}">
        <p14:creationId xmlns:p14="http://schemas.microsoft.com/office/powerpoint/2010/main" val="3821374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34</a:t>
            </a:fld>
            <a:endParaRPr lang="en-US" altLang="en-US"/>
          </a:p>
        </p:txBody>
      </p:sp>
    </p:spTree>
    <p:extLst>
      <p:ext uri="{BB962C8B-B14F-4D97-AF65-F5344CB8AC3E}">
        <p14:creationId xmlns:p14="http://schemas.microsoft.com/office/powerpoint/2010/main" val="1528729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35</a:t>
            </a:fld>
            <a:endParaRPr lang="en-US" altLang="en-US"/>
          </a:p>
        </p:txBody>
      </p:sp>
    </p:spTree>
    <p:extLst>
      <p:ext uri="{BB962C8B-B14F-4D97-AF65-F5344CB8AC3E}">
        <p14:creationId xmlns:p14="http://schemas.microsoft.com/office/powerpoint/2010/main" val="15968242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36</a:t>
            </a:fld>
            <a:endParaRPr lang="en-US" altLang="en-US"/>
          </a:p>
        </p:txBody>
      </p:sp>
    </p:spTree>
    <p:extLst>
      <p:ext uri="{BB962C8B-B14F-4D97-AF65-F5344CB8AC3E}">
        <p14:creationId xmlns:p14="http://schemas.microsoft.com/office/powerpoint/2010/main" val="42711925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37</a:t>
            </a:fld>
            <a:endParaRPr lang="en-US" altLang="en-US"/>
          </a:p>
        </p:txBody>
      </p:sp>
    </p:spTree>
    <p:extLst>
      <p:ext uri="{BB962C8B-B14F-4D97-AF65-F5344CB8AC3E}">
        <p14:creationId xmlns:p14="http://schemas.microsoft.com/office/powerpoint/2010/main" val="4654417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38</a:t>
            </a:fld>
            <a:endParaRPr lang="en-US" altLang="en-US"/>
          </a:p>
        </p:txBody>
      </p:sp>
    </p:spTree>
    <p:extLst>
      <p:ext uri="{BB962C8B-B14F-4D97-AF65-F5344CB8AC3E}">
        <p14:creationId xmlns:p14="http://schemas.microsoft.com/office/powerpoint/2010/main" val="15062152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39</a:t>
            </a:fld>
            <a:endParaRPr lang="en-US" altLang="en-US"/>
          </a:p>
        </p:txBody>
      </p:sp>
    </p:spTree>
    <p:extLst>
      <p:ext uri="{BB962C8B-B14F-4D97-AF65-F5344CB8AC3E}">
        <p14:creationId xmlns:p14="http://schemas.microsoft.com/office/powerpoint/2010/main" val="16334900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40</a:t>
            </a:fld>
            <a:endParaRPr lang="en-US" altLang="en-US"/>
          </a:p>
        </p:txBody>
      </p:sp>
    </p:spTree>
    <p:extLst>
      <p:ext uri="{BB962C8B-B14F-4D97-AF65-F5344CB8AC3E}">
        <p14:creationId xmlns:p14="http://schemas.microsoft.com/office/powerpoint/2010/main" val="32447981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custDataLst>
              <p:tags r:id="rId3"/>
            </p:custDataLst>
          </p:nvPr>
        </p:nvSpPr>
        <p:spPr/>
        <p:txBody>
          <a:bodyPr/>
          <a:lstStyle>
            <a:lvl1pPr>
              <a:defRPr/>
            </a:lvl1pPr>
          </a:lstStyle>
          <a:p>
            <a:pPr>
              <a:defRPr/>
            </a:pPr>
            <a:endParaRPr lang="en-US"/>
          </a:p>
        </p:txBody>
      </p:sp>
      <p:sp>
        <p:nvSpPr>
          <p:cNvPr id="5" name="Footer Placeholder 4"/>
          <p:cNvSpPr>
            <a:spLocks noGrp="1"/>
          </p:cNvSpPr>
          <p:nvPr>
            <p:ph type="ftr" sz="quarter" idx="11"/>
            <p:custDataLst>
              <p:tags r:id="rId4"/>
            </p:custDataLst>
          </p:nvPr>
        </p:nvSpPr>
        <p:spPr/>
        <p:txBody>
          <a:bodyPr/>
          <a:lstStyle>
            <a:lvl1pPr>
              <a:defRPr/>
            </a:lvl1pPr>
          </a:lstStyle>
          <a:p>
            <a:pPr>
              <a:defRPr/>
            </a:pPr>
            <a:r>
              <a:rPr lang="en-US"/>
              <a:t>© Shen, Lipasti</a:t>
            </a:r>
            <a:endParaRPr lang="en-US" dirty="0"/>
          </a:p>
        </p:txBody>
      </p:sp>
      <p:sp>
        <p:nvSpPr>
          <p:cNvPr id="6" name="Slide Number Placeholder 5"/>
          <p:cNvSpPr>
            <a:spLocks noGrp="1"/>
          </p:cNvSpPr>
          <p:nvPr>
            <p:ph type="sldNum" sz="quarter" idx="12"/>
            <p:custDataLst>
              <p:tags r:id="rId5"/>
            </p:custDataLst>
          </p:nvPr>
        </p:nvSpPr>
        <p:spPr/>
        <p:txBody>
          <a:bodyPr/>
          <a:lstStyle>
            <a:lvl2pPr lvl="1">
              <a:defRPr/>
            </a:lvl2pPr>
          </a:lstStyle>
          <a:p>
            <a:pPr lvl="1"/>
            <a:fld id="{75A2B101-C660-424C-9ADC-11231547BD22}" type="slidenum">
              <a:rPr lang="en-US" altLang="en-US" smtClean="0"/>
              <a:pPr lvl="1"/>
              <a:t>‹#›</a:t>
            </a:fld>
            <a:endParaRPr lang="en-US" altLang="en-US"/>
          </a:p>
        </p:txBody>
      </p:sp>
      <p:pic>
        <p:nvPicPr>
          <p:cNvPr id="7" name="Picture 6" descr="LOGO_200"/>
          <p:cNvPicPr>
            <a:picLocks noChangeAspect="1" noChangeArrowheads="1"/>
          </p:cNvPicPr>
          <p:nvPr/>
        </p:nvPicPr>
        <p:blipFill>
          <a:blip r:embed="rId7" cstate="print"/>
          <a:srcRect/>
          <a:stretch>
            <a:fillRect/>
          </a:stretch>
        </p:blipFill>
        <p:spPr bwMode="auto">
          <a:xfrm>
            <a:off x="3276600" y="228600"/>
            <a:ext cx="2286000" cy="2286000"/>
          </a:xfrm>
          <a:prstGeom prst="rect">
            <a:avLst/>
          </a:prstGeom>
          <a:noFill/>
          <a:ln w="9525">
            <a:noFill/>
            <a:miter lim="800000"/>
            <a:headEnd/>
            <a:tailEnd/>
          </a:ln>
        </p:spPr>
      </p:pic>
      <p:pic>
        <p:nvPicPr>
          <p:cNvPr id="8" name="Picture 7" descr="LOGO_200"/>
          <p:cNvPicPr>
            <a:picLocks noChangeAspect="1" noChangeArrowheads="1"/>
          </p:cNvPicPr>
          <p:nvPr/>
        </p:nvPicPr>
        <p:blipFill>
          <a:blip r:embed="rId7" cstate="print"/>
          <a:srcRect/>
          <a:stretch>
            <a:fillRect/>
          </a:stretch>
        </p:blipFill>
        <p:spPr bwMode="auto">
          <a:xfrm>
            <a:off x="3276600" y="228600"/>
            <a:ext cx="2286000" cy="2286000"/>
          </a:xfrm>
          <a:prstGeom prst="rect">
            <a:avLst/>
          </a:prstGeom>
          <a:noFill/>
          <a:ln w="9525">
            <a:noFill/>
            <a:miter lim="800000"/>
            <a:headEnd/>
            <a:tailEnd/>
          </a:ln>
        </p:spPr>
      </p:pic>
    </p:spTree>
    <p:extLst>
      <p:ext uri="{BB962C8B-B14F-4D97-AF65-F5344CB8AC3E}">
        <p14:creationId xmlns:p14="http://schemas.microsoft.com/office/powerpoint/2010/main" val="295510146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lvl1pPr>
              <a:defRPr/>
            </a:lvl1pPr>
          </a:lstStyle>
          <a:p>
            <a:pPr>
              <a:defRPr/>
            </a:pPr>
            <a:endParaRPr lang="en-US"/>
          </a:p>
        </p:txBody>
      </p:sp>
      <p:sp>
        <p:nvSpPr>
          <p:cNvPr id="5" name="Footer Placeholder 4"/>
          <p:cNvSpPr>
            <a:spLocks noGrp="1"/>
          </p:cNvSpPr>
          <p:nvPr>
            <p:ph type="ftr" sz="quarter" idx="11"/>
            <p:custDataLst>
              <p:tags r:id="rId4"/>
            </p:custDataLst>
          </p:nvPr>
        </p:nvSpPr>
        <p:spPr/>
        <p:txBody>
          <a:bodyPr/>
          <a:lstStyle>
            <a:lvl1pPr>
              <a:defRPr/>
            </a:lvl1pPr>
          </a:lstStyle>
          <a:p>
            <a:pPr>
              <a:defRPr/>
            </a:pPr>
            <a:r>
              <a:rPr lang="en-US"/>
              <a:t>© Shen, Lipasti</a:t>
            </a:r>
            <a:endParaRPr lang="en-US" dirty="0"/>
          </a:p>
        </p:txBody>
      </p:sp>
      <p:sp>
        <p:nvSpPr>
          <p:cNvPr id="6" name="Slide Number Placeholder 5"/>
          <p:cNvSpPr>
            <a:spLocks noGrp="1"/>
          </p:cNvSpPr>
          <p:nvPr>
            <p:ph type="sldNum" sz="quarter" idx="12"/>
            <p:custDataLst>
              <p:tags r:id="rId5"/>
            </p:custDataLst>
          </p:nvPr>
        </p:nvSpPr>
        <p:spPr/>
        <p:txBody>
          <a:bodyPr/>
          <a:lstStyle>
            <a:lvl2pPr lvl="1">
              <a:defRPr/>
            </a:lvl2pPr>
          </a:lstStyle>
          <a:p>
            <a:pPr lvl="1"/>
            <a:fld id="{35B60D93-CC8C-4BE3-8466-59E10CB9DAB3}" type="slidenum">
              <a:rPr lang="en-US" altLang="en-US" smtClean="0"/>
              <a:pPr lvl="1"/>
              <a:t>‹#›</a:t>
            </a:fld>
            <a:endParaRPr lang="en-US" altLang="en-US">
              <a:latin typeface="Calibri" panose="020F0502020204030204" pitchFamily="34" charset="0"/>
            </a:endParaRPr>
          </a:p>
        </p:txBody>
      </p:sp>
    </p:spTree>
    <p:extLst>
      <p:ext uri="{BB962C8B-B14F-4D97-AF65-F5344CB8AC3E}">
        <p14:creationId xmlns:p14="http://schemas.microsoft.com/office/powerpoint/2010/main" val="223537527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heme" Target="../theme/theme1.xml"/><Relationship Id="rId7" Type="http://schemas.openxmlformats.org/officeDocument/2006/relationships/tags" Target="../tags/tag5.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4"/>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custDataLst>
              <p:tags r:id="rId5"/>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custDataLst>
              <p:tags r:id="rId6"/>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5" name="Footer Placeholder 4"/>
          <p:cNvSpPr>
            <a:spLocks noGrp="1"/>
          </p:cNvSpPr>
          <p:nvPr>
            <p:ph type="ftr" sz="quarter" idx="3"/>
            <p:custDataLst>
              <p:tags r:id="rId7"/>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r>
              <a:rPr lang="en-US"/>
              <a:t>© Hill, Shen, Lipasti</a:t>
            </a:r>
          </a:p>
        </p:txBody>
      </p:sp>
      <p:sp>
        <p:nvSpPr>
          <p:cNvPr id="6" name="Slide Number Placeholder 5"/>
          <p:cNvSpPr>
            <a:spLocks noGrp="1"/>
          </p:cNvSpPr>
          <p:nvPr>
            <p:ph type="sldNum" sz="quarter" idx="4"/>
            <p:custDataLst>
              <p:tags r:id="rId8"/>
            </p:custDataLst>
          </p:nvPr>
        </p:nvSpPr>
        <p:spPr>
          <a:xfrm>
            <a:off x="7620000" y="6356350"/>
            <a:ext cx="1066800" cy="365125"/>
          </a:xfrm>
          <a:prstGeom prst="rect">
            <a:avLst/>
          </a:prstGeom>
        </p:spPr>
        <p:txBody>
          <a:bodyPr vert="horz" lIns="91440" tIns="45720" rIns="91440" bIns="45720" rtlCol="0" anchor="ctr"/>
          <a:lstStyle>
            <a:lvl1pPr algn="r">
              <a:defRPr sz="1200">
                <a:solidFill>
                  <a:schemeClr val="tx1">
                    <a:tint val="75000"/>
                  </a:schemeClr>
                </a:solidFill>
              </a:defRPr>
            </a:lvl1pPr>
            <a:lvl2pPr lvl="1" algn="r">
              <a:defRPr baseline="0">
                <a:latin typeface="Calibri" panose="020F0502020204030204" pitchFamily="34" charset="0"/>
              </a:defRPr>
            </a:lvl2pPr>
          </a:lstStyle>
          <a:p>
            <a:pPr lvl="1"/>
            <a:fld id="{364C03C9-A82B-4593-8D4F-5FC476352E11}" type="slidenum">
              <a:rPr lang="en-US" altLang="en-US" smtClean="0"/>
              <a:pPr lvl="1"/>
              <a:t>‹#›</a:t>
            </a:fld>
            <a:endParaRPr lang="en-US" altLang="en-US"/>
          </a:p>
        </p:txBody>
      </p:sp>
    </p:spTree>
    <p:extLst>
      <p:ext uri="{BB962C8B-B14F-4D97-AF65-F5344CB8AC3E}">
        <p14:creationId xmlns:p14="http://schemas.microsoft.com/office/powerpoint/2010/main" val="2379839104"/>
      </p:ext>
    </p:extLst>
  </p:cSld>
  <p:clrMap bg1="lt1" tx1="dk1" bg2="lt2" tx2="dk2" accent1="accent1" accent2="accent2" accent3="accent3" accent4="accent4" accent5="accent5" accent6="accent6" hlink="hlink" folHlink="folHlink"/>
  <p:sldLayoutIdLst>
    <p:sldLayoutId id="2147483701" r:id="rId1"/>
    <p:sldLayoutId id="2147483702" r:id="rId2"/>
  </p:sldLayoutIdLst>
  <p:transition/>
  <p:hf hdr="0" dt="0"/>
  <p:txStyles>
    <p:titleStyle>
      <a:lvl1pPr algn="ctr" rtl="0" eaLnBrk="1" fontAlgn="base" hangingPunct="1">
        <a:spcBef>
          <a:spcPct val="0"/>
        </a:spcBef>
        <a:spcAft>
          <a:spcPct val="0"/>
        </a:spcAft>
        <a:defRPr sz="4400" b="0" i="0" u="none"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3.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27.xml"/></Relationships>
</file>

<file path=ppt/slides/_rels/slide4.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tags" Target="../tags/tag39.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5" Type="http://schemas.openxmlformats.org/officeDocument/2006/relationships/notesSlide" Target="../notesSlides/notesSlide4.xml"/><Relationship Id="rId10" Type="http://schemas.openxmlformats.org/officeDocument/2006/relationships/tags" Target="../tags/tag37.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notesSlide" Target="../notesSlides/notesSlide5.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4.xml"/><Relationship Id="rId7" Type="http://schemas.openxmlformats.org/officeDocument/2006/relationships/tags" Target="../tags/tag58.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62.xml"/></Relationships>
</file>

<file path=ppt/slides/_rels/slide8.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66.xml"/></Relationships>
</file>

<file path=ppt/slides/_rels/slide9.xml.rels><?xml version="1.0" encoding="UTF-8" standalone="yes"?>
<Relationships xmlns="http://schemas.openxmlformats.org/package/2006/relationships"><Relationship Id="rId8" Type="http://schemas.openxmlformats.org/officeDocument/2006/relationships/tags" Target="../tags/tag74.xml"/><Relationship Id="rId3" Type="http://schemas.openxmlformats.org/officeDocument/2006/relationships/tags" Target="../tags/tag69.xml"/><Relationship Id="rId7" Type="http://schemas.openxmlformats.org/officeDocument/2006/relationships/tags" Target="../tags/tag73.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5" Type="http://schemas.openxmlformats.org/officeDocument/2006/relationships/tags" Target="../tags/tag71.xml"/><Relationship Id="rId10" Type="http://schemas.openxmlformats.org/officeDocument/2006/relationships/notesSlide" Target="../notesSlides/notesSlide9.xml"/><Relationship Id="rId4" Type="http://schemas.openxmlformats.org/officeDocument/2006/relationships/tags" Target="../tags/tag70.xml"/><Relationship Id="rId9"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78.xml"/></Relationships>
</file>

<file path=ppt/slides/_rels/slide11.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5" Type="http://schemas.openxmlformats.org/officeDocument/2006/relationships/tags" Target="../tags/tag83.xml"/><Relationship Id="rId10" Type="http://schemas.openxmlformats.org/officeDocument/2006/relationships/notesSlide" Target="../notesSlides/notesSlide11.xml"/><Relationship Id="rId4" Type="http://schemas.openxmlformats.org/officeDocument/2006/relationships/tags" Target="../tags/tag82.xml"/><Relationship Id="rId9"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90.xml"/></Relationships>
</file>

<file path=ppt/slides/_rels/slide13.xml.rels><?xml version="1.0" encoding="UTF-8" standalone="yes"?>
<Relationships xmlns="http://schemas.openxmlformats.org/package/2006/relationships"><Relationship Id="rId8" Type="http://schemas.openxmlformats.org/officeDocument/2006/relationships/tags" Target="../tags/tag98.xml"/><Relationship Id="rId3" Type="http://schemas.openxmlformats.org/officeDocument/2006/relationships/tags" Target="../tags/tag93.xml"/><Relationship Id="rId7" Type="http://schemas.openxmlformats.org/officeDocument/2006/relationships/tags" Target="../tags/tag97.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5" Type="http://schemas.openxmlformats.org/officeDocument/2006/relationships/tags" Target="../tags/tag95.xml"/><Relationship Id="rId10" Type="http://schemas.openxmlformats.org/officeDocument/2006/relationships/notesSlide" Target="../notesSlides/notesSlide13.xml"/><Relationship Id="rId4" Type="http://schemas.openxmlformats.org/officeDocument/2006/relationships/tags" Target="../tags/tag94.xml"/><Relationship Id="rId9"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notesSlide" Target="../notesSlides/notesSlide14.xml"/><Relationship Id="rId3" Type="http://schemas.openxmlformats.org/officeDocument/2006/relationships/tags" Target="../tags/tag101.xml"/><Relationship Id="rId7" Type="http://schemas.openxmlformats.org/officeDocument/2006/relationships/tags" Target="../tags/tag105.xml"/><Relationship Id="rId12" Type="http://schemas.openxmlformats.org/officeDocument/2006/relationships/slideLayout" Target="../slideLayouts/slideLayout2.xm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5" Type="http://schemas.openxmlformats.org/officeDocument/2006/relationships/tags" Target="../tags/tag103.xml"/><Relationship Id="rId10" Type="http://schemas.openxmlformats.org/officeDocument/2006/relationships/tags" Target="../tags/tag108.xml"/><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tags" Target="../tags/tag112.xml"/><Relationship Id="rId7" Type="http://schemas.openxmlformats.org/officeDocument/2006/relationships/notesSlide" Target="../notesSlides/notesSlide15.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slideLayout" Target="../slideLayouts/slideLayout2.xml"/><Relationship Id="rId5" Type="http://schemas.openxmlformats.org/officeDocument/2006/relationships/tags" Target="../tags/tag114.xml"/><Relationship Id="rId4" Type="http://schemas.openxmlformats.org/officeDocument/2006/relationships/tags" Target="../tags/tag113.xml"/></Relationships>
</file>

<file path=ppt/slides/_rels/slide16.xml.rels><?xml version="1.0" encoding="UTF-8" standalone="yes"?>
<Relationships xmlns="http://schemas.openxmlformats.org/package/2006/relationships"><Relationship Id="rId8" Type="http://schemas.openxmlformats.org/officeDocument/2006/relationships/tags" Target="../tags/tag122.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10" Type="http://schemas.openxmlformats.org/officeDocument/2006/relationships/notesSlide" Target="../notesSlides/notesSlide16.xml"/><Relationship Id="rId4" Type="http://schemas.openxmlformats.org/officeDocument/2006/relationships/tags" Target="../tags/tag118.xml"/><Relationship Id="rId9"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tags" Target="../tags/tag130.xml"/><Relationship Id="rId3" Type="http://schemas.openxmlformats.org/officeDocument/2006/relationships/tags" Target="../tags/tag125.xml"/><Relationship Id="rId7" Type="http://schemas.openxmlformats.org/officeDocument/2006/relationships/tags" Target="../tags/tag129.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10" Type="http://schemas.openxmlformats.org/officeDocument/2006/relationships/notesSlide" Target="../notesSlides/notesSlide17.xml"/><Relationship Id="rId4" Type="http://schemas.openxmlformats.org/officeDocument/2006/relationships/tags" Target="../tags/tag126.xml"/><Relationship Id="rId9"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tags" Target="../tags/tag138.xml"/><Relationship Id="rId3" Type="http://schemas.openxmlformats.org/officeDocument/2006/relationships/tags" Target="../tags/tag133.xml"/><Relationship Id="rId7" Type="http://schemas.openxmlformats.org/officeDocument/2006/relationships/tags" Target="../tags/tag137.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tags" Target="../tags/tag136.xml"/><Relationship Id="rId5" Type="http://schemas.openxmlformats.org/officeDocument/2006/relationships/tags" Target="../tags/tag135.xml"/><Relationship Id="rId10" Type="http://schemas.openxmlformats.org/officeDocument/2006/relationships/notesSlide" Target="../notesSlides/notesSlide18.xml"/><Relationship Id="rId4" Type="http://schemas.openxmlformats.org/officeDocument/2006/relationships/tags" Target="../tags/tag134.xml"/><Relationship Id="rId9"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41.xml"/><Relationship Id="rId7" Type="http://schemas.openxmlformats.org/officeDocument/2006/relationships/tags" Target="../tags/tag145.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48.xml"/><Relationship Id="rId7" Type="http://schemas.openxmlformats.org/officeDocument/2006/relationships/tags" Target="../tags/tag152.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3" Type="http://schemas.openxmlformats.org/officeDocument/2006/relationships/tags" Target="../tags/tag165.xml"/><Relationship Id="rId18" Type="http://schemas.openxmlformats.org/officeDocument/2006/relationships/tags" Target="../tags/tag170.xml"/><Relationship Id="rId26" Type="http://schemas.openxmlformats.org/officeDocument/2006/relationships/tags" Target="../tags/tag178.xml"/><Relationship Id="rId39" Type="http://schemas.openxmlformats.org/officeDocument/2006/relationships/tags" Target="../tags/tag191.xml"/><Relationship Id="rId21" Type="http://schemas.openxmlformats.org/officeDocument/2006/relationships/tags" Target="../tags/tag173.xml"/><Relationship Id="rId34" Type="http://schemas.openxmlformats.org/officeDocument/2006/relationships/tags" Target="../tags/tag186.xml"/><Relationship Id="rId42" Type="http://schemas.openxmlformats.org/officeDocument/2006/relationships/tags" Target="../tags/tag194.xml"/><Relationship Id="rId47" Type="http://schemas.openxmlformats.org/officeDocument/2006/relationships/tags" Target="../tags/tag199.xml"/><Relationship Id="rId50" Type="http://schemas.openxmlformats.org/officeDocument/2006/relationships/tags" Target="../tags/tag202.xml"/><Relationship Id="rId55" Type="http://schemas.openxmlformats.org/officeDocument/2006/relationships/tags" Target="../tags/tag207.xml"/><Relationship Id="rId7" Type="http://schemas.openxmlformats.org/officeDocument/2006/relationships/tags" Target="../tags/tag159.xml"/><Relationship Id="rId2" Type="http://schemas.openxmlformats.org/officeDocument/2006/relationships/tags" Target="../tags/tag154.xml"/><Relationship Id="rId16" Type="http://schemas.openxmlformats.org/officeDocument/2006/relationships/tags" Target="../tags/tag168.xml"/><Relationship Id="rId29" Type="http://schemas.openxmlformats.org/officeDocument/2006/relationships/tags" Target="../tags/tag181.xml"/><Relationship Id="rId11" Type="http://schemas.openxmlformats.org/officeDocument/2006/relationships/tags" Target="../tags/tag163.xml"/><Relationship Id="rId24" Type="http://schemas.openxmlformats.org/officeDocument/2006/relationships/tags" Target="../tags/tag176.xml"/><Relationship Id="rId32" Type="http://schemas.openxmlformats.org/officeDocument/2006/relationships/tags" Target="../tags/tag184.xml"/><Relationship Id="rId37" Type="http://schemas.openxmlformats.org/officeDocument/2006/relationships/tags" Target="../tags/tag189.xml"/><Relationship Id="rId40" Type="http://schemas.openxmlformats.org/officeDocument/2006/relationships/tags" Target="../tags/tag192.xml"/><Relationship Id="rId45" Type="http://schemas.openxmlformats.org/officeDocument/2006/relationships/tags" Target="../tags/tag197.xml"/><Relationship Id="rId53" Type="http://schemas.openxmlformats.org/officeDocument/2006/relationships/tags" Target="../tags/tag205.xml"/><Relationship Id="rId58" Type="http://schemas.openxmlformats.org/officeDocument/2006/relationships/image" Target="../media/image4.jpeg"/><Relationship Id="rId5" Type="http://schemas.openxmlformats.org/officeDocument/2006/relationships/tags" Target="../tags/tag157.xml"/><Relationship Id="rId19" Type="http://schemas.openxmlformats.org/officeDocument/2006/relationships/tags" Target="../tags/tag171.xml"/><Relationship Id="rId4" Type="http://schemas.openxmlformats.org/officeDocument/2006/relationships/tags" Target="../tags/tag156.xml"/><Relationship Id="rId9" Type="http://schemas.openxmlformats.org/officeDocument/2006/relationships/tags" Target="../tags/tag161.xml"/><Relationship Id="rId14" Type="http://schemas.openxmlformats.org/officeDocument/2006/relationships/tags" Target="../tags/tag166.xml"/><Relationship Id="rId22" Type="http://schemas.openxmlformats.org/officeDocument/2006/relationships/tags" Target="../tags/tag174.xml"/><Relationship Id="rId27" Type="http://schemas.openxmlformats.org/officeDocument/2006/relationships/tags" Target="../tags/tag179.xml"/><Relationship Id="rId30" Type="http://schemas.openxmlformats.org/officeDocument/2006/relationships/tags" Target="../tags/tag182.xml"/><Relationship Id="rId35" Type="http://schemas.openxmlformats.org/officeDocument/2006/relationships/tags" Target="../tags/tag187.xml"/><Relationship Id="rId43" Type="http://schemas.openxmlformats.org/officeDocument/2006/relationships/tags" Target="../tags/tag195.xml"/><Relationship Id="rId48" Type="http://schemas.openxmlformats.org/officeDocument/2006/relationships/tags" Target="../tags/tag200.xml"/><Relationship Id="rId56" Type="http://schemas.openxmlformats.org/officeDocument/2006/relationships/slideLayout" Target="../slideLayouts/slideLayout2.xml"/><Relationship Id="rId8" Type="http://schemas.openxmlformats.org/officeDocument/2006/relationships/tags" Target="../tags/tag160.xml"/><Relationship Id="rId51" Type="http://schemas.openxmlformats.org/officeDocument/2006/relationships/tags" Target="../tags/tag203.xml"/><Relationship Id="rId3" Type="http://schemas.openxmlformats.org/officeDocument/2006/relationships/tags" Target="../tags/tag155.xml"/><Relationship Id="rId12" Type="http://schemas.openxmlformats.org/officeDocument/2006/relationships/tags" Target="../tags/tag164.xml"/><Relationship Id="rId17" Type="http://schemas.openxmlformats.org/officeDocument/2006/relationships/tags" Target="../tags/tag169.xml"/><Relationship Id="rId25" Type="http://schemas.openxmlformats.org/officeDocument/2006/relationships/tags" Target="../tags/tag177.xml"/><Relationship Id="rId33" Type="http://schemas.openxmlformats.org/officeDocument/2006/relationships/tags" Target="../tags/tag185.xml"/><Relationship Id="rId38" Type="http://schemas.openxmlformats.org/officeDocument/2006/relationships/tags" Target="../tags/tag190.xml"/><Relationship Id="rId46" Type="http://schemas.openxmlformats.org/officeDocument/2006/relationships/tags" Target="../tags/tag198.xml"/><Relationship Id="rId20" Type="http://schemas.openxmlformats.org/officeDocument/2006/relationships/tags" Target="../tags/tag172.xml"/><Relationship Id="rId41" Type="http://schemas.openxmlformats.org/officeDocument/2006/relationships/tags" Target="../tags/tag193.xml"/><Relationship Id="rId54" Type="http://schemas.openxmlformats.org/officeDocument/2006/relationships/tags" Target="../tags/tag206.xml"/><Relationship Id="rId1" Type="http://schemas.openxmlformats.org/officeDocument/2006/relationships/tags" Target="../tags/tag153.xml"/><Relationship Id="rId6" Type="http://schemas.openxmlformats.org/officeDocument/2006/relationships/tags" Target="../tags/tag158.xml"/><Relationship Id="rId15" Type="http://schemas.openxmlformats.org/officeDocument/2006/relationships/tags" Target="../tags/tag167.xml"/><Relationship Id="rId23" Type="http://schemas.openxmlformats.org/officeDocument/2006/relationships/tags" Target="../tags/tag175.xml"/><Relationship Id="rId28" Type="http://schemas.openxmlformats.org/officeDocument/2006/relationships/tags" Target="../tags/tag180.xml"/><Relationship Id="rId36" Type="http://schemas.openxmlformats.org/officeDocument/2006/relationships/tags" Target="../tags/tag188.xml"/><Relationship Id="rId49" Type="http://schemas.openxmlformats.org/officeDocument/2006/relationships/tags" Target="../tags/tag201.xml"/><Relationship Id="rId57" Type="http://schemas.openxmlformats.org/officeDocument/2006/relationships/notesSlide" Target="../notesSlides/notesSlide21.xml"/><Relationship Id="rId10" Type="http://schemas.openxmlformats.org/officeDocument/2006/relationships/tags" Target="../tags/tag162.xml"/><Relationship Id="rId31" Type="http://schemas.openxmlformats.org/officeDocument/2006/relationships/tags" Target="../tags/tag183.xml"/><Relationship Id="rId44" Type="http://schemas.openxmlformats.org/officeDocument/2006/relationships/tags" Target="../tags/tag196.xml"/><Relationship Id="rId52" Type="http://schemas.openxmlformats.org/officeDocument/2006/relationships/tags" Target="../tags/tag204.xml"/></Relationships>
</file>

<file path=ppt/slides/_rels/slide22.xml.rels><?xml version="1.0" encoding="UTF-8" standalone="yes"?>
<Relationships xmlns="http://schemas.openxmlformats.org/package/2006/relationships"><Relationship Id="rId8" Type="http://schemas.openxmlformats.org/officeDocument/2006/relationships/tags" Target="../tags/tag215.xml"/><Relationship Id="rId3" Type="http://schemas.openxmlformats.org/officeDocument/2006/relationships/tags" Target="../tags/tag210.xml"/><Relationship Id="rId7" Type="http://schemas.openxmlformats.org/officeDocument/2006/relationships/tags" Target="../tags/tag214.xml"/><Relationship Id="rId12" Type="http://schemas.openxmlformats.org/officeDocument/2006/relationships/image" Target="../media/image5.emf"/><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tags" Target="../tags/tag213.xml"/><Relationship Id="rId11" Type="http://schemas.openxmlformats.org/officeDocument/2006/relationships/notesSlide" Target="../notesSlides/notesSlide22.xml"/><Relationship Id="rId5" Type="http://schemas.openxmlformats.org/officeDocument/2006/relationships/tags" Target="../tags/tag212.xml"/><Relationship Id="rId10" Type="http://schemas.openxmlformats.org/officeDocument/2006/relationships/slideLayout" Target="../slideLayouts/slideLayout2.xml"/><Relationship Id="rId4" Type="http://schemas.openxmlformats.org/officeDocument/2006/relationships/tags" Target="../tags/tag211.xml"/><Relationship Id="rId9" Type="http://schemas.openxmlformats.org/officeDocument/2006/relationships/tags" Target="../tags/tag216.xml"/></Relationships>
</file>

<file path=ppt/slides/_rels/slide23.xml.rels><?xml version="1.0" encoding="UTF-8" standalone="yes"?>
<Relationships xmlns="http://schemas.openxmlformats.org/package/2006/relationships"><Relationship Id="rId8" Type="http://schemas.openxmlformats.org/officeDocument/2006/relationships/tags" Target="../tags/tag224.xml"/><Relationship Id="rId3" Type="http://schemas.openxmlformats.org/officeDocument/2006/relationships/tags" Target="../tags/tag219.xml"/><Relationship Id="rId7" Type="http://schemas.openxmlformats.org/officeDocument/2006/relationships/tags" Target="../tags/tag223.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tags" Target="../tags/tag222.xml"/><Relationship Id="rId11" Type="http://schemas.openxmlformats.org/officeDocument/2006/relationships/image" Target="../media/image2.png"/><Relationship Id="rId5" Type="http://schemas.openxmlformats.org/officeDocument/2006/relationships/tags" Target="../tags/tag221.xml"/><Relationship Id="rId10" Type="http://schemas.openxmlformats.org/officeDocument/2006/relationships/notesSlide" Target="../notesSlides/notesSlide23.xml"/><Relationship Id="rId4" Type="http://schemas.openxmlformats.org/officeDocument/2006/relationships/tags" Target="../tags/tag220.xml"/><Relationship Id="rId9"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tags" Target="../tags/tag232.xml"/><Relationship Id="rId3" Type="http://schemas.openxmlformats.org/officeDocument/2006/relationships/tags" Target="../tags/tag227.xml"/><Relationship Id="rId7" Type="http://schemas.openxmlformats.org/officeDocument/2006/relationships/tags" Target="../tags/tag231.xml"/><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tags" Target="../tags/tag230.xml"/><Relationship Id="rId5" Type="http://schemas.openxmlformats.org/officeDocument/2006/relationships/tags" Target="../tags/tag229.xml"/><Relationship Id="rId10" Type="http://schemas.openxmlformats.org/officeDocument/2006/relationships/notesSlide" Target="../notesSlides/notesSlide24.xml"/><Relationship Id="rId4" Type="http://schemas.openxmlformats.org/officeDocument/2006/relationships/tags" Target="../tags/tag228.xml"/><Relationship Id="rId9"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tags" Target="../tags/tag240.xml"/><Relationship Id="rId13" Type="http://schemas.openxmlformats.org/officeDocument/2006/relationships/image" Target="../media/image6.emf"/><Relationship Id="rId3" Type="http://schemas.openxmlformats.org/officeDocument/2006/relationships/tags" Target="../tags/tag235.xml"/><Relationship Id="rId7" Type="http://schemas.openxmlformats.org/officeDocument/2006/relationships/tags" Target="../tags/tag239.xml"/><Relationship Id="rId12" Type="http://schemas.openxmlformats.org/officeDocument/2006/relationships/notesSlide" Target="../notesSlides/notesSlide25.xml"/><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tags" Target="../tags/tag238.xml"/><Relationship Id="rId11" Type="http://schemas.openxmlformats.org/officeDocument/2006/relationships/slideLayout" Target="../slideLayouts/slideLayout2.xml"/><Relationship Id="rId5" Type="http://schemas.openxmlformats.org/officeDocument/2006/relationships/tags" Target="../tags/tag237.xml"/><Relationship Id="rId10" Type="http://schemas.openxmlformats.org/officeDocument/2006/relationships/tags" Target="../tags/tag242.xml"/><Relationship Id="rId4" Type="http://schemas.openxmlformats.org/officeDocument/2006/relationships/tags" Target="../tags/tag236.xml"/><Relationship Id="rId9" Type="http://schemas.openxmlformats.org/officeDocument/2006/relationships/tags" Target="../tags/tag241.xml"/></Relationships>
</file>

<file path=ppt/slides/_rels/slide26.xml.rels><?xml version="1.0" encoding="UTF-8" standalone="yes"?>
<Relationships xmlns="http://schemas.openxmlformats.org/package/2006/relationships"><Relationship Id="rId8" Type="http://schemas.openxmlformats.org/officeDocument/2006/relationships/tags" Target="../tags/tag250.xml"/><Relationship Id="rId13" Type="http://schemas.openxmlformats.org/officeDocument/2006/relationships/image" Target="../media/image6.emf"/><Relationship Id="rId3" Type="http://schemas.openxmlformats.org/officeDocument/2006/relationships/tags" Target="../tags/tag245.xml"/><Relationship Id="rId7" Type="http://schemas.openxmlformats.org/officeDocument/2006/relationships/tags" Target="../tags/tag249.xml"/><Relationship Id="rId12" Type="http://schemas.openxmlformats.org/officeDocument/2006/relationships/notesSlide" Target="../notesSlides/notesSlide26.xml"/><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tags" Target="../tags/tag248.xml"/><Relationship Id="rId11" Type="http://schemas.openxmlformats.org/officeDocument/2006/relationships/slideLayout" Target="../slideLayouts/slideLayout2.xml"/><Relationship Id="rId5" Type="http://schemas.openxmlformats.org/officeDocument/2006/relationships/tags" Target="../tags/tag247.xml"/><Relationship Id="rId10" Type="http://schemas.openxmlformats.org/officeDocument/2006/relationships/tags" Target="../tags/tag252.xml"/><Relationship Id="rId4" Type="http://schemas.openxmlformats.org/officeDocument/2006/relationships/tags" Target="../tags/tag246.xml"/><Relationship Id="rId9" Type="http://schemas.openxmlformats.org/officeDocument/2006/relationships/tags" Target="../tags/tag251.xml"/></Relationships>
</file>

<file path=ppt/slides/_rels/slide27.xml.rels><?xml version="1.0" encoding="UTF-8" standalone="yes"?>
<Relationships xmlns="http://schemas.openxmlformats.org/package/2006/relationships"><Relationship Id="rId8" Type="http://schemas.openxmlformats.org/officeDocument/2006/relationships/tags" Target="../tags/tag260.xml"/><Relationship Id="rId13" Type="http://schemas.openxmlformats.org/officeDocument/2006/relationships/notesSlide" Target="../notesSlides/notesSlide27.xml"/><Relationship Id="rId3" Type="http://schemas.openxmlformats.org/officeDocument/2006/relationships/tags" Target="../tags/tag255.xml"/><Relationship Id="rId7" Type="http://schemas.openxmlformats.org/officeDocument/2006/relationships/tags" Target="../tags/tag259.xml"/><Relationship Id="rId12" Type="http://schemas.openxmlformats.org/officeDocument/2006/relationships/slideLayout" Target="../slideLayouts/slideLayout2.xml"/><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tags" Target="../tags/tag258.xml"/><Relationship Id="rId11" Type="http://schemas.openxmlformats.org/officeDocument/2006/relationships/tags" Target="../tags/tag263.xml"/><Relationship Id="rId5" Type="http://schemas.openxmlformats.org/officeDocument/2006/relationships/tags" Target="../tags/tag257.xml"/><Relationship Id="rId10" Type="http://schemas.openxmlformats.org/officeDocument/2006/relationships/tags" Target="../tags/tag262.xml"/><Relationship Id="rId4" Type="http://schemas.openxmlformats.org/officeDocument/2006/relationships/tags" Target="../tags/tag256.xml"/><Relationship Id="rId9" Type="http://schemas.openxmlformats.org/officeDocument/2006/relationships/tags" Target="../tags/tag261.xml"/><Relationship Id="rId14" Type="http://schemas.openxmlformats.org/officeDocument/2006/relationships/image" Target="../media/image6.emf"/></Relationships>
</file>

<file path=ppt/slides/_rels/slide28.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266.xml"/><Relationship Id="rId7" Type="http://schemas.openxmlformats.org/officeDocument/2006/relationships/notesSlide" Target="../notesSlides/notesSlide28.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slideLayout" Target="../slideLayouts/slideLayout2.xml"/><Relationship Id="rId5" Type="http://schemas.openxmlformats.org/officeDocument/2006/relationships/tags" Target="../tags/tag268.xml"/><Relationship Id="rId4" Type="http://schemas.openxmlformats.org/officeDocument/2006/relationships/tags" Target="../tags/tag267.xml"/></Relationships>
</file>

<file path=ppt/slides/_rels/slide29.xml.rels><?xml version="1.0" encoding="UTF-8" standalone="yes"?>
<Relationships xmlns="http://schemas.openxmlformats.org/package/2006/relationships"><Relationship Id="rId3" Type="http://schemas.openxmlformats.org/officeDocument/2006/relationships/tags" Target="../tags/tag271.xml"/><Relationship Id="rId7" Type="http://schemas.openxmlformats.org/officeDocument/2006/relationships/image" Target="../media/image5.emf"/><Relationship Id="rId2" Type="http://schemas.openxmlformats.org/officeDocument/2006/relationships/tags" Target="../tags/tag270.xml"/><Relationship Id="rId1" Type="http://schemas.openxmlformats.org/officeDocument/2006/relationships/tags" Target="../tags/tag269.xml"/><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tags" Target="../tags/tag272.xml"/></Relationships>
</file>

<file path=ppt/slides/_rels/slide30.xml.rels><?xml version="1.0" encoding="UTF-8" standalone="yes"?>
<Relationships xmlns="http://schemas.openxmlformats.org/package/2006/relationships"><Relationship Id="rId3" Type="http://schemas.openxmlformats.org/officeDocument/2006/relationships/tags" Target="../tags/tag275.xml"/><Relationship Id="rId7" Type="http://schemas.openxmlformats.org/officeDocument/2006/relationships/notesSlide" Target="../notesSlides/notesSlide30.xml"/><Relationship Id="rId2" Type="http://schemas.openxmlformats.org/officeDocument/2006/relationships/tags" Target="../tags/tag274.xml"/><Relationship Id="rId1" Type="http://schemas.openxmlformats.org/officeDocument/2006/relationships/tags" Target="../tags/tag273.xml"/><Relationship Id="rId6" Type="http://schemas.openxmlformats.org/officeDocument/2006/relationships/slideLayout" Target="../slideLayouts/slideLayout2.xml"/><Relationship Id="rId5" Type="http://schemas.openxmlformats.org/officeDocument/2006/relationships/tags" Target="../tags/tag277.xml"/><Relationship Id="rId4" Type="http://schemas.openxmlformats.org/officeDocument/2006/relationships/tags" Target="../tags/tag276.xml"/></Relationships>
</file>

<file path=ppt/slides/_rels/slide31.xml.rels><?xml version="1.0" encoding="UTF-8" standalone="yes"?>
<Relationships xmlns="http://schemas.openxmlformats.org/package/2006/relationships"><Relationship Id="rId3" Type="http://schemas.openxmlformats.org/officeDocument/2006/relationships/tags" Target="../tags/tag280.xml"/><Relationship Id="rId7" Type="http://schemas.openxmlformats.org/officeDocument/2006/relationships/notesSlide" Target="../notesSlides/notesSlide31.xml"/><Relationship Id="rId2" Type="http://schemas.openxmlformats.org/officeDocument/2006/relationships/tags" Target="../tags/tag279.xml"/><Relationship Id="rId1" Type="http://schemas.openxmlformats.org/officeDocument/2006/relationships/tags" Target="../tags/tag278.xml"/><Relationship Id="rId6" Type="http://schemas.openxmlformats.org/officeDocument/2006/relationships/slideLayout" Target="../slideLayouts/slideLayout2.xml"/><Relationship Id="rId5" Type="http://schemas.openxmlformats.org/officeDocument/2006/relationships/tags" Target="../tags/tag282.xml"/><Relationship Id="rId4" Type="http://schemas.openxmlformats.org/officeDocument/2006/relationships/tags" Target="../tags/tag281.xml"/></Relationships>
</file>

<file path=ppt/slides/_rels/slide32.xml.rels><?xml version="1.0" encoding="UTF-8" standalone="yes"?>
<Relationships xmlns="http://schemas.openxmlformats.org/package/2006/relationships"><Relationship Id="rId8" Type="http://schemas.openxmlformats.org/officeDocument/2006/relationships/tags" Target="../tags/tag290.xml"/><Relationship Id="rId13" Type="http://schemas.openxmlformats.org/officeDocument/2006/relationships/notesSlide" Target="../notesSlides/notesSlide32.xml"/><Relationship Id="rId3" Type="http://schemas.openxmlformats.org/officeDocument/2006/relationships/tags" Target="../tags/tag285.xml"/><Relationship Id="rId7" Type="http://schemas.openxmlformats.org/officeDocument/2006/relationships/tags" Target="../tags/tag289.xml"/><Relationship Id="rId12" Type="http://schemas.openxmlformats.org/officeDocument/2006/relationships/slideLayout" Target="../slideLayouts/slideLayout2.xml"/><Relationship Id="rId2" Type="http://schemas.openxmlformats.org/officeDocument/2006/relationships/tags" Target="../tags/tag284.xml"/><Relationship Id="rId1" Type="http://schemas.openxmlformats.org/officeDocument/2006/relationships/tags" Target="../tags/tag283.xml"/><Relationship Id="rId6" Type="http://schemas.openxmlformats.org/officeDocument/2006/relationships/tags" Target="../tags/tag288.xml"/><Relationship Id="rId11" Type="http://schemas.openxmlformats.org/officeDocument/2006/relationships/tags" Target="../tags/tag293.xml"/><Relationship Id="rId5" Type="http://schemas.openxmlformats.org/officeDocument/2006/relationships/tags" Target="../tags/tag287.xml"/><Relationship Id="rId10" Type="http://schemas.openxmlformats.org/officeDocument/2006/relationships/tags" Target="../tags/tag292.xml"/><Relationship Id="rId4" Type="http://schemas.openxmlformats.org/officeDocument/2006/relationships/tags" Target="../tags/tag286.xml"/><Relationship Id="rId9" Type="http://schemas.openxmlformats.org/officeDocument/2006/relationships/tags" Target="../tags/tag291.xml"/></Relationships>
</file>

<file path=ppt/slides/_rels/slide33.xml.rels><?xml version="1.0" encoding="UTF-8" standalone="yes"?>
<Relationships xmlns="http://schemas.openxmlformats.org/package/2006/relationships"><Relationship Id="rId8" Type="http://schemas.openxmlformats.org/officeDocument/2006/relationships/tags" Target="../tags/tag301.xml"/><Relationship Id="rId3" Type="http://schemas.openxmlformats.org/officeDocument/2006/relationships/tags" Target="../tags/tag296.xml"/><Relationship Id="rId7" Type="http://schemas.openxmlformats.org/officeDocument/2006/relationships/tags" Target="../tags/tag300.xml"/><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11" Type="http://schemas.openxmlformats.org/officeDocument/2006/relationships/image" Target="../media/image4.jpeg"/><Relationship Id="rId5" Type="http://schemas.openxmlformats.org/officeDocument/2006/relationships/tags" Target="../tags/tag298.xml"/><Relationship Id="rId10" Type="http://schemas.openxmlformats.org/officeDocument/2006/relationships/notesSlide" Target="../notesSlides/notesSlide33.xml"/><Relationship Id="rId4" Type="http://schemas.openxmlformats.org/officeDocument/2006/relationships/tags" Target="../tags/tag297.xml"/><Relationship Id="rId9"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tags" Target="../tags/tag309.xml"/><Relationship Id="rId3" Type="http://schemas.openxmlformats.org/officeDocument/2006/relationships/tags" Target="../tags/tag304.xml"/><Relationship Id="rId7" Type="http://schemas.openxmlformats.org/officeDocument/2006/relationships/tags" Target="../tags/tag308.xml"/><Relationship Id="rId12" Type="http://schemas.openxmlformats.org/officeDocument/2006/relationships/image" Target="../media/image4.jpeg"/><Relationship Id="rId2" Type="http://schemas.openxmlformats.org/officeDocument/2006/relationships/tags" Target="../tags/tag303.xml"/><Relationship Id="rId1" Type="http://schemas.openxmlformats.org/officeDocument/2006/relationships/tags" Target="../tags/tag302.xml"/><Relationship Id="rId6" Type="http://schemas.openxmlformats.org/officeDocument/2006/relationships/tags" Target="../tags/tag307.xml"/><Relationship Id="rId11" Type="http://schemas.openxmlformats.org/officeDocument/2006/relationships/notesSlide" Target="../notesSlides/notesSlide34.xml"/><Relationship Id="rId5" Type="http://schemas.openxmlformats.org/officeDocument/2006/relationships/tags" Target="../tags/tag306.xml"/><Relationship Id="rId10" Type="http://schemas.openxmlformats.org/officeDocument/2006/relationships/slideLayout" Target="../slideLayouts/slideLayout2.xml"/><Relationship Id="rId4" Type="http://schemas.openxmlformats.org/officeDocument/2006/relationships/tags" Target="../tags/tag305.xml"/><Relationship Id="rId9" Type="http://schemas.openxmlformats.org/officeDocument/2006/relationships/tags" Target="../tags/tag310.xml"/></Relationships>
</file>

<file path=ppt/slides/_rels/slide35.xml.rels><?xml version="1.0" encoding="UTF-8" standalone="yes"?>
<Relationships xmlns="http://schemas.openxmlformats.org/package/2006/relationships"><Relationship Id="rId8" Type="http://schemas.openxmlformats.org/officeDocument/2006/relationships/tags" Target="../tags/tag318.xml"/><Relationship Id="rId13" Type="http://schemas.openxmlformats.org/officeDocument/2006/relationships/image" Target="../media/image4.jpeg"/><Relationship Id="rId3" Type="http://schemas.openxmlformats.org/officeDocument/2006/relationships/tags" Target="../tags/tag313.xml"/><Relationship Id="rId7" Type="http://schemas.openxmlformats.org/officeDocument/2006/relationships/tags" Target="../tags/tag317.xml"/><Relationship Id="rId12" Type="http://schemas.openxmlformats.org/officeDocument/2006/relationships/notesSlide" Target="../notesSlides/notesSlide35.xml"/><Relationship Id="rId2" Type="http://schemas.openxmlformats.org/officeDocument/2006/relationships/tags" Target="../tags/tag312.xml"/><Relationship Id="rId1" Type="http://schemas.openxmlformats.org/officeDocument/2006/relationships/tags" Target="../tags/tag311.xml"/><Relationship Id="rId6" Type="http://schemas.openxmlformats.org/officeDocument/2006/relationships/tags" Target="../tags/tag316.xml"/><Relationship Id="rId11" Type="http://schemas.openxmlformats.org/officeDocument/2006/relationships/slideLayout" Target="../slideLayouts/slideLayout2.xml"/><Relationship Id="rId5" Type="http://schemas.openxmlformats.org/officeDocument/2006/relationships/tags" Target="../tags/tag315.xml"/><Relationship Id="rId10" Type="http://schemas.openxmlformats.org/officeDocument/2006/relationships/tags" Target="../tags/tag320.xml"/><Relationship Id="rId4" Type="http://schemas.openxmlformats.org/officeDocument/2006/relationships/tags" Target="../tags/tag314.xml"/><Relationship Id="rId9" Type="http://schemas.openxmlformats.org/officeDocument/2006/relationships/tags" Target="../tags/tag319.xml"/></Relationships>
</file>

<file path=ppt/slides/_rels/slide36.xml.rels><?xml version="1.0" encoding="UTF-8" standalone="yes"?>
<Relationships xmlns="http://schemas.openxmlformats.org/package/2006/relationships"><Relationship Id="rId8" Type="http://schemas.openxmlformats.org/officeDocument/2006/relationships/tags" Target="../tags/tag328.xml"/><Relationship Id="rId3" Type="http://schemas.openxmlformats.org/officeDocument/2006/relationships/tags" Target="../tags/tag323.xml"/><Relationship Id="rId7" Type="http://schemas.openxmlformats.org/officeDocument/2006/relationships/tags" Target="../tags/tag327.xml"/><Relationship Id="rId12" Type="http://schemas.openxmlformats.org/officeDocument/2006/relationships/image" Target="../media/image4.jpeg"/><Relationship Id="rId2" Type="http://schemas.openxmlformats.org/officeDocument/2006/relationships/tags" Target="../tags/tag322.xml"/><Relationship Id="rId1" Type="http://schemas.openxmlformats.org/officeDocument/2006/relationships/tags" Target="../tags/tag321.xml"/><Relationship Id="rId6" Type="http://schemas.openxmlformats.org/officeDocument/2006/relationships/tags" Target="../tags/tag326.xml"/><Relationship Id="rId11" Type="http://schemas.openxmlformats.org/officeDocument/2006/relationships/notesSlide" Target="../notesSlides/notesSlide36.xml"/><Relationship Id="rId5" Type="http://schemas.openxmlformats.org/officeDocument/2006/relationships/tags" Target="../tags/tag325.xml"/><Relationship Id="rId10" Type="http://schemas.openxmlformats.org/officeDocument/2006/relationships/slideLayout" Target="../slideLayouts/slideLayout2.xml"/><Relationship Id="rId4" Type="http://schemas.openxmlformats.org/officeDocument/2006/relationships/tags" Target="../tags/tag324.xml"/><Relationship Id="rId9" Type="http://schemas.openxmlformats.org/officeDocument/2006/relationships/tags" Target="../tags/tag329.xml"/></Relationships>
</file>

<file path=ppt/slides/_rels/slide37.xml.rels><?xml version="1.0" encoding="UTF-8" standalone="yes"?>
<Relationships xmlns="http://schemas.openxmlformats.org/package/2006/relationships"><Relationship Id="rId8" Type="http://schemas.openxmlformats.org/officeDocument/2006/relationships/tags" Target="../tags/tag337.xml"/><Relationship Id="rId3" Type="http://schemas.openxmlformats.org/officeDocument/2006/relationships/tags" Target="../tags/tag332.xml"/><Relationship Id="rId7" Type="http://schemas.openxmlformats.org/officeDocument/2006/relationships/tags" Target="../tags/tag336.xml"/><Relationship Id="rId12" Type="http://schemas.openxmlformats.org/officeDocument/2006/relationships/image" Target="../media/image4.jpeg"/><Relationship Id="rId2" Type="http://schemas.openxmlformats.org/officeDocument/2006/relationships/tags" Target="../tags/tag331.xml"/><Relationship Id="rId1" Type="http://schemas.openxmlformats.org/officeDocument/2006/relationships/tags" Target="../tags/tag330.xml"/><Relationship Id="rId6" Type="http://schemas.openxmlformats.org/officeDocument/2006/relationships/tags" Target="../tags/tag335.xml"/><Relationship Id="rId11" Type="http://schemas.openxmlformats.org/officeDocument/2006/relationships/notesSlide" Target="../notesSlides/notesSlide37.xml"/><Relationship Id="rId5" Type="http://schemas.openxmlformats.org/officeDocument/2006/relationships/tags" Target="../tags/tag334.xml"/><Relationship Id="rId10" Type="http://schemas.openxmlformats.org/officeDocument/2006/relationships/slideLayout" Target="../slideLayouts/slideLayout2.xml"/><Relationship Id="rId4" Type="http://schemas.openxmlformats.org/officeDocument/2006/relationships/tags" Target="../tags/tag333.xml"/><Relationship Id="rId9" Type="http://schemas.openxmlformats.org/officeDocument/2006/relationships/tags" Target="../tags/tag338.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41.xml"/><Relationship Id="rId7" Type="http://schemas.openxmlformats.org/officeDocument/2006/relationships/tags" Target="../tags/tag345.xml"/><Relationship Id="rId2" Type="http://schemas.openxmlformats.org/officeDocument/2006/relationships/tags" Target="../tags/tag340.xml"/><Relationship Id="rId1" Type="http://schemas.openxmlformats.org/officeDocument/2006/relationships/tags" Target="../tags/tag339.xml"/><Relationship Id="rId6" Type="http://schemas.openxmlformats.org/officeDocument/2006/relationships/tags" Target="../tags/tag344.xml"/><Relationship Id="rId5" Type="http://schemas.openxmlformats.org/officeDocument/2006/relationships/tags" Target="../tags/tag343.xml"/><Relationship Id="rId10" Type="http://schemas.openxmlformats.org/officeDocument/2006/relationships/image" Target="../media/image4.jpeg"/><Relationship Id="rId4" Type="http://schemas.openxmlformats.org/officeDocument/2006/relationships/tags" Target="../tags/tag342.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8" Type="http://schemas.openxmlformats.org/officeDocument/2006/relationships/tags" Target="../tags/tag353.xml"/><Relationship Id="rId3" Type="http://schemas.openxmlformats.org/officeDocument/2006/relationships/tags" Target="../tags/tag348.xml"/><Relationship Id="rId7" Type="http://schemas.openxmlformats.org/officeDocument/2006/relationships/tags" Target="../tags/tag352.xml"/><Relationship Id="rId12" Type="http://schemas.openxmlformats.org/officeDocument/2006/relationships/image" Target="../media/image5.emf"/><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tags" Target="../tags/tag351.xml"/><Relationship Id="rId11" Type="http://schemas.openxmlformats.org/officeDocument/2006/relationships/notesSlide" Target="../notesSlides/notesSlide39.xml"/><Relationship Id="rId5" Type="http://schemas.openxmlformats.org/officeDocument/2006/relationships/tags" Target="../tags/tag350.xml"/><Relationship Id="rId10" Type="http://schemas.openxmlformats.org/officeDocument/2006/relationships/slideLayout" Target="../slideLayouts/slideLayout2.xml"/><Relationship Id="rId4" Type="http://schemas.openxmlformats.org/officeDocument/2006/relationships/tags" Target="../tags/tag349.xml"/><Relationship Id="rId9" Type="http://schemas.openxmlformats.org/officeDocument/2006/relationships/tags" Target="../tags/tag354.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57.xml"/><Relationship Id="rId7" Type="http://schemas.openxmlformats.org/officeDocument/2006/relationships/tags" Target="../tags/tag361.xml"/><Relationship Id="rId2" Type="http://schemas.openxmlformats.org/officeDocument/2006/relationships/tags" Target="../tags/tag356.xml"/><Relationship Id="rId1" Type="http://schemas.openxmlformats.org/officeDocument/2006/relationships/tags" Target="../tags/tag355.xml"/><Relationship Id="rId6" Type="http://schemas.openxmlformats.org/officeDocument/2006/relationships/tags" Target="../tags/tag360.xml"/><Relationship Id="rId5" Type="http://schemas.openxmlformats.org/officeDocument/2006/relationships/tags" Target="../tags/tag359.xml"/><Relationship Id="rId10" Type="http://schemas.openxmlformats.org/officeDocument/2006/relationships/image" Target="../media/image5.emf"/><Relationship Id="rId4" Type="http://schemas.openxmlformats.org/officeDocument/2006/relationships/tags" Target="../tags/tag358.xml"/><Relationship Id="rId9"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custDataLst>
              <p:tags r:id="rId2"/>
            </p:custDataLst>
          </p:nvPr>
        </p:nvSpPr>
        <p:spPr>
          <a:xfrm>
            <a:off x="457200" y="2362200"/>
            <a:ext cx="8229600" cy="1524000"/>
          </a:xfrm>
        </p:spPr>
        <p:txBody>
          <a:bodyPr/>
          <a:lstStyle/>
          <a:p>
            <a:pPr eaLnBrk="1" hangingPunct="1"/>
            <a:r>
              <a:rPr lang="en-US" altLang="en-US" dirty="0"/>
              <a:t>ECE/CS 552: Data Hazards</a:t>
            </a:r>
          </a:p>
        </p:txBody>
      </p:sp>
      <p:sp>
        <p:nvSpPr>
          <p:cNvPr id="3" name="Subtitle 2"/>
          <p:cNvSpPr>
            <a:spLocks noGrp="1"/>
          </p:cNvSpPr>
          <p:nvPr>
            <p:ph type="subTitle" idx="1"/>
            <p:custDataLst>
              <p:tags r:id="rId3"/>
            </p:custDataLst>
          </p:nvPr>
        </p:nvSpPr>
        <p:spPr>
          <a:xfrm>
            <a:off x="1371600" y="3886200"/>
            <a:ext cx="6400800" cy="1752600"/>
          </a:xfrm>
        </p:spPr>
        <p:txBody>
          <a:bodyPr>
            <a:normAutofit fontScale="62500" lnSpcReduction="20000"/>
          </a:bodyPr>
          <a:lstStyle/>
          <a:p>
            <a:pPr eaLnBrk="1" hangingPunct="1">
              <a:buFont typeface="Arial" charset="0"/>
              <a:buNone/>
              <a:defRPr/>
            </a:pPr>
            <a:r>
              <a:rPr lang="en-US" dirty="0"/>
              <a:t>Boone Severson</a:t>
            </a:r>
          </a:p>
          <a:p>
            <a:pPr eaLnBrk="1" hangingPunct="1">
              <a:buFont typeface="Arial" charset="0"/>
              <a:buNone/>
              <a:defRPr/>
            </a:pPr>
            <a:endParaRPr lang="en-US" dirty="0"/>
          </a:p>
          <a:p>
            <a:pPr eaLnBrk="1" hangingPunct="1">
              <a:buFont typeface="Arial" charset="0"/>
              <a:buNone/>
              <a:defRPr/>
            </a:pPr>
            <a:r>
              <a:rPr lang="en-US" dirty="0"/>
              <a:t>Lecture notes based in part on slides created by Joshua San Miguel, </a:t>
            </a:r>
            <a:r>
              <a:rPr lang="en-US" dirty="0" err="1"/>
              <a:t>Mikko</a:t>
            </a:r>
            <a:r>
              <a:rPr lang="en-US" dirty="0"/>
              <a:t> </a:t>
            </a:r>
            <a:r>
              <a:rPr lang="en-US" dirty="0" err="1"/>
              <a:t>Lipasti</a:t>
            </a:r>
            <a:r>
              <a:rPr lang="en-US" dirty="0"/>
              <a:t>, Mark Hill and John Shen</a:t>
            </a:r>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extLst>
      <p:ext uri="{BB962C8B-B14F-4D97-AF65-F5344CB8AC3E}">
        <p14:creationId xmlns:p14="http://schemas.microsoft.com/office/powerpoint/2010/main" val="239283850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F3EC079-0D35-4DCC-AB2D-C9FA5B872A18}"/>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Pipeline Hazards</a:t>
            </a:r>
          </a:p>
        </p:txBody>
      </p:sp>
      <p:sp>
        <p:nvSpPr>
          <p:cNvPr id="5123" name="Rectangle 3">
            <a:extLst>
              <a:ext uri="{FF2B5EF4-FFF2-40B4-BE49-F238E27FC236}">
                <a16:creationId xmlns:a16="http://schemas.microsoft.com/office/drawing/2014/main" id="{78C3161D-45D1-4098-8CBC-9A7B22935868}"/>
              </a:ext>
            </a:extLst>
          </p:cNvPr>
          <p:cNvSpPr>
            <a:spLocks noGrp="1" noChangeArrowheads="1"/>
          </p:cNvSpPr>
          <p:nvPr>
            <p:ph idx="1"/>
            <p:custDataLst>
              <p:tags r:id="rId3"/>
            </p:custDataLst>
          </p:nvPr>
        </p:nvSpPr>
        <p:spPr>
          <a:xfrm>
            <a:off x="457200" y="1600200"/>
            <a:ext cx="8229600" cy="4525963"/>
          </a:xfrm>
        </p:spPr>
        <p:txBody>
          <a:bodyPr/>
          <a:lstStyle/>
          <a:p>
            <a:pPr eaLnBrk="1" hangingPunct="1">
              <a:lnSpc>
                <a:spcPct val="80000"/>
              </a:lnSpc>
            </a:pPr>
            <a:r>
              <a:rPr lang="en-US" altLang="en-US" dirty="0"/>
              <a:t>Forecast:</a:t>
            </a:r>
          </a:p>
          <a:p>
            <a:pPr lvl="1" eaLnBrk="1" hangingPunct="1">
              <a:lnSpc>
                <a:spcPct val="90000"/>
              </a:lnSpc>
            </a:pPr>
            <a:r>
              <a:rPr lang="en-US" altLang="en-US" dirty="0"/>
              <a:t>Program Data Dependences</a:t>
            </a:r>
          </a:p>
          <a:p>
            <a:pPr lvl="1" eaLnBrk="1" hangingPunct="1">
              <a:lnSpc>
                <a:spcPct val="90000"/>
              </a:lnSpc>
            </a:pPr>
            <a:r>
              <a:rPr lang="en-US" altLang="en-US" dirty="0"/>
              <a:t>Pipeline Data Hazards</a:t>
            </a:r>
          </a:p>
          <a:p>
            <a:pPr lvl="2" eaLnBrk="1" hangingPunct="1">
              <a:lnSpc>
                <a:spcPct val="90000"/>
              </a:lnSpc>
            </a:pPr>
            <a:r>
              <a:rPr lang="en-US" altLang="en-US" dirty="0"/>
              <a:t>Stalls</a:t>
            </a:r>
          </a:p>
          <a:p>
            <a:pPr lvl="2" eaLnBrk="1" hangingPunct="1">
              <a:lnSpc>
                <a:spcPct val="90000"/>
              </a:lnSpc>
            </a:pPr>
            <a:r>
              <a:rPr lang="en-US" altLang="en-US" dirty="0"/>
              <a:t>Forwarding and bypassing</a:t>
            </a:r>
          </a:p>
          <a:p>
            <a:pPr marL="0" indent="0">
              <a:lnSpc>
                <a:spcPct val="80000"/>
              </a:lnSpc>
              <a:buNone/>
            </a:pPr>
            <a:endParaRPr lang="en-US" altLang="en-US" dirty="0"/>
          </a:p>
          <a:p>
            <a:pPr>
              <a:lnSpc>
                <a:spcPct val="80000"/>
              </a:lnSpc>
            </a:pPr>
            <a:r>
              <a:rPr lang="en-US" altLang="en-US" dirty="0"/>
              <a:t>Next lecture:</a:t>
            </a:r>
          </a:p>
          <a:p>
            <a:pPr lvl="1" eaLnBrk="1" hangingPunct="1">
              <a:lnSpc>
                <a:spcPct val="90000"/>
              </a:lnSpc>
            </a:pPr>
            <a:r>
              <a:rPr lang="en-US" altLang="en-US" dirty="0"/>
              <a:t>Program Control Dependences</a:t>
            </a:r>
          </a:p>
          <a:p>
            <a:pPr lvl="1" eaLnBrk="1" hangingPunct="1">
              <a:lnSpc>
                <a:spcPct val="90000"/>
              </a:lnSpc>
            </a:pPr>
            <a:r>
              <a:rPr lang="en-US" altLang="en-US" dirty="0"/>
              <a:t>Pipeline Control Hazards</a:t>
            </a:r>
          </a:p>
          <a:p>
            <a:pPr lvl="1" eaLnBrk="1" hangingPunct="1">
              <a:lnSpc>
                <a:spcPct val="90000"/>
              </a:lnSpc>
            </a:pPr>
            <a:r>
              <a:rPr lang="en-US" altLang="en-US" dirty="0"/>
              <a:t>Exceptions</a:t>
            </a:r>
          </a:p>
        </p:txBody>
      </p:sp>
      <p:sp>
        <p:nvSpPr>
          <p:cNvPr id="2" name="Slide Number Placeholder 1">
            <a:extLst>
              <a:ext uri="{FF2B5EF4-FFF2-40B4-BE49-F238E27FC236}">
                <a16:creationId xmlns:a16="http://schemas.microsoft.com/office/drawing/2014/main" id="{F3402074-F3B2-4C89-8768-68E997FCF064}"/>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7D35A943-3404-41C1-A4FC-3AC4EA9D6BCC}" type="slidenum">
              <a:rPr lang="en-US" altLang="en-US">
                <a:latin typeface="Calibri" panose="020F0502020204030204" pitchFamily="34" charset="0"/>
              </a:rPr>
              <a:pPr lvl="1" eaLnBrk="1" hangingPunct="1"/>
              <a:t>2</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223015058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a:t>Program Data Dependences</a:t>
            </a:r>
          </a:p>
        </p:txBody>
      </p:sp>
      <p:sp>
        <p:nvSpPr>
          <p:cNvPr id="2056" name="Rectangle 3"/>
          <p:cNvSpPr>
            <a:spLocks noGrp="1" noChangeArrowheads="1"/>
          </p:cNvSpPr>
          <p:nvPr>
            <p:ph idx="1"/>
            <p:custDataLst>
              <p:tags r:id="rId3"/>
            </p:custDataLst>
          </p:nvPr>
        </p:nvSpPr>
        <p:spPr>
          <a:xfrm>
            <a:off x="682625" y="1600200"/>
            <a:ext cx="8537575" cy="4495800"/>
          </a:xfrm>
        </p:spPr>
        <p:txBody>
          <a:bodyPr/>
          <a:lstStyle/>
          <a:p>
            <a:pPr>
              <a:lnSpc>
                <a:spcPct val="80000"/>
              </a:lnSpc>
            </a:pPr>
            <a:r>
              <a:rPr lang="en-US" altLang="en-US" sz="2800" dirty="0"/>
              <a:t>True dependence</a:t>
            </a:r>
          </a:p>
          <a:p>
            <a:pPr lvl="1">
              <a:lnSpc>
                <a:spcPct val="90000"/>
              </a:lnSpc>
            </a:pPr>
            <a:r>
              <a:rPr lang="en-US" altLang="en-US" sz="2400" b="1" dirty="0"/>
              <a:t>Read-after-write (RAW): </a:t>
            </a:r>
            <a:r>
              <a:rPr lang="en-US" altLang="en-US" sz="2400" dirty="0"/>
              <a:t>Y reads what X writes</a:t>
            </a:r>
          </a:p>
          <a:p>
            <a:pPr lvl="1">
              <a:lnSpc>
                <a:spcPct val="90000"/>
              </a:lnSpc>
            </a:pPr>
            <a:r>
              <a:rPr lang="en-US" altLang="en-US" sz="2400" dirty="0"/>
              <a:t>Y cannot execute until X produces its result</a:t>
            </a:r>
          </a:p>
          <a:p>
            <a:pPr>
              <a:lnSpc>
                <a:spcPct val="80000"/>
              </a:lnSpc>
            </a:pPr>
            <a:r>
              <a:rPr lang="en-US" altLang="en-US" sz="2800" dirty="0"/>
              <a:t>Anti-dependence</a:t>
            </a:r>
          </a:p>
          <a:p>
            <a:pPr lvl="1">
              <a:lnSpc>
                <a:spcPct val="90000"/>
              </a:lnSpc>
            </a:pPr>
            <a:r>
              <a:rPr lang="en-US" altLang="en-US" sz="2400" b="1" dirty="0"/>
              <a:t>Write-after-read (WAR): </a:t>
            </a:r>
            <a:r>
              <a:rPr lang="en-US" altLang="en-US" sz="2400" dirty="0"/>
              <a:t>Y overwrites what X reads</a:t>
            </a:r>
          </a:p>
          <a:p>
            <a:pPr lvl="1">
              <a:lnSpc>
                <a:spcPct val="90000"/>
              </a:lnSpc>
            </a:pPr>
            <a:r>
              <a:rPr lang="en-US" altLang="en-US" sz="2400" dirty="0"/>
              <a:t>Y cannot write its result until X has read its sources</a:t>
            </a:r>
          </a:p>
          <a:p>
            <a:pPr>
              <a:lnSpc>
                <a:spcPct val="80000"/>
              </a:lnSpc>
            </a:pPr>
            <a:r>
              <a:rPr lang="en-US" altLang="en-US" sz="2800" dirty="0"/>
              <a:t>Output dependence</a:t>
            </a:r>
          </a:p>
          <a:p>
            <a:pPr lvl="1">
              <a:lnSpc>
                <a:spcPct val="90000"/>
              </a:lnSpc>
            </a:pPr>
            <a:r>
              <a:rPr lang="en-US" altLang="en-US" sz="2400" b="1" dirty="0"/>
              <a:t>Write-after-write (WAW): </a:t>
            </a:r>
            <a:r>
              <a:rPr lang="en-US" altLang="en-US" sz="2400" dirty="0"/>
              <a:t>Y overwrites what X writes</a:t>
            </a:r>
          </a:p>
          <a:p>
            <a:pPr lvl="1">
              <a:lnSpc>
                <a:spcPct val="90000"/>
              </a:lnSpc>
            </a:pPr>
            <a:r>
              <a:rPr lang="en-US" altLang="en-US" sz="2400" dirty="0"/>
              <a:t>Y cannot write its result until X has written its result</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a:t>
            </a:fld>
            <a:endParaRPr lang="en-US" altLang="en-US"/>
          </a:p>
        </p:txBody>
      </p:sp>
    </p:spTree>
    <p:custDataLst>
      <p:tags r:id="rId1"/>
    </p:custDataLst>
    <p:extLst>
      <p:ext uri="{BB962C8B-B14F-4D97-AF65-F5344CB8AC3E}">
        <p14:creationId xmlns:p14="http://schemas.microsoft.com/office/powerpoint/2010/main" val="1356496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6">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a:t>Program Data Dependences</a:t>
            </a:r>
          </a:p>
        </p:txBody>
      </p:sp>
      <p:sp>
        <p:nvSpPr>
          <p:cNvPr id="2056" name="Rectangle 3"/>
          <p:cNvSpPr>
            <a:spLocks noGrp="1" noChangeArrowheads="1"/>
          </p:cNvSpPr>
          <p:nvPr>
            <p:ph idx="1"/>
            <p:custDataLst>
              <p:tags r:id="rId3"/>
            </p:custDataLst>
          </p:nvPr>
        </p:nvSpPr>
        <p:spPr>
          <a:xfrm>
            <a:off x="682625" y="3810000"/>
            <a:ext cx="8385175" cy="2514600"/>
          </a:xfrm>
        </p:spPr>
        <p:txBody>
          <a:bodyPr/>
          <a:lstStyle/>
          <a:p>
            <a:pPr>
              <a:lnSpc>
                <a:spcPct val="80000"/>
              </a:lnSpc>
            </a:pPr>
            <a:r>
              <a:rPr lang="en-US" altLang="en-US" dirty="0"/>
              <a:t>e.g., List all RAW register dependences:</a:t>
            </a:r>
          </a:p>
          <a:p>
            <a:pPr lvl="1">
              <a:lnSpc>
                <a:spcPct val="80000"/>
              </a:lnSpc>
            </a:pPr>
            <a:r>
              <a:rPr lang="en-US" altLang="en-US" dirty="0">
                <a:latin typeface="Courier New" panose="02070309020205020404" pitchFamily="49" charset="0"/>
                <a:cs typeface="Courier New" panose="02070309020205020404" pitchFamily="49" charset="0"/>
              </a:rPr>
              <a:t>I1→I2, $s3</a:t>
            </a:r>
          </a:p>
          <a:p>
            <a:pPr lvl="1">
              <a:lnSpc>
                <a:spcPct val="80000"/>
              </a:lnSpc>
            </a:pPr>
            <a:r>
              <a:rPr lang="en-US" altLang="en-US" dirty="0">
                <a:latin typeface="Courier New" panose="02070309020205020404" pitchFamily="49" charset="0"/>
                <a:cs typeface="Courier New" panose="02070309020205020404" pitchFamily="49" charset="0"/>
              </a:rPr>
              <a:t>I2→I3, $s2</a:t>
            </a:r>
          </a:p>
          <a:p>
            <a:pPr lvl="1">
              <a:lnSpc>
                <a:spcPct val="80000"/>
              </a:lnSpc>
            </a:pPr>
            <a:r>
              <a:rPr lang="en-US" altLang="en-US" dirty="0">
                <a:latin typeface="Courier New" panose="02070309020205020404" pitchFamily="49" charset="0"/>
                <a:cs typeface="Courier New" panose="02070309020205020404" pitchFamily="49" charset="0"/>
              </a:rPr>
              <a:t>I2→I4, $s2</a:t>
            </a:r>
          </a:p>
          <a:p>
            <a:pPr lvl="1">
              <a:lnSpc>
                <a:spcPct val="80000"/>
              </a:lnSpc>
            </a:pPr>
            <a:r>
              <a:rPr lang="en-US" altLang="en-US" dirty="0">
                <a:latin typeface="Courier New" panose="02070309020205020404" pitchFamily="49" charset="0"/>
                <a:cs typeface="Courier New" panose="02070309020205020404" pitchFamily="49" charset="0"/>
              </a:rPr>
              <a:t>I3→I4, $s3</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4</a:t>
            </a:fld>
            <a:endParaRPr lang="en-US" altLang="en-US"/>
          </a:p>
        </p:txBody>
      </p:sp>
      <p:graphicFrame>
        <p:nvGraphicFramePr>
          <p:cNvPr id="2" name="Table 1">
            <a:extLst>
              <a:ext uri="{FF2B5EF4-FFF2-40B4-BE49-F238E27FC236}">
                <a16:creationId xmlns:a16="http://schemas.microsoft.com/office/drawing/2014/main" id="{58A2EA5E-7D12-4129-973D-69B4F90E53EB}"/>
              </a:ext>
            </a:extLst>
          </p:cNvPr>
          <p:cNvGraphicFramePr>
            <a:graphicFrameLocks noGrp="1"/>
          </p:cNvGraphicFramePr>
          <p:nvPr>
            <p:custDataLst>
              <p:tags r:id="rId5"/>
            </p:custDataLst>
            <p:extLst>
              <p:ext uri="{D42A27DB-BD31-4B8C-83A1-F6EECF244321}">
                <p14:modId xmlns:p14="http://schemas.microsoft.com/office/powerpoint/2010/main" val="1596040609"/>
              </p:ext>
            </p:extLst>
          </p:nvPr>
        </p:nvGraphicFramePr>
        <p:xfrm>
          <a:off x="1847849" y="1676400"/>
          <a:ext cx="5448302" cy="1828800"/>
        </p:xfrm>
        <a:graphic>
          <a:graphicData uri="http://schemas.openxmlformats.org/drawingml/2006/table">
            <a:tbl>
              <a:tblPr>
                <a:tableStyleId>{5C22544A-7EE6-4342-B048-85BDC9FD1C3A}</a:tableStyleId>
              </a:tblPr>
              <a:tblGrid>
                <a:gridCol w="936427">
                  <a:extLst>
                    <a:ext uri="{9D8B030D-6E8A-4147-A177-3AD203B41FA5}">
                      <a16:colId xmlns:a16="http://schemas.microsoft.com/office/drawing/2014/main" val="3939146616"/>
                    </a:ext>
                  </a:extLst>
                </a:gridCol>
                <a:gridCol w="1152088">
                  <a:extLst>
                    <a:ext uri="{9D8B030D-6E8A-4147-A177-3AD203B41FA5}">
                      <a16:colId xmlns:a16="http://schemas.microsoft.com/office/drawing/2014/main" val="1792789717"/>
                    </a:ext>
                  </a:extLst>
                </a:gridCol>
                <a:gridCol w="3359787">
                  <a:extLst>
                    <a:ext uri="{9D8B030D-6E8A-4147-A177-3AD203B41FA5}">
                      <a16:colId xmlns:a16="http://schemas.microsoft.com/office/drawing/2014/main" val="1784762420"/>
                    </a:ext>
                  </a:extLst>
                </a:gridCol>
              </a:tblGrid>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I0:</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sw</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$s1, 0($s3)</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4133900247"/>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I1:</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add</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$s3, $s1, $s0</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2327756225"/>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I2:</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lw</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$s2, 4($s3)</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893426684"/>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I3:</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lw</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$s3, 0($s2)</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990344489"/>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I4:</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beq</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$s3, $s2, TARGET</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349906750"/>
                  </a:ext>
                </a:extLst>
              </a:tr>
            </a:tbl>
          </a:graphicData>
        </a:graphic>
      </p:graphicFrame>
      <p:grpSp>
        <p:nvGrpSpPr>
          <p:cNvPr id="4" name="Group 3">
            <a:extLst>
              <a:ext uri="{FF2B5EF4-FFF2-40B4-BE49-F238E27FC236}">
                <a16:creationId xmlns:a16="http://schemas.microsoft.com/office/drawing/2014/main" id="{A5840EEE-1F3E-45D8-8E6C-876620FC3483}"/>
              </a:ext>
            </a:extLst>
          </p:cNvPr>
          <p:cNvGrpSpPr/>
          <p:nvPr/>
        </p:nvGrpSpPr>
        <p:grpSpPr>
          <a:xfrm>
            <a:off x="3962400" y="1981200"/>
            <a:ext cx="1981200" cy="838200"/>
            <a:chOff x="3962400" y="1981200"/>
            <a:chExt cx="1981200" cy="838200"/>
          </a:xfrm>
        </p:grpSpPr>
        <p:sp>
          <p:nvSpPr>
            <p:cNvPr id="7" name="Oval 6">
              <a:extLst>
                <a:ext uri="{FF2B5EF4-FFF2-40B4-BE49-F238E27FC236}">
                  <a16:creationId xmlns:a16="http://schemas.microsoft.com/office/drawing/2014/main" id="{D2DFAE6B-5737-4A6D-B7CE-A9302E269AAC}"/>
                </a:ext>
              </a:extLst>
            </p:cNvPr>
            <p:cNvSpPr/>
            <p:nvPr>
              <p:custDataLst>
                <p:tags r:id="rId12"/>
              </p:custDataLst>
            </p:nvPr>
          </p:nvSpPr>
          <p:spPr>
            <a:xfrm>
              <a:off x="5257800" y="2362200"/>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06684B7-DB0A-4ABB-B97F-10BB30364967}"/>
                </a:ext>
              </a:extLst>
            </p:cNvPr>
            <p:cNvSpPr/>
            <p:nvPr>
              <p:custDataLst>
                <p:tags r:id="rId13"/>
              </p:custDataLst>
            </p:nvPr>
          </p:nvSpPr>
          <p:spPr>
            <a:xfrm>
              <a:off x="3962400" y="1981200"/>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1C1ED126-ED71-4C4A-8556-059725D09DF4}"/>
              </a:ext>
            </a:extLst>
          </p:cNvPr>
          <p:cNvGrpSpPr/>
          <p:nvPr/>
        </p:nvGrpSpPr>
        <p:grpSpPr>
          <a:xfrm>
            <a:off x="3962400" y="2362200"/>
            <a:ext cx="1981200" cy="838200"/>
            <a:chOff x="3962400" y="1981200"/>
            <a:chExt cx="1981200" cy="838200"/>
          </a:xfrm>
        </p:grpSpPr>
        <p:sp>
          <p:nvSpPr>
            <p:cNvPr id="11" name="Oval 10">
              <a:extLst>
                <a:ext uri="{FF2B5EF4-FFF2-40B4-BE49-F238E27FC236}">
                  <a16:creationId xmlns:a16="http://schemas.microsoft.com/office/drawing/2014/main" id="{D5A17324-5F72-4D2C-9CF6-19E83A7B4728}"/>
                </a:ext>
              </a:extLst>
            </p:cNvPr>
            <p:cNvSpPr/>
            <p:nvPr>
              <p:custDataLst>
                <p:tags r:id="rId10"/>
              </p:custDataLst>
            </p:nvPr>
          </p:nvSpPr>
          <p:spPr>
            <a:xfrm>
              <a:off x="5257800" y="2362200"/>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944B6B7-CDA8-4E12-A9E0-4B318BD8BCE8}"/>
                </a:ext>
              </a:extLst>
            </p:cNvPr>
            <p:cNvSpPr/>
            <p:nvPr>
              <p:custDataLst>
                <p:tags r:id="rId11"/>
              </p:custDataLst>
            </p:nvPr>
          </p:nvSpPr>
          <p:spPr>
            <a:xfrm>
              <a:off x="3962400" y="1981200"/>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38CA7C36-F31A-460A-8189-6A82AF1FA997}"/>
              </a:ext>
            </a:extLst>
          </p:cNvPr>
          <p:cNvGrpSpPr/>
          <p:nvPr/>
        </p:nvGrpSpPr>
        <p:grpSpPr>
          <a:xfrm>
            <a:off x="3962400" y="2372983"/>
            <a:ext cx="1598612" cy="1182598"/>
            <a:chOff x="3962400" y="1981200"/>
            <a:chExt cx="1598612" cy="1182598"/>
          </a:xfrm>
        </p:grpSpPr>
        <p:sp>
          <p:nvSpPr>
            <p:cNvPr id="14" name="Oval 13">
              <a:extLst>
                <a:ext uri="{FF2B5EF4-FFF2-40B4-BE49-F238E27FC236}">
                  <a16:creationId xmlns:a16="http://schemas.microsoft.com/office/drawing/2014/main" id="{20B7EC7A-B214-4738-AD6E-D015C85AD433}"/>
                </a:ext>
              </a:extLst>
            </p:cNvPr>
            <p:cNvSpPr/>
            <p:nvPr>
              <p:custDataLst>
                <p:tags r:id="rId8"/>
              </p:custDataLst>
            </p:nvPr>
          </p:nvSpPr>
          <p:spPr>
            <a:xfrm>
              <a:off x="4875212" y="2706598"/>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3D49A4B-AB95-4A56-A4AC-46EF88CBD2E1}"/>
                </a:ext>
              </a:extLst>
            </p:cNvPr>
            <p:cNvSpPr/>
            <p:nvPr>
              <p:custDataLst>
                <p:tags r:id="rId9"/>
              </p:custDataLst>
            </p:nvPr>
          </p:nvSpPr>
          <p:spPr>
            <a:xfrm>
              <a:off x="3962400" y="1981200"/>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6AB21242-5E85-43E1-A71F-4A8C2A3BC2FD}"/>
              </a:ext>
            </a:extLst>
          </p:cNvPr>
          <p:cNvGrpSpPr/>
          <p:nvPr/>
        </p:nvGrpSpPr>
        <p:grpSpPr>
          <a:xfrm>
            <a:off x="3962400" y="2717441"/>
            <a:ext cx="685800" cy="824361"/>
            <a:chOff x="3962400" y="1981200"/>
            <a:chExt cx="685800" cy="824361"/>
          </a:xfrm>
        </p:grpSpPr>
        <p:sp>
          <p:nvSpPr>
            <p:cNvPr id="17" name="Oval 16">
              <a:extLst>
                <a:ext uri="{FF2B5EF4-FFF2-40B4-BE49-F238E27FC236}">
                  <a16:creationId xmlns:a16="http://schemas.microsoft.com/office/drawing/2014/main" id="{F369083F-4AC2-4E63-A23C-10F4035A2919}"/>
                </a:ext>
              </a:extLst>
            </p:cNvPr>
            <p:cNvSpPr/>
            <p:nvPr>
              <p:custDataLst>
                <p:tags r:id="rId6"/>
              </p:custDataLst>
            </p:nvPr>
          </p:nvSpPr>
          <p:spPr>
            <a:xfrm>
              <a:off x="3962400" y="2348361"/>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65CB613-4987-4DB8-8314-5E0892AE10E2}"/>
                </a:ext>
              </a:extLst>
            </p:cNvPr>
            <p:cNvSpPr/>
            <p:nvPr>
              <p:custDataLst>
                <p:tags r:id="rId7"/>
              </p:custDataLst>
            </p:nvPr>
          </p:nvSpPr>
          <p:spPr>
            <a:xfrm>
              <a:off x="3962400" y="1981200"/>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17261210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205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05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3"/>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2056">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a:t>Program Data Dependences</a:t>
            </a:r>
          </a:p>
        </p:txBody>
      </p:sp>
      <p:sp>
        <p:nvSpPr>
          <p:cNvPr id="2056" name="Rectangle 3"/>
          <p:cNvSpPr>
            <a:spLocks noGrp="1" noChangeArrowheads="1"/>
          </p:cNvSpPr>
          <p:nvPr>
            <p:ph idx="1"/>
            <p:custDataLst>
              <p:tags r:id="rId3"/>
            </p:custDataLst>
          </p:nvPr>
        </p:nvSpPr>
        <p:spPr>
          <a:xfrm>
            <a:off x="682625" y="3810000"/>
            <a:ext cx="8385175" cy="2514600"/>
          </a:xfrm>
        </p:spPr>
        <p:txBody>
          <a:bodyPr/>
          <a:lstStyle/>
          <a:p>
            <a:pPr>
              <a:lnSpc>
                <a:spcPct val="80000"/>
              </a:lnSpc>
            </a:pPr>
            <a:r>
              <a:rPr lang="en-US" altLang="en-US" dirty="0"/>
              <a:t>e.g., List all WAR register dependences:</a:t>
            </a:r>
          </a:p>
          <a:p>
            <a:pPr lvl="1">
              <a:lnSpc>
                <a:spcPct val="80000"/>
              </a:lnSpc>
            </a:pPr>
            <a:r>
              <a:rPr lang="en-US" altLang="en-US" dirty="0">
                <a:latin typeface="Courier New" panose="02070309020205020404" pitchFamily="49" charset="0"/>
                <a:cs typeface="Courier New" panose="02070309020205020404" pitchFamily="49" charset="0"/>
              </a:rPr>
              <a:t>I0→I1, $s3</a:t>
            </a:r>
          </a:p>
          <a:p>
            <a:pPr lvl="1">
              <a:lnSpc>
                <a:spcPct val="80000"/>
              </a:lnSpc>
            </a:pPr>
            <a:r>
              <a:rPr lang="en-US" altLang="en-US" dirty="0">
                <a:latin typeface="Courier New" panose="02070309020205020404" pitchFamily="49" charset="0"/>
                <a:cs typeface="Courier New" panose="02070309020205020404" pitchFamily="49" charset="0"/>
              </a:rPr>
              <a:t>I0→I3, $s3</a:t>
            </a:r>
          </a:p>
          <a:p>
            <a:pPr lvl="1">
              <a:lnSpc>
                <a:spcPct val="80000"/>
              </a:lnSpc>
            </a:pPr>
            <a:r>
              <a:rPr lang="en-US" altLang="en-US" dirty="0">
                <a:latin typeface="Courier New" panose="02070309020205020404" pitchFamily="49" charset="0"/>
                <a:cs typeface="Courier New" panose="02070309020205020404" pitchFamily="49" charset="0"/>
              </a:rPr>
              <a:t>I2→I3, $s3</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5</a:t>
            </a:fld>
            <a:endParaRPr lang="en-US" altLang="en-US"/>
          </a:p>
        </p:txBody>
      </p:sp>
      <p:graphicFrame>
        <p:nvGraphicFramePr>
          <p:cNvPr id="2" name="Table 1">
            <a:extLst>
              <a:ext uri="{FF2B5EF4-FFF2-40B4-BE49-F238E27FC236}">
                <a16:creationId xmlns:a16="http://schemas.microsoft.com/office/drawing/2014/main" id="{58A2EA5E-7D12-4129-973D-69B4F90E53EB}"/>
              </a:ext>
            </a:extLst>
          </p:cNvPr>
          <p:cNvGraphicFramePr>
            <a:graphicFrameLocks noGrp="1"/>
          </p:cNvGraphicFramePr>
          <p:nvPr>
            <p:custDataLst>
              <p:tags r:id="rId5"/>
            </p:custDataLst>
          </p:nvPr>
        </p:nvGraphicFramePr>
        <p:xfrm>
          <a:off x="1847849" y="1676400"/>
          <a:ext cx="5448302" cy="1828800"/>
        </p:xfrm>
        <a:graphic>
          <a:graphicData uri="http://schemas.openxmlformats.org/drawingml/2006/table">
            <a:tbl>
              <a:tblPr>
                <a:tableStyleId>{5C22544A-7EE6-4342-B048-85BDC9FD1C3A}</a:tableStyleId>
              </a:tblPr>
              <a:tblGrid>
                <a:gridCol w="936427">
                  <a:extLst>
                    <a:ext uri="{9D8B030D-6E8A-4147-A177-3AD203B41FA5}">
                      <a16:colId xmlns:a16="http://schemas.microsoft.com/office/drawing/2014/main" val="3939146616"/>
                    </a:ext>
                  </a:extLst>
                </a:gridCol>
                <a:gridCol w="1152088">
                  <a:extLst>
                    <a:ext uri="{9D8B030D-6E8A-4147-A177-3AD203B41FA5}">
                      <a16:colId xmlns:a16="http://schemas.microsoft.com/office/drawing/2014/main" val="1792789717"/>
                    </a:ext>
                  </a:extLst>
                </a:gridCol>
                <a:gridCol w="3359787">
                  <a:extLst>
                    <a:ext uri="{9D8B030D-6E8A-4147-A177-3AD203B41FA5}">
                      <a16:colId xmlns:a16="http://schemas.microsoft.com/office/drawing/2014/main" val="1784762420"/>
                    </a:ext>
                  </a:extLst>
                </a:gridCol>
              </a:tblGrid>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I0:</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sw</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$s1, 0($s3)</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4133900247"/>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I1:</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add</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$s3, $s1, $s0</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2327756225"/>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I2:</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lw</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$s2, 4($s3)</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893426684"/>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I3:</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lw</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$s3, 0($s2)</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990344489"/>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I4:</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beq</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$s3, $s2, TARGET</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349906750"/>
                  </a:ext>
                </a:extLst>
              </a:tr>
            </a:tbl>
          </a:graphicData>
        </a:graphic>
      </p:graphicFrame>
      <p:grpSp>
        <p:nvGrpSpPr>
          <p:cNvPr id="4" name="Group 3">
            <a:extLst>
              <a:ext uri="{FF2B5EF4-FFF2-40B4-BE49-F238E27FC236}">
                <a16:creationId xmlns:a16="http://schemas.microsoft.com/office/drawing/2014/main" id="{A5840EEE-1F3E-45D8-8E6C-876620FC3483}"/>
              </a:ext>
            </a:extLst>
          </p:cNvPr>
          <p:cNvGrpSpPr/>
          <p:nvPr/>
        </p:nvGrpSpPr>
        <p:grpSpPr>
          <a:xfrm>
            <a:off x="3962400" y="1626019"/>
            <a:ext cx="1981200" cy="812381"/>
            <a:chOff x="3962400" y="1626019"/>
            <a:chExt cx="1981200" cy="812381"/>
          </a:xfrm>
        </p:grpSpPr>
        <p:sp>
          <p:nvSpPr>
            <p:cNvPr id="7" name="Oval 6">
              <a:extLst>
                <a:ext uri="{FF2B5EF4-FFF2-40B4-BE49-F238E27FC236}">
                  <a16:creationId xmlns:a16="http://schemas.microsoft.com/office/drawing/2014/main" id="{D2DFAE6B-5737-4A6D-B7CE-A9302E269AAC}"/>
                </a:ext>
              </a:extLst>
            </p:cNvPr>
            <p:cNvSpPr/>
            <p:nvPr>
              <p:custDataLst>
                <p:tags r:id="rId10"/>
              </p:custDataLst>
            </p:nvPr>
          </p:nvSpPr>
          <p:spPr>
            <a:xfrm>
              <a:off x="5257800" y="1626019"/>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06684B7-DB0A-4ABB-B97F-10BB30364967}"/>
                </a:ext>
              </a:extLst>
            </p:cNvPr>
            <p:cNvSpPr/>
            <p:nvPr>
              <p:custDataLst>
                <p:tags r:id="rId11"/>
              </p:custDataLst>
            </p:nvPr>
          </p:nvSpPr>
          <p:spPr>
            <a:xfrm>
              <a:off x="3962400" y="1981200"/>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1C1ED126-ED71-4C4A-8556-059725D09DF4}"/>
              </a:ext>
            </a:extLst>
          </p:cNvPr>
          <p:cNvGrpSpPr/>
          <p:nvPr/>
        </p:nvGrpSpPr>
        <p:grpSpPr>
          <a:xfrm>
            <a:off x="3962400" y="1600200"/>
            <a:ext cx="1981200" cy="1585134"/>
            <a:chOff x="3962400" y="2362200"/>
            <a:chExt cx="1981200" cy="1585134"/>
          </a:xfrm>
        </p:grpSpPr>
        <p:sp>
          <p:nvSpPr>
            <p:cNvPr id="11" name="Oval 10">
              <a:extLst>
                <a:ext uri="{FF2B5EF4-FFF2-40B4-BE49-F238E27FC236}">
                  <a16:creationId xmlns:a16="http://schemas.microsoft.com/office/drawing/2014/main" id="{D5A17324-5F72-4D2C-9CF6-19E83A7B4728}"/>
                </a:ext>
              </a:extLst>
            </p:cNvPr>
            <p:cNvSpPr/>
            <p:nvPr>
              <p:custDataLst>
                <p:tags r:id="rId8"/>
              </p:custDataLst>
            </p:nvPr>
          </p:nvSpPr>
          <p:spPr>
            <a:xfrm>
              <a:off x="5257800" y="2362200"/>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944B6B7-CDA8-4E12-A9E0-4B318BD8BCE8}"/>
                </a:ext>
              </a:extLst>
            </p:cNvPr>
            <p:cNvSpPr/>
            <p:nvPr>
              <p:custDataLst>
                <p:tags r:id="rId9"/>
              </p:custDataLst>
            </p:nvPr>
          </p:nvSpPr>
          <p:spPr>
            <a:xfrm>
              <a:off x="3962400" y="3490134"/>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38CA7C36-F31A-460A-8189-6A82AF1FA997}"/>
              </a:ext>
            </a:extLst>
          </p:cNvPr>
          <p:cNvGrpSpPr/>
          <p:nvPr/>
        </p:nvGrpSpPr>
        <p:grpSpPr>
          <a:xfrm>
            <a:off x="3946585" y="2372983"/>
            <a:ext cx="1997015" cy="812351"/>
            <a:chOff x="3946585" y="1981200"/>
            <a:chExt cx="1997015" cy="812351"/>
          </a:xfrm>
        </p:grpSpPr>
        <p:sp>
          <p:nvSpPr>
            <p:cNvPr id="14" name="Oval 13">
              <a:extLst>
                <a:ext uri="{FF2B5EF4-FFF2-40B4-BE49-F238E27FC236}">
                  <a16:creationId xmlns:a16="http://schemas.microsoft.com/office/drawing/2014/main" id="{20B7EC7A-B214-4738-AD6E-D015C85AD433}"/>
                </a:ext>
              </a:extLst>
            </p:cNvPr>
            <p:cNvSpPr/>
            <p:nvPr>
              <p:custDataLst>
                <p:tags r:id="rId6"/>
              </p:custDataLst>
            </p:nvPr>
          </p:nvSpPr>
          <p:spPr>
            <a:xfrm>
              <a:off x="5257800" y="1981200"/>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3D49A4B-AB95-4A56-A4AC-46EF88CBD2E1}"/>
                </a:ext>
              </a:extLst>
            </p:cNvPr>
            <p:cNvSpPr/>
            <p:nvPr>
              <p:custDataLst>
                <p:tags r:id="rId7"/>
              </p:custDataLst>
            </p:nvPr>
          </p:nvSpPr>
          <p:spPr>
            <a:xfrm>
              <a:off x="3946585" y="2336351"/>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10776103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205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05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a:t>Program Data Dependences</a:t>
            </a:r>
          </a:p>
        </p:txBody>
      </p:sp>
      <p:sp>
        <p:nvSpPr>
          <p:cNvPr id="2056" name="Rectangle 3"/>
          <p:cNvSpPr>
            <a:spLocks noGrp="1" noChangeArrowheads="1"/>
          </p:cNvSpPr>
          <p:nvPr>
            <p:ph idx="1"/>
            <p:custDataLst>
              <p:tags r:id="rId3"/>
            </p:custDataLst>
          </p:nvPr>
        </p:nvSpPr>
        <p:spPr>
          <a:xfrm>
            <a:off x="682625" y="3810000"/>
            <a:ext cx="8385175" cy="2514600"/>
          </a:xfrm>
        </p:spPr>
        <p:txBody>
          <a:bodyPr/>
          <a:lstStyle/>
          <a:p>
            <a:pPr>
              <a:lnSpc>
                <a:spcPct val="80000"/>
              </a:lnSpc>
            </a:pPr>
            <a:r>
              <a:rPr lang="en-US" altLang="en-US" dirty="0"/>
              <a:t>e.g., List all WAW register dependences:</a:t>
            </a:r>
          </a:p>
          <a:p>
            <a:pPr lvl="1">
              <a:lnSpc>
                <a:spcPct val="80000"/>
              </a:lnSpc>
            </a:pPr>
            <a:r>
              <a:rPr lang="en-US" altLang="en-US" dirty="0">
                <a:latin typeface="Courier New" panose="02070309020205020404" pitchFamily="49" charset="0"/>
                <a:cs typeface="Courier New" panose="02070309020205020404" pitchFamily="49" charset="0"/>
              </a:rPr>
              <a:t>I1→I3, $s3</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6</a:t>
            </a:fld>
            <a:endParaRPr lang="en-US" altLang="en-US"/>
          </a:p>
        </p:txBody>
      </p:sp>
      <p:graphicFrame>
        <p:nvGraphicFramePr>
          <p:cNvPr id="2" name="Table 1">
            <a:extLst>
              <a:ext uri="{FF2B5EF4-FFF2-40B4-BE49-F238E27FC236}">
                <a16:creationId xmlns:a16="http://schemas.microsoft.com/office/drawing/2014/main" id="{58A2EA5E-7D12-4129-973D-69B4F90E53EB}"/>
              </a:ext>
            </a:extLst>
          </p:cNvPr>
          <p:cNvGraphicFramePr>
            <a:graphicFrameLocks noGrp="1"/>
          </p:cNvGraphicFramePr>
          <p:nvPr>
            <p:custDataLst>
              <p:tags r:id="rId5"/>
            </p:custDataLst>
          </p:nvPr>
        </p:nvGraphicFramePr>
        <p:xfrm>
          <a:off x="1847849" y="1676400"/>
          <a:ext cx="5448302" cy="1828800"/>
        </p:xfrm>
        <a:graphic>
          <a:graphicData uri="http://schemas.openxmlformats.org/drawingml/2006/table">
            <a:tbl>
              <a:tblPr>
                <a:tableStyleId>{5C22544A-7EE6-4342-B048-85BDC9FD1C3A}</a:tableStyleId>
              </a:tblPr>
              <a:tblGrid>
                <a:gridCol w="936427">
                  <a:extLst>
                    <a:ext uri="{9D8B030D-6E8A-4147-A177-3AD203B41FA5}">
                      <a16:colId xmlns:a16="http://schemas.microsoft.com/office/drawing/2014/main" val="3939146616"/>
                    </a:ext>
                  </a:extLst>
                </a:gridCol>
                <a:gridCol w="1152088">
                  <a:extLst>
                    <a:ext uri="{9D8B030D-6E8A-4147-A177-3AD203B41FA5}">
                      <a16:colId xmlns:a16="http://schemas.microsoft.com/office/drawing/2014/main" val="1792789717"/>
                    </a:ext>
                  </a:extLst>
                </a:gridCol>
                <a:gridCol w="3359787">
                  <a:extLst>
                    <a:ext uri="{9D8B030D-6E8A-4147-A177-3AD203B41FA5}">
                      <a16:colId xmlns:a16="http://schemas.microsoft.com/office/drawing/2014/main" val="1784762420"/>
                    </a:ext>
                  </a:extLst>
                </a:gridCol>
              </a:tblGrid>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I0:</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sw</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$s1, 0($s3)</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4133900247"/>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I1:</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add</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$s3, $s1, $s0</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2327756225"/>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I2:</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lw</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$s2, 4($s3)</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893426684"/>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I3:</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lw</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$s3, 0($s2)</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990344489"/>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I4:</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beq</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$s3, $s2, TARGET</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349906750"/>
                  </a:ext>
                </a:extLst>
              </a:tr>
            </a:tbl>
          </a:graphicData>
        </a:graphic>
      </p:graphicFrame>
      <p:grpSp>
        <p:nvGrpSpPr>
          <p:cNvPr id="4" name="Group 3">
            <a:extLst>
              <a:ext uri="{FF2B5EF4-FFF2-40B4-BE49-F238E27FC236}">
                <a16:creationId xmlns:a16="http://schemas.microsoft.com/office/drawing/2014/main" id="{A5840EEE-1F3E-45D8-8E6C-876620FC3483}"/>
              </a:ext>
            </a:extLst>
          </p:cNvPr>
          <p:cNvGrpSpPr/>
          <p:nvPr/>
        </p:nvGrpSpPr>
        <p:grpSpPr>
          <a:xfrm>
            <a:off x="3962400" y="2001419"/>
            <a:ext cx="685800" cy="1173162"/>
            <a:chOff x="3962400" y="1265238"/>
            <a:chExt cx="685800" cy="1173162"/>
          </a:xfrm>
        </p:grpSpPr>
        <p:sp>
          <p:nvSpPr>
            <p:cNvPr id="7" name="Oval 6">
              <a:extLst>
                <a:ext uri="{FF2B5EF4-FFF2-40B4-BE49-F238E27FC236}">
                  <a16:creationId xmlns:a16="http://schemas.microsoft.com/office/drawing/2014/main" id="{D2DFAE6B-5737-4A6D-B7CE-A9302E269AAC}"/>
                </a:ext>
              </a:extLst>
            </p:cNvPr>
            <p:cNvSpPr/>
            <p:nvPr>
              <p:custDataLst>
                <p:tags r:id="rId6"/>
              </p:custDataLst>
            </p:nvPr>
          </p:nvSpPr>
          <p:spPr>
            <a:xfrm>
              <a:off x="3962400" y="1265238"/>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06684B7-DB0A-4ABB-B97F-10BB30364967}"/>
                </a:ext>
              </a:extLst>
            </p:cNvPr>
            <p:cNvSpPr/>
            <p:nvPr>
              <p:custDataLst>
                <p:tags r:id="rId7"/>
              </p:custDataLst>
            </p:nvPr>
          </p:nvSpPr>
          <p:spPr>
            <a:xfrm>
              <a:off x="3962400" y="1981200"/>
              <a:ext cx="6858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5628344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Pipeline Data Hazards</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229600" cy="4525963"/>
          </a:xfrm>
        </p:spPr>
        <p:txBody>
          <a:bodyPr/>
          <a:lstStyle/>
          <a:p>
            <a:pPr eaLnBrk="1" hangingPunct="1"/>
            <a:r>
              <a:rPr lang="en-US" altLang="en-US" sz="2800" dirty="0"/>
              <a:t>What are pipeline hazards?</a:t>
            </a:r>
          </a:p>
          <a:p>
            <a:pPr lvl="1" eaLnBrk="1" hangingPunct="1"/>
            <a:r>
              <a:rPr lang="en-US" altLang="en-US" sz="2400" dirty="0"/>
              <a:t>Potential violations of program dependences</a:t>
            </a:r>
          </a:p>
          <a:p>
            <a:pPr lvl="1" eaLnBrk="1" hangingPunct="1"/>
            <a:r>
              <a:rPr lang="en-US" altLang="en-US" sz="2400" dirty="0"/>
              <a:t>Must ensure program dependences are not violated</a:t>
            </a:r>
          </a:p>
          <a:p>
            <a:pPr eaLnBrk="1" hangingPunct="1"/>
            <a:endParaRPr lang="en-US" altLang="en-US" sz="2800" dirty="0"/>
          </a:p>
          <a:p>
            <a:pPr eaLnBrk="1" hangingPunct="1"/>
            <a:r>
              <a:rPr lang="en-US" altLang="en-US" sz="2800" dirty="0"/>
              <a:t>How to resolve?</a:t>
            </a:r>
          </a:p>
          <a:p>
            <a:pPr lvl="1" eaLnBrk="1" hangingPunct="1"/>
            <a:r>
              <a:rPr lang="en-US" altLang="en-US" sz="2400" dirty="0"/>
              <a:t>Static: compiler/programmer guarantees correctness</a:t>
            </a:r>
          </a:p>
          <a:p>
            <a:pPr lvl="1" eaLnBrk="1" hangingPunct="1"/>
            <a:r>
              <a:rPr lang="en-US" altLang="en-US" sz="2400" dirty="0"/>
              <a:t>Dynamic: processor hardware checks at runtime</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7</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158013365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Pipeline Data Hazards</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458200" cy="5121275"/>
          </a:xfrm>
        </p:spPr>
        <p:txBody>
          <a:bodyPr/>
          <a:lstStyle/>
          <a:p>
            <a:pPr eaLnBrk="1" hangingPunct="1"/>
            <a:r>
              <a:rPr lang="en-US" altLang="en-US" sz="2800" dirty="0"/>
              <a:t>Which data hazards are possible in IF-ID-EX-MEM-WB pipeline?</a:t>
            </a:r>
          </a:p>
          <a:p>
            <a:pPr lvl="1" eaLnBrk="1" hangingPunct="1"/>
            <a:r>
              <a:rPr lang="en-US" altLang="en-US" sz="2400" dirty="0"/>
              <a:t>Multiple instructions in-flight at the same time</a:t>
            </a:r>
          </a:p>
          <a:p>
            <a:pPr lvl="1" eaLnBrk="1" hangingPunct="1"/>
            <a:r>
              <a:rPr lang="en-US" altLang="en-US" sz="2400" b="1" dirty="0"/>
              <a:t>Can a RAW register dependence be a hazard?</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8</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35250034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D492E841-F6B3-4B4A-A8F2-94C0016ECD75}"/>
              </a:ext>
            </a:extLst>
          </p:cNvPr>
          <p:cNvSpPr txBox="1">
            <a:spLocks noChangeArrowheads="1"/>
          </p:cNvSpPr>
          <p:nvPr>
            <p:custDataLst>
              <p:tags r:id="rId2"/>
            </p:custDataLst>
          </p:nvPr>
        </p:nvSpPr>
        <p:spPr bwMode="auto">
          <a:xfrm>
            <a:off x="457200" y="1600200"/>
            <a:ext cx="8458200" cy="512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800" dirty="0"/>
              <a:t>e.g., RAW register data dependence:</a:t>
            </a:r>
          </a:p>
          <a:p>
            <a:pPr lvl="1"/>
            <a:r>
              <a:rPr lang="en-US" altLang="en-US" sz="2400" dirty="0"/>
              <a:t>Hazard: when sub is reading [$1] in ID stage, add is still in EX stage and has not written the new value of [$1] to the register file yet</a:t>
            </a:r>
          </a:p>
        </p:txBody>
      </p:sp>
      <p:sp>
        <p:nvSpPr>
          <p:cNvPr id="45062"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Pipeline Data Hazards</a:t>
            </a:r>
          </a:p>
        </p:txBody>
      </p:sp>
      <p:sp>
        <p:nvSpPr>
          <p:cNvPr id="45058" name="Rectangle 3"/>
          <p:cNvSpPr>
            <a:spLocks noGrp="1" noChangeArrowheads="1"/>
          </p:cNvSpPr>
          <p:nvPr>
            <p:ph idx="1"/>
            <p:custDataLst>
              <p:tags r:id="rId4"/>
            </p:custDataLst>
          </p:nvPr>
        </p:nvSpPr>
        <p:spPr>
          <a:xfrm>
            <a:off x="682625" y="3657600"/>
            <a:ext cx="7772400" cy="2133600"/>
          </a:xfrm>
        </p:spPr>
        <p:txBody>
          <a:bodyPr/>
          <a:lstStyle/>
          <a:p>
            <a:pPr marL="457200" lvl="1" indent="0">
              <a:lnSpc>
                <a:spcPct val="90000"/>
              </a:lnSpc>
              <a:buNone/>
            </a:pPr>
            <a:r>
              <a:rPr lang="en-US" altLang="en-US" sz="2400" dirty="0"/>
              <a:t>add $1, $2, $3</a:t>
            </a:r>
          </a:p>
          <a:p>
            <a:pPr marL="457200" lvl="1" indent="0">
              <a:lnSpc>
                <a:spcPct val="90000"/>
              </a:lnSpc>
              <a:buNone/>
            </a:pPr>
            <a:r>
              <a:rPr lang="en-US" altLang="en-US" sz="2400" dirty="0"/>
              <a:t>sub $4, $5, $1</a:t>
            </a:r>
          </a:p>
          <a:p>
            <a:pPr marL="457200" lvl="1" indent="0">
              <a:lnSpc>
                <a:spcPct val="90000"/>
              </a:lnSpc>
              <a:buNone/>
            </a:pPr>
            <a:endParaRPr lang="en-US" altLang="en-US" sz="2400" dirty="0"/>
          </a:p>
          <a:p>
            <a:pPr marL="457200" lvl="1" indent="0">
              <a:lnSpc>
                <a:spcPct val="90000"/>
              </a:lnSpc>
              <a:buNone/>
            </a:pPr>
            <a:endParaRPr lang="en-US" altLang="en-US" sz="2400" dirty="0"/>
          </a:p>
        </p:txBody>
      </p:sp>
      <p:sp>
        <p:nvSpPr>
          <p:cNvPr id="45061" name="Slide Number Placeholder 5"/>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9</a:t>
            </a:fld>
            <a:endParaRPr lang="en-US" altLang="en-US"/>
          </a:p>
        </p:txBody>
      </p:sp>
      <p:sp>
        <p:nvSpPr>
          <p:cNvPr id="45059" name="Line 66"/>
          <p:cNvSpPr>
            <a:spLocks noChangeShapeType="1"/>
          </p:cNvSpPr>
          <p:nvPr>
            <p:custDataLst>
              <p:tags r:id="rId6"/>
            </p:custDataLst>
          </p:nvPr>
        </p:nvSpPr>
        <p:spPr bwMode="auto">
          <a:xfrm>
            <a:off x="2057400" y="3886200"/>
            <a:ext cx="685800" cy="304800"/>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83300" name="Group 4"/>
          <p:cNvGraphicFramePr>
            <a:graphicFrameLocks noGrp="1"/>
          </p:cNvGraphicFramePr>
          <p:nvPr>
            <p:custDataLst>
              <p:tags r:id="rId7"/>
            </p:custDataLst>
            <p:extLst>
              <p:ext uri="{D42A27DB-BD31-4B8C-83A1-F6EECF244321}">
                <p14:modId xmlns:p14="http://schemas.microsoft.com/office/powerpoint/2010/main" val="1349676755"/>
              </p:ext>
            </p:extLst>
          </p:nvPr>
        </p:nvGraphicFramePr>
        <p:xfrm>
          <a:off x="838200" y="4840260"/>
          <a:ext cx="7034213" cy="140814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               Cycle</a:t>
                      </a:r>
                      <a:br>
                        <a:rPr kumimoji="0" lang="en-US" sz="1200" b="1" i="0" u="none" strike="noStrike" cap="none" normalizeH="0" baseline="0" dirty="0">
                          <a:ln>
                            <a:noFill/>
                          </a:ln>
                          <a:solidFill>
                            <a:schemeClr val="tx1"/>
                          </a:solidFill>
                          <a:effectLst/>
                          <a:latin typeface="Times New Roman" pitchFamily="18" charset="0"/>
                        </a:rPr>
                      </a:br>
                      <a:r>
                        <a:rPr kumimoji="0" lang="en-US" sz="1200" b="1" i="0" u="none" strike="noStrike" cap="none" normalizeH="0" baseline="0" dirty="0" err="1">
                          <a:ln>
                            <a:noFill/>
                          </a:ln>
                          <a:solidFill>
                            <a:schemeClr val="tx1"/>
                          </a:solidFill>
                          <a:effectLst/>
                          <a:latin typeface="Times New Roman" pitchFamily="18" charset="0"/>
                        </a:rPr>
                        <a:t>Instns</a:t>
                      </a:r>
                      <a:endParaRPr kumimoji="0" lang="en-US" sz="1200" b="1"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pitchFamily="18" charset="0"/>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pitchFamily="18" charset="0"/>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Times New Roman"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5125" name="Line 67"/>
          <p:cNvSpPr>
            <a:spLocks noChangeShapeType="1"/>
          </p:cNvSpPr>
          <p:nvPr>
            <p:custDataLst>
              <p:tags r:id="rId8"/>
            </p:custDataLst>
          </p:nvPr>
        </p:nvSpPr>
        <p:spPr bwMode="auto">
          <a:xfrm flipH="1">
            <a:off x="3200400" y="5602260"/>
            <a:ext cx="685800" cy="381000"/>
          </a:xfrm>
          <a:prstGeom prst="line">
            <a:avLst/>
          </a:prstGeom>
          <a:noFill/>
          <a:ln w="76200">
            <a:solidFill>
              <a:schemeClr val="accent6">
                <a:lumMod val="75000"/>
              </a:schemeClr>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32589894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1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Pipeline Data Hazards</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458200" cy="5121275"/>
          </a:xfrm>
        </p:spPr>
        <p:txBody>
          <a:bodyPr/>
          <a:lstStyle/>
          <a:p>
            <a:pPr eaLnBrk="1" hangingPunct="1"/>
            <a:r>
              <a:rPr lang="en-US" altLang="en-US" sz="2800" dirty="0"/>
              <a:t>Which data hazards are possible in IF-ID-EX-MEM-WB pipeline?</a:t>
            </a:r>
          </a:p>
          <a:p>
            <a:pPr lvl="1" eaLnBrk="1" hangingPunct="1"/>
            <a:r>
              <a:rPr lang="en-US" altLang="en-US" sz="2400" dirty="0"/>
              <a:t>Multiple instructions in-flight at the same time</a:t>
            </a:r>
          </a:p>
          <a:p>
            <a:pPr lvl="1" eaLnBrk="1" hangingPunct="1"/>
            <a:r>
              <a:rPr lang="en-US" altLang="en-US" sz="2400" dirty="0"/>
              <a:t>Can a RAW register dependence be a hazard?</a:t>
            </a:r>
          </a:p>
          <a:p>
            <a:pPr lvl="2"/>
            <a:r>
              <a:rPr lang="en-US" altLang="en-US" sz="2000" dirty="0"/>
              <a:t>Yes</a:t>
            </a:r>
          </a:p>
          <a:p>
            <a:pPr lvl="1"/>
            <a:r>
              <a:rPr lang="en-US" altLang="en-US" sz="2400" b="1" dirty="0"/>
              <a:t>Can a WAR register dependence be a hazard?</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10</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289648929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3300" name="Group 4"/>
          <p:cNvGraphicFramePr>
            <a:graphicFrameLocks noGrp="1"/>
          </p:cNvGraphicFramePr>
          <p:nvPr>
            <p:custDataLst>
              <p:tags r:id="rId2"/>
            </p:custDataLst>
            <p:extLst>
              <p:ext uri="{D42A27DB-BD31-4B8C-83A1-F6EECF244321}">
                <p14:modId xmlns:p14="http://schemas.microsoft.com/office/powerpoint/2010/main" val="1916003765"/>
              </p:ext>
            </p:extLst>
          </p:nvPr>
        </p:nvGraphicFramePr>
        <p:xfrm>
          <a:off x="838200" y="4840260"/>
          <a:ext cx="7034213" cy="140814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Rectangle 3">
            <a:extLst>
              <a:ext uri="{FF2B5EF4-FFF2-40B4-BE49-F238E27FC236}">
                <a16:creationId xmlns:a16="http://schemas.microsoft.com/office/drawing/2014/main" id="{D492E841-F6B3-4B4A-A8F2-94C0016ECD75}"/>
              </a:ext>
            </a:extLst>
          </p:cNvPr>
          <p:cNvSpPr txBox="1">
            <a:spLocks noChangeArrowheads="1"/>
          </p:cNvSpPr>
          <p:nvPr>
            <p:custDataLst>
              <p:tags r:id="rId3"/>
            </p:custDataLst>
          </p:nvPr>
        </p:nvSpPr>
        <p:spPr bwMode="auto">
          <a:xfrm>
            <a:off x="457200" y="1600201"/>
            <a:ext cx="8458200" cy="3132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800" dirty="0"/>
              <a:t>e.g., WAR register data dependence:</a:t>
            </a:r>
          </a:p>
          <a:p>
            <a:pPr lvl="1"/>
            <a:r>
              <a:rPr lang="en-US" altLang="en-US" sz="2400" dirty="0"/>
              <a:t>Not a hazard: every instruction performs WB after ID, so a later instruction will never write a register (WB) before an earlier instruction’s read (ID)</a:t>
            </a:r>
          </a:p>
        </p:txBody>
      </p:sp>
      <p:sp>
        <p:nvSpPr>
          <p:cNvPr id="45062" name="Rectangle 2"/>
          <p:cNvSpPr>
            <a:spLocks noGrp="1" noChangeArrowheads="1"/>
          </p:cNvSpPr>
          <p:nvPr>
            <p:ph type="title"/>
            <p:custDataLst>
              <p:tags r:id="rId4"/>
            </p:custDataLst>
          </p:nvPr>
        </p:nvSpPr>
        <p:spPr>
          <a:xfrm>
            <a:off x="457200" y="274638"/>
            <a:ext cx="7467600" cy="1143000"/>
          </a:xfrm>
        </p:spPr>
        <p:txBody>
          <a:bodyPr/>
          <a:lstStyle/>
          <a:p>
            <a:r>
              <a:rPr lang="en-US" altLang="en-US" dirty="0"/>
              <a:t>Pipeline Data Hazards</a:t>
            </a:r>
          </a:p>
        </p:txBody>
      </p:sp>
      <p:sp>
        <p:nvSpPr>
          <p:cNvPr id="45058" name="Rectangle 3"/>
          <p:cNvSpPr>
            <a:spLocks noGrp="1" noChangeArrowheads="1"/>
          </p:cNvSpPr>
          <p:nvPr>
            <p:ph idx="1"/>
            <p:custDataLst>
              <p:tags r:id="rId5"/>
            </p:custDataLst>
          </p:nvPr>
        </p:nvSpPr>
        <p:spPr>
          <a:xfrm>
            <a:off x="682625" y="3657600"/>
            <a:ext cx="7772400" cy="2133600"/>
          </a:xfrm>
        </p:spPr>
        <p:txBody>
          <a:bodyPr/>
          <a:lstStyle/>
          <a:p>
            <a:pPr marL="457200" lvl="1" indent="0">
              <a:lnSpc>
                <a:spcPct val="90000"/>
              </a:lnSpc>
              <a:buNone/>
            </a:pPr>
            <a:r>
              <a:rPr lang="en-US" altLang="en-US" sz="2400" dirty="0"/>
              <a:t>add $1, $2, $3</a:t>
            </a:r>
          </a:p>
          <a:p>
            <a:pPr marL="457200" lvl="1" indent="0">
              <a:lnSpc>
                <a:spcPct val="90000"/>
              </a:lnSpc>
              <a:buNone/>
            </a:pPr>
            <a:r>
              <a:rPr lang="en-US" altLang="en-US" sz="2400" dirty="0"/>
              <a:t>sub $3, $4, $5</a:t>
            </a:r>
          </a:p>
        </p:txBody>
      </p:sp>
      <p:sp>
        <p:nvSpPr>
          <p:cNvPr id="45061" name="Slide Number Placeholder 5"/>
          <p:cNvSpPr>
            <a:spLocks noGrp="1"/>
          </p:cNvSpPr>
          <p:nvPr>
            <p:ph type="sldNum" sz="quarter" idx="12"/>
            <p:custDataLst>
              <p:tags r:id="rId6"/>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11</a:t>
            </a:fld>
            <a:endParaRPr lang="en-US" altLang="en-US"/>
          </a:p>
        </p:txBody>
      </p:sp>
      <p:sp>
        <p:nvSpPr>
          <p:cNvPr id="45059" name="Line 66"/>
          <p:cNvSpPr>
            <a:spLocks noChangeShapeType="1"/>
          </p:cNvSpPr>
          <p:nvPr>
            <p:custDataLst>
              <p:tags r:id="rId7"/>
            </p:custDataLst>
          </p:nvPr>
        </p:nvSpPr>
        <p:spPr bwMode="auto">
          <a:xfrm>
            <a:off x="2819400" y="5599262"/>
            <a:ext cx="1524000" cy="344338"/>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125" name="Line 67"/>
          <p:cNvSpPr>
            <a:spLocks noChangeShapeType="1"/>
          </p:cNvSpPr>
          <p:nvPr>
            <p:custDataLst>
              <p:tags r:id="rId8"/>
            </p:custDataLst>
          </p:nvPr>
        </p:nvSpPr>
        <p:spPr bwMode="auto">
          <a:xfrm flipH="1">
            <a:off x="2057399" y="3924300"/>
            <a:ext cx="612775" cy="304800"/>
          </a:xfrm>
          <a:prstGeom prst="line">
            <a:avLst/>
          </a:prstGeom>
          <a:noFill/>
          <a:ln w="76200">
            <a:solidFill>
              <a:schemeClr val="accent6">
                <a:lumMod val="75000"/>
              </a:schemeClr>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2937331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Pipeline Data Hazards</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458200" cy="5121275"/>
          </a:xfrm>
        </p:spPr>
        <p:txBody>
          <a:bodyPr/>
          <a:lstStyle/>
          <a:p>
            <a:pPr eaLnBrk="1" hangingPunct="1"/>
            <a:r>
              <a:rPr lang="en-US" altLang="en-US" sz="2800" dirty="0"/>
              <a:t>Which data hazards are possible in IF-ID-EX-MEM-WB pipeline?</a:t>
            </a:r>
          </a:p>
          <a:p>
            <a:pPr lvl="1" eaLnBrk="1" hangingPunct="1"/>
            <a:r>
              <a:rPr lang="en-US" altLang="en-US" sz="2400" dirty="0"/>
              <a:t>Multiple instructions in-flight at the same time</a:t>
            </a:r>
          </a:p>
          <a:p>
            <a:pPr lvl="1"/>
            <a:r>
              <a:rPr lang="en-US" altLang="en-US" sz="2400" dirty="0"/>
              <a:t>Can a RAW register dependence be a hazard?</a:t>
            </a:r>
          </a:p>
          <a:p>
            <a:pPr lvl="2"/>
            <a:r>
              <a:rPr lang="en-US" altLang="en-US" sz="2000" dirty="0"/>
              <a:t>Yes</a:t>
            </a:r>
          </a:p>
          <a:p>
            <a:pPr lvl="1"/>
            <a:r>
              <a:rPr lang="en-US" altLang="en-US" sz="2400" dirty="0"/>
              <a:t>Can a WAR register dependence be a hazard?</a:t>
            </a:r>
          </a:p>
          <a:p>
            <a:pPr lvl="2"/>
            <a:r>
              <a:rPr lang="en-US" altLang="en-US" sz="2000" dirty="0"/>
              <a:t>No</a:t>
            </a:r>
          </a:p>
          <a:p>
            <a:pPr lvl="1"/>
            <a:r>
              <a:rPr lang="en-US" altLang="en-US" sz="2400" b="1" dirty="0"/>
              <a:t>Can a WAW register</a:t>
            </a:r>
            <a:r>
              <a:rPr lang="en-US" altLang="en-US" sz="2400" dirty="0"/>
              <a:t> </a:t>
            </a:r>
            <a:r>
              <a:rPr lang="en-US" altLang="en-US" sz="2400" b="1" dirty="0"/>
              <a:t>dependence be a hazard?</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12</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369337656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3300" name="Group 4"/>
          <p:cNvGraphicFramePr>
            <a:graphicFrameLocks noGrp="1"/>
          </p:cNvGraphicFramePr>
          <p:nvPr>
            <p:custDataLst>
              <p:tags r:id="rId2"/>
            </p:custDataLst>
            <p:extLst>
              <p:ext uri="{D42A27DB-BD31-4B8C-83A1-F6EECF244321}">
                <p14:modId xmlns:p14="http://schemas.microsoft.com/office/powerpoint/2010/main" val="1826833134"/>
              </p:ext>
            </p:extLst>
          </p:nvPr>
        </p:nvGraphicFramePr>
        <p:xfrm>
          <a:off x="838200" y="4840260"/>
          <a:ext cx="7034213" cy="140814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Rectangle 3">
            <a:extLst>
              <a:ext uri="{FF2B5EF4-FFF2-40B4-BE49-F238E27FC236}">
                <a16:creationId xmlns:a16="http://schemas.microsoft.com/office/drawing/2014/main" id="{D492E841-F6B3-4B4A-A8F2-94C0016ECD75}"/>
              </a:ext>
            </a:extLst>
          </p:cNvPr>
          <p:cNvSpPr txBox="1">
            <a:spLocks noChangeArrowheads="1"/>
          </p:cNvSpPr>
          <p:nvPr>
            <p:custDataLst>
              <p:tags r:id="rId3"/>
            </p:custDataLst>
          </p:nvPr>
        </p:nvSpPr>
        <p:spPr bwMode="auto">
          <a:xfrm>
            <a:off x="457200" y="1600201"/>
            <a:ext cx="8458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800" dirty="0"/>
              <a:t>e.g., WAW register data dependence:</a:t>
            </a:r>
          </a:p>
          <a:p>
            <a:pPr lvl="1"/>
            <a:r>
              <a:rPr lang="en-US" altLang="en-US" sz="2400" dirty="0"/>
              <a:t>Not a hazard: instructions perform WB in order, so a younger instruction will never write a register (WB) before an older instruction’s write (WB)</a:t>
            </a:r>
          </a:p>
        </p:txBody>
      </p:sp>
      <p:sp>
        <p:nvSpPr>
          <p:cNvPr id="45062" name="Rectangle 2"/>
          <p:cNvSpPr>
            <a:spLocks noGrp="1" noChangeArrowheads="1"/>
          </p:cNvSpPr>
          <p:nvPr>
            <p:ph type="title"/>
            <p:custDataLst>
              <p:tags r:id="rId4"/>
            </p:custDataLst>
          </p:nvPr>
        </p:nvSpPr>
        <p:spPr>
          <a:xfrm>
            <a:off x="457200" y="274638"/>
            <a:ext cx="7467600" cy="1143000"/>
          </a:xfrm>
        </p:spPr>
        <p:txBody>
          <a:bodyPr/>
          <a:lstStyle/>
          <a:p>
            <a:r>
              <a:rPr lang="en-US" altLang="en-US" dirty="0"/>
              <a:t>Pipeline Data Hazards</a:t>
            </a:r>
          </a:p>
        </p:txBody>
      </p:sp>
      <p:sp>
        <p:nvSpPr>
          <p:cNvPr id="45058" name="Rectangle 3"/>
          <p:cNvSpPr>
            <a:spLocks noGrp="1" noChangeArrowheads="1"/>
          </p:cNvSpPr>
          <p:nvPr>
            <p:ph idx="1"/>
            <p:custDataLst>
              <p:tags r:id="rId5"/>
            </p:custDataLst>
          </p:nvPr>
        </p:nvSpPr>
        <p:spPr>
          <a:xfrm>
            <a:off x="682625" y="3657600"/>
            <a:ext cx="7772400" cy="1182660"/>
          </a:xfrm>
        </p:spPr>
        <p:txBody>
          <a:bodyPr/>
          <a:lstStyle/>
          <a:p>
            <a:pPr marL="457200" lvl="1" indent="0">
              <a:lnSpc>
                <a:spcPct val="90000"/>
              </a:lnSpc>
              <a:buNone/>
            </a:pPr>
            <a:r>
              <a:rPr lang="en-US" altLang="en-US" sz="2400" dirty="0"/>
              <a:t>add $1, $2, $3</a:t>
            </a:r>
          </a:p>
          <a:p>
            <a:pPr marL="457200" lvl="1" indent="0">
              <a:lnSpc>
                <a:spcPct val="90000"/>
              </a:lnSpc>
              <a:buNone/>
            </a:pPr>
            <a:r>
              <a:rPr lang="en-US" altLang="en-US" sz="2400" dirty="0"/>
              <a:t>sub $1, $4, $5</a:t>
            </a:r>
          </a:p>
        </p:txBody>
      </p:sp>
      <p:sp>
        <p:nvSpPr>
          <p:cNvPr id="45061" name="Slide Number Placeholder 5"/>
          <p:cNvSpPr>
            <a:spLocks noGrp="1"/>
          </p:cNvSpPr>
          <p:nvPr>
            <p:ph type="sldNum" sz="quarter" idx="12"/>
            <p:custDataLst>
              <p:tags r:id="rId6"/>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13</a:t>
            </a:fld>
            <a:endParaRPr lang="en-US" altLang="en-US"/>
          </a:p>
        </p:txBody>
      </p:sp>
      <p:sp>
        <p:nvSpPr>
          <p:cNvPr id="45059" name="Line 66"/>
          <p:cNvSpPr>
            <a:spLocks noChangeShapeType="1"/>
          </p:cNvSpPr>
          <p:nvPr>
            <p:custDataLst>
              <p:tags r:id="rId7"/>
            </p:custDataLst>
          </p:nvPr>
        </p:nvSpPr>
        <p:spPr bwMode="auto">
          <a:xfrm>
            <a:off x="4191000" y="5562600"/>
            <a:ext cx="152400" cy="381000"/>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125" name="Line 67"/>
          <p:cNvSpPr>
            <a:spLocks noChangeShapeType="1"/>
          </p:cNvSpPr>
          <p:nvPr>
            <p:custDataLst>
              <p:tags r:id="rId8"/>
            </p:custDataLst>
          </p:nvPr>
        </p:nvSpPr>
        <p:spPr bwMode="auto">
          <a:xfrm flipH="1">
            <a:off x="1905000" y="3886200"/>
            <a:ext cx="1" cy="266700"/>
          </a:xfrm>
          <a:prstGeom prst="line">
            <a:avLst/>
          </a:prstGeom>
          <a:noFill/>
          <a:ln w="76200">
            <a:solidFill>
              <a:schemeClr val="accent6">
                <a:lumMod val="75000"/>
              </a:schemeClr>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20313492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8" name="Rectangle 5"/>
          <p:cNvSpPr>
            <a:spLocks noChangeArrowheads="1"/>
          </p:cNvSpPr>
          <p:nvPr>
            <p:custDataLst>
              <p:tags r:id="rId2"/>
            </p:custDataLst>
          </p:nvPr>
        </p:nvSpPr>
        <p:spPr bwMode="auto">
          <a:xfrm>
            <a:off x="3352800" y="4724400"/>
            <a:ext cx="3886200" cy="762000"/>
          </a:xfrm>
          <a:prstGeom prst="rect">
            <a:avLst/>
          </a:prstGeom>
          <a:noFill/>
          <a:ln>
            <a:noFill/>
          </a:ln>
        </p:spPr>
        <p:txBody>
          <a:bodyPr wrap="square" anchor="ctr">
            <a:noAutofit/>
          </a:bodyPr>
          <a:lstStyle>
            <a:lvl1pPr eaLnBrk="0" hangingPunct="0">
              <a:defRPr sz="1000">
                <a:solidFill>
                  <a:schemeClr val="tx1"/>
                </a:solidFill>
                <a:latin typeface="Times New Roman" panose="02020603050405020304" pitchFamily="18" charset="0"/>
              </a:defRPr>
            </a:lvl1pPr>
            <a:lvl2pPr marL="742950" indent="-285750"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algn="ctr" eaLnBrk="1" hangingPunct="1"/>
            <a:r>
              <a:rPr lang="en-US" altLang="en-US" sz="1600" b="1" dirty="0">
                <a:solidFill>
                  <a:schemeClr val="accent6">
                    <a:lumMod val="75000"/>
                  </a:schemeClr>
                </a:solidFill>
                <a:latin typeface="+mn-lt"/>
              </a:rPr>
              <a:t>unless writing to executable memory region (ignore for this course)</a:t>
            </a:r>
          </a:p>
        </p:txBody>
      </p:sp>
      <p:sp>
        <p:nvSpPr>
          <p:cNvPr id="44039" name="Rectangle 7"/>
          <p:cNvSpPr>
            <a:spLocks noGrp="1" noChangeArrowheads="1"/>
          </p:cNvSpPr>
          <p:nvPr>
            <p:ph idx="1"/>
            <p:custDataLst>
              <p:tags r:id="rId3"/>
            </p:custDataLst>
          </p:nvPr>
        </p:nvSpPr>
        <p:spPr>
          <a:xfrm>
            <a:off x="685800" y="2514600"/>
            <a:ext cx="7769225" cy="3841750"/>
          </a:xfrm>
          <a:noFill/>
        </p:spPr>
        <p:txBody>
          <a:bodyPr/>
          <a:lstStyle/>
          <a:p>
            <a:r>
              <a:rPr lang="en-US" altLang="en-US" sz="2800" dirty="0"/>
              <a:t>Register data hazards</a:t>
            </a:r>
          </a:p>
          <a:p>
            <a:pPr lvl="1"/>
            <a:r>
              <a:rPr lang="en-US" altLang="en-US" sz="2400" dirty="0"/>
              <a:t>RAW: Yes/No?</a:t>
            </a:r>
          </a:p>
          <a:p>
            <a:pPr lvl="1"/>
            <a:r>
              <a:rPr lang="en-US" altLang="en-US" sz="2400" dirty="0"/>
              <a:t>WAR: Yes/No?</a:t>
            </a:r>
          </a:p>
          <a:p>
            <a:pPr lvl="1"/>
            <a:r>
              <a:rPr lang="en-US" altLang="en-US" sz="2400" dirty="0"/>
              <a:t>WAW: Yes/No?</a:t>
            </a:r>
          </a:p>
          <a:p>
            <a:r>
              <a:rPr lang="en-US" altLang="en-US" sz="2800" dirty="0"/>
              <a:t>Memory data hazards</a:t>
            </a:r>
          </a:p>
          <a:p>
            <a:pPr lvl="1"/>
            <a:r>
              <a:rPr lang="en-US" altLang="en-US" sz="2400" dirty="0"/>
              <a:t>RAW: Yes/No?</a:t>
            </a:r>
          </a:p>
          <a:p>
            <a:pPr lvl="1"/>
            <a:r>
              <a:rPr lang="en-US" altLang="en-US" sz="2400" dirty="0"/>
              <a:t>WAR: Yes/No?</a:t>
            </a:r>
          </a:p>
          <a:p>
            <a:pPr lvl="1"/>
            <a:r>
              <a:rPr lang="en-US" altLang="en-US" sz="2400" dirty="0"/>
              <a:t>WAW: Yes/No?</a:t>
            </a:r>
          </a:p>
        </p:txBody>
      </p:sp>
      <p:sp>
        <p:nvSpPr>
          <p:cNvPr id="44035"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540BC3AE-181C-4827-AB08-F55774CB6D76}" type="slidenum">
              <a:rPr lang="en-US" altLang="en-US"/>
              <a:pPr lvl="1" eaLnBrk="1" hangingPunct="1"/>
              <a:t>14</a:t>
            </a:fld>
            <a:endParaRPr lang="en-US" altLang="en-US"/>
          </a:p>
        </p:txBody>
      </p:sp>
      <p:pic>
        <p:nvPicPr>
          <p:cNvPr id="3" name="Picture 2">
            <a:extLst>
              <a:ext uri="{FF2B5EF4-FFF2-40B4-BE49-F238E27FC236}">
                <a16:creationId xmlns:a16="http://schemas.microsoft.com/office/drawing/2014/main" id="{4BA82EF0-56D3-4428-B189-438F46555B5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893259" y="1371600"/>
            <a:ext cx="5345741" cy="989952"/>
          </a:xfrm>
          <a:prstGeom prst="rect">
            <a:avLst/>
          </a:prstGeom>
        </p:spPr>
      </p:pic>
      <p:sp>
        <p:nvSpPr>
          <p:cNvPr id="8" name="Oval 7">
            <a:extLst>
              <a:ext uri="{FF2B5EF4-FFF2-40B4-BE49-F238E27FC236}">
                <a16:creationId xmlns:a16="http://schemas.microsoft.com/office/drawing/2014/main" id="{F8A4F592-7CDF-46BF-97DB-0E57E122DDF6}"/>
              </a:ext>
            </a:extLst>
          </p:cNvPr>
          <p:cNvSpPr/>
          <p:nvPr>
            <p:custDataLst>
              <p:tags r:id="rId5"/>
            </p:custDataLst>
          </p:nvPr>
        </p:nvSpPr>
        <p:spPr>
          <a:xfrm>
            <a:off x="2209800" y="3025775"/>
            <a:ext cx="557213"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4F05C67-5073-4F03-8831-6ADB0055A90E}"/>
              </a:ext>
            </a:extLst>
          </p:cNvPr>
          <p:cNvSpPr/>
          <p:nvPr>
            <p:custDataLst>
              <p:tags r:id="rId6"/>
            </p:custDataLst>
          </p:nvPr>
        </p:nvSpPr>
        <p:spPr>
          <a:xfrm>
            <a:off x="2719387" y="3429000"/>
            <a:ext cx="557213"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513BA62-CAF5-471E-89BD-630643E9FD05}"/>
              </a:ext>
            </a:extLst>
          </p:cNvPr>
          <p:cNvSpPr/>
          <p:nvPr>
            <p:custDataLst>
              <p:tags r:id="rId7"/>
            </p:custDataLst>
          </p:nvPr>
        </p:nvSpPr>
        <p:spPr>
          <a:xfrm>
            <a:off x="2835274" y="3878982"/>
            <a:ext cx="557213"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623E45E-1911-4B5E-A365-3E2B66C7BF3C}"/>
              </a:ext>
            </a:extLst>
          </p:cNvPr>
          <p:cNvSpPr/>
          <p:nvPr>
            <p:custDataLst>
              <p:tags r:id="rId8"/>
            </p:custDataLst>
          </p:nvPr>
        </p:nvSpPr>
        <p:spPr>
          <a:xfrm>
            <a:off x="2719387" y="5257800"/>
            <a:ext cx="557213"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F73C129-CEB9-4CC8-BD5C-450A3A4BA5EF}"/>
              </a:ext>
            </a:extLst>
          </p:cNvPr>
          <p:cNvSpPr/>
          <p:nvPr>
            <p:custDataLst>
              <p:tags r:id="rId9"/>
            </p:custDataLst>
          </p:nvPr>
        </p:nvSpPr>
        <p:spPr>
          <a:xfrm>
            <a:off x="2835274" y="5707782"/>
            <a:ext cx="557213"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39DF722-7FF3-4A4B-845C-61E5917D7E6D}"/>
              </a:ext>
            </a:extLst>
          </p:cNvPr>
          <p:cNvSpPr/>
          <p:nvPr>
            <p:custDataLst>
              <p:tags r:id="rId10"/>
            </p:custDataLst>
          </p:nvPr>
        </p:nvSpPr>
        <p:spPr>
          <a:xfrm>
            <a:off x="2719386" y="4876800"/>
            <a:ext cx="557213"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2">
            <a:extLst>
              <a:ext uri="{FF2B5EF4-FFF2-40B4-BE49-F238E27FC236}">
                <a16:creationId xmlns:a16="http://schemas.microsoft.com/office/drawing/2014/main" id="{0B37DBAC-C9E2-46A6-98BA-C7AC606127B4}"/>
              </a:ext>
            </a:extLst>
          </p:cNvPr>
          <p:cNvSpPr>
            <a:spLocks noGrp="1" noChangeArrowheads="1"/>
          </p:cNvSpPr>
          <p:nvPr>
            <p:ph type="title"/>
            <p:custDataLst>
              <p:tags r:id="rId11"/>
            </p:custDataLst>
          </p:nvPr>
        </p:nvSpPr>
        <p:spPr>
          <a:xfrm>
            <a:off x="457200" y="274638"/>
            <a:ext cx="7467600" cy="1143000"/>
          </a:xfrm>
        </p:spPr>
        <p:txBody>
          <a:bodyPr/>
          <a:lstStyle/>
          <a:p>
            <a:pPr eaLnBrk="1" hangingPunct="1"/>
            <a:r>
              <a:rPr lang="en-US" altLang="en-US" dirty="0"/>
              <a:t>Pipeline Data Hazards</a:t>
            </a:r>
          </a:p>
        </p:txBody>
      </p:sp>
    </p:spTree>
    <p:custDataLst>
      <p:tags r:id="rId1"/>
    </p:custDataLst>
    <p:extLst>
      <p:ext uri="{BB962C8B-B14F-4D97-AF65-F5344CB8AC3E}">
        <p14:creationId xmlns:p14="http://schemas.microsoft.com/office/powerpoint/2010/main" val="3511286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8" grpId="0"/>
      <p:bldP spid="12"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Resolving RAW Hazards</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458200" cy="5121275"/>
          </a:xfrm>
        </p:spPr>
        <p:txBody>
          <a:bodyPr/>
          <a:lstStyle/>
          <a:p>
            <a:pPr eaLnBrk="1" hangingPunct="1"/>
            <a:r>
              <a:rPr lang="en-US" altLang="en-US" sz="2800" dirty="0"/>
              <a:t>Step 1: Detect hazard at ID stage</a:t>
            </a:r>
          </a:p>
          <a:p>
            <a:pPr lvl="1" eaLnBrk="1" hangingPunct="1"/>
            <a:r>
              <a:rPr lang="en-US" altLang="en-US" sz="2400" dirty="0"/>
              <a:t>Compare control signals of other stages</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15</a:t>
            </a:fld>
            <a:endParaRPr lang="en-US" altLang="en-US">
              <a:latin typeface="Calibri" panose="020F0502020204030204" pitchFamily="34" charset="0"/>
            </a:endParaRPr>
          </a:p>
        </p:txBody>
      </p:sp>
      <p:pic>
        <p:nvPicPr>
          <p:cNvPr id="5" name="Picture 4" descr="f0629">
            <a:extLst>
              <a:ext uri="{FF2B5EF4-FFF2-40B4-BE49-F238E27FC236}">
                <a16:creationId xmlns:a16="http://schemas.microsoft.com/office/drawing/2014/main" id="{080CA257-8654-412C-8214-E275C40756EC}"/>
              </a:ext>
            </a:extLst>
          </p:cNvPr>
          <p:cNvPicPr>
            <a:picLocks noChangeAspect="1" noChangeArrowheads="1"/>
          </p:cNvPicPr>
          <p:nvPr>
            <p:custDataLst>
              <p:tags r:id="rId5"/>
            </p:custDataLst>
          </p:nvPr>
        </p:nvPicPr>
        <p:blipFill>
          <a:blip r:embed="rId8">
            <a:extLst>
              <a:ext uri="{28A0092B-C50C-407E-A947-70E740481C1C}">
                <a14:useLocalDpi xmlns:a14="http://schemas.microsoft.com/office/drawing/2010/main" val="0"/>
              </a:ext>
            </a:extLst>
          </a:blip>
          <a:srcRect/>
          <a:stretch>
            <a:fillRect/>
          </a:stretch>
        </p:blipFill>
        <p:spPr bwMode="auto">
          <a:xfrm>
            <a:off x="533400" y="2752725"/>
            <a:ext cx="807720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21260774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Resolving RAW Hazards</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458200" cy="5121275"/>
          </a:xfrm>
        </p:spPr>
        <p:txBody>
          <a:bodyPr/>
          <a:lstStyle/>
          <a:p>
            <a:r>
              <a:rPr lang="en-US" altLang="en-US" sz="2800" dirty="0"/>
              <a:t>Step 1: Detect hazard at ID stage</a:t>
            </a:r>
          </a:p>
          <a:p>
            <a:pPr lvl="1"/>
            <a:r>
              <a:rPr lang="en-US" altLang="en-US" sz="2400" dirty="0"/>
              <a:t>Compare control signals of other stages</a:t>
            </a:r>
          </a:p>
          <a:p>
            <a:pPr lvl="1"/>
            <a:r>
              <a:rPr lang="en-US" altLang="en-US" sz="2400" dirty="0"/>
              <a:t>Hazard if:</a:t>
            </a:r>
          </a:p>
          <a:p>
            <a:pPr lvl="2"/>
            <a:r>
              <a:rPr lang="en-US" altLang="en-US" sz="2000" dirty="0"/>
              <a:t>ID/</a:t>
            </a:r>
            <a:r>
              <a:rPr lang="en-US" altLang="en-US" sz="2000" dirty="0" err="1"/>
              <a:t>EX.WriteRegister</a:t>
            </a:r>
            <a:r>
              <a:rPr lang="en-US" altLang="en-US" sz="2000" dirty="0"/>
              <a:t> == IF/</a:t>
            </a:r>
            <a:r>
              <a:rPr lang="en-US" altLang="en-US" sz="2000" dirty="0" err="1"/>
              <a:t>ID.RegisterRs</a:t>
            </a:r>
            <a:r>
              <a:rPr lang="en-US" altLang="en-US" sz="2000" dirty="0"/>
              <a:t>, or</a:t>
            </a:r>
          </a:p>
          <a:p>
            <a:pPr lvl="2"/>
            <a:r>
              <a:rPr lang="en-US" altLang="en-US" sz="2000" dirty="0"/>
              <a:t>ID/</a:t>
            </a:r>
            <a:r>
              <a:rPr lang="en-US" altLang="en-US" sz="2000" dirty="0" err="1"/>
              <a:t>EX.WriteRegister</a:t>
            </a:r>
            <a:r>
              <a:rPr lang="en-US" altLang="en-US" sz="2000" dirty="0"/>
              <a:t> == IF/</a:t>
            </a:r>
            <a:r>
              <a:rPr lang="en-US" altLang="en-US" sz="2000" dirty="0" err="1"/>
              <a:t>ID.RegisterRt</a:t>
            </a:r>
            <a:endParaRPr lang="en-US" altLang="en-US" sz="2000" dirty="0"/>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16</a:t>
            </a:fld>
            <a:endParaRPr lang="en-US" altLang="en-US">
              <a:latin typeface="Calibri" panose="020F0502020204030204" pitchFamily="34" charset="0"/>
            </a:endParaRPr>
          </a:p>
        </p:txBody>
      </p:sp>
      <p:sp>
        <p:nvSpPr>
          <p:cNvPr id="6" name="Rectangle 3">
            <a:extLst>
              <a:ext uri="{FF2B5EF4-FFF2-40B4-BE49-F238E27FC236}">
                <a16:creationId xmlns:a16="http://schemas.microsoft.com/office/drawing/2014/main" id="{1C442AB6-EB4D-47DB-BD48-E0D610940D6F}"/>
              </a:ext>
            </a:extLst>
          </p:cNvPr>
          <p:cNvSpPr txBox="1">
            <a:spLocks noChangeArrowheads="1"/>
          </p:cNvSpPr>
          <p:nvPr>
            <p:custDataLst>
              <p:tags r:id="rId5"/>
            </p:custDataLst>
          </p:nvPr>
        </p:nvSpPr>
        <p:spPr bwMode="auto">
          <a:xfrm>
            <a:off x="606425" y="4456861"/>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add $1, $2, $3</a:t>
            </a:r>
          </a:p>
          <a:p>
            <a:pPr marL="457200" lvl="1" indent="0">
              <a:lnSpc>
                <a:spcPct val="90000"/>
              </a:lnSpc>
              <a:buFont typeface="Arial" charset="0"/>
              <a:buNone/>
            </a:pPr>
            <a:r>
              <a:rPr lang="en-US" altLang="en-US" sz="2400" dirty="0"/>
              <a:t>sub $4, $5, $1</a:t>
            </a:r>
          </a:p>
          <a:p>
            <a:pPr marL="457200" lvl="1" indent="0">
              <a:lnSpc>
                <a:spcPct val="90000"/>
              </a:lnSpc>
              <a:buFont typeface="Arial" charset="0"/>
              <a:buNone/>
            </a:pPr>
            <a:endParaRPr lang="en-US" altLang="en-US" sz="2400" dirty="0"/>
          </a:p>
          <a:p>
            <a:pPr marL="457200" lvl="1" indent="0">
              <a:lnSpc>
                <a:spcPct val="90000"/>
              </a:lnSpc>
              <a:buFont typeface="Arial" charset="0"/>
              <a:buNone/>
            </a:pPr>
            <a:endParaRPr lang="en-US" altLang="en-US" sz="2400" dirty="0"/>
          </a:p>
        </p:txBody>
      </p:sp>
      <p:sp>
        <p:nvSpPr>
          <p:cNvPr id="7" name="Line 66">
            <a:extLst>
              <a:ext uri="{FF2B5EF4-FFF2-40B4-BE49-F238E27FC236}">
                <a16:creationId xmlns:a16="http://schemas.microsoft.com/office/drawing/2014/main" id="{1D26FB9D-8F88-45B9-82EB-671F6A50ED72}"/>
              </a:ext>
            </a:extLst>
          </p:cNvPr>
          <p:cNvSpPr>
            <a:spLocks noChangeShapeType="1"/>
          </p:cNvSpPr>
          <p:nvPr>
            <p:custDataLst>
              <p:tags r:id="rId6"/>
            </p:custDataLst>
          </p:nvPr>
        </p:nvSpPr>
        <p:spPr bwMode="auto">
          <a:xfrm>
            <a:off x="1981200" y="4685461"/>
            <a:ext cx="685800" cy="343739"/>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8" name="Group 4">
            <a:extLst>
              <a:ext uri="{FF2B5EF4-FFF2-40B4-BE49-F238E27FC236}">
                <a16:creationId xmlns:a16="http://schemas.microsoft.com/office/drawing/2014/main" id="{43C3C47F-BD62-41D1-BE4E-BB99A7A9F46D}"/>
              </a:ext>
            </a:extLst>
          </p:cNvPr>
          <p:cNvGraphicFramePr>
            <a:graphicFrameLocks noGrp="1"/>
          </p:cNvGraphicFramePr>
          <p:nvPr>
            <p:custDataLst>
              <p:tags r:id="rId7"/>
            </p:custDataLst>
            <p:extLst>
              <p:ext uri="{D42A27DB-BD31-4B8C-83A1-F6EECF244321}">
                <p14:modId xmlns:p14="http://schemas.microsoft.com/office/powerpoint/2010/main" val="1369044532"/>
              </p:ext>
            </p:extLst>
          </p:nvPr>
        </p:nvGraphicFramePr>
        <p:xfrm>
          <a:off x="3657597" y="4267200"/>
          <a:ext cx="4648203" cy="1152090"/>
        </p:xfrm>
        <a:graphic>
          <a:graphicData uri="http://schemas.openxmlformats.org/drawingml/2006/table">
            <a:tbl>
              <a:tblPr/>
              <a:tblGrid>
                <a:gridCol w="1143000">
                  <a:extLst>
                    <a:ext uri="{9D8B030D-6E8A-4147-A177-3AD203B41FA5}">
                      <a16:colId xmlns:a16="http://schemas.microsoft.com/office/drawing/2014/main" val="20000"/>
                    </a:ext>
                  </a:extLst>
                </a:gridCol>
                <a:gridCol w="389467">
                  <a:extLst>
                    <a:ext uri="{9D8B030D-6E8A-4147-A177-3AD203B41FA5}">
                      <a16:colId xmlns:a16="http://schemas.microsoft.com/office/drawing/2014/main" val="20001"/>
                    </a:ext>
                  </a:extLst>
                </a:gridCol>
                <a:gridCol w="389467">
                  <a:extLst>
                    <a:ext uri="{9D8B030D-6E8A-4147-A177-3AD203B41FA5}">
                      <a16:colId xmlns:a16="http://schemas.microsoft.com/office/drawing/2014/main" val="20002"/>
                    </a:ext>
                  </a:extLst>
                </a:gridCol>
                <a:gridCol w="389467">
                  <a:extLst>
                    <a:ext uri="{9D8B030D-6E8A-4147-A177-3AD203B41FA5}">
                      <a16:colId xmlns:a16="http://schemas.microsoft.com/office/drawing/2014/main" val="20003"/>
                    </a:ext>
                  </a:extLst>
                </a:gridCol>
                <a:gridCol w="389467">
                  <a:extLst>
                    <a:ext uri="{9D8B030D-6E8A-4147-A177-3AD203B41FA5}">
                      <a16:colId xmlns:a16="http://schemas.microsoft.com/office/drawing/2014/main" val="20004"/>
                    </a:ext>
                  </a:extLst>
                </a:gridCol>
                <a:gridCol w="389467">
                  <a:extLst>
                    <a:ext uri="{9D8B030D-6E8A-4147-A177-3AD203B41FA5}">
                      <a16:colId xmlns:a16="http://schemas.microsoft.com/office/drawing/2014/main" val="20005"/>
                    </a:ext>
                  </a:extLst>
                </a:gridCol>
                <a:gridCol w="389467">
                  <a:extLst>
                    <a:ext uri="{9D8B030D-6E8A-4147-A177-3AD203B41FA5}">
                      <a16:colId xmlns:a16="http://schemas.microsoft.com/office/drawing/2014/main" val="20006"/>
                    </a:ext>
                  </a:extLst>
                </a:gridCol>
                <a:gridCol w="389467">
                  <a:extLst>
                    <a:ext uri="{9D8B030D-6E8A-4147-A177-3AD203B41FA5}">
                      <a16:colId xmlns:a16="http://schemas.microsoft.com/office/drawing/2014/main" val="20007"/>
                    </a:ext>
                  </a:extLst>
                </a:gridCol>
                <a:gridCol w="389467">
                  <a:extLst>
                    <a:ext uri="{9D8B030D-6E8A-4147-A177-3AD203B41FA5}">
                      <a16:colId xmlns:a16="http://schemas.microsoft.com/office/drawing/2014/main" val="20008"/>
                    </a:ext>
                  </a:extLst>
                </a:gridCol>
                <a:gridCol w="389467">
                  <a:extLst>
                    <a:ext uri="{9D8B030D-6E8A-4147-A177-3AD203B41FA5}">
                      <a16:colId xmlns:a16="http://schemas.microsoft.com/office/drawing/2014/main" val="20013"/>
                    </a:ext>
                  </a:extLst>
                </a:gridCol>
              </a:tblGrid>
              <a:tr h="37824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Rectangle 3">
            <a:extLst>
              <a:ext uri="{FF2B5EF4-FFF2-40B4-BE49-F238E27FC236}">
                <a16:creationId xmlns:a16="http://schemas.microsoft.com/office/drawing/2014/main" id="{C2094337-4E31-408D-9BFC-A0DC1DD761FF}"/>
              </a:ext>
            </a:extLst>
          </p:cNvPr>
          <p:cNvSpPr txBox="1">
            <a:spLocks noChangeArrowheads="1"/>
          </p:cNvSpPr>
          <p:nvPr>
            <p:custDataLst>
              <p:tags r:id="rId8"/>
            </p:custDataLst>
          </p:nvPr>
        </p:nvSpPr>
        <p:spPr bwMode="auto">
          <a:xfrm>
            <a:off x="609600" y="6477000"/>
            <a:ext cx="845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en-US" sz="2000" dirty="0"/>
              <a:t>*</a:t>
            </a:r>
            <a:r>
              <a:rPr lang="en-US" altLang="en-US" sz="2000" dirty="0" err="1"/>
              <a:t>WriteRegister</a:t>
            </a:r>
            <a:r>
              <a:rPr lang="en-US" altLang="en-US" sz="2000" dirty="0"/>
              <a:t> = R-format ? </a:t>
            </a:r>
            <a:r>
              <a:rPr lang="en-US" altLang="en-US" sz="2000" dirty="0" err="1"/>
              <a:t>RegisterRd</a:t>
            </a:r>
            <a:r>
              <a:rPr lang="en-US" altLang="en-US" sz="2000" dirty="0"/>
              <a:t> : </a:t>
            </a:r>
            <a:r>
              <a:rPr lang="en-US" altLang="en-US" sz="2000" dirty="0" err="1"/>
              <a:t>RegisterRt</a:t>
            </a:r>
            <a:endParaRPr lang="en-US" altLang="en-US" sz="2000" dirty="0"/>
          </a:p>
        </p:txBody>
      </p:sp>
    </p:spTree>
    <p:custDataLst>
      <p:tags r:id="rId1"/>
    </p:custDataLst>
    <p:extLst>
      <p:ext uri="{BB962C8B-B14F-4D97-AF65-F5344CB8AC3E}">
        <p14:creationId xmlns:p14="http://schemas.microsoft.com/office/powerpoint/2010/main" val="217693013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Resolving RAW Hazards</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458200" cy="5121275"/>
          </a:xfrm>
        </p:spPr>
        <p:txBody>
          <a:bodyPr/>
          <a:lstStyle/>
          <a:p>
            <a:r>
              <a:rPr lang="en-US" altLang="en-US" sz="2800" dirty="0"/>
              <a:t>Step 1: Detect hazard at ID stage</a:t>
            </a:r>
          </a:p>
          <a:p>
            <a:pPr lvl="1"/>
            <a:r>
              <a:rPr lang="en-US" altLang="en-US" sz="2400" dirty="0"/>
              <a:t>Compare control signals of other stages</a:t>
            </a:r>
          </a:p>
          <a:p>
            <a:pPr lvl="1"/>
            <a:r>
              <a:rPr lang="en-US" altLang="en-US" sz="2400" dirty="0"/>
              <a:t>Hazard if:</a:t>
            </a:r>
          </a:p>
          <a:p>
            <a:pPr lvl="2"/>
            <a:r>
              <a:rPr lang="en-US" altLang="en-US" sz="2000" dirty="0"/>
              <a:t>EX/</a:t>
            </a:r>
            <a:r>
              <a:rPr lang="en-US" altLang="en-US" sz="2000" dirty="0" err="1"/>
              <a:t>MEM.WriteRegister</a:t>
            </a:r>
            <a:r>
              <a:rPr lang="en-US" altLang="en-US" sz="2000" dirty="0"/>
              <a:t> == IF/</a:t>
            </a:r>
            <a:r>
              <a:rPr lang="en-US" altLang="en-US" sz="2000" dirty="0" err="1"/>
              <a:t>ID.RegisterRs</a:t>
            </a:r>
            <a:r>
              <a:rPr lang="en-US" altLang="en-US" sz="2000" dirty="0"/>
              <a:t>, or</a:t>
            </a:r>
          </a:p>
          <a:p>
            <a:pPr lvl="2"/>
            <a:r>
              <a:rPr lang="en-US" altLang="en-US" sz="2000" dirty="0"/>
              <a:t>EX/</a:t>
            </a:r>
            <a:r>
              <a:rPr lang="en-US" altLang="en-US" sz="2000" dirty="0" err="1"/>
              <a:t>MEM.WriteRegister</a:t>
            </a:r>
            <a:r>
              <a:rPr lang="en-US" altLang="en-US" sz="2000" dirty="0"/>
              <a:t> == IF/</a:t>
            </a:r>
            <a:r>
              <a:rPr lang="en-US" altLang="en-US" sz="2000" dirty="0" err="1"/>
              <a:t>ID.RegisterRt</a:t>
            </a:r>
            <a:endParaRPr lang="en-US" altLang="en-US" sz="2000" dirty="0"/>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17</a:t>
            </a:fld>
            <a:endParaRPr lang="en-US" altLang="en-US">
              <a:latin typeface="Calibri" panose="020F0502020204030204" pitchFamily="34" charset="0"/>
            </a:endParaRPr>
          </a:p>
        </p:txBody>
      </p:sp>
      <p:sp>
        <p:nvSpPr>
          <p:cNvPr id="6" name="Rectangle 3">
            <a:extLst>
              <a:ext uri="{FF2B5EF4-FFF2-40B4-BE49-F238E27FC236}">
                <a16:creationId xmlns:a16="http://schemas.microsoft.com/office/drawing/2014/main" id="{1C442AB6-EB4D-47DB-BD48-E0D610940D6F}"/>
              </a:ext>
            </a:extLst>
          </p:cNvPr>
          <p:cNvSpPr txBox="1">
            <a:spLocks noChangeArrowheads="1"/>
          </p:cNvSpPr>
          <p:nvPr>
            <p:custDataLst>
              <p:tags r:id="rId5"/>
            </p:custDataLst>
          </p:nvPr>
        </p:nvSpPr>
        <p:spPr bwMode="auto">
          <a:xfrm>
            <a:off x="606425" y="4456861"/>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add $1, $2, $3</a:t>
            </a:r>
          </a:p>
          <a:p>
            <a:pPr marL="457200" lvl="1" indent="0">
              <a:lnSpc>
                <a:spcPct val="90000"/>
              </a:lnSpc>
              <a:buFont typeface="Arial" charset="0"/>
              <a:buNone/>
            </a:pPr>
            <a:r>
              <a:rPr lang="en-US" altLang="en-US" sz="2400" dirty="0"/>
              <a:t>…</a:t>
            </a:r>
          </a:p>
          <a:p>
            <a:pPr marL="457200" lvl="1" indent="0">
              <a:lnSpc>
                <a:spcPct val="90000"/>
              </a:lnSpc>
              <a:buFont typeface="Arial" charset="0"/>
              <a:buNone/>
            </a:pPr>
            <a:r>
              <a:rPr lang="en-US" altLang="en-US" sz="2400" dirty="0"/>
              <a:t>sub $4, $5, $1</a:t>
            </a:r>
          </a:p>
          <a:p>
            <a:pPr marL="457200" lvl="1" indent="0">
              <a:lnSpc>
                <a:spcPct val="90000"/>
              </a:lnSpc>
              <a:buFont typeface="Arial" charset="0"/>
              <a:buNone/>
            </a:pPr>
            <a:endParaRPr lang="en-US" altLang="en-US" sz="2400" dirty="0"/>
          </a:p>
          <a:p>
            <a:pPr marL="457200" lvl="1" indent="0">
              <a:lnSpc>
                <a:spcPct val="90000"/>
              </a:lnSpc>
              <a:buFont typeface="Arial" charset="0"/>
              <a:buNone/>
            </a:pPr>
            <a:endParaRPr lang="en-US" altLang="en-US" sz="2400" dirty="0"/>
          </a:p>
        </p:txBody>
      </p:sp>
      <p:sp>
        <p:nvSpPr>
          <p:cNvPr id="7" name="Line 66">
            <a:extLst>
              <a:ext uri="{FF2B5EF4-FFF2-40B4-BE49-F238E27FC236}">
                <a16:creationId xmlns:a16="http://schemas.microsoft.com/office/drawing/2014/main" id="{1D26FB9D-8F88-45B9-82EB-671F6A50ED72}"/>
              </a:ext>
            </a:extLst>
          </p:cNvPr>
          <p:cNvSpPr>
            <a:spLocks noChangeShapeType="1"/>
          </p:cNvSpPr>
          <p:nvPr>
            <p:custDataLst>
              <p:tags r:id="rId6"/>
            </p:custDataLst>
          </p:nvPr>
        </p:nvSpPr>
        <p:spPr bwMode="auto">
          <a:xfrm>
            <a:off x="1981200" y="4685461"/>
            <a:ext cx="685800" cy="724739"/>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8" name="Group 4">
            <a:extLst>
              <a:ext uri="{FF2B5EF4-FFF2-40B4-BE49-F238E27FC236}">
                <a16:creationId xmlns:a16="http://schemas.microsoft.com/office/drawing/2014/main" id="{43C3C47F-BD62-41D1-BE4E-BB99A7A9F46D}"/>
              </a:ext>
            </a:extLst>
          </p:cNvPr>
          <p:cNvGraphicFramePr>
            <a:graphicFrameLocks noGrp="1"/>
          </p:cNvGraphicFramePr>
          <p:nvPr>
            <p:custDataLst>
              <p:tags r:id="rId7"/>
            </p:custDataLst>
            <p:extLst>
              <p:ext uri="{D42A27DB-BD31-4B8C-83A1-F6EECF244321}">
                <p14:modId xmlns:p14="http://schemas.microsoft.com/office/powerpoint/2010/main" val="204944287"/>
              </p:ext>
            </p:extLst>
          </p:nvPr>
        </p:nvGraphicFramePr>
        <p:xfrm>
          <a:off x="3657597" y="4267200"/>
          <a:ext cx="4648203" cy="1517832"/>
        </p:xfrm>
        <a:graphic>
          <a:graphicData uri="http://schemas.openxmlformats.org/drawingml/2006/table">
            <a:tbl>
              <a:tblPr/>
              <a:tblGrid>
                <a:gridCol w="1143000">
                  <a:extLst>
                    <a:ext uri="{9D8B030D-6E8A-4147-A177-3AD203B41FA5}">
                      <a16:colId xmlns:a16="http://schemas.microsoft.com/office/drawing/2014/main" val="20000"/>
                    </a:ext>
                  </a:extLst>
                </a:gridCol>
                <a:gridCol w="389467">
                  <a:extLst>
                    <a:ext uri="{9D8B030D-6E8A-4147-A177-3AD203B41FA5}">
                      <a16:colId xmlns:a16="http://schemas.microsoft.com/office/drawing/2014/main" val="20001"/>
                    </a:ext>
                  </a:extLst>
                </a:gridCol>
                <a:gridCol w="389467">
                  <a:extLst>
                    <a:ext uri="{9D8B030D-6E8A-4147-A177-3AD203B41FA5}">
                      <a16:colId xmlns:a16="http://schemas.microsoft.com/office/drawing/2014/main" val="20002"/>
                    </a:ext>
                  </a:extLst>
                </a:gridCol>
                <a:gridCol w="389467">
                  <a:extLst>
                    <a:ext uri="{9D8B030D-6E8A-4147-A177-3AD203B41FA5}">
                      <a16:colId xmlns:a16="http://schemas.microsoft.com/office/drawing/2014/main" val="20003"/>
                    </a:ext>
                  </a:extLst>
                </a:gridCol>
                <a:gridCol w="389467">
                  <a:extLst>
                    <a:ext uri="{9D8B030D-6E8A-4147-A177-3AD203B41FA5}">
                      <a16:colId xmlns:a16="http://schemas.microsoft.com/office/drawing/2014/main" val="20004"/>
                    </a:ext>
                  </a:extLst>
                </a:gridCol>
                <a:gridCol w="389467">
                  <a:extLst>
                    <a:ext uri="{9D8B030D-6E8A-4147-A177-3AD203B41FA5}">
                      <a16:colId xmlns:a16="http://schemas.microsoft.com/office/drawing/2014/main" val="20005"/>
                    </a:ext>
                  </a:extLst>
                </a:gridCol>
                <a:gridCol w="389467">
                  <a:extLst>
                    <a:ext uri="{9D8B030D-6E8A-4147-A177-3AD203B41FA5}">
                      <a16:colId xmlns:a16="http://schemas.microsoft.com/office/drawing/2014/main" val="20006"/>
                    </a:ext>
                  </a:extLst>
                </a:gridCol>
                <a:gridCol w="389467">
                  <a:extLst>
                    <a:ext uri="{9D8B030D-6E8A-4147-A177-3AD203B41FA5}">
                      <a16:colId xmlns:a16="http://schemas.microsoft.com/office/drawing/2014/main" val="20007"/>
                    </a:ext>
                  </a:extLst>
                </a:gridCol>
                <a:gridCol w="389467">
                  <a:extLst>
                    <a:ext uri="{9D8B030D-6E8A-4147-A177-3AD203B41FA5}">
                      <a16:colId xmlns:a16="http://schemas.microsoft.com/office/drawing/2014/main" val="20008"/>
                    </a:ext>
                  </a:extLst>
                </a:gridCol>
                <a:gridCol w="389467">
                  <a:extLst>
                    <a:ext uri="{9D8B030D-6E8A-4147-A177-3AD203B41FA5}">
                      <a16:colId xmlns:a16="http://schemas.microsoft.com/office/drawing/2014/main" val="20013"/>
                    </a:ext>
                  </a:extLst>
                </a:gridCol>
              </a:tblGrid>
              <a:tr h="37824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111049186"/>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Rectangle 3">
            <a:extLst>
              <a:ext uri="{FF2B5EF4-FFF2-40B4-BE49-F238E27FC236}">
                <a16:creationId xmlns:a16="http://schemas.microsoft.com/office/drawing/2014/main" id="{4D0BCDA1-49C0-481D-B074-3056A2F9469C}"/>
              </a:ext>
            </a:extLst>
          </p:cNvPr>
          <p:cNvSpPr txBox="1">
            <a:spLocks noChangeArrowheads="1"/>
          </p:cNvSpPr>
          <p:nvPr>
            <p:custDataLst>
              <p:tags r:id="rId8"/>
            </p:custDataLst>
          </p:nvPr>
        </p:nvSpPr>
        <p:spPr bwMode="auto">
          <a:xfrm>
            <a:off x="609600" y="6477000"/>
            <a:ext cx="845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en-US" sz="2000" dirty="0"/>
              <a:t>*</a:t>
            </a:r>
            <a:r>
              <a:rPr lang="en-US" altLang="en-US" sz="2000" dirty="0" err="1"/>
              <a:t>WriteRegister</a:t>
            </a:r>
            <a:r>
              <a:rPr lang="en-US" altLang="en-US" sz="2000" dirty="0"/>
              <a:t> = R-format ? </a:t>
            </a:r>
            <a:r>
              <a:rPr lang="en-US" altLang="en-US" sz="2000" dirty="0" err="1"/>
              <a:t>RegisterRd</a:t>
            </a:r>
            <a:r>
              <a:rPr lang="en-US" altLang="en-US" sz="2000" dirty="0"/>
              <a:t> : </a:t>
            </a:r>
            <a:r>
              <a:rPr lang="en-US" altLang="en-US" sz="2000" dirty="0" err="1"/>
              <a:t>RegisterRt</a:t>
            </a:r>
            <a:endParaRPr lang="en-US" altLang="en-US" sz="2000" dirty="0"/>
          </a:p>
        </p:txBody>
      </p:sp>
    </p:spTree>
    <p:custDataLst>
      <p:tags r:id="rId1"/>
    </p:custDataLst>
    <p:extLst>
      <p:ext uri="{BB962C8B-B14F-4D97-AF65-F5344CB8AC3E}">
        <p14:creationId xmlns:p14="http://schemas.microsoft.com/office/powerpoint/2010/main" val="182249020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Resolving RAW Hazards</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458200" cy="5121275"/>
          </a:xfrm>
        </p:spPr>
        <p:txBody>
          <a:bodyPr/>
          <a:lstStyle/>
          <a:p>
            <a:r>
              <a:rPr lang="en-US" altLang="en-US" sz="2800" dirty="0"/>
              <a:t>Step 1: Detect hazard at ID stage</a:t>
            </a:r>
          </a:p>
          <a:p>
            <a:pPr lvl="1"/>
            <a:r>
              <a:rPr lang="en-US" altLang="en-US" sz="2400" dirty="0"/>
              <a:t>Compare control signals of other stages</a:t>
            </a:r>
          </a:p>
          <a:p>
            <a:pPr lvl="1"/>
            <a:r>
              <a:rPr lang="en-US" altLang="en-US" sz="2400" dirty="0"/>
              <a:t>Hazard if:</a:t>
            </a:r>
          </a:p>
          <a:p>
            <a:pPr lvl="2"/>
            <a:r>
              <a:rPr lang="en-US" altLang="en-US" sz="2000" dirty="0"/>
              <a:t>MEM/</a:t>
            </a:r>
            <a:r>
              <a:rPr lang="en-US" altLang="en-US" sz="2000" dirty="0" err="1"/>
              <a:t>WB.WriteRegister</a:t>
            </a:r>
            <a:r>
              <a:rPr lang="en-US" altLang="en-US" sz="2000" dirty="0"/>
              <a:t> == IF/</a:t>
            </a:r>
            <a:r>
              <a:rPr lang="en-US" altLang="en-US" sz="2000" dirty="0" err="1"/>
              <a:t>ID.RegisterRs</a:t>
            </a:r>
            <a:r>
              <a:rPr lang="en-US" altLang="en-US" sz="2000" dirty="0"/>
              <a:t>, or</a:t>
            </a:r>
          </a:p>
          <a:p>
            <a:pPr lvl="2"/>
            <a:r>
              <a:rPr lang="en-US" altLang="en-US" sz="2000" dirty="0"/>
              <a:t>MEM/</a:t>
            </a:r>
            <a:r>
              <a:rPr lang="en-US" altLang="en-US" sz="2000" dirty="0" err="1"/>
              <a:t>WB.WriteRegister</a:t>
            </a:r>
            <a:r>
              <a:rPr lang="en-US" altLang="en-US" sz="2000" dirty="0"/>
              <a:t> == IF/</a:t>
            </a:r>
            <a:r>
              <a:rPr lang="en-US" altLang="en-US" sz="2000" dirty="0" err="1"/>
              <a:t>ID.RegisterRt</a:t>
            </a:r>
            <a:endParaRPr lang="en-US" altLang="en-US" sz="2000" dirty="0"/>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18</a:t>
            </a:fld>
            <a:endParaRPr lang="en-US" altLang="en-US">
              <a:latin typeface="Calibri" panose="020F0502020204030204" pitchFamily="34" charset="0"/>
            </a:endParaRPr>
          </a:p>
        </p:txBody>
      </p:sp>
      <p:sp>
        <p:nvSpPr>
          <p:cNvPr id="6" name="Rectangle 3">
            <a:extLst>
              <a:ext uri="{FF2B5EF4-FFF2-40B4-BE49-F238E27FC236}">
                <a16:creationId xmlns:a16="http://schemas.microsoft.com/office/drawing/2014/main" id="{1C442AB6-EB4D-47DB-BD48-E0D610940D6F}"/>
              </a:ext>
            </a:extLst>
          </p:cNvPr>
          <p:cNvSpPr txBox="1">
            <a:spLocks noChangeArrowheads="1"/>
          </p:cNvSpPr>
          <p:nvPr>
            <p:custDataLst>
              <p:tags r:id="rId5"/>
            </p:custDataLst>
          </p:nvPr>
        </p:nvSpPr>
        <p:spPr bwMode="auto">
          <a:xfrm>
            <a:off x="606425" y="4456861"/>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add $1, $2, $3</a:t>
            </a:r>
          </a:p>
          <a:p>
            <a:pPr marL="457200" lvl="1" indent="0">
              <a:lnSpc>
                <a:spcPct val="90000"/>
              </a:lnSpc>
              <a:buFont typeface="Arial" charset="0"/>
              <a:buNone/>
            </a:pPr>
            <a:r>
              <a:rPr lang="en-US" altLang="en-US" sz="2400" dirty="0"/>
              <a:t>…</a:t>
            </a:r>
          </a:p>
          <a:p>
            <a:pPr marL="457200" lvl="1" indent="0">
              <a:lnSpc>
                <a:spcPct val="90000"/>
              </a:lnSpc>
              <a:buFont typeface="Arial" charset="0"/>
              <a:buNone/>
            </a:pPr>
            <a:r>
              <a:rPr lang="en-US" altLang="en-US" sz="2400" dirty="0"/>
              <a:t>…</a:t>
            </a:r>
          </a:p>
          <a:p>
            <a:pPr marL="457200" lvl="1" indent="0">
              <a:lnSpc>
                <a:spcPct val="90000"/>
              </a:lnSpc>
              <a:buFont typeface="Arial" charset="0"/>
              <a:buNone/>
            </a:pPr>
            <a:r>
              <a:rPr lang="en-US" altLang="en-US" sz="2400" dirty="0"/>
              <a:t>sub $4, $5, $1</a:t>
            </a:r>
          </a:p>
          <a:p>
            <a:pPr marL="457200" lvl="1" indent="0">
              <a:lnSpc>
                <a:spcPct val="90000"/>
              </a:lnSpc>
              <a:buFont typeface="Arial" charset="0"/>
              <a:buNone/>
            </a:pPr>
            <a:endParaRPr lang="en-US" altLang="en-US" sz="2400" dirty="0"/>
          </a:p>
          <a:p>
            <a:pPr marL="457200" lvl="1" indent="0">
              <a:lnSpc>
                <a:spcPct val="90000"/>
              </a:lnSpc>
              <a:buFont typeface="Arial" charset="0"/>
              <a:buNone/>
            </a:pPr>
            <a:endParaRPr lang="en-US" altLang="en-US" sz="2400" dirty="0"/>
          </a:p>
        </p:txBody>
      </p:sp>
      <p:sp>
        <p:nvSpPr>
          <p:cNvPr id="7" name="Line 66">
            <a:extLst>
              <a:ext uri="{FF2B5EF4-FFF2-40B4-BE49-F238E27FC236}">
                <a16:creationId xmlns:a16="http://schemas.microsoft.com/office/drawing/2014/main" id="{1D26FB9D-8F88-45B9-82EB-671F6A50ED72}"/>
              </a:ext>
            </a:extLst>
          </p:cNvPr>
          <p:cNvSpPr>
            <a:spLocks noChangeShapeType="1"/>
          </p:cNvSpPr>
          <p:nvPr>
            <p:custDataLst>
              <p:tags r:id="rId6"/>
            </p:custDataLst>
          </p:nvPr>
        </p:nvSpPr>
        <p:spPr bwMode="auto">
          <a:xfrm>
            <a:off x="1981200" y="4685461"/>
            <a:ext cx="685800" cy="1143000"/>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8" name="Group 4">
            <a:extLst>
              <a:ext uri="{FF2B5EF4-FFF2-40B4-BE49-F238E27FC236}">
                <a16:creationId xmlns:a16="http://schemas.microsoft.com/office/drawing/2014/main" id="{43C3C47F-BD62-41D1-BE4E-BB99A7A9F46D}"/>
              </a:ext>
            </a:extLst>
          </p:cNvPr>
          <p:cNvGraphicFramePr>
            <a:graphicFrameLocks noGrp="1"/>
          </p:cNvGraphicFramePr>
          <p:nvPr>
            <p:custDataLst>
              <p:tags r:id="rId7"/>
            </p:custDataLst>
            <p:extLst>
              <p:ext uri="{D42A27DB-BD31-4B8C-83A1-F6EECF244321}">
                <p14:modId xmlns:p14="http://schemas.microsoft.com/office/powerpoint/2010/main" val="3838553367"/>
              </p:ext>
            </p:extLst>
          </p:nvPr>
        </p:nvGraphicFramePr>
        <p:xfrm>
          <a:off x="3657597" y="4267200"/>
          <a:ext cx="4648203" cy="1883574"/>
        </p:xfrm>
        <a:graphic>
          <a:graphicData uri="http://schemas.openxmlformats.org/drawingml/2006/table">
            <a:tbl>
              <a:tblPr/>
              <a:tblGrid>
                <a:gridCol w="1143000">
                  <a:extLst>
                    <a:ext uri="{9D8B030D-6E8A-4147-A177-3AD203B41FA5}">
                      <a16:colId xmlns:a16="http://schemas.microsoft.com/office/drawing/2014/main" val="20000"/>
                    </a:ext>
                  </a:extLst>
                </a:gridCol>
                <a:gridCol w="389467">
                  <a:extLst>
                    <a:ext uri="{9D8B030D-6E8A-4147-A177-3AD203B41FA5}">
                      <a16:colId xmlns:a16="http://schemas.microsoft.com/office/drawing/2014/main" val="20001"/>
                    </a:ext>
                  </a:extLst>
                </a:gridCol>
                <a:gridCol w="389467">
                  <a:extLst>
                    <a:ext uri="{9D8B030D-6E8A-4147-A177-3AD203B41FA5}">
                      <a16:colId xmlns:a16="http://schemas.microsoft.com/office/drawing/2014/main" val="20002"/>
                    </a:ext>
                  </a:extLst>
                </a:gridCol>
                <a:gridCol w="389467">
                  <a:extLst>
                    <a:ext uri="{9D8B030D-6E8A-4147-A177-3AD203B41FA5}">
                      <a16:colId xmlns:a16="http://schemas.microsoft.com/office/drawing/2014/main" val="20003"/>
                    </a:ext>
                  </a:extLst>
                </a:gridCol>
                <a:gridCol w="389467">
                  <a:extLst>
                    <a:ext uri="{9D8B030D-6E8A-4147-A177-3AD203B41FA5}">
                      <a16:colId xmlns:a16="http://schemas.microsoft.com/office/drawing/2014/main" val="20004"/>
                    </a:ext>
                  </a:extLst>
                </a:gridCol>
                <a:gridCol w="389467">
                  <a:extLst>
                    <a:ext uri="{9D8B030D-6E8A-4147-A177-3AD203B41FA5}">
                      <a16:colId xmlns:a16="http://schemas.microsoft.com/office/drawing/2014/main" val="20005"/>
                    </a:ext>
                  </a:extLst>
                </a:gridCol>
                <a:gridCol w="389467">
                  <a:extLst>
                    <a:ext uri="{9D8B030D-6E8A-4147-A177-3AD203B41FA5}">
                      <a16:colId xmlns:a16="http://schemas.microsoft.com/office/drawing/2014/main" val="20006"/>
                    </a:ext>
                  </a:extLst>
                </a:gridCol>
                <a:gridCol w="389467">
                  <a:extLst>
                    <a:ext uri="{9D8B030D-6E8A-4147-A177-3AD203B41FA5}">
                      <a16:colId xmlns:a16="http://schemas.microsoft.com/office/drawing/2014/main" val="20007"/>
                    </a:ext>
                  </a:extLst>
                </a:gridCol>
                <a:gridCol w="389467">
                  <a:extLst>
                    <a:ext uri="{9D8B030D-6E8A-4147-A177-3AD203B41FA5}">
                      <a16:colId xmlns:a16="http://schemas.microsoft.com/office/drawing/2014/main" val="20008"/>
                    </a:ext>
                  </a:extLst>
                </a:gridCol>
                <a:gridCol w="389467">
                  <a:extLst>
                    <a:ext uri="{9D8B030D-6E8A-4147-A177-3AD203B41FA5}">
                      <a16:colId xmlns:a16="http://schemas.microsoft.com/office/drawing/2014/main" val="20013"/>
                    </a:ext>
                  </a:extLst>
                </a:gridCol>
              </a:tblGrid>
              <a:tr h="37824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111049186"/>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699690349"/>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Rectangle 3">
            <a:extLst>
              <a:ext uri="{FF2B5EF4-FFF2-40B4-BE49-F238E27FC236}">
                <a16:creationId xmlns:a16="http://schemas.microsoft.com/office/drawing/2014/main" id="{52B0D3A6-4347-467C-935C-2F25CED62EF8}"/>
              </a:ext>
            </a:extLst>
          </p:cNvPr>
          <p:cNvSpPr txBox="1">
            <a:spLocks noChangeArrowheads="1"/>
          </p:cNvSpPr>
          <p:nvPr>
            <p:custDataLst>
              <p:tags r:id="rId8"/>
            </p:custDataLst>
          </p:nvPr>
        </p:nvSpPr>
        <p:spPr bwMode="auto">
          <a:xfrm>
            <a:off x="609600" y="6477000"/>
            <a:ext cx="845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en-US" sz="2000" dirty="0"/>
              <a:t>*</a:t>
            </a:r>
            <a:r>
              <a:rPr lang="en-US" altLang="en-US" sz="2000" dirty="0" err="1"/>
              <a:t>WriteRegister</a:t>
            </a:r>
            <a:r>
              <a:rPr lang="en-US" altLang="en-US" sz="2000" dirty="0"/>
              <a:t> = R-format ? </a:t>
            </a:r>
            <a:r>
              <a:rPr lang="en-US" altLang="en-US" sz="2000" dirty="0" err="1"/>
              <a:t>RegisterRd</a:t>
            </a:r>
            <a:r>
              <a:rPr lang="en-US" altLang="en-US" sz="2000" dirty="0"/>
              <a:t> : </a:t>
            </a:r>
            <a:r>
              <a:rPr lang="en-US" altLang="en-US" sz="2000" dirty="0" err="1"/>
              <a:t>RegisterRt</a:t>
            </a:r>
            <a:endParaRPr lang="en-US" altLang="en-US" sz="2000" dirty="0"/>
          </a:p>
        </p:txBody>
      </p:sp>
    </p:spTree>
    <p:custDataLst>
      <p:tags r:id="rId1"/>
    </p:custDataLst>
    <p:extLst>
      <p:ext uri="{BB962C8B-B14F-4D97-AF65-F5344CB8AC3E}">
        <p14:creationId xmlns:p14="http://schemas.microsoft.com/office/powerpoint/2010/main" val="36262825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95C54D0-D9E7-4EF7-87A4-32B5723F9F76}"/>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Resolving RAW Hazards</a:t>
            </a:r>
          </a:p>
        </p:txBody>
      </p:sp>
      <p:sp>
        <p:nvSpPr>
          <p:cNvPr id="21507" name="Rectangle 3">
            <a:extLst>
              <a:ext uri="{FF2B5EF4-FFF2-40B4-BE49-F238E27FC236}">
                <a16:creationId xmlns:a16="http://schemas.microsoft.com/office/drawing/2014/main" id="{33A12F62-92D4-4E81-B29D-7494EBD1AEC3}"/>
              </a:ext>
            </a:extLst>
          </p:cNvPr>
          <p:cNvSpPr>
            <a:spLocks noGrp="1" noChangeArrowheads="1"/>
          </p:cNvSpPr>
          <p:nvPr>
            <p:ph idx="1"/>
            <p:custDataLst>
              <p:tags r:id="rId3"/>
            </p:custDataLst>
          </p:nvPr>
        </p:nvSpPr>
        <p:spPr>
          <a:xfrm>
            <a:off x="457200" y="1600200"/>
            <a:ext cx="8229600" cy="4525963"/>
          </a:xfrm>
        </p:spPr>
        <p:txBody>
          <a:bodyPr/>
          <a:lstStyle/>
          <a:p>
            <a:pPr eaLnBrk="1" hangingPunct="1"/>
            <a:r>
              <a:rPr lang="en-US" altLang="en-US" dirty="0"/>
              <a:t>Actually need to check for more conditions:</a:t>
            </a:r>
          </a:p>
          <a:p>
            <a:pPr lvl="1" eaLnBrk="1" hangingPunct="1"/>
            <a:r>
              <a:rPr lang="en-US" altLang="en-US" dirty="0" err="1"/>
              <a:t>WriteRegister</a:t>
            </a:r>
            <a:r>
              <a:rPr lang="en-US" altLang="en-US" dirty="0"/>
              <a:t> not necessarily used (e.g., </a:t>
            </a:r>
            <a:r>
              <a:rPr lang="en-US" altLang="en-US" dirty="0" err="1"/>
              <a:t>sw</a:t>
            </a:r>
            <a:r>
              <a:rPr lang="en-US" altLang="en-US" dirty="0"/>
              <a:t>)</a:t>
            </a:r>
          </a:p>
          <a:p>
            <a:pPr lvl="1" eaLnBrk="1" hangingPunct="1"/>
            <a:r>
              <a:rPr lang="en-US" altLang="en-US" dirty="0" err="1"/>
              <a:t>RegisterRs</a:t>
            </a:r>
            <a:r>
              <a:rPr lang="en-US" altLang="en-US" dirty="0"/>
              <a:t>/</a:t>
            </a:r>
            <a:r>
              <a:rPr lang="en-US" altLang="en-US" dirty="0" err="1"/>
              <a:t>RegisterRt</a:t>
            </a:r>
            <a:r>
              <a:rPr lang="en-US" altLang="en-US" dirty="0"/>
              <a:t> not necessarily read (e.g., </a:t>
            </a:r>
            <a:r>
              <a:rPr lang="en-US" altLang="en-US" dirty="0" err="1"/>
              <a:t>addi</a:t>
            </a:r>
            <a:r>
              <a:rPr lang="en-US" altLang="en-US" dirty="0"/>
              <a:t>, jump)</a:t>
            </a:r>
          </a:p>
          <a:p>
            <a:pPr lvl="2"/>
            <a:r>
              <a:rPr lang="en-US" altLang="en-US" dirty="0"/>
              <a:t>e.g., Not a RAW dependence:</a:t>
            </a:r>
          </a:p>
        </p:txBody>
      </p:sp>
      <p:sp>
        <p:nvSpPr>
          <p:cNvPr id="2" name="Slide Number Placeholder 1">
            <a:extLst>
              <a:ext uri="{FF2B5EF4-FFF2-40B4-BE49-F238E27FC236}">
                <a16:creationId xmlns:a16="http://schemas.microsoft.com/office/drawing/2014/main" id="{41B8A8F3-C5E7-4756-BAA1-29E2D174B5FC}"/>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9140ACC2-D47C-4238-9384-E755A30526D1}" type="slidenum">
              <a:rPr lang="en-US" altLang="en-US">
                <a:latin typeface="Calibri" panose="020F0502020204030204" pitchFamily="34" charset="0"/>
              </a:rPr>
              <a:pPr lvl="1" eaLnBrk="1" hangingPunct="1"/>
              <a:t>19</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0D12A377-C2EA-4E5C-926A-AF89678B3539}"/>
              </a:ext>
            </a:extLst>
          </p:cNvPr>
          <p:cNvSpPr txBox="1">
            <a:spLocks noChangeArrowheads="1"/>
          </p:cNvSpPr>
          <p:nvPr>
            <p:custDataLst>
              <p:tags r:id="rId5"/>
            </p:custDataLst>
          </p:nvPr>
        </p:nvSpPr>
        <p:spPr bwMode="auto">
          <a:xfrm>
            <a:off x="609600" y="6477000"/>
            <a:ext cx="845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en-US" sz="2000" dirty="0"/>
              <a:t>*</a:t>
            </a:r>
            <a:r>
              <a:rPr lang="en-US" altLang="en-US" sz="2000" dirty="0" err="1"/>
              <a:t>WriteRegister</a:t>
            </a:r>
            <a:r>
              <a:rPr lang="en-US" altLang="en-US" sz="2000" dirty="0"/>
              <a:t> = R-format ? </a:t>
            </a:r>
            <a:r>
              <a:rPr lang="en-US" altLang="en-US" sz="2000" dirty="0" err="1"/>
              <a:t>RegisterRd</a:t>
            </a:r>
            <a:r>
              <a:rPr lang="en-US" altLang="en-US" sz="2000" dirty="0"/>
              <a:t> : </a:t>
            </a:r>
            <a:r>
              <a:rPr lang="en-US" altLang="en-US" sz="2000" dirty="0" err="1"/>
              <a:t>RegisterRt</a:t>
            </a:r>
            <a:endParaRPr lang="en-US" altLang="en-US" sz="2000" dirty="0"/>
          </a:p>
        </p:txBody>
      </p:sp>
      <p:sp>
        <p:nvSpPr>
          <p:cNvPr id="6" name="Rectangle 3">
            <a:extLst>
              <a:ext uri="{FF2B5EF4-FFF2-40B4-BE49-F238E27FC236}">
                <a16:creationId xmlns:a16="http://schemas.microsoft.com/office/drawing/2014/main" id="{EFE2655C-1D03-4516-996F-31351569DA9F}"/>
              </a:ext>
            </a:extLst>
          </p:cNvPr>
          <p:cNvSpPr txBox="1">
            <a:spLocks noChangeArrowheads="1"/>
          </p:cNvSpPr>
          <p:nvPr>
            <p:custDataLst>
              <p:tags r:id="rId6"/>
            </p:custDataLst>
          </p:nvPr>
        </p:nvSpPr>
        <p:spPr bwMode="auto">
          <a:xfrm>
            <a:off x="4928259" y="3625850"/>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sw</a:t>
            </a:r>
            <a:r>
              <a:rPr lang="en-US" altLang="en-US" sz="2400" dirty="0"/>
              <a:t> $1, 0($2)</a:t>
            </a:r>
          </a:p>
          <a:p>
            <a:pPr marL="457200" lvl="1" indent="0">
              <a:lnSpc>
                <a:spcPct val="90000"/>
              </a:lnSpc>
              <a:buFont typeface="Arial" charset="0"/>
              <a:buNone/>
            </a:pPr>
            <a:r>
              <a:rPr lang="en-US" altLang="en-US" sz="2400" dirty="0"/>
              <a:t>sub $4, $5, $1</a:t>
            </a:r>
          </a:p>
          <a:p>
            <a:pPr marL="457200" lvl="1" indent="0">
              <a:lnSpc>
                <a:spcPct val="90000"/>
              </a:lnSpc>
              <a:buFont typeface="Arial" charset="0"/>
              <a:buNone/>
            </a:pPr>
            <a:endParaRPr lang="en-US" altLang="en-US" sz="2400" dirty="0"/>
          </a:p>
          <a:p>
            <a:pPr marL="457200" lvl="1" indent="0">
              <a:lnSpc>
                <a:spcPct val="90000"/>
              </a:lnSpc>
              <a:buFont typeface="Arial" charset="0"/>
              <a:buNone/>
            </a:pPr>
            <a:endParaRPr lang="en-US" altLang="en-US" sz="2400" dirty="0"/>
          </a:p>
        </p:txBody>
      </p:sp>
      <p:sp>
        <p:nvSpPr>
          <p:cNvPr id="7" name="Line 66">
            <a:extLst>
              <a:ext uri="{FF2B5EF4-FFF2-40B4-BE49-F238E27FC236}">
                <a16:creationId xmlns:a16="http://schemas.microsoft.com/office/drawing/2014/main" id="{305F24DA-967B-4008-A76F-668BB7BC22BB}"/>
              </a:ext>
            </a:extLst>
          </p:cNvPr>
          <p:cNvSpPr>
            <a:spLocks noChangeShapeType="1"/>
          </p:cNvSpPr>
          <p:nvPr>
            <p:custDataLst>
              <p:tags r:id="rId7"/>
            </p:custDataLst>
          </p:nvPr>
        </p:nvSpPr>
        <p:spPr bwMode="auto">
          <a:xfrm>
            <a:off x="6223659" y="3891711"/>
            <a:ext cx="685800" cy="343739"/>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165080874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Resolving RAW Hazards</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458200" cy="5121275"/>
          </a:xfrm>
        </p:spPr>
        <p:txBody>
          <a:bodyPr/>
          <a:lstStyle/>
          <a:p>
            <a:r>
              <a:rPr lang="en-US" altLang="en-US" sz="2800" dirty="0"/>
              <a:t>Step 2a: </a:t>
            </a:r>
            <a:r>
              <a:rPr lang="en-US" altLang="en-US" sz="2800" i="1" dirty="0"/>
              <a:t>Stall</a:t>
            </a:r>
            <a:r>
              <a:rPr lang="en-US" altLang="en-US" sz="2800" dirty="0"/>
              <a:t> the reader instruction at ID stage</a:t>
            </a:r>
          </a:p>
          <a:p>
            <a:pPr lvl="1"/>
            <a:r>
              <a:rPr lang="en-US" altLang="en-US" sz="2400" dirty="0"/>
              <a:t>Instructions in IF and ID stay there for next cycle</a:t>
            </a:r>
          </a:p>
          <a:p>
            <a:pPr lvl="1"/>
            <a:r>
              <a:rPr lang="en-US" altLang="en-US" sz="2400" dirty="0"/>
              <a:t>Send </a:t>
            </a:r>
            <a:r>
              <a:rPr lang="en-US" altLang="en-US" sz="2400" i="1" dirty="0" err="1"/>
              <a:t>nop</a:t>
            </a:r>
            <a:r>
              <a:rPr lang="en-US" altLang="en-US" sz="2400" dirty="0"/>
              <a:t> (no operation, or </a:t>
            </a:r>
            <a:r>
              <a:rPr lang="en-US" altLang="en-US" sz="2400" i="1" dirty="0"/>
              <a:t>bubble</a:t>
            </a:r>
            <a:r>
              <a:rPr lang="en-US" altLang="en-US" sz="2400" dirty="0"/>
              <a:t>) ahead of reader until hazard is resolved</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20</a:t>
            </a:fld>
            <a:endParaRPr lang="en-US" altLang="en-US">
              <a:latin typeface="Calibri" panose="020F0502020204030204" pitchFamily="34" charset="0"/>
            </a:endParaRPr>
          </a:p>
        </p:txBody>
      </p:sp>
      <p:sp>
        <p:nvSpPr>
          <p:cNvPr id="6" name="Rectangle 3">
            <a:extLst>
              <a:ext uri="{FF2B5EF4-FFF2-40B4-BE49-F238E27FC236}">
                <a16:creationId xmlns:a16="http://schemas.microsoft.com/office/drawing/2014/main" id="{1C442AB6-EB4D-47DB-BD48-E0D610940D6F}"/>
              </a:ext>
            </a:extLst>
          </p:cNvPr>
          <p:cNvSpPr txBox="1">
            <a:spLocks noChangeArrowheads="1"/>
          </p:cNvSpPr>
          <p:nvPr>
            <p:custDataLst>
              <p:tags r:id="rId5"/>
            </p:custDataLst>
          </p:nvPr>
        </p:nvSpPr>
        <p:spPr bwMode="auto">
          <a:xfrm>
            <a:off x="304800" y="4456861"/>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add $1, $2, $3</a:t>
            </a:r>
          </a:p>
          <a:p>
            <a:pPr marL="457200" lvl="1" indent="0">
              <a:lnSpc>
                <a:spcPct val="90000"/>
              </a:lnSpc>
              <a:buFont typeface="Arial" charset="0"/>
              <a:buNone/>
            </a:pPr>
            <a:r>
              <a:rPr lang="en-US" altLang="en-US" sz="2400" dirty="0"/>
              <a:t>sub $4, $5, $1</a:t>
            </a:r>
          </a:p>
          <a:p>
            <a:pPr marL="457200" lvl="1" indent="0">
              <a:lnSpc>
                <a:spcPct val="90000"/>
              </a:lnSpc>
              <a:buNone/>
            </a:pPr>
            <a:r>
              <a:rPr lang="en-US" altLang="en-US" sz="2400" dirty="0" err="1"/>
              <a:t>lw</a:t>
            </a:r>
            <a:r>
              <a:rPr lang="en-US" altLang="en-US" sz="2400" dirty="0"/>
              <a:t> $6, 0($7)</a:t>
            </a:r>
          </a:p>
          <a:p>
            <a:pPr marL="457200" lvl="1" indent="0">
              <a:lnSpc>
                <a:spcPct val="90000"/>
              </a:lnSpc>
              <a:buFont typeface="Arial" charset="0"/>
              <a:buNone/>
            </a:pPr>
            <a:endParaRPr lang="en-US" altLang="en-US" sz="2400" dirty="0"/>
          </a:p>
        </p:txBody>
      </p:sp>
      <p:sp>
        <p:nvSpPr>
          <p:cNvPr id="7" name="Line 66">
            <a:extLst>
              <a:ext uri="{FF2B5EF4-FFF2-40B4-BE49-F238E27FC236}">
                <a16:creationId xmlns:a16="http://schemas.microsoft.com/office/drawing/2014/main" id="{1D26FB9D-8F88-45B9-82EB-671F6A50ED72}"/>
              </a:ext>
            </a:extLst>
          </p:cNvPr>
          <p:cNvSpPr>
            <a:spLocks noChangeShapeType="1"/>
          </p:cNvSpPr>
          <p:nvPr>
            <p:custDataLst>
              <p:tags r:id="rId6"/>
            </p:custDataLst>
          </p:nvPr>
        </p:nvSpPr>
        <p:spPr bwMode="auto">
          <a:xfrm>
            <a:off x="1679575" y="4685461"/>
            <a:ext cx="685800" cy="343739"/>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8" name="Group 4">
            <a:extLst>
              <a:ext uri="{FF2B5EF4-FFF2-40B4-BE49-F238E27FC236}">
                <a16:creationId xmlns:a16="http://schemas.microsoft.com/office/drawing/2014/main" id="{43C3C47F-BD62-41D1-BE4E-BB99A7A9F46D}"/>
              </a:ext>
            </a:extLst>
          </p:cNvPr>
          <p:cNvGraphicFramePr>
            <a:graphicFrameLocks noGrp="1"/>
          </p:cNvGraphicFramePr>
          <p:nvPr>
            <p:custDataLst>
              <p:tags r:id="rId7"/>
            </p:custDataLst>
            <p:extLst>
              <p:ext uri="{D42A27DB-BD31-4B8C-83A1-F6EECF244321}">
                <p14:modId xmlns:p14="http://schemas.microsoft.com/office/powerpoint/2010/main" val="3723440277"/>
              </p:ext>
            </p:extLst>
          </p:nvPr>
        </p:nvGraphicFramePr>
        <p:xfrm>
          <a:off x="2822575" y="4267200"/>
          <a:ext cx="5638803" cy="1517832"/>
        </p:xfrm>
        <a:graphic>
          <a:graphicData uri="http://schemas.openxmlformats.org/drawingml/2006/table">
            <a:tbl>
              <a:tblPr/>
              <a:tblGrid>
                <a:gridCol w="1241573">
                  <a:extLst>
                    <a:ext uri="{9D8B030D-6E8A-4147-A177-3AD203B41FA5}">
                      <a16:colId xmlns:a16="http://schemas.microsoft.com/office/drawing/2014/main" val="20000"/>
                    </a:ext>
                  </a:extLst>
                </a:gridCol>
                <a:gridCol w="439723">
                  <a:extLst>
                    <a:ext uri="{9D8B030D-6E8A-4147-A177-3AD203B41FA5}">
                      <a16:colId xmlns:a16="http://schemas.microsoft.com/office/drawing/2014/main" val="20001"/>
                    </a:ext>
                  </a:extLst>
                </a:gridCol>
                <a:gridCol w="439723">
                  <a:extLst>
                    <a:ext uri="{9D8B030D-6E8A-4147-A177-3AD203B41FA5}">
                      <a16:colId xmlns:a16="http://schemas.microsoft.com/office/drawing/2014/main" val="20002"/>
                    </a:ext>
                  </a:extLst>
                </a:gridCol>
                <a:gridCol w="439723">
                  <a:extLst>
                    <a:ext uri="{9D8B030D-6E8A-4147-A177-3AD203B41FA5}">
                      <a16:colId xmlns:a16="http://schemas.microsoft.com/office/drawing/2014/main" val="20003"/>
                    </a:ext>
                  </a:extLst>
                </a:gridCol>
                <a:gridCol w="439723">
                  <a:extLst>
                    <a:ext uri="{9D8B030D-6E8A-4147-A177-3AD203B41FA5}">
                      <a16:colId xmlns:a16="http://schemas.microsoft.com/office/drawing/2014/main" val="20004"/>
                    </a:ext>
                  </a:extLst>
                </a:gridCol>
                <a:gridCol w="439723">
                  <a:extLst>
                    <a:ext uri="{9D8B030D-6E8A-4147-A177-3AD203B41FA5}">
                      <a16:colId xmlns:a16="http://schemas.microsoft.com/office/drawing/2014/main" val="20005"/>
                    </a:ext>
                  </a:extLst>
                </a:gridCol>
                <a:gridCol w="439723">
                  <a:extLst>
                    <a:ext uri="{9D8B030D-6E8A-4147-A177-3AD203B41FA5}">
                      <a16:colId xmlns:a16="http://schemas.microsoft.com/office/drawing/2014/main" val="20006"/>
                    </a:ext>
                  </a:extLst>
                </a:gridCol>
                <a:gridCol w="439723">
                  <a:extLst>
                    <a:ext uri="{9D8B030D-6E8A-4147-A177-3AD203B41FA5}">
                      <a16:colId xmlns:a16="http://schemas.microsoft.com/office/drawing/2014/main" val="20007"/>
                    </a:ext>
                  </a:extLst>
                </a:gridCol>
                <a:gridCol w="439723">
                  <a:extLst>
                    <a:ext uri="{9D8B030D-6E8A-4147-A177-3AD203B41FA5}">
                      <a16:colId xmlns:a16="http://schemas.microsoft.com/office/drawing/2014/main" val="20008"/>
                    </a:ext>
                  </a:extLst>
                </a:gridCol>
                <a:gridCol w="439723">
                  <a:extLst>
                    <a:ext uri="{9D8B030D-6E8A-4147-A177-3AD203B41FA5}">
                      <a16:colId xmlns:a16="http://schemas.microsoft.com/office/drawing/2014/main" val="809071843"/>
                    </a:ext>
                  </a:extLst>
                </a:gridCol>
                <a:gridCol w="439723">
                  <a:extLst>
                    <a:ext uri="{9D8B030D-6E8A-4147-A177-3AD203B41FA5}">
                      <a16:colId xmlns:a16="http://schemas.microsoft.com/office/drawing/2014/main" val="20013"/>
                    </a:ext>
                  </a:extLst>
                </a:gridCol>
              </a:tblGrid>
              <a:tr h="37824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1600" b="0" i="0" u="none" strike="noStrike" cap="none" normalizeH="0" baseline="0" dirty="0">
                          <a:ln>
                            <a:noFill/>
                          </a:ln>
                          <a:solidFill>
                            <a:schemeClr val="tx1"/>
                          </a:solidFill>
                          <a:effectLst/>
                          <a:latin typeface="+mn-lt"/>
                        </a:rPr>
                        <a:t>X</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1600" b="0" i="0" u="none" strike="noStrike" cap="none" normalizeH="0" baseline="0" dirty="0">
                          <a:ln>
                            <a:noFill/>
                          </a:ln>
                          <a:solidFill>
                            <a:schemeClr val="tx1"/>
                          </a:solidFill>
                          <a:effectLst/>
                          <a:latin typeface="+mn-lt"/>
                        </a:rPr>
                        <a:t>M</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825899613"/>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endParaRPr kumimoji="0" lang="en-US" sz="20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1600" b="0" i="0" u="none" strike="noStrike" cap="none" normalizeH="0" baseline="0" dirty="0">
                          <a:ln>
                            <a:noFill/>
                          </a:ln>
                          <a:solidFill>
                            <a:schemeClr val="tx1"/>
                          </a:solidFill>
                          <a:effectLst/>
                          <a:latin typeface="+mn-lt"/>
                        </a:rPr>
                        <a:t>D</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1600" b="0" i="0" u="none" strike="noStrike" cap="none" normalizeH="0" baseline="0" dirty="0">
                          <a:ln>
                            <a:noFill/>
                          </a:ln>
                          <a:solidFill>
                            <a:schemeClr val="tx1"/>
                          </a:solidFill>
                          <a:effectLst/>
                          <a:latin typeface="+mn-lt"/>
                        </a:rPr>
                        <a:t>X</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78001053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Resolving RAW Hazards</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3"/>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21</a:t>
            </a:fld>
            <a:endParaRPr lang="en-US" altLang="en-US">
              <a:latin typeface="Calibri" panose="020F0502020204030204" pitchFamily="34" charset="0"/>
            </a:endParaRPr>
          </a:p>
        </p:txBody>
      </p:sp>
      <p:sp>
        <p:nvSpPr>
          <p:cNvPr id="6" name="Rectangle 3">
            <a:extLst>
              <a:ext uri="{FF2B5EF4-FFF2-40B4-BE49-F238E27FC236}">
                <a16:creationId xmlns:a16="http://schemas.microsoft.com/office/drawing/2014/main" id="{1C442AB6-EB4D-47DB-BD48-E0D610940D6F}"/>
              </a:ext>
            </a:extLst>
          </p:cNvPr>
          <p:cNvSpPr txBox="1">
            <a:spLocks noChangeArrowheads="1"/>
          </p:cNvSpPr>
          <p:nvPr>
            <p:custDataLst>
              <p:tags r:id="rId4"/>
            </p:custDataLst>
          </p:nvPr>
        </p:nvSpPr>
        <p:spPr bwMode="auto">
          <a:xfrm>
            <a:off x="304800" y="4456861"/>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add $1, $2, $3</a:t>
            </a:r>
          </a:p>
          <a:p>
            <a:pPr marL="457200" lvl="1" indent="0">
              <a:lnSpc>
                <a:spcPct val="90000"/>
              </a:lnSpc>
              <a:buFont typeface="Arial" charset="0"/>
              <a:buNone/>
            </a:pPr>
            <a:r>
              <a:rPr lang="en-US" altLang="en-US" sz="2400" dirty="0"/>
              <a:t>sub $4, $5, $1</a:t>
            </a:r>
          </a:p>
          <a:p>
            <a:pPr marL="457200" lvl="1" indent="0">
              <a:lnSpc>
                <a:spcPct val="90000"/>
              </a:lnSpc>
              <a:buNone/>
            </a:pPr>
            <a:r>
              <a:rPr lang="en-US" altLang="en-US" sz="2400" dirty="0" err="1"/>
              <a:t>lw</a:t>
            </a:r>
            <a:r>
              <a:rPr lang="en-US" altLang="en-US" sz="2400" dirty="0"/>
              <a:t> $6, 0($7)</a:t>
            </a:r>
          </a:p>
          <a:p>
            <a:pPr marL="457200" lvl="1" indent="0">
              <a:lnSpc>
                <a:spcPct val="90000"/>
              </a:lnSpc>
              <a:buFont typeface="Arial" charset="0"/>
              <a:buNone/>
            </a:pPr>
            <a:endParaRPr lang="en-US" altLang="en-US" sz="2400" dirty="0"/>
          </a:p>
        </p:txBody>
      </p:sp>
      <p:sp>
        <p:nvSpPr>
          <p:cNvPr id="7" name="Line 66">
            <a:extLst>
              <a:ext uri="{FF2B5EF4-FFF2-40B4-BE49-F238E27FC236}">
                <a16:creationId xmlns:a16="http://schemas.microsoft.com/office/drawing/2014/main" id="{1D26FB9D-8F88-45B9-82EB-671F6A50ED72}"/>
              </a:ext>
            </a:extLst>
          </p:cNvPr>
          <p:cNvSpPr>
            <a:spLocks noChangeShapeType="1"/>
          </p:cNvSpPr>
          <p:nvPr>
            <p:custDataLst>
              <p:tags r:id="rId5"/>
            </p:custDataLst>
          </p:nvPr>
        </p:nvSpPr>
        <p:spPr bwMode="auto">
          <a:xfrm>
            <a:off x="1679575" y="4685461"/>
            <a:ext cx="685800" cy="343739"/>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8" name="Group 4">
            <a:extLst>
              <a:ext uri="{FF2B5EF4-FFF2-40B4-BE49-F238E27FC236}">
                <a16:creationId xmlns:a16="http://schemas.microsoft.com/office/drawing/2014/main" id="{43C3C47F-BD62-41D1-BE4E-BB99A7A9F46D}"/>
              </a:ext>
            </a:extLst>
          </p:cNvPr>
          <p:cNvGraphicFramePr>
            <a:graphicFrameLocks noGrp="1"/>
          </p:cNvGraphicFramePr>
          <p:nvPr>
            <p:custDataLst>
              <p:tags r:id="rId6"/>
            </p:custDataLst>
            <p:extLst>
              <p:ext uri="{D42A27DB-BD31-4B8C-83A1-F6EECF244321}">
                <p14:modId xmlns:p14="http://schemas.microsoft.com/office/powerpoint/2010/main" val="1011792771"/>
              </p:ext>
            </p:extLst>
          </p:nvPr>
        </p:nvGraphicFramePr>
        <p:xfrm>
          <a:off x="2822575" y="4267200"/>
          <a:ext cx="5638803" cy="1517832"/>
        </p:xfrm>
        <a:graphic>
          <a:graphicData uri="http://schemas.openxmlformats.org/drawingml/2006/table">
            <a:tbl>
              <a:tblPr/>
              <a:tblGrid>
                <a:gridCol w="1241573">
                  <a:extLst>
                    <a:ext uri="{9D8B030D-6E8A-4147-A177-3AD203B41FA5}">
                      <a16:colId xmlns:a16="http://schemas.microsoft.com/office/drawing/2014/main" val="20000"/>
                    </a:ext>
                  </a:extLst>
                </a:gridCol>
                <a:gridCol w="439723">
                  <a:extLst>
                    <a:ext uri="{9D8B030D-6E8A-4147-A177-3AD203B41FA5}">
                      <a16:colId xmlns:a16="http://schemas.microsoft.com/office/drawing/2014/main" val="20001"/>
                    </a:ext>
                  </a:extLst>
                </a:gridCol>
                <a:gridCol w="439723">
                  <a:extLst>
                    <a:ext uri="{9D8B030D-6E8A-4147-A177-3AD203B41FA5}">
                      <a16:colId xmlns:a16="http://schemas.microsoft.com/office/drawing/2014/main" val="20002"/>
                    </a:ext>
                  </a:extLst>
                </a:gridCol>
                <a:gridCol w="439723">
                  <a:extLst>
                    <a:ext uri="{9D8B030D-6E8A-4147-A177-3AD203B41FA5}">
                      <a16:colId xmlns:a16="http://schemas.microsoft.com/office/drawing/2014/main" val="20003"/>
                    </a:ext>
                  </a:extLst>
                </a:gridCol>
                <a:gridCol w="439723">
                  <a:extLst>
                    <a:ext uri="{9D8B030D-6E8A-4147-A177-3AD203B41FA5}">
                      <a16:colId xmlns:a16="http://schemas.microsoft.com/office/drawing/2014/main" val="20004"/>
                    </a:ext>
                  </a:extLst>
                </a:gridCol>
                <a:gridCol w="439723">
                  <a:extLst>
                    <a:ext uri="{9D8B030D-6E8A-4147-A177-3AD203B41FA5}">
                      <a16:colId xmlns:a16="http://schemas.microsoft.com/office/drawing/2014/main" val="20005"/>
                    </a:ext>
                  </a:extLst>
                </a:gridCol>
                <a:gridCol w="439723">
                  <a:extLst>
                    <a:ext uri="{9D8B030D-6E8A-4147-A177-3AD203B41FA5}">
                      <a16:colId xmlns:a16="http://schemas.microsoft.com/office/drawing/2014/main" val="20006"/>
                    </a:ext>
                  </a:extLst>
                </a:gridCol>
                <a:gridCol w="439723">
                  <a:extLst>
                    <a:ext uri="{9D8B030D-6E8A-4147-A177-3AD203B41FA5}">
                      <a16:colId xmlns:a16="http://schemas.microsoft.com/office/drawing/2014/main" val="20007"/>
                    </a:ext>
                  </a:extLst>
                </a:gridCol>
                <a:gridCol w="439723">
                  <a:extLst>
                    <a:ext uri="{9D8B030D-6E8A-4147-A177-3AD203B41FA5}">
                      <a16:colId xmlns:a16="http://schemas.microsoft.com/office/drawing/2014/main" val="20008"/>
                    </a:ext>
                  </a:extLst>
                </a:gridCol>
                <a:gridCol w="439723">
                  <a:extLst>
                    <a:ext uri="{9D8B030D-6E8A-4147-A177-3AD203B41FA5}">
                      <a16:colId xmlns:a16="http://schemas.microsoft.com/office/drawing/2014/main" val="809071843"/>
                    </a:ext>
                  </a:extLst>
                </a:gridCol>
                <a:gridCol w="439723">
                  <a:extLst>
                    <a:ext uri="{9D8B030D-6E8A-4147-A177-3AD203B41FA5}">
                      <a16:colId xmlns:a16="http://schemas.microsoft.com/office/drawing/2014/main" val="20013"/>
                    </a:ext>
                  </a:extLst>
                </a:gridCol>
              </a:tblGrid>
              <a:tr h="37824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1600" b="0" i="0" u="none" strike="noStrike" cap="none" normalizeH="0" baseline="0" dirty="0">
                          <a:ln>
                            <a:noFill/>
                          </a:ln>
                          <a:solidFill>
                            <a:schemeClr val="tx1"/>
                          </a:solidFill>
                          <a:effectLst/>
                          <a:latin typeface="+mn-lt"/>
                        </a:rPr>
                        <a:t>X</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1600" b="0" i="0" u="none" strike="noStrike" cap="none" normalizeH="0" baseline="0" dirty="0">
                          <a:ln>
                            <a:noFill/>
                          </a:ln>
                          <a:solidFill>
                            <a:schemeClr val="tx1"/>
                          </a:solidFill>
                          <a:effectLst/>
                          <a:latin typeface="+mn-lt"/>
                        </a:rPr>
                        <a:t>M</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825899613"/>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endParaRPr kumimoji="0" lang="en-US" sz="20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1600" b="0" i="0" u="none" strike="noStrike" cap="none" normalizeH="0" baseline="0" dirty="0">
                          <a:ln>
                            <a:noFill/>
                          </a:ln>
                          <a:solidFill>
                            <a:schemeClr val="tx1"/>
                          </a:solidFill>
                          <a:effectLst/>
                          <a:latin typeface="+mn-lt"/>
                        </a:rPr>
                        <a:t>D</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1600" b="0" i="0" u="none" strike="noStrike" cap="none" normalizeH="0" baseline="0" dirty="0">
                          <a:ln>
                            <a:noFill/>
                          </a:ln>
                          <a:solidFill>
                            <a:schemeClr val="tx1"/>
                          </a:solidFill>
                          <a:effectLst/>
                          <a:latin typeface="+mn-lt"/>
                        </a:rPr>
                        <a:t>X</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11"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5709992D-0877-42BA-B62F-9A20B8890135}"/>
              </a:ext>
            </a:extLst>
          </p:cNvPr>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1376363" y="1600200"/>
            <a:ext cx="7000875" cy="1703766"/>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475B9475-14B9-4019-8A25-63250F2B6178}"/>
              </a:ext>
            </a:extLst>
          </p:cNvPr>
          <p:cNvGrpSpPr/>
          <p:nvPr>
            <p:custDataLst>
              <p:tags r:id="rId7"/>
            </p:custDataLst>
          </p:nvPr>
        </p:nvGrpSpPr>
        <p:grpSpPr>
          <a:xfrm>
            <a:off x="0" y="1676400"/>
            <a:ext cx="8839200" cy="2133600"/>
            <a:chOff x="0" y="1676400"/>
            <a:chExt cx="8839200" cy="2133600"/>
          </a:xfrm>
        </p:grpSpPr>
        <p:sp>
          <p:nvSpPr>
            <p:cNvPr id="12" name="Rectangle 3">
              <a:extLst>
                <a:ext uri="{FF2B5EF4-FFF2-40B4-BE49-F238E27FC236}">
                  <a16:creationId xmlns:a16="http://schemas.microsoft.com/office/drawing/2014/main" id="{824B30D1-1E26-4A4F-A9E1-442BECA588E2}"/>
                </a:ext>
              </a:extLst>
            </p:cNvPr>
            <p:cNvSpPr txBox="1">
              <a:spLocks noChangeArrowheads="1"/>
            </p:cNvSpPr>
            <p:nvPr>
              <p:custDataLst>
                <p:tags r:id="rId50"/>
              </p:custDataLst>
            </p:nvPr>
          </p:nvSpPr>
          <p:spPr bwMode="auto">
            <a:xfrm>
              <a:off x="34290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endParaRPr lang="en-US" altLang="en-US" sz="2400" b="1" dirty="0">
                <a:solidFill>
                  <a:schemeClr val="accent6">
                    <a:lumMod val="75000"/>
                  </a:schemeClr>
                </a:solidFill>
              </a:endParaRPr>
            </a:p>
          </p:txBody>
        </p:sp>
        <p:sp>
          <p:nvSpPr>
            <p:cNvPr id="13" name="Rectangle 3">
              <a:extLst>
                <a:ext uri="{FF2B5EF4-FFF2-40B4-BE49-F238E27FC236}">
                  <a16:creationId xmlns:a16="http://schemas.microsoft.com/office/drawing/2014/main" id="{E49D0FED-3756-4C94-8AC9-DA9602CBF645}"/>
                </a:ext>
              </a:extLst>
            </p:cNvPr>
            <p:cNvSpPr txBox="1">
              <a:spLocks noChangeArrowheads="1"/>
            </p:cNvSpPr>
            <p:nvPr>
              <p:custDataLst>
                <p:tags r:id="rId51"/>
              </p:custDataLst>
            </p:nvPr>
          </p:nvSpPr>
          <p:spPr bwMode="auto">
            <a:xfrm>
              <a:off x="16002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add</a:t>
              </a:r>
            </a:p>
          </p:txBody>
        </p:sp>
        <p:sp>
          <p:nvSpPr>
            <p:cNvPr id="14" name="Rectangle 3">
              <a:extLst>
                <a:ext uri="{FF2B5EF4-FFF2-40B4-BE49-F238E27FC236}">
                  <a16:creationId xmlns:a16="http://schemas.microsoft.com/office/drawing/2014/main" id="{DB850156-F86E-425B-B395-C646BDFEF2CA}"/>
                </a:ext>
              </a:extLst>
            </p:cNvPr>
            <p:cNvSpPr txBox="1">
              <a:spLocks noChangeArrowheads="1"/>
            </p:cNvSpPr>
            <p:nvPr>
              <p:custDataLst>
                <p:tags r:id="rId52"/>
              </p:custDataLst>
            </p:nvPr>
          </p:nvSpPr>
          <p:spPr bwMode="auto">
            <a:xfrm>
              <a:off x="51816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endParaRPr lang="en-US" altLang="en-US" sz="2400" b="1" dirty="0">
                <a:solidFill>
                  <a:schemeClr val="accent6">
                    <a:lumMod val="75000"/>
                  </a:schemeClr>
                </a:solidFill>
              </a:endParaRPr>
            </a:p>
          </p:txBody>
        </p:sp>
        <p:sp>
          <p:nvSpPr>
            <p:cNvPr id="15" name="Rectangle 3">
              <a:extLst>
                <a:ext uri="{FF2B5EF4-FFF2-40B4-BE49-F238E27FC236}">
                  <a16:creationId xmlns:a16="http://schemas.microsoft.com/office/drawing/2014/main" id="{40563B72-95E7-4A44-AFDC-0CDB833A4D41}"/>
                </a:ext>
              </a:extLst>
            </p:cNvPr>
            <p:cNvSpPr txBox="1">
              <a:spLocks noChangeArrowheads="1"/>
            </p:cNvSpPr>
            <p:nvPr>
              <p:custDataLst>
                <p:tags r:id="rId53"/>
              </p:custDataLst>
            </p:nvPr>
          </p:nvSpPr>
          <p:spPr bwMode="auto">
            <a:xfrm>
              <a:off x="0" y="16764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80000"/>
                </a:lnSpc>
                <a:buFont typeface="Arial" charset="0"/>
                <a:buNone/>
              </a:pPr>
              <a:r>
                <a:rPr lang="en-US" altLang="en-US" sz="2400" b="1" dirty="0"/>
                <a:t>cycle 1:</a:t>
              </a:r>
            </a:p>
          </p:txBody>
        </p:sp>
        <p:sp>
          <p:nvSpPr>
            <p:cNvPr id="16" name="Rectangle 3">
              <a:extLst>
                <a:ext uri="{FF2B5EF4-FFF2-40B4-BE49-F238E27FC236}">
                  <a16:creationId xmlns:a16="http://schemas.microsoft.com/office/drawing/2014/main" id="{A40DB4CB-3ED3-40D7-B49A-DDDD37372A95}"/>
                </a:ext>
              </a:extLst>
            </p:cNvPr>
            <p:cNvSpPr txBox="1">
              <a:spLocks noChangeArrowheads="1"/>
            </p:cNvSpPr>
            <p:nvPr>
              <p:custDataLst>
                <p:tags r:id="rId54"/>
              </p:custDataLst>
            </p:nvPr>
          </p:nvSpPr>
          <p:spPr bwMode="auto">
            <a:xfrm>
              <a:off x="65532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endParaRPr lang="en-US" altLang="en-US" sz="2400" b="1" dirty="0">
                <a:solidFill>
                  <a:schemeClr val="accent6">
                    <a:lumMod val="75000"/>
                  </a:schemeClr>
                </a:solidFill>
              </a:endParaRPr>
            </a:p>
          </p:txBody>
        </p:sp>
        <p:sp>
          <p:nvSpPr>
            <p:cNvPr id="17" name="Rectangle 3">
              <a:extLst>
                <a:ext uri="{FF2B5EF4-FFF2-40B4-BE49-F238E27FC236}">
                  <a16:creationId xmlns:a16="http://schemas.microsoft.com/office/drawing/2014/main" id="{BADA2B14-C5E9-480D-9A9F-08DD8F346532}"/>
                </a:ext>
              </a:extLst>
            </p:cNvPr>
            <p:cNvSpPr txBox="1">
              <a:spLocks noChangeArrowheads="1"/>
            </p:cNvSpPr>
            <p:nvPr>
              <p:custDataLst>
                <p:tags r:id="rId55"/>
              </p:custDataLst>
            </p:nvPr>
          </p:nvSpPr>
          <p:spPr bwMode="auto">
            <a:xfrm>
              <a:off x="77724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endParaRPr lang="en-US" altLang="en-US" sz="2400" b="1" dirty="0">
                <a:solidFill>
                  <a:schemeClr val="accent6">
                    <a:lumMod val="75000"/>
                  </a:schemeClr>
                </a:solidFill>
              </a:endParaRPr>
            </a:p>
          </p:txBody>
        </p:sp>
      </p:grpSp>
      <p:grpSp>
        <p:nvGrpSpPr>
          <p:cNvPr id="19" name="Group 18">
            <a:extLst>
              <a:ext uri="{FF2B5EF4-FFF2-40B4-BE49-F238E27FC236}">
                <a16:creationId xmlns:a16="http://schemas.microsoft.com/office/drawing/2014/main" id="{5C2EA64A-3ADF-4332-8C8E-8F9877C90A73}"/>
              </a:ext>
            </a:extLst>
          </p:cNvPr>
          <p:cNvGrpSpPr/>
          <p:nvPr>
            <p:custDataLst>
              <p:tags r:id="rId8"/>
            </p:custDataLst>
          </p:nvPr>
        </p:nvGrpSpPr>
        <p:grpSpPr>
          <a:xfrm>
            <a:off x="0" y="1676400"/>
            <a:ext cx="8839200" cy="2133600"/>
            <a:chOff x="0" y="1676400"/>
            <a:chExt cx="8839200" cy="2133600"/>
          </a:xfrm>
        </p:grpSpPr>
        <p:sp>
          <p:nvSpPr>
            <p:cNvPr id="20" name="Rectangle 3">
              <a:extLst>
                <a:ext uri="{FF2B5EF4-FFF2-40B4-BE49-F238E27FC236}">
                  <a16:creationId xmlns:a16="http://schemas.microsoft.com/office/drawing/2014/main" id="{BC833BA1-6AAD-4234-A465-52BF9F1101ED}"/>
                </a:ext>
              </a:extLst>
            </p:cNvPr>
            <p:cNvSpPr txBox="1">
              <a:spLocks noChangeArrowheads="1"/>
            </p:cNvSpPr>
            <p:nvPr>
              <p:custDataLst>
                <p:tags r:id="rId44"/>
              </p:custDataLst>
            </p:nvPr>
          </p:nvSpPr>
          <p:spPr bwMode="auto">
            <a:xfrm>
              <a:off x="34290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add</a:t>
              </a:r>
            </a:p>
          </p:txBody>
        </p:sp>
        <p:sp>
          <p:nvSpPr>
            <p:cNvPr id="21" name="Rectangle 3">
              <a:extLst>
                <a:ext uri="{FF2B5EF4-FFF2-40B4-BE49-F238E27FC236}">
                  <a16:creationId xmlns:a16="http://schemas.microsoft.com/office/drawing/2014/main" id="{D4046C12-98FA-47BC-A35A-3587A5544311}"/>
                </a:ext>
              </a:extLst>
            </p:cNvPr>
            <p:cNvSpPr txBox="1">
              <a:spLocks noChangeArrowheads="1"/>
            </p:cNvSpPr>
            <p:nvPr>
              <p:custDataLst>
                <p:tags r:id="rId45"/>
              </p:custDataLst>
            </p:nvPr>
          </p:nvSpPr>
          <p:spPr bwMode="auto">
            <a:xfrm>
              <a:off x="16002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22" name="Rectangle 3">
              <a:extLst>
                <a:ext uri="{FF2B5EF4-FFF2-40B4-BE49-F238E27FC236}">
                  <a16:creationId xmlns:a16="http://schemas.microsoft.com/office/drawing/2014/main" id="{41DD15A2-8677-45A0-A52E-CE2E7D15D971}"/>
                </a:ext>
              </a:extLst>
            </p:cNvPr>
            <p:cNvSpPr txBox="1">
              <a:spLocks noChangeArrowheads="1"/>
            </p:cNvSpPr>
            <p:nvPr>
              <p:custDataLst>
                <p:tags r:id="rId46"/>
              </p:custDataLst>
            </p:nvPr>
          </p:nvSpPr>
          <p:spPr bwMode="auto">
            <a:xfrm>
              <a:off x="51816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endParaRPr lang="en-US" altLang="en-US" sz="2400" b="1" dirty="0">
                <a:solidFill>
                  <a:schemeClr val="accent6">
                    <a:lumMod val="75000"/>
                  </a:schemeClr>
                </a:solidFill>
              </a:endParaRPr>
            </a:p>
          </p:txBody>
        </p:sp>
        <p:sp>
          <p:nvSpPr>
            <p:cNvPr id="23" name="Rectangle 3">
              <a:extLst>
                <a:ext uri="{FF2B5EF4-FFF2-40B4-BE49-F238E27FC236}">
                  <a16:creationId xmlns:a16="http://schemas.microsoft.com/office/drawing/2014/main" id="{5E238210-E1E7-4B42-BE87-11F8168F4B9D}"/>
                </a:ext>
              </a:extLst>
            </p:cNvPr>
            <p:cNvSpPr txBox="1">
              <a:spLocks noChangeArrowheads="1"/>
            </p:cNvSpPr>
            <p:nvPr>
              <p:custDataLst>
                <p:tags r:id="rId47"/>
              </p:custDataLst>
            </p:nvPr>
          </p:nvSpPr>
          <p:spPr bwMode="auto">
            <a:xfrm>
              <a:off x="0" y="16764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80000"/>
                </a:lnSpc>
                <a:buFont typeface="Arial" charset="0"/>
                <a:buNone/>
              </a:pPr>
              <a:r>
                <a:rPr lang="en-US" altLang="en-US" sz="2400" b="1" dirty="0"/>
                <a:t>cycle 2:</a:t>
              </a:r>
            </a:p>
          </p:txBody>
        </p:sp>
        <p:sp>
          <p:nvSpPr>
            <p:cNvPr id="24" name="Rectangle 3">
              <a:extLst>
                <a:ext uri="{FF2B5EF4-FFF2-40B4-BE49-F238E27FC236}">
                  <a16:creationId xmlns:a16="http://schemas.microsoft.com/office/drawing/2014/main" id="{1D1AED0E-BAFE-4EF3-BCC9-61812C5B025F}"/>
                </a:ext>
              </a:extLst>
            </p:cNvPr>
            <p:cNvSpPr txBox="1">
              <a:spLocks noChangeArrowheads="1"/>
            </p:cNvSpPr>
            <p:nvPr>
              <p:custDataLst>
                <p:tags r:id="rId48"/>
              </p:custDataLst>
            </p:nvPr>
          </p:nvSpPr>
          <p:spPr bwMode="auto">
            <a:xfrm>
              <a:off x="65532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endParaRPr lang="en-US" altLang="en-US" sz="2400" b="1" dirty="0">
                <a:solidFill>
                  <a:schemeClr val="accent6">
                    <a:lumMod val="75000"/>
                  </a:schemeClr>
                </a:solidFill>
              </a:endParaRPr>
            </a:p>
          </p:txBody>
        </p:sp>
        <p:sp>
          <p:nvSpPr>
            <p:cNvPr id="25" name="Rectangle 3">
              <a:extLst>
                <a:ext uri="{FF2B5EF4-FFF2-40B4-BE49-F238E27FC236}">
                  <a16:creationId xmlns:a16="http://schemas.microsoft.com/office/drawing/2014/main" id="{B800FEC4-6E4D-4209-A82E-68489E99E67B}"/>
                </a:ext>
              </a:extLst>
            </p:cNvPr>
            <p:cNvSpPr txBox="1">
              <a:spLocks noChangeArrowheads="1"/>
            </p:cNvSpPr>
            <p:nvPr>
              <p:custDataLst>
                <p:tags r:id="rId49"/>
              </p:custDataLst>
            </p:nvPr>
          </p:nvSpPr>
          <p:spPr bwMode="auto">
            <a:xfrm>
              <a:off x="77724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endParaRPr lang="en-US" altLang="en-US" sz="2400" b="1" dirty="0">
                <a:solidFill>
                  <a:schemeClr val="accent6">
                    <a:lumMod val="75000"/>
                  </a:schemeClr>
                </a:solidFill>
              </a:endParaRPr>
            </a:p>
          </p:txBody>
        </p:sp>
      </p:grpSp>
      <p:grpSp>
        <p:nvGrpSpPr>
          <p:cNvPr id="26" name="Group 25">
            <a:extLst>
              <a:ext uri="{FF2B5EF4-FFF2-40B4-BE49-F238E27FC236}">
                <a16:creationId xmlns:a16="http://schemas.microsoft.com/office/drawing/2014/main" id="{8B44E032-6046-41C2-AAA5-65C761EC01FE}"/>
              </a:ext>
            </a:extLst>
          </p:cNvPr>
          <p:cNvGrpSpPr/>
          <p:nvPr>
            <p:custDataLst>
              <p:tags r:id="rId9"/>
            </p:custDataLst>
          </p:nvPr>
        </p:nvGrpSpPr>
        <p:grpSpPr>
          <a:xfrm>
            <a:off x="0" y="1676400"/>
            <a:ext cx="8839200" cy="2133600"/>
            <a:chOff x="0" y="1676400"/>
            <a:chExt cx="8839200" cy="2133600"/>
          </a:xfrm>
        </p:grpSpPr>
        <p:sp>
          <p:nvSpPr>
            <p:cNvPr id="27" name="Rectangle 3">
              <a:extLst>
                <a:ext uri="{FF2B5EF4-FFF2-40B4-BE49-F238E27FC236}">
                  <a16:creationId xmlns:a16="http://schemas.microsoft.com/office/drawing/2014/main" id="{5FF5FF68-8201-4244-AA7E-072FA18F0051}"/>
                </a:ext>
              </a:extLst>
            </p:cNvPr>
            <p:cNvSpPr txBox="1">
              <a:spLocks noChangeArrowheads="1"/>
            </p:cNvSpPr>
            <p:nvPr>
              <p:custDataLst>
                <p:tags r:id="rId38"/>
              </p:custDataLst>
            </p:nvPr>
          </p:nvSpPr>
          <p:spPr bwMode="auto">
            <a:xfrm>
              <a:off x="34290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28" name="Rectangle 3">
              <a:extLst>
                <a:ext uri="{FF2B5EF4-FFF2-40B4-BE49-F238E27FC236}">
                  <a16:creationId xmlns:a16="http://schemas.microsoft.com/office/drawing/2014/main" id="{7EB02908-A394-4E4F-81A9-AED53D80CE00}"/>
                </a:ext>
              </a:extLst>
            </p:cNvPr>
            <p:cNvSpPr txBox="1">
              <a:spLocks noChangeArrowheads="1"/>
            </p:cNvSpPr>
            <p:nvPr>
              <p:custDataLst>
                <p:tags r:id="rId39"/>
              </p:custDataLst>
            </p:nvPr>
          </p:nvSpPr>
          <p:spPr bwMode="auto">
            <a:xfrm>
              <a:off x="16002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endParaRPr lang="en-US" altLang="en-US" sz="2400" b="1" dirty="0">
                <a:solidFill>
                  <a:schemeClr val="accent6">
                    <a:lumMod val="75000"/>
                  </a:schemeClr>
                </a:solidFill>
              </a:endParaRPr>
            </a:p>
          </p:txBody>
        </p:sp>
        <p:sp>
          <p:nvSpPr>
            <p:cNvPr id="29" name="Rectangle 3">
              <a:extLst>
                <a:ext uri="{FF2B5EF4-FFF2-40B4-BE49-F238E27FC236}">
                  <a16:creationId xmlns:a16="http://schemas.microsoft.com/office/drawing/2014/main" id="{9A3B5151-61C6-48B3-AE5E-88448BFD9BC8}"/>
                </a:ext>
              </a:extLst>
            </p:cNvPr>
            <p:cNvSpPr txBox="1">
              <a:spLocks noChangeArrowheads="1"/>
            </p:cNvSpPr>
            <p:nvPr>
              <p:custDataLst>
                <p:tags r:id="rId40"/>
              </p:custDataLst>
            </p:nvPr>
          </p:nvSpPr>
          <p:spPr bwMode="auto">
            <a:xfrm>
              <a:off x="51816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dirty="0">
                  <a:solidFill>
                    <a:schemeClr val="accent6">
                      <a:lumMod val="75000"/>
                    </a:schemeClr>
                  </a:solidFill>
                </a:rPr>
                <a:t>add</a:t>
              </a:r>
            </a:p>
          </p:txBody>
        </p:sp>
        <p:sp>
          <p:nvSpPr>
            <p:cNvPr id="30" name="Rectangle 3">
              <a:extLst>
                <a:ext uri="{FF2B5EF4-FFF2-40B4-BE49-F238E27FC236}">
                  <a16:creationId xmlns:a16="http://schemas.microsoft.com/office/drawing/2014/main" id="{38FAE90C-74CD-4ED1-991E-85C6273B441E}"/>
                </a:ext>
              </a:extLst>
            </p:cNvPr>
            <p:cNvSpPr txBox="1">
              <a:spLocks noChangeArrowheads="1"/>
            </p:cNvSpPr>
            <p:nvPr>
              <p:custDataLst>
                <p:tags r:id="rId41"/>
              </p:custDataLst>
            </p:nvPr>
          </p:nvSpPr>
          <p:spPr bwMode="auto">
            <a:xfrm>
              <a:off x="0" y="16764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80000"/>
                </a:lnSpc>
                <a:buFont typeface="Arial" charset="0"/>
                <a:buNone/>
              </a:pPr>
              <a:r>
                <a:rPr lang="en-US" altLang="en-US" sz="2400" b="1" dirty="0"/>
                <a:t>cycle 3:</a:t>
              </a:r>
            </a:p>
          </p:txBody>
        </p:sp>
        <p:sp>
          <p:nvSpPr>
            <p:cNvPr id="31" name="Rectangle 3">
              <a:extLst>
                <a:ext uri="{FF2B5EF4-FFF2-40B4-BE49-F238E27FC236}">
                  <a16:creationId xmlns:a16="http://schemas.microsoft.com/office/drawing/2014/main" id="{3B5B6FFF-1C61-4A73-B8E0-8F930668C1AC}"/>
                </a:ext>
              </a:extLst>
            </p:cNvPr>
            <p:cNvSpPr txBox="1">
              <a:spLocks noChangeArrowheads="1"/>
            </p:cNvSpPr>
            <p:nvPr>
              <p:custDataLst>
                <p:tags r:id="rId42"/>
              </p:custDataLst>
            </p:nvPr>
          </p:nvSpPr>
          <p:spPr bwMode="auto">
            <a:xfrm>
              <a:off x="65532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endParaRPr lang="en-US" altLang="en-US" sz="2400" b="1" dirty="0">
                <a:solidFill>
                  <a:schemeClr val="accent6">
                    <a:lumMod val="75000"/>
                  </a:schemeClr>
                </a:solidFill>
              </a:endParaRPr>
            </a:p>
          </p:txBody>
        </p:sp>
        <p:sp>
          <p:nvSpPr>
            <p:cNvPr id="32" name="Rectangle 3">
              <a:extLst>
                <a:ext uri="{FF2B5EF4-FFF2-40B4-BE49-F238E27FC236}">
                  <a16:creationId xmlns:a16="http://schemas.microsoft.com/office/drawing/2014/main" id="{553B41CD-2A3D-457C-BD36-0178E9CEE186}"/>
                </a:ext>
              </a:extLst>
            </p:cNvPr>
            <p:cNvSpPr txBox="1">
              <a:spLocks noChangeArrowheads="1"/>
            </p:cNvSpPr>
            <p:nvPr>
              <p:custDataLst>
                <p:tags r:id="rId43"/>
              </p:custDataLst>
            </p:nvPr>
          </p:nvSpPr>
          <p:spPr bwMode="auto">
            <a:xfrm>
              <a:off x="77724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endParaRPr lang="en-US" altLang="en-US" sz="2400" b="1" dirty="0">
                <a:solidFill>
                  <a:schemeClr val="accent6">
                    <a:lumMod val="75000"/>
                  </a:schemeClr>
                </a:solidFill>
              </a:endParaRPr>
            </a:p>
          </p:txBody>
        </p:sp>
      </p:grpSp>
      <p:grpSp>
        <p:nvGrpSpPr>
          <p:cNvPr id="33" name="Group 32">
            <a:extLst>
              <a:ext uri="{FF2B5EF4-FFF2-40B4-BE49-F238E27FC236}">
                <a16:creationId xmlns:a16="http://schemas.microsoft.com/office/drawing/2014/main" id="{5B7F782C-181C-497F-AB7A-2B48D3812727}"/>
              </a:ext>
            </a:extLst>
          </p:cNvPr>
          <p:cNvGrpSpPr/>
          <p:nvPr>
            <p:custDataLst>
              <p:tags r:id="rId10"/>
            </p:custDataLst>
          </p:nvPr>
        </p:nvGrpSpPr>
        <p:grpSpPr>
          <a:xfrm>
            <a:off x="0" y="1676400"/>
            <a:ext cx="8839200" cy="2133600"/>
            <a:chOff x="0" y="1676400"/>
            <a:chExt cx="8839200" cy="2133600"/>
          </a:xfrm>
        </p:grpSpPr>
        <p:sp>
          <p:nvSpPr>
            <p:cNvPr id="34" name="Rectangle 3">
              <a:extLst>
                <a:ext uri="{FF2B5EF4-FFF2-40B4-BE49-F238E27FC236}">
                  <a16:creationId xmlns:a16="http://schemas.microsoft.com/office/drawing/2014/main" id="{6A996053-57AA-452B-AB68-89ADF841F5D7}"/>
                </a:ext>
              </a:extLst>
            </p:cNvPr>
            <p:cNvSpPr txBox="1">
              <a:spLocks noChangeArrowheads="1"/>
            </p:cNvSpPr>
            <p:nvPr>
              <p:custDataLst>
                <p:tags r:id="rId32"/>
              </p:custDataLst>
            </p:nvPr>
          </p:nvSpPr>
          <p:spPr bwMode="auto">
            <a:xfrm>
              <a:off x="34290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35" name="Rectangle 3">
              <a:extLst>
                <a:ext uri="{FF2B5EF4-FFF2-40B4-BE49-F238E27FC236}">
                  <a16:creationId xmlns:a16="http://schemas.microsoft.com/office/drawing/2014/main" id="{2870B5F0-A8F2-49FD-96B9-54606369C33A}"/>
                </a:ext>
              </a:extLst>
            </p:cNvPr>
            <p:cNvSpPr txBox="1">
              <a:spLocks noChangeArrowheads="1"/>
            </p:cNvSpPr>
            <p:nvPr>
              <p:custDataLst>
                <p:tags r:id="rId33"/>
              </p:custDataLst>
            </p:nvPr>
          </p:nvSpPr>
          <p:spPr bwMode="auto">
            <a:xfrm>
              <a:off x="16002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endParaRPr lang="en-US" altLang="en-US" sz="2400" b="1" dirty="0">
                <a:solidFill>
                  <a:schemeClr val="accent6">
                    <a:lumMod val="75000"/>
                  </a:schemeClr>
                </a:solidFill>
              </a:endParaRPr>
            </a:p>
          </p:txBody>
        </p:sp>
        <p:sp>
          <p:nvSpPr>
            <p:cNvPr id="36" name="Rectangle 3">
              <a:extLst>
                <a:ext uri="{FF2B5EF4-FFF2-40B4-BE49-F238E27FC236}">
                  <a16:creationId xmlns:a16="http://schemas.microsoft.com/office/drawing/2014/main" id="{C7FA1F78-0321-4F8F-A662-9A5ABC0ECD69}"/>
                </a:ext>
              </a:extLst>
            </p:cNvPr>
            <p:cNvSpPr txBox="1">
              <a:spLocks noChangeArrowheads="1"/>
            </p:cNvSpPr>
            <p:nvPr>
              <p:custDataLst>
                <p:tags r:id="rId34"/>
              </p:custDataLst>
            </p:nvPr>
          </p:nvSpPr>
          <p:spPr bwMode="auto">
            <a:xfrm>
              <a:off x="51816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i="1" dirty="0" err="1">
                  <a:solidFill>
                    <a:schemeClr val="accent6">
                      <a:lumMod val="75000"/>
                    </a:schemeClr>
                  </a:solidFill>
                </a:rPr>
                <a:t>nop</a:t>
              </a:r>
              <a:endParaRPr lang="en-US" altLang="en-US" sz="2400" b="1" i="1" dirty="0">
                <a:solidFill>
                  <a:schemeClr val="accent6">
                    <a:lumMod val="75000"/>
                  </a:schemeClr>
                </a:solidFill>
              </a:endParaRPr>
            </a:p>
          </p:txBody>
        </p:sp>
        <p:sp>
          <p:nvSpPr>
            <p:cNvPr id="37" name="Rectangle 3">
              <a:extLst>
                <a:ext uri="{FF2B5EF4-FFF2-40B4-BE49-F238E27FC236}">
                  <a16:creationId xmlns:a16="http://schemas.microsoft.com/office/drawing/2014/main" id="{435F1396-9C67-43BD-854F-EBAB5A179FB2}"/>
                </a:ext>
              </a:extLst>
            </p:cNvPr>
            <p:cNvSpPr txBox="1">
              <a:spLocks noChangeArrowheads="1"/>
            </p:cNvSpPr>
            <p:nvPr>
              <p:custDataLst>
                <p:tags r:id="rId35"/>
              </p:custDataLst>
            </p:nvPr>
          </p:nvSpPr>
          <p:spPr bwMode="auto">
            <a:xfrm>
              <a:off x="0" y="16764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80000"/>
                </a:lnSpc>
                <a:buFont typeface="Arial" charset="0"/>
                <a:buNone/>
              </a:pPr>
              <a:r>
                <a:rPr lang="en-US" altLang="en-US" sz="2400" b="1" dirty="0"/>
                <a:t>cycle 4:</a:t>
              </a:r>
            </a:p>
          </p:txBody>
        </p:sp>
        <p:sp>
          <p:nvSpPr>
            <p:cNvPr id="38" name="Rectangle 3">
              <a:extLst>
                <a:ext uri="{FF2B5EF4-FFF2-40B4-BE49-F238E27FC236}">
                  <a16:creationId xmlns:a16="http://schemas.microsoft.com/office/drawing/2014/main" id="{3D75D03E-5DDF-4499-9F05-DB8219D626AB}"/>
                </a:ext>
              </a:extLst>
            </p:cNvPr>
            <p:cNvSpPr txBox="1">
              <a:spLocks noChangeArrowheads="1"/>
            </p:cNvSpPr>
            <p:nvPr>
              <p:custDataLst>
                <p:tags r:id="rId36"/>
              </p:custDataLst>
            </p:nvPr>
          </p:nvSpPr>
          <p:spPr bwMode="auto">
            <a:xfrm>
              <a:off x="65532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add</a:t>
              </a:r>
            </a:p>
          </p:txBody>
        </p:sp>
        <p:sp>
          <p:nvSpPr>
            <p:cNvPr id="39" name="Rectangle 3">
              <a:extLst>
                <a:ext uri="{FF2B5EF4-FFF2-40B4-BE49-F238E27FC236}">
                  <a16:creationId xmlns:a16="http://schemas.microsoft.com/office/drawing/2014/main" id="{91104C4C-5AFA-4A2B-8CE2-C91CD03CD423}"/>
                </a:ext>
              </a:extLst>
            </p:cNvPr>
            <p:cNvSpPr txBox="1">
              <a:spLocks noChangeArrowheads="1"/>
            </p:cNvSpPr>
            <p:nvPr>
              <p:custDataLst>
                <p:tags r:id="rId37"/>
              </p:custDataLst>
            </p:nvPr>
          </p:nvSpPr>
          <p:spPr bwMode="auto">
            <a:xfrm>
              <a:off x="77724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endParaRPr lang="en-US" altLang="en-US" sz="2400" b="1" dirty="0">
                <a:solidFill>
                  <a:schemeClr val="accent6">
                    <a:lumMod val="75000"/>
                  </a:schemeClr>
                </a:solidFill>
              </a:endParaRPr>
            </a:p>
          </p:txBody>
        </p:sp>
      </p:grpSp>
      <p:grpSp>
        <p:nvGrpSpPr>
          <p:cNvPr id="40" name="Group 39">
            <a:extLst>
              <a:ext uri="{FF2B5EF4-FFF2-40B4-BE49-F238E27FC236}">
                <a16:creationId xmlns:a16="http://schemas.microsoft.com/office/drawing/2014/main" id="{FC5F0785-A3B4-4B6F-84E2-8438CB3F1E63}"/>
              </a:ext>
            </a:extLst>
          </p:cNvPr>
          <p:cNvGrpSpPr/>
          <p:nvPr>
            <p:custDataLst>
              <p:tags r:id="rId11"/>
            </p:custDataLst>
          </p:nvPr>
        </p:nvGrpSpPr>
        <p:grpSpPr>
          <a:xfrm>
            <a:off x="0" y="1676400"/>
            <a:ext cx="8839200" cy="2133600"/>
            <a:chOff x="0" y="1676400"/>
            <a:chExt cx="8839200" cy="2133600"/>
          </a:xfrm>
        </p:grpSpPr>
        <p:sp>
          <p:nvSpPr>
            <p:cNvPr id="41" name="Rectangle 3">
              <a:extLst>
                <a:ext uri="{FF2B5EF4-FFF2-40B4-BE49-F238E27FC236}">
                  <a16:creationId xmlns:a16="http://schemas.microsoft.com/office/drawing/2014/main" id="{8D566402-F346-408F-A8D7-B7D36175168E}"/>
                </a:ext>
              </a:extLst>
            </p:cNvPr>
            <p:cNvSpPr txBox="1">
              <a:spLocks noChangeArrowheads="1"/>
            </p:cNvSpPr>
            <p:nvPr>
              <p:custDataLst>
                <p:tags r:id="rId26"/>
              </p:custDataLst>
            </p:nvPr>
          </p:nvSpPr>
          <p:spPr bwMode="auto">
            <a:xfrm>
              <a:off x="34290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42" name="Rectangle 3">
              <a:extLst>
                <a:ext uri="{FF2B5EF4-FFF2-40B4-BE49-F238E27FC236}">
                  <a16:creationId xmlns:a16="http://schemas.microsoft.com/office/drawing/2014/main" id="{84B52B41-47B0-40B6-8DD5-1B3485B66617}"/>
                </a:ext>
              </a:extLst>
            </p:cNvPr>
            <p:cNvSpPr txBox="1">
              <a:spLocks noChangeArrowheads="1"/>
            </p:cNvSpPr>
            <p:nvPr>
              <p:custDataLst>
                <p:tags r:id="rId27"/>
              </p:custDataLst>
            </p:nvPr>
          </p:nvSpPr>
          <p:spPr bwMode="auto">
            <a:xfrm>
              <a:off x="16002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endParaRPr lang="en-US" altLang="en-US" sz="2400" b="1" dirty="0">
                <a:solidFill>
                  <a:schemeClr val="accent6">
                    <a:lumMod val="75000"/>
                  </a:schemeClr>
                </a:solidFill>
              </a:endParaRPr>
            </a:p>
          </p:txBody>
        </p:sp>
        <p:sp>
          <p:nvSpPr>
            <p:cNvPr id="43" name="Rectangle 3">
              <a:extLst>
                <a:ext uri="{FF2B5EF4-FFF2-40B4-BE49-F238E27FC236}">
                  <a16:creationId xmlns:a16="http://schemas.microsoft.com/office/drawing/2014/main" id="{E1C5D925-EEF1-442E-9671-940C10B6B240}"/>
                </a:ext>
              </a:extLst>
            </p:cNvPr>
            <p:cNvSpPr txBox="1">
              <a:spLocks noChangeArrowheads="1"/>
            </p:cNvSpPr>
            <p:nvPr>
              <p:custDataLst>
                <p:tags r:id="rId28"/>
              </p:custDataLst>
            </p:nvPr>
          </p:nvSpPr>
          <p:spPr bwMode="auto">
            <a:xfrm>
              <a:off x="51816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i="1" dirty="0" err="1">
                  <a:solidFill>
                    <a:schemeClr val="accent6">
                      <a:lumMod val="75000"/>
                    </a:schemeClr>
                  </a:solidFill>
                </a:rPr>
                <a:t>nop</a:t>
              </a:r>
              <a:endParaRPr lang="en-US" altLang="en-US" sz="2400" b="1" i="1" dirty="0">
                <a:solidFill>
                  <a:schemeClr val="accent6">
                    <a:lumMod val="75000"/>
                  </a:schemeClr>
                </a:solidFill>
              </a:endParaRPr>
            </a:p>
          </p:txBody>
        </p:sp>
        <p:sp>
          <p:nvSpPr>
            <p:cNvPr id="44" name="Rectangle 3">
              <a:extLst>
                <a:ext uri="{FF2B5EF4-FFF2-40B4-BE49-F238E27FC236}">
                  <a16:creationId xmlns:a16="http://schemas.microsoft.com/office/drawing/2014/main" id="{99DB3D68-080B-4520-8B06-2E916D935575}"/>
                </a:ext>
              </a:extLst>
            </p:cNvPr>
            <p:cNvSpPr txBox="1">
              <a:spLocks noChangeArrowheads="1"/>
            </p:cNvSpPr>
            <p:nvPr>
              <p:custDataLst>
                <p:tags r:id="rId29"/>
              </p:custDataLst>
            </p:nvPr>
          </p:nvSpPr>
          <p:spPr bwMode="auto">
            <a:xfrm>
              <a:off x="0" y="16764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80000"/>
                </a:lnSpc>
                <a:buFont typeface="Arial" charset="0"/>
                <a:buNone/>
              </a:pPr>
              <a:r>
                <a:rPr lang="en-US" altLang="en-US" sz="2400" b="1" dirty="0"/>
                <a:t>cycle 5:</a:t>
              </a:r>
            </a:p>
          </p:txBody>
        </p:sp>
        <p:sp>
          <p:nvSpPr>
            <p:cNvPr id="45" name="Rectangle 3">
              <a:extLst>
                <a:ext uri="{FF2B5EF4-FFF2-40B4-BE49-F238E27FC236}">
                  <a16:creationId xmlns:a16="http://schemas.microsoft.com/office/drawing/2014/main" id="{A1D94F42-E613-49F5-9BFD-29A2B8E60135}"/>
                </a:ext>
              </a:extLst>
            </p:cNvPr>
            <p:cNvSpPr txBox="1">
              <a:spLocks noChangeArrowheads="1"/>
            </p:cNvSpPr>
            <p:nvPr>
              <p:custDataLst>
                <p:tags r:id="rId30"/>
              </p:custDataLst>
            </p:nvPr>
          </p:nvSpPr>
          <p:spPr bwMode="auto">
            <a:xfrm>
              <a:off x="65532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i="1" dirty="0" err="1">
                  <a:solidFill>
                    <a:schemeClr val="accent6">
                      <a:lumMod val="75000"/>
                    </a:schemeClr>
                  </a:solidFill>
                </a:rPr>
                <a:t>nop</a:t>
              </a:r>
              <a:endParaRPr lang="en-US" altLang="en-US" sz="2400" b="1" i="1" dirty="0">
                <a:solidFill>
                  <a:schemeClr val="accent6">
                    <a:lumMod val="75000"/>
                  </a:schemeClr>
                </a:solidFill>
              </a:endParaRPr>
            </a:p>
          </p:txBody>
        </p:sp>
        <p:sp>
          <p:nvSpPr>
            <p:cNvPr id="46" name="Rectangle 3">
              <a:extLst>
                <a:ext uri="{FF2B5EF4-FFF2-40B4-BE49-F238E27FC236}">
                  <a16:creationId xmlns:a16="http://schemas.microsoft.com/office/drawing/2014/main" id="{82CEDC47-4A0D-40A4-901C-461824C14ED6}"/>
                </a:ext>
              </a:extLst>
            </p:cNvPr>
            <p:cNvSpPr txBox="1">
              <a:spLocks noChangeArrowheads="1"/>
            </p:cNvSpPr>
            <p:nvPr>
              <p:custDataLst>
                <p:tags r:id="rId31"/>
              </p:custDataLst>
            </p:nvPr>
          </p:nvSpPr>
          <p:spPr bwMode="auto">
            <a:xfrm>
              <a:off x="77724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dirty="0">
                  <a:solidFill>
                    <a:schemeClr val="accent6">
                      <a:lumMod val="75000"/>
                    </a:schemeClr>
                  </a:solidFill>
                </a:rPr>
                <a:t>add</a:t>
              </a:r>
            </a:p>
          </p:txBody>
        </p:sp>
      </p:grpSp>
      <p:grpSp>
        <p:nvGrpSpPr>
          <p:cNvPr id="47" name="Group 46">
            <a:extLst>
              <a:ext uri="{FF2B5EF4-FFF2-40B4-BE49-F238E27FC236}">
                <a16:creationId xmlns:a16="http://schemas.microsoft.com/office/drawing/2014/main" id="{59953910-DDFF-4443-8C32-B911B934C12F}"/>
              </a:ext>
            </a:extLst>
          </p:cNvPr>
          <p:cNvGrpSpPr/>
          <p:nvPr>
            <p:custDataLst>
              <p:tags r:id="rId12"/>
            </p:custDataLst>
          </p:nvPr>
        </p:nvGrpSpPr>
        <p:grpSpPr>
          <a:xfrm>
            <a:off x="0" y="1676400"/>
            <a:ext cx="8839200" cy="2133600"/>
            <a:chOff x="0" y="1676400"/>
            <a:chExt cx="8839200" cy="2133600"/>
          </a:xfrm>
        </p:grpSpPr>
        <p:sp>
          <p:nvSpPr>
            <p:cNvPr id="48" name="Rectangle 3">
              <a:extLst>
                <a:ext uri="{FF2B5EF4-FFF2-40B4-BE49-F238E27FC236}">
                  <a16:creationId xmlns:a16="http://schemas.microsoft.com/office/drawing/2014/main" id="{0AADC937-54E2-4DFC-BA87-3D2075E7D2F6}"/>
                </a:ext>
              </a:extLst>
            </p:cNvPr>
            <p:cNvSpPr txBox="1">
              <a:spLocks noChangeArrowheads="1"/>
            </p:cNvSpPr>
            <p:nvPr>
              <p:custDataLst>
                <p:tags r:id="rId20"/>
              </p:custDataLst>
            </p:nvPr>
          </p:nvSpPr>
          <p:spPr bwMode="auto">
            <a:xfrm>
              <a:off x="34290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49" name="Rectangle 3">
              <a:extLst>
                <a:ext uri="{FF2B5EF4-FFF2-40B4-BE49-F238E27FC236}">
                  <a16:creationId xmlns:a16="http://schemas.microsoft.com/office/drawing/2014/main" id="{59431311-0A61-4D14-B0C4-89E4D3494167}"/>
                </a:ext>
              </a:extLst>
            </p:cNvPr>
            <p:cNvSpPr txBox="1">
              <a:spLocks noChangeArrowheads="1"/>
            </p:cNvSpPr>
            <p:nvPr>
              <p:custDataLst>
                <p:tags r:id="rId21"/>
              </p:custDataLst>
            </p:nvPr>
          </p:nvSpPr>
          <p:spPr bwMode="auto">
            <a:xfrm>
              <a:off x="16002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endParaRPr lang="en-US" altLang="en-US" sz="2400" b="1" dirty="0">
                <a:solidFill>
                  <a:schemeClr val="accent6">
                    <a:lumMod val="75000"/>
                  </a:schemeClr>
                </a:solidFill>
              </a:endParaRPr>
            </a:p>
          </p:txBody>
        </p:sp>
        <p:sp>
          <p:nvSpPr>
            <p:cNvPr id="50" name="Rectangle 3">
              <a:extLst>
                <a:ext uri="{FF2B5EF4-FFF2-40B4-BE49-F238E27FC236}">
                  <a16:creationId xmlns:a16="http://schemas.microsoft.com/office/drawing/2014/main" id="{089C6DF0-C336-4E59-BDFB-CBD242684648}"/>
                </a:ext>
              </a:extLst>
            </p:cNvPr>
            <p:cNvSpPr txBox="1">
              <a:spLocks noChangeArrowheads="1"/>
            </p:cNvSpPr>
            <p:nvPr>
              <p:custDataLst>
                <p:tags r:id="rId22"/>
              </p:custDataLst>
            </p:nvPr>
          </p:nvSpPr>
          <p:spPr bwMode="auto">
            <a:xfrm>
              <a:off x="51816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i="1" dirty="0" err="1">
                  <a:solidFill>
                    <a:schemeClr val="accent6">
                      <a:lumMod val="75000"/>
                    </a:schemeClr>
                  </a:solidFill>
                </a:rPr>
                <a:t>nop</a:t>
              </a:r>
              <a:endParaRPr lang="en-US" altLang="en-US" sz="2400" b="1" i="1" dirty="0">
                <a:solidFill>
                  <a:schemeClr val="accent6">
                    <a:lumMod val="75000"/>
                  </a:schemeClr>
                </a:solidFill>
              </a:endParaRPr>
            </a:p>
          </p:txBody>
        </p:sp>
        <p:sp>
          <p:nvSpPr>
            <p:cNvPr id="51" name="Rectangle 3">
              <a:extLst>
                <a:ext uri="{FF2B5EF4-FFF2-40B4-BE49-F238E27FC236}">
                  <a16:creationId xmlns:a16="http://schemas.microsoft.com/office/drawing/2014/main" id="{9AD524F2-FDF3-4537-AAE3-826F51AA8FB1}"/>
                </a:ext>
              </a:extLst>
            </p:cNvPr>
            <p:cNvSpPr txBox="1">
              <a:spLocks noChangeArrowheads="1"/>
            </p:cNvSpPr>
            <p:nvPr>
              <p:custDataLst>
                <p:tags r:id="rId23"/>
              </p:custDataLst>
            </p:nvPr>
          </p:nvSpPr>
          <p:spPr bwMode="auto">
            <a:xfrm>
              <a:off x="0" y="16764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80000"/>
                </a:lnSpc>
                <a:buFont typeface="Arial" charset="0"/>
                <a:buNone/>
              </a:pPr>
              <a:r>
                <a:rPr lang="en-US" altLang="en-US" sz="2400" b="1" dirty="0"/>
                <a:t>cycle 6:</a:t>
              </a:r>
            </a:p>
          </p:txBody>
        </p:sp>
        <p:sp>
          <p:nvSpPr>
            <p:cNvPr id="52" name="Rectangle 3">
              <a:extLst>
                <a:ext uri="{FF2B5EF4-FFF2-40B4-BE49-F238E27FC236}">
                  <a16:creationId xmlns:a16="http://schemas.microsoft.com/office/drawing/2014/main" id="{12AFA7D9-B76F-4A26-A915-031FDEB07269}"/>
                </a:ext>
              </a:extLst>
            </p:cNvPr>
            <p:cNvSpPr txBox="1">
              <a:spLocks noChangeArrowheads="1"/>
            </p:cNvSpPr>
            <p:nvPr>
              <p:custDataLst>
                <p:tags r:id="rId24"/>
              </p:custDataLst>
            </p:nvPr>
          </p:nvSpPr>
          <p:spPr bwMode="auto">
            <a:xfrm>
              <a:off x="65532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i="1" dirty="0" err="1">
                  <a:solidFill>
                    <a:schemeClr val="accent6">
                      <a:lumMod val="75000"/>
                    </a:schemeClr>
                  </a:solidFill>
                </a:rPr>
                <a:t>nop</a:t>
              </a:r>
              <a:endParaRPr lang="en-US" altLang="en-US" sz="2400" b="1" i="1" dirty="0">
                <a:solidFill>
                  <a:schemeClr val="accent6">
                    <a:lumMod val="75000"/>
                  </a:schemeClr>
                </a:solidFill>
              </a:endParaRPr>
            </a:p>
          </p:txBody>
        </p:sp>
        <p:sp>
          <p:nvSpPr>
            <p:cNvPr id="53" name="Rectangle 3">
              <a:extLst>
                <a:ext uri="{FF2B5EF4-FFF2-40B4-BE49-F238E27FC236}">
                  <a16:creationId xmlns:a16="http://schemas.microsoft.com/office/drawing/2014/main" id="{DA588B96-995C-49EB-B0F8-2EFC2B19D0AB}"/>
                </a:ext>
              </a:extLst>
            </p:cNvPr>
            <p:cNvSpPr txBox="1">
              <a:spLocks noChangeArrowheads="1"/>
            </p:cNvSpPr>
            <p:nvPr>
              <p:custDataLst>
                <p:tags r:id="rId25"/>
              </p:custDataLst>
            </p:nvPr>
          </p:nvSpPr>
          <p:spPr bwMode="auto">
            <a:xfrm>
              <a:off x="77724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i="1" dirty="0" err="1">
                  <a:solidFill>
                    <a:schemeClr val="accent6">
                      <a:lumMod val="75000"/>
                    </a:schemeClr>
                  </a:solidFill>
                </a:rPr>
                <a:t>nop</a:t>
              </a:r>
              <a:endParaRPr lang="en-US" altLang="en-US" sz="2400" b="1" i="1" dirty="0">
                <a:solidFill>
                  <a:schemeClr val="accent6">
                    <a:lumMod val="75000"/>
                  </a:schemeClr>
                </a:solidFill>
              </a:endParaRPr>
            </a:p>
          </p:txBody>
        </p:sp>
      </p:grpSp>
      <p:grpSp>
        <p:nvGrpSpPr>
          <p:cNvPr id="54" name="Group 53">
            <a:extLst>
              <a:ext uri="{FF2B5EF4-FFF2-40B4-BE49-F238E27FC236}">
                <a16:creationId xmlns:a16="http://schemas.microsoft.com/office/drawing/2014/main" id="{0977D82F-6382-44F1-922C-086EC1C7DEAD}"/>
              </a:ext>
            </a:extLst>
          </p:cNvPr>
          <p:cNvGrpSpPr/>
          <p:nvPr>
            <p:custDataLst>
              <p:tags r:id="rId13"/>
            </p:custDataLst>
          </p:nvPr>
        </p:nvGrpSpPr>
        <p:grpSpPr>
          <a:xfrm>
            <a:off x="0" y="1676400"/>
            <a:ext cx="8839200" cy="2133600"/>
            <a:chOff x="0" y="1676400"/>
            <a:chExt cx="8839200" cy="2133600"/>
          </a:xfrm>
        </p:grpSpPr>
        <p:sp>
          <p:nvSpPr>
            <p:cNvPr id="55" name="Rectangle 3">
              <a:extLst>
                <a:ext uri="{FF2B5EF4-FFF2-40B4-BE49-F238E27FC236}">
                  <a16:creationId xmlns:a16="http://schemas.microsoft.com/office/drawing/2014/main" id="{E81DE588-4677-4AE8-B998-5AB462BC3CA6}"/>
                </a:ext>
              </a:extLst>
            </p:cNvPr>
            <p:cNvSpPr txBox="1">
              <a:spLocks noChangeArrowheads="1"/>
            </p:cNvSpPr>
            <p:nvPr>
              <p:custDataLst>
                <p:tags r:id="rId14"/>
              </p:custDataLst>
            </p:nvPr>
          </p:nvSpPr>
          <p:spPr bwMode="auto">
            <a:xfrm>
              <a:off x="34290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endParaRPr lang="en-US" altLang="en-US" sz="2400" b="1" dirty="0">
                <a:solidFill>
                  <a:schemeClr val="accent6">
                    <a:lumMod val="75000"/>
                  </a:schemeClr>
                </a:solidFill>
              </a:endParaRPr>
            </a:p>
          </p:txBody>
        </p:sp>
        <p:sp>
          <p:nvSpPr>
            <p:cNvPr id="56" name="Rectangle 3">
              <a:extLst>
                <a:ext uri="{FF2B5EF4-FFF2-40B4-BE49-F238E27FC236}">
                  <a16:creationId xmlns:a16="http://schemas.microsoft.com/office/drawing/2014/main" id="{2A56BF7E-0A17-4E55-91EB-FD77FC9389CD}"/>
                </a:ext>
              </a:extLst>
            </p:cNvPr>
            <p:cNvSpPr txBox="1">
              <a:spLocks noChangeArrowheads="1"/>
            </p:cNvSpPr>
            <p:nvPr>
              <p:custDataLst>
                <p:tags r:id="rId15"/>
              </p:custDataLst>
            </p:nvPr>
          </p:nvSpPr>
          <p:spPr bwMode="auto">
            <a:xfrm>
              <a:off x="16002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endParaRPr lang="en-US" altLang="en-US" sz="2400" b="1" dirty="0">
                <a:solidFill>
                  <a:schemeClr val="accent6">
                    <a:lumMod val="75000"/>
                  </a:schemeClr>
                </a:solidFill>
              </a:endParaRPr>
            </a:p>
          </p:txBody>
        </p:sp>
        <p:sp>
          <p:nvSpPr>
            <p:cNvPr id="57" name="Rectangle 3">
              <a:extLst>
                <a:ext uri="{FF2B5EF4-FFF2-40B4-BE49-F238E27FC236}">
                  <a16:creationId xmlns:a16="http://schemas.microsoft.com/office/drawing/2014/main" id="{2EA20C51-79D3-4847-8EBB-23AB4752E3F6}"/>
                </a:ext>
              </a:extLst>
            </p:cNvPr>
            <p:cNvSpPr txBox="1">
              <a:spLocks noChangeArrowheads="1"/>
            </p:cNvSpPr>
            <p:nvPr>
              <p:custDataLst>
                <p:tags r:id="rId16"/>
              </p:custDataLst>
            </p:nvPr>
          </p:nvSpPr>
          <p:spPr bwMode="auto">
            <a:xfrm>
              <a:off x="5181600" y="33039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dirty="0">
                  <a:solidFill>
                    <a:schemeClr val="accent6">
                      <a:lumMod val="75000"/>
                    </a:schemeClr>
                  </a:solidFill>
                </a:rPr>
                <a:t>sub</a:t>
              </a:r>
            </a:p>
          </p:txBody>
        </p:sp>
        <p:sp>
          <p:nvSpPr>
            <p:cNvPr id="58" name="Rectangle 3">
              <a:extLst>
                <a:ext uri="{FF2B5EF4-FFF2-40B4-BE49-F238E27FC236}">
                  <a16:creationId xmlns:a16="http://schemas.microsoft.com/office/drawing/2014/main" id="{B9FB7C2D-7524-45D3-972A-550BD08EAE50}"/>
                </a:ext>
              </a:extLst>
            </p:cNvPr>
            <p:cNvSpPr txBox="1">
              <a:spLocks noChangeArrowheads="1"/>
            </p:cNvSpPr>
            <p:nvPr>
              <p:custDataLst>
                <p:tags r:id="rId17"/>
              </p:custDataLst>
            </p:nvPr>
          </p:nvSpPr>
          <p:spPr bwMode="auto">
            <a:xfrm>
              <a:off x="0" y="16764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80000"/>
                </a:lnSpc>
                <a:buFont typeface="Arial" charset="0"/>
                <a:buNone/>
              </a:pPr>
              <a:r>
                <a:rPr lang="en-US" altLang="en-US" sz="2400" b="1" dirty="0"/>
                <a:t>cycle 7:</a:t>
              </a:r>
            </a:p>
          </p:txBody>
        </p:sp>
        <p:sp>
          <p:nvSpPr>
            <p:cNvPr id="59" name="Rectangle 3">
              <a:extLst>
                <a:ext uri="{FF2B5EF4-FFF2-40B4-BE49-F238E27FC236}">
                  <a16:creationId xmlns:a16="http://schemas.microsoft.com/office/drawing/2014/main" id="{A7D4C061-E35F-4ED7-B1A7-9D3DBD4D57ED}"/>
                </a:ext>
              </a:extLst>
            </p:cNvPr>
            <p:cNvSpPr txBox="1">
              <a:spLocks noChangeArrowheads="1"/>
            </p:cNvSpPr>
            <p:nvPr>
              <p:custDataLst>
                <p:tags r:id="rId18"/>
              </p:custDataLst>
            </p:nvPr>
          </p:nvSpPr>
          <p:spPr bwMode="auto">
            <a:xfrm>
              <a:off x="65532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i="1" dirty="0" err="1">
                  <a:solidFill>
                    <a:schemeClr val="accent6">
                      <a:lumMod val="75000"/>
                    </a:schemeClr>
                  </a:solidFill>
                </a:rPr>
                <a:t>nop</a:t>
              </a:r>
              <a:endParaRPr lang="en-US" altLang="en-US" sz="2400" b="1" i="1" dirty="0">
                <a:solidFill>
                  <a:schemeClr val="accent6">
                    <a:lumMod val="75000"/>
                  </a:schemeClr>
                </a:solidFill>
              </a:endParaRPr>
            </a:p>
          </p:txBody>
        </p:sp>
        <p:sp>
          <p:nvSpPr>
            <p:cNvPr id="60" name="Rectangle 3">
              <a:extLst>
                <a:ext uri="{FF2B5EF4-FFF2-40B4-BE49-F238E27FC236}">
                  <a16:creationId xmlns:a16="http://schemas.microsoft.com/office/drawing/2014/main" id="{BD576337-EB13-4504-9629-AE0E25FA199A}"/>
                </a:ext>
              </a:extLst>
            </p:cNvPr>
            <p:cNvSpPr txBox="1">
              <a:spLocks noChangeArrowheads="1"/>
            </p:cNvSpPr>
            <p:nvPr>
              <p:custDataLst>
                <p:tags r:id="rId19"/>
              </p:custDataLst>
            </p:nvPr>
          </p:nvSpPr>
          <p:spPr bwMode="auto">
            <a:xfrm>
              <a:off x="7772400" y="3279546"/>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i="1" dirty="0" err="1">
                  <a:solidFill>
                    <a:schemeClr val="accent6">
                      <a:lumMod val="75000"/>
                    </a:schemeClr>
                  </a:solidFill>
                </a:rPr>
                <a:t>nop</a:t>
              </a:r>
              <a:endParaRPr lang="en-US" altLang="en-US" sz="2400" b="1" i="1" dirty="0">
                <a:solidFill>
                  <a:schemeClr val="accent6">
                    <a:lumMod val="75000"/>
                  </a:schemeClr>
                </a:solidFill>
              </a:endParaRPr>
            </a:p>
          </p:txBody>
        </p:sp>
      </p:grpSp>
    </p:spTree>
    <p:custDataLst>
      <p:tags r:id="rId1"/>
    </p:custDataLst>
    <p:extLst>
      <p:ext uri="{BB962C8B-B14F-4D97-AF65-F5344CB8AC3E}">
        <p14:creationId xmlns:p14="http://schemas.microsoft.com/office/powerpoint/2010/main" val="17830878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6"/>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33"/>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40"/>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47"/>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Resolving RAW Hazards</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295400"/>
            <a:ext cx="8458200" cy="5121275"/>
          </a:xfrm>
        </p:spPr>
        <p:txBody>
          <a:bodyPr/>
          <a:lstStyle/>
          <a:p>
            <a:r>
              <a:rPr lang="en-US" altLang="en-US" sz="2800" dirty="0"/>
              <a:t>To stall an instruction at the ID stage:</a:t>
            </a:r>
          </a:p>
          <a:p>
            <a:pPr lvl="1"/>
            <a:r>
              <a:rPr lang="en-US" altLang="en-US" sz="2400" dirty="0"/>
              <a:t>Disable </a:t>
            </a:r>
            <a:r>
              <a:rPr lang="en-US" altLang="en-US" sz="2400" dirty="0" err="1"/>
              <a:t>PCWrite</a:t>
            </a:r>
            <a:r>
              <a:rPr lang="en-US" altLang="en-US" sz="2400" dirty="0"/>
              <a:t> and IF/</a:t>
            </a:r>
            <a:r>
              <a:rPr lang="en-US" altLang="en-US" sz="2400" dirty="0" err="1"/>
              <a:t>IDWrite</a:t>
            </a:r>
            <a:endParaRPr lang="en-US" altLang="en-US" sz="2400" dirty="0"/>
          </a:p>
          <a:p>
            <a:pPr lvl="1"/>
            <a:r>
              <a:rPr lang="en-US" altLang="en-US" sz="2400" dirty="0"/>
              <a:t>Clear ID/EX control signals to all 0s (i.e., insert </a:t>
            </a:r>
            <a:r>
              <a:rPr lang="en-US" altLang="en-US" sz="2400" dirty="0" err="1"/>
              <a:t>nop</a:t>
            </a:r>
            <a:r>
              <a:rPr lang="en-US" altLang="en-US" sz="2400" dirty="0"/>
              <a:t>)</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22</a:t>
            </a:fld>
            <a:endParaRPr lang="en-US" altLang="en-US">
              <a:latin typeface="Calibri" panose="020F0502020204030204" pitchFamily="34" charset="0"/>
            </a:endParaRPr>
          </a:p>
        </p:txBody>
      </p:sp>
      <p:pic>
        <p:nvPicPr>
          <p:cNvPr id="3" name="Picture 2">
            <a:extLst>
              <a:ext uri="{FF2B5EF4-FFF2-40B4-BE49-F238E27FC236}">
                <a16:creationId xmlns:a16="http://schemas.microsoft.com/office/drawing/2014/main" id="{CB36590A-4034-4500-BC77-592BFA1A0407}"/>
              </a:ext>
            </a:extLst>
          </p:cNvPr>
          <p:cNvPicPr>
            <a:picLocks noChangeAspect="1"/>
          </p:cNvPicPr>
          <p:nvPr>
            <p:custDataLst>
              <p:tags r:id="rId5"/>
            </p:custDataLst>
          </p:nvPr>
        </p:nvPicPr>
        <p:blipFill>
          <a:blip r:embed="rId12"/>
          <a:stretch>
            <a:fillRect/>
          </a:stretch>
        </p:blipFill>
        <p:spPr>
          <a:xfrm>
            <a:off x="912250" y="2662919"/>
            <a:ext cx="6975169" cy="4195081"/>
          </a:xfrm>
          <a:prstGeom prst="rect">
            <a:avLst/>
          </a:prstGeom>
        </p:spPr>
      </p:pic>
      <p:sp>
        <p:nvSpPr>
          <p:cNvPr id="16" name="Oval 15">
            <a:extLst>
              <a:ext uri="{FF2B5EF4-FFF2-40B4-BE49-F238E27FC236}">
                <a16:creationId xmlns:a16="http://schemas.microsoft.com/office/drawing/2014/main" id="{82F3CDB5-7726-4E14-8B5C-8A484EACFA73}"/>
              </a:ext>
            </a:extLst>
          </p:cNvPr>
          <p:cNvSpPr/>
          <p:nvPr>
            <p:custDataLst>
              <p:tags r:id="rId6"/>
            </p:custDataLst>
          </p:nvPr>
        </p:nvSpPr>
        <p:spPr>
          <a:xfrm>
            <a:off x="3393987" y="3124200"/>
            <a:ext cx="1635213" cy="990600"/>
          </a:xfrm>
          <a:prstGeom prst="ellipse">
            <a:avLst/>
          </a:prstGeom>
          <a:solidFill>
            <a:schemeClr val="bg1">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07553FB-A628-4676-BF97-D7D15DF53B0C}"/>
              </a:ext>
            </a:extLst>
          </p:cNvPr>
          <p:cNvSpPr/>
          <p:nvPr>
            <p:custDataLst>
              <p:tags r:id="rId7"/>
            </p:custDataLst>
          </p:nvPr>
        </p:nvSpPr>
        <p:spPr>
          <a:xfrm>
            <a:off x="1828800" y="2971800"/>
            <a:ext cx="377194" cy="685800"/>
          </a:xfrm>
          <a:prstGeom prst="ellipse">
            <a:avLst/>
          </a:prstGeom>
          <a:solidFill>
            <a:schemeClr val="bg1">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E6D0246-09FB-4F0A-B9A2-DDCB92740816}"/>
              </a:ext>
            </a:extLst>
          </p:cNvPr>
          <p:cNvSpPr/>
          <p:nvPr>
            <p:custDataLst>
              <p:tags r:id="rId8"/>
            </p:custDataLst>
          </p:nvPr>
        </p:nvSpPr>
        <p:spPr>
          <a:xfrm>
            <a:off x="918206" y="3581400"/>
            <a:ext cx="377194" cy="685800"/>
          </a:xfrm>
          <a:prstGeom prst="ellipse">
            <a:avLst/>
          </a:prstGeom>
          <a:solidFill>
            <a:schemeClr val="bg1">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3">
            <a:extLst>
              <a:ext uri="{FF2B5EF4-FFF2-40B4-BE49-F238E27FC236}">
                <a16:creationId xmlns:a16="http://schemas.microsoft.com/office/drawing/2014/main" id="{72574FE2-1CB5-4EE4-8EF7-06670605DF5E}"/>
              </a:ext>
            </a:extLst>
          </p:cNvPr>
          <p:cNvSpPr txBox="1">
            <a:spLocks noChangeArrowheads="1"/>
          </p:cNvSpPr>
          <p:nvPr>
            <p:custDataLst>
              <p:tags r:id="rId9"/>
            </p:custDataLst>
          </p:nvPr>
        </p:nvSpPr>
        <p:spPr bwMode="auto">
          <a:xfrm>
            <a:off x="4724400" y="2743200"/>
            <a:ext cx="3276599"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en-US" sz="2400" b="1" dirty="0" err="1">
                <a:solidFill>
                  <a:schemeClr val="accent6">
                    <a:lumMod val="75000"/>
                  </a:schemeClr>
                </a:solidFill>
              </a:rPr>
              <a:t>nop</a:t>
            </a:r>
            <a:r>
              <a:rPr lang="en-US" altLang="en-US" sz="2400" b="1" dirty="0">
                <a:solidFill>
                  <a:schemeClr val="accent6">
                    <a:lumMod val="75000"/>
                  </a:schemeClr>
                </a:solidFill>
              </a:rPr>
              <a:t> = </a:t>
            </a:r>
            <a:r>
              <a:rPr lang="en-US" altLang="en-US" sz="2400" b="1" dirty="0" err="1">
                <a:solidFill>
                  <a:schemeClr val="accent6">
                    <a:lumMod val="75000"/>
                  </a:schemeClr>
                </a:solidFill>
              </a:rPr>
              <a:t>sll</a:t>
            </a:r>
            <a:r>
              <a:rPr lang="en-US" altLang="en-US" sz="2400" b="1" dirty="0">
                <a:solidFill>
                  <a:schemeClr val="accent6">
                    <a:lumMod val="75000"/>
                  </a:schemeClr>
                </a:solidFill>
              </a:rPr>
              <a:t> $zero, $zero, 0</a:t>
            </a:r>
          </a:p>
        </p:txBody>
      </p:sp>
    </p:spTree>
    <p:custDataLst>
      <p:tags r:id="rId1"/>
    </p:custDataLst>
    <p:extLst>
      <p:ext uri="{BB962C8B-B14F-4D97-AF65-F5344CB8AC3E}">
        <p14:creationId xmlns:p14="http://schemas.microsoft.com/office/powerpoint/2010/main" val="10957785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RF Bypassing</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458200" cy="5121275"/>
          </a:xfrm>
        </p:spPr>
        <p:txBody>
          <a:bodyPr/>
          <a:lstStyle/>
          <a:p>
            <a:r>
              <a:rPr lang="en-US" altLang="en-US" sz="2800" dirty="0"/>
              <a:t>Step 2b: Stall with </a:t>
            </a:r>
            <a:r>
              <a:rPr lang="en-US" altLang="en-US" sz="2800" i="1" dirty="0"/>
              <a:t>register file bypassing</a:t>
            </a:r>
          </a:p>
          <a:p>
            <a:pPr lvl="1"/>
            <a:r>
              <a:rPr lang="en-US" altLang="en-US" sz="2400" dirty="0"/>
              <a:t>Implement a write-before-read RF where the instruction at WB writes its result into the RF in the first half of the cycle and then the instruction at ID reads its operands.</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23</a:t>
            </a:fld>
            <a:endParaRPr lang="en-US" altLang="en-US">
              <a:latin typeface="Calibri" panose="020F0502020204030204" pitchFamily="34" charset="0"/>
            </a:endParaRPr>
          </a:p>
        </p:txBody>
      </p:sp>
      <p:sp>
        <p:nvSpPr>
          <p:cNvPr id="6" name="Rectangle 3">
            <a:extLst>
              <a:ext uri="{FF2B5EF4-FFF2-40B4-BE49-F238E27FC236}">
                <a16:creationId xmlns:a16="http://schemas.microsoft.com/office/drawing/2014/main" id="{1C442AB6-EB4D-47DB-BD48-E0D610940D6F}"/>
              </a:ext>
            </a:extLst>
          </p:cNvPr>
          <p:cNvSpPr txBox="1">
            <a:spLocks noChangeArrowheads="1"/>
          </p:cNvSpPr>
          <p:nvPr>
            <p:custDataLst>
              <p:tags r:id="rId5"/>
            </p:custDataLst>
          </p:nvPr>
        </p:nvSpPr>
        <p:spPr bwMode="auto">
          <a:xfrm>
            <a:off x="304800" y="5073650"/>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add $1, $2, $3</a:t>
            </a:r>
          </a:p>
          <a:p>
            <a:pPr marL="457200" lvl="1" indent="0">
              <a:lnSpc>
                <a:spcPct val="90000"/>
              </a:lnSpc>
              <a:buFont typeface="Arial" charset="0"/>
              <a:buNone/>
            </a:pPr>
            <a:r>
              <a:rPr lang="en-US" altLang="en-US" sz="2400" dirty="0"/>
              <a:t>sub $4, $5, $1</a:t>
            </a:r>
          </a:p>
          <a:p>
            <a:pPr marL="457200" lvl="1" indent="0">
              <a:lnSpc>
                <a:spcPct val="90000"/>
              </a:lnSpc>
              <a:buNone/>
            </a:pPr>
            <a:r>
              <a:rPr lang="en-US" altLang="en-US" sz="2400" dirty="0" err="1"/>
              <a:t>lw</a:t>
            </a:r>
            <a:r>
              <a:rPr lang="en-US" altLang="en-US" sz="2400" dirty="0"/>
              <a:t> $6, 0($7)</a:t>
            </a:r>
          </a:p>
          <a:p>
            <a:pPr marL="457200" lvl="1" indent="0">
              <a:lnSpc>
                <a:spcPct val="90000"/>
              </a:lnSpc>
              <a:buFont typeface="Arial" charset="0"/>
              <a:buNone/>
            </a:pPr>
            <a:endParaRPr lang="en-US" altLang="en-US" sz="2400" dirty="0"/>
          </a:p>
        </p:txBody>
      </p:sp>
      <p:sp>
        <p:nvSpPr>
          <p:cNvPr id="7" name="Line 66">
            <a:extLst>
              <a:ext uri="{FF2B5EF4-FFF2-40B4-BE49-F238E27FC236}">
                <a16:creationId xmlns:a16="http://schemas.microsoft.com/office/drawing/2014/main" id="{1D26FB9D-8F88-45B9-82EB-671F6A50ED72}"/>
              </a:ext>
            </a:extLst>
          </p:cNvPr>
          <p:cNvSpPr>
            <a:spLocks noChangeShapeType="1"/>
          </p:cNvSpPr>
          <p:nvPr>
            <p:custDataLst>
              <p:tags r:id="rId6"/>
            </p:custDataLst>
          </p:nvPr>
        </p:nvSpPr>
        <p:spPr bwMode="auto">
          <a:xfrm>
            <a:off x="1679575" y="5302250"/>
            <a:ext cx="685800" cy="343739"/>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8" name="Group 4">
            <a:extLst>
              <a:ext uri="{FF2B5EF4-FFF2-40B4-BE49-F238E27FC236}">
                <a16:creationId xmlns:a16="http://schemas.microsoft.com/office/drawing/2014/main" id="{43C3C47F-BD62-41D1-BE4E-BB99A7A9F46D}"/>
              </a:ext>
            </a:extLst>
          </p:cNvPr>
          <p:cNvGraphicFramePr>
            <a:graphicFrameLocks noGrp="1"/>
          </p:cNvGraphicFramePr>
          <p:nvPr>
            <p:custDataLst>
              <p:tags r:id="rId7"/>
            </p:custDataLst>
            <p:extLst>
              <p:ext uri="{D42A27DB-BD31-4B8C-83A1-F6EECF244321}">
                <p14:modId xmlns:p14="http://schemas.microsoft.com/office/powerpoint/2010/main" val="988537425"/>
              </p:ext>
            </p:extLst>
          </p:nvPr>
        </p:nvGraphicFramePr>
        <p:xfrm>
          <a:off x="2822575" y="4883989"/>
          <a:ext cx="5638803" cy="1517832"/>
        </p:xfrm>
        <a:graphic>
          <a:graphicData uri="http://schemas.openxmlformats.org/drawingml/2006/table">
            <a:tbl>
              <a:tblPr/>
              <a:tblGrid>
                <a:gridCol w="1241573">
                  <a:extLst>
                    <a:ext uri="{9D8B030D-6E8A-4147-A177-3AD203B41FA5}">
                      <a16:colId xmlns:a16="http://schemas.microsoft.com/office/drawing/2014/main" val="20000"/>
                    </a:ext>
                  </a:extLst>
                </a:gridCol>
                <a:gridCol w="439723">
                  <a:extLst>
                    <a:ext uri="{9D8B030D-6E8A-4147-A177-3AD203B41FA5}">
                      <a16:colId xmlns:a16="http://schemas.microsoft.com/office/drawing/2014/main" val="20001"/>
                    </a:ext>
                  </a:extLst>
                </a:gridCol>
                <a:gridCol w="439723">
                  <a:extLst>
                    <a:ext uri="{9D8B030D-6E8A-4147-A177-3AD203B41FA5}">
                      <a16:colId xmlns:a16="http://schemas.microsoft.com/office/drawing/2014/main" val="20002"/>
                    </a:ext>
                  </a:extLst>
                </a:gridCol>
                <a:gridCol w="439723">
                  <a:extLst>
                    <a:ext uri="{9D8B030D-6E8A-4147-A177-3AD203B41FA5}">
                      <a16:colId xmlns:a16="http://schemas.microsoft.com/office/drawing/2014/main" val="20003"/>
                    </a:ext>
                  </a:extLst>
                </a:gridCol>
                <a:gridCol w="439723">
                  <a:extLst>
                    <a:ext uri="{9D8B030D-6E8A-4147-A177-3AD203B41FA5}">
                      <a16:colId xmlns:a16="http://schemas.microsoft.com/office/drawing/2014/main" val="20004"/>
                    </a:ext>
                  </a:extLst>
                </a:gridCol>
                <a:gridCol w="439723">
                  <a:extLst>
                    <a:ext uri="{9D8B030D-6E8A-4147-A177-3AD203B41FA5}">
                      <a16:colId xmlns:a16="http://schemas.microsoft.com/office/drawing/2014/main" val="20005"/>
                    </a:ext>
                  </a:extLst>
                </a:gridCol>
                <a:gridCol w="439723">
                  <a:extLst>
                    <a:ext uri="{9D8B030D-6E8A-4147-A177-3AD203B41FA5}">
                      <a16:colId xmlns:a16="http://schemas.microsoft.com/office/drawing/2014/main" val="20006"/>
                    </a:ext>
                  </a:extLst>
                </a:gridCol>
                <a:gridCol w="439723">
                  <a:extLst>
                    <a:ext uri="{9D8B030D-6E8A-4147-A177-3AD203B41FA5}">
                      <a16:colId xmlns:a16="http://schemas.microsoft.com/office/drawing/2014/main" val="20007"/>
                    </a:ext>
                  </a:extLst>
                </a:gridCol>
                <a:gridCol w="439723">
                  <a:extLst>
                    <a:ext uri="{9D8B030D-6E8A-4147-A177-3AD203B41FA5}">
                      <a16:colId xmlns:a16="http://schemas.microsoft.com/office/drawing/2014/main" val="20008"/>
                    </a:ext>
                  </a:extLst>
                </a:gridCol>
                <a:gridCol w="439723">
                  <a:extLst>
                    <a:ext uri="{9D8B030D-6E8A-4147-A177-3AD203B41FA5}">
                      <a16:colId xmlns:a16="http://schemas.microsoft.com/office/drawing/2014/main" val="809071843"/>
                    </a:ext>
                  </a:extLst>
                </a:gridCol>
                <a:gridCol w="439723">
                  <a:extLst>
                    <a:ext uri="{9D8B030D-6E8A-4147-A177-3AD203B41FA5}">
                      <a16:colId xmlns:a16="http://schemas.microsoft.com/office/drawing/2014/main" val="20013"/>
                    </a:ext>
                  </a:extLst>
                </a:gridCol>
              </a:tblGrid>
              <a:tr h="37824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8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kumimoji="0" lang="en-US" sz="1600" b="0" i="0" u="none" strike="noStrike" cap="none" normalizeH="0" baseline="0" dirty="0">
                          <a:ln>
                            <a:noFill/>
                          </a:ln>
                          <a:solidFill>
                            <a:schemeClr val="tx1"/>
                          </a:solidFill>
                          <a:effectLst/>
                          <a:latin typeface="+mn-lt"/>
                        </a:rPr>
                        <a:t>X</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1600" b="0" i="0" u="none" strike="noStrike" cap="none" normalizeH="0" baseline="0" dirty="0">
                          <a:ln>
                            <a:noFill/>
                          </a:ln>
                          <a:solidFill>
                            <a:schemeClr val="tx1"/>
                          </a:solidFill>
                          <a:effectLst/>
                          <a:latin typeface="+mn-lt"/>
                        </a:rPr>
                        <a:t>M</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825899613"/>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endParaRPr kumimoji="0" lang="en-US" sz="20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kumimoji="0" lang="en-US" sz="1600" b="0" i="0" u="none" strike="noStrike" cap="none" normalizeH="0" baseline="0" dirty="0">
                          <a:ln>
                            <a:noFill/>
                          </a:ln>
                          <a:solidFill>
                            <a:schemeClr val="tx1"/>
                          </a:solidFill>
                          <a:effectLst/>
                          <a:latin typeface="+mn-lt"/>
                        </a:rPr>
                        <a:t>D</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1600" b="0" i="0" u="none" strike="noStrike" cap="none" normalizeH="0" baseline="0" dirty="0">
                          <a:ln>
                            <a:noFill/>
                          </a:ln>
                          <a:solidFill>
                            <a:schemeClr val="tx1"/>
                          </a:solidFill>
                          <a:effectLst/>
                          <a:latin typeface="+mn-lt"/>
                        </a:rPr>
                        <a:t>X</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dirty="0">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Line 66">
            <a:extLst>
              <a:ext uri="{FF2B5EF4-FFF2-40B4-BE49-F238E27FC236}">
                <a16:creationId xmlns:a16="http://schemas.microsoft.com/office/drawing/2014/main" id="{88E65442-F933-4B91-8159-46B5576A0996}"/>
              </a:ext>
            </a:extLst>
          </p:cNvPr>
          <p:cNvSpPr>
            <a:spLocks noChangeShapeType="1"/>
          </p:cNvSpPr>
          <p:nvPr>
            <p:custDataLst>
              <p:tags r:id="rId8"/>
            </p:custDataLst>
          </p:nvPr>
        </p:nvSpPr>
        <p:spPr bwMode="auto">
          <a:xfrm>
            <a:off x="6019800" y="5486400"/>
            <a:ext cx="76200" cy="311989"/>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10" name="Picture 9">
            <a:extLst>
              <a:ext uri="{FF2B5EF4-FFF2-40B4-BE49-F238E27FC236}">
                <a16:creationId xmlns:a16="http://schemas.microsoft.com/office/drawing/2014/main" id="{0541BB9C-FA9A-4F11-8036-AAF060D6BB9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893259" y="3429000"/>
            <a:ext cx="5345741" cy="989952"/>
          </a:xfrm>
          <a:prstGeom prst="rect">
            <a:avLst/>
          </a:prstGeom>
        </p:spPr>
      </p:pic>
    </p:spTree>
    <p:custDataLst>
      <p:tags r:id="rId1"/>
    </p:custDataLst>
    <p:extLst>
      <p:ext uri="{BB962C8B-B14F-4D97-AF65-F5344CB8AC3E}">
        <p14:creationId xmlns:p14="http://schemas.microsoft.com/office/powerpoint/2010/main" val="19088754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Data Forwarding</a:t>
            </a:r>
          </a:p>
        </p:txBody>
      </p:sp>
      <p:sp>
        <p:nvSpPr>
          <p:cNvPr id="11267" name="Rectangle 3">
            <a:extLst>
              <a:ext uri="{FF2B5EF4-FFF2-40B4-BE49-F238E27FC236}">
                <a16:creationId xmlns:a16="http://schemas.microsoft.com/office/drawing/2014/main" id="{2961C9D5-DF85-43D8-8038-65E5091C64DC}"/>
              </a:ext>
            </a:extLst>
          </p:cNvPr>
          <p:cNvSpPr>
            <a:spLocks noGrp="1" noChangeArrowheads="1"/>
          </p:cNvSpPr>
          <p:nvPr>
            <p:ph idx="1"/>
            <p:custDataLst>
              <p:tags r:id="rId3"/>
            </p:custDataLst>
          </p:nvPr>
        </p:nvSpPr>
        <p:spPr>
          <a:xfrm>
            <a:off x="457200" y="1600200"/>
            <a:ext cx="8458200" cy="5121275"/>
          </a:xfrm>
        </p:spPr>
        <p:txBody>
          <a:bodyPr/>
          <a:lstStyle/>
          <a:p>
            <a:r>
              <a:rPr lang="en-US" altLang="en-US" sz="2800" dirty="0"/>
              <a:t>Step 2c: RF bypassing and </a:t>
            </a:r>
            <a:r>
              <a:rPr lang="en-US" altLang="en-US" sz="2800" i="1" dirty="0"/>
              <a:t>data</a:t>
            </a:r>
            <a:r>
              <a:rPr lang="en-US" altLang="en-US" sz="2800" dirty="0"/>
              <a:t> </a:t>
            </a:r>
            <a:r>
              <a:rPr lang="en-US" altLang="en-US" sz="2800" i="1" dirty="0"/>
              <a:t>forwarding</a:t>
            </a:r>
          </a:p>
          <a:p>
            <a:pPr lvl="1"/>
            <a:r>
              <a:rPr lang="en-US" altLang="en-US" sz="2400" dirty="0"/>
              <a:t>For some instructions, their results are ready before WB</a:t>
            </a:r>
          </a:p>
          <a:p>
            <a:pPr lvl="2"/>
            <a:r>
              <a:rPr lang="en-US" altLang="en-US" sz="2000" dirty="0"/>
              <a:t>Ready after EX for arithmetic and logic</a:t>
            </a:r>
          </a:p>
          <a:p>
            <a:pPr lvl="1"/>
            <a:r>
              <a:rPr lang="en-US" altLang="en-US" sz="2400" dirty="0"/>
              <a:t>For all instructions, they do not need their operands until EX</a:t>
            </a:r>
          </a:p>
          <a:p>
            <a:pPr lvl="1"/>
            <a:r>
              <a:rPr lang="en-US" altLang="en-US" sz="2400" dirty="0"/>
              <a:t>Add forwarding </a:t>
            </a:r>
            <a:r>
              <a:rPr lang="en-US" altLang="en-US" sz="2400" dirty="0" err="1"/>
              <a:t>muxes</a:t>
            </a:r>
            <a:r>
              <a:rPr lang="en-US" altLang="en-US" sz="2400" dirty="0"/>
              <a:t> to inputs of ALU</a:t>
            </a:r>
          </a:p>
          <a:p>
            <a:pPr lvl="1"/>
            <a:r>
              <a:rPr lang="en-US" altLang="en-US" sz="2400" dirty="0"/>
              <a:t>Eliminates all stalls (except for load-to-use stalls, later)</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24</a:t>
            </a:fld>
            <a:endParaRPr lang="en-US" altLang="en-US">
              <a:latin typeface="Calibri" panose="020F0502020204030204" pitchFamily="34" charset="0"/>
            </a:endParaRPr>
          </a:p>
        </p:txBody>
      </p:sp>
      <p:sp>
        <p:nvSpPr>
          <p:cNvPr id="9" name="Rectangle 3">
            <a:extLst>
              <a:ext uri="{FF2B5EF4-FFF2-40B4-BE49-F238E27FC236}">
                <a16:creationId xmlns:a16="http://schemas.microsoft.com/office/drawing/2014/main" id="{5B786D29-EA36-4919-AB57-5D34846C2E51}"/>
              </a:ext>
            </a:extLst>
          </p:cNvPr>
          <p:cNvSpPr txBox="1">
            <a:spLocks noChangeArrowheads="1"/>
          </p:cNvSpPr>
          <p:nvPr>
            <p:custDataLst>
              <p:tags r:id="rId5"/>
            </p:custDataLst>
          </p:nvPr>
        </p:nvSpPr>
        <p:spPr bwMode="auto">
          <a:xfrm>
            <a:off x="304800" y="5073650"/>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add $1, $2, $3</a:t>
            </a:r>
          </a:p>
          <a:p>
            <a:pPr marL="457200" lvl="1" indent="0">
              <a:lnSpc>
                <a:spcPct val="90000"/>
              </a:lnSpc>
              <a:buFont typeface="Arial" charset="0"/>
              <a:buNone/>
            </a:pPr>
            <a:r>
              <a:rPr lang="en-US" altLang="en-US" sz="2400" dirty="0"/>
              <a:t>sub $4, $5, $1</a:t>
            </a:r>
          </a:p>
          <a:p>
            <a:pPr marL="457200" lvl="1" indent="0">
              <a:lnSpc>
                <a:spcPct val="90000"/>
              </a:lnSpc>
              <a:buFont typeface="Arial" charset="0"/>
              <a:buNone/>
            </a:pPr>
            <a:endParaRPr lang="en-US" altLang="en-US" sz="2400" dirty="0"/>
          </a:p>
        </p:txBody>
      </p:sp>
      <p:sp>
        <p:nvSpPr>
          <p:cNvPr id="10" name="Line 66">
            <a:extLst>
              <a:ext uri="{FF2B5EF4-FFF2-40B4-BE49-F238E27FC236}">
                <a16:creationId xmlns:a16="http://schemas.microsoft.com/office/drawing/2014/main" id="{A2D3606C-6E8D-4530-AC1C-02EDD60B4DBC}"/>
              </a:ext>
            </a:extLst>
          </p:cNvPr>
          <p:cNvSpPr>
            <a:spLocks noChangeShapeType="1"/>
          </p:cNvSpPr>
          <p:nvPr>
            <p:custDataLst>
              <p:tags r:id="rId6"/>
            </p:custDataLst>
          </p:nvPr>
        </p:nvSpPr>
        <p:spPr bwMode="auto">
          <a:xfrm>
            <a:off x="1679575" y="5302250"/>
            <a:ext cx="685800" cy="343739"/>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1" name="Group 4">
            <a:extLst>
              <a:ext uri="{FF2B5EF4-FFF2-40B4-BE49-F238E27FC236}">
                <a16:creationId xmlns:a16="http://schemas.microsoft.com/office/drawing/2014/main" id="{C0B13A61-F505-4DFA-8029-821FFB7FD258}"/>
              </a:ext>
            </a:extLst>
          </p:cNvPr>
          <p:cNvGraphicFramePr>
            <a:graphicFrameLocks noGrp="1"/>
          </p:cNvGraphicFramePr>
          <p:nvPr>
            <p:custDataLst>
              <p:tags r:id="rId7"/>
            </p:custDataLst>
            <p:extLst>
              <p:ext uri="{D42A27DB-BD31-4B8C-83A1-F6EECF244321}">
                <p14:modId xmlns:p14="http://schemas.microsoft.com/office/powerpoint/2010/main" val="241263218"/>
              </p:ext>
            </p:extLst>
          </p:nvPr>
        </p:nvGraphicFramePr>
        <p:xfrm>
          <a:off x="2822575" y="4883989"/>
          <a:ext cx="5638803" cy="1152090"/>
        </p:xfrm>
        <a:graphic>
          <a:graphicData uri="http://schemas.openxmlformats.org/drawingml/2006/table">
            <a:tbl>
              <a:tblPr/>
              <a:tblGrid>
                <a:gridCol w="1241573">
                  <a:extLst>
                    <a:ext uri="{9D8B030D-6E8A-4147-A177-3AD203B41FA5}">
                      <a16:colId xmlns:a16="http://schemas.microsoft.com/office/drawing/2014/main" val="20000"/>
                    </a:ext>
                  </a:extLst>
                </a:gridCol>
                <a:gridCol w="439723">
                  <a:extLst>
                    <a:ext uri="{9D8B030D-6E8A-4147-A177-3AD203B41FA5}">
                      <a16:colId xmlns:a16="http://schemas.microsoft.com/office/drawing/2014/main" val="20001"/>
                    </a:ext>
                  </a:extLst>
                </a:gridCol>
                <a:gridCol w="439723">
                  <a:extLst>
                    <a:ext uri="{9D8B030D-6E8A-4147-A177-3AD203B41FA5}">
                      <a16:colId xmlns:a16="http://schemas.microsoft.com/office/drawing/2014/main" val="20002"/>
                    </a:ext>
                  </a:extLst>
                </a:gridCol>
                <a:gridCol w="439723">
                  <a:extLst>
                    <a:ext uri="{9D8B030D-6E8A-4147-A177-3AD203B41FA5}">
                      <a16:colId xmlns:a16="http://schemas.microsoft.com/office/drawing/2014/main" val="20003"/>
                    </a:ext>
                  </a:extLst>
                </a:gridCol>
                <a:gridCol w="439723">
                  <a:extLst>
                    <a:ext uri="{9D8B030D-6E8A-4147-A177-3AD203B41FA5}">
                      <a16:colId xmlns:a16="http://schemas.microsoft.com/office/drawing/2014/main" val="20004"/>
                    </a:ext>
                  </a:extLst>
                </a:gridCol>
                <a:gridCol w="439723">
                  <a:extLst>
                    <a:ext uri="{9D8B030D-6E8A-4147-A177-3AD203B41FA5}">
                      <a16:colId xmlns:a16="http://schemas.microsoft.com/office/drawing/2014/main" val="20005"/>
                    </a:ext>
                  </a:extLst>
                </a:gridCol>
                <a:gridCol w="439723">
                  <a:extLst>
                    <a:ext uri="{9D8B030D-6E8A-4147-A177-3AD203B41FA5}">
                      <a16:colId xmlns:a16="http://schemas.microsoft.com/office/drawing/2014/main" val="20006"/>
                    </a:ext>
                  </a:extLst>
                </a:gridCol>
                <a:gridCol w="439723">
                  <a:extLst>
                    <a:ext uri="{9D8B030D-6E8A-4147-A177-3AD203B41FA5}">
                      <a16:colId xmlns:a16="http://schemas.microsoft.com/office/drawing/2014/main" val="20007"/>
                    </a:ext>
                  </a:extLst>
                </a:gridCol>
                <a:gridCol w="439723">
                  <a:extLst>
                    <a:ext uri="{9D8B030D-6E8A-4147-A177-3AD203B41FA5}">
                      <a16:colId xmlns:a16="http://schemas.microsoft.com/office/drawing/2014/main" val="20008"/>
                    </a:ext>
                  </a:extLst>
                </a:gridCol>
                <a:gridCol w="439723">
                  <a:extLst>
                    <a:ext uri="{9D8B030D-6E8A-4147-A177-3AD203B41FA5}">
                      <a16:colId xmlns:a16="http://schemas.microsoft.com/office/drawing/2014/main" val="809071843"/>
                    </a:ext>
                  </a:extLst>
                </a:gridCol>
                <a:gridCol w="439723">
                  <a:extLst>
                    <a:ext uri="{9D8B030D-6E8A-4147-A177-3AD203B41FA5}">
                      <a16:colId xmlns:a16="http://schemas.microsoft.com/office/drawing/2014/main" val="20013"/>
                    </a:ext>
                  </a:extLst>
                </a:gridCol>
              </a:tblGrid>
              <a:tr h="37824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kumimoji="0" lang="en-US" sz="1600" b="0" i="0" u="none" strike="noStrike" cap="none" normalizeH="0" baseline="0" dirty="0">
                          <a:ln>
                            <a:noFill/>
                          </a:ln>
                          <a:solidFill>
                            <a:schemeClr val="tx1"/>
                          </a:solidFill>
                          <a:effectLst/>
                          <a:latin typeface="+mn-lt"/>
                        </a:rPr>
                        <a:t>X</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kumimoji="0" lang="en-US" sz="1600" b="0" i="0" u="none" strike="noStrike" cap="none" normalizeH="0" baseline="0" dirty="0">
                          <a:ln>
                            <a:noFill/>
                          </a:ln>
                          <a:solidFill>
                            <a:schemeClr val="tx1"/>
                          </a:solidFill>
                          <a:effectLst/>
                          <a:latin typeface="+mn-lt"/>
                        </a:rPr>
                        <a:t>M</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dirty="0">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3" name="Line 66">
            <a:extLst>
              <a:ext uri="{FF2B5EF4-FFF2-40B4-BE49-F238E27FC236}">
                <a16:creationId xmlns:a16="http://schemas.microsoft.com/office/drawing/2014/main" id="{C12557A1-CA43-426C-9512-E80512D038B3}"/>
              </a:ext>
            </a:extLst>
          </p:cNvPr>
          <p:cNvSpPr>
            <a:spLocks noChangeShapeType="1"/>
          </p:cNvSpPr>
          <p:nvPr>
            <p:custDataLst>
              <p:tags r:id="rId8"/>
            </p:custDataLst>
          </p:nvPr>
        </p:nvSpPr>
        <p:spPr bwMode="auto">
          <a:xfrm>
            <a:off x="5480050" y="5530539"/>
            <a:ext cx="6350" cy="271444"/>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310022380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4D1A53-102A-4258-AF29-1E5F7A5F8AD3}"/>
              </a:ext>
            </a:extLst>
          </p:cNvPr>
          <p:cNvPicPr>
            <a:picLocks noChangeAspect="1"/>
          </p:cNvPicPr>
          <p:nvPr>
            <p:custDataLst>
              <p:tags r:id="rId2"/>
            </p:custDataLst>
          </p:nvPr>
        </p:nvPicPr>
        <p:blipFill>
          <a:blip r:embed="rId13"/>
          <a:stretch>
            <a:fillRect/>
          </a:stretch>
        </p:blipFill>
        <p:spPr>
          <a:xfrm>
            <a:off x="457200" y="1156977"/>
            <a:ext cx="7924799" cy="3491223"/>
          </a:xfrm>
          <a:prstGeom prst="rect">
            <a:avLst/>
          </a:prstGeom>
        </p:spPr>
      </p:pic>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3"/>
            </p:custDataLst>
          </p:nvPr>
        </p:nvSpPr>
        <p:spPr>
          <a:xfrm>
            <a:off x="457200" y="274638"/>
            <a:ext cx="7467600" cy="1143000"/>
          </a:xfrm>
        </p:spPr>
        <p:txBody>
          <a:bodyPr/>
          <a:lstStyle/>
          <a:p>
            <a:pPr eaLnBrk="1" hangingPunct="1"/>
            <a:r>
              <a:rPr lang="en-US" altLang="en-US" dirty="0"/>
              <a:t>EX-to-EX Forwarding</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25</a:t>
            </a:fld>
            <a:endParaRPr lang="en-US" altLang="en-US">
              <a:latin typeface="Calibri" panose="020F0502020204030204" pitchFamily="34" charset="0"/>
            </a:endParaRPr>
          </a:p>
        </p:txBody>
      </p:sp>
      <p:sp>
        <p:nvSpPr>
          <p:cNvPr id="9" name="Rectangle 3">
            <a:extLst>
              <a:ext uri="{FF2B5EF4-FFF2-40B4-BE49-F238E27FC236}">
                <a16:creationId xmlns:a16="http://schemas.microsoft.com/office/drawing/2014/main" id="{5B786D29-EA36-4919-AB57-5D34846C2E51}"/>
              </a:ext>
            </a:extLst>
          </p:cNvPr>
          <p:cNvSpPr txBox="1">
            <a:spLocks noChangeArrowheads="1"/>
          </p:cNvSpPr>
          <p:nvPr>
            <p:custDataLst>
              <p:tags r:id="rId5"/>
            </p:custDataLst>
          </p:nvPr>
        </p:nvSpPr>
        <p:spPr bwMode="auto">
          <a:xfrm>
            <a:off x="304800" y="5073650"/>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add $1, $2, $3</a:t>
            </a:r>
          </a:p>
          <a:p>
            <a:pPr marL="457200" lvl="1" indent="0">
              <a:lnSpc>
                <a:spcPct val="90000"/>
              </a:lnSpc>
              <a:buFont typeface="Arial" charset="0"/>
              <a:buNone/>
            </a:pPr>
            <a:r>
              <a:rPr lang="en-US" altLang="en-US" sz="2400" dirty="0"/>
              <a:t>sub $4, $5, $1</a:t>
            </a:r>
          </a:p>
          <a:p>
            <a:pPr marL="457200" lvl="1" indent="0">
              <a:lnSpc>
                <a:spcPct val="90000"/>
              </a:lnSpc>
              <a:buFont typeface="Arial" charset="0"/>
              <a:buNone/>
            </a:pPr>
            <a:endParaRPr lang="en-US" altLang="en-US" sz="2400" dirty="0"/>
          </a:p>
        </p:txBody>
      </p:sp>
      <p:sp>
        <p:nvSpPr>
          <p:cNvPr id="10" name="Line 66">
            <a:extLst>
              <a:ext uri="{FF2B5EF4-FFF2-40B4-BE49-F238E27FC236}">
                <a16:creationId xmlns:a16="http://schemas.microsoft.com/office/drawing/2014/main" id="{A2D3606C-6E8D-4530-AC1C-02EDD60B4DBC}"/>
              </a:ext>
            </a:extLst>
          </p:cNvPr>
          <p:cNvSpPr>
            <a:spLocks noChangeShapeType="1"/>
          </p:cNvSpPr>
          <p:nvPr>
            <p:custDataLst>
              <p:tags r:id="rId6"/>
            </p:custDataLst>
          </p:nvPr>
        </p:nvSpPr>
        <p:spPr bwMode="auto">
          <a:xfrm>
            <a:off x="1679575" y="5302250"/>
            <a:ext cx="685800" cy="343739"/>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1" name="Group 4">
            <a:extLst>
              <a:ext uri="{FF2B5EF4-FFF2-40B4-BE49-F238E27FC236}">
                <a16:creationId xmlns:a16="http://schemas.microsoft.com/office/drawing/2014/main" id="{C0B13A61-F505-4DFA-8029-821FFB7FD258}"/>
              </a:ext>
            </a:extLst>
          </p:cNvPr>
          <p:cNvGraphicFramePr>
            <a:graphicFrameLocks noGrp="1"/>
          </p:cNvGraphicFramePr>
          <p:nvPr>
            <p:custDataLst>
              <p:tags r:id="rId7"/>
            </p:custDataLst>
            <p:extLst>
              <p:ext uri="{D42A27DB-BD31-4B8C-83A1-F6EECF244321}">
                <p14:modId xmlns:p14="http://schemas.microsoft.com/office/powerpoint/2010/main" val="3740378107"/>
              </p:ext>
            </p:extLst>
          </p:nvPr>
        </p:nvGraphicFramePr>
        <p:xfrm>
          <a:off x="2822575" y="4883989"/>
          <a:ext cx="5638803" cy="1152090"/>
        </p:xfrm>
        <a:graphic>
          <a:graphicData uri="http://schemas.openxmlformats.org/drawingml/2006/table">
            <a:tbl>
              <a:tblPr/>
              <a:tblGrid>
                <a:gridCol w="1241573">
                  <a:extLst>
                    <a:ext uri="{9D8B030D-6E8A-4147-A177-3AD203B41FA5}">
                      <a16:colId xmlns:a16="http://schemas.microsoft.com/office/drawing/2014/main" val="20000"/>
                    </a:ext>
                  </a:extLst>
                </a:gridCol>
                <a:gridCol w="439723">
                  <a:extLst>
                    <a:ext uri="{9D8B030D-6E8A-4147-A177-3AD203B41FA5}">
                      <a16:colId xmlns:a16="http://schemas.microsoft.com/office/drawing/2014/main" val="20001"/>
                    </a:ext>
                  </a:extLst>
                </a:gridCol>
                <a:gridCol w="439723">
                  <a:extLst>
                    <a:ext uri="{9D8B030D-6E8A-4147-A177-3AD203B41FA5}">
                      <a16:colId xmlns:a16="http://schemas.microsoft.com/office/drawing/2014/main" val="20002"/>
                    </a:ext>
                  </a:extLst>
                </a:gridCol>
                <a:gridCol w="439723">
                  <a:extLst>
                    <a:ext uri="{9D8B030D-6E8A-4147-A177-3AD203B41FA5}">
                      <a16:colId xmlns:a16="http://schemas.microsoft.com/office/drawing/2014/main" val="20003"/>
                    </a:ext>
                  </a:extLst>
                </a:gridCol>
                <a:gridCol w="439723">
                  <a:extLst>
                    <a:ext uri="{9D8B030D-6E8A-4147-A177-3AD203B41FA5}">
                      <a16:colId xmlns:a16="http://schemas.microsoft.com/office/drawing/2014/main" val="20004"/>
                    </a:ext>
                  </a:extLst>
                </a:gridCol>
                <a:gridCol w="439723">
                  <a:extLst>
                    <a:ext uri="{9D8B030D-6E8A-4147-A177-3AD203B41FA5}">
                      <a16:colId xmlns:a16="http://schemas.microsoft.com/office/drawing/2014/main" val="20005"/>
                    </a:ext>
                  </a:extLst>
                </a:gridCol>
                <a:gridCol w="439723">
                  <a:extLst>
                    <a:ext uri="{9D8B030D-6E8A-4147-A177-3AD203B41FA5}">
                      <a16:colId xmlns:a16="http://schemas.microsoft.com/office/drawing/2014/main" val="20006"/>
                    </a:ext>
                  </a:extLst>
                </a:gridCol>
                <a:gridCol w="439723">
                  <a:extLst>
                    <a:ext uri="{9D8B030D-6E8A-4147-A177-3AD203B41FA5}">
                      <a16:colId xmlns:a16="http://schemas.microsoft.com/office/drawing/2014/main" val="20007"/>
                    </a:ext>
                  </a:extLst>
                </a:gridCol>
                <a:gridCol w="439723">
                  <a:extLst>
                    <a:ext uri="{9D8B030D-6E8A-4147-A177-3AD203B41FA5}">
                      <a16:colId xmlns:a16="http://schemas.microsoft.com/office/drawing/2014/main" val="20008"/>
                    </a:ext>
                  </a:extLst>
                </a:gridCol>
                <a:gridCol w="439723">
                  <a:extLst>
                    <a:ext uri="{9D8B030D-6E8A-4147-A177-3AD203B41FA5}">
                      <a16:colId xmlns:a16="http://schemas.microsoft.com/office/drawing/2014/main" val="809071843"/>
                    </a:ext>
                  </a:extLst>
                </a:gridCol>
                <a:gridCol w="439723">
                  <a:extLst>
                    <a:ext uri="{9D8B030D-6E8A-4147-A177-3AD203B41FA5}">
                      <a16:colId xmlns:a16="http://schemas.microsoft.com/office/drawing/2014/main" val="20013"/>
                    </a:ext>
                  </a:extLst>
                </a:gridCol>
              </a:tblGrid>
              <a:tr h="37824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kumimoji="0" lang="en-US" sz="1600" b="0" i="0" u="none" strike="noStrike" cap="none" normalizeH="0" baseline="0" dirty="0">
                          <a:ln>
                            <a:noFill/>
                          </a:ln>
                          <a:solidFill>
                            <a:schemeClr val="tx1"/>
                          </a:solidFill>
                          <a:effectLst/>
                          <a:latin typeface="+mn-lt"/>
                        </a:rPr>
                        <a:t>X</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kumimoji="0" lang="en-US" sz="1600" b="0" i="0" u="none" strike="noStrike" cap="none" normalizeH="0" baseline="0" dirty="0">
                          <a:ln>
                            <a:noFill/>
                          </a:ln>
                          <a:solidFill>
                            <a:schemeClr val="tx1"/>
                          </a:solidFill>
                          <a:effectLst/>
                          <a:latin typeface="+mn-lt"/>
                        </a:rPr>
                        <a:t>M</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dirty="0">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2" name="Line 66">
            <a:extLst>
              <a:ext uri="{FF2B5EF4-FFF2-40B4-BE49-F238E27FC236}">
                <a16:creationId xmlns:a16="http://schemas.microsoft.com/office/drawing/2014/main" id="{264D54A0-BA7C-4188-A78B-5706CC17D509}"/>
              </a:ext>
            </a:extLst>
          </p:cNvPr>
          <p:cNvSpPr>
            <a:spLocks noChangeShapeType="1"/>
          </p:cNvSpPr>
          <p:nvPr>
            <p:custDataLst>
              <p:tags r:id="rId8"/>
            </p:custDataLst>
          </p:nvPr>
        </p:nvSpPr>
        <p:spPr bwMode="auto">
          <a:xfrm>
            <a:off x="5480050" y="5530539"/>
            <a:ext cx="6350" cy="271444"/>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13" name="Straight Connector 12">
            <a:extLst>
              <a:ext uri="{FF2B5EF4-FFF2-40B4-BE49-F238E27FC236}">
                <a16:creationId xmlns:a16="http://schemas.microsoft.com/office/drawing/2014/main" id="{01B982DB-3A0F-45E8-802C-A0CC2DB91B14}"/>
              </a:ext>
            </a:extLst>
          </p:cNvPr>
          <p:cNvCxnSpPr>
            <a:cxnSpLocks/>
          </p:cNvCxnSpPr>
          <p:nvPr/>
        </p:nvCxnSpPr>
        <p:spPr>
          <a:xfrm>
            <a:off x="2895600" y="1981200"/>
            <a:ext cx="0" cy="246888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A12999E-2DBB-4A17-8144-C2F2CDAFFD97}"/>
              </a:ext>
            </a:extLst>
          </p:cNvPr>
          <p:cNvCxnSpPr>
            <a:cxnSpLocks/>
          </p:cNvCxnSpPr>
          <p:nvPr/>
        </p:nvCxnSpPr>
        <p:spPr>
          <a:xfrm>
            <a:off x="5410200" y="2194560"/>
            <a:ext cx="0" cy="228600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D3637C0-7B22-4470-A53D-32D8AC1FC45F}"/>
              </a:ext>
            </a:extLst>
          </p:cNvPr>
          <p:cNvCxnSpPr>
            <a:cxnSpLocks/>
          </p:cNvCxnSpPr>
          <p:nvPr/>
        </p:nvCxnSpPr>
        <p:spPr>
          <a:xfrm rot="5400000">
            <a:off x="4160520" y="3139440"/>
            <a:ext cx="0" cy="256032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EE23FED-6576-42F9-BE5F-143F50FA4BAA}"/>
              </a:ext>
            </a:extLst>
          </p:cNvPr>
          <p:cNvCxnSpPr>
            <a:cxnSpLocks/>
          </p:cNvCxnSpPr>
          <p:nvPr/>
        </p:nvCxnSpPr>
        <p:spPr>
          <a:xfrm rot="5400000">
            <a:off x="3003299" y="1894168"/>
            <a:ext cx="0" cy="174064"/>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8144856A-2B61-4366-ADD2-4C87D8F08245}"/>
              </a:ext>
            </a:extLst>
          </p:cNvPr>
          <p:cNvSpPr/>
          <p:nvPr>
            <p:custDataLst>
              <p:tags r:id="rId9"/>
            </p:custDataLst>
          </p:nvPr>
        </p:nvSpPr>
        <p:spPr>
          <a:xfrm rot="5400000">
            <a:off x="2913723" y="1618328"/>
            <a:ext cx="593974" cy="284173"/>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02419BC8-DC54-40BE-98B5-9601934B070E}"/>
              </a:ext>
            </a:extLst>
          </p:cNvPr>
          <p:cNvCxnSpPr>
            <a:cxnSpLocks/>
          </p:cNvCxnSpPr>
          <p:nvPr/>
        </p:nvCxnSpPr>
        <p:spPr>
          <a:xfrm rot="5400000">
            <a:off x="3016927" y="2732368"/>
            <a:ext cx="0" cy="174064"/>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ACBC847F-3734-4F81-94BC-A207B827A545}"/>
              </a:ext>
            </a:extLst>
          </p:cNvPr>
          <p:cNvSpPr/>
          <p:nvPr>
            <p:custDataLst>
              <p:tags r:id="rId10"/>
            </p:custDataLst>
          </p:nvPr>
        </p:nvSpPr>
        <p:spPr>
          <a:xfrm rot="5400000">
            <a:off x="2937787" y="2496163"/>
            <a:ext cx="559474" cy="270545"/>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11808683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4D1A53-102A-4258-AF29-1E5F7A5F8AD3}"/>
              </a:ext>
            </a:extLst>
          </p:cNvPr>
          <p:cNvPicPr>
            <a:picLocks noChangeAspect="1"/>
          </p:cNvPicPr>
          <p:nvPr>
            <p:custDataLst>
              <p:tags r:id="rId2"/>
            </p:custDataLst>
          </p:nvPr>
        </p:nvPicPr>
        <p:blipFill>
          <a:blip r:embed="rId13"/>
          <a:stretch>
            <a:fillRect/>
          </a:stretch>
        </p:blipFill>
        <p:spPr>
          <a:xfrm>
            <a:off x="457200" y="1156977"/>
            <a:ext cx="7924799" cy="3491223"/>
          </a:xfrm>
          <a:prstGeom prst="rect">
            <a:avLst/>
          </a:prstGeom>
        </p:spPr>
      </p:pic>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3"/>
            </p:custDataLst>
          </p:nvPr>
        </p:nvSpPr>
        <p:spPr>
          <a:xfrm>
            <a:off x="457200" y="274638"/>
            <a:ext cx="7467600" cy="1143000"/>
          </a:xfrm>
        </p:spPr>
        <p:txBody>
          <a:bodyPr/>
          <a:lstStyle/>
          <a:p>
            <a:pPr eaLnBrk="1" hangingPunct="1"/>
            <a:r>
              <a:rPr lang="en-US" altLang="en-US" dirty="0"/>
              <a:t>MEM-to-EX Forwarding</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26</a:t>
            </a:fld>
            <a:endParaRPr lang="en-US" altLang="en-US">
              <a:latin typeface="Calibri" panose="020F0502020204030204" pitchFamily="34" charset="0"/>
            </a:endParaRPr>
          </a:p>
        </p:txBody>
      </p:sp>
      <p:sp>
        <p:nvSpPr>
          <p:cNvPr id="9" name="Rectangle 3">
            <a:extLst>
              <a:ext uri="{FF2B5EF4-FFF2-40B4-BE49-F238E27FC236}">
                <a16:creationId xmlns:a16="http://schemas.microsoft.com/office/drawing/2014/main" id="{5B786D29-EA36-4919-AB57-5D34846C2E51}"/>
              </a:ext>
            </a:extLst>
          </p:cNvPr>
          <p:cNvSpPr txBox="1">
            <a:spLocks noChangeArrowheads="1"/>
          </p:cNvSpPr>
          <p:nvPr>
            <p:custDataLst>
              <p:tags r:id="rId5"/>
            </p:custDataLst>
          </p:nvPr>
        </p:nvSpPr>
        <p:spPr bwMode="auto">
          <a:xfrm>
            <a:off x="304800" y="5073650"/>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add $1, $2, $3</a:t>
            </a:r>
          </a:p>
          <a:p>
            <a:pPr marL="457200" lvl="1" indent="0">
              <a:lnSpc>
                <a:spcPct val="90000"/>
              </a:lnSpc>
              <a:buFont typeface="Arial" charset="0"/>
              <a:buNone/>
            </a:pPr>
            <a:r>
              <a:rPr lang="en-US" altLang="en-US" sz="2400" dirty="0"/>
              <a:t>…</a:t>
            </a:r>
          </a:p>
          <a:p>
            <a:pPr marL="457200" lvl="1" indent="0">
              <a:lnSpc>
                <a:spcPct val="90000"/>
              </a:lnSpc>
              <a:buFont typeface="Arial" charset="0"/>
              <a:buNone/>
            </a:pPr>
            <a:r>
              <a:rPr lang="en-US" altLang="en-US" sz="2400" dirty="0"/>
              <a:t>sub $4, $5, $1</a:t>
            </a:r>
          </a:p>
          <a:p>
            <a:pPr marL="457200" lvl="1" indent="0">
              <a:lnSpc>
                <a:spcPct val="90000"/>
              </a:lnSpc>
              <a:buFont typeface="Arial" charset="0"/>
              <a:buNone/>
            </a:pPr>
            <a:endParaRPr lang="en-US" altLang="en-US" sz="2400" dirty="0"/>
          </a:p>
        </p:txBody>
      </p:sp>
      <p:sp>
        <p:nvSpPr>
          <p:cNvPr id="10" name="Line 66">
            <a:extLst>
              <a:ext uri="{FF2B5EF4-FFF2-40B4-BE49-F238E27FC236}">
                <a16:creationId xmlns:a16="http://schemas.microsoft.com/office/drawing/2014/main" id="{A2D3606C-6E8D-4530-AC1C-02EDD60B4DBC}"/>
              </a:ext>
            </a:extLst>
          </p:cNvPr>
          <p:cNvSpPr>
            <a:spLocks noChangeShapeType="1"/>
          </p:cNvSpPr>
          <p:nvPr>
            <p:custDataLst>
              <p:tags r:id="rId6"/>
            </p:custDataLst>
          </p:nvPr>
        </p:nvSpPr>
        <p:spPr bwMode="auto">
          <a:xfrm>
            <a:off x="1679575" y="5302250"/>
            <a:ext cx="682625" cy="691466"/>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1" name="Group 4">
            <a:extLst>
              <a:ext uri="{FF2B5EF4-FFF2-40B4-BE49-F238E27FC236}">
                <a16:creationId xmlns:a16="http://schemas.microsoft.com/office/drawing/2014/main" id="{C0B13A61-F505-4DFA-8029-821FFB7FD258}"/>
              </a:ext>
            </a:extLst>
          </p:cNvPr>
          <p:cNvGraphicFramePr>
            <a:graphicFrameLocks noGrp="1"/>
          </p:cNvGraphicFramePr>
          <p:nvPr>
            <p:custDataLst>
              <p:tags r:id="rId7"/>
            </p:custDataLst>
            <p:extLst>
              <p:ext uri="{D42A27DB-BD31-4B8C-83A1-F6EECF244321}">
                <p14:modId xmlns:p14="http://schemas.microsoft.com/office/powerpoint/2010/main" val="2904941160"/>
              </p:ext>
            </p:extLst>
          </p:nvPr>
        </p:nvGraphicFramePr>
        <p:xfrm>
          <a:off x="2822575" y="4883989"/>
          <a:ext cx="5638803" cy="1517832"/>
        </p:xfrm>
        <a:graphic>
          <a:graphicData uri="http://schemas.openxmlformats.org/drawingml/2006/table">
            <a:tbl>
              <a:tblPr/>
              <a:tblGrid>
                <a:gridCol w="1241573">
                  <a:extLst>
                    <a:ext uri="{9D8B030D-6E8A-4147-A177-3AD203B41FA5}">
                      <a16:colId xmlns:a16="http://schemas.microsoft.com/office/drawing/2014/main" val="20000"/>
                    </a:ext>
                  </a:extLst>
                </a:gridCol>
                <a:gridCol w="439723">
                  <a:extLst>
                    <a:ext uri="{9D8B030D-6E8A-4147-A177-3AD203B41FA5}">
                      <a16:colId xmlns:a16="http://schemas.microsoft.com/office/drawing/2014/main" val="20001"/>
                    </a:ext>
                  </a:extLst>
                </a:gridCol>
                <a:gridCol w="439723">
                  <a:extLst>
                    <a:ext uri="{9D8B030D-6E8A-4147-A177-3AD203B41FA5}">
                      <a16:colId xmlns:a16="http://schemas.microsoft.com/office/drawing/2014/main" val="20002"/>
                    </a:ext>
                  </a:extLst>
                </a:gridCol>
                <a:gridCol w="439723">
                  <a:extLst>
                    <a:ext uri="{9D8B030D-6E8A-4147-A177-3AD203B41FA5}">
                      <a16:colId xmlns:a16="http://schemas.microsoft.com/office/drawing/2014/main" val="20003"/>
                    </a:ext>
                  </a:extLst>
                </a:gridCol>
                <a:gridCol w="439723">
                  <a:extLst>
                    <a:ext uri="{9D8B030D-6E8A-4147-A177-3AD203B41FA5}">
                      <a16:colId xmlns:a16="http://schemas.microsoft.com/office/drawing/2014/main" val="20004"/>
                    </a:ext>
                  </a:extLst>
                </a:gridCol>
                <a:gridCol w="439723">
                  <a:extLst>
                    <a:ext uri="{9D8B030D-6E8A-4147-A177-3AD203B41FA5}">
                      <a16:colId xmlns:a16="http://schemas.microsoft.com/office/drawing/2014/main" val="20005"/>
                    </a:ext>
                  </a:extLst>
                </a:gridCol>
                <a:gridCol w="439723">
                  <a:extLst>
                    <a:ext uri="{9D8B030D-6E8A-4147-A177-3AD203B41FA5}">
                      <a16:colId xmlns:a16="http://schemas.microsoft.com/office/drawing/2014/main" val="20006"/>
                    </a:ext>
                  </a:extLst>
                </a:gridCol>
                <a:gridCol w="439723">
                  <a:extLst>
                    <a:ext uri="{9D8B030D-6E8A-4147-A177-3AD203B41FA5}">
                      <a16:colId xmlns:a16="http://schemas.microsoft.com/office/drawing/2014/main" val="20007"/>
                    </a:ext>
                  </a:extLst>
                </a:gridCol>
                <a:gridCol w="439723">
                  <a:extLst>
                    <a:ext uri="{9D8B030D-6E8A-4147-A177-3AD203B41FA5}">
                      <a16:colId xmlns:a16="http://schemas.microsoft.com/office/drawing/2014/main" val="20008"/>
                    </a:ext>
                  </a:extLst>
                </a:gridCol>
                <a:gridCol w="439723">
                  <a:extLst>
                    <a:ext uri="{9D8B030D-6E8A-4147-A177-3AD203B41FA5}">
                      <a16:colId xmlns:a16="http://schemas.microsoft.com/office/drawing/2014/main" val="809071843"/>
                    </a:ext>
                  </a:extLst>
                </a:gridCol>
                <a:gridCol w="439723">
                  <a:extLst>
                    <a:ext uri="{9D8B030D-6E8A-4147-A177-3AD203B41FA5}">
                      <a16:colId xmlns:a16="http://schemas.microsoft.com/office/drawing/2014/main" val="20013"/>
                    </a:ext>
                  </a:extLst>
                </a:gridCol>
              </a:tblGrid>
              <a:tr h="37824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773884913"/>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kumimoji="0" lang="en-US" sz="1600" b="0" i="0" u="none" strike="noStrike" cap="none" normalizeH="0" baseline="0" dirty="0">
                          <a:ln>
                            <a:noFill/>
                          </a:ln>
                          <a:solidFill>
                            <a:schemeClr val="tx1"/>
                          </a:solidFill>
                          <a:effectLst/>
                          <a:latin typeface="+mn-lt"/>
                        </a:rPr>
                        <a:t>X</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kumimoji="0" lang="en-US" sz="1600" b="0" i="0" u="none" strike="noStrike" cap="none" normalizeH="0" baseline="0" dirty="0">
                          <a:ln>
                            <a:noFill/>
                          </a:ln>
                          <a:solidFill>
                            <a:schemeClr val="tx1"/>
                          </a:solidFill>
                          <a:effectLst/>
                          <a:latin typeface="+mn-lt"/>
                        </a:rPr>
                        <a:t>M</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dirty="0">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2" name="Line 66">
            <a:extLst>
              <a:ext uri="{FF2B5EF4-FFF2-40B4-BE49-F238E27FC236}">
                <a16:creationId xmlns:a16="http://schemas.microsoft.com/office/drawing/2014/main" id="{264D54A0-BA7C-4188-A78B-5706CC17D509}"/>
              </a:ext>
            </a:extLst>
          </p:cNvPr>
          <p:cNvSpPr>
            <a:spLocks noChangeShapeType="1"/>
          </p:cNvSpPr>
          <p:nvPr>
            <p:custDataLst>
              <p:tags r:id="rId8"/>
            </p:custDataLst>
          </p:nvPr>
        </p:nvSpPr>
        <p:spPr bwMode="auto">
          <a:xfrm>
            <a:off x="5867400" y="5486400"/>
            <a:ext cx="0" cy="685800"/>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13" name="Straight Connector 12">
            <a:extLst>
              <a:ext uri="{FF2B5EF4-FFF2-40B4-BE49-F238E27FC236}">
                <a16:creationId xmlns:a16="http://schemas.microsoft.com/office/drawing/2014/main" id="{01B982DB-3A0F-45E8-802C-A0CC2DB91B14}"/>
              </a:ext>
            </a:extLst>
          </p:cNvPr>
          <p:cNvCxnSpPr>
            <a:cxnSpLocks/>
          </p:cNvCxnSpPr>
          <p:nvPr/>
        </p:nvCxnSpPr>
        <p:spPr>
          <a:xfrm>
            <a:off x="2743200" y="1798320"/>
            <a:ext cx="0" cy="283464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A12999E-2DBB-4A17-8144-C2F2CDAFFD97}"/>
              </a:ext>
            </a:extLst>
          </p:cNvPr>
          <p:cNvCxnSpPr>
            <a:cxnSpLocks/>
          </p:cNvCxnSpPr>
          <p:nvPr/>
        </p:nvCxnSpPr>
        <p:spPr>
          <a:xfrm>
            <a:off x="8229600" y="2788920"/>
            <a:ext cx="0" cy="182880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D3637C0-7B22-4470-A53D-32D8AC1FC45F}"/>
              </a:ext>
            </a:extLst>
          </p:cNvPr>
          <p:cNvCxnSpPr>
            <a:cxnSpLocks/>
          </p:cNvCxnSpPr>
          <p:nvPr/>
        </p:nvCxnSpPr>
        <p:spPr>
          <a:xfrm rot="5400000">
            <a:off x="5486400" y="1828800"/>
            <a:ext cx="0" cy="548640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EE23FED-6576-42F9-BE5F-143F50FA4BAA}"/>
              </a:ext>
            </a:extLst>
          </p:cNvPr>
          <p:cNvCxnSpPr>
            <a:cxnSpLocks/>
          </p:cNvCxnSpPr>
          <p:nvPr/>
        </p:nvCxnSpPr>
        <p:spPr>
          <a:xfrm rot="5400000">
            <a:off x="2907451" y="1569720"/>
            <a:ext cx="0" cy="365760"/>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8144856A-2B61-4366-ADD2-4C87D8F08245}"/>
              </a:ext>
            </a:extLst>
          </p:cNvPr>
          <p:cNvSpPr/>
          <p:nvPr>
            <p:custDataLst>
              <p:tags r:id="rId9"/>
            </p:custDataLst>
          </p:nvPr>
        </p:nvSpPr>
        <p:spPr>
          <a:xfrm rot="5400000">
            <a:off x="2913723" y="1618328"/>
            <a:ext cx="593974" cy="284173"/>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02419BC8-DC54-40BE-98B5-9601934B070E}"/>
              </a:ext>
            </a:extLst>
          </p:cNvPr>
          <p:cNvCxnSpPr>
            <a:cxnSpLocks/>
          </p:cNvCxnSpPr>
          <p:nvPr/>
        </p:nvCxnSpPr>
        <p:spPr>
          <a:xfrm rot="5400000">
            <a:off x="2921079" y="2484120"/>
            <a:ext cx="0" cy="365760"/>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ACBC847F-3734-4F81-94BC-A207B827A545}"/>
              </a:ext>
            </a:extLst>
          </p:cNvPr>
          <p:cNvSpPr/>
          <p:nvPr>
            <p:custDataLst>
              <p:tags r:id="rId10"/>
            </p:custDataLst>
          </p:nvPr>
        </p:nvSpPr>
        <p:spPr>
          <a:xfrm rot="5400000">
            <a:off x="2937787" y="2496163"/>
            <a:ext cx="559474" cy="270545"/>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5452669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4D1A53-102A-4258-AF29-1E5F7A5F8AD3}"/>
              </a:ext>
            </a:extLst>
          </p:cNvPr>
          <p:cNvPicPr>
            <a:picLocks noChangeAspect="1"/>
          </p:cNvPicPr>
          <p:nvPr>
            <p:custDataLst>
              <p:tags r:id="rId2"/>
            </p:custDataLst>
          </p:nvPr>
        </p:nvPicPr>
        <p:blipFill>
          <a:blip r:embed="rId14"/>
          <a:stretch>
            <a:fillRect/>
          </a:stretch>
        </p:blipFill>
        <p:spPr>
          <a:xfrm>
            <a:off x="457200" y="1156977"/>
            <a:ext cx="7924799" cy="3491223"/>
          </a:xfrm>
          <a:prstGeom prst="rect">
            <a:avLst/>
          </a:prstGeom>
        </p:spPr>
      </p:pic>
      <p:sp>
        <p:nvSpPr>
          <p:cNvPr id="11266" name="Rectangle 2">
            <a:extLst>
              <a:ext uri="{FF2B5EF4-FFF2-40B4-BE49-F238E27FC236}">
                <a16:creationId xmlns:a16="http://schemas.microsoft.com/office/drawing/2014/main" id="{29FA08E9-6D39-40B7-9DFC-0F3152A2F2FC}"/>
              </a:ext>
            </a:extLst>
          </p:cNvPr>
          <p:cNvSpPr>
            <a:spLocks noGrp="1" noChangeArrowheads="1"/>
          </p:cNvSpPr>
          <p:nvPr>
            <p:ph type="title"/>
            <p:custDataLst>
              <p:tags r:id="rId3"/>
            </p:custDataLst>
          </p:nvPr>
        </p:nvSpPr>
        <p:spPr>
          <a:xfrm>
            <a:off x="457200" y="274638"/>
            <a:ext cx="7467600" cy="1143000"/>
          </a:xfrm>
        </p:spPr>
        <p:txBody>
          <a:bodyPr/>
          <a:lstStyle/>
          <a:p>
            <a:pPr eaLnBrk="1" hangingPunct="1"/>
            <a:r>
              <a:rPr lang="en-US" altLang="en-US" dirty="0"/>
              <a:t>Load-to-Use Stalls</a:t>
            </a:r>
          </a:p>
        </p:txBody>
      </p:sp>
      <p:sp>
        <p:nvSpPr>
          <p:cNvPr id="2" name="Slide Number Placeholder 1">
            <a:extLst>
              <a:ext uri="{FF2B5EF4-FFF2-40B4-BE49-F238E27FC236}">
                <a16:creationId xmlns:a16="http://schemas.microsoft.com/office/drawing/2014/main" id="{DC60F936-1ECE-4538-88BA-45ED871DF6D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E02B0E-BE2D-4EAD-A481-D47A6FE165C3}" type="slidenum">
              <a:rPr lang="en-US" altLang="en-US">
                <a:latin typeface="Calibri" panose="020F0502020204030204" pitchFamily="34" charset="0"/>
              </a:rPr>
              <a:pPr lvl="1" eaLnBrk="1" hangingPunct="1"/>
              <a:t>27</a:t>
            </a:fld>
            <a:endParaRPr lang="en-US" altLang="en-US">
              <a:latin typeface="Calibri" panose="020F0502020204030204" pitchFamily="34" charset="0"/>
            </a:endParaRPr>
          </a:p>
        </p:txBody>
      </p:sp>
      <p:cxnSp>
        <p:nvCxnSpPr>
          <p:cNvPr id="13" name="Straight Connector 12">
            <a:extLst>
              <a:ext uri="{FF2B5EF4-FFF2-40B4-BE49-F238E27FC236}">
                <a16:creationId xmlns:a16="http://schemas.microsoft.com/office/drawing/2014/main" id="{01B982DB-3A0F-45E8-802C-A0CC2DB91B14}"/>
              </a:ext>
            </a:extLst>
          </p:cNvPr>
          <p:cNvCxnSpPr>
            <a:cxnSpLocks/>
          </p:cNvCxnSpPr>
          <p:nvPr/>
        </p:nvCxnSpPr>
        <p:spPr>
          <a:xfrm>
            <a:off x="2743200" y="1798320"/>
            <a:ext cx="0" cy="283464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A12999E-2DBB-4A17-8144-C2F2CDAFFD97}"/>
              </a:ext>
            </a:extLst>
          </p:cNvPr>
          <p:cNvCxnSpPr>
            <a:cxnSpLocks/>
          </p:cNvCxnSpPr>
          <p:nvPr/>
        </p:nvCxnSpPr>
        <p:spPr>
          <a:xfrm>
            <a:off x="8229600" y="2788920"/>
            <a:ext cx="0" cy="182880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D3637C0-7B22-4470-A53D-32D8AC1FC45F}"/>
              </a:ext>
            </a:extLst>
          </p:cNvPr>
          <p:cNvCxnSpPr>
            <a:cxnSpLocks/>
          </p:cNvCxnSpPr>
          <p:nvPr/>
        </p:nvCxnSpPr>
        <p:spPr>
          <a:xfrm rot="5400000">
            <a:off x="5486400" y="1828800"/>
            <a:ext cx="0" cy="548640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EE23FED-6576-42F9-BE5F-143F50FA4BAA}"/>
              </a:ext>
            </a:extLst>
          </p:cNvPr>
          <p:cNvCxnSpPr>
            <a:cxnSpLocks/>
          </p:cNvCxnSpPr>
          <p:nvPr/>
        </p:nvCxnSpPr>
        <p:spPr>
          <a:xfrm rot="5400000">
            <a:off x="2907451" y="1569720"/>
            <a:ext cx="0" cy="365760"/>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8144856A-2B61-4366-ADD2-4C87D8F08245}"/>
              </a:ext>
            </a:extLst>
          </p:cNvPr>
          <p:cNvSpPr/>
          <p:nvPr>
            <p:custDataLst>
              <p:tags r:id="rId5"/>
            </p:custDataLst>
          </p:nvPr>
        </p:nvSpPr>
        <p:spPr>
          <a:xfrm rot="5400000">
            <a:off x="2913723" y="1618328"/>
            <a:ext cx="593974" cy="284173"/>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02419BC8-DC54-40BE-98B5-9601934B070E}"/>
              </a:ext>
            </a:extLst>
          </p:cNvPr>
          <p:cNvCxnSpPr>
            <a:cxnSpLocks/>
          </p:cNvCxnSpPr>
          <p:nvPr/>
        </p:nvCxnSpPr>
        <p:spPr>
          <a:xfrm rot="5400000">
            <a:off x="2921079" y="2484120"/>
            <a:ext cx="0" cy="365760"/>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ACBC847F-3734-4F81-94BC-A207B827A545}"/>
              </a:ext>
            </a:extLst>
          </p:cNvPr>
          <p:cNvSpPr/>
          <p:nvPr>
            <p:custDataLst>
              <p:tags r:id="rId6"/>
            </p:custDataLst>
          </p:nvPr>
        </p:nvSpPr>
        <p:spPr>
          <a:xfrm rot="5400000">
            <a:off x="2937787" y="2496163"/>
            <a:ext cx="559474" cy="270545"/>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3">
            <a:extLst>
              <a:ext uri="{FF2B5EF4-FFF2-40B4-BE49-F238E27FC236}">
                <a16:creationId xmlns:a16="http://schemas.microsoft.com/office/drawing/2014/main" id="{0A7BD455-CAD7-4B00-B9F2-F3340A8AF238}"/>
              </a:ext>
            </a:extLst>
          </p:cNvPr>
          <p:cNvSpPr>
            <a:spLocks noGrp="1" noChangeArrowheads="1"/>
          </p:cNvSpPr>
          <p:nvPr>
            <p:ph idx="1"/>
            <p:custDataLst>
              <p:tags r:id="rId7"/>
            </p:custDataLst>
          </p:nvPr>
        </p:nvSpPr>
        <p:spPr>
          <a:xfrm>
            <a:off x="5376331" y="1455612"/>
            <a:ext cx="1523998" cy="593976"/>
          </a:xfrm>
        </p:spPr>
        <p:txBody>
          <a:bodyPr/>
          <a:lstStyle/>
          <a:p>
            <a:pPr marL="0" indent="0" algn="ctr">
              <a:buNone/>
            </a:pPr>
            <a:r>
              <a:rPr lang="en-US" altLang="en-US" sz="2800" b="1" dirty="0" err="1">
                <a:solidFill>
                  <a:schemeClr val="accent6">
                    <a:lumMod val="75000"/>
                  </a:schemeClr>
                </a:solidFill>
              </a:rPr>
              <a:t>nop</a:t>
            </a:r>
            <a:endParaRPr lang="en-US" altLang="en-US" sz="2400" b="1" dirty="0">
              <a:solidFill>
                <a:schemeClr val="accent6">
                  <a:lumMod val="75000"/>
                </a:schemeClr>
              </a:solidFill>
            </a:endParaRPr>
          </a:p>
        </p:txBody>
      </p:sp>
      <p:sp>
        <p:nvSpPr>
          <p:cNvPr id="22" name="Rectangle 3">
            <a:extLst>
              <a:ext uri="{FF2B5EF4-FFF2-40B4-BE49-F238E27FC236}">
                <a16:creationId xmlns:a16="http://schemas.microsoft.com/office/drawing/2014/main" id="{E3F893CB-DF42-44DA-8F49-73159ACF199E}"/>
              </a:ext>
            </a:extLst>
          </p:cNvPr>
          <p:cNvSpPr txBox="1">
            <a:spLocks noChangeArrowheads="1"/>
          </p:cNvSpPr>
          <p:nvPr>
            <p:custDataLst>
              <p:tags r:id="rId8"/>
            </p:custDataLst>
          </p:nvPr>
        </p:nvSpPr>
        <p:spPr bwMode="auto">
          <a:xfrm>
            <a:off x="304800" y="5073650"/>
            <a:ext cx="26701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lw</a:t>
            </a:r>
            <a:r>
              <a:rPr lang="en-US" altLang="en-US" sz="2400" dirty="0"/>
              <a:t> $1, 0($2)</a:t>
            </a:r>
          </a:p>
          <a:p>
            <a:pPr marL="457200" lvl="1" indent="0">
              <a:lnSpc>
                <a:spcPct val="90000"/>
              </a:lnSpc>
              <a:buFont typeface="Arial" charset="0"/>
              <a:buNone/>
            </a:pPr>
            <a:r>
              <a:rPr lang="en-US" altLang="en-US" sz="2400" dirty="0"/>
              <a:t>sub $4, $5, $1</a:t>
            </a:r>
          </a:p>
          <a:p>
            <a:pPr marL="457200" lvl="1" indent="0">
              <a:lnSpc>
                <a:spcPct val="90000"/>
              </a:lnSpc>
              <a:buFont typeface="Arial" charset="0"/>
              <a:buNone/>
            </a:pPr>
            <a:endParaRPr lang="en-US" altLang="en-US" sz="2400" dirty="0"/>
          </a:p>
        </p:txBody>
      </p:sp>
      <p:sp>
        <p:nvSpPr>
          <p:cNvPr id="23" name="Line 66">
            <a:extLst>
              <a:ext uri="{FF2B5EF4-FFF2-40B4-BE49-F238E27FC236}">
                <a16:creationId xmlns:a16="http://schemas.microsoft.com/office/drawing/2014/main" id="{CEB54310-4640-40DB-B893-63427429D6CB}"/>
              </a:ext>
            </a:extLst>
          </p:cNvPr>
          <p:cNvSpPr>
            <a:spLocks noChangeShapeType="1"/>
          </p:cNvSpPr>
          <p:nvPr>
            <p:custDataLst>
              <p:tags r:id="rId9"/>
            </p:custDataLst>
          </p:nvPr>
        </p:nvSpPr>
        <p:spPr bwMode="auto">
          <a:xfrm>
            <a:off x="1524001" y="5334001"/>
            <a:ext cx="762000" cy="304800"/>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4" name="Group 4">
            <a:extLst>
              <a:ext uri="{FF2B5EF4-FFF2-40B4-BE49-F238E27FC236}">
                <a16:creationId xmlns:a16="http://schemas.microsoft.com/office/drawing/2014/main" id="{E29C3379-C66D-4AA3-85C6-CC0F769A3E85}"/>
              </a:ext>
            </a:extLst>
          </p:cNvPr>
          <p:cNvGraphicFramePr>
            <a:graphicFrameLocks noGrp="1"/>
          </p:cNvGraphicFramePr>
          <p:nvPr>
            <p:custDataLst>
              <p:tags r:id="rId10"/>
            </p:custDataLst>
            <p:extLst>
              <p:ext uri="{D42A27DB-BD31-4B8C-83A1-F6EECF244321}">
                <p14:modId xmlns:p14="http://schemas.microsoft.com/office/powerpoint/2010/main" val="2786807220"/>
              </p:ext>
            </p:extLst>
          </p:nvPr>
        </p:nvGraphicFramePr>
        <p:xfrm>
          <a:off x="2822575" y="4883989"/>
          <a:ext cx="5638803" cy="1152090"/>
        </p:xfrm>
        <a:graphic>
          <a:graphicData uri="http://schemas.openxmlformats.org/drawingml/2006/table">
            <a:tbl>
              <a:tblPr/>
              <a:tblGrid>
                <a:gridCol w="1241573">
                  <a:extLst>
                    <a:ext uri="{9D8B030D-6E8A-4147-A177-3AD203B41FA5}">
                      <a16:colId xmlns:a16="http://schemas.microsoft.com/office/drawing/2014/main" val="20000"/>
                    </a:ext>
                  </a:extLst>
                </a:gridCol>
                <a:gridCol w="439723">
                  <a:extLst>
                    <a:ext uri="{9D8B030D-6E8A-4147-A177-3AD203B41FA5}">
                      <a16:colId xmlns:a16="http://schemas.microsoft.com/office/drawing/2014/main" val="20001"/>
                    </a:ext>
                  </a:extLst>
                </a:gridCol>
                <a:gridCol w="439723">
                  <a:extLst>
                    <a:ext uri="{9D8B030D-6E8A-4147-A177-3AD203B41FA5}">
                      <a16:colId xmlns:a16="http://schemas.microsoft.com/office/drawing/2014/main" val="20002"/>
                    </a:ext>
                  </a:extLst>
                </a:gridCol>
                <a:gridCol w="439723">
                  <a:extLst>
                    <a:ext uri="{9D8B030D-6E8A-4147-A177-3AD203B41FA5}">
                      <a16:colId xmlns:a16="http://schemas.microsoft.com/office/drawing/2014/main" val="20003"/>
                    </a:ext>
                  </a:extLst>
                </a:gridCol>
                <a:gridCol w="439723">
                  <a:extLst>
                    <a:ext uri="{9D8B030D-6E8A-4147-A177-3AD203B41FA5}">
                      <a16:colId xmlns:a16="http://schemas.microsoft.com/office/drawing/2014/main" val="20004"/>
                    </a:ext>
                  </a:extLst>
                </a:gridCol>
                <a:gridCol w="439723">
                  <a:extLst>
                    <a:ext uri="{9D8B030D-6E8A-4147-A177-3AD203B41FA5}">
                      <a16:colId xmlns:a16="http://schemas.microsoft.com/office/drawing/2014/main" val="20005"/>
                    </a:ext>
                  </a:extLst>
                </a:gridCol>
                <a:gridCol w="439723">
                  <a:extLst>
                    <a:ext uri="{9D8B030D-6E8A-4147-A177-3AD203B41FA5}">
                      <a16:colId xmlns:a16="http://schemas.microsoft.com/office/drawing/2014/main" val="20006"/>
                    </a:ext>
                  </a:extLst>
                </a:gridCol>
                <a:gridCol w="439723">
                  <a:extLst>
                    <a:ext uri="{9D8B030D-6E8A-4147-A177-3AD203B41FA5}">
                      <a16:colId xmlns:a16="http://schemas.microsoft.com/office/drawing/2014/main" val="20007"/>
                    </a:ext>
                  </a:extLst>
                </a:gridCol>
                <a:gridCol w="439723">
                  <a:extLst>
                    <a:ext uri="{9D8B030D-6E8A-4147-A177-3AD203B41FA5}">
                      <a16:colId xmlns:a16="http://schemas.microsoft.com/office/drawing/2014/main" val="20008"/>
                    </a:ext>
                  </a:extLst>
                </a:gridCol>
                <a:gridCol w="439723">
                  <a:extLst>
                    <a:ext uri="{9D8B030D-6E8A-4147-A177-3AD203B41FA5}">
                      <a16:colId xmlns:a16="http://schemas.microsoft.com/office/drawing/2014/main" val="809071843"/>
                    </a:ext>
                  </a:extLst>
                </a:gridCol>
                <a:gridCol w="439723">
                  <a:extLst>
                    <a:ext uri="{9D8B030D-6E8A-4147-A177-3AD203B41FA5}">
                      <a16:colId xmlns:a16="http://schemas.microsoft.com/office/drawing/2014/main" val="20013"/>
                    </a:ext>
                  </a:extLst>
                </a:gridCol>
              </a:tblGrid>
              <a:tr h="37824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endParaRPr kumimoji="0" lang="en-US" sz="20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173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r>
                        <a:rPr kumimoji="0" lang="en-US" sz="1600" b="0" i="0" u="none" strike="noStrike" cap="none" normalizeH="0" baseline="0" dirty="0">
                          <a:ln>
                            <a:noFill/>
                          </a:ln>
                          <a:solidFill>
                            <a:schemeClr val="tx1"/>
                          </a:solidFill>
                          <a:effectLst/>
                          <a:latin typeface="+mn-lt"/>
                        </a:rPr>
                        <a:t>D</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kumimoji="0" lang="en-US" sz="1600" b="0" i="0" u="none" strike="noStrike" cap="none" normalizeH="0" baseline="0" dirty="0">
                          <a:ln>
                            <a:noFill/>
                          </a:ln>
                          <a:solidFill>
                            <a:schemeClr val="tx1"/>
                          </a:solidFill>
                          <a:effectLst/>
                          <a:latin typeface="+mn-lt"/>
                        </a:rPr>
                        <a:t>X</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kumimoji="0" lang="en-US" sz="1600" b="0" i="0" u="none" strike="noStrike" cap="none" normalizeH="0" baseline="0" dirty="0">
                          <a:ln>
                            <a:noFill/>
                          </a:ln>
                          <a:solidFill>
                            <a:schemeClr val="tx1"/>
                          </a:solidFill>
                          <a:effectLst/>
                          <a:latin typeface="+mn-lt"/>
                        </a:rPr>
                        <a:t>M</a:t>
                      </a:r>
                      <a:endParaRPr lang="en-US" sz="1600" dirty="0">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dirty="0">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0" name="Line 66">
            <a:extLst>
              <a:ext uri="{FF2B5EF4-FFF2-40B4-BE49-F238E27FC236}">
                <a16:creationId xmlns:a16="http://schemas.microsoft.com/office/drawing/2014/main" id="{F2E1CDDA-2370-42EF-9D40-35F74902BA46}"/>
              </a:ext>
            </a:extLst>
          </p:cNvPr>
          <p:cNvSpPr>
            <a:spLocks noChangeShapeType="1"/>
          </p:cNvSpPr>
          <p:nvPr>
            <p:custDataLst>
              <p:tags r:id="rId11"/>
            </p:custDataLst>
          </p:nvPr>
        </p:nvSpPr>
        <p:spPr bwMode="auto">
          <a:xfrm>
            <a:off x="5861050" y="5530539"/>
            <a:ext cx="6350" cy="271444"/>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283375745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DFD0B0-1EA3-441D-B661-12D5208DE389}"/>
              </a:ext>
            </a:extLst>
          </p:cNvPr>
          <p:cNvPicPr>
            <a:picLocks noChangeAspect="1"/>
          </p:cNvPicPr>
          <p:nvPr>
            <p:custDataLst>
              <p:tags r:id="rId2"/>
            </p:custDataLst>
          </p:nvPr>
        </p:nvPicPr>
        <p:blipFill>
          <a:blip r:embed="rId8"/>
          <a:stretch>
            <a:fillRect/>
          </a:stretch>
        </p:blipFill>
        <p:spPr>
          <a:xfrm>
            <a:off x="762000" y="2589266"/>
            <a:ext cx="7744455" cy="4230135"/>
          </a:xfrm>
          <a:prstGeom prst="rect">
            <a:avLst/>
          </a:prstGeom>
        </p:spPr>
      </p:pic>
      <p:sp>
        <p:nvSpPr>
          <p:cNvPr id="45062"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Data Forwarding</a:t>
            </a:r>
          </a:p>
        </p:txBody>
      </p:sp>
      <p:sp>
        <p:nvSpPr>
          <p:cNvPr id="45061"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28</a:t>
            </a:fld>
            <a:endParaRPr lang="en-US" altLang="en-US"/>
          </a:p>
        </p:txBody>
      </p:sp>
      <p:sp>
        <p:nvSpPr>
          <p:cNvPr id="9" name="Rectangle 3">
            <a:extLst>
              <a:ext uri="{FF2B5EF4-FFF2-40B4-BE49-F238E27FC236}">
                <a16:creationId xmlns:a16="http://schemas.microsoft.com/office/drawing/2014/main" id="{4253A28E-4263-4CD3-867F-9676279FEB4A}"/>
              </a:ext>
            </a:extLst>
          </p:cNvPr>
          <p:cNvSpPr>
            <a:spLocks noGrp="1" noChangeArrowheads="1"/>
          </p:cNvSpPr>
          <p:nvPr>
            <p:ph idx="1"/>
            <p:custDataLst>
              <p:tags r:id="rId5"/>
            </p:custDataLst>
          </p:nvPr>
        </p:nvSpPr>
        <p:spPr>
          <a:xfrm>
            <a:off x="457200" y="1295400"/>
            <a:ext cx="8458200" cy="5121275"/>
          </a:xfrm>
        </p:spPr>
        <p:txBody>
          <a:bodyPr/>
          <a:lstStyle/>
          <a:p>
            <a:r>
              <a:rPr lang="en-US" altLang="en-US" sz="2800" dirty="0"/>
              <a:t>Actually not all operands are needed at EX stage</a:t>
            </a:r>
          </a:p>
          <a:p>
            <a:pPr lvl="1"/>
            <a:r>
              <a:rPr lang="en-US" altLang="en-US" sz="2400" dirty="0"/>
              <a:t>Store instructions do not need </a:t>
            </a:r>
            <a:r>
              <a:rPr lang="en-US" altLang="en-US" sz="2400" dirty="0" err="1"/>
              <a:t>RegisterRt</a:t>
            </a:r>
            <a:r>
              <a:rPr lang="en-US" altLang="en-US" sz="2400" dirty="0"/>
              <a:t> until MEM stage</a:t>
            </a:r>
          </a:p>
          <a:p>
            <a:pPr lvl="1"/>
            <a:r>
              <a:rPr lang="en-US" altLang="en-US" sz="2400" dirty="0"/>
              <a:t>MEM-to-MEM forwarding: implement in homework</a:t>
            </a:r>
          </a:p>
        </p:txBody>
      </p:sp>
      <p:cxnSp>
        <p:nvCxnSpPr>
          <p:cNvPr id="12" name="Straight Connector 11">
            <a:extLst>
              <a:ext uri="{FF2B5EF4-FFF2-40B4-BE49-F238E27FC236}">
                <a16:creationId xmlns:a16="http://schemas.microsoft.com/office/drawing/2014/main" id="{F367BDA8-E0E1-4F84-9AA0-2E7B95814420}"/>
              </a:ext>
            </a:extLst>
          </p:cNvPr>
          <p:cNvCxnSpPr/>
          <p:nvPr/>
        </p:nvCxnSpPr>
        <p:spPr>
          <a:xfrm>
            <a:off x="4953000" y="5181600"/>
            <a:ext cx="0" cy="365760"/>
          </a:xfrm>
          <a:prstGeom prst="line">
            <a:avLst/>
          </a:prstGeom>
          <a:ln w="317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F1AEE21-F22F-4006-8C84-DD364E19B3F8}"/>
              </a:ext>
            </a:extLst>
          </p:cNvPr>
          <p:cNvCxnSpPr>
            <a:cxnSpLocks/>
          </p:cNvCxnSpPr>
          <p:nvPr/>
        </p:nvCxnSpPr>
        <p:spPr>
          <a:xfrm flipH="1">
            <a:off x="4953000" y="5562600"/>
            <a:ext cx="1295400" cy="0"/>
          </a:xfrm>
          <a:prstGeom prst="line">
            <a:avLst/>
          </a:prstGeom>
          <a:ln w="31750">
            <a:solidFill>
              <a:schemeClr val="accent6">
                <a:lumMod val="75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37F0DDC-075F-4F40-853D-9ED3A8054E12}"/>
              </a:ext>
            </a:extLst>
          </p:cNvPr>
          <p:cNvCxnSpPr>
            <a:cxnSpLocks/>
          </p:cNvCxnSpPr>
          <p:nvPr/>
        </p:nvCxnSpPr>
        <p:spPr>
          <a:xfrm flipH="1">
            <a:off x="4419600" y="5181600"/>
            <a:ext cx="274320" cy="0"/>
          </a:xfrm>
          <a:prstGeom prst="line">
            <a:avLst/>
          </a:prstGeom>
          <a:ln w="31750">
            <a:solidFill>
              <a:schemeClr val="accent6">
                <a:lumMod val="75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EFB79C7-B0AD-49E3-A848-F27C5D4FC0F5}"/>
              </a:ext>
            </a:extLst>
          </p:cNvPr>
          <p:cNvCxnSpPr>
            <a:cxnSpLocks/>
          </p:cNvCxnSpPr>
          <p:nvPr/>
        </p:nvCxnSpPr>
        <p:spPr>
          <a:xfrm flipH="1">
            <a:off x="6477000" y="5562600"/>
            <a:ext cx="274320" cy="0"/>
          </a:xfrm>
          <a:prstGeom prst="line">
            <a:avLst/>
          </a:prstGeom>
          <a:ln w="31750">
            <a:solidFill>
              <a:schemeClr val="accent6">
                <a:lumMod val="75000"/>
              </a:schemeClr>
            </a:solidFill>
            <a:head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966693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All Together</a:t>
            </a:r>
          </a:p>
        </p:txBody>
      </p:sp>
      <p:sp>
        <p:nvSpPr>
          <p:cNvPr id="45061"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29</a:t>
            </a:fld>
            <a:endParaRPr lang="en-US" altLang="en-US"/>
          </a:p>
        </p:txBody>
      </p:sp>
      <p:pic>
        <p:nvPicPr>
          <p:cNvPr id="12" name="Picture 11">
            <a:extLst>
              <a:ext uri="{FF2B5EF4-FFF2-40B4-BE49-F238E27FC236}">
                <a16:creationId xmlns:a16="http://schemas.microsoft.com/office/drawing/2014/main" id="{220DA557-8B50-40B1-B152-5B5A8B64D035}"/>
              </a:ext>
            </a:extLst>
          </p:cNvPr>
          <p:cNvPicPr>
            <a:picLocks noChangeAspect="1"/>
          </p:cNvPicPr>
          <p:nvPr>
            <p:custDataLst>
              <p:tags r:id="rId4"/>
            </p:custDataLst>
          </p:nvPr>
        </p:nvPicPr>
        <p:blipFill>
          <a:blip r:embed="rId7"/>
          <a:stretch>
            <a:fillRect/>
          </a:stretch>
        </p:blipFill>
        <p:spPr>
          <a:xfrm>
            <a:off x="200923" y="1325562"/>
            <a:ext cx="8742154" cy="5257800"/>
          </a:xfrm>
          <a:prstGeom prst="rect">
            <a:avLst/>
          </a:prstGeom>
        </p:spPr>
      </p:pic>
    </p:spTree>
    <p:custDataLst>
      <p:tags r:id="rId1"/>
    </p:custDataLst>
    <p:extLst>
      <p:ext uri="{BB962C8B-B14F-4D97-AF65-F5344CB8AC3E}">
        <p14:creationId xmlns:p14="http://schemas.microsoft.com/office/powerpoint/2010/main" val="120877183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45058" name="Rectangle 3"/>
          <p:cNvSpPr>
            <a:spLocks noGrp="1" noChangeArrowheads="1"/>
          </p:cNvSpPr>
          <p:nvPr>
            <p:ph idx="1"/>
            <p:custDataLst>
              <p:tags r:id="rId3"/>
            </p:custDataLst>
          </p:nvPr>
        </p:nvSpPr>
        <p:spPr>
          <a:xfrm>
            <a:off x="682625" y="1570038"/>
            <a:ext cx="7772400" cy="2087562"/>
          </a:xfrm>
        </p:spPr>
        <p:txBody>
          <a:bodyPr/>
          <a:lstStyle/>
          <a:p>
            <a:pPr marL="684213" lvl="1" indent="-684213">
              <a:lnSpc>
                <a:spcPct val="90000"/>
              </a:lnSpc>
              <a:buNone/>
            </a:pPr>
            <a:r>
              <a:rPr lang="en-US" altLang="en-US" sz="2400" dirty="0"/>
              <a:t>	</a:t>
            </a:r>
            <a:r>
              <a:rPr lang="en-US" altLang="en-US" sz="2400" dirty="0" err="1"/>
              <a:t>lw</a:t>
            </a:r>
            <a:r>
              <a:rPr lang="en-US" altLang="en-US" sz="2400" dirty="0"/>
              <a:t> $s1, 0($s2)</a:t>
            </a:r>
          </a:p>
          <a:p>
            <a:pPr marL="684213" lvl="1" indent="-684213">
              <a:lnSpc>
                <a:spcPct val="90000"/>
              </a:lnSpc>
              <a:buNone/>
            </a:pPr>
            <a:r>
              <a:rPr lang="en-US" altLang="en-US" sz="2400" dirty="0"/>
              <a:t>	</a:t>
            </a:r>
            <a:r>
              <a:rPr lang="en-US" altLang="en-US" sz="2400" dirty="0" err="1"/>
              <a:t>lw</a:t>
            </a:r>
            <a:r>
              <a:rPr lang="en-US" altLang="en-US" sz="2400" dirty="0"/>
              <a:t> $s3, 4($s1)</a:t>
            </a:r>
          </a:p>
          <a:p>
            <a:pPr marL="684213" lvl="1" indent="-684213">
              <a:lnSpc>
                <a:spcPct val="90000"/>
              </a:lnSpc>
              <a:buNone/>
            </a:pPr>
            <a:r>
              <a:rPr lang="en-US" altLang="en-US" sz="2400" dirty="0"/>
              <a:t>	add $s5, $s4, $s3</a:t>
            </a:r>
          </a:p>
          <a:p>
            <a:pPr marL="457200" lvl="1" indent="0">
              <a:lnSpc>
                <a:spcPct val="90000"/>
              </a:lnSpc>
              <a:buNone/>
            </a:pPr>
            <a:endParaRPr lang="en-US" altLang="en-US" sz="2400" dirty="0"/>
          </a:p>
          <a:p>
            <a:pPr marL="0" indent="0">
              <a:lnSpc>
                <a:spcPct val="80000"/>
              </a:lnSpc>
              <a:buNone/>
            </a:pPr>
            <a:r>
              <a:rPr lang="en-US" altLang="en-US" sz="2800" dirty="0"/>
              <a:t>Assume full forwarding and bypassing:</a:t>
            </a:r>
          </a:p>
        </p:txBody>
      </p:sp>
      <p:sp>
        <p:nvSpPr>
          <p:cNvPr id="45061"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30</a:t>
            </a:fld>
            <a:endParaRPr lang="en-US" altLang="en-US"/>
          </a:p>
        </p:txBody>
      </p:sp>
      <p:graphicFrame>
        <p:nvGraphicFramePr>
          <p:cNvPr id="183300" name="Group 4"/>
          <p:cNvGraphicFramePr>
            <a:graphicFrameLocks noGrp="1"/>
          </p:cNvGraphicFramePr>
          <p:nvPr>
            <p:custDataLst>
              <p:tags r:id="rId5"/>
            </p:custDataLst>
            <p:extLst>
              <p:ext uri="{D42A27DB-BD31-4B8C-83A1-F6EECF244321}">
                <p14:modId xmlns:p14="http://schemas.microsoft.com/office/powerpoint/2010/main" val="3646741731"/>
              </p:ext>
            </p:extLst>
          </p:nvPr>
        </p:nvGraphicFramePr>
        <p:xfrm>
          <a:off x="838200" y="3733800"/>
          <a:ext cx="7034213" cy="176893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spTree>
    <p:custDataLst>
      <p:tags r:id="rId1"/>
    </p:custDataLst>
    <p:extLst>
      <p:ext uri="{BB962C8B-B14F-4D97-AF65-F5344CB8AC3E}">
        <p14:creationId xmlns:p14="http://schemas.microsoft.com/office/powerpoint/2010/main" val="298660905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45058" name="Rectangle 3"/>
          <p:cNvSpPr>
            <a:spLocks noGrp="1" noChangeArrowheads="1"/>
          </p:cNvSpPr>
          <p:nvPr>
            <p:ph idx="1"/>
            <p:custDataLst>
              <p:tags r:id="rId3"/>
            </p:custDataLst>
          </p:nvPr>
        </p:nvSpPr>
        <p:spPr>
          <a:xfrm>
            <a:off x="682625" y="1570038"/>
            <a:ext cx="7772400" cy="2087562"/>
          </a:xfrm>
        </p:spPr>
        <p:txBody>
          <a:bodyPr/>
          <a:lstStyle/>
          <a:p>
            <a:pPr marL="684213" lvl="1" indent="-684213">
              <a:lnSpc>
                <a:spcPct val="90000"/>
              </a:lnSpc>
              <a:buNone/>
            </a:pPr>
            <a:r>
              <a:rPr lang="en-US" altLang="en-US" sz="2400" dirty="0"/>
              <a:t>	</a:t>
            </a:r>
            <a:r>
              <a:rPr lang="en-US" altLang="en-US" sz="2400" dirty="0" err="1"/>
              <a:t>lw</a:t>
            </a:r>
            <a:r>
              <a:rPr lang="en-US" altLang="en-US" sz="2400" dirty="0"/>
              <a:t> $s1, 0($s2)</a:t>
            </a:r>
          </a:p>
          <a:p>
            <a:pPr marL="684213" lvl="1" indent="-684213">
              <a:lnSpc>
                <a:spcPct val="90000"/>
              </a:lnSpc>
              <a:buNone/>
            </a:pPr>
            <a:r>
              <a:rPr lang="en-US" altLang="en-US" sz="2400" dirty="0"/>
              <a:t>	</a:t>
            </a:r>
            <a:r>
              <a:rPr lang="en-US" altLang="en-US" sz="2400" dirty="0" err="1"/>
              <a:t>lw</a:t>
            </a:r>
            <a:r>
              <a:rPr lang="en-US" altLang="en-US" sz="2400" dirty="0"/>
              <a:t> $s3, 4($s1)</a:t>
            </a:r>
          </a:p>
          <a:p>
            <a:pPr marL="684213" lvl="1" indent="-684213">
              <a:lnSpc>
                <a:spcPct val="90000"/>
              </a:lnSpc>
              <a:buNone/>
            </a:pPr>
            <a:r>
              <a:rPr lang="en-US" altLang="en-US" sz="2400" dirty="0"/>
              <a:t>	add $s5, $s4, $s3</a:t>
            </a:r>
          </a:p>
          <a:p>
            <a:pPr marL="457200" lvl="1" indent="0">
              <a:lnSpc>
                <a:spcPct val="90000"/>
              </a:lnSpc>
              <a:buNone/>
            </a:pPr>
            <a:endParaRPr lang="en-US" altLang="en-US" sz="2400" dirty="0"/>
          </a:p>
          <a:p>
            <a:pPr marL="0" indent="0">
              <a:lnSpc>
                <a:spcPct val="80000"/>
              </a:lnSpc>
              <a:buNone/>
            </a:pPr>
            <a:r>
              <a:rPr lang="en-US" altLang="en-US" sz="2800" dirty="0"/>
              <a:t>Assume full forwarding and bypassing:</a:t>
            </a:r>
          </a:p>
        </p:txBody>
      </p:sp>
      <p:sp>
        <p:nvSpPr>
          <p:cNvPr id="45061"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31</a:t>
            </a:fld>
            <a:endParaRPr lang="en-US" altLang="en-US"/>
          </a:p>
        </p:txBody>
      </p:sp>
      <p:graphicFrame>
        <p:nvGraphicFramePr>
          <p:cNvPr id="183300" name="Group 4"/>
          <p:cNvGraphicFramePr>
            <a:graphicFrameLocks noGrp="1"/>
          </p:cNvGraphicFramePr>
          <p:nvPr>
            <p:custDataLst>
              <p:tags r:id="rId5"/>
            </p:custDataLst>
            <p:extLst>
              <p:ext uri="{D42A27DB-BD31-4B8C-83A1-F6EECF244321}">
                <p14:modId xmlns:p14="http://schemas.microsoft.com/office/powerpoint/2010/main" val="3983039074"/>
              </p:ext>
            </p:extLst>
          </p:nvPr>
        </p:nvGraphicFramePr>
        <p:xfrm>
          <a:off x="838200" y="3733800"/>
          <a:ext cx="7034213" cy="176893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$s3</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spTree>
    <p:custDataLst>
      <p:tags r:id="rId1"/>
    </p:custDataLst>
    <p:extLst>
      <p:ext uri="{BB962C8B-B14F-4D97-AF65-F5344CB8AC3E}">
        <p14:creationId xmlns:p14="http://schemas.microsoft.com/office/powerpoint/2010/main" val="355021525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45058" name="Rectangle 3"/>
          <p:cNvSpPr>
            <a:spLocks noGrp="1" noChangeArrowheads="1"/>
          </p:cNvSpPr>
          <p:nvPr>
            <p:ph idx="1"/>
            <p:custDataLst>
              <p:tags r:id="rId3"/>
            </p:custDataLst>
          </p:nvPr>
        </p:nvSpPr>
        <p:spPr>
          <a:xfrm>
            <a:off x="682625" y="1570038"/>
            <a:ext cx="7772400" cy="2087562"/>
          </a:xfrm>
        </p:spPr>
        <p:txBody>
          <a:bodyPr/>
          <a:lstStyle/>
          <a:p>
            <a:pPr marL="684213" lvl="1" indent="-684213">
              <a:lnSpc>
                <a:spcPct val="90000"/>
              </a:lnSpc>
              <a:buNone/>
            </a:pPr>
            <a:r>
              <a:rPr lang="en-US" altLang="en-US" sz="2400" dirty="0"/>
              <a:t>	</a:t>
            </a:r>
            <a:r>
              <a:rPr lang="en-US" altLang="en-US" sz="2400" dirty="0" err="1"/>
              <a:t>lw</a:t>
            </a:r>
            <a:r>
              <a:rPr lang="en-US" altLang="en-US" sz="2400" dirty="0"/>
              <a:t> $s1, 0($s2)</a:t>
            </a:r>
          </a:p>
          <a:p>
            <a:pPr marL="684213" lvl="1" indent="-684213">
              <a:lnSpc>
                <a:spcPct val="90000"/>
              </a:lnSpc>
              <a:buNone/>
            </a:pPr>
            <a:r>
              <a:rPr lang="en-US" altLang="en-US" sz="2400" dirty="0"/>
              <a:t>	</a:t>
            </a:r>
            <a:r>
              <a:rPr lang="en-US" altLang="en-US" sz="2400" dirty="0" err="1"/>
              <a:t>lw</a:t>
            </a:r>
            <a:r>
              <a:rPr lang="en-US" altLang="en-US" sz="2400" dirty="0"/>
              <a:t> $s3, 4($s1)</a:t>
            </a:r>
          </a:p>
          <a:p>
            <a:pPr marL="684213" lvl="1" indent="-684213">
              <a:lnSpc>
                <a:spcPct val="90000"/>
              </a:lnSpc>
              <a:buNone/>
            </a:pPr>
            <a:r>
              <a:rPr lang="en-US" altLang="en-US" sz="2400" dirty="0"/>
              <a:t>	add $s5, $s4, $s3</a:t>
            </a:r>
          </a:p>
          <a:p>
            <a:pPr marL="457200" lvl="1" indent="0">
              <a:lnSpc>
                <a:spcPct val="90000"/>
              </a:lnSpc>
              <a:buNone/>
            </a:pPr>
            <a:endParaRPr lang="en-US" altLang="en-US" sz="2400" dirty="0"/>
          </a:p>
          <a:p>
            <a:pPr marL="0" indent="0">
              <a:lnSpc>
                <a:spcPct val="80000"/>
              </a:lnSpc>
              <a:buNone/>
            </a:pPr>
            <a:r>
              <a:rPr lang="en-US" altLang="en-US" sz="2800" dirty="0"/>
              <a:t>Assume full forwarding and bypassing:</a:t>
            </a:r>
          </a:p>
        </p:txBody>
      </p:sp>
      <p:sp>
        <p:nvSpPr>
          <p:cNvPr id="45061"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32</a:t>
            </a:fld>
            <a:endParaRPr lang="en-US" altLang="en-US"/>
          </a:p>
        </p:txBody>
      </p:sp>
      <p:graphicFrame>
        <p:nvGraphicFramePr>
          <p:cNvPr id="183300" name="Group 4"/>
          <p:cNvGraphicFramePr>
            <a:graphicFrameLocks noGrp="1"/>
          </p:cNvGraphicFramePr>
          <p:nvPr>
            <p:custDataLst>
              <p:tags r:id="rId5"/>
            </p:custDataLst>
          </p:nvPr>
        </p:nvGraphicFramePr>
        <p:xfrm>
          <a:off x="838200" y="3733800"/>
          <a:ext cx="7034213" cy="264342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err="1">
                          <a:ln>
                            <a:noFill/>
                          </a:ln>
                          <a:solidFill>
                            <a:schemeClr val="tx1"/>
                          </a:solidFill>
                          <a:effectLst/>
                          <a:latin typeface="Times New Roman" pitchFamily="18" charset="0"/>
                        </a:rPr>
                        <a:t>insn</a:t>
                      </a:r>
                      <a:r>
                        <a:rPr kumimoji="0" lang="en-US" sz="18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Times New Roman" pitchFamily="18" charset="0"/>
                        </a:rPr>
                        <a:t>lw</a:t>
                      </a:r>
                      <a:r>
                        <a:rPr kumimoji="0" lang="en-US" sz="2000" b="0" i="0" u="none" strike="noStrike" cap="none" normalizeH="0" baseline="0" dirty="0">
                          <a:ln>
                            <a:noFill/>
                          </a:ln>
                          <a:solidFill>
                            <a:schemeClr val="tx1"/>
                          </a:solidFill>
                          <a:effectLst/>
                          <a:latin typeface="Times New Roman" pitchFamily="18" charset="0"/>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204410166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Times New Roman" pitchFamily="18" charset="0"/>
                        </a:rPr>
                        <a:t>lw</a:t>
                      </a:r>
                      <a:r>
                        <a:rPr kumimoji="0" lang="en-US" sz="2000" b="0" i="0" u="none" strike="noStrike" cap="none" normalizeH="0" baseline="0" dirty="0">
                          <a:ln>
                            <a:noFill/>
                          </a:ln>
                          <a:solidFill>
                            <a:schemeClr val="tx1"/>
                          </a:solidFill>
                          <a:effectLst/>
                          <a:latin typeface="Times New Roman" pitchFamily="18" charset="0"/>
                        </a:rPr>
                        <a:t> $s3</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348341326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add</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sp>
        <p:nvSpPr>
          <p:cNvPr id="2" name="Oval 1">
            <a:extLst>
              <a:ext uri="{FF2B5EF4-FFF2-40B4-BE49-F238E27FC236}">
                <a16:creationId xmlns:a16="http://schemas.microsoft.com/office/drawing/2014/main" id="{22BB02CD-5FE7-4529-B9E3-F14A528CB4CE}"/>
              </a:ext>
            </a:extLst>
          </p:cNvPr>
          <p:cNvSpPr/>
          <p:nvPr>
            <p:custDataLst>
              <p:tags r:id="rId6"/>
            </p:custDataLst>
          </p:nvPr>
        </p:nvSpPr>
        <p:spPr>
          <a:xfrm>
            <a:off x="2819400" y="5021262"/>
            <a:ext cx="533400" cy="533400"/>
          </a:xfrm>
          <a:prstGeom prst="ellipse">
            <a:avLst/>
          </a:prstGeom>
          <a:no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D860A18-04F4-4859-BAD7-58E49DCBF575}"/>
              </a:ext>
            </a:extLst>
          </p:cNvPr>
          <p:cNvSpPr/>
          <p:nvPr>
            <p:custDataLst>
              <p:tags r:id="rId7"/>
            </p:custDataLst>
          </p:nvPr>
        </p:nvSpPr>
        <p:spPr>
          <a:xfrm>
            <a:off x="2819400" y="5914957"/>
            <a:ext cx="533400" cy="533400"/>
          </a:xfrm>
          <a:prstGeom prst="ellipse">
            <a:avLst/>
          </a:prstGeom>
          <a:no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6B0777-F6AD-4917-B265-57D299845981}"/>
              </a:ext>
            </a:extLst>
          </p:cNvPr>
          <p:cNvSpPr/>
          <p:nvPr>
            <p:custDataLst>
              <p:tags r:id="rId8"/>
            </p:custDataLst>
          </p:nvPr>
        </p:nvSpPr>
        <p:spPr>
          <a:xfrm>
            <a:off x="3733800" y="5914957"/>
            <a:ext cx="533400" cy="533400"/>
          </a:xfrm>
          <a:prstGeom prst="ellipse">
            <a:avLst/>
          </a:prstGeom>
          <a:no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CBA49E4-93A5-4907-938D-DDEF5B5FFC8F}"/>
              </a:ext>
            </a:extLst>
          </p:cNvPr>
          <p:cNvSpPr txBox="1"/>
          <p:nvPr>
            <p:custDataLst>
              <p:tags r:id="rId9"/>
            </p:custDataLst>
          </p:nvPr>
        </p:nvSpPr>
        <p:spPr>
          <a:xfrm>
            <a:off x="3181150" y="6324465"/>
            <a:ext cx="724301" cy="400110"/>
          </a:xfrm>
          <a:prstGeom prst="rect">
            <a:avLst/>
          </a:prstGeom>
          <a:noFill/>
        </p:spPr>
        <p:txBody>
          <a:bodyPr wrap="none" rtlCol="0" anchor="ctr">
            <a:spAutoFit/>
          </a:bodyPr>
          <a:lstStyle/>
          <a:p>
            <a:pPr algn="ctr"/>
            <a:r>
              <a:rPr lang="en-US" sz="2000" b="1" dirty="0">
                <a:solidFill>
                  <a:schemeClr val="accent6">
                    <a:lumMod val="75000"/>
                  </a:schemeClr>
                </a:solidFill>
                <a:latin typeface="+mn-lt"/>
              </a:rPr>
              <a:t>stalls</a:t>
            </a:r>
          </a:p>
        </p:txBody>
      </p:sp>
      <p:sp>
        <p:nvSpPr>
          <p:cNvPr id="10" name="TextBox 9">
            <a:extLst>
              <a:ext uri="{FF2B5EF4-FFF2-40B4-BE49-F238E27FC236}">
                <a16:creationId xmlns:a16="http://schemas.microsoft.com/office/drawing/2014/main" id="{28850006-45A5-47C7-8764-C11AEE4FC8A8}"/>
              </a:ext>
            </a:extLst>
          </p:cNvPr>
          <p:cNvSpPr txBox="1"/>
          <p:nvPr>
            <p:custDataLst>
              <p:tags r:id="rId10"/>
            </p:custDataLst>
          </p:nvPr>
        </p:nvSpPr>
        <p:spPr>
          <a:xfrm>
            <a:off x="887921" y="4648200"/>
            <a:ext cx="662361" cy="400110"/>
          </a:xfrm>
          <a:prstGeom prst="rect">
            <a:avLst/>
          </a:prstGeom>
          <a:noFill/>
        </p:spPr>
        <p:txBody>
          <a:bodyPr wrap="none" rtlCol="0" anchor="ctr">
            <a:spAutoFit/>
          </a:bodyPr>
          <a:lstStyle/>
          <a:p>
            <a:pPr algn="ctr"/>
            <a:r>
              <a:rPr lang="en-US" sz="2000" b="1" dirty="0">
                <a:solidFill>
                  <a:schemeClr val="accent6">
                    <a:lumMod val="75000"/>
                  </a:schemeClr>
                </a:solidFill>
                <a:latin typeface="+mn-lt"/>
              </a:rPr>
              <a:t>NOP</a:t>
            </a:r>
          </a:p>
        </p:txBody>
      </p:sp>
      <p:sp>
        <p:nvSpPr>
          <p:cNvPr id="11" name="TextBox 10">
            <a:extLst>
              <a:ext uri="{FF2B5EF4-FFF2-40B4-BE49-F238E27FC236}">
                <a16:creationId xmlns:a16="http://schemas.microsoft.com/office/drawing/2014/main" id="{8A26E8B8-5799-4FDD-958A-85D3C197551A}"/>
              </a:ext>
            </a:extLst>
          </p:cNvPr>
          <p:cNvSpPr txBox="1"/>
          <p:nvPr>
            <p:custDataLst>
              <p:tags r:id="rId11"/>
            </p:custDataLst>
          </p:nvPr>
        </p:nvSpPr>
        <p:spPr>
          <a:xfrm>
            <a:off x="887920" y="5512710"/>
            <a:ext cx="662361" cy="400110"/>
          </a:xfrm>
          <a:prstGeom prst="rect">
            <a:avLst/>
          </a:prstGeom>
          <a:noFill/>
        </p:spPr>
        <p:txBody>
          <a:bodyPr wrap="none" rtlCol="0" anchor="ctr">
            <a:spAutoFit/>
          </a:bodyPr>
          <a:lstStyle/>
          <a:p>
            <a:pPr algn="ctr"/>
            <a:r>
              <a:rPr lang="en-US" sz="2000" b="1" dirty="0">
                <a:solidFill>
                  <a:schemeClr val="accent6">
                    <a:lumMod val="75000"/>
                  </a:schemeClr>
                </a:solidFill>
                <a:latin typeface="+mn-lt"/>
              </a:rPr>
              <a:t>NOP</a:t>
            </a:r>
          </a:p>
        </p:txBody>
      </p:sp>
    </p:spTree>
    <p:custDataLst>
      <p:tags r:id="rId1"/>
    </p:custDataLst>
    <p:extLst>
      <p:ext uri="{BB962C8B-B14F-4D97-AF65-F5344CB8AC3E}">
        <p14:creationId xmlns:p14="http://schemas.microsoft.com/office/powerpoint/2010/main" val="362928740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Slide Number Placeholder 5"/>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33</a:t>
            </a:fld>
            <a:endParaRPr lang="en-US" altLang="en-US"/>
          </a:p>
        </p:txBody>
      </p:sp>
      <p:pic>
        <p:nvPicPr>
          <p:cNvPr id="102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C21E0623-1920-4C6B-B2C2-6942105B6A4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1563" y="4191000"/>
            <a:ext cx="7000875" cy="17037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E822249B-618A-4DF0-866B-70C74F2BDD0E}"/>
              </a:ext>
            </a:extLst>
          </p:cNvPr>
          <p:cNvSpPr txBox="1">
            <a:spLocks noChangeArrowheads="1"/>
          </p:cNvSpPr>
          <p:nvPr>
            <p:custDataLst>
              <p:tags r:id="rId3"/>
            </p:custDataLst>
          </p:nvPr>
        </p:nvSpPr>
        <p:spPr bwMode="auto">
          <a:xfrm>
            <a:off x="31242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$s3</a:t>
            </a:r>
          </a:p>
        </p:txBody>
      </p:sp>
      <p:sp>
        <p:nvSpPr>
          <p:cNvPr id="16" name="Rectangle 2">
            <a:extLst>
              <a:ext uri="{FF2B5EF4-FFF2-40B4-BE49-F238E27FC236}">
                <a16:creationId xmlns:a16="http://schemas.microsoft.com/office/drawing/2014/main" id="{CE1FC4B1-3A2F-465D-8E6C-8B3CC79C0DDA}"/>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Exercise</a:t>
            </a:r>
          </a:p>
        </p:txBody>
      </p:sp>
      <p:sp>
        <p:nvSpPr>
          <p:cNvPr id="7" name="Rectangle 3">
            <a:extLst>
              <a:ext uri="{FF2B5EF4-FFF2-40B4-BE49-F238E27FC236}">
                <a16:creationId xmlns:a16="http://schemas.microsoft.com/office/drawing/2014/main" id="{110071A2-D4AB-445B-B91A-E1C299C955D2}"/>
              </a:ext>
            </a:extLst>
          </p:cNvPr>
          <p:cNvSpPr txBox="1">
            <a:spLocks noChangeArrowheads="1"/>
          </p:cNvSpPr>
          <p:nvPr>
            <p:custDataLst>
              <p:tags r:id="rId5"/>
            </p:custDataLst>
          </p:nvPr>
        </p:nvSpPr>
        <p:spPr bwMode="auto">
          <a:xfrm>
            <a:off x="12954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add</a:t>
            </a:r>
          </a:p>
        </p:txBody>
      </p:sp>
      <p:sp>
        <p:nvSpPr>
          <p:cNvPr id="8" name="Rectangle 3">
            <a:extLst>
              <a:ext uri="{FF2B5EF4-FFF2-40B4-BE49-F238E27FC236}">
                <a16:creationId xmlns:a16="http://schemas.microsoft.com/office/drawing/2014/main" id="{065F2F51-677C-4C53-BD2A-965AE4E26511}"/>
              </a:ext>
            </a:extLst>
          </p:cNvPr>
          <p:cNvSpPr txBox="1">
            <a:spLocks noChangeArrowheads="1"/>
          </p:cNvSpPr>
          <p:nvPr>
            <p:custDataLst>
              <p:tags r:id="rId6"/>
            </p:custDataLst>
          </p:nvPr>
        </p:nvSpPr>
        <p:spPr bwMode="auto">
          <a:xfrm>
            <a:off x="49530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dirty="0" err="1">
                <a:solidFill>
                  <a:schemeClr val="accent6">
                    <a:lumMod val="75000"/>
                  </a:schemeClr>
                </a:solidFill>
              </a:rPr>
              <a:t>lw</a:t>
            </a:r>
            <a:r>
              <a:rPr lang="en-US" altLang="en-US" sz="2400" b="1" dirty="0">
                <a:solidFill>
                  <a:schemeClr val="accent6">
                    <a:lumMod val="75000"/>
                  </a:schemeClr>
                </a:solidFill>
              </a:rPr>
              <a:t> $s1</a:t>
            </a:r>
          </a:p>
        </p:txBody>
      </p:sp>
      <p:sp>
        <p:nvSpPr>
          <p:cNvPr id="9" name="Rectangle 3">
            <a:extLst>
              <a:ext uri="{FF2B5EF4-FFF2-40B4-BE49-F238E27FC236}">
                <a16:creationId xmlns:a16="http://schemas.microsoft.com/office/drawing/2014/main" id="{B0197BA4-5419-4B8B-ADF9-3F2B3C6F1AE9}"/>
              </a:ext>
            </a:extLst>
          </p:cNvPr>
          <p:cNvSpPr txBox="1">
            <a:spLocks noChangeArrowheads="1"/>
          </p:cNvSpPr>
          <p:nvPr>
            <p:custDataLst>
              <p:tags r:id="rId7"/>
            </p:custDataLst>
          </p:nvPr>
        </p:nvSpPr>
        <p:spPr bwMode="auto">
          <a:xfrm>
            <a:off x="0" y="42672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3:</a:t>
            </a:r>
          </a:p>
        </p:txBody>
      </p:sp>
      <p:graphicFrame>
        <p:nvGraphicFramePr>
          <p:cNvPr id="11" name="Group 4">
            <a:extLst>
              <a:ext uri="{FF2B5EF4-FFF2-40B4-BE49-F238E27FC236}">
                <a16:creationId xmlns:a16="http://schemas.microsoft.com/office/drawing/2014/main" id="{07CC8444-624C-454B-A8F5-C4404583CC4A}"/>
              </a:ext>
            </a:extLst>
          </p:cNvPr>
          <p:cNvGraphicFramePr>
            <a:graphicFrameLocks noGrp="1"/>
          </p:cNvGraphicFramePr>
          <p:nvPr>
            <p:custDataLst>
              <p:tags r:id="rId8"/>
            </p:custDataLst>
            <p:extLst>
              <p:ext uri="{D42A27DB-BD31-4B8C-83A1-F6EECF244321}">
                <p14:modId xmlns:p14="http://schemas.microsoft.com/office/powerpoint/2010/main" val="2833733011"/>
              </p:ext>
            </p:extLst>
          </p:nvPr>
        </p:nvGraphicFramePr>
        <p:xfrm>
          <a:off x="838200" y="1247843"/>
          <a:ext cx="7034213" cy="264342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04410166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$s3</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48341326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596446267"/>
                  </a:ext>
                </a:extLst>
              </a:tr>
            </a:tbl>
          </a:graphicData>
        </a:graphic>
      </p:graphicFrame>
    </p:spTree>
    <p:custDataLst>
      <p:tags r:id="rId1"/>
    </p:custDataLst>
    <p:extLst>
      <p:ext uri="{BB962C8B-B14F-4D97-AF65-F5344CB8AC3E}">
        <p14:creationId xmlns:p14="http://schemas.microsoft.com/office/powerpoint/2010/main" val="147958800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Slide Number Placeholder 5"/>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34</a:t>
            </a:fld>
            <a:endParaRPr lang="en-US" altLang="en-US"/>
          </a:p>
        </p:txBody>
      </p:sp>
      <p:pic>
        <p:nvPicPr>
          <p:cNvPr id="102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C21E0623-1920-4C6B-B2C2-6942105B6A4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1563" y="4191000"/>
            <a:ext cx="7000875" cy="17037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E822249B-618A-4DF0-866B-70C74F2BDD0E}"/>
              </a:ext>
            </a:extLst>
          </p:cNvPr>
          <p:cNvSpPr txBox="1">
            <a:spLocks noChangeArrowheads="1"/>
          </p:cNvSpPr>
          <p:nvPr>
            <p:custDataLst>
              <p:tags r:id="rId3"/>
            </p:custDataLst>
          </p:nvPr>
        </p:nvSpPr>
        <p:spPr bwMode="auto">
          <a:xfrm>
            <a:off x="31242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$s3</a:t>
            </a:r>
          </a:p>
        </p:txBody>
      </p:sp>
      <p:sp>
        <p:nvSpPr>
          <p:cNvPr id="16" name="Rectangle 2">
            <a:extLst>
              <a:ext uri="{FF2B5EF4-FFF2-40B4-BE49-F238E27FC236}">
                <a16:creationId xmlns:a16="http://schemas.microsoft.com/office/drawing/2014/main" id="{CE1FC4B1-3A2F-465D-8E6C-8B3CC79C0DDA}"/>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Exercise</a:t>
            </a:r>
          </a:p>
        </p:txBody>
      </p:sp>
      <p:sp>
        <p:nvSpPr>
          <p:cNvPr id="7" name="Rectangle 3">
            <a:extLst>
              <a:ext uri="{FF2B5EF4-FFF2-40B4-BE49-F238E27FC236}">
                <a16:creationId xmlns:a16="http://schemas.microsoft.com/office/drawing/2014/main" id="{110071A2-D4AB-445B-B91A-E1C299C955D2}"/>
              </a:ext>
            </a:extLst>
          </p:cNvPr>
          <p:cNvSpPr txBox="1">
            <a:spLocks noChangeArrowheads="1"/>
          </p:cNvSpPr>
          <p:nvPr>
            <p:custDataLst>
              <p:tags r:id="rId5"/>
            </p:custDataLst>
          </p:nvPr>
        </p:nvSpPr>
        <p:spPr bwMode="auto">
          <a:xfrm>
            <a:off x="12954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add</a:t>
            </a:r>
          </a:p>
        </p:txBody>
      </p:sp>
      <p:sp>
        <p:nvSpPr>
          <p:cNvPr id="8" name="Rectangle 3">
            <a:extLst>
              <a:ext uri="{FF2B5EF4-FFF2-40B4-BE49-F238E27FC236}">
                <a16:creationId xmlns:a16="http://schemas.microsoft.com/office/drawing/2014/main" id="{065F2F51-677C-4C53-BD2A-965AE4E26511}"/>
              </a:ext>
            </a:extLst>
          </p:cNvPr>
          <p:cNvSpPr txBox="1">
            <a:spLocks noChangeArrowheads="1"/>
          </p:cNvSpPr>
          <p:nvPr>
            <p:custDataLst>
              <p:tags r:id="rId6"/>
            </p:custDataLst>
          </p:nvPr>
        </p:nvSpPr>
        <p:spPr bwMode="auto">
          <a:xfrm>
            <a:off x="49530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NOP</a:t>
            </a:r>
          </a:p>
        </p:txBody>
      </p:sp>
      <p:sp>
        <p:nvSpPr>
          <p:cNvPr id="9" name="Rectangle 3">
            <a:extLst>
              <a:ext uri="{FF2B5EF4-FFF2-40B4-BE49-F238E27FC236}">
                <a16:creationId xmlns:a16="http://schemas.microsoft.com/office/drawing/2014/main" id="{B0197BA4-5419-4B8B-ADF9-3F2B3C6F1AE9}"/>
              </a:ext>
            </a:extLst>
          </p:cNvPr>
          <p:cNvSpPr txBox="1">
            <a:spLocks noChangeArrowheads="1"/>
          </p:cNvSpPr>
          <p:nvPr>
            <p:custDataLst>
              <p:tags r:id="rId7"/>
            </p:custDataLst>
          </p:nvPr>
        </p:nvSpPr>
        <p:spPr bwMode="auto">
          <a:xfrm>
            <a:off x="0" y="42672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4:</a:t>
            </a:r>
          </a:p>
        </p:txBody>
      </p:sp>
      <p:sp>
        <p:nvSpPr>
          <p:cNvPr id="10" name="Rectangle 3">
            <a:extLst>
              <a:ext uri="{FF2B5EF4-FFF2-40B4-BE49-F238E27FC236}">
                <a16:creationId xmlns:a16="http://schemas.microsoft.com/office/drawing/2014/main" id="{75AF353C-1C12-45FB-A2A7-A351A6E8A28F}"/>
              </a:ext>
            </a:extLst>
          </p:cNvPr>
          <p:cNvSpPr txBox="1">
            <a:spLocks noChangeArrowheads="1"/>
          </p:cNvSpPr>
          <p:nvPr>
            <p:custDataLst>
              <p:tags r:id="rId8"/>
            </p:custDataLst>
          </p:nvPr>
        </p:nvSpPr>
        <p:spPr bwMode="auto">
          <a:xfrm>
            <a:off x="62865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$s1</a:t>
            </a:r>
          </a:p>
        </p:txBody>
      </p:sp>
      <p:graphicFrame>
        <p:nvGraphicFramePr>
          <p:cNvPr id="11" name="Group 4">
            <a:extLst>
              <a:ext uri="{FF2B5EF4-FFF2-40B4-BE49-F238E27FC236}">
                <a16:creationId xmlns:a16="http://schemas.microsoft.com/office/drawing/2014/main" id="{07CC8444-624C-454B-A8F5-C4404583CC4A}"/>
              </a:ext>
            </a:extLst>
          </p:cNvPr>
          <p:cNvGraphicFramePr>
            <a:graphicFrameLocks noGrp="1"/>
          </p:cNvGraphicFramePr>
          <p:nvPr>
            <p:custDataLst>
              <p:tags r:id="rId9"/>
            </p:custDataLst>
            <p:extLst>
              <p:ext uri="{D42A27DB-BD31-4B8C-83A1-F6EECF244321}">
                <p14:modId xmlns:p14="http://schemas.microsoft.com/office/powerpoint/2010/main" val="1975303150"/>
              </p:ext>
            </p:extLst>
          </p:nvPr>
        </p:nvGraphicFramePr>
        <p:xfrm>
          <a:off x="838200" y="1247843"/>
          <a:ext cx="7034213" cy="264342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04410166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$s3</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48341326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596446267"/>
                  </a:ext>
                </a:extLst>
              </a:tr>
            </a:tbl>
          </a:graphicData>
        </a:graphic>
      </p:graphicFrame>
    </p:spTree>
    <p:custDataLst>
      <p:tags r:id="rId1"/>
    </p:custDataLst>
    <p:extLst>
      <p:ext uri="{BB962C8B-B14F-4D97-AF65-F5344CB8AC3E}">
        <p14:creationId xmlns:p14="http://schemas.microsoft.com/office/powerpoint/2010/main" val="144813497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Slide Number Placeholder 5"/>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35</a:t>
            </a:fld>
            <a:endParaRPr lang="en-US" altLang="en-US"/>
          </a:p>
        </p:txBody>
      </p:sp>
      <p:pic>
        <p:nvPicPr>
          <p:cNvPr id="102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C21E0623-1920-4C6B-B2C2-6942105B6A4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71563" y="4191000"/>
            <a:ext cx="7000875" cy="17037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E822249B-618A-4DF0-866B-70C74F2BDD0E}"/>
              </a:ext>
            </a:extLst>
          </p:cNvPr>
          <p:cNvSpPr txBox="1">
            <a:spLocks noChangeArrowheads="1"/>
          </p:cNvSpPr>
          <p:nvPr>
            <p:custDataLst>
              <p:tags r:id="rId3"/>
            </p:custDataLst>
          </p:nvPr>
        </p:nvSpPr>
        <p:spPr bwMode="auto">
          <a:xfrm>
            <a:off x="49530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$s3</a:t>
            </a:r>
          </a:p>
        </p:txBody>
      </p:sp>
      <p:sp>
        <p:nvSpPr>
          <p:cNvPr id="16" name="Rectangle 2">
            <a:extLst>
              <a:ext uri="{FF2B5EF4-FFF2-40B4-BE49-F238E27FC236}">
                <a16:creationId xmlns:a16="http://schemas.microsoft.com/office/drawing/2014/main" id="{CE1FC4B1-3A2F-465D-8E6C-8B3CC79C0DDA}"/>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Exercise</a:t>
            </a:r>
          </a:p>
        </p:txBody>
      </p:sp>
      <p:sp>
        <p:nvSpPr>
          <p:cNvPr id="7" name="Rectangle 3">
            <a:extLst>
              <a:ext uri="{FF2B5EF4-FFF2-40B4-BE49-F238E27FC236}">
                <a16:creationId xmlns:a16="http://schemas.microsoft.com/office/drawing/2014/main" id="{110071A2-D4AB-445B-B91A-E1C299C955D2}"/>
              </a:ext>
            </a:extLst>
          </p:cNvPr>
          <p:cNvSpPr txBox="1">
            <a:spLocks noChangeArrowheads="1"/>
          </p:cNvSpPr>
          <p:nvPr>
            <p:custDataLst>
              <p:tags r:id="rId5"/>
            </p:custDataLst>
          </p:nvPr>
        </p:nvSpPr>
        <p:spPr bwMode="auto">
          <a:xfrm>
            <a:off x="31242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add</a:t>
            </a:r>
          </a:p>
        </p:txBody>
      </p:sp>
      <p:sp>
        <p:nvSpPr>
          <p:cNvPr id="8" name="Rectangle 3">
            <a:extLst>
              <a:ext uri="{FF2B5EF4-FFF2-40B4-BE49-F238E27FC236}">
                <a16:creationId xmlns:a16="http://schemas.microsoft.com/office/drawing/2014/main" id="{065F2F51-677C-4C53-BD2A-965AE4E26511}"/>
              </a:ext>
            </a:extLst>
          </p:cNvPr>
          <p:cNvSpPr txBox="1">
            <a:spLocks noChangeArrowheads="1"/>
          </p:cNvSpPr>
          <p:nvPr>
            <p:custDataLst>
              <p:tags r:id="rId6"/>
            </p:custDataLst>
          </p:nvPr>
        </p:nvSpPr>
        <p:spPr bwMode="auto">
          <a:xfrm>
            <a:off x="62865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NOP</a:t>
            </a:r>
          </a:p>
        </p:txBody>
      </p:sp>
      <p:sp>
        <p:nvSpPr>
          <p:cNvPr id="9" name="Rectangle 3">
            <a:extLst>
              <a:ext uri="{FF2B5EF4-FFF2-40B4-BE49-F238E27FC236}">
                <a16:creationId xmlns:a16="http://schemas.microsoft.com/office/drawing/2014/main" id="{B0197BA4-5419-4B8B-ADF9-3F2B3C6F1AE9}"/>
              </a:ext>
            </a:extLst>
          </p:cNvPr>
          <p:cNvSpPr txBox="1">
            <a:spLocks noChangeArrowheads="1"/>
          </p:cNvSpPr>
          <p:nvPr>
            <p:custDataLst>
              <p:tags r:id="rId7"/>
            </p:custDataLst>
          </p:nvPr>
        </p:nvSpPr>
        <p:spPr bwMode="auto">
          <a:xfrm>
            <a:off x="0" y="42672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5:</a:t>
            </a:r>
          </a:p>
        </p:txBody>
      </p:sp>
      <p:sp>
        <p:nvSpPr>
          <p:cNvPr id="10" name="Rectangle 3">
            <a:extLst>
              <a:ext uri="{FF2B5EF4-FFF2-40B4-BE49-F238E27FC236}">
                <a16:creationId xmlns:a16="http://schemas.microsoft.com/office/drawing/2014/main" id="{75AF353C-1C12-45FB-A2A7-A351A6E8A28F}"/>
              </a:ext>
            </a:extLst>
          </p:cNvPr>
          <p:cNvSpPr txBox="1">
            <a:spLocks noChangeArrowheads="1"/>
          </p:cNvSpPr>
          <p:nvPr>
            <p:custDataLst>
              <p:tags r:id="rId8"/>
            </p:custDataLst>
          </p:nvPr>
        </p:nvSpPr>
        <p:spPr bwMode="auto">
          <a:xfrm>
            <a:off x="76200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$s1</a:t>
            </a:r>
          </a:p>
        </p:txBody>
      </p:sp>
      <p:graphicFrame>
        <p:nvGraphicFramePr>
          <p:cNvPr id="11" name="Group 4">
            <a:extLst>
              <a:ext uri="{FF2B5EF4-FFF2-40B4-BE49-F238E27FC236}">
                <a16:creationId xmlns:a16="http://schemas.microsoft.com/office/drawing/2014/main" id="{07CC8444-624C-454B-A8F5-C4404583CC4A}"/>
              </a:ext>
            </a:extLst>
          </p:cNvPr>
          <p:cNvGraphicFramePr>
            <a:graphicFrameLocks noGrp="1"/>
          </p:cNvGraphicFramePr>
          <p:nvPr>
            <p:custDataLst>
              <p:tags r:id="rId9"/>
            </p:custDataLst>
            <p:extLst>
              <p:ext uri="{D42A27DB-BD31-4B8C-83A1-F6EECF244321}">
                <p14:modId xmlns:p14="http://schemas.microsoft.com/office/powerpoint/2010/main" val="665615884"/>
              </p:ext>
            </p:extLst>
          </p:nvPr>
        </p:nvGraphicFramePr>
        <p:xfrm>
          <a:off x="838200" y="1247843"/>
          <a:ext cx="7034213" cy="264342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04410166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$s3</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48341326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596446267"/>
                  </a:ext>
                </a:extLst>
              </a:tr>
            </a:tbl>
          </a:graphicData>
        </a:graphic>
      </p:graphicFrame>
      <p:cxnSp>
        <p:nvCxnSpPr>
          <p:cNvPr id="12" name="Straight Arrow Connector 11">
            <a:extLst>
              <a:ext uri="{FF2B5EF4-FFF2-40B4-BE49-F238E27FC236}">
                <a16:creationId xmlns:a16="http://schemas.microsoft.com/office/drawing/2014/main" id="{3524C52E-16C8-4F01-96EE-FB4B9F45D6B6}"/>
              </a:ext>
            </a:extLst>
          </p:cNvPr>
          <p:cNvCxnSpPr/>
          <p:nvPr/>
        </p:nvCxnSpPr>
        <p:spPr>
          <a:xfrm>
            <a:off x="3886200" y="1905000"/>
            <a:ext cx="0" cy="914400"/>
          </a:xfrm>
          <a:prstGeom prst="straightConnector1">
            <a:avLst/>
          </a:prstGeom>
          <a:ln w="38100">
            <a:solidFill>
              <a:srgbClr val="FF0000"/>
            </a:solidFill>
            <a:headEnd type="ova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24C86A5-9539-4158-93DE-8CE76DC7D50A}"/>
              </a:ext>
            </a:extLst>
          </p:cNvPr>
          <p:cNvCxnSpPr>
            <a:cxnSpLocks/>
          </p:cNvCxnSpPr>
          <p:nvPr/>
        </p:nvCxnSpPr>
        <p:spPr>
          <a:xfrm>
            <a:off x="5105400" y="4953000"/>
            <a:ext cx="0" cy="91440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6216393-7FE2-4556-8D57-2169FED6C7A4}"/>
              </a:ext>
            </a:extLst>
          </p:cNvPr>
          <p:cNvCxnSpPr>
            <a:cxnSpLocks/>
          </p:cNvCxnSpPr>
          <p:nvPr/>
        </p:nvCxnSpPr>
        <p:spPr>
          <a:xfrm>
            <a:off x="8042397" y="5135880"/>
            <a:ext cx="0" cy="73152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5F59E4A-80E6-464B-856F-A9722A863975}"/>
              </a:ext>
            </a:extLst>
          </p:cNvPr>
          <p:cNvCxnSpPr>
            <a:cxnSpLocks/>
          </p:cNvCxnSpPr>
          <p:nvPr/>
        </p:nvCxnSpPr>
        <p:spPr>
          <a:xfrm rot="5400000">
            <a:off x="6584944" y="4400797"/>
            <a:ext cx="0" cy="2959088"/>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37F0E20-A21A-4073-AB2E-966816F5CDA6}"/>
              </a:ext>
            </a:extLst>
          </p:cNvPr>
          <p:cNvCxnSpPr>
            <a:cxnSpLocks/>
          </p:cNvCxnSpPr>
          <p:nvPr/>
        </p:nvCxnSpPr>
        <p:spPr>
          <a:xfrm rot="5400000">
            <a:off x="5150526" y="4893109"/>
            <a:ext cx="0" cy="174064"/>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42AC6204-E69E-4BBB-91A9-EF2F35E773DF}"/>
              </a:ext>
            </a:extLst>
          </p:cNvPr>
          <p:cNvSpPr/>
          <p:nvPr>
            <p:custDataLst>
              <p:tags r:id="rId10"/>
            </p:custDataLst>
          </p:nvPr>
        </p:nvSpPr>
        <p:spPr>
          <a:xfrm rot="5400000">
            <a:off x="5183553" y="4909104"/>
            <a:ext cx="228593" cy="163998"/>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5116501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Slide Number Placeholder 5"/>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36</a:t>
            </a:fld>
            <a:endParaRPr lang="en-US" altLang="en-US"/>
          </a:p>
        </p:txBody>
      </p:sp>
      <p:pic>
        <p:nvPicPr>
          <p:cNvPr id="102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C21E0623-1920-4C6B-B2C2-6942105B6A4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1563" y="4191000"/>
            <a:ext cx="7000875" cy="17037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E822249B-618A-4DF0-866B-70C74F2BDD0E}"/>
              </a:ext>
            </a:extLst>
          </p:cNvPr>
          <p:cNvSpPr txBox="1">
            <a:spLocks noChangeArrowheads="1"/>
          </p:cNvSpPr>
          <p:nvPr>
            <p:custDataLst>
              <p:tags r:id="rId3"/>
            </p:custDataLst>
          </p:nvPr>
        </p:nvSpPr>
        <p:spPr bwMode="auto">
          <a:xfrm>
            <a:off x="62484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$s3</a:t>
            </a:r>
          </a:p>
        </p:txBody>
      </p:sp>
      <p:sp>
        <p:nvSpPr>
          <p:cNvPr id="16" name="Rectangle 2">
            <a:extLst>
              <a:ext uri="{FF2B5EF4-FFF2-40B4-BE49-F238E27FC236}">
                <a16:creationId xmlns:a16="http://schemas.microsoft.com/office/drawing/2014/main" id="{CE1FC4B1-3A2F-465D-8E6C-8B3CC79C0DDA}"/>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Exercise</a:t>
            </a:r>
          </a:p>
        </p:txBody>
      </p:sp>
      <p:sp>
        <p:nvSpPr>
          <p:cNvPr id="7" name="Rectangle 3">
            <a:extLst>
              <a:ext uri="{FF2B5EF4-FFF2-40B4-BE49-F238E27FC236}">
                <a16:creationId xmlns:a16="http://schemas.microsoft.com/office/drawing/2014/main" id="{110071A2-D4AB-445B-B91A-E1C299C955D2}"/>
              </a:ext>
            </a:extLst>
          </p:cNvPr>
          <p:cNvSpPr txBox="1">
            <a:spLocks noChangeArrowheads="1"/>
          </p:cNvSpPr>
          <p:nvPr>
            <p:custDataLst>
              <p:tags r:id="rId5"/>
            </p:custDataLst>
          </p:nvPr>
        </p:nvSpPr>
        <p:spPr bwMode="auto">
          <a:xfrm>
            <a:off x="31242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add</a:t>
            </a:r>
          </a:p>
        </p:txBody>
      </p:sp>
      <p:sp>
        <p:nvSpPr>
          <p:cNvPr id="8" name="Rectangle 3">
            <a:extLst>
              <a:ext uri="{FF2B5EF4-FFF2-40B4-BE49-F238E27FC236}">
                <a16:creationId xmlns:a16="http://schemas.microsoft.com/office/drawing/2014/main" id="{065F2F51-677C-4C53-BD2A-965AE4E26511}"/>
              </a:ext>
            </a:extLst>
          </p:cNvPr>
          <p:cNvSpPr txBox="1">
            <a:spLocks noChangeArrowheads="1"/>
          </p:cNvSpPr>
          <p:nvPr>
            <p:custDataLst>
              <p:tags r:id="rId6"/>
            </p:custDataLst>
          </p:nvPr>
        </p:nvSpPr>
        <p:spPr bwMode="auto">
          <a:xfrm>
            <a:off x="75819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NOP</a:t>
            </a:r>
          </a:p>
        </p:txBody>
      </p:sp>
      <p:sp>
        <p:nvSpPr>
          <p:cNvPr id="9" name="Rectangle 3">
            <a:extLst>
              <a:ext uri="{FF2B5EF4-FFF2-40B4-BE49-F238E27FC236}">
                <a16:creationId xmlns:a16="http://schemas.microsoft.com/office/drawing/2014/main" id="{B0197BA4-5419-4B8B-ADF9-3F2B3C6F1AE9}"/>
              </a:ext>
            </a:extLst>
          </p:cNvPr>
          <p:cNvSpPr txBox="1">
            <a:spLocks noChangeArrowheads="1"/>
          </p:cNvSpPr>
          <p:nvPr>
            <p:custDataLst>
              <p:tags r:id="rId7"/>
            </p:custDataLst>
          </p:nvPr>
        </p:nvSpPr>
        <p:spPr bwMode="auto">
          <a:xfrm>
            <a:off x="0" y="42672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6:</a:t>
            </a:r>
          </a:p>
        </p:txBody>
      </p:sp>
      <p:graphicFrame>
        <p:nvGraphicFramePr>
          <p:cNvPr id="11" name="Group 4">
            <a:extLst>
              <a:ext uri="{FF2B5EF4-FFF2-40B4-BE49-F238E27FC236}">
                <a16:creationId xmlns:a16="http://schemas.microsoft.com/office/drawing/2014/main" id="{07CC8444-624C-454B-A8F5-C4404583CC4A}"/>
              </a:ext>
            </a:extLst>
          </p:cNvPr>
          <p:cNvGraphicFramePr>
            <a:graphicFrameLocks noGrp="1"/>
          </p:cNvGraphicFramePr>
          <p:nvPr>
            <p:custDataLst>
              <p:tags r:id="rId8"/>
            </p:custDataLst>
            <p:extLst>
              <p:ext uri="{D42A27DB-BD31-4B8C-83A1-F6EECF244321}">
                <p14:modId xmlns:p14="http://schemas.microsoft.com/office/powerpoint/2010/main" val="1818819616"/>
              </p:ext>
            </p:extLst>
          </p:nvPr>
        </p:nvGraphicFramePr>
        <p:xfrm>
          <a:off x="838200" y="1247843"/>
          <a:ext cx="7034213" cy="264342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04410166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$s3</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48341326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596446267"/>
                  </a:ext>
                </a:extLst>
              </a:tr>
            </a:tbl>
          </a:graphicData>
        </a:graphic>
      </p:graphicFrame>
      <p:sp>
        <p:nvSpPr>
          <p:cNvPr id="12" name="Rectangle 3">
            <a:extLst>
              <a:ext uri="{FF2B5EF4-FFF2-40B4-BE49-F238E27FC236}">
                <a16:creationId xmlns:a16="http://schemas.microsoft.com/office/drawing/2014/main" id="{DD1F690D-E65D-41D8-9E11-7710D9E7F937}"/>
              </a:ext>
            </a:extLst>
          </p:cNvPr>
          <p:cNvSpPr txBox="1">
            <a:spLocks noChangeArrowheads="1"/>
          </p:cNvSpPr>
          <p:nvPr>
            <p:custDataLst>
              <p:tags r:id="rId9"/>
            </p:custDataLst>
          </p:nvPr>
        </p:nvSpPr>
        <p:spPr bwMode="auto">
          <a:xfrm>
            <a:off x="49530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NOP</a:t>
            </a:r>
          </a:p>
        </p:txBody>
      </p:sp>
    </p:spTree>
    <p:custDataLst>
      <p:tags r:id="rId1"/>
    </p:custDataLst>
    <p:extLst>
      <p:ext uri="{BB962C8B-B14F-4D97-AF65-F5344CB8AC3E}">
        <p14:creationId xmlns:p14="http://schemas.microsoft.com/office/powerpoint/2010/main" val="268223890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Slide Number Placeholder 5"/>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37</a:t>
            </a:fld>
            <a:endParaRPr lang="en-US" altLang="en-US"/>
          </a:p>
        </p:txBody>
      </p:sp>
      <p:pic>
        <p:nvPicPr>
          <p:cNvPr id="102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C21E0623-1920-4C6B-B2C2-6942105B6A4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1563" y="4191000"/>
            <a:ext cx="7000875" cy="17037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E822249B-618A-4DF0-866B-70C74F2BDD0E}"/>
              </a:ext>
            </a:extLst>
          </p:cNvPr>
          <p:cNvSpPr txBox="1">
            <a:spLocks noChangeArrowheads="1"/>
          </p:cNvSpPr>
          <p:nvPr>
            <p:custDataLst>
              <p:tags r:id="rId3"/>
            </p:custDataLst>
          </p:nvPr>
        </p:nvSpPr>
        <p:spPr bwMode="auto">
          <a:xfrm>
            <a:off x="75819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$s3</a:t>
            </a:r>
          </a:p>
        </p:txBody>
      </p:sp>
      <p:sp>
        <p:nvSpPr>
          <p:cNvPr id="16" name="Rectangle 2">
            <a:extLst>
              <a:ext uri="{FF2B5EF4-FFF2-40B4-BE49-F238E27FC236}">
                <a16:creationId xmlns:a16="http://schemas.microsoft.com/office/drawing/2014/main" id="{CE1FC4B1-3A2F-465D-8E6C-8B3CC79C0DDA}"/>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Exercise</a:t>
            </a:r>
          </a:p>
        </p:txBody>
      </p:sp>
      <p:sp>
        <p:nvSpPr>
          <p:cNvPr id="7" name="Rectangle 3">
            <a:extLst>
              <a:ext uri="{FF2B5EF4-FFF2-40B4-BE49-F238E27FC236}">
                <a16:creationId xmlns:a16="http://schemas.microsoft.com/office/drawing/2014/main" id="{110071A2-D4AB-445B-B91A-E1C299C955D2}"/>
              </a:ext>
            </a:extLst>
          </p:cNvPr>
          <p:cNvSpPr txBox="1">
            <a:spLocks noChangeArrowheads="1"/>
          </p:cNvSpPr>
          <p:nvPr>
            <p:custDataLst>
              <p:tags r:id="rId5"/>
            </p:custDataLst>
          </p:nvPr>
        </p:nvSpPr>
        <p:spPr bwMode="auto">
          <a:xfrm>
            <a:off x="48006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add</a:t>
            </a:r>
          </a:p>
        </p:txBody>
      </p:sp>
      <p:sp>
        <p:nvSpPr>
          <p:cNvPr id="9" name="Rectangle 3">
            <a:extLst>
              <a:ext uri="{FF2B5EF4-FFF2-40B4-BE49-F238E27FC236}">
                <a16:creationId xmlns:a16="http://schemas.microsoft.com/office/drawing/2014/main" id="{B0197BA4-5419-4B8B-ADF9-3F2B3C6F1AE9}"/>
              </a:ext>
            </a:extLst>
          </p:cNvPr>
          <p:cNvSpPr txBox="1">
            <a:spLocks noChangeArrowheads="1"/>
          </p:cNvSpPr>
          <p:nvPr>
            <p:custDataLst>
              <p:tags r:id="rId6"/>
            </p:custDataLst>
          </p:nvPr>
        </p:nvSpPr>
        <p:spPr bwMode="auto">
          <a:xfrm>
            <a:off x="0" y="42672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7:</a:t>
            </a:r>
          </a:p>
        </p:txBody>
      </p:sp>
      <p:graphicFrame>
        <p:nvGraphicFramePr>
          <p:cNvPr id="11" name="Group 4">
            <a:extLst>
              <a:ext uri="{FF2B5EF4-FFF2-40B4-BE49-F238E27FC236}">
                <a16:creationId xmlns:a16="http://schemas.microsoft.com/office/drawing/2014/main" id="{07CC8444-624C-454B-A8F5-C4404583CC4A}"/>
              </a:ext>
            </a:extLst>
          </p:cNvPr>
          <p:cNvGraphicFramePr>
            <a:graphicFrameLocks noGrp="1"/>
          </p:cNvGraphicFramePr>
          <p:nvPr>
            <p:custDataLst>
              <p:tags r:id="rId7"/>
            </p:custDataLst>
            <p:extLst>
              <p:ext uri="{D42A27DB-BD31-4B8C-83A1-F6EECF244321}">
                <p14:modId xmlns:p14="http://schemas.microsoft.com/office/powerpoint/2010/main" val="1424981754"/>
              </p:ext>
            </p:extLst>
          </p:nvPr>
        </p:nvGraphicFramePr>
        <p:xfrm>
          <a:off x="838200" y="1247843"/>
          <a:ext cx="7034213" cy="264342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04410166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$s3</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48341326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596446267"/>
                  </a:ext>
                </a:extLst>
              </a:tr>
            </a:tbl>
          </a:graphicData>
        </a:graphic>
      </p:graphicFrame>
      <p:sp>
        <p:nvSpPr>
          <p:cNvPr id="12" name="Rectangle 3">
            <a:extLst>
              <a:ext uri="{FF2B5EF4-FFF2-40B4-BE49-F238E27FC236}">
                <a16:creationId xmlns:a16="http://schemas.microsoft.com/office/drawing/2014/main" id="{DD1F690D-E65D-41D8-9E11-7710D9E7F937}"/>
              </a:ext>
            </a:extLst>
          </p:cNvPr>
          <p:cNvSpPr txBox="1">
            <a:spLocks noChangeArrowheads="1"/>
          </p:cNvSpPr>
          <p:nvPr>
            <p:custDataLst>
              <p:tags r:id="rId8"/>
            </p:custDataLst>
          </p:nvPr>
        </p:nvSpPr>
        <p:spPr bwMode="auto">
          <a:xfrm>
            <a:off x="62865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NOP</a:t>
            </a:r>
          </a:p>
        </p:txBody>
      </p:sp>
      <p:cxnSp>
        <p:nvCxnSpPr>
          <p:cNvPr id="10" name="Straight Arrow Connector 9">
            <a:extLst>
              <a:ext uri="{FF2B5EF4-FFF2-40B4-BE49-F238E27FC236}">
                <a16:creationId xmlns:a16="http://schemas.microsoft.com/office/drawing/2014/main" id="{A8BCA32B-AD46-498E-B3AA-AA96BE209C36}"/>
              </a:ext>
            </a:extLst>
          </p:cNvPr>
          <p:cNvCxnSpPr/>
          <p:nvPr/>
        </p:nvCxnSpPr>
        <p:spPr>
          <a:xfrm>
            <a:off x="4800600" y="2819400"/>
            <a:ext cx="0" cy="914400"/>
          </a:xfrm>
          <a:prstGeom prst="straightConnector1">
            <a:avLst/>
          </a:prstGeom>
          <a:ln w="38100">
            <a:solidFill>
              <a:srgbClr val="FF0000"/>
            </a:solidFill>
            <a:headEnd type="ova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0BD8DDD-4C5F-40B3-A26A-99F3FD4873EB}"/>
              </a:ext>
            </a:extLst>
          </p:cNvPr>
          <p:cNvCxnSpPr>
            <a:cxnSpLocks/>
          </p:cNvCxnSpPr>
          <p:nvPr/>
        </p:nvCxnSpPr>
        <p:spPr>
          <a:xfrm>
            <a:off x="5105400" y="5181600"/>
            <a:ext cx="0" cy="73152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A38D4FD-C775-4C8D-A768-07E2DAED2D27}"/>
              </a:ext>
            </a:extLst>
          </p:cNvPr>
          <p:cNvCxnSpPr>
            <a:cxnSpLocks/>
          </p:cNvCxnSpPr>
          <p:nvPr/>
        </p:nvCxnSpPr>
        <p:spPr>
          <a:xfrm>
            <a:off x="8042397" y="5135880"/>
            <a:ext cx="0" cy="73152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312AB07-7D34-4062-8D9A-8E29832BDF81}"/>
              </a:ext>
            </a:extLst>
          </p:cNvPr>
          <p:cNvCxnSpPr>
            <a:cxnSpLocks/>
          </p:cNvCxnSpPr>
          <p:nvPr/>
        </p:nvCxnSpPr>
        <p:spPr>
          <a:xfrm rot="5400000">
            <a:off x="6584944" y="4400797"/>
            <a:ext cx="0" cy="2959088"/>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1094ED9-C328-4340-B7F3-ADA10E0DA89C}"/>
              </a:ext>
            </a:extLst>
          </p:cNvPr>
          <p:cNvCxnSpPr>
            <a:cxnSpLocks/>
          </p:cNvCxnSpPr>
          <p:nvPr/>
        </p:nvCxnSpPr>
        <p:spPr>
          <a:xfrm rot="5400000">
            <a:off x="5150526" y="5121709"/>
            <a:ext cx="0" cy="174064"/>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8737A4FA-B118-46FC-85FD-1DF38428559F}"/>
              </a:ext>
            </a:extLst>
          </p:cNvPr>
          <p:cNvSpPr/>
          <p:nvPr>
            <p:custDataLst>
              <p:tags r:id="rId9"/>
            </p:custDataLst>
          </p:nvPr>
        </p:nvSpPr>
        <p:spPr>
          <a:xfrm rot="5400000">
            <a:off x="5183553" y="5137704"/>
            <a:ext cx="228593" cy="163998"/>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3463463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Slide Number Placeholder 5"/>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38</a:t>
            </a:fld>
            <a:endParaRPr lang="en-US" altLang="en-US"/>
          </a:p>
        </p:txBody>
      </p:sp>
      <p:pic>
        <p:nvPicPr>
          <p:cNvPr id="102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C21E0623-1920-4C6B-B2C2-6942105B6A4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1563" y="4191000"/>
            <a:ext cx="7000875" cy="1703766"/>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2">
            <a:extLst>
              <a:ext uri="{FF2B5EF4-FFF2-40B4-BE49-F238E27FC236}">
                <a16:creationId xmlns:a16="http://schemas.microsoft.com/office/drawing/2014/main" id="{CE1FC4B1-3A2F-465D-8E6C-8B3CC79C0DDA}"/>
              </a:ext>
            </a:extLst>
          </p:cNvPr>
          <p:cNvSpPr>
            <a:spLocks noGrp="1" noChangeArrowheads="1"/>
          </p:cNvSpPr>
          <p:nvPr>
            <p:ph type="title"/>
            <p:custDataLst>
              <p:tags r:id="rId3"/>
            </p:custDataLst>
          </p:nvPr>
        </p:nvSpPr>
        <p:spPr>
          <a:xfrm>
            <a:off x="457200" y="274638"/>
            <a:ext cx="7467600" cy="1143000"/>
          </a:xfrm>
        </p:spPr>
        <p:txBody>
          <a:bodyPr/>
          <a:lstStyle/>
          <a:p>
            <a:r>
              <a:rPr lang="en-US" altLang="en-US" dirty="0"/>
              <a:t>Exercise</a:t>
            </a:r>
          </a:p>
        </p:txBody>
      </p:sp>
      <p:sp>
        <p:nvSpPr>
          <p:cNvPr id="7" name="Rectangle 3">
            <a:extLst>
              <a:ext uri="{FF2B5EF4-FFF2-40B4-BE49-F238E27FC236}">
                <a16:creationId xmlns:a16="http://schemas.microsoft.com/office/drawing/2014/main" id="{110071A2-D4AB-445B-B91A-E1C299C955D2}"/>
              </a:ext>
            </a:extLst>
          </p:cNvPr>
          <p:cNvSpPr txBox="1">
            <a:spLocks noChangeArrowheads="1"/>
          </p:cNvSpPr>
          <p:nvPr>
            <p:custDataLst>
              <p:tags r:id="rId4"/>
            </p:custDataLst>
          </p:nvPr>
        </p:nvSpPr>
        <p:spPr bwMode="auto">
          <a:xfrm>
            <a:off x="62484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add</a:t>
            </a:r>
          </a:p>
        </p:txBody>
      </p:sp>
      <p:sp>
        <p:nvSpPr>
          <p:cNvPr id="9" name="Rectangle 3">
            <a:extLst>
              <a:ext uri="{FF2B5EF4-FFF2-40B4-BE49-F238E27FC236}">
                <a16:creationId xmlns:a16="http://schemas.microsoft.com/office/drawing/2014/main" id="{B0197BA4-5419-4B8B-ADF9-3F2B3C6F1AE9}"/>
              </a:ext>
            </a:extLst>
          </p:cNvPr>
          <p:cNvSpPr txBox="1">
            <a:spLocks noChangeArrowheads="1"/>
          </p:cNvSpPr>
          <p:nvPr>
            <p:custDataLst>
              <p:tags r:id="rId5"/>
            </p:custDataLst>
          </p:nvPr>
        </p:nvSpPr>
        <p:spPr bwMode="auto">
          <a:xfrm>
            <a:off x="0" y="42672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8:</a:t>
            </a:r>
          </a:p>
        </p:txBody>
      </p:sp>
      <p:graphicFrame>
        <p:nvGraphicFramePr>
          <p:cNvPr id="11" name="Group 4">
            <a:extLst>
              <a:ext uri="{FF2B5EF4-FFF2-40B4-BE49-F238E27FC236}">
                <a16:creationId xmlns:a16="http://schemas.microsoft.com/office/drawing/2014/main" id="{07CC8444-624C-454B-A8F5-C4404583CC4A}"/>
              </a:ext>
            </a:extLst>
          </p:cNvPr>
          <p:cNvGraphicFramePr>
            <a:graphicFrameLocks noGrp="1"/>
          </p:cNvGraphicFramePr>
          <p:nvPr>
            <p:custDataLst>
              <p:tags r:id="rId6"/>
            </p:custDataLst>
            <p:extLst>
              <p:ext uri="{D42A27DB-BD31-4B8C-83A1-F6EECF244321}">
                <p14:modId xmlns:p14="http://schemas.microsoft.com/office/powerpoint/2010/main" val="2054475418"/>
              </p:ext>
            </p:extLst>
          </p:nvPr>
        </p:nvGraphicFramePr>
        <p:xfrm>
          <a:off x="838200" y="1247843"/>
          <a:ext cx="7034213" cy="264342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04410166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r>
                        <a:rPr kumimoji="0" lang="en-US" sz="2000" b="0" i="0" u="none" strike="noStrike" cap="none" normalizeH="0" baseline="0" dirty="0">
                          <a:ln>
                            <a:noFill/>
                          </a:ln>
                          <a:solidFill>
                            <a:schemeClr val="tx1"/>
                          </a:solidFill>
                          <a:effectLst/>
                          <a:latin typeface="+mn-lt"/>
                        </a:rPr>
                        <a:t> $s3</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48341326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add</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596446267"/>
                  </a:ext>
                </a:extLst>
              </a:tr>
            </a:tbl>
          </a:graphicData>
        </a:graphic>
      </p:graphicFrame>
      <p:sp>
        <p:nvSpPr>
          <p:cNvPr id="12" name="Rectangle 3">
            <a:extLst>
              <a:ext uri="{FF2B5EF4-FFF2-40B4-BE49-F238E27FC236}">
                <a16:creationId xmlns:a16="http://schemas.microsoft.com/office/drawing/2014/main" id="{DD1F690D-E65D-41D8-9E11-7710D9E7F937}"/>
              </a:ext>
            </a:extLst>
          </p:cNvPr>
          <p:cNvSpPr txBox="1">
            <a:spLocks noChangeArrowheads="1"/>
          </p:cNvSpPr>
          <p:nvPr>
            <p:custDataLst>
              <p:tags r:id="rId7"/>
            </p:custDataLst>
          </p:nvPr>
        </p:nvSpPr>
        <p:spPr bwMode="auto">
          <a:xfrm>
            <a:off x="76200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NOP</a:t>
            </a:r>
          </a:p>
        </p:txBody>
      </p:sp>
    </p:spTree>
    <p:custDataLst>
      <p:tags r:id="rId1"/>
    </p:custDataLst>
    <p:extLst>
      <p:ext uri="{BB962C8B-B14F-4D97-AF65-F5344CB8AC3E}">
        <p14:creationId xmlns:p14="http://schemas.microsoft.com/office/powerpoint/2010/main" val="33938245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08EC713-CB33-49C2-A8D5-523E0A8AB348}"/>
              </a:ext>
            </a:extLst>
          </p:cNvPr>
          <p:cNvPicPr>
            <a:picLocks noChangeAspect="1"/>
          </p:cNvPicPr>
          <p:nvPr>
            <p:custDataLst>
              <p:tags r:id="rId2"/>
            </p:custDataLst>
          </p:nvPr>
        </p:nvPicPr>
        <p:blipFill>
          <a:blip r:embed="rId12"/>
          <a:stretch>
            <a:fillRect/>
          </a:stretch>
        </p:blipFill>
        <p:spPr>
          <a:xfrm>
            <a:off x="914400" y="2321480"/>
            <a:ext cx="7289485" cy="4384120"/>
          </a:xfrm>
          <a:prstGeom prst="rect">
            <a:avLst/>
          </a:prstGeom>
        </p:spPr>
      </p:pic>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39</a:t>
            </a:fld>
            <a:endParaRPr lang="en-US" altLang="en-US"/>
          </a:p>
        </p:txBody>
      </p:sp>
      <p:sp>
        <p:nvSpPr>
          <p:cNvPr id="16" name="Rectangle 2">
            <a:extLst>
              <a:ext uri="{FF2B5EF4-FFF2-40B4-BE49-F238E27FC236}">
                <a16:creationId xmlns:a16="http://schemas.microsoft.com/office/drawing/2014/main" id="{CE1FC4B1-3A2F-465D-8E6C-8B3CC79C0DDA}"/>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Exercise</a:t>
            </a:r>
          </a:p>
        </p:txBody>
      </p:sp>
      <p:grpSp>
        <p:nvGrpSpPr>
          <p:cNvPr id="2" name="Group 1">
            <a:extLst>
              <a:ext uri="{FF2B5EF4-FFF2-40B4-BE49-F238E27FC236}">
                <a16:creationId xmlns:a16="http://schemas.microsoft.com/office/drawing/2014/main" id="{B9358D15-A740-41E7-87AD-867C933C6F5B}"/>
              </a:ext>
            </a:extLst>
          </p:cNvPr>
          <p:cNvGrpSpPr/>
          <p:nvPr/>
        </p:nvGrpSpPr>
        <p:grpSpPr>
          <a:xfrm>
            <a:off x="4953000" y="3810001"/>
            <a:ext cx="3124200" cy="2794024"/>
            <a:chOff x="4953000" y="3810001"/>
            <a:chExt cx="3124200" cy="2794024"/>
          </a:xfrm>
        </p:grpSpPr>
        <p:cxnSp>
          <p:nvCxnSpPr>
            <p:cNvPr id="7" name="Straight Connector 6">
              <a:extLst>
                <a:ext uri="{FF2B5EF4-FFF2-40B4-BE49-F238E27FC236}">
                  <a16:creationId xmlns:a16="http://schemas.microsoft.com/office/drawing/2014/main" id="{5D63181D-6039-4C06-8395-C29230C8F26B}"/>
                </a:ext>
              </a:extLst>
            </p:cNvPr>
            <p:cNvCxnSpPr>
              <a:cxnSpLocks/>
            </p:cNvCxnSpPr>
            <p:nvPr/>
          </p:nvCxnSpPr>
          <p:spPr>
            <a:xfrm>
              <a:off x="4953000" y="4102628"/>
              <a:ext cx="0" cy="246888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DBE9340-4837-4605-9274-EA6C338EA527}"/>
                </a:ext>
              </a:extLst>
            </p:cNvPr>
            <p:cNvCxnSpPr>
              <a:cxnSpLocks/>
            </p:cNvCxnSpPr>
            <p:nvPr/>
          </p:nvCxnSpPr>
          <p:spPr>
            <a:xfrm>
              <a:off x="8077200" y="4500905"/>
              <a:ext cx="0" cy="210312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DB62412-57A4-458F-8963-CD8CE77D6766}"/>
                </a:ext>
              </a:extLst>
            </p:cNvPr>
            <p:cNvCxnSpPr>
              <a:cxnSpLocks/>
            </p:cNvCxnSpPr>
            <p:nvPr/>
          </p:nvCxnSpPr>
          <p:spPr>
            <a:xfrm rot="5400000">
              <a:off x="6522720" y="5011661"/>
              <a:ext cx="0" cy="310896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9E5235A-0D87-4AE9-9F2E-E9646BEE5628}"/>
                </a:ext>
              </a:extLst>
            </p:cNvPr>
            <p:cNvCxnSpPr>
              <a:cxnSpLocks/>
            </p:cNvCxnSpPr>
            <p:nvPr/>
          </p:nvCxnSpPr>
          <p:spPr>
            <a:xfrm rot="5400000">
              <a:off x="5172784" y="3931920"/>
              <a:ext cx="0" cy="365760"/>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C85EEC09-6B98-4282-B3B3-4DC0AECD5228}"/>
                </a:ext>
              </a:extLst>
            </p:cNvPr>
            <p:cNvSpPr/>
            <p:nvPr>
              <p:custDataLst>
                <p:tags r:id="rId8"/>
              </p:custDataLst>
            </p:nvPr>
          </p:nvSpPr>
          <p:spPr>
            <a:xfrm rot="5400000">
              <a:off x="5108198" y="4035760"/>
              <a:ext cx="608009" cy="156491"/>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274EBDDB-C1B5-4CDD-800E-C6883C1ACCA0}"/>
                </a:ext>
              </a:extLst>
            </p:cNvPr>
            <p:cNvCxnSpPr>
              <a:cxnSpLocks/>
            </p:cNvCxnSpPr>
            <p:nvPr/>
          </p:nvCxnSpPr>
          <p:spPr>
            <a:xfrm rot="5400000">
              <a:off x="5186412" y="4617720"/>
              <a:ext cx="0" cy="365760"/>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C7190539-5757-4BA1-ACDF-208C533E4502}"/>
                </a:ext>
              </a:extLst>
            </p:cNvPr>
            <p:cNvSpPr/>
            <p:nvPr>
              <p:custDataLst>
                <p:tags r:id="rId9"/>
              </p:custDataLst>
            </p:nvPr>
          </p:nvSpPr>
          <p:spPr>
            <a:xfrm rot="5400000">
              <a:off x="5121827" y="4721559"/>
              <a:ext cx="608008" cy="156491"/>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3">
            <a:extLst>
              <a:ext uri="{FF2B5EF4-FFF2-40B4-BE49-F238E27FC236}">
                <a16:creationId xmlns:a16="http://schemas.microsoft.com/office/drawing/2014/main" id="{FCEB41D2-A051-47F0-B542-BD807F04F209}"/>
              </a:ext>
            </a:extLst>
          </p:cNvPr>
          <p:cNvSpPr>
            <a:spLocks noGrp="1" noChangeArrowheads="1"/>
          </p:cNvSpPr>
          <p:nvPr>
            <p:ph idx="1"/>
            <p:custDataLst>
              <p:tags r:id="rId5"/>
            </p:custDataLst>
          </p:nvPr>
        </p:nvSpPr>
        <p:spPr>
          <a:xfrm>
            <a:off x="457200" y="1295400"/>
            <a:ext cx="8458200" cy="5121275"/>
          </a:xfrm>
        </p:spPr>
        <p:txBody>
          <a:bodyPr/>
          <a:lstStyle/>
          <a:p>
            <a:r>
              <a:rPr lang="en-US" altLang="en-US" sz="2800" dirty="0"/>
              <a:t>MEM-to-EX forwarding</a:t>
            </a:r>
          </a:p>
          <a:p>
            <a:pPr lvl="1"/>
            <a:r>
              <a:rPr lang="en-US" altLang="en-US" sz="2400" dirty="0"/>
              <a:t>But why not this instead?</a:t>
            </a:r>
          </a:p>
        </p:txBody>
      </p:sp>
      <p:grpSp>
        <p:nvGrpSpPr>
          <p:cNvPr id="18" name="Group 17">
            <a:extLst>
              <a:ext uri="{FF2B5EF4-FFF2-40B4-BE49-F238E27FC236}">
                <a16:creationId xmlns:a16="http://schemas.microsoft.com/office/drawing/2014/main" id="{67518276-B18C-424F-B0B7-1F86E7C4B41E}"/>
              </a:ext>
            </a:extLst>
          </p:cNvPr>
          <p:cNvGrpSpPr/>
          <p:nvPr/>
        </p:nvGrpSpPr>
        <p:grpSpPr>
          <a:xfrm>
            <a:off x="4953000" y="3810000"/>
            <a:ext cx="2362200" cy="2761507"/>
            <a:chOff x="4953000" y="3810001"/>
            <a:chExt cx="2362200" cy="2761507"/>
          </a:xfrm>
        </p:grpSpPr>
        <p:cxnSp>
          <p:nvCxnSpPr>
            <p:cNvPr id="19" name="Straight Connector 18">
              <a:extLst>
                <a:ext uri="{FF2B5EF4-FFF2-40B4-BE49-F238E27FC236}">
                  <a16:creationId xmlns:a16="http://schemas.microsoft.com/office/drawing/2014/main" id="{E196D1F7-53E2-4510-A4A0-7B0573BEA542}"/>
                </a:ext>
              </a:extLst>
            </p:cNvPr>
            <p:cNvCxnSpPr>
              <a:cxnSpLocks/>
            </p:cNvCxnSpPr>
            <p:nvPr/>
          </p:nvCxnSpPr>
          <p:spPr>
            <a:xfrm>
              <a:off x="4953000" y="4102628"/>
              <a:ext cx="0" cy="246888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F9B71F7-8A23-44A6-8396-F9F4F781393E}"/>
                </a:ext>
              </a:extLst>
            </p:cNvPr>
            <p:cNvCxnSpPr>
              <a:cxnSpLocks/>
            </p:cNvCxnSpPr>
            <p:nvPr/>
          </p:nvCxnSpPr>
          <p:spPr>
            <a:xfrm>
              <a:off x="7315200" y="4358641"/>
              <a:ext cx="0" cy="219456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A759601-43A5-4C89-93ED-32FF5E1C79D6}"/>
                </a:ext>
              </a:extLst>
            </p:cNvPr>
            <p:cNvCxnSpPr>
              <a:cxnSpLocks/>
            </p:cNvCxnSpPr>
            <p:nvPr/>
          </p:nvCxnSpPr>
          <p:spPr>
            <a:xfrm rot="5400000">
              <a:off x="6172200" y="5423141"/>
              <a:ext cx="0" cy="228600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7AD3436-4F7C-41E1-8B70-CFBC08C67486}"/>
                </a:ext>
              </a:extLst>
            </p:cNvPr>
            <p:cNvCxnSpPr>
              <a:cxnSpLocks/>
            </p:cNvCxnSpPr>
            <p:nvPr/>
          </p:nvCxnSpPr>
          <p:spPr>
            <a:xfrm rot="5400000">
              <a:off x="5172784" y="3931920"/>
              <a:ext cx="0" cy="365760"/>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0459016B-4ED4-4BA0-BDF5-AC82004C79A4}"/>
                </a:ext>
              </a:extLst>
            </p:cNvPr>
            <p:cNvSpPr/>
            <p:nvPr>
              <p:custDataLst>
                <p:tags r:id="rId6"/>
              </p:custDataLst>
            </p:nvPr>
          </p:nvSpPr>
          <p:spPr>
            <a:xfrm rot="5400000">
              <a:off x="5108198" y="4035760"/>
              <a:ext cx="608009" cy="156491"/>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6F88225F-E870-4CDD-9558-D2C2EB3D5783}"/>
                </a:ext>
              </a:extLst>
            </p:cNvPr>
            <p:cNvCxnSpPr>
              <a:cxnSpLocks/>
            </p:cNvCxnSpPr>
            <p:nvPr/>
          </p:nvCxnSpPr>
          <p:spPr>
            <a:xfrm rot="5400000">
              <a:off x="5186412" y="4617720"/>
              <a:ext cx="0" cy="365760"/>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AA02233D-8908-4991-AC59-F70E555BB38D}"/>
                </a:ext>
              </a:extLst>
            </p:cNvPr>
            <p:cNvSpPr/>
            <p:nvPr>
              <p:custDataLst>
                <p:tags r:id="rId7"/>
              </p:custDataLst>
            </p:nvPr>
          </p:nvSpPr>
          <p:spPr>
            <a:xfrm rot="5400000">
              <a:off x="5121827" y="4721559"/>
              <a:ext cx="608008" cy="156491"/>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40830195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08EC713-CB33-49C2-A8D5-523E0A8AB348}"/>
              </a:ext>
            </a:extLst>
          </p:cNvPr>
          <p:cNvPicPr>
            <a:picLocks noChangeAspect="1"/>
          </p:cNvPicPr>
          <p:nvPr>
            <p:custDataLst>
              <p:tags r:id="rId2"/>
            </p:custDataLst>
          </p:nvPr>
        </p:nvPicPr>
        <p:blipFill>
          <a:blip r:embed="rId10"/>
          <a:stretch>
            <a:fillRect/>
          </a:stretch>
        </p:blipFill>
        <p:spPr>
          <a:xfrm>
            <a:off x="914400" y="2321480"/>
            <a:ext cx="7289485" cy="4384120"/>
          </a:xfrm>
          <a:prstGeom prst="rect">
            <a:avLst/>
          </a:prstGeom>
        </p:spPr>
      </p:pic>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40</a:t>
            </a:fld>
            <a:endParaRPr lang="en-US" altLang="en-US"/>
          </a:p>
        </p:txBody>
      </p:sp>
      <p:sp>
        <p:nvSpPr>
          <p:cNvPr id="16" name="Rectangle 2">
            <a:extLst>
              <a:ext uri="{FF2B5EF4-FFF2-40B4-BE49-F238E27FC236}">
                <a16:creationId xmlns:a16="http://schemas.microsoft.com/office/drawing/2014/main" id="{CE1FC4B1-3A2F-465D-8E6C-8B3CC79C0DDA}"/>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Exercise</a:t>
            </a:r>
          </a:p>
        </p:txBody>
      </p:sp>
      <p:sp>
        <p:nvSpPr>
          <p:cNvPr id="13" name="Rectangle 3">
            <a:extLst>
              <a:ext uri="{FF2B5EF4-FFF2-40B4-BE49-F238E27FC236}">
                <a16:creationId xmlns:a16="http://schemas.microsoft.com/office/drawing/2014/main" id="{FCEB41D2-A051-47F0-B542-BD807F04F209}"/>
              </a:ext>
            </a:extLst>
          </p:cNvPr>
          <p:cNvSpPr>
            <a:spLocks noGrp="1" noChangeArrowheads="1"/>
          </p:cNvSpPr>
          <p:nvPr>
            <p:ph idx="1"/>
            <p:custDataLst>
              <p:tags r:id="rId5"/>
            </p:custDataLst>
          </p:nvPr>
        </p:nvSpPr>
        <p:spPr>
          <a:xfrm>
            <a:off x="457200" y="1295400"/>
            <a:ext cx="8458200" cy="5121275"/>
          </a:xfrm>
        </p:spPr>
        <p:txBody>
          <a:bodyPr/>
          <a:lstStyle/>
          <a:p>
            <a:r>
              <a:rPr lang="en-US" altLang="en-US" sz="2800" dirty="0"/>
              <a:t>MEM-to-EX forwarding</a:t>
            </a:r>
          </a:p>
          <a:p>
            <a:pPr lvl="1"/>
            <a:r>
              <a:rPr lang="en-US" altLang="en-US" sz="2400" dirty="0"/>
              <a:t>But why not this instead? </a:t>
            </a:r>
            <a:r>
              <a:rPr lang="en-US" altLang="en-US" sz="2400" b="1" dirty="0">
                <a:solidFill>
                  <a:schemeClr val="accent6">
                    <a:lumMod val="75000"/>
                  </a:schemeClr>
                </a:solidFill>
              </a:rPr>
              <a:t>Critical path = MEM + EX delays</a:t>
            </a:r>
          </a:p>
        </p:txBody>
      </p:sp>
      <p:grpSp>
        <p:nvGrpSpPr>
          <p:cNvPr id="18" name="Group 17">
            <a:extLst>
              <a:ext uri="{FF2B5EF4-FFF2-40B4-BE49-F238E27FC236}">
                <a16:creationId xmlns:a16="http://schemas.microsoft.com/office/drawing/2014/main" id="{67518276-B18C-424F-B0B7-1F86E7C4B41E}"/>
              </a:ext>
            </a:extLst>
          </p:cNvPr>
          <p:cNvGrpSpPr/>
          <p:nvPr/>
        </p:nvGrpSpPr>
        <p:grpSpPr>
          <a:xfrm>
            <a:off x="4953000" y="3810000"/>
            <a:ext cx="2362200" cy="2761507"/>
            <a:chOff x="4953000" y="3810001"/>
            <a:chExt cx="2362200" cy="2761507"/>
          </a:xfrm>
        </p:grpSpPr>
        <p:cxnSp>
          <p:nvCxnSpPr>
            <p:cNvPr id="19" name="Straight Connector 18">
              <a:extLst>
                <a:ext uri="{FF2B5EF4-FFF2-40B4-BE49-F238E27FC236}">
                  <a16:creationId xmlns:a16="http://schemas.microsoft.com/office/drawing/2014/main" id="{E196D1F7-53E2-4510-A4A0-7B0573BEA542}"/>
                </a:ext>
              </a:extLst>
            </p:cNvPr>
            <p:cNvCxnSpPr>
              <a:cxnSpLocks/>
            </p:cNvCxnSpPr>
            <p:nvPr/>
          </p:nvCxnSpPr>
          <p:spPr>
            <a:xfrm>
              <a:off x="4953000" y="4102628"/>
              <a:ext cx="0" cy="246888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F9B71F7-8A23-44A6-8396-F9F4F781393E}"/>
                </a:ext>
              </a:extLst>
            </p:cNvPr>
            <p:cNvCxnSpPr>
              <a:cxnSpLocks/>
            </p:cNvCxnSpPr>
            <p:nvPr/>
          </p:nvCxnSpPr>
          <p:spPr>
            <a:xfrm>
              <a:off x="7315200" y="4358641"/>
              <a:ext cx="0" cy="219456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A759601-43A5-4C89-93ED-32FF5E1C79D6}"/>
                </a:ext>
              </a:extLst>
            </p:cNvPr>
            <p:cNvCxnSpPr>
              <a:cxnSpLocks/>
            </p:cNvCxnSpPr>
            <p:nvPr/>
          </p:nvCxnSpPr>
          <p:spPr>
            <a:xfrm rot="5400000">
              <a:off x="6172200" y="5423141"/>
              <a:ext cx="0" cy="2286000"/>
            </a:xfrm>
            <a:prstGeom prst="line">
              <a:avLst/>
            </a:prstGeom>
            <a:ln w="57150" cmpd="sng">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7AD3436-4F7C-41E1-8B70-CFBC08C67486}"/>
                </a:ext>
              </a:extLst>
            </p:cNvPr>
            <p:cNvCxnSpPr>
              <a:cxnSpLocks/>
            </p:cNvCxnSpPr>
            <p:nvPr/>
          </p:nvCxnSpPr>
          <p:spPr>
            <a:xfrm rot="5400000">
              <a:off x="5172784" y="3931920"/>
              <a:ext cx="0" cy="365760"/>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0459016B-4ED4-4BA0-BDF5-AC82004C79A4}"/>
                </a:ext>
              </a:extLst>
            </p:cNvPr>
            <p:cNvSpPr/>
            <p:nvPr>
              <p:custDataLst>
                <p:tags r:id="rId6"/>
              </p:custDataLst>
            </p:nvPr>
          </p:nvSpPr>
          <p:spPr>
            <a:xfrm rot="5400000">
              <a:off x="5108198" y="4035760"/>
              <a:ext cx="608009" cy="156491"/>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6F88225F-E870-4CDD-9558-D2C2EB3D5783}"/>
                </a:ext>
              </a:extLst>
            </p:cNvPr>
            <p:cNvCxnSpPr>
              <a:cxnSpLocks/>
            </p:cNvCxnSpPr>
            <p:nvPr/>
          </p:nvCxnSpPr>
          <p:spPr>
            <a:xfrm rot="5400000">
              <a:off x="5186412" y="4617720"/>
              <a:ext cx="0" cy="365760"/>
            </a:xfrm>
            <a:prstGeom prst="line">
              <a:avLst/>
            </a:prstGeom>
            <a:ln w="57150" cmpd="sng">
              <a:solidFill>
                <a:schemeClr val="accent6">
                  <a:lumMod val="75000"/>
                </a:schemeClr>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AA02233D-8908-4991-AC59-F70E555BB38D}"/>
                </a:ext>
              </a:extLst>
            </p:cNvPr>
            <p:cNvSpPr/>
            <p:nvPr>
              <p:custDataLst>
                <p:tags r:id="rId7"/>
              </p:custDataLst>
            </p:nvPr>
          </p:nvSpPr>
          <p:spPr>
            <a:xfrm rot="5400000">
              <a:off x="5121827" y="4721559"/>
              <a:ext cx="608008" cy="156491"/>
            </a:xfrm>
            <a:prstGeom prst="roundRect">
              <a:avLst>
                <a:gd name="adj" fmla="val 50000"/>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411827141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PERSISTENCEDATA" val="MMPROD_UIPERSISTENCEDATA"/>
  <p:tag name="MMPROD_UIDATA" val="&lt;database version=&quot;11.0&quot;&gt;&lt;object type=&quot;1&quot; unique_id=&quot;10001&quot;&gt;&lt;property id=&quot;20141&quot; value=&quot;ECE/CS 552 - Data Hazards&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f2019-DataHazards&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10002&quot;&gt;&lt;object type=&quot;3&quot; unique_id=&quot;16988&quot;&gt;&lt;property id=&quot;20148&quot; value=&quot;5&quot;/&gt;&lt;property id=&quot;20300&quot; value=&quot;Slide 1 - &amp;quot;ECE/CS 552: Data Hazards&amp;quot;&quot;/&gt;&lt;property id=&quot;20307&quot; value=&quot;495&quot;/&gt;&lt;property id=&quot;20309&quot; value=&quot;-1&quot;/&gt;&lt;/object&gt;&lt;object type=&quot;3&quot; unique_id=&quot;148396&quot;&gt;&lt;property id=&quot;20148&quot; value=&quot;5&quot;/&gt;&lt;property id=&quot;20300&quot; value=&quot;Slide 3 - &amp;quot;Program Data Dependences&amp;quot;&quot;/&gt;&lt;property id=&quot;20307&quot; value=&quot;505&quot;/&gt;&lt;property id=&quot;20309&quot; value=&quot;-1&quot;/&gt;&lt;/object&gt;&lt;object type=&quot;3&quot; unique_id=&quot;148397&quot;&gt;&lt;property id=&quot;20148&quot; value=&quot;5&quot;/&gt;&lt;property id=&quot;20300&quot; value=&quot;Slide 14 - &amp;quot;Pipeline Data Hazards&amp;quot;&quot;/&gt;&lt;property id=&quot;20307&quot; value=&quot;498&quot;/&gt;&lt;property id=&quot;20309&quot; value=&quot;-1&quot;/&gt;&lt;/object&gt;&lt;object type=&quot;3&quot; unique_id=&quot;148404&quot;&gt;&lt;property id=&quot;20148&quot; value=&quot;5&quot;/&gt;&lt;property id=&quot;20300&quot; value=&quot;Slide 9 - &amp;quot;Pipeline Data Hazards&amp;quot;&quot;/&gt;&lt;property id=&quot;20307&quot; value=&quot;506&quot;/&gt;&lt;property id=&quot;20309&quot; value=&quot;-1&quot;/&gt;&lt;/object&gt;&lt;object type=&quot;3&quot; unique_id=&quot;148624&quot;&gt;&lt;property id=&quot;20148&quot; value=&quot;5&quot;/&gt;&lt;property id=&quot;20300&quot; value=&quot;Slide 2 - &amp;quot;Pipeline Hazards&amp;quot;&quot;/&gt;&lt;property id=&quot;20307&quot; value=&quot;525&quot;/&gt;&lt;property id=&quot;20309&quot; value=&quot;-1&quot;/&gt;&lt;/object&gt;&lt;object type=&quot;3&quot; unique_id=&quot;148915&quot;&gt;&lt;property id=&quot;20148&quot; value=&quot;5&quot;/&gt;&lt;property id=&quot;20300&quot; value=&quot;Slide 4 - &amp;quot;Program Data Dependences&amp;quot;&quot;/&gt;&lt;property id=&quot;20307&quot; value=&quot;526&quot;/&gt;&lt;property id=&quot;20309&quot; value=&quot;-1&quot;/&gt;&lt;/object&gt;&lt;object type=&quot;3&quot; unique_id=&quot;149816&quot;&gt;&lt;property id=&quot;20148&quot; value=&quot;5&quot;/&gt;&lt;property id=&quot;20300&quot; value=&quot;Slide 5 - &amp;quot;Program Data Dependences&amp;quot;&quot;/&gt;&lt;property id=&quot;20307&quot; value=&quot;527&quot;/&gt;&lt;property id=&quot;20309&quot; value=&quot;-1&quot;/&gt;&lt;/object&gt;&lt;object type=&quot;3&quot; unique_id=&quot;150034&quot;&gt;&lt;property id=&quot;20148&quot; value=&quot;5&quot;/&gt;&lt;property id=&quot;20300&quot; value=&quot;Slide 6 - &amp;quot;Program Data Dependences&amp;quot;&quot;/&gt;&lt;property id=&quot;20307&quot; value=&quot;528&quot;/&gt;&lt;property id=&quot;20309&quot; value=&quot;-1&quot;/&gt;&lt;/object&gt;&lt;object type=&quot;3&quot; unique_id=&quot;150195&quot;&gt;&lt;property id=&quot;20148&quot; value=&quot;5&quot;/&gt;&lt;property id=&quot;20300&quot; value=&quot;Slide 7 - &amp;quot;Pipeline Data Hazards&amp;quot;&quot;/&gt;&lt;property id=&quot;20307&quot; value=&quot;529&quot;/&gt;&lt;property id=&quot;20309&quot; value=&quot;-1&quot;/&gt;&lt;/object&gt;&lt;object type=&quot;3&quot; unique_id=&quot;150493&quot;&gt;&lt;property id=&quot;20148&quot; value=&quot;5&quot;/&gt;&lt;property id=&quot;20300&quot; value=&quot;Slide 8 - &amp;quot;Pipeline Data Hazards&amp;quot;&quot;/&gt;&lt;property id=&quot;20307&quot; value=&quot;530&quot;/&gt;&lt;property id=&quot;20309&quot; value=&quot;-1&quot;/&gt;&lt;/object&gt;&lt;object type=&quot;3&quot; unique_id=&quot;151618&quot;&gt;&lt;property id=&quot;20148&quot; value=&quot;5&quot;/&gt;&lt;property id=&quot;20300&quot; value=&quot;Slide 11 - &amp;quot;Pipeline Data Hazards&amp;quot;&quot;/&gt;&lt;property id=&quot;20307&quot; value=&quot;532&quot;/&gt;&lt;property id=&quot;20309&quot; value=&quot;-1&quot;/&gt;&lt;/object&gt;&lt;object type=&quot;3&quot; unique_id=&quot;151769&quot;&gt;&lt;property id=&quot;20148&quot; value=&quot;5&quot;/&gt;&lt;property id=&quot;20300&quot; value=&quot;Slide 13 - &amp;quot;Pipeline Data Hazards&amp;quot;&quot;/&gt;&lt;property id=&quot;20307&quot; value=&quot;533&quot;/&gt;&lt;property id=&quot;20309&quot; value=&quot;-1&quot;/&gt;&lt;/object&gt;&lt;object type=&quot;3&quot; unique_id=&quot;151894&quot;&gt;&lt;property id=&quot;20148&quot; value=&quot;5&quot;/&gt;&lt;property id=&quot;20300&quot; value=&quot;Slide 10 - &amp;quot;Pipeline Data Hazards&amp;quot;&quot;/&gt;&lt;property id=&quot;20307&quot; value=&quot;535&quot;/&gt;&lt;property id=&quot;20309&quot; value=&quot;-1&quot;/&gt;&lt;/object&gt;&lt;object type=&quot;3&quot; unique_id=&quot;151895&quot;&gt;&lt;property id=&quot;20148&quot; value=&quot;5&quot;/&gt;&lt;property id=&quot;20300&quot; value=&quot;Slide 12 - &amp;quot;Pipeline Data Hazards&amp;quot;&quot;/&gt;&lt;property id=&quot;20307&quot; value=&quot;534&quot;/&gt;&lt;property id=&quot;20309&quot; value=&quot;-1&quot;/&gt;&lt;/object&gt;&lt;object type=&quot;3&quot; unique_id=&quot;152455&quot;&gt;&lt;property id=&quot;20148&quot; value=&quot;5&quot;/&gt;&lt;property id=&quot;20300&quot; value=&quot;Slide 15 - &amp;quot;Resolving RAW Hazards&amp;quot;&quot;/&gt;&lt;property id=&quot;20307&quot; value=&quot;536&quot;/&gt;&lt;property id=&quot;20309&quot; value=&quot;-1&quot;/&gt;&lt;/object&gt;&lt;object type=&quot;3&quot; unique_id=&quot;152819&quot;&gt;&lt;property id=&quot;20148&quot; value=&quot;5&quot;/&gt;&lt;property id=&quot;20300&quot; value=&quot;Slide 16 - &amp;quot;Resolving RAW Hazards&amp;quot;&quot;/&gt;&lt;property id=&quot;20307&quot; value=&quot;537&quot;/&gt;&lt;property id=&quot;20309&quot; value=&quot;-1&quot;/&gt;&lt;/object&gt;&lt;object type=&quot;3&quot; unique_id=&quot;153500&quot;&gt;&lt;property id=&quot;20148&quot; value=&quot;5&quot;/&gt;&lt;property id=&quot;20300&quot; value=&quot;Slide 17 - &amp;quot;Resolving RAW Hazards&amp;quot;&quot;/&gt;&lt;property id=&quot;20307&quot; value=&quot;539&quot;/&gt;&lt;property id=&quot;20309&quot; value=&quot;-1&quot;/&gt;&lt;/object&gt;&lt;object type=&quot;3&quot; unique_id=&quot;153501&quot;&gt;&lt;property id=&quot;20148&quot; value=&quot;5&quot;/&gt;&lt;property id=&quot;20300&quot; value=&quot;Slide 18 - &amp;quot;Resolving RAW Hazards&amp;quot;&quot;/&gt;&lt;property id=&quot;20307&quot; value=&quot;538&quot;/&gt;&lt;property id=&quot;20309&quot; value=&quot;-1&quot;/&gt;&lt;/object&gt;&lt;object type=&quot;3&quot; unique_id=&quot;153754&quot;&gt;&lt;property id=&quot;20148&quot; value=&quot;5&quot;/&gt;&lt;property id=&quot;20300&quot; value=&quot;Slide 19 - &amp;quot;Resolving RAW Hazards&amp;quot;&quot;/&gt;&lt;property id=&quot;20307&quot; value=&quot;540&quot;/&gt;&lt;property id=&quot;20309&quot; value=&quot;-1&quot;/&gt;&lt;/object&gt;&lt;object type=&quot;3&quot; unique_id=&quot;154162&quot;&gt;&lt;property id=&quot;20148&quot; value=&quot;5&quot;/&gt;&lt;property id=&quot;20300&quot; value=&quot;Slide 20 - &amp;quot;Resolving RAW Hazards&amp;quot;&quot;/&gt;&lt;property id=&quot;20307&quot; value=&quot;541&quot;/&gt;&lt;property id=&quot;20309&quot; value=&quot;-1&quot;/&gt;&lt;/object&gt;&lt;object type=&quot;3&quot; unique_id=&quot;155355&quot;&gt;&lt;property id=&quot;20148&quot; value=&quot;5&quot;/&gt;&lt;property id=&quot;20300&quot; value=&quot;Slide 21 - &amp;quot;Resolving RAW Hazards&amp;quot;&quot;/&gt;&lt;property id=&quot;20307&quot; value=&quot;542&quot;/&gt;&lt;property id=&quot;20309&quot; value=&quot;-1&quot;/&gt;&lt;/object&gt;&lt;object type=&quot;3&quot; unique_id=&quot;155750&quot;&gt;&lt;property id=&quot;20148&quot; value=&quot;5&quot;/&gt;&lt;property id=&quot;20300&quot; value=&quot;Slide 22 - &amp;quot;Resolving RAW Hazards&amp;quot;&quot;/&gt;&lt;property id=&quot;20307&quot; value=&quot;543&quot;/&gt;&lt;property id=&quot;20309&quot; value=&quot;-1&quot;/&gt;&lt;/object&gt;&lt;object type=&quot;3&quot; unique_id=&quot;156031&quot;&gt;&lt;property id=&quot;20148&quot; value=&quot;5&quot;/&gt;&lt;property id=&quot;20300&quot; value=&quot;Slide 23 - &amp;quot;RF Bypassing&amp;quot;&quot;/&gt;&lt;property id=&quot;20307&quot; value=&quot;544&quot;/&gt;&lt;property id=&quot;20309&quot; value=&quot;-1&quot;/&gt;&lt;/object&gt;&lt;object type=&quot;3&quot; unique_id=&quot;156483&quot;&gt;&lt;property id=&quot;20148&quot; value=&quot;5&quot;/&gt;&lt;property id=&quot;20300&quot; value=&quot;Slide 24 - &amp;quot;Data Forwarding&amp;quot;&quot;/&gt;&lt;property id=&quot;20307&quot; value=&quot;545&quot;/&gt;&lt;property id=&quot;20309&quot; value=&quot;-1&quot;/&gt;&lt;/object&gt;&lt;object type=&quot;3&quot; unique_id=&quot;156946&quot;&gt;&lt;property id=&quot;20148&quot; value=&quot;5&quot;/&gt;&lt;property id=&quot;20300&quot; value=&quot;Slide 25 - &amp;quot;EX-to-EX Forwarding&amp;quot;&quot;/&gt;&lt;property id=&quot;20307&quot; value=&quot;546&quot;/&gt;&lt;property id=&quot;20309&quot; value=&quot;-1&quot;/&gt;&lt;/object&gt;&lt;object type=&quot;3&quot; unique_id=&quot;157465&quot;&gt;&lt;property id=&quot;20148&quot; value=&quot;5&quot;/&gt;&lt;property id=&quot;20300&quot; value=&quot;Slide 26 - &amp;quot;MEM-to-EX Forwarding&amp;quot;&quot;/&gt;&lt;property id=&quot;20307&quot; value=&quot;547&quot;/&gt;&lt;property id=&quot;20309&quot; value=&quot;-1&quot;/&gt;&lt;/object&gt;&lt;object type=&quot;3&quot; unique_id=&quot;157774&quot;&gt;&lt;property id=&quot;20148&quot; value=&quot;5&quot;/&gt;&lt;property id=&quot;20300&quot; value=&quot;Slide 27 - &amp;quot;Load-to-Use Stalls&amp;quot;&quot;/&gt;&lt;property id=&quot;20307&quot; value=&quot;548&quot;/&gt;&lt;property id=&quot;20309&quot; value=&quot;-1&quot;/&gt;&lt;/object&gt;&lt;object type=&quot;3&quot; unique_id=&quot;158360&quot;&gt;&lt;property id=&quot;20148&quot; value=&quot;5&quot;/&gt;&lt;property id=&quot;20300&quot; value=&quot;Slide 29 - &amp;quot;All Together&amp;quot;&quot;/&gt;&lt;property id=&quot;20307&quot; value=&quot;551&quot;/&gt;&lt;property id=&quot;20309&quot; value=&quot;-1&quot;/&gt;&lt;/object&gt;&lt;object type=&quot;3&quot; unique_id=&quot;158361&quot;&gt;&lt;property id=&quot;20148&quot; value=&quot;5&quot;/&gt;&lt;property id=&quot;20300&quot; value=&quot;Slide 28 - &amp;quot;Data Forwarding&amp;quot;&quot;/&gt;&lt;property id=&quot;20307&quot; value=&quot;550&quot;/&gt;&lt;property id=&quot;20309&quot; value=&quot;-1&quot;/&gt;&lt;/object&gt;&lt;object type=&quot;3&quot; unique_id=&quot;160216&quot;&gt;&lt;property id=&quot;20148&quot; value=&quot;5&quot;/&gt;&lt;property id=&quot;20300&quot; value=&quot;Slide 30 - &amp;quot;Exercise&amp;quot;&quot;/&gt;&lt;property id=&quot;20307&quot; value=&quot;552&quot;/&gt;&lt;property id=&quot;20309&quot; value=&quot;-1&quot;/&gt;&lt;/object&gt;&lt;object type=&quot;3&quot; unique_id=&quot;160217&quot;&gt;&lt;property id=&quot;20148&quot; value=&quot;5&quot;/&gt;&lt;property id=&quot;20300&quot; value=&quot;Slide 31 - &amp;quot;Exercise&amp;quot;&quot;/&gt;&lt;property id=&quot;20307&quot; value=&quot;558&quot;/&gt;&lt;property id=&quot;20309&quot; value=&quot;-1&quot;/&gt;&lt;/object&gt;&lt;object type=&quot;3&quot; unique_id=&quot;160218&quot;&gt;&lt;property id=&quot;20148&quot; value=&quot;5&quot;/&gt;&lt;property id=&quot;20300&quot; value=&quot;Slide 32 - &amp;quot;Exercise&amp;quot;&quot;/&gt;&lt;property id=&quot;20307&quot; value=&quot;561&quot;/&gt;&lt;property id=&quot;20309&quot; value=&quot;-1&quot;/&gt;&lt;/object&gt;&lt;object type=&quot;3&quot; unique_id=&quot;160219&quot;&gt;&lt;property id=&quot;20148&quot; value=&quot;5&quot;/&gt;&lt;property id=&quot;20300&quot; value=&quot;Slide 33 - &amp;quot;Exercise&amp;quot;&quot;/&gt;&lt;property id=&quot;20307&quot; value=&quot;563&quot;/&gt;&lt;property id=&quot;20309&quot; value=&quot;-1&quot;/&gt;&lt;/object&gt;&lt;object type=&quot;3&quot; unique_id=&quot;160220&quot;&gt;&lt;property id=&quot;20148&quot; value=&quot;5&quot;/&gt;&lt;property id=&quot;20300&quot; value=&quot;Slide 34 - &amp;quot;Exercise&amp;quot;&quot;/&gt;&lt;property id=&quot;20307&quot; value=&quot;564&quot;/&gt;&lt;property id=&quot;20309&quot; value=&quot;-1&quot;/&gt;&lt;/object&gt;&lt;object type=&quot;3&quot; unique_id=&quot;160221&quot;&gt;&lt;property id=&quot;20148&quot; value=&quot;5&quot;/&gt;&lt;property id=&quot;20300&quot; value=&quot;Slide 35 - &amp;quot;Exercise&amp;quot;&quot;/&gt;&lt;property id=&quot;20307&quot; value=&quot;566&quot;/&gt;&lt;property id=&quot;20309&quot; value=&quot;-1&quot;/&gt;&lt;/object&gt;&lt;object type=&quot;3&quot; unique_id=&quot;160223&quot;&gt;&lt;property id=&quot;20148&quot; value=&quot;5&quot;/&gt;&lt;property id=&quot;20300&quot; value=&quot;Slide 36 - &amp;quot;Exercise&amp;quot;&quot;/&gt;&lt;property id=&quot;20307&quot; value=&quot;568&quot;/&gt;&lt;property id=&quot;20309&quot; value=&quot;-1&quot;/&gt;&lt;/object&gt;&lt;object type=&quot;3&quot; unique_id=&quot;160224&quot;&gt;&lt;property id=&quot;20148&quot; value=&quot;5&quot;/&gt;&lt;property id=&quot;20300&quot; value=&quot;Slide 37 - &amp;quot;Exercise&amp;quot;&quot;/&gt;&lt;property id=&quot;20307&quot; value=&quot;570&quot;/&gt;&lt;property id=&quot;20309&quot; value=&quot;-1&quot;/&gt;&lt;/object&gt;&lt;object type=&quot;3&quot; unique_id=&quot;160225&quot;&gt;&lt;property id=&quot;20148&quot; value=&quot;5&quot;/&gt;&lt;property id=&quot;20300&quot; value=&quot;Slide 38 - &amp;quot;Exercise&amp;quot;&quot;/&gt;&lt;property id=&quot;20307&quot; value=&quot;571&quot;/&gt;&lt;property id=&quot;20309&quot; value=&quot;-1&quot;/&gt;&lt;/object&gt;&lt;object type=&quot;3&quot; unique_id=&quot;160227&quot;&gt;&lt;property id=&quot;20148&quot; value=&quot;5&quot;/&gt;&lt;property id=&quot;20300&quot; value=&quot;Slide 39 - &amp;quot;Exercise&amp;quot;&quot;/&gt;&lt;property id=&quot;20307&quot; value=&quot;573&quot;/&gt;&lt;property id=&quot;20309&quot; value=&quot;-1&quot;/&gt;&lt;/object&gt;&lt;object type=&quot;3&quot; unique_id=&quot;167937&quot;&gt;&lt;property id=&quot;20148&quot; value=&quot;5&quot;/&gt;&lt;property id=&quot;20300&quot; value=&quot;Slide 40 - &amp;quot;Exercise&amp;quot;&quot;/&gt;&lt;property id=&quot;20307&quot; value=&quot;574&quot;/&gt;&lt;property id=&quot;20309&quot; value=&quot;-1&quot;/&gt;&lt;/object&gt;&lt;/object&gt;&lt;object type=&quot;8&quot; unique_id=&quot;10130&quot;&gt;&lt;/object&gt;&lt;object type=&quot;10&quot; unique_id=&quot;170501&quot;&gt;&lt;object type=&quot;11&quot; unique_id=&quot;170502&quot;&gt;&lt;property id=&quot;20180&quot; value=&quot;0&quot;/&gt;&lt;property id=&quot;20181&quot; value=&quot;1&quot;/&gt;&lt;property id=&quot;20183&quot; value=&quot;1&quot;/&gt;&lt;/object&gt;&lt;object type=&quot;12&quot; unique_id=&quot;170504&quot;&gt;&lt;/object&gt;&lt;/object&gt;&lt;object type=&quot;4&quot; unique_id=&quot;170503&quot;&gt;&lt;/object&gt;&lt;/object&gt;&lt;/database&gt;"/>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398844766,C:\Users\sanmi\GoogleDrive\UWMdrive\Courses\ECE552\ece552-lec09_DataHazards_pptx\Media.ppcx"/>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BC52169-A83F-484F-9438-6E0DC5E4DB22}_1.png&quot;/&gt;&lt;left val=&quot;35&quot;/&gt;&lt;top val=&quot;185&quot;/&gt;&lt;width val=&quot;648&quot;/&gt;&lt;height val=&quot;120&quot;/&gt;&lt;hasText val=&quot;1&quot;/&gt;&lt;/Image&gt;&lt;/ThreeDShapeInfo&gt;"/>
  <p:tag name="PRESENTER_SHAPETEXTINFO" val="&lt;ShapeTextInfo&gt;&lt;TableIndex row=&quot;-1&quot; col=&quot;-1&quot;&gt;&lt;linesCount val=&quot;1&quot;/&gt;&lt;lineCharCount val=&quot;24&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F0BA1BC-5A00-44DD-8643-3810554D8935}_1.png&quot;/&gt;&lt;left val=&quot;103&quot;/&gt;&lt;top val=&quot;297&quot;/&gt;&lt;width val=&quot;512&quot;/&gt;&lt;height val=&quot;146&quot;/&gt;&lt;hasText val=&quot;1&quot;/&gt;&lt;/Image&gt;&lt;/ThreeDShapeInfo&gt;"/>
  <p:tag name="PRESENTER_SHAPETEXTINFO" val="&lt;ShapeTextInfo&gt;&lt;TableIndex row=&quot;-1&quot; col=&quot;-1&quot;&gt;&lt;linesCount val=&quot;5&quot;/&gt;&lt;lineCharCount val=&quot;24&quot;/&gt;&lt;lineCharCount val=&quot;1&quot;/&gt;&lt;lineCharCount val=&quot;55&quot;/&gt;&lt;lineCharCount val=&quot;33&quot;/&gt;&lt;lineCharCount val=&quot;3&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 name="PPSNARRATION" val="2,398844766,C:\Users\sanmi\GoogleDrive\UWMdrive\Courses\ECE552\ece552-lec09_DataHazards_pptx\Media.ppcx"/>
</p:tagLst>
</file>

<file path=ppt/tags/tag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F98915A6-7382-42DB-A33A-D07369BE9C7A}_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A63412F5-148C-4380-BEF7-DE79C125B2C1}_2.png&quot;/&gt;&lt;left val=&quot;24&quot;/&gt;&lt;top val=&quot;112&quot;/&gt;&lt;width val=&quot;659&quot;/&gt;&lt;height val=&quot;390&quot;/&gt;&lt;hasText val=&quot;1&quot;/&gt;&lt;/Image&gt;&lt;/ThreeDShapeInfo&gt;"/>
  <p:tag name="PRESENTER_SHAPETEXTINFO" val="&lt;ShapeTextInfo&gt;&lt;TableIndex row=&quot;-1&quot; col=&quot;-1&quot;&gt;&lt;linesCount val=&quot;10&quot;/&gt;&lt;lineCharCount val=&quot;10&quot;/&gt;&lt;lineCharCount val=&quot;25&quot;/&gt;&lt;lineCharCount val=&quot;22&quot;/&gt;&lt;lineCharCount val=&quot;7&quot;/&gt;&lt;lineCharCount val=&quot;25&quot;/&gt;&lt;lineCharCount val=&quot;1&quot;/&gt;&lt;lineCharCount val=&quot;14&quot;/&gt;&lt;lineCharCount val=&quot;28&quot;/&gt;&lt;lineCharCount val=&quot;25&quot;/&gt;&lt;lineCharCount val=&quot;10&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F59A8564-A227-445F-8373-66498DF25A80}_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398844766,C:\Users\sanmi\GoogleDrive\UWMdrive\Courses\ECE552\ece552-lec09_DataHazards_pptx\Media.ppcx"/>
  <p:tag name="TIMING" val="|68.4|35.2"/>
</p:tagLst>
</file>

<file path=ppt/tags/tag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EA4CC07-60DA-4232-A16B-7926DA6D384D}_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4704C422-216B-4670-9D15-00CC2359A29D}_1.png_crop.png&quot;/&gt;&lt;left val=&quot;61&quot;/&gt;&lt;top val=&quot;130&quot;/&gt;&lt;width val=&quot;221&quot;/&gt;&lt;height val=&quot;24&quot;/&gt;&lt;hasText val=&quot;1&quot;/&gt;&lt;paraId val=&quot;1&quot;/&gt;&lt;/Image&gt;&lt;Image&gt;&lt;filename val=&quot;C:\Users\sanmi\Documents\My Adobe Presentations\ece552f2019-DataHazards\data\asimages\{8900C6A6-019F-4781-910B-F5B1EF2B2534}_1.png_crop.png&quot;/&gt;&lt;left val=&quot;96&quot;/&gt;&lt;top val=&quot;164&quot;/&gt;&lt;width val=&quot;477&quot;/&gt;&lt;height val=&quot;21&quot;/&gt;&lt;hasText val=&quot;1&quot;/&gt;&lt;paraId val=&quot;2&quot;/&gt;&lt;/Image&gt;&lt;Image&gt;&lt;filename val=&quot;C:\Users\sanmi\Documents\My Adobe Presentations\ece552f2019-DataHazards\data\asimages\{1C7C7B2C-2DC4-47AB-A879-36C9AE7D04D3}_1.png_crop.png&quot;/&gt;&lt;left val=&quot;96&quot;/&gt;&lt;top val=&quot;196&quot;/&gt;&lt;width val=&quot;439&quot;/&gt;&lt;height val=&quot;20&quot;/&gt;&lt;hasText val=&quot;1&quot;/&gt;&lt;paraId val=&quot;3&quot;/&gt;&lt;/Image&gt;&lt;Image&gt;&lt;filename val=&quot;C:\Users\sanmi\Documents\My Adobe Presentations\ece552f2019-DataHazards\data\asimages\{4ECEA1AF-1027-4421-A1CD-A2BE839BF7BB}_1.png_crop.png&quot;/&gt;&lt;left val=&quot;61&quot;/&gt;&lt;top val=&quot;227&quot;/&gt;&lt;width val=&quot;220&quot;/&gt;&lt;height val=&quot;24&quot;/&gt;&lt;hasText val=&quot;1&quot;/&gt;&lt;paraId val=&quot;4&quot;/&gt;&lt;/Image&gt;&lt;Image&gt;&lt;filename val=&quot;C:\Users\sanmi\Documents\My Adobe Presentations\ece552f2019-DataHazards\data\asimages\{94B6FA77-155C-4AA8-A642-5330E0266008}_1.png_crop.png&quot;/&gt;&lt;left val=&quot;96&quot;/&gt;&lt;top val=&quot;261&quot;/&gt;&lt;width val=&quot;518&quot;/&gt;&lt;height val=&quot;21&quot;/&gt;&lt;hasText val=&quot;1&quot;/&gt;&lt;paraId val=&quot;5&quot;/&gt;&lt;/Image&gt;&lt;Image&gt;&lt;filename val=&quot;C:\Users\sanmi\Documents\My Adobe Presentations\ece552f2019-DataHazards\data\asimages\{0496D1E3-60A2-4F25-ADF5-814B84C0F69E}_1.png_crop.png&quot;/&gt;&lt;left val=&quot;96&quot;/&gt;&lt;top val=&quot;293&quot;/&gt;&lt;width val=&quot;515&quot;/&gt;&lt;height val=&quot;16&quot;/&gt;&lt;hasText val=&quot;1&quot;/&gt;&lt;paraId val=&quot;6&quot;/&gt;&lt;/Image&gt;&lt;Image&gt;&lt;filename val=&quot;C:\Users\sanmi\Documents\My Adobe Presentations\ece552f2019-DataHazards\data\asimages\{E3CB46B4-54BC-4412-8570-B10DBB67EDFC}_1.png_crop.png&quot;/&gt;&lt;left val=&quot;61&quot;/&gt;&lt;top val=&quot;324&quot;/&gt;&lt;width val=&quot;253&quot;/&gt;&lt;height val=&quot;24&quot;/&gt;&lt;hasText val=&quot;1&quot;/&gt;&lt;paraId val=&quot;7&quot;/&gt;&lt;/Image&gt;&lt;Image&gt;&lt;filename val=&quot;C:\Users\sanmi\Documents\My Adobe Presentations\ece552f2019-DataHazards\data\asimages\{D3D4C1D9-2E0F-4F2F-B4F3-C2DD1456BB13}_1.png_crop.png&quot;/&gt;&lt;left val=&quot;96&quot;/&gt;&lt;top val=&quot;358&quot;/&gt;&lt;width val=&quot;540&quot;/&gt;&lt;height val=&quot;21&quot;/&gt;&lt;hasText val=&quot;1&quot;/&gt;&lt;paraId val=&quot;8&quot;/&gt;&lt;/Image&gt;&lt;Image&gt;&lt;filename val=&quot;C:\Users\sanmi\Documents\My Adobe Presentations\ece552f2019-DataHazards\data\asimages\{CE963BF5-732F-407C-B5B3-E4CE4A6E9C99}_1.png_crop.png&quot;/&gt;&lt;left val=&quot;96&quot;/&gt;&lt;top val=&quot;390&quot;/&gt;&lt;width val=&quot;523&quot;/&gt;&lt;height val=&quot;16&quot;/&gt;&lt;hasText val=&quot;1&quot;/&gt;&lt;paraId val=&quot;9&quot;/&gt;&lt;/Image&gt;&lt;/TextEffect&gt;"/>
  <p:tag name="PRESENTER_SHAPETEXTINFO" val="&lt;ShapeTextInfo&gt;&lt;TableIndex row=&quot;-1&quot; col=&quot;-1&quot;&gt;&lt;linesCount val=&quot;9&quot;/&gt;&lt;lineCharCount val=&quot;16&quot;/&gt;&lt;lineCharCount val=&quot;46&quot;/&gt;&lt;lineCharCount val=&quot;45&quot;/&gt;&lt;lineCharCount val=&quot;16&quot;/&gt;&lt;lineCharCount val=&quot;50&quot;/&gt;&lt;lineCharCount val=&quot;55&quot;/&gt;&lt;lineCharCount val=&quot;18&quot;/&gt;&lt;lineCharCount val=&quot;52&quot;/&gt;&lt;lineCharCount val=&quot;56&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009B0664-2845-4DCE-BB5B-2294C71AD652}_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398844766,C:\Users\sanmi\GoogleDrive\UWMdrive\Courses\ECE552\ece552-lec09_DataHazards_pptx\Media.ppcx"/>
  <p:tag name="TIMING" val="|14.3|21.5|16.5|9"/>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E61C59A0-AED9-4C07-978C-842BBFF2CCDE}_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E8D20380-3983-453B-880C-5D02AEA25061}_1.png_crop.png&quot;/&gt;&lt;left val=&quot;62&quot;/&gt;&lt;top val=&quot;304&quot;/&gt;&lt;width val=&quot;532&quot;/&gt;&lt;height val=&quot;27&quot;/&gt;&lt;hasText val=&quot;1&quot;/&gt;&lt;paraId val=&quot;1&quot;/&gt;&lt;/Image&gt;&lt;Image&gt;&lt;filename val=&quot;C:\Users\sanmi\Documents\My Adobe Presentations\ece552f2019-DataHazards\data\asimages\{AF30F9D9-EA72-4B31-8E1F-68251A324086}_1.png_crop.png&quot;/&gt;&lt;left val=&quot;96&quot;/&gt;&lt;top val=&quot;341&quot;/&gt;&lt;width val=&quot;187&quot;/&gt;&lt;height val=&quot;22&quot;/&gt;&lt;hasText val=&quot;1&quot;/&gt;&lt;paraId val=&quot;2&quot;/&gt;&lt;/Image&gt;&lt;Image&gt;&lt;filename val=&quot;C:\Users\sanmi\Documents\My Adobe Presentations\ece552f2019-DataHazards\data\asimages\{3E3DFF23-52FA-4F60-8951-85B166082BF6}_1.png_crop.png&quot;/&gt;&lt;left val=&quot;96&quot;/&gt;&lt;top val=&quot;375&quot;/&gt;&lt;width val=&quot;186&quot;/&gt;&lt;height val=&quot;22&quot;/&gt;&lt;hasText val=&quot;1&quot;/&gt;&lt;paraId val=&quot;3&quot;/&gt;&lt;/Image&gt;&lt;Image&gt;&lt;filename val=&quot;C:\Users\sanmi\Documents\My Adobe Presentations\ece552f2019-DataHazards\data\asimages\{E6C0B982-66F2-4D1A-8070-BA100DDB5F3B}_1.png_crop.png&quot;/&gt;&lt;left val=&quot;96&quot;/&gt;&lt;top val=&quot;408&quot;/&gt;&lt;width val=&quot;186&quot;/&gt;&lt;height val=&quot;22&quot;/&gt;&lt;hasText val=&quot;1&quot;/&gt;&lt;paraId val=&quot;4&quot;/&gt;&lt;/Image&gt;&lt;Image&gt;&lt;filename val=&quot;C:\Users\sanmi\Documents\My Adobe Presentations\ece552f2019-DataHazards\data\asimages\{1C6DAAE0-AC59-4416-BD10-2C678F33B4D9}_1.png_crop.png&quot;/&gt;&lt;left val=&quot;96&quot;/&gt;&lt;top val=&quot;442&quot;/&gt;&lt;width val=&quot;187&quot;/&gt;&lt;height val=&quot;22&quot;/&gt;&lt;hasText val=&quot;1&quot;/&gt;&lt;paraId val=&quot;5&quot;/&gt;&lt;/Image&gt;&lt;/TextEffect&gt;"/>
  <p:tag name="PRESENTER_SHAPETEXTINFO" val="&lt;ShapeTextInfo&gt;&lt;TableIndex row=&quot;-1&quot; col=&quot;-1&quot;&gt;&lt;linesCount val=&quot;5&quot;/&gt;&lt;lineCharCount val=&quot;41&quot;/&gt;&lt;lineCharCount val=&quot;11&quot;/&gt;&lt;lineCharCount val=&quot;11&quot;/&gt;&lt;lineCharCount val=&quot;11&quot;/&gt;&lt;lineCharCount val=&quot;10&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AD95FF94-1D46-411F-A6B9-250B9ABEB523}_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2B49F95F-0A39-4B3B-9D91-B32207557935}_4.png&quot;/&gt;&lt;left val=&quot;144&quot;/&gt;&lt;top val=&quot;124&quot;/&gt;&lt;width val=&quot;431&quot;/&gt;&lt;height val=&quot;166&quot;/&gt;&lt;hasText val=&quot;1&quot;/&gt;&lt;/Image&gt;&lt;/ThreeDShapeInfo&gt;"/>
  <p:tag name="PRESENTER_SHAPETEXTINFO" val="&lt;ShapeTextInfo&gt;&lt;TableIndex row=&quot;1&quot; col=&quot;1&quot;&gt;&lt;linesCount val=&quot;1&quot;/&gt;&lt;lineCharCount val=&quot;3&quot;/&gt;&lt;/TableIndex&gt;&lt;TableIndex row=&quot;1&quot; col=&quot;2&quot;&gt;&lt;linesCount val=&quot;1&quot;/&gt;&lt;lineCharCount val=&quot;2&quot;/&gt;&lt;/TableIndex&gt;&lt;TableIndex row=&quot;1&quot; col=&quot;3&quot;&gt;&lt;linesCount val=&quot;1&quot;/&gt;&lt;lineCharCount val=&quot;11&quot;/&gt;&lt;/TableIndex&gt;&lt;TableIndex row=&quot;2&quot; col=&quot;1&quot;&gt;&lt;linesCount val=&quot;1&quot;/&gt;&lt;lineCharCount val=&quot;3&quot;/&gt;&lt;/TableIndex&gt;&lt;TableIndex row=&quot;2&quot; col=&quot;2&quot;&gt;&lt;linesCount val=&quot;1&quot;/&gt;&lt;lineCharCount val=&quot;3&quot;/&gt;&lt;/TableIndex&gt;&lt;TableIndex row=&quot;2&quot; col=&quot;3&quot;&gt;&lt;linesCount val=&quot;1&quot;/&gt;&lt;lineCharCount val=&quot;1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11&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11&quot;/&gt;&lt;/TableIndex&gt;&lt;TableIndex row=&quot;5&quot; col=&quot;1&quot;&gt;&lt;linesCount val=&quot;1&quot;/&gt;&lt;lineCharCount val=&quot;3&quot;/&gt;&lt;/TableIndex&gt;&lt;TableIndex row=&quot;5&quot; col=&quot;2&quot;&gt;&lt;linesCount val=&quot;1&quot;/&gt;&lt;lineCharCount val=&quot;3&quot;/&gt;&lt;/TableIndex&gt;&lt;TableIndex row=&quot;5&quot; col=&quot;3&quot;&gt;&lt;linesCount val=&quot;1&quot;/&gt;&lt;lineCharCount val=&quot;16&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398844766,C:\Users\sanmi\GoogleDrive\UWMdrive\Courses\ECE552\ece552-lec09_DataHazards_pptx\Media.ppcx"/>
  <p:tag name="TIMING" val="|9.3|15.7|6.5"/>
</p:tagLst>
</file>

<file path=ppt/tags/tag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4AD63B0-59B3-44ED-900D-31BED5A9A2E4}_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50684D4E-9694-416F-9442-372455B65291}_1.png_crop.png&quot;/&gt;&lt;left val=&quot;62&quot;/&gt;&lt;top val=&quot;304&quot;/&gt;&lt;width val=&quot;532&quot;/&gt;&lt;height val=&quot;27&quot;/&gt;&lt;hasText val=&quot;1&quot;/&gt;&lt;paraId val=&quot;1&quot;/&gt;&lt;/Image&gt;&lt;Image&gt;&lt;filename val=&quot;C:\Users\sanmi\Documents\My Adobe Presentations\ece552f2019-DataHazards\data\asimages\{180F20EE-D900-4F89-BB44-69566D02DCD6}_1.png_crop.png&quot;/&gt;&lt;left val=&quot;96&quot;/&gt;&lt;top val=&quot;341&quot;/&gt;&lt;width val=&quot;187&quot;/&gt;&lt;height val=&quot;22&quot;/&gt;&lt;hasText val=&quot;1&quot;/&gt;&lt;paraId val=&quot;2&quot;/&gt;&lt;/Image&gt;&lt;Image&gt;&lt;filename val=&quot;C:\Users\sanmi\Documents\My Adobe Presentations\ece552f2019-DataHazards\data\asimages\{28E55A46-D141-4499-B730-64525E42D6B4}_1.png_crop.png&quot;/&gt;&lt;left val=&quot;96&quot;/&gt;&lt;top val=&quot;375&quot;/&gt;&lt;width val=&quot;187&quot;/&gt;&lt;height val=&quot;22&quot;/&gt;&lt;hasText val=&quot;1&quot;/&gt;&lt;paraId val=&quot;3&quot;/&gt;&lt;/Image&gt;&lt;Image&gt;&lt;filename val=&quot;C:\Users\sanmi\Documents\My Adobe Presentations\ece552f2019-DataHazards\data\asimages\{F927BBBD-D3AA-46BD-8047-177F669199B1}_1.png_crop.png&quot;/&gt;&lt;left val=&quot;96&quot;/&gt;&lt;top val=&quot;408&quot;/&gt;&lt;width val=&quot;187&quot;/&gt;&lt;height val=&quot;22&quot;/&gt;&lt;hasText val=&quot;1&quot;/&gt;&lt;paraId val=&quot;4&quot;/&gt;&lt;/Image&gt;&lt;/TextEffect&gt;"/>
  <p:tag name="PRESENTER_SHAPETEXTINFO" val="&lt;ShapeTextInfo&gt;&lt;TableIndex row=&quot;-1&quot; col=&quot;-1&quot;&gt;&lt;linesCount val=&quot;4&quot;/&gt;&lt;lineCharCount val=&quot;41&quot;/&gt;&lt;lineCharCount val=&quot;11&quot;/&gt;&lt;lineCharCount val=&quot;11&quot;/&gt;&lt;lineCharCount val=&quot;1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FFB698D2-C436-4A16-8213-7D57FF0C0970}_5.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E9D1828-D8BC-43B7-A250-3D1A5E8BAE93}_5.png&quot;/&gt;&lt;left val=&quot;144&quot;/&gt;&lt;top val=&quot;124&quot;/&gt;&lt;width val=&quot;431&quot;/&gt;&lt;height val=&quot;166&quot;/&gt;&lt;hasText val=&quot;1&quot;/&gt;&lt;/Image&gt;&lt;/ThreeDShapeInfo&gt;"/>
  <p:tag name="PRESENTER_SHAPETEXTINFO" val="&lt;ShapeTextInfo&gt;&lt;TableIndex row=&quot;1&quot; col=&quot;1&quot;&gt;&lt;linesCount val=&quot;1&quot;/&gt;&lt;lineCharCount val=&quot;3&quot;/&gt;&lt;/TableIndex&gt;&lt;TableIndex row=&quot;1&quot; col=&quot;2&quot;&gt;&lt;linesCount val=&quot;1&quot;/&gt;&lt;lineCharCount val=&quot;2&quot;/&gt;&lt;/TableIndex&gt;&lt;TableIndex row=&quot;1&quot; col=&quot;3&quot;&gt;&lt;linesCount val=&quot;1&quot;/&gt;&lt;lineCharCount val=&quot;11&quot;/&gt;&lt;/TableIndex&gt;&lt;TableIndex row=&quot;2&quot; col=&quot;1&quot;&gt;&lt;linesCount val=&quot;1&quot;/&gt;&lt;lineCharCount val=&quot;3&quot;/&gt;&lt;/TableIndex&gt;&lt;TableIndex row=&quot;2&quot; col=&quot;2&quot;&gt;&lt;linesCount val=&quot;1&quot;/&gt;&lt;lineCharCount val=&quot;3&quot;/&gt;&lt;/TableIndex&gt;&lt;TableIndex row=&quot;2&quot; col=&quot;3&quot;&gt;&lt;linesCount val=&quot;1&quot;/&gt;&lt;lineCharCount val=&quot;1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11&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11&quot;/&gt;&lt;/TableIndex&gt;&lt;TableIndex row=&quot;5&quot; col=&quot;1&quot;&gt;&lt;linesCount val=&quot;1&quot;/&gt;&lt;lineCharCount val=&quot;3&quot;/&gt;&lt;/TableIndex&gt;&lt;TableIndex row=&quot;5&quot; col=&quot;2&quot;&gt;&lt;linesCount val=&quot;1&quot;/&gt;&lt;lineCharCount val=&quot;3&quot;/&gt;&lt;/TableIndex&gt;&lt;TableIndex row=&quot;5&quot; col=&quot;3&quot;&gt;&lt;linesCount val=&quot;1&quot;/&gt;&lt;lineCharCount val=&quot;16&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398844766,C:\Users\sanmi\GoogleDrive\UWMdrive\Courses\ECE552\ece552-lec09_DataHazards_pptx\Media.ppcx"/>
  <p:tag name="TIMING" val="|11"/>
</p:tagLst>
</file>

<file path=ppt/tags/tag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CD3853E-27E1-493A-9997-0BF47E77E585}_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295838C6-BA1D-4D04-9565-14BF40E7B429}_1.png_crop.png&quot;/&gt;&lt;left val=&quot;62&quot;/&gt;&lt;top val=&quot;304&quot;/&gt;&lt;width val=&quot;542&quot;/&gt;&lt;height val=&quot;27&quot;/&gt;&lt;hasText val=&quot;1&quot;/&gt;&lt;paraId val=&quot;1&quot;/&gt;&lt;/Image&gt;&lt;Image&gt;&lt;filename val=&quot;C:\Users\sanmi\Documents\My Adobe Presentations\ece552f2019-DataHazards\data\asimages\{DB5681E4-43A8-47AC-BB90-1C039175113C}_1.png_crop.png&quot;/&gt;&lt;left val=&quot;96&quot;/&gt;&lt;top val=&quot;341&quot;/&gt;&lt;width val=&quot;187&quot;/&gt;&lt;height val=&quot;22&quot;/&gt;&lt;hasText val=&quot;1&quot;/&gt;&lt;paraId val=&quot;2&quot;/&gt;&lt;/Image&gt;&lt;/TextEffect&gt;"/>
  <p:tag name="PRESENTER_SHAPETEXTINFO" val="&lt;ShapeTextInfo&gt;&lt;TableIndex row=&quot;-1&quot; col=&quot;-1&quot;&gt;&lt;linesCount val=&quot;2&quot;/&gt;&lt;lineCharCount val=&quot;41&quot;/&gt;&lt;lineCharCount val=&quot;10&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AE964363-E3AA-4261-9FB2-3F7B58408A62}_6.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87CEF886-A7AC-4E4D-A7F8-E143AA47B220}_6.png&quot;/&gt;&lt;left val=&quot;144&quot;/&gt;&lt;top val=&quot;124&quot;/&gt;&lt;width val=&quot;431&quot;/&gt;&lt;height val=&quot;166&quot;/&gt;&lt;hasText val=&quot;1&quot;/&gt;&lt;/Image&gt;&lt;/ThreeDShapeInfo&gt;"/>
  <p:tag name="PRESENTER_SHAPETEXTINFO" val="&lt;ShapeTextInfo&gt;&lt;TableIndex row=&quot;1&quot; col=&quot;1&quot;&gt;&lt;linesCount val=&quot;1&quot;/&gt;&lt;lineCharCount val=&quot;3&quot;/&gt;&lt;/TableIndex&gt;&lt;TableIndex row=&quot;1&quot; col=&quot;2&quot;&gt;&lt;linesCount val=&quot;1&quot;/&gt;&lt;lineCharCount val=&quot;2&quot;/&gt;&lt;/TableIndex&gt;&lt;TableIndex row=&quot;1&quot; col=&quot;3&quot;&gt;&lt;linesCount val=&quot;1&quot;/&gt;&lt;lineCharCount val=&quot;11&quot;/&gt;&lt;/TableIndex&gt;&lt;TableIndex row=&quot;2&quot; col=&quot;1&quot;&gt;&lt;linesCount val=&quot;1&quot;/&gt;&lt;lineCharCount val=&quot;3&quot;/&gt;&lt;/TableIndex&gt;&lt;TableIndex row=&quot;2&quot; col=&quot;2&quot;&gt;&lt;linesCount val=&quot;1&quot;/&gt;&lt;lineCharCount val=&quot;3&quot;/&gt;&lt;/TableIndex&gt;&lt;TableIndex row=&quot;2&quot; col=&quot;3&quot;&gt;&lt;linesCount val=&quot;1&quot;/&gt;&lt;lineCharCount val=&quot;1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11&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11&quot;/&gt;&lt;/TableIndex&gt;&lt;TableIndex row=&quot;5&quot; col=&quot;1&quot;&gt;&lt;linesCount val=&quot;1&quot;/&gt;&lt;lineCharCount val=&quot;3&quot;/&gt;&lt;/TableIndex&gt;&lt;TableIndex row=&quot;5&quot; col=&quot;2&quot;&gt;&lt;linesCount val=&quot;1&quot;/&gt;&lt;lineCharCount val=&quot;3&quot;/&gt;&lt;/TableIndex&gt;&lt;TableIndex row=&quot;5&quot; col=&quot;3&quot;&gt;&lt;linesCount val=&quot;1&quot;/&gt;&lt;lineCharCount val=&quot;16&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398844766,C:\Users\sanmi\GoogleDrive\UWMdrive\Courses\ECE552\ece552-lec09_DataHazards_pptx\Media.ppcx"/>
</p:tagLst>
</file>

<file path=ppt/tags/tag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BD4B8CE-791C-4D6A-9278-75CDA910CD4A}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5B042E34-49C0-431C-B7B1-88C1C9841172}_7.png&quot;/&gt;&lt;left val=&quot;27&quot;/&gt;&lt;top val=&quot;120&quot;/&gt;&lt;width val=&quot;657&quot;/&gt;&lt;height val=&quot;362&quot;/&gt;&lt;hasText val=&quot;1&quot;/&gt;&lt;/Image&gt;&lt;/ThreeDShapeInfo&gt;"/>
  <p:tag name="PRESENTER_SHAPETEXTINFO" val="&lt;ShapeTextInfo&gt;&lt;TableIndex row=&quot;-1&quot; col=&quot;-1&quot;&gt;&lt;linesCount val=&quot;7&quot;/&gt;&lt;lineCharCount val=&quot;27&quot;/&gt;&lt;lineCharCount val=&quot;44&quot;/&gt;&lt;lineCharCount val=&quot;49&quot;/&gt;&lt;lineCharCount val=&quot;1&quot;/&gt;&lt;lineCharCount val=&quot;16&quot;/&gt;&lt;lineCharCount val=&quot;51&quot;/&gt;&lt;lineCharCount val=&quot;45&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E32B0A5-CFF7-4101-A249-096263B42054}_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 name="PPSNARRATION" val="8,398844766,C:\Users\sanmi\GoogleDrive\UWMdrive\Courses\ECE552\ece552-lec09_DataHazards_pptx\Media.ppcx"/>
  <p:tag name="TIMING" val="|11.8"/>
</p:tagLst>
</file>

<file path=ppt/tags/tag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358A3C3-A0BC-42E1-B20A-A05AC71CB3D1}_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81936661-0832-492B-A40D-AC845A6BBF03}_1.png_crop.png&quot;/&gt;&lt;left val=&quot;44&quot;/&gt;&lt;top val=&quot;136&quot;/&gt;&lt;width val=&quot;631&quot;/&gt;&lt;height val=&quot;58&quot;/&gt;&lt;hasText val=&quot;1&quot;/&gt;&lt;paraId val=&quot;1&quot;/&gt;&lt;/Image&gt;&lt;Image&gt;&lt;filename val=&quot;C:\Users\sanmi\Documents\My Adobe Presentations\ece552f2019-DataHazards\data\asimages\{5AB8DE22-BEA9-474A-8A48-6FB95C167B01}_1.png_crop.png&quot;/&gt;&lt;left val=&quot;78&quot;/&gt;&lt;top val=&quot;208&quot;/&gt;&lt;width val=&quot;474&quot;/&gt;&lt;height val=&quot;20&quot;/&gt;&lt;hasText val=&quot;1&quot;/&gt;&lt;paraId val=&quot;2&quot;/&gt;&lt;/Image&gt;&lt;Image&gt;&lt;filename val=&quot;C:\Users\sanmi\Documents\My Adobe Presentations\ece552f2019-DataHazards\data\asimages\{0DAB12AC-0A7B-4312-9F07-8D931C9D19BE}_1.png_crop.png&quot;/&gt;&lt;left val=&quot;78&quot;/&gt;&lt;top val=&quot;242&quot;/&gt;&lt;width val=&quot;471&quot;/&gt;&lt;height val=&quot;20&quot;/&gt;&lt;hasText val=&quot;1&quot;/&gt;&lt;paraId val=&quot;3&quot;/&gt;&lt;/Image&gt;&lt;/TextEffect&gt;"/>
  <p:tag name="PRESENTER_SHAPETEXTINFO" val="&lt;ShapeTextInfo&gt;&lt;TableIndex row=&quot;-1&quot; col=&quot;-1&quot;&gt;&lt;linesCount val=&quot;4&quot;/&gt;&lt;lineCharCount val=&quot;51&quot;/&gt;&lt;lineCharCount val=&quot;10&quot;/&gt;&lt;lineCharCount val=&quot;49&quot;/&gt;&lt;lineCharCount val=&quot;42&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7478FFC-F78B-4401-8632-137FEE024748}_8.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398844766,C:\Users\sanmi\GoogleDrive\UWMdrive\Courses\ECE552\ece552-lec09_DataHazards_pptx\Media.ppcx"/>
  <p:tag name="TIMING" val="|26.7"/>
</p:tagLst>
</file>

<file path=ppt/tags/tag68.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7BC107CB-C271-4DB2-9742-0B0D2E7A87AC}_1.png_crop.png&quot;/&gt;&lt;left val=&quot;44&quot;/&gt;&lt;top val=&quot;136&quot;/&gt;&lt;width val=&quot;437&quot;/&gt;&lt;height val=&quot;24&quot;/&gt;&lt;hasText val=&quot;1&quot;/&gt;&lt;paraId val=&quot;1&quot;/&gt;&lt;/Image&gt;&lt;Image&gt;&lt;filename val=&quot;C:\Users\sanmi\Documents\My Adobe Presentations\ece552f2019-DataHazards\data\asimages\{46825281-4413-49A2-A19C-5013B4477DB8}_1.png_crop.png&quot;/&gt;&lt;left val=&quot;78&quot;/&gt;&lt;top val=&quot;173&quot;/&gt;&lt;width val=&quot;606&quot;/&gt;&lt;height val=&quot;80&quot;/&gt;&lt;hasText val=&quot;1&quot;/&gt;&lt;paraId val=&quot;2&quot;/&gt;&lt;/Image&gt;&lt;/TextEffect&gt;"/>
  <p:tag name="PRESENTER_SHAPETEXTINFO" val="&lt;ShapeTextInfo&gt;&lt;TableIndex row=&quot;-1&quot; col=&quot;-1&quot;&gt;&lt;linesCount val=&quot;4&quot;/&gt;&lt;lineCharCount val=&quot;36&quot;/&gt;&lt;lineCharCount val=&quot;65&quot;/&gt;&lt;lineCharCount val=&quot;55&quot;/&gt;&lt;lineCharCount val=&quot;17&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F59CD93-D29E-4E58-817E-43F2433F54D6}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9EB69BE-444C-439B-9BBC-E2485B2DB9FB}_9.png&quot;/&gt;&lt;left val=&quot;53&quot;/&gt;&lt;top val=&quot;281&quot;/&gt;&lt;width val=&quot;612&quot;/&gt;&lt;height val=&quot;175&quot;/&gt;&lt;hasText val=&quot;1&quot;/&gt;&lt;/Image&gt;&lt;/ThreeDShapeInfo&gt;"/>
  <p:tag name="PRESENTER_SHAPETEXTINFO" val="&lt;ShapeTextInfo&gt;&lt;TableIndex row=&quot;-1&quot; col=&quot;-1&quot;&gt;&lt;linesCount val=&quot;3&quot;/&gt;&lt;lineCharCount val=&quot;15&quot;/&gt;&lt;lineCharCount val=&quot;15&quot;/&gt;&lt;lineCharCount val=&quot;1&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80920AD4-175C-47CC-BAE5-77FADF8DDB60}_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C361CC5-E30A-4A58-A0AC-6050D26D5DF5}_9.png&quot;/&gt;&lt;left val=&quot;55&quot;/&gt;&lt;top val=&quot;379&quot;/&gt;&lt;width val=&quot;566&quot;/&gt;&lt;height val=&quot;12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398844766,C:\Users\sanmi\GoogleDrive\UWMdrive\Courses\ECE552\ece552-lec09_DataHazards_pptx\Media.ppcx"/>
</p:tagLst>
</file>

<file path=ppt/tags/tag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48818FF-703A-4511-80F5-B38C9BB75094}_1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0F769B8B-D8CE-4135-8010-399B369E74DB}_10.png&quot;/&gt;&lt;left val=&quot;27&quot;/&gt;&lt;top val=&quot;120&quot;/&gt;&lt;width val=&quot;675&quot;/&gt;&lt;height val=&quot;409&quot;/&gt;&lt;hasText val=&quot;1&quot;/&gt;&lt;/Image&gt;&lt;/ThreeDShapeInfo&gt;"/>
  <p:tag name="PRESENTER_SHAPETEXTINFO" val="&lt;ShapeTextInfo&gt;&lt;TableIndex row=&quot;-1&quot; col=&quot;-1&quot;&gt;&lt;linesCount val=&quot;6&quot;/&gt;&lt;lineCharCount val=&quot;51&quot;/&gt;&lt;lineCharCount val=&quot;10&quot;/&gt;&lt;lineCharCount val=&quot;49&quot;/&gt;&lt;lineCharCount val=&quot;43&quot;/&gt;&lt;lineCharCount val=&quot;4&quot;/&gt;&lt;lineCharCount val=&quot;42&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F00B080-26C3-492F-A645-2AB36805E103}_10.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398844766,C:\Users\sanmi\GoogleDrive\UWMdrive\Courses\ECE552\ece552-lec09_DataHazards_pptx\Media.ppcx"/>
  <p:tag name="TIMING" val="|23.2"/>
</p:tagLst>
</file>

<file path=ppt/tags/tag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B9332C9-B65F-4BA2-91DD-99B1F14F9159}_11.png&quot;/&gt;&lt;left val=&quot;55&quot;/&gt;&lt;top val=&quot;379&quot;/&gt;&lt;width val=&quot;566&quot;/&gt;&lt;height val=&quot;12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2D3D2B16-D6C0-4B80-9B6F-1A7F69244454}_1.png_crop.png&quot;/&gt;&lt;left val=&quot;44&quot;/&gt;&lt;top val=&quot;136&quot;/&gt;&lt;width val=&quot;437&quot;/&gt;&lt;height val=&quot;24&quot;/&gt;&lt;hasText val=&quot;1&quot;/&gt;&lt;paraId val=&quot;1&quot;/&gt;&lt;/Image&gt;&lt;Image&gt;&lt;filename val=&quot;C:\Users\sanmi\Documents\My Adobe Presentations\ece552f2019-DataHazards\data\asimages\{7680C2E9-D7FB-45FD-81D5-37D3854D8A94}_1.png_crop.png&quot;/&gt;&lt;left val=&quot;78&quot;/&gt;&lt;top val=&quot;174&quot;/&gt;&lt;width val=&quot;587&quot;/&gt;&lt;height val=&quot;78&quot;/&gt;&lt;hasText val=&quot;1&quot;/&gt;&lt;paraId val=&quot;2&quot;/&gt;&lt;/Image&gt;&lt;/TextEffect&gt;"/>
  <p:tag name="PRESENTER_SHAPETEXTINFO" val="&lt;ShapeTextInfo&gt;&lt;TableIndex row=&quot;-1&quot; col=&quot;-1&quot;&gt;&lt;linesCount val=&quot;4&quot;/&gt;&lt;lineCharCount val=&quot;36&quot;/&gt;&lt;lineCharCount val=&quot;59&quot;/&gt;&lt;lineCharCount val=&quot;60&quot;/&gt;&lt;lineCharCount val=&quot;32&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0EFB1201-F68C-49EC-B36D-3039293A008E}_1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561560CF-BB0C-48C6-B016-BD34202E636E}_11.png&quot;/&gt;&lt;left val=&quot;53&quot;/&gt;&lt;top val=&quot;281&quot;/&gt;&lt;width val=&quot;612&quot;/&gt;&lt;height val=&quot;175&quot;/&gt;&lt;hasText val=&quot;1&quot;/&gt;&lt;/Image&gt;&lt;/ThreeDShapeInfo&gt;"/>
  <p:tag name="PRESENTER_SHAPETEXTINFO" val="&lt;ShapeTextInfo&gt;&lt;TableIndex row=&quot;-1&quot; col=&quot;-1&quot;&gt;&lt;linesCount val=&quot;3&quot;/&gt;&lt;lineCharCount val=&quot;15&quot;/&gt;&lt;lineCharCount val=&quot;15&quot;/&gt;&lt;lineCharCount val=&quot;1&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003FD525-6819-4E7E-BF08-2FA57AFB3F47}_1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 name="PPSNARRATION" val="12,398844766,C:\Users\sanmi\GoogleDrive\UWMdrive\Courses\ECE552\ece552-lec09_DataHazards_pptx\Media.ppcx"/>
</p:tagLst>
</file>

<file path=ppt/tags/tag8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E0A081E5-9650-400F-8A3D-972BBE71D783}_1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1C85033-0DA6-4168-B5AE-63AFF09F54E8}_12.png&quot;/&gt;&lt;left val=&quot;27&quot;/&gt;&lt;top val=&quot;120&quot;/&gt;&lt;width val=&quot;675&quot;/&gt;&lt;height val=&quot;409&quot;/&gt;&lt;hasText val=&quot;1&quot;/&gt;&lt;/Image&gt;&lt;/ThreeDShapeInfo&gt;"/>
  <p:tag name="PRESENTER_SHAPETEXTINFO" val="&lt;ShapeTextInfo&gt;&lt;TableIndex row=&quot;-1&quot; col=&quot;-1&quot;&gt;&lt;linesCount val=&quot;8&quot;/&gt;&lt;lineCharCount val=&quot;51&quot;/&gt;&lt;lineCharCount val=&quot;10&quot;/&gt;&lt;lineCharCount val=&quot;49&quot;/&gt;&lt;lineCharCount val=&quot;43&quot;/&gt;&lt;lineCharCount val=&quot;4&quot;/&gt;&lt;lineCharCount val=&quot;43&quot;/&gt;&lt;lineCharCount val=&quot;3&quot;/&gt;&lt;lineCharCount val=&quot;42&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2CAA9E82-C824-47ED-B186-2BD318441000}_1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 name="PPSNARRATION" val="13,398844766,C:\Users\sanmi\GoogleDrive\UWMdrive\Courses\ECE552\ece552-lec09_DataHazards_pptx\Media.ppcx"/>
  <p:tag name="TIMING" val="|12.9"/>
</p:tagLst>
</file>

<file path=ppt/tags/tag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4E382501-151F-469D-967F-5DC036791E12}_13.png&quot;/&gt;&lt;left val=&quot;55&quot;/&gt;&lt;top val=&quot;379&quot;/&gt;&lt;width val=&quot;566&quot;/&gt;&lt;height val=&quot;12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5BFA6AD9-28CF-4F53-919F-C2C4C876B78A}_1.png_crop.png&quot;/&gt;&lt;left val=&quot;44&quot;/&gt;&lt;top val=&quot;136&quot;/&gt;&lt;width val=&quot;446&quot;/&gt;&lt;height val=&quot;24&quot;/&gt;&lt;hasText val=&quot;1&quot;/&gt;&lt;paraId val=&quot;1&quot;/&gt;&lt;/Image&gt;&lt;Image&gt;&lt;filename val=&quot;C:\Users\sanmi\Documents\My Adobe Presentations\ece552f2019-DataHazards\data\asimages\{69BF6542-F37E-4558-80B6-0ABFB5048564}_1.png_crop.png&quot;/&gt;&lt;left val=&quot;78&quot;/&gt;&lt;top val=&quot;174&quot;/&gt;&lt;width val=&quot;613&quot;/&gt;&lt;height val=&quot;78&quot;/&gt;&lt;hasText val=&quot;1&quot;/&gt;&lt;paraId val=&quot;2&quot;/&gt;&lt;/Image&gt;&lt;/TextEffect&gt;"/>
  <p:tag name="PRESENTER_SHAPETEXTINFO" val="&lt;ShapeTextInfo&gt;&lt;TableIndex row=&quot;-1&quot; col=&quot;-1&quot;&gt;&lt;linesCount val=&quot;4&quot;/&gt;&lt;lineCharCount val=&quot;36&quot;/&gt;&lt;lineCharCount val=&quot;61&quot;/&gt;&lt;lineCharCount val=&quot;61&quot;/&gt;&lt;lineCharCount val=&quot;24&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399462D-55AC-44EB-A8C8-CEC7AAA0AB55}_1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9C6AFCE-63BF-4C7F-B8CF-36AF5F9AF5AF}_13.png&quot;/&gt;&lt;left val=&quot;53&quot;/&gt;&lt;top val=&quot;281&quot;/&gt;&lt;width val=&quot;612&quot;/&gt;&lt;height val=&quot;175&quot;/&gt;&lt;hasText val=&quot;1&quot;/&gt;&lt;/Image&gt;&lt;/ThreeDShapeInfo&gt;"/>
  <p:tag name="PRESENTER_SHAPETEXTINFO" val="&lt;ShapeTextInfo&gt;&lt;TableIndex row=&quot;-1&quot; col=&quot;-1&quot;&gt;&lt;linesCount val=&quot;3&quot;/&gt;&lt;lineCharCount val=&quot;15&quot;/&gt;&lt;lineCharCount val=&quot;15&quot;/&gt;&lt;lineCharCount val=&quot;1&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497EAD9D-DE9C-4E07-8D25-65A57B27AF01}_1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 name="PPSNARRATION" val="14,398844766,C:\Users\sanmi\GoogleDrive\UWMdrive\Courses\ECE552\ece552-lec09_DataHazards_pptx\Media.ppcx"/>
  <p:tag name="TIMING" val="|12.7|12.5"/>
</p:tagLst>
</file>

<file path=ppt/tags/tag1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0F6FB3E-9EDD-451B-B6ED-995F8E9C36C9}_14.png&quot;/&gt;&lt;left val=&quot;261&quot;/&gt;&lt;top val=&quot;371&quot;/&gt;&lt;width val=&quot;315&quot;/&gt;&lt;height val=&quot;60&quot;/&gt;&lt;hasText val=&quot;1&quot;/&gt;&lt;/Image&gt;&lt;/ThreeDShapeInfo&gt;"/>
  <p:tag name="PRESENTER_SHAPETEXTINFO" val="&lt;ShapeTextInfo&gt;&lt;TableIndex row=&quot;-1&quot; col=&quot;-1&quot;&gt;&lt;linesCount val=&quot;2&quot;/&gt;&lt;lineCharCount val=&quot;43&quot;/&gt;&lt;lineCharCount val=&quot;24&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B6E5E9B8-0F77-4E7E-8450-EFCF40FBAC18}_14.png&quot;/&gt;&lt;left val=&quot;45&quot;/&gt;&lt;top val=&quot;192&quot;/&gt;&lt;width val=&quot;621&quot;/&gt;&lt;height val=&quot;308&quot;/&gt;&lt;hasText val=&quot;1&quot;/&gt;&lt;/Image&gt;&lt;/ThreeDShapeInfo&gt;"/>
  <p:tag name="PRESENTER_SHAPETEXTINFO" val="&lt;ShapeTextInfo&gt;&lt;TableIndex row=&quot;-1&quot; col=&quot;-1&quot;&gt;&lt;linesCount val=&quot;8&quot;/&gt;&lt;lineCharCount val=&quot;22&quot;/&gt;&lt;lineCharCount val=&quot;13&quot;/&gt;&lt;lineCharCount val=&quot;13&quot;/&gt;&lt;lineCharCount val=&quot;13&quot;/&gt;&lt;lineCharCount val=&quot;20&quot;/&gt;&lt;lineCharCount val=&quot;13&quot;/&gt;&lt;lineCharCount val=&quot;13&quot;/&gt;&lt;lineCharCount val=&quot;12&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41E806D-EBC9-4EB1-98E0-4DD9D7150D10}_1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28F63A4D-49DF-4F13-AEAD-402E4042D982}_1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HTML_SHAPEINFO" val="&lt;SlideThumbPath val=&quot;Slide15.PNG&quot;/&gt;"/>
  <p:tag name="PPSNARRATION" val="15,398844766,C:\Users\sanmi\GoogleDrive\UWMdrive\Courses\ECE552\ece552-lec09_DataHazards_pptx\Media.ppcx"/>
</p:tagLst>
</file>

<file path=ppt/tags/tag1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F292CD26-7C92-4154-98F0-EE8845BEC6E7}_1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8A57D0F-D30E-4239-B3FE-A1D25113A753}_15.png&quot;/&gt;&lt;left val=&quot;27&quot;/&gt;&lt;top val=&quot;120&quot;/&gt;&lt;width val=&quot;675&quot;/&gt;&lt;height val=&quot;409&quot;/&gt;&lt;hasText val=&quot;1&quot;/&gt;&lt;/Image&gt;&lt;/ThreeDShapeInfo&gt;"/>
  <p:tag name="PRESENTER_SHAPETEXTINFO" val="&lt;ShapeTextInfo&gt;&lt;TableIndex row=&quot;-1&quot; col=&quot;-1&quot;&gt;&lt;linesCount val=&quot;2&quot;/&gt;&lt;lineCharCount val=&quot;34&quot;/&gt;&lt;lineCharCount val=&quot;39&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237E6D4-EBEB-46B5-8DA6-C33D1538DE4B}_15.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MMPROD_SUBSTITUTION_ID" val="{902053CD-6ED5-44F7-812E-9FE7D54EAFD6}"/>
  <p:tag name="PRESENTER_SHAPEINFO" val="&lt;ThreeDShapeInfo&gt;&lt;uuid val=&quot;{3CE17114-DC03-4CC7-8742-083B3AE24F82}&quot;/&gt;&lt;isInvalidForFieldText val=&quot;0&quot;/&gt;&lt;Image&gt;&lt;filename val=&quot;C:\Users\sanmi\Documents\My Adobe Presentations\ece552f2019-DataHazards\data\asimages\{3CE17114-DC03-4CC7-8742-083B3AE24F82}.png&quot;/&gt;&lt;left val=&quot;41&quot;/&gt;&lt;top val=&quot;216&quot;/&gt;&lt;width val=&quot;636&quot;/&gt;&lt;height val=&quot;306&quot;/&gt;&lt;hasText val=&quot;1&quot;/&gt;&lt;/Image&gt;&lt;/ThreeDShapeInfo&gt;"/>
</p:tagLst>
</file>

<file path=ppt/tags/tag115.xml><?xml version="1.0" encoding="utf-8"?>
<p:tagLst xmlns:a="http://schemas.openxmlformats.org/drawingml/2006/main" xmlns:r="http://schemas.openxmlformats.org/officeDocument/2006/relationships" xmlns:p="http://schemas.openxmlformats.org/presentationml/2006/main">
  <p:tag name="HTML_SHAPEINFO" val="&lt;SlideThumbPath val=&quot;Slide16.PNG&quot;/&gt;"/>
  <p:tag name="PPSNARRATION" val="16,398844766,C:\Users\sanmi\GoogleDrive\UWMdrive\Courses\ECE552\ece552-lec09_DataHazards_pptx\Media.ppcx"/>
</p:tagLst>
</file>

<file path=ppt/tags/tag1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AD4E9E1-FC28-42E7-8CB9-BDFDE60831F7}_1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2252013-228F-4706-B44A-FA3785934FA0}_16.png&quot;/&gt;&lt;left val=&quot;27&quot;/&gt;&lt;top val=&quot;120&quot;/&gt;&lt;width val=&quot;675&quot;/&gt;&lt;height val=&quot;409&quot;/&gt;&lt;hasText val=&quot;1&quot;/&gt;&lt;/Image&gt;&lt;/ThreeDShapeInfo&gt;"/>
  <p:tag name="PRESENTER_SHAPETEXTINFO" val="&lt;ShapeTextInfo&gt;&lt;TableIndex row=&quot;-1&quot; col=&quot;-1&quot;&gt;&lt;linesCount val=&quot;5&quot;/&gt;&lt;lineCharCount val=&quot;34&quot;/&gt;&lt;lineCharCount val=&quot;40&quot;/&gt;&lt;lineCharCount val=&quot;11&quot;/&gt;&lt;lineCharCount val=&quot;44&quot;/&gt;&lt;lineCharCount val=&quot;39&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B7F157A-A7FE-439A-8D68-6CB4DE65D19D}_16.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E56FEAE-F135-4DD2-AA61-ACFE088D3516}_16.png&quot;/&gt;&lt;left val=&quot;47&quot;/&gt;&lt;top val=&quot;344&quot;/&gt;&lt;width val=&quot;211&quot;/&gt;&lt;height val=&quot;141&quot;/&gt;&lt;hasText val=&quot;1&quot;/&gt;&lt;/Image&gt;&lt;/ThreeDShapeInfo&gt;"/>
  <p:tag name="PRESENTER_SHAPETEXTINFO" val="&lt;ShapeTextInfo&gt;&lt;TableIndex row=&quot;-1&quot; col=&quot;-1&quot;&gt;&lt;linesCount val=&quot;3&quot;/&gt;&lt;lineCharCount val=&quot;15&quot;/&gt;&lt;lineCharCount val=&quot;15&quot;/&gt;&lt;lineCharCount val=&quot;1&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FB2502E-336E-4BAA-922A-E27D48A58109}_16.png&quot;/&gt;&lt;left val=&quot;282&quot;/&gt;&lt;top val=&quot;333&quot;/&gt;&lt;width val=&quot;374&quot;/&gt;&lt;height val=&quot;99&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863DE35-C0E5-4D7D-9AFC-AA7D6142DB5B}_16.png&quot;/&gt;&lt;left val=&quot;42&quot;/&gt;&lt;top val=&quot;507&quot;/&gt;&lt;width val=&quot;671&quot;/&gt;&lt;height val=&quot;43&quot;/&gt;&lt;hasText val=&quot;1&quot;/&gt;&lt;/Image&gt;&lt;/ThreeDShapeInfo&gt;"/>
  <p:tag name="PRESENTER_SHAPETEXTINFO" val="&lt;ShapeTextInfo&gt;&lt;TableIndex row=&quot;-1&quot; col=&quot;-1&quot;&gt;&lt;linesCount val=&quot;1&quot;/&gt;&lt;lineCharCount val=&quot;51&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HTML_SHAPEINFO" val="&lt;SlideThumbPath val=&quot;Slide17.PNG&quot;/&gt;"/>
  <p:tag name="PPSNARRATION" val="17,398844766,C:\Users\sanmi\GoogleDrive\UWMdrive\Courses\ECE552\ece552-lec09_DataHazards_pptx\Media.ppcx"/>
</p:tagLst>
</file>

<file path=ppt/tags/tag1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EAA167DE-AF74-47BE-8FFE-7B209C936E22}_1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E948038E-773A-45A9-8C05-C4A5460B871F}_17.png&quot;/&gt;&lt;left val=&quot;27&quot;/&gt;&lt;top val=&quot;120&quot;/&gt;&lt;width val=&quot;675&quot;/&gt;&lt;height val=&quot;409&quot;/&gt;&lt;hasText val=&quot;1&quot;/&gt;&lt;/Image&gt;&lt;/ThreeDShapeInfo&gt;"/>
  <p:tag name="PRESENTER_SHAPETEXTINFO" val="&lt;ShapeTextInfo&gt;&lt;TableIndex row=&quot;-1&quot; col=&quot;-1&quot;&gt;&lt;linesCount val=&quot;5&quot;/&gt;&lt;lineCharCount val=&quot;34&quot;/&gt;&lt;lineCharCount val=&quot;40&quot;/&gt;&lt;lineCharCount val=&quot;11&quot;/&gt;&lt;lineCharCount val=&quot;45&quot;/&gt;&lt;lineCharCount val=&quot;40&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E7E0B0D-FB98-47F6-B319-F74744367F6D}_1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4A69C180-EDBA-4E2B-BD13-F9AD3A6FB622}_17.png&quot;/&gt;&lt;left val=&quot;47&quot;/&gt;&lt;top val=&quot;344&quot;/&gt;&lt;width val=&quot;211&quot;/&gt;&lt;height val=&quot;141&quot;/&gt;&lt;hasText val=&quot;1&quot;/&gt;&lt;/Image&gt;&lt;/ThreeDShapeInfo&gt;"/>
  <p:tag name="PRESENTER_SHAPETEXTINFO" val="&lt;ShapeTextInfo&gt;&lt;TableIndex row=&quot;-1&quot; col=&quot;-1&quot;&gt;&lt;linesCount val=&quot;4&quot;/&gt;&lt;lineCharCount val=&quot;15&quot;/&gt;&lt;lineCharCount val=&quot;2&quot;/&gt;&lt;lineCharCount val=&quot;15&quot;/&gt;&lt;lineCharCount val=&quot;1&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0C4723F-FB33-4EE7-918B-D295E216E1EF}_17.png&quot;/&gt;&lt;left val=&quot;282&quot;/&gt;&lt;top val=&quot;333&quot;/&gt;&lt;width val=&quot;374&quot;/&gt;&lt;height val=&quot;128&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3&quot; col=&quot;1&quot;&gt;&lt;linesCount val=&quot;1&quot;/&gt;&lt;lineCharCount val=&quot;1&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A3CE7AE-475A-4E2F-9FB8-AED0AA462489}_17.png&quot;/&gt;&lt;left val=&quot;42&quot;/&gt;&lt;top val=&quot;507&quot;/&gt;&lt;width val=&quot;671&quot;/&gt;&lt;height val=&quot;43&quot;/&gt;&lt;hasText val=&quot;1&quot;/&gt;&lt;/Image&gt;&lt;/ThreeDShapeInfo&gt;"/>
  <p:tag name="PRESENTER_SHAPETEXTINFO" val="&lt;ShapeTextInfo&gt;&lt;TableIndex row=&quot;-1&quot; col=&quot;-1&quot;&gt;&lt;linesCount val=&quot;1&quot;/&gt;&lt;lineCharCount val=&quot;51&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HTML_SHAPEINFO" val="&lt;SlideThumbPath val=&quot;Slide18.PNG&quot;/&gt;"/>
  <p:tag name="PPSNARRATION" val="18,398844766,C:\Users\sanmi\GoogleDrive\UWMdrive\Courses\ECE552\ece552-lec09_DataHazards_pptx\Media.ppcx"/>
</p:tagLst>
</file>

<file path=ppt/tags/tag1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1FF2A1E-C717-4D14-A29A-59E78A1806EE}_1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92EEE26-C719-40B6-BAB1-3A6818ADB049}_18.png&quot;/&gt;&lt;left val=&quot;27&quot;/&gt;&lt;top val=&quot;120&quot;/&gt;&lt;width val=&quot;675&quot;/&gt;&lt;height val=&quot;409&quot;/&gt;&lt;hasText val=&quot;1&quot;/&gt;&lt;/Image&gt;&lt;/ThreeDShapeInfo&gt;"/>
  <p:tag name="PRESENTER_SHAPETEXTINFO" val="&lt;ShapeTextInfo&gt;&lt;TableIndex row=&quot;-1&quot; col=&quot;-1&quot;&gt;&lt;linesCount val=&quot;5&quot;/&gt;&lt;lineCharCount val=&quot;34&quot;/&gt;&lt;lineCharCount val=&quot;40&quot;/&gt;&lt;lineCharCount val=&quot;11&quot;/&gt;&lt;lineCharCount val=&quot;45&quot;/&gt;&lt;lineCharCount val=&quot;40&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069E8A42-9110-47A6-8D37-13FC327C85E7}_18.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228EDF43-1C9B-4BA8-83A8-952686080BF8}_18.png&quot;/&gt;&lt;left val=&quot;47&quot;/&gt;&lt;top val=&quot;344&quot;/&gt;&lt;width val=&quot;211&quot;/&gt;&lt;height val=&quot;146&quot;/&gt;&lt;hasText val=&quot;1&quot;/&gt;&lt;/Image&gt;&lt;/ThreeDShapeInfo&gt;"/>
  <p:tag name="PRESENTER_SHAPETEXTINFO" val="&lt;ShapeTextInfo&gt;&lt;TableIndex row=&quot;-1&quot; col=&quot;-1&quot;&gt;&lt;linesCount val=&quot;5&quot;/&gt;&lt;lineCharCount val=&quot;15&quot;/&gt;&lt;lineCharCount val=&quot;2&quot;/&gt;&lt;lineCharCount val=&quot;2&quot;/&gt;&lt;lineCharCount val=&quot;15&quot;/&gt;&lt;lineCharCount val=&quot;1&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40BA231-FFCE-477C-82F6-FB29C87BC074}_18.png&quot;/&gt;&lt;left val=&quot;282&quot;/&gt;&lt;top val=&quot;333&quot;/&gt;&lt;width val=&quot;374&quot;/&gt;&lt;height val=&quot;15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3&quot; col=&quot;1&quot;&gt;&lt;linesCount val=&quot;1&quot;/&gt;&lt;lineCharCount val=&quot;1&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4&quot; col=&quot;1&quot;&gt;&lt;linesCount val=&quot;1&quot;/&gt;&lt;lineCharCount val=&quot;1&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1&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E63AEF7-8DB6-461E-BC0B-9B21D5087DFF}_18.png&quot;/&gt;&lt;left val=&quot;42&quot;/&gt;&lt;top val=&quot;507&quot;/&gt;&lt;width val=&quot;671&quot;/&gt;&lt;height val=&quot;43&quot;/&gt;&lt;hasText val=&quot;1&quot;/&gt;&lt;/Image&gt;&lt;/ThreeDShapeInfo&gt;"/>
  <p:tag name="PRESENTER_SHAPETEXTINFO" val="&lt;ShapeTextInfo&gt;&lt;TableIndex row=&quot;-1&quot; col=&quot;-1&quot;&gt;&lt;linesCount val=&quot;1&quot;/&gt;&lt;lineCharCount val=&quot;51&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 name="PPSNARRATION" val="19,398844766,C:\Users\sanmi\GoogleDrive\UWMdrive\Courses\ECE552\ece552-lec09_DataHazards_pptx\Media.ppcx"/>
</p:tagLst>
</file>

<file path=ppt/tags/tag1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9ADC6F8-61BF-476C-98DA-F409A2EB19EC}_1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2F25A17-B003-4D16-B874-156491E0F681}_19.png&quot;/&gt;&lt;left val=&quot;24&quot;/&gt;&lt;top val=&quot;119&quot;/&gt;&lt;width val=&quot;659&quot;/&gt;&lt;height val=&quot;363&quot;/&gt;&lt;hasText val=&quot;1&quot;/&gt;&lt;/Image&gt;&lt;/ThreeDShapeInfo&gt;"/>
  <p:tag name="PRESENTER_SHAPETEXTINFO" val="&lt;ShapeTextInfo&gt;&lt;TableIndex row=&quot;-1&quot; col=&quot;-1&quot;&gt;&lt;linesCount val=&quot;5&quot;/&gt;&lt;lineCharCount val=&quot;44&quot;/&gt;&lt;lineCharCount val=&quot;46&quot;/&gt;&lt;lineCharCount val=&quot;50&quot;/&gt;&lt;lineCharCount val=&quot;12&quot;/&gt;&lt;lineCharCount val=&quot;27&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E7F4D89-BBA7-4800-ACE7-D5FD3B3EA8E1}_1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2DD7E39C-D6AD-450D-89B1-23DD3A2B6962}_19.png&quot;/&gt;&lt;left val=&quot;42&quot;/&gt;&lt;top val=&quot;507&quot;/&gt;&lt;width val=&quot;671&quot;/&gt;&lt;height val=&quot;43&quot;/&gt;&lt;hasText val=&quot;1&quot;/&gt;&lt;/Image&gt;&lt;/ThreeDShapeInfo&gt;"/>
  <p:tag name="PRESENTER_SHAPETEXTINFO" val="&lt;ShapeTextInfo&gt;&lt;TableIndex row=&quot;-1&quot; col=&quot;-1&quot;&gt;&lt;linesCount val=&quot;1&quot;/&gt;&lt;lineCharCount val=&quot;51&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D387518-6647-4E37-B305-DED3E586A0D0}_19.png&quot;/&gt;&lt;left val=&quot;387&quot;/&gt;&lt;top val=&quot;278&quot;/&gt;&lt;width val=&quot;211&quot;/&gt;&lt;height val=&quot;141&quot;/&gt;&lt;hasText val=&quot;1&quot;/&gt;&lt;/Image&gt;&lt;/ThreeDShapeInfo&gt;"/>
  <p:tag name="PRESENTER_SHAPETEXTINFO" val="&lt;ShapeTextInfo&gt;&lt;TableIndex row=&quot;-1&quot; col=&quot;-1&quot;&gt;&lt;linesCount val=&quot;3&quot;/&gt;&lt;lineCharCount val=&quot;13&quot;/&gt;&lt;lineCharCount val=&quot;15&quot;/&gt;&lt;lineCharCount val=&quot;1&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HTML_SHAPEINFO" val="&lt;SlideThumbPath val=&quot;Slide20.PNG&quot;/&gt;"/>
  <p:tag name="PPSNARRATION" val="20,398844766,C:\Users\sanmi\GoogleDrive\UWMdrive\Courses\ECE552\ece552-lec09_DataHazards_pptx\Media.ppcx"/>
</p:tagLst>
</file>

<file path=ppt/tags/tag1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54D2808-A1A7-486C-ADE2-4439FDB12422}_2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AFDE966-24F5-4C43-814E-F60601FEB892}_20.png&quot;/&gt;&lt;left val=&quot;27&quot;/&gt;&lt;top val=&quot;120&quot;/&gt;&lt;width val=&quot;675&quot;/&gt;&lt;height val=&quot;409&quot;/&gt;&lt;hasText val=&quot;1&quot;/&gt;&lt;/Image&gt;&lt;/ThreeDShapeInfo&gt;"/>
  <p:tag name="PRESENTER_SHAPETEXTINFO" val="&lt;ShapeTextInfo&gt;&lt;TableIndex row=&quot;-1&quot; col=&quot;-1&quot;&gt;&lt;linesCount val=&quot;4&quot;/&gt;&lt;lineCharCount val=&quot;50&quot;/&gt;&lt;lineCharCount val=&quot;52&quot;/&gt;&lt;lineCharCount val=&quot;57&quot;/&gt;&lt;lineCharCount val=&quot;18&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0BC60CCB-60DB-4B18-955C-9AA0701B9B0E}_20.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A8B9B37-B8BC-465E-BB60-F605060C902A}_20.png&quot;/&gt;&lt;left val=&quot;23&quot;/&gt;&lt;top val=&quot;344&quot;/&gt;&lt;width val=&quot;211&quot;/&gt;&lt;height val=&quot;141&quot;/&gt;&lt;hasText val=&quot;1&quot;/&gt;&lt;/Image&gt;&lt;/ThreeDShapeInfo&gt;"/>
  <p:tag name="PRESENTER_SHAPETEXTINFO" val="&lt;ShapeTextInfo&gt;&lt;TableIndex row=&quot;-1&quot; col=&quot;-1&quot;&gt;&lt;linesCount val=&quot;3&quot;/&gt;&lt;lineCharCount val=&quot;15&quot;/&gt;&lt;lineCharCount val=&quot;15&quot;/&gt;&lt;lineCharCount val=&quot;13&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B8513F1-63BF-4D6B-8CB1-7EFC23DD5E6F}_20.png&quot;/&gt;&lt;left val=&quot;216&quot;/&gt;&lt;top val=&quot;333&quot;/&gt;&lt;width val=&quot;452&quot;/&gt;&lt;height val=&quot;128&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2&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4&quot; col=&quot;1&quot;&gt;&lt;linesCount val=&quot;1&quot;/&gt;&lt;lineCharCount val=&quot;2&quot;/&gt;&lt;/TableIndex&gt;&lt;TableIndex row=&quot;4&quot; col=&quot;2&quot;&gt;&lt;linesCount val=&quot;0&quot;/&gt;&lt;/TableIndex&gt;&lt;TableIndex row=&quot;4&quot; col=&quot;3&quot;&gt;&lt;linesCount val=&quot;0&quot;/&gt;&lt;/TableIndex&gt;&lt;TableIndex row=&quot;4&quot; col=&quot;4&quot;&gt;&lt;linesCount val=&quot;1&quot;/&gt;&lt;lineCharCount val=&quot;2&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1&quot;/&gt;&lt;lineCharCount val=&quot;1&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 name="PPSNARRATION" val="21,398844766,C:\Users\sanmi\GoogleDrive\UWMdrive\Courses\ECE552\ece552-lec09_DataHazards_pptx\Media.ppcx"/>
  <p:tag name="TIMING" val="|9.9|0.9|10|8.8|7.4|9.4"/>
</p:tagLst>
</file>

<file path=ppt/tags/tag1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AF2E030-A234-48C8-A3D2-D743542A6200}_2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413372D7-5B23-4DA3-86FB-05895DADA8C2}_2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95F1BD1-AAE9-46D7-81AB-37CDDA8434F8}_21.png&quot;/&gt;&lt;left val=&quot;23&quot;/&gt;&lt;top val=&quot;344&quot;/&gt;&lt;width val=&quot;211&quot;/&gt;&lt;height val=&quot;141&quot;/&gt;&lt;hasText val=&quot;1&quot;/&gt;&lt;/Image&gt;&lt;/ThreeDShapeInfo&gt;"/>
  <p:tag name="PRESENTER_SHAPETEXTINFO" val="&lt;ShapeTextInfo&gt;&lt;TableIndex row=&quot;-1&quot; col=&quot;-1&quot;&gt;&lt;linesCount val=&quot;3&quot;/&gt;&lt;lineCharCount val=&quot;15&quot;/&gt;&lt;lineCharCount val=&quot;15&quot;/&gt;&lt;lineCharCount val=&quot;13&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02F1653-5C09-49FC-B2FB-40FBA98D2348}_21.png&quot;/&gt;&lt;left val=&quot;216&quot;/&gt;&lt;top val=&quot;333&quot;/&gt;&lt;width val=&quot;452&quot;/&gt;&lt;height val=&quot;128&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2&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4&quot; col=&quot;1&quot;&gt;&lt;linesCount val=&quot;1&quot;/&gt;&lt;lineCharCount val=&quot;2&quot;/&gt;&lt;/TableIndex&gt;&lt;TableIndex row=&quot;4&quot; col=&quot;2&quot;&gt;&lt;linesCount val=&quot;0&quot;/&gt;&lt;/TableIndex&gt;&lt;TableIndex row=&quot;4&quot; col=&quot;3&quot;&gt;&lt;linesCount val=&quot;0&quot;/&gt;&lt;/TableIndex&gt;&lt;TableIndex row=&quot;4&quot; col=&quot;4&quot;&gt;&lt;linesCount val=&quot;1&quot;/&gt;&lt;lineCharCount val=&quot;2&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1&quot;/&gt;&lt;lineCharCount val=&quot;1&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581DC306-20CB-4EEE-B710-3A4ABA632D2E}_21.png&quot;/&gt;&lt;left val=&quot;0&quot;/&gt;&lt;top val=&quot;127&quot;/&gt;&lt;width val=&quot;696&quot;/&gt;&lt;height val=&quot;179&quot;/&gt;&lt;hasText val=&quot;1&quot;/&gt;&lt;/Image&gt;&lt;/ThreeDShapeInfo&gt;"/>
</p:tagLst>
</file>

<file path=ppt/tags/tag1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809DAE6-3A60-43D4-B555-974C6A5B1CD9}_21.png&quot;/&gt;&lt;left val=&quot;0&quot;/&gt;&lt;top val=&quot;127&quot;/&gt;&lt;width val=&quot;696&quot;/&gt;&lt;height val=&quot;179&quot;/&gt;&lt;hasText val=&quot;1&quot;/&gt;&lt;/Image&gt;&lt;/ThreeDShapeInfo&gt;"/>
</p:tagLst>
</file>

<file path=ppt/tags/tag1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032B721-61B0-4C87-8654-DF51139BAA01}_21.png&quot;/&gt;&lt;left val=&quot;0&quot;/&gt;&lt;top val=&quot;127&quot;/&gt;&lt;width val=&quot;696&quot;/&gt;&lt;height val=&quot;179&quot;/&gt;&lt;hasText val=&quot;1&quot;/&gt;&lt;/Image&gt;&lt;/ThreeDShapeInfo&gt;"/>
</p:tagLst>
</file>

<file path=ppt/tags/tag1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A19BDC0E-F11A-4585-804F-61B1152D743E}_21.png&quot;/&gt;&lt;left val=&quot;0&quot;/&gt;&lt;top val=&quot;127&quot;/&gt;&lt;width val=&quot;696&quot;/&gt;&lt;height val=&quot;179&quot;/&gt;&lt;hasText val=&quot;1&quot;/&gt;&lt;/Image&gt;&lt;/ThreeDShapeInfo&gt;"/>
</p:tagLst>
</file>

<file path=ppt/tags/tag1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298DF743-4B91-4488-A5D7-70B855354D91}_21.png&quot;/&gt;&lt;left val=&quot;0&quot;/&gt;&lt;top val=&quot;127&quot;/&gt;&lt;width val=&quot;696&quot;/&gt;&lt;height val=&quot;179&quot;/&gt;&lt;hasText val=&quot;1&quot;/&gt;&lt;/Image&gt;&lt;/ThreeDShapeInfo&gt;"/>
</p:tagLst>
</file>

<file path=ppt/tags/tag1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23268E57-C9CF-49E0-A607-CBD76B84DFAA}_21.png&quot;/&gt;&lt;left val=&quot;0&quot;/&gt;&lt;top val=&quot;127&quot;/&gt;&lt;width val=&quot;696&quot;/&gt;&lt;height val=&quot;179&quot;/&gt;&lt;hasText val=&quot;1&quot;/&gt;&lt;/Image&gt;&lt;/ThreeDShapeInfo&gt;"/>
</p:tagLst>
</file>

<file path=ppt/tags/tag1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F96C073D-91FD-4CEF-81B9-59994510ACEA}_21.png&quot;/&gt;&lt;left val=&quot;0&quot;/&gt;&lt;top val=&quot;127&quot;/&gt;&lt;width val=&quot;696&quot;/&gt;&lt;height val=&quot;179&quot;/&gt;&lt;hasText val=&quot;1&quot;/&gt;&lt;/Image&gt;&lt;/ThreeDShape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1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1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2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398844766,C:\Users\sanmi\GoogleDrive\UWMdrive\Courses\ECE552\ece552-lec09_DataHazards_pptx\Media.ppcx"/>
  <p:tag name="TIMING" val="|6.5|32|30.3"/>
</p:tagLst>
</file>

<file path=ppt/tags/tag2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B413F26-4403-4F75-B043-91BEF13AC534}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FB7B6A05-4EAC-4126-B633-BAFF04243104}_1.png_crop.png&quot;/&gt;&lt;left val=&quot;44&quot;/&gt;&lt;top val=&quot;112&quot;/&gt;&lt;width val=&quot;443&quot;/&gt;&lt;height val=&quot;24&quot;/&gt;&lt;hasText val=&quot;1&quot;/&gt;&lt;paraId val=&quot;1&quot;/&gt;&lt;/Image&gt;&lt;Image&gt;&lt;filename val=&quot;C:\Users\sanmi\Documents\My Adobe Presentations\ece552f2019-DataHazards\data\asimages\{D51F9746-03F1-4CC0-B690-F7AC25F01576}_1.png_crop.png&quot;/&gt;&lt;left val=&quot;78&quot;/&gt;&lt;top val=&quot;149&quot;/&gt;&lt;width val=&quot;325&quot;/&gt;&lt;height val=&quot;20&quot;/&gt;&lt;hasText val=&quot;1&quot;/&gt;&lt;paraId val=&quot;2&quot;/&gt;&lt;/Image&gt;&lt;Image&gt;&lt;filename val=&quot;C:\Users\sanmi\Documents\My Adobe Presentations\ece552f2019-DataHazards\data\asimages\{2CD9526D-F3EB-43DF-A627-85FC130BF6C7}_1.png_crop.png&quot;/&gt;&lt;left val=&quot;78&quot;/&gt;&lt;top val=&quot;184&quot;/&gt;&lt;width val=&quot;516&quot;/&gt;&lt;height val=&quot;21&quot;/&gt;&lt;hasText val=&quot;1&quot;/&gt;&lt;paraId val=&quot;3&quot;/&gt;&lt;/Image&gt;&lt;/TextEffect&gt;"/>
  <p:tag name="PRESENTER_SHAPETEXTINFO" val="&lt;ShapeTextInfo&gt;&lt;TableIndex row=&quot;-1&quot; col=&quot;-1&quot;&gt;&lt;linesCount val=&quot;3&quot;/&gt;&lt;lineCharCount val=&quot;41&quot;/&gt;&lt;lineCharCount val=&quot;31&quot;/&gt;&lt;lineCharCount val=&quot;56&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A0E08916-216E-4933-853B-6BAB1CD18F1A}_2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PRESENTER_SHAPEINFO" val="&lt;ThreeDShapeInfo&gt;&lt;uuid val=&quot;{E1884103-EBA6-4FED-9D94-77227F35B482}&quot;/&gt;&lt;isInvalidForFieldText val=&quot;0&quot;/&gt;&lt;Image&gt;&lt;filename val=&quot;C:\Users\sanmi\Documents\My Adobe Presentations\ece552f2019-DataHazards\data\asimages\{E1884103-EBA6-4FED-9D94-77227F35B482}.png&quot;/&gt;&lt;left val=&quot;71&quot;/&gt;&lt;top val=&quot;209&quot;/&gt;&lt;width val=&quot;550&quot;/&gt;&lt;height val=&quot;331&quot;/&gt;&lt;hasText val=&quot;1&quot;/&gt;&lt;/Image&gt;&lt;/ThreeDShapeInfo&gt;"/>
</p:tagLst>
</file>

<file path=ppt/tags/tag2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ED2079A0-1333-4F16-833B-75032A2BFAFE}_22.png&quot;/&gt;&lt;left val=&quot;370&quot;/&gt;&lt;top val=&quot;215&quot;/&gt;&lt;width val=&quot;261&quot;/&gt;&lt;height val=&quot;62&quot;/&gt;&lt;hasText val=&quot;1&quot;/&gt;&lt;/Image&gt;&lt;/ThreeDShapeInfo&gt;"/>
  <p:tag name="PRESENTER_SHAPETEXTINFO" val="&lt;ShapeTextInfo&gt;&lt;TableIndex row=&quot;-1&quot; col=&quot;-1&quot;&gt;&lt;linesCount val=&quot;1&quot;/&gt;&lt;lineCharCount val=&quot;25&quot;/&gt;&lt;/TableIndex&gt;&lt;/ShapeTextInfo&gt;"/>
</p:tagLst>
</file>

<file path=ppt/tags/tag217.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 name="PPSNARRATION" val="23,398844766,C:\Users\sanmi\GoogleDrive\UWMdrive\Courses\ECE552\ece552-lec09_DataHazards_pptx\Media.ppcx"/>
</p:tagLst>
</file>

<file path=ppt/tags/tag2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F7789AAF-DD5A-42BA-BC0E-B905FBE48E00}_2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2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5C3001D3-C9E1-4450-BF96-C558E617C738}_23.png&quot;/&gt;&lt;left val=&quot;27&quot;/&gt;&lt;top val=&quot;120&quot;/&gt;&lt;width val=&quot;675&quot;/&gt;&lt;height val=&quot;409&quot;/&gt;&lt;hasText val=&quot;1&quot;/&gt;&lt;/Image&gt;&lt;/ThreeDShapeInfo&gt;"/>
  <p:tag name="PRESENTER_SHAPETEXTINFO" val="&lt;ShapeTextInfo&gt;&lt;TableIndex row=&quot;-1&quot; col=&quot;-1&quot;&gt;&lt;linesCount val=&quot;4&quot;/&gt;&lt;lineCharCount val=&quot;44&quot;/&gt;&lt;lineCharCount val=&quot;58&quot;/&gt;&lt;lineCharCount val=&quot;64&quot;/&gt;&lt;lineCharCount val=&quot;50&quot;/&gt;&lt;/TableIndex&gt;&lt;/ShapeTextInfo&gt;"/>
</p:tagLst>
</file>

<file path=ppt/tags/tag2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485AB7F-CC42-4A31-8D0F-CC7E32D6BBC8}_2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D40B6C3-D01B-47F9-827F-F77168644895}_23.png&quot;/&gt;&lt;left val=&quot;23&quot;/&gt;&lt;top val=&quot;392&quot;/&gt;&lt;width val=&quot;211&quot;/&gt;&lt;height val=&quot;141&quot;/&gt;&lt;hasText val=&quot;1&quot;/&gt;&lt;/Image&gt;&lt;/ThreeDShapeInfo&gt;"/>
  <p:tag name="PRESENTER_SHAPETEXTINFO" val="&lt;ShapeTextInfo&gt;&lt;TableIndex row=&quot;-1&quot; col=&quot;-1&quot;&gt;&lt;linesCount val=&quot;3&quot;/&gt;&lt;lineCharCount val=&quot;15&quot;/&gt;&lt;lineCharCount val=&quot;15&quot;/&gt;&lt;lineCharCount val=&quot;13&quot;/&gt;&lt;/TableIndex&gt;&lt;/ShapeTextInfo&gt;"/>
</p:tagLst>
</file>

<file path=ppt/tags/tag2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A47566F-6564-40CE-8D35-DF6DBABAFB12}_23.png&quot;/&gt;&lt;left val=&quot;216&quot;/&gt;&lt;top val=&quot;381&quot;/&gt;&lt;width val=&quot;452&quot;/&gt;&lt;height val=&quot;128&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0&quot;/&gt;&lt;/TableIndex&gt;&lt;TableIndex row=&quot;3&quot; col=&quot;11&quot;&gt;&lt;linesCount val=&quot;0&quot;/&gt;&lt;/TableIndex&gt;&lt;TableIndex row=&quot;4&quot; col=&quot;1&quot;&gt;&lt;linesCount val=&quot;1&quot;/&gt;&lt;lineCharCount val=&quot;2&quot;/&gt;&lt;/TableIndex&gt;&lt;TableIndex row=&quot;4&quot; col=&quot;2&quot;&gt;&lt;linesCount val=&quot;0&quot;/&gt;&lt;/TableIndex&gt;&lt;TableIndex row=&quot;4&quot; col=&quot;3&quot;&gt;&lt;linesCount val=&quot;0&quot;/&gt;&lt;/TableIndex&gt;&lt;TableIndex row=&quot;4&quot; col=&quot;4&quot;&gt;&lt;linesCount val=&quot;1&quot;/&gt;&lt;lineCharCount val=&quot;2&quot;/&gt;&lt;/TableIndex&gt;&lt;TableIndex row=&quot;4&quot; col=&quot;5&quot;&gt;&lt;linesCount val=&quot;1&quot;/&gt;&lt;lineCharCount val=&quot;2&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0&quot;/&gt;&lt;/TableIndex&gt;&lt;/ShapeTextInfo&gt;"/>
</p:tagLst>
</file>

<file path=ppt/tags/tag2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5.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 name="PPSNARRATION" val="24,398844766,C:\Users\sanmi\GoogleDrive\UWMdrive\Courses\ECE552\ece552-lec09_DataHazards_pptx\Media.ppcx"/>
</p:tagLst>
</file>

<file path=ppt/tags/tag2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02180C03-AAA7-4F4E-B6F8-1565CC751FDE}_2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5&quot;/&gt;&lt;/TableIndex&gt;&lt;/ShapeTextInfo&gt;"/>
</p:tagLst>
</file>

<file path=ppt/tags/tag2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3391689-B89E-4682-80AF-1FC0AA214154}_24.png&quot;/&gt;&lt;left val=&quot;27&quot;/&gt;&lt;top val=&quot;120&quot;/&gt;&lt;width val=&quot;675&quot;/&gt;&lt;height val=&quot;409&quot;/&gt;&lt;hasText val=&quot;1&quot;/&gt;&lt;/Image&gt;&lt;/ThreeDShapeInfo&gt;"/>
  <p:tag name="PRESENTER_SHAPETEXTINFO" val="&lt;ShapeTextInfo&gt;&lt;TableIndex row=&quot;-1&quot; col=&quot;-1&quot;&gt;&lt;linesCount val=&quot;6&quot;/&gt;&lt;lineCharCount val=&quot;42&quot;/&gt;&lt;lineCharCount val=&quot;57&quot;/&gt;&lt;lineCharCount val=&quot;40&quot;/&gt;&lt;lineCharCount val=&quot;63&quot;/&gt;&lt;lineCharCount val=&quot;38&quot;/&gt;&lt;lineCharCount val=&quot;60&quot;/&gt;&lt;/TableIndex&gt;&lt;/ShapeTextInfo&gt;"/>
</p:tagLst>
</file>

<file path=ppt/tags/tag2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81F1FBE6-B68B-4669-AB57-5F6E36335D8E}_2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500CC294-8EAE-45AC-985F-F742C520B630}_24.png&quot;/&gt;&lt;left val=&quot;23&quot;/&gt;&lt;top val=&quot;392&quot;/&gt;&lt;width val=&quot;211&quot;/&gt;&lt;height val=&quot;141&quot;/&gt;&lt;hasText val=&quot;1&quot;/&gt;&lt;/Image&gt;&lt;/ThreeDShapeInfo&gt;"/>
  <p:tag name="PRESENTER_SHAPETEXTINFO" val="&lt;ShapeTextInfo&gt;&lt;TableIndex row=&quot;-1&quot; col=&quot;-1&quot;&gt;&lt;linesCount val=&quot;2&quot;/&gt;&lt;lineCharCount val=&quot;15&quot;/&gt;&lt;lineCharCount val=&quot;15&quot;/&gt;&lt;/TableIndex&gt;&lt;/ShapeTextInfo&gt;"/>
</p:tagLst>
</file>

<file path=ppt/tags/tag2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B2E1DE0-13A3-4DDF-9EDC-1AFDD6BD0B5F}_24.png&quot;/&gt;&lt;left val=&quot;216&quot;/&gt;&lt;top val=&quot;381&quot;/&gt;&lt;width val=&quot;452&quot;/&gt;&lt;height val=&quot;99&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ShapeTextInfo&gt;"/>
</p:tagLst>
</file>

<file path=ppt/tags/tag2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3.xml><?xml version="1.0" encoding="utf-8"?>
<p:tagLst xmlns:a="http://schemas.openxmlformats.org/drawingml/2006/main" xmlns:r="http://schemas.openxmlformats.org/officeDocument/2006/relationships" xmlns:p="http://schemas.openxmlformats.org/presentationml/2006/main">
  <p:tag name="HTML_SHAPEINFO" val="&lt;SlideThumbPath val=&quot;Slide25.PNG&quot;/&gt;"/>
  <p:tag name="PPSNARRATION" val="25,398844766,C:\Users\sanmi\GoogleDrive\UWMdrive\Courses\ECE552\ece552-lec09_DataHazards_pptx\Media.ppcx"/>
</p:tagLst>
</file>

<file path=ppt/tags/tag234.xml><?xml version="1.0" encoding="utf-8"?>
<p:tagLst xmlns:a="http://schemas.openxmlformats.org/drawingml/2006/main" xmlns:r="http://schemas.openxmlformats.org/officeDocument/2006/relationships" xmlns:p="http://schemas.openxmlformats.org/presentationml/2006/main">
  <p:tag name="PRESENTER_SHAPEINFO" val="&lt;ThreeDShapeInfo&gt;&lt;uuid val=&quot;{7B8C9CA8-3937-49F8-A5B7-DCE97A21A031}&quot;/&gt;&lt;isInvalidForFieldText val=&quot;0&quot;/&gt;&lt;Image&gt;&lt;filename val=&quot;C:\Users\sanmi\Documents\My Adobe Presentations\ece552f2019-DataHazards\data\asimages\{7B8C9CA8-3937-49F8-A5B7-DCE97A21A031}.png&quot;/&gt;&lt;left val=&quot;35&quot;/&gt;&lt;top val=&quot;90&quot;/&gt;&lt;width val=&quot;624&quot;/&gt;&lt;height val=&quot;275&quot;/&gt;&lt;hasText val=&quot;1&quot;/&gt;&lt;/Image&gt;&lt;/ThreeDShapeInfo&gt;"/>
</p:tagLst>
</file>

<file path=ppt/tags/tag2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B0161723-726F-4195-BDDB-205617D8E5E8}_2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9&quot;/&gt;&lt;/TableIndex&gt;&lt;/ShapeTextInfo&gt;"/>
</p:tagLst>
</file>

<file path=ppt/tags/tag2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EAD0BF65-A75A-47D7-9D55-0B96854FBD84}_25.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8BB1612A-92AE-4BD2-B6B7-FE8B1680A71D}_25.png&quot;/&gt;&lt;left val=&quot;23&quot;/&gt;&lt;top val=&quot;392&quot;/&gt;&lt;width val=&quot;211&quot;/&gt;&lt;height val=&quot;141&quot;/&gt;&lt;hasText val=&quot;1&quot;/&gt;&lt;/Image&gt;&lt;/ThreeDShapeInfo&gt;"/>
  <p:tag name="PRESENTER_SHAPETEXTINFO" val="&lt;ShapeTextInfo&gt;&lt;TableIndex row=&quot;-1&quot; col=&quot;-1&quot;&gt;&lt;linesCount val=&quot;2&quot;/&gt;&lt;lineCharCount val=&quot;15&quot;/&gt;&lt;lineCharCount val=&quot;15&quot;/&gt;&lt;/TableIndex&gt;&lt;/ShapeTextInfo&gt;"/>
</p:tagLst>
</file>

<file path=ppt/tags/tag2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ACE5E8B2-BED7-4074-A6A5-B73DAA95E20E}_25.png&quot;/&gt;&lt;left val=&quot;216&quot;/&gt;&lt;top val=&quot;381&quot;/&gt;&lt;width val=&quot;452&quot;/&gt;&lt;height val=&quot;99&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ShapeTextInfo&gt;"/>
</p:tagLst>
</file>

<file path=ppt/tags/tag2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3.xml><?xml version="1.0" encoding="utf-8"?>
<p:tagLst xmlns:a="http://schemas.openxmlformats.org/drawingml/2006/main" xmlns:r="http://schemas.openxmlformats.org/officeDocument/2006/relationships" xmlns:p="http://schemas.openxmlformats.org/presentationml/2006/main">
  <p:tag name="HTML_SHAPEINFO" val="&lt;SlideThumbPath val=&quot;Slide26.PNG&quot;/&gt;"/>
  <p:tag name="PPSNARRATION" val="26,398844766,C:\Users\sanmi\GoogleDrive\UWMdrive\Courses\ECE552\ece552-lec09_DataHazards_pptx\Media.ppcx"/>
</p:tagLst>
</file>

<file path=ppt/tags/tag244.xml><?xml version="1.0" encoding="utf-8"?>
<p:tagLst xmlns:a="http://schemas.openxmlformats.org/drawingml/2006/main" xmlns:r="http://schemas.openxmlformats.org/officeDocument/2006/relationships" xmlns:p="http://schemas.openxmlformats.org/presentationml/2006/main">
  <p:tag name="PRESENTER_SHAPEINFO" val="&lt;ThreeDShapeInfo&gt;&lt;uuid val=&quot;{638DF9EF-C9EC-492A-8BE8-F21B8E4E4F6E}&quot;/&gt;&lt;isInvalidForFieldText val=&quot;0&quot;/&gt;&lt;Image&gt;&lt;filename val=&quot;C:\Users\sanmi\Documents\My Adobe Presentations\ece552f2019-DataHazards\data\asimages\{638DF9EF-C9EC-492A-8BE8-F21B8E4E4F6E}.png&quot;/&gt;&lt;left val=&quot;35&quot;/&gt;&lt;top val=&quot;90&quot;/&gt;&lt;width val=&quot;624&quot;/&gt;&lt;height val=&quot;275&quot;/&gt;&lt;hasText val=&quot;1&quot;/&gt;&lt;/Image&gt;&lt;/ThreeDShapeInfo&gt;"/>
</p:tagLst>
</file>

<file path=ppt/tags/tag2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0E1B404B-661F-4ED5-A220-14B63713D409}_2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2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E53A10DF-0336-4AA1-8F66-437286CED87B}_26.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A9AF10EB-354D-40DE-B19B-61556FB5E8C0}_26.png&quot;/&gt;&lt;left val=&quot;23&quot;/&gt;&lt;top val=&quot;392&quot;/&gt;&lt;width val=&quot;211&quot;/&gt;&lt;height val=&quot;141&quot;/&gt;&lt;hasText val=&quot;1&quot;/&gt;&lt;/Image&gt;&lt;/ThreeDShapeInfo&gt;"/>
  <p:tag name="PRESENTER_SHAPETEXTINFO" val="&lt;ShapeTextInfo&gt;&lt;TableIndex row=&quot;-1&quot; col=&quot;-1&quot;&gt;&lt;linesCount val=&quot;3&quot;/&gt;&lt;lineCharCount val=&quot;15&quot;/&gt;&lt;lineCharCount val=&quot;2&quot;/&gt;&lt;lineCharCount val=&quot;15&quot;/&gt;&lt;/TableIndex&gt;&lt;/ShapeTextInfo&gt;"/>
</p:tagLst>
</file>

<file path=ppt/tags/tag2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8E9C986-437A-4FE5-8E3F-8410A8A921B2}_26.png&quot;/&gt;&lt;left val=&quot;216&quot;/&gt;&lt;top val=&quot;381&quot;/&gt;&lt;width val=&quot;452&quot;/&gt;&lt;height val=&quot;128&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3&quot; col=&quot;1&quot;&gt;&lt;linesCount val=&quot;1&quot;/&gt;&lt;lineCharCount val=&quot;1&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ShapeTextInfo&gt;"/>
</p:tagLst>
</file>

<file path=ppt/tags/tag2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3.xml><?xml version="1.0" encoding="utf-8"?>
<p:tagLst xmlns:a="http://schemas.openxmlformats.org/drawingml/2006/main" xmlns:r="http://schemas.openxmlformats.org/officeDocument/2006/relationships" xmlns:p="http://schemas.openxmlformats.org/presentationml/2006/main">
  <p:tag name="HTML_SHAPEINFO" val="&lt;SlideThumbPath val=&quot;Slide27.PNG&quot;/&gt;"/>
  <p:tag name="PPSNARRATION" val="27,398844766,C:\Users\sanmi\GoogleDrive\UWMdrive\Courses\ECE552\ece552-lec09_DataHazards_pptx\Media.ppcx"/>
</p:tagLst>
</file>

<file path=ppt/tags/tag254.xml><?xml version="1.0" encoding="utf-8"?>
<p:tagLst xmlns:a="http://schemas.openxmlformats.org/drawingml/2006/main" xmlns:r="http://schemas.openxmlformats.org/officeDocument/2006/relationships" xmlns:p="http://schemas.openxmlformats.org/presentationml/2006/main">
  <p:tag name="PRESENTER_SHAPEINFO" val="&lt;ThreeDShapeInfo&gt;&lt;uuid val=&quot;{479F3454-9A9C-4E7A-B5F2-0981E8D2A920}&quot;/&gt;&lt;isInvalidForFieldText val=&quot;0&quot;/&gt;&lt;Image&gt;&lt;filename val=&quot;C:\Users\sanmi\Documents\My Adobe Presentations\ece552f2019-DataHazards\data\asimages\{479F3454-9A9C-4E7A-B5F2-0981E8D2A920}.png&quot;/&gt;&lt;left val=&quot;35&quot;/&gt;&lt;top val=&quot;90&quot;/&gt;&lt;width val=&quot;624&quot;/&gt;&lt;height val=&quot;275&quot;/&gt;&lt;hasText val=&quot;1&quot;/&gt;&lt;/Image&gt;&lt;/ThreeDShapeInfo&gt;"/>
</p:tagLst>
</file>

<file path=ppt/tags/tag2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07B9F7F1-A9D7-4561-B1E2-FC2E49DFE655}_2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8&quot;/&gt;&lt;/TableIndex&gt;&lt;/ShapeTextInfo&gt;"/>
</p:tagLst>
</file>

<file path=ppt/tags/tag2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0DAE52E-8301-41F8-A056-1A6B0405D0A0}_2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B61A2FE6-EA95-4037-98E0-6123E5F94819}_27.png&quot;/&gt;&lt;left val=&quot;422&quot;/&gt;&lt;top val=&quot;109&quot;/&gt;&lt;width val=&quot;120&quot;/&gt;&lt;height val=&quot;60&quot;/&gt;&lt;hasText val=&quot;1&quot;/&gt;&lt;/Image&gt;&lt;/ThreeDShapeInfo&gt;"/>
  <p:tag name="PRESENTER_SHAPETEXTINFO" val="&lt;ShapeTextInfo&gt;&lt;TableIndex row=&quot;-1&quot; col=&quot;-1&quot;&gt;&lt;linesCount val=&quot;1&quot;/&gt;&lt;lineCharCount val=&quot;3&quot;/&gt;&lt;/TableIndex&gt;&lt;/ShapeTextInfo&gt;"/>
</p:tagLst>
</file>

<file path=ppt/tags/tag2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4CC6F46C-FF50-4905-A091-7CF56A25134D}_27.png&quot;/&gt;&lt;left val=&quot;23&quot;/&gt;&lt;top val=&quot;392&quot;/&gt;&lt;width val=&quot;211&quot;/&gt;&lt;height val=&quot;141&quot;/&gt;&lt;hasText val=&quot;1&quot;/&gt;&lt;/Image&gt;&lt;/ThreeDShapeInfo&gt;"/>
  <p:tag name="PRESENTER_SHAPETEXTINFO" val="&lt;ShapeTextInfo&gt;&lt;TableIndex row=&quot;-1&quot; col=&quot;-1&quot;&gt;&lt;linesCount val=&quot;2&quot;/&gt;&lt;lineCharCount val=&quot;13&quot;/&gt;&lt;lineCharCount val=&quot;15&quot;/&gt;&lt;/TableIndex&gt;&lt;/ShapeTextInfo&gt;"/>
</p:tagLst>
</file>

<file path=ppt/tags/tag2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80688E66-2BEC-4F43-AFCA-6688D4DF1822}_27.png&quot;/&gt;&lt;left val=&quot;216&quot;/&gt;&lt;top val=&quot;381&quot;/&gt;&lt;width val=&quot;452&quot;/&gt;&lt;height val=&quot;99&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0&quot;/&gt;&lt;/TableIndex&gt;&lt;TableIndex row=&quot;3&quot; col=&quot;10&quot;&gt;&lt;linesCount val=&quot;0&quot;/&gt;&lt;/TableIndex&gt;&lt;TableIndex row=&quot;3&quot; col=&quot;11&quot;&gt;&lt;linesCount val=&quot;0&quot;/&gt;&lt;/TableIndex&gt;&lt;/ShapeTextInfo&gt;"/>
</p:tagLst>
</file>

<file path=ppt/tags/tag2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4.xml><?xml version="1.0" encoding="utf-8"?>
<p:tagLst xmlns:a="http://schemas.openxmlformats.org/drawingml/2006/main" xmlns:r="http://schemas.openxmlformats.org/officeDocument/2006/relationships" xmlns:p="http://schemas.openxmlformats.org/presentationml/2006/main">
  <p:tag name="HTML_SHAPEINFO" val="&lt;SlideThumbPath val=&quot;Slide28.PNG&quot;/&gt;"/>
  <p:tag name="PPSNARRATION" val="28,398844766,C:\Users\sanmi\GoogleDrive\UWMdrive\Courses\ECE552\ece552-lec09_DataHazards_pptx\Media.ppcx"/>
  <p:tag name="TIMING" val="|26"/>
</p:tagLst>
</file>

<file path=ppt/tags/tag265.xml><?xml version="1.0" encoding="utf-8"?>
<p:tagLst xmlns:a="http://schemas.openxmlformats.org/drawingml/2006/main" xmlns:r="http://schemas.openxmlformats.org/officeDocument/2006/relationships" xmlns:p="http://schemas.openxmlformats.org/presentationml/2006/main">
  <p:tag name="PRESENTER_SHAPEINFO" val="&lt;ThreeDShapeInfo&gt;&lt;uuid val=&quot;{6379663B-A99D-4D6D-94C4-27C9372380D6}&quot;/&gt;&lt;isInvalidForFieldText val=&quot;0&quot;/&gt;&lt;Image&gt;&lt;filename val=&quot;C:\Users\sanmi\Documents\My Adobe Presentations\ece552f2019-DataHazards\data\asimages\{6379663B-A99D-4D6D-94C4-27C9372380D6}.png&quot;/&gt;&lt;left val=&quot;59&quot;/&gt;&lt;top val=&quot;203&quot;/&gt;&lt;width val=&quot;610&quot;/&gt;&lt;height val=&quot;334&quot;/&gt;&lt;hasText val=&quot;1&quot;/&gt;&lt;/Image&gt;&lt;/ThreeDShapeInfo&gt;"/>
</p:tagLst>
</file>

<file path=ppt/tags/tag2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4BB0DE64-CA14-4E62-A3B5-23C6F0BA8F22}_2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5&quot;/&gt;&lt;/TableIndex&gt;&lt;/ShapeTextInfo&gt;"/>
</p:tagLst>
</file>

<file path=ppt/tags/tag2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F51C95FA-8F5E-4DD5-9CAA-A2F49E44689A}_28.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68.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66E0B6F5-665F-4C88-8E57-44795EF66F48}_1.png_crop.png&quot;/&gt;&lt;left val=&quot;44&quot;/&gt;&lt;top val=&quot;112&quot;/&gt;&lt;width val=&quot;571&quot;/&gt;&lt;height val=&quot;24&quot;/&gt;&lt;hasText val=&quot;1&quot;/&gt;&lt;paraId val=&quot;1&quot;/&gt;&lt;/Image&gt;&lt;Image&gt;&lt;filename val=&quot;C:\Users\sanmi\Documents\My Adobe Presentations\ece552f2019-DataHazards\data\asimages\{D5F094EB-381B-48B7-9DE3-DC1FCBD02122}_1.png_crop.png&quot;/&gt;&lt;left val=&quot;78&quot;/&gt;&lt;top val=&quot;150&quot;/&gt;&lt;width val=&quot;586&quot;/&gt;&lt;height val=&quot;20&quot;/&gt;&lt;hasText val=&quot;1&quot;/&gt;&lt;paraId val=&quot;2&quot;/&gt;&lt;/Image&gt;&lt;Image&gt;&lt;filename val=&quot;C:\Users\sanmi\Documents\My Adobe Presentations\ece552f2019-DataHazards\data\asimages\{6F21591E-9F49-453E-9005-3A3B2675A364}_1.png_crop.png&quot;/&gt;&lt;left val=&quot;78&quot;/&gt;&lt;top val=&quot;185&quot;/&gt;&lt;width val=&quot;526&quot;/&gt;&lt;height val=&quot;20&quot;/&gt;&lt;hasText val=&quot;1&quot;/&gt;&lt;paraId val=&quot;3&quot;/&gt;&lt;/Image&gt;&lt;/TextEffect&gt;"/>
  <p:tag name="PRESENTER_SHAPETEXTINFO" val="&lt;ShapeTextInfo&gt;&lt;TableIndex row=&quot;-1&quot; col=&quot;-1&quot;&gt;&lt;linesCount val=&quot;3&quot;/&gt;&lt;lineCharCount val=&quot;49&quot;/&gt;&lt;lineCharCount val=&quot;58&quot;/&gt;&lt;lineCharCount val=&quot;44&quot;/&gt;&lt;/TableIndex&gt;&lt;/ShapeTextInfo&gt;"/>
</p:tagLst>
</file>

<file path=ppt/tags/tag269.xml><?xml version="1.0" encoding="utf-8"?>
<p:tagLst xmlns:a="http://schemas.openxmlformats.org/drawingml/2006/main" xmlns:r="http://schemas.openxmlformats.org/officeDocument/2006/relationships" xmlns:p="http://schemas.openxmlformats.org/presentationml/2006/main">
  <p:tag name="HTML_SHAPEINFO" val="&lt;SlideThumbPath val=&quot;Slide29.PNG&quot;/&gt;"/>
  <p:tag name="PPSNARRATION" val="29,398844766,C:\Users\sanmi\GoogleDrive\UWMdrive\Courses\ECE552\ece552-lec09_DataHazards_pptx\Media.ppcx"/>
</p:tagLst>
</file>

<file path=ppt/tags/tag2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C50302E-31D7-431D-8EA3-75537D6CABC5}_2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2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827A1B1F-B3A8-40A4-9B6E-5DF2DD23D3F0}_2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72.xml><?xml version="1.0" encoding="utf-8"?>
<p:tagLst xmlns:a="http://schemas.openxmlformats.org/drawingml/2006/main" xmlns:r="http://schemas.openxmlformats.org/officeDocument/2006/relationships" xmlns:p="http://schemas.openxmlformats.org/presentationml/2006/main">
  <p:tag name="PRESENTER_SHAPEINFO" val="&lt;ThreeDShapeInfo&gt;&lt;uuid val=&quot;{1D7739AF-6311-44D8-BB68-6410C0A611F4}&quot;/&gt;&lt;isInvalidForFieldText val=&quot;0&quot;/&gt;&lt;Image&gt;&lt;filename val=&quot;C:\Users\sanmi\Documents\My Adobe Presentations\ece552f2019-DataHazards\data\asimages\{1D7739AF-6311-44D8-BB68-6410C0A611F4}.png&quot;/&gt;&lt;left val=&quot;15&quot;/&gt;&lt;top val=&quot;103&quot;/&gt;&lt;width val=&quot;689&quot;/&gt;&lt;height val=&quot;414&quot;/&gt;&lt;hasText val=&quot;1&quot;/&gt;&lt;/Image&gt;&lt;/ThreeDShapeInfo&gt;"/>
</p:tagLst>
</file>

<file path=ppt/tags/tag273.xml><?xml version="1.0" encoding="utf-8"?>
<p:tagLst xmlns:a="http://schemas.openxmlformats.org/drawingml/2006/main" xmlns:r="http://schemas.openxmlformats.org/officeDocument/2006/relationships" xmlns:p="http://schemas.openxmlformats.org/presentationml/2006/main">
  <p:tag name="HTML_SHAPEINFO" val="&lt;SlideThumbPath val=&quot;Slide30.PNG&quot;/&gt;"/>
  <p:tag name="PPSNARRATION" val="30,398844766,C:\Users\sanmi\GoogleDrive\UWMdrive\Courses\ECE552\ece552-lec09_DataHazards_pptx\Media.ppcx"/>
</p:tagLst>
</file>

<file path=ppt/tags/tag2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0B33516-C042-48FC-9D2E-776D7F412C28}_3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2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B795293-1445-4573-A32D-32F2FC362A19}_30.png&quot;/&gt;&lt;left val=&quot;43&quot;/&gt;&lt;top val=&quot;116&quot;/&gt;&lt;width val=&quot;622&quot;/&gt;&lt;height val=&quot;183&quot;/&gt;&lt;hasText val=&quot;1&quot;/&gt;&lt;/Image&gt;&lt;/ThreeDShapeInfo&gt;"/>
  <p:tag name="PRESENTER_SHAPETEXTINFO" val="&lt;ShapeTextInfo&gt;&lt;TableIndex row=&quot;-1&quot; col=&quot;-1&quot;&gt;&lt;linesCount val=&quot;5&quot;/&gt;&lt;lineCharCount val=&quot;16&quot;/&gt;&lt;lineCharCount val=&quot;16&quot;/&gt;&lt;lineCharCount val=&quot;19&quot;/&gt;&lt;lineCharCount val=&quot;1&quot;/&gt;&lt;lineCharCount val=&quot;37&quot;/&gt;&lt;/TableIndex&gt;&lt;/ShapeTextInfo&gt;"/>
</p:tagLst>
</file>

<file path=ppt/tags/tag2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36092B3-10A3-4F2E-B47F-C495B3B11B1A}_30.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8621835-A361-41F6-B2B5-563C29C7A8BB}_30.png&quot;/&gt;&lt;left val=&quot;60&quot;/&gt;&lt;top val=&quot;292&quot;/&gt;&lt;width val=&quot;562&quot;/&gt;&lt;height val=&quot;143&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6&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ShapeTextInfo&gt;"/>
</p:tagLst>
</file>

<file path=ppt/tags/tag278.xml><?xml version="1.0" encoding="utf-8"?>
<p:tagLst xmlns:a="http://schemas.openxmlformats.org/drawingml/2006/main" xmlns:r="http://schemas.openxmlformats.org/officeDocument/2006/relationships" xmlns:p="http://schemas.openxmlformats.org/presentationml/2006/main">
  <p:tag name="HTML_SHAPEINFO" val="&lt;SlideThumbPath val=&quot;Slide31.PNG&quot;/&gt;"/>
  <p:tag name="PPSNARRATION" val="31,398844766,C:\Users\sanmi\GoogleDrive\UWMdrive\Courses\ECE552\ece552-lec09_DataHazards_pptx\Media.ppcx"/>
</p:tagLst>
</file>

<file path=ppt/tags/tag2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3C263C4-EC9D-4406-AAE2-6A3C3FF4774B}_3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2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07F9A1A-6D32-4F1E-A73D-FFA2A3BE229E}_31.png&quot;/&gt;&lt;left val=&quot;43&quot;/&gt;&lt;top val=&quot;116&quot;/&gt;&lt;width val=&quot;622&quot;/&gt;&lt;height val=&quot;183&quot;/&gt;&lt;hasText val=&quot;1&quot;/&gt;&lt;/Image&gt;&lt;/ThreeDShapeInfo&gt;"/>
  <p:tag name="PRESENTER_SHAPETEXTINFO" val="&lt;ShapeTextInfo&gt;&lt;TableIndex row=&quot;-1&quot; col=&quot;-1&quot;&gt;&lt;linesCount val=&quot;5&quot;/&gt;&lt;lineCharCount val=&quot;16&quot;/&gt;&lt;lineCharCount val=&quot;16&quot;/&gt;&lt;lineCharCount val=&quot;19&quot;/&gt;&lt;lineCharCount val=&quot;1&quot;/&gt;&lt;lineCharCount val=&quot;37&quot;/&gt;&lt;/TableIndex&gt;&lt;/ShapeTextInfo&gt;"/>
</p:tagLst>
</file>

<file path=ppt/tags/tag2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49DCE32-4A84-4AFB-AD08-5D74855FE1E4}_3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AA5CB8D1-8279-4160-9202-BD5059F60BEE}_31.png&quot;/&gt;&lt;left val=&quot;60&quot;/&gt;&lt;top val=&quot;292&quot;/&gt;&lt;width val=&quot;562&quot;/&gt;&lt;height val=&quot;14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6&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6&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2&quot;/&gt;&lt;/TableIndex&gt;&lt;TableIndex row=&quot;4&quot; col=&quot;5&quot;&gt;&lt;linesCount val=&quot;1&quot;/&gt;&lt;lineCharCount val=&quot;1&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ShapeTextInfo&gt;"/>
</p:tagLst>
</file>

<file path=ppt/tags/tag283.xml><?xml version="1.0" encoding="utf-8"?>
<p:tagLst xmlns:a="http://schemas.openxmlformats.org/drawingml/2006/main" xmlns:r="http://schemas.openxmlformats.org/officeDocument/2006/relationships" xmlns:p="http://schemas.openxmlformats.org/presentationml/2006/main">
  <p:tag name="HTML_SHAPEINFO" val="&lt;SlideThumbPath val=&quot;Slide32.PNG&quot;/&gt;"/>
  <p:tag name="PPSNARRATION" val="32,398844766,C:\Users\sanmi\GoogleDrive\UWMdrive\Courses\ECE552\ece552-lec09_DataHazards_pptx\Media.ppcx"/>
</p:tagLst>
</file>

<file path=ppt/tags/tag28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20BE2635-2F7D-4E14-AFEF-33348483A704}_3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2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80EAC28-0A38-4937-B6FD-AA3DE16188E1}_32.png&quot;/&gt;&lt;left val=&quot;43&quot;/&gt;&lt;top val=&quot;116&quot;/&gt;&lt;width val=&quot;622&quot;/&gt;&lt;height val=&quot;183&quot;/&gt;&lt;hasText val=&quot;1&quot;/&gt;&lt;/Image&gt;&lt;/ThreeDShapeInfo&gt;"/>
  <p:tag name="PRESENTER_SHAPETEXTINFO" val="&lt;ShapeTextInfo&gt;&lt;TableIndex row=&quot;-1&quot; col=&quot;-1&quot;&gt;&lt;linesCount val=&quot;5&quot;/&gt;&lt;lineCharCount val=&quot;16&quot;/&gt;&lt;lineCharCount val=&quot;16&quot;/&gt;&lt;lineCharCount val=&quot;19&quot;/&gt;&lt;lineCharCount val=&quot;1&quot;/&gt;&lt;lineCharCount val=&quot;37&quot;/&gt;&lt;/TableIndex&gt;&lt;/ShapeTextInfo&gt;"/>
</p:tagLst>
</file>

<file path=ppt/tags/tag28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589F5863-C8B3-4D1F-8F09-D65429865557}_3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E576BF8E-E09D-4617-8EE9-9053DF5BE8C1}_32.png&quot;/&gt;&lt;left val=&quot;60&quot;/&gt;&lt;top val=&quot;292&quot;/&gt;&lt;width val=&quot;562&quot;/&gt;&lt;height val=&quot;21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6&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6&quot;/&gt;&lt;/TableIndex&gt;&lt;TableIndex row=&quot;4&quot; col=&quot;2&quot;&gt;&lt;linesCount val=&quot;0&quot;/&gt;&lt;/TableIndex&gt;&lt;TableIndex row=&quot;4&quot; col=&quot;3&quot;&gt;&lt;linesCount val=&quot;1&quot;/&gt;&lt;lineCharCount val=&quot;1&quot;/&gt;&lt;/TableIndex&gt;&lt;TableIndex row=&quot;4&quot; col=&quot;4&quot;&gt;&lt;linesCount val=&quot;1&quot;/&gt;&lt;lineCharCount val=&quot;2&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1&quot;/&gt;&lt;lineCharCount val=&quot;2&quot;/&gt;&lt;/TableIndex&gt;&lt;TableIndex row=&quot;6&quot; col=&quot;5&quot;&gt;&lt;linesCount val=&quot;1&quot;/&gt;&lt;lineCharCount val=&quot;1&quot;/&gt;&lt;/TableIndex&gt;&lt;TableIndex row=&quot;6&quot; col=&quot;6&quot;&gt;&lt;linesCount val=&quot;1&quot;/&gt;&lt;lineCharCount val=&quot;2&quot;/&gt;&lt;/TableIndex&gt;&lt;TableIndex row=&quot;6&quot; col=&quot;7&quot;&gt;&lt;linesCount val=&quot;1&quot;/&gt;&lt;lineCharCount val=&quot;1&quot;/&gt;&lt;/TableIndex&gt;&lt;TableIndex row=&quot;6&quot; col=&quot;8&quot;&gt;&lt;linesCount val=&quot;1&quot;/&gt;&lt;lineCharCount val=&quot;1&quot;/&gt;&lt;/TableIndex&gt;&lt;TableIndex row=&quot;6&quot; col=&quot;9&quot;&gt;&lt;linesCount val=&quot;1&quot;/&gt;&lt;lineCharCount val=&quot;1&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ShapeTextInfo&gt;"/>
</p:tagLst>
</file>

<file path=ppt/tags/tag2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BA58FECC-0488-4F3D-AE0A-5913D2A1B0FC}_32.png&quot;/&gt;&lt;left val=&quot;245&quot;/&gt;&lt;top val=&quot;495&quot;/&gt;&lt;width val=&quot;67&quot;/&gt;&lt;height val=&quot;43&quot;/&gt;&lt;hasText val=&quot;1&quot;/&gt;&lt;/Image&gt;&lt;/ThreeDShapeInfo&gt;"/>
  <p:tag name="PRESENTER_SHAPETEXTINFO" val="&lt;ShapeTextInfo&gt;&lt;TableIndex row=&quot;-1&quot; col=&quot;-1&quot;&gt;&lt;linesCount val=&quot;1&quot;/&gt;&lt;lineCharCount val=&quot;6&quot;/&gt;&lt;/TableIndex&gt;&lt;/ShapeTextInfo&gt;"/>
</p:tagLst>
</file>

<file path=ppt/tags/tag2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575CBCF-CACF-48E9-9523-F9B1E2DDCCDB}_32.png&quot;/&gt;&lt;left val=&quot;64&quot;/&gt;&lt;top val=&quot;363&quot;/&gt;&lt;width val=&quot;62&quot;/&gt;&lt;height val=&quot;43&quot;/&gt;&lt;hasText val=&quot;1&quot;/&gt;&lt;/Image&gt;&lt;/ThreeDShapeInfo&gt;"/>
  <p:tag name="PRESENTER_SHAPETEXTINFO" val="&lt;ShapeTextInfo&gt;&lt;TableIndex row=&quot;-1&quot; col=&quot;-1&quot;&gt;&lt;linesCount val=&quot;1&quot;/&gt;&lt;lineCharCount val=&quot;3&quot;/&gt;&lt;/TableIndex&gt;&lt;/ShapeTextInfo&gt;"/>
</p:tagLst>
</file>

<file path=ppt/tags/tag2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AE35A7A2-36E1-42CE-A95C-2981CBEC5905}_32.png&quot;/&gt;&lt;left val=&quot;64&quot;/&gt;&lt;top val=&quot;431&quot;/&gt;&lt;width val=&quot;62&quot;/&gt;&lt;height val=&quot;43&quot;/&gt;&lt;hasText val=&quot;1&quot;/&gt;&lt;/Image&gt;&lt;/ThreeDShapeInfo&gt;"/>
  <p:tag name="PRESENTER_SHAPETEXTINFO" val="&lt;ShapeTextInfo&gt;&lt;TableIndex row=&quot;-1&quot; col=&quot;-1&quot;&gt;&lt;linesCount val=&quot;1&quot;/&gt;&lt;lineCharCount val=&quot;3&quot;/&gt;&lt;/TableIndex&gt;&lt;/ShapeTextInfo&gt;"/>
</p:tagLst>
</file>

<file path=ppt/tags/tag294.xml><?xml version="1.0" encoding="utf-8"?>
<p:tagLst xmlns:a="http://schemas.openxmlformats.org/drawingml/2006/main" xmlns:r="http://schemas.openxmlformats.org/officeDocument/2006/relationships" xmlns:p="http://schemas.openxmlformats.org/presentationml/2006/main">
  <p:tag name="HTML_SHAPEINFO" val="&lt;SlideThumbPath val=&quot;Slide33.PNG&quot;/&gt;"/>
  <p:tag name="PPSNARRATION" val="33,398844766,C:\Users\sanmi\GoogleDrive\UWMdrive\Courses\ECE552\ece552-lec09_DataHazards_pptx\Media.ppcx"/>
</p:tagLst>
</file>

<file path=ppt/tags/tag2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B7D9FC5C-61B9-4EE7-9811-9E1E292BB950}_3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55003A2C-ED66-4D30-A8C4-25F127CA7E63}_33.png&quot;/&gt;&lt;left val=&quot;241&quot;/&gt;&lt;top val=&quot;459&quot;/&gt;&lt;width val=&quot;92&quot;/&gt;&lt;height val=&quot;51&quot;/&gt;&lt;hasText val=&quot;1&quot;/&gt;&lt;/Image&gt;&lt;/ThreeDShapeInfo&gt;"/>
  <p:tag name="PRESENTER_SHAPETEXTINFO" val="&lt;ShapeTextInfo&gt;&lt;TableIndex row=&quot;-1&quot; col=&quot;-1&quot;&gt;&lt;linesCount val=&quot;1&quot;/&gt;&lt;lineCharCount val=&quot;6&quot;/&gt;&lt;/TableIndex&gt;&lt;/ShapeTextInfo&gt;"/>
</p:tagLst>
</file>

<file path=ppt/tags/tag2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28BD83A5-F1DD-446F-885B-C893DE8745AF}_3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2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2FE0F67-1F1D-49A8-94C5-E987B83F4DFD}_33.png&quot;/&gt;&lt;left val=&quot;101&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2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76BB324-82E0-4958-A5E9-90AB99913D8B}_33.png&quot;/&gt;&lt;left val=&quot;385&quot;/&gt;&lt;top val=&quot;459&quot;/&gt;&lt;width val=&quot;92&quot;/&gt;&lt;height val=&quot;51&quot;/&gt;&lt;hasText val=&quot;1&quot;/&gt;&lt;/Image&gt;&lt;/ThreeDShapeInfo&gt;"/>
  <p:tag name="PRESENTER_SHAPETEXTINFO" val="&lt;ShapeTextInfo&gt;&lt;TableIndex row=&quot;-1&quot; col=&quot;-1&quot;&gt;&lt;linesCount val=&quot;1&quot;/&gt;&lt;lineCharCount val=&quot;6&quot;/&gt;&lt;/TableIndex&gt;&lt;/ShapeTextInfo&gt;"/>
</p:tagLst>
</file>

<file path=ppt/tags/tag3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EDC4C03-954B-4057-A669-D2435EC8A667}_33.png&quot;/&gt;&lt;left val=&quot;-7&quot;/&gt;&lt;top val=&quot;331&quot;/&gt;&lt;width val=&quot;116&quot;/&gt;&lt;height val=&quot;51&quot;/&gt;&lt;hasText val=&quot;1&quot;/&gt;&lt;/Image&gt;&lt;/ThreeDShapeInfo&gt;"/>
  <p:tag name="PRESENTER_SHAPETEXTINFO" val="&lt;ShapeTextInfo&gt;&lt;TableIndex row=&quot;-1&quot; col=&quot;-1&quot;&gt;&lt;linesCount val=&quot;1&quot;/&gt;&lt;lineCharCount val=&quot;8&quot;/&gt;&lt;/TableIndex&gt;&lt;/ShapeTextInfo&gt;"/>
</p:tagLst>
</file>

<file path=ppt/tags/tag3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4C50FF91-FC87-4FC7-927E-0F2357AA5EBF}_33.png&quot;/&gt;&lt;left val=&quot;60&quot;/&gt;&lt;top val=&quot;96&quot;/&gt;&lt;width val=&quot;562&quot;/&gt;&lt;height val=&quot;21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6&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6&quot;/&gt;&lt;/TableIndex&gt;&lt;TableIndex row=&quot;4&quot; col=&quot;2&quot;&gt;&lt;linesCount val=&quot;0&quot;/&gt;&lt;/TableIndex&gt;&lt;TableIndex row=&quot;4&quot; col=&quot;3&quot;&gt;&lt;linesCount val=&quot;1&quot;/&gt;&lt;lineCharCount val=&quot;1&quot;/&gt;&lt;/TableIndex&gt;&lt;TableIndex row=&quot;4&quot; col=&quot;4&quot;&gt;&lt;linesCount val=&quot;1&quot;/&gt;&lt;lineCharCount val=&quot;2&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1&quot;/&gt;&lt;lineCharCount val=&quot;2&quot;/&gt;&lt;/TableIndex&gt;&lt;TableIndex row=&quot;6&quot; col=&quot;5&quot;&gt;&lt;linesCount val=&quot;1&quot;/&gt;&lt;lineCharCount val=&quot;1&quot;/&gt;&lt;/TableIndex&gt;&lt;TableIndex row=&quot;6&quot; col=&quot;6&quot;&gt;&lt;linesCount val=&quot;1&quot;/&gt;&lt;lineCharCount val=&quot;2&quot;/&gt;&lt;/TableIndex&gt;&lt;TableIndex row=&quot;6&quot; col=&quot;7&quot;&gt;&lt;linesCount val=&quot;1&quot;/&gt;&lt;lineCharCount val=&quot;1&quot;/&gt;&lt;/TableIndex&gt;&lt;TableIndex row=&quot;6&quot; col=&quot;8&quot;&gt;&lt;linesCount val=&quot;1&quot;/&gt;&lt;lineCharCount val=&quot;1&quot;/&gt;&lt;/TableIndex&gt;&lt;TableIndex row=&quot;6&quot; col=&quot;9&quot;&gt;&lt;linesCount val=&quot;1&quot;/&gt;&lt;lineCharCount val=&quot;1&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ShapeTextInfo&gt;"/>
</p:tagLst>
</file>

<file path=ppt/tags/tag302.xml><?xml version="1.0" encoding="utf-8"?>
<p:tagLst xmlns:a="http://schemas.openxmlformats.org/drawingml/2006/main" xmlns:r="http://schemas.openxmlformats.org/officeDocument/2006/relationships" xmlns:p="http://schemas.openxmlformats.org/presentationml/2006/main">
  <p:tag name="HTML_SHAPEINFO" val="&lt;SlideThumbPath val=&quot;Slide34.PNG&quot;/&gt;"/>
  <p:tag name="PPSNARRATION" val="34,398844766,C:\Users\sanmi\GoogleDrive\UWMdrive\Courses\ECE552\ece552-lec09_DataHazards_pptx\Media.ppcx"/>
</p:tagLst>
</file>

<file path=ppt/tags/tag30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C7D3034-60FC-4686-886B-67DB99AE47EE}_3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0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F7CB1EE9-6EEE-4E64-B6EE-7FDCF332908B}_34.png&quot;/&gt;&lt;left val=&quot;241&quot;/&gt;&lt;top val=&quot;459&quot;/&gt;&lt;width val=&quot;92&quot;/&gt;&lt;height val=&quot;51&quot;/&gt;&lt;hasText val=&quot;1&quot;/&gt;&lt;/Image&gt;&lt;/ThreeDShapeInfo&gt;"/>
  <p:tag name="PRESENTER_SHAPETEXTINFO" val="&lt;ShapeTextInfo&gt;&lt;TableIndex row=&quot;-1&quot; col=&quot;-1&quot;&gt;&lt;linesCount val=&quot;1&quot;/&gt;&lt;lineCharCount val=&quot;6&quot;/&gt;&lt;/TableIndex&gt;&lt;/ShapeTextInfo&gt;"/>
</p:tagLst>
</file>

<file path=ppt/tags/tag3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8EDE34FD-34D2-4A87-8B9E-AB267E1B7FE5}_3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0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54B829FA-2858-4D62-A475-0152E2B7EA98}_34.png&quot;/&gt;&lt;left val=&quot;101&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0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B7B93D08-E226-43B2-8E95-D39853FDC468}_34.png&quot;/&gt;&lt;left val=&quot;389&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8DE5B07-9491-49C7-8FBE-B3A7866A984E}_34.png&quot;/&gt;&lt;left val=&quot;-7&quot;/&gt;&lt;top val=&quot;331&quot;/&gt;&lt;width val=&quot;116&quot;/&gt;&lt;height val=&quot;51&quot;/&gt;&lt;hasText val=&quot;1&quot;/&gt;&lt;/Image&gt;&lt;/ThreeDShapeInfo&gt;"/>
  <p:tag name="PRESENTER_SHAPETEXTINFO" val="&lt;ShapeTextInfo&gt;&lt;TableIndex row=&quot;-1&quot; col=&quot;-1&quot;&gt;&lt;linesCount val=&quot;1&quot;/&gt;&lt;lineCharCount val=&quot;8&quot;/&gt;&lt;/TableIndex&gt;&lt;/ShapeTextInfo&gt;"/>
</p:tagLst>
</file>

<file path=ppt/tags/tag3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8A894BE5-3D4E-4F40-BEEF-6373CAD67144}_34.png&quot;/&gt;&lt;left val=&quot;490&quot;/&gt;&lt;top val=&quot;459&quot;/&gt;&lt;width val=&quot;92&quot;/&gt;&lt;height val=&quot;51&quot;/&gt;&lt;hasText val=&quot;1&quot;/&gt;&lt;/Image&gt;&lt;/ThreeDShapeInfo&gt;"/>
  <p:tag name="PRESENTER_SHAPETEXTINFO" val="&lt;ShapeTextInfo&gt;&lt;TableIndex row=&quot;-1&quot; col=&quot;-1&quot;&gt;&lt;linesCount val=&quot;1&quot;/&gt;&lt;lineCharCount val=&quot;6&quot;/&gt;&lt;/TableIndex&gt;&lt;/ShapeTextInfo&gt;"/>
</p:tagLst>
</file>

<file path=ppt/tags/tag3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927C04C-BA3A-44FE-BDAD-E09C55C1B5EC}_34.png&quot;/&gt;&lt;left val=&quot;60&quot;/&gt;&lt;top val=&quot;96&quot;/&gt;&lt;width val=&quot;562&quot;/&gt;&lt;height val=&quot;21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6&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6&quot;/&gt;&lt;/TableIndex&gt;&lt;TableIndex row=&quot;4&quot; col=&quot;2&quot;&gt;&lt;linesCount val=&quot;0&quot;/&gt;&lt;/TableIndex&gt;&lt;TableIndex row=&quot;4&quot; col=&quot;3&quot;&gt;&lt;linesCount val=&quot;1&quot;/&gt;&lt;lineCharCount val=&quot;1&quot;/&gt;&lt;/TableIndex&gt;&lt;TableIndex row=&quot;4&quot; col=&quot;4&quot;&gt;&lt;linesCount val=&quot;1&quot;/&gt;&lt;lineCharCount val=&quot;2&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1&quot;/&gt;&lt;lineCharCount val=&quot;2&quot;/&gt;&lt;/TableIndex&gt;&lt;TableIndex row=&quot;6&quot; col=&quot;5&quot;&gt;&lt;linesCount val=&quot;1&quot;/&gt;&lt;lineCharCount val=&quot;1&quot;/&gt;&lt;/TableIndex&gt;&lt;TableIndex row=&quot;6&quot; col=&quot;6&quot;&gt;&lt;linesCount val=&quot;1&quot;/&gt;&lt;lineCharCount val=&quot;2&quot;/&gt;&lt;/TableIndex&gt;&lt;TableIndex row=&quot;6&quot; col=&quot;7&quot;&gt;&lt;linesCount val=&quot;1&quot;/&gt;&lt;lineCharCount val=&quot;1&quot;/&gt;&lt;/TableIndex&gt;&lt;TableIndex row=&quot;6&quot; col=&quot;8&quot;&gt;&lt;linesCount val=&quot;1&quot;/&gt;&lt;lineCharCount val=&quot;1&quot;/&gt;&lt;/TableIndex&gt;&lt;TableIndex row=&quot;6&quot; col=&quot;9&quot;&gt;&lt;linesCount val=&quot;1&quot;/&gt;&lt;lineCharCount val=&quot;1&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ShapeTextInfo&gt;"/>
</p:tagLst>
</file>

<file path=ppt/tags/tag311.xml><?xml version="1.0" encoding="utf-8"?>
<p:tagLst xmlns:a="http://schemas.openxmlformats.org/drawingml/2006/main" xmlns:r="http://schemas.openxmlformats.org/officeDocument/2006/relationships" xmlns:p="http://schemas.openxmlformats.org/presentationml/2006/main">
  <p:tag name="HTML_SHAPEINFO" val="&lt;SlideThumbPath val=&quot;Slide35.PNG&quot;/&gt;"/>
  <p:tag name="PPSNARRATION" val="35,398844766,C:\Users\sanmi\GoogleDrive\UWMdrive\Courses\ECE552\ece552-lec09_DataHazards_pptx\Media.ppcx"/>
</p:tagLst>
</file>

<file path=ppt/tags/tag3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8C1580B-A27B-4C70-B923-8680C77A054C}_35.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FC685587-B42C-4A75-93E2-B7871092D5E9}_35.png&quot;/&gt;&lt;left val=&quot;385&quot;/&gt;&lt;top val=&quot;459&quot;/&gt;&lt;width val=&quot;92&quot;/&gt;&lt;height val=&quot;51&quot;/&gt;&lt;hasText val=&quot;1&quot;/&gt;&lt;/Image&gt;&lt;/ThreeDShapeInfo&gt;"/>
  <p:tag name="PRESENTER_SHAPETEXTINFO" val="&lt;ShapeTextInfo&gt;&lt;TableIndex row=&quot;-1&quot; col=&quot;-1&quot;&gt;&lt;linesCount val=&quot;1&quot;/&gt;&lt;lineCharCount val=&quot;6&quot;/&gt;&lt;/TableIndex&gt;&lt;/ShapeTextInfo&gt;"/>
</p:tagLst>
</file>

<file path=ppt/tags/tag3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4F7AEF27-FA95-494F-9749-4D0C39CE6B9E}_3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6F9421A-AA4C-415F-B199-F25645CCC307}_35.png&quot;/&gt;&lt;left val=&quot;245&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5DE1EB0-0144-4584-95C4-E862275153A4}_35.png&quot;/&gt;&lt;left val=&quot;494&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0F0D01F-E0A1-483C-824F-9C7FC7A8460F}_35.png&quot;/&gt;&lt;left val=&quot;-7&quot;/&gt;&lt;top val=&quot;331&quot;/&gt;&lt;width val=&quot;116&quot;/&gt;&lt;height val=&quot;51&quot;/&gt;&lt;hasText val=&quot;1&quot;/&gt;&lt;/Image&gt;&lt;/ThreeDShapeInfo&gt;"/>
  <p:tag name="PRESENTER_SHAPETEXTINFO" val="&lt;ShapeTextInfo&gt;&lt;TableIndex row=&quot;-1&quot; col=&quot;-1&quot;&gt;&lt;linesCount val=&quot;1&quot;/&gt;&lt;lineCharCount val=&quot;8&quot;/&gt;&lt;/TableIndex&gt;&lt;/ShapeTextInfo&gt;"/>
</p:tagLst>
</file>

<file path=ppt/tags/tag3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32F860E-F511-4CF9-A220-E2D9F82AE0F4}_35.png&quot;/&gt;&lt;left val=&quot;595&quot;/&gt;&lt;top val=&quot;459&quot;/&gt;&lt;width val=&quot;92&quot;/&gt;&lt;height val=&quot;51&quot;/&gt;&lt;hasText val=&quot;1&quot;/&gt;&lt;/Image&gt;&lt;/ThreeDShapeInfo&gt;"/>
  <p:tag name="PRESENTER_SHAPETEXTINFO" val="&lt;ShapeTextInfo&gt;&lt;TableIndex row=&quot;-1&quot; col=&quot;-1&quot;&gt;&lt;linesCount val=&quot;1&quot;/&gt;&lt;lineCharCount val=&quot;6&quot;/&gt;&lt;/TableIndex&gt;&lt;/ShapeTextInfo&gt;"/>
</p:tagLst>
</file>

<file path=ppt/tags/tag3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FA7513DD-3C0D-44B6-8148-8E84E903B3A9}_35.png&quot;/&gt;&lt;left val=&quot;60&quot;/&gt;&lt;top val=&quot;96&quot;/&gt;&lt;width val=&quot;562&quot;/&gt;&lt;height val=&quot;21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6&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6&quot;/&gt;&lt;/TableIndex&gt;&lt;TableIndex row=&quot;4&quot; col=&quot;2&quot;&gt;&lt;linesCount val=&quot;0&quot;/&gt;&lt;/TableIndex&gt;&lt;TableIndex row=&quot;4&quot; col=&quot;3&quot;&gt;&lt;linesCount val=&quot;1&quot;/&gt;&lt;lineCharCount val=&quot;1&quot;/&gt;&lt;/TableIndex&gt;&lt;TableIndex row=&quot;4&quot; col=&quot;4&quot;&gt;&lt;linesCount val=&quot;1&quot;/&gt;&lt;lineCharCount val=&quot;2&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1&quot;/&gt;&lt;lineCharCount val=&quot;2&quot;/&gt;&lt;/TableIndex&gt;&lt;TableIndex row=&quot;6&quot; col=&quot;5&quot;&gt;&lt;linesCount val=&quot;1&quot;/&gt;&lt;lineCharCount val=&quot;1&quot;/&gt;&lt;/TableIndex&gt;&lt;TableIndex row=&quot;6&quot; col=&quot;6&quot;&gt;&lt;linesCount val=&quot;1&quot;/&gt;&lt;lineCharCount val=&quot;2&quot;/&gt;&lt;/TableIndex&gt;&lt;TableIndex row=&quot;6&quot; col=&quot;7&quot;&gt;&lt;linesCount val=&quot;1&quot;/&gt;&lt;lineCharCount val=&quot;1&quot;/&gt;&lt;/TableIndex&gt;&lt;TableIndex row=&quot;6&quot; col=&quot;8&quot;&gt;&lt;linesCount val=&quot;1&quot;/&gt;&lt;lineCharCount val=&quot;1&quot;/&gt;&lt;/TableIndex&gt;&lt;TableIndex row=&quot;6&quot; col=&quot;9&quot;&gt;&lt;linesCount val=&quot;1&quot;/&gt;&lt;lineCharCount val=&quot;1&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ShapeTextInfo&gt;"/>
</p:tagLst>
</file>

<file path=ppt/tags/tag3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21.xml><?xml version="1.0" encoding="utf-8"?>
<p:tagLst xmlns:a="http://schemas.openxmlformats.org/drawingml/2006/main" xmlns:r="http://schemas.openxmlformats.org/officeDocument/2006/relationships" xmlns:p="http://schemas.openxmlformats.org/presentationml/2006/main">
  <p:tag name="HTML_SHAPEINFO" val="&lt;SlideThumbPath val=&quot;Slide36.PNG&quot;/&gt;"/>
  <p:tag name="PPSNARRATION" val="36,398844766,C:\Users\sanmi\GoogleDrive\UWMdrive\Courses\ECE552\ece552-lec09_DataHazards_pptx\Media.ppcx"/>
</p:tagLst>
</file>

<file path=ppt/tags/tag3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8ACD739C-4DB2-4250-869E-786800BC711B}_36.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1D5270B8-EEDF-4529-BA50-1566D99A2D10}_36.png&quot;/&gt;&lt;left val=&quot;487&quot;/&gt;&lt;top val=&quot;459&quot;/&gt;&lt;width val=&quot;92&quot;/&gt;&lt;height val=&quot;51&quot;/&gt;&lt;hasText val=&quot;1&quot;/&gt;&lt;/Image&gt;&lt;/ThreeDShapeInfo&gt;"/>
  <p:tag name="PRESENTER_SHAPETEXTINFO" val="&lt;ShapeTextInfo&gt;&lt;TableIndex row=&quot;-1&quot; col=&quot;-1&quot;&gt;&lt;linesCount val=&quot;1&quot;/&gt;&lt;lineCharCount val=&quot;6&quot;/&gt;&lt;/TableIndex&gt;&lt;/ShapeTextInfo&gt;"/>
</p:tagLst>
</file>

<file path=ppt/tags/tag3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4A968656-B6E7-4621-B8CA-E13CE7C59396}_3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EB00ED2A-2338-426C-BAE2-FB680CA565A1}_36.png&quot;/&gt;&lt;left val=&quot;245&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5C9A695D-0FA6-4246-995B-9CE87A18F882}_36.png&quot;/&gt;&lt;left val=&quot;596&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970DD64-F097-4F67-93F2-1FE1BE8B3A04}_36.png&quot;/&gt;&lt;left val=&quot;-7&quot;/&gt;&lt;top val=&quot;331&quot;/&gt;&lt;width val=&quot;116&quot;/&gt;&lt;height val=&quot;51&quot;/&gt;&lt;hasText val=&quot;1&quot;/&gt;&lt;/Image&gt;&lt;/ThreeDShapeInfo&gt;"/>
  <p:tag name="PRESENTER_SHAPETEXTINFO" val="&lt;ShapeTextInfo&gt;&lt;TableIndex row=&quot;-1&quot; col=&quot;-1&quot;&gt;&lt;linesCount val=&quot;1&quot;/&gt;&lt;lineCharCount val=&quot;8&quot;/&gt;&lt;/TableIndex&gt;&lt;/ShapeTextInfo&gt;"/>
</p:tagLst>
</file>

<file path=ppt/tags/tag3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BA04C50A-5634-4446-9B44-B2707DC14F3E}_36.png&quot;/&gt;&lt;left val=&quot;60&quot;/&gt;&lt;top val=&quot;96&quot;/&gt;&lt;width val=&quot;562&quot;/&gt;&lt;height val=&quot;21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6&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6&quot;/&gt;&lt;/TableIndex&gt;&lt;TableIndex row=&quot;4&quot; col=&quot;2&quot;&gt;&lt;linesCount val=&quot;0&quot;/&gt;&lt;/TableIndex&gt;&lt;TableIndex row=&quot;4&quot; col=&quot;3&quot;&gt;&lt;linesCount val=&quot;1&quot;/&gt;&lt;lineCharCount val=&quot;1&quot;/&gt;&lt;/TableIndex&gt;&lt;TableIndex row=&quot;4&quot; col=&quot;4&quot;&gt;&lt;linesCount val=&quot;1&quot;/&gt;&lt;lineCharCount val=&quot;2&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1&quot;/&gt;&lt;lineCharCount val=&quot;2&quot;/&gt;&lt;/TableIndex&gt;&lt;TableIndex row=&quot;6&quot; col=&quot;5&quot;&gt;&lt;linesCount val=&quot;1&quot;/&gt;&lt;lineCharCount val=&quot;1&quot;/&gt;&lt;/TableIndex&gt;&lt;TableIndex row=&quot;6&quot; col=&quot;6&quot;&gt;&lt;linesCount val=&quot;1&quot;/&gt;&lt;lineCharCount val=&quot;2&quot;/&gt;&lt;/TableIndex&gt;&lt;TableIndex row=&quot;6&quot; col=&quot;7&quot;&gt;&lt;linesCount val=&quot;1&quot;/&gt;&lt;lineCharCount val=&quot;1&quot;/&gt;&lt;/TableIndex&gt;&lt;TableIndex row=&quot;6&quot; col=&quot;8&quot;&gt;&lt;linesCount val=&quot;1&quot;/&gt;&lt;lineCharCount val=&quot;1&quot;/&gt;&lt;/TableIndex&gt;&lt;TableIndex row=&quot;6&quot; col=&quot;9&quot;&gt;&lt;linesCount val=&quot;1&quot;/&gt;&lt;lineCharCount val=&quot;1&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ShapeTextInfo&gt;"/>
</p:tagLst>
</file>

<file path=ppt/tags/tag3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B9E95AC3-052F-4BA6-9BB4-0781ADE91381}_36.png&quot;/&gt;&lt;left val=&quot;389&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30.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 name="PPSNARRATION" val="37,398844766,C:\Users\sanmi\GoogleDrive\UWMdrive\Courses\ECE552\ece552-lec09_DataHazards_pptx\Media.ppcx"/>
</p:tagLst>
</file>

<file path=ppt/tags/tag3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631BBFAF-DAE4-42A3-843D-9438FD9897D0}_3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B5EC4248-4F6E-4320-A899-3A1B9929E90A}_37.png&quot;/&gt;&lt;left val=&quot;592&quot;/&gt;&lt;top val=&quot;459&quot;/&gt;&lt;width val=&quot;92&quot;/&gt;&lt;height val=&quot;51&quot;/&gt;&lt;hasText val=&quot;1&quot;/&gt;&lt;/Image&gt;&lt;/ThreeDShapeInfo&gt;"/>
  <p:tag name="PRESENTER_SHAPETEXTINFO" val="&lt;ShapeTextInfo&gt;&lt;TableIndex row=&quot;-1&quot; col=&quot;-1&quot;&gt;&lt;linesCount val=&quot;1&quot;/&gt;&lt;lineCharCount val=&quot;6&quot;/&gt;&lt;/TableIndex&gt;&lt;/ShapeTextInfo&gt;"/>
</p:tagLst>
</file>

<file path=ppt/tags/tag3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85D8A07F-BB22-4C81-8C48-7608D601B80D}_3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B8EF5CC-7818-458E-8796-0FD4E35B0283}_37.png&quot;/&gt;&lt;left val=&quot;377&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D5BC3586-D9B6-401B-8C58-A511AA98FEFF}_37.png&quot;/&gt;&lt;left val=&quot;-7&quot;/&gt;&lt;top val=&quot;331&quot;/&gt;&lt;width val=&quot;116&quot;/&gt;&lt;height val=&quot;51&quot;/&gt;&lt;hasText val=&quot;1&quot;/&gt;&lt;/Image&gt;&lt;/ThreeDShapeInfo&gt;"/>
  <p:tag name="PRESENTER_SHAPETEXTINFO" val="&lt;ShapeTextInfo&gt;&lt;TableIndex row=&quot;-1&quot; col=&quot;-1&quot;&gt;&lt;linesCount val=&quot;1&quot;/&gt;&lt;lineCharCount val=&quot;8&quot;/&gt;&lt;/TableIndex&gt;&lt;/ShapeTextInfo&gt;"/>
</p:tagLst>
</file>

<file path=ppt/tags/tag3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E0DDDC68-5BDB-493C-B970-36E98712E089}_37.png&quot;/&gt;&lt;left val=&quot;60&quot;/&gt;&lt;top val=&quot;96&quot;/&gt;&lt;width val=&quot;562&quot;/&gt;&lt;height val=&quot;21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6&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6&quot;/&gt;&lt;/TableIndex&gt;&lt;TableIndex row=&quot;4&quot; col=&quot;2&quot;&gt;&lt;linesCount val=&quot;0&quot;/&gt;&lt;/TableIndex&gt;&lt;TableIndex row=&quot;4&quot; col=&quot;3&quot;&gt;&lt;linesCount val=&quot;1&quot;/&gt;&lt;lineCharCount val=&quot;1&quot;/&gt;&lt;/TableIndex&gt;&lt;TableIndex row=&quot;4&quot; col=&quot;4&quot;&gt;&lt;linesCount val=&quot;1&quot;/&gt;&lt;lineCharCount val=&quot;2&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1&quot;/&gt;&lt;lineCharCount val=&quot;2&quot;/&gt;&lt;/TableIndex&gt;&lt;TableIndex row=&quot;6&quot; col=&quot;5&quot;&gt;&lt;linesCount val=&quot;1&quot;/&gt;&lt;lineCharCount val=&quot;1&quot;/&gt;&lt;/TableIndex&gt;&lt;TableIndex row=&quot;6&quot; col=&quot;6&quot;&gt;&lt;linesCount val=&quot;1&quot;/&gt;&lt;lineCharCount val=&quot;2&quot;/&gt;&lt;/TableIndex&gt;&lt;TableIndex row=&quot;6&quot; col=&quot;7&quot;&gt;&lt;linesCount val=&quot;1&quot;/&gt;&lt;lineCharCount val=&quot;1&quot;/&gt;&lt;/TableIndex&gt;&lt;TableIndex row=&quot;6&quot; col=&quot;8&quot;&gt;&lt;linesCount val=&quot;1&quot;/&gt;&lt;lineCharCount val=&quot;1&quot;/&gt;&lt;/TableIndex&gt;&lt;TableIndex row=&quot;6&quot; col=&quot;9&quot;&gt;&lt;linesCount val=&quot;1&quot;/&gt;&lt;lineCharCount val=&quot;1&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ShapeTextInfo&gt;"/>
</p:tagLst>
</file>

<file path=ppt/tags/tag3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063EC08-FBF0-4C76-8E2A-CD1A9ACFB837}_37.png&quot;/&gt;&lt;left val=&quot;494&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9.xml><?xml version="1.0" encoding="utf-8"?>
<p:tagLst xmlns:a="http://schemas.openxmlformats.org/drawingml/2006/main" xmlns:r="http://schemas.openxmlformats.org/officeDocument/2006/relationships" xmlns:p="http://schemas.openxmlformats.org/presentationml/2006/main">
  <p:tag name="HTML_SHAPEINFO" val="&lt;SlideThumbPath val=&quot;Slide38.PNG&quot;/&gt;"/>
  <p:tag name="PPSNARRATION" val="38,398844766,C:\Users\sanmi\GoogleDrive\UWMdrive\Courses\ECE552\ece552-lec09_DataHazards_pptx\Media.ppcx"/>
</p:tagLst>
</file>

<file path=ppt/tags/tag3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404330B-6507-4465-A53D-69A8BE8AD631}_38.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4FA669E8-9D26-40F3-A158-C7C845376E0B}_3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2E76485E-1D57-424C-9FB7-7148D3DEC7C3}_38.png&quot;/&gt;&lt;left val=&quot;491&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D157E8D-F720-443A-9DA7-F5FE62EAA5DE}_38.png&quot;/&gt;&lt;left val=&quot;-7&quot;/&gt;&lt;top val=&quot;331&quot;/&gt;&lt;width val=&quot;116&quot;/&gt;&lt;height val=&quot;51&quot;/&gt;&lt;hasText val=&quot;1&quot;/&gt;&lt;/Image&gt;&lt;/ThreeDShapeInfo&gt;"/>
  <p:tag name="PRESENTER_SHAPETEXTINFO" val="&lt;ShapeTextInfo&gt;&lt;TableIndex row=&quot;-1&quot; col=&quot;-1&quot;&gt;&lt;linesCount val=&quot;1&quot;/&gt;&lt;lineCharCount val=&quot;8&quot;/&gt;&lt;/TableIndex&gt;&lt;/ShapeTextInfo&gt;"/>
</p:tagLst>
</file>

<file path=ppt/tags/tag3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75392D30-F57F-42F8-9FE5-9D9241902457}_38.png&quot;/&gt;&lt;left val=&quot;60&quot;/&gt;&lt;top val=&quot;96&quot;/&gt;&lt;width val=&quot;562&quot;/&gt;&lt;height val=&quot;216&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6&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6&quot;/&gt;&lt;/TableIndex&gt;&lt;TableIndex row=&quot;4&quot; col=&quot;2&quot;&gt;&lt;linesCount val=&quot;0&quot;/&gt;&lt;/TableIndex&gt;&lt;TableIndex row=&quot;4&quot; col=&quot;3&quot;&gt;&lt;linesCount val=&quot;1&quot;/&gt;&lt;lineCharCount val=&quot;1&quot;/&gt;&lt;/TableIndex&gt;&lt;TableIndex row=&quot;4&quot; col=&quot;4&quot;&gt;&lt;linesCount val=&quot;1&quot;/&gt;&lt;lineCharCount val=&quot;2&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1&quot;/&gt;&lt;lineCharCount val=&quot;2&quot;/&gt;&lt;/TableIndex&gt;&lt;TableIndex row=&quot;6&quot; col=&quot;5&quot;&gt;&lt;linesCount val=&quot;1&quot;/&gt;&lt;lineCharCount val=&quot;1&quot;/&gt;&lt;/TableIndex&gt;&lt;TableIndex row=&quot;6&quot; col=&quot;6&quot;&gt;&lt;linesCount val=&quot;1&quot;/&gt;&lt;lineCharCount val=&quot;2&quot;/&gt;&lt;/TableIndex&gt;&lt;TableIndex row=&quot;6&quot; col=&quot;7&quot;&gt;&lt;linesCount val=&quot;1&quot;/&gt;&lt;lineCharCount val=&quot;1&quot;/&gt;&lt;/TableIndex&gt;&lt;TableIndex row=&quot;6&quot; col=&quot;8&quot;&gt;&lt;linesCount val=&quot;1&quot;/&gt;&lt;lineCharCount val=&quot;1&quot;/&gt;&lt;/TableIndex&gt;&lt;TableIndex row=&quot;6&quot; col=&quot;9&quot;&gt;&lt;linesCount val=&quot;1&quot;/&gt;&lt;lineCharCount val=&quot;1&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ShapeTextInfo&gt;"/>
</p:tagLst>
</file>

<file path=ppt/tags/tag3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602F990-99B8-4B5C-928F-26B140A38C7B}_38.png&quot;/&gt;&lt;left val=&quot;599&quot;/&gt;&lt;top val=&quot;459&quot;/&gt;&lt;width val=&quot;84&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346.xml><?xml version="1.0" encoding="utf-8"?>
<p:tagLst xmlns:a="http://schemas.openxmlformats.org/drawingml/2006/main" xmlns:r="http://schemas.openxmlformats.org/officeDocument/2006/relationships" xmlns:p="http://schemas.openxmlformats.org/presentationml/2006/main">
  <p:tag name="HTML_SHAPEINFO" val="&lt;SlideThumbPath val=&quot;Slide39.PNG&quot;/&gt;"/>
  <p:tag name="PPSNARRATION" val="39,398844766,C:\Users\sanmi\GoogleDrive\UWMdrive\Courses\ECE552\ece552-lec09_DataHazards_pptx\Media.ppcx"/>
  <p:tag name="TIMING" val="|9.9"/>
</p:tagLst>
</file>

<file path=ppt/tags/tag347.xml><?xml version="1.0" encoding="utf-8"?>
<p:tagLst xmlns:a="http://schemas.openxmlformats.org/drawingml/2006/main" xmlns:r="http://schemas.openxmlformats.org/officeDocument/2006/relationships" xmlns:p="http://schemas.openxmlformats.org/presentationml/2006/main">
  <p:tag name="PRESENTER_SHAPEINFO" val="&lt;ThreeDShapeInfo&gt;&lt;uuid val=&quot;{873EB523-07C9-4696-B23A-FE94217C46D7}&quot;/&gt;&lt;isInvalidForFieldText val=&quot;0&quot;/&gt;&lt;Image&gt;&lt;filename val=&quot;C:\Users\sanmi\Documents\My Adobe Presentations\ece552f2019-DataHazards\data\asimages\{873EB523-07C9-4696-B23A-FE94217C46D7}.png&quot;/&gt;&lt;left val=&quot;71&quot;/&gt;&lt;top val=&quot;182&quot;/&gt;&lt;width val=&quot;575&quot;/&gt;&lt;height val=&quot;346&quot;/&gt;&lt;hasText val=&quot;1&quot;/&gt;&lt;/Image&gt;&lt;/ThreeDShapeInfo&gt;"/>
</p:tagLst>
</file>

<file path=ppt/tags/tag3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3947B2C0-0786-4D16-8FB3-9A4A5C0CE808}_3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BCE6993-6E80-4F11-9099-79CBE4CD5FD4}_3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50.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DataHazards\data\asimages\{75E0D4FF-6C5E-45D3-BAA6-D466322C6A05}_1.png_crop.png&quot;/&gt;&lt;left val=&quot;44&quot;/&gt;&lt;top val=&quot;112&quot;/&gt;&lt;width val=&quot;286&quot;/&gt;&lt;height val=&quot;24&quot;/&gt;&lt;hasText val=&quot;1&quot;/&gt;&lt;paraId val=&quot;1&quot;/&gt;&lt;/Image&gt;&lt;Image&gt;&lt;filename val=&quot;C:\Users\sanmi\Documents\My Adobe Presentations\ece552f2019-DataHazards\data\asimages\{4182F3C3-A254-4B83-97EC-DFA31ABCED2B}_1.png_crop.png&quot;/&gt;&lt;left val=&quot;78&quot;/&gt;&lt;top val=&quot;150&quot;/&gt;&lt;width val=&quot;267&quot;/&gt;&lt;height val=&quot;20&quot;/&gt;&lt;hasText val=&quot;1&quot;/&gt;&lt;paraId val=&quot;2&quot;/&gt;&lt;/Image&gt;&lt;/TextEffect&gt;"/>
  <p:tag name="PRESENTER_SHAPETEXTINFO" val="&lt;ShapeTextInfo&gt;&lt;TableIndex row=&quot;-1&quot; col=&quot;-1&quot;&gt;&lt;linesCount val=&quot;2&quot;/&gt;&lt;lineCharCount val=&quot;21&quot;/&gt;&lt;lineCharCount val=&quot;25&quot;/&gt;&lt;/TableIndex&gt;&lt;/ShapeTextInfo&gt;"/>
</p:tagLst>
</file>

<file path=ppt/tags/tag3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5.xml><?xml version="1.0" encoding="utf-8"?>
<p:tagLst xmlns:a="http://schemas.openxmlformats.org/drawingml/2006/main" xmlns:r="http://schemas.openxmlformats.org/officeDocument/2006/relationships" xmlns:p="http://schemas.openxmlformats.org/presentationml/2006/main">
  <p:tag name="HTML_SHAPEINFO" val="&lt;SlideThumbPath val=&quot;Slide40.PNG&quot;/&gt;"/>
  <p:tag name="PPSNARRATION" val="40,398844766,C:\Users\sanmi\GoogleDrive\UWMdrive\Courses\ECE552\ece552-lec09_DataHazards_pptx\Media.ppcx"/>
</p:tagLst>
</file>

<file path=ppt/tags/tag356.xml><?xml version="1.0" encoding="utf-8"?>
<p:tagLst xmlns:a="http://schemas.openxmlformats.org/drawingml/2006/main" xmlns:r="http://schemas.openxmlformats.org/officeDocument/2006/relationships" xmlns:p="http://schemas.openxmlformats.org/presentationml/2006/main">
  <p:tag name="PRESENTER_SHAPEINFO" val="&lt;ThreeDShapeInfo&gt;&lt;uuid val=&quot;{1C69323F-FB44-4252-8C1D-E18E63314790}&quot;/&gt;&lt;isInvalidForFieldText val=&quot;0&quot;/&gt;&lt;Image&gt;&lt;filename val=&quot;C:\Users\sanmi\Documents\My Adobe Presentations\ece552f2019-DataHazards\data\asimages\{1C69323F-FB44-4252-8C1D-E18E63314790}.png&quot;/&gt;&lt;left val=&quot;71&quot;/&gt;&lt;top val=&quot;182&quot;/&gt;&lt;width val=&quot;575&quot;/&gt;&lt;height val=&quot;346&quot;/&gt;&lt;hasText val=&quot;1&quot;/&gt;&lt;/Image&gt;&lt;/ThreeDShapeInfo&gt;"/>
</p:tagLst>
</file>

<file path=ppt/tags/tag3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6966988-CE16-4E96-948A-7C7DE0C3C242}_40.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9E6A6EC5-AADD-4A3E-93A5-9B20CF127C83}_4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DataHazards\data\asimages\{CCDC6442-136D-4EE8-B4B6-A44FC474994C}_40.png&quot;/&gt;&lt;left val=&quot;27&quot;/&gt;&lt;top val=&quot;96&quot;/&gt;&lt;width val=&quot;675&quot;/&gt;&lt;height val=&quot;409&quot;/&gt;&lt;hasText val=&quot;1&quot;/&gt;&lt;/Image&gt;&lt;/ThreeDShapeInfo&gt;"/>
  <p:tag name="PRESENTER_SHAPETEXTINFO" val="&lt;ShapeTextInfo&gt;&lt;TableIndex row=&quot;-1&quot; col=&quot;-1&quot;&gt;&lt;linesCount val=&quot;2&quot;/&gt;&lt;lineCharCount val=&quot;21&quot;/&gt;&lt;lineCharCount val=&quot;57&quot;/&gt;&lt;/TableIndex&gt;&lt;/ShapeTextInfo&gt;"/>
</p:tagLst>
</file>

<file path=ppt/tags/tag3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1268</TotalTime>
  <Words>2570</Words>
  <Application>Microsoft Macintosh PowerPoint</Application>
  <PresentationFormat>On-screen Show (4:3)</PresentationFormat>
  <Paragraphs>1079</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Courier New</vt:lpstr>
      <vt:lpstr>Times New Roman</vt:lpstr>
      <vt:lpstr>Wingdings</vt:lpstr>
      <vt:lpstr>Lecture Notes 552</vt:lpstr>
      <vt:lpstr>ECE/CS 552: Data Hazards</vt:lpstr>
      <vt:lpstr>Pipeline Hazards</vt:lpstr>
      <vt:lpstr>Program Data Dependences</vt:lpstr>
      <vt:lpstr>Program Data Dependences</vt:lpstr>
      <vt:lpstr>Program Data Dependences</vt:lpstr>
      <vt:lpstr>Program Data Dependences</vt:lpstr>
      <vt:lpstr>Pipeline Data Hazards</vt:lpstr>
      <vt:lpstr>Pipeline Data Hazards</vt:lpstr>
      <vt:lpstr>Pipeline Data Hazards</vt:lpstr>
      <vt:lpstr>Pipeline Data Hazards</vt:lpstr>
      <vt:lpstr>Pipeline Data Hazards</vt:lpstr>
      <vt:lpstr>Pipeline Data Hazards</vt:lpstr>
      <vt:lpstr>Pipeline Data Hazards</vt:lpstr>
      <vt:lpstr>Pipeline Data Hazards</vt:lpstr>
      <vt:lpstr>Resolving RAW Hazards</vt:lpstr>
      <vt:lpstr>Resolving RAW Hazards</vt:lpstr>
      <vt:lpstr>Resolving RAW Hazards</vt:lpstr>
      <vt:lpstr>Resolving RAW Hazards</vt:lpstr>
      <vt:lpstr>Resolving RAW Hazards</vt:lpstr>
      <vt:lpstr>Resolving RAW Hazards</vt:lpstr>
      <vt:lpstr>Resolving RAW Hazards</vt:lpstr>
      <vt:lpstr>Resolving RAW Hazards</vt:lpstr>
      <vt:lpstr>RF Bypassing</vt:lpstr>
      <vt:lpstr>Data Forwarding</vt:lpstr>
      <vt:lpstr>EX-to-EX Forwarding</vt:lpstr>
      <vt:lpstr>MEM-to-EX Forwarding</vt:lpstr>
      <vt:lpstr>Load-to-Use Stalls</vt:lpstr>
      <vt:lpstr>Data Forwarding</vt:lpstr>
      <vt:lpstr>All Together</vt:lpstr>
      <vt:lpstr>Exercise</vt:lpstr>
      <vt:lpstr>Exercise</vt:lpstr>
      <vt:lpstr>Exercise</vt:lpstr>
      <vt:lpstr>Exercise</vt:lpstr>
      <vt:lpstr>Exercise</vt:lpstr>
      <vt:lpstr>Exercise</vt:lpstr>
      <vt:lpstr>Exercise</vt:lpstr>
      <vt:lpstr>Exercise</vt:lpstr>
      <vt:lpstr>Exercise</vt:lpstr>
      <vt:lpstr>Exercise</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Data Hazards</dc:title>
  <dc:creator/>
  <cp:lastModifiedBy>Boone Severson</cp:lastModifiedBy>
  <cp:revision>560</cp:revision>
  <cp:lastPrinted>1601-01-01T00:00:00Z</cp:lastPrinted>
  <dcterms:created xsi:type="dcterms:W3CDTF">1601-01-01T00:00:00Z</dcterms:created>
  <dcterms:modified xsi:type="dcterms:W3CDTF">2024-08-29T04:22:01Z</dcterms:modified>
</cp:coreProperties>
</file>