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5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8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9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0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2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3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4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5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16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17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8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9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20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21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22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23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24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25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26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notesSlides/notesSlide27.xml" ContentType="application/vnd.openxmlformats-officedocument.presentationml.notesSlid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28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29.xml" ContentType="application/vnd.openxmlformats-officedocument.presentationml.notesSlide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30.xml" ContentType="application/vnd.openxmlformats-officedocument.presentationml.notesSlide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31.xml" ContentType="application/vnd.openxmlformats-officedocument.presentationml.notesSlide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34"/>
  </p:notesMasterIdLst>
  <p:handoutMasterIdLst>
    <p:handoutMasterId r:id="rId35"/>
  </p:handoutMasterIdLst>
  <p:sldIdLst>
    <p:sldId id="363" r:id="rId2"/>
    <p:sldId id="374" r:id="rId3"/>
    <p:sldId id="375" r:id="rId4"/>
    <p:sldId id="396" r:id="rId5"/>
    <p:sldId id="380" r:id="rId6"/>
    <p:sldId id="397" r:id="rId7"/>
    <p:sldId id="401" r:id="rId8"/>
    <p:sldId id="398" r:id="rId9"/>
    <p:sldId id="399" r:id="rId10"/>
    <p:sldId id="400" r:id="rId11"/>
    <p:sldId id="402" r:id="rId12"/>
    <p:sldId id="403" r:id="rId13"/>
    <p:sldId id="404" r:id="rId14"/>
    <p:sldId id="376" r:id="rId15"/>
    <p:sldId id="377" r:id="rId16"/>
    <p:sldId id="406" r:id="rId17"/>
    <p:sldId id="405" r:id="rId18"/>
    <p:sldId id="393" r:id="rId19"/>
    <p:sldId id="407" r:id="rId20"/>
    <p:sldId id="408" r:id="rId21"/>
    <p:sldId id="409" r:id="rId22"/>
    <p:sldId id="410" r:id="rId23"/>
    <p:sldId id="411" r:id="rId24"/>
    <p:sldId id="386" r:id="rId25"/>
    <p:sldId id="387" r:id="rId26"/>
    <p:sldId id="412" r:id="rId27"/>
    <p:sldId id="413" r:id="rId28"/>
    <p:sldId id="390" r:id="rId29"/>
    <p:sldId id="391" r:id="rId30"/>
    <p:sldId id="415" r:id="rId31"/>
    <p:sldId id="370" r:id="rId32"/>
    <p:sldId id="371" r:id="rId33"/>
  </p:sldIdLst>
  <p:sldSz cx="9144000" cy="6858000" type="screen4x3"/>
  <p:notesSz cx="6845300" cy="9396413"/>
  <p:custDataLst>
    <p:tags r:id="rId3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26" autoAdjust="0"/>
    <p:restoredTop sz="72851" autoAdjust="0"/>
  </p:normalViewPr>
  <p:slideViewPr>
    <p:cSldViewPr>
      <p:cViewPr varScale="1">
        <p:scale>
          <a:sx n="91" d="100"/>
          <a:sy n="91" d="100"/>
        </p:scale>
        <p:origin x="12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0" d="100"/>
        <a:sy n="17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1740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23DBEDD-5FD2-43A5-9F20-85A2AADC8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0AD4ACD-46C9-4BDD-8721-5CB862199F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138BE3B-B4FC-47E2-BD81-42EF136F8F5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88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94DBA325-EDCB-4F79-B49B-6C948EC03A0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5D3EB99-9D63-43C5-86E9-E8DCE90111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CB6C3C6-9525-4349-BF9B-818C9D08B1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8E9A85D-1009-44FA-9FED-4AF6B73044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4E29E7C7-EBDC-42EB-A111-5AC77006C5E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9D9E7BFF-F745-479A-A2B3-068B01427B3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8AB3A8AF-22FF-4B3F-8411-EAA94D25A7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8D83F9A9-165D-470F-BC5C-9CCD4D2CB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1C35C152-3DB7-435C-A533-CD1DD6D96D3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729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5284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205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321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445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511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798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830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36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626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158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6276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0325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65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9541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7770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0774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8560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7621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39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616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35367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5805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900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7278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5158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4670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48703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913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7361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0499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0838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D6D32831-2C8B-4D09-9F1E-8AB748922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C374E429-1925-4A10-9B19-5EC670A6D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F139AA9-7CBD-446F-8050-7CB57F801FB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F7CE92-8237-4EDF-9506-0F32E6DD423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F5D103E-DC49-4873-835E-61240C1324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A94755AC-6E93-46D4-83A9-A14BFD27E00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409156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5736440-2B54-48C6-9B5F-63D6508056C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86D31D8-4737-4233-ADC5-E2794C58093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DF2F38D-6108-431B-BA6F-3B417A65D9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10C3512-AF1C-4C61-A68F-3AAEA35C96B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3671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2B75CD-D702-4371-84DB-DF40520E7BD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608C824-03E0-4194-82A9-C145EB7C7B81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E0958-E1B6-4ED0-8F04-E50F3B1C6FF9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B088D-9636-41E8-941C-3BC9B83E3DCC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BD024-3BC3-4018-A48B-E06F6E5361F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B1AEF592-F6E8-4F0B-940C-5C64E2DC1EB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transition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2.emf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4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5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9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3" Type="http://schemas.openxmlformats.org/officeDocument/2006/relationships/tags" Target="../tags/tag5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9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3" Type="http://schemas.openxmlformats.org/officeDocument/2006/relationships/tags" Target="../tags/tag6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9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6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9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9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8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9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notesSlide" Target="../notesSlides/notesSlide15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.xml"/><Relationship Id="rId4" Type="http://schemas.openxmlformats.org/officeDocument/2006/relationships/tags" Target="../tags/tag9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10" Type="http://schemas.openxmlformats.org/officeDocument/2006/relationships/notesSlide" Target="../notesSlides/notesSlide17.xml"/><Relationship Id="rId4" Type="http://schemas.openxmlformats.org/officeDocument/2006/relationships/tags" Target="../tags/tag110.xml"/><Relationship Id="rId9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7" Type="http://schemas.openxmlformats.org/officeDocument/2006/relationships/image" Target="../media/image3.png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21.xml"/><Relationship Id="rId7" Type="http://schemas.openxmlformats.org/officeDocument/2006/relationships/notesSlide" Target="../notesSlides/notesSlide19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3.xml"/><Relationship Id="rId4" Type="http://schemas.openxmlformats.org/officeDocument/2006/relationships/tags" Target="../tags/tag1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notesSlide" Target="../notesSlides/notesSlide20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tags" Target="../tags/tag1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7" Type="http://schemas.openxmlformats.org/officeDocument/2006/relationships/notesSlide" Target="../notesSlides/notesSlide2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3.xml"/><Relationship Id="rId4" Type="http://schemas.openxmlformats.org/officeDocument/2006/relationships/tags" Target="../tags/tag1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7" Type="http://schemas.openxmlformats.org/officeDocument/2006/relationships/notesSlide" Target="../notesSlides/notesSlide22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8.xml"/><Relationship Id="rId4" Type="http://schemas.openxmlformats.org/officeDocument/2006/relationships/tags" Target="../tags/tag1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7" Type="http://schemas.openxmlformats.org/officeDocument/2006/relationships/notesSlide" Target="../notesSlides/notesSlide23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3.xml"/><Relationship Id="rId4" Type="http://schemas.openxmlformats.org/officeDocument/2006/relationships/tags" Target="../tags/tag14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50.xml"/><Relationship Id="rId7" Type="http://schemas.openxmlformats.org/officeDocument/2006/relationships/image" Target="../media/image4.png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54.xml"/><Relationship Id="rId7" Type="http://schemas.openxmlformats.org/officeDocument/2006/relationships/image" Target="../media/image3.png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10" Type="http://schemas.openxmlformats.org/officeDocument/2006/relationships/image" Target="../media/image6.png"/><Relationship Id="rId4" Type="http://schemas.openxmlformats.org/officeDocument/2006/relationships/tags" Target="../tags/tag159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70.xml"/><Relationship Id="rId13" Type="http://schemas.openxmlformats.org/officeDocument/2006/relationships/tags" Target="../tags/tag175.xml"/><Relationship Id="rId18" Type="http://schemas.openxmlformats.org/officeDocument/2006/relationships/tags" Target="../tags/tag180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165.xml"/><Relationship Id="rId21" Type="http://schemas.openxmlformats.org/officeDocument/2006/relationships/tags" Target="../tags/tag183.xml"/><Relationship Id="rId7" Type="http://schemas.openxmlformats.org/officeDocument/2006/relationships/tags" Target="../tags/tag169.xml"/><Relationship Id="rId12" Type="http://schemas.openxmlformats.org/officeDocument/2006/relationships/tags" Target="../tags/tag174.xml"/><Relationship Id="rId17" Type="http://schemas.openxmlformats.org/officeDocument/2006/relationships/tags" Target="../tags/tag179.xml"/><Relationship Id="rId25" Type="http://schemas.openxmlformats.org/officeDocument/2006/relationships/tags" Target="../tags/tag187.xml"/><Relationship Id="rId2" Type="http://schemas.openxmlformats.org/officeDocument/2006/relationships/tags" Target="../tags/tag164.xml"/><Relationship Id="rId16" Type="http://schemas.openxmlformats.org/officeDocument/2006/relationships/tags" Target="../tags/tag178.xml"/><Relationship Id="rId20" Type="http://schemas.openxmlformats.org/officeDocument/2006/relationships/tags" Target="../tags/tag182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11" Type="http://schemas.openxmlformats.org/officeDocument/2006/relationships/tags" Target="../tags/tag173.xml"/><Relationship Id="rId24" Type="http://schemas.openxmlformats.org/officeDocument/2006/relationships/tags" Target="../tags/tag186.xml"/><Relationship Id="rId5" Type="http://schemas.openxmlformats.org/officeDocument/2006/relationships/tags" Target="../tags/tag167.xml"/><Relationship Id="rId15" Type="http://schemas.openxmlformats.org/officeDocument/2006/relationships/tags" Target="../tags/tag177.xml"/><Relationship Id="rId23" Type="http://schemas.openxmlformats.org/officeDocument/2006/relationships/tags" Target="../tags/tag185.xml"/><Relationship Id="rId10" Type="http://schemas.openxmlformats.org/officeDocument/2006/relationships/tags" Target="../tags/tag172.xml"/><Relationship Id="rId19" Type="http://schemas.openxmlformats.org/officeDocument/2006/relationships/tags" Target="../tags/tag181.xml"/><Relationship Id="rId4" Type="http://schemas.openxmlformats.org/officeDocument/2006/relationships/tags" Target="../tags/tag166.xml"/><Relationship Id="rId9" Type="http://schemas.openxmlformats.org/officeDocument/2006/relationships/tags" Target="../tags/tag171.xml"/><Relationship Id="rId14" Type="http://schemas.openxmlformats.org/officeDocument/2006/relationships/tags" Target="../tags/tag176.xml"/><Relationship Id="rId22" Type="http://schemas.openxmlformats.org/officeDocument/2006/relationships/tags" Target="../tags/tag184.xml"/><Relationship Id="rId2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13" Type="http://schemas.openxmlformats.org/officeDocument/2006/relationships/tags" Target="../tags/tag200.xml"/><Relationship Id="rId18" Type="http://schemas.openxmlformats.org/officeDocument/2006/relationships/tags" Target="../tags/tag205.xml"/><Relationship Id="rId26" Type="http://schemas.openxmlformats.org/officeDocument/2006/relationships/notesSlide" Target="../notesSlides/notesSlide29.xml"/><Relationship Id="rId3" Type="http://schemas.openxmlformats.org/officeDocument/2006/relationships/tags" Target="../tags/tag190.xml"/><Relationship Id="rId21" Type="http://schemas.openxmlformats.org/officeDocument/2006/relationships/tags" Target="../tags/tag208.xml"/><Relationship Id="rId7" Type="http://schemas.openxmlformats.org/officeDocument/2006/relationships/tags" Target="../tags/tag194.xml"/><Relationship Id="rId12" Type="http://schemas.openxmlformats.org/officeDocument/2006/relationships/tags" Target="../tags/tag199.xml"/><Relationship Id="rId17" Type="http://schemas.openxmlformats.org/officeDocument/2006/relationships/tags" Target="../tags/tag204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189.xml"/><Relationship Id="rId16" Type="http://schemas.openxmlformats.org/officeDocument/2006/relationships/tags" Target="../tags/tag203.xml"/><Relationship Id="rId20" Type="http://schemas.openxmlformats.org/officeDocument/2006/relationships/tags" Target="../tags/tag207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24" Type="http://schemas.openxmlformats.org/officeDocument/2006/relationships/tags" Target="../tags/tag211.xml"/><Relationship Id="rId5" Type="http://schemas.openxmlformats.org/officeDocument/2006/relationships/tags" Target="../tags/tag192.xml"/><Relationship Id="rId15" Type="http://schemas.openxmlformats.org/officeDocument/2006/relationships/tags" Target="../tags/tag202.xml"/><Relationship Id="rId23" Type="http://schemas.openxmlformats.org/officeDocument/2006/relationships/tags" Target="../tags/tag210.xml"/><Relationship Id="rId10" Type="http://schemas.openxmlformats.org/officeDocument/2006/relationships/tags" Target="../tags/tag197.xml"/><Relationship Id="rId19" Type="http://schemas.openxmlformats.org/officeDocument/2006/relationships/tags" Target="../tags/tag206.xml"/><Relationship Id="rId4" Type="http://schemas.openxmlformats.org/officeDocument/2006/relationships/tags" Target="../tags/tag191.xml"/><Relationship Id="rId9" Type="http://schemas.openxmlformats.org/officeDocument/2006/relationships/tags" Target="../tags/tag196.xml"/><Relationship Id="rId14" Type="http://schemas.openxmlformats.org/officeDocument/2006/relationships/tags" Target="../tags/tag201.xml"/><Relationship Id="rId22" Type="http://schemas.openxmlformats.org/officeDocument/2006/relationships/tags" Target="../tags/tag20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13" Type="http://schemas.openxmlformats.org/officeDocument/2006/relationships/tags" Target="../tags/tag224.xml"/><Relationship Id="rId18" Type="http://schemas.openxmlformats.org/officeDocument/2006/relationships/tags" Target="../tags/tag229.xml"/><Relationship Id="rId26" Type="http://schemas.openxmlformats.org/officeDocument/2006/relationships/notesSlide" Target="../notesSlides/notesSlide30.xml"/><Relationship Id="rId3" Type="http://schemas.openxmlformats.org/officeDocument/2006/relationships/tags" Target="../tags/tag214.xml"/><Relationship Id="rId21" Type="http://schemas.openxmlformats.org/officeDocument/2006/relationships/tags" Target="../tags/tag232.xml"/><Relationship Id="rId7" Type="http://schemas.openxmlformats.org/officeDocument/2006/relationships/tags" Target="../tags/tag218.xml"/><Relationship Id="rId12" Type="http://schemas.openxmlformats.org/officeDocument/2006/relationships/tags" Target="../tags/tag223.xml"/><Relationship Id="rId17" Type="http://schemas.openxmlformats.org/officeDocument/2006/relationships/tags" Target="../tags/tag228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213.xml"/><Relationship Id="rId16" Type="http://schemas.openxmlformats.org/officeDocument/2006/relationships/tags" Target="../tags/tag227.xml"/><Relationship Id="rId20" Type="http://schemas.openxmlformats.org/officeDocument/2006/relationships/tags" Target="../tags/tag231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tags" Target="../tags/tag222.xml"/><Relationship Id="rId24" Type="http://schemas.openxmlformats.org/officeDocument/2006/relationships/tags" Target="../tags/tag235.xml"/><Relationship Id="rId5" Type="http://schemas.openxmlformats.org/officeDocument/2006/relationships/tags" Target="../tags/tag216.xml"/><Relationship Id="rId15" Type="http://schemas.openxmlformats.org/officeDocument/2006/relationships/tags" Target="../tags/tag226.xml"/><Relationship Id="rId23" Type="http://schemas.openxmlformats.org/officeDocument/2006/relationships/tags" Target="../tags/tag234.xml"/><Relationship Id="rId10" Type="http://schemas.openxmlformats.org/officeDocument/2006/relationships/tags" Target="../tags/tag221.xml"/><Relationship Id="rId19" Type="http://schemas.openxmlformats.org/officeDocument/2006/relationships/tags" Target="../tags/tag230.xml"/><Relationship Id="rId4" Type="http://schemas.openxmlformats.org/officeDocument/2006/relationships/tags" Target="../tags/tag215.xml"/><Relationship Id="rId9" Type="http://schemas.openxmlformats.org/officeDocument/2006/relationships/tags" Target="../tags/tag220.xml"/><Relationship Id="rId14" Type="http://schemas.openxmlformats.org/officeDocument/2006/relationships/tags" Target="../tags/tag225.xml"/><Relationship Id="rId22" Type="http://schemas.openxmlformats.org/officeDocument/2006/relationships/tags" Target="../tags/tag2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6C5233D-EB16-4FAF-AB96-A26AC7DE2B2E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8100" y="2362200"/>
            <a:ext cx="90678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Single-Cycle Control Path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C14C3-D3E9-4C80-B100-3FF50B0DE756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32CA490-7042-4D84-8F1F-D27AEEAF92A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Single-Cycle Processor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D93C961-A7AE-4F41-8992-5EFDEA65FA7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Data path: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Combinational logic, I-mem,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 file, D-mem, PC </a:t>
            </a:r>
            <a:r>
              <a:rPr lang="en-US" altLang="en-US" sz="2400" dirty="0" err="1"/>
              <a:t>reg</a:t>
            </a:r>
            <a:endParaRPr lang="en-US" altLang="en-US" sz="2000" dirty="0"/>
          </a:p>
          <a:p>
            <a:pPr lvl="2"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Control path: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Just combinational logic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Inputs into global control logic: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Instruction word (output of I-mem)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Outputs of global control logic: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Select signals of </a:t>
            </a:r>
            <a:r>
              <a:rPr lang="en-US" altLang="en-US" sz="2000" dirty="0" err="1"/>
              <a:t>muxes</a:t>
            </a:r>
            <a:endParaRPr lang="en-US" altLang="en-US" sz="2000" dirty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Read/write-enable signals of mem and </a:t>
            </a:r>
            <a:r>
              <a:rPr lang="en-US" altLang="en-US" sz="2000" dirty="0" err="1"/>
              <a:t>regs</a:t>
            </a:r>
            <a:endParaRPr lang="en-US" altLang="en-US" sz="2000" dirty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ALU operation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2ED166-FA96-4E51-B8C3-6DAF3BB3B80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160E0D7A-5436-40A8-88D8-2E56D91720D4}" type="slidenum">
              <a:rPr lang="en-US" altLang="en-US">
                <a:latin typeface="Calibri" panose="020F0502020204030204" pitchFamily="34" charset="0"/>
              </a:rPr>
              <a:pPr lvl="1"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28035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1EB8114-FAA6-4F55-8567-F747589501D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F8BA9F8-FC8E-47C2-890B-8648172D05F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For fast control logic:</a:t>
            </a:r>
          </a:p>
          <a:p>
            <a:pPr lvl="1" eaLnBrk="1" hangingPunct="1"/>
            <a:r>
              <a:rPr lang="en-US" altLang="en-US" dirty="0"/>
              <a:t>Divide up logic on a “need to know” basis</a:t>
            </a:r>
          </a:p>
          <a:p>
            <a:pPr lvl="1" eaLnBrk="1" hangingPunct="1"/>
            <a:r>
              <a:rPr lang="en-US" altLang="en-US" dirty="0"/>
              <a:t>Logic with fewer inputs is faster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8B305A-997B-41F5-A010-C46F9CA4F4A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2AF02149-9467-4B2A-A974-ACEE0CDB6BC2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897033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9CC9F7B-49CA-4174-9A4B-3C57431E83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Global Control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BA075FC-7EAC-4321-BBD0-AEB566703E3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400"/>
              <a:t>R-format: </a:t>
            </a:r>
            <a:r>
              <a:rPr lang="en-US" altLang="en-US" sz="2000"/>
              <a:t>opcode	rs	rt	rd	shamt	function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		6	5	5	5	5	6</a:t>
            </a:r>
          </a:p>
          <a:p>
            <a:pPr eaLnBrk="1" hangingPunct="1"/>
            <a:r>
              <a:rPr lang="en-US" altLang="en-US" sz="2400"/>
              <a:t>I-format: </a:t>
            </a:r>
            <a:r>
              <a:rPr lang="en-US" altLang="en-US" sz="2000"/>
              <a:t>opcode	rs	rt	address/immediate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		6	5	5	16</a:t>
            </a:r>
          </a:p>
          <a:p>
            <a:pPr eaLnBrk="1" hangingPunct="1"/>
            <a:r>
              <a:rPr lang="en-US" altLang="en-US" sz="2400"/>
              <a:t>J-format: </a:t>
            </a:r>
            <a:r>
              <a:rPr lang="en-US" altLang="en-US" sz="2000"/>
              <a:t>opcode	address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		6	26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sz="16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B09167-C587-4513-89D3-AD6C03A5A6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87B74B24-7FDA-44FB-A4C9-87BDAA499ADF}" type="slidenum">
              <a:rPr lang="en-US" altLang="en-US">
                <a:latin typeface="Calibri" panose="020F0502020204030204" pitchFamily="34" charset="0"/>
              </a:rPr>
              <a:pPr lvl="1"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DBB17EF-192C-4807-9A2B-24ACACE88486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7200" y="3886200"/>
            <a:ext cx="84582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Inputs to register file:</a:t>
            </a:r>
          </a:p>
          <a:p>
            <a:pPr lvl="1" eaLnBrk="1" hangingPunct="1"/>
            <a:r>
              <a:rPr lang="en-US" altLang="en-US" sz="2400" dirty="0"/>
              <a:t>Read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 1 = instruction[25:21]</a:t>
            </a:r>
          </a:p>
          <a:p>
            <a:pPr lvl="1" eaLnBrk="1" hangingPunct="1"/>
            <a:r>
              <a:rPr lang="en-US" altLang="en-US" sz="2400" dirty="0"/>
              <a:t>Read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 2 = instruction[20:16]</a:t>
            </a:r>
          </a:p>
          <a:p>
            <a:pPr lvl="1" eaLnBrk="1" hangingPunct="1"/>
            <a:r>
              <a:rPr lang="en-US" altLang="en-US" sz="2400" dirty="0"/>
              <a:t>Write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 = I-format ? instruction[20:16] : instruction[15:11]</a:t>
            </a:r>
          </a:p>
          <a:p>
            <a:pPr eaLnBrk="1" hangingPunct="1"/>
            <a:r>
              <a:rPr lang="en-US" altLang="en-US" sz="2400" dirty="0"/>
              <a:t>Instruction[31:26] (opcode) used for other control signals</a:t>
            </a:r>
          </a:p>
          <a:p>
            <a:pPr eaLnBrk="1" hangingPunct="1"/>
            <a:r>
              <a:rPr lang="en-US" altLang="en-US" sz="2400" dirty="0"/>
              <a:t>Instruction[5:0] (function) used for ALU operation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6126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83040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3F39F-0604-47AA-8C2F-9B7ED17EA4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2050" y="5379045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RegDst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0, if I-format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1, else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392413-A22C-4A05-A4BB-0D55BABABE7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124200" y="4572000"/>
            <a:ext cx="7620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081220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3F39F-0604-47AA-8C2F-9B7ED17EA4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2050" y="5379045"/>
            <a:ext cx="2915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RegWrite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0, if store or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1, else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392413-A22C-4A05-A4BB-0D55BABABE7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038600" y="2819400"/>
            <a:ext cx="7620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724615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3F39F-0604-47AA-8C2F-9B7ED17EA4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2050" y="5379045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MemRead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1, if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0, else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392413-A22C-4A05-A4BB-0D55BABABE7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705600" y="5257800"/>
            <a:ext cx="8382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95270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3F39F-0604-47AA-8C2F-9B7ED17EA4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2050" y="5379045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MemWrite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1, if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0, else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392413-A22C-4A05-A4BB-0D55BABABE7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705600" y="3352800"/>
            <a:ext cx="838200" cy="3810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78648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3F39F-0604-47AA-8C2F-9B7ED17EA4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2050" y="5379045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MemToReg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1, if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0, else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392413-A22C-4A05-A4BB-0D55BABABE7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505700" y="3656103"/>
            <a:ext cx="8382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484884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3F39F-0604-47AA-8C2F-9B7ED17EA4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2050" y="5379045"/>
            <a:ext cx="2915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PCSrc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1, if branch taken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0, else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392413-A22C-4A05-A4BB-0D55BABABE7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705600" y="1548323"/>
            <a:ext cx="6858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59537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3F39F-0604-47AA-8C2F-9B7ED17EA4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2050" y="5379045"/>
            <a:ext cx="2915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ALUSrc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0, if R-format or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1, else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392413-A22C-4A05-A4BB-0D55BABABE7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105400" y="3656103"/>
            <a:ext cx="6858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0191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7A5F-7B4F-46E9-BF21-B87343EEED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6364" y="1521006"/>
            <a:ext cx="7651273" cy="4727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3F39F-0604-47AA-8C2F-9B7ED17EA4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2050" y="5379045"/>
            <a:ext cx="291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ALU control: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f(opcode, function)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392413-A22C-4A05-A4BB-0D55BABABE7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410200" y="5029200"/>
            <a:ext cx="533400" cy="7620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713908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>
            <a:extLst>
              <a:ext uri="{FF2B5EF4-FFF2-40B4-BE49-F238E27FC236}">
                <a16:creationId xmlns:a16="http://schemas.microsoft.com/office/drawing/2014/main" id="{0675EED2-8BF4-4187-8BCB-4EB700C54F7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ALU Control</a:t>
            </a:r>
          </a:p>
        </p:txBody>
      </p:sp>
      <p:sp>
        <p:nvSpPr>
          <p:cNvPr id="7171" name="Rectangle 1027">
            <a:extLst>
              <a:ext uri="{FF2B5EF4-FFF2-40B4-BE49-F238E27FC236}">
                <a16:creationId xmlns:a16="http://schemas.microsoft.com/office/drawing/2014/main" id="{2D2355F8-AE06-4A63-B356-358FF308C44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Assume ALU control lines:</a:t>
            </a:r>
          </a:p>
        </p:txBody>
      </p:sp>
      <p:graphicFrame>
        <p:nvGraphicFramePr>
          <p:cNvPr id="190497" name="Group 1057">
            <a:extLst>
              <a:ext uri="{FF2B5EF4-FFF2-40B4-BE49-F238E27FC236}">
                <a16:creationId xmlns:a16="http://schemas.microsoft.com/office/drawing/2014/main" id="{0AC8B189-D8C0-4FEA-AE09-DE288A54FB26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92738015"/>
              </p:ext>
            </p:extLst>
          </p:nvPr>
        </p:nvGraphicFramePr>
        <p:xfrm>
          <a:off x="2286000" y="2667000"/>
          <a:ext cx="4038600" cy="2946400"/>
        </p:xfrm>
        <a:graphic>
          <a:graphicData uri="http://schemas.openxmlformats.org/drawingml/2006/table">
            <a:tbl>
              <a:tblPr/>
              <a:tblGrid>
                <a:gridCol w="1236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(set less than)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ignore for now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69581B-5D01-454E-B918-7CB9A1A4F04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A2AB8656-E898-4AC1-8C57-431DAE75FA09}" type="slidenum">
              <a:rPr lang="en-US" altLang="en-US">
                <a:latin typeface="Calibri" panose="020F0502020204030204" pitchFamily="34" charset="0"/>
              </a:rPr>
              <a:pPr lvl="1"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285920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B2ADEF-F41B-4047-811C-D804BB92336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ALU Control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37784B1-7CB6-45FF-95E7-5AFDE0E1C7B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447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ALU control lines = f(opcode, function)</a:t>
            </a:r>
          </a:p>
        </p:txBody>
      </p:sp>
      <p:graphicFrame>
        <p:nvGraphicFramePr>
          <p:cNvPr id="192555" name="Group 43">
            <a:extLst>
              <a:ext uri="{FF2B5EF4-FFF2-40B4-BE49-F238E27FC236}">
                <a16:creationId xmlns:a16="http://schemas.microsoft.com/office/drawing/2014/main" id="{520511D6-5F5D-419B-8585-3E278475591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39772704"/>
              </p:ext>
            </p:extLst>
          </p:nvPr>
        </p:nvGraphicFramePr>
        <p:xfrm>
          <a:off x="1066800" y="2368548"/>
          <a:ext cx="7467600" cy="2660653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A25F2-1A27-4527-BC7E-3CEE3F30F2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1050EDA-E7E4-45A9-A324-99FB53419E0E}" type="slidenum">
              <a:rPr lang="en-US" altLang="en-US">
                <a:latin typeface="Calibri" panose="020F0502020204030204" pitchFamily="34" charset="0"/>
              </a:rPr>
              <a:pPr lvl="1"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368667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B2ADEF-F41B-4047-811C-D804BB92336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ALU Control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37784B1-7CB6-45FF-95E7-5AFDE0E1C7B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447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ALU control lines = f(opcode, function)</a:t>
            </a:r>
          </a:p>
        </p:txBody>
      </p:sp>
      <p:graphicFrame>
        <p:nvGraphicFramePr>
          <p:cNvPr id="192555" name="Group 43">
            <a:extLst>
              <a:ext uri="{FF2B5EF4-FFF2-40B4-BE49-F238E27FC236}">
                <a16:creationId xmlns:a16="http://schemas.microsoft.com/office/drawing/2014/main" id="{520511D6-5F5D-419B-8585-3E278475591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022186115"/>
              </p:ext>
            </p:extLst>
          </p:nvPr>
        </p:nvGraphicFramePr>
        <p:xfrm>
          <a:off x="1066800" y="2368548"/>
          <a:ext cx="7467600" cy="3954355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1091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xxxxxx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0703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xxxxxx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04086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xxxxxx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A25F2-1A27-4527-BC7E-3CEE3F30F2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1050EDA-E7E4-45A9-A324-99FB53419E0E}" type="slidenum">
              <a:rPr lang="en-US" altLang="en-US">
                <a:latin typeface="Calibri" panose="020F0502020204030204" pitchFamily="34" charset="0"/>
              </a:rPr>
              <a:pPr lvl="1"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8536A4-027A-43FF-B7A0-FB1B64553F2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572000" y="2819400"/>
            <a:ext cx="1524000" cy="22098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C464C6-AF46-4E16-97E0-498F9C8B6BE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572000" y="4953000"/>
            <a:ext cx="1524000" cy="9906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B5D459-BB69-444C-B4D5-970F2918687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572000" y="5835650"/>
            <a:ext cx="1524000" cy="56515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56B7F-5854-40E4-BC2A-EF195B89E27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905000" y="190513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4 bits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420A5-D939-4223-9F2C-99DE8D41FB6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95800" y="190513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6 bits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6968CF-1D86-404F-B954-8EE24478377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019800" y="1905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6 bits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C9A575-ABFE-4B8E-9B90-3DAC3047469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143000" y="5602069"/>
            <a:ext cx="2971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Simplify: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ALUOp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= f(opcode)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48642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  <p:bldP spid="11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B2ADEF-F41B-4047-811C-D804BB92336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ALU Control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37784B1-7CB6-45FF-95E7-5AFDE0E1C7B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447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ALU control lines = f(</a:t>
            </a:r>
            <a:r>
              <a:rPr lang="en-US" altLang="en-US" dirty="0" err="1"/>
              <a:t>ALUOp</a:t>
            </a:r>
            <a:r>
              <a:rPr lang="en-US" altLang="en-US" dirty="0"/>
              <a:t>, function)</a:t>
            </a:r>
          </a:p>
        </p:txBody>
      </p:sp>
      <p:graphicFrame>
        <p:nvGraphicFramePr>
          <p:cNvPr id="192555" name="Group 43">
            <a:extLst>
              <a:ext uri="{FF2B5EF4-FFF2-40B4-BE49-F238E27FC236}">
                <a16:creationId xmlns:a16="http://schemas.microsoft.com/office/drawing/2014/main" id="{520511D6-5F5D-419B-8585-3E278475591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46272756"/>
              </p:ext>
            </p:extLst>
          </p:nvPr>
        </p:nvGraphicFramePr>
        <p:xfrm>
          <a:off x="1066800" y="2368548"/>
          <a:ext cx="7467600" cy="3954355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ALUOp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1091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xxxxxx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0703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xxxxxx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04086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xxxxxx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A25F2-1A27-4527-BC7E-3CEE3F30F2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1050EDA-E7E4-45A9-A324-99FB53419E0E}" type="slidenum">
              <a:rPr lang="en-US" altLang="en-US">
                <a:latin typeface="Calibri" panose="020F0502020204030204" pitchFamily="34" charset="0"/>
              </a:rPr>
              <a:pPr lvl="1"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56B7F-5854-40E4-BC2A-EF195B89E27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05000" y="190513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4 bits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420A5-D939-4223-9F2C-99DE8D41FB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495800" y="190513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2 bits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6968CF-1D86-404F-B954-8EE24478377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943600" y="1905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6 bits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266901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EA597EAD-7748-43C5-8F98-33BB04B09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153400" cy="456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4FE2CC-F10C-4604-ADD5-D430F989688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105400" y="4941888"/>
            <a:ext cx="1524000" cy="1219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25206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EA597EAD-7748-43C5-8F98-33BB04B09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153400" cy="456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C360D-3A52-4D92-8987-35828D1EC72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42050" y="5379045"/>
            <a:ext cx="2915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beq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PCSrc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= 1, if branch taken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PCSrc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= Branch &amp; Zero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6C0098-41CF-43A1-8649-A1E7BDAB8EC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0800" y="2133600"/>
            <a:ext cx="1600200" cy="1219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372365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B2ADEF-F41B-4047-811C-D804BB92336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37784B1-7CB6-45FF-95E7-5AFDE0E1C7B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Assume only these instructions supported</a:t>
            </a:r>
          </a:p>
          <a:p>
            <a:pPr lvl="1" eaLnBrk="1" hangingPunct="1"/>
            <a:r>
              <a:rPr lang="en-US" altLang="en-US" dirty="0" err="1"/>
              <a:t>ALUSrc</a:t>
            </a:r>
            <a:r>
              <a:rPr lang="en-US" altLang="en-US" dirty="0"/>
              <a:t> = ?</a:t>
            </a:r>
          </a:p>
        </p:txBody>
      </p:sp>
      <p:graphicFrame>
        <p:nvGraphicFramePr>
          <p:cNvPr id="192555" name="Group 43">
            <a:extLst>
              <a:ext uri="{FF2B5EF4-FFF2-40B4-BE49-F238E27FC236}">
                <a16:creationId xmlns:a16="http://schemas.microsoft.com/office/drawing/2014/main" id="{520511D6-5F5D-419B-8585-3E278475591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3964568"/>
              </p:ext>
            </p:extLst>
          </p:nvPr>
        </p:nvGraphicFramePr>
        <p:xfrm>
          <a:off x="1790700" y="2667000"/>
          <a:ext cx="5600700" cy="3954355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1091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0703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04086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A25F2-1A27-4527-BC7E-3CEE3F30F2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1050EDA-E7E4-45A9-A324-99FB53419E0E}" type="slidenum">
              <a:rPr lang="en-US" altLang="en-US">
                <a:latin typeface="Calibri" panose="020F0502020204030204" pitchFamily="34" charset="0"/>
              </a:rPr>
              <a:pPr lvl="1"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037772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B2ADEF-F41B-4047-811C-D804BB92336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37784B1-7CB6-45FF-95E7-5AFDE0E1C7B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Assume only these instructions supported</a:t>
            </a:r>
          </a:p>
          <a:p>
            <a:pPr lvl="1" eaLnBrk="1" hangingPunct="1"/>
            <a:r>
              <a:rPr lang="en-US" altLang="en-US" dirty="0" err="1"/>
              <a:t>ALUSrc</a:t>
            </a:r>
            <a:r>
              <a:rPr lang="en-US" altLang="en-US" dirty="0"/>
              <a:t> =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opcode[0] = instruction[26]</a:t>
            </a:r>
          </a:p>
        </p:txBody>
      </p:sp>
      <p:graphicFrame>
        <p:nvGraphicFramePr>
          <p:cNvPr id="192555" name="Group 43">
            <a:extLst>
              <a:ext uri="{FF2B5EF4-FFF2-40B4-BE49-F238E27FC236}">
                <a16:creationId xmlns:a16="http://schemas.microsoft.com/office/drawing/2014/main" id="{520511D6-5F5D-419B-8585-3E278475591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80716233"/>
              </p:ext>
            </p:extLst>
          </p:nvPr>
        </p:nvGraphicFramePr>
        <p:xfrm>
          <a:off x="1790700" y="2667000"/>
          <a:ext cx="5600700" cy="3954355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1091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0703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10101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04086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00010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A25F2-1A27-4527-BC7E-3CEE3F30F2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1050EDA-E7E4-45A9-A324-99FB53419E0E}" type="slidenum">
              <a:rPr lang="en-US" altLang="en-US">
                <a:latin typeface="Calibri" panose="020F0502020204030204" pitchFamily="34" charset="0"/>
              </a:rPr>
              <a:pPr lvl="1"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461858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B2ADEF-F41B-4047-811C-D804BB92336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37784B1-7CB6-45FF-95E7-5AFDE0E1C7B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Assume only these instructions supported</a:t>
            </a:r>
          </a:p>
          <a:p>
            <a:pPr lvl="1" eaLnBrk="1" hangingPunct="1"/>
            <a:r>
              <a:rPr lang="en-US" altLang="en-US" dirty="0" err="1"/>
              <a:t>RegWrite</a:t>
            </a:r>
            <a:r>
              <a:rPr lang="en-US" altLang="en-US" dirty="0"/>
              <a:t> = ?</a:t>
            </a:r>
          </a:p>
        </p:txBody>
      </p:sp>
      <p:graphicFrame>
        <p:nvGraphicFramePr>
          <p:cNvPr id="192555" name="Group 43">
            <a:extLst>
              <a:ext uri="{FF2B5EF4-FFF2-40B4-BE49-F238E27FC236}">
                <a16:creationId xmlns:a16="http://schemas.microsoft.com/office/drawing/2014/main" id="{520511D6-5F5D-419B-8585-3E278475591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790700" y="2667000"/>
          <a:ext cx="5600700" cy="3954355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1091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0703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04086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A25F2-1A27-4527-BC7E-3CEE3F30F2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1050EDA-E7E4-45A9-A324-99FB53419E0E}" type="slidenum">
              <a:rPr lang="en-US" altLang="en-US">
                <a:latin typeface="Calibri" panose="020F0502020204030204" pitchFamily="34" charset="0"/>
              </a:rPr>
              <a:pPr lvl="1"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090213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B2ADEF-F41B-4047-811C-D804BB92336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37784B1-7CB6-45FF-95E7-5AFDE0E1C7B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Assume only these instructions supported</a:t>
            </a:r>
          </a:p>
          <a:p>
            <a:pPr lvl="1" eaLnBrk="1" hangingPunct="1"/>
            <a:r>
              <a:rPr lang="en-US" altLang="en-US" dirty="0" err="1"/>
              <a:t>RegWrite</a:t>
            </a:r>
            <a:r>
              <a:rPr lang="en-US" altLang="en-US" dirty="0"/>
              <a:t> =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~opcode[2] &amp; ~opcode[3]</a:t>
            </a:r>
          </a:p>
        </p:txBody>
      </p:sp>
      <p:graphicFrame>
        <p:nvGraphicFramePr>
          <p:cNvPr id="192555" name="Group 43">
            <a:extLst>
              <a:ext uri="{FF2B5EF4-FFF2-40B4-BE49-F238E27FC236}">
                <a16:creationId xmlns:a16="http://schemas.microsoft.com/office/drawing/2014/main" id="{520511D6-5F5D-419B-8585-3E278475591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92095299"/>
              </p:ext>
            </p:extLst>
          </p:nvPr>
        </p:nvGraphicFramePr>
        <p:xfrm>
          <a:off x="1790700" y="2667000"/>
          <a:ext cx="5600700" cy="3954355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slt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10913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0703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040868"/>
                  </a:ext>
                </a:extLst>
              </a:tr>
              <a:tr h="431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01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A25F2-1A27-4527-BC7E-3CEE3F30F2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1050EDA-E7E4-45A9-A324-99FB53419E0E}" type="slidenum">
              <a:rPr lang="en-US" altLang="en-US">
                <a:latin typeface="Calibri" panose="020F0502020204030204" pitchFamily="34" charset="0"/>
              </a:rPr>
              <a:pPr lvl="1"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999710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4870B6B-015F-4375-8096-C5C989AC5DA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Global Control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6458D0F-1272-4985-9486-EFFEB47A125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More complex with entire MIPS instruction set</a:t>
            </a:r>
          </a:p>
          <a:p>
            <a:pPr lvl="1" eaLnBrk="1" hangingPunct="1"/>
            <a:r>
              <a:rPr lang="en-US" altLang="en-US" dirty="0"/>
              <a:t>Need more systematic structure</a:t>
            </a:r>
          </a:p>
          <a:p>
            <a:pPr lvl="1" eaLnBrk="1" hangingPunct="1"/>
            <a:r>
              <a:rPr lang="en-US" altLang="en-US" dirty="0"/>
              <a:t>Want to share gates between control signals</a:t>
            </a:r>
          </a:p>
          <a:p>
            <a:pPr eaLnBrk="1" hangingPunct="1"/>
            <a:r>
              <a:rPr lang="en-US" altLang="en-US" dirty="0"/>
              <a:t>Common solution: programmable logic array</a:t>
            </a:r>
          </a:p>
          <a:p>
            <a:pPr lvl="1" eaLnBrk="1" hangingPunct="1"/>
            <a:r>
              <a:rPr lang="en-US" altLang="en-US" dirty="0"/>
              <a:t>MIPS opcodes designed to minimize PLA inputs, </a:t>
            </a:r>
            <a:r>
              <a:rPr lang="en-US" altLang="en-US" dirty="0" err="1"/>
              <a:t>minterms</a:t>
            </a:r>
            <a:r>
              <a:rPr lang="en-US" altLang="en-US" dirty="0"/>
              <a:t> and outputs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C4A42-9803-4B30-8630-7094EC939DD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3C3800D8-FEEF-4823-9022-EF395159C198}" type="slidenum">
              <a:rPr lang="en-US" altLang="en-US">
                <a:latin typeface="Calibri" panose="020F0502020204030204" pitchFamily="34" charset="0"/>
              </a:rPr>
              <a:pPr lvl="1"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158767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D67E6C-B490-452C-87BB-4489770022A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PLA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6626DC3-002F-4774-A508-392B1339E8A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524000"/>
            <a:ext cx="3813175" cy="2514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In AND-plane, AND selected inputs to get </a:t>
            </a:r>
            <a:r>
              <a:rPr lang="en-US" altLang="en-US" sz="2800" dirty="0" err="1"/>
              <a:t>minterms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In OR-plane, OR selected </a:t>
            </a:r>
            <a:r>
              <a:rPr lang="en-US" altLang="en-US" sz="2800" dirty="0" err="1"/>
              <a:t>minterms</a:t>
            </a:r>
            <a:r>
              <a:rPr lang="en-US" altLang="en-US" sz="2800" dirty="0"/>
              <a:t> to get outputs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e.g.,</a:t>
            </a:r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30F2E9EC-1C08-4FD7-AC61-8C2B6D529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114800"/>
            <a:ext cx="44196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6C3160-FECC-4A7C-A51A-92BF2071EB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52BF238D-9182-45BA-B6E1-D0D076DA461D}" type="slidenum">
              <a:rPr lang="en-US" altLang="en-US">
                <a:latin typeface="Calibri" panose="020F0502020204030204" pitchFamily="34" charset="0"/>
              </a:rPr>
              <a:pPr lvl="1"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6881BD7B-826A-420C-9628-683ABD4A9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62" y="1022350"/>
            <a:ext cx="3919538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504105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E6862CE-0F96-487D-A471-6C2F706A3A6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3716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Jump (j) instruction?</a:t>
            </a:r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EA597EAD-7748-43C5-8F98-33BB04B09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62812"/>
            <a:ext cx="7848600" cy="439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7153700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199066-80BF-4535-947F-8B22EC4410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3B841-C371-4A7D-9C0E-F04A77B3EB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729D490-0879-47A5-93B1-A38EC4B0B7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E6862CE-0F96-487D-A471-6C2F706A3A6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3716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Jump (j) instruction?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F87F3CB-1E41-423A-84B9-C32AED398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7924800" cy="4715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52AD8A7-D7F9-448F-A1EF-2F9EA9BEEF5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133600" y="1854724"/>
            <a:ext cx="2819400" cy="888476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002C21-D104-4082-B191-AA919873E94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543800" y="1981200"/>
            <a:ext cx="685800" cy="1249362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9533F-B972-42E0-A878-C9D6E27A3DF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57200" y="5638800"/>
            <a:ext cx="2915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Jump: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1, if jump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0, else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18371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645051B-5804-4379-A7F2-CC0440C6381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Single-Cycle Processor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8EA829C-4052-41FB-90D0-5B17BCD76DC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4" y="3200400"/>
            <a:ext cx="8308975" cy="3505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Critical path: probably load instruction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I-mem,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-read, ALU, D-mem,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-write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Other common instructions are much faster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e.g., R-format: skip D-mem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Problem</a:t>
            </a:r>
            <a:r>
              <a:rPr lang="en-US" altLang="en-US" sz="2800" dirty="0"/>
              <a:t>: high instruction variation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Much worse for full instruction set and real implementation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e.g., floating-point arithmetic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e.g., cache misses (later)</a:t>
            </a: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8E4B3D67-C4B8-4575-A147-0A86932BF3A9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286500" y="1536700"/>
            <a:ext cx="1663700" cy="111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</p:txBody>
      </p:sp>
      <p:grpSp>
        <p:nvGrpSpPr>
          <p:cNvPr id="21509" name="Group 38">
            <a:extLst>
              <a:ext uri="{FF2B5EF4-FFF2-40B4-BE49-F238E27FC236}">
                <a16:creationId xmlns:a16="http://schemas.microsoft.com/office/drawing/2014/main" id="{19F1712E-5231-49BD-A704-3D8ED04FB238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320800" y="1524001"/>
            <a:ext cx="6877050" cy="1317626"/>
            <a:chOff x="832" y="960"/>
            <a:chExt cx="4332" cy="830"/>
          </a:xfrm>
        </p:grpSpPr>
        <p:sp>
          <p:nvSpPr>
            <p:cNvPr id="21511" name="Rectangle 5">
              <a:extLst>
                <a:ext uri="{FF2B5EF4-FFF2-40B4-BE49-F238E27FC236}">
                  <a16:creationId xmlns:a16="http://schemas.microsoft.com/office/drawing/2014/main" id="{DD6D6419-EDF2-4D22-ABD0-CEB77705367E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60" y="968"/>
              <a:ext cx="1040" cy="5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21512" name="Rectangle 10">
              <a:extLst>
                <a:ext uri="{FF2B5EF4-FFF2-40B4-BE49-F238E27FC236}">
                  <a16:creationId xmlns:a16="http://schemas.microsoft.com/office/drawing/2014/main" id="{441AE92B-3508-4088-ACB9-CC8E1BB51C70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464" y="960"/>
              <a:ext cx="1240" cy="5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21513" name="Rectangle 14">
              <a:extLst>
                <a:ext uri="{FF2B5EF4-FFF2-40B4-BE49-F238E27FC236}">
                  <a16:creationId xmlns:a16="http://schemas.microsoft.com/office/drawing/2014/main" id="{C97ED467-D047-49DA-83AE-7C1C11DF8F18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32" y="968"/>
              <a:ext cx="1336" cy="5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21514" name="Rectangle 20">
              <a:extLst>
                <a:ext uri="{FF2B5EF4-FFF2-40B4-BE49-F238E27FC236}">
                  <a16:creationId xmlns:a16="http://schemas.microsoft.com/office/drawing/2014/main" id="{4A15FDB8-8D96-4CBD-B68A-4010DAAA3544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44" y="975"/>
              <a:ext cx="1098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15" name="Rectangle 21">
              <a:extLst>
                <a:ext uri="{FF2B5EF4-FFF2-40B4-BE49-F238E27FC236}">
                  <a16:creationId xmlns:a16="http://schemas.microsoft.com/office/drawing/2014/main" id="{DE942AE1-377F-4D8C-9B67-321817B05397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92" y="975"/>
              <a:ext cx="776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  Cycles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16" name="Rectangle 22">
              <a:extLst>
                <a:ext uri="{FF2B5EF4-FFF2-40B4-BE49-F238E27FC236}">
                  <a16:creationId xmlns:a16="http://schemas.microsoft.com/office/drawing/2014/main" id="{76053522-12CA-4979-9100-689A76A5F53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24" y="1243"/>
              <a:ext cx="843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Program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17" name="Rectangle 23">
              <a:extLst>
                <a:ext uri="{FF2B5EF4-FFF2-40B4-BE49-F238E27FC236}">
                  <a16:creationId xmlns:a16="http://schemas.microsoft.com/office/drawing/2014/main" id="{050D7E8A-180A-410D-B501-1FE2065FAC4D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592" y="1235"/>
              <a:ext cx="991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18" name="Rectangle 24">
              <a:extLst>
                <a:ext uri="{FF2B5EF4-FFF2-40B4-BE49-F238E27FC236}">
                  <a16:creationId xmlns:a16="http://schemas.microsoft.com/office/drawing/2014/main" id="{1D81F023-E26B-4A35-A8D5-741D69EED427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216" y="998"/>
              <a:ext cx="448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Time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19" name="Rectangle 25">
              <a:extLst>
                <a:ext uri="{FF2B5EF4-FFF2-40B4-BE49-F238E27FC236}">
                  <a16:creationId xmlns:a16="http://schemas.microsoft.com/office/drawing/2014/main" id="{B8B07832-1F43-4297-8AB1-043881246466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216" y="1251"/>
              <a:ext cx="510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Cycle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20" name="Rectangle 26">
              <a:extLst>
                <a:ext uri="{FF2B5EF4-FFF2-40B4-BE49-F238E27FC236}">
                  <a16:creationId xmlns:a16="http://schemas.microsoft.com/office/drawing/2014/main" id="{32DBCF69-4CC1-45E5-9677-2A70FCA55E9C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12" y="1557"/>
              <a:ext cx="10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latin typeface="Helvetica" panose="020B0604020202020204" pitchFamily="34" charset="0"/>
                </a:rPr>
                <a:t> (</a:t>
              </a:r>
              <a:r>
                <a:rPr lang="en-US" altLang="en-US" sz="2400" b="1" dirty="0" err="1">
                  <a:latin typeface="Helvetica" panose="020B0604020202020204" pitchFamily="34" charset="0"/>
                </a:rPr>
                <a:t>dyn</a:t>
              </a:r>
              <a:r>
                <a:rPr lang="en-US" altLang="en-US" sz="2400" b="1" dirty="0">
                  <a:latin typeface="Helvetica" panose="020B0604020202020204" pitchFamily="34" charset="0"/>
                </a:rPr>
                <a:t> </a:t>
              </a:r>
              <a:r>
                <a:rPr lang="en-US" altLang="en-US" sz="2400" b="1" dirty="0" err="1">
                  <a:latin typeface="Helvetica" panose="020B0604020202020204" pitchFamily="34" charset="0"/>
                </a:rPr>
                <a:t>insns</a:t>
              </a:r>
              <a:r>
                <a:rPr lang="en-US" altLang="en-US" sz="2400" b="1" dirty="0">
                  <a:latin typeface="Helvetica" panose="020B0604020202020204" pitchFamily="34" charset="0"/>
                </a:rPr>
                <a:t>)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1521" name="Text Box 28">
              <a:extLst>
                <a:ext uri="{FF2B5EF4-FFF2-40B4-BE49-F238E27FC236}">
                  <a16:creationId xmlns:a16="http://schemas.microsoft.com/office/drawing/2014/main" id="{7492A463-17BD-45F6-8B03-BD44D0657F04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208" y="10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21522" name="Text Box 29">
              <a:extLst>
                <a:ext uri="{FF2B5EF4-FFF2-40B4-BE49-F238E27FC236}">
                  <a16:creationId xmlns:a16="http://schemas.microsoft.com/office/drawing/2014/main" id="{CCDDAD6D-08F5-4E51-A38A-3F3AF6E692F4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696" y="10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21523" name="Line 30">
              <a:extLst>
                <a:ext uri="{FF2B5EF4-FFF2-40B4-BE49-F238E27FC236}">
                  <a16:creationId xmlns:a16="http://schemas.microsoft.com/office/drawing/2014/main" id="{C30BD191-D449-462F-A60F-27177A61F4B4}"/>
                </a:ext>
              </a:extLst>
            </p:cNvPr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960" y="123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Line 31">
              <a:extLst>
                <a:ext uri="{FF2B5EF4-FFF2-40B4-BE49-F238E27FC236}">
                  <a16:creationId xmlns:a16="http://schemas.microsoft.com/office/drawing/2014/main" id="{73E56A90-5F78-4973-BDE8-FDF08379A4F5}"/>
                </a:ext>
              </a:extLst>
            </p:cNvPr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2592" y="123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Line 32">
              <a:extLst>
                <a:ext uri="{FF2B5EF4-FFF2-40B4-BE49-F238E27FC236}">
                  <a16:creationId xmlns:a16="http://schemas.microsoft.com/office/drawing/2014/main" id="{74F3423A-9E21-49E5-B31D-93FCE2BBEBC3}"/>
                </a:ext>
              </a:extLst>
            </p:cNvPr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4032" y="1235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Rectangle 33">
              <a:extLst>
                <a:ext uri="{FF2B5EF4-FFF2-40B4-BE49-F238E27FC236}">
                  <a16:creationId xmlns:a16="http://schemas.microsoft.com/office/drawing/2014/main" id="{EA008F5D-461B-4A34-9879-438085768625}"/>
                </a:ext>
              </a:extLst>
            </p:cNvPr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784" y="1557"/>
              <a:ext cx="5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(CPI)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27" name="Rectangle 34">
              <a:extLst>
                <a:ext uri="{FF2B5EF4-FFF2-40B4-BE49-F238E27FC236}">
                  <a16:creationId xmlns:a16="http://schemas.microsoft.com/office/drawing/2014/main" id="{AF207015-5BD2-4B48-A538-8298B850C4B4}"/>
                </a:ext>
              </a:extLst>
            </p:cNvPr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840" y="1557"/>
              <a:ext cx="1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latin typeface="Helvetica" panose="020B0604020202020204" pitchFamily="34" charset="0"/>
                </a:rPr>
                <a:t> (clock period)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C50E5F-7D4B-40C1-9B2C-325E2365AD5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0EC6F3A-EB68-4431-815A-8DA039578CD8}" type="slidenum">
              <a:rPr lang="en-US" altLang="en-US">
                <a:latin typeface="Calibri" panose="020F0502020204030204" pitchFamily="34" charset="0"/>
              </a:rPr>
              <a:pPr lvl="1"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62F0A6-2559-40F2-AB8D-FFA1D96D75C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67600" y="30596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worst-case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1D3F9A7-C9DD-4EB3-954E-04856B52091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867400" y="1158082"/>
            <a:ext cx="2590800" cy="2118518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802593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7110488-9092-4B4C-B860-CD076848639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Single-Cycle Processor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96C426C-8D57-417C-9FE9-D85F503B809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3111502"/>
            <a:ext cx="8229600" cy="3014661"/>
          </a:xfrm>
        </p:spPr>
        <p:txBody>
          <a:bodyPr/>
          <a:lstStyle/>
          <a:p>
            <a:pPr eaLnBrk="1" hangingPunct="1"/>
            <a:r>
              <a:rPr lang="en-US" altLang="en-US" b="1" dirty="0"/>
              <a:t>Solution:</a:t>
            </a:r>
          </a:p>
          <a:p>
            <a:pPr lvl="1" eaLnBrk="1" hangingPunct="1"/>
            <a:r>
              <a:rPr lang="en-US" altLang="en-US" dirty="0"/>
              <a:t>Variable clock period per instruction?</a:t>
            </a:r>
          </a:p>
          <a:p>
            <a:pPr lvl="2" eaLnBrk="1" hangingPunct="1"/>
            <a:r>
              <a:rPr lang="en-US" altLang="en-US" dirty="0"/>
              <a:t>Too hard to control/build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EA31E5-D569-4EA7-BBB8-AAE8336FE1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C20FF50-F425-46CF-BD58-263BD9503F7C}" type="slidenum">
              <a:rPr lang="en-US" altLang="en-US">
                <a:latin typeface="Calibri" panose="020F0502020204030204" pitchFamily="34" charset="0"/>
              </a:rPr>
              <a:pPr lvl="1"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F19D41-CDE7-4AD8-8ADD-CFF225AFFFB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286500" y="1536700"/>
            <a:ext cx="1663700" cy="111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</p:txBody>
      </p:sp>
      <p:grpSp>
        <p:nvGrpSpPr>
          <p:cNvPr id="6" name="Group 38">
            <a:extLst>
              <a:ext uri="{FF2B5EF4-FFF2-40B4-BE49-F238E27FC236}">
                <a16:creationId xmlns:a16="http://schemas.microsoft.com/office/drawing/2014/main" id="{8F820DC9-6CD7-4D52-AD63-80F43EA4913B}"/>
              </a:ext>
            </a:extLst>
          </p:cNvPr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320800" y="1524001"/>
            <a:ext cx="6877050" cy="1317626"/>
            <a:chOff x="832" y="960"/>
            <a:chExt cx="4332" cy="830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789789FD-2958-4FE3-8DC8-821CC4FA0623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60" y="968"/>
              <a:ext cx="1040" cy="5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761BC194-CD72-4E6C-8075-F889EC326E92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64" y="960"/>
              <a:ext cx="1240" cy="5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E4FE08E1-D55D-4A0A-B297-2AD390DC13FE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32" y="968"/>
              <a:ext cx="1336" cy="5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20">
              <a:extLst>
                <a:ext uri="{FF2B5EF4-FFF2-40B4-BE49-F238E27FC236}">
                  <a16:creationId xmlns:a16="http://schemas.microsoft.com/office/drawing/2014/main" id="{93A96F75-75A7-4FCD-841B-89B9C6A6BEFF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44" y="975"/>
              <a:ext cx="1098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21">
              <a:extLst>
                <a:ext uri="{FF2B5EF4-FFF2-40B4-BE49-F238E27FC236}">
                  <a16:creationId xmlns:a16="http://schemas.microsoft.com/office/drawing/2014/main" id="{EE99B07E-F643-4881-A94E-0342CEED312B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92" y="975"/>
              <a:ext cx="776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  Cycles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BA4863C3-9177-4341-A85A-FB3E223754C7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24" y="1243"/>
              <a:ext cx="843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Program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5DC55BE5-3E12-48F8-BC14-C9E3F762180E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92" y="1235"/>
              <a:ext cx="991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24">
              <a:extLst>
                <a:ext uri="{FF2B5EF4-FFF2-40B4-BE49-F238E27FC236}">
                  <a16:creationId xmlns:a16="http://schemas.microsoft.com/office/drawing/2014/main" id="{8E58E09E-A9DC-4A42-9BC6-200D26CBEC2D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216" y="998"/>
              <a:ext cx="448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Time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CC9EE0CE-C5A7-43AA-A065-49E1B2B0018B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216" y="1251"/>
              <a:ext cx="510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Cycle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26">
              <a:extLst>
                <a:ext uri="{FF2B5EF4-FFF2-40B4-BE49-F238E27FC236}">
                  <a16:creationId xmlns:a16="http://schemas.microsoft.com/office/drawing/2014/main" id="{AA79D050-058A-402C-BB34-60BF4843D07D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12" y="1557"/>
              <a:ext cx="10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latin typeface="Helvetica" panose="020B0604020202020204" pitchFamily="34" charset="0"/>
                </a:rPr>
                <a:t> (</a:t>
              </a:r>
              <a:r>
                <a:rPr lang="en-US" altLang="en-US" sz="2400" b="1" dirty="0" err="1">
                  <a:latin typeface="Helvetica" panose="020B0604020202020204" pitchFamily="34" charset="0"/>
                </a:rPr>
                <a:t>dyn</a:t>
              </a:r>
              <a:r>
                <a:rPr lang="en-US" altLang="en-US" sz="2400" b="1" dirty="0">
                  <a:latin typeface="Helvetica" panose="020B0604020202020204" pitchFamily="34" charset="0"/>
                </a:rPr>
                <a:t> </a:t>
              </a:r>
              <a:r>
                <a:rPr lang="en-US" altLang="en-US" sz="2400" b="1" dirty="0" err="1">
                  <a:latin typeface="Helvetica" panose="020B0604020202020204" pitchFamily="34" charset="0"/>
                </a:rPr>
                <a:t>insns</a:t>
              </a:r>
              <a:r>
                <a:rPr lang="en-US" altLang="en-US" sz="2400" b="1" dirty="0">
                  <a:latin typeface="Helvetica" panose="020B0604020202020204" pitchFamily="34" charset="0"/>
                </a:rPr>
                <a:t>)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CB373412-8E9A-4190-BFEA-1D386E531785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208" y="10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18" name="Text Box 29">
              <a:extLst>
                <a:ext uri="{FF2B5EF4-FFF2-40B4-BE49-F238E27FC236}">
                  <a16:creationId xmlns:a16="http://schemas.microsoft.com/office/drawing/2014/main" id="{C0AFAD17-153B-40D6-BD65-1C2A43EE990B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696" y="10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19" name="Line 30">
              <a:extLst>
                <a:ext uri="{FF2B5EF4-FFF2-40B4-BE49-F238E27FC236}">
                  <a16:creationId xmlns:a16="http://schemas.microsoft.com/office/drawing/2014/main" id="{8614250C-5A05-42B4-939D-4A19B916E015}"/>
                </a:ext>
              </a:extLst>
            </p:cNvPr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960" y="123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31">
              <a:extLst>
                <a:ext uri="{FF2B5EF4-FFF2-40B4-BE49-F238E27FC236}">
                  <a16:creationId xmlns:a16="http://schemas.microsoft.com/office/drawing/2014/main" id="{ECE99BD6-DEE4-47B4-A2EE-27C47FE8D8A6}"/>
                </a:ext>
              </a:extLst>
            </p:cNvPr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2592" y="123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32">
              <a:extLst>
                <a:ext uri="{FF2B5EF4-FFF2-40B4-BE49-F238E27FC236}">
                  <a16:creationId xmlns:a16="http://schemas.microsoft.com/office/drawing/2014/main" id="{F001C90E-8D02-4B82-AC2D-3F8FE0AF3086}"/>
                </a:ext>
              </a:extLst>
            </p:cNvPr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032" y="1235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33">
              <a:extLst>
                <a:ext uri="{FF2B5EF4-FFF2-40B4-BE49-F238E27FC236}">
                  <a16:creationId xmlns:a16="http://schemas.microsoft.com/office/drawing/2014/main" id="{FF78AD24-D33B-4925-A45C-AFDF8E751A7C}"/>
                </a:ext>
              </a:extLst>
            </p:cNvPr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784" y="1557"/>
              <a:ext cx="5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(CPI)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4">
              <a:extLst>
                <a:ext uri="{FF2B5EF4-FFF2-40B4-BE49-F238E27FC236}">
                  <a16:creationId xmlns:a16="http://schemas.microsoft.com/office/drawing/2014/main" id="{1BB32311-694B-4E8E-BA0F-042AA9C9E8DD}"/>
                </a:ext>
              </a:extLst>
            </p:cNvPr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840" y="1557"/>
              <a:ext cx="1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latin typeface="Helvetica" panose="020B0604020202020204" pitchFamily="34" charset="0"/>
                </a:rPr>
                <a:t> (clock period)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A9569916-CFC4-43CA-87D4-25A65B5A167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67400" y="1158082"/>
            <a:ext cx="2590800" cy="2118518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616353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7110488-9092-4B4C-B860-CD076848639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Single-Cycle Processor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96C426C-8D57-417C-9FE9-D85F503B809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3111502"/>
            <a:ext cx="8229600" cy="3014661"/>
          </a:xfrm>
        </p:spPr>
        <p:txBody>
          <a:bodyPr/>
          <a:lstStyle/>
          <a:p>
            <a:pPr eaLnBrk="1" hangingPunct="1"/>
            <a:r>
              <a:rPr lang="en-US" altLang="en-US" b="1" dirty="0"/>
              <a:t>Solution:</a:t>
            </a:r>
          </a:p>
          <a:p>
            <a:pPr lvl="1" eaLnBrk="1" hangingPunct="1"/>
            <a:r>
              <a:rPr lang="en-US" altLang="en-US" dirty="0"/>
              <a:t>Variable clock period per instruction?</a:t>
            </a:r>
          </a:p>
          <a:p>
            <a:pPr lvl="2" eaLnBrk="1" hangingPunct="1"/>
            <a:r>
              <a:rPr lang="en-US" altLang="en-US" dirty="0"/>
              <a:t>Too hard to control/build</a:t>
            </a:r>
          </a:p>
          <a:p>
            <a:pPr lvl="1" eaLnBrk="1" hangingPunct="1"/>
            <a:r>
              <a:rPr lang="en-US" altLang="en-US" dirty="0"/>
              <a:t>Variable cycles per instruction</a:t>
            </a:r>
          </a:p>
          <a:p>
            <a:pPr lvl="2" eaLnBrk="1" hangingPunct="1"/>
            <a:r>
              <a:rPr lang="en-US" altLang="en-US" dirty="0"/>
              <a:t>Fixed short clock period</a:t>
            </a:r>
          </a:p>
          <a:p>
            <a:pPr lvl="2" eaLnBrk="1" hangingPunct="1"/>
            <a:r>
              <a:rPr lang="en-US" altLang="en-US" dirty="0"/>
              <a:t>Break data path into multicycle stages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EA31E5-D569-4EA7-BBB8-AAE8336FE1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C20FF50-F425-46CF-BD58-263BD9503F7C}" type="slidenum">
              <a:rPr lang="en-US" altLang="en-US">
                <a:latin typeface="Calibri" panose="020F0502020204030204" pitchFamily="34" charset="0"/>
              </a:rPr>
              <a:pPr lvl="1"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F19D41-CDE7-4AD8-8ADD-CFF225AFFFB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286500" y="1536700"/>
            <a:ext cx="1663700" cy="111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</p:txBody>
      </p:sp>
      <p:grpSp>
        <p:nvGrpSpPr>
          <p:cNvPr id="6" name="Group 38">
            <a:extLst>
              <a:ext uri="{FF2B5EF4-FFF2-40B4-BE49-F238E27FC236}">
                <a16:creationId xmlns:a16="http://schemas.microsoft.com/office/drawing/2014/main" id="{8F820DC9-6CD7-4D52-AD63-80F43EA4913B}"/>
              </a:ext>
            </a:extLst>
          </p:cNvPr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320800" y="1524001"/>
            <a:ext cx="6877050" cy="1317626"/>
            <a:chOff x="832" y="960"/>
            <a:chExt cx="4332" cy="830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789789FD-2958-4FE3-8DC8-821CC4FA0623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60" y="968"/>
              <a:ext cx="1040" cy="5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761BC194-CD72-4E6C-8075-F889EC326E92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64" y="960"/>
              <a:ext cx="1240" cy="5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E4FE08E1-D55D-4A0A-B297-2AD390DC13FE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32" y="968"/>
              <a:ext cx="1336" cy="5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20">
              <a:extLst>
                <a:ext uri="{FF2B5EF4-FFF2-40B4-BE49-F238E27FC236}">
                  <a16:creationId xmlns:a16="http://schemas.microsoft.com/office/drawing/2014/main" id="{93A96F75-75A7-4FCD-841B-89B9C6A6BEFF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44" y="975"/>
              <a:ext cx="1098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21">
              <a:extLst>
                <a:ext uri="{FF2B5EF4-FFF2-40B4-BE49-F238E27FC236}">
                  <a16:creationId xmlns:a16="http://schemas.microsoft.com/office/drawing/2014/main" id="{EE99B07E-F643-4881-A94E-0342CEED312B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92" y="975"/>
              <a:ext cx="776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  Cycles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BA4863C3-9177-4341-A85A-FB3E223754C7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24" y="1243"/>
              <a:ext cx="843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Program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5DC55BE5-3E12-48F8-BC14-C9E3F762180E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92" y="1235"/>
              <a:ext cx="991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24">
              <a:extLst>
                <a:ext uri="{FF2B5EF4-FFF2-40B4-BE49-F238E27FC236}">
                  <a16:creationId xmlns:a16="http://schemas.microsoft.com/office/drawing/2014/main" id="{8E58E09E-A9DC-4A42-9BC6-200D26CBEC2D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216" y="998"/>
              <a:ext cx="448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Time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CC9EE0CE-C5A7-43AA-A065-49E1B2B0018B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216" y="1251"/>
              <a:ext cx="510" cy="2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Cycle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26">
              <a:extLst>
                <a:ext uri="{FF2B5EF4-FFF2-40B4-BE49-F238E27FC236}">
                  <a16:creationId xmlns:a16="http://schemas.microsoft.com/office/drawing/2014/main" id="{AA79D050-058A-402C-BB34-60BF4843D07D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12" y="1557"/>
              <a:ext cx="10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latin typeface="Helvetica" panose="020B0604020202020204" pitchFamily="34" charset="0"/>
                </a:rPr>
                <a:t> (</a:t>
              </a:r>
              <a:r>
                <a:rPr lang="en-US" altLang="en-US" sz="2400" b="1" dirty="0" err="1">
                  <a:latin typeface="Helvetica" panose="020B0604020202020204" pitchFamily="34" charset="0"/>
                </a:rPr>
                <a:t>dyn</a:t>
              </a:r>
              <a:r>
                <a:rPr lang="en-US" altLang="en-US" sz="2400" b="1" dirty="0">
                  <a:latin typeface="Helvetica" panose="020B0604020202020204" pitchFamily="34" charset="0"/>
                </a:rPr>
                <a:t> </a:t>
              </a:r>
              <a:r>
                <a:rPr lang="en-US" altLang="en-US" sz="2400" b="1" dirty="0" err="1">
                  <a:latin typeface="Helvetica" panose="020B0604020202020204" pitchFamily="34" charset="0"/>
                </a:rPr>
                <a:t>insns</a:t>
              </a:r>
              <a:r>
                <a:rPr lang="en-US" altLang="en-US" sz="2400" b="1" dirty="0">
                  <a:latin typeface="Helvetica" panose="020B0604020202020204" pitchFamily="34" charset="0"/>
                </a:rPr>
                <a:t>)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CB373412-8E9A-4190-BFEA-1D386E531785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208" y="10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18" name="Text Box 29">
              <a:extLst>
                <a:ext uri="{FF2B5EF4-FFF2-40B4-BE49-F238E27FC236}">
                  <a16:creationId xmlns:a16="http://schemas.microsoft.com/office/drawing/2014/main" id="{C0AFAD17-153B-40D6-BD65-1C2A43EE990B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696" y="10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19" name="Line 30">
              <a:extLst>
                <a:ext uri="{FF2B5EF4-FFF2-40B4-BE49-F238E27FC236}">
                  <a16:creationId xmlns:a16="http://schemas.microsoft.com/office/drawing/2014/main" id="{8614250C-5A05-42B4-939D-4A19B916E015}"/>
                </a:ext>
              </a:extLst>
            </p:cNvPr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960" y="123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31">
              <a:extLst>
                <a:ext uri="{FF2B5EF4-FFF2-40B4-BE49-F238E27FC236}">
                  <a16:creationId xmlns:a16="http://schemas.microsoft.com/office/drawing/2014/main" id="{ECE99BD6-DEE4-47B4-A2EE-27C47FE8D8A6}"/>
                </a:ext>
              </a:extLst>
            </p:cNvPr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2592" y="123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32">
              <a:extLst>
                <a:ext uri="{FF2B5EF4-FFF2-40B4-BE49-F238E27FC236}">
                  <a16:creationId xmlns:a16="http://schemas.microsoft.com/office/drawing/2014/main" id="{F001C90E-8D02-4B82-AC2D-3F8FE0AF3086}"/>
                </a:ext>
              </a:extLst>
            </p:cNvPr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032" y="1235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33">
              <a:extLst>
                <a:ext uri="{FF2B5EF4-FFF2-40B4-BE49-F238E27FC236}">
                  <a16:creationId xmlns:a16="http://schemas.microsoft.com/office/drawing/2014/main" id="{FF78AD24-D33B-4925-A45C-AFDF8E751A7C}"/>
                </a:ext>
              </a:extLst>
            </p:cNvPr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784" y="1557"/>
              <a:ext cx="5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(CPI)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4">
              <a:extLst>
                <a:ext uri="{FF2B5EF4-FFF2-40B4-BE49-F238E27FC236}">
                  <a16:creationId xmlns:a16="http://schemas.microsoft.com/office/drawing/2014/main" id="{1BB32311-694B-4E8E-BA0F-042AA9C9E8DD}"/>
                </a:ext>
              </a:extLst>
            </p:cNvPr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840" y="1557"/>
              <a:ext cx="1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latin typeface="Helvetica" panose="020B0604020202020204" pitchFamily="34" charset="0"/>
                </a:rPr>
                <a:t> (clock period)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85AB23ED-3670-483D-B278-566A1BCE59C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581400" y="1179515"/>
            <a:ext cx="2590800" cy="1868485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519507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eaLnBrk="1" hangingPunct="1"/>
            <a:r>
              <a:rPr lang="en-US" altLang="en-US" dirty="0"/>
              <a:t>If </a:t>
            </a:r>
            <a:r>
              <a:rPr lang="en-US" altLang="en-US" dirty="0" err="1"/>
              <a:t>RegDst</a:t>
            </a:r>
            <a:r>
              <a:rPr lang="en-US" altLang="en-US" dirty="0"/>
              <a:t> stuck at 0, sub $t0, $t1, $t2 correct?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FAE20-70D6-473F-AF14-0C7657523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91412"/>
            <a:ext cx="7848600" cy="439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375594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eaLnBrk="1" hangingPunct="1"/>
            <a:r>
              <a:rPr lang="en-US" altLang="en-US" dirty="0"/>
              <a:t>If </a:t>
            </a:r>
            <a:r>
              <a:rPr lang="en-US" altLang="en-US" dirty="0" err="1"/>
              <a:t>RegDst</a:t>
            </a:r>
            <a:r>
              <a:rPr lang="en-US" altLang="en-US" dirty="0"/>
              <a:t> stuck at 0, sub $t0, $t1, $t2 correct?</a:t>
            </a:r>
          </a:p>
          <a:p>
            <a:pPr lvl="1" eaLnBrk="1" hangingPunct="1"/>
            <a:r>
              <a:rPr lang="en-US" altLang="en-US" b="1" dirty="0"/>
              <a:t>No, would compute: [$t2] = [$t1] - [$t2]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EEE5C-29DA-499D-AB2C-5D8209F9E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91412"/>
            <a:ext cx="7848600" cy="439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962031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UIDATA" val="&lt;database version=&quot;11.0&quot;&gt;&lt;object type=&quot;1&quot; unique_id=&quot;10001&quot;&gt;&lt;property id=&quot;20141&quot; value=&quot;ECE/CS 552 - Single-Cycle Control Path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SingleCycleControlPath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2008&quot;&gt;&lt;property id=&quot;20148&quot; value=&quot;5&quot;/&gt;&lt;property id=&quot;20300&quot; value=&quot;Slide 1 - &amp;quot;ECE/CS 552: Single-Cycle Control Path&amp;quot;&quot;/&gt;&lt;property id=&quot;20307&quot; value=&quot;363&quot;/&gt;&lt;property id=&quot;20309&quot; value=&quot;-1&quot;/&gt;&lt;/object&gt;&lt;object type=&quot;3&quot; unique_id=&quot;16043&quot;&gt;&lt;property id=&quot;20148&quot; value=&quot;5&quot;/&gt;&lt;property id=&quot;20300&quot; value=&quot;Slide 31 - &amp;quot;Exercise&amp;quot;&quot;/&gt;&lt;property id=&quot;20307&quot; value=&quot;370&quot;/&gt;&lt;property id=&quot;20309&quot; value=&quot;-1&quot;/&gt;&lt;/object&gt;&lt;object type=&quot;3&quot; unique_id=&quot;16044&quot;&gt;&lt;property id=&quot;20148&quot; value=&quot;5&quot;/&gt;&lt;property id=&quot;20300&quot; value=&quot;Slide 32 - &amp;quot;Exercise&amp;quot;&quot;/&gt;&lt;property id=&quot;20307&quot; value=&quot;371&quot;/&gt;&lt;property id=&quot;20309&quot; value=&quot;-1&quot;/&gt;&lt;/object&gt;&lt;object type=&quot;3&quot; unique_id=&quot;16045&quot;&gt;&lt;property id=&quot;20148&quot; value=&quot;5&quot;/&gt;&lt;property id=&quot;20300&quot; value=&quot;Slide 33 - &amp;quot;Exercise&amp;quot;&quot;/&gt;&lt;property id=&quot;20307&quot; value=&quot;372&quot;/&gt;&lt;property id=&quot;20309&quot; value=&quot;-1&quot;/&gt;&lt;/object&gt;&lt;object type=&quot;3&quot; unique_id=&quot;16046&quot;&gt;&lt;property id=&quot;20148&quot; value=&quot;5&quot;/&gt;&lt;property id=&quot;20300&quot; value=&quot;Slide 34 - &amp;quot;Exercise&amp;quot;&quot;/&gt;&lt;property id=&quot;20307&quot; value=&quot;373&quot;/&gt;&lt;property id=&quot;20309&quot; value=&quot;-1&quot;/&gt;&lt;/object&gt;&lt;object type=&quot;3&quot; unique_id=&quot;16303&quot;&gt;&lt;property id=&quot;20148&quot; value=&quot;5&quot;/&gt;&lt;property id=&quot;20300&quot; value=&quot;Slide 2 - &amp;quot;Single-Cycle Processor&amp;quot;&quot;/&gt;&lt;property id=&quot;20307&quot; value=&quot;374&quot;/&gt;&lt;property id=&quot;20309&quot; value=&quot;-1&quot;/&gt;&lt;/object&gt;&lt;object type=&quot;3&quot; unique_id=&quot;16304&quot;&gt;&lt;property id=&quot;20148&quot; value=&quot;5&quot;/&gt;&lt;property id=&quot;20300&quot; value=&quot;Slide 3 - &amp;quot;Global Control&amp;quot;&quot;/&gt;&lt;property id=&quot;20307&quot; value=&quot;375&quot;/&gt;&lt;property id=&quot;20309&quot; value=&quot;-1&quot;/&gt;&lt;/object&gt;&lt;object type=&quot;3&quot; unique_id=&quot;16305&quot;&gt;&lt;property id=&quot;20148&quot; value=&quot;5&quot;/&gt;&lt;property id=&quot;20300&quot; value=&quot;Slide 14 - &amp;quot;ALU Control&amp;quot;&quot;/&gt;&lt;property id=&quot;20307&quot; value=&quot;376&quot;/&gt;&lt;property id=&quot;20309&quot; value=&quot;-1&quot;/&gt;&lt;/object&gt;&lt;object type=&quot;3&quot; unique_id=&quot;16306&quot;&gt;&lt;property id=&quot;20148&quot; value=&quot;5&quot;/&gt;&lt;property id=&quot;20300&quot; value=&quot;Slide 15 - &amp;quot;ALU Control&amp;quot;&quot;/&gt;&lt;property id=&quot;20307&quot; value=&quot;377&quot;/&gt;&lt;property id=&quot;20309&quot; value=&quot;-1&quot;/&gt;&lt;/object&gt;&lt;object type=&quot;3&quot; unique_id=&quot;16309&quot;&gt;&lt;property id=&quot;20148&quot; value=&quot;5&quot;/&gt;&lt;property id=&quot;20300&quot; value=&quot;Slide 5 - &amp;quot;Global Control&amp;quot;&quot;/&gt;&lt;property id=&quot;20307&quot; value=&quot;380&quot;/&gt;&lt;property id=&quot;20309&quot; value=&quot;-1&quot;/&gt;&lt;/object&gt;&lt;object type=&quot;3&quot; unique_id=&quot;16315&quot;&gt;&lt;property id=&quot;20148&quot; value=&quot;5&quot;/&gt;&lt;property id=&quot;20300&quot; value=&quot;Slide 24 - &amp;quot;Global Control&amp;quot;&quot;/&gt;&lt;property id=&quot;20307&quot; value=&quot;386&quot;/&gt;&lt;property id=&quot;20309&quot; value=&quot;-1&quot;/&gt;&lt;/object&gt;&lt;object type=&quot;3&quot; unique_id=&quot;16316&quot;&gt;&lt;property id=&quot;20148&quot; value=&quot;5&quot;/&gt;&lt;property id=&quot;20300&quot; value=&quot;Slide 25 - &amp;quot;PLA&amp;quot;&quot;/&gt;&lt;property id=&quot;20307&quot; value=&quot;387&quot;/&gt;&lt;property id=&quot;20309&quot; value=&quot;-1&quot;/&gt;&lt;/object&gt;&lt;object type=&quot;3&quot; unique_id=&quot;16319&quot;&gt;&lt;property id=&quot;20148&quot; value=&quot;5&quot;/&gt;&lt;property id=&quot;20300&quot; value=&quot;Slide 28 - &amp;quot;Single-Cycle Processor&amp;quot;&quot;/&gt;&lt;property id=&quot;20307&quot; value=&quot;390&quot;/&gt;&lt;property id=&quot;20309&quot; value=&quot;-1&quot;/&gt;&lt;/object&gt;&lt;object type=&quot;3&quot; unique_id=&quot;16320&quot;&gt;&lt;property id=&quot;20148&quot; value=&quot;5&quot;/&gt;&lt;property id=&quot;20300&quot; value=&quot;Slide 29 - &amp;quot;Single-Cycle Processor&amp;quot;&quot;/&gt;&lt;property id=&quot;20307&quot; value=&quot;391&quot;/&gt;&lt;property id=&quot;20309&quot; value=&quot;-1&quot;/&gt;&lt;/object&gt;&lt;object type=&quot;3&quot; unique_id=&quot;16416&quot;&gt;&lt;property id=&quot;20148&quot; value=&quot;5&quot;/&gt;&lt;property id=&quot;20300&quot; value=&quot;Slide 18 - &amp;quot;Global Control&amp;quot;&quot;/&gt;&lt;property id=&quot;20307&quot; value=&quot;393&quot;/&gt;&lt;property id=&quot;20309&quot; value=&quot;-1&quot;/&gt;&lt;/object&gt;&lt;object type=&quot;3&quot; unique_id=&quot;16608&quot;&gt;&lt;property id=&quot;20148&quot; value=&quot;5&quot;/&gt;&lt;property id=&quot;20300&quot; value=&quot;Slide 4 - &amp;quot;Global Control&amp;quot;&quot;/&gt;&lt;property id=&quot;20307&quot; value=&quot;396&quot;/&gt;&lt;property id=&quot;20309&quot; value=&quot;-1&quot;/&gt;&lt;/object&gt;&lt;object type=&quot;3&quot; unique_id=&quot;17285&quot;&gt;&lt;property id=&quot;20148&quot; value=&quot;5&quot;/&gt;&lt;property id=&quot;20300&quot; value=&quot;Slide 6 - &amp;quot;Global Control&amp;quot;&quot;/&gt;&lt;property id=&quot;20307&quot; value=&quot;397&quot;/&gt;&lt;property id=&quot;20309&quot; value=&quot;-1&quot;/&gt;&lt;/object&gt;&lt;object type=&quot;3&quot; unique_id=&quot;17524&quot;&gt;&lt;property id=&quot;20148&quot; value=&quot;5&quot;/&gt;&lt;property id=&quot;20300&quot; value=&quot;Slide 8 - &amp;quot;Global Control&amp;quot;&quot;/&gt;&lt;property id=&quot;20307&quot; value=&quot;398&quot;/&gt;&lt;property id=&quot;20309&quot; value=&quot;-1&quot;/&gt;&lt;/object&gt;&lt;object type=&quot;3&quot; unique_id=&quot;17630&quot;&gt;&lt;property id=&quot;20148&quot; value=&quot;5&quot;/&gt;&lt;property id=&quot;20300&quot; value=&quot;Slide 9 - &amp;quot;Global Control&amp;quot;&quot;/&gt;&lt;property id=&quot;20307&quot; value=&quot;399&quot;/&gt;&lt;property id=&quot;20309&quot; value=&quot;-1&quot;/&gt;&lt;/object&gt;&lt;object type=&quot;3&quot; unique_id=&quot;17739&quot;&gt;&lt;property id=&quot;20148&quot; value=&quot;5&quot;/&gt;&lt;property id=&quot;20300&quot; value=&quot;Slide 10 - &amp;quot;Global Control&amp;quot;&quot;/&gt;&lt;property id=&quot;20307&quot; value=&quot;400&quot;/&gt;&lt;property id=&quot;20309&quot; value=&quot;-1&quot;/&gt;&lt;/object&gt;&lt;object type=&quot;3&quot; unique_id=&quot;17851&quot;&gt;&lt;property id=&quot;20148&quot; value=&quot;5&quot;/&gt;&lt;property id=&quot;20300&quot; value=&quot;Slide 7 - &amp;quot;Global Control&amp;quot;&quot;/&gt;&lt;property id=&quot;20307&quot; value=&quot;401&quot;/&gt;&lt;property id=&quot;20309&quot; value=&quot;-1&quot;/&gt;&lt;/object&gt;&lt;object type=&quot;3&quot; unique_id=&quot;17966&quot;&gt;&lt;property id=&quot;20148&quot; value=&quot;5&quot;/&gt;&lt;property id=&quot;20300&quot; value=&quot;Slide 11 - &amp;quot;Global Control&amp;quot;&quot;/&gt;&lt;property id=&quot;20307&quot; value=&quot;402&quot;/&gt;&lt;property id=&quot;20309&quot; value=&quot;-1&quot;/&gt;&lt;/object&gt;&lt;object type=&quot;3&quot; unique_id=&quot;18162&quot;&gt;&lt;property id=&quot;20148&quot; value=&quot;5&quot;/&gt;&lt;property id=&quot;20300&quot; value=&quot;Slide 12 - &amp;quot;Global Control&amp;quot;&quot;/&gt;&lt;property id=&quot;20307&quot; value=&quot;403&quot;/&gt;&lt;property id=&quot;20309&quot; value=&quot;-1&quot;/&gt;&lt;/object&gt;&lt;object type=&quot;3&quot; unique_id=&quot;18478&quot;&gt;&lt;property id=&quot;20148&quot; value=&quot;5&quot;/&gt;&lt;property id=&quot;20300&quot; value=&quot;Slide 13 - &amp;quot;Global Control&amp;quot;&quot;/&gt;&lt;property id=&quot;20307&quot; value=&quot;404&quot;/&gt;&lt;property id=&quot;20309&quot; value=&quot;-1&quot;/&gt;&lt;/object&gt;&lt;object type=&quot;3&quot; unique_id=&quot;18883&quot;&gt;&lt;property id=&quot;20148&quot; value=&quot;5&quot;/&gt;&lt;property id=&quot;20300&quot; value=&quot;Slide 17 - &amp;quot;ALU Control&amp;quot;&quot;/&gt;&lt;property id=&quot;20307&quot; value=&quot;405&quot;/&gt;&lt;property id=&quot;20309&quot; value=&quot;-1&quot;/&gt;&lt;/object&gt;&lt;object type=&quot;3&quot; unique_id=&quot;19171&quot;&gt;&lt;property id=&quot;20148&quot; value=&quot;5&quot;/&gt;&lt;property id=&quot;20300&quot; value=&quot;Slide 16 - &amp;quot;ALU Control&amp;quot;&quot;/&gt;&lt;property id=&quot;20307&quot; value=&quot;406&quot;/&gt;&lt;property id=&quot;20309&quot; value=&quot;-1&quot;/&gt;&lt;/object&gt;&lt;object type=&quot;3&quot; unique_id=&quot;19698&quot;&gt;&lt;property id=&quot;20148&quot; value=&quot;5&quot;/&gt;&lt;property id=&quot;20300&quot; value=&quot;Slide 19 - &amp;quot;Global Control&amp;quot;&quot;/&gt;&lt;property id=&quot;20307&quot; value=&quot;407&quot;/&gt;&lt;property id=&quot;20309&quot; value=&quot;-1&quot;/&gt;&lt;/object&gt;&lt;object type=&quot;3&quot; unique_id=&quot;20042&quot;&gt;&lt;property id=&quot;20148&quot; value=&quot;5&quot;/&gt;&lt;property id=&quot;20300&quot; value=&quot;Slide 20 - &amp;quot;Exercise&amp;quot;&quot;/&gt;&lt;property id=&quot;20307&quot; value=&quot;408&quot;/&gt;&lt;property id=&quot;20309&quot; value=&quot;-1&quot;/&gt;&lt;/object&gt;&lt;object type=&quot;3&quot; unique_id=&quot;20157&quot;&gt;&lt;property id=&quot;20148&quot; value=&quot;5&quot;/&gt;&lt;property id=&quot;20300&quot; value=&quot;Slide 21 - &amp;quot;Exercise&amp;quot;&quot;/&gt;&lt;property id=&quot;20307&quot; value=&quot;409&quot;/&gt;&lt;property id=&quot;20309&quot; value=&quot;-1&quot;/&gt;&lt;/object&gt;&lt;object type=&quot;3&quot; unique_id=&quot;20392&quot;&gt;&lt;property id=&quot;20148&quot; value=&quot;5&quot;/&gt;&lt;property id=&quot;20300&quot; value=&quot;Slide 22 - &amp;quot;Exercise&amp;quot;&quot;/&gt;&lt;property id=&quot;20307&quot; value=&quot;410&quot;/&gt;&lt;property id=&quot;20309&quot; value=&quot;-1&quot;/&gt;&lt;/object&gt;&lt;object type=&quot;3&quot; unique_id=&quot;20393&quot;&gt;&lt;property id=&quot;20148&quot; value=&quot;5&quot;/&gt;&lt;property id=&quot;20300&quot; value=&quot;Slide 23 - &amp;quot;Exercise&amp;quot;&quot;/&gt;&lt;property id=&quot;20307&quot; value=&quot;411&quot;/&gt;&lt;property id=&quot;20309&quot; value=&quot;-1&quot;/&gt;&lt;/object&gt;&lt;object type=&quot;3&quot; unique_id=&quot;21079&quot;&gt;&lt;property id=&quot;20148&quot; value=&quot;5&quot;/&gt;&lt;property id=&quot;20300&quot; value=&quot;Slide 26 - &amp;quot;Global Control&amp;quot;&quot;/&gt;&lt;property id=&quot;20307&quot; value=&quot;412&quot;/&gt;&lt;property id=&quot;20309&quot; value=&quot;-1&quot;/&gt;&lt;/object&gt;&lt;object type=&quot;3&quot; unique_id=&quot;21203&quot;&gt;&lt;property id=&quot;20148&quot; value=&quot;5&quot;/&gt;&lt;property id=&quot;20300&quot; value=&quot;Slide 27 - &amp;quot;Global Control&amp;quot;&quot;/&gt;&lt;property id=&quot;20307&quot; value=&quot;413&quot;/&gt;&lt;property id=&quot;20309&quot; value=&quot;-1&quot;/&gt;&lt;/object&gt;&lt;object type=&quot;3&quot; unique_id=&quot;22332&quot;&gt;&lt;property id=&quot;20148&quot; value=&quot;5&quot;/&gt;&lt;property id=&quot;20300&quot; value=&quot;Slide 30 - &amp;quot;Single-Cycle Processor&amp;quot;&quot;/&gt;&lt;property id=&quot;20307&quot; value=&quot;415&quot;/&gt;&lt;property id=&quot;20309&quot; value=&quot;-1&quot;/&gt;&lt;/object&gt;&lt;/object&gt;&lt;object type=&quot;10&quot; unique_id=&quot;16035&quot;&gt;&lt;object type=&quot;11&quot; unique_id=&quot;16036&quot;&gt;&lt;property id=&quot;20180&quot; value=&quot;0&quot;/&gt;&lt;property id=&quot;20181&quot; value=&quot;1&quot;/&gt;&lt;property id=&quot;20183&quot; value=&quot;1&quot;/&gt;&lt;/object&gt;&lt;object type=&quot;12&quot; unique_id=&quot;16070&quot;&gt;&lt;/object&gt;&lt;/object&gt;&lt;object type=&quot;4&quot; unique_id=&quot;16037&quot;&gt;&lt;/object&gt;&lt;/object&gt;&lt;/database&gt;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899215788,C:\Users\sanmi\GoogleDrive\UWMdrive\Courses\ECE552\ece552-lec07_SingleCycleControlPath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AE13B30-8997-4029-88E6-393004900EDB}_1.png&quot;/&gt;&lt;left val=&quot;-2&quot;/&gt;&lt;top val=&quot;185&quot;/&gt;&lt;width val=&quot;724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7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11CCFD8-0518-46B9-B58D-B889C0B8F96F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1899215788,C:\Users\sanmi\GoogleDrive\UWMdrive\Courses\ECE552\ece552-lec07_SingleCycleControlPath_pptx\Media.ppcx"/>
  <p:tag name="TIMING" val="|14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6BDD502F-0C15-42DC-B543-D40EF762A9AB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SingleCycleControlPath\data\asimages\{0C44AEF4-FC17-476F-9445-8D1490D471A8}_1.png_crop.png&quot;/&gt;&lt;left val=&quot;44&quot;/&gt;&lt;top val=&quot;130&quot;/&gt;&lt;width val=&quot;142&quot;/&gt;&lt;height val=&quot;24&quot;/&gt;&lt;hasText val=&quot;1&quot;/&gt;&lt;paraId val=&quot;1&quot;/&gt;&lt;/Image&gt;&lt;Image&gt;&lt;filename val=&quot;C:\Users\sanmi\Documents\My Adobe Presentations\ece552f2019-SingleCycleControlPath\data\asimages\{A1FCC007-6121-403A-B152-861B4FEE43D9}_1.png_crop.png&quot;/&gt;&lt;left val=&quot;78&quot;/&gt;&lt;top val=&quot;164&quot;/&gt;&lt;width val=&quot;525&quot;/&gt;&lt;height val=&quot;20&quot;/&gt;&lt;hasText val=&quot;1&quot;/&gt;&lt;paraId val=&quot;2&quot;/&gt;&lt;/Image&gt;&lt;Image&gt;&lt;filename val=&quot;C:\Users\sanmi\Documents\My Adobe Presentations\ece552f2019-SingleCycleControlPath\data\asimages\{1272AE3B-63A1-49A3-8DCA-D2C5070D62A6}_1.png_crop.png&quot;/&gt;&lt;left val=&quot;683&quot;/&gt;&lt;top val=&quot;482&quot;/&gt;&lt;width val=&quot;0&quot;/&gt;&lt;height val=&quot;0&quot;/&gt;&lt;hasText val=&quot;1&quot;/&gt;&lt;paraId val=&quot;3&quot;/&gt;&lt;/Image&gt;&lt;Image&gt;&lt;filename val=&quot;C:\Users\sanmi\Documents\My Adobe Presentations\ece552f2019-SingleCycleControlPath\data\asimages\{9F54C4CF-1787-4D3C-9860-91665F0E0C87}_1.png_crop.png&quot;/&gt;&lt;left val=&quot;44&quot;/&gt;&lt;top val=&quot;221&quot;/&gt;&lt;width val=&quot;173&quot;/&gt;&lt;height val=&quot;24&quot;/&gt;&lt;hasText val=&quot;1&quot;/&gt;&lt;paraId val=&quot;4&quot;/&gt;&lt;/Image&gt;&lt;Image&gt;&lt;filename val=&quot;C:\Users\sanmi\Documents\My Adobe Presentations\ece552f2019-SingleCycleControlPath\data\asimages\{D35AFC83-80FF-4921-9E40-9FA786E18660}_1.png_crop.png&quot;/&gt;&lt;left val=&quot;78&quot;/&gt;&lt;top val=&quot;256&quot;/&gt;&lt;width val=&quot;254&quot;/&gt;&lt;height val=&quot;20&quot;/&gt;&lt;hasText val=&quot;1&quot;/&gt;&lt;paraId val=&quot;5&quot;/&gt;&lt;/Image&gt;&lt;Image&gt;&lt;filename val=&quot;C:\Users\sanmi\Documents\My Adobe Presentations\ece552f2019-SingleCycleControlPath\data\asimages\{C7F48D8D-C6BC-4957-A368-DF633EEEF8C5}_1.png_crop.png&quot;/&gt;&lt;left val=&quot;78&quot;/&gt;&lt;top val=&quot;288&quot;/&gt;&lt;width val=&quot;321&quot;/&gt;&lt;height val=&quot;20&quot;/&gt;&lt;hasText val=&quot;1&quot;/&gt;&lt;paraId val=&quot;6&quot;/&gt;&lt;/Image&gt;&lt;Image&gt;&lt;filename val=&quot;C:\Users\sanmi\Documents\My Adobe Presentations\ece552f2019-SingleCycleControlPath\data\asimages\{DADD3167-573A-47EA-B9AD-772D7C09BB37}_1.png_crop.png&quot;/&gt;&lt;left val=&quot;115&quot;/&gt;&lt;top val=&quot;318&quot;/&gt;&lt;width val=&quot;301&quot;/&gt;&lt;height val=&quot;17&quot;/&gt;&lt;hasText val=&quot;1&quot;/&gt;&lt;paraId val=&quot;7&quot;/&gt;&lt;/Image&gt;&lt;Image&gt;&lt;filename val=&quot;C:\Users\sanmi\Documents\My Adobe Presentations\ece552f2019-SingleCycleControlPath\data\asimages\{EBBFBB6B-B5C7-45BB-977E-7E94AFCC5C09}_1.png_crop.png&quot;/&gt;&lt;left val=&quot;78&quot;/&gt;&lt;top val=&quot;346&quot;/&gt;&lt;width val=&quot;321&quot;/&gt;&lt;height val=&quot;20&quot;/&gt;&lt;hasText val=&quot;1&quot;/&gt;&lt;paraId val=&quot;8&quot;/&gt;&lt;/Image&gt;&lt;Image&gt;&lt;filename val=&quot;C:\Users\sanmi\Documents\My Adobe Presentations\ece552f2019-SingleCycleControlPath\data\asimages\{F0F08187-0878-42EE-A4DC-102403CBF52F}_1.png_crop.png&quot;/&gt;&lt;left val=&quot;115&quot;/&gt;&lt;top val=&quot;376&quot;/&gt;&lt;width val=&quot;202&quot;/&gt;&lt;height val=&quot;17&quot;/&gt;&lt;hasText val=&quot;1&quot;/&gt;&lt;paraId val=&quot;9&quot;/&gt;&lt;/Image&gt;&lt;Image&gt;&lt;filename val=&quot;C:\Users\sanmi\Documents\My Adobe Presentations\ece552f2019-SingleCycleControlPath\data\asimages\{69CB96AD-8C65-4858-B69D-E7451BC925C5}_1.png_crop.png&quot;/&gt;&lt;left val=&quot;115&quot;/&gt;&lt;top val=&quot;402&quot;/&gt;&lt;width val=&quot;368&quot;/&gt;&lt;height val=&quot;18&quot;/&gt;&lt;hasText val=&quot;1&quot;/&gt;&lt;paraId val=&quot;10&quot;/&gt;&lt;/Image&gt;&lt;Image&gt;&lt;filename val=&quot;C:\Users\sanmi\Documents\My Adobe Presentations\ece552f2019-SingleCycleControlPath\data\asimages\{1BFD63C0-C619-4F9C-A5C6-738C2986BB43}_1.png_crop.png&quot;/&gt;&lt;left val=&quot;115&quot;/&gt;&lt;top val=&quot;430&quot;/&gt;&lt;width val=&quot;132&quot;/&gt;&lt;height val=&quot;16&quot;/&gt;&lt;hasText val=&quot;1&quot;/&gt;&lt;paraId val=&quot;11&quot;/&gt;&lt;/Image&gt;&lt;/TextEffect&gt;"/>
  <p:tag name="PRESENTER_SHAPETEXTINFO" val="&lt;ShapeTextInfo&gt;&lt;TableIndex row=&quot;-1&quot; col=&quot;-1&quot;&gt;&lt;linesCount val=&quot;11&quot;/&gt;&lt;lineCharCount val=&quot;11&quot;/&gt;&lt;lineCharCount val=&quot;52&quot;/&gt;&lt;lineCharCount val=&quot;1&quot;/&gt;&lt;lineCharCount val=&quot;14&quot;/&gt;&lt;lineCharCount val=&quot;25&quot;/&gt;&lt;lineCharCount val=&quot;35&quot;/&gt;&lt;lineCharCount val=&quot;35&quot;/&gt;&lt;lineCharCount val=&quot;33&quot;/&gt;&lt;lineCharCount val=&quot;24&quot;/&gt;&lt;lineCharCount val=&quot;42&quot;/&gt;&lt;lineCharCount val=&quot;14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1503C23-6AA0-4BF9-9F1A-84C6C820151B}_2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1899215788,C:\Users\sanmi\GoogleDrive\UWMdrive\Courses\ECE552\ece552-lec07_SingleCycleControlPath_pptx\Media.ppcx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59822D3-7555-42F0-AE50-AFE717C62C45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9D800152-A609-45A6-9392-C40C6F1D6E66}_3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3&quot;/&gt;&lt;lineCharCount val=&quot;24&quot;/&gt;&lt;lineCharCount val=&quot;42&quot;/&gt;&lt;lineCharCount val=&quot;33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57C291D-355E-484B-A7B5-168C6EC97CC0}_3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1899215788,C:\Users\sanmi\GoogleDrive\UWMdrive\Courses\ECE552\ece552-lec07_SingleCycleControlPath_pptx\Media.ppcx"/>
  <p:tag name="TIMING" val="|16.3|47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7DED66AC-A130-4C96-B466-DC6C1F9BCBEE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3771F0D-3589-48D1-8B7A-2ACAAA94393A}_4.png&quot;/&gt;&lt;left val=&quot;29&quot;/&gt;&lt;top val=&quot;122&quot;/&gt;&lt;width val=&quot;655&quot;/&gt;&lt;height val=&quot;360&quot;/&gt;&lt;hasText val=&quot;1&quot;/&gt;&lt;/Image&gt;&lt;/ThreeDShapeInfo&gt;"/>
  <p:tag name="PRESENTER_SHAPETEXTINFO" val="&lt;ShapeTextInfo&gt;&lt;TableIndex row=&quot;-1&quot; col=&quot;-1&quot;&gt;&lt;linesCount val=&quot;6&quot;/&gt;&lt;lineCharCount val=&quot;41&quot;/&gt;&lt;lineCharCount val=&quot;14&quot;/&gt;&lt;lineCharCount val=&quot;41&quot;/&gt;&lt;lineCharCount val=&quot;11&quot;/&gt;&lt;lineCharCount val=&quot;25&quot;/&gt;&lt;lineCharCount val=&quot;7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3892FC2-AE8B-4CC1-A83B-0D3C08E6E7E3}_4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SingleCycleControlPath\data\asimages\{DAEE614F-4112-4383-935C-CA6941792945}_1.png_crop.png&quot;/&gt;&lt;left val=&quot;44&quot;/&gt;&lt;top val=&quot;316&quot;/&gt;&lt;width val=&quot;267&quot;/&gt;&lt;height val=&quot;24&quot;/&gt;&lt;hasText val=&quot;1&quot;/&gt;&lt;paraId val=&quot;1&quot;/&gt;&lt;/Image&gt;&lt;Image&gt;&lt;filename val=&quot;C:\Users\sanmi\Documents\My Adobe Presentations\ece552f2019-SingleCycleControlPath\data\asimages\{0630AB33-73AA-4947-AC42-B48F3D13A4EB}_1.png_crop.png&quot;/&gt;&lt;left val=&quot;78&quot;/&gt;&lt;top val=&quot;354&quot;/&gt;&lt;width val=&quot;320&quot;/&gt;&lt;height val=&quot;20&quot;/&gt;&lt;hasText val=&quot;1&quot;/&gt;&lt;paraId val=&quot;2&quot;/&gt;&lt;/Image&gt;&lt;Image&gt;&lt;filename val=&quot;C:\Users\sanmi\Documents\My Adobe Presentations\ece552f2019-SingleCycleControlPath\data\asimages\{14246337-BB04-4AA6-89EA-7FB50EA74840}_1.png_crop.png&quot;/&gt;&lt;left val=&quot;78&quot;/&gt;&lt;top val=&quot;389&quot;/&gt;&lt;width val=&quot;320&quot;/&gt;&lt;height val=&quot;20&quot;/&gt;&lt;hasText val=&quot;1&quot;/&gt;&lt;paraId val=&quot;3&quot;/&gt;&lt;/Image&gt;&lt;Image&gt;&lt;filename val=&quot;C:\Users\sanmi\Documents\My Adobe Presentations\ece552f2019-SingleCycleControlPath\data\asimages\{7E0A3199-7002-4E0F-8AE8-0985CF33CFE0}_1.png_crop.png&quot;/&gt;&lt;left val=&quot;78&quot;/&gt;&lt;top val=&quot;423&quot;/&gt;&lt;width val=&quot;602&quot;/&gt;&lt;height val=&quot;20&quot;/&gt;&lt;hasText val=&quot;1&quot;/&gt;&lt;paraId val=&quot;4&quot;/&gt;&lt;/Image&gt;&lt;Image&gt;&lt;filename val=&quot;C:\Users\sanmi\Documents\My Adobe Presentations\ece552f2019-SingleCycleControlPath\data\asimages\{270D0FCA-7810-4D43-8163-7D3AE570EDDA}_1.png_crop.png&quot;/&gt;&lt;left val=&quot;44&quot;/&gt;&lt;top val=&quot;457&quot;/&gt;&lt;width val=&quot;582&quot;/&gt;&lt;height val=&quot;21&quot;/&gt;&lt;hasText val=&quot;1&quot;/&gt;&lt;paraId val=&quot;5&quot;/&gt;&lt;/Image&gt;&lt;Image&gt;&lt;filename val=&quot;C:\Users\sanmi\Documents\My Adobe Presentations\ece552f2019-SingleCycleControlPath\data\asimages\{381547D2-7146-49D7-A713-DE7CDAA2A8EB}_1.png_crop.png&quot;/&gt;&lt;left val=&quot;44&quot;/&gt;&lt;top val=&quot;492&quot;/&gt;&lt;width val=&quot;507&quot;/&gt;&lt;height val=&quot;21&quot;/&gt;&lt;hasText val=&quot;1&quot;/&gt;&lt;paraId val=&quot;6&quot;/&gt;&lt;/Image&gt;&lt;/TextEffect&gt;"/>
  <p:tag name="PRESENTER_SHAPETEXTINFO" val="&lt;ShapeTextInfo&gt;&lt;TableIndex row=&quot;-1&quot; col=&quot;-1&quot;&gt;&lt;linesCount val=&quot;6&quot;/&gt;&lt;lineCharCount val=&quot;25&quot;/&gt;&lt;lineCharCount val=&quot;32&quot;/&gt;&lt;lineCharCount val=&quot;32&quot;/&gt;&lt;lineCharCount val=&quot;63&quot;/&gt;&lt;lineCharCount val=&quot;59&quot;/&gt;&lt;lineCharCount val=&quot;5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1899215788,C:\Users\sanmi\GoogleDrive\UWMdrive\Courses\ECE552\ece552-lec07_SingleCycleControlPath_pptx\Media.ppcx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A7D4573D-AD44-4223-8D0E-1BFC359AA253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AD350BBC-5256-47DF-8314-D735E48F0A2A}_5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613AAED-DF49-45DD-88B2-4D27719D0A8E}&quot;/&gt;&lt;isInvalidForFieldText val=&quot;0&quot;/&gt;&lt;Image&gt;&lt;filename val=&quot;C:\Users\sanmi\Documents\My Adobe Presentations\ece552f2019-SingleCycleControlPath\data\asimages\{3613AAED-DF49-45DD-88B2-4D27719D0A8E}.png&quot;/&gt;&lt;left val=&quot;58&quot;/&gt;&lt;top val=&quot;119&quot;/&gt;&lt;width val=&quot;603&quot;/&gt;&lt;height val=&quot;373&quot;/&gt;&lt;hasText val=&quot;1&quot;/&gt;&lt;/Image&gt;&lt;/ThreeDShape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899215788,C:\Users\sanmi\GoogleDrive\UWMdrive\Courses\ECE552\ece552-lec07_SingleCycleControlPath_pptx\Media.ppcx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94D11831-0AF0-4900-B7B2-BA47F31DA00C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EAA20AA2-3028-4A5D-9D46-B147BBC6452B}_6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66B68C-84F5-43A2-A1F0-7043B853439C}&quot;/&gt;&lt;isInvalidForFieldText val=&quot;0&quot;/&gt;&lt;Image&gt;&lt;filename val=&quot;C:\Users\sanmi\Documents\My Adobe Presentations\ece552f2019-SingleCycleControlPath\data\asimages\{B266B68C-84F5-43A2-A1F0-7043B853439C}.png&quot;/&gt;&lt;left val=&quot;58&quot;/&gt;&lt;top val=&quot;119&quot;/&gt;&lt;width val=&quot;603&quot;/&gt;&lt;height val=&quot;373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7C4F632-BD94-4ECF-B53C-AC67C3D409FB}_6.png&quot;/&gt;&lt;left val=&quot;54&quot;/&gt;&lt;top val=&quot;421&quot;/&gt;&lt;width val=&quot;202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8&quot;/&gt;&lt;lineCharCount val=&quot;15&quot;/&gt;&lt;lineCharCount val=&quot;7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1899215788,C:\Users\sanmi\GoogleDrive\UWMdrive\Courses\ECE552\ece552-lec07_SingleCycleControlPath_pptx\Media.ppcx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B4F9CE6-AE16-4CBA-A1C9-45530ADF392E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F2726BA3-506F-4BDA-934C-CDE2345EE74C}_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4211530-CD1B-404E-8C0B-BBBC43BFFADC}&quot;/&gt;&lt;isInvalidForFieldText val=&quot;0&quot;/&gt;&lt;Image&gt;&lt;filename val=&quot;C:\Users\sanmi\Documents\My Adobe Presentations\ece552f2019-SingleCycleControlPath\data\asimages\{64211530-CD1B-404E-8C0B-BBBC43BFFADC}.png&quot;/&gt;&lt;left val=&quot;58&quot;/&gt;&lt;top val=&quot;119&quot;/&gt;&lt;width val=&quot;603&quot;/&gt;&lt;height val=&quot;373&quot;/&gt;&lt;hasText val=&quot;1&quot;/&gt;&lt;/Image&gt;&lt;/ThreeDShape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FC1A92C1-4099-4640-B8D7-56E902EAEE00}_7.png&quot;/&gt;&lt;left val=&quot;54&quot;/&gt;&lt;top val=&quot;421&quot;/&gt;&lt;width val=&quot;234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10&quot;/&gt;&lt;lineCharCount val=&quot;22&quot;/&gt;&lt;lineCharCount val=&quot;7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1899215788,C:\Users\sanmi\GoogleDrive\UWMdrive\Courses\ECE552\ece552-lec07_SingleCycleControlPath_pptx\Media.ppcx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37BEBA3-7D83-4E4E-B46B-7B47BDE5583A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6DDC0437-BB5D-4866-8F7C-368CA77DAE22}_8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71AD117-9A24-4283-A231-AEAF6B7C18A5}&quot;/&gt;&lt;isInvalidForFieldText val=&quot;0&quot;/&gt;&lt;Image&gt;&lt;filename val=&quot;C:\Users\sanmi\Documents\My Adobe Presentations\ece552f2019-SingleCycleControlPath\data\asimages\{D71AD117-9A24-4283-A231-AEAF6B7C18A5}.png&quot;/&gt;&lt;left val=&quot;58&quot;/&gt;&lt;top val=&quot;119&quot;/&gt;&lt;width val=&quot;603&quot;/&gt;&lt;height val=&quot;373&quot;/&gt;&lt;hasText val=&quot;1&quot;/&gt;&lt;/Image&gt;&lt;/ThreeDShape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FFF5239-C199-43BB-97DB-F1055B577F8A}_8.png&quot;/&gt;&lt;left val=&quot;54&quot;/&gt;&lt;top val=&quot;421&quot;/&gt;&lt;width val=&quot;202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9&quot;/&gt;&lt;lineCharCount val=&quot;11&quot;/&gt;&lt;lineCharCount val=&quot;7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1899215788,C:\Users\sanmi\GoogleDrive\UWMdrive\Courses\ECE552\ece552-lec07_SingleCycleControlPath_pptx\Media.ppcx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E4A2DC20-5AEA-49DB-83F0-DC37B3B347D6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845C083C-5D2C-4931-BD11-4917DDD67DF4}_9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3BE7CCC-4589-4796-8029-2798F69B036F}&quot;/&gt;&lt;isInvalidForFieldText val=&quot;0&quot;/&gt;&lt;Image&gt;&lt;filename val=&quot;C:\Users\sanmi\Documents\My Adobe Presentations\ece552f2019-SingleCycleControlPath\data\asimages\{F3BE7CCC-4589-4796-8029-2798F69B036F}.png&quot;/&gt;&lt;left val=&quot;58&quot;/&gt;&lt;top val=&quot;119&quot;/&gt;&lt;width val=&quot;603&quot;/&gt;&lt;height val=&quot;373&quot;/&gt;&lt;hasText val=&quot;1&quot;/&gt;&lt;/Image&gt;&lt;/ThreeDShape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AAEC33E-F2B7-473D-B7A6-6361A3D6F7C6}_9.png&quot;/&gt;&lt;left val=&quot;54&quot;/&gt;&lt;top val=&quot;421&quot;/&gt;&lt;width val=&quot;202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10&quot;/&gt;&lt;lineCharCount val=&quot;12&quot;/&gt;&lt;lineCharCount val=&quot;7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1899215788,C:\Users\sanmi\GoogleDrive\UWMdrive\Courses\ECE552\ece552-lec07_SingleCycleControlPath_pptx\Media.ppcx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8E381E66-E91F-4241-8517-2AE45109B8F2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44252DF-8780-410C-B48E-2704E2F32FA8}_10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F14EAFF-A5C5-40A6-ADF8-C081F529A5B6}&quot;/&gt;&lt;isInvalidForFieldText val=&quot;0&quot;/&gt;&lt;Image&gt;&lt;filename val=&quot;C:\Users\sanmi\Documents\My Adobe Presentations\ece552f2019-SingleCycleControlPath\data\asimages\{CF14EAFF-A5C5-40A6-ADF8-C081F529A5B6}.png&quot;/&gt;&lt;left val=&quot;58&quot;/&gt;&lt;top val=&quot;119&quot;/&gt;&lt;width val=&quot;603&quot;/&gt;&lt;height val=&quot;373&quot;/&gt;&lt;hasText val=&quot;1&quot;/&gt;&lt;/Image&gt;&lt;/ThreeDShape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FAF75102-CC25-4B3C-A774-6C1F85A685F3}_10.png&quot;/&gt;&lt;left val=&quot;54&quot;/&gt;&lt;top val=&quot;421&quot;/&gt;&lt;width val=&quot;202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10&quot;/&gt;&lt;lineCharCount val=&quot;11&quot;/&gt;&lt;lineCharCount val=&quot;7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1899215788,C:\Users\sanmi\GoogleDrive\UWMdrive\Courses\ECE552\ece552-lec07_SingleCycleControlPath_pptx\Media.ppcx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EAE21D9A-45D2-40C1-A74B-B104385F8C51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78B16D0-54DB-435E-8F08-EA6E314C8855}_11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B566946-4A99-4A8B-B343-FA758169A267}&quot;/&gt;&lt;isInvalidForFieldText val=&quot;0&quot;/&gt;&lt;Image&gt;&lt;filename val=&quot;C:\Users\sanmi\Documents\My Adobe Presentations\ece552f2019-SingleCycleControlPath\data\asimages\{BB566946-4A99-4A8B-B343-FA758169A267}.png&quot;/&gt;&lt;left val=&quot;58&quot;/&gt;&lt;top val=&quot;119&quot;/&gt;&lt;width val=&quot;603&quot;/&gt;&lt;height val=&quot;373&quot;/&gt;&lt;hasText val=&quot;1&quot;/&gt;&lt;/Image&gt;&lt;/ThreeDShape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49B276EA-C620-4112-9C5E-C356E6211D99}_11.png&quot;/&gt;&lt;left val=&quot;54&quot;/&gt;&lt;top val=&quot;421&quot;/&gt;&lt;width val=&quot;234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7&quot;/&gt;&lt;lineCharCount val=&quot;19&quot;/&gt;&lt;lineCharCount val=&quot;7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2,1899215788,C:\Users\sanmi\GoogleDrive\UWMdrive\Courses\ECE552\ece552-lec07_SingleCycleControlPath_pptx\Media.ppcx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F5BFC4C4-B18B-4A2C-A124-826F67A56DA3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FDB29547-DF1F-4EAA-BE70-61D3F0BEEE8D}_12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22CCCD8-3582-44E8-9E2A-2531FC006FD9}&quot;/&gt;&lt;isInvalidForFieldText val=&quot;0&quot;/&gt;&lt;Image&gt;&lt;filename val=&quot;C:\Users\sanmi\Documents\My Adobe Presentations\ece552f2019-SingleCycleControlPath\data\asimages\{022CCCD8-3582-44E8-9E2A-2531FC006FD9}.png&quot;/&gt;&lt;left val=&quot;58&quot;/&gt;&lt;top val=&quot;119&quot;/&gt;&lt;width val=&quot;603&quot;/&gt;&lt;height val=&quot;373&quot;/&gt;&lt;hasText val=&quot;1&quot;/&gt;&lt;/Image&gt;&lt;/ThreeDShape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5B1843B-ECD0-49EA-B2AF-E125BD45C9A7}_12.png&quot;/&gt;&lt;left val=&quot;54&quot;/&gt;&lt;top val=&quot;421&quot;/&gt;&lt;width val=&quot;234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8&quot;/&gt;&lt;lineCharCount val=&quot;25&quot;/&gt;&lt;lineCharCount val=&quot;7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3,1899215788,C:\Users\sanmi\GoogleDrive\UWMdrive\Courses\ECE552\ece552-lec07_SingleCycleControlPath_pptx\Media.ppcx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45B5C221-006F-49F3-853A-AA9A761CA327}_1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AE389F8-F188-4888-88BA-D7E7B7FC2658}_13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0C0BD4F-B538-4EEA-BF53-F6984E9D9D71}&quot;/&gt;&lt;isInvalidForFieldText val=&quot;0&quot;/&gt;&lt;Image&gt;&lt;filename val=&quot;C:\Users\sanmi\Documents\My Adobe Presentations\ece552f2019-SingleCycleControlPath\data\asimages\{20C0BD4F-B538-4EEA-BF53-F6984E9D9D71}.png&quot;/&gt;&lt;left val=&quot;58&quot;/&gt;&lt;top val=&quot;119&quot;/&gt;&lt;width val=&quot;603&quot;/&gt;&lt;height val=&quot;373&quot;/&gt;&lt;hasText val=&quot;1&quot;/&gt;&lt;/Image&gt;&lt;/ThreeDShape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FDB3469-4CB0-4532-BD85-71FBFC960159}_13.png&quot;/&gt;&lt;left val=&quot;54&quot;/&gt;&lt;top val=&quot;421&quot;/&gt;&lt;width val=&quot;234&quot;/&gt;&lt;height val=&quot;60&quot;/&gt;&lt;hasText val=&quot;1&quot;/&gt;&lt;/Image&gt;&lt;/ThreeDShapeInfo&gt;"/>
  <p:tag name="PRESENTER_SHAPETEXTINFO" val="&lt;ShapeTextInfo&gt;&lt;TableIndex row=&quot;-1&quot; col=&quot;-1&quot;&gt;&lt;linesCount val=&quot;2&quot;/&gt;&lt;lineCharCount val=&quot;13&quot;/&gt;&lt;lineCharCount val=&quot;19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4,1899215788,C:\Users\sanmi\GoogleDrive\UWMdrive\Courses\ECE552\ece552-lec07_SingleCycleControlPath_pptx\Media.ppcx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B6D75AA-1F61-4809-A4DE-01EA6BE6CC0B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1B0C1EB-E464-4CA5-9893-78A4504844FB}_14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1&quot;/&gt;&lt;lineCharCount val=&quot;25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412B4EF4-DDE5-4F17-BA48-13BCC18E6B1D}_14.png&quot;/&gt;&lt;left val=&quot;169&quot;/&gt;&lt;top val=&quot;201&quot;/&gt;&lt;width val=&quot;330&quot;/&gt;&lt;height val=&quot;253&quot;/&gt;&lt;hasText val=&quot;1&quot;/&gt;&lt;/Image&gt;&lt;/ThreeDShapeInfo&gt;"/>
  <p:tag name="PRESENTER_SHAPETEXTINFO" val="&lt;ShapeTextInfo&gt;&lt;TableIndex row=&quot;1&quot; col=&quot;1&quot;&gt;&lt;linesCount val=&quot;1&quot;/&gt;&lt;lineCharCount val=&quot;4&quot;/&gt;&lt;/TableIndex&gt;&lt;TableIndex row=&quot;1&quot; col=&quot;2&quot;&gt;&lt;linesCount val=&quot;1&quot;/&gt;&lt;lineCharCount val=&quot;3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1&quot;/&gt;&lt;lineCharCount val=&quot;3&quot;/&gt;&lt;/TableIndex&gt;&lt;TableIndex row=&quot;4&quot; col=&quot;1&quot;&gt;&lt;linesCount val=&quot;1&quot;/&gt;&lt;lineCharCount val=&quot;4&quot;/&gt;&lt;/TableIndex&gt;&lt;TableIndex row=&quot;4&quot; col=&quot;2&quot;&gt;&lt;linesCount val=&quot;1&quot;/&gt;&lt;lineCharCount val=&quot;3&quot;/&gt;&lt;/TableIndex&gt;&lt;TableIndex row=&quot;5&quot; col=&quot;1&quot;&gt;&lt;linesCount val=&quot;1&quot;/&gt;&lt;lineCharCount val=&quot;4&quot;/&gt;&lt;/TableIndex&gt;&lt;TableIndex row=&quot;5&quot; col=&quot;2&quot;&gt;&lt;linesCount val=&quot;1&quot;/&gt;&lt;lineCharCount val=&quot;19&quot;/&gt;&lt;/TableIndex&gt;&lt;TableIndex row=&quot;6&quot; col=&quot;1&quot;&gt;&lt;linesCount val=&quot;1&quot;/&gt;&lt;lineCharCount val=&quot;1&quot;/&gt;&lt;/TableIndex&gt;&lt;TableIndex row=&quot;6&quot; col=&quot;2&quot;&gt;&lt;linesCount val=&quot;1&quot;/&gt;&lt;lineCharCount val=&quot;14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A6FD624E-D44F-405E-B4F7-70201474F83D}_14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1899215788,C:\Users\sanmi\GoogleDrive\UWMdrive\Courses\ECE552\ece552-lec07_SingleCycleControlPath_pptx\Media.ppcx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8CF0D879-BD82-4C62-9D87-194CFA935755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71E77BF2-B1D7-4889-B40A-3A7D1F9EE585}_15.png&quot;/&gt;&lt;left val=&quot;42&quot;/&gt;&lt;top val=&quot;107&quot;/&gt;&lt;width val=&quot;623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39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888E68F8-6974-4663-B178-A0A3101926E9}_15.png&quot;/&gt;&lt;left val=&quot;76&quot;/&gt;&lt;top val=&quot;179&quot;/&gt;&lt;width val=&quot;598&quot;/&gt;&lt;height val=&quot;227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6&quot;/&gt;&lt;/TableIndex&gt;&lt;TableIndex row=&quot;1&quot; col=&quot;4&quot;&gt;&lt;linesCount val=&quot;1&quot;/&gt;&lt;lineCharCount val=&quot;8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6&quot;/&gt;&lt;/TableIndex&gt;&lt;TableIndex row=&quot;2&quot; col=&quot;4&quot;&gt;&lt;linesCount val=&quot;1&quot;/&gt;&lt;lineCharCount val=&quot;6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6&quot;/&gt;&lt;/TableIndex&gt;&lt;TableIndex row=&quot;3&quot; col=&quot;4&quot;&gt;&lt;linesCount val=&quot;1&quot;/&gt;&lt;lineCharCount val=&quot;6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6&quot;/&gt;&lt;/TableIndex&gt;&lt;TableIndex row=&quot;4&quot; col=&quot;4&quot;&gt;&lt;linesCount val=&quot;1&quot;/&gt;&lt;lineCharCount val=&quot;6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2&quot;/&gt;&lt;/TableIndex&gt;&lt;TableIndex row=&quot;5&quot; col=&quot;3&quot;&gt;&lt;linesCount val=&quot;1&quot;/&gt;&lt;lineCharCount val=&quot;6&quot;/&gt;&lt;/TableIndex&gt;&lt;TableIndex row=&quot;5&quot; col=&quot;4&quot;&gt;&lt;linesCount val=&quot;1&quot;/&gt;&lt;lineCharCount val=&quot;6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3&quot;/&gt;&lt;/TableIndex&gt;&lt;TableIndex row=&quot;6&quot; col=&quot;3&quot;&gt;&lt;linesCount val=&quot;1&quot;/&gt;&lt;lineCharCount val=&quot;6&quot;/&gt;&lt;/TableIndex&gt;&lt;TableIndex row=&quot;6&quot; col=&quot;4&quot;&gt;&lt;linesCount val=&quot;1&quot;/&gt;&lt;lineCharCount val=&quot;6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A759DBEF-8F4D-4184-B000-8CDD7A0CC9D9}_15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6,1899215788,C:\Users\sanmi\GoogleDrive\UWMdrive\Courses\ECE552\ece552-lec07_SingleCycleControlPath_pptx\Media.ppcx"/>
  <p:tag name="TIMING" val="|31.6|8.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80A8080-2E0D-42CC-B89C-EA711F660F74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9F845D3-8CCF-46CF-9754-682A36FE4B06}_16.png&quot;/&gt;&lt;left val=&quot;42&quot;/&gt;&lt;top val=&quot;107&quot;/&gt;&lt;width val=&quot;623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39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CC352EB-A76C-4DCA-B52E-3770F34B9037}_16.png&quot;/&gt;&lt;left val=&quot;76&quot;/&gt;&lt;top val=&quot;179&quot;/&gt;&lt;width val=&quot;598&quot;/&gt;&lt;height val=&quot;328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6&quot;/&gt;&lt;/TableIndex&gt;&lt;TableIndex row=&quot;1&quot; col=&quot;4&quot;&gt;&lt;linesCount val=&quot;1&quot;/&gt;&lt;lineCharCount val=&quot;8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6&quot;/&gt;&lt;/TableIndex&gt;&lt;TableIndex row=&quot;2&quot; col=&quot;4&quot;&gt;&lt;linesCount val=&quot;1&quot;/&gt;&lt;lineCharCount val=&quot;6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6&quot;/&gt;&lt;/TableIndex&gt;&lt;TableIndex row=&quot;3&quot; col=&quot;4&quot;&gt;&lt;linesCount val=&quot;1&quot;/&gt;&lt;lineCharCount val=&quot;6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6&quot;/&gt;&lt;/TableIndex&gt;&lt;TableIndex row=&quot;4&quot; col=&quot;4&quot;&gt;&lt;linesCount val=&quot;1&quot;/&gt;&lt;lineCharCount val=&quot;6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2&quot;/&gt;&lt;/TableIndex&gt;&lt;TableIndex row=&quot;5&quot; col=&quot;3&quot;&gt;&lt;linesCount val=&quot;1&quot;/&gt;&lt;lineCharCount val=&quot;6&quot;/&gt;&lt;/TableIndex&gt;&lt;TableIndex row=&quot;5&quot; col=&quot;4&quot;&gt;&lt;linesCount val=&quot;1&quot;/&gt;&lt;lineCharCount val=&quot;6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3&quot;/&gt;&lt;/TableIndex&gt;&lt;TableIndex row=&quot;6&quot; col=&quot;3&quot;&gt;&lt;linesCount val=&quot;1&quot;/&gt;&lt;lineCharCount val=&quot;6&quot;/&gt;&lt;/TableIndex&gt;&lt;TableIndex row=&quot;6&quot; col=&quot;4&quot;&gt;&lt;linesCount val=&quot;1&quot;/&gt;&lt;lineCharCount val=&quot;6&quot;/&gt;&lt;/TableIndex&gt;&lt;TableIndex row=&quot;7&quot; col=&quot;1&quot;&gt;&lt;linesCount val=&quot;1&quot;/&gt;&lt;lineCharCount val=&quot;2&quot;/&gt;&lt;/TableIndex&gt;&lt;TableIndex row=&quot;7&quot; col=&quot;2&quot;&gt;&lt;linesCount val=&quot;1&quot;/&gt;&lt;lineCharCount val=&quot;3&quot;/&gt;&lt;/TableIndex&gt;&lt;TableIndex row=&quot;7&quot; col=&quot;3&quot;&gt;&lt;linesCount val=&quot;1&quot;/&gt;&lt;lineCharCount val=&quot;6&quot;/&gt;&lt;/TableIndex&gt;&lt;TableIndex row=&quot;7&quot; col=&quot;4&quot;&gt;&lt;linesCount val=&quot;1&quot;/&gt;&lt;lineCharCount val=&quot;6&quot;/&gt;&lt;/TableIndex&gt;&lt;TableIndex row=&quot;8&quot; col=&quot;1&quot;&gt;&lt;linesCount val=&quot;1&quot;/&gt;&lt;lineCharCount val=&quot;2&quot;/&gt;&lt;/TableIndex&gt;&lt;TableIndex row=&quot;8&quot; col=&quot;2&quot;&gt;&lt;linesCount val=&quot;1&quot;/&gt;&lt;lineCharCount val=&quot;3&quot;/&gt;&lt;/TableIndex&gt;&lt;TableIndex row=&quot;8&quot; col=&quot;3&quot;&gt;&lt;linesCount val=&quot;1&quot;/&gt;&lt;lineCharCount val=&quot;6&quot;/&gt;&lt;/TableIndex&gt;&lt;TableIndex row=&quot;8&quot; col=&quot;4&quot;&gt;&lt;linesCount val=&quot;1&quot;/&gt;&lt;lineCharCount val=&quot;6&quot;/&gt;&lt;/TableIndex&gt;&lt;TableIndex row=&quot;9&quot; col=&quot;1&quot;&gt;&lt;linesCount val=&quot;1&quot;/&gt;&lt;lineCharCount val=&quot;3&quot;/&gt;&lt;/TableIndex&gt;&lt;TableIndex row=&quot;9&quot; col=&quot;2&quot;&gt;&lt;linesCount val=&quot;1&quot;/&gt;&lt;lineCharCount val=&quot;3&quot;/&gt;&lt;/TableIndex&gt;&lt;TableIndex row=&quot;9&quot; col=&quot;3&quot;&gt;&lt;linesCount val=&quot;1&quot;/&gt;&lt;lineCharCount val=&quot;6&quot;/&gt;&lt;/TableIndex&gt;&lt;TableIndex row=&quot;9&quot; col=&quot;4&quot;&gt;&lt;linesCount val=&quot;1&quot;/&gt;&lt;lineCharCount val=&quot;6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E7B479F5-2571-41E6-9E6F-98C5EAEE6217}_16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5F649A6-AEB2-4A41-84C2-ABE691393E80}_16.png&quot;/&gt;&lt;left val=&quot;149&quot;/&gt;&lt;top val=&quot;147&quot;/&gt;&lt;width val=&quot;96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7E3BA47E-A215-4D41-8025-D56D89DD1F49}_16.png&quot;/&gt;&lt;left val=&quot;353&quot;/&gt;&lt;top val=&quot;147&quot;/&gt;&lt;width val=&quot;96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850C24B8-516A-4769-99E8-9336FD62648F}_16.png&quot;/&gt;&lt;left val=&quot;473&quot;/&gt;&lt;top val=&quot;147&quot;/&gt;&lt;width val=&quot;96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26814954-6076-4261-A307-4BF2D0B7416F}_16.png&quot;/&gt;&lt;left val=&quot;85&quot;/&gt;&lt;top val=&quot;438&quot;/&gt;&lt;width val=&quot;238&quot;/&gt;&lt;height val=&quot;60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17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1899215788,C:\Users\sanmi\GoogleDrive\UWMdrive\Courses\ECE552\ece552-lec07_SingleCycleControlPath_pptx\Media.ppcx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75A4E134-9A5F-4931-B1F2-99CC0A9443EA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9878152-5CEE-451D-9EDF-ADEA066269DC}_17.png&quot;/&gt;&lt;left val=&quot;42&quot;/&gt;&lt;top val=&quot;107&quot;/&gt;&lt;width val=&quot;623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38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4934241C-18B8-496D-9E38-2975C67E498F}_17.png&quot;/&gt;&lt;left val=&quot;76&quot;/&gt;&lt;top val=&quot;179&quot;/&gt;&lt;width val=&quot;598&quot;/&gt;&lt;height val=&quot;328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5&quot;/&gt;&lt;/TableIndex&gt;&lt;TableIndex row=&quot;1&quot; col=&quot;4&quot;&gt;&lt;linesCount val=&quot;1&quot;/&gt;&lt;lineCharCount val=&quot;8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6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2&quot;/&gt;&lt;/TableIndex&gt;&lt;TableIndex row=&quot;3&quot; col=&quot;4&quot;&gt;&lt;linesCount val=&quot;1&quot;/&gt;&lt;lineCharCount val=&quot;6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2&quot;/&gt;&lt;/TableIndex&gt;&lt;TableIndex row=&quot;4&quot; col=&quot;4&quot;&gt;&lt;linesCount val=&quot;1&quot;/&gt;&lt;lineCharCount val=&quot;6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2&quot;/&gt;&lt;/TableIndex&gt;&lt;TableIndex row=&quot;5&quot; col=&quot;3&quot;&gt;&lt;linesCount val=&quot;1&quot;/&gt;&lt;lineCharCount val=&quot;2&quot;/&gt;&lt;/TableIndex&gt;&lt;TableIndex row=&quot;5&quot; col=&quot;4&quot;&gt;&lt;linesCount val=&quot;1&quot;/&gt;&lt;lineCharCount val=&quot;6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3&quot;/&gt;&lt;/TableIndex&gt;&lt;TableIndex row=&quot;6&quot; col=&quot;3&quot;&gt;&lt;linesCount val=&quot;1&quot;/&gt;&lt;lineCharCount val=&quot;2&quot;/&gt;&lt;/TableIndex&gt;&lt;TableIndex row=&quot;6&quot; col=&quot;4&quot;&gt;&lt;linesCount val=&quot;1&quot;/&gt;&lt;lineCharCount val=&quot;6&quot;/&gt;&lt;/TableIndex&gt;&lt;TableIndex row=&quot;7&quot; col=&quot;1&quot;&gt;&lt;linesCount val=&quot;1&quot;/&gt;&lt;lineCharCount val=&quot;2&quot;/&gt;&lt;/TableIndex&gt;&lt;TableIndex row=&quot;7&quot; col=&quot;2&quot;&gt;&lt;linesCount val=&quot;1&quot;/&gt;&lt;lineCharCount val=&quot;3&quot;/&gt;&lt;/TableIndex&gt;&lt;TableIndex row=&quot;7&quot; col=&quot;3&quot;&gt;&lt;linesCount val=&quot;1&quot;/&gt;&lt;lineCharCount val=&quot;2&quot;/&gt;&lt;/TableIndex&gt;&lt;TableIndex row=&quot;7&quot; col=&quot;4&quot;&gt;&lt;linesCount val=&quot;1&quot;/&gt;&lt;lineCharCount val=&quot;6&quot;/&gt;&lt;/TableIndex&gt;&lt;TableIndex row=&quot;8&quot; col=&quot;1&quot;&gt;&lt;linesCount val=&quot;1&quot;/&gt;&lt;lineCharCount val=&quot;2&quot;/&gt;&lt;/TableIndex&gt;&lt;TableIndex row=&quot;8&quot; col=&quot;2&quot;&gt;&lt;linesCount val=&quot;1&quot;/&gt;&lt;lineCharCount val=&quot;3&quot;/&gt;&lt;/TableIndex&gt;&lt;TableIndex row=&quot;8&quot; col=&quot;3&quot;&gt;&lt;linesCount val=&quot;1&quot;/&gt;&lt;lineCharCount val=&quot;2&quot;/&gt;&lt;/TableIndex&gt;&lt;TableIndex row=&quot;8&quot; col=&quot;4&quot;&gt;&lt;linesCount val=&quot;1&quot;/&gt;&lt;lineCharCount val=&quot;6&quot;/&gt;&lt;/TableIndex&gt;&lt;TableIndex row=&quot;9&quot; col=&quot;1&quot;&gt;&lt;linesCount val=&quot;1&quot;/&gt;&lt;lineCharCount val=&quot;3&quot;/&gt;&lt;/TableIndex&gt;&lt;TableIndex row=&quot;9&quot; col=&quot;2&quot;&gt;&lt;linesCount val=&quot;1&quot;/&gt;&lt;lineCharCount val=&quot;3&quot;/&gt;&lt;/TableIndex&gt;&lt;TableIndex row=&quot;9&quot; col=&quot;3&quot;&gt;&lt;linesCount val=&quot;1&quot;/&gt;&lt;lineCharCount val=&quot;2&quot;/&gt;&lt;/TableIndex&gt;&lt;TableIndex row=&quot;9&quot; col=&quot;4&quot;&gt;&lt;linesCount val=&quot;1&quot;/&gt;&lt;lineCharCount val=&quot;6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9418E97F-3E1E-4F3A-ACF9-54E21CD99476}_1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4C7F470-5691-478E-B8E7-9E24CA70A2DF}_17.png&quot;/&gt;&lt;left val=&quot;149&quot;/&gt;&lt;top val=&quot;147&quot;/&gt;&lt;width val=&quot;96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8DAB3D2-8BA4-47CE-AEE8-39AB0F5967A7}_17.png&quot;/&gt;&lt;left val=&quot;353&quot;/&gt;&lt;top val=&quot;147&quot;/&gt;&lt;width val=&quot;96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D4EE4A1-0F14-4505-AB53-925F13EC3F17}_17.png&quot;/&gt;&lt;left val=&quot;467&quot;/&gt;&lt;top val=&quot;147&quot;/&gt;&lt;width val=&quot;96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8,1899215788,C:\Users\sanmi\GoogleDrive\UWMdrive\Courses\ECE552\ece552-lec07_SingleCycleControlPath_pptx\Media.ppcx"/>
  <p:tag name="TIMING" val="|33.7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7856177D-4E5D-4287-BCF4-5CE162E6ED45}_1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A2CCB9C-4165-461E-84F9-D59006315929}_18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1899215788,C:\Users\sanmi\GoogleDrive\UWMdrive\Courses\ECE552\ece552-lec07_SingleCycleControlPath_pptx\Media.ppcx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7392068-E885-4434-B549-4F428060E014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EFB4B6F-CE15-46E0-8B6D-B88FC95A3DF5}_19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4135FB89-AD4B-4140-B8F2-45A356F945E4}_19.png&quot;/&gt;&lt;left val=&quot;54&quot;/&gt;&lt;top val=&quot;421&quot;/&gt;&lt;width val=&quot;234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5&quot;/&gt;&lt;lineCharCount val=&quot;27&quot;/&gt;&lt;lineCharCount val=&quot;21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20,1899215788,C:\Users\sanmi\GoogleDrive\UWMdrive\Courses\ECE552\ece552-lec07_SingleCycleControlPath_pptx\Media.ppcx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E99FD2D2-9CD5-403E-A51D-25D9E876CE9B}_2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0EA5C72-D6C2-4C05-AE71-996A22D37F23}_20.png&quot;/&gt;&lt;left val=&quot;42&quot;/&gt;&lt;top val=&quot;107&quot;/&gt;&lt;width val=&quot;623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1&quot;/&gt;&lt;lineCharCount val=&quot;1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8526826D-5F7F-4E34-B7E8-8EBA1C88D0E8}_20.png&quot;/&gt;&lt;left val=&quot;133&quot;/&gt;&lt;top val=&quot;203&quot;/&gt;&lt;width val=&quot;451&quot;/&gt;&lt;height val=&quot;328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6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6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6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6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2&quot;/&gt;&lt;/TableIndex&gt;&lt;TableIndex row=&quot;5&quot; col=&quot;3&quot;&gt;&lt;linesCount val=&quot;1&quot;/&gt;&lt;lineCharCount val=&quot;6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3&quot;/&gt;&lt;/TableIndex&gt;&lt;TableIndex row=&quot;6&quot; col=&quot;3&quot;&gt;&lt;linesCount val=&quot;1&quot;/&gt;&lt;lineCharCount val=&quot;6&quot;/&gt;&lt;/TableIndex&gt;&lt;TableIndex row=&quot;7&quot; col=&quot;1&quot;&gt;&lt;linesCount val=&quot;1&quot;/&gt;&lt;lineCharCount val=&quot;2&quot;/&gt;&lt;/TableIndex&gt;&lt;TableIndex row=&quot;7&quot; col=&quot;2&quot;&gt;&lt;linesCount val=&quot;1&quot;/&gt;&lt;lineCharCount val=&quot;3&quot;/&gt;&lt;/TableIndex&gt;&lt;TableIndex row=&quot;7&quot; col=&quot;3&quot;&gt;&lt;linesCount val=&quot;1&quot;/&gt;&lt;lineCharCount val=&quot;6&quot;/&gt;&lt;/TableIndex&gt;&lt;TableIndex row=&quot;8&quot; col=&quot;1&quot;&gt;&lt;linesCount val=&quot;1&quot;/&gt;&lt;lineCharCount val=&quot;2&quot;/&gt;&lt;/TableIndex&gt;&lt;TableIndex row=&quot;8&quot; col=&quot;2&quot;&gt;&lt;linesCount val=&quot;1&quot;/&gt;&lt;lineCharCount val=&quot;3&quot;/&gt;&lt;/TableIndex&gt;&lt;TableIndex row=&quot;8&quot; col=&quot;3&quot;&gt;&lt;linesCount val=&quot;1&quot;/&gt;&lt;lineCharCount val=&quot;6&quot;/&gt;&lt;/TableIndex&gt;&lt;TableIndex row=&quot;9&quot; col=&quot;1&quot;&gt;&lt;linesCount val=&quot;1&quot;/&gt;&lt;lineCharCount val=&quot;3&quot;/&gt;&lt;/TableIndex&gt;&lt;TableIndex row=&quot;9&quot; col=&quot;2&quot;&gt;&lt;linesCount val=&quot;1&quot;/&gt;&lt;lineCharCount val=&quot;3&quot;/&gt;&lt;/TableIndex&gt;&lt;TableIndex row=&quot;9&quot; col=&quot;3&quot;&gt;&lt;linesCount val=&quot;1&quot;/&gt;&lt;lineCharCount val=&quot;6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937FB3A-12EE-4178-BB50-1BF492BC4EC1}_20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1,1899215788,C:\Users\sanmi\GoogleDrive\UWMdrive\Courses\ECE552\ece552-lec07_SingleCycleControlPath_pptx\Media.ppcx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AD2AB9D9-4089-4716-B9CD-3C153F5DF45D}_2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4C4204DA-29F3-4C60-B711-E7D0462AF405}_21.png&quot;/&gt;&lt;left val=&quot;42&quot;/&gt;&lt;top val=&quot;107&quot;/&gt;&lt;width val=&quot;623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1&quot;/&gt;&lt;lineCharCount val=&quot;36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3BD00B3-022D-4108-ADA4-913A604A3E1E}_21.png&quot;/&gt;&lt;left val=&quot;133&quot;/&gt;&lt;top val=&quot;203&quot;/&gt;&lt;width val=&quot;451&quot;/&gt;&lt;height val=&quot;328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6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6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6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6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2&quot;/&gt;&lt;/TableIndex&gt;&lt;TableIndex row=&quot;5&quot; col=&quot;3&quot;&gt;&lt;linesCount val=&quot;1&quot;/&gt;&lt;lineCharCount val=&quot;6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3&quot;/&gt;&lt;/TableIndex&gt;&lt;TableIndex row=&quot;6&quot; col=&quot;3&quot;&gt;&lt;linesCount val=&quot;1&quot;/&gt;&lt;lineCharCount val=&quot;6&quot;/&gt;&lt;/TableIndex&gt;&lt;TableIndex row=&quot;7&quot; col=&quot;1&quot;&gt;&lt;linesCount val=&quot;1&quot;/&gt;&lt;lineCharCount val=&quot;2&quot;/&gt;&lt;/TableIndex&gt;&lt;TableIndex row=&quot;7&quot; col=&quot;2&quot;&gt;&lt;linesCount val=&quot;1&quot;/&gt;&lt;lineCharCount val=&quot;3&quot;/&gt;&lt;/TableIndex&gt;&lt;TableIndex row=&quot;7&quot; col=&quot;3&quot;&gt;&lt;linesCount val=&quot;1&quot;/&gt;&lt;lineCharCount val=&quot;6&quot;/&gt;&lt;/TableIndex&gt;&lt;TableIndex row=&quot;8&quot; col=&quot;1&quot;&gt;&lt;linesCount val=&quot;1&quot;/&gt;&lt;lineCharCount val=&quot;2&quot;/&gt;&lt;/TableIndex&gt;&lt;TableIndex row=&quot;8&quot; col=&quot;2&quot;&gt;&lt;linesCount val=&quot;1&quot;/&gt;&lt;lineCharCount val=&quot;3&quot;/&gt;&lt;/TableIndex&gt;&lt;TableIndex row=&quot;8&quot; col=&quot;3&quot;&gt;&lt;linesCount val=&quot;1&quot;/&gt;&lt;lineCharCount val=&quot;6&quot;/&gt;&lt;/TableIndex&gt;&lt;TableIndex row=&quot;9&quot; col=&quot;1&quot;&gt;&lt;linesCount val=&quot;1&quot;/&gt;&lt;lineCharCount val=&quot;3&quot;/&gt;&lt;/TableIndex&gt;&lt;TableIndex row=&quot;9&quot; col=&quot;2&quot;&gt;&lt;linesCount val=&quot;1&quot;/&gt;&lt;lineCharCount val=&quot;3&quot;/&gt;&lt;/TableIndex&gt;&lt;TableIndex row=&quot;9&quot; col=&quot;3&quot;&gt;&lt;linesCount val=&quot;1&quot;/&gt;&lt;lineCharCount val=&quot;6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AA21F92-7ECC-42B2-BACD-75C85AEE5C43}_21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2,1899215788,C:\Users\sanmi\GoogleDrive\UWMdrive\Courses\ECE552\ece552-lec07_SingleCycleControlPath_pptx\Media.ppcx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EED366C8-486E-46D7-85B3-EBAF7F1C4228}_2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889E886B-9EEB-474B-A994-9E5A21F2522D}_22.png&quot;/&gt;&lt;left val=&quot;42&quot;/&gt;&lt;top val=&quot;107&quot;/&gt;&lt;width val=&quot;623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1&quot;/&gt;&lt;lineCharCount val=&quot;12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459CDE52-4D73-4976-8CCB-279FC761DD1D}_22.png&quot;/&gt;&lt;left val=&quot;133&quot;/&gt;&lt;top val=&quot;203&quot;/&gt;&lt;width val=&quot;451&quot;/&gt;&lt;height val=&quot;328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6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6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6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6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2&quot;/&gt;&lt;/TableIndex&gt;&lt;TableIndex row=&quot;5&quot; col=&quot;3&quot;&gt;&lt;linesCount val=&quot;1&quot;/&gt;&lt;lineCharCount val=&quot;6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3&quot;/&gt;&lt;/TableIndex&gt;&lt;TableIndex row=&quot;6&quot; col=&quot;3&quot;&gt;&lt;linesCount val=&quot;1&quot;/&gt;&lt;lineCharCount val=&quot;6&quot;/&gt;&lt;/TableIndex&gt;&lt;TableIndex row=&quot;7&quot; col=&quot;1&quot;&gt;&lt;linesCount val=&quot;1&quot;/&gt;&lt;lineCharCount val=&quot;2&quot;/&gt;&lt;/TableIndex&gt;&lt;TableIndex row=&quot;7&quot; col=&quot;2&quot;&gt;&lt;linesCount val=&quot;1&quot;/&gt;&lt;lineCharCount val=&quot;3&quot;/&gt;&lt;/TableIndex&gt;&lt;TableIndex row=&quot;7&quot; col=&quot;3&quot;&gt;&lt;linesCount val=&quot;1&quot;/&gt;&lt;lineCharCount val=&quot;6&quot;/&gt;&lt;/TableIndex&gt;&lt;TableIndex row=&quot;8&quot; col=&quot;1&quot;&gt;&lt;linesCount val=&quot;1&quot;/&gt;&lt;lineCharCount val=&quot;2&quot;/&gt;&lt;/TableIndex&gt;&lt;TableIndex row=&quot;8&quot; col=&quot;2&quot;&gt;&lt;linesCount val=&quot;1&quot;/&gt;&lt;lineCharCount val=&quot;3&quot;/&gt;&lt;/TableIndex&gt;&lt;TableIndex row=&quot;8&quot; col=&quot;3&quot;&gt;&lt;linesCount val=&quot;1&quot;/&gt;&lt;lineCharCount val=&quot;6&quot;/&gt;&lt;/TableIndex&gt;&lt;TableIndex row=&quot;9&quot; col=&quot;1&quot;&gt;&lt;linesCount val=&quot;1&quot;/&gt;&lt;lineCharCount val=&quot;3&quot;/&gt;&lt;/TableIndex&gt;&lt;TableIndex row=&quot;9&quot; col=&quot;2&quot;&gt;&lt;linesCount val=&quot;1&quot;/&gt;&lt;lineCharCount val=&quot;3&quot;/&gt;&lt;/TableIndex&gt;&lt;TableIndex row=&quot;9&quot; col=&quot;3&quot;&gt;&lt;linesCount val=&quot;1&quot;/&gt;&lt;lineCharCount val=&quot;6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5177156-A81E-4ED7-9758-C13DCED340A6}_22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3.PNG&quot;/&gt;"/>
  <p:tag name="PPSNARRATION" val="23,1899215788,C:\Users\sanmi\GoogleDrive\UWMdrive\Courses\ECE552\ece552-lec07_SingleCycleControlPath_pptx\Media.ppcx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740AF9EB-7192-4E66-8FBA-D0F8A63F8CCD}_2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AF9BB1B-D4ED-4597-BBCF-3B7833C454A9}_23.png&quot;/&gt;&lt;left val=&quot;42&quot;/&gt;&lt;top val=&quot;107&quot;/&gt;&lt;width val=&quot;623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1&quot;/&gt;&lt;lineCharCount val=&quot;34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BEA4D36-0A30-437B-A6E4-3F6B5D19A8B6}_23.png&quot;/&gt;&lt;left val=&quot;133&quot;/&gt;&lt;top val=&quot;203&quot;/&gt;&lt;width val=&quot;451&quot;/&gt;&lt;height val=&quot;328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6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6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6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6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2&quot;/&gt;&lt;/TableIndex&gt;&lt;TableIndex row=&quot;5&quot; col=&quot;3&quot;&gt;&lt;linesCount val=&quot;1&quot;/&gt;&lt;lineCharCount val=&quot;6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3&quot;/&gt;&lt;/TableIndex&gt;&lt;TableIndex row=&quot;6&quot; col=&quot;3&quot;&gt;&lt;linesCount val=&quot;1&quot;/&gt;&lt;lineCharCount val=&quot;6&quot;/&gt;&lt;/TableIndex&gt;&lt;TableIndex row=&quot;7&quot; col=&quot;1&quot;&gt;&lt;linesCount val=&quot;1&quot;/&gt;&lt;lineCharCount val=&quot;2&quot;/&gt;&lt;/TableIndex&gt;&lt;TableIndex row=&quot;7&quot; col=&quot;2&quot;&gt;&lt;linesCount val=&quot;1&quot;/&gt;&lt;lineCharCount val=&quot;3&quot;/&gt;&lt;/TableIndex&gt;&lt;TableIndex row=&quot;7&quot; col=&quot;3&quot;&gt;&lt;linesCount val=&quot;1&quot;/&gt;&lt;lineCharCount val=&quot;6&quot;/&gt;&lt;/TableIndex&gt;&lt;TableIndex row=&quot;8&quot; col=&quot;1&quot;&gt;&lt;linesCount val=&quot;1&quot;/&gt;&lt;lineCharCount val=&quot;2&quot;/&gt;&lt;/TableIndex&gt;&lt;TableIndex row=&quot;8&quot; col=&quot;2&quot;&gt;&lt;linesCount val=&quot;1&quot;/&gt;&lt;lineCharCount val=&quot;3&quot;/&gt;&lt;/TableIndex&gt;&lt;TableIndex row=&quot;8&quot; col=&quot;3&quot;&gt;&lt;linesCount val=&quot;1&quot;/&gt;&lt;lineCharCount val=&quot;6&quot;/&gt;&lt;/TableIndex&gt;&lt;TableIndex row=&quot;9&quot; col=&quot;1&quot;&gt;&lt;linesCount val=&quot;1&quot;/&gt;&lt;lineCharCount val=&quot;3&quot;/&gt;&lt;/TableIndex&gt;&lt;TableIndex row=&quot;9&quot; col=&quot;2&quot;&gt;&lt;linesCount val=&quot;1&quot;/&gt;&lt;lineCharCount val=&quot;3&quot;/&gt;&lt;/TableIndex&gt;&lt;TableIndex row=&quot;9&quot; col=&quot;3&quot;&gt;&lt;linesCount val=&quot;1&quot;/&gt;&lt;lineCharCount val=&quot;6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A4B82C1-AA79-4B62-95C4-5564488E5431}_23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  <p:tag name="PPSNARRATION" val="24,1899215788,C:\Users\sanmi\GoogleDrive\UWMdrive\Courses\ECE552\ece552-lec07_SingleCycleControlPath_pptx\Media.ppcx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A05C7B3-A182-43C3-82FB-8DE6795CEB07}_2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655FB00-A245-4018-B7F7-4A4B482D936C}_24.png&quot;/&gt;&lt;left val=&quot;24&quot;/&gt;&lt;top val=&quot;119&quot;/&gt;&lt;width val=&quot;670&quot;/&gt;&lt;height val=&quot;363&quot;/&gt;&lt;hasText val=&quot;1&quot;/&gt;&lt;/Image&gt;&lt;/ThreeDShapeInfo&gt;"/>
  <p:tag name="PRESENTER_SHAPETEXTINFO" val="&lt;ShapeTextInfo&gt;&lt;TableIndex row=&quot;-1&quot; col=&quot;-1&quot;&gt;&lt;linesCount val=&quot;6&quot;/&gt;&lt;lineCharCount val=&quot;46&quot;/&gt;&lt;lineCharCount val=&quot;31&quot;/&gt;&lt;lineCharCount val=&quot;44&quot;/&gt;&lt;lineCharCount val=&quot;42&quot;/&gt;&lt;lineCharCount val=&quot;46&quot;/&gt;&lt;lineCharCount val=&quot;20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BD488F0-DAD5-4239-9846-5241DA0A7503}_24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5.PNG&quot;/&gt;"/>
  <p:tag name="PPSNARRATION" val="25,1899215788,C:\Users\sanmi\GoogleDrive\UWMdrive\Courses\ECE552\ece552-lec07_SingleCycleControlPath_pptx\Media.ppcx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F741E71B-60BE-49F8-AAA8-A9646BC4359F}_2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2E34D98B-6CAE-4516-A7A2-5A3D7E5F31AB}_25.png&quot;/&gt;&lt;left val=&quot;45&quot;/&gt;&lt;top val=&quot;108&quot;/&gt;&lt;width val=&quot;311&quot;/&gt;&lt;height val=&quot;234&quot;/&gt;&lt;hasText val=&quot;1&quot;/&gt;&lt;/Image&gt;&lt;/ThreeDShapeInfo&gt;"/>
  <p:tag name="PRESENTER_SHAPETEXTINFO" val="&lt;ShapeTextInfo&gt;&lt;TableIndex row=&quot;-1&quot; col=&quot;-1&quot;&gt;&lt;linesCount val=&quot;7&quot;/&gt;&lt;lineCharCount val=&quot;18&quot;/&gt;&lt;lineCharCount val=&quot;23&quot;/&gt;&lt;lineCharCount val=&quot;9&quot;/&gt;&lt;lineCharCount val=&quot;16&quot;/&gt;&lt;lineCharCount val=&quot;21&quot;/&gt;&lt;lineCharCount val=&quot;12&quot;/&gt;&lt;lineCharCount val=&quot;5&quot;/&gt;&lt;/TableIndex&gt;&lt;/ShapeText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C1EBBB7-EFCE-4EC8-B870-F3614D8B4F93}_25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6,1899215788,C:\Users\sanmi\GoogleDrive\UWMdrive\Courses\ECE552\ece552-lec07_SingleCycleControlPath_pptx\Media.ppcx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64F07FC-801B-4403-B35F-0F71D19BE8E4}_2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872E907-B867-4491-A178-86E3C14DDC4E}_26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0CA8A17-0899-4B1D-B89C-9034540C3915}_26.png&quot;/&gt;&lt;left val=&quot;24&quot;/&gt;&lt;top val=&quot;101&quot;/&gt;&lt;width val=&quot;659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1899215788,C:\Users\sanmi\GoogleDrive\UWMdrive\Courses\ECE552\ece552-lec07_SingleCycleControlPath_pptx\Media.ppcx"/>
  <p:tag name="TIMING" val="|6.1|13.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59B33FC7-430E-47D0-8A4B-1756CCBBF689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645E866-944C-49D2-BA70-20F096B92887}_2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CCCC355-3886-41E9-BC8F-591C3D00FBA5}_27.png&quot;/&gt;&lt;left val=&quot;24&quot;/&gt;&lt;top val=&quot;101&quot;/&gt;&lt;width val=&quot;659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FE565200-303C-4512-9BF1-A7A2A44742BA}_27.png&quot;/&gt;&lt;left val=&quot;31&quot;/&gt;&lt;top val=&quot;441&quot;/&gt;&lt;width val=&quot;234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23&quot;/&gt;&lt;lineCharCount val=&quot;7&quot;/&gt;&lt;/TableIndex&gt;&lt;/ShapeText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8.PNG&quot;/&gt;"/>
  <p:tag name="PPSNARRATION" val="28,1899215788,C:\Users\sanmi\GoogleDrive\UWMdrive\Courses\ECE552\ece552-lec07_SingleCycleControlPath_pptx\Media.ppcx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17F4A5B-43A1-4C38-8FE9-940846599191}_2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F6AD278-D359-4BDE-AF83-E2835A25EDF6}_28.png&quot;/&gt;&lt;left val=&quot;44&quot;/&gt;&lt;top val=&quot;240&quot;/&gt;&lt;width val=&quot;670&quot;/&gt;&lt;height val=&quot;288&quot;/&gt;&lt;hasText val=&quot;1&quot;/&gt;&lt;/Image&gt;&lt;/ThreeDShapeInfo&gt;"/>
  <p:tag name="PRESENTER_SHAPETEXTINFO" val="&lt;ShapeTextInfo&gt;&lt;TableIndex row=&quot;-1&quot; col=&quot;-1&quot;&gt;&lt;linesCount val=&quot;8&quot;/&gt;&lt;lineCharCount val=&quot;41&quot;/&gt;&lt;lineCharCount val=&quot;39&quot;/&gt;&lt;lineCharCount val=&quot;42&quot;/&gt;&lt;lineCharCount val=&quot;27&quot;/&gt;&lt;lineCharCount val=&quot;36&quot;/&gt;&lt;lineCharCount val=&quot;60&quot;/&gt;&lt;lineCharCount val=&quot;32&quot;/&gt;&lt;lineCharCount val=&quot;26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2DCF699F-B17A-493E-9654-A650D8B329E3}_28.png&quot;/&gt;&lt;left val=&quot;103&quot;/&gt;&lt;top val=&quot;114&quot;/&gt;&lt;width val=&quot;555&quot;/&gt;&lt;height val=&quot;124&quot;/&gt;&lt;hasText val=&quot;1&quot;/&gt;&lt;/Image&gt;&lt;/ThreeDShapeInfo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7021F0CD-B733-4212-AB62-4A7D67E43C99}_28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AC78648-EB93-4D10-8EF3-B2AAB0384A71}_28.png&quot;/&gt;&lt;left val=&quot;587&quot;/&gt;&lt;top val=&quot;238&quot;/&gt;&lt;width val=&quot;132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  <p:tag name="PPSNARRATION" val="29,1899215788,C:\Users\sanmi\GoogleDrive\UWMdrive\Courses\ECE552\ece552-lec07_SingleCycleControlPath_pptx\Media.ppcx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8B13744D-DA57-41BB-BA69-994153F0FCB7}_2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0B87A9F9-8F52-4821-8654-F791DF023893}_29.png&quot;/&gt;&lt;left val=&quot;24&quot;/&gt;&lt;top val=&quot;238&quot;/&gt;&lt;width val=&quot;659&quot;/&gt;&lt;height val=&quot;244&quot;/&gt;&lt;hasText val=&quot;1&quot;/&gt;&lt;/Image&gt;&lt;/ThreeDShapeInfo&gt;"/>
  <p:tag name="PRESENTER_SHAPETEXTINFO" val="&lt;ShapeTextInfo&gt;&lt;TableIndex row=&quot;-1&quot; col=&quot;-1&quot;&gt;&lt;linesCount val=&quot;3&quot;/&gt;&lt;lineCharCount val=&quot;10&quot;/&gt;&lt;lineCharCount val=&quot;39&quot;/&gt;&lt;lineCharCount val=&quot;25&quot;/&gt;&lt;/TableIndex&gt;&lt;/ShapeTextInfo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67DED6B2-6C88-4EE0-9144-5F603BA72D5A}_29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F18DC462-C985-4869-8934-2712BC5B18A8}_29.png&quot;/&gt;&lt;left val=&quot;103&quot;/&gt;&lt;top val=&quot;114&quot;/&gt;&lt;width val=&quot;555&quot;/&gt;&lt;height val=&quot;124&quot;/&gt;&lt;hasText val=&quot;1&quot;/&gt;&lt;/Image&gt;&lt;/ThreeDShapeInfo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0.PNG&quot;/&gt;"/>
  <p:tag name="PPSNARRATION" val="30,1899215788,C:\Users\sanmi\GoogleDrive\UWMdrive\Courses\ECE552\ece552-lec07_SingleCycleControlPath_pptx\Media.ppcx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2257D65C-1706-44FC-8A44-E6C2E44DBFA0}_3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06EEB48-772B-4455-B46C-D3CAEA3DE693}_30.png&quot;/&gt;&lt;left val=&quot;24&quot;/&gt;&lt;top val=&quot;238&quot;/&gt;&lt;width val=&quot;659&quot;/&gt;&lt;height val=&quot;247&quot;/&gt;&lt;hasText val=&quot;1&quot;/&gt;&lt;/Image&gt;&lt;/ThreeDShapeInfo&gt;"/>
  <p:tag name="PRESENTER_SHAPETEXTINFO" val="&lt;ShapeTextInfo&gt;&lt;TableIndex row=&quot;-1&quot; col=&quot;-1&quot;&gt;&lt;linesCount val=&quot;6&quot;/&gt;&lt;lineCharCount val=&quot;10&quot;/&gt;&lt;lineCharCount val=&quot;39&quot;/&gt;&lt;lineCharCount val=&quot;26&quot;/&gt;&lt;lineCharCount val=&quot;32&quot;/&gt;&lt;lineCharCount val=&quot;25&quot;/&gt;&lt;lineCharCount val=&quot;38&quot;/&gt;&lt;/TableIndex&gt;&lt;/ShapeTextInfo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B1372DC8-6774-4EA0-B715-9C172830DF2E}_30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7B275AC8-64FE-4C48-8709-953440B15881}_30.png&quot;/&gt;&lt;left val=&quot;103&quot;/&gt;&lt;top val=&quot;114&quot;/&gt;&lt;width val=&quot;555&quot;/&gt;&lt;height val=&quot;124&quot;/&gt;&lt;hasText val=&quot;1&quot;/&gt;&lt;/Image&gt;&lt;/ThreeDShapeInfo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1.PNG&quot;/&gt;"/>
  <p:tag name="PPSNARRATION" val="31,1899215788,C:\Users\sanmi\GoogleDrive\UWMdrive\Courses\ECE552\ece552-lec07_SingleCycleControlPath_pptx\Media.ppcx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5561EBA-9053-4FC3-B108-DF3A1671FD31}_3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565A0271-6A30-4A8A-BF1E-D23D3A1F0AFE}_31.png&quot;/&gt;&lt;left val=&quot;24&quot;/&gt;&lt;top val=&quot;101&quot;/&gt;&lt;width val=&quot;683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  <p:tag name="PPSNARRATION" val="32,1899215788,C:\Users\sanmi\GoogleDrive\UWMdrive\Courses\ECE552\ece552-lec07_SingleCycleControlPath_pptx\Media.ppcx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3F2A790-1708-41F9-A226-1B290330DB9D}_3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3A2E19E1-A2D1-45DC-AB55-024921E07310}_32.png&quot;/&gt;&lt;left val=&quot;24&quot;/&gt;&lt;top val=&quot;101&quot;/&gt;&lt;width val=&quot;683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9&quot;/&gt;&lt;lineCharCount val=&quot;40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823</TotalTime>
  <Words>1068</Words>
  <Application>Microsoft Macintosh PowerPoint</Application>
  <PresentationFormat>On-screen Show (4:3)</PresentationFormat>
  <Paragraphs>452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Helvetica</vt:lpstr>
      <vt:lpstr>Times New Roman</vt:lpstr>
      <vt:lpstr>Wingdings</vt:lpstr>
      <vt:lpstr>Lecture Notes 552</vt:lpstr>
      <vt:lpstr>ECE/CS 552: Single-Cycle Control Path</vt:lpstr>
      <vt:lpstr>Single-Cycle Processor</vt:lpstr>
      <vt:lpstr>Global Control</vt:lpstr>
      <vt:lpstr>Global Control</vt:lpstr>
      <vt:lpstr>Global Control</vt:lpstr>
      <vt:lpstr>Global Control</vt:lpstr>
      <vt:lpstr>Global Control</vt:lpstr>
      <vt:lpstr>Global Control</vt:lpstr>
      <vt:lpstr>Global Control</vt:lpstr>
      <vt:lpstr>Global Control</vt:lpstr>
      <vt:lpstr>Global Control</vt:lpstr>
      <vt:lpstr>Global Control</vt:lpstr>
      <vt:lpstr>Global Control</vt:lpstr>
      <vt:lpstr>ALU Control</vt:lpstr>
      <vt:lpstr>ALU Control</vt:lpstr>
      <vt:lpstr>ALU Control</vt:lpstr>
      <vt:lpstr>ALU Control</vt:lpstr>
      <vt:lpstr>Global Control</vt:lpstr>
      <vt:lpstr>Global Control</vt:lpstr>
      <vt:lpstr>Exercise</vt:lpstr>
      <vt:lpstr>Exercise</vt:lpstr>
      <vt:lpstr>Exercise</vt:lpstr>
      <vt:lpstr>Exercise</vt:lpstr>
      <vt:lpstr>Global Control</vt:lpstr>
      <vt:lpstr>PLA</vt:lpstr>
      <vt:lpstr>Global Control</vt:lpstr>
      <vt:lpstr>Global Control</vt:lpstr>
      <vt:lpstr>Single-Cycle Processor</vt:lpstr>
      <vt:lpstr>Single-Cycle Processor</vt:lpstr>
      <vt:lpstr>Single-Cycle Processor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Single Cycle Datapath</dc:title>
  <dc:creator/>
  <cp:lastModifiedBy>Boone Severson</cp:lastModifiedBy>
  <cp:revision>472</cp:revision>
  <cp:lastPrinted>1601-01-01T00:00:00Z</cp:lastPrinted>
  <dcterms:created xsi:type="dcterms:W3CDTF">1601-01-01T00:00:00Z</dcterms:created>
  <dcterms:modified xsi:type="dcterms:W3CDTF">2024-08-29T04:32:45Z</dcterms:modified>
</cp:coreProperties>
</file>