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4.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5.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7.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8.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9.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0.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1.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2.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13.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14.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15.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16.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17.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18.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19.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20.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21.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notesSlides/notesSlide22.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notesSlides/notesSlide23.xml" ContentType="application/vnd.openxmlformats-officedocument.presentationml.notesSlide+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notesSlides/notesSlide24.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notesSlides/notesSlide25.xml" ContentType="application/vnd.openxmlformats-officedocument.presentationml.notesSlide+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26.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notesSlides/notesSlide27.xml" ContentType="application/vnd.openxmlformats-officedocument.presentationml.notesSlide+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28.xml" ContentType="application/vnd.openxmlformats-officedocument.presentationml.notesSlide+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notesSlides/notesSlide29.xml" ContentType="application/vnd.openxmlformats-officedocument.presentationml.notesSlide+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notesSlides/notesSlide30.xml" ContentType="application/vnd.openxmlformats-officedocument.presentationml.notesSlide+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1"/>
  </p:sldMasterIdLst>
  <p:notesMasterIdLst>
    <p:notesMasterId r:id="rId33"/>
  </p:notesMasterIdLst>
  <p:handoutMasterIdLst>
    <p:handoutMasterId r:id="rId34"/>
  </p:handoutMasterIdLst>
  <p:sldIdLst>
    <p:sldId id="495" r:id="rId2"/>
    <p:sldId id="640" r:id="rId3"/>
    <p:sldId id="641" r:id="rId4"/>
    <p:sldId id="642" r:id="rId5"/>
    <p:sldId id="643" r:id="rId6"/>
    <p:sldId id="644" r:id="rId7"/>
    <p:sldId id="645" r:id="rId8"/>
    <p:sldId id="646" r:id="rId9"/>
    <p:sldId id="647" r:id="rId10"/>
    <p:sldId id="648" r:id="rId11"/>
    <p:sldId id="650" r:id="rId12"/>
    <p:sldId id="649" r:id="rId13"/>
    <p:sldId id="651" r:id="rId14"/>
    <p:sldId id="652" r:id="rId15"/>
    <p:sldId id="653" r:id="rId16"/>
    <p:sldId id="654" r:id="rId17"/>
    <p:sldId id="657" r:id="rId18"/>
    <p:sldId id="655" r:id="rId19"/>
    <p:sldId id="658" r:id="rId20"/>
    <p:sldId id="656" r:id="rId21"/>
    <p:sldId id="659" r:id="rId22"/>
    <p:sldId id="660" r:id="rId23"/>
    <p:sldId id="662" r:id="rId24"/>
    <p:sldId id="663" r:id="rId25"/>
    <p:sldId id="664" r:id="rId26"/>
    <p:sldId id="665" r:id="rId27"/>
    <p:sldId id="626" r:id="rId28"/>
    <p:sldId id="629" r:id="rId29"/>
    <p:sldId id="631" r:id="rId30"/>
    <p:sldId id="633" r:id="rId31"/>
    <p:sldId id="635" r:id="rId32"/>
  </p:sldIdLst>
  <p:sldSz cx="9144000" cy="6858000" type="screen4x3"/>
  <p:notesSz cx="6845300" cy="9396413"/>
  <p:custDataLst>
    <p:tags r:id="rId35"/>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8">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0BD9"/>
    <a:srgbClr val="DBEEF4"/>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83" autoAdjust="0"/>
    <p:restoredTop sz="81803"/>
  </p:normalViewPr>
  <p:slideViewPr>
    <p:cSldViewPr>
      <p:cViewPr varScale="1">
        <p:scale>
          <a:sx n="179" d="100"/>
          <a:sy n="179" d="100"/>
        </p:scale>
        <p:origin x="1944" y="184"/>
      </p:cViewPr>
      <p:guideLst>
        <p:guide orient="horz" pos="2160"/>
        <p:guide pos="2880"/>
      </p:guideLst>
    </p:cSldViewPr>
  </p:slideViewPr>
  <p:outlineViewPr>
    <p:cViewPr>
      <p:scale>
        <a:sx n="33" d="100"/>
        <a:sy n="33" d="100"/>
      </p:scale>
      <p:origin x="0" y="0"/>
    </p:cViewPr>
  </p:outlineViewPr>
  <p:notesTextViewPr>
    <p:cViewPr>
      <p:scale>
        <a:sx n="170" d="100"/>
        <a:sy n="170" d="100"/>
      </p:scale>
      <p:origin x="0" y="0"/>
    </p:cViewPr>
  </p:notesTextViewPr>
  <p:sorterViewPr>
    <p:cViewPr>
      <p:scale>
        <a:sx n="66" d="100"/>
        <a:sy n="66" d="100"/>
      </p:scale>
      <p:origin x="0" y="0"/>
    </p:cViewPr>
  </p:sorterViewPr>
  <p:notesViewPr>
    <p:cSldViewPr>
      <p:cViewPr varScale="1">
        <p:scale>
          <a:sx n="58" d="100"/>
          <a:sy n="58" d="100"/>
        </p:scale>
        <p:origin x="-1764" y="-66"/>
      </p:cViewPr>
      <p:guideLst>
        <p:guide orient="horz" pos="2958"/>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5363" name="Rectangle 3"/>
          <p:cNvSpPr>
            <a:spLocks noGrp="1" noChangeArrowheads="1"/>
          </p:cNvSpPr>
          <p:nvPr>
            <p:ph type="dt" sz="quarter"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15364" name="Rectangle 4"/>
          <p:cNvSpPr>
            <a:spLocks noGrp="1" noChangeArrowheads="1"/>
          </p:cNvSpPr>
          <p:nvPr>
            <p:ph type="ftr" sz="quarter" idx="2"/>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r>
              <a:rPr lang="en-US"/>
              <a:t>CS/ECE 552: Introduction To Computer Architecture</a:t>
            </a:r>
          </a:p>
        </p:txBody>
      </p:sp>
      <p:sp>
        <p:nvSpPr>
          <p:cNvPr id="15365" name="Rectangle 5"/>
          <p:cNvSpPr>
            <a:spLocks noGrp="1" noChangeArrowheads="1"/>
          </p:cNvSpPr>
          <p:nvPr>
            <p:ph type="sldNum" sz="quarter" idx="3"/>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A83ACFC1-9505-4A40-9977-AABD7496088F}" type="slidenum">
              <a:rPr lang="en-US" altLang="en-US"/>
              <a:pPr/>
              <a:t>‹#›</a:t>
            </a:fld>
            <a:endParaRPr lang="en-US" altLang="en-US"/>
          </a:p>
        </p:txBody>
      </p:sp>
    </p:spTree>
    <p:extLst>
      <p:ext uri="{BB962C8B-B14F-4D97-AF65-F5344CB8AC3E}">
        <p14:creationId xmlns:p14="http://schemas.microsoft.com/office/powerpoint/2010/main" val="2208075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7411" name="Rectangle 3"/>
          <p:cNvSpPr>
            <a:spLocks noGrp="1" noChangeArrowheads="1"/>
          </p:cNvSpPr>
          <p:nvPr>
            <p:ph type="dt"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77828" name="Rectangle 4"/>
          <p:cNvSpPr>
            <a:spLocks noGrp="1" noRot="1" noChangeAspect="1" noChangeArrowheads="1" noTextEdit="1"/>
          </p:cNvSpPr>
          <p:nvPr>
            <p:ph type="sldImg" idx="2"/>
          </p:nvPr>
        </p:nvSpPr>
        <p:spPr bwMode="auto">
          <a:xfrm>
            <a:off x="1074738" y="706438"/>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2813" y="4464050"/>
            <a:ext cx="5019675" cy="4225925"/>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endParaRPr lang="en-US"/>
          </a:p>
        </p:txBody>
      </p:sp>
      <p:sp>
        <p:nvSpPr>
          <p:cNvPr id="17415" name="Rectangle 7"/>
          <p:cNvSpPr>
            <a:spLocks noGrp="1" noChangeArrowheads="1"/>
          </p:cNvSpPr>
          <p:nvPr>
            <p:ph type="sldNum" sz="quarter" idx="5"/>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BD4F155C-6C9D-4ED5-8550-5376FDF284CA}" type="slidenum">
              <a:rPr lang="en-US" altLang="en-US"/>
              <a:pPr/>
              <a:t>‹#›</a:t>
            </a:fld>
            <a:endParaRPr lang="en-US" altLang="en-US"/>
          </a:p>
        </p:txBody>
      </p:sp>
    </p:spTree>
    <p:extLst>
      <p:ext uri="{BB962C8B-B14F-4D97-AF65-F5344CB8AC3E}">
        <p14:creationId xmlns:p14="http://schemas.microsoft.com/office/powerpoint/2010/main" val="2390738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a:t>
            </a:fld>
            <a:endParaRPr lang="en-US" altLang="en-US"/>
          </a:p>
        </p:txBody>
      </p:sp>
    </p:spTree>
    <p:extLst>
      <p:ext uri="{BB962C8B-B14F-4D97-AF65-F5344CB8AC3E}">
        <p14:creationId xmlns:p14="http://schemas.microsoft.com/office/powerpoint/2010/main" val="413177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a:t>
            </a:fld>
            <a:endParaRPr lang="en-US" altLang="en-US"/>
          </a:p>
        </p:txBody>
      </p:sp>
    </p:spTree>
    <p:extLst>
      <p:ext uri="{BB962C8B-B14F-4D97-AF65-F5344CB8AC3E}">
        <p14:creationId xmlns:p14="http://schemas.microsoft.com/office/powerpoint/2010/main" val="149561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a:t>
            </a:fld>
            <a:endParaRPr lang="en-US" altLang="en-US"/>
          </a:p>
        </p:txBody>
      </p:sp>
    </p:spTree>
    <p:extLst>
      <p:ext uri="{BB962C8B-B14F-4D97-AF65-F5344CB8AC3E}">
        <p14:creationId xmlns:p14="http://schemas.microsoft.com/office/powerpoint/2010/main" val="1743737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4</a:t>
            </a:fld>
            <a:endParaRPr lang="en-US" altLang="en-US"/>
          </a:p>
        </p:txBody>
      </p:sp>
    </p:spTree>
    <p:extLst>
      <p:ext uri="{BB962C8B-B14F-4D97-AF65-F5344CB8AC3E}">
        <p14:creationId xmlns:p14="http://schemas.microsoft.com/office/powerpoint/2010/main" val="1365925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5</a:t>
            </a:fld>
            <a:endParaRPr lang="en-US" altLang="en-US"/>
          </a:p>
        </p:txBody>
      </p:sp>
    </p:spTree>
    <p:extLst>
      <p:ext uri="{BB962C8B-B14F-4D97-AF65-F5344CB8AC3E}">
        <p14:creationId xmlns:p14="http://schemas.microsoft.com/office/powerpoint/2010/main" val="4121206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6</a:t>
            </a:fld>
            <a:endParaRPr lang="en-US" altLang="en-US"/>
          </a:p>
        </p:txBody>
      </p:sp>
    </p:spTree>
    <p:extLst>
      <p:ext uri="{BB962C8B-B14F-4D97-AF65-F5344CB8AC3E}">
        <p14:creationId xmlns:p14="http://schemas.microsoft.com/office/powerpoint/2010/main" val="881354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7</a:t>
            </a:fld>
            <a:endParaRPr lang="en-US" altLang="en-US"/>
          </a:p>
        </p:txBody>
      </p:sp>
    </p:spTree>
    <p:extLst>
      <p:ext uri="{BB962C8B-B14F-4D97-AF65-F5344CB8AC3E}">
        <p14:creationId xmlns:p14="http://schemas.microsoft.com/office/powerpoint/2010/main" val="586242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8</a:t>
            </a:fld>
            <a:endParaRPr lang="en-US" altLang="en-US"/>
          </a:p>
        </p:txBody>
      </p:sp>
    </p:spTree>
    <p:extLst>
      <p:ext uri="{BB962C8B-B14F-4D97-AF65-F5344CB8AC3E}">
        <p14:creationId xmlns:p14="http://schemas.microsoft.com/office/powerpoint/2010/main" val="4156332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9</a:t>
            </a:fld>
            <a:endParaRPr lang="en-US" altLang="en-US"/>
          </a:p>
        </p:txBody>
      </p:sp>
    </p:spTree>
    <p:extLst>
      <p:ext uri="{BB962C8B-B14F-4D97-AF65-F5344CB8AC3E}">
        <p14:creationId xmlns:p14="http://schemas.microsoft.com/office/powerpoint/2010/main" val="3588425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10</a:t>
            </a:fld>
            <a:endParaRPr lang="en-US" altLang="en-US"/>
          </a:p>
        </p:txBody>
      </p:sp>
    </p:spTree>
    <p:extLst>
      <p:ext uri="{BB962C8B-B14F-4D97-AF65-F5344CB8AC3E}">
        <p14:creationId xmlns:p14="http://schemas.microsoft.com/office/powerpoint/2010/main" val="36189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11</a:t>
            </a:fld>
            <a:endParaRPr lang="en-US" altLang="en-US"/>
          </a:p>
        </p:txBody>
      </p:sp>
    </p:spTree>
    <p:extLst>
      <p:ext uri="{BB962C8B-B14F-4D97-AF65-F5344CB8AC3E}">
        <p14:creationId xmlns:p14="http://schemas.microsoft.com/office/powerpoint/2010/main" val="3194994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12</a:t>
            </a:fld>
            <a:endParaRPr lang="en-US" altLang="en-US"/>
          </a:p>
        </p:txBody>
      </p:sp>
    </p:spTree>
    <p:extLst>
      <p:ext uri="{BB962C8B-B14F-4D97-AF65-F5344CB8AC3E}">
        <p14:creationId xmlns:p14="http://schemas.microsoft.com/office/powerpoint/2010/main" val="1522241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13</a:t>
            </a:fld>
            <a:endParaRPr lang="en-US" altLang="en-US"/>
          </a:p>
        </p:txBody>
      </p:sp>
    </p:spTree>
    <p:extLst>
      <p:ext uri="{BB962C8B-B14F-4D97-AF65-F5344CB8AC3E}">
        <p14:creationId xmlns:p14="http://schemas.microsoft.com/office/powerpoint/2010/main" val="488909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14</a:t>
            </a:fld>
            <a:endParaRPr lang="en-US" altLang="en-US"/>
          </a:p>
        </p:txBody>
      </p:sp>
    </p:spTree>
    <p:extLst>
      <p:ext uri="{BB962C8B-B14F-4D97-AF65-F5344CB8AC3E}">
        <p14:creationId xmlns:p14="http://schemas.microsoft.com/office/powerpoint/2010/main" val="28584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15</a:t>
            </a:fld>
            <a:endParaRPr lang="en-US" altLang="en-US"/>
          </a:p>
        </p:txBody>
      </p:sp>
    </p:spTree>
    <p:extLst>
      <p:ext uri="{BB962C8B-B14F-4D97-AF65-F5344CB8AC3E}">
        <p14:creationId xmlns:p14="http://schemas.microsoft.com/office/powerpoint/2010/main" val="3117403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16</a:t>
            </a:fld>
            <a:endParaRPr lang="en-US" altLang="en-US"/>
          </a:p>
        </p:txBody>
      </p:sp>
    </p:spTree>
    <p:extLst>
      <p:ext uri="{BB962C8B-B14F-4D97-AF65-F5344CB8AC3E}">
        <p14:creationId xmlns:p14="http://schemas.microsoft.com/office/powerpoint/2010/main" val="3090205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17</a:t>
            </a:fld>
            <a:endParaRPr lang="en-US" altLang="en-US"/>
          </a:p>
        </p:txBody>
      </p:sp>
    </p:spTree>
    <p:extLst>
      <p:ext uri="{BB962C8B-B14F-4D97-AF65-F5344CB8AC3E}">
        <p14:creationId xmlns:p14="http://schemas.microsoft.com/office/powerpoint/2010/main" val="2982703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18</a:t>
            </a:fld>
            <a:endParaRPr lang="en-US" altLang="en-US"/>
          </a:p>
        </p:txBody>
      </p:sp>
    </p:spTree>
    <p:extLst>
      <p:ext uri="{BB962C8B-B14F-4D97-AF65-F5344CB8AC3E}">
        <p14:creationId xmlns:p14="http://schemas.microsoft.com/office/powerpoint/2010/main" val="1063390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19</a:t>
            </a:fld>
            <a:endParaRPr lang="en-US" altLang="en-US"/>
          </a:p>
        </p:txBody>
      </p:sp>
    </p:spTree>
    <p:extLst>
      <p:ext uri="{BB962C8B-B14F-4D97-AF65-F5344CB8AC3E}">
        <p14:creationId xmlns:p14="http://schemas.microsoft.com/office/powerpoint/2010/main" val="37023440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20</a:t>
            </a:fld>
            <a:endParaRPr lang="en-US" altLang="en-US"/>
          </a:p>
        </p:txBody>
      </p:sp>
    </p:spTree>
    <p:extLst>
      <p:ext uri="{BB962C8B-B14F-4D97-AF65-F5344CB8AC3E}">
        <p14:creationId xmlns:p14="http://schemas.microsoft.com/office/powerpoint/2010/main" val="15481527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21</a:t>
            </a:fld>
            <a:endParaRPr lang="en-US" altLang="en-US"/>
          </a:p>
        </p:txBody>
      </p:sp>
    </p:spTree>
    <p:extLst>
      <p:ext uri="{BB962C8B-B14F-4D97-AF65-F5344CB8AC3E}">
        <p14:creationId xmlns:p14="http://schemas.microsoft.com/office/powerpoint/2010/main" val="362696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22</a:t>
            </a:fld>
            <a:endParaRPr lang="en-US" altLang="en-US"/>
          </a:p>
        </p:txBody>
      </p:sp>
    </p:spTree>
    <p:extLst>
      <p:ext uri="{BB962C8B-B14F-4D97-AF65-F5344CB8AC3E}">
        <p14:creationId xmlns:p14="http://schemas.microsoft.com/office/powerpoint/2010/main" val="2778663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23</a:t>
            </a:fld>
            <a:endParaRPr lang="en-US" altLang="en-US"/>
          </a:p>
        </p:txBody>
      </p:sp>
    </p:spTree>
    <p:extLst>
      <p:ext uri="{BB962C8B-B14F-4D97-AF65-F5344CB8AC3E}">
        <p14:creationId xmlns:p14="http://schemas.microsoft.com/office/powerpoint/2010/main" val="1491375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24</a:t>
            </a:fld>
            <a:endParaRPr lang="en-US" altLang="en-US"/>
          </a:p>
        </p:txBody>
      </p:sp>
    </p:spTree>
    <p:extLst>
      <p:ext uri="{BB962C8B-B14F-4D97-AF65-F5344CB8AC3E}">
        <p14:creationId xmlns:p14="http://schemas.microsoft.com/office/powerpoint/2010/main" val="6729666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25</a:t>
            </a:fld>
            <a:endParaRPr lang="en-US" altLang="en-US"/>
          </a:p>
        </p:txBody>
      </p:sp>
    </p:spTree>
    <p:extLst>
      <p:ext uri="{BB962C8B-B14F-4D97-AF65-F5344CB8AC3E}">
        <p14:creationId xmlns:p14="http://schemas.microsoft.com/office/powerpoint/2010/main" val="33572813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26</a:t>
            </a:fld>
            <a:endParaRPr lang="en-US" altLang="en-US"/>
          </a:p>
        </p:txBody>
      </p:sp>
    </p:spTree>
    <p:extLst>
      <p:ext uri="{BB962C8B-B14F-4D97-AF65-F5344CB8AC3E}">
        <p14:creationId xmlns:p14="http://schemas.microsoft.com/office/powerpoint/2010/main" val="41979274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27</a:t>
            </a:fld>
            <a:endParaRPr lang="en-US" altLang="en-US"/>
          </a:p>
        </p:txBody>
      </p:sp>
    </p:spTree>
    <p:extLst>
      <p:ext uri="{BB962C8B-B14F-4D97-AF65-F5344CB8AC3E}">
        <p14:creationId xmlns:p14="http://schemas.microsoft.com/office/powerpoint/2010/main" val="37032709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28</a:t>
            </a:fld>
            <a:endParaRPr lang="en-US" altLang="en-US"/>
          </a:p>
        </p:txBody>
      </p:sp>
    </p:spTree>
    <p:extLst>
      <p:ext uri="{BB962C8B-B14F-4D97-AF65-F5344CB8AC3E}">
        <p14:creationId xmlns:p14="http://schemas.microsoft.com/office/powerpoint/2010/main" val="31222390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29</a:t>
            </a:fld>
            <a:endParaRPr lang="en-US" altLang="en-US"/>
          </a:p>
        </p:txBody>
      </p:sp>
    </p:spTree>
    <p:extLst>
      <p:ext uri="{BB962C8B-B14F-4D97-AF65-F5344CB8AC3E}">
        <p14:creationId xmlns:p14="http://schemas.microsoft.com/office/powerpoint/2010/main" val="18257674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30</a:t>
            </a:fld>
            <a:endParaRPr lang="en-US" altLang="en-US"/>
          </a:p>
        </p:txBody>
      </p:sp>
    </p:spTree>
    <p:extLst>
      <p:ext uri="{BB962C8B-B14F-4D97-AF65-F5344CB8AC3E}">
        <p14:creationId xmlns:p14="http://schemas.microsoft.com/office/powerpoint/2010/main" val="669155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4F155C-6C9D-4ED5-8550-5376FDF284CA}" type="slidenum">
              <a:rPr lang="en-US" altLang="en-US" smtClean="0"/>
              <a:pPr/>
              <a:t>31</a:t>
            </a:fld>
            <a:endParaRPr lang="en-US" altLang="en-US"/>
          </a:p>
        </p:txBody>
      </p:sp>
    </p:spTree>
    <p:extLst>
      <p:ext uri="{BB962C8B-B14F-4D97-AF65-F5344CB8AC3E}">
        <p14:creationId xmlns:p14="http://schemas.microsoft.com/office/powerpoint/2010/main" val="21138260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slideMaster" Target="../slideMasters/slideMaster1.xml"/><Relationship Id="rId4"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6" name="Slide Number Placeholder 5"/>
          <p:cNvSpPr>
            <a:spLocks noGrp="1"/>
          </p:cNvSpPr>
          <p:nvPr>
            <p:ph type="sldNum" sz="quarter" idx="12"/>
            <p:custDataLst>
              <p:tags r:id="rId4"/>
            </p:custDataLst>
          </p:nvPr>
        </p:nvSpPr>
        <p:spPr/>
        <p:txBody>
          <a:bodyPr/>
          <a:lstStyle>
            <a:lvl2pPr lvl="1">
              <a:defRPr/>
            </a:lvl2pPr>
          </a:lstStyle>
          <a:p>
            <a:pPr lvl="1"/>
            <a:fld id="{75A2B101-C660-424C-9ADC-11231547BD22}" type="slidenum">
              <a:rPr lang="en-US" altLang="en-US" smtClean="0"/>
              <a:pPr lvl="1"/>
              <a:t>‹#›</a:t>
            </a:fld>
            <a:endParaRPr lang="en-US" altLang="en-US"/>
          </a:p>
        </p:txBody>
      </p:sp>
      <p:pic>
        <p:nvPicPr>
          <p:cNvPr id="7" name="Picture 6" descr="LOGO_200"/>
          <p:cNvPicPr>
            <a:picLocks noChangeAspect="1" noChangeArrowheads="1"/>
          </p:cNvPicPr>
          <p:nvPr/>
        </p:nvPicPr>
        <p:blipFill>
          <a:blip r:embed="rId6" cstate="print"/>
          <a:srcRect/>
          <a:stretch>
            <a:fillRect/>
          </a:stretch>
        </p:blipFill>
        <p:spPr bwMode="auto">
          <a:xfrm>
            <a:off x="3276600" y="228600"/>
            <a:ext cx="2286000" cy="2286000"/>
          </a:xfrm>
          <a:prstGeom prst="rect">
            <a:avLst/>
          </a:prstGeom>
          <a:noFill/>
          <a:ln w="9525">
            <a:noFill/>
            <a:miter lim="800000"/>
            <a:headEnd/>
            <a:tailEnd/>
          </a:ln>
        </p:spPr>
      </p:pic>
      <p:pic>
        <p:nvPicPr>
          <p:cNvPr id="8" name="Picture 7" descr="LOGO_200"/>
          <p:cNvPicPr>
            <a:picLocks noChangeAspect="1" noChangeArrowheads="1"/>
          </p:cNvPicPr>
          <p:nvPr/>
        </p:nvPicPr>
        <p:blipFill>
          <a:blip r:embed="rId6" cstate="print"/>
          <a:srcRect/>
          <a:stretch>
            <a:fillRect/>
          </a:stretch>
        </p:blipFill>
        <p:spPr bwMode="auto">
          <a:xfrm>
            <a:off x="3276600" y="228600"/>
            <a:ext cx="2286000" cy="2286000"/>
          </a:xfrm>
          <a:prstGeom prst="rect">
            <a:avLst/>
          </a:prstGeom>
          <a:noFill/>
          <a:ln w="9525">
            <a:noFill/>
            <a:miter lim="800000"/>
            <a:headEnd/>
            <a:tailEnd/>
          </a:ln>
        </p:spPr>
      </p:pic>
    </p:spTree>
    <p:extLst>
      <p:ext uri="{BB962C8B-B14F-4D97-AF65-F5344CB8AC3E}">
        <p14:creationId xmlns:p14="http://schemas.microsoft.com/office/powerpoint/2010/main" val="295510146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6" name="Slide Number Placeholder 5"/>
          <p:cNvSpPr>
            <a:spLocks noGrp="1"/>
          </p:cNvSpPr>
          <p:nvPr>
            <p:ph type="sldNum" sz="quarter" idx="12"/>
            <p:custDataLst>
              <p:tags r:id="rId4"/>
            </p:custDataLst>
          </p:nvPr>
        </p:nvSpPr>
        <p:spPr/>
        <p:txBody>
          <a:bodyPr/>
          <a:lstStyle>
            <a:lvl2pPr lvl="1">
              <a:defRPr/>
            </a:lvl2pPr>
          </a:lstStyle>
          <a:p>
            <a:pPr lvl="1"/>
            <a:fld id="{35B60D93-CC8C-4BE3-8466-59E10CB9DAB3}" type="slidenum">
              <a:rPr lang="en-US" altLang="en-US" smtClean="0"/>
              <a:pPr lvl="1"/>
              <a:t>‹#›</a:t>
            </a:fld>
            <a:endParaRPr lang="en-US" altLang="en-US">
              <a:latin typeface="Calibri" panose="020F0502020204030204" pitchFamily="34" charset="0"/>
            </a:endParaRPr>
          </a:p>
        </p:txBody>
      </p:sp>
    </p:spTree>
    <p:extLst>
      <p:ext uri="{BB962C8B-B14F-4D97-AF65-F5344CB8AC3E}">
        <p14:creationId xmlns:p14="http://schemas.microsoft.com/office/powerpoint/2010/main" val="2235375274"/>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4"/>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custDataLst>
              <p:tags r:id="rId5"/>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custDataLst>
              <p:tags r:id="rId6"/>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6" name="Slide Number Placeholder 5"/>
          <p:cNvSpPr>
            <a:spLocks noGrp="1"/>
          </p:cNvSpPr>
          <p:nvPr>
            <p:ph type="sldNum" sz="quarter" idx="4"/>
            <p:custDataLst>
              <p:tags r:id="rId7"/>
            </p:custDataLst>
          </p:nvPr>
        </p:nvSpPr>
        <p:spPr>
          <a:xfrm>
            <a:off x="7620000" y="6356350"/>
            <a:ext cx="1066800" cy="365125"/>
          </a:xfrm>
          <a:prstGeom prst="rect">
            <a:avLst/>
          </a:prstGeom>
        </p:spPr>
        <p:txBody>
          <a:bodyPr vert="horz" lIns="91440" tIns="45720" rIns="91440" bIns="45720" rtlCol="0" anchor="ctr"/>
          <a:lstStyle>
            <a:lvl1pPr algn="r">
              <a:defRPr sz="1200">
                <a:solidFill>
                  <a:schemeClr val="tx1">
                    <a:tint val="75000"/>
                  </a:schemeClr>
                </a:solidFill>
              </a:defRPr>
            </a:lvl1pPr>
            <a:lvl2pPr lvl="1" algn="r">
              <a:defRPr baseline="0">
                <a:latin typeface="Calibri" panose="020F0502020204030204" pitchFamily="34" charset="0"/>
              </a:defRPr>
            </a:lvl2pPr>
          </a:lstStyle>
          <a:p>
            <a:pPr lvl="1"/>
            <a:fld id="{364C03C9-A82B-4593-8D4F-5FC476352E11}" type="slidenum">
              <a:rPr lang="en-US" altLang="en-US" smtClean="0"/>
              <a:pPr lvl="1"/>
              <a:t>‹#›</a:t>
            </a:fld>
            <a:endParaRPr lang="en-US" altLang="en-US"/>
          </a:p>
        </p:txBody>
      </p:sp>
    </p:spTree>
    <p:extLst>
      <p:ext uri="{BB962C8B-B14F-4D97-AF65-F5344CB8AC3E}">
        <p14:creationId xmlns:p14="http://schemas.microsoft.com/office/powerpoint/2010/main" val="2379839104"/>
      </p:ext>
    </p:extLst>
  </p:cSld>
  <p:clrMap bg1="lt1" tx1="dk1" bg2="lt2" tx2="dk2" accent1="accent1" accent2="accent2" accent3="accent3" accent4="accent4" accent5="accent5" accent6="accent6" hlink="hlink" folHlink="folHlink"/>
  <p:sldLayoutIdLst>
    <p:sldLayoutId id="2147483701" r:id="rId1"/>
    <p:sldLayoutId id="2147483702" r:id="rId2"/>
  </p:sldLayoutIdLst>
  <p:transition/>
  <p:hf hdr="0" dt="0"/>
  <p:txStyles>
    <p:titleStyle>
      <a:lvl1pPr algn="ctr" rtl="0" eaLnBrk="1" fontAlgn="base" hangingPunct="1">
        <a:spcBef>
          <a:spcPct val="0"/>
        </a:spcBef>
        <a:spcAft>
          <a:spcPct val="0"/>
        </a:spcAft>
        <a:defRPr sz="4400" b="0" i="0" u="none"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20.xml"/></Relationships>
</file>

<file path=ppt/slides/_rels/slide3.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24.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35.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38.xml"/><Relationship Id="rId7"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9" Type="http://schemas.openxmlformats.org/officeDocument/2006/relationships/image" Target="../media/image2.emf"/></Relationships>
</file>

<file path=ppt/slides/_rels/slide7.xml.rels><?xml version="1.0" encoding="UTF-8" standalone="yes"?>
<Relationships xmlns="http://schemas.openxmlformats.org/package/2006/relationships"><Relationship Id="rId8" Type="http://schemas.openxmlformats.org/officeDocument/2006/relationships/tags" Target="../tags/tag49.xml"/><Relationship Id="rId3" Type="http://schemas.openxmlformats.org/officeDocument/2006/relationships/tags" Target="../tags/tag44.xml"/><Relationship Id="rId7" Type="http://schemas.openxmlformats.org/officeDocument/2006/relationships/tags" Target="../tags/tag48.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5" Type="http://schemas.openxmlformats.org/officeDocument/2006/relationships/tags" Target="../tags/tag46.xml"/><Relationship Id="rId10" Type="http://schemas.openxmlformats.org/officeDocument/2006/relationships/notesSlide" Target="../notesSlides/notesSlide7.xml"/><Relationship Id="rId4" Type="http://schemas.openxmlformats.org/officeDocument/2006/relationships/tags" Target="../tags/tag45.xml"/><Relationship Id="rId9"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tags" Target="../tags/tag57.xml"/><Relationship Id="rId3" Type="http://schemas.openxmlformats.org/officeDocument/2006/relationships/tags" Target="../tags/tag52.xml"/><Relationship Id="rId7" Type="http://schemas.openxmlformats.org/officeDocument/2006/relationships/tags" Target="../tags/tag56.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10" Type="http://schemas.openxmlformats.org/officeDocument/2006/relationships/notesSlide" Target="../notesSlides/notesSlide8.xml"/><Relationship Id="rId4" Type="http://schemas.openxmlformats.org/officeDocument/2006/relationships/tags" Target="../tags/tag53.xml"/><Relationship Id="rId9"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image" Target="../media/image3.jpeg"/><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notesSlide" Target="../notesSlides/notesSlide9.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slideLayout" Target="../slideLayouts/slideLayout2.xml"/><Relationship Id="rId5" Type="http://schemas.openxmlformats.org/officeDocument/2006/relationships/tags" Target="../tags/tag62.xml"/><Relationship Id="rId10" Type="http://schemas.openxmlformats.org/officeDocument/2006/relationships/tags" Target="../tags/tag67.xml"/><Relationship Id="rId4" Type="http://schemas.openxmlformats.org/officeDocument/2006/relationships/tags" Target="../tags/tag61.xml"/><Relationship Id="rId9" Type="http://schemas.openxmlformats.org/officeDocument/2006/relationships/tags" Target="../tags/tag66.xml"/></Relationships>
</file>

<file path=ppt/slides/_rels/slide10.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10" Type="http://schemas.openxmlformats.org/officeDocument/2006/relationships/notesSlide" Target="../notesSlides/notesSlide10.xml"/><Relationship Id="rId4" Type="http://schemas.openxmlformats.org/officeDocument/2006/relationships/tags" Target="../tags/tag71.xml"/><Relationship Id="rId9"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tags" Target="../tags/tag88.xml"/><Relationship Id="rId18" Type="http://schemas.openxmlformats.org/officeDocument/2006/relationships/tags" Target="../tags/tag93.xml"/><Relationship Id="rId26" Type="http://schemas.openxmlformats.org/officeDocument/2006/relationships/tags" Target="../tags/tag101.xml"/><Relationship Id="rId3" Type="http://schemas.openxmlformats.org/officeDocument/2006/relationships/tags" Target="../tags/tag78.xml"/><Relationship Id="rId21" Type="http://schemas.openxmlformats.org/officeDocument/2006/relationships/tags" Target="../tags/tag96.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tags" Target="../tags/tag92.xml"/><Relationship Id="rId25" Type="http://schemas.openxmlformats.org/officeDocument/2006/relationships/tags" Target="../tags/tag100.xml"/><Relationship Id="rId2" Type="http://schemas.openxmlformats.org/officeDocument/2006/relationships/tags" Target="../tags/tag77.xml"/><Relationship Id="rId16" Type="http://schemas.openxmlformats.org/officeDocument/2006/relationships/tags" Target="../tags/tag91.xml"/><Relationship Id="rId20" Type="http://schemas.openxmlformats.org/officeDocument/2006/relationships/tags" Target="../tags/tag95.xml"/><Relationship Id="rId29" Type="http://schemas.openxmlformats.org/officeDocument/2006/relationships/notesSlide" Target="../notesSlides/notesSlide11.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24" Type="http://schemas.openxmlformats.org/officeDocument/2006/relationships/tags" Target="../tags/tag99.xml"/><Relationship Id="rId5" Type="http://schemas.openxmlformats.org/officeDocument/2006/relationships/tags" Target="../tags/tag80.xml"/><Relationship Id="rId15" Type="http://schemas.openxmlformats.org/officeDocument/2006/relationships/tags" Target="../tags/tag90.xml"/><Relationship Id="rId23" Type="http://schemas.openxmlformats.org/officeDocument/2006/relationships/tags" Target="../tags/tag98.xml"/><Relationship Id="rId28" Type="http://schemas.openxmlformats.org/officeDocument/2006/relationships/slideLayout" Target="../slideLayouts/slideLayout2.xml"/><Relationship Id="rId10" Type="http://schemas.openxmlformats.org/officeDocument/2006/relationships/tags" Target="../tags/tag85.xml"/><Relationship Id="rId19" Type="http://schemas.openxmlformats.org/officeDocument/2006/relationships/tags" Target="../tags/tag94.xml"/><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tags" Target="../tags/tag89.xml"/><Relationship Id="rId22" Type="http://schemas.openxmlformats.org/officeDocument/2006/relationships/tags" Target="../tags/tag97.xml"/><Relationship Id="rId27" Type="http://schemas.openxmlformats.org/officeDocument/2006/relationships/tags" Target="../tags/tag102.xml"/><Relationship Id="rId30" Type="http://schemas.openxmlformats.org/officeDocument/2006/relationships/image" Target="../media/image3.jpeg"/></Relationships>
</file>

<file path=ppt/slides/_rels/slide12.xml.rels><?xml version="1.0" encoding="UTF-8" standalone="yes"?>
<Relationships xmlns="http://schemas.openxmlformats.org/package/2006/relationships"><Relationship Id="rId8" Type="http://schemas.openxmlformats.org/officeDocument/2006/relationships/tags" Target="../tags/tag110.xml"/><Relationship Id="rId3" Type="http://schemas.openxmlformats.org/officeDocument/2006/relationships/tags" Target="../tags/tag105.xml"/><Relationship Id="rId7" Type="http://schemas.openxmlformats.org/officeDocument/2006/relationships/tags" Target="../tags/tag109.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notesSlide" Target="../notesSlides/notesSlide12.xml"/><Relationship Id="rId5" Type="http://schemas.openxmlformats.org/officeDocument/2006/relationships/tags" Target="../tags/tag107.xml"/><Relationship Id="rId10" Type="http://schemas.openxmlformats.org/officeDocument/2006/relationships/slideLayout" Target="../slideLayouts/slideLayout2.xml"/><Relationship Id="rId4" Type="http://schemas.openxmlformats.org/officeDocument/2006/relationships/tags" Target="../tags/tag106.xml"/><Relationship Id="rId9" Type="http://schemas.openxmlformats.org/officeDocument/2006/relationships/tags" Target="../tags/tag111.xml"/></Relationships>
</file>

<file path=ppt/slides/_rels/slide13.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notesSlide" Target="../notesSlides/notesSlide13.xml"/><Relationship Id="rId5" Type="http://schemas.openxmlformats.org/officeDocument/2006/relationships/tags" Target="../tags/tag116.xml"/><Relationship Id="rId10" Type="http://schemas.openxmlformats.org/officeDocument/2006/relationships/slideLayout" Target="../slideLayouts/slideLayout2.xml"/><Relationship Id="rId4" Type="http://schemas.openxmlformats.org/officeDocument/2006/relationships/tags" Target="../tags/tag115.xml"/><Relationship Id="rId9" Type="http://schemas.openxmlformats.org/officeDocument/2006/relationships/tags" Target="../tags/tag120.xml"/></Relationships>
</file>

<file path=ppt/slides/_rels/slide14.xml.rels><?xml version="1.0" encoding="UTF-8" standalone="yes"?>
<Relationships xmlns="http://schemas.openxmlformats.org/package/2006/relationships"><Relationship Id="rId8" Type="http://schemas.openxmlformats.org/officeDocument/2006/relationships/tags" Target="../tags/tag128.xml"/><Relationship Id="rId3" Type="http://schemas.openxmlformats.org/officeDocument/2006/relationships/tags" Target="../tags/tag123.xml"/><Relationship Id="rId7" Type="http://schemas.openxmlformats.org/officeDocument/2006/relationships/tags" Target="../tags/tag127.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5" Type="http://schemas.openxmlformats.org/officeDocument/2006/relationships/tags" Target="../tags/tag125.xml"/><Relationship Id="rId10" Type="http://schemas.openxmlformats.org/officeDocument/2006/relationships/notesSlide" Target="../notesSlides/notesSlide14.xml"/><Relationship Id="rId4" Type="http://schemas.openxmlformats.org/officeDocument/2006/relationships/tags" Target="../tags/tag124.xml"/><Relationship Id="rId9"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notesSlide" Target="../notesSlides/notesSlide15.xml"/><Relationship Id="rId4" Type="http://schemas.openxmlformats.org/officeDocument/2006/relationships/tags" Target="../tags/tag132.xml"/><Relationship Id="rId9"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144.xml"/><Relationship Id="rId3" Type="http://schemas.openxmlformats.org/officeDocument/2006/relationships/tags" Target="../tags/tag139.xml"/><Relationship Id="rId7" Type="http://schemas.openxmlformats.org/officeDocument/2006/relationships/tags" Target="../tags/tag143.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notesSlide" Target="../notesSlides/notesSlide16.xml"/><Relationship Id="rId5" Type="http://schemas.openxmlformats.org/officeDocument/2006/relationships/tags" Target="../tags/tag141.xml"/><Relationship Id="rId10" Type="http://schemas.openxmlformats.org/officeDocument/2006/relationships/slideLayout" Target="../slideLayouts/slideLayout2.xml"/><Relationship Id="rId4" Type="http://schemas.openxmlformats.org/officeDocument/2006/relationships/tags" Target="../tags/tag140.xml"/><Relationship Id="rId9" Type="http://schemas.openxmlformats.org/officeDocument/2006/relationships/tags" Target="../tags/tag145.xml"/></Relationships>
</file>

<file path=ppt/slides/_rels/slide17.xml.rels><?xml version="1.0" encoding="UTF-8" standalone="yes"?>
<Relationships xmlns="http://schemas.openxmlformats.org/package/2006/relationships"><Relationship Id="rId8" Type="http://schemas.openxmlformats.org/officeDocument/2006/relationships/tags" Target="../tags/tag153.xml"/><Relationship Id="rId3" Type="http://schemas.openxmlformats.org/officeDocument/2006/relationships/tags" Target="../tags/tag148.xml"/><Relationship Id="rId7" Type="http://schemas.openxmlformats.org/officeDocument/2006/relationships/tags" Target="../tags/tag152.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notesSlide" Target="../notesSlides/notesSlide17.xml"/><Relationship Id="rId5" Type="http://schemas.openxmlformats.org/officeDocument/2006/relationships/tags" Target="../tags/tag150.xml"/><Relationship Id="rId10" Type="http://schemas.openxmlformats.org/officeDocument/2006/relationships/slideLayout" Target="../slideLayouts/slideLayout2.xml"/><Relationship Id="rId4" Type="http://schemas.openxmlformats.org/officeDocument/2006/relationships/tags" Target="../tags/tag149.xml"/><Relationship Id="rId9" Type="http://schemas.openxmlformats.org/officeDocument/2006/relationships/tags" Target="../tags/tag154.xml"/></Relationships>
</file>

<file path=ppt/slides/_rels/slide18.xml.rels><?xml version="1.0" encoding="UTF-8" standalone="yes"?>
<Relationships xmlns="http://schemas.openxmlformats.org/package/2006/relationships"><Relationship Id="rId8" Type="http://schemas.openxmlformats.org/officeDocument/2006/relationships/tags" Target="../tags/tag162.xml"/><Relationship Id="rId13" Type="http://schemas.openxmlformats.org/officeDocument/2006/relationships/tags" Target="../tags/tag167.xml"/><Relationship Id="rId18" Type="http://schemas.openxmlformats.org/officeDocument/2006/relationships/notesSlide" Target="../notesSlides/notesSlide18.xml"/><Relationship Id="rId3" Type="http://schemas.openxmlformats.org/officeDocument/2006/relationships/tags" Target="../tags/tag157.xml"/><Relationship Id="rId7" Type="http://schemas.openxmlformats.org/officeDocument/2006/relationships/tags" Target="../tags/tag161.xml"/><Relationship Id="rId12" Type="http://schemas.openxmlformats.org/officeDocument/2006/relationships/tags" Target="../tags/tag166.xml"/><Relationship Id="rId17" Type="http://schemas.openxmlformats.org/officeDocument/2006/relationships/slideLayout" Target="../slideLayouts/slideLayout2.xml"/><Relationship Id="rId2" Type="http://schemas.openxmlformats.org/officeDocument/2006/relationships/tags" Target="../tags/tag156.xml"/><Relationship Id="rId16" Type="http://schemas.openxmlformats.org/officeDocument/2006/relationships/tags" Target="../tags/tag170.xml"/><Relationship Id="rId1" Type="http://schemas.openxmlformats.org/officeDocument/2006/relationships/tags" Target="../tags/tag155.xml"/><Relationship Id="rId6" Type="http://schemas.openxmlformats.org/officeDocument/2006/relationships/tags" Target="../tags/tag160.xml"/><Relationship Id="rId11" Type="http://schemas.openxmlformats.org/officeDocument/2006/relationships/tags" Target="../tags/tag165.xml"/><Relationship Id="rId5" Type="http://schemas.openxmlformats.org/officeDocument/2006/relationships/tags" Target="../tags/tag159.xml"/><Relationship Id="rId15" Type="http://schemas.openxmlformats.org/officeDocument/2006/relationships/tags" Target="../tags/tag169.xml"/><Relationship Id="rId10" Type="http://schemas.openxmlformats.org/officeDocument/2006/relationships/tags" Target="../tags/tag164.xml"/><Relationship Id="rId4" Type="http://schemas.openxmlformats.org/officeDocument/2006/relationships/tags" Target="../tags/tag158.xml"/><Relationship Id="rId9" Type="http://schemas.openxmlformats.org/officeDocument/2006/relationships/tags" Target="../tags/tag163.xml"/><Relationship Id="rId14" Type="http://schemas.openxmlformats.org/officeDocument/2006/relationships/tags" Target="../tags/tag168.xml"/></Relationships>
</file>

<file path=ppt/slides/_rels/slide19.xml.rels><?xml version="1.0" encoding="UTF-8" standalone="yes"?>
<Relationships xmlns="http://schemas.openxmlformats.org/package/2006/relationships"><Relationship Id="rId8" Type="http://schemas.openxmlformats.org/officeDocument/2006/relationships/tags" Target="../tags/tag178.xml"/><Relationship Id="rId3" Type="http://schemas.openxmlformats.org/officeDocument/2006/relationships/tags" Target="../tags/tag173.xml"/><Relationship Id="rId7" Type="http://schemas.openxmlformats.org/officeDocument/2006/relationships/tags" Target="../tags/tag177.xml"/><Relationship Id="rId12" Type="http://schemas.openxmlformats.org/officeDocument/2006/relationships/notesSlide" Target="../notesSlides/notesSlide19.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slideLayout" Target="../slideLayouts/slideLayout2.xml"/><Relationship Id="rId5" Type="http://schemas.openxmlformats.org/officeDocument/2006/relationships/tags" Target="../tags/tag175.xml"/><Relationship Id="rId10" Type="http://schemas.openxmlformats.org/officeDocument/2006/relationships/tags" Target="../tags/tag180.xml"/><Relationship Id="rId4" Type="http://schemas.openxmlformats.org/officeDocument/2006/relationships/tags" Target="../tags/tag174.xml"/><Relationship Id="rId9" Type="http://schemas.openxmlformats.org/officeDocument/2006/relationships/tags" Target="../tags/tag179.xml"/></Relationships>
</file>

<file path=ppt/slides/_rels/slide20.xml.rels><?xml version="1.0" encoding="UTF-8" standalone="yes"?>
<Relationships xmlns="http://schemas.openxmlformats.org/package/2006/relationships"><Relationship Id="rId8" Type="http://schemas.openxmlformats.org/officeDocument/2006/relationships/tags" Target="../tags/tag188.xml"/><Relationship Id="rId13" Type="http://schemas.openxmlformats.org/officeDocument/2006/relationships/tags" Target="../tags/tag193.xml"/><Relationship Id="rId18" Type="http://schemas.openxmlformats.org/officeDocument/2006/relationships/tags" Target="../tags/tag198.xml"/><Relationship Id="rId3" Type="http://schemas.openxmlformats.org/officeDocument/2006/relationships/tags" Target="../tags/tag183.xml"/><Relationship Id="rId21" Type="http://schemas.openxmlformats.org/officeDocument/2006/relationships/tags" Target="../tags/tag201.xml"/><Relationship Id="rId7" Type="http://schemas.openxmlformats.org/officeDocument/2006/relationships/tags" Target="../tags/tag187.xml"/><Relationship Id="rId12" Type="http://schemas.openxmlformats.org/officeDocument/2006/relationships/tags" Target="../tags/tag192.xml"/><Relationship Id="rId17" Type="http://schemas.openxmlformats.org/officeDocument/2006/relationships/tags" Target="../tags/tag197.xml"/><Relationship Id="rId2" Type="http://schemas.openxmlformats.org/officeDocument/2006/relationships/tags" Target="../tags/tag182.xml"/><Relationship Id="rId16" Type="http://schemas.openxmlformats.org/officeDocument/2006/relationships/tags" Target="../tags/tag196.xml"/><Relationship Id="rId20" Type="http://schemas.openxmlformats.org/officeDocument/2006/relationships/tags" Target="../tags/tag200.xml"/><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tags" Target="../tags/tag191.xml"/><Relationship Id="rId24" Type="http://schemas.openxmlformats.org/officeDocument/2006/relationships/notesSlide" Target="../notesSlides/notesSlide20.xml"/><Relationship Id="rId5" Type="http://schemas.openxmlformats.org/officeDocument/2006/relationships/tags" Target="../tags/tag185.xml"/><Relationship Id="rId15" Type="http://schemas.openxmlformats.org/officeDocument/2006/relationships/tags" Target="../tags/tag195.xml"/><Relationship Id="rId23" Type="http://schemas.openxmlformats.org/officeDocument/2006/relationships/slideLayout" Target="../slideLayouts/slideLayout2.xml"/><Relationship Id="rId10" Type="http://schemas.openxmlformats.org/officeDocument/2006/relationships/tags" Target="../tags/tag190.xml"/><Relationship Id="rId19" Type="http://schemas.openxmlformats.org/officeDocument/2006/relationships/tags" Target="../tags/tag199.xml"/><Relationship Id="rId4" Type="http://schemas.openxmlformats.org/officeDocument/2006/relationships/tags" Target="../tags/tag184.xml"/><Relationship Id="rId9" Type="http://schemas.openxmlformats.org/officeDocument/2006/relationships/tags" Target="../tags/tag189.xml"/><Relationship Id="rId14" Type="http://schemas.openxmlformats.org/officeDocument/2006/relationships/tags" Target="../tags/tag194.xml"/><Relationship Id="rId22" Type="http://schemas.openxmlformats.org/officeDocument/2006/relationships/tags" Target="../tags/tag202.xml"/></Relationships>
</file>

<file path=ppt/slides/_rels/slide21.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notesSlide" Target="../notesSlides/notesSlide21.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slideLayout" Target="../slideLayouts/slideLayout2.xml"/><Relationship Id="rId5" Type="http://schemas.openxmlformats.org/officeDocument/2006/relationships/tags" Target="../tags/tag207.xml"/><Relationship Id="rId10" Type="http://schemas.openxmlformats.org/officeDocument/2006/relationships/tags" Target="../tags/tag212.xml"/><Relationship Id="rId4" Type="http://schemas.openxmlformats.org/officeDocument/2006/relationships/tags" Target="../tags/tag206.xml"/><Relationship Id="rId9" Type="http://schemas.openxmlformats.org/officeDocument/2006/relationships/tags" Target="../tags/tag211.xml"/></Relationships>
</file>

<file path=ppt/slides/_rels/slide22.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tags" Target="../tags/tag216.xml"/></Relationships>
</file>

<file path=ppt/slides/_rels/slide23.xml.rels><?xml version="1.0" encoding="UTF-8" standalone="yes"?>
<Relationships xmlns="http://schemas.openxmlformats.org/package/2006/relationships"><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tags" Target="../tags/tag220.xml"/></Relationships>
</file>

<file path=ppt/slides/_rels/slide24.xml.rels><?xml version="1.0" encoding="UTF-8" standalone="yes"?>
<Relationships xmlns="http://schemas.openxmlformats.org/package/2006/relationships"><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tags" Target="../tags/tag224.xml"/></Relationships>
</file>

<file path=ppt/slides/_rels/slide25.xml.rels><?xml version="1.0" encoding="UTF-8" standalone="yes"?>
<Relationships xmlns="http://schemas.openxmlformats.org/package/2006/relationships"><Relationship Id="rId8" Type="http://schemas.openxmlformats.org/officeDocument/2006/relationships/tags" Target="../tags/tag232.xml"/><Relationship Id="rId13" Type="http://schemas.openxmlformats.org/officeDocument/2006/relationships/notesSlide" Target="../notesSlides/notesSlide25.xml"/><Relationship Id="rId3" Type="http://schemas.openxmlformats.org/officeDocument/2006/relationships/tags" Target="../tags/tag227.xml"/><Relationship Id="rId7" Type="http://schemas.openxmlformats.org/officeDocument/2006/relationships/tags" Target="../tags/tag231.xml"/><Relationship Id="rId12" Type="http://schemas.openxmlformats.org/officeDocument/2006/relationships/slideLayout" Target="../slideLayouts/slideLayout2.xml"/><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tags" Target="../tags/tag230.xml"/><Relationship Id="rId11" Type="http://schemas.openxmlformats.org/officeDocument/2006/relationships/tags" Target="../tags/tag235.xml"/><Relationship Id="rId5" Type="http://schemas.openxmlformats.org/officeDocument/2006/relationships/tags" Target="../tags/tag229.xml"/><Relationship Id="rId10" Type="http://schemas.openxmlformats.org/officeDocument/2006/relationships/tags" Target="../tags/tag234.xml"/><Relationship Id="rId4" Type="http://schemas.openxmlformats.org/officeDocument/2006/relationships/tags" Target="../tags/tag228.xml"/><Relationship Id="rId9" Type="http://schemas.openxmlformats.org/officeDocument/2006/relationships/tags" Target="../tags/tag233.xml"/><Relationship Id="rId14" Type="http://schemas.openxmlformats.org/officeDocument/2006/relationships/image" Target="../media/image4.emf"/></Relationships>
</file>

<file path=ppt/slides/_rels/slide26.xml.rels><?xml version="1.0" encoding="UTF-8" standalone="yes"?>
<Relationships xmlns="http://schemas.openxmlformats.org/package/2006/relationships"><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tags" Target="../tags/tag239.xml"/></Relationships>
</file>

<file path=ppt/slides/_rels/slide27.xml.rels><?xml version="1.0" encoding="UTF-8" standalone="yes"?>
<Relationships xmlns="http://schemas.openxmlformats.org/package/2006/relationships"><Relationship Id="rId3" Type="http://schemas.openxmlformats.org/officeDocument/2006/relationships/tags" Target="../tags/tag242.xml"/><Relationship Id="rId7" Type="http://schemas.openxmlformats.org/officeDocument/2006/relationships/notesSlide" Target="../notesSlides/notesSlide27.xml"/><Relationship Id="rId2" Type="http://schemas.openxmlformats.org/officeDocument/2006/relationships/tags" Target="../tags/tag241.xml"/><Relationship Id="rId1" Type="http://schemas.openxmlformats.org/officeDocument/2006/relationships/tags" Target="../tags/tag240.xml"/><Relationship Id="rId6" Type="http://schemas.openxmlformats.org/officeDocument/2006/relationships/slideLayout" Target="../slideLayouts/slideLayout2.xml"/><Relationship Id="rId5" Type="http://schemas.openxmlformats.org/officeDocument/2006/relationships/tags" Target="../tags/tag244.xml"/><Relationship Id="rId4" Type="http://schemas.openxmlformats.org/officeDocument/2006/relationships/tags" Target="../tags/tag243.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3" Type="http://schemas.openxmlformats.org/officeDocument/2006/relationships/tags" Target="../tags/tag247.xml"/><Relationship Id="rId7" Type="http://schemas.openxmlformats.org/officeDocument/2006/relationships/slideLayout" Target="../slideLayouts/slideLayout2.xml"/><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3" Type="http://schemas.openxmlformats.org/officeDocument/2006/relationships/tags" Target="../tags/tag253.xml"/><Relationship Id="rId7" Type="http://schemas.openxmlformats.org/officeDocument/2006/relationships/slideLayout" Target="../slideLayouts/slideLayout2.xml"/><Relationship Id="rId2" Type="http://schemas.openxmlformats.org/officeDocument/2006/relationships/tags" Target="../tags/tag252.xml"/><Relationship Id="rId1" Type="http://schemas.openxmlformats.org/officeDocument/2006/relationships/tags" Target="../tags/tag251.xml"/><Relationship Id="rId6" Type="http://schemas.openxmlformats.org/officeDocument/2006/relationships/tags" Target="../tags/tag256.xml"/><Relationship Id="rId5" Type="http://schemas.openxmlformats.org/officeDocument/2006/relationships/tags" Target="../tags/tag255.xml"/><Relationship Id="rId4" Type="http://schemas.openxmlformats.org/officeDocument/2006/relationships/tags" Target="../tags/tag254.xml"/></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30.xml"/><Relationship Id="rId3" Type="http://schemas.openxmlformats.org/officeDocument/2006/relationships/tags" Target="../tags/tag259.xml"/><Relationship Id="rId7" Type="http://schemas.openxmlformats.org/officeDocument/2006/relationships/slideLayout" Target="../slideLayouts/slideLayout2.xml"/><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tags" Target="../tags/tag262.xml"/><Relationship Id="rId5" Type="http://schemas.openxmlformats.org/officeDocument/2006/relationships/tags" Target="../tags/tag261.xml"/><Relationship Id="rId4" Type="http://schemas.openxmlformats.org/officeDocument/2006/relationships/tags" Target="../tags/tag260.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3" Type="http://schemas.openxmlformats.org/officeDocument/2006/relationships/tags" Target="../tags/tag265.xml"/><Relationship Id="rId7" Type="http://schemas.openxmlformats.org/officeDocument/2006/relationships/slideLayout" Target="../slideLayouts/slideLayout2.xml"/><Relationship Id="rId2" Type="http://schemas.openxmlformats.org/officeDocument/2006/relationships/tags" Target="../tags/tag264.xml"/><Relationship Id="rId1" Type="http://schemas.openxmlformats.org/officeDocument/2006/relationships/tags" Target="../tags/tag263.xml"/><Relationship Id="rId6" Type="http://schemas.openxmlformats.org/officeDocument/2006/relationships/tags" Target="../tags/tag268.xml"/><Relationship Id="rId5" Type="http://schemas.openxmlformats.org/officeDocument/2006/relationships/tags" Target="../tags/tag267.xml"/><Relationship Id="rId4" Type="http://schemas.openxmlformats.org/officeDocument/2006/relationships/tags" Target="../tags/tag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custDataLst>
              <p:tags r:id="rId2"/>
            </p:custDataLst>
          </p:nvPr>
        </p:nvSpPr>
        <p:spPr>
          <a:xfrm>
            <a:off x="457200" y="2590800"/>
            <a:ext cx="8229600" cy="1524000"/>
          </a:xfrm>
        </p:spPr>
        <p:txBody>
          <a:bodyPr/>
          <a:lstStyle/>
          <a:p>
            <a:pPr eaLnBrk="1" hangingPunct="1"/>
            <a:r>
              <a:rPr lang="en-US" altLang="en-US" dirty="0"/>
              <a:t>ECE/CS 552: Control Hazards and Exceptions</a:t>
            </a:r>
          </a:p>
        </p:txBody>
      </p:sp>
      <p:sp>
        <p:nvSpPr>
          <p:cNvPr id="3" name="Subtitle 2"/>
          <p:cNvSpPr>
            <a:spLocks noGrp="1"/>
          </p:cNvSpPr>
          <p:nvPr>
            <p:ph type="subTitle" idx="1"/>
            <p:custDataLst>
              <p:tags r:id="rId3"/>
            </p:custDataLst>
          </p:nvPr>
        </p:nvSpPr>
        <p:spPr>
          <a:xfrm>
            <a:off x="1371600" y="4114800"/>
            <a:ext cx="6400800" cy="1752600"/>
          </a:xfrm>
        </p:spPr>
        <p:txBody>
          <a:bodyPr>
            <a:normAutofit fontScale="62500" lnSpcReduction="20000"/>
          </a:bodyPr>
          <a:lstStyle/>
          <a:p>
            <a:pPr eaLnBrk="1" hangingPunct="1">
              <a:buFont typeface="Arial" charset="0"/>
              <a:buNone/>
              <a:defRPr/>
            </a:pPr>
            <a:r>
              <a:rPr lang="en-US" dirty="0"/>
              <a:t>Boone Severson</a:t>
            </a:r>
          </a:p>
          <a:p>
            <a:pPr eaLnBrk="1" hangingPunct="1">
              <a:buFont typeface="Arial" charset="0"/>
              <a:buNone/>
              <a:defRPr/>
            </a:pPr>
            <a:r>
              <a:rPr lang="en-US" dirty="0"/>
              <a:t> </a:t>
            </a:r>
          </a:p>
          <a:p>
            <a:pPr>
              <a:defRPr/>
            </a:pPr>
            <a:r>
              <a:rPr lang="en-US" dirty="0"/>
              <a:t>Lecture notes based in part on slides created by Joshua San Miguel, </a:t>
            </a:r>
            <a:r>
              <a:rPr lang="en-US" dirty="0" err="1"/>
              <a:t>Mikko</a:t>
            </a:r>
            <a:r>
              <a:rPr lang="en-US" dirty="0"/>
              <a:t> </a:t>
            </a:r>
            <a:r>
              <a:rPr lang="en-US" dirty="0" err="1"/>
              <a:t>Lipasti</a:t>
            </a:r>
            <a:r>
              <a:rPr lang="en-US" dirty="0"/>
              <a:t>, Mark Hill and John Shen</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extLst>
      <p:ext uri="{BB962C8B-B14F-4D97-AF65-F5344CB8AC3E}">
        <p14:creationId xmlns:p14="http://schemas.microsoft.com/office/powerpoint/2010/main" val="239283850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F3EC079-0D35-4DCC-AB2D-C9FA5B872A18}"/>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Pipeline Hazards</a:t>
            </a:r>
          </a:p>
        </p:txBody>
      </p:sp>
      <p:sp>
        <p:nvSpPr>
          <p:cNvPr id="5123" name="Rectangle 3">
            <a:extLst>
              <a:ext uri="{FF2B5EF4-FFF2-40B4-BE49-F238E27FC236}">
                <a16:creationId xmlns:a16="http://schemas.microsoft.com/office/drawing/2014/main" id="{78C3161D-45D1-4098-8CBC-9A7B22935868}"/>
              </a:ext>
            </a:extLst>
          </p:cNvPr>
          <p:cNvSpPr>
            <a:spLocks noGrp="1" noChangeArrowheads="1"/>
          </p:cNvSpPr>
          <p:nvPr>
            <p:ph idx="1"/>
            <p:custDataLst>
              <p:tags r:id="rId3"/>
            </p:custDataLst>
          </p:nvPr>
        </p:nvSpPr>
        <p:spPr>
          <a:xfrm>
            <a:off x="457200" y="1600200"/>
            <a:ext cx="8229600" cy="4525963"/>
          </a:xfrm>
        </p:spPr>
        <p:txBody>
          <a:bodyPr/>
          <a:lstStyle/>
          <a:p>
            <a:pPr eaLnBrk="1" hangingPunct="1">
              <a:lnSpc>
                <a:spcPct val="80000"/>
              </a:lnSpc>
            </a:pPr>
            <a:r>
              <a:rPr lang="en-US" altLang="en-US" dirty="0"/>
              <a:t>Forecast:</a:t>
            </a:r>
          </a:p>
          <a:p>
            <a:pPr lvl="1" eaLnBrk="1" hangingPunct="1">
              <a:lnSpc>
                <a:spcPct val="90000"/>
              </a:lnSpc>
            </a:pPr>
            <a:r>
              <a:rPr lang="en-US" altLang="en-US" dirty="0"/>
              <a:t>Program Control Dependences</a:t>
            </a:r>
          </a:p>
          <a:p>
            <a:pPr lvl="1" eaLnBrk="1" hangingPunct="1">
              <a:lnSpc>
                <a:spcPct val="90000"/>
              </a:lnSpc>
            </a:pPr>
            <a:r>
              <a:rPr lang="en-US" altLang="en-US" dirty="0"/>
              <a:t>Pipeline Control Hazards</a:t>
            </a:r>
          </a:p>
          <a:p>
            <a:pPr lvl="2" eaLnBrk="1" hangingPunct="1">
              <a:lnSpc>
                <a:spcPct val="90000"/>
              </a:lnSpc>
            </a:pPr>
            <a:r>
              <a:rPr lang="en-US" altLang="en-US" dirty="0"/>
              <a:t>Flushes</a:t>
            </a:r>
          </a:p>
          <a:p>
            <a:pPr lvl="2" eaLnBrk="1" hangingPunct="1">
              <a:lnSpc>
                <a:spcPct val="90000"/>
              </a:lnSpc>
            </a:pPr>
            <a:r>
              <a:rPr lang="en-US" altLang="en-US" dirty="0"/>
              <a:t>Branch delay slots</a:t>
            </a:r>
          </a:p>
          <a:p>
            <a:pPr lvl="2">
              <a:lnSpc>
                <a:spcPct val="90000"/>
              </a:lnSpc>
            </a:pPr>
            <a:r>
              <a:rPr lang="en-US" altLang="en-US" dirty="0"/>
              <a:t>Branch prediction</a:t>
            </a:r>
          </a:p>
          <a:p>
            <a:pPr lvl="1" eaLnBrk="1" hangingPunct="1">
              <a:lnSpc>
                <a:spcPct val="90000"/>
              </a:lnSpc>
            </a:pPr>
            <a:r>
              <a:rPr lang="en-US" altLang="en-US" dirty="0"/>
              <a:t>Exceptions</a:t>
            </a:r>
          </a:p>
        </p:txBody>
      </p:sp>
      <p:sp>
        <p:nvSpPr>
          <p:cNvPr id="2" name="Slide Number Placeholder 1">
            <a:extLst>
              <a:ext uri="{FF2B5EF4-FFF2-40B4-BE49-F238E27FC236}">
                <a16:creationId xmlns:a16="http://schemas.microsoft.com/office/drawing/2014/main" id="{F3402074-F3B2-4C89-8768-68E997FCF064}"/>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7D35A943-3404-41C1-A4FC-3AC4EA9D6BCC}" type="slidenum">
              <a:rPr lang="en-US" altLang="en-US">
                <a:latin typeface="Calibri" panose="020F0502020204030204" pitchFamily="34" charset="0"/>
              </a:rPr>
              <a:pPr lvl="1" eaLnBrk="1" hangingPunct="1"/>
              <a:t>2</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223015058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Program Control Dependences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600200"/>
            <a:ext cx="8229600" cy="4525963"/>
          </a:xfrm>
        </p:spPr>
        <p:txBody>
          <a:bodyPr/>
          <a:lstStyle/>
          <a:p>
            <a:pPr eaLnBrk="1" hangingPunct="1"/>
            <a:r>
              <a:rPr lang="en-US" altLang="en-US" dirty="0"/>
              <a:t>An instruction Y is control-dependent on an instruction X if the outcome of X determines whether or not Y will be executed</a:t>
            </a:r>
          </a:p>
          <a:p>
            <a:pPr lvl="1"/>
            <a:r>
              <a:rPr lang="en-US" altLang="en-US" dirty="0"/>
              <a:t>Due to conditional branches:</a:t>
            </a:r>
          </a:p>
          <a:p>
            <a:pPr lvl="2"/>
            <a:r>
              <a:rPr lang="en-US" altLang="en-US" dirty="0"/>
              <a:t>Branch must execute to determine which instruction to fetch next</a:t>
            </a:r>
          </a:p>
          <a:p>
            <a:pPr lvl="2"/>
            <a:r>
              <a:rPr lang="en-US" altLang="en-US" dirty="0"/>
              <a:t>Instructions following a conditional branch are control-dependent on the branch instruction</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3</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399900558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Program Control Dependence</a:t>
            </a:r>
          </a:p>
        </p:txBody>
      </p:sp>
      <p:sp>
        <p:nvSpPr>
          <p:cNvPr id="2056" name="Rectangle 3"/>
          <p:cNvSpPr>
            <a:spLocks noGrp="1" noChangeArrowheads="1"/>
          </p:cNvSpPr>
          <p:nvPr>
            <p:ph idx="1"/>
            <p:custDataLst>
              <p:tags r:id="rId3"/>
            </p:custDataLst>
          </p:nvPr>
        </p:nvSpPr>
        <p:spPr>
          <a:xfrm>
            <a:off x="682625" y="4114800"/>
            <a:ext cx="8385175" cy="2209800"/>
          </a:xfrm>
        </p:spPr>
        <p:txBody>
          <a:bodyPr/>
          <a:lstStyle/>
          <a:p>
            <a:pPr>
              <a:lnSpc>
                <a:spcPct val="80000"/>
              </a:lnSpc>
            </a:pPr>
            <a:r>
              <a:rPr lang="en-US" altLang="en-US" dirty="0"/>
              <a:t>e.g., List all control dependence:</a:t>
            </a:r>
          </a:p>
          <a:p>
            <a:pPr lvl="1">
              <a:lnSpc>
                <a:spcPct val="80000"/>
              </a:lnSpc>
            </a:pPr>
            <a:r>
              <a:rPr lang="en-US" altLang="en-US" dirty="0">
                <a:latin typeface="Courier New" panose="02070309020205020404" pitchFamily="49" charset="0"/>
                <a:cs typeface="Courier New" panose="02070309020205020404" pitchFamily="49" charset="0"/>
              </a:rPr>
              <a:t>I0→I1, I0→I2</a:t>
            </a:r>
          </a:p>
          <a:p>
            <a:pPr lvl="1">
              <a:lnSpc>
                <a:spcPct val="80000"/>
              </a:lnSpc>
            </a:pPr>
            <a:r>
              <a:rPr lang="en-US" altLang="en-US" dirty="0">
                <a:latin typeface="Courier New" panose="02070309020205020404" pitchFamily="49" charset="0"/>
                <a:cs typeface="Courier New" panose="02070309020205020404" pitchFamily="49" charset="0"/>
              </a:rPr>
              <a:t>I4→I0, I4→I1, I4→I2, I4→I3, I4→I4</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4</a:t>
            </a:fld>
            <a:endParaRPr lang="en-US" altLang="en-US"/>
          </a:p>
        </p:txBody>
      </p:sp>
      <p:graphicFrame>
        <p:nvGraphicFramePr>
          <p:cNvPr id="2" name="Table 1">
            <a:extLst>
              <a:ext uri="{FF2B5EF4-FFF2-40B4-BE49-F238E27FC236}">
                <a16:creationId xmlns:a16="http://schemas.microsoft.com/office/drawing/2014/main" id="{58A2EA5E-7D12-4129-973D-69B4F90E53EB}"/>
              </a:ext>
            </a:extLst>
          </p:cNvPr>
          <p:cNvGraphicFramePr>
            <a:graphicFrameLocks noGrp="1"/>
          </p:cNvGraphicFramePr>
          <p:nvPr>
            <p:custDataLst>
              <p:tags r:id="rId5"/>
            </p:custDataLst>
            <p:extLst>
              <p:ext uri="{D42A27DB-BD31-4B8C-83A1-F6EECF244321}">
                <p14:modId xmlns:p14="http://schemas.microsoft.com/office/powerpoint/2010/main" val="2244835660"/>
              </p:ext>
            </p:extLst>
          </p:nvPr>
        </p:nvGraphicFramePr>
        <p:xfrm>
          <a:off x="1847849" y="1676400"/>
          <a:ext cx="5448302" cy="1828800"/>
        </p:xfrm>
        <a:graphic>
          <a:graphicData uri="http://schemas.openxmlformats.org/drawingml/2006/table">
            <a:tbl>
              <a:tblPr>
                <a:tableStyleId>{5C22544A-7EE6-4342-B048-85BDC9FD1C3A}</a:tableStyleId>
              </a:tblPr>
              <a:tblGrid>
                <a:gridCol w="936427">
                  <a:extLst>
                    <a:ext uri="{9D8B030D-6E8A-4147-A177-3AD203B41FA5}">
                      <a16:colId xmlns:a16="http://schemas.microsoft.com/office/drawing/2014/main" val="3939146616"/>
                    </a:ext>
                  </a:extLst>
                </a:gridCol>
                <a:gridCol w="1152088">
                  <a:extLst>
                    <a:ext uri="{9D8B030D-6E8A-4147-A177-3AD203B41FA5}">
                      <a16:colId xmlns:a16="http://schemas.microsoft.com/office/drawing/2014/main" val="1792789717"/>
                    </a:ext>
                  </a:extLst>
                </a:gridCol>
                <a:gridCol w="3359787">
                  <a:extLst>
                    <a:ext uri="{9D8B030D-6E8A-4147-A177-3AD203B41FA5}">
                      <a16:colId xmlns:a16="http://schemas.microsoft.com/office/drawing/2014/main" val="1784762420"/>
                    </a:ext>
                  </a:extLst>
                </a:gridCol>
              </a:tblGrid>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I0:</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bne</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$s1, $s3, I3</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4133900247"/>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I1:</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add</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$s0, $s1, $s4</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2327756225"/>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I2:</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sw</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a:effectLst/>
                          <a:latin typeface="Courier New" panose="02070309020205020404" pitchFamily="49" charset="0"/>
                          <a:cs typeface="Courier New" panose="02070309020205020404" pitchFamily="49" charset="0"/>
                        </a:rPr>
                        <a:t>$s2, 4($s3)</a:t>
                      </a:r>
                      <a:endParaRPr lang="en-US" sz="280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893426684"/>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I3:</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lw</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$s3, 0($s0)</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990344489"/>
                  </a:ext>
                </a:extLst>
              </a:tr>
              <a:tr h="306813">
                <a:tc>
                  <a:txBody>
                    <a:bodyPr/>
                    <a:lstStyle/>
                    <a:p>
                      <a:pPr marL="0" marR="0" algn="l">
                        <a:spcBef>
                          <a:spcPts val="0"/>
                        </a:spcBef>
                        <a:spcAft>
                          <a:spcPts val="0"/>
                        </a:spcAft>
                      </a:pPr>
                      <a:r>
                        <a:rPr lang="en-US" sz="2400" dirty="0">
                          <a:effectLst/>
                          <a:latin typeface="Courier New" panose="02070309020205020404" pitchFamily="49" charset="0"/>
                          <a:cs typeface="Courier New" panose="02070309020205020404" pitchFamily="49" charset="0"/>
                        </a:rPr>
                        <a:t>I4:</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err="1">
                          <a:effectLst/>
                          <a:latin typeface="Courier New" panose="02070309020205020404" pitchFamily="49" charset="0"/>
                          <a:cs typeface="Courier New" panose="02070309020205020404" pitchFamily="49" charset="0"/>
                        </a:rPr>
                        <a:t>beq</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tc>
                  <a:txBody>
                    <a:bodyPr/>
                    <a:lstStyle/>
                    <a:p>
                      <a:pPr marL="0" marR="0">
                        <a:spcBef>
                          <a:spcPts val="0"/>
                        </a:spcBef>
                        <a:spcAft>
                          <a:spcPts val="0"/>
                        </a:spcAft>
                      </a:pPr>
                      <a:r>
                        <a:rPr lang="en-US" sz="2400" dirty="0">
                          <a:effectLst/>
                          <a:latin typeface="Courier New" panose="02070309020205020404" pitchFamily="49" charset="0"/>
                          <a:cs typeface="Courier New" panose="02070309020205020404" pitchFamily="49" charset="0"/>
                        </a:rPr>
                        <a:t>$s3, $s2, I0</a:t>
                      </a:r>
                      <a:endParaRPr lang="en-US" sz="2800" dirty="0">
                        <a:solidFill>
                          <a:srgbClr val="00000A"/>
                        </a:solidFill>
                        <a:effectLst/>
                        <a:latin typeface="Courier New" panose="02070309020205020404" pitchFamily="49" charset="0"/>
                        <a:ea typeface="PMingLiU" panose="02020500000000000000" pitchFamily="18" charset="-120"/>
                        <a:cs typeface="Courier New" panose="02070309020205020404" pitchFamily="49" charset="0"/>
                      </a:endParaRPr>
                    </a:p>
                  </a:txBody>
                  <a:tcPr marL="68580" marR="68580" marT="0" marB="0" anchor="ctr">
                    <a:noFill/>
                  </a:tcPr>
                </a:tc>
                <a:extLst>
                  <a:ext uri="{0D108BD9-81ED-4DB2-BD59-A6C34878D82A}">
                    <a16:rowId xmlns:a16="http://schemas.microsoft.com/office/drawing/2014/main" val="3349906750"/>
                  </a:ext>
                </a:extLst>
              </a:tr>
            </a:tbl>
          </a:graphicData>
        </a:graphic>
      </p:graphicFrame>
      <p:sp>
        <p:nvSpPr>
          <p:cNvPr id="7" name="Oval 6">
            <a:extLst>
              <a:ext uri="{FF2B5EF4-FFF2-40B4-BE49-F238E27FC236}">
                <a16:creationId xmlns:a16="http://schemas.microsoft.com/office/drawing/2014/main" id="{D2DFAE6B-5737-4A6D-B7CE-A9302E269AAC}"/>
              </a:ext>
            </a:extLst>
          </p:cNvPr>
          <p:cNvSpPr/>
          <p:nvPr>
            <p:custDataLst>
              <p:tags r:id="rId6"/>
            </p:custDataLst>
          </p:nvPr>
        </p:nvSpPr>
        <p:spPr>
          <a:xfrm>
            <a:off x="2743200" y="3124200"/>
            <a:ext cx="7620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06684B7-DB0A-4ABB-B97F-10BB30364967}"/>
              </a:ext>
            </a:extLst>
          </p:cNvPr>
          <p:cNvSpPr/>
          <p:nvPr>
            <p:custDataLst>
              <p:tags r:id="rId7"/>
            </p:custDataLst>
          </p:nvPr>
        </p:nvSpPr>
        <p:spPr>
          <a:xfrm>
            <a:off x="2743200" y="1644650"/>
            <a:ext cx="762000" cy="457200"/>
          </a:xfrm>
          <a:prstGeom prst="ellipse">
            <a:avLst/>
          </a:prstGeom>
          <a:solidFill>
            <a:srgbClr val="E46C0A">
              <a:alpha val="2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261210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6">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Program Control Dependences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600200"/>
            <a:ext cx="8229600" cy="4525963"/>
          </a:xfrm>
        </p:spPr>
        <p:txBody>
          <a:bodyPr/>
          <a:lstStyle/>
          <a:p>
            <a:pPr eaLnBrk="1" hangingPunct="1"/>
            <a:r>
              <a:rPr lang="en-US" altLang="en-US" dirty="0"/>
              <a:t>Technically, control dependences need not be preserved</a:t>
            </a:r>
          </a:p>
          <a:p>
            <a:pPr lvl="1"/>
            <a:r>
              <a:rPr lang="en-US" altLang="en-US" dirty="0"/>
              <a:t>Can execute instructions that should not have been executed, as long as program correctness is not affected:</a:t>
            </a:r>
          </a:p>
          <a:p>
            <a:pPr lvl="2"/>
            <a:r>
              <a:rPr lang="en-US" altLang="en-US" dirty="0"/>
              <a:t>Data dependences are preserved</a:t>
            </a:r>
          </a:p>
          <a:p>
            <a:pPr lvl="2"/>
            <a:r>
              <a:rPr lang="en-US" altLang="en-US" dirty="0"/>
              <a:t>No new exceptions incurred</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5</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60221328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A66F53-44CE-4BF2-9A56-7D25CB56BB73}"/>
              </a:ext>
            </a:extLst>
          </p:cNvPr>
          <p:cNvPicPr>
            <a:picLocks noChangeAspect="1"/>
          </p:cNvPicPr>
          <p:nvPr>
            <p:custDataLst>
              <p:tags r:id="rId2"/>
            </p:custDataLst>
          </p:nvPr>
        </p:nvPicPr>
        <p:blipFill>
          <a:blip r:embed="rId9"/>
          <a:stretch>
            <a:fillRect/>
          </a:stretch>
        </p:blipFill>
        <p:spPr>
          <a:xfrm>
            <a:off x="1725683" y="2842578"/>
            <a:ext cx="5692633" cy="4015422"/>
          </a:xfrm>
          <a:prstGeom prst="rect">
            <a:avLst/>
          </a:prstGeom>
        </p:spPr>
      </p:pic>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Pipeline 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4"/>
            </p:custDataLst>
          </p:nvPr>
        </p:nvSpPr>
        <p:spPr>
          <a:xfrm>
            <a:off x="457200" y="1447800"/>
            <a:ext cx="8686800" cy="1828800"/>
          </a:xfrm>
        </p:spPr>
        <p:txBody>
          <a:bodyPr/>
          <a:lstStyle/>
          <a:p>
            <a:pPr eaLnBrk="1" hangingPunct="1"/>
            <a:r>
              <a:rPr lang="en-US" altLang="en-US" sz="2800" dirty="0"/>
              <a:t>When an incorrect instruction is fetched because the outcome of a previous branch has not yet been resolved</a:t>
            </a:r>
          </a:p>
          <a:p>
            <a:pPr lvl="1"/>
            <a:r>
              <a:rPr lang="en-US" altLang="en-US" sz="2400" dirty="0"/>
              <a:t>e.g., Assume branches resolved in M stage (COD Figure 4.51)</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5"/>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6</a:t>
            </a:fld>
            <a:endParaRPr lang="en-US" altLang="en-US">
              <a:latin typeface="Calibri" panose="020F0502020204030204" pitchFamily="34" charset="0"/>
            </a:endParaRPr>
          </a:p>
        </p:txBody>
      </p:sp>
      <p:sp>
        <p:nvSpPr>
          <p:cNvPr id="4" name="Oval 3">
            <a:extLst>
              <a:ext uri="{FF2B5EF4-FFF2-40B4-BE49-F238E27FC236}">
                <a16:creationId xmlns:a16="http://schemas.microsoft.com/office/drawing/2014/main" id="{D89A61CD-C225-4CD1-BFC6-1814F366C17F}"/>
              </a:ext>
            </a:extLst>
          </p:cNvPr>
          <p:cNvSpPr/>
          <p:nvPr>
            <p:custDataLst>
              <p:tags r:id="rId6"/>
            </p:custDataLst>
          </p:nvPr>
        </p:nvSpPr>
        <p:spPr>
          <a:xfrm>
            <a:off x="5791200" y="4267200"/>
            <a:ext cx="762000" cy="762000"/>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855110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Pipeline 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1828800"/>
          </a:xfrm>
        </p:spPr>
        <p:txBody>
          <a:bodyPr/>
          <a:lstStyle/>
          <a:p>
            <a:pPr eaLnBrk="1" hangingPunct="1"/>
            <a:r>
              <a:rPr lang="en-US" altLang="en-US" sz="2800" dirty="0"/>
              <a:t>When an incorrect instruction is fetched because the outcome of a previous branch has not yet been resolved</a:t>
            </a:r>
          </a:p>
          <a:p>
            <a:pPr lvl="1"/>
            <a:r>
              <a:rPr lang="en-US" altLang="en-US" sz="2400" dirty="0"/>
              <a:t>e.g., Assume branches resolved in M stage (COD Figure 4.51)</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7</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5"/>
            </p:custDataLst>
          </p:nvPr>
        </p:nvSpPr>
        <p:spPr bwMode="auto">
          <a:xfrm>
            <a:off x="682625" y="3048000"/>
            <a:ext cx="67087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Font typeface="Arial" charset="0"/>
              <a:buNone/>
            </a:pPr>
            <a:r>
              <a:rPr lang="en-US" altLang="en-US" sz="2400" dirty="0" err="1"/>
              <a:t>lw</a:t>
            </a:r>
            <a:r>
              <a:rPr lang="en-US" altLang="en-US" sz="2400" dirty="0"/>
              <a:t> $t3, 0($t0)</a:t>
            </a:r>
          </a:p>
          <a:p>
            <a:pPr marL="457200" lvl="1" indent="0">
              <a:lnSpc>
                <a:spcPct val="90000"/>
              </a:lnSpc>
              <a:buNone/>
            </a:pPr>
            <a:r>
              <a:rPr lang="en-US" altLang="en-US" sz="2400" dirty="0"/>
              <a:t>add $t4, $t5, $t6</a:t>
            </a:r>
          </a:p>
          <a:p>
            <a:pPr marL="457200" lvl="1" indent="0">
              <a:lnSpc>
                <a:spcPct val="90000"/>
              </a:lnSpc>
              <a:buNone/>
            </a:pPr>
            <a:r>
              <a:rPr lang="en-US" altLang="en-US" sz="2400" dirty="0"/>
              <a:t>or $t2, $t1, $t7</a:t>
            </a:r>
          </a:p>
          <a:p>
            <a:pPr marL="457200" lvl="1" indent="0">
              <a:lnSpc>
                <a:spcPct val="90000"/>
              </a:lnSpc>
              <a:buFont typeface="Arial" charset="0"/>
              <a:buNone/>
            </a:pPr>
            <a:endParaRPr lang="en-US" altLang="en-US" sz="2400" dirty="0"/>
          </a:p>
        </p:txBody>
      </p:sp>
      <p:graphicFrame>
        <p:nvGraphicFramePr>
          <p:cNvPr id="7" name="Group 4">
            <a:extLst>
              <a:ext uri="{FF2B5EF4-FFF2-40B4-BE49-F238E27FC236}">
                <a16:creationId xmlns:a16="http://schemas.microsoft.com/office/drawing/2014/main" id="{79EB3203-89A0-4254-82EC-CFC6361A0CB4}"/>
              </a:ext>
            </a:extLst>
          </p:cNvPr>
          <p:cNvGraphicFramePr>
            <a:graphicFrameLocks noGrp="1"/>
          </p:cNvGraphicFramePr>
          <p:nvPr>
            <p:custDataLst>
              <p:tags r:id="rId6"/>
            </p:custDataLst>
            <p:extLst>
              <p:ext uri="{D42A27DB-BD31-4B8C-83A1-F6EECF244321}">
                <p14:modId xmlns:p14="http://schemas.microsoft.com/office/powerpoint/2010/main" val="2161869060"/>
              </p:ext>
            </p:extLst>
          </p:nvPr>
        </p:nvGraphicFramePr>
        <p:xfrm>
          <a:off x="838200" y="4724400"/>
          <a:ext cx="7034213" cy="1974996"/>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3216156394"/>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1487437293"/>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or</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1617127943"/>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7"/>
            </p:custDataLst>
          </p:nvPr>
        </p:nvSpPr>
        <p:spPr bwMode="auto">
          <a:xfrm>
            <a:off x="4800600" y="3048000"/>
            <a:ext cx="38893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
        <p:nvSpPr>
          <p:cNvPr id="10" name="Line 66">
            <a:extLst>
              <a:ext uri="{FF2B5EF4-FFF2-40B4-BE49-F238E27FC236}">
                <a16:creationId xmlns:a16="http://schemas.microsoft.com/office/drawing/2014/main" id="{93E5EEE6-5D3C-43A2-BBFA-BCB2A93FD06D}"/>
              </a:ext>
            </a:extLst>
          </p:cNvPr>
          <p:cNvSpPr>
            <a:spLocks noChangeShapeType="1"/>
          </p:cNvSpPr>
          <p:nvPr>
            <p:custDataLst>
              <p:tags r:id="rId8"/>
            </p:custDataLst>
          </p:nvPr>
        </p:nvSpPr>
        <p:spPr bwMode="auto">
          <a:xfrm>
            <a:off x="3810000" y="5334000"/>
            <a:ext cx="0" cy="1295400"/>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189661798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4">
            <a:extLst>
              <a:ext uri="{FF2B5EF4-FFF2-40B4-BE49-F238E27FC236}">
                <a16:creationId xmlns:a16="http://schemas.microsoft.com/office/drawing/2014/main" id="{79EB3203-89A0-4254-82EC-CFC6361A0CB4}"/>
              </a:ext>
            </a:extLst>
          </p:cNvPr>
          <p:cNvGraphicFramePr>
            <a:graphicFrameLocks noGrp="1"/>
          </p:cNvGraphicFramePr>
          <p:nvPr>
            <p:custDataLst>
              <p:tags r:id="rId2"/>
            </p:custDataLst>
            <p:extLst>
              <p:ext uri="{D42A27DB-BD31-4B8C-83A1-F6EECF244321}">
                <p14:modId xmlns:p14="http://schemas.microsoft.com/office/powerpoint/2010/main" val="739505544"/>
              </p:ext>
            </p:extLst>
          </p:nvPr>
        </p:nvGraphicFramePr>
        <p:xfrm>
          <a:off x="849962" y="4721361"/>
          <a:ext cx="7034213" cy="1974996"/>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216156394"/>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487437293"/>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or</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617127943"/>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11" name="Group 4">
            <a:extLst>
              <a:ext uri="{FF2B5EF4-FFF2-40B4-BE49-F238E27FC236}">
                <a16:creationId xmlns:a16="http://schemas.microsoft.com/office/drawing/2014/main" id="{66535404-ED13-4A84-B671-08F66FFAFEE0}"/>
              </a:ext>
            </a:extLst>
          </p:cNvPr>
          <p:cNvGraphicFramePr>
            <a:graphicFrameLocks noGrp="1"/>
          </p:cNvGraphicFramePr>
          <p:nvPr>
            <p:custDataLst>
              <p:tags r:id="rId3"/>
            </p:custDataLst>
            <p:extLst>
              <p:ext uri="{D42A27DB-BD31-4B8C-83A1-F6EECF244321}">
                <p14:modId xmlns:p14="http://schemas.microsoft.com/office/powerpoint/2010/main" val="2221948402"/>
              </p:ext>
            </p:extLst>
          </p:nvPr>
        </p:nvGraphicFramePr>
        <p:xfrm>
          <a:off x="849962" y="4721361"/>
          <a:ext cx="7034213" cy="1664118"/>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216156394"/>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487437293"/>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or</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Resolving 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5"/>
            </p:custDataLst>
          </p:nvPr>
        </p:nvSpPr>
        <p:spPr>
          <a:xfrm>
            <a:off x="457200" y="1447800"/>
            <a:ext cx="8686800" cy="1828800"/>
          </a:xfrm>
        </p:spPr>
        <p:txBody>
          <a:bodyPr/>
          <a:lstStyle/>
          <a:p>
            <a:pPr eaLnBrk="1" hangingPunct="1"/>
            <a:r>
              <a:rPr lang="en-US" altLang="en-US" sz="2800" dirty="0"/>
              <a:t>Predict-not-taken:</a:t>
            </a:r>
          </a:p>
          <a:p>
            <a:pPr lvl="1"/>
            <a:r>
              <a:rPr lang="en-US" altLang="en-US" sz="2400" dirty="0"/>
              <a:t>Fetch next </a:t>
            </a:r>
            <a:r>
              <a:rPr lang="en-US" altLang="en-US" sz="2400" dirty="0" err="1"/>
              <a:t>insns</a:t>
            </a:r>
            <a:r>
              <a:rPr lang="en-US" altLang="en-US" sz="2400" dirty="0"/>
              <a:t> </a:t>
            </a:r>
            <a:r>
              <a:rPr lang="en-US" altLang="en-US" sz="2400" i="1" dirty="0"/>
              <a:t>speculatively</a:t>
            </a:r>
            <a:r>
              <a:rPr lang="en-US" altLang="en-US" sz="2400" dirty="0"/>
              <a:t>; </a:t>
            </a:r>
            <a:r>
              <a:rPr lang="en-US" altLang="en-US" sz="2400" i="1" dirty="0"/>
              <a:t>flush</a:t>
            </a:r>
            <a:r>
              <a:rPr lang="en-US" altLang="en-US" sz="2400" dirty="0"/>
              <a:t> if branch is actually taken</a:t>
            </a:r>
          </a:p>
          <a:p>
            <a:pPr lvl="1"/>
            <a:r>
              <a:rPr lang="en-US" altLang="en-US" sz="2400" dirty="0"/>
              <a:t>e.g., Assume branches resolved in M stage (COD Figure 4.51)</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6"/>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8</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7"/>
            </p:custDataLst>
          </p:nvPr>
        </p:nvSpPr>
        <p:spPr bwMode="auto">
          <a:xfrm>
            <a:off x="682625" y="3048000"/>
            <a:ext cx="67087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Font typeface="Arial" charset="0"/>
              <a:buNone/>
            </a:pPr>
            <a:r>
              <a:rPr lang="en-US" altLang="en-US" sz="2400" dirty="0" err="1"/>
              <a:t>lw</a:t>
            </a:r>
            <a:r>
              <a:rPr lang="en-US" altLang="en-US" sz="2400" dirty="0"/>
              <a:t> $t3, 0($t0)</a:t>
            </a:r>
          </a:p>
          <a:p>
            <a:pPr marL="457200" lvl="1" indent="0">
              <a:lnSpc>
                <a:spcPct val="90000"/>
              </a:lnSpc>
              <a:buNone/>
            </a:pPr>
            <a:r>
              <a:rPr lang="en-US" altLang="en-US" sz="2400" dirty="0"/>
              <a:t>add $t4, $t5, $t6</a:t>
            </a:r>
          </a:p>
          <a:p>
            <a:pPr marL="457200" lvl="1" indent="0">
              <a:lnSpc>
                <a:spcPct val="90000"/>
              </a:lnSpc>
              <a:buNone/>
            </a:pPr>
            <a:r>
              <a:rPr lang="en-US" altLang="en-US" sz="2400" dirty="0"/>
              <a:t>or $t2, $t1, $t7</a:t>
            </a:r>
          </a:p>
          <a:p>
            <a:pPr marL="457200" lvl="1" indent="0">
              <a:lnSpc>
                <a:spcPct val="90000"/>
              </a:lnSpc>
              <a:buFont typeface="Arial" charset="0"/>
              <a:buNone/>
            </a:pPr>
            <a:endParaRPr lang="en-US" altLang="en-US" sz="2400" dirty="0"/>
          </a:p>
        </p:txBody>
      </p:sp>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8"/>
            </p:custDataLst>
          </p:nvPr>
        </p:nvSpPr>
        <p:spPr bwMode="auto">
          <a:xfrm>
            <a:off x="4800600" y="3048000"/>
            <a:ext cx="38893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Tree>
    <p:custDataLst>
      <p:tags r:id="rId1"/>
    </p:custDataLst>
    <p:extLst>
      <p:ext uri="{BB962C8B-B14F-4D97-AF65-F5344CB8AC3E}">
        <p14:creationId xmlns:p14="http://schemas.microsoft.com/office/powerpoint/2010/main" val="19184128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Resolving 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1828800"/>
          </a:xfrm>
        </p:spPr>
        <p:txBody>
          <a:bodyPr/>
          <a:lstStyle/>
          <a:p>
            <a:pPr eaLnBrk="1" hangingPunct="1"/>
            <a:r>
              <a:rPr lang="en-US" altLang="en-US" sz="2800" dirty="0"/>
              <a:t>Predict-not-taken + resolve in ID:</a:t>
            </a:r>
          </a:p>
          <a:p>
            <a:pPr lvl="1"/>
            <a:r>
              <a:rPr lang="en-US" altLang="en-US" sz="2400" dirty="0"/>
              <a:t>Compute target and compare in ID stage (COD Figure 4.65)</a:t>
            </a:r>
          </a:p>
          <a:p>
            <a:pPr lvl="1"/>
            <a:r>
              <a:rPr lang="en-US" altLang="en-US" sz="2400" dirty="0"/>
              <a:t>Flush: clear IF/</a:t>
            </a:r>
            <a:r>
              <a:rPr lang="en-US" altLang="en-US" sz="2400" dirty="0" err="1"/>
              <a:t>ID.Instruction</a:t>
            </a:r>
            <a:r>
              <a:rPr lang="en-US" altLang="en-US" sz="2400" dirty="0"/>
              <a:t> to 0 (inserts NOP to ID)</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9</a:t>
            </a:fld>
            <a:endParaRPr lang="en-US" altLang="en-US">
              <a:latin typeface="Calibri" panose="020F0502020204030204" pitchFamily="34" charset="0"/>
            </a:endParaRPr>
          </a:p>
        </p:txBody>
      </p:sp>
      <p:pic>
        <p:nvPicPr>
          <p:cNvPr id="10"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82A4C8E4-704C-4E6C-B997-F5B277C8E83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08720" y="2900880"/>
            <a:ext cx="6326560" cy="3880920"/>
          </a:xfrm>
          <a:prstGeom prst="rect">
            <a:avLst/>
          </a:prstGeom>
          <a:noFill/>
          <a:extLst>
            <a:ext uri="{909E8E84-426E-40DD-AFC4-6F175D3DCCD1}">
              <a14:hiddenFill xmlns:a14="http://schemas.microsoft.com/office/drawing/2010/main">
                <a:solidFill>
                  <a:srgbClr val="FFFFFF"/>
                </a:solidFill>
              </a14:hiddenFill>
            </a:ext>
          </a:extLst>
        </p:spPr>
      </p:pic>
      <p:sp>
        <p:nvSpPr>
          <p:cNvPr id="12" name="Oval 11">
            <a:extLst>
              <a:ext uri="{FF2B5EF4-FFF2-40B4-BE49-F238E27FC236}">
                <a16:creationId xmlns:a16="http://schemas.microsoft.com/office/drawing/2014/main" id="{219BDE0B-5640-40C8-8945-0C5B080D5476}"/>
              </a:ext>
            </a:extLst>
          </p:cNvPr>
          <p:cNvSpPr/>
          <p:nvPr>
            <p:custDataLst>
              <p:tags r:id="rId5"/>
            </p:custDataLst>
          </p:nvPr>
        </p:nvSpPr>
        <p:spPr>
          <a:xfrm>
            <a:off x="3388824" y="3810000"/>
            <a:ext cx="1066800" cy="654843"/>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3">
            <a:extLst>
              <a:ext uri="{FF2B5EF4-FFF2-40B4-BE49-F238E27FC236}">
                <a16:creationId xmlns:a16="http://schemas.microsoft.com/office/drawing/2014/main" id="{DD16CF28-22A0-497A-8681-A7BFFFA36442}"/>
              </a:ext>
            </a:extLst>
          </p:cNvPr>
          <p:cNvSpPr txBox="1">
            <a:spLocks noChangeArrowheads="1"/>
          </p:cNvSpPr>
          <p:nvPr>
            <p:custDataLst>
              <p:tags r:id="rId6"/>
            </p:custDataLst>
          </p:nvPr>
        </p:nvSpPr>
        <p:spPr bwMode="auto">
          <a:xfrm>
            <a:off x="3276600" y="3600441"/>
            <a:ext cx="928428" cy="209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target</a:t>
            </a:r>
          </a:p>
        </p:txBody>
      </p:sp>
      <p:sp>
        <p:nvSpPr>
          <p:cNvPr id="14" name="Oval 13">
            <a:extLst>
              <a:ext uri="{FF2B5EF4-FFF2-40B4-BE49-F238E27FC236}">
                <a16:creationId xmlns:a16="http://schemas.microsoft.com/office/drawing/2014/main" id="{E5CA3984-6E7C-4636-B78F-578D6D10B0D9}"/>
              </a:ext>
            </a:extLst>
          </p:cNvPr>
          <p:cNvSpPr/>
          <p:nvPr>
            <p:custDataLst>
              <p:tags r:id="rId7"/>
            </p:custDataLst>
          </p:nvPr>
        </p:nvSpPr>
        <p:spPr>
          <a:xfrm>
            <a:off x="4050264" y="4419602"/>
            <a:ext cx="699921" cy="807244"/>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
            <a:extLst>
              <a:ext uri="{FF2B5EF4-FFF2-40B4-BE49-F238E27FC236}">
                <a16:creationId xmlns:a16="http://schemas.microsoft.com/office/drawing/2014/main" id="{6D13490E-67BD-4202-92DA-0DABDE412A33}"/>
              </a:ext>
            </a:extLst>
          </p:cNvPr>
          <p:cNvSpPr txBox="1">
            <a:spLocks noChangeArrowheads="1"/>
          </p:cNvSpPr>
          <p:nvPr>
            <p:custDataLst>
              <p:tags r:id="rId8"/>
            </p:custDataLst>
          </p:nvPr>
        </p:nvSpPr>
        <p:spPr bwMode="auto">
          <a:xfrm>
            <a:off x="3643572" y="5257800"/>
            <a:ext cx="928428" cy="209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compare</a:t>
            </a:r>
          </a:p>
        </p:txBody>
      </p:sp>
      <p:cxnSp>
        <p:nvCxnSpPr>
          <p:cNvPr id="8" name="Straight Connector 7">
            <a:extLst>
              <a:ext uri="{FF2B5EF4-FFF2-40B4-BE49-F238E27FC236}">
                <a16:creationId xmlns:a16="http://schemas.microsoft.com/office/drawing/2014/main" id="{4EED7253-BAC2-47C4-B6E2-6C7F03DA63AD}"/>
              </a:ext>
            </a:extLst>
          </p:cNvPr>
          <p:cNvCxnSpPr/>
          <p:nvPr/>
        </p:nvCxnSpPr>
        <p:spPr>
          <a:xfrm>
            <a:off x="4418243" y="5226846"/>
            <a:ext cx="0" cy="146304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670965-F25B-4340-A21D-DDEBA82B4E1F}"/>
              </a:ext>
            </a:extLst>
          </p:cNvPr>
          <p:cNvCxnSpPr/>
          <p:nvPr/>
        </p:nvCxnSpPr>
        <p:spPr>
          <a:xfrm>
            <a:off x="1676400" y="5181600"/>
            <a:ext cx="0" cy="1554480"/>
          </a:xfrm>
          <a:prstGeom prst="line">
            <a:avLst/>
          </a:prstGeom>
          <a:ln w="25400">
            <a:solidFill>
              <a:schemeClr val="accent6">
                <a:lumMod val="75000"/>
              </a:schemeClr>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8D6F5C-7DD2-438A-B9FE-1458B89BE0E2}"/>
              </a:ext>
            </a:extLst>
          </p:cNvPr>
          <p:cNvCxnSpPr>
            <a:cxnSpLocks/>
          </p:cNvCxnSpPr>
          <p:nvPr/>
        </p:nvCxnSpPr>
        <p:spPr>
          <a:xfrm rot="5400000">
            <a:off x="3048000" y="5334000"/>
            <a:ext cx="0" cy="274320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3851FCF2-A630-48D0-B0CF-E4B12ECE67CC}"/>
              </a:ext>
            </a:extLst>
          </p:cNvPr>
          <p:cNvSpPr/>
          <p:nvPr>
            <p:custDataLst>
              <p:tags r:id="rId9"/>
            </p:custDataLst>
          </p:nvPr>
        </p:nvSpPr>
        <p:spPr>
          <a:xfrm>
            <a:off x="1219200" y="2819400"/>
            <a:ext cx="1066800" cy="344877"/>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3">
            <a:extLst>
              <a:ext uri="{FF2B5EF4-FFF2-40B4-BE49-F238E27FC236}">
                <a16:creationId xmlns:a16="http://schemas.microsoft.com/office/drawing/2014/main" id="{36A6DFE3-EF07-4B54-A525-72727A355974}"/>
              </a:ext>
            </a:extLst>
          </p:cNvPr>
          <p:cNvSpPr txBox="1">
            <a:spLocks noChangeArrowheads="1"/>
          </p:cNvSpPr>
          <p:nvPr>
            <p:custDataLst>
              <p:tags r:id="rId10"/>
            </p:custDataLst>
          </p:nvPr>
        </p:nvSpPr>
        <p:spPr bwMode="auto">
          <a:xfrm>
            <a:off x="228600" y="3067041"/>
            <a:ext cx="1270348" cy="285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flush instruction in IF</a:t>
            </a:r>
          </a:p>
        </p:txBody>
      </p:sp>
    </p:spTree>
    <p:custDataLst>
      <p:tags r:id="rId1"/>
    </p:custDataLst>
    <p:extLst>
      <p:ext uri="{BB962C8B-B14F-4D97-AF65-F5344CB8AC3E}">
        <p14:creationId xmlns:p14="http://schemas.microsoft.com/office/powerpoint/2010/main" val="37527411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animBg="1"/>
      <p:bldP spid="15" grpId="0"/>
      <p:bldP spid="21" grpId="0" animBg="1"/>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4">
            <a:extLst>
              <a:ext uri="{FF2B5EF4-FFF2-40B4-BE49-F238E27FC236}">
                <a16:creationId xmlns:a16="http://schemas.microsoft.com/office/drawing/2014/main" id="{5D82034A-108E-459D-AB37-3E0705AE8251}"/>
              </a:ext>
            </a:extLst>
          </p:cNvPr>
          <p:cNvGraphicFramePr>
            <a:graphicFrameLocks noGrp="1"/>
          </p:cNvGraphicFramePr>
          <p:nvPr>
            <p:custDataLst>
              <p:tags r:id="rId2"/>
            </p:custDataLst>
            <p:extLst>
              <p:ext uri="{D42A27DB-BD31-4B8C-83A1-F6EECF244321}">
                <p14:modId xmlns:p14="http://schemas.microsoft.com/office/powerpoint/2010/main" val="4210403970"/>
              </p:ext>
            </p:extLst>
          </p:nvPr>
        </p:nvGraphicFramePr>
        <p:xfrm>
          <a:off x="838200" y="4876800"/>
          <a:ext cx="7034213" cy="104236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11" name="Group 4">
            <a:extLst>
              <a:ext uri="{FF2B5EF4-FFF2-40B4-BE49-F238E27FC236}">
                <a16:creationId xmlns:a16="http://schemas.microsoft.com/office/drawing/2014/main" id="{66535404-ED13-4A84-B671-08F66FFAFEE0}"/>
              </a:ext>
            </a:extLst>
          </p:cNvPr>
          <p:cNvGraphicFramePr>
            <a:graphicFrameLocks noGrp="1"/>
          </p:cNvGraphicFramePr>
          <p:nvPr>
            <p:custDataLst>
              <p:tags r:id="rId3"/>
            </p:custDataLst>
            <p:extLst>
              <p:ext uri="{D42A27DB-BD31-4B8C-83A1-F6EECF244321}">
                <p14:modId xmlns:p14="http://schemas.microsoft.com/office/powerpoint/2010/main" val="2497345094"/>
              </p:ext>
            </p:extLst>
          </p:nvPr>
        </p:nvGraphicFramePr>
        <p:xfrm>
          <a:off x="838200" y="4873983"/>
          <a:ext cx="7034213" cy="135324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beq</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lw</a:t>
                      </a:r>
                      <a:endParaRPr kumimoji="0" lang="en-US" sz="1600" b="0" i="0" u="none" strike="noStrike" cap="none" normalizeH="0" baseline="0" dirty="0">
                        <a:ln>
                          <a:noFill/>
                        </a:ln>
                        <a:solidFill>
                          <a:schemeClr val="tx1"/>
                        </a:solidFill>
                        <a:effectLst/>
                        <a:latin typeface="Times New Roman" pitchFamily="18" charset="0"/>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3216156394"/>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Resolving 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5"/>
            </p:custDataLst>
          </p:nvPr>
        </p:nvSpPr>
        <p:spPr>
          <a:xfrm>
            <a:off x="457200" y="1447800"/>
            <a:ext cx="8686800" cy="1828800"/>
          </a:xfrm>
        </p:spPr>
        <p:txBody>
          <a:bodyPr/>
          <a:lstStyle/>
          <a:p>
            <a:pPr eaLnBrk="1" hangingPunct="1"/>
            <a:r>
              <a:rPr lang="en-US" altLang="en-US" sz="2800" dirty="0"/>
              <a:t>Predict-not-taken + resolve in ID:</a:t>
            </a:r>
          </a:p>
          <a:p>
            <a:pPr lvl="1"/>
            <a:r>
              <a:rPr lang="en-US" altLang="en-US" sz="2400" dirty="0"/>
              <a:t>Compute target and compare in ID stage (COD Figure 4.65)</a:t>
            </a:r>
          </a:p>
          <a:p>
            <a:pPr lvl="1"/>
            <a:r>
              <a:rPr lang="en-US" altLang="en-US" sz="2400" dirty="0"/>
              <a:t>Flush: clear IF/</a:t>
            </a:r>
            <a:r>
              <a:rPr lang="en-US" altLang="en-US" sz="2400" dirty="0" err="1"/>
              <a:t>ID.Instruction</a:t>
            </a:r>
            <a:r>
              <a:rPr lang="en-US" altLang="en-US" sz="2400" dirty="0"/>
              <a:t> to 0 (inserts NOP to ID)</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6"/>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10</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7"/>
            </p:custDataLst>
          </p:nvPr>
        </p:nvSpPr>
        <p:spPr bwMode="auto">
          <a:xfrm>
            <a:off x="682625" y="3048000"/>
            <a:ext cx="67087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Font typeface="Arial" charset="0"/>
              <a:buNone/>
            </a:pPr>
            <a:r>
              <a:rPr lang="en-US" altLang="en-US" sz="2400" dirty="0" err="1"/>
              <a:t>lw</a:t>
            </a:r>
            <a:r>
              <a:rPr lang="en-US" altLang="en-US" sz="2400" dirty="0"/>
              <a:t> $t3, 0($t0)</a:t>
            </a:r>
          </a:p>
          <a:p>
            <a:pPr marL="457200" lvl="1" indent="0">
              <a:lnSpc>
                <a:spcPct val="90000"/>
              </a:lnSpc>
              <a:buNone/>
            </a:pPr>
            <a:r>
              <a:rPr lang="en-US" altLang="en-US" sz="2400" dirty="0"/>
              <a:t>add $t4, $t5, $t6</a:t>
            </a:r>
          </a:p>
          <a:p>
            <a:pPr marL="457200" lvl="1" indent="0">
              <a:lnSpc>
                <a:spcPct val="90000"/>
              </a:lnSpc>
              <a:buNone/>
            </a:pPr>
            <a:r>
              <a:rPr lang="en-US" altLang="en-US" sz="2400" dirty="0"/>
              <a:t>or $t2, $t1, $t7</a:t>
            </a:r>
          </a:p>
          <a:p>
            <a:pPr marL="457200" lvl="1" indent="0">
              <a:lnSpc>
                <a:spcPct val="90000"/>
              </a:lnSpc>
              <a:buFont typeface="Arial" charset="0"/>
              <a:buNone/>
            </a:pPr>
            <a:endParaRPr lang="en-US" altLang="en-US" sz="2400" dirty="0"/>
          </a:p>
        </p:txBody>
      </p:sp>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8"/>
            </p:custDataLst>
          </p:nvPr>
        </p:nvSpPr>
        <p:spPr bwMode="auto">
          <a:xfrm>
            <a:off x="4800600" y="3048000"/>
            <a:ext cx="38893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Tree>
    <p:custDataLst>
      <p:tags r:id="rId1"/>
    </p:custDataLst>
    <p:extLst>
      <p:ext uri="{BB962C8B-B14F-4D97-AF65-F5344CB8AC3E}">
        <p14:creationId xmlns:p14="http://schemas.microsoft.com/office/powerpoint/2010/main" val="37310905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Slide Number Placeholder 5"/>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11</a:t>
            </a:fld>
            <a:endParaRPr lang="en-US" altLang="en-US"/>
          </a:p>
        </p:txBody>
      </p:sp>
      <p:pic>
        <p:nvPicPr>
          <p:cNvPr id="102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C21E0623-1920-4C6B-B2C2-6942105B6A40}"/>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071563" y="3352800"/>
            <a:ext cx="7000875" cy="2541966"/>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
            <a:extLst>
              <a:ext uri="{FF2B5EF4-FFF2-40B4-BE49-F238E27FC236}">
                <a16:creationId xmlns:a16="http://schemas.microsoft.com/office/drawing/2014/main" id="{CE1FC4B1-3A2F-465D-8E6C-8B3CC79C0DDA}"/>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Resolving Control Hazards</a:t>
            </a:r>
          </a:p>
        </p:txBody>
      </p:sp>
      <p:grpSp>
        <p:nvGrpSpPr>
          <p:cNvPr id="2" name="Group 1">
            <a:extLst>
              <a:ext uri="{FF2B5EF4-FFF2-40B4-BE49-F238E27FC236}">
                <a16:creationId xmlns:a16="http://schemas.microsoft.com/office/drawing/2014/main" id="{BC41B973-2D9C-4FA4-85C0-0EAD18C9A114}"/>
              </a:ext>
            </a:extLst>
          </p:cNvPr>
          <p:cNvGrpSpPr/>
          <p:nvPr>
            <p:custDataLst>
              <p:tags r:id="rId4"/>
            </p:custDataLst>
          </p:nvPr>
        </p:nvGrpSpPr>
        <p:grpSpPr>
          <a:xfrm>
            <a:off x="0" y="3352800"/>
            <a:ext cx="4191000" cy="3048000"/>
            <a:chOff x="0" y="3352800"/>
            <a:chExt cx="4191000" cy="3048000"/>
          </a:xfrm>
        </p:grpSpPr>
        <p:sp>
          <p:nvSpPr>
            <p:cNvPr id="6" name="Rectangle 3">
              <a:extLst>
                <a:ext uri="{FF2B5EF4-FFF2-40B4-BE49-F238E27FC236}">
                  <a16:creationId xmlns:a16="http://schemas.microsoft.com/office/drawing/2014/main" id="{E822249B-618A-4DF0-866B-70C74F2BDD0E}"/>
                </a:ext>
              </a:extLst>
            </p:cNvPr>
            <p:cNvSpPr txBox="1">
              <a:spLocks noChangeArrowheads="1"/>
            </p:cNvSpPr>
            <p:nvPr>
              <p:custDataLst>
                <p:tags r:id="rId25"/>
              </p:custDataLst>
            </p:nvPr>
          </p:nvSpPr>
          <p:spPr bwMode="auto">
            <a:xfrm>
              <a:off x="3124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beq</a:t>
              </a:r>
              <a:endParaRPr lang="en-US" altLang="en-US" sz="2400" b="1" dirty="0">
                <a:solidFill>
                  <a:schemeClr val="accent6">
                    <a:lumMod val="75000"/>
                  </a:schemeClr>
                </a:solidFill>
              </a:endParaRPr>
            </a:p>
          </p:txBody>
        </p:sp>
        <p:sp>
          <p:nvSpPr>
            <p:cNvPr id="7" name="Rectangle 3">
              <a:extLst>
                <a:ext uri="{FF2B5EF4-FFF2-40B4-BE49-F238E27FC236}">
                  <a16:creationId xmlns:a16="http://schemas.microsoft.com/office/drawing/2014/main" id="{110071A2-D4AB-445B-B91A-E1C299C955D2}"/>
                </a:ext>
              </a:extLst>
            </p:cNvPr>
            <p:cNvSpPr txBox="1">
              <a:spLocks noChangeArrowheads="1"/>
            </p:cNvSpPr>
            <p:nvPr>
              <p:custDataLst>
                <p:tags r:id="rId26"/>
              </p:custDataLst>
            </p:nvPr>
          </p:nvSpPr>
          <p:spPr bwMode="auto">
            <a:xfrm>
              <a:off x="1295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endParaRPr lang="en-US" altLang="en-US" sz="2400" b="1" dirty="0">
                <a:solidFill>
                  <a:schemeClr val="accent6">
                    <a:lumMod val="75000"/>
                  </a:schemeClr>
                </a:solidFill>
              </a:endParaRPr>
            </a:p>
          </p:txBody>
        </p:sp>
        <p:sp>
          <p:nvSpPr>
            <p:cNvPr id="9" name="Rectangle 3">
              <a:extLst>
                <a:ext uri="{FF2B5EF4-FFF2-40B4-BE49-F238E27FC236}">
                  <a16:creationId xmlns:a16="http://schemas.microsoft.com/office/drawing/2014/main" id="{B0197BA4-5419-4B8B-ADF9-3F2B3C6F1AE9}"/>
                </a:ext>
              </a:extLst>
            </p:cNvPr>
            <p:cNvSpPr txBox="1">
              <a:spLocks noChangeArrowheads="1"/>
            </p:cNvSpPr>
            <p:nvPr>
              <p:custDataLst>
                <p:tags r:id="rId27"/>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2:</a:t>
              </a:r>
            </a:p>
          </p:txBody>
        </p:sp>
      </p:grpSp>
      <p:graphicFrame>
        <p:nvGraphicFramePr>
          <p:cNvPr id="11" name="Group 4">
            <a:extLst>
              <a:ext uri="{FF2B5EF4-FFF2-40B4-BE49-F238E27FC236}">
                <a16:creationId xmlns:a16="http://schemas.microsoft.com/office/drawing/2014/main" id="{07CC8444-624C-454B-A8F5-C4404583CC4A}"/>
              </a:ext>
            </a:extLst>
          </p:cNvPr>
          <p:cNvGraphicFramePr>
            <a:graphicFrameLocks noGrp="1"/>
          </p:cNvGraphicFramePr>
          <p:nvPr>
            <p:custDataLst>
              <p:tags r:id="rId5"/>
            </p:custDataLst>
            <p:extLst>
              <p:ext uri="{D42A27DB-BD31-4B8C-83A1-F6EECF244321}">
                <p14:modId xmlns:p14="http://schemas.microsoft.com/office/powerpoint/2010/main" val="3136820616"/>
              </p:ext>
            </p:extLst>
          </p:nvPr>
        </p:nvGraphicFramePr>
        <p:xfrm>
          <a:off x="838200" y="1247843"/>
          <a:ext cx="7034213" cy="176893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4572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beq</a:t>
                      </a: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err="1">
                          <a:ln>
                            <a:noFill/>
                          </a:ln>
                          <a:solidFill>
                            <a:schemeClr val="tx1"/>
                          </a:solidFill>
                          <a:effectLst/>
                          <a:latin typeface="+mn-lt"/>
                        </a:rPr>
                        <a:t>lw</a:t>
                      </a:r>
                      <a:endParaRPr kumimoji="0" lang="en-US" sz="2000" b="0"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2044101662"/>
                  </a:ext>
                </a:extLst>
              </a:tr>
              <a:tr h="43724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sub</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pSp>
        <p:nvGrpSpPr>
          <p:cNvPr id="10" name="Group 9">
            <a:extLst>
              <a:ext uri="{FF2B5EF4-FFF2-40B4-BE49-F238E27FC236}">
                <a16:creationId xmlns:a16="http://schemas.microsoft.com/office/drawing/2014/main" id="{59D5321F-73C3-44C3-8C47-252B9933D230}"/>
              </a:ext>
            </a:extLst>
          </p:cNvPr>
          <p:cNvGrpSpPr/>
          <p:nvPr>
            <p:custDataLst>
              <p:tags r:id="rId6"/>
            </p:custDataLst>
          </p:nvPr>
        </p:nvGrpSpPr>
        <p:grpSpPr>
          <a:xfrm>
            <a:off x="0" y="3352800"/>
            <a:ext cx="6019800" cy="3048000"/>
            <a:chOff x="0" y="3352800"/>
            <a:chExt cx="6019800" cy="3048000"/>
          </a:xfrm>
        </p:grpSpPr>
        <p:sp>
          <p:nvSpPr>
            <p:cNvPr id="12" name="Rectangle 3">
              <a:extLst>
                <a:ext uri="{FF2B5EF4-FFF2-40B4-BE49-F238E27FC236}">
                  <a16:creationId xmlns:a16="http://schemas.microsoft.com/office/drawing/2014/main" id="{AB602B70-99BD-4C27-B646-5ADD77F9B1EA}"/>
                </a:ext>
              </a:extLst>
            </p:cNvPr>
            <p:cNvSpPr txBox="1">
              <a:spLocks noChangeArrowheads="1"/>
            </p:cNvSpPr>
            <p:nvPr>
              <p:custDataLst>
                <p:tags r:id="rId21"/>
              </p:custDataLst>
            </p:nvPr>
          </p:nvSpPr>
          <p:spPr bwMode="auto">
            <a:xfrm>
              <a:off x="2895600" y="5894764"/>
              <a:ext cx="15240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(NOP)</a:t>
              </a:r>
            </a:p>
          </p:txBody>
        </p:sp>
        <p:sp>
          <p:nvSpPr>
            <p:cNvPr id="13" name="Rectangle 3">
              <a:extLst>
                <a:ext uri="{FF2B5EF4-FFF2-40B4-BE49-F238E27FC236}">
                  <a16:creationId xmlns:a16="http://schemas.microsoft.com/office/drawing/2014/main" id="{D91903A4-4198-4C2A-805E-59FDF5B14025}"/>
                </a:ext>
              </a:extLst>
            </p:cNvPr>
            <p:cNvSpPr txBox="1">
              <a:spLocks noChangeArrowheads="1"/>
            </p:cNvSpPr>
            <p:nvPr>
              <p:custDataLst>
                <p:tags r:id="rId22"/>
              </p:custDataLst>
            </p:nvPr>
          </p:nvSpPr>
          <p:spPr bwMode="auto">
            <a:xfrm>
              <a:off x="1295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14" name="Rectangle 3">
              <a:extLst>
                <a:ext uri="{FF2B5EF4-FFF2-40B4-BE49-F238E27FC236}">
                  <a16:creationId xmlns:a16="http://schemas.microsoft.com/office/drawing/2014/main" id="{6550B170-9AFA-48D1-9C6D-52985D30FCB1}"/>
                </a:ext>
              </a:extLst>
            </p:cNvPr>
            <p:cNvSpPr txBox="1">
              <a:spLocks noChangeArrowheads="1"/>
            </p:cNvSpPr>
            <p:nvPr>
              <p:custDataLst>
                <p:tags r:id="rId23"/>
              </p:custDataLst>
            </p:nvPr>
          </p:nvSpPr>
          <p:spPr bwMode="auto">
            <a:xfrm>
              <a:off x="49530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err="1">
                  <a:solidFill>
                    <a:schemeClr val="accent6">
                      <a:lumMod val="75000"/>
                    </a:schemeClr>
                  </a:solidFill>
                </a:rPr>
                <a:t>beq</a:t>
              </a:r>
              <a:endParaRPr lang="en-US" altLang="en-US" sz="2400" b="1" dirty="0">
                <a:solidFill>
                  <a:schemeClr val="accent6">
                    <a:lumMod val="75000"/>
                  </a:schemeClr>
                </a:solidFill>
              </a:endParaRPr>
            </a:p>
          </p:txBody>
        </p:sp>
        <p:sp>
          <p:nvSpPr>
            <p:cNvPr id="15" name="Rectangle 3">
              <a:extLst>
                <a:ext uri="{FF2B5EF4-FFF2-40B4-BE49-F238E27FC236}">
                  <a16:creationId xmlns:a16="http://schemas.microsoft.com/office/drawing/2014/main" id="{B859E5DB-996E-49E4-AFDE-8C5C4F44A713}"/>
                </a:ext>
              </a:extLst>
            </p:cNvPr>
            <p:cNvSpPr txBox="1">
              <a:spLocks noChangeArrowheads="1"/>
            </p:cNvSpPr>
            <p:nvPr>
              <p:custDataLst>
                <p:tags r:id="rId24"/>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3:</a:t>
              </a:r>
            </a:p>
          </p:txBody>
        </p:sp>
      </p:grpSp>
      <p:grpSp>
        <p:nvGrpSpPr>
          <p:cNvPr id="17" name="Group 16">
            <a:extLst>
              <a:ext uri="{FF2B5EF4-FFF2-40B4-BE49-F238E27FC236}">
                <a16:creationId xmlns:a16="http://schemas.microsoft.com/office/drawing/2014/main" id="{19CE78E0-4E14-41CF-876A-A267E4896618}"/>
              </a:ext>
            </a:extLst>
          </p:cNvPr>
          <p:cNvGrpSpPr/>
          <p:nvPr>
            <p:custDataLst>
              <p:tags r:id="rId7"/>
            </p:custDataLst>
          </p:nvPr>
        </p:nvGrpSpPr>
        <p:grpSpPr>
          <a:xfrm>
            <a:off x="0" y="3352800"/>
            <a:ext cx="7391400" cy="3048000"/>
            <a:chOff x="0" y="3352800"/>
            <a:chExt cx="7391400" cy="3048000"/>
          </a:xfrm>
        </p:grpSpPr>
        <p:sp>
          <p:nvSpPr>
            <p:cNvPr id="18" name="Rectangle 3">
              <a:extLst>
                <a:ext uri="{FF2B5EF4-FFF2-40B4-BE49-F238E27FC236}">
                  <a16:creationId xmlns:a16="http://schemas.microsoft.com/office/drawing/2014/main" id="{43370622-B8B4-40CA-AA54-6FBF0B4A86A7}"/>
                </a:ext>
              </a:extLst>
            </p:cNvPr>
            <p:cNvSpPr txBox="1">
              <a:spLocks noChangeArrowheads="1"/>
            </p:cNvSpPr>
            <p:nvPr>
              <p:custDataLst>
                <p:tags r:id="rId17"/>
              </p:custDataLst>
            </p:nvPr>
          </p:nvSpPr>
          <p:spPr bwMode="auto">
            <a:xfrm>
              <a:off x="4648200" y="5894764"/>
              <a:ext cx="15240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(NOP)</a:t>
              </a:r>
            </a:p>
          </p:txBody>
        </p:sp>
        <p:sp>
          <p:nvSpPr>
            <p:cNvPr id="19" name="Rectangle 3">
              <a:extLst>
                <a:ext uri="{FF2B5EF4-FFF2-40B4-BE49-F238E27FC236}">
                  <a16:creationId xmlns:a16="http://schemas.microsoft.com/office/drawing/2014/main" id="{6A1674B2-ACBB-4961-80A0-FE289F2B4C4A}"/>
                </a:ext>
              </a:extLst>
            </p:cNvPr>
            <p:cNvSpPr txBox="1">
              <a:spLocks noChangeArrowheads="1"/>
            </p:cNvSpPr>
            <p:nvPr>
              <p:custDataLst>
                <p:tags r:id="rId18"/>
              </p:custDataLst>
            </p:nvPr>
          </p:nvSpPr>
          <p:spPr bwMode="auto">
            <a:xfrm>
              <a:off x="3124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20" name="Rectangle 3">
              <a:extLst>
                <a:ext uri="{FF2B5EF4-FFF2-40B4-BE49-F238E27FC236}">
                  <a16:creationId xmlns:a16="http://schemas.microsoft.com/office/drawing/2014/main" id="{A21F7A3F-6375-480A-90EF-5781EB09B779}"/>
                </a:ext>
              </a:extLst>
            </p:cNvPr>
            <p:cNvSpPr txBox="1">
              <a:spLocks noChangeArrowheads="1"/>
            </p:cNvSpPr>
            <p:nvPr>
              <p:custDataLst>
                <p:tags r:id="rId19"/>
              </p:custDataLst>
            </p:nvPr>
          </p:nvSpPr>
          <p:spPr bwMode="auto">
            <a:xfrm>
              <a:off x="63246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err="1">
                  <a:solidFill>
                    <a:schemeClr val="accent6">
                      <a:lumMod val="75000"/>
                    </a:schemeClr>
                  </a:solidFill>
                </a:rPr>
                <a:t>beq</a:t>
              </a:r>
              <a:endParaRPr lang="en-US" altLang="en-US" sz="2400" b="1" dirty="0">
                <a:solidFill>
                  <a:schemeClr val="accent6">
                    <a:lumMod val="75000"/>
                  </a:schemeClr>
                </a:solidFill>
              </a:endParaRPr>
            </a:p>
          </p:txBody>
        </p:sp>
        <p:sp>
          <p:nvSpPr>
            <p:cNvPr id="21" name="Rectangle 3">
              <a:extLst>
                <a:ext uri="{FF2B5EF4-FFF2-40B4-BE49-F238E27FC236}">
                  <a16:creationId xmlns:a16="http://schemas.microsoft.com/office/drawing/2014/main" id="{0424CA11-675D-487B-8FA8-BC9515C5BFEF}"/>
                </a:ext>
              </a:extLst>
            </p:cNvPr>
            <p:cNvSpPr txBox="1">
              <a:spLocks noChangeArrowheads="1"/>
            </p:cNvSpPr>
            <p:nvPr>
              <p:custDataLst>
                <p:tags r:id="rId20"/>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4:</a:t>
              </a:r>
            </a:p>
          </p:txBody>
        </p:sp>
      </p:grpSp>
      <p:grpSp>
        <p:nvGrpSpPr>
          <p:cNvPr id="22" name="Group 21">
            <a:extLst>
              <a:ext uri="{FF2B5EF4-FFF2-40B4-BE49-F238E27FC236}">
                <a16:creationId xmlns:a16="http://schemas.microsoft.com/office/drawing/2014/main" id="{FCE52C39-CEC8-4145-81CB-7DD37AC4ABE5}"/>
              </a:ext>
            </a:extLst>
          </p:cNvPr>
          <p:cNvGrpSpPr/>
          <p:nvPr>
            <p:custDataLst>
              <p:tags r:id="rId8"/>
            </p:custDataLst>
          </p:nvPr>
        </p:nvGrpSpPr>
        <p:grpSpPr>
          <a:xfrm>
            <a:off x="0" y="3352800"/>
            <a:ext cx="8763000" cy="3048000"/>
            <a:chOff x="0" y="3352800"/>
            <a:chExt cx="8763000" cy="3048000"/>
          </a:xfrm>
        </p:grpSpPr>
        <p:sp>
          <p:nvSpPr>
            <p:cNvPr id="23" name="Rectangle 3">
              <a:extLst>
                <a:ext uri="{FF2B5EF4-FFF2-40B4-BE49-F238E27FC236}">
                  <a16:creationId xmlns:a16="http://schemas.microsoft.com/office/drawing/2014/main" id="{F22FCBFF-1A43-476C-999D-F62D42F33803}"/>
                </a:ext>
              </a:extLst>
            </p:cNvPr>
            <p:cNvSpPr txBox="1">
              <a:spLocks noChangeArrowheads="1"/>
            </p:cNvSpPr>
            <p:nvPr>
              <p:custDataLst>
                <p:tags r:id="rId13"/>
              </p:custDataLst>
            </p:nvPr>
          </p:nvSpPr>
          <p:spPr bwMode="auto">
            <a:xfrm>
              <a:off x="6019800" y="5894764"/>
              <a:ext cx="15240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(NOP)</a:t>
              </a:r>
            </a:p>
          </p:txBody>
        </p:sp>
        <p:sp>
          <p:nvSpPr>
            <p:cNvPr id="24" name="Rectangle 3">
              <a:extLst>
                <a:ext uri="{FF2B5EF4-FFF2-40B4-BE49-F238E27FC236}">
                  <a16:creationId xmlns:a16="http://schemas.microsoft.com/office/drawing/2014/main" id="{B7729BB1-ED33-4CBC-A133-CDFDC897BB48}"/>
                </a:ext>
              </a:extLst>
            </p:cNvPr>
            <p:cNvSpPr txBox="1">
              <a:spLocks noChangeArrowheads="1"/>
            </p:cNvSpPr>
            <p:nvPr>
              <p:custDataLst>
                <p:tags r:id="rId14"/>
              </p:custDataLst>
            </p:nvPr>
          </p:nvSpPr>
          <p:spPr bwMode="auto">
            <a:xfrm>
              <a:off x="48768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25" name="Rectangle 3">
              <a:extLst>
                <a:ext uri="{FF2B5EF4-FFF2-40B4-BE49-F238E27FC236}">
                  <a16:creationId xmlns:a16="http://schemas.microsoft.com/office/drawing/2014/main" id="{0CD2D6B7-74C5-4EB9-B50A-1603D09CC6E8}"/>
                </a:ext>
              </a:extLst>
            </p:cNvPr>
            <p:cNvSpPr txBox="1">
              <a:spLocks noChangeArrowheads="1"/>
            </p:cNvSpPr>
            <p:nvPr>
              <p:custDataLst>
                <p:tags r:id="rId15"/>
              </p:custDataLst>
            </p:nvPr>
          </p:nvSpPr>
          <p:spPr bwMode="auto">
            <a:xfrm>
              <a:off x="76962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None/>
              </a:pPr>
              <a:r>
                <a:rPr lang="en-US" altLang="en-US" sz="2400" b="1" dirty="0" err="1">
                  <a:solidFill>
                    <a:schemeClr val="accent6">
                      <a:lumMod val="75000"/>
                    </a:schemeClr>
                  </a:solidFill>
                </a:rPr>
                <a:t>beq</a:t>
              </a:r>
              <a:endParaRPr lang="en-US" altLang="en-US" sz="2400" b="1" dirty="0">
                <a:solidFill>
                  <a:schemeClr val="accent6">
                    <a:lumMod val="75000"/>
                  </a:schemeClr>
                </a:solidFill>
              </a:endParaRPr>
            </a:p>
          </p:txBody>
        </p:sp>
        <p:sp>
          <p:nvSpPr>
            <p:cNvPr id="26" name="Rectangle 3">
              <a:extLst>
                <a:ext uri="{FF2B5EF4-FFF2-40B4-BE49-F238E27FC236}">
                  <a16:creationId xmlns:a16="http://schemas.microsoft.com/office/drawing/2014/main" id="{C48E82D0-BD80-45AF-B188-64260153162E}"/>
                </a:ext>
              </a:extLst>
            </p:cNvPr>
            <p:cNvSpPr txBox="1">
              <a:spLocks noChangeArrowheads="1"/>
            </p:cNvSpPr>
            <p:nvPr>
              <p:custDataLst>
                <p:tags r:id="rId16"/>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5:</a:t>
              </a:r>
            </a:p>
          </p:txBody>
        </p:sp>
      </p:grpSp>
      <p:grpSp>
        <p:nvGrpSpPr>
          <p:cNvPr id="27" name="Group 26">
            <a:extLst>
              <a:ext uri="{FF2B5EF4-FFF2-40B4-BE49-F238E27FC236}">
                <a16:creationId xmlns:a16="http://schemas.microsoft.com/office/drawing/2014/main" id="{218248F5-E8A6-4483-825E-55B19D783BFF}"/>
              </a:ext>
            </a:extLst>
          </p:cNvPr>
          <p:cNvGrpSpPr/>
          <p:nvPr>
            <p:custDataLst>
              <p:tags r:id="rId9"/>
            </p:custDataLst>
          </p:nvPr>
        </p:nvGrpSpPr>
        <p:grpSpPr>
          <a:xfrm>
            <a:off x="0" y="3352800"/>
            <a:ext cx="8915400" cy="3048000"/>
            <a:chOff x="0" y="3352800"/>
            <a:chExt cx="8915400" cy="3048000"/>
          </a:xfrm>
        </p:grpSpPr>
        <p:sp>
          <p:nvSpPr>
            <p:cNvPr id="28" name="Rectangle 3">
              <a:extLst>
                <a:ext uri="{FF2B5EF4-FFF2-40B4-BE49-F238E27FC236}">
                  <a16:creationId xmlns:a16="http://schemas.microsoft.com/office/drawing/2014/main" id="{583DB040-D33F-4E63-80C0-8378298F0476}"/>
                </a:ext>
              </a:extLst>
            </p:cNvPr>
            <p:cNvSpPr txBox="1">
              <a:spLocks noChangeArrowheads="1"/>
            </p:cNvSpPr>
            <p:nvPr>
              <p:custDataLst>
                <p:tags r:id="rId10"/>
              </p:custDataLst>
            </p:nvPr>
          </p:nvSpPr>
          <p:spPr bwMode="auto">
            <a:xfrm>
              <a:off x="7391400" y="5894764"/>
              <a:ext cx="15240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err="1">
                  <a:solidFill>
                    <a:schemeClr val="accent6">
                      <a:lumMod val="75000"/>
                    </a:schemeClr>
                  </a:solidFill>
                </a:rPr>
                <a:t>lw</a:t>
              </a:r>
              <a:r>
                <a:rPr lang="en-US" altLang="en-US" sz="2400" b="1" dirty="0">
                  <a:solidFill>
                    <a:schemeClr val="accent6">
                      <a:lumMod val="75000"/>
                    </a:schemeClr>
                  </a:solidFill>
                </a:rPr>
                <a:t> (NOP)</a:t>
              </a:r>
            </a:p>
          </p:txBody>
        </p:sp>
        <p:sp>
          <p:nvSpPr>
            <p:cNvPr id="29" name="Rectangle 3">
              <a:extLst>
                <a:ext uri="{FF2B5EF4-FFF2-40B4-BE49-F238E27FC236}">
                  <a16:creationId xmlns:a16="http://schemas.microsoft.com/office/drawing/2014/main" id="{85B0EA15-40A4-46D5-99B6-A8F4047B9771}"/>
                </a:ext>
              </a:extLst>
            </p:cNvPr>
            <p:cNvSpPr txBox="1">
              <a:spLocks noChangeArrowheads="1"/>
            </p:cNvSpPr>
            <p:nvPr>
              <p:custDataLst>
                <p:tags r:id="rId11"/>
              </p:custDataLst>
            </p:nvPr>
          </p:nvSpPr>
          <p:spPr bwMode="auto">
            <a:xfrm>
              <a:off x="6248400" y="5894764"/>
              <a:ext cx="10668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2400" b="1" dirty="0">
                  <a:solidFill>
                    <a:schemeClr val="accent6">
                      <a:lumMod val="75000"/>
                    </a:schemeClr>
                  </a:solidFill>
                </a:rPr>
                <a:t>sub</a:t>
              </a:r>
            </a:p>
          </p:txBody>
        </p:sp>
        <p:sp>
          <p:nvSpPr>
            <p:cNvPr id="30" name="Rectangle 3">
              <a:extLst>
                <a:ext uri="{FF2B5EF4-FFF2-40B4-BE49-F238E27FC236}">
                  <a16:creationId xmlns:a16="http://schemas.microsoft.com/office/drawing/2014/main" id="{F4B80E12-006C-4D3E-91AE-1D3A8045E26A}"/>
                </a:ext>
              </a:extLst>
            </p:cNvPr>
            <p:cNvSpPr txBox="1">
              <a:spLocks noChangeArrowheads="1"/>
            </p:cNvSpPr>
            <p:nvPr>
              <p:custDataLst>
                <p:tags r:id="rId12"/>
              </p:custDataLst>
            </p:nvPr>
          </p:nvSpPr>
          <p:spPr bwMode="auto">
            <a:xfrm>
              <a:off x="0" y="3352800"/>
              <a:ext cx="1371600" cy="5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Font typeface="Arial" charset="0"/>
                <a:buNone/>
              </a:pPr>
              <a:r>
                <a:rPr lang="en-US" altLang="en-US" sz="2400" b="1" dirty="0"/>
                <a:t>cycle 6:</a:t>
              </a:r>
            </a:p>
          </p:txBody>
        </p:sp>
      </p:grpSp>
    </p:spTree>
    <p:custDataLst>
      <p:tags r:id="rId1"/>
    </p:custDataLst>
    <p:extLst>
      <p:ext uri="{BB962C8B-B14F-4D97-AF65-F5344CB8AC3E}">
        <p14:creationId xmlns:p14="http://schemas.microsoft.com/office/powerpoint/2010/main" val="33999707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7"/>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22"/>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4">
            <a:extLst>
              <a:ext uri="{FF2B5EF4-FFF2-40B4-BE49-F238E27FC236}">
                <a16:creationId xmlns:a16="http://schemas.microsoft.com/office/drawing/2014/main" id="{5D82034A-108E-459D-AB37-3E0705AE8251}"/>
              </a:ext>
            </a:extLst>
          </p:cNvPr>
          <p:cNvGraphicFramePr>
            <a:graphicFrameLocks noGrp="1"/>
          </p:cNvGraphicFramePr>
          <p:nvPr>
            <p:custDataLst>
              <p:tags r:id="rId2"/>
            </p:custDataLst>
            <p:extLst>
              <p:ext uri="{D42A27DB-BD31-4B8C-83A1-F6EECF244321}">
                <p14:modId xmlns:p14="http://schemas.microsoft.com/office/powerpoint/2010/main" val="3136537583"/>
              </p:ext>
            </p:extLst>
          </p:nvPr>
        </p:nvGraphicFramePr>
        <p:xfrm>
          <a:off x="838200" y="5181600"/>
          <a:ext cx="7034213" cy="104236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14" name="Group 4">
            <a:extLst>
              <a:ext uri="{FF2B5EF4-FFF2-40B4-BE49-F238E27FC236}">
                <a16:creationId xmlns:a16="http://schemas.microsoft.com/office/drawing/2014/main" id="{4D76F68E-1EB3-4A9B-859F-CFE76A290452}"/>
              </a:ext>
            </a:extLst>
          </p:cNvPr>
          <p:cNvGraphicFramePr>
            <a:graphicFrameLocks noGrp="1"/>
          </p:cNvGraphicFramePr>
          <p:nvPr>
            <p:custDataLst>
              <p:tags r:id="rId3"/>
            </p:custDataLst>
            <p:extLst>
              <p:ext uri="{D42A27DB-BD31-4B8C-83A1-F6EECF244321}">
                <p14:modId xmlns:p14="http://schemas.microsoft.com/office/powerpoint/2010/main" val="1440758400"/>
              </p:ext>
            </p:extLst>
          </p:nvPr>
        </p:nvGraphicFramePr>
        <p:xfrm>
          <a:off x="838200" y="5180454"/>
          <a:ext cx="7034213" cy="104236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4"/>
            </p:custDataLst>
          </p:nvPr>
        </p:nvSpPr>
        <p:spPr>
          <a:xfrm>
            <a:off x="457200" y="274638"/>
            <a:ext cx="7467600" cy="1143000"/>
          </a:xfrm>
        </p:spPr>
        <p:txBody>
          <a:bodyPr/>
          <a:lstStyle/>
          <a:p>
            <a:r>
              <a:rPr lang="en-US" altLang="en-US" dirty="0"/>
              <a:t>Resolving Control Hazards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5"/>
            </p:custDataLst>
          </p:nvPr>
        </p:nvSpPr>
        <p:spPr>
          <a:xfrm>
            <a:off x="457200" y="1447799"/>
            <a:ext cx="8686800" cy="2549383"/>
          </a:xfrm>
        </p:spPr>
        <p:txBody>
          <a:bodyPr/>
          <a:lstStyle/>
          <a:p>
            <a:pPr eaLnBrk="1" hangingPunct="1"/>
            <a:r>
              <a:rPr lang="en-US" altLang="en-US" sz="2800" dirty="0"/>
              <a:t>Predict-not-taken + resolve in ID:</a:t>
            </a:r>
          </a:p>
          <a:p>
            <a:pPr lvl="1"/>
            <a:r>
              <a:rPr lang="en-US" altLang="en-US" sz="2400" dirty="0"/>
              <a:t>Compute target and compare in ID stage (COD Figure 4.65)</a:t>
            </a:r>
          </a:p>
          <a:p>
            <a:pPr lvl="1"/>
            <a:r>
              <a:rPr lang="en-US" altLang="en-US" sz="2400" dirty="0"/>
              <a:t>Flush: clear IF/</a:t>
            </a:r>
            <a:r>
              <a:rPr lang="en-US" altLang="en-US" sz="2400" dirty="0" err="1"/>
              <a:t>ID.Instruction</a:t>
            </a:r>
            <a:r>
              <a:rPr lang="en-US" altLang="en-US" sz="2400" dirty="0"/>
              <a:t> to 0 (inserts NOP to ID)</a:t>
            </a:r>
          </a:p>
          <a:p>
            <a:pPr lvl="1"/>
            <a:r>
              <a:rPr lang="en-US" altLang="en-US" sz="2400" b="1" dirty="0">
                <a:solidFill>
                  <a:schemeClr val="accent6">
                    <a:lumMod val="75000"/>
                  </a:schemeClr>
                </a:solidFill>
              </a:rPr>
              <a:t>But RAW hazards in ID stage?</a:t>
            </a:r>
          </a:p>
          <a:p>
            <a:pPr lvl="2"/>
            <a:r>
              <a:rPr lang="en-US" altLang="en-US" sz="2000" b="1" dirty="0">
                <a:solidFill>
                  <a:schemeClr val="accent6">
                    <a:lumMod val="75000"/>
                  </a:schemeClr>
                </a:solidFill>
              </a:rPr>
              <a:t>Stall + EX-to-ID forwarding (and MEM-to-ID forwarding)</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6"/>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12</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7"/>
            </p:custDataLst>
          </p:nvPr>
        </p:nvSpPr>
        <p:spPr bwMode="auto">
          <a:xfrm>
            <a:off x="682625" y="4133196"/>
            <a:ext cx="6708775" cy="905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None/>
            </a:pPr>
            <a:r>
              <a:rPr lang="en-US" altLang="en-US" sz="2400" dirty="0"/>
              <a:t>add $t1, $t5, $t6</a:t>
            </a:r>
          </a:p>
          <a:p>
            <a:pPr marL="457200" lvl="1" indent="0">
              <a:lnSpc>
                <a:spcPct val="90000"/>
              </a:lnSpc>
              <a:buFont typeface="Arial" charset="0"/>
              <a:buNone/>
            </a:pPr>
            <a:r>
              <a:rPr lang="en-US" altLang="en-US" sz="2400" dirty="0" err="1"/>
              <a:t>beq</a:t>
            </a:r>
            <a:r>
              <a:rPr lang="en-US" altLang="en-US" sz="2400" dirty="0"/>
              <a:t> $t0, $t1, TARGET</a:t>
            </a:r>
          </a:p>
        </p:txBody>
      </p:sp>
      <p:sp>
        <p:nvSpPr>
          <p:cNvPr id="10" name="Line 66">
            <a:extLst>
              <a:ext uri="{FF2B5EF4-FFF2-40B4-BE49-F238E27FC236}">
                <a16:creationId xmlns:a16="http://schemas.microsoft.com/office/drawing/2014/main" id="{8E52A886-08E7-4BF5-BD80-F1FAF6EDB584}"/>
              </a:ext>
            </a:extLst>
          </p:cNvPr>
          <p:cNvSpPr>
            <a:spLocks noChangeShapeType="1"/>
          </p:cNvSpPr>
          <p:nvPr>
            <p:custDataLst>
              <p:tags r:id="rId8"/>
            </p:custDataLst>
          </p:nvPr>
        </p:nvSpPr>
        <p:spPr bwMode="auto">
          <a:xfrm>
            <a:off x="2133600" y="4413927"/>
            <a:ext cx="228600" cy="234273"/>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 name="Line 66">
            <a:extLst>
              <a:ext uri="{FF2B5EF4-FFF2-40B4-BE49-F238E27FC236}">
                <a16:creationId xmlns:a16="http://schemas.microsoft.com/office/drawing/2014/main" id="{E9BC10A8-E738-4699-BDB2-4D5C291E00EF}"/>
              </a:ext>
            </a:extLst>
          </p:cNvPr>
          <p:cNvSpPr>
            <a:spLocks noChangeShapeType="1"/>
          </p:cNvSpPr>
          <p:nvPr>
            <p:custDataLst>
              <p:tags r:id="rId9"/>
            </p:custDataLst>
          </p:nvPr>
        </p:nvSpPr>
        <p:spPr bwMode="auto">
          <a:xfrm>
            <a:off x="3352800" y="5791200"/>
            <a:ext cx="76200" cy="311989"/>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ustDataLst>
      <p:tags r:id="rId1"/>
    </p:custDataLst>
    <p:extLst>
      <p:ext uri="{BB962C8B-B14F-4D97-AF65-F5344CB8AC3E}">
        <p14:creationId xmlns:p14="http://schemas.microsoft.com/office/powerpoint/2010/main" val="6469251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4">
            <a:extLst>
              <a:ext uri="{FF2B5EF4-FFF2-40B4-BE49-F238E27FC236}">
                <a16:creationId xmlns:a16="http://schemas.microsoft.com/office/drawing/2014/main" id="{5D82034A-108E-459D-AB37-3E0705AE8251}"/>
              </a:ext>
            </a:extLst>
          </p:cNvPr>
          <p:cNvGraphicFramePr>
            <a:graphicFrameLocks noGrp="1"/>
          </p:cNvGraphicFramePr>
          <p:nvPr>
            <p:custDataLst>
              <p:tags r:id="rId2"/>
            </p:custDataLst>
            <p:extLst>
              <p:ext uri="{D42A27DB-BD31-4B8C-83A1-F6EECF244321}">
                <p14:modId xmlns:p14="http://schemas.microsoft.com/office/powerpoint/2010/main" val="3181639051"/>
              </p:ext>
            </p:extLst>
          </p:nvPr>
        </p:nvGraphicFramePr>
        <p:xfrm>
          <a:off x="838200" y="5178642"/>
          <a:ext cx="7034213" cy="1664118"/>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27572692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66573859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Branch Delay Slots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4"/>
            </p:custDataLst>
          </p:nvPr>
        </p:nvSpPr>
        <p:spPr>
          <a:xfrm>
            <a:off x="457200" y="1447800"/>
            <a:ext cx="8686800" cy="1828800"/>
          </a:xfrm>
        </p:spPr>
        <p:txBody>
          <a:bodyPr/>
          <a:lstStyle/>
          <a:p>
            <a:pPr eaLnBrk="1" hangingPunct="1"/>
            <a:r>
              <a:rPr lang="en-US" altLang="en-US" sz="2800" dirty="0"/>
              <a:t>Branch delay slot:</a:t>
            </a:r>
          </a:p>
          <a:p>
            <a:pPr lvl="1"/>
            <a:r>
              <a:rPr lang="en-US" altLang="en-US" sz="2400" dirty="0"/>
              <a:t>Instruction after branch </a:t>
            </a:r>
            <a:r>
              <a:rPr lang="en-US" altLang="en-US" sz="2400" i="1" dirty="0"/>
              <a:t>always</a:t>
            </a:r>
            <a:r>
              <a:rPr lang="en-US" altLang="en-US" sz="2400" dirty="0"/>
              <a:t> executed (avoids flush logic)</a:t>
            </a:r>
          </a:p>
          <a:p>
            <a:pPr lvl="2"/>
            <a:r>
              <a:rPr lang="en-US" altLang="en-US" sz="2000" dirty="0"/>
              <a:t>Compiler is responsible for filling slot with </a:t>
            </a:r>
            <a:r>
              <a:rPr lang="en-US" altLang="en-US" sz="2000" i="1" dirty="0"/>
              <a:t>legal</a:t>
            </a:r>
            <a:r>
              <a:rPr lang="en-US" altLang="en-US" sz="2000" dirty="0"/>
              <a:t> instruction</a:t>
            </a:r>
          </a:p>
          <a:p>
            <a:pPr lvl="1"/>
            <a:r>
              <a:rPr lang="en-US" altLang="en-US" sz="2400" dirty="0"/>
              <a:t>Assume branches resolved in ID stage (COD Figure 4.65)</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5"/>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13</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6"/>
            </p:custDataLst>
          </p:nvPr>
        </p:nvSpPr>
        <p:spPr bwMode="auto">
          <a:xfrm>
            <a:off x="682625" y="3429000"/>
            <a:ext cx="67087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lw</a:t>
            </a:r>
            <a:r>
              <a:rPr lang="en-US" altLang="en-US" sz="2400" dirty="0"/>
              <a:t> $t7, 0($t8)</a:t>
            </a:r>
          </a:p>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None/>
            </a:pPr>
            <a:r>
              <a:rPr lang="en-US" altLang="en-US" sz="2400" dirty="0"/>
              <a:t>add $t5, $t4, $t6</a:t>
            </a:r>
          </a:p>
        </p:txBody>
      </p:sp>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7"/>
            </p:custDataLst>
          </p:nvPr>
        </p:nvSpPr>
        <p:spPr bwMode="auto">
          <a:xfrm>
            <a:off x="4800600" y="3429000"/>
            <a:ext cx="38893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
        <p:nvSpPr>
          <p:cNvPr id="3" name="Arc 2">
            <a:extLst>
              <a:ext uri="{FF2B5EF4-FFF2-40B4-BE49-F238E27FC236}">
                <a16:creationId xmlns:a16="http://schemas.microsoft.com/office/drawing/2014/main" id="{456282AF-0313-4138-B534-4784DC7C6099}"/>
              </a:ext>
            </a:extLst>
          </p:cNvPr>
          <p:cNvSpPr/>
          <p:nvPr>
            <p:custDataLst>
              <p:tags r:id="rId8"/>
            </p:custDataLst>
          </p:nvPr>
        </p:nvSpPr>
        <p:spPr>
          <a:xfrm flipV="1">
            <a:off x="1000664" y="3733798"/>
            <a:ext cx="6085936" cy="952459"/>
          </a:xfrm>
          <a:prstGeom prst="arc">
            <a:avLst>
              <a:gd name="adj1" fmla="val 11492139"/>
              <a:gd name="adj2" fmla="val 0"/>
            </a:avLst>
          </a:prstGeom>
          <a:ln w="254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3">
            <a:extLst>
              <a:ext uri="{FF2B5EF4-FFF2-40B4-BE49-F238E27FC236}">
                <a16:creationId xmlns:a16="http://schemas.microsoft.com/office/drawing/2014/main" id="{0F1E879A-C96C-4AAF-A53A-B263E476A536}"/>
              </a:ext>
            </a:extLst>
          </p:cNvPr>
          <p:cNvSpPr txBox="1">
            <a:spLocks noChangeArrowheads="1"/>
          </p:cNvSpPr>
          <p:nvPr>
            <p:custDataLst>
              <p:tags r:id="rId9"/>
            </p:custDataLst>
          </p:nvPr>
        </p:nvSpPr>
        <p:spPr bwMode="auto">
          <a:xfrm>
            <a:off x="4371121" y="4686269"/>
            <a:ext cx="928428" cy="209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600" b="1" dirty="0">
                <a:solidFill>
                  <a:schemeClr val="accent6">
                    <a:lumMod val="75000"/>
                  </a:schemeClr>
                </a:solidFill>
              </a:rPr>
              <a:t>not legal</a:t>
            </a:r>
            <a:endParaRPr lang="en-US" altLang="en-US" sz="1200" b="1" dirty="0">
              <a:solidFill>
                <a:schemeClr val="accent6">
                  <a:lumMod val="75000"/>
                </a:schemeClr>
              </a:solidFill>
            </a:endParaRPr>
          </a:p>
        </p:txBody>
      </p:sp>
    </p:spTree>
    <p:custDataLst>
      <p:tags r:id="rId1"/>
    </p:custDataLst>
    <p:extLst>
      <p:ext uri="{BB962C8B-B14F-4D97-AF65-F5344CB8AC3E}">
        <p14:creationId xmlns:p14="http://schemas.microsoft.com/office/powerpoint/2010/main" val="35661437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4">
            <a:extLst>
              <a:ext uri="{FF2B5EF4-FFF2-40B4-BE49-F238E27FC236}">
                <a16:creationId xmlns:a16="http://schemas.microsoft.com/office/drawing/2014/main" id="{5D82034A-108E-459D-AB37-3E0705AE8251}"/>
              </a:ext>
            </a:extLst>
          </p:cNvPr>
          <p:cNvGraphicFramePr>
            <a:graphicFrameLocks noGrp="1"/>
          </p:cNvGraphicFramePr>
          <p:nvPr>
            <p:custDataLst>
              <p:tags r:id="rId2"/>
            </p:custDataLst>
            <p:extLst>
              <p:ext uri="{D42A27DB-BD31-4B8C-83A1-F6EECF244321}">
                <p14:modId xmlns:p14="http://schemas.microsoft.com/office/powerpoint/2010/main" val="3941192263"/>
              </p:ext>
            </p:extLst>
          </p:nvPr>
        </p:nvGraphicFramePr>
        <p:xfrm>
          <a:off x="838200" y="5178642"/>
          <a:ext cx="7034213" cy="1664118"/>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27572692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NOP</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66573859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Branch Delay Slots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4"/>
            </p:custDataLst>
          </p:nvPr>
        </p:nvSpPr>
        <p:spPr>
          <a:xfrm>
            <a:off x="457200" y="1447800"/>
            <a:ext cx="8686800" cy="1828800"/>
          </a:xfrm>
        </p:spPr>
        <p:txBody>
          <a:bodyPr/>
          <a:lstStyle/>
          <a:p>
            <a:pPr eaLnBrk="1" hangingPunct="1"/>
            <a:r>
              <a:rPr lang="en-US" altLang="en-US" sz="2800" dirty="0"/>
              <a:t>Branch delay slot:</a:t>
            </a:r>
          </a:p>
          <a:p>
            <a:pPr lvl="1"/>
            <a:r>
              <a:rPr lang="en-US" altLang="en-US" sz="2400" dirty="0"/>
              <a:t>Instruction after branch </a:t>
            </a:r>
            <a:r>
              <a:rPr lang="en-US" altLang="en-US" sz="2400" i="1" dirty="0"/>
              <a:t>always</a:t>
            </a:r>
            <a:r>
              <a:rPr lang="en-US" altLang="en-US" sz="2400" dirty="0"/>
              <a:t> executed (avoids flush logic)</a:t>
            </a:r>
          </a:p>
          <a:p>
            <a:pPr lvl="2"/>
            <a:r>
              <a:rPr lang="en-US" altLang="en-US" sz="2000" dirty="0"/>
              <a:t>Compiler is responsible for filling slot with </a:t>
            </a:r>
            <a:r>
              <a:rPr lang="en-US" altLang="en-US" sz="2000" i="1" dirty="0"/>
              <a:t>legal</a:t>
            </a:r>
            <a:r>
              <a:rPr lang="en-US" altLang="en-US" sz="2000" dirty="0"/>
              <a:t> instruction</a:t>
            </a:r>
          </a:p>
          <a:p>
            <a:pPr lvl="1"/>
            <a:r>
              <a:rPr lang="en-US" altLang="en-US" sz="2400" dirty="0"/>
              <a:t>Assume branches resolved in ID stage (COD Figure 4.65)</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5"/>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14</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6"/>
            </p:custDataLst>
          </p:nvPr>
        </p:nvSpPr>
        <p:spPr bwMode="auto">
          <a:xfrm>
            <a:off x="682625" y="3429000"/>
            <a:ext cx="67087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lw</a:t>
            </a:r>
            <a:r>
              <a:rPr lang="en-US" altLang="en-US" sz="2400" dirty="0"/>
              <a:t> $t7, 0($t8)</a:t>
            </a:r>
          </a:p>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Font typeface="Arial" charset="0"/>
              <a:buNone/>
            </a:pPr>
            <a:r>
              <a:rPr lang="en-US" altLang="en-US" sz="2400" b="1" dirty="0" err="1">
                <a:solidFill>
                  <a:schemeClr val="accent6">
                    <a:lumMod val="75000"/>
                  </a:schemeClr>
                </a:solidFill>
              </a:rPr>
              <a:t>sll</a:t>
            </a:r>
            <a:r>
              <a:rPr lang="en-US" altLang="en-US" sz="2400" b="1" dirty="0">
                <a:solidFill>
                  <a:schemeClr val="accent6">
                    <a:lumMod val="75000"/>
                  </a:schemeClr>
                </a:solidFill>
              </a:rPr>
              <a:t> $zero, $zero, 0</a:t>
            </a:r>
          </a:p>
          <a:p>
            <a:pPr marL="457200" lvl="1" indent="0">
              <a:lnSpc>
                <a:spcPct val="90000"/>
              </a:lnSpc>
              <a:buNone/>
            </a:pPr>
            <a:r>
              <a:rPr lang="en-US" altLang="en-US" sz="2400" dirty="0"/>
              <a:t>add $t5, $t4, $t6</a:t>
            </a:r>
          </a:p>
        </p:txBody>
      </p:sp>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7"/>
            </p:custDataLst>
          </p:nvPr>
        </p:nvSpPr>
        <p:spPr bwMode="auto">
          <a:xfrm>
            <a:off x="4800600" y="3429000"/>
            <a:ext cx="38893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
        <p:nvSpPr>
          <p:cNvPr id="10" name="Rectangle 3">
            <a:extLst>
              <a:ext uri="{FF2B5EF4-FFF2-40B4-BE49-F238E27FC236}">
                <a16:creationId xmlns:a16="http://schemas.microsoft.com/office/drawing/2014/main" id="{2107AFD7-7BFC-4A82-B1B7-A73B7D71AACA}"/>
              </a:ext>
            </a:extLst>
          </p:cNvPr>
          <p:cNvSpPr txBox="1">
            <a:spLocks noChangeArrowheads="1"/>
          </p:cNvSpPr>
          <p:nvPr>
            <p:custDataLst>
              <p:tags r:id="rId8"/>
            </p:custDataLst>
          </p:nvPr>
        </p:nvSpPr>
        <p:spPr bwMode="auto">
          <a:xfrm>
            <a:off x="2971800" y="4267200"/>
            <a:ext cx="207142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600" b="1" dirty="0">
                <a:solidFill>
                  <a:schemeClr val="accent6">
                    <a:lumMod val="75000"/>
                  </a:schemeClr>
                </a:solidFill>
              </a:rPr>
              <a:t>option 1:</a:t>
            </a:r>
          </a:p>
          <a:p>
            <a:pPr marL="0" indent="0" algn="ctr">
              <a:lnSpc>
                <a:spcPct val="80000"/>
              </a:lnSpc>
              <a:buFont typeface="Arial" charset="0"/>
              <a:buNone/>
            </a:pPr>
            <a:r>
              <a:rPr lang="en-US" altLang="en-US" sz="1600" b="1" dirty="0">
                <a:solidFill>
                  <a:schemeClr val="accent6">
                    <a:lumMod val="75000"/>
                  </a:schemeClr>
                </a:solidFill>
              </a:rPr>
              <a:t>insert NOP</a:t>
            </a:r>
            <a:endParaRPr lang="en-US" altLang="en-US" sz="1200" b="1" dirty="0">
              <a:solidFill>
                <a:schemeClr val="accent6">
                  <a:lumMod val="75000"/>
                </a:schemeClr>
              </a:solidFill>
            </a:endParaRPr>
          </a:p>
        </p:txBody>
      </p:sp>
    </p:spTree>
    <p:custDataLst>
      <p:tags r:id="rId1"/>
    </p:custDataLst>
    <p:extLst>
      <p:ext uri="{BB962C8B-B14F-4D97-AF65-F5344CB8AC3E}">
        <p14:creationId xmlns:p14="http://schemas.microsoft.com/office/powerpoint/2010/main" val="34446262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4">
            <a:extLst>
              <a:ext uri="{FF2B5EF4-FFF2-40B4-BE49-F238E27FC236}">
                <a16:creationId xmlns:a16="http://schemas.microsoft.com/office/drawing/2014/main" id="{5D82034A-108E-459D-AB37-3E0705AE8251}"/>
              </a:ext>
            </a:extLst>
          </p:cNvPr>
          <p:cNvGraphicFramePr>
            <a:graphicFrameLocks noGrp="1"/>
          </p:cNvGraphicFramePr>
          <p:nvPr>
            <p:custDataLst>
              <p:tags r:id="rId2"/>
            </p:custDataLst>
            <p:extLst>
              <p:ext uri="{D42A27DB-BD31-4B8C-83A1-F6EECF244321}">
                <p14:modId xmlns:p14="http://schemas.microsoft.com/office/powerpoint/2010/main" val="2431298953"/>
              </p:ext>
            </p:extLst>
          </p:nvPr>
        </p:nvGraphicFramePr>
        <p:xfrm>
          <a:off x="838200" y="5178642"/>
          <a:ext cx="7034213" cy="135324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27572692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Branch Delay Slots</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4"/>
            </p:custDataLst>
          </p:nvPr>
        </p:nvSpPr>
        <p:spPr>
          <a:xfrm>
            <a:off x="457200" y="1447800"/>
            <a:ext cx="8686800" cy="1828800"/>
          </a:xfrm>
        </p:spPr>
        <p:txBody>
          <a:bodyPr/>
          <a:lstStyle/>
          <a:p>
            <a:pPr eaLnBrk="1" hangingPunct="1"/>
            <a:r>
              <a:rPr lang="en-US" altLang="en-US" sz="2800" dirty="0"/>
              <a:t>Branch delay slot:</a:t>
            </a:r>
          </a:p>
          <a:p>
            <a:pPr lvl="1"/>
            <a:r>
              <a:rPr lang="en-US" altLang="en-US" sz="2400" dirty="0"/>
              <a:t>Instruction after branch </a:t>
            </a:r>
            <a:r>
              <a:rPr lang="en-US" altLang="en-US" sz="2400" i="1" dirty="0"/>
              <a:t>always</a:t>
            </a:r>
            <a:r>
              <a:rPr lang="en-US" altLang="en-US" sz="2400" dirty="0"/>
              <a:t> executed (avoids flush logic)</a:t>
            </a:r>
          </a:p>
          <a:p>
            <a:pPr lvl="2"/>
            <a:r>
              <a:rPr lang="en-US" altLang="en-US" sz="2000" dirty="0"/>
              <a:t>Compiler is responsible for filling slot with </a:t>
            </a:r>
            <a:r>
              <a:rPr lang="en-US" altLang="en-US" sz="2000" i="1" dirty="0"/>
              <a:t>legal</a:t>
            </a:r>
            <a:r>
              <a:rPr lang="en-US" altLang="en-US" sz="2000" dirty="0"/>
              <a:t> instruction</a:t>
            </a:r>
          </a:p>
          <a:p>
            <a:pPr lvl="1"/>
            <a:r>
              <a:rPr lang="en-US" altLang="en-US" sz="2400" dirty="0"/>
              <a:t>Assume branches resolved in ID stage (COD Figure 4.65)</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5"/>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15</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6"/>
            </p:custDataLst>
          </p:nvPr>
        </p:nvSpPr>
        <p:spPr bwMode="auto">
          <a:xfrm>
            <a:off x="682625" y="3429000"/>
            <a:ext cx="67087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strike="sngStrike" dirty="0" err="1"/>
              <a:t>lw</a:t>
            </a:r>
            <a:r>
              <a:rPr lang="en-US" altLang="en-US" sz="2400" strike="sngStrike" dirty="0"/>
              <a:t> $t7, 0($t8)</a:t>
            </a:r>
          </a:p>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None/>
            </a:pPr>
            <a:r>
              <a:rPr lang="en-US" altLang="en-US" sz="2400" b="1" dirty="0" err="1">
                <a:solidFill>
                  <a:schemeClr val="accent6">
                    <a:lumMod val="75000"/>
                  </a:schemeClr>
                </a:solidFill>
              </a:rPr>
              <a:t>lw</a:t>
            </a:r>
            <a:r>
              <a:rPr lang="en-US" altLang="en-US" sz="2400" b="1" dirty="0">
                <a:solidFill>
                  <a:schemeClr val="accent6">
                    <a:lumMod val="75000"/>
                  </a:schemeClr>
                </a:solidFill>
              </a:rPr>
              <a:t> $t7, 0($t8)</a:t>
            </a:r>
          </a:p>
          <a:p>
            <a:pPr marL="457200" lvl="1" indent="0">
              <a:lnSpc>
                <a:spcPct val="90000"/>
              </a:lnSpc>
              <a:buNone/>
            </a:pPr>
            <a:r>
              <a:rPr lang="en-US" altLang="en-US" sz="2400" dirty="0"/>
              <a:t>add $t5, $t4, $t6</a:t>
            </a:r>
          </a:p>
        </p:txBody>
      </p:sp>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7"/>
            </p:custDataLst>
          </p:nvPr>
        </p:nvSpPr>
        <p:spPr bwMode="auto">
          <a:xfrm>
            <a:off x="4800600" y="3429000"/>
            <a:ext cx="38893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
        <p:nvSpPr>
          <p:cNvPr id="10" name="Rectangle 3">
            <a:extLst>
              <a:ext uri="{FF2B5EF4-FFF2-40B4-BE49-F238E27FC236}">
                <a16:creationId xmlns:a16="http://schemas.microsoft.com/office/drawing/2014/main" id="{80980FD8-912F-4DD9-9F37-E901C39E2D7A}"/>
              </a:ext>
            </a:extLst>
          </p:cNvPr>
          <p:cNvSpPr txBox="1">
            <a:spLocks noChangeArrowheads="1"/>
          </p:cNvSpPr>
          <p:nvPr>
            <p:custDataLst>
              <p:tags r:id="rId8"/>
            </p:custDataLst>
          </p:nvPr>
        </p:nvSpPr>
        <p:spPr bwMode="auto">
          <a:xfrm>
            <a:off x="3352800" y="43434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600" b="1" dirty="0">
                <a:solidFill>
                  <a:schemeClr val="accent6">
                    <a:lumMod val="75000"/>
                  </a:schemeClr>
                </a:solidFill>
              </a:rPr>
              <a:t>option 2:</a:t>
            </a:r>
          </a:p>
          <a:p>
            <a:pPr marL="0" indent="0" algn="ctr">
              <a:lnSpc>
                <a:spcPct val="80000"/>
              </a:lnSpc>
              <a:buFont typeface="Arial" charset="0"/>
              <a:buNone/>
            </a:pPr>
            <a:r>
              <a:rPr lang="en-US" altLang="en-US" sz="1600" b="1" dirty="0">
                <a:solidFill>
                  <a:schemeClr val="accent6">
                    <a:lumMod val="75000"/>
                  </a:schemeClr>
                </a:solidFill>
              </a:rPr>
              <a:t>fill slot with existing instruction, if legal</a:t>
            </a:r>
            <a:endParaRPr lang="en-US" altLang="en-US" sz="1200" b="1" dirty="0">
              <a:solidFill>
                <a:schemeClr val="accent6">
                  <a:lumMod val="75000"/>
                </a:schemeClr>
              </a:solidFill>
            </a:endParaRPr>
          </a:p>
        </p:txBody>
      </p:sp>
    </p:spTree>
    <p:custDataLst>
      <p:tags r:id="rId1"/>
    </p:custDataLst>
    <p:extLst>
      <p:ext uri="{BB962C8B-B14F-4D97-AF65-F5344CB8AC3E}">
        <p14:creationId xmlns:p14="http://schemas.microsoft.com/office/powerpoint/2010/main" val="295680047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4">
            <a:extLst>
              <a:ext uri="{FF2B5EF4-FFF2-40B4-BE49-F238E27FC236}">
                <a16:creationId xmlns:a16="http://schemas.microsoft.com/office/drawing/2014/main" id="{5D82034A-108E-459D-AB37-3E0705AE8251}"/>
              </a:ext>
            </a:extLst>
          </p:cNvPr>
          <p:cNvGraphicFramePr>
            <a:graphicFrameLocks noGrp="1"/>
          </p:cNvGraphicFramePr>
          <p:nvPr>
            <p:custDataLst>
              <p:tags r:id="rId2"/>
            </p:custDataLst>
            <p:extLst>
              <p:ext uri="{D42A27DB-BD31-4B8C-83A1-F6EECF244321}">
                <p14:modId xmlns:p14="http://schemas.microsoft.com/office/powerpoint/2010/main" val="2555089426"/>
              </p:ext>
            </p:extLst>
          </p:nvPr>
        </p:nvGraphicFramePr>
        <p:xfrm>
          <a:off x="838200" y="4876800"/>
          <a:ext cx="7034213" cy="1042362"/>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Branch Prediction</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4"/>
            </p:custDataLst>
          </p:nvPr>
        </p:nvSpPr>
        <p:spPr>
          <a:xfrm>
            <a:off x="457200" y="1447800"/>
            <a:ext cx="8686800" cy="1828800"/>
          </a:xfrm>
        </p:spPr>
        <p:txBody>
          <a:bodyPr/>
          <a:lstStyle/>
          <a:p>
            <a:pPr eaLnBrk="1" hangingPunct="1"/>
            <a:r>
              <a:rPr lang="en-US" altLang="en-US" sz="2800" dirty="0"/>
              <a:t>Dynamic branch direction prediction:</a:t>
            </a:r>
          </a:p>
          <a:p>
            <a:pPr lvl="1"/>
            <a:r>
              <a:rPr lang="en-US" altLang="en-US" sz="2400" i="1" dirty="0"/>
              <a:t>Predict</a:t>
            </a:r>
            <a:r>
              <a:rPr lang="en-US" altLang="en-US" sz="2400" dirty="0"/>
              <a:t> branch outcome (T or N) in IF stage</a:t>
            </a:r>
          </a:p>
          <a:p>
            <a:pPr lvl="1"/>
            <a:r>
              <a:rPr lang="en-US" altLang="en-US" sz="2400" dirty="0"/>
              <a:t>Target is either computed early or predicted too (advanced)</a:t>
            </a:r>
          </a:p>
          <a:p>
            <a:pPr lvl="1"/>
            <a:r>
              <a:rPr lang="en-US" altLang="en-US" sz="2400" dirty="0"/>
              <a:t>Assume branches resolved in ID stage (COD Figure 4.65)</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5"/>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16</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6"/>
            </p:custDataLst>
          </p:nvPr>
        </p:nvSpPr>
        <p:spPr bwMode="auto">
          <a:xfrm>
            <a:off x="682625" y="3733800"/>
            <a:ext cx="67087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Font typeface="Arial" charset="0"/>
              <a:buNone/>
            </a:pPr>
            <a:r>
              <a:rPr lang="en-US" altLang="en-US" sz="2400" dirty="0"/>
              <a:t>add $t5, $t4, $t6</a:t>
            </a:r>
          </a:p>
        </p:txBody>
      </p:sp>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7"/>
            </p:custDataLst>
          </p:nvPr>
        </p:nvSpPr>
        <p:spPr bwMode="auto">
          <a:xfrm>
            <a:off x="4800600" y="3733800"/>
            <a:ext cx="38893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
        <p:nvSpPr>
          <p:cNvPr id="10" name="Line 66">
            <a:extLst>
              <a:ext uri="{FF2B5EF4-FFF2-40B4-BE49-F238E27FC236}">
                <a16:creationId xmlns:a16="http://schemas.microsoft.com/office/drawing/2014/main" id="{96A37AE0-3677-4CDD-9B40-CE2B11C37380}"/>
              </a:ext>
            </a:extLst>
          </p:cNvPr>
          <p:cNvSpPr>
            <a:spLocks noChangeShapeType="1"/>
          </p:cNvSpPr>
          <p:nvPr>
            <p:custDataLst>
              <p:tags r:id="rId8"/>
            </p:custDataLst>
          </p:nvPr>
        </p:nvSpPr>
        <p:spPr bwMode="auto">
          <a:xfrm>
            <a:off x="2362200" y="5480727"/>
            <a:ext cx="228600" cy="234273"/>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Rectangle 3">
            <a:extLst>
              <a:ext uri="{FF2B5EF4-FFF2-40B4-BE49-F238E27FC236}">
                <a16:creationId xmlns:a16="http://schemas.microsoft.com/office/drawing/2014/main" id="{24CF6C6C-0C18-4C38-8DFC-D225C9A898D9}"/>
              </a:ext>
            </a:extLst>
          </p:cNvPr>
          <p:cNvSpPr txBox="1">
            <a:spLocks noChangeArrowheads="1"/>
          </p:cNvSpPr>
          <p:nvPr>
            <p:custDataLst>
              <p:tags r:id="rId9"/>
            </p:custDataLst>
          </p:nvPr>
        </p:nvSpPr>
        <p:spPr bwMode="auto">
          <a:xfrm>
            <a:off x="1600200" y="6035675"/>
            <a:ext cx="1752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600" b="1" dirty="0">
                <a:solidFill>
                  <a:schemeClr val="accent6">
                    <a:lumMod val="75000"/>
                  </a:schemeClr>
                </a:solidFill>
              </a:rPr>
              <a:t>predict taken</a:t>
            </a:r>
          </a:p>
          <a:p>
            <a:pPr marL="0" indent="0" algn="ctr">
              <a:lnSpc>
                <a:spcPct val="80000"/>
              </a:lnSpc>
              <a:buFont typeface="Arial" charset="0"/>
              <a:buNone/>
            </a:pPr>
            <a:r>
              <a:rPr lang="en-US" altLang="en-US" sz="1600" b="1" dirty="0">
                <a:solidFill>
                  <a:schemeClr val="accent6">
                    <a:lumMod val="75000"/>
                  </a:schemeClr>
                </a:solidFill>
              </a:rPr>
              <a:t>(correct)</a:t>
            </a:r>
            <a:endParaRPr lang="en-US" altLang="en-US" sz="1200" b="1" dirty="0">
              <a:solidFill>
                <a:schemeClr val="accent6">
                  <a:lumMod val="75000"/>
                </a:schemeClr>
              </a:solidFill>
            </a:endParaRPr>
          </a:p>
        </p:txBody>
      </p:sp>
    </p:spTree>
    <p:custDataLst>
      <p:tags r:id="rId1"/>
    </p:custDataLst>
    <p:extLst>
      <p:ext uri="{BB962C8B-B14F-4D97-AF65-F5344CB8AC3E}">
        <p14:creationId xmlns:p14="http://schemas.microsoft.com/office/powerpoint/2010/main" val="38797433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4">
            <a:extLst>
              <a:ext uri="{FF2B5EF4-FFF2-40B4-BE49-F238E27FC236}">
                <a16:creationId xmlns:a16="http://schemas.microsoft.com/office/drawing/2014/main" id="{5D82034A-108E-459D-AB37-3E0705AE8251}"/>
              </a:ext>
            </a:extLst>
          </p:cNvPr>
          <p:cNvGraphicFramePr>
            <a:graphicFrameLocks noGrp="1"/>
          </p:cNvGraphicFramePr>
          <p:nvPr>
            <p:custDataLst>
              <p:tags r:id="rId2"/>
            </p:custDataLst>
            <p:extLst>
              <p:ext uri="{D42A27DB-BD31-4B8C-83A1-F6EECF244321}">
                <p14:modId xmlns:p14="http://schemas.microsoft.com/office/powerpoint/2010/main" val="3073888730"/>
              </p:ext>
            </p:extLst>
          </p:nvPr>
        </p:nvGraphicFramePr>
        <p:xfrm>
          <a:off x="838200" y="4876800"/>
          <a:ext cx="7034213" cy="1353240"/>
        </p:xfrm>
        <a:graphic>
          <a:graphicData uri="http://schemas.openxmlformats.org/drawingml/2006/table">
            <a:tbl>
              <a:tblPr/>
              <a:tblGrid>
                <a:gridCol w="1143000">
                  <a:extLst>
                    <a:ext uri="{9D8B030D-6E8A-4147-A177-3AD203B41FA5}">
                      <a16:colId xmlns:a16="http://schemas.microsoft.com/office/drawing/2014/main" val="20000"/>
                    </a:ext>
                  </a:extLst>
                </a:gridCol>
                <a:gridCol w="476250">
                  <a:extLst>
                    <a:ext uri="{9D8B030D-6E8A-4147-A177-3AD203B41FA5}">
                      <a16:colId xmlns:a16="http://schemas.microsoft.com/office/drawing/2014/main" val="20001"/>
                    </a:ext>
                  </a:extLst>
                </a:gridCol>
                <a:gridCol w="450850">
                  <a:extLst>
                    <a:ext uri="{9D8B030D-6E8A-4147-A177-3AD203B41FA5}">
                      <a16:colId xmlns:a16="http://schemas.microsoft.com/office/drawing/2014/main" val="20002"/>
                    </a:ext>
                  </a:extLst>
                </a:gridCol>
                <a:gridCol w="450850">
                  <a:extLst>
                    <a:ext uri="{9D8B030D-6E8A-4147-A177-3AD203B41FA5}">
                      <a16:colId xmlns:a16="http://schemas.microsoft.com/office/drawing/2014/main" val="20003"/>
                    </a:ext>
                  </a:extLst>
                </a:gridCol>
                <a:gridCol w="450850">
                  <a:extLst>
                    <a:ext uri="{9D8B030D-6E8A-4147-A177-3AD203B41FA5}">
                      <a16:colId xmlns:a16="http://schemas.microsoft.com/office/drawing/2014/main" val="20004"/>
                    </a:ext>
                  </a:extLst>
                </a:gridCol>
                <a:gridCol w="452438">
                  <a:extLst>
                    <a:ext uri="{9D8B030D-6E8A-4147-A177-3AD203B41FA5}">
                      <a16:colId xmlns:a16="http://schemas.microsoft.com/office/drawing/2014/main" val="20005"/>
                    </a:ext>
                  </a:extLst>
                </a:gridCol>
                <a:gridCol w="450850">
                  <a:extLst>
                    <a:ext uri="{9D8B030D-6E8A-4147-A177-3AD203B41FA5}">
                      <a16:colId xmlns:a16="http://schemas.microsoft.com/office/drawing/2014/main" val="20006"/>
                    </a:ext>
                  </a:extLst>
                </a:gridCol>
                <a:gridCol w="450850">
                  <a:extLst>
                    <a:ext uri="{9D8B030D-6E8A-4147-A177-3AD203B41FA5}">
                      <a16:colId xmlns:a16="http://schemas.microsoft.com/office/drawing/2014/main" val="20007"/>
                    </a:ext>
                  </a:extLst>
                </a:gridCol>
                <a:gridCol w="452437">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50850">
                  <a:extLst>
                    <a:ext uri="{9D8B030D-6E8A-4147-A177-3AD203B41FA5}">
                      <a16:colId xmlns:a16="http://schemas.microsoft.com/office/drawing/2014/main" val="20010"/>
                    </a:ext>
                  </a:extLst>
                </a:gridCol>
                <a:gridCol w="450850">
                  <a:extLst>
                    <a:ext uri="{9D8B030D-6E8A-4147-A177-3AD203B41FA5}">
                      <a16:colId xmlns:a16="http://schemas.microsoft.com/office/drawing/2014/main" val="20011"/>
                    </a:ext>
                  </a:extLst>
                </a:gridCol>
                <a:gridCol w="452438">
                  <a:extLst>
                    <a:ext uri="{9D8B030D-6E8A-4147-A177-3AD203B41FA5}">
                      <a16:colId xmlns:a16="http://schemas.microsoft.com/office/drawing/2014/main" val="20012"/>
                    </a:ext>
                  </a:extLst>
                </a:gridCol>
                <a:gridCol w="450850">
                  <a:extLst>
                    <a:ext uri="{9D8B030D-6E8A-4147-A177-3AD203B41FA5}">
                      <a16:colId xmlns:a16="http://schemas.microsoft.com/office/drawing/2014/main" val="20013"/>
                    </a:ext>
                  </a:extLst>
                </a:gridCol>
              </a:tblGrid>
              <a:tr h="246796">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mn-lt"/>
                        </a:rPr>
                        <a:t>               Cycle</a:t>
                      </a:r>
                      <a:br>
                        <a:rPr kumimoji="0" lang="en-US" sz="1200" b="1" i="0" u="none" strike="noStrike" cap="none" normalizeH="0" baseline="0" dirty="0">
                          <a:ln>
                            <a:noFill/>
                          </a:ln>
                          <a:solidFill>
                            <a:schemeClr val="tx1"/>
                          </a:solidFill>
                          <a:effectLst/>
                          <a:latin typeface="+mn-lt"/>
                        </a:rPr>
                      </a:br>
                      <a:r>
                        <a:rPr kumimoji="0" lang="en-US" sz="1200" b="1" i="0" u="none" strike="noStrike" cap="none" normalizeH="0" baseline="0" dirty="0" err="1">
                          <a:ln>
                            <a:noFill/>
                          </a:ln>
                          <a:solidFill>
                            <a:schemeClr val="tx1"/>
                          </a:solidFill>
                          <a:effectLst/>
                          <a:latin typeface="+mn-lt"/>
                        </a:rPr>
                        <a:t>Instns</a:t>
                      </a:r>
                      <a:endParaRPr kumimoji="0" lang="en-US" sz="1200" b="1" i="0" u="none" strike="noStrike" cap="none" normalizeH="0" baseline="0" dirty="0">
                        <a:ln>
                          <a:noFill/>
                        </a:ln>
                        <a:solidFill>
                          <a:schemeClr val="tx1"/>
                        </a:solidFill>
                        <a:effectLst/>
                        <a:latin typeface="+mn-lt"/>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endParaRPr kumimoji="0" lang="en-US" sz="1600" b="0" i="0" u="none" strike="noStrike" cap="none" normalizeH="0" baseline="0" dirty="0">
                        <a:ln>
                          <a:noFill/>
                        </a:ln>
                        <a:solidFill>
                          <a:schemeClr val="tx1"/>
                        </a:solidFill>
                        <a:effectLst/>
                        <a:latin typeface="+mn-lt"/>
                      </a:endParaRP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add</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842601402"/>
                  </a:ext>
                </a:extLst>
              </a:tr>
              <a:tr h="2706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sub</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3"/>
            </p:custDataLst>
          </p:nvPr>
        </p:nvSpPr>
        <p:spPr>
          <a:xfrm>
            <a:off x="457200" y="274638"/>
            <a:ext cx="7467600" cy="1143000"/>
          </a:xfrm>
        </p:spPr>
        <p:txBody>
          <a:bodyPr/>
          <a:lstStyle/>
          <a:p>
            <a:r>
              <a:rPr lang="en-US" altLang="en-US" dirty="0"/>
              <a:t>Branch Prediction</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4"/>
            </p:custDataLst>
          </p:nvPr>
        </p:nvSpPr>
        <p:spPr>
          <a:xfrm>
            <a:off x="457200" y="1447800"/>
            <a:ext cx="8686800" cy="1828800"/>
          </a:xfrm>
        </p:spPr>
        <p:txBody>
          <a:bodyPr/>
          <a:lstStyle/>
          <a:p>
            <a:pPr eaLnBrk="1" hangingPunct="1"/>
            <a:r>
              <a:rPr lang="en-US" altLang="en-US" sz="2800" dirty="0"/>
              <a:t>Dynamic branch direction prediction:</a:t>
            </a:r>
          </a:p>
          <a:p>
            <a:pPr lvl="1"/>
            <a:r>
              <a:rPr lang="en-US" altLang="en-US" sz="2400" i="1" dirty="0"/>
              <a:t>Predict</a:t>
            </a:r>
            <a:r>
              <a:rPr lang="en-US" altLang="en-US" sz="2400" dirty="0"/>
              <a:t> branch outcome (T or N) in IF stage</a:t>
            </a:r>
          </a:p>
          <a:p>
            <a:pPr lvl="1"/>
            <a:r>
              <a:rPr lang="en-US" altLang="en-US" sz="2400" dirty="0"/>
              <a:t>Target is either computed early or predicted too (advanced)</a:t>
            </a:r>
          </a:p>
          <a:p>
            <a:pPr lvl="1"/>
            <a:r>
              <a:rPr lang="en-US" altLang="en-US" sz="2400" dirty="0"/>
              <a:t>Assume branches resolved in ID stage (COD Figure 4.65)</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5"/>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17</a:t>
            </a:fld>
            <a:endParaRPr lang="en-US" altLang="en-US">
              <a:latin typeface="Calibri" panose="020F0502020204030204" pitchFamily="34" charset="0"/>
            </a:endParaRPr>
          </a:p>
        </p:txBody>
      </p:sp>
      <p:sp>
        <p:nvSpPr>
          <p:cNvPr id="5" name="Rectangle 3">
            <a:extLst>
              <a:ext uri="{FF2B5EF4-FFF2-40B4-BE49-F238E27FC236}">
                <a16:creationId xmlns:a16="http://schemas.microsoft.com/office/drawing/2014/main" id="{458A710F-4C6C-477D-A849-238B9318B55D}"/>
              </a:ext>
            </a:extLst>
          </p:cNvPr>
          <p:cNvSpPr txBox="1">
            <a:spLocks noChangeArrowheads="1"/>
          </p:cNvSpPr>
          <p:nvPr>
            <p:custDataLst>
              <p:tags r:id="rId6"/>
            </p:custDataLst>
          </p:nvPr>
        </p:nvSpPr>
        <p:spPr bwMode="auto">
          <a:xfrm>
            <a:off x="682625" y="3733800"/>
            <a:ext cx="67087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err="1"/>
              <a:t>beq</a:t>
            </a:r>
            <a:r>
              <a:rPr lang="en-US" altLang="en-US" sz="2400" dirty="0"/>
              <a:t> $t0, $t1, TARGET</a:t>
            </a:r>
          </a:p>
          <a:p>
            <a:pPr marL="457200" lvl="1" indent="0">
              <a:lnSpc>
                <a:spcPct val="90000"/>
              </a:lnSpc>
              <a:buFont typeface="Arial" charset="0"/>
              <a:buNone/>
            </a:pPr>
            <a:r>
              <a:rPr lang="en-US" altLang="en-US" sz="2400" dirty="0"/>
              <a:t>add $t5, $t4, $t6</a:t>
            </a:r>
          </a:p>
        </p:txBody>
      </p:sp>
      <p:sp>
        <p:nvSpPr>
          <p:cNvPr id="9" name="Rectangle 3">
            <a:extLst>
              <a:ext uri="{FF2B5EF4-FFF2-40B4-BE49-F238E27FC236}">
                <a16:creationId xmlns:a16="http://schemas.microsoft.com/office/drawing/2014/main" id="{73F7769A-B6F0-4C27-8548-73038897A524}"/>
              </a:ext>
            </a:extLst>
          </p:cNvPr>
          <p:cNvSpPr txBox="1">
            <a:spLocks noChangeArrowheads="1"/>
          </p:cNvSpPr>
          <p:nvPr>
            <p:custDataLst>
              <p:tags r:id="rId7"/>
            </p:custDataLst>
          </p:nvPr>
        </p:nvSpPr>
        <p:spPr bwMode="auto">
          <a:xfrm>
            <a:off x="4800600" y="3733800"/>
            <a:ext cx="38893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TARGET:</a:t>
            </a:r>
          </a:p>
          <a:p>
            <a:pPr marL="457200" lvl="1" indent="0">
              <a:lnSpc>
                <a:spcPct val="90000"/>
              </a:lnSpc>
              <a:buFont typeface="Arial" charset="0"/>
              <a:buNone/>
            </a:pPr>
            <a:r>
              <a:rPr lang="en-US" altLang="en-US" sz="2400" dirty="0"/>
              <a:t>sub $t5, $t0, $t5</a:t>
            </a:r>
          </a:p>
        </p:txBody>
      </p:sp>
      <p:sp>
        <p:nvSpPr>
          <p:cNvPr id="10" name="Line 66">
            <a:extLst>
              <a:ext uri="{FF2B5EF4-FFF2-40B4-BE49-F238E27FC236}">
                <a16:creationId xmlns:a16="http://schemas.microsoft.com/office/drawing/2014/main" id="{96A37AE0-3677-4CDD-9B40-CE2B11C37380}"/>
              </a:ext>
            </a:extLst>
          </p:cNvPr>
          <p:cNvSpPr>
            <a:spLocks noChangeShapeType="1"/>
          </p:cNvSpPr>
          <p:nvPr>
            <p:custDataLst>
              <p:tags r:id="rId8"/>
            </p:custDataLst>
          </p:nvPr>
        </p:nvSpPr>
        <p:spPr bwMode="auto">
          <a:xfrm>
            <a:off x="2362200" y="5486400"/>
            <a:ext cx="228600" cy="234273"/>
          </a:xfrm>
          <a:prstGeom prst="line">
            <a:avLst/>
          </a:prstGeom>
          <a:noFill/>
          <a:ln w="57150">
            <a:solidFill>
              <a:schemeClr val="accent6">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Rectangle 3">
            <a:extLst>
              <a:ext uri="{FF2B5EF4-FFF2-40B4-BE49-F238E27FC236}">
                <a16:creationId xmlns:a16="http://schemas.microsoft.com/office/drawing/2014/main" id="{24CF6C6C-0C18-4C38-8DFC-D225C9A898D9}"/>
              </a:ext>
            </a:extLst>
          </p:cNvPr>
          <p:cNvSpPr txBox="1">
            <a:spLocks noChangeArrowheads="1"/>
          </p:cNvSpPr>
          <p:nvPr>
            <p:custDataLst>
              <p:tags r:id="rId9"/>
            </p:custDataLst>
          </p:nvPr>
        </p:nvSpPr>
        <p:spPr bwMode="auto">
          <a:xfrm>
            <a:off x="1600200" y="6218237"/>
            <a:ext cx="1752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600" b="1" dirty="0">
                <a:solidFill>
                  <a:schemeClr val="accent6">
                    <a:lumMod val="75000"/>
                  </a:schemeClr>
                </a:solidFill>
              </a:rPr>
              <a:t>predict not taken</a:t>
            </a:r>
          </a:p>
          <a:p>
            <a:pPr marL="0" indent="0" algn="ctr">
              <a:lnSpc>
                <a:spcPct val="80000"/>
              </a:lnSpc>
              <a:buFont typeface="Arial" charset="0"/>
              <a:buNone/>
            </a:pPr>
            <a:r>
              <a:rPr lang="en-US" altLang="en-US" sz="1600" b="1" dirty="0">
                <a:solidFill>
                  <a:schemeClr val="accent6">
                    <a:lumMod val="75000"/>
                  </a:schemeClr>
                </a:solidFill>
              </a:rPr>
              <a:t>(incorrect)</a:t>
            </a:r>
            <a:endParaRPr lang="en-US" altLang="en-US" sz="1200" b="1" dirty="0">
              <a:solidFill>
                <a:schemeClr val="accent6">
                  <a:lumMod val="75000"/>
                </a:schemeClr>
              </a:solidFill>
            </a:endParaRPr>
          </a:p>
        </p:txBody>
      </p:sp>
    </p:spTree>
    <p:custDataLst>
      <p:tags r:id="rId1"/>
    </p:custDataLst>
    <p:extLst>
      <p:ext uri="{BB962C8B-B14F-4D97-AF65-F5344CB8AC3E}">
        <p14:creationId xmlns:p14="http://schemas.microsoft.com/office/powerpoint/2010/main" val="275136475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Branch Prediction</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1828800"/>
          </a:xfrm>
        </p:spPr>
        <p:txBody>
          <a:bodyPr/>
          <a:lstStyle/>
          <a:p>
            <a:pPr eaLnBrk="1" hangingPunct="1"/>
            <a:r>
              <a:rPr lang="en-US" altLang="en-US" sz="2800" dirty="0"/>
              <a:t>Dynamic branch direction prediction:</a:t>
            </a:r>
          </a:p>
          <a:p>
            <a:pPr lvl="1"/>
            <a:r>
              <a:rPr lang="en-US" altLang="en-US" sz="2400" i="1" dirty="0"/>
              <a:t>Predict</a:t>
            </a:r>
            <a:r>
              <a:rPr lang="en-US" altLang="en-US" sz="2400" dirty="0"/>
              <a:t> branch outcome (T or N) in IF stage</a:t>
            </a:r>
          </a:p>
          <a:p>
            <a:pPr lvl="1"/>
            <a:r>
              <a:rPr lang="en-US" altLang="en-US" sz="2400" dirty="0"/>
              <a:t>Target is either computed early or predicted too (advanced)</a:t>
            </a:r>
          </a:p>
          <a:p>
            <a:pPr lvl="1"/>
            <a:r>
              <a:rPr lang="en-US" altLang="en-US" sz="2400" dirty="0"/>
              <a:t>Branch history table (BHT) with </a:t>
            </a:r>
            <a:r>
              <a:rPr lang="en-US" altLang="en-US" sz="2400" b="1" dirty="0"/>
              <a:t>1-bit prediction</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18</a:t>
            </a:fld>
            <a:endParaRPr lang="en-US" altLang="en-US">
              <a:latin typeface="Calibri" panose="020F0502020204030204" pitchFamily="34" charset="0"/>
            </a:endParaRPr>
          </a:p>
        </p:txBody>
      </p:sp>
      <p:graphicFrame>
        <p:nvGraphicFramePr>
          <p:cNvPr id="10" name="Table 9">
            <a:extLst>
              <a:ext uri="{FF2B5EF4-FFF2-40B4-BE49-F238E27FC236}">
                <a16:creationId xmlns:a16="http://schemas.microsoft.com/office/drawing/2014/main" id="{8451B3EF-5F29-445E-A757-AA63DFF54D94}"/>
              </a:ext>
            </a:extLst>
          </p:cNvPr>
          <p:cNvGraphicFramePr>
            <a:graphicFrameLocks noGrp="1"/>
          </p:cNvGraphicFramePr>
          <p:nvPr>
            <p:custDataLst>
              <p:tags r:id="rId5"/>
            </p:custDataLst>
            <p:extLst>
              <p:ext uri="{D42A27DB-BD31-4B8C-83A1-F6EECF244321}">
                <p14:modId xmlns:p14="http://schemas.microsoft.com/office/powerpoint/2010/main" val="75877812"/>
              </p:ext>
            </p:extLst>
          </p:nvPr>
        </p:nvGraphicFramePr>
        <p:xfrm>
          <a:off x="3594356" y="3565842"/>
          <a:ext cx="1206244" cy="3017520"/>
        </p:xfrm>
        <a:graphic>
          <a:graphicData uri="http://schemas.openxmlformats.org/drawingml/2006/table">
            <a:tbl>
              <a:tblPr>
                <a:tableStyleId>{5C22544A-7EE6-4342-B048-85BDC9FD1C3A}</a:tableStyleId>
              </a:tblPr>
              <a:tblGrid>
                <a:gridCol w="1206244">
                  <a:extLst>
                    <a:ext uri="{9D8B030D-6E8A-4147-A177-3AD203B41FA5}">
                      <a16:colId xmlns:a16="http://schemas.microsoft.com/office/drawing/2014/main" val="1082879257"/>
                    </a:ext>
                  </a:extLst>
                </a:gridCol>
              </a:tblGrid>
              <a:tr h="273933">
                <a:tc>
                  <a:txBody>
                    <a:bodyPr/>
                    <a:lstStyle/>
                    <a:p>
                      <a:pPr algn="ctr"/>
                      <a:r>
                        <a:rPr lang="en-US" sz="1600" b="1" dirty="0">
                          <a:solidFill>
                            <a:schemeClr val="tx1"/>
                          </a:solidFill>
                        </a:rPr>
                        <a:t>BHT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9288662"/>
                  </a:ext>
                </a:extLst>
              </a:tr>
              <a:tr h="273933">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30033292"/>
                  </a:ext>
                </a:extLst>
              </a:tr>
              <a:tr h="273933">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6317443"/>
                  </a:ext>
                </a:extLst>
              </a:tr>
              <a:tr h="273933">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68553288"/>
                  </a:ext>
                </a:extLst>
              </a:tr>
              <a:tr h="273933">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52901490"/>
                  </a:ext>
                </a:extLst>
              </a:tr>
              <a:tr h="273933">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86078682"/>
                  </a:ext>
                </a:extLst>
              </a:tr>
              <a:tr h="273933">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42231405"/>
                  </a:ext>
                </a:extLst>
              </a:tr>
              <a:tr h="273933">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28671184"/>
                  </a:ext>
                </a:extLst>
              </a:tr>
              <a:tr h="273933">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92110488"/>
                  </a:ext>
                </a:extLst>
              </a:tr>
            </a:tbl>
          </a:graphicData>
        </a:graphic>
      </p:graphicFrame>
      <p:cxnSp>
        <p:nvCxnSpPr>
          <p:cNvPr id="12" name="Connector: Elbow 11">
            <a:extLst>
              <a:ext uri="{FF2B5EF4-FFF2-40B4-BE49-F238E27FC236}">
                <a16:creationId xmlns:a16="http://schemas.microsoft.com/office/drawing/2014/main" id="{1F6DDB98-1B90-4B42-8197-1A7781C7B51B}"/>
              </a:ext>
            </a:extLst>
          </p:cNvPr>
          <p:cNvCxnSpPr>
            <a:cxnSpLocks/>
          </p:cNvCxnSpPr>
          <p:nvPr>
            <p:custDataLst>
              <p:tags r:id="rId6"/>
            </p:custDataLst>
          </p:nvPr>
        </p:nvCxnSpPr>
        <p:spPr>
          <a:xfrm rot="16200000" flipH="1">
            <a:off x="2383349" y="3835254"/>
            <a:ext cx="822346" cy="1599668"/>
          </a:xfrm>
          <a:prstGeom prst="bentConnector2">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429D4602-2726-4E3D-9287-5405880230DD}"/>
              </a:ext>
            </a:extLst>
          </p:cNvPr>
          <p:cNvGraphicFramePr>
            <a:graphicFrameLocks noGrp="1"/>
          </p:cNvGraphicFramePr>
          <p:nvPr>
            <p:custDataLst>
              <p:tags r:id="rId7"/>
            </p:custDataLst>
            <p:extLst>
              <p:ext uri="{D42A27DB-BD31-4B8C-83A1-F6EECF244321}">
                <p14:modId xmlns:p14="http://schemas.microsoft.com/office/powerpoint/2010/main" val="1511356"/>
              </p:ext>
            </p:extLst>
          </p:nvPr>
        </p:nvGraphicFramePr>
        <p:xfrm>
          <a:off x="1155956" y="3931919"/>
          <a:ext cx="1511044" cy="378101"/>
        </p:xfrm>
        <a:graphic>
          <a:graphicData uri="http://schemas.openxmlformats.org/drawingml/2006/table">
            <a:tbl>
              <a:tblPr firstRow="1" bandRow="1">
                <a:tableStyleId>{5C22544A-7EE6-4342-B048-85BDC9FD1C3A}</a:tableStyleId>
              </a:tblPr>
              <a:tblGrid>
                <a:gridCol w="472845">
                  <a:extLst>
                    <a:ext uri="{9D8B030D-6E8A-4147-A177-3AD203B41FA5}">
                      <a16:colId xmlns:a16="http://schemas.microsoft.com/office/drawing/2014/main" val="3305146675"/>
                    </a:ext>
                  </a:extLst>
                </a:gridCol>
                <a:gridCol w="804487">
                  <a:extLst>
                    <a:ext uri="{9D8B030D-6E8A-4147-A177-3AD203B41FA5}">
                      <a16:colId xmlns:a16="http://schemas.microsoft.com/office/drawing/2014/main" val="1742414426"/>
                    </a:ext>
                  </a:extLst>
                </a:gridCol>
                <a:gridCol w="233712">
                  <a:extLst>
                    <a:ext uri="{9D8B030D-6E8A-4147-A177-3AD203B41FA5}">
                      <a16:colId xmlns:a16="http://schemas.microsoft.com/office/drawing/2014/main" val="1811377837"/>
                    </a:ext>
                  </a:extLst>
                </a:gridCol>
              </a:tblGrid>
              <a:tr h="378101">
                <a:tc>
                  <a:txBody>
                    <a:bodyPr/>
                    <a:lstStyle/>
                    <a:p>
                      <a:pPr algn="ct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8759690"/>
                  </a:ext>
                </a:extLst>
              </a:tr>
            </a:tbl>
          </a:graphicData>
        </a:graphic>
      </p:graphicFrame>
      <p:sp>
        <p:nvSpPr>
          <p:cNvPr id="15" name="Oval 14">
            <a:extLst>
              <a:ext uri="{FF2B5EF4-FFF2-40B4-BE49-F238E27FC236}">
                <a16:creationId xmlns:a16="http://schemas.microsoft.com/office/drawing/2014/main" id="{B89DCBC9-4197-4CF3-AA5D-6E008F274607}"/>
              </a:ext>
            </a:extLst>
          </p:cNvPr>
          <p:cNvSpPr/>
          <p:nvPr>
            <p:custDataLst>
              <p:tags r:id="rId8"/>
            </p:custDataLst>
          </p:nvPr>
        </p:nvSpPr>
        <p:spPr bwMode="auto">
          <a:xfrm>
            <a:off x="5826877" y="3920508"/>
            <a:ext cx="1650651" cy="389513"/>
          </a:xfrm>
          <a:prstGeom prst="ellipse">
            <a:avLst/>
          </a:prstGeom>
          <a:solidFill>
            <a:schemeClr val="bg1">
              <a:lumMod val="95000"/>
            </a:schemeClr>
          </a:solidFill>
          <a:ln w="285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mn-lt"/>
              </a:rPr>
              <a:t>0 Not Taken (N)</a:t>
            </a:r>
          </a:p>
        </p:txBody>
      </p:sp>
      <p:sp>
        <p:nvSpPr>
          <p:cNvPr id="17" name="Oval 16">
            <a:extLst>
              <a:ext uri="{FF2B5EF4-FFF2-40B4-BE49-F238E27FC236}">
                <a16:creationId xmlns:a16="http://schemas.microsoft.com/office/drawing/2014/main" id="{DC484070-93DD-4706-80E0-6EED355D03FF}"/>
              </a:ext>
            </a:extLst>
          </p:cNvPr>
          <p:cNvSpPr/>
          <p:nvPr>
            <p:custDataLst>
              <p:tags r:id="rId9"/>
            </p:custDataLst>
          </p:nvPr>
        </p:nvSpPr>
        <p:spPr bwMode="auto">
          <a:xfrm>
            <a:off x="5675910" y="5867400"/>
            <a:ext cx="1924540" cy="389513"/>
          </a:xfrm>
          <a:prstGeom prst="ellipse">
            <a:avLst/>
          </a:prstGeom>
          <a:solidFill>
            <a:schemeClr val="bg1">
              <a:lumMod val="95000"/>
            </a:schemeClr>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mn-lt"/>
              </a:rPr>
              <a:t>1 Taken (T)</a:t>
            </a:r>
          </a:p>
        </p:txBody>
      </p:sp>
      <p:cxnSp>
        <p:nvCxnSpPr>
          <p:cNvPr id="20" name="Straight Arrow Connector 19">
            <a:extLst>
              <a:ext uri="{FF2B5EF4-FFF2-40B4-BE49-F238E27FC236}">
                <a16:creationId xmlns:a16="http://schemas.microsoft.com/office/drawing/2014/main" id="{05C9C3E2-C975-482D-BE79-A4C685FB3C6C}"/>
              </a:ext>
            </a:extLst>
          </p:cNvPr>
          <p:cNvCxnSpPr>
            <a:cxnSpLocks/>
          </p:cNvCxnSpPr>
          <p:nvPr/>
        </p:nvCxnSpPr>
        <p:spPr bwMode="auto">
          <a:xfrm rot="16200000">
            <a:off x="5832610" y="5088450"/>
            <a:ext cx="1554480" cy="3419"/>
          </a:xfrm>
          <a:prstGeom prst="straightConnector1">
            <a:avLst/>
          </a:prstGeom>
          <a:noFill/>
          <a:ln w="28575" cap="flat" cmpd="sng" algn="ctr">
            <a:solidFill>
              <a:srgbClr val="000000"/>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1C7DE64E-21EB-4203-9BA9-18141C80C562}"/>
              </a:ext>
            </a:extLst>
          </p:cNvPr>
          <p:cNvCxnSpPr>
            <a:cxnSpLocks/>
          </p:cNvCxnSpPr>
          <p:nvPr/>
        </p:nvCxnSpPr>
        <p:spPr bwMode="auto">
          <a:xfrm rot="16200000" flipH="1">
            <a:off x="5766738" y="5090160"/>
            <a:ext cx="1554480" cy="0"/>
          </a:xfrm>
          <a:prstGeom prst="straightConnector1">
            <a:avLst/>
          </a:prstGeom>
          <a:noFill/>
          <a:ln w="28575" cap="flat" cmpd="sng" algn="ctr">
            <a:solidFill>
              <a:srgbClr val="000000"/>
            </a:solidFill>
            <a:prstDash val="solid"/>
            <a:round/>
            <a:headEnd type="none" w="med" len="med"/>
            <a:tailEnd type="triangle"/>
          </a:ln>
          <a:effectLst/>
        </p:spPr>
      </p:cxnSp>
      <p:sp>
        <p:nvSpPr>
          <p:cNvPr id="26" name="TextBox 25">
            <a:extLst>
              <a:ext uri="{FF2B5EF4-FFF2-40B4-BE49-F238E27FC236}">
                <a16:creationId xmlns:a16="http://schemas.microsoft.com/office/drawing/2014/main" id="{6A60D8EA-CE49-4831-AF3B-620E3298D4D9}"/>
              </a:ext>
            </a:extLst>
          </p:cNvPr>
          <p:cNvSpPr txBox="1"/>
          <p:nvPr>
            <p:custDataLst>
              <p:tags r:id="rId10"/>
            </p:custDataLst>
          </p:nvPr>
        </p:nvSpPr>
        <p:spPr>
          <a:xfrm rot="16200000">
            <a:off x="5770728" y="4620274"/>
            <a:ext cx="1287945" cy="276999"/>
          </a:xfrm>
          <a:prstGeom prst="rect">
            <a:avLst/>
          </a:prstGeom>
          <a:noFill/>
        </p:spPr>
        <p:txBody>
          <a:bodyPr wrap="square" rtlCol="0">
            <a:spAutoFit/>
          </a:bodyPr>
          <a:lstStyle/>
          <a:p>
            <a:r>
              <a:rPr lang="en-US" sz="1200" dirty="0">
                <a:solidFill>
                  <a:srgbClr val="000000"/>
                </a:solidFill>
                <a:latin typeface="+mn-lt"/>
              </a:rPr>
              <a:t>Taken</a:t>
            </a:r>
          </a:p>
        </p:txBody>
      </p:sp>
      <p:cxnSp>
        <p:nvCxnSpPr>
          <p:cNvPr id="28" name="Connector: Curved 27">
            <a:extLst>
              <a:ext uri="{FF2B5EF4-FFF2-40B4-BE49-F238E27FC236}">
                <a16:creationId xmlns:a16="http://schemas.microsoft.com/office/drawing/2014/main" id="{789677B5-3657-4199-A8A9-227778C186D9}"/>
              </a:ext>
            </a:extLst>
          </p:cNvPr>
          <p:cNvCxnSpPr>
            <a:cxnSpLocks/>
          </p:cNvCxnSpPr>
          <p:nvPr>
            <p:custDataLst>
              <p:tags r:id="rId11"/>
            </p:custDataLst>
          </p:nvPr>
        </p:nvCxnSpPr>
        <p:spPr bwMode="auto">
          <a:xfrm rot="5400000" flipH="1">
            <a:off x="6560093" y="5942494"/>
            <a:ext cx="57043" cy="680428"/>
          </a:xfrm>
          <a:prstGeom prst="curvedConnector3">
            <a:avLst>
              <a:gd name="adj1" fmla="val -400750"/>
            </a:avLst>
          </a:prstGeom>
          <a:noFill/>
          <a:ln w="28575" cap="flat" cmpd="sng" algn="ctr">
            <a:solidFill>
              <a:srgbClr val="000000"/>
            </a:solidFill>
            <a:prstDash val="solid"/>
            <a:round/>
            <a:headEnd type="none" w="med" len="med"/>
            <a:tailEnd type="triangle"/>
          </a:ln>
          <a:effectLst/>
        </p:spPr>
      </p:cxnSp>
      <p:sp>
        <p:nvSpPr>
          <p:cNvPr id="29" name="TextBox 28">
            <a:extLst>
              <a:ext uri="{FF2B5EF4-FFF2-40B4-BE49-F238E27FC236}">
                <a16:creationId xmlns:a16="http://schemas.microsoft.com/office/drawing/2014/main" id="{DA36BC21-07F1-4F07-A774-B274D8260161}"/>
              </a:ext>
            </a:extLst>
          </p:cNvPr>
          <p:cNvSpPr txBox="1"/>
          <p:nvPr>
            <p:custDataLst>
              <p:tags r:id="rId12"/>
            </p:custDataLst>
          </p:nvPr>
        </p:nvSpPr>
        <p:spPr>
          <a:xfrm>
            <a:off x="6934200" y="6235030"/>
            <a:ext cx="1287945" cy="276999"/>
          </a:xfrm>
          <a:prstGeom prst="rect">
            <a:avLst/>
          </a:prstGeom>
          <a:noFill/>
        </p:spPr>
        <p:txBody>
          <a:bodyPr wrap="square" rtlCol="0">
            <a:spAutoFit/>
          </a:bodyPr>
          <a:lstStyle/>
          <a:p>
            <a:r>
              <a:rPr lang="en-US" sz="1200" dirty="0">
                <a:solidFill>
                  <a:srgbClr val="000000"/>
                </a:solidFill>
                <a:latin typeface="+mn-lt"/>
              </a:rPr>
              <a:t>Taken</a:t>
            </a:r>
          </a:p>
        </p:txBody>
      </p:sp>
      <p:cxnSp>
        <p:nvCxnSpPr>
          <p:cNvPr id="30" name="Connector: Curved 29">
            <a:extLst>
              <a:ext uri="{FF2B5EF4-FFF2-40B4-BE49-F238E27FC236}">
                <a16:creationId xmlns:a16="http://schemas.microsoft.com/office/drawing/2014/main" id="{03FC12A4-0422-4BA3-A924-47050C43EB86}"/>
              </a:ext>
            </a:extLst>
          </p:cNvPr>
          <p:cNvCxnSpPr>
            <a:cxnSpLocks/>
          </p:cNvCxnSpPr>
          <p:nvPr>
            <p:custDataLst>
              <p:tags r:id="rId13"/>
            </p:custDataLst>
          </p:nvPr>
        </p:nvCxnSpPr>
        <p:spPr bwMode="auto">
          <a:xfrm rot="16200000" flipH="1" flipV="1">
            <a:off x="6587476" y="3580663"/>
            <a:ext cx="57043" cy="622645"/>
          </a:xfrm>
          <a:prstGeom prst="curvedConnector3">
            <a:avLst>
              <a:gd name="adj1" fmla="val -400750"/>
            </a:avLst>
          </a:prstGeom>
          <a:noFill/>
          <a:ln w="28575" cap="flat" cmpd="sng" algn="ctr">
            <a:solidFill>
              <a:srgbClr val="000000"/>
            </a:solidFill>
            <a:prstDash val="solid"/>
            <a:round/>
            <a:headEnd type="none" w="med" len="med"/>
            <a:tailEnd type="triangle"/>
          </a:ln>
          <a:effectLst/>
        </p:spPr>
      </p:cxnSp>
      <p:sp>
        <p:nvSpPr>
          <p:cNvPr id="31" name="TextBox 30">
            <a:extLst>
              <a:ext uri="{FF2B5EF4-FFF2-40B4-BE49-F238E27FC236}">
                <a16:creationId xmlns:a16="http://schemas.microsoft.com/office/drawing/2014/main" id="{5470D15E-6785-4E43-A170-2F7647F0C457}"/>
              </a:ext>
            </a:extLst>
          </p:cNvPr>
          <p:cNvSpPr txBox="1"/>
          <p:nvPr>
            <p:custDataLst>
              <p:tags r:id="rId14"/>
            </p:custDataLst>
          </p:nvPr>
        </p:nvSpPr>
        <p:spPr>
          <a:xfrm>
            <a:off x="6831962" y="3581400"/>
            <a:ext cx="1667525" cy="276999"/>
          </a:xfrm>
          <a:prstGeom prst="rect">
            <a:avLst/>
          </a:prstGeom>
          <a:noFill/>
        </p:spPr>
        <p:txBody>
          <a:bodyPr wrap="square" rtlCol="0">
            <a:spAutoFit/>
          </a:bodyPr>
          <a:lstStyle/>
          <a:p>
            <a:r>
              <a:rPr lang="en-US" sz="1200" dirty="0">
                <a:solidFill>
                  <a:srgbClr val="000000"/>
                </a:solidFill>
                <a:latin typeface="+mn-lt"/>
              </a:rPr>
              <a:t>Not Taken</a:t>
            </a:r>
          </a:p>
        </p:txBody>
      </p:sp>
      <p:sp>
        <p:nvSpPr>
          <p:cNvPr id="90" name="TextBox 89">
            <a:extLst>
              <a:ext uri="{FF2B5EF4-FFF2-40B4-BE49-F238E27FC236}">
                <a16:creationId xmlns:a16="http://schemas.microsoft.com/office/drawing/2014/main" id="{F120530F-DA7A-434F-8010-86C00E4A4C3D}"/>
              </a:ext>
            </a:extLst>
          </p:cNvPr>
          <p:cNvSpPr txBox="1"/>
          <p:nvPr>
            <p:custDataLst>
              <p:tags r:id="rId15"/>
            </p:custDataLst>
          </p:nvPr>
        </p:nvSpPr>
        <p:spPr>
          <a:xfrm rot="16200000">
            <a:off x="6075528" y="4696474"/>
            <a:ext cx="1287945" cy="276999"/>
          </a:xfrm>
          <a:prstGeom prst="rect">
            <a:avLst/>
          </a:prstGeom>
          <a:noFill/>
        </p:spPr>
        <p:txBody>
          <a:bodyPr wrap="square" rtlCol="0">
            <a:spAutoFit/>
          </a:bodyPr>
          <a:lstStyle/>
          <a:p>
            <a:r>
              <a:rPr lang="en-US" sz="1200" dirty="0">
                <a:solidFill>
                  <a:srgbClr val="000000"/>
                </a:solidFill>
                <a:latin typeface="+mn-lt"/>
              </a:rPr>
              <a:t>Not Taken</a:t>
            </a:r>
          </a:p>
        </p:txBody>
      </p:sp>
      <p:sp>
        <p:nvSpPr>
          <p:cNvPr id="18" name="Rectangle 3">
            <a:extLst>
              <a:ext uri="{FF2B5EF4-FFF2-40B4-BE49-F238E27FC236}">
                <a16:creationId xmlns:a16="http://schemas.microsoft.com/office/drawing/2014/main" id="{7954A6AE-0BF0-4D59-9667-845718DD590E}"/>
              </a:ext>
            </a:extLst>
          </p:cNvPr>
          <p:cNvSpPr txBox="1">
            <a:spLocks noChangeArrowheads="1"/>
          </p:cNvSpPr>
          <p:nvPr>
            <p:custDataLst>
              <p:tags r:id="rId16"/>
            </p:custDataLst>
          </p:nvPr>
        </p:nvSpPr>
        <p:spPr bwMode="auto">
          <a:xfrm>
            <a:off x="1155956" y="3962400"/>
            <a:ext cx="1752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600" b="1" dirty="0"/>
              <a:t>PC[4:2]</a:t>
            </a:r>
            <a:endParaRPr lang="en-US" altLang="en-US" sz="1200" b="1" dirty="0"/>
          </a:p>
        </p:txBody>
      </p:sp>
    </p:spTree>
    <p:custDataLst>
      <p:tags r:id="rId1"/>
    </p:custDataLst>
    <p:extLst>
      <p:ext uri="{BB962C8B-B14F-4D97-AF65-F5344CB8AC3E}">
        <p14:creationId xmlns:p14="http://schemas.microsoft.com/office/powerpoint/2010/main" val="381356392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Branch Prediction</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1828800"/>
          </a:xfrm>
        </p:spPr>
        <p:txBody>
          <a:bodyPr/>
          <a:lstStyle/>
          <a:p>
            <a:pPr eaLnBrk="1" hangingPunct="1"/>
            <a:r>
              <a:rPr lang="en-US" altLang="en-US" sz="2800" dirty="0"/>
              <a:t>Dynamic branch direction prediction:</a:t>
            </a:r>
          </a:p>
          <a:p>
            <a:pPr lvl="1"/>
            <a:r>
              <a:rPr lang="en-US" altLang="en-US" sz="2400" i="1" dirty="0"/>
              <a:t>Predict</a:t>
            </a:r>
            <a:r>
              <a:rPr lang="en-US" altLang="en-US" sz="2400" dirty="0"/>
              <a:t> branch outcome (T or N) in IF stage</a:t>
            </a:r>
          </a:p>
          <a:p>
            <a:pPr lvl="1"/>
            <a:r>
              <a:rPr lang="en-US" altLang="en-US" sz="2400" dirty="0"/>
              <a:t>Target is either computed early or predicted too (advanced)</a:t>
            </a:r>
          </a:p>
          <a:p>
            <a:pPr lvl="1"/>
            <a:r>
              <a:rPr lang="en-US" altLang="en-US" sz="2400" dirty="0"/>
              <a:t>Branch history table (BHT) with </a:t>
            </a:r>
            <a:r>
              <a:rPr lang="en-US" altLang="en-US" sz="2400" b="1" dirty="0"/>
              <a:t>1-bit prediction</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19</a:t>
            </a:fld>
            <a:endParaRPr lang="en-US" altLang="en-US">
              <a:latin typeface="Calibri" panose="020F0502020204030204" pitchFamily="34" charset="0"/>
            </a:endParaRPr>
          </a:p>
        </p:txBody>
      </p:sp>
      <p:sp>
        <p:nvSpPr>
          <p:cNvPr id="18" name="Rectangle 3">
            <a:extLst>
              <a:ext uri="{FF2B5EF4-FFF2-40B4-BE49-F238E27FC236}">
                <a16:creationId xmlns:a16="http://schemas.microsoft.com/office/drawing/2014/main" id="{6BB4E047-5D6D-46BC-9C2C-44B8B5E98A8A}"/>
              </a:ext>
            </a:extLst>
          </p:cNvPr>
          <p:cNvSpPr txBox="1">
            <a:spLocks noChangeArrowheads="1"/>
          </p:cNvSpPr>
          <p:nvPr>
            <p:custDataLst>
              <p:tags r:id="rId5"/>
            </p:custDataLst>
          </p:nvPr>
        </p:nvSpPr>
        <p:spPr bwMode="auto">
          <a:xfrm>
            <a:off x="682625" y="3505200"/>
            <a:ext cx="731837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LOOP:	…</a:t>
            </a:r>
          </a:p>
          <a:p>
            <a:pPr marL="457200" lvl="1" indent="0">
              <a:lnSpc>
                <a:spcPct val="90000"/>
              </a:lnSpc>
              <a:buFont typeface="Arial" charset="0"/>
              <a:buNone/>
            </a:pPr>
            <a:r>
              <a:rPr lang="en-US" altLang="en-US" sz="2400" dirty="0"/>
              <a:t>		</a:t>
            </a:r>
            <a:r>
              <a:rPr lang="en-US" altLang="en-US" sz="2400" dirty="0" err="1"/>
              <a:t>beq</a:t>
            </a:r>
            <a:r>
              <a:rPr lang="en-US" altLang="en-US" sz="2400" dirty="0"/>
              <a:t> $t0, $t1, TARGET		# predict</a:t>
            </a:r>
          </a:p>
          <a:p>
            <a:pPr marL="457200" lvl="1" indent="0">
              <a:lnSpc>
                <a:spcPct val="90000"/>
              </a:lnSpc>
              <a:buFont typeface="Arial" charset="0"/>
              <a:buNone/>
            </a:pPr>
            <a:r>
              <a:rPr lang="en-US" altLang="en-US" sz="2400" dirty="0"/>
              <a:t>		…</a:t>
            </a:r>
          </a:p>
          <a:p>
            <a:pPr marL="457200" lvl="1" indent="0">
              <a:lnSpc>
                <a:spcPct val="90000"/>
              </a:lnSpc>
              <a:buFont typeface="Arial" charset="0"/>
              <a:buNone/>
            </a:pPr>
            <a:r>
              <a:rPr lang="en-US" altLang="en-US" sz="2400" dirty="0"/>
              <a:t>		j LOOP</a:t>
            </a:r>
          </a:p>
        </p:txBody>
      </p:sp>
      <p:graphicFrame>
        <p:nvGraphicFramePr>
          <p:cNvPr id="24" name="Table 23">
            <a:extLst>
              <a:ext uri="{FF2B5EF4-FFF2-40B4-BE49-F238E27FC236}">
                <a16:creationId xmlns:a16="http://schemas.microsoft.com/office/drawing/2014/main" id="{1D209C5F-A564-4443-9892-B1C309BB325F}"/>
              </a:ext>
            </a:extLst>
          </p:cNvPr>
          <p:cNvGraphicFramePr>
            <a:graphicFrameLocks noGrp="1"/>
          </p:cNvGraphicFramePr>
          <p:nvPr>
            <p:custDataLst>
              <p:tags r:id="rId6"/>
            </p:custDataLst>
            <p:extLst>
              <p:ext uri="{D42A27DB-BD31-4B8C-83A1-F6EECF244321}">
                <p14:modId xmlns:p14="http://schemas.microsoft.com/office/powerpoint/2010/main" val="909885249"/>
              </p:ext>
            </p:extLst>
          </p:nvPr>
        </p:nvGraphicFramePr>
        <p:xfrm>
          <a:off x="1143000" y="5294532"/>
          <a:ext cx="2819400" cy="1258668"/>
        </p:xfrm>
        <a:graphic>
          <a:graphicData uri="http://schemas.openxmlformats.org/drawingml/2006/table">
            <a:tbl>
              <a:tblPr>
                <a:tableStyleId>{5C22544A-7EE6-4342-B048-85BDC9FD1C3A}</a:tableStyleId>
              </a:tblPr>
              <a:tblGrid>
                <a:gridCol w="1524000">
                  <a:extLst>
                    <a:ext uri="{9D8B030D-6E8A-4147-A177-3AD203B41FA5}">
                      <a16:colId xmlns:a16="http://schemas.microsoft.com/office/drawing/2014/main" val="2599460783"/>
                    </a:ext>
                  </a:extLst>
                </a:gridCol>
                <a:gridCol w="647700">
                  <a:extLst>
                    <a:ext uri="{9D8B030D-6E8A-4147-A177-3AD203B41FA5}">
                      <a16:colId xmlns:a16="http://schemas.microsoft.com/office/drawing/2014/main" val="633955239"/>
                    </a:ext>
                  </a:extLst>
                </a:gridCol>
                <a:gridCol w="647700">
                  <a:extLst>
                    <a:ext uri="{9D8B030D-6E8A-4147-A177-3AD203B41FA5}">
                      <a16:colId xmlns:a16="http://schemas.microsoft.com/office/drawing/2014/main" val="403972116"/>
                    </a:ext>
                  </a:extLst>
                </a:gridCol>
              </a:tblGrid>
              <a:tr h="419556">
                <a:tc>
                  <a:txBody>
                    <a:bodyPr/>
                    <a:lstStyle/>
                    <a:p>
                      <a:pPr algn="ctr"/>
                      <a:r>
                        <a:rPr lang="en-US" sz="1600" b="1" dirty="0">
                          <a:solidFill>
                            <a:schemeClr val="tx1"/>
                          </a:solidFill>
                        </a:rPr>
                        <a:t>LOOP 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1632460"/>
                  </a:ext>
                </a:extLst>
              </a:tr>
              <a:tr h="419556">
                <a:tc>
                  <a:txBody>
                    <a:bodyPr/>
                    <a:lstStyle/>
                    <a:p>
                      <a:pPr algn="ctr"/>
                      <a:r>
                        <a:rPr lang="en-US" sz="1600" b="1" dirty="0">
                          <a:solidFill>
                            <a:schemeClr val="tx1"/>
                          </a:solidFill>
                        </a:rPr>
                        <a:t>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1759159"/>
                  </a:ext>
                </a:extLst>
              </a:tr>
              <a:tr h="419556">
                <a:tc>
                  <a:txBody>
                    <a:bodyPr/>
                    <a:lstStyle/>
                    <a:p>
                      <a:pPr algn="ctr"/>
                      <a:r>
                        <a:rPr lang="en-US" sz="1600" b="1" dirty="0">
                          <a:solidFill>
                            <a:schemeClr val="tx1"/>
                          </a:solidFill>
                        </a:rPr>
                        <a:t>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287566"/>
                  </a:ext>
                </a:extLst>
              </a:tr>
            </a:tbl>
          </a:graphicData>
        </a:graphic>
      </p:graphicFrame>
      <p:graphicFrame>
        <p:nvGraphicFramePr>
          <p:cNvPr id="25" name="Table 24">
            <a:extLst>
              <a:ext uri="{FF2B5EF4-FFF2-40B4-BE49-F238E27FC236}">
                <a16:creationId xmlns:a16="http://schemas.microsoft.com/office/drawing/2014/main" id="{205D3B2B-B06E-4E90-AA4E-31E58034CF8F}"/>
              </a:ext>
            </a:extLst>
          </p:cNvPr>
          <p:cNvGraphicFramePr>
            <a:graphicFrameLocks noGrp="1"/>
          </p:cNvGraphicFramePr>
          <p:nvPr>
            <p:custDataLst>
              <p:tags r:id="rId7"/>
            </p:custDataLst>
            <p:extLst>
              <p:ext uri="{D42A27DB-BD31-4B8C-83A1-F6EECF244321}">
                <p14:modId xmlns:p14="http://schemas.microsoft.com/office/powerpoint/2010/main" val="4293765628"/>
              </p:ext>
            </p:extLst>
          </p:nvPr>
        </p:nvGraphicFramePr>
        <p:xfrm>
          <a:off x="1143000" y="5294532"/>
          <a:ext cx="2171700" cy="1258668"/>
        </p:xfrm>
        <a:graphic>
          <a:graphicData uri="http://schemas.openxmlformats.org/drawingml/2006/table">
            <a:tbl>
              <a:tblPr>
                <a:tableStyleId>{5C22544A-7EE6-4342-B048-85BDC9FD1C3A}</a:tableStyleId>
              </a:tblPr>
              <a:tblGrid>
                <a:gridCol w="1524000">
                  <a:extLst>
                    <a:ext uri="{9D8B030D-6E8A-4147-A177-3AD203B41FA5}">
                      <a16:colId xmlns:a16="http://schemas.microsoft.com/office/drawing/2014/main" val="2599460783"/>
                    </a:ext>
                  </a:extLst>
                </a:gridCol>
                <a:gridCol w="647700">
                  <a:extLst>
                    <a:ext uri="{9D8B030D-6E8A-4147-A177-3AD203B41FA5}">
                      <a16:colId xmlns:a16="http://schemas.microsoft.com/office/drawing/2014/main" val="633955239"/>
                    </a:ext>
                  </a:extLst>
                </a:gridCol>
              </a:tblGrid>
              <a:tr h="419556">
                <a:tc>
                  <a:txBody>
                    <a:bodyPr/>
                    <a:lstStyle/>
                    <a:p>
                      <a:pPr algn="ctr"/>
                      <a:r>
                        <a:rPr lang="en-US" sz="1600" b="1" dirty="0">
                          <a:solidFill>
                            <a:schemeClr val="tx1"/>
                          </a:solidFill>
                        </a:rPr>
                        <a:t>LOOP 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1632460"/>
                  </a:ext>
                </a:extLst>
              </a:tr>
              <a:tr h="419556">
                <a:tc>
                  <a:txBody>
                    <a:bodyPr/>
                    <a:lstStyle/>
                    <a:p>
                      <a:pPr algn="ctr"/>
                      <a:r>
                        <a:rPr lang="en-US" sz="1600" b="1" dirty="0">
                          <a:solidFill>
                            <a:schemeClr val="tx1"/>
                          </a:solidFill>
                        </a:rPr>
                        <a:t>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1759159"/>
                  </a:ext>
                </a:extLst>
              </a:tr>
              <a:tr h="419556">
                <a:tc>
                  <a:txBody>
                    <a:bodyPr/>
                    <a:lstStyle/>
                    <a:p>
                      <a:pPr algn="ctr"/>
                      <a:r>
                        <a:rPr lang="en-US" sz="1600" b="1" dirty="0">
                          <a:solidFill>
                            <a:schemeClr val="tx1"/>
                          </a:solidFill>
                        </a:rPr>
                        <a:t>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287566"/>
                  </a:ext>
                </a:extLst>
              </a:tr>
            </a:tbl>
          </a:graphicData>
        </a:graphic>
      </p:graphicFrame>
      <p:graphicFrame>
        <p:nvGraphicFramePr>
          <p:cNvPr id="27" name="Table 26">
            <a:extLst>
              <a:ext uri="{FF2B5EF4-FFF2-40B4-BE49-F238E27FC236}">
                <a16:creationId xmlns:a16="http://schemas.microsoft.com/office/drawing/2014/main" id="{DAEAD4EE-EE0F-413C-B3B9-2EBAB9AF6E27}"/>
              </a:ext>
            </a:extLst>
          </p:cNvPr>
          <p:cNvGraphicFramePr>
            <a:graphicFrameLocks noGrp="1"/>
          </p:cNvGraphicFramePr>
          <p:nvPr>
            <p:custDataLst>
              <p:tags r:id="rId8"/>
            </p:custDataLst>
            <p:extLst>
              <p:ext uri="{D42A27DB-BD31-4B8C-83A1-F6EECF244321}">
                <p14:modId xmlns:p14="http://schemas.microsoft.com/office/powerpoint/2010/main" val="1434662452"/>
              </p:ext>
            </p:extLst>
          </p:nvPr>
        </p:nvGraphicFramePr>
        <p:xfrm>
          <a:off x="1143000" y="5294532"/>
          <a:ext cx="2171700" cy="839112"/>
        </p:xfrm>
        <a:graphic>
          <a:graphicData uri="http://schemas.openxmlformats.org/drawingml/2006/table">
            <a:tbl>
              <a:tblPr>
                <a:tableStyleId>{5C22544A-7EE6-4342-B048-85BDC9FD1C3A}</a:tableStyleId>
              </a:tblPr>
              <a:tblGrid>
                <a:gridCol w="1524000">
                  <a:extLst>
                    <a:ext uri="{9D8B030D-6E8A-4147-A177-3AD203B41FA5}">
                      <a16:colId xmlns:a16="http://schemas.microsoft.com/office/drawing/2014/main" val="2599460783"/>
                    </a:ext>
                  </a:extLst>
                </a:gridCol>
                <a:gridCol w="647700">
                  <a:extLst>
                    <a:ext uri="{9D8B030D-6E8A-4147-A177-3AD203B41FA5}">
                      <a16:colId xmlns:a16="http://schemas.microsoft.com/office/drawing/2014/main" val="633955239"/>
                    </a:ext>
                  </a:extLst>
                </a:gridCol>
              </a:tblGrid>
              <a:tr h="419556">
                <a:tc>
                  <a:txBody>
                    <a:bodyPr/>
                    <a:lstStyle/>
                    <a:p>
                      <a:pPr algn="ctr"/>
                      <a:r>
                        <a:rPr lang="en-US" sz="1600" b="1" dirty="0">
                          <a:solidFill>
                            <a:schemeClr val="tx1"/>
                          </a:solidFill>
                        </a:rPr>
                        <a:t>LOOP 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1632460"/>
                  </a:ext>
                </a:extLst>
              </a:tr>
              <a:tr h="419556">
                <a:tc>
                  <a:txBody>
                    <a:bodyPr/>
                    <a:lstStyle/>
                    <a:p>
                      <a:pPr algn="ctr"/>
                      <a:r>
                        <a:rPr lang="en-US" sz="1600" b="1" dirty="0">
                          <a:solidFill>
                            <a:schemeClr val="tx1"/>
                          </a:solidFill>
                        </a:rPr>
                        <a:t>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1759159"/>
                  </a:ext>
                </a:extLst>
              </a:tr>
            </a:tbl>
          </a:graphicData>
        </a:graphic>
      </p:graphicFrame>
      <p:graphicFrame>
        <p:nvGraphicFramePr>
          <p:cNvPr id="23" name="Table 22">
            <a:extLst>
              <a:ext uri="{FF2B5EF4-FFF2-40B4-BE49-F238E27FC236}">
                <a16:creationId xmlns:a16="http://schemas.microsoft.com/office/drawing/2014/main" id="{63CE8132-83CD-43F4-ADEE-2BB610F2575B}"/>
              </a:ext>
            </a:extLst>
          </p:cNvPr>
          <p:cNvGraphicFramePr>
            <a:graphicFrameLocks noGrp="1"/>
          </p:cNvGraphicFramePr>
          <p:nvPr>
            <p:custDataLst>
              <p:tags r:id="rId9"/>
            </p:custDataLst>
            <p:extLst>
              <p:ext uri="{D42A27DB-BD31-4B8C-83A1-F6EECF244321}">
                <p14:modId xmlns:p14="http://schemas.microsoft.com/office/powerpoint/2010/main" val="2485015784"/>
              </p:ext>
            </p:extLst>
          </p:nvPr>
        </p:nvGraphicFramePr>
        <p:xfrm>
          <a:off x="1143000" y="5294532"/>
          <a:ext cx="6705600" cy="1258668"/>
        </p:xfrm>
        <a:graphic>
          <a:graphicData uri="http://schemas.openxmlformats.org/drawingml/2006/table">
            <a:tbl>
              <a:tblPr>
                <a:tableStyleId>{5C22544A-7EE6-4342-B048-85BDC9FD1C3A}</a:tableStyleId>
              </a:tblPr>
              <a:tblGrid>
                <a:gridCol w="1524000">
                  <a:extLst>
                    <a:ext uri="{9D8B030D-6E8A-4147-A177-3AD203B41FA5}">
                      <a16:colId xmlns:a16="http://schemas.microsoft.com/office/drawing/2014/main" val="2599460783"/>
                    </a:ext>
                  </a:extLst>
                </a:gridCol>
                <a:gridCol w="647700">
                  <a:extLst>
                    <a:ext uri="{9D8B030D-6E8A-4147-A177-3AD203B41FA5}">
                      <a16:colId xmlns:a16="http://schemas.microsoft.com/office/drawing/2014/main" val="633955239"/>
                    </a:ext>
                  </a:extLst>
                </a:gridCol>
                <a:gridCol w="647700">
                  <a:extLst>
                    <a:ext uri="{9D8B030D-6E8A-4147-A177-3AD203B41FA5}">
                      <a16:colId xmlns:a16="http://schemas.microsoft.com/office/drawing/2014/main" val="403972116"/>
                    </a:ext>
                  </a:extLst>
                </a:gridCol>
                <a:gridCol w="647700">
                  <a:extLst>
                    <a:ext uri="{9D8B030D-6E8A-4147-A177-3AD203B41FA5}">
                      <a16:colId xmlns:a16="http://schemas.microsoft.com/office/drawing/2014/main" val="2517397745"/>
                    </a:ext>
                  </a:extLst>
                </a:gridCol>
                <a:gridCol w="647700">
                  <a:extLst>
                    <a:ext uri="{9D8B030D-6E8A-4147-A177-3AD203B41FA5}">
                      <a16:colId xmlns:a16="http://schemas.microsoft.com/office/drawing/2014/main" val="3508040222"/>
                    </a:ext>
                  </a:extLst>
                </a:gridCol>
                <a:gridCol w="647700">
                  <a:extLst>
                    <a:ext uri="{9D8B030D-6E8A-4147-A177-3AD203B41FA5}">
                      <a16:colId xmlns:a16="http://schemas.microsoft.com/office/drawing/2014/main" val="2723337975"/>
                    </a:ext>
                  </a:extLst>
                </a:gridCol>
                <a:gridCol w="647700">
                  <a:extLst>
                    <a:ext uri="{9D8B030D-6E8A-4147-A177-3AD203B41FA5}">
                      <a16:colId xmlns:a16="http://schemas.microsoft.com/office/drawing/2014/main" val="4013346261"/>
                    </a:ext>
                  </a:extLst>
                </a:gridCol>
                <a:gridCol w="647700">
                  <a:extLst>
                    <a:ext uri="{9D8B030D-6E8A-4147-A177-3AD203B41FA5}">
                      <a16:colId xmlns:a16="http://schemas.microsoft.com/office/drawing/2014/main" val="2437734501"/>
                    </a:ext>
                  </a:extLst>
                </a:gridCol>
                <a:gridCol w="647700">
                  <a:extLst>
                    <a:ext uri="{9D8B030D-6E8A-4147-A177-3AD203B41FA5}">
                      <a16:colId xmlns:a16="http://schemas.microsoft.com/office/drawing/2014/main" val="3868234405"/>
                    </a:ext>
                  </a:extLst>
                </a:gridCol>
              </a:tblGrid>
              <a:tr h="419556">
                <a:tc>
                  <a:txBody>
                    <a:bodyPr/>
                    <a:lstStyle/>
                    <a:p>
                      <a:pPr algn="ctr"/>
                      <a:r>
                        <a:rPr lang="en-US" sz="1600" b="1" dirty="0">
                          <a:solidFill>
                            <a:schemeClr val="tx1"/>
                          </a:solidFill>
                        </a:rPr>
                        <a:t>LOOP 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1632460"/>
                  </a:ext>
                </a:extLst>
              </a:tr>
              <a:tr h="419556">
                <a:tc>
                  <a:txBody>
                    <a:bodyPr/>
                    <a:lstStyle/>
                    <a:p>
                      <a:pPr algn="ctr"/>
                      <a:r>
                        <a:rPr lang="en-US" sz="1600" b="1" dirty="0">
                          <a:solidFill>
                            <a:schemeClr val="tx1"/>
                          </a:solidFill>
                        </a:rPr>
                        <a:t>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271759159"/>
                  </a:ext>
                </a:extLst>
              </a:tr>
              <a:tr h="419556">
                <a:tc>
                  <a:txBody>
                    <a:bodyPr/>
                    <a:lstStyle/>
                    <a:p>
                      <a:pPr algn="ctr"/>
                      <a:r>
                        <a:rPr lang="en-US" sz="1600" b="1" dirty="0">
                          <a:solidFill>
                            <a:schemeClr val="tx1"/>
                          </a:solidFill>
                        </a:rPr>
                        <a:t>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287566"/>
                  </a:ext>
                </a:extLst>
              </a:tr>
            </a:tbl>
          </a:graphicData>
        </a:graphic>
      </p:graphicFrame>
      <p:sp>
        <p:nvSpPr>
          <p:cNvPr id="32" name="Rectangle 3">
            <a:extLst>
              <a:ext uri="{FF2B5EF4-FFF2-40B4-BE49-F238E27FC236}">
                <a16:creationId xmlns:a16="http://schemas.microsoft.com/office/drawing/2014/main" id="{5EC9E2F9-7628-4886-A758-8CDA898C389A}"/>
              </a:ext>
            </a:extLst>
          </p:cNvPr>
          <p:cNvSpPr txBox="1">
            <a:spLocks noChangeArrowheads="1"/>
          </p:cNvSpPr>
          <p:nvPr>
            <p:custDataLst>
              <p:tags r:id="rId10"/>
            </p:custDataLst>
          </p:nvPr>
        </p:nvSpPr>
        <p:spPr bwMode="auto">
          <a:xfrm>
            <a:off x="5410200" y="5029200"/>
            <a:ext cx="2819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600" b="1" dirty="0">
                <a:solidFill>
                  <a:schemeClr val="accent6">
                    <a:lumMod val="75000"/>
                  </a:schemeClr>
                </a:solidFill>
              </a:rPr>
              <a:t>misprediction rate = 4/8</a:t>
            </a:r>
            <a:endParaRPr lang="en-US" altLang="en-US" sz="1200" b="1" dirty="0">
              <a:solidFill>
                <a:schemeClr val="accent6">
                  <a:lumMod val="75000"/>
                </a:schemeClr>
              </a:solidFill>
            </a:endParaRPr>
          </a:p>
        </p:txBody>
      </p:sp>
    </p:spTree>
    <p:custDataLst>
      <p:tags r:id="rId1"/>
    </p:custDataLst>
    <p:extLst>
      <p:ext uri="{BB962C8B-B14F-4D97-AF65-F5344CB8AC3E}">
        <p14:creationId xmlns:p14="http://schemas.microsoft.com/office/powerpoint/2010/main" val="34674771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7"/>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5"/>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Branch Prediction</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3"/>
            </p:custDataLst>
          </p:nvPr>
        </p:nvSpPr>
        <p:spPr>
          <a:xfrm>
            <a:off x="457200" y="1447800"/>
            <a:ext cx="8686800" cy="1828800"/>
          </a:xfrm>
        </p:spPr>
        <p:txBody>
          <a:bodyPr/>
          <a:lstStyle/>
          <a:p>
            <a:pPr eaLnBrk="1" hangingPunct="1"/>
            <a:r>
              <a:rPr lang="en-US" altLang="en-US" sz="2800" dirty="0"/>
              <a:t>Dynamic branch direction prediction:</a:t>
            </a:r>
          </a:p>
          <a:p>
            <a:pPr lvl="1"/>
            <a:r>
              <a:rPr lang="en-US" altLang="en-US" sz="2400" i="1" dirty="0"/>
              <a:t>Predict</a:t>
            </a:r>
            <a:r>
              <a:rPr lang="en-US" altLang="en-US" sz="2400" dirty="0"/>
              <a:t> branch outcome (T or N) in IF stage</a:t>
            </a:r>
          </a:p>
          <a:p>
            <a:pPr lvl="1"/>
            <a:r>
              <a:rPr lang="en-US" altLang="en-US" sz="2400" dirty="0"/>
              <a:t>Target is either computed early or predicted too (advanced)</a:t>
            </a:r>
          </a:p>
          <a:p>
            <a:pPr lvl="1"/>
            <a:r>
              <a:rPr lang="en-US" altLang="en-US" sz="2400" dirty="0"/>
              <a:t>Branch history table (BHT) with </a:t>
            </a:r>
            <a:r>
              <a:rPr lang="en-US" altLang="en-US" sz="2400" b="1" dirty="0"/>
              <a:t>2-bit prediction</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20</a:t>
            </a:fld>
            <a:endParaRPr lang="en-US" altLang="en-US">
              <a:latin typeface="Calibri" panose="020F0502020204030204" pitchFamily="34" charset="0"/>
            </a:endParaRPr>
          </a:p>
        </p:txBody>
      </p:sp>
      <p:graphicFrame>
        <p:nvGraphicFramePr>
          <p:cNvPr id="10" name="Table 9">
            <a:extLst>
              <a:ext uri="{FF2B5EF4-FFF2-40B4-BE49-F238E27FC236}">
                <a16:creationId xmlns:a16="http://schemas.microsoft.com/office/drawing/2014/main" id="{8451B3EF-5F29-445E-A757-AA63DFF54D94}"/>
              </a:ext>
            </a:extLst>
          </p:cNvPr>
          <p:cNvGraphicFramePr>
            <a:graphicFrameLocks noGrp="1"/>
          </p:cNvGraphicFramePr>
          <p:nvPr>
            <p:custDataLst>
              <p:tags r:id="rId5"/>
            </p:custDataLst>
            <p:extLst>
              <p:ext uri="{D42A27DB-BD31-4B8C-83A1-F6EECF244321}">
                <p14:modId xmlns:p14="http://schemas.microsoft.com/office/powerpoint/2010/main" val="234303292"/>
              </p:ext>
            </p:extLst>
          </p:nvPr>
        </p:nvGraphicFramePr>
        <p:xfrm>
          <a:off x="2819400" y="3565842"/>
          <a:ext cx="1206244" cy="3017520"/>
        </p:xfrm>
        <a:graphic>
          <a:graphicData uri="http://schemas.openxmlformats.org/drawingml/2006/table">
            <a:tbl>
              <a:tblPr>
                <a:tableStyleId>{5C22544A-7EE6-4342-B048-85BDC9FD1C3A}</a:tableStyleId>
              </a:tblPr>
              <a:tblGrid>
                <a:gridCol w="1206244">
                  <a:extLst>
                    <a:ext uri="{9D8B030D-6E8A-4147-A177-3AD203B41FA5}">
                      <a16:colId xmlns:a16="http://schemas.microsoft.com/office/drawing/2014/main" val="1082879257"/>
                    </a:ext>
                  </a:extLst>
                </a:gridCol>
              </a:tblGrid>
              <a:tr h="273933">
                <a:tc>
                  <a:txBody>
                    <a:bodyPr/>
                    <a:lstStyle/>
                    <a:p>
                      <a:pPr algn="ctr"/>
                      <a:r>
                        <a:rPr lang="en-US" sz="1600" b="1" dirty="0">
                          <a:solidFill>
                            <a:schemeClr val="tx1"/>
                          </a:solidFill>
                        </a:rPr>
                        <a:t>BHT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9288662"/>
                  </a:ext>
                </a:extLst>
              </a:tr>
              <a:tr h="273933">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30033292"/>
                  </a:ext>
                </a:extLst>
              </a:tr>
              <a:tr h="273933">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96317443"/>
                  </a:ext>
                </a:extLst>
              </a:tr>
              <a:tr h="273933">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68553288"/>
                  </a:ext>
                </a:extLst>
              </a:tr>
              <a:tr h="273933">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52901490"/>
                  </a:ext>
                </a:extLst>
              </a:tr>
              <a:tr h="273933">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86078682"/>
                  </a:ext>
                </a:extLst>
              </a:tr>
              <a:tr h="273933">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42231405"/>
                  </a:ext>
                </a:extLst>
              </a:tr>
              <a:tr h="273933">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28671184"/>
                  </a:ext>
                </a:extLst>
              </a:tr>
              <a:tr h="273933">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92110488"/>
                  </a:ext>
                </a:extLst>
              </a:tr>
            </a:tbl>
          </a:graphicData>
        </a:graphic>
      </p:graphicFrame>
      <p:cxnSp>
        <p:nvCxnSpPr>
          <p:cNvPr id="12" name="Connector: Elbow 11">
            <a:extLst>
              <a:ext uri="{FF2B5EF4-FFF2-40B4-BE49-F238E27FC236}">
                <a16:creationId xmlns:a16="http://schemas.microsoft.com/office/drawing/2014/main" id="{1F6DDB98-1B90-4B42-8197-1A7781C7B51B}"/>
              </a:ext>
            </a:extLst>
          </p:cNvPr>
          <p:cNvCxnSpPr>
            <a:cxnSpLocks/>
          </p:cNvCxnSpPr>
          <p:nvPr>
            <p:custDataLst>
              <p:tags r:id="rId6"/>
            </p:custDataLst>
          </p:nvPr>
        </p:nvCxnSpPr>
        <p:spPr>
          <a:xfrm rot="16200000" flipH="1">
            <a:off x="1608393" y="3835254"/>
            <a:ext cx="822346" cy="1599668"/>
          </a:xfrm>
          <a:prstGeom prst="bentConnector2">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9CB7ED81-778F-4CD4-B252-DE835ED44EE7}"/>
              </a:ext>
            </a:extLst>
          </p:cNvPr>
          <p:cNvSpPr/>
          <p:nvPr>
            <p:custDataLst>
              <p:tags r:id="rId7"/>
            </p:custDataLst>
          </p:nvPr>
        </p:nvSpPr>
        <p:spPr bwMode="auto">
          <a:xfrm>
            <a:off x="4247650" y="4924738"/>
            <a:ext cx="1692037" cy="389513"/>
          </a:xfrm>
          <a:prstGeom prst="ellipse">
            <a:avLst/>
          </a:prstGeom>
          <a:solidFill>
            <a:schemeClr val="bg1">
              <a:lumMod val="95000"/>
            </a:schemeClr>
          </a:solidFill>
          <a:ln w="285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mn-lt"/>
              </a:rPr>
              <a:t>01 not taken (n)</a:t>
            </a:r>
          </a:p>
        </p:txBody>
      </p:sp>
      <p:sp>
        <p:nvSpPr>
          <p:cNvPr id="15" name="Oval 14">
            <a:extLst>
              <a:ext uri="{FF2B5EF4-FFF2-40B4-BE49-F238E27FC236}">
                <a16:creationId xmlns:a16="http://schemas.microsoft.com/office/drawing/2014/main" id="{B89DCBC9-4197-4CF3-AA5D-6E008F274607}"/>
              </a:ext>
            </a:extLst>
          </p:cNvPr>
          <p:cNvSpPr/>
          <p:nvPr>
            <p:custDataLst>
              <p:tags r:id="rId8"/>
            </p:custDataLst>
          </p:nvPr>
        </p:nvSpPr>
        <p:spPr bwMode="auto">
          <a:xfrm>
            <a:off x="5771650" y="3755683"/>
            <a:ext cx="1761105" cy="389513"/>
          </a:xfrm>
          <a:prstGeom prst="ellipse">
            <a:avLst/>
          </a:prstGeom>
          <a:solidFill>
            <a:schemeClr val="bg1">
              <a:lumMod val="95000"/>
            </a:schemeClr>
          </a:solidFill>
          <a:ln w="28575" cap="flat" cmpd="sng" algn="ctr">
            <a:solidFill>
              <a:srgbClr val="0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mn-lt"/>
              </a:rPr>
              <a:t>00 Not Taken (N)</a:t>
            </a:r>
          </a:p>
        </p:txBody>
      </p:sp>
      <p:sp>
        <p:nvSpPr>
          <p:cNvPr id="16" name="Oval 15">
            <a:extLst>
              <a:ext uri="{FF2B5EF4-FFF2-40B4-BE49-F238E27FC236}">
                <a16:creationId xmlns:a16="http://schemas.microsoft.com/office/drawing/2014/main" id="{CB7ADA9C-B467-41D9-BCE6-9CE1795797AC}"/>
              </a:ext>
            </a:extLst>
          </p:cNvPr>
          <p:cNvSpPr/>
          <p:nvPr>
            <p:custDataLst>
              <p:tags r:id="rId9"/>
            </p:custDataLst>
          </p:nvPr>
        </p:nvSpPr>
        <p:spPr bwMode="auto">
          <a:xfrm>
            <a:off x="7219450" y="4898683"/>
            <a:ext cx="1761106" cy="389513"/>
          </a:xfrm>
          <a:prstGeom prst="ellipse">
            <a:avLst/>
          </a:prstGeom>
          <a:solidFill>
            <a:schemeClr val="bg1">
              <a:lumMod val="95000"/>
            </a:schemeClr>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mn-lt"/>
              </a:rPr>
              <a:t>10 taken (t)</a:t>
            </a:r>
          </a:p>
        </p:txBody>
      </p:sp>
      <p:sp>
        <p:nvSpPr>
          <p:cNvPr id="17" name="Oval 16">
            <a:extLst>
              <a:ext uri="{FF2B5EF4-FFF2-40B4-BE49-F238E27FC236}">
                <a16:creationId xmlns:a16="http://schemas.microsoft.com/office/drawing/2014/main" id="{DC484070-93DD-4706-80E0-6EED355D03FF}"/>
              </a:ext>
            </a:extLst>
          </p:cNvPr>
          <p:cNvSpPr/>
          <p:nvPr>
            <p:custDataLst>
              <p:tags r:id="rId10"/>
            </p:custDataLst>
          </p:nvPr>
        </p:nvSpPr>
        <p:spPr bwMode="auto">
          <a:xfrm>
            <a:off x="5675910" y="6109370"/>
            <a:ext cx="1924540" cy="389513"/>
          </a:xfrm>
          <a:prstGeom prst="ellipse">
            <a:avLst/>
          </a:prstGeom>
          <a:solidFill>
            <a:schemeClr val="bg1">
              <a:lumMod val="95000"/>
            </a:schemeClr>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mn-lt"/>
              </a:rPr>
              <a:t>11 Taken (T)</a:t>
            </a:r>
          </a:p>
        </p:txBody>
      </p:sp>
      <p:cxnSp>
        <p:nvCxnSpPr>
          <p:cNvPr id="18" name="Straight Arrow Connector 17">
            <a:extLst>
              <a:ext uri="{FF2B5EF4-FFF2-40B4-BE49-F238E27FC236}">
                <a16:creationId xmlns:a16="http://schemas.microsoft.com/office/drawing/2014/main" id="{233FEF6E-B1AF-4523-8AF2-46064C53FAB5}"/>
              </a:ext>
            </a:extLst>
          </p:cNvPr>
          <p:cNvCxnSpPr>
            <a:cxnSpLocks/>
          </p:cNvCxnSpPr>
          <p:nvPr/>
        </p:nvCxnSpPr>
        <p:spPr bwMode="auto">
          <a:xfrm flipV="1">
            <a:off x="5646321" y="4117825"/>
            <a:ext cx="437870" cy="831567"/>
          </a:xfrm>
          <a:prstGeom prst="straightConnector1">
            <a:avLst/>
          </a:prstGeom>
          <a:noFill/>
          <a:ln w="28575" cap="flat" cmpd="sng" algn="ctr">
            <a:solidFill>
              <a:srgbClr val="000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7D73B660-3E04-4EAD-B00E-BEFA6032A9D9}"/>
              </a:ext>
            </a:extLst>
          </p:cNvPr>
          <p:cNvCxnSpPr>
            <a:cxnSpLocks/>
          </p:cNvCxnSpPr>
          <p:nvPr/>
        </p:nvCxnSpPr>
        <p:spPr bwMode="auto">
          <a:xfrm flipH="1">
            <a:off x="5553228" y="4130364"/>
            <a:ext cx="447022" cy="844519"/>
          </a:xfrm>
          <a:prstGeom prst="straightConnector1">
            <a:avLst/>
          </a:prstGeom>
          <a:noFill/>
          <a:ln w="28575" cap="flat" cmpd="sng" algn="ctr">
            <a:solidFill>
              <a:srgbClr val="000000"/>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05C9C3E2-C975-482D-BE79-A4C685FB3C6C}"/>
              </a:ext>
            </a:extLst>
          </p:cNvPr>
          <p:cNvCxnSpPr>
            <a:cxnSpLocks/>
          </p:cNvCxnSpPr>
          <p:nvPr/>
        </p:nvCxnSpPr>
        <p:spPr bwMode="auto">
          <a:xfrm>
            <a:off x="6000250" y="5042974"/>
            <a:ext cx="1219200" cy="3419"/>
          </a:xfrm>
          <a:prstGeom prst="straightConnector1">
            <a:avLst/>
          </a:prstGeom>
          <a:noFill/>
          <a:ln w="28575" cap="flat" cmpd="sng" algn="ctr">
            <a:solidFill>
              <a:srgbClr val="000000"/>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1C7DE64E-21EB-4203-9BA9-18141C80C562}"/>
              </a:ext>
            </a:extLst>
          </p:cNvPr>
          <p:cNvCxnSpPr>
            <a:cxnSpLocks/>
          </p:cNvCxnSpPr>
          <p:nvPr/>
        </p:nvCxnSpPr>
        <p:spPr bwMode="auto">
          <a:xfrm flipH="1">
            <a:off x="5947478" y="5127283"/>
            <a:ext cx="1193001" cy="0"/>
          </a:xfrm>
          <a:prstGeom prst="straightConnector1">
            <a:avLst/>
          </a:prstGeom>
          <a:noFill/>
          <a:ln w="28575" cap="flat" cmpd="sng" algn="ctr">
            <a:solidFill>
              <a:srgbClr val="000000"/>
            </a:solidFill>
            <a:prstDash val="solid"/>
            <a:round/>
            <a:headEnd type="none" w="med" len="med"/>
            <a:tailEnd type="triangle"/>
          </a:ln>
          <a:effectLst/>
        </p:spPr>
      </p:cxnSp>
      <p:sp>
        <p:nvSpPr>
          <p:cNvPr id="26" name="TextBox 25">
            <a:extLst>
              <a:ext uri="{FF2B5EF4-FFF2-40B4-BE49-F238E27FC236}">
                <a16:creationId xmlns:a16="http://schemas.microsoft.com/office/drawing/2014/main" id="{6A60D8EA-CE49-4831-AF3B-620E3298D4D9}"/>
              </a:ext>
            </a:extLst>
          </p:cNvPr>
          <p:cNvSpPr txBox="1"/>
          <p:nvPr>
            <p:custDataLst>
              <p:tags r:id="rId11"/>
            </p:custDataLst>
          </p:nvPr>
        </p:nvSpPr>
        <p:spPr>
          <a:xfrm>
            <a:off x="6283347" y="4803270"/>
            <a:ext cx="1287945" cy="276999"/>
          </a:xfrm>
          <a:prstGeom prst="rect">
            <a:avLst/>
          </a:prstGeom>
          <a:noFill/>
        </p:spPr>
        <p:txBody>
          <a:bodyPr wrap="square" rtlCol="0">
            <a:spAutoFit/>
          </a:bodyPr>
          <a:lstStyle/>
          <a:p>
            <a:r>
              <a:rPr lang="en-US" sz="1200" dirty="0">
                <a:solidFill>
                  <a:srgbClr val="000000"/>
                </a:solidFill>
                <a:latin typeface="+mn-lt"/>
              </a:rPr>
              <a:t>Taken</a:t>
            </a:r>
          </a:p>
        </p:txBody>
      </p:sp>
      <p:sp>
        <p:nvSpPr>
          <p:cNvPr id="27" name="TextBox 26">
            <a:extLst>
              <a:ext uri="{FF2B5EF4-FFF2-40B4-BE49-F238E27FC236}">
                <a16:creationId xmlns:a16="http://schemas.microsoft.com/office/drawing/2014/main" id="{A14D1E7A-2B9F-4784-89D8-A444FEFAE6E9}"/>
              </a:ext>
            </a:extLst>
          </p:cNvPr>
          <p:cNvSpPr txBox="1"/>
          <p:nvPr>
            <p:custDataLst>
              <p:tags r:id="rId12"/>
            </p:custDataLst>
          </p:nvPr>
        </p:nvSpPr>
        <p:spPr>
          <a:xfrm rot="17943532">
            <a:off x="6901866" y="5216081"/>
            <a:ext cx="1287945" cy="276999"/>
          </a:xfrm>
          <a:prstGeom prst="rect">
            <a:avLst/>
          </a:prstGeom>
          <a:noFill/>
        </p:spPr>
        <p:txBody>
          <a:bodyPr wrap="square" rtlCol="0">
            <a:spAutoFit/>
          </a:bodyPr>
          <a:lstStyle/>
          <a:p>
            <a:r>
              <a:rPr lang="en-US" sz="1200" dirty="0">
                <a:solidFill>
                  <a:srgbClr val="000000"/>
                </a:solidFill>
                <a:latin typeface="+mn-lt"/>
              </a:rPr>
              <a:t>Taken</a:t>
            </a:r>
          </a:p>
        </p:txBody>
      </p:sp>
      <p:cxnSp>
        <p:nvCxnSpPr>
          <p:cNvPr id="28" name="Connector: Curved 27">
            <a:extLst>
              <a:ext uri="{FF2B5EF4-FFF2-40B4-BE49-F238E27FC236}">
                <a16:creationId xmlns:a16="http://schemas.microsoft.com/office/drawing/2014/main" id="{789677B5-3657-4199-A8A9-227778C186D9}"/>
              </a:ext>
            </a:extLst>
          </p:cNvPr>
          <p:cNvCxnSpPr>
            <a:cxnSpLocks/>
          </p:cNvCxnSpPr>
          <p:nvPr>
            <p:custDataLst>
              <p:tags r:id="rId13"/>
            </p:custDataLst>
          </p:nvPr>
        </p:nvCxnSpPr>
        <p:spPr bwMode="auto">
          <a:xfrm rot="5400000" flipH="1">
            <a:off x="6560093" y="6184464"/>
            <a:ext cx="57043" cy="680428"/>
          </a:xfrm>
          <a:prstGeom prst="curvedConnector3">
            <a:avLst>
              <a:gd name="adj1" fmla="val -400750"/>
            </a:avLst>
          </a:prstGeom>
          <a:noFill/>
          <a:ln w="28575" cap="flat" cmpd="sng" algn="ctr">
            <a:solidFill>
              <a:srgbClr val="000000"/>
            </a:solidFill>
            <a:prstDash val="solid"/>
            <a:round/>
            <a:headEnd type="none" w="med" len="med"/>
            <a:tailEnd type="triangle"/>
          </a:ln>
          <a:effectLst/>
        </p:spPr>
      </p:cxnSp>
      <p:sp>
        <p:nvSpPr>
          <p:cNvPr id="29" name="TextBox 28">
            <a:extLst>
              <a:ext uri="{FF2B5EF4-FFF2-40B4-BE49-F238E27FC236}">
                <a16:creationId xmlns:a16="http://schemas.microsoft.com/office/drawing/2014/main" id="{DA36BC21-07F1-4F07-A774-B274D8260161}"/>
              </a:ext>
            </a:extLst>
          </p:cNvPr>
          <p:cNvSpPr txBox="1"/>
          <p:nvPr>
            <p:custDataLst>
              <p:tags r:id="rId14"/>
            </p:custDataLst>
          </p:nvPr>
        </p:nvSpPr>
        <p:spPr>
          <a:xfrm>
            <a:off x="6934200" y="6477000"/>
            <a:ext cx="1287945" cy="276999"/>
          </a:xfrm>
          <a:prstGeom prst="rect">
            <a:avLst/>
          </a:prstGeom>
          <a:noFill/>
        </p:spPr>
        <p:txBody>
          <a:bodyPr wrap="square" rtlCol="0">
            <a:spAutoFit/>
          </a:bodyPr>
          <a:lstStyle/>
          <a:p>
            <a:r>
              <a:rPr lang="en-US" sz="1200" dirty="0">
                <a:solidFill>
                  <a:srgbClr val="000000"/>
                </a:solidFill>
                <a:latin typeface="+mn-lt"/>
              </a:rPr>
              <a:t>Taken</a:t>
            </a:r>
          </a:p>
        </p:txBody>
      </p:sp>
      <p:cxnSp>
        <p:nvCxnSpPr>
          <p:cNvPr id="30" name="Connector: Curved 29">
            <a:extLst>
              <a:ext uri="{FF2B5EF4-FFF2-40B4-BE49-F238E27FC236}">
                <a16:creationId xmlns:a16="http://schemas.microsoft.com/office/drawing/2014/main" id="{03FC12A4-0422-4BA3-A924-47050C43EB86}"/>
              </a:ext>
            </a:extLst>
          </p:cNvPr>
          <p:cNvCxnSpPr>
            <a:cxnSpLocks/>
          </p:cNvCxnSpPr>
          <p:nvPr>
            <p:custDataLst>
              <p:tags r:id="rId15"/>
            </p:custDataLst>
          </p:nvPr>
        </p:nvCxnSpPr>
        <p:spPr bwMode="auto">
          <a:xfrm rot="16200000" flipH="1" flipV="1">
            <a:off x="6587476" y="3415838"/>
            <a:ext cx="57043" cy="622645"/>
          </a:xfrm>
          <a:prstGeom prst="curvedConnector3">
            <a:avLst>
              <a:gd name="adj1" fmla="val -400750"/>
            </a:avLst>
          </a:prstGeom>
          <a:noFill/>
          <a:ln w="28575" cap="flat" cmpd="sng" algn="ctr">
            <a:solidFill>
              <a:srgbClr val="000000"/>
            </a:solidFill>
            <a:prstDash val="solid"/>
            <a:round/>
            <a:headEnd type="none" w="med" len="med"/>
            <a:tailEnd type="triangle"/>
          </a:ln>
          <a:effectLst/>
        </p:spPr>
      </p:cxnSp>
      <p:sp>
        <p:nvSpPr>
          <p:cNvPr id="31" name="TextBox 30">
            <a:extLst>
              <a:ext uri="{FF2B5EF4-FFF2-40B4-BE49-F238E27FC236}">
                <a16:creationId xmlns:a16="http://schemas.microsoft.com/office/drawing/2014/main" id="{5470D15E-6785-4E43-A170-2F7647F0C457}"/>
              </a:ext>
            </a:extLst>
          </p:cNvPr>
          <p:cNvSpPr txBox="1"/>
          <p:nvPr>
            <p:custDataLst>
              <p:tags r:id="rId16"/>
            </p:custDataLst>
          </p:nvPr>
        </p:nvSpPr>
        <p:spPr>
          <a:xfrm>
            <a:off x="6831962" y="3416575"/>
            <a:ext cx="1667525" cy="276999"/>
          </a:xfrm>
          <a:prstGeom prst="rect">
            <a:avLst/>
          </a:prstGeom>
          <a:noFill/>
        </p:spPr>
        <p:txBody>
          <a:bodyPr wrap="square" rtlCol="0">
            <a:spAutoFit/>
          </a:bodyPr>
          <a:lstStyle/>
          <a:p>
            <a:r>
              <a:rPr lang="en-US" sz="1200" dirty="0">
                <a:solidFill>
                  <a:srgbClr val="000000"/>
                </a:solidFill>
                <a:latin typeface="+mn-lt"/>
              </a:rPr>
              <a:t>Not Taken</a:t>
            </a:r>
          </a:p>
        </p:txBody>
      </p:sp>
      <p:cxnSp>
        <p:nvCxnSpPr>
          <p:cNvPr id="81" name="Straight Arrow Connector 80">
            <a:extLst>
              <a:ext uri="{FF2B5EF4-FFF2-40B4-BE49-F238E27FC236}">
                <a16:creationId xmlns:a16="http://schemas.microsoft.com/office/drawing/2014/main" id="{A33FB912-B8EC-46BA-AD5E-567C550023C9}"/>
              </a:ext>
            </a:extLst>
          </p:cNvPr>
          <p:cNvCxnSpPr>
            <a:cxnSpLocks/>
          </p:cNvCxnSpPr>
          <p:nvPr/>
        </p:nvCxnSpPr>
        <p:spPr bwMode="auto">
          <a:xfrm flipV="1">
            <a:off x="7339072" y="5293260"/>
            <a:ext cx="437870" cy="831567"/>
          </a:xfrm>
          <a:prstGeom prst="straightConnector1">
            <a:avLst/>
          </a:prstGeom>
          <a:noFill/>
          <a:ln w="28575" cap="flat" cmpd="sng" algn="ctr">
            <a:solidFill>
              <a:srgbClr val="000000"/>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47A8EBE6-A412-4784-9C50-AF65FF2EBE6A}"/>
              </a:ext>
            </a:extLst>
          </p:cNvPr>
          <p:cNvCxnSpPr>
            <a:cxnSpLocks/>
          </p:cNvCxnSpPr>
          <p:nvPr/>
        </p:nvCxnSpPr>
        <p:spPr bwMode="auto">
          <a:xfrm flipH="1">
            <a:off x="7245979" y="5305799"/>
            <a:ext cx="447022" cy="844519"/>
          </a:xfrm>
          <a:prstGeom prst="straightConnector1">
            <a:avLst/>
          </a:prstGeom>
          <a:noFill/>
          <a:ln w="28575" cap="flat" cmpd="sng" algn="ctr">
            <a:solidFill>
              <a:srgbClr val="000000"/>
            </a:solidFill>
            <a:prstDash val="solid"/>
            <a:round/>
            <a:headEnd type="none" w="med" len="med"/>
            <a:tailEnd type="triangle"/>
          </a:ln>
          <a:effectLst/>
        </p:spPr>
      </p:cxnSp>
      <p:sp>
        <p:nvSpPr>
          <p:cNvPr id="87" name="TextBox 86">
            <a:extLst>
              <a:ext uri="{FF2B5EF4-FFF2-40B4-BE49-F238E27FC236}">
                <a16:creationId xmlns:a16="http://schemas.microsoft.com/office/drawing/2014/main" id="{1FA3F6E4-A1CC-4259-9C4A-AFF2691D268F}"/>
              </a:ext>
            </a:extLst>
          </p:cNvPr>
          <p:cNvSpPr txBox="1"/>
          <p:nvPr>
            <p:custDataLst>
              <p:tags r:id="rId17"/>
            </p:custDataLst>
          </p:nvPr>
        </p:nvSpPr>
        <p:spPr>
          <a:xfrm rot="17893671">
            <a:off x="7159013" y="5371196"/>
            <a:ext cx="1287945" cy="276999"/>
          </a:xfrm>
          <a:prstGeom prst="rect">
            <a:avLst/>
          </a:prstGeom>
          <a:noFill/>
        </p:spPr>
        <p:txBody>
          <a:bodyPr wrap="square" rtlCol="0">
            <a:spAutoFit/>
          </a:bodyPr>
          <a:lstStyle/>
          <a:p>
            <a:r>
              <a:rPr lang="en-US" sz="1200" dirty="0">
                <a:solidFill>
                  <a:srgbClr val="000000"/>
                </a:solidFill>
                <a:latin typeface="+mn-lt"/>
              </a:rPr>
              <a:t>Not Taken</a:t>
            </a:r>
          </a:p>
        </p:txBody>
      </p:sp>
      <p:sp>
        <p:nvSpPr>
          <p:cNvPr id="88" name="TextBox 87">
            <a:extLst>
              <a:ext uri="{FF2B5EF4-FFF2-40B4-BE49-F238E27FC236}">
                <a16:creationId xmlns:a16="http://schemas.microsoft.com/office/drawing/2014/main" id="{64F4E351-B9CA-4892-BC49-BB60EEC31011}"/>
              </a:ext>
            </a:extLst>
          </p:cNvPr>
          <p:cNvSpPr txBox="1"/>
          <p:nvPr>
            <p:custDataLst>
              <p:tags r:id="rId18"/>
            </p:custDataLst>
          </p:nvPr>
        </p:nvSpPr>
        <p:spPr>
          <a:xfrm rot="17943532">
            <a:off x="5195488" y="4057905"/>
            <a:ext cx="1287945" cy="276999"/>
          </a:xfrm>
          <a:prstGeom prst="rect">
            <a:avLst/>
          </a:prstGeom>
          <a:noFill/>
        </p:spPr>
        <p:txBody>
          <a:bodyPr wrap="square" rtlCol="0">
            <a:spAutoFit/>
          </a:bodyPr>
          <a:lstStyle/>
          <a:p>
            <a:r>
              <a:rPr lang="en-US" sz="1200" dirty="0">
                <a:solidFill>
                  <a:srgbClr val="000000"/>
                </a:solidFill>
                <a:latin typeface="+mn-lt"/>
              </a:rPr>
              <a:t>Taken</a:t>
            </a:r>
          </a:p>
        </p:txBody>
      </p:sp>
      <p:sp>
        <p:nvSpPr>
          <p:cNvPr id="89" name="TextBox 88">
            <a:extLst>
              <a:ext uri="{FF2B5EF4-FFF2-40B4-BE49-F238E27FC236}">
                <a16:creationId xmlns:a16="http://schemas.microsoft.com/office/drawing/2014/main" id="{CA377284-DFC9-418D-83B9-A143318F7459}"/>
              </a:ext>
            </a:extLst>
          </p:cNvPr>
          <p:cNvSpPr txBox="1"/>
          <p:nvPr>
            <p:custDataLst>
              <p:tags r:id="rId19"/>
            </p:custDataLst>
          </p:nvPr>
        </p:nvSpPr>
        <p:spPr>
          <a:xfrm rot="17893671">
            <a:off x="5452635" y="4213020"/>
            <a:ext cx="1287945" cy="276999"/>
          </a:xfrm>
          <a:prstGeom prst="rect">
            <a:avLst/>
          </a:prstGeom>
          <a:noFill/>
        </p:spPr>
        <p:txBody>
          <a:bodyPr wrap="square" rtlCol="0">
            <a:spAutoFit/>
          </a:bodyPr>
          <a:lstStyle/>
          <a:p>
            <a:r>
              <a:rPr lang="en-US" sz="1200" dirty="0">
                <a:solidFill>
                  <a:srgbClr val="000000"/>
                </a:solidFill>
                <a:latin typeface="+mn-lt"/>
              </a:rPr>
              <a:t>Not Taken</a:t>
            </a:r>
          </a:p>
        </p:txBody>
      </p:sp>
      <p:sp>
        <p:nvSpPr>
          <p:cNvPr id="90" name="TextBox 89">
            <a:extLst>
              <a:ext uri="{FF2B5EF4-FFF2-40B4-BE49-F238E27FC236}">
                <a16:creationId xmlns:a16="http://schemas.microsoft.com/office/drawing/2014/main" id="{F120530F-DA7A-434F-8010-86C00E4A4C3D}"/>
              </a:ext>
            </a:extLst>
          </p:cNvPr>
          <p:cNvSpPr txBox="1"/>
          <p:nvPr>
            <p:custDataLst>
              <p:tags r:id="rId20"/>
            </p:custDataLst>
          </p:nvPr>
        </p:nvSpPr>
        <p:spPr>
          <a:xfrm>
            <a:off x="6204068" y="5099425"/>
            <a:ext cx="1287945" cy="276999"/>
          </a:xfrm>
          <a:prstGeom prst="rect">
            <a:avLst/>
          </a:prstGeom>
          <a:noFill/>
        </p:spPr>
        <p:txBody>
          <a:bodyPr wrap="square" rtlCol="0">
            <a:spAutoFit/>
          </a:bodyPr>
          <a:lstStyle/>
          <a:p>
            <a:r>
              <a:rPr lang="en-US" sz="1200" dirty="0">
                <a:solidFill>
                  <a:srgbClr val="000000"/>
                </a:solidFill>
                <a:latin typeface="+mn-lt"/>
              </a:rPr>
              <a:t>Not Taken</a:t>
            </a:r>
          </a:p>
        </p:txBody>
      </p:sp>
      <p:graphicFrame>
        <p:nvGraphicFramePr>
          <p:cNvPr id="32" name="Table 31">
            <a:extLst>
              <a:ext uri="{FF2B5EF4-FFF2-40B4-BE49-F238E27FC236}">
                <a16:creationId xmlns:a16="http://schemas.microsoft.com/office/drawing/2014/main" id="{4E5239E3-6230-42CB-BC4B-470092002117}"/>
              </a:ext>
            </a:extLst>
          </p:cNvPr>
          <p:cNvGraphicFramePr>
            <a:graphicFrameLocks noGrp="1"/>
          </p:cNvGraphicFramePr>
          <p:nvPr>
            <p:custDataLst>
              <p:tags r:id="rId21"/>
            </p:custDataLst>
            <p:extLst>
              <p:ext uri="{D42A27DB-BD31-4B8C-83A1-F6EECF244321}">
                <p14:modId xmlns:p14="http://schemas.microsoft.com/office/powerpoint/2010/main" val="1485322636"/>
              </p:ext>
            </p:extLst>
          </p:nvPr>
        </p:nvGraphicFramePr>
        <p:xfrm>
          <a:off x="381000" y="3931919"/>
          <a:ext cx="1511044" cy="378101"/>
        </p:xfrm>
        <a:graphic>
          <a:graphicData uri="http://schemas.openxmlformats.org/drawingml/2006/table">
            <a:tbl>
              <a:tblPr firstRow="1" bandRow="1">
                <a:tableStyleId>{5C22544A-7EE6-4342-B048-85BDC9FD1C3A}</a:tableStyleId>
              </a:tblPr>
              <a:tblGrid>
                <a:gridCol w="472845">
                  <a:extLst>
                    <a:ext uri="{9D8B030D-6E8A-4147-A177-3AD203B41FA5}">
                      <a16:colId xmlns:a16="http://schemas.microsoft.com/office/drawing/2014/main" val="3305146675"/>
                    </a:ext>
                  </a:extLst>
                </a:gridCol>
                <a:gridCol w="804487">
                  <a:extLst>
                    <a:ext uri="{9D8B030D-6E8A-4147-A177-3AD203B41FA5}">
                      <a16:colId xmlns:a16="http://schemas.microsoft.com/office/drawing/2014/main" val="1742414426"/>
                    </a:ext>
                  </a:extLst>
                </a:gridCol>
                <a:gridCol w="233712">
                  <a:extLst>
                    <a:ext uri="{9D8B030D-6E8A-4147-A177-3AD203B41FA5}">
                      <a16:colId xmlns:a16="http://schemas.microsoft.com/office/drawing/2014/main" val="1811377837"/>
                    </a:ext>
                  </a:extLst>
                </a:gridCol>
              </a:tblGrid>
              <a:tr h="378101">
                <a:tc>
                  <a:txBody>
                    <a:bodyPr/>
                    <a:lstStyle/>
                    <a:p>
                      <a:pPr algn="ct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8759690"/>
                  </a:ext>
                </a:extLst>
              </a:tr>
            </a:tbl>
          </a:graphicData>
        </a:graphic>
      </p:graphicFrame>
      <p:sp>
        <p:nvSpPr>
          <p:cNvPr id="33" name="Rectangle 3">
            <a:extLst>
              <a:ext uri="{FF2B5EF4-FFF2-40B4-BE49-F238E27FC236}">
                <a16:creationId xmlns:a16="http://schemas.microsoft.com/office/drawing/2014/main" id="{CF0B4171-412A-41A4-AB78-0EC179838429}"/>
              </a:ext>
            </a:extLst>
          </p:cNvPr>
          <p:cNvSpPr txBox="1">
            <a:spLocks noChangeArrowheads="1"/>
          </p:cNvSpPr>
          <p:nvPr>
            <p:custDataLst>
              <p:tags r:id="rId22"/>
            </p:custDataLst>
          </p:nvPr>
        </p:nvSpPr>
        <p:spPr bwMode="auto">
          <a:xfrm>
            <a:off x="381000" y="3962400"/>
            <a:ext cx="1752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600" b="1" dirty="0"/>
              <a:t>PC[4:2]</a:t>
            </a:r>
            <a:endParaRPr lang="en-US" altLang="en-US" sz="1200" b="1" dirty="0"/>
          </a:p>
        </p:txBody>
      </p:sp>
    </p:spTree>
    <p:custDataLst>
      <p:tags r:id="rId1"/>
    </p:custDataLst>
    <p:extLst>
      <p:ext uri="{BB962C8B-B14F-4D97-AF65-F5344CB8AC3E}">
        <p14:creationId xmlns:p14="http://schemas.microsoft.com/office/powerpoint/2010/main" val="421863495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205D3B2B-B06E-4E90-AA4E-31E58034CF8F}"/>
              </a:ext>
            </a:extLst>
          </p:cNvPr>
          <p:cNvGraphicFramePr>
            <a:graphicFrameLocks noGrp="1"/>
          </p:cNvGraphicFramePr>
          <p:nvPr>
            <p:custDataLst>
              <p:tags r:id="rId2"/>
            </p:custDataLst>
            <p:extLst>
              <p:ext uri="{D42A27DB-BD31-4B8C-83A1-F6EECF244321}">
                <p14:modId xmlns:p14="http://schemas.microsoft.com/office/powerpoint/2010/main" val="2024988962"/>
              </p:ext>
            </p:extLst>
          </p:nvPr>
        </p:nvGraphicFramePr>
        <p:xfrm>
          <a:off x="1143000" y="5294532"/>
          <a:ext cx="2171700" cy="1258668"/>
        </p:xfrm>
        <a:graphic>
          <a:graphicData uri="http://schemas.openxmlformats.org/drawingml/2006/table">
            <a:tbl>
              <a:tblPr>
                <a:tableStyleId>{5C22544A-7EE6-4342-B048-85BDC9FD1C3A}</a:tableStyleId>
              </a:tblPr>
              <a:tblGrid>
                <a:gridCol w="1524000">
                  <a:extLst>
                    <a:ext uri="{9D8B030D-6E8A-4147-A177-3AD203B41FA5}">
                      <a16:colId xmlns:a16="http://schemas.microsoft.com/office/drawing/2014/main" val="2599460783"/>
                    </a:ext>
                  </a:extLst>
                </a:gridCol>
                <a:gridCol w="647700">
                  <a:extLst>
                    <a:ext uri="{9D8B030D-6E8A-4147-A177-3AD203B41FA5}">
                      <a16:colId xmlns:a16="http://schemas.microsoft.com/office/drawing/2014/main" val="633955239"/>
                    </a:ext>
                  </a:extLst>
                </a:gridCol>
              </a:tblGrid>
              <a:tr h="419556">
                <a:tc>
                  <a:txBody>
                    <a:bodyPr/>
                    <a:lstStyle/>
                    <a:p>
                      <a:pPr algn="ctr"/>
                      <a:r>
                        <a:rPr lang="en-US" sz="1600" b="1" dirty="0">
                          <a:solidFill>
                            <a:schemeClr val="tx1"/>
                          </a:solidFill>
                        </a:rPr>
                        <a:t>LOOP 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1632460"/>
                  </a:ext>
                </a:extLst>
              </a:tr>
              <a:tr h="419556">
                <a:tc>
                  <a:txBody>
                    <a:bodyPr/>
                    <a:lstStyle/>
                    <a:p>
                      <a:pPr algn="ctr"/>
                      <a:r>
                        <a:rPr lang="en-US" sz="1600" b="1" dirty="0">
                          <a:solidFill>
                            <a:schemeClr val="tx1"/>
                          </a:solidFill>
                        </a:rPr>
                        <a:t>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1759159"/>
                  </a:ext>
                </a:extLst>
              </a:tr>
              <a:tr h="419556">
                <a:tc>
                  <a:txBody>
                    <a:bodyPr/>
                    <a:lstStyle/>
                    <a:p>
                      <a:pPr algn="ctr"/>
                      <a:r>
                        <a:rPr lang="en-US" sz="1600" b="1" dirty="0">
                          <a:solidFill>
                            <a:schemeClr val="tx1"/>
                          </a:solidFill>
                        </a:rPr>
                        <a:t>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287566"/>
                  </a:ext>
                </a:extLst>
              </a:tr>
            </a:tbl>
          </a:graphicData>
        </a:graphic>
      </p:graphicFrame>
      <p:graphicFrame>
        <p:nvGraphicFramePr>
          <p:cNvPr id="27" name="Table 26">
            <a:extLst>
              <a:ext uri="{FF2B5EF4-FFF2-40B4-BE49-F238E27FC236}">
                <a16:creationId xmlns:a16="http://schemas.microsoft.com/office/drawing/2014/main" id="{DAEAD4EE-EE0F-413C-B3B9-2EBAB9AF6E27}"/>
              </a:ext>
            </a:extLst>
          </p:cNvPr>
          <p:cNvGraphicFramePr>
            <a:graphicFrameLocks noGrp="1"/>
          </p:cNvGraphicFramePr>
          <p:nvPr>
            <p:custDataLst>
              <p:tags r:id="rId3"/>
            </p:custDataLst>
            <p:extLst>
              <p:ext uri="{D42A27DB-BD31-4B8C-83A1-F6EECF244321}">
                <p14:modId xmlns:p14="http://schemas.microsoft.com/office/powerpoint/2010/main" val="417619067"/>
              </p:ext>
            </p:extLst>
          </p:nvPr>
        </p:nvGraphicFramePr>
        <p:xfrm>
          <a:off x="1143000" y="5294532"/>
          <a:ext cx="2171700" cy="839112"/>
        </p:xfrm>
        <a:graphic>
          <a:graphicData uri="http://schemas.openxmlformats.org/drawingml/2006/table">
            <a:tbl>
              <a:tblPr>
                <a:tableStyleId>{5C22544A-7EE6-4342-B048-85BDC9FD1C3A}</a:tableStyleId>
              </a:tblPr>
              <a:tblGrid>
                <a:gridCol w="1524000">
                  <a:extLst>
                    <a:ext uri="{9D8B030D-6E8A-4147-A177-3AD203B41FA5}">
                      <a16:colId xmlns:a16="http://schemas.microsoft.com/office/drawing/2014/main" val="2599460783"/>
                    </a:ext>
                  </a:extLst>
                </a:gridCol>
                <a:gridCol w="647700">
                  <a:extLst>
                    <a:ext uri="{9D8B030D-6E8A-4147-A177-3AD203B41FA5}">
                      <a16:colId xmlns:a16="http://schemas.microsoft.com/office/drawing/2014/main" val="633955239"/>
                    </a:ext>
                  </a:extLst>
                </a:gridCol>
              </a:tblGrid>
              <a:tr h="419556">
                <a:tc>
                  <a:txBody>
                    <a:bodyPr/>
                    <a:lstStyle/>
                    <a:p>
                      <a:pPr algn="ctr"/>
                      <a:r>
                        <a:rPr lang="en-US" sz="1600" b="1" dirty="0">
                          <a:solidFill>
                            <a:schemeClr val="tx1"/>
                          </a:solidFill>
                        </a:rPr>
                        <a:t>LOOP 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1632460"/>
                  </a:ext>
                </a:extLst>
              </a:tr>
              <a:tr h="419556">
                <a:tc>
                  <a:txBody>
                    <a:bodyPr/>
                    <a:lstStyle/>
                    <a:p>
                      <a:pPr algn="ctr"/>
                      <a:r>
                        <a:rPr lang="en-US" sz="1600" b="1" dirty="0">
                          <a:solidFill>
                            <a:schemeClr val="tx1"/>
                          </a:solidFill>
                        </a:rPr>
                        <a:t>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1759159"/>
                  </a:ext>
                </a:extLst>
              </a:tr>
            </a:tbl>
          </a:graphicData>
        </a:graphic>
      </p:graphicFrame>
      <p:graphicFrame>
        <p:nvGraphicFramePr>
          <p:cNvPr id="24" name="Table 23">
            <a:extLst>
              <a:ext uri="{FF2B5EF4-FFF2-40B4-BE49-F238E27FC236}">
                <a16:creationId xmlns:a16="http://schemas.microsoft.com/office/drawing/2014/main" id="{1D209C5F-A564-4443-9892-B1C309BB325F}"/>
              </a:ext>
            </a:extLst>
          </p:cNvPr>
          <p:cNvGraphicFramePr>
            <a:graphicFrameLocks noGrp="1"/>
          </p:cNvGraphicFramePr>
          <p:nvPr>
            <p:custDataLst>
              <p:tags r:id="rId4"/>
            </p:custDataLst>
            <p:extLst>
              <p:ext uri="{D42A27DB-BD31-4B8C-83A1-F6EECF244321}">
                <p14:modId xmlns:p14="http://schemas.microsoft.com/office/powerpoint/2010/main" val="4096993904"/>
              </p:ext>
            </p:extLst>
          </p:nvPr>
        </p:nvGraphicFramePr>
        <p:xfrm>
          <a:off x="1143000" y="5294532"/>
          <a:ext cx="2819400" cy="1258668"/>
        </p:xfrm>
        <a:graphic>
          <a:graphicData uri="http://schemas.openxmlformats.org/drawingml/2006/table">
            <a:tbl>
              <a:tblPr>
                <a:tableStyleId>{5C22544A-7EE6-4342-B048-85BDC9FD1C3A}</a:tableStyleId>
              </a:tblPr>
              <a:tblGrid>
                <a:gridCol w="1524000">
                  <a:extLst>
                    <a:ext uri="{9D8B030D-6E8A-4147-A177-3AD203B41FA5}">
                      <a16:colId xmlns:a16="http://schemas.microsoft.com/office/drawing/2014/main" val="2599460783"/>
                    </a:ext>
                  </a:extLst>
                </a:gridCol>
                <a:gridCol w="647700">
                  <a:extLst>
                    <a:ext uri="{9D8B030D-6E8A-4147-A177-3AD203B41FA5}">
                      <a16:colId xmlns:a16="http://schemas.microsoft.com/office/drawing/2014/main" val="633955239"/>
                    </a:ext>
                  </a:extLst>
                </a:gridCol>
                <a:gridCol w="647700">
                  <a:extLst>
                    <a:ext uri="{9D8B030D-6E8A-4147-A177-3AD203B41FA5}">
                      <a16:colId xmlns:a16="http://schemas.microsoft.com/office/drawing/2014/main" val="403972116"/>
                    </a:ext>
                  </a:extLst>
                </a:gridCol>
              </a:tblGrid>
              <a:tr h="419556">
                <a:tc>
                  <a:txBody>
                    <a:bodyPr/>
                    <a:lstStyle/>
                    <a:p>
                      <a:pPr algn="ctr"/>
                      <a:r>
                        <a:rPr lang="en-US" sz="1600" b="1" dirty="0">
                          <a:solidFill>
                            <a:schemeClr val="tx1"/>
                          </a:solidFill>
                        </a:rPr>
                        <a:t>LOOP 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1632460"/>
                  </a:ext>
                </a:extLst>
              </a:tr>
              <a:tr h="419556">
                <a:tc>
                  <a:txBody>
                    <a:bodyPr/>
                    <a:lstStyle/>
                    <a:p>
                      <a:pPr algn="ctr"/>
                      <a:r>
                        <a:rPr lang="en-US" sz="1600" b="1" dirty="0">
                          <a:solidFill>
                            <a:schemeClr val="tx1"/>
                          </a:solidFill>
                        </a:rPr>
                        <a:t>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1759159"/>
                  </a:ext>
                </a:extLst>
              </a:tr>
              <a:tr h="419556">
                <a:tc>
                  <a:txBody>
                    <a:bodyPr/>
                    <a:lstStyle/>
                    <a:p>
                      <a:pPr algn="ctr"/>
                      <a:r>
                        <a:rPr lang="en-US" sz="1600" b="1" dirty="0">
                          <a:solidFill>
                            <a:schemeClr val="tx1"/>
                          </a:solidFill>
                        </a:rPr>
                        <a:t>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287566"/>
                  </a:ext>
                </a:extLst>
              </a:tr>
            </a:tbl>
          </a:graphicData>
        </a:graphic>
      </p:graphicFrame>
      <p:sp>
        <p:nvSpPr>
          <p:cNvPr id="9218" name="Rectangle 1026">
            <a:extLst>
              <a:ext uri="{FF2B5EF4-FFF2-40B4-BE49-F238E27FC236}">
                <a16:creationId xmlns:a16="http://schemas.microsoft.com/office/drawing/2014/main" id="{7DC822CC-1F8D-498F-9D48-E2CA0FB2A796}"/>
              </a:ext>
            </a:extLst>
          </p:cNvPr>
          <p:cNvSpPr>
            <a:spLocks noGrp="1" noChangeArrowheads="1"/>
          </p:cNvSpPr>
          <p:nvPr>
            <p:ph type="title"/>
            <p:custDataLst>
              <p:tags r:id="rId5"/>
            </p:custDataLst>
          </p:nvPr>
        </p:nvSpPr>
        <p:spPr>
          <a:xfrm>
            <a:off x="457200" y="274638"/>
            <a:ext cx="7467600" cy="1143000"/>
          </a:xfrm>
        </p:spPr>
        <p:txBody>
          <a:bodyPr/>
          <a:lstStyle/>
          <a:p>
            <a:r>
              <a:rPr lang="en-US" altLang="en-US" dirty="0"/>
              <a:t>Branch Prediction</a:t>
            </a:r>
          </a:p>
        </p:txBody>
      </p:sp>
      <p:sp>
        <p:nvSpPr>
          <p:cNvPr id="9219" name="Rectangle 1027">
            <a:extLst>
              <a:ext uri="{FF2B5EF4-FFF2-40B4-BE49-F238E27FC236}">
                <a16:creationId xmlns:a16="http://schemas.microsoft.com/office/drawing/2014/main" id="{86B2681B-653A-4C3E-9623-0EF5A9ADD078}"/>
              </a:ext>
            </a:extLst>
          </p:cNvPr>
          <p:cNvSpPr>
            <a:spLocks noGrp="1" noChangeArrowheads="1"/>
          </p:cNvSpPr>
          <p:nvPr>
            <p:ph idx="1"/>
            <p:custDataLst>
              <p:tags r:id="rId6"/>
            </p:custDataLst>
          </p:nvPr>
        </p:nvSpPr>
        <p:spPr>
          <a:xfrm>
            <a:off x="457200" y="1447800"/>
            <a:ext cx="8686800" cy="1828800"/>
          </a:xfrm>
        </p:spPr>
        <p:txBody>
          <a:bodyPr/>
          <a:lstStyle/>
          <a:p>
            <a:pPr eaLnBrk="1" hangingPunct="1"/>
            <a:r>
              <a:rPr lang="en-US" altLang="en-US" sz="2800" dirty="0"/>
              <a:t>Dynamic branch direction prediction:</a:t>
            </a:r>
          </a:p>
          <a:p>
            <a:pPr lvl="1"/>
            <a:r>
              <a:rPr lang="en-US" altLang="en-US" sz="2400" i="1" dirty="0"/>
              <a:t>Predict</a:t>
            </a:r>
            <a:r>
              <a:rPr lang="en-US" altLang="en-US" sz="2400" dirty="0"/>
              <a:t> branch outcome (T or N) in IF stage</a:t>
            </a:r>
          </a:p>
          <a:p>
            <a:pPr lvl="1"/>
            <a:r>
              <a:rPr lang="en-US" altLang="en-US" sz="2400" dirty="0"/>
              <a:t>Target is either computed early or predicted too (advanced)</a:t>
            </a:r>
          </a:p>
          <a:p>
            <a:pPr lvl="1"/>
            <a:r>
              <a:rPr lang="en-US" altLang="en-US" sz="2400" dirty="0"/>
              <a:t>Branch history table (BHT) with </a:t>
            </a:r>
            <a:r>
              <a:rPr lang="en-US" altLang="en-US" sz="2400" b="1" dirty="0"/>
              <a:t>2-bit prediction</a:t>
            </a:r>
          </a:p>
        </p:txBody>
      </p:sp>
      <p:sp>
        <p:nvSpPr>
          <p:cNvPr id="2" name="Slide Number Placeholder 1">
            <a:extLst>
              <a:ext uri="{FF2B5EF4-FFF2-40B4-BE49-F238E27FC236}">
                <a16:creationId xmlns:a16="http://schemas.microsoft.com/office/drawing/2014/main" id="{AD2D6ACB-7F46-4819-8F71-D7CF63B34DF1}"/>
              </a:ext>
            </a:extLst>
          </p:cNvPr>
          <p:cNvSpPr>
            <a:spLocks noGrp="1"/>
          </p:cNvSpPr>
          <p:nvPr>
            <p:ph type="sldNum" sz="quarter" idx="12"/>
            <p:custDataLst>
              <p:tags r:id="rId7"/>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21</a:t>
            </a:fld>
            <a:endParaRPr lang="en-US" altLang="en-US">
              <a:latin typeface="Calibri" panose="020F0502020204030204" pitchFamily="34" charset="0"/>
            </a:endParaRPr>
          </a:p>
        </p:txBody>
      </p:sp>
      <p:sp>
        <p:nvSpPr>
          <p:cNvPr id="18" name="Rectangle 3">
            <a:extLst>
              <a:ext uri="{FF2B5EF4-FFF2-40B4-BE49-F238E27FC236}">
                <a16:creationId xmlns:a16="http://schemas.microsoft.com/office/drawing/2014/main" id="{6BB4E047-5D6D-46BC-9C2C-44B8B5E98A8A}"/>
              </a:ext>
            </a:extLst>
          </p:cNvPr>
          <p:cNvSpPr txBox="1">
            <a:spLocks noChangeArrowheads="1"/>
          </p:cNvSpPr>
          <p:nvPr>
            <p:custDataLst>
              <p:tags r:id="rId8"/>
            </p:custDataLst>
          </p:nvPr>
        </p:nvSpPr>
        <p:spPr bwMode="auto">
          <a:xfrm>
            <a:off x="682625" y="3505200"/>
            <a:ext cx="731837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nSpc>
                <a:spcPct val="90000"/>
              </a:lnSpc>
              <a:buFont typeface="Arial" charset="0"/>
              <a:buNone/>
            </a:pPr>
            <a:r>
              <a:rPr lang="en-US" altLang="en-US" sz="2400" dirty="0"/>
              <a:t>LOOP:	…</a:t>
            </a:r>
          </a:p>
          <a:p>
            <a:pPr marL="457200" lvl="1" indent="0">
              <a:lnSpc>
                <a:spcPct val="90000"/>
              </a:lnSpc>
              <a:buFont typeface="Arial" charset="0"/>
              <a:buNone/>
            </a:pPr>
            <a:r>
              <a:rPr lang="en-US" altLang="en-US" sz="2400" dirty="0"/>
              <a:t>		</a:t>
            </a:r>
            <a:r>
              <a:rPr lang="en-US" altLang="en-US" sz="2400" dirty="0" err="1"/>
              <a:t>beq</a:t>
            </a:r>
            <a:r>
              <a:rPr lang="en-US" altLang="en-US" sz="2400" dirty="0"/>
              <a:t> $t0, $t1, TARGET		# predict</a:t>
            </a:r>
          </a:p>
          <a:p>
            <a:pPr marL="457200" lvl="1" indent="0">
              <a:lnSpc>
                <a:spcPct val="90000"/>
              </a:lnSpc>
              <a:buFont typeface="Arial" charset="0"/>
              <a:buNone/>
            </a:pPr>
            <a:r>
              <a:rPr lang="en-US" altLang="en-US" sz="2400" dirty="0"/>
              <a:t>		…</a:t>
            </a:r>
          </a:p>
          <a:p>
            <a:pPr marL="457200" lvl="1" indent="0">
              <a:lnSpc>
                <a:spcPct val="90000"/>
              </a:lnSpc>
              <a:buFont typeface="Arial" charset="0"/>
              <a:buNone/>
            </a:pPr>
            <a:r>
              <a:rPr lang="en-US" altLang="en-US" sz="2400" dirty="0"/>
              <a:t>		j LOOP</a:t>
            </a:r>
          </a:p>
        </p:txBody>
      </p:sp>
      <p:sp>
        <p:nvSpPr>
          <p:cNvPr id="32" name="Rectangle 3">
            <a:extLst>
              <a:ext uri="{FF2B5EF4-FFF2-40B4-BE49-F238E27FC236}">
                <a16:creationId xmlns:a16="http://schemas.microsoft.com/office/drawing/2014/main" id="{5EC9E2F9-7628-4886-A758-8CDA898C389A}"/>
              </a:ext>
            </a:extLst>
          </p:cNvPr>
          <p:cNvSpPr txBox="1">
            <a:spLocks noChangeArrowheads="1"/>
          </p:cNvSpPr>
          <p:nvPr>
            <p:custDataLst>
              <p:tags r:id="rId9"/>
            </p:custDataLst>
          </p:nvPr>
        </p:nvSpPr>
        <p:spPr bwMode="auto">
          <a:xfrm>
            <a:off x="5410200" y="5029200"/>
            <a:ext cx="2819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600" b="1" dirty="0">
                <a:solidFill>
                  <a:schemeClr val="accent6">
                    <a:lumMod val="75000"/>
                  </a:schemeClr>
                </a:solidFill>
              </a:rPr>
              <a:t>misprediction rate = 3/8</a:t>
            </a:r>
            <a:endParaRPr lang="en-US" altLang="en-US" sz="1200" b="1" dirty="0">
              <a:solidFill>
                <a:schemeClr val="accent6">
                  <a:lumMod val="75000"/>
                </a:schemeClr>
              </a:solidFill>
            </a:endParaRPr>
          </a:p>
        </p:txBody>
      </p:sp>
      <p:graphicFrame>
        <p:nvGraphicFramePr>
          <p:cNvPr id="23" name="Table 22">
            <a:extLst>
              <a:ext uri="{FF2B5EF4-FFF2-40B4-BE49-F238E27FC236}">
                <a16:creationId xmlns:a16="http://schemas.microsoft.com/office/drawing/2014/main" id="{63CE8132-83CD-43F4-ADEE-2BB610F2575B}"/>
              </a:ext>
            </a:extLst>
          </p:cNvPr>
          <p:cNvGraphicFramePr>
            <a:graphicFrameLocks noGrp="1"/>
          </p:cNvGraphicFramePr>
          <p:nvPr>
            <p:custDataLst>
              <p:tags r:id="rId10"/>
            </p:custDataLst>
            <p:extLst>
              <p:ext uri="{D42A27DB-BD31-4B8C-83A1-F6EECF244321}">
                <p14:modId xmlns:p14="http://schemas.microsoft.com/office/powerpoint/2010/main" val="469176677"/>
              </p:ext>
            </p:extLst>
          </p:nvPr>
        </p:nvGraphicFramePr>
        <p:xfrm>
          <a:off x="1143000" y="5294532"/>
          <a:ext cx="6705600" cy="1258668"/>
        </p:xfrm>
        <a:graphic>
          <a:graphicData uri="http://schemas.openxmlformats.org/drawingml/2006/table">
            <a:tbl>
              <a:tblPr>
                <a:tableStyleId>{5C22544A-7EE6-4342-B048-85BDC9FD1C3A}</a:tableStyleId>
              </a:tblPr>
              <a:tblGrid>
                <a:gridCol w="1524000">
                  <a:extLst>
                    <a:ext uri="{9D8B030D-6E8A-4147-A177-3AD203B41FA5}">
                      <a16:colId xmlns:a16="http://schemas.microsoft.com/office/drawing/2014/main" val="2599460783"/>
                    </a:ext>
                  </a:extLst>
                </a:gridCol>
                <a:gridCol w="647700">
                  <a:extLst>
                    <a:ext uri="{9D8B030D-6E8A-4147-A177-3AD203B41FA5}">
                      <a16:colId xmlns:a16="http://schemas.microsoft.com/office/drawing/2014/main" val="633955239"/>
                    </a:ext>
                  </a:extLst>
                </a:gridCol>
                <a:gridCol w="647700">
                  <a:extLst>
                    <a:ext uri="{9D8B030D-6E8A-4147-A177-3AD203B41FA5}">
                      <a16:colId xmlns:a16="http://schemas.microsoft.com/office/drawing/2014/main" val="403972116"/>
                    </a:ext>
                  </a:extLst>
                </a:gridCol>
                <a:gridCol w="647700">
                  <a:extLst>
                    <a:ext uri="{9D8B030D-6E8A-4147-A177-3AD203B41FA5}">
                      <a16:colId xmlns:a16="http://schemas.microsoft.com/office/drawing/2014/main" val="2517397745"/>
                    </a:ext>
                  </a:extLst>
                </a:gridCol>
                <a:gridCol w="647700">
                  <a:extLst>
                    <a:ext uri="{9D8B030D-6E8A-4147-A177-3AD203B41FA5}">
                      <a16:colId xmlns:a16="http://schemas.microsoft.com/office/drawing/2014/main" val="3508040222"/>
                    </a:ext>
                  </a:extLst>
                </a:gridCol>
                <a:gridCol w="647700">
                  <a:extLst>
                    <a:ext uri="{9D8B030D-6E8A-4147-A177-3AD203B41FA5}">
                      <a16:colId xmlns:a16="http://schemas.microsoft.com/office/drawing/2014/main" val="2723337975"/>
                    </a:ext>
                  </a:extLst>
                </a:gridCol>
                <a:gridCol w="647700">
                  <a:extLst>
                    <a:ext uri="{9D8B030D-6E8A-4147-A177-3AD203B41FA5}">
                      <a16:colId xmlns:a16="http://schemas.microsoft.com/office/drawing/2014/main" val="4013346261"/>
                    </a:ext>
                  </a:extLst>
                </a:gridCol>
                <a:gridCol w="647700">
                  <a:extLst>
                    <a:ext uri="{9D8B030D-6E8A-4147-A177-3AD203B41FA5}">
                      <a16:colId xmlns:a16="http://schemas.microsoft.com/office/drawing/2014/main" val="2437734501"/>
                    </a:ext>
                  </a:extLst>
                </a:gridCol>
                <a:gridCol w="647700">
                  <a:extLst>
                    <a:ext uri="{9D8B030D-6E8A-4147-A177-3AD203B41FA5}">
                      <a16:colId xmlns:a16="http://schemas.microsoft.com/office/drawing/2014/main" val="3868234405"/>
                    </a:ext>
                  </a:extLst>
                </a:gridCol>
              </a:tblGrid>
              <a:tr h="419556">
                <a:tc>
                  <a:txBody>
                    <a:bodyPr/>
                    <a:lstStyle/>
                    <a:p>
                      <a:pPr algn="ctr"/>
                      <a:r>
                        <a:rPr lang="en-US" sz="1600" b="1" dirty="0">
                          <a:solidFill>
                            <a:schemeClr val="tx1"/>
                          </a:solidFill>
                        </a:rPr>
                        <a:t>LOOP iteration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1" dirty="0">
                          <a:solidFill>
                            <a:schemeClr val="tx1"/>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21632460"/>
                  </a:ext>
                </a:extLst>
              </a:tr>
              <a:tr h="419556">
                <a:tc>
                  <a:txBody>
                    <a:bodyPr/>
                    <a:lstStyle/>
                    <a:p>
                      <a:pPr algn="ctr"/>
                      <a:r>
                        <a:rPr lang="en-US" sz="1600" b="1" dirty="0">
                          <a:solidFill>
                            <a:schemeClr val="tx1"/>
                          </a:solidFill>
                        </a:rPr>
                        <a:t>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271759159"/>
                  </a:ext>
                </a:extLst>
              </a:tr>
              <a:tr h="419556">
                <a:tc>
                  <a:txBody>
                    <a:bodyPr/>
                    <a:lstStyle/>
                    <a:p>
                      <a:pPr algn="ctr"/>
                      <a:r>
                        <a:rPr lang="en-US" sz="1600" b="1" dirty="0">
                          <a:solidFill>
                            <a:schemeClr val="tx1"/>
                          </a:solidFill>
                        </a:rPr>
                        <a:t>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2287566"/>
                  </a:ext>
                </a:extLst>
              </a:tr>
            </a:tbl>
          </a:graphicData>
        </a:graphic>
      </p:graphicFrame>
    </p:spTree>
    <p:custDataLst>
      <p:tags r:id="rId1"/>
    </p:custDataLst>
    <p:extLst>
      <p:ext uri="{BB962C8B-B14F-4D97-AF65-F5344CB8AC3E}">
        <p14:creationId xmlns:p14="http://schemas.microsoft.com/office/powerpoint/2010/main" val="37623349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7"/>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5"/>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0A4316D-6939-41B1-9577-BA34F4329C73}"/>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Exceptions</a:t>
            </a:r>
          </a:p>
        </p:txBody>
      </p:sp>
      <p:sp>
        <p:nvSpPr>
          <p:cNvPr id="12291" name="Rectangle 3">
            <a:extLst>
              <a:ext uri="{FF2B5EF4-FFF2-40B4-BE49-F238E27FC236}">
                <a16:creationId xmlns:a16="http://schemas.microsoft.com/office/drawing/2014/main" id="{7697FF87-ADFD-4420-8985-A7B3B87F3A61}"/>
              </a:ext>
            </a:extLst>
          </p:cNvPr>
          <p:cNvSpPr>
            <a:spLocks noGrp="1" noChangeArrowheads="1"/>
          </p:cNvSpPr>
          <p:nvPr>
            <p:ph idx="1"/>
            <p:custDataLst>
              <p:tags r:id="rId3"/>
            </p:custDataLst>
          </p:nvPr>
        </p:nvSpPr>
        <p:spPr>
          <a:xfrm>
            <a:off x="457200" y="1600200"/>
            <a:ext cx="8229600" cy="4525963"/>
          </a:xfrm>
        </p:spPr>
        <p:txBody>
          <a:bodyPr/>
          <a:lstStyle/>
          <a:p>
            <a:pPr eaLnBrk="1" hangingPunct="1">
              <a:lnSpc>
                <a:spcPct val="80000"/>
              </a:lnSpc>
            </a:pPr>
            <a:r>
              <a:rPr lang="en-US" altLang="en-US" dirty="0"/>
              <a:t>What happens?</a:t>
            </a:r>
          </a:p>
          <a:p>
            <a:pPr lvl="1">
              <a:lnSpc>
                <a:spcPct val="90000"/>
              </a:lnSpc>
            </a:pPr>
            <a:r>
              <a:rPr lang="en-US" altLang="en-US" dirty="0"/>
              <a:t>Arithmetic overflow</a:t>
            </a:r>
          </a:p>
          <a:p>
            <a:pPr lvl="1" eaLnBrk="1" hangingPunct="1">
              <a:lnSpc>
                <a:spcPct val="90000"/>
              </a:lnSpc>
            </a:pPr>
            <a:r>
              <a:rPr lang="en-US" altLang="en-US" dirty="0"/>
              <a:t>Undefined opcode</a:t>
            </a:r>
          </a:p>
          <a:p>
            <a:pPr lvl="1" eaLnBrk="1" hangingPunct="1">
              <a:lnSpc>
                <a:spcPct val="90000"/>
              </a:lnSpc>
            </a:pPr>
            <a:r>
              <a:rPr lang="en-US" altLang="en-US" dirty="0"/>
              <a:t>Instruction/data page fault</a:t>
            </a:r>
          </a:p>
          <a:p>
            <a:pPr lvl="1" eaLnBrk="1" hangingPunct="1">
              <a:lnSpc>
                <a:spcPct val="90000"/>
              </a:lnSpc>
            </a:pPr>
            <a:r>
              <a:rPr lang="en-US" altLang="en-US" dirty="0"/>
              <a:t>I/O device status change</a:t>
            </a:r>
          </a:p>
          <a:p>
            <a:pPr marL="457200" lvl="1" indent="0" eaLnBrk="1" hangingPunct="1">
              <a:lnSpc>
                <a:spcPct val="90000"/>
              </a:lnSpc>
              <a:buNone/>
            </a:pPr>
            <a:endParaRPr lang="en-US" altLang="en-US" dirty="0"/>
          </a:p>
          <a:p>
            <a:pPr>
              <a:lnSpc>
                <a:spcPct val="90000"/>
              </a:lnSpc>
            </a:pPr>
            <a:r>
              <a:rPr lang="en-US" altLang="en-US" dirty="0"/>
              <a:t>Invoke “surprise procedure call”</a:t>
            </a:r>
          </a:p>
          <a:p>
            <a:pPr lvl="1">
              <a:lnSpc>
                <a:spcPct val="90000"/>
              </a:lnSpc>
            </a:pPr>
            <a:r>
              <a:rPr lang="en-US" altLang="en-US" dirty="0"/>
              <a:t>Called an </a:t>
            </a:r>
            <a:r>
              <a:rPr lang="en-US" altLang="en-US" i="1" dirty="0"/>
              <a:t>exception</a:t>
            </a:r>
          </a:p>
        </p:txBody>
      </p:sp>
      <p:sp>
        <p:nvSpPr>
          <p:cNvPr id="4" name="Slide Number Placeholder 1">
            <a:extLst>
              <a:ext uri="{FF2B5EF4-FFF2-40B4-BE49-F238E27FC236}">
                <a16:creationId xmlns:a16="http://schemas.microsoft.com/office/drawing/2014/main" id="{02EDFD9C-0163-4D01-80CE-921CF593C63F}"/>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22</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263812965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882D741-64FE-494F-A9E2-581594ECA82A}"/>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Exceptions</a:t>
            </a:r>
          </a:p>
        </p:txBody>
      </p:sp>
      <p:sp>
        <p:nvSpPr>
          <p:cNvPr id="14339" name="Rectangle 3">
            <a:extLst>
              <a:ext uri="{FF2B5EF4-FFF2-40B4-BE49-F238E27FC236}">
                <a16:creationId xmlns:a16="http://schemas.microsoft.com/office/drawing/2014/main" id="{096FEC53-15F1-446B-9F84-0DC5F4DF1398}"/>
              </a:ext>
            </a:extLst>
          </p:cNvPr>
          <p:cNvSpPr>
            <a:spLocks noGrp="1" noChangeArrowheads="1"/>
          </p:cNvSpPr>
          <p:nvPr>
            <p:ph idx="1"/>
            <p:custDataLst>
              <p:tags r:id="rId3"/>
            </p:custDataLst>
          </p:nvPr>
        </p:nvSpPr>
        <p:spPr>
          <a:xfrm>
            <a:off x="457200" y="1600200"/>
            <a:ext cx="8229600" cy="4525963"/>
          </a:xfrm>
        </p:spPr>
        <p:txBody>
          <a:bodyPr/>
          <a:lstStyle/>
          <a:p>
            <a:pPr eaLnBrk="1" hangingPunct="1"/>
            <a:r>
              <a:rPr lang="en-US" altLang="en-US" dirty="0"/>
              <a:t>Two types:</a:t>
            </a:r>
          </a:p>
          <a:p>
            <a:pPr lvl="1" eaLnBrk="1" hangingPunct="1"/>
            <a:r>
              <a:rPr lang="en-US" altLang="en-US" dirty="0"/>
              <a:t>Interrupt (asynchronous)</a:t>
            </a:r>
          </a:p>
          <a:p>
            <a:pPr lvl="1" eaLnBrk="1" hangingPunct="1"/>
            <a:r>
              <a:rPr lang="en-US" altLang="en-US" dirty="0"/>
              <a:t>Trap (synchronous)</a:t>
            </a:r>
          </a:p>
          <a:p>
            <a:pPr eaLnBrk="1" hangingPunct="1"/>
            <a:r>
              <a:rPr lang="en-US" altLang="en-US" dirty="0"/>
              <a:t>Hardware handles initial reaction</a:t>
            </a:r>
          </a:p>
          <a:p>
            <a:pPr eaLnBrk="1" hangingPunct="1"/>
            <a:r>
              <a:rPr lang="en-US" altLang="en-US" dirty="0"/>
              <a:t>Then invokes a software exception handler</a:t>
            </a:r>
          </a:p>
          <a:p>
            <a:pPr lvl="1" eaLnBrk="1" hangingPunct="1"/>
            <a:r>
              <a:rPr lang="en-US" altLang="en-US" dirty="0"/>
              <a:t>Predefined (e.g., overflow handler: 0x80000180)</a:t>
            </a:r>
          </a:p>
          <a:p>
            <a:pPr lvl="1" eaLnBrk="1" hangingPunct="1"/>
            <a:r>
              <a:rPr lang="en-US" altLang="en-US" dirty="0"/>
              <a:t>OS kernel implements handler code</a:t>
            </a:r>
          </a:p>
        </p:txBody>
      </p:sp>
      <p:sp>
        <p:nvSpPr>
          <p:cNvPr id="4" name="Slide Number Placeholder 1">
            <a:extLst>
              <a:ext uri="{FF2B5EF4-FFF2-40B4-BE49-F238E27FC236}">
                <a16:creationId xmlns:a16="http://schemas.microsoft.com/office/drawing/2014/main" id="{71B3B0A4-F5B0-473F-9DBF-70E5FF5344E2}"/>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23</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243692147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BAA2872-6261-44C2-A585-505F3E12081D}"/>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Exceptions – Hardware</a:t>
            </a:r>
          </a:p>
        </p:txBody>
      </p:sp>
      <p:sp>
        <p:nvSpPr>
          <p:cNvPr id="15363" name="Rectangle 3">
            <a:extLst>
              <a:ext uri="{FF2B5EF4-FFF2-40B4-BE49-F238E27FC236}">
                <a16:creationId xmlns:a16="http://schemas.microsoft.com/office/drawing/2014/main" id="{A0005361-A170-4EEC-8B65-6D2B74BD7395}"/>
              </a:ext>
            </a:extLst>
          </p:cNvPr>
          <p:cNvSpPr>
            <a:spLocks noGrp="1" noChangeArrowheads="1"/>
          </p:cNvSpPr>
          <p:nvPr>
            <p:ph idx="1"/>
            <p:custDataLst>
              <p:tags r:id="rId3"/>
            </p:custDataLst>
          </p:nvPr>
        </p:nvSpPr>
        <p:spPr>
          <a:xfrm>
            <a:off x="457200" y="1600200"/>
            <a:ext cx="8229600" cy="4525963"/>
          </a:xfrm>
        </p:spPr>
        <p:txBody>
          <a:bodyPr/>
          <a:lstStyle/>
          <a:p>
            <a:pPr eaLnBrk="1" hangingPunct="1"/>
            <a:r>
              <a:rPr lang="en-US" altLang="en-US" dirty="0"/>
              <a:t>Record the cause of the exception</a:t>
            </a:r>
          </a:p>
          <a:p>
            <a:pPr lvl="1" eaLnBrk="1" hangingPunct="1"/>
            <a:r>
              <a:rPr lang="en-US" altLang="en-US" dirty="0"/>
              <a:t>MIPS 32-bit </a:t>
            </a:r>
            <a:r>
              <a:rPr lang="en-US" altLang="en-US" i="1" dirty="0"/>
              <a:t>Cause</a:t>
            </a:r>
            <a:r>
              <a:rPr lang="en-US" altLang="en-US" dirty="0"/>
              <a:t> register</a:t>
            </a:r>
          </a:p>
          <a:p>
            <a:pPr eaLnBrk="1" hangingPunct="1"/>
            <a:r>
              <a:rPr lang="en-US" altLang="en-US" dirty="0"/>
              <a:t>Save current PC and flush pipeline</a:t>
            </a:r>
          </a:p>
          <a:p>
            <a:pPr lvl="1" eaLnBrk="1" hangingPunct="1"/>
            <a:r>
              <a:rPr lang="en-US" altLang="en-US" dirty="0"/>
              <a:t>MIPS 32-bit </a:t>
            </a:r>
            <a:r>
              <a:rPr lang="en-US" altLang="en-US" i="1" dirty="0"/>
              <a:t>exception PC (EPC) </a:t>
            </a:r>
            <a:r>
              <a:rPr lang="en-US" altLang="en-US" dirty="0"/>
              <a:t>register</a:t>
            </a:r>
          </a:p>
          <a:p>
            <a:pPr eaLnBrk="1" hangingPunct="1"/>
            <a:r>
              <a:rPr lang="en-US" altLang="en-US" dirty="0"/>
              <a:t>Jump to exception handler</a:t>
            </a:r>
          </a:p>
          <a:p>
            <a:pPr lvl="1" eaLnBrk="1" hangingPunct="1"/>
            <a:r>
              <a:rPr lang="en-US" altLang="en-US" dirty="0"/>
              <a:t>e.g., Handler at address 0x80000180 for arithmetic overflow</a:t>
            </a:r>
          </a:p>
          <a:p>
            <a:pPr lvl="1" eaLnBrk="1" hangingPunct="1"/>
            <a:r>
              <a:rPr lang="en-US" altLang="en-US" dirty="0"/>
              <a:t>Like a surprise jump-and-link</a:t>
            </a:r>
          </a:p>
        </p:txBody>
      </p:sp>
      <p:sp>
        <p:nvSpPr>
          <p:cNvPr id="4" name="Slide Number Placeholder 1">
            <a:extLst>
              <a:ext uri="{FF2B5EF4-FFF2-40B4-BE49-F238E27FC236}">
                <a16:creationId xmlns:a16="http://schemas.microsoft.com/office/drawing/2014/main" id="{2C6DE3F7-B623-494F-874B-5047570A63A8}"/>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24</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332926077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BAA2872-6261-44C2-A585-505F3E12081D}"/>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Exceptions – Hardware</a:t>
            </a:r>
          </a:p>
        </p:txBody>
      </p:sp>
      <p:pic>
        <p:nvPicPr>
          <p:cNvPr id="2" name="Picture 1">
            <a:extLst>
              <a:ext uri="{FF2B5EF4-FFF2-40B4-BE49-F238E27FC236}">
                <a16:creationId xmlns:a16="http://schemas.microsoft.com/office/drawing/2014/main" id="{509DED41-F07E-41AF-A356-35B1224381DC}"/>
              </a:ext>
            </a:extLst>
          </p:cNvPr>
          <p:cNvPicPr>
            <a:picLocks noChangeAspect="1"/>
          </p:cNvPicPr>
          <p:nvPr>
            <p:custDataLst>
              <p:tags r:id="rId3"/>
            </p:custDataLst>
          </p:nvPr>
        </p:nvPicPr>
        <p:blipFill>
          <a:blip r:embed="rId14"/>
          <a:stretch>
            <a:fillRect/>
          </a:stretch>
        </p:blipFill>
        <p:spPr>
          <a:xfrm>
            <a:off x="417177" y="1752600"/>
            <a:ext cx="8309647" cy="5091112"/>
          </a:xfrm>
          <a:prstGeom prst="rect">
            <a:avLst/>
          </a:prstGeom>
        </p:spPr>
      </p:pic>
      <p:sp>
        <p:nvSpPr>
          <p:cNvPr id="5" name="Slide Number Placeholder 1">
            <a:extLst>
              <a:ext uri="{FF2B5EF4-FFF2-40B4-BE49-F238E27FC236}">
                <a16:creationId xmlns:a16="http://schemas.microsoft.com/office/drawing/2014/main" id="{880ECEDB-613C-4C14-AAE7-465891EF4741}"/>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25</a:t>
            </a:fld>
            <a:endParaRPr lang="en-US" altLang="en-US">
              <a:latin typeface="Calibri" panose="020F0502020204030204" pitchFamily="34" charset="0"/>
            </a:endParaRPr>
          </a:p>
        </p:txBody>
      </p:sp>
      <p:sp>
        <p:nvSpPr>
          <p:cNvPr id="8" name="Rectangle 3">
            <a:extLst>
              <a:ext uri="{FF2B5EF4-FFF2-40B4-BE49-F238E27FC236}">
                <a16:creationId xmlns:a16="http://schemas.microsoft.com/office/drawing/2014/main" id="{3033EFA3-4E70-423D-9781-292FB354E634}"/>
              </a:ext>
            </a:extLst>
          </p:cNvPr>
          <p:cNvSpPr>
            <a:spLocks noGrp="1" noChangeArrowheads="1"/>
          </p:cNvSpPr>
          <p:nvPr>
            <p:ph idx="1"/>
            <p:custDataLst>
              <p:tags r:id="rId5"/>
            </p:custDataLst>
          </p:nvPr>
        </p:nvSpPr>
        <p:spPr>
          <a:xfrm>
            <a:off x="457200" y="1295400"/>
            <a:ext cx="8229600" cy="685800"/>
          </a:xfrm>
        </p:spPr>
        <p:txBody>
          <a:bodyPr/>
          <a:lstStyle/>
          <a:p>
            <a:pPr eaLnBrk="1" hangingPunct="1"/>
            <a:r>
              <a:rPr lang="en-US" altLang="en-US" sz="2800" dirty="0"/>
              <a:t>e.g., Arithmetic overflow (COD Figure 4.66)</a:t>
            </a:r>
          </a:p>
        </p:txBody>
      </p:sp>
      <p:sp>
        <p:nvSpPr>
          <p:cNvPr id="9" name="Oval 8">
            <a:extLst>
              <a:ext uri="{FF2B5EF4-FFF2-40B4-BE49-F238E27FC236}">
                <a16:creationId xmlns:a16="http://schemas.microsoft.com/office/drawing/2014/main" id="{4286A9A2-46B8-4D2A-8952-FF831A3913AC}"/>
              </a:ext>
            </a:extLst>
          </p:cNvPr>
          <p:cNvSpPr/>
          <p:nvPr>
            <p:custDataLst>
              <p:tags r:id="rId6"/>
            </p:custDataLst>
          </p:nvPr>
        </p:nvSpPr>
        <p:spPr>
          <a:xfrm>
            <a:off x="5486400" y="3309933"/>
            <a:ext cx="457200" cy="576267"/>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3">
            <a:extLst>
              <a:ext uri="{FF2B5EF4-FFF2-40B4-BE49-F238E27FC236}">
                <a16:creationId xmlns:a16="http://schemas.microsoft.com/office/drawing/2014/main" id="{C9BE45F0-0E54-4B09-9C04-00D2A3CAF462}"/>
              </a:ext>
            </a:extLst>
          </p:cNvPr>
          <p:cNvSpPr txBox="1">
            <a:spLocks noChangeArrowheads="1"/>
          </p:cNvSpPr>
          <p:nvPr>
            <p:custDataLst>
              <p:tags r:id="rId7"/>
            </p:custDataLst>
          </p:nvPr>
        </p:nvSpPr>
        <p:spPr bwMode="auto">
          <a:xfrm>
            <a:off x="5715000" y="3781420"/>
            <a:ext cx="1143000" cy="333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record Cause and EPC</a:t>
            </a:r>
          </a:p>
        </p:txBody>
      </p:sp>
      <p:sp>
        <p:nvSpPr>
          <p:cNvPr id="11" name="Oval 10">
            <a:extLst>
              <a:ext uri="{FF2B5EF4-FFF2-40B4-BE49-F238E27FC236}">
                <a16:creationId xmlns:a16="http://schemas.microsoft.com/office/drawing/2014/main" id="{CFC324D6-F880-4673-B711-85B4E0D42EB0}"/>
              </a:ext>
            </a:extLst>
          </p:cNvPr>
          <p:cNvSpPr/>
          <p:nvPr>
            <p:custDataLst>
              <p:tags r:id="rId8"/>
            </p:custDataLst>
          </p:nvPr>
        </p:nvSpPr>
        <p:spPr>
          <a:xfrm>
            <a:off x="5867400" y="1814510"/>
            <a:ext cx="762000" cy="501652"/>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3">
            <a:extLst>
              <a:ext uri="{FF2B5EF4-FFF2-40B4-BE49-F238E27FC236}">
                <a16:creationId xmlns:a16="http://schemas.microsoft.com/office/drawing/2014/main" id="{FE4CE8F0-9FCF-46B1-ACA5-CAB7A2446EBA}"/>
              </a:ext>
            </a:extLst>
          </p:cNvPr>
          <p:cNvSpPr txBox="1">
            <a:spLocks noChangeArrowheads="1"/>
          </p:cNvSpPr>
          <p:nvPr>
            <p:custDataLst>
              <p:tags r:id="rId9"/>
            </p:custDataLst>
          </p:nvPr>
        </p:nvSpPr>
        <p:spPr bwMode="auto">
          <a:xfrm>
            <a:off x="6248400" y="2120998"/>
            <a:ext cx="1371600" cy="333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flush EX</a:t>
            </a:r>
          </a:p>
          <a:p>
            <a:pPr marL="0" indent="0" algn="ctr">
              <a:lnSpc>
                <a:spcPct val="80000"/>
              </a:lnSpc>
              <a:buFont typeface="Arial" charset="0"/>
              <a:buNone/>
            </a:pPr>
            <a:r>
              <a:rPr lang="en-US" altLang="en-US" sz="1200" b="1" dirty="0">
                <a:solidFill>
                  <a:schemeClr val="accent6">
                    <a:lumMod val="75000"/>
                  </a:schemeClr>
                </a:solidFill>
              </a:rPr>
              <a:t>(and ID, IF)</a:t>
            </a:r>
          </a:p>
        </p:txBody>
      </p:sp>
      <p:sp>
        <p:nvSpPr>
          <p:cNvPr id="13" name="Oval 12">
            <a:extLst>
              <a:ext uri="{FF2B5EF4-FFF2-40B4-BE49-F238E27FC236}">
                <a16:creationId xmlns:a16="http://schemas.microsoft.com/office/drawing/2014/main" id="{226AF1E2-B1C0-4577-BC0A-224BED57D4BA}"/>
              </a:ext>
            </a:extLst>
          </p:cNvPr>
          <p:cNvSpPr/>
          <p:nvPr>
            <p:custDataLst>
              <p:tags r:id="rId10"/>
            </p:custDataLst>
          </p:nvPr>
        </p:nvSpPr>
        <p:spPr>
          <a:xfrm>
            <a:off x="397048" y="4405314"/>
            <a:ext cx="593552" cy="576267"/>
          </a:xfrm>
          <a:prstGeom prst="ellipse">
            <a:avLst/>
          </a:prstGeom>
          <a:solidFill>
            <a:schemeClr val="accent6">
              <a:lumMod val="75000"/>
              <a:alpha val="1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3">
            <a:extLst>
              <a:ext uri="{FF2B5EF4-FFF2-40B4-BE49-F238E27FC236}">
                <a16:creationId xmlns:a16="http://schemas.microsoft.com/office/drawing/2014/main" id="{A9F254CA-6BC8-49B0-A702-E35E6D13E52D}"/>
              </a:ext>
            </a:extLst>
          </p:cNvPr>
          <p:cNvSpPr txBox="1">
            <a:spLocks noChangeArrowheads="1"/>
          </p:cNvSpPr>
          <p:nvPr>
            <p:custDataLst>
              <p:tags r:id="rId11"/>
            </p:custDataLst>
          </p:nvPr>
        </p:nvSpPr>
        <p:spPr bwMode="auto">
          <a:xfrm>
            <a:off x="122324" y="4971661"/>
            <a:ext cx="1143000" cy="333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80000"/>
              </a:lnSpc>
              <a:buFont typeface="Arial" charset="0"/>
              <a:buNone/>
            </a:pPr>
            <a:r>
              <a:rPr lang="en-US" altLang="en-US" sz="1200" b="1" dirty="0">
                <a:solidFill>
                  <a:schemeClr val="accent6">
                    <a:lumMod val="75000"/>
                  </a:schemeClr>
                </a:solidFill>
              </a:rPr>
              <a:t>jump to handler PC</a:t>
            </a:r>
          </a:p>
        </p:txBody>
      </p:sp>
    </p:spTree>
    <p:custDataLst>
      <p:tags r:id="rId1"/>
    </p:custDataLst>
    <p:extLst>
      <p:ext uri="{BB962C8B-B14F-4D97-AF65-F5344CB8AC3E}">
        <p14:creationId xmlns:p14="http://schemas.microsoft.com/office/powerpoint/2010/main" val="4852237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P spid="13" grpId="0" animBg="1"/>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BAA2872-6261-44C2-A585-505F3E12081D}"/>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Exercise – Branch Prediction</a:t>
            </a:r>
          </a:p>
        </p:txBody>
      </p:sp>
      <p:sp>
        <p:nvSpPr>
          <p:cNvPr id="15363" name="Rectangle 3">
            <a:extLst>
              <a:ext uri="{FF2B5EF4-FFF2-40B4-BE49-F238E27FC236}">
                <a16:creationId xmlns:a16="http://schemas.microsoft.com/office/drawing/2014/main" id="{A0005361-A170-4EEC-8B65-6D2B74BD7395}"/>
              </a:ext>
            </a:extLst>
          </p:cNvPr>
          <p:cNvSpPr>
            <a:spLocks noGrp="1" noChangeArrowheads="1"/>
          </p:cNvSpPr>
          <p:nvPr>
            <p:ph idx="1"/>
            <p:custDataLst>
              <p:tags r:id="rId3"/>
            </p:custDataLst>
          </p:nvPr>
        </p:nvSpPr>
        <p:spPr>
          <a:xfrm>
            <a:off x="457200" y="1600200"/>
            <a:ext cx="8229600" cy="5029200"/>
          </a:xfrm>
        </p:spPr>
        <p:txBody>
          <a:bodyPr/>
          <a:lstStyle/>
          <a:p>
            <a:pPr eaLnBrk="1" hangingPunct="1"/>
            <a:r>
              <a:rPr lang="en-US" altLang="en-US" sz="2800" dirty="0"/>
              <a:t>Consider five-stage pipeline</a:t>
            </a:r>
          </a:p>
          <a:p>
            <a:pPr lvl="1"/>
            <a:r>
              <a:rPr lang="en-US" altLang="en-US" sz="2400" dirty="0"/>
              <a:t>Assume accounting for data hazards, average CPI = 1.2</a:t>
            </a:r>
          </a:p>
          <a:p>
            <a:pPr lvl="1"/>
            <a:r>
              <a:rPr lang="en-US" altLang="en-US" sz="2400" dirty="0"/>
              <a:t>Assume branches resolved in ID stage</a:t>
            </a:r>
          </a:p>
          <a:p>
            <a:pPr lvl="1" eaLnBrk="1" hangingPunct="1"/>
            <a:r>
              <a:rPr lang="en-US" altLang="en-US" sz="2400" dirty="0"/>
              <a:t>Assume 30% of instructions are branches: 60% are taken</a:t>
            </a:r>
          </a:p>
          <a:p>
            <a:pPr lvl="1" eaLnBrk="1" hangingPunct="1"/>
            <a:r>
              <a:rPr lang="en-US" altLang="en-US" sz="2400" dirty="0"/>
              <a:t>1) Predict-not-taken with 300us clock period?</a:t>
            </a:r>
          </a:p>
          <a:p>
            <a:pPr lvl="2"/>
            <a:r>
              <a:rPr lang="en-US" altLang="en-US" sz="2000" b="1" dirty="0">
                <a:solidFill>
                  <a:schemeClr val="accent6">
                    <a:lumMod val="75000"/>
                  </a:schemeClr>
                </a:solidFill>
              </a:rPr>
              <a:t>Average CPI = 1.2 + (1 × 30% × 60%) = 1.38</a:t>
            </a:r>
          </a:p>
          <a:p>
            <a:pPr lvl="2"/>
            <a:r>
              <a:rPr lang="en-US" altLang="en-US" sz="2000" b="1" dirty="0">
                <a:solidFill>
                  <a:schemeClr val="accent6">
                    <a:lumMod val="75000"/>
                  </a:schemeClr>
                </a:solidFill>
              </a:rPr>
              <a:t>1 / (1.38 × 300us) = 2415 instructions per sec</a:t>
            </a:r>
          </a:p>
          <a:p>
            <a:pPr lvl="1" eaLnBrk="1" hangingPunct="1"/>
            <a:r>
              <a:rPr lang="en-US" altLang="en-US" sz="2400" dirty="0"/>
              <a:t>2) 90%-accurate predictor with 325us clock period?</a:t>
            </a:r>
          </a:p>
          <a:p>
            <a:pPr lvl="2"/>
            <a:r>
              <a:rPr lang="en-US" altLang="en-US" sz="2000" b="1" dirty="0">
                <a:solidFill>
                  <a:schemeClr val="accent6">
                    <a:lumMod val="75000"/>
                  </a:schemeClr>
                </a:solidFill>
              </a:rPr>
              <a:t>Average CPI = 1.2 + (1 × 30% × 10%) = 1.23</a:t>
            </a:r>
          </a:p>
          <a:p>
            <a:pPr lvl="2"/>
            <a:r>
              <a:rPr lang="en-US" altLang="en-US" sz="2000" b="1" dirty="0">
                <a:solidFill>
                  <a:schemeClr val="accent6">
                    <a:lumMod val="75000"/>
                  </a:schemeClr>
                </a:solidFill>
              </a:rPr>
              <a:t>1 / (1.23 × 325us) = 2501 instructions per sec</a:t>
            </a:r>
          </a:p>
        </p:txBody>
      </p:sp>
      <p:sp>
        <p:nvSpPr>
          <p:cNvPr id="4" name="Slide Number Placeholder 1">
            <a:extLst>
              <a:ext uri="{FF2B5EF4-FFF2-40B4-BE49-F238E27FC236}">
                <a16:creationId xmlns:a16="http://schemas.microsoft.com/office/drawing/2014/main" id="{2C6DE3F7-B623-494F-874B-5047570A63A8}"/>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cs typeface="Arial" panose="020B0604020202020204" pitchFamily="34" charset="0"/>
              </a:defRPr>
            </a:lvl1pPr>
            <a:lvl2pPr eaLnBrk="0" hangingPunct="0">
              <a:defRPr sz="1000">
                <a:solidFill>
                  <a:schemeClr val="tx1"/>
                </a:solidFill>
                <a:latin typeface="Times New Roman" panose="02020603050405020304" pitchFamily="18" charset="0"/>
                <a:cs typeface="Arial" panose="020B0604020202020204" pitchFamily="34" charset="0"/>
              </a:defRPr>
            </a:lvl2pPr>
            <a:lvl3pPr marL="1143000" indent="-228600" eaLnBrk="0" hangingPunct="0">
              <a:defRPr sz="1000">
                <a:solidFill>
                  <a:schemeClr val="tx1"/>
                </a:solidFill>
                <a:latin typeface="Times New Roman" panose="02020603050405020304" pitchFamily="18" charset="0"/>
                <a:cs typeface="Arial" panose="020B0604020202020204" pitchFamily="34" charset="0"/>
              </a:defRPr>
            </a:lvl3pPr>
            <a:lvl4pPr marL="1600200" indent="-228600" eaLnBrk="0" hangingPunct="0">
              <a:defRPr sz="1000">
                <a:solidFill>
                  <a:schemeClr val="tx1"/>
                </a:solidFill>
                <a:latin typeface="Times New Roman" panose="02020603050405020304" pitchFamily="18" charset="0"/>
                <a:cs typeface="Arial" panose="020B0604020202020204" pitchFamily="34" charset="0"/>
              </a:defRPr>
            </a:lvl4pPr>
            <a:lvl5pPr marL="2057400" indent="-228600" eaLnBrk="0" hangingPunct="0">
              <a:defRPr sz="1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cs typeface="Arial" panose="020B0604020202020204" pitchFamily="34" charset="0"/>
              </a:defRPr>
            </a:lvl9pPr>
          </a:lstStyle>
          <a:p>
            <a:pPr lvl="1" eaLnBrk="1" hangingPunct="1"/>
            <a:fld id="{428B4B3B-36B9-45BE-BDFE-75473571C138}" type="slidenum">
              <a:rPr lang="en-US" altLang="en-US">
                <a:latin typeface="Calibri" panose="020F0502020204030204" pitchFamily="34" charset="0"/>
              </a:rPr>
              <a:pPr lvl="1" eaLnBrk="1" hangingPunct="1"/>
              <a:t>26</a:t>
            </a:fld>
            <a:endParaRPr lang="en-US" altLang="en-US">
              <a:latin typeface="Calibri" panose="020F0502020204030204" pitchFamily="34" charset="0"/>
            </a:endParaRPr>
          </a:p>
        </p:txBody>
      </p:sp>
    </p:spTree>
    <p:custDataLst>
      <p:tags r:id="rId1"/>
    </p:custDataLst>
    <p:extLst>
      <p:ext uri="{BB962C8B-B14F-4D97-AF65-F5344CB8AC3E}">
        <p14:creationId xmlns:p14="http://schemas.microsoft.com/office/powerpoint/2010/main" val="39268631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36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 – Branch Delay Slot</a:t>
            </a:r>
          </a:p>
        </p:txBody>
      </p:sp>
      <p:sp>
        <p:nvSpPr>
          <p:cNvPr id="45058" name="Rectangle 3"/>
          <p:cNvSpPr>
            <a:spLocks noGrp="1" noChangeArrowheads="1"/>
          </p:cNvSpPr>
          <p:nvPr>
            <p:ph idx="1"/>
            <p:custDataLst>
              <p:tags r:id="rId3"/>
            </p:custDataLst>
          </p:nvPr>
        </p:nvSpPr>
        <p:spPr>
          <a:xfrm>
            <a:off x="682625" y="1905000"/>
            <a:ext cx="7772400" cy="4648200"/>
          </a:xfrm>
        </p:spPr>
        <p:txBody>
          <a:bodyPr/>
          <a:lstStyle/>
          <a:p>
            <a:pPr marL="684213" lvl="1" indent="-684213">
              <a:lnSpc>
                <a:spcPct val="90000"/>
              </a:lnSpc>
              <a:buNone/>
            </a:pPr>
            <a:r>
              <a:rPr lang="en-US" altLang="en-US" sz="2400" dirty="0"/>
              <a:t>	sub $s5, $s6, $s7</a:t>
            </a:r>
          </a:p>
          <a:p>
            <a:pPr marL="684213" lvl="1" indent="-684213">
              <a:lnSpc>
                <a:spcPct val="90000"/>
              </a:lnSpc>
              <a:buNone/>
            </a:pPr>
            <a:r>
              <a:rPr lang="en-US" altLang="en-US" sz="2400" dirty="0"/>
              <a:t>	nor $s1, $s2, $s3</a:t>
            </a:r>
          </a:p>
          <a:p>
            <a:pPr marL="684213" lvl="1" indent="-684213">
              <a:lnSpc>
                <a:spcPct val="90000"/>
              </a:lnSpc>
              <a:buNone/>
            </a:pPr>
            <a:r>
              <a:rPr lang="en-US" altLang="en-US" sz="2400" dirty="0"/>
              <a:t>	</a:t>
            </a:r>
            <a:r>
              <a:rPr lang="en-US" altLang="en-US" sz="2400" dirty="0" err="1"/>
              <a:t>beq</a:t>
            </a:r>
            <a:r>
              <a:rPr lang="en-US" altLang="en-US" sz="2400" dirty="0"/>
              <a:t> $s1, $s4, T1</a:t>
            </a:r>
          </a:p>
          <a:p>
            <a:pPr marL="684213" lvl="1" indent="-684213">
              <a:lnSpc>
                <a:spcPct val="90000"/>
              </a:lnSpc>
              <a:buNone/>
            </a:pPr>
            <a:r>
              <a:rPr lang="en-US" altLang="en-US" sz="2400" dirty="0"/>
              <a:t>	</a:t>
            </a:r>
            <a:r>
              <a:rPr lang="en-US" altLang="en-US" sz="2400" b="1" dirty="0">
                <a:solidFill>
                  <a:schemeClr val="accent6">
                    <a:lumMod val="75000"/>
                  </a:schemeClr>
                </a:solidFill>
              </a:rPr>
              <a:t>sll $0, $0, 0</a:t>
            </a:r>
            <a:r>
              <a:rPr lang="en-US" altLang="en-US" sz="2400" dirty="0"/>
              <a:t>		</a:t>
            </a:r>
            <a:r>
              <a:rPr lang="en-US" altLang="en-US" sz="2400" b="1" dirty="0">
                <a:solidFill>
                  <a:schemeClr val="accent6">
                    <a:lumMod val="75000"/>
                  </a:schemeClr>
                </a:solidFill>
              </a:rPr>
              <a:t># branch delay slot</a:t>
            </a:r>
          </a:p>
          <a:p>
            <a:pPr marL="684213" lvl="1" indent="-684213">
              <a:lnSpc>
                <a:spcPct val="90000"/>
              </a:lnSpc>
              <a:buNone/>
            </a:pPr>
            <a:r>
              <a:rPr lang="en-US" altLang="en-US" sz="2400" dirty="0"/>
              <a:t>	add $s4, $s5, $s6 	 </a:t>
            </a:r>
          </a:p>
          <a:p>
            <a:pPr marL="684213" lvl="1" indent="-684213">
              <a:lnSpc>
                <a:spcPct val="90000"/>
              </a:lnSpc>
              <a:buNone/>
            </a:pPr>
            <a:r>
              <a:rPr lang="en-US" altLang="en-US" sz="2400" dirty="0"/>
              <a:t>	j T2</a:t>
            </a:r>
          </a:p>
          <a:p>
            <a:pPr marL="684213" lvl="1" indent="-684213">
              <a:lnSpc>
                <a:spcPct val="90000"/>
              </a:lnSpc>
              <a:buNone/>
            </a:pPr>
            <a:r>
              <a:rPr lang="en-US" altLang="en-US" sz="2400" dirty="0"/>
              <a:t>	…</a:t>
            </a:r>
          </a:p>
          <a:p>
            <a:pPr marL="684213" lvl="1" indent="-684213">
              <a:lnSpc>
                <a:spcPct val="90000"/>
              </a:lnSpc>
              <a:buNone/>
            </a:pPr>
            <a:r>
              <a:rPr lang="en-US" altLang="en-US" sz="2400" dirty="0"/>
              <a:t>T1:	or $s4, $s4, $s7</a:t>
            </a:r>
          </a:p>
          <a:p>
            <a:pPr marL="684213" lvl="1" indent="-684213">
              <a:lnSpc>
                <a:spcPct val="90000"/>
              </a:lnSpc>
              <a:buNone/>
            </a:pPr>
            <a:r>
              <a:rPr lang="en-US" altLang="en-US" sz="2400" dirty="0"/>
              <a:t>	</a:t>
            </a:r>
            <a:r>
              <a:rPr lang="en-US" altLang="en-US" sz="2400" dirty="0" err="1"/>
              <a:t>slt</a:t>
            </a:r>
            <a:r>
              <a:rPr lang="en-US" altLang="en-US" sz="2400" dirty="0"/>
              <a:t> $s2, $s4, $s6</a:t>
            </a:r>
          </a:p>
          <a:p>
            <a:pPr marL="684213" lvl="1" indent="-684213">
              <a:lnSpc>
                <a:spcPct val="90000"/>
              </a:lnSpc>
              <a:buNone/>
            </a:pPr>
            <a:r>
              <a:rPr lang="en-US" altLang="en-US" sz="2400" dirty="0"/>
              <a:t>T2:	and $s2, $s2, $s3</a:t>
            </a:r>
          </a:p>
        </p:txBody>
      </p:sp>
      <p:sp>
        <p:nvSpPr>
          <p:cNvPr id="45061"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27</a:t>
            </a:fld>
            <a:endParaRPr lang="en-US" altLang="en-US"/>
          </a:p>
        </p:txBody>
      </p:sp>
      <p:sp>
        <p:nvSpPr>
          <p:cNvPr id="5" name="Rectangle 3">
            <a:extLst>
              <a:ext uri="{FF2B5EF4-FFF2-40B4-BE49-F238E27FC236}">
                <a16:creationId xmlns:a16="http://schemas.microsoft.com/office/drawing/2014/main" id="{4C191226-29C1-4D52-A55C-774881610071}"/>
              </a:ext>
            </a:extLst>
          </p:cNvPr>
          <p:cNvSpPr txBox="1">
            <a:spLocks noChangeArrowheads="1"/>
          </p:cNvSpPr>
          <p:nvPr>
            <p:custDataLst>
              <p:tags r:id="rId5"/>
            </p:custDataLst>
          </p:nvPr>
        </p:nvSpPr>
        <p:spPr bwMode="auto">
          <a:xfrm>
            <a:off x="457200" y="1295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800" dirty="0"/>
              <a:t>Ignore exceptions</a:t>
            </a:r>
          </a:p>
        </p:txBody>
      </p:sp>
    </p:spTree>
    <p:custDataLst>
      <p:tags r:id="rId1"/>
    </p:custDataLst>
    <p:extLst>
      <p:ext uri="{BB962C8B-B14F-4D97-AF65-F5344CB8AC3E}">
        <p14:creationId xmlns:p14="http://schemas.microsoft.com/office/powerpoint/2010/main" val="110504643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 – Branch Delay Slot</a:t>
            </a:r>
          </a:p>
        </p:txBody>
      </p:sp>
      <p:sp>
        <p:nvSpPr>
          <p:cNvPr id="45058" name="Rectangle 3"/>
          <p:cNvSpPr>
            <a:spLocks noGrp="1" noChangeArrowheads="1"/>
          </p:cNvSpPr>
          <p:nvPr>
            <p:ph idx="1"/>
            <p:custDataLst>
              <p:tags r:id="rId3"/>
            </p:custDataLst>
          </p:nvPr>
        </p:nvSpPr>
        <p:spPr>
          <a:xfrm>
            <a:off x="682624" y="1905000"/>
            <a:ext cx="8461375" cy="4648200"/>
          </a:xfrm>
        </p:spPr>
        <p:txBody>
          <a:bodyPr/>
          <a:lstStyle/>
          <a:p>
            <a:pPr marL="684213" lvl="1" indent="-684213">
              <a:lnSpc>
                <a:spcPct val="90000"/>
              </a:lnSpc>
              <a:buNone/>
            </a:pPr>
            <a:r>
              <a:rPr lang="en-US" altLang="en-US" sz="2400" dirty="0"/>
              <a:t>	</a:t>
            </a:r>
            <a:r>
              <a:rPr lang="en-US" altLang="en-US" sz="2400" strike="sngStrike" dirty="0"/>
              <a:t>sub $s5, $s6, $s7</a:t>
            </a:r>
          </a:p>
          <a:p>
            <a:pPr marL="684213" lvl="1" indent="-684213">
              <a:lnSpc>
                <a:spcPct val="90000"/>
              </a:lnSpc>
              <a:buNone/>
            </a:pPr>
            <a:r>
              <a:rPr lang="en-US" altLang="en-US" sz="2400" dirty="0"/>
              <a:t>	nor $s1, $s2, $s3</a:t>
            </a:r>
          </a:p>
          <a:p>
            <a:pPr marL="684213" lvl="1" indent="-684213">
              <a:lnSpc>
                <a:spcPct val="90000"/>
              </a:lnSpc>
              <a:buNone/>
            </a:pPr>
            <a:r>
              <a:rPr lang="en-US" altLang="en-US" sz="2400" dirty="0"/>
              <a:t>	</a:t>
            </a:r>
            <a:r>
              <a:rPr lang="en-US" altLang="en-US" sz="2400" dirty="0" err="1"/>
              <a:t>beq</a:t>
            </a:r>
            <a:r>
              <a:rPr lang="en-US" altLang="en-US" sz="2400" dirty="0"/>
              <a:t> $s1, $s4, T1</a:t>
            </a:r>
          </a:p>
          <a:p>
            <a:pPr marL="684213" lvl="1" indent="-684213">
              <a:lnSpc>
                <a:spcPct val="90000"/>
              </a:lnSpc>
              <a:buNone/>
            </a:pPr>
            <a:r>
              <a:rPr lang="en-US" altLang="en-US" sz="2400" dirty="0"/>
              <a:t>	</a:t>
            </a:r>
            <a:r>
              <a:rPr lang="en-US" altLang="en-US" sz="2400" b="1" dirty="0">
                <a:solidFill>
                  <a:schemeClr val="accent6">
                    <a:lumMod val="75000"/>
                  </a:schemeClr>
                </a:solidFill>
              </a:rPr>
              <a:t>sub $s5, $s6, $s7</a:t>
            </a:r>
            <a:r>
              <a:rPr lang="en-US" altLang="en-US" sz="2400" dirty="0"/>
              <a:t>	</a:t>
            </a:r>
            <a:r>
              <a:rPr lang="en-US" altLang="en-US" sz="2400" b="1" dirty="0">
                <a:solidFill>
                  <a:schemeClr val="accent6">
                    <a:lumMod val="75000"/>
                  </a:schemeClr>
                </a:solidFill>
              </a:rPr>
              <a:t># branch delay slot – legal?</a:t>
            </a:r>
          </a:p>
          <a:p>
            <a:pPr marL="684213" lvl="1" indent="-684213">
              <a:lnSpc>
                <a:spcPct val="90000"/>
              </a:lnSpc>
              <a:buNone/>
            </a:pPr>
            <a:r>
              <a:rPr lang="en-US" altLang="en-US" sz="2400" dirty="0"/>
              <a:t>	add $s4, $s5, $s6 	 </a:t>
            </a:r>
          </a:p>
          <a:p>
            <a:pPr marL="684213" lvl="1" indent="-684213">
              <a:lnSpc>
                <a:spcPct val="90000"/>
              </a:lnSpc>
              <a:buNone/>
            </a:pPr>
            <a:r>
              <a:rPr lang="en-US" altLang="en-US" sz="2400" dirty="0"/>
              <a:t>	j T2</a:t>
            </a:r>
          </a:p>
          <a:p>
            <a:pPr marL="684213" lvl="1" indent="-684213">
              <a:lnSpc>
                <a:spcPct val="90000"/>
              </a:lnSpc>
              <a:buNone/>
            </a:pPr>
            <a:r>
              <a:rPr lang="en-US" altLang="en-US" sz="2400" dirty="0"/>
              <a:t>	…</a:t>
            </a:r>
          </a:p>
          <a:p>
            <a:pPr marL="684213" lvl="1" indent="-684213">
              <a:lnSpc>
                <a:spcPct val="90000"/>
              </a:lnSpc>
              <a:buNone/>
            </a:pPr>
            <a:r>
              <a:rPr lang="en-US" altLang="en-US" sz="2400" dirty="0"/>
              <a:t>T1:	or $s4, $s4, $s7</a:t>
            </a:r>
          </a:p>
          <a:p>
            <a:pPr marL="684213" lvl="1" indent="-684213">
              <a:lnSpc>
                <a:spcPct val="90000"/>
              </a:lnSpc>
              <a:buNone/>
            </a:pPr>
            <a:r>
              <a:rPr lang="en-US" altLang="en-US" sz="2400" dirty="0"/>
              <a:t>	</a:t>
            </a:r>
            <a:r>
              <a:rPr lang="en-US" altLang="en-US" sz="2400" dirty="0" err="1"/>
              <a:t>slt</a:t>
            </a:r>
            <a:r>
              <a:rPr lang="en-US" altLang="en-US" sz="2400" dirty="0"/>
              <a:t> $s2, $s4, $s6</a:t>
            </a:r>
          </a:p>
          <a:p>
            <a:pPr marL="684213" lvl="1" indent="-684213">
              <a:lnSpc>
                <a:spcPct val="90000"/>
              </a:lnSpc>
              <a:buNone/>
            </a:pPr>
            <a:r>
              <a:rPr lang="en-US" altLang="en-US" sz="2400" dirty="0"/>
              <a:t>T2:	and $s2, $s2, $s3</a:t>
            </a:r>
          </a:p>
        </p:txBody>
      </p:sp>
      <p:sp>
        <p:nvSpPr>
          <p:cNvPr id="45061"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28</a:t>
            </a:fld>
            <a:endParaRPr lang="en-US" altLang="en-US"/>
          </a:p>
        </p:txBody>
      </p:sp>
      <p:sp>
        <p:nvSpPr>
          <p:cNvPr id="5" name="TextBox 4">
            <a:extLst>
              <a:ext uri="{FF2B5EF4-FFF2-40B4-BE49-F238E27FC236}">
                <a16:creationId xmlns:a16="http://schemas.microsoft.com/office/drawing/2014/main" id="{44894D32-651E-42BA-A299-5B580738CAEE}"/>
              </a:ext>
            </a:extLst>
          </p:cNvPr>
          <p:cNvSpPr txBox="1"/>
          <p:nvPr>
            <p:custDataLst>
              <p:tags r:id="rId5"/>
            </p:custDataLst>
          </p:nvPr>
        </p:nvSpPr>
        <p:spPr>
          <a:xfrm>
            <a:off x="7467600" y="3048000"/>
            <a:ext cx="1501951" cy="461665"/>
          </a:xfrm>
          <a:prstGeom prst="rect">
            <a:avLst/>
          </a:prstGeom>
          <a:noFill/>
        </p:spPr>
        <p:txBody>
          <a:bodyPr wrap="square" rtlCol="0">
            <a:spAutoFit/>
          </a:bodyPr>
          <a:lstStyle/>
          <a:p>
            <a:pPr algn="ctr"/>
            <a:r>
              <a:rPr lang="en-US" sz="2400" b="1" dirty="0">
                <a:solidFill>
                  <a:schemeClr val="accent6">
                    <a:lumMod val="75000"/>
                  </a:schemeClr>
                </a:solidFill>
                <a:latin typeface="Calibri" panose="020F0502020204030204" pitchFamily="34" charset="0"/>
                <a:cs typeface="Calibri" panose="020F0502020204030204" pitchFamily="34" charset="0"/>
              </a:rPr>
              <a:t>yes</a:t>
            </a:r>
          </a:p>
        </p:txBody>
      </p:sp>
      <p:sp>
        <p:nvSpPr>
          <p:cNvPr id="6" name="Rectangle 3">
            <a:extLst>
              <a:ext uri="{FF2B5EF4-FFF2-40B4-BE49-F238E27FC236}">
                <a16:creationId xmlns:a16="http://schemas.microsoft.com/office/drawing/2014/main" id="{1C0307CE-CE38-4212-894B-13A565BF372A}"/>
              </a:ext>
            </a:extLst>
          </p:cNvPr>
          <p:cNvSpPr txBox="1">
            <a:spLocks noChangeArrowheads="1"/>
          </p:cNvSpPr>
          <p:nvPr>
            <p:custDataLst>
              <p:tags r:id="rId6"/>
            </p:custDataLst>
          </p:nvPr>
        </p:nvSpPr>
        <p:spPr bwMode="auto">
          <a:xfrm>
            <a:off x="457200" y="1295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800" dirty="0"/>
              <a:t>Ignore exceptions</a:t>
            </a:r>
          </a:p>
        </p:txBody>
      </p:sp>
    </p:spTree>
    <p:custDataLst>
      <p:tags r:id="rId1"/>
    </p:custDataLst>
    <p:extLst>
      <p:ext uri="{BB962C8B-B14F-4D97-AF65-F5344CB8AC3E}">
        <p14:creationId xmlns:p14="http://schemas.microsoft.com/office/powerpoint/2010/main" val="19025925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 – Branch Delay Slot</a:t>
            </a:r>
          </a:p>
        </p:txBody>
      </p:sp>
      <p:sp>
        <p:nvSpPr>
          <p:cNvPr id="45058" name="Rectangle 3"/>
          <p:cNvSpPr>
            <a:spLocks noGrp="1" noChangeArrowheads="1"/>
          </p:cNvSpPr>
          <p:nvPr>
            <p:ph idx="1"/>
            <p:custDataLst>
              <p:tags r:id="rId3"/>
            </p:custDataLst>
          </p:nvPr>
        </p:nvSpPr>
        <p:spPr>
          <a:xfrm>
            <a:off x="682624" y="1905000"/>
            <a:ext cx="8461375" cy="4648200"/>
          </a:xfrm>
        </p:spPr>
        <p:txBody>
          <a:bodyPr/>
          <a:lstStyle/>
          <a:p>
            <a:pPr marL="684213" lvl="1" indent="-684213">
              <a:lnSpc>
                <a:spcPct val="90000"/>
              </a:lnSpc>
              <a:buNone/>
            </a:pPr>
            <a:r>
              <a:rPr lang="en-US" altLang="en-US" sz="2400" dirty="0"/>
              <a:t>	sub $s5, $s6, $s7</a:t>
            </a:r>
          </a:p>
          <a:p>
            <a:pPr marL="684213" lvl="1" indent="-684213">
              <a:lnSpc>
                <a:spcPct val="90000"/>
              </a:lnSpc>
              <a:buNone/>
            </a:pPr>
            <a:r>
              <a:rPr lang="en-US" altLang="en-US" sz="2400" dirty="0"/>
              <a:t>	</a:t>
            </a:r>
            <a:r>
              <a:rPr lang="en-US" altLang="en-US" sz="2400" strike="sngStrike" dirty="0"/>
              <a:t>nor $s1, $s2, $s3</a:t>
            </a:r>
          </a:p>
          <a:p>
            <a:pPr marL="684213" lvl="1" indent="-684213">
              <a:lnSpc>
                <a:spcPct val="90000"/>
              </a:lnSpc>
              <a:buNone/>
            </a:pPr>
            <a:r>
              <a:rPr lang="en-US" altLang="en-US" sz="2400" dirty="0"/>
              <a:t>	</a:t>
            </a:r>
            <a:r>
              <a:rPr lang="en-US" altLang="en-US" sz="2400" dirty="0" err="1"/>
              <a:t>beq</a:t>
            </a:r>
            <a:r>
              <a:rPr lang="en-US" altLang="en-US" sz="2400" dirty="0"/>
              <a:t> $s1, $s4, T1</a:t>
            </a:r>
          </a:p>
          <a:p>
            <a:pPr marL="684213" lvl="1" indent="-684213">
              <a:lnSpc>
                <a:spcPct val="90000"/>
              </a:lnSpc>
              <a:buNone/>
            </a:pPr>
            <a:r>
              <a:rPr lang="en-US" altLang="en-US" sz="2400" dirty="0"/>
              <a:t>	</a:t>
            </a:r>
            <a:r>
              <a:rPr lang="en-US" altLang="en-US" sz="2400" b="1" dirty="0">
                <a:solidFill>
                  <a:schemeClr val="accent6">
                    <a:lumMod val="75000"/>
                  </a:schemeClr>
                </a:solidFill>
              </a:rPr>
              <a:t>nor $s1, $s2, $s3</a:t>
            </a:r>
            <a:r>
              <a:rPr lang="en-US" altLang="en-US" sz="2400" dirty="0"/>
              <a:t>	</a:t>
            </a:r>
            <a:r>
              <a:rPr lang="en-US" altLang="en-US" sz="2400" b="1" dirty="0">
                <a:solidFill>
                  <a:schemeClr val="accent6">
                    <a:lumMod val="75000"/>
                  </a:schemeClr>
                </a:solidFill>
              </a:rPr>
              <a:t># branch delay slot – legal?</a:t>
            </a:r>
          </a:p>
          <a:p>
            <a:pPr marL="684213" lvl="1" indent="-684213">
              <a:lnSpc>
                <a:spcPct val="90000"/>
              </a:lnSpc>
              <a:buNone/>
            </a:pPr>
            <a:r>
              <a:rPr lang="en-US" altLang="en-US" sz="2400" dirty="0"/>
              <a:t>	add $s4, $s5, $s6 	 </a:t>
            </a:r>
          </a:p>
          <a:p>
            <a:pPr marL="684213" lvl="1" indent="-684213">
              <a:lnSpc>
                <a:spcPct val="90000"/>
              </a:lnSpc>
              <a:buNone/>
            </a:pPr>
            <a:r>
              <a:rPr lang="en-US" altLang="en-US" sz="2400" dirty="0"/>
              <a:t>	j T2</a:t>
            </a:r>
          </a:p>
          <a:p>
            <a:pPr marL="684213" lvl="1" indent="-684213">
              <a:lnSpc>
                <a:spcPct val="90000"/>
              </a:lnSpc>
              <a:buNone/>
            </a:pPr>
            <a:r>
              <a:rPr lang="en-US" altLang="en-US" sz="2400" dirty="0"/>
              <a:t>	…</a:t>
            </a:r>
          </a:p>
          <a:p>
            <a:pPr marL="684213" lvl="1" indent="-684213">
              <a:lnSpc>
                <a:spcPct val="90000"/>
              </a:lnSpc>
              <a:buNone/>
            </a:pPr>
            <a:r>
              <a:rPr lang="en-US" altLang="en-US" sz="2400" dirty="0"/>
              <a:t>T1:	or $s4, $s4, $s7</a:t>
            </a:r>
          </a:p>
          <a:p>
            <a:pPr marL="684213" lvl="1" indent="-684213">
              <a:lnSpc>
                <a:spcPct val="90000"/>
              </a:lnSpc>
              <a:buNone/>
            </a:pPr>
            <a:r>
              <a:rPr lang="en-US" altLang="en-US" sz="2400" dirty="0"/>
              <a:t>	</a:t>
            </a:r>
            <a:r>
              <a:rPr lang="en-US" altLang="en-US" sz="2400" dirty="0" err="1"/>
              <a:t>slt</a:t>
            </a:r>
            <a:r>
              <a:rPr lang="en-US" altLang="en-US" sz="2400" dirty="0"/>
              <a:t> $s2, $s4, $s6</a:t>
            </a:r>
          </a:p>
          <a:p>
            <a:pPr marL="684213" lvl="1" indent="-684213">
              <a:lnSpc>
                <a:spcPct val="90000"/>
              </a:lnSpc>
              <a:buNone/>
            </a:pPr>
            <a:r>
              <a:rPr lang="en-US" altLang="en-US" sz="2400" dirty="0"/>
              <a:t>T2:	and $s2, $s2, $s3</a:t>
            </a:r>
          </a:p>
        </p:txBody>
      </p:sp>
      <p:sp>
        <p:nvSpPr>
          <p:cNvPr id="45061"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29</a:t>
            </a:fld>
            <a:endParaRPr lang="en-US" altLang="en-US"/>
          </a:p>
        </p:txBody>
      </p:sp>
      <p:sp>
        <p:nvSpPr>
          <p:cNvPr id="5" name="TextBox 4">
            <a:extLst>
              <a:ext uri="{FF2B5EF4-FFF2-40B4-BE49-F238E27FC236}">
                <a16:creationId xmlns:a16="http://schemas.microsoft.com/office/drawing/2014/main" id="{5F9C8C0A-C14A-4D67-BC41-2424A59608CD}"/>
              </a:ext>
            </a:extLst>
          </p:cNvPr>
          <p:cNvSpPr txBox="1"/>
          <p:nvPr>
            <p:custDataLst>
              <p:tags r:id="rId5"/>
            </p:custDataLst>
          </p:nvPr>
        </p:nvSpPr>
        <p:spPr>
          <a:xfrm>
            <a:off x="7467600" y="3048000"/>
            <a:ext cx="1501951" cy="461665"/>
          </a:xfrm>
          <a:prstGeom prst="rect">
            <a:avLst/>
          </a:prstGeom>
          <a:noFill/>
        </p:spPr>
        <p:txBody>
          <a:bodyPr wrap="square" rtlCol="0">
            <a:spAutoFit/>
          </a:bodyPr>
          <a:lstStyle/>
          <a:p>
            <a:pPr algn="ctr"/>
            <a:r>
              <a:rPr lang="en-US" sz="2400" b="1" dirty="0">
                <a:solidFill>
                  <a:schemeClr val="accent6">
                    <a:lumMod val="75000"/>
                  </a:schemeClr>
                </a:solidFill>
                <a:latin typeface="Calibri" panose="020F0502020204030204" pitchFamily="34" charset="0"/>
                <a:cs typeface="Calibri" panose="020F0502020204030204" pitchFamily="34" charset="0"/>
              </a:rPr>
              <a:t>no</a:t>
            </a:r>
          </a:p>
        </p:txBody>
      </p:sp>
      <p:sp>
        <p:nvSpPr>
          <p:cNvPr id="6" name="Rectangle 3">
            <a:extLst>
              <a:ext uri="{FF2B5EF4-FFF2-40B4-BE49-F238E27FC236}">
                <a16:creationId xmlns:a16="http://schemas.microsoft.com/office/drawing/2014/main" id="{C8782759-653D-475D-8F5E-F3498815528F}"/>
              </a:ext>
            </a:extLst>
          </p:cNvPr>
          <p:cNvSpPr txBox="1">
            <a:spLocks noChangeArrowheads="1"/>
          </p:cNvSpPr>
          <p:nvPr>
            <p:custDataLst>
              <p:tags r:id="rId6"/>
            </p:custDataLst>
          </p:nvPr>
        </p:nvSpPr>
        <p:spPr bwMode="auto">
          <a:xfrm>
            <a:off x="457200" y="1295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800" dirty="0"/>
              <a:t>Ignore exceptions</a:t>
            </a:r>
          </a:p>
        </p:txBody>
      </p:sp>
    </p:spTree>
    <p:custDataLst>
      <p:tags r:id="rId1"/>
    </p:custDataLst>
    <p:extLst>
      <p:ext uri="{BB962C8B-B14F-4D97-AF65-F5344CB8AC3E}">
        <p14:creationId xmlns:p14="http://schemas.microsoft.com/office/powerpoint/2010/main" val="33405314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 – Branch Delay Slot</a:t>
            </a:r>
          </a:p>
        </p:txBody>
      </p:sp>
      <p:sp>
        <p:nvSpPr>
          <p:cNvPr id="45058" name="Rectangle 3"/>
          <p:cNvSpPr>
            <a:spLocks noGrp="1" noChangeArrowheads="1"/>
          </p:cNvSpPr>
          <p:nvPr>
            <p:ph idx="1"/>
            <p:custDataLst>
              <p:tags r:id="rId3"/>
            </p:custDataLst>
          </p:nvPr>
        </p:nvSpPr>
        <p:spPr>
          <a:xfrm>
            <a:off x="682624" y="1905000"/>
            <a:ext cx="8461375" cy="4648200"/>
          </a:xfrm>
        </p:spPr>
        <p:txBody>
          <a:bodyPr/>
          <a:lstStyle/>
          <a:p>
            <a:pPr marL="684213" lvl="1" indent="-684213">
              <a:lnSpc>
                <a:spcPct val="90000"/>
              </a:lnSpc>
              <a:buNone/>
            </a:pPr>
            <a:r>
              <a:rPr lang="en-US" altLang="en-US" sz="2400" dirty="0"/>
              <a:t>	sub $s5, $s6, $s7</a:t>
            </a:r>
          </a:p>
          <a:p>
            <a:pPr marL="684213" lvl="1" indent="-684213">
              <a:lnSpc>
                <a:spcPct val="90000"/>
              </a:lnSpc>
              <a:buNone/>
            </a:pPr>
            <a:r>
              <a:rPr lang="en-US" altLang="en-US" sz="2400" dirty="0"/>
              <a:t>	nor $s1, $s2, $s3</a:t>
            </a:r>
          </a:p>
          <a:p>
            <a:pPr marL="684213" lvl="1" indent="-684213">
              <a:lnSpc>
                <a:spcPct val="90000"/>
              </a:lnSpc>
              <a:buNone/>
            </a:pPr>
            <a:r>
              <a:rPr lang="en-US" altLang="en-US" sz="2400" dirty="0"/>
              <a:t>	</a:t>
            </a:r>
            <a:r>
              <a:rPr lang="en-US" altLang="en-US" sz="2400" dirty="0" err="1"/>
              <a:t>beq</a:t>
            </a:r>
            <a:r>
              <a:rPr lang="en-US" altLang="en-US" sz="2400" dirty="0"/>
              <a:t> $s1, $s4, T1</a:t>
            </a:r>
          </a:p>
          <a:p>
            <a:pPr marL="684213" lvl="1" indent="-684213">
              <a:lnSpc>
                <a:spcPct val="90000"/>
              </a:lnSpc>
              <a:buNone/>
            </a:pPr>
            <a:r>
              <a:rPr lang="en-US" altLang="en-US" sz="2400" dirty="0"/>
              <a:t>	</a:t>
            </a:r>
            <a:r>
              <a:rPr lang="en-US" altLang="en-US" sz="2400" b="1" dirty="0">
                <a:solidFill>
                  <a:schemeClr val="accent6">
                    <a:lumMod val="75000"/>
                  </a:schemeClr>
                </a:solidFill>
              </a:rPr>
              <a:t>add $s4, $s5, $s6 </a:t>
            </a:r>
            <a:r>
              <a:rPr lang="en-US" altLang="en-US" sz="2400" dirty="0"/>
              <a:t>	</a:t>
            </a:r>
            <a:r>
              <a:rPr lang="en-US" altLang="en-US" sz="2400" b="1" dirty="0">
                <a:solidFill>
                  <a:schemeClr val="accent6">
                    <a:lumMod val="75000"/>
                  </a:schemeClr>
                </a:solidFill>
              </a:rPr>
              <a:t># branch delay slot – legal?</a:t>
            </a:r>
          </a:p>
          <a:p>
            <a:pPr marL="684213" lvl="1" indent="-684213">
              <a:lnSpc>
                <a:spcPct val="90000"/>
              </a:lnSpc>
              <a:buNone/>
            </a:pPr>
            <a:r>
              <a:rPr lang="en-US" altLang="en-US" sz="2400" dirty="0"/>
              <a:t>	</a:t>
            </a:r>
            <a:r>
              <a:rPr lang="en-US" altLang="en-US" sz="2400" strike="sngStrike" dirty="0"/>
              <a:t>add $s4, $s5, $s6 </a:t>
            </a:r>
            <a:r>
              <a:rPr lang="en-US" altLang="en-US" sz="2400" dirty="0"/>
              <a:t>	 </a:t>
            </a:r>
          </a:p>
          <a:p>
            <a:pPr marL="684213" lvl="1" indent="-684213">
              <a:lnSpc>
                <a:spcPct val="90000"/>
              </a:lnSpc>
              <a:buNone/>
            </a:pPr>
            <a:r>
              <a:rPr lang="en-US" altLang="en-US" sz="2400" dirty="0"/>
              <a:t>	j T2</a:t>
            </a:r>
          </a:p>
          <a:p>
            <a:pPr marL="684213" lvl="1" indent="-684213">
              <a:lnSpc>
                <a:spcPct val="90000"/>
              </a:lnSpc>
              <a:buNone/>
            </a:pPr>
            <a:r>
              <a:rPr lang="en-US" altLang="en-US" sz="2400" dirty="0"/>
              <a:t>	…</a:t>
            </a:r>
          </a:p>
          <a:p>
            <a:pPr marL="684213" lvl="1" indent="-684213">
              <a:lnSpc>
                <a:spcPct val="90000"/>
              </a:lnSpc>
              <a:buNone/>
            </a:pPr>
            <a:r>
              <a:rPr lang="en-US" altLang="en-US" sz="2400" dirty="0"/>
              <a:t>T1:	or $s4, $s4, $s7</a:t>
            </a:r>
          </a:p>
          <a:p>
            <a:pPr marL="684213" lvl="1" indent="-684213">
              <a:lnSpc>
                <a:spcPct val="90000"/>
              </a:lnSpc>
              <a:buNone/>
            </a:pPr>
            <a:r>
              <a:rPr lang="en-US" altLang="en-US" sz="2400" dirty="0"/>
              <a:t>	</a:t>
            </a:r>
            <a:r>
              <a:rPr lang="en-US" altLang="en-US" sz="2400" dirty="0" err="1"/>
              <a:t>slt</a:t>
            </a:r>
            <a:r>
              <a:rPr lang="en-US" altLang="en-US" sz="2400" dirty="0"/>
              <a:t> $s2, $s4, $s6</a:t>
            </a:r>
          </a:p>
          <a:p>
            <a:pPr marL="684213" lvl="1" indent="-684213">
              <a:lnSpc>
                <a:spcPct val="90000"/>
              </a:lnSpc>
              <a:buNone/>
            </a:pPr>
            <a:r>
              <a:rPr lang="en-US" altLang="en-US" sz="2400" dirty="0"/>
              <a:t>T2:	and $s2, $s2, $s3</a:t>
            </a:r>
          </a:p>
        </p:txBody>
      </p:sp>
      <p:sp>
        <p:nvSpPr>
          <p:cNvPr id="45061"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30</a:t>
            </a:fld>
            <a:endParaRPr lang="en-US" altLang="en-US"/>
          </a:p>
        </p:txBody>
      </p:sp>
      <p:sp>
        <p:nvSpPr>
          <p:cNvPr id="5" name="TextBox 4">
            <a:extLst>
              <a:ext uri="{FF2B5EF4-FFF2-40B4-BE49-F238E27FC236}">
                <a16:creationId xmlns:a16="http://schemas.microsoft.com/office/drawing/2014/main" id="{47B417EE-F9ED-43B7-B3A5-FC8E0291D544}"/>
              </a:ext>
            </a:extLst>
          </p:cNvPr>
          <p:cNvSpPr txBox="1"/>
          <p:nvPr>
            <p:custDataLst>
              <p:tags r:id="rId5"/>
            </p:custDataLst>
          </p:nvPr>
        </p:nvSpPr>
        <p:spPr>
          <a:xfrm>
            <a:off x="7467600" y="3048000"/>
            <a:ext cx="1501951" cy="461665"/>
          </a:xfrm>
          <a:prstGeom prst="rect">
            <a:avLst/>
          </a:prstGeom>
          <a:noFill/>
        </p:spPr>
        <p:txBody>
          <a:bodyPr wrap="square" rtlCol="0">
            <a:spAutoFit/>
          </a:bodyPr>
          <a:lstStyle/>
          <a:p>
            <a:pPr algn="ctr"/>
            <a:r>
              <a:rPr lang="en-US" sz="2400" b="1" dirty="0">
                <a:solidFill>
                  <a:schemeClr val="accent6">
                    <a:lumMod val="75000"/>
                  </a:schemeClr>
                </a:solidFill>
                <a:latin typeface="Calibri" panose="020F0502020204030204" pitchFamily="34" charset="0"/>
                <a:cs typeface="Calibri" panose="020F0502020204030204" pitchFamily="34" charset="0"/>
              </a:rPr>
              <a:t>no</a:t>
            </a:r>
          </a:p>
        </p:txBody>
      </p:sp>
      <p:sp>
        <p:nvSpPr>
          <p:cNvPr id="6" name="Rectangle 3">
            <a:extLst>
              <a:ext uri="{FF2B5EF4-FFF2-40B4-BE49-F238E27FC236}">
                <a16:creationId xmlns:a16="http://schemas.microsoft.com/office/drawing/2014/main" id="{0BFBF41D-25CC-4CF2-B1BE-0629BAA9F016}"/>
              </a:ext>
            </a:extLst>
          </p:cNvPr>
          <p:cNvSpPr txBox="1">
            <a:spLocks noChangeArrowheads="1"/>
          </p:cNvSpPr>
          <p:nvPr>
            <p:custDataLst>
              <p:tags r:id="rId6"/>
            </p:custDataLst>
          </p:nvPr>
        </p:nvSpPr>
        <p:spPr bwMode="auto">
          <a:xfrm>
            <a:off x="457200" y="1295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800" dirty="0"/>
              <a:t>Ignore exceptions</a:t>
            </a:r>
          </a:p>
        </p:txBody>
      </p:sp>
    </p:spTree>
    <p:custDataLst>
      <p:tags r:id="rId1"/>
    </p:custDataLst>
    <p:extLst>
      <p:ext uri="{BB962C8B-B14F-4D97-AF65-F5344CB8AC3E}">
        <p14:creationId xmlns:p14="http://schemas.microsoft.com/office/powerpoint/2010/main" val="19041126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 – Branch Delay Slot</a:t>
            </a:r>
          </a:p>
        </p:txBody>
      </p:sp>
      <p:sp>
        <p:nvSpPr>
          <p:cNvPr id="45058" name="Rectangle 3"/>
          <p:cNvSpPr>
            <a:spLocks noGrp="1" noChangeArrowheads="1"/>
          </p:cNvSpPr>
          <p:nvPr>
            <p:ph idx="1"/>
            <p:custDataLst>
              <p:tags r:id="rId3"/>
            </p:custDataLst>
          </p:nvPr>
        </p:nvSpPr>
        <p:spPr>
          <a:xfrm>
            <a:off x="682624" y="1905000"/>
            <a:ext cx="8461375" cy="4648200"/>
          </a:xfrm>
        </p:spPr>
        <p:txBody>
          <a:bodyPr/>
          <a:lstStyle/>
          <a:p>
            <a:pPr marL="684213" lvl="1" indent="-684213">
              <a:lnSpc>
                <a:spcPct val="90000"/>
              </a:lnSpc>
              <a:buNone/>
            </a:pPr>
            <a:r>
              <a:rPr lang="en-US" altLang="en-US" sz="2400" dirty="0"/>
              <a:t>	sub $s5, $s6, $s7</a:t>
            </a:r>
          </a:p>
          <a:p>
            <a:pPr marL="684213" lvl="1" indent="-684213">
              <a:lnSpc>
                <a:spcPct val="90000"/>
              </a:lnSpc>
              <a:buNone/>
            </a:pPr>
            <a:r>
              <a:rPr lang="en-US" altLang="en-US" sz="2400" dirty="0"/>
              <a:t>	nor $s1, $s2, $s3</a:t>
            </a:r>
          </a:p>
          <a:p>
            <a:pPr marL="684213" lvl="1" indent="-684213">
              <a:lnSpc>
                <a:spcPct val="90000"/>
              </a:lnSpc>
              <a:buNone/>
            </a:pPr>
            <a:r>
              <a:rPr lang="en-US" altLang="en-US" sz="2400" dirty="0"/>
              <a:t>	</a:t>
            </a:r>
            <a:r>
              <a:rPr lang="en-US" altLang="en-US" sz="2400" dirty="0" err="1"/>
              <a:t>beq</a:t>
            </a:r>
            <a:r>
              <a:rPr lang="en-US" altLang="en-US" sz="2400" dirty="0"/>
              <a:t> $s1, $s4, T1</a:t>
            </a:r>
          </a:p>
          <a:p>
            <a:pPr marL="684213" lvl="1" indent="-684213">
              <a:lnSpc>
                <a:spcPct val="90000"/>
              </a:lnSpc>
              <a:buNone/>
            </a:pPr>
            <a:r>
              <a:rPr lang="en-US" altLang="en-US" sz="2400" dirty="0"/>
              <a:t>	</a:t>
            </a:r>
            <a:r>
              <a:rPr lang="en-US" altLang="en-US" sz="2400" b="1" dirty="0">
                <a:solidFill>
                  <a:schemeClr val="accent6">
                    <a:lumMod val="75000"/>
                  </a:schemeClr>
                </a:solidFill>
              </a:rPr>
              <a:t>or $s4, $s4, $s7</a:t>
            </a:r>
            <a:r>
              <a:rPr lang="en-US" altLang="en-US" sz="2400" dirty="0"/>
              <a:t>		</a:t>
            </a:r>
            <a:r>
              <a:rPr lang="en-US" altLang="en-US" sz="2400" b="1" dirty="0">
                <a:solidFill>
                  <a:schemeClr val="accent6">
                    <a:lumMod val="75000"/>
                  </a:schemeClr>
                </a:solidFill>
              </a:rPr>
              <a:t># branch delay slot – legal?</a:t>
            </a:r>
          </a:p>
          <a:p>
            <a:pPr marL="684213" lvl="1" indent="-684213">
              <a:lnSpc>
                <a:spcPct val="90000"/>
              </a:lnSpc>
              <a:buNone/>
            </a:pPr>
            <a:r>
              <a:rPr lang="en-US" altLang="en-US" sz="2400" dirty="0"/>
              <a:t>	add $s4, $s5, $s6 	 </a:t>
            </a:r>
          </a:p>
          <a:p>
            <a:pPr marL="684213" lvl="1" indent="-684213">
              <a:lnSpc>
                <a:spcPct val="90000"/>
              </a:lnSpc>
              <a:buNone/>
            </a:pPr>
            <a:r>
              <a:rPr lang="en-US" altLang="en-US" sz="2400" dirty="0"/>
              <a:t>	j T2</a:t>
            </a:r>
          </a:p>
          <a:p>
            <a:pPr marL="684213" lvl="1" indent="-684213">
              <a:lnSpc>
                <a:spcPct val="90000"/>
              </a:lnSpc>
              <a:buNone/>
            </a:pPr>
            <a:r>
              <a:rPr lang="en-US" altLang="en-US" sz="2400" dirty="0"/>
              <a:t>	…</a:t>
            </a:r>
          </a:p>
          <a:p>
            <a:pPr marL="684213" lvl="1" indent="-684213">
              <a:lnSpc>
                <a:spcPct val="90000"/>
              </a:lnSpc>
              <a:buNone/>
            </a:pPr>
            <a:r>
              <a:rPr lang="en-US" altLang="en-US" sz="2400" dirty="0"/>
              <a:t>T1:	</a:t>
            </a:r>
            <a:r>
              <a:rPr lang="en-US" altLang="en-US" sz="2400" strike="sngStrike" dirty="0"/>
              <a:t>or $s4, $s4, $s7</a:t>
            </a:r>
          </a:p>
          <a:p>
            <a:pPr marL="684213" lvl="1" indent="-684213">
              <a:lnSpc>
                <a:spcPct val="90000"/>
              </a:lnSpc>
              <a:buNone/>
            </a:pPr>
            <a:r>
              <a:rPr lang="en-US" altLang="en-US" sz="2400" dirty="0"/>
              <a:t>	</a:t>
            </a:r>
            <a:r>
              <a:rPr lang="en-US" altLang="en-US" sz="2400" dirty="0" err="1"/>
              <a:t>slt</a:t>
            </a:r>
            <a:r>
              <a:rPr lang="en-US" altLang="en-US" sz="2400" dirty="0"/>
              <a:t> $s2, $s4, $s6</a:t>
            </a:r>
          </a:p>
          <a:p>
            <a:pPr marL="684213" lvl="1" indent="-684213">
              <a:lnSpc>
                <a:spcPct val="90000"/>
              </a:lnSpc>
              <a:buNone/>
            </a:pPr>
            <a:r>
              <a:rPr lang="en-US" altLang="en-US" sz="2400" dirty="0"/>
              <a:t>T2:	and $s2, $s2, $s3</a:t>
            </a:r>
          </a:p>
        </p:txBody>
      </p:sp>
      <p:sp>
        <p:nvSpPr>
          <p:cNvPr id="45061"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78782E18-9ABC-41E9-BAD3-86F8EB4EABA0}" type="slidenum">
              <a:rPr lang="en-US" altLang="en-US"/>
              <a:pPr lvl="1" eaLnBrk="1" hangingPunct="1"/>
              <a:t>31</a:t>
            </a:fld>
            <a:endParaRPr lang="en-US" altLang="en-US"/>
          </a:p>
        </p:txBody>
      </p:sp>
      <p:sp>
        <p:nvSpPr>
          <p:cNvPr id="5" name="TextBox 4">
            <a:extLst>
              <a:ext uri="{FF2B5EF4-FFF2-40B4-BE49-F238E27FC236}">
                <a16:creationId xmlns:a16="http://schemas.microsoft.com/office/drawing/2014/main" id="{99D2054C-37F2-4BE8-85DC-18F263C7B2FD}"/>
              </a:ext>
            </a:extLst>
          </p:cNvPr>
          <p:cNvSpPr txBox="1"/>
          <p:nvPr>
            <p:custDataLst>
              <p:tags r:id="rId5"/>
            </p:custDataLst>
          </p:nvPr>
        </p:nvSpPr>
        <p:spPr>
          <a:xfrm>
            <a:off x="7467600" y="3048000"/>
            <a:ext cx="1501951" cy="461665"/>
          </a:xfrm>
          <a:prstGeom prst="rect">
            <a:avLst/>
          </a:prstGeom>
          <a:noFill/>
        </p:spPr>
        <p:txBody>
          <a:bodyPr wrap="square" rtlCol="0">
            <a:spAutoFit/>
          </a:bodyPr>
          <a:lstStyle/>
          <a:p>
            <a:pPr algn="ctr"/>
            <a:r>
              <a:rPr lang="en-US" sz="2400" b="1" dirty="0">
                <a:solidFill>
                  <a:schemeClr val="accent6">
                    <a:lumMod val="75000"/>
                  </a:schemeClr>
                </a:solidFill>
                <a:latin typeface="Calibri" panose="020F0502020204030204" pitchFamily="34" charset="0"/>
                <a:cs typeface="Calibri" panose="020F0502020204030204" pitchFamily="34" charset="0"/>
              </a:rPr>
              <a:t>yes</a:t>
            </a:r>
          </a:p>
        </p:txBody>
      </p:sp>
      <p:sp>
        <p:nvSpPr>
          <p:cNvPr id="6" name="Rectangle 3">
            <a:extLst>
              <a:ext uri="{FF2B5EF4-FFF2-40B4-BE49-F238E27FC236}">
                <a16:creationId xmlns:a16="http://schemas.microsoft.com/office/drawing/2014/main" id="{6FD0BE2F-2B14-46AF-A607-0F39844A24E6}"/>
              </a:ext>
            </a:extLst>
          </p:cNvPr>
          <p:cNvSpPr txBox="1">
            <a:spLocks noChangeArrowheads="1"/>
          </p:cNvSpPr>
          <p:nvPr>
            <p:custDataLst>
              <p:tags r:id="rId6"/>
            </p:custDataLst>
          </p:nvPr>
        </p:nvSpPr>
        <p:spPr bwMode="auto">
          <a:xfrm>
            <a:off x="457200" y="12954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800" dirty="0"/>
              <a:t>Ignore exceptions</a:t>
            </a:r>
          </a:p>
        </p:txBody>
      </p:sp>
    </p:spTree>
    <p:custDataLst>
      <p:tags r:id="rId1"/>
    </p:custDataLst>
    <p:extLst>
      <p:ext uri="{BB962C8B-B14F-4D97-AF65-F5344CB8AC3E}">
        <p14:creationId xmlns:p14="http://schemas.microsoft.com/office/powerpoint/2010/main" val="1589299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PERSISTENCEDATA" val="MMPROD_UIPERSISTENCEDATA"/>
  <p:tag name="MMPROD_UIDATA" val="&lt;database version=&quot;11.0&quot;&gt;&lt;object type=&quot;1&quot; unique_id=&quot;10001&quot;&gt;&lt;property id=&quot;20141&quot; value=&quot;ECE/CS 552 - Control Hazards and Exceptions&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f2019-ControlHazards&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10002&quot;&gt;&lt;object type=&quot;3&quot; unique_id=&quot;16988&quot;&gt;&lt;property id=&quot;20148&quot; value=&quot;5&quot;/&gt;&lt;property id=&quot;20300&quot; value=&quot;Slide 1 - &amp;quot;ECE/CS 552: Control Hazards and Exceptions&amp;quot;&quot;/&gt;&lt;property id=&quot;20307&quot; value=&quot;495&quot;/&gt;&lt;property id=&quot;20309&quot; value=&quot;-1&quot;/&gt;&lt;/object&gt;&lt;object type=&quot;3&quot; unique_id=&quot;149876&quot;&gt;&lt;property id=&quot;20148&quot; value=&quot;5&quot;/&gt;&lt;property id=&quot;20300&quot; value=&quot;Slide 27 - &amp;quot;Exercise – Branch Delay Slot&amp;quot;&quot;/&gt;&lt;property id=&quot;20307&quot; value=&quot;626&quot;/&gt;&lt;property id=&quot;20309&quot; value=&quot;-1&quot;/&gt;&lt;/object&gt;&lt;object type=&quot;3&quot; unique_id=&quot;149877&quot;&gt;&lt;property id=&quot;20148&quot; value=&quot;5&quot;/&gt;&lt;property id=&quot;20300&quot; value=&quot;Slide 28 - &amp;quot;Exercise – Branch Delay Slot&amp;quot;&quot;/&gt;&lt;property id=&quot;20307&quot; value=&quot;629&quot;/&gt;&lt;property id=&quot;20309&quot; value=&quot;-1&quot;/&gt;&lt;/object&gt;&lt;object type=&quot;3&quot; unique_id=&quot;149879&quot;&gt;&lt;property id=&quot;20148&quot; value=&quot;5&quot;/&gt;&lt;property id=&quot;20300&quot; value=&quot;Slide 29 - &amp;quot;Exercise – Branch Delay Slot&amp;quot;&quot;/&gt;&lt;property id=&quot;20307&quot; value=&quot;631&quot;/&gt;&lt;property id=&quot;20309&quot; value=&quot;-1&quot;/&gt;&lt;/object&gt;&lt;object type=&quot;3&quot; unique_id=&quot;149881&quot;&gt;&lt;property id=&quot;20148&quot; value=&quot;5&quot;/&gt;&lt;property id=&quot;20300&quot; value=&quot;Slide 30 - &amp;quot;Exercise – Branch Delay Slot&amp;quot;&quot;/&gt;&lt;property id=&quot;20307&quot; value=&quot;633&quot;/&gt;&lt;property id=&quot;20309&quot; value=&quot;-1&quot;/&gt;&lt;/object&gt;&lt;object type=&quot;3&quot; unique_id=&quot;149883&quot;&gt;&lt;property id=&quot;20148&quot; value=&quot;5&quot;/&gt;&lt;property id=&quot;20300&quot; value=&quot;Slide 31 - &amp;quot;Exercise – Branch Delay Slot&amp;quot;&quot;/&gt;&lt;property id=&quot;20307&quot; value=&quot;635&quot;/&gt;&lt;property id=&quot;20309&quot; value=&quot;-1&quot;/&gt;&lt;/object&gt;&lt;object type=&quot;3&quot; unique_id=&quot;170693&quot;&gt;&lt;property id=&quot;20148&quot; value=&quot;5&quot;/&gt;&lt;property id=&quot;20300&quot; value=&quot;Slide 2 - &amp;quot;Pipeline Hazards&amp;quot;&quot;/&gt;&lt;property id=&quot;20307&quot; value=&quot;640&quot;/&gt;&lt;property id=&quot;20309&quot; value=&quot;-1&quot;/&gt;&lt;/object&gt;&lt;object type=&quot;3&quot; unique_id=&quot;170891&quot;&gt;&lt;property id=&quot;20148&quot; value=&quot;5&quot;/&gt;&lt;property id=&quot;20300&quot; value=&quot;Slide 3 - &amp;quot;Program Control Dependences&amp;quot;&quot;/&gt;&lt;property id=&quot;20307&quot; value=&quot;641&quot;/&gt;&lt;property id=&quot;20309&quot; value=&quot;-1&quot;/&gt;&lt;/object&gt;&lt;object type=&quot;3&quot; unique_id=&quot;171134&quot;&gt;&lt;property id=&quot;20148&quot; value=&quot;5&quot;/&gt;&lt;property id=&quot;20300&quot; value=&quot;Slide 4 - &amp;quot;Program Control Dependences&amp;quot;&quot;/&gt;&lt;property id=&quot;20307&quot; value=&quot;642&quot;/&gt;&lt;property id=&quot;20309&quot; value=&quot;-1&quot;/&gt;&lt;/object&gt;&lt;object type=&quot;3&quot; unique_id=&quot;171339&quot;&gt;&lt;property id=&quot;20148&quot; value=&quot;5&quot;/&gt;&lt;property id=&quot;20300&quot; value=&quot;Slide 5 - &amp;quot;Program Control Dependences&amp;quot;&quot;/&gt;&lt;property id=&quot;20307&quot; value=&quot;643&quot;/&gt;&lt;property id=&quot;20309&quot; value=&quot;-1&quot;/&gt;&lt;/object&gt;&lt;object type=&quot;3&quot; unique_id=&quot;171600&quot;&gt;&lt;property id=&quot;20148&quot; value=&quot;5&quot;/&gt;&lt;property id=&quot;20300&quot; value=&quot;Slide 6 - &amp;quot;Pipeline Control Hazards&amp;quot;&quot;/&gt;&lt;property id=&quot;20307&quot; value=&quot;644&quot;/&gt;&lt;property id=&quot;20309&quot; value=&quot;-1&quot;/&gt;&lt;/object&gt;&lt;object type=&quot;3&quot; unique_id=&quot;171912&quot;&gt;&lt;property id=&quot;20148&quot; value=&quot;5&quot;/&gt;&lt;property id=&quot;20300&quot; value=&quot;Slide 7 - &amp;quot;Pipeline Control Hazards&amp;quot;&quot;/&gt;&lt;property id=&quot;20307&quot; value=&quot;645&quot;/&gt;&lt;property id=&quot;20309&quot; value=&quot;-1&quot;/&gt;&lt;/object&gt;&lt;object type=&quot;3&quot; unique_id=&quot;173081&quot;&gt;&lt;property id=&quot;20148&quot; value=&quot;5&quot;/&gt;&lt;property id=&quot;20300&quot; value=&quot;Slide 8 - &amp;quot;Resolving Control Hazards&amp;quot;&quot;/&gt;&lt;property id=&quot;20307&quot; value=&quot;646&quot;/&gt;&lt;property id=&quot;20309&quot; value=&quot;-1&quot;/&gt;&lt;/object&gt;&lt;object type=&quot;3&quot; unique_id=&quot;173676&quot;&gt;&lt;property id=&quot;20148&quot; value=&quot;5&quot;/&gt;&lt;property id=&quot;20300&quot; value=&quot;Slide 9 - &amp;quot;Resolving Control Hazards&amp;quot;&quot;/&gt;&lt;property id=&quot;20307&quot; value=&quot;647&quot;/&gt;&lt;property id=&quot;20309&quot; value=&quot;-1&quot;/&gt;&lt;/object&gt;&lt;object type=&quot;3&quot; unique_id=&quot;173952&quot;&gt;&lt;property id=&quot;20148&quot; value=&quot;5&quot;/&gt;&lt;property id=&quot;20300&quot; value=&quot;Slide 10 - &amp;quot;Resolving Control Hazards&amp;quot;&quot;/&gt;&lt;property id=&quot;20307&quot; value=&quot;648&quot;/&gt;&lt;property id=&quot;20309&quot; value=&quot;-1&quot;/&gt;&lt;/object&gt;&lt;object type=&quot;3&quot; unique_id=&quot;174793&quot;&gt;&lt;property id=&quot;20148&quot; value=&quot;5&quot;/&gt;&lt;property id=&quot;20300&quot; value=&quot;Slide 12 - &amp;quot;Resolving Control Hazards&amp;quot;&quot;/&gt;&lt;property id=&quot;20307&quot; value=&quot;649&quot;/&gt;&lt;property id=&quot;20309&quot; value=&quot;-1&quot;/&gt;&lt;/object&gt;&lt;object type=&quot;3&quot; unique_id=&quot;175635&quot;&gt;&lt;property id=&quot;20148&quot; value=&quot;5&quot;/&gt;&lt;property id=&quot;20300&quot; value=&quot;Slide 11 - &amp;quot;Resolving Control Hazards&amp;quot;&quot;/&gt;&lt;property id=&quot;20307&quot; value=&quot;650&quot;/&gt;&lt;property id=&quot;20309&quot; value=&quot;-1&quot;/&gt;&lt;/object&gt;&lt;object type=&quot;3&quot; unique_id=&quot;176082&quot;&gt;&lt;property id=&quot;20148&quot; value=&quot;5&quot;/&gt;&lt;property id=&quot;20300&quot; value=&quot;Slide 13 - &amp;quot;Branch Delay Slots&amp;quot;&quot;/&gt;&lt;property id=&quot;20307&quot; value=&quot;651&quot;/&gt;&lt;property id=&quot;20309&quot; value=&quot;-1&quot;/&gt;&lt;/object&gt;&lt;object type=&quot;3&quot; unique_id=&quot;176468&quot;&gt;&lt;property id=&quot;20148&quot; value=&quot;5&quot;/&gt;&lt;property id=&quot;20300&quot; value=&quot;Slide 14 - &amp;quot;Branch Delay Slots&amp;quot;&quot;/&gt;&lt;property id=&quot;20307&quot; value=&quot;652&quot;/&gt;&lt;property id=&quot;20309&quot; value=&quot;-1&quot;/&gt;&lt;/object&gt;&lt;object type=&quot;3&quot; unique_id=&quot;176649&quot;&gt;&lt;property id=&quot;20148&quot; value=&quot;5&quot;/&gt;&lt;property id=&quot;20300&quot; value=&quot;Slide 15 - &amp;quot;Branch Delay Slots&amp;quot;&quot;/&gt;&lt;property id=&quot;20307&quot; value=&quot;653&quot;/&gt;&lt;property id=&quot;20309&quot; value=&quot;-1&quot;/&gt;&lt;/object&gt;&lt;object type=&quot;3&quot; unique_id=&quot;177234&quot;&gt;&lt;property id=&quot;20148&quot; value=&quot;5&quot;/&gt;&lt;property id=&quot;20300&quot; value=&quot;Slide 16 - &amp;quot;Branch Prediction&amp;quot;&quot;/&gt;&lt;property id=&quot;20307&quot; value=&quot;654&quot;/&gt;&lt;property id=&quot;20309&quot; value=&quot;-1&quot;/&gt;&lt;/object&gt;&lt;object type=&quot;3&quot; unique_id=&quot;177463&quot;&gt;&lt;property id=&quot;20148&quot; value=&quot;5&quot;/&gt;&lt;property id=&quot;20300&quot; value=&quot;Slide 18 - &amp;quot;Branch Prediction&amp;quot;&quot;/&gt;&lt;property id=&quot;20307&quot; value=&quot;655&quot;/&gt;&lt;property id=&quot;20309&quot; value=&quot;-1&quot;/&gt;&lt;/object&gt;&lt;object type=&quot;3&quot; unique_id=&quot;178361&quot;&gt;&lt;property id=&quot;20148&quot; value=&quot;5&quot;/&gt;&lt;property id=&quot;20300&quot; value=&quot;Slide 20 - &amp;quot;Branch Prediction&amp;quot;&quot;/&gt;&lt;property id=&quot;20307&quot; value=&quot;656&quot;/&gt;&lt;property id=&quot;20309&quot; value=&quot;-1&quot;/&gt;&lt;/object&gt;&lt;object type=&quot;3&quot; unique_id=&quot;178722&quot;&gt;&lt;property id=&quot;20148&quot; value=&quot;5&quot;/&gt;&lt;property id=&quot;20300&quot; value=&quot;Slide 17 - &amp;quot;Branch Prediction&amp;quot;&quot;/&gt;&lt;property id=&quot;20307&quot; value=&quot;657&quot;/&gt;&lt;property id=&quot;20309&quot; value=&quot;-1&quot;/&gt;&lt;/object&gt;&lt;object type=&quot;3&quot; unique_id=&quot;178928&quot;&gt;&lt;property id=&quot;20148&quot; value=&quot;5&quot;/&gt;&lt;property id=&quot;20300&quot; value=&quot;Slide 19 - &amp;quot;Branch Prediction&amp;quot;&quot;/&gt;&lt;property id=&quot;20307&quot; value=&quot;658&quot;/&gt;&lt;property id=&quot;20309&quot; value=&quot;-1&quot;/&gt;&lt;/object&gt;&lt;object type=&quot;3&quot; unique_id=&quot;179559&quot;&gt;&lt;property id=&quot;20148&quot; value=&quot;5&quot;/&gt;&lt;property id=&quot;20300&quot; value=&quot;Slide 21 - &amp;quot;Branch Prediction&amp;quot;&quot;/&gt;&lt;property id=&quot;20307&quot; value=&quot;659&quot;/&gt;&lt;property id=&quot;20309&quot; value=&quot;-1&quot;/&gt;&lt;/object&gt;&lt;object type=&quot;3&quot; unique_id=&quot;180079&quot;&gt;&lt;property id=&quot;20148&quot; value=&quot;5&quot;/&gt;&lt;property id=&quot;20300&quot; value=&quot;Slide 22 - &amp;quot;Exceptions&amp;quot;&quot;/&gt;&lt;property id=&quot;20307&quot; value=&quot;660&quot;/&gt;&lt;property id=&quot;20309&quot; value=&quot;-1&quot;/&gt;&lt;/object&gt;&lt;object type=&quot;3&quot; unique_id=&quot;180081&quot;&gt;&lt;property id=&quot;20148&quot; value=&quot;5&quot;/&gt;&lt;property id=&quot;20300&quot; value=&quot;Slide 23 - &amp;quot;Exceptions&amp;quot;&quot;/&gt;&lt;property id=&quot;20307&quot; value=&quot;662&quot;/&gt;&lt;property id=&quot;20309&quot; value=&quot;-1&quot;/&gt;&lt;/object&gt;&lt;object type=&quot;3&quot; unique_id=&quot;180082&quot;&gt;&lt;property id=&quot;20148&quot; value=&quot;5&quot;/&gt;&lt;property id=&quot;20300&quot; value=&quot;Slide 24 - &amp;quot;Exceptions – Hardware&amp;quot;&quot;/&gt;&lt;property id=&quot;20307&quot; value=&quot;663&quot;/&gt;&lt;property id=&quot;20309&quot; value=&quot;-1&quot;/&gt;&lt;/object&gt;&lt;object type=&quot;3&quot; unique_id=&quot;181273&quot;&gt;&lt;property id=&quot;20148&quot; value=&quot;5&quot;/&gt;&lt;property id=&quot;20300&quot; value=&quot;Slide 25 - &amp;quot;Exceptions – Hardware&amp;quot;&quot;/&gt;&lt;property id=&quot;20307&quot; value=&quot;664&quot;/&gt;&lt;property id=&quot;20309&quot; value=&quot;-1&quot;/&gt;&lt;/object&gt;&lt;object type=&quot;3&quot; unique_id=&quot;182045&quot;&gt;&lt;property id=&quot;20148&quot; value=&quot;5&quot;/&gt;&lt;property id=&quot;20300&quot; value=&quot;Slide 26 - &amp;quot;Exercise – Branch Prediction&amp;quot;&quot;/&gt;&lt;property id=&quot;20307&quot; value=&quot;665&quot;/&gt;&lt;property id=&quot;20309&quot; value=&quot;-1&quot;/&gt;&lt;/object&gt;&lt;/object&gt;&lt;object type=&quot;8&quot; unique_id=&quot;10130&quot;&gt;&lt;/object&gt;&lt;object type=&quot;10&quot; unique_id=&quot;182113&quot;&gt;&lt;object type=&quot;11&quot; unique_id=&quot;182114&quot;&gt;&lt;property id=&quot;20180&quot; value=&quot;0&quot;/&gt;&lt;property id=&quot;20181&quot; value=&quot;1&quot;/&gt;&lt;property id=&quot;20183&quot; value=&quot;1&quot;/&gt;&lt;/object&gt;&lt;object type=&quot;12&quot; unique_id=&quot;182116&quot;&gt;&lt;/object&gt;&lt;/object&gt;&lt;object type=&quot;4&quot; unique_id=&quot;182115&quot;&gt;&lt;/object&gt;&lt;/object&gt;&lt;/database&gt;"/>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786028020,C:\Users\sanmi\GoogleDrive\UWMdrive\Courses\ECE552\ece552-lec10_ControlHazards_pptx\Media.ppcx"/>
</p:tagLst>
</file>

<file path=ppt/tags/tag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DC449A2-60C0-4936-983B-BDD339AFECE6}_1.png&quot;/&gt;&lt;left val=&quot;35&quot;/&gt;&lt;top val=&quot;197&quot;/&gt;&lt;width val=&quot;654&quot;/&gt;&lt;height val=&quot;146&quot;/&gt;&lt;hasText val=&quot;1&quot;/&gt;&lt;/Image&gt;&lt;/ThreeDShapeInfo&gt;"/>
  <p:tag name="PRESENTER_SHAPETEXTINFO" val="&lt;ShapeTextInfo&gt;&lt;TableIndex row=&quot;-1&quot; col=&quot;-1&quot;&gt;&lt;linesCount val=&quot;2&quot;/&gt;&lt;lineCharCount val=&quot;32&quot;/&gt;&lt;lineCharCount val=&quot;10&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4A2F4D09-A6DE-42C0-9168-4D70047DFC3E}_1.png&quot;/&gt;&lt;left val=&quot;103&quot;/&gt;&lt;top val=&quot;315&quot;/&gt;&lt;width val=&quot;512&quot;/&gt;&lt;height val=&quot;146&quot;/&gt;&lt;hasText val=&quot;1&quot;/&gt;&lt;/Image&gt;&lt;/ThreeDShapeInfo&gt;"/>
  <p:tag name="PRESENTER_SHAPETEXTINFO" val="&lt;ShapeTextInfo&gt;&lt;TableIndex row=&quot;-1&quot; col=&quot;-1&quot;&gt;&lt;linesCount val=&quot;5&quot;/&gt;&lt;lineCharCount val=&quot;24&quot;/&gt;&lt;lineCharCount val=&quot;1&quot;/&gt;&lt;lineCharCount val=&quot;55&quot;/&gt;&lt;lineCharCount val=&quot;33&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786028020,C:\Users\sanmi\GoogleDrive\UWMdrive\Courses\ECE552\ece552-lec10_ControlHazards_pptx\Media.ppcx"/>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466250C-6A51-4251-A5C4-13D0E832536A}_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803EADE-D545-46E1-AD06-8E6CC5828638}_2.png&quot;/&gt;&lt;left val=&quot;24&quot;/&gt;&lt;top val=&quot;112&quot;/&gt;&lt;width val=&quot;659&quot;/&gt;&lt;height val=&quot;370&quot;/&gt;&lt;hasText val=&quot;1&quot;/&gt;&lt;/Image&gt;&lt;/ThreeDShapeInfo&gt;"/>
  <p:tag name="PRESENTER_SHAPETEXTINFO" val="&lt;ShapeTextInfo&gt;&lt;TableIndex row=&quot;-1&quot; col=&quot;-1&quot;&gt;&lt;linesCount val=&quot;7&quot;/&gt;&lt;lineCharCount val=&quot;10&quot;/&gt;&lt;lineCharCount val=&quot;28&quot;/&gt;&lt;lineCharCount val=&quot;25&quot;/&gt;&lt;lineCharCount val=&quot;8&quot;/&gt;&lt;lineCharCount val=&quot;19&quot;/&gt;&lt;lineCharCount val=&quot;18&quot;/&gt;&lt;lineCharCount val=&quot;10&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B56BE50-1E8F-4671-BE61-30BE2AF8E2F0}_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786028020,C:\Users\sanmi\GoogleDrive\UWMdrive\Courses\ECE552\ece552-lec10_ControlHazards_pptx\Media.ppcx"/>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23A59DC-21F1-4A93-B734-F5D4870D1B41}_3.png&quot;/&gt;&lt;left val=&quot;29&quot;/&gt;&lt;top val=&quot;21&quot;/&gt;&lt;width val=&quot;601&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C5A0B11-AD92-4187-9D1D-85F6B9DC034D}_3.png&quot;/&gt;&lt;left val=&quot;24&quot;/&gt;&lt;top val=&quot;119&quot;/&gt;&lt;width val=&quot;664&quot;/&gt;&lt;height val=&quot;363&quot;/&gt;&lt;hasText val=&quot;1&quot;/&gt;&lt;/Image&gt;&lt;/ThreeDShapeInfo&gt;"/>
  <p:tag name="PRESENTER_SHAPETEXTINFO" val="&lt;ShapeTextInfo&gt;&lt;TableIndex row=&quot;-1&quot; col=&quot;-1&quot;&gt;&lt;linesCount val=&quot;8&quot;/&gt;&lt;lineCharCount val=&quot;44&quot;/&gt;&lt;lineCharCount val=&quot;45&quot;/&gt;&lt;lineCharCount val=&quot;34&quot;/&gt;&lt;lineCharCount val=&quot;29&quot;/&gt;&lt;lineCharCount val=&quot;54&quot;/&gt;&lt;lineCharCount val=&quot;11&quot;/&gt;&lt;lineCharCount val=&quot;56&quot;/&gt;&lt;lineCharCount val=&quot;35&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00C75D5-661C-4BFC-99C6-70B53EFB39BE}_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786028020,C:\Users\sanmi\GoogleDrive\UWMdrive\Courses\ECE552\ece552-lec10_ControlHazards_pptx\Media.ppcx"/>
  <p:tag name="TIMING" val="|7.2|29.3"/>
</p:tagLst>
</file>

<file path=ppt/tags/tag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BFE2649-9818-44D9-ACAE-CF91AECC512F}_4.png&quot;/&gt;&lt;left val=&quot;29&quot;/&gt;&lt;top val=&quot;21&quot;/&gt;&lt;width val=&quot;601&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8F5BCB63-A3C1-4021-807A-FD893250D3DB}_1.png_crop.png&quot;/&gt;&lt;left val=&quot;62&quot;/&gt;&lt;top val=&quot;328&quot;/&gt;&lt;width val=&quot;456&quot;/&gt;&lt;height val=&quot;27&quot;/&gt;&lt;hasText val=&quot;1&quot;/&gt;&lt;paraId val=&quot;1&quot;/&gt;&lt;/Image&gt;&lt;Image&gt;&lt;filename val=&quot;C:\Users\sanmi\Documents\My Adobe Presentations\ece552f2019-ControlHazards\data\asimages\{832EB2EF-5319-4FD1-A303-C10928882190}_1.png_crop.png&quot;/&gt;&lt;left val=&quot;96&quot;/&gt;&lt;top val=&quot;366&quot;/&gt;&lt;width val=&quot;220&quot;/&gt;&lt;height val=&quot;21&quot;/&gt;&lt;hasText val=&quot;1&quot;/&gt;&lt;paraId val=&quot;2&quot;/&gt;&lt;/Image&gt;&lt;Image&gt;&lt;filename val=&quot;C:\Users\sanmi\Documents\My Adobe Presentations\ece552f2019-ControlHazards\data\asimages\{84A0960A-0459-446F-99A5-1A0E2847EAF8}_1.png_crop.png&quot;/&gt;&lt;left val=&quot;96&quot;/&gt;&lt;top val=&quot;400&quot;/&gt;&lt;width val=&quot;572&quot;/&gt;&lt;height val=&quot;21&quot;/&gt;&lt;hasText val=&quot;1&quot;/&gt;&lt;paraId val=&quot;3&quot;/&gt;&lt;/Image&gt;&lt;/TextEffect&gt;"/>
  <p:tag name="PRESENTER_SHAPETEXTINFO" val="&lt;ShapeTextInfo&gt;&lt;TableIndex row=&quot;-1&quot; col=&quot;-1&quot;&gt;&lt;linesCount val=&quot;3&quot;/&gt;&lt;lineCharCount val=&quot;36&quot;/&gt;&lt;lineCharCount val=&quot;13&quot;/&gt;&lt;lineCharCount val=&quot;33&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A10BA8E-C912-4C3D-B1C3-D9BD7C3CB0AA}_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4222A40F-8ED2-41C2-B68A-CE2DE2F5C371}_4.png&quot;/&gt;&lt;left val=&quot;144&quot;/&gt;&lt;top val=&quot;124&quot;/&gt;&lt;width val=&quot;431&quot;/&gt;&lt;height val=&quot;166&quot;/&gt;&lt;hasText val=&quot;1&quot;/&gt;&lt;/Image&gt;&lt;/ThreeDShapeInfo&gt;"/>
  <p:tag name="PRESENTER_SHAPETEXTINFO" val="&lt;ShapeTextInfo&gt;&lt;TableIndex row=&quot;1&quot; col=&quot;1&quot;&gt;&lt;linesCount val=&quot;1&quot;/&gt;&lt;lineCharCount val=&quot;3&quot;/&gt;&lt;/TableIndex&gt;&lt;TableIndex row=&quot;1&quot; col=&quot;2&quot;&gt;&lt;linesCount val=&quot;1&quot;/&gt;&lt;lineCharCount val=&quot;3&quot;/&gt;&lt;/TableIndex&gt;&lt;TableIndex row=&quot;1&quot; col=&quot;3&quot;&gt;&lt;linesCount val=&quot;1&quot;/&gt;&lt;lineCharCount val=&quot;12&quot;/&gt;&lt;/TableIndex&gt;&lt;TableIndex row=&quot;2&quot; col=&quot;1&quot;&gt;&lt;linesCount val=&quot;1&quot;/&gt;&lt;lineCharCount val=&quot;3&quot;/&gt;&lt;/TableIndex&gt;&lt;TableIndex row=&quot;2&quot; col=&quot;2&quot;&gt;&lt;linesCount val=&quot;1&quot;/&gt;&lt;lineCharCount val=&quot;3&quot;/&gt;&lt;/TableIndex&gt;&lt;TableIndex row=&quot;2&quot; col=&quot;3&quot;&gt;&lt;linesCount val=&quot;1&quot;/&gt;&lt;lineCharCount val=&quot;1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11&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11&quot;/&gt;&lt;/TableIndex&gt;&lt;TableIndex row=&quot;5&quot; col=&quot;1&quot;&gt;&lt;linesCount val=&quot;1&quot;/&gt;&lt;lineCharCount val=&quot;3&quot;/&gt;&lt;/TableIndex&gt;&lt;TableIndex row=&quot;5&quot; col=&quot;2&quot;&gt;&lt;linesCount val=&quot;1&quot;/&gt;&lt;lineCharCount val=&quot;3&quot;/&gt;&lt;/TableIndex&gt;&lt;TableIndex row=&quot;5&quot; col=&quot;3&quot;&gt;&lt;linesCount val=&quot;1&quot;/&gt;&lt;lineCharCount val=&quot;12&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786028020,C:\Users\sanmi\GoogleDrive\UWMdrive\Courses\ECE552\ece552-lec10_ControlHazards_pptx\Media.ppcx"/>
</p:tagLst>
</file>

<file path=ppt/tags/tag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8ADAB41-27AF-490C-8044-E13E8B2644B0}_5.png&quot;/&gt;&lt;left val=&quot;29&quot;/&gt;&lt;top val=&quot;21&quot;/&gt;&lt;width val=&quot;601&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2DC222B-3DC5-4C7E-A9A9-44B8CF570E7D}_5.png&quot;/&gt;&lt;left val=&quot;24&quot;/&gt;&lt;top val=&quot;119&quot;/&gt;&lt;width val=&quot;664&quot;/&gt;&lt;height val=&quot;363&quot;/&gt;&lt;hasText val=&quot;1&quot;/&gt;&lt;/Image&gt;&lt;/ThreeDShapeInfo&gt;"/>
  <p:tag name="PRESENTER_SHAPETEXTINFO" val="&lt;ShapeTextInfo&gt;&lt;TableIndex row=&quot;-1&quot; col=&quot;-1&quot;&gt;&lt;linesCount val=&quot;7&quot;/&gt;&lt;lineCharCount val=&quot;45&quot;/&gt;&lt;lineCharCount val=&quot;10&quot;/&gt;&lt;lineCharCount val=&quot;46&quot;/&gt;&lt;lineCharCount val=&quot;49&quot;/&gt;&lt;lineCharCount val=&quot;14&quot;/&gt;&lt;lineCharCount val=&quot;31&quot;/&gt;&lt;lineCharCount val=&quot;26&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8DC5E2E-19AC-4BD5-923A-10BA1D77516D}_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786028020,C:\Users\sanmi\GoogleDrive\UWMdrive\Courses\ECE552\ece552-lec10_ControlHazards_pptx\Media.ppcx"/>
  <p:tag name="TIMING" val="|18.1"/>
</p:tagLst>
</file>

<file path=ppt/tags/tag37.xml><?xml version="1.0" encoding="utf-8"?>
<p:tagLst xmlns:a="http://schemas.openxmlformats.org/drawingml/2006/main" xmlns:r="http://schemas.openxmlformats.org/officeDocument/2006/relationships" xmlns:p="http://schemas.openxmlformats.org/presentationml/2006/main">
  <p:tag name="PRESENTER_SHAPEINFO" val="&lt;ThreeDShapeInfo&gt;&lt;uuid val=&quot;{5FA20A63-BE8B-4893-A977-36203BE2C6CB}&quot;/&gt;&lt;isInvalidForFieldText val=&quot;0&quot;/&gt;&lt;Image&gt;&lt;filename val=&quot;C:\Users\sanmi\Documents\My Adobe Presentations\ece552f2019-ControlHazards\data\asimages\{5FA20A63-BE8B-4893-A977-36203BE2C6CB}.png&quot;/&gt;&lt;left val=&quot;135&quot;/&gt;&lt;top val=&quot;223&quot;/&gt;&lt;width val=&quot;449&quot;/&gt;&lt;height val=&quot;317&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65B5877-F46D-45E3-83E2-D9230187657B}_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CB40E2BE-D02D-47E1-922A-D7113C4047DE}_1.png_crop.png&quot;/&gt;&lt;left val=&quot;44&quot;/&gt;&lt;top val=&quot;124&quot;/&gt;&lt;width val=&quot;661&quot;/&gt;&lt;height val=&quot;57&quot;/&gt;&lt;hasText val=&quot;1&quot;/&gt;&lt;paraId val=&quot;1&quot;/&gt;&lt;/Image&gt;&lt;Image&gt;&lt;filename val=&quot;C:\Users\sanmi\Documents\My Adobe Presentations\ece552f2019-ControlHazards\data\asimages\{2C115B6B-4AD9-485E-964B-5B001560432E}_1.png_crop.png&quot;/&gt;&lt;left val=&quot;78&quot;/&gt;&lt;top val=&quot;195&quot;/&gt;&lt;width val=&quot;609&quot;/&gt;&lt;height val=&quot;21&quot;/&gt;&lt;hasText val=&quot;1&quot;/&gt;&lt;paraId val=&quot;2&quot;/&gt;&lt;/Image&gt;&lt;/TextEffect&gt;"/>
  <p:tag name="PRESENTER_SHAPETEXTINFO" val="&lt;ShapeTextInfo&gt;&lt;TableIndex row=&quot;-1&quot; col=&quot;-1&quot;&gt;&lt;linesCount val=&quot;3&quot;/&gt;&lt;lineCharCount val=&quot;53&quot;/&gt;&lt;lineCharCount val=&quot;55&quot;/&gt;&lt;lineCharCount val=&quot;59&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418E28EA-C334-485D-A61F-993341ADF308}_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786028020,C:\Users\sanmi\GoogleDrive\UWMdrive\Courses\ECE552\ece552-lec10_ControlHazards_pptx\Media.ppcx"/>
</p:tagLst>
</file>

<file path=ppt/tags/tag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9D882CB-547E-4EBC-A8D0-CC47B27D6532}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9E38868-33AB-46BB-972F-44A01503A140}_7.png&quot;/&gt;&lt;left val=&quot;27&quot;/&gt;&lt;top val=&quot;108&quot;/&gt;&lt;width val=&quot;698&quot;/&gt;&lt;height val=&quot;149&quot;/&gt;&lt;hasText val=&quot;1&quot;/&gt;&lt;/Image&gt;&lt;/ThreeDShapeInfo&gt;"/>
  <p:tag name="PRESENTER_SHAPETEXTINFO" val="&lt;ShapeTextInfo&gt;&lt;TableIndex row=&quot;-1&quot; col=&quot;-1&quot;&gt;&lt;linesCount val=&quot;3&quot;/&gt;&lt;lineCharCount val=&quot;53&quot;/&gt;&lt;lineCharCount val=&quot;55&quot;/&gt;&lt;lineCharCount val=&quot;59&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AC279A2-C10F-4A6A-8DC5-1A4A68C23AF4}_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F1414FE-C838-45CE-8098-2DF012AF345E}_7.png&quot;/&gt;&lt;left val=&quot;53&quot;/&gt;&lt;top val=&quot;233&quot;/&gt;&lt;width val=&quot;529&quot;/&gt;&lt;height val=&quot;146&quot;/&gt;&lt;hasText val=&quot;1&quot;/&gt;&lt;/Image&gt;&lt;/ThreeDShapeInfo&gt;"/>
  <p:tag name="PRESENTER_SHAPETEXTINFO" val="&lt;ShapeTextInfo&gt;&lt;TableIndex row=&quot;-1&quot; col=&quot;-1&quot;&gt;&lt;linesCount val=&quot;4&quot;/&gt;&lt;lineCharCount val=&quot;21&quot;/&gt;&lt;lineCharCount val=&quot;15&quot;/&gt;&lt;lineCharCount val=&quot;18&quot;/&gt;&lt;lineCharCount val=&quot;17&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51002D8-02ED-4759-B405-73DD1422B644}_7.png&quot;/&gt;&lt;left val=&quot;63&quot;/&gt;&lt;top val=&quot;381&quot;/&gt;&lt;width val=&quot;559&quot;/&gt;&lt;height val=&quot;153&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1&quot;/&gt;&lt;lineCharCount val=&quot;2&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1&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1&quot;/&gt;&lt;lineCharCount val=&quot;1&quot;/&gt;&lt;/TableIndex&gt;&lt;TableIndex row=&quot;6&quot; col=&quot;8&quot;&gt;&lt;linesCount val=&quot;1&quot;/&gt;&lt;lineCharCount val=&quot;1&quot;/&gt;&lt;/TableIndex&gt;&lt;TableIndex row=&quot;6&quot; col=&quot;9&quot;&gt;&lt;linesCount val=&quot;1&quot;/&gt;&lt;lineCharCount val=&quot;1&quot;/&gt;&lt;/TableIndex&gt;&lt;TableIndex row=&quot;6&quot; col=&quot;10&quot;&gt;&lt;linesCount val=&quot;1&quot;/&gt;&lt;lineCharCount val=&quot;1&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242968E-5A2C-435F-8E1F-6FB33EF96978}_7.png&quot;/&gt;&lt;left val=&quot;377&quot;/&gt;&lt;top val=&quot;233&quot;/&gt;&lt;width val=&quot;307&quot;/&gt;&lt;height val=&quot;139&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786028020,C:\Users\sanmi\GoogleDrive\UWMdrive\Courses\ECE552\ece552-lec10_ControlHazards_pptx\Media.ppcx"/>
  <p:tag name="TIMING" val="|18.2"/>
</p:tagLst>
</file>

<file path=ppt/tags/tag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C42B759-EFEC-457F-8423-2F2CD310F40C}_8.png&quot;/&gt;&lt;left val=&quot;63&quot;/&gt;&lt;top val=&quot;381&quot;/&gt;&lt;width val=&quot;559&quot;/&gt;&lt;height val=&quot;153&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1&quot;/&gt;&lt;lineCharCount val=&quot;2&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1&quot;/&gt;&lt;/TableIndex&gt;&lt;TableIndex row=&quot;5&quot; col=&quot;7&quot;&gt;&lt;linesCount val=&quot;0&quot;/&gt;&lt;/TableIndex&gt;&lt;TableIndex row=&quot;5&quot; col=&quot;8&quot;&gt;&lt;linesCount val=&quot;0&quot;/&gt;&lt;/TableIndex&gt;&lt;TableIndex row=&quot;5&quot; col=&quot;9&quot;&gt;&lt;linesCount val=&quot;0&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TableIndex row=&quot;6&quot; col=&quot;1&quot;&gt;&lt;linesCount val=&quot;1&quot;/&gt;&lt;lineCharCount val=&quot;3&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1&quot;/&gt;&lt;lineCharCount val=&quot;1&quot;/&gt;&lt;/TableIndex&gt;&lt;TableIndex row=&quot;6&quot; col=&quot;7&quot;&gt;&lt;linesCount val=&quot;0&quot;/&gt;&lt;/TableIndex&gt;&lt;TableIndex row=&quot;6&quot; col=&quot;8&quot;&gt;&lt;linesCount val=&quot;0&quot;/&gt;&lt;/TableIndex&gt;&lt;TableIndex row=&quot;6&quot; col=&quot;9&quot;&gt;&lt;linesCount val=&quot;0&quot;/&gt;&lt;/TableIndex&gt;&lt;TableIndex row=&quot;6&quot; col=&quot;10&quot;&gt;&lt;linesCount val=&quot;0&quot;/&gt;&lt;/TableIndex&gt;&lt;TableIndex row=&quot;6&quot; col=&quot;11&quot;&gt;&lt;linesCount val=&quot;0&quot;/&gt;&lt;/TableIndex&gt;&lt;TableIndex row=&quot;6&quot; col=&quot;12&quot;&gt;&lt;linesCount val=&quot;0&quot;/&gt;&lt;/TableIndex&gt;&lt;TableIndex row=&quot;6&quot; col=&quot;13&quot;&gt;&lt;linesCount val=&quot;0&quot;/&gt;&lt;/TableIndex&gt;&lt;TableIndex row=&quot;6&quot; col=&quot;14&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9414B70-46A5-45AE-BEB4-39EC17AF998E}_8.png&quot;/&gt;&lt;left val=&quot;63&quot;/&gt;&lt;top val=&quot;381&quot;/&gt;&lt;width val=&quot;559&quot;/&gt;&lt;height val=&quot;129&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1&quot;/&gt;&lt;lineCharCount val=&quot;2&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0&quot;/&gt;&lt;/TableIndex&gt;&lt;TableIndex row=&quot;5&quot; col=&quot;7&quot;&gt;&lt;linesCount val=&quot;0&quot;/&gt;&lt;/TableIndex&gt;&lt;TableIndex row=&quot;5&quot; col=&quot;8&quot;&gt;&lt;linesCount val=&quot;0&quot;/&gt;&lt;/TableIndex&gt;&lt;TableIndex row=&quot;5&quot; col=&quot;9&quot;&gt;&lt;linesCount val=&quot;0&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574577A-6F6E-4C1C-9E35-96E166D52038}_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7F93D774-918D-475A-AB33-234E816DA84B}_8.png&quot;/&gt;&lt;left val=&quot;27&quot;/&gt;&lt;top val=&quot;108&quot;/&gt;&lt;width val=&quot;693&quot;/&gt;&lt;height val=&quot;149&quot;/&gt;&lt;hasText val=&quot;1&quot;/&gt;&lt;/Image&gt;&lt;/ThreeDShapeInfo&gt;"/>
  <p:tag name="PRESENTER_SHAPETEXTINFO" val="&lt;ShapeTextInfo&gt;&lt;TableIndex row=&quot;-1&quot; col=&quot;-1&quot;&gt;&lt;linesCount val=&quot;3&quot;/&gt;&lt;lineCharCount val=&quot;19&quot;/&gt;&lt;lineCharCount val=&quot;66&quot;/&gt;&lt;lineCharCount val=&quot;59&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B42B95E-B8C6-45C6-B9C4-46C78AFA24CD}_8.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F9BD508-6576-484D-B5CA-6AC344A718A5}_8.png&quot;/&gt;&lt;left val=&quot;53&quot;/&gt;&lt;top val=&quot;233&quot;/&gt;&lt;width val=&quot;529&quot;/&gt;&lt;height val=&quot;146&quot;/&gt;&lt;hasText val=&quot;1&quot;/&gt;&lt;/Image&gt;&lt;/ThreeDShapeInfo&gt;"/>
  <p:tag name="PRESENTER_SHAPETEXTINFO" val="&lt;ShapeTextInfo&gt;&lt;TableIndex row=&quot;-1&quot; col=&quot;-1&quot;&gt;&lt;linesCount val=&quot;4&quot;/&gt;&lt;lineCharCount val=&quot;21&quot;/&gt;&lt;lineCharCount val=&quot;15&quot;/&gt;&lt;lineCharCount val=&quot;18&quot;/&gt;&lt;lineCharCount val=&quot;17&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1647D28-7E94-4F08-9EBC-AA20EBA87A76}_8.png&quot;/&gt;&lt;left val=&quot;377&quot;/&gt;&lt;top val=&quot;233&quot;/&gt;&lt;width val=&quot;307&quot;/&gt;&lt;height val=&quot;139&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786028020,C:\Users\sanmi\GoogleDrive\UWMdrive\Courses\ECE552\ece552-lec10_ControlHazards_pptx\Media.ppcx"/>
  <p:tag name="TIMING" val="|22.3|17.8|27.4"/>
</p:tagLst>
</file>

<file path=ppt/tags/tag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8634392-5302-4986-BF70-548812BF03B3}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66382427-6577-4915-A22B-0FA080B8F6CC}_1.png_crop.png&quot;/&gt;&lt;left val=&quot;44&quot;/&gt;&lt;top val=&quot;124&quot;/&gt;&lt;width val=&quot;396&quot;/&gt;&lt;height val=&quot;19&quot;/&gt;&lt;hasText val=&quot;1&quot;/&gt;&lt;paraId val=&quot;1&quot;/&gt;&lt;/Image&gt;&lt;Image&gt;&lt;filename val=&quot;C:\Users\sanmi\Documents\My Adobe Presentations\ece552f2019-ControlHazards\data\asimages\{CB4AAE27-3544-4C50-B6A1-076E59C5E508}_1.png_crop.png&quot;/&gt;&lt;left val=&quot;78&quot;/&gt;&lt;top val=&quot;162&quot;/&gt;&lt;width val=&quot;590&quot;/&gt;&lt;height val=&quot;21&quot;/&gt;&lt;hasText val=&quot;1&quot;/&gt;&lt;paraId val=&quot;2&quot;/&gt;&lt;/Image&gt;&lt;Image&gt;&lt;filename val=&quot;C:\Users\sanmi\Documents\My Adobe Presentations\ece552f2019-ControlHazards\data\asimages\{B7EDC820-905B-4D5C-AC09-DF3EF177A80D}_1.png_crop.png&quot;/&gt;&lt;left val=&quot;78&quot;/&gt;&lt;top val=&quot;196&quot;/&gt;&lt;width val=&quot;523&quot;/&gt;&lt;height val=&quot;21&quot;/&gt;&lt;hasText val=&quot;1&quot;/&gt;&lt;paraId val=&quot;3&quot;/&gt;&lt;/Image&gt;&lt;/TextEffect&gt;"/>
  <p:tag name="PRESENTER_SHAPETEXTINFO" val="&lt;ShapeTextInfo&gt;&lt;TableIndex row=&quot;-1&quot; col=&quot;-1&quot;&gt;&lt;linesCount val=&quot;3&quot;/&gt;&lt;lineCharCount val=&quot;35&quot;/&gt;&lt;lineCharCount val=&quot;57&quot;/&gt;&lt;lineCharCount val=&quot;55&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4400D31-ECD4-4519-9C25-7E361BAEBBCE}_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660A512-13D4-4678-BD86-ECDF1EDD46FD}_9.png&quot;/&gt;&lt;left val=&quot;257&quot;/&gt;&lt;top val=&quot;280&quot;/&gt;&lt;width val=&quot;74&quot;/&gt;&lt;height val=&quot;26&quot;/&gt;&lt;hasText val=&quot;1&quot;/&gt;&lt;/Image&gt;&lt;/ThreeDShapeInfo&gt;"/>
  <p:tag name="PRESENTER_SHAPETEXTINFO" val="&lt;ShapeTextInfo&gt;&lt;TableIndex row=&quot;-1&quot; col=&quot;-1&quot;&gt;&lt;linesCount val=&quot;1&quot;/&gt;&lt;lineCharCount val=&quot;6&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DE8CA1A-62DD-41A7-AB9D-3A96229D5DF6}_9.png&quot;/&gt;&lt;left val=&quot;286&quot;/&gt;&lt;top val=&quot;411&quot;/&gt;&lt;width val=&quot;74&quot;/&gt;&lt;height val=&quot;26&quot;/&gt;&lt;hasText val=&quot;1&quot;/&gt;&lt;/Image&gt;&lt;/ThreeDShapeInfo&gt;"/>
  <p:tag name="PRESENTER_SHAPETEXTINFO" val="&lt;ShapeTextInfo&gt;&lt;TableIndex row=&quot;-1&quot; col=&quot;-1&quot;&gt;&lt;linesCount val=&quot;1&quot;/&gt;&lt;lineCharCount val=&quot;7&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3BF1C2C-7692-497A-91B9-9915B34ECD9E}_9.png&quot;/&gt;&lt;left val=&quot;17&quot;/&gt;&lt;top val=&quot;238&quot;/&gt;&lt;width val=&quot;101&quot;/&gt;&lt;height val=&quot;37&quot;/&gt;&lt;hasText val=&quot;1&quot;/&gt;&lt;/Image&gt;&lt;/ThreeDShapeInfo&gt;"/>
  <p:tag name="PRESENTER_SHAPETEXTINFO" val="&lt;ShapeTextInfo&gt;&lt;TableIndex row=&quot;-1&quot; col=&quot;-1&quot;&gt;&lt;linesCount val=&quot;2&quot;/&gt;&lt;lineCharCount val=&quot;18&quot;/&gt;&lt;lineCharCount val=&quot;5&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786028020,C:\Users\sanmi\GoogleDrive\UWMdrive\Courses\ECE552\ece552-lec10_ControlHazards_pptx\Media.ppcx"/>
  <p:tag name="TIMING" val="|10.9"/>
</p:tagLst>
</file>

<file path=ppt/tags/tag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F2311F9-94CF-4958-B73C-4A650AAC411C}_10.png&quot;/&gt;&lt;left val=&quot;63&quot;/&gt;&lt;top val=&quot;381&quot;/&gt;&lt;width val=&quot;559&quot;/&gt;&lt;height val=&quot;8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0&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336D1FE-3356-4FC9-8317-CBFF2318C0E0}_10.png&quot;/&gt;&lt;left val=&quot;63&quot;/&gt;&lt;top val=&quot;381&quot;/&gt;&lt;width val=&quot;559&quot;/&gt;&lt;height val=&quot;105&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B8F5037-BA5E-4434-B324-006E86846534}_1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F71433A-E1F3-42B9-8624-389A73A81DAA}_10.png&quot;/&gt;&lt;left val=&quot;27&quot;/&gt;&lt;top val=&quot;108&quot;/&gt;&lt;width val=&quot;693&quot;/&gt;&lt;height val=&quot;149&quot;/&gt;&lt;hasText val=&quot;1&quot;/&gt;&lt;/Image&gt;&lt;/ThreeDShapeInfo&gt;"/>
  <p:tag name="PRESENTER_SHAPETEXTINFO" val="&lt;ShapeTextInfo&gt;&lt;TableIndex row=&quot;-1&quot; col=&quot;-1&quot;&gt;&lt;linesCount val=&quot;3&quot;/&gt;&lt;lineCharCount val=&quot;35&quot;/&gt;&lt;lineCharCount val=&quot;57&quot;/&gt;&lt;lineCharCount val=&quot;55&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0079A22-DFC3-48AF-9AE4-05ED2603EBBA}_1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6A47E30-02CB-454D-88C7-AE2CA3D3683E}_10.png&quot;/&gt;&lt;left val=&quot;53&quot;/&gt;&lt;top val=&quot;233&quot;/&gt;&lt;width val=&quot;529&quot;/&gt;&lt;height val=&quot;146&quot;/&gt;&lt;hasText val=&quot;1&quot;/&gt;&lt;/Image&gt;&lt;/ThreeDShapeInfo&gt;"/>
  <p:tag name="PRESENTER_SHAPETEXTINFO" val="&lt;ShapeTextInfo&gt;&lt;TableIndex row=&quot;-1&quot; col=&quot;-1&quot;&gt;&lt;linesCount val=&quot;4&quot;/&gt;&lt;lineCharCount val=&quot;21&quot;/&gt;&lt;lineCharCount val=&quot;15&quot;/&gt;&lt;lineCharCount val=&quot;18&quot;/&gt;&lt;lineCharCount val=&quot;17&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FA7EE3A-23B1-48C7-A5D5-6E6C5CA4342D}_10.png&quot;/&gt;&lt;left val=&quot;377&quot;/&gt;&lt;top val=&quot;233&quot;/&gt;&lt;width val=&quot;307&quot;/&gt;&lt;height val=&quot;139&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786028020,C:\Users\sanmi\GoogleDrive\UWMdrive\Courses\ECE552\ece552-lec10_ControlHazards_pptx\Media.ppcx"/>
  <p:tag name="TIMING" val="|11.9|9|6.3|1.4"/>
</p:tagLst>
</file>

<file path=ppt/tags/tag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64F7538-4D7D-4AFB-9705-A20DA6A17258}_1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A368C51-6420-4935-9E6E-DAC7084BE535}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E1BEC99-83F0-4BB8-816F-7C52777040C1}_11.png&quot;/&gt;&lt;left val=&quot;-7&quot;/&gt;&lt;top val=&quot;259&quot;/&gt;&lt;width val=&quot;338&quot;/&gt;&lt;height val=&quot;251&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445285C3-D6DD-4D17-A1D2-D6357C3B87F0}_11.png&quot;/&gt;&lt;left val=&quot;60&quot;/&gt;&lt;top val=&quot;96&quot;/&gt;&lt;width val=&quot;562&quot;/&gt;&lt;height val=&quot;14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D5375B4-38AD-4F44-B5B6-0D555682C010}_11.png&quot;/&gt;&lt;left val=&quot;-7&quot;/&gt;&lt;top val=&quot;259&quot;/&gt;&lt;width val=&quot;482&quot;/&gt;&lt;height val=&quot;251&quot;/&gt;&lt;hasText val=&quot;1&quot;/&gt;&lt;/Image&gt;&lt;/ThreeDShapeInfo&gt;"/>
</p:tagLst>
</file>

<file path=ppt/tags/tag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96CE144-370D-4499-891C-1DE5C1EF321A}_11.png&quot;/&gt;&lt;left val=&quot;-7&quot;/&gt;&lt;top val=&quot;259&quot;/&gt;&lt;width val=&quot;590&quot;/&gt;&lt;height val=&quot;251&quot;/&gt;&lt;hasText val=&quot;1&quot;/&gt;&lt;/Image&gt;&lt;/ThreeDShapeInfo&gt;"/>
</p:tagLst>
</file>

<file path=ppt/tags/tag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CE12339-E3C1-4031-916F-A1C881C13E65}_11.png&quot;/&gt;&lt;left val=&quot;-7&quot;/&gt;&lt;top val=&quot;259&quot;/&gt;&lt;width val=&quot;698&quot;/&gt;&lt;height val=&quot;251&quot;/&gt;&lt;hasText val=&quot;1&quot;/&gt;&lt;/Image&gt;&lt;/ThreeDShapeInfo&gt;"/>
</p:tagLst>
</file>

<file path=ppt/tags/tag8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5879F92-1A3A-4346-8920-D0F983BCAA72}_11.png&quot;/&gt;&lt;left val=&quot;-7&quot;/&gt;&lt;top val=&quot;259&quot;/&gt;&lt;width val=&quot;710&quot;/&gt;&lt;height val=&quot;251&quot;/&gt;&lt;hasText val=&quot;1&quot;/&gt;&lt;/Image&gt;&lt;/ThreeDShape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 name="PPSNARRATION" val="12,786028020,C:\Users\sanmi\GoogleDrive\UWMdrive\Courses\ECE552\ece552-lec10_ControlHazards_pptx\Media.ppcx"/>
  <p:tag name="TIMING" val="|29"/>
</p:tagLst>
</file>

<file path=ppt/tags/tag10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B487AF7-DE42-4EB2-B22A-ECB9F3E47A3F}_12.png&quot;/&gt;&lt;left val=&quot;63&quot;/&gt;&lt;top val=&quot;405&quot;/&gt;&lt;width val=&quot;559&quot;/&gt;&lt;height val=&quot;8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0&quot;/&gt;&lt;/TableIndex&gt;&lt;TableIndex row=&quot;2&quot; col=&quot;5&quot;&gt;&lt;linesCount val=&quot;0&quot;/&gt;&lt;/TableIndex&gt;&lt;TableIndex row=&quot;2&quot; col=&quot;6&quot;&gt;&lt;linesCount val=&quot;0&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7551176-D5BC-4534-82DB-10EEF8159CE1}_12.png&quot;/&gt;&lt;left val=&quot;63&quot;/&gt;&lt;top val=&quot;405&quot;/&gt;&lt;width val=&quot;559&quot;/&gt;&lt;height val=&quot;8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2&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CED5A6B-F8F8-4DCF-978B-30000A746C12}_1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5&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1EB6CCF1-E066-4A03-89A6-18FE9AA34519}_1.png_crop.png&quot;/&gt;&lt;left val=&quot;44&quot;/&gt;&lt;top val=&quot;124&quot;/&gt;&lt;width val=&quot;396&quot;/&gt;&lt;height val=&quot;19&quot;/&gt;&lt;hasText val=&quot;1&quot;/&gt;&lt;paraId val=&quot;1&quot;/&gt;&lt;/Image&gt;&lt;Image&gt;&lt;filename val=&quot;C:\Users\sanmi\Documents\My Adobe Presentations\ece552f2019-ControlHazards\data\asimages\{74827416-EB00-430D-9696-66403899CE99}_1.png_crop.png&quot;/&gt;&lt;left val=&quot;78&quot;/&gt;&lt;top val=&quot;162&quot;/&gt;&lt;width val=&quot;590&quot;/&gt;&lt;height val=&quot;21&quot;/&gt;&lt;hasText val=&quot;1&quot;/&gt;&lt;paraId val=&quot;2&quot;/&gt;&lt;/Image&gt;&lt;Image&gt;&lt;filename val=&quot;C:\Users\sanmi\Documents\My Adobe Presentations\ece552f2019-ControlHazards\data\asimages\{893E3174-DC9E-4BF3-80FA-0EB91738AD69}_1.png_crop.png&quot;/&gt;&lt;left val=&quot;78&quot;/&gt;&lt;top val=&quot;196&quot;/&gt;&lt;width val=&quot;523&quot;/&gt;&lt;height val=&quot;21&quot;/&gt;&lt;hasText val=&quot;1&quot;/&gt;&lt;paraId val=&quot;3&quot;/&gt;&lt;/Image&gt;&lt;Image&gt;&lt;filename val=&quot;C:\Users\sanmi\Documents\My Adobe Presentations\ece552f2019-ControlHazards\data\asimages\{5A0AF724-51CD-45E4-A710-9F5D3B3D0078}_1.png_crop.png&quot;/&gt;&lt;left val=&quot;78&quot;/&gt;&lt;top val=&quot;231&quot;/&gt;&lt;width val=&quot;312&quot;/&gt;&lt;height val=&quot;20&quot;/&gt;&lt;hasText val=&quot;1&quot;/&gt;&lt;paraId val=&quot;4&quot;/&gt;&lt;/Image&gt;&lt;Image&gt;&lt;filename val=&quot;C:\Users\sanmi\Documents\My Adobe Presentations\ece552f2019-ControlHazards\data\asimages\{07E310F5-BF45-42D5-9AA5-A1FEC68363E2}_1.png_crop.png&quot;/&gt;&lt;left val=&quot;115&quot;/&gt;&lt;top val=&quot;264&quot;/&gt;&lt;width val=&quot;476&quot;/&gt;&lt;height val=&quot;17&quot;/&gt;&lt;hasText val=&quot;1&quot;/&gt;&lt;paraId val=&quot;5&quot;/&gt;&lt;/Image&gt;&lt;/TextEffect&gt;"/>
  <p:tag name="PRESENTER_SHAPETEXTINFO" val="&lt;ShapeTextInfo&gt;&lt;TableIndex row=&quot;-1&quot; col=&quot;-1&quot;&gt;&lt;linesCount val=&quot;5&quot;/&gt;&lt;lineCharCount val=&quot;35&quot;/&gt;&lt;lineCharCount val=&quot;57&quot;/&gt;&lt;lineCharCount val=&quot;56&quot;/&gt;&lt;lineCharCount val=&quot;29&quot;/&gt;&lt;lineCharCount val=&quot;54&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41F9DEA-0BDC-49C9-A612-4D31E3AAC1A7}_1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F334B1B4-9817-4C26-996F-B702B635F75E}_12.png&quot;/&gt;&lt;left val=&quot;53&quot;/&gt;&lt;top val=&quot;318&quot;/&gt;&lt;width val=&quot;529&quot;/&gt;&lt;height val=&quot;83&quot;/&gt;&lt;hasText val=&quot;1&quot;/&gt;&lt;/Image&gt;&lt;/ThreeDShapeInfo&gt;"/>
  <p:tag name="PRESENTER_SHAPETEXTINFO" val="&lt;ShapeTextInfo&gt;&lt;TableIndex row=&quot;-1&quot; col=&quot;-1&quot;&gt;&lt;linesCount val=&quot;2&quot;/&gt;&lt;lineCharCount val=&quot;18&quot;/&gt;&lt;lineCharCount val=&quot;2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786028020,C:\Users\sanmi\GoogleDrive\UWMdrive\Courses\ECE552\ece552-lec10_ControlHazards_pptx\Media.ppcx"/>
  <p:tag name="TIMING" val="|42"/>
</p:tagLst>
</file>

<file path=ppt/tags/tag1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70BC0EA-FAB0-474C-B90E-27107BAE2E3A}_13.png&quot;/&gt;&lt;left val=&quot;63&quot;/&gt;&lt;top val=&quot;405&quot;/&gt;&lt;width val=&quot;559&quot;/&gt;&lt;height val=&quot;129&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2&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1&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EC98852-87C4-48F0-82C1-33340467B4BF}_1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8&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78D0AEB-7C46-45A0-A2BB-DF81B07D8C30}_13.png&quot;/&gt;&lt;left val=&quot;27&quot;/&gt;&lt;top val=&quot;108&quot;/&gt;&lt;width val=&quot;693&quot;/&gt;&lt;height val=&quot;155&quot;/&gt;&lt;hasText val=&quot;1&quot;/&gt;&lt;/Image&gt;&lt;/ThreeDShapeInfo&gt;"/>
  <p:tag name="PRESENTER_SHAPETEXTINFO" val="&lt;ShapeTextInfo&gt;&lt;TableIndex row=&quot;-1&quot; col=&quot;-1&quot;&gt;&lt;linesCount val=&quot;4&quot;/&gt;&lt;lineCharCount val=&quot;19&quot;/&gt;&lt;lineCharCount val=&quot;62&quot;/&gt;&lt;lineCharCount val=&quot;64&quot;/&gt;&lt;lineCharCount val=&quot;54&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93286AF-72C5-4D33-BF98-96459F03D36F}_1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2A5316C-7F46-4DA4-967C-41A07C9B9189}_13.png&quot;/&gt;&lt;left val=&quot;53&quot;/&gt;&lt;top val=&quot;263&quot;/&gt;&lt;width val=&quot;529&quot;/&gt;&lt;height val=&quot;139&quot;/&gt;&lt;hasText val=&quot;1&quot;/&gt;&lt;/Image&gt;&lt;/ThreeDShapeInfo&gt;"/>
  <p:tag name="PRESENTER_SHAPETEXTINFO" val="&lt;ShapeTextInfo&gt;&lt;TableIndex row=&quot;-1&quot; col=&quot;-1&quot;&gt;&lt;linesCount val=&quot;3&quot;/&gt;&lt;lineCharCount val=&quot;15&quot;/&gt;&lt;lineCharCount val=&quot;21&quot;/&gt;&lt;lineCharCount val=&quot;17&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76C3CD8-B298-4359-B061-AF4A97484150}_13.png&quot;/&gt;&lt;left val=&quot;377&quot;/&gt;&lt;top val=&quot;263&quot;/&gt;&lt;width val=&quot;307&quot;/&gt;&lt;height val=&quot;139&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D12888D6-006B-4514-85E4-EDAFE3FE9961}_13.png&quot;/&gt;&lt;left val=&quot;341&quot;/&gt;&lt;top val=&quot;363&quot;/&gt;&lt;width val=&quot;77&quot;/&gt;&lt;height val=&quot;34&quot;/&gt;&lt;hasText val=&quot;1&quot;/&gt;&lt;/Image&gt;&lt;/ThreeDShapeInfo&gt;"/>
  <p:tag name="PRESENTER_SHAPETEXTINFO" val="&lt;ShapeTextInfo&gt;&lt;TableIndex row=&quot;-1&quot; col=&quot;-1&quot;&gt;&lt;linesCount val=&quot;1&quot;/&gt;&lt;lineCharCount val=&quot;9&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786028020,C:\Users\sanmi\GoogleDrive\UWMdrive\Courses\ECE552\ece552-lec10_ControlHazards_pptx\Media.ppcx"/>
</p:tagLst>
</file>

<file path=ppt/tags/tag1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A1ACFEC-1EAC-4AB1-871C-960637BF0A41}_14.png&quot;/&gt;&lt;left val=&quot;63&quot;/&gt;&lt;top val=&quot;405&quot;/&gt;&lt;width val=&quot;559&quot;/&gt;&lt;height val=&quot;129&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2&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5&quot; col=&quot;1&quot;&gt;&lt;linesCount val=&quot;1&quot;/&gt;&lt;lineCharCount val=&quot;3&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1&quot;/&gt;&lt;lineCharCount val=&quot;1&quot;/&gt;&lt;/TableIndex&gt;&lt;TableIndex row=&quot;5&quot; col=&quot;6&quot;&gt;&lt;linesCount val=&quot;1&quot;/&gt;&lt;lineCharCount val=&quot;1&quot;/&gt;&lt;/TableIndex&gt;&lt;TableIndex row=&quot;5&quot; col=&quot;7&quot;&gt;&lt;linesCount val=&quot;1&quot;/&gt;&lt;lineCharCount val=&quot;1&quot;/&gt;&lt;/TableIndex&gt;&lt;TableIndex row=&quot;5&quot; col=&quot;8&quot;&gt;&lt;linesCount val=&quot;1&quot;/&gt;&lt;lineCharCount val=&quot;1&quot;/&gt;&lt;/TableIndex&gt;&lt;TableIndex row=&quot;5&quot; col=&quot;9&quot;&gt;&lt;linesCount val=&quot;1&quot;/&gt;&lt;lineCharCount val=&quot;1&quot;/&gt;&lt;/TableIndex&gt;&lt;TableIndex row=&quot;5&quot; col=&quot;10&quot;&gt;&lt;linesCount val=&quot;0&quot;/&gt;&lt;/TableIndex&gt;&lt;TableIndex row=&quot;5&quot; col=&quot;11&quot;&gt;&lt;linesCount val=&quot;0&quot;/&gt;&lt;/TableIndex&gt;&lt;TableIndex row=&quot;5&quot; col=&quot;12&quot;&gt;&lt;linesCount val=&quot;0&quot;/&gt;&lt;/TableIndex&gt;&lt;TableIndex row=&quot;5&quot; col=&quot;13&quot;&gt;&lt;linesCount val=&quot;0&quot;/&gt;&lt;/TableIndex&gt;&lt;TableIndex row=&quot;5&quot; col=&quot;14&quot;&gt;&lt;linesCount val=&quot;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D71C13C-92A9-4A9D-B2AE-D98087C0E563}_1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8&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E651F8B-7D6B-43ED-8334-62F9B7AE2ED6}_14.png&quot;/&gt;&lt;left val=&quot;27&quot;/&gt;&lt;top val=&quot;108&quot;/&gt;&lt;width val=&quot;693&quot;/&gt;&lt;height val=&quot;155&quot;/&gt;&lt;hasText val=&quot;1&quot;/&gt;&lt;/Image&gt;&lt;/ThreeDShapeInfo&gt;"/>
  <p:tag name="PRESENTER_SHAPETEXTINFO" val="&lt;ShapeTextInfo&gt;&lt;TableIndex row=&quot;-1&quot; col=&quot;-1&quot;&gt;&lt;linesCount val=&quot;4&quot;/&gt;&lt;lineCharCount val=&quot;19&quot;/&gt;&lt;lineCharCount val=&quot;62&quot;/&gt;&lt;lineCharCount val=&quot;64&quot;/&gt;&lt;lineCharCount val=&quot;54&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3BB6A29-9648-49CA-BA75-6E50B67B1EDE}_1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C82F245-34C1-4247-A0A0-8D69088709CC}_14.png&quot;/&gt;&lt;left val=&quot;53&quot;/&gt;&lt;top val=&quot;263&quot;/&gt;&lt;width val=&quot;529&quot;/&gt;&lt;height val=&quot;146&quot;/&gt;&lt;hasText val=&quot;1&quot;/&gt;&lt;/Image&gt;&lt;/ThreeDShapeInfo&gt;"/>
  <p:tag name="PRESENTER_SHAPETEXTINFO" val="&lt;ShapeTextInfo&gt;&lt;TableIndex row=&quot;-1&quot; col=&quot;-1&quot;&gt;&lt;linesCount val=&quot;4&quot;/&gt;&lt;lineCharCount val=&quot;15&quot;/&gt;&lt;lineCharCount val=&quot;21&quot;/&gt;&lt;lineCharCount val=&quot;20&quot;/&gt;&lt;lineCharCount val=&quot;17&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ABB657C-84A5-4BB9-98A1-F63D2FB90481}_14.png&quot;/&gt;&lt;left val=&quot;377&quot;/&gt;&lt;top val=&quot;263&quot;/&gt;&lt;width val=&quot;307&quot;/&gt;&lt;height val=&quot;139&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F554EF95-36B6-4C40-9237-6705EE8C1C75}_14.png&quot;/&gt;&lt;left val=&quot;233&quot;/&gt;&lt;top val=&quot;330&quot;/&gt;&lt;width val=&quot;164&quot;/&gt;&lt;height val=&quot;54&quot;/&gt;&lt;hasText val=&quot;1&quot;/&gt;&lt;/Image&gt;&lt;/ThreeDShapeInfo&gt;"/>
  <p:tag name="PRESENTER_SHAPETEXTINFO" val="&lt;ShapeTextInfo&gt;&lt;TableIndex row=&quot;-1&quot; col=&quot;-1&quot;&gt;&lt;linesCount val=&quot;2&quot;/&gt;&lt;lineCharCount val=&quot;10&quot;/&gt;&lt;lineCharCount val=&quot;1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 name="PPSNARRATION" val="15,786028020,C:\Users\sanmi\GoogleDrive\UWMdrive\Courses\ECE552\ece552-lec10_ControlHazards_pptx\Media.ppcx"/>
</p:tagLst>
</file>

<file path=ppt/tags/tag1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D433C9C-CBC5-4571-9B6A-7BFCFF0E7C53}_15.png&quot;/&gt;&lt;left val=&quot;63&quot;/&gt;&lt;top val=&quot;405&quot;/&gt;&lt;width val=&quot;559&quot;/&gt;&lt;height val=&quot;105&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2&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455515A7-3E82-4F73-A551-DBC1F25816BA}_1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8&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4F96758-E165-4FDA-A344-D98B7B554050}_15.png&quot;/&gt;&lt;left val=&quot;27&quot;/&gt;&lt;top val=&quot;108&quot;/&gt;&lt;width val=&quot;693&quot;/&gt;&lt;height val=&quot;155&quot;/&gt;&lt;hasText val=&quot;1&quot;/&gt;&lt;/Image&gt;&lt;/ThreeDShapeInfo&gt;"/>
  <p:tag name="PRESENTER_SHAPETEXTINFO" val="&lt;ShapeTextInfo&gt;&lt;TableIndex row=&quot;-1&quot; col=&quot;-1&quot;&gt;&lt;linesCount val=&quot;4&quot;/&gt;&lt;lineCharCount val=&quot;19&quot;/&gt;&lt;lineCharCount val=&quot;62&quot;/&gt;&lt;lineCharCount val=&quot;64&quot;/&gt;&lt;lineCharCount val=&quot;54&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ED09A83-4850-4F35-AA2F-4F34CCFA300F}_1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F2D84D2B-0563-4DCC-98BE-A0E6754D71EB}_15.png&quot;/&gt;&lt;left val=&quot;53&quot;/&gt;&lt;top val=&quot;263&quot;/&gt;&lt;width val=&quot;529&quot;/&gt;&lt;height val=&quot;146&quot;/&gt;&lt;hasText val=&quot;1&quot;/&gt;&lt;/Image&gt;&lt;/ThreeDShapeInfo&gt;"/>
  <p:tag name="PRESENTER_SHAPETEXTINFO" val="&lt;ShapeTextInfo&gt;&lt;TableIndex row=&quot;-1&quot; col=&quot;-1&quot;&gt;&lt;linesCount val=&quot;4&quot;/&gt;&lt;lineCharCount val=&quot;15&quot;/&gt;&lt;lineCharCount val=&quot;21&quot;/&gt;&lt;lineCharCount val=&quot;15&quot;/&gt;&lt;lineCharCount val=&quot;17&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18A3060-8A42-4D6F-A5F1-98D1D4FF9203}_15.png&quot;/&gt;&lt;left val=&quot;377&quot;/&gt;&lt;top val=&quot;263&quot;/&gt;&lt;width val=&quot;307&quot;/&gt;&lt;height val=&quot;139&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A1A76DD-78A9-407A-89D9-0841F1634113}_15.png&quot;/&gt;&lt;left val=&quot;263&quot;/&gt;&lt;top val=&quot;336&quot;/&gt;&lt;width val=&quot;294&quot;/&gt;&lt;height val=&quot;54&quot;/&gt;&lt;hasText val=&quot;1&quot;/&gt;&lt;/Image&gt;&lt;/ThreeDShapeInfo&gt;"/>
  <p:tag name="PRESENTER_SHAPETEXTINFO" val="&lt;ShapeTextInfo&gt;&lt;TableIndex row=&quot;-1&quot; col=&quot;-1&quot;&gt;&lt;linesCount val=&quot;2&quot;/&gt;&lt;lineCharCount val=&quot;10&quot;/&gt;&lt;lineCharCount val=&quot;45&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HTML_SHAPEINFO" val="&lt;SlideThumbPath val=&quot;Slide16.PNG&quot;/&gt;"/>
  <p:tag name="PPSNARRATION" val="16,786028020,C:\Users\sanmi\GoogleDrive\UWMdrive\Courses\ECE552\ece552-lec10_ControlHazards_pptx\Media.ppcx"/>
</p:tagLst>
</file>

<file path=ppt/tags/tag1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D038DDF-514C-4C4D-99C3-8AE75C9EA1C0}_16.png&quot;/&gt;&lt;left val=&quot;63&quot;/&gt;&lt;top val=&quot;381&quot;/&gt;&lt;width val=&quot;559&quot;/&gt;&lt;height val=&quot;80&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98A1761-0FC5-43BA-9AFE-82108DD4269E}_1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5C97720-142B-48FD-A9A4-2204BB253458}_16.png&quot;/&gt;&lt;left val=&quot;27&quot;/&gt;&lt;top val=&quot;108&quot;/&gt;&lt;width val=&quot;693&quot;/&gt;&lt;height val=&quot;161&quot;/&gt;&lt;hasText val=&quot;1&quot;/&gt;&lt;/Image&gt;&lt;/ThreeDShapeInfo&gt;"/>
  <p:tag name="PRESENTER_SHAPETEXTINFO" val="&lt;ShapeTextInfo&gt;&lt;TableIndex row=&quot;-1&quot; col=&quot;-1&quot;&gt;&lt;linesCount val=&quot;4&quot;/&gt;&lt;lineCharCount val=&quot;37&quot;/&gt;&lt;lineCharCount val=&quot;44&quot;/&gt;&lt;lineCharCount val=&quot;60&quot;/&gt;&lt;lineCharCount val=&quot;54&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D587B274-FEFB-4A4B-9246-53F195AACA1B}_1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560BECE-813A-481A-9234-7C620B8AE440}_16.png&quot;/&gt;&lt;left val=&quot;53&quot;/&gt;&lt;top val=&quot;287&quot;/&gt;&lt;width val=&quot;529&quot;/&gt;&lt;height val=&quot;91&quot;/&gt;&lt;hasText val=&quot;1&quot;/&gt;&lt;/Image&gt;&lt;/ThreeDShapeInfo&gt;"/>
  <p:tag name="PRESENTER_SHAPETEXTINFO" val="&lt;ShapeTextInfo&gt;&lt;TableIndex row=&quot;-1&quot; col=&quot;-1&quot;&gt;&lt;linesCount val=&quot;2&quot;/&gt;&lt;lineCharCount val=&quot;21&quot;/&gt;&lt;lineCharCount val=&quot;17&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9085BE4-337D-44EF-9FBD-54ABE842FE48}_16.png&quot;/&gt;&lt;left val=&quot;377&quot;/&gt;&lt;top val=&quot;287&quot;/&gt;&lt;width val=&quot;307&quot;/&gt;&lt;height val=&quot;91&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81C2EFF-1B4A-478B-9130-F5427CC7A5CD}_16.png&quot;/&gt;&lt;left val=&quot;125&quot;/&gt;&lt;top val=&quot;449&quot;/&gt;&lt;width val=&quot;138&quot;/&gt;&lt;height val=&quot;54&quot;/&gt;&lt;hasText val=&quot;1&quot;/&gt;&lt;/Image&gt;&lt;/ThreeDShapeInfo&gt;"/>
  <p:tag name="PRESENTER_SHAPETEXTINFO" val="&lt;ShapeTextInfo&gt;&lt;TableIndex row=&quot;-1&quot; col=&quot;-1&quot;&gt;&lt;linesCount val=&quot;2&quot;/&gt;&lt;lineCharCount val=&quot;14&quot;/&gt;&lt;lineCharCount val=&quot;9&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 name="PPSNARRATION" val="17,786028020,C:\Users\sanmi\GoogleDrive\UWMdrive\Courses\ECE552\ece552-lec10_ControlHazards_pptx\Media.ppcx"/>
</p:tagLst>
</file>

<file path=ppt/tags/tag1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FE922D9-9133-46B4-B131-95BC071E0497}_17.png&quot;/&gt;&lt;left val=&quot;63&quot;/&gt;&lt;top val=&quot;381&quot;/&gt;&lt;width val=&quot;559&quot;/&gt;&lt;height val=&quot;105&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2&quot; col=&quot;1&quot;&gt;&lt;linesCount val=&quot;1&quot;/&gt;&lt;lineCharCount val=&quot;3&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3&quot; col=&quot;1&quot;&gt;&lt;linesCount val=&quot;1&quot;/&gt;&lt;lineCharCount val=&quot;3&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4&quot; col=&quot;1&quot;&gt;&lt;linesCount val=&quot;1&quot;/&gt;&lt;lineCharCount val=&quot;3&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75F3BA8-BF1A-4A23-A60B-AF3CE6189C46}_1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C7C55A2-958D-4664-9398-7F314D0C4DD7}_17.png&quot;/&gt;&lt;left val=&quot;27&quot;/&gt;&lt;top val=&quot;108&quot;/&gt;&lt;width val=&quot;693&quot;/&gt;&lt;height val=&quot;161&quot;/&gt;&lt;hasText val=&quot;1&quot;/&gt;&lt;/Image&gt;&lt;/ThreeDShapeInfo&gt;"/>
  <p:tag name="PRESENTER_SHAPETEXTINFO" val="&lt;ShapeTextInfo&gt;&lt;TableIndex row=&quot;-1&quot; col=&quot;-1&quot;&gt;&lt;linesCount val=&quot;4&quot;/&gt;&lt;lineCharCount val=&quot;37&quot;/&gt;&lt;lineCharCount val=&quot;44&quot;/&gt;&lt;lineCharCount val=&quot;60&quot;/&gt;&lt;lineCharCount val=&quot;54&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2947840-E187-4D83-90C9-70D12DA71815}_1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731F143-D447-4C7D-BCAB-D138D480DE60}_17.png&quot;/&gt;&lt;left val=&quot;53&quot;/&gt;&lt;top val=&quot;287&quot;/&gt;&lt;width val=&quot;529&quot;/&gt;&lt;height val=&quot;91&quot;/&gt;&lt;hasText val=&quot;1&quot;/&gt;&lt;/Image&gt;&lt;/ThreeDShapeInfo&gt;"/>
  <p:tag name="PRESENTER_SHAPETEXTINFO" val="&lt;ShapeTextInfo&gt;&lt;TableIndex row=&quot;-1&quot; col=&quot;-1&quot;&gt;&lt;linesCount val=&quot;2&quot;/&gt;&lt;lineCharCount val=&quot;21&quot;/&gt;&lt;lineCharCount val=&quot;17&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35CB2C6-0548-43E9-9D6C-1CE8288639AE}_17.png&quot;/&gt;&lt;left val=&quot;377&quot;/&gt;&lt;top val=&quot;287&quot;/&gt;&lt;width val=&quot;307&quot;/&gt;&lt;height val=&quot;91&quot;/&gt;&lt;hasText val=&quot;1&quot;/&gt;&lt;/Image&gt;&lt;/ThreeDShapeInfo&gt;"/>
  <p:tag name="PRESENTER_SHAPETEXTINFO" val="&lt;ShapeTextInfo&gt;&lt;TableIndex row=&quot;-1&quot; col=&quot;-1&quot;&gt;&lt;linesCount val=&quot;2&quot;/&gt;&lt;lineCharCount val=&quot;8&quot;/&gt;&lt;lineCharCount val=&quot;17&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C9CA055-1037-48EA-BFB4-5B8A16691B04}_17.png&quot;/&gt;&lt;left val=&quot;125&quot;/&gt;&lt;top val=&quot;474&quot;/&gt;&lt;width val=&quot;138&quot;/&gt;&lt;height val=&quot;54&quot;/&gt;&lt;hasText val=&quot;1&quot;/&gt;&lt;/Image&gt;&lt;/ThreeDShapeInfo&gt;"/>
  <p:tag name="PRESENTER_SHAPETEXTINFO" val="&lt;ShapeTextInfo&gt;&lt;TableIndex row=&quot;-1&quot; col=&quot;-1&quot;&gt;&lt;linesCount val=&quot;2&quot;/&gt;&lt;lineCharCount val=&quot;18&quot;/&gt;&lt;lineCharCount val=&quot;11&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 name="PPSNARRATION" val="18,786028020,C:\Users\sanmi\GoogleDrive\UWMdrive\Courses\ECE552\ece552-lec10_ControlHazards_pptx\Media.ppcx"/>
</p:tagLst>
</file>

<file path=ppt/tags/tag1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0E50A0D-0071-46B5-A047-F0F3DEE600CE}_1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FB1F610D-A52F-4486-8DB6-061CFBC7CF2D}_18.png&quot;/&gt;&lt;left val=&quot;27&quot;/&gt;&lt;top val=&quot;108&quot;/&gt;&lt;width val=&quot;693&quot;/&gt;&lt;height val=&quot;161&quot;/&gt;&lt;hasText val=&quot;1&quot;/&gt;&lt;/Image&gt;&lt;/ThreeDShapeInfo&gt;"/>
  <p:tag name="PRESENTER_SHAPETEXTINFO" val="&lt;ShapeTextInfo&gt;&lt;TableIndex row=&quot;-1&quot; col=&quot;-1&quot;&gt;&lt;linesCount val=&quot;4&quot;/&gt;&lt;lineCharCount val=&quot;37&quot;/&gt;&lt;lineCharCount val=&quot;44&quot;/&gt;&lt;lineCharCount val=&quot;60&quot;/&gt;&lt;lineCharCount val=&quot;48&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7986B15-C2F7-4727-8280-917F36A87EBA}_18.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05B411A-3E49-4C9D-8BA0-64AE57AF1507}_18.png&quot;/&gt;&lt;left val=&quot;282&quot;/&gt;&lt;top val=&quot;279&quot;/&gt;&lt;width val=&quot;97&quot;/&gt;&lt;height val=&quot;246&quot;/&gt;&lt;hasText val=&quot;1&quot;/&gt;&lt;/Image&gt;&lt;/ThreeDShapeInfo&gt;"/>
  <p:tag name="PRESENTER_SHAPETEXTINFO" val="&lt;ShapeTextInfo&gt;&lt;TableIndex row=&quot;1&quot; col=&quot;1&quot;&gt;&lt;linesCount val=&quot;1&quot;/&gt;&lt;lineCharCount val=&quot;3&quot;/&gt;&lt;/TableIndex&gt;&lt;TableIndex row=&quot;2&quot; col=&quot;1&quot;&gt;&lt;linesCount val=&quot;1&quot;/&gt;&lt;lineCharCount val=&quot;1&quot;/&gt;&lt;/TableIndex&gt;&lt;TableIndex row=&quot;3&quot; col=&quot;1&quot;&gt;&lt;linesCount val=&quot;1&quot;/&gt;&lt;lineCharCount val=&quot;1&quot;/&gt;&lt;/TableIndex&gt;&lt;TableIndex row=&quot;4&quot; col=&quot;1&quot;&gt;&lt;linesCount val=&quot;1&quot;/&gt;&lt;lineCharCount val=&quot;1&quot;/&gt;&lt;/TableIndex&gt;&lt;TableIndex row=&quot;5&quot; col=&quot;1&quot;&gt;&lt;linesCount val=&quot;1&quot;/&gt;&lt;lineCharCount val=&quot;1&quot;/&gt;&lt;/TableIndex&gt;&lt;TableIndex row=&quot;6&quot; col=&quot;1&quot;&gt;&lt;linesCount val=&quot;1&quot;/&gt;&lt;lineCharCount val=&quot;1&quot;/&gt;&lt;/TableIndex&gt;&lt;TableIndex row=&quot;7&quot; col=&quot;1&quot;&gt;&lt;linesCount val=&quot;1&quot;/&gt;&lt;lineCharCount val=&quot;1&quot;/&gt;&lt;/TableIndex&gt;&lt;TableIndex row=&quot;8&quot; col=&quot;1&quot;&gt;&lt;linesCount val=&quot;1&quot;/&gt;&lt;lineCharCount val=&quot;1&quot;/&gt;&lt;/TableIndex&gt;&lt;TableIndex row=&quot;9&quot; col=&quot;1&quot;&gt;&lt;linesCount val=&quot;1&quot;/&gt;&lt;lineCharCount val=&quot;1&quot;/&gt;&lt;/TableIndex&gt;&lt;/ShapeTextInfo&gt;"/>
</p:tagLst>
</file>

<file path=ppt/tags/tag160.xml><?xml version="1.0" encoding="utf-8"?>
<p:tagLst xmlns:a="http://schemas.openxmlformats.org/drawingml/2006/main" xmlns:r="http://schemas.openxmlformats.org/officeDocument/2006/relationships" xmlns:p="http://schemas.openxmlformats.org/presentationml/2006/main">
  <p:tag name="PRESENTER_SHAPEINFO" val="&lt;ThreeDShapeInfo&gt;&lt;uuid val=&quot;{4FFFD449-7817-44BA-BAE4-11BBCB5B4340}&quot;/&gt;&lt;isInvalidForFieldText val=&quot;0&quot;/&gt;&lt;Image&gt;&lt;filename val=&quot;C:\Users\sanmi\Documents\My Adobe Presentations\ece552f2019-ControlHazards\data\asimages\{4FFFD449-7817-44BA-BAE4-11BBCB5B4340}_18.png&quot;/&gt;&lt;left val=&quot;156&quot;/&gt;&lt;top val=&quot;332&quot;/&gt;&lt;width val=&quot;137&quot;/&gt;&lt;height val=&quot;75&quot;/&gt;&lt;hasText val=&quot;1&quot;/&gt;&lt;/Image&gt;&lt;/ThreeDShapeInfo&gt;"/>
</p:tagLst>
</file>

<file path=ppt/tags/tag1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1&quot; col=&quot;2&quot;&gt;&lt;linesCount val=&quot;0&quot;/&gt;&lt;/TableIndex&gt;&lt;TableIndex row=&quot;1&quot; col=&quot;3&quot;&gt;&lt;linesCount val=&quot;0&quot;/&gt;&lt;/TableIndex&gt;&lt;/ShapeTextInfo&gt;"/>
</p:tagLst>
</file>

<file path=ppt/tags/tag1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C08E02E-7B0B-4AC4-8401-27ACFDA9DDAC}_18.png&quot;/&gt;&lt;left val=&quot;458&quot;/&gt;&lt;top val=&quot;308&quot;/&gt;&lt;width val=&quot;130&quot;/&gt;&lt;height val=&quot;31&quot;/&gt;&lt;hasText val=&quot;1&quot;/&gt;&lt;/Image&gt;&lt;/ThreeDShapeInfo&gt;"/>
  <p:tag name="PRESENTER_SHAPETEXTINFO" val="&lt;ShapeTextInfo&gt;&lt;TableIndex row=&quot;-1&quot; col=&quot;-1&quot;&gt;&lt;linesCount val=&quot;1&quot;/&gt;&lt;lineCharCount val=&quot;15&quot;/&gt;&lt;/TableIndex&gt;&lt;/ShapeTextInfo&gt;"/>
</p:tagLst>
</file>

<file path=ppt/tags/tag1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399508B-5236-42B2-9A49-CE4920314FDF}_18.png&quot;/&gt;&lt;left val=&quot;446&quot;/&gt;&lt;top val=&quot;461&quot;/&gt;&lt;width val=&quot;152&quot;/&gt;&lt;height val=&quot;31&quot;/&gt;&lt;hasText val=&quot;1&quot;/&gt;&lt;/Image&gt;&lt;/ThreeDShapeInfo&gt;"/>
  <p:tag name="PRESENTER_SHAPETEXTINFO" val="&lt;ShapeTextInfo&gt;&lt;TableIndex row=&quot;-1&quot; col=&quot;-1&quot;&gt;&lt;linesCount val=&quot;1&quot;/&gt;&lt;lineCharCount val=&quot;11&quot;/&gt;&lt;/TableIndex&gt;&lt;/ShapeTextInfo&gt;"/>
</p:tagLst>
</file>

<file path=ppt/tags/tag1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774F346-3533-46BA-9262-D5CBA5BAA69B}_18.png&quot;/&gt;&lt;left val=&quot;453&quot;/&gt;&lt;top val=&quot;363&quot;/&gt;&lt;width val=&quot;102&quot;/&gt;&lt;height val=&quot;26&quot;/&gt;&lt;hasText val=&quot;1&quot;/&gt;&lt;/Image&gt;&lt;/ThreeDShapeInfo&gt;"/>
  <p:tag name="PRESENTER_SHAPETEXTINFO" val="&lt;ShapeTextInfo&gt;&lt;TableIndex row=&quot;-1&quot; col=&quot;-1&quot;&gt;&lt;linesCount val=&quot;1&quot;/&gt;&lt;lineCharCount val=&quot;5&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7CBA1FCE-97E6-4FF3-94CF-B480F9ADEEAA}&quot;/&gt;&lt;isInvalidForFieldText val=&quot;0&quot;/&gt;&lt;Image&gt;&lt;filename val=&quot;C:\Users\sanmi\Documents\My Adobe Presentations\ece552f2019-ControlHazards\data\asimages\{7CBA1FCE-97E6-4FF3-94CF-B480F9ADEEAA}_18.png&quot;/&gt;&lt;left val=&quot;484&quot;/&gt;&lt;top val=&quot;485&quot;/&gt;&lt;width val=&quot;62&quot;/&gt;&lt;height val=&quot;31&quot;/&gt;&lt;hasText val=&quot;1&quot;/&gt;&lt;/Image&gt;&lt;/ThreeDShapeInfo&gt;"/>
</p:tagLst>
</file>

<file path=ppt/tags/tag1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363A787-3F3A-4D0F-A895-DF15E65E9700}_18.png&quot;/&gt;&lt;left val=&quot;545&quot;/&gt;&lt;top val=&quot;490&quot;/&gt;&lt;width val=&quot;102&quot;/&gt;&lt;height val=&quot;26&quot;/&gt;&lt;hasText val=&quot;1&quot;/&gt;&lt;/Image&gt;&lt;/ThreeDShapeInfo&gt;"/>
  <p:tag name="PRESENTER_SHAPETEXTINFO" val="&lt;ShapeTextInfo&gt;&lt;TableIndex row=&quot;-1&quot; col=&quot;-1&quot;&gt;&lt;linesCount val=&quot;1&quot;/&gt;&lt;lineCharCount val=&quot;5&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INFO" val="&lt;ThreeDShapeInfo&gt;&lt;uuid val=&quot;{01D32BD5-5C95-48DE-AF18-053162498A20}&quot;/&gt;&lt;isInvalidForFieldText val=&quot;0&quot;/&gt;&lt;Image&gt;&lt;filename val=&quot;C:\Users\sanmi\Documents\My Adobe Presentations\ece552f2019-ControlHazards\data\asimages\{01D32BD5-5C95-48DE-AF18-053162498A20}_18.png&quot;/&gt;&lt;left val=&quot;489&quot;/&gt;&lt;top val=&quot;284&quot;/&gt;&lt;width val=&quot;58&quot;/&gt;&lt;height val=&quot;31&quot;/&gt;&lt;hasText val=&quot;1&quot;/&gt;&lt;/Image&gt;&lt;/ThreeDShapeInfo&gt;"/>
</p:tagLst>
</file>

<file path=ppt/tags/tag1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528E578-B23B-4DC8-81BC-0457115476D2}_18.png&quot;/&gt;&lt;left val=&quot;537&quot;/&gt;&lt;top val=&quot;281&quot;/&gt;&lt;width val=&quot;132&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7F91D7A3-B5C9-43A4-B8AD-00BFD27EA620}_18.png&quot;/&gt;&lt;left val=&quot;477&quot;/&gt;&lt;top val=&quot;369&quot;/&gt;&lt;width val=&quot;102&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165B060-54EE-4408-B5CA-D10C27598665}_18.png&quot;/&gt;&lt;left val=&quot;90&quot;/&gt;&lt;top val=&quot;309&quot;/&gt;&lt;width val=&quot;139&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171.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 name="PPSNARRATION" val="19,786028020,C:\Users\sanmi\GoogleDrive\UWMdrive\Courses\ECE552\ece552-lec10_ControlHazards_pptx\Media.ppcx"/>
  <p:tag name="TIMING" val="|20|4.5|6.5"/>
</p:tagLst>
</file>

<file path=ppt/tags/tag1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B3BDDCE-1352-44B1-B52B-DBABBC5C0F71}_1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D60042FB-4510-4695-8863-5F82A3F7E5D8}_19.png&quot;/&gt;&lt;left val=&quot;27&quot;/&gt;&lt;top val=&quot;108&quot;/&gt;&lt;width val=&quot;693&quot;/&gt;&lt;height val=&quot;161&quot;/&gt;&lt;hasText val=&quot;1&quot;/&gt;&lt;/Image&gt;&lt;/ThreeDShapeInfo&gt;"/>
  <p:tag name="PRESENTER_SHAPETEXTINFO" val="&lt;ShapeTextInfo&gt;&lt;TableIndex row=&quot;-1&quot; col=&quot;-1&quot;&gt;&lt;linesCount val=&quot;4&quot;/&gt;&lt;lineCharCount val=&quot;37&quot;/&gt;&lt;lineCharCount val=&quot;44&quot;/&gt;&lt;lineCharCount val=&quot;60&quot;/&gt;&lt;lineCharCount val=&quot;48&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A232B68-F748-4EF9-A160-B1DB3C4AA6BC}_1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B95E0DA-94E3-4B10-BEAC-B6CB8EC344C0}_19.png&quot;/&gt;&lt;left val=&quot;53&quot;/&gt;&lt;top val=&quot;269&quot;/&gt;&lt;width val=&quot;577&quot;/&gt;&lt;height val=&quot;146&quot;/&gt;&lt;hasText val=&quot;1&quot;/&gt;&lt;/Image&gt;&lt;/ThreeDShapeInfo&gt;"/>
  <p:tag name="PRESENTER_SHAPETEXTINFO" val="&lt;ShapeTextInfo&gt;&lt;TableIndex row=&quot;-1&quot; col=&quot;-1&quot;&gt;&lt;linesCount val=&quot;4&quot;/&gt;&lt;lineCharCount val=&quot;8&quot;/&gt;&lt;lineCharCount val=&quot;34&quot;/&gt;&lt;lineCharCount val=&quot;4&quot;/&gt;&lt;lineCharCount val=&quot;8&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9096D7B-84EA-4D0A-858D-45529BDEC16A}_19.png&quot;/&gt;&lt;left val=&quot;89&quot;/&gt;&lt;top val=&quot;415&quot;/&gt;&lt;width val=&quot;224&quot;/&gt;&lt;height val=&quot;103&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1&quot;/&gt;&lt;/TableIndex&gt;&lt;TableIndex row=&quot;1&quot; col=&quot;3&quot;&gt;&lt;linesCount val=&quot;1&quot;/&gt;&lt;lineCharCount val=&quot;1&quot;/&gt;&lt;/TableIndex&gt;&lt;TableIndex row=&quot;2&quot; col=&quot;1&quot;&gt;&lt;linesCount val=&quot;1&quot;/&gt;&lt;lineCharCount val=&quot;10&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4DB1B10-31F7-4835-B049-FBF33CE27ABF}_19.png&quot;/&gt;&lt;left val=&quot;89&quot;/&gt;&lt;top val=&quot;415&quot;/&gt;&lt;width val=&quot;173&quot;/&gt;&lt;height val=&quot;103&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1&quot;/&gt;&lt;/TableIndex&gt;&lt;TableIndex row=&quot;2&quot; col=&quot;1&quot;&gt;&lt;linesCount val=&quot;1&quot;/&gt;&lt;lineCharCount val=&quot;10&quot;/&gt;&lt;/TableIndex&gt;&lt;TableIndex row=&quot;2&quot; col=&quot;2&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30B77EE-2E8B-4148-9C75-B46C39C9D58F}_19.png&quot;/&gt;&lt;left val=&quot;89&quot;/&gt;&lt;top val=&quot;415&quot;/&gt;&lt;width val=&quot;173&quot;/&gt;&lt;height val=&quot;70&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1&quot;/&gt;&lt;/TableIndex&gt;&lt;TableIndex row=&quot;2&quot; col=&quot;1&quot;&gt;&lt;linesCount val=&quot;1&quot;/&gt;&lt;lineCharCount val=&quot;10&quot;/&gt;&lt;/TableIndex&gt;&lt;TableIndex row=&quot;2&quot; col=&quot;2&quot;&gt;&lt;linesCount val=&quot;1&quot;/&gt;&lt;lineCharCount val=&quot;1&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AF84E2F-AD51-4764-815A-0560BC7B45AC}_19.png&quot;/&gt;&lt;left val=&quot;89&quot;/&gt;&lt;top val=&quot;415&quot;/&gt;&lt;width val=&quot;530&quot;/&gt;&lt;height val=&quot;103&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2&quot; col=&quot;1&quot;&gt;&lt;linesCount val=&quot;1&quot;/&gt;&lt;lineCharCount val=&quot;10&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FE5A7F20-2220-46EA-B354-D0D1695E5E8B}_19.png&quot;/&gt;&lt;left val=&quot;425&quot;/&gt;&lt;top val=&quot;390&quot;/&gt;&lt;width val=&quot;222&quot;/&gt;&lt;height val=&quot;34&quot;/&gt;&lt;hasText val=&quot;1&quot;/&gt;&lt;/Image&gt;&lt;/ThreeDShapeInfo&gt;"/>
  <p:tag name="PRESENTER_SHAPETEXTINFO" val="&lt;ShapeTextInfo&gt;&lt;TableIndex row=&quot;-1&quot; col=&quot;-1&quot;&gt;&lt;linesCount val=&quot;1&quot;/&gt;&lt;lineCharCount val=&quot;24&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20,786028020,C:\Users\sanmi\GoogleDrive\UWMdrive\Courses\ECE552\ece552-lec10_ControlHazards_pptx\Media.ppcx"/>
</p:tagLst>
</file>

<file path=ppt/tags/tag1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44F0592-2C74-4C30-B4C5-59CB56B64295}_2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77399004-E67C-4239-93D0-3367CFB1CEF4}_20.png&quot;/&gt;&lt;left val=&quot;27&quot;/&gt;&lt;top val=&quot;108&quot;/&gt;&lt;width val=&quot;693&quot;/&gt;&lt;height val=&quot;161&quot;/&gt;&lt;hasText val=&quot;1&quot;/&gt;&lt;/Image&gt;&lt;/ThreeDShapeInfo&gt;"/>
  <p:tag name="PRESENTER_SHAPETEXTINFO" val="&lt;ShapeTextInfo&gt;&lt;TableIndex row=&quot;-1&quot; col=&quot;-1&quot;&gt;&lt;linesCount val=&quot;4&quot;/&gt;&lt;lineCharCount val=&quot;37&quot;/&gt;&lt;lineCharCount val=&quot;44&quot;/&gt;&lt;lineCharCount val=&quot;60&quot;/&gt;&lt;lineCharCount val=&quot;48&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EA77BD0-0BAB-4DD8-995D-08A5B4EC18BE}_2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DB3DAC25-56F2-4E82-9F3E-2FEC723B8318}_20.png&quot;/&gt;&lt;left val=&quot;221&quot;/&gt;&lt;top val=&quot;279&quot;/&gt;&lt;width val=&quot;97&quot;/&gt;&lt;height val=&quot;246&quot;/&gt;&lt;hasText val=&quot;1&quot;/&gt;&lt;/Image&gt;&lt;/ThreeDShapeInfo&gt;"/>
  <p:tag name="PRESENTER_SHAPETEXTINFO" val="&lt;ShapeTextInfo&gt;&lt;TableIndex row=&quot;1&quot; col=&quot;1&quot;&gt;&lt;linesCount val=&quot;1&quot;/&gt;&lt;lineCharCount val=&quot;3&quot;/&gt;&lt;/TableIndex&gt;&lt;TableIndex row=&quot;2&quot; col=&quot;1&quot;&gt;&lt;linesCount val=&quot;1&quot;/&gt;&lt;lineCharCount val=&quot;1&quot;/&gt;&lt;/TableIndex&gt;&lt;TableIndex row=&quot;3&quot; col=&quot;1&quot;&gt;&lt;linesCount val=&quot;1&quot;/&gt;&lt;lineCharCount val=&quot;1&quot;/&gt;&lt;/TableIndex&gt;&lt;TableIndex row=&quot;4&quot; col=&quot;1&quot;&gt;&lt;linesCount val=&quot;1&quot;/&gt;&lt;lineCharCount val=&quot;1&quot;/&gt;&lt;/TableIndex&gt;&lt;TableIndex row=&quot;5&quot; col=&quot;1&quot;&gt;&lt;linesCount val=&quot;1&quot;/&gt;&lt;lineCharCount val=&quot;1&quot;/&gt;&lt;/TableIndex&gt;&lt;TableIndex row=&quot;6&quot; col=&quot;1&quot;&gt;&lt;linesCount val=&quot;1&quot;/&gt;&lt;lineCharCount val=&quot;1&quot;/&gt;&lt;/TableIndex&gt;&lt;TableIndex row=&quot;7&quot; col=&quot;1&quot;&gt;&lt;linesCount val=&quot;1&quot;/&gt;&lt;lineCharCount val=&quot;1&quot;/&gt;&lt;/TableIndex&gt;&lt;TableIndex row=&quot;8&quot; col=&quot;1&quot;&gt;&lt;linesCount val=&quot;1&quot;/&gt;&lt;lineCharCount val=&quot;1&quot;/&gt;&lt;/TableIndex&gt;&lt;TableIndex row=&quot;9&quot; col=&quot;1&quot;&gt;&lt;linesCount val=&quot;1&quot;/&gt;&lt;lineCharCount val=&quot;1&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PRESENTER_SHAPEINFO" val="&lt;ThreeDShapeInfo&gt;&lt;uuid val=&quot;{8AFCE41C-2A36-4F45-996C-C32A8F3E7D60}&quot;/&gt;&lt;isInvalidForFieldText val=&quot;0&quot;/&gt;&lt;Image&gt;&lt;filename val=&quot;C:\Users\sanmi\Documents\My Adobe Presentations\ece552f2019-ControlHazards\data\asimages\{8AFCE41C-2A36-4F45-996C-C32A8F3E7D60}_20.png&quot;/&gt;&lt;left val=&quot;95&quot;/&gt;&lt;top val=&quot;332&quot;/&gt;&lt;width val=&quot;137&quot;/&gt;&lt;height val=&quot;75&quot;/&gt;&lt;hasText val=&quot;1&quot;/&gt;&lt;/Image&gt;&lt;/ThreeDShapeInfo&gt;"/>
</p:tagLst>
</file>

<file path=ppt/tags/tag1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F64000ED-0CE4-43C3-A6EF-DB04745888C7}_20.png&quot;/&gt;&lt;left val=&quot;333&quot;/&gt;&lt;top val=&quot;387&quot;/&gt;&lt;width val=&quot;134&quot;/&gt;&lt;height val=&quot;31&quot;/&gt;&lt;hasText val=&quot;1&quot;/&gt;&lt;/Image&gt;&lt;/ThreeDShapeInfo&gt;"/>
  <p:tag name="PRESENTER_SHAPETEXTINFO" val="&lt;ShapeTextInfo&gt;&lt;TableIndex row=&quot;-1&quot; col=&quot;-1&quot;&gt;&lt;linesCount val=&quot;1&quot;/&gt;&lt;lineCharCount val=&quot;16&quot;/&gt;&lt;/TableIndex&gt;&lt;/ShapeTextInfo&gt;"/>
</p:tagLst>
</file>

<file path=ppt/tags/tag18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9FFA006-99B9-4F6E-8DD9-BF7F706CC1BE}_20.png&quot;/&gt;&lt;left val=&quot;453&quot;/&gt;&lt;top val=&quot;295&quot;/&gt;&lt;width val=&quot;139&quot;/&gt;&lt;height val=&quot;31&quot;/&gt;&lt;hasText val=&quot;1&quot;/&gt;&lt;/Image&gt;&lt;/ThreeDShapeInfo&gt;"/>
  <p:tag name="PRESENTER_SHAPETEXTINFO" val="&lt;ShapeTextInfo&gt;&lt;TableIndex row=&quot;-1&quot; col=&quot;-1&quot;&gt;&lt;linesCount val=&quot;1&quot;/&gt;&lt;lineCharCount val=&quot;16&quot;/&gt;&lt;/TableIndex&gt;&lt;/ShapeTextInfo&gt;"/>
</p:tagLst>
</file>

<file path=ppt/tags/tag1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CC8B18D-3E3C-4BBC-8269-D6C99E143FF3}_20.png&quot;/&gt;&lt;left val=&quot;567&quot;/&gt;&lt;top val=&quot;385&quot;/&gt;&lt;width val=&quot;139&quot;/&gt;&lt;height val=&quot;31&quot;/&gt;&lt;hasText val=&quot;1&quot;/&gt;&lt;/Image&gt;&lt;/ThreeDShapeInfo&gt;"/>
  <p:tag name="PRESENTER_SHAPETEXTINFO" val="&lt;ShapeTextInfo&gt;&lt;TableIndex row=&quot;-1&quot; col=&quot;-1&quot;&gt;&lt;linesCount val=&quot;1&quot;/&gt;&lt;lineCharCount val=&quot;12&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4BF2290-BE39-42E5-8B83-57121B50E08A}_20.png&quot;/&gt;&lt;left val=&quot;446&quot;/&gt;&lt;top val=&quot;480&quot;/&gt;&lt;width val=&quot;152&quot;/&gt;&lt;height val=&quot;31&quot;/&gt;&lt;hasText val=&quot;1&quot;/&gt;&lt;/Image&gt;&lt;/ThreeDShapeInfo&gt;"/>
  <p:tag name="PRESENTER_SHAPETEXTINFO" val="&lt;ShapeTextInfo&gt;&lt;TableIndex row=&quot;-1&quot; col=&quot;-1&quot;&gt;&lt;linesCount val=&quot;1&quot;/&gt;&lt;lineCharCount val=&quot;12&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283AB98-96E9-45B0-AEF6-C1512DA3ECD8}_20.png&quot;/&gt;&lt;left val=&quot;494&quot;/&gt;&lt;top val=&quot;377&quot;/&gt;&lt;width val=&quot;102&quot;/&gt;&lt;height val=&quot;26&quot;/&gt;&lt;hasText val=&quot;1&quot;/&gt;&lt;/Image&gt;&lt;/ThreeDShapeInfo&gt;"/>
  <p:tag name="PRESENTER_SHAPETEXTINFO" val="&lt;ShapeTextInfo&gt;&lt;TableIndex row=&quot;-1&quot; col=&quot;-1&quot;&gt;&lt;linesCount val=&quot;1&quot;/&gt;&lt;lineCharCount val=&quot;5&quot;/&gt;&lt;/TableIndex&gt;&lt;/ShapeTextInfo&gt;"/>
</p:tagLst>
</file>

<file path=ppt/tags/tag1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0FFC8E1-BB4A-4BC5-BD8E-23BD9CB41DE1}_20.png&quot;/&gt;&lt;left val=&quot;542&quot;/&gt;&lt;top val=&quot;410&quot;/&gt;&lt;width val=&quot;102&quot;/&gt;&lt;height val=&quot;26&quot;/&gt;&lt;hasText val=&quot;1&quot;/&gt;&lt;/Image&gt;&lt;/ThreeDShapeInfo&gt;"/>
  <p:tag name="PRESENTER_SHAPETEXTINFO" val="&lt;ShapeTextInfo&gt;&lt;TableIndex row=&quot;-1&quot; col=&quot;-1&quot;&gt;&lt;linesCount val=&quot;1&quot;/&gt;&lt;lineCharCount val=&quot;5&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PRESENTER_SHAPEINFO" val="&lt;ThreeDShapeInfo&gt;&lt;uuid val=&quot;{A1542E1A-930F-4B99-AB5B-217ED507175C}&quot;/&gt;&lt;isInvalidForFieldText val=&quot;0&quot;/&gt;&lt;Image&gt;&lt;filename val=&quot;C:\Users\sanmi\Documents\My Adobe Presentations\ece552f2019-ControlHazards\data\asimages\{A1542E1A-930F-4B99-AB5B-217ED507175C}_20.png&quot;/&gt;&lt;left val=&quot;484&quot;/&gt;&lt;top val=&quot;504&quot;/&gt;&lt;width val=&quot;62&quot;/&gt;&lt;height val=&quot;31&quot;/&gt;&lt;hasText val=&quot;1&quot;/&gt;&lt;/Image&gt;&lt;/ThreeDShapeInfo&gt;"/>
</p:tagLst>
</file>

<file path=ppt/tags/tag1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18FAAD7-66AF-46A2-AAAB-FEF67F447D67}_20.png&quot;/&gt;&lt;left val=&quot;545&quot;/&gt;&lt;top val=&quot;509&quot;/&gt;&lt;width val=&quot;102&quot;/&gt;&lt;height val=&quot;26&quot;/&gt;&lt;hasText val=&quot;1&quot;/&gt;&lt;/Image&gt;&lt;/ThreeDShapeInfo&gt;"/>
  <p:tag name="PRESENTER_SHAPETEXTINFO" val="&lt;ShapeTextInfo&gt;&lt;TableIndex row=&quot;-1&quot; col=&quot;-1&quot;&gt;&lt;linesCount val=&quot;1&quot;/&gt;&lt;lineCharCount val=&quot;5&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PRESENTER_SHAPEINFO" val="&lt;ThreeDShapeInfo&gt;&lt;uuid val=&quot;{7CC3ABCB-27E2-463B-B50E-55EC8FFD077C}&quot;/&gt;&lt;isInvalidForFieldText val=&quot;0&quot;/&gt;&lt;Image&gt;&lt;filename val=&quot;C:\Users\sanmi\Documents\My Adobe Presentations\ece552f2019-ControlHazards\data\asimages\{7CC3ABCB-27E2-463B-B50E-55EC8FFD077C}_20.png&quot;/&gt;&lt;left val=&quot;489&quot;/&gt;&lt;top val=&quot;271&quot;/&gt;&lt;width val=&quot;58&quot;/&gt;&lt;height val=&quot;31&quot;/&gt;&lt;hasText val=&quot;1&quot;/&gt;&lt;/Image&gt;&lt;/ThreeDShapeInfo&gt;"/>
</p:tagLst>
</file>

<file path=ppt/tags/tag1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E193F25-371F-4BE6-A1A4-8AD80095A676}_20.png&quot;/&gt;&lt;left val=&quot;537&quot;/&gt;&lt;top val=&quot;268&quot;/&gt;&lt;width val=&quot;132&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1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C08F0EC-C75C-4CC5-9737-86901FD81B4D}_20.png&quot;/&gt;&lt;left val=&quot;563&quot;/&gt;&lt;top val=&quot;422&quot;/&gt;&lt;width val=&quot;102&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1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5FDC948-C895-4711-87F6-2B2ECCE41E81}_20.png&quot;/&gt;&lt;left val=&quot;408&quot;/&gt;&lt;top val=&quot;318&quot;/&gt;&lt;width val=&quot;102&quot;/&gt;&lt;height val=&quot;26&quot;/&gt;&lt;hasText val=&quot;1&quot;/&gt;&lt;/Image&gt;&lt;/ThreeDShapeInfo&gt;"/>
  <p:tag name="PRESENTER_SHAPETEXTINFO" val="&lt;ShapeTextInfo&gt;&lt;TableIndex row=&quot;-1&quot; col=&quot;-1&quot;&gt;&lt;linesCount val=&quot;1&quot;/&gt;&lt;lineCharCount val=&quot;5&quot;/&gt;&lt;/TableIndex&gt;&lt;/ShapeTextInfo&gt;"/>
</p:tagLst>
</file>

<file path=ppt/tags/tag1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15D2E6A-377E-4539-8B4F-D4AE612E531C}_20.png&quot;/&gt;&lt;left val=&quot;428&quot;/&gt;&lt;top val=&quot;331&quot;/&gt;&lt;width val=&quot;102&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2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8688E48-F3F0-42E3-ACB6-282CED5345BA}_20.png&quot;/&gt;&lt;left val=&quot;488&quot;/&gt;&lt;top val=&quot;401&quot;/&gt;&lt;width val=&quot;102&quot;/&gt;&lt;height val=&quot;26&quot;/&gt;&lt;hasText val=&quot;1&quot;/&gt;&lt;/Image&gt;&lt;/ThreeDShapeInfo&gt;"/>
  <p:tag name="PRESENTER_SHAPETEXTINFO" val="&lt;ShapeTextInfo&gt;&lt;TableIndex row=&quot;-1&quot; col=&quot;-1&quot;&gt;&lt;linesCount val=&quot;1&quot;/&gt;&lt;lineCharCount val=&quot;9&quot;/&gt;&lt;/TableIndex&gt;&lt;/ShapeTextInfo&gt;"/>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1&quot; col=&quot;2&quot;&gt;&lt;linesCount val=&quot;0&quot;/&gt;&lt;/TableIndex&gt;&lt;TableIndex row=&quot;1&quot; col=&quot;3&quot;&gt;&lt;linesCount val=&quot;0&quot;/&gt;&lt;/TableIndex&gt;&lt;/ShapeTextInfo&gt;"/>
</p:tagLst>
</file>

<file path=ppt/tags/tag2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B9D1FA1-3BE3-4676-BC30-9EE5220F0DC1}_20.png&quot;/&gt;&lt;left val=&quot;29&quot;/&gt;&lt;top val=&quot;309&quot;/&gt;&lt;width val=&quot;138&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203.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21,786028020,C:\Users\sanmi\GoogleDrive\UWMdrive\Courses\ECE552\ece552-lec10_ControlHazards_pptx\Media.ppcx"/>
  <p:tag name="TIMING" val="|8.7|2.9|8.5"/>
</p:tagLst>
</file>

<file path=ppt/tags/tag20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F85F37F-0C2E-4742-89D1-EEA28FB62254}_21.png&quot;/&gt;&lt;left val=&quot;89&quot;/&gt;&lt;top val=&quot;415&quot;/&gt;&lt;width val=&quot;173&quot;/&gt;&lt;height val=&quot;103&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1&quot;/&gt;&lt;/TableIndex&gt;&lt;TableIndex row=&quot;2&quot; col=&quot;1&quot;&gt;&lt;linesCount val=&quot;1&quot;/&gt;&lt;lineCharCount val=&quot;10&quot;/&gt;&lt;/TableIndex&gt;&lt;TableIndex row=&quot;2&quot; col=&quot;2&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ShapeTextInfo&gt;"/>
</p:tagLst>
</file>

<file path=ppt/tags/tag2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584848D-0082-406E-B174-79E218CE387A}_21.png&quot;/&gt;&lt;left val=&quot;89&quot;/&gt;&lt;top val=&quot;415&quot;/&gt;&lt;width val=&quot;173&quot;/&gt;&lt;height val=&quot;70&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1&quot;/&gt;&lt;/TableIndex&gt;&lt;TableIndex row=&quot;2&quot; col=&quot;1&quot;&gt;&lt;linesCount val=&quot;1&quot;/&gt;&lt;lineCharCount val=&quot;10&quot;/&gt;&lt;/TableIndex&gt;&lt;TableIndex row=&quot;2&quot; col=&quot;2&quot;&gt;&lt;linesCount val=&quot;1&quot;/&gt;&lt;lineCharCount val=&quot;1&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73E27354-2A39-4FD7-9899-5BC2622E6DFB}_21.png&quot;/&gt;&lt;left val=&quot;89&quot;/&gt;&lt;top val=&quot;415&quot;/&gt;&lt;width val=&quot;224&quot;/&gt;&lt;height val=&quot;103&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1&quot;/&gt;&lt;/TableIndex&gt;&lt;TableIndex row=&quot;1&quot; col=&quot;3&quot;&gt;&lt;linesCount val=&quot;1&quot;/&gt;&lt;lineCharCount val=&quot;1&quot;/&gt;&lt;/TableIndex&gt;&lt;TableIndex row=&quot;2&quot; col=&quot;1&quot;&gt;&lt;linesCount val=&quot;1&quot;/&gt;&lt;lineCharCount val=&quot;10&quot;/&gt;&lt;/TableIndex&gt;&lt;TableIndex row=&quot;2&quot; col=&quot;2&quot;&gt;&lt;linesCount val=&quot;1&quot;/&gt;&lt;lineCharCount val=&quot;1&quot;/&gt;&lt;/TableIndex&gt;&lt;TableIndex row=&quot;2&quot; col=&quot;3&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FC03C89-1B73-460F-AF8A-9BF42F75E3FA}_2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D4FA90D8-04AF-4C8F-91F6-139CD43BFE52}_21.png&quot;/&gt;&lt;left val=&quot;27&quot;/&gt;&lt;top val=&quot;108&quot;/&gt;&lt;width val=&quot;693&quot;/&gt;&lt;height val=&quot;161&quot;/&gt;&lt;hasText val=&quot;1&quot;/&gt;&lt;/Image&gt;&lt;/ThreeDShapeInfo&gt;"/>
  <p:tag name="PRESENTER_SHAPETEXTINFO" val="&lt;ShapeTextInfo&gt;&lt;TableIndex row=&quot;-1&quot; col=&quot;-1&quot;&gt;&lt;linesCount val=&quot;4&quot;/&gt;&lt;lineCharCount val=&quot;37&quot;/&gt;&lt;lineCharCount val=&quot;44&quot;/&gt;&lt;lineCharCount val=&quot;60&quot;/&gt;&lt;lineCharCount val=&quot;48&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E4C355C-5585-4814-A1BC-C21E25177DD3}_2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DBD47340-E78B-4713-A214-B23C77CB1E6B}_21.png&quot;/&gt;&lt;left val=&quot;53&quot;/&gt;&lt;top val=&quot;269&quot;/&gt;&lt;width val=&quot;577&quot;/&gt;&lt;height val=&quot;146&quot;/&gt;&lt;hasText val=&quot;1&quot;/&gt;&lt;/Image&gt;&lt;/ThreeDShapeInfo&gt;"/>
  <p:tag name="PRESENTER_SHAPETEXTINFO" val="&lt;ShapeTextInfo&gt;&lt;TableIndex row=&quot;-1&quot; col=&quot;-1&quot;&gt;&lt;linesCount val=&quot;4&quot;/&gt;&lt;lineCharCount val=&quot;8&quot;/&gt;&lt;lineCharCount val=&quot;34&quot;/&gt;&lt;lineCharCount val=&quot;4&quot;/&gt;&lt;lineCharCount val=&quot;8&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9051685-57ED-47D7-8F21-7903B1DED141}_21.png&quot;/&gt;&lt;left val=&quot;425&quot;/&gt;&lt;top val=&quot;390&quot;/&gt;&lt;width val=&quot;222&quot;/&gt;&lt;height val=&quot;34&quot;/&gt;&lt;hasText val=&quot;1&quot;/&gt;&lt;/Image&gt;&lt;/ThreeDShapeInfo&gt;"/>
  <p:tag name="PRESENTER_SHAPETEXTINFO" val="&lt;ShapeTextInfo&gt;&lt;TableIndex row=&quot;-1&quot; col=&quot;-1&quot;&gt;&lt;linesCount val=&quot;1&quot;/&gt;&lt;lineCharCount val=&quot;24&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FE14421-A714-474E-9AB5-35618909F5DF}_21.png&quot;/&gt;&lt;left val=&quot;89&quot;/&gt;&lt;top val=&quot;415&quot;/&gt;&lt;width val=&quot;530&quot;/&gt;&lt;height val=&quot;103&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2&quot; col=&quot;1&quot;&gt;&lt;linesCount val=&quot;1&quot;/&gt;&lt;lineCharCount val=&quot;10&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1&quot;/&gt;&lt;lineCharCount val=&quot;1&quot;/&gt;&lt;/TableIndex&gt;&lt;TableIndex row=&quot;2&quot; col=&quot;8&quot;&gt;&lt;linesCount val=&quot;1&quot;/&gt;&lt;lineCharCount val=&quot;1&quot;/&gt;&lt;/TableIndex&gt;&lt;TableIndex row=&quot;2&quot; col=&quot;9&quot;&gt;&lt;linesCount val=&quot;1&quot;/&gt;&lt;lineCharCount val=&quot;1&quot;/&gt;&lt;/TableIndex&gt;&lt;TableIndex row=&quot;3&quot; col=&quot;1&quot;&gt;&lt;linesCount val=&quot;1&quot;/&gt;&lt;lineCharCount val=&quot;7&quot;/&gt;&lt;/TableIndex&gt;&lt;TableIndex row=&quot;3&quot; col=&quot;2&quot;&gt;&lt;linesCount val=&quot;1&quot;/&gt;&lt;lineCharCount val=&quot;1&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ShapeTextInfo&gt;"/>
</p:tagLst>
</file>

<file path=ppt/tags/tag213.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786028020,C:\Users\sanmi\GoogleDrive\UWMdrive\Courses\ECE552\ece552-lec10_ControlHazards_pptx\Media.ppcx"/>
</p:tagLst>
</file>

<file path=ppt/tags/tag2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2F199DF-65C7-4831-8F19-2AF9E75C7BCC}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0&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71013ADC-3EEF-4D3A-B173-9CD9920D3420}_22.png&quot;/&gt;&lt;left val=&quot;24&quot;/&gt;&lt;top val=&quot;112&quot;/&gt;&lt;width val=&quot;659&quot;/&gt;&lt;height val=&quot;370&quot;/&gt;&lt;hasText val=&quot;1&quot;/&gt;&lt;/Image&gt;&lt;/ThreeDShapeInfo&gt;"/>
  <p:tag name="PRESENTER_SHAPETEXTINFO" val="&lt;ShapeTextInfo&gt;&lt;TableIndex row=&quot;-1&quot; col=&quot;-1&quot;&gt;&lt;linesCount val=&quot;8&quot;/&gt;&lt;lineCharCount val=&quot;14&quot;/&gt;&lt;lineCharCount val=&quot;20&quot;/&gt;&lt;lineCharCount val=&quot;17&quot;/&gt;&lt;lineCharCount val=&quot;28&quot;/&gt;&lt;lineCharCount val=&quot;25&quot;/&gt;&lt;lineCharCount val=&quot;1&quot;/&gt;&lt;lineCharCount val=&quot;33&quot;/&gt;&lt;lineCharCount val=&quot;19&quot;/&gt;&lt;/TableIndex&gt;&lt;/ShapeTextInfo&gt;"/>
</p:tagLst>
</file>

<file path=ppt/tags/tag2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07D4780-75E4-46DA-9C08-1800F338D752}_2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23,786028020,C:\Users\sanmi\GoogleDrive\UWMdrive\Courses\ECE552\ece552-lec10_ControlHazards_pptx\Media.ppcx"/>
</p:tagLst>
</file>

<file path=ppt/tags/tag2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81BB057-13EB-469B-B95A-567FA68C40BE}_2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0&quot;/&gt;&lt;/TableIndex&gt;&lt;/ShapeTextInfo&gt;"/>
</p:tagLst>
</file>

<file path=ppt/tags/tag2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CEB4B15-E445-40A3-BED8-0C661779A929}_23.png&quot;/&gt;&lt;left val=&quot;24&quot;/&gt;&lt;top val=&quot;119&quot;/&gt;&lt;width val=&quot;659&quot;/&gt;&lt;height val=&quot;363&quot;/&gt;&lt;hasText val=&quot;1&quot;/&gt;&lt;/Image&gt;&lt;/ThreeDShapeInfo&gt;"/>
  <p:tag name="PRESENTER_SHAPETEXTINFO" val="&lt;ShapeTextInfo&gt;&lt;TableIndex row=&quot;-1&quot; col=&quot;-1&quot;&gt;&lt;linesCount val=&quot;7&quot;/&gt;&lt;lineCharCount val=&quot;11&quot;/&gt;&lt;lineCharCount val=&quot;25&quot;/&gt;&lt;lineCharCount val=&quot;19&quot;/&gt;&lt;lineCharCount val=&quot;34&quot;/&gt;&lt;lineCharCount val=&quot;42&quot;/&gt;&lt;lineCharCount val=&quot;48&quot;/&gt;&lt;lineCharCount val=&quot;33&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3A93A03-9523-4AB6-BF58-2B94E99A0CF1}_2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24,786028020,C:\Users\sanmi\GoogleDrive\UWMdrive\Courses\ECE552\ece552-lec10_ControlHazards_pptx\Media.ppcx"/>
</p:tagLst>
</file>

<file path=ppt/tags/tag2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B565E612-B116-4C50-AFFA-F11A700B464F}_2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F4F38BD-7658-4B4C-A024-B4C2139FFA15}_24.png&quot;/&gt;&lt;left val=&quot;24&quot;/&gt;&lt;top val=&quot;119&quot;/&gt;&lt;width val=&quot;659&quot;/&gt;&lt;height val=&quot;363&quot;/&gt;&lt;hasText val=&quot;1&quot;/&gt;&lt;/Image&gt;&lt;/ThreeDShapeInfo&gt;"/>
  <p:tag name="PRESENTER_SHAPETEXTINFO" val="&lt;ShapeTextInfo&gt;&lt;TableIndex row=&quot;-1&quot; col=&quot;-1&quot;&gt;&lt;linesCount val=&quot;8&quot;/&gt;&lt;lineCharCount val=&quot;34&quot;/&gt;&lt;lineCharCount val=&quot;27&quot;/&gt;&lt;lineCharCount val=&quot;35&quot;/&gt;&lt;lineCharCount val=&quot;40&quot;/&gt;&lt;lineCharCount val=&quot;26&quot;/&gt;&lt;lineCharCount val=&quot;40&quot;/&gt;&lt;lineCharCount val=&quot;20&quot;/&gt;&lt;lineCharCount val=&quot;29&quot;/&gt;&lt;/TableIndex&gt;&lt;/ShapeTextInfo&gt;"/>
</p:tagLst>
</file>

<file path=ppt/tags/tag2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7F0ADA53-0F9A-418A-A5B8-488835DDCCE7}_2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25.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 name="PPSNARRATION" val="25,786028020,C:\Users\sanmi\GoogleDrive\UWMdrive\Courses\ECE552\ece552-lec10_ControlHazards_pptx\Media.ppcx"/>
  <p:tag name="TIMING" val="|8.1|16.3|26.7"/>
</p:tagLst>
</file>

<file path=ppt/tags/tag2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D84D1999-49AD-408B-961B-6A578CAC0E09}_2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PRESENTER_SHAPEINFO" val="&lt;ThreeDShapeInfo&gt;&lt;uuid val=&quot;{5D1DA04C-2527-4F43-9A61-956737CC2705}&quot;/&gt;&lt;isInvalidForFieldText val=&quot;0&quot;/&gt;&lt;Image&gt;&lt;filename val=&quot;C:\Users\sanmi\Documents\My Adobe Presentations\ece552f2019-ControlHazards\data\asimages\{5D1DA04C-2527-4F43-9A61-956737CC2705}.png&quot;/&gt;&lt;left val=&quot;32&quot;/&gt;&lt;top val=&quot;137&quot;/&gt;&lt;width val=&quot;655&quot;/&gt;&lt;height val=&quot;401&quot;/&gt;&lt;hasText val=&quot;1&quot;/&gt;&lt;/Image&gt;&lt;/ThreeDShapeInfo&gt;"/>
</p:tagLst>
</file>

<file path=ppt/tags/tag2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0CE8F14-D3F0-46DA-BF62-59965B22BD0C}_2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695A0C0-4FB0-4D0F-A109-21CB2C3F01F4}_25.png&quot;/&gt;&lt;left val=&quot;27&quot;/&gt;&lt;top val=&quot;96&quot;/&gt;&lt;width val=&quot;657&quot;/&gt;&lt;height val=&quot;60&quot;/&gt;&lt;hasText val=&quot;1&quot;/&gt;&lt;/Image&gt;&lt;/ThreeDShapeInfo&gt;"/>
  <p:tag name="PRESENTER_SHAPETEXTINFO" val="&lt;ShapeTextInfo&gt;&lt;TableIndex row=&quot;-1&quot; col=&quot;-1&quot;&gt;&lt;linesCount val=&quot;1&quot;/&gt;&lt;lineCharCount val=&quot;43&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83201FB-D171-4F90-9D3A-5459E2267F04}_25.png&quot;/&gt;&lt;left val=&quot;449&quot;/&gt;&lt;top val=&quot;294&quot;/&gt;&lt;width val=&quot;90&quot;/&gt;&lt;height val=&quot;37&quot;/&gt;&lt;hasText val=&quot;1&quot;/&gt;&lt;/Image&gt;&lt;/ThreeDShapeInfo&gt;"/>
  <p:tag name="PRESENTER_SHAPETEXTINFO" val="&lt;ShapeTextInfo&gt;&lt;TableIndex row=&quot;-1&quot; col=&quot;-1&quot;&gt;&lt;linesCount val=&quot;2&quot;/&gt;&lt;lineCharCount val=&quot;13&quot;/&gt;&lt;lineCharCount val=&quot;7&quot;/&gt;&lt;/TableIndex&gt;&lt;/ShapeTextInfo&gt;"/>
</p:tagLst>
</file>

<file path=ppt/tags/tag2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8703EB7-0661-4F12-81EF-2E0BF29092D7}_25.png&quot;/&gt;&lt;left val=&quot;491&quot;/&gt;&lt;top val=&quot;164&quot;/&gt;&lt;width val=&quot;108&quot;/&gt;&lt;height val=&quot;40&quot;/&gt;&lt;hasText val=&quot;1&quot;/&gt;&lt;/Image&gt;&lt;/ThreeDShapeInfo&gt;"/>
  <p:tag name="PRESENTER_SHAPETEXTINFO" val="&lt;ShapeTextInfo&gt;&lt;TableIndex row=&quot;-1&quot; col=&quot;-1&quot;&gt;&lt;linesCount val=&quot;2&quot;/&gt;&lt;lineCharCount val=&quot;9&quot;/&gt;&lt;lineCharCount val=&quot;12&quot;/&gt;&lt;/TableIndex&gt;&lt;/ShapeTextInfo&gt;"/>
</p:tagLst>
</file>

<file path=ppt/tags/tag2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572E4D7-E6CD-4910-99A6-53E05920964D}_25.png&quot;/&gt;&lt;left val=&quot;9&quot;/&gt;&lt;top val=&quot;388&quot;/&gt;&lt;width val=&quot;90&quot;/&gt;&lt;height val=&quot;37&quot;/&gt;&lt;hasText val=&quot;1&quot;/&gt;&lt;/Image&gt;&lt;/ThreeDShapeInfo&gt;"/>
  <p:tag name="PRESENTER_SHAPETEXTINFO" val="&lt;ShapeTextInfo&gt;&lt;TableIndex row=&quot;-1&quot; col=&quot;-1&quot;&gt;&lt;linesCount val=&quot;2&quot;/&gt;&lt;lineCharCount val=&quot;8&quot;/&gt;&lt;lineCharCount val=&quot;10&quot;/&gt;&lt;/TableIndex&gt;&lt;/ShapeTextInfo&gt;"/>
</p:tagLst>
</file>

<file path=ppt/tags/tag236.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 name="PPSNARRATION" val="26,786028020,C:\Users\sanmi\GoogleDrive\UWMdrive\Courses\ECE552\ece552-lec10_ControlHazards_pptx\Media.ppcx"/>
  <p:tag name="TIMING" val="|26.6|44.4|27.2"/>
</p:tagLst>
</file>

<file path=ppt/tags/tag2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AC3B5D4-16D4-420C-8E40-5A3277027805}_2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8&quot;/&gt;&lt;/TableIndex&gt;&lt;/ShapeTextInfo&gt;"/>
</p:tagLst>
</file>

<file path=ppt/tags/tag238.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ControlHazards\data\asimages\{078A440C-75F0-403A-AAD5-0A8787FA3F51}_1.png_crop.png&quot;/&gt;&lt;left val=&quot;44&quot;/&gt;&lt;top val=&quot;136&quot;/&gt;&lt;width val=&quot;337&quot;/&gt;&lt;height val=&quot;24&quot;/&gt;&lt;hasText val=&quot;1&quot;/&gt;&lt;paraId val=&quot;1&quot;/&gt;&lt;/Image&gt;&lt;Image&gt;&lt;filename val=&quot;C:\Users\sanmi\Documents\My Adobe Presentations\ece552f2019-ControlHazards\data\asimages\{44A846DD-6B46-45F7-B61E-0D3F65FF73B8}_1.png_crop.png&quot;/&gt;&lt;left val=&quot;78&quot;/&gt;&lt;top val=&quot;174&quot;/&gt;&lt;width val=&quot;548&quot;/&gt;&lt;height val=&quot;20&quot;/&gt;&lt;hasText val=&quot;1&quot;/&gt;&lt;paraId val=&quot;2&quot;/&gt;&lt;/Image&gt;&lt;Image&gt;&lt;filename val=&quot;C:\Users\sanmi\Documents\My Adobe Presentations\ece552f2019-ControlHazards\data\asimages\{80963793-C798-4C42-8248-EAB330A3ECF2}_1.png_crop.png&quot;/&gt;&lt;left val=&quot;78&quot;/&gt;&lt;top val=&quot;209&quot;/&gt;&lt;width val=&quot;386&quot;/&gt;&lt;height val=&quot;20&quot;/&gt;&lt;hasText val=&quot;1&quot;/&gt;&lt;paraId val=&quot;3&quot;/&gt;&lt;/Image&gt;&lt;Image&gt;&lt;filename val=&quot;C:\Users\sanmi\Documents\My Adobe Presentations\ece552f2019-ControlHazards\data\asimages\{57129500-FAA2-4B42-A1CD-16453CD5C3A5}_1.png_crop.png&quot;/&gt;&lt;left val=&quot;78&quot;/&gt;&lt;top val=&quot;243&quot;/&gt;&lt;width val=&quot;569&quot;/&gt;&lt;height val=&quot;17&quot;/&gt;&lt;hasText val=&quot;1&quot;/&gt;&lt;paraId val=&quot;4&quot;/&gt;&lt;/Image&gt;&lt;Image&gt;&lt;filename val=&quot;C:\Users\sanmi\Documents\My Adobe Presentations\ece552f2019-ControlHazards\data\asimages\{03F64B57-996D-422E-9F36-D024FDCAF41C}_1.png_crop.png&quot;/&gt;&lt;left val=&quot;78&quot;/&gt;&lt;top val=&quot;277&quot;/&gt;&lt;width val=&quot;464&quot;/&gt;&lt;height val=&quot;21&quot;/&gt;&lt;hasText val=&quot;1&quot;/&gt;&lt;paraId val=&quot;5&quot;/&gt;&lt;/Image&gt;&lt;Image&gt;&lt;filename val=&quot;C:\Users\sanmi\Documents\My Adobe Presentations\ece552f2019-ControlHazards\data\asimages\{84405BE9-1E95-4FBF-8B31-901EB9C1BE5C}_1.png_crop.png&quot;/&gt;&lt;left val=&quot;115&quot;/&gt;&lt;top val=&quot;310&quot;/&gt;&lt;width val=&quot;363&quot;/&gt;&lt;height val=&quot;17&quot;/&gt;&lt;hasText val=&quot;1&quot;/&gt;&lt;paraId val=&quot;6&quot;/&gt;&lt;/Image&gt;&lt;Image&gt;&lt;filename val=&quot;C:\Users\sanmi\Documents\My Adobe Presentations\ece552f2019-ControlHazards\data\asimages\{DFF5B1B9-D350-433D-972F-7CED9BB051E8}_1.png_crop.png&quot;/&gt;&lt;left val=&quot;115&quot;/&gt;&lt;top val=&quot;338&quot;/&gt;&lt;width val=&quot;386&quot;/&gt;&lt;height val=&quot;18&quot;/&gt;&lt;hasText val=&quot;1&quot;/&gt;&lt;paraId val=&quot;7&quot;/&gt;&lt;/Image&gt;&lt;Image&gt;&lt;filename val=&quot;C:\Users\sanmi\Documents\My Adobe Presentations\ece552f2019-ControlHazards\data\asimages\{834FE7C3-18B0-45F2-A521-60C69B4DE78A}_1.png_crop.png&quot;/&gt;&lt;left val=&quot;78&quot;/&gt;&lt;top val=&quot;370&quot;/&gt;&lt;width val=&quot;520&quot;/&gt;&lt;height val=&quot;21&quot;/&gt;&lt;hasText val=&quot;1&quot;/&gt;&lt;paraId val=&quot;8&quot;/&gt;&lt;/Image&gt;&lt;Image&gt;&lt;filename val=&quot;C:\Users\sanmi\Documents\My Adobe Presentations\ece552f2019-ControlHazards\data\asimages\{F98B4F92-C0E5-4469-9E54-68BE45AB29A2}_1.png_crop.png&quot;/&gt;&lt;left val=&quot;115&quot;/&gt;&lt;top val=&quot;402&quot;/&gt;&lt;width val=&quot;363&quot;/&gt;&lt;height val=&quot;17&quot;/&gt;&lt;hasText val=&quot;1&quot;/&gt;&lt;paraId val=&quot;9&quot;/&gt;&lt;/Image&gt;&lt;Image&gt;&lt;filename val=&quot;C:\Users\sanmi\Documents\My Adobe Presentations\ece552f2019-ControlHazards\data\asimages\{065AEB3E-5210-4656-927C-0AB13AB2F73B}_1.png_crop.png&quot;/&gt;&lt;left val=&quot;115&quot;/&gt;&lt;top val=&quot;430&quot;/&gt;&lt;width val=&quot;386&quot;/&gt;&lt;height val=&quot;18&quot;/&gt;&lt;hasText val=&quot;1&quot;/&gt;&lt;paraId val=&quot;10&quot;/&gt;&lt;/Image&gt;&lt;/TextEffect&gt;"/>
  <p:tag name="PRESENTER_SHAPETEXTINFO" val="&lt;ShapeTextInfo&gt;&lt;TableIndex row=&quot;-1&quot; col=&quot;-1&quot;&gt;&lt;linesCount val=&quot;10&quot;/&gt;&lt;lineCharCount val=&quot;29&quot;/&gt;&lt;lineCharCount val=&quot;54&quot;/&gt;&lt;lineCharCount val=&quot;37&quot;/&gt;&lt;lineCharCount val=&quot;55&quot;/&gt;&lt;lineCharCount val=&quot;46&quot;/&gt;&lt;lineCharCount val=&quot;43&quot;/&gt;&lt;lineCharCount val=&quot;47&quot;/&gt;&lt;lineCharCount val=&quot;51&quot;/&gt;&lt;lineCharCount val=&quot;43&quot;/&gt;&lt;lineCharCount val=&quot;46&quot;/&gt;&lt;/TableIndex&gt;&lt;/ShapeTextInfo&gt;"/>
</p:tagLst>
</file>

<file path=ppt/tags/tag2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11FEE85-EA7E-4A99-A2B9-2875B80B9FF7}_2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40.xml><?xml version="1.0" encoding="utf-8"?>
<p:tagLst xmlns:a="http://schemas.openxmlformats.org/drawingml/2006/main" xmlns:r="http://schemas.openxmlformats.org/officeDocument/2006/relationships" xmlns:p="http://schemas.openxmlformats.org/presentationml/2006/main">
  <p:tag name="HTML_SHAPEINFO" val="&lt;SlideThumbPath val=&quot;Slide27.PNG&quot;/&gt;"/>
  <p:tag name="PPSNARRATION" val="27,786028020,C:\Users\sanmi\GoogleDrive\UWMdrive\Courses\ECE552\ece552-lec10_ControlHazards_pptx\Media.ppcx"/>
</p:tagLst>
</file>

<file path=ppt/tags/tag2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1C28DAE3-071A-4612-B169-AE7473EFD523}_2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8&quot;/&gt;&lt;/TableIndex&gt;&lt;/ShapeTextInfo&gt;"/>
</p:tagLst>
</file>

<file path=ppt/tags/tag2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B95EEDF-FB66-4AC0-B8C4-FB60F38D0E4E}_27.png&quot;/&gt;&lt;left val=&quot;45&quot;/&gt;&lt;top val=&quot;143&quot;/&gt;&lt;width val=&quot;620&quot;/&gt;&lt;height val=&quot;373&quot;/&gt;&lt;hasText val=&quot;1&quot;/&gt;&lt;/Image&gt;&lt;/ThreeDShapeInfo&gt;"/>
  <p:tag name="PRESENTER_SHAPETEXTINFO" val="&lt;ShapeTextInfo&gt;&lt;TableIndex row=&quot;-1&quot; col=&quot;-1&quot;&gt;&lt;linesCount val=&quot;10&quot;/&gt;&lt;lineCharCount val=&quot;19&quot;/&gt;&lt;lineCharCount val=&quot;19&quot;/&gt;&lt;lineCharCount val=&quot;18&quot;/&gt;&lt;lineCharCount val=&quot;36&quot;/&gt;&lt;lineCharCount val=&quot;22&quot;/&gt;&lt;lineCharCount val=&quot;6&quot;/&gt;&lt;lineCharCount val=&quot;3&quot;/&gt;&lt;lineCharCount val=&quot;21&quot;/&gt;&lt;lineCharCount val=&quot;19&quot;/&gt;&lt;lineCharCount val=&quot;21&quot;/&gt;&lt;/TableIndex&gt;&lt;/ShapeTextInfo&gt;"/>
</p:tagLst>
</file>

<file path=ppt/tags/tag2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E3A5F7AF-2BDD-464E-A8E0-B869FBE182C2}_2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C50FD800-462B-4BB4-8874-5FF4C2A5C9B2}_27.png&quot;/&gt;&lt;left val=&quot;27&quot;/&gt;&lt;top val=&quot;96&quot;/&gt;&lt;width val=&quot;657&quot;/&gt;&lt;height val=&quot;60&quot;/&gt;&lt;hasText val=&quot;1&quot;/&gt;&lt;/Image&gt;&lt;/ThreeDShapeInfo&gt;"/>
  <p:tag name="PRESENTER_SHAPETEXTINFO" val="&lt;ShapeTextInfo&gt;&lt;TableIndex row=&quot;-1&quot; col=&quot;-1&quot;&gt;&lt;linesCount val=&quot;1&quot;/&gt;&lt;lineCharCount val=&quot;17&quot;/&gt;&lt;/TableIndex&gt;&lt;/ShapeTextInfo&gt;"/>
</p:tagLst>
</file>

<file path=ppt/tags/tag245.xml><?xml version="1.0" encoding="utf-8"?>
<p:tagLst xmlns:a="http://schemas.openxmlformats.org/drawingml/2006/main" xmlns:r="http://schemas.openxmlformats.org/officeDocument/2006/relationships" xmlns:p="http://schemas.openxmlformats.org/presentationml/2006/main">
  <p:tag name="HTML_SHAPEINFO" val="&lt;SlideThumbPath val=&quot;Slide28.PNG&quot;/&gt;"/>
  <p:tag name="PPSNARRATION" val="28,786028020,C:\Users\sanmi\GoogleDrive\UWMdrive\Courses\ECE552\ece552-lec10_ControlHazards_pptx\Media.ppcx"/>
  <p:tag name="TIMING" val="|13.9"/>
</p:tagLst>
</file>

<file path=ppt/tags/tag2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F057933C-F747-4FAF-8617-80DD96E334E4}_2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8&quot;/&gt;&lt;/TableIndex&gt;&lt;/ShapeTextInfo&gt;"/>
</p:tagLst>
</file>

<file path=ppt/tags/tag2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9BD247F-0C17-49E4-A243-218DE29E6B89}_28.png&quot;/&gt;&lt;left val=&quot;45&quot;/&gt;&lt;top val=&quot;143&quot;/&gt;&lt;width val=&quot;674&quot;/&gt;&lt;height val=&quot;373&quot;/&gt;&lt;hasText val=&quot;1&quot;/&gt;&lt;/Image&gt;&lt;/ThreeDShapeInfo&gt;"/>
  <p:tag name="PRESENTER_SHAPETEXTINFO" val="&lt;ShapeTextInfo&gt;&lt;TableIndex row=&quot;-1&quot; col=&quot;-1&quot;&gt;&lt;linesCount val=&quot;10&quot;/&gt;&lt;lineCharCount val=&quot;19&quot;/&gt;&lt;lineCharCount val=&quot;19&quot;/&gt;&lt;lineCharCount val=&quot;18&quot;/&gt;&lt;lineCharCount val=&quot;48&quot;/&gt;&lt;lineCharCount val=&quot;22&quot;/&gt;&lt;lineCharCount val=&quot;6&quot;/&gt;&lt;lineCharCount val=&quot;3&quot;/&gt;&lt;lineCharCount val=&quot;21&quot;/&gt;&lt;lineCharCount val=&quot;19&quot;/&gt;&lt;lineCharCount val=&quot;21&quot;/&gt;&lt;/TableIndex&gt;&lt;/ShapeTextInfo&gt;"/>
</p:tagLst>
</file>

<file path=ppt/tags/tag2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7A57CC6-EE25-4A34-A194-EB780D7702B6}_28.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88E5D4C-8304-4C8F-A94E-70E4576C5C06}_28.png&quot;/&gt;&lt;left val=&quot;587&quot;/&gt;&lt;top val=&quot;236&quot;/&gt;&lt;width val=&quot;119&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2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8459DD96-B327-463D-BC11-0B8D9D6CE602}_28.png&quot;/&gt;&lt;left val=&quot;27&quot;/&gt;&lt;top val=&quot;96&quot;/&gt;&lt;width val=&quot;657&quot;/&gt;&lt;height val=&quot;60&quot;/&gt;&lt;hasText val=&quot;1&quot;/&gt;&lt;/Image&gt;&lt;/ThreeDShapeInfo&gt;"/>
  <p:tag name="PRESENTER_SHAPETEXTINFO" val="&lt;ShapeTextInfo&gt;&lt;TableIndex row=&quot;-1&quot; col=&quot;-1&quot;&gt;&lt;linesCount val=&quot;1&quot;/&gt;&lt;lineCharCount val=&quot;17&quot;/&gt;&lt;/TableIndex&gt;&lt;/ShapeTextInfo&gt;"/>
</p:tagLst>
</file>

<file path=ppt/tags/tag251.xml><?xml version="1.0" encoding="utf-8"?>
<p:tagLst xmlns:a="http://schemas.openxmlformats.org/drawingml/2006/main" xmlns:r="http://schemas.openxmlformats.org/officeDocument/2006/relationships" xmlns:p="http://schemas.openxmlformats.org/presentationml/2006/main">
  <p:tag name="HTML_SHAPEINFO" val="&lt;SlideThumbPath val=&quot;Slide29.PNG&quot;/&gt;"/>
  <p:tag name="PPSNARRATION" val="29,786028020,C:\Users\sanmi\GoogleDrive\UWMdrive\Courses\ECE552\ece552-lec10_ControlHazards_pptx\Media.ppcx"/>
  <p:tag name="TIMING" val="|8.8"/>
</p:tagLst>
</file>

<file path=ppt/tags/tag2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9DD2D388-B821-4956-8C15-372DE2056530}_2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8&quot;/&gt;&lt;/TableIndex&gt;&lt;/ShapeTextInfo&gt;"/>
</p:tagLst>
</file>

<file path=ppt/tags/tag2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5B2BC41E-CB28-49D9-9B33-1BB25AEC360B}_29.png&quot;/&gt;&lt;left val=&quot;45&quot;/&gt;&lt;top val=&quot;143&quot;/&gt;&lt;width val=&quot;674&quot;/&gt;&lt;height val=&quot;373&quot;/&gt;&lt;hasText val=&quot;1&quot;/&gt;&lt;/Image&gt;&lt;/ThreeDShapeInfo&gt;"/>
  <p:tag name="PRESENTER_SHAPETEXTINFO" val="&lt;ShapeTextInfo&gt;&lt;TableIndex row=&quot;-1&quot; col=&quot;-1&quot;&gt;&lt;linesCount val=&quot;10&quot;/&gt;&lt;lineCharCount val=&quot;19&quot;/&gt;&lt;lineCharCount val=&quot;19&quot;/&gt;&lt;lineCharCount val=&quot;18&quot;/&gt;&lt;lineCharCount val=&quot;48&quot;/&gt;&lt;lineCharCount val=&quot;22&quot;/&gt;&lt;lineCharCount val=&quot;6&quot;/&gt;&lt;lineCharCount val=&quot;3&quot;/&gt;&lt;lineCharCount val=&quot;21&quot;/&gt;&lt;lineCharCount val=&quot;19&quot;/&gt;&lt;lineCharCount val=&quot;21&quot;/&gt;&lt;/TableIndex&gt;&lt;/ShapeTextInfo&gt;"/>
</p:tagLst>
</file>

<file path=ppt/tags/tag2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7C43F74-10DE-4C85-9094-6A3AF50DC500}_2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442CD41F-3D90-4633-A317-97EF9F264610}_29.png&quot;/&gt;&lt;left val=&quot;587&quot;/&gt;&lt;top val=&quot;236&quot;/&gt;&lt;width val=&quot;119&quot;/&gt;&lt;height val=&quot;51&quot;/&gt;&lt;hasText val=&quot;1&quot;/&gt;&lt;/Image&gt;&lt;/ThreeDShapeInfo&gt;"/>
  <p:tag name="PRESENTER_SHAPETEXTINFO" val="&lt;ShapeTextInfo&gt;&lt;TableIndex row=&quot;-1&quot; col=&quot;-1&quot;&gt;&lt;linesCount val=&quot;1&quot;/&gt;&lt;lineCharCount val=&quot;2&quot;/&gt;&lt;/TableIndex&gt;&lt;/ShapeTextInfo&gt;"/>
</p:tagLst>
</file>

<file path=ppt/tags/tag2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32AADE57-6351-4D62-8CA3-759790A1A208}_29.png&quot;/&gt;&lt;left val=&quot;27&quot;/&gt;&lt;top val=&quot;96&quot;/&gt;&lt;width val=&quot;657&quot;/&gt;&lt;height val=&quot;60&quot;/&gt;&lt;hasText val=&quot;1&quot;/&gt;&lt;/Image&gt;&lt;/ThreeDShapeInfo&gt;"/>
  <p:tag name="PRESENTER_SHAPETEXTINFO" val="&lt;ShapeTextInfo&gt;&lt;TableIndex row=&quot;-1&quot; col=&quot;-1&quot;&gt;&lt;linesCount val=&quot;1&quot;/&gt;&lt;lineCharCount val=&quot;17&quot;/&gt;&lt;/TableIndex&gt;&lt;/ShapeTextInfo&gt;"/>
</p:tagLst>
</file>

<file path=ppt/tags/tag257.xml><?xml version="1.0" encoding="utf-8"?>
<p:tagLst xmlns:a="http://schemas.openxmlformats.org/drawingml/2006/main" xmlns:r="http://schemas.openxmlformats.org/officeDocument/2006/relationships" xmlns:p="http://schemas.openxmlformats.org/presentationml/2006/main">
  <p:tag name="HTML_SHAPEINFO" val="&lt;SlideThumbPath val=&quot;Slide30.PNG&quot;/&gt;"/>
  <p:tag name="PPSNARRATION" val="30,786028020,C:\Users\sanmi\GoogleDrive\UWMdrive\Courses\ECE552\ece552-lec10_ControlHazards_pptx\Media.ppcx"/>
  <p:tag name="TIMING" val="|15.4"/>
</p:tagLst>
</file>

<file path=ppt/tags/tag2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F84BA42F-E8D3-40BD-AF46-8C29DACDB495}_3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8&quot;/&gt;&lt;/TableIndex&gt;&lt;/ShapeTextInfo&gt;"/>
</p:tagLst>
</file>

<file path=ppt/tags/tag2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746718AD-7765-4C2E-B359-02109AB8C18E}_30.png&quot;/&gt;&lt;left val=&quot;45&quot;/&gt;&lt;top val=&quot;143&quot;/&gt;&lt;width val=&quot;674&quot;/&gt;&lt;height val=&quot;373&quot;/&gt;&lt;hasText val=&quot;1&quot;/&gt;&lt;/Image&gt;&lt;/ThreeDShapeInfo&gt;"/>
  <p:tag name="PRESENTER_SHAPETEXTINFO" val="&lt;ShapeTextInfo&gt;&lt;TableIndex row=&quot;-1&quot; col=&quot;-1&quot;&gt;&lt;linesCount val=&quot;10&quot;/&gt;&lt;lineCharCount val=&quot;19&quot;/&gt;&lt;lineCharCount val=&quot;19&quot;/&gt;&lt;lineCharCount val=&quot;18&quot;/&gt;&lt;lineCharCount val=&quot;49&quot;/&gt;&lt;lineCharCount val=&quot;22&quot;/&gt;&lt;lineCharCount val=&quot;6&quot;/&gt;&lt;lineCharCount val=&quot;3&quot;/&gt;&lt;lineCharCount val=&quot;21&quot;/&gt;&lt;lineCharCount val=&quot;19&quot;/&gt;&lt;lineCharCount val=&quot;21&quot;/&gt;&lt;/TableIndex&gt;&lt;/ShapeTextInfo&gt;"/>
</p:tagLst>
</file>

<file path=ppt/tags/tag2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ACB57B5-2173-4F12-AA0F-102BE7690D3C}_3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481C441-76C8-44C4-926E-64E672E6D125}_30.png&quot;/&gt;&lt;left val=&quot;587&quot;/&gt;&lt;top val=&quot;236&quot;/&gt;&lt;width val=&quot;119&quot;/&gt;&lt;height val=&quot;51&quot;/&gt;&lt;hasText val=&quot;1&quot;/&gt;&lt;/Image&gt;&lt;/ThreeDShapeInfo&gt;"/>
  <p:tag name="PRESENTER_SHAPETEXTINFO" val="&lt;ShapeTextInfo&gt;&lt;TableIndex row=&quot;-1&quot; col=&quot;-1&quot;&gt;&lt;linesCount val=&quot;1&quot;/&gt;&lt;lineCharCount val=&quot;2&quot;/&gt;&lt;/TableIndex&gt;&lt;/ShapeTextInfo&gt;"/>
</p:tagLst>
</file>

<file path=ppt/tags/tag2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79EDC118-0565-4301-B411-E84292BF7CB7}_30.png&quot;/&gt;&lt;left val=&quot;27&quot;/&gt;&lt;top val=&quot;96&quot;/&gt;&lt;width val=&quot;657&quot;/&gt;&lt;height val=&quot;60&quot;/&gt;&lt;hasText val=&quot;1&quot;/&gt;&lt;/Image&gt;&lt;/ThreeDShapeInfo&gt;"/>
  <p:tag name="PRESENTER_SHAPETEXTINFO" val="&lt;ShapeTextInfo&gt;&lt;TableIndex row=&quot;-1&quot; col=&quot;-1&quot;&gt;&lt;linesCount val=&quot;1&quot;/&gt;&lt;lineCharCount val=&quot;17&quot;/&gt;&lt;/TableIndex&gt;&lt;/ShapeTextInfo&gt;"/>
</p:tagLst>
</file>

<file path=ppt/tags/tag263.xml><?xml version="1.0" encoding="utf-8"?>
<p:tagLst xmlns:a="http://schemas.openxmlformats.org/drawingml/2006/main" xmlns:r="http://schemas.openxmlformats.org/officeDocument/2006/relationships" xmlns:p="http://schemas.openxmlformats.org/presentationml/2006/main">
  <p:tag name="HTML_SHAPEINFO" val="&lt;SlideThumbPath val=&quot;Slide31.PNG&quot;/&gt;"/>
  <p:tag name="PPSNARRATION" val="31,786028020,C:\Users\sanmi\GoogleDrive\UWMdrive\Courses\ECE552\ece552-lec10_ControlHazards_pptx\Media.ppcx"/>
  <p:tag name="TIMING" val="|15.9"/>
</p:tagLst>
</file>

<file path=ppt/tags/tag2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77235AE2-E850-41AA-993D-D93F1A916996}_3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8&quot;/&gt;&lt;/TableIndex&gt;&lt;/ShapeTextInfo&gt;"/>
</p:tagLst>
</file>

<file path=ppt/tags/tag2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A375F44B-B9DC-402E-B03E-EE5CD897528E}_31.png&quot;/&gt;&lt;left val=&quot;45&quot;/&gt;&lt;top val=&quot;143&quot;/&gt;&lt;width val=&quot;674&quot;/&gt;&lt;height val=&quot;373&quot;/&gt;&lt;hasText val=&quot;1&quot;/&gt;&lt;/Image&gt;&lt;/ThreeDShapeInfo&gt;"/>
  <p:tag name="PRESENTER_SHAPETEXTINFO" val="&lt;ShapeTextInfo&gt;&lt;TableIndex row=&quot;-1&quot; col=&quot;-1&quot;&gt;&lt;linesCount val=&quot;10&quot;/&gt;&lt;lineCharCount val=&quot;19&quot;/&gt;&lt;lineCharCount val=&quot;19&quot;/&gt;&lt;lineCharCount val=&quot;18&quot;/&gt;&lt;lineCharCount val=&quot;48&quot;/&gt;&lt;lineCharCount val=&quot;22&quot;/&gt;&lt;lineCharCount val=&quot;6&quot;/&gt;&lt;lineCharCount val=&quot;3&quot;/&gt;&lt;lineCharCount val=&quot;21&quot;/&gt;&lt;lineCharCount val=&quot;19&quot;/&gt;&lt;lineCharCount val=&quot;21&quot;/&gt;&lt;/TableIndex&gt;&lt;/ShapeTextInfo&gt;"/>
</p:tagLst>
</file>

<file path=ppt/tags/tag2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24C06391-F392-4666-8278-E9B3E729102F}_3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0FB432B3-8542-47F4-95FE-9423BB9CF9BB}_31.png&quot;/&gt;&lt;left val=&quot;587&quot;/&gt;&lt;top val=&quot;236&quot;/&gt;&lt;width val=&quot;119&quot;/&gt;&lt;height val=&quot;51&quot;/&gt;&lt;hasText val=&quot;1&quot;/&gt;&lt;/Image&gt;&lt;/ThreeDShapeInfo&gt;"/>
  <p:tag name="PRESENTER_SHAPETEXTINFO" val="&lt;ShapeTextInfo&gt;&lt;TableIndex row=&quot;-1&quot; col=&quot;-1&quot;&gt;&lt;linesCount val=&quot;1&quot;/&gt;&lt;lineCharCount val=&quot;3&quot;/&gt;&lt;/TableIndex&gt;&lt;/ShapeTextInfo&gt;"/>
</p:tagLst>
</file>

<file path=ppt/tags/tag2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ControlHazards\data\asimages\{62189467-CED2-4ED6-8FEA-87FADC68BBBC}_31.png&quot;/&gt;&lt;left val=&quot;27&quot;/&gt;&lt;top val=&quot;96&quot;/&gt;&lt;width val=&quot;657&quot;/&gt;&lt;height val=&quot;60&quot;/&gt;&lt;hasText val=&quot;1&quot;/&gt;&lt;/Image&gt;&lt;/ThreeDShapeInfo&gt;"/>
  <p:tag name="PRESENTER_SHAPETEXTINFO" val="&lt;ShapeTextInfo&gt;&lt;TableIndex row=&quot;-1&quot; col=&quot;-1&quot;&gt;&lt;linesCount val=&quot;1&quot;/&gt;&lt;lineCharCount val=&quot;17&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2361</TotalTime>
  <Words>2711</Words>
  <Application>Microsoft Macintosh PowerPoint</Application>
  <PresentationFormat>On-screen Show (4:3)</PresentationFormat>
  <Paragraphs>880</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Courier New</vt:lpstr>
      <vt:lpstr>Times New Roman</vt:lpstr>
      <vt:lpstr>Wingdings</vt:lpstr>
      <vt:lpstr>Lecture Notes 552</vt:lpstr>
      <vt:lpstr>ECE/CS 552: Control Hazards and Exceptions</vt:lpstr>
      <vt:lpstr>Pipeline Hazards</vt:lpstr>
      <vt:lpstr>Program Control Dependences</vt:lpstr>
      <vt:lpstr>Program Control Dependence</vt:lpstr>
      <vt:lpstr>Program Control Dependences</vt:lpstr>
      <vt:lpstr>Pipeline Control Hazards</vt:lpstr>
      <vt:lpstr>Pipeline Control Hazards</vt:lpstr>
      <vt:lpstr>Resolving Control Hazards</vt:lpstr>
      <vt:lpstr>Resolving Control Hazards</vt:lpstr>
      <vt:lpstr>Resolving Control Hazards</vt:lpstr>
      <vt:lpstr>Resolving Control Hazards</vt:lpstr>
      <vt:lpstr>Resolving Control Hazards</vt:lpstr>
      <vt:lpstr>Branch Delay Slots</vt:lpstr>
      <vt:lpstr>Branch Delay Slots</vt:lpstr>
      <vt:lpstr>Branch Delay Slots</vt:lpstr>
      <vt:lpstr>Branch Prediction</vt:lpstr>
      <vt:lpstr>Branch Prediction</vt:lpstr>
      <vt:lpstr>Branch Prediction</vt:lpstr>
      <vt:lpstr>Branch Prediction</vt:lpstr>
      <vt:lpstr>Branch Prediction</vt:lpstr>
      <vt:lpstr>Branch Prediction</vt:lpstr>
      <vt:lpstr>Exceptions</vt:lpstr>
      <vt:lpstr>Exceptions</vt:lpstr>
      <vt:lpstr>Exceptions – Hardware</vt:lpstr>
      <vt:lpstr>Exceptions – Hardware</vt:lpstr>
      <vt:lpstr>Exercise – Branch Prediction</vt:lpstr>
      <vt:lpstr>Exercise – Branch Delay Slot</vt:lpstr>
      <vt:lpstr>Exercise – Branch Delay Slot</vt:lpstr>
      <vt:lpstr>Exercise – Branch Delay Slot</vt:lpstr>
      <vt:lpstr>Exercise – Branch Delay Slot</vt:lpstr>
      <vt:lpstr>Exercise – Branch Delay Slot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Control Hazards and Exceptions</dc:title>
  <dc:creator/>
  <cp:lastModifiedBy>Boone Severson</cp:lastModifiedBy>
  <cp:revision>592</cp:revision>
  <cp:lastPrinted>1601-01-01T00:00:00Z</cp:lastPrinted>
  <dcterms:created xsi:type="dcterms:W3CDTF">1601-01-01T00:00:00Z</dcterms:created>
  <dcterms:modified xsi:type="dcterms:W3CDTF">2024-08-29T04:22:23Z</dcterms:modified>
</cp:coreProperties>
</file>