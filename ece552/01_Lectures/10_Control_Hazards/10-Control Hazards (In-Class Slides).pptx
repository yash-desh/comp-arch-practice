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3.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4.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5.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6.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7.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8.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0" r:id="rId1"/>
  </p:sldMasterIdLst>
  <p:notesMasterIdLst>
    <p:notesMasterId r:id="rId11"/>
  </p:notesMasterIdLst>
  <p:handoutMasterIdLst>
    <p:handoutMasterId r:id="rId12"/>
  </p:handoutMasterIdLst>
  <p:sldIdLst>
    <p:sldId id="495" r:id="rId2"/>
    <p:sldId id="647" r:id="rId3"/>
    <p:sldId id="644" r:id="rId4"/>
    <p:sldId id="645" r:id="rId5"/>
    <p:sldId id="655" r:id="rId6"/>
    <p:sldId id="648" r:id="rId7"/>
    <p:sldId id="650" r:id="rId8"/>
    <p:sldId id="649" r:id="rId9"/>
    <p:sldId id="656" r:id="rId10"/>
  </p:sldIdLst>
  <p:sldSz cx="9144000" cy="6858000" type="screen4x3"/>
  <p:notesSz cx="6845300" cy="9396413"/>
  <p:custDataLst>
    <p:tags r:id="rId13"/>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8">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0BD9"/>
    <a:srgbClr val="DBEEF4"/>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384" autoAdjust="0"/>
  </p:normalViewPr>
  <p:slideViewPr>
    <p:cSldViewPr>
      <p:cViewPr varScale="1">
        <p:scale>
          <a:sx n="120" d="100"/>
          <a:sy n="120" d="100"/>
        </p:scale>
        <p:origin x="736"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1764" y="-66"/>
      </p:cViewPr>
      <p:guideLst>
        <p:guide orient="horz" pos="2958"/>
        <p:guide pos="215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one Severson" userId="1d942a2b-e0b5-491a-b49e-d500fa0ad426" providerId="ADAL" clId="{06396791-FBAF-6D48-8A1F-EA585B00068C}"/>
    <pc:docChg chg="custSel modSld">
      <pc:chgData name="Boone Severson" userId="1d942a2b-e0b5-491a-b49e-d500fa0ad426" providerId="ADAL" clId="{06396791-FBAF-6D48-8A1F-EA585B00068C}" dt="2024-10-15T14:22:49.411" v="325" actId="20577"/>
      <pc:docMkLst>
        <pc:docMk/>
      </pc:docMkLst>
      <pc:sldChg chg="modSp mod">
        <pc:chgData name="Boone Severson" userId="1d942a2b-e0b5-491a-b49e-d500fa0ad426" providerId="ADAL" clId="{06396791-FBAF-6D48-8A1F-EA585B00068C}" dt="2024-09-26T04:05:05.073" v="29" actId="20577"/>
        <pc:sldMkLst>
          <pc:docMk/>
          <pc:sldMk cId="2392838502" sldId="495"/>
        </pc:sldMkLst>
        <pc:spChg chg="mod">
          <ac:chgData name="Boone Severson" userId="1d942a2b-e0b5-491a-b49e-d500fa0ad426" providerId="ADAL" clId="{06396791-FBAF-6D48-8A1F-EA585B00068C}" dt="2024-09-26T04:05:05.073" v="29" actId="20577"/>
          <ac:spMkLst>
            <pc:docMk/>
            <pc:sldMk cId="2392838502" sldId="495"/>
            <ac:spMk id="3" creationId="{00000000-0000-0000-0000-000000000000}"/>
          </ac:spMkLst>
        </pc:spChg>
      </pc:sldChg>
      <pc:sldChg chg="modSp mod">
        <pc:chgData name="Boone Severson" userId="1d942a2b-e0b5-491a-b49e-d500fa0ad426" providerId="ADAL" clId="{06396791-FBAF-6D48-8A1F-EA585B00068C}" dt="2024-10-15T14:22:49.411" v="325" actId="20577"/>
        <pc:sldMkLst>
          <pc:docMk/>
          <pc:sldMk cId="3752741187" sldId="647"/>
        </pc:sldMkLst>
        <pc:spChg chg="mod">
          <ac:chgData name="Boone Severson" userId="1d942a2b-e0b5-491a-b49e-d500fa0ad426" providerId="ADAL" clId="{06396791-FBAF-6D48-8A1F-EA585B00068C}" dt="2024-10-15T14:22:49.411" v="325" actId="20577"/>
          <ac:spMkLst>
            <pc:docMk/>
            <pc:sldMk cId="3752741187" sldId="647"/>
            <ac:spMk id="9219" creationId="{86B2681B-653A-4C3E-9623-0EF5A9ADD07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5363" name="Rectangle 3"/>
          <p:cNvSpPr>
            <a:spLocks noGrp="1" noChangeArrowheads="1"/>
          </p:cNvSpPr>
          <p:nvPr>
            <p:ph type="dt" sz="quarter"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15364" name="Rectangle 4"/>
          <p:cNvSpPr>
            <a:spLocks noGrp="1" noChangeArrowheads="1"/>
          </p:cNvSpPr>
          <p:nvPr>
            <p:ph type="ftr" sz="quarter" idx="2"/>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r>
              <a:rPr lang="en-US"/>
              <a:t>CS/ECE 552: Introduction To Computer Architecture</a:t>
            </a:r>
          </a:p>
        </p:txBody>
      </p:sp>
      <p:sp>
        <p:nvSpPr>
          <p:cNvPr id="15365" name="Rectangle 5"/>
          <p:cNvSpPr>
            <a:spLocks noGrp="1" noChangeArrowheads="1"/>
          </p:cNvSpPr>
          <p:nvPr>
            <p:ph type="sldNum" sz="quarter" idx="3"/>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A83ACFC1-9505-4A40-9977-AABD7496088F}" type="slidenum">
              <a:rPr lang="en-US" altLang="en-US"/>
              <a:pPr/>
              <a:t>‹#›</a:t>
            </a:fld>
            <a:endParaRPr lang="en-US" altLang="en-US"/>
          </a:p>
        </p:txBody>
      </p:sp>
    </p:spTree>
    <p:extLst>
      <p:ext uri="{BB962C8B-B14F-4D97-AF65-F5344CB8AC3E}">
        <p14:creationId xmlns:p14="http://schemas.microsoft.com/office/powerpoint/2010/main" val="2208075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7411" name="Rectangle 3"/>
          <p:cNvSpPr>
            <a:spLocks noGrp="1" noChangeArrowheads="1"/>
          </p:cNvSpPr>
          <p:nvPr>
            <p:ph type="dt"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77828" name="Rectangle 4"/>
          <p:cNvSpPr>
            <a:spLocks noGrp="1" noRot="1" noChangeAspect="1" noChangeArrowheads="1" noTextEdit="1"/>
          </p:cNvSpPr>
          <p:nvPr>
            <p:ph type="sldImg" idx="2"/>
          </p:nvPr>
        </p:nvSpPr>
        <p:spPr bwMode="auto">
          <a:xfrm>
            <a:off x="1074738" y="706438"/>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2813" y="4464050"/>
            <a:ext cx="5019675" cy="4225925"/>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endParaRPr lang="en-US"/>
          </a:p>
        </p:txBody>
      </p:sp>
      <p:sp>
        <p:nvSpPr>
          <p:cNvPr id="17415" name="Rectangle 7"/>
          <p:cNvSpPr>
            <a:spLocks noGrp="1" noChangeArrowheads="1"/>
          </p:cNvSpPr>
          <p:nvPr>
            <p:ph type="sldNum" sz="quarter" idx="5"/>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BD4F155C-6C9D-4ED5-8550-5376FDF284CA}" type="slidenum">
              <a:rPr lang="en-US" altLang="en-US"/>
              <a:pPr/>
              <a:t>‹#›</a:t>
            </a:fld>
            <a:endParaRPr lang="en-US" altLang="en-US"/>
          </a:p>
        </p:txBody>
      </p:sp>
    </p:spTree>
    <p:extLst>
      <p:ext uri="{BB962C8B-B14F-4D97-AF65-F5344CB8AC3E}">
        <p14:creationId xmlns:p14="http://schemas.microsoft.com/office/powerpoint/2010/main" val="23907389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a:t>
            </a:fld>
            <a:endParaRPr lang="en-US" altLang="en-US"/>
          </a:p>
        </p:txBody>
      </p:sp>
    </p:spTree>
    <p:extLst>
      <p:ext uri="{BB962C8B-B14F-4D97-AF65-F5344CB8AC3E}">
        <p14:creationId xmlns:p14="http://schemas.microsoft.com/office/powerpoint/2010/main" val="4131774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a:t>
            </a:fld>
            <a:endParaRPr lang="en-US" altLang="en-US"/>
          </a:p>
        </p:txBody>
      </p:sp>
    </p:spTree>
    <p:extLst>
      <p:ext uri="{BB962C8B-B14F-4D97-AF65-F5344CB8AC3E}">
        <p14:creationId xmlns:p14="http://schemas.microsoft.com/office/powerpoint/2010/main" val="3588425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a:t>
            </a:fld>
            <a:endParaRPr lang="en-US" altLang="en-US"/>
          </a:p>
        </p:txBody>
      </p:sp>
    </p:spTree>
    <p:extLst>
      <p:ext uri="{BB962C8B-B14F-4D97-AF65-F5344CB8AC3E}">
        <p14:creationId xmlns:p14="http://schemas.microsoft.com/office/powerpoint/2010/main" val="881354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4</a:t>
            </a:fld>
            <a:endParaRPr lang="en-US" altLang="en-US"/>
          </a:p>
        </p:txBody>
      </p:sp>
    </p:spTree>
    <p:extLst>
      <p:ext uri="{BB962C8B-B14F-4D97-AF65-F5344CB8AC3E}">
        <p14:creationId xmlns:p14="http://schemas.microsoft.com/office/powerpoint/2010/main" val="586242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5</a:t>
            </a:fld>
            <a:endParaRPr lang="en-US" altLang="en-US"/>
          </a:p>
        </p:txBody>
      </p:sp>
    </p:spTree>
    <p:extLst>
      <p:ext uri="{BB962C8B-B14F-4D97-AF65-F5344CB8AC3E}">
        <p14:creationId xmlns:p14="http://schemas.microsoft.com/office/powerpoint/2010/main" val="2800787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6</a:t>
            </a:fld>
            <a:endParaRPr lang="en-US" altLang="en-US"/>
          </a:p>
        </p:txBody>
      </p:sp>
    </p:spTree>
    <p:extLst>
      <p:ext uri="{BB962C8B-B14F-4D97-AF65-F5344CB8AC3E}">
        <p14:creationId xmlns:p14="http://schemas.microsoft.com/office/powerpoint/2010/main" val="36189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7</a:t>
            </a:fld>
            <a:endParaRPr lang="en-US" altLang="en-US"/>
          </a:p>
        </p:txBody>
      </p:sp>
    </p:spTree>
    <p:extLst>
      <p:ext uri="{BB962C8B-B14F-4D97-AF65-F5344CB8AC3E}">
        <p14:creationId xmlns:p14="http://schemas.microsoft.com/office/powerpoint/2010/main" val="3194994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8</a:t>
            </a:fld>
            <a:endParaRPr lang="en-US" altLang="en-US"/>
          </a:p>
        </p:txBody>
      </p:sp>
    </p:spTree>
    <p:extLst>
      <p:ext uri="{BB962C8B-B14F-4D97-AF65-F5344CB8AC3E}">
        <p14:creationId xmlns:p14="http://schemas.microsoft.com/office/powerpoint/2010/main" val="1522241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9</a:t>
            </a:fld>
            <a:endParaRPr lang="en-US" altLang="en-US"/>
          </a:p>
        </p:txBody>
      </p:sp>
    </p:spTree>
    <p:extLst>
      <p:ext uri="{BB962C8B-B14F-4D97-AF65-F5344CB8AC3E}">
        <p14:creationId xmlns:p14="http://schemas.microsoft.com/office/powerpoint/2010/main" val="24836354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slideMaster" Target="../slideMasters/slideMaster1.xml"/><Relationship Id="rId4" Type="http://schemas.openxmlformats.org/officeDocument/2006/relationships/tags" Target="../tags/tag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custDataLst>
              <p:tags r:id="rId3"/>
            </p:custDataLst>
          </p:nvPr>
        </p:nvSpPr>
        <p:spPr/>
        <p:txBody>
          <a:bodyPr/>
          <a:lstStyle>
            <a:lvl1pPr>
              <a:defRPr/>
            </a:lvl1pPr>
          </a:lstStyle>
          <a:p>
            <a:pPr>
              <a:defRPr/>
            </a:pPr>
            <a:endParaRPr lang="en-US"/>
          </a:p>
        </p:txBody>
      </p:sp>
      <p:sp>
        <p:nvSpPr>
          <p:cNvPr id="6" name="Slide Number Placeholder 5"/>
          <p:cNvSpPr>
            <a:spLocks noGrp="1"/>
          </p:cNvSpPr>
          <p:nvPr>
            <p:ph type="sldNum" sz="quarter" idx="12"/>
            <p:custDataLst>
              <p:tags r:id="rId4"/>
            </p:custDataLst>
          </p:nvPr>
        </p:nvSpPr>
        <p:spPr/>
        <p:txBody>
          <a:bodyPr/>
          <a:lstStyle>
            <a:lvl2pPr lvl="1">
              <a:defRPr/>
            </a:lvl2pPr>
          </a:lstStyle>
          <a:p>
            <a:pPr lvl="1"/>
            <a:fld id="{75A2B101-C660-424C-9ADC-11231547BD22}" type="slidenum">
              <a:rPr lang="en-US" altLang="en-US" smtClean="0"/>
              <a:pPr lvl="1"/>
              <a:t>‹#›</a:t>
            </a:fld>
            <a:endParaRPr lang="en-US" altLang="en-US"/>
          </a:p>
        </p:txBody>
      </p:sp>
      <p:pic>
        <p:nvPicPr>
          <p:cNvPr id="7" name="Picture 6" descr="LOGO_200"/>
          <p:cNvPicPr>
            <a:picLocks noChangeAspect="1" noChangeArrowheads="1"/>
          </p:cNvPicPr>
          <p:nvPr/>
        </p:nvPicPr>
        <p:blipFill>
          <a:blip r:embed="rId6" cstate="print"/>
          <a:srcRect/>
          <a:stretch>
            <a:fillRect/>
          </a:stretch>
        </p:blipFill>
        <p:spPr bwMode="auto">
          <a:xfrm>
            <a:off x="3276600" y="228600"/>
            <a:ext cx="2286000" cy="2286000"/>
          </a:xfrm>
          <a:prstGeom prst="rect">
            <a:avLst/>
          </a:prstGeom>
          <a:noFill/>
          <a:ln w="9525">
            <a:noFill/>
            <a:miter lim="800000"/>
            <a:headEnd/>
            <a:tailEnd/>
          </a:ln>
        </p:spPr>
      </p:pic>
      <p:pic>
        <p:nvPicPr>
          <p:cNvPr id="8" name="Picture 7" descr="LOGO_200"/>
          <p:cNvPicPr>
            <a:picLocks noChangeAspect="1" noChangeArrowheads="1"/>
          </p:cNvPicPr>
          <p:nvPr/>
        </p:nvPicPr>
        <p:blipFill>
          <a:blip r:embed="rId6" cstate="print"/>
          <a:srcRect/>
          <a:stretch>
            <a:fillRect/>
          </a:stretch>
        </p:blipFill>
        <p:spPr bwMode="auto">
          <a:xfrm>
            <a:off x="3276600" y="228600"/>
            <a:ext cx="2286000" cy="2286000"/>
          </a:xfrm>
          <a:prstGeom prst="rect">
            <a:avLst/>
          </a:prstGeom>
          <a:noFill/>
          <a:ln w="9525">
            <a:noFill/>
            <a:miter lim="800000"/>
            <a:headEnd/>
            <a:tailEnd/>
          </a:ln>
        </p:spPr>
      </p:pic>
    </p:spTree>
    <p:extLst>
      <p:ext uri="{BB962C8B-B14F-4D97-AF65-F5344CB8AC3E}">
        <p14:creationId xmlns:p14="http://schemas.microsoft.com/office/powerpoint/2010/main" val="295510146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lvl1pPr>
              <a:defRPr/>
            </a:lvl1pPr>
          </a:lstStyle>
          <a:p>
            <a:pPr>
              <a:defRPr/>
            </a:pPr>
            <a:endParaRPr lang="en-US"/>
          </a:p>
        </p:txBody>
      </p:sp>
      <p:sp>
        <p:nvSpPr>
          <p:cNvPr id="6" name="Slide Number Placeholder 5"/>
          <p:cNvSpPr>
            <a:spLocks noGrp="1"/>
          </p:cNvSpPr>
          <p:nvPr>
            <p:ph type="sldNum" sz="quarter" idx="12"/>
            <p:custDataLst>
              <p:tags r:id="rId4"/>
            </p:custDataLst>
          </p:nvPr>
        </p:nvSpPr>
        <p:spPr/>
        <p:txBody>
          <a:bodyPr/>
          <a:lstStyle>
            <a:lvl2pPr lvl="1">
              <a:defRPr/>
            </a:lvl2pPr>
          </a:lstStyle>
          <a:p>
            <a:pPr lvl="1"/>
            <a:fld id="{35B60D93-CC8C-4BE3-8466-59E10CB9DAB3}" type="slidenum">
              <a:rPr lang="en-US" altLang="en-US" smtClean="0"/>
              <a:pPr lvl="1"/>
              <a:t>‹#›</a:t>
            </a:fld>
            <a:endParaRPr lang="en-US" altLang="en-US">
              <a:latin typeface="Calibri" panose="020F0502020204030204" pitchFamily="34" charset="0"/>
            </a:endParaRPr>
          </a:p>
        </p:txBody>
      </p:sp>
    </p:spTree>
    <p:extLst>
      <p:ext uri="{BB962C8B-B14F-4D97-AF65-F5344CB8AC3E}">
        <p14:creationId xmlns:p14="http://schemas.microsoft.com/office/powerpoint/2010/main" val="2235375274"/>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tags" Target="../tags/tag5.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custDataLst>
              <p:tags r:id="rId4"/>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custDataLst>
              <p:tags r:id="rId5"/>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custDataLst>
              <p:tags r:id="rId6"/>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p>
        </p:txBody>
      </p:sp>
      <p:sp>
        <p:nvSpPr>
          <p:cNvPr id="6" name="Slide Number Placeholder 5"/>
          <p:cNvSpPr>
            <a:spLocks noGrp="1"/>
          </p:cNvSpPr>
          <p:nvPr>
            <p:ph type="sldNum" sz="quarter" idx="4"/>
            <p:custDataLst>
              <p:tags r:id="rId7"/>
            </p:custDataLst>
          </p:nvPr>
        </p:nvSpPr>
        <p:spPr>
          <a:xfrm>
            <a:off x="7620000" y="6356350"/>
            <a:ext cx="1066800" cy="365125"/>
          </a:xfrm>
          <a:prstGeom prst="rect">
            <a:avLst/>
          </a:prstGeom>
        </p:spPr>
        <p:txBody>
          <a:bodyPr vert="horz" lIns="91440" tIns="45720" rIns="91440" bIns="45720" rtlCol="0" anchor="ctr"/>
          <a:lstStyle>
            <a:lvl1pPr algn="r">
              <a:defRPr sz="1200">
                <a:solidFill>
                  <a:schemeClr val="tx1">
                    <a:tint val="75000"/>
                  </a:schemeClr>
                </a:solidFill>
              </a:defRPr>
            </a:lvl1pPr>
            <a:lvl2pPr lvl="1" algn="r">
              <a:defRPr baseline="0">
                <a:latin typeface="Calibri" panose="020F0502020204030204" pitchFamily="34" charset="0"/>
              </a:defRPr>
            </a:lvl2pPr>
          </a:lstStyle>
          <a:p>
            <a:pPr lvl="1"/>
            <a:fld id="{364C03C9-A82B-4593-8D4F-5FC476352E11}" type="slidenum">
              <a:rPr lang="en-US" altLang="en-US" smtClean="0"/>
              <a:pPr lvl="1"/>
              <a:t>‹#›</a:t>
            </a:fld>
            <a:endParaRPr lang="en-US" altLang="en-US"/>
          </a:p>
        </p:txBody>
      </p:sp>
    </p:spTree>
    <p:extLst>
      <p:ext uri="{BB962C8B-B14F-4D97-AF65-F5344CB8AC3E}">
        <p14:creationId xmlns:p14="http://schemas.microsoft.com/office/powerpoint/2010/main" val="2379839104"/>
      </p:ext>
    </p:extLst>
  </p:cSld>
  <p:clrMap bg1="lt1" tx1="dk1" bg2="lt2" tx2="dk2" accent1="accent1" accent2="accent2" accent3="accent3" accent4="accent4" accent5="accent5" accent6="accent6" hlink="hlink" folHlink="folHlink"/>
  <p:sldLayoutIdLst>
    <p:sldLayoutId id="2147483701" r:id="rId1"/>
    <p:sldLayoutId id="2147483702" r:id="rId2"/>
  </p:sldLayoutIdLst>
  <p:transition/>
  <p:hf hdr="0" dt="0"/>
  <p:txStyles>
    <p:titleStyle>
      <a:lvl1pPr algn="ctr" rtl="0" eaLnBrk="1" fontAlgn="base" hangingPunct="1">
        <a:spcBef>
          <a:spcPct val="0"/>
        </a:spcBef>
        <a:spcAft>
          <a:spcPct val="0"/>
        </a:spcAft>
        <a:defRPr sz="4400" b="0" i="0" u="none"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22.xml"/><Relationship Id="rId7"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9" Type="http://schemas.openxmlformats.org/officeDocument/2006/relationships/image" Target="../media/image2.emf"/></Relationships>
</file>

<file path=ppt/slides/_rels/slide4.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10" Type="http://schemas.openxmlformats.org/officeDocument/2006/relationships/notesSlide" Target="../notesSlides/notesSlide4.xml"/><Relationship Id="rId4" Type="http://schemas.openxmlformats.org/officeDocument/2006/relationships/tags" Target="../tags/tag29.xml"/><Relationship Id="rId9"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3.jpe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notesSlide" Target="../notesSlides/notesSlide5.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slideLayout" Target="../slideLayouts/slideLayout2.xml"/><Relationship Id="rId5" Type="http://schemas.openxmlformats.org/officeDocument/2006/relationships/tags" Target="../tags/tag38.xml"/><Relationship Id="rId10" Type="http://schemas.openxmlformats.org/officeDocument/2006/relationships/tags" Target="../tags/tag43.xml"/><Relationship Id="rId4" Type="http://schemas.openxmlformats.org/officeDocument/2006/relationships/tags" Target="../tags/tag37.xml"/><Relationship Id="rId9" Type="http://schemas.openxmlformats.org/officeDocument/2006/relationships/tags" Target="../tags/tag42.xml"/></Relationships>
</file>

<file path=ppt/slides/_rels/slide6.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10" Type="http://schemas.openxmlformats.org/officeDocument/2006/relationships/notesSlide" Target="../notesSlides/notesSlide6.xml"/><Relationship Id="rId4" Type="http://schemas.openxmlformats.org/officeDocument/2006/relationships/tags" Target="../tags/tag47.xml"/><Relationship Id="rId9"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18" Type="http://schemas.openxmlformats.org/officeDocument/2006/relationships/tags" Target="../tags/tag69.xml"/><Relationship Id="rId26" Type="http://schemas.openxmlformats.org/officeDocument/2006/relationships/tags" Target="../tags/tag77.xml"/><Relationship Id="rId3" Type="http://schemas.openxmlformats.org/officeDocument/2006/relationships/tags" Target="../tags/tag54.xml"/><Relationship Id="rId21" Type="http://schemas.openxmlformats.org/officeDocument/2006/relationships/tags" Target="../tags/tag72.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tags" Target="../tags/tag68.xml"/><Relationship Id="rId25" Type="http://schemas.openxmlformats.org/officeDocument/2006/relationships/tags" Target="../tags/tag76.xml"/><Relationship Id="rId2" Type="http://schemas.openxmlformats.org/officeDocument/2006/relationships/tags" Target="../tags/tag53.xml"/><Relationship Id="rId16" Type="http://schemas.openxmlformats.org/officeDocument/2006/relationships/tags" Target="../tags/tag67.xml"/><Relationship Id="rId20" Type="http://schemas.openxmlformats.org/officeDocument/2006/relationships/tags" Target="../tags/tag71.xml"/><Relationship Id="rId29" Type="http://schemas.openxmlformats.org/officeDocument/2006/relationships/notesSlide" Target="../notesSlides/notesSlide7.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24" Type="http://schemas.openxmlformats.org/officeDocument/2006/relationships/tags" Target="../tags/tag75.xml"/><Relationship Id="rId5" Type="http://schemas.openxmlformats.org/officeDocument/2006/relationships/tags" Target="../tags/tag56.xml"/><Relationship Id="rId15" Type="http://schemas.openxmlformats.org/officeDocument/2006/relationships/tags" Target="../tags/tag66.xml"/><Relationship Id="rId23" Type="http://schemas.openxmlformats.org/officeDocument/2006/relationships/tags" Target="../tags/tag74.xml"/><Relationship Id="rId28" Type="http://schemas.openxmlformats.org/officeDocument/2006/relationships/slideLayout" Target="../slideLayouts/slideLayout2.xml"/><Relationship Id="rId10" Type="http://schemas.openxmlformats.org/officeDocument/2006/relationships/tags" Target="../tags/tag61.xml"/><Relationship Id="rId19" Type="http://schemas.openxmlformats.org/officeDocument/2006/relationships/tags" Target="../tags/tag70.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 Id="rId22" Type="http://schemas.openxmlformats.org/officeDocument/2006/relationships/tags" Target="../tags/tag73.xml"/><Relationship Id="rId27" Type="http://schemas.openxmlformats.org/officeDocument/2006/relationships/tags" Target="../tags/tag78.xml"/><Relationship Id="rId30" Type="http://schemas.openxmlformats.org/officeDocument/2006/relationships/image" Target="../media/image3.jpeg"/></Relationships>
</file>

<file path=ppt/slides/_rels/slide8.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5" Type="http://schemas.openxmlformats.org/officeDocument/2006/relationships/tags" Target="../tags/tag83.xml"/><Relationship Id="rId10" Type="http://schemas.openxmlformats.org/officeDocument/2006/relationships/notesSlide" Target="../notesSlides/notesSlide8.xml"/><Relationship Id="rId4" Type="http://schemas.openxmlformats.org/officeDocument/2006/relationships/tags" Target="../tags/tag82.xml"/><Relationship Id="rId9"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image" Target="../media/image3.jpeg"/><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notesSlide" Target="../notesSlides/notesSlide9.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slideLayout" Target="../slideLayouts/slideLayout2.xml"/><Relationship Id="rId5" Type="http://schemas.openxmlformats.org/officeDocument/2006/relationships/tags" Target="../tags/tag91.xml"/><Relationship Id="rId10" Type="http://schemas.openxmlformats.org/officeDocument/2006/relationships/tags" Target="../tags/tag96.xml"/><Relationship Id="rId4" Type="http://schemas.openxmlformats.org/officeDocument/2006/relationships/tags" Target="../tags/tag90.xml"/><Relationship Id="rId9" Type="http://schemas.openxmlformats.org/officeDocument/2006/relationships/tags" Target="../tags/tag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custDataLst>
              <p:tags r:id="rId2"/>
            </p:custDataLst>
          </p:nvPr>
        </p:nvSpPr>
        <p:spPr>
          <a:xfrm>
            <a:off x="457200" y="2590800"/>
            <a:ext cx="8229600" cy="1524000"/>
          </a:xfrm>
        </p:spPr>
        <p:txBody>
          <a:bodyPr/>
          <a:lstStyle/>
          <a:p>
            <a:pPr eaLnBrk="1" hangingPunct="1"/>
            <a:r>
              <a:rPr lang="en-US" altLang="en-US" dirty="0"/>
              <a:t>ECE/CS 552: Control Hazards and Exceptions</a:t>
            </a:r>
          </a:p>
        </p:txBody>
      </p:sp>
      <p:sp>
        <p:nvSpPr>
          <p:cNvPr id="3" name="Subtitle 2"/>
          <p:cNvSpPr>
            <a:spLocks noGrp="1"/>
          </p:cNvSpPr>
          <p:nvPr>
            <p:ph type="subTitle" idx="1"/>
            <p:custDataLst>
              <p:tags r:id="rId3"/>
            </p:custDataLst>
          </p:nvPr>
        </p:nvSpPr>
        <p:spPr>
          <a:xfrm>
            <a:off x="1371600" y="4114800"/>
            <a:ext cx="6400800" cy="1752600"/>
          </a:xfrm>
        </p:spPr>
        <p:txBody>
          <a:bodyPr>
            <a:normAutofit fontScale="62500" lnSpcReduction="20000"/>
          </a:bodyPr>
          <a:lstStyle/>
          <a:p>
            <a:pPr eaLnBrk="1" hangingPunct="1">
              <a:buFont typeface="Arial" charset="0"/>
              <a:buNone/>
              <a:defRPr/>
            </a:pPr>
            <a:r>
              <a:rPr lang="en-US" dirty="0"/>
              <a:t>Boone Severson</a:t>
            </a:r>
          </a:p>
          <a:p>
            <a:pPr eaLnBrk="1" hangingPunct="1">
              <a:buFont typeface="Arial" charset="0"/>
              <a:buNone/>
              <a:defRPr/>
            </a:pPr>
            <a:endParaRPr lang="en-US" dirty="0"/>
          </a:p>
          <a:p>
            <a:pPr eaLnBrk="1" hangingPunct="1">
              <a:buFont typeface="Arial" charset="0"/>
              <a:buNone/>
              <a:defRPr/>
            </a:pPr>
            <a:r>
              <a:rPr lang="en-US" dirty="0"/>
              <a:t>Lecture notes based in part on slides created by Joshua San Miguel, </a:t>
            </a:r>
            <a:r>
              <a:rPr lang="en-US" dirty="0" err="1"/>
              <a:t>Mikko</a:t>
            </a:r>
            <a:r>
              <a:rPr lang="en-US" dirty="0"/>
              <a:t> </a:t>
            </a:r>
            <a:r>
              <a:rPr lang="en-US" dirty="0" err="1"/>
              <a:t>Lipasti</a:t>
            </a:r>
            <a:r>
              <a:rPr lang="en-US" dirty="0"/>
              <a:t>, Mark Hill and John Shen</a:t>
            </a:r>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extLst>
      <p:ext uri="{BB962C8B-B14F-4D97-AF65-F5344CB8AC3E}">
        <p14:creationId xmlns:p14="http://schemas.microsoft.com/office/powerpoint/2010/main" val="239283850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Announcements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447800"/>
            <a:ext cx="8686800" cy="4876800"/>
          </a:xfrm>
        </p:spPr>
        <p:txBody>
          <a:bodyPr/>
          <a:lstStyle/>
          <a:p>
            <a:pPr eaLnBrk="1" hangingPunct="1"/>
            <a:r>
              <a:rPr lang="en-US" altLang="en-US" sz="2800" dirty="0"/>
              <a:t>Project Phase 1 Due October 21</a:t>
            </a:r>
          </a:p>
          <a:p>
            <a:pPr lvl="1"/>
            <a:r>
              <a:rPr lang="en-US" altLang="en-US" sz="2400" dirty="0"/>
              <a:t>Follow all ISA rules carefully</a:t>
            </a:r>
          </a:p>
          <a:p>
            <a:pPr lvl="1"/>
            <a:r>
              <a:rPr lang="en-US" altLang="en-US" sz="2400" dirty="0"/>
              <a:t>Follow submission rules carefully</a:t>
            </a:r>
          </a:p>
          <a:p>
            <a:pPr lvl="2"/>
            <a:r>
              <a:rPr lang="en-US" altLang="en-US" sz="2000" dirty="0"/>
              <a:t>Use </a:t>
            </a:r>
            <a:r>
              <a:rPr lang="en-US" altLang="en-US" sz="2000" dirty="0" err="1"/>
              <a:t>Vcheck</a:t>
            </a:r>
            <a:r>
              <a:rPr lang="en-US" altLang="en-US" sz="2000" dirty="0"/>
              <a:t>!</a:t>
            </a:r>
          </a:p>
          <a:p>
            <a:pPr lvl="2"/>
            <a:r>
              <a:rPr lang="en-US" altLang="en-US" sz="2000" dirty="0"/>
              <a:t>Create more programs if you wish, but test1-3 results are required</a:t>
            </a:r>
          </a:p>
          <a:p>
            <a:pPr eaLnBrk="1" hangingPunct="1"/>
            <a:r>
              <a:rPr lang="en-US" altLang="en-US" sz="2800"/>
              <a:t>Midterm next week: </a:t>
            </a:r>
            <a:r>
              <a:rPr lang="en-US" altLang="en-US" sz="2800" dirty="0"/>
              <a:t>Thursday 10/24 </a:t>
            </a:r>
            <a:r>
              <a:rPr lang="en-US" altLang="en-US" sz="2800" i="1" dirty="0"/>
              <a:t>during class</a:t>
            </a:r>
          </a:p>
          <a:p>
            <a:pPr lvl="1"/>
            <a:r>
              <a:rPr lang="en-US" altLang="en-US" sz="2400" dirty="0"/>
              <a:t>Midterm review in-class Wednesday 10/22</a:t>
            </a:r>
          </a:p>
        </p:txBody>
      </p:sp>
    </p:spTree>
    <p:custDataLst>
      <p:tags r:id="rId1"/>
    </p:custDataLst>
    <p:extLst>
      <p:ext uri="{BB962C8B-B14F-4D97-AF65-F5344CB8AC3E}">
        <p14:creationId xmlns:p14="http://schemas.microsoft.com/office/powerpoint/2010/main" val="375274118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A66F53-44CE-4BF2-9A56-7D25CB56BB73}"/>
              </a:ext>
            </a:extLst>
          </p:cNvPr>
          <p:cNvPicPr>
            <a:picLocks noChangeAspect="1"/>
          </p:cNvPicPr>
          <p:nvPr>
            <p:custDataLst>
              <p:tags r:id="rId2"/>
            </p:custDataLst>
          </p:nvPr>
        </p:nvPicPr>
        <p:blipFill>
          <a:blip r:embed="rId9"/>
          <a:stretch>
            <a:fillRect/>
          </a:stretch>
        </p:blipFill>
        <p:spPr>
          <a:xfrm>
            <a:off x="1725683" y="2842578"/>
            <a:ext cx="5692633" cy="4015422"/>
          </a:xfrm>
          <a:prstGeom prst="rect">
            <a:avLst/>
          </a:prstGeom>
        </p:spPr>
      </p:pic>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3"/>
            </p:custDataLst>
          </p:nvPr>
        </p:nvSpPr>
        <p:spPr>
          <a:xfrm>
            <a:off x="457200" y="274638"/>
            <a:ext cx="7467600" cy="1143000"/>
          </a:xfrm>
        </p:spPr>
        <p:txBody>
          <a:bodyPr/>
          <a:lstStyle/>
          <a:p>
            <a:r>
              <a:rPr lang="en-US" altLang="en-US" dirty="0"/>
              <a:t>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4"/>
            </p:custDataLst>
          </p:nvPr>
        </p:nvSpPr>
        <p:spPr>
          <a:xfrm>
            <a:off x="457200" y="1447800"/>
            <a:ext cx="8686800" cy="1828800"/>
          </a:xfrm>
        </p:spPr>
        <p:txBody>
          <a:bodyPr/>
          <a:lstStyle/>
          <a:p>
            <a:pPr eaLnBrk="1" hangingPunct="1"/>
            <a:r>
              <a:rPr lang="en-US" altLang="en-US" sz="2800" dirty="0"/>
              <a:t>When an incorrect instruction is fetched because the outcome of a previous branch has not yet been resolved</a:t>
            </a:r>
          </a:p>
          <a:p>
            <a:pPr lvl="1"/>
            <a:r>
              <a:rPr lang="en-US" altLang="en-US" sz="2400" dirty="0"/>
              <a:t>e.g., If branches resolved in M stage (COD Figure 4.51)</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5"/>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3</a:t>
            </a:fld>
            <a:endParaRPr lang="en-US" altLang="en-US">
              <a:latin typeface="Calibri" panose="020F0502020204030204" pitchFamily="34" charset="0"/>
            </a:endParaRPr>
          </a:p>
        </p:txBody>
      </p:sp>
      <p:sp>
        <p:nvSpPr>
          <p:cNvPr id="4" name="Oval 3">
            <a:extLst>
              <a:ext uri="{FF2B5EF4-FFF2-40B4-BE49-F238E27FC236}">
                <a16:creationId xmlns:a16="http://schemas.microsoft.com/office/drawing/2014/main" id="{D89A61CD-C225-4CD1-BFC6-1814F366C17F}"/>
              </a:ext>
            </a:extLst>
          </p:cNvPr>
          <p:cNvSpPr/>
          <p:nvPr>
            <p:custDataLst>
              <p:tags r:id="rId6"/>
            </p:custDataLst>
          </p:nvPr>
        </p:nvSpPr>
        <p:spPr>
          <a:xfrm>
            <a:off x="5791200" y="4267200"/>
            <a:ext cx="762000" cy="762000"/>
          </a:xfrm>
          <a:prstGeom prst="ellipse">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8551108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447800"/>
            <a:ext cx="8686800" cy="1828800"/>
          </a:xfrm>
        </p:spPr>
        <p:txBody>
          <a:bodyPr/>
          <a:lstStyle/>
          <a:p>
            <a:pPr eaLnBrk="1" hangingPunct="1"/>
            <a:r>
              <a:rPr lang="en-US" altLang="en-US" sz="2800" dirty="0"/>
              <a:t>When an incorrect instruction is fetched because the outcome of a previous branch has not yet been resolved</a:t>
            </a:r>
          </a:p>
          <a:p>
            <a:pPr lvl="1"/>
            <a:r>
              <a:rPr lang="en-US" altLang="en-US" sz="2400" dirty="0"/>
              <a:t>e.g., If branches resolved in M stage (COD Figure 4.51)</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4</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5"/>
            </p:custDataLst>
          </p:nvPr>
        </p:nvSpPr>
        <p:spPr bwMode="auto">
          <a:xfrm>
            <a:off x="682625" y="3048000"/>
            <a:ext cx="67087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err="1"/>
              <a:t>beq</a:t>
            </a:r>
            <a:r>
              <a:rPr lang="en-US" altLang="en-US" sz="2400" dirty="0"/>
              <a:t> $t0, $t1, TARGET</a:t>
            </a:r>
          </a:p>
          <a:p>
            <a:pPr marL="457200" lvl="1" indent="0">
              <a:lnSpc>
                <a:spcPct val="90000"/>
              </a:lnSpc>
              <a:buFont typeface="Arial" charset="0"/>
              <a:buNone/>
            </a:pPr>
            <a:r>
              <a:rPr lang="en-US" altLang="en-US" sz="2400" dirty="0" err="1"/>
              <a:t>lw</a:t>
            </a:r>
            <a:r>
              <a:rPr lang="en-US" altLang="en-US" sz="2400" dirty="0"/>
              <a:t> $t3, 0($t0)</a:t>
            </a:r>
          </a:p>
          <a:p>
            <a:pPr marL="457200" lvl="1" indent="0">
              <a:lnSpc>
                <a:spcPct val="90000"/>
              </a:lnSpc>
              <a:buNone/>
            </a:pPr>
            <a:r>
              <a:rPr lang="en-US" altLang="en-US" sz="2400" dirty="0"/>
              <a:t>add $t4, $t5, $t6</a:t>
            </a:r>
          </a:p>
          <a:p>
            <a:pPr marL="457200" lvl="1" indent="0">
              <a:lnSpc>
                <a:spcPct val="90000"/>
              </a:lnSpc>
              <a:buNone/>
            </a:pPr>
            <a:r>
              <a:rPr lang="en-US" altLang="en-US" sz="2400" dirty="0"/>
              <a:t>or $t2, $t1, $t7</a:t>
            </a:r>
          </a:p>
          <a:p>
            <a:pPr marL="457200" lvl="1" indent="0">
              <a:lnSpc>
                <a:spcPct val="90000"/>
              </a:lnSpc>
              <a:buFont typeface="Arial" charset="0"/>
              <a:buNone/>
            </a:pPr>
            <a:endParaRPr lang="en-US" altLang="en-US" sz="2400" dirty="0"/>
          </a:p>
        </p:txBody>
      </p:sp>
      <p:graphicFrame>
        <p:nvGraphicFramePr>
          <p:cNvPr id="7" name="Group 4">
            <a:extLst>
              <a:ext uri="{FF2B5EF4-FFF2-40B4-BE49-F238E27FC236}">
                <a16:creationId xmlns:a16="http://schemas.microsoft.com/office/drawing/2014/main" id="{79EB3203-89A0-4254-82EC-CFC6361A0CB4}"/>
              </a:ext>
            </a:extLst>
          </p:cNvPr>
          <p:cNvGraphicFramePr>
            <a:graphicFrameLocks noGrp="1"/>
          </p:cNvGraphicFramePr>
          <p:nvPr>
            <p:custDataLst>
              <p:tags r:id="rId6"/>
            </p:custDataLst>
            <p:extLst>
              <p:ext uri="{D42A27DB-BD31-4B8C-83A1-F6EECF244321}">
                <p14:modId xmlns:p14="http://schemas.microsoft.com/office/powerpoint/2010/main" val="2451610337"/>
              </p:ext>
            </p:extLst>
          </p:nvPr>
        </p:nvGraphicFramePr>
        <p:xfrm>
          <a:off x="838200" y="4876800"/>
          <a:ext cx="7034213" cy="1837836"/>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err="1">
                          <a:ln>
                            <a:noFill/>
                          </a:ln>
                          <a:solidFill>
                            <a:schemeClr val="tx1"/>
                          </a:solidFill>
                          <a:effectLst/>
                          <a:latin typeface="Times New Roman" pitchFamily="18" charset="0"/>
                        </a:rPr>
                        <a:t>insn</a:t>
                      </a:r>
                      <a:r>
                        <a:rPr kumimoji="0" lang="en-US" sz="1400" b="1" i="0" u="none" strike="noStrike" cap="none" normalizeH="0" baseline="0" dirty="0">
                          <a:ln>
                            <a:noFill/>
                          </a:ln>
                          <a:solidFill>
                            <a:schemeClr val="tx1"/>
                          </a:solidFill>
                          <a:effectLst/>
                          <a:latin typeface="Times New Roman" pitchFamily="18" charset="0"/>
                        </a:rPr>
                        <a:t>\cycle</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beq</a:t>
                      </a:r>
                      <a:endParaRPr kumimoji="0" lang="en-US" sz="1600" b="0" i="0" u="none" strike="noStrike" cap="none" normalizeH="0" baseline="0" dirty="0">
                        <a:ln>
                          <a:noFill/>
                        </a:ln>
                        <a:solidFill>
                          <a:schemeClr val="tx1"/>
                        </a:solidFill>
                        <a:effectLst/>
                        <a:latin typeface="Times New Roman" pitchFamily="18" charset="0"/>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lw</a:t>
                      </a:r>
                      <a:endParaRPr kumimoji="0" lang="en-US" sz="1600" b="0" i="0" u="none" strike="noStrike" cap="none" normalizeH="0" baseline="0" dirty="0">
                        <a:ln>
                          <a:noFill/>
                        </a:ln>
                        <a:solidFill>
                          <a:schemeClr val="tx1"/>
                        </a:solidFill>
                        <a:effectLst/>
                        <a:latin typeface="Times New Roman" pitchFamily="18" charset="0"/>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a:ln>
                            <a:noFill/>
                          </a:ln>
                          <a:solidFill>
                            <a:schemeClr val="tx1"/>
                          </a:solidFill>
                          <a:effectLst/>
                          <a:latin typeface="Times New Roman"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extLst>
                  <a:ext uri="{0D108BD9-81ED-4DB2-BD59-A6C34878D82A}">
                    <a16:rowId xmlns:a16="http://schemas.microsoft.com/office/drawing/2014/main" val="3216156394"/>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extLst>
                  <a:ext uri="{0D108BD9-81ED-4DB2-BD59-A6C34878D82A}">
                    <a16:rowId xmlns:a16="http://schemas.microsoft.com/office/drawing/2014/main" val="1487437293"/>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or</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extLst>
                  <a:ext uri="{0D108BD9-81ED-4DB2-BD59-A6C34878D82A}">
                    <a16:rowId xmlns:a16="http://schemas.microsoft.com/office/drawing/2014/main" val="1617127943"/>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a:ln>
                            <a:noFill/>
                          </a:ln>
                          <a:solidFill>
                            <a:schemeClr val="tx1"/>
                          </a:solidFill>
                          <a:effectLst/>
                          <a:latin typeface="Times New Roman" pitchFamily="18" charset="0"/>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a:ln>
                            <a:noFill/>
                          </a:ln>
                          <a:solidFill>
                            <a:schemeClr val="tx1"/>
                          </a:solidFill>
                          <a:effectLst/>
                          <a:latin typeface="Times New Roman"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Rectangle 3">
            <a:extLst>
              <a:ext uri="{FF2B5EF4-FFF2-40B4-BE49-F238E27FC236}">
                <a16:creationId xmlns:a16="http://schemas.microsoft.com/office/drawing/2014/main" id="{73F7769A-B6F0-4C27-8548-73038897A524}"/>
              </a:ext>
            </a:extLst>
          </p:cNvPr>
          <p:cNvSpPr txBox="1">
            <a:spLocks noChangeArrowheads="1"/>
          </p:cNvSpPr>
          <p:nvPr>
            <p:custDataLst>
              <p:tags r:id="rId7"/>
            </p:custDataLst>
          </p:nvPr>
        </p:nvSpPr>
        <p:spPr bwMode="auto">
          <a:xfrm>
            <a:off x="4800600" y="3048000"/>
            <a:ext cx="38893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TARGET:</a:t>
            </a:r>
          </a:p>
          <a:p>
            <a:pPr marL="457200" lvl="1" indent="0">
              <a:lnSpc>
                <a:spcPct val="90000"/>
              </a:lnSpc>
              <a:buFont typeface="Arial" charset="0"/>
              <a:buNone/>
            </a:pPr>
            <a:r>
              <a:rPr lang="en-US" altLang="en-US" sz="2400" dirty="0"/>
              <a:t>sub $t5, $t0, $t5</a:t>
            </a:r>
          </a:p>
        </p:txBody>
      </p:sp>
      <p:sp>
        <p:nvSpPr>
          <p:cNvPr id="10" name="Line 66">
            <a:extLst>
              <a:ext uri="{FF2B5EF4-FFF2-40B4-BE49-F238E27FC236}">
                <a16:creationId xmlns:a16="http://schemas.microsoft.com/office/drawing/2014/main" id="{93E5EEE6-5D3C-43A2-BBFA-BCB2A93FD06D}"/>
              </a:ext>
            </a:extLst>
          </p:cNvPr>
          <p:cNvSpPr>
            <a:spLocks noChangeShapeType="1"/>
          </p:cNvSpPr>
          <p:nvPr>
            <p:custDataLst>
              <p:tags r:id="rId8"/>
            </p:custDataLst>
          </p:nvPr>
        </p:nvSpPr>
        <p:spPr bwMode="auto">
          <a:xfrm>
            <a:off x="3810000" y="5334000"/>
            <a:ext cx="0" cy="1295400"/>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ustDataLst>
      <p:tags r:id="rId1"/>
    </p:custDataLst>
    <p:extLst>
      <p:ext uri="{BB962C8B-B14F-4D97-AF65-F5344CB8AC3E}">
        <p14:creationId xmlns:p14="http://schemas.microsoft.com/office/powerpoint/2010/main" val="189661798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447800"/>
            <a:ext cx="8686800" cy="1828800"/>
          </a:xfrm>
        </p:spPr>
        <p:txBody>
          <a:bodyPr/>
          <a:lstStyle/>
          <a:p>
            <a:pPr eaLnBrk="1" hangingPunct="1"/>
            <a:r>
              <a:rPr lang="en-US" altLang="en-US" sz="2800" dirty="0"/>
              <a:t>Predict-not-taken + resolve in ID:</a:t>
            </a:r>
          </a:p>
          <a:p>
            <a:pPr lvl="1"/>
            <a:r>
              <a:rPr lang="en-US" altLang="en-US" sz="2400" dirty="0"/>
              <a:t>Compute target and compare in ID stage (COD Figure 4.65)</a:t>
            </a:r>
          </a:p>
          <a:p>
            <a:pPr lvl="1"/>
            <a:r>
              <a:rPr lang="en-US" altLang="en-US" sz="2400" dirty="0"/>
              <a:t>Flush, if taken: clear IF/</a:t>
            </a:r>
            <a:r>
              <a:rPr lang="en-US" altLang="en-US" sz="2400" dirty="0" err="1"/>
              <a:t>ID.Instruction</a:t>
            </a:r>
            <a:r>
              <a:rPr lang="en-US" altLang="en-US" sz="2400" dirty="0"/>
              <a:t> to 0 (inserts NOP to ID)</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5</a:t>
            </a:fld>
            <a:endParaRPr lang="en-US" altLang="en-US">
              <a:latin typeface="Calibri" panose="020F0502020204030204" pitchFamily="34" charset="0"/>
            </a:endParaRPr>
          </a:p>
        </p:txBody>
      </p:sp>
      <p:pic>
        <p:nvPicPr>
          <p:cNvPr id="10"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82A4C8E4-704C-4E6C-B997-F5B277C8E83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08720" y="2900880"/>
            <a:ext cx="6326560" cy="3880920"/>
          </a:xfrm>
          <a:prstGeom prst="rect">
            <a:avLst/>
          </a:prstGeom>
          <a:noFill/>
          <a:extLst>
            <a:ext uri="{909E8E84-426E-40DD-AFC4-6F175D3DCCD1}">
              <a14:hiddenFill xmlns:a14="http://schemas.microsoft.com/office/drawing/2010/main">
                <a:solidFill>
                  <a:srgbClr val="FFFFFF"/>
                </a:solidFill>
              </a14:hiddenFill>
            </a:ext>
          </a:extLst>
        </p:spPr>
      </p:pic>
      <p:sp>
        <p:nvSpPr>
          <p:cNvPr id="12" name="Oval 11">
            <a:extLst>
              <a:ext uri="{FF2B5EF4-FFF2-40B4-BE49-F238E27FC236}">
                <a16:creationId xmlns:a16="http://schemas.microsoft.com/office/drawing/2014/main" id="{219BDE0B-5640-40C8-8945-0C5B080D5476}"/>
              </a:ext>
            </a:extLst>
          </p:cNvPr>
          <p:cNvSpPr/>
          <p:nvPr>
            <p:custDataLst>
              <p:tags r:id="rId5"/>
            </p:custDataLst>
          </p:nvPr>
        </p:nvSpPr>
        <p:spPr>
          <a:xfrm>
            <a:off x="3388824" y="3810000"/>
            <a:ext cx="1066800" cy="654843"/>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3">
            <a:extLst>
              <a:ext uri="{FF2B5EF4-FFF2-40B4-BE49-F238E27FC236}">
                <a16:creationId xmlns:a16="http://schemas.microsoft.com/office/drawing/2014/main" id="{DD16CF28-22A0-497A-8681-A7BFFFA36442}"/>
              </a:ext>
            </a:extLst>
          </p:cNvPr>
          <p:cNvSpPr txBox="1">
            <a:spLocks noChangeArrowheads="1"/>
          </p:cNvSpPr>
          <p:nvPr>
            <p:custDataLst>
              <p:tags r:id="rId6"/>
            </p:custDataLst>
          </p:nvPr>
        </p:nvSpPr>
        <p:spPr bwMode="auto">
          <a:xfrm>
            <a:off x="3276600" y="3600441"/>
            <a:ext cx="928428" cy="209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target</a:t>
            </a:r>
          </a:p>
        </p:txBody>
      </p:sp>
      <p:sp>
        <p:nvSpPr>
          <p:cNvPr id="14" name="Oval 13">
            <a:extLst>
              <a:ext uri="{FF2B5EF4-FFF2-40B4-BE49-F238E27FC236}">
                <a16:creationId xmlns:a16="http://schemas.microsoft.com/office/drawing/2014/main" id="{E5CA3984-6E7C-4636-B78F-578D6D10B0D9}"/>
              </a:ext>
            </a:extLst>
          </p:cNvPr>
          <p:cNvSpPr/>
          <p:nvPr>
            <p:custDataLst>
              <p:tags r:id="rId7"/>
            </p:custDataLst>
          </p:nvPr>
        </p:nvSpPr>
        <p:spPr>
          <a:xfrm>
            <a:off x="4050264" y="4419602"/>
            <a:ext cx="699921" cy="807244"/>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
            <a:extLst>
              <a:ext uri="{FF2B5EF4-FFF2-40B4-BE49-F238E27FC236}">
                <a16:creationId xmlns:a16="http://schemas.microsoft.com/office/drawing/2014/main" id="{6D13490E-67BD-4202-92DA-0DABDE412A33}"/>
              </a:ext>
            </a:extLst>
          </p:cNvPr>
          <p:cNvSpPr txBox="1">
            <a:spLocks noChangeArrowheads="1"/>
          </p:cNvSpPr>
          <p:nvPr>
            <p:custDataLst>
              <p:tags r:id="rId8"/>
            </p:custDataLst>
          </p:nvPr>
        </p:nvSpPr>
        <p:spPr bwMode="auto">
          <a:xfrm>
            <a:off x="3643572" y="5257800"/>
            <a:ext cx="928428" cy="209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compare</a:t>
            </a:r>
          </a:p>
        </p:txBody>
      </p:sp>
      <p:cxnSp>
        <p:nvCxnSpPr>
          <p:cNvPr id="8" name="Straight Connector 7">
            <a:extLst>
              <a:ext uri="{FF2B5EF4-FFF2-40B4-BE49-F238E27FC236}">
                <a16:creationId xmlns:a16="http://schemas.microsoft.com/office/drawing/2014/main" id="{4EED7253-BAC2-47C4-B6E2-6C7F03DA63AD}"/>
              </a:ext>
            </a:extLst>
          </p:cNvPr>
          <p:cNvCxnSpPr/>
          <p:nvPr/>
        </p:nvCxnSpPr>
        <p:spPr>
          <a:xfrm>
            <a:off x="4418243" y="5226846"/>
            <a:ext cx="0" cy="146304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5670965-F25B-4340-A21D-DDEBA82B4E1F}"/>
              </a:ext>
            </a:extLst>
          </p:cNvPr>
          <p:cNvCxnSpPr/>
          <p:nvPr/>
        </p:nvCxnSpPr>
        <p:spPr>
          <a:xfrm>
            <a:off x="1676400" y="5181600"/>
            <a:ext cx="0" cy="1554480"/>
          </a:xfrm>
          <a:prstGeom prst="line">
            <a:avLst/>
          </a:prstGeom>
          <a:ln w="25400">
            <a:solidFill>
              <a:schemeClr val="accent6">
                <a:lumMod val="75000"/>
              </a:schemeClr>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18D6F5C-7DD2-438A-B9FE-1458B89BE0E2}"/>
              </a:ext>
            </a:extLst>
          </p:cNvPr>
          <p:cNvCxnSpPr>
            <a:cxnSpLocks/>
          </p:cNvCxnSpPr>
          <p:nvPr/>
        </p:nvCxnSpPr>
        <p:spPr>
          <a:xfrm rot="5400000">
            <a:off x="3048000" y="5334000"/>
            <a:ext cx="0" cy="274320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3851FCF2-A630-48D0-B0CF-E4B12ECE67CC}"/>
              </a:ext>
            </a:extLst>
          </p:cNvPr>
          <p:cNvSpPr/>
          <p:nvPr>
            <p:custDataLst>
              <p:tags r:id="rId9"/>
            </p:custDataLst>
          </p:nvPr>
        </p:nvSpPr>
        <p:spPr>
          <a:xfrm>
            <a:off x="1219200" y="2819400"/>
            <a:ext cx="1066800" cy="344877"/>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3">
            <a:extLst>
              <a:ext uri="{FF2B5EF4-FFF2-40B4-BE49-F238E27FC236}">
                <a16:creationId xmlns:a16="http://schemas.microsoft.com/office/drawing/2014/main" id="{36A6DFE3-EF07-4B54-A525-72727A355974}"/>
              </a:ext>
            </a:extLst>
          </p:cNvPr>
          <p:cNvSpPr txBox="1">
            <a:spLocks noChangeArrowheads="1"/>
          </p:cNvSpPr>
          <p:nvPr>
            <p:custDataLst>
              <p:tags r:id="rId10"/>
            </p:custDataLst>
          </p:nvPr>
        </p:nvSpPr>
        <p:spPr bwMode="auto">
          <a:xfrm>
            <a:off x="228600" y="3067041"/>
            <a:ext cx="1270348" cy="285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flush instruction in IF</a:t>
            </a:r>
          </a:p>
        </p:txBody>
      </p:sp>
    </p:spTree>
    <p:custDataLst>
      <p:tags r:id="rId1"/>
    </p:custDataLst>
    <p:extLst>
      <p:ext uri="{BB962C8B-B14F-4D97-AF65-F5344CB8AC3E}">
        <p14:creationId xmlns:p14="http://schemas.microsoft.com/office/powerpoint/2010/main" val="40056310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animBg="1"/>
      <p:bldP spid="15" grpId="0"/>
      <p:bldP spid="21" grpId="0" animBg="1"/>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4">
            <a:extLst>
              <a:ext uri="{FF2B5EF4-FFF2-40B4-BE49-F238E27FC236}">
                <a16:creationId xmlns:a16="http://schemas.microsoft.com/office/drawing/2014/main" id="{5D82034A-108E-459D-AB37-3E0705AE8251}"/>
              </a:ext>
            </a:extLst>
          </p:cNvPr>
          <p:cNvGraphicFramePr>
            <a:graphicFrameLocks noGrp="1"/>
          </p:cNvGraphicFramePr>
          <p:nvPr>
            <p:custDataLst>
              <p:tags r:id="rId2"/>
            </p:custDataLst>
            <p:extLst>
              <p:ext uri="{D42A27DB-BD31-4B8C-83A1-F6EECF244321}">
                <p14:modId xmlns:p14="http://schemas.microsoft.com/office/powerpoint/2010/main" val="3804791575"/>
              </p:ext>
            </p:extLst>
          </p:nvPr>
        </p:nvGraphicFramePr>
        <p:xfrm>
          <a:off x="838200" y="4876800"/>
          <a:ext cx="7034213" cy="90520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err="1">
                          <a:ln>
                            <a:noFill/>
                          </a:ln>
                          <a:solidFill>
                            <a:schemeClr val="tx1"/>
                          </a:solidFill>
                          <a:effectLst/>
                          <a:latin typeface="Times New Roman" pitchFamily="18" charset="0"/>
                        </a:rPr>
                        <a:t>insn</a:t>
                      </a:r>
                      <a:r>
                        <a:rPr kumimoji="0" lang="en-US" sz="1400" b="1" i="0" u="none" strike="noStrike" cap="none" normalizeH="0" baseline="0" dirty="0">
                          <a:ln>
                            <a:noFill/>
                          </a:ln>
                          <a:solidFill>
                            <a:schemeClr val="tx1"/>
                          </a:solidFill>
                          <a:effectLst/>
                          <a:latin typeface="Times New Roman" pitchFamily="18" charset="0"/>
                        </a:rPr>
                        <a:t>\cycle</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beq</a:t>
                      </a:r>
                      <a:endParaRPr kumimoji="0" lang="en-US" sz="1600" b="0" i="0" u="none" strike="noStrike" cap="none" normalizeH="0" baseline="0" dirty="0">
                        <a:ln>
                          <a:noFill/>
                        </a:ln>
                        <a:solidFill>
                          <a:schemeClr val="tx1"/>
                        </a:solidFill>
                        <a:effectLst/>
                        <a:latin typeface="Times New Roman" pitchFamily="18" charset="0"/>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lw</a:t>
                      </a:r>
                      <a:endParaRPr kumimoji="0" lang="en-US" sz="1600" b="0" i="0" u="none" strike="noStrike" cap="none" normalizeH="0" baseline="0" dirty="0">
                        <a:ln>
                          <a:noFill/>
                        </a:ln>
                        <a:solidFill>
                          <a:schemeClr val="tx1"/>
                        </a:solidFill>
                        <a:effectLst/>
                        <a:latin typeface="Times New Roman" pitchFamily="18" charset="0"/>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11" name="Group 4">
            <a:extLst>
              <a:ext uri="{FF2B5EF4-FFF2-40B4-BE49-F238E27FC236}">
                <a16:creationId xmlns:a16="http://schemas.microsoft.com/office/drawing/2014/main" id="{66535404-ED13-4A84-B671-08F66FFAFEE0}"/>
              </a:ext>
            </a:extLst>
          </p:cNvPr>
          <p:cNvGraphicFramePr>
            <a:graphicFrameLocks noGrp="1"/>
          </p:cNvGraphicFramePr>
          <p:nvPr>
            <p:custDataLst>
              <p:tags r:id="rId3"/>
            </p:custDataLst>
            <p:extLst>
              <p:ext uri="{D42A27DB-BD31-4B8C-83A1-F6EECF244321}">
                <p14:modId xmlns:p14="http://schemas.microsoft.com/office/powerpoint/2010/main" val="3846251758"/>
              </p:ext>
            </p:extLst>
          </p:nvPr>
        </p:nvGraphicFramePr>
        <p:xfrm>
          <a:off x="838200" y="4876800"/>
          <a:ext cx="7034213" cy="121608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err="1">
                          <a:ln>
                            <a:noFill/>
                          </a:ln>
                          <a:solidFill>
                            <a:schemeClr val="tx1"/>
                          </a:solidFill>
                          <a:effectLst/>
                          <a:latin typeface="Times New Roman" pitchFamily="18" charset="0"/>
                        </a:rPr>
                        <a:t>insn</a:t>
                      </a:r>
                      <a:r>
                        <a:rPr kumimoji="0" lang="en-US" sz="1400" b="1" i="0" u="none" strike="noStrike" cap="none" normalizeH="0" baseline="0" dirty="0">
                          <a:ln>
                            <a:noFill/>
                          </a:ln>
                          <a:solidFill>
                            <a:schemeClr val="tx1"/>
                          </a:solidFill>
                          <a:effectLst/>
                          <a:latin typeface="Times New Roman" pitchFamily="18" charset="0"/>
                        </a:rPr>
                        <a:t>\cycle</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beq</a:t>
                      </a:r>
                      <a:endParaRPr kumimoji="0" lang="en-US" sz="1600" b="0" i="0" u="none" strike="noStrike" cap="none" normalizeH="0" baseline="0" dirty="0">
                        <a:ln>
                          <a:noFill/>
                        </a:ln>
                        <a:solidFill>
                          <a:schemeClr val="tx1"/>
                        </a:solidFill>
                        <a:effectLst/>
                        <a:latin typeface="Times New Roman" pitchFamily="18" charset="0"/>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lw</a:t>
                      </a:r>
                      <a:endParaRPr kumimoji="0" lang="en-US" sz="1600" b="0" i="0" u="none" strike="noStrike" cap="none" normalizeH="0" baseline="0" dirty="0">
                        <a:ln>
                          <a:noFill/>
                        </a:ln>
                        <a:solidFill>
                          <a:schemeClr val="tx1"/>
                        </a:solidFill>
                        <a:effectLst/>
                        <a:latin typeface="Times New Roman" pitchFamily="18" charset="0"/>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216156394"/>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5"/>
            </p:custDataLst>
          </p:nvPr>
        </p:nvSpPr>
        <p:spPr>
          <a:xfrm>
            <a:off x="457200" y="1447800"/>
            <a:ext cx="8686800" cy="1828800"/>
          </a:xfrm>
        </p:spPr>
        <p:txBody>
          <a:bodyPr/>
          <a:lstStyle/>
          <a:p>
            <a:pPr eaLnBrk="1" hangingPunct="1"/>
            <a:r>
              <a:rPr lang="en-US" altLang="en-US" sz="2800" dirty="0"/>
              <a:t>Predict-not-taken + resolve in ID:</a:t>
            </a:r>
          </a:p>
          <a:p>
            <a:pPr lvl="1"/>
            <a:r>
              <a:rPr lang="en-US" altLang="en-US" sz="2400" dirty="0"/>
              <a:t>Compute target and compare in ID stage (COD Figure 4.65)</a:t>
            </a:r>
          </a:p>
          <a:p>
            <a:pPr lvl="1"/>
            <a:r>
              <a:rPr lang="en-US" altLang="en-US" sz="2400" dirty="0"/>
              <a:t>Flush, if taken: clear IF/</a:t>
            </a:r>
            <a:r>
              <a:rPr lang="en-US" altLang="en-US" sz="2400" dirty="0" err="1"/>
              <a:t>ID.Instruction</a:t>
            </a:r>
            <a:r>
              <a:rPr lang="en-US" altLang="en-US" sz="2400" dirty="0"/>
              <a:t> to 0 (inserts NOP to ID)</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6"/>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6</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7"/>
            </p:custDataLst>
          </p:nvPr>
        </p:nvSpPr>
        <p:spPr bwMode="auto">
          <a:xfrm>
            <a:off x="682625" y="3048000"/>
            <a:ext cx="67087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err="1"/>
              <a:t>beq</a:t>
            </a:r>
            <a:r>
              <a:rPr lang="en-US" altLang="en-US" sz="2400" dirty="0"/>
              <a:t> $t0, $t1, TARGET</a:t>
            </a:r>
          </a:p>
          <a:p>
            <a:pPr marL="457200" lvl="1" indent="0">
              <a:lnSpc>
                <a:spcPct val="90000"/>
              </a:lnSpc>
              <a:buFont typeface="Arial" charset="0"/>
              <a:buNone/>
            </a:pPr>
            <a:r>
              <a:rPr lang="en-US" altLang="en-US" sz="2400" dirty="0" err="1"/>
              <a:t>lw</a:t>
            </a:r>
            <a:r>
              <a:rPr lang="en-US" altLang="en-US" sz="2400" dirty="0"/>
              <a:t> $t3, 0($t0)</a:t>
            </a:r>
          </a:p>
          <a:p>
            <a:pPr marL="457200" lvl="1" indent="0">
              <a:lnSpc>
                <a:spcPct val="90000"/>
              </a:lnSpc>
              <a:buNone/>
            </a:pPr>
            <a:r>
              <a:rPr lang="en-US" altLang="en-US" sz="2400" dirty="0"/>
              <a:t>add $t4, $t5, $t6</a:t>
            </a:r>
          </a:p>
          <a:p>
            <a:pPr marL="457200" lvl="1" indent="0">
              <a:lnSpc>
                <a:spcPct val="90000"/>
              </a:lnSpc>
              <a:buNone/>
            </a:pPr>
            <a:r>
              <a:rPr lang="en-US" altLang="en-US" sz="2400" dirty="0"/>
              <a:t>or $t2, $t1, $t7</a:t>
            </a:r>
          </a:p>
          <a:p>
            <a:pPr marL="457200" lvl="1" indent="0">
              <a:lnSpc>
                <a:spcPct val="90000"/>
              </a:lnSpc>
              <a:buFont typeface="Arial" charset="0"/>
              <a:buNone/>
            </a:pPr>
            <a:endParaRPr lang="en-US" altLang="en-US" sz="2400" dirty="0"/>
          </a:p>
        </p:txBody>
      </p:sp>
      <p:sp>
        <p:nvSpPr>
          <p:cNvPr id="9" name="Rectangle 3">
            <a:extLst>
              <a:ext uri="{FF2B5EF4-FFF2-40B4-BE49-F238E27FC236}">
                <a16:creationId xmlns:a16="http://schemas.microsoft.com/office/drawing/2014/main" id="{73F7769A-B6F0-4C27-8548-73038897A524}"/>
              </a:ext>
            </a:extLst>
          </p:cNvPr>
          <p:cNvSpPr txBox="1">
            <a:spLocks noChangeArrowheads="1"/>
          </p:cNvSpPr>
          <p:nvPr>
            <p:custDataLst>
              <p:tags r:id="rId8"/>
            </p:custDataLst>
          </p:nvPr>
        </p:nvSpPr>
        <p:spPr bwMode="auto">
          <a:xfrm>
            <a:off x="4800600" y="3048000"/>
            <a:ext cx="38893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TARGET:</a:t>
            </a:r>
          </a:p>
          <a:p>
            <a:pPr marL="457200" lvl="1" indent="0">
              <a:lnSpc>
                <a:spcPct val="90000"/>
              </a:lnSpc>
              <a:buFont typeface="Arial" charset="0"/>
              <a:buNone/>
            </a:pPr>
            <a:r>
              <a:rPr lang="en-US" altLang="en-US" sz="2400" dirty="0"/>
              <a:t>sub $t5, $t0, $t5</a:t>
            </a:r>
          </a:p>
        </p:txBody>
      </p:sp>
    </p:spTree>
    <p:custDataLst>
      <p:tags r:id="rId1"/>
    </p:custDataLst>
    <p:extLst>
      <p:ext uri="{BB962C8B-B14F-4D97-AF65-F5344CB8AC3E}">
        <p14:creationId xmlns:p14="http://schemas.microsoft.com/office/powerpoint/2010/main" val="37310905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Slide Number Placeholder 5"/>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7</a:t>
            </a:fld>
            <a:endParaRPr lang="en-US" altLang="en-US"/>
          </a:p>
        </p:txBody>
      </p:sp>
      <p:pic>
        <p:nvPicPr>
          <p:cNvPr id="102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C21E0623-1920-4C6B-B2C2-6942105B6A40}"/>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071563" y="3352800"/>
            <a:ext cx="7000875" cy="2541966"/>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2">
            <a:extLst>
              <a:ext uri="{FF2B5EF4-FFF2-40B4-BE49-F238E27FC236}">
                <a16:creationId xmlns:a16="http://schemas.microsoft.com/office/drawing/2014/main" id="{CE1FC4B1-3A2F-465D-8E6C-8B3CC79C0DDA}"/>
              </a:ext>
            </a:extLst>
          </p:cNvPr>
          <p:cNvSpPr>
            <a:spLocks noGrp="1" noChangeArrowheads="1"/>
          </p:cNvSpPr>
          <p:nvPr>
            <p:ph type="title"/>
            <p:custDataLst>
              <p:tags r:id="rId3"/>
            </p:custDataLst>
          </p:nvPr>
        </p:nvSpPr>
        <p:spPr>
          <a:xfrm>
            <a:off x="457200" y="274638"/>
            <a:ext cx="7467600" cy="1143000"/>
          </a:xfrm>
        </p:spPr>
        <p:txBody>
          <a:bodyPr/>
          <a:lstStyle/>
          <a:p>
            <a:r>
              <a:rPr lang="en-US" altLang="en-US" dirty="0"/>
              <a:t>Control Hazards</a:t>
            </a:r>
          </a:p>
        </p:txBody>
      </p:sp>
      <p:grpSp>
        <p:nvGrpSpPr>
          <p:cNvPr id="2" name="Group 1">
            <a:extLst>
              <a:ext uri="{FF2B5EF4-FFF2-40B4-BE49-F238E27FC236}">
                <a16:creationId xmlns:a16="http://schemas.microsoft.com/office/drawing/2014/main" id="{BC41B973-2D9C-4FA4-85C0-0EAD18C9A114}"/>
              </a:ext>
            </a:extLst>
          </p:cNvPr>
          <p:cNvGrpSpPr/>
          <p:nvPr>
            <p:custDataLst>
              <p:tags r:id="rId4"/>
            </p:custDataLst>
          </p:nvPr>
        </p:nvGrpSpPr>
        <p:grpSpPr>
          <a:xfrm>
            <a:off x="0" y="3352800"/>
            <a:ext cx="4191000" cy="3048000"/>
            <a:chOff x="0" y="3352800"/>
            <a:chExt cx="4191000" cy="3048000"/>
          </a:xfrm>
        </p:grpSpPr>
        <p:sp>
          <p:nvSpPr>
            <p:cNvPr id="6" name="Rectangle 3">
              <a:extLst>
                <a:ext uri="{FF2B5EF4-FFF2-40B4-BE49-F238E27FC236}">
                  <a16:creationId xmlns:a16="http://schemas.microsoft.com/office/drawing/2014/main" id="{E822249B-618A-4DF0-866B-70C74F2BDD0E}"/>
                </a:ext>
              </a:extLst>
            </p:cNvPr>
            <p:cNvSpPr txBox="1">
              <a:spLocks noChangeArrowheads="1"/>
            </p:cNvSpPr>
            <p:nvPr>
              <p:custDataLst>
                <p:tags r:id="rId25"/>
              </p:custDataLst>
            </p:nvPr>
          </p:nvSpPr>
          <p:spPr bwMode="auto">
            <a:xfrm>
              <a:off x="31242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beq</a:t>
              </a:r>
              <a:endParaRPr lang="en-US" altLang="en-US" sz="2400" b="1" dirty="0">
                <a:solidFill>
                  <a:schemeClr val="accent6">
                    <a:lumMod val="75000"/>
                  </a:schemeClr>
                </a:solidFill>
              </a:endParaRPr>
            </a:p>
          </p:txBody>
        </p:sp>
        <p:sp>
          <p:nvSpPr>
            <p:cNvPr id="7" name="Rectangle 3">
              <a:extLst>
                <a:ext uri="{FF2B5EF4-FFF2-40B4-BE49-F238E27FC236}">
                  <a16:creationId xmlns:a16="http://schemas.microsoft.com/office/drawing/2014/main" id="{110071A2-D4AB-445B-B91A-E1C299C955D2}"/>
                </a:ext>
              </a:extLst>
            </p:cNvPr>
            <p:cNvSpPr txBox="1">
              <a:spLocks noChangeArrowheads="1"/>
            </p:cNvSpPr>
            <p:nvPr>
              <p:custDataLst>
                <p:tags r:id="rId26"/>
              </p:custDataLst>
            </p:nvPr>
          </p:nvSpPr>
          <p:spPr bwMode="auto">
            <a:xfrm>
              <a:off x="12954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endParaRPr lang="en-US" altLang="en-US" sz="2400" b="1" dirty="0">
                <a:solidFill>
                  <a:schemeClr val="accent6">
                    <a:lumMod val="75000"/>
                  </a:schemeClr>
                </a:solidFill>
              </a:endParaRPr>
            </a:p>
          </p:txBody>
        </p:sp>
        <p:sp>
          <p:nvSpPr>
            <p:cNvPr id="9" name="Rectangle 3">
              <a:extLst>
                <a:ext uri="{FF2B5EF4-FFF2-40B4-BE49-F238E27FC236}">
                  <a16:creationId xmlns:a16="http://schemas.microsoft.com/office/drawing/2014/main" id="{B0197BA4-5419-4B8B-ADF9-3F2B3C6F1AE9}"/>
                </a:ext>
              </a:extLst>
            </p:cNvPr>
            <p:cNvSpPr txBox="1">
              <a:spLocks noChangeArrowheads="1"/>
            </p:cNvSpPr>
            <p:nvPr>
              <p:custDataLst>
                <p:tags r:id="rId27"/>
              </p:custDataLst>
            </p:nvPr>
          </p:nvSpPr>
          <p:spPr bwMode="auto">
            <a:xfrm>
              <a:off x="0" y="33528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2:</a:t>
              </a:r>
            </a:p>
          </p:txBody>
        </p:sp>
      </p:grpSp>
      <p:graphicFrame>
        <p:nvGraphicFramePr>
          <p:cNvPr id="11" name="Group 4">
            <a:extLst>
              <a:ext uri="{FF2B5EF4-FFF2-40B4-BE49-F238E27FC236}">
                <a16:creationId xmlns:a16="http://schemas.microsoft.com/office/drawing/2014/main" id="{07CC8444-624C-454B-A8F5-C4404583CC4A}"/>
              </a:ext>
            </a:extLst>
          </p:cNvPr>
          <p:cNvGraphicFramePr>
            <a:graphicFrameLocks noGrp="1"/>
          </p:cNvGraphicFramePr>
          <p:nvPr>
            <p:custDataLst>
              <p:tags r:id="rId5"/>
            </p:custDataLst>
            <p:extLst>
              <p:ext uri="{D42A27DB-BD31-4B8C-83A1-F6EECF244321}">
                <p14:modId xmlns:p14="http://schemas.microsoft.com/office/powerpoint/2010/main" val="2132507060"/>
              </p:ext>
            </p:extLst>
          </p:nvPr>
        </p:nvGraphicFramePr>
        <p:xfrm>
          <a:off x="838200" y="1247843"/>
          <a:ext cx="7034213" cy="176893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err="1">
                          <a:ln>
                            <a:noFill/>
                          </a:ln>
                          <a:solidFill>
                            <a:schemeClr val="tx1"/>
                          </a:solidFill>
                          <a:effectLst/>
                          <a:latin typeface="Times New Roman" pitchFamily="18" charset="0"/>
                        </a:rPr>
                        <a:t>insn</a:t>
                      </a:r>
                      <a:r>
                        <a:rPr kumimoji="0" lang="en-US" sz="1800" b="1" i="0" u="none" strike="noStrike" cap="none" normalizeH="0" baseline="0" dirty="0">
                          <a:ln>
                            <a:noFill/>
                          </a:ln>
                          <a:solidFill>
                            <a:schemeClr val="tx1"/>
                          </a:solidFill>
                          <a:effectLst/>
                          <a:latin typeface="Times New Roman" pitchFamily="18" charset="0"/>
                        </a:rPr>
                        <a:t>\cycle</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Times New Roman" pitchFamily="18" charset="0"/>
                        </a:rPr>
                        <a:t>beq</a:t>
                      </a:r>
                      <a:endParaRPr kumimoji="0" lang="en-US" sz="20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Times New Roman" pitchFamily="18" charset="0"/>
                        </a:rPr>
                        <a:t>lw</a:t>
                      </a:r>
                      <a:endParaRPr kumimoji="0" lang="en-US" sz="2000" b="0"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04410166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rPr>
                        <a:t>sub</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pSp>
        <p:nvGrpSpPr>
          <p:cNvPr id="10" name="Group 9">
            <a:extLst>
              <a:ext uri="{FF2B5EF4-FFF2-40B4-BE49-F238E27FC236}">
                <a16:creationId xmlns:a16="http://schemas.microsoft.com/office/drawing/2014/main" id="{59D5321F-73C3-44C3-8C47-252B9933D230}"/>
              </a:ext>
            </a:extLst>
          </p:cNvPr>
          <p:cNvGrpSpPr/>
          <p:nvPr>
            <p:custDataLst>
              <p:tags r:id="rId6"/>
            </p:custDataLst>
          </p:nvPr>
        </p:nvGrpSpPr>
        <p:grpSpPr>
          <a:xfrm>
            <a:off x="0" y="3352800"/>
            <a:ext cx="6019800" cy="3048000"/>
            <a:chOff x="0" y="3352800"/>
            <a:chExt cx="6019800" cy="3048000"/>
          </a:xfrm>
        </p:grpSpPr>
        <p:sp>
          <p:nvSpPr>
            <p:cNvPr id="12" name="Rectangle 3">
              <a:extLst>
                <a:ext uri="{FF2B5EF4-FFF2-40B4-BE49-F238E27FC236}">
                  <a16:creationId xmlns:a16="http://schemas.microsoft.com/office/drawing/2014/main" id="{AB602B70-99BD-4C27-B646-5ADD77F9B1EA}"/>
                </a:ext>
              </a:extLst>
            </p:cNvPr>
            <p:cNvSpPr txBox="1">
              <a:spLocks noChangeArrowheads="1"/>
            </p:cNvSpPr>
            <p:nvPr>
              <p:custDataLst>
                <p:tags r:id="rId21"/>
              </p:custDataLst>
            </p:nvPr>
          </p:nvSpPr>
          <p:spPr bwMode="auto">
            <a:xfrm>
              <a:off x="2895600" y="5894764"/>
              <a:ext cx="15240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(NOP)</a:t>
              </a:r>
            </a:p>
          </p:txBody>
        </p:sp>
        <p:sp>
          <p:nvSpPr>
            <p:cNvPr id="13" name="Rectangle 3">
              <a:extLst>
                <a:ext uri="{FF2B5EF4-FFF2-40B4-BE49-F238E27FC236}">
                  <a16:creationId xmlns:a16="http://schemas.microsoft.com/office/drawing/2014/main" id="{D91903A4-4198-4C2A-805E-59FDF5B14025}"/>
                </a:ext>
              </a:extLst>
            </p:cNvPr>
            <p:cNvSpPr txBox="1">
              <a:spLocks noChangeArrowheads="1"/>
            </p:cNvSpPr>
            <p:nvPr>
              <p:custDataLst>
                <p:tags r:id="rId22"/>
              </p:custDataLst>
            </p:nvPr>
          </p:nvSpPr>
          <p:spPr bwMode="auto">
            <a:xfrm>
              <a:off x="12954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14" name="Rectangle 3">
              <a:extLst>
                <a:ext uri="{FF2B5EF4-FFF2-40B4-BE49-F238E27FC236}">
                  <a16:creationId xmlns:a16="http://schemas.microsoft.com/office/drawing/2014/main" id="{6550B170-9AFA-48D1-9C6D-52985D30FCB1}"/>
                </a:ext>
              </a:extLst>
            </p:cNvPr>
            <p:cNvSpPr txBox="1">
              <a:spLocks noChangeArrowheads="1"/>
            </p:cNvSpPr>
            <p:nvPr>
              <p:custDataLst>
                <p:tags r:id="rId23"/>
              </p:custDataLst>
            </p:nvPr>
          </p:nvSpPr>
          <p:spPr bwMode="auto">
            <a:xfrm>
              <a:off x="49530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dirty="0" err="1">
                  <a:solidFill>
                    <a:schemeClr val="accent6">
                      <a:lumMod val="75000"/>
                    </a:schemeClr>
                  </a:solidFill>
                </a:rPr>
                <a:t>beq</a:t>
              </a:r>
              <a:endParaRPr lang="en-US" altLang="en-US" sz="2400" b="1" dirty="0">
                <a:solidFill>
                  <a:schemeClr val="accent6">
                    <a:lumMod val="75000"/>
                  </a:schemeClr>
                </a:solidFill>
              </a:endParaRPr>
            </a:p>
          </p:txBody>
        </p:sp>
        <p:sp>
          <p:nvSpPr>
            <p:cNvPr id="15" name="Rectangle 3">
              <a:extLst>
                <a:ext uri="{FF2B5EF4-FFF2-40B4-BE49-F238E27FC236}">
                  <a16:creationId xmlns:a16="http://schemas.microsoft.com/office/drawing/2014/main" id="{B859E5DB-996E-49E4-AFDE-8C5C4F44A713}"/>
                </a:ext>
              </a:extLst>
            </p:cNvPr>
            <p:cNvSpPr txBox="1">
              <a:spLocks noChangeArrowheads="1"/>
            </p:cNvSpPr>
            <p:nvPr>
              <p:custDataLst>
                <p:tags r:id="rId24"/>
              </p:custDataLst>
            </p:nvPr>
          </p:nvSpPr>
          <p:spPr bwMode="auto">
            <a:xfrm>
              <a:off x="0" y="33528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3:</a:t>
              </a:r>
            </a:p>
          </p:txBody>
        </p:sp>
      </p:grpSp>
      <p:grpSp>
        <p:nvGrpSpPr>
          <p:cNvPr id="17" name="Group 16">
            <a:extLst>
              <a:ext uri="{FF2B5EF4-FFF2-40B4-BE49-F238E27FC236}">
                <a16:creationId xmlns:a16="http://schemas.microsoft.com/office/drawing/2014/main" id="{19CE78E0-4E14-41CF-876A-A267E4896618}"/>
              </a:ext>
            </a:extLst>
          </p:cNvPr>
          <p:cNvGrpSpPr/>
          <p:nvPr>
            <p:custDataLst>
              <p:tags r:id="rId7"/>
            </p:custDataLst>
          </p:nvPr>
        </p:nvGrpSpPr>
        <p:grpSpPr>
          <a:xfrm>
            <a:off x="0" y="3352800"/>
            <a:ext cx="7391400" cy="3048000"/>
            <a:chOff x="0" y="3352800"/>
            <a:chExt cx="7391400" cy="3048000"/>
          </a:xfrm>
        </p:grpSpPr>
        <p:sp>
          <p:nvSpPr>
            <p:cNvPr id="18" name="Rectangle 3">
              <a:extLst>
                <a:ext uri="{FF2B5EF4-FFF2-40B4-BE49-F238E27FC236}">
                  <a16:creationId xmlns:a16="http://schemas.microsoft.com/office/drawing/2014/main" id="{43370622-B8B4-40CA-AA54-6FBF0B4A86A7}"/>
                </a:ext>
              </a:extLst>
            </p:cNvPr>
            <p:cNvSpPr txBox="1">
              <a:spLocks noChangeArrowheads="1"/>
            </p:cNvSpPr>
            <p:nvPr>
              <p:custDataLst>
                <p:tags r:id="rId17"/>
              </p:custDataLst>
            </p:nvPr>
          </p:nvSpPr>
          <p:spPr bwMode="auto">
            <a:xfrm>
              <a:off x="4648200" y="5894764"/>
              <a:ext cx="15240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(NOP)</a:t>
              </a:r>
            </a:p>
          </p:txBody>
        </p:sp>
        <p:sp>
          <p:nvSpPr>
            <p:cNvPr id="19" name="Rectangle 3">
              <a:extLst>
                <a:ext uri="{FF2B5EF4-FFF2-40B4-BE49-F238E27FC236}">
                  <a16:creationId xmlns:a16="http://schemas.microsoft.com/office/drawing/2014/main" id="{6A1674B2-ACBB-4961-80A0-FE289F2B4C4A}"/>
                </a:ext>
              </a:extLst>
            </p:cNvPr>
            <p:cNvSpPr txBox="1">
              <a:spLocks noChangeArrowheads="1"/>
            </p:cNvSpPr>
            <p:nvPr>
              <p:custDataLst>
                <p:tags r:id="rId18"/>
              </p:custDataLst>
            </p:nvPr>
          </p:nvSpPr>
          <p:spPr bwMode="auto">
            <a:xfrm>
              <a:off x="31242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20" name="Rectangle 3">
              <a:extLst>
                <a:ext uri="{FF2B5EF4-FFF2-40B4-BE49-F238E27FC236}">
                  <a16:creationId xmlns:a16="http://schemas.microsoft.com/office/drawing/2014/main" id="{A21F7A3F-6375-480A-90EF-5781EB09B779}"/>
                </a:ext>
              </a:extLst>
            </p:cNvPr>
            <p:cNvSpPr txBox="1">
              <a:spLocks noChangeArrowheads="1"/>
            </p:cNvSpPr>
            <p:nvPr>
              <p:custDataLst>
                <p:tags r:id="rId19"/>
              </p:custDataLst>
            </p:nvPr>
          </p:nvSpPr>
          <p:spPr bwMode="auto">
            <a:xfrm>
              <a:off x="63246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dirty="0" err="1">
                  <a:solidFill>
                    <a:schemeClr val="accent6">
                      <a:lumMod val="75000"/>
                    </a:schemeClr>
                  </a:solidFill>
                </a:rPr>
                <a:t>beq</a:t>
              </a:r>
              <a:endParaRPr lang="en-US" altLang="en-US" sz="2400" b="1" dirty="0">
                <a:solidFill>
                  <a:schemeClr val="accent6">
                    <a:lumMod val="75000"/>
                  </a:schemeClr>
                </a:solidFill>
              </a:endParaRPr>
            </a:p>
          </p:txBody>
        </p:sp>
        <p:sp>
          <p:nvSpPr>
            <p:cNvPr id="21" name="Rectangle 3">
              <a:extLst>
                <a:ext uri="{FF2B5EF4-FFF2-40B4-BE49-F238E27FC236}">
                  <a16:creationId xmlns:a16="http://schemas.microsoft.com/office/drawing/2014/main" id="{0424CA11-675D-487B-8FA8-BC9515C5BFEF}"/>
                </a:ext>
              </a:extLst>
            </p:cNvPr>
            <p:cNvSpPr txBox="1">
              <a:spLocks noChangeArrowheads="1"/>
            </p:cNvSpPr>
            <p:nvPr>
              <p:custDataLst>
                <p:tags r:id="rId20"/>
              </p:custDataLst>
            </p:nvPr>
          </p:nvSpPr>
          <p:spPr bwMode="auto">
            <a:xfrm>
              <a:off x="0" y="33528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4:</a:t>
              </a:r>
            </a:p>
          </p:txBody>
        </p:sp>
      </p:grpSp>
      <p:grpSp>
        <p:nvGrpSpPr>
          <p:cNvPr id="22" name="Group 21">
            <a:extLst>
              <a:ext uri="{FF2B5EF4-FFF2-40B4-BE49-F238E27FC236}">
                <a16:creationId xmlns:a16="http://schemas.microsoft.com/office/drawing/2014/main" id="{FCE52C39-CEC8-4145-81CB-7DD37AC4ABE5}"/>
              </a:ext>
            </a:extLst>
          </p:cNvPr>
          <p:cNvGrpSpPr/>
          <p:nvPr>
            <p:custDataLst>
              <p:tags r:id="rId8"/>
            </p:custDataLst>
          </p:nvPr>
        </p:nvGrpSpPr>
        <p:grpSpPr>
          <a:xfrm>
            <a:off x="0" y="3352800"/>
            <a:ext cx="8763000" cy="3048000"/>
            <a:chOff x="0" y="3352800"/>
            <a:chExt cx="8763000" cy="3048000"/>
          </a:xfrm>
        </p:grpSpPr>
        <p:sp>
          <p:nvSpPr>
            <p:cNvPr id="23" name="Rectangle 3">
              <a:extLst>
                <a:ext uri="{FF2B5EF4-FFF2-40B4-BE49-F238E27FC236}">
                  <a16:creationId xmlns:a16="http://schemas.microsoft.com/office/drawing/2014/main" id="{F22FCBFF-1A43-476C-999D-F62D42F33803}"/>
                </a:ext>
              </a:extLst>
            </p:cNvPr>
            <p:cNvSpPr txBox="1">
              <a:spLocks noChangeArrowheads="1"/>
            </p:cNvSpPr>
            <p:nvPr>
              <p:custDataLst>
                <p:tags r:id="rId13"/>
              </p:custDataLst>
            </p:nvPr>
          </p:nvSpPr>
          <p:spPr bwMode="auto">
            <a:xfrm>
              <a:off x="6019800" y="5894764"/>
              <a:ext cx="15240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(NOP)</a:t>
              </a:r>
            </a:p>
          </p:txBody>
        </p:sp>
        <p:sp>
          <p:nvSpPr>
            <p:cNvPr id="24" name="Rectangle 3">
              <a:extLst>
                <a:ext uri="{FF2B5EF4-FFF2-40B4-BE49-F238E27FC236}">
                  <a16:creationId xmlns:a16="http://schemas.microsoft.com/office/drawing/2014/main" id="{B7729BB1-ED33-4CBC-A133-CDFDC897BB48}"/>
                </a:ext>
              </a:extLst>
            </p:cNvPr>
            <p:cNvSpPr txBox="1">
              <a:spLocks noChangeArrowheads="1"/>
            </p:cNvSpPr>
            <p:nvPr>
              <p:custDataLst>
                <p:tags r:id="rId14"/>
              </p:custDataLst>
            </p:nvPr>
          </p:nvSpPr>
          <p:spPr bwMode="auto">
            <a:xfrm>
              <a:off x="48768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25" name="Rectangle 3">
              <a:extLst>
                <a:ext uri="{FF2B5EF4-FFF2-40B4-BE49-F238E27FC236}">
                  <a16:creationId xmlns:a16="http://schemas.microsoft.com/office/drawing/2014/main" id="{0CD2D6B7-74C5-4EB9-B50A-1603D09CC6E8}"/>
                </a:ext>
              </a:extLst>
            </p:cNvPr>
            <p:cNvSpPr txBox="1">
              <a:spLocks noChangeArrowheads="1"/>
            </p:cNvSpPr>
            <p:nvPr>
              <p:custDataLst>
                <p:tags r:id="rId15"/>
              </p:custDataLst>
            </p:nvPr>
          </p:nvSpPr>
          <p:spPr bwMode="auto">
            <a:xfrm>
              <a:off x="76962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dirty="0" err="1">
                  <a:solidFill>
                    <a:schemeClr val="accent6">
                      <a:lumMod val="75000"/>
                    </a:schemeClr>
                  </a:solidFill>
                </a:rPr>
                <a:t>beq</a:t>
              </a:r>
              <a:endParaRPr lang="en-US" altLang="en-US" sz="2400" b="1" dirty="0">
                <a:solidFill>
                  <a:schemeClr val="accent6">
                    <a:lumMod val="75000"/>
                  </a:schemeClr>
                </a:solidFill>
              </a:endParaRPr>
            </a:p>
          </p:txBody>
        </p:sp>
        <p:sp>
          <p:nvSpPr>
            <p:cNvPr id="26" name="Rectangle 3">
              <a:extLst>
                <a:ext uri="{FF2B5EF4-FFF2-40B4-BE49-F238E27FC236}">
                  <a16:creationId xmlns:a16="http://schemas.microsoft.com/office/drawing/2014/main" id="{C48E82D0-BD80-45AF-B188-64260153162E}"/>
                </a:ext>
              </a:extLst>
            </p:cNvPr>
            <p:cNvSpPr txBox="1">
              <a:spLocks noChangeArrowheads="1"/>
            </p:cNvSpPr>
            <p:nvPr>
              <p:custDataLst>
                <p:tags r:id="rId16"/>
              </p:custDataLst>
            </p:nvPr>
          </p:nvSpPr>
          <p:spPr bwMode="auto">
            <a:xfrm>
              <a:off x="0" y="33528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5:</a:t>
              </a:r>
            </a:p>
          </p:txBody>
        </p:sp>
      </p:grpSp>
      <p:grpSp>
        <p:nvGrpSpPr>
          <p:cNvPr id="27" name="Group 26">
            <a:extLst>
              <a:ext uri="{FF2B5EF4-FFF2-40B4-BE49-F238E27FC236}">
                <a16:creationId xmlns:a16="http://schemas.microsoft.com/office/drawing/2014/main" id="{218248F5-E8A6-4483-825E-55B19D783BFF}"/>
              </a:ext>
            </a:extLst>
          </p:cNvPr>
          <p:cNvGrpSpPr/>
          <p:nvPr>
            <p:custDataLst>
              <p:tags r:id="rId9"/>
            </p:custDataLst>
          </p:nvPr>
        </p:nvGrpSpPr>
        <p:grpSpPr>
          <a:xfrm>
            <a:off x="0" y="3352800"/>
            <a:ext cx="8915400" cy="3048000"/>
            <a:chOff x="0" y="3352800"/>
            <a:chExt cx="8915400" cy="3048000"/>
          </a:xfrm>
        </p:grpSpPr>
        <p:sp>
          <p:nvSpPr>
            <p:cNvPr id="28" name="Rectangle 3">
              <a:extLst>
                <a:ext uri="{FF2B5EF4-FFF2-40B4-BE49-F238E27FC236}">
                  <a16:creationId xmlns:a16="http://schemas.microsoft.com/office/drawing/2014/main" id="{583DB040-D33F-4E63-80C0-8378298F0476}"/>
                </a:ext>
              </a:extLst>
            </p:cNvPr>
            <p:cNvSpPr txBox="1">
              <a:spLocks noChangeArrowheads="1"/>
            </p:cNvSpPr>
            <p:nvPr>
              <p:custDataLst>
                <p:tags r:id="rId10"/>
              </p:custDataLst>
            </p:nvPr>
          </p:nvSpPr>
          <p:spPr bwMode="auto">
            <a:xfrm>
              <a:off x="7391400" y="5894764"/>
              <a:ext cx="15240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(NOP)</a:t>
              </a:r>
            </a:p>
          </p:txBody>
        </p:sp>
        <p:sp>
          <p:nvSpPr>
            <p:cNvPr id="29" name="Rectangle 3">
              <a:extLst>
                <a:ext uri="{FF2B5EF4-FFF2-40B4-BE49-F238E27FC236}">
                  <a16:creationId xmlns:a16="http://schemas.microsoft.com/office/drawing/2014/main" id="{85B0EA15-40A4-46D5-99B6-A8F4047B9771}"/>
                </a:ext>
              </a:extLst>
            </p:cNvPr>
            <p:cNvSpPr txBox="1">
              <a:spLocks noChangeArrowheads="1"/>
            </p:cNvSpPr>
            <p:nvPr>
              <p:custDataLst>
                <p:tags r:id="rId11"/>
              </p:custDataLst>
            </p:nvPr>
          </p:nvSpPr>
          <p:spPr bwMode="auto">
            <a:xfrm>
              <a:off x="62484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30" name="Rectangle 3">
              <a:extLst>
                <a:ext uri="{FF2B5EF4-FFF2-40B4-BE49-F238E27FC236}">
                  <a16:creationId xmlns:a16="http://schemas.microsoft.com/office/drawing/2014/main" id="{F4B80E12-006C-4D3E-91AE-1D3A8045E26A}"/>
                </a:ext>
              </a:extLst>
            </p:cNvPr>
            <p:cNvSpPr txBox="1">
              <a:spLocks noChangeArrowheads="1"/>
            </p:cNvSpPr>
            <p:nvPr>
              <p:custDataLst>
                <p:tags r:id="rId12"/>
              </p:custDataLst>
            </p:nvPr>
          </p:nvSpPr>
          <p:spPr bwMode="auto">
            <a:xfrm>
              <a:off x="0" y="33528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6:</a:t>
              </a:r>
            </a:p>
          </p:txBody>
        </p:sp>
      </p:grpSp>
    </p:spTree>
    <p:custDataLst>
      <p:tags r:id="rId1"/>
    </p:custDataLst>
    <p:extLst>
      <p:ext uri="{BB962C8B-B14F-4D97-AF65-F5344CB8AC3E}">
        <p14:creationId xmlns:p14="http://schemas.microsoft.com/office/powerpoint/2010/main" val="33999707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0"/>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7"/>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22"/>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4">
            <a:extLst>
              <a:ext uri="{FF2B5EF4-FFF2-40B4-BE49-F238E27FC236}">
                <a16:creationId xmlns:a16="http://schemas.microsoft.com/office/drawing/2014/main" id="{5D82034A-108E-459D-AB37-3E0705AE8251}"/>
              </a:ext>
            </a:extLst>
          </p:cNvPr>
          <p:cNvGraphicFramePr>
            <a:graphicFrameLocks noGrp="1"/>
          </p:cNvGraphicFramePr>
          <p:nvPr>
            <p:custDataLst>
              <p:tags r:id="rId2"/>
            </p:custDataLst>
            <p:extLst>
              <p:ext uri="{D42A27DB-BD31-4B8C-83A1-F6EECF244321}">
                <p14:modId xmlns:p14="http://schemas.microsoft.com/office/powerpoint/2010/main" val="363716322"/>
              </p:ext>
            </p:extLst>
          </p:nvPr>
        </p:nvGraphicFramePr>
        <p:xfrm>
          <a:off x="838200" y="5181600"/>
          <a:ext cx="7034213" cy="90520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err="1">
                          <a:ln>
                            <a:noFill/>
                          </a:ln>
                          <a:solidFill>
                            <a:schemeClr val="tx1"/>
                          </a:solidFill>
                          <a:effectLst/>
                          <a:latin typeface="Times New Roman" pitchFamily="18" charset="0"/>
                        </a:rPr>
                        <a:t>insn</a:t>
                      </a:r>
                      <a:r>
                        <a:rPr kumimoji="0" lang="en-US" sz="1400" b="1" i="0" u="none" strike="noStrike" cap="none" normalizeH="0" baseline="0" dirty="0">
                          <a:ln>
                            <a:noFill/>
                          </a:ln>
                          <a:solidFill>
                            <a:schemeClr val="tx1"/>
                          </a:solidFill>
                          <a:effectLst/>
                          <a:latin typeface="Times New Roman" pitchFamily="18" charset="0"/>
                        </a:rPr>
                        <a:t>\cycle</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beq</a:t>
                      </a:r>
                      <a:endParaRPr kumimoji="0" lang="en-US" sz="1600" b="0" i="0" u="none" strike="noStrike" cap="none" normalizeH="0" baseline="0" dirty="0">
                        <a:ln>
                          <a:noFill/>
                        </a:ln>
                        <a:solidFill>
                          <a:schemeClr val="tx1"/>
                        </a:solidFill>
                        <a:effectLst/>
                        <a:latin typeface="Times New Roman" pitchFamily="18" charset="0"/>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14" name="Group 4">
            <a:extLst>
              <a:ext uri="{FF2B5EF4-FFF2-40B4-BE49-F238E27FC236}">
                <a16:creationId xmlns:a16="http://schemas.microsoft.com/office/drawing/2014/main" id="{4D76F68E-1EB3-4A9B-859F-CFE76A290452}"/>
              </a:ext>
            </a:extLst>
          </p:cNvPr>
          <p:cNvGraphicFramePr>
            <a:graphicFrameLocks noGrp="1"/>
          </p:cNvGraphicFramePr>
          <p:nvPr>
            <p:custDataLst>
              <p:tags r:id="rId3"/>
            </p:custDataLst>
            <p:extLst>
              <p:ext uri="{D42A27DB-BD31-4B8C-83A1-F6EECF244321}">
                <p14:modId xmlns:p14="http://schemas.microsoft.com/office/powerpoint/2010/main" val="2960827840"/>
              </p:ext>
            </p:extLst>
          </p:nvPr>
        </p:nvGraphicFramePr>
        <p:xfrm>
          <a:off x="838200" y="5181600"/>
          <a:ext cx="7034213" cy="90520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err="1">
                          <a:ln>
                            <a:noFill/>
                          </a:ln>
                          <a:solidFill>
                            <a:schemeClr val="tx1"/>
                          </a:solidFill>
                          <a:effectLst/>
                          <a:latin typeface="Times New Roman" pitchFamily="18" charset="0"/>
                        </a:rPr>
                        <a:t>insn</a:t>
                      </a:r>
                      <a:r>
                        <a:rPr kumimoji="0" lang="en-US" sz="1400" b="1" i="0" u="none" strike="noStrike" cap="none" normalizeH="0" baseline="0" dirty="0">
                          <a:ln>
                            <a:noFill/>
                          </a:ln>
                          <a:solidFill>
                            <a:schemeClr val="tx1"/>
                          </a:solidFill>
                          <a:effectLst/>
                          <a:latin typeface="Times New Roman" pitchFamily="18" charset="0"/>
                        </a:rPr>
                        <a:t>\cycle</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beq</a:t>
                      </a:r>
                      <a:endParaRPr kumimoji="0" lang="en-US" sz="1600" b="0" i="0" u="none" strike="noStrike" cap="none" normalizeH="0" baseline="0" dirty="0">
                        <a:ln>
                          <a:noFill/>
                        </a:ln>
                        <a:solidFill>
                          <a:schemeClr val="tx1"/>
                        </a:solidFill>
                        <a:effectLst/>
                        <a:latin typeface="Times New Roman" pitchFamily="18" charset="0"/>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5"/>
            </p:custDataLst>
          </p:nvPr>
        </p:nvSpPr>
        <p:spPr>
          <a:xfrm>
            <a:off x="457200" y="1447799"/>
            <a:ext cx="8686800" cy="2549383"/>
          </a:xfrm>
        </p:spPr>
        <p:txBody>
          <a:bodyPr/>
          <a:lstStyle/>
          <a:p>
            <a:pPr eaLnBrk="1" hangingPunct="1"/>
            <a:r>
              <a:rPr lang="en-US" altLang="en-US" sz="2800" dirty="0"/>
              <a:t>Predict-not-taken + resolve in ID:</a:t>
            </a:r>
          </a:p>
          <a:p>
            <a:pPr lvl="1"/>
            <a:r>
              <a:rPr lang="en-US" altLang="en-US" sz="2400" dirty="0"/>
              <a:t>Compute target and compare in ID stage (COD Figure 4.65)</a:t>
            </a:r>
          </a:p>
          <a:p>
            <a:pPr lvl="1"/>
            <a:r>
              <a:rPr lang="en-US" altLang="en-US" sz="2400" dirty="0"/>
              <a:t>Flush, if taken: clear IF/</a:t>
            </a:r>
            <a:r>
              <a:rPr lang="en-US" altLang="en-US" sz="2400" dirty="0" err="1"/>
              <a:t>ID.Instruction</a:t>
            </a:r>
            <a:r>
              <a:rPr lang="en-US" altLang="en-US" sz="2400" dirty="0"/>
              <a:t> to 0 (inserts NOP to ID)</a:t>
            </a:r>
          </a:p>
          <a:p>
            <a:pPr lvl="1"/>
            <a:r>
              <a:rPr lang="en-US" altLang="en-US" sz="2400" b="1" dirty="0">
                <a:solidFill>
                  <a:schemeClr val="accent6">
                    <a:lumMod val="75000"/>
                  </a:schemeClr>
                </a:solidFill>
              </a:rPr>
              <a:t>But RAW hazards in ID stage?</a:t>
            </a:r>
          </a:p>
          <a:p>
            <a:pPr lvl="2"/>
            <a:r>
              <a:rPr lang="en-US" altLang="en-US" sz="2000" b="1" dirty="0">
                <a:solidFill>
                  <a:schemeClr val="accent6">
                    <a:lumMod val="75000"/>
                  </a:schemeClr>
                </a:solidFill>
              </a:rPr>
              <a:t>Stall (+ RF bypassing)</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6"/>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8</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7"/>
            </p:custDataLst>
          </p:nvPr>
        </p:nvSpPr>
        <p:spPr bwMode="auto">
          <a:xfrm>
            <a:off x="682625" y="4133196"/>
            <a:ext cx="6708775" cy="905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None/>
            </a:pPr>
            <a:r>
              <a:rPr lang="en-US" altLang="en-US" sz="2400" dirty="0"/>
              <a:t>add $t1, $t5, $t6</a:t>
            </a:r>
          </a:p>
          <a:p>
            <a:pPr marL="457200" lvl="1" indent="0">
              <a:lnSpc>
                <a:spcPct val="90000"/>
              </a:lnSpc>
              <a:buFont typeface="Arial" charset="0"/>
              <a:buNone/>
            </a:pPr>
            <a:r>
              <a:rPr lang="en-US" altLang="en-US" sz="2400" dirty="0" err="1"/>
              <a:t>beq</a:t>
            </a:r>
            <a:r>
              <a:rPr lang="en-US" altLang="en-US" sz="2400" dirty="0"/>
              <a:t> $t0, $t1, TARGET</a:t>
            </a:r>
          </a:p>
        </p:txBody>
      </p:sp>
      <p:sp>
        <p:nvSpPr>
          <p:cNvPr id="10" name="Line 66">
            <a:extLst>
              <a:ext uri="{FF2B5EF4-FFF2-40B4-BE49-F238E27FC236}">
                <a16:creationId xmlns:a16="http://schemas.microsoft.com/office/drawing/2014/main" id="{8E52A886-08E7-4BF5-BD80-F1FAF6EDB584}"/>
              </a:ext>
            </a:extLst>
          </p:cNvPr>
          <p:cNvSpPr>
            <a:spLocks noChangeShapeType="1"/>
          </p:cNvSpPr>
          <p:nvPr>
            <p:custDataLst>
              <p:tags r:id="rId8"/>
            </p:custDataLst>
          </p:nvPr>
        </p:nvSpPr>
        <p:spPr bwMode="auto">
          <a:xfrm>
            <a:off x="2133600" y="4413927"/>
            <a:ext cx="228600" cy="234273"/>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ustDataLst>
      <p:tags r:id="rId1"/>
    </p:custDataLst>
    <p:extLst>
      <p:ext uri="{BB962C8B-B14F-4D97-AF65-F5344CB8AC3E}">
        <p14:creationId xmlns:p14="http://schemas.microsoft.com/office/powerpoint/2010/main" val="6469251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447800"/>
            <a:ext cx="8686800" cy="1828800"/>
          </a:xfrm>
        </p:spPr>
        <p:txBody>
          <a:bodyPr/>
          <a:lstStyle/>
          <a:p>
            <a:pPr eaLnBrk="1" hangingPunct="1"/>
            <a:r>
              <a:rPr lang="en-US" altLang="en-US" sz="2800" dirty="0"/>
              <a:t>Predict-not-taken + resolve in ID:</a:t>
            </a:r>
          </a:p>
          <a:p>
            <a:pPr lvl="1"/>
            <a:r>
              <a:rPr lang="en-US" altLang="en-US" sz="2400" dirty="0"/>
              <a:t>Compute target and compare in ID stage (COD Figure 4.65)</a:t>
            </a:r>
          </a:p>
          <a:p>
            <a:pPr lvl="1"/>
            <a:r>
              <a:rPr lang="en-US" altLang="en-US" sz="2400" dirty="0"/>
              <a:t>Flush, if taken: clear IF/</a:t>
            </a:r>
            <a:r>
              <a:rPr lang="en-US" altLang="en-US" sz="2400" dirty="0" err="1"/>
              <a:t>ID.Instruction</a:t>
            </a:r>
            <a:r>
              <a:rPr lang="en-US" altLang="en-US" sz="2400" dirty="0"/>
              <a:t> to 0 (inserts NOP to ID)</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9</a:t>
            </a:fld>
            <a:endParaRPr lang="en-US" altLang="en-US">
              <a:latin typeface="Calibri" panose="020F0502020204030204" pitchFamily="34" charset="0"/>
            </a:endParaRPr>
          </a:p>
        </p:txBody>
      </p:sp>
      <p:pic>
        <p:nvPicPr>
          <p:cNvPr id="10"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82A4C8E4-704C-4E6C-B997-F5B277C8E83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08720" y="2900880"/>
            <a:ext cx="6326560" cy="3880920"/>
          </a:xfrm>
          <a:prstGeom prst="rect">
            <a:avLst/>
          </a:prstGeom>
          <a:noFill/>
          <a:extLst>
            <a:ext uri="{909E8E84-426E-40DD-AFC4-6F175D3DCCD1}">
              <a14:hiddenFill xmlns:a14="http://schemas.microsoft.com/office/drawing/2010/main">
                <a:solidFill>
                  <a:srgbClr val="FFFFFF"/>
                </a:solidFill>
              </a14:hiddenFill>
            </a:ext>
          </a:extLst>
        </p:spPr>
      </p:pic>
      <p:sp>
        <p:nvSpPr>
          <p:cNvPr id="12" name="Oval 11">
            <a:extLst>
              <a:ext uri="{FF2B5EF4-FFF2-40B4-BE49-F238E27FC236}">
                <a16:creationId xmlns:a16="http://schemas.microsoft.com/office/drawing/2014/main" id="{219BDE0B-5640-40C8-8945-0C5B080D5476}"/>
              </a:ext>
            </a:extLst>
          </p:cNvPr>
          <p:cNvSpPr/>
          <p:nvPr>
            <p:custDataLst>
              <p:tags r:id="rId5"/>
            </p:custDataLst>
          </p:nvPr>
        </p:nvSpPr>
        <p:spPr>
          <a:xfrm>
            <a:off x="3388824" y="3810000"/>
            <a:ext cx="1066800" cy="654843"/>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3">
            <a:extLst>
              <a:ext uri="{FF2B5EF4-FFF2-40B4-BE49-F238E27FC236}">
                <a16:creationId xmlns:a16="http://schemas.microsoft.com/office/drawing/2014/main" id="{DD16CF28-22A0-497A-8681-A7BFFFA36442}"/>
              </a:ext>
            </a:extLst>
          </p:cNvPr>
          <p:cNvSpPr txBox="1">
            <a:spLocks noChangeArrowheads="1"/>
          </p:cNvSpPr>
          <p:nvPr>
            <p:custDataLst>
              <p:tags r:id="rId6"/>
            </p:custDataLst>
          </p:nvPr>
        </p:nvSpPr>
        <p:spPr bwMode="auto">
          <a:xfrm>
            <a:off x="3276600" y="3600441"/>
            <a:ext cx="928428" cy="209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target</a:t>
            </a:r>
          </a:p>
        </p:txBody>
      </p:sp>
      <p:sp>
        <p:nvSpPr>
          <p:cNvPr id="14" name="Oval 13">
            <a:extLst>
              <a:ext uri="{FF2B5EF4-FFF2-40B4-BE49-F238E27FC236}">
                <a16:creationId xmlns:a16="http://schemas.microsoft.com/office/drawing/2014/main" id="{E5CA3984-6E7C-4636-B78F-578D6D10B0D9}"/>
              </a:ext>
            </a:extLst>
          </p:cNvPr>
          <p:cNvSpPr/>
          <p:nvPr>
            <p:custDataLst>
              <p:tags r:id="rId7"/>
            </p:custDataLst>
          </p:nvPr>
        </p:nvSpPr>
        <p:spPr>
          <a:xfrm>
            <a:off x="4050264" y="4419602"/>
            <a:ext cx="699921" cy="807244"/>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
            <a:extLst>
              <a:ext uri="{FF2B5EF4-FFF2-40B4-BE49-F238E27FC236}">
                <a16:creationId xmlns:a16="http://schemas.microsoft.com/office/drawing/2014/main" id="{6D13490E-67BD-4202-92DA-0DABDE412A33}"/>
              </a:ext>
            </a:extLst>
          </p:cNvPr>
          <p:cNvSpPr txBox="1">
            <a:spLocks noChangeArrowheads="1"/>
          </p:cNvSpPr>
          <p:nvPr>
            <p:custDataLst>
              <p:tags r:id="rId8"/>
            </p:custDataLst>
          </p:nvPr>
        </p:nvSpPr>
        <p:spPr bwMode="auto">
          <a:xfrm>
            <a:off x="3643572" y="5257800"/>
            <a:ext cx="928428" cy="209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compare</a:t>
            </a:r>
          </a:p>
        </p:txBody>
      </p:sp>
      <p:cxnSp>
        <p:nvCxnSpPr>
          <p:cNvPr id="8" name="Straight Connector 7">
            <a:extLst>
              <a:ext uri="{FF2B5EF4-FFF2-40B4-BE49-F238E27FC236}">
                <a16:creationId xmlns:a16="http://schemas.microsoft.com/office/drawing/2014/main" id="{4EED7253-BAC2-47C4-B6E2-6C7F03DA63AD}"/>
              </a:ext>
            </a:extLst>
          </p:cNvPr>
          <p:cNvCxnSpPr/>
          <p:nvPr/>
        </p:nvCxnSpPr>
        <p:spPr>
          <a:xfrm>
            <a:off x="4418243" y="5226846"/>
            <a:ext cx="0" cy="146304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5670965-F25B-4340-A21D-DDEBA82B4E1F}"/>
              </a:ext>
            </a:extLst>
          </p:cNvPr>
          <p:cNvCxnSpPr/>
          <p:nvPr/>
        </p:nvCxnSpPr>
        <p:spPr>
          <a:xfrm>
            <a:off x="1676400" y="5181600"/>
            <a:ext cx="0" cy="1554480"/>
          </a:xfrm>
          <a:prstGeom prst="line">
            <a:avLst/>
          </a:prstGeom>
          <a:ln w="25400">
            <a:solidFill>
              <a:schemeClr val="accent6">
                <a:lumMod val="75000"/>
              </a:schemeClr>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18D6F5C-7DD2-438A-B9FE-1458B89BE0E2}"/>
              </a:ext>
            </a:extLst>
          </p:cNvPr>
          <p:cNvCxnSpPr>
            <a:cxnSpLocks/>
          </p:cNvCxnSpPr>
          <p:nvPr/>
        </p:nvCxnSpPr>
        <p:spPr>
          <a:xfrm rot="5400000">
            <a:off x="3048000" y="5334000"/>
            <a:ext cx="0" cy="274320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3851FCF2-A630-48D0-B0CF-E4B12ECE67CC}"/>
              </a:ext>
            </a:extLst>
          </p:cNvPr>
          <p:cNvSpPr/>
          <p:nvPr>
            <p:custDataLst>
              <p:tags r:id="rId9"/>
            </p:custDataLst>
          </p:nvPr>
        </p:nvSpPr>
        <p:spPr>
          <a:xfrm>
            <a:off x="1219200" y="2819400"/>
            <a:ext cx="1066800" cy="344877"/>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3">
            <a:extLst>
              <a:ext uri="{FF2B5EF4-FFF2-40B4-BE49-F238E27FC236}">
                <a16:creationId xmlns:a16="http://schemas.microsoft.com/office/drawing/2014/main" id="{36A6DFE3-EF07-4B54-A525-72727A355974}"/>
              </a:ext>
            </a:extLst>
          </p:cNvPr>
          <p:cNvSpPr txBox="1">
            <a:spLocks noChangeArrowheads="1"/>
          </p:cNvSpPr>
          <p:nvPr>
            <p:custDataLst>
              <p:tags r:id="rId10"/>
            </p:custDataLst>
          </p:nvPr>
        </p:nvSpPr>
        <p:spPr bwMode="auto">
          <a:xfrm>
            <a:off x="228600" y="3067041"/>
            <a:ext cx="1270348" cy="285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flush instruction in IF</a:t>
            </a:r>
          </a:p>
        </p:txBody>
      </p:sp>
    </p:spTree>
    <p:custDataLst>
      <p:tags r:id="rId1"/>
    </p:custDataLst>
    <p:extLst>
      <p:ext uri="{BB962C8B-B14F-4D97-AF65-F5344CB8AC3E}">
        <p14:creationId xmlns:p14="http://schemas.microsoft.com/office/powerpoint/2010/main" val="230986620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PERSISTENCEDATA" val="MMPROD_UIPERSISTENCEDATA"/>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MMPROD_UIDATA" val="&lt;database version=&quot;11.0&quot;&gt;&lt;object type=&quot;1&quot; unique_id=&quot;10001&quot;&gt;&lt;property id=&quot;20141&quot; value=&quot;ECE/CS 552 - Data Hazards&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f2019-DataHazards&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10002&quot;&gt;&lt;object type=&quot;3&quot; unique_id=&quot;16988&quot;&gt;&lt;property id=&quot;20148&quot; value=&quot;5&quot;/&gt;&lt;property id=&quot;20300&quot; value=&quot;Slide 1 - &amp;quot;ECE/CS 552: Control Hazards and Exceptions&amp;quot;&quot;/&gt;&lt;property id=&quot;20307&quot; value=&quot;495&quot;/&gt;&lt;property id=&quot;20309&quot; value=&quot;-1&quot;/&gt;&lt;/object&gt;&lt;object type=&quot;3&quot; unique_id=&quot;182502&quot;&gt;&lt;property id=&quot;20148&quot; value=&quot;5&quot;/&gt;&lt;property id=&quot;20300&quot; value=&quot;Slide 2 - &amp;quot;Data Hazards – RF Bypassing&amp;quot;&quot;/&gt;&lt;property id=&quot;20307&quot; value=&quot;651&quot;/&gt;&lt;/object&gt;&lt;object type=&quot;3&quot; unique_id=&quot;182503&quot;&gt;&lt;property id=&quot;20148&quot; value=&quot;5&quot;/&gt;&lt;property id=&quot;20300&quot; value=&quot;Slide 3 - &amp;quot;Data Hazards – EX-to-EX Forwarding&amp;quot;&quot;/&gt;&lt;property id=&quot;20307&quot; value=&quot;653&quot;/&gt;&lt;/object&gt;&lt;object type=&quot;3&quot; unique_id=&quot;182504&quot;&gt;&lt;property id=&quot;20148&quot; value=&quot;5&quot;/&gt;&lt;property id=&quot;20300&quot; value=&quot;Slide 4 - &amp;quot;Data Hazards – MEM-to-EX Forwarding&amp;quot;&quot;/&gt;&lt;property id=&quot;20307&quot; value=&quot;654&quot;/&gt;&lt;/object&gt;&lt;object type=&quot;3&quot; unique_id=&quot;182505&quot;&gt;&lt;property id=&quot;20148&quot; value=&quot;5&quot;/&gt;&lt;property id=&quot;20300&quot; value=&quot;Slide 5 - &amp;quot;Data Hazards – Load-to-Use Stalls&amp;quot;&quot;/&gt;&lt;property id=&quot;20307&quot; value=&quot;655&quot;/&gt;&lt;/object&gt;&lt;object type=&quot;3&quot; unique_id=&quot;182506&quot;&gt;&lt;property id=&quot;20148&quot; value=&quot;5&quot;/&gt;&lt;property id=&quot;20300&quot; value=&quot;Slide 6 - &amp;quot;Control Hazards&amp;quot;&quot;/&gt;&lt;property id=&quot;20307&quot; value=&quot;647&quot;/&gt;&lt;/object&gt;&lt;object type=&quot;3&quot; unique_id=&quot;182507&quot;&gt;&lt;property id=&quot;20148&quot; value=&quot;5&quot;/&gt;&lt;property id=&quot;20300&quot; value=&quot;Slide 7 - &amp;quot;Control Hazards&amp;quot;&quot;/&gt;&lt;property id=&quot;20307&quot; value=&quot;648&quot;/&gt;&lt;/object&gt;&lt;object type=&quot;3&quot; unique_id=&quot;182508&quot;&gt;&lt;property id=&quot;20148&quot; value=&quot;5&quot;/&gt;&lt;property id=&quot;20300&quot; value=&quot;Slide 8 - &amp;quot;Control Hazards&amp;quot;&quot;/&gt;&lt;property id=&quot;20307&quot; value=&quot;650&quot;/&gt;&lt;/object&gt;&lt;object type=&quot;3&quot; unique_id=&quot;182509&quot;&gt;&lt;property id=&quot;20148&quot; value=&quot;5&quot;/&gt;&lt;property id=&quot;20300&quot; value=&quot;Slide 9 - &amp;quot;Control Hazards&amp;quot;&quot;/&gt;&lt;property id=&quot;20307&quot; value=&quot;649&quot;/&gt;&lt;/object&gt;&lt;object type=&quot;3&quot; unique_id=&quot;182510&quot;&gt;&lt;property id=&quot;20148&quot; value=&quot;5&quot;/&gt;&lt;property id=&quot;20300&quot; value=&quot;Slide 10 - &amp;quot;Exercise – Branch Delay Slot&amp;quot;&quot;/&gt;&lt;property id=&quot;20307&quot; value=&quot;626&quot;/&gt;&lt;/object&gt;&lt;object type=&quot;3&quot; unique_id=&quot;182511&quot;&gt;&lt;property id=&quot;20148&quot; value=&quot;5&quot;/&gt;&lt;property id=&quot;20300&quot; value=&quot;Slide 11 - &amp;quot;Exercise – Branch Delay Slot&amp;quot;&quot;/&gt;&lt;property id=&quot;20307&quot; value=&quot;629&quot;/&gt;&lt;/object&gt;&lt;object type=&quot;3&quot; unique_id=&quot;182512&quot;&gt;&lt;property id=&quot;20148&quot; value=&quot;5&quot;/&gt;&lt;property id=&quot;20300&quot; value=&quot;Slide 12 - &amp;quot;Exercise – Branch Delay Slot&amp;quot;&quot;/&gt;&lt;property id=&quot;20307&quot; value=&quot;631&quot;/&gt;&lt;/object&gt;&lt;object type=&quot;3&quot; unique_id=&quot;182513&quot;&gt;&lt;property id=&quot;20148&quot; value=&quot;5&quot;/&gt;&lt;property id=&quot;20300&quot; value=&quot;Slide 13 - &amp;quot;Exercise – Branch Delay Slot&amp;quot;&quot;/&gt;&lt;property id=&quot;20307&quot; value=&quot;633&quot;/&gt;&lt;/object&gt;&lt;object type=&quot;3&quot; unique_id=&quot;182514&quot;&gt;&lt;property id=&quot;20148&quot; value=&quot;5&quot;/&gt;&lt;property id=&quot;20300&quot; value=&quot;Slide 14 - &amp;quot;Exercise – Branch Delay Slot&amp;quot;&quot;/&gt;&lt;property id=&quot;20307&quot; value=&quot;635&quot;/&gt;&lt;/object&gt;&lt;/object&gt;&lt;object type=&quot;8&quot; unique_id=&quot;10130&quot;&gt;&lt;/object&gt;&lt;object type=&quot;10&quot; unique_id=&quot;170501&quot;&gt;&lt;object type=&quot;11&quot; unique_id=&quot;170502&quot;&gt;&lt;property id=&quot;20180&quot; value=&quot;0&quot;/&gt;&lt;property id=&quot;20181&quot; value=&quot;1&quot;/&gt;&lt;property id=&quot;20183&quot; value=&quot;1&quot;/&gt;&lt;/object&gt;&lt;object type=&quot;12&quot; unique_id=&quot;170504&quot;&gt;&lt;/object&gt;&lt;/object&gt;&lt;object type=&quot;4&quot; unique_id=&quot;170503&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Lst>
</file>

<file path=ppt/tags/tag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DC449A2-60C0-4936-983B-BDD339AFECE6}_1.png&quot;/&gt;&lt;left val=&quot;35&quot;/&gt;&lt;top val=&quot;197&quot;/&gt;&lt;width val=&quot;654&quot;/&gt;&lt;height val=&quot;146&quot;/&gt;&lt;hasText val=&quot;1&quot;/&gt;&lt;/Image&gt;&lt;/ThreeDShapeInfo&gt;"/>
  <p:tag name="PRESENTER_SHAPETEXTINFO" val="&lt;ShapeTextInfo&gt;&lt;TableIndex row=&quot;-1&quot; col=&quot;-1&quot;&gt;&lt;linesCount val=&quot;2&quot;/&gt;&lt;lineCharCount val=&quot;32&quot;/&gt;&lt;lineCharCount val=&quot;10&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4A2F4D09-A6DE-42C0-9168-4D70047DFC3E}_1.png&quot;/&gt;&lt;left val=&quot;103&quot;/&gt;&lt;top val=&quot;315&quot;/&gt;&lt;width val=&quot;512&quot;/&gt;&lt;height val=&quot;146&quot;/&gt;&lt;hasText val=&quot;1&quot;/&gt;&lt;/Image&gt;&lt;/ThreeDShapeInfo&gt;"/>
  <p:tag name="PRESENTER_SHAPETEXTINFO" val="&lt;ShapeTextInfo&gt;&lt;TableIndex row=&quot;-1&quot; col=&quot;-1&quot;&gt;&lt;linesCount val=&quot;5&quot;/&gt;&lt;lineCharCount val=&quot;24&quot;/&gt;&lt;lineCharCount val=&quot;1&quot;/&gt;&lt;lineCharCount val=&quot;55&quot;/&gt;&lt;lineCharCount val=&quot;33&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8634392-5302-4986-BF70-548812BF03B3}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66382427-6577-4915-A22B-0FA080B8F6CC}_1.png_crop.png&quot;/&gt;&lt;left val=&quot;44&quot;/&gt;&lt;top val=&quot;124&quot;/&gt;&lt;width val=&quot;396&quot;/&gt;&lt;height val=&quot;19&quot;/&gt;&lt;hasText val=&quot;1&quot;/&gt;&lt;paraId val=&quot;1&quot;/&gt;&lt;/Image&gt;&lt;Image&gt;&lt;filename val=&quot;C:\Users\sanmi\Documents\My Adobe Presentations\ece552f2019-ControlHazards\data\asimages\{CB4AAE27-3544-4C50-B6A1-076E59C5E508}_1.png_crop.png&quot;/&gt;&lt;left val=&quot;78&quot;/&gt;&lt;top val=&quot;162&quot;/&gt;&lt;width val=&quot;590&quot;/&gt;&lt;height val=&quot;21&quot;/&gt;&lt;hasText val=&quot;1&quot;/&gt;&lt;paraId val=&quot;2&quot;/&gt;&lt;/Image&gt;&lt;Image&gt;&lt;filename val=&quot;C:\Users\sanmi\Documents\My Adobe Presentations\ece552f2019-ControlHazards\data\asimages\{B7EDC820-905B-4D5C-AC09-DF3EF177A80D}_1.png_crop.png&quot;/&gt;&lt;left val=&quot;78&quot;/&gt;&lt;top val=&quot;196&quot;/&gt;&lt;width val=&quot;523&quot;/&gt;&lt;height val=&quot;21&quot;/&gt;&lt;hasText val=&quot;1&quot;/&gt;&lt;paraId val=&quot;3&quot;/&gt;&lt;/Image&gt;&lt;/TextEffect&gt;"/>
  <p:tag name="PRESENTER_SHAPETEXTINFO" val="&lt;ShapeTextInfo&gt;&lt;TableIndex row=&quot;-1&quot; col=&quot;-1&quot;&gt;&lt;linesCount val=&quot;3&quot;/&gt;&lt;lineCharCount val=&quot;35&quot;/&gt;&lt;lineCharCount val=&quot;57&quot;/&gt;&lt;lineCharCount val=&quot;55&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 name="PPSNARRATION" val="6,786028020,C:\Users\sanmi\GoogleDrive\UWMdrive\Courses\ECE552\ece552-lec10_ControlHazards_pptx\Media.ppcx"/>
</p:tagLst>
</file>

<file path=ppt/tags/tag21.xml><?xml version="1.0" encoding="utf-8"?>
<p:tagLst xmlns:a="http://schemas.openxmlformats.org/drawingml/2006/main" xmlns:r="http://schemas.openxmlformats.org/officeDocument/2006/relationships" xmlns:p="http://schemas.openxmlformats.org/presentationml/2006/main">
  <p:tag name="PRESENTER_SHAPEINFO" val="&lt;ThreeDShapeInfo&gt;&lt;uuid val=&quot;{5FA20A63-BE8B-4893-A977-36203BE2C6CB}&quot;/&gt;&lt;isInvalidForFieldText val=&quot;0&quot;/&gt;&lt;Image&gt;&lt;filename val=&quot;C:\Users\sanmi\Documents\My Adobe Presentations\ece552f2019-ControlHazards\data\asimages\{5FA20A63-BE8B-4893-A977-36203BE2C6CB}.png&quot;/&gt;&lt;left val=&quot;135&quot;/&gt;&lt;top val=&quot;223&quot;/&gt;&lt;width val=&quot;449&quot;/&gt;&lt;height val=&quot;317&quot;/&gt;&lt;hasText val=&quot;1&quot;/&gt;&lt;/Image&gt;&lt;/ThreeDShapeInfo&gt;"/>
</p:tagLst>
</file>

<file path=ppt/tags/tag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65B5877-F46D-45E3-83E2-D9230187657B}_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CB40E2BE-D02D-47E1-922A-D7113C4047DE}_1.png_crop.png&quot;/&gt;&lt;left val=&quot;44&quot;/&gt;&lt;top val=&quot;124&quot;/&gt;&lt;width val=&quot;661&quot;/&gt;&lt;height val=&quot;57&quot;/&gt;&lt;hasText val=&quot;1&quot;/&gt;&lt;paraId val=&quot;1&quot;/&gt;&lt;/Image&gt;&lt;Image&gt;&lt;filename val=&quot;C:\Users\sanmi\Documents\My Adobe Presentations\ece552f2019-ControlHazards\data\asimages\{2C115B6B-4AD9-485E-964B-5B001560432E}_1.png_crop.png&quot;/&gt;&lt;left val=&quot;78&quot;/&gt;&lt;top val=&quot;195&quot;/&gt;&lt;width val=&quot;609&quot;/&gt;&lt;height val=&quot;21&quot;/&gt;&lt;hasText val=&quot;1&quot;/&gt;&lt;paraId val=&quot;2&quot;/&gt;&lt;/Image&gt;&lt;/TextEffect&gt;"/>
  <p:tag name="PRESENTER_SHAPETEXTINFO" val="&lt;ShapeTextInfo&gt;&lt;TableIndex row=&quot;-1&quot; col=&quot;-1&quot;&gt;&lt;linesCount val=&quot;3&quot;/&gt;&lt;lineCharCount val=&quot;53&quot;/&gt;&lt;lineCharCount val=&quot;55&quot;/&gt;&lt;lineCharCount val=&quot;59&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418E28EA-C334-485D-A61F-993341ADF308}_6.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 name="PPSNARRATION" val="7,786028020,C:\Users\sanmi\GoogleDrive\UWMdrive\Courses\ECE552\ece552-lec10_ControlHazards_pptx\Media.ppcx"/>
</p:tagLst>
</file>

<file path=ppt/tags/tag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9D882CB-547E-4EBC-A8D0-CC47B27D6532}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9E38868-33AB-46BB-972F-44A01503A140}_7.png&quot;/&gt;&lt;left val=&quot;27&quot;/&gt;&lt;top val=&quot;108&quot;/&gt;&lt;width val=&quot;698&quot;/&gt;&lt;height val=&quot;149&quot;/&gt;&lt;hasText val=&quot;1&quot;/&gt;&lt;/Image&gt;&lt;/ThreeDShapeInfo&gt;"/>
  <p:tag name="PRESENTER_SHAPETEXTINFO" val="&lt;ShapeTextInfo&gt;&lt;TableIndex row=&quot;-1&quot; col=&quot;-1&quot;&gt;&lt;linesCount val=&quot;3&quot;/&gt;&lt;lineCharCount val=&quot;53&quot;/&gt;&lt;lineCharCount val=&quot;55&quot;/&gt;&lt;lineCharCount val=&quot;59&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AC279A2-C10F-4A6A-8DC5-1A4A68C23AF4}_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F1414FE-C838-45CE-8098-2DF012AF345E}_7.png&quot;/&gt;&lt;left val=&quot;53&quot;/&gt;&lt;top val=&quot;233&quot;/&gt;&lt;width val=&quot;529&quot;/&gt;&lt;height val=&quot;146&quot;/&gt;&lt;hasText val=&quot;1&quot;/&gt;&lt;/Image&gt;&lt;/ThreeDShapeInfo&gt;"/>
  <p:tag name="PRESENTER_SHAPETEXTINFO" val="&lt;ShapeTextInfo&gt;&lt;TableIndex row=&quot;-1&quot; col=&quot;-1&quot;&gt;&lt;linesCount val=&quot;4&quot;/&gt;&lt;lineCharCount val=&quot;21&quot;/&gt;&lt;lineCharCount val=&quot;15&quot;/&gt;&lt;lineCharCount val=&quot;18&quot;/&gt;&lt;lineCharCount val=&quot;17&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51002D8-02ED-4759-B405-73DD1422B644}_7.png&quot;/&gt;&lt;left val=&quot;63&quot;/&gt;&lt;top val=&quot;381&quot;/&gt;&lt;width val=&quot;559&quot;/&gt;&lt;height val=&quot;153&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2&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1&quot;/&gt;&lt;lineCharCount val=&quot;2&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1&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1&quot;/&gt;&lt;/TableIndex&gt;&lt;TableIndex row=&quot;6&quot; col=&quot;8&quot;&gt;&lt;linesCount val=&quot;1&quot;/&gt;&lt;lineCharCount val=&quot;1&quot;/&gt;&lt;/TableIndex&gt;&lt;TableIndex row=&quot;6&quot; col=&quot;9&quot;&gt;&lt;linesCount val=&quot;1&quot;/&gt;&lt;lineCharCount val=&quot;1&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242968E-5A2C-435F-8E1F-6FB33EF96978}_7.png&quot;/&gt;&lt;left val=&quot;377&quot;/&gt;&lt;top val=&quot;233&quot;/&gt;&lt;width val=&quot;307&quot;/&gt;&lt;height val=&quot;139&quot;/&gt;&lt;hasText val=&quot;1&quot;/&gt;&lt;/Image&gt;&lt;/ThreeDShapeInfo&gt;"/>
  <p:tag name="PRESENTER_SHAPETEXTINFO" val="&lt;ShapeTextInfo&gt;&lt;TableIndex row=&quot;-1&quot; col=&quot;-1&quot;&gt;&lt;linesCount val=&quot;2&quot;/&gt;&lt;lineCharCount val=&quot;8&quot;/&gt;&lt;lineCharCount val=&quot;17&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Lst>
</file>

<file path=ppt/tags/tag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8634392-5302-4986-BF70-548812BF03B3}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66382427-6577-4915-A22B-0FA080B8F6CC}_1.png_crop.png&quot;/&gt;&lt;left val=&quot;44&quot;/&gt;&lt;top val=&quot;124&quot;/&gt;&lt;width val=&quot;396&quot;/&gt;&lt;height val=&quot;19&quot;/&gt;&lt;hasText val=&quot;1&quot;/&gt;&lt;paraId val=&quot;1&quot;/&gt;&lt;/Image&gt;&lt;Image&gt;&lt;filename val=&quot;C:\Users\sanmi\Documents\My Adobe Presentations\ece552f2019-ControlHazards\data\asimages\{CB4AAE27-3544-4C50-B6A1-076E59C5E508}_1.png_crop.png&quot;/&gt;&lt;left val=&quot;78&quot;/&gt;&lt;top val=&quot;162&quot;/&gt;&lt;width val=&quot;590&quot;/&gt;&lt;height val=&quot;21&quot;/&gt;&lt;hasText val=&quot;1&quot;/&gt;&lt;paraId val=&quot;2&quot;/&gt;&lt;/Image&gt;&lt;Image&gt;&lt;filename val=&quot;C:\Users\sanmi\Documents\My Adobe Presentations\ece552f2019-ControlHazards\data\asimages\{B7EDC820-905B-4D5C-AC09-DF3EF177A80D}_1.png_crop.png&quot;/&gt;&lt;left val=&quot;78&quot;/&gt;&lt;top val=&quot;196&quot;/&gt;&lt;width val=&quot;523&quot;/&gt;&lt;height val=&quot;21&quot;/&gt;&lt;hasText val=&quot;1&quot;/&gt;&lt;paraId val=&quot;3&quot;/&gt;&lt;/Image&gt;&lt;/TextEffect&gt;"/>
  <p:tag name="PRESENTER_SHAPETEXTINFO" val="&lt;ShapeTextInfo&gt;&lt;TableIndex row=&quot;-1&quot; col=&quot;-1&quot;&gt;&lt;linesCount val=&quot;3&quot;/&gt;&lt;lineCharCount val=&quot;35&quot;/&gt;&lt;lineCharCount val=&quot;57&quot;/&gt;&lt;lineCharCount val=&quot;55&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4400D31-ECD4-4519-9C25-7E361BAEBBCE}_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660A512-13D4-4678-BD86-ECDF1EDD46FD}_9.png&quot;/&gt;&lt;left val=&quot;257&quot;/&gt;&lt;top val=&quot;280&quot;/&gt;&lt;width val=&quot;74&quot;/&gt;&lt;height val=&quot;26&quot;/&gt;&lt;hasText val=&quot;1&quot;/&gt;&lt;/Image&gt;&lt;/ThreeDShapeInfo&gt;"/>
  <p:tag name="PRESENTER_SHAPETEXTINFO" val="&lt;ShapeTextInfo&gt;&lt;TableIndex row=&quot;-1&quot; col=&quot;-1&quot;&gt;&lt;linesCount val=&quot;1&quot;/&gt;&lt;lineCharCount val=&quot;6&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1DE8CA1A-62DD-41A7-AB9D-3A96229D5DF6}_9.png&quot;/&gt;&lt;left val=&quot;286&quot;/&gt;&lt;top val=&quot;411&quot;/&gt;&lt;width val=&quot;74&quot;/&gt;&lt;height val=&quot;26&quot;/&gt;&lt;hasText val=&quot;1&quot;/&gt;&lt;/Image&gt;&lt;/ThreeDShapeInfo&gt;"/>
  <p:tag name="PRESENTER_SHAPETEXTINFO" val="&lt;ShapeTextInfo&gt;&lt;TableIndex row=&quot;-1&quot; col=&quot;-1&quot;&gt;&lt;linesCount val=&quot;1&quot;/&gt;&lt;lineCharCount val=&quot;7&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3BF1C2C-7692-497A-91B9-9915B34ECD9E}_9.png&quot;/&gt;&lt;left val=&quot;17&quot;/&gt;&lt;top val=&quot;238&quot;/&gt;&lt;width val=&quot;101&quot;/&gt;&lt;height val=&quot;37&quot;/&gt;&lt;hasText val=&quot;1&quot;/&gt;&lt;/Image&gt;&lt;/ThreeDShapeInfo&gt;"/>
  <p:tag name="PRESENTER_SHAPETEXTINFO" val="&lt;ShapeTextInfo&gt;&lt;TableIndex row=&quot;-1&quot; col=&quot;-1&quot;&gt;&lt;linesCount val=&quot;2&quot;/&gt;&lt;lineCharCount val=&quot;18&quot;/&gt;&lt;lineCharCount val=&quot;5&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Lst>
</file>

<file path=ppt/tags/tag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1F2311F9-94CF-4958-B73C-4A650AAC411C}_10.png&quot;/&gt;&lt;left val=&quot;63&quot;/&gt;&lt;top val=&quot;381&quot;/&gt;&lt;width val=&quot;559&quot;/&gt;&lt;height val=&quot;8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0&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2&quot;/&gt;&lt;/TableIndex&gt;&lt;TableIndex row=&quot;3&quot; col=&quot;2&quot;&gt;&lt;linesCount val=&quot;0&quot;/&gt;&lt;/TableIndex&gt;&lt;TableIndex row=&quot;3&quot; col=&quot;3&quot;&gt;&lt;linesCount val=&quot;1&quot;/&gt;&lt;lineCharCount val=&quot;1&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336D1FE-3356-4FC9-8317-CBFF2318C0E0}_10.png&quot;/&gt;&lt;left val=&quot;63&quot;/&gt;&lt;top val=&quot;381&quot;/&gt;&lt;width val=&quot;559&quot;/&gt;&lt;height val=&quot;105&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2&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B8F5037-BA5E-4434-B324-006E86846534}_1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F71433A-E1F3-42B9-8624-389A73A81DAA}_10.png&quot;/&gt;&lt;left val=&quot;27&quot;/&gt;&lt;top val=&quot;108&quot;/&gt;&lt;width val=&quot;693&quot;/&gt;&lt;height val=&quot;149&quot;/&gt;&lt;hasText val=&quot;1&quot;/&gt;&lt;/Image&gt;&lt;/ThreeDShapeInfo&gt;"/>
  <p:tag name="PRESENTER_SHAPETEXTINFO" val="&lt;ShapeTextInfo&gt;&lt;TableIndex row=&quot;-1&quot; col=&quot;-1&quot;&gt;&lt;linesCount val=&quot;3&quot;/&gt;&lt;lineCharCount val=&quot;35&quot;/&gt;&lt;lineCharCount val=&quot;57&quot;/&gt;&lt;lineCharCount val=&quot;55&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0079A22-DFC3-48AF-9AE4-05ED2603EBBA}_10.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6A47E30-02CB-454D-88C7-AE2CA3D3683E}_10.png&quot;/&gt;&lt;left val=&quot;53&quot;/&gt;&lt;top val=&quot;233&quot;/&gt;&lt;width val=&quot;529&quot;/&gt;&lt;height val=&quot;146&quot;/&gt;&lt;hasText val=&quot;1&quot;/&gt;&lt;/Image&gt;&lt;/ThreeDShapeInfo&gt;"/>
  <p:tag name="PRESENTER_SHAPETEXTINFO" val="&lt;ShapeTextInfo&gt;&lt;TableIndex row=&quot;-1&quot; col=&quot;-1&quot;&gt;&lt;linesCount val=&quot;4&quot;/&gt;&lt;lineCharCount val=&quot;21&quot;/&gt;&lt;lineCharCount val=&quot;15&quot;/&gt;&lt;lineCharCount val=&quot;18&quot;/&gt;&lt;lineCharCount val=&quot;17&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FA7EE3A-23B1-48C7-A5D5-6E6C5CA4342D}_10.png&quot;/&gt;&lt;left val=&quot;377&quot;/&gt;&lt;top val=&quot;233&quot;/&gt;&lt;width val=&quot;307&quot;/&gt;&lt;height val=&quot;139&quot;/&gt;&lt;hasText val=&quot;1&quot;/&gt;&lt;/Image&gt;&lt;/ThreeDShapeInfo&gt;"/>
  <p:tag name="PRESENTER_SHAPETEXTINFO" val="&lt;ShapeTextInfo&gt;&lt;TableIndex row=&quot;-1&quot; col=&quot;-1&quot;&gt;&lt;linesCount val=&quot;2&quot;/&gt;&lt;lineCharCount val=&quot;8&quot;/&gt;&lt;lineCharCount val=&quot;17&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Lst>
</file>

<file path=ppt/tags/tag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64F7538-4D7D-4AFB-9705-A20DA6A17258}_1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A368C51-6420-4935-9E6E-DAC7084BE535}_1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E1BEC99-83F0-4BB8-816F-7C52777040C1}_11.png&quot;/&gt;&lt;left val=&quot;-7&quot;/&gt;&lt;top val=&quot;259&quot;/&gt;&lt;width val=&quot;338&quot;/&gt;&lt;height val=&quot;251&quot;/&gt;&lt;hasText val=&quot;1&quot;/&gt;&lt;/Image&gt;&lt;/ThreeDShapeInfo&gt;"/>
</p:tagLst>
</file>

<file path=ppt/tags/tag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445285C3-D6DD-4D17-A1D2-D6357C3B87F0}_11.png&quot;/&gt;&lt;left val=&quot;60&quot;/&gt;&lt;top val=&quot;96&quot;/&gt;&lt;width val=&quot;562&quot;/&gt;&lt;height val=&quot;147&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2&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D5375B4-38AD-4F44-B5B6-0D555682C010}_11.png&quot;/&gt;&lt;left val=&quot;-7&quot;/&gt;&lt;top val=&quot;259&quot;/&gt;&lt;width val=&quot;482&quot;/&gt;&lt;height val=&quot;251&quot;/&gt;&lt;hasText val=&quot;1&quot;/&gt;&lt;/Image&gt;&lt;/ThreeDShapeInfo&gt;"/>
</p:tagLst>
</file>

<file path=ppt/tags/tag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96CE144-370D-4499-891C-1DE5C1EF321A}_11.png&quot;/&gt;&lt;left val=&quot;-7&quot;/&gt;&lt;top val=&quot;259&quot;/&gt;&lt;width val=&quot;590&quot;/&gt;&lt;height val=&quot;251&quot;/&gt;&lt;hasText val=&quot;1&quot;/&gt;&lt;/Image&gt;&lt;/ThreeDShapeInfo&gt;"/>
</p:tagLst>
</file>

<file path=ppt/tags/tag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CE12339-E3C1-4031-916F-A1C881C13E65}_11.png&quot;/&gt;&lt;left val=&quot;-7&quot;/&gt;&lt;top val=&quot;259&quot;/&gt;&lt;width val=&quot;698&quot;/&gt;&lt;height val=&quot;251&quot;/&gt;&lt;hasText val=&quot;1&quot;/&gt;&lt;/Image&gt;&lt;/ThreeDShapeInfo&gt;"/>
</p:tagLst>
</file>

<file path=ppt/tags/tag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5879F92-1A3A-4346-8920-D0F983BCAA72}_11.png&quot;/&gt;&lt;left val=&quot;-7&quot;/&gt;&lt;top val=&quot;259&quot;/&gt;&lt;width val=&quot;710&quot;/&gt;&lt;height val=&quot;251&quot;/&gt;&lt;hasText val=&quot;1&quot;/&gt;&lt;/Image&gt;&lt;/ThreeDShape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HTML_SHAPEINFO" val="&lt;SlideThumbPath val=&quot;Slide12.PNG&quot;/&gt;"/>
</p:tagLst>
</file>

<file path=ppt/tags/tag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B487AF7-DE42-4EB2-B22A-ECB9F3E47A3F}_12.png&quot;/&gt;&lt;left val=&quot;63&quot;/&gt;&lt;top val=&quot;405&quot;/&gt;&lt;width val=&quot;559&quot;/&gt;&lt;height val=&quot;8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0&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7551176-D5BC-4534-82DB-10EEF8159CE1}_12.png&quot;/&gt;&lt;left val=&quot;63&quot;/&gt;&lt;top val=&quot;405&quot;/&gt;&lt;width val=&quot;559&quot;/&gt;&lt;height val=&quot;8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CED5A6B-F8F8-4DCF-978B-30000A746C12}_1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1EB6CCF1-E066-4A03-89A6-18FE9AA34519}_1.png_crop.png&quot;/&gt;&lt;left val=&quot;44&quot;/&gt;&lt;top val=&quot;124&quot;/&gt;&lt;width val=&quot;396&quot;/&gt;&lt;height val=&quot;19&quot;/&gt;&lt;hasText val=&quot;1&quot;/&gt;&lt;paraId val=&quot;1&quot;/&gt;&lt;/Image&gt;&lt;Image&gt;&lt;filename val=&quot;C:\Users\sanmi\Documents\My Adobe Presentations\ece552f2019-ControlHazards\data\asimages\{74827416-EB00-430D-9696-66403899CE99}_1.png_crop.png&quot;/&gt;&lt;left val=&quot;78&quot;/&gt;&lt;top val=&quot;162&quot;/&gt;&lt;width val=&quot;590&quot;/&gt;&lt;height val=&quot;21&quot;/&gt;&lt;hasText val=&quot;1&quot;/&gt;&lt;paraId val=&quot;2&quot;/&gt;&lt;/Image&gt;&lt;Image&gt;&lt;filename val=&quot;C:\Users\sanmi\Documents\My Adobe Presentations\ece552f2019-ControlHazards\data\asimages\{893E3174-DC9E-4BF3-80FA-0EB91738AD69}_1.png_crop.png&quot;/&gt;&lt;left val=&quot;78&quot;/&gt;&lt;top val=&quot;196&quot;/&gt;&lt;width val=&quot;523&quot;/&gt;&lt;height val=&quot;21&quot;/&gt;&lt;hasText val=&quot;1&quot;/&gt;&lt;paraId val=&quot;3&quot;/&gt;&lt;/Image&gt;&lt;Image&gt;&lt;filename val=&quot;C:\Users\sanmi\Documents\My Adobe Presentations\ece552f2019-ControlHazards\data\asimages\{5A0AF724-51CD-45E4-A710-9F5D3B3D0078}_1.png_crop.png&quot;/&gt;&lt;left val=&quot;78&quot;/&gt;&lt;top val=&quot;231&quot;/&gt;&lt;width val=&quot;312&quot;/&gt;&lt;height val=&quot;20&quot;/&gt;&lt;hasText val=&quot;1&quot;/&gt;&lt;paraId val=&quot;4&quot;/&gt;&lt;/Image&gt;&lt;Image&gt;&lt;filename val=&quot;C:\Users\sanmi\Documents\My Adobe Presentations\ece552f2019-ControlHazards\data\asimages\{07E310F5-BF45-42D5-9AA5-A1FEC68363E2}_1.png_crop.png&quot;/&gt;&lt;left val=&quot;115&quot;/&gt;&lt;top val=&quot;264&quot;/&gt;&lt;width val=&quot;476&quot;/&gt;&lt;height val=&quot;17&quot;/&gt;&lt;hasText val=&quot;1&quot;/&gt;&lt;paraId val=&quot;5&quot;/&gt;&lt;/Image&gt;&lt;/TextEffect&gt;"/>
  <p:tag name="PRESENTER_SHAPETEXTINFO" val="&lt;ShapeTextInfo&gt;&lt;TableIndex row=&quot;-1&quot; col=&quot;-1&quot;&gt;&lt;linesCount val=&quot;5&quot;/&gt;&lt;lineCharCount val=&quot;35&quot;/&gt;&lt;lineCharCount val=&quot;57&quot;/&gt;&lt;lineCharCount val=&quot;56&quot;/&gt;&lt;lineCharCount val=&quot;29&quot;/&gt;&lt;lineCharCount val=&quot;54&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41F9DEA-0BDC-49C9-A612-4D31E3AAC1A7}_1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F334B1B4-9817-4C26-996F-B702B635F75E}_12.png&quot;/&gt;&lt;left val=&quot;53&quot;/&gt;&lt;top val=&quot;318&quot;/&gt;&lt;width val=&quot;529&quot;/&gt;&lt;height val=&quot;83&quot;/&gt;&lt;hasText val=&quot;1&quot;/&gt;&lt;/Image&gt;&lt;/ThreeDShapeInfo&gt;"/>
  <p:tag name="PRESENTER_SHAPETEXTINFO" val="&lt;ShapeTextInfo&gt;&lt;TableIndex row=&quot;-1&quot; col=&quot;-1&quot;&gt;&lt;linesCount val=&quot;2&quot;/&gt;&lt;lineCharCount val=&quot;18&quot;/&gt;&lt;lineCharCount val=&quot;2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Lst>
</file>

<file path=ppt/tags/tag8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8634392-5302-4986-BF70-548812BF03B3}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66382427-6577-4915-A22B-0FA080B8F6CC}_1.png_crop.png&quot;/&gt;&lt;left val=&quot;44&quot;/&gt;&lt;top val=&quot;124&quot;/&gt;&lt;width val=&quot;396&quot;/&gt;&lt;height val=&quot;19&quot;/&gt;&lt;hasText val=&quot;1&quot;/&gt;&lt;paraId val=&quot;1&quot;/&gt;&lt;/Image&gt;&lt;Image&gt;&lt;filename val=&quot;C:\Users\sanmi\Documents\My Adobe Presentations\ece552f2019-ControlHazards\data\asimages\{CB4AAE27-3544-4C50-B6A1-076E59C5E508}_1.png_crop.png&quot;/&gt;&lt;left val=&quot;78&quot;/&gt;&lt;top val=&quot;162&quot;/&gt;&lt;width val=&quot;590&quot;/&gt;&lt;height val=&quot;21&quot;/&gt;&lt;hasText val=&quot;1&quot;/&gt;&lt;paraId val=&quot;2&quot;/&gt;&lt;/Image&gt;&lt;Image&gt;&lt;filename val=&quot;C:\Users\sanmi\Documents\My Adobe Presentations\ece552f2019-ControlHazards\data\asimages\{B7EDC820-905B-4D5C-AC09-DF3EF177A80D}_1.png_crop.png&quot;/&gt;&lt;left val=&quot;78&quot;/&gt;&lt;top val=&quot;196&quot;/&gt;&lt;width val=&quot;523&quot;/&gt;&lt;height val=&quot;21&quot;/&gt;&lt;hasText val=&quot;1&quot;/&gt;&lt;paraId val=&quot;3&quot;/&gt;&lt;/Image&gt;&lt;/TextEffect&gt;"/>
  <p:tag name="PRESENTER_SHAPETEXTINFO" val="&lt;ShapeTextInfo&gt;&lt;TableIndex row=&quot;-1&quot; col=&quot;-1&quot;&gt;&lt;linesCount val=&quot;3&quot;/&gt;&lt;lineCharCount val=&quot;35&quot;/&gt;&lt;lineCharCount val=&quot;57&quot;/&gt;&lt;lineCharCount val=&quot;55&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4400D31-ECD4-4519-9C25-7E361BAEBBCE}_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660A512-13D4-4678-BD86-ECDF1EDD46FD}_9.png&quot;/&gt;&lt;left val=&quot;257&quot;/&gt;&lt;top val=&quot;280&quot;/&gt;&lt;width val=&quot;74&quot;/&gt;&lt;height val=&quot;26&quot;/&gt;&lt;hasText val=&quot;1&quot;/&gt;&lt;/Image&gt;&lt;/ThreeDShapeInfo&gt;"/>
  <p:tag name="PRESENTER_SHAPETEXTINFO" val="&lt;ShapeTextInfo&gt;&lt;TableIndex row=&quot;-1&quot; col=&quot;-1&quot;&gt;&lt;linesCount val=&quot;1&quot;/&gt;&lt;lineCharCount val=&quot;6&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1DE8CA1A-62DD-41A7-AB9D-3A96229D5DF6}_9.png&quot;/&gt;&lt;left val=&quot;286&quot;/&gt;&lt;top val=&quot;411&quot;/&gt;&lt;width val=&quot;74&quot;/&gt;&lt;height val=&quot;26&quot;/&gt;&lt;hasText val=&quot;1&quot;/&gt;&lt;/Image&gt;&lt;/ThreeDShapeInfo&gt;"/>
  <p:tag name="PRESENTER_SHAPETEXTINFO" val="&lt;ShapeTextInfo&gt;&lt;TableIndex row=&quot;-1&quot; col=&quot;-1&quot;&gt;&lt;linesCount val=&quot;1&quot;/&gt;&lt;lineCharCount val=&quot;7&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3BF1C2C-7692-497A-91B9-9915B34ECD9E}_9.png&quot;/&gt;&lt;left val=&quot;17&quot;/&gt;&lt;top val=&quot;238&quot;/&gt;&lt;width val=&quot;101&quot;/&gt;&lt;height val=&quot;37&quot;/&gt;&lt;hasText val=&quot;1&quot;/&gt;&lt;/Image&gt;&lt;/ThreeDShapeInfo&gt;"/>
  <p:tag name="PRESENTER_SHAPETEXTINFO" val="&lt;ShapeTextInfo&gt;&lt;TableIndex row=&quot;-1&quot; col=&quot;-1&quot;&gt;&lt;linesCount val=&quot;2&quot;/&gt;&lt;lineCharCount val=&quot;18&quot;/&gt;&lt;lineCharCount val=&quot;5&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122</TotalTime>
  <Words>662</Words>
  <Application>Microsoft Macintosh PowerPoint</Application>
  <PresentationFormat>On-screen Show (4:3)</PresentationFormat>
  <Paragraphs>248</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Times New Roman</vt:lpstr>
      <vt:lpstr>Wingdings</vt:lpstr>
      <vt:lpstr>Lecture Notes 552</vt:lpstr>
      <vt:lpstr>ECE/CS 552: Control Hazards and Exceptions</vt:lpstr>
      <vt:lpstr>Announcements</vt:lpstr>
      <vt:lpstr>Control Hazards</vt:lpstr>
      <vt:lpstr>Control Hazards</vt:lpstr>
      <vt:lpstr>Control Hazards</vt:lpstr>
      <vt:lpstr>Control Hazards</vt:lpstr>
      <vt:lpstr>Control Hazards</vt:lpstr>
      <vt:lpstr>Control Hazards</vt:lpstr>
      <vt:lpstr>Control Hazards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Control Hazards and Exceptions</dc:title>
  <dc:creator/>
  <cp:lastModifiedBy>Boone Severson</cp:lastModifiedBy>
  <cp:revision>600</cp:revision>
  <cp:lastPrinted>1601-01-01T00:00:00Z</cp:lastPrinted>
  <dcterms:created xsi:type="dcterms:W3CDTF">1601-01-01T00:00:00Z</dcterms:created>
  <dcterms:modified xsi:type="dcterms:W3CDTF">2024-10-15T14:22:51Z</dcterms:modified>
</cp:coreProperties>
</file>