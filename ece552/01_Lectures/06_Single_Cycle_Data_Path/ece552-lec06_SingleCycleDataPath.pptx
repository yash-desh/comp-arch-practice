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3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4.xml" ContentType="application/vnd.openxmlformats-officedocument.presentationml.notesSlide+xml"/>
  <Override PartName="/ppt/ink/ink1.xml" ContentType="application/inkml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5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6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7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8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9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10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11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12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13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14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15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16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notesSlides/notesSlide17.xml" ContentType="application/vnd.openxmlformats-officedocument.presentationml.notesSlid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notesSlides/notesSlide18.xml" ContentType="application/vnd.openxmlformats-officedocument.presentationml.notesSlide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19.xml" ContentType="application/vnd.openxmlformats-officedocument.presentationml.notesSlide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notesSlides/notesSlide20.xml" ContentType="application/vnd.openxmlformats-officedocument.presentationml.notesSlide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notesSlides/notesSlide21.xml" ContentType="application/vnd.openxmlformats-officedocument.presentationml.notesSlide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8" r:id="rId1"/>
  </p:sldMasterIdLst>
  <p:notesMasterIdLst>
    <p:notesMasterId r:id="rId24"/>
  </p:notesMasterIdLst>
  <p:handoutMasterIdLst>
    <p:handoutMasterId r:id="rId25"/>
  </p:handoutMasterIdLst>
  <p:sldIdLst>
    <p:sldId id="363" r:id="rId2"/>
    <p:sldId id="375" r:id="rId3"/>
    <p:sldId id="376" r:id="rId4"/>
    <p:sldId id="377" r:id="rId5"/>
    <p:sldId id="378" r:id="rId6"/>
    <p:sldId id="379" r:id="rId7"/>
    <p:sldId id="381" r:id="rId8"/>
    <p:sldId id="380" r:id="rId9"/>
    <p:sldId id="307" r:id="rId10"/>
    <p:sldId id="308" r:id="rId11"/>
    <p:sldId id="383" r:id="rId12"/>
    <p:sldId id="386" r:id="rId13"/>
    <p:sldId id="385" r:id="rId14"/>
    <p:sldId id="384" r:id="rId15"/>
    <p:sldId id="310" r:id="rId16"/>
    <p:sldId id="311" r:id="rId17"/>
    <p:sldId id="382" r:id="rId18"/>
    <p:sldId id="312" r:id="rId19"/>
    <p:sldId id="364" r:id="rId20"/>
    <p:sldId id="365" r:id="rId21"/>
    <p:sldId id="366" r:id="rId22"/>
    <p:sldId id="367" r:id="rId23"/>
  </p:sldIdLst>
  <p:sldSz cx="9144000" cy="6858000" type="screen4x3"/>
  <p:notesSz cx="6845300" cy="9396413"/>
  <p:custDataLst>
    <p:tags r:id="rId2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FF33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8" autoAdjust="0"/>
    <p:restoredTop sz="65879" autoAdjust="0"/>
  </p:normalViewPr>
  <p:slideViewPr>
    <p:cSldViewPr>
      <p:cViewPr varScale="1">
        <p:scale>
          <a:sx n="142" d="100"/>
          <a:sy n="142" d="100"/>
        </p:scale>
        <p:origin x="276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1740" y="-96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23DBEDD-5FD2-43A5-9F20-85A2AADC84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0AD4ACD-46C9-4BDD-8721-5CB862199FE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0138BE3B-B4FC-47E2-BD81-42EF136F8F5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498850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ECE/C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94DBA325-EDCB-4F79-B49B-6C948EC03A0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45D3EB99-9D63-43C5-86E9-E8DCE90111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776" units="cm"/>
          <inkml:channel name="Y" type="integer" max="2048" units="cm"/>
        </inkml:traceFormat>
        <inkml:channelProperties>
          <inkml:channelProperty channel="X" name="resolution" value="128.43538" units="1/cm"/>
          <inkml:channelProperty channel="Y" name="resolution" value="123.3735" units="1/cm"/>
        </inkml:channelProperties>
      </inkml:inkSource>
      <inkml:timestamp xml:id="ts0" timeString="2014-01-17T15:16:23.145"/>
    </inkml:context>
    <inkml:brush xml:id="br0">
      <inkml:brushProperty name="width" value="0.08333" units="cm"/>
      <inkml:brushProperty name="height" value="0.08333" units="cm"/>
      <inkml:brushProperty name="color" value="#E46C0A"/>
      <inkml:brushProperty name="fitToCurve" value="1"/>
    </inkml:brush>
  </inkml:definitions>
  <inkml:trace contextRef="#ctx0" brushRef="#br0">2985 198,'0'0,"0"0,0 0,0 0,0 0,0 0,0 0,0 0,0 0,0 0,0 0,0 14,0 0,0 0,0 1,0-1,0 0,0-14,0 14,13-14,1 0,0 0,-1 0,1 0,13 0,0 14,14 0,0 0,0 0,0 1,13-1,1 0,40 0,-13-14,13 0,-13 0,-27 0,40 0,-13-14,-28 14,1 0,-1 14,42 0,-15 14,-26-28,40 15,-13-1,-28 0,1 0,-1 0,1 0,-1 0,1 0,-14 1,0-1,-1 0,1 0,0 0,-14 0,1 0,-1 0,0 1,0-1,1 0,-1 0,0 14,0 0,-13 1,0 13,-1 1,-13-15,0 0,0 0,0 1,0-1,0 0,-13 0,-1 1,-13-15,0 14,-1 0,-13 0,-13 1,-1-1,-26 14,-15-13,15-1,-15 0,42-14,-1 0,-26 1,-15 13,14-14,-40 28,-1 1,41-1,1-14,-28 43,0-14,27-15,0 14,-27 15,-13-14,-1-1,14 1,27-15,1 0,-28 15,27-15,-54 15,-42 13,69-13,1 14,39-15,1 1,-27 27,27-13,0-14,0 13,-14-13,14-15,-14 15,-27 13,14 1,-1 0,1 13,13 15,28-28,-15 0,15-1,13-27,0-1,-27 15,0 13,27-42,14 1,0 13,-1 0,-12 29,-1 0,13 14,-12 28,26-29,0-27,1-15,13 1,0-1,13-14,1 1,0-1,-1 0,1 0,-1 1,15-1,-1-14,0 14,0-14,1 0,-1 1,0-1,0 0,1 0,-1 0,0 0,14 0,41 1,-1 13,15-14,26 14,-40 0,14-13,-15-15,-26 0,108 14,28-14,-68 0,-42 0,15 0,26 0,1 0,0 0,13 0,0 0,-13 0,-42 0,-26 0,40 0,-13 0,-27 0,40 0,28-14,13 14,-55-15,15 15,-14 0,-28 0,41 0,-13-14,14 14,26 0,14 0,-54 0,14 0,-15 0,-26 0,-1 0,1-14,40 0,-13 0,13-14,-13 14,-28-1,1 1,-1 0,1 0,-1-14,-13-1,14-41,13 13,-27 15,-14 0,0-1,1 15,-1 0,-14-1,1 1,-14 0,0-15,0 1,0 0,-14 13,1-13,-14 0,-28-29,-13-28,13 28,15-13,-29-15,-12 0,26 28,-13 1,-27-15,-14 14,-14 1,0 13,42 29,-1-1,0 1,1-14,-110-15,0 1,68 13,14 15,0 0,-13-14,-14 13,-55-41,27 27,83 15,-42 0,28 14,13-15,-109-13,14 14,82 14,40-1,-26-13,-15 14,14-14,-13 14,13-15,-40 1,-15 0,15 0,-1-1,1 1,-1 0,41 0,-54-29,-41 1,95 13,41 15,0 0,-13-1,13 1,0-14,0-1,0 1,1 0,-1-1,0 1,0-1,0 1,14 0,0-1,-1 1,1-43,0 0,13 29,14-1,0 1,0-1,14 1,-1 13,1 1,0 0,-1-1,15 1,12-1,1 1,27 0,1-15,-29 29,1 14,14 0,-1-1,-13 1,14 0,-1 0,-13 0,0 0,0 0,0 0,0 14,13 0,0 0,1 0,-14 0,0 0,0 0,13 0,1 0,-1 0,1 0,-1 0,1 0,-15 0,1 0,0 0,0 0,0 0,0 0,0 0,0 0,13 0,-13 0,0 0,0 0,0 0,-1 0,1 0,0 0,0 0,-14 0,1 0,-1 0,0 0,0 0,0 0,-13 0,0 0,-1 0,1 0,0 0,-1 0,1 0,-1 0,-13 0,0 0,0 0,0 0,0 0,0 0,0 0,0 0,0 0,0 0,0 0,0 0,0 0,0 0,0 0,0 0,0 0,0 0,0 0,0 0,0 0,0 0,0 0,0 0,0 0,0 0,0 0,0 0,0 0,0 0,0 0,0 0,0 0,0 0,0 0,0 0,0 0,0 0,0 0,0 0,0 0,0 0,0 0,0 0,0 0,0 0,0 0,0 0,0 0,0 0,0 0,0 0,0 0,0 0,0 0,0 0,0 0,0 0,0 0,0 0,0-15,0 1,-13-14,-1 0,-40-29,-28-28,28 15,26 27,-13 1,14 0,0 13,0 1,13 14,0 0,1 0,-1 0,1-1,-1 1,0 0,1 14,13 0,0 0,0 14,0 0,13 1,1 27,27 0,0 1,27 13,27 29,-27-28,-27-29,27 28,0-13,-40-15,-1 0,0 1,0-15,1 0,-15 0,1 0,-1 0,-13 0,0 15,0-1,-13 14,-28 43,0 0,-13 0,-55-1,13 1,28-14,27-29,0 1,1-1,-1-14,13 0,1 1,0-1,13 0,1-14,-1 0,0 1,1-1,-1 0,1 0,-1-14,0 0,14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CB6C3C6-9525-4349-BF9B-818C9D08B1C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8E9A85D-1009-44FA-9FED-4AF6B730448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4E29E7C7-EBDC-42EB-A111-5AC77006C5E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4738" y="704850"/>
            <a:ext cx="4697412" cy="3522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9D9E7BFF-F745-479A-A2B3-068B01427B3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8AB3A8AF-22FF-4B3F-8411-EAA94D25A7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8D83F9A9-165D-470F-BC5C-9CCD4D2CB6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1C35C152-3DB7-435C-A533-CD1DD6D96D3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3726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7612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2794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270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6608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3198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8202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11286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3072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02046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9307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427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81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4077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51425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35039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64684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44810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41991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1935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79934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6315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D6D32831-2C8B-4D09-9F1E-8AB748922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C374E429-1925-4A10-9B19-5EC670A6D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F139AA9-7CBD-446F-8050-7CB57F801FB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F7CE92-8237-4EDF-9506-0F32E6DD423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F5D103E-DC49-4873-835E-61240C1324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A94755AC-6E93-46D4-83A9-A14BFD27E008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409156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5736440-2B54-48C6-9B5F-63D6508056C4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86D31D8-4737-4233-ADC5-E2794C58093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DF2F38D-6108-431B-BA6F-3B417A65D91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610C3512-AF1C-4C61-A68F-3AAEA35C96B0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636711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12B75CD-D702-4371-84DB-DF40520E7BD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608C824-03E0-4194-82A9-C145EB7C7B81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E0958-E1B6-4ED0-8F04-E50F3B1C6FF9}"/>
              </a:ext>
            </a:extLst>
          </p:cNvPr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B088D-9636-41E8-941C-3BC9B83E3DCC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BD024-3BC3-4018-A48B-E06F6E5361F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B1AEF592-F6E8-4F0B-940C-5C64E2DC1EBB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</p:sldLayoutIdLst>
  <p:transition/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customXml" Target="../ink/ink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30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1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tags" Target="../tags/tag59.xml"/><Relationship Id="rId3" Type="http://schemas.openxmlformats.org/officeDocument/2006/relationships/tags" Target="../tags/tag36.xml"/><Relationship Id="rId21" Type="http://schemas.openxmlformats.org/officeDocument/2006/relationships/tags" Target="../tags/tag54.xml"/><Relationship Id="rId34" Type="http://schemas.openxmlformats.org/officeDocument/2006/relationships/notesSlide" Target="../notesSlides/notesSlide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tags" Target="../tags/tag58.xml"/><Relationship Id="rId3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tags" Target="../tags/tag53.xml"/><Relationship Id="rId29" Type="http://schemas.openxmlformats.org/officeDocument/2006/relationships/tags" Target="../tags/tag62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tags" Target="../tags/tag57.xml"/><Relationship Id="rId32" Type="http://schemas.openxmlformats.org/officeDocument/2006/relationships/tags" Target="../tags/tag65.xml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tags" Target="../tags/tag56.xml"/><Relationship Id="rId28" Type="http://schemas.openxmlformats.org/officeDocument/2006/relationships/tags" Target="../tags/tag61.xml"/><Relationship Id="rId36" Type="http://schemas.openxmlformats.org/officeDocument/2006/relationships/image" Target="../media/image5.png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31" Type="http://schemas.openxmlformats.org/officeDocument/2006/relationships/tags" Target="../tags/tag64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tags" Target="../tags/tag55.xml"/><Relationship Id="rId27" Type="http://schemas.openxmlformats.org/officeDocument/2006/relationships/tags" Target="../tags/tag60.xml"/><Relationship Id="rId30" Type="http://schemas.openxmlformats.org/officeDocument/2006/relationships/tags" Target="../tags/tag63.xml"/><Relationship Id="rId35" Type="http://schemas.openxmlformats.org/officeDocument/2006/relationships/image" Target="../media/image4.png"/><Relationship Id="rId8" Type="http://schemas.openxmlformats.org/officeDocument/2006/relationships/tags" Target="../tags/tag4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6.wmf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7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7" Type="http://schemas.openxmlformats.org/officeDocument/2006/relationships/image" Target="../media/image8.pn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10" Type="http://schemas.openxmlformats.org/officeDocument/2006/relationships/image" Target="../media/image9.png"/><Relationship Id="rId4" Type="http://schemas.openxmlformats.org/officeDocument/2006/relationships/tags" Target="../tags/tag80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7" Type="http://schemas.openxmlformats.org/officeDocument/2006/relationships/image" Target="../media/image10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90.xml"/><Relationship Id="rId7" Type="http://schemas.openxmlformats.org/officeDocument/2006/relationships/notesSlide" Target="../notesSlides/notesSlide12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2.xml"/><Relationship Id="rId4" Type="http://schemas.openxmlformats.org/officeDocument/2006/relationships/tags" Target="../tags/tag9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3" Type="http://schemas.openxmlformats.org/officeDocument/2006/relationships/tags" Target="../tags/tag9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3" Type="http://schemas.openxmlformats.org/officeDocument/2006/relationships/tags" Target="../tags/tag10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10.xml"/><Relationship Id="rId7" Type="http://schemas.openxmlformats.org/officeDocument/2006/relationships/notesSlide" Target="../notesSlides/notesSlide16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2.xml"/><Relationship Id="rId4" Type="http://schemas.openxmlformats.org/officeDocument/2006/relationships/tags" Target="../tags/tag111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125.xml"/><Relationship Id="rId18" Type="http://schemas.openxmlformats.org/officeDocument/2006/relationships/tags" Target="../tags/tag130.xml"/><Relationship Id="rId26" Type="http://schemas.openxmlformats.org/officeDocument/2006/relationships/tags" Target="../tags/tag138.xml"/><Relationship Id="rId39" Type="http://schemas.openxmlformats.org/officeDocument/2006/relationships/tags" Target="../tags/tag151.xml"/><Relationship Id="rId21" Type="http://schemas.openxmlformats.org/officeDocument/2006/relationships/tags" Target="../tags/tag133.xml"/><Relationship Id="rId34" Type="http://schemas.openxmlformats.org/officeDocument/2006/relationships/tags" Target="../tags/tag146.xml"/><Relationship Id="rId42" Type="http://schemas.openxmlformats.org/officeDocument/2006/relationships/image" Target="../media/image12.wmf"/><Relationship Id="rId7" Type="http://schemas.openxmlformats.org/officeDocument/2006/relationships/tags" Target="../tags/tag119.xml"/><Relationship Id="rId2" Type="http://schemas.openxmlformats.org/officeDocument/2006/relationships/tags" Target="../tags/tag114.xml"/><Relationship Id="rId16" Type="http://schemas.openxmlformats.org/officeDocument/2006/relationships/tags" Target="../tags/tag128.xml"/><Relationship Id="rId20" Type="http://schemas.openxmlformats.org/officeDocument/2006/relationships/tags" Target="../tags/tag132.xml"/><Relationship Id="rId29" Type="http://schemas.openxmlformats.org/officeDocument/2006/relationships/tags" Target="../tags/tag141.xml"/><Relationship Id="rId41" Type="http://schemas.openxmlformats.org/officeDocument/2006/relationships/notesSlide" Target="../notesSlides/notesSlide17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tags" Target="../tags/tag123.xml"/><Relationship Id="rId24" Type="http://schemas.openxmlformats.org/officeDocument/2006/relationships/tags" Target="../tags/tag136.xml"/><Relationship Id="rId32" Type="http://schemas.openxmlformats.org/officeDocument/2006/relationships/tags" Target="../tags/tag144.xml"/><Relationship Id="rId37" Type="http://schemas.openxmlformats.org/officeDocument/2006/relationships/tags" Target="../tags/tag149.xml"/><Relationship Id="rId40" Type="http://schemas.openxmlformats.org/officeDocument/2006/relationships/slideLayout" Target="../slideLayouts/slideLayout2.xml"/><Relationship Id="rId5" Type="http://schemas.openxmlformats.org/officeDocument/2006/relationships/tags" Target="../tags/tag117.xml"/><Relationship Id="rId15" Type="http://schemas.openxmlformats.org/officeDocument/2006/relationships/tags" Target="../tags/tag127.xml"/><Relationship Id="rId23" Type="http://schemas.openxmlformats.org/officeDocument/2006/relationships/tags" Target="../tags/tag135.xml"/><Relationship Id="rId28" Type="http://schemas.openxmlformats.org/officeDocument/2006/relationships/tags" Target="../tags/tag140.xml"/><Relationship Id="rId36" Type="http://schemas.openxmlformats.org/officeDocument/2006/relationships/tags" Target="../tags/tag148.xml"/><Relationship Id="rId10" Type="http://schemas.openxmlformats.org/officeDocument/2006/relationships/tags" Target="../tags/tag122.xml"/><Relationship Id="rId19" Type="http://schemas.openxmlformats.org/officeDocument/2006/relationships/tags" Target="../tags/tag131.xml"/><Relationship Id="rId31" Type="http://schemas.openxmlformats.org/officeDocument/2006/relationships/tags" Target="../tags/tag143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tags" Target="../tags/tag126.xml"/><Relationship Id="rId22" Type="http://schemas.openxmlformats.org/officeDocument/2006/relationships/tags" Target="../tags/tag134.xml"/><Relationship Id="rId27" Type="http://schemas.openxmlformats.org/officeDocument/2006/relationships/tags" Target="../tags/tag139.xml"/><Relationship Id="rId30" Type="http://schemas.openxmlformats.org/officeDocument/2006/relationships/tags" Target="../tags/tag142.xml"/><Relationship Id="rId35" Type="http://schemas.openxmlformats.org/officeDocument/2006/relationships/tags" Target="../tags/tag147.xml"/><Relationship Id="rId8" Type="http://schemas.openxmlformats.org/officeDocument/2006/relationships/tags" Target="../tags/tag120.xml"/><Relationship Id="rId3" Type="http://schemas.openxmlformats.org/officeDocument/2006/relationships/tags" Target="../tags/tag115.xml"/><Relationship Id="rId12" Type="http://schemas.openxmlformats.org/officeDocument/2006/relationships/tags" Target="../tags/tag124.xml"/><Relationship Id="rId17" Type="http://schemas.openxmlformats.org/officeDocument/2006/relationships/tags" Target="../tags/tag129.xml"/><Relationship Id="rId25" Type="http://schemas.openxmlformats.org/officeDocument/2006/relationships/tags" Target="../tags/tag137.xml"/><Relationship Id="rId33" Type="http://schemas.openxmlformats.org/officeDocument/2006/relationships/tags" Target="../tags/tag145.xml"/><Relationship Id="rId38" Type="http://schemas.openxmlformats.org/officeDocument/2006/relationships/tags" Target="../tags/tag15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3" Type="http://schemas.openxmlformats.org/officeDocument/2006/relationships/tags" Target="../tags/tag15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9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3" Type="http://schemas.openxmlformats.org/officeDocument/2006/relationships/tags" Target="../tags/tag16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9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3" Type="http://schemas.openxmlformats.org/officeDocument/2006/relationships/tags" Target="../tags/tag16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9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3" Type="http://schemas.openxmlformats.org/officeDocument/2006/relationships/tags" Target="../tags/tag17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9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3" Type="http://schemas.openxmlformats.org/officeDocument/2006/relationships/tags" Target="../tags/tag17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C6C5233D-EB16-4FAF-AB96-A26AC7DE2B2E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362200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Single-Cycle Data Path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C14C3-D3E9-4C80-B100-3FF50B0DE756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Boone Severson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Lecture notes based in part on slides created by Joshua San Miguel, </a:t>
            </a:r>
            <a:r>
              <a:rPr lang="en-US" sz="2200" dirty="0" err="1"/>
              <a:t>Mikko</a:t>
            </a:r>
            <a:r>
              <a:rPr lang="en-US" sz="2200" dirty="0"/>
              <a:t> </a:t>
            </a:r>
            <a:r>
              <a:rPr lang="en-US" sz="2200" dirty="0" err="1"/>
              <a:t>Lipasti</a:t>
            </a:r>
            <a:r>
              <a:rPr lang="en-US" sz="2200" dirty="0"/>
              <a:t>, Mark Hill, David Wood, </a:t>
            </a:r>
            <a:r>
              <a:rPr lang="en-US" sz="2200" dirty="0" err="1"/>
              <a:t>Guri</a:t>
            </a:r>
            <a:r>
              <a:rPr lang="en-US" sz="2200" dirty="0"/>
              <a:t>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1EA4EFA-5476-4BB6-8633-75B78857374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Forecast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C61C6D3-4B95-4CCD-BF08-EEAB2B625F63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Simple processor implementation</a:t>
            </a:r>
          </a:p>
          <a:p>
            <a:pPr lvl="1" eaLnBrk="1" hangingPunct="1"/>
            <a:r>
              <a:rPr lang="en-US" altLang="en-US" sz="2400" dirty="0"/>
              <a:t>Heart of 552</a:t>
            </a:r>
          </a:p>
          <a:p>
            <a:pPr lvl="1" eaLnBrk="1" hangingPunct="1"/>
            <a:r>
              <a:rPr lang="en-US" altLang="en-US" sz="2400" dirty="0"/>
              <a:t>Key to project</a:t>
            </a:r>
          </a:p>
          <a:p>
            <a:pPr marL="457200" lvl="1" indent="0" eaLnBrk="1" hangingPunct="1">
              <a:buNone/>
            </a:pPr>
            <a:endParaRPr lang="en-US" altLang="en-US" sz="2400" dirty="0"/>
          </a:p>
          <a:p>
            <a:pPr eaLnBrk="1" hangingPunct="1"/>
            <a:r>
              <a:rPr lang="en-US" altLang="en-US" sz="2800" dirty="0"/>
              <a:t>Forecast:</a:t>
            </a:r>
          </a:p>
          <a:p>
            <a:pPr lvl="1" eaLnBrk="1" hangingPunct="1"/>
            <a:r>
              <a:rPr lang="en-US" altLang="en-US" sz="2400" dirty="0"/>
              <a:t>Sequential logic design review</a:t>
            </a:r>
          </a:p>
          <a:p>
            <a:pPr lvl="1" eaLnBrk="1" hangingPunct="1"/>
            <a:r>
              <a:rPr lang="en-US" altLang="en-US" sz="2400" dirty="0"/>
              <a:t>Single-cycle data path (1 CPI)</a:t>
            </a:r>
          </a:p>
          <a:p>
            <a:pPr lvl="2" eaLnBrk="1" hangingPunct="1"/>
            <a:r>
              <a:rPr lang="en-US" altLang="en-US" sz="2000" dirty="0"/>
              <a:t>Fetch, ALU, load/store, branch, register file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168816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12366BE-8202-4078-A63D-83FCE488015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Sequential Logic Review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0D36A56-E7C3-434F-9BD2-168F3D5D8CE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Logic is combinational if output is solely a function of the inputs</a:t>
            </a:r>
          </a:p>
          <a:p>
            <a:pPr lvl="1" eaLnBrk="1" hangingPunct="1"/>
            <a:r>
              <a:rPr lang="en-US" altLang="en-US" dirty="0"/>
              <a:t>e.g., ALU in previous lecture</a:t>
            </a:r>
          </a:p>
          <a:p>
            <a:pPr eaLnBrk="1" hangingPunct="1"/>
            <a:r>
              <a:rPr lang="en-US" altLang="en-US" dirty="0"/>
              <a:t>Logic is sequential or “has state” if output is a function of:</a:t>
            </a:r>
          </a:p>
          <a:p>
            <a:pPr lvl="1" eaLnBrk="1" hangingPunct="1"/>
            <a:r>
              <a:rPr lang="en-US" altLang="en-US" dirty="0"/>
              <a:t>Past and current inputs</a:t>
            </a:r>
          </a:p>
          <a:p>
            <a:pPr lvl="1" eaLnBrk="1" hangingPunct="1"/>
            <a:r>
              <a:rPr lang="en-US" altLang="en-US" dirty="0"/>
              <a:t>Past inputs remembered in “state”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166683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D4A017-E501-49FA-9AAA-D02002D165C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Sequential Logic Review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95477B6-964A-4DAF-9364-B88292557729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4953000"/>
            <a:ext cx="7772400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Level-sensitive D latch: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Clock high: Q = D and ~Q = ~D, </a:t>
            </a:r>
            <a:r>
              <a:rPr lang="en-US" altLang="en-US" i="1" dirty="0"/>
              <a:t>transparent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Clock low: Q and ~Q remain unchanged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3375472F-F2E8-4491-9540-F379EC0F2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447800"/>
            <a:ext cx="5715000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9BB38F1-4B44-4B2C-9676-F26086B1783D}"/>
                  </a:ext>
                </a:extLst>
              </p14:cNvPr>
              <p14:cNvContentPartPr/>
              <p14:nvPr/>
            </p14:nvContentPartPr>
            <p14:xfrm>
              <a:off x="4514669" y="2319576"/>
              <a:ext cx="2113200" cy="1867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9BB38F1-4B44-4B2C-9676-F26086B1783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99549" y="2304456"/>
                <a:ext cx="2142720" cy="18972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517164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51F5ABA-B2D0-4CBB-B2F6-01012A65BDB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Sequential Logic Review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B9C34E5-42E3-4A9A-B045-2ADDF6215177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4" y="4495800"/>
            <a:ext cx="8308976" cy="2133600"/>
          </a:xfrm>
        </p:spPr>
        <p:txBody>
          <a:bodyPr/>
          <a:lstStyle/>
          <a:p>
            <a:pPr eaLnBrk="1" hangingPunct="1"/>
            <a:r>
              <a:rPr lang="en-US" altLang="en-US" dirty="0"/>
              <a:t>Master-slave D flip-flop (DFF):</a:t>
            </a:r>
          </a:p>
          <a:p>
            <a:pPr lvl="1" eaLnBrk="1" hangingPunct="1"/>
            <a:r>
              <a:rPr lang="en-US" altLang="en-US" i="1" dirty="0"/>
              <a:t>Opaque</a:t>
            </a:r>
            <a:r>
              <a:rPr lang="en-US" altLang="en-US" dirty="0"/>
              <a:t> except at falling (in example) clock edge</a:t>
            </a:r>
            <a:endParaRPr lang="en-US" altLang="en-US" i="1" dirty="0"/>
          </a:p>
          <a:p>
            <a:pPr lvl="1" eaLnBrk="1" hangingPunct="1"/>
            <a:r>
              <a:rPr lang="en-US" altLang="en-US" dirty="0"/>
              <a:t>Falling edge: Q</a:t>
            </a:r>
            <a:r>
              <a:rPr lang="en-US" altLang="en-US" baseline="-25000" dirty="0"/>
              <a:t>M</a:t>
            </a:r>
            <a:r>
              <a:rPr lang="en-US" altLang="en-US" dirty="0"/>
              <a:t> stores D and Q</a:t>
            </a:r>
            <a:r>
              <a:rPr lang="en-US" altLang="en-US" baseline="-25000" dirty="0"/>
              <a:t>S</a:t>
            </a:r>
            <a:r>
              <a:rPr lang="en-US" altLang="en-US" dirty="0"/>
              <a:t> passes it through</a:t>
            </a:r>
          </a:p>
          <a:p>
            <a:pPr lvl="1" eaLnBrk="1" hangingPunct="1"/>
            <a:r>
              <a:rPr lang="en-US" altLang="en-US" dirty="0"/>
              <a:t>Rising edge: Q</a:t>
            </a:r>
            <a:r>
              <a:rPr lang="en-US" altLang="en-US" baseline="-25000" dirty="0"/>
              <a:t>M</a:t>
            </a:r>
            <a:r>
              <a:rPr lang="en-US" altLang="en-US" dirty="0"/>
              <a:t> propagates to Q</a:t>
            </a:r>
            <a:r>
              <a:rPr lang="en-US" altLang="en-US" baseline="-25000" dirty="0"/>
              <a:t>S</a:t>
            </a:r>
            <a:r>
              <a:rPr lang="en-US" altLang="en-US" dirty="0"/>
              <a:t>, Q unchanged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1B1AAFD8-2DCB-427E-9C99-7C0F00945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7781925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E74738-8E44-479D-93D0-4C75B2235B5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81200" y="1417638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master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67A53-AFE5-4ADD-8691-77D7C2EE873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257799" y="1417638"/>
            <a:ext cx="1524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slave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665379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CE5F986-661C-4E2B-B771-4CA8AD9F35D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Sequential Logic Review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4DD90AE-81DB-494D-A9BE-5B635853426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3505200"/>
            <a:ext cx="7772400" cy="2971800"/>
          </a:xfrm>
        </p:spPr>
        <p:txBody>
          <a:bodyPr/>
          <a:lstStyle/>
          <a:p>
            <a:pPr eaLnBrk="1" hangingPunct="1"/>
            <a:r>
              <a:rPr lang="en-US" altLang="en-US" dirty="0"/>
              <a:t>Why can this fail for a latch?</a:t>
            </a:r>
          </a:p>
          <a:p>
            <a:pPr lvl="1" eaLnBrk="1" hangingPunct="1"/>
            <a:r>
              <a:rPr lang="en-US" altLang="en-US" dirty="0"/>
              <a:t>Latch is transparent when clock is high</a:t>
            </a:r>
          </a:p>
          <a:p>
            <a:pPr lvl="1" eaLnBrk="1" hangingPunct="1"/>
            <a:r>
              <a:rPr lang="en-US" altLang="en-US" dirty="0"/>
              <a:t>Creates combinational loop</a:t>
            </a:r>
          </a:p>
          <a:p>
            <a:pPr lvl="1" eaLnBrk="1" hangingPunct="1"/>
            <a:r>
              <a:rPr lang="en-US" altLang="en-US" dirty="0"/>
              <a:t>Increments an indefinite number of times</a:t>
            </a:r>
          </a:p>
        </p:txBody>
      </p:sp>
      <p:sp>
        <p:nvSpPr>
          <p:cNvPr id="9220" name="Rectangle 18">
            <a:extLst>
              <a:ext uri="{FF2B5EF4-FFF2-40B4-BE49-F238E27FC236}">
                <a16:creationId xmlns:a16="http://schemas.microsoft.com/office/drawing/2014/main" id="{FC17AFF8-A2F4-44F0-9DA5-383CDE1C7D88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884613" y="2220913"/>
            <a:ext cx="1587" cy="12700"/>
          </a:xfrm>
          <a:prstGeom prst="rect">
            <a:avLst/>
          </a:prstGeom>
          <a:blipFill dpi="0" rotWithShape="0">
            <a:blip r:embed="rId3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9221" name="Rectangle 19">
            <a:extLst>
              <a:ext uri="{FF2B5EF4-FFF2-40B4-BE49-F238E27FC236}">
                <a16:creationId xmlns:a16="http://schemas.microsoft.com/office/drawing/2014/main" id="{3BFBD7B7-3875-45C5-811E-AB74594BAD2D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02213" y="2220913"/>
            <a:ext cx="1587" cy="12700"/>
          </a:xfrm>
          <a:prstGeom prst="rect">
            <a:avLst/>
          </a:prstGeom>
          <a:blipFill dpi="0" rotWithShape="0">
            <a:blip r:embed="rId3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9222" name="Rectangle 24">
            <a:extLst>
              <a:ext uri="{FF2B5EF4-FFF2-40B4-BE49-F238E27FC236}">
                <a16:creationId xmlns:a16="http://schemas.microsoft.com/office/drawing/2014/main" id="{C2B16208-A2A8-4BFB-B245-A2598D8040EA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410325" y="2220913"/>
            <a:ext cx="1588" cy="12700"/>
          </a:xfrm>
          <a:prstGeom prst="rect">
            <a:avLst/>
          </a:prstGeom>
          <a:blipFill dpi="0" rotWithShape="0">
            <a:blip r:embed="rId3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9223" name="Rectangle 27">
            <a:extLst>
              <a:ext uri="{FF2B5EF4-FFF2-40B4-BE49-F238E27FC236}">
                <a16:creationId xmlns:a16="http://schemas.microsoft.com/office/drawing/2014/main" id="{0C8DFA12-06B4-4FB3-8739-56222C9E000D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082800" y="3119438"/>
            <a:ext cx="5038725" cy="12700"/>
          </a:xfrm>
          <a:prstGeom prst="rect">
            <a:avLst/>
          </a:prstGeom>
          <a:blipFill dpi="0" rotWithShape="0">
            <a:blip r:embed="rId3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9224" name="Rectangle 29">
            <a:extLst>
              <a:ext uri="{FF2B5EF4-FFF2-40B4-BE49-F238E27FC236}">
                <a16:creationId xmlns:a16="http://schemas.microsoft.com/office/drawing/2014/main" id="{D798BC84-61CE-449E-B722-387FE125EB75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667000" y="2220913"/>
            <a:ext cx="1588" cy="12700"/>
          </a:xfrm>
          <a:prstGeom prst="rect">
            <a:avLst/>
          </a:prstGeom>
          <a:blipFill dpi="0" rotWithShape="0">
            <a:blip r:embed="rId3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>
              <a:latin typeface="Times New Roman" panose="02020603050405020304" pitchFamily="18" charset="0"/>
            </a:endParaRPr>
          </a:p>
        </p:txBody>
      </p:sp>
      <p:grpSp>
        <p:nvGrpSpPr>
          <p:cNvPr id="9225" name="Group 34">
            <a:extLst>
              <a:ext uri="{FF2B5EF4-FFF2-40B4-BE49-F238E27FC236}">
                <a16:creationId xmlns:a16="http://schemas.microsoft.com/office/drawing/2014/main" id="{DF32FB5E-2794-4F6D-8B28-96C479A0DE3E}"/>
              </a:ext>
            </a:extLst>
          </p:cNvPr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1981200" y="1676400"/>
            <a:ext cx="5254625" cy="1557338"/>
            <a:chOff x="1872" y="1056"/>
            <a:chExt cx="3310" cy="981"/>
          </a:xfrm>
        </p:grpSpPr>
        <p:sp>
          <p:nvSpPr>
            <p:cNvPr id="9226" name="Rectangle 31">
              <a:extLst>
                <a:ext uri="{FF2B5EF4-FFF2-40B4-BE49-F238E27FC236}">
                  <a16:creationId xmlns:a16="http://schemas.microsoft.com/office/drawing/2014/main" id="{F7E20A78-2F10-4069-948C-0638CDC439D5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872" y="1056"/>
              <a:ext cx="3310" cy="98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9227" name="Rectangle 5">
              <a:extLst>
                <a:ext uri="{FF2B5EF4-FFF2-40B4-BE49-F238E27FC236}">
                  <a16:creationId xmlns:a16="http://schemas.microsoft.com/office/drawing/2014/main" id="{38330E93-33CA-4092-B2D7-678AFE1F0400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392" y="1056"/>
              <a:ext cx="679" cy="678"/>
            </a:xfrm>
            <a:prstGeom prst="rect">
              <a:avLst/>
            </a:prstGeom>
            <a:blipFill dpi="0" rotWithShape="0">
              <a:blip r:embed="rId36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9228" name="Rectangle 6">
              <a:extLst>
                <a:ext uri="{FF2B5EF4-FFF2-40B4-BE49-F238E27FC236}">
                  <a16:creationId xmlns:a16="http://schemas.microsoft.com/office/drawing/2014/main" id="{2C59297F-42C0-49AE-938D-D57254CAB897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392" y="1056"/>
              <a:ext cx="687" cy="8"/>
            </a:xfrm>
            <a:prstGeom prst="rect">
              <a:avLst/>
            </a:pr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9229" name="Rectangle 7">
              <a:extLst>
                <a:ext uri="{FF2B5EF4-FFF2-40B4-BE49-F238E27FC236}">
                  <a16:creationId xmlns:a16="http://schemas.microsoft.com/office/drawing/2014/main" id="{9F9F4450-3351-427D-B519-30E7B048E75F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071" y="1056"/>
              <a:ext cx="8" cy="686"/>
            </a:xfrm>
            <a:prstGeom prst="rect">
              <a:avLst/>
            </a:pr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9230" name="Rectangle 8">
              <a:extLst>
                <a:ext uri="{FF2B5EF4-FFF2-40B4-BE49-F238E27FC236}">
                  <a16:creationId xmlns:a16="http://schemas.microsoft.com/office/drawing/2014/main" id="{7F4E69B3-F2B7-460D-AE42-7AE576C6DB7E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392" y="1734"/>
              <a:ext cx="679" cy="8"/>
            </a:xfrm>
            <a:prstGeom prst="rect">
              <a:avLst/>
            </a:pr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9231" name="Rectangle 9">
              <a:extLst>
                <a:ext uri="{FF2B5EF4-FFF2-40B4-BE49-F238E27FC236}">
                  <a16:creationId xmlns:a16="http://schemas.microsoft.com/office/drawing/2014/main" id="{622BA808-3DF0-414A-BBFA-A4608AD5E7FD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392" y="1056"/>
              <a:ext cx="8" cy="678"/>
            </a:xfrm>
            <a:prstGeom prst="rect">
              <a:avLst/>
            </a:pr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9232" name="Rectangle 10">
              <a:extLst>
                <a:ext uri="{FF2B5EF4-FFF2-40B4-BE49-F238E27FC236}">
                  <a16:creationId xmlns:a16="http://schemas.microsoft.com/office/drawing/2014/main" id="{7D788C5A-49DC-47DE-8C14-27A8293EF830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36" y="1255"/>
              <a:ext cx="42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D FF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33" name="Freeform 11">
              <a:extLst>
                <a:ext uri="{FF2B5EF4-FFF2-40B4-BE49-F238E27FC236}">
                  <a16:creationId xmlns:a16="http://schemas.microsoft.com/office/drawing/2014/main" id="{2D7EFE8D-C9FD-4E20-A7A0-38EF9A85BD00}"/>
                </a:ext>
              </a:extLst>
            </p:cNvPr>
            <p:cNvSpPr>
              <a:spLocks/>
            </p:cNvSpPr>
            <p:nvPr>
              <p:custDataLst>
                <p:tags r:id="rId17"/>
              </p:custDataLst>
            </p:nvPr>
          </p:nvSpPr>
          <p:spPr bwMode="auto">
            <a:xfrm>
              <a:off x="3863" y="1056"/>
              <a:ext cx="799" cy="678"/>
            </a:xfrm>
            <a:custGeom>
              <a:avLst/>
              <a:gdLst>
                <a:gd name="T0" fmla="*/ 799 w 799"/>
                <a:gd name="T1" fmla="*/ 343 h 678"/>
                <a:gd name="T2" fmla="*/ 791 w 799"/>
                <a:gd name="T3" fmla="*/ 271 h 678"/>
                <a:gd name="T4" fmla="*/ 767 w 799"/>
                <a:gd name="T5" fmla="*/ 207 h 678"/>
                <a:gd name="T6" fmla="*/ 727 w 799"/>
                <a:gd name="T7" fmla="*/ 152 h 678"/>
                <a:gd name="T8" fmla="*/ 679 w 799"/>
                <a:gd name="T9" fmla="*/ 104 h 678"/>
                <a:gd name="T10" fmla="*/ 551 w 799"/>
                <a:gd name="T11" fmla="*/ 32 h 678"/>
                <a:gd name="T12" fmla="*/ 400 w 799"/>
                <a:gd name="T13" fmla="*/ 0 h 678"/>
                <a:gd name="T14" fmla="*/ 248 w 799"/>
                <a:gd name="T15" fmla="*/ 32 h 678"/>
                <a:gd name="T16" fmla="*/ 120 w 799"/>
                <a:gd name="T17" fmla="*/ 104 h 678"/>
                <a:gd name="T18" fmla="*/ 72 w 799"/>
                <a:gd name="T19" fmla="*/ 152 h 678"/>
                <a:gd name="T20" fmla="*/ 32 w 799"/>
                <a:gd name="T21" fmla="*/ 207 h 678"/>
                <a:gd name="T22" fmla="*/ 8 w 799"/>
                <a:gd name="T23" fmla="*/ 271 h 678"/>
                <a:gd name="T24" fmla="*/ 0 w 799"/>
                <a:gd name="T25" fmla="*/ 343 h 678"/>
                <a:gd name="T26" fmla="*/ 8 w 799"/>
                <a:gd name="T27" fmla="*/ 407 h 678"/>
                <a:gd name="T28" fmla="*/ 32 w 799"/>
                <a:gd name="T29" fmla="*/ 471 h 678"/>
                <a:gd name="T30" fmla="*/ 72 w 799"/>
                <a:gd name="T31" fmla="*/ 526 h 678"/>
                <a:gd name="T32" fmla="*/ 120 w 799"/>
                <a:gd name="T33" fmla="*/ 582 h 678"/>
                <a:gd name="T34" fmla="*/ 248 w 799"/>
                <a:gd name="T35" fmla="*/ 654 h 678"/>
                <a:gd name="T36" fmla="*/ 400 w 799"/>
                <a:gd name="T37" fmla="*/ 678 h 678"/>
                <a:gd name="T38" fmla="*/ 551 w 799"/>
                <a:gd name="T39" fmla="*/ 654 h 678"/>
                <a:gd name="T40" fmla="*/ 679 w 799"/>
                <a:gd name="T41" fmla="*/ 582 h 678"/>
                <a:gd name="T42" fmla="*/ 727 w 799"/>
                <a:gd name="T43" fmla="*/ 526 h 678"/>
                <a:gd name="T44" fmla="*/ 767 w 799"/>
                <a:gd name="T45" fmla="*/ 471 h 678"/>
                <a:gd name="T46" fmla="*/ 791 w 799"/>
                <a:gd name="T47" fmla="*/ 407 h 678"/>
                <a:gd name="T48" fmla="*/ 799 w 799"/>
                <a:gd name="T49" fmla="*/ 343 h 67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99"/>
                <a:gd name="T76" fmla="*/ 0 h 678"/>
                <a:gd name="T77" fmla="*/ 799 w 799"/>
                <a:gd name="T78" fmla="*/ 678 h 67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99" h="678">
                  <a:moveTo>
                    <a:pt x="799" y="343"/>
                  </a:moveTo>
                  <a:lnTo>
                    <a:pt x="791" y="271"/>
                  </a:lnTo>
                  <a:lnTo>
                    <a:pt x="767" y="207"/>
                  </a:lnTo>
                  <a:lnTo>
                    <a:pt x="727" y="152"/>
                  </a:lnTo>
                  <a:lnTo>
                    <a:pt x="679" y="104"/>
                  </a:lnTo>
                  <a:lnTo>
                    <a:pt x="551" y="32"/>
                  </a:lnTo>
                  <a:lnTo>
                    <a:pt x="400" y="0"/>
                  </a:lnTo>
                  <a:lnTo>
                    <a:pt x="248" y="32"/>
                  </a:lnTo>
                  <a:lnTo>
                    <a:pt x="120" y="104"/>
                  </a:lnTo>
                  <a:lnTo>
                    <a:pt x="72" y="152"/>
                  </a:lnTo>
                  <a:lnTo>
                    <a:pt x="32" y="207"/>
                  </a:lnTo>
                  <a:lnTo>
                    <a:pt x="8" y="271"/>
                  </a:lnTo>
                  <a:lnTo>
                    <a:pt x="0" y="343"/>
                  </a:lnTo>
                  <a:lnTo>
                    <a:pt x="8" y="407"/>
                  </a:lnTo>
                  <a:lnTo>
                    <a:pt x="32" y="471"/>
                  </a:lnTo>
                  <a:lnTo>
                    <a:pt x="72" y="526"/>
                  </a:lnTo>
                  <a:lnTo>
                    <a:pt x="120" y="582"/>
                  </a:lnTo>
                  <a:lnTo>
                    <a:pt x="248" y="654"/>
                  </a:lnTo>
                  <a:lnTo>
                    <a:pt x="400" y="678"/>
                  </a:lnTo>
                  <a:lnTo>
                    <a:pt x="551" y="654"/>
                  </a:lnTo>
                  <a:lnTo>
                    <a:pt x="679" y="582"/>
                  </a:lnTo>
                  <a:lnTo>
                    <a:pt x="727" y="526"/>
                  </a:lnTo>
                  <a:lnTo>
                    <a:pt x="767" y="471"/>
                  </a:lnTo>
                  <a:lnTo>
                    <a:pt x="791" y="407"/>
                  </a:lnTo>
                  <a:lnTo>
                    <a:pt x="799" y="343"/>
                  </a:lnTo>
                  <a:close/>
                </a:path>
              </a:pathLst>
            </a:custGeom>
            <a:blipFill dpi="0" rotWithShape="0">
              <a:blip r:embed="rId36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4" name="Freeform 12">
              <a:extLst>
                <a:ext uri="{FF2B5EF4-FFF2-40B4-BE49-F238E27FC236}">
                  <a16:creationId xmlns:a16="http://schemas.microsoft.com/office/drawing/2014/main" id="{900C8935-3538-49B1-8061-CCD131967210}"/>
                </a:ext>
              </a:extLst>
            </p:cNvPr>
            <p:cNvSpPr>
              <a:spLocks/>
            </p:cNvSpPr>
            <p:nvPr>
              <p:custDataLst>
                <p:tags r:id="rId18"/>
              </p:custDataLst>
            </p:nvPr>
          </p:nvSpPr>
          <p:spPr bwMode="auto">
            <a:xfrm>
              <a:off x="3863" y="1056"/>
              <a:ext cx="807" cy="686"/>
            </a:xfrm>
            <a:custGeom>
              <a:avLst/>
              <a:gdLst>
                <a:gd name="T0" fmla="*/ 791 w 807"/>
                <a:gd name="T1" fmla="*/ 271 h 686"/>
                <a:gd name="T2" fmla="*/ 767 w 807"/>
                <a:gd name="T3" fmla="*/ 215 h 686"/>
                <a:gd name="T4" fmla="*/ 727 w 807"/>
                <a:gd name="T5" fmla="*/ 160 h 686"/>
                <a:gd name="T6" fmla="*/ 679 w 807"/>
                <a:gd name="T7" fmla="*/ 112 h 686"/>
                <a:gd name="T8" fmla="*/ 551 w 807"/>
                <a:gd name="T9" fmla="*/ 40 h 686"/>
                <a:gd name="T10" fmla="*/ 400 w 807"/>
                <a:gd name="T11" fmla="*/ 8 h 686"/>
                <a:gd name="T12" fmla="*/ 248 w 807"/>
                <a:gd name="T13" fmla="*/ 40 h 686"/>
                <a:gd name="T14" fmla="*/ 128 w 807"/>
                <a:gd name="T15" fmla="*/ 112 h 686"/>
                <a:gd name="T16" fmla="*/ 80 w 807"/>
                <a:gd name="T17" fmla="*/ 160 h 686"/>
                <a:gd name="T18" fmla="*/ 40 w 807"/>
                <a:gd name="T19" fmla="*/ 207 h 686"/>
                <a:gd name="T20" fmla="*/ 16 w 807"/>
                <a:gd name="T21" fmla="*/ 271 h 686"/>
                <a:gd name="T22" fmla="*/ 8 w 807"/>
                <a:gd name="T23" fmla="*/ 343 h 686"/>
                <a:gd name="T24" fmla="*/ 16 w 807"/>
                <a:gd name="T25" fmla="*/ 407 h 686"/>
                <a:gd name="T26" fmla="*/ 40 w 807"/>
                <a:gd name="T27" fmla="*/ 471 h 686"/>
                <a:gd name="T28" fmla="*/ 80 w 807"/>
                <a:gd name="T29" fmla="*/ 526 h 686"/>
                <a:gd name="T30" fmla="*/ 120 w 807"/>
                <a:gd name="T31" fmla="*/ 582 h 686"/>
                <a:gd name="T32" fmla="*/ 248 w 807"/>
                <a:gd name="T33" fmla="*/ 654 h 686"/>
                <a:gd name="T34" fmla="*/ 400 w 807"/>
                <a:gd name="T35" fmla="*/ 678 h 686"/>
                <a:gd name="T36" fmla="*/ 551 w 807"/>
                <a:gd name="T37" fmla="*/ 654 h 686"/>
                <a:gd name="T38" fmla="*/ 679 w 807"/>
                <a:gd name="T39" fmla="*/ 582 h 686"/>
                <a:gd name="T40" fmla="*/ 727 w 807"/>
                <a:gd name="T41" fmla="*/ 526 h 686"/>
                <a:gd name="T42" fmla="*/ 767 w 807"/>
                <a:gd name="T43" fmla="*/ 471 h 686"/>
                <a:gd name="T44" fmla="*/ 791 w 807"/>
                <a:gd name="T45" fmla="*/ 407 h 686"/>
                <a:gd name="T46" fmla="*/ 799 w 807"/>
                <a:gd name="T47" fmla="*/ 343 h 686"/>
                <a:gd name="T48" fmla="*/ 799 w 807"/>
                <a:gd name="T49" fmla="*/ 407 h 686"/>
                <a:gd name="T50" fmla="*/ 775 w 807"/>
                <a:gd name="T51" fmla="*/ 471 h 686"/>
                <a:gd name="T52" fmla="*/ 735 w 807"/>
                <a:gd name="T53" fmla="*/ 534 h 686"/>
                <a:gd name="T54" fmla="*/ 687 w 807"/>
                <a:gd name="T55" fmla="*/ 590 h 686"/>
                <a:gd name="T56" fmla="*/ 551 w 807"/>
                <a:gd name="T57" fmla="*/ 662 h 686"/>
                <a:gd name="T58" fmla="*/ 400 w 807"/>
                <a:gd name="T59" fmla="*/ 686 h 686"/>
                <a:gd name="T60" fmla="*/ 248 w 807"/>
                <a:gd name="T61" fmla="*/ 662 h 686"/>
                <a:gd name="T62" fmla="*/ 120 w 807"/>
                <a:gd name="T63" fmla="*/ 590 h 686"/>
                <a:gd name="T64" fmla="*/ 72 w 807"/>
                <a:gd name="T65" fmla="*/ 534 h 686"/>
                <a:gd name="T66" fmla="*/ 32 w 807"/>
                <a:gd name="T67" fmla="*/ 479 h 686"/>
                <a:gd name="T68" fmla="*/ 8 w 807"/>
                <a:gd name="T69" fmla="*/ 407 h 686"/>
                <a:gd name="T70" fmla="*/ 0 w 807"/>
                <a:gd name="T71" fmla="*/ 343 h 686"/>
                <a:gd name="T72" fmla="*/ 8 w 807"/>
                <a:gd name="T73" fmla="*/ 271 h 686"/>
                <a:gd name="T74" fmla="*/ 32 w 807"/>
                <a:gd name="T75" fmla="*/ 207 h 686"/>
                <a:gd name="T76" fmla="*/ 72 w 807"/>
                <a:gd name="T77" fmla="*/ 152 h 686"/>
                <a:gd name="T78" fmla="*/ 120 w 807"/>
                <a:gd name="T79" fmla="*/ 104 h 686"/>
                <a:gd name="T80" fmla="*/ 248 w 807"/>
                <a:gd name="T81" fmla="*/ 32 h 686"/>
                <a:gd name="T82" fmla="*/ 400 w 807"/>
                <a:gd name="T83" fmla="*/ 0 h 686"/>
                <a:gd name="T84" fmla="*/ 551 w 807"/>
                <a:gd name="T85" fmla="*/ 32 h 686"/>
                <a:gd name="T86" fmla="*/ 679 w 807"/>
                <a:gd name="T87" fmla="*/ 104 h 686"/>
                <a:gd name="T88" fmla="*/ 735 w 807"/>
                <a:gd name="T89" fmla="*/ 152 h 686"/>
                <a:gd name="T90" fmla="*/ 775 w 807"/>
                <a:gd name="T91" fmla="*/ 207 h 686"/>
                <a:gd name="T92" fmla="*/ 799 w 807"/>
                <a:gd name="T93" fmla="*/ 271 h 686"/>
                <a:gd name="T94" fmla="*/ 807 w 807"/>
                <a:gd name="T95" fmla="*/ 343 h 68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807"/>
                <a:gd name="T145" fmla="*/ 0 h 686"/>
                <a:gd name="T146" fmla="*/ 807 w 807"/>
                <a:gd name="T147" fmla="*/ 686 h 68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807" h="686">
                  <a:moveTo>
                    <a:pt x="799" y="343"/>
                  </a:moveTo>
                  <a:lnTo>
                    <a:pt x="791" y="271"/>
                  </a:lnTo>
                  <a:lnTo>
                    <a:pt x="767" y="207"/>
                  </a:lnTo>
                  <a:lnTo>
                    <a:pt x="767" y="215"/>
                  </a:lnTo>
                  <a:lnTo>
                    <a:pt x="727" y="160"/>
                  </a:lnTo>
                  <a:lnTo>
                    <a:pt x="679" y="112"/>
                  </a:lnTo>
                  <a:lnTo>
                    <a:pt x="551" y="40"/>
                  </a:lnTo>
                  <a:lnTo>
                    <a:pt x="400" y="8"/>
                  </a:lnTo>
                  <a:lnTo>
                    <a:pt x="248" y="40"/>
                  </a:lnTo>
                  <a:lnTo>
                    <a:pt x="120" y="112"/>
                  </a:lnTo>
                  <a:lnTo>
                    <a:pt x="128" y="112"/>
                  </a:lnTo>
                  <a:lnTo>
                    <a:pt x="80" y="160"/>
                  </a:lnTo>
                  <a:lnTo>
                    <a:pt x="40" y="215"/>
                  </a:lnTo>
                  <a:lnTo>
                    <a:pt x="40" y="207"/>
                  </a:lnTo>
                  <a:lnTo>
                    <a:pt x="16" y="271"/>
                  </a:lnTo>
                  <a:lnTo>
                    <a:pt x="8" y="343"/>
                  </a:lnTo>
                  <a:lnTo>
                    <a:pt x="16" y="407"/>
                  </a:lnTo>
                  <a:lnTo>
                    <a:pt x="40" y="471"/>
                  </a:lnTo>
                  <a:lnTo>
                    <a:pt x="80" y="526"/>
                  </a:lnTo>
                  <a:lnTo>
                    <a:pt x="128" y="582"/>
                  </a:lnTo>
                  <a:lnTo>
                    <a:pt x="120" y="582"/>
                  </a:lnTo>
                  <a:lnTo>
                    <a:pt x="248" y="654"/>
                  </a:lnTo>
                  <a:lnTo>
                    <a:pt x="400" y="678"/>
                  </a:lnTo>
                  <a:lnTo>
                    <a:pt x="551" y="654"/>
                  </a:lnTo>
                  <a:lnTo>
                    <a:pt x="679" y="582"/>
                  </a:lnTo>
                  <a:lnTo>
                    <a:pt x="727" y="526"/>
                  </a:lnTo>
                  <a:lnTo>
                    <a:pt x="767" y="471"/>
                  </a:lnTo>
                  <a:lnTo>
                    <a:pt x="791" y="407"/>
                  </a:lnTo>
                  <a:lnTo>
                    <a:pt x="799" y="343"/>
                  </a:lnTo>
                  <a:lnTo>
                    <a:pt x="807" y="343"/>
                  </a:lnTo>
                  <a:lnTo>
                    <a:pt x="799" y="407"/>
                  </a:lnTo>
                  <a:lnTo>
                    <a:pt x="775" y="471"/>
                  </a:lnTo>
                  <a:lnTo>
                    <a:pt x="775" y="479"/>
                  </a:lnTo>
                  <a:lnTo>
                    <a:pt x="735" y="534"/>
                  </a:lnTo>
                  <a:lnTo>
                    <a:pt x="687" y="590"/>
                  </a:lnTo>
                  <a:lnTo>
                    <a:pt x="679" y="590"/>
                  </a:lnTo>
                  <a:lnTo>
                    <a:pt x="551" y="662"/>
                  </a:lnTo>
                  <a:lnTo>
                    <a:pt x="400" y="686"/>
                  </a:lnTo>
                  <a:lnTo>
                    <a:pt x="248" y="662"/>
                  </a:lnTo>
                  <a:lnTo>
                    <a:pt x="120" y="590"/>
                  </a:lnTo>
                  <a:lnTo>
                    <a:pt x="72" y="534"/>
                  </a:lnTo>
                  <a:lnTo>
                    <a:pt x="32" y="479"/>
                  </a:lnTo>
                  <a:lnTo>
                    <a:pt x="32" y="471"/>
                  </a:lnTo>
                  <a:lnTo>
                    <a:pt x="8" y="407"/>
                  </a:lnTo>
                  <a:lnTo>
                    <a:pt x="0" y="343"/>
                  </a:lnTo>
                  <a:lnTo>
                    <a:pt x="8" y="271"/>
                  </a:lnTo>
                  <a:lnTo>
                    <a:pt x="32" y="207"/>
                  </a:lnTo>
                  <a:lnTo>
                    <a:pt x="72" y="152"/>
                  </a:lnTo>
                  <a:lnTo>
                    <a:pt x="120" y="104"/>
                  </a:lnTo>
                  <a:lnTo>
                    <a:pt x="248" y="32"/>
                  </a:lnTo>
                  <a:lnTo>
                    <a:pt x="400" y="0"/>
                  </a:lnTo>
                  <a:lnTo>
                    <a:pt x="551" y="32"/>
                  </a:lnTo>
                  <a:lnTo>
                    <a:pt x="679" y="104"/>
                  </a:lnTo>
                  <a:lnTo>
                    <a:pt x="687" y="104"/>
                  </a:lnTo>
                  <a:lnTo>
                    <a:pt x="735" y="152"/>
                  </a:lnTo>
                  <a:lnTo>
                    <a:pt x="775" y="207"/>
                  </a:lnTo>
                  <a:lnTo>
                    <a:pt x="799" y="271"/>
                  </a:lnTo>
                  <a:lnTo>
                    <a:pt x="807" y="343"/>
                  </a:lnTo>
                  <a:lnTo>
                    <a:pt x="799" y="343"/>
                  </a:lnTo>
                  <a:close/>
                </a:path>
              </a:pathLst>
            </a:cu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5" name="Freeform 13">
              <a:extLst>
                <a:ext uri="{FF2B5EF4-FFF2-40B4-BE49-F238E27FC236}">
                  <a16:creationId xmlns:a16="http://schemas.microsoft.com/office/drawing/2014/main" id="{0630CC9D-AA7D-4DBB-9871-F5649CF38E70}"/>
                </a:ext>
              </a:extLst>
            </p:cNvPr>
            <p:cNvSpPr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4662" y="1399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6" name="Rectangle 14">
              <a:extLst>
                <a:ext uri="{FF2B5EF4-FFF2-40B4-BE49-F238E27FC236}">
                  <a16:creationId xmlns:a16="http://schemas.microsoft.com/office/drawing/2014/main" id="{384EF7F0-BFE4-43C8-8620-AE91FB12A069}"/>
                </a:ext>
              </a:extLst>
            </p:cNvPr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087" y="1303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 +1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37" name="Freeform 15">
              <a:extLst>
                <a:ext uri="{FF2B5EF4-FFF2-40B4-BE49-F238E27FC236}">
                  <a16:creationId xmlns:a16="http://schemas.microsoft.com/office/drawing/2014/main" id="{01FB75FB-4521-48F9-B5BD-668F5E7813BE}"/>
                </a:ext>
              </a:extLst>
            </p:cNvPr>
            <p:cNvSpPr>
              <a:spLocks/>
            </p:cNvSpPr>
            <p:nvPr>
              <p:custDataLst>
                <p:tags r:id="rId21"/>
              </p:custDataLst>
            </p:nvPr>
          </p:nvSpPr>
          <p:spPr bwMode="auto">
            <a:xfrm>
              <a:off x="3775" y="1375"/>
              <a:ext cx="80" cy="48"/>
            </a:xfrm>
            <a:custGeom>
              <a:avLst/>
              <a:gdLst>
                <a:gd name="T0" fmla="*/ 0 w 80"/>
                <a:gd name="T1" fmla="*/ 24 h 48"/>
                <a:gd name="T2" fmla="*/ 0 w 80"/>
                <a:gd name="T3" fmla="*/ 0 h 48"/>
                <a:gd name="T4" fmla="*/ 0 w 80"/>
                <a:gd name="T5" fmla="*/ 0 h 48"/>
                <a:gd name="T6" fmla="*/ 0 w 80"/>
                <a:gd name="T7" fmla="*/ 0 h 48"/>
                <a:gd name="T8" fmla="*/ 80 w 80"/>
                <a:gd name="T9" fmla="*/ 24 h 48"/>
                <a:gd name="T10" fmla="*/ 80 w 80"/>
                <a:gd name="T11" fmla="*/ 32 h 48"/>
                <a:gd name="T12" fmla="*/ 80 w 80"/>
                <a:gd name="T13" fmla="*/ 32 h 48"/>
                <a:gd name="T14" fmla="*/ 0 w 80"/>
                <a:gd name="T15" fmla="*/ 48 h 48"/>
                <a:gd name="T16" fmla="*/ 0 w 80"/>
                <a:gd name="T17" fmla="*/ 48 h 48"/>
                <a:gd name="T18" fmla="*/ 0 w 80"/>
                <a:gd name="T19" fmla="*/ 40 h 48"/>
                <a:gd name="T20" fmla="*/ 0 w 80"/>
                <a:gd name="T21" fmla="*/ 40 h 48"/>
                <a:gd name="T22" fmla="*/ 80 w 80"/>
                <a:gd name="T23" fmla="*/ 24 h 48"/>
                <a:gd name="T24" fmla="*/ 80 w 80"/>
                <a:gd name="T25" fmla="*/ 24 h 48"/>
                <a:gd name="T26" fmla="*/ 80 w 80"/>
                <a:gd name="T27" fmla="*/ 32 h 48"/>
                <a:gd name="T28" fmla="*/ 0 w 80"/>
                <a:gd name="T29" fmla="*/ 8 h 48"/>
                <a:gd name="T30" fmla="*/ 0 w 80"/>
                <a:gd name="T31" fmla="*/ 0 h 48"/>
                <a:gd name="T32" fmla="*/ 8 w 80"/>
                <a:gd name="T33" fmla="*/ 0 h 48"/>
                <a:gd name="T34" fmla="*/ 8 w 80"/>
                <a:gd name="T35" fmla="*/ 24 h 48"/>
                <a:gd name="T36" fmla="*/ 0 w 80"/>
                <a:gd name="T37" fmla="*/ 24 h 4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0"/>
                <a:gd name="T58" fmla="*/ 0 h 48"/>
                <a:gd name="T59" fmla="*/ 80 w 80"/>
                <a:gd name="T60" fmla="*/ 48 h 4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0" h="48">
                  <a:moveTo>
                    <a:pt x="0" y="24"/>
                  </a:moveTo>
                  <a:lnTo>
                    <a:pt x="0" y="0"/>
                  </a:lnTo>
                  <a:lnTo>
                    <a:pt x="80" y="24"/>
                  </a:lnTo>
                  <a:lnTo>
                    <a:pt x="80" y="32"/>
                  </a:lnTo>
                  <a:lnTo>
                    <a:pt x="0" y="48"/>
                  </a:lnTo>
                  <a:lnTo>
                    <a:pt x="0" y="40"/>
                  </a:lnTo>
                  <a:lnTo>
                    <a:pt x="80" y="24"/>
                  </a:lnTo>
                  <a:lnTo>
                    <a:pt x="80" y="32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24"/>
                  </a:lnTo>
                  <a:lnTo>
                    <a:pt x="0" y="24"/>
                  </a:lnTo>
                  <a:close/>
                </a:path>
              </a:pathLst>
            </a:cu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8" name="Freeform 16">
              <a:extLst>
                <a:ext uri="{FF2B5EF4-FFF2-40B4-BE49-F238E27FC236}">
                  <a16:creationId xmlns:a16="http://schemas.microsoft.com/office/drawing/2014/main" id="{858B110E-A844-4171-94B3-C4720762124E}"/>
                </a:ext>
              </a:extLst>
            </p:cNvPr>
            <p:cNvSpPr>
              <a:spLocks/>
            </p:cNvSpPr>
            <p:nvPr>
              <p:custDataLst>
                <p:tags r:id="rId22"/>
              </p:custDataLst>
            </p:nvPr>
          </p:nvSpPr>
          <p:spPr bwMode="auto">
            <a:xfrm>
              <a:off x="3775" y="1399"/>
              <a:ext cx="8" cy="16"/>
            </a:xfrm>
            <a:custGeom>
              <a:avLst/>
              <a:gdLst>
                <a:gd name="T0" fmla="*/ 0 w 8"/>
                <a:gd name="T1" fmla="*/ 16 h 16"/>
                <a:gd name="T2" fmla="*/ 0 w 8"/>
                <a:gd name="T3" fmla="*/ 0 h 16"/>
                <a:gd name="T4" fmla="*/ 8 w 8"/>
                <a:gd name="T5" fmla="*/ 0 h 16"/>
                <a:gd name="T6" fmla="*/ 8 w 8"/>
                <a:gd name="T7" fmla="*/ 0 h 16"/>
                <a:gd name="T8" fmla="*/ 8 w 8"/>
                <a:gd name="T9" fmla="*/ 0 h 16"/>
                <a:gd name="T10" fmla="*/ 8 w 8"/>
                <a:gd name="T11" fmla="*/ 16 h 16"/>
                <a:gd name="T12" fmla="*/ 0 w 8"/>
                <a:gd name="T13" fmla="*/ 16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6"/>
                <a:gd name="T23" fmla="*/ 8 w 8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6">
                  <a:moveTo>
                    <a:pt x="0" y="16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8" y="16"/>
                  </a:lnTo>
                  <a:lnTo>
                    <a:pt x="0" y="16"/>
                  </a:lnTo>
                  <a:close/>
                </a:path>
              </a:pathLst>
            </a:cu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9" name="Freeform 17">
              <a:extLst>
                <a:ext uri="{FF2B5EF4-FFF2-40B4-BE49-F238E27FC236}">
                  <a16:creationId xmlns:a16="http://schemas.microsoft.com/office/drawing/2014/main" id="{19DD052D-057F-4BF7-BE55-1C06AB103E48}"/>
                </a:ext>
              </a:extLst>
            </p:cNvPr>
            <p:cNvSpPr>
              <a:spLocks/>
            </p:cNvSpPr>
            <p:nvPr>
              <p:custDataLst>
                <p:tags r:id="rId23"/>
              </p:custDataLst>
            </p:nvPr>
          </p:nvSpPr>
          <p:spPr bwMode="auto">
            <a:xfrm>
              <a:off x="3775" y="1375"/>
              <a:ext cx="80" cy="40"/>
            </a:xfrm>
            <a:custGeom>
              <a:avLst/>
              <a:gdLst>
                <a:gd name="T0" fmla="*/ 0 w 80"/>
                <a:gd name="T1" fmla="*/ 24 h 40"/>
                <a:gd name="T2" fmla="*/ 0 w 80"/>
                <a:gd name="T3" fmla="*/ 0 h 40"/>
                <a:gd name="T4" fmla="*/ 80 w 80"/>
                <a:gd name="T5" fmla="*/ 24 h 40"/>
                <a:gd name="T6" fmla="*/ 0 w 80"/>
                <a:gd name="T7" fmla="*/ 40 h 40"/>
                <a:gd name="T8" fmla="*/ 0 w 80"/>
                <a:gd name="T9" fmla="*/ 2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40"/>
                <a:gd name="T17" fmla="*/ 80 w 80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40">
                  <a:moveTo>
                    <a:pt x="0" y="24"/>
                  </a:moveTo>
                  <a:lnTo>
                    <a:pt x="0" y="0"/>
                  </a:lnTo>
                  <a:lnTo>
                    <a:pt x="80" y="24"/>
                  </a:lnTo>
                  <a:lnTo>
                    <a:pt x="0" y="40"/>
                  </a:lnTo>
                  <a:lnTo>
                    <a:pt x="0" y="24"/>
                  </a:lnTo>
                  <a:close/>
                </a:path>
              </a:pathLst>
            </a:cu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0" name="Rectangle 20">
              <a:extLst>
                <a:ext uri="{FF2B5EF4-FFF2-40B4-BE49-F238E27FC236}">
                  <a16:creationId xmlns:a16="http://schemas.microsoft.com/office/drawing/2014/main" id="{E586C2FE-A0DA-42FE-B8AD-04B0F71068C0}"/>
                </a:ext>
              </a:extLst>
            </p:cNvPr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071" y="1399"/>
              <a:ext cx="704" cy="8"/>
            </a:xfrm>
            <a:prstGeom prst="rect">
              <a:avLst/>
            </a:pr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9241" name="Freeform 21">
              <a:extLst>
                <a:ext uri="{FF2B5EF4-FFF2-40B4-BE49-F238E27FC236}">
                  <a16:creationId xmlns:a16="http://schemas.microsoft.com/office/drawing/2014/main" id="{F798D8BD-849B-49E0-81E3-3A935FCDCBD4}"/>
                </a:ext>
              </a:extLst>
            </p:cNvPr>
            <p:cNvSpPr>
              <a:spLocks/>
            </p:cNvSpPr>
            <p:nvPr>
              <p:custDataLst>
                <p:tags r:id="rId25"/>
              </p:custDataLst>
            </p:nvPr>
          </p:nvSpPr>
          <p:spPr bwMode="auto">
            <a:xfrm>
              <a:off x="2304" y="1375"/>
              <a:ext cx="72" cy="48"/>
            </a:xfrm>
            <a:custGeom>
              <a:avLst/>
              <a:gdLst>
                <a:gd name="T0" fmla="*/ 0 w 72"/>
                <a:gd name="T1" fmla="*/ 24 h 48"/>
                <a:gd name="T2" fmla="*/ 0 w 72"/>
                <a:gd name="T3" fmla="*/ 0 h 48"/>
                <a:gd name="T4" fmla="*/ 0 w 72"/>
                <a:gd name="T5" fmla="*/ 0 h 48"/>
                <a:gd name="T6" fmla="*/ 0 w 72"/>
                <a:gd name="T7" fmla="*/ 0 h 48"/>
                <a:gd name="T8" fmla="*/ 72 w 72"/>
                <a:gd name="T9" fmla="*/ 24 h 48"/>
                <a:gd name="T10" fmla="*/ 72 w 72"/>
                <a:gd name="T11" fmla="*/ 32 h 48"/>
                <a:gd name="T12" fmla="*/ 72 w 72"/>
                <a:gd name="T13" fmla="*/ 32 h 48"/>
                <a:gd name="T14" fmla="*/ 0 w 72"/>
                <a:gd name="T15" fmla="*/ 48 h 48"/>
                <a:gd name="T16" fmla="*/ 0 w 72"/>
                <a:gd name="T17" fmla="*/ 48 h 48"/>
                <a:gd name="T18" fmla="*/ 0 w 72"/>
                <a:gd name="T19" fmla="*/ 40 h 48"/>
                <a:gd name="T20" fmla="*/ 0 w 72"/>
                <a:gd name="T21" fmla="*/ 40 h 48"/>
                <a:gd name="T22" fmla="*/ 72 w 72"/>
                <a:gd name="T23" fmla="*/ 24 h 48"/>
                <a:gd name="T24" fmla="*/ 72 w 72"/>
                <a:gd name="T25" fmla="*/ 32 h 48"/>
                <a:gd name="T26" fmla="*/ 72 w 72"/>
                <a:gd name="T27" fmla="*/ 32 h 48"/>
                <a:gd name="T28" fmla="*/ 0 w 72"/>
                <a:gd name="T29" fmla="*/ 8 h 48"/>
                <a:gd name="T30" fmla="*/ 0 w 72"/>
                <a:gd name="T31" fmla="*/ 0 h 48"/>
                <a:gd name="T32" fmla="*/ 8 w 72"/>
                <a:gd name="T33" fmla="*/ 0 h 48"/>
                <a:gd name="T34" fmla="*/ 8 w 72"/>
                <a:gd name="T35" fmla="*/ 24 h 48"/>
                <a:gd name="T36" fmla="*/ 0 w 72"/>
                <a:gd name="T37" fmla="*/ 24 h 4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72"/>
                <a:gd name="T58" fmla="*/ 0 h 48"/>
                <a:gd name="T59" fmla="*/ 72 w 72"/>
                <a:gd name="T60" fmla="*/ 48 h 4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72" h="48">
                  <a:moveTo>
                    <a:pt x="0" y="24"/>
                  </a:moveTo>
                  <a:lnTo>
                    <a:pt x="0" y="0"/>
                  </a:lnTo>
                  <a:lnTo>
                    <a:pt x="72" y="24"/>
                  </a:lnTo>
                  <a:lnTo>
                    <a:pt x="72" y="32"/>
                  </a:lnTo>
                  <a:lnTo>
                    <a:pt x="0" y="48"/>
                  </a:lnTo>
                  <a:lnTo>
                    <a:pt x="0" y="40"/>
                  </a:lnTo>
                  <a:lnTo>
                    <a:pt x="72" y="24"/>
                  </a:lnTo>
                  <a:lnTo>
                    <a:pt x="72" y="32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24"/>
                  </a:lnTo>
                  <a:lnTo>
                    <a:pt x="0" y="24"/>
                  </a:lnTo>
                  <a:close/>
                </a:path>
              </a:pathLst>
            </a:cu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2" name="Freeform 22">
              <a:extLst>
                <a:ext uri="{FF2B5EF4-FFF2-40B4-BE49-F238E27FC236}">
                  <a16:creationId xmlns:a16="http://schemas.microsoft.com/office/drawing/2014/main" id="{CEBE8965-4D42-43F3-9BAE-1BF03F674710}"/>
                </a:ext>
              </a:extLst>
            </p:cNvPr>
            <p:cNvSpPr>
              <a:spLocks/>
            </p:cNvSpPr>
            <p:nvPr>
              <p:custDataLst>
                <p:tags r:id="rId26"/>
              </p:custDataLst>
            </p:nvPr>
          </p:nvSpPr>
          <p:spPr bwMode="auto">
            <a:xfrm>
              <a:off x="2304" y="1399"/>
              <a:ext cx="8" cy="16"/>
            </a:xfrm>
            <a:custGeom>
              <a:avLst/>
              <a:gdLst>
                <a:gd name="T0" fmla="*/ 0 w 8"/>
                <a:gd name="T1" fmla="*/ 16 h 16"/>
                <a:gd name="T2" fmla="*/ 0 w 8"/>
                <a:gd name="T3" fmla="*/ 0 h 16"/>
                <a:gd name="T4" fmla="*/ 8 w 8"/>
                <a:gd name="T5" fmla="*/ 0 h 16"/>
                <a:gd name="T6" fmla="*/ 8 w 8"/>
                <a:gd name="T7" fmla="*/ 0 h 16"/>
                <a:gd name="T8" fmla="*/ 8 w 8"/>
                <a:gd name="T9" fmla="*/ 0 h 16"/>
                <a:gd name="T10" fmla="*/ 8 w 8"/>
                <a:gd name="T11" fmla="*/ 16 h 16"/>
                <a:gd name="T12" fmla="*/ 0 w 8"/>
                <a:gd name="T13" fmla="*/ 16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6"/>
                <a:gd name="T23" fmla="*/ 8 w 8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6">
                  <a:moveTo>
                    <a:pt x="0" y="16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8" y="16"/>
                  </a:lnTo>
                  <a:lnTo>
                    <a:pt x="0" y="16"/>
                  </a:lnTo>
                  <a:close/>
                </a:path>
              </a:pathLst>
            </a:cu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3" name="Freeform 23">
              <a:extLst>
                <a:ext uri="{FF2B5EF4-FFF2-40B4-BE49-F238E27FC236}">
                  <a16:creationId xmlns:a16="http://schemas.microsoft.com/office/drawing/2014/main" id="{FF50A6E1-AD23-429A-AC25-739797F3D558}"/>
                </a:ext>
              </a:extLst>
            </p:cNvPr>
            <p:cNvSpPr>
              <a:spLocks/>
            </p:cNvSpPr>
            <p:nvPr>
              <p:custDataLst>
                <p:tags r:id="rId27"/>
              </p:custDataLst>
            </p:nvPr>
          </p:nvSpPr>
          <p:spPr bwMode="auto">
            <a:xfrm>
              <a:off x="2304" y="1375"/>
              <a:ext cx="72" cy="40"/>
            </a:xfrm>
            <a:custGeom>
              <a:avLst/>
              <a:gdLst>
                <a:gd name="T0" fmla="*/ 0 w 72"/>
                <a:gd name="T1" fmla="*/ 24 h 40"/>
                <a:gd name="T2" fmla="*/ 0 w 72"/>
                <a:gd name="T3" fmla="*/ 0 h 40"/>
                <a:gd name="T4" fmla="*/ 72 w 72"/>
                <a:gd name="T5" fmla="*/ 24 h 40"/>
                <a:gd name="T6" fmla="*/ 0 w 72"/>
                <a:gd name="T7" fmla="*/ 40 h 40"/>
                <a:gd name="T8" fmla="*/ 0 w 72"/>
                <a:gd name="T9" fmla="*/ 2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40"/>
                <a:gd name="T17" fmla="*/ 72 w 72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40">
                  <a:moveTo>
                    <a:pt x="0" y="24"/>
                  </a:moveTo>
                  <a:lnTo>
                    <a:pt x="0" y="0"/>
                  </a:lnTo>
                  <a:lnTo>
                    <a:pt x="72" y="24"/>
                  </a:lnTo>
                  <a:lnTo>
                    <a:pt x="0" y="40"/>
                  </a:lnTo>
                  <a:lnTo>
                    <a:pt x="0" y="24"/>
                  </a:lnTo>
                  <a:close/>
                </a:path>
              </a:pathLst>
            </a:cu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4" name="Rectangle 25">
              <a:extLst>
                <a:ext uri="{FF2B5EF4-FFF2-40B4-BE49-F238E27FC236}">
                  <a16:creationId xmlns:a16="http://schemas.microsoft.com/office/drawing/2014/main" id="{1E3D0478-1C4B-42B6-B531-01D8C3FD0EA2}"/>
                </a:ext>
              </a:extLst>
            </p:cNvPr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662" y="1399"/>
              <a:ext cx="456" cy="8"/>
            </a:xfrm>
            <a:prstGeom prst="rect">
              <a:avLst/>
            </a:pr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9245" name="Rectangle 26">
              <a:extLst>
                <a:ext uri="{FF2B5EF4-FFF2-40B4-BE49-F238E27FC236}">
                  <a16:creationId xmlns:a16="http://schemas.microsoft.com/office/drawing/2014/main" id="{3141A8D0-8C7A-4D9C-B08F-88237C2F3885}"/>
                </a:ext>
              </a:extLst>
            </p:cNvPr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5110" y="1399"/>
              <a:ext cx="8" cy="574"/>
            </a:xfrm>
            <a:prstGeom prst="rect">
              <a:avLst/>
            </a:pr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9246" name="Rectangle 28">
              <a:extLst>
                <a:ext uri="{FF2B5EF4-FFF2-40B4-BE49-F238E27FC236}">
                  <a16:creationId xmlns:a16="http://schemas.microsoft.com/office/drawing/2014/main" id="{3DCF66C9-359F-444C-A930-33A254D36340}"/>
                </a:ext>
              </a:extLst>
            </p:cNvPr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936" y="1399"/>
              <a:ext cx="8" cy="566"/>
            </a:xfrm>
            <a:prstGeom prst="rect">
              <a:avLst/>
            </a:pr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9247" name="Rectangle 30">
              <a:extLst>
                <a:ext uri="{FF2B5EF4-FFF2-40B4-BE49-F238E27FC236}">
                  <a16:creationId xmlns:a16="http://schemas.microsoft.com/office/drawing/2014/main" id="{A9D47CE8-F016-4602-99DA-B67A9030C38D}"/>
                </a:ext>
              </a:extLst>
            </p:cNvPr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936" y="1399"/>
              <a:ext cx="368" cy="8"/>
            </a:xfrm>
            <a:prstGeom prst="rect">
              <a:avLst/>
            </a:pr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9248" name="Line 33">
              <a:extLst>
                <a:ext uri="{FF2B5EF4-FFF2-40B4-BE49-F238E27FC236}">
                  <a16:creationId xmlns:a16="http://schemas.microsoft.com/office/drawing/2014/main" id="{0EC0ACDF-173E-4349-9411-7464E629A630}"/>
                </a:ext>
              </a:extLst>
            </p:cNvPr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>
              <a:off x="1968" y="1968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2109322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D40B193-721E-4581-B450-09D87FAFF263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Clocking Methodology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C7E096B-B9BE-4B87-B520-B0B294D37A29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1"/>
            <a:ext cx="8229600" cy="3048000"/>
          </a:xfrm>
        </p:spPr>
        <p:txBody>
          <a:bodyPr/>
          <a:lstStyle/>
          <a:p>
            <a:pPr eaLnBrk="1" hangingPunct="1"/>
            <a:r>
              <a:rPr lang="en-US" altLang="en-US" dirty="0"/>
              <a:t>Use fully synchronous design in this course</a:t>
            </a:r>
          </a:p>
          <a:p>
            <a:pPr lvl="1" eaLnBrk="1" hangingPunct="1"/>
            <a:r>
              <a:rPr lang="en-US" altLang="en-US" dirty="0"/>
              <a:t>Motivation: simplifies design process</a:t>
            </a:r>
          </a:p>
          <a:p>
            <a:pPr lvl="2" eaLnBrk="1" hangingPunct="1"/>
            <a:r>
              <a:rPr lang="en-US" altLang="en-US" dirty="0"/>
              <a:t>Can guarantee timing correctness; design data and control without considering clock</a:t>
            </a:r>
          </a:p>
          <a:p>
            <a:pPr lvl="1" eaLnBrk="1" hangingPunct="1"/>
            <a:r>
              <a:rPr lang="en-US" altLang="en-US" dirty="0"/>
              <a:t>Only flip-flops, all with same clock and same edge</a:t>
            </a:r>
          </a:p>
          <a:p>
            <a:pPr lvl="1" eaLnBrk="1" hangingPunct="1"/>
            <a:r>
              <a:rPr lang="en-US" altLang="en-US" dirty="0"/>
              <a:t>All logic finishes within cycle</a:t>
            </a:r>
          </a:p>
          <a:p>
            <a:pPr lvl="1" eaLnBrk="1" hangingPunct="1"/>
            <a:endParaRPr lang="en-US" alt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CC161A7A-F084-4E01-9A8D-D530324A2CC4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724400"/>
            <a:ext cx="7954963" cy="1916113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950640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BE53BC4-C7B8-4D7A-894E-06670A22FA9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Single-Cycle Data Path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E213DDC-46E9-4958-AD17-FB0B8E513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400"/>
            <a:ext cx="8734425" cy="455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CF24DE-0C47-449D-815C-51B24571DB1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638800" y="35814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088837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92031B2-C0AD-41ED-B7EB-711F5D29616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Fetch Instructions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63366C8-25BF-4FFC-876C-072E8418742D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533400" y="1828800"/>
            <a:ext cx="3813175" cy="41148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Fetch instruction, then increment PC</a:t>
            </a:r>
          </a:p>
          <a:p>
            <a:pPr lvl="1" eaLnBrk="1" hangingPunct="1"/>
            <a:r>
              <a:rPr lang="en-US" altLang="en-US" sz="2400" dirty="0"/>
              <a:t>Same for all </a:t>
            </a:r>
            <a:r>
              <a:rPr lang="en-US" altLang="en-US" sz="2400" dirty="0" err="1"/>
              <a:t>insns</a:t>
            </a:r>
            <a:endParaRPr lang="en-US" altLang="en-US" sz="2400" dirty="0"/>
          </a:p>
          <a:p>
            <a:pPr eaLnBrk="1" hangingPunct="1"/>
            <a:r>
              <a:rPr lang="en-US" altLang="en-US" sz="2800" dirty="0"/>
              <a:t>Initially, let’s assume:</a:t>
            </a:r>
          </a:p>
          <a:p>
            <a:pPr lvl="1" eaLnBrk="1" hangingPunct="1"/>
            <a:r>
              <a:rPr lang="en-US" altLang="en-US" sz="2400" dirty="0"/>
              <a:t>PC updated every cycle</a:t>
            </a:r>
          </a:p>
          <a:p>
            <a:pPr lvl="1" eaLnBrk="1" hangingPunct="1"/>
            <a:r>
              <a:rPr lang="en-US" altLang="en-US" sz="2400" dirty="0"/>
              <a:t>No branches or jumps</a:t>
            </a:r>
          </a:p>
          <a:p>
            <a:pPr eaLnBrk="1" hangingPunct="1"/>
            <a:r>
              <a:rPr lang="en-US" altLang="en-US" sz="2800" dirty="0"/>
              <a:t>After this instruction, fetch next one</a:t>
            </a:r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68D90539-C18F-48F5-BD2C-D227073F8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05000"/>
            <a:ext cx="4395788" cy="37687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77D6182-0C7C-40B8-9773-45B523F60E5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162800" y="1905000"/>
            <a:ext cx="1600200" cy="2057400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785F2CC-1720-4B95-ABB7-1ADF3795524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ALU Instructions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B3BABA9-976D-45AD-B643-EA970B02C33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and $1, $2, $3 	# [$1] = [$2] &amp; [$3]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MIPS R-format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opcode	</a:t>
            </a:r>
            <a:r>
              <a:rPr lang="en-US" altLang="en-US" sz="2400" dirty="0" err="1"/>
              <a:t>rs</a:t>
            </a:r>
            <a:r>
              <a:rPr lang="en-US" altLang="en-US" sz="2400" dirty="0"/>
              <a:t>	rt	</a:t>
            </a:r>
            <a:r>
              <a:rPr lang="en-US" altLang="en-US" sz="2400" dirty="0" err="1"/>
              <a:t>rd</a:t>
            </a:r>
            <a:r>
              <a:rPr lang="en-US" altLang="en-US" sz="2400" dirty="0"/>
              <a:t>	</a:t>
            </a:r>
            <a:r>
              <a:rPr lang="en-US" altLang="en-US" sz="2400" dirty="0" err="1"/>
              <a:t>shamt</a:t>
            </a:r>
            <a:r>
              <a:rPr lang="en-US" altLang="en-US" sz="2400" dirty="0"/>
              <a:t>	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0178F-EC7E-427B-818C-DEB0481A2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394" y="3505200"/>
            <a:ext cx="5891213" cy="257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28E1B3-07B3-4EF5-8B4A-43BA2D44356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19800" y="3505200"/>
            <a:ext cx="228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947D73-5448-4EE7-8031-A1E9A11F746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512499" y="3322638"/>
            <a:ext cx="1600200" cy="2057400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86A376-118D-4097-BC85-638F0B42B90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029200" y="2971800"/>
            <a:ext cx="2895600" cy="2895600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39215C-DE76-4C7A-B6C2-44C91D11D0E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771921" y="4953000"/>
            <a:ext cx="2176171" cy="1278147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EC401B5-741B-4D83-B248-78F90A9CC4F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Load</a:t>
            </a:r>
            <a:r>
              <a:rPr lang="en-US" altLang="en-US"/>
              <a:t>/</a:t>
            </a:r>
            <a:r>
              <a:rPr lang="en-US" altLang="en-US">
                <a:solidFill>
                  <a:schemeClr val="accent1"/>
                </a:solidFill>
              </a:rPr>
              <a:t>Store</a:t>
            </a:r>
            <a:r>
              <a:rPr lang="en-US" altLang="en-US"/>
              <a:t> Instructions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A3B713A-DC21-4819-A97D-1E5FC01FD4F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5800" y="1600200"/>
            <a:ext cx="7772400" cy="1752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lw</a:t>
            </a:r>
            <a:r>
              <a:rPr lang="en-US" altLang="en-US" sz="2800" dirty="0"/>
              <a:t> $1, </a:t>
            </a:r>
            <a:r>
              <a:rPr lang="en-US" altLang="en-US" sz="2800" dirty="0" err="1"/>
              <a:t>immed</a:t>
            </a:r>
            <a:r>
              <a:rPr lang="en-US" altLang="en-US" sz="2800" dirty="0"/>
              <a:t>($2) # [$1] = M[SE(</a:t>
            </a:r>
            <a:r>
              <a:rPr lang="en-US" altLang="en-US" sz="2800" dirty="0" err="1"/>
              <a:t>immed</a:t>
            </a:r>
            <a:r>
              <a:rPr lang="en-US" altLang="en-US" sz="2800" dirty="0"/>
              <a:t>)+[$2]]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MIPS I-format: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opcode	</a:t>
            </a:r>
            <a:r>
              <a:rPr lang="en-US" altLang="en-US" sz="2400" dirty="0" err="1"/>
              <a:t>rs</a:t>
            </a:r>
            <a:r>
              <a:rPr lang="en-US" altLang="en-US" sz="2400" dirty="0"/>
              <a:t>	rt	</a:t>
            </a:r>
            <a:r>
              <a:rPr lang="en-US" altLang="en-US" sz="2400" dirty="0" err="1"/>
              <a:t>immed</a:t>
            </a:r>
            <a:endParaRPr lang="en-US" altLang="en-US" sz="2400" dirty="0"/>
          </a:p>
        </p:txBody>
      </p:sp>
      <p:pic>
        <p:nvPicPr>
          <p:cNvPr id="18436" name="Picture 5">
            <a:extLst>
              <a:ext uri="{FF2B5EF4-FFF2-40B4-BE49-F238E27FC236}">
                <a16:creationId xmlns:a16="http://schemas.microsoft.com/office/drawing/2014/main" id="{081B8B08-400F-4B7E-9CFB-32819E168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276600"/>
            <a:ext cx="7086600" cy="309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BFBC51-77A5-457B-A9A7-2344816B751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953000" y="3276600"/>
            <a:ext cx="15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174176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EC401B5-741B-4D83-B248-78F90A9CC4F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Load</a:t>
            </a:r>
            <a:r>
              <a:rPr lang="en-US" altLang="en-US"/>
              <a:t>/</a:t>
            </a:r>
            <a:r>
              <a:rPr lang="en-US" altLang="en-US">
                <a:solidFill>
                  <a:schemeClr val="accent1"/>
                </a:solidFill>
              </a:rPr>
              <a:t>Store</a:t>
            </a:r>
            <a:r>
              <a:rPr lang="en-US" altLang="en-US"/>
              <a:t> Instructions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A3B713A-DC21-4819-A97D-1E5FC01FD4F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5800" y="1600200"/>
            <a:ext cx="7772400" cy="1752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lw</a:t>
            </a:r>
            <a:r>
              <a:rPr lang="en-US" altLang="en-US" sz="2800" dirty="0"/>
              <a:t> $1, </a:t>
            </a:r>
            <a:r>
              <a:rPr lang="en-US" altLang="en-US" sz="2800" dirty="0" err="1"/>
              <a:t>immed</a:t>
            </a:r>
            <a:r>
              <a:rPr lang="en-US" altLang="en-US" sz="2800" dirty="0"/>
              <a:t>($2) # [$1] = M[SE(</a:t>
            </a:r>
            <a:r>
              <a:rPr lang="en-US" altLang="en-US" sz="2800" dirty="0" err="1"/>
              <a:t>immed</a:t>
            </a:r>
            <a:r>
              <a:rPr lang="en-US" altLang="en-US" sz="2800" dirty="0"/>
              <a:t>)+[$2]]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MIPS I-format: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opcode	</a:t>
            </a:r>
            <a:r>
              <a:rPr lang="en-US" altLang="en-US" sz="2400" dirty="0" err="1"/>
              <a:t>rs</a:t>
            </a:r>
            <a:r>
              <a:rPr lang="en-US" altLang="en-US" sz="2400" dirty="0"/>
              <a:t>	rt	</a:t>
            </a:r>
            <a:r>
              <a:rPr lang="en-US" altLang="en-US" sz="2400" dirty="0" err="1"/>
              <a:t>immed</a:t>
            </a:r>
            <a:endParaRPr lang="en-US" altLang="en-US" sz="2400" dirty="0"/>
          </a:p>
        </p:txBody>
      </p:sp>
      <p:pic>
        <p:nvPicPr>
          <p:cNvPr id="18436" name="Picture 5">
            <a:extLst>
              <a:ext uri="{FF2B5EF4-FFF2-40B4-BE49-F238E27FC236}">
                <a16:creationId xmlns:a16="http://schemas.microsoft.com/office/drawing/2014/main" id="{081B8B08-400F-4B7E-9CFB-32819E168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276600"/>
            <a:ext cx="7086600" cy="309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BFBC51-77A5-457B-A9A7-2344816B751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953000" y="3276600"/>
            <a:ext cx="15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B077C80-85AA-4CE6-B135-84FDDCF910A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43124" y="3109136"/>
            <a:ext cx="2771365" cy="2057400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703208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EC401B5-741B-4D83-B248-78F90A9CC4F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Load</a:t>
            </a:r>
            <a:r>
              <a:rPr lang="en-US" altLang="en-US"/>
              <a:t>/</a:t>
            </a:r>
            <a:r>
              <a:rPr lang="en-US" altLang="en-US">
                <a:solidFill>
                  <a:schemeClr val="accent1"/>
                </a:solidFill>
              </a:rPr>
              <a:t>Store</a:t>
            </a:r>
            <a:r>
              <a:rPr lang="en-US" altLang="en-US"/>
              <a:t> Instructions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A3B713A-DC21-4819-A97D-1E5FC01FD4F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5800" y="1600200"/>
            <a:ext cx="7772400" cy="1752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lw</a:t>
            </a:r>
            <a:r>
              <a:rPr lang="en-US" altLang="en-US" sz="2800" dirty="0"/>
              <a:t> $1, </a:t>
            </a:r>
            <a:r>
              <a:rPr lang="en-US" altLang="en-US" sz="2800" dirty="0" err="1"/>
              <a:t>immed</a:t>
            </a:r>
            <a:r>
              <a:rPr lang="en-US" altLang="en-US" sz="2800" dirty="0"/>
              <a:t>($2) # [$1] = M[SE(</a:t>
            </a:r>
            <a:r>
              <a:rPr lang="en-US" altLang="en-US" sz="2800" dirty="0" err="1"/>
              <a:t>immed</a:t>
            </a:r>
            <a:r>
              <a:rPr lang="en-US" altLang="en-US" sz="2800" dirty="0"/>
              <a:t>)+[$2]]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MIPS I-format: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opcode	</a:t>
            </a:r>
            <a:r>
              <a:rPr lang="en-US" altLang="en-US" sz="2400" dirty="0" err="1"/>
              <a:t>rs</a:t>
            </a:r>
            <a:r>
              <a:rPr lang="en-US" altLang="en-US" sz="2400" dirty="0"/>
              <a:t>	rt	</a:t>
            </a:r>
            <a:r>
              <a:rPr lang="en-US" altLang="en-US" sz="2400" dirty="0" err="1"/>
              <a:t>immed</a:t>
            </a:r>
            <a:endParaRPr lang="en-US" altLang="en-US" sz="2400" dirty="0"/>
          </a:p>
        </p:txBody>
      </p:sp>
      <p:pic>
        <p:nvPicPr>
          <p:cNvPr id="18436" name="Picture 5">
            <a:extLst>
              <a:ext uri="{FF2B5EF4-FFF2-40B4-BE49-F238E27FC236}">
                <a16:creationId xmlns:a16="http://schemas.microsoft.com/office/drawing/2014/main" id="{081B8B08-400F-4B7E-9CFB-32819E168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276600"/>
            <a:ext cx="7086600" cy="309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BFBC51-77A5-457B-A9A7-2344816B751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953000" y="3276600"/>
            <a:ext cx="15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BCE8C50-409E-47AA-84A1-B073B769FD5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102731" y="4324709"/>
            <a:ext cx="6420167" cy="2260121"/>
          </a:xfrm>
          <a:custGeom>
            <a:avLst/>
            <a:gdLst>
              <a:gd name="connsiteX0" fmla="*/ 5937088 w 6420167"/>
              <a:gd name="connsiteY0" fmla="*/ 0 h 2260121"/>
              <a:gd name="connsiteX1" fmla="*/ 6069360 w 6420167"/>
              <a:gd name="connsiteY1" fmla="*/ 115019 h 2260121"/>
              <a:gd name="connsiteX2" fmla="*/ 6138371 w 6420167"/>
              <a:gd name="connsiteY2" fmla="*/ 161027 h 2260121"/>
              <a:gd name="connsiteX3" fmla="*/ 6282144 w 6420167"/>
              <a:gd name="connsiteY3" fmla="*/ 253042 h 2260121"/>
              <a:gd name="connsiteX4" fmla="*/ 6305148 w 6420167"/>
              <a:gd name="connsiteY4" fmla="*/ 350808 h 2260121"/>
              <a:gd name="connsiteX5" fmla="*/ 6368409 w 6420167"/>
              <a:gd name="connsiteY5" fmla="*/ 500333 h 2260121"/>
              <a:gd name="connsiteX6" fmla="*/ 6385661 w 6420167"/>
              <a:gd name="connsiteY6" fmla="*/ 575095 h 2260121"/>
              <a:gd name="connsiteX7" fmla="*/ 6402914 w 6420167"/>
              <a:gd name="connsiteY7" fmla="*/ 621102 h 2260121"/>
              <a:gd name="connsiteX8" fmla="*/ 6420167 w 6420167"/>
              <a:gd name="connsiteY8" fmla="*/ 684363 h 2260121"/>
              <a:gd name="connsiteX9" fmla="*/ 6414416 w 6420167"/>
              <a:gd name="connsiteY9" fmla="*/ 1391729 h 2260121"/>
              <a:gd name="connsiteX10" fmla="*/ 6402914 w 6420167"/>
              <a:gd name="connsiteY10" fmla="*/ 1437736 h 2260121"/>
              <a:gd name="connsiteX11" fmla="*/ 6397163 w 6420167"/>
              <a:gd name="connsiteY11" fmla="*/ 1454989 h 2260121"/>
              <a:gd name="connsiteX12" fmla="*/ 6379911 w 6420167"/>
              <a:gd name="connsiteY12" fmla="*/ 1506748 h 2260121"/>
              <a:gd name="connsiteX13" fmla="*/ 6356907 w 6420167"/>
              <a:gd name="connsiteY13" fmla="*/ 1616016 h 2260121"/>
              <a:gd name="connsiteX14" fmla="*/ 6345405 w 6420167"/>
              <a:gd name="connsiteY14" fmla="*/ 1650521 h 2260121"/>
              <a:gd name="connsiteX15" fmla="*/ 6328152 w 6420167"/>
              <a:gd name="connsiteY15" fmla="*/ 1667774 h 2260121"/>
              <a:gd name="connsiteX16" fmla="*/ 6322401 w 6420167"/>
              <a:gd name="connsiteY16" fmla="*/ 1696529 h 2260121"/>
              <a:gd name="connsiteX17" fmla="*/ 6287895 w 6420167"/>
              <a:gd name="connsiteY17" fmla="*/ 1742536 h 2260121"/>
              <a:gd name="connsiteX18" fmla="*/ 6264892 w 6420167"/>
              <a:gd name="connsiteY18" fmla="*/ 1777042 h 2260121"/>
              <a:gd name="connsiteX19" fmla="*/ 6224635 w 6420167"/>
              <a:gd name="connsiteY19" fmla="*/ 1823049 h 2260121"/>
              <a:gd name="connsiteX20" fmla="*/ 6190129 w 6420167"/>
              <a:gd name="connsiteY20" fmla="*/ 1846053 h 2260121"/>
              <a:gd name="connsiteX21" fmla="*/ 6167126 w 6420167"/>
              <a:gd name="connsiteY21" fmla="*/ 1880559 h 2260121"/>
              <a:gd name="connsiteX22" fmla="*/ 6132620 w 6420167"/>
              <a:gd name="connsiteY22" fmla="*/ 1903563 h 2260121"/>
              <a:gd name="connsiteX23" fmla="*/ 6080861 w 6420167"/>
              <a:gd name="connsiteY23" fmla="*/ 1938068 h 2260121"/>
              <a:gd name="connsiteX24" fmla="*/ 6063609 w 6420167"/>
              <a:gd name="connsiteY24" fmla="*/ 1943819 h 2260121"/>
              <a:gd name="connsiteX25" fmla="*/ 6040605 w 6420167"/>
              <a:gd name="connsiteY25" fmla="*/ 1955321 h 2260121"/>
              <a:gd name="connsiteX26" fmla="*/ 6000348 w 6420167"/>
              <a:gd name="connsiteY26" fmla="*/ 1978325 h 2260121"/>
              <a:gd name="connsiteX27" fmla="*/ 5965843 w 6420167"/>
              <a:gd name="connsiteY27" fmla="*/ 1989827 h 2260121"/>
              <a:gd name="connsiteX28" fmla="*/ 5937088 w 6420167"/>
              <a:gd name="connsiteY28" fmla="*/ 2007080 h 2260121"/>
              <a:gd name="connsiteX29" fmla="*/ 5914084 w 6420167"/>
              <a:gd name="connsiteY29" fmla="*/ 2012831 h 2260121"/>
              <a:gd name="connsiteX30" fmla="*/ 5862326 w 6420167"/>
              <a:gd name="connsiteY30" fmla="*/ 2041585 h 2260121"/>
              <a:gd name="connsiteX31" fmla="*/ 5787563 w 6420167"/>
              <a:gd name="connsiteY31" fmla="*/ 2064589 h 2260121"/>
              <a:gd name="connsiteX32" fmla="*/ 5735805 w 6420167"/>
              <a:gd name="connsiteY32" fmla="*/ 2093344 h 2260121"/>
              <a:gd name="connsiteX33" fmla="*/ 5632288 w 6420167"/>
              <a:gd name="connsiteY33" fmla="*/ 2122099 h 2260121"/>
              <a:gd name="connsiteX34" fmla="*/ 5505767 w 6420167"/>
              <a:gd name="connsiteY34" fmla="*/ 2168106 h 2260121"/>
              <a:gd name="connsiteX35" fmla="*/ 5379246 w 6420167"/>
              <a:gd name="connsiteY35" fmla="*/ 2208363 h 2260121"/>
              <a:gd name="connsiteX36" fmla="*/ 5356243 w 6420167"/>
              <a:gd name="connsiteY36" fmla="*/ 2219865 h 2260121"/>
              <a:gd name="connsiteX37" fmla="*/ 5218220 w 6420167"/>
              <a:gd name="connsiteY37" fmla="*/ 2260121 h 2260121"/>
              <a:gd name="connsiteX38" fmla="*/ 4533858 w 6420167"/>
              <a:gd name="connsiteY38" fmla="*/ 2254370 h 2260121"/>
              <a:gd name="connsiteX39" fmla="*/ 4476348 w 6420167"/>
              <a:gd name="connsiteY39" fmla="*/ 2242868 h 2260121"/>
              <a:gd name="connsiteX40" fmla="*/ 4050778 w 6420167"/>
              <a:gd name="connsiteY40" fmla="*/ 2231366 h 2260121"/>
              <a:gd name="connsiteX41" fmla="*/ 3768982 w 6420167"/>
              <a:gd name="connsiteY41" fmla="*/ 2191110 h 2260121"/>
              <a:gd name="connsiteX42" fmla="*/ 3676967 w 6420167"/>
              <a:gd name="connsiteY42" fmla="*/ 2179608 h 2260121"/>
              <a:gd name="connsiteX43" fmla="*/ 3211141 w 6420167"/>
              <a:gd name="connsiteY43" fmla="*/ 2162355 h 2260121"/>
              <a:gd name="connsiteX44" fmla="*/ 2814326 w 6420167"/>
              <a:gd name="connsiteY44" fmla="*/ 2145102 h 2260121"/>
              <a:gd name="connsiteX45" fmla="*/ 2659050 w 6420167"/>
              <a:gd name="connsiteY45" fmla="*/ 2133600 h 2260121"/>
              <a:gd name="connsiteX46" fmla="*/ 2607292 w 6420167"/>
              <a:gd name="connsiteY46" fmla="*/ 2122099 h 2260121"/>
              <a:gd name="connsiteX47" fmla="*/ 2480771 w 6420167"/>
              <a:gd name="connsiteY47" fmla="*/ 2110597 h 2260121"/>
              <a:gd name="connsiteX48" fmla="*/ 2285239 w 6420167"/>
              <a:gd name="connsiteY48" fmla="*/ 2093344 h 2260121"/>
              <a:gd name="connsiteX49" fmla="*/ 2250733 w 6420167"/>
              <a:gd name="connsiteY49" fmla="*/ 2081842 h 2260121"/>
              <a:gd name="connsiteX50" fmla="*/ 1664137 w 6420167"/>
              <a:gd name="connsiteY50" fmla="*/ 2064589 h 2260121"/>
              <a:gd name="connsiteX51" fmla="*/ 1572122 w 6420167"/>
              <a:gd name="connsiteY51" fmla="*/ 2047336 h 2260121"/>
              <a:gd name="connsiteX52" fmla="*/ 1181058 w 6420167"/>
              <a:gd name="connsiteY52" fmla="*/ 2007080 h 2260121"/>
              <a:gd name="connsiteX53" fmla="*/ 1025782 w 6420167"/>
              <a:gd name="connsiteY53" fmla="*/ 1978325 h 2260121"/>
              <a:gd name="connsiteX54" fmla="*/ 789994 w 6420167"/>
              <a:gd name="connsiteY54" fmla="*/ 1949570 h 2260121"/>
              <a:gd name="connsiteX55" fmla="*/ 726733 w 6420167"/>
              <a:gd name="connsiteY55" fmla="*/ 1938068 h 2260121"/>
              <a:gd name="connsiteX56" fmla="*/ 646220 w 6420167"/>
              <a:gd name="connsiteY56" fmla="*/ 1920816 h 2260121"/>
              <a:gd name="connsiteX57" fmla="*/ 571458 w 6420167"/>
              <a:gd name="connsiteY57" fmla="*/ 1915065 h 2260121"/>
              <a:gd name="connsiteX58" fmla="*/ 531201 w 6420167"/>
              <a:gd name="connsiteY58" fmla="*/ 1903563 h 2260121"/>
              <a:gd name="connsiteX59" fmla="*/ 502446 w 6420167"/>
              <a:gd name="connsiteY59" fmla="*/ 1886310 h 2260121"/>
              <a:gd name="connsiteX60" fmla="*/ 439186 w 6420167"/>
              <a:gd name="connsiteY60" fmla="*/ 1857555 h 2260121"/>
              <a:gd name="connsiteX61" fmla="*/ 393178 w 6420167"/>
              <a:gd name="connsiteY61" fmla="*/ 1834551 h 2260121"/>
              <a:gd name="connsiteX62" fmla="*/ 375926 w 6420167"/>
              <a:gd name="connsiteY62" fmla="*/ 1823049 h 2260121"/>
              <a:gd name="connsiteX63" fmla="*/ 324167 w 6420167"/>
              <a:gd name="connsiteY63" fmla="*/ 1754038 h 2260121"/>
              <a:gd name="connsiteX64" fmla="*/ 237903 w 6420167"/>
              <a:gd name="connsiteY64" fmla="*/ 1656272 h 2260121"/>
              <a:gd name="connsiteX65" fmla="*/ 191895 w 6420167"/>
              <a:gd name="connsiteY65" fmla="*/ 1616016 h 2260121"/>
              <a:gd name="connsiteX66" fmla="*/ 174643 w 6420167"/>
              <a:gd name="connsiteY66" fmla="*/ 1587261 h 2260121"/>
              <a:gd name="connsiteX67" fmla="*/ 157390 w 6420167"/>
              <a:gd name="connsiteY67" fmla="*/ 1564257 h 2260121"/>
              <a:gd name="connsiteX68" fmla="*/ 88378 w 6420167"/>
              <a:gd name="connsiteY68" fmla="*/ 1460740 h 2260121"/>
              <a:gd name="connsiteX69" fmla="*/ 71126 w 6420167"/>
              <a:gd name="connsiteY69" fmla="*/ 1426234 h 2260121"/>
              <a:gd name="connsiteX70" fmla="*/ 53873 w 6420167"/>
              <a:gd name="connsiteY70" fmla="*/ 1397480 h 2260121"/>
              <a:gd name="connsiteX71" fmla="*/ 30869 w 6420167"/>
              <a:gd name="connsiteY71" fmla="*/ 1357223 h 2260121"/>
              <a:gd name="connsiteX72" fmla="*/ 13616 w 6420167"/>
              <a:gd name="connsiteY72" fmla="*/ 920151 h 2260121"/>
              <a:gd name="connsiteX73" fmla="*/ 48122 w 6420167"/>
              <a:gd name="connsiteY73" fmla="*/ 845389 h 2260121"/>
              <a:gd name="connsiteX74" fmla="*/ 71126 w 6420167"/>
              <a:gd name="connsiteY74" fmla="*/ 805133 h 2260121"/>
              <a:gd name="connsiteX75" fmla="*/ 94129 w 6420167"/>
              <a:gd name="connsiteY75" fmla="*/ 782129 h 2260121"/>
              <a:gd name="connsiteX76" fmla="*/ 105631 w 6420167"/>
              <a:gd name="connsiteY76" fmla="*/ 764876 h 2260121"/>
              <a:gd name="connsiteX77" fmla="*/ 197646 w 6420167"/>
              <a:gd name="connsiteY77" fmla="*/ 678612 h 2260121"/>
              <a:gd name="connsiteX78" fmla="*/ 220650 w 6420167"/>
              <a:gd name="connsiteY78" fmla="*/ 661359 h 2260121"/>
              <a:gd name="connsiteX79" fmla="*/ 237903 w 6420167"/>
              <a:gd name="connsiteY79" fmla="*/ 638355 h 2260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6420167" h="2260121">
                <a:moveTo>
                  <a:pt x="5937088" y="0"/>
                </a:moveTo>
                <a:cubicBezTo>
                  <a:pt x="5987780" y="50692"/>
                  <a:pt x="5987979" y="52627"/>
                  <a:pt x="6069360" y="115019"/>
                </a:cubicBezTo>
                <a:cubicBezTo>
                  <a:pt x="6091301" y="131840"/>
                  <a:pt x="6115176" y="145982"/>
                  <a:pt x="6138371" y="161027"/>
                </a:cubicBezTo>
                <a:lnTo>
                  <a:pt x="6282144" y="253042"/>
                </a:lnTo>
                <a:cubicBezTo>
                  <a:pt x="6288182" y="289271"/>
                  <a:pt x="6291024" y="313480"/>
                  <a:pt x="6305148" y="350808"/>
                </a:cubicBezTo>
                <a:cubicBezTo>
                  <a:pt x="6324300" y="401425"/>
                  <a:pt x="6356240" y="447600"/>
                  <a:pt x="6368409" y="500333"/>
                </a:cubicBezTo>
                <a:cubicBezTo>
                  <a:pt x="6374160" y="525254"/>
                  <a:pt x="6378635" y="550503"/>
                  <a:pt x="6385661" y="575095"/>
                </a:cubicBezTo>
                <a:cubicBezTo>
                  <a:pt x="6390160" y="590843"/>
                  <a:pt x="6397317" y="605710"/>
                  <a:pt x="6402914" y="621102"/>
                </a:cubicBezTo>
                <a:cubicBezTo>
                  <a:pt x="6411514" y="644751"/>
                  <a:pt x="6412802" y="654903"/>
                  <a:pt x="6420167" y="684363"/>
                </a:cubicBezTo>
                <a:cubicBezTo>
                  <a:pt x="6418250" y="920152"/>
                  <a:pt x="6419815" y="1155994"/>
                  <a:pt x="6414416" y="1391729"/>
                </a:cubicBezTo>
                <a:cubicBezTo>
                  <a:pt x="6414054" y="1407533"/>
                  <a:pt x="6407913" y="1422740"/>
                  <a:pt x="6402914" y="1437736"/>
                </a:cubicBezTo>
                <a:cubicBezTo>
                  <a:pt x="6400997" y="1443487"/>
                  <a:pt x="6398828" y="1449160"/>
                  <a:pt x="6397163" y="1454989"/>
                </a:cubicBezTo>
                <a:cubicBezTo>
                  <a:pt x="6384780" y="1498330"/>
                  <a:pt x="6399739" y="1457173"/>
                  <a:pt x="6379911" y="1506748"/>
                </a:cubicBezTo>
                <a:cubicBezTo>
                  <a:pt x="6373742" y="1549927"/>
                  <a:pt x="6372312" y="1569803"/>
                  <a:pt x="6356907" y="1616016"/>
                </a:cubicBezTo>
                <a:cubicBezTo>
                  <a:pt x="6353073" y="1627518"/>
                  <a:pt x="6351293" y="1639923"/>
                  <a:pt x="6345405" y="1650521"/>
                </a:cubicBezTo>
                <a:cubicBezTo>
                  <a:pt x="6341455" y="1657631"/>
                  <a:pt x="6333903" y="1662023"/>
                  <a:pt x="6328152" y="1667774"/>
                </a:cubicBezTo>
                <a:cubicBezTo>
                  <a:pt x="6326235" y="1677359"/>
                  <a:pt x="6326031" y="1687453"/>
                  <a:pt x="6322401" y="1696529"/>
                </a:cubicBezTo>
                <a:cubicBezTo>
                  <a:pt x="6312874" y="1720347"/>
                  <a:pt x="6304386" y="1726045"/>
                  <a:pt x="6287895" y="1742536"/>
                </a:cubicBezTo>
                <a:cubicBezTo>
                  <a:pt x="6278337" y="1771209"/>
                  <a:pt x="6288087" y="1750533"/>
                  <a:pt x="6264892" y="1777042"/>
                </a:cubicBezTo>
                <a:cubicBezTo>
                  <a:pt x="6252385" y="1791336"/>
                  <a:pt x="6240246" y="1810907"/>
                  <a:pt x="6224635" y="1823049"/>
                </a:cubicBezTo>
                <a:cubicBezTo>
                  <a:pt x="6213723" y="1831536"/>
                  <a:pt x="6190129" y="1846053"/>
                  <a:pt x="6190129" y="1846053"/>
                </a:cubicBezTo>
                <a:cubicBezTo>
                  <a:pt x="6182461" y="1857555"/>
                  <a:pt x="6176901" y="1870784"/>
                  <a:pt x="6167126" y="1880559"/>
                </a:cubicBezTo>
                <a:cubicBezTo>
                  <a:pt x="6157351" y="1890334"/>
                  <a:pt x="6143679" y="1895269"/>
                  <a:pt x="6132620" y="1903563"/>
                </a:cubicBezTo>
                <a:cubicBezTo>
                  <a:pt x="6113352" y="1918014"/>
                  <a:pt x="6103050" y="1926974"/>
                  <a:pt x="6080861" y="1938068"/>
                </a:cubicBezTo>
                <a:cubicBezTo>
                  <a:pt x="6075439" y="1940779"/>
                  <a:pt x="6069181" y="1941431"/>
                  <a:pt x="6063609" y="1943819"/>
                </a:cubicBezTo>
                <a:cubicBezTo>
                  <a:pt x="6055729" y="1947196"/>
                  <a:pt x="6048131" y="1951216"/>
                  <a:pt x="6040605" y="1955321"/>
                </a:cubicBezTo>
                <a:cubicBezTo>
                  <a:pt x="6027037" y="1962722"/>
                  <a:pt x="6014381" y="1971848"/>
                  <a:pt x="6000348" y="1978325"/>
                </a:cubicBezTo>
                <a:cubicBezTo>
                  <a:pt x="5989340" y="1983406"/>
                  <a:pt x="5976880" y="1984810"/>
                  <a:pt x="5965843" y="1989827"/>
                </a:cubicBezTo>
                <a:cubicBezTo>
                  <a:pt x="5955667" y="1994453"/>
                  <a:pt x="5947303" y="2002540"/>
                  <a:pt x="5937088" y="2007080"/>
                </a:cubicBezTo>
                <a:cubicBezTo>
                  <a:pt x="5929865" y="2010290"/>
                  <a:pt x="5921582" y="2010332"/>
                  <a:pt x="5914084" y="2012831"/>
                </a:cubicBezTo>
                <a:cubicBezTo>
                  <a:pt x="5855795" y="2032261"/>
                  <a:pt x="5912746" y="2014084"/>
                  <a:pt x="5862326" y="2041585"/>
                </a:cubicBezTo>
                <a:cubicBezTo>
                  <a:pt x="5827080" y="2060810"/>
                  <a:pt x="5823907" y="2058532"/>
                  <a:pt x="5787563" y="2064589"/>
                </a:cubicBezTo>
                <a:cubicBezTo>
                  <a:pt x="5779215" y="2069598"/>
                  <a:pt x="5747517" y="2089617"/>
                  <a:pt x="5735805" y="2093344"/>
                </a:cubicBezTo>
                <a:cubicBezTo>
                  <a:pt x="5701679" y="2104202"/>
                  <a:pt x="5666059" y="2110180"/>
                  <a:pt x="5632288" y="2122099"/>
                </a:cubicBezTo>
                <a:cubicBezTo>
                  <a:pt x="5482973" y="2174798"/>
                  <a:pt x="5589533" y="2154145"/>
                  <a:pt x="5505767" y="2168106"/>
                </a:cubicBezTo>
                <a:cubicBezTo>
                  <a:pt x="5398783" y="2205865"/>
                  <a:pt x="5441889" y="2195834"/>
                  <a:pt x="5379246" y="2208363"/>
                </a:cubicBezTo>
                <a:cubicBezTo>
                  <a:pt x="5371578" y="2212197"/>
                  <a:pt x="5364327" y="2217012"/>
                  <a:pt x="5356243" y="2219865"/>
                </a:cubicBezTo>
                <a:cubicBezTo>
                  <a:pt x="5314563" y="2234575"/>
                  <a:pt x="5261391" y="2248347"/>
                  <a:pt x="5218220" y="2260121"/>
                </a:cubicBezTo>
                <a:lnTo>
                  <a:pt x="4533858" y="2254370"/>
                </a:lnTo>
                <a:cubicBezTo>
                  <a:pt x="4514314" y="2253915"/>
                  <a:pt x="4495876" y="2243798"/>
                  <a:pt x="4476348" y="2242868"/>
                </a:cubicBezTo>
                <a:cubicBezTo>
                  <a:pt x="4334600" y="2236118"/>
                  <a:pt x="4192635" y="2235200"/>
                  <a:pt x="4050778" y="2231366"/>
                </a:cubicBezTo>
                <a:lnTo>
                  <a:pt x="3768982" y="2191110"/>
                </a:lnTo>
                <a:cubicBezTo>
                  <a:pt x="3738310" y="2187276"/>
                  <a:pt x="3707836" y="2181199"/>
                  <a:pt x="3676967" y="2179608"/>
                </a:cubicBezTo>
                <a:cubicBezTo>
                  <a:pt x="3521791" y="2171609"/>
                  <a:pt x="3366388" y="2168824"/>
                  <a:pt x="3211141" y="2162355"/>
                </a:cubicBezTo>
                <a:cubicBezTo>
                  <a:pt x="2604289" y="2137069"/>
                  <a:pt x="3311559" y="2161677"/>
                  <a:pt x="2814326" y="2145102"/>
                </a:cubicBezTo>
                <a:cubicBezTo>
                  <a:pt x="2762567" y="2141268"/>
                  <a:pt x="2710633" y="2139331"/>
                  <a:pt x="2659050" y="2133600"/>
                </a:cubicBezTo>
                <a:cubicBezTo>
                  <a:pt x="2641485" y="2131648"/>
                  <a:pt x="2624820" y="2124361"/>
                  <a:pt x="2607292" y="2122099"/>
                </a:cubicBezTo>
                <a:cubicBezTo>
                  <a:pt x="2565293" y="2116680"/>
                  <a:pt x="2522945" y="2114431"/>
                  <a:pt x="2480771" y="2110597"/>
                </a:cubicBezTo>
                <a:cubicBezTo>
                  <a:pt x="2316980" y="2080816"/>
                  <a:pt x="2556522" y="2121408"/>
                  <a:pt x="2285239" y="2093344"/>
                </a:cubicBezTo>
                <a:cubicBezTo>
                  <a:pt x="2273179" y="2092096"/>
                  <a:pt x="2262844" y="2082403"/>
                  <a:pt x="2250733" y="2081842"/>
                </a:cubicBezTo>
                <a:cubicBezTo>
                  <a:pt x="2055326" y="2072795"/>
                  <a:pt x="1664137" y="2064589"/>
                  <a:pt x="1664137" y="2064589"/>
                </a:cubicBezTo>
                <a:cubicBezTo>
                  <a:pt x="1633465" y="2058838"/>
                  <a:pt x="1603109" y="2051025"/>
                  <a:pt x="1572122" y="2047336"/>
                </a:cubicBezTo>
                <a:cubicBezTo>
                  <a:pt x="1441997" y="2031845"/>
                  <a:pt x="1309557" y="2032780"/>
                  <a:pt x="1181058" y="2007080"/>
                </a:cubicBezTo>
                <a:cubicBezTo>
                  <a:pt x="1133328" y="1997534"/>
                  <a:pt x="1071316" y="1984679"/>
                  <a:pt x="1025782" y="1978325"/>
                </a:cubicBezTo>
                <a:cubicBezTo>
                  <a:pt x="883611" y="1958487"/>
                  <a:pt x="905076" y="1967275"/>
                  <a:pt x="789994" y="1949570"/>
                </a:cubicBezTo>
                <a:cubicBezTo>
                  <a:pt x="768811" y="1946311"/>
                  <a:pt x="747750" y="1942271"/>
                  <a:pt x="726733" y="1938068"/>
                </a:cubicBezTo>
                <a:cubicBezTo>
                  <a:pt x="680980" y="1928917"/>
                  <a:pt x="720837" y="1930548"/>
                  <a:pt x="646220" y="1920816"/>
                </a:cubicBezTo>
                <a:cubicBezTo>
                  <a:pt x="621436" y="1917583"/>
                  <a:pt x="596379" y="1916982"/>
                  <a:pt x="571458" y="1915065"/>
                </a:cubicBezTo>
                <a:cubicBezTo>
                  <a:pt x="564087" y="1913222"/>
                  <a:pt x="539451" y="1907688"/>
                  <a:pt x="531201" y="1903563"/>
                </a:cubicBezTo>
                <a:cubicBezTo>
                  <a:pt x="521203" y="1898564"/>
                  <a:pt x="512444" y="1891309"/>
                  <a:pt x="502446" y="1886310"/>
                </a:cubicBezTo>
                <a:cubicBezTo>
                  <a:pt x="481729" y="1875951"/>
                  <a:pt x="460476" y="1866679"/>
                  <a:pt x="439186" y="1857555"/>
                </a:cubicBezTo>
                <a:cubicBezTo>
                  <a:pt x="400167" y="1840832"/>
                  <a:pt x="447713" y="1868636"/>
                  <a:pt x="393178" y="1834551"/>
                </a:cubicBezTo>
                <a:cubicBezTo>
                  <a:pt x="387317" y="1830888"/>
                  <a:pt x="380424" y="1828297"/>
                  <a:pt x="375926" y="1823049"/>
                </a:cubicBezTo>
                <a:cubicBezTo>
                  <a:pt x="357213" y="1801217"/>
                  <a:pt x="342500" y="1776190"/>
                  <a:pt x="324167" y="1754038"/>
                </a:cubicBezTo>
                <a:cubicBezTo>
                  <a:pt x="296458" y="1720556"/>
                  <a:pt x="267876" y="1687744"/>
                  <a:pt x="237903" y="1656272"/>
                </a:cubicBezTo>
                <a:cubicBezTo>
                  <a:pt x="217877" y="1635245"/>
                  <a:pt x="207836" y="1637271"/>
                  <a:pt x="191895" y="1616016"/>
                </a:cubicBezTo>
                <a:cubicBezTo>
                  <a:pt x="185188" y="1607074"/>
                  <a:pt x="180843" y="1596562"/>
                  <a:pt x="174643" y="1587261"/>
                </a:cubicBezTo>
                <a:cubicBezTo>
                  <a:pt x="169326" y="1579286"/>
                  <a:pt x="162918" y="1572088"/>
                  <a:pt x="157390" y="1564257"/>
                </a:cubicBezTo>
                <a:cubicBezTo>
                  <a:pt x="138775" y="1537886"/>
                  <a:pt x="106656" y="1494251"/>
                  <a:pt x="88378" y="1460740"/>
                </a:cubicBezTo>
                <a:cubicBezTo>
                  <a:pt x="82220" y="1449451"/>
                  <a:pt x="77284" y="1437523"/>
                  <a:pt x="71126" y="1426234"/>
                </a:cubicBezTo>
                <a:cubicBezTo>
                  <a:pt x="65774" y="1416421"/>
                  <a:pt x="59301" y="1407251"/>
                  <a:pt x="53873" y="1397480"/>
                </a:cubicBezTo>
                <a:cubicBezTo>
                  <a:pt x="29548" y="1353697"/>
                  <a:pt x="54972" y="1393378"/>
                  <a:pt x="30869" y="1357223"/>
                </a:cubicBezTo>
                <a:cubicBezTo>
                  <a:pt x="-8636" y="1159698"/>
                  <a:pt x="-5343" y="1218749"/>
                  <a:pt x="13616" y="920151"/>
                </a:cubicBezTo>
                <a:cubicBezTo>
                  <a:pt x="14103" y="912476"/>
                  <a:pt x="43570" y="853842"/>
                  <a:pt x="48122" y="845389"/>
                </a:cubicBezTo>
                <a:cubicBezTo>
                  <a:pt x="55449" y="831781"/>
                  <a:pt x="62036" y="817632"/>
                  <a:pt x="71126" y="805133"/>
                </a:cubicBezTo>
                <a:cubicBezTo>
                  <a:pt x="77504" y="796363"/>
                  <a:pt x="87072" y="790362"/>
                  <a:pt x="94129" y="782129"/>
                </a:cubicBezTo>
                <a:cubicBezTo>
                  <a:pt x="98627" y="776881"/>
                  <a:pt x="100744" y="769763"/>
                  <a:pt x="105631" y="764876"/>
                </a:cubicBezTo>
                <a:cubicBezTo>
                  <a:pt x="135360" y="735147"/>
                  <a:pt x="166396" y="706737"/>
                  <a:pt x="197646" y="678612"/>
                </a:cubicBezTo>
                <a:cubicBezTo>
                  <a:pt x="204770" y="672200"/>
                  <a:pt x="213872" y="668137"/>
                  <a:pt x="220650" y="661359"/>
                </a:cubicBezTo>
                <a:cubicBezTo>
                  <a:pt x="227428" y="654581"/>
                  <a:pt x="237903" y="638355"/>
                  <a:pt x="237903" y="638355"/>
                </a:cubicBezTo>
              </a:path>
            </a:pathLst>
          </a:custGeom>
          <a:noFill/>
          <a:ln w="38100"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D482E0-57C6-4B8A-A2C1-6DB7FF9C5DE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963251" y="5181600"/>
            <a:ext cx="1112131" cy="685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994662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EC401B5-741B-4D83-B248-78F90A9CC4F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Load</a:t>
            </a:r>
            <a:r>
              <a:rPr lang="en-US" altLang="en-US"/>
              <a:t>/</a:t>
            </a:r>
            <a:r>
              <a:rPr lang="en-US" altLang="en-US">
                <a:solidFill>
                  <a:schemeClr val="accent1"/>
                </a:solidFill>
              </a:rPr>
              <a:t>Store</a:t>
            </a:r>
            <a:r>
              <a:rPr lang="en-US" altLang="en-US"/>
              <a:t> Instructions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A3B713A-DC21-4819-A97D-1E5FC01FD4F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5800" y="1600200"/>
            <a:ext cx="7772400" cy="1752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lw</a:t>
            </a:r>
            <a:r>
              <a:rPr lang="en-US" altLang="en-US" sz="2800" dirty="0"/>
              <a:t> $1, </a:t>
            </a:r>
            <a:r>
              <a:rPr lang="en-US" altLang="en-US" sz="2800" dirty="0" err="1"/>
              <a:t>immed</a:t>
            </a:r>
            <a:r>
              <a:rPr lang="en-US" altLang="en-US" sz="2800" dirty="0"/>
              <a:t>($2) # [$1] = M[SE(</a:t>
            </a:r>
            <a:r>
              <a:rPr lang="en-US" altLang="en-US" sz="2800" dirty="0" err="1"/>
              <a:t>immed</a:t>
            </a:r>
            <a:r>
              <a:rPr lang="en-US" altLang="en-US" sz="2800" dirty="0"/>
              <a:t>)+[$2]]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MIPS I-format: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opcode	</a:t>
            </a:r>
            <a:r>
              <a:rPr lang="en-US" altLang="en-US" sz="2400" dirty="0" err="1"/>
              <a:t>rs</a:t>
            </a:r>
            <a:r>
              <a:rPr lang="en-US" altLang="en-US" sz="2400" dirty="0"/>
              <a:t>	rt	</a:t>
            </a:r>
            <a:r>
              <a:rPr lang="en-US" altLang="en-US" sz="2400" dirty="0" err="1"/>
              <a:t>immed</a:t>
            </a:r>
            <a:endParaRPr lang="en-US" altLang="en-US" sz="2400" dirty="0"/>
          </a:p>
        </p:txBody>
      </p:sp>
      <p:pic>
        <p:nvPicPr>
          <p:cNvPr id="18436" name="Picture 5">
            <a:extLst>
              <a:ext uri="{FF2B5EF4-FFF2-40B4-BE49-F238E27FC236}">
                <a16:creationId xmlns:a16="http://schemas.microsoft.com/office/drawing/2014/main" id="{081B8B08-400F-4B7E-9CFB-32819E168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276600"/>
            <a:ext cx="7086600" cy="309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BFBC51-77A5-457B-A9A7-2344816B751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953000" y="3276600"/>
            <a:ext cx="15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95953A-1597-4282-B88F-D6FF44D91D9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963251" y="3276600"/>
            <a:ext cx="1112131" cy="685800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8057496-2D19-4AB3-B424-1AE322DC24B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157932" y="4525992"/>
            <a:ext cx="2081842" cy="580846"/>
          </a:xfrm>
          <a:custGeom>
            <a:avLst/>
            <a:gdLst>
              <a:gd name="connsiteX0" fmla="*/ 0 w 2081842"/>
              <a:gd name="connsiteY0" fmla="*/ 0 h 580846"/>
              <a:gd name="connsiteX1" fmla="*/ 161026 w 2081842"/>
              <a:gd name="connsiteY1" fmla="*/ 5751 h 580846"/>
              <a:gd name="connsiteX2" fmla="*/ 172528 w 2081842"/>
              <a:gd name="connsiteY2" fmla="*/ 28755 h 580846"/>
              <a:gd name="connsiteX3" fmla="*/ 207034 w 2081842"/>
              <a:gd name="connsiteY3" fmla="*/ 51759 h 580846"/>
              <a:gd name="connsiteX4" fmla="*/ 218536 w 2081842"/>
              <a:gd name="connsiteY4" fmla="*/ 74763 h 580846"/>
              <a:gd name="connsiteX5" fmla="*/ 253042 w 2081842"/>
              <a:gd name="connsiteY5" fmla="*/ 109268 h 580846"/>
              <a:gd name="connsiteX6" fmla="*/ 270294 w 2081842"/>
              <a:gd name="connsiteY6" fmla="*/ 166778 h 580846"/>
              <a:gd name="connsiteX7" fmla="*/ 264543 w 2081842"/>
              <a:gd name="connsiteY7" fmla="*/ 253042 h 580846"/>
              <a:gd name="connsiteX8" fmla="*/ 253042 w 2081842"/>
              <a:gd name="connsiteY8" fmla="*/ 287548 h 580846"/>
              <a:gd name="connsiteX9" fmla="*/ 258793 w 2081842"/>
              <a:gd name="connsiteY9" fmla="*/ 523336 h 580846"/>
              <a:gd name="connsiteX10" fmla="*/ 276045 w 2081842"/>
              <a:gd name="connsiteY10" fmla="*/ 534838 h 580846"/>
              <a:gd name="connsiteX11" fmla="*/ 293298 w 2081842"/>
              <a:gd name="connsiteY11" fmla="*/ 540589 h 580846"/>
              <a:gd name="connsiteX12" fmla="*/ 373811 w 2081842"/>
              <a:gd name="connsiteY12" fmla="*/ 557842 h 580846"/>
              <a:gd name="connsiteX13" fmla="*/ 391064 w 2081842"/>
              <a:gd name="connsiteY13" fmla="*/ 563593 h 580846"/>
              <a:gd name="connsiteX14" fmla="*/ 552091 w 2081842"/>
              <a:gd name="connsiteY14" fmla="*/ 569344 h 580846"/>
              <a:gd name="connsiteX15" fmla="*/ 787879 w 2081842"/>
              <a:gd name="connsiteY15" fmla="*/ 580846 h 580846"/>
              <a:gd name="connsiteX16" fmla="*/ 925902 w 2081842"/>
              <a:gd name="connsiteY16" fmla="*/ 563593 h 580846"/>
              <a:gd name="connsiteX17" fmla="*/ 1190445 w 2081842"/>
              <a:gd name="connsiteY17" fmla="*/ 546340 h 580846"/>
              <a:gd name="connsiteX18" fmla="*/ 1616015 w 2081842"/>
              <a:gd name="connsiteY18" fmla="*/ 529087 h 580846"/>
              <a:gd name="connsiteX19" fmla="*/ 1667774 w 2081842"/>
              <a:gd name="connsiteY19" fmla="*/ 523336 h 580846"/>
              <a:gd name="connsiteX20" fmla="*/ 2035834 w 2081842"/>
              <a:gd name="connsiteY20" fmla="*/ 511834 h 580846"/>
              <a:gd name="connsiteX21" fmla="*/ 2081842 w 2081842"/>
              <a:gd name="connsiteY21" fmla="*/ 506083 h 580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081842" h="580846">
                <a:moveTo>
                  <a:pt x="0" y="0"/>
                </a:moveTo>
                <a:lnTo>
                  <a:pt x="161026" y="5751"/>
                </a:lnTo>
                <a:cubicBezTo>
                  <a:pt x="169482" y="7160"/>
                  <a:pt x="166466" y="22693"/>
                  <a:pt x="172528" y="28755"/>
                </a:cubicBezTo>
                <a:cubicBezTo>
                  <a:pt x="182303" y="38530"/>
                  <a:pt x="207034" y="51759"/>
                  <a:pt x="207034" y="51759"/>
                </a:cubicBezTo>
                <a:cubicBezTo>
                  <a:pt x="210868" y="59427"/>
                  <a:pt x="213180" y="68069"/>
                  <a:pt x="218536" y="74763"/>
                </a:cubicBezTo>
                <a:cubicBezTo>
                  <a:pt x="228697" y="87465"/>
                  <a:pt x="253042" y="109268"/>
                  <a:pt x="253042" y="109268"/>
                </a:cubicBezTo>
                <a:cubicBezTo>
                  <a:pt x="267042" y="151272"/>
                  <a:pt x="261602" y="132012"/>
                  <a:pt x="270294" y="166778"/>
                </a:cubicBezTo>
                <a:cubicBezTo>
                  <a:pt x="268377" y="195533"/>
                  <a:pt x="268618" y="224513"/>
                  <a:pt x="264543" y="253042"/>
                </a:cubicBezTo>
                <a:cubicBezTo>
                  <a:pt x="262828" y="265044"/>
                  <a:pt x="253042" y="287548"/>
                  <a:pt x="253042" y="287548"/>
                </a:cubicBezTo>
                <a:cubicBezTo>
                  <a:pt x="240434" y="394715"/>
                  <a:pt x="231378" y="404536"/>
                  <a:pt x="258793" y="523336"/>
                </a:cubicBezTo>
                <a:cubicBezTo>
                  <a:pt x="260347" y="530071"/>
                  <a:pt x="269863" y="531747"/>
                  <a:pt x="276045" y="534838"/>
                </a:cubicBezTo>
                <a:cubicBezTo>
                  <a:pt x="281467" y="537549"/>
                  <a:pt x="287469" y="538924"/>
                  <a:pt x="293298" y="540589"/>
                </a:cubicBezTo>
                <a:cubicBezTo>
                  <a:pt x="322762" y="549007"/>
                  <a:pt x="339482" y="549920"/>
                  <a:pt x="373811" y="557842"/>
                </a:cubicBezTo>
                <a:cubicBezTo>
                  <a:pt x="379718" y="559205"/>
                  <a:pt x="385014" y="563203"/>
                  <a:pt x="391064" y="563593"/>
                </a:cubicBezTo>
                <a:cubicBezTo>
                  <a:pt x="444662" y="567051"/>
                  <a:pt x="498432" y="567011"/>
                  <a:pt x="552091" y="569344"/>
                </a:cubicBezTo>
                <a:lnTo>
                  <a:pt x="787879" y="580846"/>
                </a:lnTo>
                <a:cubicBezTo>
                  <a:pt x="833887" y="575095"/>
                  <a:pt x="879766" y="568207"/>
                  <a:pt x="925902" y="563593"/>
                </a:cubicBezTo>
                <a:cubicBezTo>
                  <a:pt x="1027025" y="553481"/>
                  <a:pt x="1092060" y="551259"/>
                  <a:pt x="1190445" y="546340"/>
                </a:cubicBezTo>
                <a:cubicBezTo>
                  <a:pt x="1394326" y="517214"/>
                  <a:pt x="1203591" y="541041"/>
                  <a:pt x="1616015" y="529087"/>
                </a:cubicBezTo>
                <a:cubicBezTo>
                  <a:pt x="1633367" y="528584"/>
                  <a:pt x="1650429" y="524049"/>
                  <a:pt x="1667774" y="523336"/>
                </a:cubicBezTo>
                <a:lnTo>
                  <a:pt x="2035834" y="511834"/>
                </a:lnTo>
                <a:cubicBezTo>
                  <a:pt x="2062180" y="503052"/>
                  <a:pt x="2047025" y="506083"/>
                  <a:pt x="2081842" y="506083"/>
                </a:cubicBezTo>
              </a:path>
            </a:pathLst>
          </a:custGeom>
          <a:noFill/>
          <a:ln w="38100">
            <a:solidFill>
              <a:srgbClr val="0070C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588984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D79ADE1-0A88-4E4C-80B4-F32B50FDB0B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Branch Instructions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236C136-2F34-4A26-9181-DFE0A6339C3D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eaLnBrk="1" hangingPunct="1"/>
            <a:r>
              <a:rPr lang="en-US" altLang="en-US" sz="2800" dirty="0" err="1"/>
              <a:t>beq</a:t>
            </a:r>
            <a:r>
              <a:rPr lang="en-US" altLang="en-US" sz="2800" dirty="0"/>
              <a:t> $1, $2, </a:t>
            </a:r>
            <a:r>
              <a:rPr lang="en-US" altLang="en-US" sz="2800" dirty="0" err="1"/>
              <a:t>addr</a:t>
            </a:r>
            <a:r>
              <a:rPr lang="en-US" altLang="en-US" sz="2800" dirty="0"/>
              <a:t> </a:t>
            </a:r>
            <a:r>
              <a:rPr lang="en-US" altLang="en-US" sz="2400" dirty="0"/>
              <a:t># if ($1==$2) [PC] = [PC] + 4 + </a:t>
            </a:r>
            <a:r>
              <a:rPr lang="en-US" altLang="en-US" sz="2400" dirty="0" err="1"/>
              <a:t>addr</a:t>
            </a:r>
            <a:r>
              <a:rPr lang="en-US" altLang="en-US" sz="2400" dirty="0"/>
              <a:t>&lt;&lt;2</a:t>
            </a:r>
          </a:p>
          <a:p>
            <a:pPr eaLnBrk="1" hangingPunct="1"/>
            <a:r>
              <a:rPr lang="en-US" altLang="en-US" sz="2800" dirty="0"/>
              <a:t>Implementation:</a:t>
            </a:r>
          </a:p>
          <a:p>
            <a:pPr lvl="1" eaLnBrk="1" hangingPunct="1">
              <a:buFontTx/>
              <a:buNone/>
            </a:pPr>
            <a:r>
              <a:rPr lang="en-US" altLang="en-US" sz="2400" dirty="0"/>
              <a:t>next = [PC] + 4</a:t>
            </a:r>
          </a:p>
          <a:p>
            <a:pPr lvl="1" eaLnBrk="1" hangingPunct="1">
              <a:buFontTx/>
              <a:buNone/>
            </a:pPr>
            <a:r>
              <a:rPr lang="en-US" altLang="en-US" sz="2400" dirty="0"/>
              <a:t>target = next + SE(</a:t>
            </a:r>
            <a:r>
              <a:rPr lang="en-US" altLang="en-US" sz="2400" dirty="0" err="1"/>
              <a:t>addr</a:t>
            </a:r>
            <a:r>
              <a:rPr lang="en-US" altLang="en-US" sz="2400" dirty="0"/>
              <a:t> &lt;&lt; 2) </a:t>
            </a:r>
          </a:p>
          <a:p>
            <a:pPr lvl="1" eaLnBrk="1" hangingPunct="1">
              <a:buFontTx/>
              <a:buNone/>
            </a:pPr>
            <a:r>
              <a:rPr lang="en-US" altLang="en-US" sz="2400" dirty="0"/>
              <a:t>if (([$1] – [$2]) == 0)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000" dirty="0"/>
              <a:t>[PC] = target	// branch taken</a:t>
            </a:r>
          </a:p>
          <a:p>
            <a:pPr lvl="1" eaLnBrk="1" hangingPunct="1">
              <a:buFontTx/>
              <a:buNone/>
            </a:pPr>
            <a:r>
              <a:rPr lang="en-US" altLang="en-US" sz="2400" dirty="0"/>
              <a:t>else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000" dirty="0"/>
              <a:t>[PC] = next	// branch not taken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05C3A54-FEA8-4F42-9357-87CFEA7BFCE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Branch Instructions</a:t>
            </a:r>
          </a:p>
        </p:txBody>
      </p:sp>
      <p:pic>
        <p:nvPicPr>
          <p:cNvPr id="20483" name="Picture 4">
            <a:extLst>
              <a:ext uri="{FF2B5EF4-FFF2-40B4-BE49-F238E27FC236}">
                <a16:creationId xmlns:a16="http://schemas.microsoft.com/office/drawing/2014/main" id="{06FC5B84-D4F2-4A87-BB68-2DD441A22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76400"/>
            <a:ext cx="6324600" cy="465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F4C24E-57CD-4E5F-91B1-24C634A00E9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562600" y="3276600"/>
            <a:ext cx="15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7DD7D2-5D99-426C-A147-062F2ACC5ED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105400" y="1530470"/>
            <a:ext cx="1257300" cy="1714500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C0118D-AA38-422A-B6D6-268AA05E056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954438" y="3124200"/>
            <a:ext cx="2590800" cy="1974730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1029" descr="rfdff">
            <a:extLst>
              <a:ext uri="{FF2B5EF4-FFF2-40B4-BE49-F238E27FC236}">
                <a16:creationId xmlns:a16="http://schemas.microsoft.com/office/drawing/2014/main" id="{341218F8-06DF-49B2-86DD-EA311392E7F1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8" b="6285"/>
          <a:stretch/>
        </p:blipFill>
        <p:spPr bwMode="auto">
          <a:xfrm>
            <a:off x="1828800" y="971940"/>
            <a:ext cx="6934200" cy="5410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ctangle 1026">
            <a:extLst>
              <a:ext uri="{FF2B5EF4-FFF2-40B4-BE49-F238E27FC236}">
                <a16:creationId xmlns:a16="http://schemas.microsoft.com/office/drawing/2014/main" id="{759A5608-A510-43CE-B30F-74A8520CD16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Register File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FFDFE2-CAC9-489C-96C9-4F0166B7A8B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391400" y="1200541"/>
            <a:ext cx="9144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F77EB-5B01-41DA-B9E4-C4D6F1F97E8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450734" y="1124341"/>
            <a:ext cx="397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err="1">
                <a:latin typeface="+mn-lt"/>
              </a:rPr>
              <a:t>en</a:t>
            </a:r>
            <a:endParaRPr lang="en-US" sz="1600" b="1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D7909A-7F3E-4766-A2D8-59EBFC40828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887596" y="1124341"/>
            <a:ext cx="314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EB922B-5542-46DD-9644-E83773CAFF0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696200" y="1598418"/>
            <a:ext cx="325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Q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EDA548-61F4-4A65-AEFC-5BC5B5716FB2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167400" y="2766987"/>
            <a:ext cx="132279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write register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C5B14-EAC9-4145-BC43-D93147447CF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066800" y="3923272"/>
            <a:ext cx="141275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read register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2DB41A-5813-4E0B-B699-D7FF3EF7758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066799" y="5052987"/>
            <a:ext cx="141275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read register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654159-116A-4B4F-8D24-0A02D06C361B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867400" y="2311601"/>
            <a:ext cx="14478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write data</a:t>
            </a:r>
          </a:p>
          <a:p>
            <a:pPr algn="ctr"/>
            <a:r>
              <a:rPr lang="en-US" sz="1600" b="1" dirty="0" err="1">
                <a:latin typeface="+mn-lt"/>
              </a:rPr>
              <a:t>bitline</a:t>
            </a:r>
            <a:endParaRPr lang="en-US" sz="1600" b="1" dirty="0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48CC14-4051-4A7E-8FBA-7F0DC740C0F9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365220" y="6175778"/>
            <a:ext cx="114666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read data 1</a:t>
            </a:r>
          </a:p>
          <a:p>
            <a:pPr algn="ctr"/>
            <a:r>
              <a:rPr lang="en-US" sz="1600" b="1" dirty="0" err="1">
                <a:latin typeface="+mn-lt"/>
              </a:rPr>
              <a:t>bitline</a:t>
            </a:r>
            <a:endParaRPr lang="en-US" sz="1600" b="1" dirty="0"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2E233B-9669-4A2B-A678-A1276F310E5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492205" y="6172200"/>
            <a:ext cx="114666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read data 2</a:t>
            </a:r>
          </a:p>
          <a:p>
            <a:pPr algn="ctr"/>
            <a:r>
              <a:rPr lang="en-US" sz="1600" b="1" dirty="0" err="1">
                <a:latin typeface="+mn-lt"/>
              </a:rPr>
              <a:t>bitline</a:t>
            </a:r>
            <a:endParaRPr lang="en-US" sz="1600" b="1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44E87-EC3B-447E-AB77-E55C5147FF60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2895601" y="2559238"/>
            <a:ext cx="838200" cy="10797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400" b="1" dirty="0">
                <a:latin typeface="+mn-lt"/>
              </a:rPr>
              <a:t>one-hot</a:t>
            </a:r>
          </a:p>
          <a:p>
            <a:pPr algn="ctr"/>
            <a:r>
              <a:rPr lang="en-US" sz="1400" b="1" dirty="0">
                <a:latin typeface="+mn-lt"/>
              </a:rPr>
              <a:t>decoder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E66D9F-4BB4-4C37-BD53-781FA0AA899D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2895601" y="3721974"/>
            <a:ext cx="838200" cy="10797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400" b="1" dirty="0">
                <a:latin typeface="+mn-lt"/>
              </a:rPr>
              <a:t>one-hot</a:t>
            </a:r>
          </a:p>
          <a:p>
            <a:pPr algn="ctr"/>
            <a:r>
              <a:rPr lang="en-US" sz="1400" b="1" dirty="0">
                <a:latin typeface="+mn-lt"/>
              </a:rPr>
              <a:t>decoder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36B1FE-013A-459E-A989-936EB65935EF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2895601" y="4885867"/>
            <a:ext cx="838200" cy="10797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400" b="1" dirty="0">
                <a:latin typeface="+mn-lt"/>
              </a:rPr>
              <a:t>one-hot</a:t>
            </a:r>
          </a:p>
          <a:p>
            <a:pPr algn="ctr"/>
            <a:r>
              <a:rPr lang="en-US" sz="1400" b="1" dirty="0">
                <a:latin typeface="+mn-lt"/>
              </a:rPr>
              <a:t>decoder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8A0F3F-04B0-4899-892C-99C4C4E6AA82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4572000" y="4214787"/>
            <a:ext cx="50366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DFF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A774F7-6D3C-408D-BE35-24734B9859EA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248400" y="4214787"/>
            <a:ext cx="50366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DFF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B17EA8-76D6-4BEA-B0FF-494BF58C1473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7908985" y="4214787"/>
            <a:ext cx="50366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DFF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C2067F47-EE61-4114-8331-DAC533BF22AF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0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2 read ports, 1 write port</a:t>
            </a:r>
            <a:endParaRPr lang="en-US" alt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667071-4D45-4EF4-988E-3C5F6FBBD2E2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7027362" y="2160979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r1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D4DD9A-C200-4110-9B19-7D2288277D20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7027362" y="2462187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r2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CC73B1-42A6-4E40-A030-5A590752D130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4636144" y="3807581"/>
            <a:ext cx="39305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31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EFF0BE-4FB6-4AB4-A629-0511AD3E43D9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8548387" y="4214787"/>
            <a:ext cx="39305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B1A60D-1664-4B26-A40D-05DA02D6F215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8042121" y="3798994"/>
            <a:ext cx="28886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8B24EF-CCC2-465F-AB29-C36A797EDD90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8618569" y="5547506"/>
            <a:ext cx="28886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n-lt"/>
              </a:rPr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72BECC-B425-47F5-9BC0-935F3EB552C8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2333998" y="3167390"/>
            <a:ext cx="25680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+mn-lt"/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A5B61B-D766-471F-966B-85432A15DCF1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2333998" y="4310390"/>
            <a:ext cx="25680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+mn-lt"/>
              </a:rPr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74C6E0-943D-4D15-B28A-9D4EF83DB64F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2333998" y="5453390"/>
            <a:ext cx="25680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+mn-lt"/>
              </a:rPr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8E1B58-F4C6-480E-8280-E1346524C3FB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657600" y="4004846"/>
            <a:ext cx="940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err="1">
                <a:latin typeface="+mn-lt"/>
              </a:rPr>
              <a:t>wordline</a:t>
            </a:r>
            <a:endParaRPr lang="en-US" sz="1600" b="1" dirty="0">
              <a:latin typeface="+mn-l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696E2AD-421F-43B0-8163-12E86CF4E55E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4177735" y="3615313"/>
            <a:ext cx="4564305" cy="1261487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9DEE1BC-4C27-4B7A-9E7C-4162C84C973C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6896100" y="1600199"/>
            <a:ext cx="1790700" cy="1495779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2339BD5-78A7-4589-9F4C-61B4F5A6ACA4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5094651" y="6096000"/>
            <a:ext cx="2819675" cy="741564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D2787C0-0C7C-4B3C-93A4-157EA5A62B1B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609600" y="3545079"/>
            <a:ext cx="4267199" cy="2474721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DD029C7-F4C7-4DBB-A610-66D37B070234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6934200" y="2133600"/>
            <a:ext cx="516534" cy="734418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4C3200B-337E-48D1-BC69-9BCA85A6CD76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7851291" y="1107510"/>
            <a:ext cx="381275" cy="386328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1A4D5E5-F4BD-4437-B7AF-AA5A13FF3158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6019800" y="2209800"/>
            <a:ext cx="1143000" cy="822498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321EF10-3313-4CE4-9E41-F3452CC16529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1084053" y="2399959"/>
            <a:ext cx="3640348" cy="1410041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85DB9D5-12DE-4FDF-9922-519271CD4534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7445169" y="1107510"/>
            <a:ext cx="381276" cy="392905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51228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BE53BC4-C7B8-4D7A-894E-06670A22FA9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All Together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03F65F6-0E56-40D8-8D5D-3601FF864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400"/>
            <a:ext cx="8734425" cy="455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6BED876-99C9-498C-8082-C970E30F264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715000" y="3505200"/>
            <a:ext cx="15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77863DD-FD2D-470B-B2A5-B3E618A6ADA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876800" y="4114800"/>
            <a:ext cx="609600" cy="1066800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3DF595-D4C6-4345-8E6D-226578322FC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229600" y="4267200"/>
            <a:ext cx="533400" cy="990600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34A613-F93F-48E8-A047-481476342A8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705600" y="1417638"/>
            <a:ext cx="990600" cy="1706562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D7BB1B6-94A5-467F-8CC5-3D279D92CAA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F0A9947-3AD8-45BA-A917-193A103957F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371600"/>
            <a:ext cx="8534400" cy="1219199"/>
          </a:xfrm>
        </p:spPr>
        <p:txBody>
          <a:bodyPr/>
          <a:lstStyle/>
          <a:p>
            <a:pPr eaLnBrk="1" hangingPunct="1"/>
            <a:r>
              <a:rPr lang="en-US" altLang="en-US" dirty="0"/>
              <a:t>If </a:t>
            </a:r>
            <a:r>
              <a:rPr lang="en-US" altLang="en-US" dirty="0" err="1"/>
              <a:t>ALUSrc</a:t>
            </a:r>
            <a:r>
              <a:rPr lang="en-US" altLang="en-US" dirty="0"/>
              <a:t> stuck at 1, add $t0, $t1, $t2 correct?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879482-6CCF-455F-93C1-2EA629615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2514600"/>
            <a:ext cx="8048625" cy="4198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EB4C45-C611-4AF5-A562-162B9E4707D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648200" y="48768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0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561119-0AE2-4010-AFB0-1B9CE848C84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48200" y="5407223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650938-FC70-4AA4-A186-110B971CB1A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562600" y="4191000"/>
            <a:ext cx="15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109722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D7BB1B6-94A5-467F-8CC5-3D279D92CAA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F0A9947-3AD8-45BA-A917-193A103957F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371600"/>
            <a:ext cx="8534400" cy="1219199"/>
          </a:xfrm>
        </p:spPr>
        <p:txBody>
          <a:bodyPr/>
          <a:lstStyle/>
          <a:p>
            <a:pPr eaLnBrk="1" hangingPunct="1"/>
            <a:r>
              <a:rPr lang="en-US" altLang="en-US" dirty="0"/>
              <a:t>If </a:t>
            </a:r>
            <a:r>
              <a:rPr lang="en-US" altLang="en-US" dirty="0" err="1"/>
              <a:t>ALUSrc</a:t>
            </a:r>
            <a:r>
              <a:rPr lang="en-US" altLang="en-US" dirty="0"/>
              <a:t> stuck at 1, add $t0, $t1, $t2 correct?</a:t>
            </a:r>
          </a:p>
          <a:p>
            <a:pPr lvl="1" eaLnBrk="1" hangingPunct="1"/>
            <a:r>
              <a:rPr lang="en-US" altLang="en-US" b="1" dirty="0"/>
              <a:t>No, would compute: [$t0] = [$t1] + 0x4020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7E4715-B281-41E0-BE99-3D9348F97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2514600"/>
            <a:ext cx="8048625" cy="4198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2F5F76-0E82-4F30-8708-3F99A7EE474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648200" y="48768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0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66A11-491E-43DF-8F36-6421CCEC6E8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48200" y="5407223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5CBAA1-C66A-44C0-9D58-658382B114E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562600" y="4191000"/>
            <a:ext cx="15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414674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D7BB1B6-94A5-467F-8CC5-3D279D92CAA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F0A9947-3AD8-45BA-A917-193A103957F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371600"/>
            <a:ext cx="8534400" cy="1219199"/>
          </a:xfrm>
        </p:spPr>
        <p:txBody>
          <a:bodyPr/>
          <a:lstStyle/>
          <a:p>
            <a:pPr eaLnBrk="1" hangingPunct="1"/>
            <a:r>
              <a:rPr lang="en-US" altLang="en-US" dirty="0"/>
              <a:t>If </a:t>
            </a:r>
            <a:r>
              <a:rPr lang="en-US" altLang="en-US" dirty="0" err="1"/>
              <a:t>ALUSrc</a:t>
            </a:r>
            <a:r>
              <a:rPr lang="en-US" altLang="en-US" dirty="0"/>
              <a:t> stuck at 1, </a:t>
            </a:r>
            <a:r>
              <a:rPr lang="en-US" altLang="en-US" dirty="0" err="1"/>
              <a:t>sw</a:t>
            </a:r>
            <a:r>
              <a:rPr lang="en-US" altLang="en-US" dirty="0"/>
              <a:t> $t0, 8($t1) correct?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30C432-F95C-4EB0-BC85-36338D316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2514600"/>
            <a:ext cx="8048625" cy="4198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4DDCF7-48CF-4D4C-9FF0-7D6D264F133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648200" y="48768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0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CAFB9-260D-4004-B76C-84058C0D72C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48200" y="5407223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37D10D-63DE-46A9-9DF4-346D3B22886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562600" y="4191000"/>
            <a:ext cx="15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8666553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D7BB1B6-94A5-467F-8CC5-3D279D92CAA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F0A9947-3AD8-45BA-A917-193A103957F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371600"/>
            <a:ext cx="8534400" cy="1219199"/>
          </a:xfrm>
        </p:spPr>
        <p:txBody>
          <a:bodyPr/>
          <a:lstStyle/>
          <a:p>
            <a:pPr eaLnBrk="1" hangingPunct="1"/>
            <a:r>
              <a:rPr lang="en-US" altLang="en-US" dirty="0"/>
              <a:t>If </a:t>
            </a:r>
            <a:r>
              <a:rPr lang="en-US" altLang="en-US" dirty="0" err="1"/>
              <a:t>ALUSrc</a:t>
            </a:r>
            <a:r>
              <a:rPr lang="en-US" altLang="en-US" dirty="0"/>
              <a:t> stuck at 1, </a:t>
            </a:r>
            <a:r>
              <a:rPr lang="en-US" altLang="en-US" dirty="0" err="1"/>
              <a:t>sw</a:t>
            </a:r>
            <a:r>
              <a:rPr lang="en-US" altLang="en-US" dirty="0"/>
              <a:t> $t0, 8($t1) correct?</a:t>
            </a:r>
          </a:p>
          <a:p>
            <a:pPr lvl="1" eaLnBrk="1" hangingPunct="1"/>
            <a:r>
              <a:rPr lang="en-US" altLang="en-US" b="1" dirty="0"/>
              <a:t>Yes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387815-E7A0-4A15-A6A9-2AD4D4E1E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2514600"/>
            <a:ext cx="8048625" cy="4198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9FA8F8-A497-41C6-8E44-03A794288D1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648200" y="48768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0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26B8A-02FB-4320-A72F-2AF012A17DE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48200" y="5407223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0BDA1-7074-4EA5-A1A6-B6E50176A5A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562600" y="4191000"/>
            <a:ext cx="15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198896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UIDATA" val="&lt;database version=&quot;11.0&quot;&gt;&lt;object type=&quot;1&quot; unique_id=&quot;10001&quot;&gt;&lt;property id=&quot;20141&quot; value=&quot;ECE/CS 552 - Single-Cycle Data Path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f2019-SingleCycleDataPath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002&quot;&gt;&lt;/object&gt;&lt;object type=&quot;2&quot; unique_id=&quot;10003&quot;&gt;&lt;object type=&quot;3&quot; unique_id=&quot;10016&quot;&gt;&lt;property id=&quot;20148&quot; value=&quot;5&quot;/&gt;&lt;property id=&quot;20300&quot; value=&quot;Slide 9 - &amp;quot;Fetch Instructions&amp;quot;&quot;/&gt;&lt;property id=&quot;20307&quot; value=&quot;307&quot;/&gt;&lt;property id=&quot;20309&quot; value=&quot;-1&quot;/&gt;&lt;/object&gt;&lt;object type=&quot;3&quot; unique_id=&quot;10017&quot;&gt;&lt;property id=&quot;20148&quot; value=&quot;5&quot;/&gt;&lt;property id=&quot;20300&quot; value=&quot;Slide 10 - &amp;quot;ALU Instructions&amp;quot;&quot;/&gt;&lt;property id=&quot;20307&quot; value=&quot;308&quot;/&gt;&lt;property id=&quot;20309&quot; value=&quot;-1&quot;/&gt;&lt;/object&gt;&lt;object type=&quot;3&quot; unique_id=&quot;10019&quot;&gt;&lt;property id=&quot;20148&quot; value=&quot;5&quot;/&gt;&lt;property id=&quot;20300&quot; value=&quot;Slide 15 - &amp;quot;Branch Instructions&amp;quot;&quot;/&gt;&lt;property id=&quot;20307&quot; value=&quot;310&quot;/&gt;&lt;property id=&quot;20309&quot; value=&quot;-1&quot;/&gt;&lt;/object&gt;&lt;object type=&quot;3&quot; unique_id=&quot;10020&quot;&gt;&lt;property id=&quot;20148&quot; value=&quot;5&quot;/&gt;&lt;property id=&quot;20300&quot; value=&quot;Slide 16 - &amp;quot;Branch Instructions&amp;quot;&quot;/&gt;&lt;property id=&quot;20307&quot; value=&quot;311&quot;/&gt;&lt;property id=&quot;20309&quot; value=&quot;-1&quot;/&gt;&lt;/object&gt;&lt;object type=&quot;3&quot; unique_id=&quot;10021&quot;&gt;&lt;property id=&quot;20148&quot; value=&quot;5&quot;/&gt;&lt;property id=&quot;20300&quot; value=&quot;Slide 18 - &amp;quot;All Together&amp;quot;&quot;/&gt;&lt;property id=&quot;20307&quot; value=&quot;312&quot;/&gt;&lt;property id=&quot;20309&quot; value=&quot;-1&quot;/&gt;&lt;/object&gt;&lt;object type=&quot;3&quot; unique_id=&quot;12008&quot;&gt;&lt;property id=&quot;20148&quot; value=&quot;5&quot;/&gt;&lt;property id=&quot;20300&quot; value=&quot;Slide 1 - &amp;quot;ECE/CS 552: Single-Cycle Data Path&amp;quot;&quot;/&gt;&lt;property id=&quot;20307&quot; value=&quot;363&quot;/&gt;&lt;property id=&quot;20309&quot; value=&quot;-1&quot;/&gt;&lt;/object&gt;&lt;object type=&quot;3&quot; unique_id=&quot;12198&quot;&gt;&lt;property id=&quot;20148&quot; value=&quot;5&quot;/&gt;&lt;property id=&quot;20300&quot; value=&quot;Slide 19 - &amp;quot;Exercise&amp;quot;&quot;/&gt;&lt;property id=&quot;20307&quot; value=&quot;364&quot;/&gt;&lt;property id=&quot;20309&quot; value=&quot;-1&quot;/&gt;&lt;/object&gt;&lt;object type=&quot;3&quot; unique_id=&quot;16038&quot;&gt;&lt;property id=&quot;20148&quot; value=&quot;5&quot;/&gt;&lt;property id=&quot;20300&quot; value=&quot;Slide 20 - &amp;quot;Exercise&amp;quot;&quot;/&gt;&lt;property id=&quot;20307&quot; value=&quot;365&quot;/&gt;&lt;property id=&quot;20309&quot; value=&quot;-1&quot;/&gt;&lt;/object&gt;&lt;object type=&quot;3&quot; unique_id=&quot;16039&quot;&gt;&lt;property id=&quot;20148&quot; value=&quot;5&quot;/&gt;&lt;property id=&quot;20300&quot; value=&quot;Slide 21 - &amp;quot;Exercise&amp;quot;&quot;/&gt;&lt;property id=&quot;20307&quot; value=&quot;366&quot;/&gt;&lt;property id=&quot;20309&quot; value=&quot;-1&quot;/&gt;&lt;/object&gt;&lt;object type=&quot;3&quot; unique_id=&quot;16040&quot;&gt;&lt;property id=&quot;20148&quot; value=&quot;5&quot;/&gt;&lt;property id=&quot;20300&quot; value=&quot;Slide 22 - &amp;quot;Exercise&amp;quot;&quot;/&gt;&lt;property id=&quot;20307&quot; value=&quot;367&quot;/&gt;&lt;property id=&quot;20309&quot; value=&quot;-1&quot;/&gt;&lt;/object&gt;&lt;object type=&quot;3&quot; unique_id=&quot;16041&quot;&gt;&lt;property id=&quot;20148&quot; value=&quot;5&quot;/&gt;&lt;property id=&quot;20300&quot; value=&quot;Slide 23 - &amp;quot;Exercise&amp;quot;&quot;/&gt;&lt;property id=&quot;20307&quot; value=&quot;368&quot;/&gt;&lt;property id=&quot;20309&quot; value=&quot;-1&quot;/&gt;&lt;/object&gt;&lt;object type=&quot;3&quot; unique_id=&quot;16042&quot;&gt;&lt;property id=&quot;20148&quot; value=&quot;5&quot;/&gt;&lt;property id=&quot;20300&quot; value=&quot;Slide 24 - &amp;quot;Exercise&amp;quot;&quot;/&gt;&lt;property id=&quot;20307&quot; value=&quot;369&quot;/&gt;&lt;property id=&quot;20309&quot; value=&quot;-1&quot;/&gt;&lt;/object&gt;&lt;object type=&quot;3&quot; unique_id=&quot;16224&quot;&gt;&lt;property id=&quot;20148&quot; value=&quot;5&quot;/&gt;&lt;property id=&quot;20300&quot; value=&quot;Slide 2 - &amp;quot;Forecast&amp;quot;&quot;/&gt;&lt;property id=&quot;20307&quot; value=&quot;375&quot;/&gt;&lt;property id=&quot;20309&quot; value=&quot;-1&quot;/&gt;&lt;/object&gt;&lt;object type=&quot;3&quot; unique_id=&quot;16369&quot;&gt;&lt;property id=&quot;20148&quot; value=&quot;5&quot;/&gt;&lt;property id=&quot;20300&quot; value=&quot;Slide 3 - &amp;quot;Sequential Logic Review&amp;quot;&quot;/&gt;&lt;property id=&quot;20307&quot; value=&quot;376&quot;/&gt;&lt;property id=&quot;20309&quot; value=&quot;-1&quot;/&gt;&lt;/object&gt;&lt;object type=&quot;3&quot; unique_id=&quot;16370&quot;&gt;&lt;property id=&quot;20148&quot; value=&quot;5&quot;/&gt;&lt;property id=&quot;20300&quot; value=&quot;Slide 4 - &amp;quot;Sequential Logic Review&amp;quot;&quot;/&gt;&lt;property id=&quot;20307&quot; value=&quot;377&quot;/&gt;&lt;property id=&quot;20309&quot; value=&quot;-1&quot;/&gt;&lt;/object&gt;&lt;object type=&quot;3&quot; unique_id=&quot;16371&quot;&gt;&lt;property id=&quot;20148&quot; value=&quot;5&quot;/&gt;&lt;property id=&quot;20300&quot; value=&quot;Slide 5 - &amp;quot;Sequential Logic Review&amp;quot;&quot;/&gt;&lt;property id=&quot;20307&quot; value=&quot;378&quot;/&gt;&lt;property id=&quot;20309&quot; value=&quot;-1&quot;/&gt;&lt;/object&gt;&lt;object type=&quot;3&quot; unique_id=&quot;16372&quot;&gt;&lt;property id=&quot;20148&quot; value=&quot;5&quot;/&gt;&lt;property id=&quot;20300&quot; value=&quot;Slide 6 - &amp;quot;Sequential Logic Review&amp;quot;&quot;/&gt;&lt;property id=&quot;20307&quot; value=&quot;379&quot;/&gt;&lt;property id=&quot;20309&quot; value=&quot;-1&quot;/&gt;&lt;/object&gt;&lt;object type=&quot;3&quot; unique_id=&quot;17187&quot;&gt;&lt;property id=&quot;20148&quot; value=&quot;5&quot;/&gt;&lt;property id=&quot;20300&quot; value=&quot;Slide 8 - &amp;quot;Single-Cycle Data Path&amp;quot;&quot;/&gt;&lt;property id=&quot;20307&quot; value=&quot;380&quot;/&gt;&lt;property id=&quot;20309&quot; value=&quot;-1&quot;/&gt;&lt;/object&gt;&lt;object type=&quot;3&quot; unique_id=&quot;17304&quot;&gt;&lt;property id=&quot;20148&quot; value=&quot;5&quot;/&gt;&lt;property id=&quot;20300&quot; value=&quot;Slide 7 - &amp;quot;Clocking Methodology&amp;quot;&quot;/&gt;&lt;property id=&quot;20307&quot; value=&quot;381&quot;/&gt;&lt;property id=&quot;20309&quot; value=&quot;-1&quot;/&gt;&lt;/object&gt;&lt;object type=&quot;3&quot; unique_id=&quot;18324&quot;&gt;&lt;property id=&quot;20148&quot; value=&quot;5&quot;/&gt;&lt;property id=&quot;20300&quot; value=&quot;Slide 17 - &amp;quot;Register File&amp;quot;&quot;/&gt;&lt;property id=&quot;20307&quot; value=&quot;382&quot;/&gt;&lt;property id=&quot;20309&quot; value=&quot;-1&quot;/&gt;&lt;/object&gt;&lt;object type=&quot;3&quot; unique_id=&quot;18463&quot;&gt;&lt;property id=&quot;20148&quot; value=&quot;5&quot;/&gt;&lt;property id=&quot;20300&quot; value=&quot;Slide 11 - &amp;quot;Load/Store Instructions&amp;quot;&quot;/&gt;&lt;property id=&quot;20307&quot; value=&quot;383&quot;/&gt;&lt;property id=&quot;20309&quot; value=&quot;-1&quot;/&gt;&lt;/object&gt;&lt;object type=&quot;3&quot; unique_id=&quot;18800&quot;&gt;&lt;property id=&quot;20148&quot; value=&quot;5&quot;/&gt;&lt;property id=&quot;20300&quot; value=&quot;Slide 14 - &amp;quot;Load/Store Instructions&amp;quot;&quot;/&gt;&lt;property id=&quot;20307&quot; value=&quot;384&quot;/&gt;&lt;property id=&quot;20309&quot; value=&quot;-1&quot;/&gt;&lt;/object&gt;&lt;object type=&quot;3&quot; unique_id=&quot;18942&quot;&gt;&lt;property id=&quot;20148&quot; value=&quot;5&quot;/&gt;&lt;property id=&quot;20300&quot; value=&quot;Slide 13 - &amp;quot;Load/Store Instructions&amp;quot;&quot;/&gt;&lt;property id=&quot;20307&quot; value=&quot;385&quot;/&gt;&lt;property id=&quot;20309&quot; value=&quot;-1&quot;/&gt;&lt;/object&gt;&lt;object type=&quot;3&quot; unique_id=&quot;19030&quot;&gt;&lt;property id=&quot;20148&quot; value=&quot;5&quot;/&gt;&lt;property id=&quot;20300&quot; value=&quot;Slide 12 - &amp;quot;Load/Store Instructions&amp;quot;&quot;/&gt;&lt;property id=&quot;20307&quot; value=&quot;386&quot;/&gt;&lt;property id=&quot;20309&quot; value=&quot;-1&quot;/&gt;&lt;/object&gt;&lt;/object&gt;&lt;object type=&quot;10&quot; unique_id=&quot;16035&quot;&gt;&lt;object type=&quot;11&quot; unique_id=&quot;16036&quot;&gt;&lt;property id=&quot;20180&quot; value=&quot;0&quot;/&gt;&lt;property id=&quot;20181&quot; value=&quot;1&quot;/&gt;&lt;property id=&quot;20183&quot; value=&quot;1&quot;/&gt;&lt;/object&gt;&lt;object type=&quot;12&quot; unique_id=&quot;18380&quot;&gt;&lt;/object&gt;&lt;/object&gt;&lt;object type=&quot;4&quot; unique_id=&quot;16037&quot;&gt;&lt;/object&gt;&lt;/object&gt;&lt;/database&gt;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  <p:tag name="PPSNARRATION" val="1,1777315193,C:\Users\sanmi\GoogleDrive\UWMdrive\Courses\ECE552\ece552-lec06_SingleCycleDataPath_pptx\Media.ppc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16791DCE-F54A-47B8-BCE8-7370F538AFAB}_1.png&quot;/&gt;&lt;left val=&quot;22&quot;/&gt;&lt;top val=&quot;185&quot;/&gt;&lt;width val=&quot;675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34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D6DEFB26-21E0-4694-9968-BFA19DB3FDA4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.PNG&quot;/&gt;"/>
  <p:tag name="PPSNARRATION" val="2,1777315193,C:\Users\sanmi\GoogleDrive\UWMdrive\Courses\ECE552\ece552-lec06_SingleCycleDataPath_pptx\Media.ppcx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3532FF29-A1B2-405C-9ED2-D617AA889385}_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6B36338A-2D43-4C03-B787-2C26AED99F2C}_2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32&quot;/&gt;&lt;lineCharCount val=&quot;13&quot;/&gt;&lt;lineCharCount val=&quot;15&quot;/&gt;&lt;lineCharCount val=&quot;1&quot;/&gt;&lt;lineCharCount val=&quot;10&quot;/&gt;&lt;lineCharCount val=&quot;31&quot;/&gt;&lt;lineCharCount val=&quot;31&quot;/&gt;&lt;lineCharCount val=&quot;45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.PNG&quot;/&gt;"/>
  <p:tag name="PPSNARRATION" val="3,1777315193,C:\Users\sanmi\GoogleDrive\UWMdrive\Courses\ECE552\ece552-lec06_SingleCycleDataPath_pptx\Media.ppcx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36CDC7CF-6835-402A-8791-A00B810F92D6}_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2329C8FF-CA58-4CE9-9519-41B6B9C3C5D3}_3.png&quot;/&gt;&lt;left val=&quot;24&quot;/&gt;&lt;top val=&quot;119&quot;/&gt;&lt;width val=&quot;664&quot;/&gt;&lt;height val=&quot;363&quot;/&gt;&lt;hasText val=&quot;1&quot;/&gt;&lt;/Image&gt;&lt;/ThreeDShapeInfo&gt;"/>
  <p:tag name="PRESENTER_SHAPETEXTINFO" val="&lt;ShapeTextInfo&gt;&lt;TableIndex row=&quot;-1&quot; col=&quot;-1&quot;&gt;&lt;linesCount val=&quot;7&quot;/&gt;&lt;lineCharCount val=&quot;45&quot;/&gt;&lt;lineCharCount val=&quot;23&quot;/&gt;&lt;lineCharCount val=&quot;30&quot;/&gt;&lt;lineCharCount val=&quot;50&quot;/&gt;&lt;lineCharCount val=&quot;13&quot;/&gt;&lt;lineCharCount val=&quot;24&quot;/&gt;&lt;lineCharCount val=&quot;33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.PNG&quot;/&gt;"/>
  <p:tag name="PPSNARRATION" val="4,1777315193,C:\Users\sanmi\GoogleDrive\UWMdrive\Courses\ECE552\ece552-lec06_SingleCycleDataPath_pptx\Media.ppcx"/>
  <p:tag name="TIMING" val="|29.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50801E5C-896E-47EC-993E-BD811D9D7A2D}_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939CF4CB-F9AD-4B60-877A-06A27C62A3E8}_4.png&quot;/&gt;&lt;left val=&quot;42&quot;/&gt;&lt;top val=&quot;376&quot;/&gt;&lt;width val=&quot;623&quot;/&gt;&lt;height val=&quot;132&quot;/&gt;&lt;hasText val=&quot;1&quot;/&gt;&lt;/Image&gt;&lt;/ThreeDShapeInfo&gt;"/>
  <p:tag name="PRESENTER_SHAPETEXTINFO" val="&lt;ShapeTextInfo&gt;&lt;TableIndex row=&quot;-1&quot; col=&quot;-1&quot;&gt;&lt;linesCount val=&quot;3&quot;/&gt;&lt;lineCharCount val=&quot;25&quot;/&gt;&lt;lineCharCount val=&quot;43&quot;/&gt;&lt;lineCharCount val=&quot;36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5.PNG&quot;/&gt;"/>
  <p:tag name="PPSNARRATION" val="5,1777315193,C:\Users\sanmi\GoogleDrive\UWMdrive\Courses\ECE552\ece552-lec06_SingleCycleDataPath_pptx\Media.ppcx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CE1F585E-02AD-4E4A-94DB-D61460C18109}_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BC6986A5-2312-43D4-823A-4C7A7BD851FC}_5.png&quot;/&gt;&lt;left val=&quot;42&quot;/&gt;&lt;top val=&quot;347&quot;/&gt;&lt;width val=&quot;666&quot;/&gt;&lt;height val=&quot;186&quot;/&gt;&lt;hasText val=&quot;1&quot;/&gt;&lt;/Image&gt;&lt;/ThreeDShapeInfo&gt;"/>
  <p:tag name="PRESENTER_SHAPETEXTINFO" val="&lt;ShapeTextInfo&gt;&lt;TableIndex row=&quot;-1&quot; col=&quot;-1&quot;&gt;&lt;linesCount val=&quot;4&quot;/&gt;&lt;lineCharCount val=&quot;32&quot;/&gt;&lt;lineCharCount val=&quot;49&quot;/&gt;&lt;lineCharCount val=&quot;51&quot;/&gt;&lt;lineCharCount val=&quot;45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EB53F033-E47E-400E-9537-7E4FE5561261}_5.png&quot;/&gt;&lt;left val=&quot;155&quot;/&gt;&lt;top val=&quot;109&quot;/&gt;&lt;width val=&quot;12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21A68CE1-2C65-4ABF-823B-EE24E52E2DDB}_5.png&quot;/&gt;&lt;left val=&quot;413&quot;/&gt;&lt;top val=&quot;109&quot;/&gt;&lt;width val=&quot;120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  <p:tag name="PPSNARRATION" val="6,1777315193,C:\Users\sanmi\GoogleDrive\UWMdrive\Courses\ECE552\ece552-lec06_SingleCycleDataPath_pptx\Media.ppcx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A1942175-FFE8-474D-9CAA-5A1F6B9D29C6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F4C362EF-3313-4A75-84E2-67B650A14910}_6.png&quot;/&gt;&lt;left val=&quot;42&quot;/&gt;&lt;top val=&quot;269&quot;/&gt;&lt;width val=&quot;623&quot;/&gt;&lt;height val=&quot;240&quot;/&gt;&lt;hasText val=&quot;1&quot;/&gt;&lt;/Image&gt;&lt;/ThreeDShapeInfo&gt;"/>
  <p:tag name="PRESENTER_SHAPETEXTINFO" val="&lt;ShapeTextInfo&gt;&lt;TableIndex row=&quot;-1&quot; col=&quot;-1&quot;&gt;&lt;linesCount val=&quot;4&quot;/&gt;&lt;lineCharCount val=&quot;31&quot;/&gt;&lt;lineCharCount val=&quot;40&quot;/&gt;&lt;lineCharCount val=&quot;27&quot;/&gt;&lt;lineCharCount val=&quot;40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C8AC032-325C-488A-BBBD-D78AAB3C72DC}&quot;/&gt;&lt;isInvalidForFieldText val=&quot;0&quot;/&gt;&lt;Image&gt;&lt;filename val=&quot;C:\Users\sanmi\Documents\My Adobe Presentations\ece552f2019-SingleCycleDataPath\data\asimages\{4C8AC032-325C-488A-BBBD-D78AAB3C72DC}.png&quot;/&gt;&lt;left val=&quot;305&quot;/&gt;&lt;top val=&quot;17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81046BA-8C59-4120-8D01-5B5FF5BCA5C6}&quot;/&gt;&lt;isInvalidForFieldText val=&quot;0&quot;/&gt;&lt;Image&gt;&lt;filename val=&quot;C:\Users\sanmi\Documents\My Adobe Presentations\ece552f2019-SingleCycleDataPath\data\asimages\{F81046BA-8C59-4120-8D01-5B5FF5BCA5C6}.png&quot;/&gt;&lt;left val=&quot;393&quot;/&gt;&lt;top val=&quot;17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9EDFFBF-857B-46AC-86A4-ACBBE99EC096}&quot;/&gt;&lt;isInvalidForFieldText val=&quot;0&quot;/&gt;&lt;Image&gt;&lt;filename val=&quot;C:\Users\sanmi\Documents\My Adobe Presentations\ece552f2019-SingleCycleDataPath\data\asimages\{69EDFFBF-857B-46AC-86A4-ACBBE99EC096}.png&quot;/&gt;&lt;left val=&quot;504&quot;/&gt;&lt;top val=&quot;17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9F42550-01EB-45B6-A054-680034B4331A}&quot;/&gt;&lt;isInvalidForFieldText val=&quot;0&quot;/&gt;&lt;Image&gt;&lt;filename val=&quot;C:\Users\sanmi\Documents\My Adobe Presentations\ece552f2019-SingleCycleDataPath\data\asimages\{39F42550-01EB-45B6-A054-680034B4331A}.png&quot;/&gt;&lt;left val=&quot;163&quot;/&gt;&lt;top val=&quot;245&quot;/&gt;&lt;width val=&quot;397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84D9B38-20AF-480B-A73C-B7B77481ED97}&quot;/&gt;&lt;isInvalidForFieldText val=&quot;0&quot;/&gt;&lt;Image&gt;&lt;filename val=&quot;C:\Users\sanmi\Documents\My Adobe Presentations\ece552f2019-SingleCycleDataPath\data\asimages\{084D9B38-20AF-480B-A73C-B7B77481ED97}.png&quot;/&gt;&lt;left val=&quot;209&quot;/&gt;&lt;top val=&quot;17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78F25D9-24D6-4093-A7D4-742754D80B77}&quot;/&gt;&lt;isInvalidForFieldText val=&quot;0&quot;/&gt;&lt;Image&gt;&lt;filename val=&quot;C:\Users\sanmi\Documents\My Adobe Presentations\ece552f2019-SingleCycleDataPath\data\asimages\{378F25D9-24D6-4093-A7D4-742754D80B77}_6.png&quot;/&gt;&lt;left val=&quot;155&quot;/&gt;&lt;top val=&quot;131&quot;/&gt;&lt;width val=&quot;414&quot;/&gt;&lt;height val=&quot;123&quot;/&gt;&lt;hasText val=&quot;1&quot;/&gt;&lt;/Image&gt;&lt;/ThreeDShape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7.PNG&quot;/&gt;"/>
  <p:tag name="PPSNARRATION" val="7,1777315193,C:\Users\sanmi\GoogleDrive\UWMdrive\Courses\ECE552\ece552-lec06_SingleCycleDataPath_pptx\Media.ppcx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66859493-F1D1-4894-B240-98F3509CA42B}_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2BC2FFD5-ABEF-4EBF-9231-4C65075BD74A}_7.png&quot;/&gt;&lt;left val=&quot;24&quot;/&gt;&lt;top val=&quot;119&quot;/&gt;&lt;width val=&quot;659&quot;/&gt;&lt;height val=&quot;250&quot;/&gt;&lt;hasText val=&quot;1&quot;/&gt;&lt;/Image&gt;&lt;/ThreeDShapeInfo&gt;"/>
  <p:tag name="PRESENTER_SHAPETEXTINFO" val="&lt;ShapeTextInfo&gt;&lt;TableIndex row=&quot;-1&quot; col=&quot;-1&quot;&gt;&lt;linesCount val=&quot;6&quot;/&gt;&lt;lineCharCount val=&quot;44&quot;/&gt;&lt;lineCharCount val=&quot;38&quot;/&gt;&lt;lineCharCount val=&quot;50&quot;/&gt;&lt;lineCharCount val=&quot;34&quot;/&gt;&lt;lineCharCount val=&quot;51&quot;/&gt;&lt;lineCharCount val=&quot;32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E3CD025-1327-4979-BA54-2E14FEEB4510}&quot;/&gt;&lt;isInvalidForFieldText val=&quot;0&quot;/&gt;&lt;Image&gt;&lt;filename val=&quot;C:\Users\sanmi\Documents\My Adobe Presentations\ece552f2019-SingleCycleDataPath\data\asimages\{4E3CD025-1327-4979-BA54-2E14FEEB4510}.png&quot;/&gt;&lt;left val=&quot;53&quot;/&gt;&lt;top val=&quot;371&quot;/&gt;&lt;width val=&quot;627&quot;/&gt;&lt;height val=&quot;151&quot;/&gt;&lt;hasText val=&quot;1&quot;/&gt;&lt;/Image&gt;&lt;/ThreeDShape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8.PNG&quot;/&gt;"/>
  <p:tag name="PPSNARRATION" val="8,1777315193,C:\Users\sanmi\GoogleDrive\UWMdrive\Courses\ECE552\ece552-lec06_SingleCycleDataPath_pptx\Media.ppcx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A474ADA1-B65C-4AC6-853F-9BB31A129091}_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9.PNG&quot;/&gt;"/>
  <p:tag name="PPSNARRATION" val="9,1777315193,C:\Users\sanmi\GoogleDrive\UWMdrive\Courses\ECE552\ece552-lec06_SingleCycleDataPath_pptx\Media.ppcx"/>
  <p:tag name="TIMING" val="|39.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C4F0FBCE-60C5-44FE-AE6F-22AD67D3CE95}_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57588CEF-8B94-4958-B59A-D3485243C5A6}_9.png&quot;/&gt;&lt;left val=&quot;33&quot;/&gt;&lt;top val=&quot;138&quot;/&gt;&lt;width val=&quot;324&quot;/&gt;&lt;height val=&quot;329&quot;/&gt;&lt;hasText val=&quot;1&quot;/&gt;&lt;/Image&gt;&lt;/ThreeDShapeInfo&gt;"/>
  <p:tag name="PRESENTER_SHAPETEXTINFO" val="&lt;ShapeTextInfo&gt;&lt;TableIndex row=&quot;-1&quot; col=&quot;-1&quot;&gt;&lt;linesCount val=&quot;8&quot;/&gt;&lt;lineCharCount val=&quot;24&quot;/&gt;&lt;lineCharCount val=&quot;13&quot;/&gt;&lt;lineCharCount val=&quot;19&quot;/&gt;&lt;lineCharCount val=&quot;25&quot;/&gt;&lt;lineCharCount val=&quot;23&quot;/&gt;&lt;lineCharCount val=&quot;21&quot;/&gt;&lt;lineCharCount val=&quot;24&quot;/&gt;&lt;lineCharCount val=&quot;14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0.PNG&quot;/&gt;"/>
  <p:tag name="PPSNARRATION" val="10,1777315193,C:\Users\sanmi\GoogleDrive\UWMdrive\Courses\ECE552\ece552-lec06_SingleCycleDataPath_pptx\Media.ppcx"/>
  <p:tag name="TIMING" val="|30.2|33.1|12.9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F0CBE64B-0622-4BEF-89C8-1BE6D848EDB0}_1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B4EFE9E9-859A-4A33-AC84-62AC1CEEF035}_10.png&quot;/&gt;&lt;left val=&quot;27&quot;/&gt;&lt;top val=&quot;114&quot;/&gt;&lt;width val=&quot;657&quot;/&gt;&lt;height val=&quot;368&quot;/&gt;&lt;hasText val=&quot;1&quot;/&gt;&lt;/Image&gt;&lt;/ThreeDShapeInfo&gt;"/>
  <p:tag name="PRESENTER_SHAPETEXTINFO" val="&lt;ShapeTextInfo&gt;&lt;TableIndex row=&quot;-1&quot; col=&quot;-1&quot;&gt;&lt;linesCount val=&quot;3&quot;/&gt;&lt;lineCharCount val=&quot;37&quot;/&gt;&lt;lineCharCount val=&quot;14&quot;/&gt;&lt;lineCharCount val=&quot;30&quot;/&gt;&lt;/TableIndex&gt;&lt;/ShapeText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1.PNG&quot;/&gt;"/>
  <p:tag name="PPSNARRATION" val="11,1777315193,C:\Users\sanmi\GoogleDrive\UWMdrive\Courses\ECE552\ece552-lec06_SingleCycleDataPath_pptx\Media.ppcx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5627C632-8875-4680-A5B2-DA15EE118960}_1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D20074B6-53CC-47FA-A012-17B3B47002E4}_11.png&quot;/&gt;&lt;left val=&quot;45&quot;/&gt;&lt;top val=&quot;114&quot;/&gt;&lt;width val=&quot;621&quot;/&gt;&lt;height val=&quot;150&quot;/&gt;&lt;hasText val=&quot;1&quot;/&gt;&lt;/Image&gt;&lt;/ThreeDShapeInfo&gt;"/>
  <p:tag name="PRESENTER_SHAPETEXTINFO" val="&lt;ShapeTextInfo&gt;&lt;TableIndex row=&quot;-1&quot; col=&quot;-1&quot;&gt;&lt;linesCount val=&quot;3&quot;/&gt;&lt;lineCharCount val=&quot;44&quot;/&gt;&lt;lineCharCount val=&quot;15&quot;/&gt;&lt;lineCharCount val=&quot;18&quot;/&gt;&lt;/TableIndex&gt;&lt;/ShapeText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2.PNG&quot;/&gt;"/>
  <p:tag name="PPSNARRATION" val="12,1777315193,C:\Users\sanmi\GoogleDrive\UWMdrive\Courses\ECE552\ece552-lec06_SingleCycleDataPath_pptx\Media.ppcx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E8192FDB-31AC-4B00-B825-29A105EBD0B9}_1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2D24F339-3BCB-447B-BD61-D27138104D65}_12.png&quot;/&gt;&lt;left val=&quot;45&quot;/&gt;&lt;top val=&quot;114&quot;/&gt;&lt;width val=&quot;621&quot;/&gt;&lt;height val=&quot;150&quot;/&gt;&lt;hasText val=&quot;1&quot;/&gt;&lt;/Image&gt;&lt;/ThreeDShapeInfo&gt;"/>
  <p:tag name="PRESENTER_SHAPETEXTINFO" val="&lt;ShapeTextInfo&gt;&lt;TableIndex row=&quot;-1&quot; col=&quot;-1&quot;&gt;&lt;linesCount val=&quot;3&quot;/&gt;&lt;lineCharCount val=&quot;44&quot;/&gt;&lt;lineCharCount val=&quot;15&quot;/&gt;&lt;lineCharCount val=&quot;18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3.PNG&quot;/&gt;"/>
  <p:tag name="PPSNARRATION" val="13,1777315193,C:\Users\sanmi\GoogleDrive\UWMdrive\Courses\ECE552\ece552-lec06_SingleCycleDataPath_pptx\Media.ppcx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C28B8A27-6699-43D4-807E-165E42F4CAA4}_1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DE7E539D-3D18-4354-A7A6-DDBA83317D91}_13.png&quot;/&gt;&lt;left val=&quot;45&quot;/&gt;&lt;top val=&quot;114&quot;/&gt;&lt;width val=&quot;621&quot;/&gt;&lt;height val=&quot;150&quot;/&gt;&lt;hasText val=&quot;1&quot;/&gt;&lt;/Image&gt;&lt;/ThreeDShapeInfo&gt;"/>
  <p:tag name="PRESENTER_SHAPETEXTINFO" val="&lt;ShapeTextInfo&gt;&lt;TableIndex row=&quot;-1&quot; col=&quot;-1&quot;&gt;&lt;linesCount val=&quot;3&quot;/&gt;&lt;lineCharCount val=&quot;44&quot;/&gt;&lt;lineCharCount val=&quot;15&quot;/&gt;&lt;lineCharCount val=&quot;18&quot;/&gt;&lt;/TableIndex&gt;&lt;/ShapeTextInfo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D82CC6B-F522-4DD9-8796-616F1A87B340}&quot;/&gt;&lt;isInvalidForFieldText val=&quot;1&quot;/&gt;&lt;Image&gt;&lt;filename val=&quot;C:\Users\sanmi\Documents\My Adobe Presentations\ece552f2019-SingleCycleDataPath\data\asimages\{8D82CC6B-F522-4DD9-8796-616F1A87B340}_13_S.png&quot;/&gt;&lt;left val=&quot;163&quot;/&gt;&lt;top val=&quot;338&quot;/&gt;&lt;width val=&quot;509&quot;/&gt;&lt;height val=&quot;181&quot;/&gt;&lt;hasText val=&quot;0&quot;/&gt;&lt;/Image&gt;&lt;Image&gt;&lt;filename val=&quot;C:\Users\sanmi\Documents\My Adobe Presentations\ece552f2019-SingleCycleDataPath\data\asimages\{8D82CC6B-F522-4DD9-8796-616F1A87B340}_13_T.png&quot;/&gt;&lt;left val=&quot;165&quot;/&gt;&lt;top val=&quot;339&quot;/&gt;&lt;width val=&quot;506&quot;/&gt;&lt;height val=&quot;17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4.PNG&quot;/&gt;"/>
  <p:tag name="PPSNARRATION" val="14,1777315193,C:\Users\sanmi\GoogleDrive\UWMdrive\Courses\ECE552\ece552-lec06_SingleCycleDataPath_pptx\Media.ppcx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16AA7515-22DC-4FEE-BE6C-DE0EC0D815F5}_1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AD27A074-B5A8-4734-AE61-F87BE814BD3A}_14.png&quot;/&gt;&lt;left val=&quot;45&quot;/&gt;&lt;top val=&quot;114&quot;/&gt;&lt;width val=&quot;621&quot;/&gt;&lt;height val=&quot;150&quot;/&gt;&lt;hasText val=&quot;1&quot;/&gt;&lt;/Image&gt;&lt;/ThreeDShapeInfo&gt;"/>
  <p:tag name="PRESENTER_SHAPETEXTINFO" val="&lt;ShapeTextInfo&gt;&lt;TableIndex row=&quot;-1&quot; col=&quot;-1&quot;&gt;&lt;linesCount val=&quot;3&quot;/&gt;&lt;lineCharCount val=&quot;44&quot;/&gt;&lt;lineCharCount val=&quot;15&quot;/&gt;&lt;lineCharCount val=&quot;18&quot;/&gt;&lt;/TableIndex&gt;&lt;/ShapeText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C59EB55-23D3-4242-A1E2-2B4CCAD66054}&quot;/&gt;&lt;isInvalidForFieldText val=&quot;1&quot;/&gt;&lt;Image&gt;&lt;filename val=&quot;C:\Users\sanmi\Documents\My Adobe Presentations\ece552f2019-SingleCycleDataPath\data\asimages\{FC59EB55-23D3-4242-A1E2-2B4CCAD66054}_14_S.png&quot;/&gt;&lt;left val=&quot;326&quot;/&gt;&lt;top val=&quot;354&quot;/&gt;&lt;width val=&quot;180&quot;/&gt;&lt;height val=&quot;57&quot;/&gt;&lt;hasText val=&quot;0&quot;/&gt;&lt;/Image&gt;&lt;Image&gt;&lt;filename val=&quot;C:\Users\sanmi\Documents\My Adobe Presentations\ece552f2019-SingleCycleDataPath\data\asimages\{FC59EB55-23D3-4242-A1E2-2B4CCAD66054}_14_T.png&quot;/&gt;&lt;left val=&quot;326&quot;/&gt;&lt;top val=&quot;355&quot;/&gt;&lt;width val=&quot;165&quot;/&gt;&lt;height val=&quot;4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5.PNG&quot;/&gt;"/>
  <p:tag name="PPSNARRATION" val="15,1777315193,C:\Users\sanmi\GoogleDrive\UWMdrive\Courses\ECE552\ece552-lec06_SingleCycleDataPath_pptx\Media.ppcx"/>
  <p:tag name="TIMING" val="|25.6|16.7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4543C640-8BE8-46E5-A7FB-A08AE4DB6185}_1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f2019-SingleCycleDataPath\data\asimages\{C71168C8-3929-49AC-8DD1-51964D801D8A}_1.png_crop.png&quot;/&gt;&lt;left val=&quot;44&quot;/&gt;&lt;top val=&quot;134&quot;/&gt;&lt;width val=&quot;586&quot;/&gt;&lt;height val=&quot;26&quot;/&gt;&lt;hasText val=&quot;1&quot;/&gt;&lt;paraId val=&quot;1&quot;/&gt;&lt;/Image&gt;&lt;Image&gt;&lt;filename val=&quot;C:\Users\sanmi\Documents\My Adobe Presentations\ece552f2019-SingleCycleDataPath\data\asimages\{3056DA39-761E-445E-8E91-DA5CD712C739}_1.png_crop.png&quot;/&gt;&lt;left val=&quot;44&quot;/&gt;&lt;top val=&quot;176&quot;/&gt;&lt;width val=&quot;213&quot;/&gt;&lt;height val=&quot;24&quot;/&gt;&lt;hasText val=&quot;1&quot;/&gt;&lt;paraId val=&quot;2&quot;/&gt;&lt;/Image&gt;&lt;Image&gt;&lt;filename val=&quot;C:\Users\sanmi\Documents\My Adobe Presentations\ece552f2019-SingleCycleDataPath\data\asimages\{246DA668-6D35-4413-AAFA-3B4194DEEF1E}_1.png_crop.png&quot;/&gt;&lt;left val=&quot;80&quot;/&gt;&lt;top val=&quot;214&quot;/&gt;&lt;width val=&quot;137&quot;/&gt;&lt;height val=&quot;20&quot;/&gt;&lt;hasText val=&quot;1&quot;/&gt;&lt;paraId val=&quot;3&quot;/&gt;&lt;/Image&gt;&lt;Image&gt;&lt;filename val=&quot;C:\Users\sanmi\Documents\My Adobe Presentations\ece552f2019-SingleCycleDataPath\data\asimages\{38407035-8643-425D-82E5-275ACBFF8198}_1.png_crop.png&quot;/&gt;&lt;left val=&quot;79&quot;/&gt;&lt;top val=&quot;249&quot;/&gt;&lt;width val=&quot;273&quot;/&gt;&lt;height val=&quot;21&quot;/&gt;&lt;hasText val=&quot;1&quot;/&gt;&lt;paraId val=&quot;4&quot;/&gt;&lt;/Image&gt;&lt;Image&gt;&lt;filename val=&quot;C:\Users\sanmi\Documents\My Adobe Presentations\ece552f2019-SingleCycleDataPath\data\asimages\{B79CBA58-5E60-49F7-9A2C-21417C73D8D2}_1.png_crop.png&quot;/&gt;&lt;left val=&quot;80&quot;/&gt;&lt;top val=&quot;282&quot;/&gt;&lt;width val=&quot;191&quot;/&gt;&lt;height val=&quot;22&quot;/&gt;&lt;hasText val=&quot;1&quot;/&gt;&lt;paraId val=&quot;5&quot;/&gt;&lt;/Image&gt;&lt;Image&gt;&lt;filename val=&quot;C:\Users\sanmi\Documents\My Adobe Presentations\ece552f2019-SingleCycleDataPath\data\asimages\{67673B59-A38C-4BB2-87FE-8869A9487F14}_1.png_crop.png&quot;/&gt;&lt;left val=&quot;116&quot;/&gt;&lt;top val=&quot;316&quot;/&gt;&lt;width val=&quot;266&quot;/&gt;&lt;height val=&quot;18&quot;/&gt;&lt;hasText val=&quot;1&quot;/&gt;&lt;paraId val=&quot;6&quot;/&gt;&lt;/Image&gt;&lt;Image&gt;&lt;filename val=&quot;C:\Users\sanmi\Documents\My Adobe Presentations\ece552f2019-SingleCycleDataPath\data\asimages\{640663CD-AFC8-4355-9E2B-BDBE4853304D}_1.png_crop.png&quot;/&gt;&lt;left val=&quot;79&quot;/&gt;&lt;top val=&quot;347&quot;/&gt;&lt;width val=&quot;36&quot;/&gt;&lt;height val=&quot;16&quot;/&gt;&lt;hasText val=&quot;1&quot;/&gt;&lt;paraId val=&quot;7&quot;/&gt;&lt;/Image&gt;&lt;Image&gt;&lt;filename val=&quot;C:\Users\sanmi\Documents\My Adobe Presentations\ece552f2019-SingleCycleDataPath\data\asimages\{D62955D3-03BC-4A05-9376-32180F55F198}_1.png_crop.png&quot;/&gt;&lt;left val=&quot;116&quot;/&gt;&lt;top val=&quot;379&quot;/&gt;&lt;width val=&quot;298&quot;/&gt;&lt;height val=&quot;17&quot;/&gt;&lt;hasText val=&quot;1&quot;/&gt;&lt;paraId val=&quot;8&quot;/&gt;&lt;/Image&gt;&lt;/TextEffect&gt;"/>
  <p:tag name="PRESENTER_SHAPETEXTINFO" val="&lt;ShapeTextInfo&gt;&lt;TableIndex row=&quot;-1&quot; col=&quot;-1&quot;&gt;&lt;linesCount val=&quot;8&quot;/&gt;&lt;lineCharCount val=&quot;57&quot;/&gt;&lt;lineCharCount val=&quot;16&quot;/&gt;&lt;lineCharCount val=&quot;16&quot;/&gt;&lt;lineCharCount val=&quot;31&quot;/&gt;&lt;lineCharCount val=&quot;24&quot;/&gt;&lt;lineCharCount val=&quot;30&quot;/&gt;&lt;lineCharCount val=&quot;5&quot;/&gt;&lt;lineCharCount val=&quot;31&quot;/&gt;&lt;/TableIndex&gt;&lt;/ShapeText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6.PNG&quot;/&gt;"/>
  <p:tag name="PPSNARRATION" val="16,1777315193,C:\Users\sanmi\GoogleDrive\UWMdrive\Courses\ECE552\ece552-lec06_SingleCycleDataPath_pptx\Media.ppcx"/>
  <p:tag name="TIMING" val="|4.3|19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A4ACC4AB-E488-4959-B17F-C5D374F14BAF}_1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7.PNG&quot;/&gt;"/>
  <p:tag name="PPSNARRATION" val="17,1777315193,C:\Users\sanmi\GoogleDrive\UWMdrive\Courses\ECE552\ece552-lec06_SingleCycleDataPath_pptx\Media.ppcx"/>
  <p:tag name="TIMING" val="|16.4|9.6|17|26.2|7.6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C481363-832A-4BF6-9436-B4D5CBB2EBFC}&quot;/&gt;&lt;isInvalidForFieldText val=&quot;0&quot;/&gt;&lt;Image&gt;&lt;filename val=&quot;C:\Users\sanmi\Documents\My Adobe Presentations\ece552f2019-SingleCycleDataPath\data\asimages\{FC481363-832A-4BF6-9436-B4D5CBB2EBFC}.png&quot;/&gt;&lt;left val=&quot;143&quot;/&gt;&lt;top val=&quot;75&quot;/&gt;&lt;width val=&quot;546&quot;/&gt;&lt;height val=&quot;427&quot;/&gt;&lt;hasText val=&quot;1&quot;/&gt;&lt;/Image&gt;&lt;/ThreeDShapeInfo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0BDB0549-0AE4-4D08-9DC3-CD51FDB7CA7A}_1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5C49D970-B820-4DA8-B988-975D5632940C}_17.png&quot;/&gt;&lt;left val=&quot;583&quot;/&gt;&lt;top val=&quot;86&quot;/&gt;&lt;width val=&quot;3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3EA4AE9F-3EC2-46B8-8890-63A582259CF4}_17.png&quot;/&gt;&lt;left val=&quot;618&quot;/&gt;&lt;top val=&quot;86&quot;/&gt;&lt;width val=&quot;30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0FCC155D-BDEB-4EEA-9527-FC8E81692911}_17.png&quot;/&gt;&lt;left val=&quot;603&quot;/&gt;&lt;top val=&quot;124&quot;/&gt;&lt;width val=&quot;31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4E1EAC5F-8889-4370-B32E-6E97D30F7D64}_17.png&quot;/&gt;&lt;left val=&quot;89&quot;/&gt;&lt;top val=&quot;216&quot;/&gt;&lt;width val=&quot;108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B43D547D-1A53-402F-BCF0-FBAB65CE0EF4}_17.png&quot;/&gt;&lt;left val=&quot;81&quot;/&gt;&lt;top val=&quot;307&quot;/&gt;&lt;width val=&quot;11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7540B1A7-C004-40B6-8745-8DD41C6B127F}_17.png&quot;/&gt;&lt;left val=&quot;81&quot;/&gt;&lt;top val=&quot;396&quot;/&gt;&lt;width val=&quot;11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94253EDF-0D4E-4CE1-898F-8CCDE48D1E24}_17.png&quot;/&gt;&lt;left val=&quot;461&quot;/&gt;&lt;top val=&quot;180&quot;/&gt;&lt;width val=&quot;114&quot;/&gt;&lt;height val=&quot;53&quot;/&gt;&lt;hasText val=&quot;1&quot;/&gt;&lt;/Image&gt;&lt;/ThreeDShapeInfo&gt;"/>
  <p:tag name="PRESENTER_SHAPETEXTINFO" val="&lt;ShapeTextInfo&gt;&lt;TableIndex row=&quot;-1&quot; col=&quot;-1&quot;&gt;&lt;linesCount val=&quot;2&quot;/&gt;&lt;lineCharCount val=&quot;11&quot;/&gt;&lt;lineCharCount val=&quot;7&quot;/&gt;&lt;/TableIndex&gt;&lt;/ShapeTextInfo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C40E13CC-A318-4A2F-A8A8-87C55D663B58}_17.png&quot;/&gt;&lt;left val=&quot;419&quot;/&gt;&lt;top val=&quot;484&quot;/&gt;&lt;width val=&quot;95&quot;/&gt;&lt;height val=&quot;54&quot;/&gt;&lt;hasText val=&quot;1&quot;/&gt;&lt;/Image&gt;&lt;/ThreeDShapeInfo&gt;"/>
  <p:tag name="PRESENTER_SHAPETEXTINFO" val="&lt;ShapeTextInfo&gt;&lt;TableIndex row=&quot;-1&quot; col=&quot;-1&quot;&gt;&lt;linesCount val=&quot;2&quot;/&gt;&lt;lineCharCount val=&quot;12&quot;/&gt;&lt;lineCharCount val=&quot;7&quot;/&gt;&lt;/TableIndex&gt;&lt;/ShapeTextInfo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33619C0F-E0EE-4BDC-AA75-F308D3E047A9}_17.png&quot;/&gt;&lt;left val=&quot;508&quot;/&gt;&lt;top val=&quot;484&quot;/&gt;&lt;width val=&quot;95&quot;/&gt;&lt;height val=&quot;53&quot;/&gt;&lt;hasText val=&quot;1&quot;/&gt;&lt;/Image&gt;&lt;/ThreeDShapeInfo&gt;"/>
  <p:tag name="PRESENTER_SHAPETEXTINFO" val="&lt;ShapeTextInfo&gt;&lt;TableIndex row=&quot;-1&quot; col=&quot;-1&quot;&gt;&lt;linesCount val=&quot;2&quot;/&gt;&lt;lineCharCount val=&quot;12&quot;/&gt;&lt;lineCharCount val=&quot;7&quot;/&gt;&lt;/TableIndex&gt;&lt;/ShapeTextInfo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5E810457-1EDD-4DF5-B308-D5D34934089F}_17.png&quot;/&gt;&lt;left val=&quot;227&quot;/&gt;&lt;top val=&quot;201&quot;/&gt;&lt;width val=&quot;66&quot;/&gt;&lt;height val=&quot;86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7&quot;/&gt;&lt;/TableIndex&gt;&lt;/ShapeTextInfo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A984F3DA-057F-4D94-BF01-453FC63A60DD}_17.png&quot;/&gt;&lt;left val=&quot;227&quot;/&gt;&lt;top val=&quot;292&quot;/&gt;&lt;width val=&quot;66&quot;/&gt;&lt;height val=&quot;85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7&quot;/&gt;&lt;/TableIndex&gt;&lt;/ShapeTextInfo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AE18AB4A-C0B5-414F-A260-EE35722194D6}_17.png&quot;/&gt;&lt;left val=&quot;227&quot;/&gt;&lt;top val=&quot;384&quot;/&gt;&lt;width val=&quot;66&quot;/&gt;&lt;height val=&quot;86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7&quot;/&gt;&lt;/TableIndex&gt;&lt;/ShapeTextInfo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0C9D4394-969E-4B51-AD42-2D2AE8151299}_17.png&quot;/&gt;&lt;left val=&quot;357&quot;/&gt;&lt;top val=&quot;330&quot;/&gt;&lt;width val=&quot;45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25EB33EC-E009-4C97-A3BB-D045FA23198C}_17.png&quot;/&gt;&lt;left val=&quot;489&quot;/&gt;&lt;top val=&quot;330&quot;/&gt;&lt;width val=&quot;45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19AD6D8D-8FCE-45C1-8551-12C23C05FC5E}_17.png&quot;/&gt;&lt;left val=&quot;619&quot;/&gt;&lt;top val=&quot;330&quot;/&gt;&lt;width val=&quot;45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296F1916-B3D9-44DC-8AD7-13C380B98D77}_17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8F0C119D-7913-421C-BC11-ED6B20761F0C}_17.png&quot;/&gt;&lt;left val=&quot;550&quot;/&gt;&lt;top val=&quot;168&quot;/&gt;&lt;width val=&quot;34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703FC3F9-FE21-4444-86E1-A6206642B335}_17.png&quot;/&gt;&lt;left val=&quot;550&quot;/&gt;&lt;top val=&quot;192&quot;/&gt;&lt;width val=&quot;34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AACF43F4-D0D9-412E-B235-B2E8B3188D14}_17.png&quot;/&gt;&lt;left val=&quot;362&quot;/&gt;&lt;top val=&quot;297&quot;/&gt;&lt;width val=&quot;3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44D3C3F5-BC86-4591-A6D0-E87D915F9A51}_17.png&quot;/&gt;&lt;left val=&quot;670&quot;/&gt;&lt;top val=&quot;330&quot;/&gt;&lt;width val=&quot;36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50642D49-3851-40F8-83EC-1C4D300D8C29}_17.png&quot;/&gt;&lt;left val=&quot;630&quot;/&gt;&lt;top val=&quot;297&quot;/&gt;&lt;width val=&quot;28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1453D497-90B0-4D08-8BE9-5DE9E563F014}_17.png&quot;/&gt;&lt;left val=&quot;675&quot;/&gt;&lt;top val=&quot;435&quot;/&gt;&lt;width val=&quot;28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1FBE10C9-A746-4707-8528-C2D0764956A3}_17.png&quot;/&gt;&lt;left val=&quot;183&quot;/&gt;&lt;top val=&quot;248&quot;/&gt;&lt;width val=&quot;21&quot;/&gt;&lt;height val=&quot;24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5EB1512B-26CD-4B73-95C8-3B87F4CD5CC7}_17.png&quot;/&gt;&lt;left val=&quot;183&quot;/&gt;&lt;top val=&quot;338&quot;/&gt;&lt;width val=&quot;21&quot;/&gt;&lt;height val=&quot;24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D69A52A4-C51C-4E9E-8AF9-2CE6D0248E04}_17.png&quot;/&gt;&lt;left val=&quot;183&quot;/&gt;&lt;top val=&quot;428&quot;/&gt;&lt;width val=&quot;21&quot;/&gt;&lt;height val=&quot;24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76724E34-25BD-446C-B5DE-0EC2E6B333EB}_17.png&quot;/&gt;&lt;left val=&quot;285&quot;/&gt;&lt;top val=&quot;313&quot;/&gt;&lt;width val=&quot;79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8.PNG&quot;/&gt;"/>
  <p:tag name="PPSNARRATION" val="18,1777315193,C:\Users\sanmi\GoogleDrive\UWMdrive\Courses\ECE552\ece552-lec06_SingleCycleDataPath_pptx\Media.ppcx"/>
  <p:tag name="TIMING" val="|20.2|15.8|10.6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41BB92C8-990C-4356-AC0D-E09321B650AF}_1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9.PNG&quot;/&gt;"/>
  <p:tag name="PPSNARRATION" val="19,1777315193,C:\Users\sanmi\GoogleDrive\UWMdrive\Courses\ECE552\ece552-lec06_SingleCycleDataPath_pptx\Media.ppcx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B9B40107-9153-461C-B9A7-4CA890BFCCB0}_1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F4001F9F-627F-409C-A87D-8B78CCAA308A}_19.png&quot;/&gt;&lt;left val=&quot;24&quot;/&gt;&lt;top val=&quot;101&quot;/&gt;&lt;width val=&quot;683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48&quot;/&gt;&lt;/TableIndex&gt;&lt;/ShapeTextInfo&gt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D8A2E898-D18E-490A-9E50-9D4D8933876E}_19.png&quot;/&gt;&lt;left val=&quot;365&quot;/&gt;&lt;top val=&quot;382&quot;/&gt;&lt;width val=&quot;78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A5843E4D-BBEB-427D-BA9A-17839A345A5E}_19.png&quot;/&gt;&lt;left val=&quot;365&quot;/&gt;&lt;top val=&quot;424&quot;/&gt;&lt;width val=&quot;78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0.PNG&quot;/&gt;"/>
  <p:tag name="PPSNARRATION" val="20,1777315193,C:\Users\sanmi\GoogleDrive\UWMdrive\Courses\ECE552\ece552-lec06_SingleCycleDataPath_pptx\Media.ppcx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8B68507E-5AA2-45EA-98D3-1F8DDB5E1C3C}_2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57340C1C-D698-46DB-8B9D-776BF74D6B18}_20.png&quot;/&gt;&lt;left val=&quot;24&quot;/&gt;&lt;top val=&quot;101&quot;/&gt;&lt;width val=&quot;683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49&quot;/&gt;&lt;lineCharCount val=&quot;41&quot;/&gt;&lt;/TableIndex&gt;&lt;/ShapeTextInfo&gt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268A7B7E-3FCC-4907-B548-E7C69481D4EC}_20.png&quot;/&gt;&lt;left val=&quot;365&quot;/&gt;&lt;top val=&quot;382&quot;/&gt;&lt;width val=&quot;78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78571A8A-E786-41C6-BF35-3E9F66C2AB92}_20.png&quot;/&gt;&lt;left val=&quot;365&quot;/&gt;&lt;top val=&quot;424&quot;/&gt;&lt;width val=&quot;78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1.PNG&quot;/&gt;"/>
  <p:tag name="PPSNARRATION" val="21,1777315193,C:\Users\sanmi\GoogleDrive\UWMdrive\Courses\ECE552\ece552-lec06_SingleCycleDataPath_pptx\Media.ppcx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65056348-4DD6-4F41-9C66-3FBAEC3521CD}_2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3673CF6B-9E8A-4F57-91C1-5604C23B2699}_21.png&quot;/&gt;&lt;left val=&quot;24&quot;/&gt;&lt;top val=&quot;101&quot;/&gt;&lt;width val=&quot;683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45&quot;/&gt;&lt;/TableIndex&gt;&lt;/ShapeTextInfo&gt;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A65AD17E-6D9A-45F8-BDA0-F9A5B062DE87}_21.png&quot;/&gt;&lt;left val=&quot;365&quot;/&gt;&lt;top val=&quot;382&quot;/&gt;&lt;width val=&quot;78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32138942-4769-4B59-B233-E9B308A7FF5E}_21.png&quot;/&gt;&lt;left val=&quot;365&quot;/&gt;&lt;top val=&quot;424&quot;/&gt;&lt;width val=&quot;78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2.PNG&quot;/&gt;"/>
  <p:tag name="PPSNARRATION" val="22,1777315193,C:\Users\sanmi\GoogleDrive\UWMdrive\Courses\ECE552\ece552-lec06_SingleCycleDataPath_pptx\Media.ppcx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63BE71A8-3C85-4D1E-B354-E0F801B05DFA}_2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9D80A5CA-3A3A-44CC-AF58-56327BE81979}_22.png&quot;/&gt;&lt;left val=&quot;24&quot;/&gt;&lt;top val=&quot;101&quot;/&gt;&lt;width val=&quot;683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46&quot;/&gt;&lt;lineCharCount val=&quot;3&quot;/&gt;&lt;/TableIndex&gt;&lt;/ShapeTextInfo&gt;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D7E587D5-8D2F-42F8-B304-C4D18BDC234C}_22.png&quot;/&gt;&lt;left val=&quot;365&quot;/&gt;&lt;top val=&quot;382&quot;/&gt;&lt;width val=&quot;78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615F1044-F367-4F53-B0C0-0EAC01E0EE2A}_22.png&quot;/&gt;&lt;left val=&quot;365&quot;/&gt;&lt;top val=&quot;424&quot;/&gt;&lt;width val=&quot;78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851</TotalTime>
  <Words>731</Words>
  <Application>Microsoft Macintosh PowerPoint</Application>
  <PresentationFormat>On-screen Show (4:3)</PresentationFormat>
  <Paragraphs>156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Helvetica</vt:lpstr>
      <vt:lpstr>Times New Roman</vt:lpstr>
      <vt:lpstr>Wingdings</vt:lpstr>
      <vt:lpstr>Lecture Notes 552</vt:lpstr>
      <vt:lpstr>ECE/CS 552: Single-Cycle Data Path</vt:lpstr>
      <vt:lpstr>Forecast</vt:lpstr>
      <vt:lpstr>Sequential Logic Review</vt:lpstr>
      <vt:lpstr>Sequential Logic Review</vt:lpstr>
      <vt:lpstr>Sequential Logic Review</vt:lpstr>
      <vt:lpstr>Sequential Logic Review</vt:lpstr>
      <vt:lpstr>Clocking Methodology</vt:lpstr>
      <vt:lpstr>Single-Cycle Data Path</vt:lpstr>
      <vt:lpstr>Fetch Instructions</vt:lpstr>
      <vt:lpstr>ALU Instructions</vt:lpstr>
      <vt:lpstr>Load/Store Instructions</vt:lpstr>
      <vt:lpstr>Load/Store Instructions</vt:lpstr>
      <vt:lpstr>Load/Store Instructions</vt:lpstr>
      <vt:lpstr>Load/Store Instructions</vt:lpstr>
      <vt:lpstr>Branch Instructions</vt:lpstr>
      <vt:lpstr>Branch Instructions</vt:lpstr>
      <vt:lpstr>Register File</vt:lpstr>
      <vt:lpstr>All Together</vt:lpstr>
      <vt:lpstr>Exercise</vt:lpstr>
      <vt:lpstr>Exercise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Single Cycle Datapath</dc:title>
  <dc:creator/>
  <cp:lastModifiedBy>Boone Severson</cp:lastModifiedBy>
  <cp:revision>450</cp:revision>
  <cp:lastPrinted>1601-01-01T00:00:00Z</cp:lastPrinted>
  <dcterms:created xsi:type="dcterms:W3CDTF">1601-01-01T00:00:00Z</dcterms:created>
  <dcterms:modified xsi:type="dcterms:W3CDTF">2024-08-29T04:32:51Z</dcterms:modified>
</cp:coreProperties>
</file>